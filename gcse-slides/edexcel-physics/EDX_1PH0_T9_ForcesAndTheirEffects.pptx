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9 Forces and their effects (Paper 2). Statements 9.1–9.5 are also in Combined Science 1SC0 (9.3–9.5 are Higher only). 9.6P–9.10P (moments, levers, gears, lubrication) are physics only. Topic 9 has no Core Practical; slides 24–26 are a suggested practical. g = 10 N/kg is used throughout, as in Edexcel papers.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1–4 are in both 1PH0 and Combined Science 1SC0; objectives 3 and 4 are Higher only (9.3, 9.4, 9.5 marked H). Objectives 5–8 are physics only (9.6P–9.10P). The practical is a suggested practical, not a Core Practical: Topic 9 has no Core Practical.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Physics-only statements: 9.6P, 9.7P, 9.8P, 9.9P, 9.10P. Combined Science classes stop after slide 18 (recap 4) and go straight to the equations, key words, full question (a)–(c) and homework Q1–Q3.
Combined classes met lubrication as a way of reducing unwanted energy transfer in Topic 3 (3.9). Electrostatic forces are developed further in Topic 11 (static electricity, physics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0.45 kg; 0.35 m.
2. W = m × g = 60 × 10 = 600 N.
3. Speed has size only (scalar); velocity is speed in a given direction (vector).
4. It continues at a constant speed in a straight line (constant velocity).
5. E = F × d = 50 × 4.0 = 200 J.
6. It is dissipated: the chain and surroundings warm up (thermal energy store) – wasted energy.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 electrostatic; (b) gravitational.
9.1(a): interact at a distance without contact, linking these to the gravitational, electrostatic and magnetic fields involved. Static electricity in detail is Topic 11 (physics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25 N (backwards) – the crate moves at constant speed so the forces are balanced (resultant force zero).
Diagram scale 0.08 in per N; arrows asserted balanced in node: 12 = 12 N, 20 = 20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The water pushes the swimmer forwards with a force of 80 N (same type – contact, opposite direction, acts on the swimmer).
Book weight = 0.50 kg × 10 N/kg = 5 N; all four arrows drawn the same length (to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1 (total 7 marks)
Q1 [2]: Any two of: gravitational force/weight – gravitational field; electrostatic force – electric/electrostatic field; magnetic force – magnetic field (1 each; force and field must match).
Q2 [2]: The nail pulls the magnet with a force of 0.4 N (1); to the right / in the opposite direction (1).
Q3 [3]: Both forces act on the same object (the book) (1); an interaction pair acts on two different objects (1); they are different types of force (gravitational and contact)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Vectors: 20 m/s north (velocity), 9.8 N downwards (force/weight), 5 km east (displacement). Scalars: 15 kg, 300 J, 12 s.
Edexcel 9.2 wording: “Explain the difference between vector and scalar quantities using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Two arrows of equal length from the book: weight downwards, normal contact force upwards; resultant force = 0 N.
Worked: 800 − 200 = 600 N; a = 600/80 = 7.5 m/s². Scale: 0.002 in per N.
Tier: 9.4 is marked H (Higher) in our spec check – see SPEC_T9.md.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Resultant = 3000 − 1800 = 1200 N forwards; a = F/m = 1200/1200 = 1.0 m/s².
9.5 (H): explain examples of the forces acting on an isolated solid object or a system where several forces lead to a resultant force, and the special case of balanced forces when the resultant force is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2 (total 7 marks)
Q1 [2]: Vector: velocity, weight (1); scalar: mass, energy (1). All four correct for 2 marks; 2–3 correct for 1 mark.
Q2 [3]: Diagram: two labelled arrows from the object, weight down longer than air resistance up (1); 700 − 250 (1); = 450 N downwards (1, direction needed).
Q3 [2]: Forces are balanced / resultant force is zero (1); she falls at a constant velocity (terminal velocity)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10 N at 53° north of east (bearing about 037°). Accept 9.8–10.2 N and 51–55°.
Scale drawing asserted in node: drawn length / scale = 50 N; angle 36.87° (rounded 37°). Pythagoras check √(40² + 30²) = 50 N – Edexcel 9.3 asks for scale drawings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About 17 N (17.3 N), at 30° to each force (along the bisector). Accept 16.8–17.8 N.
Scale drawing asserted in node: resultant 12.166 N at 25.28° (cosine-rule check √148). Students are not expected to use trigonometry: Edexcel 9.3 says scale drawings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3 (total 7 marks)
Q1 [3]: Correct scale drawing, tip to tail with a stated scale (1); resultant 13 N (allow 12.6–13.4 N) (1); 67° north of east / 23° east of north (allow ±2°) (1).
Q2 [3]: Scale drawing with 50° angle drawn correctly (1); resultant ≈ 10 N (allow 9.6–10.4 N) (1); at ≈ 18° to the 7.0 N force (allow 15–21°) (1).
Q3 [1]: The single force that has the same effect as all the forces acting on the object together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Horizontal ≈ 6.0 N; vertical ≈ 10.4 N (accept 10–11 N).
Scale drawing asserted in node: Fx = 17.321 N, Fy = 10.000 N. Check: the components recombine (tip to tail) to give 20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Resultant = 0 N; the object is in equilibrium – stationary or moving at constant velocity.
Asserted in node: horizontal and vertical components sum to zero; triangle closes (cable angles 36.87° and 53.13° from the vertical).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4 (total 8 marks)
Q1 [3]: Scale drawing of 50 N at 40° with components drawn (1); horizontal ≈ 38 N (allow 37–40 N) (1); vertical ≈ 32 N (allow 30–34 N) (1).
Q2 [2]: Forces drawn tip to tail form a closed shape/triangle (1); because the resultant force is zero / the last tip returns to the start (1).
Q3 [3]: Triangle drawn: 13 N down, 5.0 N horizontal, tension closes it (1); tension measured ≈ 14 N (1); (13.9 N, allow 13.5–14.3 N) with direction ≈ 21° to the vertical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The handle is a long way from the pivot (hinge), so a small force gives a large turning effect (moment) – the door is easy to open.
9.6P is physics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moment = 15 × 0.80 = 12 N m (1 mark for converting 80 cm to 0.80 m).
Stretch: if the force is not at 90° to the spanner, use the perpendicular distance to its line of action, which is smaller – so the moment is smaller.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400 × d = 250 × 2.4 = 600 N m, so d = 1.5 m on the other side.
Diagram asserted in node: 400 N × 1.5 m = 600 N × 1.0 m = 600 N m; positions drawn from the same data (1.25 in per m). The see-saw is uniform and pivoted at its centre, so its own weight has no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The beam is not accelerating, so the upward force must equal the total downward force: 130 + 40 + 30 = 200 N.
Asserted in node: moments about the pivot balance (65 N m each way); forces drawn to scale.
Centre of gravity and stability are NOT numbered 1PH0 Topic 9 statements in our spec check – taught here as stretch because exam questions on 9.8P often include the weight of a uniform beam.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5 (total 7 marks)
Q1 [2]: For an object in equilibrium / balanced (1); the sum of the clockwise moments equals the sum of the anticlockwise moments (about the same pivot) (1).
Q2 [2]: moment = 25 × 0.40 (1); = 10 N m (1, unit needed).
Q3 [3]: Clockwise = anticlockwise / 360 × d = 450 × 1.2 (1); = 540 N m (1); d = 540/360 = 1.5 m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So the weight of the rule acts through the pivot and has no moment – only the hanging weights produce moments.
Drawn arrangement asserted in node: 1.0 N × 0.30 m = 1.5 N × 0.20 m = 0.30 N m. 100 g → 1.0 N with g = 10 N/kg.
Apparatus: metre rule (with a hole at 50 cm or a knife-edge pivot), pivot / clamp stand, thread, mass hangers and slotted masses (10 g – 100 g), (optional) spirit level.
This is a suggested practical: Topic 9 has no Core Practical in 1PH0.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2.0 × 0.15 = 0.30 N m; d = 0.30 ÷ 1.5 = 0.20 m = 20 cm to the right of the pivot.
Each row asserted in node to agree within 1.2%. Sample data: 1/0.3/1.5/0.201; 1/0.4/2/0.199; 2/0.15/1/0.302; 1.5/0.4/2/0.298; 2/0.25/2.5/0.199; 2.5/0.24/3/0.201.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Moments must be calculated with the distance from the pivot (the perpendicular distance to the line of the force). Distances from the end are wrong for at least one side, so F × d would not be the moment and the two totals would not be equal.
Also accept: systematic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6 (total 8 marks)
Q1 [3]: IV: the weight/distance on the left side (F₁ or d₁) (1); DV: the distance of the second weight at balance (d₂) (1); CV: same rule / same pivot position / same g / loops vertical (1).
Q2 [2]: So the centre of mass/weight of the rule is over the pivot (1); so the rule’s weight has no moment / only the hanging weights give moments (1).
Q3 [3]: 2.0 × 0.25 = 0.50 N m (1); d = 0.50/1.5 (1); = 0.33 m / 33 cm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F × 1.2 = 600 × 0.40 = 240 N m, so F = 200 N.
Asserted in node: 50 N × 1.2 m = 400 N × 0.15 m = 60 N m. In the wheelbarrow the pivot (wheel) is at one end and the load is between the pivot and the effort.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Anticlockwise; 60 × 40/20 = 120 turns per minute (twice as fast, half the moment).
Rotation directions are set from data in node (driven dir = −driver dir, asserted) and the arrows are drawn from those values. Tooth force 120 N; driven moment 12 N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Lubricated: bicycle chain, car engine, door hinges, gears, bearings (any two). Friction useful: brakes, tyres gripping the road, walking (any one).
Efficiency = useful energy output ÷ total energy input (Topic 3, recall). Combined Science classes met lubrication in Topic 3 (3.9); 9.10P is physics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7 (total 7 marks)
Q1 [3]: 600 × 0.20 = 120 N m (1); F × 1.5 = 120 (1); F = 80 N (1).
Q2 [2]: Opposite direction (1); one third of a turn (1).
Q3 [2]: Oil/lubricant reduces friction between moving parts (1); so less work is done against friction / less energy is dissipated as heat (thermal energy) to the surroundings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self-check against the table. Topic 9 has one new equation, moment = force × distance normal to the direction of the force (9.7P, RECALL; physics only). F = m × a, W = m × g and E = F × d are recall equations from Topics 2 and 8 used in this deck. The principle of moments (9.8P) is a rule to recall, not an equation-sheet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as a cover-and-recall activity: hide the definitions, students say them, then reveal. Terms 12–16 are physics only (9.6P–9.10P).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full question (total 13 marks)
(a) [2]: Non-contact: weight/gravitational force (1); contact: any two of friction, tension, normal contact force, air resistance (1).
(b) [2]: Has size/magnitude and direction (1); any scalar, e.g. mass, speed, energy, distance, time (1).
(c) [3]: Scale drawing, tip to tail with a scale (1); 50 N (allow 48–52 N) (1); 53° north of east / 37° east of north (allow ±2°) (1).
(d) [2]: moment = 300 × 2.0 (1); = 600 N m (1, unit needed).
(e) [2]: 400 × d = 600 (1); d = 1.5 m (1). ECF from (d).
(f) [2]: The handle is further from the pivot/hinge (1); so the same force gives a larger moment / a smaller force is needed for the same moment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homework (total 17 marks)
1 [1]: magnetic force (1).
2 [3]: Vector has size and direction; scalar has size only (1); vector example, e.g. force/velocity/displacement/acceleration/momentum/weight (1); scalar example, e.g. mass/speed/energy/distance/time (1).
3 [3]: Diagram with four labelled arrows from the box, normal force = weight (1); 60 − 45 (1); = 15 N to the right (1).
4 [2]: moment = 45 × 0.20 (1); = 9.0 N m (1).
5 [2]: The forces on the teeth are equal, but the larger gear has a larger radius so the moment (F × d) is larger (1); it has more teeth, so it makes fewer turns for each turn of the small gear (1).
6 [6]: Levels-based mark scheme (6 marks). Answers are marked holistically; use the indicative content below.
Level 0 (0 marks): no rewardable material.
Level 1 (1–2 marks): demonstrates elements of physics understanding, some of which is inaccurate; understanding of scientific ideas lacks detail; presents an explanation with some structure and coherence.
Level 2 (3–4 marks): demonstrates physics understanding which is mostly relevant but may include some inaccuracies; understanding of scientific ideas is not fully detailed and/or developed; presents an explanation that has a structure which is mostly clear, coherent and logical.
Level 3 (5–6 marks): demonstrates accurate and relevant physics understanding throughout; understanding of the scientific ideas is detailed and fully developed; presents an explanation that has a well-developed structure which is clear, coherent and logical.
Indicative content:
 • Balance the metre rule on a pivot at its centre of mass (about 50 cm) with no masses.
 • Hang a known mass/weight on one side at a measured distance from the pivot, using a thread loop.
 • Hang a second known weight on the other side; move it until the rule balances (is level).
 • Measure both distances from the pivot (in m); convert masses to weights (W = mg).
 • Repeat with different weights and positions (at least 5 sets); repeat each and take means.
 • Calculate the clockwise moment (F × d) and the anticlockwise moment for each set.
 • Compare: if clockwise moment = anticlockwise moment each time, the principle is supported; plot one against the other – a straight line through the origin with gradient 1.
 • Control: same rule, same pivot position; read distances square-on (parallax); use a spirit level.
 • Safety: keep feet clear of the masses; secure the pivot.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4A"/>
        </a:solidFill>
      </p:bgPr>
    </p:bg>
    <p:spTree>
      <p:nvGrpSpPr>
        <p:cNvPr id="1" name=""/>
        <p:cNvGrpSpPr/>
        <p:nvPr/>
      </p:nvGrpSpPr>
      <p:grpSpPr>
        <a:xfrm>
          <a:off x="0" y="0"/>
          <a:ext cx="0" cy="0"/>
          <a:chOff x="0" y="0"/>
          <a:chExt cx="0" cy="0"/>
        </a:xfrm>
      </p:grpSpPr>
      <p:sp>
        <p:nvSpPr>
          <p:cNvPr id="2" name="Shape 0"/>
          <p:cNvSpPr/>
          <p:nvPr/>
        </p:nvSpPr>
        <p:spPr>
          <a:xfrm>
            <a:off x="7589520" y="-1463040"/>
            <a:ext cx="6035040" cy="6035040"/>
          </a:xfrm>
          <a:prstGeom prst="ellipse">
            <a:avLst/>
          </a:prstGeom>
          <a:solidFill>
            <a:srgbClr val="2B4C9B"/>
          </a:solidFill>
          <a:ln w="12700">
            <a:solidFill>
              <a:srgbClr val="2B4C9B"/>
            </a:solidFill>
            <a:prstDash val="solid"/>
          </a:ln>
        </p:spPr>
      </p:sp>
      <p:sp>
        <p:nvSpPr>
          <p:cNvPr id="3" name="Shape 1"/>
          <p:cNvSpPr/>
          <p:nvPr/>
        </p:nvSpPr>
        <p:spPr>
          <a:xfrm>
            <a:off x="9326880" y="2377440"/>
            <a:ext cx="4937760" cy="4937760"/>
          </a:xfrm>
          <a:prstGeom prst="ellipse">
            <a:avLst/>
          </a:prstGeom>
          <a:solidFill>
            <a:srgbClr val="3A63C9">
              <a:alpha val="85000"/>
            </a:srgbClr>
          </a:solidFill>
          <a:ln w="12700">
            <a:solidFill>
              <a:srgbClr val="3A63C9"/>
            </a:solidFill>
            <a:prstDash val="solid"/>
          </a:ln>
        </p:spPr>
      </p:sp>
      <p:sp>
        <p:nvSpPr>
          <p:cNvPr id="4" name="Shape 2"/>
          <p:cNvSpPr/>
          <p:nvPr/>
        </p:nvSpPr>
        <p:spPr>
          <a:xfrm>
            <a:off x="0" y="0"/>
            <a:ext cx="164592" cy="6858000"/>
          </a:xfrm>
          <a:prstGeom prst="rect">
            <a:avLst/>
          </a:prstGeom>
          <a:solidFill>
            <a:srgbClr val="3A63C9"/>
          </a:solidFill>
          <a:ln w="12700">
            <a:solidFill>
              <a:srgbClr val="3A63C9"/>
            </a:solidFill>
            <a:prstDash val="solid"/>
          </a:ln>
        </p:spPr>
      </p:sp>
      <p:sp>
        <p:nvSpPr>
          <p:cNvPr id="5" name="Text 3"/>
          <p:cNvSpPr/>
          <p:nvPr/>
        </p:nvSpPr>
        <p:spPr>
          <a:xfrm>
            <a:off x="731520" y="822960"/>
            <a:ext cx="7315200" cy="320040"/>
          </a:xfrm>
          <a:prstGeom prst="rect">
            <a:avLst/>
          </a:prstGeom>
          <a:noFill/>
          <a:ln/>
        </p:spPr>
        <p:txBody>
          <a:bodyPr wrap="square" lIns="0" tIns="0" rIns="0" bIns="0" rtlCol="0" anchor="ctr"/>
          <a:lstStyle/>
          <a:p>
            <a:pPr indent="0" marL="0">
              <a:buNone/>
            </a:pPr>
            <a:r>
              <a:rPr lang="en-US" sz="1300" b="1" spc="400" kern="0" dirty="0">
                <a:solidFill>
                  <a:srgbClr val="9FB8F0"/>
                </a:solidFill>
                <a:latin typeface="Calibri" pitchFamily="34" charset="0"/>
                <a:ea typeface="Calibri" pitchFamily="34" charset="-122"/>
                <a:cs typeface="Calibri" pitchFamily="34" charset="-120"/>
              </a:rPr>
              <a:t>PEARSON EDEXCEL GCSE PHYSICS (1PH0)</a:t>
            </a:r>
            <a:endParaRPr lang="en-US" sz="1300" dirty="0"/>
          </a:p>
        </p:txBody>
      </p:sp>
      <p:sp>
        <p:nvSpPr>
          <p:cNvPr id="6" name="Text 4"/>
          <p:cNvSpPr/>
          <p:nvPr/>
        </p:nvSpPr>
        <p:spPr>
          <a:xfrm>
            <a:off x="731520" y="1325880"/>
            <a:ext cx="9601200" cy="100584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Topic 9  Forces and their Effects</a:t>
            </a:r>
            <a:endParaRPr lang="en-US" sz="4000" dirty="0"/>
          </a:p>
        </p:txBody>
      </p:sp>
      <p:sp>
        <p:nvSpPr>
          <p:cNvPr id="7" name="Text 5"/>
          <p:cNvSpPr/>
          <p:nvPr/>
        </p:nvSpPr>
        <p:spPr>
          <a:xfrm>
            <a:off x="731520" y="2377440"/>
            <a:ext cx="7863840" cy="457200"/>
          </a:xfrm>
          <a:prstGeom prst="rect">
            <a:avLst/>
          </a:prstGeom>
          <a:noFill/>
          <a:ln/>
        </p:spPr>
        <p:txBody>
          <a:bodyPr wrap="square" lIns="0" tIns="0" rIns="0" bIns="0" rtlCol="0" anchor="ctr"/>
          <a:lstStyle/>
          <a:p>
            <a:pPr indent="0" marL="0">
              <a:buNone/>
            </a:pPr>
            <a:r>
              <a:rPr lang="en-US" sz="1800" i="1" dirty="0">
                <a:solidFill>
                  <a:srgbClr val="C9D5F2"/>
                </a:solidFill>
                <a:latin typeface="Georgia" pitchFamily="34" charset="0"/>
                <a:ea typeface="Georgia" pitchFamily="34" charset="-122"/>
                <a:cs typeface="Georgia" pitchFamily="34" charset="-120"/>
              </a:rPr>
              <a:t>Interacting forces, vector diagrams, moments, levers and gears</a:t>
            </a:r>
            <a:endParaRPr lang="en-US" sz="1800" dirty="0"/>
          </a:p>
        </p:txBody>
      </p:sp>
      <p:sp>
        <p:nvSpPr>
          <p:cNvPr id="8" name="Shape 6"/>
          <p:cNvSpPr/>
          <p:nvPr/>
        </p:nvSpPr>
        <p:spPr>
          <a:xfrm>
            <a:off x="731520" y="3017520"/>
            <a:ext cx="2011680" cy="0"/>
          </a:xfrm>
          <a:prstGeom prst="line">
            <a:avLst/>
          </a:prstGeom>
          <a:noFill/>
          <a:ln w="31750">
            <a:solidFill>
              <a:srgbClr val="F5A742"/>
            </a:solidFill>
            <a:prstDash val="solid"/>
          </a:ln>
        </p:spPr>
      </p:sp>
      <p:sp>
        <p:nvSpPr>
          <p:cNvPr id="9" name="Text 7"/>
          <p:cNvSpPr/>
          <p:nvPr/>
        </p:nvSpPr>
        <p:spPr>
          <a:xfrm>
            <a:off x="731520" y="3154680"/>
            <a:ext cx="8046720" cy="365760"/>
          </a:xfrm>
          <a:prstGeom prst="rect">
            <a:avLst/>
          </a:prstGeom>
          <a:noFill/>
          <a:ln/>
        </p:spPr>
        <p:txBody>
          <a:bodyPr wrap="square" lIns="0" tIns="0" rIns="0" bIns="0" rtlCol="0" anchor="ctr"/>
          <a:lstStyle/>
          <a:p>
            <a:pPr indent="0" marL="0">
              <a:buNone/>
            </a:pPr>
            <a:r>
              <a:rPr lang="en-US" sz="1300" dirty="0">
                <a:solidFill>
                  <a:srgbClr val="DCE4F7"/>
                </a:solidFill>
                <a:latin typeface="Calibri" pitchFamily="34" charset="0"/>
                <a:ea typeface="Calibri" pitchFamily="34" charset="-122"/>
                <a:cs typeface="Calibri" pitchFamily="34" charset="-120"/>
              </a:rPr>
              <a:t>Contact  •  Non-contact  •  Vectors  •  Resultant force  •  Moments  •  Levers and gears</a:t>
            </a:r>
            <a:endParaRPr lang="en-US" sz="1300" dirty="0"/>
          </a:p>
        </p:txBody>
      </p:sp>
      <p:sp>
        <p:nvSpPr>
          <p:cNvPr id="10" name="Shape 8"/>
          <p:cNvSpPr/>
          <p:nvPr/>
        </p:nvSpPr>
        <p:spPr>
          <a:xfrm>
            <a:off x="731520" y="3886200"/>
            <a:ext cx="457200" cy="457200"/>
          </a:xfrm>
          <a:prstGeom prst="ellipse">
            <a:avLst/>
          </a:prstGeom>
          <a:solidFill>
            <a:srgbClr val="3A63C9"/>
          </a:solidFill>
          <a:ln w="12700">
            <a:solidFill>
              <a:srgbClr val="9FB8F0"/>
            </a:solidFill>
            <a:prstDash val="solid"/>
          </a:ln>
        </p:spPr>
      </p:sp>
      <p:sp>
        <p:nvSpPr>
          <p:cNvPr id="11" name="Text 9"/>
          <p:cNvSpPr/>
          <p:nvPr/>
        </p:nvSpPr>
        <p:spPr>
          <a:xfrm>
            <a:off x="731520" y="38862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1371600" y="3886200"/>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Specification 9.1–9.10 • no Core Practical; suggested practical: principle of moments</a:t>
            </a:r>
            <a:endParaRPr lang="en-US" sz="1400" dirty="0"/>
          </a:p>
        </p:txBody>
      </p:sp>
      <p:sp>
        <p:nvSpPr>
          <p:cNvPr id="13" name="Shape 11"/>
          <p:cNvSpPr/>
          <p:nvPr/>
        </p:nvSpPr>
        <p:spPr>
          <a:xfrm>
            <a:off x="731520" y="4507992"/>
            <a:ext cx="457200" cy="457200"/>
          </a:xfrm>
          <a:prstGeom prst="ellipse">
            <a:avLst/>
          </a:prstGeom>
          <a:solidFill>
            <a:srgbClr val="3A63C9"/>
          </a:solidFill>
          <a:ln w="12700">
            <a:solidFill>
              <a:srgbClr val="9FB8F0"/>
            </a:solidFill>
            <a:prstDash val="solid"/>
          </a:ln>
        </p:spPr>
      </p:sp>
      <p:sp>
        <p:nvSpPr>
          <p:cNvPr id="14" name="Text 12"/>
          <p:cNvSpPr/>
          <p:nvPr/>
        </p:nvSpPr>
        <p:spPr>
          <a:xfrm>
            <a:off x="731520" y="45079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a:t>
            </a:r>
            <a:endParaRPr lang="en-US" sz="1500" dirty="0"/>
          </a:p>
        </p:txBody>
      </p:sp>
      <p:sp>
        <p:nvSpPr>
          <p:cNvPr id="15" name="Text 13"/>
          <p:cNvSpPr/>
          <p:nvPr/>
        </p:nvSpPr>
        <p:spPr>
          <a:xfrm>
            <a:off x="1371600" y="4507992"/>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Higher &amp; Foundation in one deck • HT pill = Higher tier only • P = physics only</a:t>
            </a:r>
            <a:endParaRPr lang="en-US" sz="1400" dirty="0"/>
          </a:p>
        </p:txBody>
      </p:sp>
      <p:sp>
        <p:nvSpPr>
          <p:cNvPr id="16" name="Shape 14"/>
          <p:cNvSpPr/>
          <p:nvPr/>
        </p:nvSpPr>
        <p:spPr>
          <a:xfrm>
            <a:off x="731520" y="5129784"/>
            <a:ext cx="457200" cy="457200"/>
          </a:xfrm>
          <a:prstGeom prst="ellipse">
            <a:avLst/>
          </a:prstGeom>
          <a:solidFill>
            <a:srgbClr val="3A63C9"/>
          </a:solidFill>
          <a:ln w="12700">
            <a:solidFill>
              <a:srgbClr val="9FB8F0"/>
            </a:solidFill>
            <a:prstDash val="solid"/>
          </a:ln>
        </p:spPr>
      </p:sp>
      <p:sp>
        <p:nvSpPr>
          <p:cNvPr id="17" name="Text 15"/>
          <p:cNvSpPr/>
          <p:nvPr/>
        </p:nvSpPr>
        <p:spPr>
          <a:xfrm>
            <a:off x="731520" y="51297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18" name="Text 16"/>
          <p:cNvSpPr/>
          <p:nvPr/>
        </p:nvSpPr>
        <p:spPr>
          <a:xfrm>
            <a:off x="1371600" y="5129784"/>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Topic 9 of 15 • Paper 2</a:t>
            </a:r>
            <a:endParaRPr lang="en-US" sz="1400" dirty="0"/>
          </a:p>
        </p:txBody>
      </p:sp>
      <p:sp>
        <p:nvSpPr>
          <p:cNvPr id="19" name="Text 17"/>
          <p:cNvSpPr/>
          <p:nvPr/>
        </p:nvSpPr>
        <p:spPr>
          <a:xfrm>
            <a:off x="731520" y="6172200"/>
            <a:ext cx="8229600" cy="274320"/>
          </a:xfrm>
          <a:prstGeom prst="rect">
            <a:avLst/>
          </a:prstGeom>
          <a:noFill/>
          <a:ln/>
        </p:spPr>
        <p:txBody>
          <a:bodyPr wrap="square" lIns="0" tIns="0" rIns="0" bIns="0" rtlCol="0" anchor="ctr"/>
          <a:lstStyle/>
          <a:p>
            <a:pPr indent="0" marL="0">
              <a:buNone/>
            </a:pPr>
            <a:r>
              <a:rPr lang="en-US" sz="1000" i="1" dirty="0">
                <a:solidFill>
                  <a:srgbClr val="A9B4CF"/>
                </a:solidFill>
                <a:latin typeface="Calibri" pitchFamily="34" charset="0"/>
                <a:ea typeface="Calibri" pitchFamily="34" charset="-122"/>
                <a:cs typeface="Calibri" pitchFamily="34" charset="-120"/>
              </a:rPr>
              <a:t>Pearson Edexcel GCSE (9–1) Physics 1PH0 • teacher deck • mark schemes and answers in the speaker notes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Learning objectives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9.1–9.10 • by the end of this topic you can…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9 Forces and their effects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Objectives  |  2</a:t>
            </a:r>
            <a:endParaRPr lang="en-US" sz="1000" dirty="0"/>
          </a:p>
        </p:txBody>
      </p:sp>
      <p:sp>
        <p:nvSpPr>
          <p:cNvPr id="8" name="Shape 6"/>
          <p:cNvSpPr/>
          <p:nvPr/>
        </p:nvSpPr>
        <p:spPr>
          <a:xfrm>
            <a:off x="502920" y="1325880"/>
            <a:ext cx="457200" cy="457200"/>
          </a:xfrm>
          <a:prstGeom prst="ellipse">
            <a:avLst/>
          </a:prstGeom>
          <a:solidFill>
            <a:srgbClr val="2E5BD8"/>
          </a:solidFill>
          <a:ln w="12700">
            <a:solidFill>
              <a:srgbClr val="2E5BD8"/>
            </a:solidFill>
            <a:prstDash val="solid"/>
          </a:ln>
        </p:spPr>
      </p:sp>
      <p:sp>
        <p:nvSpPr>
          <p:cNvPr id="9" name="Text 7"/>
          <p:cNvSpPr/>
          <p:nvPr/>
        </p:nvSpPr>
        <p:spPr>
          <a:xfrm>
            <a:off x="50292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0" name="Text 8"/>
          <p:cNvSpPr/>
          <p:nvPr/>
        </p:nvSpPr>
        <p:spPr>
          <a:xfrm>
            <a:off x="1097280" y="128016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9.1   </a:t>
            </a:r>
            <a:r>
              <a:rPr lang="en-US" sz="1200" dirty="0">
                <a:solidFill>
                  <a:srgbClr val="262B3A"/>
                </a:solidFill>
                <a:latin typeface="Calibri" pitchFamily="34" charset="0"/>
                <a:ea typeface="Calibri" pitchFamily="34" charset="-122"/>
                <a:cs typeface="Calibri" pitchFamily="34" charset="-120"/>
              </a:rPr>
              <a:t>Describe how objects interact </a:t>
            </a:r>
            <a:r>
              <a:rPr lang="en-US" sz="1200" b="1" dirty="0">
                <a:solidFill>
                  <a:srgbClr val="262B3A"/>
                </a:solidFill>
                <a:latin typeface="Calibri" pitchFamily="34" charset="0"/>
                <a:ea typeface="Calibri" pitchFamily="34" charset="-122"/>
                <a:cs typeface="Calibri" pitchFamily="34" charset="-120"/>
              </a:rPr>
              <a:t>at a distance</a:t>
            </a:r>
            <a:r>
              <a:rPr lang="en-US" sz="1200" dirty="0">
                <a:solidFill>
                  <a:srgbClr val="262B3A"/>
                </a:solidFill>
                <a:latin typeface="Calibri" pitchFamily="34" charset="0"/>
                <a:ea typeface="Calibri" pitchFamily="34" charset="-122"/>
                <a:cs typeface="Calibri" pitchFamily="34" charset="-120"/>
              </a:rPr>
              <a:t> (gravitational, electrostatic, magnetic) and </a:t>
            </a:r>
            <a:r>
              <a:rPr lang="en-US" sz="1200" b="1" dirty="0">
                <a:solidFill>
                  <a:srgbClr val="262B3A"/>
                </a:solidFill>
                <a:latin typeface="Calibri" pitchFamily="34" charset="0"/>
                <a:ea typeface="Calibri" pitchFamily="34" charset="-122"/>
                <a:cs typeface="Calibri" pitchFamily="34" charset="-120"/>
              </a:rPr>
              <a:t>by contact</a:t>
            </a:r>
            <a:r>
              <a:rPr lang="en-US" sz="1200" dirty="0">
                <a:solidFill>
                  <a:srgbClr val="262B3A"/>
                </a:solidFill>
                <a:latin typeface="Calibri" pitchFamily="34" charset="0"/>
                <a:ea typeface="Calibri" pitchFamily="34" charset="-122"/>
                <a:cs typeface="Calibri" pitchFamily="34" charset="-120"/>
              </a:rPr>
              <a:t>, in </a:t>
            </a:r>
            <a:r>
              <a:rPr lang="en-US" sz="1200" b="1" dirty="0">
                <a:solidFill>
                  <a:srgbClr val="262B3A"/>
                </a:solidFill>
                <a:latin typeface="Calibri" pitchFamily="34" charset="0"/>
                <a:ea typeface="Calibri" pitchFamily="34" charset="-122"/>
                <a:cs typeface="Calibri" pitchFamily="34" charset="-120"/>
              </a:rPr>
              <a:t>pairs of forces</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11" name="Shape 9"/>
          <p:cNvSpPr/>
          <p:nvPr/>
        </p:nvSpPr>
        <p:spPr>
          <a:xfrm>
            <a:off x="502920" y="2194560"/>
            <a:ext cx="457200" cy="457200"/>
          </a:xfrm>
          <a:prstGeom prst="ellipse">
            <a:avLst/>
          </a:prstGeom>
          <a:solidFill>
            <a:srgbClr val="2E5BD8"/>
          </a:solidFill>
          <a:ln w="12700">
            <a:solidFill>
              <a:srgbClr val="2E5BD8"/>
            </a:solidFill>
            <a:prstDash val="solid"/>
          </a:ln>
        </p:spPr>
      </p:sp>
      <p:sp>
        <p:nvSpPr>
          <p:cNvPr id="12" name="Text 10"/>
          <p:cNvSpPr/>
          <p:nvPr/>
        </p:nvSpPr>
        <p:spPr>
          <a:xfrm>
            <a:off x="50292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3" name="Text 11"/>
          <p:cNvSpPr/>
          <p:nvPr/>
        </p:nvSpPr>
        <p:spPr>
          <a:xfrm>
            <a:off x="1097280" y="214884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9.2   </a:t>
            </a:r>
            <a:r>
              <a:rPr lang="en-US" sz="1200" dirty="0">
                <a:solidFill>
                  <a:srgbClr val="262B3A"/>
                </a:solidFill>
                <a:latin typeface="Calibri" pitchFamily="34" charset="0"/>
                <a:ea typeface="Calibri" pitchFamily="34" charset="-122"/>
                <a:cs typeface="Calibri" pitchFamily="34" charset="-120"/>
              </a:rPr>
              <a:t>Explain the difference between </a:t>
            </a:r>
            <a:r>
              <a:rPr lang="en-US" sz="1200" b="1" dirty="0">
                <a:solidFill>
                  <a:srgbClr val="262B3A"/>
                </a:solidFill>
                <a:latin typeface="Calibri" pitchFamily="34" charset="0"/>
                <a:ea typeface="Calibri" pitchFamily="34" charset="-122"/>
                <a:cs typeface="Calibri" pitchFamily="34" charset="-120"/>
              </a:rPr>
              <a:t>vector</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scalar</a:t>
            </a:r>
            <a:r>
              <a:rPr lang="en-US" sz="1200" dirty="0">
                <a:solidFill>
                  <a:srgbClr val="262B3A"/>
                </a:solidFill>
                <a:latin typeface="Calibri" pitchFamily="34" charset="0"/>
                <a:ea typeface="Calibri" pitchFamily="34" charset="-122"/>
                <a:cs typeface="Calibri" pitchFamily="34" charset="-120"/>
              </a:rPr>
              <a:t> quantities, using examples.</a:t>
            </a:r>
            <a:endParaRPr lang="en-US" sz="1100" dirty="0"/>
          </a:p>
        </p:txBody>
      </p:sp>
      <p:sp>
        <p:nvSpPr>
          <p:cNvPr id="14" name="Shape 12"/>
          <p:cNvSpPr/>
          <p:nvPr/>
        </p:nvSpPr>
        <p:spPr>
          <a:xfrm>
            <a:off x="502920" y="3063240"/>
            <a:ext cx="457200" cy="457200"/>
          </a:xfrm>
          <a:prstGeom prst="ellipse">
            <a:avLst/>
          </a:prstGeom>
          <a:solidFill>
            <a:srgbClr val="2E5BD8"/>
          </a:solidFill>
          <a:ln w="12700">
            <a:solidFill>
              <a:srgbClr val="2E5BD8"/>
            </a:solidFill>
            <a:prstDash val="solid"/>
          </a:ln>
        </p:spPr>
      </p:sp>
      <p:sp>
        <p:nvSpPr>
          <p:cNvPr id="15" name="Text 13"/>
          <p:cNvSpPr/>
          <p:nvPr/>
        </p:nvSpPr>
        <p:spPr>
          <a:xfrm>
            <a:off x="50292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6" name="Text 14"/>
          <p:cNvSpPr/>
          <p:nvPr/>
        </p:nvSpPr>
        <p:spPr>
          <a:xfrm>
            <a:off x="1097280" y="301752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9.3   </a:t>
            </a:r>
            <a:r>
              <a:rPr lang="en-US" sz="1200" dirty="0">
                <a:solidFill>
                  <a:srgbClr val="262B3A"/>
                </a:solidFill>
                <a:latin typeface="Calibri" pitchFamily="34" charset="0"/>
                <a:ea typeface="Calibri" pitchFamily="34" charset="-122"/>
                <a:cs typeface="Calibri" pitchFamily="34" charset="-120"/>
              </a:rPr>
              <a:t>Use </a:t>
            </a:r>
            <a:r>
              <a:rPr lang="en-US" sz="1200" b="1" dirty="0">
                <a:solidFill>
                  <a:srgbClr val="262B3A"/>
                </a:solidFill>
                <a:latin typeface="Calibri" pitchFamily="34" charset="0"/>
                <a:ea typeface="Calibri" pitchFamily="34" charset="-122"/>
                <a:cs typeface="Calibri" pitchFamily="34" charset="-120"/>
              </a:rPr>
              <a:t>vector diagrams</a:t>
            </a:r>
            <a:r>
              <a:rPr lang="en-US" sz="1200" dirty="0">
                <a:solidFill>
                  <a:srgbClr val="262B3A"/>
                </a:solidFill>
                <a:latin typeface="Calibri" pitchFamily="34" charset="0"/>
                <a:ea typeface="Calibri" pitchFamily="34" charset="-122"/>
                <a:cs typeface="Calibri" pitchFamily="34" charset="-120"/>
              </a:rPr>
              <a:t> (scale drawings) for a resultant force, resolving a force, and equilibrium.</a:t>
            </a:r>
            <a:endParaRPr lang="en-US" sz="1100" dirty="0"/>
          </a:p>
        </p:txBody>
      </p:sp>
      <p:sp>
        <p:nvSpPr>
          <p:cNvPr id="17" name="Shape 15"/>
          <p:cNvSpPr/>
          <p:nvPr/>
        </p:nvSpPr>
        <p:spPr>
          <a:xfrm>
            <a:off x="5257800" y="3502152"/>
            <a:ext cx="411480" cy="274320"/>
          </a:xfrm>
          <a:prstGeom prst="roundRect">
            <a:avLst>
              <a:gd name="adj" fmla="val 50000"/>
            </a:avLst>
          </a:prstGeom>
          <a:solidFill>
            <a:srgbClr val="C8414C"/>
          </a:solidFill>
          <a:ln w="12700">
            <a:solidFill>
              <a:srgbClr val="C8414C"/>
            </a:solidFill>
            <a:prstDash val="solid"/>
          </a:ln>
        </p:spPr>
      </p:sp>
      <p:sp>
        <p:nvSpPr>
          <p:cNvPr id="18" name="Text 16"/>
          <p:cNvSpPr/>
          <p:nvPr/>
        </p:nvSpPr>
        <p:spPr>
          <a:xfrm>
            <a:off x="5257800" y="350215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19" name="Shape 17"/>
          <p:cNvSpPr/>
          <p:nvPr/>
        </p:nvSpPr>
        <p:spPr>
          <a:xfrm>
            <a:off x="502920" y="3931920"/>
            <a:ext cx="457200" cy="457200"/>
          </a:xfrm>
          <a:prstGeom prst="ellipse">
            <a:avLst/>
          </a:prstGeom>
          <a:solidFill>
            <a:srgbClr val="2E5BD8"/>
          </a:solidFill>
          <a:ln w="12700">
            <a:solidFill>
              <a:srgbClr val="2E5BD8"/>
            </a:solidFill>
            <a:prstDash val="solid"/>
          </a:ln>
        </p:spPr>
      </p:sp>
      <p:sp>
        <p:nvSpPr>
          <p:cNvPr id="20" name="Text 18"/>
          <p:cNvSpPr/>
          <p:nvPr/>
        </p:nvSpPr>
        <p:spPr>
          <a:xfrm>
            <a:off x="50292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21" name="Text 19"/>
          <p:cNvSpPr/>
          <p:nvPr/>
        </p:nvSpPr>
        <p:spPr>
          <a:xfrm>
            <a:off x="1097280" y="388620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9.4, 9.5   </a:t>
            </a:r>
            <a:r>
              <a:rPr lang="en-US" sz="1200" dirty="0">
                <a:solidFill>
                  <a:srgbClr val="262B3A"/>
                </a:solidFill>
                <a:latin typeface="Calibri" pitchFamily="34" charset="0"/>
                <a:ea typeface="Calibri" pitchFamily="34" charset="-122"/>
                <a:cs typeface="Calibri" pitchFamily="34" charset="-120"/>
              </a:rPr>
              <a:t>Draw and use </a:t>
            </a:r>
            <a:r>
              <a:rPr lang="en-US" sz="1200" b="1" dirty="0">
                <a:solidFill>
                  <a:srgbClr val="262B3A"/>
                </a:solidFill>
                <a:latin typeface="Calibri" pitchFamily="34" charset="0"/>
                <a:ea typeface="Calibri" pitchFamily="34" charset="-122"/>
                <a:cs typeface="Calibri" pitchFamily="34" charset="-120"/>
              </a:rPr>
              <a:t>free body diagrams</a:t>
            </a:r>
            <a:r>
              <a:rPr lang="en-US" sz="1200" dirty="0">
                <a:solidFill>
                  <a:srgbClr val="262B3A"/>
                </a:solidFill>
                <a:latin typeface="Calibri" pitchFamily="34" charset="0"/>
                <a:ea typeface="Calibri" pitchFamily="34" charset="-122"/>
                <a:cs typeface="Calibri" pitchFamily="34" charset="-120"/>
              </a:rPr>
              <a:t>; explain </a:t>
            </a:r>
            <a:r>
              <a:rPr lang="en-US" sz="1200" b="1" dirty="0">
                <a:solidFill>
                  <a:srgbClr val="262B3A"/>
                </a:solidFill>
                <a:latin typeface="Calibri" pitchFamily="34" charset="0"/>
                <a:ea typeface="Calibri" pitchFamily="34" charset="-122"/>
                <a:cs typeface="Calibri" pitchFamily="34" charset="-120"/>
              </a:rPr>
              <a:t>resultant</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balanced</a:t>
            </a:r>
            <a:r>
              <a:rPr lang="en-US" sz="1200" dirty="0">
                <a:solidFill>
                  <a:srgbClr val="262B3A"/>
                </a:solidFill>
                <a:latin typeface="Calibri" pitchFamily="34" charset="0"/>
                <a:ea typeface="Calibri" pitchFamily="34" charset="-122"/>
                <a:cs typeface="Calibri" pitchFamily="34" charset="-120"/>
              </a:rPr>
              <a:t> forces on an object.</a:t>
            </a:r>
            <a:endParaRPr lang="en-US" sz="1100" dirty="0"/>
          </a:p>
        </p:txBody>
      </p:sp>
      <p:sp>
        <p:nvSpPr>
          <p:cNvPr id="22" name="Shape 20"/>
          <p:cNvSpPr/>
          <p:nvPr/>
        </p:nvSpPr>
        <p:spPr>
          <a:xfrm>
            <a:off x="5257800" y="4370832"/>
            <a:ext cx="411480" cy="274320"/>
          </a:xfrm>
          <a:prstGeom prst="roundRect">
            <a:avLst>
              <a:gd name="adj" fmla="val 50000"/>
            </a:avLst>
          </a:prstGeom>
          <a:solidFill>
            <a:srgbClr val="C8414C"/>
          </a:solidFill>
          <a:ln w="12700">
            <a:solidFill>
              <a:srgbClr val="C8414C"/>
            </a:solidFill>
            <a:prstDash val="solid"/>
          </a:ln>
        </p:spPr>
      </p:sp>
      <p:sp>
        <p:nvSpPr>
          <p:cNvPr id="23" name="Text 21"/>
          <p:cNvSpPr/>
          <p:nvPr/>
        </p:nvSpPr>
        <p:spPr>
          <a:xfrm>
            <a:off x="5257800" y="437083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4" name="Shape 22"/>
          <p:cNvSpPr/>
          <p:nvPr/>
        </p:nvSpPr>
        <p:spPr>
          <a:xfrm>
            <a:off x="6263640" y="1325880"/>
            <a:ext cx="457200" cy="457200"/>
          </a:xfrm>
          <a:prstGeom prst="ellipse">
            <a:avLst/>
          </a:prstGeom>
          <a:solidFill>
            <a:srgbClr val="2E5BD8"/>
          </a:solidFill>
          <a:ln w="12700">
            <a:solidFill>
              <a:srgbClr val="2E5BD8"/>
            </a:solidFill>
            <a:prstDash val="solid"/>
          </a:ln>
        </p:spPr>
      </p:sp>
      <p:sp>
        <p:nvSpPr>
          <p:cNvPr id="25" name="Text 23"/>
          <p:cNvSpPr/>
          <p:nvPr/>
        </p:nvSpPr>
        <p:spPr>
          <a:xfrm>
            <a:off x="626364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26" name="Text 24"/>
          <p:cNvSpPr/>
          <p:nvPr/>
        </p:nvSpPr>
        <p:spPr>
          <a:xfrm>
            <a:off x="6858000" y="128016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9.6P, 9.7P   </a:t>
            </a:r>
            <a:r>
              <a:rPr lang="en-US" sz="1200" dirty="0">
                <a:solidFill>
                  <a:srgbClr val="262B3A"/>
                </a:solidFill>
                <a:latin typeface="Calibri" pitchFamily="34" charset="0"/>
                <a:ea typeface="Calibri" pitchFamily="34" charset="-122"/>
                <a:cs typeface="Calibri" pitchFamily="34" charset="-120"/>
              </a:rPr>
              <a:t>Describe how forces cause </a:t>
            </a:r>
            <a:r>
              <a:rPr lang="en-US" sz="1200" b="1" dirty="0">
                <a:solidFill>
                  <a:srgbClr val="262B3A"/>
                </a:solidFill>
                <a:latin typeface="Calibri" pitchFamily="34" charset="0"/>
                <a:ea typeface="Calibri" pitchFamily="34" charset="-122"/>
                <a:cs typeface="Calibri" pitchFamily="34" charset="-120"/>
              </a:rPr>
              <a:t>rotation</a:t>
            </a:r>
            <a:r>
              <a:rPr lang="en-US" sz="1200" dirty="0">
                <a:solidFill>
                  <a:srgbClr val="262B3A"/>
                </a:solidFill>
                <a:latin typeface="Calibri" pitchFamily="34" charset="0"/>
                <a:ea typeface="Calibri" pitchFamily="34" charset="-122"/>
                <a:cs typeface="Calibri" pitchFamily="34" charset="-120"/>
              </a:rPr>
              <a:t>; recall and use </a:t>
            </a:r>
            <a:r>
              <a:rPr lang="en-US" sz="1200" b="1" dirty="0">
                <a:solidFill>
                  <a:srgbClr val="262B3A"/>
                </a:solidFill>
                <a:latin typeface="Calibri" pitchFamily="34" charset="0"/>
                <a:ea typeface="Calibri" pitchFamily="34" charset="-122"/>
                <a:cs typeface="Calibri" pitchFamily="34" charset="-120"/>
              </a:rPr>
              <a:t>moment = force × distance</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27" name="Shape 25"/>
          <p:cNvSpPr/>
          <p:nvPr/>
        </p:nvSpPr>
        <p:spPr>
          <a:xfrm>
            <a:off x="6263640" y="2194560"/>
            <a:ext cx="457200" cy="457200"/>
          </a:xfrm>
          <a:prstGeom prst="ellipse">
            <a:avLst/>
          </a:prstGeom>
          <a:solidFill>
            <a:srgbClr val="2E5BD8"/>
          </a:solidFill>
          <a:ln w="12700">
            <a:solidFill>
              <a:srgbClr val="2E5BD8"/>
            </a:solidFill>
            <a:prstDash val="solid"/>
          </a:ln>
        </p:spPr>
      </p:sp>
      <p:sp>
        <p:nvSpPr>
          <p:cNvPr id="28" name="Text 26"/>
          <p:cNvSpPr/>
          <p:nvPr/>
        </p:nvSpPr>
        <p:spPr>
          <a:xfrm>
            <a:off x="626364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6</a:t>
            </a:r>
            <a:endParaRPr lang="en-US" sz="1600" dirty="0"/>
          </a:p>
        </p:txBody>
      </p:sp>
      <p:sp>
        <p:nvSpPr>
          <p:cNvPr id="29" name="Text 27"/>
          <p:cNvSpPr/>
          <p:nvPr/>
        </p:nvSpPr>
        <p:spPr>
          <a:xfrm>
            <a:off x="6858000" y="214884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9.8P   </a:t>
            </a:r>
            <a:r>
              <a:rPr lang="en-US" sz="1200" dirty="0">
                <a:solidFill>
                  <a:srgbClr val="262B3A"/>
                </a:solidFill>
                <a:latin typeface="Calibri" pitchFamily="34" charset="0"/>
                <a:ea typeface="Calibri" pitchFamily="34" charset="-122"/>
                <a:cs typeface="Calibri" pitchFamily="34" charset="-120"/>
              </a:rPr>
              <a:t>Recall and use the </a:t>
            </a:r>
            <a:r>
              <a:rPr lang="en-US" sz="1200" b="1" dirty="0">
                <a:solidFill>
                  <a:srgbClr val="262B3A"/>
                </a:solidFill>
                <a:latin typeface="Calibri" pitchFamily="34" charset="0"/>
                <a:ea typeface="Calibri" pitchFamily="34" charset="-122"/>
                <a:cs typeface="Calibri" pitchFamily="34" charset="-120"/>
              </a:rPr>
              <a:t>principle of moments</a:t>
            </a:r>
            <a:r>
              <a:rPr lang="en-US" sz="1200" dirty="0">
                <a:solidFill>
                  <a:srgbClr val="262B3A"/>
                </a:solidFill>
                <a:latin typeface="Calibri" pitchFamily="34" charset="0"/>
                <a:ea typeface="Calibri" pitchFamily="34" charset="-122"/>
                <a:cs typeface="Calibri" pitchFamily="34" charset="-120"/>
              </a:rPr>
              <a:t> for objects in equilibrium.</a:t>
            </a:r>
            <a:endParaRPr lang="en-US" sz="1100" dirty="0"/>
          </a:p>
        </p:txBody>
      </p:sp>
      <p:sp>
        <p:nvSpPr>
          <p:cNvPr id="30" name="Shape 28"/>
          <p:cNvSpPr/>
          <p:nvPr/>
        </p:nvSpPr>
        <p:spPr>
          <a:xfrm>
            <a:off x="6263640" y="3063240"/>
            <a:ext cx="457200" cy="457200"/>
          </a:xfrm>
          <a:prstGeom prst="ellipse">
            <a:avLst/>
          </a:prstGeom>
          <a:solidFill>
            <a:srgbClr val="2E5BD8"/>
          </a:solidFill>
          <a:ln w="12700">
            <a:solidFill>
              <a:srgbClr val="2E5BD8"/>
            </a:solidFill>
            <a:prstDash val="solid"/>
          </a:ln>
        </p:spPr>
      </p:sp>
      <p:sp>
        <p:nvSpPr>
          <p:cNvPr id="31" name="Text 29"/>
          <p:cNvSpPr/>
          <p:nvPr/>
        </p:nvSpPr>
        <p:spPr>
          <a:xfrm>
            <a:off x="626364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7</a:t>
            </a:r>
            <a:endParaRPr lang="en-US" sz="1600" dirty="0"/>
          </a:p>
        </p:txBody>
      </p:sp>
      <p:sp>
        <p:nvSpPr>
          <p:cNvPr id="32" name="Text 30"/>
          <p:cNvSpPr/>
          <p:nvPr/>
        </p:nvSpPr>
        <p:spPr>
          <a:xfrm>
            <a:off x="6858000" y="301752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Practical   </a:t>
            </a:r>
            <a:r>
              <a:rPr lang="en-US" sz="1200" b="1" dirty="0">
                <a:solidFill>
                  <a:srgbClr val="262B3A"/>
                </a:solidFill>
                <a:latin typeface="Calibri" pitchFamily="34" charset="0"/>
                <a:ea typeface="Calibri" pitchFamily="34" charset="-122"/>
                <a:cs typeface="Calibri" pitchFamily="34" charset="-120"/>
              </a:rPr>
              <a:t>Suggested practical:</a:t>
            </a:r>
            <a:r>
              <a:rPr lang="en-US" sz="1200" dirty="0">
                <a:solidFill>
                  <a:srgbClr val="262B3A"/>
                </a:solidFill>
                <a:latin typeface="Calibri" pitchFamily="34" charset="0"/>
                <a:ea typeface="Calibri" pitchFamily="34" charset="-122"/>
                <a:cs typeface="Calibri" pitchFamily="34" charset="-120"/>
              </a:rPr>
              <a:t> test the principle of moments with a metre rule on a pivot.</a:t>
            </a:r>
            <a:endParaRPr lang="en-US" sz="1100" dirty="0"/>
          </a:p>
        </p:txBody>
      </p:sp>
      <p:sp>
        <p:nvSpPr>
          <p:cNvPr id="33" name="Shape 31"/>
          <p:cNvSpPr/>
          <p:nvPr/>
        </p:nvSpPr>
        <p:spPr>
          <a:xfrm>
            <a:off x="6263640" y="3931920"/>
            <a:ext cx="457200" cy="457200"/>
          </a:xfrm>
          <a:prstGeom prst="ellipse">
            <a:avLst/>
          </a:prstGeom>
          <a:solidFill>
            <a:srgbClr val="2E5BD8"/>
          </a:solidFill>
          <a:ln w="12700">
            <a:solidFill>
              <a:srgbClr val="2E5BD8"/>
            </a:solidFill>
            <a:prstDash val="solid"/>
          </a:ln>
        </p:spPr>
      </p:sp>
      <p:sp>
        <p:nvSpPr>
          <p:cNvPr id="34" name="Text 32"/>
          <p:cNvSpPr/>
          <p:nvPr/>
        </p:nvSpPr>
        <p:spPr>
          <a:xfrm>
            <a:off x="626364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8</a:t>
            </a:r>
            <a:endParaRPr lang="en-US" sz="1600" dirty="0"/>
          </a:p>
        </p:txBody>
      </p:sp>
      <p:sp>
        <p:nvSpPr>
          <p:cNvPr id="35" name="Text 33"/>
          <p:cNvSpPr/>
          <p:nvPr/>
        </p:nvSpPr>
        <p:spPr>
          <a:xfrm>
            <a:off x="6858000" y="388620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9.9P, 9.10P   </a:t>
            </a:r>
            <a:r>
              <a:rPr lang="en-US" sz="1200" dirty="0">
                <a:solidFill>
                  <a:srgbClr val="262B3A"/>
                </a:solidFill>
                <a:latin typeface="Calibri" pitchFamily="34" charset="0"/>
                <a:ea typeface="Calibri" pitchFamily="34" charset="-122"/>
                <a:cs typeface="Calibri" pitchFamily="34" charset="-120"/>
              </a:rPr>
              <a:t>Explain how </a:t>
            </a:r>
            <a:r>
              <a:rPr lang="en-US" sz="1200" b="1" dirty="0">
                <a:solidFill>
                  <a:srgbClr val="262B3A"/>
                </a:solidFill>
                <a:latin typeface="Calibri" pitchFamily="34" charset="0"/>
                <a:ea typeface="Calibri" pitchFamily="34" charset="-122"/>
                <a:cs typeface="Calibri" pitchFamily="34" charset="-120"/>
              </a:rPr>
              <a:t>levers</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gears</a:t>
            </a:r>
            <a:r>
              <a:rPr lang="en-US" sz="1200" dirty="0">
                <a:solidFill>
                  <a:srgbClr val="262B3A"/>
                </a:solidFill>
                <a:latin typeface="Calibri" pitchFamily="34" charset="0"/>
                <a:ea typeface="Calibri" pitchFamily="34" charset="-122"/>
                <a:cs typeface="Calibri" pitchFamily="34" charset="-120"/>
              </a:rPr>
              <a:t> transmit turning effects, and how </a:t>
            </a:r>
            <a:r>
              <a:rPr lang="en-US" sz="1200" b="1" dirty="0">
                <a:solidFill>
                  <a:srgbClr val="262B3A"/>
                </a:solidFill>
                <a:latin typeface="Calibri" pitchFamily="34" charset="0"/>
                <a:ea typeface="Calibri" pitchFamily="34" charset="-122"/>
                <a:cs typeface="Calibri" pitchFamily="34" charset="-120"/>
              </a:rPr>
              <a:t>lubrication</a:t>
            </a:r>
            <a:r>
              <a:rPr lang="en-US" sz="1200" dirty="0">
                <a:solidFill>
                  <a:srgbClr val="262B3A"/>
                </a:solidFill>
                <a:latin typeface="Calibri" pitchFamily="34" charset="0"/>
                <a:ea typeface="Calibri" pitchFamily="34" charset="-122"/>
                <a:cs typeface="Calibri" pitchFamily="34" charset="-120"/>
              </a:rPr>
              <a:t> reduces energy waste.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Where this fits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9.1–9.10 • Topic 9 is assessed on Paper 2</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9 Forces and their effects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Context  |  3</a:t>
            </a:r>
            <a:endParaRPr lang="en-US" sz="1000" dirty="0"/>
          </a:p>
        </p:txBody>
      </p:sp>
      <p:sp>
        <p:nvSpPr>
          <p:cNvPr id="8" name="Shape 6"/>
          <p:cNvSpPr/>
          <p:nvPr/>
        </p:nvSpPr>
        <p:spPr>
          <a:xfrm>
            <a:off x="411480" y="1234440"/>
            <a:ext cx="2103120" cy="685800"/>
          </a:xfrm>
          <a:prstGeom prst="roundRect">
            <a:avLst>
              <a:gd name="adj" fmla="val 8000"/>
            </a:avLst>
          </a:prstGeom>
          <a:solidFill>
            <a:srgbClr val="1A2340"/>
          </a:solidFill>
          <a:ln/>
        </p:spPr>
      </p:sp>
      <p:sp>
        <p:nvSpPr>
          <p:cNvPr id="9" name="Text 7"/>
          <p:cNvSpPr/>
          <p:nvPr/>
        </p:nvSpPr>
        <p:spPr>
          <a:xfrm>
            <a:off x="411480" y="1234440"/>
            <a:ext cx="2103120" cy="6858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Topic 9</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Forces and their effects</a:t>
            </a:r>
            <a:endParaRPr lang="en-US" sz="1200" dirty="0"/>
          </a:p>
        </p:txBody>
      </p:sp>
      <p:sp>
        <p:nvSpPr>
          <p:cNvPr id="10" name="Shape 8"/>
          <p:cNvSpPr/>
          <p:nvPr/>
        </p:nvSpPr>
        <p:spPr>
          <a:xfrm>
            <a:off x="914400" y="1920240"/>
            <a:ext cx="91" cy="3886200"/>
          </a:xfrm>
          <a:prstGeom prst="line">
            <a:avLst/>
          </a:prstGeom>
          <a:noFill/>
          <a:ln w="19050">
            <a:solidFill>
              <a:srgbClr val="2E5BD8"/>
            </a:solidFill>
            <a:prstDash val="solid"/>
          </a:ln>
        </p:spPr>
      </p:sp>
      <p:sp>
        <p:nvSpPr>
          <p:cNvPr id="11" name="Shape 9"/>
          <p:cNvSpPr/>
          <p:nvPr/>
        </p:nvSpPr>
        <p:spPr>
          <a:xfrm>
            <a:off x="914400" y="2377440"/>
            <a:ext cx="411480" cy="91"/>
          </a:xfrm>
          <a:prstGeom prst="line">
            <a:avLst/>
          </a:prstGeom>
          <a:noFill/>
          <a:ln w="19050">
            <a:solidFill>
              <a:srgbClr val="2E5BD8"/>
            </a:solidFill>
            <a:prstDash val="solid"/>
          </a:ln>
        </p:spPr>
      </p:sp>
      <p:sp>
        <p:nvSpPr>
          <p:cNvPr id="12" name="Shape 10"/>
          <p:cNvSpPr/>
          <p:nvPr/>
        </p:nvSpPr>
        <p:spPr>
          <a:xfrm>
            <a:off x="1325880" y="2103120"/>
            <a:ext cx="5120640" cy="566928"/>
          </a:xfrm>
          <a:prstGeom prst="roundRect">
            <a:avLst>
              <a:gd name="adj" fmla="val 8065"/>
            </a:avLst>
          </a:prstGeom>
          <a:solidFill>
            <a:srgbClr val="F5F8FE"/>
          </a:solidFill>
          <a:ln w="12700">
            <a:solidFill>
              <a:srgbClr val="D5DCEB"/>
            </a:solidFill>
            <a:prstDash val="solid"/>
          </a:ln>
        </p:spPr>
      </p:sp>
      <p:sp>
        <p:nvSpPr>
          <p:cNvPr id="13" name="Text 11"/>
          <p:cNvSpPr/>
          <p:nvPr/>
        </p:nvSpPr>
        <p:spPr>
          <a:xfrm>
            <a:off x="1463040" y="2103120"/>
            <a:ext cx="3703320" cy="566928"/>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9.1   </a:t>
            </a:r>
            <a:r>
              <a:rPr lang="en-US" sz="1100" dirty="0">
                <a:solidFill>
                  <a:srgbClr val="262B3A"/>
                </a:solidFill>
                <a:latin typeface="Calibri" pitchFamily="34" charset="0"/>
                <a:ea typeface="Calibri" pitchFamily="34" charset="-122"/>
                <a:cs typeface="Calibri" pitchFamily="34" charset="-120"/>
              </a:rPr>
              <a:t>Non-contact and contact forces; interaction pairs</a:t>
            </a:r>
            <a:endParaRPr lang="en-US" sz="1100" dirty="0"/>
          </a:p>
        </p:txBody>
      </p:sp>
      <p:sp>
        <p:nvSpPr>
          <p:cNvPr id="14" name="Shape 12"/>
          <p:cNvSpPr/>
          <p:nvPr/>
        </p:nvSpPr>
        <p:spPr>
          <a:xfrm>
            <a:off x="5257800" y="2249424"/>
            <a:ext cx="1097280" cy="274320"/>
          </a:xfrm>
          <a:prstGeom prst="roundRect">
            <a:avLst>
              <a:gd name="adj" fmla="val 50000"/>
            </a:avLst>
          </a:prstGeom>
          <a:solidFill>
            <a:srgbClr val="2E5BD8"/>
          </a:solidFill>
          <a:ln w="12700">
            <a:solidFill>
              <a:srgbClr val="2E5BD8"/>
            </a:solidFill>
            <a:prstDash val="solid"/>
          </a:ln>
        </p:spPr>
      </p:sp>
      <p:sp>
        <p:nvSpPr>
          <p:cNvPr id="15" name="Text 13"/>
          <p:cNvSpPr/>
          <p:nvPr/>
        </p:nvSpPr>
        <p:spPr>
          <a:xfrm>
            <a:off x="5257800" y="224942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COURSES</a:t>
            </a:r>
            <a:endParaRPr lang="en-US" sz="1000" dirty="0"/>
          </a:p>
        </p:txBody>
      </p:sp>
      <p:sp>
        <p:nvSpPr>
          <p:cNvPr id="16" name="Shape 14"/>
          <p:cNvSpPr/>
          <p:nvPr/>
        </p:nvSpPr>
        <p:spPr>
          <a:xfrm>
            <a:off x="914400" y="3063240"/>
            <a:ext cx="411480" cy="91"/>
          </a:xfrm>
          <a:prstGeom prst="line">
            <a:avLst/>
          </a:prstGeom>
          <a:noFill/>
          <a:ln w="19050">
            <a:solidFill>
              <a:srgbClr val="2E5BD8"/>
            </a:solidFill>
            <a:prstDash val="solid"/>
          </a:ln>
        </p:spPr>
      </p:sp>
      <p:sp>
        <p:nvSpPr>
          <p:cNvPr id="17" name="Shape 15"/>
          <p:cNvSpPr/>
          <p:nvPr/>
        </p:nvSpPr>
        <p:spPr>
          <a:xfrm>
            <a:off x="1325880" y="2788920"/>
            <a:ext cx="5120640" cy="566928"/>
          </a:xfrm>
          <a:prstGeom prst="roundRect">
            <a:avLst>
              <a:gd name="adj" fmla="val 8065"/>
            </a:avLst>
          </a:prstGeom>
          <a:solidFill>
            <a:srgbClr val="F5F8FE"/>
          </a:solidFill>
          <a:ln w="12700">
            <a:solidFill>
              <a:srgbClr val="D5DCEB"/>
            </a:solidFill>
            <a:prstDash val="solid"/>
          </a:ln>
        </p:spPr>
      </p:sp>
      <p:sp>
        <p:nvSpPr>
          <p:cNvPr id="18" name="Text 16"/>
          <p:cNvSpPr/>
          <p:nvPr/>
        </p:nvSpPr>
        <p:spPr>
          <a:xfrm>
            <a:off x="1463040" y="2788920"/>
            <a:ext cx="3703320" cy="566928"/>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9.2   </a:t>
            </a:r>
            <a:r>
              <a:rPr lang="en-US" sz="1100" dirty="0">
                <a:solidFill>
                  <a:srgbClr val="262B3A"/>
                </a:solidFill>
                <a:latin typeface="Calibri" pitchFamily="34" charset="0"/>
                <a:ea typeface="Calibri" pitchFamily="34" charset="-122"/>
                <a:cs typeface="Calibri" pitchFamily="34" charset="-120"/>
              </a:rPr>
              <a:t>Vector and scalar quantities</a:t>
            </a:r>
            <a:endParaRPr lang="en-US" sz="1100" dirty="0"/>
          </a:p>
        </p:txBody>
      </p:sp>
      <p:sp>
        <p:nvSpPr>
          <p:cNvPr id="19" name="Shape 17"/>
          <p:cNvSpPr/>
          <p:nvPr/>
        </p:nvSpPr>
        <p:spPr>
          <a:xfrm>
            <a:off x="5257800" y="2935224"/>
            <a:ext cx="1097280" cy="274320"/>
          </a:xfrm>
          <a:prstGeom prst="roundRect">
            <a:avLst>
              <a:gd name="adj" fmla="val 50000"/>
            </a:avLst>
          </a:prstGeom>
          <a:solidFill>
            <a:srgbClr val="2E5BD8"/>
          </a:solidFill>
          <a:ln w="12700">
            <a:solidFill>
              <a:srgbClr val="2E5BD8"/>
            </a:solidFill>
            <a:prstDash val="solid"/>
          </a:ln>
        </p:spPr>
      </p:sp>
      <p:sp>
        <p:nvSpPr>
          <p:cNvPr id="20" name="Text 18"/>
          <p:cNvSpPr/>
          <p:nvPr/>
        </p:nvSpPr>
        <p:spPr>
          <a:xfrm>
            <a:off x="5257800" y="293522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COURSES</a:t>
            </a:r>
            <a:endParaRPr lang="en-US" sz="1000" dirty="0"/>
          </a:p>
        </p:txBody>
      </p:sp>
      <p:sp>
        <p:nvSpPr>
          <p:cNvPr id="21" name="Shape 19"/>
          <p:cNvSpPr/>
          <p:nvPr/>
        </p:nvSpPr>
        <p:spPr>
          <a:xfrm>
            <a:off x="914400" y="3749040"/>
            <a:ext cx="411480" cy="91"/>
          </a:xfrm>
          <a:prstGeom prst="line">
            <a:avLst/>
          </a:prstGeom>
          <a:noFill/>
          <a:ln w="19050">
            <a:solidFill>
              <a:srgbClr val="2E5BD8"/>
            </a:solidFill>
            <a:prstDash val="solid"/>
          </a:ln>
        </p:spPr>
      </p:sp>
      <p:sp>
        <p:nvSpPr>
          <p:cNvPr id="22" name="Shape 20"/>
          <p:cNvSpPr/>
          <p:nvPr/>
        </p:nvSpPr>
        <p:spPr>
          <a:xfrm>
            <a:off x="1325880" y="3474720"/>
            <a:ext cx="5120640" cy="566928"/>
          </a:xfrm>
          <a:prstGeom prst="roundRect">
            <a:avLst>
              <a:gd name="adj" fmla="val 8065"/>
            </a:avLst>
          </a:prstGeom>
          <a:solidFill>
            <a:srgbClr val="F5F8FE"/>
          </a:solidFill>
          <a:ln w="12700">
            <a:solidFill>
              <a:srgbClr val="D5DCEB"/>
            </a:solidFill>
            <a:prstDash val="solid"/>
          </a:ln>
        </p:spPr>
      </p:sp>
      <p:sp>
        <p:nvSpPr>
          <p:cNvPr id="23" name="Text 21"/>
          <p:cNvSpPr/>
          <p:nvPr/>
        </p:nvSpPr>
        <p:spPr>
          <a:xfrm>
            <a:off x="1463040" y="3474720"/>
            <a:ext cx="3703320" cy="566928"/>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9.3–9.5 (H)   </a:t>
            </a:r>
            <a:r>
              <a:rPr lang="en-US" sz="1100" dirty="0">
                <a:solidFill>
                  <a:srgbClr val="262B3A"/>
                </a:solidFill>
                <a:latin typeface="Calibri" pitchFamily="34" charset="0"/>
                <a:ea typeface="Calibri" pitchFamily="34" charset="-122"/>
                <a:cs typeface="Calibri" pitchFamily="34" charset="-120"/>
              </a:rPr>
              <a:t>Vector diagrams, free body diagrams, resultants</a:t>
            </a:r>
            <a:endParaRPr lang="en-US" sz="1100" dirty="0"/>
          </a:p>
        </p:txBody>
      </p:sp>
      <p:sp>
        <p:nvSpPr>
          <p:cNvPr id="24" name="Shape 22"/>
          <p:cNvSpPr/>
          <p:nvPr/>
        </p:nvSpPr>
        <p:spPr>
          <a:xfrm>
            <a:off x="5257800" y="3621024"/>
            <a:ext cx="1097280" cy="274320"/>
          </a:xfrm>
          <a:prstGeom prst="roundRect">
            <a:avLst>
              <a:gd name="adj" fmla="val 50000"/>
            </a:avLst>
          </a:prstGeom>
          <a:solidFill>
            <a:srgbClr val="2E5BD8"/>
          </a:solidFill>
          <a:ln w="12700">
            <a:solidFill>
              <a:srgbClr val="2E5BD8"/>
            </a:solidFill>
            <a:prstDash val="solid"/>
          </a:ln>
        </p:spPr>
      </p:sp>
      <p:sp>
        <p:nvSpPr>
          <p:cNvPr id="25" name="Text 23"/>
          <p:cNvSpPr/>
          <p:nvPr/>
        </p:nvSpPr>
        <p:spPr>
          <a:xfrm>
            <a:off x="5257800" y="362102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 HT</a:t>
            </a:r>
            <a:endParaRPr lang="en-US" sz="1000" dirty="0"/>
          </a:p>
        </p:txBody>
      </p:sp>
      <p:sp>
        <p:nvSpPr>
          <p:cNvPr id="26" name="Shape 24"/>
          <p:cNvSpPr/>
          <p:nvPr/>
        </p:nvSpPr>
        <p:spPr>
          <a:xfrm>
            <a:off x="914400" y="4434840"/>
            <a:ext cx="411480" cy="91"/>
          </a:xfrm>
          <a:prstGeom prst="line">
            <a:avLst/>
          </a:prstGeom>
          <a:noFill/>
          <a:ln w="19050">
            <a:solidFill>
              <a:srgbClr val="2E5BD8"/>
            </a:solidFill>
            <a:prstDash val="solid"/>
          </a:ln>
        </p:spPr>
      </p:sp>
      <p:sp>
        <p:nvSpPr>
          <p:cNvPr id="27" name="Shape 25"/>
          <p:cNvSpPr/>
          <p:nvPr/>
        </p:nvSpPr>
        <p:spPr>
          <a:xfrm>
            <a:off x="1325880" y="4160520"/>
            <a:ext cx="5120640" cy="566928"/>
          </a:xfrm>
          <a:prstGeom prst="roundRect">
            <a:avLst>
              <a:gd name="adj" fmla="val 8065"/>
            </a:avLst>
          </a:prstGeom>
          <a:solidFill>
            <a:srgbClr val="F5F8FE"/>
          </a:solidFill>
          <a:ln w="12700">
            <a:solidFill>
              <a:srgbClr val="D5DCEB"/>
            </a:solidFill>
            <a:prstDash val="solid"/>
          </a:ln>
        </p:spPr>
      </p:sp>
      <p:sp>
        <p:nvSpPr>
          <p:cNvPr id="28" name="Text 26"/>
          <p:cNvSpPr/>
          <p:nvPr/>
        </p:nvSpPr>
        <p:spPr>
          <a:xfrm>
            <a:off x="1463040" y="4160520"/>
            <a:ext cx="3703320" cy="566928"/>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9.6P–9.8P   </a:t>
            </a:r>
            <a:r>
              <a:rPr lang="en-US" sz="1100" dirty="0">
                <a:solidFill>
                  <a:srgbClr val="262B3A"/>
                </a:solidFill>
                <a:latin typeface="Calibri" pitchFamily="34" charset="0"/>
                <a:ea typeface="Calibri" pitchFamily="34" charset="-122"/>
                <a:cs typeface="Calibri" pitchFamily="34" charset="-120"/>
              </a:rPr>
              <a:t>Moments and the principle of moments</a:t>
            </a:r>
            <a:endParaRPr lang="en-US" sz="1100" dirty="0"/>
          </a:p>
        </p:txBody>
      </p:sp>
      <p:sp>
        <p:nvSpPr>
          <p:cNvPr id="29" name="Shape 27"/>
          <p:cNvSpPr/>
          <p:nvPr/>
        </p:nvSpPr>
        <p:spPr>
          <a:xfrm>
            <a:off x="5257800" y="4306824"/>
            <a:ext cx="1097280" cy="274320"/>
          </a:xfrm>
          <a:prstGeom prst="roundRect">
            <a:avLst>
              <a:gd name="adj" fmla="val 50000"/>
            </a:avLst>
          </a:prstGeom>
          <a:solidFill>
            <a:srgbClr val="C8414C"/>
          </a:solidFill>
          <a:ln w="12700">
            <a:solidFill>
              <a:srgbClr val="C8414C"/>
            </a:solidFill>
            <a:prstDash val="solid"/>
          </a:ln>
        </p:spPr>
      </p:sp>
      <p:sp>
        <p:nvSpPr>
          <p:cNvPr id="30" name="Text 28"/>
          <p:cNvSpPr/>
          <p:nvPr/>
        </p:nvSpPr>
        <p:spPr>
          <a:xfrm>
            <a:off x="5257800" y="430682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PHYSICS ONLY</a:t>
            </a:r>
            <a:endParaRPr lang="en-US" sz="1000" dirty="0"/>
          </a:p>
        </p:txBody>
      </p:sp>
      <p:sp>
        <p:nvSpPr>
          <p:cNvPr id="31" name="Shape 29"/>
          <p:cNvSpPr/>
          <p:nvPr/>
        </p:nvSpPr>
        <p:spPr>
          <a:xfrm>
            <a:off x="914400" y="5120640"/>
            <a:ext cx="411480" cy="91"/>
          </a:xfrm>
          <a:prstGeom prst="line">
            <a:avLst/>
          </a:prstGeom>
          <a:noFill/>
          <a:ln w="19050">
            <a:solidFill>
              <a:srgbClr val="2E5BD8"/>
            </a:solidFill>
            <a:prstDash val="solid"/>
          </a:ln>
        </p:spPr>
      </p:sp>
      <p:sp>
        <p:nvSpPr>
          <p:cNvPr id="32" name="Shape 30"/>
          <p:cNvSpPr/>
          <p:nvPr/>
        </p:nvSpPr>
        <p:spPr>
          <a:xfrm>
            <a:off x="1325880" y="4846320"/>
            <a:ext cx="5120640" cy="566928"/>
          </a:xfrm>
          <a:prstGeom prst="roundRect">
            <a:avLst>
              <a:gd name="adj" fmla="val 8065"/>
            </a:avLst>
          </a:prstGeom>
          <a:solidFill>
            <a:srgbClr val="F5F8FE"/>
          </a:solidFill>
          <a:ln w="12700">
            <a:solidFill>
              <a:srgbClr val="D5DCEB"/>
            </a:solidFill>
            <a:prstDash val="solid"/>
          </a:ln>
        </p:spPr>
      </p:sp>
      <p:sp>
        <p:nvSpPr>
          <p:cNvPr id="33" name="Text 31"/>
          <p:cNvSpPr/>
          <p:nvPr/>
        </p:nvSpPr>
        <p:spPr>
          <a:xfrm>
            <a:off x="1463040" y="4846320"/>
            <a:ext cx="3703320" cy="566928"/>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Practical   </a:t>
            </a:r>
            <a:r>
              <a:rPr lang="en-US" sz="1100" dirty="0">
                <a:solidFill>
                  <a:srgbClr val="262B3A"/>
                </a:solidFill>
                <a:latin typeface="Calibri" pitchFamily="34" charset="0"/>
                <a:ea typeface="Calibri" pitchFamily="34" charset="-122"/>
                <a:cs typeface="Calibri" pitchFamily="34" charset="-120"/>
              </a:rPr>
              <a:t>Suggested practical: principle of moments</a:t>
            </a:r>
            <a:endParaRPr lang="en-US" sz="1100" dirty="0"/>
          </a:p>
        </p:txBody>
      </p:sp>
      <p:sp>
        <p:nvSpPr>
          <p:cNvPr id="34" name="Shape 32"/>
          <p:cNvSpPr/>
          <p:nvPr/>
        </p:nvSpPr>
        <p:spPr>
          <a:xfrm>
            <a:off x="5257800" y="4992624"/>
            <a:ext cx="1097280" cy="274320"/>
          </a:xfrm>
          <a:prstGeom prst="roundRect">
            <a:avLst>
              <a:gd name="adj" fmla="val 50000"/>
            </a:avLst>
          </a:prstGeom>
          <a:solidFill>
            <a:srgbClr val="B8730A"/>
          </a:solidFill>
          <a:ln w="12700">
            <a:solidFill>
              <a:srgbClr val="B8730A"/>
            </a:solidFill>
            <a:prstDash val="solid"/>
          </a:ln>
        </p:spPr>
      </p:sp>
      <p:sp>
        <p:nvSpPr>
          <p:cNvPr id="35" name="Text 33"/>
          <p:cNvSpPr/>
          <p:nvPr/>
        </p:nvSpPr>
        <p:spPr>
          <a:xfrm>
            <a:off x="5257800" y="499262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SUGGESTED</a:t>
            </a:r>
            <a:endParaRPr lang="en-US" sz="1000" dirty="0"/>
          </a:p>
        </p:txBody>
      </p:sp>
      <p:sp>
        <p:nvSpPr>
          <p:cNvPr id="36" name="Shape 34"/>
          <p:cNvSpPr/>
          <p:nvPr/>
        </p:nvSpPr>
        <p:spPr>
          <a:xfrm>
            <a:off x="914400" y="5806440"/>
            <a:ext cx="411480" cy="91"/>
          </a:xfrm>
          <a:prstGeom prst="line">
            <a:avLst/>
          </a:prstGeom>
          <a:noFill/>
          <a:ln w="19050">
            <a:solidFill>
              <a:srgbClr val="2E5BD8"/>
            </a:solidFill>
            <a:prstDash val="solid"/>
          </a:ln>
        </p:spPr>
      </p:sp>
      <p:sp>
        <p:nvSpPr>
          <p:cNvPr id="37" name="Shape 35"/>
          <p:cNvSpPr/>
          <p:nvPr/>
        </p:nvSpPr>
        <p:spPr>
          <a:xfrm>
            <a:off x="1325880" y="5532120"/>
            <a:ext cx="5120640" cy="566928"/>
          </a:xfrm>
          <a:prstGeom prst="roundRect">
            <a:avLst>
              <a:gd name="adj" fmla="val 8065"/>
            </a:avLst>
          </a:prstGeom>
          <a:solidFill>
            <a:srgbClr val="F5F8FE"/>
          </a:solidFill>
          <a:ln w="12700">
            <a:solidFill>
              <a:srgbClr val="D5DCEB"/>
            </a:solidFill>
            <a:prstDash val="solid"/>
          </a:ln>
        </p:spPr>
      </p:sp>
      <p:sp>
        <p:nvSpPr>
          <p:cNvPr id="38" name="Text 36"/>
          <p:cNvSpPr/>
          <p:nvPr/>
        </p:nvSpPr>
        <p:spPr>
          <a:xfrm>
            <a:off x="1463040" y="5532120"/>
            <a:ext cx="3703320" cy="566928"/>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9.9P–9.10P   </a:t>
            </a:r>
            <a:r>
              <a:rPr lang="en-US" sz="1100" dirty="0">
                <a:solidFill>
                  <a:srgbClr val="262B3A"/>
                </a:solidFill>
                <a:latin typeface="Calibri" pitchFamily="34" charset="0"/>
                <a:ea typeface="Calibri" pitchFamily="34" charset="-122"/>
                <a:cs typeface="Calibri" pitchFamily="34" charset="-120"/>
              </a:rPr>
              <a:t>Levers, gears and lubrication</a:t>
            </a:r>
            <a:endParaRPr lang="en-US" sz="1100" dirty="0"/>
          </a:p>
        </p:txBody>
      </p:sp>
      <p:sp>
        <p:nvSpPr>
          <p:cNvPr id="39" name="Shape 37"/>
          <p:cNvSpPr/>
          <p:nvPr/>
        </p:nvSpPr>
        <p:spPr>
          <a:xfrm>
            <a:off x="5257800" y="5678424"/>
            <a:ext cx="1097280" cy="274320"/>
          </a:xfrm>
          <a:prstGeom prst="roundRect">
            <a:avLst>
              <a:gd name="adj" fmla="val 50000"/>
            </a:avLst>
          </a:prstGeom>
          <a:solidFill>
            <a:srgbClr val="C8414C"/>
          </a:solidFill>
          <a:ln w="12700">
            <a:solidFill>
              <a:srgbClr val="C8414C"/>
            </a:solidFill>
            <a:prstDash val="solid"/>
          </a:ln>
        </p:spPr>
      </p:sp>
      <p:sp>
        <p:nvSpPr>
          <p:cNvPr id="40" name="Text 38"/>
          <p:cNvSpPr/>
          <p:nvPr/>
        </p:nvSpPr>
        <p:spPr>
          <a:xfrm>
            <a:off x="5257800" y="567842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PHYSICS ONLY</a:t>
            </a:r>
            <a:endParaRPr lang="en-US" sz="1000" dirty="0"/>
          </a:p>
        </p:txBody>
      </p:sp>
      <p:sp>
        <p:nvSpPr>
          <p:cNvPr id="41" name="Text 39"/>
          <p:cNvSpPr/>
          <p:nvPr/>
        </p:nvSpPr>
        <p:spPr>
          <a:xfrm>
            <a:off x="411480" y="5989320"/>
            <a:ext cx="603504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Earlier links: Topic 1 units • Topic 2 W = mg, F = ma • Topic 3 energy • Topic 8 work done</a:t>
            </a:r>
            <a:endParaRPr lang="en-US" sz="1050" dirty="0"/>
          </a:p>
        </p:txBody>
      </p:sp>
      <p:sp>
        <p:nvSpPr>
          <p:cNvPr id="42" name="Shape 40"/>
          <p:cNvSpPr/>
          <p:nvPr/>
        </p:nvSpPr>
        <p:spPr>
          <a:xfrm>
            <a:off x="6720840" y="1234440"/>
            <a:ext cx="5056632" cy="2423160"/>
          </a:xfrm>
          <a:prstGeom prst="roundRect">
            <a:avLst>
              <a:gd name="adj" fmla="val 2264"/>
            </a:avLst>
          </a:prstGeom>
          <a:solidFill>
            <a:srgbClr val="1F2A4A"/>
          </a:solidFill>
          <a:ln/>
        </p:spPr>
      </p:sp>
      <p:sp>
        <p:nvSpPr>
          <p:cNvPr id="43" name="Text 41"/>
          <p:cNvSpPr/>
          <p:nvPr/>
        </p:nvSpPr>
        <p:spPr>
          <a:xfrm>
            <a:off x="6903720" y="1325880"/>
            <a:ext cx="4709160" cy="2240280"/>
          </a:xfrm>
          <a:prstGeom prst="rect">
            <a:avLst/>
          </a:prstGeom>
          <a:noFill/>
          <a:ln/>
        </p:spPr>
        <p:txBody>
          <a:bodyPr wrap="square" lIns="0" tIns="0" rIns="0" bIns="0" rtlCol="0" anchor="t"/>
          <a:lstStyle/>
          <a:p>
            <a:pPr indent="0" marL="0">
              <a:buNone/>
            </a:pPr>
            <a:r>
              <a:rPr lang="en-US" sz="1500" b="1" dirty="0">
                <a:solidFill>
                  <a:srgbClr val="FFFFFF"/>
                </a:solidFill>
                <a:latin typeface="Georgia" pitchFamily="34" charset="0"/>
                <a:ea typeface="Georgia" pitchFamily="34" charset="-122"/>
                <a:cs typeface="Georgia" pitchFamily="34" charset="-120"/>
              </a:rPr>
              <a:t>How this is assessed</a:t>
            </a:r>
            <a:endParaRPr lang="en-US" sz="1500" dirty="0"/>
          </a:p>
          <a:p>
            <a:pPr marL="152400" indent="-152400">
              <a:spcAft>
                <a:spcPts val="300"/>
              </a:spcAft>
              <a:buSzPct val="100000"/>
              <a:buChar char="▪"/>
            </a:pPr>
            <a:r>
              <a:rPr lang="en-US" sz="1150" dirty="0">
                <a:solidFill>
                  <a:srgbClr val="E6ECFA"/>
                </a:solidFill>
                <a:latin typeface="Calibri" pitchFamily="34" charset="0"/>
                <a:ea typeface="Calibri" pitchFamily="34" charset="-122"/>
                <a:cs typeface="Calibri" pitchFamily="34" charset="-120"/>
              </a:rPr>
              <a:t>1PH0 </a:t>
            </a:r>
            <a:r>
              <a:rPr lang="en-US" sz="1150" b="1" dirty="0">
                <a:solidFill>
                  <a:srgbClr val="E6ECFA"/>
                </a:solidFill>
                <a:latin typeface="Calibri" pitchFamily="34" charset="0"/>
                <a:ea typeface="Calibri" pitchFamily="34" charset="-122"/>
                <a:cs typeface="Calibri" pitchFamily="34" charset="-120"/>
              </a:rPr>
              <a:t>Paper 2</a:t>
            </a:r>
            <a:r>
              <a:rPr lang="en-US" sz="1150" dirty="0">
                <a:solidFill>
                  <a:srgbClr val="E6ECFA"/>
                </a:solidFill>
                <a:latin typeface="Calibri" pitchFamily="34" charset="0"/>
                <a:ea typeface="Calibri" pitchFamily="34" charset="-122"/>
                <a:cs typeface="Calibri" pitchFamily="34" charset="-120"/>
              </a:rPr>
              <a:t> (2F or 2H): 1 h 45 min, 100 marks, Topics 1 and 8–15.</a:t>
            </a:r>
            <a:endParaRPr lang="en-US" sz="1500" dirty="0"/>
          </a:p>
          <a:p>
            <a:pPr marL="152400" indent="-152400">
              <a:spcAft>
                <a:spcPts val="300"/>
              </a:spcAft>
              <a:buSzPct val="100000"/>
              <a:buChar char="▪"/>
            </a:pPr>
            <a:r>
              <a:rPr lang="en-US" sz="1150" dirty="0">
                <a:solidFill>
                  <a:srgbClr val="E6ECFA"/>
                </a:solidFill>
                <a:latin typeface="Calibri" pitchFamily="34" charset="0"/>
                <a:ea typeface="Calibri" pitchFamily="34" charset="-122"/>
                <a:cs typeface="Calibri" pitchFamily="34" charset="-120"/>
              </a:rPr>
              <a:t>Combined Science 1SC0 </a:t>
            </a:r>
            <a:r>
              <a:rPr lang="en-US" sz="1150" b="1" dirty="0">
                <a:solidFill>
                  <a:srgbClr val="E6ECFA"/>
                </a:solidFill>
                <a:latin typeface="Calibri" pitchFamily="34" charset="0"/>
                <a:ea typeface="Calibri" pitchFamily="34" charset="-122"/>
                <a:cs typeface="Calibri" pitchFamily="34" charset="-120"/>
              </a:rPr>
              <a:t>Paper 6</a:t>
            </a:r>
            <a:r>
              <a:rPr lang="en-US" sz="1150" dirty="0">
                <a:solidFill>
                  <a:srgbClr val="E6ECFA"/>
                </a:solidFill>
                <a:latin typeface="Calibri" pitchFamily="34" charset="0"/>
                <a:ea typeface="Calibri" pitchFamily="34" charset="-122"/>
                <a:cs typeface="Calibri" pitchFamily="34" charset="-120"/>
              </a:rPr>
              <a:t> tests 9.1–9.5 only.</a:t>
            </a:r>
            <a:endParaRPr lang="en-US" sz="1500" dirty="0"/>
          </a:p>
          <a:p>
            <a:pPr marL="152400" indent="-152400">
              <a:spcAft>
                <a:spcPts val="300"/>
              </a:spcAft>
              <a:buSzPct val="100000"/>
              <a:buChar char="▪"/>
            </a:pPr>
            <a:r>
              <a:rPr lang="en-US" sz="1150" dirty="0">
                <a:solidFill>
                  <a:srgbClr val="E6ECFA"/>
                </a:solidFill>
                <a:latin typeface="Calibri" pitchFamily="34" charset="0"/>
                <a:ea typeface="Calibri" pitchFamily="34" charset="-122"/>
                <a:cs typeface="Calibri" pitchFamily="34" charset="-120"/>
              </a:rPr>
              <a:t>Equations: </a:t>
            </a:r>
            <a:r>
              <a:rPr lang="en-US" sz="1150" b="1" dirty="0">
                <a:solidFill>
                  <a:srgbClr val="E6ECFA"/>
                </a:solidFill>
                <a:latin typeface="Calibri" pitchFamily="34" charset="0"/>
                <a:ea typeface="Calibri" pitchFamily="34" charset="-122"/>
                <a:cs typeface="Calibri" pitchFamily="34" charset="-120"/>
              </a:rPr>
              <a:t>recall</a:t>
            </a:r>
            <a:r>
              <a:rPr lang="en-US" sz="1150" dirty="0">
                <a:solidFill>
                  <a:srgbClr val="E6ECFA"/>
                </a:solidFill>
                <a:latin typeface="Calibri" pitchFamily="34" charset="0"/>
                <a:ea typeface="Calibri" pitchFamily="34" charset="-122"/>
                <a:cs typeface="Calibri" pitchFamily="34" charset="-120"/>
              </a:rPr>
              <a:t> moment = force × distance normal to the direction of the force.</a:t>
            </a:r>
            <a:endParaRPr lang="en-US" sz="1500" dirty="0"/>
          </a:p>
          <a:p>
            <a:pPr marL="152400" indent="-152400">
              <a:spcAft>
                <a:spcPts val="300"/>
              </a:spcAft>
              <a:buSzPct val="100000"/>
              <a:buChar char="▪"/>
            </a:pPr>
            <a:r>
              <a:rPr lang="en-US" sz="1150" b="1" dirty="0">
                <a:solidFill>
                  <a:srgbClr val="E6ECFA"/>
                </a:solidFill>
                <a:latin typeface="Calibri" pitchFamily="34" charset="0"/>
                <a:ea typeface="Calibri" pitchFamily="34" charset="-122"/>
                <a:cs typeface="Calibri" pitchFamily="34" charset="-120"/>
              </a:rPr>
              <a:t>No Core Practical</a:t>
            </a:r>
            <a:r>
              <a:rPr lang="en-US" sz="1150" dirty="0">
                <a:solidFill>
                  <a:srgbClr val="E6ECFA"/>
                </a:solidFill>
                <a:latin typeface="Calibri" pitchFamily="34" charset="0"/>
                <a:ea typeface="Calibri" pitchFamily="34" charset="-122"/>
                <a:cs typeface="Calibri" pitchFamily="34" charset="-120"/>
              </a:rPr>
              <a:t> in Topic 9. The moments practical here is a suggested practical.</a:t>
            </a:r>
            <a:endParaRPr lang="en-US" sz="1500" dirty="0"/>
          </a:p>
        </p:txBody>
      </p:sp>
      <p:sp>
        <p:nvSpPr>
          <p:cNvPr id="44" name="Shape 42"/>
          <p:cNvSpPr/>
          <p:nvPr/>
        </p:nvSpPr>
        <p:spPr>
          <a:xfrm>
            <a:off x="6720840" y="3794760"/>
            <a:ext cx="5056632" cy="2468880"/>
          </a:xfrm>
          <a:prstGeom prst="roundRect">
            <a:avLst>
              <a:gd name="adj" fmla="val 2222"/>
            </a:avLst>
          </a:prstGeom>
          <a:solidFill>
            <a:srgbClr val="FFF4E0"/>
          </a:solidFill>
          <a:ln w="12700">
            <a:solidFill>
              <a:srgbClr val="F1D9A8"/>
            </a:solidFill>
            <a:prstDash val="solid"/>
          </a:ln>
        </p:spPr>
      </p:sp>
      <p:sp>
        <p:nvSpPr>
          <p:cNvPr id="45" name="Text 43"/>
          <p:cNvSpPr/>
          <p:nvPr/>
        </p:nvSpPr>
        <p:spPr>
          <a:xfrm>
            <a:off x="6903720" y="3886200"/>
            <a:ext cx="4709160" cy="2286000"/>
          </a:xfrm>
          <a:prstGeom prst="rect">
            <a:avLst/>
          </a:prstGeom>
          <a:noFill/>
          <a:ln/>
        </p:spPr>
        <p:txBody>
          <a:bodyPr wrap="square" lIns="0" tIns="0" rIns="0" bIns="0" rtlCol="0" anchor="t"/>
          <a:lstStyle/>
          <a:p>
            <a:pPr indent="0" marL="0">
              <a:buNone/>
            </a:pPr>
            <a:r>
              <a:rPr lang="en-US" sz="1500" b="1" dirty="0">
                <a:solidFill>
                  <a:srgbClr val="B8730A"/>
                </a:solidFill>
                <a:latin typeface="Georgia" pitchFamily="34" charset="0"/>
                <a:ea typeface="Georgia" pitchFamily="34" charset="-122"/>
                <a:cs typeface="Georgia" pitchFamily="34" charset="-120"/>
              </a:rPr>
              <a:t>One deck for both courses and tiers</a:t>
            </a:r>
            <a:endParaRPr lang="en-US" sz="150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Combined (1SC0) classes skip slides 19–31</a:t>
            </a:r>
            <a:r>
              <a:rPr lang="en-US" sz="1150" dirty="0">
                <a:solidFill>
                  <a:srgbClr val="262B3A"/>
                </a:solidFill>
                <a:latin typeface="Calibri" pitchFamily="34" charset="0"/>
                <a:ea typeface="Calibri" pitchFamily="34" charset="-122"/>
                <a:cs typeface="Calibri" pitchFamily="34" charset="-120"/>
              </a:rPr>
              <a:t> (moments, the practical, levers, gears and lubrication), full question (d)–(f) and homework Q4–Q6.</a:t>
            </a:r>
            <a:endParaRPr lang="en-US" sz="150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So </a:t>
            </a:r>
            <a:r>
              <a:rPr lang="en-US" sz="1150" b="1" dirty="0">
                <a:solidFill>
                  <a:srgbClr val="262B3A"/>
                </a:solidFill>
                <a:latin typeface="Calibri" pitchFamily="34" charset="0"/>
                <a:ea typeface="Calibri" pitchFamily="34" charset="-122"/>
                <a:cs typeface="Calibri" pitchFamily="34" charset="-120"/>
              </a:rPr>
              <a:t>most</a:t>
            </a:r>
            <a:r>
              <a:rPr lang="en-US" sz="1150" dirty="0">
                <a:solidFill>
                  <a:srgbClr val="262B3A"/>
                </a:solidFill>
                <a:latin typeface="Calibri" pitchFamily="34" charset="0"/>
                <a:ea typeface="Calibri" pitchFamily="34" charset="-122"/>
                <a:cs typeface="Calibri" pitchFamily="34" charset="-120"/>
              </a:rPr>
              <a:t> of the topic is physics only, but </a:t>
            </a:r>
            <a:r>
              <a:rPr lang="en-US" sz="1150" b="1" dirty="0">
                <a:solidFill>
                  <a:srgbClr val="262B3A"/>
                </a:solidFill>
                <a:latin typeface="Calibri" pitchFamily="34" charset="0"/>
                <a:ea typeface="Calibri" pitchFamily="34" charset="-122"/>
                <a:cs typeface="Calibri" pitchFamily="34" charset="-120"/>
              </a:rPr>
              <a:t>not all</a:t>
            </a:r>
            <a:r>
              <a:rPr lang="en-US" sz="1150" dirty="0">
                <a:solidFill>
                  <a:srgbClr val="262B3A"/>
                </a:solidFill>
                <a:latin typeface="Calibri" pitchFamily="34" charset="0"/>
                <a:ea typeface="Calibri" pitchFamily="34" charset="-122"/>
                <a:cs typeface="Calibri" pitchFamily="34" charset="-120"/>
              </a:rPr>
              <a:t>: 9.1–9.5 are in both courses.</a:t>
            </a:r>
            <a:endParaRPr lang="en-US" sz="150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HT</a:t>
            </a:r>
            <a:r>
              <a:rPr lang="en-US" sz="1150" dirty="0">
                <a:solidFill>
                  <a:srgbClr val="262B3A"/>
                </a:solidFill>
                <a:latin typeface="Calibri" pitchFamily="34" charset="0"/>
                <a:ea typeface="Calibri" pitchFamily="34" charset="-122"/>
                <a:cs typeface="Calibri" pitchFamily="34" charset="-120"/>
              </a:rPr>
              <a:t> pills: 9.3, 9.4 and 9.5 are Higher only.</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Retrieval starter</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Recall from Topics 1, 2, 3 and 8 • 6 minutes • no notes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9 Forces and their effects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Starter  |  4</a:t>
            </a:r>
            <a:endParaRPr lang="en-US" sz="1000" dirty="0"/>
          </a:p>
        </p:txBody>
      </p:sp>
      <p:sp>
        <p:nvSpPr>
          <p:cNvPr id="8" name="Shape 6"/>
          <p:cNvSpPr/>
          <p:nvPr/>
        </p:nvSpPr>
        <p:spPr>
          <a:xfrm>
            <a:off x="411480" y="1234440"/>
            <a:ext cx="3657600" cy="2011680"/>
          </a:xfrm>
          <a:prstGeom prst="roundRect">
            <a:avLst>
              <a:gd name="adj" fmla="val 2727"/>
            </a:avLst>
          </a:prstGeom>
          <a:solidFill>
            <a:srgbClr val="F5F8FE"/>
          </a:solidFill>
          <a:ln w="9525">
            <a:solidFill>
              <a:srgbClr val="D5DCEB"/>
            </a:solidFill>
            <a:prstDash val="solid"/>
          </a:ln>
        </p:spPr>
      </p:sp>
      <p:sp>
        <p:nvSpPr>
          <p:cNvPr id="9" name="Shape 7"/>
          <p:cNvSpPr/>
          <p:nvPr/>
        </p:nvSpPr>
        <p:spPr>
          <a:xfrm>
            <a:off x="548640" y="1371600"/>
            <a:ext cx="438912" cy="438912"/>
          </a:xfrm>
          <a:prstGeom prst="ellipse">
            <a:avLst/>
          </a:prstGeom>
          <a:solidFill>
            <a:srgbClr val="2E5BD8"/>
          </a:solidFill>
          <a:ln w="12700">
            <a:solidFill>
              <a:srgbClr val="2E5BD8"/>
            </a:solidFill>
            <a:prstDash val="solid"/>
          </a:ln>
        </p:spPr>
      </p:sp>
      <p:sp>
        <p:nvSpPr>
          <p:cNvPr id="10" name="Text 8"/>
          <p:cNvSpPr/>
          <p:nvPr/>
        </p:nvSpPr>
        <p:spPr>
          <a:xfrm>
            <a:off x="54864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11" name="Text 9"/>
          <p:cNvSpPr/>
          <p:nvPr/>
        </p:nvSpPr>
        <p:spPr>
          <a:xfrm>
            <a:off x="1097280" y="141732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Topic 1 • units</a:t>
            </a:r>
            <a:endParaRPr lang="en-US" sz="1050" dirty="0"/>
          </a:p>
        </p:txBody>
      </p:sp>
      <p:sp>
        <p:nvSpPr>
          <p:cNvPr id="12" name="Text 10"/>
          <p:cNvSpPr/>
          <p:nvPr/>
        </p:nvSpPr>
        <p:spPr>
          <a:xfrm>
            <a:off x="59436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Convert </a:t>
            </a:r>
            <a:r>
              <a:rPr lang="en-US" sz="1250" b="1" dirty="0">
                <a:solidFill>
                  <a:srgbClr val="262B3A"/>
                </a:solidFill>
                <a:latin typeface="Calibri" pitchFamily="34" charset="0"/>
                <a:ea typeface="Calibri" pitchFamily="34" charset="-122"/>
                <a:cs typeface="Calibri" pitchFamily="34" charset="-120"/>
              </a:rPr>
              <a:t>450 g</a:t>
            </a:r>
            <a:r>
              <a:rPr lang="en-US" sz="1250" dirty="0">
                <a:solidFill>
                  <a:srgbClr val="262B3A"/>
                </a:solidFill>
                <a:latin typeface="Calibri" pitchFamily="34" charset="0"/>
                <a:ea typeface="Calibri" pitchFamily="34" charset="-122"/>
                <a:cs typeface="Calibri" pitchFamily="34" charset="-120"/>
              </a:rPr>
              <a:t> into kilograms and </a:t>
            </a:r>
            <a:r>
              <a:rPr lang="en-US" sz="1250" b="1" dirty="0">
                <a:solidFill>
                  <a:srgbClr val="262B3A"/>
                </a:solidFill>
                <a:latin typeface="Calibri" pitchFamily="34" charset="0"/>
                <a:ea typeface="Calibri" pitchFamily="34" charset="-122"/>
                <a:cs typeface="Calibri" pitchFamily="34" charset="-120"/>
              </a:rPr>
              <a:t>35 cm</a:t>
            </a:r>
            <a:r>
              <a:rPr lang="en-US" sz="1250" dirty="0">
                <a:solidFill>
                  <a:srgbClr val="262B3A"/>
                </a:solidFill>
                <a:latin typeface="Calibri" pitchFamily="34" charset="0"/>
                <a:ea typeface="Calibri" pitchFamily="34" charset="-122"/>
                <a:cs typeface="Calibri" pitchFamily="34" charset="-120"/>
              </a:rPr>
              <a:t> into metres.</a:t>
            </a:r>
            <a:endParaRPr lang="en-US" sz="1250" dirty="0"/>
          </a:p>
        </p:txBody>
      </p:sp>
      <p:sp>
        <p:nvSpPr>
          <p:cNvPr id="13" name="Shape 11"/>
          <p:cNvSpPr/>
          <p:nvPr/>
        </p:nvSpPr>
        <p:spPr>
          <a:xfrm>
            <a:off x="4251960" y="1234440"/>
            <a:ext cx="3657600" cy="2011680"/>
          </a:xfrm>
          <a:prstGeom prst="roundRect">
            <a:avLst>
              <a:gd name="adj" fmla="val 2727"/>
            </a:avLst>
          </a:prstGeom>
          <a:solidFill>
            <a:srgbClr val="F5F8FE"/>
          </a:solidFill>
          <a:ln w="9525">
            <a:solidFill>
              <a:srgbClr val="D5DCEB"/>
            </a:solidFill>
            <a:prstDash val="solid"/>
          </a:ln>
        </p:spPr>
      </p:sp>
      <p:sp>
        <p:nvSpPr>
          <p:cNvPr id="14" name="Shape 12"/>
          <p:cNvSpPr/>
          <p:nvPr/>
        </p:nvSpPr>
        <p:spPr>
          <a:xfrm>
            <a:off x="4389120" y="1371600"/>
            <a:ext cx="438912" cy="438912"/>
          </a:xfrm>
          <a:prstGeom prst="ellipse">
            <a:avLst/>
          </a:prstGeom>
          <a:solidFill>
            <a:srgbClr val="2E5BD8"/>
          </a:solidFill>
          <a:ln w="12700">
            <a:solidFill>
              <a:srgbClr val="2E5BD8"/>
            </a:solidFill>
            <a:prstDash val="solid"/>
          </a:ln>
        </p:spPr>
      </p:sp>
      <p:sp>
        <p:nvSpPr>
          <p:cNvPr id="15" name="Text 13"/>
          <p:cNvSpPr/>
          <p:nvPr/>
        </p:nvSpPr>
        <p:spPr>
          <a:xfrm>
            <a:off x="438912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6" name="Text 14"/>
          <p:cNvSpPr/>
          <p:nvPr/>
        </p:nvSpPr>
        <p:spPr>
          <a:xfrm>
            <a:off x="4937760" y="141732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Topic 2 • weight</a:t>
            </a:r>
            <a:endParaRPr lang="en-US" sz="1050" dirty="0"/>
          </a:p>
        </p:txBody>
      </p:sp>
      <p:sp>
        <p:nvSpPr>
          <p:cNvPr id="17" name="Text 15"/>
          <p:cNvSpPr/>
          <p:nvPr/>
        </p:nvSpPr>
        <p:spPr>
          <a:xfrm>
            <a:off x="443484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Calculate the </a:t>
            </a:r>
            <a:r>
              <a:rPr lang="en-US" sz="1250" b="1" dirty="0">
                <a:solidFill>
                  <a:srgbClr val="262B3A"/>
                </a:solidFill>
                <a:latin typeface="Calibri" pitchFamily="34" charset="0"/>
                <a:ea typeface="Calibri" pitchFamily="34" charset="-122"/>
                <a:cs typeface="Calibri" pitchFamily="34" charset="-120"/>
              </a:rPr>
              <a:t>weight</a:t>
            </a:r>
            <a:r>
              <a:rPr lang="en-US" sz="1250" dirty="0">
                <a:solidFill>
                  <a:srgbClr val="262B3A"/>
                </a:solidFill>
                <a:latin typeface="Calibri" pitchFamily="34" charset="0"/>
                <a:ea typeface="Calibri" pitchFamily="34" charset="-122"/>
                <a:cs typeface="Calibri" pitchFamily="34" charset="-120"/>
              </a:rPr>
              <a:t> of a 60 kg student. g = 10 N/kg.</a:t>
            </a:r>
            <a:endParaRPr lang="en-US" sz="1250" dirty="0"/>
          </a:p>
        </p:txBody>
      </p:sp>
      <p:sp>
        <p:nvSpPr>
          <p:cNvPr id="18" name="Shape 16"/>
          <p:cNvSpPr/>
          <p:nvPr/>
        </p:nvSpPr>
        <p:spPr>
          <a:xfrm>
            <a:off x="8092440" y="1234440"/>
            <a:ext cx="3657600" cy="2011680"/>
          </a:xfrm>
          <a:prstGeom prst="roundRect">
            <a:avLst>
              <a:gd name="adj" fmla="val 2727"/>
            </a:avLst>
          </a:prstGeom>
          <a:solidFill>
            <a:srgbClr val="F5F8FE"/>
          </a:solidFill>
          <a:ln w="9525">
            <a:solidFill>
              <a:srgbClr val="D5DCEB"/>
            </a:solidFill>
            <a:prstDash val="solid"/>
          </a:ln>
        </p:spPr>
      </p:sp>
      <p:sp>
        <p:nvSpPr>
          <p:cNvPr id="19" name="Shape 17"/>
          <p:cNvSpPr/>
          <p:nvPr/>
        </p:nvSpPr>
        <p:spPr>
          <a:xfrm>
            <a:off x="8229600" y="1371600"/>
            <a:ext cx="438912" cy="438912"/>
          </a:xfrm>
          <a:prstGeom prst="ellipse">
            <a:avLst/>
          </a:prstGeom>
          <a:solidFill>
            <a:srgbClr val="2E5BD8"/>
          </a:solidFill>
          <a:ln w="12700">
            <a:solidFill>
              <a:srgbClr val="2E5BD8"/>
            </a:solidFill>
            <a:prstDash val="solid"/>
          </a:ln>
        </p:spPr>
      </p:sp>
      <p:sp>
        <p:nvSpPr>
          <p:cNvPr id="20" name="Text 18"/>
          <p:cNvSpPr/>
          <p:nvPr/>
        </p:nvSpPr>
        <p:spPr>
          <a:xfrm>
            <a:off x="822960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21" name="Text 19"/>
          <p:cNvSpPr/>
          <p:nvPr/>
        </p:nvSpPr>
        <p:spPr>
          <a:xfrm>
            <a:off x="8778240" y="141732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Topic 2 • speed and velocity</a:t>
            </a:r>
            <a:endParaRPr lang="en-US" sz="1050" dirty="0"/>
          </a:p>
        </p:txBody>
      </p:sp>
      <p:sp>
        <p:nvSpPr>
          <p:cNvPr id="22" name="Text 20"/>
          <p:cNvSpPr/>
          <p:nvPr/>
        </p:nvSpPr>
        <p:spPr>
          <a:xfrm>
            <a:off x="827532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the difference between </a:t>
            </a:r>
            <a:r>
              <a:rPr lang="en-US" sz="1250" b="1" dirty="0">
                <a:solidFill>
                  <a:srgbClr val="262B3A"/>
                </a:solidFill>
                <a:latin typeface="Calibri" pitchFamily="34" charset="0"/>
                <a:ea typeface="Calibri" pitchFamily="34" charset="-122"/>
                <a:cs typeface="Calibri" pitchFamily="34" charset="-120"/>
              </a:rPr>
              <a:t>speed</a:t>
            </a:r>
            <a:r>
              <a:rPr lang="en-US" sz="1250" dirty="0">
                <a:solidFill>
                  <a:srgbClr val="262B3A"/>
                </a:solidFill>
                <a:latin typeface="Calibri" pitchFamily="34" charset="0"/>
                <a:ea typeface="Calibri" pitchFamily="34" charset="-122"/>
                <a:cs typeface="Calibri" pitchFamily="34" charset="-120"/>
              </a:rPr>
              <a:t> and </a:t>
            </a:r>
            <a:r>
              <a:rPr lang="en-US" sz="1250" b="1" dirty="0">
                <a:solidFill>
                  <a:srgbClr val="262B3A"/>
                </a:solidFill>
                <a:latin typeface="Calibri" pitchFamily="34" charset="0"/>
                <a:ea typeface="Calibri" pitchFamily="34" charset="-122"/>
                <a:cs typeface="Calibri" pitchFamily="34" charset="-120"/>
              </a:rPr>
              <a:t>velocity</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3" name="Shape 21"/>
          <p:cNvSpPr/>
          <p:nvPr/>
        </p:nvSpPr>
        <p:spPr>
          <a:xfrm>
            <a:off x="411480" y="3429000"/>
            <a:ext cx="3657600" cy="2011680"/>
          </a:xfrm>
          <a:prstGeom prst="roundRect">
            <a:avLst>
              <a:gd name="adj" fmla="val 2727"/>
            </a:avLst>
          </a:prstGeom>
          <a:solidFill>
            <a:srgbClr val="F5F8FE"/>
          </a:solidFill>
          <a:ln w="9525">
            <a:solidFill>
              <a:srgbClr val="D5DCEB"/>
            </a:solidFill>
            <a:prstDash val="solid"/>
          </a:ln>
        </p:spPr>
      </p:sp>
      <p:sp>
        <p:nvSpPr>
          <p:cNvPr id="24" name="Shape 22"/>
          <p:cNvSpPr/>
          <p:nvPr/>
        </p:nvSpPr>
        <p:spPr>
          <a:xfrm>
            <a:off x="548640" y="3566160"/>
            <a:ext cx="438912" cy="438912"/>
          </a:xfrm>
          <a:prstGeom prst="ellipse">
            <a:avLst/>
          </a:prstGeom>
          <a:solidFill>
            <a:srgbClr val="2E5BD8"/>
          </a:solidFill>
          <a:ln w="12700">
            <a:solidFill>
              <a:srgbClr val="2E5BD8"/>
            </a:solidFill>
            <a:prstDash val="solid"/>
          </a:ln>
        </p:spPr>
      </p:sp>
      <p:sp>
        <p:nvSpPr>
          <p:cNvPr id="25" name="Text 23"/>
          <p:cNvSpPr/>
          <p:nvPr/>
        </p:nvSpPr>
        <p:spPr>
          <a:xfrm>
            <a:off x="54864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6" name="Text 24"/>
          <p:cNvSpPr/>
          <p:nvPr/>
        </p:nvSpPr>
        <p:spPr>
          <a:xfrm>
            <a:off x="1097280" y="361188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Topic 2 • Newton’s first law</a:t>
            </a:r>
            <a:endParaRPr lang="en-US" sz="1050" dirty="0"/>
          </a:p>
        </p:txBody>
      </p:sp>
      <p:sp>
        <p:nvSpPr>
          <p:cNvPr id="27" name="Text 25"/>
          <p:cNvSpPr/>
          <p:nvPr/>
        </p:nvSpPr>
        <p:spPr>
          <a:xfrm>
            <a:off x="59436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The resultant force on a moving car is </a:t>
            </a:r>
            <a:r>
              <a:rPr lang="en-US" sz="1250" b="1" dirty="0">
                <a:solidFill>
                  <a:srgbClr val="262B3A"/>
                </a:solidFill>
                <a:latin typeface="Calibri" pitchFamily="34" charset="0"/>
                <a:ea typeface="Calibri" pitchFamily="34" charset="-122"/>
                <a:cs typeface="Calibri" pitchFamily="34" charset="-120"/>
              </a:rPr>
              <a:t>zero</a:t>
            </a:r>
            <a:r>
              <a:rPr lang="en-US" sz="1250" dirty="0">
                <a:solidFill>
                  <a:srgbClr val="262B3A"/>
                </a:solidFill>
                <a:latin typeface="Calibri" pitchFamily="34" charset="0"/>
                <a:ea typeface="Calibri" pitchFamily="34" charset="-122"/>
                <a:cs typeface="Calibri" pitchFamily="34" charset="-120"/>
              </a:rPr>
              <a:t>. Describe its motion.</a:t>
            </a:r>
            <a:endParaRPr lang="en-US" sz="1250" dirty="0"/>
          </a:p>
        </p:txBody>
      </p:sp>
      <p:sp>
        <p:nvSpPr>
          <p:cNvPr id="28" name="Shape 26"/>
          <p:cNvSpPr/>
          <p:nvPr/>
        </p:nvSpPr>
        <p:spPr>
          <a:xfrm>
            <a:off x="4251960" y="3429000"/>
            <a:ext cx="3657600" cy="2011680"/>
          </a:xfrm>
          <a:prstGeom prst="roundRect">
            <a:avLst>
              <a:gd name="adj" fmla="val 2727"/>
            </a:avLst>
          </a:prstGeom>
          <a:solidFill>
            <a:srgbClr val="F5F8FE"/>
          </a:solidFill>
          <a:ln w="9525">
            <a:solidFill>
              <a:srgbClr val="D5DCEB"/>
            </a:solidFill>
            <a:prstDash val="solid"/>
          </a:ln>
        </p:spPr>
      </p:sp>
      <p:sp>
        <p:nvSpPr>
          <p:cNvPr id="29" name="Shape 27"/>
          <p:cNvSpPr/>
          <p:nvPr/>
        </p:nvSpPr>
        <p:spPr>
          <a:xfrm>
            <a:off x="4389120" y="3566160"/>
            <a:ext cx="438912" cy="438912"/>
          </a:xfrm>
          <a:prstGeom prst="ellipse">
            <a:avLst/>
          </a:prstGeom>
          <a:solidFill>
            <a:srgbClr val="2E5BD8"/>
          </a:solidFill>
          <a:ln w="12700">
            <a:solidFill>
              <a:srgbClr val="2E5BD8"/>
            </a:solidFill>
            <a:prstDash val="solid"/>
          </a:ln>
        </p:spPr>
      </p:sp>
      <p:sp>
        <p:nvSpPr>
          <p:cNvPr id="30" name="Text 28"/>
          <p:cNvSpPr/>
          <p:nvPr/>
        </p:nvSpPr>
        <p:spPr>
          <a:xfrm>
            <a:off x="438912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31" name="Text 29"/>
          <p:cNvSpPr/>
          <p:nvPr/>
        </p:nvSpPr>
        <p:spPr>
          <a:xfrm>
            <a:off x="4937760" y="361188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Topic 8 • work done</a:t>
            </a:r>
            <a:endParaRPr lang="en-US" sz="1050" dirty="0"/>
          </a:p>
        </p:txBody>
      </p:sp>
      <p:sp>
        <p:nvSpPr>
          <p:cNvPr id="32" name="Text 30"/>
          <p:cNvSpPr/>
          <p:nvPr/>
        </p:nvSpPr>
        <p:spPr>
          <a:xfrm>
            <a:off x="443484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50 N force pushes a box </a:t>
            </a:r>
            <a:r>
              <a:rPr lang="en-US" sz="1250" b="1" dirty="0">
                <a:solidFill>
                  <a:srgbClr val="262B3A"/>
                </a:solidFill>
                <a:latin typeface="Calibri" pitchFamily="34" charset="0"/>
                <a:ea typeface="Calibri" pitchFamily="34" charset="-122"/>
                <a:cs typeface="Calibri" pitchFamily="34" charset="-120"/>
              </a:rPr>
              <a:t>4.0 m</a:t>
            </a:r>
            <a:r>
              <a:rPr lang="en-US" sz="1250" dirty="0">
                <a:solidFill>
                  <a:srgbClr val="262B3A"/>
                </a:solidFill>
                <a:latin typeface="Calibri" pitchFamily="34" charset="0"/>
                <a:ea typeface="Calibri" pitchFamily="34" charset="-122"/>
                <a:cs typeface="Calibri" pitchFamily="34" charset="-120"/>
              </a:rPr>
              <a:t>. Calculate the </a:t>
            </a:r>
            <a:r>
              <a:rPr lang="en-US" sz="1250" b="1" dirty="0">
                <a:solidFill>
                  <a:srgbClr val="262B3A"/>
                </a:solidFill>
                <a:latin typeface="Calibri" pitchFamily="34" charset="0"/>
                <a:ea typeface="Calibri" pitchFamily="34" charset="-122"/>
                <a:cs typeface="Calibri" pitchFamily="34" charset="-120"/>
              </a:rPr>
              <a:t>work done</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33" name="Shape 31"/>
          <p:cNvSpPr/>
          <p:nvPr/>
        </p:nvSpPr>
        <p:spPr>
          <a:xfrm>
            <a:off x="8092440" y="3429000"/>
            <a:ext cx="3657600" cy="2011680"/>
          </a:xfrm>
          <a:prstGeom prst="roundRect">
            <a:avLst>
              <a:gd name="adj" fmla="val 2727"/>
            </a:avLst>
          </a:prstGeom>
          <a:solidFill>
            <a:srgbClr val="F5F8FE"/>
          </a:solidFill>
          <a:ln w="9525">
            <a:solidFill>
              <a:srgbClr val="D5DCEB"/>
            </a:solidFill>
            <a:prstDash val="solid"/>
          </a:ln>
        </p:spPr>
      </p:sp>
      <p:sp>
        <p:nvSpPr>
          <p:cNvPr id="34" name="Shape 32"/>
          <p:cNvSpPr/>
          <p:nvPr/>
        </p:nvSpPr>
        <p:spPr>
          <a:xfrm>
            <a:off x="8229600" y="3566160"/>
            <a:ext cx="438912" cy="438912"/>
          </a:xfrm>
          <a:prstGeom prst="ellipse">
            <a:avLst/>
          </a:prstGeom>
          <a:solidFill>
            <a:srgbClr val="2E5BD8"/>
          </a:solidFill>
          <a:ln w="12700">
            <a:solidFill>
              <a:srgbClr val="2E5BD8"/>
            </a:solidFill>
            <a:prstDash val="solid"/>
          </a:ln>
        </p:spPr>
      </p:sp>
      <p:sp>
        <p:nvSpPr>
          <p:cNvPr id="35" name="Text 33"/>
          <p:cNvSpPr/>
          <p:nvPr/>
        </p:nvSpPr>
        <p:spPr>
          <a:xfrm>
            <a:off x="822960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36" name="Text 34"/>
          <p:cNvSpPr/>
          <p:nvPr/>
        </p:nvSpPr>
        <p:spPr>
          <a:xfrm>
            <a:off x="8778240" y="361188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Topic 3 • energy</a:t>
            </a:r>
            <a:endParaRPr lang="en-US" sz="1050" dirty="0"/>
          </a:p>
        </p:txBody>
      </p:sp>
      <p:sp>
        <p:nvSpPr>
          <p:cNvPr id="37" name="Text 35"/>
          <p:cNvSpPr/>
          <p:nvPr/>
        </p:nvSpPr>
        <p:spPr>
          <a:xfrm>
            <a:off x="827532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bike chain rubs as it moves. What happens to the energy transferred by </a:t>
            </a:r>
            <a:r>
              <a:rPr lang="en-US" sz="1250" b="1" dirty="0">
                <a:solidFill>
                  <a:srgbClr val="262B3A"/>
                </a:solidFill>
                <a:latin typeface="Calibri" pitchFamily="34" charset="0"/>
                <a:ea typeface="Calibri" pitchFamily="34" charset="-122"/>
                <a:cs typeface="Calibri" pitchFamily="34" charset="-120"/>
              </a:rPr>
              <a:t>friction</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38" name="Shape 36"/>
          <p:cNvSpPr/>
          <p:nvPr/>
        </p:nvSpPr>
        <p:spPr>
          <a:xfrm>
            <a:off x="411480" y="5715000"/>
            <a:ext cx="11368735" cy="548640"/>
          </a:xfrm>
          <a:prstGeom prst="rect">
            <a:avLst/>
          </a:prstGeom>
          <a:solidFill>
            <a:srgbClr val="EEF2FA"/>
          </a:solidFill>
          <a:ln w="12700">
            <a:solidFill>
              <a:srgbClr val="D5DCEB"/>
            </a:solidFill>
            <a:prstDash val="solid"/>
          </a:ln>
        </p:spPr>
      </p:sp>
      <p:sp>
        <p:nvSpPr>
          <p:cNvPr id="39" name="Text 37"/>
          <p:cNvSpPr/>
          <p:nvPr/>
        </p:nvSpPr>
        <p:spPr>
          <a:xfrm>
            <a:off x="640080" y="5715000"/>
            <a:ext cx="10911535" cy="548640"/>
          </a:xfrm>
          <a:prstGeom prst="rect">
            <a:avLst/>
          </a:prstGeom>
          <a:noFill/>
          <a:ln/>
        </p:spPr>
        <p:txBody>
          <a:bodyPr wrap="square" lIns="0" tIns="0" rIns="0" bIns="0" rtlCol="0" anchor="ctr"/>
          <a:lstStyle/>
          <a:p>
            <a:pPr indent="0" marL="0">
              <a:buNone/>
            </a:pPr>
            <a:r>
              <a:rPr lang="en-US" sz="1200" b="1" dirty="0">
                <a:solidFill>
                  <a:srgbClr val="2E5BD8"/>
                </a:solidFill>
                <a:latin typeface="Calibri" pitchFamily="34" charset="0"/>
                <a:ea typeface="Calibri" pitchFamily="34" charset="-122"/>
                <a:cs typeface="Calibri" pitchFamily="34" charset="-120"/>
              </a:rPr>
              <a:t>Self-mark   </a:t>
            </a:r>
            <a:r>
              <a:rPr lang="en-US" sz="1200" dirty="0">
                <a:solidFill>
                  <a:srgbClr val="262B3A"/>
                </a:solidFill>
                <a:latin typeface="Calibri" pitchFamily="34" charset="0"/>
                <a:ea typeface="Calibri" pitchFamily="34" charset="-122"/>
                <a:cs typeface="Calibri" pitchFamily="34" charset="-120"/>
              </a:rPr>
              <a:t>Swap and mark from the answers.  6/6 secure  •  4–5 nearly there  •  0–3 revisit the topic notes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Forces at a distance: non-contact forces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9.1(a) • gravitational, electrostatic and magnetic fields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9 Forces and their effects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9.1  |  5</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each pair of arrows is equal in size and opposite in direction</a:t>
            </a:r>
            <a:endParaRPr lang="en-US" sz="1000" dirty="0"/>
          </a:p>
        </p:txBody>
      </p:sp>
      <p:sp>
        <p:nvSpPr>
          <p:cNvPr id="10" name="Text 8"/>
          <p:cNvSpPr/>
          <p:nvPr/>
        </p:nvSpPr>
        <p:spPr>
          <a:xfrm>
            <a:off x="640080" y="1325880"/>
            <a:ext cx="3657600" cy="256032"/>
          </a:xfrm>
          <a:prstGeom prst="rect">
            <a:avLst/>
          </a:prstGeom>
          <a:noFill/>
          <a:ln/>
        </p:spPr>
        <p:txBody>
          <a:bodyPr wrap="square" lIns="0" tIns="0" rIns="0" bIns="0" rtlCol="0" anchor="ctr"/>
          <a:lstStyle/>
          <a:p>
            <a:pPr algn="l" indent="0" marL="0">
              <a:buNone/>
            </a:pPr>
            <a:r>
              <a:rPr lang="en-US" sz="1200" b="1" dirty="0">
                <a:solidFill>
                  <a:srgbClr val="1A2340"/>
                </a:solidFill>
                <a:latin typeface="Calibri" pitchFamily="34" charset="0"/>
                <a:ea typeface="Calibri" pitchFamily="34" charset="-122"/>
                <a:cs typeface="Calibri" pitchFamily="34" charset="-120"/>
              </a:rPr>
              <a:t>Gravitational: masses attract</a:t>
            </a:r>
            <a:endParaRPr lang="en-US" sz="1200" dirty="0"/>
          </a:p>
        </p:txBody>
      </p:sp>
      <p:sp>
        <p:nvSpPr>
          <p:cNvPr id="11" name="Shape 9"/>
          <p:cNvSpPr/>
          <p:nvPr/>
        </p:nvSpPr>
        <p:spPr>
          <a:xfrm>
            <a:off x="914400" y="1691640"/>
            <a:ext cx="822960" cy="822960"/>
          </a:xfrm>
          <a:prstGeom prst="ellipse">
            <a:avLst/>
          </a:prstGeom>
          <a:solidFill>
            <a:srgbClr val="4F8FD6"/>
          </a:solidFill>
          <a:ln w="12700">
            <a:solidFill>
              <a:srgbClr val="2E5BA8"/>
            </a:solidFill>
            <a:prstDash val="solid"/>
          </a:ln>
        </p:spPr>
      </p:sp>
      <p:sp>
        <p:nvSpPr>
          <p:cNvPr id="12" name="Text 10"/>
          <p:cNvSpPr/>
          <p:nvPr/>
        </p:nvSpPr>
        <p:spPr>
          <a:xfrm>
            <a:off x="914400" y="1965960"/>
            <a:ext cx="822960"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Earth</a:t>
            </a:r>
            <a:endParaRPr lang="en-US" sz="1050" dirty="0"/>
          </a:p>
        </p:txBody>
      </p:sp>
      <p:sp>
        <p:nvSpPr>
          <p:cNvPr id="13" name="Shape 11"/>
          <p:cNvSpPr/>
          <p:nvPr/>
        </p:nvSpPr>
        <p:spPr>
          <a:xfrm>
            <a:off x="4663440" y="1938528"/>
            <a:ext cx="329184" cy="329184"/>
          </a:xfrm>
          <a:prstGeom prst="ellipse">
            <a:avLst/>
          </a:prstGeom>
          <a:solidFill>
            <a:srgbClr val="B8BDC7"/>
          </a:solidFill>
          <a:ln w="12700">
            <a:solidFill>
              <a:srgbClr val="6B7385"/>
            </a:solidFill>
            <a:prstDash val="solid"/>
          </a:ln>
        </p:spPr>
      </p:sp>
      <p:sp>
        <p:nvSpPr>
          <p:cNvPr id="14" name="Text 12"/>
          <p:cNvSpPr/>
          <p:nvPr/>
        </p:nvSpPr>
        <p:spPr>
          <a:xfrm>
            <a:off x="4434840" y="2286000"/>
            <a:ext cx="786384"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Moon</a:t>
            </a:r>
            <a:endParaRPr lang="en-US" sz="1050" dirty="0"/>
          </a:p>
        </p:txBody>
      </p:sp>
      <p:sp>
        <p:nvSpPr>
          <p:cNvPr id="15" name="Shape 13"/>
          <p:cNvSpPr/>
          <p:nvPr/>
        </p:nvSpPr>
        <p:spPr>
          <a:xfrm>
            <a:off x="1737360" y="2103120"/>
            <a:ext cx="731520" cy="91"/>
          </a:xfrm>
          <a:prstGeom prst="line">
            <a:avLst/>
          </a:prstGeom>
          <a:noFill/>
          <a:ln w="38100">
            <a:solidFill>
              <a:srgbClr val="C8414C"/>
            </a:solidFill>
            <a:prstDash val="solid"/>
            <a:tailEnd type="triangle"/>
          </a:ln>
        </p:spPr>
      </p:sp>
      <p:sp>
        <p:nvSpPr>
          <p:cNvPr id="16" name="Shape 14"/>
          <p:cNvSpPr/>
          <p:nvPr/>
        </p:nvSpPr>
        <p:spPr>
          <a:xfrm flipH="1">
            <a:off x="3931920" y="2103120"/>
            <a:ext cx="731520" cy="91"/>
          </a:xfrm>
          <a:prstGeom prst="line">
            <a:avLst/>
          </a:prstGeom>
          <a:noFill/>
          <a:ln w="38100">
            <a:solidFill>
              <a:srgbClr val="C8414C"/>
            </a:solidFill>
            <a:prstDash val="solid"/>
            <a:tailEnd type="triangle"/>
          </a:ln>
        </p:spPr>
      </p:sp>
      <p:sp>
        <p:nvSpPr>
          <p:cNvPr id="17" name="Text 15"/>
          <p:cNvSpPr/>
          <p:nvPr/>
        </p:nvSpPr>
        <p:spPr>
          <a:xfrm>
            <a:off x="2286000" y="2212848"/>
            <a:ext cx="1828800" cy="256032"/>
          </a:xfrm>
          <a:prstGeom prst="rect">
            <a:avLst/>
          </a:prstGeom>
          <a:noFill/>
          <a:ln/>
        </p:spPr>
        <p:txBody>
          <a:bodyPr wrap="square" lIns="0" tIns="0" rIns="0" bIns="0" rtlCol="0" anchor="ctr"/>
          <a:lstStyle/>
          <a:p>
            <a:pPr algn="ctr" indent="0" marL="0">
              <a:buNone/>
            </a:pPr>
            <a:r>
              <a:rPr lang="en-US" sz="1050" b="1" dirty="0">
                <a:solidFill>
                  <a:srgbClr val="C8414C"/>
                </a:solidFill>
                <a:latin typeface="Calibri" pitchFamily="34" charset="0"/>
                <a:ea typeface="Calibri" pitchFamily="34" charset="-122"/>
                <a:cs typeface="Calibri" pitchFamily="34" charset="-120"/>
              </a:rPr>
              <a:t>equal and opposite pulls</a:t>
            </a:r>
            <a:endParaRPr lang="en-US" sz="1050" dirty="0"/>
          </a:p>
        </p:txBody>
      </p:sp>
      <p:sp>
        <p:nvSpPr>
          <p:cNvPr id="18" name="Text 16"/>
          <p:cNvSpPr/>
          <p:nvPr/>
        </p:nvSpPr>
        <p:spPr>
          <a:xfrm>
            <a:off x="640080" y="2743200"/>
            <a:ext cx="3657600" cy="256032"/>
          </a:xfrm>
          <a:prstGeom prst="rect">
            <a:avLst/>
          </a:prstGeom>
          <a:noFill/>
          <a:ln/>
        </p:spPr>
        <p:txBody>
          <a:bodyPr wrap="square" lIns="0" tIns="0" rIns="0" bIns="0" rtlCol="0" anchor="ctr"/>
          <a:lstStyle/>
          <a:p>
            <a:pPr algn="l" indent="0" marL="0">
              <a:buNone/>
            </a:pPr>
            <a:r>
              <a:rPr lang="en-US" sz="1200" b="1" dirty="0">
                <a:solidFill>
                  <a:srgbClr val="1A2340"/>
                </a:solidFill>
                <a:latin typeface="Calibri" pitchFamily="34" charset="0"/>
                <a:ea typeface="Calibri" pitchFamily="34" charset="-122"/>
                <a:cs typeface="Calibri" pitchFamily="34" charset="-120"/>
              </a:rPr>
              <a:t>Electrostatic: like charges repel</a:t>
            </a:r>
            <a:endParaRPr lang="en-US" sz="1200" dirty="0"/>
          </a:p>
        </p:txBody>
      </p:sp>
      <p:sp>
        <p:nvSpPr>
          <p:cNvPr id="19" name="Shape 17"/>
          <p:cNvSpPr/>
          <p:nvPr/>
        </p:nvSpPr>
        <p:spPr>
          <a:xfrm>
            <a:off x="1719072" y="3108960"/>
            <a:ext cx="585216" cy="731520"/>
          </a:xfrm>
          <a:prstGeom prst="ellipse">
            <a:avLst/>
          </a:prstGeom>
          <a:solidFill>
            <a:srgbClr val="F4B183"/>
          </a:solidFill>
          <a:ln w="12700">
            <a:solidFill>
              <a:srgbClr val="B8730A"/>
            </a:solidFill>
            <a:prstDash val="solid"/>
          </a:ln>
        </p:spPr>
      </p:sp>
      <p:sp>
        <p:nvSpPr>
          <p:cNvPr id="20" name="Shape 18"/>
          <p:cNvSpPr/>
          <p:nvPr/>
        </p:nvSpPr>
        <p:spPr>
          <a:xfrm>
            <a:off x="2011680" y="3840480"/>
            <a:ext cx="45720" cy="320040"/>
          </a:xfrm>
          <a:prstGeom prst="line">
            <a:avLst/>
          </a:prstGeom>
          <a:noFill/>
          <a:ln w="12700">
            <a:solidFill>
              <a:srgbClr val="6B7385"/>
            </a:solidFill>
            <a:prstDash val="solid"/>
          </a:ln>
        </p:spPr>
      </p:sp>
      <p:sp>
        <p:nvSpPr>
          <p:cNvPr id="21" name="Text 19"/>
          <p:cNvSpPr/>
          <p:nvPr/>
        </p:nvSpPr>
        <p:spPr>
          <a:xfrm>
            <a:off x="1719072" y="3246120"/>
            <a:ext cx="585216" cy="457200"/>
          </a:xfrm>
          <a:prstGeom prst="rect">
            <a:avLst/>
          </a:prstGeom>
          <a:noFill/>
          <a:ln/>
        </p:spPr>
        <p:txBody>
          <a:bodyPr wrap="square" lIns="0" tIns="0" rIns="0" bIns="0" rtlCol="0" anchor="ctr"/>
          <a:lstStyle/>
          <a:p>
            <a:pPr algn="ctr" indent="0" marL="0">
              <a:buNone/>
            </a:pPr>
            <a:r>
              <a:rPr lang="en-US" sz="1200" b="1" dirty="0">
                <a:solidFill>
                  <a:srgbClr val="1A2340"/>
                </a:solidFill>
                <a:latin typeface="Calibri" pitchFamily="34" charset="0"/>
                <a:ea typeface="Calibri" pitchFamily="34" charset="-122"/>
                <a:cs typeface="Calibri" pitchFamily="34" charset="-120"/>
              </a:rPr>
              <a:t>− −</a:t>
            </a:r>
            <a:endParaRPr lang="en-US" sz="1200" dirty="0"/>
          </a:p>
          <a:p>
            <a:pPr algn="ctr" indent="0" marL="0">
              <a:buNone/>
            </a:pPr>
            <a:r>
              <a:rPr lang="en-US" sz="1200" b="1" dirty="0">
                <a:solidFill>
                  <a:srgbClr val="1A2340"/>
                </a:solidFill>
                <a:latin typeface="Calibri" pitchFamily="34" charset="0"/>
                <a:ea typeface="Calibri" pitchFamily="34" charset="-122"/>
                <a:cs typeface="Calibri" pitchFamily="34" charset="-120"/>
              </a:rPr>
              <a:t>− −</a:t>
            </a:r>
            <a:endParaRPr lang="en-US" sz="1200" dirty="0"/>
          </a:p>
        </p:txBody>
      </p:sp>
      <p:sp>
        <p:nvSpPr>
          <p:cNvPr id="22" name="Shape 20"/>
          <p:cNvSpPr/>
          <p:nvPr/>
        </p:nvSpPr>
        <p:spPr>
          <a:xfrm>
            <a:off x="3639312" y="3108960"/>
            <a:ext cx="585216" cy="731520"/>
          </a:xfrm>
          <a:prstGeom prst="ellipse">
            <a:avLst/>
          </a:prstGeom>
          <a:solidFill>
            <a:srgbClr val="F4B183"/>
          </a:solidFill>
          <a:ln w="12700">
            <a:solidFill>
              <a:srgbClr val="B8730A"/>
            </a:solidFill>
            <a:prstDash val="solid"/>
          </a:ln>
        </p:spPr>
      </p:sp>
      <p:sp>
        <p:nvSpPr>
          <p:cNvPr id="23" name="Shape 21"/>
          <p:cNvSpPr/>
          <p:nvPr/>
        </p:nvSpPr>
        <p:spPr>
          <a:xfrm>
            <a:off x="3931920" y="3840480"/>
            <a:ext cx="45720" cy="320040"/>
          </a:xfrm>
          <a:prstGeom prst="line">
            <a:avLst/>
          </a:prstGeom>
          <a:noFill/>
          <a:ln w="12700">
            <a:solidFill>
              <a:srgbClr val="6B7385"/>
            </a:solidFill>
            <a:prstDash val="solid"/>
          </a:ln>
        </p:spPr>
      </p:sp>
      <p:sp>
        <p:nvSpPr>
          <p:cNvPr id="24" name="Text 22"/>
          <p:cNvSpPr/>
          <p:nvPr/>
        </p:nvSpPr>
        <p:spPr>
          <a:xfrm>
            <a:off x="3639312" y="3246120"/>
            <a:ext cx="585216" cy="457200"/>
          </a:xfrm>
          <a:prstGeom prst="rect">
            <a:avLst/>
          </a:prstGeom>
          <a:noFill/>
          <a:ln/>
        </p:spPr>
        <p:txBody>
          <a:bodyPr wrap="square" lIns="0" tIns="0" rIns="0" bIns="0" rtlCol="0" anchor="ctr"/>
          <a:lstStyle/>
          <a:p>
            <a:pPr algn="ctr" indent="0" marL="0">
              <a:buNone/>
            </a:pPr>
            <a:r>
              <a:rPr lang="en-US" sz="1200" b="1" dirty="0">
                <a:solidFill>
                  <a:srgbClr val="1A2340"/>
                </a:solidFill>
                <a:latin typeface="Calibri" pitchFamily="34" charset="0"/>
                <a:ea typeface="Calibri" pitchFamily="34" charset="-122"/>
                <a:cs typeface="Calibri" pitchFamily="34" charset="-120"/>
              </a:rPr>
              <a:t>− −</a:t>
            </a:r>
            <a:endParaRPr lang="en-US" sz="1200" dirty="0"/>
          </a:p>
          <a:p>
            <a:pPr algn="ctr" indent="0" marL="0">
              <a:buNone/>
            </a:pPr>
            <a:r>
              <a:rPr lang="en-US" sz="1200" b="1" dirty="0">
                <a:solidFill>
                  <a:srgbClr val="1A2340"/>
                </a:solidFill>
                <a:latin typeface="Calibri" pitchFamily="34" charset="0"/>
                <a:ea typeface="Calibri" pitchFamily="34" charset="-122"/>
                <a:cs typeface="Calibri" pitchFamily="34" charset="-120"/>
              </a:rPr>
              <a:t>− −</a:t>
            </a:r>
            <a:endParaRPr lang="en-US" sz="1200" dirty="0"/>
          </a:p>
        </p:txBody>
      </p:sp>
      <p:sp>
        <p:nvSpPr>
          <p:cNvPr id="25" name="Shape 23"/>
          <p:cNvSpPr/>
          <p:nvPr/>
        </p:nvSpPr>
        <p:spPr>
          <a:xfrm flipH="1">
            <a:off x="1078992" y="3474720"/>
            <a:ext cx="640080" cy="91"/>
          </a:xfrm>
          <a:prstGeom prst="line">
            <a:avLst/>
          </a:prstGeom>
          <a:noFill/>
          <a:ln w="38100">
            <a:solidFill>
              <a:srgbClr val="C8414C"/>
            </a:solidFill>
            <a:prstDash val="solid"/>
            <a:tailEnd type="triangle"/>
          </a:ln>
        </p:spPr>
      </p:sp>
      <p:sp>
        <p:nvSpPr>
          <p:cNvPr id="26" name="Shape 24"/>
          <p:cNvSpPr/>
          <p:nvPr/>
        </p:nvSpPr>
        <p:spPr>
          <a:xfrm>
            <a:off x="4224528" y="3474720"/>
            <a:ext cx="640080" cy="91"/>
          </a:xfrm>
          <a:prstGeom prst="line">
            <a:avLst/>
          </a:prstGeom>
          <a:noFill/>
          <a:ln w="38100">
            <a:solidFill>
              <a:srgbClr val="C8414C"/>
            </a:solidFill>
            <a:prstDash val="solid"/>
            <a:tailEnd type="triangle"/>
          </a:ln>
        </p:spPr>
      </p:sp>
      <p:sp>
        <p:nvSpPr>
          <p:cNvPr id="27" name="Text 25"/>
          <p:cNvSpPr/>
          <p:nvPr/>
        </p:nvSpPr>
        <p:spPr>
          <a:xfrm>
            <a:off x="640080" y="4251960"/>
            <a:ext cx="3657600" cy="256032"/>
          </a:xfrm>
          <a:prstGeom prst="rect">
            <a:avLst/>
          </a:prstGeom>
          <a:noFill/>
          <a:ln/>
        </p:spPr>
        <p:txBody>
          <a:bodyPr wrap="square" lIns="0" tIns="0" rIns="0" bIns="0" rtlCol="0" anchor="ctr"/>
          <a:lstStyle/>
          <a:p>
            <a:pPr algn="l" indent="0" marL="0">
              <a:buNone/>
            </a:pPr>
            <a:r>
              <a:rPr lang="en-US" sz="1200" b="1" dirty="0">
                <a:solidFill>
                  <a:srgbClr val="1A2340"/>
                </a:solidFill>
                <a:latin typeface="Calibri" pitchFamily="34" charset="0"/>
                <a:ea typeface="Calibri" pitchFamily="34" charset="-122"/>
                <a:cs typeface="Calibri" pitchFamily="34" charset="-120"/>
              </a:rPr>
              <a:t>Magnetic: unlike poles attract</a:t>
            </a:r>
            <a:endParaRPr lang="en-US" sz="1200" dirty="0"/>
          </a:p>
        </p:txBody>
      </p:sp>
      <p:sp>
        <p:nvSpPr>
          <p:cNvPr id="28" name="Shape 26"/>
          <p:cNvSpPr/>
          <p:nvPr/>
        </p:nvSpPr>
        <p:spPr>
          <a:xfrm>
            <a:off x="822960" y="4663440"/>
            <a:ext cx="640080" cy="384048"/>
          </a:xfrm>
          <a:prstGeom prst="rect">
            <a:avLst/>
          </a:prstGeom>
          <a:solidFill>
            <a:srgbClr val="D9534F"/>
          </a:solidFill>
          <a:ln w="12700">
            <a:solidFill>
              <a:srgbClr val="8A2A26"/>
            </a:solidFill>
            <a:prstDash val="solid"/>
          </a:ln>
        </p:spPr>
      </p:sp>
      <p:sp>
        <p:nvSpPr>
          <p:cNvPr id="29" name="Shape 27"/>
          <p:cNvSpPr/>
          <p:nvPr/>
        </p:nvSpPr>
        <p:spPr>
          <a:xfrm>
            <a:off x="1463040" y="4663440"/>
            <a:ext cx="640080" cy="384048"/>
          </a:xfrm>
          <a:prstGeom prst="rect">
            <a:avLst/>
          </a:prstGeom>
          <a:solidFill>
            <a:srgbClr val="4F8FD6"/>
          </a:solidFill>
          <a:ln w="12700">
            <a:solidFill>
              <a:srgbClr val="2E5BA8"/>
            </a:solidFill>
            <a:prstDash val="solid"/>
          </a:ln>
        </p:spPr>
      </p:sp>
      <p:sp>
        <p:nvSpPr>
          <p:cNvPr id="30" name="Text 28"/>
          <p:cNvSpPr/>
          <p:nvPr/>
        </p:nvSpPr>
        <p:spPr>
          <a:xfrm>
            <a:off x="822960" y="4663440"/>
            <a:ext cx="64008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a:t>
            </a:r>
            <a:endParaRPr lang="en-US" sz="1200" dirty="0"/>
          </a:p>
        </p:txBody>
      </p:sp>
      <p:sp>
        <p:nvSpPr>
          <p:cNvPr id="31" name="Text 29"/>
          <p:cNvSpPr/>
          <p:nvPr/>
        </p:nvSpPr>
        <p:spPr>
          <a:xfrm>
            <a:off x="1463040" y="4663440"/>
            <a:ext cx="64008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t>
            </a:r>
            <a:endParaRPr lang="en-US" sz="1200" dirty="0"/>
          </a:p>
        </p:txBody>
      </p:sp>
      <p:sp>
        <p:nvSpPr>
          <p:cNvPr id="32" name="Shape 30"/>
          <p:cNvSpPr/>
          <p:nvPr/>
        </p:nvSpPr>
        <p:spPr>
          <a:xfrm>
            <a:off x="3749040" y="4663440"/>
            <a:ext cx="640080" cy="384048"/>
          </a:xfrm>
          <a:prstGeom prst="rect">
            <a:avLst/>
          </a:prstGeom>
          <a:solidFill>
            <a:srgbClr val="D9534F"/>
          </a:solidFill>
          <a:ln w="12700">
            <a:solidFill>
              <a:srgbClr val="8A2A26"/>
            </a:solidFill>
            <a:prstDash val="solid"/>
          </a:ln>
        </p:spPr>
      </p:sp>
      <p:sp>
        <p:nvSpPr>
          <p:cNvPr id="33" name="Shape 31"/>
          <p:cNvSpPr/>
          <p:nvPr/>
        </p:nvSpPr>
        <p:spPr>
          <a:xfrm>
            <a:off x="4389120" y="4663440"/>
            <a:ext cx="640080" cy="384048"/>
          </a:xfrm>
          <a:prstGeom prst="rect">
            <a:avLst/>
          </a:prstGeom>
          <a:solidFill>
            <a:srgbClr val="4F8FD6"/>
          </a:solidFill>
          <a:ln w="12700">
            <a:solidFill>
              <a:srgbClr val="2E5BA8"/>
            </a:solidFill>
            <a:prstDash val="solid"/>
          </a:ln>
        </p:spPr>
      </p:sp>
      <p:sp>
        <p:nvSpPr>
          <p:cNvPr id="34" name="Text 32"/>
          <p:cNvSpPr/>
          <p:nvPr/>
        </p:nvSpPr>
        <p:spPr>
          <a:xfrm>
            <a:off x="3749040" y="4663440"/>
            <a:ext cx="64008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a:t>
            </a:r>
            <a:endParaRPr lang="en-US" sz="1200" dirty="0"/>
          </a:p>
        </p:txBody>
      </p:sp>
      <p:sp>
        <p:nvSpPr>
          <p:cNvPr id="35" name="Text 33"/>
          <p:cNvSpPr/>
          <p:nvPr/>
        </p:nvSpPr>
        <p:spPr>
          <a:xfrm>
            <a:off x="4389120" y="4663440"/>
            <a:ext cx="64008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t>
            </a:r>
            <a:endParaRPr lang="en-US" sz="1200" dirty="0"/>
          </a:p>
        </p:txBody>
      </p:sp>
      <p:sp>
        <p:nvSpPr>
          <p:cNvPr id="36" name="Shape 34"/>
          <p:cNvSpPr/>
          <p:nvPr/>
        </p:nvSpPr>
        <p:spPr>
          <a:xfrm>
            <a:off x="2103120" y="4855464"/>
            <a:ext cx="502920" cy="91"/>
          </a:xfrm>
          <a:prstGeom prst="line">
            <a:avLst/>
          </a:prstGeom>
          <a:noFill/>
          <a:ln w="38100">
            <a:solidFill>
              <a:srgbClr val="C8414C"/>
            </a:solidFill>
            <a:prstDash val="solid"/>
            <a:tailEnd type="triangle"/>
          </a:ln>
        </p:spPr>
      </p:sp>
      <p:sp>
        <p:nvSpPr>
          <p:cNvPr id="37" name="Shape 35"/>
          <p:cNvSpPr/>
          <p:nvPr/>
        </p:nvSpPr>
        <p:spPr>
          <a:xfrm flipH="1">
            <a:off x="3246120" y="4855464"/>
            <a:ext cx="502920" cy="91"/>
          </a:xfrm>
          <a:prstGeom prst="line">
            <a:avLst/>
          </a:prstGeom>
          <a:noFill/>
          <a:ln w="38100">
            <a:solidFill>
              <a:srgbClr val="C8414C"/>
            </a:solidFill>
            <a:prstDash val="solid"/>
            <a:tailEnd type="triangle"/>
          </a:ln>
        </p:spPr>
      </p:sp>
      <p:sp>
        <p:nvSpPr>
          <p:cNvPr id="38" name="Shape 36"/>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39" name="Text 37"/>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Non-contact forces act through a field</a:t>
            </a:r>
            <a:endParaRPr lang="en-US" sz="1300" dirty="0"/>
          </a:p>
        </p:txBody>
      </p:sp>
      <p:sp>
        <p:nvSpPr>
          <p:cNvPr id="40" name="Text 38"/>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a:t>
            </a:r>
            <a:r>
              <a:rPr lang="en-US" sz="1150" b="1" dirty="0">
                <a:solidFill>
                  <a:srgbClr val="262B3A"/>
                </a:solidFill>
                <a:latin typeface="Calibri" pitchFamily="34" charset="0"/>
                <a:ea typeface="Calibri" pitchFamily="34" charset="-122"/>
                <a:cs typeface="Calibri" pitchFamily="34" charset="-120"/>
              </a:rPr>
              <a:t>non-contact force</a:t>
            </a:r>
            <a:r>
              <a:rPr lang="en-US" sz="1150" dirty="0">
                <a:solidFill>
                  <a:srgbClr val="262B3A"/>
                </a:solidFill>
                <a:latin typeface="Calibri" pitchFamily="34" charset="0"/>
                <a:ea typeface="Calibri" pitchFamily="34" charset="-122"/>
                <a:cs typeface="Calibri" pitchFamily="34" charset="-120"/>
              </a:rPr>
              <a:t> acts between objects that are </a:t>
            </a:r>
            <a:r>
              <a:rPr lang="en-US" sz="1150" b="1" dirty="0">
                <a:solidFill>
                  <a:srgbClr val="262B3A"/>
                </a:solidFill>
                <a:latin typeface="Calibri" pitchFamily="34" charset="0"/>
                <a:ea typeface="Calibri" pitchFamily="34" charset="-122"/>
                <a:cs typeface="Calibri" pitchFamily="34" charset="-120"/>
              </a:rPr>
              <a:t>not touching</a:t>
            </a:r>
            <a:r>
              <a:rPr lang="en-US" sz="1150" dirty="0">
                <a:solidFill>
                  <a:srgbClr val="262B3A"/>
                </a:solidFill>
                <a:latin typeface="Calibri" pitchFamily="34" charset="0"/>
                <a:ea typeface="Calibri" pitchFamily="34" charset="-122"/>
                <a:cs typeface="Calibri" pitchFamily="34" charset="-120"/>
              </a:rPr>
              <a:t>. Each object is in the other’s </a:t>
            </a:r>
            <a:r>
              <a:rPr lang="en-US" sz="1150" b="1" dirty="0">
                <a:solidFill>
                  <a:srgbClr val="262B3A"/>
                </a:solidFill>
                <a:latin typeface="Calibri" pitchFamily="34" charset="0"/>
                <a:ea typeface="Calibri" pitchFamily="34" charset="-122"/>
                <a:cs typeface="Calibri" pitchFamily="34" charset="-120"/>
              </a:rPr>
              <a:t>field</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Gravitational</a:t>
            </a:r>
            <a:r>
              <a:rPr lang="en-US" sz="1150" dirty="0">
                <a:solidFill>
                  <a:srgbClr val="262B3A"/>
                </a:solidFill>
                <a:latin typeface="Calibri" pitchFamily="34" charset="0"/>
                <a:ea typeface="Calibri" pitchFamily="34" charset="-122"/>
                <a:cs typeface="Calibri" pitchFamily="34" charset="-120"/>
              </a:rPr>
              <a:t> field: every mass attracts every other mass (weight is the Earth’s pull on you).</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Electrostatic</a:t>
            </a:r>
            <a:r>
              <a:rPr lang="en-US" sz="1150" dirty="0">
                <a:solidFill>
                  <a:srgbClr val="262B3A"/>
                </a:solidFill>
                <a:latin typeface="Calibri" pitchFamily="34" charset="0"/>
                <a:ea typeface="Calibri" pitchFamily="34" charset="-122"/>
                <a:cs typeface="Calibri" pitchFamily="34" charset="-120"/>
              </a:rPr>
              <a:t> field: charged objects – like charges </a:t>
            </a:r>
            <a:r>
              <a:rPr lang="en-US" sz="1150" b="1" dirty="0">
                <a:solidFill>
                  <a:srgbClr val="262B3A"/>
                </a:solidFill>
                <a:latin typeface="Calibri" pitchFamily="34" charset="0"/>
                <a:ea typeface="Calibri" pitchFamily="34" charset="-122"/>
                <a:cs typeface="Calibri" pitchFamily="34" charset="-120"/>
              </a:rPr>
              <a:t>repel</a:t>
            </a:r>
            <a:r>
              <a:rPr lang="en-US" sz="1150" dirty="0">
                <a:solidFill>
                  <a:srgbClr val="262B3A"/>
                </a:solidFill>
                <a:latin typeface="Calibri" pitchFamily="34" charset="0"/>
                <a:ea typeface="Calibri" pitchFamily="34" charset="-122"/>
                <a:cs typeface="Calibri" pitchFamily="34" charset="-120"/>
              </a:rPr>
              <a:t>, unlike charges </a:t>
            </a:r>
            <a:r>
              <a:rPr lang="en-US" sz="1150" b="1" dirty="0">
                <a:solidFill>
                  <a:srgbClr val="262B3A"/>
                </a:solidFill>
                <a:latin typeface="Calibri" pitchFamily="34" charset="0"/>
                <a:ea typeface="Calibri" pitchFamily="34" charset="-122"/>
                <a:cs typeface="Calibri" pitchFamily="34" charset="-120"/>
              </a:rPr>
              <a:t>attract</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Magnetic</a:t>
            </a:r>
            <a:r>
              <a:rPr lang="en-US" sz="1150" dirty="0">
                <a:solidFill>
                  <a:srgbClr val="262B3A"/>
                </a:solidFill>
                <a:latin typeface="Calibri" pitchFamily="34" charset="0"/>
                <a:ea typeface="Calibri" pitchFamily="34" charset="-122"/>
                <a:cs typeface="Calibri" pitchFamily="34" charset="-120"/>
              </a:rPr>
              <a:t> field: magnets and magnetic materials – like poles repel, unlike poles attract.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forces always come in </a:t>
            </a:r>
            <a:r>
              <a:rPr lang="en-US" sz="1150" b="1" dirty="0">
                <a:solidFill>
                  <a:srgbClr val="262B3A"/>
                </a:solidFill>
                <a:latin typeface="Calibri" pitchFamily="34" charset="0"/>
                <a:ea typeface="Calibri" pitchFamily="34" charset="-122"/>
                <a:cs typeface="Calibri" pitchFamily="34" charset="-120"/>
              </a:rPr>
              <a:t>pairs</a:t>
            </a:r>
            <a:r>
              <a:rPr lang="en-US" sz="1150" dirty="0">
                <a:solidFill>
                  <a:srgbClr val="262B3A"/>
                </a:solidFill>
                <a:latin typeface="Calibri" pitchFamily="34" charset="0"/>
                <a:ea typeface="Calibri" pitchFamily="34" charset="-122"/>
                <a:cs typeface="Calibri" pitchFamily="34" charset="-120"/>
              </a:rPr>
              <a:t>: the Moon pulls the Earth as hard as the Earth pulls the Moon.</a:t>
            </a:r>
            <a:endParaRPr lang="en-US" sz="1150" dirty="0"/>
          </a:p>
        </p:txBody>
      </p:sp>
      <p:sp>
        <p:nvSpPr>
          <p:cNvPr id="41" name="Shape 39"/>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42" name="Text 40"/>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Name the field</a:t>
            </a:r>
            <a:endParaRPr lang="en-US" sz="1300" dirty="0"/>
          </a:p>
        </p:txBody>
      </p:sp>
      <p:sp>
        <p:nvSpPr>
          <p:cNvPr id="43" name="Text 41"/>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For each force, name the field involved.</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Fridge magnet   </a:t>
            </a:r>
            <a:r>
              <a:rPr lang="en-US" sz="1100" dirty="0">
                <a:solidFill>
                  <a:srgbClr val="262B3A"/>
                </a:solidFill>
                <a:latin typeface="Calibri" pitchFamily="34" charset="0"/>
                <a:ea typeface="Calibri" pitchFamily="34" charset="-122"/>
                <a:cs typeface="Calibri" pitchFamily="34" charset="-120"/>
              </a:rPr>
              <a:t>stays on the door → </a:t>
            </a:r>
            <a:r>
              <a:rPr lang="en-US" sz="1100" b="1" dirty="0">
                <a:solidFill>
                  <a:srgbClr val="262B3A"/>
                </a:solidFill>
                <a:latin typeface="Calibri" pitchFamily="34" charset="0"/>
                <a:ea typeface="Calibri" pitchFamily="34" charset="-122"/>
                <a:cs typeface="Calibri" pitchFamily="34" charset="-120"/>
              </a:rPr>
              <a:t>magnetic</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Rubbed balloon   </a:t>
            </a:r>
            <a:r>
              <a:rPr lang="en-US" sz="1100" dirty="0">
                <a:solidFill>
                  <a:srgbClr val="262B3A"/>
                </a:solidFill>
                <a:latin typeface="Calibri" pitchFamily="34" charset="0"/>
                <a:ea typeface="Calibri" pitchFamily="34" charset="-122"/>
                <a:cs typeface="Calibri" pitchFamily="34" charset="-120"/>
              </a:rPr>
              <a:t>sticks to a wall → </a:t>
            </a:r>
            <a:r>
              <a:rPr lang="en-US" sz="1100" b="1" dirty="0">
                <a:solidFill>
                  <a:srgbClr val="262B3A"/>
                </a:solidFill>
                <a:latin typeface="Calibri" pitchFamily="34" charset="0"/>
                <a:ea typeface="Calibri" pitchFamily="34" charset="-122"/>
                <a:cs typeface="Calibri" pitchFamily="34" charset="-120"/>
              </a:rPr>
              <a:t>electrostatic</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Falling apple   </a:t>
            </a:r>
            <a:r>
              <a:rPr lang="en-US" sz="1100" dirty="0">
                <a:solidFill>
                  <a:srgbClr val="262B3A"/>
                </a:solidFill>
                <a:latin typeface="Calibri" pitchFamily="34" charset="0"/>
                <a:ea typeface="Calibri" pitchFamily="34" charset="-122"/>
                <a:cs typeface="Calibri" pitchFamily="34" charset="-120"/>
              </a:rPr>
              <a:t>pulled down by the Earth → </a:t>
            </a:r>
            <a:r>
              <a:rPr lang="en-US" sz="1100" b="1" dirty="0">
                <a:solidFill>
                  <a:srgbClr val="262B3A"/>
                </a:solidFill>
                <a:latin typeface="Calibri" pitchFamily="34" charset="0"/>
                <a:ea typeface="Calibri" pitchFamily="34" charset="-122"/>
                <a:cs typeface="Calibri" pitchFamily="34" charset="-120"/>
              </a:rPr>
              <a:t>gravitational</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all three act without contact</a:t>
            </a:r>
            <a:endParaRPr lang="en-US" sz="1100" dirty="0"/>
          </a:p>
        </p:txBody>
      </p:sp>
      <p:sp>
        <p:nvSpPr>
          <p:cNvPr id="44" name="Shape 42"/>
          <p:cNvSpPr/>
          <p:nvPr/>
        </p:nvSpPr>
        <p:spPr>
          <a:xfrm>
            <a:off x="411480" y="5833872"/>
            <a:ext cx="11368735" cy="530352"/>
          </a:xfrm>
          <a:prstGeom prst="rect">
            <a:avLst/>
          </a:prstGeom>
          <a:solidFill>
            <a:srgbClr val="FFF4E0"/>
          </a:solidFill>
          <a:ln w="6350">
            <a:solidFill>
              <a:srgbClr val="F1D9A8"/>
            </a:solidFill>
            <a:prstDash val="solid"/>
          </a:ln>
        </p:spPr>
      </p:sp>
      <p:sp>
        <p:nvSpPr>
          <p:cNvPr id="45" name="Shape 43"/>
          <p:cNvSpPr/>
          <p:nvPr/>
        </p:nvSpPr>
        <p:spPr>
          <a:xfrm>
            <a:off x="411480" y="5833872"/>
            <a:ext cx="82296" cy="530352"/>
          </a:xfrm>
          <a:prstGeom prst="rect">
            <a:avLst/>
          </a:prstGeom>
          <a:solidFill>
            <a:srgbClr val="E39A2F"/>
          </a:solidFill>
          <a:ln w="12700">
            <a:solidFill>
              <a:srgbClr val="E39A2F"/>
            </a:solidFill>
            <a:prstDash val="solid"/>
          </a:ln>
        </p:spPr>
      </p:sp>
      <p:sp>
        <p:nvSpPr>
          <p:cNvPr id="46" name="Text 4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Name the field involved when (a) a charged comb picks up bits of paper, (b) a satellite stays in orbit around the Earth.</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Contact forces: normal, friction and tension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9.1(b) • objects touching each other</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9 Forces and their effects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9.1  |  6</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block pulled at constant speed; arrows from its centre, drawn to scale</a:t>
            </a:r>
            <a:endParaRPr lang="en-US" sz="1000" dirty="0"/>
          </a:p>
        </p:txBody>
      </p:sp>
      <p:sp>
        <p:nvSpPr>
          <p:cNvPr id="10" name="Shape 8"/>
          <p:cNvSpPr/>
          <p:nvPr/>
        </p:nvSpPr>
        <p:spPr>
          <a:xfrm>
            <a:off x="731520" y="3566160"/>
            <a:ext cx="4937760" cy="164592"/>
          </a:xfrm>
          <a:prstGeom prst="rect">
            <a:avLst/>
          </a:prstGeom>
          <a:solidFill>
            <a:srgbClr val="C99A5B"/>
          </a:solidFill>
          <a:ln w="12700">
            <a:solidFill>
              <a:srgbClr val="8A6A3A"/>
            </a:solidFill>
            <a:prstDash val="solid"/>
          </a:ln>
        </p:spPr>
      </p:sp>
      <p:sp>
        <p:nvSpPr>
          <p:cNvPr id="11" name="Shape 9"/>
          <p:cNvSpPr/>
          <p:nvPr/>
        </p:nvSpPr>
        <p:spPr>
          <a:xfrm>
            <a:off x="914400" y="3730752"/>
            <a:ext cx="137160" cy="1188720"/>
          </a:xfrm>
          <a:prstGeom prst="rect">
            <a:avLst/>
          </a:prstGeom>
          <a:solidFill>
            <a:srgbClr val="C99A5B"/>
          </a:solidFill>
          <a:ln w="12700">
            <a:solidFill>
              <a:srgbClr val="8A6A3A"/>
            </a:solidFill>
            <a:prstDash val="solid"/>
          </a:ln>
        </p:spPr>
      </p:sp>
      <p:sp>
        <p:nvSpPr>
          <p:cNvPr id="12" name="Shape 10"/>
          <p:cNvSpPr/>
          <p:nvPr/>
        </p:nvSpPr>
        <p:spPr>
          <a:xfrm>
            <a:off x="5349240" y="3730752"/>
            <a:ext cx="137160" cy="1188720"/>
          </a:xfrm>
          <a:prstGeom prst="rect">
            <a:avLst/>
          </a:prstGeom>
          <a:solidFill>
            <a:srgbClr val="C99A5B"/>
          </a:solidFill>
          <a:ln w="12700">
            <a:solidFill>
              <a:srgbClr val="8A6A3A"/>
            </a:solidFill>
            <a:prstDash val="solid"/>
          </a:ln>
        </p:spPr>
      </p:sp>
      <p:sp>
        <p:nvSpPr>
          <p:cNvPr id="13" name="Shape 11"/>
          <p:cNvSpPr/>
          <p:nvPr/>
        </p:nvSpPr>
        <p:spPr>
          <a:xfrm>
            <a:off x="3429000" y="3429000"/>
            <a:ext cx="2240280" cy="91"/>
          </a:xfrm>
          <a:prstGeom prst="line">
            <a:avLst/>
          </a:prstGeom>
          <a:noFill/>
          <a:ln w="38100">
            <a:solidFill>
              <a:srgbClr val="8C7A5A"/>
            </a:solidFill>
            <a:prstDash val="solid"/>
          </a:ln>
        </p:spPr>
      </p:sp>
      <p:sp>
        <p:nvSpPr>
          <p:cNvPr id="14" name="Text 12"/>
          <p:cNvSpPr/>
          <p:nvPr/>
        </p:nvSpPr>
        <p:spPr>
          <a:xfrm>
            <a:off x="4846320" y="3136392"/>
            <a:ext cx="82296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rope</a:t>
            </a:r>
            <a:endParaRPr lang="en-US" sz="1050" dirty="0"/>
          </a:p>
        </p:txBody>
      </p:sp>
      <p:sp>
        <p:nvSpPr>
          <p:cNvPr id="15" name="Shape 13"/>
          <p:cNvSpPr/>
          <p:nvPr/>
        </p:nvSpPr>
        <p:spPr>
          <a:xfrm>
            <a:off x="2606040" y="2926080"/>
            <a:ext cx="822960" cy="640080"/>
          </a:xfrm>
          <a:prstGeom prst="rect">
            <a:avLst/>
          </a:prstGeom>
          <a:solidFill>
            <a:srgbClr val="E8C27A"/>
          </a:solidFill>
          <a:ln w="15875">
            <a:solidFill>
              <a:srgbClr val="8A6A3A"/>
            </a:solidFill>
            <a:prstDash val="solid"/>
          </a:ln>
        </p:spPr>
      </p:sp>
      <p:sp>
        <p:nvSpPr>
          <p:cNvPr id="16" name="Shape 14"/>
          <p:cNvSpPr/>
          <p:nvPr/>
        </p:nvSpPr>
        <p:spPr>
          <a:xfrm>
            <a:off x="3017520" y="3246120"/>
            <a:ext cx="91" cy="1463040"/>
          </a:xfrm>
          <a:prstGeom prst="line">
            <a:avLst/>
          </a:prstGeom>
          <a:noFill/>
          <a:ln w="38100">
            <a:solidFill>
              <a:srgbClr val="C8414C"/>
            </a:solidFill>
            <a:prstDash val="solid"/>
            <a:tailEnd type="triangle"/>
          </a:ln>
        </p:spPr>
      </p:sp>
      <p:sp>
        <p:nvSpPr>
          <p:cNvPr id="17" name="Text 15"/>
          <p:cNvSpPr/>
          <p:nvPr/>
        </p:nvSpPr>
        <p:spPr>
          <a:xfrm>
            <a:off x="3090672" y="4617720"/>
            <a:ext cx="1280160" cy="274320"/>
          </a:xfrm>
          <a:prstGeom prst="rect">
            <a:avLst/>
          </a:prstGeom>
          <a:noFill/>
          <a:ln/>
        </p:spPr>
        <p:txBody>
          <a:bodyPr wrap="square" lIns="0" tIns="0" rIns="0" bIns="0" rtlCol="0" anchor="ctr"/>
          <a:lstStyle/>
          <a:p>
            <a:pPr algn="ctr" indent="0" marL="0">
              <a:buNone/>
            </a:pPr>
            <a:r>
              <a:rPr lang="en-US" sz="1100" b="1" dirty="0">
                <a:solidFill>
                  <a:srgbClr val="C8414C"/>
                </a:solidFill>
                <a:latin typeface="Calibri" pitchFamily="34" charset="0"/>
                <a:ea typeface="Calibri" pitchFamily="34" charset="-122"/>
                <a:cs typeface="Calibri" pitchFamily="34" charset="-120"/>
              </a:rPr>
              <a:t>weight 20 N</a:t>
            </a:r>
            <a:endParaRPr lang="en-US" sz="1100" dirty="0"/>
          </a:p>
        </p:txBody>
      </p:sp>
      <p:sp>
        <p:nvSpPr>
          <p:cNvPr id="18" name="Shape 16"/>
          <p:cNvSpPr/>
          <p:nvPr/>
        </p:nvSpPr>
        <p:spPr>
          <a:xfrm flipV="1">
            <a:off x="3017520" y="1783080"/>
            <a:ext cx="91" cy="1463040"/>
          </a:xfrm>
          <a:prstGeom prst="line">
            <a:avLst/>
          </a:prstGeom>
          <a:noFill/>
          <a:ln w="38100">
            <a:solidFill>
              <a:srgbClr val="2E5BD8"/>
            </a:solidFill>
            <a:prstDash val="solid"/>
            <a:tailEnd type="triangle"/>
          </a:ln>
        </p:spPr>
      </p:sp>
      <p:sp>
        <p:nvSpPr>
          <p:cNvPr id="19" name="Text 17"/>
          <p:cNvSpPr/>
          <p:nvPr/>
        </p:nvSpPr>
        <p:spPr>
          <a:xfrm>
            <a:off x="1828800" y="1490472"/>
            <a:ext cx="2377440" cy="274320"/>
          </a:xfrm>
          <a:prstGeom prst="rect">
            <a:avLst/>
          </a:prstGeom>
          <a:noFill/>
          <a:ln/>
        </p:spPr>
        <p:txBody>
          <a:bodyPr wrap="square" lIns="0" tIns="0" rIns="0" bIns="0" rtlCol="0" anchor="ctr"/>
          <a:lstStyle/>
          <a:p>
            <a:pPr algn="ctr" indent="0" marL="0">
              <a:buNone/>
            </a:pPr>
            <a:r>
              <a:rPr lang="en-US" sz="1100" b="1" dirty="0">
                <a:solidFill>
                  <a:srgbClr val="2E5BD8"/>
                </a:solidFill>
                <a:latin typeface="Calibri" pitchFamily="34" charset="0"/>
                <a:ea typeface="Calibri" pitchFamily="34" charset="-122"/>
                <a:cs typeface="Calibri" pitchFamily="34" charset="-120"/>
              </a:rPr>
              <a:t>normal contact force 20 N</a:t>
            </a:r>
            <a:endParaRPr lang="en-US" sz="1100" dirty="0"/>
          </a:p>
        </p:txBody>
      </p:sp>
      <p:sp>
        <p:nvSpPr>
          <p:cNvPr id="20" name="Shape 18"/>
          <p:cNvSpPr/>
          <p:nvPr/>
        </p:nvSpPr>
        <p:spPr>
          <a:xfrm flipH="1">
            <a:off x="2139696" y="3246120"/>
            <a:ext cx="877824" cy="91"/>
          </a:xfrm>
          <a:prstGeom prst="line">
            <a:avLst/>
          </a:prstGeom>
          <a:noFill/>
          <a:ln w="38100">
            <a:solidFill>
              <a:srgbClr val="2E8B57"/>
            </a:solidFill>
            <a:prstDash val="solid"/>
            <a:tailEnd type="triangle"/>
          </a:ln>
        </p:spPr>
      </p:sp>
      <p:sp>
        <p:nvSpPr>
          <p:cNvPr id="21" name="Text 19"/>
          <p:cNvSpPr/>
          <p:nvPr/>
        </p:nvSpPr>
        <p:spPr>
          <a:xfrm>
            <a:off x="950976" y="3108960"/>
            <a:ext cx="1143000" cy="274320"/>
          </a:xfrm>
          <a:prstGeom prst="rect">
            <a:avLst/>
          </a:prstGeom>
          <a:noFill/>
          <a:ln/>
        </p:spPr>
        <p:txBody>
          <a:bodyPr wrap="square" lIns="0" tIns="0" rIns="0" bIns="0" rtlCol="0" anchor="ctr"/>
          <a:lstStyle/>
          <a:p>
            <a:pPr algn="r" indent="0" marL="0">
              <a:buNone/>
            </a:pPr>
            <a:r>
              <a:rPr lang="en-US" sz="1100" b="1" dirty="0">
                <a:solidFill>
                  <a:srgbClr val="2E8B57"/>
                </a:solidFill>
                <a:latin typeface="Calibri" pitchFamily="34" charset="0"/>
                <a:ea typeface="Calibri" pitchFamily="34" charset="-122"/>
                <a:cs typeface="Calibri" pitchFamily="34" charset="-120"/>
              </a:rPr>
              <a:t>friction 12 N</a:t>
            </a:r>
            <a:endParaRPr lang="en-US" sz="1100" dirty="0"/>
          </a:p>
        </p:txBody>
      </p:sp>
      <p:sp>
        <p:nvSpPr>
          <p:cNvPr id="22" name="Shape 20"/>
          <p:cNvSpPr/>
          <p:nvPr/>
        </p:nvSpPr>
        <p:spPr>
          <a:xfrm>
            <a:off x="3017520" y="3246120"/>
            <a:ext cx="877824" cy="91"/>
          </a:xfrm>
          <a:prstGeom prst="line">
            <a:avLst/>
          </a:prstGeom>
          <a:noFill/>
          <a:ln w="38100">
            <a:solidFill>
              <a:srgbClr val="B8730A"/>
            </a:solidFill>
            <a:prstDash val="solid"/>
            <a:tailEnd type="triangle"/>
          </a:ln>
        </p:spPr>
      </p:sp>
      <p:sp>
        <p:nvSpPr>
          <p:cNvPr id="23" name="Text 21"/>
          <p:cNvSpPr/>
          <p:nvPr/>
        </p:nvSpPr>
        <p:spPr>
          <a:xfrm>
            <a:off x="3941064" y="2971800"/>
            <a:ext cx="1097280" cy="256032"/>
          </a:xfrm>
          <a:prstGeom prst="rect">
            <a:avLst/>
          </a:prstGeom>
          <a:noFill/>
          <a:ln/>
        </p:spPr>
        <p:txBody>
          <a:bodyPr wrap="square" lIns="0" tIns="0" rIns="0" bIns="0" rtlCol="0" anchor="ctr"/>
          <a:lstStyle/>
          <a:p>
            <a:pPr algn="l" indent="0" marL="0">
              <a:buNone/>
            </a:pPr>
            <a:r>
              <a:rPr lang="en-US" sz="1100" b="1" dirty="0">
                <a:solidFill>
                  <a:srgbClr val="B8730A"/>
                </a:solidFill>
                <a:latin typeface="Calibri" pitchFamily="34" charset="0"/>
                <a:ea typeface="Calibri" pitchFamily="34" charset="-122"/>
                <a:cs typeface="Calibri" pitchFamily="34" charset="-120"/>
              </a:rPr>
              <a:t>tension 12 N</a:t>
            </a:r>
            <a:endParaRPr lang="en-US" sz="1100" dirty="0"/>
          </a:p>
        </p:txBody>
      </p:sp>
      <p:sp>
        <p:nvSpPr>
          <p:cNvPr id="24" name="Text 22"/>
          <p:cNvSpPr/>
          <p:nvPr/>
        </p:nvSpPr>
        <p:spPr>
          <a:xfrm>
            <a:off x="3200400" y="4114800"/>
            <a:ext cx="2011680" cy="256032"/>
          </a:xfrm>
          <a:prstGeom prst="rect">
            <a:avLst/>
          </a:prstGeom>
          <a:noFill/>
          <a:ln/>
        </p:spPr>
        <p:txBody>
          <a:bodyPr wrap="square" lIns="0" tIns="0" rIns="0" bIns="0" rtlCol="0" anchor="ctr"/>
          <a:lstStyle/>
          <a:p>
            <a:pPr algn="l" indent="0" marL="0">
              <a:buNone/>
            </a:pPr>
            <a:r>
              <a:rPr lang="en-US" sz="1050" i="1" dirty="0">
                <a:solidFill>
                  <a:srgbClr val="C8414C"/>
                </a:solidFill>
                <a:latin typeface="Calibri" pitchFamily="34" charset="0"/>
                <a:ea typeface="Calibri" pitchFamily="34" charset="-122"/>
                <a:cs typeface="Calibri" pitchFamily="34" charset="-120"/>
              </a:rPr>
              <a:t>weight is a non-contact force</a:t>
            </a:r>
            <a:endParaRPr lang="en-US" sz="1050" dirty="0"/>
          </a:p>
        </p:txBody>
      </p:sp>
      <p:sp>
        <p:nvSpPr>
          <p:cNvPr id="25" name="Shape 23"/>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26" name="Text 24"/>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Contact forces</a:t>
            </a:r>
            <a:endParaRPr lang="en-US" sz="1300" dirty="0"/>
          </a:p>
        </p:txBody>
      </p:sp>
      <p:sp>
        <p:nvSpPr>
          <p:cNvPr id="27" name="Text 25"/>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Normal contact force:</a:t>
            </a:r>
            <a:r>
              <a:rPr lang="en-US" sz="1150" dirty="0">
                <a:solidFill>
                  <a:srgbClr val="262B3A"/>
                </a:solidFill>
                <a:latin typeface="Calibri" pitchFamily="34" charset="0"/>
                <a:ea typeface="Calibri" pitchFamily="34" charset="-122"/>
                <a:cs typeface="Calibri" pitchFamily="34" charset="-120"/>
              </a:rPr>
              <a:t> a surface pushes back on an object resting on it, at 90° to the surface.</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Friction:</a:t>
            </a:r>
            <a:r>
              <a:rPr lang="en-US" sz="1150" dirty="0">
                <a:solidFill>
                  <a:srgbClr val="262B3A"/>
                </a:solidFill>
                <a:latin typeface="Calibri" pitchFamily="34" charset="0"/>
                <a:ea typeface="Calibri" pitchFamily="34" charset="-122"/>
                <a:cs typeface="Calibri" pitchFamily="34" charset="-120"/>
              </a:rPr>
              <a:t> acts along the surface, </a:t>
            </a:r>
            <a:r>
              <a:rPr lang="en-US" sz="1150" b="1" dirty="0">
                <a:solidFill>
                  <a:srgbClr val="262B3A"/>
                </a:solidFill>
                <a:latin typeface="Calibri" pitchFamily="34" charset="0"/>
                <a:ea typeface="Calibri" pitchFamily="34" charset="-122"/>
                <a:cs typeface="Calibri" pitchFamily="34" charset="-120"/>
              </a:rPr>
              <a:t>opposing</a:t>
            </a:r>
            <a:r>
              <a:rPr lang="en-US" sz="1150" dirty="0">
                <a:solidFill>
                  <a:srgbClr val="262B3A"/>
                </a:solidFill>
                <a:latin typeface="Calibri" pitchFamily="34" charset="0"/>
                <a:ea typeface="Calibri" pitchFamily="34" charset="-122"/>
                <a:cs typeface="Calibri" pitchFamily="34" charset="-120"/>
              </a:rPr>
              <a:t> sliding. Air resistance (drag) is friction from a fluid.</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Tension:</a:t>
            </a:r>
            <a:r>
              <a:rPr lang="en-US" sz="1150" dirty="0">
                <a:solidFill>
                  <a:srgbClr val="262B3A"/>
                </a:solidFill>
                <a:latin typeface="Calibri" pitchFamily="34" charset="0"/>
                <a:ea typeface="Calibri" pitchFamily="34" charset="-122"/>
                <a:cs typeface="Calibri" pitchFamily="34" charset="-120"/>
              </a:rPr>
              <a:t> the pull of a stretched rope, string or cable.</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Constant speed → forces </a:t>
            </a:r>
            <a:r>
              <a:rPr lang="en-US" sz="1150" b="1" dirty="0">
                <a:solidFill>
                  <a:srgbClr val="262B3A"/>
                </a:solidFill>
                <a:latin typeface="Calibri" pitchFamily="34" charset="0"/>
                <a:ea typeface="Calibri" pitchFamily="34" charset="-122"/>
                <a:cs typeface="Calibri" pitchFamily="34" charset="-120"/>
              </a:rPr>
              <a:t>balanced</a:t>
            </a:r>
            <a:r>
              <a:rPr lang="en-US" sz="1150" dirty="0">
                <a:solidFill>
                  <a:srgbClr val="262B3A"/>
                </a:solidFill>
                <a:latin typeface="Calibri" pitchFamily="34" charset="0"/>
                <a:ea typeface="Calibri" pitchFamily="34" charset="-122"/>
                <a:cs typeface="Calibri" pitchFamily="34" charset="-120"/>
              </a:rPr>
              <a:t>: tension = friction; normal force = weight.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Arrow </a:t>
            </a:r>
            <a:r>
              <a:rPr lang="en-US" sz="1150" b="1" dirty="0">
                <a:solidFill>
                  <a:srgbClr val="262B3A"/>
                </a:solidFill>
                <a:latin typeface="Calibri" pitchFamily="34" charset="0"/>
                <a:ea typeface="Calibri" pitchFamily="34" charset="-122"/>
                <a:cs typeface="Calibri" pitchFamily="34" charset="-120"/>
              </a:rPr>
              <a:t>length</a:t>
            </a:r>
            <a:r>
              <a:rPr lang="en-US" sz="1150" dirty="0">
                <a:solidFill>
                  <a:srgbClr val="262B3A"/>
                </a:solidFill>
                <a:latin typeface="Calibri" pitchFamily="34" charset="0"/>
                <a:ea typeface="Calibri" pitchFamily="34" charset="-122"/>
                <a:cs typeface="Calibri" pitchFamily="34" charset="-120"/>
              </a:rPr>
              <a:t> shows the </a:t>
            </a:r>
            <a:r>
              <a:rPr lang="en-US" sz="1150" b="1" dirty="0">
                <a:solidFill>
                  <a:srgbClr val="262B3A"/>
                </a:solidFill>
                <a:latin typeface="Calibri" pitchFamily="34" charset="0"/>
                <a:ea typeface="Calibri" pitchFamily="34" charset="-122"/>
                <a:cs typeface="Calibri" pitchFamily="34" charset="-120"/>
              </a:rPr>
              <a:t>size</a:t>
            </a:r>
            <a:r>
              <a:rPr lang="en-US" sz="1150" dirty="0">
                <a:solidFill>
                  <a:srgbClr val="262B3A"/>
                </a:solidFill>
                <a:latin typeface="Calibri" pitchFamily="34" charset="0"/>
                <a:ea typeface="Calibri" pitchFamily="34" charset="-122"/>
                <a:cs typeface="Calibri" pitchFamily="34" charset="-120"/>
              </a:rPr>
              <a:t> of each force.</a:t>
            </a:r>
            <a:endParaRPr lang="en-US" sz="1150" dirty="0"/>
          </a:p>
        </p:txBody>
      </p:sp>
      <p:sp>
        <p:nvSpPr>
          <p:cNvPr id="28" name="Shape 26"/>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29" name="Text 27"/>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Read the diagram</a:t>
            </a:r>
            <a:endParaRPr lang="en-US" sz="1300" dirty="0"/>
          </a:p>
        </p:txBody>
      </p:sp>
      <p:sp>
        <p:nvSpPr>
          <p:cNvPr id="30" name="Text 28"/>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The block is pulled at a steady speed.</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Vertical   </a:t>
            </a:r>
            <a:r>
              <a:rPr lang="en-US" sz="1050" dirty="0">
                <a:solidFill>
                  <a:srgbClr val="262B3A"/>
                </a:solidFill>
                <a:latin typeface="Calibri" pitchFamily="34" charset="0"/>
                <a:ea typeface="Calibri" pitchFamily="34" charset="-122"/>
                <a:cs typeface="Calibri" pitchFamily="34" charset="-120"/>
              </a:rPr>
              <a:t>normal 20 N up, weight 20 N down → balanced</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Horizontal   </a:t>
            </a:r>
            <a:r>
              <a:rPr lang="en-US" sz="1050" dirty="0">
                <a:solidFill>
                  <a:srgbClr val="262B3A"/>
                </a:solidFill>
                <a:latin typeface="Calibri" pitchFamily="34" charset="0"/>
                <a:ea typeface="Calibri" pitchFamily="34" charset="-122"/>
                <a:cs typeface="Calibri" pitchFamily="34" charset="-120"/>
              </a:rPr>
              <a:t>tension 12 N right, friction 12 N left → balanced</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Contact?   </a:t>
            </a:r>
            <a:r>
              <a:rPr lang="en-US" sz="1050" dirty="0">
                <a:solidFill>
                  <a:srgbClr val="262B3A"/>
                </a:solidFill>
                <a:latin typeface="Calibri" pitchFamily="34" charset="0"/>
                <a:ea typeface="Calibri" pitchFamily="34" charset="-122"/>
                <a:cs typeface="Calibri" pitchFamily="34" charset="-120"/>
              </a:rPr>
              <a:t>normal, friction, tension: contact; weight: non-contact</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resultant force = 0 N, so the speed stays constant</a:t>
            </a:r>
            <a:endParaRPr lang="en-US" sz="1050" dirty="0"/>
          </a:p>
        </p:txBody>
      </p:sp>
      <p:sp>
        <p:nvSpPr>
          <p:cNvPr id="31" name="Shape 29"/>
          <p:cNvSpPr/>
          <p:nvPr/>
        </p:nvSpPr>
        <p:spPr>
          <a:xfrm>
            <a:off x="411480" y="5833872"/>
            <a:ext cx="11368735" cy="530352"/>
          </a:xfrm>
          <a:prstGeom prst="rect">
            <a:avLst/>
          </a:prstGeom>
          <a:solidFill>
            <a:srgbClr val="FFF4E0"/>
          </a:solidFill>
          <a:ln w="6350">
            <a:solidFill>
              <a:srgbClr val="F1D9A8"/>
            </a:solidFill>
            <a:prstDash val="solid"/>
          </a:ln>
        </p:spPr>
      </p:sp>
      <p:sp>
        <p:nvSpPr>
          <p:cNvPr id="32" name="Shape 30"/>
          <p:cNvSpPr/>
          <p:nvPr/>
        </p:nvSpPr>
        <p:spPr>
          <a:xfrm>
            <a:off x="411480" y="5833872"/>
            <a:ext cx="82296" cy="530352"/>
          </a:xfrm>
          <a:prstGeom prst="rect">
            <a:avLst/>
          </a:prstGeom>
          <a:solidFill>
            <a:srgbClr val="E39A2F"/>
          </a:solidFill>
          <a:ln w="12700">
            <a:solidFill>
              <a:srgbClr val="E39A2F"/>
            </a:solidFill>
            <a:prstDash val="solid"/>
          </a:ln>
        </p:spPr>
      </p:sp>
      <p:sp>
        <p:nvSpPr>
          <p:cNvPr id="33" name="Text 31"/>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crate is pushed across the floor at a steady speed with a force of 25 N. What is the friction force on it? Explain.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Forces come in interaction pairs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9.1(c) • two objects, two equal and opposite forces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9 Forces and their effects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9.1  |  7</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 5 N book on a table: two interaction pairs (arrow lengths to scale)</a:t>
            </a:r>
            <a:endParaRPr lang="en-US" sz="1000" dirty="0"/>
          </a:p>
        </p:txBody>
      </p:sp>
      <p:sp>
        <p:nvSpPr>
          <p:cNvPr id="10" name="Shape 8"/>
          <p:cNvSpPr/>
          <p:nvPr/>
        </p:nvSpPr>
        <p:spPr>
          <a:xfrm>
            <a:off x="1097280" y="2011680"/>
            <a:ext cx="1463040" cy="365760"/>
          </a:xfrm>
          <a:prstGeom prst="rect">
            <a:avLst/>
          </a:prstGeom>
          <a:solidFill>
            <a:srgbClr val="6E8BC7"/>
          </a:solidFill>
          <a:ln w="12700">
            <a:solidFill>
              <a:srgbClr val="3A548A"/>
            </a:solidFill>
            <a:prstDash val="solid"/>
          </a:ln>
        </p:spPr>
      </p:sp>
      <p:sp>
        <p:nvSpPr>
          <p:cNvPr id="11" name="Text 9"/>
          <p:cNvSpPr/>
          <p:nvPr/>
        </p:nvSpPr>
        <p:spPr>
          <a:xfrm>
            <a:off x="1965960" y="2011680"/>
            <a:ext cx="54864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book</a:t>
            </a:r>
            <a:endParaRPr lang="en-US" sz="1050" dirty="0"/>
          </a:p>
        </p:txBody>
      </p:sp>
      <p:sp>
        <p:nvSpPr>
          <p:cNvPr id="12" name="Shape 10"/>
          <p:cNvSpPr/>
          <p:nvPr/>
        </p:nvSpPr>
        <p:spPr>
          <a:xfrm>
            <a:off x="731520" y="3200400"/>
            <a:ext cx="2286000" cy="137160"/>
          </a:xfrm>
          <a:prstGeom prst="rect">
            <a:avLst/>
          </a:prstGeom>
          <a:solidFill>
            <a:srgbClr val="C99A5B"/>
          </a:solidFill>
          <a:ln w="12700">
            <a:solidFill>
              <a:srgbClr val="8A6A3A"/>
            </a:solidFill>
            <a:prstDash val="solid"/>
          </a:ln>
        </p:spPr>
      </p:sp>
      <p:sp>
        <p:nvSpPr>
          <p:cNvPr id="13" name="Shape 11"/>
          <p:cNvSpPr/>
          <p:nvPr/>
        </p:nvSpPr>
        <p:spPr>
          <a:xfrm>
            <a:off x="822960" y="3337560"/>
            <a:ext cx="109728" cy="1280160"/>
          </a:xfrm>
          <a:prstGeom prst="rect">
            <a:avLst/>
          </a:prstGeom>
          <a:solidFill>
            <a:srgbClr val="C99A5B"/>
          </a:solidFill>
          <a:ln w="12700">
            <a:solidFill>
              <a:srgbClr val="8A6A3A"/>
            </a:solidFill>
            <a:prstDash val="solid"/>
          </a:ln>
        </p:spPr>
      </p:sp>
      <p:sp>
        <p:nvSpPr>
          <p:cNvPr id="14" name="Shape 12"/>
          <p:cNvSpPr/>
          <p:nvPr/>
        </p:nvSpPr>
        <p:spPr>
          <a:xfrm>
            <a:off x="2816352" y="3337560"/>
            <a:ext cx="109728" cy="1280160"/>
          </a:xfrm>
          <a:prstGeom prst="rect">
            <a:avLst/>
          </a:prstGeom>
          <a:solidFill>
            <a:srgbClr val="C99A5B"/>
          </a:solidFill>
          <a:ln w="12700">
            <a:solidFill>
              <a:srgbClr val="8A6A3A"/>
            </a:solidFill>
            <a:prstDash val="solid"/>
          </a:ln>
        </p:spPr>
      </p:sp>
      <p:sp>
        <p:nvSpPr>
          <p:cNvPr id="15" name="Text 13"/>
          <p:cNvSpPr/>
          <p:nvPr/>
        </p:nvSpPr>
        <p:spPr>
          <a:xfrm>
            <a:off x="2194560" y="2926080"/>
            <a:ext cx="822960" cy="256032"/>
          </a:xfrm>
          <a:prstGeom prst="rect">
            <a:avLst/>
          </a:prstGeom>
          <a:noFill/>
          <a:ln/>
        </p:spPr>
        <p:txBody>
          <a:bodyPr wrap="square" lIns="0" tIns="0" rIns="0" bIns="0" rtlCol="0" anchor="ctr"/>
          <a:lstStyle/>
          <a:p>
            <a:pPr algn="r" indent="0" marL="0">
              <a:buNone/>
            </a:pPr>
            <a:r>
              <a:rPr lang="en-US" sz="1050" i="1" dirty="0">
                <a:solidFill>
                  <a:srgbClr val="6B7385"/>
                </a:solidFill>
                <a:latin typeface="Calibri" pitchFamily="34" charset="0"/>
                <a:ea typeface="Calibri" pitchFamily="34" charset="-122"/>
                <a:cs typeface="Calibri" pitchFamily="34" charset="-120"/>
              </a:rPr>
              <a:t>table</a:t>
            </a:r>
            <a:endParaRPr lang="en-US" sz="1050" dirty="0"/>
          </a:p>
        </p:txBody>
      </p:sp>
      <p:sp>
        <p:nvSpPr>
          <p:cNvPr id="16" name="Shape 14"/>
          <p:cNvSpPr/>
          <p:nvPr/>
        </p:nvSpPr>
        <p:spPr>
          <a:xfrm>
            <a:off x="594360" y="4617720"/>
            <a:ext cx="5303520" cy="457200"/>
          </a:xfrm>
          <a:prstGeom prst="rect">
            <a:avLst/>
          </a:prstGeom>
          <a:solidFill>
            <a:srgbClr val="8DB36B"/>
          </a:solidFill>
          <a:ln w="12700">
            <a:solidFill>
              <a:srgbClr val="5F7F45"/>
            </a:solidFill>
            <a:prstDash val="solid"/>
          </a:ln>
        </p:spPr>
      </p:sp>
      <p:sp>
        <p:nvSpPr>
          <p:cNvPr id="17" name="Text 15"/>
          <p:cNvSpPr/>
          <p:nvPr/>
        </p:nvSpPr>
        <p:spPr>
          <a:xfrm>
            <a:off x="4206240" y="4617720"/>
            <a:ext cx="1645920"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Earth</a:t>
            </a:r>
            <a:endParaRPr lang="en-US" sz="1050" dirty="0"/>
          </a:p>
        </p:txBody>
      </p:sp>
      <p:sp>
        <p:nvSpPr>
          <p:cNvPr id="18" name="Shape 16"/>
          <p:cNvSpPr/>
          <p:nvPr/>
        </p:nvSpPr>
        <p:spPr>
          <a:xfrm>
            <a:off x="1371600" y="2194560"/>
            <a:ext cx="91" cy="822960"/>
          </a:xfrm>
          <a:prstGeom prst="line">
            <a:avLst/>
          </a:prstGeom>
          <a:noFill/>
          <a:ln w="38100">
            <a:solidFill>
              <a:srgbClr val="C8414C"/>
            </a:solidFill>
            <a:prstDash val="solid"/>
            <a:tailEnd type="triangle"/>
          </a:ln>
        </p:spPr>
      </p:sp>
      <p:sp>
        <p:nvSpPr>
          <p:cNvPr id="19" name="Shape 17"/>
          <p:cNvSpPr/>
          <p:nvPr/>
        </p:nvSpPr>
        <p:spPr>
          <a:xfrm flipV="1">
            <a:off x="1371600" y="3794760"/>
            <a:ext cx="91" cy="822960"/>
          </a:xfrm>
          <a:prstGeom prst="line">
            <a:avLst/>
          </a:prstGeom>
          <a:noFill/>
          <a:ln w="38100">
            <a:solidFill>
              <a:srgbClr val="C8414C"/>
            </a:solidFill>
            <a:prstDash val="solid"/>
            <a:tailEnd type="triangle"/>
          </a:ln>
        </p:spPr>
      </p:sp>
      <p:sp>
        <p:nvSpPr>
          <p:cNvPr id="20" name="Text 18"/>
          <p:cNvSpPr/>
          <p:nvPr/>
        </p:nvSpPr>
        <p:spPr>
          <a:xfrm>
            <a:off x="274320" y="2514600"/>
            <a:ext cx="1024128" cy="411480"/>
          </a:xfrm>
          <a:prstGeom prst="rect">
            <a:avLst/>
          </a:prstGeom>
          <a:noFill/>
          <a:ln/>
        </p:spPr>
        <p:txBody>
          <a:bodyPr wrap="square" lIns="0" tIns="0" rIns="0" bIns="0" rtlCol="0" anchor="ctr"/>
          <a:lstStyle/>
          <a:p>
            <a:pPr algn="r" indent="0" marL="0">
              <a:buNone/>
            </a:pPr>
            <a:r>
              <a:rPr lang="en-US" sz="1000" b="1" dirty="0">
                <a:solidFill>
                  <a:srgbClr val="C8414C"/>
                </a:solidFill>
                <a:latin typeface="Calibri" pitchFamily="34" charset="0"/>
                <a:ea typeface="Calibri" pitchFamily="34" charset="-122"/>
                <a:cs typeface="Calibri" pitchFamily="34" charset="-120"/>
              </a:rPr>
              <a:t>Earth pulls</a:t>
            </a:r>
            <a:endParaRPr lang="en-US" sz="1000" dirty="0"/>
          </a:p>
          <a:p>
            <a:pPr algn="r" indent="0" marL="0">
              <a:buNone/>
            </a:pPr>
            <a:r>
              <a:rPr lang="en-US" sz="1000" b="1" dirty="0">
                <a:solidFill>
                  <a:srgbClr val="C8414C"/>
                </a:solidFill>
                <a:latin typeface="Calibri" pitchFamily="34" charset="0"/>
                <a:ea typeface="Calibri" pitchFamily="34" charset="-122"/>
                <a:cs typeface="Calibri" pitchFamily="34" charset="-120"/>
              </a:rPr>
              <a:t>book 5 N</a:t>
            </a:r>
            <a:endParaRPr lang="en-US" sz="1000" dirty="0"/>
          </a:p>
        </p:txBody>
      </p:sp>
      <p:sp>
        <p:nvSpPr>
          <p:cNvPr id="21" name="Text 19"/>
          <p:cNvSpPr/>
          <p:nvPr/>
        </p:nvSpPr>
        <p:spPr>
          <a:xfrm>
            <a:off x="1463040" y="4160520"/>
            <a:ext cx="1188720" cy="411480"/>
          </a:xfrm>
          <a:prstGeom prst="rect">
            <a:avLst/>
          </a:prstGeom>
          <a:noFill/>
          <a:ln/>
        </p:spPr>
        <p:txBody>
          <a:bodyPr wrap="square" lIns="0" tIns="0" rIns="0" bIns="0" rtlCol="0" anchor="ctr"/>
          <a:lstStyle/>
          <a:p>
            <a:pPr algn="l" indent="0" marL="0">
              <a:buNone/>
            </a:pPr>
            <a:r>
              <a:rPr lang="en-US" sz="1000" b="1" dirty="0">
                <a:solidFill>
                  <a:srgbClr val="C8414C"/>
                </a:solidFill>
                <a:latin typeface="Calibri" pitchFamily="34" charset="0"/>
                <a:ea typeface="Calibri" pitchFamily="34" charset="-122"/>
                <a:cs typeface="Calibri" pitchFamily="34" charset="-120"/>
              </a:rPr>
              <a:t>book pulls</a:t>
            </a:r>
            <a:endParaRPr lang="en-US" sz="1000" dirty="0"/>
          </a:p>
          <a:p>
            <a:pPr algn="l" indent="0" marL="0">
              <a:buNone/>
            </a:pPr>
            <a:r>
              <a:rPr lang="en-US" sz="1000" b="1" dirty="0">
                <a:solidFill>
                  <a:srgbClr val="C8414C"/>
                </a:solidFill>
                <a:latin typeface="Calibri" pitchFamily="34" charset="0"/>
                <a:ea typeface="Calibri" pitchFamily="34" charset="-122"/>
                <a:cs typeface="Calibri" pitchFamily="34" charset="-120"/>
              </a:rPr>
              <a:t>Earth 5 N</a:t>
            </a:r>
            <a:endParaRPr lang="en-US" sz="1000" dirty="0"/>
          </a:p>
        </p:txBody>
      </p:sp>
      <p:sp>
        <p:nvSpPr>
          <p:cNvPr id="22" name="Shape 20"/>
          <p:cNvSpPr/>
          <p:nvPr/>
        </p:nvSpPr>
        <p:spPr>
          <a:xfrm flipV="1">
            <a:off x="1828800" y="1371600"/>
            <a:ext cx="91" cy="822960"/>
          </a:xfrm>
          <a:prstGeom prst="line">
            <a:avLst/>
          </a:prstGeom>
          <a:noFill/>
          <a:ln w="38100">
            <a:solidFill>
              <a:srgbClr val="2E5BD8"/>
            </a:solidFill>
            <a:prstDash val="solid"/>
            <a:tailEnd type="triangle"/>
          </a:ln>
        </p:spPr>
      </p:sp>
      <p:sp>
        <p:nvSpPr>
          <p:cNvPr id="23" name="Shape 21"/>
          <p:cNvSpPr/>
          <p:nvPr/>
        </p:nvSpPr>
        <p:spPr>
          <a:xfrm>
            <a:off x="1828800" y="3200400"/>
            <a:ext cx="91" cy="822960"/>
          </a:xfrm>
          <a:prstGeom prst="line">
            <a:avLst/>
          </a:prstGeom>
          <a:noFill/>
          <a:ln w="38100">
            <a:solidFill>
              <a:srgbClr val="2E5BD8"/>
            </a:solidFill>
            <a:prstDash val="solid"/>
            <a:tailEnd type="triangle"/>
          </a:ln>
        </p:spPr>
      </p:sp>
      <p:sp>
        <p:nvSpPr>
          <p:cNvPr id="24" name="Text 22"/>
          <p:cNvSpPr/>
          <p:nvPr/>
        </p:nvSpPr>
        <p:spPr>
          <a:xfrm>
            <a:off x="1920240" y="1325880"/>
            <a:ext cx="1280160" cy="411480"/>
          </a:xfrm>
          <a:prstGeom prst="rect">
            <a:avLst/>
          </a:prstGeom>
          <a:noFill/>
          <a:ln/>
        </p:spPr>
        <p:txBody>
          <a:bodyPr wrap="square" lIns="0" tIns="0" rIns="0" bIns="0" rtlCol="0" anchor="ctr"/>
          <a:lstStyle/>
          <a:p>
            <a:pPr algn="l" indent="0" marL="0">
              <a:buNone/>
            </a:pPr>
            <a:r>
              <a:rPr lang="en-US" sz="1000" b="1" dirty="0">
                <a:solidFill>
                  <a:srgbClr val="2E5BD8"/>
                </a:solidFill>
                <a:latin typeface="Calibri" pitchFamily="34" charset="0"/>
                <a:ea typeface="Calibri" pitchFamily="34" charset="-122"/>
                <a:cs typeface="Calibri" pitchFamily="34" charset="-120"/>
              </a:rPr>
              <a:t>table pushes</a:t>
            </a:r>
            <a:endParaRPr lang="en-US" sz="1000" dirty="0"/>
          </a:p>
          <a:p>
            <a:pPr algn="l" indent="0" marL="0">
              <a:buNone/>
            </a:pPr>
            <a:r>
              <a:rPr lang="en-US" sz="1000" b="1" dirty="0">
                <a:solidFill>
                  <a:srgbClr val="2E5BD8"/>
                </a:solidFill>
                <a:latin typeface="Calibri" pitchFamily="34" charset="0"/>
                <a:ea typeface="Calibri" pitchFamily="34" charset="-122"/>
                <a:cs typeface="Calibri" pitchFamily="34" charset="-120"/>
              </a:rPr>
              <a:t>book 5 N</a:t>
            </a:r>
            <a:endParaRPr lang="en-US" sz="1000" dirty="0"/>
          </a:p>
        </p:txBody>
      </p:sp>
      <p:sp>
        <p:nvSpPr>
          <p:cNvPr id="25" name="Text 23"/>
          <p:cNvSpPr/>
          <p:nvPr/>
        </p:nvSpPr>
        <p:spPr>
          <a:xfrm>
            <a:off x="1920240" y="3520440"/>
            <a:ext cx="868680" cy="411480"/>
          </a:xfrm>
          <a:prstGeom prst="rect">
            <a:avLst/>
          </a:prstGeom>
          <a:noFill/>
          <a:ln/>
        </p:spPr>
        <p:txBody>
          <a:bodyPr wrap="square" lIns="0" tIns="0" rIns="0" bIns="0" rtlCol="0" anchor="ctr"/>
          <a:lstStyle/>
          <a:p>
            <a:pPr algn="l" indent="0" marL="0">
              <a:buNone/>
            </a:pPr>
            <a:r>
              <a:rPr lang="en-US" sz="1000" b="1" dirty="0">
                <a:solidFill>
                  <a:srgbClr val="2E5BD8"/>
                </a:solidFill>
                <a:latin typeface="Calibri" pitchFamily="34" charset="0"/>
                <a:ea typeface="Calibri" pitchFamily="34" charset="-122"/>
                <a:cs typeface="Calibri" pitchFamily="34" charset="-120"/>
              </a:rPr>
              <a:t>book pushes</a:t>
            </a:r>
            <a:endParaRPr lang="en-US" sz="1000" dirty="0"/>
          </a:p>
          <a:p>
            <a:pPr algn="l" indent="0" marL="0">
              <a:buNone/>
            </a:pPr>
            <a:r>
              <a:rPr lang="en-US" sz="1000" b="1" dirty="0">
                <a:solidFill>
                  <a:srgbClr val="2E5BD8"/>
                </a:solidFill>
                <a:latin typeface="Calibri" pitchFamily="34" charset="0"/>
                <a:ea typeface="Calibri" pitchFamily="34" charset="-122"/>
                <a:cs typeface="Calibri" pitchFamily="34" charset="-120"/>
              </a:rPr>
              <a:t>table 5 N</a:t>
            </a:r>
            <a:endParaRPr lang="en-US" sz="1000" dirty="0"/>
          </a:p>
        </p:txBody>
      </p:sp>
      <p:sp>
        <p:nvSpPr>
          <p:cNvPr id="26" name="Shape 24"/>
          <p:cNvSpPr/>
          <p:nvPr/>
        </p:nvSpPr>
        <p:spPr>
          <a:xfrm>
            <a:off x="3291840" y="1417320"/>
            <a:ext cx="2514600" cy="1097280"/>
          </a:xfrm>
          <a:prstGeom prst="roundRect">
            <a:avLst>
              <a:gd name="adj" fmla="val 4167"/>
            </a:avLst>
          </a:prstGeom>
          <a:solidFill>
            <a:srgbClr val="FFFFFF"/>
          </a:solidFill>
          <a:ln w="12700">
            <a:solidFill>
              <a:srgbClr val="C8414C"/>
            </a:solidFill>
            <a:prstDash val="solid"/>
          </a:ln>
        </p:spPr>
      </p:sp>
      <p:sp>
        <p:nvSpPr>
          <p:cNvPr id="27" name="Text 25"/>
          <p:cNvSpPr/>
          <p:nvPr/>
        </p:nvSpPr>
        <p:spPr>
          <a:xfrm>
            <a:off x="3383280" y="1463040"/>
            <a:ext cx="2331720" cy="1005840"/>
          </a:xfrm>
          <a:prstGeom prst="rect">
            <a:avLst/>
          </a:prstGeom>
          <a:noFill/>
          <a:ln/>
        </p:spPr>
        <p:txBody>
          <a:bodyPr wrap="square" lIns="0" tIns="0" rIns="0" bIns="0" rtlCol="0" anchor="t"/>
          <a:lstStyle/>
          <a:p>
            <a:pPr indent="0" marL="0">
              <a:buNone/>
            </a:pPr>
            <a:r>
              <a:rPr lang="en-US" sz="1050" b="1" dirty="0">
                <a:solidFill>
                  <a:srgbClr val="C8414C"/>
                </a:solidFill>
                <a:latin typeface="Calibri" pitchFamily="34" charset="0"/>
                <a:ea typeface="Calibri" pitchFamily="34" charset="-122"/>
                <a:cs typeface="Calibri" pitchFamily="34" charset="-120"/>
              </a:rPr>
              <a:t>Pair 1: gravitational</a:t>
            </a:r>
            <a:endParaRPr lang="en-US" sz="1050" dirty="0"/>
          </a:p>
          <a:p>
            <a:pPr indent="0" marL="0">
              <a:buNone/>
            </a:pPr>
            <a:r>
              <a:rPr lang="en-US" sz="1050" dirty="0">
                <a:solidFill>
                  <a:srgbClr val="262B3A"/>
                </a:solidFill>
                <a:latin typeface="Calibri" pitchFamily="34" charset="0"/>
                <a:ea typeface="Calibri" pitchFamily="34" charset="-122"/>
                <a:cs typeface="Calibri" pitchFamily="34" charset="-120"/>
              </a:rPr>
              <a:t>Earth on book, book on Earth. Same size, opposite directions, on different objects.</a:t>
            </a:r>
            <a:endParaRPr lang="en-US" sz="1050" dirty="0"/>
          </a:p>
        </p:txBody>
      </p:sp>
      <p:sp>
        <p:nvSpPr>
          <p:cNvPr id="28" name="Shape 26"/>
          <p:cNvSpPr/>
          <p:nvPr/>
        </p:nvSpPr>
        <p:spPr>
          <a:xfrm>
            <a:off x="3291840" y="2743200"/>
            <a:ext cx="2514600" cy="1097280"/>
          </a:xfrm>
          <a:prstGeom prst="roundRect">
            <a:avLst>
              <a:gd name="adj" fmla="val 4167"/>
            </a:avLst>
          </a:prstGeom>
          <a:solidFill>
            <a:srgbClr val="FFFFFF"/>
          </a:solidFill>
          <a:ln w="12700">
            <a:solidFill>
              <a:srgbClr val="2E5BD8"/>
            </a:solidFill>
            <a:prstDash val="solid"/>
          </a:ln>
        </p:spPr>
      </p:sp>
      <p:sp>
        <p:nvSpPr>
          <p:cNvPr id="29" name="Text 27"/>
          <p:cNvSpPr/>
          <p:nvPr/>
        </p:nvSpPr>
        <p:spPr>
          <a:xfrm>
            <a:off x="3383280" y="2788920"/>
            <a:ext cx="2331720" cy="1005840"/>
          </a:xfrm>
          <a:prstGeom prst="rect">
            <a:avLst/>
          </a:prstGeom>
          <a:noFill/>
          <a:ln/>
        </p:spPr>
        <p:txBody>
          <a:bodyPr wrap="square" lIns="0" tIns="0" rIns="0" bIns="0" rtlCol="0" anchor="t"/>
          <a:lstStyle/>
          <a:p>
            <a:pPr indent="0" marL="0">
              <a:buNone/>
            </a:pPr>
            <a:r>
              <a:rPr lang="en-US" sz="1050" b="1" dirty="0">
                <a:solidFill>
                  <a:srgbClr val="2E5BD8"/>
                </a:solidFill>
                <a:latin typeface="Calibri" pitchFamily="34" charset="0"/>
                <a:ea typeface="Calibri" pitchFamily="34" charset="-122"/>
                <a:cs typeface="Calibri" pitchFamily="34" charset="-120"/>
              </a:rPr>
              <a:t>Pair 2: contact</a:t>
            </a:r>
            <a:endParaRPr lang="en-US" sz="1050" dirty="0"/>
          </a:p>
          <a:p>
            <a:pPr indent="0" marL="0">
              <a:buNone/>
            </a:pPr>
            <a:r>
              <a:rPr lang="en-US" sz="1050" dirty="0">
                <a:solidFill>
                  <a:srgbClr val="262B3A"/>
                </a:solidFill>
                <a:latin typeface="Calibri" pitchFamily="34" charset="0"/>
                <a:ea typeface="Calibri" pitchFamily="34" charset="-122"/>
                <a:cs typeface="Calibri" pitchFamily="34" charset="-120"/>
              </a:rPr>
              <a:t>Table on book, book on table. Both are normal contact forces.</a:t>
            </a:r>
            <a:endParaRPr lang="en-US" sz="1050" dirty="0"/>
          </a:p>
        </p:txBody>
      </p:sp>
      <p:sp>
        <p:nvSpPr>
          <p:cNvPr id="30" name="Shape 28"/>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31" name="Text 29"/>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Interaction pairs (Newton’s third law)</a:t>
            </a:r>
            <a:endParaRPr lang="en-US" sz="1300" dirty="0"/>
          </a:p>
        </p:txBody>
      </p:sp>
      <p:sp>
        <p:nvSpPr>
          <p:cNvPr id="32" name="Text 30"/>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When two objects interact, they exert forces on </a:t>
            </a:r>
            <a:r>
              <a:rPr lang="en-US" sz="1150" b="1" dirty="0">
                <a:solidFill>
                  <a:srgbClr val="262B3A"/>
                </a:solidFill>
                <a:latin typeface="Calibri" pitchFamily="34" charset="0"/>
                <a:ea typeface="Calibri" pitchFamily="34" charset="-122"/>
                <a:cs typeface="Calibri" pitchFamily="34" charset="-120"/>
              </a:rPr>
              <a:t>each other</a:t>
            </a:r>
            <a:r>
              <a:rPr lang="en-US" sz="1150" dirty="0">
                <a:solidFill>
                  <a:srgbClr val="262B3A"/>
                </a:solidFill>
                <a:latin typeface="Calibri" pitchFamily="34" charset="0"/>
                <a:ea typeface="Calibri" pitchFamily="34" charset="-122"/>
                <a:cs typeface="Calibri" pitchFamily="34" charset="-120"/>
              </a:rPr>
              <a:t>: an </a:t>
            </a:r>
            <a:r>
              <a:rPr lang="en-US" sz="1150" b="1" dirty="0">
                <a:solidFill>
                  <a:srgbClr val="262B3A"/>
                </a:solidFill>
                <a:latin typeface="Calibri" pitchFamily="34" charset="0"/>
                <a:ea typeface="Calibri" pitchFamily="34" charset="-122"/>
                <a:cs typeface="Calibri" pitchFamily="34" charset="-120"/>
              </a:rPr>
              <a:t>interaction pair</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two forces are </a:t>
            </a:r>
            <a:r>
              <a:rPr lang="en-US" sz="1150" b="1" dirty="0">
                <a:solidFill>
                  <a:srgbClr val="262B3A"/>
                </a:solidFill>
                <a:latin typeface="Calibri" pitchFamily="34" charset="0"/>
                <a:ea typeface="Calibri" pitchFamily="34" charset="-122"/>
                <a:cs typeface="Calibri" pitchFamily="34" charset="-120"/>
              </a:rPr>
              <a:t>equal in size</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opposite in direction</a:t>
            </a:r>
            <a:r>
              <a:rPr lang="en-US" sz="1150" dirty="0">
                <a:solidFill>
                  <a:srgbClr val="262B3A"/>
                </a:solidFill>
                <a:latin typeface="Calibri" pitchFamily="34" charset="0"/>
                <a:ea typeface="Calibri" pitchFamily="34" charset="-122"/>
                <a:cs typeface="Calibri" pitchFamily="34" charset="-120"/>
              </a:rPr>
              <a:t> and the </a:t>
            </a:r>
            <a:r>
              <a:rPr lang="en-US" sz="1150" b="1" dirty="0">
                <a:solidFill>
                  <a:srgbClr val="262B3A"/>
                </a:solidFill>
                <a:latin typeface="Calibri" pitchFamily="34" charset="0"/>
                <a:ea typeface="Calibri" pitchFamily="34" charset="-122"/>
                <a:cs typeface="Calibri" pitchFamily="34" charset="-120"/>
              </a:rPr>
              <a:t>same type</a:t>
            </a:r>
            <a:r>
              <a:rPr lang="en-US" sz="1150" dirty="0">
                <a:solidFill>
                  <a:srgbClr val="262B3A"/>
                </a:solidFill>
                <a:latin typeface="Calibri" pitchFamily="34" charset="0"/>
                <a:ea typeface="Calibri" pitchFamily="34" charset="-122"/>
                <a:cs typeface="Calibri" pitchFamily="34" charset="-120"/>
              </a:rPr>
              <a:t> of force.</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They act on </a:t>
            </a:r>
            <a:r>
              <a:rPr lang="en-US" sz="1150" b="1" dirty="0">
                <a:solidFill>
                  <a:srgbClr val="262B3A"/>
                </a:solidFill>
                <a:latin typeface="Calibri" pitchFamily="34" charset="0"/>
                <a:ea typeface="Calibri" pitchFamily="34" charset="-122"/>
                <a:cs typeface="Calibri" pitchFamily="34" charset="-120"/>
              </a:rPr>
              <a:t>different objects</a:t>
            </a:r>
            <a:r>
              <a:rPr lang="en-US" sz="1150" dirty="0">
                <a:solidFill>
                  <a:srgbClr val="262B3A"/>
                </a:solidFill>
                <a:latin typeface="Calibri" pitchFamily="34" charset="0"/>
                <a:ea typeface="Calibri" pitchFamily="34" charset="-122"/>
                <a:cs typeface="Calibri" pitchFamily="34" charset="-120"/>
              </a:rPr>
              <a:t>, so they never cancel each other out.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Each force has a size and a direction, so it can be drawn as a </a:t>
            </a:r>
            <a:r>
              <a:rPr lang="en-US" sz="1150" b="1" dirty="0">
                <a:solidFill>
                  <a:srgbClr val="262B3A"/>
                </a:solidFill>
                <a:latin typeface="Calibri" pitchFamily="34" charset="0"/>
                <a:ea typeface="Calibri" pitchFamily="34" charset="-122"/>
                <a:cs typeface="Calibri" pitchFamily="34" charset="-120"/>
              </a:rPr>
              <a:t>vector</a:t>
            </a:r>
            <a:r>
              <a:rPr lang="en-US" sz="1150" dirty="0">
                <a:solidFill>
                  <a:srgbClr val="262B3A"/>
                </a:solidFill>
                <a:latin typeface="Calibri" pitchFamily="34" charset="0"/>
                <a:ea typeface="Calibri" pitchFamily="34" charset="-122"/>
                <a:cs typeface="Calibri" pitchFamily="34" charset="-120"/>
              </a:rPr>
              <a:t> arrow.</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Weight and the normal force on the book are </a:t>
            </a:r>
            <a:r>
              <a:rPr lang="en-US" sz="1150" b="1" dirty="0">
                <a:solidFill>
                  <a:srgbClr val="262B3A"/>
                </a:solidFill>
                <a:latin typeface="Calibri" pitchFamily="34" charset="0"/>
                <a:ea typeface="Calibri" pitchFamily="34" charset="-122"/>
                <a:cs typeface="Calibri" pitchFamily="34" charset="-120"/>
              </a:rPr>
              <a:t>not</a:t>
            </a:r>
            <a:r>
              <a:rPr lang="en-US" sz="1150" dirty="0">
                <a:solidFill>
                  <a:srgbClr val="262B3A"/>
                </a:solidFill>
                <a:latin typeface="Calibri" pitchFamily="34" charset="0"/>
                <a:ea typeface="Calibri" pitchFamily="34" charset="-122"/>
                <a:cs typeface="Calibri" pitchFamily="34" charset="-120"/>
              </a:rPr>
              <a:t> a pair: both act on the book.</a:t>
            </a:r>
            <a:endParaRPr lang="en-US" sz="1150" dirty="0"/>
          </a:p>
        </p:txBody>
      </p:sp>
      <p:sp>
        <p:nvSpPr>
          <p:cNvPr id="33" name="Shape 31"/>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34" name="Text 32"/>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Spot the pair</a:t>
            </a:r>
            <a:endParaRPr lang="en-US" sz="1300" dirty="0"/>
          </a:p>
        </p:txBody>
      </p:sp>
      <p:sp>
        <p:nvSpPr>
          <p:cNvPr id="35" name="Text 33"/>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A footballer kicks a ball with a force of 300 N.</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Force 1   </a:t>
            </a:r>
            <a:r>
              <a:rPr lang="en-US" sz="1100" dirty="0">
                <a:solidFill>
                  <a:srgbClr val="262B3A"/>
                </a:solidFill>
                <a:latin typeface="Calibri" pitchFamily="34" charset="0"/>
                <a:ea typeface="Calibri" pitchFamily="34" charset="-122"/>
                <a:cs typeface="Calibri" pitchFamily="34" charset="-120"/>
              </a:rPr>
              <a:t>foot pushes ball forwards, 300 N</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Force 2   </a:t>
            </a:r>
            <a:r>
              <a:rPr lang="en-US" sz="1100" dirty="0">
                <a:solidFill>
                  <a:srgbClr val="262B3A"/>
                </a:solidFill>
                <a:latin typeface="Calibri" pitchFamily="34" charset="0"/>
                <a:ea typeface="Calibri" pitchFamily="34" charset="-122"/>
                <a:cs typeface="Calibri" pitchFamily="34" charset="-120"/>
              </a:rPr>
              <a:t>ball pushes foot backwards</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Size   </a:t>
            </a:r>
            <a:r>
              <a:rPr lang="en-US" sz="1100" dirty="0">
                <a:solidFill>
                  <a:srgbClr val="262B3A"/>
                </a:solidFill>
                <a:latin typeface="Calibri" pitchFamily="34" charset="0"/>
                <a:ea typeface="Calibri" pitchFamily="34" charset="-122"/>
                <a:cs typeface="Calibri" pitchFamily="34" charset="-120"/>
              </a:rPr>
              <a:t>equal: 300 N</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pair: 300 N on the ball and 300 N on the foot</a:t>
            </a:r>
            <a:endParaRPr lang="en-US" sz="1100" dirty="0"/>
          </a:p>
        </p:txBody>
      </p:sp>
      <p:sp>
        <p:nvSpPr>
          <p:cNvPr id="36" name="Shape 34"/>
          <p:cNvSpPr/>
          <p:nvPr/>
        </p:nvSpPr>
        <p:spPr>
          <a:xfrm>
            <a:off x="411480" y="5833872"/>
            <a:ext cx="11368735" cy="530352"/>
          </a:xfrm>
          <a:prstGeom prst="rect">
            <a:avLst/>
          </a:prstGeom>
          <a:solidFill>
            <a:srgbClr val="FFF4E0"/>
          </a:solidFill>
          <a:ln w="6350">
            <a:solidFill>
              <a:srgbClr val="F1D9A8"/>
            </a:solidFill>
            <a:prstDash val="solid"/>
          </a:ln>
        </p:spPr>
      </p:sp>
      <p:sp>
        <p:nvSpPr>
          <p:cNvPr id="37" name="Shape 35"/>
          <p:cNvSpPr/>
          <p:nvPr/>
        </p:nvSpPr>
        <p:spPr>
          <a:xfrm>
            <a:off x="411480" y="5833872"/>
            <a:ext cx="82296" cy="530352"/>
          </a:xfrm>
          <a:prstGeom prst="rect">
            <a:avLst/>
          </a:prstGeom>
          <a:solidFill>
            <a:srgbClr val="E39A2F"/>
          </a:solidFill>
          <a:ln w="12700">
            <a:solidFill>
              <a:srgbClr val="E39A2F"/>
            </a:solidFill>
            <a:prstDash val="solid"/>
          </a:ln>
        </p:spPr>
      </p:sp>
      <p:sp>
        <p:nvSpPr>
          <p:cNvPr id="38" name="Text 36"/>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swimmer pushes the water backwards with a force of 80 N. Describe the other force in this interaction pair.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1</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9.1 • non-contact forces, contact forces and interaction pairs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9 Forces and their effects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1  |  8</a:t>
            </a:r>
            <a:endParaRPr lang="en-US" sz="1000" dirty="0"/>
          </a:p>
        </p:txBody>
      </p:sp>
      <p:sp>
        <p:nvSpPr>
          <p:cNvPr id="8" name="Shape 6"/>
          <p:cNvSpPr/>
          <p:nvPr/>
        </p:nvSpPr>
        <p:spPr>
          <a:xfrm>
            <a:off x="411480" y="1207008"/>
            <a:ext cx="11368735" cy="1594104"/>
          </a:xfrm>
          <a:prstGeom prst="roundRect">
            <a:avLst>
              <a:gd name="adj" fmla="val 2868"/>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non-contact forces and the field involved in each.</a:t>
            </a:r>
            <a:endParaRPr lang="en-US" sz="1250" dirty="0"/>
          </a:p>
        </p:txBody>
      </p:sp>
      <p:sp>
        <p:nvSpPr>
          <p:cNvPr id="12" name="Text 10"/>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947416"/>
            <a:ext cx="11368735" cy="1594104"/>
          </a:xfrm>
          <a:prstGeom prst="roundRect">
            <a:avLst>
              <a:gd name="adj" fmla="val 2868"/>
            </a:avLst>
          </a:prstGeom>
          <a:solidFill>
            <a:srgbClr val="FFFFFF"/>
          </a:solidFill>
          <a:ln w="12700">
            <a:solidFill>
              <a:srgbClr val="D5DCEB"/>
            </a:solidFill>
            <a:prstDash val="solid"/>
          </a:ln>
        </p:spPr>
      </p:sp>
      <p:sp>
        <p:nvSpPr>
          <p:cNvPr id="14" name="Shape 12"/>
          <p:cNvSpPr/>
          <p:nvPr/>
        </p:nvSpPr>
        <p:spPr>
          <a:xfrm>
            <a:off x="411480" y="2947416"/>
            <a:ext cx="2103120" cy="292608"/>
          </a:xfrm>
          <a:prstGeom prst="rect">
            <a:avLst/>
          </a:prstGeom>
          <a:solidFill>
            <a:srgbClr val="F5A742"/>
          </a:solidFill>
          <a:ln w="12700">
            <a:solidFill>
              <a:srgbClr val="F5A742"/>
            </a:solidFill>
            <a:prstDash val="solid"/>
          </a:ln>
        </p:spPr>
      </p:sp>
      <p:sp>
        <p:nvSpPr>
          <p:cNvPr id="15" name="Text 13"/>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magnet pulls an iron nail to the left with a force of </a:t>
            </a:r>
            <a:r>
              <a:rPr lang="en-US" sz="1250" b="1" dirty="0">
                <a:solidFill>
                  <a:srgbClr val="262B3A"/>
                </a:solidFill>
                <a:latin typeface="Calibri" pitchFamily="34" charset="0"/>
                <a:ea typeface="Calibri" pitchFamily="34" charset="-122"/>
                <a:cs typeface="Calibri" pitchFamily="34" charset="-120"/>
              </a:rPr>
              <a:t>0.4 N</a:t>
            </a:r>
            <a:r>
              <a:rPr lang="en-US" sz="1250" dirty="0">
                <a:solidFill>
                  <a:srgbClr val="262B3A"/>
                </a:solidFill>
                <a:latin typeface="Calibri" pitchFamily="34" charset="0"/>
                <a:ea typeface="Calibri" pitchFamily="34" charset="-122"/>
                <a:cs typeface="Calibri" pitchFamily="34" charset="-120"/>
              </a:rPr>
              <a:t>. Describe the other force in the interaction pair.</a:t>
            </a:r>
            <a:endParaRPr lang="en-US" sz="1250" dirty="0"/>
          </a:p>
        </p:txBody>
      </p:sp>
      <p:sp>
        <p:nvSpPr>
          <p:cNvPr id="17" name="Text 15"/>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4687824"/>
            <a:ext cx="11368735" cy="1594104"/>
          </a:xfrm>
          <a:prstGeom prst="roundRect">
            <a:avLst>
              <a:gd name="adj" fmla="val 2868"/>
            </a:avLst>
          </a:prstGeom>
          <a:solidFill>
            <a:srgbClr val="FFFFFF"/>
          </a:solidFill>
          <a:ln w="12700">
            <a:solidFill>
              <a:srgbClr val="D5DCEB"/>
            </a:solidFill>
            <a:prstDash val="solid"/>
          </a:ln>
        </p:spPr>
      </p:sp>
      <p:sp>
        <p:nvSpPr>
          <p:cNvPr id="19" name="Shape 17"/>
          <p:cNvSpPr/>
          <p:nvPr/>
        </p:nvSpPr>
        <p:spPr>
          <a:xfrm>
            <a:off x="411480" y="4687824"/>
            <a:ext cx="2103120" cy="292608"/>
          </a:xfrm>
          <a:prstGeom prst="rect">
            <a:avLst/>
          </a:prstGeom>
          <a:solidFill>
            <a:srgbClr val="F5A742"/>
          </a:solidFill>
          <a:ln w="12700">
            <a:solidFill>
              <a:srgbClr val="F5A742"/>
            </a:solidFill>
            <a:prstDash val="solid"/>
          </a:ln>
        </p:spPr>
      </p:sp>
      <p:sp>
        <p:nvSpPr>
          <p:cNvPr id="20" name="Text 18"/>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5053584"/>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book rests on a table. Its weight and the normal contact force on it are equal and opposite. Explain why they are </a:t>
            </a:r>
            <a:r>
              <a:rPr lang="en-US" sz="1250" b="1" dirty="0">
                <a:solidFill>
                  <a:srgbClr val="262B3A"/>
                </a:solidFill>
                <a:latin typeface="Calibri" pitchFamily="34" charset="0"/>
                <a:ea typeface="Calibri" pitchFamily="34" charset="-122"/>
                <a:cs typeface="Calibri" pitchFamily="34" charset="-120"/>
              </a:rPr>
              <a:t>not</a:t>
            </a:r>
            <a:r>
              <a:rPr lang="en-US" sz="1250" dirty="0">
                <a:solidFill>
                  <a:srgbClr val="262B3A"/>
                </a:solidFill>
                <a:latin typeface="Calibri" pitchFamily="34" charset="0"/>
                <a:ea typeface="Calibri" pitchFamily="34" charset="-122"/>
                <a:cs typeface="Calibri" pitchFamily="34" charset="-120"/>
              </a:rPr>
              <a:t> an interaction pair.</a:t>
            </a:r>
            <a:endParaRPr lang="en-US" sz="1250" dirty="0"/>
          </a:p>
        </p:txBody>
      </p:sp>
      <p:sp>
        <p:nvSpPr>
          <p:cNvPr id="22" name="Text 20"/>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Vector and scalar quantities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9.2 • size only, or size and direction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9 Forces and their effects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9.2  |  9</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two cars with the same speed but different velocities</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85800" y="1371600"/>
          <a:ext cx="5029200" cy="914400"/>
        </p:xfrm>
        <a:graphic>
          <a:graphicData uri="http://schemas.openxmlformats.org/drawingml/2006/table">
            <a:tbl>
              <a:tblPr/>
              <a:tblGrid>
                <a:gridCol w="2514600"/>
                <a:gridCol w="2514600"/>
              </a:tblGrid>
              <a:tr h="310896">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Scalar (size only)</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Vector (size and direction)</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r>
              <a:tr h="310896">
                <a:tc>
                  <a:txBody>
                    <a:bodyPr/>
                    <a:lstStyle/>
                    <a:p>
                      <a:pPr algn="ctr" indent="0" marL="0">
                        <a:buNone/>
                      </a:pPr>
                      <a:r>
                        <a:rPr lang="en-US" sz="1200" dirty="0">
                          <a:solidFill>
                            <a:srgbClr val="262B3A"/>
                          </a:solidFill>
                          <a:latin typeface="Calibri" pitchFamily="34" charset="0"/>
                          <a:ea typeface="Calibri" pitchFamily="34" charset="-122"/>
                          <a:cs typeface="Calibri" pitchFamily="34" charset="-120"/>
                        </a:rPr>
                        <a:t>distance</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B3A"/>
                          </a:solidFill>
                          <a:latin typeface="Calibri" pitchFamily="34" charset="0"/>
                          <a:ea typeface="Calibri" pitchFamily="34" charset="-122"/>
                          <a:cs typeface="Calibri" pitchFamily="34" charset="-120"/>
                        </a:rPr>
                        <a:t>displacement</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310896">
                <a:tc>
                  <a:txBody>
                    <a:bodyPr/>
                    <a:lstStyle/>
                    <a:p>
                      <a:pPr algn="ctr" indent="0" marL="0">
                        <a:buNone/>
                      </a:pPr>
                      <a:r>
                        <a:rPr lang="en-US" sz="1200" dirty="0">
                          <a:solidFill>
                            <a:srgbClr val="262B3A"/>
                          </a:solidFill>
                          <a:latin typeface="Calibri" pitchFamily="34" charset="0"/>
                          <a:ea typeface="Calibri" pitchFamily="34" charset="-122"/>
                          <a:cs typeface="Calibri" pitchFamily="34" charset="-120"/>
                        </a:rPr>
                        <a:t>speed</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200" dirty="0">
                          <a:solidFill>
                            <a:srgbClr val="262B3A"/>
                          </a:solidFill>
                          <a:latin typeface="Calibri" pitchFamily="34" charset="0"/>
                          <a:ea typeface="Calibri" pitchFamily="34" charset="-122"/>
                          <a:cs typeface="Calibri" pitchFamily="34" charset="-120"/>
                        </a:rPr>
                        <a:t>velocity</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310896">
                <a:tc>
                  <a:txBody>
                    <a:bodyPr/>
                    <a:lstStyle/>
                    <a:p>
                      <a:pPr algn="ctr" indent="0" marL="0">
                        <a:buNone/>
                      </a:pPr>
                      <a:r>
                        <a:rPr lang="en-US" sz="1200" dirty="0">
                          <a:solidFill>
                            <a:srgbClr val="262B3A"/>
                          </a:solidFill>
                          <a:latin typeface="Calibri" pitchFamily="34" charset="0"/>
                          <a:ea typeface="Calibri" pitchFamily="34" charset="-122"/>
                          <a:cs typeface="Calibri" pitchFamily="34" charset="-120"/>
                        </a:rPr>
                        <a:t>mass</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B3A"/>
                          </a:solidFill>
                          <a:latin typeface="Calibri" pitchFamily="34" charset="0"/>
                          <a:ea typeface="Calibri" pitchFamily="34" charset="-122"/>
                          <a:cs typeface="Calibri" pitchFamily="34" charset="-120"/>
                        </a:rPr>
                        <a:t>weight (a force)</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310896">
                <a:tc>
                  <a:txBody>
                    <a:bodyPr/>
                    <a:lstStyle/>
                    <a:p>
                      <a:pPr algn="ctr" indent="0" marL="0">
                        <a:buNone/>
                      </a:pPr>
                      <a:r>
                        <a:rPr lang="en-US" sz="1200" dirty="0">
                          <a:solidFill>
                            <a:srgbClr val="262B3A"/>
                          </a:solidFill>
                          <a:latin typeface="Calibri" pitchFamily="34" charset="0"/>
                          <a:ea typeface="Calibri" pitchFamily="34" charset="-122"/>
                          <a:cs typeface="Calibri" pitchFamily="34" charset="-120"/>
                        </a:rPr>
                        <a:t>energy</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200" dirty="0">
                          <a:solidFill>
                            <a:srgbClr val="262B3A"/>
                          </a:solidFill>
                          <a:latin typeface="Calibri" pitchFamily="34" charset="0"/>
                          <a:ea typeface="Calibri" pitchFamily="34" charset="-122"/>
                          <a:cs typeface="Calibri" pitchFamily="34" charset="-120"/>
                        </a:rPr>
                        <a:t>force</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310896">
                <a:tc>
                  <a:txBody>
                    <a:bodyPr/>
                    <a:lstStyle/>
                    <a:p>
                      <a:pPr algn="ctr" indent="0" marL="0">
                        <a:buNone/>
                      </a:pPr>
                      <a:r>
                        <a:rPr lang="en-US" sz="1200" dirty="0">
                          <a:solidFill>
                            <a:srgbClr val="262B3A"/>
                          </a:solidFill>
                          <a:latin typeface="Calibri" pitchFamily="34" charset="0"/>
                          <a:ea typeface="Calibri" pitchFamily="34" charset="-122"/>
                          <a:cs typeface="Calibri" pitchFamily="34" charset="-120"/>
                        </a:rPr>
                        <a:t>time</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B3A"/>
                          </a:solidFill>
                          <a:latin typeface="Calibri" pitchFamily="34" charset="0"/>
                          <a:ea typeface="Calibri" pitchFamily="34" charset="-122"/>
                          <a:cs typeface="Calibri" pitchFamily="34" charset="-120"/>
                        </a:rPr>
                        <a:t>acceleration</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310896">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200" dirty="0">
                          <a:solidFill>
                            <a:srgbClr val="262B3A"/>
                          </a:solidFill>
                          <a:latin typeface="Calibri" pitchFamily="34" charset="0"/>
                          <a:ea typeface="Calibri" pitchFamily="34" charset="-122"/>
                          <a:cs typeface="Calibri" pitchFamily="34" charset="-120"/>
                        </a:rPr>
                        <a:t>momentum</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bl>
          </a:graphicData>
        </a:graphic>
      </p:graphicFrame>
      <p:sp>
        <p:nvSpPr>
          <p:cNvPr id="11" name="Shape 8"/>
          <p:cNvSpPr/>
          <p:nvPr/>
        </p:nvSpPr>
        <p:spPr>
          <a:xfrm>
            <a:off x="1097280" y="4160520"/>
            <a:ext cx="914400" cy="329184"/>
          </a:xfrm>
          <a:prstGeom prst="roundRect">
            <a:avLst>
              <a:gd name="adj" fmla="val 22222"/>
            </a:avLst>
          </a:prstGeom>
          <a:solidFill>
            <a:srgbClr val="D9534F"/>
          </a:solidFill>
          <a:ln w="12700">
            <a:solidFill>
              <a:srgbClr val="333A4A"/>
            </a:solidFill>
            <a:prstDash val="solid"/>
          </a:ln>
        </p:spPr>
      </p:sp>
      <p:sp>
        <p:nvSpPr>
          <p:cNvPr id="12" name="Shape 9"/>
          <p:cNvSpPr/>
          <p:nvPr/>
        </p:nvSpPr>
        <p:spPr>
          <a:xfrm>
            <a:off x="1179576" y="4416552"/>
            <a:ext cx="201168" cy="201168"/>
          </a:xfrm>
          <a:prstGeom prst="ellipse">
            <a:avLst/>
          </a:prstGeom>
          <a:solidFill>
            <a:srgbClr val="333A4A"/>
          </a:solidFill>
          <a:ln w="12700">
            <a:solidFill>
              <a:srgbClr val="333A4A"/>
            </a:solidFill>
            <a:prstDash val="solid"/>
          </a:ln>
        </p:spPr>
      </p:sp>
      <p:sp>
        <p:nvSpPr>
          <p:cNvPr id="13" name="Shape 10"/>
          <p:cNvSpPr/>
          <p:nvPr/>
        </p:nvSpPr>
        <p:spPr>
          <a:xfrm>
            <a:off x="1728216" y="4416552"/>
            <a:ext cx="201168" cy="201168"/>
          </a:xfrm>
          <a:prstGeom prst="ellipse">
            <a:avLst/>
          </a:prstGeom>
          <a:solidFill>
            <a:srgbClr val="333A4A"/>
          </a:solidFill>
          <a:ln w="12700">
            <a:solidFill>
              <a:srgbClr val="333A4A"/>
            </a:solidFill>
            <a:prstDash val="solid"/>
          </a:ln>
        </p:spPr>
      </p:sp>
      <p:sp>
        <p:nvSpPr>
          <p:cNvPr id="14" name="Shape 11"/>
          <p:cNvSpPr/>
          <p:nvPr/>
        </p:nvSpPr>
        <p:spPr>
          <a:xfrm>
            <a:off x="2057400" y="4325112"/>
            <a:ext cx="914400" cy="91"/>
          </a:xfrm>
          <a:prstGeom prst="line">
            <a:avLst/>
          </a:prstGeom>
          <a:noFill/>
          <a:ln w="38100">
            <a:solidFill>
              <a:srgbClr val="2E5BD8"/>
            </a:solidFill>
            <a:prstDash val="solid"/>
            <a:tailEnd type="triangle"/>
          </a:ln>
        </p:spPr>
      </p:sp>
      <p:sp>
        <p:nvSpPr>
          <p:cNvPr id="15" name="Text 12"/>
          <p:cNvSpPr/>
          <p:nvPr/>
        </p:nvSpPr>
        <p:spPr>
          <a:xfrm>
            <a:off x="2057400" y="3931920"/>
            <a:ext cx="1280160" cy="256032"/>
          </a:xfrm>
          <a:prstGeom prst="rect">
            <a:avLst/>
          </a:prstGeom>
          <a:noFill/>
          <a:ln/>
        </p:spPr>
        <p:txBody>
          <a:bodyPr wrap="square" lIns="0" tIns="0" rIns="0" bIns="0" rtlCol="0" anchor="ctr"/>
          <a:lstStyle/>
          <a:p>
            <a:pPr algn="l" indent="0" marL="0">
              <a:buNone/>
            </a:pPr>
            <a:r>
              <a:rPr lang="en-US" sz="1100" b="1" dirty="0">
                <a:solidFill>
                  <a:srgbClr val="2E5BD8"/>
                </a:solidFill>
                <a:latin typeface="Calibri" pitchFamily="34" charset="0"/>
                <a:ea typeface="Calibri" pitchFamily="34" charset="-122"/>
                <a:cs typeface="Calibri" pitchFamily="34" charset="-120"/>
              </a:rPr>
              <a:t>+20 m/s</a:t>
            </a:r>
            <a:endParaRPr lang="en-US" sz="1100" dirty="0"/>
          </a:p>
        </p:txBody>
      </p:sp>
      <p:sp>
        <p:nvSpPr>
          <p:cNvPr id="16" name="Shape 13"/>
          <p:cNvSpPr/>
          <p:nvPr/>
        </p:nvSpPr>
        <p:spPr>
          <a:xfrm>
            <a:off x="4480560" y="4709160"/>
            <a:ext cx="914400" cy="329184"/>
          </a:xfrm>
          <a:prstGeom prst="roundRect">
            <a:avLst>
              <a:gd name="adj" fmla="val 22222"/>
            </a:avLst>
          </a:prstGeom>
          <a:solidFill>
            <a:srgbClr val="4F8FD6"/>
          </a:solidFill>
          <a:ln w="12700">
            <a:solidFill>
              <a:srgbClr val="333A4A"/>
            </a:solidFill>
            <a:prstDash val="solid"/>
          </a:ln>
        </p:spPr>
      </p:sp>
      <p:sp>
        <p:nvSpPr>
          <p:cNvPr id="17" name="Shape 14"/>
          <p:cNvSpPr/>
          <p:nvPr/>
        </p:nvSpPr>
        <p:spPr>
          <a:xfrm>
            <a:off x="4562856" y="4965192"/>
            <a:ext cx="201168" cy="201168"/>
          </a:xfrm>
          <a:prstGeom prst="ellipse">
            <a:avLst/>
          </a:prstGeom>
          <a:solidFill>
            <a:srgbClr val="333A4A"/>
          </a:solidFill>
          <a:ln w="12700">
            <a:solidFill>
              <a:srgbClr val="333A4A"/>
            </a:solidFill>
            <a:prstDash val="solid"/>
          </a:ln>
        </p:spPr>
      </p:sp>
      <p:sp>
        <p:nvSpPr>
          <p:cNvPr id="18" name="Shape 15"/>
          <p:cNvSpPr/>
          <p:nvPr/>
        </p:nvSpPr>
        <p:spPr>
          <a:xfrm>
            <a:off x="5111496" y="4965192"/>
            <a:ext cx="201168" cy="201168"/>
          </a:xfrm>
          <a:prstGeom prst="ellipse">
            <a:avLst/>
          </a:prstGeom>
          <a:solidFill>
            <a:srgbClr val="333A4A"/>
          </a:solidFill>
          <a:ln w="12700">
            <a:solidFill>
              <a:srgbClr val="333A4A"/>
            </a:solidFill>
            <a:prstDash val="solid"/>
          </a:ln>
        </p:spPr>
      </p:sp>
      <p:sp>
        <p:nvSpPr>
          <p:cNvPr id="19" name="Shape 16"/>
          <p:cNvSpPr/>
          <p:nvPr/>
        </p:nvSpPr>
        <p:spPr>
          <a:xfrm flipH="1">
            <a:off x="3520440" y="4873752"/>
            <a:ext cx="914400" cy="91"/>
          </a:xfrm>
          <a:prstGeom prst="line">
            <a:avLst/>
          </a:prstGeom>
          <a:noFill/>
          <a:ln w="38100">
            <a:solidFill>
              <a:srgbClr val="2E5BD8"/>
            </a:solidFill>
            <a:prstDash val="solid"/>
            <a:tailEnd type="triangle"/>
          </a:ln>
        </p:spPr>
      </p:sp>
      <p:sp>
        <p:nvSpPr>
          <p:cNvPr id="20" name="Text 17"/>
          <p:cNvSpPr/>
          <p:nvPr/>
        </p:nvSpPr>
        <p:spPr>
          <a:xfrm>
            <a:off x="3520440" y="4480560"/>
            <a:ext cx="914400" cy="256032"/>
          </a:xfrm>
          <a:prstGeom prst="rect">
            <a:avLst/>
          </a:prstGeom>
          <a:noFill/>
          <a:ln/>
        </p:spPr>
        <p:txBody>
          <a:bodyPr wrap="square" lIns="0" tIns="0" rIns="0" bIns="0" rtlCol="0" anchor="ctr"/>
          <a:lstStyle/>
          <a:p>
            <a:pPr algn="l" indent="0" marL="0">
              <a:buNone/>
            </a:pPr>
            <a:r>
              <a:rPr lang="en-US" sz="1100" b="1" dirty="0">
                <a:solidFill>
                  <a:srgbClr val="2E5BD8"/>
                </a:solidFill>
                <a:latin typeface="Calibri" pitchFamily="34" charset="0"/>
                <a:ea typeface="Calibri" pitchFamily="34" charset="-122"/>
                <a:cs typeface="Calibri" pitchFamily="34" charset="-120"/>
              </a:rPr>
              <a:t>−20 m/s</a:t>
            </a:r>
            <a:endParaRPr lang="en-US" sz="1100" dirty="0"/>
          </a:p>
        </p:txBody>
      </p:sp>
      <p:sp>
        <p:nvSpPr>
          <p:cNvPr id="21" name="Shape 18"/>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22" name="Text 19"/>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Vectors have a direction</a:t>
            </a:r>
            <a:endParaRPr lang="en-US" sz="1300" dirty="0"/>
          </a:p>
        </p:txBody>
      </p:sp>
      <p:sp>
        <p:nvSpPr>
          <p:cNvPr id="23" name="Text 20"/>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a:t>
            </a:r>
            <a:r>
              <a:rPr lang="en-US" sz="1150" b="1" dirty="0">
                <a:solidFill>
                  <a:srgbClr val="262B3A"/>
                </a:solidFill>
                <a:latin typeface="Calibri" pitchFamily="34" charset="0"/>
                <a:ea typeface="Calibri" pitchFamily="34" charset="-122"/>
                <a:cs typeface="Calibri" pitchFamily="34" charset="-120"/>
              </a:rPr>
              <a:t>scalar</a:t>
            </a:r>
            <a:r>
              <a:rPr lang="en-US" sz="1150" dirty="0">
                <a:solidFill>
                  <a:srgbClr val="262B3A"/>
                </a:solidFill>
                <a:latin typeface="Calibri" pitchFamily="34" charset="0"/>
                <a:ea typeface="Calibri" pitchFamily="34" charset="-122"/>
                <a:cs typeface="Calibri" pitchFamily="34" charset="-120"/>
              </a:rPr>
              <a:t> quantity has </a:t>
            </a:r>
            <a:r>
              <a:rPr lang="en-US" sz="1150" b="1" dirty="0">
                <a:solidFill>
                  <a:srgbClr val="262B3A"/>
                </a:solidFill>
                <a:latin typeface="Calibri" pitchFamily="34" charset="0"/>
                <a:ea typeface="Calibri" pitchFamily="34" charset="-122"/>
                <a:cs typeface="Calibri" pitchFamily="34" charset="-120"/>
              </a:rPr>
              <a:t>size (magnitude) only</a:t>
            </a:r>
            <a:r>
              <a:rPr lang="en-US" sz="1150" dirty="0">
                <a:solidFill>
                  <a:srgbClr val="262B3A"/>
                </a:solidFill>
                <a:latin typeface="Calibri" pitchFamily="34" charset="0"/>
                <a:ea typeface="Calibri" pitchFamily="34" charset="-122"/>
                <a:cs typeface="Calibri" pitchFamily="34" charset="-120"/>
              </a:rPr>
              <a:t>, e.g. mass = 5 kg, speed = 20 m/s.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a:t>
            </a:r>
            <a:r>
              <a:rPr lang="en-US" sz="1150" b="1" dirty="0">
                <a:solidFill>
                  <a:srgbClr val="262B3A"/>
                </a:solidFill>
                <a:latin typeface="Calibri" pitchFamily="34" charset="0"/>
                <a:ea typeface="Calibri" pitchFamily="34" charset="-122"/>
                <a:cs typeface="Calibri" pitchFamily="34" charset="-120"/>
              </a:rPr>
              <a:t>vector</a:t>
            </a:r>
            <a:r>
              <a:rPr lang="en-US" sz="1150" dirty="0">
                <a:solidFill>
                  <a:srgbClr val="262B3A"/>
                </a:solidFill>
                <a:latin typeface="Calibri" pitchFamily="34" charset="0"/>
                <a:ea typeface="Calibri" pitchFamily="34" charset="-122"/>
                <a:cs typeface="Calibri" pitchFamily="34" charset="-120"/>
              </a:rPr>
              <a:t> quantity has </a:t>
            </a:r>
            <a:r>
              <a:rPr lang="en-US" sz="1150" b="1" dirty="0">
                <a:solidFill>
                  <a:srgbClr val="262B3A"/>
                </a:solidFill>
                <a:latin typeface="Calibri" pitchFamily="34" charset="0"/>
                <a:ea typeface="Calibri" pitchFamily="34" charset="-122"/>
                <a:cs typeface="Calibri" pitchFamily="34" charset="-120"/>
              </a:rPr>
              <a:t>size and direction</a:t>
            </a:r>
            <a:r>
              <a:rPr lang="en-US" sz="1150" dirty="0">
                <a:solidFill>
                  <a:srgbClr val="262B3A"/>
                </a:solidFill>
                <a:latin typeface="Calibri" pitchFamily="34" charset="0"/>
                <a:ea typeface="Calibri" pitchFamily="34" charset="-122"/>
                <a:cs typeface="Calibri" pitchFamily="34" charset="-120"/>
              </a:rPr>
              <a:t>, e.g. weight = 50 N </a:t>
            </a:r>
            <a:r>
              <a:rPr lang="en-US" sz="1150" b="1" dirty="0">
                <a:solidFill>
                  <a:srgbClr val="262B3A"/>
                </a:solidFill>
                <a:latin typeface="Calibri" pitchFamily="34" charset="0"/>
                <a:ea typeface="Calibri" pitchFamily="34" charset="-122"/>
                <a:cs typeface="Calibri" pitchFamily="34" charset="-120"/>
              </a:rPr>
              <a:t>downwards</a:t>
            </a:r>
            <a:r>
              <a:rPr lang="en-US" sz="1150" dirty="0">
                <a:solidFill>
                  <a:srgbClr val="262B3A"/>
                </a:solidFill>
                <a:latin typeface="Calibri" pitchFamily="34" charset="0"/>
                <a:ea typeface="Calibri" pitchFamily="34" charset="-122"/>
                <a:cs typeface="Calibri" pitchFamily="34" charset="-120"/>
              </a:rPr>
              <a:t>, velocity = 20 m/s </a:t>
            </a:r>
            <a:r>
              <a:rPr lang="en-US" sz="1150" b="1" dirty="0">
                <a:solidFill>
                  <a:srgbClr val="262B3A"/>
                </a:solidFill>
                <a:latin typeface="Calibri" pitchFamily="34" charset="0"/>
                <a:ea typeface="Calibri" pitchFamily="34" charset="-122"/>
                <a:cs typeface="Calibri" pitchFamily="34" charset="-120"/>
              </a:rPr>
              <a:t>east</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Vectors are drawn as </a:t>
            </a:r>
            <a:r>
              <a:rPr lang="en-US" sz="1150" b="1" dirty="0">
                <a:solidFill>
                  <a:srgbClr val="262B3A"/>
                </a:solidFill>
                <a:latin typeface="Calibri" pitchFamily="34" charset="0"/>
                <a:ea typeface="Calibri" pitchFamily="34" charset="-122"/>
                <a:cs typeface="Calibri" pitchFamily="34" charset="-120"/>
              </a:rPr>
              <a:t>arrows</a:t>
            </a:r>
            <a:r>
              <a:rPr lang="en-US" sz="1150" dirty="0">
                <a:solidFill>
                  <a:srgbClr val="262B3A"/>
                </a:solidFill>
                <a:latin typeface="Calibri" pitchFamily="34" charset="0"/>
                <a:ea typeface="Calibri" pitchFamily="34" charset="-122"/>
                <a:cs typeface="Calibri" pitchFamily="34" charset="-120"/>
              </a:rPr>
              <a:t>: length shows size, the arrowhead shows direction.</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In one dimension, use </a:t>
            </a:r>
            <a:r>
              <a:rPr lang="en-US" sz="1150" b="1" dirty="0">
                <a:solidFill>
                  <a:srgbClr val="262B3A"/>
                </a:solidFill>
                <a:latin typeface="Calibri" pitchFamily="34" charset="0"/>
                <a:ea typeface="Calibri" pitchFamily="34" charset="-122"/>
                <a:cs typeface="Calibri" pitchFamily="34" charset="-120"/>
              </a:rPr>
              <a:t>+</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a:t>
            </a:r>
            <a:r>
              <a:rPr lang="en-US" sz="1150" dirty="0">
                <a:solidFill>
                  <a:srgbClr val="262B3A"/>
                </a:solidFill>
                <a:latin typeface="Calibri" pitchFamily="34" charset="0"/>
                <a:ea typeface="Calibri" pitchFamily="34" charset="-122"/>
                <a:cs typeface="Calibri" pitchFamily="34" charset="-120"/>
              </a:rPr>
              <a:t> to show opposite directions.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Force is a vector, so forces must be added taking direction into account.</a:t>
            </a:r>
            <a:endParaRPr lang="en-US" sz="1150" dirty="0"/>
          </a:p>
        </p:txBody>
      </p:sp>
      <p:sp>
        <p:nvSpPr>
          <p:cNvPr id="24" name="Shape 21"/>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25" name="Text 22"/>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Classify</a:t>
            </a:r>
            <a:endParaRPr lang="en-US" sz="1300" dirty="0"/>
          </a:p>
        </p:txBody>
      </p:sp>
      <p:sp>
        <p:nvSpPr>
          <p:cNvPr id="26" name="Text 23"/>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A runner travels 400 m round a track and finishes where she started.</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Distance   </a:t>
            </a:r>
            <a:r>
              <a:rPr lang="en-US" sz="1100" dirty="0">
                <a:solidFill>
                  <a:srgbClr val="262B3A"/>
                </a:solidFill>
                <a:latin typeface="Calibri" pitchFamily="34" charset="0"/>
                <a:ea typeface="Calibri" pitchFamily="34" charset="-122"/>
                <a:cs typeface="Calibri" pitchFamily="34" charset="-120"/>
              </a:rPr>
              <a:t>400 m – a </a:t>
            </a:r>
            <a:r>
              <a:rPr lang="en-US" sz="1100" b="1" dirty="0">
                <a:solidFill>
                  <a:srgbClr val="262B3A"/>
                </a:solidFill>
                <a:latin typeface="Calibri" pitchFamily="34" charset="0"/>
                <a:ea typeface="Calibri" pitchFamily="34" charset="-122"/>
                <a:cs typeface="Calibri" pitchFamily="34" charset="-120"/>
              </a:rPr>
              <a:t>scalar</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Displacement   </a:t>
            </a:r>
            <a:r>
              <a:rPr lang="en-US" sz="1100" dirty="0">
                <a:solidFill>
                  <a:srgbClr val="262B3A"/>
                </a:solidFill>
                <a:latin typeface="Calibri" pitchFamily="34" charset="0"/>
                <a:ea typeface="Calibri" pitchFamily="34" charset="-122"/>
                <a:cs typeface="Calibri" pitchFamily="34" charset="-120"/>
              </a:rPr>
              <a:t>0 m – a </a:t>
            </a:r>
            <a:r>
              <a:rPr lang="en-US" sz="1100" b="1" dirty="0">
                <a:solidFill>
                  <a:srgbClr val="262B3A"/>
                </a:solidFill>
                <a:latin typeface="Calibri" pitchFamily="34" charset="0"/>
                <a:ea typeface="Calibri" pitchFamily="34" charset="-122"/>
                <a:cs typeface="Calibri" pitchFamily="34" charset="-120"/>
              </a:rPr>
              <a:t>vector</a:t>
            </a:r>
            <a:r>
              <a:rPr lang="en-US" sz="1100" dirty="0">
                <a:solidFill>
                  <a:srgbClr val="262B3A"/>
                </a:solidFill>
                <a:latin typeface="Calibri" pitchFamily="34" charset="0"/>
                <a:ea typeface="Calibri" pitchFamily="34" charset="-122"/>
                <a:cs typeface="Calibri" pitchFamily="34" charset="-120"/>
              </a:rPr>
              <a:t> (start = finish)</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Why   </a:t>
            </a:r>
            <a:r>
              <a:rPr lang="en-US" sz="1100" dirty="0">
                <a:solidFill>
                  <a:srgbClr val="262B3A"/>
                </a:solidFill>
                <a:latin typeface="Calibri" pitchFamily="34" charset="0"/>
                <a:ea typeface="Calibri" pitchFamily="34" charset="-122"/>
                <a:cs typeface="Calibri" pitchFamily="34" charset="-120"/>
              </a:rPr>
              <a:t>displacement is distance in a stated direction</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distance 400 m, displacement 0 m</a:t>
            </a:r>
            <a:endParaRPr lang="en-US" sz="1100" dirty="0"/>
          </a:p>
        </p:txBody>
      </p:sp>
      <p:sp>
        <p:nvSpPr>
          <p:cNvPr id="27" name="Shape 24"/>
          <p:cNvSpPr/>
          <p:nvPr/>
        </p:nvSpPr>
        <p:spPr>
          <a:xfrm>
            <a:off x="411480" y="5833872"/>
            <a:ext cx="11368735" cy="530352"/>
          </a:xfrm>
          <a:prstGeom prst="rect">
            <a:avLst/>
          </a:prstGeom>
          <a:solidFill>
            <a:srgbClr val="FFF4E0"/>
          </a:solidFill>
          <a:ln w="6350">
            <a:solidFill>
              <a:srgbClr val="F1D9A8"/>
            </a:solidFill>
            <a:prstDash val="solid"/>
          </a:ln>
        </p:spPr>
      </p:sp>
      <p:sp>
        <p:nvSpPr>
          <p:cNvPr id="28" name="Shape 25"/>
          <p:cNvSpPr/>
          <p:nvPr/>
        </p:nvSpPr>
        <p:spPr>
          <a:xfrm>
            <a:off x="411480" y="5833872"/>
            <a:ext cx="82296" cy="530352"/>
          </a:xfrm>
          <a:prstGeom prst="rect">
            <a:avLst/>
          </a:prstGeom>
          <a:solidFill>
            <a:srgbClr val="E39A2F"/>
          </a:solidFill>
          <a:ln w="12700">
            <a:solidFill>
              <a:srgbClr val="E39A2F"/>
            </a:solidFill>
            <a:prstDash val="solid"/>
          </a:ln>
        </p:spPr>
      </p:sp>
      <p:sp>
        <p:nvSpPr>
          <p:cNvPr id="29" name="Text 26"/>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Which of these are vectors: 20 m/s north, 15 kg, 9.8 N downwards, 300 J, 5 km east, 12 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Free body force diagrams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9.4 • draw and use free body force diagrams</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9 Forces and their effects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9.4  |  10</a:t>
            </a:r>
            <a:endParaRPr lang="en-US" sz="1000" dirty="0"/>
          </a:p>
        </p:txBody>
      </p:sp>
      <p:sp>
        <p:nvSpPr>
          <p:cNvPr id="10" name="Shape 8"/>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an 80 kg skydiver; arrows drawn to scale from the centre</a:t>
            </a:r>
            <a:endParaRPr lang="en-US" sz="1000" dirty="0"/>
          </a:p>
        </p:txBody>
      </p:sp>
      <p:sp>
        <p:nvSpPr>
          <p:cNvPr id="12" name="Shape 10"/>
          <p:cNvSpPr/>
          <p:nvPr/>
        </p:nvSpPr>
        <p:spPr>
          <a:xfrm>
            <a:off x="1554480" y="3200400"/>
            <a:ext cx="365760" cy="365760"/>
          </a:xfrm>
          <a:prstGeom prst="roundRect">
            <a:avLst>
              <a:gd name="adj" fmla="val 15000"/>
            </a:avLst>
          </a:prstGeom>
          <a:solidFill>
            <a:srgbClr val="C9D5F2"/>
          </a:solidFill>
          <a:ln w="12700">
            <a:solidFill>
              <a:srgbClr val="3A548A"/>
            </a:solidFill>
            <a:prstDash val="solid"/>
          </a:ln>
        </p:spPr>
      </p:sp>
      <p:sp>
        <p:nvSpPr>
          <p:cNvPr id="13" name="Text 11"/>
          <p:cNvSpPr/>
          <p:nvPr/>
        </p:nvSpPr>
        <p:spPr>
          <a:xfrm>
            <a:off x="640080" y="1280160"/>
            <a:ext cx="2194560" cy="256032"/>
          </a:xfrm>
          <a:prstGeom prst="rect">
            <a:avLst/>
          </a:prstGeom>
          <a:noFill/>
          <a:ln/>
        </p:spPr>
        <p:txBody>
          <a:bodyPr wrap="square" lIns="0" tIns="0" rIns="0" bIns="0" rtlCol="0" anchor="ctr"/>
          <a:lstStyle/>
          <a:p>
            <a:pPr algn="ctr" indent="0" marL="0">
              <a:buNone/>
            </a:pPr>
            <a:r>
              <a:rPr lang="en-US" sz="1150" b="1" dirty="0">
                <a:solidFill>
                  <a:srgbClr val="1A2340"/>
                </a:solidFill>
                <a:latin typeface="Calibri" pitchFamily="34" charset="0"/>
                <a:ea typeface="Calibri" pitchFamily="34" charset="-122"/>
                <a:cs typeface="Calibri" pitchFamily="34" charset="-120"/>
              </a:rPr>
              <a:t>A  just after jumping</a:t>
            </a:r>
            <a:endParaRPr lang="en-US" sz="1150" dirty="0"/>
          </a:p>
        </p:txBody>
      </p:sp>
      <p:sp>
        <p:nvSpPr>
          <p:cNvPr id="14" name="Shape 12"/>
          <p:cNvSpPr/>
          <p:nvPr/>
        </p:nvSpPr>
        <p:spPr>
          <a:xfrm>
            <a:off x="1737360" y="3383280"/>
            <a:ext cx="91" cy="1463040"/>
          </a:xfrm>
          <a:prstGeom prst="line">
            <a:avLst/>
          </a:prstGeom>
          <a:noFill/>
          <a:ln w="38100">
            <a:solidFill>
              <a:srgbClr val="C8414C"/>
            </a:solidFill>
            <a:prstDash val="solid"/>
            <a:tailEnd type="triangle"/>
          </a:ln>
        </p:spPr>
      </p:sp>
      <p:sp>
        <p:nvSpPr>
          <p:cNvPr id="15" name="Text 13"/>
          <p:cNvSpPr/>
          <p:nvPr/>
        </p:nvSpPr>
        <p:spPr>
          <a:xfrm>
            <a:off x="1097280" y="4873752"/>
            <a:ext cx="1280160" cy="274320"/>
          </a:xfrm>
          <a:prstGeom prst="rect">
            <a:avLst/>
          </a:prstGeom>
          <a:noFill/>
          <a:ln/>
        </p:spPr>
        <p:txBody>
          <a:bodyPr wrap="square" lIns="0" tIns="0" rIns="0" bIns="0" rtlCol="0" anchor="ctr"/>
          <a:lstStyle/>
          <a:p>
            <a:pPr algn="ctr" indent="0" marL="0">
              <a:buNone/>
            </a:pPr>
            <a:r>
              <a:rPr lang="en-US" sz="1100" b="1" dirty="0">
                <a:solidFill>
                  <a:srgbClr val="C8414C"/>
                </a:solidFill>
                <a:latin typeface="Calibri" pitchFamily="34" charset="0"/>
                <a:ea typeface="Calibri" pitchFamily="34" charset="-122"/>
                <a:cs typeface="Calibri" pitchFamily="34" charset="-120"/>
              </a:rPr>
              <a:t>weight 800 N</a:t>
            </a:r>
            <a:endParaRPr lang="en-US" sz="1100" dirty="0"/>
          </a:p>
        </p:txBody>
      </p:sp>
      <p:sp>
        <p:nvSpPr>
          <p:cNvPr id="16" name="Shape 14"/>
          <p:cNvSpPr/>
          <p:nvPr/>
        </p:nvSpPr>
        <p:spPr>
          <a:xfrm flipV="1">
            <a:off x="1737360" y="3017520"/>
            <a:ext cx="91" cy="365760"/>
          </a:xfrm>
          <a:prstGeom prst="line">
            <a:avLst/>
          </a:prstGeom>
          <a:noFill/>
          <a:ln w="38100">
            <a:solidFill>
              <a:srgbClr val="2E5BD8"/>
            </a:solidFill>
            <a:prstDash val="solid"/>
            <a:tailEnd type="triangle"/>
          </a:ln>
        </p:spPr>
      </p:sp>
      <p:sp>
        <p:nvSpPr>
          <p:cNvPr id="17" name="Text 15"/>
          <p:cNvSpPr/>
          <p:nvPr/>
        </p:nvSpPr>
        <p:spPr>
          <a:xfrm>
            <a:off x="1828800" y="2816352"/>
            <a:ext cx="1463040" cy="256032"/>
          </a:xfrm>
          <a:prstGeom prst="rect">
            <a:avLst/>
          </a:prstGeom>
          <a:noFill/>
          <a:ln/>
        </p:spPr>
        <p:txBody>
          <a:bodyPr wrap="square" lIns="0" tIns="0" rIns="0" bIns="0" rtlCol="0" anchor="ctr"/>
          <a:lstStyle/>
          <a:p>
            <a:pPr algn="l" indent="0" marL="0">
              <a:buNone/>
            </a:pPr>
            <a:r>
              <a:rPr lang="en-US" sz="1050" b="1" dirty="0">
                <a:solidFill>
                  <a:srgbClr val="2E5BD8"/>
                </a:solidFill>
                <a:latin typeface="Calibri" pitchFamily="34" charset="0"/>
                <a:ea typeface="Calibri" pitchFamily="34" charset="-122"/>
                <a:cs typeface="Calibri" pitchFamily="34" charset="-120"/>
              </a:rPr>
              <a:t>air resistance 200 N</a:t>
            </a:r>
            <a:endParaRPr lang="en-US" sz="1050" dirty="0"/>
          </a:p>
        </p:txBody>
      </p:sp>
      <p:sp>
        <p:nvSpPr>
          <p:cNvPr id="18" name="Shape 16"/>
          <p:cNvSpPr/>
          <p:nvPr/>
        </p:nvSpPr>
        <p:spPr>
          <a:xfrm>
            <a:off x="4114800" y="3200400"/>
            <a:ext cx="365760" cy="365760"/>
          </a:xfrm>
          <a:prstGeom prst="roundRect">
            <a:avLst>
              <a:gd name="adj" fmla="val 15000"/>
            </a:avLst>
          </a:prstGeom>
          <a:solidFill>
            <a:srgbClr val="C9D5F2"/>
          </a:solidFill>
          <a:ln w="12700">
            <a:solidFill>
              <a:srgbClr val="3A548A"/>
            </a:solidFill>
            <a:prstDash val="solid"/>
          </a:ln>
        </p:spPr>
      </p:sp>
      <p:sp>
        <p:nvSpPr>
          <p:cNvPr id="19" name="Text 17"/>
          <p:cNvSpPr/>
          <p:nvPr/>
        </p:nvSpPr>
        <p:spPr>
          <a:xfrm>
            <a:off x="3200400" y="1280160"/>
            <a:ext cx="2194560" cy="256032"/>
          </a:xfrm>
          <a:prstGeom prst="rect">
            <a:avLst/>
          </a:prstGeom>
          <a:noFill/>
          <a:ln/>
        </p:spPr>
        <p:txBody>
          <a:bodyPr wrap="square" lIns="0" tIns="0" rIns="0" bIns="0" rtlCol="0" anchor="ctr"/>
          <a:lstStyle/>
          <a:p>
            <a:pPr algn="ctr" indent="0" marL="0">
              <a:buNone/>
            </a:pPr>
            <a:r>
              <a:rPr lang="en-US" sz="1150" b="1" dirty="0">
                <a:solidFill>
                  <a:srgbClr val="1A2340"/>
                </a:solidFill>
                <a:latin typeface="Calibri" pitchFamily="34" charset="0"/>
                <a:ea typeface="Calibri" pitchFamily="34" charset="-122"/>
                <a:cs typeface="Calibri" pitchFamily="34" charset="-120"/>
              </a:rPr>
              <a:t>B  at terminal velocity</a:t>
            </a:r>
            <a:endParaRPr lang="en-US" sz="1150" dirty="0"/>
          </a:p>
        </p:txBody>
      </p:sp>
      <p:sp>
        <p:nvSpPr>
          <p:cNvPr id="20" name="Shape 18"/>
          <p:cNvSpPr/>
          <p:nvPr/>
        </p:nvSpPr>
        <p:spPr>
          <a:xfrm>
            <a:off x="4297680" y="3383280"/>
            <a:ext cx="91" cy="1463040"/>
          </a:xfrm>
          <a:prstGeom prst="line">
            <a:avLst/>
          </a:prstGeom>
          <a:noFill/>
          <a:ln w="38100">
            <a:solidFill>
              <a:srgbClr val="C8414C"/>
            </a:solidFill>
            <a:prstDash val="solid"/>
            <a:tailEnd type="triangle"/>
          </a:ln>
        </p:spPr>
      </p:sp>
      <p:sp>
        <p:nvSpPr>
          <p:cNvPr id="21" name="Text 19"/>
          <p:cNvSpPr/>
          <p:nvPr/>
        </p:nvSpPr>
        <p:spPr>
          <a:xfrm>
            <a:off x="3657600" y="4873752"/>
            <a:ext cx="1280160" cy="274320"/>
          </a:xfrm>
          <a:prstGeom prst="rect">
            <a:avLst/>
          </a:prstGeom>
          <a:noFill/>
          <a:ln/>
        </p:spPr>
        <p:txBody>
          <a:bodyPr wrap="square" lIns="0" tIns="0" rIns="0" bIns="0" rtlCol="0" anchor="ctr"/>
          <a:lstStyle/>
          <a:p>
            <a:pPr algn="ctr" indent="0" marL="0">
              <a:buNone/>
            </a:pPr>
            <a:r>
              <a:rPr lang="en-US" sz="1100" b="1" dirty="0">
                <a:solidFill>
                  <a:srgbClr val="C8414C"/>
                </a:solidFill>
                <a:latin typeface="Calibri" pitchFamily="34" charset="0"/>
                <a:ea typeface="Calibri" pitchFamily="34" charset="-122"/>
                <a:cs typeface="Calibri" pitchFamily="34" charset="-120"/>
              </a:rPr>
              <a:t>weight 800 N</a:t>
            </a:r>
            <a:endParaRPr lang="en-US" sz="1100" dirty="0"/>
          </a:p>
        </p:txBody>
      </p:sp>
      <p:sp>
        <p:nvSpPr>
          <p:cNvPr id="22" name="Shape 20"/>
          <p:cNvSpPr/>
          <p:nvPr/>
        </p:nvSpPr>
        <p:spPr>
          <a:xfrm flipV="1">
            <a:off x="4297680" y="1920240"/>
            <a:ext cx="91" cy="1463040"/>
          </a:xfrm>
          <a:prstGeom prst="line">
            <a:avLst/>
          </a:prstGeom>
          <a:noFill/>
          <a:ln w="38100">
            <a:solidFill>
              <a:srgbClr val="2E5BD8"/>
            </a:solidFill>
            <a:prstDash val="solid"/>
            <a:tailEnd type="triangle"/>
          </a:ln>
        </p:spPr>
      </p:sp>
      <p:sp>
        <p:nvSpPr>
          <p:cNvPr id="23" name="Text 21"/>
          <p:cNvSpPr/>
          <p:nvPr/>
        </p:nvSpPr>
        <p:spPr>
          <a:xfrm>
            <a:off x="3474720" y="1627632"/>
            <a:ext cx="1645920" cy="274320"/>
          </a:xfrm>
          <a:prstGeom prst="rect">
            <a:avLst/>
          </a:prstGeom>
          <a:noFill/>
          <a:ln/>
        </p:spPr>
        <p:txBody>
          <a:bodyPr wrap="square" lIns="0" tIns="0" rIns="0" bIns="0" rtlCol="0" anchor="ctr"/>
          <a:lstStyle/>
          <a:p>
            <a:pPr algn="ctr" indent="0" marL="0">
              <a:buNone/>
            </a:pPr>
            <a:r>
              <a:rPr lang="en-US" sz="1100" b="1" dirty="0">
                <a:solidFill>
                  <a:srgbClr val="2E5BD8"/>
                </a:solidFill>
                <a:latin typeface="Calibri" pitchFamily="34" charset="0"/>
                <a:ea typeface="Calibri" pitchFamily="34" charset="-122"/>
                <a:cs typeface="Calibri" pitchFamily="34" charset="-120"/>
              </a:rPr>
              <a:t>air resistance 800 N</a:t>
            </a:r>
            <a:endParaRPr lang="en-US" sz="1100" dirty="0"/>
          </a:p>
        </p:txBody>
      </p:sp>
      <p:sp>
        <p:nvSpPr>
          <p:cNvPr id="24" name="Text 22"/>
          <p:cNvSpPr/>
          <p:nvPr/>
        </p:nvSpPr>
        <p:spPr>
          <a:xfrm>
            <a:off x="640080" y="5138928"/>
            <a:ext cx="2194560" cy="256032"/>
          </a:xfrm>
          <a:prstGeom prst="rect">
            <a:avLst/>
          </a:prstGeom>
          <a:noFill/>
          <a:ln/>
        </p:spPr>
        <p:txBody>
          <a:bodyPr wrap="square" lIns="0" tIns="0" rIns="0" bIns="0" rtlCol="0" anchor="ctr"/>
          <a:lstStyle/>
          <a:p>
            <a:pPr algn="ctr" indent="0" marL="0">
              <a:buNone/>
            </a:pPr>
            <a:r>
              <a:rPr lang="en-US" sz="1100" b="1" dirty="0">
                <a:solidFill>
                  <a:srgbClr val="C8414C"/>
                </a:solidFill>
                <a:latin typeface="Calibri" pitchFamily="34" charset="0"/>
                <a:ea typeface="Calibri" pitchFamily="34" charset="-122"/>
                <a:cs typeface="Calibri" pitchFamily="34" charset="-120"/>
              </a:rPr>
              <a:t>resultant 600 N down</a:t>
            </a:r>
            <a:endParaRPr lang="en-US" sz="1100" dirty="0"/>
          </a:p>
        </p:txBody>
      </p:sp>
      <p:sp>
        <p:nvSpPr>
          <p:cNvPr id="25" name="Text 23"/>
          <p:cNvSpPr/>
          <p:nvPr/>
        </p:nvSpPr>
        <p:spPr>
          <a:xfrm>
            <a:off x="3200400" y="5138928"/>
            <a:ext cx="2194560" cy="256032"/>
          </a:xfrm>
          <a:prstGeom prst="rect">
            <a:avLst/>
          </a:prstGeom>
          <a:noFill/>
          <a:ln/>
        </p:spPr>
        <p:txBody>
          <a:bodyPr wrap="square" lIns="0" tIns="0" rIns="0" bIns="0" rtlCol="0" anchor="ctr"/>
          <a:lstStyle/>
          <a:p>
            <a:pPr algn="ctr" indent="0" marL="0">
              <a:buNone/>
            </a:pPr>
            <a:r>
              <a:rPr lang="en-US" sz="1100" b="1" dirty="0">
                <a:solidFill>
                  <a:srgbClr val="2E8B57"/>
                </a:solidFill>
                <a:latin typeface="Calibri" pitchFamily="34" charset="0"/>
                <a:ea typeface="Calibri" pitchFamily="34" charset="-122"/>
                <a:cs typeface="Calibri" pitchFamily="34" charset="-120"/>
              </a:rPr>
              <a:t>resultant 0 N</a:t>
            </a:r>
            <a:endParaRPr lang="en-US" sz="1100" dirty="0"/>
          </a:p>
        </p:txBody>
      </p:sp>
      <p:sp>
        <p:nvSpPr>
          <p:cNvPr id="26" name="Shape 24"/>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27" name="Text 25"/>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Drawing a free body diagram</a:t>
            </a:r>
            <a:endParaRPr lang="en-US" sz="1300" dirty="0"/>
          </a:p>
        </p:txBody>
      </p:sp>
      <p:sp>
        <p:nvSpPr>
          <p:cNvPr id="28" name="Text 26"/>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Show </a:t>
            </a:r>
            <a:r>
              <a:rPr lang="en-US" sz="1150" b="1" dirty="0">
                <a:solidFill>
                  <a:srgbClr val="262B3A"/>
                </a:solidFill>
                <a:latin typeface="Calibri" pitchFamily="34" charset="0"/>
                <a:ea typeface="Calibri" pitchFamily="34" charset="-122"/>
                <a:cs typeface="Calibri" pitchFamily="34" charset="-120"/>
              </a:rPr>
              <a:t>one object</a:t>
            </a:r>
            <a:r>
              <a:rPr lang="en-US" sz="1150" dirty="0">
                <a:solidFill>
                  <a:srgbClr val="262B3A"/>
                </a:solidFill>
                <a:latin typeface="Calibri" pitchFamily="34" charset="0"/>
                <a:ea typeface="Calibri" pitchFamily="34" charset="-122"/>
                <a:cs typeface="Calibri" pitchFamily="34" charset="-120"/>
              </a:rPr>
              <a:t> (a box or a dot) and </a:t>
            </a:r>
            <a:r>
              <a:rPr lang="en-US" sz="1150" b="1" dirty="0">
                <a:solidFill>
                  <a:srgbClr val="262B3A"/>
                </a:solidFill>
                <a:latin typeface="Calibri" pitchFamily="34" charset="0"/>
                <a:ea typeface="Calibri" pitchFamily="34" charset="-122"/>
                <a:cs typeface="Calibri" pitchFamily="34" charset="-120"/>
              </a:rPr>
              <a:t>only the forces acting on it</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Draw each force as an arrow </a:t>
            </a:r>
            <a:r>
              <a:rPr lang="en-US" sz="1150" b="1" dirty="0">
                <a:solidFill>
                  <a:srgbClr val="262B3A"/>
                </a:solidFill>
                <a:latin typeface="Calibri" pitchFamily="34" charset="0"/>
                <a:ea typeface="Calibri" pitchFamily="34" charset="-122"/>
                <a:cs typeface="Calibri" pitchFamily="34" charset="-120"/>
              </a:rPr>
              <a:t>from the object</a:t>
            </a:r>
            <a:r>
              <a:rPr lang="en-US" sz="1150" dirty="0">
                <a:solidFill>
                  <a:srgbClr val="262B3A"/>
                </a:solidFill>
                <a:latin typeface="Calibri" pitchFamily="34" charset="0"/>
                <a:ea typeface="Calibri" pitchFamily="34" charset="-122"/>
                <a:cs typeface="Calibri" pitchFamily="34" charset="-120"/>
              </a:rPr>
              <a:t>, in the direction it acts.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Make arrow </a:t>
            </a:r>
            <a:r>
              <a:rPr lang="en-US" sz="1150" b="1" dirty="0">
                <a:solidFill>
                  <a:srgbClr val="262B3A"/>
                </a:solidFill>
                <a:latin typeface="Calibri" pitchFamily="34" charset="0"/>
                <a:ea typeface="Calibri" pitchFamily="34" charset="-122"/>
                <a:cs typeface="Calibri" pitchFamily="34" charset="-120"/>
              </a:rPr>
              <a:t>lengths to scale</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label</a:t>
            </a:r>
            <a:r>
              <a:rPr lang="en-US" sz="1150" dirty="0">
                <a:solidFill>
                  <a:srgbClr val="262B3A"/>
                </a:solidFill>
                <a:latin typeface="Calibri" pitchFamily="34" charset="0"/>
                <a:ea typeface="Calibri" pitchFamily="34" charset="-122"/>
                <a:cs typeface="Calibri" pitchFamily="34" charset="-120"/>
              </a:rPr>
              <a:t> each force with its name and size.</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Use it to find the </a:t>
            </a:r>
            <a:r>
              <a:rPr lang="en-US" sz="1150" b="1" dirty="0">
                <a:solidFill>
                  <a:srgbClr val="262B3A"/>
                </a:solidFill>
                <a:latin typeface="Calibri" pitchFamily="34" charset="0"/>
                <a:ea typeface="Calibri" pitchFamily="34" charset="-122"/>
                <a:cs typeface="Calibri" pitchFamily="34" charset="-120"/>
              </a:rPr>
              <a:t>resultant force</a:t>
            </a:r>
            <a:r>
              <a:rPr lang="en-US" sz="1150" dirty="0">
                <a:solidFill>
                  <a:srgbClr val="262B3A"/>
                </a:solidFill>
                <a:latin typeface="Calibri" pitchFamily="34" charset="0"/>
                <a:ea typeface="Calibri" pitchFamily="34" charset="-122"/>
                <a:cs typeface="Calibri" pitchFamily="34" charset="-120"/>
              </a:rPr>
              <a:t>: add forces in one direction, subtract the opposite ones.</a:t>
            </a:r>
            <a:endParaRPr lang="en-US" sz="1150" dirty="0"/>
          </a:p>
        </p:txBody>
      </p:sp>
      <p:sp>
        <p:nvSpPr>
          <p:cNvPr id="29" name="Shape 27"/>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30" name="Text 28"/>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Use the diagram</a:t>
            </a:r>
            <a:endParaRPr lang="en-US" sz="1300" dirty="0"/>
          </a:p>
        </p:txBody>
      </p:sp>
      <p:sp>
        <p:nvSpPr>
          <p:cNvPr id="31" name="Text 29"/>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Find the resultant force on the skydiver in A and in B.</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A   </a:t>
            </a:r>
            <a:r>
              <a:rPr lang="en-US" sz="1050" dirty="0">
                <a:solidFill>
                  <a:srgbClr val="262B3A"/>
                </a:solidFill>
                <a:latin typeface="Calibri" pitchFamily="34" charset="0"/>
                <a:ea typeface="Calibri" pitchFamily="34" charset="-122"/>
                <a:cs typeface="Calibri" pitchFamily="34" charset="-120"/>
              </a:rPr>
              <a:t>800 N − 200 N = 600 N downwards → accelerates</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B   </a:t>
            </a:r>
            <a:r>
              <a:rPr lang="en-US" sz="1050" dirty="0">
                <a:solidFill>
                  <a:srgbClr val="262B3A"/>
                </a:solidFill>
                <a:latin typeface="Calibri" pitchFamily="34" charset="0"/>
                <a:ea typeface="Calibri" pitchFamily="34" charset="-122"/>
                <a:cs typeface="Calibri" pitchFamily="34" charset="-120"/>
              </a:rPr>
              <a:t>800 N − 800 N = 0 N → constant velocity</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Check   </a:t>
            </a:r>
            <a:r>
              <a:rPr lang="en-US" sz="1050" dirty="0">
                <a:solidFill>
                  <a:srgbClr val="262B3A"/>
                </a:solidFill>
                <a:latin typeface="Calibri" pitchFamily="34" charset="0"/>
                <a:ea typeface="Calibri" pitchFamily="34" charset="-122"/>
                <a:cs typeface="Calibri" pitchFamily="34" charset="-120"/>
              </a:rPr>
              <a:t>A: a = F ÷ m = 600 ÷ 80 = 7.5 m/s²</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A: 600 N down; B: 0 N (balanced)</a:t>
            </a:r>
            <a:endParaRPr lang="en-US" sz="1050" dirty="0"/>
          </a:p>
        </p:txBody>
      </p:sp>
      <p:sp>
        <p:nvSpPr>
          <p:cNvPr id="32" name="Shape 30"/>
          <p:cNvSpPr/>
          <p:nvPr/>
        </p:nvSpPr>
        <p:spPr>
          <a:xfrm>
            <a:off x="411480" y="5833872"/>
            <a:ext cx="11368735" cy="530352"/>
          </a:xfrm>
          <a:prstGeom prst="rect">
            <a:avLst/>
          </a:prstGeom>
          <a:solidFill>
            <a:srgbClr val="FFF4E0"/>
          </a:solidFill>
          <a:ln w="6350">
            <a:solidFill>
              <a:srgbClr val="F1D9A8"/>
            </a:solidFill>
            <a:prstDash val="solid"/>
          </a:ln>
        </p:spPr>
      </p:sp>
      <p:sp>
        <p:nvSpPr>
          <p:cNvPr id="33" name="Shape 31"/>
          <p:cNvSpPr/>
          <p:nvPr/>
        </p:nvSpPr>
        <p:spPr>
          <a:xfrm>
            <a:off x="411480" y="5833872"/>
            <a:ext cx="82296" cy="530352"/>
          </a:xfrm>
          <a:prstGeom prst="rect">
            <a:avLst/>
          </a:prstGeom>
          <a:solidFill>
            <a:srgbClr val="E39A2F"/>
          </a:solidFill>
          <a:ln w="12700">
            <a:solidFill>
              <a:srgbClr val="E39A2F"/>
            </a:solidFill>
            <a:prstDash val="solid"/>
          </a:ln>
        </p:spPr>
      </p:sp>
      <p:sp>
        <p:nvSpPr>
          <p:cNvPr id="34" name="Text 32"/>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Draw a free body diagram for a book resting on a table. What is the resultant force on the book?</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Resultant force and balanced forces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9.5 • several forces on one object add to one resultant</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9 Forces and their effects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9.5  |  11</a:t>
            </a:r>
            <a:endParaRPr lang="en-US" sz="1000" dirty="0"/>
          </a:p>
        </p:txBody>
      </p:sp>
      <p:sp>
        <p:nvSpPr>
          <p:cNvPr id="10" name="Shape 8"/>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 4.0 kg box pushed along the floor; arrows to scale</a:t>
            </a:r>
            <a:endParaRPr lang="en-US" sz="1000" dirty="0"/>
          </a:p>
        </p:txBody>
      </p:sp>
      <p:sp>
        <p:nvSpPr>
          <p:cNvPr id="12" name="Shape 10"/>
          <p:cNvSpPr/>
          <p:nvPr/>
        </p:nvSpPr>
        <p:spPr>
          <a:xfrm>
            <a:off x="640080" y="3611880"/>
            <a:ext cx="5120640" cy="109728"/>
          </a:xfrm>
          <a:prstGeom prst="rect">
            <a:avLst/>
          </a:prstGeom>
          <a:solidFill>
            <a:srgbClr val="B0B7C6"/>
          </a:solidFill>
          <a:ln/>
        </p:spPr>
      </p:sp>
      <p:sp>
        <p:nvSpPr>
          <p:cNvPr id="13" name="Shape 11"/>
          <p:cNvSpPr/>
          <p:nvPr/>
        </p:nvSpPr>
        <p:spPr>
          <a:xfrm>
            <a:off x="1691640" y="2971800"/>
            <a:ext cx="822960" cy="640080"/>
          </a:xfrm>
          <a:prstGeom prst="rect">
            <a:avLst/>
          </a:prstGeom>
          <a:solidFill>
            <a:srgbClr val="E8C27A"/>
          </a:solidFill>
          <a:ln w="15875">
            <a:solidFill>
              <a:srgbClr val="8A6A3A"/>
            </a:solidFill>
            <a:prstDash val="solid"/>
          </a:ln>
        </p:spPr>
      </p:sp>
      <p:sp>
        <p:nvSpPr>
          <p:cNvPr id="14" name="Shape 12"/>
          <p:cNvSpPr/>
          <p:nvPr/>
        </p:nvSpPr>
        <p:spPr>
          <a:xfrm>
            <a:off x="2103120" y="3291840"/>
            <a:ext cx="1371600" cy="91"/>
          </a:xfrm>
          <a:prstGeom prst="line">
            <a:avLst/>
          </a:prstGeom>
          <a:noFill/>
          <a:ln w="38100">
            <a:solidFill>
              <a:srgbClr val="B8730A"/>
            </a:solidFill>
            <a:prstDash val="solid"/>
            <a:tailEnd type="triangle"/>
          </a:ln>
        </p:spPr>
      </p:sp>
      <p:sp>
        <p:nvSpPr>
          <p:cNvPr id="15" name="Text 13"/>
          <p:cNvSpPr/>
          <p:nvPr/>
        </p:nvSpPr>
        <p:spPr>
          <a:xfrm>
            <a:off x="3520440" y="3154680"/>
            <a:ext cx="914400" cy="274320"/>
          </a:xfrm>
          <a:prstGeom prst="rect">
            <a:avLst/>
          </a:prstGeom>
          <a:noFill/>
          <a:ln/>
        </p:spPr>
        <p:txBody>
          <a:bodyPr wrap="square" lIns="0" tIns="0" rIns="0" bIns="0" rtlCol="0" anchor="ctr"/>
          <a:lstStyle/>
          <a:p>
            <a:pPr algn="l" indent="0" marL="0">
              <a:buNone/>
            </a:pPr>
            <a:r>
              <a:rPr lang="en-US" sz="1100" b="1" dirty="0">
                <a:solidFill>
                  <a:srgbClr val="B8730A"/>
                </a:solidFill>
                <a:latin typeface="Calibri" pitchFamily="34" charset="0"/>
                <a:ea typeface="Calibri" pitchFamily="34" charset="-122"/>
                <a:cs typeface="Calibri" pitchFamily="34" charset="-120"/>
              </a:rPr>
              <a:t>push 50 N</a:t>
            </a:r>
            <a:endParaRPr lang="en-US" sz="1100" dirty="0"/>
          </a:p>
        </p:txBody>
      </p:sp>
      <p:sp>
        <p:nvSpPr>
          <p:cNvPr id="16" name="Shape 14"/>
          <p:cNvSpPr/>
          <p:nvPr/>
        </p:nvSpPr>
        <p:spPr>
          <a:xfrm flipH="1">
            <a:off x="1280160" y="3291840"/>
            <a:ext cx="822960" cy="91"/>
          </a:xfrm>
          <a:prstGeom prst="line">
            <a:avLst/>
          </a:prstGeom>
          <a:noFill/>
          <a:ln w="38100">
            <a:solidFill>
              <a:srgbClr val="2E8B57"/>
            </a:solidFill>
            <a:prstDash val="solid"/>
            <a:tailEnd type="triangle"/>
          </a:ln>
        </p:spPr>
      </p:sp>
      <p:sp>
        <p:nvSpPr>
          <p:cNvPr id="17" name="Text 15"/>
          <p:cNvSpPr/>
          <p:nvPr/>
        </p:nvSpPr>
        <p:spPr>
          <a:xfrm>
            <a:off x="45720" y="3154680"/>
            <a:ext cx="1188720" cy="274320"/>
          </a:xfrm>
          <a:prstGeom prst="rect">
            <a:avLst/>
          </a:prstGeom>
          <a:noFill/>
          <a:ln/>
        </p:spPr>
        <p:txBody>
          <a:bodyPr wrap="square" lIns="0" tIns="0" rIns="0" bIns="0" rtlCol="0" anchor="ctr"/>
          <a:lstStyle/>
          <a:p>
            <a:pPr algn="r" indent="0" marL="0">
              <a:buNone/>
            </a:pPr>
            <a:r>
              <a:rPr lang="en-US" sz="1100" b="1" dirty="0">
                <a:solidFill>
                  <a:srgbClr val="2E8B57"/>
                </a:solidFill>
                <a:latin typeface="Calibri" pitchFamily="34" charset="0"/>
                <a:ea typeface="Calibri" pitchFamily="34" charset="-122"/>
                <a:cs typeface="Calibri" pitchFamily="34" charset="-120"/>
              </a:rPr>
              <a:t>friction 30 N</a:t>
            </a:r>
            <a:endParaRPr lang="en-US" sz="1100" dirty="0"/>
          </a:p>
        </p:txBody>
      </p:sp>
      <p:sp>
        <p:nvSpPr>
          <p:cNvPr id="18" name="Shape 16"/>
          <p:cNvSpPr/>
          <p:nvPr/>
        </p:nvSpPr>
        <p:spPr>
          <a:xfrm>
            <a:off x="2103120" y="3291840"/>
            <a:ext cx="91" cy="1097280"/>
          </a:xfrm>
          <a:prstGeom prst="line">
            <a:avLst/>
          </a:prstGeom>
          <a:noFill/>
          <a:ln w="38100">
            <a:solidFill>
              <a:srgbClr val="C8414C"/>
            </a:solidFill>
            <a:prstDash val="solid"/>
            <a:tailEnd type="triangle"/>
          </a:ln>
        </p:spPr>
      </p:sp>
      <p:sp>
        <p:nvSpPr>
          <p:cNvPr id="19" name="Text 17"/>
          <p:cNvSpPr/>
          <p:nvPr/>
        </p:nvSpPr>
        <p:spPr>
          <a:xfrm>
            <a:off x="2176272" y="4206240"/>
            <a:ext cx="1188720" cy="274320"/>
          </a:xfrm>
          <a:prstGeom prst="rect">
            <a:avLst/>
          </a:prstGeom>
          <a:noFill/>
          <a:ln/>
        </p:spPr>
        <p:txBody>
          <a:bodyPr wrap="square" lIns="0" tIns="0" rIns="0" bIns="0" rtlCol="0" anchor="ctr"/>
          <a:lstStyle/>
          <a:p>
            <a:pPr algn="ctr" indent="0" marL="0">
              <a:buNone/>
            </a:pPr>
            <a:r>
              <a:rPr lang="en-US" sz="1100" b="1" dirty="0">
                <a:solidFill>
                  <a:srgbClr val="C8414C"/>
                </a:solidFill>
                <a:latin typeface="Calibri" pitchFamily="34" charset="0"/>
                <a:ea typeface="Calibri" pitchFamily="34" charset="-122"/>
                <a:cs typeface="Calibri" pitchFamily="34" charset="-120"/>
              </a:rPr>
              <a:t>weight 40 N</a:t>
            </a:r>
            <a:endParaRPr lang="en-US" sz="1100" dirty="0"/>
          </a:p>
        </p:txBody>
      </p:sp>
      <p:sp>
        <p:nvSpPr>
          <p:cNvPr id="20" name="Shape 18"/>
          <p:cNvSpPr/>
          <p:nvPr/>
        </p:nvSpPr>
        <p:spPr>
          <a:xfrm flipV="1">
            <a:off x="2103120" y="2194560"/>
            <a:ext cx="91" cy="1097280"/>
          </a:xfrm>
          <a:prstGeom prst="line">
            <a:avLst/>
          </a:prstGeom>
          <a:noFill/>
          <a:ln w="38100">
            <a:solidFill>
              <a:srgbClr val="2E5BD8"/>
            </a:solidFill>
            <a:prstDash val="solid"/>
            <a:tailEnd type="triangle"/>
          </a:ln>
        </p:spPr>
      </p:sp>
      <p:sp>
        <p:nvSpPr>
          <p:cNvPr id="21" name="Text 19"/>
          <p:cNvSpPr/>
          <p:nvPr/>
        </p:nvSpPr>
        <p:spPr>
          <a:xfrm>
            <a:off x="1280160" y="1901952"/>
            <a:ext cx="1645920" cy="274320"/>
          </a:xfrm>
          <a:prstGeom prst="rect">
            <a:avLst/>
          </a:prstGeom>
          <a:noFill/>
          <a:ln/>
        </p:spPr>
        <p:txBody>
          <a:bodyPr wrap="square" lIns="0" tIns="0" rIns="0" bIns="0" rtlCol="0" anchor="ctr"/>
          <a:lstStyle/>
          <a:p>
            <a:pPr algn="ctr" indent="0" marL="0">
              <a:buNone/>
            </a:pPr>
            <a:r>
              <a:rPr lang="en-US" sz="1100" b="1" dirty="0">
                <a:solidFill>
                  <a:srgbClr val="2E5BD8"/>
                </a:solidFill>
                <a:latin typeface="Calibri" pitchFamily="34" charset="0"/>
                <a:ea typeface="Calibri" pitchFamily="34" charset="-122"/>
                <a:cs typeface="Calibri" pitchFamily="34" charset="-120"/>
              </a:rPr>
              <a:t>normal force 40 N</a:t>
            </a:r>
            <a:endParaRPr lang="en-US" sz="1100" dirty="0"/>
          </a:p>
        </p:txBody>
      </p:sp>
      <p:sp>
        <p:nvSpPr>
          <p:cNvPr id="22" name="Text 20"/>
          <p:cNvSpPr/>
          <p:nvPr/>
        </p:nvSpPr>
        <p:spPr>
          <a:xfrm>
            <a:off x="3931920" y="1828800"/>
            <a:ext cx="1737360" cy="256032"/>
          </a:xfrm>
          <a:prstGeom prst="rect">
            <a:avLst/>
          </a:prstGeom>
          <a:noFill/>
          <a:ln/>
        </p:spPr>
        <p:txBody>
          <a:bodyPr wrap="square" lIns="0" tIns="0" rIns="0" bIns="0" rtlCol="0" anchor="ctr"/>
          <a:lstStyle/>
          <a:p>
            <a:pPr algn="ctr" indent="0" marL="0">
              <a:buNone/>
            </a:pPr>
            <a:r>
              <a:rPr lang="en-US" sz="1200" b="1" dirty="0">
                <a:solidFill>
                  <a:srgbClr val="1A2340"/>
                </a:solidFill>
                <a:latin typeface="Calibri" pitchFamily="34" charset="0"/>
                <a:ea typeface="Calibri" pitchFamily="34" charset="-122"/>
                <a:cs typeface="Calibri" pitchFamily="34" charset="-120"/>
              </a:rPr>
              <a:t>Resultant force</a:t>
            </a:r>
            <a:endParaRPr lang="en-US" sz="1200" dirty="0"/>
          </a:p>
        </p:txBody>
      </p:sp>
      <p:sp>
        <p:nvSpPr>
          <p:cNvPr id="23" name="Shape 21"/>
          <p:cNvSpPr/>
          <p:nvPr/>
        </p:nvSpPr>
        <p:spPr>
          <a:xfrm>
            <a:off x="4142232" y="2450592"/>
            <a:ext cx="128016" cy="128016"/>
          </a:xfrm>
          <a:prstGeom prst="ellipse">
            <a:avLst/>
          </a:prstGeom>
          <a:solidFill>
            <a:srgbClr val="1A2340"/>
          </a:solidFill>
          <a:ln w="12700">
            <a:solidFill>
              <a:srgbClr val="1A2340"/>
            </a:solidFill>
            <a:prstDash val="solid"/>
          </a:ln>
        </p:spPr>
      </p:sp>
      <p:sp>
        <p:nvSpPr>
          <p:cNvPr id="24" name="Shape 22"/>
          <p:cNvSpPr/>
          <p:nvPr/>
        </p:nvSpPr>
        <p:spPr>
          <a:xfrm>
            <a:off x="4206240" y="2514600"/>
            <a:ext cx="548640" cy="91"/>
          </a:xfrm>
          <a:prstGeom prst="line">
            <a:avLst/>
          </a:prstGeom>
          <a:noFill/>
          <a:ln w="44450">
            <a:solidFill>
              <a:srgbClr val="C8414C"/>
            </a:solidFill>
            <a:prstDash val="solid"/>
            <a:tailEnd type="triangle"/>
          </a:ln>
        </p:spPr>
      </p:sp>
      <p:sp>
        <p:nvSpPr>
          <p:cNvPr id="25" name="Text 23"/>
          <p:cNvSpPr/>
          <p:nvPr/>
        </p:nvSpPr>
        <p:spPr>
          <a:xfrm>
            <a:off x="3931920" y="2697480"/>
            <a:ext cx="1737360" cy="256032"/>
          </a:xfrm>
          <a:prstGeom prst="rect">
            <a:avLst/>
          </a:prstGeom>
          <a:noFill/>
          <a:ln/>
        </p:spPr>
        <p:txBody>
          <a:bodyPr wrap="square" lIns="0" tIns="0" rIns="0" bIns="0" rtlCol="0" anchor="ctr"/>
          <a:lstStyle/>
          <a:p>
            <a:pPr algn="ctr" indent="0" marL="0">
              <a:buNone/>
            </a:pPr>
            <a:r>
              <a:rPr lang="en-US" sz="1100" b="1" dirty="0">
                <a:solidFill>
                  <a:srgbClr val="C8414C"/>
                </a:solidFill>
                <a:latin typeface="Calibri" pitchFamily="34" charset="0"/>
                <a:ea typeface="Calibri" pitchFamily="34" charset="-122"/>
                <a:cs typeface="Calibri" pitchFamily="34" charset="-120"/>
              </a:rPr>
              <a:t>20 N to the right</a:t>
            </a:r>
            <a:endParaRPr lang="en-US" sz="1100" dirty="0"/>
          </a:p>
        </p:txBody>
      </p:sp>
      <p:sp>
        <p:nvSpPr>
          <p:cNvPr id="26" name="Text 24"/>
          <p:cNvSpPr/>
          <p:nvPr/>
        </p:nvSpPr>
        <p:spPr>
          <a:xfrm>
            <a:off x="3931920" y="3017520"/>
            <a:ext cx="1737360" cy="256032"/>
          </a:xfrm>
          <a:prstGeom prst="rect">
            <a:avLst/>
          </a:prstGeom>
          <a:noFill/>
          <a:ln/>
        </p:spPr>
        <p:txBody>
          <a:bodyPr wrap="square" lIns="0" tIns="0" rIns="0" bIns="0" rtlCol="0" anchor="ctr"/>
          <a:lstStyle/>
          <a:p>
            <a:pPr algn="ctr" indent="0" marL="0">
              <a:buNone/>
            </a:pPr>
            <a:r>
              <a:rPr lang="en-US" sz="1100" dirty="0">
                <a:solidFill>
                  <a:srgbClr val="262B3A"/>
                </a:solidFill>
                <a:latin typeface="Calibri" pitchFamily="34" charset="0"/>
                <a:ea typeface="Calibri" pitchFamily="34" charset="-122"/>
                <a:cs typeface="Calibri" pitchFamily="34" charset="-120"/>
              </a:rPr>
              <a:t>= 50 − 30</a:t>
            </a:r>
            <a:endParaRPr lang="en-US" sz="1100" dirty="0"/>
          </a:p>
        </p:txBody>
      </p:sp>
      <p:sp>
        <p:nvSpPr>
          <p:cNvPr id="27" name="Shape 25"/>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28" name="Text 26"/>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Adding forces along a line</a:t>
            </a:r>
            <a:endParaRPr lang="en-US" sz="1300" dirty="0"/>
          </a:p>
        </p:txBody>
      </p:sp>
      <p:sp>
        <p:nvSpPr>
          <p:cNvPr id="29" name="Text 27"/>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a:t>
            </a:r>
            <a:r>
              <a:rPr lang="en-US" sz="1150" b="1" dirty="0">
                <a:solidFill>
                  <a:srgbClr val="262B3A"/>
                </a:solidFill>
                <a:latin typeface="Calibri" pitchFamily="34" charset="0"/>
                <a:ea typeface="Calibri" pitchFamily="34" charset="-122"/>
                <a:cs typeface="Calibri" pitchFamily="34" charset="-120"/>
              </a:rPr>
              <a:t>resultant force</a:t>
            </a:r>
            <a:r>
              <a:rPr lang="en-US" sz="1150" dirty="0">
                <a:solidFill>
                  <a:srgbClr val="262B3A"/>
                </a:solidFill>
                <a:latin typeface="Calibri" pitchFamily="34" charset="0"/>
                <a:ea typeface="Calibri" pitchFamily="34" charset="-122"/>
                <a:cs typeface="Calibri" pitchFamily="34" charset="-120"/>
              </a:rPr>
              <a:t> is the single force that has the same effect as all the forces acting together.</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Forces in the </a:t>
            </a:r>
            <a:r>
              <a:rPr lang="en-US" sz="1150" b="1" dirty="0">
                <a:solidFill>
                  <a:srgbClr val="262B3A"/>
                </a:solidFill>
                <a:latin typeface="Calibri" pitchFamily="34" charset="0"/>
                <a:ea typeface="Calibri" pitchFamily="34" charset="-122"/>
                <a:cs typeface="Calibri" pitchFamily="34" charset="-120"/>
              </a:rPr>
              <a:t>same</a:t>
            </a:r>
            <a:r>
              <a:rPr lang="en-US" sz="1150" dirty="0">
                <a:solidFill>
                  <a:srgbClr val="262B3A"/>
                </a:solidFill>
                <a:latin typeface="Calibri" pitchFamily="34" charset="0"/>
                <a:ea typeface="Calibri" pitchFamily="34" charset="-122"/>
                <a:cs typeface="Calibri" pitchFamily="34" charset="-120"/>
              </a:rPr>
              <a:t> direction: </a:t>
            </a:r>
            <a:r>
              <a:rPr lang="en-US" sz="1150" b="1" dirty="0">
                <a:solidFill>
                  <a:srgbClr val="262B3A"/>
                </a:solidFill>
                <a:latin typeface="Calibri" pitchFamily="34" charset="0"/>
                <a:ea typeface="Calibri" pitchFamily="34" charset="-122"/>
                <a:cs typeface="Calibri" pitchFamily="34" charset="-120"/>
              </a:rPr>
              <a:t>add</a:t>
            </a:r>
            <a:r>
              <a:rPr lang="en-US" sz="1150" dirty="0">
                <a:solidFill>
                  <a:srgbClr val="262B3A"/>
                </a:solidFill>
                <a:latin typeface="Calibri" pitchFamily="34" charset="0"/>
                <a:ea typeface="Calibri" pitchFamily="34" charset="-122"/>
                <a:cs typeface="Calibri" pitchFamily="34" charset="-120"/>
              </a:rPr>
              <a:t>. Forces in </a:t>
            </a:r>
            <a:r>
              <a:rPr lang="en-US" sz="1150" b="1" dirty="0">
                <a:solidFill>
                  <a:srgbClr val="262B3A"/>
                </a:solidFill>
                <a:latin typeface="Calibri" pitchFamily="34" charset="0"/>
                <a:ea typeface="Calibri" pitchFamily="34" charset="-122"/>
                <a:cs typeface="Calibri" pitchFamily="34" charset="-120"/>
              </a:rPr>
              <a:t>opposite</a:t>
            </a:r>
            <a:r>
              <a:rPr lang="en-US" sz="1150" dirty="0">
                <a:solidFill>
                  <a:srgbClr val="262B3A"/>
                </a:solidFill>
                <a:latin typeface="Calibri" pitchFamily="34" charset="0"/>
                <a:ea typeface="Calibri" pitchFamily="34" charset="-122"/>
                <a:cs typeface="Calibri" pitchFamily="34" charset="-120"/>
              </a:rPr>
              <a:t> directions: </a:t>
            </a:r>
            <a:r>
              <a:rPr lang="en-US" sz="1150" b="1" dirty="0">
                <a:solidFill>
                  <a:srgbClr val="262B3A"/>
                </a:solidFill>
                <a:latin typeface="Calibri" pitchFamily="34" charset="0"/>
                <a:ea typeface="Calibri" pitchFamily="34" charset="-122"/>
                <a:cs typeface="Calibri" pitchFamily="34" charset="-120"/>
              </a:rPr>
              <a:t>subtract</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Resultant ≠ 0 → the object </a:t>
            </a:r>
            <a:r>
              <a:rPr lang="en-US" sz="1150" b="1" dirty="0">
                <a:solidFill>
                  <a:srgbClr val="262B3A"/>
                </a:solidFill>
                <a:latin typeface="Calibri" pitchFamily="34" charset="0"/>
                <a:ea typeface="Calibri" pitchFamily="34" charset="-122"/>
                <a:cs typeface="Calibri" pitchFamily="34" charset="-120"/>
              </a:rPr>
              <a:t>accelerates</a:t>
            </a:r>
            <a:r>
              <a:rPr lang="en-US" sz="1150" dirty="0">
                <a:solidFill>
                  <a:srgbClr val="262B3A"/>
                </a:solidFill>
                <a:latin typeface="Calibri" pitchFamily="34" charset="0"/>
                <a:ea typeface="Calibri" pitchFamily="34" charset="-122"/>
                <a:cs typeface="Calibri" pitchFamily="34" charset="-120"/>
              </a:rPr>
              <a:t> in the direction of the resultant (F = m × a).</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Balanced</a:t>
            </a:r>
            <a:r>
              <a:rPr lang="en-US" sz="1150" dirty="0">
                <a:solidFill>
                  <a:srgbClr val="262B3A"/>
                </a:solidFill>
                <a:latin typeface="Calibri" pitchFamily="34" charset="0"/>
                <a:ea typeface="Calibri" pitchFamily="34" charset="-122"/>
                <a:cs typeface="Calibri" pitchFamily="34" charset="-120"/>
              </a:rPr>
              <a:t> forces: resultant = 0 → the object stays </a:t>
            </a:r>
            <a:r>
              <a:rPr lang="en-US" sz="1150" b="1" dirty="0">
                <a:solidFill>
                  <a:srgbClr val="262B3A"/>
                </a:solidFill>
                <a:latin typeface="Calibri" pitchFamily="34" charset="0"/>
                <a:ea typeface="Calibri" pitchFamily="34" charset="-122"/>
                <a:cs typeface="Calibri" pitchFamily="34" charset="-120"/>
              </a:rPr>
              <a:t>still</a:t>
            </a:r>
            <a:r>
              <a:rPr lang="en-US" sz="1150" dirty="0">
                <a:solidFill>
                  <a:srgbClr val="262B3A"/>
                </a:solidFill>
                <a:latin typeface="Calibri" pitchFamily="34" charset="0"/>
                <a:ea typeface="Calibri" pitchFamily="34" charset="-122"/>
                <a:cs typeface="Calibri" pitchFamily="34" charset="-120"/>
              </a:rPr>
              <a:t> or moves at </a:t>
            </a:r>
            <a:r>
              <a:rPr lang="en-US" sz="1150" b="1" dirty="0">
                <a:solidFill>
                  <a:srgbClr val="262B3A"/>
                </a:solidFill>
                <a:latin typeface="Calibri" pitchFamily="34" charset="0"/>
                <a:ea typeface="Calibri" pitchFamily="34" charset="-122"/>
                <a:cs typeface="Calibri" pitchFamily="34" charset="-120"/>
              </a:rPr>
              <a:t>constant velocity</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30" name="Shape 28"/>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31" name="Text 29"/>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32" name="Text 30"/>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Find the resultant force on the box and its acceleration.</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Vertical   </a:t>
            </a:r>
            <a:r>
              <a:rPr lang="en-US" sz="1050" dirty="0">
                <a:solidFill>
                  <a:srgbClr val="262B3A"/>
                </a:solidFill>
                <a:latin typeface="Calibri" pitchFamily="34" charset="0"/>
                <a:ea typeface="Calibri" pitchFamily="34" charset="-122"/>
                <a:cs typeface="Calibri" pitchFamily="34" charset="-120"/>
              </a:rPr>
              <a:t>40 N − 40 N = 0 N</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Horizontal   </a:t>
            </a:r>
            <a:r>
              <a:rPr lang="en-US" sz="1050" dirty="0">
                <a:solidFill>
                  <a:srgbClr val="262B3A"/>
                </a:solidFill>
                <a:latin typeface="Calibri" pitchFamily="34" charset="0"/>
                <a:ea typeface="Calibri" pitchFamily="34" charset="-122"/>
                <a:cs typeface="Calibri" pitchFamily="34" charset="-120"/>
              </a:rPr>
              <a:t>50 N − 30 N = 20 N to the right</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F = m × a   </a:t>
            </a:r>
            <a:r>
              <a:rPr lang="en-US" sz="1050" dirty="0">
                <a:solidFill>
                  <a:srgbClr val="262B3A"/>
                </a:solidFill>
                <a:latin typeface="Calibri" pitchFamily="34" charset="0"/>
                <a:ea typeface="Calibri" pitchFamily="34" charset="-122"/>
                <a:cs typeface="Calibri" pitchFamily="34" charset="-120"/>
              </a:rPr>
              <a:t>a = F ÷ m = 20 ÷ 4.0</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resultant 20 N right; a = 5.0 m/s²</a:t>
            </a:r>
            <a:endParaRPr lang="en-US" sz="1050" dirty="0"/>
          </a:p>
        </p:txBody>
      </p:sp>
      <p:sp>
        <p:nvSpPr>
          <p:cNvPr id="33" name="Shape 31"/>
          <p:cNvSpPr/>
          <p:nvPr/>
        </p:nvSpPr>
        <p:spPr>
          <a:xfrm>
            <a:off x="411480" y="5833872"/>
            <a:ext cx="11368735" cy="530352"/>
          </a:xfrm>
          <a:prstGeom prst="rect">
            <a:avLst/>
          </a:prstGeom>
          <a:solidFill>
            <a:srgbClr val="FFF4E0"/>
          </a:solidFill>
          <a:ln w="6350">
            <a:solidFill>
              <a:srgbClr val="F1D9A8"/>
            </a:solidFill>
            <a:prstDash val="solid"/>
          </a:ln>
        </p:spPr>
      </p:sp>
      <p:sp>
        <p:nvSpPr>
          <p:cNvPr id="34" name="Shape 32"/>
          <p:cNvSpPr/>
          <p:nvPr/>
        </p:nvSpPr>
        <p:spPr>
          <a:xfrm>
            <a:off x="411480" y="5833872"/>
            <a:ext cx="82296" cy="530352"/>
          </a:xfrm>
          <a:prstGeom prst="rect">
            <a:avLst/>
          </a:prstGeom>
          <a:solidFill>
            <a:srgbClr val="E39A2F"/>
          </a:solidFill>
          <a:ln w="12700">
            <a:solidFill>
              <a:srgbClr val="E39A2F"/>
            </a:solidFill>
            <a:prstDash val="solid"/>
          </a:ln>
        </p:spPr>
      </p:sp>
      <p:sp>
        <p:nvSpPr>
          <p:cNvPr id="35" name="Text 33"/>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1200 kg car has a driving force of 3000 N and resistive forces of 1800 N. Calculate the resultant force and its acceleration.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2</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9.2, 9.4, 9.5 • vectors, free body diagrams and resultant forces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9 Forces and their effects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2  |  12</a:t>
            </a:r>
            <a:endParaRPr lang="en-US" sz="1000" dirty="0"/>
          </a:p>
        </p:txBody>
      </p:sp>
      <p:sp>
        <p:nvSpPr>
          <p:cNvPr id="8" name="Shape 6"/>
          <p:cNvSpPr/>
          <p:nvPr/>
        </p:nvSpPr>
        <p:spPr>
          <a:xfrm>
            <a:off x="411480" y="1207008"/>
            <a:ext cx="11368735" cy="1594104"/>
          </a:xfrm>
          <a:prstGeom prst="roundRect">
            <a:avLst>
              <a:gd name="adj" fmla="val 2868"/>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State whether each quantity is a </a:t>
            </a:r>
            <a:r>
              <a:rPr lang="en-US" sz="1250" b="1" dirty="0">
                <a:solidFill>
                  <a:srgbClr val="262B3A"/>
                </a:solidFill>
                <a:latin typeface="Calibri" pitchFamily="34" charset="0"/>
                <a:ea typeface="Calibri" pitchFamily="34" charset="-122"/>
                <a:cs typeface="Calibri" pitchFamily="34" charset="-120"/>
              </a:rPr>
              <a:t>vector</a:t>
            </a:r>
            <a:r>
              <a:rPr lang="en-US" sz="1250" dirty="0">
                <a:solidFill>
                  <a:srgbClr val="262B3A"/>
                </a:solidFill>
                <a:latin typeface="Calibri" pitchFamily="34" charset="0"/>
                <a:ea typeface="Calibri" pitchFamily="34" charset="-122"/>
                <a:cs typeface="Calibri" pitchFamily="34" charset="-120"/>
              </a:rPr>
              <a:t> or a </a:t>
            </a:r>
            <a:r>
              <a:rPr lang="en-US" sz="1250" b="1" dirty="0">
                <a:solidFill>
                  <a:srgbClr val="262B3A"/>
                </a:solidFill>
                <a:latin typeface="Calibri" pitchFamily="34" charset="0"/>
                <a:ea typeface="Calibri" pitchFamily="34" charset="-122"/>
                <a:cs typeface="Calibri" pitchFamily="34" charset="-120"/>
              </a:rPr>
              <a:t>scalar</a:t>
            </a:r>
            <a:r>
              <a:rPr lang="en-US" sz="1250" dirty="0">
                <a:solidFill>
                  <a:srgbClr val="262B3A"/>
                </a:solidFill>
                <a:latin typeface="Calibri" pitchFamily="34" charset="0"/>
                <a:ea typeface="Calibri" pitchFamily="34" charset="-122"/>
                <a:cs typeface="Calibri" pitchFamily="34" charset="-120"/>
              </a:rPr>
              <a:t>: velocity, mass, weight, energy.</a:t>
            </a:r>
            <a:endParaRPr lang="en-US" sz="1250" dirty="0"/>
          </a:p>
        </p:txBody>
      </p:sp>
      <p:sp>
        <p:nvSpPr>
          <p:cNvPr id="12" name="Text 10"/>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947416"/>
            <a:ext cx="11368735" cy="1594104"/>
          </a:xfrm>
          <a:prstGeom prst="roundRect">
            <a:avLst>
              <a:gd name="adj" fmla="val 2868"/>
            </a:avLst>
          </a:prstGeom>
          <a:solidFill>
            <a:srgbClr val="FFFFFF"/>
          </a:solidFill>
          <a:ln w="12700">
            <a:solidFill>
              <a:srgbClr val="D5DCEB"/>
            </a:solidFill>
            <a:prstDash val="solid"/>
          </a:ln>
        </p:spPr>
      </p:sp>
      <p:sp>
        <p:nvSpPr>
          <p:cNvPr id="14" name="Shape 12"/>
          <p:cNvSpPr/>
          <p:nvPr/>
        </p:nvSpPr>
        <p:spPr>
          <a:xfrm>
            <a:off x="411480" y="2947416"/>
            <a:ext cx="2103120" cy="292608"/>
          </a:xfrm>
          <a:prstGeom prst="rect">
            <a:avLst/>
          </a:prstGeom>
          <a:solidFill>
            <a:srgbClr val="F5A742"/>
          </a:solidFill>
          <a:ln w="12700">
            <a:solidFill>
              <a:srgbClr val="F5A742"/>
            </a:solidFill>
            <a:prstDash val="solid"/>
          </a:ln>
        </p:spPr>
      </p:sp>
      <p:sp>
        <p:nvSpPr>
          <p:cNvPr id="15" name="Text 13"/>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Shape 14"/>
          <p:cNvSpPr/>
          <p:nvPr/>
        </p:nvSpPr>
        <p:spPr>
          <a:xfrm>
            <a:off x="2606040" y="2956560"/>
            <a:ext cx="411480" cy="274320"/>
          </a:xfrm>
          <a:prstGeom prst="roundRect">
            <a:avLst>
              <a:gd name="adj" fmla="val 50000"/>
            </a:avLst>
          </a:prstGeom>
          <a:solidFill>
            <a:srgbClr val="C8414C"/>
          </a:solidFill>
          <a:ln w="12700">
            <a:solidFill>
              <a:srgbClr val="C8414C"/>
            </a:solidFill>
            <a:prstDash val="solid"/>
          </a:ln>
        </p:spPr>
      </p:sp>
      <p:sp>
        <p:nvSpPr>
          <p:cNvPr id="17" name="Text 15"/>
          <p:cNvSpPr/>
          <p:nvPr/>
        </p:nvSpPr>
        <p:spPr>
          <a:xfrm>
            <a:off x="2606040" y="2956560"/>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18" name="Text 16"/>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skydiver has a weight of </a:t>
            </a:r>
            <a:r>
              <a:rPr lang="en-US" sz="1250" b="1" dirty="0">
                <a:solidFill>
                  <a:srgbClr val="262B3A"/>
                </a:solidFill>
                <a:latin typeface="Calibri" pitchFamily="34" charset="0"/>
                <a:ea typeface="Calibri" pitchFamily="34" charset="-122"/>
                <a:cs typeface="Calibri" pitchFamily="34" charset="-120"/>
              </a:rPr>
              <a:t>700 N</a:t>
            </a:r>
            <a:r>
              <a:rPr lang="en-US" sz="1250" dirty="0">
                <a:solidFill>
                  <a:srgbClr val="262B3A"/>
                </a:solidFill>
                <a:latin typeface="Calibri" pitchFamily="34" charset="0"/>
                <a:ea typeface="Calibri" pitchFamily="34" charset="-122"/>
                <a:cs typeface="Calibri" pitchFamily="34" charset="-120"/>
              </a:rPr>
              <a:t>. The air resistance on her is </a:t>
            </a:r>
            <a:r>
              <a:rPr lang="en-US" sz="1250" b="1" dirty="0">
                <a:solidFill>
                  <a:srgbClr val="262B3A"/>
                </a:solidFill>
                <a:latin typeface="Calibri" pitchFamily="34" charset="0"/>
                <a:ea typeface="Calibri" pitchFamily="34" charset="-122"/>
                <a:cs typeface="Calibri" pitchFamily="34" charset="-120"/>
              </a:rPr>
              <a:t>250 N</a:t>
            </a:r>
            <a:r>
              <a:rPr lang="en-US" sz="1250" dirty="0">
                <a:solidFill>
                  <a:srgbClr val="262B3A"/>
                </a:solidFill>
                <a:latin typeface="Calibri" pitchFamily="34" charset="0"/>
                <a:ea typeface="Calibri" pitchFamily="34" charset="-122"/>
                <a:cs typeface="Calibri" pitchFamily="34" charset="-120"/>
              </a:rPr>
              <a:t>. Draw a free body diagram and calculate the resultant force on her.</a:t>
            </a:r>
            <a:endParaRPr lang="en-US" sz="1250" dirty="0"/>
          </a:p>
        </p:txBody>
      </p:sp>
      <p:sp>
        <p:nvSpPr>
          <p:cNvPr id="19" name="Text 17"/>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0" name="Shape 18"/>
          <p:cNvSpPr/>
          <p:nvPr/>
        </p:nvSpPr>
        <p:spPr>
          <a:xfrm>
            <a:off x="411480" y="4687824"/>
            <a:ext cx="11368735" cy="1594104"/>
          </a:xfrm>
          <a:prstGeom prst="roundRect">
            <a:avLst>
              <a:gd name="adj" fmla="val 2868"/>
            </a:avLst>
          </a:prstGeom>
          <a:solidFill>
            <a:srgbClr val="FFFFFF"/>
          </a:solidFill>
          <a:ln w="12700">
            <a:solidFill>
              <a:srgbClr val="D5DCEB"/>
            </a:solidFill>
            <a:prstDash val="solid"/>
          </a:ln>
        </p:spPr>
      </p:sp>
      <p:sp>
        <p:nvSpPr>
          <p:cNvPr id="21" name="Shape 19"/>
          <p:cNvSpPr/>
          <p:nvPr/>
        </p:nvSpPr>
        <p:spPr>
          <a:xfrm>
            <a:off x="411480" y="4687824"/>
            <a:ext cx="2103120" cy="292608"/>
          </a:xfrm>
          <a:prstGeom prst="rect">
            <a:avLst/>
          </a:prstGeom>
          <a:solidFill>
            <a:srgbClr val="F5A742"/>
          </a:solidFill>
          <a:ln w="12700">
            <a:solidFill>
              <a:srgbClr val="F5A742"/>
            </a:solidFill>
            <a:prstDash val="solid"/>
          </a:ln>
        </p:spPr>
      </p:sp>
      <p:sp>
        <p:nvSpPr>
          <p:cNvPr id="22" name="Text 20"/>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3" name="Shape 21"/>
          <p:cNvSpPr/>
          <p:nvPr/>
        </p:nvSpPr>
        <p:spPr>
          <a:xfrm>
            <a:off x="2606040" y="4696968"/>
            <a:ext cx="411480" cy="274320"/>
          </a:xfrm>
          <a:prstGeom prst="roundRect">
            <a:avLst>
              <a:gd name="adj" fmla="val 50000"/>
            </a:avLst>
          </a:prstGeom>
          <a:solidFill>
            <a:srgbClr val="C8414C"/>
          </a:solidFill>
          <a:ln w="12700">
            <a:solidFill>
              <a:srgbClr val="C8414C"/>
            </a:solidFill>
            <a:prstDash val="solid"/>
          </a:ln>
        </p:spPr>
      </p:sp>
      <p:sp>
        <p:nvSpPr>
          <p:cNvPr id="24" name="Text 22"/>
          <p:cNvSpPr/>
          <p:nvPr/>
        </p:nvSpPr>
        <p:spPr>
          <a:xfrm>
            <a:off x="2606040" y="4696968"/>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5" name="Text 23"/>
          <p:cNvSpPr/>
          <p:nvPr/>
        </p:nvSpPr>
        <p:spPr>
          <a:xfrm>
            <a:off x="640080" y="5053584"/>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Later the air resistance on her is </a:t>
            </a:r>
            <a:r>
              <a:rPr lang="en-US" sz="1250" b="1" dirty="0">
                <a:solidFill>
                  <a:srgbClr val="262B3A"/>
                </a:solidFill>
                <a:latin typeface="Calibri" pitchFamily="34" charset="0"/>
                <a:ea typeface="Calibri" pitchFamily="34" charset="-122"/>
                <a:cs typeface="Calibri" pitchFamily="34" charset="-120"/>
              </a:rPr>
              <a:t>700 N</a:t>
            </a:r>
            <a:r>
              <a:rPr lang="en-US" sz="1250" dirty="0">
                <a:solidFill>
                  <a:srgbClr val="262B3A"/>
                </a:solidFill>
                <a:latin typeface="Calibri" pitchFamily="34" charset="0"/>
                <a:ea typeface="Calibri" pitchFamily="34" charset="-122"/>
                <a:cs typeface="Calibri" pitchFamily="34" charset="-120"/>
              </a:rPr>
              <a:t>. Explain what happens to her motion.</a:t>
            </a:r>
            <a:endParaRPr lang="en-US" sz="1250" dirty="0"/>
          </a:p>
        </p:txBody>
      </p:sp>
      <p:sp>
        <p:nvSpPr>
          <p:cNvPr id="26" name="Text 24"/>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Scale drawing: forces at right angles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9.3 • vector diagram for a resultant force (scale drawings only)</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9 Forces and their effects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9.3  |  13</a:t>
            </a:r>
            <a:endParaRPr lang="en-US" sz="1000" dirty="0"/>
          </a:p>
        </p:txBody>
      </p:sp>
      <p:sp>
        <p:nvSpPr>
          <p:cNvPr id="10" name="Shape 8"/>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scale: 1 square = 10 N; vectors joined tip to tail</a:t>
            </a:r>
            <a:endParaRPr lang="en-US" sz="1000" dirty="0"/>
          </a:p>
        </p:txBody>
      </p:sp>
      <p:sp>
        <p:nvSpPr>
          <p:cNvPr id="12" name="Text 10"/>
          <p:cNvSpPr/>
          <p:nvPr/>
        </p:nvSpPr>
        <p:spPr>
          <a:xfrm>
            <a:off x="594360" y="1325880"/>
            <a:ext cx="2103120" cy="256032"/>
          </a:xfrm>
          <a:prstGeom prst="rect">
            <a:avLst/>
          </a:prstGeom>
          <a:noFill/>
          <a:ln/>
        </p:spPr>
        <p:txBody>
          <a:bodyPr wrap="square" lIns="0" tIns="0" rIns="0" bIns="0" rtlCol="0" anchor="ctr"/>
          <a:lstStyle/>
          <a:p>
            <a:pPr algn="l" indent="0" marL="0">
              <a:buNone/>
            </a:pPr>
            <a:r>
              <a:rPr lang="en-US" sz="1150" b="1" dirty="0">
                <a:solidFill>
                  <a:srgbClr val="1A2340"/>
                </a:solidFill>
                <a:latin typeface="Calibri" pitchFamily="34" charset="0"/>
                <a:ea typeface="Calibri" pitchFamily="34" charset="-122"/>
                <a:cs typeface="Calibri" pitchFamily="34" charset="-120"/>
              </a:rPr>
              <a:t>Forces on the sledge</a:t>
            </a:r>
            <a:endParaRPr lang="en-US" sz="1150" dirty="0"/>
          </a:p>
        </p:txBody>
      </p:sp>
      <p:sp>
        <p:nvSpPr>
          <p:cNvPr id="13" name="Shape 11"/>
          <p:cNvSpPr/>
          <p:nvPr/>
        </p:nvSpPr>
        <p:spPr>
          <a:xfrm>
            <a:off x="777240" y="3017520"/>
            <a:ext cx="274320" cy="182880"/>
          </a:xfrm>
          <a:prstGeom prst="rect">
            <a:avLst/>
          </a:prstGeom>
          <a:solidFill>
            <a:srgbClr val="8A6A3A"/>
          </a:solidFill>
          <a:ln/>
        </p:spPr>
      </p:sp>
      <p:sp>
        <p:nvSpPr>
          <p:cNvPr id="14" name="Shape 12"/>
          <p:cNvSpPr/>
          <p:nvPr/>
        </p:nvSpPr>
        <p:spPr>
          <a:xfrm>
            <a:off x="914400" y="3108960"/>
            <a:ext cx="1097280" cy="91"/>
          </a:xfrm>
          <a:prstGeom prst="line">
            <a:avLst/>
          </a:prstGeom>
          <a:noFill/>
          <a:ln w="34925">
            <a:solidFill>
              <a:srgbClr val="2E5BD8"/>
            </a:solidFill>
            <a:prstDash val="solid"/>
            <a:tailEnd type="triangle"/>
          </a:ln>
        </p:spPr>
      </p:sp>
      <p:sp>
        <p:nvSpPr>
          <p:cNvPr id="15" name="Shape 13"/>
          <p:cNvSpPr/>
          <p:nvPr/>
        </p:nvSpPr>
        <p:spPr>
          <a:xfrm flipV="1">
            <a:off x="914400" y="2286000"/>
            <a:ext cx="91" cy="822960"/>
          </a:xfrm>
          <a:prstGeom prst="line">
            <a:avLst/>
          </a:prstGeom>
          <a:noFill/>
          <a:ln w="34925">
            <a:solidFill>
              <a:srgbClr val="B8730A"/>
            </a:solidFill>
            <a:prstDash val="solid"/>
            <a:tailEnd type="triangle"/>
          </a:ln>
        </p:spPr>
      </p:sp>
      <p:sp>
        <p:nvSpPr>
          <p:cNvPr id="16" name="Text 14"/>
          <p:cNvSpPr/>
          <p:nvPr/>
        </p:nvSpPr>
        <p:spPr>
          <a:xfrm>
            <a:off x="1097280" y="3154680"/>
            <a:ext cx="1097280" cy="256032"/>
          </a:xfrm>
          <a:prstGeom prst="rect">
            <a:avLst/>
          </a:prstGeom>
          <a:noFill/>
          <a:ln/>
        </p:spPr>
        <p:txBody>
          <a:bodyPr wrap="square" lIns="0" tIns="0" rIns="0" bIns="0" rtlCol="0" anchor="ctr"/>
          <a:lstStyle/>
          <a:p>
            <a:pPr algn="l" indent="0" marL="0">
              <a:buNone/>
            </a:pPr>
            <a:r>
              <a:rPr lang="en-US" sz="1050" b="1" dirty="0">
                <a:solidFill>
                  <a:srgbClr val="2E5BD8"/>
                </a:solidFill>
                <a:latin typeface="Calibri" pitchFamily="34" charset="0"/>
                <a:ea typeface="Calibri" pitchFamily="34" charset="-122"/>
                <a:cs typeface="Calibri" pitchFamily="34" charset="-120"/>
              </a:rPr>
              <a:t>40 N east</a:t>
            </a:r>
            <a:endParaRPr lang="en-US" sz="1050" dirty="0"/>
          </a:p>
        </p:txBody>
      </p:sp>
      <p:sp>
        <p:nvSpPr>
          <p:cNvPr id="17" name="Text 15"/>
          <p:cNvSpPr/>
          <p:nvPr/>
        </p:nvSpPr>
        <p:spPr>
          <a:xfrm>
            <a:off x="987552" y="2148840"/>
            <a:ext cx="1097280" cy="256032"/>
          </a:xfrm>
          <a:prstGeom prst="rect">
            <a:avLst/>
          </a:prstGeom>
          <a:noFill/>
          <a:ln/>
        </p:spPr>
        <p:txBody>
          <a:bodyPr wrap="square" lIns="0" tIns="0" rIns="0" bIns="0" rtlCol="0" anchor="ctr"/>
          <a:lstStyle/>
          <a:p>
            <a:pPr algn="l" indent="0" marL="0">
              <a:buNone/>
            </a:pPr>
            <a:r>
              <a:rPr lang="en-US" sz="1050" b="1" dirty="0">
                <a:solidFill>
                  <a:srgbClr val="B8730A"/>
                </a:solidFill>
                <a:latin typeface="Calibri" pitchFamily="34" charset="0"/>
                <a:ea typeface="Calibri" pitchFamily="34" charset="-122"/>
                <a:cs typeface="Calibri" pitchFamily="34" charset="-120"/>
              </a:rPr>
              <a:t>30 N north</a:t>
            </a:r>
            <a:endParaRPr lang="en-US" sz="1050" dirty="0"/>
          </a:p>
        </p:txBody>
      </p:sp>
      <p:sp>
        <p:nvSpPr>
          <p:cNvPr id="18" name="Shape 16"/>
          <p:cNvSpPr/>
          <p:nvPr/>
        </p:nvSpPr>
        <p:spPr>
          <a:xfrm flipV="1">
            <a:off x="822960" y="4434840"/>
            <a:ext cx="91" cy="502920"/>
          </a:xfrm>
          <a:prstGeom prst="line">
            <a:avLst/>
          </a:prstGeom>
          <a:noFill/>
          <a:ln w="19050">
            <a:solidFill>
              <a:srgbClr val="6B7385"/>
            </a:solidFill>
            <a:prstDash val="solid"/>
            <a:tailEnd type="triangle"/>
          </a:ln>
        </p:spPr>
      </p:sp>
      <p:sp>
        <p:nvSpPr>
          <p:cNvPr id="19" name="Text 17"/>
          <p:cNvSpPr/>
          <p:nvPr/>
        </p:nvSpPr>
        <p:spPr>
          <a:xfrm>
            <a:off x="685800" y="4206240"/>
            <a:ext cx="274320" cy="256032"/>
          </a:xfrm>
          <a:prstGeom prst="rect">
            <a:avLst/>
          </a:prstGeom>
          <a:noFill/>
          <a:ln/>
        </p:spPr>
        <p:txBody>
          <a:bodyPr wrap="square" lIns="0" tIns="0" rIns="0" bIns="0" rtlCol="0" anchor="ctr"/>
          <a:lstStyle/>
          <a:p>
            <a:pPr algn="ctr" indent="0" marL="0">
              <a:buNone/>
            </a:pPr>
            <a:r>
              <a:rPr lang="en-US" sz="1050" b="1" dirty="0">
                <a:solidFill>
                  <a:srgbClr val="6B7385"/>
                </a:solidFill>
                <a:latin typeface="Calibri" pitchFamily="34" charset="0"/>
                <a:ea typeface="Calibri" pitchFamily="34" charset="-122"/>
                <a:cs typeface="Calibri" pitchFamily="34" charset="-120"/>
              </a:rPr>
              <a:t>N</a:t>
            </a:r>
            <a:endParaRPr lang="en-US" sz="1050" dirty="0"/>
          </a:p>
        </p:txBody>
      </p:sp>
      <p:sp>
        <p:nvSpPr>
          <p:cNvPr id="20" name="Shape 18"/>
          <p:cNvSpPr/>
          <p:nvPr/>
        </p:nvSpPr>
        <p:spPr>
          <a:xfrm>
            <a:off x="2834640" y="2560320"/>
            <a:ext cx="2743200" cy="2286000"/>
          </a:xfrm>
          <a:prstGeom prst="rect">
            <a:avLst/>
          </a:prstGeom>
          <a:solidFill>
            <a:srgbClr val="FFFFFF"/>
          </a:solidFill>
          <a:ln/>
        </p:spPr>
      </p:sp>
      <p:sp>
        <p:nvSpPr>
          <p:cNvPr id="21" name="Shape 19"/>
          <p:cNvSpPr/>
          <p:nvPr/>
        </p:nvSpPr>
        <p:spPr>
          <a:xfrm>
            <a:off x="2834640" y="2560320"/>
            <a:ext cx="91" cy="2286000"/>
          </a:xfrm>
          <a:prstGeom prst="line">
            <a:avLst/>
          </a:prstGeom>
          <a:noFill/>
          <a:ln w="6350">
            <a:solidFill>
              <a:srgbClr val="C9D3E6"/>
            </a:solidFill>
            <a:prstDash val="solid"/>
          </a:ln>
        </p:spPr>
      </p:sp>
      <p:sp>
        <p:nvSpPr>
          <p:cNvPr id="22" name="Shape 20"/>
          <p:cNvSpPr/>
          <p:nvPr/>
        </p:nvSpPr>
        <p:spPr>
          <a:xfrm>
            <a:off x="3291840" y="2560320"/>
            <a:ext cx="91" cy="2286000"/>
          </a:xfrm>
          <a:prstGeom prst="line">
            <a:avLst/>
          </a:prstGeom>
          <a:noFill/>
          <a:ln w="6350">
            <a:solidFill>
              <a:srgbClr val="E2E8F2"/>
            </a:solidFill>
            <a:prstDash val="solid"/>
          </a:ln>
        </p:spPr>
      </p:sp>
      <p:sp>
        <p:nvSpPr>
          <p:cNvPr id="23" name="Shape 21"/>
          <p:cNvSpPr/>
          <p:nvPr/>
        </p:nvSpPr>
        <p:spPr>
          <a:xfrm>
            <a:off x="3749040" y="2560320"/>
            <a:ext cx="91" cy="2286000"/>
          </a:xfrm>
          <a:prstGeom prst="line">
            <a:avLst/>
          </a:prstGeom>
          <a:noFill/>
          <a:ln w="6350">
            <a:solidFill>
              <a:srgbClr val="E2E8F2"/>
            </a:solidFill>
            <a:prstDash val="solid"/>
          </a:ln>
        </p:spPr>
      </p:sp>
      <p:sp>
        <p:nvSpPr>
          <p:cNvPr id="24" name="Shape 22"/>
          <p:cNvSpPr/>
          <p:nvPr/>
        </p:nvSpPr>
        <p:spPr>
          <a:xfrm>
            <a:off x="4206240" y="2560320"/>
            <a:ext cx="91" cy="2286000"/>
          </a:xfrm>
          <a:prstGeom prst="line">
            <a:avLst/>
          </a:prstGeom>
          <a:noFill/>
          <a:ln w="6350">
            <a:solidFill>
              <a:srgbClr val="E2E8F2"/>
            </a:solidFill>
            <a:prstDash val="solid"/>
          </a:ln>
        </p:spPr>
      </p:sp>
      <p:sp>
        <p:nvSpPr>
          <p:cNvPr id="25" name="Shape 23"/>
          <p:cNvSpPr/>
          <p:nvPr/>
        </p:nvSpPr>
        <p:spPr>
          <a:xfrm>
            <a:off x="4663440" y="2560320"/>
            <a:ext cx="91" cy="2286000"/>
          </a:xfrm>
          <a:prstGeom prst="line">
            <a:avLst/>
          </a:prstGeom>
          <a:noFill/>
          <a:ln w="6350">
            <a:solidFill>
              <a:srgbClr val="E2E8F2"/>
            </a:solidFill>
            <a:prstDash val="solid"/>
          </a:ln>
        </p:spPr>
      </p:sp>
      <p:sp>
        <p:nvSpPr>
          <p:cNvPr id="26" name="Shape 24"/>
          <p:cNvSpPr/>
          <p:nvPr/>
        </p:nvSpPr>
        <p:spPr>
          <a:xfrm>
            <a:off x="5120640" y="2560320"/>
            <a:ext cx="91" cy="2286000"/>
          </a:xfrm>
          <a:prstGeom prst="line">
            <a:avLst/>
          </a:prstGeom>
          <a:noFill/>
          <a:ln w="6350">
            <a:solidFill>
              <a:srgbClr val="C9D3E6"/>
            </a:solidFill>
            <a:prstDash val="solid"/>
          </a:ln>
        </p:spPr>
      </p:sp>
      <p:sp>
        <p:nvSpPr>
          <p:cNvPr id="27" name="Shape 25"/>
          <p:cNvSpPr/>
          <p:nvPr/>
        </p:nvSpPr>
        <p:spPr>
          <a:xfrm>
            <a:off x="5577840" y="2560320"/>
            <a:ext cx="91" cy="2286000"/>
          </a:xfrm>
          <a:prstGeom prst="line">
            <a:avLst/>
          </a:prstGeom>
          <a:noFill/>
          <a:ln w="6350">
            <a:solidFill>
              <a:srgbClr val="E2E8F2"/>
            </a:solidFill>
            <a:prstDash val="solid"/>
          </a:ln>
        </p:spPr>
      </p:sp>
      <p:sp>
        <p:nvSpPr>
          <p:cNvPr id="28" name="Shape 26"/>
          <p:cNvSpPr/>
          <p:nvPr/>
        </p:nvSpPr>
        <p:spPr>
          <a:xfrm>
            <a:off x="2834640" y="2560320"/>
            <a:ext cx="2743200" cy="91"/>
          </a:xfrm>
          <a:prstGeom prst="line">
            <a:avLst/>
          </a:prstGeom>
          <a:noFill/>
          <a:ln w="6350">
            <a:solidFill>
              <a:srgbClr val="C9D3E6"/>
            </a:solidFill>
            <a:prstDash val="solid"/>
          </a:ln>
        </p:spPr>
      </p:sp>
      <p:sp>
        <p:nvSpPr>
          <p:cNvPr id="29" name="Shape 27"/>
          <p:cNvSpPr/>
          <p:nvPr/>
        </p:nvSpPr>
        <p:spPr>
          <a:xfrm>
            <a:off x="2834640" y="3017520"/>
            <a:ext cx="2743200" cy="91"/>
          </a:xfrm>
          <a:prstGeom prst="line">
            <a:avLst/>
          </a:prstGeom>
          <a:noFill/>
          <a:ln w="6350">
            <a:solidFill>
              <a:srgbClr val="E2E8F2"/>
            </a:solidFill>
            <a:prstDash val="solid"/>
          </a:ln>
        </p:spPr>
      </p:sp>
      <p:sp>
        <p:nvSpPr>
          <p:cNvPr id="30" name="Shape 28"/>
          <p:cNvSpPr/>
          <p:nvPr/>
        </p:nvSpPr>
        <p:spPr>
          <a:xfrm>
            <a:off x="2834640" y="3474720"/>
            <a:ext cx="2743200" cy="91"/>
          </a:xfrm>
          <a:prstGeom prst="line">
            <a:avLst/>
          </a:prstGeom>
          <a:noFill/>
          <a:ln w="6350">
            <a:solidFill>
              <a:srgbClr val="E2E8F2"/>
            </a:solidFill>
            <a:prstDash val="solid"/>
          </a:ln>
        </p:spPr>
      </p:sp>
      <p:sp>
        <p:nvSpPr>
          <p:cNvPr id="31" name="Shape 29"/>
          <p:cNvSpPr/>
          <p:nvPr/>
        </p:nvSpPr>
        <p:spPr>
          <a:xfrm>
            <a:off x="2834640" y="3931920"/>
            <a:ext cx="2743200" cy="91"/>
          </a:xfrm>
          <a:prstGeom prst="line">
            <a:avLst/>
          </a:prstGeom>
          <a:noFill/>
          <a:ln w="6350">
            <a:solidFill>
              <a:srgbClr val="E2E8F2"/>
            </a:solidFill>
            <a:prstDash val="solid"/>
          </a:ln>
        </p:spPr>
      </p:sp>
      <p:sp>
        <p:nvSpPr>
          <p:cNvPr id="32" name="Shape 30"/>
          <p:cNvSpPr/>
          <p:nvPr/>
        </p:nvSpPr>
        <p:spPr>
          <a:xfrm>
            <a:off x="2834640" y="4389120"/>
            <a:ext cx="2743200" cy="91"/>
          </a:xfrm>
          <a:prstGeom prst="line">
            <a:avLst/>
          </a:prstGeom>
          <a:noFill/>
          <a:ln w="6350">
            <a:solidFill>
              <a:srgbClr val="E2E8F2"/>
            </a:solidFill>
            <a:prstDash val="solid"/>
          </a:ln>
        </p:spPr>
      </p:sp>
      <p:sp>
        <p:nvSpPr>
          <p:cNvPr id="33" name="Shape 31"/>
          <p:cNvSpPr/>
          <p:nvPr/>
        </p:nvSpPr>
        <p:spPr>
          <a:xfrm>
            <a:off x="2834640" y="4846320"/>
            <a:ext cx="2743200" cy="91"/>
          </a:xfrm>
          <a:prstGeom prst="line">
            <a:avLst/>
          </a:prstGeom>
          <a:noFill/>
          <a:ln w="6350">
            <a:solidFill>
              <a:srgbClr val="C9D3E6"/>
            </a:solidFill>
            <a:prstDash val="solid"/>
          </a:ln>
        </p:spPr>
      </p:sp>
      <p:sp>
        <p:nvSpPr>
          <p:cNvPr id="34" name="Shape 32"/>
          <p:cNvSpPr/>
          <p:nvPr/>
        </p:nvSpPr>
        <p:spPr>
          <a:xfrm>
            <a:off x="3291840" y="4389120"/>
            <a:ext cx="1828800" cy="91"/>
          </a:xfrm>
          <a:prstGeom prst="line">
            <a:avLst/>
          </a:prstGeom>
          <a:noFill/>
          <a:ln w="34925">
            <a:solidFill>
              <a:srgbClr val="2E5BD8"/>
            </a:solidFill>
            <a:prstDash val="solid"/>
            <a:tailEnd type="triangle"/>
          </a:ln>
        </p:spPr>
      </p:sp>
      <p:sp>
        <p:nvSpPr>
          <p:cNvPr id="35" name="Shape 33"/>
          <p:cNvSpPr/>
          <p:nvPr/>
        </p:nvSpPr>
        <p:spPr>
          <a:xfrm flipV="1">
            <a:off x="5120640" y="3017520"/>
            <a:ext cx="91" cy="1371600"/>
          </a:xfrm>
          <a:prstGeom prst="line">
            <a:avLst/>
          </a:prstGeom>
          <a:noFill/>
          <a:ln w="34925">
            <a:solidFill>
              <a:srgbClr val="B8730A"/>
            </a:solidFill>
            <a:prstDash val="solid"/>
            <a:tailEnd type="triangle"/>
          </a:ln>
        </p:spPr>
      </p:sp>
      <p:sp>
        <p:nvSpPr>
          <p:cNvPr id="36" name="Shape 34"/>
          <p:cNvSpPr/>
          <p:nvPr/>
        </p:nvSpPr>
        <p:spPr>
          <a:xfrm flipV="1">
            <a:off x="3291840" y="3017520"/>
            <a:ext cx="1828800" cy="1371600"/>
          </a:xfrm>
          <a:prstGeom prst="line">
            <a:avLst/>
          </a:prstGeom>
          <a:noFill/>
          <a:ln w="41275">
            <a:solidFill>
              <a:srgbClr val="C8414C"/>
            </a:solidFill>
            <a:prstDash val="solid"/>
            <a:tailEnd type="triangle"/>
          </a:ln>
        </p:spPr>
      </p:sp>
      <p:sp>
        <p:nvSpPr>
          <p:cNvPr id="37" name="Shape 35"/>
          <p:cNvSpPr/>
          <p:nvPr/>
        </p:nvSpPr>
        <p:spPr>
          <a:xfrm>
            <a:off x="3694176" y="4087368"/>
            <a:ext cx="10528" cy="14573"/>
          </a:xfrm>
          <a:prstGeom prst="line">
            <a:avLst/>
          </a:prstGeom>
          <a:noFill/>
          <a:ln w="15875">
            <a:solidFill>
              <a:srgbClr val="1A2340"/>
            </a:solidFill>
            <a:prstDash val="solid"/>
          </a:ln>
        </p:spPr>
      </p:sp>
      <p:sp>
        <p:nvSpPr>
          <p:cNvPr id="38" name="Shape 36"/>
          <p:cNvSpPr/>
          <p:nvPr/>
        </p:nvSpPr>
        <p:spPr>
          <a:xfrm>
            <a:off x="3704704" y="4101941"/>
            <a:ext cx="10001" cy="14940"/>
          </a:xfrm>
          <a:prstGeom prst="line">
            <a:avLst/>
          </a:prstGeom>
          <a:noFill/>
          <a:ln w="15875">
            <a:solidFill>
              <a:srgbClr val="1A2340"/>
            </a:solidFill>
            <a:prstDash val="solid"/>
          </a:ln>
        </p:spPr>
      </p:sp>
      <p:sp>
        <p:nvSpPr>
          <p:cNvPr id="39" name="Shape 37"/>
          <p:cNvSpPr/>
          <p:nvPr/>
        </p:nvSpPr>
        <p:spPr>
          <a:xfrm>
            <a:off x="3714705" y="4116882"/>
            <a:ext cx="9460" cy="15288"/>
          </a:xfrm>
          <a:prstGeom prst="line">
            <a:avLst/>
          </a:prstGeom>
          <a:noFill/>
          <a:ln w="15875">
            <a:solidFill>
              <a:srgbClr val="1A2340"/>
            </a:solidFill>
            <a:prstDash val="solid"/>
          </a:ln>
        </p:spPr>
      </p:sp>
      <p:sp>
        <p:nvSpPr>
          <p:cNvPr id="40" name="Shape 38"/>
          <p:cNvSpPr/>
          <p:nvPr/>
        </p:nvSpPr>
        <p:spPr>
          <a:xfrm>
            <a:off x="3724165" y="4132170"/>
            <a:ext cx="8908" cy="15617"/>
          </a:xfrm>
          <a:prstGeom prst="line">
            <a:avLst/>
          </a:prstGeom>
          <a:noFill/>
          <a:ln w="15875">
            <a:solidFill>
              <a:srgbClr val="1A2340"/>
            </a:solidFill>
            <a:prstDash val="solid"/>
          </a:ln>
        </p:spPr>
      </p:sp>
      <p:sp>
        <p:nvSpPr>
          <p:cNvPr id="41" name="Shape 39"/>
          <p:cNvSpPr/>
          <p:nvPr/>
        </p:nvSpPr>
        <p:spPr>
          <a:xfrm>
            <a:off x="3733073" y="4147786"/>
            <a:ext cx="8344" cy="15925"/>
          </a:xfrm>
          <a:prstGeom prst="line">
            <a:avLst/>
          </a:prstGeom>
          <a:noFill/>
          <a:ln w="15875">
            <a:solidFill>
              <a:srgbClr val="1A2340"/>
            </a:solidFill>
            <a:prstDash val="solid"/>
          </a:ln>
        </p:spPr>
      </p:sp>
      <p:sp>
        <p:nvSpPr>
          <p:cNvPr id="42" name="Shape 40"/>
          <p:cNvSpPr/>
          <p:nvPr/>
        </p:nvSpPr>
        <p:spPr>
          <a:xfrm>
            <a:off x="3741417" y="4163711"/>
            <a:ext cx="7769" cy="16213"/>
          </a:xfrm>
          <a:prstGeom prst="line">
            <a:avLst/>
          </a:prstGeom>
          <a:noFill/>
          <a:ln w="15875">
            <a:solidFill>
              <a:srgbClr val="1A2340"/>
            </a:solidFill>
            <a:prstDash val="solid"/>
          </a:ln>
        </p:spPr>
      </p:sp>
      <p:sp>
        <p:nvSpPr>
          <p:cNvPr id="43" name="Shape 41"/>
          <p:cNvSpPr/>
          <p:nvPr/>
        </p:nvSpPr>
        <p:spPr>
          <a:xfrm>
            <a:off x="3749186" y="4179924"/>
            <a:ext cx="7185" cy="16480"/>
          </a:xfrm>
          <a:prstGeom prst="line">
            <a:avLst/>
          </a:prstGeom>
          <a:noFill/>
          <a:ln w="15875">
            <a:solidFill>
              <a:srgbClr val="1A2340"/>
            </a:solidFill>
            <a:prstDash val="solid"/>
          </a:ln>
        </p:spPr>
      </p:sp>
      <p:sp>
        <p:nvSpPr>
          <p:cNvPr id="44" name="Shape 42"/>
          <p:cNvSpPr/>
          <p:nvPr/>
        </p:nvSpPr>
        <p:spPr>
          <a:xfrm>
            <a:off x="3756371" y="4196405"/>
            <a:ext cx="6591" cy="16727"/>
          </a:xfrm>
          <a:prstGeom prst="line">
            <a:avLst/>
          </a:prstGeom>
          <a:noFill/>
          <a:ln w="15875">
            <a:solidFill>
              <a:srgbClr val="1A2340"/>
            </a:solidFill>
            <a:prstDash val="solid"/>
          </a:ln>
        </p:spPr>
      </p:sp>
      <p:sp>
        <p:nvSpPr>
          <p:cNvPr id="45" name="Shape 43"/>
          <p:cNvSpPr/>
          <p:nvPr/>
        </p:nvSpPr>
        <p:spPr>
          <a:xfrm>
            <a:off x="3762963" y="4213131"/>
            <a:ext cx="5989" cy="16952"/>
          </a:xfrm>
          <a:prstGeom prst="line">
            <a:avLst/>
          </a:prstGeom>
          <a:noFill/>
          <a:ln w="15875">
            <a:solidFill>
              <a:srgbClr val="1A2340"/>
            </a:solidFill>
            <a:prstDash val="solid"/>
          </a:ln>
        </p:spPr>
      </p:sp>
      <p:sp>
        <p:nvSpPr>
          <p:cNvPr id="46" name="Shape 44"/>
          <p:cNvSpPr/>
          <p:nvPr/>
        </p:nvSpPr>
        <p:spPr>
          <a:xfrm>
            <a:off x="3768952" y="4230083"/>
            <a:ext cx="5380" cy="17155"/>
          </a:xfrm>
          <a:prstGeom prst="line">
            <a:avLst/>
          </a:prstGeom>
          <a:noFill/>
          <a:ln w="15875">
            <a:solidFill>
              <a:srgbClr val="1A2340"/>
            </a:solidFill>
            <a:prstDash val="solid"/>
          </a:ln>
        </p:spPr>
      </p:sp>
      <p:sp>
        <p:nvSpPr>
          <p:cNvPr id="47" name="Shape 45"/>
          <p:cNvSpPr/>
          <p:nvPr/>
        </p:nvSpPr>
        <p:spPr>
          <a:xfrm>
            <a:off x="3774331" y="4247237"/>
            <a:ext cx="4763" cy="17336"/>
          </a:xfrm>
          <a:prstGeom prst="line">
            <a:avLst/>
          </a:prstGeom>
          <a:noFill/>
          <a:ln w="15875">
            <a:solidFill>
              <a:srgbClr val="1A2340"/>
            </a:solidFill>
            <a:prstDash val="solid"/>
          </a:ln>
        </p:spPr>
      </p:sp>
      <p:sp>
        <p:nvSpPr>
          <p:cNvPr id="48" name="Shape 46"/>
          <p:cNvSpPr/>
          <p:nvPr/>
        </p:nvSpPr>
        <p:spPr>
          <a:xfrm>
            <a:off x="3779094" y="4264574"/>
            <a:ext cx="4140" cy="17495"/>
          </a:xfrm>
          <a:prstGeom prst="line">
            <a:avLst/>
          </a:prstGeom>
          <a:noFill/>
          <a:ln w="15875">
            <a:solidFill>
              <a:srgbClr val="1A2340"/>
            </a:solidFill>
            <a:prstDash val="solid"/>
          </a:ln>
        </p:spPr>
      </p:sp>
      <p:sp>
        <p:nvSpPr>
          <p:cNvPr id="49" name="Shape 47"/>
          <p:cNvSpPr/>
          <p:nvPr/>
        </p:nvSpPr>
        <p:spPr>
          <a:xfrm>
            <a:off x="3783235" y="4282069"/>
            <a:ext cx="3512" cy="17632"/>
          </a:xfrm>
          <a:prstGeom prst="line">
            <a:avLst/>
          </a:prstGeom>
          <a:noFill/>
          <a:ln w="15875">
            <a:solidFill>
              <a:srgbClr val="1A2340"/>
            </a:solidFill>
            <a:prstDash val="solid"/>
          </a:ln>
        </p:spPr>
      </p:sp>
      <p:sp>
        <p:nvSpPr>
          <p:cNvPr id="50" name="Shape 48"/>
          <p:cNvSpPr/>
          <p:nvPr/>
        </p:nvSpPr>
        <p:spPr>
          <a:xfrm>
            <a:off x="3786747" y="4299701"/>
            <a:ext cx="2880" cy="17746"/>
          </a:xfrm>
          <a:prstGeom prst="line">
            <a:avLst/>
          </a:prstGeom>
          <a:noFill/>
          <a:ln w="15875">
            <a:solidFill>
              <a:srgbClr val="1A2340"/>
            </a:solidFill>
            <a:prstDash val="solid"/>
          </a:ln>
        </p:spPr>
      </p:sp>
      <p:sp>
        <p:nvSpPr>
          <p:cNvPr id="51" name="Shape 49"/>
          <p:cNvSpPr/>
          <p:nvPr/>
        </p:nvSpPr>
        <p:spPr>
          <a:xfrm>
            <a:off x="3789627" y="4317447"/>
            <a:ext cx="2244" cy="17838"/>
          </a:xfrm>
          <a:prstGeom prst="line">
            <a:avLst/>
          </a:prstGeom>
          <a:noFill/>
          <a:ln w="15875">
            <a:solidFill>
              <a:srgbClr val="1A2340"/>
            </a:solidFill>
            <a:prstDash val="solid"/>
          </a:ln>
        </p:spPr>
      </p:sp>
      <p:sp>
        <p:nvSpPr>
          <p:cNvPr id="52" name="Shape 50"/>
          <p:cNvSpPr/>
          <p:nvPr/>
        </p:nvSpPr>
        <p:spPr>
          <a:xfrm>
            <a:off x="3791870" y="4335285"/>
            <a:ext cx="1605" cy="17907"/>
          </a:xfrm>
          <a:prstGeom prst="line">
            <a:avLst/>
          </a:prstGeom>
          <a:noFill/>
          <a:ln w="15875">
            <a:solidFill>
              <a:srgbClr val="1A2340"/>
            </a:solidFill>
            <a:prstDash val="solid"/>
          </a:ln>
        </p:spPr>
      </p:sp>
      <p:sp>
        <p:nvSpPr>
          <p:cNvPr id="53" name="Shape 51"/>
          <p:cNvSpPr/>
          <p:nvPr/>
        </p:nvSpPr>
        <p:spPr>
          <a:xfrm>
            <a:off x="3793475" y="4353192"/>
            <a:ext cx="964" cy="17953"/>
          </a:xfrm>
          <a:prstGeom prst="line">
            <a:avLst/>
          </a:prstGeom>
          <a:noFill/>
          <a:ln w="15875">
            <a:solidFill>
              <a:srgbClr val="1A2340"/>
            </a:solidFill>
            <a:prstDash val="solid"/>
          </a:ln>
        </p:spPr>
      </p:sp>
      <p:sp>
        <p:nvSpPr>
          <p:cNvPr id="54" name="Shape 52"/>
          <p:cNvSpPr/>
          <p:nvPr/>
        </p:nvSpPr>
        <p:spPr>
          <a:xfrm>
            <a:off x="3794439" y="4371144"/>
            <a:ext cx="321" cy="17976"/>
          </a:xfrm>
          <a:prstGeom prst="line">
            <a:avLst/>
          </a:prstGeom>
          <a:noFill/>
          <a:ln w="15875">
            <a:solidFill>
              <a:srgbClr val="1A2340"/>
            </a:solidFill>
            <a:prstDash val="solid"/>
          </a:ln>
        </p:spPr>
      </p:sp>
      <p:sp>
        <p:nvSpPr>
          <p:cNvPr id="55" name="Text 53"/>
          <p:cNvSpPr/>
          <p:nvPr/>
        </p:nvSpPr>
        <p:spPr>
          <a:xfrm>
            <a:off x="3822192" y="4114800"/>
            <a:ext cx="548640" cy="256032"/>
          </a:xfrm>
          <a:prstGeom prst="rect">
            <a:avLst/>
          </a:prstGeom>
          <a:noFill/>
          <a:ln/>
        </p:spPr>
        <p:txBody>
          <a:bodyPr wrap="square" lIns="0" tIns="0" rIns="0" bIns="0" rtlCol="0" anchor="ctr"/>
          <a:lstStyle/>
          <a:p>
            <a:pPr algn="l" indent="0" marL="0">
              <a:buNone/>
            </a:pPr>
            <a:r>
              <a:rPr lang="en-US" sz="1100" b="1" dirty="0">
                <a:solidFill>
                  <a:srgbClr val="262B3A"/>
                </a:solidFill>
                <a:latin typeface="Calibri" pitchFamily="34" charset="0"/>
                <a:ea typeface="Calibri" pitchFamily="34" charset="-122"/>
                <a:cs typeface="Calibri" pitchFamily="34" charset="-120"/>
              </a:rPr>
              <a:t>37°</a:t>
            </a:r>
            <a:endParaRPr lang="en-US" sz="1100" dirty="0"/>
          </a:p>
        </p:txBody>
      </p:sp>
      <p:sp>
        <p:nvSpPr>
          <p:cNvPr id="56" name="Text 54"/>
          <p:cNvSpPr/>
          <p:nvPr/>
        </p:nvSpPr>
        <p:spPr>
          <a:xfrm>
            <a:off x="3291840" y="4434840"/>
            <a:ext cx="1828800" cy="256032"/>
          </a:xfrm>
          <a:prstGeom prst="rect">
            <a:avLst/>
          </a:prstGeom>
          <a:noFill/>
          <a:ln/>
        </p:spPr>
        <p:txBody>
          <a:bodyPr wrap="square" lIns="0" tIns="0" rIns="0" bIns="0" rtlCol="0" anchor="ctr"/>
          <a:lstStyle/>
          <a:p>
            <a:pPr algn="ctr" indent="0" marL="0">
              <a:buNone/>
            </a:pPr>
            <a:r>
              <a:rPr lang="en-US" sz="1050" b="1" dirty="0">
                <a:solidFill>
                  <a:srgbClr val="2E5BD8"/>
                </a:solidFill>
                <a:latin typeface="Calibri" pitchFamily="34" charset="0"/>
                <a:ea typeface="Calibri" pitchFamily="34" charset="-122"/>
                <a:cs typeface="Calibri" pitchFamily="34" charset="-120"/>
              </a:rPr>
              <a:t>40 N (4 squares)</a:t>
            </a:r>
            <a:endParaRPr lang="en-US" sz="1050" dirty="0"/>
          </a:p>
        </p:txBody>
      </p:sp>
      <p:sp>
        <p:nvSpPr>
          <p:cNvPr id="57" name="Text 55"/>
          <p:cNvSpPr/>
          <p:nvPr/>
        </p:nvSpPr>
        <p:spPr>
          <a:xfrm>
            <a:off x="5166360" y="3520440"/>
            <a:ext cx="914400" cy="411480"/>
          </a:xfrm>
          <a:prstGeom prst="rect">
            <a:avLst/>
          </a:prstGeom>
          <a:noFill/>
          <a:ln/>
        </p:spPr>
        <p:txBody>
          <a:bodyPr wrap="square" lIns="0" tIns="0" rIns="0" bIns="0" rtlCol="0" anchor="ctr"/>
          <a:lstStyle/>
          <a:p>
            <a:pPr algn="l" indent="0" marL="0">
              <a:buNone/>
            </a:pPr>
            <a:r>
              <a:rPr lang="en-US" sz="1050" b="1" dirty="0">
                <a:solidFill>
                  <a:srgbClr val="B8730A"/>
                </a:solidFill>
                <a:latin typeface="Calibri" pitchFamily="34" charset="0"/>
                <a:ea typeface="Calibri" pitchFamily="34" charset="-122"/>
                <a:cs typeface="Calibri" pitchFamily="34" charset="-120"/>
              </a:rPr>
              <a:t>30 N</a:t>
            </a:r>
            <a:endParaRPr lang="en-US" sz="1050" dirty="0"/>
          </a:p>
          <a:p>
            <a:pPr algn="l" indent="0" marL="0">
              <a:buNone/>
            </a:pPr>
            <a:r>
              <a:rPr lang="en-US" sz="1050" b="1" dirty="0">
                <a:solidFill>
                  <a:srgbClr val="B8730A"/>
                </a:solidFill>
                <a:latin typeface="Calibri" pitchFamily="34" charset="0"/>
                <a:ea typeface="Calibri" pitchFamily="34" charset="-122"/>
                <a:cs typeface="Calibri" pitchFamily="34" charset="-120"/>
              </a:rPr>
              <a:t>(3 sq)</a:t>
            </a:r>
            <a:endParaRPr lang="en-US" sz="1050" dirty="0"/>
          </a:p>
        </p:txBody>
      </p:sp>
      <p:sp>
        <p:nvSpPr>
          <p:cNvPr id="58" name="Text 56"/>
          <p:cNvSpPr/>
          <p:nvPr/>
        </p:nvSpPr>
        <p:spPr>
          <a:xfrm>
            <a:off x="3108960" y="3246120"/>
            <a:ext cx="1280160" cy="256032"/>
          </a:xfrm>
          <a:prstGeom prst="rect">
            <a:avLst/>
          </a:prstGeom>
          <a:noFill/>
          <a:ln/>
        </p:spPr>
        <p:txBody>
          <a:bodyPr wrap="square" lIns="0" tIns="0" rIns="0" bIns="0" rtlCol="0" anchor="ctr"/>
          <a:lstStyle/>
          <a:p>
            <a:pPr algn="l" indent="0" marL="0">
              <a:buNone/>
            </a:pPr>
            <a:r>
              <a:rPr lang="en-US" sz="1150" b="1" dirty="0">
                <a:solidFill>
                  <a:srgbClr val="C8414C"/>
                </a:solidFill>
                <a:latin typeface="Calibri" pitchFamily="34" charset="0"/>
                <a:ea typeface="Calibri" pitchFamily="34" charset="-122"/>
                <a:cs typeface="Calibri" pitchFamily="34" charset="-120"/>
              </a:rPr>
              <a:t>R = 50 N</a:t>
            </a:r>
            <a:endParaRPr lang="en-US" sz="1150" dirty="0"/>
          </a:p>
        </p:txBody>
      </p:sp>
      <p:sp>
        <p:nvSpPr>
          <p:cNvPr id="59" name="Shape 57"/>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60" name="Text 58"/>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Method: tip to tail</a:t>
            </a:r>
            <a:endParaRPr lang="en-US" sz="1300" dirty="0"/>
          </a:p>
        </p:txBody>
      </p:sp>
      <p:sp>
        <p:nvSpPr>
          <p:cNvPr id="61" name="Text 59"/>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Choose a </a:t>
            </a:r>
            <a:r>
              <a:rPr lang="en-US" sz="1150" b="1" dirty="0">
                <a:solidFill>
                  <a:srgbClr val="262B3A"/>
                </a:solidFill>
                <a:latin typeface="Calibri" pitchFamily="34" charset="0"/>
                <a:ea typeface="Calibri" pitchFamily="34" charset="-122"/>
                <a:cs typeface="Calibri" pitchFamily="34" charset="-120"/>
              </a:rPr>
              <a:t>scale</a:t>
            </a:r>
            <a:r>
              <a:rPr lang="en-US" sz="1150" dirty="0">
                <a:solidFill>
                  <a:srgbClr val="262B3A"/>
                </a:solidFill>
                <a:latin typeface="Calibri" pitchFamily="34" charset="0"/>
                <a:ea typeface="Calibri" pitchFamily="34" charset="-122"/>
                <a:cs typeface="Calibri" pitchFamily="34" charset="-120"/>
              </a:rPr>
              <a:t>, e.g. 1 square (or 1 cm) = 10 N.</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Draw the first force to scale. Draw the second force starting at the </a:t>
            </a:r>
            <a:r>
              <a:rPr lang="en-US" sz="1150" b="1" dirty="0">
                <a:solidFill>
                  <a:srgbClr val="262B3A"/>
                </a:solidFill>
                <a:latin typeface="Calibri" pitchFamily="34" charset="0"/>
                <a:ea typeface="Calibri" pitchFamily="34" charset="-122"/>
                <a:cs typeface="Calibri" pitchFamily="34" charset="-120"/>
              </a:rPr>
              <a:t>tip</a:t>
            </a:r>
            <a:r>
              <a:rPr lang="en-US" sz="1150" dirty="0">
                <a:solidFill>
                  <a:srgbClr val="262B3A"/>
                </a:solidFill>
                <a:latin typeface="Calibri" pitchFamily="34" charset="0"/>
                <a:ea typeface="Calibri" pitchFamily="34" charset="-122"/>
                <a:cs typeface="Calibri" pitchFamily="34" charset="-120"/>
              </a:rPr>
              <a:t> of the first.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a:t>
            </a:r>
            <a:r>
              <a:rPr lang="en-US" sz="1150" b="1" dirty="0">
                <a:solidFill>
                  <a:srgbClr val="262B3A"/>
                </a:solidFill>
                <a:latin typeface="Calibri" pitchFamily="34" charset="0"/>
                <a:ea typeface="Calibri" pitchFamily="34" charset="-122"/>
                <a:cs typeface="Calibri" pitchFamily="34" charset="-120"/>
              </a:rPr>
              <a:t>resultant</a:t>
            </a:r>
            <a:r>
              <a:rPr lang="en-US" sz="1150" dirty="0">
                <a:solidFill>
                  <a:srgbClr val="262B3A"/>
                </a:solidFill>
                <a:latin typeface="Calibri" pitchFamily="34" charset="0"/>
                <a:ea typeface="Calibri" pitchFamily="34" charset="-122"/>
                <a:cs typeface="Calibri" pitchFamily="34" charset="-120"/>
              </a:rPr>
              <a:t> goes from the </a:t>
            </a:r>
            <a:r>
              <a:rPr lang="en-US" sz="1150" b="1" dirty="0">
                <a:solidFill>
                  <a:srgbClr val="262B3A"/>
                </a:solidFill>
                <a:latin typeface="Calibri" pitchFamily="34" charset="0"/>
                <a:ea typeface="Calibri" pitchFamily="34" charset="-122"/>
                <a:cs typeface="Calibri" pitchFamily="34" charset="-120"/>
              </a:rPr>
              <a:t>start</a:t>
            </a:r>
            <a:r>
              <a:rPr lang="en-US" sz="1150" dirty="0">
                <a:solidFill>
                  <a:srgbClr val="262B3A"/>
                </a:solidFill>
                <a:latin typeface="Calibri" pitchFamily="34" charset="0"/>
                <a:ea typeface="Calibri" pitchFamily="34" charset="-122"/>
                <a:cs typeface="Calibri" pitchFamily="34" charset="-120"/>
              </a:rPr>
              <a:t> of the first arrow to the </a:t>
            </a:r>
            <a:r>
              <a:rPr lang="en-US" sz="1150" b="1" dirty="0">
                <a:solidFill>
                  <a:srgbClr val="262B3A"/>
                </a:solidFill>
                <a:latin typeface="Calibri" pitchFamily="34" charset="0"/>
                <a:ea typeface="Calibri" pitchFamily="34" charset="-122"/>
                <a:cs typeface="Calibri" pitchFamily="34" charset="-120"/>
              </a:rPr>
              <a:t>tip</a:t>
            </a:r>
            <a:r>
              <a:rPr lang="en-US" sz="1150" dirty="0">
                <a:solidFill>
                  <a:srgbClr val="262B3A"/>
                </a:solidFill>
                <a:latin typeface="Calibri" pitchFamily="34" charset="0"/>
                <a:ea typeface="Calibri" pitchFamily="34" charset="-122"/>
                <a:cs typeface="Calibri" pitchFamily="34" charset="-120"/>
              </a:rPr>
              <a:t> of the last.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Measure its </a:t>
            </a:r>
            <a:r>
              <a:rPr lang="en-US" sz="1150" b="1" dirty="0">
                <a:solidFill>
                  <a:srgbClr val="262B3A"/>
                </a:solidFill>
                <a:latin typeface="Calibri" pitchFamily="34" charset="0"/>
                <a:ea typeface="Calibri" pitchFamily="34" charset="-122"/>
                <a:cs typeface="Calibri" pitchFamily="34" charset="-120"/>
              </a:rPr>
              <a:t>length</a:t>
            </a:r>
            <a:r>
              <a:rPr lang="en-US" sz="1150" dirty="0">
                <a:solidFill>
                  <a:srgbClr val="262B3A"/>
                </a:solidFill>
                <a:latin typeface="Calibri" pitchFamily="34" charset="0"/>
                <a:ea typeface="Calibri" pitchFamily="34" charset="-122"/>
                <a:cs typeface="Calibri" pitchFamily="34" charset="-120"/>
              </a:rPr>
              <a:t> (convert with the scale) and its </a:t>
            </a:r>
            <a:r>
              <a:rPr lang="en-US" sz="1150" b="1" dirty="0">
                <a:solidFill>
                  <a:srgbClr val="262B3A"/>
                </a:solidFill>
                <a:latin typeface="Calibri" pitchFamily="34" charset="0"/>
                <a:ea typeface="Calibri" pitchFamily="34" charset="-122"/>
                <a:cs typeface="Calibri" pitchFamily="34" charset="-120"/>
              </a:rPr>
              <a:t>angle</a:t>
            </a:r>
            <a:r>
              <a:rPr lang="en-US" sz="1150" dirty="0">
                <a:solidFill>
                  <a:srgbClr val="262B3A"/>
                </a:solidFill>
                <a:latin typeface="Calibri" pitchFamily="34" charset="0"/>
                <a:ea typeface="Calibri" pitchFamily="34" charset="-122"/>
                <a:cs typeface="Calibri" pitchFamily="34" charset="-120"/>
              </a:rPr>
              <a:t> with a protractor.</a:t>
            </a:r>
            <a:endParaRPr lang="en-US" sz="1150" dirty="0"/>
          </a:p>
        </p:txBody>
      </p:sp>
      <p:sp>
        <p:nvSpPr>
          <p:cNvPr id="62" name="Shape 60"/>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63" name="Text 61"/>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64" name="Text 62"/>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Forces of 40 N east and 30 N north act on a sledge. Find the resultant.</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Draw   </a:t>
            </a:r>
            <a:r>
              <a:rPr lang="en-US" sz="1050" dirty="0">
                <a:solidFill>
                  <a:srgbClr val="262B3A"/>
                </a:solidFill>
                <a:latin typeface="Calibri" pitchFamily="34" charset="0"/>
                <a:ea typeface="Calibri" pitchFamily="34" charset="-122"/>
                <a:cs typeface="Calibri" pitchFamily="34" charset="-120"/>
              </a:rPr>
              <a:t>4 squares east, then 3 squares north</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Measure   </a:t>
            </a:r>
            <a:r>
              <a:rPr lang="en-US" sz="1050" dirty="0">
                <a:solidFill>
                  <a:srgbClr val="262B3A"/>
                </a:solidFill>
                <a:latin typeface="Calibri" pitchFamily="34" charset="0"/>
                <a:ea typeface="Calibri" pitchFamily="34" charset="-122"/>
                <a:cs typeface="Calibri" pitchFamily="34" charset="-120"/>
              </a:rPr>
              <a:t>resultant = 5.0 squares long</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Convert   </a:t>
            </a:r>
            <a:r>
              <a:rPr lang="en-US" sz="1050" dirty="0">
                <a:solidFill>
                  <a:srgbClr val="262B3A"/>
                </a:solidFill>
                <a:latin typeface="Calibri" pitchFamily="34" charset="0"/>
                <a:ea typeface="Calibri" pitchFamily="34" charset="-122"/>
                <a:cs typeface="Calibri" pitchFamily="34" charset="-120"/>
              </a:rPr>
              <a:t>5.0 × 10 N = 50 N; angle = 37° north of east</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R = 50 N at 37° north of east</a:t>
            </a:r>
            <a:endParaRPr lang="en-US" sz="1050" dirty="0"/>
          </a:p>
        </p:txBody>
      </p:sp>
      <p:sp>
        <p:nvSpPr>
          <p:cNvPr id="65" name="Shape 63"/>
          <p:cNvSpPr/>
          <p:nvPr/>
        </p:nvSpPr>
        <p:spPr>
          <a:xfrm>
            <a:off x="411480" y="5833872"/>
            <a:ext cx="11368735" cy="530352"/>
          </a:xfrm>
          <a:prstGeom prst="rect">
            <a:avLst/>
          </a:prstGeom>
          <a:solidFill>
            <a:srgbClr val="FFF4E0"/>
          </a:solidFill>
          <a:ln w="6350">
            <a:solidFill>
              <a:srgbClr val="F1D9A8"/>
            </a:solidFill>
            <a:prstDash val="solid"/>
          </a:ln>
        </p:spPr>
      </p:sp>
      <p:sp>
        <p:nvSpPr>
          <p:cNvPr id="66" name="Shape 64"/>
          <p:cNvSpPr/>
          <p:nvPr/>
        </p:nvSpPr>
        <p:spPr>
          <a:xfrm>
            <a:off x="411480" y="5833872"/>
            <a:ext cx="82296" cy="530352"/>
          </a:xfrm>
          <a:prstGeom prst="rect">
            <a:avLst/>
          </a:prstGeom>
          <a:solidFill>
            <a:srgbClr val="E39A2F"/>
          </a:solidFill>
          <a:ln w="12700">
            <a:solidFill>
              <a:srgbClr val="E39A2F"/>
            </a:solidFill>
            <a:prstDash val="solid"/>
          </a:ln>
        </p:spPr>
      </p:sp>
      <p:sp>
        <p:nvSpPr>
          <p:cNvPr id="67" name="Text 6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Use a scale drawing to find the resultant of a 6 N force east and an 8 N force north.</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Scale drawing: forces at other angles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9.3 • two forces with 60° between them</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9 Forces and their effects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9.3  |  14</a:t>
            </a:r>
            <a:endParaRPr lang="en-US" sz="1000" dirty="0"/>
          </a:p>
        </p:txBody>
      </p:sp>
      <p:sp>
        <p:nvSpPr>
          <p:cNvPr id="10" name="Shape 8"/>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scale: 1 square = 1 N; the resultant is measured, not calculated</a:t>
            </a:r>
            <a:endParaRPr lang="en-US" sz="1000" dirty="0"/>
          </a:p>
        </p:txBody>
      </p:sp>
      <p:sp>
        <p:nvSpPr>
          <p:cNvPr id="12" name="Shape 10"/>
          <p:cNvSpPr/>
          <p:nvPr/>
        </p:nvSpPr>
        <p:spPr>
          <a:xfrm>
            <a:off x="640080" y="1554480"/>
            <a:ext cx="5212080" cy="3566160"/>
          </a:xfrm>
          <a:prstGeom prst="rect">
            <a:avLst/>
          </a:prstGeom>
          <a:solidFill>
            <a:srgbClr val="FFFFFF"/>
          </a:solidFill>
          <a:ln/>
        </p:spPr>
      </p:sp>
      <p:sp>
        <p:nvSpPr>
          <p:cNvPr id="13" name="Shape 11"/>
          <p:cNvSpPr/>
          <p:nvPr/>
        </p:nvSpPr>
        <p:spPr>
          <a:xfrm>
            <a:off x="640080" y="1554480"/>
            <a:ext cx="91" cy="3566160"/>
          </a:xfrm>
          <a:prstGeom prst="line">
            <a:avLst/>
          </a:prstGeom>
          <a:noFill/>
          <a:ln w="6350">
            <a:solidFill>
              <a:srgbClr val="C9D3E6"/>
            </a:solidFill>
            <a:prstDash val="solid"/>
          </a:ln>
        </p:spPr>
      </p:sp>
      <p:sp>
        <p:nvSpPr>
          <p:cNvPr id="14" name="Shape 12"/>
          <p:cNvSpPr/>
          <p:nvPr/>
        </p:nvSpPr>
        <p:spPr>
          <a:xfrm>
            <a:off x="914400" y="1554480"/>
            <a:ext cx="91" cy="3566160"/>
          </a:xfrm>
          <a:prstGeom prst="line">
            <a:avLst/>
          </a:prstGeom>
          <a:noFill/>
          <a:ln w="6350">
            <a:solidFill>
              <a:srgbClr val="E2E8F2"/>
            </a:solidFill>
            <a:prstDash val="solid"/>
          </a:ln>
        </p:spPr>
      </p:sp>
      <p:sp>
        <p:nvSpPr>
          <p:cNvPr id="15" name="Shape 13"/>
          <p:cNvSpPr/>
          <p:nvPr/>
        </p:nvSpPr>
        <p:spPr>
          <a:xfrm>
            <a:off x="1188720" y="1554480"/>
            <a:ext cx="91" cy="3566160"/>
          </a:xfrm>
          <a:prstGeom prst="line">
            <a:avLst/>
          </a:prstGeom>
          <a:noFill/>
          <a:ln w="6350">
            <a:solidFill>
              <a:srgbClr val="E2E8F2"/>
            </a:solidFill>
            <a:prstDash val="solid"/>
          </a:ln>
        </p:spPr>
      </p:sp>
      <p:sp>
        <p:nvSpPr>
          <p:cNvPr id="16" name="Shape 14"/>
          <p:cNvSpPr/>
          <p:nvPr/>
        </p:nvSpPr>
        <p:spPr>
          <a:xfrm>
            <a:off x="1463040" y="1554480"/>
            <a:ext cx="91" cy="3566160"/>
          </a:xfrm>
          <a:prstGeom prst="line">
            <a:avLst/>
          </a:prstGeom>
          <a:noFill/>
          <a:ln w="6350">
            <a:solidFill>
              <a:srgbClr val="E2E8F2"/>
            </a:solidFill>
            <a:prstDash val="solid"/>
          </a:ln>
        </p:spPr>
      </p:sp>
      <p:sp>
        <p:nvSpPr>
          <p:cNvPr id="17" name="Shape 15"/>
          <p:cNvSpPr/>
          <p:nvPr/>
        </p:nvSpPr>
        <p:spPr>
          <a:xfrm>
            <a:off x="1737360" y="1554480"/>
            <a:ext cx="91" cy="3566160"/>
          </a:xfrm>
          <a:prstGeom prst="line">
            <a:avLst/>
          </a:prstGeom>
          <a:noFill/>
          <a:ln w="6350">
            <a:solidFill>
              <a:srgbClr val="E2E8F2"/>
            </a:solidFill>
            <a:prstDash val="solid"/>
          </a:ln>
        </p:spPr>
      </p:sp>
      <p:sp>
        <p:nvSpPr>
          <p:cNvPr id="18" name="Shape 16"/>
          <p:cNvSpPr/>
          <p:nvPr/>
        </p:nvSpPr>
        <p:spPr>
          <a:xfrm>
            <a:off x="2011680" y="1554480"/>
            <a:ext cx="91" cy="3566160"/>
          </a:xfrm>
          <a:prstGeom prst="line">
            <a:avLst/>
          </a:prstGeom>
          <a:noFill/>
          <a:ln w="6350">
            <a:solidFill>
              <a:srgbClr val="C9D3E6"/>
            </a:solidFill>
            <a:prstDash val="solid"/>
          </a:ln>
        </p:spPr>
      </p:sp>
      <p:sp>
        <p:nvSpPr>
          <p:cNvPr id="19" name="Shape 17"/>
          <p:cNvSpPr/>
          <p:nvPr/>
        </p:nvSpPr>
        <p:spPr>
          <a:xfrm>
            <a:off x="2286000" y="1554480"/>
            <a:ext cx="91" cy="3566160"/>
          </a:xfrm>
          <a:prstGeom prst="line">
            <a:avLst/>
          </a:prstGeom>
          <a:noFill/>
          <a:ln w="6350">
            <a:solidFill>
              <a:srgbClr val="E2E8F2"/>
            </a:solidFill>
            <a:prstDash val="solid"/>
          </a:ln>
        </p:spPr>
      </p:sp>
      <p:sp>
        <p:nvSpPr>
          <p:cNvPr id="20" name="Shape 18"/>
          <p:cNvSpPr/>
          <p:nvPr/>
        </p:nvSpPr>
        <p:spPr>
          <a:xfrm>
            <a:off x="2560320" y="1554480"/>
            <a:ext cx="91" cy="3566160"/>
          </a:xfrm>
          <a:prstGeom prst="line">
            <a:avLst/>
          </a:prstGeom>
          <a:noFill/>
          <a:ln w="6350">
            <a:solidFill>
              <a:srgbClr val="E2E8F2"/>
            </a:solidFill>
            <a:prstDash val="solid"/>
          </a:ln>
        </p:spPr>
      </p:sp>
      <p:sp>
        <p:nvSpPr>
          <p:cNvPr id="21" name="Shape 19"/>
          <p:cNvSpPr/>
          <p:nvPr/>
        </p:nvSpPr>
        <p:spPr>
          <a:xfrm>
            <a:off x="2834640" y="1554480"/>
            <a:ext cx="91" cy="3566160"/>
          </a:xfrm>
          <a:prstGeom prst="line">
            <a:avLst/>
          </a:prstGeom>
          <a:noFill/>
          <a:ln w="6350">
            <a:solidFill>
              <a:srgbClr val="E2E8F2"/>
            </a:solidFill>
            <a:prstDash val="solid"/>
          </a:ln>
        </p:spPr>
      </p:sp>
      <p:sp>
        <p:nvSpPr>
          <p:cNvPr id="22" name="Shape 20"/>
          <p:cNvSpPr/>
          <p:nvPr/>
        </p:nvSpPr>
        <p:spPr>
          <a:xfrm>
            <a:off x="3108960" y="1554480"/>
            <a:ext cx="91" cy="3566160"/>
          </a:xfrm>
          <a:prstGeom prst="line">
            <a:avLst/>
          </a:prstGeom>
          <a:noFill/>
          <a:ln w="6350">
            <a:solidFill>
              <a:srgbClr val="E2E8F2"/>
            </a:solidFill>
            <a:prstDash val="solid"/>
          </a:ln>
        </p:spPr>
      </p:sp>
      <p:sp>
        <p:nvSpPr>
          <p:cNvPr id="23" name="Shape 21"/>
          <p:cNvSpPr/>
          <p:nvPr/>
        </p:nvSpPr>
        <p:spPr>
          <a:xfrm>
            <a:off x="3383280" y="1554480"/>
            <a:ext cx="91" cy="3566160"/>
          </a:xfrm>
          <a:prstGeom prst="line">
            <a:avLst/>
          </a:prstGeom>
          <a:noFill/>
          <a:ln w="6350">
            <a:solidFill>
              <a:srgbClr val="C9D3E6"/>
            </a:solidFill>
            <a:prstDash val="solid"/>
          </a:ln>
        </p:spPr>
      </p:sp>
      <p:sp>
        <p:nvSpPr>
          <p:cNvPr id="24" name="Shape 22"/>
          <p:cNvSpPr/>
          <p:nvPr/>
        </p:nvSpPr>
        <p:spPr>
          <a:xfrm>
            <a:off x="3657600" y="1554480"/>
            <a:ext cx="91" cy="3566160"/>
          </a:xfrm>
          <a:prstGeom prst="line">
            <a:avLst/>
          </a:prstGeom>
          <a:noFill/>
          <a:ln w="6350">
            <a:solidFill>
              <a:srgbClr val="E2E8F2"/>
            </a:solidFill>
            <a:prstDash val="solid"/>
          </a:ln>
        </p:spPr>
      </p:sp>
      <p:sp>
        <p:nvSpPr>
          <p:cNvPr id="25" name="Shape 23"/>
          <p:cNvSpPr/>
          <p:nvPr/>
        </p:nvSpPr>
        <p:spPr>
          <a:xfrm>
            <a:off x="3931920" y="1554480"/>
            <a:ext cx="91" cy="3566160"/>
          </a:xfrm>
          <a:prstGeom prst="line">
            <a:avLst/>
          </a:prstGeom>
          <a:noFill/>
          <a:ln w="6350">
            <a:solidFill>
              <a:srgbClr val="E2E8F2"/>
            </a:solidFill>
            <a:prstDash val="solid"/>
          </a:ln>
        </p:spPr>
      </p:sp>
      <p:sp>
        <p:nvSpPr>
          <p:cNvPr id="26" name="Shape 24"/>
          <p:cNvSpPr/>
          <p:nvPr/>
        </p:nvSpPr>
        <p:spPr>
          <a:xfrm>
            <a:off x="4206240" y="1554480"/>
            <a:ext cx="91" cy="3566160"/>
          </a:xfrm>
          <a:prstGeom prst="line">
            <a:avLst/>
          </a:prstGeom>
          <a:noFill/>
          <a:ln w="6350">
            <a:solidFill>
              <a:srgbClr val="E2E8F2"/>
            </a:solidFill>
            <a:prstDash val="solid"/>
          </a:ln>
        </p:spPr>
      </p:sp>
      <p:sp>
        <p:nvSpPr>
          <p:cNvPr id="27" name="Shape 25"/>
          <p:cNvSpPr/>
          <p:nvPr/>
        </p:nvSpPr>
        <p:spPr>
          <a:xfrm>
            <a:off x="4480560" y="1554480"/>
            <a:ext cx="91" cy="3566160"/>
          </a:xfrm>
          <a:prstGeom prst="line">
            <a:avLst/>
          </a:prstGeom>
          <a:noFill/>
          <a:ln w="6350">
            <a:solidFill>
              <a:srgbClr val="E2E8F2"/>
            </a:solidFill>
            <a:prstDash val="solid"/>
          </a:ln>
        </p:spPr>
      </p:sp>
      <p:sp>
        <p:nvSpPr>
          <p:cNvPr id="28" name="Shape 26"/>
          <p:cNvSpPr/>
          <p:nvPr/>
        </p:nvSpPr>
        <p:spPr>
          <a:xfrm>
            <a:off x="4754880" y="1554480"/>
            <a:ext cx="91" cy="3566160"/>
          </a:xfrm>
          <a:prstGeom prst="line">
            <a:avLst/>
          </a:prstGeom>
          <a:noFill/>
          <a:ln w="6350">
            <a:solidFill>
              <a:srgbClr val="C9D3E6"/>
            </a:solidFill>
            <a:prstDash val="solid"/>
          </a:ln>
        </p:spPr>
      </p:sp>
      <p:sp>
        <p:nvSpPr>
          <p:cNvPr id="29" name="Shape 27"/>
          <p:cNvSpPr/>
          <p:nvPr/>
        </p:nvSpPr>
        <p:spPr>
          <a:xfrm>
            <a:off x="5029200" y="1554480"/>
            <a:ext cx="91" cy="3566160"/>
          </a:xfrm>
          <a:prstGeom prst="line">
            <a:avLst/>
          </a:prstGeom>
          <a:noFill/>
          <a:ln w="6350">
            <a:solidFill>
              <a:srgbClr val="E2E8F2"/>
            </a:solidFill>
            <a:prstDash val="solid"/>
          </a:ln>
        </p:spPr>
      </p:sp>
      <p:sp>
        <p:nvSpPr>
          <p:cNvPr id="30" name="Shape 28"/>
          <p:cNvSpPr/>
          <p:nvPr/>
        </p:nvSpPr>
        <p:spPr>
          <a:xfrm>
            <a:off x="5303520" y="1554480"/>
            <a:ext cx="91" cy="3566160"/>
          </a:xfrm>
          <a:prstGeom prst="line">
            <a:avLst/>
          </a:prstGeom>
          <a:noFill/>
          <a:ln w="6350">
            <a:solidFill>
              <a:srgbClr val="E2E8F2"/>
            </a:solidFill>
            <a:prstDash val="solid"/>
          </a:ln>
        </p:spPr>
      </p:sp>
      <p:sp>
        <p:nvSpPr>
          <p:cNvPr id="31" name="Shape 29"/>
          <p:cNvSpPr/>
          <p:nvPr/>
        </p:nvSpPr>
        <p:spPr>
          <a:xfrm>
            <a:off x="5577840" y="1554480"/>
            <a:ext cx="91" cy="3566160"/>
          </a:xfrm>
          <a:prstGeom prst="line">
            <a:avLst/>
          </a:prstGeom>
          <a:noFill/>
          <a:ln w="6350">
            <a:solidFill>
              <a:srgbClr val="E2E8F2"/>
            </a:solidFill>
            <a:prstDash val="solid"/>
          </a:ln>
        </p:spPr>
      </p:sp>
      <p:sp>
        <p:nvSpPr>
          <p:cNvPr id="32" name="Shape 30"/>
          <p:cNvSpPr/>
          <p:nvPr/>
        </p:nvSpPr>
        <p:spPr>
          <a:xfrm>
            <a:off x="5852160" y="1554480"/>
            <a:ext cx="91" cy="3566160"/>
          </a:xfrm>
          <a:prstGeom prst="line">
            <a:avLst/>
          </a:prstGeom>
          <a:noFill/>
          <a:ln w="6350">
            <a:solidFill>
              <a:srgbClr val="E2E8F2"/>
            </a:solidFill>
            <a:prstDash val="solid"/>
          </a:ln>
        </p:spPr>
      </p:sp>
      <p:sp>
        <p:nvSpPr>
          <p:cNvPr id="33" name="Shape 31"/>
          <p:cNvSpPr/>
          <p:nvPr/>
        </p:nvSpPr>
        <p:spPr>
          <a:xfrm>
            <a:off x="640080" y="1554480"/>
            <a:ext cx="5212080" cy="91"/>
          </a:xfrm>
          <a:prstGeom prst="line">
            <a:avLst/>
          </a:prstGeom>
          <a:noFill/>
          <a:ln w="6350">
            <a:solidFill>
              <a:srgbClr val="C9D3E6"/>
            </a:solidFill>
            <a:prstDash val="solid"/>
          </a:ln>
        </p:spPr>
      </p:sp>
      <p:sp>
        <p:nvSpPr>
          <p:cNvPr id="34" name="Shape 32"/>
          <p:cNvSpPr/>
          <p:nvPr/>
        </p:nvSpPr>
        <p:spPr>
          <a:xfrm>
            <a:off x="640080" y="1828800"/>
            <a:ext cx="5212080" cy="91"/>
          </a:xfrm>
          <a:prstGeom prst="line">
            <a:avLst/>
          </a:prstGeom>
          <a:noFill/>
          <a:ln w="6350">
            <a:solidFill>
              <a:srgbClr val="E2E8F2"/>
            </a:solidFill>
            <a:prstDash val="solid"/>
          </a:ln>
        </p:spPr>
      </p:sp>
      <p:sp>
        <p:nvSpPr>
          <p:cNvPr id="35" name="Shape 33"/>
          <p:cNvSpPr/>
          <p:nvPr/>
        </p:nvSpPr>
        <p:spPr>
          <a:xfrm>
            <a:off x="640080" y="2103120"/>
            <a:ext cx="5212080" cy="91"/>
          </a:xfrm>
          <a:prstGeom prst="line">
            <a:avLst/>
          </a:prstGeom>
          <a:noFill/>
          <a:ln w="6350">
            <a:solidFill>
              <a:srgbClr val="E2E8F2"/>
            </a:solidFill>
            <a:prstDash val="solid"/>
          </a:ln>
        </p:spPr>
      </p:sp>
      <p:sp>
        <p:nvSpPr>
          <p:cNvPr id="36" name="Shape 34"/>
          <p:cNvSpPr/>
          <p:nvPr/>
        </p:nvSpPr>
        <p:spPr>
          <a:xfrm>
            <a:off x="640080" y="2377440"/>
            <a:ext cx="5212080" cy="91"/>
          </a:xfrm>
          <a:prstGeom prst="line">
            <a:avLst/>
          </a:prstGeom>
          <a:noFill/>
          <a:ln w="6350">
            <a:solidFill>
              <a:srgbClr val="E2E8F2"/>
            </a:solidFill>
            <a:prstDash val="solid"/>
          </a:ln>
        </p:spPr>
      </p:sp>
      <p:sp>
        <p:nvSpPr>
          <p:cNvPr id="37" name="Shape 35"/>
          <p:cNvSpPr/>
          <p:nvPr/>
        </p:nvSpPr>
        <p:spPr>
          <a:xfrm>
            <a:off x="640080" y="2651760"/>
            <a:ext cx="5212080" cy="91"/>
          </a:xfrm>
          <a:prstGeom prst="line">
            <a:avLst/>
          </a:prstGeom>
          <a:noFill/>
          <a:ln w="6350">
            <a:solidFill>
              <a:srgbClr val="E2E8F2"/>
            </a:solidFill>
            <a:prstDash val="solid"/>
          </a:ln>
        </p:spPr>
      </p:sp>
      <p:sp>
        <p:nvSpPr>
          <p:cNvPr id="38" name="Shape 36"/>
          <p:cNvSpPr/>
          <p:nvPr/>
        </p:nvSpPr>
        <p:spPr>
          <a:xfrm>
            <a:off x="640080" y="2926080"/>
            <a:ext cx="5212080" cy="91"/>
          </a:xfrm>
          <a:prstGeom prst="line">
            <a:avLst/>
          </a:prstGeom>
          <a:noFill/>
          <a:ln w="6350">
            <a:solidFill>
              <a:srgbClr val="C9D3E6"/>
            </a:solidFill>
            <a:prstDash val="solid"/>
          </a:ln>
        </p:spPr>
      </p:sp>
      <p:sp>
        <p:nvSpPr>
          <p:cNvPr id="39" name="Shape 37"/>
          <p:cNvSpPr/>
          <p:nvPr/>
        </p:nvSpPr>
        <p:spPr>
          <a:xfrm>
            <a:off x="640080" y="3200400"/>
            <a:ext cx="5212080" cy="91"/>
          </a:xfrm>
          <a:prstGeom prst="line">
            <a:avLst/>
          </a:prstGeom>
          <a:noFill/>
          <a:ln w="6350">
            <a:solidFill>
              <a:srgbClr val="E2E8F2"/>
            </a:solidFill>
            <a:prstDash val="solid"/>
          </a:ln>
        </p:spPr>
      </p:sp>
      <p:sp>
        <p:nvSpPr>
          <p:cNvPr id="40" name="Shape 38"/>
          <p:cNvSpPr/>
          <p:nvPr/>
        </p:nvSpPr>
        <p:spPr>
          <a:xfrm>
            <a:off x="640080" y="3474720"/>
            <a:ext cx="5212080" cy="91"/>
          </a:xfrm>
          <a:prstGeom prst="line">
            <a:avLst/>
          </a:prstGeom>
          <a:noFill/>
          <a:ln w="6350">
            <a:solidFill>
              <a:srgbClr val="E2E8F2"/>
            </a:solidFill>
            <a:prstDash val="solid"/>
          </a:ln>
        </p:spPr>
      </p:sp>
      <p:sp>
        <p:nvSpPr>
          <p:cNvPr id="41" name="Shape 39"/>
          <p:cNvSpPr/>
          <p:nvPr/>
        </p:nvSpPr>
        <p:spPr>
          <a:xfrm>
            <a:off x="640080" y="3749040"/>
            <a:ext cx="5212080" cy="91"/>
          </a:xfrm>
          <a:prstGeom prst="line">
            <a:avLst/>
          </a:prstGeom>
          <a:noFill/>
          <a:ln w="6350">
            <a:solidFill>
              <a:srgbClr val="E2E8F2"/>
            </a:solidFill>
            <a:prstDash val="solid"/>
          </a:ln>
        </p:spPr>
      </p:sp>
      <p:sp>
        <p:nvSpPr>
          <p:cNvPr id="42" name="Shape 40"/>
          <p:cNvSpPr/>
          <p:nvPr/>
        </p:nvSpPr>
        <p:spPr>
          <a:xfrm>
            <a:off x="640080" y="4023360"/>
            <a:ext cx="5212080" cy="91"/>
          </a:xfrm>
          <a:prstGeom prst="line">
            <a:avLst/>
          </a:prstGeom>
          <a:noFill/>
          <a:ln w="6350">
            <a:solidFill>
              <a:srgbClr val="E2E8F2"/>
            </a:solidFill>
            <a:prstDash val="solid"/>
          </a:ln>
        </p:spPr>
      </p:sp>
      <p:sp>
        <p:nvSpPr>
          <p:cNvPr id="43" name="Shape 41"/>
          <p:cNvSpPr/>
          <p:nvPr/>
        </p:nvSpPr>
        <p:spPr>
          <a:xfrm>
            <a:off x="640080" y="4297680"/>
            <a:ext cx="5212080" cy="91"/>
          </a:xfrm>
          <a:prstGeom prst="line">
            <a:avLst/>
          </a:prstGeom>
          <a:noFill/>
          <a:ln w="6350">
            <a:solidFill>
              <a:srgbClr val="C9D3E6"/>
            </a:solidFill>
            <a:prstDash val="solid"/>
          </a:ln>
        </p:spPr>
      </p:sp>
      <p:sp>
        <p:nvSpPr>
          <p:cNvPr id="44" name="Shape 42"/>
          <p:cNvSpPr/>
          <p:nvPr/>
        </p:nvSpPr>
        <p:spPr>
          <a:xfrm>
            <a:off x="640080" y="4572000"/>
            <a:ext cx="5212080" cy="91"/>
          </a:xfrm>
          <a:prstGeom prst="line">
            <a:avLst/>
          </a:prstGeom>
          <a:noFill/>
          <a:ln w="6350">
            <a:solidFill>
              <a:srgbClr val="E2E8F2"/>
            </a:solidFill>
            <a:prstDash val="solid"/>
          </a:ln>
        </p:spPr>
      </p:sp>
      <p:sp>
        <p:nvSpPr>
          <p:cNvPr id="45" name="Shape 43"/>
          <p:cNvSpPr/>
          <p:nvPr/>
        </p:nvSpPr>
        <p:spPr>
          <a:xfrm>
            <a:off x="640080" y="4846320"/>
            <a:ext cx="5212080" cy="91"/>
          </a:xfrm>
          <a:prstGeom prst="line">
            <a:avLst/>
          </a:prstGeom>
          <a:noFill/>
          <a:ln w="6350">
            <a:solidFill>
              <a:srgbClr val="E2E8F2"/>
            </a:solidFill>
            <a:prstDash val="solid"/>
          </a:ln>
        </p:spPr>
      </p:sp>
      <p:sp>
        <p:nvSpPr>
          <p:cNvPr id="46" name="Shape 44"/>
          <p:cNvSpPr/>
          <p:nvPr/>
        </p:nvSpPr>
        <p:spPr>
          <a:xfrm>
            <a:off x="640080" y="5120640"/>
            <a:ext cx="5212080" cy="91"/>
          </a:xfrm>
          <a:prstGeom prst="line">
            <a:avLst/>
          </a:prstGeom>
          <a:noFill/>
          <a:ln w="6350">
            <a:solidFill>
              <a:srgbClr val="E2E8F2"/>
            </a:solidFill>
            <a:prstDash val="solid"/>
          </a:ln>
        </p:spPr>
      </p:sp>
      <p:sp>
        <p:nvSpPr>
          <p:cNvPr id="47" name="Shape 45"/>
          <p:cNvSpPr/>
          <p:nvPr/>
        </p:nvSpPr>
        <p:spPr>
          <a:xfrm>
            <a:off x="914400" y="4846320"/>
            <a:ext cx="2194560" cy="91"/>
          </a:xfrm>
          <a:prstGeom prst="line">
            <a:avLst/>
          </a:prstGeom>
          <a:noFill/>
          <a:ln w="34925">
            <a:solidFill>
              <a:srgbClr val="2E5BD8"/>
            </a:solidFill>
            <a:prstDash val="solid"/>
            <a:tailEnd type="triangle"/>
          </a:ln>
        </p:spPr>
      </p:sp>
      <p:sp>
        <p:nvSpPr>
          <p:cNvPr id="48" name="Shape 46"/>
          <p:cNvSpPr/>
          <p:nvPr/>
        </p:nvSpPr>
        <p:spPr>
          <a:xfrm flipV="1">
            <a:off x="3108960" y="3420911"/>
            <a:ext cx="822960" cy="1425409"/>
          </a:xfrm>
          <a:prstGeom prst="line">
            <a:avLst/>
          </a:prstGeom>
          <a:noFill/>
          <a:ln w="34925">
            <a:solidFill>
              <a:srgbClr val="B8730A"/>
            </a:solidFill>
            <a:prstDash val="solid"/>
            <a:tailEnd type="triangle"/>
          </a:ln>
        </p:spPr>
      </p:sp>
      <p:sp>
        <p:nvSpPr>
          <p:cNvPr id="49" name="Shape 47"/>
          <p:cNvSpPr/>
          <p:nvPr/>
        </p:nvSpPr>
        <p:spPr>
          <a:xfrm flipV="1">
            <a:off x="914400" y="3420911"/>
            <a:ext cx="3017520" cy="1425409"/>
          </a:xfrm>
          <a:prstGeom prst="line">
            <a:avLst/>
          </a:prstGeom>
          <a:noFill/>
          <a:ln w="41275">
            <a:solidFill>
              <a:srgbClr val="C8414C"/>
            </a:solidFill>
            <a:prstDash val="solid"/>
            <a:tailEnd type="triangle"/>
          </a:ln>
        </p:spPr>
      </p:sp>
      <p:sp>
        <p:nvSpPr>
          <p:cNvPr id="50" name="Shape 48"/>
          <p:cNvSpPr/>
          <p:nvPr/>
        </p:nvSpPr>
        <p:spPr>
          <a:xfrm>
            <a:off x="3108960" y="4846320"/>
            <a:ext cx="1097280" cy="91"/>
          </a:xfrm>
          <a:prstGeom prst="line">
            <a:avLst/>
          </a:prstGeom>
          <a:noFill/>
          <a:ln w="12700">
            <a:solidFill>
              <a:srgbClr val="6B7385"/>
            </a:solidFill>
            <a:prstDash val="dash"/>
          </a:ln>
        </p:spPr>
      </p:sp>
      <p:sp>
        <p:nvSpPr>
          <p:cNvPr id="51" name="Shape 49"/>
          <p:cNvSpPr/>
          <p:nvPr/>
        </p:nvSpPr>
        <p:spPr>
          <a:xfrm>
            <a:off x="3291840" y="4529563"/>
            <a:ext cx="18108" cy="11169"/>
          </a:xfrm>
          <a:prstGeom prst="line">
            <a:avLst/>
          </a:prstGeom>
          <a:noFill/>
          <a:ln w="15875">
            <a:solidFill>
              <a:srgbClr val="1A2340"/>
            </a:solidFill>
            <a:prstDash val="solid"/>
          </a:ln>
        </p:spPr>
      </p:sp>
      <p:sp>
        <p:nvSpPr>
          <p:cNvPr id="52" name="Shape 50"/>
          <p:cNvSpPr/>
          <p:nvPr/>
        </p:nvSpPr>
        <p:spPr>
          <a:xfrm>
            <a:off x="3309948" y="4540732"/>
            <a:ext cx="17428" cy="12203"/>
          </a:xfrm>
          <a:prstGeom prst="line">
            <a:avLst/>
          </a:prstGeom>
          <a:noFill/>
          <a:ln w="15875">
            <a:solidFill>
              <a:srgbClr val="1A2340"/>
            </a:solidFill>
            <a:prstDash val="solid"/>
          </a:ln>
        </p:spPr>
      </p:sp>
      <p:sp>
        <p:nvSpPr>
          <p:cNvPr id="53" name="Shape 51"/>
          <p:cNvSpPr/>
          <p:nvPr/>
        </p:nvSpPr>
        <p:spPr>
          <a:xfrm>
            <a:off x="3327377" y="4552935"/>
            <a:ext cx="16689" cy="13196"/>
          </a:xfrm>
          <a:prstGeom prst="line">
            <a:avLst/>
          </a:prstGeom>
          <a:noFill/>
          <a:ln w="15875">
            <a:solidFill>
              <a:srgbClr val="1A2340"/>
            </a:solidFill>
            <a:prstDash val="solid"/>
          </a:ln>
        </p:spPr>
      </p:sp>
      <p:sp>
        <p:nvSpPr>
          <p:cNvPr id="54" name="Shape 52"/>
          <p:cNvSpPr/>
          <p:nvPr/>
        </p:nvSpPr>
        <p:spPr>
          <a:xfrm>
            <a:off x="3344066" y="4566132"/>
            <a:ext cx="15894" cy="14144"/>
          </a:xfrm>
          <a:prstGeom prst="line">
            <a:avLst/>
          </a:prstGeom>
          <a:noFill/>
          <a:ln w="15875">
            <a:solidFill>
              <a:srgbClr val="1A2340"/>
            </a:solidFill>
            <a:prstDash val="solid"/>
          </a:ln>
        </p:spPr>
      </p:sp>
      <p:sp>
        <p:nvSpPr>
          <p:cNvPr id="55" name="Shape 53"/>
          <p:cNvSpPr/>
          <p:nvPr/>
        </p:nvSpPr>
        <p:spPr>
          <a:xfrm>
            <a:off x="3359960" y="4580276"/>
            <a:ext cx="15044" cy="15044"/>
          </a:xfrm>
          <a:prstGeom prst="line">
            <a:avLst/>
          </a:prstGeom>
          <a:noFill/>
          <a:ln w="15875">
            <a:solidFill>
              <a:srgbClr val="1A2340"/>
            </a:solidFill>
            <a:prstDash val="solid"/>
          </a:ln>
        </p:spPr>
      </p:sp>
      <p:sp>
        <p:nvSpPr>
          <p:cNvPr id="56" name="Shape 54"/>
          <p:cNvSpPr/>
          <p:nvPr/>
        </p:nvSpPr>
        <p:spPr>
          <a:xfrm>
            <a:off x="3375004" y="4595320"/>
            <a:ext cx="14144" cy="15894"/>
          </a:xfrm>
          <a:prstGeom prst="line">
            <a:avLst/>
          </a:prstGeom>
          <a:noFill/>
          <a:ln w="15875">
            <a:solidFill>
              <a:srgbClr val="1A2340"/>
            </a:solidFill>
            <a:prstDash val="solid"/>
          </a:ln>
        </p:spPr>
      </p:sp>
      <p:sp>
        <p:nvSpPr>
          <p:cNvPr id="57" name="Shape 55"/>
          <p:cNvSpPr/>
          <p:nvPr/>
        </p:nvSpPr>
        <p:spPr>
          <a:xfrm>
            <a:off x="3389148" y="4611214"/>
            <a:ext cx="13196" cy="16689"/>
          </a:xfrm>
          <a:prstGeom prst="line">
            <a:avLst/>
          </a:prstGeom>
          <a:noFill/>
          <a:ln w="15875">
            <a:solidFill>
              <a:srgbClr val="1A2340"/>
            </a:solidFill>
            <a:prstDash val="solid"/>
          </a:ln>
        </p:spPr>
      </p:sp>
      <p:sp>
        <p:nvSpPr>
          <p:cNvPr id="58" name="Shape 56"/>
          <p:cNvSpPr/>
          <p:nvPr/>
        </p:nvSpPr>
        <p:spPr>
          <a:xfrm>
            <a:off x="3402345" y="4627903"/>
            <a:ext cx="12203" cy="17428"/>
          </a:xfrm>
          <a:prstGeom prst="line">
            <a:avLst/>
          </a:prstGeom>
          <a:noFill/>
          <a:ln w="15875">
            <a:solidFill>
              <a:srgbClr val="1A2340"/>
            </a:solidFill>
            <a:prstDash val="solid"/>
          </a:ln>
        </p:spPr>
      </p:sp>
      <p:sp>
        <p:nvSpPr>
          <p:cNvPr id="59" name="Shape 57"/>
          <p:cNvSpPr/>
          <p:nvPr/>
        </p:nvSpPr>
        <p:spPr>
          <a:xfrm>
            <a:off x="3414548" y="4645332"/>
            <a:ext cx="11169" cy="18108"/>
          </a:xfrm>
          <a:prstGeom prst="line">
            <a:avLst/>
          </a:prstGeom>
          <a:noFill/>
          <a:ln w="15875">
            <a:solidFill>
              <a:srgbClr val="1A2340"/>
            </a:solidFill>
            <a:prstDash val="solid"/>
          </a:ln>
        </p:spPr>
      </p:sp>
      <p:sp>
        <p:nvSpPr>
          <p:cNvPr id="60" name="Shape 58"/>
          <p:cNvSpPr/>
          <p:nvPr/>
        </p:nvSpPr>
        <p:spPr>
          <a:xfrm>
            <a:off x="3425717" y="4663440"/>
            <a:ext cx="10098" cy="18727"/>
          </a:xfrm>
          <a:prstGeom prst="line">
            <a:avLst/>
          </a:prstGeom>
          <a:noFill/>
          <a:ln w="15875">
            <a:solidFill>
              <a:srgbClr val="1A2340"/>
            </a:solidFill>
            <a:prstDash val="solid"/>
          </a:ln>
        </p:spPr>
      </p:sp>
      <p:sp>
        <p:nvSpPr>
          <p:cNvPr id="61" name="Shape 59"/>
          <p:cNvSpPr/>
          <p:nvPr/>
        </p:nvSpPr>
        <p:spPr>
          <a:xfrm>
            <a:off x="3435815" y="4682167"/>
            <a:ext cx="8992" cy="19283"/>
          </a:xfrm>
          <a:prstGeom prst="line">
            <a:avLst/>
          </a:prstGeom>
          <a:noFill/>
          <a:ln w="15875">
            <a:solidFill>
              <a:srgbClr val="1A2340"/>
            </a:solidFill>
            <a:prstDash val="solid"/>
          </a:ln>
        </p:spPr>
      </p:sp>
      <p:sp>
        <p:nvSpPr>
          <p:cNvPr id="62" name="Shape 60"/>
          <p:cNvSpPr/>
          <p:nvPr/>
        </p:nvSpPr>
        <p:spPr>
          <a:xfrm>
            <a:off x="3444807" y="4701450"/>
            <a:ext cx="7855" cy="19773"/>
          </a:xfrm>
          <a:prstGeom prst="line">
            <a:avLst/>
          </a:prstGeom>
          <a:noFill/>
          <a:ln w="15875">
            <a:solidFill>
              <a:srgbClr val="1A2340"/>
            </a:solidFill>
            <a:prstDash val="solid"/>
          </a:ln>
        </p:spPr>
      </p:sp>
      <p:sp>
        <p:nvSpPr>
          <p:cNvPr id="63" name="Shape 61"/>
          <p:cNvSpPr/>
          <p:nvPr/>
        </p:nvSpPr>
        <p:spPr>
          <a:xfrm>
            <a:off x="3452662" y="4721223"/>
            <a:ext cx="6692" cy="20196"/>
          </a:xfrm>
          <a:prstGeom prst="line">
            <a:avLst/>
          </a:prstGeom>
          <a:noFill/>
          <a:ln w="15875">
            <a:solidFill>
              <a:srgbClr val="1A2340"/>
            </a:solidFill>
            <a:prstDash val="solid"/>
          </a:ln>
        </p:spPr>
      </p:sp>
      <p:sp>
        <p:nvSpPr>
          <p:cNvPr id="64" name="Shape 62"/>
          <p:cNvSpPr/>
          <p:nvPr/>
        </p:nvSpPr>
        <p:spPr>
          <a:xfrm>
            <a:off x="3459354" y="4741419"/>
            <a:ext cx="5507" cy="20551"/>
          </a:xfrm>
          <a:prstGeom prst="line">
            <a:avLst/>
          </a:prstGeom>
          <a:noFill/>
          <a:ln w="15875">
            <a:solidFill>
              <a:srgbClr val="1A2340"/>
            </a:solidFill>
            <a:prstDash val="solid"/>
          </a:ln>
        </p:spPr>
      </p:sp>
      <p:sp>
        <p:nvSpPr>
          <p:cNvPr id="65" name="Shape 63"/>
          <p:cNvSpPr/>
          <p:nvPr/>
        </p:nvSpPr>
        <p:spPr>
          <a:xfrm>
            <a:off x="3464861" y="4761970"/>
            <a:ext cx="4302" cy="20837"/>
          </a:xfrm>
          <a:prstGeom prst="line">
            <a:avLst/>
          </a:prstGeom>
          <a:noFill/>
          <a:ln w="15875">
            <a:solidFill>
              <a:srgbClr val="1A2340"/>
            </a:solidFill>
            <a:prstDash val="solid"/>
          </a:ln>
        </p:spPr>
      </p:sp>
      <p:sp>
        <p:nvSpPr>
          <p:cNvPr id="66" name="Shape 64"/>
          <p:cNvSpPr/>
          <p:nvPr/>
        </p:nvSpPr>
        <p:spPr>
          <a:xfrm>
            <a:off x="3469163" y="4782806"/>
            <a:ext cx="3084" cy="21051"/>
          </a:xfrm>
          <a:prstGeom prst="line">
            <a:avLst/>
          </a:prstGeom>
          <a:noFill/>
          <a:ln w="15875">
            <a:solidFill>
              <a:srgbClr val="1A2340"/>
            </a:solidFill>
            <a:prstDash val="solid"/>
          </a:ln>
        </p:spPr>
      </p:sp>
      <p:sp>
        <p:nvSpPr>
          <p:cNvPr id="67" name="Shape 65"/>
          <p:cNvSpPr/>
          <p:nvPr/>
        </p:nvSpPr>
        <p:spPr>
          <a:xfrm>
            <a:off x="3472247" y="4803858"/>
            <a:ext cx="1854" cy="21195"/>
          </a:xfrm>
          <a:prstGeom prst="line">
            <a:avLst/>
          </a:prstGeom>
          <a:noFill/>
          <a:ln w="15875">
            <a:solidFill>
              <a:srgbClr val="1A2340"/>
            </a:solidFill>
            <a:prstDash val="solid"/>
          </a:ln>
        </p:spPr>
      </p:sp>
      <p:sp>
        <p:nvSpPr>
          <p:cNvPr id="68" name="Shape 66"/>
          <p:cNvSpPr/>
          <p:nvPr/>
        </p:nvSpPr>
        <p:spPr>
          <a:xfrm>
            <a:off x="3474101" y="4825053"/>
            <a:ext cx="619" cy="21267"/>
          </a:xfrm>
          <a:prstGeom prst="line">
            <a:avLst/>
          </a:prstGeom>
          <a:noFill/>
          <a:ln w="15875">
            <a:solidFill>
              <a:srgbClr val="1A2340"/>
            </a:solidFill>
            <a:prstDash val="solid"/>
          </a:ln>
        </p:spPr>
      </p:sp>
      <p:sp>
        <p:nvSpPr>
          <p:cNvPr id="69" name="Text 67"/>
          <p:cNvSpPr/>
          <p:nvPr/>
        </p:nvSpPr>
        <p:spPr>
          <a:xfrm>
            <a:off x="3493008" y="4517136"/>
            <a:ext cx="457200" cy="256032"/>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60°</a:t>
            </a:r>
            <a:endParaRPr lang="en-US" sz="1050" dirty="0"/>
          </a:p>
        </p:txBody>
      </p:sp>
      <p:sp>
        <p:nvSpPr>
          <p:cNvPr id="70" name="Shape 68"/>
          <p:cNvSpPr/>
          <p:nvPr/>
        </p:nvSpPr>
        <p:spPr>
          <a:xfrm>
            <a:off x="1658516" y="4494816"/>
            <a:ext cx="8393" cy="18347"/>
          </a:xfrm>
          <a:prstGeom prst="line">
            <a:avLst/>
          </a:prstGeom>
          <a:noFill/>
          <a:ln w="15875">
            <a:solidFill>
              <a:srgbClr val="1A2340"/>
            </a:solidFill>
            <a:prstDash val="solid"/>
          </a:ln>
        </p:spPr>
      </p:sp>
      <p:sp>
        <p:nvSpPr>
          <p:cNvPr id="71" name="Shape 69"/>
          <p:cNvSpPr/>
          <p:nvPr/>
        </p:nvSpPr>
        <p:spPr>
          <a:xfrm>
            <a:off x="1666909" y="4513164"/>
            <a:ext cx="7941" cy="18548"/>
          </a:xfrm>
          <a:prstGeom prst="line">
            <a:avLst/>
          </a:prstGeom>
          <a:noFill/>
          <a:ln w="15875">
            <a:solidFill>
              <a:srgbClr val="1A2340"/>
            </a:solidFill>
            <a:prstDash val="solid"/>
          </a:ln>
        </p:spPr>
      </p:sp>
      <p:sp>
        <p:nvSpPr>
          <p:cNvPr id="72" name="Shape 70"/>
          <p:cNvSpPr/>
          <p:nvPr/>
        </p:nvSpPr>
        <p:spPr>
          <a:xfrm>
            <a:off x="1674850" y="4531711"/>
            <a:ext cx="7484" cy="18737"/>
          </a:xfrm>
          <a:prstGeom prst="line">
            <a:avLst/>
          </a:prstGeom>
          <a:noFill/>
          <a:ln w="15875">
            <a:solidFill>
              <a:srgbClr val="1A2340"/>
            </a:solidFill>
            <a:prstDash val="solid"/>
          </a:ln>
        </p:spPr>
      </p:sp>
      <p:sp>
        <p:nvSpPr>
          <p:cNvPr id="73" name="Shape 71"/>
          <p:cNvSpPr/>
          <p:nvPr/>
        </p:nvSpPr>
        <p:spPr>
          <a:xfrm>
            <a:off x="1682334" y="4550448"/>
            <a:ext cx="7022" cy="18914"/>
          </a:xfrm>
          <a:prstGeom prst="line">
            <a:avLst/>
          </a:prstGeom>
          <a:noFill/>
          <a:ln w="15875">
            <a:solidFill>
              <a:srgbClr val="1A2340"/>
            </a:solidFill>
            <a:prstDash val="solid"/>
          </a:ln>
        </p:spPr>
      </p:sp>
      <p:sp>
        <p:nvSpPr>
          <p:cNvPr id="74" name="Shape 72"/>
          <p:cNvSpPr/>
          <p:nvPr/>
        </p:nvSpPr>
        <p:spPr>
          <a:xfrm>
            <a:off x="1689357" y="4569362"/>
            <a:ext cx="6557" cy="19081"/>
          </a:xfrm>
          <a:prstGeom prst="line">
            <a:avLst/>
          </a:prstGeom>
          <a:noFill/>
          <a:ln w="15875">
            <a:solidFill>
              <a:srgbClr val="1A2340"/>
            </a:solidFill>
            <a:prstDash val="solid"/>
          </a:ln>
        </p:spPr>
      </p:sp>
      <p:sp>
        <p:nvSpPr>
          <p:cNvPr id="75" name="Shape 73"/>
          <p:cNvSpPr/>
          <p:nvPr/>
        </p:nvSpPr>
        <p:spPr>
          <a:xfrm>
            <a:off x="1695913" y="4588443"/>
            <a:ext cx="6087" cy="19236"/>
          </a:xfrm>
          <a:prstGeom prst="line">
            <a:avLst/>
          </a:prstGeom>
          <a:noFill/>
          <a:ln w="15875">
            <a:solidFill>
              <a:srgbClr val="1A2340"/>
            </a:solidFill>
            <a:prstDash val="solid"/>
          </a:ln>
        </p:spPr>
      </p:sp>
      <p:sp>
        <p:nvSpPr>
          <p:cNvPr id="76" name="Shape 74"/>
          <p:cNvSpPr/>
          <p:nvPr/>
        </p:nvSpPr>
        <p:spPr>
          <a:xfrm>
            <a:off x="1702000" y="4607679"/>
            <a:ext cx="5613" cy="19379"/>
          </a:xfrm>
          <a:prstGeom prst="line">
            <a:avLst/>
          </a:prstGeom>
          <a:noFill/>
          <a:ln w="15875">
            <a:solidFill>
              <a:srgbClr val="1A2340"/>
            </a:solidFill>
            <a:prstDash val="solid"/>
          </a:ln>
        </p:spPr>
      </p:sp>
      <p:sp>
        <p:nvSpPr>
          <p:cNvPr id="77" name="Shape 75"/>
          <p:cNvSpPr/>
          <p:nvPr/>
        </p:nvSpPr>
        <p:spPr>
          <a:xfrm>
            <a:off x="1707614" y="4627059"/>
            <a:ext cx="5137" cy="19511"/>
          </a:xfrm>
          <a:prstGeom prst="line">
            <a:avLst/>
          </a:prstGeom>
          <a:noFill/>
          <a:ln w="15875">
            <a:solidFill>
              <a:srgbClr val="1A2340"/>
            </a:solidFill>
            <a:prstDash val="solid"/>
          </a:ln>
        </p:spPr>
      </p:sp>
      <p:sp>
        <p:nvSpPr>
          <p:cNvPr id="78" name="Shape 76"/>
          <p:cNvSpPr/>
          <p:nvPr/>
        </p:nvSpPr>
        <p:spPr>
          <a:xfrm>
            <a:off x="1712750" y="4646570"/>
            <a:ext cx="4657" cy="19631"/>
          </a:xfrm>
          <a:prstGeom prst="line">
            <a:avLst/>
          </a:prstGeom>
          <a:noFill/>
          <a:ln w="15875">
            <a:solidFill>
              <a:srgbClr val="1A2340"/>
            </a:solidFill>
            <a:prstDash val="solid"/>
          </a:ln>
        </p:spPr>
      </p:sp>
      <p:sp>
        <p:nvSpPr>
          <p:cNvPr id="79" name="Shape 77"/>
          <p:cNvSpPr/>
          <p:nvPr/>
        </p:nvSpPr>
        <p:spPr>
          <a:xfrm>
            <a:off x="1717407" y="4666201"/>
            <a:ext cx="4174" cy="19740"/>
          </a:xfrm>
          <a:prstGeom prst="line">
            <a:avLst/>
          </a:prstGeom>
          <a:noFill/>
          <a:ln w="15875">
            <a:solidFill>
              <a:srgbClr val="1A2340"/>
            </a:solidFill>
            <a:prstDash val="solid"/>
          </a:ln>
        </p:spPr>
      </p:sp>
      <p:sp>
        <p:nvSpPr>
          <p:cNvPr id="80" name="Shape 78"/>
          <p:cNvSpPr/>
          <p:nvPr/>
        </p:nvSpPr>
        <p:spPr>
          <a:xfrm>
            <a:off x="1721581" y="4685941"/>
            <a:ext cx="3689" cy="19836"/>
          </a:xfrm>
          <a:prstGeom prst="line">
            <a:avLst/>
          </a:prstGeom>
          <a:noFill/>
          <a:ln w="15875">
            <a:solidFill>
              <a:srgbClr val="1A2340"/>
            </a:solidFill>
            <a:prstDash val="solid"/>
          </a:ln>
        </p:spPr>
      </p:sp>
      <p:sp>
        <p:nvSpPr>
          <p:cNvPr id="81" name="Shape 79"/>
          <p:cNvSpPr/>
          <p:nvPr/>
        </p:nvSpPr>
        <p:spPr>
          <a:xfrm>
            <a:off x="1725270" y="4705777"/>
            <a:ext cx="3202" cy="19920"/>
          </a:xfrm>
          <a:prstGeom prst="line">
            <a:avLst/>
          </a:prstGeom>
          <a:noFill/>
          <a:ln w="15875">
            <a:solidFill>
              <a:srgbClr val="1A2340"/>
            </a:solidFill>
            <a:prstDash val="solid"/>
          </a:ln>
        </p:spPr>
      </p:sp>
      <p:sp>
        <p:nvSpPr>
          <p:cNvPr id="82" name="Shape 80"/>
          <p:cNvSpPr/>
          <p:nvPr/>
        </p:nvSpPr>
        <p:spPr>
          <a:xfrm>
            <a:off x="1728472" y="4725697"/>
            <a:ext cx="2712" cy="19993"/>
          </a:xfrm>
          <a:prstGeom prst="line">
            <a:avLst/>
          </a:prstGeom>
          <a:noFill/>
          <a:ln w="15875">
            <a:solidFill>
              <a:srgbClr val="1A2340"/>
            </a:solidFill>
            <a:prstDash val="solid"/>
          </a:ln>
        </p:spPr>
      </p:sp>
      <p:sp>
        <p:nvSpPr>
          <p:cNvPr id="83" name="Shape 81"/>
          <p:cNvSpPr/>
          <p:nvPr/>
        </p:nvSpPr>
        <p:spPr>
          <a:xfrm>
            <a:off x="1731184" y="4745690"/>
            <a:ext cx="2221" cy="20053"/>
          </a:xfrm>
          <a:prstGeom prst="line">
            <a:avLst/>
          </a:prstGeom>
          <a:noFill/>
          <a:ln w="15875">
            <a:solidFill>
              <a:srgbClr val="1A2340"/>
            </a:solidFill>
            <a:prstDash val="solid"/>
          </a:ln>
        </p:spPr>
      </p:sp>
      <p:sp>
        <p:nvSpPr>
          <p:cNvPr id="84" name="Shape 82"/>
          <p:cNvSpPr/>
          <p:nvPr/>
        </p:nvSpPr>
        <p:spPr>
          <a:xfrm>
            <a:off x="1733406" y="4765743"/>
            <a:ext cx="1729" cy="20102"/>
          </a:xfrm>
          <a:prstGeom prst="line">
            <a:avLst/>
          </a:prstGeom>
          <a:noFill/>
          <a:ln w="15875">
            <a:solidFill>
              <a:srgbClr val="1A2340"/>
            </a:solidFill>
            <a:prstDash val="solid"/>
          </a:ln>
        </p:spPr>
      </p:sp>
      <p:sp>
        <p:nvSpPr>
          <p:cNvPr id="85" name="Shape 83"/>
          <p:cNvSpPr/>
          <p:nvPr/>
        </p:nvSpPr>
        <p:spPr>
          <a:xfrm>
            <a:off x="1735135" y="4785845"/>
            <a:ext cx="1236" cy="20138"/>
          </a:xfrm>
          <a:prstGeom prst="line">
            <a:avLst/>
          </a:prstGeom>
          <a:noFill/>
          <a:ln w="15875">
            <a:solidFill>
              <a:srgbClr val="1A2340"/>
            </a:solidFill>
            <a:prstDash val="solid"/>
          </a:ln>
        </p:spPr>
      </p:sp>
      <p:sp>
        <p:nvSpPr>
          <p:cNvPr id="86" name="Shape 84"/>
          <p:cNvSpPr/>
          <p:nvPr/>
        </p:nvSpPr>
        <p:spPr>
          <a:xfrm>
            <a:off x="1736371" y="4805983"/>
            <a:ext cx="742" cy="20162"/>
          </a:xfrm>
          <a:prstGeom prst="line">
            <a:avLst/>
          </a:prstGeom>
          <a:noFill/>
          <a:ln w="15875">
            <a:solidFill>
              <a:srgbClr val="1A2340"/>
            </a:solidFill>
            <a:prstDash val="solid"/>
          </a:ln>
        </p:spPr>
      </p:sp>
      <p:sp>
        <p:nvSpPr>
          <p:cNvPr id="87" name="Shape 85"/>
          <p:cNvSpPr/>
          <p:nvPr/>
        </p:nvSpPr>
        <p:spPr>
          <a:xfrm>
            <a:off x="1737113" y="4826145"/>
            <a:ext cx="247" cy="20175"/>
          </a:xfrm>
          <a:prstGeom prst="line">
            <a:avLst/>
          </a:prstGeom>
          <a:noFill/>
          <a:ln w="15875">
            <a:solidFill>
              <a:srgbClr val="1A2340"/>
            </a:solidFill>
            <a:prstDash val="solid"/>
          </a:ln>
        </p:spPr>
      </p:sp>
      <p:sp>
        <p:nvSpPr>
          <p:cNvPr id="88" name="Text 86"/>
          <p:cNvSpPr/>
          <p:nvPr/>
        </p:nvSpPr>
        <p:spPr>
          <a:xfrm>
            <a:off x="1755648" y="4572000"/>
            <a:ext cx="457200" cy="256032"/>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25°</a:t>
            </a:r>
            <a:endParaRPr lang="en-US" sz="1050" dirty="0"/>
          </a:p>
        </p:txBody>
      </p:sp>
      <p:sp>
        <p:nvSpPr>
          <p:cNvPr id="89" name="Text 87"/>
          <p:cNvSpPr/>
          <p:nvPr/>
        </p:nvSpPr>
        <p:spPr>
          <a:xfrm>
            <a:off x="1463040" y="4873752"/>
            <a:ext cx="1280160" cy="256032"/>
          </a:xfrm>
          <a:prstGeom prst="rect">
            <a:avLst/>
          </a:prstGeom>
          <a:noFill/>
          <a:ln/>
        </p:spPr>
        <p:txBody>
          <a:bodyPr wrap="square" lIns="0" tIns="0" rIns="0" bIns="0" rtlCol="0" anchor="ctr"/>
          <a:lstStyle/>
          <a:p>
            <a:pPr algn="ctr" indent="0" marL="0">
              <a:buNone/>
            </a:pPr>
            <a:r>
              <a:rPr lang="en-US" sz="1050" b="1" dirty="0">
                <a:solidFill>
                  <a:srgbClr val="2E5BD8"/>
                </a:solidFill>
                <a:latin typeface="Calibri" pitchFamily="34" charset="0"/>
                <a:ea typeface="Calibri" pitchFamily="34" charset="-122"/>
                <a:cs typeface="Calibri" pitchFamily="34" charset="-120"/>
              </a:rPr>
              <a:t>8.0 N</a:t>
            </a:r>
            <a:endParaRPr lang="en-US" sz="1050" dirty="0"/>
          </a:p>
        </p:txBody>
      </p:sp>
      <p:sp>
        <p:nvSpPr>
          <p:cNvPr id="90" name="Text 88"/>
          <p:cNvSpPr/>
          <p:nvPr/>
        </p:nvSpPr>
        <p:spPr>
          <a:xfrm>
            <a:off x="3886200" y="3931920"/>
            <a:ext cx="640080" cy="256032"/>
          </a:xfrm>
          <a:prstGeom prst="rect">
            <a:avLst/>
          </a:prstGeom>
          <a:noFill/>
          <a:ln/>
        </p:spPr>
        <p:txBody>
          <a:bodyPr wrap="square" lIns="0" tIns="0" rIns="0" bIns="0" rtlCol="0" anchor="ctr"/>
          <a:lstStyle/>
          <a:p>
            <a:pPr algn="l" indent="0" marL="0">
              <a:buNone/>
            </a:pPr>
            <a:r>
              <a:rPr lang="en-US" sz="1050" b="1" dirty="0">
                <a:solidFill>
                  <a:srgbClr val="B8730A"/>
                </a:solidFill>
                <a:latin typeface="Calibri" pitchFamily="34" charset="0"/>
                <a:ea typeface="Calibri" pitchFamily="34" charset="-122"/>
                <a:cs typeface="Calibri" pitchFamily="34" charset="-120"/>
              </a:rPr>
              <a:t>6.0 N</a:t>
            </a:r>
            <a:endParaRPr lang="en-US" sz="1050" dirty="0"/>
          </a:p>
        </p:txBody>
      </p:sp>
      <p:sp>
        <p:nvSpPr>
          <p:cNvPr id="91" name="Text 89"/>
          <p:cNvSpPr/>
          <p:nvPr/>
        </p:nvSpPr>
        <p:spPr>
          <a:xfrm>
            <a:off x="1554480" y="3749040"/>
            <a:ext cx="1463040" cy="256032"/>
          </a:xfrm>
          <a:prstGeom prst="rect">
            <a:avLst/>
          </a:prstGeom>
          <a:noFill/>
          <a:ln/>
        </p:spPr>
        <p:txBody>
          <a:bodyPr wrap="square" lIns="0" tIns="0" rIns="0" bIns="0" rtlCol="0" anchor="ctr"/>
          <a:lstStyle/>
          <a:p>
            <a:pPr algn="l" indent="0" marL="0">
              <a:buNone/>
            </a:pPr>
            <a:r>
              <a:rPr lang="en-US" sz="1150" b="1" dirty="0">
                <a:solidFill>
                  <a:srgbClr val="C8414C"/>
                </a:solidFill>
                <a:latin typeface="Calibri" pitchFamily="34" charset="0"/>
                <a:ea typeface="Calibri" pitchFamily="34" charset="-122"/>
                <a:cs typeface="Calibri" pitchFamily="34" charset="-120"/>
              </a:rPr>
              <a:t>R ≈ 12 N</a:t>
            </a:r>
            <a:endParaRPr lang="en-US" sz="1150" dirty="0"/>
          </a:p>
        </p:txBody>
      </p:sp>
      <p:sp>
        <p:nvSpPr>
          <p:cNvPr id="92" name="Shape 90"/>
          <p:cNvSpPr/>
          <p:nvPr/>
        </p:nvSpPr>
        <p:spPr>
          <a:xfrm>
            <a:off x="4160520" y="1645920"/>
            <a:ext cx="1691640" cy="1417320"/>
          </a:xfrm>
          <a:prstGeom prst="roundRect">
            <a:avLst>
              <a:gd name="adj" fmla="val 3226"/>
            </a:avLst>
          </a:prstGeom>
          <a:solidFill>
            <a:srgbClr val="FFFFFF"/>
          </a:solidFill>
          <a:ln w="12700">
            <a:solidFill>
              <a:srgbClr val="D5DCEB"/>
            </a:solidFill>
            <a:prstDash val="solid"/>
          </a:ln>
        </p:spPr>
      </p:sp>
      <p:sp>
        <p:nvSpPr>
          <p:cNvPr id="93" name="Text 91"/>
          <p:cNvSpPr/>
          <p:nvPr/>
        </p:nvSpPr>
        <p:spPr>
          <a:xfrm>
            <a:off x="4206240" y="1673352"/>
            <a:ext cx="160020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forces on the object</a:t>
            </a:r>
            <a:endParaRPr lang="en-US" sz="1000" dirty="0"/>
          </a:p>
        </p:txBody>
      </p:sp>
      <p:sp>
        <p:nvSpPr>
          <p:cNvPr id="94" name="Shape 92"/>
          <p:cNvSpPr/>
          <p:nvPr/>
        </p:nvSpPr>
        <p:spPr>
          <a:xfrm>
            <a:off x="4343400" y="2743200"/>
            <a:ext cx="91440" cy="91440"/>
          </a:xfrm>
          <a:prstGeom prst="ellipse">
            <a:avLst/>
          </a:prstGeom>
          <a:solidFill>
            <a:srgbClr val="1A2340"/>
          </a:solidFill>
          <a:ln w="12700">
            <a:solidFill>
              <a:srgbClr val="1A2340"/>
            </a:solidFill>
            <a:prstDash val="solid"/>
          </a:ln>
        </p:spPr>
      </p:sp>
      <p:sp>
        <p:nvSpPr>
          <p:cNvPr id="95" name="Shape 93"/>
          <p:cNvSpPr/>
          <p:nvPr/>
        </p:nvSpPr>
        <p:spPr>
          <a:xfrm>
            <a:off x="4389120" y="2788920"/>
            <a:ext cx="1097280" cy="91"/>
          </a:xfrm>
          <a:prstGeom prst="line">
            <a:avLst/>
          </a:prstGeom>
          <a:noFill/>
          <a:ln w="28575">
            <a:solidFill>
              <a:srgbClr val="2E5BD8"/>
            </a:solidFill>
            <a:prstDash val="solid"/>
            <a:tailEnd type="triangle"/>
          </a:ln>
        </p:spPr>
      </p:sp>
      <p:sp>
        <p:nvSpPr>
          <p:cNvPr id="96" name="Shape 94"/>
          <p:cNvSpPr/>
          <p:nvPr/>
        </p:nvSpPr>
        <p:spPr>
          <a:xfrm flipV="1">
            <a:off x="4389120" y="2076216"/>
            <a:ext cx="411480" cy="712704"/>
          </a:xfrm>
          <a:prstGeom prst="line">
            <a:avLst/>
          </a:prstGeom>
          <a:noFill/>
          <a:ln w="28575">
            <a:solidFill>
              <a:srgbClr val="B8730A"/>
            </a:solidFill>
            <a:prstDash val="solid"/>
            <a:tailEnd type="triangle"/>
          </a:ln>
        </p:spPr>
      </p:sp>
      <p:sp>
        <p:nvSpPr>
          <p:cNvPr id="97" name="Text 95"/>
          <p:cNvSpPr/>
          <p:nvPr/>
        </p:nvSpPr>
        <p:spPr>
          <a:xfrm>
            <a:off x="5029200" y="2807208"/>
            <a:ext cx="548640" cy="256032"/>
          </a:xfrm>
          <a:prstGeom prst="rect">
            <a:avLst/>
          </a:prstGeom>
          <a:noFill/>
          <a:ln/>
        </p:spPr>
        <p:txBody>
          <a:bodyPr wrap="square" lIns="0" tIns="0" rIns="0" bIns="0" rtlCol="0" anchor="ctr"/>
          <a:lstStyle/>
          <a:p>
            <a:pPr algn="ctr" indent="0" marL="0">
              <a:buNone/>
            </a:pPr>
            <a:r>
              <a:rPr lang="en-US" sz="1000" b="1" dirty="0">
                <a:solidFill>
                  <a:srgbClr val="2E5BD8"/>
                </a:solidFill>
                <a:latin typeface="Calibri" pitchFamily="34" charset="0"/>
                <a:ea typeface="Calibri" pitchFamily="34" charset="-122"/>
                <a:cs typeface="Calibri" pitchFamily="34" charset="-120"/>
              </a:rPr>
              <a:t>8.0 N</a:t>
            </a:r>
            <a:endParaRPr lang="en-US" sz="1000" dirty="0"/>
          </a:p>
        </p:txBody>
      </p:sp>
      <p:sp>
        <p:nvSpPr>
          <p:cNvPr id="98" name="Text 96"/>
          <p:cNvSpPr/>
          <p:nvPr/>
        </p:nvSpPr>
        <p:spPr>
          <a:xfrm>
            <a:off x="4846320" y="2103120"/>
            <a:ext cx="548640" cy="256032"/>
          </a:xfrm>
          <a:prstGeom prst="rect">
            <a:avLst/>
          </a:prstGeom>
          <a:noFill/>
          <a:ln/>
        </p:spPr>
        <p:txBody>
          <a:bodyPr wrap="square" lIns="0" tIns="0" rIns="0" bIns="0" rtlCol="0" anchor="ctr"/>
          <a:lstStyle/>
          <a:p>
            <a:pPr algn="l" indent="0" marL="0">
              <a:buNone/>
            </a:pPr>
            <a:r>
              <a:rPr lang="en-US" sz="1000" b="1" dirty="0">
                <a:solidFill>
                  <a:srgbClr val="B8730A"/>
                </a:solidFill>
                <a:latin typeface="Calibri" pitchFamily="34" charset="0"/>
                <a:ea typeface="Calibri" pitchFamily="34" charset="-122"/>
                <a:cs typeface="Calibri" pitchFamily="34" charset="-120"/>
              </a:rPr>
              <a:t>6.0 N</a:t>
            </a:r>
            <a:endParaRPr lang="en-US" sz="1000" dirty="0"/>
          </a:p>
        </p:txBody>
      </p:sp>
      <p:sp>
        <p:nvSpPr>
          <p:cNvPr id="99" name="Shape 97"/>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100" name="Text 98"/>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Same method, any angle</a:t>
            </a:r>
            <a:endParaRPr lang="en-US" sz="1300" dirty="0"/>
          </a:p>
        </p:txBody>
      </p:sp>
      <p:sp>
        <p:nvSpPr>
          <p:cNvPr id="101" name="Text 99"/>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Draw the first force to scale along its direction.</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From its </a:t>
            </a:r>
            <a:r>
              <a:rPr lang="en-US" sz="1150" b="1" dirty="0">
                <a:solidFill>
                  <a:srgbClr val="262B3A"/>
                </a:solidFill>
                <a:latin typeface="Calibri" pitchFamily="34" charset="0"/>
                <a:ea typeface="Calibri" pitchFamily="34" charset="-122"/>
                <a:cs typeface="Calibri" pitchFamily="34" charset="-120"/>
              </a:rPr>
              <a:t>tip</a:t>
            </a:r>
            <a:r>
              <a:rPr lang="en-US" sz="1150" dirty="0">
                <a:solidFill>
                  <a:srgbClr val="262B3A"/>
                </a:solidFill>
                <a:latin typeface="Calibri" pitchFamily="34" charset="0"/>
                <a:ea typeface="Calibri" pitchFamily="34" charset="-122"/>
                <a:cs typeface="Calibri" pitchFamily="34" charset="-120"/>
              </a:rPr>
              <a:t>, draw the second force at the </a:t>
            </a:r>
            <a:r>
              <a:rPr lang="en-US" sz="1150" b="1" dirty="0">
                <a:solidFill>
                  <a:srgbClr val="262B3A"/>
                </a:solidFill>
                <a:latin typeface="Calibri" pitchFamily="34" charset="0"/>
                <a:ea typeface="Calibri" pitchFamily="34" charset="-122"/>
                <a:cs typeface="Calibri" pitchFamily="34" charset="-120"/>
              </a:rPr>
              <a:t>correct angle</a:t>
            </a:r>
            <a:r>
              <a:rPr lang="en-US" sz="1150" dirty="0">
                <a:solidFill>
                  <a:srgbClr val="262B3A"/>
                </a:solidFill>
                <a:latin typeface="Calibri" pitchFamily="34" charset="0"/>
                <a:ea typeface="Calibri" pitchFamily="34" charset="-122"/>
                <a:cs typeface="Calibri" pitchFamily="34" charset="-120"/>
              </a:rPr>
              <a:t> (use a protractor).</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Join the start to the final tip: this is the </a:t>
            </a:r>
            <a:r>
              <a:rPr lang="en-US" sz="1150" b="1" dirty="0">
                <a:solidFill>
                  <a:srgbClr val="262B3A"/>
                </a:solidFill>
                <a:latin typeface="Calibri" pitchFamily="34" charset="0"/>
                <a:ea typeface="Calibri" pitchFamily="34" charset="-122"/>
                <a:cs typeface="Calibri" pitchFamily="34" charset="-120"/>
              </a:rPr>
              <a:t>resultant</a:t>
            </a:r>
            <a:r>
              <a:rPr lang="en-US" sz="1150" dirty="0">
                <a:solidFill>
                  <a:srgbClr val="262B3A"/>
                </a:solidFill>
                <a:latin typeface="Calibri" pitchFamily="34" charset="0"/>
                <a:ea typeface="Calibri" pitchFamily="34" charset="-122"/>
                <a:cs typeface="Calibri" pitchFamily="34" charset="-120"/>
              </a:rPr>
              <a:t>. Measure length and angle.</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resultant of 8 N and 6 N is </a:t>
            </a:r>
            <a:r>
              <a:rPr lang="en-US" sz="1150" b="1" dirty="0">
                <a:solidFill>
                  <a:srgbClr val="262B3A"/>
                </a:solidFill>
                <a:latin typeface="Calibri" pitchFamily="34" charset="0"/>
                <a:ea typeface="Calibri" pitchFamily="34" charset="-122"/>
                <a:cs typeface="Calibri" pitchFamily="34" charset="-120"/>
              </a:rPr>
              <a:t>not</a:t>
            </a:r>
            <a:r>
              <a:rPr lang="en-US" sz="1150" dirty="0">
                <a:solidFill>
                  <a:srgbClr val="262B3A"/>
                </a:solidFill>
                <a:latin typeface="Calibri" pitchFamily="34" charset="0"/>
                <a:ea typeface="Calibri" pitchFamily="34" charset="-122"/>
                <a:cs typeface="Calibri" pitchFamily="34" charset="-120"/>
              </a:rPr>
              <a:t> 14 N here – direction matters for vectors.</a:t>
            </a:r>
            <a:endParaRPr lang="en-US" sz="1150" dirty="0"/>
          </a:p>
        </p:txBody>
      </p:sp>
      <p:sp>
        <p:nvSpPr>
          <p:cNvPr id="102" name="Shape 100"/>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103" name="Text 101"/>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104" name="Text 102"/>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Forces of 8.0 N (east) and 6.0 N (60° above east) act on a point.</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Draw   </a:t>
            </a:r>
            <a:r>
              <a:rPr lang="en-US" sz="1050" dirty="0">
                <a:solidFill>
                  <a:srgbClr val="262B3A"/>
                </a:solidFill>
                <a:latin typeface="Calibri" pitchFamily="34" charset="0"/>
                <a:ea typeface="Calibri" pitchFamily="34" charset="-122"/>
                <a:cs typeface="Calibri" pitchFamily="34" charset="-120"/>
              </a:rPr>
              <a:t>8 squares east, then 6 squares at 60°</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Measure   </a:t>
            </a:r>
            <a:r>
              <a:rPr lang="en-US" sz="1050" dirty="0">
                <a:solidFill>
                  <a:srgbClr val="262B3A"/>
                </a:solidFill>
                <a:latin typeface="Calibri" pitchFamily="34" charset="0"/>
                <a:ea typeface="Calibri" pitchFamily="34" charset="-122"/>
                <a:cs typeface="Calibri" pitchFamily="34" charset="-120"/>
              </a:rPr>
              <a:t>resultant ≈ 12.2 squares long</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Angle   </a:t>
            </a:r>
            <a:r>
              <a:rPr lang="en-US" sz="1050" dirty="0">
                <a:solidFill>
                  <a:srgbClr val="262B3A"/>
                </a:solidFill>
                <a:latin typeface="Calibri" pitchFamily="34" charset="0"/>
                <a:ea typeface="Calibri" pitchFamily="34" charset="-122"/>
                <a:cs typeface="Calibri" pitchFamily="34" charset="-120"/>
              </a:rPr>
              <a:t>≈ 25° above the 8.0 N force</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R ≈ 12 N at 25° above east</a:t>
            </a:r>
            <a:endParaRPr lang="en-US" sz="1050" dirty="0"/>
          </a:p>
        </p:txBody>
      </p:sp>
      <p:sp>
        <p:nvSpPr>
          <p:cNvPr id="105" name="Shape 103"/>
          <p:cNvSpPr/>
          <p:nvPr/>
        </p:nvSpPr>
        <p:spPr>
          <a:xfrm>
            <a:off x="411480" y="5833872"/>
            <a:ext cx="11368735" cy="530352"/>
          </a:xfrm>
          <a:prstGeom prst="rect">
            <a:avLst/>
          </a:prstGeom>
          <a:solidFill>
            <a:srgbClr val="FFF4E0"/>
          </a:solidFill>
          <a:ln w="6350">
            <a:solidFill>
              <a:srgbClr val="F1D9A8"/>
            </a:solidFill>
            <a:prstDash val="solid"/>
          </a:ln>
        </p:spPr>
      </p:sp>
      <p:sp>
        <p:nvSpPr>
          <p:cNvPr id="106" name="Shape 104"/>
          <p:cNvSpPr/>
          <p:nvPr/>
        </p:nvSpPr>
        <p:spPr>
          <a:xfrm>
            <a:off x="411480" y="5833872"/>
            <a:ext cx="82296" cy="530352"/>
          </a:xfrm>
          <a:prstGeom prst="rect">
            <a:avLst/>
          </a:prstGeom>
          <a:solidFill>
            <a:srgbClr val="E39A2F"/>
          </a:solidFill>
          <a:ln w="12700">
            <a:solidFill>
              <a:srgbClr val="E39A2F"/>
            </a:solidFill>
            <a:prstDash val="solid"/>
          </a:ln>
        </p:spPr>
      </p:sp>
      <p:sp>
        <p:nvSpPr>
          <p:cNvPr id="107" name="Text 10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Two 10 N forces act on an object with 60° between them. Use a scale drawing to find the resultant.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3</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9.3 • resultant forces by scale drawing</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9 Forces and their effects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3  |  15</a:t>
            </a:r>
            <a:endParaRPr lang="en-US" sz="1000" dirty="0"/>
          </a:p>
        </p:txBody>
      </p:sp>
      <p:sp>
        <p:nvSpPr>
          <p:cNvPr id="10" name="Shape 8"/>
          <p:cNvSpPr/>
          <p:nvPr/>
        </p:nvSpPr>
        <p:spPr>
          <a:xfrm>
            <a:off x="411480" y="1207008"/>
            <a:ext cx="11368735" cy="1594104"/>
          </a:xfrm>
          <a:prstGeom prst="roundRect">
            <a:avLst>
              <a:gd name="adj" fmla="val 2868"/>
            </a:avLst>
          </a:prstGeom>
          <a:solidFill>
            <a:srgbClr val="FFFFFF"/>
          </a:solidFill>
          <a:ln w="12700">
            <a:solidFill>
              <a:srgbClr val="D5DCEB"/>
            </a:solidFill>
            <a:prstDash val="solid"/>
          </a:ln>
        </p:spPr>
      </p:sp>
      <p:sp>
        <p:nvSpPr>
          <p:cNvPr id="11" name="Shape 9"/>
          <p:cNvSpPr/>
          <p:nvPr/>
        </p:nvSpPr>
        <p:spPr>
          <a:xfrm>
            <a:off x="411480" y="1207008"/>
            <a:ext cx="2103120" cy="292608"/>
          </a:xfrm>
          <a:prstGeom prst="rect">
            <a:avLst/>
          </a:prstGeom>
          <a:solidFill>
            <a:srgbClr val="F5A742"/>
          </a:solidFill>
          <a:ln w="12700">
            <a:solidFill>
              <a:srgbClr val="F5A742"/>
            </a:solidFill>
            <a:prstDash val="solid"/>
          </a:ln>
        </p:spPr>
      </p:sp>
      <p:sp>
        <p:nvSpPr>
          <p:cNvPr id="12" name="Text 10"/>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3" name="Text 11"/>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boat is pulled by two ropes at right angles: </a:t>
            </a:r>
            <a:r>
              <a:rPr lang="en-US" sz="1250" b="1" dirty="0">
                <a:solidFill>
                  <a:srgbClr val="262B3A"/>
                </a:solidFill>
                <a:latin typeface="Calibri" pitchFamily="34" charset="0"/>
                <a:ea typeface="Calibri" pitchFamily="34" charset="-122"/>
                <a:cs typeface="Calibri" pitchFamily="34" charset="-120"/>
              </a:rPr>
              <a:t>5.0 N</a:t>
            </a:r>
            <a:r>
              <a:rPr lang="en-US" sz="1250" dirty="0">
                <a:solidFill>
                  <a:srgbClr val="262B3A"/>
                </a:solidFill>
                <a:latin typeface="Calibri" pitchFamily="34" charset="0"/>
                <a:ea typeface="Calibri" pitchFamily="34" charset="-122"/>
                <a:cs typeface="Calibri" pitchFamily="34" charset="-120"/>
              </a:rPr>
              <a:t> east and </a:t>
            </a:r>
            <a:r>
              <a:rPr lang="en-US" sz="1250" b="1" dirty="0">
                <a:solidFill>
                  <a:srgbClr val="262B3A"/>
                </a:solidFill>
                <a:latin typeface="Calibri" pitchFamily="34" charset="0"/>
                <a:ea typeface="Calibri" pitchFamily="34" charset="-122"/>
                <a:cs typeface="Calibri" pitchFamily="34" charset="-120"/>
              </a:rPr>
              <a:t>12 N</a:t>
            </a:r>
            <a:r>
              <a:rPr lang="en-US" sz="1250" dirty="0">
                <a:solidFill>
                  <a:srgbClr val="262B3A"/>
                </a:solidFill>
                <a:latin typeface="Calibri" pitchFamily="34" charset="0"/>
                <a:ea typeface="Calibri" pitchFamily="34" charset="-122"/>
                <a:cs typeface="Calibri" pitchFamily="34" charset="-120"/>
              </a:rPr>
              <a:t> north. Use a scale drawing to find the size and direction of the resultant force.</a:t>
            </a:r>
            <a:endParaRPr lang="en-US" sz="1250" dirty="0"/>
          </a:p>
        </p:txBody>
      </p:sp>
      <p:sp>
        <p:nvSpPr>
          <p:cNvPr id="14" name="Text 12"/>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5" name="Shape 13"/>
          <p:cNvSpPr/>
          <p:nvPr/>
        </p:nvSpPr>
        <p:spPr>
          <a:xfrm>
            <a:off x="411480" y="2947416"/>
            <a:ext cx="11368735" cy="1594104"/>
          </a:xfrm>
          <a:prstGeom prst="roundRect">
            <a:avLst>
              <a:gd name="adj" fmla="val 2868"/>
            </a:avLst>
          </a:prstGeom>
          <a:solidFill>
            <a:srgbClr val="FFFFFF"/>
          </a:solidFill>
          <a:ln w="12700">
            <a:solidFill>
              <a:srgbClr val="D5DCEB"/>
            </a:solidFill>
            <a:prstDash val="solid"/>
          </a:ln>
        </p:spPr>
      </p:sp>
      <p:sp>
        <p:nvSpPr>
          <p:cNvPr id="16" name="Shape 14"/>
          <p:cNvSpPr/>
          <p:nvPr/>
        </p:nvSpPr>
        <p:spPr>
          <a:xfrm>
            <a:off x="411480" y="2947416"/>
            <a:ext cx="2103120" cy="292608"/>
          </a:xfrm>
          <a:prstGeom prst="rect">
            <a:avLst/>
          </a:prstGeom>
          <a:solidFill>
            <a:srgbClr val="F5A742"/>
          </a:solidFill>
          <a:ln w="12700">
            <a:solidFill>
              <a:srgbClr val="F5A742"/>
            </a:solidFill>
            <a:prstDash val="solid"/>
          </a:ln>
        </p:spPr>
      </p:sp>
      <p:sp>
        <p:nvSpPr>
          <p:cNvPr id="17" name="Text 15"/>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8" name="Text 16"/>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Forces of </a:t>
            </a:r>
            <a:r>
              <a:rPr lang="en-US" sz="1250" b="1" dirty="0">
                <a:solidFill>
                  <a:srgbClr val="262B3A"/>
                </a:solidFill>
                <a:latin typeface="Calibri" pitchFamily="34" charset="0"/>
                <a:ea typeface="Calibri" pitchFamily="34" charset="-122"/>
                <a:cs typeface="Calibri" pitchFamily="34" charset="-120"/>
              </a:rPr>
              <a:t>7.0 N</a:t>
            </a:r>
            <a:r>
              <a:rPr lang="en-US" sz="1250" dirty="0">
                <a:solidFill>
                  <a:srgbClr val="262B3A"/>
                </a:solidFill>
                <a:latin typeface="Calibri" pitchFamily="34" charset="0"/>
                <a:ea typeface="Calibri" pitchFamily="34" charset="-122"/>
                <a:cs typeface="Calibri" pitchFamily="34" charset="-120"/>
              </a:rPr>
              <a:t> and </a:t>
            </a:r>
            <a:r>
              <a:rPr lang="en-US" sz="1250" b="1" dirty="0">
                <a:solidFill>
                  <a:srgbClr val="262B3A"/>
                </a:solidFill>
                <a:latin typeface="Calibri" pitchFamily="34" charset="0"/>
                <a:ea typeface="Calibri" pitchFamily="34" charset="-122"/>
                <a:cs typeface="Calibri" pitchFamily="34" charset="-120"/>
              </a:rPr>
              <a:t>4.0 N</a:t>
            </a:r>
            <a:r>
              <a:rPr lang="en-US" sz="1250" dirty="0">
                <a:solidFill>
                  <a:srgbClr val="262B3A"/>
                </a:solidFill>
                <a:latin typeface="Calibri" pitchFamily="34" charset="0"/>
                <a:ea typeface="Calibri" pitchFamily="34" charset="-122"/>
                <a:cs typeface="Calibri" pitchFamily="34" charset="-120"/>
              </a:rPr>
              <a:t> act on a point with </a:t>
            </a:r>
            <a:r>
              <a:rPr lang="en-US" sz="1250" b="1" dirty="0">
                <a:solidFill>
                  <a:srgbClr val="262B3A"/>
                </a:solidFill>
                <a:latin typeface="Calibri" pitchFamily="34" charset="0"/>
                <a:ea typeface="Calibri" pitchFamily="34" charset="-122"/>
                <a:cs typeface="Calibri" pitchFamily="34" charset="-120"/>
              </a:rPr>
              <a:t>50°</a:t>
            </a:r>
            <a:r>
              <a:rPr lang="en-US" sz="1250" dirty="0">
                <a:solidFill>
                  <a:srgbClr val="262B3A"/>
                </a:solidFill>
                <a:latin typeface="Calibri" pitchFamily="34" charset="0"/>
                <a:ea typeface="Calibri" pitchFamily="34" charset="-122"/>
                <a:cs typeface="Calibri" pitchFamily="34" charset="-120"/>
              </a:rPr>
              <a:t> between them. Find the resultant by scale drawing.</a:t>
            </a:r>
            <a:endParaRPr lang="en-US" sz="1250" dirty="0"/>
          </a:p>
        </p:txBody>
      </p:sp>
      <p:sp>
        <p:nvSpPr>
          <p:cNvPr id="19" name="Text 17"/>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0" name="Shape 18"/>
          <p:cNvSpPr/>
          <p:nvPr/>
        </p:nvSpPr>
        <p:spPr>
          <a:xfrm>
            <a:off x="411480" y="4687824"/>
            <a:ext cx="11368735" cy="1594104"/>
          </a:xfrm>
          <a:prstGeom prst="roundRect">
            <a:avLst>
              <a:gd name="adj" fmla="val 2868"/>
            </a:avLst>
          </a:prstGeom>
          <a:solidFill>
            <a:srgbClr val="FFFFFF"/>
          </a:solidFill>
          <a:ln w="12700">
            <a:solidFill>
              <a:srgbClr val="D5DCEB"/>
            </a:solidFill>
            <a:prstDash val="solid"/>
          </a:ln>
        </p:spPr>
      </p:sp>
      <p:sp>
        <p:nvSpPr>
          <p:cNvPr id="21" name="Shape 19"/>
          <p:cNvSpPr/>
          <p:nvPr/>
        </p:nvSpPr>
        <p:spPr>
          <a:xfrm>
            <a:off x="411480" y="4687824"/>
            <a:ext cx="2103120" cy="292608"/>
          </a:xfrm>
          <a:prstGeom prst="rect">
            <a:avLst/>
          </a:prstGeom>
          <a:solidFill>
            <a:srgbClr val="F5A742"/>
          </a:solidFill>
          <a:ln w="12700">
            <a:solidFill>
              <a:srgbClr val="F5A742"/>
            </a:solidFill>
            <a:prstDash val="solid"/>
          </a:ln>
        </p:spPr>
      </p:sp>
      <p:sp>
        <p:nvSpPr>
          <p:cNvPr id="22" name="Text 20"/>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3" name="Text 21"/>
          <p:cNvSpPr/>
          <p:nvPr/>
        </p:nvSpPr>
        <p:spPr>
          <a:xfrm>
            <a:off x="640080" y="5053584"/>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State what is meant by the </a:t>
            </a:r>
            <a:r>
              <a:rPr lang="en-US" sz="1250" b="1" dirty="0">
                <a:solidFill>
                  <a:srgbClr val="262B3A"/>
                </a:solidFill>
                <a:latin typeface="Calibri" pitchFamily="34" charset="0"/>
                <a:ea typeface="Calibri" pitchFamily="34" charset="-122"/>
                <a:cs typeface="Calibri" pitchFamily="34" charset="-120"/>
              </a:rPr>
              <a:t>resultant</a:t>
            </a:r>
            <a:r>
              <a:rPr lang="en-US" sz="1250" dirty="0">
                <a:solidFill>
                  <a:srgbClr val="262B3A"/>
                </a:solidFill>
                <a:latin typeface="Calibri" pitchFamily="34" charset="0"/>
                <a:ea typeface="Calibri" pitchFamily="34" charset="-122"/>
                <a:cs typeface="Calibri" pitchFamily="34" charset="-120"/>
              </a:rPr>
              <a:t> force on an object.</a:t>
            </a:r>
            <a:endParaRPr lang="en-US" sz="1250" dirty="0"/>
          </a:p>
        </p:txBody>
      </p:sp>
      <p:sp>
        <p:nvSpPr>
          <p:cNvPr id="24" name="Text 22"/>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Resolving a force into two components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9.3 • resolution of forces by scale drawing</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9 Forces and their effects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9.3  |  16</a:t>
            </a:r>
            <a:endParaRPr lang="en-US" sz="1000" dirty="0"/>
          </a:p>
        </p:txBody>
      </p:sp>
      <p:sp>
        <p:nvSpPr>
          <p:cNvPr id="10" name="Shape 8"/>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scale: 1 square = 2 N; a 20 N pull on a sledge rope at 30° to the ground</a:t>
            </a:r>
            <a:endParaRPr lang="en-US" sz="1000" dirty="0"/>
          </a:p>
        </p:txBody>
      </p:sp>
      <p:sp>
        <p:nvSpPr>
          <p:cNvPr id="12" name="Shape 10"/>
          <p:cNvSpPr/>
          <p:nvPr/>
        </p:nvSpPr>
        <p:spPr>
          <a:xfrm>
            <a:off x="822960" y="1463040"/>
            <a:ext cx="4800600" cy="3657600"/>
          </a:xfrm>
          <a:prstGeom prst="rect">
            <a:avLst/>
          </a:prstGeom>
          <a:solidFill>
            <a:srgbClr val="FFFFFF"/>
          </a:solidFill>
          <a:ln/>
        </p:spPr>
      </p:sp>
      <p:sp>
        <p:nvSpPr>
          <p:cNvPr id="13" name="Shape 11"/>
          <p:cNvSpPr/>
          <p:nvPr/>
        </p:nvSpPr>
        <p:spPr>
          <a:xfrm>
            <a:off x="822960" y="1463040"/>
            <a:ext cx="91" cy="3657600"/>
          </a:xfrm>
          <a:prstGeom prst="line">
            <a:avLst/>
          </a:prstGeom>
          <a:noFill/>
          <a:ln w="6350">
            <a:solidFill>
              <a:srgbClr val="C9D3E6"/>
            </a:solidFill>
            <a:prstDash val="solid"/>
          </a:ln>
        </p:spPr>
      </p:sp>
      <p:sp>
        <p:nvSpPr>
          <p:cNvPr id="14" name="Shape 12"/>
          <p:cNvSpPr/>
          <p:nvPr/>
        </p:nvSpPr>
        <p:spPr>
          <a:xfrm>
            <a:off x="1051560" y="1463040"/>
            <a:ext cx="91" cy="3657600"/>
          </a:xfrm>
          <a:prstGeom prst="line">
            <a:avLst/>
          </a:prstGeom>
          <a:noFill/>
          <a:ln w="6350">
            <a:solidFill>
              <a:srgbClr val="E2E8F2"/>
            </a:solidFill>
            <a:prstDash val="solid"/>
          </a:ln>
        </p:spPr>
      </p:sp>
      <p:sp>
        <p:nvSpPr>
          <p:cNvPr id="15" name="Shape 13"/>
          <p:cNvSpPr/>
          <p:nvPr/>
        </p:nvSpPr>
        <p:spPr>
          <a:xfrm>
            <a:off x="1280160" y="1463040"/>
            <a:ext cx="91" cy="3657600"/>
          </a:xfrm>
          <a:prstGeom prst="line">
            <a:avLst/>
          </a:prstGeom>
          <a:noFill/>
          <a:ln w="6350">
            <a:solidFill>
              <a:srgbClr val="E2E8F2"/>
            </a:solidFill>
            <a:prstDash val="solid"/>
          </a:ln>
        </p:spPr>
      </p:sp>
      <p:sp>
        <p:nvSpPr>
          <p:cNvPr id="16" name="Shape 14"/>
          <p:cNvSpPr/>
          <p:nvPr/>
        </p:nvSpPr>
        <p:spPr>
          <a:xfrm>
            <a:off x="1508760" y="1463040"/>
            <a:ext cx="91" cy="3657600"/>
          </a:xfrm>
          <a:prstGeom prst="line">
            <a:avLst/>
          </a:prstGeom>
          <a:noFill/>
          <a:ln w="6350">
            <a:solidFill>
              <a:srgbClr val="E2E8F2"/>
            </a:solidFill>
            <a:prstDash val="solid"/>
          </a:ln>
        </p:spPr>
      </p:sp>
      <p:sp>
        <p:nvSpPr>
          <p:cNvPr id="17" name="Shape 15"/>
          <p:cNvSpPr/>
          <p:nvPr/>
        </p:nvSpPr>
        <p:spPr>
          <a:xfrm>
            <a:off x="1737360" y="1463040"/>
            <a:ext cx="91" cy="3657600"/>
          </a:xfrm>
          <a:prstGeom prst="line">
            <a:avLst/>
          </a:prstGeom>
          <a:noFill/>
          <a:ln w="6350">
            <a:solidFill>
              <a:srgbClr val="E2E8F2"/>
            </a:solidFill>
            <a:prstDash val="solid"/>
          </a:ln>
        </p:spPr>
      </p:sp>
      <p:sp>
        <p:nvSpPr>
          <p:cNvPr id="18" name="Shape 16"/>
          <p:cNvSpPr/>
          <p:nvPr/>
        </p:nvSpPr>
        <p:spPr>
          <a:xfrm>
            <a:off x="1965960" y="1463040"/>
            <a:ext cx="91" cy="3657600"/>
          </a:xfrm>
          <a:prstGeom prst="line">
            <a:avLst/>
          </a:prstGeom>
          <a:noFill/>
          <a:ln w="6350">
            <a:solidFill>
              <a:srgbClr val="C9D3E6"/>
            </a:solidFill>
            <a:prstDash val="solid"/>
          </a:ln>
        </p:spPr>
      </p:sp>
      <p:sp>
        <p:nvSpPr>
          <p:cNvPr id="19" name="Shape 17"/>
          <p:cNvSpPr/>
          <p:nvPr/>
        </p:nvSpPr>
        <p:spPr>
          <a:xfrm>
            <a:off x="2194560" y="1463040"/>
            <a:ext cx="91" cy="3657600"/>
          </a:xfrm>
          <a:prstGeom prst="line">
            <a:avLst/>
          </a:prstGeom>
          <a:noFill/>
          <a:ln w="6350">
            <a:solidFill>
              <a:srgbClr val="E2E8F2"/>
            </a:solidFill>
            <a:prstDash val="solid"/>
          </a:ln>
        </p:spPr>
      </p:sp>
      <p:sp>
        <p:nvSpPr>
          <p:cNvPr id="20" name="Shape 18"/>
          <p:cNvSpPr/>
          <p:nvPr/>
        </p:nvSpPr>
        <p:spPr>
          <a:xfrm>
            <a:off x="2423160" y="1463040"/>
            <a:ext cx="91" cy="3657600"/>
          </a:xfrm>
          <a:prstGeom prst="line">
            <a:avLst/>
          </a:prstGeom>
          <a:noFill/>
          <a:ln w="6350">
            <a:solidFill>
              <a:srgbClr val="E2E8F2"/>
            </a:solidFill>
            <a:prstDash val="solid"/>
          </a:ln>
        </p:spPr>
      </p:sp>
      <p:sp>
        <p:nvSpPr>
          <p:cNvPr id="21" name="Shape 19"/>
          <p:cNvSpPr/>
          <p:nvPr/>
        </p:nvSpPr>
        <p:spPr>
          <a:xfrm>
            <a:off x="2651760" y="1463040"/>
            <a:ext cx="91" cy="3657600"/>
          </a:xfrm>
          <a:prstGeom prst="line">
            <a:avLst/>
          </a:prstGeom>
          <a:noFill/>
          <a:ln w="6350">
            <a:solidFill>
              <a:srgbClr val="E2E8F2"/>
            </a:solidFill>
            <a:prstDash val="solid"/>
          </a:ln>
        </p:spPr>
      </p:sp>
      <p:sp>
        <p:nvSpPr>
          <p:cNvPr id="22" name="Shape 20"/>
          <p:cNvSpPr/>
          <p:nvPr/>
        </p:nvSpPr>
        <p:spPr>
          <a:xfrm>
            <a:off x="2880360" y="1463040"/>
            <a:ext cx="91" cy="3657600"/>
          </a:xfrm>
          <a:prstGeom prst="line">
            <a:avLst/>
          </a:prstGeom>
          <a:noFill/>
          <a:ln w="6350">
            <a:solidFill>
              <a:srgbClr val="E2E8F2"/>
            </a:solidFill>
            <a:prstDash val="solid"/>
          </a:ln>
        </p:spPr>
      </p:sp>
      <p:sp>
        <p:nvSpPr>
          <p:cNvPr id="23" name="Shape 21"/>
          <p:cNvSpPr/>
          <p:nvPr/>
        </p:nvSpPr>
        <p:spPr>
          <a:xfrm>
            <a:off x="3108960" y="1463040"/>
            <a:ext cx="91" cy="3657600"/>
          </a:xfrm>
          <a:prstGeom prst="line">
            <a:avLst/>
          </a:prstGeom>
          <a:noFill/>
          <a:ln w="6350">
            <a:solidFill>
              <a:srgbClr val="C9D3E6"/>
            </a:solidFill>
            <a:prstDash val="solid"/>
          </a:ln>
        </p:spPr>
      </p:sp>
      <p:sp>
        <p:nvSpPr>
          <p:cNvPr id="24" name="Shape 22"/>
          <p:cNvSpPr/>
          <p:nvPr/>
        </p:nvSpPr>
        <p:spPr>
          <a:xfrm>
            <a:off x="3337560" y="1463040"/>
            <a:ext cx="91" cy="3657600"/>
          </a:xfrm>
          <a:prstGeom prst="line">
            <a:avLst/>
          </a:prstGeom>
          <a:noFill/>
          <a:ln w="6350">
            <a:solidFill>
              <a:srgbClr val="E2E8F2"/>
            </a:solidFill>
            <a:prstDash val="solid"/>
          </a:ln>
        </p:spPr>
      </p:sp>
      <p:sp>
        <p:nvSpPr>
          <p:cNvPr id="25" name="Shape 23"/>
          <p:cNvSpPr/>
          <p:nvPr/>
        </p:nvSpPr>
        <p:spPr>
          <a:xfrm>
            <a:off x="3566160" y="1463040"/>
            <a:ext cx="91" cy="3657600"/>
          </a:xfrm>
          <a:prstGeom prst="line">
            <a:avLst/>
          </a:prstGeom>
          <a:noFill/>
          <a:ln w="6350">
            <a:solidFill>
              <a:srgbClr val="E2E8F2"/>
            </a:solidFill>
            <a:prstDash val="solid"/>
          </a:ln>
        </p:spPr>
      </p:sp>
      <p:sp>
        <p:nvSpPr>
          <p:cNvPr id="26" name="Shape 24"/>
          <p:cNvSpPr/>
          <p:nvPr/>
        </p:nvSpPr>
        <p:spPr>
          <a:xfrm>
            <a:off x="3794760" y="1463040"/>
            <a:ext cx="91" cy="3657600"/>
          </a:xfrm>
          <a:prstGeom prst="line">
            <a:avLst/>
          </a:prstGeom>
          <a:noFill/>
          <a:ln w="6350">
            <a:solidFill>
              <a:srgbClr val="E2E8F2"/>
            </a:solidFill>
            <a:prstDash val="solid"/>
          </a:ln>
        </p:spPr>
      </p:sp>
      <p:sp>
        <p:nvSpPr>
          <p:cNvPr id="27" name="Shape 25"/>
          <p:cNvSpPr/>
          <p:nvPr/>
        </p:nvSpPr>
        <p:spPr>
          <a:xfrm>
            <a:off x="4023360" y="1463040"/>
            <a:ext cx="91" cy="3657600"/>
          </a:xfrm>
          <a:prstGeom prst="line">
            <a:avLst/>
          </a:prstGeom>
          <a:noFill/>
          <a:ln w="6350">
            <a:solidFill>
              <a:srgbClr val="E2E8F2"/>
            </a:solidFill>
            <a:prstDash val="solid"/>
          </a:ln>
        </p:spPr>
      </p:sp>
      <p:sp>
        <p:nvSpPr>
          <p:cNvPr id="28" name="Shape 26"/>
          <p:cNvSpPr/>
          <p:nvPr/>
        </p:nvSpPr>
        <p:spPr>
          <a:xfrm>
            <a:off x="4251960" y="1463040"/>
            <a:ext cx="91" cy="3657600"/>
          </a:xfrm>
          <a:prstGeom prst="line">
            <a:avLst/>
          </a:prstGeom>
          <a:noFill/>
          <a:ln w="6350">
            <a:solidFill>
              <a:srgbClr val="C9D3E6"/>
            </a:solidFill>
            <a:prstDash val="solid"/>
          </a:ln>
        </p:spPr>
      </p:sp>
      <p:sp>
        <p:nvSpPr>
          <p:cNvPr id="29" name="Shape 27"/>
          <p:cNvSpPr/>
          <p:nvPr/>
        </p:nvSpPr>
        <p:spPr>
          <a:xfrm>
            <a:off x="4480560" y="1463040"/>
            <a:ext cx="91" cy="3657600"/>
          </a:xfrm>
          <a:prstGeom prst="line">
            <a:avLst/>
          </a:prstGeom>
          <a:noFill/>
          <a:ln w="6350">
            <a:solidFill>
              <a:srgbClr val="E2E8F2"/>
            </a:solidFill>
            <a:prstDash val="solid"/>
          </a:ln>
        </p:spPr>
      </p:sp>
      <p:sp>
        <p:nvSpPr>
          <p:cNvPr id="30" name="Shape 28"/>
          <p:cNvSpPr/>
          <p:nvPr/>
        </p:nvSpPr>
        <p:spPr>
          <a:xfrm>
            <a:off x="4709160" y="1463040"/>
            <a:ext cx="91" cy="3657600"/>
          </a:xfrm>
          <a:prstGeom prst="line">
            <a:avLst/>
          </a:prstGeom>
          <a:noFill/>
          <a:ln w="6350">
            <a:solidFill>
              <a:srgbClr val="E2E8F2"/>
            </a:solidFill>
            <a:prstDash val="solid"/>
          </a:ln>
        </p:spPr>
      </p:sp>
      <p:sp>
        <p:nvSpPr>
          <p:cNvPr id="31" name="Shape 29"/>
          <p:cNvSpPr/>
          <p:nvPr/>
        </p:nvSpPr>
        <p:spPr>
          <a:xfrm>
            <a:off x="4937760" y="1463040"/>
            <a:ext cx="91" cy="3657600"/>
          </a:xfrm>
          <a:prstGeom prst="line">
            <a:avLst/>
          </a:prstGeom>
          <a:noFill/>
          <a:ln w="6350">
            <a:solidFill>
              <a:srgbClr val="E2E8F2"/>
            </a:solidFill>
            <a:prstDash val="solid"/>
          </a:ln>
        </p:spPr>
      </p:sp>
      <p:sp>
        <p:nvSpPr>
          <p:cNvPr id="32" name="Shape 30"/>
          <p:cNvSpPr/>
          <p:nvPr/>
        </p:nvSpPr>
        <p:spPr>
          <a:xfrm>
            <a:off x="5166360" y="1463040"/>
            <a:ext cx="91" cy="3657600"/>
          </a:xfrm>
          <a:prstGeom prst="line">
            <a:avLst/>
          </a:prstGeom>
          <a:noFill/>
          <a:ln w="6350">
            <a:solidFill>
              <a:srgbClr val="E2E8F2"/>
            </a:solidFill>
            <a:prstDash val="solid"/>
          </a:ln>
        </p:spPr>
      </p:sp>
      <p:sp>
        <p:nvSpPr>
          <p:cNvPr id="33" name="Shape 31"/>
          <p:cNvSpPr/>
          <p:nvPr/>
        </p:nvSpPr>
        <p:spPr>
          <a:xfrm>
            <a:off x="5394960" y="1463040"/>
            <a:ext cx="91" cy="3657600"/>
          </a:xfrm>
          <a:prstGeom prst="line">
            <a:avLst/>
          </a:prstGeom>
          <a:noFill/>
          <a:ln w="6350">
            <a:solidFill>
              <a:srgbClr val="C9D3E6"/>
            </a:solidFill>
            <a:prstDash val="solid"/>
          </a:ln>
        </p:spPr>
      </p:sp>
      <p:sp>
        <p:nvSpPr>
          <p:cNvPr id="34" name="Shape 32"/>
          <p:cNvSpPr/>
          <p:nvPr/>
        </p:nvSpPr>
        <p:spPr>
          <a:xfrm>
            <a:off x="5623560" y="1463040"/>
            <a:ext cx="91" cy="3657600"/>
          </a:xfrm>
          <a:prstGeom prst="line">
            <a:avLst/>
          </a:prstGeom>
          <a:noFill/>
          <a:ln w="6350">
            <a:solidFill>
              <a:srgbClr val="E2E8F2"/>
            </a:solidFill>
            <a:prstDash val="solid"/>
          </a:ln>
        </p:spPr>
      </p:sp>
      <p:sp>
        <p:nvSpPr>
          <p:cNvPr id="35" name="Shape 33"/>
          <p:cNvSpPr/>
          <p:nvPr/>
        </p:nvSpPr>
        <p:spPr>
          <a:xfrm>
            <a:off x="822960" y="1463040"/>
            <a:ext cx="4800600" cy="91"/>
          </a:xfrm>
          <a:prstGeom prst="line">
            <a:avLst/>
          </a:prstGeom>
          <a:noFill/>
          <a:ln w="6350">
            <a:solidFill>
              <a:srgbClr val="C9D3E6"/>
            </a:solidFill>
            <a:prstDash val="solid"/>
          </a:ln>
        </p:spPr>
      </p:sp>
      <p:sp>
        <p:nvSpPr>
          <p:cNvPr id="36" name="Shape 34"/>
          <p:cNvSpPr/>
          <p:nvPr/>
        </p:nvSpPr>
        <p:spPr>
          <a:xfrm>
            <a:off x="822960" y="1691640"/>
            <a:ext cx="4800600" cy="91"/>
          </a:xfrm>
          <a:prstGeom prst="line">
            <a:avLst/>
          </a:prstGeom>
          <a:noFill/>
          <a:ln w="6350">
            <a:solidFill>
              <a:srgbClr val="E2E8F2"/>
            </a:solidFill>
            <a:prstDash val="solid"/>
          </a:ln>
        </p:spPr>
      </p:sp>
      <p:sp>
        <p:nvSpPr>
          <p:cNvPr id="37" name="Shape 35"/>
          <p:cNvSpPr/>
          <p:nvPr/>
        </p:nvSpPr>
        <p:spPr>
          <a:xfrm>
            <a:off x="822960" y="1920240"/>
            <a:ext cx="4800600" cy="91"/>
          </a:xfrm>
          <a:prstGeom prst="line">
            <a:avLst/>
          </a:prstGeom>
          <a:noFill/>
          <a:ln w="6350">
            <a:solidFill>
              <a:srgbClr val="E2E8F2"/>
            </a:solidFill>
            <a:prstDash val="solid"/>
          </a:ln>
        </p:spPr>
      </p:sp>
      <p:sp>
        <p:nvSpPr>
          <p:cNvPr id="38" name="Shape 36"/>
          <p:cNvSpPr/>
          <p:nvPr/>
        </p:nvSpPr>
        <p:spPr>
          <a:xfrm>
            <a:off x="822960" y="2148840"/>
            <a:ext cx="4800600" cy="91"/>
          </a:xfrm>
          <a:prstGeom prst="line">
            <a:avLst/>
          </a:prstGeom>
          <a:noFill/>
          <a:ln w="6350">
            <a:solidFill>
              <a:srgbClr val="E2E8F2"/>
            </a:solidFill>
            <a:prstDash val="solid"/>
          </a:ln>
        </p:spPr>
      </p:sp>
      <p:sp>
        <p:nvSpPr>
          <p:cNvPr id="39" name="Shape 37"/>
          <p:cNvSpPr/>
          <p:nvPr/>
        </p:nvSpPr>
        <p:spPr>
          <a:xfrm>
            <a:off x="822960" y="2377440"/>
            <a:ext cx="4800600" cy="91"/>
          </a:xfrm>
          <a:prstGeom prst="line">
            <a:avLst/>
          </a:prstGeom>
          <a:noFill/>
          <a:ln w="6350">
            <a:solidFill>
              <a:srgbClr val="E2E8F2"/>
            </a:solidFill>
            <a:prstDash val="solid"/>
          </a:ln>
        </p:spPr>
      </p:sp>
      <p:sp>
        <p:nvSpPr>
          <p:cNvPr id="40" name="Shape 38"/>
          <p:cNvSpPr/>
          <p:nvPr/>
        </p:nvSpPr>
        <p:spPr>
          <a:xfrm>
            <a:off x="822960" y="2606040"/>
            <a:ext cx="4800600" cy="91"/>
          </a:xfrm>
          <a:prstGeom prst="line">
            <a:avLst/>
          </a:prstGeom>
          <a:noFill/>
          <a:ln w="6350">
            <a:solidFill>
              <a:srgbClr val="C9D3E6"/>
            </a:solidFill>
            <a:prstDash val="solid"/>
          </a:ln>
        </p:spPr>
      </p:sp>
      <p:sp>
        <p:nvSpPr>
          <p:cNvPr id="41" name="Shape 39"/>
          <p:cNvSpPr/>
          <p:nvPr/>
        </p:nvSpPr>
        <p:spPr>
          <a:xfrm>
            <a:off x="822960" y="2834640"/>
            <a:ext cx="4800600" cy="91"/>
          </a:xfrm>
          <a:prstGeom prst="line">
            <a:avLst/>
          </a:prstGeom>
          <a:noFill/>
          <a:ln w="6350">
            <a:solidFill>
              <a:srgbClr val="E2E8F2"/>
            </a:solidFill>
            <a:prstDash val="solid"/>
          </a:ln>
        </p:spPr>
      </p:sp>
      <p:sp>
        <p:nvSpPr>
          <p:cNvPr id="42" name="Shape 40"/>
          <p:cNvSpPr/>
          <p:nvPr/>
        </p:nvSpPr>
        <p:spPr>
          <a:xfrm>
            <a:off x="822960" y="3063240"/>
            <a:ext cx="4800600" cy="91"/>
          </a:xfrm>
          <a:prstGeom prst="line">
            <a:avLst/>
          </a:prstGeom>
          <a:noFill/>
          <a:ln w="6350">
            <a:solidFill>
              <a:srgbClr val="E2E8F2"/>
            </a:solidFill>
            <a:prstDash val="solid"/>
          </a:ln>
        </p:spPr>
      </p:sp>
      <p:sp>
        <p:nvSpPr>
          <p:cNvPr id="43" name="Shape 41"/>
          <p:cNvSpPr/>
          <p:nvPr/>
        </p:nvSpPr>
        <p:spPr>
          <a:xfrm>
            <a:off x="822960" y="3291840"/>
            <a:ext cx="4800600" cy="91"/>
          </a:xfrm>
          <a:prstGeom prst="line">
            <a:avLst/>
          </a:prstGeom>
          <a:noFill/>
          <a:ln w="6350">
            <a:solidFill>
              <a:srgbClr val="E2E8F2"/>
            </a:solidFill>
            <a:prstDash val="solid"/>
          </a:ln>
        </p:spPr>
      </p:sp>
      <p:sp>
        <p:nvSpPr>
          <p:cNvPr id="44" name="Shape 42"/>
          <p:cNvSpPr/>
          <p:nvPr/>
        </p:nvSpPr>
        <p:spPr>
          <a:xfrm>
            <a:off x="822960" y="3520440"/>
            <a:ext cx="4800600" cy="91"/>
          </a:xfrm>
          <a:prstGeom prst="line">
            <a:avLst/>
          </a:prstGeom>
          <a:noFill/>
          <a:ln w="6350">
            <a:solidFill>
              <a:srgbClr val="E2E8F2"/>
            </a:solidFill>
            <a:prstDash val="solid"/>
          </a:ln>
        </p:spPr>
      </p:sp>
      <p:sp>
        <p:nvSpPr>
          <p:cNvPr id="45" name="Shape 43"/>
          <p:cNvSpPr/>
          <p:nvPr/>
        </p:nvSpPr>
        <p:spPr>
          <a:xfrm>
            <a:off x="822960" y="3749040"/>
            <a:ext cx="4800600" cy="91"/>
          </a:xfrm>
          <a:prstGeom prst="line">
            <a:avLst/>
          </a:prstGeom>
          <a:noFill/>
          <a:ln w="6350">
            <a:solidFill>
              <a:srgbClr val="C9D3E6"/>
            </a:solidFill>
            <a:prstDash val="solid"/>
          </a:ln>
        </p:spPr>
      </p:sp>
      <p:sp>
        <p:nvSpPr>
          <p:cNvPr id="46" name="Shape 44"/>
          <p:cNvSpPr/>
          <p:nvPr/>
        </p:nvSpPr>
        <p:spPr>
          <a:xfrm>
            <a:off x="822960" y="3977640"/>
            <a:ext cx="4800600" cy="91"/>
          </a:xfrm>
          <a:prstGeom prst="line">
            <a:avLst/>
          </a:prstGeom>
          <a:noFill/>
          <a:ln w="6350">
            <a:solidFill>
              <a:srgbClr val="E2E8F2"/>
            </a:solidFill>
            <a:prstDash val="solid"/>
          </a:ln>
        </p:spPr>
      </p:sp>
      <p:sp>
        <p:nvSpPr>
          <p:cNvPr id="47" name="Shape 45"/>
          <p:cNvSpPr/>
          <p:nvPr/>
        </p:nvSpPr>
        <p:spPr>
          <a:xfrm>
            <a:off x="822960" y="4206240"/>
            <a:ext cx="4800600" cy="91"/>
          </a:xfrm>
          <a:prstGeom prst="line">
            <a:avLst/>
          </a:prstGeom>
          <a:noFill/>
          <a:ln w="6350">
            <a:solidFill>
              <a:srgbClr val="E2E8F2"/>
            </a:solidFill>
            <a:prstDash val="solid"/>
          </a:ln>
        </p:spPr>
      </p:sp>
      <p:sp>
        <p:nvSpPr>
          <p:cNvPr id="48" name="Shape 46"/>
          <p:cNvSpPr/>
          <p:nvPr/>
        </p:nvSpPr>
        <p:spPr>
          <a:xfrm>
            <a:off x="822960" y="4434840"/>
            <a:ext cx="4800600" cy="91"/>
          </a:xfrm>
          <a:prstGeom prst="line">
            <a:avLst/>
          </a:prstGeom>
          <a:noFill/>
          <a:ln w="6350">
            <a:solidFill>
              <a:srgbClr val="E2E8F2"/>
            </a:solidFill>
            <a:prstDash val="solid"/>
          </a:ln>
        </p:spPr>
      </p:sp>
      <p:sp>
        <p:nvSpPr>
          <p:cNvPr id="49" name="Shape 47"/>
          <p:cNvSpPr/>
          <p:nvPr/>
        </p:nvSpPr>
        <p:spPr>
          <a:xfrm>
            <a:off x="822960" y="4663440"/>
            <a:ext cx="4800600" cy="91"/>
          </a:xfrm>
          <a:prstGeom prst="line">
            <a:avLst/>
          </a:prstGeom>
          <a:noFill/>
          <a:ln w="6350">
            <a:solidFill>
              <a:srgbClr val="E2E8F2"/>
            </a:solidFill>
            <a:prstDash val="solid"/>
          </a:ln>
        </p:spPr>
      </p:sp>
      <p:sp>
        <p:nvSpPr>
          <p:cNvPr id="50" name="Shape 48"/>
          <p:cNvSpPr/>
          <p:nvPr/>
        </p:nvSpPr>
        <p:spPr>
          <a:xfrm>
            <a:off x="822960" y="4892040"/>
            <a:ext cx="4800600" cy="91"/>
          </a:xfrm>
          <a:prstGeom prst="line">
            <a:avLst/>
          </a:prstGeom>
          <a:noFill/>
          <a:ln w="6350">
            <a:solidFill>
              <a:srgbClr val="C9D3E6"/>
            </a:solidFill>
            <a:prstDash val="solid"/>
          </a:ln>
        </p:spPr>
      </p:sp>
      <p:sp>
        <p:nvSpPr>
          <p:cNvPr id="51" name="Shape 49"/>
          <p:cNvSpPr/>
          <p:nvPr/>
        </p:nvSpPr>
        <p:spPr>
          <a:xfrm>
            <a:off x="822960" y="5120640"/>
            <a:ext cx="4800600" cy="91"/>
          </a:xfrm>
          <a:prstGeom prst="line">
            <a:avLst/>
          </a:prstGeom>
          <a:noFill/>
          <a:ln w="6350">
            <a:solidFill>
              <a:srgbClr val="E2E8F2"/>
            </a:solidFill>
            <a:prstDash val="solid"/>
          </a:ln>
        </p:spPr>
      </p:sp>
      <p:sp>
        <p:nvSpPr>
          <p:cNvPr id="52" name="Shape 50"/>
          <p:cNvSpPr/>
          <p:nvPr/>
        </p:nvSpPr>
        <p:spPr>
          <a:xfrm>
            <a:off x="1280160" y="4663440"/>
            <a:ext cx="1979734" cy="91"/>
          </a:xfrm>
          <a:prstGeom prst="line">
            <a:avLst/>
          </a:prstGeom>
          <a:noFill/>
          <a:ln w="31750">
            <a:solidFill>
              <a:srgbClr val="2E5BD8"/>
            </a:solidFill>
            <a:prstDash val="dash"/>
            <a:tailEnd type="triangle"/>
          </a:ln>
        </p:spPr>
      </p:sp>
      <p:sp>
        <p:nvSpPr>
          <p:cNvPr id="53" name="Shape 51"/>
          <p:cNvSpPr/>
          <p:nvPr/>
        </p:nvSpPr>
        <p:spPr>
          <a:xfrm flipV="1">
            <a:off x="3259894" y="3520440"/>
            <a:ext cx="91" cy="1143000"/>
          </a:xfrm>
          <a:prstGeom prst="line">
            <a:avLst/>
          </a:prstGeom>
          <a:noFill/>
          <a:ln w="31750">
            <a:solidFill>
              <a:srgbClr val="B8730A"/>
            </a:solidFill>
            <a:prstDash val="dash"/>
            <a:tailEnd type="triangle"/>
          </a:ln>
        </p:spPr>
      </p:sp>
      <p:sp>
        <p:nvSpPr>
          <p:cNvPr id="54" name="Shape 52"/>
          <p:cNvSpPr/>
          <p:nvPr/>
        </p:nvSpPr>
        <p:spPr>
          <a:xfrm flipV="1">
            <a:off x="1280160" y="3520440"/>
            <a:ext cx="1979734" cy="1143000"/>
          </a:xfrm>
          <a:prstGeom prst="line">
            <a:avLst/>
          </a:prstGeom>
          <a:noFill/>
          <a:ln w="41275">
            <a:solidFill>
              <a:srgbClr val="C8414C"/>
            </a:solidFill>
            <a:prstDash val="solid"/>
            <a:tailEnd type="triangle"/>
          </a:ln>
        </p:spPr>
      </p:sp>
      <p:sp>
        <p:nvSpPr>
          <p:cNvPr id="55" name="Shape 53"/>
          <p:cNvSpPr/>
          <p:nvPr/>
        </p:nvSpPr>
        <p:spPr>
          <a:xfrm>
            <a:off x="1755296" y="4389120"/>
            <a:ext cx="7778" cy="13935"/>
          </a:xfrm>
          <a:prstGeom prst="line">
            <a:avLst/>
          </a:prstGeom>
          <a:noFill/>
          <a:ln w="15875">
            <a:solidFill>
              <a:srgbClr val="1A2340"/>
            </a:solidFill>
            <a:prstDash val="solid"/>
          </a:ln>
        </p:spPr>
      </p:sp>
      <p:sp>
        <p:nvSpPr>
          <p:cNvPr id="56" name="Shape 54"/>
          <p:cNvSpPr/>
          <p:nvPr/>
        </p:nvSpPr>
        <p:spPr>
          <a:xfrm>
            <a:off x="1763074" y="4403055"/>
            <a:ext cx="7369" cy="14156"/>
          </a:xfrm>
          <a:prstGeom prst="line">
            <a:avLst/>
          </a:prstGeom>
          <a:noFill/>
          <a:ln w="15875">
            <a:solidFill>
              <a:srgbClr val="1A2340"/>
            </a:solidFill>
            <a:prstDash val="solid"/>
          </a:ln>
        </p:spPr>
      </p:sp>
      <p:sp>
        <p:nvSpPr>
          <p:cNvPr id="57" name="Shape 55"/>
          <p:cNvSpPr/>
          <p:nvPr/>
        </p:nvSpPr>
        <p:spPr>
          <a:xfrm>
            <a:off x="1770443" y="4417211"/>
            <a:ext cx="6954" cy="14364"/>
          </a:xfrm>
          <a:prstGeom prst="line">
            <a:avLst/>
          </a:prstGeom>
          <a:noFill/>
          <a:ln w="15875">
            <a:solidFill>
              <a:srgbClr val="1A2340"/>
            </a:solidFill>
            <a:prstDash val="solid"/>
          </a:ln>
        </p:spPr>
      </p:sp>
      <p:sp>
        <p:nvSpPr>
          <p:cNvPr id="58" name="Shape 56"/>
          <p:cNvSpPr/>
          <p:nvPr/>
        </p:nvSpPr>
        <p:spPr>
          <a:xfrm>
            <a:off x="1777397" y="4431575"/>
            <a:ext cx="6533" cy="14560"/>
          </a:xfrm>
          <a:prstGeom prst="line">
            <a:avLst/>
          </a:prstGeom>
          <a:noFill/>
          <a:ln w="15875">
            <a:solidFill>
              <a:srgbClr val="1A2340"/>
            </a:solidFill>
            <a:prstDash val="solid"/>
          </a:ln>
        </p:spPr>
      </p:sp>
      <p:sp>
        <p:nvSpPr>
          <p:cNvPr id="59" name="Shape 57"/>
          <p:cNvSpPr/>
          <p:nvPr/>
        </p:nvSpPr>
        <p:spPr>
          <a:xfrm>
            <a:off x="1783930" y="4446135"/>
            <a:ext cx="6107" cy="14744"/>
          </a:xfrm>
          <a:prstGeom prst="line">
            <a:avLst/>
          </a:prstGeom>
          <a:noFill/>
          <a:ln w="15875">
            <a:solidFill>
              <a:srgbClr val="1A2340"/>
            </a:solidFill>
            <a:prstDash val="solid"/>
          </a:ln>
        </p:spPr>
      </p:sp>
      <p:sp>
        <p:nvSpPr>
          <p:cNvPr id="60" name="Shape 58"/>
          <p:cNvSpPr/>
          <p:nvPr/>
        </p:nvSpPr>
        <p:spPr>
          <a:xfrm>
            <a:off x="1790037" y="4460879"/>
            <a:ext cx="5676" cy="14915"/>
          </a:xfrm>
          <a:prstGeom prst="line">
            <a:avLst/>
          </a:prstGeom>
          <a:noFill/>
          <a:ln w="15875">
            <a:solidFill>
              <a:srgbClr val="1A2340"/>
            </a:solidFill>
            <a:prstDash val="solid"/>
          </a:ln>
        </p:spPr>
      </p:sp>
      <p:sp>
        <p:nvSpPr>
          <p:cNvPr id="61" name="Shape 59"/>
          <p:cNvSpPr/>
          <p:nvPr/>
        </p:nvSpPr>
        <p:spPr>
          <a:xfrm>
            <a:off x="1795713" y="4475794"/>
            <a:ext cx="5240" cy="15074"/>
          </a:xfrm>
          <a:prstGeom prst="line">
            <a:avLst/>
          </a:prstGeom>
          <a:noFill/>
          <a:ln w="15875">
            <a:solidFill>
              <a:srgbClr val="1A2340"/>
            </a:solidFill>
            <a:prstDash val="solid"/>
          </a:ln>
        </p:spPr>
      </p:sp>
      <p:sp>
        <p:nvSpPr>
          <p:cNvPr id="62" name="Shape 60"/>
          <p:cNvSpPr/>
          <p:nvPr/>
        </p:nvSpPr>
        <p:spPr>
          <a:xfrm>
            <a:off x="1800952" y="4490868"/>
            <a:ext cx="4799" cy="15220"/>
          </a:xfrm>
          <a:prstGeom prst="line">
            <a:avLst/>
          </a:prstGeom>
          <a:noFill/>
          <a:ln w="15875">
            <a:solidFill>
              <a:srgbClr val="1A2340"/>
            </a:solidFill>
            <a:prstDash val="solid"/>
          </a:ln>
        </p:spPr>
      </p:sp>
      <p:sp>
        <p:nvSpPr>
          <p:cNvPr id="63" name="Shape 61"/>
          <p:cNvSpPr/>
          <p:nvPr/>
        </p:nvSpPr>
        <p:spPr>
          <a:xfrm>
            <a:off x="1805751" y="4506088"/>
            <a:ext cx="4354" cy="15353"/>
          </a:xfrm>
          <a:prstGeom prst="line">
            <a:avLst/>
          </a:prstGeom>
          <a:noFill/>
          <a:ln w="15875">
            <a:solidFill>
              <a:srgbClr val="1A2340"/>
            </a:solidFill>
            <a:prstDash val="solid"/>
          </a:ln>
        </p:spPr>
      </p:sp>
      <p:sp>
        <p:nvSpPr>
          <p:cNvPr id="64" name="Shape 62"/>
          <p:cNvSpPr/>
          <p:nvPr/>
        </p:nvSpPr>
        <p:spPr>
          <a:xfrm>
            <a:off x="1810106" y="4521442"/>
            <a:ext cx="3906" cy="15473"/>
          </a:xfrm>
          <a:prstGeom prst="line">
            <a:avLst/>
          </a:prstGeom>
          <a:noFill/>
          <a:ln w="15875">
            <a:solidFill>
              <a:srgbClr val="1A2340"/>
            </a:solidFill>
            <a:prstDash val="solid"/>
          </a:ln>
        </p:spPr>
      </p:sp>
      <p:sp>
        <p:nvSpPr>
          <p:cNvPr id="65" name="Shape 63"/>
          <p:cNvSpPr/>
          <p:nvPr/>
        </p:nvSpPr>
        <p:spPr>
          <a:xfrm>
            <a:off x="1814011" y="4536915"/>
            <a:ext cx="3454" cy="15580"/>
          </a:xfrm>
          <a:prstGeom prst="line">
            <a:avLst/>
          </a:prstGeom>
          <a:noFill/>
          <a:ln w="15875">
            <a:solidFill>
              <a:srgbClr val="1A2340"/>
            </a:solidFill>
            <a:prstDash val="solid"/>
          </a:ln>
        </p:spPr>
      </p:sp>
      <p:sp>
        <p:nvSpPr>
          <p:cNvPr id="66" name="Shape 64"/>
          <p:cNvSpPr/>
          <p:nvPr/>
        </p:nvSpPr>
        <p:spPr>
          <a:xfrm>
            <a:off x="1817465" y="4552495"/>
            <a:ext cx="2999" cy="15674"/>
          </a:xfrm>
          <a:prstGeom prst="line">
            <a:avLst/>
          </a:prstGeom>
          <a:noFill/>
          <a:ln w="15875">
            <a:solidFill>
              <a:srgbClr val="1A2340"/>
            </a:solidFill>
            <a:prstDash val="solid"/>
          </a:ln>
        </p:spPr>
      </p:sp>
      <p:sp>
        <p:nvSpPr>
          <p:cNvPr id="67" name="Shape 65"/>
          <p:cNvSpPr/>
          <p:nvPr/>
        </p:nvSpPr>
        <p:spPr>
          <a:xfrm>
            <a:off x="1820465" y="4568170"/>
            <a:ext cx="2542" cy="15755"/>
          </a:xfrm>
          <a:prstGeom prst="line">
            <a:avLst/>
          </a:prstGeom>
          <a:noFill/>
          <a:ln w="15875">
            <a:solidFill>
              <a:srgbClr val="1A2340"/>
            </a:solidFill>
            <a:prstDash val="solid"/>
          </a:ln>
        </p:spPr>
      </p:sp>
      <p:sp>
        <p:nvSpPr>
          <p:cNvPr id="68" name="Shape 66"/>
          <p:cNvSpPr/>
          <p:nvPr/>
        </p:nvSpPr>
        <p:spPr>
          <a:xfrm>
            <a:off x="1823007" y="4583925"/>
            <a:ext cx="2083" cy="15822"/>
          </a:xfrm>
          <a:prstGeom prst="line">
            <a:avLst/>
          </a:prstGeom>
          <a:noFill/>
          <a:ln w="15875">
            <a:solidFill>
              <a:srgbClr val="1A2340"/>
            </a:solidFill>
            <a:prstDash val="solid"/>
          </a:ln>
        </p:spPr>
      </p:sp>
      <p:sp>
        <p:nvSpPr>
          <p:cNvPr id="69" name="Shape 67"/>
          <p:cNvSpPr/>
          <p:nvPr/>
        </p:nvSpPr>
        <p:spPr>
          <a:xfrm>
            <a:off x="1825090" y="4599747"/>
            <a:ext cx="1622" cy="15876"/>
          </a:xfrm>
          <a:prstGeom prst="line">
            <a:avLst/>
          </a:prstGeom>
          <a:noFill/>
          <a:ln w="15875">
            <a:solidFill>
              <a:srgbClr val="1A2340"/>
            </a:solidFill>
            <a:prstDash val="solid"/>
          </a:ln>
        </p:spPr>
      </p:sp>
      <p:sp>
        <p:nvSpPr>
          <p:cNvPr id="70" name="Shape 68"/>
          <p:cNvSpPr/>
          <p:nvPr/>
        </p:nvSpPr>
        <p:spPr>
          <a:xfrm>
            <a:off x="1826712" y="4615623"/>
            <a:ext cx="1160" cy="15917"/>
          </a:xfrm>
          <a:prstGeom prst="line">
            <a:avLst/>
          </a:prstGeom>
          <a:noFill/>
          <a:ln w="15875">
            <a:solidFill>
              <a:srgbClr val="1A2340"/>
            </a:solidFill>
            <a:prstDash val="solid"/>
          </a:ln>
        </p:spPr>
      </p:sp>
      <p:sp>
        <p:nvSpPr>
          <p:cNvPr id="71" name="Shape 69"/>
          <p:cNvSpPr/>
          <p:nvPr/>
        </p:nvSpPr>
        <p:spPr>
          <a:xfrm>
            <a:off x="1827872" y="4631539"/>
            <a:ext cx="696" cy="15944"/>
          </a:xfrm>
          <a:prstGeom prst="line">
            <a:avLst/>
          </a:prstGeom>
          <a:noFill/>
          <a:ln w="15875">
            <a:solidFill>
              <a:srgbClr val="1A2340"/>
            </a:solidFill>
            <a:prstDash val="solid"/>
          </a:ln>
        </p:spPr>
      </p:sp>
      <p:sp>
        <p:nvSpPr>
          <p:cNvPr id="72" name="Shape 70"/>
          <p:cNvSpPr/>
          <p:nvPr/>
        </p:nvSpPr>
        <p:spPr>
          <a:xfrm>
            <a:off x="1828568" y="4647483"/>
            <a:ext cx="232" cy="15957"/>
          </a:xfrm>
          <a:prstGeom prst="line">
            <a:avLst/>
          </a:prstGeom>
          <a:noFill/>
          <a:ln w="15875">
            <a:solidFill>
              <a:srgbClr val="1A2340"/>
            </a:solidFill>
            <a:prstDash val="solid"/>
          </a:ln>
        </p:spPr>
      </p:sp>
      <p:sp>
        <p:nvSpPr>
          <p:cNvPr id="73" name="Text 71"/>
          <p:cNvSpPr/>
          <p:nvPr/>
        </p:nvSpPr>
        <p:spPr>
          <a:xfrm>
            <a:off x="1847088" y="4407408"/>
            <a:ext cx="457200" cy="256032"/>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30°</a:t>
            </a:r>
            <a:endParaRPr lang="en-US" sz="1050" dirty="0"/>
          </a:p>
        </p:txBody>
      </p:sp>
      <p:sp>
        <p:nvSpPr>
          <p:cNvPr id="74" name="Shape 72"/>
          <p:cNvSpPr/>
          <p:nvPr/>
        </p:nvSpPr>
        <p:spPr>
          <a:xfrm>
            <a:off x="3122734" y="4526280"/>
            <a:ext cx="137160" cy="137160"/>
          </a:xfrm>
          <a:prstGeom prst="rect">
            <a:avLst/>
          </a:prstGeom>
          <a:ln w="9525">
            <a:solidFill>
              <a:srgbClr val="1A2340"/>
            </a:solidFill>
            <a:prstDash val="solid"/>
          </a:ln>
        </p:spPr>
      </p:sp>
      <p:sp>
        <p:nvSpPr>
          <p:cNvPr id="75" name="Text 73"/>
          <p:cNvSpPr/>
          <p:nvPr/>
        </p:nvSpPr>
        <p:spPr>
          <a:xfrm>
            <a:off x="1783080" y="3749040"/>
            <a:ext cx="914400" cy="256032"/>
          </a:xfrm>
          <a:prstGeom prst="rect">
            <a:avLst/>
          </a:prstGeom>
          <a:noFill/>
          <a:ln/>
        </p:spPr>
        <p:txBody>
          <a:bodyPr wrap="square" lIns="0" tIns="0" rIns="0" bIns="0" rtlCol="0" anchor="ctr"/>
          <a:lstStyle/>
          <a:p>
            <a:pPr algn="l" indent="0" marL="0">
              <a:buNone/>
            </a:pPr>
            <a:r>
              <a:rPr lang="en-US" sz="1150" b="1" dirty="0">
                <a:solidFill>
                  <a:srgbClr val="C8414C"/>
                </a:solidFill>
                <a:latin typeface="Calibri" pitchFamily="34" charset="0"/>
                <a:ea typeface="Calibri" pitchFamily="34" charset="-122"/>
                <a:cs typeface="Calibri" pitchFamily="34" charset="-120"/>
              </a:rPr>
              <a:t>20 N</a:t>
            </a:r>
            <a:endParaRPr lang="en-US" sz="1150" dirty="0"/>
          </a:p>
        </p:txBody>
      </p:sp>
      <p:sp>
        <p:nvSpPr>
          <p:cNvPr id="76" name="Text 74"/>
          <p:cNvSpPr/>
          <p:nvPr/>
        </p:nvSpPr>
        <p:spPr>
          <a:xfrm>
            <a:off x="1280160" y="4709160"/>
            <a:ext cx="1979734" cy="256032"/>
          </a:xfrm>
          <a:prstGeom prst="rect">
            <a:avLst/>
          </a:prstGeom>
          <a:noFill/>
          <a:ln/>
        </p:spPr>
        <p:txBody>
          <a:bodyPr wrap="square" lIns="0" tIns="0" rIns="0" bIns="0" rtlCol="0" anchor="ctr"/>
          <a:lstStyle/>
          <a:p>
            <a:pPr algn="ctr" indent="0" marL="0">
              <a:buNone/>
            </a:pPr>
            <a:r>
              <a:rPr lang="en-US" sz="1050" b="1" dirty="0">
                <a:solidFill>
                  <a:srgbClr val="2E5BD8"/>
                </a:solidFill>
                <a:latin typeface="Calibri" pitchFamily="34" charset="0"/>
                <a:ea typeface="Calibri" pitchFamily="34" charset="-122"/>
                <a:cs typeface="Calibri" pitchFamily="34" charset="-120"/>
              </a:rPr>
              <a:t>horizontal ≈ 17.3 N</a:t>
            </a:r>
            <a:endParaRPr lang="en-US" sz="1050" dirty="0"/>
          </a:p>
        </p:txBody>
      </p:sp>
      <p:sp>
        <p:nvSpPr>
          <p:cNvPr id="77" name="Text 75"/>
          <p:cNvSpPr/>
          <p:nvPr/>
        </p:nvSpPr>
        <p:spPr>
          <a:xfrm>
            <a:off x="3333046" y="3909060"/>
            <a:ext cx="1280160" cy="411480"/>
          </a:xfrm>
          <a:prstGeom prst="rect">
            <a:avLst/>
          </a:prstGeom>
          <a:noFill/>
          <a:ln/>
        </p:spPr>
        <p:txBody>
          <a:bodyPr wrap="square" lIns="0" tIns="0" rIns="0" bIns="0" rtlCol="0" anchor="ctr"/>
          <a:lstStyle/>
          <a:p>
            <a:pPr algn="l" indent="0" marL="0">
              <a:buNone/>
            </a:pPr>
            <a:r>
              <a:rPr lang="en-US" sz="1050" b="1" dirty="0">
                <a:solidFill>
                  <a:srgbClr val="B8730A"/>
                </a:solidFill>
                <a:latin typeface="Calibri" pitchFamily="34" charset="0"/>
                <a:ea typeface="Calibri" pitchFamily="34" charset="-122"/>
                <a:cs typeface="Calibri" pitchFamily="34" charset="-120"/>
              </a:rPr>
              <a:t>vertical</a:t>
            </a:r>
            <a:endParaRPr lang="en-US" sz="1050" dirty="0"/>
          </a:p>
          <a:p>
            <a:pPr algn="l" indent="0" marL="0">
              <a:buNone/>
            </a:pPr>
            <a:r>
              <a:rPr lang="en-US" sz="1050" b="1" dirty="0">
                <a:solidFill>
                  <a:srgbClr val="B8730A"/>
                </a:solidFill>
                <a:latin typeface="Calibri" pitchFamily="34" charset="0"/>
                <a:ea typeface="Calibri" pitchFamily="34" charset="-122"/>
                <a:cs typeface="Calibri" pitchFamily="34" charset="-120"/>
              </a:rPr>
              <a:t>= 10 N</a:t>
            </a:r>
            <a:endParaRPr lang="en-US" sz="1050" dirty="0"/>
          </a:p>
        </p:txBody>
      </p:sp>
      <p:sp>
        <p:nvSpPr>
          <p:cNvPr id="78" name="Shape 76"/>
          <p:cNvSpPr/>
          <p:nvPr/>
        </p:nvSpPr>
        <p:spPr>
          <a:xfrm>
            <a:off x="3931920" y="1600200"/>
            <a:ext cx="1600200" cy="914400"/>
          </a:xfrm>
          <a:prstGeom prst="roundRect">
            <a:avLst>
              <a:gd name="adj" fmla="val 5000"/>
            </a:avLst>
          </a:prstGeom>
          <a:solidFill>
            <a:srgbClr val="FFFFFF"/>
          </a:solidFill>
          <a:ln w="12700">
            <a:solidFill>
              <a:srgbClr val="D5DCEB"/>
            </a:solidFill>
            <a:prstDash val="solid"/>
          </a:ln>
        </p:spPr>
      </p:sp>
      <p:sp>
        <p:nvSpPr>
          <p:cNvPr id="79" name="Text 77"/>
          <p:cNvSpPr/>
          <p:nvPr/>
        </p:nvSpPr>
        <p:spPr>
          <a:xfrm>
            <a:off x="3977640" y="1645920"/>
            <a:ext cx="1508760" cy="822960"/>
          </a:xfrm>
          <a:prstGeom prst="rect">
            <a:avLst/>
          </a:prstGeom>
          <a:noFill/>
          <a:ln/>
        </p:spPr>
        <p:txBody>
          <a:bodyPr wrap="square" lIns="0" tIns="0" rIns="0" bIns="0" rtlCol="0" anchor="ctr"/>
          <a:lstStyle/>
          <a:p>
            <a:pPr algn="l" indent="0" marL="0">
              <a:buNone/>
            </a:pPr>
            <a:r>
              <a:rPr lang="en-US" sz="1050" dirty="0">
                <a:solidFill>
                  <a:srgbClr val="1A2340"/>
                </a:solidFill>
                <a:latin typeface="Calibri" pitchFamily="34" charset="0"/>
                <a:ea typeface="Calibri" pitchFamily="34" charset="-122"/>
                <a:cs typeface="Calibri" pitchFamily="34" charset="-120"/>
              </a:rPr>
              <a:t>Measure:</a:t>
            </a:r>
            <a:endParaRPr lang="en-US" sz="1050" dirty="0"/>
          </a:p>
          <a:p>
            <a:pPr algn="l" indent="0" marL="0">
              <a:buNone/>
            </a:pPr>
            <a:r>
              <a:rPr lang="en-US" sz="1050" dirty="0">
                <a:solidFill>
                  <a:srgbClr val="1A2340"/>
                </a:solidFill>
                <a:latin typeface="Calibri" pitchFamily="34" charset="0"/>
                <a:ea typeface="Calibri" pitchFamily="34" charset="-122"/>
                <a:cs typeface="Calibri" pitchFamily="34" charset="-120"/>
              </a:rPr>
              <a:t>horizontal 8.7 squares</a:t>
            </a:r>
            <a:endParaRPr lang="en-US" sz="1050" dirty="0"/>
          </a:p>
          <a:p>
            <a:pPr algn="l" indent="0" marL="0">
              <a:buNone/>
            </a:pPr>
            <a:r>
              <a:rPr lang="en-US" sz="1050" dirty="0">
                <a:solidFill>
                  <a:srgbClr val="1A2340"/>
                </a:solidFill>
                <a:latin typeface="Calibri" pitchFamily="34" charset="0"/>
                <a:ea typeface="Calibri" pitchFamily="34" charset="-122"/>
                <a:cs typeface="Calibri" pitchFamily="34" charset="-120"/>
              </a:rPr>
              <a:t>vertical 5.0 squares</a:t>
            </a:r>
            <a:endParaRPr lang="en-US" sz="1050" dirty="0"/>
          </a:p>
        </p:txBody>
      </p:sp>
      <p:sp>
        <p:nvSpPr>
          <p:cNvPr id="80" name="Shape 78"/>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81" name="Text 79"/>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Components</a:t>
            </a:r>
            <a:endParaRPr lang="en-US" sz="1300" dirty="0"/>
          </a:p>
        </p:txBody>
      </p:sp>
      <p:sp>
        <p:nvSpPr>
          <p:cNvPr id="82" name="Text 80"/>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One force at an angle has the same effect as </a:t>
            </a:r>
            <a:r>
              <a:rPr lang="en-US" sz="1150" b="1" dirty="0">
                <a:solidFill>
                  <a:srgbClr val="262B3A"/>
                </a:solidFill>
                <a:latin typeface="Calibri" pitchFamily="34" charset="0"/>
                <a:ea typeface="Calibri" pitchFamily="34" charset="-122"/>
                <a:cs typeface="Calibri" pitchFamily="34" charset="-120"/>
              </a:rPr>
              <a:t>two forces at right angles</a:t>
            </a:r>
            <a:r>
              <a:rPr lang="en-US" sz="1150" dirty="0">
                <a:solidFill>
                  <a:srgbClr val="262B3A"/>
                </a:solidFill>
                <a:latin typeface="Calibri" pitchFamily="34" charset="0"/>
                <a:ea typeface="Calibri" pitchFamily="34" charset="-122"/>
                <a:cs typeface="Calibri" pitchFamily="34" charset="-120"/>
              </a:rPr>
              <a:t>: its </a:t>
            </a:r>
            <a:r>
              <a:rPr lang="en-US" sz="1150" b="1" dirty="0">
                <a:solidFill>
                  <a:srgbClr val="262B3A"/>
                </a:solidFill>
                <a:latin typeface="Calibri" pitchFamily="34" charset="0"/>
                <a:ea typeface="Calibri" pitchFamily="34" charset="-122"/>
                <a:cs typeface="Calibri" pitchFamily="34" charset="-120"/>
              </a:rPr>
              <a:t>components</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Draw the force to scale. Draw a horizontal line from its start and a vertical line up to its tip.</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Measure each line and use the scale: these are the </a:t>
            </a:r>
            <a:r>
              <a:rPr lang="en-US" sz="1150" b="1" dirty="0">
                <a:solidFill>
                  <a:srgbClr val="262B3A"/>
                </a:solidFill>
                <a:latin typeface="Calibri" pitchFamily="34" charset="0"/>
                <a:ea typeface="Calibri" pitchFamily="34" charset="-122"/>
                <a:cs typeface="Calibri" pitchFamily="34" charset="-120"/>
              </a:rPr>
              <a:t>horizontal</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vertical</a:t>
            </a:r>
            <a:r>
              <a:rPr lang="en-US" sz="1150" dirty="0">
                <a:solidFill>
                  <a:srgbClr val="262B3A"/>
                </a:solidFill>
                <a:latin typeface="Calibri" pitchFamily="34" charset="0"/>
                <a:ea typeface="Calibri" pitchFamily="34" charset="-122"/>
                <a:cs typeface="Calibri" pitchFamily="34" charset="-120"/>
              </a:rPr>
              <a:t> components.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Only the horizontal component pulls the sledge forwards.</a:t>
            </a:r>
            <a:endParaRPr lang="en-US" sz="1150" dirty="0"/>
          </a:p>
        </p:txBody>
      </p:sp>
      <p:sp>
        <p:nvSpPr>
          <p:cNvPr id="83" name="Shape 81"/>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84" name="Text 82"/>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85" name="Text 83"/>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Resolve a 20 N pull at 30° above the horizontal.</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Scale   </a:t>
            </a:r>
            <a:r>
              <a:rPr lang="en-US" sz="1050" dirty="0">
                <a:solidFill>
                  <a:srgbClr val="262B3A"/>
                </a:solidFill>
                <a:latin typeface="Calibri" pitchFamily="34" charset="0"/>
                <a:ea typeface="Calibri" pitchFamily="34" charset="-122"/>
                <a:cs typeface="Calibri" pitchFamily="34" charset="-120"/>
              </a:rPr>
              <a:t>1 square = 2 N, so draw 10 squares at 30°</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Horizontal   </a:t>
            </a:r>
            <a:r>
              <a:rPr lang="en-US" sz="1050" dirty="0">
                <a:solidFill>
                  <a:srgbClr val="262B3A"/>
                </a:solidFill>
                <a:latin typeface="Calibri" pitchFamily="34" charset="0"/>
                <a:ea typeface="Calibri" pitchFamily="34" charset="-122"/>
                <a:cs typeface="Calibri" pitchFamily="34" charset="-120"/>
              </a:rPr>
              <a:t>8.7 squares × 2 N = 17 N (17.3 N)</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Vertical   </a:t>
            </a:r>
            <a:r>
              <a:rPr lang="en-US" sz="1050" dirty="0">
                <a:solidFill>
                  <a:srgbClr val="262B3A"/>
                </a:solidFill>
                <a:latin typeface="Calibri" pitchFamily="34" charset="0"/>
                <a:ea typeface="Calibri" pitchFamily="34" charset="-122"/>
                <a:cs typeface="Calibri" pitchFamily="34" charset="-120"/>
              </a:rPr>
              <a:t>5.0 squares × 2 N = 10 N</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components ≈ 17 N forward and 10 N up</a:t>
            </a:r>
            <a:endParaRPr lang="en-US" sz="1050" dirty="0"/>
          </a:p>
        </p:txBody>
      </p:sp>
      <p:sp>
        <p:nvSpPr>
          <p:cNvPr id="86" name="Shape 84"/>
          <p:cNvSpPr/>
          <p:nvPr/>
        </p:nvSpPr>
        <p:spPr>
          <a:xfrm>
            <a:off x="411480" y="5833872"/>
            <a:ext cx="11368735" cy="530352"/>
          </a:xfrm>
          <a:prstGeom prst="rect">
            <a:avLst/>
          </a:prstGeom>
          <a:solidFill>
            <a:srgbClr val="FFF4E0"/>
          </a:solidFill>
          <a:ln w="6350">
            <a:solidFill>
              <a:srgbClr val="F1D9A8"/>
            </a:solidFill>
            <a:prstDash val="solid"/>
          </a:ln>
        </p:spPr>
      </p:sp>
      <p:sp>
        <p:nvSpPr>
          <p:cNvPr id="87" name="Shape 85"/>
          <p:cNvSpPr/>
          <p:nvPr/>
        </p:nvSpPr>
        <p:spPr>
          <a:xfrm>
            <a:off x="411480" y="5833872"/>
            <a:ext cx="82296" cy="530352"/>
          </a:xfrm>
          <a:prstGeom prst="rect">
            <a:avLst/>
          </a:prstGeom>
          <a:solidFill>
            <a:srgbClr val="E39A2F"/>
          </a:solidFill>
          <a:ln w="12700">
            <a:solidFill>
              <a:srgbClr val="E39A2F"/>
            </a:solidFill>
            <a:prstDash val="solid"/>
          </a:ln>
        </p:spPr>
      </p:sp>
      <p:sp>
        <p:nvSpPr>
          <p:cNvPr id="88" name="Text 86"/>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12 N force acts at 60° above the horizontal. Use a scale drawing to find its horizontal and vertical components.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Equilibrium: a closed vector triangle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9.3 • three forces with zero resultant</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9 Forces and their effects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9.3  |  17</a:t>
            </a:r>
            <a:endParaRPr lang="en-US" sz="1000" dirty="0"/>
          </a:p>
        </p:txBody>
      </p:sp>
      <p:sp>
        <p:nvSpPr>
          <p:cNvPr id="10" name="Shape 8"/>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50 N lamp on two cables at 90° to each other (both to scale)</a:t>
            </a:r>
            <a:endParaRPr lang="en-US" sz="1000" dirty="0"/>
          </a:p>
        </p:txBody>
      </p:sp>
      <p:sp>
        <p:nvSpPr>
          <p:cNvPr id="12" name="Shape 10"/>
          <p:cNvSpPr/>
          <p:nvPr/>
        </p:nvSpPr>
        <p:spPr>
          <a:xfrm>
            <a:off x="594360" y="1719072"/>
            <a:ext cx="2834640" cy="109728"/>
          </a:xfrm>
          <a:prstGeom prst="rect">
            <a:avLst/>
          </a:prstGeom>
          <a:solidFill>
            <a:srgbClr val="8C96A8"/>
          </a:solidFill>
          <a:ln/>
        </p:spPr>
      </p:sp>
      <p:sp>
        <p:nvSpPr>
          <p:cNvPr id="13" name="Shape 11"/>
          <p:cNvSpPr/>
          <p:nvPr/>
        </p:nvSpPr>
        <p:spPr>
          <a:xfrm flipH="1" flipV="1">
            <a:off x="777240" y="1828800"/>
            <a:ext cx="822960" cy="1097280"/>
          </a:xfrm>
          <a:prstGeom prst="line">
            <a:avLst/>
          </a:prstGeom>
          <a:noFill/>
          <a:ln w="19050">
            <a:solidFill>
              <a:srgbClr val="6B7385"/>
            </a:solidFill>
            <a:prstDash val="solid"/>
          </a:ln>
        </p:spPr>
      </p:sp>
      <p:sp>
        <p:nvSpPr>
          <p:cNvPr id="14" name="Shape 12"/>
          <p:cNvSpPr/>
          <p:nvPr/>
        </p:nvSpPr>
        <p:spPr>
          <a:xfrm flipV="1">
            <a:off x="1600200" y="1828800"/>
            <a:ext cx="1463040" cy="1097280"/>
          </a:xfrm>
          <a:prstGeom prst="line">
            <a:avLst/>
          </a:prstGeom>
          <a:noFill/>
          <a:ln w="19050">
            <a:solidFill>
              <a:srgbClr val="6B7385"/>
            </a:solidFill>
            <a:prstDash val="solid"/>
          </a:ln>
        </p:spPr>
      </p:sp>
      <p:sp>
        <p:nvSpPr>
          <p:cNvPr id="15" name="Shape 13"/>
          <p:cNvSpPr/>
          <p:nvPr/>
        </p:nvSpPr>
        <p:spPr>
          <a:xfrm>
            <a:off x="1399032" y="2926080"/>
            <a:ext cx="402336" cy="274320"/>
          </a:xfrm>
          <a:prstGeom prst="triangle">
            <a:avLst/>
          </a:prstGeom>
          <a:solidFill>
            <a:srgbClr val="F5C242"/>
          </a:solidFill>
          <a:ln w="12700">
            <a:solidFill>
              <a:srgbClr val="B8730A"/>
            </a:solidFill>
            <a:prstDash val="solid"/>
          </a:ln>
        </p:spPr>
      </p:sp>
      <p:sp>
        <p:nvSpPr>
          <p:cNvPr id="16" name="Shape 14"/>
          <p:cNvSpPr/>
          <p:nvPr/>
        </p:nvSpPr>
        <p:spPr>
          <a:xfrm>
            <a:off x="1600200" y="2926080"/>
            <a:ext cx="91" cy="914400"/>
          </a:xfrm>
          <a:prstGeom prst="line">
            <a:avLst/>
          </a:prstGeom>
          <a:noFill/>
          <a:ln w="38100">
            <a:solidFill>
              <a:srgbClr val="C8414C"/>
            </a:solidFill>
            <a:prstDash val="solid"/>
            <a:tailEnd type="triangle"/>
          </a:ln>
        </p:spPr>
      </p:sp>
      <p:sp>
        <p:nvSpPr>
          <p:cNvPr id="17" name="Text 15"/>
          <p:cNvSpPr/>
          <p:nvPr/>
        </p:nvSpPr>
        <p:spPr>
          <a:xfrm>
            <a:off x="1691640" y="3611880"/>
            <a:ext cx="914400" cy="256032"/>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W = 50 N</a:t>
            </a:r>
            <a:endParaRPr lang="en-US" sz="1050" dirty="0"/>
          </a:p>
        </p:txBody>
      </p:sp>
      <p:sp>
        <p:nvSpPr>
          <p:cNvPr id="18" name="Shape 16"/>
          <p:cNvSpPr/>
          <p:nvPr/>
        </p:nvSpPr>
        <p:spPr>
          <a:xfrm flipH="1" flipV="1">
            <a:off x="1161288" y="2340864"/>
            <a:ext cx="438912" cy="585216"/>
          </a:xfrm>
          <a:prstGeom prst="line">
            <a:avLst/>
          </a:prstGeom>
          <a:noFill/>
          <a:ln w="38100">
            <a:solidFill>
              <a:srgbClr val="2E5BD8"/>
            </a:solidFill>
            <a:prstDash val="solid"/>
            <a:tailEnd type="triangle"/>
          </a:ln>
        </p:spPr>
      </p:sp>
      <p:sp>
        <p:nvSpPr>
          <p:cNvPr id="19" name="Shape 17"/>
          <p:cNvSpPr/>
          <p:nvPr/>
        </p:nvSpPr>
        <p:spPr>
          <a:xfrm flipV="1">
            <a:off x="1600200" y="2596896"/>
            <a:ext cx="438912" cy="329184"/>
          </a:xfrm>
          <a:prstGeom prst="line">
            <a:avLst/>
          </a:prstGeom>
          <a:noFill/>
          <a:ln w="38100">
            <a:solidFill>
              <a:srgbClr val="2E8B57"/>
            </a:solidFill>
            <a:prstDash val="solid"/>
            <a:tailEnd type="triangle"/>
          </a:ln>
        </p:spPr>
      </p:sp>
      <p:sp>
        <p:nvSpPr>
          <p:cNvPr id="20" name="Text 18"/>
          <p:cNvSpPr/>
          <p:nvPr/>
        </p:nvSpPr>
        <p:spPr>
          <a:xfrm>
            <a:off x="502920" y="2331720"/>
            <a:ext cx="777240" cy="256032"/>
          </a:xfrm>
          <a:prstGeom prst="rect">
            <a:avLst/>
          </a:prstGeom>
          <a:noFill/>
          <a:ln/>
        </p:spPr>
        <p:txBody>
          <a:bodyPr wrap="square" lIns="0" tIns="0" rIns="0" bIns="0" rtlCol="0" anchor="ctr"/>
          <a:lstStyle/>
          <a:p>
            <a:pPr algn="l" indent="0" marL="0">
              <a:buNone/>
            </a:pPr>
            <a:r>
              <a:rPr lang="en-US" sz="1050" b="1" dirty="0">
                <a:solidFill>
                  <a:srgbClr val="2E5BD8"/>
                </a:solidFill>
                <a:latin typeface="Calibri" pitchFamily="34" charset="0"/>
                <a:ea typeface="Calibri" pitchFamily="34" charset="-122"/>
                <a:cs typeface="Calibri" pitchFamily="34" charset="-120"/>
              </a:rPr>
              <a:t>T₁ = 40 N</a:t>
            </a:r>
            <a:endParaRPr lang="en-US" sz="1050" dirty="0"/>
          </a:p>
        </p:txBody>
      </p:sp>
      <p:sp>
        <p:nvSpPr>
          <p:cNvPr id="21" name="Text 19"/>
          <p:cNvSpPr/>
          <p:nvPr/>
        </p:nvSpPr>
        <p:spPr>
          <a:xfrm>
            <a:off x="2148840" y="2514600"/>
            <a:ext cx="914400" cy="256032"/>
          </a:xfrm>
          <a:prstGeom prst="rect">
            <a:avLst/>
          </a:prstGeom>
          <a:noFill/>
          <a:ln/>
        </p:spPr>
        <p:txBody>
          <a:bodyPr wrap="square" lIns="0" tIns="0" rIns="0" bIns="0" rtlCol="0" anchor="ctr"/>
          <a:lstStyle/>
          <a:p>
            <a:pPr algn="l" indent="0" marL="0">
              <a:buNone/>
            </a:pPr>
            <a:r>
              <a:rPr lang="en-US" sz="1050" b="1" dirty="0">
                <a:solidFill>
                  <a:srgbClr val="2E8B57"/>
                </a:solidFill>
                <a:latin typeface="Calibri" pitchFamily="34" charset="0"/>
                <a:ea typeface="Calibri" pitchFamily="34" charset="-122"/>
                <a:cs typeface="Calibri" pitchFamily="34" charset="-120"/>
              </a:rPr>
              <a:t>T₂ = 30 N</a:t>
            </a:r>
            <a:endParaRPr lang="en-US" sz="1050" dirty="0"/>
          </a:p>
        </p:txBody>
      </p:sp>
      <p:sp>
        <p:nvSpPr>
          <p:cNvPr id="22" name="Text 20"/>
          <p:cNvSpPr/>
          <p:nvPr/>
        </p:nvSpPr>
        <p:spPr>
          <a:xfrm>
            <a:off x="594360" y="4160520"/>
            <a:ext cx="274320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forces on the lamp</a:t>
            </a:r>
            <a:endParaRPr lang="en-US" sz="1050" dirty="0"/>
          </a:p>
        </p:txBody>
      </p:sp>
      <p:sp>
        <p:nvSpPr>
          <p:cNvPr id="23" name="Shape 21"/>
          <p:cNvSpPr/>
          <p:nvPr/>
        </p:nvSpPr>
        <p:spPr>
          <a:xfrm>
            <a:off x="4023360" y="1600200"/>
            <a:ext cx="91" cy="2286000"/>
          </a:xfrm>
          <a:prstGeom prst="line">
            <a:avLst/>
          </a:prstGeom>
          <a:noFill/>
          <a:ln w="38100">
            <a:solidFill>
              <a:srgbClr val="C8414C"/>
            </a:solidFill>
            <a:prstDash val="solid"/>
            <a:tailEnd type="triangle"/>
          </a:ln>
        </p:spPr>
      </p:sp>
      <p:sp>
        <p:nvSpPr>
          <p:cNvPr id="24" name="Shape 22"/>
          <p:cNvSpPr/>
          <p:nvPr/>
        </p:nvSpPr>
        <p:spPr>
          <a:xfrm flipV="1">
            <a:off x="4023360" y="3063240"/>
            <a:ext cx="1097280" cy="822960"/>
          </a:xfrm>
          <a:prstGeom prst="line">
            <a:avLst/>
          </a:prstGeom>
          <a:noFill/>
          <a:ln w="38100">
            <a:solidFill>
              <a:srgbClr val="2E8B57"/>
            </a:solidFill>
            <a:prstDash val="solid"/>
            <a:tailEnd type="triangle"/>
          </a:ln>
        </p:spPr>
      </p:sp>
      <p:sp>
        <p:nvSpPr>
          <p:cNvPr id="25" name="Shape 23"/>
          <p:cNvSpPr/>
          <p:nvPr/>
        </p:nvSpPr>
        <p:spPr>
          <a:xfrm flipH="1" flipV="1">
            <a:off x="4023360" y="1600200"/>
            <a:ext cx="1097280" cy="1463040"/>
          </a:xfrm>
          <a:prstGeom prst="line">
            <a:avLst/>
          </a:prstGeom>
          <a:noFill/>
          <a:ln w="38100">
            <a:solidFill>
              <a:srgbClr val="2E5BD8"/>
            </a:solidFill>
            <a:prstDash val="solid"/>
            <a:tailEnd type="triangle"/>
          </a:ln>
        </p:spPr>
      </p:sp>
      <p:sp>
        <p:nvSpPr>
          <p:cNvPr id="26" name="Text 24"/>
          <p:cNvSpPr/>
          <p:nvPr/>
        </p:nvSpPr>
        <p:spPr>
          <a:xfrm>
            <a:off x="3108960" y="2606040"/>
            <a:ext cx="868680" cy="256032"/>
          </a:xfrm>
          <a:prstGeom prst="rect">
            <a:avLst/>
          </a:prstGeom>
          <a:noFill/>
          <a:ln/>
        </p:spPr>
        <p:txBody>
          <a:bodyPr wrap="square" lIns="0" tIns="0" rIns="0" bIns="0" rtlCol="0" anchor="ctr"/>
          <a:lstStyle/>
          <a:p>
            <a:pPr algn="r" indent="0" marL="0">
              <a:buNone/>
            </a:pPr>
            <a:r>
              <a:rPr lang="en-US" sz="1050" b="1" dirty="0">
                <a:solidFill>
                  <a:srgbClr val="C8414C"/>
                </a:solidFill>
                <a:latin typeface="Calibri" pitchFamily="34" charset="0"/>
                <a:ea typeface="Calibri" pitchFamily="34" charset="-122"/>
                <a:cs typeface="Calibri" pitchFamily="34" charset="-120"/>
              </a:rPr>
              <a:t>W 50 N</a:t>
            </a:r>
            <a:endParaRPr lang="en-US" sz="1050" dirty="0"/>
          </a:p>
        </p:txBody>
      </p:sp>
      <p:sp>
        <p:nvSpPr>
          <p:cNvPr id="27" name="Text 25"/>
          <p:cNvSpPr/>
          <p:nvPr/>
        </p:nvSpPr>
        <p:spPr>
          <a:xfrm>
            <a:off x="4663440" y="3474720"/>
            <a:ext cx="914400" cy="256032"/>
          </a:xfrm>
          <a:prstGeom prst="rect">
            <a:avLst/>
          </a:prstGeom>
          <a:noFill/>
          <a:ln/>
        </p:spPr>
        <p:txBody>
          <a:bodyPr wrap="square" lIns="0" tIns="0" rIns="0" bIns="0" rtlCol="0" anchor="ctr"/>
          <a:lstStyle/>
          <a:p>
            <a:pPr algn="l" indent="0" marL="0">
              <a:buNone/>
            </a:pPr>
            <a:r>
              <a:rPr lang="en-US" sz="1050" b="1" dirty="0">
                <a:solidFill>
                  <a:srgbClr val="2E8B57"/>
                </a:solidFill>
                <a:latin typeface="Calibri" pitchFamily="34" charset="0"/>
                <a:ea typeface="Calibri" pitchFamily="34" charset="-122"/>
                <a:cs typeface="Calibri" pitchFamily="34" charset="-120"/>
              </a:rPr>
              <a:t>T₂ 30 N</a:t>
            </a:r>
            <a:endParaRPr lang="en-US" sz="1050" dirty="0"/>
          </a:p>
        </p:txBody>
      </p:sp>
      <p:sp>
        <p:nvSpPr>
          <p:cNvPr id="28" name="Text 26"/>
          <p:cNvSpPr/>
          <p:nvPr/>
        </p:nvSpPr>
        <p:spPr>
          <a:xfrm>
            <a:off x="4681728" y="2057400"/>
            <a:ext cx="914400" cy="256032"/>
          </a:xfrm>
          <a:prstGeom prst="rect">
            <a:avLst/>
          </a:prstGeom>
          <a:noFill/>
          <a:ln/>
        </p:spPr>
        <p:txBody>
          <a:bodyPr wrap="square" lIns="0" tIns="0" rIns="0" bIns="0" rtlCol="0" anchor="ctr"/>
          <a:lstStyle/>
          <a:p>
            <a:pPr algn="l" indent="0" marL="0">
              <a:buNone/>
            </a:pPr>
            <a:r>
              <a:rPr lang="en-US" sz="1050" b="1" dirty="0">
                <a:solidFill>
                  <a:srgbClr val="2E5BD8"/>
                </a:solidFill>
                <a:latin typeface="Calibri" pitchFamily="34" charset="0"/>
                <a:ea typeface="Calibri" pitchFamily="34" charset="-122"/>
                <a:cs typeface="Calibri" pitchFamily="34" charset="-120"/>
              </a:rPr>
              <a:t>T₁ 40 N</a:t>
            </a:r>
            <a:endParaRPr lang="en-US" sz="1050" dirty="0"/>
          </a:p>
        </p:txBody>
      </p:sp>
      <p:sp>
        <p:nvSpPr>
          <p:cNvPr id="29" name="Text 27"/>
          <p:cNvSpPr/>
          <p:nvPr/>
        </p:nvSpPr>
        <p:spPr>
          <a:xfrm>
            <a:off x="3566160" y="4160520"/>
            <a:ext cx="219456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tip to tail: the triangle closes</a:t>
            </a:r>
            <a:endParaRPr lang="en-US" sz="1050" dirty="0"/>
          </a:p>
        </p:txBody>
      </p:sp>
      <p:sp>
        <p:nvSpPr>
          <p:cNvPr id="30" name="Shape 28"/>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31" name="Text 29"/>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Balanced forces in two dimensions</a:t>
            </a:r>
            <a:endParaRPr lang="en-US" sz="1300" dirty="0"/>
          </a:p>
        </p:txBody>
      </p:sp>
      <p:sp>
        <p:nvSpPr>
          <p:cNvPr id="32" name="Text 30"/>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An object is in </a:t>
            </a:r>
            <a:r>
              <a:rPr lang="en-US" sz="1150" b="1" dirty="0">
                <a:solidFill>
                  <a:srgbClr val="262B3A"/>
                </a:solidFill>
                <a:latin typeface="Calibri" pitchFamily="34" charset="0"/>
                <a:ea typeface="Calibri" pitchFamily="34" charset="-122"/>
                <a:cs typeface="Calibri" pitchFamily="34" charset="-120"/>
              </a:rPr>
              <a:t>equilibrium</a:t>
            </a:r>
            <a:r>
              <a:rPr lang="en-US" sz="1150" dirty="0">
                <a:solidFill>
                  <a:srgbClr val="262B3A"/>
                </a:solidFill>
                <a:latin typeface="Calibri" pitchFamily="34" charset="0"/>
                <a:ea typeface="Calibri" pitchFamily="34" charset="-122"/>
                <a:cs typeface="Calibri" pitchFamily="34" charset="-120"/>
              </a:rPr>
              <a:t> when the resultant force on it is </a:t>
            </a:r>
            <a:r>
              <a:rPr lang="en-US" sz="1150" b="1" dirty="0">
                <a:solidFill>
                  <a:srgbClr val="262B3A"/>
                </a:solidFill>
                <a:latin typeface="Calibri" pitchFamily="34" charset="0"/>
                <a:ea typeface="Calibri" pitchFamily="34" charset="-122"/>
                <a:cs typeface="Calibri" pitchFamily="34" charset="-120"/>
              </a:rPr>
              <a:t>zero</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Draw all the forces </a:t>
            </a:r>
            <a:r>
              <a:rPr lang="en-US" sz="1150" b="1" dirty="0">
                <a:solidFill>
                  <a:srgbClr val="262B3A"/>
                </a:solidFill>
                <a:latin typeface="Calibri" pitchFamily="34" charset="0"/>
                <a:ea typeface="Calibri" pitchFamily="34" charset="-122"/>
                <a:cs typeface="Calibri" pitchFamily="34" charset="-120"/>
              </a:rPr>
              <a:t>tip to tail</a:t>
            </a:r>
            <a:r>
              <a:rPr lang="en-US" sz="1150" dirty="0">
                <a:solidFill>
                  <a:srgbClr val="262B3A"/>
                </a:solidFill>
                <a:latin typeface="Calibri" pitchFamily="34" charset="0"/>
                <a:ea typeface="Calibri" pitchFamily="34" charset="-122"/>
                <a:cs typeface="Calibri" pitchFamily="34" charset="-120"/>
              </a:rPr>
              <a:t> to scale. If they form a </a:t>
            </a:r>
            <a:r>
              <a:rPr lang="en-US" sz="1150" b="1" dirty="0">
                <a:solidFill>
                  <a:srgbClr val="262B3A"/>
                </a:solidFill>
                <a:latin typeface="Calibri" pitchFamily="34" charset="0"/>
                <a:ea typeface="Calibri" pitchFamily="34" charset="-122"/>
                <a:cs typeface="Calibri" pitchFamily="34" charset="-120"/>
              </a:rPr>
              <a:t>closed</a:t>
            </a:r>
            <a:r>
              <a:rPr lang="en-US" sz="1150" dirty="0">
                <a:solidFill>
                  <a:srgbClr val="262B3A"/>
                </a:solidFill>
                <a:latin typeface="Calibri" pitchFamily="34" charset="0"/>
                <a:ea typeface="Calibri" pitchFamily="34" charset="-122"/>
                <a:cs typeface="Calibri" pitchFamily="34" charset="-120"/>
              </a:rPr>
              <a:t> shape, the resultant is zero.</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Three forces in equilibrium form a </a:t>
            </a:r>
            <a:r>
              <a:rPr lang="en-US" sz="1150" b="1" dirty="0">
                <a:solidFill>
                  <a:srgbClr val="262B3A"/>
                </a:solidFill>
                <a:latin typeface="Calibri" pitchFamily="34" charset="0"/>
                <a:ea typeface="Calibri" pitchFamily="34" charset="-122"/>
                <a:cs typeface="Calibri" pitchFamily="34" charset="-120"/>
              </a:rPr>
              <a:t>closed triangle</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Use it to find an unknown force: draw the known forces, then close the triangle.</a:t>
            </a:r>
            <a:endParaRPr lang="en-US" sz="1150" dirty="0"/>
          </a:p>
        </p:txBody>
      </p:sp>
      <p:sp>
        <p:nvSpPr>
          <p:cNvPr id="33" name="Shape 31"/>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34" name="Text 32"/>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35" name="Text 33"/>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The lamp weighs 50 N. The cables are at 37° and 53° to the vertical. Find the tensions.</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Draw W   </a:t>
            </a:r>
            <a:r>
              <a:rPr lang="en-US" sz="1050" dirty="0">
                <a:solidFill>
                  <a:srgbClr val="262B3A"/>
                </a:solidFill>
                <a:latin typeface="Calibri" pitchFamily="34" charset="0"/>
                <a:ea typeface="Calibri" pitchFamily="34" charset="-122"/>
                <a:cs typeface="Calibri" pitchFamily="34" charset="-120"/>
              </a:rPr>
              <a:t>50 N downwards, to scale</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Close   </a:t>
            </a:r>
            <a:r>
              <a:rPr lang="en-US" sz="1050" dirty="0">
                <a:solidFill>
                  <a:srgbClr val="262B3A"/>
                </a:solidFill>
                <a:latin typeface="Calibri" pitchFamily="34" charset="0"/>
                <a:ea typeface="Calibri" pitchFamily="34" charset="-122"/>
                <a:cs typeface="Calibri" pitchFamily="34" charset="-120"/>
              </a:rPr>
              <a:t>draw lines along each cable direction until they meet</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Measure   </a:t>
            </a:r>
            <a:r>
              <a:rPr lang="en-US" sz="1050" dirty="0">
                <a:solidFill>
                  <a:srgbClr val="262B3A"/>
                </a:solidFill>
                <a:latin typeface="Calibri" pitchFamily="34" charset="0"/>
                <a:ea typeface="Calibri" pitchFamily="34" charset="-122"/>
                <a:cs typeface="Calibri" pitchFamily="34" charset="-120"/>
              </a:rPr>
              <a:t>T₁ = 40 N, T₂ = 30 N</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resultant = 0 N, so the lamp stays still</a:t>
            </a:r>
            <a:endParaRPr lang="en-US" sz="1050" dirty="0"/>
          </a:p>
        </p:txBody>
      </p:sp>
      <p:sp>
        <p:nvSpPr>
          <p:cNvPr id="36" name="Shape 34"/>
          <p:cNvSpPr/>
          <p:nvPr/>
        </p:nvSpPr>
        <p:spPr>
          <a:xfrm>
            <a:off x="411480" y="5833872"/>
            <a:ext cx="11368735" cy="530352"/>
          </a:xfrm>
          <a:prstGeom prst="rect">
            <a:avLst/>
          </a:prstGeom>
          <a:solidFill>
            <a:srgbClr val="FFF4E0"/>
          </a:solidFill>
          <a:ln w="6350">
            <a:solidFill>
              <a:srgbClr val="F1D9A8"/>
            </a:solidFill>
            <a:prstDash val="solid"/>
          </a:ln>
        </p:spPr>
      </p:sp>
      <p:sp>
        <p:nvSpPr>
          <p:cNvPr id="37" name="Shape 35"/>
          <p:cNvSpPr/>
          <p:nvPr/>
        </p:nvSpPr>
        <p:spPr>
          <a:xfrm>
            <a:off x="411480" y="5833872"/>
            <a:ext cx="82296" cy="530352"/>
          </a:xfrm>
          <a:prstGeom prst="rect">
            <a:avLst/>
          </a:prstGeom>
          <a:solidFill>
            <a:srgbClr val="E39A2F"/>
          </a:solidFill>
          <a:ln w="12700">
            <a:solidFill>
              <a:srgbClr val="E39A2F"/>
            </a:solidFill>
            <a:prstDash val="solid"/>
          </a:ln>
        </p:spPr>
      </p:sp>
      <p:sp>
        <p:nvSpPr>
          <p:cNvPr id="38" name="Text 36"/>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Three forces act on an object. Drawn tip to tail they form a closed triangle. What is the resultant force, and what does this tell you about the object’s motion?</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4</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9.3 • resolving forces and equilibrium</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9 Forces and their effects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4  |  18</a:t>
            </a:r>
            <a:endParaRPr lang="en-US" sz="1000" dirty="0"/>
          </a:p>
        </p:txBody>
      </p:sp>
      <p:sp>
        <p:nvSpPr>
          <p:cNvPr id="10" name="Shape 8"/>
          <p:cNvSpPr/>
          <p:nvPr/>
        </p:nvSpPr>
        <p:spPr>
          <a:xfrm>
            <a:off x="411480" y="1207008"/>
            <a:ext cx="11368735" cy="1594104"/>
          </a:xfrm>
          <a:prstGeom prst="roundRect">
            <a:avLst>
              <a:gd name="adj" fmla="val 2868"/>
            </a:avLst>
          </a:prstGeom>
          <a:solidFill>
            <a:srgbClr val="FFFFFF"/>
          </a:solidFill>
          <a:ln w="12700">
            <a:solidFill>
              <a:srgbClr val="D5DCEB"/>
            </a:solidFill>
            <a:prstDash val="solid"/>
          </a:ln>
        </p:spPr>
      </p:sp>
      <p:sp>
        <p:nvSpPr>
          <p:cNvPr id="11" name="Shape 9"/>
          <p:cNvSpPr/>
          <p:nvPr/>
        </p:nvSpPr>
        <p:spPr>
          <a:xfrm>
            <a:off x="411480" y="1207008"/>
            <a:ext cx="2103120" cy="292608"/>
          </a:xfrm>
          <a:prstGeom prst="rect">
            <a:avLst/>
          </a:prstGeom>
          <a:solidFill>
            <a:srgbClr val="F5A742"/>
          </a:solidFill>
          <a:ln w="12700">
            <a:solidFill>
              <a:srgbClr val="F5A742"/>
            </a:solidFill>
            <a:prstDash val="solid"/>
          </a:ln>
        </p:spPr>
      </p:sp>
      <p:sp>
        <p:nvSpPr>
          <p:cNvPr id="12" name="Text 10"/>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3" name="Text 11"/>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force of </a:t>
            </a:r>
            <a:r>
              <a:rPr lang="en-US" sz="1250" b="1" dirty="0">
                <a:solidFill>
                  <a:srgbClr val="262B3A"/>
                </a:solidFill>
                <a:latin typeface="Calibri" pitchFamily="34" charset="0"/>
                <a:ea typeface="Calibri" pitchFamily="34" charset="-122"/>
                <a:cs typeface="Calibri" pitchFamily="34" charset="-120"/>
              </a:rPr>
              <a:t>50 N</a:t>
            </a:r>
            <a:r>
              <a:rPr lang="en-US" sz="1250" dirty="0">
                <a:solidFill>
                  <a:srgbClr val="262B3A"/>
                </a:solidFill>
                <a:latin typeface="Calibri" pitchFamily="34" charset="0"/>
                <a:ea typeface="Calibri" pitchFamily="34" charset="-122"/>
                <a:cs typeface="Calibri" pitchFamily="34" charset="-120"/>
              </a:rPr>
              <a:t> acts at </a:t>
            </a:r>
            <a:r>
              <a:rPr lang="en-US" sz="1250" b="1" dirty="0">
                <a:solidFill>
                  <a:srgbClr val="262B3A"/>
                </a:solidFill>
                <a:latin typeface="Calibri" pitchFamily="34" charset="0"/>
                <a:ea typeface="Calibri" pitchFamily="34" charset="-122"/>
                <a:cs typeface="Calibri" pitchFamily="34" charset="-120"/>
              </a:rPr>
              <a:t>40°</a:t>
            </a:r>
            <a:r>
              <a:rPr lang="en-US" sz="1250" dirty="0">
                <a:solidFill>
                  <a:srgbClr val="262B3A"/>
                </a:solidFill>
                <a:latin typeface="Calibri" pitchFamily="34" charset="0"/>
                <a:ea typeface="Calibri" pitchFamily="34" charset="-122"/>
                <a:cs typeface="Calibri" pitchFamily="34" charset="-120"/>
              </a:rPr>
              <a:t> above the horizontal. Use a scale drawing to find its horizontal and vertical components.</a:t>
            </a:r>
            <a:endParaRPr lang="en-US" sz="1250" dirty="0"/>
          </a:p>
        </p:txBody>
      </p:sp>
      <p:sp>
        <p:nvSpPr>
          <p:cNvPr id="14" name="Text 12"/>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5" name="Shape 13"/>
          <p:cNvSpPr/>
          <p:nvPr/>
        </p:nvSpPr>
        <p:spPr>
          <a:xfrm>
            <a:off x="411480" y="2947416"/>
            <a:ext cx="11368735" cy="1594104"/>
          </a:xfrm>
          <a:prstGeom prst="roundRect">
            <a:avLst>
              <a:gd name="adj" fmla="val 2868"/>
            </a:avLst>
          </a:prstGeom>
          <a:solidFill>
            <a:srgbClr val="FFFFFF"/>
          </a:solidFill>
          <a:ln w="12700">
            <a:solidFill>
              <a:srgbClr val="D5DCEB"/>
            </a:solidFill>
            <a:prstDash val="solid"/>
          </a:ln>
        </p:spPr>
      </p:sp>
      <p:sp>
        <p:nvSpPr>
          <p:cNvPr id="16" name="Shape 14"/>
          <p:cNvSpPr/>
          <p:nvPr/>
        </p:nvSpPr>
        <p:spPr>
          <a:xfrm>
            <a:off x="411480" y="2947416"/>
            <a:ext cx="2103120" cy="292608"/>
          </a:xfrm>
          <a:prstGeom prst="rect">
            <a:avLst/>
          </a:prstGeom>
          <a:solidFill>
            <a:srgbClr val="F5A742"/>
          </a:solidFill>
          <a:ln w="12700">
            <a:solidFill>
              <a:srgbClr val="F5A742"/>
            </a:solidFill>
            <a:prstDash val="solid"/>
          </a:ln>
        </p:spPr>
      </p:sp>
      <p:sp>
        <p:nvSpPr>
          <p:cNvPr id="17" name="Text 15"/>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8" name="Text 16"/>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what a vector diagram looks like for an object in </a:t>
            </a:r>
            <a:r>
              <a:rPr lang="en-US" sz="1250" b="1" dirty="0">
                <a:solidFill>
                  <a:srgbClr val="262B3A"/>
                </a:solidFill>
                <a:latin typeface="Calibri" pitchFamily="34" charset="0"/>
                <a:ea typeface="Calibri" pitchFamily="34" charset="-122"/>
                <a:cs typeface="Calibri" pitchFamily="34" charset="-120"/>
              </a:rPr>
              <a:t>equilibrium</a:t>
            </a:r>
            <a:r>
              <a:rPr lang="en-US" sz="1250" dirty="0">
                <a:solidFill>
                  <a:srgbClr val="262B3A"/>
                </a:solidFill>
                <a:latin typeface="Calibri" pitchFamily="34" charset="0"/>
                <a:ea typeface="Calibri" pitchFamily="34" charset="-122"/>
                <a:cs typeface="Calibri" pitchFamily="34" charset="-120"/>
              </a:rPr>
              <a:t>, and why.</a:t>
            </a:r>
            <a:endParaRPr lang="en-US" sz="1250" dirty="0"/>
          </a:p>
        </p:txBody>
      </p:sp>
      <p:sp>
        <p:nvSpPr>
          <p:cNvPr id="19" name="Text 17"/>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0" name="Shape 18"/>
          <p:cNvSpPr/>
          <p:nvPr/>
        </p:nvSpPr>
        <p:spPr>
          <a:xfrm>
            <a:off x="411480" y="4687824"/>
            <a:ext cx="11368735" cy="1594104"/>
          </a:xfrm>
          <a:prstGeom prst="roundRect">
            <a:avLst>
              <a:gd name="adj" fmla="val 2868"/>
            </a:avLst>
          </a:prstGeom>
          <a:solidFill>
            <a:srgbClr val="FFFFFF"/>
          </a:solidFill>
          <a:ln w="12700">
            <a:solidFill>
              <a:srgbClr val="D5DCEB"/>
            </a:solidFill>
            <a:prstDash val="solid"/>
          </a:ln>
        </p:spPr>
      </p:sp>
      <p:sp>
        <p:nvSpPr>
          <p:cNvPr id="21" name="Shape 19"/>
          <p:cNvSpPr/>
          <p:nvPr/>
        </p:nvSpPr>
        <p:spPr>
          <a:xfrm>
            <a:off x="411480" y="4687824"/>
            <a:ext cx="2103120" cy="292608"/>
          </a:xfrm>
          <a:prstGeom prst="rect">
            <a:avLst/>
          </a:prstGeom>
          <a:solidFill>
            <a:srgbClr val="F5A742"/>
          </a:solidFill>
          <a:ln w="12700">
            <a:solidFill>
              <a:srgbClr val="F5A742"/>
            </a:solidFill>
            <a:prstDash val="solid"/>
          </a:ln>
        </p:spPr>
      </p:sp>
      <p:sp>
        <p:nvSpPr>
          <p:cNvPr id="22" name="Text 20"/>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3" name="Text 21"/>
          <p:cNvSpPr/>
          <p:nvPr/>
        </p:nvSpPr>
        <p:spPr>
          <a:xfrm>
            <a:off x="640080" y="5053584"/>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a:t>
            </a:r>
            <a:r>
              <a:rPr lang="en-US" sz="1250" b="1" dirty="0">
                <a:solidFill>
                  <a:srgbClr val="262B3A"/>
                </a:solidFill>
                <a:latin typeface="Calibri" pitchFamily="34" charset="0"/>
                <a:ea typeface="Calibri" pitchFamily="34" charset="-122"/>
                <a:cs typeface="Calibri" pitchFamily="34" charset="-120"/>
              </a:rPr>
              <a:t>13 N</a:t>
            </a:r>
            <a:r>
              <a:rPr lang="en-US" sz="1250" dirty="0">
                <a:solidFill>
                  <a:srgbClr val="262B3A"/>
                </a:solidFill>
                <a:latin typeface="Calibri" pitchFamily="34" charset="0"/>
                <a:ea typeface="Calibri" pitchFamily="34" charset="-122"/>
                <a:cs typeface="Calibri" pitchFamily="34" charset="-120"/>
              </a:rPr>
              <a:t> weight hangs on a string. A horizontal force of </a:t>
            </a:r>
            <a:r>
              <a:rPr lang="en-US" sz="1250" b="1" dirty="0">
                <a:solidFill>
                  <a:srgbClr val="262B3A"/>
                </a:solidFill>
                <a:latin typeface="Calibri" pitchFamily="34" charset="0"/>
                <a:ea typeface="Calibri" pitchFamily="34" charset="-122"/>
                <a:cs typeface="Calibri" pitchFamily="34" charset="-120"/>
              </a:rPr>
              <a:t>5.0 N</a:t>
            </a:r>
            <a:r>
              <a:rPr lang="en-US" sz="1250" dirty="0">
                <a:solidFill>
                  <a:srgbClr val="262B3A"/>
                </a:solidFill>
                <a:latin typeface="Calibri" pitchFamily="34" charset="0"/>
                <a:ea typeface="Calibri" pitchFamily="34" charset="-122"/>
                <a:cs typeface="Calibri" pitchFamily="34" charset="-120"/>
              </a:rPr>
              <a:t> pulls it sideways so it hangs still. Use a closed vector triangle to find the tension in the string.</a:t>
            </a:r>
            <a:endParaRPr lang="en-US" sz="1250" dirty="0"/>
          </a:p>
        </p:txBody>
      </p:sp>
      <p:sp>
        <p:nvSpPr>
          <p:cNvPr id="24" name="Text 22"/>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Forces can make objects turn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9.6P • describe situations where forces can cause rotation</a:t>
            </a:r>
            <a:endParaRPr lang="en-US" sz="1100" dirty="0"/>
          </a:p>
        </p:txBody>
      </p:sp>
      <p:sp>
        <p:nvSpPr>
          <p:cNvPr id="6" name="Shape 4"/>
          <p:cNvSpPr/>
          <p:nvPr/>
        </p:nvSpPr>
        <p:spPr>
          <a:xfrm>
            <a:off x="10591495" y="292608"/>
            <a:ext cx="1188720" cy="274320"/>
          </a:xfrm>
          <a:prstGeom prst="roundRect">
            <a:avLst>
              <a:gd name="adj" fmla="val 50000"/>
            </a:avLst>
          </a:prstGeom>
          <a:solidFill>
            <a:srgbClr val="2E5BD8"/>
          </a:solidFill>
          <a:ln w="12700">
            <a:solidFill>
              <a:srgbClr val="2E5BD8"/>
            </a:solidFill>
            <a:prstDash val="solid"/>
          </a:ln>
        </p:spPr>
      </p:sp>
      <p:sp>
        <p:nvSpPr>
          <p:cNvPr id="7" name="Text 5"/>
          <p:cNvSpPr/>
          <p:nvPr/>
        </p:nvSpPr>
        <p:spPr>
          <a:xfrm>
            <a:off x="10591495" y="292608"/>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PHYSICS ONLY</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9 Forces and their effects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9.6P  |  19</a:t>
            </a:r>
            <a:endParaRPr lang="en-US" sz="1000" dirty="0"/>
          </a:p>
        </p:txBody>
      </p:sp>
      <p:sp>
        <p:nvSpPr>
          <p:cNvPr id="10" name="Shape 8"/>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each force acts at a distance from a pivot, so it has a turning effect</a:t>
            </a:r>
            <a:endParaRPr lang="en-US" sz="1000" dirty="0"/>
          </a:p>
        </p:txBody>
      </p:sp>
      <p:sp>
        <p:nvSpPr>
          <p:cNvPr id="12" name="Text 10"/>
          <p:cNvSpPr/>
          <p:nvPr/>
        </p:nvSpPr>
        <p:spPr>
          <a:xfrm>
            <a:off x="640080" y="1325880"/>
            <a:ext cx="2286000" cy="256032"/>
          </a:xfrm>
          <a:prstGeom prst="rect">
            <a:avLst/>
          </a:prstGeom>
          <a:noFill/>
          <a:ln/>
        </p:spPr>
        <p:txBody>
          <a:bodyPr wrap="square" lIns="0" tIns="0" rIns="0" bIns="0" rtlCol="0" anchor="ctr"/>
          <a:lstStyle/>
          <a:p>
            <a:pPr algn="l" indent="0" marL="0">
              <a:buNone/>
            </a:pPr>
            <a:r>
              <a:rPr lang="en-US" sz="1150" b="1" dirty="0">
                <a:solidFill>
                  <a:srgbClr val="1A2340"/>
                </a:solidFill>
                <a:latin typeface="Calibri" pitchFamily="34" charset="0"/>
                <a:ea typeface="Calibri" pitchFamily="34" charset="-122"/>
                <a:cs typeface="Calibri" pitchFamily="34" charset="-120"/>
              </a:rPr>
              <a:t>Door (from above)</a:t>
            </a:r>
            <a:endParaRPr lang="en-US" sz="1150" dirty="0"/>
          </a:p>
        </p:txBody>
      </p:sp>
      <p:sp>
        <p:nvSpPr>
          <p:cNvPr id="13" name="Shape 11"/>
          <p:cNvSpPr/>
          <p:nvPr/>
        </p:nvSpPr>
        <p:spPr>
          <a:xfrm>
            <a:off x="777240" y="1965960"/>
            <a:ext cx="146304" cy="146304"/>
          </a:xfrm>
          <a:prstGeom prst="ellipse">
            <a:avLst/>
          </a:prstGeom>
          <a:solidFill>
            <a:srgbClr val="1A2340"/>
          </a:solidFill>
          <a:ln w="12700">
            <a:solidFill>
              <a:srgbClr val="1A2340"/>
            </a:solidFill>
            <a:prstDash val="solid"/>
          </a:ln>
        </p:spPr>
      </p:sp>
      <p:sp>
        <p:nvSpPr>
          <p:cNvPr id="14" name="Shape 12"/>
          <p:cNvSpPr/>
          <p:nvPr/>
        </p:nvSpPr>
        <p:spPr>
          <a:xfrm>
            <a:off x="850392" y="1984248"/>
            <a:ext cx="2103120" cy="109728"/>
          </a:xfrm>
          <a:prstGeom prst="rect">
            <a:avLst/>
          </a:prstGeom>
          <a:solidFill>
            <a:srgbClr val="C99A5B"/>
          </a:solidFill>
          <a:ln w="12700">
            <a:solidFill>
              <a:srgbClr val="8A6A3A"/>
            </a:solidFill>
            <a:prstDash val="solid"/>
          </a:ln>
        </p:spPr>
      </p:sp>
      <p:sp>
        <p:nvSpPr>
          <p:cNvPr id="15" name="Shape 13"/>
          <p:cNvSpPr/>
          <p:nvPr/>
        </p:nvSpPr>
        <p:spPr>
          <a:xfrm>
            <a:off x="2697480" y="2093976"/>
            <a:ext cx="91" cy="640080"/>
          </a:xfrm>
          <a:prstGeom prst="line">
            <a:avLst/>
          </a:prstGeom>
          <a:noFill/>
          <a:ln w="38100">
            <a:solidFill>
              <a:srgbClr val="C8414C"/>
            </a:solidFill>
            <a:prstDash val="solid"/>
            <a:tailEnd type="triangle"/>
          </a:ln>
        </p:spPr>
      </p:sp>
      <p:sp>
        <p:nvSpPr>
          <p:cNvPr id="16" name="Text 14"/>
          <p:cNvSpPr/>
          <p:nvPr/>
        </p:nvSpPr>
        <p:spPr>
          <a:xfrm>
            <a:off x="2331720" y="2761488"/>
            <a:ext cx="731520" cy="274320"/>
          </a:xfrm>
          <a:prstGeom prst="rect">
            <a:avLst/>
          </a:prstGeom>
          <a:noFill/>
          <a:ln/>
        </p:spPr>
        <p:txBody>
          <a:bodyPr wrap="square" lIns="0" tIns="0" rIns="0" bIns="0" rtlCol="0" anchor="ctr"/>
          <a:lstStyle/>
          <a:p>
            <a:pPr algn="ctr" indent="0" marL="0">
              <a:buNone/>
            </a:pPr>
            <a:r>
              <a:rPr lang="en-US" sz="1100" b="1" dirty="0">
                <a:solidFill>
                  <a:srgbClr val="C8414C"/>
                </a:solidFill>
                <a:latin typeface="Calibri" pitchFamily="34" charset="0"/>
                <a:ea typeface="Calibri" pitchFamily="34" charset="-122"/>
                <a:cs typeface="Calibri" pitchFamily="34" charset="-120"/>
              </a:rPr>
              <a:t>push</a:t>
            </a:r>
            <a:endParaRPr lang="en-US" sz="1100" dirty="0"/>
          </a:p>
        </p:txBody>
      </p:sp>
      <p:sp>
        <p:nvSpPr>
          <p:cNvPr id="17" name="Shape 15"/>
          <p:cNvSpPr/>
          <p:nvPr/>
        </p:nvSpPr>
        <p:spPr>
          <a:xfrm>
            <a:off x="1285933" y="1787652"/>
            <a:ext cx="20259" cy="38917"/>
          </a:xfrm>
          <a:prstGeom prst="line">
            <a:avLst/>
          </a:prstGeom>
          <a:noFill/>
          <a:ln w="25400">
            <a:solidFill>
              <a:srgbClr val="2E5BD8"/>
            </a:solidFill>
            <a:prstDash val="solid"/>
          </a:ln>
        </p:spPr>
      </p:sp>
      <p:sp>
        <p:nvSpPr>
          <p:cNvPr id="18" name="Shape 16"/>
          <p:cNvSpPr/>
          <p:nvPr/>
        </p:nvSpPr>
        <p:spPr>
          <a:xfrm>
            <a:off x="1306192" y="1826569"/>
            <a:ext cx="16790" cy="40534"/>
          </a:xfrm>
          <a:prstGeom prst="line">
            <a:avLst/>
          </a:prstGeom>
          <a:noFill/>
          <a:ln w="25400">
            <a:solidFill>
              <a:srgbClr val="2E5BD8"/>
            </a:solidFill>
            <a:prstDash val="solid"/>
          </a:ln>
        </p:spPr>
      </p:sp>
      <p:sp>
        <p:nvSpPr>
          <p:cNvPr id="19" name="Shape 17"/>
          <p:cNvSpPr/>
          <p:nvPr/>
        </p:nvSpPr>
        <p:spPr>
          <a:xfrm>
            <a:off x="1322982" y="1867103"/>
            <a:ext cx="13193" cy="41843"/>
          </a:xfrm>
          <a:prstGeom prst="line">
            <a:avLst/>
          </a:prstGeom>
          <a:noFill/>
          <a:ln w="25400">
            <a:solidFill>
              <a:srgbClr val="2E5BD8"/>
            </a:solidFill>
            <a:prstDash val="solid"/>
          </a:ln>
        </p:spPr>
      </p:sp>
      <p:sp>
        <p:nvSpPr>
          <p:cNvPr id="20" name="Shape 18"/>
          <p:cNvSpPr/>
          <p:nvPr/>
        </p:nvSpPr>
        <p:spPr>
          <a:xfrm>
            <a:off x="1336175" y="1908947"/>
            <a:ext cx="9496" cy="42834"/>
          </a:xfrm>
          <a:prstGeom prst="line">
            <a:avLst/>
          </a:prstGeom>
          <a:noFill/>
          <a:ln w="25400">
            <a:solidFill>
              <a:srgbClr val="2E5BD8"/>
            </a:solidFill>
            <a:prstDash val="solid"/>
          </a:ln>
        </p:spPr>
      </p:sp>
      <p:sp>
        <p:nvSpPr>
          <p:cNvPr id="21" name="Shape 19"/>
          <p:cNvSpPr/>
          <p:nvPr/>
        </p:nvSpPr>
        <p:spPr>
          <a:xfrm>
            <a:off x="1345672" y="1951781"/>
            <a:ext cx="5727" cy="43499"/>
          </a:xfrm>
          <a:prstGeom prst="line">
            <a:avLst/>
          </a:prstGeom>
          <a:noFill/>
          <a:ln w="25400">
            <a:solidFill>
              <a:srgbClr val="2E5BD8"/>
            </a:solidFill>
            <a:prstDash val="solid"/>
          </a:ln>
        </p:spPr>
      </p:sp>
      <p:sp>
        <p:nvSpPr>
          <p:cNvPr id="22" name="Shape 20"/>
          <p:cNvSpPr/>
          <p:nvPr/>
        </p:nvSpPr>
        <p:spPr>
          <a:xfrm>
            <a:off x="1351398" y="1995280"/>
            <a:ext cx="1914" cy="43832"/>
          </a:xfrm>
          <a:prstGeom prst="line">
            <a:avLst/>
          </a:prstGeom>
          <a:noFill/>
          <a:ln w="25400">
            <a:solidFill>
              <a:srgbClr val="2E5BD8"/>
            </a:solidFill>
            <a:prstDash val="solid"/>
          </a:ln>
        </p:spPr>
      </p:sp>
      <p:sp>
        <p:nvSpPr>
          <p:cNvPr id="23" name="Shape 21"/>
          <p:cNvSpPr/>
          <p:nvPr/>
        </p:nvSpPr>
        <p:spPr>
          <a:xfrm flipH="1">
            <a:off x="1351398" y="2039112"/>
            <a:ext cx="1914" cy="43832"/>
          </a:xfrm>
          <a:prstGeom prst="line">
            <a:avLst/>
          </a:prstGeom>
          <a:noFill/>
          <a:ln w="25400">
            <a:solidFill>
              <a:srgbClr val="2E5BD8"/>
            </a:solidFill>
            <a:prstDash val="solid"/>
          </a:ln>
        </p:spPr>
      </p:sp>
      <p:sp>
        <p:nvSpPr>
          <p:cNvPr id="24" name="Shape 22"/>
          <p:cNvSpPr/>
          <p:nvPr/>
        </p:nvSpPr>
        <p:spPr>
          <a:xfrm flipH="1">
            <a:off x="1345672" y="2082944"/>
            <a:ext cx="5727" cy="43499"/>
          </a:xfrm>
          <a:prstGeom prst="line">
            <a:avLst/>
          </a:prstGeom>
          <a:noFill/>
          <a:ln w="25400">
            <a:solidFill>
              <a:srgbClr val="2E5BD8"/>
            </a:solidFill>
            <a:prstDash val="solid"/>
          </a:ln>
        </p:spPr>
      </p:sp>
      <p:sp>
        <p:nvSpPr>
          <p:cNvPr id="25" name="Shape 23"/>
          <p:cNvSpPr/>
          <p:nvPr/>
        </p:nvSpPr>
        <p:spPr>
          <a:xfrm flipH="1">
            <a:off x="1336175" y="2126443"/>
            <a:ext cx="9496" cy="42834"/>
          </a:xfrm>
          <a:prstGeom prst="line">
            <a:avLst/>
          </a:prstGeom>
          <a:noFill/>
          <a:ln w="25400">
            <a:solidFill>
              <a:srgbClr val="2E5BD8"/>
            </a:solidFill>
            <a:prstDash val="solid"/>
          </a:ln>
        </p:spPr>
      </p:sp>
      <p:sp>
        <p:nvSpPr>
          <p:cNvPr id="26" name="Shape 24"/>
          <p:cNvSpPr/>
          <p:nvPr/>
        </p:nvSpPr>
        <p:spPr>
          <a:xfrm flipH="1">
            <a:off x="1322982" y="2169277"/>
            <a:ext cx="13193" cy="41843"/>
          </a:xfrm>
          <a:prstGeom prst="line">
            <a:avLst/>
          </a:prstGeom>
          <a:noFill/>
          <a:ln w="25400">
            <a:solidFill>
              <a:srgbClr val="2E5BD8"/>
            </a:solidFill>
            <a:prstDash val="solid"/>
          </a:ln>
        </p:spPr>
      </p:sp>
      <p:sp>
        <p:nvSpPr>
          <p:cNvPr id="27" name="Shape 25"/>
          <p:cNvSpPr/>
          <p:nvPr/>
        </p:nvSpPr>
        <p:spPr>
          <a:xfrm flipH="1">
            <a:off x="1306192" y="2211121"/>
            <a:ext cx="16790" cy="40534"/>
          </a:xfrm>
          <a:prstGeom prst="line">
            <a:avLst/>
          </a:prstGeom>
          <a:noFill/>
          <a:ln w="25400">
            <a:solidFill>
              <a:srgbClr val="2E5BD8"/>
            </a:solidFill>
            <a:prstDash val="solid"/>
          </a:ln>
        </p:spPr>
      </p:sp>
      <p:sp>
        <p:nvSpPr>
          <p:cNvPr id="28" name="Shape 26"/>
          <p:cNvSpPr/>
          <p:nvPr/>
        </p:nvSpPr>
        <p:spPr>
          <a:xfrm flipH="1">
            <a:off x="1285933" y="2251655"/>
            <a:ext cx="20259" cy="38917"/>
          </a:xfrm>
          <a:prstGeom prst="line">
            <a:avLst/>
          </a:prstGeom>
          <a:noFill/>
          <a:ln w="25400">
            <a:solidFill>
              <a:srgbClr val="2E5BD8"/>
            </a:solidFill>
            <a:prstDash val="solid"/>
          </a:ln>
        </p:spPr>
      </p:sp>
      <p:sp>
        <p:nvSpPr>
          <p:cNvPr id="29" name="Shape 27"/>
          <p:cNvSpPr/>
          <p:nvPr/>
        </p:nvSpPr>
        <p:spPr>
          <a:xfrm flipH="1">
            <a:off x="1262360" y="2290572"/>
            <a:ext cx="23574" cy="37003"/>
          </a:xfrm>
          <a:prstGeom prst="line">
            <a:avLst/>
          </a:prstGeom>
          <a:noFill/>
          <a:ln w="25400">
            <a:solidFill>
              <a:srgbClr val="2E5BD8"/>
            </a:solidFill>
            <a:prstDash val="solid"/>
          </a:ln>
        </p:spPr>
      </p:sp>
      <p:sp>
        <p:nvSpPr>
          <p:cNvPr id="30" name="Shape 28"/>
          <p:cNvSpPr/>
          <p:nvPr/>
        </p:nvSpPr>
        <p:spPr>
          <a:xfrm flipH="1">
            <a:off x="1235651" y="2327575"/>
            <a:ext cx="26709" cy="34808"/>
          </a:xfrm>
          <a:prstGeom prst="line">
            <a:avLst/>
          </a:prstGeom>
          <a:noFill/>
          <a:ln w="25400">
            <a:solidFill>
              <a:srgbClr val="2E5BD8"/>
            </a:solidFill>
            <a:prstDash val="solid"/>
          </a:ln>
        </p:spPr>
      </p:sp>
      <p:sp>
        <p:nvSpPr>
          <p:cNvPr id="31" name="Shape 29"/>
          <p:cNvSpPr/>
          <p:nvPr/>
        </p:nvSpPr>
        <p:spPr>
          <a:xfrm flipH="1">
            <a:off x="1206010" y="2362383"/>
            <a:ext cx="29641" cy="32347"/>
          </a:xfrm>
          <a:prstGeom prst="line">
            <a:avLst/>
          </a:prstGeom>
          <a:noFill/>
          <a:ln w="25400">
            <a:solidFill>
              <a:srgbClr val="2E5BD8"/>
            </a:solidFill>
            <a:prstDash val="solid"/>
          </a:ln>
        </p:spPr>
      </p:sp>
      <p:sp>
        <p:nvSpPr>
          <p:cNvPr id="32" name="Shape 30"/>
          <p:cNvSpPr/>
          <p:nvPr/>
        </p:nvSpPr>
        <p:spPr>
          <a:xfrm flipH="1">
            <a:off x="1173663" y="2394730"/>
            <a:ext cx="32347" cy="29641"/>
          </a:xfrm>
          <a:prstGeom prst="line">
            <a:avLst/>
          </a:prstGeom>
          <a:noFill/>
          <a:ln w="25400">
            <a:solidFill>
              <a:srgbClr val="2E5BD8"/>
            </a:solidFill>
            <a:prstDash val="solid"/>
          </a:ln>
        </p:spPr>
      </p:sp>
      <p:sp>
        <p:nvSpPr>
          <p:cNvPr id="33" name="Shape 31"/>
          <p:cNvSpPr/>
          <p:nvPr/>
        </p:nvSpPr>
        <p:spPr>
          <a:xfrm flipH="1">
            <a:off x="1138855" y="2424371"/>
            <a:ext cx="34808" cy="26709"/>
          </a:xfrm>
          <a:prstGeom prst="line">
            <a:avLst/>
          </a:prstGeom>
          <a:noFill/>
          <a:ln w="25400">
            <a:solidFill>
              <a:srgbClr val="2E5BD8"/>
            </a:solidFill>
            <a:prstDash val="solid"/>
          </a:ln>
        </p:spPr>
      </p:sp>
      <p:sp>
        <p:nvSpPr>
          <p:cNvPr id="34" name="Shape 32"/>
          <p:cNvSpPr/>
          <p:nvPr/>
        </p:nvSpPr>
        <p:spPr>
          <a:xfrm flipH="1">
            <a:off x="1101852" y="2451080"/>
            <a:ext cx="37003" cy="23574"/>
          </a:xfrm>
          <a:prstGeom prst="line">
            <a:avLst/>
          </a:prstGeom>
          <a:noFill/>
          <a:ln w="25400">
            <a:solidFill>
              <a:srgbClr val="2E5BD8"/>
            </a:solidFill>
            <a:prstDash val="solid"/>
            <a:tailEnd type="triangle"/>
          </a:ln>
        </p:spPr>
      </p:sp>
      <p:sp>
        <p:nvSpPr>
          <p:cNvPr id="35" name="Text 33"/>
          <p:cNvSpPr/>
          <p:nvPr/>
        </p:nvSpPr>
        <p:spPr>
          <a:xfrm>
            <a:off x="502920" y="2176272"/>
            <a:ext cx="73152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hinge</a:t>
            </a:r>
            <a:endParaRPr lang="en-US" sz="1050" dirty="0"/>
          </a:p>
        </p:txBody>
      </p:sp>
      <p:sp>
        <p:nvSpPr>
          <p:cNvPr id="36" name="Text 34"/>
          <p:cNvSpPr/>
          <p:nvPr/>
        </p:nvSpPr>
        <p:spPr>
          <a:xfrm>
            <a:off x="3291840" y="1325880"/>
            <a:ext cx="2286000" cy="256032"/>
          </a:xfrm>
          <a:prstGeom prst="rect">
            <a:avLst/>
          </a:prstGeom>
          <a:noFill/>
          <a:ln/>
        </p:spPr>
        <p:txBody>
          <a:bodyPr wrap="square" lIns="0" tIns="0" rIns="0" bIns="0" rtlCol="0" anchor="ctr"/>
          <a:lstStyle/>
          <a:p>
            <a:pPr algn="l" indent="0" marL="0">
              <a:buNone/>
            </a:pPr>
            <a:r>
              <a:rPr lang="en-US" sz="1150" b="1" dirty="0">
                <a:solidFill>
                  <a:srgbClr val="1A2340"/>
                </a:solidFill>
                <a:latin typeface="Calibri" pitchFamily="34" charset="0"/>
                <a:ea typeface="Calibri" pitchFamily="34" charset="-122"/>
                <a:cs typeface="Calibri" pitchFamily="34" charset="-120"/>
              </a:rPr>
              <a:t>Spanner on a nut</a:t>
            </a:r>
            <a:endParaRPr lang="en-US" sz="1150" dirty="0"/>
          </a:p>
        </p:txBody>
      </p:sp>
      <p:sp>
        <p:nvSpPr>
          <p:cNvPr id="37" name="Shape 35"/>
          <p:cNvSpPr/>
          <p:nvPr/>
        </p:nvSpPr>
        <p:spPr>
          <a:xfrm>
            <a:off x="3429000" y="1828800"/>
            <a:ext cx="457200" cy="402336"/>
          </a:xfrm>
          <a:prstGeom prst="hexagon">
            <a:avLst/>
          </a:prstGeom>
          <a:solidFill>
            <a:srgbClr val="8C96A8"/>
          </a:solidFill>
          <a:ln w="12700">
            <a:solidFill>
              <a:srgbClr val="4A5262"/>
            </a:solidFill>
            <a:prstDash val="solid"/>
          </a:ln>
        </p:spPr>
      </p:sp>
      <p:sp>
        <p:nvSpPr>
          <p:cNvPr id="38" name="Shape 36"/>
          <p:cNvSpPr/>
          <p:nvPr/>
        </p:nvSpPr>
        <p:spPr>
          <a:xfrm>
            <a:off x="3840480" y="1947672"/>
            <a:ext cx="1737360" cy="164592"/>
          </a:xfrm>
          <a:prstGeom prst="rect">
            <a:avLst/>
          </a:prstGeom>
          <a:solidFill>
            <a:srgbClr val="6B7385"/>
          </a:solidFill>
          <a:ln w="12700">
            <a:solidFill>
              <a:srgbClr val="4A5262"/>
            </a:solidFill>
            <a:prstDash val="solid"/>
          </a:ln>
        </p:spPr>
      </p:sp>
      <p:sp>
        <p:nvSpPr>
          <p:cNvPr id="39" name="Shape 37"/>
          <p:cNvSpPr/>
          <p:nvPr/>
        </p:nvSpPr>
        <p:spPr>
          <a:xfrm>
            <a:off x="5394960" y="2112264"/>
            <a:ext cx="91" cy="640080"/>
          </a:xfrm>
          <a:prstGeom prst="line">
            <a:avLst/>
          </a:prstGeom>
          <a:noFill/>
          <a:ln w="38100">
            <a:solidFill>
              <a:srgbClr val="C8414C"/>
            </a:solidFill>
            <a:prstDash val="solid"/>
            <a:tailEnd type="triangle"/>
          </a:ln>
        </p:spPr>
      </p:sp>
      <p:sp>
        <p:nvSpPr>
          <p:cNvPr id="40" name="Text 38"/>
          <p:cNvSpPr/>
          <p:nvPr/>
        </p:nvSpPr>
        <p:spPr>
          <a:xfrm>
            <a:off x="5029200" y="2779776"/>
            <a:ext cx="731520" cy="274320"/>
          </a:xfrm>
          <a:prstGeom prst="rect">
            <a:avLst/>
          </a:prstGeom>
          <a:noFill/>
          <a:ln/>
        </p:spPr>
        <p:txBody>
          <a:bodyPr wrap="square" lIns="0" tIns="0" rIns="0" bIns="0" rtlCol="0" anchor="ctr"/>
          <a:lstStyle/>
          <a:p>
            <a:pPr algn="ctr" indent="0" marL="0">
              <a:buNone/>
            </a:pPr>
            <a:r>
              <a:rPr lang="en-US" sz="1100" b="1" dirty="0">
                <a:solidFill>
                  <a:srgbClr val="C8414C"/>
                </a:solidFill>
                <a:latin typeface="Calibri" pitchFamily="34" charset="0"/>
                <a:ea typeface="Calibri" pitchFamily="34" charset="-122"/>
                <a:cs typeface="Calibri" pitchFamily="34" charset="-120"/>
              </a:rPr>
              <a:t>force</a:t>
            </a:r>
            <a:endParaRPr lang="en-US" sz="1100" dirty="0"/>
          </a:p>
        </p:txBody>
      </p:sp>
      <p:sp>
        <p:nvSpPr>
          <p:cNvPr id="41" name="Shape 39"/>
          <p:cNvSpPr/>
          <p:nvPr/>
        </p:nvSpPr>
        <p:spPr>
          <a:xfrm>
            <a:off x="4093141" y="1778508"/>
            <a:ext cx="20259" cy="38917"/>
          </a:xfrm>
          <a:prstGeom prst="line">
            <a:avLst/>
          </a:prstGeom>
          <a:noFill/>
          <a:ln w="25400">
            <a:solidFill>
              <a:srgbClr val="2E5BD8"/>
            </a:solidFill>
            <a:prstDash val="solid"/>
          </a:ln>
        </p:spPr>
      </p:sp>
      <p:sp>
        <p:nvSpPr>
          <p:cNvPr id="42" name="Shape 40"/>
          <p:cNvSpPr/>
          <p:nvPr/>
        </p:nvSpPr>
        <p:spPr>
          <a:xfrm>
            <a:off x="4113400" y="1817425"/>
            <a:ext cx="16790" cy="40534"/>
          </a:xfrm>
          <a:prstGeom prst="line">
            <a:avLst/>
          </a:prstGeom>
          <a:noFill/>
          <a:ln w="25400">
            <a:solidFill>
              <a:srgbClr val="2E5BD8"/>
            </a:solidFill>
            <a:prstDash val="solid"/>
          </a:ln>
        </p:spPr>
      </p:sp>
      <p:sp>
        <p:nvSpPr>
          <p:cNvPr id="43" name="Shape 41"/>
          <p:cNvSpPr/>
          <p:nvPr/>
        </p:nvSpPr>
        <p:spPr>
          <a:xfrm>
            <a:off x="4130190" y="1857959"/>
            <a:ext cx="13193" cy="41843"/>
          </a:xfrm>
          <a:prstGeom prst="line">
            <a:avLst/>
          </a:prstGeom>
          <a:noFill/>
          <a:ln w="25400">
            <a:solidFill>
              <a:srgbClr val="2E5BD8"/>
            </a:solidFill>
            <a:prstDash val="solid"/>
          </a:ln>
        </p:spPr>
      </p:sp>
      <p:sp>
        <p:nvSpPr>
          <p:cNvPr id="44" name="Shape 42"/>
          <p:cNvSpPr/>
          <p:nvPr/>
        </p:nvSpPr>
        <p:spPr>
          <a:xfrm>
            <a:off x="4143383" y="1899803"/>
            <a:ext cx="9496" cy="42834"/>
          </a:xfrm>
          <a:prstGeom prst="line">
            <a:avLst/>
          </a:prstGeom>
          <a:noFill/>
          <a:ln w="25400">
            <a:solidFill>
              <a:srgbClr val="2E5BD8"/>
            </a:solidFill>
            <a:prstDash val="solid"/>
          </a:ln>
        </p:spPr>
      </p:sp>
      <p:sp>
        <p:nvSpPr>
          <p:cNvPr id="45" name="Shape 43"/>
          <p:cNvSpPr/>
          <p:nvPr/>
        </p:nvSpPr>
        <p:spPr>
          <a:xfrm>
            <a:off x="4152880" y="1942637"/>
            <a:ext cx="5727" cy="43499"/>
          </a:xfrm>
          <a:prstGeom prst="line">
            <a:avLst/>
          </a:prstGeom>
          <a:noFill/>
          <a:ln w="25400">
            <a:solidFill>
              <a:srgbClr val="2E5BD8"/>
            </a:solidFill>
            <a:prstDash val="solid"/>
          </a:ln>
        </p:spPr>
      </p:sp>
      <p:sp>
        <p:nvSpPr>
          <p:cNvPr id="46" name="Shape 44"/>
          <p:cNvSpPr/>
          <p:nvPr/>
        </p:nvSpPr>
        <p:spPr>
          <a:xfrm>
            <a:off x="4158606" y="1986136"/>
            <a:ext cx="1914" cy="43832"/>
          </a:xfrm>
          <a:prstGeom prst="line">
            <a:avLst/>
          </a:prstGeom>
          <a:noFill/>
          <a:ln w="25400">
            <a:solidFill>
              <a:srgbClr val="2E5BD8"/>
            </a:solidFill>
            <a:prstDash val="solid"/>
          </a:ln>
        </p:spPr>
      </p:sp>
      <p:sp>
        <p:nvSpPr>
          <p:cNvPr id="47" name="Shape 45"/>
          <p:cNvSpPr/>
          <p:nvPr/>
        </p:nvSpPr>
        <p:spPr>
          <a:xfrm flipH="1">
            <a:off x="4158606" y="2029968"/>
            <a:ext cx="1914" cy="43832"/>
          </a:xfrm>
          <a:prstGeom prst="line">
            <a:avLst/>
          </a:prstGeom>
          <a:noFill/>
          <a:ln w="25400">
            <a:solidFill>
              <a:srgbClr val="2E5BD8"/>
            </a:solidFill>
            <a:prstDash val="solid"/>
          </a:ln>
        </p:spPr>
      </p:sp>
      <p:sp>
        <p:nvSpPr>
          <p:cNvPr id="48" name="Shape 46"/>
          <p:cNvSpPr/>
          <p:nvPr/>
        </p:nvSpPr>
        <p:spPr>
          <a:xfrm flipH="1">
            <a:off x="4152880" y="2073800"/>
            <a:ext cx="5727" cy="43499"/>
          </a:xfrm>
          <a:prstGeom prst="line">
            <a:avLst/>
          </a:prstGeom>
          <a:noFill/>
          <a:ln w="25400">
            <a:solidFill>
              <a:srgbClr val="2E5BD8"/>
            </a:solidFill>
            <a:prstDash val="solid"/>
          </a:ln>
        </p:spPr>
      </p:sp>
      <p:sp>
        <p:nvSpPr>
          <p:cNvPr id="49" name="Shape 47"/>
          <p:cNvSpPr/>
          <p:nvPr/>
        </p:nvSpPr>
        <p:spPr>
          <a:xfrm flipH="1">
            <a:off x="4143383" y="2117299"/>
            <a:ext cx="9496" cy="42834"/>
          </a:xfrm>
          <a:prstGeom prst="line">
            <a:avLst/>
          </a:prstGeom>
          <a:noFill/>
          <a:ln w="25400">
            <a:solidFill>
              <a:srgbClr val="2E5BD8"/>
            </a:solidFill>
            <a:prstDash val="solid"/>
          </a:ln>
        </p:spPr>
      </p:sp>
      <p:sp>
        <p:nvSpPr>
          <p:cNvPr id="50" name="Shape 48"/>
          <p:cNvSpPr/>
          <p:nvPr/>
        </p:nvSpPr>
        <p:spPr>
          <a:xfrm flipH="1">
            <a:off x="4130190" y="2160133"/>
            <a:ext cx="13193" cy="41843"/>
          </a:xfrm>
          <a:prstGeom prst="line">
            <a:avLst/>
          </a:prstGeom>
          <a:noFill/>
          <a:ln w="25400">
            <a:solidFill>
              <a:srgbClr val="2E5BD8"/>
            </a:solidFill>
            <a:prstDash val="solid"/>
          </a:ln>
        </p:spPr>
      </p:sp>
      <p:sp>
        <p:nvSpPr>
          <p:cNvPr id="51" name="Shape 49"/>
          <p:cNvSpPr/>
          <p:nvPr/>
        </p:nvSpPr>
        <p:spPr>
          <a:xfrm flipH="1">
            <a:off x="4113400" y="2201977"/>
            <a:ext cx="16790" cy="40534"/>
          </a:xfrm>
          <a:prstGeom prst="line">
            <a:avLst/>
          </a:prstGeom>
          <a:noFill/>
          <a:ln w="25400">
            <a:solidFill>
              <a:srgbClr val="2E5BD8"/>
            </a:solidFill>
            <a:prstDash val="solid"/>
          </a:ln>
        </p:spPr>
      </p:sp>
      <p:sp>
        <p:nvSpPr>
          <p:cNvPr id="52" name="Shape 50"/>
          <p:cNvSpPr/>
          <p:nvPr/>
        </p:nvSpPr>
        <p:spPr>
          <a:xfrm flipH="1">
            <a:off x="4093141" y="2242511"/>
            <a:ext cx="20259" cy="38917"/>
          </a:xfrm>
          <a:prstGeom prst="line">
            <a:avLst/>
          </a:prstGeom>
          <a:noFill/>
          <a:ln w="25400">
            <a:solidFill>
              <a:srgbClr val="2E5BD8"/>
            </a:solidFill>
            <a:prstDash val="solid"/>
          </a:ln>
        </p:spPr>
      </p:sp>
      <p:sp>
        <p:nvSpPr>
          <p:cNvPr id="53" name="Shape 51"/>
          <p:cNvSpPr/>
          <p:nvPr/>
        </p:nvSpPr>
        <p:spPr>
          <a:xfrm flipH="1">
            <a:off x="4069568" y="2281428"/>
            <a:ext cx="23574" cy="37003"/>
          </a:xfrm>
          <a:prstGeom prst="line">
            <a:avLst/>
          </a:prstGeom>
          <a:noFill/>
          <a:ln w="25400">
            <a:solidFill>
              <a:srgbClr val="2E5BD8"/>
            </a:solidFill>
            <a:prstDash val="solid"/>
          </a:ln>
        </p:spPr>
      </p:sp>
      <p:sp>
        <p:nvSpPr>
          <p:cNvPr id="54" name="Shape 52"/>
          <p:cNvSpPr/>
          <p:nvPr/>
        </p:nvSpPr>
        <p:spPr>
          <a:xfrm flipH="1">
            <a:off x="4042859" y="2318431"/>
            <a:ext cx="26709" cy="34808"/>
          </a:xfrm>
          <a:prstGeom prst="line">
            <a:avLst/>
          </a:prstGeom>
          <a:noFill/>
          <a:ln w="25400">
            <a:solidFill>
              <a:srgbClr val="2E5BD8"/>
            </a:solidFill>
            <a:prstDash val="solid"/>
          </a:ln>
        </p:spPr>
      </p:sp>
      <p:sp>
        <p:nvSpPr>
          <p:cNvPr id="55" name="Shape 53"/>
          <p:cNvSpPr/>
          <p:nvPr/>
        </p:nvSpPr>
        <p:spPr>
          <a:xfrm flipH="1">
            <a:off x="4013218" y="2353239"/>
            <a:ext cx="29641" cy="32347"/>
          </a:xfrm>
          <a:prstGeom prst="line">
            <a:avLst/>
          </a:prstGeom>
          <a:noFill/>
          <a:ln w="25400">
            <a:solidFill>
              <a:srgbClr val="2E5BD8"/>
            </a:solidFill>
            <a:prstDash val="solid"/>
          </a:ln>
        </p:spPr>
      </p:sp>
      <p:sp>
        <p:nvSpPr>
          <p:cNvPr id="56" name="Shape 54"/>
          <p:cNvSpPr/>
          <p:nvPr/>
        </p:nvSpPr>
        <p:spPr>
          <a:xfrm flipH="1">
            <a:off x="3980871" y="2385586"/>
            <a:ext cx="32347" cy="29641"/>
          </a:xfrm>
          <a:prstGeom prst="line">
            <a:avLst/>
          </a:prstGeom>
          <a:noFill/>
          <a:ln w="25400">
            <a:solidFill>
              <a:srgbClr val="2E5BD8"/>
            </a:solidFill>
            <a:prstDash val="solid"/>
          </a:ln>
        </p:spPr>
      </p:sp>
      <p:sp>
        <p:nvSpPr>
          <p:cNvPr id="57" name="Shape 55"/>
          <p:cNvSpPr/>
          <p:nvPr/>
        </p:nvSpPr>
        <p:spPr>
          <a:xfrm flipH="1">
            <a:off x="3946063" y="2415227"/>
            <a:ext cx="34808" cy="26709"/>
          </a:xfrm>
          <a:prstGeom prst="line">
            <a:avLst/>
          </a:prstGeom>
          <a:noFill/>
          <a:ln w="25400">
            <a:solidFill>
              <a:srgbClr val="2E5BD8"/>
            </a:solidFill>
            <a:prstDash val="solid"/>
          </a:ln>
        </p:spPr>
      </p:sp>
      <p:sp>
        <p:nvSpPr>
          <p:cNvPr id="58" name="Shape 56"/>
          <p:cNvSpPr/>
          <p:nvPr/>
        </p:nvSpPr>
        <p:spPr>
          <a:xfrm flipH="1">
            <a:off x="3909060" y="2441936"/>
            <a:ext cx="37003" cy="23574"/>
          </a:xfrm>
          <a:prstGeom prst="line">
            <a:avLst/>
          </a:prstGeom>
          <a:noFill/>
          <a:ln w="25400">
            <a:solidFill>
              <a:srgbClr val="2E5BD8"/>
            </a:solidFill>
            <a:prstDash val="solid"/>
            <a:tailEnd type="triangle"/>
          </a:ln>
        </p:spPr>
      </p:sp>
      <p:sp>
        <p:nvSpPr>
          <p:cNvPr id="59" name="Text 57"/>
          <p:cNvSpPr/>
          <p:nvPr/>
        </p:nvSpPr>
        <p:spPr>
          <a:xfrm>
            <a:off x="640080" y="3246120"/>
            <a:ext cx="2743200" cy="256032"/>
          </a:xfrm>
          <a:prstGeom prst="rect">
            <a:avLst/>
          </a:prstGeom>
          <a:noFill/>
          <a:ln/>
        </p:spPr>
        <p:txBody>
          <a:bodyPr wrap="square" lIns="0" tIns="0" rIns="0" bIns="0" rtlCol="0" anchor="ctr"/>
          <a:lstStyle/>
          <a:p>
            <a:pPr algn="l" indent="0" marL="0">
              <a:buNone/>
            </a:pPr>
            <a:r>
              <a:rPr lang="en-US" sz="1150" b="1" dirty="0">
                <a:solidFill>
                  <a:srgbClr val="1A2340"/>
                </a:solidFill>
                <a:latin typeface="Calibri" pitchFamily="34" charset="0"/>
                <a:ea typeface="Calibri" pitchFamily="34" charset="-122"/>
                <a:cs typeface="Calibri" pitchFamily="34" charset="-120"/>
              </a:rPr>
              <a:t>See-saw</a:t>
            </a:r>
            <a:endParaRPr lang="en-US" sz="1150" dirty="0"/>
          </a:p>
        </p:txBody>
      </p:sp>
      <p:sp>
        <p:nvSpPr>
          <p:cNvPr id="60" name="Shape 58"/>
          <p:cNvSpPr/>
          <p:nvPr/>
        </p:nvSpPr>
        <p:spPr>
          <a:xfrm>
            <a:off x="914400" y="4114800"/>
            <a:ext cx="4206240" cy="91440"/>
          </a:xfrm>
          <a:prstGeom prst="rect">
            <a:avLst/>
          </a:prstGeom>
          <a:solidFill>
            <a:srgbClr val="C99A5B"/>
          </a:solidFill>
          <a:ln w="12700">
            <a:solidFill>
              <a:srgbClr val="8A6A3A"/>
            </a:solidFill>
            <a:prstDash val="solid"/>
          </a:ln>
        </p:spPr>
      </p:sp>
      <p:sp>
        <p:nvSpPr>
          <p:cNvPr id="61" name="Shape 59"/>
          <p:cNvSpPr/>
          <p:nvPr/>
        </p:nvSpPr>
        <p:spPr>
          <a:xfrm>
            <a:off x="2788920" y="4206240"/>
            <a:ext cx="457200" cy="457200"/>
          </a:xfrm>
          <a:prstGeom prst="triangle">
            <a:avLst/>
          </a:prstGeom>
          <a:solidFill>
            <a:srgbClr val="5A6275"/>
          </a:solidFill>
          <a:ln w="12700">
            <a:solidFill>
              <a:srgbClr val="5A6275"/>
            </a:solidFill>
            <a:prstDash val="solid"/>
          </a:ln>
        </p:spPr>
      </p:sp>
      <p:sp>
        <p:nvSpPr>
          <p:cNvPr id="62" name="Shape 60"/>
          <p:cNvSpPr/>
          <p:nvPr/>
        </p:nvSpPr>
        <p:spPr>
          <a:xfrm>
            <a:off x="1143000" y="3703320"/>
            <a:ext cx="384048" cy="411480"/>
          </a:xfrm>
          <a:prstGeom prst="rect">
            <a:avLst/>
          </a:prstGeom>
          <a:solidFill>
            <a:srgbClr val="F4B183"/>
          </a:solidFill>
          <a:ln w="12700">
            <a:solidFill>
              <a:srgbClr val="B8730A"/>
            </a:solidFill>
            <a:prstDash val="solid"/>
          </a:ln>
        </p:spPr>
      </p:sp>
      <p:sp>
        <p:nvSpPr>
          <p:cNvPr id="63" name="Shape 61"/>
          <p:cNvSpPr/>
          <p:nvPr/>
        </p:nvSpPr>
        <p:spPr>
          <a:xfrm>
            <a:off x="4389120" y="3611880"/>
            <a:ext cx="457200" cy="502920"/>
          </a:xfrm>
          <a:prstGeom prst="rect">
            <a:avLst/>
          </a:prstGeom>
          <a:solidFill>
            <a:srgbClr val="9DC3E6"/>
          </a:solidFill>
          <a:ln w="12700">
            <a:solidFill>
              <a:srgbClr val="2E5BA8"/>
            </a:solidFill>
            <a:prstDash val="solid"/>
          </a:ln>
        </p:spPr>
      </p:sp>
      <p:sp>
        <p:nvSpPr>
          <p:cNvPr id="64" name="Shape 62"/>
          <p:cNvSpPr/>
          <p:nvPr/>
        </p:nvSpPr>
        <p:spPr>
          <a:xfrm>
            <a:off x="1335024" y="4206240"/>
            <a:ext cx="91" cy="502920"/>
          </a:xfrm>
          <a:prstGeom prst="line">
            <a:avLst/>
          </a:prstGeom>
          <a:noFill/>
          <a:ln w="38100">
            <a:solidFill>
              <a:srgbClr val="C8414C"/>
            </a:solidFill>
            <a:prstDash val="solid"/>
            <a:tailEnd type="triangle"/>
          </a:ln>
        </p:spPr>
      </p:sp>
      <p:sp>
        <p:nvSpPr>
          <p:cNvPr id="65" name="Shape 63"/>
          <p:cNvSpPr/>
          <p:nvPr/>
        </p:nvSpPr>
        <p:spPr>
          <a:xfrm>
            <a:off x="4617720" y="4206240"/>
            <a:ext cx="91" cy="640080"/>
          </a:xfrm>
          <a:prstGeom prst="line">
            <a:avLst/>
          </a:prstGeom>
          <a:noFill/>
          <a:ln w="38100">
            <a:solidFill>
              <a:srgbClr val="C8414C"/>
            </a:solidFill>
            <a:prstDash val="solid"/>
            <a:tailEnd type="triangle"/>
          </a:ln>
        </p:spPr>
      </p:sp>
      <p:sp>
        <p:nvSpPr>
          <p:cNvPr id="66" name="Shape 64"/>
          <p:cNvSpPr/>
          <p:nvPr/>
        </p:nvSpPr>
        <p:spPr>
          <a:xfrm flipH="1">
            <a:off x="2706277" y="3387191"/>
            <a:ext cx="29774" cy="11496"/>
          </a:xfrm>
          <a:prstGeom prst="line">
            <a:avLst/>
          </a:prstGeom>
          <a:noFill/>
          <a:ln w="25400">
            <a:solidFill>
              <a:srgbClr val="2E5BD8"/>
            </a:solidFill>
            <a:prstDash val="solid"/>
          </a:ln>
        </p:spPr>
      </p:sp>
      <p:sp>
        <p:nvSpPr>
          <p:cNvPr id="67" name="Shape 65"/>
          <p:cNvSpPr/>
          <p:nvPr/>
        </p:nvSpPr>
        <p:spPr>
          <a:xfrm flipH="1">
            <a:off x="2676970" y="3398686"/>
            <a:ext cx="29306" cy="12642"/>
          </a:xfrm>
          <a:prstGeom prst="line">
            <a:avLst/>
          </a:prstGeom>
          <a:noFill/>
          <a:ln w="25400">
            <a:solidFill>
              <a:srgbClr val="2E5BD8"/>
            </a:solidFill>
            <a:prstDash val="solid"/>
          </a:ln>
        </p:spPr>
      </p:sp>
      <p:sp>
        <p:nvSpPr>
          <p:cNvPr id="68" name="Shape 66"/>
          <p:cNvSpPr/>
          <p:nvPr/>
        </p:nvSpPr>
        <p:spPr>
          <a:xfrm flipH="1">
            <a:off x="2648176" y="3411328"/>
            <a:ext cx="28794" cy="13768"/>
          </a:xfrm>
          <a:prstGeom prst="line">
            <a:avLst/>
          </a:prstGeom>
          <a:noFill/>
          <a:ln w="25400">
            <a:solidFill>
              <a:srgbClr val="2E5BD8"/>
            </a:solidFill>
            <a:prstDash val="solid"/>
          </a:ln>
        </p:spPr>
      </p:sp>
      <p:sp>
        <p:nvSpPr>
          <p:cNvPr id="69" name="Shape 67"/>
          <p:cNvSpPr/>
          <p:nvPr/>
        </p:nvSpPr>
        <p:spPr>
          <a:xfrm flipH="1">
            <a:off x="2619938" y="3425096"/>
            <a:ext cx="28239" cy="14875"/>
          </a:xfrm>
          <a:prstGeom prst="line">
            <a:avLst/>
          </a:prstGeom>
          <a:noFill/>
          <a:ln w="25400">
            <a:solidFill>
              <a:srgbClr val="2E5BD8"/>
            </a:solidFill>
            <a:prstDash val="solid"/>
          </a:ln>
        </p:spPr>
      </p:sp>
      <p:sp>
        <p:nvSpPr>
          <p:cNvPr id="70" name="Shape 68"/>
          <p:cNvSpPr/>
          <p:nvPr/>
        </p:nvSpPr>
        <p:spPr>
          <a:xfrm flipH="1">
            <a:off x="2592297" y="3439971"/>
            <a:ext cx="27641" cy="15958"/>
          </a:xfrm>
          <a:prstGeom prst="line">
            <a:avLst/>
          </a:prstGeom>
          <a:noFill/>
          <a:ln w="25400">
            <a:solidFill>
              <a:srgbClr val="2E5BD8"/>
            </a:solidFill>
            <a:prstDash val="solid"/>
          </a:ln>
        </p:spPr>
      </p:sp>
      <p:sp>
        <p:nvSpPr>
          <p:cNvPr id="71" name="Shape 69"/>
          <p:cNvSpPr/>
          <p:nvPr/>
        </p:nvSpPr>
        <p:spPr>
          <a:xfrm flipH="1">
            <a:off x="2565296" y="3455929"/>
            <a:ext cx="27001" cy="17018"/>
          </a:xfrm>
          <a:prstGeom prst="line">
            <a:avLst/>
          </a:prstGeom>
          <a:noFill/>
          <a:ln w="25400">
            <a:solidFill>
              <a:srgbClr val="2E5BD8"/>
            </a:solidFill>
            <a:prstDash val="solid"/>
          </a:ln>
        </p:spPr>
      </p:sp>
      <p:sp>
        <p:nvSpPr>
          <p:cNvPr id="72" name="Shape 70"/>
          <p:cNvSpPr/>
          <p:nvPr/>
        </p:nvSpPr>
        <p:spPr>
          <a:xfrm flipH="1">
            <a:off x="2538975" y="3472947"/>
            <a:ext cx="26321" cy="18052"/>
          </a:xfrm>
          <a:prstGeom prst="line">
            <a:avLst/>
          </a:prstGeom>
          <a:noFill/>
          <a:ln w="25400">
            <a:solidFill>
              <a:srgbClr val="2E5BD8"/>
            </a:solidFill>
            <a:prstDash val="solid"/>
          </a:ln>
        </p:spPr>
      </p:sp>
      <p:sp>
        <p:nvSpPr>
          <p:cNvPr id="73" name="Shape 71"/>
          <p:cNvSpPr/>
          <p:nvPr/>
        </p:nvSpPr>
        <p:spPr>
          <a:xfrm flipH="1">
            <a:off x="2513374" y="3490999"/>
            <a:ext cx="25601" cy="19059"/>
          </a:xfrm>
          <a:prstGeom prst="line">
            <a:avLst/>
          </a:prstGeom>
          <a:noFill/>
          <a:ln w="25400">
            <a:solidFill>
              <a:srgbClr val="2E5BD8"/>
            </a:solidFill>
            <a:prstDash val="solid"/>
          </a:ln>
        </p:spPr>
      </p:sp>
      <p:sp>
        <p:nvSpPr>
          <p:cNvPr id="74" name="Shape 72"/>
          <p:cNvSpPr/>
          <p:nvPr/>
        </p:nvSpPr>
        <p:spPr>
          <a:xfrm flipH="1">
            <a:off x="2488532" y="3510058"/>
            <a:ext cx="24843" cy="20038"/>
          </a:xfrm>
          <a:prstGeom prst="line">
            <a:avLst/>
          </a:prstGeom>
          <a:noFill/>
          <a:ln w="25400">
            <a:solidFill>
              <a:srgbClr val="2E5BD8"/>
            </a:solidFill>
            <a:prstDash val="solid"/>
          </a:ln>
        </p:spPr>
      </p:sp>
      <p:sp>
        <p:nvSpPr>
          <p:cNvPr id="75" name="Shape 73"/>
          <p:cNvSpPr/>
          <p:nvPr/>
        </p:nvSpPr>
        <p:spPr>
          <a:xfrm flipH="1">
            <a:off x="2464484" y="3530096"/>
            <a:ext cx="24047" cy="20986"/>
          </a:xfrm>
          <a:prstGeom prst="line">
            <a:avLst/>
          </a:prstGeom>
          <a:noFill/>
          <a:ln w="25400">
            <a:solidFill>
              <a:srgbClr val="2E5BD8"/>
            </a:solidFill>
            <a:prstDash val="solid"/>
          </a:ln>
        </p:spPr>
      </p:sp>
      <p:sp>
        <p:nvSpPr>
          <p:cNvPr id="76" name="Shape 74"/>
          <p:cNvSpPr/>
          <p:nvPr/>
        </p:nvSpPr>
        <p:spPr>
          <a:xfrm flipH="1">
            <a:off x="2441269" y="3551082"/>
            <a:ext cx="23215" cy="21902"/>
          </a:xfrm>
          <a:prstGeom prst="line">
            <a:avLst/>
          </a:prstGeom>
          <a:noFill/>
          <a:ln w="25400">
            <a:solidFill>
              <a:srgbClr val="2E5BD8"/>
            </a:solidFill>
            <a:prstDash val="solid"/>
          </a:ln>
        </p:spPr>
      </p:sp>
      <p:sp>
        <p:nvSpPr>
          <p:cNvPr id="77" name="Shape 75"/>
          <p:cNvSpPr/>
          <p:nvPr/>
        </p:nvSpPr>
        <p:spPr>
          <a:xfrm flipH="1">
            <a:off x="2418921" y="3572984"/>
            <a:ext cx="22349" cy="22786"/>
          </a:xfrm>
          <a:prstGeom prst="line">
            <a:avLst/>
          </a:prstGeom>
          <a:noFill/>
          <a:ln w="25400">
            <a:solidFill>
              <a:srgbClr val="2E5BD8"/>
            </a:solidFill>
            <a:prstDash val="solid"/>
          </a:ln>
        </p:spPr>
      </p:sp>
      <p:sp>
        <p:nvSpPr>
          <p:cNvPr id="78" name="Shape 76"/>
          <p:cNvSpPr/>
          <p:nvPr/>
        </p:nvSpPr>
        <p:spPr>
          <a:xfrm flipH="1">
            <a:off x="2397472" y="3595771"/>
            <a:ext cx="21448" cy="23636"/>
          </a:xfrm>
          <a:prstGeom prst="line">
            <a:avLst/>
          </a:prstGeom>
          <a:noFill/>
          <a:ln w="25400">
            <a:solidFill>
              <a:srgbClr val="2E5BD8"/>
            </a:solidFill>
            <a:prstDash val="solid"/>
          </a:ln>
        </p:spPr>
      </p:sp>
      <p:sp>
        <p:nvSpPr>
          <p:cNvPr id="79" name="Shape 77"/>
          <p:cNvSpPr/>
          <p:nvPr/>
        </p:nvSpPr>
        <p:spPr>
          <a:xfrm flipH="1">
            <a:off x="2376957" y="3619406"/>
            <a:ext cx="20516" cy="24450"/>
          </a:xfrm>
          <a:prstGeom prst="line">
            <a:avLst/>
          </a:prstGeom>
          <a:noFill/>
          <a:ln w="25400">
            <a:solidFill>
              <a:srgbClr val="2E5BD8"/>
            </a:solidFill>
            <a:prstDash val="solid"/>
          </a:ln>
        </p:spPr>
      </p:sp>
      <p:sp>
        <p:nvSpPr>
          <p:cNvPr id="80" name="Shape 78"/>
          <p:cNvSpPr/>
          <p:nvPr/>
        </p:nvSpPr>
        <p:spPr>
          <a:xfrm flipH="1">
            <a:off x="2357405" y="3643856"/>
            <a:ext cx="19552" cy="25227"/>
          </a:xfrm>
          <a:prstGeom prst="line">
            <a:avLst/>
          </a:prstGeom>
          <a:noFill/>
          <a:ln w="25400">
            <a:solidFill>
              <a:srgbClr val="2E5BD8"/>
            </a:solidFill>
            <a:prstDash val="solid"/>
          </a:ln>
        </p:spPr>
      </p:sp>
      <p:sp>
        <p:nvSpPr>
          <p:cNvPr id="81" name="Shape 79"/>
          <p:cNvSpPr/>
          <p:nvPr/>
        </p:nvSpPr>
        <p:spPr>
          <a:xfrm flipH="1">
            <a:off x="2338845" y="3669082"/>
            <a:ext cx="18559" cy="25966"/>
          </a:xfrm>
          <a:prstGeom prst="line">
            <a:avLst/>
          </a:prstGeom>
          <a:noFill/>
          <a:ln w="25400">
            <a:solidFill>
              <a:srgbClr val="2E5BD8"/>
            </a:solidFill>
            <a:prstDash val="solid"/>
          </a:ln>
        </p:spPr>
      </p:sp>
      <p:sp>
        <p:nvSpPr>
          <p:cNvPr id="82" name="Shape 80"/>
          <p:cNvSpPr/>
          <p:nvPr/>
        </p:nvSpPr>
        <p:spPr>
          <a:xfrm flipH="1">
            <a:off x="2321307" y="3695048"/>
            <a:ext cx="17538" cy="26666"/>
          </a:xfrm>
          <a:prstGeom prst="line">
            <a:avLst/>
          </a:prstGeom>
          <a:noFill/>
          <a:ln w="25400">
            <a:solidFill>
              <a:srgbClr val="2E5BD8"/>
            </a:solidFill>
            <a:prstDash val="solid"/>
          </a:ln>
        </p:spPr>
      </p:sp>
      <p:sp>
        <p:nvSpPr>
          <p:cNvPr id="83" name="Shape 81"/>
          <p:cNvSpPr/>
          <p:nvPr/>
        </p:nvSpPr>
        <p:spPr>
          <a:xfrm flipH="1">
            <a:off x="2304816" y="3721714"/>
            <a:ext cx="16491" cy="27326"/>
          </a:xfrm>
          <a:prstGeom prst="line">
            <a:avLst/>
          </a:prstGeom>
          <a:noFill/>
          <a:ln w="25400">
            <a:solidFill>
              <a:srgbClr val="2E5BD8"/>
            </a:solidFill>
            <a:prstDash val="solid"/>
            <a:tailEnd type="triangle"/>
          </a:ln>
        </p:spPr>
      </p:sp>
      <p:sp>
        <p:nvSpPr>
          <p:cNvPr id="84" name="Shape 82"/>
          <p:cNvSpPr/>
          <p:nvPr/>
        </p:nvSpPr>
        <p:spPr>
          <a:xfrm>
            <a:off x="3298989" y="3387191"/>
            <a:ext cx="29774" cy="11496"/>
          </a:xfrm>
          <a:prstGeom prst="line">
            <a:avLst/>
          </a:prstGeom>
          <a:noFill/>
          <a:ln w="25400">
            <a:solidFill>
              <a:srgbClr val="2E5BD8"/>
            </a:solidFill>
            <a:prstDash val="solid"/>
          </a:ln>
        </p:spPr>
      </p:sp>
      <p:sp>
        <p:nvSpPr>
          <p:cNvPr id="85" name="Shape 83"/>
          <p:cNvSpPr/>
          <p:nvPr/>
        </p:nvSpPr>
        <p:spPr>
          <a:xfrm>
            <a:off x="3328763" y="3398686"/>
            <a:ext cx="29306" cy="12642"/>
          </a:xfrm>
          <a:prstGeom prst="line">
            <a:avLst/>
          </a:prstGeom>
          <a:noFill/>
          <a:ln w="25400">
            <a:solidFill>
              <a:srgbClr val="2E5BD8"/>
            </a:solidFill>
            <a:prstDash val="solid"/>
          </a:ln>
        </p:spPr>
      </p:sp>
      <p:sp>
        <p:nvSpPr>
          <p:cNvPr id="86" name="Shape 84"/>
          <p:cNvSpPr/>
          <p:nvPr/>
        </p:nvSpPr>
        <p:spPr>
          <a:xfrm>
            <a:off x="3358070" y="3411328"/>
            <a:ext cx="28794" cy="13768"/>
          </a:xfrm>
          <a:prstGeom prst="line">
            <a:avLst/>
          </a:prstGeom>
          <a:noFill/>
          <a:ln w="25400">
            <a:solidFill>
              <a:srgbClr val="2E5BD8"/>
            </a:solidFill>
            <a:prstDash val="solid"/>
          </a:ln>
        </p:spPr>
      </p:sp>
      <p:sp>
        <p:nvSpPr>
          <p:cNvPr id="87" name="Shape 85"/>
          <p:cNvSpPr/>
          <p:nvPr/>
        </p:nvSpPr>
        <p:spPr>
          <a:xfrm>
            <a:off x="3386864" y="3425096"/>
            <a:ext cx="28239" cy="14875"/>
          </a:xfrm>
          <a:prstGeom prst="line">
            <a:avLst/>
          </a:prstGeom>
          <a:noFill/>
          <a:ln w="25400">
            <a:solidFill>
              <a:srgbClr val="2E5BD8"/>
            </a:solidFill>
            <a:prstDash val="solid"/>
          </a:ln>
        </p:spPr>
      </p:sp>
      <p:sp>
        <p:nvSpPr>
          <p:cNvPr id="88" name="Shape 86"/>
          <p:cNvSpPr/>
          <p:nvPr/>
        </p:nvSpPr>
        <p:spPr>
          <a:xfrm>
            <a:off x="3415102" y="3439971"/>
            <a:ext cx="27641" cy="15958"/>
          </a:xfrm>
          <a:prstGeom prst="line">
            <a:avLst/>
          </a:prstGeom>
          <a:noFill/>
          <a:ln w="25400">
            <a:solidFill>
              <a:srgbClr val="2E5BD8"/>
            </a:solidFill>
            <a:prstDash val="solid"/>
          </a:ln>
        </p:spPr>
      </p:sp>
      <p:sp>
        <p:nvSpPr>
          <p:cNvPr id="89" name="Shape 87"/>
          <p:cNvSpPr/>
          <p:nvPr/>
        </p:nvSpPr>
        <p:spPr>
          <a:xfrm>
            <a:off x="3442743" y="3455929"/>
            <a:ext cx="27001" cy="17018"/>
          </a:xfrm>
          <a:prstGeom prst="line">
            <a:avLst/>
          </a:prstGeom>
          <a:noFill/>
          <a:ln w="25400">
            <a:solidFill>
              <a:srgbClr val="2E5BD8"/>
            </a:solidFill>
            <a:prstDash val="solid"/>
          </a:ln>
        </p:spPr>
      </p:sp>
      <p:sp>
        <p:nvSpPr>
          <p:cNvPr id="90" name="Shape 88"/>
          <p:cNvSpPr/>
          <p:nvPr/>
        </p:nvSpPr>
        <p:spPr>
          <a:xfrm>
            <a:off x="3469744" y="3472947"/>
            <a:ext cx="26321" cy="18052"/>
          </a:xfrm>
          <a:prstGeom prst="line">
            <a:avLst/>
          </a:prstGeom>
          <a:noFill/>
          <a:ln w="25400">
            <a:solidFill>
              <a:srgbClr val="2E5BD8"/>
            </a:solidFill>
            <a:prstDash val="solid"/>
          </a:ln>
        </p:spPr>
      </p:sp>
      <p:sp>
        <p:nvSpPr>
          <p:cNvPr id="91" name="Shape 89"/>
          <p:cNvSpPr/>
          <p:nvPr/>
        </p:nvSpPr>
        <p:spPr>
          <a:xfrm>
            <a:off x="3496065" y="3490999"/>
            <a:ext cx="25601" cy="19059"/>
          </a:xfrm>
          <a:prstGeom prst="line">
            <a:avLst/>
          </a:prstGeom>
          <a:noFill/>
          <a:ln w="25400">
            <a:solidFill>
              <a:srgbClr val="2E5BD8"/>
            </a:solidFill>
            <a:prstDash val="solid"/>
          </a:ln>
        </p:spPr>
      </p:sp>
      <p:sp>
        <p:nvSpPr>
          <p:cNvPr id="92" name="Shape 90"/>
          <p:cNvSpPr/>
          <p:nvPr/>
        </p:nvSpPr>
        <p:spPr>
          <a:xfrm>
            <a:off x="3521666" y="3510058"/>
            <a:ext cx="24843" cy="20038"/>
          </a:xfrm>
          <a:prstGeom prst="line">
            <a:avLst/>
          </a:prstGeom>
          <a:noFill/>
          <a:ln w="25400">
            <a:solidFill>
              <a:srgbClr val="2E5BD8"/>
            </a:solidFill>
            <a:prstDash val="solid"/>
          </a:ln>
        </p:spPr>
      </p:sp>
      <p:sp>
        <p:nvSpPr>
          <p:cNvPr id="93" name="Shape 91"/>
          <p:cNvSpPr/>
          <p:nvPr/>
        </p:nvSpPr>
        <p:spPr>
          <a:xfrm>
            <a:off x="3546508" y="3530096"/>
            <a:ext cx="24047" cy="20986"/>
          </a:xfrm>
          <a:prstGeom prst="line">
            <a:avLst/>
          </a:prstGeom>
          <a:noFill/>
          <a:ln w="25400">
            <a:solidFill>
              <a:srgbClr val="2E5BD8"/>
            </a:solidFill>
            <a:prstDash val="solid"/>
          </a:ln>
        </p:spPr>
      </p:sp>
      <p:sp>
        <p:nvSpPr>
          <p:cNvPr id="94" name="Shape 92"/>
          <p:cNvSpPr/>
          <p:nvPr/>
        </p:nvSpPr>
        <p:spPr>
          <a:xfrm>
            <a:off x="3570556" y="3551082"/>
            <a:ext cx="23215" cy="21902"/>
          </a:xfrm>
          <a:prstGeom prst="line">
            <a:avLst/>
          </a:prstGeom>
          <a:noFill/>
          <a:ln w="25400">
            <a:solidFill>
              <a:srgbClr val="2E5BD8"/>
            </a:solidFill>
            <a:prstDash val="solid"/>
          </a:ln>
        </p:spPr>
      </p:sp>
      <p:sp>
        <p:nvSpPr>
          <p:cNvPr id="95" name="Shape 93"/>
          <p:cNvSpPr/>
          <p:nvPr/>
        </p:nvSpPr>
        <p:spPr>
          <a:xfrm>
            <a:off x="3593771" y="3572984"/>
            <a:ext cx="22349" cy="22786"/>
          </a:xfrm>
          <a:prstGeom prst="line">
            <a:avLst/>
          </a:prstGeom>
          <a:noFill/>
          <a:ln w="25400">
            <a:solidFill>
              <a:srgbClr val="2E5BD8"/>
            </a:solidFill>
            <a:prstDash val="solid"/>
          </a:ln>
        </p:spPr>
      </p:sp>
      <p:sp>
        <p:nvSpPr>
          <p:cNvPr id="96" name="Shape 94"/>
          <p:cNvSpPr/>
          <p:nvPr/>
        </p:nvSpPr>
        <p:spPr>
          <a:xfrm>
            <a:off x="3616119" y="3595771"/>
            <a:ext cx="21448" cy="23636"/>
          </a:xfrm>
          <a:prstGeom prst="line">
            <a:avLst/>
          </a:prstGeom>
          <a:noFill/>
          <a:ln w="25400">
            <a:solidFill>
              <a:srgbClr val="2E5BD8"/>
            </a:solidFill>
            <a:prstDash val="solid"/>
          </a:ln>
        </p:spPr>
      </p:sp>
      <p:sp>
        <p:nvSpPr>
          <p:cNvPr id="97" name="Shape 95"/>
          <p:cNvSpPr/>
          <p:nvPr/>
        </p:nvSpPr>
        <p:spPr>
          <a:xfrm>
            <a:off x="3637568" y="3619406"/>
            <a:ext cx="20516" cy="24450"/>
          </a:xfrm>
          <a:prstGeom prst="line">
            <a:avLst/>
          </a:prstGeom>
          <a:noFill/>
          <a:ln w="25400">
            <a:solidFill>
              <a:srgbClr val="2E5BD8"/>
            </a:solidFill>
            <a:prstDash val="solid"/>
          </a:ln>
        </p:spPr>
      </p:sp>
      <p:sp>
        <p:nvSpPr>
          <p:cNvPr id="98" name="Shape 96"/>
          <p:cNvSpPr/>
          <p:nvPr/>
        </p:nvSpPr>
        <p:spPr>
          <a:xfrm>
            <a:off x="3658083" y="3643856"/>
            <a:ext cx="19552" cy="25227"/>
          </a:xfrm>
          <a:prstGeom prst="line">
            <a:avLst/>
          </a:prstGeom>
          <a:noFill/>
          <a:ln w="25400">
            <a:solidFill>
              <a:srgbClr val="2E5BD8"/>
            </a:solidFill>
            <a:prstDash val="solid"/>
          </a:ln>
        </p:spPr>
      </p:sp>
      <p:sp>
        <p:nvSpPr>
          <p:cNvPr id="99" name="Shape 97"/>
          <p:cNvSpPr/>
          <p:nvPr/>
        </p:nvSpPr>
        <p:spPr>
          <a:xfrm>
            <a:off x="3677635" y="3669082"/>
            <a:ext cx="18559" cy="25966"/>
          </a:xfrm>
          <a:prstGeom prst="line">
            <a:avLst/>
          </a:prstGeom>
          <a:noFill/>
          <a:ln w="25400">
            <a:solidFill>
              <a:srgbClr val="2E5BD8"/>
            </a:solidFill>
            <a:prstDash val="solid"/>
          </a:ln>
        </p:spPr>
      </p:sp>
      <p:sp>
        <p:nvSpPr>
          <p:cNvPr id="100" name="Shape 98"/>
          <p:cNvSpPr/>
          <p:nvPr/>
        </p:nvSpPr>
        <p:spPr>
          <a:xfrm>
            <a:off x="3696195" y="3695048"/>
            <a:ext cx="17538" cy="26666"/>
          </a:xfrm>
          <a:prstGeom prst="line">
            <a:avLst/>
          </a:prstGeom>
          <a:noFill/>
          <a:ln w="25400">
            <a:solidFill>
              <a:srgbClr val="2E5BD8"/>
            </a:solidFill>
            <a:prstDash val="solid"/>
          </a:ln>
        </p:spPr>
      </p:sp>
      <p:sp>
        <p:nvSpPr>
          <p:cNvPr id="101" name="Shape 99"/>
          <p:cNvSpPr/>
          <p:nvPr/>
        </p:nvSpPr>
        <p:spPr>
          <a:xfrm>
            <a:off x="3713733" y="3721714"/>
            <a:ext cx="16491" cy="27326"/>
          </a:xfrm>
          <a:prstGeom prst="line">
            <a:avLst/>
          </a:prstGeom>
          <a:noFill/>
          <a:ln w="25400">
            <a:solidFill>
              <a:srgbClr val="2E5BD8"/>
            </a:solidFill>
            <a:prstDash val="solid"/>
            <a:tailEnd type="triangle"/>
          </a:ln>
        </p:spPr>
      </p:sp>
      <p:sp>
        <p:nvSpPr>
          <p:cNvPr id="102" name="Text 100"/>
          <p:cNvSpPr/>
          <p:nvPr/>
        </p:nvSpPr>
        <p:spPr>
          <a:xfrm>
            <a:off x="1463040" y="3127248"/>
            <a:ext cx="1463040" cy="256032"/>
          </a:xfrm>
          <a:prstGeom prst="rect">
            <a:avLst/>
          </a:prstGeom>
          <a:noFill/>
          <a:ln/>
        </p:spPr>
        <p:txBody>
          <a:bodyPr wrap="square" lIns="0" tIns="0" rIns="0" bIns="0" rtlCol="0" anchor="ctr"/>
          <a:lstStyle/>
          <a:p>
            <a:pPr algn="ctr" indent="0" marL="0">
              <a:buNone/>
            </a:pPr>
            <a:r>
              <a:rPr lang="en-US" sz="1050" b="1" dirty="0">
                <a:solidFill>
                  <a:srgbClr val="2E5BD8"/>
                </a:solidFill>
                <a:latin typeface="Calibri" pitchFamily="34" charset="0"/>
                <a:ea typeface="Calibri" pitchFamily="34" charset="-122"/>
                <a:cs typeface="Calibri" pitchFamily="34" charset="-120"/>
              </a:rPr>
              <a:t>anticlockwise</a:t>
            </a:r>
            <a:endParaRPr lang="en-US" sz="1050" dirty="0"/>
          </a:p>
        </p:txBody>
      </p:sp>
      <p:sp>
        <p:nvSpPr>
          <p:cNvPr id="103" name="Text 101"/>
          <p:cNvSpPr/>
          <p:nvPr/>
        </p:nvSpPr>
        <p:spPr>
          <a:xfrm>
            <a:off x="3200400" y="3127248"/>
            <a:ext cx="1280160" cy="256032"/>
          </a:xfrm>
          <a:prstGeom prst="rect">
            <a:avLst/>
          </a:prstGeom>
          <a:noFill/>
          <a:ln/>
        </p:spPr>
        <p:txBody>
          <a:bodyPr wrap="square" lIns="0" tIns="0" rIns="0" bIns="0" rtlCol="0" anchor="ctr"/>
          <a:lstStyle/>
          <a:p>
            <a:pPr algn="ctr" indent="0" marL="0">
              <a:buNone/>
            </a:pPr>
            <a:r>
              <a:rPr lang="en-US" sz="1050" b="1" dirty="0">
                <a:solidFill>
                  <a:srgbClr val="2E5BD8"/>
                </a:solidFill>
                <a:latin typeface="Calibri" pitchFamily="34" charset="0"/>
                <a:ea typeface="Calibri" pitchFamily="34" charset="-122"/>
                <a:cs typeface="Calibri" pitchFamily="34" charset="-120"/>
              </a:rPr>
              <a:t>clockwise</a:t>
            </a:r>
            <a:endParaRPr lang="en-US" sz="1050" dirty="0"/>
          </a:p>
        </p:txBody>
      </p:sp>
      <p:sp>
        <p:nvSpPr>
          <p:cNvPr id="104" name="Text 102"/>
          <p:cNvSpPr/>
          <p:nvPr/>
        </p:nvSpPr>
        <p:spPr>
          <a:xfrm>
            <a:off x="2377440" y="4709160"/>
            <a:ext cx="128016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pivot</a:t>
            </a:r>
            <a:endParaRPr lang="en-US" sz="1050" dirty="0"/>
          </a:p>
        </p:txBody>
      </p:sp>
      <p:sp>
        <p:nvSpPr>
          <p:cNvPr id="105" name="Shape 103"/>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106" name="Text 104"/>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Turning effects</a:t>
            </a:r>
            <a:endParaRPr lang="en-US" sz="1300" dirty="0"/>
          </a:p>
        </p:txBody>
      </p:sp>
      <p:sp>
        <p:nvSpPr>
          <p:cNvPr id="107" name="Text 105"/>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force can make an object </a:t>
            </a:r>
            <a:r>
              <a:rPr lang="en-US" sz="1150" b="1" dirty="0">
                <a:solidFill>
                  <a:srgbClr val="262B3A"/>
                </a:solidFill>
                <a:latin typeface="Calibri" pitchFamily="34" charset="0"/>
                <a:ea typeface="Calibri" pitchFamily="34" charset="-122"/>
                <a:cs typeface="Calibri" pitchFamily="34" charset="-120"/>
              </a:rPr>
              <a:t>rotate</a:t>
            </a:r>
            <a:r>
              <a:rPr lang="en-US" sz="1150" dirty="0">
                <a:solidFill>
                  <a:srgbClr val="262B3A"/>
                </a:solidFill>
                <a:latin typeface="Calibri" pitchFamily="34" charset="0"/>
                <a:ea typeface="Calibri" pitchFamily="34" charset="-122"/>
                <a:cs typeface="Calibri" pitchFamily="34" charset="-120"/>
              </a:rPr>
              <a:t> (turn) about a fixed point called the </a:t>
            </a:r>
            <a:r>
              <a:rPr lang="en-US" sz="1150" b="1" dirty="0">
                <a:solidFill>
                  <a:srgbClr val="262B3A"/>
                </a:solidFill>
                <a:latin typeface="Calibri" pitchFamily="34" charset="0"/>
                <a:ea typeface="Calibri" pitchFamily="34" charset="-122"/>
                <a:cs typeface="Calibri" pitchFamily="34" charset="-120"/>
              </a:rPr>
              <a:t>pivot</a:t>
            </a:r>
            <a:r>
              <a:rPr lang="en-US" sz="1150" dirty="0">
                <a:solidFill>
                  <a:srgbClr val="262B3A"/>
                </a:solidFill>
                <a:latin typeface="Calibri" pitchFamily="34" charset="0"/>
                <a:ea typeface="Calibri" pitchFamily="34" charset="-122"/>
                <a:cs typeface="Calibri" pitchFamily="34" charset="-120"/>
              </a:rPr>
              <a:t> (or fulcrum).</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Examples: opening a door, a spanner turning a nut, a see-saw, a wheelbarrow, scissors, pedals.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turning effect can be </a:t>
            </a:r>
            <a:r>
              <a:rPr lang="en-US" sz="1150" b="1" dirty="0">
                <a:solidFill>
                  <a:srgbClr val="262B3A"/>
                </a:solidFill>
                <a:latin typeface="Calibri" pitchFamily="34" charset="0"/>
                <a:ea typeface="Calibri" pitchFamily="34" charset="-122"/>
                <a:cs typeface="Calibri" pitchFamily="34" charset="-120"/>
              </a:rPr>
              <a:t>clockwise</a:t>
            </a:r>
            <a:r>
              <a:rPr lang="en-US" sz="1150" dirty="0">
                <a:solidFill>
                  <a:srgbClr val="262B3A"/>
                </a:solidFill>
                <a:latin typeface="Calibri" pitchFamily="34" charset="0"/>
                <a:ea typeface="Calibri" pitchFamily="34" charset="-122"/>
                <a:cs typeface="Calibri" pitchFamily="34" charset="-120"/>
              </a:rPr>
              <a:t> or </a:t>
            </a:r>
            <a:r>
              <a:rPr lang="en-US" sz="1150" b="1" dirty="0">
                <a:solidFill>
                  <a:srgbClr val="262B3A"/>
                </a:solidFill>
                <a:latin typeface="Calibri" pitchFamily="34" charset="0"/>
                <a:ea typeface="Calibri" pitchFamily="34" charset="-122"/>
                <a:cs typeface="Calibri" pitchFamily="34" charset="-120"/>
              </a:rPr>
              <a:t>anticlockwise</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turning effect is </a:t>
            </a:r>
            <a:r>
              <a:rPr lang="en-US" sz="1150" b="1" dirty="0">
                <a:solidFill>
                  <a:srgbClr val="262B3A"/>
                </a:solidFill>
                <a:latin typeface="Calibri" pitchFamily="34" charset="0"/>
                <a:ea typeface="Calibri" pitchFamily="34" charset="-122"/>
                <a:cs typeface="Calibri" pitchFamily="34" charset="-120"/>
              </a:rPr>
              <a:t>bigger</a:t>
            </a:r>
            <a:r>
              <a:rPr lang="en-US" sz="1150" dirty="0">
                <a:solidFill>
                  <a:srgbClr val="262B3A"/>
                </a:solidFill>
                <a:latin typeface="Calibri" pitchFamily="34" charset="0"/>
                <a:ea typeface="Calibri" pitchFamily="34" charset="-122"/>
                <a:cs typeface="Calibri" pitchFamily="34" charset="-120"/>
              </a:rPr>
              <a:t> if the force is bigger or acts </a:t>
            </a:r>
            <a:r>
              <a:rPr lang="en-US" sz="1150" b="1" dirty="0">
                <a:solidFill>
                  <a:srgbClr val="262B3A"/>
                </a:solidFill>
                <a:latin typeface="Calibri" pitchFamily="34" charset="0"/>
                <a:ea typeface="Calibri" pitchFamily="34" charset="-122"/>
                <a:cs typeface="Calibri" pitchFamily="34" charset="-120"/>
              </a:rPr>
              <a:t>further from the pivot</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108" name="Shape 106"/>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109" name="Text 107"/>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Explain it in steps</a:t>
            </a:r>
            <a:endParaRPr lang="en-US" sz="1300" dirty="0"/>
          </a:p>
        </p:txBody>
      </p:sp>
      <p:sp>
        <p:nvSpPr>
          <p:cNvPr id="110" name="Text 108"/>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Why is a long spanner better for undoing a tight nut?</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Distance   </a:t>
            </a:r>
            <a:r>
              <a:rPr lang="en-US" sz="1100" dirty="0">
                <a:solidFill>
                  <a:srgbClr val="262B3A"/>
                </a:solidFill>
                <a:latin typeface="Calibri" pitchFamily="34" charset="0"/>
                <a:ea typeface="Calibri" pitchFamily="34" charset="-122"/>
                <a:cs typeface="Calibri" pitchFamily="34" charset="-120"/>
              </a:rPr>
              <a:t>you push further from the pivot (the nut)</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Effect   </a:t>
            </a:r>
            <a:r>
              <a:rPr lang="en-US" sz="1100" dirty="0">
                <a:solidFill>
                  <a:srgbClr val="262B3A"/>
                </a:solidFill>
                <a:latin typeface="Calibri" pitchFamily="34" charset="0"/>
                <a:ea typeface="Calibri" pitchFamily="34" charset="-122"/>
                <a:cs typeface="Calibri" pitchFamily="34" charset="-120"/>
              </a:rPr>
              <a:t>same force gives a bigger turning effect</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Or   </a:t>
            </a:r>
            <a:r>
              <a:rPr lang="en-US" sz="1100" dirty="0">
                <a:solidFill>
                  <a:srgbClr val="262B3A"/>
                </a:solidFill>
                <a:latin typeface="Calibri" pitchFamily="34" charset="0"/>
                <a:ea typeface="Calibri" pitchFamily="34" charset="-122"/>
                <a:cs typeface="Calibri" pitchFamily="34" charset="-120"/>
              </a:rPr>
              <a:t>a smaller force gives the same turning effect</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easier to make the nut turn</a:t>
            </a:r>
            <a:endParaRPr lang="en-US" sz="1100" dirty="0"/>
          </a:p>
        </p:txBody>
      </p:sp>
      <p:sp>
        <p:nvSpPr>
          <p:cNvPr id="111" name="Shape 109"/>
          <p:cNvSpPr/>
          <p:nvPr/>
        </p:nvSpPr>
        <p:spPr>
          <a:xfrm>
            <a:off x="411480" y="5833872"/>
            <a:ext cx="11368735" cy="530352"/>
          </a:xfrm>
          <a:prstGeom prst="rect">
            <a:avLst/>
          </a:prstGeom>
          <a:solidFill>
            <a:srgbClr val="FFF4E0"/>
          </a:solidFill>
          <a:ln w="6350">
            <a:solidFill>
              <a:srgbClr val="F1D9A8"/>
            </a:solidFill>
            <a:prstDash val="solid"/>
          </a:ln>
        </p:spPr>
      </p:sp>
      <p:sp>
        <p:nvSpPr>
          <p:cNvPr id="112" name="Shape 110"/>
          <p:cNvSpPr/>
          <p:nvPr/>
        </p:nvSpPr>
        <p:spPr>
          <a:xfrm>
            <a:off x="411480" y="5833872"/>
            <a:ext cx="82296" cy="530352"/>
          </a:xfrm>
          <a:prstGeom prst="rect">
            <a:avLst/>
          </a:prstGeom>
          <a:solidFill>
            <a:srgbClr val="E39A2F"/>
          </a:solidFill>
          <a:ln w="12700">
            <a:solidFill>
              <a:srgbClr val="E39A2F"/>
            </a:solidFill>
            <a:prstDash val="solid"/>
          </a:ln>
        </p:spPr>
      </p:sp>
      <p:sp>
        <p:nvSpPr>
          <p:cNvPr id="113" name="Text 111"/>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Explain why door handles are fixed on the side of the door furthest from the hinges.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The moment of a force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9.7P • moment = force × distance normal to the direction of the force</a:t>
            </a:r>
            <a:endParaRPr lang="en-US" sz="1100" dirty="0"/>
          </a:p>
        </p:txBody>
      </p:sp>
      <p:sp>
        <p:nvSpPr>
          <p:cNvPr id="6" name="Shape 4"/>
          <p:cNvSpPr/>
          <p:nvPr/>
        </p:nvSpPr>
        <p:spPr>
          <a:xfrm>
            <a:off x="10591495" y="292608"/>
            <a:ext cx="1188720" cy="274320"/>
          </a:xfrm>
          <a:prstGeom prst="roundRect">
            <a:avLst>
              <a:gd name="adj" fmla="val 50000"/>
            </a:avLst>
          </a:prstGeom>
          <a:solidFill>
            <a:srgbClr val="2E5BD8"/>
          </a:solidFill>
          <a:ln w="12700">
            <a:solidFill>
              <a:srgbClr val="2E5BD8"/>
            </a:solidFill>
            <a:prstDash val="solid"/>
          </a:ln>
        </p:spPr>
      </p:sp>
      <p:sp>
        <p:nvSpPr>
          <p:cNvPr id="7" name="Text 5"/>
          <p:cNvSpPr/>
          <p:nvPr/>
        </p:nvSpPr>
        <p:spPr>
          <a:xfrm>
            <a:off x="10591495" y="292608"/>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PHYSICS ONLY</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9 Forces and their effects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9.7P  |  20</a:t>
            </a:r>
            <a:endParaRPr lang="en-US" sz="1000" dirty="0"/>
          </a:p>
        </p:txBody>
      </p:sp>
      <p:sp>
        <p:nvSpPr>
          <p:cNvPr id="10" name="Shape 8"/>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spanner drawn to scale: d is measured from the pivot at 90° to the force</a:t>
            </a:r>
            <a:endParaRPr lang="en-US" sz="1000" dirty="0"/>
          </a:p>
        </p:txBody>
      </p:sp>
      <p:sp>
        <p:nvSpPr>
          <p:cNvPr id="12" name="Shape 10"/>
          <p:cNvSpPr/>
          <p:nvPr/>
        </p:nvSpPr>
        <p:spPr>
          <a:xfrm>
            <a:off x="896112" y="2487168"/>
            <a:ext cx="585216" cy="512064"/>
          </a:xfrm>
          <a:prstGeom prst="hexagon">
            <a:avLst/>
          </a:prstGeom>
          <a:solidFill>
            <a:srgbClr val="8C96A8"/>
          </a:solidFill>
          <a:ln w="12700">
            <a:solidFill>
              <a:srgbClr val="4A5262"/>
            </a:solidFill>
            <a:prstDash val="solid"/>
          </a:ln>
        </p:spPr>
      </p:sp>
      <p:sp>
        <p:nvSpPr>
          <p:cNvPr id="13" name="Shape 11"/>
          <p:cNvSpPr/>
          <p:nvPr/>
        </p:nvSpPr>
        <p:spPr>
          <a:xfrm>
            <a:off x="1133856" y="2688336"/>
            <a:ext cx="109728" cy="109728"/>
          </a:xfrm>
          <a:prstGeom prst="ellipse">
            <a:avLst/>
          </a:prstGeom>
          <a:solidFill>
            <a:srgbClr val="1A2340"/>
          </a:solidFill>
          <a:ln w="12700">
            <a:solidFill>
              <a:srgbClr val="1A2340"/>
            </a:solidFill>
            <a:prstDash val="solid"/>
          </a:ln>
        </p:spPr>
      </p:sp>
      <p:sp>
        <p:nvSpPr>
          <p:cNvPr id="14" name="Shape 12"/>
          <p:cNvSpPr/>
          <p:nvPr/>
        </p:nvSpPr>
        <p:spPr>
          <a:xfrm>
            <a:off x="1463040" y="2633472"/>
            <a:ext cx="3611880" cy="219456"/>
          </a:xfrm>
          <a:prstGeom prst="rect">
            <a:avLst/>
          </a:prstGeom>
          <a:solidFill>
            <a:srgbClr val="6B7385"/>
          </a:solidFill>
          <a:ln w="12700">
            <a:solidFill>
              <a:srgbClr val="4A5262"/>
            </a:solidFill>
            <a:prstDash val="solid"/>
          </a:ln>
        </p:spPr>
      </p:sp>
      <p:sp>
        <p:nvSpPr>
          <p:cNvPr id="15" name="Shape 13"/>
          <p:cNvSpPr/>
          <p:nvPr/>
        </p:nvSpPr>
        <p:spPr>
          <a:xfrm>
            <a:off x="4846320" y="2852928"/>
            <a:ext cx="91" cy="1097280"/>
          </a:xfrm>
          <a:prstGeom prst="line">
            <a:avLst/>
          </a:prstGeom>
          <a:noFill/>
          <a:ln w="38100">
            <a:solidFill>
              <a:srgbClr val="C8414C"/>
            </a:solidFill>
            <a:prstDash val="solid"/>
            <a:tailEnd type="triangle"/>
          </a:ln>
        </p:spPr>
      </p:sp>
      <p:sp>
        <p:nvSpPr>
          <p:cNvPr id="16" name="Text 14"/>
          <p:cNvSpPr/>
          <p:nvPr/>
        </p:nvSpPr>
        <p:spPr>
          <a:xfrm>
            <a:off x="4297680" y="3977640"/>
            <a:ext cx="1097280" cy="274320"/>
          </a:xfrm>
          <a:prstGeom prst="rect">
            <a:avLst/>
          </a:prstGeom>
          <a:noFill/>
          <a:ln/>
        </p:spPr>
        <p:txBody>
          <a:bodyPr wrap="square" lIns="0" tIns="0" rIns="0" bIns="0" rtlCol="0" anchor="ctr"/>
          <a:lstStyle/>
          <a:p>
            <a:pPr algn="ctr" indent="0" marL="0">
              <a:buNone/>
            </a:pPr>
            <a:r>
              <a:rPr lang="en-US" sz="1100" b="1" dirty="0">
                <a:solidFill>
                  <a:srgbClr val="C8414C"/>
                </a:solidFill>
                <a:latin typeface="Calibri" pitchFamily="34" charset="0"/>
                <a:ea typeface="Calibri" pitchFamily="34" charset="-122"/>
                <a:cs typeface="Calibri" pitchFamily="34" charset="-120"/>
              </a:rPr>
              <a:t>F = 40 N</a:t>
            </a:r>
            <a:endParaRPr lang="en-US" sz="1100" dirty="0"/>
          </a:p>
        </p:txBody>
      </p:sp>
      <p:sp>
        <p:nvSpPr>
          <p:cNvPr id="17" name="Shape 15"/>
          <p:cNvSpPr/>
          <p:nvPr/>
        </p:nvSpPr>
        <p:spPr>
          <a:xfrm>
            <a:off x="4846320" y="2286000"/>
            <a:ext cx="91" cy="2194560"/>
          </a:xfrm>
          <a:prstGeom prst="line">
            <a:avLst/>
          </a:prstGeom>
          <a:noFill/>
          <a:ln w="12700">
            <a:solidFill>
              <a:srgbClr val="C8414C"/>
            </a:solidFill>
            <a:prstDash val="dash"/>
          </a:ln>
        </p:spPr>
      </p:sp>
      <p:sp>
        <p:nvSpPr>
          <p:cNvPr id="18" name="Shape 16"/>
          <p:cNvSpPr/>
          <p:nvPr/>
        </p:nvSpPr>
        <p:spPr>
          <a:xfrm>
            <a:off x="1188720" y="4343400"/>
            <a:ext cx="3657600" cy="91"/>
          </a:xfrm>
          <a:prstGeom prst="line">
            <a:avLst/>
          </a:prstGeom>
          <a:noFill/>
          <a:ln w="19050">
            <a:solidFill>
              <a:srgbClr val="1A2340"/>
            </a:solidFill>
            <a:prstDash val="solid"/>
            <a:headEnd type="triangle"/>
            <a:tailEnd type="triangle"/>
          </a:ln>
        </p:spPr>
      </p:sp>
      <p:sp>
        <p:nvSpPr>
          <p:cNvPr id="19" name="Shape 17"/>
          <p:cNvSpPr/>
          <p:nvPr/>
        </p:nvSpPr>
        <p:spPr>
          <a:xfrm>
            <a:off x="1188720" y="2926080"/>
            <a:ext cx="91" cy="1554480"/>
          </a:xfrm>
          <a:prstGeom prst="line">
            <a:avLst/>
          </a:prstGeom>
          <a:noFill/>
          <a:ln w="12700">
            <a:solidFill>
              <a:srgbClr val="1A2340"/>
            </a:solidFill>
            <a:prstDash val="dash"/>
          </a:ln>
        </p:spPr>
      </p:sp>
      <p:sp>
        <p:nvSpPr>
          <p:cNvPr id="20" name="Text 18"/>
          <p:cNvSpPr/>
          <p:nvPr/>
        </p:nvSpPr>
        <p:spPr>
          <a:xfrm>
            <a:off x="1188720" y="4389120"/>
            <a:ext cx="3657600" cy="256032"/>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d = 0.25 m (at 90° to the force)</a:t>
            </a:r>
            <a:endParaRPr lang="en-US" sz="1100" dirty="0"/>
          </a:p>
        </p:txBody>
      </p:sp>
      <p:sp>
        <p:nvSpPr>
          <p:cNvPr id="21" name="Shape 19"/>
          <p:cNvSpPr/>
          <p:nvPr/>
        </p:nvSpPr>
        <p:spPr>
          <a:xfrm flipV="1">
            <a:off x="733414" y="2318869"/>
            <a:ext cx="39125" cy="42284"/>
          </a:xfrm>
          <a:prstGeom prst="line">
            <a:avLst/>
          </a:prstGeom>
          <a:noFill/>
          <a:ln w="28575">
            <a:solidFill>
              <a:srgbClr val="2E5BD8"/>
            </a:solidFill>
            <a:prstDash val="solid"/>
          </a:ln>
        </p:spPr>
      </p:sp>
      <p:sp>
        <p:nvSpPr>
          <p:cNvPr id="22" name="Shape 20"/>
          <p:cNvSpPr/>
          <p:nvPr/>
        </p:nvSpPr>
        <p:spPr>
          <a:xfrm flipV="1">
            <a:off x="772539" y="2280571"/>
            <a:ext cx="43035" cy="38298"/>
          </a:xfrm>
          <a:prstGeom prst="line">
            <a:avLst/>
          </a:prstGeom>
          <a:noFill/>
          <a:ln w="28575">
            <a:solidFill>
              <a:srgbClr val="2E5BD8"/>
            </a:solidFill>
            <a:prstDash val="solid"/>
          </a:ln>
        </p:spPr>
      </p:sp>
      <p:sp>
        <p:nvSpPr>
          <p:cNvPr id="23" name="Shape 21"/>
          <p:cNvSpPr/>
          <p:nvPr/>
        </p:nvSpPr>
        <p:spPr>
          <a:xfrm flipV="1">
            <a:off x="815574" y="2246619"/>
            <a:ext cx="46540" cy="33952"/>
          </a:xfrm>
          <a:prstGeom prst="line">
            <a:avLst/>
          </a:prstGeom>
          <a:noFill/>
          <a:ln w="28575">
            <a:solidFill>
              <a:srgbClr val="2E5BD8"/>
            </a:solidFill>
            <a:prstDash val="solid"/>
          </a:ln>
        </p:spPr>
      </p:sp>
      <p:sp>
        <p:nvSpPr>
          <p:cNvPr id="24" name="Shape 22"/>
          <p:cNvSpPr/>
          <p:nvPr/>
        </p:nvSpPr>
        <p:spPr>
          <a:xfrm flipV="1">
            <a:off x="862114" y="2217333"/>
            <a:ext cx="49609" cy="29286"/>
          </a:xfrm>
          <a:prstGeom prst="line">
            <a:avLst/>
          </a:prstGeom>
          <a:noFill/>
          <a:ln w="28575">
            <a:solidFill>
              <a:srgbClr val="2E5BD8"/>
            </a:solidFill>
            <a:prstDash val="solid"/>
          </a:ln>
        </p:spPr>
      </p:sp>
      <p:sp>
        <p:nvSpPr>
          <p:cNvPr id="25" name="Shape 23"/>
          <p:cNvSpPr/>
          <p:nvPr/>
        </p:nvSpPr>
        <p:spPr>
          <a:xfrm flipV="1">
            <a:off x="911722" y="2192987"/>
            <a:ext cx="52211" cy="24346"/>
          </a:xfrm>
          <a:prstGeom prst="line">
            <a:avLst/>
          </a:prstGeom>
          <a:noFill/>
          <a:ln w="28575">
            <a:solidFill>
              <a:srgbClr val="2E5BD8"/>
            </a:solidFill>
            <a:prstDash val="solid"/>
          </a:ln>
        </p:spPr>
      </p:sp>
      <p:sp>
        <p:nvSpPr>
          <p:cNvPr id="26" name="Shape 24"/>
          <p:cNvSpPr/>
          <p:nvPr/>
        </p:nvSpPr>
        <p:spPr>
          <a:xfrm flipV="1">
            <a:off x="963933" y="2173809"/>
            <a:ext cx="54322" cy="19177"/>
          </a:xfrm>
          <a:prstGeom prst="line">
            <a:avLst/>
          </a:prstGeom>
          <a:noFill/>
          <a:ln w="28575">
            <a:solidFill>
              <a:srgbClr val="2E5BD8"/>
            </a:solidFill>
            <a:prstDash val="solid"/>
          </a:ln>
        </p:spPr>
      </p:sp>
      <p:sp>
        <p:nvSpPr>
          <p:cNvPr id="27" name="Shape 25"/>
          <p:cNvSpPr/>
          <p:nvPr/>
        </p:nvSpPr>
        <p:spPr>
          <a:xfrm flipV="1">
            <a:off x="1018256" y="2159981"/>
            <a:ext cx="55924" cy="13828"/>
          </a:xfrm>
          <a:prstGeom prst="line">
            <a:avLst/>
          </a:prstGeom>
          <a:noFill/>
          <a:ln w="28575">
            <a:solidFill>
              <a:srgbClr val="2E5BD8"/>
            </a:solidFill>
            <a:prstDash val="solid"/>
          </a:ln>
        </p:spPr>
      </p:sp>
      <p:sp>
        <p:nvSpPr>
          <p:cNvPr id="28" name="Shape 26"/>
          <p:cNvSpPr/>
          <p:nvPr/>
        </p:nvSpPr>
        <p:spPr>
          <a:xfrm flipV="1">
            <a:off x="1074180" y="2151632"/>
            <a:ext cx="57000" cy="8349"/>
          </a:xfrm>
          <a:prstGeom prst="line">
            <a:avLst/>
          </a:prstGeom>
          <a:noFill/>
          <a:ln w="28575">
            <a:solidFill>
              <a:srgbClr val="2E5BD8"/>
            </a:solidFill>
            <a:prstDash val="solid"/>
          </a:ln>
        </p:spPr>
      </p:sp>
      <p:sp>
        <p:nvSpPr>
          <p:cNvPr id="29" name="Shape 27"/>
          <p:cNvSpPr/>
          <p:nvPr/>
        </p:nvSpPr>
        <p:spPr>
          <a:xfrm flipV="1">
            <a:off x="1131179" y="2148840"/>
            <a:ext cx="57541" cy="2792"/>
          </a:xfrm>
          <a:prstGeom prst="line">
            <a:avLst/>
          </a:prstGeom>
          <a:noFill/>
          <a:ln w="28575">
            <a:solidFill>
              <a:srgbClr val="2E5BD8"/>
            </a:solidFill>
            <a:prstDash val="solid"/>
          </a:ln>
        </p:spPr>
      </p:sp>
      <p:sp>
        <p:nvSpPr>
          <p:cNvPr id="30" name="Shape 28"/>
          <p:cNvSpPr/>
          <p:nvPr/>
        </p:nvSpPr>
        <p:spPr>
          <a:xfrm>
            <a:off x="1188720" y="2148840"/>
            <a:ext cx="57541" cy="2792"/>
          </a:xfrm>
          <a:prstGeom prst="line">
            <a:avLst/>
          </a:prstGeom>
          <a:noFill/>
          <a:ln w="28575">
            <a:solidFill>
              <a:srgbClr val="2E5BD8"/>
            </a:solidFill>
            <a:prstDash val="solid"/>
          </a:ln>
        </p:spPr>
      </p:sp>
      <p:sp>
        <p:nvSpPr>
          <p:cNvPr id="31" name="Shape 29"/>
          <p:cNvSpPr/>
          <p:nvPr/>
        </p:nvSpPr>
        <p:spPr>
          <a:xfrm>
            <a:off x="1246261" y="2151632"/>
            <a:ext cx="57000" cy="8349"/>
          </a:xfrm>
          <a:prstGeom prst="line">
            <a:avLst/>
          </a:prstGeom>
          <a:noFill/>
          <a:ln w="28575">
            <a:solidFill>
              <a:srgbClr val="2E5BD8"/>
            </a:solidFill>
            <a:prstDash val="solid"/>
          </a:ln>
        </p:spPr>
      </p:sp>
      <p:sp>
        <p:nvSpPr>
          <p:cNvPr id="32" name="Shape 30"/>
          <p:cNvSpPr/>
          <p:nvPr/>
        </p:nvSpPr>
        <p:spPr>
          <a:xfrm>
            <a:off x="1303260" y="2159981"/>
            <a:ext cx="55924" cy="13828"/>
          </a:xfrm>
          <a:prstGeom prst="line">
            <a:avLst/>
          </a:prstGeom>
          <a:noFill/>
          <a:ln w="28575">
            <a:solidFill>
              <a:srgbClr val="2E5BD8"/>
            </a:solidFill>
            <a:prstDash val="solid"/>
          </a:ln>
        </p:spPr>
      </p:sp>
      <p:sp>
        <p:nvSpPr>
          <p:cNvPr id="33" name="Shape 31"/>
          <p:cNvSpPr/>
          <p:nvPr/>
        </p:nvSpPr>
        <p:spPr>
          <a:xfrm>
            <a:off x="1359184" y="2173809"/>
            <a:ext cx="54322" cy="19177"/>
          </a:xfrm>
          <a:prstGeom prst="line">
            <a:avLst/>
          </a:prstGeom>
          <a:noFill/>
          <a:ln w="28575">
            <a:solidFill>
              <a:srgbClr val="2E5BD8"/>
            </a:solidFill>
            <a:prstDash val="solid"/>
          </a:ln>
        </p:spPr>
      </p:sp>
      <p:sp>
        <p:nvSpPr>
          <p:cNvPr id="34" name="Shape 32"/>
          <p:cNvSpPr/>
          <p:nvPr/>
        </p:nvSpPr>
        <p:spPr>
          <a:xfrm>
            <a:off x="1413507" y="2192987"/>
            <a:ext cx="52211" cy="24346"/>
          </a:xfrm>
          <a:prstGeom prst="line">
            <a:avLst/>
          </a:prstGeom>
          <a:noFill/>
          <a:ln w="28575">
            <a:solidFill>
              <a:srgbClr val="2E5BD8"/>
            </a:solidFill>
            <a:prstDash val="solid"/>
          </a:ln>
        </p:spPr>
      </p:sp>
      <p:sp>
        <p:nvSpPr>
          <p:cNvPr id="35" name="Shape 33"/>
          <p:cNvSpPr/>
          <p:nvPr/>
        </p:nvSpPr>
        <p:spPr>
          <a:xfrm>
            <a:off x="1465718" y="2217333"/>
            <a:ext cx="49609" cy="29286"/>
          </a:xfrm>
          <a:prstGeom prst="line">
            <a:avLst/>
          </a:prstGeom>
          <a:noFill/>
          <a:ln w="28575">
            <a:solidFill>
              <a:srgbClr val="2E5BD8"/>
            </a:solidFill>
            <a:prstDash val="solid"/>
          </a:ln>
        </p:spPr>
      </p:sp>
      <p:sp>
        <p:nvSpPr>
          <p:cNvPr id="36" name="Shape 34"/>
          <p:cNvSpPr/>
          <p:nvPr/>
        </p:nvSpPr>
        <p:spPr>
          <a:xfrm>
            <a:off x="1515326" y="2246619"/>
            <a:ext cx="46540" cy="33952"/>
          </a:xfrm>
          <a:prstGeom prst="line">
            <a:avLst/>
          </a:prstGeom>
          <a:noFill/>
          <a:ln w="28575">
            <a:solidFill>
              <a:srgbClr val="2E5BD8"/>
            </a:solidFill>
            <a:prstDash val="solid"/>
          </a:ln>
        </p:spPr>
      </p:sp>
      <p:sp>
        <p:nvSpPr>
          <p:cNvPr id="37" name="Shape 35"/>
          <p:cNvSpPr/>
          <p:nvPr/>
        </p:nvSpPr>
        <p:spPr>
          <a:xfrm>
            <a:off x="1561866" y="2280571"/>
            <a:ext cx="43035" cy="38298"/>
          </a:xfrm>
          <a:prstGeom prst="line">
            <a:avLst/>
          </a:prstGeom>
          <a:noFill/>
          <a:ln w="28575">
            <a:solidFill>
              <a:srgbClr val="2E5BD8"/>
            </a:solidFill>
            <a:prstDash val="solid"/>
          </a:ln>
        </p:spPr>
      </p:sp>
      <p:sp>
        <p:nvSpPr>
          <p:cNvPr id="38" name="Shape 36"/>
          <p:cNvSpPr/>
          <p:nvPr/>
        </p:nvSpPr>
        <p:spPr>
          <a:xfrm>
            <a:off x="1604901" y="2318869"/>
            <a:ext cx="39125" cy="42284"/>
          </a:xfrm>
          <a:prstGeom prst="line">
            <a:avLst/>
          </a:prstGeom>
          <a:noFill/>
          <a:ln w="28575">
            <a:solidFill>
              <a:srgbClr val="2E5BD8"/>
            </a:solidFill>
            <a:prstDash val="solid"/>
            <a:tailEnd type="triangle"/>
          </a:ln>
        </p:spPr>
      </p:sp>
      <p:sp>
        <p:nvSpPr>
          <p:cNvPr id="39" name="Text 37"/>
          <p:cNvSpPr/>
          <p:nvPr/>
        </p:nvSpPr>
        <p:spPr>
          <a:xfrm>
            <a:off x="640080" y="1783080"/>
            <a:ext cx="1097280" cy="256032"/>
          </a:xfrm>
          <a:prstGeom prst="rect">
            <a:avLst/>
          </a:prstGeom>
          <a:noFill/>
          <a:ln/>
        </p:spPr>
        <p:txBody>
          <a:bodyPr wrap="square" lIns="0" tIns="0" rIns="0" bIns="0" rtlCol="0" anchor="ctr"/>
          <a:lstStyle/>
          <a:p>
            <a:pPr algn="ctr" indent="0" marL="0">
              <a:buNone/>
            </a:pPr>
            <a:r>
              <a:rPr lang="en-US" sz="1050" b="1" dirty="0">
                <a:solidFill>
                  <a:srgbClr val="2E5BD8"/>
                </a:solidFill>
                <a:latin typeface="Calibri" pitchFamily="34" charset="0"/>
                <a:ea typeface="Calibri" pitchFamily="34" charset="-122"/>
                <a:cs typeface="Calibri" pitchFamily="34" charset="-120"/>
              </a:rPr>
              <a:t>clockwise</a:t>
            </a:r>
            <a:endParaRPr lang="en-US" sz="1050" dirty="0"/>
          </a:p>
        </p:txBody>
      </p:sp>
      <p:sp>
        <p:nvSpPr>
          <p:cNvPr id="40" name="Text 38"/>
          <p:cNvSpPr/>
          <p:nvPr/>
        </p:nvSpPr>
        <p:spPr>
          <a:xfrm>
            <a:off x="411480" y="3017520"/>
            <a:ext cx="64008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pivot</a:t>
            </a:r>
            <a:endParaRPr lang="en-US" sz="1050" dirty="0"/>
          </a:p>
        </p:txBody>
      </p:sp>
      <p:sp>
        <p:nvSpPr>
          <p:cNvPr id="41" name="Shape 39"/>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42" name="Text 40"/>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Calculating a moment</a:t>
            </a:r>
            <a:endParaRPr lang="en-US" sz="1300" dirty="0"/>
          </a:p>
        </p:txBody>
      </p:sp>
      <p:sp>
        <p:nvSpPr>
          <p:cNvPr id="43" name="Text 41"/>
          <p:cNvSpPr/>
          <p:nvPr/>
        </p:nvSpPr>
        <p:spPr>
          <a:xfrm>
            <a:off x="6382512" y="1609344"/>
            <a:ext cx="5233111" cy="1929384"/>
          </a:xfrm>
          <a:prstGeom prst="rect">
            <a:avLst/>
          </a:prstGeom>
          <a:noFill/>
          <a:ln/>
        </p:spPr>
        <p:txBody>
          <a:bodyPr wrap="square" lIns="0" tIns="0" rIns="0" bIns="0" rtlCol="0" anchor="t"/>
          <a:lstStyle/>
          <a:p>
            <a:pPr indent="0" marL="0">
              <a:spcAft>
                <a:spcPts val="300"/>
              </a:spcAft>
              <a:buNone/>
            </a:pPr>
            <a:r>
              <a:rPr lang="en-US" sz="1150" b="1" dirty="0">
                <a:solidFill>
                  <a:srgbClr val="2E5BD8"/>
                </a:solidFill>
                <a:latin typeface="Calibri" pitchFamily="34" charset="0"/>
                <a:ea typeface="Calibri" pitchFamily="34" charset="-122"/>
                <a:cs typeface="Calibri" pitchFamily="34" charset="-120"/>
              </a:rPr>
              <a:t>moment of a force (N m) = force (N) × distance normal to the direction of the force (m)</a:t>
            </a:r>
            <a:endParaRPr lang="en-US" sz="1150" dirty="0"/>
          </a:p>
          <a:p>
            <a:pPr indent="0" marL="0">
              <a:spcAft>
                <a:spcPts val="300"/>
              </a:spcAft>
              <a:buNone/>
            </a:pPr>
            <a:r>
              <a:rPr lang="en-US" sz="1050" b="1" dirty="0">
                <a:solidFill>
                  <a:srgbClr val="C8414C"/>
                </a:solidFill>
                <a:latin typeface="Calibri" pitchFamily="34" charset="0"/>
                <a:ea typeface="Calibri" pitchFamily="34" charset="-122"/>
                <a:cs typeface="Calibri" pitchFamily="34" charset="-120"/>
              </a:rPr>
              <a:t>RECALL: you must learn this equation. M = F × d.</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d</a:t>
            </a:r>
            <a:r>
              <a:rPr lang="en-US" sz="1150" dirty="0">
                <a:solidFill>
                  <a:srgbClr val="262B3A"/>
                </a:solidFill>
                <a:latin typeface="Calibri" pitchFamily="34" charset="0"/>
                <a:ea typeface="Calibri" pitchFamily="34" charset="-122"/>
                <a:cs typeface="Calibri" pitchFamily="34" charset="-120"/>
              </a:rPr>
              <a:t> is the </a:t>
            </a:r>
            <a:r>
              <a:rPr lang="en-US" sz="1150" b="1" dirty="0">
                <a:solidFill>
                  <a:srgbClr val="262B3A"/>
                </a:solidFill>
                <a:latin typeface="Calibri" pitchFamily="34" charset="0"/>
                <a:ea typeface="Calibri" pitchFamily="34" charset="-122"/>
                <a:cs typeface="Calibri" pitchFamily="34" charset="-120"/>
              </a:rPr>
              <a:t>perpendicular</a:t>
            </a:r>
            <a:r>
              <a:rPr lang="en-US" sz="1150" dirty="0">
                <a:solidFill>
                  <a:srgbClr val="262B3A"/>
                </a:solidFill>
                <a:latin typeface="Calibri" pitchFamily="34" charset="0"/>
                <a:ea typeface="Calibri" pitchFamily="34" charset="-122"/>
                <a:cs typeface="Calibri" pitchFamily="34" charset="-120"/>
              </a:rPr>
              <a:t> distance from the </a:t>
            </a:r>
            <a:r>
              <a:rPr lang="en-US" sz="1150" b="1" dirty="0">
                <a:solidFill>
                  <a:srgbClr val="262B3A"/>
                </a:solidFill>
                <a:latin typeface="Calibri" pitchFamily="34" charset="0"/>
                <a:ea typeface="Calibri" pitchFamily="34" charset="-122"/>
                <a:cs typeface="Calibri" pitchFamily="34" charset="-120"/>
              </a:rPr>
              <a:t>pivot</a:t>
            </a:r>
            <a:r>
              <a:rPr lang="en-US" sz="1150" dirty="0">
                <a:solidFill>
                  <a:srgbClr val="262B3A"/>
                </a:solidFill>
                <a:latin typeface="Calibri" pitchFamily="34" charset="0"/>
                <a:ea typeface="Calibri" pitchFamily="34" charset="-122"/>
                <a:cs typeface="Calibri" pitchFamily="34" charset="-120"/>
              </a:rPr>
              <a:t> to the </a:t>
            </a:r>
            <a:r>
              <a:rPr lang="en-US" sz="1150" b="1" dirty="0">
                <a:solidFill>
                  <a:srgbClr val="262B3A"/>
                </a:solidFill>
                <a:latin typeface="Calibri" pitchFamily="34" charset="0"/>
                <a:ea typeface="Calibri" pitchFamily="34" charset="-122"/>
                <a:cs typeface="Calibri" pitchFamily="34" charset="-120"/>
              </a:rPr>
              <a:t>line of action</a:t>
            </a:r>
            <a:r>
              <a:rPr lang="en-US" sz="1150" dirty="0">
                <a:solidFill>
                  <a:srgbClr val="262B3A"/>
                </a:solidFill>
                <a:latin typeface="Calibri" pitchFamily="34" charset="0"/>
                <a:ea typeface="Calibri" pitchFamily="34" charset="-122"/>
                <a:cs typeface="Calibri" pitchFamily="34" charset="-120"/>
              </a:rPr>
              <a:t> of the force.</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Unit: </a:t>
            </a:r>
            <a:r>
              <a:rPr lang="en-US" sz="1150" b="1" dirty="0">
                <a:solidFill>
                  <a:srgbClr val="262B3A"/>
                </a:solidFill>
                <a:latin typeface="Calibri" pitchFamily="34" charset="0"/>
                <a:ea typeface="Calibri" pitchFamily="34" charset="-122"/>
                <a:cs typeface="Calibri" pitchFamily="34" charset="-120"/>
              </a:rPr>
              <a:t>newton metre (N m)</a:t>
            </a:r>
            <a:r>
              <a:rPr lang="en-US" sz="1150" dirty="0">
                <a:solidFill>
                  <a:srgbClr val="262B3A"/>
                </a:solidFill>
                <a:latin typeface="Calibri" pitchFamily="34" charset="0"/>
                <a:ea typeface="Calibri" pitchFamily="34" charset="-122"/>
                <a:cs typeface="Calibri" pitchFamily="34" charset="-120"/>
              </a:rPr>
              <a:t>. Convert cm to m first.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Bigger force or bigger distance → bigger moment.</a:t>
            </a:r>
            <a:endParaRPr lang="en-US" sz="1150" dirty="0"/>
          </a:p>
        </p:txBody>
      </p:sp>
      <p:sp>
        <p:nvSpPr>
          <p:cNvPr id="44" name="Shape 42"/>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45" name="Text 43"/>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46" name="Text 44"/>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A 40 N force acts at right angles to a spanner, 0.25 m from the nut. Calculate the moment.</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Equation   </a:t>
            </a:r>
            <a:r>
              <a:rPr lang="en-US" sz="1100" dirty="0">
                <a:solidFill>
                  <a:srgbClr val="262B3A"/>
                </a:solidFill>
                <a:latin typeface="Calibri" pitchFamily="34" charset="0"/>
                <a:ea typeface="Calibri" pitchFamily="34" charset="-122"/>
                <a:cs typeface="Calibri" pitchFamily="34" charset="-120"/>
              </a:rPr>
              <a:t>moment = F × d</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Substitute   </a:t>
            </a:r>
            <a:r>
              <a:rPr lang="en-US" sz="1100" dirty="0">
                <a:solidFill>
                  <a:srgbClr val="262B3A"/>
                </a:solidFill>
                <a:latin typeface="Calibri" pitchFamily="34" charset="0"/>
                <a:ea typeface="Calibri" pitchFamily="34" charset="-122"/>
                <a:cs typeface="Calibri" pitchFamily="34" charset="-120"/>
              </a:rPr>
              <a:t>moment = 40 N × 0.25 m</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Direction   </a:t>
            </a:r>
            <a:r>
              <a:rPr lang="en-US" sz="1100" dirty="0">
                <a:solidFill>
                  <a:srgbClr val="262B3A"/>
                </a:solidFill>
                <a:latin typeface="Calibri" pitchFamily="34" charset="0"/>
                <a:ea typeface="Calibri" pitchFamily="34" charset="-122"/>
                <a:cs typeface="Calibri" pitchFamily="34" charset="-120"/>
              </a:rPr>
              <a:t>the force turns the spanner clockwise</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moment = 10 N m clockwise</a:t>
            </a:r>
            <a:endParaRPr lang="en-US" sz="1100" dirty="0"/>
          </a:p>
        </p:txBody>
      </p:sp>
      <p:sp>
        <p:nvSpPr>
          <p:cNvPr id="47" name="Shape 45"/>
          <p:cNvSpPr/>
          <p:nvPr/>
        </p:nvSpPr>
        <p:spPr>
          <a:xfrm>
            <a:off x="411480" y="5833872"/>
            <a:ext cx="11368735" cy="530352"/>
          </a:xfrm>
          <a:prstGeom prst="rect">
            <a:avLst/>
          </a:prstGeom>
          <a:solidFill>
            <a:srgbClr val="FFF4E0"/>
          </a:solidFill>
          <a:ln w="6350">
            <a:solidFill>
              <a:srgbClr val="F1D9A8"/>
            </a:solidFill>
            <a:prstDash val="solid"/>
          </a:ln>
        </p:spPr>
      </p:sp>
      <p:sp>
        <p:nvSpPr>
          <p:cNvPr id="48" name="Shape 46"/>
          <p:cNvSpPr/>
          <p:nvPr/>
        </p:nvSpPr>
        <p:spPr>
          <a:xfrm>
            <a:off x="411480" y="5833872"/>
            <a:ext cx="82296" cy="530352"/>
          </a:xfrm>
          <a:prstGeom prst="rect">
            <a:avLst/>
          </a:prstGeom>
          <a:solidFill>
            <a:srgbClr val="E39A2F"/>
          </a:solidFill>
          <a:ln w="12700">
            <a:solidFill>
              <a:srgbClr val="E39A2F"/>
            </a:solidFill>
            <a:prstDash val="solid"/>
          </a:ln>
        </p:spPr>
      </p:sp>
      <p:sp>
        <p:nvSpPr>
          <p:cNvPr id="49" name="Text 47"/>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15 N force pushes at right angles on a door handle 80 cm from the hinge. Calculate the moment.</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The principle of moments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9.8P • balanced: total clockwise moment = total anticlockwise moment</a:t>
            </a:r>
            <a:endParaRPr lang="en-US" sz="1100" dirty="0"/>
          </a:p>
        </p:txBody>
      </p:sp>
      <p:sp>
        <p:nvSpPr>
          <p:cNvPr id="6" name="Shape 4"/>
          <p:cNvSpPr/>
          <p:nvPr/>
        </p:nvSpPr>
        <p:spPr>
          <a:xfrm>
            <a:off x="10591495" y="292608"/>
            <a:ext cx="1188720" cy="274320"/>
          </a:xfrm>
          <a:prstGeom prst="roundRect">
            <a:avLst>
              <a:gd name="adj" fmla="val 50000"/>
            </a:avLst>
          </a:prstGeom>
          <a:solidFill>
            <a:srgbClr val="2E5BD8"/>
          </a:solidFill>
          <a:ln w="12700">
            <a:solidFill>
              <a:srgbClr val="2E5BD8"/>
            </a:solidFill>
            <a:prstDash val="solid"/>
          </a:ln>
        </p:spPr>
      </p:sp>
      <p:sp>
        <p:nvSpPr>
          <p:cNvPr id="7" name="Text 5"/>
          <p:cNvSpPr/>
          <p:nvPr/>
        </p:nvSpPr>
        <p:spPr>
          <a:xfrm>
            <a:off x="10591495" y="292608"/>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PHYSICS ONLY</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9 Forces and their effects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9.8P  |  21</a:t>
            </a:r>
            <a:endParaRPr lang="en-US" sz="1000" dirty="0"/>
          </a:p>
        </p:txBody>
      </p:sp>
      <p:sp>
        <p:nvSpPr>
          <p:cNvPr id="10" name="Shape 8"/>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4.0 m see-saw drawn to scale; weight arrows to scale</a:t>
            </a:r>
            <a:endParaRPr lang="en-US" sz="1000" dirty="0"/>
          </a:p>
        </p:txBody>
      </p:sp>
      <p:sp>
        <p:nvSpPr>
          <p:cNvPr id="12" name="Shape 10"/>
          <p:cNvSpPr/>
          <p:nvPr/>
        </p:nvSpPr>
        <p:spPr>
          <a:xfrm>
            <a:off x="914400" y="3200400"/>
            <a:ext cx="4572000" cy="109728"/>
          </a:xfrm>
          <a:prstGeom prst="rect">
            <a:avLst/>
          </a:prstGeom>
          <a:solidFill>
            <a:srgbClr val="C99A5B"/>
          </a:solidFill>
          <a:ln w="12700">
            <a:solidFill>
              <a:srgbClr val="8A6A3A"/>
            </a:solidFill>
            <a:prstDash val="solid"/>
          </a:ln>
        </p:spPr>
      </p:sp>
      <p:sp>
        <p:nvSpPr>
          <p:cNvPr id="13" name="Shape 11"/>
          <p:cNvSpPr/>
          <p:nvPr/>
        </p:nvSpPr>
        <p:spPr>
          <a:xfrm>
            <a:off x="2971800" y="3310128"/>
            <a:ext cx="457200" cy="502920"/>
          </a:xfrm>
          <a:prstGeom prst="triangle">
            <a:avLst/>
          </a:prstGeom>
          <a:solidFill>
            <a:srgbClr val="5A6275"/>
          </a:solidFill>
          <a:ln w="12700">
            <a:solidFill>
              <a:srgbClr val="5A6275"/>
            </a:solidFill>
            <a:prstDash val="solid"/>
          </a:ln>
        </p:spPr>
      </p:sp>
      <p:sp>
        <p:nvSpPr>
          <p:cNvPr id="14" name="Shape 12"/>
          <p:cNvSpPr/>
          <p:nvPr/>
        </p:nvSpPr>
        <p:spPr>
          <a:xfrm>
            <a:off x="1284732" y="2743200"/>
            <a:ext cx="402336" cy="457200"/>
          </a:xfrm>
          <a:prstGeom prst="rect">
            <a:avLst/>
          </a:prstGeom>
          <a:solidFill>
            <a:srgbClr val="F4B183"/>
          </a:solidFill>
          <a:ln w="12700">
            <a:solidFill>
              <a:srgbClr val="B8730A"/>
            </a:solidFill>
            <a:prstDash val="solid"/>
          </a:ln>
        </p:spPr>
      </p:sp>
      <p:sp>
        <p:nvSpPr>
          <p:cNvPr id="15" name="Text 13"/>
          <p:cNvSpPr/>
          <p:nvPr/>
        </p:nvSpPr>
        <p:spPr>
          <a:xfrm>
            <a:off x="1120140" y="2468880"/>
            <a:ext cx="731520" cy="256032"/>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A</a:t>
            </a:r>
            <a:endParaRPr lang="en-US" sz="1100" dirty="0"/>
          </a:p>
        </p:txBody>
      </p:sp>
      <p:sp>
        <p:nvSpPr>
          <p:cNvPr id="16" name="Shape 14"/>
          <p:cNvSpPr/>
          <p:nvPr/>
        </p:nvSpPr>
        <p:spPr>
          <a:xfrm>
            <a:off x="4096512" y="2651760"/>
            <a:ext cx="493776" cy="548640"/>
          </a:xfrm>
          <a:prstGeom prst="rect">
            <a:avLst/>
          </a:prstGeom>
          <a:solidFill>
            <a:srgbClr val="9DC3E6"/>
          </a:solidFill>
          <a:ln w="12700">
            <a:solidFill>
              <a:srgbClr val="2E5BA8"/>
            </a:solidFill>
            <a:prstDash val="solid"/>
          </a:ln>
        </p:spPr>
      </p:sp>
      <p:sp>
        <p:nvSpPr>
          <p:cNvPr id="17" name="Text 15"/>
          <p:cNvSpPr/>
          <p:nvPr/>
        </p:nvSpPr>
        <p:spPr>
          <a:xfrm>
            <a:off x="3977640" y="2377440"/>
            <a:ext cx="731520" cy="256032"/>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B</a:t>
            </a:r>
            <a:endParaRPr lang="en-US" sz="1100" dirty="0"/>
          </a:p>
        </p:txBody>
      </p:sp>
      <p:sp>
        <p:nvSpPr>
          <p:cNvPr id="18" name="Shape 16"/>
          <p:cNvSpPr/>
          <p:nvPr/>
        </p:nvSpPr>
        <p:spPr>
          <a:xfrm>
            <a:off x="1485900" y="3310128"/>
            <a:ext cx="91" cy="731520"/>
          </a:xfrm>
          <a:prstGeom prst="line">
            <a:avLst/>
          </a:prstGeom>
          <a:noFill/>
          <a:ln w="38100">
            <a:solidFill>
              <a:srgbClr val="C8414C"/>
            </a:solidFill>
            <a:prstDash val="solid"/>
            <a:tailEnd type="triangle"/>
          </a:ln>
        </p:spPr>
      </p:sp>
      <p:sp>
        <p:nvSpPr>
          <p:cNvPr id="19" name="Text 17"/>
          <p:cNvSpPr/>
          <p:nvPr/>
        </p:nvSpPr>
        <p:spPr>
          <a:xfrm>
            <a:off x="681228" y="3840480"/>
            <a:ext cx="731520" cy="274320"/>
          </a:xfrm>
          <a:prstGeom prst="rect">
            <a:avLst/>
          </a:prstGeom>
          <a:noFill/>
          <a:ln/>
        </p:spPr>
        <p:txBody>
          <a:bodyPr wrap="square" lIns="0" tIns="0" rIns="0" bIns="0" rtlCol="0" anchor="ctr"/>
          <a:lstStyle/>
          <a:p>
            <a:pPr algn="ctr" indent="0" marL="0">
              <a:buNone/>
            </a:pPr>
            <a:r>
              <a:rPr lang="en-US" sz="1100" b="1" dirty="0">
                <a:solidFill>
                  <a:srgbClr val="C8414C"/>
                </a:solidFill>
                <a:latin typeface="Calibri" pitchFamily="34" charset="0"/>
                <a:ea typeface="Calibri" pitchFamily="34" charset="-122"/>
                <a:cs typeface="Calibri" pitchFamily="34" charset="-120"/>
              </a:rPr>
              <a:t>400 N</a:t>
            </a:r>
            <a:endParaRPr lang="en-US" sz="1100" dirty="0"/>
          </a:p>
        </p:txBody>
      </p:sp>
      <p:sp>
        <p:nvSpPr>
          <p:cNvPr id="20" name="Shape 18"/>
          <p:cNvSpPr/>
          <p:nvPr/>
        </p:nvSpPr>
        <p:spPr>
          <a:xfrm>
            <a:off x="4343400" y="3310128"/>
            <a:ext cx="91" cy="1097280"/>
          </a:xfrm>
          <a:prstGeom prst="line">
            <a:avLst/>
          </a:prstGeom>
          <a:noFill/>
          <a:ln w="38100">
            <a:solidFill>
              <a:srgbClr val="C8414C"/>
            </a:solidFill>
            <a:prstDash val="solid"/>
            <a:tailEnd type="triangle"/>
          </a:ln>
        </p:spPr>
      </p:sp>
      <p:sp>
        <p:nvSpPr>
          <p:cNvPr id="21" name="Text 19"/>
          <p:cNvSpPr/>
          <p:nvPr/>
        </p:nvSpPr>
        <p:spPr>
          <a:xfrm>
            <a:off x="4416552" y="3886200"/>
            <a:ext cx="731520" cy="274320"/>
          </a:xfrm>
          <a:prstGeom prst="rect">
            <a:avLst/>
          </a:prstGeom>
          <a:noFill/>
          <a:ln/>
        </p:spPr>
        <p:txBody>
          <a:bodyPr wrap="square" lIns="0" tIns="0" rIns="0" bIns="0" rtlCol="0" anchor="ctr"/>
          <a:lstStyle/>
          <a:p>
            <a:pPr algn="ctr" indent="0" marL="0">
              <a:buNone/>
            </a:pPr>
            <a:r>
              <a:rPr lang="en-US" sz="1100" b="1" dirty="0">
                <a:solidFill>
                  <a:srgbClr val="C8414C"/>
                </a:solidFill>
                <a:latin typeface="Calibri" pitchFamily="34" charset="0"/>
                <a:ea typeface="Calibri" pitchFamily="34" charset="-122"/>
                <a:cs typeface="Calibri" pitchFamily="34" charset="-120"/>
              </a:rPr>
              <a:t>600 N</a:t>
            </a:r>
            <a:endParaRPr lang="en-US" sz="1100" dirty="0"/>
          </a:p>
        </p:txBody>
      </p:sp>
      <p:sp>
        <p:nvSpPr>
          <p:cNvPr id="22" name="Shape 20"/>
          <p:cNvSpPr/>
          <p:nvPr/>
        </p:nvSpPr>
        <p:spPr>
          <a:xfrm>
            <a:off x="1485900" y="4663440"/>
            <a:ext cx="1714500" cy="91"/>
          </a:xfrm>
          <a:prstGeom prst="line">
            <a:avLst/>
          </a:prstGeom>
          <a:noFill/>
          <a:ln w="15875">
            <a:solidFill>
              <a:srgbClr val="1A2340"/>
            </a:solidFill>
            <a:prstDash val="solid"/>
            <a:headEnd type="triangle"/>
            <a:tailEnd type="triangle"/>
          </a:ln>
        </p:spPr>
      </p:sp>
      <p:sp>
        <p:nvSpPr>
          <p:cNvPr id="23" name="Shape 21"/>
          <p:cNvSpPr/>
          <p:nvPr/>
        </p:nvSpPr>
        <p:spPr>
          <a:xfrm>
            <a:off x="3200400" y="4663440"/>
            <a:ext cx="1143000" cy="91"/>
          </a:xfrm>
          <a:prstGeom prst="line">
            <a:avLst/>
          </a:prstGeom>
          <a:noFill/>
          <a:ln w="15875">
            <a:solidFill>
              <a:srgbClr val="1A2340"/>
            </a:solidFill>
            <a:prstDash val="solid"/>
            <a:headEnd type="triangle"/>
            <a:tailEnd type="triangle"/>
          </a:ln>
        </p:spPr>
      </p:sp>
      <p:sp>
        <p:nvSpPr>
          <p:cNvPr id="24" name="Shape 22"/>
          <p:cNvSpPr/>
          <p:nvPr/>
        </p:nvSpPr>
        <p:spPr>
          <a:xfrm>
            <a:off x="3200400" y="3813048"/>
            <a:ext cx="91" cy="987552"/>
          </a:xfrm>
          <a:prstGeom prst="line">
            <a:avLst/>
          </a:prstGeom>
          <a:noFill/>
          <a:ln w="9525">
            <a:solidFill>
              <a:srgbClr val="6B7385"/>
            </a:solidFill>
            <a:prstDash val="dash"/>
          </a:ln>
        </p:spPr>
      </p:sp>
      <p:sp>
        <p:nvSpPr>
          <p:cNvPr id="25" name="Shape 23"/>
          <p:cNvSpPr/>
          <p:nvPr/>
        </p:nvSpPr>
        <p:spPr>
          <a:xfrm>
            <a:off x="2743200" y="3813048"/>
            <a:ext cx="914400" cy="73152"/>
          </a:xfrm>
          <a:prstGeom prst="rect">
            <a:avLst/>
          </a:prstGeom>
          <a:solidFill>
            <a:srgbClr val="5A6275"/>
          </a:solidFill>
          <a:ln/>
        </p:spPr>
      </p:sp>
      <p:sp>
        <p:nvSpPr>
          <p:cNvPr id="26" name="Text 24"/>
          <p:cNvSpPr/>
          <p:nvPr/>
        </p:nvSpPr>
        <p:spPr>
          <a:xfrm>
            <a:off x="1485900" y="4690872"/>
            <a:ext cx="1714500" cy="256032"/>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1.5 m</a:t>
            </a:r>
            <a:endParaRPr lang="en-US" sz="1100" dirty="0"/>
          </a:p>
        </p:txBody>
      </p:sp>
      <p:sp>
        <p:nvSpPr>
          <p:cNvPr id="27" name="Text 25"/>
          <p:cNvSpPr/>
          <p:nvPr/>
        </p:nvSpPr>
        <p:spPr>
          <a:xfrm>
            <a:off x="3200400" y="4690872"/>
            <a:ext cx="1143000" cy="256032"/>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1.0 m</a:t>
            </a:r>
            <a:endParaRPr lang="en-US" sz="1100" dirty="0"/>
          </a:p>
        </p:txBody>
      </p:sp>
      <p:sp>
        <p:nvSpPr>
          <p:cNvPr id="28" name="Shape 26"/>
          <p:cNvSpPr/>
          <p:nvPr/>
        </p:nvSpPr>
        <p:spPr>
          <a:xfrm flipH="1">
            <a:off x="2677543" y="2164490"/>
            <a:ext cx="39805" cy="19510"/>
          </a:xfrm>
          <a:prstGeom prst="line">
            <a:avLst/>
          </a:prstGeom>
          <a:noFill/>
          <a:ln w="25400">
            <a:solidFill>
              <a:srgbClr val="2E5BD8"/>
            </a:solidFill>
            <a:prstDash val="solid"/>
          </a:ln>
        </p:spPr>
      </p:sp>
      <p:sp>
        <p:nvSpPr>
          <p:cNvPr id="29" name="Shape 27"/>
          <p:cNvSpPr/>
          <p:nvPr/>
        </p:nvSpPr>
        <p:spPr>
          <a:xfrm flipH="1">
            <a:off x="2638525" y="2184000"/>
            <a:ext cx="39018" cy="21038"/>
          </a:xfrm>
          <a:prstGeom prst="line">
            <a:avLst/>
          </a:prstGeom>
          <a:noFill/>
          <a:ln w="25400">
            <a:solidFill>
              <a:srgbClr val="2E5BD8"/>
            </a:solidFill>
            <a:prstDash val="solid"/>
          </a:ln>
        </p:spPr>
      </p:sp>
      <p:sp>
        <p:nvSpPr>
          <p:cNvPr id="30" name="Shape 28"/>
          <p:cNvSpPr/>
          <p:nvPr/>
        </p:nvSpPr>
        <p:spPr>
          <a:xfrm flipH="1">
            <a:off x="2600352" y="2205038"/>
            <a:ext cx="38173" cy="22535"/>
          </a:xfrm>
          <a:prstGeom prst="line">
            <a:avLst/>
          </a:prstGeom>
          <a:noFill/>
          <a:ln w="25400">
            <a:solidFill>
              <a:srgbClr val="2E5BD8"/>
            </a:solidFill>
            <a:prstDash val="solid"/>
          </a:ln>
        </p:spPr>
      </p:sp>
      <p:sp>
        <p:nvSpPr>
          <p:cNvPr id="31" name="Shape 29"/>
          <p:cNvSpPr/>
          <p:nvPr/>
        </p:nvSpPr>
        <p:spPr>
          <a:xfrm flipH="1">
            <a:off x="2563081" y="2227574"/>
            <a:ext cx="37270" cy="23999"/>
          </a:xfrm>
          <a:prstGeom prst="line">
            <a:avLst/>
          </a:prstGeom>
          <a:noFill/>
          <a:ln w="25400">
            <a:solidFill>
              <a:srgbClr val="2E5BD8"/>
            </a:solidFill>
            <a:prstDash val="solid"/>
          </a:ln>
        </p:spPr>
      </p:sp>
      <p:sp>
        <p:nvSpPr>
          <p:cNvPr id="32" name="Shape 30"/>
          <p:cNvSpPr/>
          <p:nvPr/>
        </p:nvSpPr>
        <p:spPr>
          <a:xfrm flipH="1">
            <a:off x="2526769" y="2251572"/>
            <a:ext cx="36312" cy="25426"/>
          </a:xfrm>
          <a:prstGeom prst="line">
            <a:avLst/>
          </a:prstGeom>
          <a:noFill/>
          <a:ln w="25400">
            <a:solidFill>
              <a:srgbClr val="2E5BD8"/>
            </a:solidFill>
            <a:prstDash val="solid"/>
          </a:ln>
        </p:spPr>
      </p:sp>
      <p:sp>
        <p:nvSpPr>
          <p:cNvPr id="33" name="Shape 31"/>
          <p:cNvSpPr/>
          <p:nvPr/>
        </p:nvSpPr>
        <p:spPr>
          <a:xfrm flipH="1">
            <a:off x="2491471" y="2276998"/>
            <a:ext cx="35299" cy="26815"/>
          </a:xfrm>
          <a:prstGeom prst="line">
            <a:avLst/>
          </a:prstGeom>
          <a:noFill/>
          <a:ln w="25400">
            <a:solidFill>
              <a:srgbClr val="2E5BD8"/>
            </a:solidFill>
            <a:prstDash val="solid"/>
          </a:ln>
        </p:spPr>
      </p:sp>
      <p:sp>
        <p:nvSpPr>
          <p:cNvPr id="34" name="Shape 32"/>
          <p:cNvSpPr/>
          <p:nvPr/>
        </p:nvSpPr>
        <p:spPr>
          <a:xfrm flipH="1">
            <a:off x="2457238" y="2303813"/>
            <a:ext cx="34232" cy="28163"/>
          </a:xfrm>
          <a:prstGeom prst="line">
            <a:avLst/>
          </a:prstGeom>
          <a:noFill/>
          <a:ln w="25400">
            <a:solidFill>
              <a:srgbClr val="2E5BD8"/>
            </a:solidFill>
            <a:prstDash val="solid"/>
          </a:ln>
        </p:spPr>
      </p:sp>
      <p:sp>
        <p:nvSpPr>
          <p:cNvPr id="35" name="Shape 33"/>
          <p:cNvSpPr/>
          <p:nvPr/>
        </p:nvSpPr>
        <p:spPr>
          <a:xfrm flipH="1">
            <a:off x="2424124" y="2331976"/>
            <a:ext cx="33115" cy="29469"/>
          </a:xfrm>
          <a:prstGeom prst="line">
            <a:avLst/>
          </a:prstGeom>
          <a:noFill/>
          <a:ln w="25400">
            <a:solidFill>
              <a:srgbClr val="2E5BD8"/>
            </a:solidFill>
            <a:prstDash val="solid"/>
          </a:ln>
        </p:spPr>
      </p:sp>
      <p:sp>
        <p:nvSpPr>
          <p:cNvPr id="36" name="Shape 34"/>
          <p:cNvSpPr/>
          <p:nvPr/>
        </p:nvSpPr>
        <p:spPr>
          <a:xfrm flipH="1">
            <a:off x="2392177" y="2361446"/>
            <a:ext cx="31947" cy="30731"/>
          </a:xfrm>
          <a:prstGeom prst="line">
            <a:avLst/>
          </a:prstGeom>
          <a:noFill/>
          <a:ln w="25400">
            <a:solidFill>
              <a:srgbClr val="2E5BD8"/>
            </a:solidFill>
            <a:prstDash val="solid"/>
          </a:ln>
        </p:spPr>
      </p:sp>
      <p:sp>
        <p:nvSpPr>
          <p:cNvPr id="37" name="Shape 35"/>
          <p:cNvSpPr/>
          <p:nvPr/>
        </p:nvSpPr>
        <p:spPr>
          <a:xfrm flipH="1">
            <a:off x="2361446" y="2392177"/>
            <a:ext cx="30731" cy="31947"/>
          </a:xfrm>
          <a:prstGeom prst="line">
            <a:avLst/>
          </a:prstGeom>
          <a:noFill/>
          <a:ln w="25400">
            <a:solidFill>
              <a:srgbClr val="2E5BD8"/>
            </a:solidFill>
            <a:prstDash val="solid"/>
          </a:ln>
        </p:spPr>
      </p:sp>
      <p:sp>
        <p:nvSpPr>
          <p:cNvPr id="38" name="Shape 36"/>
          <p:cNvSpPr/>
          <p:nvPr/>
        </p:nvSpPr>
        <p:spPr>
          <a:xfrm flipH="1">
            <a:off x="2331976" y="2424124"/>
            <a:ext cx="29469" cy="33115"/>
          </a:xfrm>
          <a:prstGeom prst="line">
            <a:avLst/>
          </a:prstGeom>
          <a:noFill/>
          <a:ln w="25400">
            <a:solidFill>
              <a:srgbClr val="2E5BD8"/>
            </a:solidFill>
            <a:prstDash val="solid"/>
          </a:ln>
        </p:spPr>
      </p:sp>
      <p:sp>
        <p:nvSpPr>
          <p:cNvPr id="39" name="Shape 37"/>
          <p:cNvSpPr/>
          <p:nvPr/>
        </p:nvSpPr>
        <p:spPr>
          <a:xfrm flipH="1">
            <a:off x="2303813" y="2457238"/>
            <a:ext cx="28163" cy="34232"/>
          </a:xfrm>
          <a:prstGeom prst="line">
            <a:avLst/>
          </a:prstGeom>
          <a:noFill/>
          <a:ln w="25400">
            <a:solidFill>
              <a:srgbClr val="2E5BD8"/>
            </a:solidFill>
            <a:prstDash val="solid"/>
          </a:ln>
        </p:spPr>
      </p:sp>
      <p:sp>
        <p:nvSpPr>
          <p:cNvPr id="40" name="Shape 38"/>
          <p:cNvSpPr/>
          <p:nvPr/>
        </p:nvSpPr>
        <p:spPr>
          <a:xfrm flipH="1">
            <a:off x="2276998" y="2491471"/>
            <a:ext cx="26815" cy="35299"/>
          </a:xfrm>
          <a:prstGeom prst="line">
            <a:avLst/>
          </a:prstGeom>
          <a:noFill/>
          <a:ln w="25400">
            <a:solidFill>
              <a:srgbClr val="2E5BD8"/>
            </a:solidFill>
            <a:prstDash val="solid"/>
          </a:ln>
        </p:spPr>
      </p:sp>
      <p:sp>
        <p:nvSpPr>
          <p:cNvPr id="41" name="Shape 39"/>
          <p:cNvSpPr/>
          <p:nvPr/>
        </p:nvSpPr>
        <p:spPr>
          <a:xfrm flipH="1">
            <a:off x="2251572" y="2526769"/>
            <a:ext cx="25426" cy="36312"/>
          </a:xfrm>
          <a:prstGeom prst="line">
            <a:avLst/>
          </a:prstGeom>
          <a:noFill/>
          <a:ln w="25400">
            <a:solidFill>
              <a:srgbClr val="2E5BD8"/>
            </a:solidFill>
            <a:prstDash val="solid"/>
          </a:ln>
        </p:spPr>
      </p:sp>
      <p:sp>
        <p:nvSpPr>
          <p:cNvPr id="42" name="Shape 40"/>
          <p:cNvSpPr/>
          <p:nvPr/>
        </p:nvSpPr>
        <p:spPr>
          <a:xfrm flipH="1">
            <a:off x="2227574" y="2563081"/>
            <a:ext cx="23999" cy="37270"/>
          </a:xfrm>
          <a:prstGeom prst="line">
            <a:avLst/>
          </a:prstGeom>
          <a:noFill/>
          <a:ln w="25400">
            <a:solidFill>
              <a:srgbClr val="2E5BD8"/>
            </a:solidFill>
            <a:prstDash val="solid"/>
          </a:ln>
        </p:spPr>
      </p:sp>
      <p:sp>
        <p:nvSpPr>
          <p:cNvPr id="43" name="Shape 41"/>
          <p:cNvSpPr/>
          <p:nvPr/>
        </p:nvSpPr>
        <p:spPr>
          <a:xfrm flipH="1">
            <a:off x="2205038" y="2600352"/>
            <a:ext cx="22535" cy="38173"/>
          </a:xfrm>
          <a:prstGeom prst="line">
            <a:avLst/>
          </a:prstGeom>
          <a:noFill/>
          <a:ln w="25400">
            <a:solidFill>
              <a:srgbClr val="2E5BD8"/>
            </a:solidFill>
            <a:prstDash val="solid"/>
          </a:ln>
        </p:spPr>
      </p:sp>
      <p:sp>
        <p:nvSpPr>
          <p:cNvPr id="44" name="Shape 42"/>
          <p:cNvSpPr/>
          <p:nvPr/>
        </p:nvSpPr>
        <p:spPr>
          <a:xfrm flipH="1">
            <a:off x="2184000" y="2638525"/>
            <a:ext cx="21038" cy="39018"/>
          </a:xfrm>
          <a:prstGeom prst="line">
            <a:avLst/>
          </a:prstGeom>
          <a:noFill/>
          <a:ln w="25400">
            <a:solidFill>
              <a:srgbClr val="2E5BD8"/>
            </a:solidFill>
            <a:prstDash val="solid"/>
          </a:ln>
        </p:spPr>
      </p:sp>
      <p:sp>
        <p:nvSpPr>
          <p:cNvPr id="45" name="Shape 43"/>
          <p:cNvSpPr/>
          <p:nvPr/>
        </p:nvSpPr>
        <p:spPr>
          <a:xfrm flipH="1">
            <a:off x="2164490" y="2677543"/>
            <a:ext cx="19510" cy="39805"/>
          </a:xfrm>
          <a:prstGeom prst="line">
            <a:avLst/>
          </a:prstGeom>
          <a:noFill/>
          <a:ln w="25400">
            <a:solidFill>
              <a:srgbClr val="2E5BD8"/>
            </a:solidFill>
            <a:prstDash val="solid"/>
            <a:tailEnd type="triangle"/>
          </a:ln>
        </p:spPr>
      </p:sp>
      <p:sp>
        <p:nvSpPr>
          <p:cNvPr id="46" name="Shape 44"/>
          <p:cNvSpPr/>
          <p:nvPr/>
        </p:nvSpPr>
        <p:spPr>
          <a:xfrm>
            <a:off x="3683453" y="2164490"/>
            <a:ext cx="39805" cy="19510"/>
          </a:xfrm>
          <a:prstGeom prst="line">
            <a:avLst/>
          </a:prstGeom>
          <a:noFill/>
          <a:ln w="25400">
            <a:solidFill>
              <a:srgbClr val="2E5BD8"/>
            </a:solidFill>
            <a:prstDash val="solid"/>
          </a:ln>
        </p:spPr>
      </p:sp>
      <p:sp>
        <p:nvSpPr>
          <p:cNvPr id="47" name="Shape 45"/>
          <p:cNvSpPr/>
          <p:nvPr/>
        </p:nvSpPr>
        <p:spPr>
          <a:xfrm>
            <a:off x="3723257" y="2184000"/>
            <a:ext cx="39018" cy="21038"/>
          </a:xfrm>
          <a:prstGeom prst="line">
            <a:avLst/>
          </a:prstGeom>
          <a:noFill/>
          <a:ln w="25400">
            <a:solidFill>
              <a:srgbClr val="2E5BD8"/>
            </a:solidFill>
            <a:prstDash val="solid"/>
          </a:ln>
        </p:spPr>
      </p:sp>
      <p:sp>
        <p:nvSpPr>
          <p:cNvPr id="48" name="Shape 46"/>
          <p:cNvSpPr/>
          <p:nvPr/>
        </p:nvSpPr>
        <p:spPr>
          <a:xfrm>
            <a:off x="3762275" y="2205038"/>
            <a:ext cx="38173" cy="22535"/>
          </a:xfrm>
          <a:prstGeom prst="line">
            <a:avLst/>
          </a:prstGeom>
          <a:noFill/>
          <a:ln w="25400">
            <a:solidFill>
              <a:srgbClr val="2E5BD8"/>
            </a:solidFill>
            <a:prstDash val="solid"/>
          </a:ln>
        </p:spPr>
      </p:sp>
      <p:sp>
        <p:nvSpPr>
          <p:cNvPr id="49" name="Shape 47"/>
          <p:cNvSpPr/>
          <p:nvPr/>
        </p:nvSpPr>
        <p:spPr>
          <a:xfrm>
            <a:off x="3800448" y="2227574"/>
            <a:ext cx="37270" cy="23999"/>
          </a:xfrm>
          <a:prstGeom prst="line">
            <a:avLst/>
          </a:prstGeom>
          <a:noFill/>
          <a:ln w="25400">
            <a:solidFill>
              <a:srgbClr val="2E5BD8"/>
            </a:solidFill>
            <a:prstDash val="solid"/>
          </a:ln>
        </p:spPr>
      </p:sp>
      <p:sp>
        <p:nvSpPr>
          <p:cNvPr id="50" name="Shape 48"/>
          <p:cNvSpPr/>
          <p:nvPr/>
        </p:nvSpPr>
        <p:spPr>
          <a:xfrm>
            <a:off x="3837719" y="2251572"/>
            <a:ext cx="36312" cy="25426"/>
          </a:xfrm>
          <a:prstGeom prst="line">
            <a:avLst/>
          </a:prstGeom>
          <a:noFill/>
          <a:ln w="25400">
            <a:solidFill>
              <a:srgbClr val="2E5BD8"/>
            </a:solidFill>
            <a:prstDash val="solid"/>
          </a:ln>
        </p:spPr>
      </p:sp>
      <p:sp>
        <p:nvSpPr>
          <p:cNvPr id="51" name="Shape 49"/>
          <p:cNvSpPr/>
          <p:nvPr/>
        </p:nvSpPr>
        <p:spPr>
          <a:xfrm>
            <a:off x="3874031" y="2276998"/>
            <a:ext cx="35299" cy="26815"/>
          </a:xfrm>
          <a:prstGeom prst="line">
            <a:avLst/>
          </a:prstGeom>
          <a:noFill/>
          <a:ln w="25400">
            <a:solidFill>
              <a:srgbClr val="2E5BD8"/>
            </a:solidFill>
            <a:prstDash val="solid"/>
          </a:ln>
        </p:spPr>
      </p:sp>
      <p:sp>
        <p:nvSpPr>
          <p:cNvPr id="52" name="Shape 50"/>
          <p:cNvSpPr/>
          <p:nvPr/>
        </p:nvSpPr>
        <p:spPr>
          <a:xfrm>
            <a:off x="3909329" y="2303813"/>
            <a:ext cx="34232" cy="28163"/>
          </a:xfrm>
          <a:prstGeom prst="line">
            <a:avLst/>
          </a:prstGeom>
          <a:noFill/>
          <a:ln w="25400">
            <a:solidFill>
              <a:srgbClr val="2E5BD8"/>
            </a:solidFill>
            <a:prstDash val="solid"/>
          </a:ln>
        </p:spPr>
      </p:sp>
      <p:sp>
        <p:nvSpPr>
          <p:cNvPr id="53" name="Shape 51"/>
          <p:cNvSpPr/>
          <p:nvPr/>
        </p:nvSpPr>
        <p:spPr>
          <a:xfrm>
            <a:off x="3943562" y="2331976"/>
            <a:ext cx="33115" cy="29469"/>
          </a:xfrm>
          <a:prstGeom prst="line">
            <a:avLst/>
          </a:prstGeom>
          <a:noFill/>
          <a:ln w="25400">
            <a:solidFill>
              <a:srgbClr val="2E5BD8"/>
            </a:solidFill>
            <a:prstDash val="solid"/>
          </a:ln>
        </p:spPr>
      </p:sp>
      <p:sp>
        <p:nvSpPr>
          <p:cNvPr id="54" name="Shape 52"/>
          <p:cNvSpPr/>
          <p:nvPr/>
        </p:nvSpPr>
        <p:spPr>
          <a:xfrm>
            <a:off x="3976676" y="2361446"/>
            <a:ext cx="31947" cy="30731"/>
          </a:xfrm>
          <a:prstGeom prst="line">
            <a:avLst/>
          </a:prstGeom>
          <a:noFill/>
          <a:ln w="25400">
            <a:solidFill>
              <a:srgbClr val="2E5BD8"/>
            </a:solidFill>
            <a:prstDash val="solid"/>
          </a:ln>
        </p:spPr>
      </p:sp>
      <p:sp>
        <p:nvSpPr>
          <p:cNvPr id="55" name="Shape 53"/>
          <p:cNvSpPr/>
          <p:nvPr/>
        </p:nvSpPr>
        <p:spPr>
          <a:xfrm>
            <a:off x="4008623" y="2392177"/>
            <a:ext cx="30731" cy="31947"/>
          </a:xfrm>
          <a:prstGeom prst="line">
            <a:avLst/>
          </a:prstGeom>
          <a:noFill/>
          <a:ln w="25400">
            <a:solidFill>
              <a:srgbClr val="2E5BD8"/>
            </a:solidFill>
            <a:prstDash val="solid"/>
          </a:ln>
        </p:spPr>
      </p:sp>
      <p:sp>
        <p:nvSpPr>
          <p:cNvPr id="56" name="Shape 54"/>
          <p:cNvSpPr/>
          <p:nvPr/>
        </p:nvSpPr>
        <p:spPr>
          <a:xfrm>
            <a:off x="4039354" y="2424124"/>
            <a:ext cx="29469" cy="33115"/>
          </a:xfrm>
          <a:prstGeom prst="line">
            <a:avLst/>
          </a:prstGeom>
          <a:noFill/>
          <a:ln w="25400">
            <a:solidFill>
              <a:srgbClr val="2E5BD8"/>
            </a:solidFill>
            <a:prstDash val="solid"/>
          </a:ln>
        </p:spPr>
      </p:sp>
      <p:sp>
        <p:nvSpPr>
          <p:cNvPr id="57" name="Shape 55"/>
          <p:cNvSpPr/>
          <p:nvPr/>
        </p:nvSpPr>
        <p:spPr>
          <a:xfrm>
            <a:off x="4068824" y="2457238"/>
            <a:ext cx="28163" cy="34232"/>
          </a:xfrm>
          <a:prstGeom prst="line">
            <a:avLst/>
          </a:prstGeom>
          <a:noFill/>
          <a:ln w="25400">
            <a:solidFill>
              <a:srgbClr val="2E5BD8"/>
            </a:solidFill>
            <a:prstDash val="solid"/>
          </a:ln>
        </p:spPr>
      </p:sp>
      <p:sp>
        <p:nvSpPr>
          <p:cNvPr id="58" name="Shape 56"/>
          <p:cNvSpPr/>
          <p:nvPr/>
        </p:nvSpPr>
        <p:spPr>
          <a:xfrm>
            <a:off x="4096987" y="2491471"/>
            <a:ext cx="26815" cy="35299"/>
          </a:xfrm>
          <a:prstGeom prst="line">
            <a:avLst/>
          </a:prstGeom>
          <a:noFill/>
          <a:ln w="25400">
            <a:solidFill>
              <a:srgbClr val="2E5BD8"/>
            </a:solidFill>
            <a:prstDash val="solid"/>
          </a:ln>
        </p:spPr>
      </p:sp>
      <p:sp>
        <p:nvSpPr>
          <p:cNvPr id="59" name="Shape 57"/>
          <p:cNvSpPr/>
          <p:nvPr/>
        </p:nvSpPr>
        <p:spPr>
          <a:xfrm>
            <a:off x="4123802" y="2526769"/>
            <a:ext cx="25426" cy="36312"/>
          </a:xfrm>
          <a:prstGeom prst="line">
            <a:avLst/>
          </a:prstGeom>
          <a:noFill/>
          <a:ln w="25400">
            <a:solidFill>
              <a:srgbClr val="2E5BD8"/>
            </a:solidFill>
            <a:prstDash val="solid"/>
          </a:ln>
        </p:spPr>
      </p:sp>
      <p:sp>
        <p:nvSpPr>
          <p:cNvPr id="60" name="Shape 58"/>
          <p:cNvSpPr/>
          <p:nvPr/>
        </p:nvSpPr>
        <p:spPr>
          <a:xfrm>
            <a:off x="4149228" y="2563081"/>
            <a:ext cx="23999" cy="37270"/>
          </a:xfrm>
          <a:prstGeom prst="line">
            <a:avLst/>
          </a:prstGeom>
          <a:noFill/>
          <a:ln w="25400">
            <a:solidFill>
              <a:srgbClr val="2E5BD8"/>
            </a:solidFill>
            <a:prstDash val="solid"/>
          </a:ln>
        </p:spPr>
      </p:sp>
      <p:sp>
        <p:nvSpPr>
          <p:cNvPr id="61" name="Shape 59"/>
          <p:cNvSpPr/>
          <p:nvPr/>
        </p:nvSpPr>
        <p:spPr>
          <a:xfrm>
            <a:off x="4173226" y="2600352"/>
            <a:ext cx="22535" cy="38173"/>
          </a:xfrm>
          <a:prstGeom prst="line">
            <a:avLst/>
          </a:prstGeom>
          <a:noFill/>
          <a:ln w="25400">
            <a:solidFill>
              <a:srgbClr val="2E5BD8"/>
            </a:solidFill>
            <a:prstDash val="solid"/>
          </a:ln>
        </p:spPr>
      </p:sp>
      <p:sp>
        <p:nvSpPr>
          <p:cNvPr id="62" name="Shape 60"/>
          <p:cNvSpPr/>
          <p:nvPr/>
        </p:nvSpPr>
        <p:spPr>
          <a:xfrm>
            <a:off x="4195762" y="2638525"/>
            <a:ext cx="21038" cy="39018"/>
          </a:xfrm>
          <a:prstGeom prst="line">
            <a:avLst/>
          </a:prstGeom>
          <a:noFill/>
          <a:ln w="25400">
            <a:solidFill>
              <a:srgbClr val="2E5BD8"/>
            </a:solidFill>
            <a:prstDash val="solid"/>
          </a:ln>
        </p:spPr>
      </p:sp>
      <p:sp>
        <p:nvSpPr>
          <p:cNvPr id="63" name="Shape 61"/>
          <p:cNvSpPr/>
          <p:nvPr/>
        </p:nvSpPr>
        <p:spPr>
          <a:xfrm>
            <a:off x="4216800" y="2677543"/>
            <a:ext cx="19510" cy="39805"/>
          </a:xfrm>
          <a:prstGeom prst="line">
            <a:avLst/>
          </a:prstGeom>
          <a:noFill/>
          <a:ln w="25400">
            <a:solidFill>
              <a:srgbClr val="2E5BD8"/>
            </a:solidFill>
            <a:prstDash val="solid"/>
            <a:tailEnd type="triangle"/>
          </a:ln>
        </p:spPr>
      </p:sp>
      <p:sp>
        <p:nvSpPr>
          <p:cNvPr id="64" name="Text 62"/>
          <p:cNvSpPr/>
          <p:nvPr/>
        </p:nvSpPr>
        <p:spPr>
          <a:xfrm>
            <a:off x="731520" y="1417320"/>
            <a:ext cx="2103120" cy="256032"/>
          </a:xfrm>
          <a:prstGeom prst="rect">
            <a:avLst/>
          </a:prstGeom>
          <a:noFill/>
          <a:ln/>
        </p:spPr>
        <p:txBody>
          <a:bodyPr wrap="square" lIns="0" tIns="0" rIns="0" bIns="0" rtlCol="0" anchor="ctr"/>
          <a:lstStyle/>
          <a:p>
            <a:pPr algn="l" indent="0" marL="0">
              <a:buNone/>
            </a:pPr>
            <a:r>
              <a:rPr lang="en-US" sz="1050" b="1" dirty="0">
                <a:solidFill>
                  <a:srgbClr val="2E5BD8"/>
                </a:solidFill>
                <a:latin typeface="Calibri" pitchFamily="34" charset="0"/>
                <a:ea typeface="Calibri" pitchFamily="34" charset="-122"/>
                <a:cs typeface="Calibri" pitchFamily="34" charset="-120"/>
              </a:rPr>
              <a:t>anticlockwise: 400 × 1.5 = 600 N m</a:t>
            </a:r>
            <a:endParaRPr lang="en-US" sz="1050" dirty="0"/>
          </a:p>
        </p:txBody>
      </p:sp>
      <p:sp>
        <p:nvSpPr>
          <p:cNvPr id="65" name="Text 63"/>
          <p:cNvSpPr/>
          <p:nvPr/>
        </p:nvSpPr>
        <p:spPr>
          <a:xfrm>
            <a:off x="3429000" y="1417320"/>
            <a:ext cx="2377440" cy="256032"/>
          </a:xfrm>
          <a:prstGeom prst="rect">
            <a:avLst/>
          </a:prstGeom>
          <a:noFill/>
          <a:ln/>
        </p:spPr>
        <p:txBody>
          <a:bodyPr wrap="square" lIns="0" tIns="0" rIns="0" bIns="0" rtlCol="0" anchor="ctr"/>
          <a:lstStyle/>
          <a:p>
            <a:pPr algn="r" indent="0" marL="0">
              <a:buNone/>
            </a:pPr>
            <a:r>
              <a:rPr lang="en-US" sz="1050" b="1" dirty="0">
                <a:solidFill>
                  <a:srgbClr val="2E5BD8"/>
                </a:solidFill>
                <a:latin typeface="Calibri" pitchFamily="34" charset="0"/>
                <a:ea typeface="Calibri" pitchFamily="34" charset="-122"/>
                <a:cs typeface="Calibri" pitchFamily="34" charset="-120"/>
              </a:rPr>
              <a:t>clockwise: 600 × 1.0 = 600 N m</a:t>
            </a:r>
            <a:endParaRPr lang="en-US" sz="1050" dirty="0"/>
          </a:p>
        </p:txBody>
      </p:sp>
      <p:sp>
        <p:nvSpPr>
          <p:cNvPr id="66" name="Shape 64"/>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67" name="Text 65"/>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Balanced turning effects</a:t>
            </a:r>
            <a:endParaRPr lang="en-US" sz="1300" dirty="0"/>
          </a:p>
        </p:txBody>
      </p:sp>
      <p:sp>
        <p:nvSpPr>
          <p:cNvPr id="68" name="Text 66"/>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When an object is </a:t>
            </a:r>
            <a:r>
              <a:rPr lang="en-US" sz="1150" b="1" dirty="0">
                <a:solidFill>
                  <a:srgbClr val="262B3A"/>
                </a:solidFill>
                <a:latin typeface="Calibri" pitchFamily="34" charset="0"/>
                <a:ea typeface="Calibri" pitchFamily="34" charset="-122"/>
                <a:cs typeface="Calibri" pitchFamily="34" charset="-120"/>
              </a:rPr>
              <a:t>balanced</a:t>
            </a:r>
            <a:r>
              <a:rPr lang="en-US" sz="1150" dirty="0">
                <a:solidFill>
                  <a:srgbClr val="262B3A"/>
                </a:solidFill>
                <a:latin typeface="Calibri" pitchFamily="34" charset="0"/>
                <a:ea typeface="Calibri" pitchFamily="34" charset="-122"/>
                <a:cs typeface="Calibri" pitchFamily="34" charset="-120"/>
              </a:rPr>
              <a:t> (not turning), the moments about any pivot balance:</a:t>
            </a:r>
            <a:endParaRPr lang="en-US" sz="1150" dirty="0"/>
          </a:p>
          <a:p>
            <a:pPr indent="0" marL="0">
              <a:spcAft>
                <a:spcPts val="300"/>
              </a:spcAft>
              <a:buNone/>
            </a:pPr>
            <a:r>
              <a:rPr lang="en-US" sz="1150" b="1" dirty="0">
                <a:solidFill>
                  <a:srgbClr val="2E5BD8"/>
                </a:solidFill>
                <a:latin typeface="Calibri" pitchFamily="34" charset="0"/>
                <a:ea typeface="Calibri" pitchFamily="34" charset="-122"/>
                <a:cs typeface="Calibri" pitchFamily="34" charset="-120"/>
              </a:rPr>
              <a:t>sum of clockwise moments = sum of anticlockwise moments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If one side has a bigger moment, the object </a:t>
            </a:r>
            <a:r>
              <a:rPr lang="en-US" sz="1150" b="1" dirty="0">
                <a:solidFill>
                  <a:srgbClr val="262B3A"/>
                </a:solidFill>
                <a:latin typeface="Calibri" pitchFamily="34" charset="0"/>
                <a:ea typeface="Calibri" pitchFamily="34" charset="-122"/>
                <a:cs typeface="Calibri" pitchFamily="34" charset="-120"/>
              </a:rPr>
              <a:t>turns</a:t>
            </a:r>
            <a:r>
              <a:rPr lang="en-US" sz="1150" dirty="0">
                <a:solidFill>
                  <a:srgbClr val="262B3A"/>
                </a:solidFill>
                <a:latin typeface="Calibri" pitchFamily="34" charset="0"/>
                <a:ea typeface="Calibri" pitchFamily="34" charset="-122"/>
                <a:cs typeface="Calibri" pitchFamily="34" charset="-120"/>
              </a:rPr>
              <a:t> that way.</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heavier person must sit </a:t>
            </a:r>
            <a:r>
              <a:rPr lang="en-US" sz="1150" b="1" dirty="0">
                <a:solidFill>
                  <a:srgbClr val="262B3A"/>
                </a:solidFill>
                <a:latin typeface="Calibri" pitchFamily="34" charset="0"/>
                <a:ea typeface="Calibri" pitchFamily="34" charset="-122"/>
                <a:cs typeface="Calibri" pitchFamily="34" charset="-120"/>
              </a:rPr>
              <a:t>closer</a:t>
            </a:r>
            <a:r>
              <a:rPr lang="en-US" sz="1150" dirty="0">
                <a:solidFill>
                  <a:srgbClr val="262B3A"/>
                </a:solidFill>
                <a:latin typeface="Calibri" pitchFamily="34" charset="0"/>
                <a:ea typeface="Calibri" pitchFamily="34" charset="-122"/>
                <a:cs typeface="Calibri" pitchFamily="34" charset="-120"/>
              </a:rPr>
              <a:t> to the pivot to balance a lighter person.</a:t>
            </a:r>
            <a:endParaRPr lang="en-US" sz="1150" dirty="0"/>
          </a:p>
        </p:txBody>
      </p:sp>
      <p:sp>
        <p:nvSpPr>
          <p:cNvPr id="69" name="Shape 67"/>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70" name="Text 68"/>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71" name="Text 69"/>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A 300 N child sits 2.0 m left of the pivot. Where must a 500 N child sit to balance?</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Principle   </a:t>
            </a:r>
            <a:r>
              <a:rPr lang="en-US" sz="1100" dirty="0">
                <a:solidFill>
                  <a:srgbClr val="262B3A"/>
                </a:solidFill>
                <a:latin typeface="Calibri" pitchFamily="34" charset="0"/>
                <a:ea typeface="Calibri" pitchFamily="34" charset="-122"/>
                <a:cs typeface="Calibri" pitchFamily="34" charset="-120"/>
              </a:rPr>
              <a:t>clockwise moment = anticlockwise moment</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Substitute   </a:t>
            </a:r>
            <a:r>
              <a:rPr lang="en-US" sz="1100" dirty="0">
                <a:solidFill>
                  <a:srgbClr val="262B3A"/>
                </a:solidFill>
                <a:latin typeface="Calibri" pitchFamily="34" charset="0"/>
                <a:ea typeface="Calibri" pitchFamily="34" charset="-122"/>
                <a:cs typeface="Calibri" pitchFamily="34" charset="-120"/>
              </a:rPr>
              <a:t>500 × d = 300 × 2.0 = 600 N m</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Rearrange   </a:t>
            </a:r>
            <a:r>
              <a:rPr lang="en-US" sz="1100" dirty="0">
                <a:solidFill>
                  <a:srgbClr val="262B3A"/>
                </a:solidFill>
                <a:latin typeface="Calibri" pitchFamily="34" charset="0"/>
                <a:ea typeface="Calibri" pitchFamily="34" charset="-122"/>
                <a:cs typeface="Calibri" pitchFamily="34" charset="-120"/>
              </a:rPr>
              <a:t>d = 600 ÷ 500</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d = 1.2 m right of the pivot</a:t>
            </a:r>
            <a:endParaRPr lang="en-US" sz="1100" dirty="0"/>
          </a:p>
        </p:txBody>
      </p:sp>
      <p:sp>
        <p:nvSpPr>
          <p:cNvPr id="72" name="Shape 70"/>
          <p:cNvSpPr/>
          <p:nvPr/>
        </p:nvSpPr>
        <p:spPr>
          <a:xfrm>
            <a:off x="411480" y="5833872"/>
            <a:ext cx="11368735" cy="530352"/>
          </a:xfrm>
          <a:prstGeom prst="rect">
            <a:avLst/>
          </a:prstGeom>
          <a:solidFill>
            <a:srgbClr val="FFF4E0"/>
          </a:solidFill>
          <a:ln w="6350">
            <a:solidFill>
              <a:srgbClr val="F1D9A8"/>
            </a:solidFill>
            <a:prstDash val="solid"/>
          </a:ln>
        </p:spPr>
      </p:sp>
      <p:sp>
        <p:nvSpPr>
          <p:cNvPr id="73" name="Shape 71"/>
          <p:cNvSpPr/>
          <p:nvPr/>
        </p:nvSpPr>
        <p:spPr>
          <a:xfrm>
            <a:off x="411480" y="5833872"/>
            <a:ext cx="82296" cy="530352"/>
          </a:xfrm>
          <a:prstGeom prst="rect">
            <a:avLst/>
          </a:prstGeom>
          <a:solidFill>
            <a:srgbClr val="E39A2F"/>
          </a:solidFill>
          <a:ln w="12700">
            <a:solidFill>
              <a:srgbClr val="E39A2F"/>
            </a:solidFill>
            <a:prstDash val="solid"/>
          </a:ln>
        </p:spPr>
      </p:sp>
      <p:sp>
        <p:nvSpPr>
          <p:cNvPr id="74" name="Text 72"/>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250 N child sits 2.4 m from the pivot of a see-saw. How far from the pivot must a 400 N child sit to balance it?</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Moments with the weight of the beam</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9.8P • several forces, and the centre of gravity of a uniform beam</a:t>
            </a:r>
            <a:endParaRPr lang="en-US" sz="1100" dirty="0"/>
          </a:p>
        </p:txBody>
      </p:sp>
      <p:sp>
        <p:nvSpPr>
          <p:cNvPr id="6" name="Shape 4"/>
          <p:cNvSpPr/>
          <p:nvPr/>
        </p:nvSpPr>
        <p:spPr>
          <a:xfrm>
            <a:off x="10180015" y="292608"/>
            <a:ext cx="1600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0180015" y="292608"/>
            <a:ext cx="1600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GRADE 7–9 STRETCH</a:t>
            </a:r>
            <a:endParaRPr lang="en-US" sz="1000" dirty="0"/>
          </a:p>
        </p:txBody>
      </p:sp>
      <p:sp>
        <p:nvSpPr>
          <p:cNvPr id="8" name="Shape 6"/>
          <p:cNvSpPr/>
          <p:nvPr/>
        </p:nvSpPr>
        <p:spPr>
          <a:xfrm>
            <a:off x="8899855" y="292608"/>
            <a:ext cx="1188720" cy="274320"/>
          </a:xfrm>
          <a:prstGeom prst="roundRect">
            <a:avLst>
              <a:gd name="adj" fmla="val 50000"/>
            </a:avLst>
          </a:prstGeom>
          <a:solidFill>
            <a:srgbClr val="2E5BD8"/>
          </a:solidFill>
          <a:ln w="12700">
            <a:solidFill>
              <a:srgbClr val="2E5BD8"/>
            </a:solidFill>
            <a:prstDash val="solid"/>
          </a:ln>
        </p:spPr>
      </p:sp>
      <p:sp>
        <p:nvSpPr>
          <p:cNvPr id="9" name="Text 7"/>
          <p:cNvSpPr/>
          <p:nvPr/>
        </p:nvSpPr>
        <p:spPr>
          <a:xfrm>
            <a:off x="8899855" y="292608"/>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PHYSICS ONLY</a:t>
            </a:r>
            <a:endParaRPr lang="en-US" sz="1000" dirty="0"/>
          </a:p>
        </p:txBody>
      </p:sp>
      <p:sp>
        <p:nvSpPr>
          <p:cNvPr id="10" name="Text 8"/>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9 Forces and their effects | Higher &amp; Foundation</a:t>
            </a:r>
            <a:endParaRPr lang="en-US" sz="1000" dirty="0"/>
          </a:p>
        </p:txBody>
      </p:sp>
      <p:sp>
        <p:nvSpPr>
          <p:cNvPr id="11" name="Text 9"/>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9.8P stretch  |  22</a:t>
            </a:r>
            <a:endParaRPr lang="en-US" sz="1000" dirty="0"/>
          </a:p>
        </p:txBody>
      </p:sp>
      <p:sp>
        <p:nvSpPr>
          <p:cNvPr id="12" name="Shape 10"/>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3" name="Text 11"/>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2.0 m uniform beam, pivot 0.50 m from the left end; arrows to scale</a:t>
            </a:r>
            <a:endParaRPr lang="en-US" sz="1000" dirty="0"/>
          </a:p>
        </p:txBody>
      </p:sp>
      <p:sp>
        <p:nvSpPr>
          <p:cNvPr id="14" name="Shape 12"/>
          <p:cNvSpPr/>
          <p:nvPr/>
        </p:nvSpPr>
        <p:spPr>
          <a:xfrm>
            <a:off x="822960" y="3566160"/>
            <a:ext cx="4572000" cy="128016"/>
          </a:xfrm>
          <a:prstGeom prst="rect">
            <a:avLst/>
          </a:prstGeom>
          <a:solidFill>
            <a:srgbClr val="C99A5B"/>
          </a:solidFill>
          <a:ln w="12700">
            <a:solidFill>
              <a:srgbClr val="8A6A3A"/>
            </a:solidFill>
            <a:prstDash val="solid"/>
          </a:ln>
        </p:spPr>
      </p:sp>
      <p:sp>
        <p:nvSpPr>
          <p:cNvPr id="15" name="Shape 13"/>
          <p:cNvSpPr/>
          <p:nvPr/>
        </p:nvSpPr>
        <p:spPr>
          <a:xfrm>
            <a:off x="1773936" y="3694176"/>
            <a:ext cx="384048" cy="411480"/>
          </a:xfrm>
          <a:prstGeom prst="triangle">
            <a:avLst/>
          </a:prstGeom>
          <a:solidFill>
            <a:srgbClr val="5A6275"/>
          </a:solidFill>
          <a:ln w="12700">
            <a:solidFill>
              <a:srgbClr val="5A6275"/>
            </a:solidFill>
            <a:prstDash val="solid"/>
          </a:ln>
        </p:spPr>
      </p:sp>
      <p:sp>
        <p:nvSpPr>
          <p:cNvPr id="16" name="Shape 14"/>
          <p:cNvSpPr/>
          <p:nvPr/>
        </p:nvSpPr>
        <p:spPr>
          <a:xfrm>
            <a:off x="877824" y="3694176"/>
            <a:ext cx="91" cy="1188720"/>
          </a:xfrm>
          <a:prstGeom prst="line">
            <a:avLst/>
          </a:prstGeom>
          <a:noFill/>
          <a:ln w="38100">
            <a:solidFill>
              <a:srgbClr val="C8414C"/>
            </a:solidFill>
            <a:prstDash val="solid"/>
            <a:tailEnd type="triangle"/>
          </a:ln>
        </p:spPr>
      </p:sp>
      <p:sp>
        <p:nvSpPr>
          <p:cNvPr id="17" name="Text 15"/>
          <p:cNvSpPr/>
          <p:nvPr/>
        </p:nvSpPr>
        <p:spPr>
          <a:xfrm>
            <a:off x="914400" y="4526280"/>
            <a:ext cx="914400" cy="256032"/>
          </a:xfrm>
          <a:prstGeom prst="rect">
            <a:avLst/>
          </a:prstGeom>
          <a:noFill/>
          <a:ln/>
        </p:spPr>
        <p:txBody>
          <a:bodyPr wrap="square" lIns="0" tIns="0" rIns="0" bIns="0" rtlCol="0" anchor="ctr"/>
          <a:lstStyle/>
          <a:p>
            <a:pPr algn="l" indent="0" marL="0">
              <a:buNone/>
            </a:pPr>
            <a:r>
              <a:rPr lang="en-US" sz="1100" b="1" dirty="0">
                <a:solidFill>
                  <a:srgbClr val="C8414C"/>
                </a:solidFill>
                <a:latin typeface="Calibri" pitchFamily="34" charset="0"/>
                <a:ea typeface="Calibri" pitchFamily="34" charset="-122"/>
                <a:cs typeface="Calibri" pitchFamily="34" charset="-120"/>
              </a:rPr>
              <a:t>F = ?</a:t>
            </a:r>
            <a:endParaRPr lang="en-US" sz="1100" dirty="0"/>
          </a:p>
        </p:txBody>
      </p:sp>
      <p:sp>
        <p:nvSpPr>
          <p:cNvPr id="18" name="Shape 16"/>
          <p:cNvSpPr/>
          <p:nvPr/>
        </p:nvSpPr>
        <p:spPr>
          <a:xfrm>
            <a:off x="3108960" y="3694176"/>
            <a:ext cx="91" cy="365760"/>
          </a:xfrm>
          <a:prstGeom prst="line">
            <a:avLst/>
          </a:prstGeom>
          <a:noFill/>
          <a:ln w="38100">
            <a:solidFill>
              <a:srgbClr val="C8414C"/>
            </a:solidFill>
            <a:prstDash val="solid"/>
            <a:tailEnd type="triangle"/>
          </a:ln>
        </p:spPr>
      </p:sp>
      <p:sp>
        <p:nvSpPr>
          <p:cNvPr id="19" name="Text 17"/>
          <p:cNvSpPr/>
          <p:nvPr/>
        </p:nvSpPr>
        <p:spPr>
          <a:xfrm>
            <a:off x="2468880" y="4114800"/>
            <a:ext cx="1280160" cy="256032"/>
          </a:xfrm>
          <a:prstGeom prst="rect">
            <a:avLst/>
          </a:prstGeom>
          <a:noFill/>
          <a:ln/>
        </p:spPr>
        <p:txBody>
          <a:bodyPr wrap="square" lIns="0" tIns="0" rIns="0" bIns="0" rtlCol="0" anchor="ctr"/>
          <a:lstStyle/>
          <a:p>
            <a:pPr algn="ctr" indent="0" marL="0">
              <a:buNone/>
            </a:pPr>
            <a:r>
              <a:rPr lang="en-US" sz="1050" b="1" dirty="0">
                <a:solidFill>
                  <a:srgbClr val="C8414C"/>
                </a:solidFill>
                <a:latin typeface="Calibri" pitchFamily="34" charset="0"/>
                <a:ea typeface="Calibri" pitchFamily="34" charset="-122"/>
                <a:cs typeface="Calibri" pitchFamily="34" charset="-120"/>
              </a:rPr>
              <a:t>weight 40 N</a:t>
            </a:r>
            <a:endParaRPr lang="en-US" sz="1050" dirty="0"/>
          </a:p>
        </p:txBody>
      </p:sp>
      <p:sp>
        <p:nvSpPr>
          <p:cNvPr id="20" name="Shape 18"/>
          <p:cNvSpPr/>
          <p:nvPr/>
        </p:nvSpPr>
        <p:spPr>
          <a:xfrm>
            <a:off x="3044952" y="3566160"/>
            <a:ext cx="128016" cy="128016"/>
          </a:xfrm>
          <a:prstGeom prst="ellipse">
            <a:avLst/>
          </a:prstGeom>
          <a:solidFill>
            <a:srgbClr val="1A2340"/>
          </a:solidFill>
          <a:ln w="12700">
            <a:solidFill>
              <a:srgbClr val="FFFFFF"/>
            </a:solidFill>
            <a:prstDash val="solid"/>
          </a:ln>
        </p:spPr>
      </p:sp>
      <p:sp>
        <p:nvSpPr>
          <p:cNvPr id="21" name="Text 19"/>
          <p:cNvSpPr/>
          <p:nvPr/>
        </p:nvSpPr>
        <p:spPr>
          <a:xfrm>
            <a:off x="2194560" y="3246120"/>
            <a:ext cx="1828800" cy="256032"/>
          </a:xfrm>
          <a:prstGeom prst="rect">
            <a:avLst/>
          </a:prstGeom>
          <a:noFill/>
          <a:ln/>
        </p:spPr>
        <p:txBody>
          <a:bodyPr wrap="square" lIns="0" tIns="0" rIns="0" bIns="0" rtlCol="0" anchor="ctr"/>
          <a:lstStyle/>
          <a:p>
            <a:pPr algn="ctr" indent="0" marL="0">
              <a:buNone/>
            </a:pPr>
            <a:r>
              <a:rPr lang="en-US" sz="1050" i="1" dirty="0">
                <a:solidFill>
                  <a:srgbClr val="1A2340"/>
                </a:solidFill>
                <a:latin typeface="Calibri" pitchFamily="34" charset="0"/>
                <a:ea typeface="Calibri" pitchFamily="34" charset="-122"/>
                <a:cs typeface="Calibri" pitchFamily="34" charset="-120"/>
              </a:rPr>
              <a:t>centre of gravity</a:t>
            </a:r>
            <a:endParaRPr lang="en-US" sz="1050" dirty="0"/>
          </a:p>
        </p:txBody>
      </p:sp>
      <p:sp>
        <p:nvSpPr>
          <p:cNvPr id="22" name="Shape 20"/>
          <p:cNvSpPr/>
          <p:nvPr/>
        </p:nvSpPr>
        <p:spPr>
          <a:xfrm>
            <a:off x="5340096" y="3694176"/>
            <a:ext cx="91" cy="274320"/>
          </a:xfrm>
          <a:prstGeom prst="line">
            <a:avLst/>
          </a:prstGeom>
          <a:noFill/>
          <a:ln w="38100">
            <a:solidFill>
              <a:srgbClr val="C8414C"/>
            </a:solidFill>
            <a:prstDash val="solid"/>
            <a:tailEnd type="triangle"/>
          </a:ln>
        </p:spPr>
      </p:sp>
      <p:sp>
        <p:nvSpPr>
          <p:cNvPr id="23" name="Text 21"/>
          <p:cNvSpPr/>
          <p:nvPr/>
        </p:nvSpPr>
        <p:spPr>
          <a:xfrm>
            <a:off x="4480560" y="4023360"/>
            <a:ext cx="868680" cy="256032"/>
          </a:xfrm>
          <a:prstGeom prst="rect">
            <a:avLst/>
          </a:prstGeom>
          <a:noFill/>
          <a:ln/>
        </p:spPr>
        <p:txBody>
          <a:bodyPr wrap="square" lIns="0" tIns="0" rIns="0" bIns="0" rtlCol="0" anchor="ctr"/>
          <a:lstStyle/>
          <a:p>
            <a:pPr algn="r" indent="0" marL="0">
              <a:buNone/>
            </a:pPr>
            <a:r>
              <a:rPr lang="en-US" sz="1050" b="1" dirty="0">
                <a:solidFill>
                  <a:srgbClr val="C8414C"/>
                </a:solidFill>
                <a:latin typeface="Calibri" pitchFamily="34" charset="0"/>
                <a:ea typeface="Calibri" pitchFamily="34" charset="-122"/>
                <a:cs typeface="Calibri" pitchFamily="34" charset="-120"/>
              </a:rPr>
              <a:t>load 30 N</a:t>
            </a:r>
            <a:endParaRPr lang="en-US" sz="1050" dirty="0"/>
          </a:p>
        </p:txBody>
      </p:sp>
      <p:sp>
        <p:nvSpPr>
          <p:cNvPr id="24" name="Shape 22"/>
          <p:cNvSpPr/>
          <p:nvPr/>
        </p:nvSpPr>
        <p:spPr>
          <a:xfrm flipV="1">
            <a:off x="1965960" y="1737360"/>
            <a:ext cx="91" cy="1828800"/>
          </a:xfrm>
          <a:prstGeom prst="line">
            <a:avLst/>
          </a:prstGeom>
          <a:noFill/>
          <a:ln w="38100">
            <a:solidFill>
              <a:srgbClr val="2E5BD8"/>
            </a:solidFill>
            <a:prstDash val="solid"/>
            <a:tailEnd type="triangle"/>
          </a:ln>
        </p:spPr>
      </p:sp>
      <p:sp>
        <p:nvSpPr>
          <p:cNvPr id="25" name="Text 23"/>
          <p:cNvSpPr/>
          <p:nvPr/>
        </p:nvSpPr>
        <p:spPr>
          <a:xfrm>
            <a:off x="2039112" y="1783080"/>
            <a:ext cx="1463040" cy="256032"/>
          </a:xfrm>
          <a:prstGeom prst="rect">
            <a:avLst/>
          </a:prstGeom>
          <a:noFill/>
          <a:ln/>
        </p:spPr>
        <p:txBody>
          <a:bodyPr wrap="square" lIns="0" tIns="0" rIns="0" bIns="0" rtlCol="0" anchor="ctr"/>
          <a:lstStyle/>
          <a:p>
            <a:pPr algn="l" indent="0" marL="0">
              <a:buNone/>
            </a:pPr>
            <a:r>
              <a:rPr lang="en-US" sz="1050" b="1" dirty="0">
                <a:solidFill>
                  <a:srgbClr val="2E5BD8"/>
                </a:solidFill>
                <a:latin typeface="Calibri" pitchFamily="34" charset="0"/>
                <a:ea typeface="Calibri" pitchFamily="34" charset="-122"/>
                <a:cs typeface="Calibri" pitchFamily="34" charset="-120"/>
              </a:rPr>
              <a:t>support 200 N</a:t>
            </a:r>
            <a:endParaRPr lang="en-US" sz="1050" dirty="0"/>
          </a:p>
        </p:txBody>
      </p:sp>
      <p:sp>
        <p:nvSpPr>
          <p:cNvPr id="26" name="Shape 24"/>
          <p:cNvSpPr/>
          <p:nvPr/>
        </p:nvSpPr>
        <p:spPr>
          <a:xfrm>
            <a:off x="822960" y="4983480"/>
            <a:ext cx="1143000" cy="91"/>
          </a:xfrm>
          <a:prstGeom prst="line">
            <a:avLst/>
          </a:prstGeom>
          <a:noFill/>
          <a:ln w="13970">
            <a:solidFill>
              <a:srgbClr val="1A2340"/>
            </a:solidFill>
            <a:prstDash val="solid"/>
            <a:headEnd type="triangle"/>
            <a:tailEnd type="triangle"/>
          </a:ln>
        </p:spPr>
      </p:sp>
      <p:sp>
        <p:nvSpPr>
          <p:cNvPr id="27" name="Text 25"/>
          <p:cNvSpPr/>
          <p:nvPr/>
        </p:nvSpPr>
        <p:spPr>
          <a:xfrm>
            <a:off x="822960" y="5001768"/>
            <a:ext cx="114300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0.50 m</a:t>
            </a:r>
            <a:endParaRPr lang="en-US" sz="1050" dirty="0"/>
          </a:p>
        </p:txBody>
      </p:sp>
      <p:sp>
        <p:nvSpPr>
          <p:cNvPr id="28" name="Shape 26"/>
          <p:cNvSpPr/>
          <p:nvPr/>
        </p:nvSpPr>
        <p:spPr>
          <a:xfrm>
            <a:off x="1965960" y="4983480"/>
            <a:ext cx="1143000" cy="91"/>
          </a:xfrm>
          <a:prstGeom prst="line">
            <a:avLst/>
          </a:prstGeom>
          <a:noFill/>
          <a:ln w="13970">
            <a:solidFill>
              <a:srgbClr val="1A2340"/>
            </a:solidFill>
            <a:prstDash val="solid"/>
            <a:headEnd type="triangle"/>
            <a:tailEnd type="triangle"/>
          </a:ln>
        </p:spPr>
      </p:sp>
      <p:sp>
        <p:nvSpPr>
          <p:cNvPr id="29" name="Text 27"/>
          <p:cNvSpPr/>
          <p:nvPr/>
        </p:nvSpPr>
        <p:spPr>
          <a:xfrm>
            <a:off x="1965960" y="5001768"/>
            <a:ext cx="114300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0.50 m</a:t>
            </a:r>
            <a:endParaRPr lang="en-US" sz="1050" dirty="0"/>
          </a:p>
        </p:txBody>
      </p:sp>
      <p:sp>
        <p:nvSpPr>
          <p:cNvPr id="30" name="Shape 28"/>
          <p:cNvSpPr/>
          <p:nvPr/>
        </p:nvSpPr>
        <p:spPr>
          <a:xfrm>
            <a:off x="3108960" y="4983480"/>
            <a:ext cx="2286000" cy="91"/>
          </a:xfrm>
          <a:prstGeom prst="line">
            <a:avLst/>
          </a:prstGeom>
          <a:noFill/>
          <a:ln w="13970">
            <a:solidFill>
              <a:srgbClr val="1A2340"/>
            </a:solidFill>
            <a:prstDash val="solid"/>
            <a:headEnd type="triangle"/>
            <a:tailEnd type="triangle"/>
          </a:ln>
        </p:spPr>
      </p:sp>
      <p:sp>
        <p:nvSpPr>
          <p:cNvPr id="31" name="Text 29"/>
          <p:cNvSpPr/>
          <p:nvPr/>
        </p:nvSpPr>
        <p:spPr>
          <a:xfrm>
            <a:off x="3108960" y="5001768"/>
            <a:ext cx="228600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1.00 m</a:t>
            </a:r>
            <a:endParaRPr lang="en-US" sz="1050" dirty="0"/>
          </a:p>
        </p:txBody>
      </p:sp>
      <p:sp>
        <p:nvSpPr>
          <p:cNvPr id="32" name="Shape 30"/>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33" name="Text 31"/>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Two Grade 7–9 ideas</a:t>
            </a:r>
            <a:endParaRPr lang="en-US" sz="1300" dirty="0"/>
          </a:p>
        </p:txBody>
      </p:sp>
      <p:sp>
        <p:nvSpPr>
          <p:cNvPr id="34" name="Text 32"/>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weight of an object acts at its </a:t>
            </a:r>
            <a:r>
              <a:rPr lang="en-US" sz="1150" b="1" dirty="0">
                <a:solidFill>
                  <a:srgbClr val="262B3A"/>
                </a:solidFill>
                <a:latin typeface="Calibri" pitchFamily="34" charset="0"/>
                <a:ea typeface="Calibri" pitchFamily="34" charset="-122"/>
                <a:cs typeface="Calibri" pitchFamily="34" charset="-120"/>
              </a:rPr>
              <a:t>centre of gravity</a:t>
            </a:r>
            <a:r>
              <a:rPr lang="en-US" sz="1150" dirty="0">
                <a:solidFill>
                  <a:srgbClr val="262B3A"/>
                </a:solidFill>
                <a:latin typeface="Calibri" pitchFamily="34" charset="0"/>
                <a:ea typeface="Calibri" pitchFamily="34" charset="-122"/>
                <a:cs typeface="Calibri" pitchFamily="34" charset="-120"/>
              </a:rPr>
              <a:t> (centre of mass). For a </a:t>
            </a:r>
            <a:r>
              <a:rPr lang="en-US" sz="1150" b="1" dirty="0">
                <a:solidFill>
                  <a:srgbClr val="262B3A"/>
                </a:solidFill>
                <a:latin typeface="Calibri" pitchFamily="34" charset="0"/>
                <a:ea typeface="Calibri" pitchFamily="34" charset="-122"/>
                <a:cs typeface="Calibri" pitchFamily="34" charset="-120"/>
              </a:rPr>
              <a:t>uniform</a:t>
            </a:r>
            <a:r>
              <a:rPr lang="en-US" sz="1150" dirty="0">
                <a:solidFill>
                  <a:srgbClr val="262B3A"/>
                </a:solidFill>
                <a:latin typeface="Calibri" pitchFamily="34" charset="0"/>
                <a:ea typeface="Calibri" pitchFamily="34" charset="-122"/>
                <a:cs typeface="Calibri" pitchFamily="34" charset="-120"/>
              </a:rPr>
              <a:t> beam this is the </a:t>
            </a:r>
            <a:r>
              <a:rPr lang="en-US" sz="1150" b="1" dirty="0">
                <a:solidFill>
                  <a:srgbClr val="262B3A"/>
                </a:solidFill>
                <a:latin typeface="Calibri" pitchFamily="34" charset="0"/>
                <a:ea typeface="Calibri" pitchFamily="34" charset="-122"/>
                <a:cs typeface="Calibri" pitchFamily="34" charset="-120"/>
              </a:rPr>
              <a:t>middle</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So a beam’s own weight has a moment unless the pivot is at its centre.</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Add </a:t>
            </a:r>
            <a:r>
              <a:rPr lang="en-US" sz="1150" b="1" dirty="0">
                <a:solidFill>
                  <a:srgbClr val="262B3A"/>
                </a:solidFill>
                <a:latin typeface="Calibri" pitchFamily="34" charset="0"/>
                <a:ea typeface="Calibri" pitchFamily="34" charset="-122"/>
                <a:cs typeface="Calibri" pitchFamily="34" charset="-120"/>
              </a:rPr>
              <a:t>all</a:t>
            </a:r>
            <a:r>
              <a:rPr lang="en-US" sz="1150" dirty="0">
                <a:solidFill>
                  <a:srgbClr val="262B3A"/>
                </a:solidFill>
                <a:latin typeface="Calibri" pitchFamily="34" charset="0"/>
                <a:ea typeface="Calibri" pitchFamily="34" charset="-122"/>
                <a:cs typeface="Calibri" pitchFamily="34" charset="-120"/>
              </a:rPr>
              <a:t> the clockwise moments and </a:t>
            </a:r>
            <a:r>
              <a:rPr lang="en-US" sz="1150" b="1" dirty="0">
                <a:solidFill>
                  <a:srgbClr val="262B3A"/>
                </a:solidFill>
                <a:latin typeface="Calibri" pitchFamily="34" charset="0"/>
                <a:ea typeface="Calibri" pitchFamily="34" charset="-122"/>
                <a:cs typeface="Calibri" pitchFamily="34" charset="-120"/>
              </a:rPr>
              <a:t>all</a:t>
            </a:r>
            <a:r>
              <a:rPr lang="en-US" sz="1150" dirty="0">
                <a:solidFill>
                  <a:srgbClr val="262B3A"/>
                </a:solidFill>
                <a:latin typeface="Calibri" pitchFamily="34" charset="0"/>
                <a:ea typeface="Calibri" pitchFamily="34" charset="-122"/>
                <a:cs typeface="Calibri" pitchFamily="34" charset="-120"/>
              </a:rPr>
              <a:t> the anticlockwise moments.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For balance the upward support force also equals the total downward force.</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An object </a:t>
            </a:r>
            <a:r>
              <a:rPr lang="en-US" sz="1150" b="1" dirty="0">
                <a:solidFill>
                  <a:srgbClr val="262B3A"/>
                </a:solidFill>
                <a:latin typeface="Calibri" pitchFamily="34" charset="0"/>
                <a:ea typeface="Calibri" pitchFamily="34" charset="-122"/>
                <a:cs typeface="Calibri" pitchFamily="34" charset="-120"/>
              </a:rPr>
              <a:t>topples</a:t>
            </a:r>
            <a:r>
              <a:rPr lang="en-US" sz="1150" dirty="0">
                <a:solidFill>
                  <a:srgbClr val="262B3A"/>
                </a:solidFill>
                <a:latin typeface="Calibri" pitchFamily="34" charset="0"/>
                <a:ea typeface="Calibri" pitchFamily="34" charset="-122"/>
                <a:cs typeface="Calibri" pitchFamily="34" charset="-120"/>
              </a:rPr>
              <a:t> if its centre of gravity moves outside its base.</a:t>
            </a:r>
            <a:endParaRPr lang="en-US" sz="1150" dirty="0"/>
          </a:p>
        </p:txBody>
      </p:sp>
      <p:sp>
        <p:nvSpPr>
          <p:cNvPr id="35" name="Shape 33"/>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36" name="Text 34"/>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37" name="Text 35"/>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Find the force F needed at the left end to keep the beam level.</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Clockwise   </a:t>
            </a:r>
            <a:r>
              <a:rPr lang="en-US" sz="1050" dirty="0">
                <a:solidFill>
                  <a:srgbClr val="262B3A"/>
                </a:solidFill>
                <a:latin typeface="Calibri" pitchFamily="34" charset="0"/>
                <a:ea typeface="Calibri" pitchFamily="34" charset="-122"/>
                <a:cs typeface="Calibri" pitchFamily="34" charset="-120"/>
              </a:rPr>
              <a:t>40 × 0.50 + 30 × 1.5 = 20 + 45 = 65 N m</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Anticlockwise   </a:t>
            </a:r>
            <a:r>
              <a:rPr lang="en-US" sz="1050" dirty="0">
                <a:solidFill>
                  <a:srgbClr val="262B3A"/>
                </a:solidFill>
                <a:latin typeface="Calibri" pitchFamily="34" charset="0"/>
                <a:ea typeface="Calibri" pitchFamily="34" charset="-122"/>
                <a:cs typeface="Calibri" pitchFamily="34" charset="-120"/>
              </a:rPr>
              <a:t>F × 0.50</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Balance   </a:t>
            </a:r>
            <a:r>
              <a:rPr lang="en-US" sz="1050" dirty="0">
                <a:solidFill>
                  <a:srgbClr val="262B3A"/>
                </a:solidFill>
                <a:latin typeface="Calibri" pitchFamily="34" charset="0"/>
                <a:ea typeface="Calibri" pitchFamily="34" charset="-122"/>
                <a:cs typeface="Calibri" pitchFamily="34" charset="-120"/>
              </a:rPr>
              <a:t>F × 0.50 = 65, so F = 65 ÷ 0.50</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F = 130 N; support = 200 N</a:t>
            </a:r>
            <a:endParaRPr lang="en-US" sz="1050" dirty="0"/>
          </a:p>
        </p:txBody>
      </p:sp>
      <p:sp>
        <p:nvSpPr>
          <p:cNvPr id="38" name="Shape 36"/>
          <p:cNvSpPr/>
          <p:nvPr/>
        </p:nvSpPr>
        <p:spPr>
          <a:xfrm>
            <a:off x="411480" y="5833872"/>
            <a:ext cx="11368735" cy="530352"/>
          </a:xfrm>
          <a:prstGeom prst="rect">
            <a:avLst/>
          </a:prstGeom>
          <a:solidFill>
            <a:srgbClr val="FFF4E0"/>
          </a:solidFill>
          <a:ln w="6350">
            <a:solidFill>
              <a:srgbClr val="F1D9A8"/>
            </a:solidFill>
            <a:prstDash val="solid"/>
          </a:ln>
        </p:spPr>
      </p:sp>
      <p:sp>
        <p:nvSpPr>
          <p:cNvPr id="39" name="Shape 37"/>
          <p:cNvSpPr/>
          <p:nvPr/>
        </p:nvSpPr>
        <p:spPr>
          <a:xfrm>
            <a:off x="411480" y="5833872"/>
            <a:ext cx="82296" cy="530352"/>
          </a:xfrm>
          <a:prstGeom prst="rect">
            <a:avLst/>
          </a:prstGeom>
          <a:solidFill>
            <a:srgbClr val="E39A2F"/>
          </a:solidFill>
          <a:ln w="12700">
            <a:solidFill>
              <a:srgbClr val="E39A2F"/>
            </a:solidFill>
            <a:prstDash val="solid"/>
          </a:ln>
        </p:spPr>
      </p:sp>
      <p:sp>
        <p:nvSpPr>
          <p:cNvPr id="40" name="Text 3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Explain why the support force at the pivot is 200 N, not 130 N.</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5</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9.6P–9.8P • moments and the principle of moments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9 Forces and their effects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5  |  23</a:t>
            </a:r>
            <a:endParaRPr lang="en-US" sz="1000" dirty="0"/>
          </a:p>
        </p:txBody>
      </p:sp>
      <p:sp>
        <p:nvSpPr>
          <p:cNvPr id="8" name="Shape 6"/>
          <p:cNvSpPr/>
          <p:nvPr/>
        </p:nvSpPr>
        <p:spPr>
          <a:xfrm>
            <a:off x="411480" y="1207008"/>
            <a:ext cx="11368735" cy="1594104"/>
          </a:xfrm>
          <a:prstGeom prst="roundRect">
            <a:avLst>
              <a:gd name="adj" fmla="val 2868"/>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State the </a:t>
            </a:r>
            <a:r>
              <a:rPr lang="en-US" sz="1250" b="1" dirty="0">
                <a:solidFill>
                  <a:srgbClr val="262B3A"/>
                </a:solidFill>
                <a:latin typeface="Calibri" pitchFamily="34" charset="0"/>
                <a:ea typeface="Calibri" pitchFamily="34" charset="-122"/>
                <a:cs typeface="Calibri" pitchFamily="34" charset="-120"/>
              </a:rPr>
              <a:t>principle of moments</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2" name="Text 10"/>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947416"/>
            <a:ext cx="11368735" cy="1594104"/>
          </a:xfrm>
          <a:prstGeom prst="roundRect">
            <a:avLst>
              <a:gd name="adj" fmla="val 2868"/>
            </a:avLst>
          </a:prstGeom>
          <a:solidFill>
            <a:srgbClr val="FFFFFF"/>
          </a:solidFill>
          <a:ln w="12700">
            <a:solidFill>
              <a:srgbClr val="D5DCEB"/>
            </a:solidFill>
            <a:prstDash val="solid"/>
          </a:ln>
        </p:spPr>
      </p:sp>
      <p:sp>
        <p:nvSpPr>
          <p:cNvPr id="14" name="Shape 12"/>
          <p:cNvSpPr/>
          <p:nvPr/>
        </p:nvSpPr>
        <p:spPr>
          <a:xfrm>
            <a:off x="411480" y="2947416"/>
            <a:ext cx="2103120" cy="292608"/>
          </a:xfrm>
          <a:prstGeom prst="rect">
            <a:avLst/>
          </a:prstGeom>
          <a:solidFill>
            <a:srgbClr val="F5A742"/>
          </a:solidFill>
          <a:ln w="12700">
            <a:solidFill>
              <a:srgbClr val="F5A742"/>
            </a:solidFill>
            <a:prstDash val="solid"/>
          </a:ln>
        </p:spPr>
      </p:sp>
      <p:sp>
        <p:nvSpPr>
          <p:cNvPr id="15" name="Text 13"/>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force of </a:t>
            </a:r>
            <a:r>
              <a:rPr lang="en-US" sz="1250" b="1" dirty="0">
                <a:solidFill>
                  <a:srgbClr val="262B3A"/>
                </a:solidFill>
                <a:latin typeface="Calibri" pitchFamily="34" charset="0"/>
                <a:ea typeface="Calibri" pitchFamily="34" charset="-122"/>
                <a:cs typeface="Calibri" pitchFamily="34" charset="-120"/>
              </a:rPr>
              <a:t>25 N</a:t>
            </a:r>
            <a:r>
              <a:rPr lang="en-US" sz="1250" dirty="0">
                <a:solidFill>
                  <a:srgbClr val="262B3A"/>
                </a:solidFill>
                <a:latin typeface="Calibri" pitchFamily="34" charset="0"/>
                <a:ea typeface="Calibri" pitchFamily="34" charset="-122"/>
                <a:cs typeface="Calibri" pitchFamily="34" charset="-120"/>
              </a:rPr>
              <a:t> is applied at right angles to a lever, </a:t>
            </a:r>
            <a:r>
              <a:rPr lang="en-US" sz="1250" b="1" dirty="0">
                <a:solidFill>
                  <a:srgbClr val="262B3A"/>
                </a:solidFill>
                <a:latin typeface="Calibri" pitchFamily="34" charset="0"/>
                <a:ea typeface="Calibri" pitchFamily="34" charset="-122"/>
                <a:cs typeface="Calibri" pitchFamily="34" charset="-120"/>
              </a:rPr>
              <a:t>0.40 m</a:t>
            </a:r>
            <a:r>
              <a:rPr lang="en-US" sz="1250" dirty="0">
                <a:solidFill>
                  <a:srgbClr val="262B3A"/>
                </a:solidFill>
                <a:latin typeface="Calibri" pitchFamily="34" charset="0"/>
                <a:ea typeface="Calibri" pitchFamily="34" charset="-122"/>
                <a:cs typeface="Calibri" pitchFamily="34" charset="-120"/>
              </a:rPr>
              <a:t> from the pivot. Calculate the moment of the force. Give the unit.</a:t>
            </a:r>
            <a:endParaRPr lang="en-US" sz="1250" dirty="0"/>
          </a:p>
        </p:txBody>
      </p:sp>
      <p:sp>
        <p:nvSpPr>
          <p:cNvPr id="17" name="Text 15"/>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4687824"/>
            <a:ext cx="11368735" cy="1594104"/>
          </a:xfrm>
          <a:prstGeom prst="roundRect">
            <a:avLst>
              <a:gd name="adj" fmla="val 2868"/>
            </a:avLst>
          </a:prstGeom>
          <a:solidFill>
            <a:srgbClr val="FFFFFF"/>
          </a:solidFill>
          <a:ln w="12700">
            <a:solidFill>
              <a:srgbClr val="D5DCEB"/>
            </a:solidFill>
            <a:prstDash val="solid"/>
          </a:ln>
        </p:spPr>
      </p:sp>
      <p:sp>
        <p:nvSpPr>
          <p:cNvPr id="19" name="Shape 17"/>
          <p:cNvSpPr/>
          <p:nvPr/>
        </p:nvSpPr>
        <p:spPr>
          <a:xfrm>
            <a:off x="411480" y="4687824"/>
            <a:ext cx="2103120" cy="292608"/>
          </a:xfrm>
          <a:prstGeom prst="rect">
            <a:avLst/>
          </a:prstGeom>
          <a:solidFill>
            <a:srgbClr val="F5A742"/>
          </a:solidFill>
          <a:ln w="12700">
            <a:solidFill>
              <a:srgbClr val="F5A742"/>
            </a:solidFill>
            <a:prstDash val="solid"/>
          </a:ln>
        </p:spPr>
      </p:sp>
      <p:sp>
        <p:nvSpPr>
          <p:cNvPr id="20" name="Text 18"/>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5053584"/>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a:t>
            </a:r>
            <a:r>
              <a:rPr lang="en-US" sz="1250" b="1" dirty="0">
                <a:solidFill>
                  <a:srgbClr val="262B3A"/>
                </a:solidFill>
                <a:latin typeface="Calibri" pitchFamily="34" charset="0"/>
                <a:ea typeface="Calibri" pitchFamily="34" charset="-122"/>
                <a:cs typeface="Calibri" pitchFamily="34" charset="-120"/>
              </a:rPr>
              <a:t>450 N</a:t>
            </a:r>
            <a:r>
              <a:rPr lang="en-US" sz="1250" dirty="0">
                <a:solidFill>
                  <a:srgbClr val="262B3A"/>
                </a:solidFill>
                <a:latin typeface="Calibri" pitchFamily="34" charset="0"/>
                <a:ea typeface="Calibri" pitchFamily="34" charset="-122"/>
                <a:cs typeface="Calibri" pitchFamily="34" charset="-120"/>
              </a:rPr>
              <a:t> man sits </a:t>
            </a:r>
            <a:r>
              <a:rPr lang="en-US" sz="1250" b="1" dirty="0">
                <a:solidFill>
                  <a:srgbClr val="262B3A"/>
                </a:solidFill>
                <a:latin typeface="Calibri" pitchFamily="34" charset="0"/>
                <a:ea typeface="Calibri" pitchFamily="34" charset="-122"/>
                <a:cs typeface="Calibri" pitchFamily="34" charset="-120"/>
              </a:rPr>
              <a:t>1.2 m</a:t>
            </a:r>
            <a:r>
              <a:rPr lang="en-US" sz="1250" dirty="0">
                <a:solidFill>
                  <a:srgbClr val="262B3A"/>
                </a:solidFill>
                <a:latin typeface="Calibri" pitchFamily="34" charset="0"/>
                <a:ea typeface="Calibri" pitchFamily="34" charset="-122"/>
                <a:cs typeface="Calibri" pitchFamily="34" charset="-120"/>
              </a:rPr>
              <a:t> from the pivot of a see-saw. Calculate how far from the pivot a </a:t>
            </a:r>
            <a:r>
              <a:rPr lang="en-US" sz="1250" b="1" dirty="0">
                <a:solidFill>
                  <a:srgbClr val="262B3A"/>
                </a:solidFill>
                <a:latin typeface="Calibri" pitchFamily="34" charset="0"/>
                <a:ea typeface="Calibri" pitchFamily="34" charset="-122"/>
                <a:cs typeface="Calibri" pitchFamily="34" charset="-120"/>
              </a:rPr>
              <a:t>360 N</a:t>
            </a:r>
            <a:r>
              <a:rPr lang="en-US" sz="1250" dirty="0">
                <a:solidFill>
                  <a:srgbClr val="262B3A"/>
                </a:solidFill>
                <a:latin typeface="Calibri" pitchFamily="34" charset="0"/>
                <a:ea typeface="Calibri" pitchFamily="34" charset="-122"/>
                <a:cs typeface="Calibri" pitchFamily="34" charset="-120"/>
              </a:rPr>
              <a:t> boy must sit to balance it.</a:t>
            </a:r>
            <a:endParaRPr lang="en-US" sz="1250" dirty="0"/>
          </a:p>
        </p:txBody>
      </p:sp>
      <p:sp>
        <p:nvSpPr>
          <p:cNvPr id="22" name="Text 20"/>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Suggested practical: principle of moments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9.8P • not a Core Practical • a metre rule balanced on a pivot</a:t>
            </a:r>
            <a:endParaRPr lang="en-US" sz="1100" dirty="0"/>
          </a:p>
        </p:txBody>
      </p:sp>
      <p:sp>
        <p:nvSpPr>
          <p:cNvPr id="6" name="Shape 4"/>
          <p:cNvSpPr/>
          <p:nvPr/>
        </p:nvSpPr>
        <p:spPr>
          <a:xfrm>
            <a:off x="10591495" y="292608"/>
            <a:ext cx="1188720" cy="274320"/>
          </a:xfrm>
          <a:prstGeom prst="roundRect">
            <a:avLst>
              <a:gd name="adj" fmla="val 50000"/>
            </a:avLst>
          </a:prstGeom>
          <a:solidFill>
            <a:srgbClr val="2E5BD8"/>
          </a:solidFill>
          <a:ln w="12700">
            <a:solidFill>
              <a:srgbClr val="2E5BD8"/>
            </a:solidFill>
            <a:prstDash val="solid"/>
          </a:ln>
        </p:spPr>
      </p:sp>
      <p:sp>
        <p:nvSpPr>
          <p:cNvPr id="7" name="Text 5"/>
          <p:cNvSpPr/>
          <p:nvPr/>
        </p:nvSpPr>
        <p:spPr>
          <a:xfrm>
            <a:off x="10591495" y="292608"/>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PHYSICS ONLY</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9 Forces and their effects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Practical 9.8P  |  24</a:t>
            </a:r>
            <a:endParaRPr lang="en-US" sz="1000" dirty="0"/>
          </a:p>
        </p:txBody>
      </p:sp>
      <p:sp>
        <p:nvSpPr>
          <p:cNvPr id="10" name="Shape 8"/>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metre rule pivoted at 50 cm; masses on thread loops (to scale)</a:t>
            </a:r>
            <a:endParaRPr lang="en-US" sz="1000" dirty="0"/>
          </a:p>
        </p:txBody>
      </p:sp>
      <p:sp>
        <p:nvSpPr>
          <p:cNvPr id="12" name="Shape 10"/>
          <p:cNvSpPr/>
          <p:nvPr/>
        </p:nvSpPr>
        <p:spPr>
          <a:xfrm>
            <a:off x="822960" y="2880360"/>
            <a:ext cx="4754880" cy="146304"/>
          </a:xfrm>
          <a:prstGeom prst="rect">
            <a:avLst/>
          </a:prstGeom>
          <a:solidFill>
            <a:srgbClr val="F6E7B8"/>
          </a:solidFill>
          <a:ln w="9525">
            <a:solidFill>
              <a:srgbClr val="B79B4A"/>
            </a:solidFill>
            <a:prstDash val="solid"/>
          </a:ln>
        </p:spPr>
      </p:sp>
      <p:sp>
        <p:nvSpPr>
          <p:cNvPr id="13" name="Shape 11"/>
          <p:cNvSpPr/>
          <p:nvPr/>
        </p:nvSpPr>
        <p:spPr>
          <a:xfrm>
            <a:off x="822960" y="2880360"/>
            <a:ext cx="91" cy="91440"/>
          </a:xfrm>
          <a:prstGeom prst="line">
            <a:avLst/>
          </a:prstGeom>
          <a:noFill/>
          <a:ln w="9525">
            <a:solidFill>
              <a:srgbClr val="6B5A2A"/>
            </a:solidFill>
            <a:prstDash val="solid"/>
          </a:ln>
        </p:spPr>
      </p:sp>
      <p:sp>
        <p:nvSpPr>
          <p:cNvPr id="14" name="Shape 12"/>
          <p:cNvSpPr/>
          <p:nvPr/>
        </p:nvSpPr>
        <p:spPr>
          <a:xfrm>
            <a:off x="1060704" y="2880360"/>
            <a:ext cx="91" cy="54864"/>
          </a:xfrm>
          <a:prstGeom prst="line">
            <a:avLst/>
          </a:prstGeom>
          <a:noFill/>
          <a:ln w="9525">
            <a:solidFill>
              <a:srgbClr val="6B5A2A"/>
            </a:solidFill>
            <a:prstDash val="solid"/>
          </a:ln>
        </p:spPr>
      </p:sp>
      <p:sp>
        <p:nvSpPr>
          <p:cNvPr id="15" name="Shape 13"/>
          <p:cNvSpPr/>
          <p:nvPr/>
        </p:nvSpPr>
        <p:spPr>
          <a:xfrm>
            <a:off x="1298448" y="2880360"/>
            <a:ext cx="91" cy="91440"/>
          </a:xfrm>
          <a:prstGeom prst="line">
            <a:avLst/>
          </a:prstGeom>
          <a:noFill/>
          <a:ln w="9525">
            <a:solidFill>
              <a:srgbClr val="6B5A2A"/>
            </a:solidFill>
            <a:prstDash val="solid"/>
          </a:ln>
        </p:spPr>
      </p:sp>
      <p:sp>
        <p:nvSpPr>
          <p:cNvPr id="16" name="Shape 14"/>
          <p:cNvSpPr/>
          <p:nvPr/>
        </p:nvSpPr>
        <p:spPr>
          <a:xfrm>
            <a:off x="1536192" y="2880360"/>
            <a:ext cx="91" cy="54864"/>
          </a:xfrm>
          <a:prstGeom prst="line">
            <a:avLst/>
          </a:prstGeom>
          <a:noFill/>
          <a:ln w="9525">
            <a:solidFill>
              <a:srgbClr val="6B5A2A"/>
            </a:solidFill>
            <a:prstDash val="solid"/>
          </a:ln>
        </p:spPr>
      </p:sp>
      <p:sp>
        <p:nvSpPr>
          <p:cNvPr id="17" name="Shape 15"/>
          <p:cNvSpPr/>
          <p:nvPr/>
        </p:nvSpPr>
        <p:spPr>
          <a:xfrm>
            <a:off x="1773936" y="2880360"/>
            <a:ext cx="91" cy="91440"/>
          </a:xfrm>
          <a:prstGeom prst="line">
            <a:avLst/>
          </a:prstGeom>
          <a:noFill/>
          <a:ln w="9525">
            <a:solidFill>
              <a:srgbClr val="6B5A2A"/>
            </a:solidFill>
            <a:prstDash val="solid"/>
          </a:ln>
        </p:spPr>
      </p:sp>
      <p:sp>
        <p:nvSpPr>
          <p:cNvPr id="18" name="Shape 16"/>
          <p:cNvSpPr/>
          <p:nvPr/>
        </p:nvSpPr>
        <p:spPr>
          <a:xfrm>
            <a:off x="2011680" y="2880360"/>
            <a:ext cx="91" cy="54864"/>
          </a:xfrm>
          <a:prstGeom prst="line">
            <a:avLst/>
          </a:prstGeom>
          <a:noFill/>
          <a:ln w="9525">
            <a:solidFill>
              <a:srgbClr val="6B5A2A"/>
            </a:solidFill>
            <a:prstDash val="solid"/>
          </a:ln>
        </p:spPr>
      </p:sp>
      <p:sp>
        <p:nvSpPr>
          <p:cNvPr id="19" name="Shape 17"/>
          <p:cNvSpPr/>
          <p:nvPr/>
        </p:nvSpPr>
        <p:spPr>
          <a:xfrm>
            <a:off x="2249424" y="2880360"/>
            <a:ext cx="91" cy="91440"/>
          </a:xfrm>
          <a:prstGeom prst="line">
            <a:avLst/>
          </a:prstGeom>
          <a:noFill/>
          <a:ln w="9525">
            <a:solidFill>
              <a:srgbClr val="6B5A2A"/>
            </a:solidFill>
            <a:prstDash val="solid"/>
          </a:ln>
        </p:spPr>
      </p:sp>
      <p:sp>
        <p:nvSpPr>
          <p:cNvPr id="20" name="Shape 18"/>
          <p:cNvSpPr/>
          <p:nvPr/>
        </p:nvSpPr>
        <p:spPr>
          <a:xfrm>
            <a:off x="2487168" y="2880360"/>
            <a:ext cx="91" cy="54864"/>
          </a:xfrm>
          <a:prstGeom prst="line">
            <a:avLst/>
          </a:prstGeom>
          <a:noFill/>
          <a:ln w="9525">
            <a:solidFill>
              <a:srgbClr val="6B5A2A"/>
            </a:solidFill>
            <a:prstDash val="solid"/>
          </a:ln>
        </p:spPr>
      </p:sp>
      <p:sp>
        <p:nvSpPr>
          <p:cNvPr id="21" name="Shape 19"/>
          <p:cNvSpPr/>
          <p:nvPr/>
        </p:nvSpPr>
        <p:spPr>
          <a:xfrm>
            <a:off x="2724912" y="2880360"/>
            <a:ext cx="91" cy="91440"/>
          </a:xfrm>
          <a:prstGeom prst="line">
            <a:avLst/>
          </a:prstGeom>
          <a:noFill/>
          <a:ln w="9525">
            <a:solidFill>
              <a:srgbClr val="6B5A2A"/>
            </a:solidFill>
            <a:prstDash val="solid"/>
          </a:ln>
        </p:spPr>
      </p:sp>
      <p:sp>
        <p:nvSpPr>
          <p:cNvPr id="22" name="Shape 20"/>
          <p:cNvSpPr/>
          <p:nvPr/>
        </p:nvSpPr>
        <p:spPr>
          <a:xfrm>
            <a:off x="2962656" y="2880360"/>
            <a:ext cx="91" cy="54864"/>
          </a:xfrm>
          <a:prstGeom prst="line">
            <a:avLst/>
          </a:prstGeom>
          <a:noFill/>
          <a:ln w="9525">
            <a:solidFill>
              <a:srgbClr val="6B5A2A"/>
            </a:solidFill>
            <a:prstDash val="solid"/>
          </a:ln>
        </p:spPr>
      </p:sp>
      <p:sp>
        <p:nvSpPr>
          <p:cNvPr id="23" name="Shape 21"/>
          <p:cNvSpPr/>
          <p:nvPr/>
        </p:nvSpPr>
        <p:spPr>
          <a:xfrm>
            <a:off x="3200400" y="2880360"/>
            <a:ext cx="91" cy="91440"/>
          </a:xfrm>
          <a:prstGeom prst="line">
            <a:avLst/>
          </a:prstGeom>
          <a:noFill/>
          <a:ln w="9525">
            <a:solidFill>
              <a:srgbClr val="6B5A2A"/>
            </a:solidFill>
            <a:prstDash val="solid"/>
          </a:ln>
        </p:spPr>
      </p:sp>
      <p:sp>
        <p:nvSpPr>
          <p:cNvPr id="24" name="Shape 22"/>
          <p:cNvSpPr/>
          <p:nvPr/>
        </p:nvSpPr>
        <p:spPr>
          <a:xfrm>
            <a:off x="3438144" y="2880360"/>
            <a:ext cx="91" cy="54864"/>
          </a:xfrm>
          <a:prstGeom prst="line">
            <a:avLst/>
          </a:prstGeom>
          <a:noFill/>
          <a:ln w="9525">
            <a:solidFill>
              <a:srgbClr val="6B5A2A"/>
            </a:solidFill>
            <a:prstDash val="solid"/>
          </a:ln>
        </p:spPr>
      </p:sp>
      <p:sp>
        <p:nvSpPr>
          <p:cNvPr id="25" name="Shape 23"/>
          <p:cNvSpPr/>
          <p:nvPr/>
        </p:nvSpPr>
        <p:spPr>
          <a:xfrm>
            <a:off x="3675888" y="2880360"/>
            <a:ext cx="91" cy="91440"/>
          </a:xfrm>
          <a:prstGeom prst="line">
            <a:avLst/>
          </a:prstGeom>
          <a:noFill/>
          <a:ln w="9525">
            <a:solidFill>
              <a:srgbClr val="6B5A2A"/>
            </a:solidFill>
            <a:prstDash val="solid"/>
          </a:ln>
        </p:spPr>
      </p:sp>
      <p:sp>
        <p:nvSpPr>
          <p:cNvPr id="26" name="Shape 24"/>
          <p:cNvSpPr/>
          <p:nvPr/>
        </p:nvSpPr>
        <p:spPr>
          <a:xfrm>
            <a:off x="3913632" y="2880360"/>
            <a:ext cx="91" cy="54864"/>
          </a:xfrm>
          <a:prstGeom prst="line">
            <a:avLst/>
          </a:prstGeom>
          <a:noFill/>
          <a:ln w="9525">
            <a:solidFill>
              <a:srgbClr val="6B5A2A"/>
            </a:solidFill>
            <a:prstDash val="solid"/>
          </a:ln>
        </p:spPr>
      </p:sp>
      <p:sp>
        <p:nvSpPr>
          <p:cNvPr id="27" name="Shape 25"/>
          <p:cNvSpPr/>
          <p:nvPr/>
        </p:nvSpPr>
        <p:spPr>
          <a:xfrm>
            <a:off x="4151376" y="2880360"/>
            <a:ext cx="91" cy="91440"/>
          </a:xfrm>
          <a:prstGeom prst="line">
            <a:avLst/>
          </a:prstGeom>
          <a:noFill/>
          <a:ln w="9525">
            <a:solidFill>
              <a:srgbClr val="6B5A2A"/>
            </a:solidFill>
            <a:prstDash val="solid"/>
          </a:ln>
        </p:spPr>
      </p:sp>
      <p:sp>
        <p:nvSpPr>
          <p:cNvPr id="28" name="Shape 26"/>
          <p:cNvSpPr/>
          <p:nvPr/>
        </p:nvSpPr>
        <p:spPr>
          <a:xfrm>
            <a:off x="4389120" y="2880360"/>
            <a:ext cx="91" cy="54864"/>
          </a:xfrm>
          <a:prstGeom prst="line">
            <a:avLst/>
          </a:prstGeom>
          <a:noFill/>
          <a:ln w="9525">
            <a:solidFill>
              <a:srgbClr val="6B5A2A"/>
            </a:solidFill>
            <a:prstDash val="solid"/>
          </a:ln>
        </p:spPr>
      </p:sp>
      <p:sp>
        <p:nvSpPr>
          <p:cNvPr id="29" name="Shape 27"/>
          <p:cNvSpPr/>
          <p:nvPr/>
        </p:nvSpPr>
        <p:spPr>
          <a:xfrm>
            <a:off x="4626864" y="2880360"/>
            <a:ext cx="91" cy="91440"/>
          </a:xfrm>
          <a:prstGeom prst="line">
            <a:avLst/>
          </a:prstGeom>
          <a:noFill/>
          <a:ln w="9525">
            <a:solidFill>
              <a:srgbClr val="6B5A2A"/>
            </a:solidFill>
            <a:prstDash val="solid"/>
          </a:ln>
        </p:spPr>
      </p:sp>
      <p:sp>
        <p:nvSpPr>
          <p:cNvPr id="30" name="Shape 28"/>
          <p:cNvSpPr/>
          <p:nvPr/>
        </p:nvSpPr>
        <p:spPr>
          <a:xfrm>
            <a:off x="4864608" y="2880360"/>
            <a:ext cx="91" cy="54864"/>
          </a:xfrm>
          <a:prstGeom prst="line">
            <a:avLst/>
          </a:prstGeom>
          <a:noFill/>
          <a:ln w="9525">
            <a:solidFill>
              <a:srgbClr val="6B5A2A"/>
            </a:solidFill>
            <a:prstDash val="solid"/>
          </a:ln>
        </p:spPr>
      </p:sp>
      <p:sp>
        <p:nvSpPr>
          <p:cNvPr id="31" name="Shape 29"/>
          <p:cNvSpPr/>
          <p:nvPr/>
        </p:nvSpPr>
        <p:spPr>
          <a:xfrm>
            <a:off x="5102352" y="2880360"/>
            <a:ext cx="91" cy="91440"/>
          </a:xfrm>
          <a:prstGeom prst="line">
            <a:avLst/>
          </a:prstGeom>
          <a:noFill/>
          <a:ln w="9525">
            <a:solidFill>
              <a:srgbClr val="6B5A2A"/>
            </a:solidFill>
            <a:prstDash val="solid"/>
          </a:ln>
        </p:spPr>
      </p:sp>
      <p:sp>
        <p:nvSpPr>
          <p:cNvPr id="32" name="Shape 30"/>
          <p:cNvSpPr/>
          <p:nvPr/>
        </p:nvSpPr>
        <p:spPr>
          <a:xfrm>
            <a:off x="5340096" y="2880360"/>
            <a:ext cx="91" cy="54864"/>
          </a:xfrm>
          <a:prstGeom prst="line">
            <a:avLst/>
          </a:prstGeom>
          <a:noFill/>
          <a:ln w="9525">
            <a:solidFill>
              <a:srgbClr val="6B5A2A"/>
            </a:solidFill>
            <a:prstDash val="solid"/>
          </a:ln>
        </p:spPr>
      </p:sp>
      <p:sp>
        <p:nvSpPr>
          <p:cNvPr id="33" name="Shape 31"/>
          <p:cNvSpPr/>
          <p:nvPr/>
        </p:nvSpPr>
        <p:spPr>
          <a:xfrm>
            <a:off x="5577840" y="2880360"/>
            <a:ext cx="91" cy="91440"/>
          </a:xfrm>
          <a:prstGeom prst="line">
            <a:avLst/>
          </a:prstGeom>
          <a:noFill/>
          <a:ln w="9525">
            <a:solidFill>
              <a:srgbClr val="6B5A2A"/>
            </a:solidFill>
            <a:prstDash val="solid"/>
          </a:ln>
        </p:spPr>
      </p:sp>
      <p:sp>
        <p:nvSpPr>
          <p:cNvPr id="34" name="Text 32"/>
          <p:cNvSpPr/>
          <p:nvPr/>
        </p:nvSpPr>
        <p:spPr>
          <a:xfrm>
            <a:off x="594360" y="2642616"/>
            <a:ext cx="457200" cy="20116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35" name="Text 33"/>
          <p:cNvSpPr/>
          <p:nvPr/>
        </p:nvSpPr>
        <p:spPr>
          <a:xfrm>
            <a:off x="1545336" y="2642616"/>
            <a:ext cx="457200" cy="20116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36" name="Text 34"/>
          <p:cNvSpPr/>
          <p:nvPr/>
        </p:nvSpPr>
        <p:spPr>
          <a:xfrm>
            <a:off x="2971800" y="2642616"/>
            <a:ext cx="457200" cy="20116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50</a:t>
            </a:r>
            <a:endParaRPr lang="en-US" sz="1000" dirty="0"/>
          </a:p>
        </p:txBody>
      </p:sp>
      <p:sp>
        <p:nvSpPr>
          <p:cNvPr id="37" name="Text 35"/>
          <p:cNvSpPr/>
          <p:nvPr/>
        </p:nvSpPr>
        <p:spPr>
          <a:xfrm>
            <a:off x="3922776" y="2642616"/>
            <a:ext cx="457200" cy="20116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70</a:t>
            </a:r>
            <a:endParaRPr lang="en-US" sz="1000" dirty="0"/>
          </a:p>
        </p:txBody>
      </p:sp>
      <p:sp>
        <p:nvSpPr>
          <p:cNvPr id="38" name="Text 36"/>
          <p:cNvSpPr/>
          <p:nvPr/>
        </p:nvSpPr>
        <p:spPr>
          <a:xfrm>
            <a:off x="5349240" y="2642616"/>
            <a:ext cx="457200" cy="20116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100</a:t>
            </a:r>
            <a:endParaRPr lang="en-US" sz="1000" dirty="0"/>
          </a:p>
        </p:txBody>
      </p:sp>
      <p:sp>
        <p:nvSpPr>
          <p:cNvPr id="39" name="Shape 37"/>
          <p:cNvSpPr/>
          <p:nvPr/>
        </p:nvSpPr>
        <p:spPr>
          <a:xfrm>
            <a:off x="3035808" y="3026664"/>
            <a:ext cx="329184" cy="457200"/>
          </a:xfrm>
          <a:prstGeom prst="triangle">
            <a:avLst/>
          </a:prstGeom>
          <a:solidFill>
            <a:srgbClr val="5A6275"/>
          </a:solidFill>
          <a:ln w="12700">
            <a:solidFill>
              <a:srgbClr val="5A6275"/>
            </a:solidFill>
            <a:prstDash val="solid"/>
          </a:ln>
        </p:spPr>
      </p:sp>
      <p:sp>
        <p:nvSpPr>
          <p:cNvPr id="40" name="Shape 38"/>
          <p:cNvSpPr/>
          <p:nvPr/>
        </p:nvSpPr>
        <p:spPr>
          <a:xfrm>
            <a:off x="2788920" y="3483864"/>
            <a:ext cx="822960" cy="1463040"/>
          </a:xfrm>
          <a:prstGeom prst="rect">
            <a:avLst/>
          </a:prstGeom>
          <a:solidFill>
            <a:srgbClr val="8C96A8"/>
          </a:solidFill>
          <a:ln w="12700">
            <a:solidFill>
              <a:srgbClr val="6B7385"/>
            </a:solidFill>
            <a:prstDash val="solid"/>
          </a:ln>
        </p:spPr>
      </p:sp>
      <p:sp>
        <p:nvSpPr>
          <p:cNvPr id="41" name="Shape 39"/>
          <p:cNvSpPr/>
          <p:nvPr/>
        </p:nvSpPr>
        <p:spPr>
          <a:xfrm>
            <a:off x="640080" y="4946904"/>
            <a:ext cx="5120640" cy="91440"/>
          </a:xfrm>
          <a:prstGeom prst="rect">
            <a:avLst/>
          </a:prstGeom>
          <a:solidFill>
            <a:srgbClr val="B0B7C6"/>
          </a:solidFill>
          <a:ln/>
        </p:spPr>
      </p:sp>
      <p:sp>
        <p:nvSpPr>
          <p:cNvPr id="42" name="Shape 40"/>
          <p:cNvSpPr/>
          <p:nvPr/>
        </p:nvSpPr>
        <p:spPr>
          <a:xfrm>
            <a:off x="1773936" y="3026664"/>
            <a:ext cx="91" cy="356616"/>
          </a:xfrm>
          <a:prstGeom prst="line">
            <a:avLst/>
          </a:prstGeom>
          <a:noFill/>
          <a:ln w="12700">
            <a:solidFill>
              <a:srgbClr val="1A2340"/>
            </a:solidFill>
            <a:prstDash val="solid"/>
          </a:ln>
        </p:spPr>
      </p:sp>
      <p:sp>
        <p:nvSpPr>
          <p:cNvPr id="43" name="Shape 41"/>
          <p:cNvSpPr/>
          <p:nvPr/>
        </p:nvSpPr>
        <p:spPr>
          <a:xfrm>
            <a:off x="1773936" y="3383280"/>
            <a:ext cx="91" cy="182880"/>
          </a:xfrm>
          <a:prstGeom prst="line">
            <a:avLst/>
          </a:prstGeom>
          <a:noFill/>
          <a:ln w="25400">
            <a:solidFill>
              <a:srgbClr val="5A6275"/>
            </a:solidFill>
            <a:prstDash val="solid"/>
          </a:ln>
        </p:spPr>
      </p:sp>
      <p:sp>
        <p:nvSpPr>
          <p:cNvPr id="44" name="Shape 42"/>
          <p:cNvSpPr/>
          <p:nvPr/>
        </p:nvSpPr>
        <p:spPr>
          <a:xfrm>
            <a:off x="1591056" y="3566160"/>
            <a:ext cx="365760" cy="109728"/>
          </a:xfrm>
          <a:prstGeom prst="rect">
            <a:avLst/>
          </a:prstGeom>
          <a:solidFill>
            <a:srgbClr val="969FB1"/>
          </a:solidFill>
          <a:ln w="6350">
            <a:solidFill>
              <a:srgbClr val="4A5262"/>
            </a:solidFill>
            <a:prstDash val="solid"/>
          </a:ln>
        </p:spPr>
      </p:sp>
      <p:sp>
        <p:nvSpPr>
          <p:cNvPr id="45" name="Shape 43"/>
          <p:cNvSpPr/>
          <p:nvPr/>
        </p:nvSpPr>
        <p:spPr>
          <a:xfrm>
            <a:off x="1591056" y="3675888"/>
            <a:ext cx="365760" cy="109728"/>
          </a:xfrm>
          <a:prstGeom prst="rect">
            <a:avLst/>
          </a:prstGeom>
          <a:solidFill>
            <a:srgbClr val="7C8598"/>
          </a:solidFill>
          <a:ln w="6350">
            <a:solidFill>
              <a:srgbClr val="4A5262"/>
            </a:solidFill>
            <a:prstDash val="solid"/>
          </a:ln>
        </p:spPr>
      </p:sp>
      <p:sp>
        <p:nvSpPr>
          <p:cNvPr id="46" name="Shape 44"/>
          <p:cNvSpPr/>
          <p:nvPr/>
        </p:nvSpPr>
        <p:spPr>
          <a:xfrm>
            <a:off x="1591056" y="3785616"/>
            <a:ext cx="365760" cy="109728"/>
          </a:xfrm>
          <a:prstGeom prst="rect">
            <a:avLst/>
          </a:prstGeom>
          <a:solidFill>
            <a:srgbClr val="969FB1"/>
          </a:solidFill>
          <a:ln w="6350">
            <a:solidFill>
              <a:srgbClr val="4A5262"/>
            </a:solidFill>
            <a:prstDash val="solid"/>
          </a:ln>
        </p:spPr>
      </p:sp>
      <p:sp>
        <p:nvSpPr>
          <p:cNvPr id="47" name="Shape 45"/>
          <p:cNvSpPr/>
          <p:nvPr/>
        </p:nvSpPr>
        <p:spPr>
          <a:xfrm>
            <a:off x="1591056" y="3895344"/>
            <a:ext cx="365760" cy="109728"/>
          </a:xfrm>
          <a:prstGeom prst="rect">
            <a:avLst/>
          </a:prstGeom>
          <a:solidFill>
            <a:srgbClr val="7C8598"/>
          </a:solidFill>
          <a:ln w="6350">
            <a:solidFill>
              <a:srgbClr val="4A5262"/>
            </a:solidFill>
            <a:prstDash val="solid"/>
          </a:ln>
        </p:spPr>
      </p:sp>
      <p:sp>
        <p:nvSpPr>
          <p:cNvPr id="48" name="Shape 46"/>
          <p:cNvSpPr/>
          <p:nvPr/>
        </p:nvSpPr>
        <p:spPr>
          <a:xfrm>
            <a:off x="1545336" y="4005072"/>
            <a:ext cx="457200" cy="64008"/>
          </a:xfrm>
          <a:prstGeom prst="rect">
            <a:avLst/>
          </a:prstGeom>
          <a:solidFill>
            <a:srgbClr val="4A5262"/>
          </a:solidFill>
          <a:ln w="12700">
            <a:solidFill>
              <a:srgbClr val="4A5262"/>
            </a:solidFill>
            <a:prstDash val="solid"/>
          </a:ln>
        </p:spPr>
      </p:sp>
      <p:sp>
        <p:nvSpPr>
          <p:cNvPr id="49" name="Shape 47"/>
          <p:cNvSpPr/>
          <p:nvPr/>
        </p:nvSpPr>
        <p:spPr>
          <a:xfrm>
            <a:off x="4151376" y="3026664"/>
            <a:ext cx="91" cy="356616"/>
          </a:xfrm>
          <a:prstGeom prst="line">
            <a:avLst/>
          </a:prstGeom>
          <a:noFill/>
          <a:ln w="12700">
            <a:solidFill>
              <a:srgbClr val="1A2340"/>
            </a:solidFill>
            <a:prstDash val="solid"/>
          </a:ln>
        </p:spPr>
      </p:sp>
      <p:sp>
        <p:nvSpPr>
          <p:cNvPr id="50" name="Shape 48"/>
          <p:cNvSpPr/>
          <p:nvPr/>
        </p:nvSpPr>
        <p:spPr>
          <a:xfrm>
            <a:off x="4151376" y="3383280"/>
            <a:ext cx="91" cy="182880"/>
          </a:xfrm>
          <a:prstGeom prst="line">
            <a:avLst/>
          </a:prstGeom>
          <a:noFill/>
          <a:ln w="25400">
            <a:solidFill>
              <a:srgbClr val="5A6275"/>
            </a:solidFill>
            <a:prstDash val="solid"/>
          </a:ln>
        </p:spPr>
      </p:sp>
      <p:sp>
        <p:nvSpPr>
          <p:cNvPr id="51" name="Shape 49"/>
          <p:cNvSpPr/>
          <p:nvPr/>
        </p:nvSpPr>
        <p:spPr>
          <a:xfrm>
            <a:off x="3968496" y="3566160"/>
            <a:ext cx="365760" cy="109728"/>
          </a:xfrm>
          <a:prstGeom prst="rect">
            <a:avLst/>
          </a:prstGeom>
          <a:solidFill>
            <a:srgbClr val="969FB1"/>
          </a:solidFill>
          <a:ln w="6350">
            <a:solidFill>
              <a:srgbClr val="4A5262"/>
            </a:solidFill>
            <a:prstDash val="solid"/>
          </a:ln>
        </p:spPr>
      </p:sp>
      <p:sp>
        <p:nvSpPr>
          <p:cNvPr id="52" name="Shape 50"/>
          <p:cNvSpPr/>
          <p:nvPr/>
        </p:nvSpPr>
        <p:spPr>
          <a:xfrm>
            <a:off x="3968496" y="3675888"/>
            <a:ext cx="365760" cy="109728"/>
          </a:xfrm>
          <a:prstGeom prst="rect">
            <a:avLst/>
          </a:prstGeom>
          <a:solidFill>
            <a:srgbClr val="7C8598"/>
          </a:solidFill>
          <a:ln w="6350">
            <a:solidFill>
              <a:srgbClr val="4A5262"/>
            </a:solidFill>
            <a:prstDash val="solid"/>
          </a:ln>
        </p:spPr>
      </p:sp>
      <p:sp>
        <p:nvSpPr>
          <p:cNvPr id="53" name="Shape 51"/>
          <p:cNvSpPr/>
          <p:nvPr/>
        </p:nvSpPr>
        <p:spPr>
          <a:xfrm>
            <a:off x="3968496" y="3785616"/>
            <a:ext cx="365760" cy="109728"/>
          </a:xfrm>
          <a:prstGeom prst="rect">
            <a:avLst/>
          </a:prstGeom>
          <a:solidFill>
            <a:srgbClr val="969FB1"/>
          </a:solidFill>
          <a:ln w="6350">
            <a:solidFill>
              <a:srgbClr val="4A5262"/>
            </a:solidFill>
            <a:prstDash val="solid"/>
          </a:ln>
        </p:spPr>
      </p:sp>
      <p:sp>
        <p:nvSpPr>
          <p:cNvPr id="54" name="Shape 52"/>
          <p:cNvSpPr/>
          <p:nvPr/>
        </p:nvSpPr>
        <p:spPr>
          <a:xfrm>
            <a:off x="3968496" y="3895344"/>
            <a:ext cx="365760" cy="109728"/>
          </a:xfrm>
          <a:prstGeom prst="rect">
            <a:avLst/>
          </a:prstGeom>
          <a:solidFill>
            <a:srgbClr val="7C8598"/>
          </a:solidFill>
          <a:ln w="6350">
            <a:solidFill>
              <a:srgbClr val="4A5262"/>
            </a:solidFill>
            <a:prstDash val="solid"/>
          </a:ln>
        </p:spPr>
      </p:sp>
      <p:sp>
        <p:nvSpPr>
          <p:cNvPr id="55" name="Shape 53"/>
          <p:cNvSpPr/>
          <p:nvPr/>
        </p:nvSpPr>
        <p:spPr>
          <a:xfrm>
            <a:off x="3968496" y="4005072"/>
            <a:ext cx="365760" cy="109728"/>
          </a:xfrm>
          <a:prstGeom prst="rect">
            <a:avLst/>
          </a:prstGeom>
          <a:solidFill>
            <a:srgbClr val="969FB1"/>
          </a:solidFill>
          <a:ln w="6350">
            <a:solidFill>
              <a:srgbClr val="4A5262"/>
            </a:solidFill>
            <a:prstDash val="solid"/>
          </a:ln>
        </p:spPr>
      </p:sp>
      <p:sp>
        <p:nvSpPr>
          <p:cNvPr id="56" name="Shape 54"/>
          <p:cNvSpPr/>
          <p:nvPr/>
        </p:nvSpPr>
        <p:spPr>
          <a:xfrm>
            <a:off x="3968496" y="4114800"/>
            <a:ext cx="365760" cy="109728"/>
          </a:xfrm>
          <a:prstGeom prst="rect">
            <a:avLst/>
          </a:prstGeom>
          <a:solidFill>
            <a:srgbClr val="7C8598"/>
          </a:solidFill>
          <a:ln w="6350">
            <a:solidFill>
              <a:srgbClr val="4A5262"/>
            </a:solidFill>
            <a:prstDash val="solid"/>
          </a:ln>
        </p:spPr>
      </p:sp>
      <p:sp>
        <p:nvSpPr>
          <p:cNvPr id="57" name="Shape 55"/>
          <p:cNvSpPr/>
          <p:nvPr/>
        </p:nvSpPr>
        <p:spPr>
          <a:xfrm>
            <a:off x="3922776" y="4224528"/>
            <a:ext cx="457200" cy="64008"/>
          </a:xfrm>
          <a:prstGeom prst="rect">
            <a:avLst/>
          </a:prstGeom>
          <a:solidFill>
            <a:srgbClr val="4A5262"/>
          </a:solidFill>
          <a:ln w="12700">
            <a:solidFill>
              <a:srgbClr val="4A5262"/>
            </a:solidFill>
            <a:prstDash val="solid"/>
          </a:ln>
        </p:spPr>
      </p:sp>
      <p:sp>
        <p:nvSpPr>
          <p:cNvPr id="58" name="Text 56"/>
          <p:cNvSpPr/>
          <p:nvPr/>
        </p:nvSpPr>
        <p:spPr>
          <a:xfrm>
            <a:off x="539496" y="3749040"/>
            <a:ext cx="914400" cy="411480"/>
          </a:xfrm>
          <a:prstGeom prst="rect">
            <a:avLst/>
          </a:prstGeom>
          <a:noFill/>
          <a:ln/>
        </p:spPr>
        <p:txBody>
          <a:bodyPr wrap="square" lIns="0" tIns="0" rIns="0" bIns="0" rtlCol="0" anchor="ctr"/>
          <a:lstStyle/>
          <a:p>
            <a:pPr algn="r" indent="0" marL="0">
              <a:buNone/>
            </a:pPr>
            <a:r>
              <a:rPr lang="en-US" sz="1050" b="1" dirty="0">
                <a:solidFill>
                  <a:srgbClr val="262B3A"/>
                </a:solidFill>
                <a:latin typeface="Calibri" pitchFamily="34" charset="0"/>
                <a:ea typeface="Calibri" pitchFamily="34" charset="-122"/>
                <a:cs typeface="Calibri" pitchFamily="34" charset="-120"/>
              </a:rPr>
              <a:t>100 g</a:t>
            </a:r>
            <a:endParaRPr lang="en-US" sz="1050" dirty="0"/>
          </a:p>
          <a:p>
            <a:pPr algn="r" indent="0" marL="0">
              <a:buNone/>
            </a:pPr>
            <a:r>
              <a:rPr lang="en-US" sz="1050" b="1" dirty="0">
                <a:solidFill>
                  <a:srgbClr val="262B3A"/>
                </a:solidFill>
                <a:latin typeface="Calibri" pitchFamily="34" charset="0"/>
                <a:ea typeface="Calibri" pitchFamily="34" charset="-122"/>
                <a:cs typeface="Calibri" pitchFamily="34" charset="-120"/>
              </a:rPr>
              <a:t>(1.0 N)</a:t>
            </a:r>
            <a:endParaRPr lang="en-US" sz="1050" dirty="0"/>
          </a:p>
        </p:txBody>
      </p:sp>
      <p:sp>
        <p:nvSpPr>
          <p:cNvPr id="59" name="Text 57"/>
          <p:cNvSpPr/>
          <p:nvPr/>
        </p:nvSpPr>
        <p:spPr>
          <a:xfrm>
            <a:off x="4425696" y="3886200"/>
            <a:ext cx="914400" cy="411480"/>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150 g</a:t>
            </a:r>
            <a:endParaRPr lang="en-US" sz="1050" dirty="0"/>
          </a:p>
          <a:p>
            <a:pPr algn="l" indent="0" marL="0">
              <a:buNone/>
            </a:pPr>
            <a:r>
              <a:rPr lang="en-US" sz="1050" b="1" dirty="0">
                <a:solidFill>
                  <a:srgbClr val="262B3A"/>
                </a:solidFill>
                <a:latin typeface="Calibri" pitchFamily="34" charset="0"/>
                <a:ea typeface="Calibri" pitchFamily="34" charset="-122"/>
                <a:cs typeface="Calibri" pitchFamily="34" charset="-120"/>
              </a:rPr>
              <a:t>(1.5 N)</a:t>
            </a:r>
            <a:endParaRPr lang="en-US" sz="1050" dirty="0"/>
          </a:p>
        </p:txBody>
      </p:sp>
      <p:sp>
        <p:nvSpPr>
          <p:cNvPr id="60" name="Shape 58"/>
          <p:cNvSpPr/>
          <p:nvPr/>
        </p:nvSpPr>
        <p:spPr>
          <a:xfrm>
            <a:off x="1773936" y="2194560"/>
            <a:ext cx="1426464" cy="91"/>
          </a:xfrm>
          <a:prstGeom prst="line">
            <a:avLst/>
          </a:prstGeom>
          <a:noFill/>
          <a:ln w="15875">
            <a:solidFill>
              <a:srgbClr val="2E5BD8"/>
            </a:solidFill>
            <a:prstDash val="solid"/>
            <a:headEnd type="triangle"/>
            <a:tailEnd type="triangle"/>
          </a:ln>
        </p:spPr>
      </p:sp>
      <p:sp>
        <p:nvSpPr>
          <p:cNvPr id="61" name="Shape 59"/>
          <p:cNvSpPr/>
          <p:nvPr/>
        </p:nvSpPr>
        <p:spPr>
          <a:xfrm>
            <a:off x="3200400" y="2194560"/>
            <a:ext cx="950976" cy="91"/>
          </a:xfrm>
          <a:prstGeom prst="line">
            <a:avLst/>
          </a:prstGeom>
          <a:noFill/>
          <a:ln w="15875">
            <a:solidFill>
              <a:srgbClr val="2E5BD8"/>
            </a:solidFill>
            <a:prstDash val="solid"/>
            <a:headEnd type="triangle"/>
            <a:tailEnd type="triangle"/>
          </a:ln>
        </p:spPr>
      </p:sp>
      <p:sp>
        <p:nvSpPr>
          <p:cNvPr id="62" name="Text 60"/>
          <p:cNvSpPr/>
          <p:nvPr/>
        </p:nvSpPr>
        <p:spPr>
          <a:xfrm>
            <a:off x="1773936" y="1920240"/>
            <a:ext cx="1426464" cy="256032"/>
          </a:xfrm>
          <a:prstGeom prst="rect">
            <a:avLst/>
          </a:prstGeom>
          <a:noFill/>
          <a:ln/>
        </p:spPr>
        <p:txBody>
          <a:bodyPr wrap="square" lIns="0" tIns="0" rIns="0" bIns="0" rtlCol="0" anchor="ctr"/>
          <a:lstStyle/>
          <a:p>
            <a:pPr algn="ctr" indent="0" marL="0">
              <a:buNone/>
            </a:pPr>
            <a:r>
              <a:rPr lang="en-US" sz="1050" b="1" dirty="0">
                <a:solidFill>
                  <a:srgbClr val="2E5BD8"/>
                </a:solidFill>
                <a:latin typeface="Calibri" pitchFamily="34" charset="0"/>
                <a:ea typeface="Calibri" pitchFamily="34" charset="-122"/>
                <a:cs typeface="Calibri" pitchFamily="34" charset="-120"/>
              </a:rPr>
              <a:t>d₁ = 30 cm</a:t>
            </a:r>
            <a:endParaRPr lang="en-US" sz="1050" dirty="0"/>
          </a:p>
        </p:txBody>
      </p:sp>
      <p:sp>
        <p:nvSpPr>
          <p:cNvPr id="63" name="Text 61"/>
          <p:cNvSpPr/>
          <p:nvPr/>
        </p:nvSpPr>
        <p:spPr>
          <a:xfrm>
            <a:off x="3200400" y="1920240"/>
            <a:ext cx="950976" cy="256032"/>
          </a:xfrm>
          <a:prstGeom prst="rect">
            <a:avLst/>
          </a:prstGeom>
          <a:noFill/>
          <a:ln/>
        </p:spPr>
        <p:txBody>
          <a:bodyPr wrap="square" lIns="0" tIns="0" rIns="0" bIns="0" rtlCol="0" anchor="ctr"/>
          <a:lstStyle/>
          <a:p>
            <a:pPr algn="ctr" indent="0" marL="0">
              <a:buNone/>
            </a:pPr>
            <a:r>
              <a:rPr lang="en-US" sz="1050" b="1" dirty="0">
                <a:solidFill>
                  <a:srgbClr val="2E5BD8"/>
                </a:solidFill>
                <a:latin typeface="Calibri" pitchFamily="34" charset="0"/>
                <a:ea typeface="Calibri" pitchFamily="34" charset="-122"/>
                <a:cs typeface="Calibri" pitchFamily="34" charset="-120"/>
              </a:rPr>
              <a:t>d₂ = 20 cm</a:t>
            </a:r>
            <a:endParaRPr lang="en-US" sz="1050" dirty="0"/>
          </a:p>
        </p:txBody>
      </p:sp>
      <p:sp>
        <p:nvSpPr>
          <p:cNvPr id="64" name="Shape 62"/>
          <p:cNvSpPr/>
          <p:nvPr/>
        </p:nvSpPr>
        <p:spPr>
          <a:xfrm>
            <a:off x="5007254" y="3026664"/>
            <a:ext cx="140818" cy="539496"/>
          </a:xfrm>
          <a:prstGeom prst="line">
            <a:avLst/>
          </a:prstGeom>
          <a:noFill/>
          <a:ln w="9525">
            <a:solidFill>
              <a:srgbClr val="6B7385"/>
            </a:solidFill>
            <a:prstDash val="solid"/>
          </a:ln>
        </p:spPr>
      </p:sp>
      <p:sp>
        <p:nvSpPr>
          <p:cNvPr id="65" name="Text 63"/>
          <p:cNvSpPr/>
          <p:nvPr/>
        </p:nvSpPr>
        <p:spPr>
          <a:xfrm>
            <a:off x="5193792" y="3438144"/>
            <a:ext cx="914400" cy="256032"/>
          </a:xfrm>
          <a:prstGeom prst="rect">
            <a:avLst/>
          </a:prstGeom>
          <a:noFill/>
          <a:ln/>
        </p:spPr>
        <p:txBody>
          <a:bodyPr wrap="square" lIns="0" tIns="0" rIns="0" bIns="0" rtlCol="0" anchor="ctr"/>
          <a:lstStyle/>
          <a:p>
            <a:pPr algn="l" indent="0" marL="0">
              <a:buNone/>
            </a:pPr>
            <a:r>
              <a:rPr lang="en-US" sz="1050" b="1" dirty="0">
                <a:solidFill>
                  <a:srgbClr val="1A2340"/>
                </a:solidFill>
                <a:latin typeface="Calibri" pitchFamily="34" charset="0"/>
                <a:ea typeface="Calibri" pitchFamily="34" charset="-122"/>
                <a:cs typeface="Calibri" pitchFamily="34" charset="-120"/>
              </a:rPr>
              <a:t>metre rule</a:t>
            </a:r>
            <a:endParaRPr lang="en-US" sz="1050" dirty="0"/>
          </a:p>
        </p:txBody>
      </p:sp>
      <p:sp>
        <p:nvSpPr>
          <p:cNvPr id="66" name="Text 64"/>
          <p:cNvSpPr/>
          <p:nvPr/>
        </p:nvSpPr>
        <p:spPr>
          <a:xfrm>
            <a:off x="2788920" y="3703320"/>
            <a:ext cx="822960" cy="6400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knife-edge</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pivot on</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a block</a:t>
            </a:r>
            <a:endParaRPr lang="en-US" sz="1000" dirty="0"/>
          </a:p>
        </p:txBody>
      </p:sp>
      <p:sp>
        <p:nvSpPr>
          <p:cNvPr id="67" name="Shape 65"/>
          <p:cNvSpPr/>
          <p:nvPr/>
        </p:nvSpPr>
        <p:spPr>
          <a:xfrm flipH="1">
            <a:off x="1013155" y="3246120"/>
            <a:ext cx="760781" cy="137160"/>
          </a:xfrm>
          <a:prstGeom prst="line">
            <a:avLst/>
          </a:prstGeom>
          <a:noFill/>
          <a:ln w="9525">
            <a:solidFill>
              <a:srgbClr val="6B7385"/>
            </a:solidFill>
            <a:prstDash val="solid"/>
          </a:ln>
        </p:spPr>
      </p:sp>
      <p:sp>
        <p:nvSpPr>
          <p:cNvPr id="68" name="Text 66"/>
          <p:cNvSpPr/>
          <p:nvPr/>
        </p:nvSpPr>
        <p:spPr>
          <a:xfrm>
            <a:off x="53035" y="3255264"/>
            <a:ext cx="914400" cy="256032"/>
          </a:xfrm>
          <a:prstGeom prst="rect">
            <a:avLst/>
          </a:prstGeom>
          <a:noFill/>
          <a:ln/>
        </p:spPr>
        <p:txBody>
          <a:bodyPr wrap="square" lIns="0" tIns="0" rIns="0" bIns="0" rtlCol="0" anchor="ctr"/>
          <a:lstStyle/>
          <a:p>
            <a:pPr algn="r" indent="0" marL="0">
              <a:buNone/>
            </a:pPr>
            <a:r>
              <a:rPr lang="en-US" sz="1050" b="1" dirty="0">
                <a:solidFill>
                  <a:srgbClr val="1A2340"/>
                </a:solidFill>
                <a:latin typeface="Calibri" pitchFamily="34" charset="0"/>
                <a:ea typeface="Calibri" pitchFamily="34" charset="-122"/>
                <a:cs typeface="Calibri" pitchFamily="34" charset="-120"/>
              </a:rPr>
              <a:t>thread loop</a:t>
            </a:r>
            <a:endParaRPr lang="en-US" sz="1050" dirty="0"/>
          </a:p>
        </p:txBody>
      </p:sp>
      <p:sp>
        <p:nvSpPr>
          <p:cNvPr id="69" name="Shape 67"/>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70" name="Text 68"/>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Method</a:t>
            </a:r>
            <a:endParaRPr lang="en-US" sz="1300" dirty="0"/>
          </a:p>
        </p:txBody>
      </p:sp>
      <p:sp>
        <p:nvSpPr>
          <p:cNvPr id="71" name="Text 69"/>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Balance the metre rule on the pivot </a:t>
            </a:r>
            <a:r>
              <a:rPr lang="en-US" sz="1150" b="1" dirty="0">
                <a:solidFill>
                  <a:srgbClr val="262B3A"/>
                </a:solidFill>
                <a:latin typeface="Calibri" pitchFamily="34" charset="0"/>
                <a:ea typeface="Calibri" pitchFamily="34" charset="-122"/>
                <a:cs typeface="Calibri" pitchFamily="34" charset="-120"/>
              </a:rPr>
              <a:t>without masses</a:t>
            </a:r>
            <a:r>
              <a:rPr lang="en-US" sz="1150" dirty="0">
                <a:solidFill>
                  <a:srgbClr val="262B3A"/>
                </a:solidFill>
                <a:latin typeface="Calibri" pitchFamily="34" charset="0"/>
                <a:ea typeface="Calibri" pitchFamily="34" charset="-122"/>
                <a:cs typeface="Calibri" pitchFamily="34" charset="-120"/>
              </a:rPr>
              <a:t> (at its centre of mass, about 50 cm).</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Hang a known weight (e.g. 1.0 N) at a fixed distance d₁ on the left.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Hang a second weight on the right. </a:t>
            </a:r>
            <a:r>
              <a:rPr lang="en-US" sz="1150" b="1" dirty="0">
                <a:solidFill>
                  <a:srgbClr val="262B3A"/>
                </a:solidFill>
                <a:latin typeface="Calibri" pitchFamily="34" charset="0"/>
                <a:ea typeface="Calibri" pitchFamily="34" charset="-122"/>
                <a:cs typeface="Calibri" pitchFamily="34" charset="-120"/>
              </a:rPr>
              <a:t>Slide it</a:t>
            </a:r>
            <a:r>
              <a:rPr lang="en-US" sz="1150" dirty="0">
                <a:solidFill>
                  <a:srgbClr val="262B3A"/>
                </a:solidFill>
                <a:latin typeface="Calibri" pitchFamily="34" charset="0"/>
                <a:ea typeface="Calibri" pitchFamily="34" charset="-122"/>
                <a:cs typeface="Calibri" pitchFamily="34" charset="-120"/>
              </a:rPr>
              <a:t> until the rule balances level.</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Record both weights and both distances </a:t>
            </a:r>
            <a:r>
              <a:rPr lang="en-US" sz="1150" b="1" dirty="0">
                <a:solidFill>
                  <a:srgbClr val="262B3A"/>
                </a:solidFill>
                <a:latin typeface="Calibri" pitchFamily="34" charset="0"/>
                <a:ea typeface="Calibri" pitchFamily="34" charset="-122"/>
                <a:cs typeface="Calibri" pitchFamily="34" charset="-120"/>
              </a:rPr>
              <a:t>from the pivot</a:t>
            </a:r>
            <a:r>
              <a:rPr lang="en-US" sz="1150" dirty="0">
                <a:solidFill>
                  <a:srgbClr val="262B3A"/>
                </a:solidFill>
                <a:latin typeface="Calibri" pitchFamily="34" charset="0"/>
                <a:ea typeface="Calibri" pitchFamily="34" charset="-122"/>
                <a:cs typeface="Calibri" pitchFamily="34" charset="-120"/>
              </a:rPr>
              <a:t> (in m).</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Repeat for at least 5 different combinations.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Calculate the anticlockwise moment (F₁ × d₁) and the clockwise moment (F₂ × d₂).</a:t>
            </a:r>
            <a:endParaRPr lang="en-US" sz="1150" dirty="0"/>
          </a:p>
        </p:txBody>
      </p:sp>
      <p:sp>
        <p:nvSpPr>
          <p:cNvPr id="72" name="Shape 70"/>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73" name="Text 71"/>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Variables</a:t>
            </a:r>
            <a:endParaRPr lang="en-US" sz="1300" dirty="0"/>
          </a:p>
        </p:txBody>
      </p:sp>
      <p:sp>
        <p:nvSpPr>
          <p:cNvPr id="74" name="Text 72"/>
          <p:cNvSpPr/>
          <p:nvPr/>
        </p:nvSpPr>
        <p:spPr>
          <a:xfrm>
            <a:off x="6382512" y="4133088"/>
            <a:ext cx="5233111" cy="1508760"/>
          </a:xfrm>
          <a:prstGeom prst="rect">
            <a:avLst/>
          </a:prstGeom>
          <a:noFill/>
          <a:ln/>
        </p:spPr>
        <p:txBody>
          <a:bodyPr wrap="square" lIns="0" tIns="0" rIns="0" bIns="0" rtlCol="0" anchor="t"/>
          <a:lstStyle/>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Independent   </a:t>
            </a:r>
            <a:r>
              <a:rPr lang="en-US" sz="1050" dirty="0">
                <a:solidFill>
                  <a:srgbClr val="262B3A"/>
                </a:solidFill>
                <a:latin typeface="Calibri" pitchFamily="34" charset="0"/>
                <a:ea typeface="Calibri" pitchFamily="34" charset="-122"/>
                <a:cs typeface="Calibri" pitchFamily="34" charset="-120"/>
              </a:rPr>
              <a:t>weight F₁ and its distance d₁ (left side)</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Dependent   </a:t>
            </a:r>
            <a:r>
              <a:rPr lang="en-US" sz="1050" dirty="0">
                <a:solidFill>
                  <a:srgbClr val="262B3A"/>
                </a:solidFill>
                <a:latin typeface="Calibri" pitchFamily="34" charset="0"/>
                <a:ea typeface="Calibri" pitchFamily="34" charset="-122"/>
                <a:cs typeface="Calibri" pitchFamily="34" charset="-120"/>
              </a:rPr>
              <a:t>distance d₂ of the right weight at balance</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Control   </a:t>
            </a:r>
            <a:r>
              <a:rPr lang="en-US" sz="1050" dirty="0">
                <a:solidFill>
                  <a:srgbClr val="262B3A"/>
                </a:solidFill>
                <a:latin typeface="Calibri" pitchFamily="34" charset="0"/>
                <a:ea typeface="Calibri" pitchFamily="34" charset="-122"/>
                <a:cs typeface="Calibri" pitchFamily="34" charset="-120"/>
              </a:rPr>
              <a:t>same rule, same pivot point, loops hung vertically</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prediction: F₁ × d₁ = F₂ × d₂ every time</a:t>
            </a:r>
            <a:endParaRPr lang="en-US" sz="1050" dirty="0"/>
          </a:p>
        </p:txBody>
      </p:sp>
      <p:sp>
        <p:nvSpPr>
          <p:cNvPr id="75" name="Shape 73"/>
          <p:cNvSpPr/>
          <p:nvPr/>
        </p:nvSpPr>
        <p:spPr>
          <a:xfrm>
            <a:off x="411480" y="5833872"/>
            <a:ext cx="11368735" cy="530352"/>
          </a:xfrm>
          <a:prstGeom prst="rect">
            <a:avLst/>
          </a:prstGeom>
          <a:solidFill>
            <a:srgbClr val="FFF4E0"/>
          </a:solidFill>
          <a:ln w="6350">
            <a:solidFill>
              <a:srgbClr val="F1D9A8"/>
            </a:solidFill>
            <a:prstDash val="solid"/>
          </a:ln>
        </p:spPr>
      </p:sp>
      <p:sp>
        <p:nvSpPr>
          <p:cNvPr id="76" name="Shape 74"/>
          <p:cNvSpPr/>
          <p:nvPr/>
        </p:nvSpPr>
        <p:spPr>
          <a:xfrm>
            <a:off x="411480" y="5833872"/>
            <a:ext cx="82296" cy="530352"/>
          </a:xfrm>
          <a:prstGeom prst="rect">
            <a:avLst/>
          </a:prstGeom>
          <a:solidFill>
            <a:srgbClr val="E39A2F"/>
          </a:solidFill>
          <a:ln w="12700">
            <a:solidFill>
              <a:srgbClr val="E39A2F"/>
            </a:solidFill>
            <a:prstDash val="solid"/>
          </a:ln>
        </p:spPr>
      </p:sp>
      <p:sp>
        <p:nvSpPr>
          <p:cNvPr id="77" name="Text 7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is the pivot placed at the centre of mass of the metre rule?</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Suggested practical: results and analysis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9.8P • sample results (g = 10 N/kg)</a:t>
            </a:r>
            <a:endParaRPr lang="en-US" sz="1100" dirty="0"/>
          </a:p>
        </p:txBody>
      </p:sp>
      <p:sp>
        <p:nvSpPr>
          <p:cNvPr id="6" name="Shape 4"/>
          <p:cNvSpPr/>
          <p:nvPr/>
        </p:nvSpPr>
        <p:spPr>
          <a:xfrm>
            <a:off x="10591495" y="292608"/>
            <a:ext cx="1188720" cy="274320"/>
          </a:xfrm>
          <a:prstGeom prst="roundRect">
            <a:avLst>
              <a:gd name="adj" fmla="val 50000"/>
            </a:avLst>
          </a:prstGeom>
          <a:solidFill>
            <a:srgbClr val="2E5BD8"/>
          </a:solidFill>
          <a:ln w="12700">
            <a:solidFill>
              <a:srgbClr val="2E5BD8"/>
            </a:solidFill>
            <a:prstDash val="solid"/>
          </a:ln>
        </p:spPr>
      </p:sp>
      <p:sp>
        <p:nvSpPr>
          <p:cNvPr id="7" name="Text 5"/>
          <p:cNvSpPr/>
          <p:nvPr/>
        </p:nvSpPr>
        <p:spPr>
          <a:xfrm>
            <a:off x="10591495" y="292608"/>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PHYSICS ONLY</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9 Forces and their effects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Practical 9.8P  |  25</a:t>
            </a:r>
            <a:endParaRPr lang="en-US" sz="1000" dirty="0"/>
          </a:p>
        </p:txBody>
      </p:sp>
      <p:sp>
        <p:nvSpPr>
          <p:cNvPr id="10" name="Shape 8"/>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sample data plotted to scale; the line is clockwise = anticlockwise</a:t>
            </a:r>
            <a:endParaRPr lang="en-US" sz="1000" dirty="0"/>
          </a:p>
        </p:txBody>
      </p:sp>
      <p:sp>
        <p:nvSpPr>
          <p:cNvPr id="12" name="Shape 10"/>
          <p:cNvSpPr/>
          <p:nvPr/>
        </p:nvSpPr>
        <p:spPr>
          <a:xfrm>
            <a:off x="1325880" y="1417320"/>
            <a:ext cx="4206240" cy="3246120"/>
          </a:xfrm>
          <a:prstGeom prst="rect">
            <a:avLst/>
          </a:prstGeom>
          <a:solidFill>
            <a:srgbClr val="FFFFFF"/>
          </a:solidFill>
          <a:ln/>
        </p:spPr>
      </p:sp>
      <p:sp>
        <p:nvSpPr>
          <p:cNvPr id="13" name="Shape 11"/>
          <p:cNvSpPr/>
          <p:nvPr/>
        </p:nvSpPr>
        <p:spPr>
          <a:xfrm>
            <a:off x="1325880" y="1417320"/>
            <a:ext cx="91" cy="3246120"/>
          </a:xfrm>
          <a:prstGeom prst="line">
            <a:avLst/>
          </a:prstGeom>
          <a:noFill/>
          <a:ln w="6350">
            <a:solidFill>
              <a:srgbClr val="C9D3E6"/>
            </a:solidFill>
            <a:prstDash val="solid"/>
          </a:ln>
        </p:spPr>
      </p:sp>
      <p:sp>
        <p:nvSpPr>
          <p:cNvPr id="14" name="Shape 12"/>
          <p:cNvSpPr/>
          <p:nvPr/>
        </p:nvSpPr>
        <p:spPr>
          <a:xfrm>
            <a:off x="1626326" y="1417320"/>
            <a:ext cx="91" cy="3246120"/>
          </a:xfrm>
          <a:prstGeom prst="line">
            <a:avLst/>
          </a:prstGeom>
          <a:noFill/>
          <a:ln w="6350">
            <a:solidFill>
              <a:srgbClr val="E6EBF4"/>
            </a:solidFill>
            <a:prstDash val="solid"/>
          </a:ln>
        </p:spPr>
      </p:sp>
      <p:sp>
        <p:nvSpPr>
          <p:cNvPr id="15" name="Shape 13"/>
          <p:cNvSpPr/>
          <p:nvPr/>
        </p:nvSpPr>
        <p:spPr>
          <a:xfrm>
            <a:off x="1926771" y="1417320"/>
            <a:ext cx="91" cy="3246120"/>
          </a:xfrm>
          <a:prstGeom prst="line">
            <a:avLst/>
          </a:prstGeom>
          <a:noFill/>
          <a:ln w="6350">
            <a:solidFill>
              <a:srgbClr val="C9D3E6"/>
            </a:solidFill>
            <a:prstDash val="solid"/>
          </a:ln>
        </p:spPr>
      </p:sp>
      <p:sp>
        <p:nvSpPr>
          <p:cNvPr id="16" name="Shape 14"/>
          <p:cNvSpPr/>
          <p:nvPr/>
        </p:nvSpPr>
        <p:spPr>
          <a:xfrm>
            <a:off x="2227217" y="1417320"/>
            <a:ext cx="91" cy="3246120"/>
          </a:xfrm>
          <a:prstGeom prst="line">
            <a:avLst/>
          </a:prstGeom>
          <a:noFill/>
          <a:ln w="6350">
            <a:solidFill>
              <a:srgbClr val="E6EBF4"/>
            </a:solidFill>
            <a:prstDash val="solid"/>
          </a:ln>
        </p:spPr>
      </p:sp>
      <p:sp>
        <p:nvSpPr>
          <p:cNvPr id="17" name="Shape 15"/>
          <p:cNvSpPr/>
          <p:nvPr/>
        </p:nvSpPr>
        <p:spPr>
          <a:xfrm>
            <a:off x="2527663" y="1417320"/>
            <a:ext cx="91" cy="3246120"/>
          </a:xfrm>
          <a:prstGeom prst="line">
            <a:avLst/>
          </a:prstGeom>
          <a:noFill/>
          <a:ln w="6350">
            <a:solidFill>
              <a:srgbClr val="C9D3E6"/>
            </a:solidFill>
            <a:prstDash val="solid"/>
          </a:ln>
        </p:spPr>
      </p:sp>
      <p:sp>
        <p:nvSpPr>
          <p:cNvPr id="18" name="Shape 16"/>
          <p:cNvSpPr/>
          <p:nvPr/>
        </p:nvSpPr>
        <p:spPr>
          <a:xfrm>
            <a:off x="2828109" y="1417320"/>
            <a:ext cx="91" cy="3246120"/>
          </a:xfrm>
          <a:prstGeom prst="line">
            <a:avLst/>
          </a:prstGeom>
          <a:noFill/>
          <a:ln w="6350">
            <a:solidFill>
              <a:srgbClr val="E6EBF4"/>
            </a:solidFill>
            <a:prstDash val="solid"/>
          </a:ln>
        </p:spPr>
      </p:sp>
      <p:sp>
        <p:nvSpPr>
          <p:cNvPr id="19" name="Shape 17"/>
          <p:cNvSpPr/>
          <p:nvPr/>
        </p:nvSpPr>
        <p:spPr>
          <a:xfrm>
            <a:off x="3128554" y="1417320"/>
            <a:ext cx="91" cy="3246120"/>
          </a:xfrm>
          <a:prstGeom prst="line">
            <a:avLst/>
          </a:prstGeom>
          <a:noFill/>
          <a:ln w="6350">
            <a:solidFill>
              <a:srgbClr val="C9D3E6"/>
            </a:solidFill>
            <a:prstDash val="solid"/>
          </a:ln>
        </p:spPr>
      </p:sp>
      <p:sp>
        <p:nvSpPr>
          <p:cNvPr id="20" name="Shape 18"/>
          <p:cNvSpPr/>
          <p:nvPr/>
        </p:nvSpPr>
        <p:spPr>
          <a:xfrm>
            <a:off x="3429000" y="1417320"/>
            <a:ext cx="91" cy="3246120"/>
          </a:xfrm>
          <a:prstGeom prst="line">
            <a:avLst/>
          </a:prstGeom>
          <a:noFill/>
          <a:ln w="6350">
            <a:solidFill>
              <a:srgbClr val="E6EBF4"/>
            </a:solidFill>
            <a:prstDash val="solid"/>
          </a:ln>
        </p:spPr>
      </p:sp>
      <p:sp>
        <p:nvSpPr>
          <p:cNvPr id="21" name="Shape 19"/>
          <p:cNvSpPr/>
          <p:nvPr/>
        </p:nvSpPr>
        <p:spPr>
          <a:xfrm>
            <a:off x="3729446" y="1417320"/>
            <a:ext cx="91" cy="3246120"/>
          </a:xfrm>
          <a:prstGeom prst="line">
            <a:avLst/>
          </a:prstGeom>
          <a:noFill/>
          <a:ln w="6350">
            <a:solidFill>
              <a:srgbClr val="C9D3E6"/>
            </a:solidFill>
            <a:prstDash val="solid"/>
          </a:ln>
        </p:spPr>
      </p:sp>
      <p:sp>
        <p:nvSpPr>
          <p:cNvPr id="22" name="Shape 20"/>
          <p:cNvSpPr/>
          <p:nvPr/>
        </p:nvSpPr>
        <p:spPr>
          <a:xfrm>
            <a:off x="4029891" y="1417320"/>
            <a:ext cx="91" cy="3246120"/>
          </a:xfrm>
          <a:prstGeom prst="line">
            <a:avLst/>
          </a:prstGeom>
          <a:noFill/>
          <a:ln w="6350">
            <a:solidFill>
              <a:srgbClr val="E6EBF4"/>
            </a:solidFill>
            <a:prstDash val="solid"/>
          </a:ln>
        </p:spPr>
      </p:sp>
      <p:sp>
        <p:nvSpPr>
          <p:cNvPr id="23" name="Shape 21"/>
          <p:cNvSpPr/>
          <p:nvPr/>
        </p:nvSpPr>
        <p:spPr>
          <a:xfrm>
            <a:off x="4330337" y="1417320"/>
            <a:ext cx="91" cy="3246120"/>
          </a:xfrm>
          <a:prstGeom prst="line">
            <a:avLst/>
          </a:prstGeom>
          <a:noFill/>
          <a:ln w="6350">
            <a:solidFill>
              <a:srgbClr val="C9D3E6"/>
            </a:solidFill>
            <a:prstDash val="solid"/>
          </a:ln>
        </p:spPr>
      </p:sp>
      <p:sp>
        <p:nvSpPr>
          <p:cNvPr id="24" name="Shape 22"/>
          <p:cNvSpPr/>
          <p:nvPr/>
        </p:nvSpPr>
        <p:spPr>
          <a:xfrm>
            <a:off x="4630783" y="1417320"/>
            <a:ext cx="91" cy="3246120"/>
          </a:xfrm>
          <a:prstGeom prst="line">
            <a:avLst/>
          </a:prstGeom>
          <a:noFill/>
          <a:ln w="6350">
            <a:solidFill>
              <a:srgbClr val="E6EBF4"/>
            </a:solidFill>
            <a:prstDash val="solid"/>
          </a:ln>
        </p:spPr>
      </p:sp>
      <p:sp>
        <p:nvSpPr>
          <p:cNvPr id="25" name="Shape 23"/>
          <p:cNvSpPr/>
          <p:nvPr/>
        </p:nvSpPr>
        <p:spPr>
          <a:xfrm>
            <a:off x="4931229" y="1417320"/>
            <a:ext cx="91" cy="3246120"/>
          </a:xfrm>
          <a:prstGeom prst="line">
            <a:avLst/>
          </a:prstGeom>
          <a:noFill/>
          <a:ln w="6350">
            <a:solidFill>
              <a:srgbClr val="C9D3E6"/>
            </a:solidFill>
            <a:prstDash val="solid"/>
          </a:ln>
        </p:spPr>
      </p:sp>
      <p:sp>
        <p:nvSpPr>
          <p:cNvPr id="26" name="Shape 24"/>
          <p:cNvSpPr/>
          <p:nvPr/>
        </p:nvSpPr>
        <p:spPr>
          <a:xfrm>
            <a:off x="5231674" y="1417320"/>
            <a:ext cx="91" cy="3246120"/>
          </a:xfrm>
          <a:prstGeom prst="line">
            <a:avLst/>
          </a:prstGeom>
          <a:noFill/>
          <a:ln w="6350">
            <a:solidFill>
              <a:srgbClr val="E6EBF4"/>
            </a:solidFill>
            <a:prstDash val="solid"/>
          </a:ln>
        </p:spPr>
      </p:sp>
      <p:sp>
        <p:nvSpPr>
          <p:cNvPr id="27" name="Shape 25"/>
          <p:cNvSpPr/>
          <p:nvPr/>
        </p:nvSpPr>
        <p:spPr>
          <a:xfrm>
            <a:off x="5532120" y="1417320"/>
            <a:ext cx="91" cy="3246120"/>
          </a:xfrm>
          <a:prstGeom prst="line">
            <a:avLst/>
          </a:prstGeom>
          <a:noFill/>
          <a:ln w="6350">
            <a:solidFill>
              <a:srgbClr val="C9D3E6"/>
            </a:solidFill>
            <a:prstDash val="solid"/>
          </a:ln>
        </p:spPr>
      </p:sp>
      <p:sp>
        <p:nvSpPr>
          <p:cNvPr id="28" name="Shape 26"/>
          <p:cNvSpPr/>
          <p:nvPr/>
        </p:nvSpPr>
        <p:spPr>
          <a:xfrm>
            <a:off x="1325880" y="4663440"/>
            <a:ext cx="4206240" cy="91"/>
          </a:xfrm>
          <a:prstGeom prst="line">
            <a:avLst/>
          </a:prstGeom>
          <a:noFill/>
          <a:ln w="6350">
            <a:solidFill>
              <a:srgbClr val="C9D3E6"/>
            </a:solidFill>
            <a:prstDash val="solid"/>
          </a:ln>
        </p:spPr>
      </p:sp>
      <p:sp>
        <p:nvSpPr>
          <p:cNvPr id="29" name="Shape 27"/>
          <p:cNvSpPr/>
          <p:nvPr/>
        </p:nvSpPr>
        <p:spPr>
          <a:xfrm>
            <a:off x="1325880" y="4431574"/>
            <a:ext cx="4206240" cy="91"/>
          </a:xfrm>
          <a:prstGeom prst="line">
            <a:avLst/>
          </a:prstGeom>
          <a:noFill/>
          <a:ln w="6350">
            <a:solidFill>
              <a:srgbClr val="E6EBF4"/>
            </a:solidFill>
            <a:prstDash val="solid"/>
          </a:ln>
        </p:spPr>
      </p:sp>
      <p:sp>
        <p:nvSpPr>
          <p:cNvPr id="30" name="Shape 28"/>
          <p:cNvSpPr/>
          <p:nvPr/>
        </p:nvSpPr>
        <p:spPr>
          <a:xfrm>
            <a:off x="1325880" y="4199709"/>
            <a:ext cx="4206240" cy="91"/>
          </a:xfrm>
          <a:prstGeom prst="line">
            <a:avLst/>
          </a:prstGeom>
          <a:noFill/>
          <a:ln w="6350">
            <a:solidFill>
              <a:srgbClr val="C9D3E6"/>
            </a:solidFill>
            <a:prstDash val="solid"/>
          </a:ln>
        </p:spPr>
      </p:sp>
      <p:sp>
        <p:nvSpPr>
          <p:cNvPr id="31" name="Shape 29"/>
          <p:cNvSpPr/>
          <p:nvPr/>
        </p:nvSpPr>
        <p:spPr>
          <a:xfrm>
            <a:off x="1325880" y="3967843"/>
            <a:ext cx="4206240" cy="91"/>
          </a:xfrm>
          <a:prstGeom prst="line">
            <a:avLst/>
          </a:prstGeom>
          <a:noFill/>
          <a:ln w="6350">
            <a:solidFill>
              <a:srgbClr val="E6EBF4"/>
            </a:solidFill>
            <a:prstDash val="solid"/>
          </a:ln>
        </p:spPr>
      </p:sp>
      <p:sp>
        <p:nvSpPr>
          <p:cNvPr id="32" name="Shape 30"/>
          <p:cNvSpPr/>
          <p:nvPr/>
        </p:nvSpPr>
        <p:spPr>
          <a:xfrm>
            <a:off x="1325880" y="3735977"/>
            <a:ext cx="4206240" cy="91"/>
          </a:xfrm>
          <a:prstGeom prst="line">
            <a:avLst/>
          </a:prstGeom>
          <a:noFill/>
          <a:ln w="6350">
            <a:solidFill>
              <a:srgbClr val="C9D3E6"/>
            </a:solidFill>
            <a:prstDash val="solid"/>
          </a:ln>
        </p:spPr>
      </p:sp>
      <p:sp>
        <p:nvSpPr>
          <p:cNvPr id="33" name="Shape 31"/>
          <p:cNvSpPr/>
          <p:nvPr/>
        </p:nvSpPr>
        <p:spPr>
          <a:xfrm>
            <a:off x="1325880" y="3504111"/>
            <a:ext cx="4206240" cy="91"/>
          </a:xfrm>
          <a:prstGeom prst="line">
            <a:avLst/>
          </a:prstGeom>
          <a:noFill/>
          <a:ln w="6350">
            <a:solidFill>
              <a:srgbClr val="E6EBF4"/>
            </a:solidFill>
            <a:prstDash val="solid"/>
          </a:ln>
        </p:spPr>
      </p:sp>
      <p:sp>
        <p:nvSpPr>
          <p:cNvPr id="34" name="Shape 32"/>
          <p:cNvSpPr/>
          <p:nvPr/>
        </p:nvSpPr>
        <p:spPr>
          <a:xfrm>
            <a:off x="1325880" y="3272246"/>
            <a:ext cx="4206240" cy="91"/>
          </a:xfrm>
          <a:prstGeom prst="line">
            <a:avLst/>
          </a:prstGeom>
          <a:noFill/>
          <a:ln w="6350">
            <a:solidFill>
              <a:srgbClr val="C9D3E6"/>
            </a:solidFill>
            <a:prstDash val="solid"/>
          </a:ln>
        </p:spPr>
      </p:sp>
      <p:sp>
        <p:nvSpPr>
          <p:cNvPr id="35" name="Shape 33"/>
          <p:cNvSpPr/>
          <p:nvPr/>
        </p:nvSpPr>
        <p:spPr>
          <a:xfrm>
            <a:off x="1325880" y="3040380"/>
            <a:ext cx="4206240" cy="91"/>
          </a:xfrm>
          <a:prstGeom prst="line">
            <a:avLst/>
          </a:prstGeom>
          <a:noFill/>
          <a:ln w="6350">
            <a:solidFill>
              <a:srgbClr val="E6EBF4"/>
            </a:solidFill>
            <a:prstDash val="solid"/>
          </a:ln>
        </p:spPr>
      </p:sp>
      <p:sp>
        <p:nvSpPr>
          <p:cNvPr id="36" name="Shape 34"/>
          <p:cNvSpPr/>
          <p:nvPr/>
        </p:nvSpPr>
        <p:spPr>
          <a:xfrm>
            <a:off x="1325880" y="2808514"/>
            <a:ext cx="4206240" cy="91"/>
          </a:xfrm>
          <a:prstGeom prst="line">
            <a:avLst/>
          </a:prstGeom>
          <a:noFill/>
          <a:ln w="6350">
            <a:solidFill>
              <a:srgbClr val="C9D3E6"/>
            </a:solidFill>
            <a:prstDash val="solid"/>
          </a:ln>
        </p:spPr>
      </p:sp>
      <p:sp>
        <p:nvSpPr>
          <p:cNvPr id="37" name="Shape 35"/>
          <p:cNvSpPr/>
          <p:nvPr/>
        </p:nvSpPr>
        <p:spPr>
          <a:xfrm>
            <a:off x="1325880" y="2576649"/>
            <a:ext cx="4206240" cy="91"/>
          </a:xfrm>
          <a:prstGeom prst="line">
            <a:avLst/>
          </a:prstGeom>
          <a:noFill/>
          <a:ln w="6350">
            <a:solidFill>
              <a:srgbClr val="E6EBF4"/>
            </a:solidFill>
            <a:prstDash val="solid"/>
          </a:ln>
        </p:spPr>
      </p:sp>
      <p:sp>
        <p:nvSpPr>
          <p:cNvPr id="38" name="Shape 36"/>
          <p:cNvSpPr/>
          <p:nvPr/>
        </p:nvSpPr>
        <p:spPr>
          <a:xfrm>
            <a:off x="1325880" y="2344783"/>
            <a:ext cx="4206240" cy="91"/>
          </a:xfrm>
          <a:prstGeom prst="line">
            <a:avLst/>
          </a:prstGeom>
          <a:noFill/>
          <a:ln w="6350">
            <a:solidFill>
              <a:srgbClr val="C9D3E6"/>
            </a:solidFill>
            <a:prstDash val="solid"/>
          </a:ln>
        </p:spPr>
      </p:sp>
      <p:sp>
        <p:nvSpPr>
          <p:cNvPr id="39" name="Shape 37"/>
          <p:cNvSpPr/>
          <p:nvPr/>
        </p:nvSpPr>
        <p:spPr>
          <a:xfrm>
            <a:off x="1325880" y="2112917"/>
            <a:ext cx="4206240" cy="91"/>
          </a:xfrm>
          <a:prstGeom prst="line">
            <a:avLst/>
          </a:prstGeom>
          <a:noFill/>
          <a:ln w="6350">
            <a:solidFill>
              <a:srgbClr val="E6EBF4"/>
            </a:solidFill>
            <a:prstDash val="solid"/>
          </a:ln>
        </p:spPr>
      </p:sp>
      <p:sp>
        <p:nvSpPr>
          <p:cNvPr id="40" name="Shape 38"/>
          <p:cNvSpPr/>
          <p:nvPr/>
        </p:nvSpPr>
        <p:spPr>
          <a:xfrm>
            <a:off x="1325880" y="1881051"/>
            <a:ext cx="4206240" cy="91"/>
          </a:xfrm>
          <a:prstGeom prst="line">
            <a:avLst/>
          </a:prstGeom>
          <a:noFill/>
          <a:ln w="6350">
            <a:solidFill>
              <a:srgbClr val="C9D3E6"/>
            </a:solidFill>
            <a:prstDash val="solid"/>
          </a:ln>
        </p:spPr>
      </p:sp>
      <p:sp>
        <p:nvSpPr>
          <p:cNvPr id="41" name="Shape 39"/>
          <p:cNvSpPr/>
          <p:nvPr/>
        </p:nvSpPr>
        <p:spPr>
          <a:xfrm>
            <a:off x="1325880" y="1649186"/>
            <a:ext cx="4206240" cy="91"/>
          </a:xfrm>
          <a:prstGeom prst="line">
            <a:avLst/>
          </a:prstGeom>
          <a:noFill/>
          <a:ln w="6350">
            <a:solidFill>
              <a:srgbClr val="E6EBF4"/>
            </a:solidFill>
            <a:prstDash val="solid"/>
          </a:ln>
        </p:spPr>
      </p:sp>
      <p:sp>
        <p:nvSpPr>
          <p:cNvPr id="42" name="Shape 40"/>
          <p:cNvSpPr/>
          <p:nvPr/>
        </p:nvSpPr>
        <p:spPr>
          <a:xfrm>
            <a:off x="1325880" y="1417320"/>
            <a:ext cx="4206240" cy="91"/>
          </a:xfrm>
          <a:prstGeom prst="line">
            <a:avLst/>
          </a:prstGeom>
          <a:noFill/>
          <a:ln w="6350">
            <a:solidFill>
              <a:srgbClr val="C9D3E6"/>
            </a:solidFill>
            <a:prstDash val="solid"/>
          </a:ln>
        </p:spPr>
      </p:sp>
      <p:sp>
        <p:nvSpPr>
          <p:cNvPr id="43" name="Shape 41"/>
          <p:cNvSpPr/>
          <p:nvPr/>
        </p:nvSpPr>
        <p:spPr>
          <a:xfrm>
            <a:off x="1325880" y="4663440"/>
            <a:ext cx="4206240" cy="91"/>
          </a:xfrm>
          <a:prstGeom prst="line">
            <a:avLst/>
          </a:prstGeom>
          <a:noFill/>
          <a:ln w="19050">
            <a:solidFill>
              <a:srgbClr val="1A2340"/>
            </a:solidFill>
            <a:prstDash val="solid"/>
          </a:ln>
        </p:spPr>
      </p:sp>
      <p:sp>
        <p:nvSpPr>
          <p:cNvPr id="44" name="Shape 42"/>
          <p:cNvSpPr/>
          <p:nvPr/>
        </p:nvSpPr>
        <p:spPr>
          <a:xfrm flipV="1">
            <a:off x="1325880" y="1417320"/>
            <a:ext cx="91" cy="3246120"/>
          </a:xfrm>
          <a:prstGeom prst="line">
            <a:avLst/>
          </a:prstGeom>
          <a:noFill/>
          <a:ln w="19050">
            <a:solidFill>
              <a:srgbClr val="1A2340"/>
            </a:solidFill>
            <a:prstDash val="solid"/>
          </a:ln>
        </p:spPr>
      </p:sp>
      <p:sp>
        <p:nvSpPr>
          <p:cNvPr id="45" name="Shape 43"/>
          <p:cNvSpPr/>
          <p:nvPr/>
        </p:nvSpPr>
        <p:spPr>
          <a:xfrm>
            <a:off x="1325880" y="4663440"/>
            <a:ext cx="91" cy="54864"/>
          </a:xfrm>
          <a:prstGeom prst="line">
            <a:avLst/>
          </a:prstGeom>
          <a:noFill/>
          <a:ln w="12700">
            <a:solidFill>
              <a:srgbClr val="1A2340"/>
            </a:solidFill>
            <a:prstDash val="solid"/>
          </a:ln>
        </p:spPr>
      </p:sp>
      <p:sp>
        <p:nvSpPr>
          <p:cNvPr id="46" name="Text 44"/>
          <p:cNvSpPr/>
          <p:nvPr/>
        </p:nvSpPr>
        <p:spPr>
          <a:xfrm>
            <a:off x="1051560"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0.0</a:t>
            </a:r>
            <a:endParaRPr lang="en-US" sz="1000" dirty="0"/>
          </a:p>
        </p:txBody>
      </p:sp>
      <p:sp>
        <p:nvSpPr>
          <p:cNvPr id="47" name="Shape 45"/>
          <p:cNvSpPr/>
          <p:nvPr/>
        </p:nvSpPr>
        <p:spPr>
          <a:xfrm>
            <a:off x="1926771" y="4663440"/>
            <a:ext cx="91" cy="54864"/>
          </a:xfrm>
          <a:prstGeom prst="line">
            <a:avLst/>
          </a:prstGeom>
          <a:noFill/>
          <a:ln w="12700">
            <a:solidFill>
              <a:srgbClr val="1A2340"/>
            </a:solidFill>
            <a:prstDash val="solid"/>
          </a:ln>
        </p:spPr>
      </p:sp>
      <p:sp>
        <p:nvSpPr>
          <p:cNvPr id="48" name="Text 46"/>
          <p:cNvSpPr/>
          <p:nvPr/>
        </p:nvSpPr>
        <p:spPr>
          <a:xfrm>
            <a:off x="1652451"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0.1</a:t>
            </a:r>
            <a:endParaRPr lang="en-US" sz="1000" dirty="0"/>
          </a:p>
        </p:txBody>
      </p:sp>
      <p:sp>
        <p:nvSpPr>
          <p:cNvPr id="49" name="Shape 47"/>
          <p:cNvSpPr/>
          <p:nvPr/>
        </p:nvSpPr>
        <p:spPr>
          <a:xfrm>
            <a:off x="2527663" y="4663440"/>
            <a:ext cx="91" cy="54864"/>
          </a:xfrm>
          <a:prstGeom prst="line">
            <a:avLst/>
          </a:prstGeom>
          <a:noFill/>
          <a:ln w="12700">
            <a:solidFill>
              <a:srgbClr val="1A2340"/>
            </a:solidFill>
            <a:prstDash val="solid"/>
          </a:ln>
        </p:spPr>
      </p:sp>
      <p:sp>
        <p:nvSpPr>
          <p:cNvPr id="50" name="Text 48"/>
          <p:cNvSpPr/>
          <p:nvPr/>
        </p:nvSpPr>
        <p:spPr>
          <a:xfrm>
            <a:off x="2253343"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0.2</a:t>
            </a:r>
            <a:endParaRPr lang="en-US" sz="1000" dirty="0"/>
          </a:p>
        </p:txBody>
      </p:sp>
      <p:sp>
        <p:nvSpPr>
          <p:cNvPr id="51" name="Shape 49"/>
          <p:cNvSpPr/>
          <p:nvPr/>
        </p:nvSpPr>
        <p:spPr>
          <a:xfrm>
            <a:off x="3128554" y="4663440"/>
            <a:ext cx="91" cy="54864"/>
          </a:xfrm>
          <a:prstGeom prst="line">
            <a:avLst/>
          </a:prstGeom>
          <a:noFill/>
          <a:ln w="12700">
            <a:solidFill>
              <a:srgbClr val="1A2340"/>
            </a:solidFill>
            <a:prstDash val="solid"/>
          </a:ln>
        </p:spPr>
      </p:sp>
      <p:sp>
        <p:nvSpPr>
          <p:cNvPr id="52" name="Text 50"/>
          <p:cNvSpPr/>
          <p:nvPr/>
        </p:nvSpPr>
        <p:spPr>
          <a:xfrm>
            <a:off x="2854234"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0.3</a:t>
            </a:r>
            <a:endParaRPr lang="en-US" sz="1000" dirty="0"/>
          </a:p>
        </p:txBody>
      </p:sp>
      <p:sp>
        <p:nvSpPr>
          <p:cNvPr id="53" name="Shape 51"/>
          <p:cNvSpPr/>
          <p:nvPr/>
        </p:nvSpPr>
        <p:spPr>
          <a:xfrm>
            <a:off x="3729446" y="4663440"/>
            <a:ext cx="91" cy="54864"/>
          </a:xfrm>
          <a:prstGeom prst="line">
            <a:avLst/>
          </a:prstGeom>
          <a:noFill/>
          <a:ln w="12700">
            <a:solidFill>
              <a:srgbClr val="1A2340"/>
            </a:solidFill>
            <a:prstDash val="solid"/>
          </a:ln>
        </p:spPr>
      </p:sp>
      <p:sp>
        <p:nvSpPr>
          <p:cNvPr id="54" name="Text 52"/>
          <p:cNvSpPr/>
          <p:nvPr/>
        </p:nvSpPr>
        <p:spPr>
          <a:xfrm>
            <a:off x="3455126"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0.4</a:t>
            </a:r>
            <a:endParaRPr lang="en-US" sz="1000" dirty="0"/>
          </a:p>
        </p:txBody>
      </p:sp>
      <p:sp>
        <p:nvSpPr>
          <p:cNvPr id="55" name="Shape 53"/>
          <p:cNvSpPr/>
          <p:nvPr/>
        </p:nvSpPr>
        <p:spPr>
          <a:xfrm>
            <a:off x="4330337" y="4663440"/>
            <a:ext cx="91" cy="54864"/>
          </a:xfrm>
          <a:prstGeom prst="line">
            <a:avLst/>
          </a:prstGeom>
          <a:noFill/>
          <a:ln w="12700">
            <a:solidFill>
              <a:srgbClr val="1A2340"/>
            </a:solidFill>
            <a:prstDash val="solid"/>
          </a:ln>
        </p:spPr>
      </p:sp>
      <p:sp>
        <p:nvSpPr>
          <p:cNvPr id="56" name="Text 54"/>
          <p:cNvSpPr/>
          <p:nvPr/>
        </p:nvSpPr>
        <p:spPr>
          <a:xfrm>
            <a:off x="4056017"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0.5</a:t>
            </a:r>
            <a:endParaRPr lang="en-US" sz="1000" dirty="0"/>
          </a:p>
        </p:txBody>
      </p:sp>
      <p:sp>
        <p:nvSpPr>
          <p:cNvPr id="57" name="Shape 55"/>
          <p:cNvSpPr/>
          <p:nvPr/>
        </p:nvSpPr>
        <p:spPr>
          <a:xfrm>
            <a:off x="4931229" y="4663440"/>
            <a:ext cx="91" cy="54864"/>
          </a:xfrm>
          <a:prstGeom prst="line">
            <a:avLst/>
          </a:prstGeom>
          <a:noFill/>
          <a:ln w="12700">
            <a:solidFill>
              <a:srgbClr val="1A2340"/>
            </a:solidFill>
            <a:prstDash val="solid"/>
          </a:ln>
        </p:spPr>
      </p:sp>
      <p:sp>
        <p:nvSpPr>
          <p:cNvPr id="58" name="Text 56"/>
          <p:cNvSpPr/>
          <p:nvPr/>
        </p:nvSpPr>
        <p:spPr>
          <a:xfrm>
            <a:off x="4656909"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0.6</a:t>
            </a:r>
            <a:endParaRPr lang="en-US" sz="1000" dirty="0"/>
          </a:p>
        </p:txBody>
      </p:sp>
      <p:sp>
        <p:nvSpPr>
          <p:cNvPr id="59" name="Shape 57"/>
          <p:cNvSpPr/>
          <p:nvPr/>
        </p:nvSpPr>
        <p:spPr>
          <a:xfrm>
            <a:off x="5532120" y="4663440"/>
            <a:ext cx="91" cy="54864"/>
          </a:xfrm>
          <a:prstGeom prst="line">
            <a:avLst/>
          </a:prstGeom>
          <a:noFill/>
          <a:ln w="12700">
            <a:solidFill>
              <a:srgbClr val="1A2340"/>
            </a:solidFill>
            <a:prstDash val="solid"/>
          </a:ln>
        </p:spPr>
      </p:sp>
      <p:sp>
        <p:nvSpPr>
          <p:cNvPr id="60" name="Text 58"/>
          <p:cNvSpPr/>
          <p:nvPr/>
        </p:nvSpPr>
        <p:spPr>
          <a:xfrm>
            <a:off x="5257800"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0.7</a:t>
            </a:r>
            <a:endParaRPr lang="en-US" sz="1000" dirty="0"/>
          </a:p>
        </p:txBody>
      </p:sp>
      <p:sp>
        <p:nvSpPr>
          <p:cNvPr id="61" name="Shape 59"/>
          <p:cNvSpPr/>
          <p:nvPr/>
        </p:nvSpPr>
        <p:spPr>
          <a:xfrm>
            <a:off x="1271016" y="4663440"/>
            <a:ext cx="54864" cy="91"/>
          </a:xfrm>
          <a:prstGeom prst="line">
            <a:avLst/>
          </a:prstGeom>
          <a:noFill/>
          <a:ln w="12700">
            <a:solidFill>
              <a:srgbClr val="1A2340"/>
            </a:solidFill>
            <a:prstDash val="solid"/>
          </a:ln>
        </p:spPr>
      </p:sp>
      <p:sp>
        <p:nvSpPr>
          <p:cNvPr id="62" name="Text 60"/>
          <p:cNvSpPr/>
          <p:nvPr/>
        </p:nvSpPr>
        <p:spPr>
          <a:xfrm>
            <a:off x="886968" y="45720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0.0</a:t>
            </a:r>
            <a:endParaRPr lang="en-US" sz="1000" dirty="0"/>
          </a:p>
        </p:txBody>
      </p:sp>
      <p:sp>
        <p:nvSpPr>
          <p:cNvPr id="63" name="Shape 61"/>
          <p:cNvSpPr/>
          <p:nvPr/>
        </p:nvSpPr>
        <p:spPr>
          <a:xfrm>
            <a:off x="1271016" y="4199709"/>
            <a:ext cx="54864" cy="91"/>
          </a:xfrm>
          <a:prstGeom prst="line">
            <a:avLst/>
          </a:prstGeom>
          <a:noFill/>
          <a:ln w="12700">
            <a:solidFill>
              <a:srgbClr val="1A2340"/>
            </a:solidFill>
            <a:prstDash val="solid"/>
          </a:ln>
        </p:spPr>
      </p:sp>
      <p:sp>
        <p:nvSpPr>
          <p:cNvPr id="64" name="Text 62"/>
          <p:cNvSpPr/>
          <p:nvPr/>
        </p:nvSpPr>
        <p:spPr>
          <a:xfrm>
            <a:off x="886968" y="4108269"/>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0.1</a:t>
            </a:r>
            <a:endParaRPr lang="en-US" sz="1000" dirty="0"/>
          </a:p>
        </p:txBody>
      </p:sp>
      <p:sp>
        <p:nvSpPr>
          <p:cNvPr id="65" name="Shape 63"/>
          <p:cNvSpPr/>
          <p:nvPr/>
        </p:nvSpPr>
        <p:spPr>
          <a:xfrm>
            <a:off x="1271016" y="3735977"/>
            <a:ext cx="54864" cy="91"/>
          </a:xfrm>
          <a:prstGeom prst="line">
            <a:avLst/>
          </a:prstGeom>
          <a:noFill/>
          <a:ln w="12700">
            <a:solidFill>
              <a:srgbClr val="1A2340"/>
            </a:solidFill>
            <a:prstDash val="solid"/>
          </a:ln>
        </p:spPr>
      </p:sp>
      <p:sp>
        <p:nvSpPr>
          <p:cNvPr id="66" name="Text 64"/>
          <p:cNvSpPr/>
          <p:nvPr/>
        </p:nvSpPr>
        <p:spPr>
          <a:xfrm>
            <a:off x="886968" y="3644537"/>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0.2</a:t>
            </a:r>
            <a:endParaRPr lang="en-US" sz="1000" dirty="0"/>
          </a:p>
        </p:txBody>
      </p:sp>
      <p:sp>
        <p:nvSpPr>
          <p:cNvPr id="67" name="Shape 65"/>
          <p:cNvSpPr/>
          <p:nvPr/>
        </p:nvSpPr>
        <p:spPr>
          <a:xfrm>
            <a:off x="1271016" y="3272246"/>
            <a:ext cx="54864" cy="91"/>
          </a:xfrm>
          <a:prstGeom prst="line">
            <a:avLst/>
          </a:prstGeom>
          <a:noFill/>
          <a:ln w="12700">
            <a:solidFill>
              <a:srgbClr val="1A2340"/>
            </a:solidFill>
            <a:prstDash val="solid"/>
          </a:ln>
        </p:spPr>
      </p:sp>
      <p:sp>
        <p:nvSpPr>
          <p:cNvPr id="68" name="Text 66"/>
          <p:cNvSpPr/>
          <p:nvPr/>
        </p:nvSpPr>
        <p:spPr>
          <a:xfrm>
            <a:off x="886968" y="3180806"/>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0.3</a:t>
            </a:r>
            <a:endParaRPr lang="en-US" sz="1000" dirty="0"/>
          </a:p>
        </p:txBody>
      </p:sp>
      <p:sp>
        <p:nvSpPr>
          <p:cNvPr id="69" name="Shape 67"/>
          <p:cNvSpPr/>
          <p:nvPr/>
        </p:nvSpPr>
        <p:spPr>
          <a:xfrm>
            <a:off x="1271016" y="2808514"/>
            <a:ext cx="54864" cy="91"/>
          </a:xfrm>
          <a:prstGeom prst="line">
            <a:avLst/>
          </a:prstGeom>
          <a:noFill/>
          <a:ln w="12700">
            <a:solidFill>
              <a:srgbClr val="1A2340"/>
            </a:solidFill>
            <a:prstDash val="solid"/>
          </a:ln>
        </p:spPr>
      </p:sp>
      <p:sp>
        <p:nvSpPr>
          <p:cNvPr id="70" name="Text 68"/>
          <p:cNvSpPr/>
          <p:nvPr/>
        </p:nvSpPr>
        <p:spPr>
          <a:xfrm>
            <a:off x="886968" y="2717074"/>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0.4</a:t>
            </a:r>
            <a:endParaRPr lang="en-US" sz="1000" dirty="0"/>
          </a:p>
        </p:txBody>
      </p:sp>
      <p:sp>
        <p:nvSpPr>
          <p:cNvPr id="71" name="Shape 69"/>
          <p:cNvSpPr/>
          <p:nvPr/>
        </p:nvSpPr>
        <p:spPr>
          <a:xfrm>
            <a:off x="1271016" y="2344783"/>
            <a:ext cx="54864" cy="91"/>
          </a:xfrm>
          <a:prstGeom prst="line">
            <a:avLst/>
          </a:prstGeom>
          <a:noFill/>
          <a:ln w="12700">
            <a:solidFill>
              <a:srgbClr val="1A2340"/>
            </a:solidFill>
            <a:prstDash val="solid"/>
          </a:ln>
        </p:spPr>
      </p:sp>
      <p:sp>
        <p:nvSpPr>
          <p:cNvPr id="72" name="Text 70"/>
          <p:cNvSpPr/>
          <p:nvPr/>
        </p:nvSpPr>
        <p:spPr>
          <a:xfrm>
            <a:off x="886968" y="2253343"/>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0.5</a:t>
            </a:r>
            <a:endParaRPr lang="en-US" sz="1000" dirty="0"/>
          </a:p>
        </p:txBody>
      </p:sp>
      <p:sp>
        <p:nvSpPr>
          <p:cNvPr id="73" name="Shape 71"/>
          <p:cNvSpPr/>
          <p:nvPr/>
        </p:nvSpPr>
        <p:spPr>
          <a:xfrm>
            <a:off x="1271016" y="1881051"/>
            <a:ext cx="54864" cy="91"/>
          </a:xfrm>
          <a:prstGeom prst="line">
            <a:avLst/>
          </a:prstGeom>
          <a:noFill/>
          <a:ln w="12700">
            <a:solidFill>
              <a:srgbClr val="1A2340"/>
            </a:solidFill>
            <a:prstDash val="solid"/>
          </a:ln>
        </p:spPr>
      </p:sp>
      <p:sp>
        <p:nvSpPr>
          <p:cNvPr id="74" name="Text 72"/>
          <p:cNvSpPr/>
          <p:nvPr/>
        </p:nvSpPr>
        <p:spPr>
          <a:xfrm>
            <a:off x="886968" y="1789611"/>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0.6</a:t>
            </a:r>
            <a:endParaRPr lang="en-US" sz="1000" dirty="0"/>
          </a:p>
        </p:txBody>
      </p:sp>
      <p:sp>
        <p:nvSpPr>
          <p:cNvPr id="75" name="Shape 73"/>
          <p:cNvSpPr/>
          <p:nvPr/>
        </p:nvSpPr>
        <p:spPr>
          <a:xfrm>
            <a:off x="1271016" y="1417320"/>
            <a:ext cx="54864" cy="91"/>
          </a:xfrm>
          <a:prstGeom prst="line">
            <a:avLst/>
          </a:prstGeom>
          <a:noFill/>
          <a:ln w="12700">
            <a:solidFill>
              <a:srgbClr val="1A2340"/>
            </a:solidFill>
            <a:prstDash val="solid"/>
          </a:ln>
        </p:spPr>
      </p:sp>
      <p:sp>
        <p:nvSpPr>
          <p:cNvPr id="76" name="Text 74"/>
          <p:cNvSpPr/>
          <p:nvPr/>
        </p:nvSpPr>
        <p:spPr>
          <a:xfrm>
            <a:off x="886968" y="1325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0.7</a:t>
            </a:r>
            <a:endParaRPr lang="en-US" sz="1000" dirty="0"/>
          </a:p>
        </p:txBody>
      </p:sp>
      <p:sp>
        <p:nvSpPr>
          <p:cNvPr id="77" name="Text 75"/>
          <p:cNvSpPr/>
          <p:nvPr/>
        </p:nvSpPr>
        <p:spPr>
          <a:xfrm>
            <a:off x="1325880" y="4910328"/>
            <a:ext cx="42062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anticlockwise moment F₁ × d₁ / N m</a:t>
            </a:r>
            <a:endParaRPr lang="en-US" sz="1050" dirty="0"/>
          </a:p>
        </p:txBody>
      </p:sp>
      <p:sp>
        <p:nvSpPr>
          <p:cNvPr id="78" name="Text 76"/>
          <p:cNvSpPr/>
          <p:nvPr/>
        </p:nvSpPr>
        <p:spPr>
          <a:xfrm rot="16200000">
            <a:off x="-864108" y="2912364"/>
            <a:ext cx="32461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clockwise moment F₂ × d₂ / N m</a:t>
            </a:r>
            <a:endParaRPr lang="en-US" sz="1050" dirty="0"/>
          </a:p>
        </p:txBody>
      </p:sp>
      <p:sp>
        <p:nvSpPr>
          <p:cNvPr id="79" name="Shape 77"/>
          <p:cNvSpPr/>
          <p:nvPr/>
        </p:nvSpPr>
        <p:spPr>
          <a:xfrm flipV="1">
            <a:off x="1325880" y="1417320"/>
            <a:ext cx="4206240" cy="3246120"/>
          </a:xfrm>
          <a:prstGeom prst="line">
            <a:avLst/>
          </a:prstGeom>
          <a:noFill/>
          <a:ln w="22225">
            <a:solidFill>
              <a:srgbClr val="2E5BD8"/>
            </a:solidFill>
            <a:prstDash val="solid"/>
          </a:ln>
        </p:spPr>
      </p:sp>
      <p:sp>
        <p:nvSpPr>
          <p:cNvPr id="80" name="Shape 78"/>
          <p:cNvSpPr/>
          <p:nvPr/>
        </p:nvSpPr>
        <p:spPr>
          <a:xfrm>
            <a:off x="3082834" y="3219570"/>
            <a:ext cx="91440" cy="91440"/>
          </a:xfrm>
          <a:prstGeom prst="line">
            <a:avLst/>
          </a:prstGeom>
          <a:noFill/>
          <a:ln w="15875">
            <a:solidFill>
              <a:srgbClr val="1A2340"/>
            </a:solidFill>
            <a:prstDash val="solid"/>
          </a:ln>
        </p:spPr>
      </p:sp>
      <p:sp>
        <p:nvSpPr>
          <p:cNvPr id="81" name="Shape 79"/>
          <p:cNvSpPr/>
          <p:nvPr/>
        </p:nvSpPr>
        <p:spPr>
          <a:xfrm flipV="1">
            <a:off x="3082834" y="3219570"/>
            <a:ext cx="91440" cy="91440"/>
          </a:xfrm>
          <a:prstGeom prst="line">
            <a:avLst/>
          </a:prstGeom>
          <a:noFill/>
          <a:ln w="15875">
            <a:solidFill>
              <a:srgbClr val="1A2340"/>
            </a:solidFill>
            <a:prstDash val="solid"/>
          </a:ln>
        </p:spPr>
      </p:sp>
      <p:sp>
        <p:nvSpPr>
          <p:cNvPr id="82" name="Shape 80"/>
          <p:cNvSpPr/>
          <p:nvPr/>
        </p:nvSpPr>
        <p:spPr>
          <a:xfrm>
            <a:off x="3683726" y="2772069"/>
            <a:ext cx="91440" cy="91440"/>
          </a:xfrm>
          <a:prstGeom prst="line">
            <a:avLst/>
          </a:prstGeom>
          <a:noFill/>
          <a:ln w="15875">
            <a:solidFill>
              <a:srgbClr val="1A2340"/>
            </a:solidFill>
            <a:prstDash val="solid"/>
          </a:ln>
        </p:spPr>
      </p:sp>
      <p:sp>
        <p:nvSpPr>
          <p:cNvPr id="83" name="Shape 81"/>
          <p:cNvSpPr/>
          <p:nvPr/>
        </p:nvSpPr>
        <p:spPr>
          <a:xfrm flipV="1">
            <a:off x="3683726" y="2772069"/>
            <a:ext cx="91440" cy="91440"/>
          </a:xfrm>
          <a:prstGeom prst="line">
            <a:avLst/>
          </a:prstGeom>
          <a:noFill/>
          <a:ln w="15875">
            <a:solidFill>
              <a:srgbClr val="1A2340"/>
            </a:solidFill>
            <a:prstDash val="solid"/>
          </a:ln>
        </p:spPr>
      </p:sp>
      <p:sp>
        <p:nvSpPr>
          <p:cNvPr id="84" name="Shape 82"/>
          <p:cNvSpPr/>
          <p:nvPr/>
        </p:nvSpPr>
        <p:spPr>
          <a:xfrm>
            <a:off x="3082834" y="3217251"/>
            <a:ext cx="91440" cy="91440"/>
          </a:xfrm>
          <a:prstGeom prst="line">
            <a:avLst/>
          </a:prstGeom>
          <a:noFill/>
          <a:ln w="15875">
            <a:solidFill>
              <a:srgbClr val="1A2340"/>
            </a:solidFill>
            <a:prstDash val="solid"/>
          </a:ln>
        </p:spPr>
      </p:sp>
      <p:sp>
        <p:nvSpPr>
          <p:cNvPr id="85" name="Shape 83"/>
          <p:cNvSpPr/>
          <p:nvPr/>
        </p:nvSpPr>
        <p:spPr>
          <a:xfrm flipV="1">
            <a:off x="3082834" y="3217251"/>
            <a:ext cx="91440" cy="91440"/>
          </a:xfrm>
          <a:prstGeom prst="line">
            <a:avLst/>
          </a:prstGeom>
          <a:noFill/>
          <a:ln w="15875">
            <a:solidFill>
              <a:srgbClr val="1A2340"/>
            </a:solidFill>
            <a:prstDash val="solid"/>
          </a:ln>
        </p:spPr>
      </p:sp>
      <p:sp>
        <p:nvSpPr>
          <p:cNvPr id="86" name="Shape 84"/>
          <p:cNvSpPr/>
          <p:nvPr/>
        </p:nvSpPr>
        <p:spPr>
          <a:xfrm>
            <a:off x="4885509" y="1853881"/>
            <a:ext cx="91440" cy="91440"/>
          </a:xfrm>
          <a:prstGeom prst="line">
            <a:avLst/>
          </a:prstGeom>
          <a:noFill/>
          <a:ln w="15875">
            <a:solidFill>
              <a:srgbClr val="1A2340"/>
            </a:solidFill>
            <a:prstDash val="solid"/>
          </a:ln>
        </p:spPr>
      </p:sp>
      <p:sp>
        <p:nvSpPr>
          <p:cNvPr id="87" name="Shape 85"/>
          <p:cNvSpPr/>
          <p:nvPr/>
        </p:nvSpPr>
        <p:spPr>
          <a:xfrm flipV="1">
            <a:off x="4885509" y="1853881"/>
            <a:ext cx="91440" cy="91440"/>
          </a:xfrm>
          <a:prstGeom prst="line">
            <a:avLst/>
          </a:prstGeom>
          <a:noFill/>
          <a:ln w="15875">
            <a:solidFill>
              <a:srgbClr val="1A2340"/>
            </a:solidFill>
            <a:prstDash val="solid"/>
          </a:ln>
        </p:spPr>
      </p:sp>
      <p:sp>
        <p:nvSpPr>
          <p:cNvPr id="88" name="Shape 86"/>
          <p:cNvSpPr/>
          <p:nvPr/>
        </p:nvSpPr>
        <p:spPr>
          <a:xfrm>
            <a:off x="4284617" y="2310656"/>
            <a:ext cx="91440" cy="91440"/>
          </a:xfrm>
          <a:prstGeom prst="line">
            <a:avLst/>
          </a:prstGeom>
          <a:noFill/>
          <a:ln w="15875">
            <a:solidFill>
              <a:srgbClr val="1A2340"/>
            </a:solidFill>
            <a:prstDash val="solid"/>
          </a:ln>
        </p:spPr>
      </p:sp>
      <p:sp>
        <p:nvSpPr>
          <p:cNvPr id="89" name="Shape 87"/>
          <p:cNvSpPr/>
          <p:nvPr/>
        </p:nvSpPr>
        <p:spPr>
          <a:xfrm flipV="1">
            <a:off x="4284617" y="2310656"/>
            <a:ext cx="91440" cy="91440"/>
          </a:xfrm>
          <a:prstGeom prst="line">
            <a:avLst/>
          </a:prstGeom>
          <a:noFill/>
          <a:ln w="15875">
            <a:solidFill>
              <a:srgbClr val="1A2340"/>
            </a:solidFill>
            <a:prstDash val="solid"/>
          </a:ln>
        </p:spPr>
      </p:sp>
      <p:sp>
        <p:nvSpPr>
          <p:cNvPr id="90" name="Shape 88"/>
          <p:cNvSpPr/>
          <p:nvPr/>
        </p:nvSpPr>
        <p:spPr>
          <a:xfrm>
            <a:off x="4885509" y="1821419"/>
            <a:ext cx="91440" cy="91440"/>
          </a:xfrm>
          <a:prstGeom prst="line">
            <a:avLst/>
          </a:prstGeom>
          <a:noFill/>
          <a:ln w="15875">
            <a:solidFill>
              <a:srgbClr val="1A2340"/>
            </a:solidFill>
            <a:prstDash val="solid"/>
          </a:ln>
        </p:spPr>
      </p:sp>
      <p:sp>
        <p:nvSpPr>
          <p:cNvPr id="91" name="Shape 89"/>
          <p:cNvSpPr/>
          <p:nvPr/>
        </p:nvSpPr>
        <p:spPr>
          <a:xfrm flipV="1">
            <a:off x="4885509" y="1821419"/>
            <a:ext cx="91440" cy="91440"/>
          </a:xfrm>
          <a:prstGeom prst="line">
            <a:avLst/>
          </a:prstGeom>
          <a:noFill/>
          <a:ln w="15875">
            <a:solidFill>
              <a:srgbClr val="1A2340"/>
            </a:solidFill>
            <a:prstDash val="solid"/>
          </a:ln>
        </p:spPr>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217920" y="1188720"/>
          <a:ext cx="5559552" cy="914400"/>
        </p:xfrm>
        <a:graphic>
          <a:graphicData uri="http://schemas.openxmlformats.org/drawingml/2006/table">
            <a:tbl>
              <a:tblPr/>
              <a:tblGrid>
                <a:gridCol w="777240"/>
                <a:gridCol w="822960"/>
                <a:gridCol w="1179576"/>
                <a:gridCol w="777240"/>
                <a:gridCol w="822960"/>
                <a:gridCol w="1179576"/>
              </a:tblGrid>
              <a:tr h="329184">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F₁ / N</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d₁ / m</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F₁ × d₁ / N m</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F₂ / N</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d₂ / m</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F₂ × d₂ / N m</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r>
              <a:tr h="329184">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0.300</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00" b="1" dirty="0">
                          <a:solidFill>
                            <a:srgbClr val="2E5BD8"/>
                          </a:solidFill>
                          <a:latin typeface="Calibri" pitchFamily="34" charset="0"/>
                          <a:ea typeface="Calibri" pitchFamily="34" charset="-122"/>
                          <a:cs typeface="Calibri" pitchFamily="34" charset="-120"/>
                        </a:rPr>
                        <a:t>0.300</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0.201</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00" b="1" dirty="0">
                          <a:solidFill>
                            <a:srgbClr val="2E5BD8"/>
                          </a:solidFill>
                          <a:latin typeface="Calibri" pitchFamily="34" charset="0"/>
                          <a:ea typeface="Calibri" pitchFamily="34" charset="-122"/>
                          <a:cs typeface="Calibri" pitchFamily="34" charset="-120"/>
                        </a:rPr>
                        <a:t>0.301</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329184">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0.400</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5BD8"/>
                          </a:solidFill>
                          <a:latin typeface="Calibri" pitchFamily="34" charset="0"/>
                          <a:ea typeface="Calibri" pitchFamily="34" charset="-122"/>
                          <a:cs typeface="Calibri" pitchFamily="34" charset="-120"/>
                        </a:rPr>
                        <a:t>0.400</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0.199</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5BD8"/>
                          </a:solidFill>
                          <a:latin typeface="Calibri" pitchFamily="34" charset="0"/>
                          <a:ea typeface="Calibri" pitchFamily="34" charset="-122"/>
                          <a:cs typeface="Calibri" pitchFamily="34" charset="-120"/>
                        </a:rPr>
                        <a:t>0.398</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329184">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0.150</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00" b="1" dirty="0">
                          <a:solidFill>
                            <a:srgbClr val="2E5BD8"/>
                          </a:solidFill>
                          <a:latin typeface="Calibri" pitchFamily="34" charset="0"/>
                          <a:ea typeface="Calibri" pitchFamily="34" charset="-122"/>
                          <a:cs typeface="Calibri" pitchFamily="34" charset="-120"/>
                        </a:rPr>
                        <a:t>0.300</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0.302</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00" b="1" dirty="0">
                          <a:solidFill>
                            <a:srgbClr val="2E5BD8"/>
                          </a:solidFill>
                          <a:latin typeface="Calibri" pitchFamily="34" charset="0"/>
                          <a:ea typeface="Calibri" pitchFamily="34" charset="-122"/>
                          <a:cs typeface="Calibri" pitchFamily="34" charset="-120"/>
                        </a:rPr>
                        <a:t>0.302</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329184">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0.400</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5BD8"/>
                          </a:solidFill>
                          <a:latin typeface="Calibri" pitchFamily="34" charset="0"/>
                          <a:ea typeface="Calibri" pitchFamily="34" charset="-122"/>
                          <a:cs typeface="Calibri" pitchFamily="34" charset="-120"/>
                        </a:rPr>
                        <a:t>0.600</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0.298</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5BD8"/>
                          </a:solidFill>
                          <a:latin typeface="Calibri" pitchFamily="34" charset="0"/>
                          <a:ea typeface="Calibri" pitchFamily="34" charset="-122"/>
                          <a:cs typeface="Calibri" pitchFamily="34" charset="-120"/>
                        </a:rPr>
                        <a:t>0.596</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329184">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0.250</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00" b="1" dirty="0">
                          <a:solidFill>
                            <a:srgbClr val="2E5BD8"/>
                          </a:solidFill>
                          <a:latin typeface="Calibri" pitchFamily="34" charset="0"/>
                          <a:ea typeface="Calibri" pitchFamily="34" charset="-122"/>
                          <a:cs typeface="Calibri" pitchFamily="34" charset="-120"/>
                        </a:rPr>
                        <a:t>0.500</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0.199</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00" b="1" dirty="0">
                          <a:solidFill>
                            <a:srgbClr val="2E5BD8"/>
                          </a:solidFill>
                          <a:latin typeface="Calibri" pitchFamily="34" charset="0"/>
                          <a:ea typeface="Calibri" pitchFamily="34" charset="-122"/>
                          <a:cs typeface="Calibri" pitchFamily="34" charset="-120"/>
                        </a:rPr>
                        <a:t>0.498</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329184">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0.240</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5BD8"/>
                          </a:solidFill>
                          <a:latin typeface="Calibri" pitchFamily="34" charset="0"/>
                          <a:ea typeface="Calibri" pitchFamily="34" charset="-122"/>
                          <a:cs typeface="Calibri" pitchFamily="34" charset="-120"/>
                        </a:rPr>
                        <a:t>0.600</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0.201</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5BD8"/>
                          </a:solidFill>
                          <a:latin typeface="Calibri" pitchFamily="34" charset="0"/>
                          <a:ea typeface="Calibri" pitchFamily="34" charset="-122"/>
                          <a:cs typeface="Calibri" pitchFamily="34" charset="-120"/>
                        </a:rPr>
                        <a:t>0.603</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bl>
          </a:graphicData>
        </a:graphic>
      </p:graphicFrame>
      <p:sp>
        <p:nvSpPr>
          <p:cNvPr id="93" name="Shape 90"/>
          <p:cNvSpPr/>
          <p:nvPr/>
        </p:nvSpPr>
        <p:spPr>
          <a:xfrm>
            <a:off x="6217920" y="3703320"/>
            <a:ext cx="5559552" cy="2011680"/>
          </a:xfrm>
          <a:prstGeom prst="roundRect">
            <a:avLst>
              <a:gd name="adj" fmla="val 2727"/>
            </a:avLst>
          </a:prstGeom>
          <a:solidFill>
            <a:srgbClr val="F5F8FE"/>
          </a:solidFill>
          <a:ln w="9525">
            <a:solidFill>
              <a:srgbClr val="D5DCEB"/>
            </a:solidFill>
            <a:prstDash val="solid"/>
          </a:ln>
        </p:spPr>
      </p:sp>
      <p:sp>
        <p:nvSpPr>
          <p:cNvPr id="94" name="Text 91"/>
          <p:cNvSpPr/>
          <p:nvPr/>
        </p:nvSpPr>
        <p:spPr>
          <a:xfrm>
            <a:off x="6382512" y="3794760"/>
            <a:ext cx="5230368"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What the results show</a:t>
            </a:r>
            <a:endParaRPr lang="en-US" sz="1300" dirty="0"/>
          </a:p>
        </p:txBody>
      </p:sp>
      <p:sp>
        <p:nvSpPr>
          <p:cNvPr id="95" name="Text 92"/>
          <p:cNvSpPr/>
          <p:nvPr/>
        </p:nvSpPr>
        <p:spPr>
          <a:xfrm>
            <a:off x="6382512" y="4123944"/>
            <a:ext cx="5230368" cy="151790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In every row F₁ × d₁ ≈ F₂ × d₂ (within about 1%).</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All points lie close to the line </a:t>
            </a:r>
            <a:r>
              <a:rPr lang="en-US" sz="1100" b="1" dirty="0">
                <a:solidFill>
                  <a:srgbClr val="262B3A"/>
                </a:solidFill>
                <a:latin typeface="Calibri" pitchFamily="34" charset="0"/>
                <a:ea typeface="Calibri" pitchFamily="34" charset="-122"/>
                <a:cs typeface="Calibri" pitchFamily="34" charset="-120"/>
              </a:rPr>
              <a:t>clockwise moment = anticlockwise moment</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Small differences come from reading the loop positions (about ±2 mm) and from friction at the pivot.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Conclusion: the results </a:t>
            </a:r>
            <a:r>
              <a:rPr lang="en-US" sz="1100" b="1" dirty="0">
                <a:solidFill>
                  <a:srgbClr val="262B3A"/>
                </a:solidFill>
                <a:latin typeface="Calibri" pitchFamily="34" charset="0"/>
                <a:ea typeface="Calibri" pitchFamily="34" charset="-122"/>
                <a:cs typeface="Calibri" pitchFamily="34" charset="-120"/>
              </a:rPr>
              <a:t>support</a:t>
            </a:r>
            <a:r>
              <a:rPr lang="en-US" sz="1100" dirty="0">
                <a:solidFill>
                  <a:srgbClr val="262B3A"/>
                </a:solidFill>
                <a:latin typeface="Calibri" pitchFamily="34" charset="0"/>
                <a:ea typeface="Calibri" pitchFamily="34" charset="-122"/>
                <a:cs typeface="Calibri" pitchFamily="34" charset="-120"/>
              </a:rPr>
              <a:t> the principle of moments.</a:t>
            </a:r>
            <a:endParaRPr lang="en-US" sz="1100" dirty="0"/>
          </a:p>
        </p:txBody>
      </p:sp>
      <p:sp>
        <p:nvSpPr>
          <p:cNvPr id="96" name="Shape 93"/>
          <p:cNvSpPr/>
          <p:nvPr/>
        </p:nvSpPr>
        <p:spPr>
          <a:xfrm>
            <a:off x="411480" y="5833872"/>
            <a:ext cx="11368735" cy="530352"/>
          </a:xfrm>
          <a:prstGeom prst="rect">
            <a:avLst/>
          </a:prstGeom>
          <a:solidFill>
            <a:srgbClr val="FFF4E0"/>
          </a:solidFill>
          <a:ln w="6350">
            <a:solidFill>
              <a:srgbClr val="F1D9A8"/>
            </a:solidFill>
            <a:prstDash val="solid"/>
          </a:ln>
        </p:spPr>
      </p:sp>
      <p:sp>
        <p:nvSpPr>
          <p:cNvPr id="97" name="Shape 94"/>
          <p:cNvSpPr/>
          <p:nvPr/>
        </p:nvSpPr>
        <p:spPr>
          <a:xfrm>
            <a:off x="411480" y="5833872"/>
            <a:ext cx="82296" cy="530352"/>
          </a:xfrm>
          <a:prstGeom prst="rect">
            <a:avLst/>
          </a:prstGeom>
          <a:solidFill>
            <a:srgbClr val="E39A2F"/>
          </a:solidFill>
          <a:ln w="12700">
            <a:solidFill>
              <a:srgbClr val="E39A2F"/>
            </a:solidFill>
            <a:prstDash val="solid"/>
          </a:ln>
        </p:spPr>
      </p:sp>
      <p:sp>
        <p:nvSpPr>
          <p:cNvPr id="98" name="Text 9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2.0 N weight hangs 15 cm left of the pivot. Where should a 1.5 N weight hang for the rule to balance?</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Suggested practical: errors and safety</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9.8P • evaluating the method</a:t>
            </a:r>
            <a:endParaRPr lang="en-US" sz="1100" dirty="0"/>
          </a:p>
        </p:txBody>
      </p:sp>
      <p:sp>
        <p:nvSpPr>
          <p:cNvPr id="6" name="Shape 4"/>
          <p:cNvSpPr/>
          <p:nvPr/>
        </p:nvSpPr>
        <p:spPr>
          <a:xfrm>
            <a:off x="10591495" y="292608"/>
            <a:ext cx="1188720" cy="274320"/>
          </a:xfrm>
          <a:prstGeom prst="roundRect">
            <a:avLst>
              <a:gd name="adj" fmla="val 50000"/>
            </a:avLst>
          </a:prstGeom>
          <a:solidFill>
            <a:srgbClr val="2E5BD8"/>
          </a:solidFill>
          <a:ln w="12700">
            <a:solidFill>
              <a:srgbClr val="2E5BD8"/>
            </a:solidFill>
            <a:prstDash val="solid"/>
          </a:ln>
        </p:spPr>
      </p:sp>
      <p:sp>
        <p:nvSpPr>
          <p:cNvPr id="7" name="Text 5"/>
          <p:cNvSpPr/>
          <p:nvPr/>
        </p:nvSpPr>
        <p:spPr>
          <a:xfrm>
            <a:off x="10591495" y="292608"/>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PHYSICS ONLY</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9 Forces and their effects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Practical 9.8P  |  26</a:t>
            </a:r>
            <a:endParaRPr lang="en-US" sz="1000" dirty="0"/>
          </a:p>
        </p:txBody>
      </p:sp>
      <p:sp>
        <p:nvSpPr>
          <p:cNvPr id="10" name="Shape 8"/>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check the rule is level and read each loop position square-on</a:t>
            </a:r>
            <a:endParaRPr lang="en-US" sz="1000" dirty="0"/>
          </a:p>
        </p:txBody>
      </p:sp>
      <p:sp>
        <p:nvSpPr>
          <p:cNvPr id="12" name="Text 10"/>
          <p:cNvSpPr/>
          <p:nvPr/>
        </p:nvSpPr>
        <p:spPr>
          <a:xfrm>
            <a:off x="640080" y="1325880"/>
            <a:ext cx="5120640" cy="256032"/>
          </a:xfrm>
          <a:prstGeom prst="rect">
            <a:avLst/>
          </a:prstGeom>
          <a:noFill/>
          <a:ln/>
        </p:spPr>
        <p:txBody>
          <a:bodyPr wrap="square" lIns="0" tIns="0" rIns="0" bIns="0" rtlCol="0" anchor="ctr"/>
          <a:lstStyle/>
          <a:p>
            <a:pPr algn="l" indent="0" marL="0">
              <a:buNone/>
            </a:pPr>
            <a:r>
              <a:rPr lang="en-US" sz="1150" b="1" dirty="0">
                <a:solidFill>
                  <a:srgbClr val="C8414C"/>
                </a:solidFill>
                <a:latin typeface="Calibri" pitchFamily="34" charset="0"/>
                <a:ea typeface="Calibri" pitchFamily="34" charset="-122"/>
                <a:cs typeface="Calibri" pitchFamily="34" charset="-120"/>
              </a:rPr>
              <a:t>Not balanced before loading → zero error</a:t>
            </a:r>
            <a:endParaRPr lang="en-US" sz="1150" dirty="0"/>
          </a:p>
        </p:txBody>
      </p:sp>
      <p:sp>
        <p:nvSpPr>
          <p:cNvPr id="13" name="Shape 11"/>
          <p:cNvSpPr/>
          <p:nvPr/>
        </p:nvSpPr>
        <p:spPr>
          <a:xfrm rot="-360000">
            <a:off x="914400" y="2057400"/>
            <a:ext cx="4206240" cy="128016"/>
          </a:xfrm>
          <a:prstGeom prst="rect">
            <a:avLst/>
          </a:prstGeom>
          <a:solidFill>
            <a:srgbClr val="F6E7B8"/>
          </a:solidFill>
          <a:ln w="9525">
            <a:solidFill>
              <a:srgbClr val="B79B4A"/>
            </a:solidFill>
            <a:prstDash val="solid"/>
          </a:ln>
        </p:spPr>
      </p:sp>
      <p:sp>
        <p:nvSpPr>
          <p:cNvPr id="14" name="Shape 12"/>
          <p:cNvSpPr/>
          <p:nvPr/>
        </p:nvSpPr>
        <p:spPr>
          <a:xfrm>
            <a:off x="3136392" y="2194560"/>
            <a:ext cx="310896" cy="411480"/>
          </a:xfrm>
          <a:prstGeom prst="triangle">
            <a:avLst/>
          </a:prstGeom>
          <a:solidFill>
            <a:srgbClr val="5A6275"/>
          </a:solidFill>
          <a:ln w="12700">
            <a:solidFill>
              <a:srgbClr val="5A6275"/>
            </a:solidFill>
            <a:prstDash val="solid"/>
          </a:ln>
        </p:spPr>
      </p:sp>
      <p:sp>
        <p:nvSpPr>
          <p:cNvPr id="15" name="Text 13"/>
          <p:cNvSpPr/>
          <p:nvPr/>
        </p:nvSpPr>
        <p:spPr>
          <a:xfrm>
            <a:off x="914400" y="2514600"/>
            <a:ext cx="2103120" cy="256032"/>
          </a:xfrm>
          <a:prstGeom prst="rect">
            <a:avLst/>
          </a:prstGeom>
          <a:noFill/>
          <a:ln/>
        </p:spPr>
        <p:txBody>
          <a:bodyPr wrap="square" lIns="0" tIns="0" rIns="0" bIns="0" rtlCol="0" anchor="ctr"/>
          <a:lstStyle/>
          <a:p>
            <a:pPr algn="l" indent="0" marL="0">
              <a:buNone/>
            </a:pPr>
            <a:r>
              <a:rPr lang="en-US" sz="1050" i="1" dirty="0">
                <a:solidFill>
                  <a:srgbClr val="6B7385"/>
                </a:solidFill>
                <a:latin typeface="Calibri" pitchFamily="34" charset="0"/>
                <a:ea typeface="Calibri" pitchFamily="34" charset="-122"/>
                <a:cs typeface="Calibri" pitchFamily="34" charset="-120"/>
              </a:rPr>
              <a:t>centre of mass not over the pivot</a:t>
            </a:r>
            <a:endParaRPr lang="en-US" sz="1050" dirty="0"/>
          </a:p>
        </p:txBody>
      </p:sp>
      <p:sp>
        <p:nvSpPr>
          <p:cNvPr id="16" name="Text 14"/>
          <p:cNvSpPr/>
          <p:nvPr/>
        </p:nvSpPr>
        <p:spPr>
          <a:xfrm>
            <a:off x="640080" y="3017520"/>
            <a:ext cx="5120640" cy="256032"/>
          </a:xfrm>
          <a:prstGeom prst="rect">
            <a:avLst/>
          </a:prstGeom>
          <a:noFill/>
          <a:ln/>
        </p:spPr>
        <p:txBody>
          <a:bodyPr wrap="square" lIns="0" tIns="0" rIns="0" bIns="0" rtlCol="0" anchor="ctr"/>
          <a:lstStyle/>
          <a:p>
            <a:pPr algn="l" indent="0" marL="0">
              <a:buNone/>
            </a:pPr>
            <a:r>
              <a:rPr lang="en-US" sz="1150" b="1" dirty="0">
                <a:solidFill>
                  <a:srgbClr val="2E8B57"/>
                </a:solidFill>
                <a:latin typeface="Calibri" pitchFamily="34" charset="0"/>
                <a:ea typeface="Calibri" pitchFamily="34" charset="-122"/>
                <a:cs typeface="Calibri" pitchFamily="34" charset="-120"/>
              </a:rPr>
              <a:t>Balanced and level → read loop positions at eye level</a:t>
            </a:r>
            <a:endParaRPr lang="en-US" sz="1150" dirty="0"/>
          </a:p>
        </p:txBody>
      </p:sp>
      <p:sp>
        <p:nvSpPr>
          <p:cNvPr id="17" name="Shape 15"/>
          <p:cNvSpPr/>
          <p:nvPr/>
        </p:nvSpPr>
        <p:spPr>
          <a:xfrm>
            <a:off x="914400" y="3749040"/>
            <a:ext cx="4206240" cy="128016"/>
          </a:xfrm>
          <a:prstGeom prst="rect">
            <a:avLst/>
          </a:prstGeom>
          <a:solidFill>
            <a:srgbClr val="F6E7B8"/>
          </a:solidFill>
          <a:ln w="9525">
            <a:solidFill>
              <a:srgbClr val="B79B4A"/>
            </a:solidFill>
            <a:prstDash val="solid"/>
          </a:ln>
        </p:spPr>
      </p:sp>
      <p:sp>
        <p:nvSpPr>
          <p:cNvPr id="18" name="Shape 16"/>
          <p:cNvSpPr/>
          <p:nvPr/>
        </p:nvSpPr>
        <p:spPr>
          <a:xfrm>
            <a:off x="914400" y="3749040"/>
            <a:ext cx="91" cy="91440"/>
          </a:xfrm>
          <a:prstGeom prst="line">
            <a:avLst/>
          </a:prstGeom>
          <a:noFill/>
          <a:ln w="9525">
            <a:solidFill>
              <a:srgbClr val="6B5A2A"/>
            </a:solidFill>
            <a:prstDash val="solid"/>
          </a:ln>
        </p:spPr>
      </p:sp>
      <p:sp>
        <p:nvSpPr>
          <p:cNvPr id="19" name="Shape 17"/>
          <p:cNvSpPr/>
          <p:nvPr/>
        </p:nvSpPr>
        <p:spPr>
          <a:xfrm>
            <a:off x="1335024" y="3749040"/>
            <a:ext cx="91" cy="91440"/>
          </a:xfrm>
          <a:prstGeom prst="line">
            <a:avLst/>
          </a:prstGeom>
          <a:noFill/>
          <a:ln w="9525">
            <a:solidFill>
              <a:srgbClr val="6B5A2A"/>
            </a:solidFill>
            <a:prstDash val="solid"/>
          </a:ln>
        </p:spPr>
      </p:sp>
      <p:sp>
        <p:nvSpPr>
          <p:cNvPr id="20" name="Shape 18"/>
          <p:cNvSpPr/>
          <p:nvPr/>
        </p:nvSpPr>
        <p:spPr>
          <a:xfrm>
            <a:off x="1755648" y="3749040"/>
            <a:ext cx="91" cy="91440"/>
          </a:xfrm>
          <a:prstGeom prst="line">
            <a:avLst/>
          </a:prstGeom>
          <a:noFill/>
          <a:ln w="9525">
            <a:solidFill>
              <a:srgbClr val="6B5A2A"/>
            </a:solidFill>
            <a:prstDash val="solid"/>
          </a:ln>
        </p:spPr>
      </p:sp>
      <p:sp>
        <p:nvSpPr>
          <p:cNvPr id="21" name="Shape 19"/>
          <p:cNvSpPr/>
          <p:nvPr/>
        </p:nvSpPr>
        <p:spPr>
          <a:xfrm>
            <a:off x="2176272" y="3749040"/>
            <a:ext cx="91" cy="91440"/>
          </a:xfrm>
          <a:prstGeom prst="line">
            <a:avLst/>
          </a:prstGeom>
          <a:noFill/>
          <a:ln w="9525">
            <a:solidFill>
              <a:srgbClr val="6B5A2A"/>
            </a:solidFill>
            <a:prstDash val="solid"/>
          </a:ln>
        </p:spPr>
      </p:sp>
      <p:sp>
        <p:nvSpPr>
          <p:cNvPr id="22" name="Shape 20"/>
          <p:cNvSpPr/>
          <p:nvPr/>
        </p:nvSpPr>
        <p:spPr>
          <a:xfrm>
            <a:off x="2596896" y="3749040"/>
            <a:ext cx="91" cy="91440"/>
          </a:xfrm>
          <a:prstGeom prst="line">
            <a:avLst/>
          </a:prstGeom>
          <a:noFill/>
          <a:ln w="9525">
            <a:solidFill>
              <a:srgbClr val="6B5A2A"/>
            </a:solidFill>
            <a:prstDash val="solid"/>
          </a:ln>
        </p:spPr>
      </p:sp>
      <p:sp>
        <p:nvSpPr>
          <p:cNvPr id="23" name="Shape 21"/>
          <p:cNvSpPr/>
          <p:nvPr/>
        </p:nvSpPr>
        <p:spPr>
          <a:xfrm>
            <a:off x="3017520" y="3749040"/>
            <a:ext cx="91" cy="91440"/>
          </a:xfrm>
          <a:prstGeom prst="line">
            <a:avLst/>
          </a:prstGeom>
          <a:noFill/>
          <a:ln w="9525">
            <a:solidFill>
              <a:srgbClr val="6B5A2A"/>
            </a:solidFill>
            <a:prstDash val="solid"/>
          </a:ln>
        </p:spPr>
      </p:sp>
      <p:sp>
        <p:nvSpPr>
          <p:cNvPr id="24" name="Shape 22"/>
          <p:cNvSpPr/>
          <p:nvPr/>
        </p:nvSpPr>
        <p:spPr>
          <a:xfrm>
            <a:off x="3438144" y="3749040"/>
            <a:ext cx="91" cy="91440"/>
          </a:xfrm>
          <a:prstGeom prst="line">
            <a:avLst/>
          </a:prstGeom>
          <a:noFill/>
          <a:ln w="9525">
            <a:solidFill>
              <a:srgbClr val="6B5A2A"/>
            </a:solidFill>
            <a:prstDash val="solid"/>
          </a:ln>
        </p:spPr>
      </p:sp>
      <p:sp>
        <p:nvSpPr>
          <p:cNvPr id="25" name="Shape 23"/>
          <p:cNvSpPr/>
          <p:nvPr/>
        </p:nvSpPr>
        <p:spPr>
          <a:xfrm>
            <a:off x="3858768" y="3749040"/>
            <a:ext cx="91" cy="91440"/>
          </a:xfrm>
          <a:prstGeom prst="line">
            <a:avLst/>
          </a:prstGeom>
          <a:noFill/>
          <a:ln w="9525">
            <a:solidFill>
              <a:srgbClr val="6B5A2A"/>
            </a:solidFill>
            <a:prstDash val="solid"/>
          </a:ln>
        </p:spPr>
      </p:sp>
      <p:sp>
        <p:nvSpPr>
          <p:cNvPr id="26" name="Shape 24"/>
          <p:cNvSpPr/>
          <p:nvPr/>
        </p:nvSpPr>
        <p:spPr>
          <a:xfrm>
            <a:off x="4279392" y="3749040"/>
            <a:ext cx="91" cy="91440"/>
          </a:xfrm>
          <a:prstGeom prst="line">
            <a:avLst/>
          </a:prstGeom>
          <a:noFill/>
          <a:ln w="9525">
            <a:solidFill>
              <a:srgbClr val="6B5A2A"/>
            </a:solidFill>
            <a:prstDash val="solid"/>
          </a:ln>
        </p:spPr>
      </p:sp>
      <p:sp>
        <p:nvSpPr>
          <p:cNvPr id="27" name="Shape 25"/>
          <p:cNvSpPr/>
          <p:nvPr/>
        </p:nvSpPr>
        <p:spPr>
          <a:xfrm>
            <a:off x="4700016" y="3749040"/>
            <a:ext cx="91" cy="91440"/>
          </a:xfrm>
          <a:prstGeom prst="line">
            <a:avLst/>
          </a:prstGeom>
          <a:noFill/>
          <a:ln w="9525">
            <a:solidFill>
              <a:srgbClr val="6B5A2A"/>
            </a:solidFill>
            <a:prstDash val="solid"/>
          </a:ln>
        </p:spPr>
      </p:sp>
      <p:sp>
        <p:nvSpPr>
          <p:cNvPr id="28" name="Shape 26"/>
          <p:cNvSpPr/>
          <p:nvPr/>
        </p:nvSpPr>
        <p:spPr>
          <a:xfrm>
            <a:off x="5120640" y="3749040"/>
            <a:ext cx="91" cy="91440"/>
          </a:xfrm>
          <a:prstGeom prst="line">
            <a:avLst/>
          </a:prstGeom>
          <a:noFill/>
          <a:ln w="9525">
            <a:solidFill>
              <a:srgbClr val="6B5A2A"/>
            </a:solidFill>
            <a:prstDash val="solid"/>
          </a:ln>
        </p:spPr>
      </p:sp>
      <p:sp>
        <p:nvSpPr>
          <p:cNvPr id="29" name="Shape 27"/>
          <p:cNvSpPr/>
          <p:nvPr/>
        </p:nvSpPr>
        <p:spPr>
          <a:xfrm>
            <a:off x="2862072" y="3877056"/>
            <a:ext cx="310896" cy="411480"/>
          </a:xfrm>
          <a:prstGeom prst="triangle">
            <a:avLst/>
          </a:prstGeom>
          <a:solidFill>
            <a:srgbClr val="5A6275"/>
          </a:solidFill>
          <a:ln w="12700">
            <a:solidFill>
              <a:srgbClr val="5A6275"/>
            </a:solidFill>
            <a:prstDash val="solid"/>
          </a:ln>
        </p:spPr>
      </p:sp>
      <p:sp>
        <p:nvSpPr>
          <p:cNvPr id="30" name="Shape 28"/>
          <p:cNvSpPr/>
          <p:nvPr/>
        </p:nvSpPr>
        <p:spPr>
          <a:xfrm>
            <a:off x="1901952" y="3877056"/>
            <a:ext cx="91" cy="420624"/>
          </a:xfrm>
          <a:prstGeom prst="line">
            <a:avLst/>
          </a:prstGeom>
          <a:noFill/>
          <a:ln w="12700">
            <a:solidFill>
              <a:srgbClr val="1A2340"/>
            </a:solidFill>
            <a:prstDash val="solid"/>
          </a:ln>
        </p:spPr>
      </p:sp>
      <p:sp>
        <p:nvSpPr>
          <p:cNvPr id="31" name="Shape 29"/>
          <p:cNvSpPr/>
          <p:nvPr/>
        </p:nvSpPr>
        <p:spPr>
          <a:xfrm>
            <a:off x="1901952" y="4297680"/>
            <a:ext cx="91" cy="182880"/>
          </a:xfrm>
          <a:prstGeom prst="line">
            <a:avLst/>
          </a:prstGeom>
          <a:noFill/>
          <a:ln w="25400">
            <a:solidFill>
              <a:srgbClr val="5A6275"/>
            </a:solidFill>
            <a:prstDash val="solid"/>
          </a:ln>
        </p:spPr>
      </p:sp>
      <p:sp>
        <p:nvSpPr>
          <p:cNvPr id="32" name="Shape 30"/>
          <p:cNvSpPr/>
          <p:nvPr/>
        </p:nvSpPr>
        <p:spPr>
          <a:xfrm>
            <a:off x="1746504" y="4480560"/>
            <a:ext cx="310896" cy="109728"/>
          </a:xfrm>
          <a:prstGeom prst="rect">
            <a:avLst/>
          </a:prstGeom>
          <a:solidFill>
            <a:srgbClr val="969FB1"/>
          </a:solidFill>
          <a:ln w="6350">
            <a:solidFill>
              <a:srgbClr val="4A5262"/>
            </a:solidFill>
            <a:prstDash val="solid"/>
          </a:ln>
        </p:spPr>
      </p:sp>
      <p:sp>
        <p:nvSpPr>
          <p:cNvPr id="33" name="Shape 31"/>
          <p:cNvSpPr/>
          <p:nvPr/>
        </p:nvSpPr>
        <p:spPr>
          <a:xfrm>
            <a:off x="1746504" y="4590288"/>
            <a:ext cx="310896" cy="109728"/>
          </a:xfrm>
          <a:prstGeom prst="rect">
            <a:avLst/>
          </a:prstGeom>
          <a:solidFill>
            <a:srgbClr val="7C8598"/>
          </a:solidFill>
          <a:ln w="6350">
            <a:solidFill>
              <a:srgbClr val="4A5262"/>
            </a:solidFill>
            <a:prstDash val="solid"/>
          </a:ln>
        </p:spPr>
      </p:sp>
      <p:sp>
        <p:nvSpPr>
          <p:cNvPr id="34" name="Shape 32"/>
          <p:cNvSpPr/>
          <p:nvPr/>
        </p:nvSpPr>
        <p:spPr>
          <a:xfrm>
            <a:off x="1746504" y="4700016"/>
            <a:ext cx="310896" cy="109728"/>
          </a:xfrm>
          <a:prstGeom prst="rect">
            <a:avLst/>
          </a:prstGeom>
          <a:solidFill>
            <a:srgbClr val="969FB1"/>
          </a:solidFill>
          <a:ln w="6350">
            <a:solidFill>
              <a:srgbClr val="4A5262"/>
            </a:solidFill>
            <a:prstDash val="solid"/>
          </a:ln>
        </p:spPr>
      </p:sp>
      <p:sp>
        <p:nvSpPr>
          <p:cNvPr id="35" name="Shape 33"/>
          <p:cNvSpPr/>
          <p:nvPr/>
        </p:nvSpPr>
        <p:spPr>
          <a:xfrm>
            <a:off x="1700784" y="4809744"/>
            <a:ext cx="402336" cy="64008"/>
          </a:xfrm>
          <a:prstGeom prst="rect">
            <a:avLst/>
          </a:prstGeom>
          <a:solidFill>
            <a:srgbClr val="4A5262"/>
          </a:solidFill>
          <a:ln w="12700">
            <a:solidFill>
              <a:srgbClr val="4A5262"/>
            </a:solidFill>
            <a:prstDash val="solid"/>
          </a:ln>
        </p:spPr>
      </p:sp>
      <p:sp>
        <p:nvSpPr>
          <p:cNvPr id="36" name="Shape 34"/>
          <p:cNvSpPr/>
          <p:nvPr/>
        </p:nvSpPr>
        <p:spPr>
          <a:xfrm>
            <a:off x="1719072" y="3310128"/>
            <a:ext cx="365760" cy="219456"/>
          </a:xfrm>
          <a:prstGeom prst="ellipse">
            <a:avLst/>
          </a:prstGeom>
          <a:solidFill>
            <a:srgbClr val="FFFFFF"/>
          </a:solidFill>
          <a:ln w="19050">
            <a:solidFill>
              <a:srgbClr val="2E8B57"/>
            </a:solidFill>
            <a:prstDash val="solid"/>
          </a:ln>
        </p:spPr>
      </p:sp>
      <p:sp>
        <p:nvSpPr>
          <p:cNvPr id="37" name="Shape 35"/>
          <p:cNvSpPr/>
          <p:nvPr/>
        </p:nvSpPr>
        <p:spPr>
          <a:xfrm>
            <a:off x="1847088" y="3364992"/>
            <a:ext cx="109728" cy="109728"/>
          </a:xfrm>
          <a:prstGeom prst="ellipse">
            <a:avLst/>
          </a:prstGeom>
          <a:solidFill>
            <a:srgbClr val="2E8B57"/>
          </a:solidFill>
          <a:ln w="12700">
            <a:solidFill>
              <a:srgbClr val="2E8B57"/>
            </a:solidFill>
            <a:prstDash val="solid"/>
          </a:ln>
        </p:spPr>
      </p:sp>
      <p:sp>
        <p:nvSpPr>
          <p:cNvPr id="38" name="Shape 36"/>
          <p:cNvSpPr/>
          <p:nvPr/>
        </p:nvSpPr>
        <p:spPr>
          <a:xfrm>
            <a:off x="1901952" y="3529584"/>
            <a:ext cx="91" cy="201168"/>
          </a:xfrm>
          <a:prstGeom prst="line">
            <a:avLst/>
          </a:prstGeom>
          <a:noFill/>
          <a:ln w="12700">
            <a:solidFill>
              <a:srgbClr val="2E8B57"/>
            </a:solidFill>
            <a:prstDash val="dash"/>
          </a:ln>
        </p:spPr>
      </p:sp>
      <p:sp>
        <p:nvSpPr>
          <p:cNvPr id="39" name="Text 37"/>
          <p:cNvSpPr/>
          <p:nvPr/>
        </p:nvSpPr>
        <p:spPr>
          <a:xfrm>
            <a:off x="3657600" y="4160520"/>
            <a:ext cx="2103120" cy="256032"/>
          </a:xfrm>
          <a:prstGeom prst="rect">
            <a:avLst/>
          </a:prstGeom>
          <a:noFill/>
          <a:ln/>
        </p:spPr>
        <p:txBody>
          <a:bodyPr wrap="square" lIns="0" tIns="0" rIns="0" bIns="0" rtlCol="0" anchor="ctr"/>
          <a:lstStyle/>
          <a:p>
            <a:pPr algn="l" indent="0" marL="0">
              <a:buNone/>
            </a:pPr>
            <a:r>
              <a:rPr lang="en-US" sz="1050" i="1" dirty="0">
                <a:solidFill>
                  <a:srgbClr val="6B7385"/>
                </a:solidFill>
                <a:latin typeface="Calibri" pitchFamily="34" charset="0"/>
                <a:ea typeface="Calibri" pitchFamily="34" charset="-122"/>
                <a:cs typeface="Calibri" pitchFamily="34" charset="-120"/>
              </a:rPr>
              <a:t>spirit level on top</a:t>
            </a:r>
            <a:endParaRPr lang="en-US" sz="1050" dirty="0"/>
          </a:p>
        </p:txBody>
      </p:sp>
      <p:sp>
        <p:nvSpPr>
          <p:cNvPr id="40" name="Shape 38"/>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41" name="Text 39"/>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Sources of error</a:t>
            </a:r>
            <a:endParaRPr lang="en-US" sz="1300" dirty="0"/>
          </a:p>
        </p:txBody>
      </p:sp>
      <p:sp>
        <p:nvSpPr>
          <p:cNvPr id="42" name="Text 40"/>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Rule not balanced</a:t>
            </a:r>
            <a:r>
              <a:rPr lang="en-US" sz="1150" dirty="0">
                <a:solidFill>
                  <a:srgbClr val="262B3A"/>
                </a:solidFill>
                <a:latin typeface="Calibri" pitchFamily="34" charset="0"/>
                <a:ea typeface="Calibri" pitchFamily="34" charset="-122"/>
                <a:cs typeface="Calibri" pitchFamily="34" charset="-120"/>
              </a:rPr>
              <a:t> at the start → its weight adds a moment. Balance it first, or include its weight.</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Loop position</a:t>
            </a:r>
            <a:r>
              <a:rPr lang="en-US" sz="1150" dirty="0">
                <a:solidFill>
                  <a:srgbClr val="262B3A"/>
                </a:solidFill>
                <a:latin typeface="Calibri" pitchFamily="34" charset="0"/>
                <a:ea typeface="Calibri" pitchFamily="34" charset="-122"/>
                <a:cs typeface="Calibri" pitchFamily="34" charset="-120"/>
              </a:rPr>
              <a:t> hard to judge → use thin thread loops; read the scale square-on to avoid </a:t>
            </a:r>
            <a:r>
              <a:rPr lang="en-US" sz="1150" b="1" dirty="0">
                <a:solidFill>
                  <a:srgbClr val="262B3A"/>
                </a:solidFill>
                <a:latin typeface="Calibri" pitchFamily="34" charset="0"/>
                <a:ea typeface="Calibri" pitchFamily="34" charset="-122"/>
                <a:cs typeface="Calibri" pitchFamily="34" charset="-120"/>
              </a:rPr>
              <a:t>parallax</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Distances</a:t>
            </a:r>
            <a:r>
              <a:rPr lang="en-US" sz="1150" dirty="0">
                <a:solidFill>
                  <a:srgbClr val="262B3A"/>
                </a:solidFill>
                <a:latin typeface="Calibri" pitchFamily="34" charset="0"/>
                <a:ea typeface="Calibri" pitchFamily="34" charset="-122"/>
                <a:cs typeface="Calibri" pitchFamily="34" charset="-120"/>
              </a:rPr>
              <a:t> measured from the end of the rule, not the pivot → always measure from the pivot.</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Friction</a:t>
            </a:r>
            <a:r>
              <a:rPr lang="en-US" sz="1150" dirty="0">
                <a:solidFill>
                  <a:srgbClr val="262B3A"/>
                </a:solidFill>
                <a:latin typeface="Calibri" pitchFamily="34" charset="0"/>
                <a:ea typeface="Calibri" pitchFamily="34" charset="-122"/>
                <a:cs typeface="Calibri" pitchFamily="34" charset="-120"/>
              </a:rPr>
              <a:t> at the pivot lets the rule stay still when it is slightly unbalanced → use a sharp knife edge.</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Masses may not be exactly their stated value → check with a balance.</a:t>
            </a:r>
            <a:endParaRPr lang="en-US" sz="1150" dirty="0"/>
          </a:p>
        </p:txBody>
      </p:sp>
      <p:sp>
        <p:nvSpPr>
          <p:cNvPr id="43" name="Shape 41"/>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44" name="Text 42"/>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Safety and improvements</a:t>
            </a:r>
            <a:endParaRPr lang="en-US" sz="1300" dirty="0"/>
          </a:p>
        </p:txBody>
      </p:sp>
      <p:sp>
        <p:nvSpPr>
          <p:cNvPr id="45" name="Text 43"/>
          <p:cNvSpPr/>
          <p:nvPr/>
        </p:nvSpPr>
        <p:spPr>
          <a:xfrm>
            <a:off x="6382512" y="4133088"/>
            <a:ext cx="5233111" cy="1508760"/>
          </a:xfrm>
          <a:prstGeom prst="rect">
            <a:avLst/>
          </a:prstGeom>
          <a:noFill/>
          <a:ln/>
        </p:spPr>
        <p:txBody>
          <a:bodyPr wrap="square" lIns="0" tIns="0" rIns="0" bIns="0" rtlCol="0" anchor="t"/>
          <a:lstStyle/>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Hazard   </a:t>
            </a:r>
            <a:r>
              <a:rPr lang="en-US" sz="1050" dirty="0">
                <a:solidFill>
                  <a:srgbClr val="262B3A"/>
                </a:solidFill>
                <a:latin typeface="Calibri" pitchFamily="34" charset="0"/>
                <a:ea typeface="Calibri" pitchFamily="34" charset="-122"/>
                <a:cs typeface="Calibri" pitchFamily="34" charset="-120"/>
              </a:rPr>
              <a:t>masses could fall on feet → keep the set-up low; tray beneath</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Improve   </a:t>
            </a:r>
            <a:r>
              <a:rPr lang="en-US" sz="1050" dirty="0">
                <a:solidFill>
                  <a:srgbClr val="262B3A"/>
                </a:solidFill>
                <a:latin typeface="Calibri" pitchFamily="34" charset="0"/>
                <a:ea typeface="Calibri" pitchFamily="34" charset="-122"/>
                <a:cs typeface="Calibri" pitchFamily="34" charset="-120"/>
              </a:rPr>
              <a:t>use a spirit level to judge “balanced”</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Repeat   </a:t>
            </a:r>
            <a:r>
              <a:rPr lang="en-US" sz="1050" dirty="0">
                <a:solidFill>
                  <a:srgbClr val="262B3A"/>
                </a:solidFill>
                <a:latin typeface="Calibri" pitchFamily="34" charset="0"/>
                <a:ea typeface="Calibri" pitchFamily="34" charset="-122"/>
                <a:cs typeface="Calibri" pitchFamily="34" charset="-120"/>
              </a:rPr>
              <a:t>repeat each balance and take a mean of d₂</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more precise distances → better test of the principle</a:t>
            </a:r>
            <a:endParaRPr lang="en-US" sz="1050" dirty="0"/>
          </a:p>
        </p:txBody>
      </p:sp>
      <p:sp>
        <p:nvSpPr>
          <p:cNvPr id="46" name="Shape 44"/>
          <p:cNvSpPr/>
          <p:nvPr/>
        </p:nvSpPr>
        <p:spPr>
          <a:xfrm>
            <a:off x="411480" y="5833872"/>
            <a:ext cx="11368735" cy="530352"/>
          </a:xfrm>
          <a:prstGeom prst="rect">
            <a:avLst/>
          </a:prstGeom>
          <a:solidFill>
            <a:srgbClr val="FFF4E0"/>
          </a:solidFill>
          <a:ln w="6350">
            <a:solidFill>
              <a:srgbClr val="F1D9A8"/>
            </a:solidFill>
            <a:prstDash val="solid"/>
          </a:ln>
        </p:spPr>
      </p:sp>
      <p:sp>
        <p:nvSpPr>
          <p:cNvPr id="47" name="Shape 45"/>
          <p:cNvSpPr/>
          <p:nvPr/>
        </p:nvSpPr>
        <p:spPr>
          <a:xfrm>
            <a:off x="411480" y="5833872"/>
            <a:ext cx="82296" cy="530352"/>
          </a:xfrm>
          <a:prstGeom prst="rect">
            <a:avLst/>
          </a:prstGeom>
          <a:solidFill>
            <a:srgbClr val="E39A2F"/>
          </a:solidFill>
          <a:ln w="12700">
            <a:solidFill>
              <a:srgbClr val="E39A2F"/>
            </a:solidFill>
            <a:prstDash val="solid"/>
          </a:ln>
        </p:spPr>
      </p:sp>
      <p:sp>
        <p:nvSpPr>
          <p:cNvPr id="48" name="Text 46"/>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student measured all the distances from the 0 cm end of the rule instead of from the pivot. Explain why her moments did not balance.</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6</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9.8P • suggested practical: principle of moments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9 Forces and their effects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6  |  27</a:t>
            </a:r>
            <a:endParaRPr lang="en-US" sz="1000" dirty="0"/>
          </a:p>
        </p:txBody>
      </p:sp>
      <p:sp>
        <p:nvSpPr>
          <p:cNvPr id="8" name="Shape 6"/>
          <p:cNvSpPr/>
          <p:nvPr/>
        </p:nvSpPr>
        <p:spPr>
          <a:xfrm>
            <a:off x="411480" y="1207008"/>
            <a:ext cx="11368735" cy="1594104"/>
          </a:xfrm>
          <a:prstGeom prst="roundRect">
            <a:avLst>
              <a:gd name="adj" fmla="val 2868"/>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In the metre-rule investigation, name the </a:t>
            </a:r>
            <a:r>
              <a:rPr lang="en-US" sz="1250" b="1" dirty="0">
                <a:solidFill>
                  <a:srgbClr val="262B3A"/>
                </a:solidFill>
                <a:latin typeface="Calibri" pitchFamily="34" charset="0"/>
                <a:ea typeface="Calibri" pitchFamily="34" charset="-122"/>
                <a:cs typeface="Calibri" pitchFamily="34" charset="-120"/>
              </a:rPr>
              <a:t>independent</a:t>
            </a:r>
            <a:r>
              <a:rPr lang="en-US" sz="1250" dirty="0">
                <a:solidFill>
                  <a:srgbClr val="262B3A"/>
                </a:solidFill>
                <a:latin typeface="Calibri" pitchFamily="34" charset="0"/>
                <a:ea typeface="Calibri" pitchFamily="34" charset="-122"/>
                <a:cs typeface="Calibri" pitchFamily="34" charset="-120"/>
              </a:rPr>
              <a:t> variable, the </a:t>
            </a:r>
            <a:r>
              <a:rPr lang="en-US" sz="1250" b="1" dirty="0">
                <a:solidFill>
                  <a:srgbClr val="262B3A"/>
                </a:solidFill>
                <a:latin typeface="Calibri" pitchFamily="34" charset="0"/>
                <a:ea typeface="Calibri" pitchFamily="34" charset="-122"/>
                <a:cs typeface="Calibri" pitchFamily="34" charset="-120"/>
              </a:rPr>
              <a:t>dependent</a:t>
            </a:r>
            <a:r>
              <a:rPr lang="en-US" sz="1250" dirty="0">
                <a:solidFill>
                  <a:srgbClr val="262B3A"/>
                </a:solidFill>
                <a:latin typeface="Calibri" pitchFamily="34" charset="0"/>
                <a:ea typeface="Calibri" pitchFamily="34" charset="-122"/>
                <a:cs typeface="Calibri" pitchFamily="34" charset="-120"/>
              </a:rPr>
              <a:t> variable and </a:t>
            </a:r>
            <a:r>
              <a:rPr lang="en-US" sz="1250" b="1" dirty="0">
                <a:solidFill>
                  <a:srgbClr val="262B3A"/>
                </a:solidFill>
                <a:latin typeface="Calibri" pitchFamily="34" charset="0"/>
                <a:ea typeface="Calibri" pitchFamily="34" charset="-122"/>
                <a:cs typeface="Calibri" pitchFamily="34" charset="-120"/>
              </a:rPr>
              <a:t>one control</a:t>
            </a:r>
            <a:r>
              <a:rPr lang="en-US" sz="1250" dirty="0">
                <a:solidFill>
                  <a:srgbClr val="262B3A"/>
                </a:solidFill>
                <a:latin typeface="Calibri" pitchFamily="34" charset="0"/>
                <a:ea typeface="Calibri" pitchFamily="34" charset="-122"/>
                <a:cs typeface="Calibri" pitchFamily="34" charset="-120"/>
              </a:rPr>
              <a:t> variable.</a:t>
            </a:r>
            <a:endParaRPr lang="en-US" sz="1250" dirty="0"/>
          </a:p>
        </p:txBody>
      </p:sp>
      <p:sp>
        <p:nvSpPr>
          <p:cNvPr id="12" name="Text 10"/>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3" name="Shape 11"/>
          <p:cNvSpPr/>
          <p:nvPr/>
        </p:nvSpPr>
        <p:spPr>
          <a:xfrm>
            <a:off x="411480" y="2947416"/>
            <a:ext cx="11368735" cy="1594104"/>
          </a:xfrm>
          <a:prstGeom prst="roundRect">
            <a:avLst>
              <a:gd name="adj" fmla="val 2868"/>
            </a:avLst>
          </a:prstGeom>
          <a:solidFill>
            <a:srgbClr val="FFFFFF"/>
          </a:solidFill>
          <a:ln w="12700">
            <a:solidFill>
              <a:srgbClr val="D5DCEB"/>
            </a:solidFill>
            <a:prstDash val="solid"/>
          </a:ln>
        </p:spPr>
      </p:sp>
      <p:sp>
        <p:nvSpPr>
          <p:cNvPr id="14" name="Shape 12"/>
          <p:cNvSpPr/>
          <p:nvPr/>
        </p:nvSpPr>
        <p:spPr>
          <a:xfrm>
            <a:off x="411480" y="2947416"/>
            <a:ext cx="2103120" cy="292608"/>
          </a:xfrm>
          <a:prstGeom prst="rect">
            <a:avLst/>
          </a:prstGeom>
          <a:solidFill>
            <a:srgbClr val="F5A742"/>
          </a:solidFill>
          <a:ln w="12700">
            <a:solidFill>
              <a:srgbClr val="F5A742"/>
            </a:solidFill>
            <a:prstDash val="solid"/>
          </a:ln>
        </p:spPr>
      </p:sp>
      <p:sp>
        <p:nvSpPr>
          <p:cNvPr id="15" name="Text 13"/>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the metre rule should balance on the pivot </a:t>
            </a:r>
            <a:r>
              <a:rPr lang="en-US" sz="1250" b="1" dirty="0">
                <a:solidFill>
                  <a:srgbClr val="262B3A"/>
                </a:solidFill>
                <a:latin typeface="Calibri" pitchFamily="34" charset="0"/>
                <a:ea typeface="Calibri" pitchFamily="34" charset="-122"/>
                <a:cs typeface="Calibri" pitchFamily="34" charset="-120"/>
              </a:rPr>
              <a:t>before</a:t>
            </a:r>
            <a:r>
              <a:rPr lang="en-US" sz="1250" dirty="0">
                <a:solidFill>
                  <a:srgbClr val="262B3A"/>
                </a:solidFill>
                <a:latin typeface="Calibri" pitchFamily="34" charset="0"/>
                <a:ea typeface="Calibri" pitchFamily="34" charset="-122"/>
                <a:cs typeface="Calibri" pitchFamily="34" charset="-120"/>
              </a:rPr>
              <a:t> any masses are added.</a:t>
            </a:r>
            <a:endParaRPr lang="en-US" sz="1250" dirty="0"/>
          </a:p>
        </p:txBody>
      </p:sp>
      <p:sp>
        <p:nvSpPr>
          <p:cNvPr id="17" name="Text 15"/>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4687824"/>
            <a:ext cx="11368735" cy="1594104"/>
          </a:xfrm>
          <a:prstGeom prst="roundRect">
            <a:avLst>
              <a:gd name="adj" fmla="val 2868"/>
            </a:avLst>
          </a:prstGeom>
          <a:solidFill>
            <a:srgbClr val="FFFFFF"/>
          </a:solidFill>
          <a:ln w="12700">
            <a:solidFill>
              <a:srgbClr val="D5DCEB"/>
            </a:solidFill>
            <a:prstDash val="solid"/>
          </a:ln>
        </p:spPr>
      </p:sp>
      <p:sp>
        <p:nvSpPr>
          <p:cNvPr id="19" name="Shape 17"/>
          <p:cNvSpPr/>
          <p:nvPr/>
        </p:nvSpPr>
        <p:spPr>
          <a:xfrm>
            <a:off x="411480" y="4687824"/>
            <a:ext cx="2103120" cy="292608"/>
          </a:xfrm>
          <a:prstGeom prst="rect">
            <a:avLst/>
          </a:prstGeom>
          <a:solidFill>
            <a:srgbClr val="F5A742"/>
          </a:solidFill>
          <a:ln w="12700">
            <a:solidFill>
              <a:srgbClr val="F5A742"/>
            </a:solidFill>
            <a:prstDash val="solid"/>
          </a:ln>
        </p:spPr>
      </p:sp>
      <p:sp>
        <p:nvSpPr>
          <p:cNvPr id="20" name="Text 18"/>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5053584"/>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a:t>
            </a:r>
            <a:r>
              <a:rPr lang="en-US" sz="1250" b="1" dirty="0">
                <a:solidFill>
                  <a:srgbClr val="262B3A"/>
                </a:solidFill>
                <a:latin typeface="Calibri" pitchFamily="34" charset="0"/>
                <a:ea typeface="Calibri" pitchFamily="34" charset="-122"/>
                <a:cs typeface="Calibri" pitchFamily="34" charset="-120"/>
              </a:rPr>
              <a:t>2.0 N</a:t>
            </a:r>
            <a:r>
              <a:rPr lang="en-US" sz="1250" dirty="0">
                <a:solidFill>
                  <a:srgbClr val="262B3A"/>
                </a:solidFill>
                <a:latin typeface="Calibri" pitchFamily="34" charset="0"/>
                <a:ea typeface="Calibri" pitchFamily="34" charset="-122"/>
                <a:cs typeface="Calibri" pitchFamily="34" charset="-120"/>
              </a:rPr>
              <a:t> weight hangs </a:t>
            </a:r>
            <a:r>
              <a:rPr lang="en-US" sz="1250" b="1" dirty="0">
                <a:solidFill>
                  <a:srgbClr val="262B3A"/>
                </a:solidFill>
                <a:latin typeface="Calibri" pitchFamily="34" charset="0"/>
                <a:ea typeface="Calibri" pitchFamily="34" charset="-122"/>
                <a:cs typeface="Calibri" pitchFamily="34" charset="-120"/>
              </a:rPr>
              <a:t>25 cm</a:t>
            </a:r>
            <a:r>
              <a:rPr lang="en-US" sz="1250" dirty="0">
                <a:solidFill>
                  <a:srgbClr val="262B3A"/>
                </a:solidFill>
                <a:latin typeface="Calibri" pitchFamily="34" charset="0"/>
                <a:ea typeface="Calibri" pitchFamily="34" charset="-122"/>
                <a:cs typeface="Calibri" pitchFamily="34" charset="-120"/>
              </a:rPr>
              <a:t> from the pivot. Calculate where a </a:t>
            </a:r>
            <a:r>
              <a:rPr lang="en-US" sz="1250" b="1" dirty="0">
                <a:solidFill>
                  <a:srgbClr val="262B3A"/>
                </a:solidFill>
                <a:latin typeface="Calibri" pitchFamily="34" charset="0"/>
                <a:ea typeface="Calibri" pitchFamily="34" charset="-122"/>
                <a:cs typeface="Calibri" pitchFamily="34" charset="-120"/>
              </a:rPr>
              <a:t>1.5 N</a:t>
            </a:r>
            <a:r>
              <a:rPr lang="en-US" sz="1250" dirty="0">
                <a:solidFill>
                  <a:srgbClr val="262B3A"/>
                </a:solidFill>
                <a:latin typeface="Calibri" pitchFamily="34" charset="0"/>
                <a:ea typeface="Calibri" pitchFamily="34" charset="-122"/>
                <a:cs typeface="Calibri" pitchFamily="34" charset="-120"/>
              </a:rPr>
              <a:t> weight must hang on the other side for balance.</a:t>
            </a:r>
            <a:endParaRPr lang="en-US" sz="1250" dirty="0"/>
          </a:p>
        </p:txBody>
      </p:sp>
      <p:sp>
        <p:nvSpPr>
          <p:cNvPr id="22" name="Text 20"/>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Levers are force multipliers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9.9P • how levers transmit the rotational effect of a force</a:t>
            </a:r>
            <a:endParaRPr lang="en-US" sz="1100" dirty="0"/>
          </a:p>
        </p:txBody>
      </p:sp>
      <p:sp>
        <p:nvSpPr>
          <p:cNvPr id="6" name="Shape 4"/>
          <p:cNvSpPr/>
          <p:nvPr/>
        </p:nvSpPr>
        <p:spPr>
          <a:xfrm>
            <a:off x="10591495" y="292608"/>
            <a:ext cx="1188720" cy="274320"/>
          </a:xfrm>
          <a:prstGeom prst="roundRect">
            <a:avLst>
              <a:gd name="adj" fmla="val 50000"/>
            </a:avLst>
          </a:prstGeom>
          <a:solidFill>
            <a:srgbClr val="2E5BD8"/>
          </a:solidFill>
          <a:ln w="12700">
            <a:solidFill>
              <a:srgbClr val="2E5BD8"/>
            </a:solidFill>
            <a:prstDash val="solid"/>
          </a:ln>
        </p:spPr>
      </p:sp>
      <p:sp>
        <p:nvSpPr>
          <p:cNvPr id="7" name="Text 5"/>
          <p:cNvSpPr/>
          <p:nvPr/>
        </p:nvSpPr>
        <p:spPr>
          <a:xfrm>
            <a:off x="10591495" y="292608"/>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PHYSICS ONLY</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9 Forces and their effects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9.9P  |  28</a:t>
            </a:r>
            <a:endParaRPr lang="en-US" sz="1000" dirty="0"/>
          </a:p>
        </p:txBody>
      </p:sp>
      <p:sp>
        <p:nvSpPr>
          <p:cNvPr id="10" name="Shape 8"/>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 crowbar lifting a rock, drawn to scale; force arrows to scale</a:t>
            </a:r>
            <a:endParaRPr lang="en-US" sz="1000" dirty="0"/>
          </a:p>
        </p:txBody>
      </p:sp>
      <p:sp>
        <p:nvSpPr>
          <p:cNvPr id="12" name="Shape 10"/>
          <p:cNvSpPr/>
          <p:nvPr/>
        </p:nvSpPr>
        <p:spPr>
          <a:xfrm>
            <a:off x="731520" y="4023360"/>
            <a:ext cx="4754880" cy="109728"/>
          </a:xfrm>
          <a:prstGeom prst="rect">
            <a:avLst/>
          </a:prstGeom>
          <a:solidFill>
            <a:srgbClr val="6B7385"/>
          </a:solidFill>
          <a:ln w="12700">
            <a:solidFill>
              <a:srgbClr val="4A5262"/>
            </a:solidFill>
            <a:prstDash val="solid"/>
          </a:ln>
        </p:spPr>
      </p:sp>
      <p:sp>
        <p:nvSpPr>
          <p:cNvPr id="13" name="Shape 11"/>
          <p:cNvSpPr/>
          <p:nvPr/>
        </p:nvSpPr>
        <p:spPr>
          <a:xfrm>
            <a:off x="1087120" y="4572000"/>
            <a:ext cx="914400" cy="73152"/>
          </a:xfrm>
          <a:prstGeom prst="rect">
            <a:avLst/>
          </a:prstGeom>
          <a:solidFill>
            <a:srgbClr val="B0B7C6"/>
          </a:solidFill>
          <a:ln/>
        </p:spPr>
      </p:sp>
      <p:sp>
        <p:nvSpPr>
          <p:cNvPr id="14" name="Shape 12"/>
          <p:cNvSpPr/>
          <p:nvPr/>
        </p:nvSpPr>
        <p:spPr>
          <a:xfrm>
            <a:off x="1379728" y="4133088"/>
            <a:ext cx="329184" cy="438912"/>
          </a:xfrm>
          <a:prstGeom prst="triangle">
            <a:avLst/>
          </a:prstGeom>
          <a:solidFill>
            <a:srgbClr val="5A6275"/>
          </a:solidFill>
          <a:ln w="12700">
            <a:solidFill>
              <a:srgbClr val="5A6275"/>
            </a:solidFill>
            <a:prstDash val="solid"/>
          </a:ln>
        </p:spPr>
      </p:sp>
      <p:sp>
        <p:nvSpPr>
          <p:cNvPr id="15" name="Shape 13"/>
          <p:cNvSpPr/>
          <p:nvPr/>
        </p:nvSpPr>
        <p:spPr>
          <a:xfrm>
            <a:off x="777240" y="3520440"/>
            <a:ext cx="548640" cy="502920"/>
          </a:xfrm>
          <a:prstGeom prst="roundRect">
            <a:avLst>
              <a:gd name="adj" fmla="val 18182"/>
            </a:avLst>
          </a:prstGeom>
          <a:solidFill>
            <a:srgbClr val="9A9184"/>
          </a:solidFill>
          <a:ln w="12700">
            <a:solidFill>
              <a:srgbClr val="6B6258"/>
            </a:solidFill>
            <a:prstDash val="solid"/>
          </a:ln>
        </p:spPr>
      </p:sp>
      <p:sp>
        <p:nvSpPr>
          <p:cNvPr id="16" name="Shape 14"/>
          <p:cNvSpPr/>
          <p:nvPr/>
        </p:nvSpPr>
        <p:spPr>
          <a:xfrm flipV="1">
            <a:off x="1051560" y="1920240"/>
            <a:ext cx="91" cy="1828800"/>
          </a:xfrm>
          <a:prstGeom prst="line">
            <a:avLst/>
          </a:prstGeom>
          <a:noFill/>
          <a:ln w="38100">
            <a:solidFill>
              <a:srgbClr val="2E5BD8"/>
            </a:solidFill>
            <a:prstDash val="solid"/>
            <a:tailEnd type="triangle"/>
          </a:ln>
        </p:spPr>
      </p:sp>
      <p:sp>
        <p:nvSpPr>
          <p:cNvPr id="17" name="Text 15"/>
          <p:cNvSpPr/>
          <p:nvPr/>
        </p:nvSpPr>
        <p:spPr>
          <a:xfrm>
            <a:off x="1161288" y="1920240"/>
            <a:ext cx="1828800" cy="256032"/>
          </a:xfrm>
          <a:prstGeom prst="rect">
            <a:avLst/>
          </a:prstGeom>
          <a:noFill/>
          <a:ln/>
        </p:spPr>
        <p:txBody>
          <a:bodyPr wrap="square" lIns="0" tIns="0" rIns="0" bIns="0" rtlCol="0" anchor="ctr"/>
          <a:lstStyle/>
          <a:p>
            <a:pPr algn="l" indent="0" marL="0">
              <a:buNone/>
            </a:pPr>
            <a:r>
              <a:rPr lang="en-US" sz="1050" b="1" dirty="0">
                <a:solidFill>
                  <a:srgbClr val="2E5BD8"/>
                </a:solidFill>
                <a:latin typeface="Calibri" pitchFamily="34" charset="0"/>
                <a:ea typeface="Calibri" pitchFamily="34" charset="-122"/>
                <a:cs typeface="Calibri" pitchFamily="34" charset="-120"/>
              </a:rPr>
              <a:t>force on rock 400 N</a:t>
            </a:r>
            <a:endParaRPr lang="en-US" sz="1050" dirty="0"/>
          </a:p>
        </p:txBody>
      </p:sp>
      <p:sp>
        <p:nvSpPr>
          <p:cNvPr id="18" name="Shape 16"/>
          <p:cNvSpPr/>
          <p:nvPr/>
        </p:nvSpPr>
        <p:spPr>
          <a:xfrm>
            <a:off x="5431536" y="4133088"/>
            <a:ext cx="91" cy="228600"/>
          </a:xfrm>
          <a:prstGeom prst="line">
            <a:avLst/>
          </a:prstGeom>
          <a:noFill/>
          <a:ln w="38100">
            <a:solidFill>
              <a:srgbClr val="C8414C"/>
            </a:solidFill>
            <a:prstDash val="solid"/>
            <a:tailEnd type="triangle"/>
          </a:ln>
        </p:spPr>
      </p:sp>
      <p:sp>
        <p:nvSpPr>
          <p:cNvPr id="19" name="Text 17"/>
          <p:cNvSpPr/>
          <p:nvPr/>
        </p:nvSpPr>
        <p:spPr>
          <a:xfrm>
            <a:off x="3977640" y="4187952"/>
            <a:ext cx="1371600" cy="256032"/>
          </a:xfrm>
          <a:prstGeom prst="rect">
            <a:avLst/>
          </a:prstGeom>
          <a:noFill/>
          <a:ln/>
        </p:spPr>
        <p:txBody>
          <a:bodyPr wrap="square" lIns="0" tIns="0" rIns="0" bIns="0" rtlCol="0" anchor="ctr"/>
          <a:lstStyle/>
          <a:p>
            <a:pPr algn="r" indent="0" marL="0">
              <a:buNone/>
            </a:pPr>
            <a:r>
              <a:rPr lang="en-US" sz="1050" b="1" dirty="0">
                <a:solidFill>
                  <a:srgbClr val="C8414C"/>
                </a:solidFill>
                <a:latin typeface="Calibri" pitchFamily="34" charset="0"/>
                <a:ea typeface="Calibri" pitchFamily="34" charset="-122"/>
                <a:cs typeface="Calibri" pitchFamily="34" charset="-120"/>
              </a:rPr>
              <a:t>effort 50 N</a:t>
            </a:r>
            <a:endParaRPr lang="en-US" sz="1050" dirty="0"/>
          </a:p>
        </p:txBody>
      </p:sp>
      <p:sp>
        <p:nvSpPr>
          <p:cNvPr id="20" name="Shape 18"/>
          <p:cNvSpPr/>
          <p:nvPr/>
        </p:nvSpPr>
        <p:spPr>
          <a:xfrm>
            <a:off x="1051560" y="4892040"/>
            <a:ext cx="492760" cy="91"/>
          </a:xfrm>
          <a:prstGeom prst="line">
            <a:avLst/>
          </a:prstGeom>
          <a:noFill/>
          <a:ln w="13970">
            <a:solidFill>
              <a:srgbClr val="1A2340"/>
            </a:solidFill>
            <a:prstDash val="solid"/>
            <a:headEnd type="triangle"/>
            <a:tailEnd type="triangle"/>
          </a:ln>
        </p:spPr>
      </p:sp>
      <p:sp>
        <p:nvSpPr>
          <p:cNvPr id="21" name="Text 19"/>
          <p:cNvSpPr/>
          <p:nvPr/>
        </p:nvSpPr>
        <p:spPr>
          <a:xfrm>
            <a:off x="640080" y="4919472"/>
            <a:ext cx="914400" cy="256032"/>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0.15 m</a:t>
            </a:r>
            <a:endParaRPr lang="en-US" sz="1050" dirty="0"/>
          </a:p>
        </p:txBody>
      </p:sp>
      <p:sp>
        <p:nvSpPr>
          <p:cNvPr id="22" name="Shape 20"/>
          <p:cNvSpPr/>
          <p:nvPr/>
        </p:nvSpPr>
        <p:spPr>
          <a:xfrm>
            <a:off x="1544320" y="4892040"/>
            <a:ext cx="3887216" cy="91"/>
          </a:xfrm>
          <a:prstGeom prst="line">
            <a:avLst/>
          </a:prstGeom>
          <a:noFill/>
          <a:ln w="13970">
            <a:solidFill>
              <a:srgbClr val="1A2340"/>
            </a:solidFill>
            <a:prstDash val="solid"/>
            <a:headEnd type="triangle"/>
            <a:tailEnd type="triangle"/>
          </a:ln>
        </p:spPr>
      </p:sp>
      <p:sp>
        <p:nvSpPr>
          <p:cNvPr id="23" name="Text 21"/>
          <p:cNvSpPr/>
          <p:nvPr/>
        </p:nvSpPr>
        <p:spPr>
          <a:xfrm>
            <a:off x="1544320" y="4919472"/>
            <a:ext cx="394208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1.2 m</a:t>
            </a:r>
            <a:endParaRPr lang="en-US" sz="1050" dirty="0"/>
          </a:p>
        </p:txBody>
      </p:sp>
      <p:sp>
        <p:nvSpPr>
          <p:cNvPr id="24" name="Text 22"/>
          <p:cNvSpPr/>
          <p:nvPr/>
        </p:nvSpPr>
        <p:spPr>
          <a:xfrm>
            <a:off x="995680" y="4590288"/>
            <a:ext cx="109728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pivot</a:t>
            </a:r>
            <a:endParaRPr lang="en-US" sz="1050" dirty="0"/>
          </a:p>
        </p:txBody>
      </p:sp>
      <p:sp>
        <p:nvSpPr>
          <p:cNvPr id="25" name="Shape 23"/>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26" name="Text 24"/>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How a lever works</a:t>
            </a:r>
            <a:endParaRPr lang="en-US" sz="1300" dirty="0"/>
          </a:p>
        </p:txBody>
      </p:sp>
      <p:sp>
        <p:nvSpPr>
          <p:cNvPr id="27" name="Text 25"/>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a:t>
            </a:r>
            <a:r>
              <a:rPr lang="en-US" sz="1150" b="1" dirty="0">
                <a:solidFill>
                  <a:srgbClr val="262B3A"/>
                </a:solidFill>
                <a:latin typeface="Calibri" pitchFamily="34" charset="0"/>
                <a:ea typeface="Calibri" pitchFamily="34" charset="-122"/>
                <a:cs typeface="Calibri" pitchFamily="34" charset="-120"/>
              </a:rPr>
              <a:t>lever</a:t>
            </a:r>
            <a:r>
              <a:rPr lang="en-US" sz="1150" dirty="0">
                <a:solidFill>
                  <a:srgbClr val="262B3A"/>
                </a:solidFill>
                <a:latin typeface="Calibri" pitchFamily="34" charset="0"/>
                <a:ea typeface="Calibri" pitchFamily="34" charset="-122"/>
                <a:cs typeface="Calibri" pitchFamily="34" charset="-120"/>
              </a:rPr>
              <a:t> is a rigid bar that turns about a </a:t>
            </a:r>
            <a:r>
              <a:rPr lang="en-US" sz="1150" b="1" dirty="0">
                <a:solidFill>
                  <a:srgbClr val="262B3A"/>
                </a:solidFill>
                <a:latin typeface="Calibri" pitchFamily="34" charset="0"/>
                <a:ea typeface="Calibri" pitchFamily="34" charset="-122"/>
                <a:cs typeface="Calibri" pitchFamily="34" charset="-120"/>
              </a:rPr>
              <a:t>pivot</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small </a:t>
            </a:r>
            <a:r>
              <a:rPr lang="en-US" sz="1150" b="1" dirty="0">
                <a:solidFill>
                  <a:srgbClr val="262B3A"/>
                </a:solidFill>
                <a:latin typeface="Calibri" pitchFamily="34" charset="0"/>
                <a:ea typeface="Calibri" pitchFamily="34" charset="-122"/>
                <a:cs typeface="Calibri" pitchFamily="34" charset="-120"/>
              </a:rPr>
              <a:t>effort</a:t>
            </a:r>
            <a:r>
              <a:rPr lang="en-US" sz="1150" dirty="0">
                <a:solidFill>
                  <a:srgbClr val="262B3A"/>
                </a:solidFill>
                <a:latin typeface="Calibri" pitchFamily="34" charset="0"/>
                <a:ea typeface="Calibri" pitchFamily="34" charset="-122"/>
                <a:cs typeface="Calibri" pitchFamily="34" charset="-120"/>
              </a:rPr>
              <a:t> a long way from the pivot gives the same </a:t>
            </a:r>
            <a:r>
              <a:rPr lang="en-US" sz="1150" b="1" dirty="0">
                <a:solidFill>
                  <a:srgbClr val="262B3A"/>
                </a:solidFill>
                <a:latin typeface="Calibri" pitchFamily="34" charset="0"/>
                <a:ea typeface="Calibri" pitchFamily="34" charset="-122"/>
                <a:cs typeface="Calibri" pitchFamily="34" charset="-120"/>
              </a:rPr>
              <a:t>moment</a:t>
            </a:r>
            <a:r>
              <a:rPr lang="en-US" sz="1150" dirty="0">
                <a:solidFill>
                  <a:srgbClr val="262B3A"/>
                </a:solidFill>
                <a:latin typeface="Calibri" pitchFamily="34" charset="0"/>
                <a:ea typeface="Calibri" pitchFamily="34" charset="-122"/>
                <a:cs typeface="Calibri" pitchFamily="34" charset="-120"/>
              </a:rPr>
              <a:t> as a large force close to the pivot.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So the lever </a:t>
            </a:r>
            <a:r>
              <a:rPr lang="en-US" sz="1150" b="1" dirty="0">
                <a:solidFill>
                  <a:srgbClr val="262B3A"/>
                </a:solidFill>
                <a:latin typeface="Calibri" pitchFamily="34" charset="0"/>
                <a:ea typeface="Calibri" pitchFamily="34" charset="-122"/>
                <a:cs typeface="Calibri" pitchFamily="34" charset="-120"/>
              </a:rPr>
              <a:t>multiplies the force</a:t>
            </a:r>
            <a:r>
              <a:rPr lang="en-US" sz="1150" dirty="0">
                <a:solidFill>
                  <a:srgbClr val="262B3A"/>
                </a:solidFill>
                <a:latin typeface="Calibri" pitchFamily="34" charset="0"/>
                <a:ea typeface="Calibri" pitchFamily="34" charset="-122"/>
                <a:cs typeface="Calibri" pitchFamily="34" charset="-120"/>
              </a:rPr>
              <a:t>: effort × its distance = load × its distance.</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trade-off: the effort must move a </a:t>
            </a:r>
            <a:r>
              <a:rPr lang="en-US" sz="1150" b="1" dirty="0">
                <a:solidFill>
                  <a:srgbClr val="262B3A"/>
                </a:solidFill>
                <a:latin typeface="Calibri" pitchFamily="34" charset="0"/>
                <a:ea typeface="Calibri" pitchFamily="34" charset="-122"/>
                <a:cs typeface="Calibri" pitchFamily="34" charset="-120"/>
              </a:rPr>
              <a:t>larger distance</a:t>
            </a:r>
            <a:r>
              <a:rPr lang="en-US" sz="1150" dirty="0">
                <a:solidFill>
                  <a:srgbClr val="262B3A"/>
                </a:solidFill>
                <a:latin typeface="Calibri" pitchFamily="34" charset="0"/>
                <a:ea typeface="Calibri" pitchFamily="34" charset="-122"/>
                <a:cs typeface="Calibri" pitchFamily="34" charset="-120"/>
              </a:rPr>
              <a:t> than the load.</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Examples: crowbar, wheelbarrow, bottle opener, scissors, pliers.</a:t>
            </a:r>
            <a:endParaRPr lang="en-US" sz="1150" dirty="0"/>
          </a:p>
        </p:txBody>
      </p:sp>
      <p:sp>
        <p:nvSpPr>
          <p:cNvPr id="28" name="Shape 26"/>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29" name="Text 27"/>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30" name="Text 28"/>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A 50 N effort is applied 1.2 m from the pivot. The rock is 0.15 m from the pivot. What force acts on the rock?</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Principle   </a:t>
            </a:r>
            <a:r>
              <a:rPr lang="en-US" sz="1100" dirty="0">
                <a:solidFill>
                  <a:srgbClr val="262B3A"/>
                </a:solidFill>
                <a:latin typeface="Calibri" pitchFamily="34" charset="0"/>
                <a:ea typeface="Calibri" pitchFamily="34" charset="-122"/>
                <a:cs typeface="Calibri" pitchFamily="34" charset="-120"/>
              </a:rPr>
              <a:t>moment of effort = moment of load</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Substitute   </a:t>
            </a:r>
            <a:r>
              <a:rPr lang="en-US" sz="1100" dirty="0">
                <a:solidFill>
                  <a:srgbClr val="262B3A"/>
                </a:solidFill>
                <a:latin typeface="Calibri" pitchFamily="34" charset="0"/>
                <a:ea typeface="Calibri" pitchFamily="34" charset="-122"/>
                <a:cs typeface="Calibri" pitchFamily="34" charset="-120"/>
              </a:rPr>
              <a:t>50 × 1.2 = F × 0.15</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Rearrange   </a:t>
            </a:r>
            <a:r>
              <a:rPr lang="en-US" sz="1100" dirty="0">
                <a:solidFill>
                  <a:srgbClr val="262B3A"/>
                </a:solidFill>
                <a:latin typeface="Calibri" pitchFamily="34" charset="0"/>
                <a:ea typeface="Calibri" pitchFamily="34" charset="-122"/>
                <a:cs typeface="Calibri" pitchFamily="34" charset="-120"/>
              </a:rPr>
              <a:t>F = 60 ÷ 0.15</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F = 400 N (8 times the effort)</a:t>
            </a:r>
            <a:endParaRPr lang="en-US" sz="1100" dirty="0"/>
          </a:p>
        </p:txBody>
      </p:sp>
      <p:sp>
        <p:nvSpPr>
          <p:cNvPr id="31" name="Shape 29"/>
          <p:cNvSpPr/>
          <p:nvPr/>
        </p:nvSpPr>
        <p:spPr>
          <a:xfrm>
            <a:off x="411480" y="5833872"/>
            <a:ext cx="11368735" cy="530352"/>
          </a:xfrm>
          <a:prstGeom prst="rect">
            <a:avLst/>
          </a:prstGeom>
          <a:solidFill>
            <a:srgbClr val="FFF4E0"/>
          </a:solidFill>
          <a:ln w="6350">
            <a:solidFill>
              <a:srgbClr val="F1D9A8"/>
            </a:solidFill>
            <a:prstDash val="solid"/>
          </a:ln>
        </p:spPr>
      </p:sp>
      <p:sp>
        <p:nvSpPr>
          <p:cNvPr id="32" name="Shape 30"/>
          <p:cNvSpPr/>
          <p:nvPr/>
        </p:nvSpPr>
        <p:spPr>
          <a:xfrm>
            <a:off x="411480" y="5833872"/>
            <a:ext cx="82296" cy="530352"/>
          </a:xfrm>
          <a:prstGeom prst="rect">
            <a:avLst/>
          </a:prstGeom>
          <a:solidFill>
            <a:srgbClr val="E39A2F"/>
          </a:solidFill>
          <a:ln w="12700">
            <a:solidFill>
              <a:srgbClr val="E39A2F"/>
            </a:solidFill>
            <a:prstDash val="solid"/>
          </a:ln>
        </p:spPr>
      </p:sp>
      <p:sp>
        <p:nvSpPr>
          <p:cNvPr id="33" name="Text 31"/>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wheelbarrow carries a 600 N load 0.40 m from the wheel axle. The handles are 1.2 m from the axle. What upward force is needed at the handles?</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Gears transmit turning effects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9.9P • meshing gears turn in opposite directions</a:t>
            </a:r>
            <a:endParaRPr lang="en-US" sz="1100" dirty="0"/>
          </a:p>
        </p:txBody>
      </p:sp>
      <p:sp>
        <p:nvSpPr>
          <p:cNvPr id="6" name="Shape 4"/>
          <p:cNvSpPr/>
          <p:nvPr/>
        </p:nvSpPr>
        <p:spPr>
          <a:xfrm>
            <a:off x="10591495" y="292608"/>
            <a:ext cx="1188720" cy="274320"/>
          </a:xfrm>
          <a:prstGeom prst="roundRect">
            <a:avLst>
              <a:gd name="adj" fmla="val 50000"/>
            </a:avLst>
          </a:prstGeom>
          <a:solidFill>
            <a:srgbClr val="2E5BD8"/>
          </a:solidFill>
          <a:ln w="12700">
            <a:solidFill>
              <a:srgbClr val="2E5BD8"/>
            </a:solidFill>
            <a:prstDash val="solid"/>
          </a:ln>
        </p:spPr>
      </p:sp>
      <p:sp>
        <p:nvSpPr>
          <p:cNvPr id="7" name="Text 5"/>
          <p:cNvSpPr/>
          <p:nvPr/>
        </p:nvSpPr>
        <p:spPr>
          <a:xfrm>
            <a:off x="10591495" y="292608"/>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PHYSICS ONLY</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9 Forces and their effects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9.9P  |  29</a:t>
            </a:r>
            <a:endParaRPr lang="en-US" sz="1000" dirty="0"/>
          </a:p>
        </p:txBody>
      </p:sp>
      <p:sp>
        <p:nvSpPr>
          <p:cNvPr id="10" name="Shape 8"/>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driver gear (12 teeth) turning a driven gear (24 teeth)</a:t>
            </a:r>
            <a:endParaRPr lang="en-US" sz="1000" dirty="0"/>
          </a:p>
        </p:txBody>
      </p:sp>
      <p:sp>
        <p:nvSpPr>
          <p:cNvPr id="12" name="Shape 10"/>
          <p:cNvSpPr/>
          <p:nvPr/>
        </p:nvSpPr>
        <p:spPr>
          <a:xfrm rot="-5400000">
            <a:off x="2044631" y="3355848"/>
            <a:ext cx="160870" cy="146304"/>
          </a:xfrm>
          <a:prstGeom prst="rect">
            <a:avLst/>
          </a:prstGeom>
          <a:solidFill>
            <a:srgbClr val="F5C242"/>
          </a:solidFill>
          <a:ln w="9525">
            <a:solidFill>
              <a:srgbClr val="4A5262"/>
            </a:solidFill>
            <a:prstDash val="solid"/>
          </a:ln>
        </p:spPr>
      </p:sp>
      <p:sp>
        <p:nvSpPr>
          <p:cNvPr id="13" name="Shape 11"/>
          <p:cNvSpPr/>
          <p:nvPr/>
        </p:nvSpPr>
        <p:spPr>
          <a:xfrm rot="-3600000">
            <a:off x="1955936" y="3686861"/>
            <a:ext cx="160870" cy="146304"/>
          </a:xfrm>
          <a:prstGeom prst="rect">
            <a:avLst/>
          </a:prstGeom>
          <a:solidFill>
            <a:srgbClr val="F5C242"/>
          </a:solidFill>
          <a:ln w="9525">
            <a:solidFill>
              <a:srgbClr val="4A5262"/>
            </a:solidFill>
            <a:prstDash val="solid"/>
          </a:ln>
        </p:spPr>
      </p:sp>
      <p:sp>
        <p:nvSpPr>
          <p:cNvPr id="14" name="Shape 12"/>
          <p:cNvSpPr/>
          <p:nvPr/>
        </p:nvSpPr>
        <p:spPr>
          <a:xfrm rot="-1800000">
            <a:off x="1713618" y="3929179"/>
            <a:ext cx="160870" cy="146304"/>
          </a:xfrm>
          <a:prstGeom prst="rect">
            <a:avLst/>
          </a:prstGeom>
          <a:solidFill>
            <a:srgbClr val="F5C242"/>
          </a:solidFill>
          <a:ln w="9525">
            <a:solidFill>
              <a:srgbClr val="4A5262"/>
            </a:solidFill>
            <a:prstDash val="solid"/>
          </a:ln>
        </p:spPr>
      </p:sp>
      <p:sp>
        <p:nvSpPr>
          <p:cNvPr id="15" name="Shape 13"/>
          <p:cNvSpPr/>
          <p:nvPr/>
        </p:nvSpPr>
        <p:spPr>
          <a:xfrm>
            <a:off x="1382605" y="4017874"/>
            <a:ext cx="160870" cy="146304"/>
          </a:xfrm>
          <a:prstGeom prst="rect">
            <a:avLst/>
          </a:prstGeom>
          <a:solidFill>
            <a:srgbClr val="F5C242"/>
          </a:solidFill>
          <a:ln w="9525">
            <a:solidFill>
              <a:srgbClr val="4A5262"/>
            </a:solidFill>
            <a:prstDash val="solid"/>
          </a:ln>
        </p:spPr>
      </p:sp>
      <p:sp>
        <p:nvSpPr>
          <p:cNvPr id="16" name="Shape 14"/>
          <p:cNvSpPr/>
          <p:nvPr/>
        </p:nvSpPr>
        <p:spPr>
          <a:xfrm rot="1800000">
            <a:off x="1051592" y="3929179"/>
            <a:ext cx="160870" cy="146304"/>
          </a:xfrm>
          <a:prstGeom prst="rect">
            <a:avLst/>
          </a:prstGeom>
          <a:solidFill>
            <a:srgbClr val="F5C242"/>
          </a:solidFill>
          <a:ln w="9525">
            <a:solidFill>
              <a:srgbClr val="4A5262"/>
            </a:solidFill>
            <a:prstDash val="solid"/>
          </a:ln>
        </p:spPr>
      </p:sp>
      <p:sp>
        <p:nvSpPr>
          <p:cNvPr id="17" name="Shape 15"/>
          <p:cNvSpPr/>
          <p:nvPr/>
        </p:nvSpPr>
        <p:spPr>
          <a:xfrm rot="3600000">
            <a:off x="809274" y="3686861"/>
            <a:ext cx="160870" cy="146304"/>
          </a:xfrm>
          <a:prstGeom prst="rect">
            <a:avLst/>
          </a:prstGeom>
          <a:solidFill>
            <a:srgbClr val="F5C242"/>
          </a:solidFill>
          <a:ln w="9525">
            <a:solidFill>
              <a:srgbClr val="4A5262"/>
            </a:solidFill>
            <a:prstDash val="solid"/>
          </a:ln>
        </p:spPr>
      </p:sp>
      <p:sp>
        <p:nvSpPr>
          <p:cNvPr id="18" name="Shape 16"/>
          <p:cNvSpPr/>
          <p:nvPr/>
        </p:nvSpPr>
        <p:spPr>
          <a:xfrm rot="5400000">
            <a:off x="720580" y="3355848"/>
            <a:ext cx="160870" cy="146304"/>
          </a:xfrm>
          <a:prstGeom prst="rect">
            <a:avLst/>
          </a:prstGeom>
          <a:solidFill>
            <a:srgbClr val="F5C242"/>
          </a:solidFill>
          <a:ln w="9525">
            <a:solidFill>
              <a:srgbClr val="4A5262"/>
            </a:solidFill>
            <a:prstDash val="solid"/>
          </a:ln>
        </p:spPr>
      </p:sp>
      <p:sp>
        <p:nvSpPr>
          <p:cNvPr id="19" name="Shape 17"/>
          <p:cNvSpPr/>
          <p:nvPr/>
        </p:nvSpPr>
        <p:spPr>
          <a:xfrm rot="7200000">
            <a:off x="809274" y="3024835"/>
            <a:ext cx="160870" cy="146304"/>
          </a:xfrm>
          <a:prstGeom prst="rect">
            <a:avLst/>
          </a:prstGeom>
          <a:solidFill>
            <a:srgbClr val="F5C242"/>
          </a:solidFill>
          <a:ln w="9525">
            <a:solidFill>
              <a:srgbClr val="4A5262"/>
            </a:solidFill>
            <a:prstDash val="solid"/>
          </a:ln>
        </p:spPr>
      </p:sp>
      <p:sp>
        <p:nvSpPr>
          <p:cNvPr id="20" name="Shape 18"/>
          <p:cNvSpPr/>
          <p:nvPr/>
        </p:nvSpPr>
        <p:spPr>
          <a:xfrm rot="9000000">
            <a:off x="1051592" y="2782517"/>
            <a:ext cx="160870" cy="146304"/>
          </a:xfrm>
          <a:prstGeom prst="rect">
            <a:avLst/>
          </a:prstGeom>
          <a:solidFill>
            <a:srgbClr val="F5C242"/>
          </a:solidFill>
          <a:ln w="9525">
            <a:solidFill>
              <a:srgbClr val="4A5262"/>
            </a:solidFill>
            <a:prstDash val="solid"/>
          </a:ln>
        </p:spPr>
      </p:sp>
      <p:sp>
        <p:nvSpPr>
          <p:cNvPr id="21" name="Shape 19"/>
          <p:cNvSpPr/>
          <p:nvPr/>
        </p:nvSpPr>
        <p:spPr>
          <a:xfrm rot="10800000">
            <a:off x="1382605" y="2693822"/>
            <a:ext cx="160870" cy="146304"/>
          </a:xfrm>
          <a:prstGeom prst="rect">
            <a:avLst/>
          </a:prstGeom>
          <a:solidFill>
            <a:srgbClr val="F5C242"/>
          </a:solidFill>
          <a:ln w="9525">
            <a:solidFill>
              <a:srgbClr val="4A5262"/>
            </a:solidFill>
            <a:prstDash val="solid"/>
          </a:ln>
        </p:spPr>
      </p:sp>
      <p:sp>
        <p:nvSpPr>
          <p:cNvPr id="22" name="Shape 20"/>
          <p:cNvSpPr/>
          <p:nvPr/>
        </p:nvSpPr>
        <p:spPr>
          <a:xfrm rot="12600000">
            <a:off x="1713618" y="2782517"/>
            <a:ext cx="160870" cy="146304"/>
          </a:xfrm>
          <a:prstGeom prst="rect">
            <a:avLst/>
          </a:prstGeom>
          <a:solidFill>
            <a:srgbClr val="F5C242"/>
          </a:solidFill>
          <a:ln w="9525">
            <a:solidFill>
              <a:srgbClr val="4A5262"/>
            </a:solidFill>
            <a:prstDash val="solid"/>
          </a:ln>
        </p:spPr>
      </p:sp>
      <p:sp>
        <p:nvSpPr>
          <p:cNvPr id="23" name="Shape 21"/>
          <p:cNvSpPr/>
          <p:nvPr/>
        </p:nvSpPr>
        <p:spPr>
          <a:xfrm rot="14400000">
            <a:off x="1955936" y="3024835"/>
            <a:ext cx="160870" cy="146304"/>
          </a:xfrm>
          <a:prstGeom prst="rect">
            <a:avLst/>
          </a:prstGeom>
          <a:solidFill>
            <a:srgbClr val="F5C242"/>
          </a:solidFill>
          <a:ln w="9525">
            <a:solidFill>
              <a:srgbClr val="4A5262"/>
            </a:solidFill>
            <a:prstDash val="solid"/>
          </a:ln>
        </p:spPr>
      </p:sp>
      <p:sp>
        <p:nvSpPr>
          <p:cNvPr id="24" name="Shape 22"/>
          <p:cNvSpPr/>
          <p:nvPr/>
        </p:nvSpPr>
        <p:spPr>
          <a:xfrm>
            <a:off x="874166" y="2840126"/>
            <a:ext cx="1177747" cy="1177747"/>
          </a:xfrm>
          <a:prstGeom prst="ellipse">
            <a:avLst/>
          </a:prstGeom>
          <a:solidFill>
            <a:srgbClr val="F5C242"/>
          </a:solidFill>
          <a:ln w="12700">
            <a:solidFill>
              <a:srgbClr val="4A5262"/>
            </a:solidFill>
            <a:prstDash val="solid"/>
          </a:ln>
        </p:spPr>
      </p:sp>
      <p:sp>
        <p:nvSpPr>
          <p:cNvPr id="25" name="Shape 23"/>
          <p:cNvSpPr/>
          <p:nvPr/>
        </p:nvSpPr>
        <p:spPr>
          <a:xfrm>
            <a:off x="1380744" y="3346704"/>
            <a:ext cx="164592" cy="164592"/>
          </a:xfrm>
          <a:prstGeom prst="ellipse">
            <a:avLst/>
          </a:prstGeom>
          <a:solidFill>
            <a:srgbClr val="4A5262"/>
          </a:solidFill>
          <a:ln w="12700">
            <a:solidFill>
              <a:srgbClr val="4A5262"/>
            </a:solidFill>
            <a:prstDash val="solid"/>
          </a:ln>
        </p:spPr>
      </p:sp>
      <p:sp>
        <p:nvSpPr>
          <p:cNvPr id="26" name="Shape 24"/>
          <p:cNvSpPr/>
          <p:nvPr/>
        </p:nvSpPr>
        <p:spPr>
          <a:xfrm rot="5850000">
            <a:off x="2055770" y="3185889"/>
            <a:ext cx="160870" cy="146304"/>
          </a:xfrm>
          <a:prstGeom prst="rect">
            <a:avLst/>
          </a:prstGeom>
          <a:solidFill>
            <a:srgbClr val="9DC3E6"/>
          </a:solidFill>
          <a:ln w="9525">
            <a:solidFill>
              <a:srgbClr val="4A5262"/>
            </a:solidFill>
            <a:prstDash val="solid"/>
          </a:ln>
        </p:spPr>
      </p:sp>
      <p:sp>
        <p:nvSpPr>
          <p:cNvPr id="27" name="Shape 25"/>
          <p:cNvSpPr/>
          <p:nvPr/>
        </p:nvSpPr>
        <p:spPr>
          <a:xfrm rot="6750000">
            <a:off x="2143748" y="2857554"/>
            <a:ext cx="160870" cy="146304"/>
          </a:xfrm>
          <a:prstGeom prst="rect">
            <a:avLst/>
          </a:prstGeom>
          <a:solidFill>
            <a:srgbClr val="9DC3E6"/>
          </a:solidFill>
          <a:ln w="9525">
            <a:solidFill>
              <a:srgbClr val="4A5262"/>
            </a:solidFill>
            <a:prstDash val="solid"/>
          </a:ln>
        </p:spPr>
      </p:sp>
      <p:sp>
        <p:nvSpPr>
          <p:cNvPr id="28" name="Shape 26"/>
          <p:cNvSpPr/>
          <p:nvPr/>
        </p:nvSpPr>
        <p:spPr>
          <a:xfrm rot="7650000">
            <a:off x="2313707" y="2563176"/>
            <a:ext cx="160870" cy="146304"/>
          </a:xfrm>
          <a:prstGeom prst="rect">
            <a:avLst/>
          </a:prstGeom>
          <a:solidFill>
            <a:srgbClr val="9DC3E6"/>
          </a:solidFill>
          <a:ln w="9525">
            <a:solidFill>
              <a:srgbClr val="4A5262"/>
            </a:solidFill>
            <a:prstDash val="solid"/>
          </a:ln>
        </p:spPr>
      </p:sp>
      <p:sp>
        <p:nvSpPr>
          <p:cNvPr id="29" name="Shape 27"/>
          <p:cNvSpPr/>
          <p:nvPr/>
        </p:nvSpPr>
        <p:spPr>
          <a:xfrm rot="8550000">
            <a:off x="2554065" y="2322818"/>
            <a:ext cx="160870" cy="146304"/>
          </a:xfrm>
          <a:prstGeom prst="rect">
            <a:avLst/>
          </a:prstGeom>
          <a:solidFill>
            <a:srgbClr val="9DC3E6"/>
          </a:solidFill>
          <a:ln w="9525">
            <a:solidFill>
              <a:srgbClr val="4A5262"/>
            </a:solidFill>
            <a:prstDash val="solid"/>
          </a:ln>
        </p:spPr>
      </p:sp>
      <p:sp>
        <p:nvSpPr>
          <p:cNvPr id="30" name="Shape 28"/>
          <p:cNvSpPr/>
          <p:nvPr/>
        </p:nvSpPr>
        <p:spPr>
          <a:xfrm rot="9450000">
            <a:off x="2848442" y="2152859"/>
            <a:ext cx="160870" cy="146304"/>
          </a:xfrm>
          <a:prstGeom prst="rect">
            <a:avLst/>
          </a:prstGeom>
          <a:solidFill>
            <a:srgbClr val="9DC3E6"/>
          </a:solidFill>
          <a:ln w="9525">
            <a:solidFill>
              <a:srgbClr val="4A5262"/>
            </a:solidFill>
            <a:prstDash val="solid"/>
          </a:ln>
        </p:spPr>
      </p:sp>
      <p:sp>
        <p:nvSpPr>
          <p:cNvPr id="31" name="Shape 29"/>
          <p:cNvSpPr/>
          <p:nvPr/>
        </p:nvSpPr>
        <p:spPr>
          <a:xfrm rot="10350000">
            <a:off x="3176777" y="2064882"/>
            <a:ext cx="160870" cy="146304"/>
          </a:xfrm>
          <a:prstGeom prst="rect">
            <a:avLst/>
          </a:prstGeom>
          <a:solidFill>
            <a:srgbClr val="9DC3E6"/>
          </a:solidFill>
          <a:ln w="9525">
            <a:solidFill>
              <a:srgbClr val="4A5262"/>
            </a:solidFill>
            <a:prstDash val="solid"/>
          </a:ln>
        </p:spPr>
      </p:sp>
      <p:sp>
        <p:nvSpPr>
          <p:cNvPr id="32" name="Shape 30"/>
          <p:cNvSpPr/>
          <p:nvPr/>
        </p:nvSpPr>
        <p:spPr>
          <a:xfrm rot="11250000">
            <a:off x="3516695" y="2064882"/>
            <a:ext cx="160870" cy="146304"/>
          </a:xfrm>
          <a:prstGeom prst="rect">
            <a:avLst/>
          </a:prstGeom>
          <a:solidFill>
            <a:srgbClr val="9DC3E6"/>
          </a:solidFill>
          <a:ln w="9525">
            <a:solidFill>
              <a:srgbClr val="4A5262"/>
            </a:solidFill>
            <a:prstDash val="solid"/>
          </a:ln>
        </p:spPr>
      </p:sp>
      <p:sp>
        <p:nvSpPr>
          <p:cNvPr id="33" name="Shape 31"/>
          <p:cNvSpPr/>
          <p:nvPr/>
        </p:nvSpPr>
        <p:spPr>
          <a:xfrm rot="12150000">
            <a:off x="3845031" y="2152859"/>
            <a:ext cx="160870" cy="146304"/>
          </a:xfrm>
          <a:prstGeom prst="rect">
            <a:avLst/>
          </a:prstGeom>
          <a:solidFill>
            <a:srgbClr val="9DC3E6"/>
          </a:solidFill>
          <a:ln w="9525">
            <a:solidFill>
              <a:srgbClr val="4A5262"/>
            </a:solidFill>
            <a:prstDash val="solid"/>
          </a:ln>
        </p:spPr>
      </p:sp>
      <p:sp>
        <p:nvSpPr>
          <p:cNvPr id="34" name="Shape 32"/>
          <p:cNvSpPr/>
          <p:nvPr/>
        </p:nvSpPr>
        <p:spPr>
          <a:xfrm rot="13050000">
            <a:off x="4139408" y="2322818"/>
            <a:ext cx="160870" cy="146304"/>
          </a:xfrm>
          <a:prstGeom prst="rect">
            <a:avLst/>
          </a:prstGeom>
          <a:solidFill>
            <a:srgbClr val="9DC3E6"/>
          </a:solidFill>
          <a:ln w="9525">
            <a:solidFill>
              <a:srgbClr val="4A5262"/>
            </a:solidFill>
            <a:prstDash val="solid"/>
          </a:ln>
        </p:spPr>
      </p:sp>
      <p:sp>
        <p:nvSpPr>
          <p:cNvPr id="35" name="Shape 33"/>
          <p:cNvSpPr/>
          <p:nvPr/>
        </p:nvSpPr>
        <p:spPr>
          <a:xfrm rot="13950000">
            <a:off x="4379766" y="2563176"/>
            <a:ext cx="160870" cy="146304"/>
          </a:xfrm>
          <a:prstGeom prst="rect">
            <a:avLst/>
          </a:prstGeom>
          <a:solidFill>
            <a:srgbClr val="9DC3E6"/>
          </a:solidFill>
          <a:ln w="9525">
            <a:solidFill>
              <a:srgbClr val="4A5262"/>
            </a:solidFill>
            <a:prstDash val="solid"/>
          </a:ln>
        </p:spPr>
      </p:sp>
      <p:sp>
        <p:nvSpPr>
          <p:cNvPr id="36" name="Shape 34"/>
          <p:cNvSpPr/>
          <p:nvPr/>
        </p:nvSpPr>
        <p:spPr>
          <a:xfrm rot="14850000">
            <a:off x="4549725" y="2857554"/>
            <a:ext cx="160870" cy="146304"/>
          </a:xfrm>
          <a:prstGeom prst="rect">
            <a:avLst/>
          </a:prstGeom>
          <a:solidFill>
            <a:srgbClr val="9DC3E6"/>
          </a:solidFill>
          <a:ln w="9525">
            <a:solidFill>
              <a:srgbClr val="4A5262"/>
            </a:solidFill>
            <a:prstDash val="solid"/>
          </a:ln>
        </p:spPr>
      </p:sp>
      <p:sp>
        <p:nvSpPr>
          <p:cNvPr id="37" name="Shape 35"/>
          <p:cNvSpPr/>
          <p:nvPr/>
        </p:nvSpPr>
        <p:spPr>
          <a:xfrm rot="15750000">
            <a:off x="4637702" y="3185889"/>
            <a:ext cx="160870" cy="146304"/>
          </a:xfrm>
          <a:prstGeom prst="rect">
            <a:avLst/>
          </a:prstGeom>
          <a:solidFill>
            <a:srgbClr val="9DC3E6"/>
          </a:solidFill>
          <a:ln w="9525">
            <a:solidFill>
              <a:srgbClr val="4A5262"/>
            </a:solidFill>
            <a:prstDash val="solid"/>
          </a:ln>
        </p:spPr>
      </p:sp>
      <p:sp>
        <p:nvSpPr>
          <p:cNvPr id="38" name="Shape 36"/>
          <p:cNvSpPr/>
          <p:nvPr/>
        </p:nvSpPr>
        <p:spPr>
          <a:xfrm rot="16650000">
            <a:off x="4637702" y="3525807"/>
            <a:ext cx="160870" cy="146304"/>
          </a:xfrm>
          <a:prstGeom prst="rect">
            <a:avLst/>
          </a:prstGeom>
          <a:solidFill>
            <a:srgbClr val="9DC3E6"/>
          </a:solidFill>
          <a:ln w="9525">
            <a:solidFill>
              <a:srgbClr val="4A5262"/>
            </a:solidFill>
            <a:prstDash val="solid"/>
          </a:ln>
        </p:spPr>
      </p:sp>
      <p:sp>
        <p:nvSpPr>
          <p:cNvPr id="39" name="Shape 37"/>
          <p:cNvSpPr/>
          <p:nvPr/>
        </p:nvSpPr>
        <p:spPr>
          <a:xfrm rot="17550000">
            <a:off x="4549725" y="3854142"/>
            <a:ext cx="160870" cy="146304"/>
          </a:xfrm>
          <a:prstGeom prst="rect">
            <a:avLst/>
          </a:prstGeom>
          <a:solidFill>
            <a:srgbClr val="9DC3E6"/>
          </a:solidFill>
          <a:ln w="9525">
            <a:solidFill>
              <a:srgbClr val="4A5262"/>
            </a:solidFill>
            <a:prstDash val="solid"/>
          </a:ln>
        </p:spPr>
      </p:sp>
      <p:sp>
        <p:nvSpPr>
          <p:cNvPr id="40" name="Shape 38"/>
          <p:cNvSpPr/>
          <p:nvPr/>
        </p:nvSpPr>
        <p:spPr>
          <a:xfrm rot="18450000">
            <a:off x="4379766" y="4148520"/>
            <a:ext cx="160870" cy="146304"/>
          </a:xfrm>
          <a:prstGeom prst="rect">
            <a:avLst/>
          </a:prstGeom>
          <a:solidFill>
            <a:srgbClr val="9DC3E6"/>
          </a:solidFill>
          <a:ln w="9525">
            <a:solidFill>
              <a:srgbClr val="4A5262"/>
            </a:solidFill>
            <a:prstDash val="solid"/>
          </a:ln>
        </p:spPr>
      </p:sp>
      <p:sp>
        <p:nvSpPr>
          <p:cNvPr id="41" name="Shape 39"/>
          <p:cNvSpPr/>
          <p:nvPr/>
        </p:nvSpPr>
        <p:spPr>
          <a:xfrm rot="19350000">
            <a:off x="4139408" y="4388878"/>
            <a:ext cx="160870" cy="146304"/>
          </a:xfrm>
          <a:prstGeom prst="rect">
            <a:avLst/>
          </a:prstGeom>
          <a:solidFill>
            <a:srgbClr val="9DC3E6"/>
          </a:solidFill>
          <a:ln w="9525">
            <a:solidFill>
              <a:srgbClr val="4A5262"/>
            </a:solidFill>
            <a:prstDash val="solid"/>
          </a:ln>
        </p:spPr>
      </p:sp>
      <p:sp>
        <p:nvSpPr>
          <p:cNvPr id="42" name="Shape 40"/>
          <p:cNvSpPr/>
          <p:nvPr/>
        </p:nvSpPr>
        <p:spPr>
          <a:xfrm rot="20250000">
            <a:off x="3845031" y="4558837"/>
            <a:ext cx="160870" cy="146304"/>
          </a:xfrm>
          <a:prstGeom prst="rect">
            <a:avLst/>
          </a:prstGeom>
          <a:solidFill>
            <a:srgbClr val="9DC3E6"/>
          </a:solidFill>
          <a:ln w="9525">
            <a:solidFill>
              <a:srgbClr val="4A5262"/>
            </a:solidFill>
            <a:prstDash val="solid"/>
          </a:ln>
        </p:spPr>
      </p:sp>
      <p:sp>
        <p:nvSpPr>
          <p:cNvPr id="43" name="Shape 41"/>
          <p:cNvSpPr/>
          <p:nvPr/>
        </p:nvSpPr>
        <p:spPr>
          <a:xfrm rot="21150000">
            <a:off x="3516695" y="4646814"/>
            <a:ext cx="160870" cy="146304"/>
          </a:xfrm>
          <a:prstGeom prst="rect">
            <a:avLst/>
          </a:prstGeom>
          <a:solidFill>
            <a:srgbClr val="9DC3E6"/>
          </a:solidFill>
          <a:ln w="9525">
            <a:solidFill>
              <a:srgbClr val="4A5262"/>
            </a:solidFill>
            <a:prstDash val="solid"/>
          </a:ln>
        </p:spPr>
      </p:sp>
      <p:sp>
        <p:nvSpPr>
          <p:cNvPr id="44" name="Shape 42"/>
          <p:cNvSpPr/>
          <p:nvPr/>
        </p:nvSpPr>
        <p:spPr>
          <a:xfrm rot="450000">
            <a:off x="3176777" y="4646814"/>
            <a:ext cx="160870" cy="146304"/>
          </a:xfrm>
          <a:prstGeom prst="rect">
            <a:avLst/>
          </a:prstGeom>
          <a:solidFill>
            <a:srgbClr val="9DC3E6"/>
          </a:solidFill>
          <a:ln w="9525">
            <a:solidFill>
              <a:srgbClr val="4A5262"/>
            </a:solidFill>
            <a:prstDash val="solid"/>
          </a:ln>
        </p:spPr>
      </p:sp>
      <p:sp>
        <p:nvSpPr>
          <p:cNvPr id="45" name="Shape 43"/>
          <p:cNvSpPr/>
          <p:nvPr/>
        </p:nvSpPr>
        <p:spPr>
          <a:xfrm rot="1350000">
            <a:off x="2848442" y="4558837"/>
            <a:ext cx="160870" cy="146304"/>
          </a:xfrm>
          <a:prstGeom prst="rect">
            <a:avLst/>
          </a:prstGeom>
          <a:solidFill>
            <a:srgbClr val="9DC3E6"/>
          </a:solidFill>
          <a:ln w="9525">
            <a:solidFill>
              <a:srgbClr val="4A5262"/>
            </a:solidFill>
            <a:prstDash val="solid"/>
          </a:ln>
        </p:spPr>
      </p:sp>
      <p:sp>
        <p:nvSpPr>
          <p:cNvPr id="46" name="Shape 44"/>
          <p:cNvSpPr/>
          <p:nvPr/>
        </p:nvSpPr>
        <p:spPr>
          <a:xfrm rot="2250000">
            <a:off x="2554065" y="4388878"/>
            <a:ext cx="160870" cy="146304"/>
          </a:xfrm>
          <a:prstGeom prst="rect">
            <a:avLst/>
          </a:prstGeom>
          <a:solidFill>
            <a:srgbClr val="9DC3E6"/>
          </a:solidFill>
          <a:ln w="9525">
            <a:solidFill>
              <a:srgbClr val="4A5262"/>
            </a:solidFill>
            <a:prstDash val="solid"/>
          </a:ln>
        </p:spPr>
      </p:sp>
      <p:sp>
        <p:nvSpPr>
          <p:cNvPr id="47" name="Shape 45"/>
          <p:cNvSpPr/>
          <p:nvPr/>
        </p:nvSpPr>
        <p:spPr>
          <a:xfrm rot="3150000">
            <a:off x="2313707" y="4148520"/>
            <a:ext cx="160870" cy="146304"/>
          </a:xfrm>
          <a:prstGeom prst="rect">
            <a:avLst/>
          </a:prstGeom>
          <a:solidFill>
            <a:srgbClr val="9DC3E6"/>
          </a:solidFill>
          <a:ln w="9525">
            <a:solidFill>
              <a:srgbClr val="4A5262"/>
            </a:solidFill>
            <a:prstDash val="solid"/>
          </a:ln>
        </p:spPr>
      </p:sp>
      <p:sp>
        <p:nvSpPr>
          <p:cNvPr id="48" name="Shape 46"/>
          <p:cNvSpPr/>
          <p:nvPr/>
        </p:nvSpPr>
        <p:spPr>
          <a:xfrm rot="4050000">
            <a:off x="2143748" y="3854142"/>
            <a:ext cx="160870" cy="146304"/>
          </a:xfrm>
          <a:prstGeom prst="rect">
            <a:avLst/>
          </a:prstGeom>
          <a:solidFill>
            <a:srgbClr val="9DC3E6"/>
          </a:solidFill>
          <a:ln w="9525">
            <a:solidFill>
              <a:srgbClr val="4A5262"/>
            </a:solidFill>
            <a:prstDash val="solid"/>
          </a:ln>
        </p:spPr>
      </p:sp>
      <p:sp>
        <p:nvSpPr>
          <p:cNvPr id="49" name="Shape 47"/>
          <p:cNvSpPr/>
          <p:nvPr/>
        </p:nvSpPr>
        <p:spPr>
          <a:xfrm rot="4950000">
            <a:off x="2055770" y="3525807"/>
            <a:ext cx="160870" cy="146304"/>
          </a:xfrm>
          <a:prstGeom prst="rect">
            <a:avLst/>
          </a:prstGeom>
          <a:solidFill>
            <a:srgbClr val="9DC3E6"/>
          </a:solidFill>
          <a:ln w="9525">
            <a:solidFill>
              <a:srgbClr val="4A5262"/>
            </a:solidFill>
            <a:prstDash val="solid"/>
          </a:ln>
        </p:spPr>
      </p:sp>
      <p:sp>
        <p:nvSpPr>
          <p:cNvPr id="50" name="Shape 48"/>
          <p:cNvSpPr/>
          <p:nvPr/>
        </p:nvSpPr>
        <p:spPr>
          <a:xfrm>
            <a:off x="2198218" y="2200046"/>
            <a:ext cx="2457907" cy="2457907"/>
          </a:xfrm>
          <a:prstGeom prst="ellipse">
            <a:avLst/>
          </a:prstGeom>
          <a:solidFill>
            <a:srgbClr val="9DC3E6"/>
          </a:solidFill>
          <a:ln w="12700">
            <a:solidFill>
              <a:srgbClr val="4A5262"/>
            </a:solidFill>
            <a:prstDash val="solid"/>
          </a:ln>
        </p:spPr>
      </p:sp>
      <p:sp>
        <p:nvSpPr>
          <p:cNvPr id="51" name="Shape 49"/>
          <p:cNvSpPr/>
          <p:nvPr/>
        </p:nvSpPr>
        <p:spPr>
          <a:xfrm>
            <a:off x="3344875" y="3346704"/>
            <a:ext cx="164592" cy="164592"/>
          </a:xfrm>
          <a:prstGeom prst="ellipse">
            <a:avLst/>
          </a:prstGeom>
          <a:solidFill>
            <a:srgbClr val="4A5262"/>
          </a:solidFill>
          <a:ln w="12700">
            <a:solidFill>
              <a:srgbClr val="4A5262"/>
            </a:solidFill>
            <a:prstDash val="solid"/>
          </a:ln>
        </p:spPr>
      </p:sp>
      <p:sp>
        <p:nvSpPr>
          <p:cNvPr id="52" name="Shape 50"/>
          <p:cNvSpPr/>
          <p:nvPr/>
        </p:nvSpPr>
        <p:spPr>
          <a:xfrm flipV="1">
            <a:off x="586600" y="3010410"/>
            <a:ext cx="42960" cy="99592"/>
          </a:xfrm>
          <a:prstGeom prst="line">
            <a:avLst/>
          </a:prstGeom>
          <a:noFill/>
          <a:ln w="31750">
            <a:solidFill>
              <a:srgbClr val="C8414C"/>
            </a:solidFill>
            <a:prstDash val="solid"/>
          </a:ln>
        </p:spPr>
      </p:sp>
      <p:sp>
        <p:nvSpPr>
          <p:cNvPr id="53" name="Shape 51"/>
          <p:cNvSpPr/>
          <p:nvPr/>
        </p:nvSpPr>
        <p:spPr>
          <a:xfrm flipV="1">
            <a:off x="629560" y="2916480"/>
            <a:ext cx="54231" cy="93931"/>
          </a:xfrm>
          <a:prstGeom prst="line">
            <a:avLst/>
          </a:prstGeom>
          <a:noFill/>
          <a:ln w="31750">
            <a:solidFill>
              <a:srgbClr val="C8414C"/>
            </a:solidFill>
            <a:prstDash val="solid"/>
          </a:ln>
        </p:spPr>
      </p:sp>
      <p:sp>
        <p:nvSpPr>
          <p:cNvPr id="54" name="Shape 52"/>
          <p:cNvSpPr/>
          <p:nvPr/>
        </p:nvSpPr>
        <p:spPr>
          <a:xfrm flipV="1">
            <a:off x="683791" y="2829480"/>
            <a:ext cx="64769" cy="87000"/>
          </a:xfrm>
          <a:prstGeom prst="line">
            <a:avLst/>
          </a:prstGeom>
          <a:noFill/>
          <a:ln w="31750">
            <a:solidFill>
              <a:srgbClr val="C8414C"/>
            </a:solidFill>
            <a:prstDash val="solid"/>
          </a:ln>
        </p:spPr>
      </p:sp>
      <p:sp>
        <p:nvSpPr>
          <p:cNvPr id="55" name="Shape 53"/>
          <p:cNvSpPr/>
          <p:nvPr/>
        </p:nvSpPr>
        <p:spPr>
          <a:xfrm flipV="1">
            <a:off x="748560" y="2750587"/>
            <a:ext cx="74431" cy="78892"/>
          </a:xfrm>
          <a:prstGeom prst="line">
            <a:avLst/>
          </a:prstGeom>
          <a:noFill/>
          <a:ln w="31750">
            <a:solidFill>
              <a:srgbClr val="C8414C"/>
            </a:solidFill>
            <a:prstDash val="solid"/>
          </a:ln>
        </p:spPr>
      </p:sp>
      <p:sp>
        <p:nvSpPr>
          <p:cNvPr id="56" name="Shape 54"/>
          <p:cNvSpPr/>
          <p:nvPr/>
        </p:nvSpPr>
        <p:spPr>
          <a:xfrm flipV="1">
            <a:off x="822991" y="2680869"/>
            <a:ext cx="83087" cy="69718"/>
          </a:xfrm>
          <a:prstGeom prst="line">
            <a:avLst/>
          </a:prstGeom>
          <a:noFill/>
          <a:ln w="31750">
            <a:solidFill>
              <a:srgbClr val="C8414C"/>
            </a:solidFill>
            <a:prstDash val="solid"/>
          </a:ln>
        </p:spPr>
      </p:sp>
      <p:sp>
        <p:nvSpPr>
          <p:cNvPr id="57" name="Shape 55"/>
          <p:cNvSpPr/>
          <p:nvPr/>
        </p:nvSpPr>
        <p:spPr>
          <a:xfrm flipV="1">
            <a:off x="906077" y="2621268"/>
            <a:ext cx="90619" cy="59601"/>
          </a:xfrm>
          <a:prstGeom prst="line">
            <a:avLst/>
          </a:prstGeom>
          <a:noFill/>
          <a:ln w="31750">
            <a:solidFill>
              <a:srgbClr val="C8414C"/>
            </a:solidFill>
            <a:prstDash val="solid"/>
          </a:ln>
        </p:spPr>
      </p:sp>
      <p:sp>
        <p:nvSpPr>
          <p:cNvPr id="58" name="Shape 56"/>
          <p:cNvSpPr/>
          <p:nvPr/>
        </p:nvSpPr>
        <p:spPr>
          <a:xfrm flipV="1">
            <a:off x="996696" y="2572591"/>
            <a:ext cx="96925" cy="48678"/>
          </a:xfrm>
          <a:prstGeom prst="line">
            <a:avLst/>
          </a:prstGeom>
          <a:noFill/>
          <a:ln w="31750">
            <a:solidFill>
              <a:srgbClr val="C8414C"/>
            </a:solidFill>
            <a:prstDash val="solid"/>
          </a:ln>
        </p:spPr>
      </p:sp>
      <p:sp>
        <p:nvSpPr>
          <p:cNvPr id="59" name="Shape 57"/>
          <p:cNvSpPr/>
          <p:nvPr/>
        </p:nvSpPr>
        <p:spPr>
          <a:xfrm flipV="1">
            <a:off x="1093621" y="2535495"/>
            <a:ext cx="101921" cy="37096"/>
          </a:xfrm>
          <a:prstGeom prst="line">
            <a:avLst/>
          </a:prstGeom>
          <a:noFill/>
          <a:ln w="31750">
            <a:solidFill>
              <a:srgbClr val="C8414C"/>
            </a:solidFill>
            <a:prstDash val="solid"/>
          </a:ln>
        </p:spPr>
      </p:sp>
      <p:sp>
        <p:nvSpPr>
          <p:cNvPr id="60" name="Shape 58"/>
          <p:cNvSpPr/>
          <p:nvPr/>
        </p:nvSpPr>
        <p:spPr>
          <a:xfrm flipV="1">
            <a:off x="1195542" y="2510482"/>
            <a:ext cx="105538" cy="25013"/>
          </a:xfrm>
          <a:prstGeom prst="line">
            <a:avLst/>
          </a:prstGeom>
          <a:noFill/>
          <a:ln w="31750">
            <a:solidFill>
              <a:srgbClr val="C8414C"/>
            </a:solidFill>
            <a:prstDash val="solid"/>
          </a:ln>
        </p:spPr>
      </p:sp>
      <p:sp>
        <p:nvSpPr>
          <p:cNvPr id="61" name="Shape 59"/>
          <p:cNvSpPr/>
          <p:nvPr/>
        </p:nvSpPr>
        <p:spPr>
          <a:xfrm flipV="1">
            <a:off x="1301080" y="2497890"/>
            <a:ext cx="107729" cy="12592"/>
          </a:xfrm>
          <a:prstGeom prst="line">
            <a:avLst/>
          </a:prstGeom>
          <a:noFill/>
          <a:ln w="31750">
            <a:solidFill>
              <a:srgbClr val="C8414C"/>
            </a:solidFill>
            <a:prstDash val="solid"/>
          </a:ln>
        </p:spPr>
      </p:sp>
      <p:sp>
        <p:nvSpPr>
          <p:cNvPr id="62" name="Shape 60"/>
          <p:cNvSpPr/>
          <p:nvPr/>
        </p:nvSpPr>
        <p:spPr>
          <a:xfrm>
            <a:off x="1408809" y="2497890"/>
            <a:ext cx="108462" cy="91"/>
          </a:xfrm>
          <a:prstGeom prst="line">
            <a:avLst/>
          </a:prstGeom>
          <a:noFill/>
          <a:ln w="31750">
            <a:solidFill>
              <a:srgbClr val="C8414C"/>
            </a:solidFill>
            <a:prstDash val="solid"/>
          </a:ln>
        </p:spPr>
      </p:sp>
      <p:sp>
        <p:nvSpPr>
          <p:cNvPr id="63" name="Shape 61"/>
          <p:cNvSpPr/>
          <p:nvPr/>
        </p:nvSpPr>
        <p:spPr>
          <a:xfrm>
            <a:off x="1517271" y="2497890"/>
            <a:ext cx="107729" cy="12592"/>
          </a:xfrm>
          <a:prstGeom prst="line">
            <a:avLst/>
          </a:prstGeom>
          <a:noFill/>
          <a:ln w="31750">
            <a:solidFill>
              <a:srgbClr val="C8414C"/>
            </a:solidFill>
            <a:prstDash val="solid"/>
          </a:ln>
        </p:spPr>
      </p:sp>
      <p:sp>
        <p:nvSpPr>
          <p:cNvPr id="64" name="Shape 62"/>
          <p:cNvSpPr/>
          <p:nvPr/>
        </p:nvSpPr>
        <p:spPr>
          <a:xfrm>
            <a:off x="1625000" y="2510482"/>
            <a:ext cx="105538" cy="25013"/>
          </a:xfrm>
          <a:prstGeom prst="line">
            <a:avLst/>
          </a:prstGeom>
          <a:noFill/>
          <a:ln w="31750">
            <a:solidFill>
              <a:srgbClr val="C8414C"/>
            </a:solidFill>
            <a:prstDash val="solid"/>
          </a:ln>
        </p:spPr>
      </p:sp>
      <p:sp>
        <p:nvSpPr>
          <p:cNvPr id="65" name="Shape 63"/>
          <p:cNvSpPr/>
          <p:nvPr/>
        </p:nvSpPr>
        <p:spPr>
          <a:xfrm>
            <a:off x="1730538" y="2535495"/>
            <a:ext cx="101921" cy="37096"/>
          </a:xfrm>
          <a:prstGeom prst="line">
            <a:avLst/>
          </a:prstGeom>
          <a:noFill/>
          <a:ln w="31750">
            <a:solidFill>
              <a:srgbClr val="C8414C"/>
            </a:solidFill>
            <a:prstDash val="solid"/>
          </a:ln>
        </p:spPr>
      </p:sp>
      <p:sp>
        <p:nvSpPr>
          <p:cNvPr id="66" name="Shape 64"/>
          <p:cNvSpPr/>
          <p:nvPr/>
        </p:nvSpPr>
        <p:spPr>
          <a:xfrm>
            <a:off x="1832459" y="2572591"/>
            <a:ext cx="96925" cy="48678"/>
          </a:xfrm>
          <a:prstGeom prst="line">
            <a:avLst/>
          </a:prstGeom>
          <a:noFill/>
          <a:ln w="31750">
            <a:solidFill>
              <a:srgbClr val="C8414C"/>
            </a:solidFill>
            <a:prstDash val="solid"/>
          </a:ln>
        </p:spPr>
      </p:sp>
      <p:sp>
        <p:nvSpPr>
          <p:cNvPr id="67" name="Shape 65"/>
          <p:cNvSpPr/>
          <p:nvPr/>
        </p:nvSpPr>
        <p:spPr>
          <a:xfrm>
            <a:off x="1929384" y="2621268"/>
            <a:ext cx="90619" cy="59601"/>
          </a:xfrm>
          <a:prstGeom prst="line">
            <a:avLst/>
          </a:prstGeom>
          <a:noFill/>
          <a:ln w="31750">
            <a:solidFill>
              <a:srgbClr val="C8414C"/>
            </a:solidFill>
            <a:prstDash val="solid"/>
          </a:ln>
        </p:spPr>
      </p:sp>
      <p:sp>
        <p:nvSpPr>
          <p:cNvPr id="68" name="Shape 66"/>
          <p:cNvSpPr/>
          <p:nvPr/>
        </p:nvSpPr>
        <p:spPr>
          <a:xfrm>
            <a:off x="2020003" y="2680869"/>
            <a:ext cx="83087" cy="69718"/>
          </a:xfrm>
          <a:prstGeom prst="line">
            <a:avLst/>
          </a:prstGeom>
          <a:noFill/>
          <a:ln w="31750">
            <a:solidFill>
              <a:srgbClr val="C8414C"/>
            </a:solidFill>
            <a:prstDash val="solid"/>
          </a:ln>
        </p:spPr>
      </p:sp>
      <p:sp>
        <p:nvSpPr>
          <p:cNvPr id="69" name="Shape 67"/>
          <p:cNvSpPr/>
          <p:nvPr/>
        </p:nvSpPr>
        <p:spPr>
          <a:xfrm>
            <a:off x="2103089" y="2750587"/>
            <a:ext cx="74431" cy="78892"/>
          </a:xfrm>
          <a:prstGeom prst="line">
            <a:avLst/>
          </a:prstGeom>
          <a:noFill/>
          <a:ln w="31750">
            <a:solidFill>
              <a:srgbClr val="C8414C"/>
            </a:solidFill>
            <a:prstDash val="solid"/>
            <a:tailEnd type="triangle"/>
          </a:ln>
        </p:spPr>
      </p:sp>
      <p:sp>
        <p:nvSpPr>
          <p:cNvPr id="70" name="Shape 68"/>
          <p:cNvSpPr/>
          <p:nvPr/>
        </p:nvSpPr>
        <p:spPr>
          <a:xfrm flipH="1" flipV="1">
            <a:off x="4515645" y="2319211"/>
            <a:ext cx="102327" cy="110589"/>
          </a:xfrm>
          <a:prstGeom prst="line">
            <a:avLst/>
          </a:prstGeom>
          <a:noFill/>
          <a:ln w="31750">
            <a:solidFill>
              <a:srgbClr val="2E5BD8"/>
            </a:solidFill>
            <a:prstDash val="solid"/>
          </a:ln>
        </p:spPr>
      </p:sp>
      <p:sp>
        <p:nvSpPr>
          <p:cNvPr id="71" name="Shape 69"/>
          <p:cNvSpPr/>
          <p:nvPr/>
        </p:nvSpPr>
        <p:spPr>
          <a:xfrm flipH="1" flipV="1">
            <a:off x="4403093" y="2219047"/>
            <a:ext cx="112552" cy="100163"/>
          </a:xfrm>
          <a:prstGeom prst="line">
            <a:avLst/>
          </a:prstGeom>
          <a:noFill/>
          <a:ln w="31750">
            <a:solidFill>
              <a:srgbClr val="2E5BD8"/>
            </a:solidFill>
            <a:prstDash val="solid"/>
          </a:ln>
        </p:spPr>
      </p:sp>
      <p:sp>
        <p:nvSpPr>
          <p:cNvPr id="72" name="Shape 70"/>
          <p:cNvSpPr/>
          <p:nvPr/>
        </p:nvSpPr>
        <p:spPr>
          <a:xfrm flipH="1" flipV="1">
            <a:off x="4281372" y="2130251"/>
            <a:ext cx="121721" cy="88796"/>
          </a:xfrm>
          <a:prstGeom prst="line">
            <a:avLst/>
          </a:prstGeom>
          <a:noFill/>
          <a:ln w="31750">
            <a:solidFill>
              <a:srgbClr val="2E5BD8"/>
            </a:solidFill>
            <a:prstDash val="solid"/>
          </a:ln>
        </p:spPr>
      </p:sp>
      <p:sp>
        <p:nvSpPr>
          <p:cNvPr id="73" name="Shape 71"/>
          <p:cNvSpPr/>
          <p:nvPr/>
        </p:nvSpPr>
        <p:spPr>
          <a:xfrm flipH="1" flipV="1">
            <a:off x="4151627" y="2053655"/>
            <a:ext cx="129745" cy="76595"/>
          </a:xfrm>
          <a:prstGeom prst="line">
            <a:avLst/>
          </a:prstGeom>
          <a:noFill/>
          <a:ln w="31750">
            <a:solidFill>
              <a:srgbClr val="2E5BD8"/>
            </a:solidFill>
            <a:prstDash val="solid"/>
          </a:ln>
        </p:spPr>
      </p:sp>
      <p:sp>
        <p:nvSpPr>
          <p:cNvPr id="74" name="Shape 72"/>
          <p:cNvSpPr/>
          <p:nvPr/>
        </p:nvSpPr>
        <p:spPr>
          <a:xfrm flipH="1" flipV="1">
            <a:off x="4015075" y="1989981"/>
            <a:ext cx="136551" cy="63675"/>
          </a:xfrm>
          <a:prstGeom prst="line">
            <a:avLst/>
          </a:prstGeom>
          <a:noFill/>
          <a:ln w="31750">
            <a:solidFill>
              <a:srgbClr val="2E5BD8"/>
            </a:solidFill>
            <a:prstDash val="solid"/>
          </a:ln>
        </p:spPr>
      </p:sp>
      <p:sp>
        <p:nvSpPr>
          <p:cNvPr id="75" name="Shape 73"/>
          <p:cNvSpPr/>
          <p:nvPr/>
        </p:nvSpPr>
        <p:spPr>
          <a:xfrm flipH="1" flipV="1">
            <a:off x="3873001" y="1939824"/>
            <a:ext cx="142074" cy="50156"/>
          </a:xfrm>
          <a:prstGeom prst="line">
            <a:avLst/>
          </a:prstGeom>
          <a:noFill/>
          <a:ln w="31750">
            <a:solidFill>
              <a:srgbClr val="2E5BD8"/>
            </a:solidFill>
            <a:prstDash val="solid"/>
          </a:ln>
        </p:spPr>
      </p:sp>
      <p:sp>
        <p:nvSpPr>
          <p:cNvPr id="76" name="Shape 74"/>
          <p:cNvSpPr/>
          <p:nvPr/>
        </p:nvSpPr>
        <p:spPr>
          <a:xfrm flipH="1" flipV="1">
            <a:off x="3726739" y="1903658"/>
            <a:ext cx="146263" cy="36166"/>
          </a:xfrm>
          <a:prstGeom prst="line">
            <a:avLst/>
          </a:prstGeom>
          <a:noFill/>
          <a:ln w="31750">
            <a:solidFill>
              <a:srgbClr val="2E5BD8"/>
            </a:solidFill>
            <a:prstDash val="solid"/>
          </a:ln>
        </p:spPr>
      </p:sp>
      <p:sp>
        <p:nvSpPr>
          <p:cNvPr id="77" name="Shape 75"/>
          <p:cNvSpPr/>
          <p:nvPr/>
        </p:nvSpPr>
        <p:spPr>
          <a:xfrm flipH="1" flipV="1">
            <a:off x="3577662" y="1881822"/>
            <a:ext cx="149077" cy="21837"/>
          </a:xfrm>
          <a:prstGeom prst="line">
            <a:avLst/>
          </a:prstGeom>
          <a:noFill/>
          <a:ln w="31750">
            <a:solidFill>
              <a:srgbClr val="2E5BD8"/>
            </a:solidFill>
            <a:prstDash val="solid"/>
          </a:ln>
        </p:spPr>
      </p:sp>
      <p:sp>
        <p:nvSpPr>
          <p:cNvPr id="78" name="Shape 76"/>
          <p:cNvSpPr/>
          <p:nvPr/>
        </p:nvSpPr>
        <p:spPr>
          <a:xfrm flipH="1" flipV="1">
            <a:off x="3427171" y="1874520"/>
            <a:ext cx="150491" cy="7302"/>
          </a:xfrm>
          <a:prstGeom prst="line">
            <a:avLst/>
          </a:prstGeom>
          <a:noFill/>
          <a:ln w="31750">
            <a:solidFill>
              <a:srgbClr val="2E5BD8"/>
            </a:solidFill>
            <a:prstDash val="solid"/>
          </a:ln>
        </p:spPr>
      </p:sp>
      <p:sp>
        <p:nvSpPr>
          <p:cNvPr id="79" name="Shape 77"/>
          <p:cNvSpPr/>
          <p:nvPr/>
        </p:nvSpPr>
        <p:spPr>
          <a:xfrm flipH="1">
            <a:off x="3276681" y="1874520"/>
            <a:ext cx="150491" cy="7302"/>
          </a:xfrm>
          <a:prstGeom prst="line">
            <a:avLst/>
          </a:prstGeom>
          <a:noFill/>
          <a:ln w="31750">
            <a:solidFill>
              <a:srgbClr val="2E5BD8"/>
            </a:solidFill>
            <a:prstDash val="solid"/>
          </a:ln>
        </p:spPr>
      </p:sp>
      <p:sp>
        <p:nvSpPr>
          <p:cNvPr id="80" name="Shape 78"/>
          <p:cNvSpPr/>
          <p:nvPr/>
        </p:nvSpPr>
        <p:spPr>
          <a:xfrm flipH="1">
            <a:off x="3127604" y="1881822"/>
            <a:ext cx="149077" cy="21837"/>
          </a:xfrm>
          <a:prstGeom prst="line">
            <a:avLst/>
          </a:prstGeom>
          <a:noFill/>
          <a:ln w="31750">
            <a:solidFill>
              <a:srgbClr val="2E5BD8"/>
            </a:solidFill>
            <a:prstDash val="solid"/>
          </a:ln>
        </p:spPr>
      </p:sp>
      <p:sp>
        <p:nvSpPr>
          <p:cNvPr id="81" name="Shape 79"/>
          <p:cNvSpPr/>
          <p:nvPr/>
        </p:nvSpPr>
        <p:spPr>
          <a:xfrm flipH="1">
            <a:off x="2981341" y="1903658"/>
            <a:ext cx="146263" cy="36166"/>
          </a:xfrm>
          <a:prstGeom prst="line">
            <a:avLst/>
          </a:prstGeom>
          <a:noFill/>
          <a:ln w="31750">
            <a:solidFill>
              <a:srgbClr val="2E5BD8"/>
            </a:solidFill>
            <a:prstDash val="solid"/>
          </a:ln>
        </p:spPr>
      </p:sp>
      <p:sp>
        <p:nvSpPr>
          <p:cNvPr id="82" name="Shape 80"/>
          <p:cNvSpPr/>
          <p:nvPr/>
        </p:nvSpPr>
        <p:spPr>
          <a:xfrm flipH="1">
            <a:off x="2839267" y="1939824"/>
            <a:ext cx="142074" cy="50156"/>
          </a:xfrm>
          <a:prstGeom prst="line">
            <a:avLst/>
          </a:prstGeom>
          <a:noFill/>
          <a:ln w="31750">
            <a:solidFill>
              <a:srgbClr val="2E5BD8"/>
            </a:solidFill>
            <a:prstDash val="solid"/>
          </a:ln>
        </p:spPr>
      </p:sp>
      <p:sp>
        <p:nvSpPr>
          <p:cNvPr id="83" name="Shape 81"/>
          <p:cNvSpPr/>
          <p:nvPr/>
        </p:nvSpPr>
        <p:spPr>
          <a:xfrm flipH="1">
            <a:off x="2702716" y="1989981"/>
            <a:ext cx="136551" cy="63675"/>
          </a:xfrm>
          <a:prstGeom prst="line">
            <a:avLst/>
          </a:prstGeom>
          <a:noFill/>
          <a:ln w="31750">
            <a:solidFill>
              <a:srgbClr val="2E5BD8"/>
            </a:solidFill>
            <a:prstDash val="solid"/>
          </a:ln>
        </p:spPr>
      </p:sp>
      <p:sp>
        <p:nvSpPr>
          <p:cNvPr id="84" name="Shape 82"/>
          <p:cNvSpPr/>
          <p:nvPr/>
        </p:nvSpPr>
        <p:spPr>
          <a:xfrm flipH="1">
            <a:off x="2572970" y="2053655"/>
            <a:ext cx="129745" cy="76595"/>
          </a:xfrm>
          <a:prstGeom prst="line">
            <a:avLst/>
          </a:prstGeom>
          <a:noFill/>
          <a:ln w="31750">
            <a:solidFill>
              <a:srgbClr val="2E5BD8"/>
            </a:solidFill>
            <a:prstDash val="solid"/>
          </a:ln>
        </p:spPr>
      </p:sp>
      <p:sp>
        <p:nvSpPr>
          <p:cNvPr id="85" name="Shape 83"/>
          <p:cNvSpPr/>
          <p:nvPr/>
        </p:nvSpPr>
        <p:spPr>
          <a:xfrm flipH="1">
            <a:off x="2451250" y="2130251"/>
            <a:ext cx="121721" cy="88796"/>
          </a:xfrm>
          <a:prstGeom prst="line">
            <a:avLst/>
          </a:prstGeom>
          <a:noFill/>
          <a:ln w="31750">
            <a:solidFill>
              <a:srgbClr val="2E5BD8"/>
            </a:solidFill>
            <a:prstDash val="solid"/>
          </a:ln>
        </p:spPr>
      </p:sp>
      <p:sp>
        <p:nvSpPr>
          <p:cNvPr id="86" name="Shape 84"/>
          <p:cNvSpPr/>
          <p:nvPr/>
        </p:nvSpPr>
        <p:spPr>
          <a:xfrm flipH="1">
            <a:off x="2338697" y="2219047"/>
            <a:ext cx="112552" cy="100163"/>
          </a:xfrm>
          <a:prstGeom prst="line">
            <a:avLst/>
          </a:prstGeom>
          <a:noFill/>
          <a:ln w="31750">
            <a:solidFill>
              <a:srgbClr val="2E5BD8"/>
            </a:solidFill>
            <a:prstDash val="solid"/>
          </a:ln>
        </p:spPr>
      </p:sp>
      <p:sp>
        <p:nvSpPr>
          <p:cNvPr id="87" name="Shape 85"/>
          <p:cNvSpPr/>
          <p:nvPr/>
        </p:nvSpPr>
        <p:spPr>
          <a:xfrm flipH="1">
            <a:off x="2236370" y="2319211"/>
            <a:ext cx="102327" cy="110589"/>
          </a:xfrm>
          <a:prstGeom prst="line">
            <a:avLst/>
          </a:prstGeom>
          <a:noFill/>
          <a:ln w="31750">
            <a:solidFill>
              <a:srgbClr val="2E5BD8"/>
            </a:solidFill>
            <a:prstDash val="solid"/>
            <a:tailEnd type="triangle"/>
          </a:ln>
        </p:spPr>
      </p:sp>
      <p:sp>
        <p:nvSpPr>
          <p:cNvPr id="88" name="Text 86"/>
          <p:cNvSpPr/>
          <p:nvPr/>
        </p:nvSpPr>
        <p:spPr>
          <a:xfrm>
            <a:off x="502920" y="1645920"/>
            <a:ext cx="2194560" cy="256032"/>
          </a:xfrm>
          <a:prstGeom prst="rect">
            <a:avLst/>
          </a:prstGeom>
          <a:noFill/>
          <a:ln/>
        </p:spPr>
        <p:txBody>
          <a:bodyPr wrap="square" lIns="0" tIns="0" rIns="0" bIns="0" rtlCol="0" anchor="ctr"/>
          <a:lstStyle/>
          <a:p>
            <a:pPr algn="ctr" indent="0" marL="0">
              <a:buNone/>
            </a:pPr>
            <a:r>
              <a:rPr lang="en-US" sz="1100" b="1" dirty="0">
                <a:solidFill>
                  <a:srgbClr val="C8414C"/>
                </a:solidFill>
                <a:latin typeface="Calibri" pitchFamily="34" charset="0"/>
                <a:ea typeface="Calibri" pitchFamily="34" charset="-122"/>
                <a:cs typeface="Calibri" pitchFamily="34" charset="-120"/>
              </a:rPr>
              <a:t>driver: clockwise</a:t>
            </a:r>
            <a:endParaRPr lang="en-US" sz="1100" dirty="0"/>
          </a:p>
        </p:txBody>
      </p:sp>
      <p:sp>
        <p:nvSpPr>
          <p:cNvPr id="89" name="Text 87"/>
          <p:cNvSpPr/>
          <p:nvPr/>
        </p:nvSpPr>
        <p:spPr>
          <a:xfrm>
            <a:off x="2743200" y="1371600"/>
            <a:ext cx="3108960" cy="256032"/>
          </a:xfrm>
          <a:prstGeom prst="rect">
            <a:avLst/>
          </a:prstGeom>
          <a:noFill/>
          <a:ln/>
        </p:spPr>
        <p:txBody>
          <a:bodyPr wrap="square" lIns="0" tIns="0" rIns="0" bIns="0" rtlCol="0" anchor="ctr"/>
          <a:lstStyle/>
          <a:p>
            <a:pPr algn="ctr" indent="0" marL="0">
              <a:buNone/>
            </a:pPr>
            <a:r>
              <a:rPr lang="en-US" sz="1100" b="1" dirty="0">
                <a:solidFill>
                  <a:srgbClr val="2E5BD8"/>
                </a:solidFill>
                <a:latin typeface="Calibri" pitchFamily="34" charset="0"/>
                <a:ea typeface="Calibri" pitchFamily="34" charset="-122"/>
                <a:cs typeface="Calibri" pitchFamily="34" charset="-120"/>
              </a:rPr>
              <a:t>driven: anticlockwise</a:t>
            </a:r>
            <a:endParaRPr lang="en-US" sz="1100" dirty="0"/>
          </a:p>
        </p:txBody>
      </p:sp>
      <p:sp>
        <p:nvSpPr>
          <p:cNvPr id="90" name="Text 88"/>
          <p:cNvSpPr/>
          <p:nvPr/>
        </p:nvSpPr>
        <p:spPr>
          <a:xfrm>
            <a:off x="502920" y="4343400"/>
            <a:ext cx="219456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12 teeth, r = 5 cm</a:t>
            </a:r>
            <a:endParaRPr lang="en-US" sz="1050" dirty="0"/>
          </a:p>
        </p:txBody>
      </p:sp>
      <p:sp>
        <p:nvSpPr>
          <p:cNvPr id="91" name="Text 89"/>
          <p:cNvSpPr/>
          <p:nvPr/>
        </p:nvSpPr>
        <p:spPr>
          <a:xfrm>
            <a:off x="3017520" y="4892040"/>
            <a:ext cx="219456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24 teeth, r = 10 cm</a:t>
            </a:r>
            <a:endParaRPr lang="en-US" sz="1050" dirty="0"/>
          </a:p>
        </p:txBody>
      </p:sp>
      <p:sp>
        <p:nvSpPr>
          <p:cNvPr id="92" name="Shape 90"/>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93" name="Text 91"/>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Gears</a:t>
            </a:r>
            <a:endParaRPr lang="en-US" sz="1300" dirty="0"/>
          </a:p>
        </p:txBody>
      </p:sp>
      <p:sp>
        <p:nvSpPr>
          <p:cNvPr id="94" name="Text 92"/>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Gears are wheels with </a:t>
            </a:r>
            <a:r>
              <a:rPr lang="en-US" sz="1150" b="1" dirty="0">
                <a:solidFill>
                  <a:srgbClr val="262B3A"/>
                </a:solidFill>
                <a:latin typeface="Calibri" pitchFamily="34" charset="0"/>
                <a:ea typeface="Calibri" pitchFamily="34" charset="-122"/>
                <a:cs typeface="Calibri" pitchFamily="34" charset="-120"/>
              </a:rPr>
              <a:t>teeth</a:t>
            </a:r>
            <a:r>
              <a:rPr lang="en-US" sz="1150" dirty="0">
                <a:solidFill>
                  <a:srgbClr val="262B3A"/>
                </a:solidFill>
                <a:latin typeface="Calibri" pitchFamily="34" charset="0"/>
                <a:ea typeface="Calibri" pitchFamily="34" charset="-122"/>
                <a:cs typeface="Calibri" pitchFamily="34" charset="-120"/>
              </a:rPr>
              <a:t> that interlock. The teeth push on each other with </a:t>
            </a:r>
            <a:r>
              <a:rPr lang="en-US" sz="1150" b="1" dirty="0">
                <a:solidFill>
                  <a:srgbClr val="262B3A"/>
                </a:solidFill>
                <a:latin typeface="Calibri" pitchFamily="34" charset="0"/>
                <a:ea typeface="Calibri" pitchFamily="34" charset="-122"/>
                <a:cs typeface="Calibri" pitchFamily="34" charset="-120"/>
              </a:rPr>
              <a:t>equal and opposite forces</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Meshing gears turn in </a:t>
            </a:r>
            <a:r>
              <a:rPr lang="en-US" sz="1150" b="1" dirty="0">
                <a:solidFill>
                  <a:srgbClr val="262B3A"/>
                </a:solidFill>
                <a:latin typeface="Calibri" pitchFamily="34" charset="0"/>
                <a:ea typeface="Calibri" pitchFamily="34" charset="-122"/>
                <a:cs typeface="Calibri" pitchFamily="34" charset="-120"/>
              </a:rPr>
              <a:t>opposite directions</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a:t>
            </a:r>
            <a:r>
              <a:rPr lang="en-US" sz="1150" b="1" dirty="0">
                <a:solidFill>
                  <a:srgbClr val="262B3A"/>
                </a:solidFill>
                <a:latin typeface="Calibri" pitchFamily="34" charset="0"/>
                <a:ea typeface="Calibri" pitchFamily="34" charset="-122"/>
                <a:cs typeface="Calibri" pitchFamily="34" charset="-120"/>
              </a:rPr>
              <a:t>larger</a:t>
            </a:r>
            <a:r>
              <a:rPr lang="en-US" sz="1150" dirty="0">
                <a:solidFill>
                  <a:srgbClr val="262B3A"/>
                </a:solidFill>
                <a:latin typeface="Calibri" pitchFamily="34" charset="0"/>
                <a:ea typeface="Calibri" pitchFamily="34" charset="-122"/>
                <a:cs typeface="Calibri" pitchFamily="34" charset="-120"/>
              </a:rPr>
              <a:t> driven gear: the same force acts at a bigger radius → </a:t>
            </a:r>
            <a:r>
              <a:rPr lang="en-US" sz="1150" b="1" dirty="0">
                <a:solidFill>
                  <a:srgbClr val="262B3A"/>
                </a:solidFill>
                <a:latin typeface="Calibri" pitchFamily="34" charset="0"/>
                <a:ea typeface="Calibri" pitchFamily="34" charset="-122"/>
                <a:cs typeface="Calibri" pitchFamily="34" charset="-120"/>
              </a:rPr>
              <a:t>bigger moment</a:t>
            </a:r>
            <a:r>
              <a:rPr lang="en-US" sz="1150" dirty="0">
                <a:solidFill>
                  <a:srgbClr val="262B3A"/>
                </a:solidFill>
                <a:latin typeface="Calibri" pitchFamily="34" charset="0"/>
                <a:ea typeface="Calibri" pitchFamily="34" charset="-122"/>
                <a:cs typeface="Calibri" pitchFamily="34" charset="-120"/>
              </a:rPr>
              <a:t>, but it turns </a:t>
            </a:r>
            <a:r>
              <a:rPr lang="en-US" sz="1150" b="1" dirty="0">
                <a:solidFill>
                  <a:srgbClr val="262B3A"/>
                </a:solidFill>
                <a:latin typeface="Calibri" pitchFamily="34" charset="0"/>
                <a:ea typeface="Calibri" pitchFamily="34" charset="-122"/>
                <a:cs typeface="Calibri" pitchFamily="34" charset="-120"/>
              </a:rPr>
              <a:t>more slowly</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a:t>
            </a:r>
            <a:r>
              <a:rPr lang="en-US" sz="1150" b="1" dirty="0">
                <a:solidFill>
                  <a:srgbClr val="262B3A"/>
                </a:solidFill>
                <a:latin typeface="Calibri" pitchFamily="34" charset="0"/>
                <a:ea typeface="Calibri" pitchFamily="34" charset="-122"/>
                <a:cs typeface="Calibri" pitchFamily="34" charset="-120"/>
              </a:rPr>
              <a:t>smaller</a:t>
            </a:r>
            <a:r>
              <a:rPr lang="en-US" sz="1150" dirty="0">
                <a:solidFill>
                  <a:srgbClr val="262B3A"/>
                </a:solidFill>
                <a:latin typeface="Calibri" pitchFamily="34" charset="0"/>
                <a:ea typeface="Calibri" pitchFamily="34" charset="-122"/>
                <a:cs typeface="Calibri" pitchFamily="34" charset="-120"/>
              </a:rPr>
              <a:t> driven gear turns </a:t>
            </a:r>
            <a:r>
              <a:rPr lang="en-US" sz="1150" b="1" dirty="0">
                <a:solidFill>
                  <a:srgbClr val="262B3A"/>
                </a:solidFill>
                <a:latin typeface="Calibri" pitchFamily="34" charset="0"/>
                <a:ea typeface="Calibri" pitchFamily="34" charset="-122"/>
                <a:cs typeface="Calibri" pitchFamily="34" charset="-120"/>
              </a:rPr>
              <a:t>faster</a:t>
            </a:r>
            <a:r>
              <a:rPr lang="en-US" sz="1150" dirty="0">
                <a:solidFill>
                  <a:srgbClr val="262B3A"/>
                </a:solidFill>
                <a:latin typeface="Calibri" pitchFamily="34" charset="0"/>
                <a:ea typeface="Calibri" pitchFamily="34" charset="-122"/>
                <a:cs typeface="Calibri" pitchFamily="34" charset="-120"/>
              </a:rPr>
              <a:t> with a smaller moment.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Used in bicycles, clocks, car gearboxes and drills.</a:t>
            </a:r>
            <a:endParaRPr lang="en-US" sz="1150" dirty="0"/>
          </a:p>
        </p:txBody>
      </p:sp>
      <p:sp>
        <p:nvSpPr>
          <p:cNvPr id="95" name="Shape 93"/>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96" name="Text 94"/>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97" name="Text 95"/>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The driver (radius 0.05 m) has a moment of 6.0 N m. Find the moment of the driven gear (radius 0.10 m).</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Tooth force   </a:t>
            </a:r>
            <a:r>
              <a:rPr lang="en-US" sz="1050" dirty="0">
                <a:solidFill>
                  <a:srgbClr val="262B3A"/>
                </a:solidFill>
                <a:latin typeface="Calibri" pitchFamily="34" charset="0"/>
                <a:ea typeface="Calibri" pitchFamily="34" charset="-122"/>
                <a:cs typeface="Calibri" pitchFamily="34" charset="-120"/>
              </a:rPr>
              <a:t>F = M ÷ r = 6.0 ÷ 0.05 = 120 N</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Driven   </a:t>
            </a:r>
            <a:r>
              <a:rPr lang="en-US" sz="1050" dirty="0">
                <a:solidFill>
                  <a:srgbClr val="262B3A"/>
                </a:solidFill>
                <a:latin typeface="Calibri" pitchFamily="34" charset="0"/>
                <a:ea typeface="Calibri" pitchFamily="34" charset="-122"/>
                <a:cs typeface="Calibri" pitchFamily="34" charset="-120"/>
              </a:rPr>
              <a:t>M = F × r = 120 × 0.10</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Speed   </a:t>
            </a:r>
            <a:r>
              <a:rPr lang="en-US" sz="1050" dirty="0">
                <a:solidFill>
                  <a:srgbClr val="262B3A"/>
                </a:solidFill>
                <a:latin typeface="Calibri" pitchFamily="34" charset="0"/>
                <a:ea typeface="Calibri" pitchFamily="34" charset="-122"/>
                <a:cs typeface="Calibri" pitchFamily="34" charset="-120"/>
              </a:rPr>
              <a:t>24 teeth: 0.5 turn for each turn of the driver</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moment = 12 N m (doubled), half the speed</a:t>
            </a:r>
            <a:endParaRPr lang="en-US" sz="1050" dirty="0"/>
          </a:p>
        </p:txBody>
      </p:sp>
      <p:sp>
        <p:nvSpPr>
          <p:cNvPr id="98" name="Shape 96"/>
          <p:cNvSpPr/>
          <p:nvPr/>
        </p:nvSpPr>
        <p:spPr>
          <a:xfrm>
            <a:off x="411480" y="5833872"/>
            <a:ext cx="11368735" cy="530352"/>
          </a:xfrm>
          <a:prstGeom prst="rect">
            <a:avLst/>
          </a:prstGeom>
          <a:solidFill>
            <a:srgbClr val="FFF4E0"/>
          </a:solidFill>
          <a:ln w="6350">
            <a:solidFill>
              <a:srgbClr val="F1D9A8"/>
            </a:solidFill>
            <a:prstDash val="solid"/>
          </a:ln>
        </p:spPr>
      </p:sp>
      <p:sp>
        <p:nvSpPr>
          <p:cNvPr id="99" name="Shape 97"/>
          <p:cNvSpPr/>
          <p:nvPr/>
        </p:nvSpPr>
        <p:spPr>
          <a:xfrm>
            <a:off x="411480" y="5833872"/>
            <a:ext cx="82296" cy="530352"/>
          </a:xfrm>
          <a:prstGeom prst="rect">
            <a:avLst/>
          </a:prstGeom>
          <a:solidFill>
            <a:srgbClr val="E39A2F"/>
          </a:solidFill>
          <a:ln w="12700">
            <a:solidFill>
              <a:srgbClr val="E39A2F"/>
            </a:solidFill>
            <a:prstDash val="solid"/>
          </a:ln>
        </p:spPr>
      </p:sp>
      <p:sp>
        <p:nvSpPr>
          <p:cNvPr id="100" name="Text 9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driver gear with 40 teeth turns clockwise at 60 turns per minute. It drives a gear with 20 teeth. Give the direction and speed of the driven gear.</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Friction and lubrication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9.10P • reducing unwanted energy transfer through lubrication</a:t>
            </a:r>
            <a:endParaRPr lang="en-US" sz="1100" dirty="0"/>
          </a:p>
        </p:txBody>
      </p:sp>
      <p:sp>
        <p:nvSpPr>
          <p:cNvPr id="6" name="Shape 4"/>
          <p:cNvSpPr/>
          <p:nvPr/>
        </p:nvSpPr>
        <p:spPr>
          <a:xfrm>
            <a:off x="10591495" y="292608"/>
            <a:ext cx="1188720" cy="274320"/>
          </a:xfrm>
          <a:prstGeom prst="roundRect">
            <a:avLst>
              <a:gd name="adj" fmla="val 50000"/>
            </a:avLst>
          </a:prstGeom>
          <a:solidFill>
            <a:srgbClr val="2E5BD8"/>
          </a:solidFill>
          <a:ln w="12700">
            <a:solidFill>
              <a:srgbClr val="2E5BD8"/>
            </a:solidFill>
            <a:prstDash val="solid"/>
          </a:ln>
        </p:spPr>
      </p:sp>
      <p:sp>
        <p:nvSpPr>
          <p:cNvPr id="7" name="Text 5"/>
          <p:cNvSpPr/>
          <p:nvPr/>
        </p:nvSpPr>
        <p:spPr>
          <a:xfrm>
            <a:off x="10591495" y="292608"/>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PHYSICS ONLY</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9 Forces and their effects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9.10P  |  30</a:t>
            </a:r>
            <a:endParaRPr lang="en-US" sz="1000" dirty="0"/>
          </a:p>
        </p:txBody>
      </p:sp>
      <p:sp>
        <p:nvSpPr>
          <p:cNvPr id="10" name="Shape 8"/>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magnified view of two surfaces sliding past each other</a:t>
            </a:r>
            <a:endParaRPr lang="en-US" sz="1000" dirty="0"/>
          </a:p>
        </p:txBody>
      </p:sp>
      <p:sp>
        <p:nvSpPr>
          <p:cNvPr id="12" name="Text 10"/>
          <p:cNvSpPr/>
          <p:nvPr/>
        </p:nvSpPr>
        <p:spPr>
          <a:xfrm>
            <a:off x="594360" y="1371600"/>
            <a:ext cx="2468880" cy="256032"/>
          </a:xfrm>
          <a:prstGeom prst="rect">
            <a:avLst/>
          </a:prstGeom>
          <a:noFill/>
          <a:ln/>
        </p:spPr>
        <p:txBody>
          <a:bodyPr wrap="square" lIns="0" tIns="0" rIns="0" bIns="0" rtlCol="0" anchor="ctr"/>
          <a:lstStyle/>
          <a:p>
            <a:pPr algn="ctr" indent="0" marL="0">
              <a:buNone/>
            </a:pPr>
            <a:r>
              <a:rPr lang="en-US" sz="1200" b="1" dirty="0">
                <a:solidFill>
                  <a:srgbClr val="C8414C"/>
                </a:solidFill>
                <a:latin typeface="Calibri" pitchFamily="34" charset="0"/>
                <a:ea typeface="Calibri" pitchFamily="34" charset="-122"/>
                <a:cs typeface="Calibri" pitchFamily="34" charset="-120"/>
              </a:rPr>
              <a:t>Dry surfaces</a:t>
            </a:r>
            <a:endParaRPr lang="en-US" sz="1200" dirty="0"/>
          </a:p>
        </p:txBody>
      </p:sp>
      <p:sp>
        <p:nvSpPr>
          <p:cNvPr id="13" name="Shape 11"/>
          <p:cNvSpPr/>
          <p:nvPr/>
        </p:nvSpPr>
        <p:spPr>
          <a:xfrm>
            <a:off x="685800" y="1920240"/>
            <a:ext cx="2286000" cy="914400"/>
          </a:xfrm>
          <a:prstGeom prst="rect">
            <a:avLst/>
          </a:prstGeom>
          <a:solidFill>
            <a:srgbClr val="C9D5F2"/>
          </a:solidFill>
          <a:ln/>
        </p:spPr>
      </p:sp>
      <p:sp>
        <p:nvSpPr>
          <p:cNvPr id="14" name="Shape 12"/>
          <p:cNvSpPr/>
          <p:nvPr/>
        </p:nvSpPr>
        <p:spPr>
          <a:xfrm>
            <a:off x="685800" y="3017520"/>
            <a:ext cx="2286000" cy="1097280"/>
          </a:xfrm>
          <a:prstGeom prst="rect">
            <a:avLst/>
          </a:prstGeom>
          <a:solidFill>
            <a:srgbClr val="B0B7C6"/>
          </a:solidFill>
          <a:ln/>
        </p:spPr>
      </p:sp>
      <p:sp>
        <p:nvSpPr>
          <p:cNvPr id="15" name="Shape 13"/>
          <p:cNvSpPr/>
          <p:nvPr/>
        </p:nvSpPr>
        <p:spPr>
          <a:xfrm>
            <a:off x="685800" y="2834640"/>
            <a:ext cx="163286" cy="133936"/>
          </a:xfrm>
          <a:prstGeom prst="line">
            <a:avLst/>
          </a:prstGeom>
          <a:noFill/>
          <a:ln w="22225">
            <a:solidFill>
              <a:srgbClr val="1A2340"/>
            </a:solidFill>
            <a:prstDash val="solid"/>
          </a:ln>
        </p:spPr>
      </p:sp>
      <p:sp>
        <p:nvSpPr>
          <p:cNvPr id="16" name="Shape 14"/>
          <p:cNvSpPr/>
          <p:nvPr/>
        </p:nvSpPr>
        <p:spPr>
          <a:xfrm flipV="1">
            <a:off x="849086" y="2834640"/>
            <a:ext cx="163286" cy="133936"/>
          </a:xfrm>
          <a:prstGeom prst="line">
            <a:avLst/>
          </a:prstGeom>
          <a:noFill/>
          <a:ln w="22225">
            <a:solidFill>
              <a:srgbClr val="1A2340"/>
            </a:solidFill>
            <a:prstDash val="solid"/>
          </a:ln>
        </p:spPr>
      </p:sp>
      <p:sp>
        <p:nvSpPr>
          <p:cNvPr id="17" name="Shape 15"/>
          <p:cNvSpPr/>
          <p:nvPr/>
        </p:nvSpPr>
        <p:spPr>
          <a:xfrm>
            <a:off x="1012371" y="2834640"/>
            <a:ext cx="163286" cy="125613"/>
          </a:xfrm>
          <a:prstGeom prst="line">
            <a:avLst/>
          </a:prstGeom>
          <a:noFill/>
          <a:ln w="22225">
            <a:solidFill>
              <a:srgbClr val="1A2340"/>
            </a:solidFill>
            <a:prstDash val="solid"/>
          </a:ln>
        </p:spPr>
      </p:sp>
      <p:sp>
        <p:nvSpPr>
          <p:cNvPr id="18" name="Shape 16"/>
          <p:cNvSpPr/>
          <p:nvPr/>
        </p:nvSpPr>
        <p:spPr>
          <a:xfrm flipV="1">
            <a:off x="1175657" y="2834640"/>
            <a:ext cx="163286" cy="125613"/>
          </a:xfrm>
          <a:prstGeom prst="line">
            <a:avLst/>
          </a:prstGeom>
          <a:noFill/>
          <a:ln w="22225">
            <a:solidFill>
              <a:srgbClr val="1A2340"/>
            </a:solidFill>
            <a:prstDash val="solid"/>
          </a:ln>
        </p:spPr>
      </p:sp>
      <p:sp>
        <p:nvSpPr>
          <p:cNvPr id="19" name="Shape 17"/>
          <p:cNvSpPr/>
          <p:nvPr/>
        </p:nvSpPr>
        <p:spPr>
          <a:xfrm>
            <a:off x="1338943" y="2834640"/>
            <a:ext cx="163286" cy="178005"/>
          </a:xfrm>
          <a:prstGeom prst="line">
            <a:avLst/>
          </a:prstGeom>
          <a:noFill/>
          <a:ln w="22225">
            <a:solidFill>
              <a:srgbClr val="1A2340"/>
            </a:solidFill>
            <a:prstDash val="solid"/>
          </a:ln>
        </p:spPr>
      </p:sp>
      <p:sp>
        <p:nvSpPr>
          <p:cNvPr id="20" name="Shape 18"/>
          <p:cNvSpPr/>
          <p:nvPr/>
        </p:nvSpPr>
        <p:spPr>
          <a:xfrm flipV="1">
            <a:off x="1502229" y="2834640"/>
            <a:ext cx="163286" cy="178005"/>
          </a:xfrm>
          <a:prstGeom prst="line">
            <a:avLst/>
          </a:prstGeom>
          <a:noFill/>
          <a:ln w="22225">
            <a:solidFill>
              <a:srgbClr val="1A2340"/>
            </a:solidFill>
            <a:prstDash val="solid"/>
          </a:ln>
        </p:spPr>
      </p:sp>
      <p:sp>
        <p:nvSpPr>
          <p:cNvPr id="21" name="Shape 19"/>
          <p:cNvSpPr/>
          <p:nvPr/>
        </p:nvSpPr>
        <p:spPr>
          <a:xfrm>
            <a:off x="1665514" y="2834640"/>
            <a:ext cx="163286" cy="137809"/>
          </a:xfrm>
          <a:prstGeom prst="line">
            <a:avLst/>
          </a:prstGeom>
          <a:noFill/>
          <a:ln w="22225">
            <a:solidFill>
              <a:srgbClr val="1A2340"/>
            </a:solidFill>
            <a:prstDash val="solid"/>
          </a:ln>
        </p:spPr>
      </p:sp>
      <p:sp>
        <p:nvSpPr>
          <p:cNvPr id="22" name="Shape 20"/>
          <p:cNvSpPr/>
          <p:nvPr/>
        </p:nvSpPr>
        <p:spPr>
          <a:xfrm flipV="1">
            <a:off x="1828800" y="2834640"/>
            <a:ext cx="163286" cy="137809"/>
          </a:xfrm>
          <a:prstGeom prst="line">
            <a:avLst/>
          </a:prstGeom>
          <a:noFill/>
          <a:ln w="22225">
            <a:solidFill>
              <a:srgbClr val="1A2340"/>
            </a:solidFill>
            <a:prstDash val="solid"/>
          </a:ln>
        </p:spPr>
      </p:sp>
      <p:sp>
        <p:nvSpPr>
          <p:cNvPr id="23" name="Shape 21"/>
          <p:cNvSpPr/>
          <p:nvPr/>
        </p:nvSpPr>
        <p:spPr>
          <a:xfrm>
            <a:off x="1992086" y="2834640"/>
            <a:ext cx="163286" cy="157878"/>
          </a:xfrm>
          <a:prstGeom prst="line">
            <a:avLst/>
          </a:prstGeom>
          <a:noFill/>
          <a:ln w="22225">
            <a:solidFill>
              <a:srgbClr val="1A2340"/>
            </a:solidFill>
            <a:prstDash val="solid"/>
          </a:ln>
        </p:spPr>
      </p:sp>
      <p:sp>
        <p:nvSpPr>
          <p:cNvPr id="24" name="Shape 22"/>
          <p:cNvSpPr/>
          <p:nvPr/>
        </p:nvSpPr>
        <p:spPr>
          <a:xfrm flipV="1">
            <a:off x="2155371" y="2834640"/>
            <a:ext cx="163286" cy="157878"/>
          </a:xfrm>
          <a:prstGeom prst="line">
            <a:avLst/>
          </a:prstGeom>
          <a:noFill/>
          <a:ln w="22225">
            <a:solidFill>
              <a:srgbClr val="1A2340"/>
            </a:solidFill>
            <a:prstDash val="solid"/>
          </a:ln>
        </p:spPr>
      </p:sp>
      <p:sp>
        <p:nvSpPr>
          <p:cNvPr id="25" name="Shape 23"/>
          <p:cNvSpPr/>
          <p:nvPr/>
        </p:nvSpPr>
        <p:spPr>
          <a:xfrm>
            <a:off x="2318657" y="2834640"/>
            <a:ext cx="163286" cy="128256"/>
          </a:xfrm>
          <a:prstGeom prst="line">
            <a:avLst/>
          </a:prstGeom>
          <a:noFill/>
          <a:ln w="22225">
            <a:solidFill>
              <a:srgbClr val="1A2340"/>
            </a:solidFill>
            <a:prstDash val="solid"/>
          </a:ln>
        </p:spPr>
      </p:sp>
      <p:sp>
        <p:nvSpPr>
          <p:cNvPr id="26" name="Shape 24"/>
          <p:cNvSpPr/>
          <p:nvPr/>
        </p:nvSpPr>
        <p:spPr>
          <a:xfrm flipV="1">
            <a:off x="2481943" y="2834640"/>
            <a:ext cx="163286" cy="128256"/>
          </a:xfrm>
          <a:prstGeom prst="line">
            <a:avLst/>
          </a:prstGeom>
          <a:noFill/>
          <a:ln w="22225">
            <a:solidFill>
              <a:srgbClr val="1A2340"/>
            </a:solidFill>
            <a:prstDash val="solid"/>
          </a:ln>
        </p:spPr>
      </p:sp>
      <p:sp>
        <p:nvSpPr>
          <p:cNvPr id="27" name="Shape 25"/>
          <p:cNvSpPr/>
          <p:nvPr/>
        </p:nvSpPr>
        <p:spPr>
          <a:xfrm>
            <a:off x="2645229" y="2834640"/>
            <a:ext cx="163286" cy="180121"/>
          </a:xfrm>
          <a:prstGeom prst="line">
            <a:avLst/>
          </a:prstGeom>
          <a:noFill/>
          <a:ln w="22225">
            <a:solidFill>
              <a:srgbClr val="1A2340"/>
            </a:solidFill>
            <a:prstDash val="solid"/>
          </a:ln>
        </p:spPr>
      </p:sp>
      <p:sp>
        <p:nvSpPr>
          <p:cNvPr id="28" name="Shape 26"/>
          <p:cNvSpPr/>
          <p:nvPr/>
        </p:nvSpPr>
        <p:spPr>
          <a:xfrm flipV="1">
            <a:off x="2808514" y="2834640"/>
            <a:ext cx="163286" cy="180121"/>
          </a:xfrm>
          <a:prstGeom prst="line">
            <a:avLst/>
          </a:prstGeom>
          <a:noFill/>
          <a:ln w="22225">
            <a:solidFill>
              <a:srgbClr val="1A2340"/>
            </a:solidFill>
            <a:prstDash val="solid"/>
          </a:ln>
        </p:spPr>
      </p:sp>
      <p:sp>
        <p:nvSpPr>
          <p:cNvPr id="29" name="Shape 27"/>
          <p:cNvSpPr/>
          <p:nvPr/>
        </p:nvSpPr>
        <p:spPr>
          <a:xfrm flipV="1">
            <a:off x="685800" y="2871917"/>
            <a:ext cx="163286" cy="145603"/>
          </a:xfrm>
          <a:prstGeom prst="line">
            <a:avLst/>
          </a:prstGeom>
          <a:noFill/>
          <a:ln w="22225">
            <a:solidFill>
              <a:srgbClr val="1A2340"/>
            </a:solidFill>
            <a:prstDash val="solid"/>
          </a:ln>
        </p:spPr>
      </p:sp>
      <p:sp>
        <p:nvSpPr>
          <p:cNvPr id="30" name="Shape 28"/>
          <p:cNvSpPr/>
          <p:nvPr/>
        </p:nvSpPr>
        <p:spPr>
          <a:xfrm>
            <a:off x="849086" y="2871917"/>
            <a:ext cx="163286" cy="145603"/>
          </a:xfrm>
          <a:prstGeom prst="line">
            <a:avLst/>
          </a:prstGeom>
          <a:noFill/>
          <a:ln w="22225">
            <a:solidFill>
              <a:srgbClr val="1A2340"/>
            </a:solidFill>
            <a:prstDash val="solid"/>
          </a:ln>
        </p:spPr>
      </p:sp>
      <p:sp>
        <p:nvSpPr>
          <p:cNvPr id="31" name="Shape 29"/>
          <p:cNvSpPr/>
          <p:nvPr/>
        </p:nvSpPr>
        <p:spPr>
          <a:xfrm flipV="1">
            <a:off x="1012371" y="2866769"/>
            <a:ext cx="163286" cy="150751"/>
          </a:xfrm>
          <a:prstGeom prst="line">
            <a:avLst/>
          </a:prstGeom>
          <a:noFill/>
          <a:ln w="22225">
            <a:solidFill>
              <a:srgbClr val="1A2340"/>
            </a:solidFill>
            <a:prstDash val="solid"/>
          </a:ln>
        </p:spPr>
      </p:sp>
      <p:sp>
        <p:nvSpPr>
          <p:cNvPr id="32" name="Shape 30"/>
          <p:cNvSpPr/>
          <p:nvPr/>
        </p:nvSpPr>
        <p:spPr>
          <a:xfrm>
            <a:off x="1175657" y="2866769"/>
            <a:ext cx="163286" cy="150751"/>
          </a:xfrm>
          <a:prstGeom prst="line">
            <a:avLst/>
          </a:prstGeom>
          <a:noFill/>
          <a:ln w="22225">
            <a:solidFill>
              <a:srgbClr val="1A2340"/>
            </a:solidFill>
            <a:prstDash val="solid"/>
          </a:ln>
        </p:spPr>
      </p:sp>
      <p:sp>
        <p:nvSpPr>
          <p:cNvPr id="33" name="Shape 31"/>
          <p:cNvSpPr/>
          <p:nvPr/>
        </p:nvSpPr>
        <p:spPr>
          <a:xfrm flipV="1">
            <a:off x="1338943" y="2899345"/>
            <a:ext cx="163286" cy="118175"/>
          </a:xfrm>
          <a:prstGeom prst="line">
            <a:avLst/>
          </a:prstGeom>
          <a:noFill/>
          <a:ln w="22225">
            <a:solidFill>
              <a:srgbClr val="1A2340"/>
            </a:solidFill>
            <a:prstDash val="solid"/>
          </a:ln>
        </p:spPr>
      </p:sp>
      <p:sp>
        <p:nvSpPr>
          <p:cNvPr id="34" name="Shape 32"/>
          <p:cNvSpPr/>
          <p:nvPr/>
        </p:nvSpPr>
        <p:spPr>
          <a:xfrm>
            <a:off x="1502229" y="2899345"/>
            <a:ext cx="163286" cy="118175"/>
          </a:xfrm>
          <a:prstGeom prst="line">
            <a:avLst/>
          </a:prstGeom>
          <a:noFill/>
          <a:ln w="22225">
            <a:solidFill>
              <a:srgbClr val="1A2340"/>
            </a:solidFill>
            <a:prstDash val="solid"/>
          </a:ln>
        </p:spPr>
      </p:sp>
      <p:sp>
        <p:nvSpPr>
          <p:cNvPr id="35" name="Shape 33"/>
          <p:cNvSpPr/>
          <p:nvPr/>
        </p:nvSpPr>
        <p:spPr>
          <a:xfrm flipV="1">
            <a:off x="1665514" y="2889945"/>
            <a:ext cx="163286" cy="127575"/>
          </a:xfrm>
          <a:prstGeom prst="line">
            <a:avLst/>
          </a:prstGeom>
          <a:noFill/>
          <a:ln w="22225">
            <a:solidFill>
              <a:srgbClr val="1A2340"/>
            </a:solidFill>
            <a:prstDash val="solid"/>
          </a:ln>
        </p:spPr>
      </p:sp>
      <p:sp>
        <p:nvSpPr>
          <p:cNvPr id="36" name="Shape 34"/>
          <p:cNvSpPr/>
          <p:nvPr/>
        </p:nvSpPr>
        <p:spPr>
          <a:xfrm>
            <a:off x="1828800" y="2889945"/>
            <a:ext cx="163286" cy="127575"/>
          </a:xfrm>
          <a:prstGeom prst="line">
            <a:avLst/>
          </a:prstGeom>
          <a:noFill/>
          <a:ln w="22225">
            <a:solidFill>
              <a:srgbClr val="1A2340"/>
            </a:solidFill>
            <a:prstDash val="solid"/>
          </a:ln>
        </p:spPr>
      </p:sp>
      <p:sp>
        <p:nvSpPr>
          <p:cNvPr id="37" name="Shape 35"/>
          <p:cNvSpPr/>
          <p:nvPr/>
        </p:nvSpPr>
        <p:spPr>
          <a:xfrm flipV="1">
            <a:off x="1992086" y="2875370"/>
            <a:ext cx="163286" cy="142150"/>
          </a:xfrm>
          <a:prstGeom prst="line">
            <a:avLst/>
          </a:prstGeom>
          <a:noFill/>
          <a:ln w="22225">
            <a:solidFill>
              <a:srgbClr val="1A2340"/>
            </a:solidFill>
            <a:prstDash val="solid"/>
          </a:ln>
        </p:spPr>
      </p:sp>
      <p:sp>
        <p:nvSpPr>
          <p:cNvPr id="38" name="Shape 36"/>
          <p:cNvSpPr/>
          <p:nvPr/>
        </p:nvSpPr>
        <p:spPr>
          <a:xfrm>
            <a:off x="2155371" y="2875370"/>
            <a:ext cx="163286" cy="142150"/>
          </a:xfrm>
          <a:prstGeom prst="line">
            <a:avLst/>
          </a:prstGeom>
          <a:noFill/>
          <a:ln w="22225">
            <a:solidFill>
              <a:srgbClr val="1A2340"/>
            </a:solidFill>
            <a:prstDash val="solid"/>
          </a:ln>
        </p:spPr>
      </p:sp>
      <p:sp>
        <p:nvSpPr>
          <p:cNvPr id="39" name="Shape 37"/>
          <p:cNvSpPr/>
          <p:nvPr/>
        </p:nvSpPr>
        <p:spPr>
          <a:xfrm flipV="1">
            <a:off x="2318657" y="2870749"/>
            <a:ext cx="163286" cy="146771"/>
          </a:xfrm>
          <a:prstGeom prst="line">
            <a:avLst/>
          </a:prstGeom>
          <a:noFill/>
          <a:ln w="22225">
            <a:solidFill>
              <a:srgbClr val="1A2340"/>
            </a:solidFill>
            <a:prstDash val="solid"/>
          </a:ln>
        </p:spPr>
      </p:sp>
      <p:sp>
        <p:nvSpPr>
          <p:cNvPr id="40" name="Shape 38"/>
          <p:cNvSpPr/>
          <p:nvPr/>
        </p:nvSpPr>
        <p:spPr>
          <a:xfrm>
            <a:off x="2481943" y="2870749"/>
            <a:ext cx="163286" cy="146771"/>
          </a:xfrm>
          <a:prstGeom prst="line">
            <a:avLst/>
          </a:prstGeom>
          <a:noFill/>
          <a:ln w="22225">
            <a:solidFill>
              <a:srgbClr val="1A2340"/>
            </a:solidFill>
            <a:prstDash val="solid"/>
          </a:ln>
        </p:spPr>
      </p:sp>
      <p:sp>
        <p:nvSpPr>
          <p:cNvPr id="41" name="Shape 39"/>
          <p:cNvSpPr/>
          <p:nvPr/>
        </p:nvSpPr>
        <p:spPr>
          <a:xfrm flipV="1">
            <a:off x="2645229" y="2902045"/>
            <a:ext cx="163286" cy="115475"/>
          </a:xfrm>
          <a:prstGeom prst="line">
            <a:avLst/>
          </a:prstGeom>
          <a:noFill/>
          <a:ln w="22225">
            <a:solidFill>
              <a:srgbClr val="1A2340"/>
            </a:solidFill>
            <a:prstDash val="solid"/>
          </a:ln>
        </p:spPr>
      </p:sp>
      <p:sp>
        <p:nvSpPr>
          <p:cNvPr id="42" name="Shape 40"/>
          <p:cNvSpPr/>
          <p:nvPr/>
        </p:nvSpPr>
        <p:spPr>
          <a:xfrm>
            <a:off x="2808514" y="2902045"/>
            <a:ext cx="163286" cy="115475"/>
          </a:xfrm>
          <a:prstGeom prst="line">
            <a:avLst/>
          </a:prstGeom>
          <a:noFill/>
          <a:ln w="22225">
            <a:solidFill>
              <a:srgbClr val="1A2340"/>
            </a:solidFill>
            <a:prstDash val="solid"/>
          </a:ln>
        </p:spPr>
      </p:sp>
      <p:sp>
        <p:nvSpPr>
          <p:cNvPr id="43" name="Shape 41"/>
          <p:cNvSpPr/>
          <p:nvPr/>
        </p:nvSpPr>
        <p:spPr>
          <a:xfrm>
            <a:off x="1325880" y="2377440"/>
            <a:ext cx="1005840" cy="91"/>
          </a:xfrm>
          <a:prstGeom prst="line">
            <a:avLst/>
          </a:prstGeom>
          <a:noFill/>
          <a:ln w="31750">
            <a:solidFill>
              <a:srgbClr val="2E5BD8"/>
            </a:solidFill>
            <a:prstDash val="solid"/>
            <a:tailEnd type="triangle"/>
          </a:ln>
        </p:spPr>
      </p:sp>
      <p:sp>
        <p:nvSpPr>
          <p:cNvPr id="44" name="Text 42"/>
          <p:cNvSpPr/>
          <p:nvPr/>
        </p:nvSpPr>
        <p:spPr>
          <a:xfrm>
            <a:off x="594360" y="4526280"/>
            <a:ext cx="2468880" cy="256032"/>
          </a:xfrm>
          <a:prstGeom prst="rect">
            <a:avLst/>
          </a:prstGeom>
          <a:noFill/>
          <a:ln/>
        </p:spPr>
        <p:txBody>
          <a:bodyPr wrap="square" lIns="0" tIns="0" rIns="0" bIns="0" rtlCol="0" anchor="ctr"/>
          <a:lstStyle/>
          <a:p>
            <a:pPr algn="ctr" indent="0" marL="0">
              <a:buNone/>
            </a:pPr>
            <a:r>
              <a:rPr lang="en-US" sz="1050" b="1" dirty="0">
                <a:solidFill>
                  <a:srgbClr val="C8414C"/>
                </a:solidFill>
                <a:latin typeface="Calibri" pitchFamily="34" charset="0"/>
                <a:ea typeface="Calibri" pitchFamily="34" charset="-122"/>
                <a:cs typeface="Calibri" pitchFamily="34" charset="-120"/>
              </a:rPr>
              <a:t>bumps catch and rub</a:t>
            </a:r>
            <a:endParaRPr lang="en-US" sz="1050" dirty="0"/>
          </a:p>
        </p:txBody>
      </p:sp>
      <p:sp>
        <p:nvSpPr>
          <p:cNvPr id="45" name="Text 43"/>
          <p:cNvSpPr/>
          <p:nvPr/>
        </p:nvSpPr>
        <p:spPr>
          <a:xfrm>
            <a:off x="3337560" y="1371600"/>
            <a:ext cx="2468880" cy="256032"/>
          </a:xfrm>
          <a:prstGeom prst="rect">
            <a:avLst/>
          </a:prstGeom>
          <a:noFill/>
          <a:ln/>
        </p:spPr>
        <p:txBody>
          <a:bodyPr wrap="square" lIns="0" tIns="0" rIns="0" bIns="0" rtlCol="0" anchor="ctr"/>
          <a:lstStyle/>
          <a:p>
            <a:pPr algn="ctr" indent="0" marL="0">
              <a:buNone/>
            </a:pPr>
            <a:r>
              <a:rPr lang="en-US" sz="1200" b="1" dirty="0">
                <a:solidFill>
                  <a:srgbClr val="2E8B57"/>
                </a:solidFill>
                <a:latin typeface="Calibri" pitchFamily="34" charset="0"/>
                <a:ea typeface="Calibri" pitchFamily="34" charset="-122"/>
                <a:cs typeface="Calibri" pitchFamily="34" charset="-120"/>
              </a:rPr>
              <a:t>Lubricated</a:t>
            </a:r>
            <a:endParaRPr lang="en-US" sz="1200" dirty="0"/>
          </a:p>
        </p:txBody>
      </p:sp>
      <p:sp>
        <p:nvSpPr>
          <p:cNvPr id="46" name="Shape 44"/>
          <p:cNvSpPr/>
          <p:nvPr/>
        </p:nvSpPr>
        <p:spPr>
          <a:xfrm>
            <a:off x="3429000" y="1920240"/>
            <a:ext cx="2286000" cy="914400"/>
          </a:xfrm>
          <a:prstGeom prst="rect">
            <a:avLst/>
          </a:prstGeom>
          <a:solidFill>
            <a:srgbClr val="C9D5F2"/>
          </a:solidFill>
          <a:ln/>
        </p:spPr>
      </p:sp>
      <p:sp>
        <p:nvSpPr>
          <p:cNvPr id="47" name="Shape 45"/>
          <p:cNvSpPr/>
          <p:nvPr/>
        </p:nvSpPr>
        <p:spPr>
          <a:xfrm>
            <a:off x="3429000" y="3337560"/>
            <a:ext cx="2286000" cy="1097280"/>
          </a:xfrm>
          <a:prstGeom prst="rect">
            <a:avLst/>
          </a:prstGeom>
          <a:solidFill>
            <a:srgbClr val="B0B7C6"/>
          </a:solidFill>
          <a:ln/>
        </p:spPr>
      </p:sp>
      <p:sp>
        <p:nvSpPr>
          <p:cNvPr id="48" name="Shape 46"/>
          <p:cNvSpPr/>
          <p:nvPr/>
        </p:nvSpPr>
        <p:spPr>
          <a:xfrm>
            <a:off x="3429000" y="2834640"/>
            <a:ext cx="2286000" cy="502920"/>
          </a:xfrm>
          <a:prstGeom prst="rect">
            <a:avLst/>
          </a:prstGeom>
          <a:solidFill>
            <a:srgbClr val="F5C242">
              <a:alpha val="70000"/>
            </a:srgbClr>
          </a:solidFill>
          <a:ln/>
        </p:spPr>
      </p:sp>
      <p:sp>
        <p:nvSpPr>
          <p:cNvPr id="49" name="Shape 47"/>
          <p:cNvSpPr/>
          <p:nvPr/>
        </p:nvSpPr>
        <p:spPr>
          <a:xfrm>
            <a:off x="3429000" y="2834640"/>
            <a:ext cx="163286" cy="133936"/>
          </a:xfrm>
          <a:prstGeom prst="line">
            <a:avLst/>
          </a:prstGeom>
          <a:noFill/>
          <a:ln w="22225">
            <a:solidFill>
              <a:srgbClr val="1A2340"/>
            </a:solidFill>
            <a:prstDash val="solid"/>
          </a:ln>
        </p:spPr>
      </p:sp>
      <p:sp>
        <p:nvSpPr>
          <p:cNvPr id="50" name="Shape 48"/>
          <p:cNvSpPr/>
          <p:nvPr/>
        </p:nvSpPr>
        <p:spPr>
          <a:xfrm flipV="1">
            <a:off x="3592286" y="2834640"/>
            <a:ext cx="163286" cy="133936"/>
          </a:xfrm>
          <a:prstGeom prst="line">
            <a:avLst/>
          </a:prstGeom>
          <a:noFill/>
          <a:ln w="22225">
            <a:solidFill>
              <a:srgbClr val="1A2340"/>
            </a:solidFill>
            <a:prstDash val="solid"/>
          </a:ln>
        </p:spPr>
      </p:sp>
      <p:sp>
        <p:nvSpPr>
          <p:cNvPr id="51" name="Shape 49"/>
          <p:cNvSpPr/>
          <p:nvPr/>
        </p:nvSpPr>
        <p:spPr>
          <a:xfrm>
            <a:off x="3755571" y="2834640"/>
            <a:ext cx="163286" cy="125613"/>
          </a:xfrm>
          <a:prstGeom prst="line">
            <a:avLst/>
          </a:prstGeom>
          <a:noFill/>
          <a:ln w="22225">
            <a:solidFill>
              <a:srgbClr val="1A2340"/>
            </a:solidFill>
            <a:prstDash val="solid"/>
          </a:ln>
        </p:spPr>
      </p:sp>
      <p:sp>
        <p:nvSpPr>
          <p:cNvPr id="52" name="Shape 50"/>
          <p:cNvSpPr/>
          <p:nvPr/>
        </p:nvSpPr>
        <p:spPr>
          <a:xfrm flipV="1">
            <a:off x="3918857" y="2834640"/>
            <a:ext cx="163286" cy="125613"/>
          </a:xfrm>
          <a:prstGeom prst="line">
            <a:avLst/>
          </a:prstGeom>
          <a:noFill/>
          <a:ln w="22225">
            <a:solidFill>
              <a:srgbClr val="1A2340"/>
            </a:solidFill>
            <a:prstDash val="solid"/>
          </a:ln>
        </p:spPr>
      </p:sp>
      <p:sp>
        <p:nvSpPr>
          <p:cNvPr id="53" name="Shape 51"/>
          <p:cNvSpPr/>
          <p:nvPr/>
        </p:nvSpPr>
        <p:spPr>
          <a:xfrm>
            <a:off x="4082143" y="2834640"/>
            <a:ext cx="163286" cy="178005"/>
          </a:xfrm>
          <a:prstGeom prst="line">
            <a:avLst/>
          </a:prstGeom>
          <a:noFill/>
          <a:ln w="22225">
            <a:solidFill>
              <a:srgbClr val="1A2340"/>
            </a:solidFill>
            <a:prstDash val="solid"/>
          </a:ln>
        </p:spPr>
      </p:sp>
      <p:sp>
        <p:nvSpPr>
          <p:cNvPr id="54" name="Shape 52"/>
          <p:cNvSpPr/>
          <p:nvPr/>
        </p:nvSpPr>
        <p:spPr>
          <a:xfrm flipV="1">
            <a:off x="4245429" y="2834640"/>
            <a:ext cx="163286" cy="178005"/>
          </a:xfrm>
          <a:prstGeom prst="line">
            <a:avLst/>
          </a:prstGeom>
          <a:noFill/>
          <a:ln w="22225">
            <a:solidFill>
              <a:srgbClr val="1A2340"/>
            </a:solidFill>
            <a:prstDash val="solid"/>
          </a:ln>
        </p:spPr>
      </p:sp>
      <p:sp>
        <p:nvSpPr>
          <p:cNvPr id="55" name="Shape 53"/>
          <p:cNvSpPr/>
          <p:nvPr/>
        </p:nvSpPr>
        <p:spPr>
          <a:xfrm>
            <a:off x="4408714" y="2834640"/>
            <a:ext cx="163286" cy="137809"/>
          </a:xfrm>
          <a:prstGeom prst="line">
            <a:avLst/>
          </a:prstGeom>
          <a:noFill/>
          <a:ln w="22225">
            <a:solidFill>
              <a:srgbClr val="1A2340"/>
            </a:solidFill>
            <a:prstDash val="solid"/>
          </a:ln>
        </p:spPr>
      </p:sp>
      <p:sp>
        <p:nvSpPr>
          <p:cNvPr id="56" name="Shape 54"/>
          <p:cNvSpPr/>
          <p:nvPr/>
        </p:nvSpPr>
        <p:spPr>
          <a:xfrm flipV="1">
            <a:off x="4572000" y="2834640"/>
            <a:ext cx="163286" cy="137809"/>
          </a:xfrm>
          <a:prstGeom prst="line">
            <a:avLst/>
          </a:prstGeom>
          <a:noFill/>
          <a:ln w="22225">
            <a:solidFill>
              <a:srgbClr val="1A2340"/>
            </a:solidFill>
            <a:prstDash val="solid"/>
          </a:ln>
        </p:spPr>
      </p:sp>
      <p:sp>
        <p:nvSpPr>
          <p:cNvPr id="57" name="Shape 55"/>
          <p:cNvSpPr/>
          <p:nvPr/>
        </p:nvSpPr>
        <p:spPr>
          <a:xfrm>
            <a:off x="4735286" y="2834640"/>
            <a:ext cx="163286" cy="157878"/>
          </a:xfrm>
          <a:prstGeom prst="line">
            <a:avLst/>
          </a:prstGeom>
          <a:noFill/>
          <a:ln w="22225">
            <a:solidFill>
              <a:srgbClr val="1A2340"/>
            </a:solidFill>
            <a:prstDash val="solid"/>
          </a:ln>
        </p:spPr>
      </p:sp>
      <p:sp>
        <p:nvSpPr>
          <p:cNvPr id="58" name="Shape 56"/>
          <p:cNvSpPr/>
          <p:nvPr/>
        </p:nvSpPr>
        <p:spPr>
          <a:xfrm flipV="1">
            <a:off x="4898571" y="2834640"/>
            <a:ext cx="163286" cy="157878"/>
          </a:xfrm>
          <a:prstGeom prst="line">
            <a:avLst/>
          </a:prstGeom>
          <a:noFill/>
          <a:ln w="22225">
            <a:solidFill>
              <a:srgbClr val="1A2340"/>
            </a:solidFill>
            <a:prstDash val="solid"/>
          </a:ln>
        </p:spPr>
      </p:sp>
      <p:sp>
        <p:nvSpPr>
          <p:cNvPr id="59" name="Shape 57"/>
          <p:cNvSpPr/>
          <p:nvPr/>
        </p:nvSpPr>
        <p:spPr>
          <a:xfrm>
            <a:off x="5061857" y="2834640"/>
            <a:ext cx="163286" cy="128256"/>
          </a:xfrm>
          <a:prstGeom prst="line">
            <a:avLst/>
          </a:prstGeom>
          <a:noFill/>
          <a:ln w="22225">
            <a:solidFill>
              <a:srgbClr val="1A2340"/>
            </a:solidFill>
            <a:prstDash val="solid"/>
          </a:ln>
        </p:spPr>
      </p:sp>
      <p:sp>
        <p:nvSpPr>
          <p:cNvPr id="60" name="Shape 58"/>
          <p:cNvSpPr/>
          <p:nvPr/>
        </p:nvSpPr>
        <p:spPr>
          <a:xfrm flipV="1">
            <a:off x="5225143" y="2834640"/>
            <a:ext cx="163286" cy="128256"/>
          </a:xfrm>
          <a:prstGeom prst="line">
            <a:avLst/>
          </a:prstGeom>
          <a:noFill/>
          <a:ln w="22225">
            <a:solidFill>
              <a:srgbClr val="1A2340"/>
            </a:solidFill>
            <a:prstDash val="solid"/>
          </a:ln>
        </p:spPr>
      </p:sp>
      <p:sp>
        <p:nvSpPr>
          <p:cNvPr id="61" name="Shape 59"/>
          <p:cNvSpPr/>
          <p:nvPr/>
        </p:nvSpPr>
        <p:spPr>
          <a:xfrm>
            <a:off x="5388429" y="2834640"/>
            <a:ext cx="163286" cy="180121"/>
          </a:xfrm>
          <a:prstGeom prst="line">
            <a:avLst/>
          </a:prstGeom>
          <a:noFill/>
          <a:ln w="22225">
            <a:solidFill>
              <a:srgbClr val="1A2340"/>
            </a:solidFill>
            <a:prstDash val="solid"/>
          </a:ln>
        </p:spPr>
      </p:sp>
      <p:sp>
        <p:nvSpPr>
          <p:cNvPr id="62" name="Shape 60"/>
          <p:cNvSpPr/>
          <p:nvPr/>
        </p:nvSpPr>
        <p:spPr>
          <a:xfrm flipV="1">
            <a:off x="5551714" y="2834640"/>
            <a:ext cx="163286" cy="180121"/>
          </a:xfrm>
          <a:prstGeom prst="line">
            <a:avLst/>
          </a:prstGeom>
          <a:noFill/>
          <a:ln w="22225">
            <a:solidFill>
              <a:srgbClr val="1A2340"/>
            </a:solidFill>
            <a:prstDash val="solid"/>
          </a:ln>
        </p:spPr>
      </p:sp>
      <p:sp>
        <p:nvSpPr>
          <p:cNvPr id="63" name="Shape 61"/>
          <p:cNvSpPr/>
          <p:nvPr/>
        </p:nvSpPr>
        <p:spPr>
          <a:xfrm flipV="1">
            <a:off x="3429000" y="3191957"/>
            <a:ext cx="163286" cy="145603"/>
          </a:xfrm>
          <a:prstGeom prst="line">
            <a:avLst/>
          </a:prstGeom>
          <a:noFill/>
          <a:ln w="22225">
            <a:solidFill>
              <a:srgbClr val="1A2340"/>
            </a:solidFill>
            <a:prstDash val="solid"/>
          </a:ln>
        </p:spPr>
      </p:sp>
      <p:sp>
        <p:nvSpPr>
          <p:cNvPr id="64" name="Shape 62"/>
          <p:cNvSpPr/>
          <p:nvPr/>
        </p:nvSpPr>
        <p:spPr>
          <a:xfrm>
            <a:off x="3592286" y="3191957"/>
            <a:ext cx="163286" cy="145603"/>
          </a:xfrm>
          <a:prstGeom prst="line">
            <a:avLst/>
          </a:prstGeom>
          <a:noFill/>
          <a:ln w="22225">
            <a:solidFill>
              <a:srgbClr val="1A2340"/>
            </a:solidFill>
            <a:prstDash val="solid"/>
          </a:ln>
        </p:spPr>
      </p:sp>
      <p:sp>
        <p:nvSpPr>
          <p:cNvPr id="65" name="Shape 63"/>
          <p:cNvSpPr/>
          <p:nvPr/>
        </p:nvSpPr>
        <p:spPr>
          <a:xfrm flipV="1">
            <a:off x="3755571" y="3186809"/>
            <a:ext cx="163286" cy="150751"/>
          </a:xfrm>
          <a:prstGeom prst="line">
            <a:avLst/>
          </a:prstGeom>
          <a:noFill/>
          <a:ln w="22225">
            <a:solidFill>
              <a:srgbClr val="1A2340"/>
            </a:solidFill>
            <a:prstDash val="solid"/>
          </a:ln>
        </p:spPr>
      </p:sp>
      <p:sp>
        <p:nvSpPr>
          <p:cNvPr id="66" name="Shape 64"/>
          <p:cNvSpPr/>
          <p:nvPr/>
        </p:nvSpPr>
        <p:spPr>
          <a:xfrm>
            <a:off x="3918857" y="3186809"/>
            <a:ext cx="163286" cy="150751"/>
          </a:xfrm>
          <a:prstGeom prst="line">
            <a:avLst/>
          </a:prstGeom>
          <a:noFill/>
          <a:ln w="22225">
            <a:solidFill>
              <a:srgbClr val="1A2340"/>
            </a:solidFill>
            <a:prstDash val="solid"/>
          </a:ln>
        </p:spPr>
      </p:sp>
      <p:sp>
        <p:nvSpPr>
          <p:cNvPr id="67" name="Shape 65"/>
          <p:cNvSpPr/>
          <p:nvPr/>
        </p:nvSpPr>
        <p:spPr>
          <a:xfrm flipV="1">
            <a:off x="4082143" y="3219385"/>
            <a:ext cx="163286" cy="118175"/>
          </a:xfrm>
          <a:prstGeom prst="line">
            <a:avLst/>
          </a:prstGeom>
          <a:noFill/>
          <a:ln w="22225">
            <a:solidFill>
              <a:srgbClr val="1A2340"/>
            </a:solidFill>
            <a:prstDash val="solid"/>
          </a:ln>
        </p:spPr>
      </p:sp>
      <p:sp>
        <p:nvSpPr>
          <p:cNvPr id="68" name="Shape 66"/>
          <p:cNvSpPr/>
          <p:nvPr/>
        </p:nvSpPr>
        <p:spPr>
          <a:xfrm>
            <a:off x="4245429" y="3219385"/>
            <a:ext cx="163286" cy="118175"/>
          </a:xfrm>
          <a:prstGeom prst="line">
            <a:avLst/>
          </a:prstGeom>
          <a:noFill/>
          <a:ln w="22225">
            <a:solidFill>
              <a:srgbClr val="1A2340"/>
            </a:solidFill>
            <a:prstDash val="solid"/>
          </a:ln>
        </p:spPr>
      </p:sp>
      <p:sp>
        <p:nvSpPr>
          <p:cNvPr id="69" name="Shape 67"/>
          <p:cNvSpPr/>
          <p:nvPr/>
        </p:nvSpPr>
        <p:spPr>
          <a:xfrm flipV="1">
            <a:off x="4408714" y="3209985"/>
            <a:ext cx="163286" cy="127575"/>
          </a:xfrm>
          <a:prstGeom prst="line">
            <a:avLst/>
          </a:prstGeom>
          <a:noFill/>
          <a:ln w="22225">
            <a:solidFill>
              <a:srgbClr val="1A2340"/>
            </a:solidFill>
            <a:prstDash val="solid"/>
          </a:ln>
        </p:spPr>
      </p:sp>
      <p:sp>
        <p:nvSpPr>
          <p:cNvPr id="70" name="Shape 68"/>
          <p:cNvSpPr/>
          <p:nvPr/>
        </p:nvSpPr>
        <p:spPr>
          <a:xfrm>
            <a:off x="4572000" y="3209985"/>
            <a:ext cx="163286" cy="127575"/>
          </a:xfrm>
          <a:prstGeom prst="line">
            <a:avLst/>
          </a:prstGeom>
          <a:noFill/>
          <a:ln w="22225">
            <a:solidFill>
              <a:srgbClr val="1A2340"/>
            </a:solidFill>
            <a:prstDash val="solid"/>
          </a:ln>
        </p:spPr>
      </p:sp>
      <p:sp>
        <p:nvSpPr>
          <p:cNvPr id="71" name="Shape 69"/>
          <p:cNvSpPr/>
          <p:nvPr/>
        </p:nvSpPr>
        <p:spPr>
          <a:xfrm flipV="1">
            <a:off x="4735286" y="3195410"/>
            <a:ext cx="163286" cy="142150"/>
          </a:xfrm>
          <a:prstGeom prst="line">
            <a:avLst/>
          </a:prstGeom>
          <a:noFill/>
          <a:ln w="22225">
            <a:solidFill>
              <a:srgbClr val="1A2340"/>
            </a:solidFill>
            <a:prstDash val="solid"/>
          </a:ln>
        </p:spPr>
      </p:sp>
      <p:sp>
        <p:nvSpPr>
          <p:cNvPr id="72" name="Shape 70"/>
          <p:cNvSpPr/>
          <p:nvPr/>
        </p:nvSpPr>
        <p:spPr>
          <a:xfrm>
            <a:off x="4898571" y="3195410"/>
            <a:ext cx="163286" cy="142150"/>
          </a:xfrm>
          <a:prstGeom prst="line">
            <a:avLst/>
          </a:prstGeom>
          <a:noFill/>
          <a:ln w="22225">
            <a:solidFill>
              <a:srgbClr val="1A2340"/>
            </a:solidFill>
            <a:prstDash val="solid"/>
          </a:ln>
        </p:spPr>
      </p:sp>
      <p:sp>
        <p:nvSpPr>
          <p:cNvPr id="73" name="Shape 71"/>
          <p:cNvSpPr/>
          <p:nvPr/>
        </p:nvSpPr>
        <p:spPr>
          <a:xfrm flipV="1">
            <a:off x="5061857" y="3190789"/>
            <a:ext cx="163286" cy="146771"/>
          </a:xfrm>
          <a:prstGeom prst="line">
            <a:avLst/>
          </a:prstGeom>
          <a:noFill/>
          <a:ln w="22225">
            <a:solidFill>
              <a:srgbClr val="1A2340"/>
            </a:solidFill>
            <a:prstDash val="solid"/>
          </a:ln>
        </p:spPr>
      </p:sp>
      <p:sp>
        <p:nvSpPr>
          <p:cNvPr id="74" name="Shape 72"/>
          <p:cNvSpPr/>
          <p:nvPr/>
        </p:nvSpPr>
        <p:spPr>
          <a:xfrm>
            <a:off x="5225143" y="3190789"/>
            <a:ext cx="163286" cy="146771"/>
          </a:xfrm>
          <a:prstGeom prst="line">
            <a:avLst/>
          </a:prstGeom>
          <a:noFill/>
          <a:ln w="22225">
            <a:solidFill>
              <a:srgbClr val="1A2340"/>
            </a:solidFill>
            <a:prstDash val="solid"/>
          </a:ln>
        </p:spPr>
      </p:sp>
      <p:sp>
        <p:nvSpPr>
          <p:cNvPr id="75" name="Shape 73"/>
          <p:cNvSpPr/>
          <p:nvPr/>
        </p:nvSpPr>
        <p:spPr>
          <a:xfrm flipV="1">
            <a:off x="5388429" y="3222085"/>
            <a:ext cx="163286" cy="115475"/>
          </a:xfrm>
          <a:prstGeom prst="line">
            <a:avLst/>
          </a:prstGeom>
          <a:noFill/>
          <a:ln w="22225">
            <a:solidFill>
              <a:srgbClr val="1A2340"/>
            </a:solidFill>
            <a:prstDash val="solid"/>
          </a:ln>
        </p:spPr>
      </p:sp>
      <p:sp>
        <p:nvSpPr>
          <p:cNvPr id="76" name="Shape 74"/>
          <p:cNvSpPr/>
          <p:nvPr/>
        </p:nvSpPr>
        <p:spPr>
          <a:xfrm>
            <a:off x="5551714" y="3222085"/>
            <a:ext cx="163286" cy="115475"/>
          </a:xfrm>
          <a:prstGeom prst="line">
            <a:avLst/>
          </a:prstGeom>
          <a:noFill/>
          <a:ln w="22225">
            <a:solidFill>
              <a:srgbClr val="1A2340"/>
            </a:solidFill>
            <a:prstDash val="solid"/>
          </a:ln>
        </p:spPr>
      </p:sp>
      <p:sp>
        <p:nvSpPr>
          <p:cNvPr id="77" name="Shape 75"/>
          <p:cNvSpPr/>
          <p:nvPr/>
        </p:nvSpPr>
        <p:spPr>
          <a:xfrm>
            <a:off x="4069080" y="2377440"/>
            <a:ext cx="1005840" cy="91"/>
          </a:xfrm>
          <a:prstGeom prst="line">
            <a:avLst/>
          </a:prstGeom>
          <a:noFill/>
          <a:ln w="31750">
            <a:solidFill>
              <a:srgbClr val="2E5BD8"/>
            </a:solidFill>
            <a:prstDash val="solid"/>
            <a:tailEnd type="triangle"/>
          </a:ln>
        </p:spPr>
      </p:sp>
      <p:sp>
        <p:nvSpPr>
          <p:cNvPr id="78" name="Text 76"/>
          <p:cNvSpPr/>
          <p:nvPr/>
        </p:nvSpPr>
        <p:spPr>
          <a:xfrm>
            <a:off x="3337560" y="4526280"/>
            <a:ext cx="2468880" cy="256032"/>
          </a:xfrm>
          <a:prstGeom prst="rect">
            <a:avLst/>
          </a:prstGeom>
          <a:noFill/>
          <a:ln/>
        </p:spPr>
        <p:txBody>
          <a:bodyPr wrap="square" lIns="0" tIns="0" rIns="0" bIns="0" rtlCol="0" anchor="ctr"/>
          <a:lstStyle/>
          <a:p>
            <a:pPr algn="ctr" indent="0" marL="0">
              <a:buNone/>
            </a:pPr>
            <a:r>
              <a:rPr lang="en-US" sz="1050" b="1" dirty="0">
                <a:solidFill>
                  <a:srgbClr val="2E8B57"/>
                </a:solidFill>
                <a:latin typeface="Calibri" pitchFamily="34" charset="0"/>
                <a:ea typeface="Calibri" pitchFamily="34" charset="-122"/>
                <a:cs typeface="Calibri" pitchFamily="34" charset="-120"/>
              </a:rPr>
              <a:t>oil keeps the surfaces apart</a:t>
            </a:r>
            <a:endParaRPr lang="en-US" sz="1050" dirty="0"/>
          </a:p>
        </p:txBody>
      </p:sp>
      <p:sp>
        <p:nvSpPr>
          <p:cNvPr id="79" name="Text 77"/>
          <p:cNvSpPr/>
          <p:nvPr/>
        </p:nvSpPr>
        <p:spPr>
          <a:xfrm>
            <a:off x="3429000" y="4069080"/>
            <a:ext cx="2286000" cy="256032"/>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yellow layer = oil</a:t>
            </a:r>
            <a:endParaRPr lang="en-US" sz="1050" dirty="0"/>
          </a:p>
        </p:txBody>
      </p:sp>
      <p:sp>
        <p:nvSpPr>
          <p:cNvPr id="80" name="Shape 78"/>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81" name="Text 79"/>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Why lubricate?</a:t>
            </a:r>
            <a:endParaRPr lang="en-US" sz="1300" dirty="0"/>
          </a:p>
        </p:txBody>
      </p:sp>
      <p:sp>
        <p:nvSpPr>
          <p:cNvPr id="82" name="Text 80"/>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Friction</a:t>
            </a:r>
            <a:r>
              <a:rPr lang="en-US" sz="1150" dirty="0">
                <a:solidFill>
                  <a:srgbClr val="262B3A"/>
                </a:solidFill>
                <a:latin typeface="Calibri" pitchFamily="34" charset="0"/>
                <a:ea typeface="Calibri" pitchFamily="34" charset="-122"/>
                <a:cs typeface="Calibri" pitchFamily="34" charset="-120"/>
              </a:rPr>
              <a:t> opposes motion when surfaces slide. Work done against friction </a:t>
            </a:r>
            <a:r>
              <a:rPr lang="en-US" sz="1150" b="1" dirty="0">
                <a:solidFill>
                  <a:srgbClr val="262B3A"/>
                </a:solidFill>
                <a:latin typeface="Calibri" pitchFamily="34" charset="0"/>
                <a:ea typeface="Calibri" pitchFamily="34" charset="-122"/>
                <a:cs typeface="Calibri" pitchFamily="34" charset="-120"/>
              </a:rPr>
              <a:t>heats</a:t>
            </a:r>
            <a:r>
              <a:rPr lang="en-US" sz="1150" dirty="0">
                <a:solidFill>
                  <a:srgbClr val="262B3A"/>
                </a:solidFill>
                <a:latin typeface="Calibri" pitchFamily="34" charset="0"/>
                <a:ea typeface="Calibri" pitchFamily="34" charset="-122"/>
                <a:cs typeface="Calibri" pitchFamily="34" charset="-120"/>
              </a:rPr>
              <a:t> the surfaces.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This energy is </a:t>
            </a:r>
            <a:r>
              <a:rPr lang="en-US" sz="1150" b="1" dirty="0">
                <a:solidFill>
                  <a:srgbClr val="262B3A"/>
                </a:solidFill>
                <a:latin typeface="Calibri" pitchFamily="34" charset="0"/>
                <a:ea typeface="Calibri" pitchFamily="34" charset="-122"/>
                <a:cs typeface="Calibri" pitchFamily="34" charset="-120"/>
              </a:rPr>
              <a:t>dissipated</a:t>
            </a:r>
            <a:r>
              <a:rPr lang="en-US" sz="1150" dirty="0">
                <a:solidFill>
                  <a:srgbClr val="262B3A"/>
                </a:solidFill>
                <a:latin typeface="Calibri" pitchFamily="34" charset="0"/>
                <a:ea typeface="Calibri" pitchFamily="34" charset="-122"/>
                <a:cs typeface="Calibri" pitchFamily="34" charset="-120"/>
              </a:rPr>
              <a:t> to the thermal store of the surroundings – an </a:t>
            </a:r>
            <a:r>
              <a:rPr lang="en-US" sz="1150" b="1" dirty="0">
                <a:solidFill>
                  <a:srgbClr val="262B3A"/>
                </a:solidFill>
                <a:latin typeface="Calibri" pitchFamily="34" charset="0"/>
                <a:ea typeface="Calibri" pitchFamily="34" charset="-122"/>
                <a:cs typeface="Calibri" pitchFamily="34" charset="-120"/>
              </a:rPr>
              <a:t>unwanted</a:t>
            </a:r>
            <a:r>
              <a:rPr lang="en-US" sz="1150" dirty="0">
                <a:solidFill>
                  <a:srgbClr val="262B3A"/>
                </a:solidFill>
                <a:latin typeface="Calibri" pitchFamily="34" charset="0"/>
                <a:ea typeface="Calibri" pitchFamily="34" charset="-122"/>
                <a:cs typeface="Calibri" pitchFamily="34" charset="-120"/>
              </a:rPr>
              <a:t> energy transfer. It also causes </a:t>
            </a:r>
            <a:r>
              <a:rPr lang="en-US" sz="1150" b="1" dirty="0">
                <a:solidFill>
                  <a:srgbClr val="262B3A"/>
                </a:solidFill>
                <a:latin typeface="Calibri" pitchFamily="34" charset="0"/>
                <a:ea typeface="Calibri" pitchFamily="34" charset="-122"/>
                <a:cs typeface="Calibri" pitchFamily="34" charset="-120"/>
              </a:rPr>
              <a:t>wear</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a:t>
            </a:r>
            <a:r>
              <a:rPr lang="en-US" sz="1150" b="1" dirty="0">
                <a:solidFill>
                  <a:srgbClr val="262B3A"/>
                </a:solidFill>
                <a:latin typeface="Calibri" pitchFamily="34" charset="0"/>
                <a:ea typeface="Calibri" pitchFamily="34" charset="-122"/>
                <a:cs typeface="Calibri" pitchFamily="34" charset="-120"/>
              </a:rPr>
              <a:t>lubricant</a:t>
            </a:r>
            <a:r>
              <a:rPr lang="en-US" sz="1150" dirty="0">
                <a:solidFill>
                  <a:srgbClr val="262B3A"/>
                </a:solidFill>
                <a:latin typeface="Calibri" pitchFamily="34" charset="0"/>
                <a:ea typeface="Calibri" pitchFamily="34" charset="-122"/>
                <a:cs typeface="Calibri" pitchFamily="34" charset="-120"/>
              </a:rPr>
              <a:t> (oil, grease) forms a thin layer between surfaces, so they slide easily: </a:t>
            </a:r>
            <a:r>
              <a:rPr lang="en-US" sz="1150" b="1" dirty="0">
                <a:solidFill>
                  <a:srgbClr val="262B3A"/>
                </a:solidFill>
                <a:latin typeface="Calibri" pitchFamily="34" charset="0"/>
                <a:ea typeface="Calibri" pitchFamily="34" charset="-122"/>
                <a:cs typeface="Calibri" pitchFamily="34" charset="-120"/>
              </a:rPr>
              <a:t>less friction</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Less friction → less energy wasted → </a:t>
            </a:r>
            <a:r>
              <a:rPr lang="en-US" sz="1150" b="1" dirty="0">
                <a:solidFill>
                  <a:srgbClr val="262B3A"/>
                </a:solidFill>
                <a:latin typeface="Calibri" pitchFamily="34" charset="0"/>
                <a:ea typeface="Calibri" pitchFamily="34" charset="-122"/>
                <a:cs typeface="Calibri" pitchFamily="34" charset="-120"/>
              </a:rPr>
              <a:t>higher efficiency</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83" name="Shape 81"/>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84" name="Text 82"/>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85" name="Text 83"/>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 motor is supplied with 500 J. Friction wastes 150 J. After oiling, it wastes 50 J. Compare the efficiencies.</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Before   </a:t>
            </a:r>
            <a:r>
              <a:rPr lang="en-US" sz="1050" dirty="0">
                <a:solidFill>
                  <a:srgbClr val="262B3A"/>
                </a:solidFill>
                <a:latin typeface="Calibri" pitchFamily="34" charset="0"/>
                <a:ea typeface="Calibri" pitchFamily="34" charset="-122"/>
                <a:cs typeface="Calibri" pitchFamily="34" charset="-120"/>
              </a:rPr>
              <a:t>useful = 350 J; efficiency = 350 ÷ 500 = 0.70</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After   </a:t>
            </a:r>
            <a:r>
              <a:rPr lang="en-US" sz="1050" dirty="0">
                <a:solidFill>
                  <a:srgbClr val="262B3A"/>
                </a:solidFill>
                <a:latin typeface="Calibri" pitchFamily="34" charset="0"/>
                <a:ea typeface="Calibri" pitchFamily="34" charset="-122"/>
                <a:cs typeface="Calibri" pitchFamily="34" charset="-120"/>
              </a:rPr>
              <a:t>useful = 450 J; efficiency = 450 ÷ 500 = 0.90</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Change   </a:t>
            </a:r>
            <a:r>
              <a:rPr lang="en-US" sz="1050" dirty="0">
                <a:solidFill>
                  <a:srgbClr val="262B3A"/>
                </a:solidFill>
                <a:latin typeface="Calibri" pitchFamily="34" charset="0"/>
                <a:ea typeface="Calibri" pitchFamily="34" charset="-122"/>
                <a:cs typeface="Calibri" pitchFamily="34" charset="-120"/>
              </a:rPr>
              <a:t>70% → 90%</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lubrication raises the efficiency by 20 percentage points</a:t>
            </a:r>
            <a:endParaRPr lang="en-US" sz="1050" dirty="0"/>
          </a:p>
        </p:txBody>
      </p:sp>
      <p:sp>
        <p:nvSpPr>
          <p:cNvPr id="86" name="Shape 84"/>
          <p:cNvSpPr/>
          <p:nvPr/>
        </p:nvSpPr>
        <p:spPr>
          <a:xfrm>
            <a:off x="411480" y="5833872"/>
            <a:ext cx="11368735" cy="530352"/>
          </a:xfrm>
          <a:prstGeom prst="rect">
            <a:avLst/>
          </a:prstGeom>
          <a:solidFill>
            <a:srgbClr val="FFF4E0"/>
          </a:solidFill>
          <a:ln w="6350">
            <a:solidFill>
              <a:srgbClr val="F1D9A8"/>
            </a:solidFill>
            <a:prstDash val="solid"/>
          </a:ln>
        </p:spPr>
      </p:sp>
      <p:sp>
        <p:nvSpPr>
          <p:cNvPr id="87" name="Shape 85"/>
          <p:cNvSpPr/>
          <p:nvPr/>
        </p:nvSpPr>
        <p:spPr>
          <a:xfrm>
            <a:off x="411480" y="5833872"/>
            <a:ext cx="82296" cy="530352"/>
          </a:xfrm>
          <a:prstGeom prst="rect">
            <a:avLst/>
          </a:prstGeom>
          <a:solidFill>
            <a:srgbClr val="E39A2F"/>
          </a:solidFill>
          <a:ln w="12700">
            <a:solidFill>
              <a:srgbClr val="E39A2F"/>
            </a:solidFill>
            <a:prstDash val="solid"/>
          </a:ln>
        </p:spPr>
      </p:sp>
      <p:sp>
        <p:nvSpPr>
          <p:cNvPr id="88" name="Text 86"/>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Give two machines where lubrication is used to reduce friction, and one situation where friction is useful.</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7</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9.9P, 9.10P • levers, gears and lubrication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9 Forces and their effects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7  |  31</a:t>
            </a:r>
            <a:endParaRPr lang="en-US" sz="1000" dirty="0"/>
          </a:p>
        </p:txBody>
      </p:sp>
      <p:sp>
        <p:nvSpPr>
          <p:cNvPr id="8" name="Shape 6"/>
          <p:cNvSpPr/>
          <p:nvPr/>
        </p:nvSpPr>
        <p:spPr>
          <a:xfrm>
            <a:off x="411480" y="1207008"/>
            <a:ext cx="11368735" cy="1594104"/>
          </a:xfrm>
          <a:prstGeom prst="roundRect">
            <a:avLst>
              <a:gd name="adj" fmla="val 2868"/>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gardener uses a lever to lift a </a:t>
            </a:r>
            <a:r>
              <a:rPr lang="en-US" sz="1250" b="1" dirty="0">
                <a:solidFill>
                  <a:srgbClr val="262B3A"/>
                </a:solidFill>
                <a:latin typeface="Calibri" pitchFamily="34" charset="0"/>
                <a:ea typeface="Calibri" pitchFamily="34" charset="-122"/>
                <a:cs typeface="Calibri" pitchFamily="34" charset="-120"/>
              </a:rPr>
              <a:t>600 N</a:t>
            </a:r>
            <a:r>
              <a:rPr lang="en-US" sz="1250" dirty="0">
                <a:solidFill>
                  <a:srgbClr val="262B3A"/>
                </a:solidFill>
                <a:latin typeface="Calibri" pitchFamily="34" charset="0"/>
                <a:ea typeface="Calibri" pitchFamily="34" charset="-122"/>
                <a:cs typeface="Calibri" pitchFamily="34" charset="-120"/>
              </a:rPr>
              <a:t> rock </a:t>
            </a:r>
            <a:r>
              <a:rPr lang="en-US" sz="1250" b="1" dirty="0">
                <a:solidFill>
                  <a:srgbClr val="262B3A"/>
                </a:solidFill>
                <a:latin typeface="Calibri" pitchFamily="34" charset="0"/>
                <a:ea typeface="Calibri" pitchFamily="34" charset="-122"/>
                <a:cs typeface="Calibri" pitchFamily="34" charset="-120"/>
              </a:rPr>
              <a:t>0.20 m</a:t>
            </a:r>
            <a:r>
              <a:rPr lang="en-US" sz="1250" dirty="0">
                <a:solidFill>
                  <a:srgbClr val="262B3A"/>
                </a:solidFill>
                <a:latin typeface="Calibri" pitchFamily="34" charset="0"/>
                <a:ea typeface="Calibri" pitchFamily="34" charset="-122"/>
                <a:cs typeface="Calibri" pitchFamily="34" charset="-120"/>
              </a:rPr>
              <a:t> from the pivot. She pushes </a:t>
            </a:r>
            <a:r>
              <a:rPr lang="en-US" sz="1250" b="1" dirty="0">
                <a:solidFill>
                  <a:srgbClr val="262B3A"/>
                </a:solidFill>
                <a:latin typeface="Calibri" pitchFamily="34" charset="0"/>
                <a:ea typeface="Calibri" pitchFamily="34" charset="-122"/>
                <a:cs typeface="Calibri" pitchFamily="34" charset="-120"/>
              </a:rPr>
              <a:t>1.5 m</a:t>
            </a:r>
            <a:r>
              <a:rPr lang="en-US" sz="1250" dirty="0">
                <a:solidFill>
                  <a:srgbClr val="262B3A"/>
                </a:solidFill>
                <a:latin typeface="Calibri" pitchFamily="34" charset="0"/>
                <a:ea typeface="Calibri" pitchFamily="34" charset="-122"/>
                <a:cs typeface="Calibri" pitchFamily="34" charset="-120"/>
              </a:rPr>
              <a:t> from the pivot. Calculate the effort force needed.</a:t>
            </a:r>
            <a:endParaRPr lang="en-US" sz="1250" dirty="0"/>
          </a:p>
        </p:txBody>
      </p:sp>
      <p:sp>
        <p:nvSpPr>
          <p:cNvPr id="12" name="Text 10"/>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3" name="Shape 11"/>
          <p:cNvSpPr/>
          <p:nvPr/>
        </p:nvSpPr>
        <p:spPr>
          <a:xfrm>
            <a:off x="411480" y="2947416"/>
            <a:ext cx="11368735" cy="1594104"/>
          </a:xfrm>
          <a:prstGeom prst="roundRect">
            <a:avLst>
              <a:gd name="adj" fmla="val 2868"/>
            </a:avLst>
          </a:prstGeom>
          <a:solidFill>
            <a:srgbClr val="FFFFFF"/>
          </a:solidFill>
          <a:ln w="12700">
            <a:solidFill>
              <a:srgbClr val="D5DCEB"/>
            </a:solidFill>
            <a:prstDash val="solid"/>
          </a:ln>
        </p:spPr>
      </p:sp>
      <p:sp>
        <p:nvSpPr>
          <p:cNvPr id="14" name="Shape 12"/>
          <p:cNvSpPr/>
          <p:nvPr/>
        </p:nvSpPr>
        <p:spPr>
          <a:xfrm>
            <a:off x="411480" y="2947416"/>
            <a:ext cx="2103120" cy="292608"/>
          </a:xfrm>
          <a:prstGeom prst="rect">
            <a:avLst/>
          </a:prstGeom>
          <a:solidFill>
            <a:srgbClr val="F5A742"/>
          </a:solidFill>
          <a:ln w="12700">
            <a:solidFill>
              <a:srgbClr val="F5A742"/>
            </a:solidFill>
            <a:prstDash val="solid"/>
          </a:ln>
        </p:spPr>
      </p:sp>
      <p:sp>
        <p:nvSpPr>
          <p:cNvPr id="15" name="Text 13"/>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driver gear with </a:t>
            </a:r>
            <a:r>
              <a:rPr lang="en-US" sz="1250" b="1" dirty="0">
                <a:solidFill>
                  <a:srgbClr val="262B3A"/>
                </a:solidFill>
                <a:latin typeface="Calibri" pitchFamily="34" charset="0"/>
                <a:ea typeface="Calibri" pitchFamily="34" charset="-122"/>
                <a:cs typeface="Calibri" pitchFamily="34" charset="-120"/>
              </a:rPr>
              <a:t>10</a:t>
            </a:r>
            <a:r>
              <a:rPr lang="en-US" sz="1250" dirty="0">
                <a:solidFill>
                  <a:srgbClr val="262B3A"/>
                </a:solidFill>
                <a:latin typeface="Calibri" pitchFamily="34" charset="0"/>
                <a:ea typeface="Calibri" pitchFamily="34" charset="-122"/>
                <a:cs typeface="Calibri" pitchFamily="34" charset="-120"/>
              </a:rPr>
              <a:t> teeth turns a gear with </a:t>
            </a:r>
            <a:r>
              <a:rPr lang="en-US" sz="1250" b="1" dirty="0">
                <a:solidFill>
                  <a:srgbClr val="262B3A"/>
                </a:solidFill>
                <a:latin typeface="Calibri" pitchFamily="34" charset="0"/>
                <a:ea typeface="Calibri" pitchFamily="34" charset="-122"/>
                <a:cs typeface="Calibri" pitchFamily="34" charset="-120"/>
              </a:rPr>
              <a:t>30</a:t>
            </a:r>
            <a:r>
              <a:rPr lang="en-US" sz="1250" dirty="0">
                <a:solidFill>
                  <a:srgbClr val="262B3A"/>
                </a:solidFill>
                <a:latin typeface="Calibri" pitchFamily="34" charset="0"/>
                <a:ea typeface="Calibri" pitchFamily="34" charset="-122"/>
                <a:cs typeface="Calibri" pitchFamily="34" charset="-120"/>
              </a:rPr>
              <a:t> teeth. State the direction of the driven gear and how many turns it makes for each turn of the driver.</a:t>
            </a:r>
            <a:endParaRPr lang="en-US" sz="1250" dirty="0"/>
          </a:p>
        </p:txBody>
      </p:sp>
      <p:sp>
        <p:nvSpPr>
          <p:cNvPr id="17" name="Text 15"/>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4687824"/>
            <a:ext cx="11368735" cy="1594104"/>
          </a:xfrm>
          <a:prstGeom prst="roundRect">
            <a:avLst>
              <a:gd name="adj" fmla="val 2868"/>
            </a:avLst>
          </a:prstGeom>
          <a:solidFill>
            <a:srgbClr val="FFFFFF"/>
          </a:solidFill>
          <a:ln w="12700">
            <a:solidFill>
              <a:srgbClr val="D5DCEB"/>
            </a:solidFill>
            <a:prstDash val="solid"/>
          </a:ln>
        </p:spPr>
      </p:sp>
      <p:sp>
        <p:nvSpPr>
          <p:cNvPr id="19" name="Shape 17"/>
          <p:cNvSpPr/>
          <p:nvPr/>
        </p:nvSpPr>
        <p:spPr>
          <a:xfrm>
            <a:off x="411480" y="4687824"/>
            <a:ext cx="2103120" cy="292608"/>
          </a:xfrm>
          <a:prstGeom prst="rect">
            <a:avLst/>
          </a:prstGeom>
          <a:solidFill>
            <a:srgbClr val="F5A742"/>
          </a:solidFill>
          <a:ln w="12700">
            <a:solidFill>
              <a:srgbClr val="F5A742"/>
            </a:solidFill>
            <a:prstDash val="solid"/>
          </a:ln>
        </p:spPr>
      </p:sp>
      <p:sp>
        <p:nvSpPr>
          <p:cNvPr id="20" name="Text 18"/>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5053584"/>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how oiling a bicycle chain reduces unwanted energy transfer.</a:t>
            </a:r>
            <a:endParaRPr lang="en-US" sz="1250" dirty="0"/>
          </a:p>
        </p:txBody>
      </p:sp>
      <p:sp>
        <p:nvSpPr>
          <p:cNvPr id="22" name="Text 20"/>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Summary: equations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Topic 9 equations • RECALL = learn it; GIVEN = on the Physics Equations List</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9 Forces and their effects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Equations  |  32</a:t>
            </a:r>
            <a:endParaRPr lang="en-US" sz="10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411480" y="1234440"/>
          <a:ext cx="11368735" cy="914400"/>
        </p:xfrm>
        <a:graphic>
          <a:graphicData uri="http://schemas.openxmlformats.org/drawingml/2006/table">
            <a:tbl>
              <a:tblPr/>
              <a:tblGrid>
                <a:gridCol w="2377440"/>
                <a:gridCol w="6172200"/>
                <a:gridCol w="1463040"/>
                <a:gridCol w="1356055"/>
              </a:tblGrid>
              <a:tr h="56692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Equation</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 words (units)</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Recall or given?</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Spec</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r>
              <a:tr h="566928">
                <a:tc>
                  <a:txBody>
                    <a:bodyPr/>
                    <a:lstStyle/>
                    <a:p>
                      <a:pPr indent="0" marL="0">
                        <a:buNone/>
                      </a:pPr>
                      <a:r>
                        <a:rPr lang="en-US" sz="1400" b="1" dirty="0">
                          <a:solidFill>
                            <a:srgbClr val="1A2340"/>
                          </a:solidFill>
                          <a:latin typeface="Georgia" pitchFamily="34" charset="0"/>
                          <a:ea typeface="Georgia" pitchFamily="34" charset="-122"/>
                          <a:cs typeface="Georgia" pitchFamily="34" charset="-120"/>
                        </a:rPr>
                        <a:t>M = F × d</a:t>
                      </a:r>
                      <a:endParaRPr lang="en-US" sz="1400" dirty="0">
                        <a:latin typeface="Georgia" charset="0"/>
                        <a:ea typeface="Georgia" charset="0"/>
                        <a:cs typeface="Georgia"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dirty="0">
                          <a:solidFill>
                            <a:srgbClr val="262B3A"/>
                          </a:solidFill>
                          <a:latin typeface="Calibri" pitchFamily="34" charset="0"/>
                          <a:ea typeface="Calibri" pitchFamily="34" charset="-122"/>
                          <a:cs typeface="Calibri" pitchFamily="34" charset="-120"/>
                        </a:rPr>
                        <a:t>moment of a force (N m) = force (N) × distance normal to the direction of the force (m)</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b="1" dirty="0">
                          <a:solidFill>
                            <a:srgbClr val="C8414C"/>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b="1" dirty="0">
                          <a:solidFill>
                            <a:srgbClr val="2E5BD8"/>
                          </a:solidFill>
                          <a:latin typeface="Calibri" pitchFamily="34" charset="0"/>
                          <a:ea typeface="Calibri" pitchFamily="34" charset="-122"/>
                          <a:cs typeface="Calibri" pitchFamily="34" charset="-120"/>
                        </a:rPr>
                        <a:t>9.7P</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566928">
                <a:tc>
                  <a:txBody>
                    <a:bodyPr/>
                    <a:lstStyle/>
                    <a:p>
                      <a:pPr indent="0" marL="0">
                        <a:buNone/>
                      </a:pPr>
                      <a:r>
                        <a:rPr lang="en-US" sz="1400" b="1" dirty="0">
                          <a:solidFill>
                            <a:srgbClr val="1A2340"/>
                          </a:solidFill>
                          <a:latin typeface="Georgia" pitchFamily="34" charset="0"/>
                          <a:ea typeface="Georgia" pitchFamily="34" charset="-122"/>
                          <a:cs typeface="Georgia" pitchFamily="34" charset="-120"/>
                        </a:rPr>
                        <a:t>F = m × a</a:t>
                      </a:r>
                      <a:endParaRPr lang="en-US" sz="1400" dirty="0">
                        <a:latin typeface="Georgia" charset="0"/>
                        <a:ea typeface="Georgia" charset="0"/>
                        <a:cs typeface="Georgia"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dirty="0">
                          <a:solidFill>
                            <a:srgbClr val="262B3A"/>
                          </a:solidFill>
                          <a:latin typeface="Calibri" pitchFamily="34" charset="0"/>
                          <a:ea typeface="Calibri" pitchFamily="34" charset="-122"/>
                          <a:cs typeface="Calibri" pitchFamily="34" charset="-120"/>
                        </a:rPr>
                        <a:t>force (N) = mass (kg) × acceleration (m/s²)</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b="1" dirty="0">
                          <a:solidFill>
                            <a:srgbClr val="C8414C"/>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b="1" dirty="0">
                          <a:solidFill>
                            <a:srgbClr val="2E5BD8"/>
                          </a:solidFill>
                          <a:latin typeface="Calibri" pitchFamily="34" charset="0"/>
                          <a:ea typeface="Calibri" pitchFamily="34" charset="-122"/>
                          <a:cs typeface="Calibri" pitchFamily="34" charset="-120"/>
                        </a:rPr>
                        <a:t>Topic 2 / 9.5</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A2340"/>
                          </a:solidFill>
                          <a:latin typeface="Georgia" pitchFamily="34" charset="0"/>
                          <a:ea typeface="Georgia" pitchFamily="34" charset="-122"/>
                          <a:cs typeface="Georgia" pitchFamily="34" charset="-120"/>
                        </a:rPr>
                        <a:t>W = m × g</a:t>
                      </a:r>
                      <a:endParaRPr lang="en-US" sz="1400" dirty="0">
                        <a:latin typeface="Georgia" charset="0"/>
                        <a:ea typeface="Georgia" charset="0"/>
                        <a:cs typeface="Georgia"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dirty="0">
                          <a:solidFill>
                            <a:srgbClr val="262B3A"/>
                          </a:solidFill>
                          <a:latin typeface="Calibri" pitchFamily="34" charset="0"/>
                          <a:ea typeface="Calibri" pitchFamily="34" charset="-122"/>
                          <a:cs typeface="Calibri" pitchFamily="34" charset="-120"/>
                        </a:rPr>
                        <a:t>weight (N) = mass (kg) × gravitational field strength (N/kg)</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b="1" dirty="0">
                          <a:solidFill>
                            <a:srgbClr val="C8414C"/>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b="1" dirty="0">
                          <a:solidFill>
                            <a:srgbClr val="2E5BD8"/>
                          </a:solidFill>
                          <a:latin typeface="Calibri" pitchFamily="34" charset="0"/>
                          <a:ea typeface="Calibri" pitchFamily="34" charset="-122"/>
                          <a:cs typeface="Calibri" pitchFamily="34" charset="-120"/>
                        </a:rPr>
                        <a:t>Topic 2 / 9.1</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566928">
                <a:tc>
                  <a:txBody>
                    <a:bodyPr/>
                    <a:lstStyle/>
                    <a:p>
                      <a:pPr indent="0" marL="0">
                        <a:buNone/>
                      </a:pPr>
                      <a:r>
                        <a:rPr lang="en-US" sz="1400" b="1" dirty="0">
                          <a:solidFill>
                            <a:srgbClr val="1A2340"/>
                          </a:solidFill>
                          <a:latin typeface="Georgia" pitchFamily="34" charset="0"/>
                          <a:ea typeface="Georgia" pitchFamily="34" charset="-122"/>
                          <a:cs typeface="Georgia" pitchFamily="34" charset="-120"/>
                        </a:rPr>
                        <a:t>E = F × d</a:t>
                      </a:r>
                      <a:endParaRPr lang="en-US" sz="1400" dirty="0">
                        <a:latin typeface="Georgia" charset="0"/>
                        <a:ea typeface="Georgia" charset="0"/>
                        <a:cs typeface="Georgia"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dirty="0">
                          <a:solidFill>
                            <a:srgbClr val="262B3A"/>
                          </a:solidFill>
                          <a:latin typeface="Calibri" pitchFamily="34" charset="0"/>
                          <a:ea typeface="Calibri" pitchFamily="34" charset="-122"/>
                          <a:cs typeface="Calibri" pitchFamily="34" charset="-120"/>
                        </a:rPr>
                        <a:t>work done (J) = force (N) × distance moved in the direction of the force (m)</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b="1" dirty="0">
                          <a:solidFill>
                            <a:srgbClr val="C8414C"/>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b="1" dirty="0">
                          <a:solidFill>
                            <a:srgbClr val="2E5BD8"/>
                          </a:solidFill>
                          <a:latin typeface="Calibri" pitchFamily="34" charset="0"/>
                          <a:ea typeface="Calibri" pitchFamily="34" charset="-122"/>
                          <a:cs typeface="Calibri" pitchFamily="34" charset="-120"/>
                        </a:rPr>
                        <a:t>Topic 8 / 9.10P</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bl>
          </a:graphicData>
        </a:graphic>
      </p:graphicFrame>
      <p:sp>
        <p:nvSpPr>
          <p:cNvPr id="9" name="Shape 6"/>
          <p:cNvSpPr/>
          <p:nvPr/>
        </p:nvSpPr>
        <p:spPr>
          <a:xfrm>
            <a:off x="411480" y="5833872"/>
            <a:ext cx="11368735" cy="530352"/>
          </a:xfrm>
          <a:prstGeom prst="rect">
            <a:avLst/>
          </a:prstGeom>
          <a:solidFill>
            <a:srgbClr val="FFF4E0"/>
          </a:solidFill>
          <a:ln w="6350">
            <a:solidFill>
              <a:srgbClr val="F1D9A8"/>
            </a:solidFill>
            <a:prstDash val="solid"/>
          </a:ln>
        </p:spPr>
      </p:sp>
      <p:sp>
        <p:nvSpPr>
          <p:cNvPr id="10" name="Shape 7"/>
          <p:cNvSpPr/>
          <p:nvPr/>
        </p:nvSpPr>
        <p:spPr>
          <a:xfrm>
            <a:off x="411480" y="5833872"/>
            <a:ext cx="82296" cy="530352"/>
          </a:xfrm>
          <a:prstGeom prst="rect">
            <a:avLst/>
          </a:prstGeom>
          <a:solidFill>
            <a:srgbClr val="E39A2F"/>
          </a:solidFill>
          <a:ln w="12700">
            <a:solidFill>
              <a:srgbClr val="E39A2F"/>
            </a:solidFill>
            <a:prstDash val="solid"/>
          </a:ln>
        </p:spPr>
      </p:sp>
      <p:sp>
        <p:nvSpPr>
          <p:cNvPr id="11" name="Text 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Cover the middle column. For each equation, say every quantity and its unit aloud.</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Summary: key words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Topic 9 Forces and their effects • learn these definitions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9 Forces and their effects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Key words  |  33</a:t>
            </a:r>
            <a:endParaRPr lang="en-US" sz="1000" dirty="0"/>
          </a:p>
        </p:txBody>
      </p:sp>
      <p:sp>
        <p:nvSpPr>
          <p:cNvPr id="8" name="Shape 6"/>
          <p:cNvSpPr/>
          <p:nvPr/>
        </p:nvSpPr>
        <p:spPr>
          <a:xfrm>
            <a:off x="411480" y="1188720"/>
            <a:ext cx="2739314" cy="1143000"/>
          </a:xfrm>
          <a:prstGeom prst="rect">
            <a:avLst/>
          </a:prstGeom>
          <a:solidFill>
            <a:srgbClr val="F5F8FE"/>
          </a:solidFill>
          <a:ln w="9525">
            <a:solidFill>
              <a:srgbClr val="D5DCEB"/>
            </a:solidFill>
            <a:prstDash val="solid"/>
          </a:ln>
        </p:spPr>
      </p:sp>
      <p:sp>
        <p:nvSpPr>
          <p:cNvPr id="9" name="Shape 7"/>
          <p:cNvSpPr/>
          <p:nvPr/>
        </p:nvSpPr>
        <p:spPr>
          <a:xfrm>
            <a:off x="411480" y="1188720"/>
            <a:ext cx="73152" cy="1143000"/>
          </a:xfrm>
          <a:prstGeom prst="rect">
            <a:avLst/>
          </a:prstGeom>
          <a:solidFill>
            <a:srgbClr val="2E5BD8"/>
          </a:solidFill>
          <a:ln w="12700">
            <a:solidFill>
              <a:srgbClr val="2E5BD8"/>
            </a:solidFill>
            <a:prstDash val="solid"/>
          </a:ln>
        </p:spPr>
      </p:sp>
      <p:sp>
        <p:nvSpPr>
          <p:cNvPr id="10" name="Text 8"/>
          <p:cNvSpPr/>
          <p:nvPr/>
        </p:nvSpPr>
        <p:spPr>
          <a:xfrm>
            <a:off x="576072" y="1243584"/>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Non-contact force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Acts between objects that are not touching, through a field: gravitational, electrostatic, magnetic.</a:t>
            </a:r>
            <a:endParaRPr lang="en-US" sz="1200" dirty="0"/>
          </a:p>
        </p:txBody>
      </p:sp>
      <p:sp>
        <p:nvSpPr>
          <p:cNvPr id="11" name="Shape 9"/>
          <p:cNvSpPr/>
          <p:nvPr/>
        </p:nvSpPr>
        <p:spPr>
          <a:xfrm>
            <a:off x="3287954" y="1188720"/>
            <a:ext cx="2739314" cy="1143000"/>
          </a:xfrm>
          <a:prstGeom prst="rect">
            <a:avLst/>
          </a:prstGeom>
          <a:solidFill>
            <a:srgbClr val="F5F8FE"/>
          </a:solidFill>
          <a:ln w="9525">
            <a:solidFill>
              <a:srgbClr val="D5DCEB"/>
            </a:solidFill>
            <a:prstDash val="solid"/>
          </a:ln>
        </p:spPr>
      </p:sp>
      <p:sp>
        <p:nvSpPr>
          <p:cNvPr id="12" name="Shape 10"/>
          <p:cNvSpPr/>
          <p:nvPr/>
        </p:nvSpPr>
        <p:spPr>
          <a:xfrm>
            <a:off x="3287954" y="1188720"/>
            <a:ext cx="73152" cy="1143000"/>
          </a:xfrm>
          <a:prstGeom prst="rect">
            <a:avLst/>
          </a:prstGeom>
          <a:solidFill>
            <a:srgbClr val="2E5BD8"/>
          </a:solidFill>
          <a:ln w="12700">
            <a:solidFill>
              <a:srgbClr val="2E5BD8"/>
            </a:solidFill>
            <a:prstDash val="solid"/>
          </a:ln>
        </p:spPr>
      </p:sp>
      <p:sp>
        <p:nvSpPr>
          <p:cNvPr id="13" name="Text 11"/>
          <p:cNvSpPr/>
          <p:nvPr/>
        </p:nvSpPr>
        <p:spPr>
          <a:xfrm>
            <a:off x="3452546" y="1243584"/>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Contact force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Acts between objects that touch: normal contact force, friction, tension, air resistance.</a:t>
            </a:r>
            <a:endParaRPr lang="en-US" sz="1200" dirty="0"/>
          </a:p>
        </p:txBody>
      </p:sp>
      <p:sp>
        <p:nvSpPr>
          <p:cNvPr id="14" name="Shape 12"/>
          <p:cNvSpPr/>
          <p:nvPr/>
        </p:nvSpPr>
        <p:spPr>
          <a:xfrm>
            <a:off x="6164428" y="1188720"/>
            <a:ext cx="2739314" cy="1143000"/>
          </a:xfrm>
          <a:prstGeom prst="rect">
            <a:avLst/>
          </a:prstGeom>
          <a:solidFill>
            <a:srgbClr val="F5F8FE"/>
          </a:solidFill>
          <a:ln w="9525">
            <a:solidFill>
              <a:srgbClr val="D5DCEB"/>
            </a:solidFill>
            <a:prstDash val="solid"/>
          </a:ln>
        </p:spPr>
      </p:sp>
      <p:sp>
        <p:nvSpPr>
          <p:cNvPr id="15" name="Shape 13"/>
          <p:cNvSpPr/>
          <p:nvPr/>
        </p:nvSpPr>
        <p:spPr>
          <a:xfrm>
            <a:off x="6164428" y="1188720"/>
            <a:ext cx="73152" cy="1143000"/>
          </a:xfrm>
          <a:prstGeom prst="rect">
            <a:avLst/>
          </a:prstGeom>
          <a:solidFill>
            <a:srgbClr val="2E5BD8"/>
          </a:solidFill>
          <a:ln w="12700">
            <a:solidFill>
              <a:srgbClr val="2E5BD8"/>
            </a:solidFill>
            <a:prstDash val="solid"/>
          </a:ln>
        </p:spPr>
      </p:sp>
      <p:sp>
        <p:nvSpPr>
          <p:cNvPr id="16" name="Text 14"/>
          <p:cNvSpPr/>
          <p:nvPr/>
        </p:nvSpPr>
        <p:spPr>
          <a:xfrm>
            <a:off x="6329020" y="1243584"/>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Normal contact force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The push of a surface on an object, at 90° to the surface.</a:t>
            </a:r>
            <a:endParaRPr lang="en-US" sz="1200" dirty="0"/>
          </a:p>
        </p:txBody>
      </p:sp>
      <p:sp>
        <p:nvSpPr>
          <p:cNvPr id="17" name="Shape 15"/>
          <p:cNvSpPr/>
          <p:nvPr/>
        </p:nvSpPr>
        <p:spPr>
          <a:xfrm>
            <a:off x="9040901" y="1188720"/>
            <a:ext cx="2739314" cy="1143000"/>
          </a:xfrm>
          <a:prstGeom prst="rect">
            <a:avLst/>
          </a:prstGeom>
          <a:solidFill>
            <a:srgbClr val="F5F8FE"/>
          </a:solidFill>
          <a:ln w="9525">
            <a:solidFill>
              <a:srgbClr val="D5DCEB"/>
            </a:solidFill>
            <a:prstDash val="solid"/>
          </a:ln>
        </p:spPr>
      </p:sp>
      <p:sp>
        <p:nvSpPr>
          <p:cNvPr id="18" name="Shape 16"/>
          <p:cNvSpPr/>
          <p:nvPr/>
        </p:nvSpPr>
        <p:spPr>
          <a:xfrm>
            <a:off x="9040901" y="1188720"/>
            <a:ext cx="73152" cy="1143000"/>
          </a:xfrm>
          <a:prstGeom prst="rect">
            <a:avLst/>
          </a:prstGeom>
          <a:solidFill>
            <a:srgbClr val="2E5BD8"/>
          </a:solidFill>
          <a:ln w="12700">
            <a:solidFill>
              <a:srgbClr val="2E5BD8"/>
            </a:solidFill>
            <a:prstDash val="solid"/>
          </a:ln>
        </p:spPr>
      </p:sp>
      <p:sp>
        <p:nvSpPr>
          <p:cNvPr id="19" name="Text 17"/>
          <p:cNvSpPr/>
          <p:nvPr/>
        </p:nvSpPr>
        <p:spPr>
          <a:xfrm>
            <a:off x="9205493" y="1243584"/>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Friction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force along a surface that opposes sliding between the surfaces.</a:t>
            </a:r>
            <a:endParaRPr lang="en-US" sz="1200" dirty="0"/>
          </a:p>
        </p:txBody>
      </p:sp>
      <p:sp>
        <p:nvSpPr>
          <p:cNvPr id="20" name="Shape 18"/>
          <p:cNvSpPr/>
          <p:nvPr/>
        </p:nvSpPr>
        <p:spPr>
          <a:xfrm>
            <a:off x="411480" y="2441448"/>
            <a:ext cx="2739314" cy="1143000"/>
          </a:xfrm>
          <a:prstGeom prst="rect">
            <a:avLst/>
          </a:prstGeom>
          <a:solidFill>
            <a:srgbClr val="F5F8FE"/>
          </a:solidFill>
          <a:ln w="9525">
            <a:solidFill>
              <a:srgbClr val="D5DCEB"/>
            </a:solidFill>
            <a:prstDash val="solid"/>
          </a:ln>
        </p:spPr>
      </p:sp>
      <p:sp>
        <p:nvSpPr>
          <p:cNvPr id="21" name="Shape 19"/>
          <p:cNvSpPr/>
          <p:nvPr/>
        </p:nvSpPr>
        <p:spPr>
          <a:xfrm>
            <a:off x="411480" y="2441448"/>
            <a:ext cx="73152" cy="1143000"/>
          </a:xfrm>
          <a:prstGeom prst="rect">
            <a:avLst/>
          </a:prstGeom>
          <a:solidFill>
            <a:srgbClr val="2E5BD8"/>
          </a:solidFill>
          <a:ln w="12700">
            <a:solidFill>
              <a:srgbClr val="2E5BD8"/>
            </a:solidFill>
            <a:prstDash val="solid"/>
          </a:ln>
        </p:spPr>
      </p:sp>
      <p:sp>
        <p:nvSpPr>
          <p:cNvPr id="22" name="Text 20"/>
          <p:cNvSpPr/>
          <p:nvPr/>
        </p:nvSpPr>
        <p:spPr>
          <a:xfrm>
            <a:off x="576072" y="2496312"/>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Interaction pair</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Two equal and opposite forces of the same type, acting on two different objects.</a:t>
            </a:r>
            <a:endParaRPr lang="en-US" sz="1200" dirty="0"/>
          </a:p>
        </p:txBody>
      </p:sp>
      <p:sp>
        <p:nvSpPr>
          <p:cNvPr id="23" name="Shape 21"/>
          <p:cNvSpPr/>
          <p:nvPr/>
        </p:nvSpPr>
        <p:spPr>
          <a:xfrm>
            <a:off x="3287954" y="2441448"/>
            <a:ext cx="2739314" cy="1143000"/>
          </a:xfrm>
          <a:prstGeom prst="rect">
            <a:avLst/>
          </a:prstGeom>
          <a:solidFill>
            <a:srgbClr val="F5F8FE"/>
          </a:solidFill>
          <a:ln w="9525">
            <a:solidFill>
              <a:srgbClr val="D5DCEB"/>
            </a:solidFill>
            <a:prstDash val="solid"/>
          </a:ln>
        </p:spPr>
      </p:sp>
      <p:sp>
        <p:nvSpPr>
          <p:cNvPr id="24" name="Shape 22"/>
          <p:cNvSpPr/>
          <p:nvPr/>
        </p:nvSpPr>
        <p:spPr>
          <a:xfrm>
            <a:off x="3287954" y="2441448"/>
            <a:ext cx="73152" cy="1143000"/>
          </a:xfrm>
          <a:prstGeom prst="rect">
            <a:avLst/>
          </a:prstGeom>
          <a:solidFill>
            <a:srgbClr val="2E5BD8"/>
          </a:solidFill>
          <a:ln w="12700">
            <a:solidFill>
              <a:srgbClr val="2E5BD8"/>
            </a:solidFill>
            <a:prstDash val="solid"/>
          </a:ln>
        </p:spPr>
      </p:sp>
      <p:sp>
        <p:nvSpPr>
          <p:cNvPr id="25" name="Text 23"/>
          <p:cNvSpPr/>
          <p:nvPr/>
        </p:nvSpPr>
        <p:spPr>
          <a:xfrm>
            <a:off x="3452546" y="2496312"/>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Vector</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quantity with size and direction, e.g. force, velocity, displacement.</a:t>
            </a:r>
            <a:endParaRPr lang="en-US" sz="1200" dirty="0"/>
          </a:p>
        </p:txBody>
      </p:sp>
      <p:sp>
        <p:nvSpPr>
          <p:cNvPr id="26" name="Shape 24"/>
          <p:cNvSpPr/>
          <p:nvPr/>
        </p:nvSpPr>
        <p:spPr>
          <a:xfrm>
            <a:off x="6164428" y="2441448"/>
            <a:ext cx="2739314" cy="1143000"/>
          </a:xfrm>
          <a:prstGeom prst="rect">
            <a:avLst/>
          </a:prstGeom>
          <a:solidFill>
            <a:srgbClr val="F5F8FE"/>
          </a:solidFill>
          <a:ln w="9525">
            <a:solidFill>
              <a:srgbClr val="D5DCEB"/>
            </a:solidFill>
            <a:prstDash val="solid"/>
          </a:ln>
        </p:spPr>
      </p:sp>
      <p:sp>
        <p:nvSpPr>
          <p:cNvPr id="27" name="Shape 25"/>
          <p:cNvSpPr/>
          <p:nvPr/>
        </p:nvSpPr>
        <p:spPr>
          <a:xfrm>
            <a:off x="6164428" y="2441448"/>
            <a:ext cx="73152" cy="1143000"/>
          </a:xfrm>
          <a:prstGeom prst="rect">
            <a:avLst/>
          </a:prstGeom>
          <a:solidFill>
            <a:srgbClr val="2E5BD8"/>
          </a:solidFill>
          <a:ln w="12700">
            <a:solidFill>
              <a:srgbClr val="2E5BD8"/>
            </a:solidFill>
            <a:prstDash val="solid"/>
          </a:ln>
        </p:spPr>
      </p:sp>
      <p:sp>
        <p:nvSpPr>
          <p:cNvPr id="28" name="Text 26"/>
          <p:cNvSpPr/>
          <p:nvPr/>
        </p:nvSpPr>
        <p:spPr>
          <a:xfrm>
            <a:off x="6329020" y="2496312"/>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Scalar</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quantity with size only, e.g. mass, speed, energy, distance.</a:t>
            </a:r>
            <a:endParaRPr lang="en-US" sz="1200" dirty="0"/>
          </a:p>
        </p:txBody>
      </p:sp>
      <p:sp>
        <p:nvSpPr>
          <p:cNvPr id="29" name="Shape 27"/>
          <p:cNvSpPr/>
          <p:nvPr/>
        </p:nvSpPr>
        <p:spPr>
          <a:xfrm>
            <a:off x="9040901" y="2441448"/>
            <a:ext cx="2739314" cy="1143000"/>
          </a:xfrm>
          <a:prstGeom prst="rect">
            <a:avLst/>
          </a:prstGeom>
          <a:solidFill>
            <a:srgbClr val="F5F8FE"/>
          </a:solidFill>
          <a:ln w="9525">
            <a:solidFill>
              <a:srgbClr val="D5DCEB"/>
            </a:solidFill>
            <a:prstDash val="solid"/>
          </a:ln>
        </p:spPr>
      </p:sp>
      <p:sp>
        <p:nvSpPr>
          <p:cNvPr id="30" name="Shape 28"/>
          <p:cNvSpPr/>
          <p:nvPr/>
        </p:nvSpPr>
        <p:spPr>
          <a:xfrm>
            <a:off x="9040901" y="2441448"/>
            <a:ext cx="73152" cy="1143000"/>
          </a:xfrm>
          <a:prstGeom prst="rect">
            <a:avLst/>
          </a:prstGeom>
          <a:solidFill>
            <a:srgbClr val="2E5BD8"/>
          </a:solidFill>
          <a:ln w="12700">
            <a:solidFill>
              <a:srgbClr val="2E5BD8"/>
            </a:solidFill>
            <a:prstDash val="solid"/>
          </a:ln>
        </p:spPr>
      </p:sp>
      <p:sp>
        <p:nvSpPr>
          <p:cNvPr id="31" name="Text 29"/>
          <p:cNvSpPr/>
          <p:nvPr/>
        </p:nvSpPr>
        <p:spPr>
          <a:xfrm>
            <a:off x="9205493" y="2496312"/>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Resultant force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The single force with the same effect as all the forces on an object.</a:t>
            </a:r>
            <a:endParaRPr lang="en-US" sz="1200" dirty="0"/>
          </a:p>
        </p:txBody>
      </p:sp>
      <p:sp>
        <p:nvSpPr>
          <p:cNvPr id="32" name="Shape 30"/>
          <p:cNvSpPr/>
          <p:nvPr/>
        </p:nvSpPr>
        <p:spPr>
          <a:xfrm>
            <a:off x="411480" y="3694176"/>
            <a:ext cx="2739314" cy="1143000"/>
          </a:xfrm>
          <a:prstGeom prst="rect">
            <a:avLst/>
          </a:prstGeom>
          <a:solidFill>
            <a:srgbClr val="F5F8FE"/>
          </a:solidFill>
          <a:ln w="9525">
            <a:solidFill>
              <a:srgbClr val="D5DCEB"/>
            </a:solidFill>
            <a:prstDash val="solid"/>
          </a:ln>
        </p:spPr>
      </p:sp>
      <p:sp>
        <p:nvSpPr>
          <p:cNvPr id="33" name="Shape 31"/>
          <p:cNvSpPr/>
          <p:nvPr/>
        </p:nvSpPr>
        <p:spPr>
          <a:xfrm>
            <a:off x="411480" y="3694176"/>
            <a:ext cx="73152" cy="1143000"/>
          </a:xfrm>
          <a:prstGeom prst="rect">
            <a:avLst/>
          </a:prstGeom>
          <a:solidFill>
            <a:srgbClr val="2E5BD8"/>
          </a:solidFill>
          <a:ln w="12700">
            <a:solidFill>
              <a:srgbClr val="2E5BD8"/>
            </a:solidFill>
            <a:prstDash val="solid"/>
          </a:ln>
        </p:spPr>
      </p:sp>
      <p:sp>
        <p:nvSpPr>
          <p:cNvPr id="34" name="Text 32"/>
          <p:cNvSpPr/>
          <p:nvPr/>
        </p:nvSpPr>
        <p:spPr>
          <a:xfrm>
            <a:off x="576072" y="3749040"/>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Free body diagram</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One object with labelled arrows for every force acting on it.</a:t>
            </a:r>
            <a:endParaRPr lang="en-US" sz="1200" dirty="0"/>
          </a:p>
        </p:txBody>
      </p:sp>
      <p:sp>
        <p:nvSpPr>
          <p:cNvPr id="35" name="Shape 33"/>
          <p:cNvSpPr/>
          <p:nvPr/>
        </p:nvSpPr>
        <p:spPr>
          <a:xfrm>
            <a:off x="3287954" y="3694176"/>
            <a:ext cx="2739314" cy="1143000"/>
          </a:xfrm>
          <a:prstGeom prst="rect">
            <a:avLst/>
          </a:prstGeom>
          <a:solidFill>
            <a:srgbClr val="F5F8FE"/>
          </a:solidFill>
          <a:ln w="9525">
            <a:solidFill>
              <a:srgbClr val="D5DCEB"/>
            </a:solidFill>
            <a:prstDash val="solid"/>
          </a:ln>
        </p:spPr>
      </p:sp>
      <p:sp>
        <p:nvSpPr>
          <p:cNvPr id="36" name="Shape 34"/>
          <p:cNvSpPr/>
          <p:nvPr/>
        </p:nvSpPr>
        <p:spPr>
          <a:xfrm>
            <a:off x="3287954" y="3694176"/>
            <a:ext cx="73152" cy="1143000"/>
          </a:xfrm>
          <a:prstGeom prst="rect">
            <a:avLst/>
          </a:prstGeom>
          <a:solidFill>
            <a:srgbClr val="2E5BD8"/>
          </a:solidFill>
          <a:ln w="12700">
            <a:solidFill>
              <a:srgbClr val="2E5BD8"/>
            </a:solidFill>
            <a:prstDash val="solid"/>
          </a:ln>
        </p:spPr>
      </p:sp>
      <p:sp>
        <p:nvSpPr>
          <p:cNvPr id="37" name="Text 35"/>
          <p:cNvSpPr/>
          <p:nvPr/>
        </p:nvSpPr>
        <p:spPr>
          <a:xfrm>
            <a:off x="3452546" y="3749040"/>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Equilibrium</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Resultant force zero; vectors drawn tip to tail form a closed shape.</a:t>
            </a:r>
            <a:endParaRPr lang="en-US" sz="1200" dirty="0"/>
          </a:p>
        </p:txBody>
      </p:sp>
      <p:sp>
        <p:nvSpPr>
          <p:cNvPr id="38" name="Shape 36"/>
          <p:cNvSpPr/>
          <p:nvPr/>
        </p:nvSpPr>
        <p:spPr>
          <a:xfrm>
            <a:off x="6164428" y="3694176"/>
            <a:ext cx="2739314" cy="1143000"/>
          </a:xfrm>
          <a:prstGeom prst="rect">
            <a:avLst/>
          </a:prstGeom>
          <a:solidFill>
            <a:srgbClr val="F5F8FE"/>
          </a:solidFill>
          <a:ln w="9525">
            <a:solidFill>
              <a:srgbClr val="D5DCEB"/>
            </a:solidFill>
            <a:prstDash val="solid"/>
          </a:ln>
        </p:spPr>
      </p:sp>
      <p:sp>
        <p:nvSpPr>
          <p:cNvPr id="39" name="Shape 37"/>
          <p:cNvSpPr/>
          <p:nvPr/>
        </p:nvSpPr>
        <p:spPr>
          <a:xfrm>
            <a:off x="6164428" y="3694176"/>
            <a:ext cx="73152" cy="1143000"/>
          </a:xfrm>
          <a:prstGeom prst="rect">
            <a:avLst/>
          </a:prstGeom>
          <a:solidFill>
            <a:srgbClr val="2E5BD8"/>
          </a:solidFill>
          <a:ln w="12700">
            <a:solidFill>
              <a:srgbClr val="2E5BD8"/>
            </a:solidFill>
            <a:prstDash val="solid"/>
          </a:ln>
        </p:spPr>
      </p:sp>
      <p:sp>
        <p:nvSpPr>
          <p:cNvPr id="40" name="Text 38"/>
          <p:cNvSpPr/>
          <p:nvPr/>
        </p:nvSpPr>
        <p:spPr>
          <a:xfrm>
            <a:off x="6329020" y="3749040"/>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Component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One of two forces at right angles that together replace a single force.</a:t>
            </a:r>
            <a:endParaRPr lang="en-US" sz="1200" dirty="0"/>
          </a:p>
        </p:txBody>
      </p:sp>
      <p:sp>
        <p:nvSpPr>
          <p:cNvPr id="41" name="Shape 39"/>
          <p:cNvSpPr/>
          <p:nvPr/>
        </p:nvSpPr>
        <p:spPr>
          <a:xfrm>
            <a:off x="9040901" y="3694176"/>
            <a:ext cx="2739314" cy="1143000"/>
          </a:xfrm>
          <a:prstGeom prst="rect">
            <a:avLst/>
          </a:prstGeom>
          <a:solidFill>
            <a:srgbClr val="F5F8FE"/>
          </a:solidFill>
          <a:ln w="9525">
            <a:solidFill>
              <a:srgbClr val="D5DCEB"/>
            </a:solidFill>
            <a:prstDash val="solid"/>
          </a:ln>
        </p:spPr>
      </p:sp>
      <p:sp>
        <p:nvSpPr>
          <p:cNvPr id="42" name="Shape 40"/>
          <p:cNvSpPr/>
          <p:nvPr/>
        </p:nvSpPr>
        <p:spPr>
          <a:xfrm>
            <a:off x="9040901" y="3694176"/>
            <a:ext cx="73152" cy="1143000"/>
          </a:xfrm>
          <a:prstGeom prst="rect">
            <a:avLst/>
          </a:prstGeom>
          <a:solidFill>
            <a:srgbClr val="2E5BD8"/>
          </a:solidFill>
          <a:ln w="12700">
            <a:solidFill>
              <a:srgbClr val="2E5BD8"/>
            </a:solidFill>
            <a:prstDash val="solid"/>
          </a:ln>
        </p:spPr>
      </p:sp>
      <p:sp>
        <p:nvSpPr>
          <p:cNvPr id="43" name="Text 41"/>
          <p:cNvSpPr/>
          <p:nvPr/>
        </p:nvSpPr>
        <p:spPr>
          <a:xfrm>
            <a:off x="9205493" y="3749040"/>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Moment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Turning effect of a force: force × distance normal to the force (N m).</a:t>
            </a:r>
            <a:endParaRPr lang="en-US" sz="1200" dirty="0"/>
          </a:p>
        </p:txBody>
      </p:sp>
      <p:sp>
        <p:nvSpPr>
          <p:cNvPr id="44" name="Shape 42"/>
          <p:cNvSpPr/>
          <p:nvPr/>
        </p:nvSpPr>
        <p:spPr>
          <a:xfrm>
            <a:off x="411480" y="4946904"/>
            <a:ext cx="2739314" cy="1143000"/>
          </a:xfrm>
          <a:prstGeom prst="rect">
            <a:avLst/>
          </a:prstGeom>
          <a:solidFill>
            <a:srgbClr val="F5F8FE"/>
          </a:solidFill>
          <a:ln w="9525">
            <a:solidFill>
              <a:srgbClr val="D5DCEB"/>
            </a:solidFill>
            <a:prstDash val="solid"/>
          </a:ln>
        </p:spPr>
      </p:sp>
      <p:sp>
        <p:nvSpPr>
          <p:cNvPr id="45" name="Shape 43"/>
          <p:cNvSpPr/>
          <p:nvPr/>
        </p:nvSpPr>
        <p:spPr>
          <a:xfrm>
            <a:off x="411480" y="4946904"/>
            <a:ext cx="73152" cy="1143000"/>
          </a:xfrm>
          <a:prstGeom prst="rect">
            <a:avLst/>
          </a:prstGeom>
          <a:solidFill>
            <a:srgbClr val="2E5BD8"/>
          </a:solidFill>
          <a:ln w="12700">
            <a:solidFill>
              <a:srgbClr val="2E5BD8"/>
            </a:solidFill>
            <a:prstDash val="solid"/>
          </a:ln>
        </p:spPr>
      </p:sp>
      <p:sp>
        <p:nvSpPr>
          <p:cNvPr id="46" name="Text 44"/>
          <p:cNvSpPr/>
          <p:nvPr/>
        </p:nvSpPr>
        <p:spPr>
          <a:xfrm>
            <a:off x="576072" y="5001768"/>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Pivot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The fixed point an object turns about (also called the fulcrum).</a:t>
            </a:r>
            <a:endParaRPr lang="en-US" sz="1200" dirty="0"/>
          </a:p>
        </p:txBody>
      </p:sp>
      <p:sp>
        <p:nvSpPr>
          <p:cNvPr id="47" name="Shape 45"/>
          <p:cNvSpPr/>
          <p:nvPr/>
        </p:nvSpPr>
        <p:spPr>
          <a:xfrm>
            <a:off x="3287954" y="4946904"/>
            <a:ext cx="2739314" cy="1143000"/>
          </a:xfrm>
          <a:prstGeom prst="rect">
            <a:avLst/>
          </a:prstGeom>
          <a:solidFill>
            <a:srgbClr val="F5F8FE"/>
          </a:solidFill>
          <a:ln w="9525">
            <a:solidFill>
              <a:srgbClr val="D5DCEB"/>
            </a:solidFill>
            <a:prstDash val="solid"/>
          </a:ln>
        </p:spPr>
      </p:sp>
      <p:sp>
        <p:nvSpPr>
          <p:cNvPr id="48" name="Shape 46"/>
          <p:cNvSpPr/>
          <p:nvPr/>
        </p:nvSpPr>
        <p:spPr>
          <a:xfrm>
            <a:off x="3287954" y="4946904"/>
            <a:ext cx="73152" cy="1143000"/>
          </a:xfrm>
          <a:prstGeom prst="rect">
            <a:avLst/>
          </a:prstGeom>
          <a:solidFill>
            <a:srgbClr val="2E5BD8"/>
          </a:solidFill>
          <a:ln w="12700">
            <a:solidFill>
              <a:srgbClr val="2E5BD8"/>
            </a:solidFill>
            <a:prstDash val="solid"/>
          </a:ln>
        </p:spPr>
      </p:sp>
      <p:sp>
        <p:nvSpPr>
          <p:cNvPr id="49" name="Text 47"/>
          <p:cNvSpPr/>
          <p:nvPr/>
        </p:nvSpPr>
        <p:spPr>
          <a:xfrm>
            <a:off x="3452546" y="5001768"/>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Principle of moments</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Balanced: sum of clockwise moments = sum of anticlockwise moments.</a:t>
            </a:r>
            <a:endParaRPr lang="en-US" sz="1200" dirty="0"/>
          </a:p>
        </p:txBody>
      </p:sp>
      <p:sp>
        <p:nvSpPr>
          <p:cNvPr id="50" name="Shape 48"/>
          <p:cNvSpPr/>
          <p:nvPr/>
        </p:nvSpPr>
        <p:spPr>
          <a:xfrm>
            <a:off x="6164428" y="4946904"/>
            <a:ext cx="2739314" cy="1143000"/>
          </a:xfrm>
          <a:prstGeom prst="rect">
            <a:avLst/>
          </a:prstGeom>
          <a:solidFill>
            <a:srgbClr val="F5F8FE"/>
          </a:solidFill>
          <a:ln w="9525">
            <a:solidFill>
              <a:srgbClr val="D5DCEB"/>
            </a:solidFill>
            <a:prstDash val="solid"/>
          </a:ln>
        </p:spPr>
      </p:sp>
      <p:sp>
        <p:nvSpPr>
          <p:cNvPr id="51" name="Shape 49"/>
          <p:cNvSpPr/>
          <p:nvPr/>
        </p:nvSpPr>
        <p:spPr>
          <a:xfrm>
            <a:off x="6164428" y="4946904"/>
            <a:ext cx="73152" cy="1143000"/>
          </a:xfrm>
          <a:prstGeom prst="rect">
            <a:avLst/>
          </a:prstGeom>
          <a:solidFill>
            <a:srgbClr val="2E5BD8"/>
          </a:solidFill>
          <a:ln w="12700">
            <a:solidFill>
              <a:srgbClr val="2E5BD8"/>
            </a:solidFill>
            <a:prstDash val="solid"/>
          </a:ln>
        </p:spPr>
      </p:sp>
      <p:sp>
        <p:nvSpPr>
          <p:cNvPr id="52" name="Text 50"/>
          <p:cNvSpPr/>
          <p:nvPr/>
        </p:nvSpPr>
        <p:spPr>
          <a:xfrm>
            <a:off x="6329020" y="5001768"/>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Levers and gears</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Transmit turning effects; can increase the force or the speed of turning.</a:t>
            </a:r>
            <a:endParaRPr lang="en-US" sz="1200" dirty="0"/>
          </a:p>
        </p:txBody>
      </p:sp>
      <p:sp>
        <p:nvSpPr>
          <p:cNvPr id="53" name="Shape 51"/>
          <p:cNvSpPr/>
          <p:nvPr/>
        </p:nvSpPr>
        <p:spPr>
          <a:xfrm>
            <a:off x="9040901" y="4946904"/>
            <a:ext cx="2739314" cy="1143000"/>
          </a:xfrm>
          <a:prstGeom prst="rect">
            <a:avLst/>
          </a:prstGeom>
          <a:solidFill>
            <a:srgbClr val="F5F8FE"/>
          </a:solidFill>
          <a:ln w="9525">
            <a:solidFill>
              <a:srgbClr val="D5DCEB"/>
            </a:solidFill>
            <a:prstDash val="solid"/>
          </a:ln>
        </p:spPr>
      </p:sp>
      <p:sp>
        <p:nvSpPr>
          <p:cNvPr id="54" name="Shape 52"/>
          <p:cNvSpPr/>
          <p:nvPr/>
        </p:nvSpPr>
        <p:spPr>
          <a:xfrm>
            <a:off x="9040901" y="4946904"/>
            <a:ext cx="73152" cy="1143000"/>
          </a:xfrm>
          <a:prstGeom prst="rect">
            <a:avLst/>
          </a:prstGeom>
          <a:solidFill>
            <a:srgbClr val="2E5BD8"/>
          </a:solidFill>
          <a:ln w="12700">
            <a:solidFill>
              <a:srgbClr val="2E5BD8"/>
            </a:solidFill>
            <a:prstDash val="solid"/>
          </a:ln>
        </p:spPr>
      </p:sp>
      <p:sp>
        <p:nvSpPr>
          <p:cNvPr id="55" name="Text 53"/>
          <p:cNvSpPr/>
          <p:nvPr/>
        </p:nvSpPr>
        <p:spPr>
          <a:xfrm>
            <a:off x="9205493" y="5001768"/>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Lubrication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layer of oil or grease that reduces friction and wasted energy.</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Full exam question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9.1–9.3, 9.6P–9.8P • answer every part • 13 marks</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9 Forces and their effects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Full question  |  34</a:t>
            </a:r>
            <a:endParaRPr lang="en-US" sz="1000" dirty="0"/>
          </a:p>
        </p:txBody>
      </p:sp>
      <p:sp>
        <p:nvSpPr>
          <p:cNvPr id="10" name="Text 8"/>
          <p:cNvSpPr/>
          <p:nvPr/>
        </p:nvSpPr>
        <p:spPr>
          <a:xfrm>
            <a:off x="411480" y="1143000"/>
            <a:ext cx="11368735" cy="502920"/>
          </a:xfrm>
          <a:prstGeom prst="rect">
            <a:avLst/>
          </a:prstGeom>
          <a:noFill/>
          <a:ln/>
        </p:spPr>
        <p:txBody>
          <a:bodyPr wrap="square" lIns="0" tIns="0" rIns="0" bIns="0" rtlCol="0" anchor="ctr"/>
          <a:lstStyle/>
          <a:p>
            <a:pPr indent="0" marL="0">
              <a:buNone/>
            </a:pPr>
            <a:r>
              <a:rPr lang="en-US" sz="1200" i="1" dirty="0">
                <a:solidFill>
                  <a:srgbClr val="262B3A"/>
                </a:solidFill>
                <a:latin typeface="Calibri" pitchFamily="34" charset="0"/>
                <a:ea typeface="Calibri" pitchFamily="34" charset="-122"/>
                <a:cs typeface="Calibri" pitchFamily="34" charset="-120"/>
              </a:rPr>
              <a:t>Two children play in a park. First they pull a </a:t>
            </a:r>
            <a:r>
              <a:rPr lang="en-US" sz="1200" b="1" i="1" dirty="0">
                <a:solidFill>
                  <a:srgbClr val="262B3A"/>
                </a:solidFill>
                <a:latin typeface="Calibri" pitchFamily="34" charset="0"/>
                <a:ea typeface="Calibri" pitchFamily="34" charset="-122"/>
                <a:cs typeface="Calibri" pitchFamily="34" charset="-120"/>
              </a:rPr>
              <a:t>sledge</a:t>
            </a:r>
            <a:r>
              <a:rPr lang="en-US" sz="1200" i="1" dirty="0">
                <a:solidFill>
                  <a:srgbClr val="262B3A"/>
                </a:solidFill>
                <a:latin typeface="Calibri" pitchFamily="34" charset="0"/>
                <a:ea typeface="Calibri" pitchFamily="34" charset="-122"/>
                <a:cs typeface="Calibri" pitchFamily="34" charset="-120"/>
              </a:rPr>
              <a:t> across the snow with ropes. Then they sit on a </a:t>
            </a:r>
            <a:r>
              <a:rPr lang="en-US" sz="1200" b="1" i="1" dirty="0">
                <a:solidFill>
                  <a:srgbClr val="262B3A"/>
                </a:solidFill>
                <a:latin typeface="Calibri" pitchFamily="34" charset="0"/>
                <a:ea typeface="Calibri" pitchFamily="34" charset="-122"/>
                <a:cs typeface="Calibri" pitchFamily="34" charset="-120"/>
              </a:rPr>
              <a:t>see-saw</a:t>
            </a:r>
            <a:r>
              <a:rPr lang="en-US" sz="1200" i="1" dirty="0">
                <a:solidFill>
                  <a:srgbClr val="262B3A"/>
                </a:solidFill>
                <a:latin typeface="Calibri" pitchFamily="34" charset="0"/>
                <a:ea typeface="Calibri" pitchFamily="34" charset="-122"/>
                <a:cs typeface="Calibri" pitchFamily="34" charset="-120"/>
              </a:rPr>
              <a:t> that is pivoted at its centre.</a:t>
            </a:r>
            <a:endParaRPr lang="en-US" sz="1200" dirty="0"/>
          </a:p>
        </p:txBody>
      </p:sp>
      <p:sp>
        <p:nvSpPr>
          <p:cNvPr id="11" name="Shape 9"/>
          <p:cNvSpPr/>
          <p:nvPr/>
        </p:nvSpPr>
        <p:spPr>
          <a:xfrm>
            <a:off x="411480" y="1719072"/>
            <a:ext cx="5570068" cy="1351597"/>
          </a:xfrm>
          <a:prstGeom prst="roundRect">
            <a:avLst>
              <a:gd name="adj" fmla="val 3383"/>
            </a:avLst>
          </a:prstGeom>
          <a:solidFill>
            <a:srgbClr val="F5F8FE"/>
          </a:solidFill>
          <a:ln w="9525">
            <a:solidFill>
              <a:srgbClr val="D5DCEB"/>
            </a:solidFill>
            <a:prstDash val="solid"/>
          </a:ln>
        </p:spPr>
      </p:sp>
      <p:sp>
        <p:nvSpPr>
          <p:cNvPr id="12" name="Text 10"/>
          <p:cNvSpPr/>
          <p:nvPr/>
        </p:nvSpPr>
        <p:spPr>
          <a:xfrm>
            <a:off x="548640" y="1792224"/>
            <a:ext cx="5295748" cy="985837"/>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(a)  </a:t>
            </a:r>
            <a:r>
              <a:rPr lang="en-US" sz="1200" dirty="0">
                <a:solidFill>
                  <a:srgbClr val="262B3A"/>
                </a:solidFill>
                <a:latin typeface="Calibri" pitchFamily="34" charset="0"/>
                <a:ea typeface="Calibri" pitchFamily="34" charset="-122"/>
                <a:cs typeface="Calibri" pitchFamily="34" charset="-120"/>
              </a:rPr>
              <a:t>Name </a:t>
            </a:r>
            <a:r>
              <a:rPr lang="en-US" sz="1200" b="1" dirty="0">
                <a:solidFill>
                  <a:srgbClr val="262B3A"/>
                </a:solidFill>
                <a:latin typeface="Calibri" pitchFamily="34" charset="0"/>
                <a:ea typeface="Calibri" pitchFamily="34" charset="-122"/>
                <a:cs typeface="Calibri" pitchFamily="34" charset="-120"/>
              </a:rPr>
              <a:t>one</a:t>
            </a:r>
            <a:r>
              <a:rPr lang="en-US" sz="1200" dirty="0">
                <a:solidFill>
                  <a:srgbClr val="262B3A"/>
                </a:solidFill>
                <a:latin typeface="Calibri" pitchFamily="34" charset="0"/>
                <a:ea typeface="Calibri" pitchFamily="34" charset="-122"/>
                <a:cs typeface="Calibri" pitchFamily="34" charset="-120"/>
              </a:rPr>
              <a:t> non-contact force and </a:t>
            </a:r>
            <a:r>
              <a:rPr lang="en-US" sz="1200" b="1" dirty="0">
                <a:solidFill>
                  <a:srgbClr val="262B3A"/>
                </a:solidFill>
                <a:latin typeface="Calibri" pitchFamily="34" charset="0"/>
                <a:ea typeface="Calibri" pitchFamily="34" charset="-122"/>
                <a:cs typeface="Calibri" pitchFamily="34" charset="-120"/>
              </a:rPr>
              <a:t>two</a:t>
            </a:r>
            <a:r>
              <a:rPr lang="en-US" sz="1200" dirty="0">
                <a:solidFill>
                  <a:srgbClr val="262B3A"/>
                </a:solidFill>
                <a:latin typeface="Calibri" pitchFamily="34" charset="0"/>
                <a:ea typeface="Calibri" pitchFamily="34" charset="-122"/>
                <a:cs typeface="Calibri" pitchFamily="34" charset="-120"/>
              </a:rPr>
              <a:t> contact forces that act on the moving sledge.</a:t>
            </a:r>
            <a:endParaRPr lang="en-US" sz="1200" dirty="0"/>
          </a:p>
        </p:txBody>
      </p:sp>
      <p:sp>
        <p:nvSpPr>
          <p:cNvPr id="13" name="Text 11"/>
          <p:cNvSpPr/>
          <p:nvPr/>
        </p:nvSpPr>
        <p:spPr>
          <a:xfrm>
            <a:off x="4518508" y="2759773"/>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4" name="Shape 12"/>
          <p:cNvSpPr/>
          <p:nvPr/>
        </p:nvSpPr>
        <p:spPr>
          <a:xfrm>
            <a:off x="411480" y="3180397"/>
            <a:ext cx="5570068" cy="1351597"/>
          </a:xfrm>
          <a:prstGeom prst="roundRect">
            <a:avLst>
              <a:gd name="adj" fmla="val 3383"/>
            </a:avLst>
          </a:prstGeom>
          <a:solidFill>
            <a:srgbClr val="FFFFFF"/>
          </a:solidFill>
          <a:ln w="9525">
            <a:solidFill>
              <a:srgbClr val="D5DCEB"/>
            </a:solidFill>
            <a:prstDash val="solid"/>
          </a:ln>
        </p:spPr>
      </p:sp>
      <p:sp>
        <p:nvSpPr>
          <p:cNvPr id="15" name="Text 13"/>
          <p:cNvSpPr/>
          <p:nvPr/>
        </p:nvSpPr>
        <p:spPr>
          <a:xfrm>
            <a:off x="548640" y="3253549"/>
            <a:ext cx="5295748" cy="985837"/>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(b)  </a:t>
            </a:r>
            <a:r>
              <a:rPr lang="en-US" sz="1200" dirty="0">
                <a:solidFill>
                  <a:srgbClr val="262B3A"/>
                </a:solidFill>
                <a:latin typeface="Calibri" pitchFamily="34" charset="0"/>
                <a:ea typeface="Calibri" pitchFamily="34" charset="-122"/>
                <a:cs typeface="Calibri" pitchFamily="34" charset="-120"/>
              </a:rPr>
              <a:t>Force is a </a:t>
            </a:r>
            <a:r>
              <a:rPr lang="en-US" sz="1200" b="1" dirty="0">
                <a:solidFill>
                  <a:srgbClr val="262B3A"/>
                </a:solidFill>
                <a:latin typeface="Calibri" pitchFamily="34" charset="0"/>
                <a:ea typeface="Calibri" pitchFamily="34" charset="-122"/>
                <a:cs typeface="Calibri" pitchFamily="34" charset="-120"/>
              </a:rPr>
              <a:t>vector</a:t>
            </a:r>
            <a:r>
              <a:rPr lang="en-US" sz="1200" dirty="0">
                <a:solidFill>
                  <a:srgbClr val="262B3A"/>
                </a:solidFill>
                <a:latin typeface="Calibri" pitchFamily="34" charset="0"/>
                <a:ea typeface="Calibri" pitchFamily="34" charset="-122"/>
                <a:cs typeface="Calibri" pitchFamily="34" charset="-120"/>
              </a:rPr>
              <a:t> quantity. State what is meant by a vector quantity and name </a:t>
            </a:r>
            <a:r>
              <a:rPr lang="en-US" sz="1200" b="1" dirty="0">
                <a:solidFill>
                  <a:srgbClr val="262B3A"/>
                </a:solidFill>
                <a:latin typeface="Calibri" pitchFamily="34" charset="0"/>
                <a:ea typeface="Calibri" pitchFamily="34" charset="-122"/>
                <a:cs typeface="Calibri" pitchFamily="34" charset="-120"/>
              </a:rPr>
              <a:t>one</a:t>
            </a:r>
            <a:r>
              <a:rPr lang="en-US" sz="1200" dirty="0">
                <a:solidFill>
                  <a:srgbClr val="262B3A"/>
                </a:solidFill>
                <a:latin typeface="Calibri" pitchFamily="34" charset="0"/>
                <a:ea typeface="Calibri" pitchFamily="34" charset="-122"/>
                <a:cs typeface="Calibri" pitchFamily="34" charset="-120"/>
              </a:rPr>
              <a:t> scalar quantity.</a:t>
            </a:r>
            <a:endParaRPr lang="en-US" sz="1200" dirty="0"/>
          </a:p>
        </p:txBody>
      </p:sp>
      <p:sp>
        <p:nvSpPr>
          <p:cNvPr id="16" name="Text 14"/>
          <p:cNvSpPr/>
          <p:nvPr/>
        </p:nvSpPr>
        <p:spPr>
          <a:xfrm>
            <a:off x="4518508" y="4221099"/>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7" name="Shape 15"/>
          <p:cNvSpPr/>
          <p:nvPr/>
        </p:nvSpPr>
        <p:spPr>
          <a:xfrm>
            <a:off x="411480" y="4641723"/>
            <a:ext cx="5570068" cy="1621917"/>
          </a:xfrm>
          <a:prstGeom prst="roundRect">
            <a:avLst>
              <a:gd name="adj" fmla="val 2819"/>
            </a:avLst>
          </a:prstGeom>
          <a:solidFill>
            <a:srgbClr val="F5F8FE"/>
          </a:solidFill>
          <a:ln w="9525">
            <a:solidFill>
              <a:srgbClr val="D5DCEB"/>
            </a:solidFill>
            <a:prstDash val="solid"/>
          </a:ln>
        </p:spPr>
      </p:sp>
      <p:sp>
        <p:nvSpPr>
          <p:cNvPr id="18" name="Text 16"/>
          <p:cNvSpPr/>
          <p:nvPr/>
        </p:nvSpPr>
        <p:spPr>
          <a:xfrm>
            <a:off x="548640" y="4714875"/>
            <a:ext cx="4792828" cy="1256157"/>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(c)  </a:t>
            </a:r>
            <a:r>
              <a:rPr lang="en-US" sz="1200" dirty="0">
                <a:solidFill>
                  <a:srgbClr val="262B3A"/>
                </a:solidFill>
                <a:latin typeface="Calibri" pitchFamily="34" charset="0"/>
                <a:ea typeface="Calibri" pitchFamily="34" charset="-122"/>
                <a:cs typeface="Calibri" pitchFamily="34" charset="-120"/>
              </a:rPr>
              <a:t>The children pull with forces of </a:t>
            </a:r>
            <a:r>
              <a:rPr lang="en-US" sz="1200" b="1" dirty="0">
                <a:solidFill>
                  <a:srgbClr val="262B3A"/>
                </a:solidFill>
                <a:latin typeface="Calibri" pitchFamily="34" charset="0"/>
                <a:ea typeface="Calibri" pitchFamily="34" charset="-122"/>
                <a:cs typeface="Calibri" pitchFamily="34" charset="-120"/>
              </a:rPr>
              <a:t>30 N</a:t>
            </a:r>
            <a:r>
              <a:rPr lang="en-US" sz="1200" dirty="0">
                <a:solidFill>
                  <a:srgbClr val="262B3A"/>
                </a:solidFill>
                <a:latin typeface="Calibri" pitchFamily="34" charset="0"/>
                <a:ea typeface="Calibri" pitchFamily="34" charset="-122"/>
                <a:cs typeface="Calibri" pitchFamily="34" charset="-120"/>
              </a:rPr>
              <a:t> east and </a:t>
            </a:r>
            <a:r>
              <a:rPr lang="en-US" sz="1200" b="1" dirty="0">
                <a:solidFill>
                  <a:srgbClr val="262B3A"/>
                </a:solidFill>
                <a:latin typeface="Calibri" pitchFamily="34" charset="0"/>
                <a:ea typeface="Calibri" pitchFamily="34" charset="-122"/>
                <a:cs typeface="Calibri" pitchFamily="34" charset="-120"/>
              </a:rPr>
              <a:t>40 N</a:t>
            </a:r>
            <a:r>
              <a:rPr lang="en-US" sz="1200" dirty="0">
                <a:solidFill>
                  <a:srgbClr val="262B3A"/>
                </a:solidFill>
                <a:latin typeface="Calibri" pitchFamily="34" charset="0"/>
                <a:ea typeface="Calibri" pitchFamily="34" charset="-122"/>
                <a:cs typeface="Calibri" pitchFamily="34" charset="-120"/>
              </a:rPr>
              <a:t> north. Use a scale drawing to find the size and direction of the resultant force.</a:t>
            </a:r>
            <a:endParaRPr lang="en-US" sz="1200" dirty="0"/>
          </a:p>
        </p:txBody>
      </p:sp>
      <p:sp>
        <p:nvSpPr>
          <p:cNvPr id="19" name="Shape 17"/>
          <p:cNvSpPr/>
          <p:nvPr/>
        </p:nvSpPr>
        <p:spPr>
          <a:xfrm>
            <a:off x="5432908" y="4714875"/>
            <a:ext cx="411480" cy="274320"/>
          </a:xfrm>
          <a:prstGeom prst="roundRect">
            <a:avLst>
              <a:gd name="adj" fmla="val 50000"/>
            </a:avLst>
          </a:prstGeom>
          <a:solidFill>
            <a:srgbClr val="C8414C"/>
          </a:solidFill>
          <a:ln w="12700">
            <a:solidFill>
              <a:srgbClr val="C8414C"/>
            </a:solidFill>
            <a:prstDash val="solid"/>
          </a:ln>
        </p:spPr>
      </p:sp>
      <p:sp>
        <p:nvSpPr>
          <p:cNvPr id="20" name="Text 18"/>
          <p:cNvSpPr/>
          <p:nvPr/>
        </p:nvSpPr>
        <p:spPr>
          <a:xfrm>
            <a:off x="5432908" y="4714875"/>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1" name="Text 19"/>
          <p:cNvSpPr/>
          <p:nvPr/>
        </p:nvSpPr>
        <p:spPr>
          <a:xfrm>
            <a:off x="4518508"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2" name="Shape 20"/>
          <p:cNvSpPr/>
          <p:nvPr/>
        </p:nvSpPr>
        <p:spPr>
          <a:xfrm>
            <a:off x="6210148" y="1719072"/>
            <a:ext cx="5570068" cy="1441704"/>
          </a:xfrm>
          <a:prstGeom prst="roundRect">
            <a:avLst>
              <a:gd name="adj" fmla="val 3171"/>
            </a:avLst>
          </a:prstGeom>
          <a:solidFill>
            <a:srgbClr val="F5F8FE"/>
          </a:solidFill>
          <a:ln w="9525">
            <a:solidFill>
              <a:srgbClr val="D5DCEB"/>
            </a:solidFill>
            <a:prstDash val="solid"/>
          </a:ln>
        </p:spPr>
      </p:sp>
      <p:sp>
        <p:nvSpPr>
          <p:cNvPr id="23" name="Text 21"/>
          <p:cNvSpPr/>
          <p:nvPr/>
        </p:nvSpPr>
        <p:spPr>
          <a:xfrm>
            <a:off x="6347308" y="1792224"/>
            <a:ext cx="5295748" cy="1075944"/>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(d)  </a:t>
            </a:r>
            <a:r>
              <a:rPr lang="en-US" sz="1200" dirty="0">
                <a:solidFill>
                  <a:srgbClr val="262B3A"/>
                </a:solidFill>
                <a:latin typeface="Calibri" pitchFamily="34" charset="0"/>
                <a:ea typeface="Calibri" pitchFamily="34" charset="-122"/>
                <a:cs typeface="Calibri" pitchFamily="34" charset="-120"/>
              </a:rPr>
              <a:t>(Physics only) A child of weight </a:t>
            </a:r>
            <a:r>
              <a:rPr lang="en-US" sz="1200" b="1" dirty="0">
                <a:solidFill>
                  <a:srgbClr val="262B3A"/>
                </a:solidFill>
                <a:latin typeface="Calibri" pitchFamily="34" charset="0"/>
                <a:ea typeface="Calibri" pitchFamily="34" charset="-122"/>
                <a:cs typeface="Calibri" pitchFamily="34" charset="-120"/>
              </a:rPr>
              <a:t>300 N</a:t>
            </a:r>
            <a:r>
              <a:rPr lang="en-US" sz="1200" dirty="0">
                <a:solidFill>
                  <a:srgbClr val="262B3A"/>
                </a:solidFill>
                <a:latin typeface="Calibri" pitchFamily="34" charset="0"/>
                <a:ea typeface="Calibri" pitchFamily="34" charset="-122"/>
                <a:cs typeface="Calibri" pitchFamily="34" charset="-120"/>
              </a:rPr>
              <a:t> sits </a:t>
            </a:r>
            <a:r>
              <a:rPr lang="en-US" sz="1200" b="1" dirty="0">
                <a:solidFill>
                  <a:srgbClr val="262B3A"/>
                </a:solidFill>
                <a:latin typeface="Calibri" pitchFamily="34" charset="0"/>
                <a:ea typeface="Calibri" pitchFamily="34" charset="-122"/>
                <a:cs typeface="Calibri" pitchFamily="34" charset="-120"/>
              </a:rPr>
              <a:t>2.0 m</a:t>
            </a:r>
            <a:r>
              <a:rPr lang="en-US" sz="1200" dirty="0">
                <a:solidFill>
                  <a:srgbClr val="262B3A"/>
                </a:solidFill>
                <a:latin typeface="Calibri" pitchFamily="34" charset="0"/>
                <a:ea typeface="Calibri" pitchFamily="34" charset="-122"/>
                <a:cs typeface="Calibri" pitchFamily="34" charset="-120"/>
              </a:rPr>
              <a:t> from the pivot of the see-saw. Calculate the moment of her weight about the pivot. Give the unit.</a:t>
            </a:r>
            <a:endParaRPr lang="en-US" sz="1200" dirty="0"/>
          </a:p>
        </p:txBody>
      </p:sp>
      <p:sp>
        <p:nvSpPr>
          <p:cNvPr id="24" name="Text 22"/>
          <p:cNvSpPr/>
          <p:nvPr/>
        </p:nvSpPr>
        <p:spPr>
          <a:xfrm>
            <a:off x="10317175" y="2849880"/>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5" name="Shape 23"/>
          <p:cNvSpPr/>
          <p:nvPr/>
        </p:nvSpPr>
        <p:spPr>
          <a:xfrm>
            <a:off x="6210148" y="3270504"/>
            <a:ext cx="5570068" cy="1441704"/>
          </a:xfrm>
          <a:prstGeom prst="roundRect">
            <a:avLst>
              <a:gd name="adj" fmla="val 3171"/>
            </a:avLst>
          </a:prstGeom>
          <a:solidFill>
            <a:srgbClr val="FFFFFF"/>
          </a:solidFill>
          <a:ln w="9525">
            <a:solidFill>
              <a:srgbClr val="D5DCEB"/>
            </a:solidFill>
            <a:prstDash val="solid"/>
          </a:ln>
        </p:spPr>
      </p:sp>
      <p:sp>
        <p:nvSpPr>
          <p:cNvPr id="26" name="Text 24"/>
          <p:cNvSpPr/>
          <p:nvPr/>
        </p:nvSpPr>
        <p:spPr>
          <a:xfrm>
            <a:off x="6347308" y="3343656"/>
            <a:ext cx="5295748" cy="1075944"/>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(e)  </a:t>
            </a:r>
            <a:r>
              <a:rPr lang="en-US" sz="1200" dirty="0">
                <a:solidFill>
                  <a:srgbClr val="262B3A"/>
                </a:solidFill>
                <a:latin typeface="Calibri" pitchFamily="34" charset="0"/>
                <a:ea typeface="Calibri" pitchFamily="34" charset="-122"/>
                <a:cs typeface="Calibri" pitchFamily="34" charset="-120"/>
              </a:rPr>
              <a:t>(Physics only) Her friend has a weight of </a:t>
            </a:r>
            <a:r>
              <a:rPr lang="en-US" sz="1200" b="1" dirty="0">
                <a:solidFill>
                  <a:srgbClr val="262B3A"/>
                </a:solidFill>
                <a:latin typeface="Calibri" pitchFamily="34" charset="0"/>
                <a:ea typeface="Calibri" pitchFamily="34" charset="-122"/>
                <a:cs typeface="Calibri" pitchFamily="34" charset="-120"/>
              </a:rPr>
              <a:t>400 N</a:t>
            </a:r>
            <a:r>
              <a:rPr lang="en-US" sz="1200" dirty="0">
                <a:solidFill>
                  <a:srgbClr val="262B3A"/>
                </a:solidFill>
                <a:latin typeface="Calibri" pitchFamily="34" charset="0"/>
                <a:ea typeface="Calibri" pitchFamily="34" charset="-122"/>
                <a:cs typeface="Calibri" pitchFamily="34" charset="-120"/>
              </a:rPr>
              <a:t>. Calculate how far from the pivot he must sit, on the other side, for the see-saw to balance.</a:t>
            </a:r>
            <a:endParaRPr lang="en-US" sz="1200" dirty="0"/>
          </a:p>
        </p:txBody>
      </p:sp>
      <p:sp>
        <p:nvSpPr>
          <p:cNvPr id="27" name="Text 25"/>
          <p:cNvSpPr/>
          <p:nvPr/>
        </p:nvSpPr>
        <p:spPr>
          <a:xfrm>
            <a:off x="10317175" y="4401312"/>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8" name="Shape 26"/>
          <p:cNvSpPr/>
          <p:nvPr/>
        </p:nvSpPr>
        <p:spPr>
          <a:xfrm>
            <a:off x="6210148" y="4821936"/>
            <a:ext cx="5570068" cy="1441704"/>
          </a:xfrm>
          <a:prstGeom prst="roundRect">
            <a:avLst>
              <a:gd name="adj" fmla="val 3171"/>
            </a:avLst>
          </a:prstGeom>
          <a:solidFill>
            <a:srgbClr val="F5F8FE"/>
          </a:solidFill>
          <a:ln w="9525">
            <a:solidFill>
              <a:srgbClr val="D5DCEB"/>
            </a:solidFill>
            <a:prstDash val="solid"/>
          </a:ln>
        </p:spPr>
      </p:sp>
      <p:sp>
        <p:nvSpPr>
          <p:cNvPr id="29" name="Text 27"/>
          <p:cNvSpPr/>
          <p:nvPr/>
        </p:nvSpPr>
        <p:spPr>
          <a:xfrm>
            <a:off x="6347308" y="4895088"/>
            <a:ext cx="5295748" cy="1075944"/>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(f)  </a:t>
            </a:r>
            <a:r>
              <a:rPr lang="en-US" sz="1200" dirty="0">
                <a:solidFill>
                  <a:srgbClr val="262B3A"/>
                </a:solidFill>
                <a:latin typeface="Calibri" pitchFamily="34" charset="0"/>
                <a:ea typeface="Calibri" pitchFamily="34" charset="-122"/>
                <a:cs typeface="Calibri" pitchFamily="34" charset="-120"/>
              </a:rPr>
              <a:t>(Physics only) Explain why it is easier to open a door by pushing at the handle than by pushing near the hinge.</a:t>
            </a:r>
            <a:endParaRPr lang="en-US" sz="1200" dirty="0"/>
          </a:p>
        </p:txBody>
      </p:sp>
      <p:sp>
        <p:nvSpPr>
          <p:cNvPr id="30" name="Text 28"/>
          <p:cNvSpPr/>
          <p:nvPr/>
        </p:nvSpPr>
        <p:spPr>
          <a:xfrm>
            <a:off x="10317175"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31" name="Text 29"/>
          <p:cNvSpPr/>
          <p:nvPr/>
        </p:nvSpPr>
        <p:spPr>
          <a:xfrm>
            <a:off x="9448495" y="6236208"/>
            <a:ext cx="2331720" cy="219456"/>
          </a:xfrm>
          <a:prstGeom prst="rect">
            <a:avLst/>
          </a:prstGeom>
          <a:noFill/>
          <a:ln/>
        </p:spPr>
        <p:txBody>
          <a:bodyPr wrap="square" lIns="0" tIns="0" rIns="0" bIns="0" rtlCol="0" anchor="ctr"/>
          <a:lstStyle/>
          <a:p>
            <a:pPr algn="r" indent="0" marL="0">
              <a:buNone/>
            </a:pPr>
            <a:r>
              <a:rPr lang="en-US" sz="1100" b="1" dirty="0">
                <a:solidFill>
                  <a:srgbClr val="B8730A"/>
                </a:solidFill>
                <a:latin typeface="Calibri" pitchFamily="34" charset="0"/>
                <a:ea typeface="Calibri" pitchFamily="34" charset="-122"/>
                <a:cs typeface="Calibri" pitchFamily="34" charset="-120"/>
              </a:rPr>
              <a:t>Total: 13 marks</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3A63C9"/>
        </a:solidFill>
      </p:bgPr>
    </p:bg>
    <p:spTree>
      <p:nvGrpSpPr>
        <p:cNvPr id="1" name=""/>
        <p:cNvGrpSpPr/>
        <p:nvPr/>
      </p:nvGrpSpPr>
      <p:grpSpPr>
        <a:xfrm>
          <a:off x="0" y="0"/>
          <a:ext cx="0" cy="0"/>
          <a:chOff x="0" y="0"/>
          <a:chExt cx="0" cy="0"/>
        </a:xfrm>
      </p:grpSpPr>
      <p:sp>
        <p:nvSpPr>
          <p:cNvPr id="2" name="Shape 0"/>
          <p:cNvSpPr/>
          <p:nvPr/>
        </p:nvSpPr>
        <p:spPr>
          <a:xfrm>
            <a:off x="8503920" y="-1097280"/>
            <a:ext cx="5029200" cy="5029200"/>
          </a:xfrm>
          <a:prstGeom prst="ellipse">
            <a:avLst/>
          </a:prstGeom>
          <a:solidFill>
            <a:srgbClr val="2B4C9B"/>
          </a:solidFill>
          <a:ln w="12700">
            <a:solidFill>
              <a:srgbClr val="2B4C9B"/>
            </a:solidFill>
            <a:prstDash val="solid"/>
          </a:ln>
        </p:spPr>
      </p:sp>
      <p:sp>
        <p:nvSpPr>
          <p:cNvPr id="3" name="Shape 1"/>
          <p:cNvSpPr/>
          <p:nvPr/>
        </p:nvSpPr>
        <p:spPr>
          <a:xfrm>
            <a:off x="914400" y="2148840"/>
            <a:ext cx="1463040" cy="1463040"/>
          </a:xfrm>
          <a:prstGeom prst="ellipse">
            <a:avLst/>
          </a:prstGeom>
          <a:solidFill>
            <a:srgbClr val="FFFFFF"/>
          </a:solidFill>
          <a:ln w="12700">
            <a:solidFill>
              <a:srgbClr val="FFFFFF"/>
            </a:solidFill>
            <a:prstDash val="solid"/>
          </a:ln>
        </p:spPr>
      </p:sp>
      <p:sp>
        <p:nvSpPr>
          <p:cNvPr id="4" name="Shape 2"/>
          <p:cNvSpPr/>
          <p:nvPr/>
        </p:nvSpPr>
        <p:spPr>
          <a:xfrm rot="-2700000">
            <a:off x="1143000" y="2779776"/>
            <a:ext cx="914400" cy="201168"/>
          </a:xfrm>
          <a:prstGeom prst="rect">
            <a:avLst/>
          </a:prstGeom>
          <a:solidFill>
            <a:srgbClr val="3A63C9"/>
          </a:solidFill>
          <a:ln w="12700">
            <a:solidFill>
              <a:srgbClr val="3A63C9"/>
            </a:solidFill>
            <a:prstDash val="solid"/>
          </a:ln>
        </p:spPr>
      </p:sp>
      <p:sp>
        <p:nvSpPr>
          <p:cNvPr id="5" name="Shape 3"/>
          <p:cNvSpPr/>
          <p:nvPr/>
        </p:nvSpPr>
        <p:spPr>
          <a:xfrm rot="13500000">
            <a:off x="1161288" y="3044952"/>
            <a:ext cx="201168" cy="219456"/>
          </a:xfrm>
          <a:prstGeom prst="triangle">
            <a:avLst/>
          </a:prstGeom>
          <a:solidFill>
            <a:srgbClr val="F5A742"/>
          </a:solidFill>
          <a:ln w="12700">
            <a:solidFill>
              <a:srgbClr val="F5A742"/>
            </a:solidFill>
            <a:prstDash val="solid"/>
          </a:ln>
        </p:spPr>
      </p:sp>
      <p:sp>
        <p:nvSpPr>
          <p:cNvPr id="6" name="Shape 4"/>
          <p:cNvSpPr/>
          <p:nvPr/>
        </p:nvSpPr>
        <p:spPr>
          <a:xfrm rot="-2700000">
            <a:off x="1947672" y="2377440"/>
            <a:ext cx="182880" cy="201168"/>
          </a:xfrm>
          <a:prstGeom prst="rect">
            <a:avLst/>
          </a:prstGeom>
          <a:solidFill>
            <a:srgbClr val="C8414C"/>
          </a:solidFill>
          <a:ln w="12700">
            <a:solidFill>
              <a:srgbClr val="C8414C"/>
            </a:solidFill>
            <a:prstDash val="solid"/>
          </a:ln>
        </p:spPr>
      </p:sp>
      <p:sp>
        <p:nvSpPr>
          <p:cNvPr id="7" name="Text 5"/>
          <p:cNvSpPr/>
          <p:nvPr/>
        </p:nvSpPr>
        <p:spPr>
          <a:xfrm>
            <a:off x="2743200" y="2103120"/>
            <a:ext cx="6400800" cy="100584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Homework</a:t>
            </a:r>
            <a:endParaRPr lang="en-US" sz="5400" dirty="0"/>
          </a:p>
        </p:txBody>
      </p:sp>
      <p:sp>
        <p:nvSpPr>
          <p:cNvPr id="8" name="Text 6"/>
          <p:cNvSpPr/>
          <p:nvPr/>
        </p:nvSpPr>
        <p:spPr>
          <a:xfrm>
            <a:off x="2743200" y="3108960"/>
            <a:ext cx="7315200" cy="457200"/>
          </a:xfrm>
          <a:prstGeom prst="rect">
            <a:avLst/>
          </a:prstGeom>
          <a:noFill/>
          <a:ln/>
        </p:spPr>
        <p:txBody>
          <a:bodyPr wrap="square" lIns="0" tIns="0" rIns="0" bIns="0" rtlCol="0" anchor="ctr"/>
          <a:lstStyle/>
          <a:p>
            <a:pPr indent="0" marL="0">
              <a:buNone/>
            </a:pPr>
            <a:r>
              <a:rPr lang="en-US" sz="1800" i="1" dirty="0">
                <a:solidFill>
                  <a:srgbClr val="E1E8FA"/>
                </a:solidFill>
                <a:latin typeface="Calibri" pitchFamily="34" charset="0"/>
                <a:ea typeface="Calibri" pitchFamily="34" charset="-122"/>
                <a:cs typeface="Calibri" pitchFamily="34" charset="-120"/>
              </a:rPr>
              <a:t>Topic 9 Forces and their effects • 17 marks • about 30 minutes</a:t>
            </a:r>
            <a:endParaRPr lang="en-US" sz="1800" dirty="0"/>
          </a:p>
        </p:txBody>
      </p:sp>
      <p:sp>
        <p:nvSpPr>
          <p:cNvPr id="9" name="Text 7"/>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A9B4CF"/>
                </a:solidFill>
                <a:latin typeface="Calibri" pitchFamily="34" charset="0"/>
                <a:ea typeface="Calibri" pitchFamily="34" charset="-122"/>
                <a:cs typeface="Calibri" pitchFamily="34" charset="-120"/>
              </a:rPr>
              <a:t>Pearson Edexcel GCSE (9–1) Physics (1PH0) | Topic 9 Forces and their effects | Higher &amp; Foundation</a:t>
            </a:r>
            <a:endParaRPr lang="en-US" sz="1000" dirty="0"/>
          </a:p>
        </p:txBody>
      </p:sp>
      <p:sp>
        <p:nvSpPr>
          <p:cNvPr id="10" name="Text 8"/>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A9B4CF"/>
                </a:solidFill>
                <a:latin typeface="Calibri" pitchFamily="34" charset="0"/>
                <a:ea typeface="Calibri" pitchFamily="34" charset="-122"/>
                <a:cs typeface="Calibri" pitchFamily="34" charset="-120"/>
              </a:rPr>
              <a:t>Homework  |  35</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Homework</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Answer in full sentences • show all working • 17 marks</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9 Forces and their effects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Homework  |  36</a:t>
            </a:r>
            <a:endParaRPr lang="en-US" sz="1000" dirty="0"/>
          </a:p>
        </p:txBody>
      </p:sp>
      <p:sp>
        <p:nvSpPr>
          <p:cNvPr id="10" name="Text 8"/>
          <p:cNvSpPr/>
          <p:nvPr/>
        </p:nvSpPr>
        <p:spPr>
          <a:xfrm>
            <a:off x="411480" y="1115568"/>
            <a:ext cx="11368735" cy="347472"/>
          </a:xfrm>
          <a:prstGeom prst="rect">
            <a:avLst/>
          </a:prstGeom>
          <a:noFill/>
          <a:ln/>
        </p:spPr>
        <p:txBody>
          <a:bodyPr wrap="square" lIns="0" tIns="0" rIns="0" bIns="0" rtlCol="0" anchor="ctr"/>
          <a:lstStyle/>
          <a:p>
            <a:pPr indent="0" marL="0">
              <a:buNone/>
            </a:pPr>
            <a:r>
              <a:rPr lang="en-US" sz="1150" i="1" dirty="0">
                <a:solidFill>
                  <a:srgbClr val="262B3A"/>
                </a:solidFill>
                <a:latin typeface="Calibri" pitchFamily="34" charset="0"/>
                <a:ea typeface="Calibri" pitchFamily="34" charset="-122"/>
                <a:cs typeface="Calibri" pitchFamily="34" charset="-120"/>
              </a:rPr>
              <a:t>Combined Science (1SC0) students: answer Q1–Q3 only (7 marks).</a:t>
            </a:r>
            <a:endParaRPr lang="en-US" sz="1150" dirty="0"/>
          </a:p>
        </p:txBody>
      </p:sp>
      <p:sp>
        <p:nvSpPr>
          <p:cNvPr id="11" name="Shape 9"/>
          <p:cNvSpPr/>
          <p:nvPr/>
        </p:nvSpPr>
        <p:spPr>
          <a:xfrm>
            <a:off x="411480" y="1517904"/>
            <a:ext cx="5570068" cy="1530096"/>
          </a:xfrm>
          <a:prstGeom prst="roundRect">
            <a:avLst>
              <a:gd name="adj" fmla="val 2988"/>
            </a:avLst>
          </a:prstGeom>
          <a:solidFill>
            <a:srgbClr val="F5F8FE"/>
          </a:solidFill>
          <a:ln w="9525">
            <a:solidFill>
              <a:srgbClr val="D5DCEB"/>
            </a:solidFill>
            <a:prstDash val="solid"/>
          </a:ln>
        </p:spPr>
      </p:sp>
      <p:sp>
        <p:nvSpPr>
          <p:cNvPr id="12" name="Text 10"/>
          <p:cNvSpPr/>
          <p:nvPr/>
        </p:nvSpPr>
        <p:spPr>
          <a:xfrm>
            <a:off x="548640" y="1591056"/>
            <a:ext cx="5295748" cy="1182624"/>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1  </a:t>
            </a:r>
            <a:r>
              <a:rPr lang="en-US" sz="1150" dirty="0">
                <a:solidFill>
                  <a:srgbClr val="262B3A"/>
                </a:solidFill>
                <a:latin typeface="Calibri" pitchFamily="34" charset="0"/>
                <a:ea typeface="Calibri" pitchFamily="34" charset="-122"/>
                <a:cs typeface="Calibri" pitchFamily="34" charset="-120"/>
              </a:rPr>
              <a:t>Which </a:t>
            </a:r>
            <a:r>
              <a:rPr lang="en-US" sz="1150" b="1" dirty="0">
                <a:solidFill>
                  <a:srgbClr val="262B3A"/>
                </a:solidFill>
                <a:latin typeface="Calibri" pitchFamily="34" charset="0"/>
                <a:ea typeface="Calibri" pitchFamily="34" charset="-122"/>
                <a:cs typeface="Calibri" pitchFamily="34" charset="-120"/>
              </a:rPr>
              <a:t>one</a:t>
            </a:r>
            <a:r>
              <a:rPr lang="en-US" sz="1150" dirty="0">
                <a:solidFill>
                  <a:srgbClr val="262B3A"/>
                </a:solidFill>
                <a:latin typeface="Calibri" pitchFamily="34" charset="0"/>
                <a:ea typeface="Calibri" pitchFamily="34" charset="-122"/>
                <a:cs typeface="Calibri" pitchFamily="34" charset="-120"/>
              </a:rPr>
              <a:t> of these is a non-contact force? friction • magnetic force • tension • normal contact force</a:t>
            </a:r>
            <a:endParaRPr lang="en-US" sz="1150" dirty="0"/>
          </a:p>
        </p:txBody>
      </p:sp>
      <p:sp>
        <p:nvSpPr>
          <p:cNvPr id="13" name="Text 11"/>
          <p:cNvSpPr/>
          <p:nvPr/>
        </p:nvSpPr>
        <p:spPr>
          <a:xfrm>
            <a:off x="4518508" y="2755392"/>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4" name="Shape 12"/>
          <p:cNvSpPr/>
          <p:nvPr/>
        </p:nvSpPr>
        <p:spPr>
          <a:xfrm>
            <a:off x="411480" y="3157728"/>
            <a:ext cx="5570068" cy="1530096"/>
          </a:xfrm>
          <a:prstGeom prst="roundRect">
            <a:avLst>
              <a:gd name="adj" fmla="val 2988"/>
            </a:avLst>
          </a:prstGeom>
          <a:solidFill>
            <a:srgbClr val="F5F8FE"/>
          </a:solidFill>
          <a:ln w="9525">
            <a:solidFill>
              <a:srgbClr val="D5DCEB"/>
            </a:solidFill>
            <a:prstDash val="solid"/>
          </a:ln>
        </p:spPr>
      </p:sp>
      <p:sp>
        <p:nvSpPr>
          <p:cNvPr id="15" name="Text 13"/>
          <p:cNvSpPr/>
          <p:nvPr/>
        </p:nvSpPr>
        <p:spPr>
          <a:xfrm>
            <a:off x="548640" y="3230880"/>
            <a:ext cx="5295748" cy="1182624"/>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2  </a:t>
            </a:r>
            <a:r>
              <a:rPr lang="en-US" sz="1150" dirty="0">
                <a:solidFill>
                  <a:srgbClr val="262B3A"/>
                </a:solidFill>
                <a:latin typeface="Calibri" pitchFamily="34" charset="0"/>
                <a:ea typeface="Calibri" pitchFamily="34" charset="-122"/>
                <a:cs typeface="Calibri" pitchFamily="34" charset="-120"/>
              </a:rPr>
              <a:t>Explain the difference between a </a:t>
            </a:r>
            <a:r>
              <a:rPr lang="en-US" sz="1150" b="1" dirty="0">
                <a:solidFill>
                  <a:srgbClr val="262B3A"/>
                </a:solidFill>
                <a:latin typeface="Calibri" pitchFamily="34" charset="0"/>
                <a:ea typeface="Calibri" pitchFamily="34" charset="-122"/>
                <a:cs typeface="Calibri" pitchFamily="34" charset="-120"/>
              </a:rPr>
              <a:t>vector</a:t>
            </a:r>
            <a:r>
              <a:rPr lang="en-US" sz="1150" dirty="0">
                <a:solidFill>
                  <a:srgbClr val="262B3A"/>
                </a:solidFill>
                <a:latin typeface="Calibri" pitchFamily="34" charset="0"/>
                <a:ea typeface="Calibri" pitchFamily="34" charset="-122"/>
                <a:cs typeface="Calibri" pitchFamily="34" charset="-120"/>
              </a:rPr>
              <a:t> and a </a:t>
            </a:r>
            <a:r>
              <a:rPr lang="en-US" sz="1150" b="1" dirty="0">
                <a:solidFill>
                  <a:srgbClr val="262B3A"/>
                </a:solidFill>
                <a:latin typeface="Calibri" pitchFamily="34" charset="0"/>
                <a:ea typeface="Calibri" pitchFamily="34" charset="-122"/>
                <a:cs typeface="Calibri" pitchFamily="34" charset="-120"/>
              </a:rPr>
              <a:t>scalar</a:t>
            </a:r>
            <a:r>
              <a:rPr lang="en-US" sz="1150" dirty="0">
                <a:solidFill>
                  <a:srgbClr val="262B3A"/>
                </a:solidFill>
                <a:latin typeface="Calibri" pitchFamily="34" charset="0"/>
                <a:ea typeface="Calibri" pitchFamily="34" charset="-122"/>
                <a:cs typeface="Calibri" pitchFamily="34" charset="-120"/>
              </a:rPr>
              <a:t> quantity. Give </a:t>
            </a:r>
            <a:r>
              <a:rPr lang="en-US" sz="1150" b="1" dirty="0">
                <a:solidFill>
                  <a:srgbClr val="262B3A"/>
                </a:solidFill>
                <a:latin typeface="Calibri" pitchFamily="34" charset="0"/>
                <a:ea typeface="Calibri" pitchFamily="34" charset="-122"/>
                <a:cs typeface="Calibri" pitchFamily="34" charset="-120"/>
              </a:rPr>
              <a:t>one</a:t>
            </a:r>
            <a:r>
              <a:rPr lang="en-US" sz="1150" dirty="0">
                <a:solidFill>
                  <a:srgbClr val="262B3A"/>
                </a:solidFill>
                <a:latin typeface="Calibri" pitchFamily="34" charset="0"/>
                <a:ea typeface="Calibri" pitchFamily="34" charset="-122"/>
                <a:cs typeface="Calibri" pitchFamily="34" charset="-120"/>
              </a:rPr>
              <a:t> example of each.</a:t>
            </a:r>
            <a:endParaRPr lang="en-US" sz="1150" dirty="0"/>
          </a:p>
        </p:txBody>
      </p:sp>
      <p:sp>
        <p:nvSpPr>
          <p:cNvPr id="16" name="Text 14"/>
          <p:cNvSpPr/>
          <p:nvPr/>
        </p:nvSpPr>
        <p:spPr>
          <a:xfrm>
            <a:off x="4518508" y="4395216"/>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7" name="Shape 15"/>
          <p:cNvSpPr/>
          <p:nvPr/>
        </p:nvSpPr>
        <p:spPr>
          <a:xfrm>
            <a:off x="411480" y="4797552"/>
            <a:ext cx="5570068" cy="1530096"/>
          </a:xfrm>
          <a:prstGeom prst="roundRect">
            <a:avLst>
              <a:gd name="adj" fmla="val 2988"/>
            </a:avLst>
          </a:prstGeom>
          <a:solidFill>
            <a:srgbClr val="F5F8FE"/>
          </a:solidFill>
          <a:ln w="9525">
            <a:solidFill>
              <a:srgbClr val="D5DCEB"/>
            </a:solidFill>
            <a:prstDash val="solid"/>
          </a:ln>
        </p:spPr>
      </p:sp>
      <p:sp>
        <p:nvSpPr>
          <p:cNvPr id="18" name="Text 16"/>
          <p:cNvSpPr/>
          <p:nvPr/>
        </p:nvSpPr>
        <p:spPr>
          <a:xfrm>
            <a:off x="548640" y="4870704"/>
            <a:ext cx="4792828" cy="1182624"/>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3  </a:t>
            </a:r>
            <a:r>
              <a:rPr lang="en-US" sz="1150" dirty="0">
                <a:solidFill>
                  <a:srgbClr val="262B3A"/>
                </a:solidFill>
                <a:latin typeface="Calibri" pitchFamily="34" charset="0"/>
                <a:ea typeface="Calibri" pitchFamily="34" charset="-122"/>
                <a:cs typeface="Calibri" pitchFamily="34" charset="-120"/>
              </a:rPr>
              <a:t>A box has a </a:t>
            </a:r>
            <a:r>
              <a:rPr lang="en-US" sz="1150" b="1" dirty="0">
                <a:solidFill>
                  <a:srgbClr val="262B3A"/>
                </a:solidFill>
                <a:latin typeface="Calibri" pitchFamily="34" charset="0"/>
                <a:ea typeface="Calibri" pitchFamily="34" charset="-122"/>
                <a:cs typeface="Calibri" pitchFamily="34" charset="-120"/>
              </a:rPr>
              <a:t>60 N</a:t>
            </a:r>
            <a:r>
              <a:rPr lang="en-US" sz="1150" dirty="0">
                <a:solidFill>
                  <a:srgbClr val="262B3A"/>
                </a:solidFill>
                <a:latin typeface="Calibri" pitchFamily="34" charset="0"/>
                <a:ea typeface="Calibri" pitchFamily="34" charset="-122"/>
                <a:cs typeface="Calibri" pitchFamily="34" charset="-120"/>
              </a:rPr>
              <a:t> push to the right and </a:t>
            </a:r>
            <a:r>
              <a:rPr lang="en-US" sz="1150" b="1" dirty="0">
                <a:solidFill>
                  <a:srgbClr val="262B3A"/>
                </a:solidFill>
                <a:latin typeface="Calibri" pitchFamily="34" charset="0"/>
                <a:ea typeface="Calibri" pitchFamily="34" charset="-122"/>
                <a:cs typeface="Calibri" pitchFamily="34" charset="-120"/>
              </a:rPr>
              <a:t>45 N</a:t>
            </a:r>
            <a:r>
              <a:rPr lang="en-US" sz="1150" dirty="0">
                <a:solidFill>
                  <a:srgbClr val="262B3A"/>
                </a:solidFill>
                <a:latin typeface="Calibri" pitchFamily="34" charset="0"/>
                <a:ea typeface="Calibri" pitchFamily="34" charset="-122"/>
                <a:cs typeface="Calibri" pitchFamily="34" charset="-120"/>
              </a:rPr>
              <a:t> of friction acting on it. Its weight is </a:t>
            </a:r>
            <a:r>
              <a:rPr lang="en-US" sz="1150" b="1" dirty="0">
                <a:solidFill>
                  <a:srgbClr val="262B3A"/>
                </a:solidFill>
                <a:latin typeface="Calibri" pitchFamily="34" charset="0"/>
                <a:ea typeface="Calibri" pitchFamily="34" charset="-122"/>
                <a:cs typeface="Calibri" pitchFamily="34" charset="-120"/>
              </a:rPr>
              <a:t>80 N</a:t>
            </a:r>
            <a:r>
              <a:rPr lang="en-US" sz="1150" dirty="0">
                <a:solidFill>
                  <a:srgbClr val="262B3A"/>
                </a:solidFill>
                <a:latin typeface="Calibri" pitchFamily="34" charset="0"/>
                <a:ea typeface="Calibri" pitchFamily="34" charset="-122"/>
                <a:cs typeface="Calibri" pitchFamily="34" charset="-120"/>
              </a:rPr>
              <a:t>. Draw a free body diagram and calculate the resultant force.</a:t>
            </a:r>
            <a:endParaRPr lang="en-US" sz="1150" dirty="0"/>
          </a:p>
        </p:txBody>
      </p:sp>
      <p:sp>
        <p:nvSpPr>
          <p:cNvPr id="19" name="Shape 17"/>
          <p:cNvSpPr/>
          <p:nvPr/>
        </p:nvSpPr>
        <p:spPr>
          <a:xfrm>
            <a:off x="5432908" y="4870704"/>
            <a:ext cx="411480" cy="274320"/>
          </a:xfrm>
          <a:prstGeom prst="roundRect">
            <a:avLst>
              <a:gd name="adj" fmla="val 50000"/>
            </a:avLst>
          </a:prstGeom>
          <a:solidFill>
            <a:srgbClr val="C8414C"/>
          </a:solidFill>
          <a:ln w="12700">
            <a:solidFill>
              <a:srgbClr val="C8414C"/>
            </a:solidFill>
            <a:prstDash val="solid"/>
          </a:ln>
        </p:spPr>
      </p:sp>
      <p:sp>
        <p:nvSpPr>
          <p:cNvPr id="20" name="Text 18"/>
          <p:cNvSpPr/>
          <p:nvPr/>
        </p:nvSpPr>
        <p:spPr>
          <a:xfrm>
            <a:off x="5432908" y="4870704"/>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1" name="Text 19"/>
          <p:cNvSpPr/>
          <p:nvPr/>
        </p:nvSpPr>
        <p:spPr>
          <a:xfrm>
            <a:off x="4518508"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2" name="Shape 20"/>
          <p:cNvSpPr/>
          <p:nvPr/>
        </p:nvSpPr>
        <p:spPr>
          <a:xfrm>
            <a:off x="6210148" y="1517904"/>
            <a:ext cx="5570068" cy="1067509"/>
          </a:xfrm>
          <a:prstGeom prst="roundRect">
            <a:avLst>
              <a:gd name="adj" fmla="val 4283"/>
            </a:avLst>
          </a:prstGeom>
          <a:solidFill>
            <a:srgbClr val="F5F8FE"/>
          </a:solidFill>
          <a:ln w="9525">
            <a:solidFill>
              <a:srgbClr val="D5DCEB"/>
            </a:solidFill>
            <a:prstDash val="solid"/>
          </a:ln>
        </p:spPr>
      </p:sp>
      <p:sp>
        <p:nvSpPr>
          <p:cNvPr id="23" name="Text 21"/>
          <p:cNvSpPr/>
          <p:nvPr/>
        </p:nvSpPr>
        <p:spPr>
          <a:xfrm>
            <a:off x="6347308" y="1591056"/>
            <a:ext cx="5295748" cy="720037"/>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4  </a:t>
            </a:r>
            <a:r>
              <a:rPr lang="en-US" sz="1150" dirty="0">
                <a:solidFill>
                  <a:srgbClr val="262B3A"/>
                </a:solidFill>
                <a:latin typeface="Calibri" pitchFamily="34" charset="0"/>
                <a:ea typeface="Calibri" pitchFamily="34" charset="-122"/>
                <a:cs typeface="Calibri" pitchFamily="34" charset="-120"/>
              </a:rPr>
              <a:t>(Physics only) A force of </a:t>
            </a:r>
            <a:r>
              <a:rPr lang="en-US" sz="1150" b="1" dirty="0">
                <a:solidFill>
                  <a:srgbClr val="262B3A"/>
                </a:solidFill>
                <a:latin typeface="Calibri" pitchFamily="34" charset="0"/>
                <a:ea typeface="Calibri" pitchFamily="34" charset="-122"/>
                <a:cs typeface="Calibri" pitchFamily="34" charset="-120"/>
              </a:rPr>
              <a:t>45 N</a:t>
            </a:r>
            <a:r>
              <a:rPr lang="en-US" sz="1150" dirty="0">
                <a:solidFill>
                  <a:srgbClr val="262B3A"/>
                </a:solidFill>
                <a:latin typeface="Calibri" pitchFamily="34" charset="0"/>
                <a:ea typeface="Calibri" pitchFamily="34" charset="-122"/>
                <a:cs typeface="Calibri" pitchFamily="34" charset="-120"/>
              </a:rPr>
              <a:t> acts at right angles to a spanner </a:t>
            </a:r>
            <a:r>
              <a:rPr lang="en-US" sz="1150" b="1" dirty="0">
                <a:solidFill>
                  <a:srgbClr val="262B3A"/>
                </a:solidFill>
                <a:latin typeface="Calibri" pitchFamily="34" charset="0"/>
                <a:ea typeface="Calibri" pitchFamily="34" charset="-122"/>
                <a:cs typeface="Calibri" pitchFamily="34" charset="-120"/>
              </a:rPr>
              <a:t>0.20 m</a:t>
            </a:r>
            <a:r>
              <a:rPr lang="en-US" sz="1150" dirty="0">
                <a:solidFill>
                  <a:srgbClr val="262B3A"/>
                </a:solidFill>
                <a:latin typeface="Calibri" pitchFamily="34" charset="0"/>
                <a:ea typeface="Calibri" pitchFamily="34" charset="-122"/>
                <a:cs typeface="Calibri" pitchFamily="34" charset="-120"/>
              </a:rPr>
              <a:t> from the nut. Calculate the moment.</a:t>
            </a:r>
            <a:endParaRPr lang="en-US" sz="1150" dirty="0"/>
          </a:p>
        </p:txBody>
      </p:sp>
      <p:sp>
        <p:nvSpPr>
          <p:cNvPr id="24" name="Text 22"/>
          <p:cNvSpPr/>
          <p:nvPr/>
        </p:nvSpPr>
        <p:spPr>
          <a:xfrm>
            <a:off x="10317175" y="2292805"/>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5" name="Shape 23"/>
          <p:cNvSpPr/>
          <p:nvPr/>
        </p:nvSpPr>
        <p:spPr>
          <a:xfrm>
            <a:off x="6210148" y="2695141"/>
            <a:ext cx="5570068" cy="1067509"/>
          </a:xfrm>
          <a:prstGeom prst="roundRect">
            <a:avLst>
              <a:gd name="adj" fmla="val 4283"/>
            </a:avLst>
          </a:prstGeom>
          <a:solidFill>
            <a:srgbClr val="F5F8FE"/>
          </a:solidFill>
          <a:ln w="9525">
            <a:solidFill>
              <a:srgbClr val="D5DCEB"/>
            </a:solidFill>
            <a:prstDash val="solid"/>
          </a:ln>
        </p:spPr>
      </p:sp>
      <p:sp>
        <p:nvSpPr>
          <p:cNvPr id="26" name="Text 24"/>
          <p:cNvSpPr/>
          <p:nvPr/>
        </p:nvSpPr>
        <p:spPr>
          <a:xfrm>
            <a:off x="6347308" y="2768293"/>
            <a:ext cx="5295748" cy="720037"/>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5  </a:t>
            </a:r>
            <a:r>
              <a:rPr lang="en-US" sz="1150" dirty="0">
                <a:solidFill>
                  <a:srgbClr val="262B3A"/>
                </a:solidFill>
                <a:latin typeface="Calibri" pitchFamily="34" charset="0"/>
                <a:ea typeface="Calibri" pitchFamily="34" charset="-122"/>
                <a:cs typeface="Calibri" pitchFamily="34" charset="-120"/>
              </a:rPr>
              <a:t>(Physics only) A small gear drives a larger gear. Explain why the larger gear turns with a </a:t>
            </a:r>
            <a:r>
              <a:rPr lang="en-US" sz="1150" b="1" dirty="0">
                <a:solidFill>
                  <a:srgbClr val="262B3A"/>
                </a:solidFill>
                <a:latin typeface="Calibri" pitchFamily="34" charset="0"/>
                <a:ea typeface="Calibri" pitchFamily="34" charset="-122"/>
                <a:cs typeface="Calibri" pitchFamily="34" charset="-120"/>
              </a:rPr>
              <a:t>larger moment</a:t>
            </a:r>
            <a:r>
              <a:rPr lang="en-US" sz="1150" dirty="0">
                <a:solidFill>
                  <a:srgbClr val="262B3A"/>
                </a:solidFill>
                <a:latin typeface="Calibri" pitchFamily="34" charset="0"/>
                <a:ea typeface="Calibri" pitchFamily="34" charset="-122"/>
                <a:cs typeface="Calibri" pitchFamily="34" charset="-120"/>
              </a:rPr>
              <a:t> but </a:t>
            </a:r>
            <a:r>
              <a:rPr lang="en-US" sz="1150" b="1" dirty="0">
                <a:solidFill>
                  <a:srgbClr val="262B3A"/>
                </a:solidFill>
                <a:latin typeface="Calibri" pitchFamily="34" charset="0"/>
                <a:ea typeface="Calibri" pitchFamily="34" charset="-122"/>
                <a:cs typeface="Calibri" pitchFamily="34" charset="-120"/>
              </a:rPr>
              <a:t>more slowly</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27" name="Text 25"/>
          <p:cNvSpPr/>
          <p:nvPr/>
        </p:nvSpPr>
        <p:spPr>
          <a:xfrm>
            <a:off x="10317175" y="3470042"/>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8" name="Shape 26"/>
          <p:cNvSpPr/>
          <p:nvPr/>
        </p:nvSpPr>
        <p:spPr>
          <a:xfrm>
            <a:off x="6210148" y="3872378"/>
            <a:ext cx="5570068" cy="2455270"/>
          </a:xfrm>
          <a:prstGeom prst="roundRect">
            <a:avLst>
              <a:gd name="adj" fmla="val 1862"/>
            </a:avLst>
          </a:prstGeom>
          <a:solidFill>
            <a:srgbClr val="FFF4E0"/>
          </a:solidFill>
          <a:ln w="9525">
            <a:solidFill>
              <a:srgbClr val="F1D9A8"/>
            </a:solidFill>
            <a:prstDash val="solid"/>
          </a:ln>
        </p:spPr>
      </p:sp>
      <p:sp>
        <p:nvSpPr>
          <p:cNvPr id="29" name="Text 27"/>
          <p:cNvSpPr/>
          <p:nvPr/>
        </p:nvSpPr>
        <p:spPr>
          <a:xfrm>
            <a:off x="6347308" y="3945530"/>
            <a:ext cx="5295748" cy="2107798"/>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6  </a:t>
            </a:r>
            <a:r>
              <a:rPr lang="en-US" sz="1150" dirty="0">
                <a:solidFill>
                  <a:srgbClr val="262B3A"/>
                </a:solidFill>
                <a:latin typeface="Calibri" pitchFamily="34" charset="0"/>
                <a:ea typeface="Calibri" pitchFamily="34" charset="-122"/>
                <a:cs typeface="Calibri" pitchFamily="34" charset="-120"/>
              </a:rPr>
              <a:t>(Physics only) Describe how to use a metre rule, a pivot and some masses to test the principle of moments. Include how you would use your results.</a:t>
            </a:r>
            <a:endParaRPr lang="en-US" sz="1150" dirty="0"/>
          </a:p>
        </p:txBody>
      </p:sp>
      <p:sp>
        <p:nvSpPr>
          <p:cNvPr id="30" name="Text 28"/>
          <p:cNvSpPr/>
          <p:nvPr/>
        </p:nvSpPr>
        <p:spPr>
          <a:xfrm>
            <a:off x="10317175"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[6 marks]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Edexcel 1PH0 Topic 9 Forces and their effects</dc:title>
  <dc:subject>PptxGenJS Presentation</dc:subject>
  <dc:creator>GCSE Physics</dc:creator>
  <cp:lastModifiedBy>GCSE Physics</cp:lastModifiedBy>
  <cp:revision>1</cp:revision>
  <dcterms:created xsi:type="dcterms:W3CDTF">2026-10-26T06:42:16Z</dcterms:created>
  <dcterms:modified xsi:type="dcterms:W3CDTF">2026-10-26T06:42:16Z</dcterms:modified>
</cp:coreProperties>
</file>