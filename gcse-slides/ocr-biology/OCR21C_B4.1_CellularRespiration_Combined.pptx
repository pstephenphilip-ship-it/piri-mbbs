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B4.1 What happens during cellular respiration? is Part 1 of 3 in J260 Chapter B4 (B4.1, B4.2, B4.3). B4.4 How is plant growth controlled? is in the separate-science Biology B (J257) only.
The B4.1.1–B4.1.5 statements come from search extracts of the OCR Biology B respiration transition guide and the J260 specification (ocr.org.uk could not be fetched directly): see SPEC_B4_1.md before showing codes to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B4.1 statement was found to be Higher tier only (bold) in J260 (UNVERIFIED: Oak National Academy teaches the same B4.1 lessons in its Foundation and Higher OCR combined science programmes). All objectives are for both tiers. Exact ATP numbers and symbol equations for anaerobic respiration are marked as stretch.
Numbering B4.1.1–B4.1.5 is from a search extract of the OCR Biology B (J257) respiration transition guide; J260 uses the same B4.1 statements (UNVERIFIED for numbering). Check SPEC_B4_1.md.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J260 Chapter B4 has three sub-topics in Combined Science: B4.1, B4.2 and B4.3. B4.4 (plant hormones) is labelled "separate science only" in the J257 extract.
Where things go: how electron microscopes revealed mitochondria is B4.2; the cell cycle, mitosis and stem cells are B4.3. This deck does not teach them.
PAG link: the J260 extract says "describe practical investigations into the effect of different substrates on the rate of respiration in yeast (PAG B4)".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carbon dioxide + water → glucose + oxygen (light energy, chlorophyll).
2. Chloroplast. It takes in energy (endothermic): contrast with respiration, which gives out energy (exothermic).
3. The part of the enzyme where the substrate binds / fits. Only a substrate with a complementary shape fits the active site (lock and key).
4. It denatures: the shape of the active site changes, the substrate no longer fits, the rate falls (to zero).
5. Glucose and oxygen (also accept: amino acids, water).
6. 18 ÷ 6 = 3 cm³ per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To kill microorganisms (bacteria, fungi) on the peas. If microorganisms grew they would respire too, releasing energy, so flask B would warm up and it would no longer be a fair control.
Vacuum flasks reduce energy transfer to the surroundings so the small temperature rise can be measured. Data are illustrative; mean rise in A = 1.5 °C per day (node).
B4.1.4 wording: "describe cellular respiration as an exothermic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All living cells, including plant cells, need a continuous supply of ATP for life processes (active transport, growth, making proteins). Photosynthesis makes glucose but does not supply ATP to the rest of the cell; respiration transfers energy from glucose to ATP, all the time, day and night (and in roots, which cannot photosynthesise).
B4.1.2 wording: "explain why cellular respiration occurs continuously in all living cells". The ATP ⇄ ADP + phosphate cycle is included to explain it; the J260 B4.1 summary (search extract) refers to "cellular energy stores, in particular molecules of ATP".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1 (total 7 marks)
Q1 [1]: It transfers / releases energy to the surroundings (by heating) (1).
Q2 [2]: Boiled: to kill the peas so they cannot respire / to act as a control (1); disinfectant: to kill microorganisms, which would also respire and release energy (1).
Q3 [2]: Cells need a constant supply of energy / ATP for life processes (1); ATP cannot be stored in large amounts, so it must be made all the time (1).
Q4 [2]: Any two (1 each): muscle contraction / movement; keeping warm / maintaining body temperature; building large molecules e.g. proteins; active transport; nerve impulses; cell division /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2 × 6 = 12 molecules of oxygen; 12 molecules of carbon dioxide (and 12 of water).
Atom balance is asserted in node (C 6 = 6, H 12 = 12, O 18 = 18). The J260 statement (B4.1.1) asks for inputs and outputs; the symbol equation is taught for both tiers (UNVERIFIED whether J260 requires the symbol equation: it is widely examined in other boards).
Energy is NOT a product: write "energy transferred" separately from the equation, never "+ energy" as a substance.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Sperm cell: swimming (moving the tail) to reach the egg. Root hair cell: active transport of mineral ions from the soil into the root (against a concentration gradient).
B4.1.3 wording: "explain how mitochondria in eukaryotic cells (plants and animals) are related to cellular respiration". The folded inner membrane gives a large surface area: mention for stretch. How we know about mitochondria (electron microscopy) is B4.2.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2 (total 7 marks)
Q1 [2]: glucose + oxygen (1) → carbon dioxide + water (1).
Q2 [1]: 3 × 6 = 18 (1).
Q3 [2]: Mitochondria / mitochondrion (1); muscle cell / sperm cell / root hair cell / liver cell / any very active cell (1).
Q4 [2]: It needs a lot of energy / ATP to swim / move its tail (1); mitochondria carry out aerobic respiration which makes the ATP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6 minutes (8 to 14 min). The extra oxygen is used to break down (oxidise) the lactic acid that built up during anaerobic respiration: repaying the oxygen debt. Breathing rate and heart rate stay high.
Graph data are illustrative and to scale; the area is calculated in node. The J260 B4.1 underlying knowledge (search extract) gives "human cells during vigorous exercise" as an example of anaerobic conditions. "Oxygen debt" is taught here as context (no separate J260 statement found).
Stretch symbol equation: C₆H₁₂O₆ → 2C₃H₆O₃ (balanced, asserted in node).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Ethanol, or carbon dioxide (human muscle makes only lactic acid).
The J260 B4.1 underlying knowledge (search extract) lists "human cells during vigorous exercise, plant root cells in waterlogged soil and bacteria in puncture wounds" as low-oxygen conditions. Bacterial products vary by species and are not required.
Stretch symbol equation for yeast: C₆H₁₂O₆ → 2C₂H₅OH + 2CO₂ (balanced, asserted in node).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The airlock lets carbon dioxide escape but stops oxygen (and microorganisms) getting in. With oxygen, yeast would respire aerobically, making carbon dioxide and water instead of ethanol (and other microbes could spoil the drink, e.g. turn ethanol to vinegar).
Rate calculation: 350 ÷ 60 = 5.833 → 5.8 cm³/min (node). Uses of fermentation are taught as context for B4.1.1 (no separate J260 statement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3 (total 7 marks)
Q1 [1]: Lactic acid (1).
Q2 [2]: The extra oxygen needed after exercise (1); to break down the lactic acid made during anaerobic respiration (1).
Q3 [2]: glucose → (1) ethanol + carbon dioxide (1). Both products needed for the second mark.
Q4 [2]: Yeast respires (anaerobically) / ferments the sugar producing carbon dioxide gas (1); warmth increases the rate because enzymes work faster / the gas bubbles expand and make the dough rise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Any two: aerobic needs oxygen, anaerobic does not; aerobic makes carbon dioxide and water, anaerobic makes lactic acid; aerobic makes much more ATP per glucose (about 32 vs 2); aerobic mostly in mitochondria, anaerobic in the cytoplasm; glucose completely vs partly broken down.
ATP figures: 2 per glucose for anaerobic is standard. Aerobic is given as "about 32" (modern value 30–32; older textbooks say 36 or 38). Accept "much more" in exams. Bars drawn to scale (32 : 2). Spec B4.1.1 says "comparative yields of ATP".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Water only is the control: it shows that the gas comes from the yeast respiring the sugar, not from anything else (any gas here is from stored food in the yeast or from warming air). The 10 minutes lets the mixture reach the bath temperature so temperature is controlled and the air in the flask does not expand during the timing.
PAG B4 link from the J260 specification extract: "describe practical investigations into the effect of different substrates on the rate of respiration in yeast (PAG B4)". The PAG group number is from that extract (UNVERIFIED against the current OCR practical list).
Alternatives: a gas syringe, or counting bubbles (less accurate); immobilised yeast in alginate beads (Oak National Academy method). Sugar concentration e.g. 5%; yeast e.g. 5 g dried yeast in 100 cm³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Glucose mean = (12.0 + 11.6 + 12.4) ÷ 3 = 12.0 cm³; rate = 12.0 ÷ 10 = 1.2 cm³/min. Anomaly: sucrose run 3 (6.1 cm³). Including it the mean would be 8.77 cm³, which is misleading; without it, 10.1 cm³.
All means and rates calculated in node. Glucose run 1 lies within 0.1 cm³ of a straight line of gradient 1.2 cm³/min. Data are illustrative but match typical school results (glucose ≥ sucrose &gt;&gt; starch ≈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4 (total 8 marks)
Q1 [2]: Any two (1 each): aerobic needs oxygen / anaerobic does not; aerobic makes carbon dioxide and water / anaerobic makes lactic acid; aerobic releases more energy / makes more ATP per glucose; aerobic mostly in mitochondria / anaerobic in cytoplasm.
Q2 [2]: rate = 15.0 ÷ 6 (1); = 2.5 cm³ per minute (1). Unit needed.
Q3 [2]: Yeast cannot break down starch (quickly) / has no or little amylase (1); so there is little glucose / sugar available to respire (1).
Q4 [2]: e.g. carbon dioxide dissolves in the water / gas leaks around the bung / temperature not constant / volume hard to read (1); use a gas syringe / check the seals / thermostatic water bath / read at eye level (1). The improvement must match the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as a cover-and-recall activity: hide the definitions, students say them, then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full question (total 13 marks)
(a) [2]: oxygen (1); carbon dioxide (1).
(b) [2]: Mitochondria are where (most) aerobic respiration happens (1); muscles need a lot of energy / ATP to contract (1).
(c) [3]: Not enough oxygen reaches the muscles / oxygen demand greater than supply (1); lactic acid builds up (1); extra oxygen / oxygen debt is needed to break down the lactic acid (1).
(d) [2]: 32 ÷ 2 (1); = 16 times (1).
(e) [2]: 18 ÷ 5 (1); = 3.6 cm³ per minute (1). Unit needed for the second mark.
(f) [2]: Energy is transferred / released to the surroundings (1); cells need a constant supply of ATP, which cannot be stored in large amounts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homework (total 17 marks)
1 [1]: ATP (1).
2 [2]: glucose → (1) ethanol + carbon dioxide (1).
3 [3]: Water fills the air spaces so there is little oxygen in the soil (1); root cells respire anaerobically, making toxic ethanol / much less ATP (1); less energy for active transport of mineral ions / roots damaged, so less water and fewer ions taken up (1).
4 [2]: 24 ÷ 8 (1); = 3 cm³ per minute (1).
5 [2]: Yeast respires / ferments the sugar (anaerobically) (1); producing carbon dioxide gas, whose bubbles make the dough rise (1).
6 [1]: 3 × 32 ÷ 2 = 48 (1).
7 [6]: OCR level-of-response mark scheme (6 marks). Read the whole answer, decide the level from the content descriptor, then the mark within the level from the quality of the line of reasoning. Use the indicative scientific points below.
Level 3 (5–6 marks): Makes a detailed comparison covering conditions AND location AND inputs/outputs AND energy/ATP, with clear similarities or differences stated. There is a well-developed line of reasoning which is clear and logically structured. The information presented is relevant and substantiated.
Level 2 (3–4 marks): Compares inputs and outputs correctly AND gives one other comparison (conditions, location or energy). There is a line of reasoning presented with some structure. The information presented is relevant and supported by some evidence.
Level 1 (1–2 marks): Gives some correct inputs or outputs of either process OR a simple statement about oxygen or energy. There is an attempt at a logical structure with a line of reasoning. The information is in the most part relevant.
0 marks: no response or no response worthy of credit.
Indicative scientific points may include:
 • Aerobic in muscle: happens when there is plenty of oxygen (e.g. at rest or gentle exercise). Anaerobic in yeast: little or no oxygen (e.g. in a sealed fermenter, bread dough).
 • Aerobic: mostly in the mitochondria. Anaerobic: in the cytoplasm.
 • Aerobic inputs: glucose and oxygen. Anaerobic inputs: glucose only.
 • Aerobic outputs: carbon dioxide and water. Anaerobic in yeast: ethanol and carbon dioxide.
 • Both produce carbon dioxide; only aerobic produces water; only yeast anaerobic produces ethanol.
 • Aerobic: glucose broken down completely, a lot of energy / ATP (about 32 per glucose). Anaerobic: glucose partly broken down, little ATP (2 per glucose).
 • Both are exothermic and both transfer energy from glucose to ATP; both are controlled by enzymes.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3D3E"/>
        </a:solidFill>
      </p:bgPr>
    </p:bg>
    <p:spTree>
      <p:nvGrpSpPr>
        <p:cNvPr id="1" name=""/>
        <p:cNvGrpSpPr/>
        <p:nvPr/>
      </p:nvGrpSpPr>
      <p:grpSpPr>
        <a:xfrm>
          <a:off x="0" y="0"/>
          <a:ext cx="0" cy="0"/>
          <a:chOff x="0" y="0"/>
          <a:chExt cx="0" cy="0"/>
        </a:xfrm>
      </p:grpSpPr>
      <p:sp>
        <p:nvSpPr>
          <p:cNvPr id="2" name="Shape 0"/>
          <p:cNvSpPr/>
          <p:nvPr/>
        </p:nvSpPr>
        <p:spPr>
          <a:xfrm>
            <a:off x="7589520" y="-1463040"/>
            <a:ext cx="6035040" cy="6035040"/>
          </a:xfrm>
          <a:prstGeom prst="ellipse">
            <a:avLst/>
          </a:prstGeom>
          <a:solidFill>
            <a:srgbClr val="0E7C7B"/>
          </a:solidFill>
          <a:ln w="12700">
            <a:solidFill>
              <a:srgbClr val="0E7C7B"/>
            </a:solidFill>
            <a:prstDash val="solid"/>
          </a:ln>
        </p:spPr>
      </p:sp>
      <p:sp>
        <p:nvSpPr>
          <p:cNvPr id="3" name="Shape 1"/>
          <p:cNvSpPr/>
          <p:nvPr/>
        </p:nvSpPr>
        <p:spPr>
          <a:xfrm>
            <a:off x="9326880" y="2377440"/>
            <a:ext cx="4937760" cy="4937760"/>
          </a:xfrm>
          <a:prstGeom prst="ellipse">
            <a:avLst/>
          </a:prstGeom>
          <a:solidFill>
            <a:srgbClr val="14A3A1">
              <a:alpha val="85000"/>
            </a:srgbClr>
          </a:solidFill>
          <a:ln w="12700">
            <a:solidFill>
              <a:srgbClr val="14A3A1"/>
            </a:solidFill>
            <a:prstDash val="solid"/>
          </a:ln>
        </p:spPr>
      </p:sp>
      <p:sp>
        <p:nvSpPr>
          <p:cNvPr id="4" name="Shape 2"/>
          <p:cNvSpPr/>
          <p:nvPr/>
        </p:nvSpPr>
        <p:spPr>
          <a:xfrm>
            <a:off x="0" y="0"/>
            <a:ext cx="164592" cy="6858000"/>
          </a:xfrm>
          <a:prstGeom prst="rect">
            <a:avLst/>
          </a:prstGeom>
          <a:solidFill>
            <a:srgbClr val="14A3A1"/>
          </a:solidFill>
          <a:ln w="12700">
            <a:solidFill>
              <a:srgbClr val="14A3A1"/>
            </a:solidFill>
            <a:prstDash val="solid"/>
          </a:ln>
        </p:spPr>
      </p:sp>
      <p:sp>
        <p:nvSpPr>
          <p:cNvPr id="5" name="Text 3"/>
          <p:cNvSpPr/>
          <p:nvPr/>
        </p:nvSpPr>
        <p:spPr>
          <a:xfrm>
            <a:off x="731520" y="822960"/>
            <a:ext cx="8686800" cy="320040"/>
          </a:xfrm>
          <a:prstGeom prst="rect">
            <a:avLst/>
          </a:prstGeom>
          <a:noFill/>
          <a:ln/>
        </p:spPr>
        <p:txBody>
          <a:bodyPr wrap="square" lIns="0" tIns="0" rIns="0" bIns="0" rtlCol="0" anchor="ctr"/>
          <a:lstStyle/>
          <a:p>
            <a:pPr indent="0" marL="0">
              <a:buNone/>
            </a:pPr>
            <a:r>
              <a:rPr lang="en-US" sz="1300" b="1" spc="400" kern="0" dirty="0">
                <a:solidFill>
                  <a:srgbClr val="8FD3CF"/>
                </a:solidFill>
                <a:latin typeface="Calibri" pitchFamily="34" charset="0"/>
                <a:ea typeface="Calibri" pitchFamily="34" charset="-122"/>
                <a:cs typeface="Calibri" pitchFamily="34" charset="-120"/>
              </a:rPr>
              <a:t>OCR GCSE COMBINED SCIENCE B (TWENTY FIRST CENTURY)</a:t>
            </a:r>
            <a:endParaRPr lang="en-US" sz="1300" dirty="0"/>
          </a:p>
        </p:txBody>
      </p:sp>
      <p:sp>
        <p:nvSpPr>
          <p:cNvPr id="6" name="Text 4"/>
          <p:cNvSpPr/>
          <p:nvPr/>
        </p:nvSpPr>
        <p:spPr>
          <a:xfrm>
            <a:off x="731520" y="1325880"/>
            <a:ext cx="9601200" cy="100584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B4.1  Cellular respiration</a:t>
            </a:r>
            <a:endParaRPr lang="en-US" sz="4000" dirty="0"/>
          </a:p>
        </p:txBody>
      </p:sp>
      <p:sp>
        <p:nvSpPr>
          <p:cNvPr id="7" name="Text 5"/>
          <p:cNvSpPr/>
          <p:nvPr/>
        </p:nvSpPr>
        <p:spPr>
          <a:xfrm>
            <a:off x="731520" y="2377440"/>
            <a:ext cx="7863840" cy="457200"/>
          </a:xfrm>
          <a:prstGeom prst="rect">
            <a:avLst/>
          </a:prstGeom>
          <a:noFill/>
          <a:ln/>
        </p:spPr>
        <p:txBody>
          <a:bodyPr wrap="square" lIns="0" tIns="0" rIns="0" bIns="0" rtlCol="0" anchor="ctr"/>
          <a:lstStyle/>
          <a:p>
            <a:pPr indent="0" marL="0">
              <a:buNone/>
            </a:pPr>
            <a:r>
              <a:rPr lang="en-US" sz="1800" i="1" dirty="0">
                <a:solidFill>
                  <a:srgbClr val="C4E3E0"/>
                </a:solidFill>
                <a:latin typeface="Georgia" pitchFamily="34" charset="0"/>
                <a:ea typeface="Georgia" pitchFamily="34" charset="-122"/>
                <a:cs typeface="Georgia" pitchFamily="34" charset="-120"/>
              </a:rPr>
              <a:t>Energy from glucose: aerobic, anaerobic and fermentation</a:t>
            </a:r>
            <a:endParaRPr lang="en-US" sz="1800" dirty="0"/>
          </a:p>
        </p:txBody>
      </p:sp>
      <p:sp>
        <p:nvSpPr>
          <p:cNvPr id="8" name="Shape 6"/>
          <p:cNvSpPr/>
          <p:nvPr/>
        </p:nvSpPr>
        <p:spPr>
          <a:xfrm>
            <a:off x="731520" y="3017520"/>
            <a:ext cx="2011680" cy="0"/>
          </a:xfrm>
          <a:prstGeom prst="line">
            <a:avLst/>
          </a:prstGeom>
          <a:noFill/>
          <a:ln w="31750">
            <a:solidFill>
              <a:srgbClr val="F5A742"/>
            </a:solidFill>
            <a:prstDash val="solid"/>
          </a:ln>
        </p:spPr>
      </p:sp>
      <p:sp>
        <p:nvSpPr>
          <p:cNvPr id="9" name="Text 7"/>
          <p:cNvSpPr/>
          <p:nvPr/>
        </p:nvSpPr>
        <p:spPr>
          <a:xfrm>
            <a:off x="731520" y="3154680"/>
            <a:ext cx="8046720" cy="365760"/>
          </a:xfrm>
          <a:prstGeom prst="rect">
            <a:avLst/>
          </a:prstGeom>
          <a:noFill/>
          <a:ln/>
        </p:spPr>
        <p:txBody>
          <a:bodyPr wrap="square" lIns="0" tIns="0" rIns="0" bIns="0" rtlCol="0" anchor="ctr"/>
          <a:lstStyle/>
          <a:p>
            <a:pPr indent="0" marL="0">
              <a:buNone/>
            </a:pPr>
            <a:r>
              <a:rPr lang="en-US" sz="1300" dirty="0">
                <a:solidFill>
                  <a:srgbClr val="D6ECEA"/>
                </a:solidFill>
                <a:latin typeface="Calibri" pitchFamily="34" charset="0"/>
                <a:ea typeface="Calibri" pitchFamily="34" charset="-122"/>
                <a:cs typeface="Calibri" pitchFamily="34" charset="-120"/>
              </a:rPr>
              <a:t>Respiration  •  ATP  •  Exothermic  •  Mitochondria  •  Aerobic  •  Anaerobic  •  Fermentation</a:t>
            </a:r>
            <a:endParaRPr lang="en-US" sz="1300" dirty="0"/>
          </a:p>
        </p:txBody>
      </p:sp>
      <p:sp>
        <p:nvSpPr>
          <p:cNvPr id="10" name="Shape 8"/>
          <p:cNvSpPr/>
          <p:nvPr/>
        </p:nvSpPr>
        <p:spPr>
          <a:xfrm>
            <a:off x="731520" y="3886200"/>
            <a:ext cx="457200" cy="457200"/>
          </a:xfrm>
          <a:prstGeom prst="ellipse">
            <a:avLst/>
          </a:prstGeom>
          <a:solidFill>
            <a:srgbClr val="14A3A1"/>
          </a:solidFill>
          <a:ln w="12700">
            <a:solidFill>
              <a:srgbClr val="8FD3CF"/>
            </a:solidFill>
            <a:prstDash val="solid"/>
          </a:ln>
        </p:spPr>
      </p:sp>
      <p:sp>
        <p:nvSpPr>
          <p:cNvPr id="11" name="Text 9"/>
          <p:cNvSpPr/>
          <p:nvPr/>
        </p:nvSpPr>
        <p:spPr>
          <a:xfrm>
            <a:off x="731520" y="38862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2" name="Text 10"/>
          <p:cNvSpPr/>
          <p:nvPr/>
        </p:nvSpPr>
        <p:spPr>
          <a:xfrm>
            <a:off x="1371600" y="3886200"/>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Specification B4.1.1–B4.1.5 • PAG B4: effect of different substrates on respiration in yeast</a:t>
            </a:r>
            <a:endParaRPr lang="en-US" sz="1400" dirty="0"/>
          </a:p>
        </p:txBody>
      </p:sp>
      <p:sp>
        <p:nvSpPr>
          <p:cNvPr id="13" name="Shape 11"/>
          <p:cNvSpPr/>
          <p:nvPr/>
        </p:nvSpPr>
        <p:spPr>
          <a:xfrm>
            <a:off x="731520" y="4507992"/>
            <a:ext cx="457200" cy="457200"/>
          </a:xfrm>
          <a:prstGeom prst="ellipse">
            <a:avLst/>
          </a:prstGeom>
          <a:solidFill>
            <a:srgbClr val="14A3A1"/>
          </a:solidFill>
          <a:ln w="12700">
            <a:solidFill>
              <a:srgbClr val="8FD3CF"/>
            </a:solidFill>
            <a:prstDash val="solid"/>
          </a:ln>
        </p:spPr>
      </p:sp>
      <p:sp>
        <p:nvSpPr>
          <p:cNvPr id="14" name="Text 12"/>
          <p:cNvSpPr/>
          <p:nvPr/>
        </p:nvSpPr>
        <p:spPr>
          <a:xfrm>
            <a:off x="731520" y="450799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a:t>
            </a:r>
            <a:endParaRPr lang="en-US" sz="1500" dirty="0"/>
          </a:p>
        </p:txBody>
      </p:sp>
      <p:sp>
        <p:nvSpPr>
          <p:cNvPr id="15" name="Text 13"/>
          <p:cNvSpPr/>
          <p:nvPr/>
        </p:nvSpPr>
        <p:spPr>
          <a:xfrm>
            <a:off x="1371600" y="4507992"/>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Higher &amp; Foundation in one deck • no Higher-only statements found • stretch marked</a:t>
            </a:r>
            <a:endParaRPr lang="en-US" sz="1400" dirty="0"/>
          </a:p>
        </p:txBody>
      </p:sp>
      <p:sp>
        <p:nvSpPr>
          <p:cNvPr id="16" name="Shape 14"/>
          <p:cNvSpPr/>
          <p:nvPr/>
        </p:nvSpPr>
        <p:spPr>
          <a:xfrm>
            <a:off x="731520" y="5129784"/>
            <a:ext cx="457200" cy="457200"/>
          </a:xfrm>
          <a:prstGeom prst="ellipse">
            <a:avLst/>
          </a:prstGeom>
          <a:solidFill>
            <a:srgbClr val="14A3A1"/>
          </a:solidFill>
          <a:ln w="12700">
            <a:solidFill>
              <a:srgbClr val="8FD3CF"/>
            </a:solidFill>
            <a:prstDash val="solid"/>
          </a:ln>
        </p:spPr>
      </p:sp>
      <p:sp>
        <p:nvSpPr>
          <p:cNvPr id="17" name="Text 15"/>
          <p:cNvSpPr/>
          <p:nvPr/>
        </p:nvSpPr>
        <p:spPr>
          <a:xfrm>
            <a:off x="731520" y="512978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O₂</a:t>
            </a:r>
            <a:endParaRPr lang="en-US" sz="1500" dirty="0"/>
          </a:p>
        </p:txBody>
      </p:sp>
      <p:sp>
        <p:nvSpPr>
          <p:cNvPr id="18" name="Text 16"/>
          <p:cNvSpPr/>
          <p:nvPr/>
        </p:nvSpPr>
        <p:spPr>
          <a:xfrm>
            <a:off x="1371600" y="5129784"/>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Exothermic • ATP • mitochondria • aerobic and anaerobic • lactic acid • fermentation</a:t>
            </a:r>
            <a:endParaRPr lang="en-US" sz="1400" dirty="0"/>
          </a:p>
        </p:txBody>
      </p:sp>
      <p:sp>
        <p:nvSpPr>
          <p:cNvPr id="19" name="Shape 17"/>
          <p:cNvSpPr/>
          <p:nvPr/>
        </p:nvSpPr>
        <p:spPr>
          <a:xfrm>
            <a:off x="731520" y="5769864"/>
            <a:ext cx="5669280" cy="365760"/>
          </a:xfrm>
          <a:prstGeom prst="roundRect">
            <a:avLst>
              <a:gd name="adj" fmla="val 50000"/>
            </a:avLst>
          </a:prstGeom>
          <a:solidFill>
            <a:srgbClr val="0B2E2F"/>
          </a:solidFill>
          <a:ln w="15875">
            <a:solidFill>
              <a:srgbClr val="F5A742"/>
            </a:solidFill>
            <a:prstDash val="solid"/>
          </a:ln>
        </p:spPr>
      </p:sp>
      <p:sp>
        <p:nvSpPr>
          <p:cNvPr id="20" name="Text 18"/>
          <p:cNvSpPr/>
          <p:nvPr/>
        </p:nvSpPr>
        <p:spPr>
          <a:xfrm>
            <a:off x="731520" y="5769864"/>
            <a:ext cx="5669280" cy="365760"/>
          </a:xfrm>
          <a:prstGeom prst="rect">
            <a:avLst/>
          </a:prstGeom>
          <a:noFill/>
          <a:ln/>
        </p:spPr>
        <p:txBody>
          <a:bodyPr wrap="square" lIns="0" tIns="0" rIns="0" bIns="0" rtlCol="0" anchor="ctr"/>
          <a:lstStyle/>
          <a:p>
            <a:pPr algn="ctr" indent="0" marL="0">
              <a:buNone/>
            </a:pPr>
            <a:r>
              <a:rPr lang="en-US" sz="1200" b="1" dirty="0">
                <a:solidFill>
                  <a:srgbClr val="F5A742"/>
                </a:solidFill>
                <a:latin typeface="Calibri" pitchFamily="34" charset="0"/>
                <a:ea typeface="Calibri" pitchFamily="34" charset="-122"/>
                <a:cs typeface="Calibri" pitchFamily="34" charset="-120"/>
              </a:rPr>
              <a:t>Part 1 of 3 in Chapter B4: Using food and controlling growth</a:t>
            </a:r>
            <a:endParaRPr lang="en-US" sz="1200" dirty="0"/>
          </a:p>
        </p:txBody>
      </p:sp>
      <p:sp>
        <p:nvSpPr>
          <p:cNvPr id="21" name="Text 19"/>
          <p:cNvSpPr/>
          <p:nvPr/>
        </p:nvSpPr>
        <p:spPr>
          <a:xfrm>
            <a:off x="731520" y="6172200"/>
            <a:ext cx="8229600" cy="274320"/>
          </a:xfrm>
          <a:prstGeom prst="rect">
            <a:avLst/>
          </a:prstGeom>
          <a:noFill/>
          <a:ln/>
        </p:spPr>
        <p:txBody>
          <a:bodyPr wrap="square" lIns="0" tIns="0" rIns="0" bIns="0" rtlCol="0" anchor="ctr"/>
          <a:lstStyle/>
          <a:p>
            <a:pPr indent="0" marL="0">
              <a:buNone/>
            </a:pPr>
            <a:r>
              <a:rPr lang="en-US" sz="1000" i="1" dirty="0">
                <a:solidFill>
                  <a:srgbClr val="CFE7E5"/>
                </a:solidFill>
                <a:latin typeface="Calibri" pitchFamily="34" charset="0"/>
                <a:ea typeface="Calibri" pitchFamily="34" charset="-122"/>
                <a:cs typeface="Calibri" pitchFamily="34" charset="-120"/>
              </a:rPr>
              <a:t>OCR J260 Combined Science B • B4.1 What happens during cellular respiration? • teacher deck • mark schemes and answers in the speaker notes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Learning objectives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B4.1.1–B4.1.5 • by the end of this sub-topic you can…</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B4.1 What happens during cellular respiration?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Objectives  |  2</a:t>
            </a:r>
            <a:endParaRPr lang="en-US" sz="1000" dirty="0"/>
          </a:p>
        </p:txBody>
      </p:sp>
      <p:sp>
        <p:nvSpPr>
          <p:cNvPr id="8" name="Shape 6"/>
          <p:cNvSpPr/>
          <p:nvPr/>
        </p:nvSpPr>
        <p:spPr>
          <a:xfrm>
            <a:off x="502920" y="1325880"/>
            <a:ext cx="457200" cy="457200"/>
          </a:xfrm>
          <a:prstGeom prst="ellipse">
            <a:avLst/>
          </a:prstGeom>
          <a:solidFill>
            <a:srgbClr val="0D7877"/>
          </a:solidFill>
          <a:ln w="12700">
            <a:solidFill>
              <a:srgbClr val="0D7877"/>
            </a:solidFill>
            <a:prstDash val="solid"/>
          </a:ln>
        </p:spPr>
      </p:sp>
      <p:sp>
        <p:nvSpPr>
          <p:cNvPr id="9" name="Text 7"/>
          <p:cNvSpPr/>
          <p:nvPr/>
        </p:nvSpPr>
        <p:spPr>
          <a:xfrm>
            <a:off x="50292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10" name="Text 8"/>
          <p:cNvSpPr/>
          <p:nvPr/>
        </p:nvSpPr>
        <p:spPr>
          <a:xfrm>
            <a:off x="1097280" y="128016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B4.1.4   </a:t>
            </a:r>
            <a:r>
              <a:rPr lang="en-US" sz="1200" dirty="0">
                <a:solidFill>
                  <a:srgbClr val="262B3A"/>
                </a:solidFill>
                <a:latin typeface="Calibri" pitchFamily="34" charset="0"/>
                <a:ea typeface="Calibri" pitchFamily="34" charset="-122"/>
                <a:cs typeface="Calibri" pitchFamily="34" charset="-120"/>
              </a:rPr>
              <a:t>Describe cellular respiration as an </a:t>
            </a:r>
            <a:r>
              <a:rPr lang="en-US" sz="1200" b="1" dirty="0">
                <a:solidFill>
                  <a:srgbClr val="262B3A"/>
                </a:solidFill>
                <a:latin typeface="Calibri" pitchFamily="34" charset="0"/>
                <a:ea typeface="Calibri" pitchFamily="34" charset="-122"/>
                <a:cs typeface="Calibri" pitchFamily="34" charset="-120"/>
              </a:rPr>
              <a:t>exothermic</a:t>
            </a:r>
            <a:r>
              <a:rPr lang="en-US" sz="1200" dirty="0">
                <a:solidFill>
                  <a:srgbClr val="262B3A"/>
                </a:solidFill>
                <a:latin typeface="Calibri" pitchFamily="34" charset="0"/>
                <a:ea typeface="Calibri" pitchFamily="34" charset="-122"/>
                <a:cs typeface="Calibri" pitchFamily="34" charset="-120"/>
              </a:rPr>
              <a:t> process.</a:t>
            </a:r>
            <a:endParaRPr lang="en-US" sz="1100" dirty="0"/>
          </a:p>
        </p:txBody>
      </p:sp>
      <p:sp>
        <p:nvSpPr>
          <p:cNvPr id="11" name="Shape 9"/>
          <p:cNvSpPr/>
          <p:nvPr/>
        </p:nvSpPr>
        <p:spPr>
          <a:xfrm>
            <a:off x="502920" y="2194560"/>
            <a:ext cx="457200" cy="457200"/>
          </a:xfrm>
          <a:prstGeom prst="ellipse">
            <a:avLst/>
          </a:prstGeom>
          <a:solidFill>
            <a:srgbClr val="0D7877"/>
          </a:solidFill>
          <a:ln w="12700">
            <a:solidFill>
              <a:srgbClr val="0D7877"/>
            </a:solidFill>
            <a:prstDash val="solid"/>
          </a:ln>
        </p:spPr>
      </p:sp>
      <p:sp>
        <p:nvSpPr>
          <p:cNvPr id="12" name="Text 10"/>
          <p:cNvSpPr/>
          <p:nvPr/>
        </p:nvSpPr>
        <p:spPr>
          <a:xfrm>
            <a:off x="50292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3" name="Text 11"/>
          <p:cNvSpPr/>
          <p:nvPr/>
        </p:nvSpPr>
        <p:spPr>
          <a:xfrm>
            <a:off x="1097280" y="214884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B4.1.2   </a:t>
            </a:r>
            <a:r>
              <a:rPr lang="en-US" sz="1200" dirty="0">
                <a:solidFill>
                  <a:srgbClr val="262B3A"/>
                </a:solidFill>
                <a:latin typeface="Calibri" pitchFamily="34" charset="0"/>
                <a:ea typeface="Calibri" pitchFamily="34" charset="-122"/>
                <a:cs typeface="Calibri" pitchFamily="34" charset="-120"/>
              </a:rPr>
              <a:t>Explain why cellular respiration occurs </a:t>
            </a:r>
            <a:r>
              <a:rPr lang="en-US" sz="1200" b="1" dirty="0">
                <a:solidFill>
                  <a:srgbClr val="262B3A"/>
                </a:solidFill>
                <a:latin typeface="Calibri" pitchFamily="34" charset="0"/>
                <a:ea typeface="Calibri" pitchFamily="34" charset="-122"/>
                <a:cs typeface="Calibri" pitchFamily="34" charset="-120"/>
              </a:rPr>
              <a:t>continuously</a:t>
            </a:r>
            <a:r>
              <a:rPr lang="en-US" sz="1200" dirty="0">
                <a:solidFill>
                  <a:srgbClr val="262B3A"/>
                </a:solidFill>
                <a:latin typeface="Calibri" pitchFamily="34" charset="0"/>
                <a:ea typeface="Calibri" pitchFamily="34" charset="-122"/>
                <a:cs typeface="Calibri" pitchFamily="34" charset="-120"/>
              </a:rPr>
              <a:t> in all living cells (a constant supply of </a:t>
            </a:r>
            <a:r>
              <a:rPr lang="en-US" sz="1200" b="1" dirty="0">
                <a:solidFill>
                  <a:srgbClr val="262B3A"/>
                </a:solidFill>
                <a:latin typeface="Calibri" pitchFamily="34" charset="0"/>
                <a:ea typeface="Calibri" pitchFamily="34" charset="-122"/>
                <a:cs typeface="Calibri" pitchFamily="34" charset="-120"/>
              </a:rPr>
              <a:t>ATP</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14" name="Shape 12"/>
          <p:cNvSpPr/>
          <p:nvPr/>
        </p:nvSpPr>
        <p:spPr>
          <a:xfrm>
            <a:off x="502920" y="3063240"/>
            <a:ext cx="457200" cy="457200"/>
          </a:xfrm>
          <a:prstGeom prst="ellipse">
            <a:avLst/>
          </a:prstGeom>
          <a:solidFill>
            <a:srgbClr val="0D7877"/>
          </a:solidFill>
          <a:ln w="12700">
            <a:solidFill>
              <a:srgbClr val="0D7877"/>
            </a:solidFill>
            <a:prstDash val="solid"/>
          </a:ln>
        </p:spPr>
      </p:sp>
      <p:sp>
        <p:nvSpPr>
          <p:cNvPr id="15" name="Text 13"/>
          <p:cNvSpPr/>
          <p:nvPr/>
        </p:nvSpPr>
        <p:spPr>
          <a:xfrm>
            <a:off x="50292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16" name="Text 14"/>
          <p:cNvSpPr/>
          <p:nvPr/>
        </p:nvSpPr>
        <p:spPr>
          <a:xfrm>
            <a:off x="1097280" y="301752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B4.1.1   </a:t>
            </a:r>
            <a:r>
              <a:rPr lang="en-US" sz="1200" dirty="0">
                <a:solidFill>
                  <a:srgbClr val="262B3A"/>
                </a:solidFill>
                <a:latin typeface="Calibri" pitchFamily="34" charset="0"/>
                <a:ea typeface="Calibri" pitchFamily="34" charset="-122"/>
                <a:cs typeface="Calibri" pitchFamily="34" charset="-120"/>
              </a:rPr>
              <a:t>Describe </a:t>
            </a:r>
            <a:r>
              <a:rPr lang="en-US" sz="1200" b="1" dirty="0">
                <a:solidFill>
                  <a:srgbClr val="262B3A"/>
                </a:solidFill>
                <a:latin typeface="Calibri" pitchFamily="34" charset="0"/>
                <a:ea typeface="Calibri" pitchFamily="34" charset="-122"/>
                <a:cs typeface="Calibri" pitchFamily="34" charset="-120"/>
              </a:rPr>
              <a:t>aerobic</a:t>
            </a:r>
            <a:r>
              <a:rPr lang="en-US" sz="1200" dirty="0">
                <a:solidFill>
                  <a:srgbClr val="262B3A"/>
                </a:solidFill>
                <a:latin typeface="Calibri" pitchFamily="34" charset="0"/>
                <a:ea typeface="Calibri" pitchFamily="34" charset="-122"/>
                <a:cs typeface="Calibri" pitchFamily="34" charset="-120"/>
              </a:rPr>
              <a:t> respiration: its inputs and outputs, word and symbol equations.</a:t>
            </a:r>
            <a:endParaRPr lang="en-US" sz="1100" dirty="0"/>
          </a:p>
        </p:txBody>
      </p:sp>
      <p:sp>
        <p:nvSpPr>
          <p:cNvPr id="17" name="Shape 15"/>
          <p:cNvSpPr/>
          <p:nvPr/>
        </p:nvSpPr>
        <p:spPr>
          <a:xfrm>
            <a:off x="502920" y="3931920"/>
            <a:ext cx="457200" cy="457200"/>
          </a:xfrm>
          <a:prstGeom prst="ellipse">
            <a:avLst/>
          </a:prstGeom>
          <a:solidFill>
            <a:srgbClr val="0D7877"/>
          </a:solidFill>
          <a:ln w="12700">
            <a:solidFill>
              <a:srgbClr val="0D7877"/>
            </a:solidFill>
            <a:prstDash val="solid"/>
          </a:ln>
        </p:spPr>
      </p:sp>
      <p:sp>
        <p:nvSpPr>
          <p:cNvPr id="18" name="Text 16"/>
          <p:cNvSpPr/>
          <p:nvPr/>
        </p:nvSpPr>
        <p:spPr>
          <a:xfrm>
            <a:off x="50292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19" name="Text 17"/>
          <p:cNvSpPr/>
          <p:nvPr/>
        </p:nvSpPr>
        <p:spPr>
          <a:xfrm>
            <a:off x="1097280" y="388620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B4.1.3   </a:t>
            </a:r>
            <a:r>
              <a:rPr lang="en-US" sz="1200" dirty="0">
                <a:solidFill>
                  <a:srgbClr val="262B3A"/>
                </a:solidFill>
                <a:latin typeface="Calibri" pitchFamily="34" charset="0"/>
                <a:ea typeface="Calibri" pitchFamily="34" charset="-122"/>
                <a:cs typeface="Calibri" pitchFamily="34" charset="-120"/>
              </a:rPr>
              <a:t>Explain how </a:t>
            </a:r>
            <a:r>
              <a:rPr lang="en-US" sz="1200" b="1" dirty="0">
                <a:solidFill>
                  <a:srgbClr val="262B3A"/>
                </a:solidFill>
                <a:latin typeface="Calibri" pitchFamily="34" charset="0"/>
                <a:ea typeface="Calibri" pitchFamily="34" charset="-122"/>
                <a:cs typeface="Calibri" pitchFamily="34" charset="-120"/>
              </a:rPr>
              <a:t>mitochondria</a:t>
            </a:r>
            <a:r>
              <a:rPr lang="en-US" sz="1200" dirty="0">
                <a:solidFill>
                  <a:srgbClr val="262B3A"/>
                </a:solidFill>
                <a:latin typeface="Calibri" pitchFamily="34" charset="0"/>
                <a:ea typeface="Calibri" pitchFamily="34" charset="-122"/>
                <a:cs typeface="Calibri" pitchFamily="34" charset="-120"/>
              </a:rPr>
              <a:t> in plant and animal cells are related to cellular respiration.</a:t>
            </a:r>
            <a:endParaRPr lang="en-US" sz="1100" dirty="0"/>
          </a:p>
        </p:txBody>
      </p:sp>
      <p:sp>
        <p:nvSpPr>
          <p:cNvPr id="20" name="Shape 18"/>
          <p:cNvSpPr/>
          <p:nvPr/>
        </p:nvSpPr>
        <p:spPr>
          <a:xfrm>
            <a:off x="6263640" y="1325880"/>
            <a:ext cx="457200" cy="457200"/>
          </a:xfrm>
          <a:prstGeom prst="ellipse">
            <a:avLst/>
          </a:prstGeom>
          <a:solidFill>
            <a:srgbClr val="0D7877"/>
          </a:solidFill>
          <a:ln w="12700">
            <a:solidFill>
              <a:srgbClr val="0D7877"/>
            </a:solidFill>
            <a:prstDash val="solid"/>
          </a:ln>
        </p:spPr>
      </p:sp>
      <p:sp>
        <p:nvSpPr>
          <p:cNvPr id="21" name="Text 19"/>
          <p:cNvSpPr/>
          <p:nvPr/>
        </p:nvSpPr>
        <p:spPr>
          <a:xfrm>
            <a:off x="626364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5</a:t>
            </a:r>
            <a:endParaRPr lang="en-US" sz="1600" dirty="0"/>
          </a:p>
        </p:txBody>
      </p:sp>
      <p:sp>
        <p:nvSpPr>
          <p:cNvPr id="22" name="Text 20"/>
          <p:cNvSpPr/>
          <p:nvPr/>
        </p:nvSpPr>
        <p:spPr>
          <a:xfrm>
            <a:off x="6858000" y="128016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B4.1.1   </a:t>
            </a:r>
            <a:r>
              <a:rPr lang="en-US" sz="1200" dirty="0">
                <a:solidFill>
                  <a:srgbClr val="262B3A"/>
                </a:solidFill>
                <a:latin typeface="Calibri" pitchFamily="34" charset="0"/>
                <a:ea typeface="Calibri" pitchFamily="34" charset="-122"/>
                <a:cs typeface="Calibri" pitchFamily="34" charset="-120"/>
              </a:rPr>
              <a:t>Describe </a:t>
            </a:r>
            <a:r>
              <a:rPr lang="en-US" sz="1200" b="1" dirty="0">
                <a:solidFill>
                  <a:srgbClr val="262B3A"/>
                </a:solidFill>
                <a:latin typeface="Calibri" pitchFamily="34" charset="0"/>
                <a:ea typeface="Calibri" pitchFamily="34" charset="-122"/>
                <a:cs typeface="Calibri" pitchFamily="34" charset="-120"/>
              </a:rPr>
              <a:t>anaerobic</a:t>
            </a:r>
            <a:r>
              <a:rPr lang="en-US" sz="1200" dirty="0">
                <a:solidFill>
                  <a:srgbClr val="262B3A"/>
                </a:solidFill>
                <a:latin typeface="Calibri" pitchFamily="34" charset="0"/>
                <a:ea typeface="Calibri" pitchFamily="34" charset="-122"/>
                <a:cs typeface="Calibri" pitchFamily="34" charset="-120"/>
              </a:rPr>
              <a:t> respiration in animals, and in plants, yeast and bacteria, and when it occurs.</a:t>
            </a:r>
            <a:endParaRPr lang="en-US" sz="1100" dirty="0"/>
          </a:p>
        </p:txBody>
      </p:sp>
      <p:sp>
        <p:nvSpPr>
          <p:cNvPr id="23" name="Shape 21"/>
          <p:cNvSpPr/>
          <p:nvPr/>
        </p:nvSpPr>
        <p:spPr>
          <a:xfrm>
            <a:off x="6263640" y="2194560"/>
            <a:ext cx="457200" cy="457200"/>
          </a:xfrm>
          <a:prstGeom prst="ellipse">
            <a:avLst/>
          </a:prstGeom>
          <a:solidFill>
            <a:srgbClr val="0D7877"/>
          </a:solidFill>
          <a:ln w="12700">
            <a:solidFill>
              <a:srgbClr val="0D7877"/>
            </a:solidFill>
            <a:prstDash val="solid"/>
          </a:ln>
        </p:spPr>
      </p:sp>
      <p:sp>
        <p:nvSpPr>
          <p:cNvPr id="24" name="Text 22"/>
          <p:cNvSpPr/>
          <p:nvPr/>
        </p:nvSpPr>
        <p:spPr>
          <a:xfrm>
            <a:off x="626364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6</a:t>
            </a:r>
            <a:endParaRPr lang="en-US" sz="1600" dirty="0"/>
          </a:p>
        </p:txBody>
      </p:sp>
      <p:sp>
        <p:nvSpPr>
          <p:cNvPr id="25" name="Text 23"/>
          <p:cNvSpPr/>
          <p:nvPr/>
        </p:nvSpPr>
        <p:spPr>
          <a:xfrm>
            <a:off x="6858000" y="214884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B4.1.1   </a:t>
            </a:r>
            <a:r>
              <a:rPr lang="en-US" sz="1200" b="1" dirty="0">
                <a:solidFill>
                  <a:srgbClr val="262B3A"/>
                </a:solidFill>
                <a:latin typeface="Calibri" pitchFamily="34" charset="0"/>
                <a:ea typeface="Calibri" pitchFamily="34" charset="-122"/>
                <a:cs typeface="Calibri" pitchFamily="34" charset="-120"/>
              </a:rPr>
              <a:t>Compare</a:t>
            </a:r>
            <a:r>
              <a:rPr lang="en-US" sz="1200" dirty="0">
                <a:solidFill>
                  <a:srgbClr val="262B3A"/>
                </a:solidFill>
                <a:latin typeface="Calibri" pitchFamily="34" charset="0"/>
                <a:ea typeface="Calibri" pitchFamily="34" charset="-122"/>
                <a:cs typeface="Calibri" pitchFamily="34" charset="-120"/>
              </a:rPr>
              <a:t> aerobic and anaerobic respiration: conditions, inputs, outputs and </a:t>
            </a:r>
            <a:r>
              <a:rPr lang="en-US" sz="1200" b="1" dirty="0">
                <a:solidFill>
                  <a:srgbClr val="262B3A"/>
                </a:solidFill>
                <a:latin typeface="Calibri" pitchFamily="34" charset="0"/>
                <a:ea typeface="Calibri" pitchFamily="34" charset="-122"/>
                <a:cs typeface="Calibri" pitchFamily="34" charset="-120"/>
              </a:rPr>
              <a:t>yields of ATP</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26" name="Shape 24"/>
          <p:cNvSpPr/>
          <p:nvPr/>
        </p:nvSpPr>
        <p:spPr>
          <a:xfrm>
            <a:off x="6263640" y="3063240"/>
            <a:ext cx="457200" cy="457200"/>
          </a:xfrm>
          <a:prstGeom prst="ellipse">
            <a:avLst/>
          </a:prstGeom>
          <a:solidFill>
            <a:srgbClr val="0D7877"/>
          </a:solidFill>
          <a:ln w="12700">
            <a:solidFill>
              <a:srgbClr val="0D7877"/>
            </a:solidFill>
            <a:prstDash val="solid"/>
          </a:ln>
        </p:spPr>
      </p:sp>
      <p:sp>
        <p:nvSpPr>
          <p:cNvPr id="27" name="Text 25"/>
          <p:cNvSpPr/>
          <p:nvPr/>
        </p:nvSpPr>
        <p:spPr>
          <a:xfrm>
            <a:off x="626364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7</a:t>
            </a:r>
            <a:endParaRPr lang="en-US" sz="1600" dirty="0"/>
          </a:p>
        </p:txBody>
      </p:sp>
      <p:sp>
        <p:nvSpPr>
          <p:cNvPr id="28" name="Text 26"/>
          <p:cNvSpPr/>
          <p:nvPr/>
        </p:nvSpPr>
        <p:spPr>
          <a:xfrm>
            <a:off x="6858000" y="301752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B4.1.5   </a:t>
            </a:r>
            <a:r>
              <a:rPr lang="en-US" sz="1200" dirty="0">
                <a:solidFill>
                  <a:srgbClr val="262B3A"/>
                </a:solidFill>
                <a:latin typeface="Calibri" pitchFamily="34" charset="0"/>
                <a:ea typeface="Calibri" pitchFamily="34" charset="-122"/>
                <a:cs typeface="Calibri" pitchFamily="34" charset="-120"/>
              </a:rPr>
              <a:t>Describe practical investigations into the effect of different </a:t>
            </a:r>
            <a:r>
              <a:rPr lang="en-US" sz="1200" b="1" dirty="0">
                <a:solidFill>
                  <a:srgbClr val="262B3A"/>
                </a:solidFill>
                <a:latin typeface="Calibri" pitchFamily="34" charset="0"/>
                <a:ea typeface="Calibri" pitchFamily="34" charset="-122"/>
                <a:cs typeface="Calibri" pitchFamily="34" charset="-120"/>
              </a:rPr>
              <a:t>substrates</a:t>
            </a:r>
            <a:r>
              <a:rPr lang="en-US" sz="1200" dirty="0">
                <a:solidFill>
                  <a:srgbClr val="262B3A"/>
                </a:solidFill>
                <a:latin typeface="Calibri" pitchFamily="34" charset="0"/>
                <a:ea typeface="Calibri" pitchFamily="34" charset="-122"/>
                <a:cs typeface="Calibri" pitchFamily="34" charset="-120"/>
              </a:rPr>
              <a:t> on the rate of respiration in </a:t>
            </a:r>
            <a:r>
              <a:rPr lang="en-US" sz="1200" b="1" dirty="0">
                <a:solidFill>
                  <a:srgbClr val="262B3A"/>
                </a:solidFill>
                <a:latin typeface="Calibri" pitchFamily="34" charset="0"/>
                <a:ea typeface="Calibri" pitchFamily="34" charset="-122"/>
                <a:cs typeface="Calibri" pitchFamily="34" charset="-120"/>
              </a:rPr>
              <a:t>yeast</a:t>
            </a:r>
            <a:r>
              <a:rPr lang="en-US" sz="1200" dirty="0">
                <a:solidFill>
                  <a:srgbClr val="262B3A"/>
                </a:solidFill>
                <a:latin typeface="Calibri" pitchFamily="34" charset="0"/>
                <a:ea typeface="Calibri" pitchFamily="34" charset="-122"/>
                <a:cs typeface="Calibri" pitchFamily="34" charset="-120"/>
              </a:rPr>
              <a:t> (PAG B4).</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Where this fits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Chapter B4 Using food and controlling growth • B4.1 is Part 1 of 3 in Combined Science B</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B4.1 What happens during cellular respiration?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Context  |  3</a:t>
            </a:r>
            <a:endParaRPr lang="en-US" sz="1000" dirty="0"/>
          </a:p>
        </p:txBody>
      </p:sp>
      <p:sp>
        <p:nvSpPr>
          <p:cNvPr id="8" name="Shape 6"/>
          <p:cNvSpPr/>
          <p:nvPr/>
        </p:nvSpPr>
        <p:spPr>
          <a:xfrm>
            <a:off x="411480" y="1234440"/>
            <a:ext cx="2103120" cy="685800"/>
          </a:xfrm>
          <a:prstGeom prst="roundRect">
            <a:avLst>
              <a:gd name="adj" fmla="val 8000"/>
            </a:avLst>
          </a:prstGeom>
          <a:solidFill>
            <a:srgbClr val="133536"/>
          </a:solidFill>
          <a:ln/>
        </p:spPr>
      </p:sp>
      <p:sp>
        <p:nvSpPr>
          <p:cNvPr id="9" name="Text 7"/>
          <p:cNvSpPr/>
          <p:nvPr/>
        </p:nvSpPr>
        <p:spPr>
          <a:xfrm>
            <a:off x="411480" y="1234440"/>
            <a:ext cx="2103120"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B4.1</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What happens during cellular respiration?</a:t>
            </a:r>
            <a:endParaRPr lang="en-US" sz="1100" dirty="0"/>
          </a:p>
        </p:txBody>
      </p:sp>
      <p:sp>
        <p:nvSpPr>
          <p:cNvPr id="10" name="Shape 8"/>
          <p:cNvSpPr/>
          <p:nvPr/>
        </p:nvSpPr>
        <p:spPr>
          <a:xfrm>
            <a:off x="914400" y="1920240"/>
            <a:ext cx="91" cy="3758184"/>
          </a:xfrm>
          <a:prstGeom prst="line">
            <a:avLst/>
          </a:prstGeom>
          <a:noFill/>
          <a:ln w="19050">
            <a:solidFill>
              <a:srgbClr val="0D7877"/>
            </a:solidFill>
            <a:prstDash val="solid"/>
          </a:ln>
        </p:spPr>
      </p:sp>
      <p:sp>
        <p:nvSpPr>
          <p:cNvPr id="11" name="Shape 9"/>
          <p:cNvSpPr/>
          <p:nvPr/>
        </p:nvSpPr>
        <p:spPr>
          <a:xfrm>
            <a:off x="914400" y="2386584"/>
            <a:ext cx="411480" cy="91"/>
          </a:xfrm>
          <a:prstGeom prst="line">
            <a:avLst/>
          </a:prstGeom>
          <a:noFill/>
          <a:ln w="19050">
            <a:solidFill>
              <a:srgbClr val="0D7877"/>
            </a:solidFill>
            <a:prstDash val="solid"/>
          </a:ln>
        </p:spPr>
      </p:sp>
      <p:sp>
        <p:nvSpPr>
          <p:cNvPr id="12" name="Shape 10"/>
          <p:cNvSpPr/>
          <p:nvPr/>
        </p:nvSpPr>
        <p:spPr>
          <a:xfrm>
            <a:off x="1325880" y="2103120"/>
            <a:ext cx="5120640" cy="566928"/>
          </a:xfrm>
          <a:prstGeom prst="roundRect">
            <a:avLst>
              <a:gd name="adj" fmla="val 8065"/>
            </a:avLst>
          </a:prstGeom>
          <a:solidFill>
            <a:srgbClr val="F4FAF9"/>
          </a:solidFill>
          <a:ln w="12700">
            <a:solidFill>
              <a:srgbClr val="CFE0DE"/>
            </a:solidFill>
            <a:prstDash val="solid"/>
          </a:ln>
        </p:spPr>
      </p:sp>
      <p:sp>
        <p:nvSpPr>
          <p:cNvPr id="13" name="Text 11"/>
          <p:cNvSpPr/>
          <p:nvPr/>
        </p:nvSpPr>
        <p:spPr>
          <a:xfrm>
            <a:off x="1463040" y="2103120"/>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B4.1.4   </a:t>
            </a:r>
            <a:r>
              <a:rPr lang="en-US" sz="1100" dirty="0">
                <a:solidFill>
                  <a:srgbClr val="262B3A"/>
                </a:solidFill>
                <a:latin typeface="Calibri" pitchFamily="34" charset="0"/>
                <a:ea typeface="Calibri" pitchFamily="34" charset="-122"/>
                <a:cs typeface="Calibri" pitchFamily="34" charset="-120"/>
              </a:rPr>
              <a:t>Respiration is exothermic: energy is transferred to the surroundings</a:t>
            </a:r>
            <a:endParaRPr lang="en-US" sz="1100" dirty="0"/>
          </a:p>
        </p:txBody>
      </p:sp>
      <p:sp>
        <p:nvSpPr>
          <p:cNvPr id="14" name="Shape 12"/>
          <p:cNvSpPr/>
          <p:nvPr/>
        </p:nvSpPr>
        <p:spPr>
          <a:xfrm>
            <a:off x="5257800" y="2249424"/>
            <a:ext cx="1097280" cy="274320"/>
          </a:xfrm>
          <a:prstGeom prst="roundRect">
            <a:avLst>
              <a:gd name="adj" fmla="val 50000"/>
            </a:avLst>
          </a:prstGeom>
          <a:solidFill>
            <a:srgbClr val="0D7877"/>
          </a:solidFill>
          <a:ln w="12700">
            <a:solidFill>
              <a:srgbClr val="0D7877"/>
            </a:solidFill>
            <a:prstDash val="solid"/>
          </a:ln>
        </p:spPr>
      </p:sp>
      <p:sp>
        <p:nvSpPr>
          <p:cNvPr id="15" name="Text 13"/>
          <p:cNvSpPr/>
          <p:nvPr/>
        </p:nvSpPr>
        <p:spPr>
          <a:xfrm>
            <a:off x="5257800" y="224942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16" name="Shape 14"/>
          <p:cNvSpPr/>
          <p:nvPr/>
        </p:nvSpPr>
        <p:spPr>
          <a:xfrm>
            <a:off x="914400" y="3044952"/>
            <a:ext cx="411480" cy="91"/>
          </a:xfrm>
          <a:prstGeom prst="line">
            <a:avLst/>
          </a:prstGeom>
          <a:noFill/>
          <a:ln w="19050">
            <a:solidFill>
              <a:srgbClr val="0D7877"/>
            </a:solidFill>
            <a:prstDash val="solid"/>
          </a:ln>
        </p:spPr>
      </p:sp>
      <p:sp>
        <p:nvSpPr>
          <p:cNvPr id="17" name="Shape 15"/>
          <p:cNvSpPr/>
          <p:nvPr/>
        </p:nvSpPr>
        <p:spPr>
          <a:xfrm>
            <a:off x="1325880" y="2761488"/>
            <a:ext cx="5120640" cy="566928"/>
          </a:xfrm>
          <a:prstGeom prst="roundRect">
            <a:avLst>
              <a:gd name="adj" fmla="val 8065"/>
            </a:avLst>
          </a:prstGeom>
          <a:solidFill>
            <a:srgbClr val="F4FAF9"/>
          </a:solidFill>
          <a:ln w="12700">
            <a:solidFill>
              <a:srgbClr val="CFE0DE"/>
            </a:solidFill>
            <a:prstDash val="solid"/>
          </a:ln>
        </p:spPr>
      </p:sp>
      <p:sp>
        <p:nvSpPr>
          <p:cNvPr id="18" name="Text 16"/>
          <p:cNvSpPr/>
          <p:nvPr/>
        </p:nvSpPr>
        <p:spPr>
          <a:xfrm>
            <a:off x="1463040" y="2761488"/>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B4.1.2   </a:t>
            </a:r>
            <a:r>
              <a:rPr lang="en-US" sz="1100" dirty="0">
                <a:solidFill>
                  <a:srgbClr val="262B3A"/>
                </a:solidFill>
                <a:latin typeface="Calibri" pitchFamily="34" charset="0"/>
                <a:ea typeface="Calibri" pitchFamily="34" charset="-122"/>
                <a:cs typeface="Calibri" pitchFamily="34" charset="-120"/>
              </a:rPr>
              <a:t>Respiration is continuous: cells need a constant supply of ATP</a:t>
            </a:r>
            <a:endParaRPr lang="en-US" sz="1100" dirty="0"/>
          </a:p>
        </p:txBody>
      </p:sp>
      <p:sp>
        <p:nvSpPr>
          <p:cNvPr id="19" name="Shape 17"/>
          <p:cNvSpPr/>
          <p:nvPr/>
        </p:nvSpPr>
        <p:spPr>
          <a:xfrm>
            <a:off x="5257800" y="2907792"/>
            <a:ext cx="1097280" cy="274320"/>
          </a:xfrm>
          <a:prstGeom prst="roundRect">
            <a:avLst>
              <a:gd name="adj" fmla="val 50000"/>
            </a:avLst>
          </a:prstGeom>
          <a:solidFill>
            <a:srgbClr val="0D7877"/>
          </a:solidFill>
          <a:ln w="12700">
            <a:solidFill>
              <a:srgbClr val="0D7877"/>
            </a:solidFill>
            <a:prstDash val="solid"/>
          </a:ln>
        </p:spPr>
      </p:sp>
      <p:sp>
        <p:nvSpPr>
          <p:cNvPr id="20" name="Text 18"/>
          <p:cNvSpPr/>
          <p:nvPr/>
        </p:nvSpPr>
        <p:spPr>
          <a:xfrm>
            <a:off x="5257800" y="2907792"/>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21" name="Shape 19"/>
          <p:cNvSpPr/>
          <p:nvPr/>
        </p:nvSpPr>
        <p:spPr>
          <a:xfrm>
            <a:off x="914400" y="3703320"/>
            <a:ext cx="411480" cy="91"/>
          </a:xfrm>
          <a:prstGeom prst="line">
            <a:avLst/>
          </a:prstGeom>
          <a:noFill/>
          <a:ln w="19050">
            <a:solidFill>
              <a:srgbClr val="0D7877"/>
            </a:solidFill>
            <a:prstDash val="solid"/>
          </a:ln>
        </p:spPr>
      </p:sp>
      <p:sp>
        <p:nvSpPr>
          <p:cNvPr id="22" name="Shape 20"/>
          <p:cNvSpPr/>
          <p:nvPr/>
        </p:nvSpPr>
        <p:spPr>
          <a:xfrm>
            <a:off x="1325880" y="3419856"/>
            <a:ext cx="5120640" cy="566928"/>
          </a:xfrm>
          <a:prstGeom prst="roundRect">
            <a:avLst>
              <a:gd name="adj" fmla="val 8065"/>
            </a:avLst>
          </a:prstGeom>
          <a:solidFill>
            <a:srgbClr val="F4FAF9"/>
          </a:solidFill>
          <a:ln w="12700">
            <a:solidFill>
              <a:srgbClr val="CFE0DE"/>
            </a:solidFill>
            <a:prstDash val="solid"/>
          </a:ln>
        </p:spPr>
      </p:sp>
      <p:sp>
        <p:nvSpPr>
          <p:cNvPr id="23" name="Text 21"/>
          <p:cNvSpPr/>
          <p:nvPr/>
        </p:nvSpPr>
        <p:spPr>
          <a:xfrm>
            <a:off x="1463040" y="3419856"/>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B4.1.1, B4.1.3   </a:t>
            </a:r>
            <a:r>
              <a:rPr lang="en-US" sz="1100" dirty="0">
                <a:solidFill>
                  <a:srgbClr val="262B3A"/>
                </a:solidFill>
                <a:latin typeface="Calibri" pitchFamily="34" charset="0"/>
                <a:ea typeface="Calibri" pitchFamily="34" charset="-122"/>
                <a:cs typeface="Calibri" pitchFamily="34" charset="-120"/>
              </a:rPr>
              <a:t>Aerobic respiration and the mitochondria</a:t>
            </a:r>
            <a:endParaRPr lang="en-US" sz="1100" dirty="0"/>
          </a:p>
        </p:txBody>
      </p:sp>
      <p:sp>
        <p:nvSpPr>
          <p:cNvPr id="24" name="Shape 22"/>
          <p:cNvSpPr/>
          <p:nvPr/>
        </p:nvSpPr>
        <p:spPr>
          <a:xfrm>
            <a:off x="5257800" y="3566160"/>
            <a:ext cx="1097280" cy="274320"/>
          </a:xfrm>
          <a:prstGeom prst="roundRect">
            <a:avLst>
              <a:gd name="adj" fmla="val 50000"/>
            </a:avLst>
          </a:prstGeom>
          <a:solidFill>
            <a:srgbClr val="0D7877"/>
          </a:solidFill>
          <a:ln w="12700">
            <a:solidFill>
              <a:srgbClr val="0D7877"/>
            </a:solidFill>
            <a:prstDash val="solid"/>
          </a:ln>
        </p:spPr>
      </p:sp>
      <p:sp>
        <p:nvSpPr>
          <p:cNvPr id="25" name="Text 23"/>
          <p:cNvSpPr/>
          <p:nvPr/>
        </p:nvSpPr>
        <p:spPr>
          <a:xfrm>
            <a:off x="5257800" y="3566160"/>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26" name="Shape 24"/>
          <p:cNvSpPr/>
          <p:nvPr/>
        </p:nvSpPr>
        <p:spPr>
          <a:xfrm>
            <a:off x="914400" y="4361688"/>
            <a:ext cx="411480" cy="91"/>
          </a:xfrm>
          <a:prstGeom prst="line">
            <a:avLst/>
          </a:prstGeom>
          <a:noFill/>
          <a:ln w="19050">
            <a:solidFill>
              <a:srgbClr val="0D7877"/>
            </a:solidFill>
            <a:prstDash val="solid"/>
          </a:ln>
        </p:spPr>
      </p:sp>
      <p:sp>
        <p:nvSpPr>
          <p:cNvPr id="27" name="Shape 25"/>
          <p:cNvSpPr/>
          <p:nvPr/>
        </p:nvSpPr>
        <p:spPr>
          <a:xfrm>
            <a:off x="1325880" y="4078224"/>
            <a:ext cx="5120640" cy="566928"/>
          </a:xfrm>
          <a:prstGeom prst="roundRect">
            <a:avLst>
              <a:gd name="adj" fmla="val 8065"/>
            </a:avLst>
          </a:prstGeom>
          <a:solidFill>
            <a:srgbClr val="F4FAF9"/>
          </a:solidFill>
          <a:ln w="12700">
            <a:solidFill>
              <a:srgbClr val="CFE0DE"/>
            </a:solidFill>
            <a:prstDash val="solid"/>
          </a:ln>
        </p:spPr>
      </p:sp>
      <p:sp>
        <p:nvSpPr>
          <p:cNvPr id="28" name="Text 26"/>
          <p:cNvSpPr/>
          <p:nvPr/>
        </p:nvSpPr>
        <p:spPr>
          <a:xfrm>
            <a:off x="1463040" y="4078224"/>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B4.1.1   </a:t>
            </a:r>
            <a:r>
              <a:rPr lang="en-US" sz="1100" dirty="0">
                <a:solidFill>
                  <a:srgbClr val="262B3A"/>
                </a:solidFill>
                <a:latin typeface="Calibri" pitchFamily="34" charset="0"/>
                <a:ea typeface="Calibri" pitchFamily="34" charset="-122"/>
                <a:cs typeface="Calibri" pitchFamily="34" charset="-120"/>
              </a:rPr>
              <a:t>Anaerobic respiration: lactic acid; ethanol and CO₂; fermentation</a:t>
            </a:r>
            <a:endParaRPr lang="en-US" sz="1100" dirty="0"/>
          </a:p>
        </p:txBody>
      </p:sp>
      <p:sp>
        <p:nvSpPr>
          <p:cNvPr id="29" name="Shape 27"/>
          <p:cNvSpPr/>
          <p:nvPr/>
        </p:nvSpPr>
        <p:spPr>
          <a:xfrm>
            <a:off x="5257800" y="4224528"/>
            <a:ext cx="1097280" cy="274320"/>
          </a:xfrm>
          <a:prstGeom prst="roundRect">
            <a:avLst>
              <a:gd name="adj" fmla="val 50000"/>
            </a:avLst>
          </a:prstGeom>
          <a:solidFill>
            <a:srgbClr val="0D7877"/>
          </a:solidFill>
          <a:ln w="12700">
            <a:solidFill>
              <a:srgbClr val="0D7877"/>
            </a:solidFill>
            <a:prstDash val="solid"/>
          </a:ln>
        </p:spPr>
      </p:sp>
      <p:sp>
        <p:nvSpPr>
          <p:cNvPr id="30" name="Text 28"/>
          <p:cNvSpPr/>
          <p:nvPr/>
        </p:nvSpPr>
        <p:spPr>
          <a:xfrm>
            <a:off x="5257800" y="4224528"/>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31" name="Shape 29"/>
          <p:cNvSpPr/>
          <p:nvPr/>
        </p:nvSpPr>
        <p:spPr>
          <a:xfrm>
            <a:off x="914400" y="5020056"/>
            <a:ext cx="411480" cy="91"/>
          </a:xfrm>
          <a:prstGeom prst="line">
            <a:avLst/>
          </a:prstGeom>
          <a:noFill/>
          <a:ln w="19050">
            <a:solidFill>
              <a:srgbClr val="0D7877"/>
            </a:solidFill>
            <a:prstDash val="solid"/>
          </a:ln>
        </p:spPr>
      </p:sp>
      <p:sp>
        <p:nvSpPr>
          <p:cNvPr id="32" name="Shape 30"/>
          <p:cNvSpPr/>
          <p:nvPr/>
        </p:nvSpPr>
        <p:spPr>
          <a:xfrm>
            <a:off x="1325880" y="4736592"/>
            <a:ext cx="5120640" cy="566928"/>
          </a:xfrm>
          <a:prstGeom prst="roundRect">
            <a:avLst>
              <a:gd name="adj" fmla="val 8065"/>
            </a:avLst>
          </a:prstGeom>
          <a:solidFill>
            <a:srgbClr val="F4FAF9"/>
          </a:solidFill>
          <a:ln w="12700">
            <a:solidFill>
              <a:srgbClr val="CFE0DE"/>
            </a:solidFill>
            <a:prstDash val="solid"/>
          </a:ln>
        </p:spPr>
      </p:sp>
      <p:sp>
        <p:nvSpPr>
          <p:cNvPr id="33" name="Text 31"/>
          <p:cNvSpPr/>
          <p:nvPr/>
        </p:nvSpPr>
        <p:spPr>
          <a:xfrm>
            <a:off x="1463040" y="4736592"/>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B4.1.1   </a:t>
            </a:r>
            <a:r>
              <a:rPr lang="en-US" sz="1100" dirty="0">
                <a:solidFill>
                  <a:srgbClr val="262B3A"/>
                </a:solidFill>
                <a:latin typeface="Calibri" pitchFamily="34" charset="0"/>
                <a:ea typeface="Calibri" pitchFamily="34" charset="-122"/>
                <a:cs typeface="Calibri" pitchFamily="34" charset="-120"/>
              </a:rPr>
              <a:t>Comparing aerobic and anaerobic respiration; ATP yields</a:t>
            </a:r>
            <a:endParaRPr lang="en-US" sz="1100" dirty="0"/>
          </a:p>
        </p:txBody>
      </p:sp>
      <p:sp>
        <p:nvSpPr>
          <p:cNvPr id="34" name="Shape 32"/>
          <p:cNvSpPr/>
          <p:nvPr/>
        </p:nvSpPr>
        <p:spPr>
          <a:xfrm>
            <a:off x="5257800" y="4882896"/>
            <a:ext cx="1097280" cy="274320"/>
          </a:xfrm>
          <a:prstGeom prst="roundRect">
            <a:avLst>
              <a:gd name="adj" fmla="val 50000"/>
            </a:avLst>
          </a:prstGeom>
          <a:solidFill>
            <a:srgbClr val="0D7877"/>
          </a:solidFill>
          <a:ln w="12700">
            <a:solidFill>
              <a:srgbClr val="0D7877"/>
            </a:solidFill>
            <a:prstDash val="solid"/>
          </a:ln>
        </p:spPr>
      </p:sp>
      <p:sp>
        <p:nvSpPr>
          <p:cNvPr id="35" name="Text 33"/>
          <p:cNvSpPr/>
          <p:nvPr/>
        </p:nvSpPr>
        <p:spPr>
          <a:xfrm>
            <a:off x="5257800" y="4882896"/>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36" name="Shape 34"/>
          <p:cNvSpPr/>
          <p:nvPr/>
        </p:nvSpPr>
        <p:spPr>
          <a:xfrm>
            <a:off x="914400" y="5678424"/>
            <a:ext cx="411480" cy="91"/>
          </a:xfrm>
          <a:prstGeom prst="line">
            <a:avLst/>
          </a:prstGeom>
          <a:noFill/>
          <a:ln w="19050">
            <a:solidFill>
              <a:srgbClr val="0D7877"/>
            </a:solidFill>
            <a:prstDash val="solid"/>
          </a:ln>
        </p:spPr>
      </p:sp>
      <p:sp>
        <p:nvSpPr>
          <p:cNvPr id="37" name="Shape 35"/>
          <p:cNvSpPr/>
          <p:nvPr/>
        </p:nvSpPr>
        <p:spPr>
          <a:xfrm>
            <a:off x="1325880" y="5394960"/>
            <a:ext cx="5120640" cy="566928"/>
          </a:xfrm>
          <a:prstGeom prst="roundRect">
            <a:avLst>
              <a:gd name="adj" fmla="val 8065"/>
            </a:avLst>
          </a:prstGeom>
          <a:solidFill>
            <a:srgbClr val="F4FAF9"/>
          </a:solidFill>
          <a:ln w="12700">
            <a:solidFill>
              <a:srgbClr val="CFE0DE"/>
            </a:solidFill>
            <a:prstDash val="solid"/>
          </a:ln>
        </p:spPr>
      </p:sp>
      <p:sp>
        <p:nvSpPr>
          <p:cNvPr id="38" name="Text 36"/>
          <p:cNvSpPr/>
          <p:nvPr/>
        </p:nvSpPr>
        <p:spPr>
          <a:xfrm>
            <a:off x="1463040" y="5394960"/>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PAG B4   </a:t>
            </a:r>
            <a:r>
              <a:rPr lang="en-US" sz="1100" dirty="0">
                <a:solidFill>
                  <a:srgbClr val="262B3A"/>
                </a:solidFill>
                <a:latin typeface="Calibri" pitchFamily="34" charset="0"/>
                <a:ea typeface="Calibri" pitchFamily="34" charset="-122"/>
                <a:cs typeface="Calibri" pitchFamily="34" charset="-120"/>
              </a:rPr>
              <a:t>Practical: different substrates and the rate of respiration in yeast</a:t>
            </a:r>
            <a:endParaRPr lang="en-US" sz="1100" dirty="0"/>
          </a:p>
        </p:txBody>
      </p:sp>
      <p:sp>
        <p:nvSpPr>
          <p:cNvPr id="39" name="Shape 37"/>
          <p:cNvSpPr/>
          <p:nvPr/>
        </p:nvSpPr>
        <p:spPr>
          <a:xfrm>
            <a:off x="5257800" y="5541264"/>
            <a:ext cx="1097280" cy="274320"/>
          </a:xfrm>
          <a:prstGeom prst="roundRect">
            <a:avLst>
              <a:gd name="adj" fmla="val 50000"/>
            </a:avLst>
          </a:prstGeom>
          <a:solidFill>
            <a:srgbClr val="B8730A"/>
          </a:solidFill>
          <a:ln w="12700">
            <a:solidFill>
              <a:srgbClr val="B8730A"/>
            </a:solidFill>
            <a:prstDash val="solid"/>
          </a:ln>
        </p:spPr>
      </p:sp>
      <p:sp>
        <p:nvSpPr>
          <p:cNvPr id="40" name="Text 38"/>
          <p:cNvSpPr/>
          <p:nvPr/>
        </p:nvSpPr>
        <p:spPr>
          <a:xfrm>
            <a:off x="5257800" y="554126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1" name="Text 39"/>
          <p:cNvSpPr/>
          <p:nvPr/>
        </p:nvSpPr>
        <p:spPr>
          <a:xfrm>
            <a:off x="411480" y="6053328"/>
            <a:ext cx="6035040" cy="256032"/>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Earlier links: B3.1 photosynthesis and enzymes • KS3 cells, breathing • chemistry: balancing equations</a:t>
            </a:r>
            <a:endParaRPr lang="en-US" sz="1050" dirty="0"/>
          </a:p>
        </p:txBody>
      </p:sp>
      <p:sp>
        <p:nvSpPr>
          <p:cNvPr id="42" name="Shape 40"/>
          <p:cNvSpPr/>
          <p:nvPr/>
        </p:nvSpPr>
        <p:spPr>
          <a:xfrm>
            <a:off x="6720840" y="1234440"/>
            <a:ext cx="5056632" cy="2788920"/>
          </a:xfrm>
          <a:prstGeom prst="roundRect">
            <a:avLst>
              <a:gd name="adj" fmla="val 1967"/>
            </a:avLst>
          </a:prstGeom>
          <a:solidFill>
            <a:srgbClr val="0F3D3E"/>
          </a:solidFill>
          <a:ln/>
        </p:spPr>
      </p:sp>
      <p:sp>
        <p:nvSpPr>
          <p:cNvPr id="43" name="Text 41"/>
          <p:cNvSpPr/>
          <p:nvPr/>
        </p:nvSpPr>
        <p:spPr>
          <a:xfrm>
            <a:off x="6903720" y="1325880"/>
            <a:ext cx="4709160" cy="2606040"/>
          </a:xfrm>
          <a:prstGeom prst="rect">
            <a:avLst/>
          </a:prstGeom>
          <a:noFill/>
          <a:ln/>
        </p:spPr>
        <p:txBody>
          <a:bodyPr wrap="square" lIns="0" tIns="0" rIns="0" bIns="0" rtlCol="0" anchor="t"/>
          <a:lstStyle/>
          <a:p>
            <a:pPr indent="0" marL="0">
              <a:buNone/>
            </a:pPr>
            <a:r>
              <a:rPr lang="en-US" sz="1500" b="1" dirty="0">
                <a:solidFill>
                  <a:srgbClr val="FFFFFF"/>
                </a:solidFill>
                <a:latin typeface="Georgia" pitchFamily="34" charset="0"/>
                <a:ea typeface="Georgia" pitchFamily="34" charset="-122"/>
                <a:cs typeface="Georgia" pitchFamily="34" charset="-120"/>
              </a:rPr>
              <a:t>Chapter B4 in J260</a:t>
            </a:r>
            <a:endParaRPr lang="en-US" sz="1500" dirty="0"/>
          </a:p>
          <a:p>
            <a:pPr marL="152400" indent="-152400">
              <a:spcAft>
                <a:spcPts val="300"/>
              </a:spcAft>
              <a:buSzPct val="100000"/>
              <a:buChar char="▪"/>
            </a:pPr>
            <a:r>
              <a:rPr lang="en-US" sz="1150" b="1" dirty="0">
                <a:solidFill>
                  <a:srgbClr val="E3F2F0"/>
                </a:solidFill>
                <a:latin typeface="Calibri" pitchFamily="34" charset="0"/>
                <a:ea typeface="Calibri" pitchFamily="34" charset="-122"/>
                <a:cs typeface="Calibri" pitchFamily="34" charset="-120"/>
              </a:rPr>
              <a:t>B4.1 What happens during cellular respiration?</a:t>
            </a:r>
            <a:r>
              <a:rPr lang="en-US" sz="1150" dirty="0">
                <a:solidFill>
                  <a:srgbClr val="E3F2F0"/>
                </a:solidFill>
                <a:latin typeface="Calibri" pitchFamily="34" charset="0"/>
                <a:ea typeface="Calibri" pitchFamily="34" charset="-122"/>
                <a:cs typeface="Calibri" pitchFamily="34" charset="-120"/>
              </a:rPr>
              <a:t> (this deck)</a:t>
            </a:r>
            <a:endParaRPr lang="en-US" sz="1500" dirty="0"/>
          </a:p>
          <a:p>
            <a:pPr marL="152400" indent="-152400">
              <a:spcAft>
                <a:spcPts val="300"/>
              </a:spcAft>
              <a:buSzPct val="100000"/>
              <a:buChar char="▪"/>
            </a:pPr>
            <a:r>
              <a:rPr lang="en-US" sz="1150" b="1" dirty="0">
                <a:solidFill>
                  <a:srgbClr val="E3F2F0"/>
                </a:solidFill>
                <a:latin typeface="Calibri" pitchFamily="34" charset="0"/>
                <a:ea typeface="Calibri" pitchFamily="34" charset="-122"/>
                <a:cs typeface="Calibri" pitchFamily="34" charset="-120"/>
              </a:rPr>
              <a:t>B4.2 How do we know about mitochondria and other cell structures?</a:t>
            </a:r>
            <a:r>
              <a:rPr lang="en-US" sz="1150" dirty="0">
                <a:solidFill>
                  <a:srgbClr val="E3F2F0"/>
                </a:solidFill>
                <a:latin typeface="Calibri" pitchFamily="34" charset="0"/>
                <a:ea typeface="Calibri" pitchFamily="34" charset="-122"/>
                <a:cs typeface="Calibri" pitchFamily="34" charset="-120"/>
              </a:rPr>
              <a:t> Microscopes and the evidence for organelles.</a:t>
            </a:r>
            <a:endParaRPr lang="en-US" sz="1500" dirty="0"/>
          </a:p>
          <a:p>
            <a:pPr marL="152400" indent="-152400">
              <a:spcAft>
                <a:spcPts val="300"/>
              </a:spcAft>
              <a:buSzPct val="100000"/>
              <a:buChar char="▪"/>
            </a:pPr>
            <a:r>
              <a:rPr lang="en-US" sz="1150" b="1" dirty="0">
                <a:solidFill>
                  <a:srgbClr val="E3F2F0"/>
                </a:solidFill>
                <a:latin typeface="Calibri" pitchFamily="34" charset="0"/>
                <a:ea typeface="Calibri" pitchFamily="34" charset="-122"/>
                <a:cs typeface="Calibri" pitchFamily="34" charset="-120"/>
              </a:rPr>
              <a:t>B4.3 How do organisms grow and develop?</a:t>
            </a:r>
            <a:r>
              <a:rPr lang="en-US" sz="1150" dirty="0">
                <a:solidFill>
                  <a:srgbClr val="E3F2F0"/>
                </a:solidFill>
                <a:latin typeface="Calibri" pitchFamily="34" charset="0"/>
                <a:ea typeface="Calibri" pitchFamily="34" charset="-122"/>
                <a:cs typeface="Calibri" pitchFamily="34" charset="-120"/>
              </a:rPr>
              <a:t> The cell cycle, mitosis, stem cells and differentiation.</a:t>
            </a:r>
            <a:endParaRPr lang="en-US" sz="1500" dirty="0"/>
          </a:p>
          <a:p>
            <a:pPr marL="152400" indent="-152400">
              <a:spcAft>
                <a:spcPts val="300"/>
              </a:spcAft>
              <a:buSzPct val="100000"/>
              <a:buChar char="▪"/>
            </a:pPr>
            <a:r>
              <a:rPr lang="en-US" sz="1150" dirty="0">
                <a:solidFill>
                  <a:srgbClr val="E3F2F0"/>
                </a:solidFill>
                <a:latin typeface="Calibri" pitchFamily="34" charset="0"/>
                <a:ea typeface="Calibri" pitchFamily="34" charset="-122"/>
                <a:cs typeface="Calibri" pitchFamily="34" charset="-120"/>
              </a:rPr>
              <a:t>B4.4 How is plant growth controlled? (plant hormones) is </a:t>
            </a:r>
            <a:r>
              <a:rPr lang="en-US" sz="1150" b="1" dirty="0">
                <a:solidFill>
                  <a:srgbClr val="E3F2F0"/>
                </a:solidFill>
                <a:latin typeface="Calibri" pitchFamily="34" charset="0"/>
                <a:ea typeface="Calibri" pitchFamily="34" charset="-122"/>
                <a:cs typeface="Calibri" pitchFamily="34" charset="-120"/>
              </a:rPr>
              <a:t>Biology B J257 only</a:t>
            </a:r>
            <a:r>
              <a:rPr lang="en-US" sz="1150" dirty="0">
                <a:solidFill>
                  <a:srgbClr val="E3F2F0"/>
                </a:solidFill>
                <a:latin typeface="Calibri" pitchFamily="34" charset="0"/>
                <a:ea typeface="Calibri" pitchFamily="34" charset="-122"/>
                <a:cs typeface="Calibri" pitchFamily="34" charset="-120"/>
              </a:rPr>
              <a:t>.</a:t>
            </a:r>
            <a:endParaRPr lang="en-US" sz="1500" dirty="0"/>
          </a:p>
        </p:txBody>
      </p:sp>
      <p:sp>
        <p:nvSpPr>
          <p:cNvPr id="44" name="Shape 42"/>
          <p:cNvSpPr/>
          <p:nvPr/>
        </p:nvSpPr>
        <p:spPr>
          <a:xfrm>
            <a:off x="6720840" y="4160520"/>
            <a:ext cx="5056632" cy="2103120"/>
          </a:xfrm>
          <a:prstGeom prst="roundRect">
            <a:avLst>
              <a:gd name="adj" fmla="val 2609"/>
            </a:avLst>
          </a:prstGeom>
          <a:solidFill>
            <a:srgbClr val="FFF4E0"/>
          </a:solidFill>
          <a:ln w="12700">
            <a:solidFill>
              <a:srgbClr val="F1D9A8"/>
            </a:solidFill>
            <a:prstDash val="solid"/>
          </a:ln>
        </p:spPr>
      </p:sp>
      <p:sp>
        <p:nvSpPr>
          <p:cNvPr id="45" name="Text 43"/>
          <p:cNvSpPr/>
          <p:nvPr/>
        </p:nvSpPr>
        <p:spPr>
          <a:xfrm>
            <a:off x="6903720" y="4251960"/>
            <a:ext cx="4709160" cy="1920240"/>
          </a:xfrm>
          <a:prstGeom prst="rect">
            <a:avLst/>
          </a:prstGeom>
          <a:noFill/>
          <a:ln/>
        </p:spPr>
        <p:txBody>
          <a:bodyPr wrap="square" lIns="0" tIns="0" rIns="0" bIns="0" rtlCol="0" anchor="t"/>
          <a:lstStyle/>
          <a:p>
            <a:pPr indent="0" marL="0">
              <a:buNone/>
            </a:pPr>
            <a:r>
              <a:rPr lang="en-US" sz="1500" b="1" dirty="0">
                <a:solidFill>
                  <a:srgbClr val="B8730A"/>
                </a:solidFill>
                <a:latin typeface="Georgia" pitchFamily="34" charset="0"/>
                <a:ea typeface="Georgia" pitchFamily="34" charset="-122"/>
                <a:cs typeface="Georgia" pitchFamily="34" charset="-120"/>
              </a:rPr>
              <a:t>One deck for both tiers</a:t>
            </a:r>
            <a:endParaRPr lang="en-US" sz="150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Every slide is for both tiers: no B4.1 statement was found to be Higher only.</a:t>
            </a:r>
            <a:endParaRPr lang="en-US" sz="150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Learn the </a:t>
            </a:r>
            <a:r>
              <a:rPr lang="en-US" sz="1150" b="1" dirty="0">
                <a:solidFill>
                  <a:srgbClr val="262B3A"/>
                </a:solidFill>
                <a:latin typeface="Calibri" pitchFamily="34" charset="0"/>
                <a:ea typeface="Calibri" pitchFamily="34" charset="-122"/>
                <a:cs typeface="Calibri" pitchFamily="34" charset="-120"/>
              </a:rPr>
              <a:t>word equations</a:t>
            </a:r>
            <a:r>
              <a:rPr lang="en-US" sz="1150" dirty="0">
                <a:solidFill>
                  <a:srgbClr val="262B3A"/>
                </a:solidFill>
                <a:latin typeface="Calibri" pitchFamily="34" charset="0"/>
                <a:ea typeface="Calibri" pitchFamily="34" charset="-122"/>
                <a:cs typeface="Calibri" pitchFamily="34" charset="-120"/>
              </a:rPr>
              <a:t>; the aerobic </a:t>
            </a:r>
            <a:r>
              <a:rPr lang="en-US" sz="1150" b="1" dirty="0">
                <a:solidFill>
                  <a:srgbClr val="262B3A"/>
                </a:solidFill>
                <a:latin typeface="Calibri" pitchFamily="34" charset="0"/>
                <a:ea typeface="Calibri" pitchFamily="34" charset="-122"/>
                <a:cs typeface="Calibri" pitchFamily="34" charset="-120"/>
              </a:rPr>
              <a:t>symbol equation</a:t>
            </a:r>
            <a:r>
              <a:rPr lang="en-US" sz="1150" dirty="0">
                <a:solidFill>
                  <a:srgbClr val="262B3A"/>
                </a:solidFill>
                <a:latin typeface="Calibri" pitchFamily="34" charset="0"/>
                <a:ea typeface="Calibri" pitchFamily="34" charset="-122"/>
                <a:cs typeface="Calibri" pitchFamily="34" charset="-120"/>
              </a:rPr>
              <a:t> is useful for both tiers.</a:t>
            </a:r>
            <a:endParaRPr lang="en-US" sz="150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One practical: </a:t>
            </a:r>
            <a:r>
              <a:rPr lang="en-US" sz="1150" b="1" dirty="0">
                <a:solidFill>
                  <a:srgbClr val="262B3A"/>
                </a:solidFill>
                <a:latin typeface="Calibri" pitchFamily="34" charset="0"/>
                <a:ea typeface="Calibri" pitchFamily="34" charset="-122"/>
                <a:cs typeface="Calibri" pitchFamily="34" charset="-120"/>
              </a:rPr>
              <a:t>PAG B4</a:t>
            </a:r>
            <a:r>
              <a:rPr lang="en-US" sz="1150" dirty="0">
                <a:solidFill>
                  <a:srgbClr val="262B3A"/>
                </a:solidFill>
                <a:latin typeface="Calibri" pitchFamily="34" charset="0"/>
                <a:ea typeface="Calibri" pitchFamily="34" charset="-122"/>
                <a:cs typeface="Calibri" pitchFamily="34" charset="-120"/>
              </a:rPr>
              <a:t>, yeast respiring different sugars.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Retrieval starter</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Recall from B3.1, KS3 and maths • 6 minutes • no notes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B4.1 What happens during cellular respiration?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Starter  |  4</a:t>
            </a:r>
            <a:endParaRPr lang="en-US" sz="1000" dirty="0"/>
          </a:p>
        </p:txBody>
      </p:sp>
      <p:sp>
        <p:nvSpPr>
          <p:cNvPr id="8" name="Shape 6"/>
          <p:cNvSpPr/>
          <p:nvPr/>
        </p:nvSpPr>
        <p:spPr>
          <a:xfrm>
            <a:off x="411480" y="1234440"/>
            <a:ext cx="3657600" cy="2011680"/>
          </a:xfrm>
          <a:prstGeom prst="roundRect">
            <a:avLst>
              <a:gd name="adj" fmla="val 2727"/>
            </a:avLst>
          </a:prstGeom>
          <a:solidFill>
            <a:srgbClr val="F4FAF9"/>
          </a:solidFill>
          <a:ln w="9525">
            <a:solidFill>
              <a:srgbClr val="CFE0DE"/>
            </a:solidFill>
            <a:prstDash val="solid"/>
          </a:ln>
        </p:spPr>
      </p:sp>
      <p:sp>
        <p:nvSpPr>
          <p:cNvPr id="9" name="Shape 7"/>
          <p:cNvSpPr/>
          <p:nvPr/>
        </p:nvSpPr>
        <p:spPr>
          <a:xfrm>
            <a:off x="548640" y="1371600"/>
            <a:ext cx="438912" cy="438912"/>
          </a:xfrm>
          <a:prstGeom prst="ellipse">
            <a:avLst/>
          </a:prstGeom>
          <a:solidFill>
            <a:srgbClr val="0D7877"/>
          </a:solidFill>
          <a:ln w="12700">
            <a:solidFill>
              <a:srgbClr val="0D7877"/>
            </a:solidFill>
            <a:prstDash val="solid"/>
          </a:ln>
        </p:spPr>
      </p:sp>
      <p:sp>
        <p:nvSpPr>
          <p:cNvPr id="10" name="Text 8"/>
          <p:cNvSpPr/>
          <p:nvPr/>
        </p:nvSpPr>
        <p:spPr>
          <a:xfrm>
            <a:off x="54864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11" name="Text 9"/>
          <p:cNvSpPr/>
          <p:nvPr/>
        </p:nvSpPr>
        <p:spPr>
          <a:xfrm>
            <a:off x="1097280" y="141732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B3.1 • photosynthesis</a:t>
            </a:r>
            <a:endParaRPr lang="en-US" sz="1050" dirty="0"/>
          </a:p>
        </p:txBody>
      </p:sp>
      <p:sp>
        <p:nvSpPr>
          <p:cNvPr id="12" name="Text 10"/>
          <p:cNvSpPr/>
          <p:nvPr/>
        </p:nvSpPr>
        <p:spPr>
          <a:xfrm>
            <a:off x="59436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Write the </a:t>
            </a:r>
            <a:r>
              <a:rPr lang="en-US" sz="1250" b="1" dirty="0">
                <a:solidFill>
                  <a:srgbClr val="262B3A"/>
                </a:solidFill>
                <a:latin typeface="Calibri" pitchFamily="34" charset="0"/>
                <a:ea typeface="Calibri" pitchFamily="34" charset="-122"/>
                <a:cs typeface="Calibri" pitchFamily="34" charset="-120"/>
              </a:rPr>
              <a:t>word equation</a:t>
            </a:r>
            <a:r>
              <a:rPr lang="en-US" sz="1250" dirty="0">
                <a:solidFill>
                  <a:srgbClr val="262B3A"/>
                </a:solidFill>
                <a:latin typeface="Calibri" pitchFamily="34" charset="0"/>
                <a:ea typeface="Calibri" pitchFamily="34" charset="-122"/>
                <a:cs typeface="Calibri" pitchFamily="34" charset="-120"/>
              </a:rPr>
              <a:t> for photosynthesis.</a:t>
            </a:r>
            <a:endParaRPr lang="en-US" sz="1250" dirty="0"/>
          </a:p>
        </p:txBody>
      </p:sp>
      <p:sp>
        <p:nvSpPr>
          <p:cNvPr id="13" name="Shape 11"/>
          <p:cNvSpPr/>
          <p:nvPr/>
        </p:nvSpPr>
        <p:spPr>
          <a:xfrm>
            <a:off x="4251960" y="1234440"/>
            <a:ext cx="3657600" cy="2011680"/>
          </a:xfrm>
          <a:prstGeom prst="roundRect">
            <a:avLst>
              <a:gd name="adj" fmla="val 2727"/>
            </a:avLst>
          </a:prstGeom>
          <a:solidFill>
            <a:srgbClr val="F4FAF9"/>
          </a:solidFill>
          <a:ln w="9525">
            <a:solidFill>
              <a:srgbClr val="CFE0DE"/>
            </a:solidFill>
            <a:prstDash val="solid"/>
          </a:ln>
        </p:spPr>
      </p:sp>
      <p:sp>
        <p:nvSpPr>
          <p:cNvPr id="14" name="Shape 12"/>
          <p:cNvSpPr/>
          <p:nvPr/>
        </p:nvSpPr>
        <p:spPr>
          <a:xfrm>
            <a:off x="4389120" y="1371600"/>
            <a:ext cx="438912" cy="438912"/>
          </a:xfrm>
          <a:prstGeom prst="ellipse">
            <a:avLst/>
          </a:prstGeom>
          <a:solidFill>
            <a:srgbClr val="0D7877"/>
          </a:solidFill>
          <a:ln w="12700">
            <a:solidFill>
              <a:srgbClr val="0D7877"/>
            </a:solidFill>
            <a:prstDash val="solid"/>
          </a:ln>
        </p:spPr>
      </p:sp>
      <p:sp>
        <p:nvSpPr>
          <p:cNvPr id="15" name="Text 13"/>
          <p:cNvSpPr/>
          <p:nvPr/>
        </p:nvSpPr>
        <p:spPr>
          <a:xfrm>
            <a:off x="438912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6" name="Text 14"/>
          <p:cNvSpPr/>
          <p:nvPr/>
        </p:nvSpPr>
        <p:spPr>
          <a:xfrm>
            <a:off x="4937760" y="141732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B3.1 • photosynthesis</a:t>
            </a:r>
            <a:endParaRPr lang="en-US" sz="1050" dirty="0"/>
          </a:p>
        </p:txBody>
      </p:sp>
      <p:sp>
        <p:nvSpPr>
          <p:cNvPr id="17" name="Text 15"/>
          <p:cNvSpPr/>
          <p:nvPr/>
        </p:nvSpPr>
        <p:spPr>
          <a:xfrm>
            <a:off x="443484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In which </a:t>
            </a:r>
            <a:r>
              <a:rPr lang="en-US" sz="1250" b="1" dirty="0">
                <a:solidFill>
                  <a:srgbClr val="262B3A"/>
                </a:solidFill>
                <a:latin typeface="Calibri" pitchFamily="34" charset="0"/>
                <a:ea typeface="Calibri" pitchFamily="34" charset="-122"/>
                <a:cs typeface="Calibri" pitchFamily="34" charset="-120"/>
              </a:rPr>
              <a:t>organelle</a:t>
            </a:r>
            <a:r>
              <a:rPr lang="en-US" sz="1250" dirty="0">
                <a:solidFill>
                  <a:srgbClr val="262B3A"/>
                </a:solidFill>
                <a:latin typeface="Calibri" pitchFamily="34" charset="0"/>
                <a:ea typeface="Calibri" pitchFamily="34" charset="-122"/>
                <a:cs typeface="Calibri" pitchFamily="34" charset="-120"/>
              </a:rPr>
              <a:t> does photosynthesis happen? Does photosynthesis take in or give out energy?</a:t>
            </a:r>
            <a:endParaRPr lang="en-US" sz="1250" dirty="0"/>
          </a:p>
        </p:txBody>
      </p:sp>
      <p:sp>
        <p:nvSpPr>
          <p:cNvPr id="18" name="Shape 16"/>
          <p:cNvSpPr/>
          <p:nvPr/>
        </p:nvSpPr>
        <p:spPr>
          <a:xfrm>
            <a:off x="8092440" y="1234440"/>
            <a:ext cx="3657600" cy="2011680"/>
          </a:xfrm>
          <a:prstGeom prst="roundRect">
            <a:avLst>
              <a:gd name="adj" fmla="val 2727"/>
            </a:avLst>
          </a:prstGeom>
          <a:solidFill>
            <a:srgbClr val="F4FAF9"/>
          </a:solidFill>
          <a:ln w="9525">
            <a:solidFill>
              <a:srgbClr val="CFE0DE"/>
            </a:solidFill>
            <a:prstDash val="solid"/>
          </a:ln>
        </p:spPr>
      </p:sp>
      <p:sp>
        <p:nvSpPr>
          <p:cNvPr id="19" name="Shape 17"/>
          <p:cNvSpPr/>
          <p:nvPr/>
        </p:nvSpPr>
        <p:spPr>
          <a:xfrm>
            <a:off x="8229600" y="1371600"/>
            <a:ext cx="438912" cy="438912"/>
          </a:xfrm>
          <a:prstGeom prst="ellipse">
            <a:avLst/>
          </a:prstGeom>
          <a:solidFill>
            <a:srgbClr val="0D7877"/>
          </a:solidFill>
          <a:ln w="12700">
            <a:solidFill>
              <a:srgbClr val="0D7877"/>
            </a:solidFill>
            <a:prstDash val="solid"/>
          </a:ln>
        </p:spPr>
      </p:sp>
      <p:sp>
        <p:nvSpPr>
          <p:cNvPr id="20" name="Text 18"/>
          <p:cNvSpPr/>
          <p:nvPr/>
        </p:nvSpPr>
        <p:spPr>
          <a:xfrm>
            <a:off x="822960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21" name="Text 19"/>
          <p:cNvSpPr/>
          <p:nvPr/>
        </p:nvSpPr>
        <p:spPr>
          <a:xfrm>
            <a:off x="8778240" y="141732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B3.1 • enzymes</a:t>
            </a:r>
            <a:endParaRPr lang="en-US" sz="1050" dirty="0"/>
          </a:p>
        </p:txBody>
      </p:sp>
      <p:sp>
        <p:nvSpPr>
          <p:cNvPr id="22" name="Text 20"/>
          <p:cNvSpPr/>
          <p:nvPr/>
        </p:nvSpPr>
        <p:spPr>
          <a:xfrm>
            <a:off x="827532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What is the </a:t>
            </a:r>
            <a:r>
              <a:rPr lang="en-US" sz="1250" b="1" dirty="0">
                <a:solidFill>
                  <a:srgbClr val="262B3A"/>
                </a:solidFill>
                <a:latin typeface="Calibri" pitchFamily="34" charset="0"/>
                <a:ea typeface="Calibri" pitchFamily="34" charset="-122"/>
                <a:cs typeface="Calibri" pitchFamily="34" charset="-120"/>
              </a:rPr>
              <a:t>active site</a:t>
            </a:r>
            <a:r>
              <a:rPr lang="en-US" sz="1250" dirty="0">
                <a:solidFill>
                  <a:srgbClr val="262B3A"/>
                </a:solidFill>
                <a:latin typeface="Calibri" pitchFamily="34" charset="0"/>
                <a:ea typeface="Calibri" pitchFamily="34" charset="-122"/>
                <a:cs typeface="Calibri" pitchFamily="34" charset="-120"/>
              </a:rPr>
              <a:t> of an enzyme? Why does each enzyme only work on one substrate?</a:t>
            </a:r>
            <a:endParaRPr lang="en-US" sz="1250" dirty="0"/>
          </a:p>
        </p:txBody>
      </p:sp>
      <p:sp>
        <p:nvSpPr>
          <p:cNvPr id="23" name="Shape 21"/>
          <p:cNvSpPr/>
          <p:nvPr/>
        </p:nvSpPr>
        <p:spPr>
          <a:xfrm>
            <a:off x="411480" y="3429000"/>
            <a:ext cx="3657600" cy="2011680"/>
          </a:xfrm>
          <a:prstGeom prst="roundRect">
            <a:avLst>
              <a:gd name="adj" fmla="val 2727"/>
            </a:avLst>
          </a:prstGeom>
          <a:solidFill>
            <a:srgbClr val="F4FAF9"/>
          </a:solidFill>
          <a:ln w="9525">
            <a:solidFill>
              <a:srgbClr val="CFE0DE"/>
            </a:solidFill>
            <a:prstDash val="solid"/>
          </a:ln>
        </p:spPr>
      </p:sp>
      <p:sp>
        <p:nvSpPr>
          <p:cNvPr id="24" name="Shape 22"/>
          <p:cNvSpPr/>
          <p:nvPr/>
        </p:nvSpPr>
        <p:spPr>
          <a:xfrm>
            <a:off x="548640" y="3566160"/>
            <a:ext cx="438912" cy="438912"/>
          </a:xfrm>
          <a:prstGeom prst="ellipse">
            <a:avLst/>
          </a:prstGeom>
          <a:solidFill>
            <a:srgbClr val="0D7877"/>
          </a:solidFill>
          <a:ln w="12700">
            <a:solidFill>
              <a:srgbClr val="0D7877"/>
            </a:solidFill>
            <a:prstDash val="solid"/>
          </a:ln>
        </p:spPr>
      </p:sp>
      <p:sp>
        <p:nvSpPr>
          <p:cNvPr id="25" name="Text 23"/>
          <p:cNvSpPr/>
          <p:nvPr/>
        </p:nvSpPr>
        <p:spPr>
          <a:xfrm>
            <a:off x="54864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26" name="Text 24"/>
          <p:cNvSpPr/>
          <p:nvPr/>
        </p:nvSpPr>
        <p:spPr>
          <a:xfrm>
            <a:off x="1097280" y="361188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B3.1 • enzymes</a:t>
            </a:r>
            <a:endParaRPr lang="en-US" sz="1050" dirty="0"/>
          </a:p>
        </p:txBody>
      </p:sp>
      <p:sp>
        <p:nvSpPr>
          <p:cNvPr id="27" name="Text 25"/>
          <p:cNvSpPr/>
          <p:nvPr/>
        </p:nvSpPr>
        <p:spPr>
          <a:xfrm>
            <a:off x="59436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What happens to an enzyme when the temperature goes well </a:t>
            </a:r>
            <a:r>
              <a:rPr lang="en-US" sz="1250" b="1" dirty="0">
                <a:solidFill>
                  <a:srgbClr val="262B3A"/>
                </a:solidFill>
                <a:latin typeface="Calibri" pitchFamily="34" charset="0"/>
                <a:ea typeface="Calibri" pitchFamily="34" charset="-122"/>
                <a:cs typeface="Calibri" pitchFamily="34" charset="-120"/>
              </a:rPr>
              <a:t>above its optimum</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28" name="Shape 26"/>
          <p:cNvSpPr/>
          <p:nvPr/>
        </p:nvSpPr>
        <p:spPr>
          <a:xfrm>
            <a:off x="4251960" y="3429000"/>
            <a:ext cx="3657600" cy="2011680"/>
          </a:xfrm>
          <a:prstGeom prst="roundRect">
            <a:avLst>
              <a:gd name="adj" fmla="val 2727"/>
            </a:avLst>
          </a:prstGeom>
          <a:solidFill>
            <a:srgbClr val="F4FAF9"/>
          </a:solidFill>
          <a:ln w="9525">
            <a:solidFill>
              <a:srgbClr val="CFE0DE"/>
            </a:solidFill>
            <a:prstDash val="solid"/>
          </a:ln>
        </p:spPr>
      </p:sp>
      <p:sp>
        <p:nvSpPr>
          <p:cNvPr id="29" name="Shape 27"/>
          <p:cNvSpPr/>
          <p:nvPr/>
        </p:nvSpPr>
        <p:spPr>
          <a:xfrm>
            <a:off x="4389120" y="3566160"/>
            <a:ext cx="438912" cy="438912"/>
          </a:xfrm>
          <a:prstGeom prst="ellipse">
            <a:avLst/>
          </a:prstGeom>
          <a:solidFill>
            <a:srgbClr val="0D7877"/>
          </a:solidFill>
          <a:ln w="12700">
            <a:solidFill>
              <a:srgbClr val="0D7877"/>
            </a:solidFill>
            <a:prstDash val="solid"/>
          </a:ln>
        </p:spPr>
      </p:sp>
      <p:sp>
        <p:nvSpPr>
          <p:cNvPr id="30" name="Text 28"/>
          <p:cNvSpPr/>
          <p:nvPr/>
        </p:nvSpPr>
        <p:spPr>
          <a:xfrm>
            <a:off x="438912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31" name="Text 29"/>
          <p:cNvSpPr/>
          <p:nvPr/>
        </p:nvSpPr>
        <p:spPr>
          <a:xfrm>
            <a:off x="4937760" y="361188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KS3 • breathing and cells</a:t>
            </a:r>
            <a:endParaRPr lang="en-US" sz="1050" dirty="0"/>
          </a:p>
        </p:txBody>
      </p:sp>
      <p:sp>
        <p:nvSpPr>
          <p:cNvPr id="32" name="Text 30"/>
          <p:cNvSpPr/>
          <p:nvPr/>
        </p:nvSpPr>
        <p:spPr>
          <a:xfrm>
            <a:off x="443484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substances that the blood carries to a working muscle cell.</a:t>
            </a:r>
            <a:endParaRPr lang="en-US" sz="1250" dirty="0"/>
          </a:p>
        </p:txBody>
      </p:sp>
      <p:sp>
        <p:nvSpPr>
          <p:cNvPr id="33" name="Shape 31"/>
          <p:cNvSpPr/>
          <p:nvPr/>
        </p:nvSpPr>
        <p:spPr>
          <a:xfrm>
            <a:off x="8092440" y="3429000"/>
            <a:ext cx="3657600" cy="2011680"/>
          </a:xfrm>
          <a:prstGeom prst="roundRect">
            <a:avLst>
              <a:gd name="adj" fmla="val 2727"/>
            </a:avLst>
          </a:prstGeom>
          <a:solidFill>
            <a:srgbClr val="F4FAF9"/>
          </a:solidFill>
          <a:ln w="9525">
            <a:solidFill>
              <a:srgbClr val="CFE0DE"/>
            </a:solidFill>
            <a:prstDash val="solid"/>
          </a:ln>
        </p:spPr>
      </p:sp>
      <p:sp>
        <p:nvSpPr>
          <p:cNvPr id="34" name="Shape 32"/>
          <p:cNvSpPr/>
          <p:nvPr/>
        </p:nvSpPr>
        <p:spPr>
          <a:xfrm>
            <a:off x="8229600" y="3566160"/>
            <a:ext cx="438912" cy="438912"/>
          </a:xfrm>
          <a:prstGeom prst="ellipse">
            <a:avLst/>
          </a:prstGeom>
          <a:solidFill>
            <a:srgbClr val="0D7877"/>
          </a:solidFill>
          <a:ln w="12700">
            <a:solidFill>
              <a:srgbClr val="0D7877"/>
            </a:solidFill>
            <a:prstDash val="solid"/>
          </a:ln>
        </p:spPr>
      </p:sp>
      <p:sp>
        <p:nvSpPr>
          <p:cNvPr id="35" name="Text 33"/>
          <p:cNvSpPr/>
          <p:nvPr/>
        </p:nvSpPr>
        <p:spPr>
          <a:xfrm>
            <a:off x="822960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6</a:t>
            </a:r>
            <a:endParaRPr lang="en-US" sz="1500" dirty="0"/>
          </a:p>
        </p:txBody>
      </p:sp>
      <p:sp>
        <p:nvSpPr>
          <p:cNvPr id="36" name="Text 34"/>
          <p:cNvSpPr/>
          <p:nvPr/>
        </p:nvSpPr>
        <p:spPr>
          <a:xfrm>
            <a:off x="8778240" y="361188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Maths • rates</a:t>
            </a:r>
            <a:endParaRPr lang="en-US" sz="1050" dirty="0"/>
          </a:p>
        </p:txBody>
      </p:sp>
      <p:sp>
        <p:nvSpPr>
          <p:cNvPr id="37" name="Text 35"/>
          <p:cNvSpPr/>
          <p:nvPr/>
        </p:nvSpPr>
        <p:spPr>
          <a:xfrm>
            <a:off x="827532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plant gives off </a:t>
            </a:r>
            <a:r>
              <a:rPr lang="en-US" sz="1250" b="1" dirty="0">
                <a:solidFill>
                  <a:srgbClr val="262B3A"/>
                </a:solidFill>
                <a:latin typeface="Calibri" pitchFamily="34" charset="0"/>
                <a:ea typeface="Calibri" pitchFamily="34" charset="-122"/>
                <a:cs typeface="Calibri" pitchFamily="34" charset="-120"/>
              </a:rPr>
              <a:t>18 cm³</a:t>
            </a:r>
            <a:r>
              <a:rPr lang="en-US" sz="1250" dirty="0">
                <a:solidFill>
                  <a:srgbClr val="262B3A"/>
                </a:solidFill>
                <a:latin typeface="Calibri" pitchFamily="34" charset="0"/>
                <a:ea typeface="Calibri" pitchFamily="34" charset="-122"/>
                <a:cs typeface="Calibri" pitchFamily="34" charset="-120"/>
              </a:rPr>
              <a:t> of gas in </a:t>
            </a:r>
            <a:r>
              <a:rPr lang="en-US" sz="1250" b="1" dirty="0">
                <a:solidFill>
                  <a:srgbClr val="262B3A"/>
                </a:solidFill>
                <a:latin typeface="Calibri" pitchFamily="34" charset="0"/>
                <a:ea typeface="Calibri" pitchFamily="34" charset="-122"/>
                <a:cs typeface="Calibri" pitchFamily="34" charset="-120"/>
              </a:rPr>
              <a:t>6 minutes</a:t>
            </a:r>
            <a:r>
              <a:rPr lang="en-US" sz="1250" dirty="0">
                <a:solidFill>
                  <a:srgbClr val="262B3A"/>
                </a:solidFill>
                <a:latin typeface="Calibri" pitchFamily="34" charset="0"/>
                <a:ea typeface="Calibri" pitchFamily="34" charset="-122"/>
                <a:cs typeface="Calibri" pitchFamily="34" charset="-120"/>
              </a:rPr>
              <a:t>. Calculate the mean rate in cm³ per minute.</a:t>
            </a:r>
            <a:endParaRPr lang="en-US" sz="1250" dirty="0"/>
          </a:p>
        </p:txBody>
      </p:sp>
      <p:sp>
        <p:nvSpPr>
          <p:cNvPr id="38" name="Shape 36"/>
          <p:cNvSpPr/>
          <p:nvPr/>
        </p:nvSpPr>
        <p:spPr>
          <a:xfrm>
            <a:off x="411480" y="5715000"/>
            <a:ext cx="11368735" cy="548640"/>
          </a:xfrm>
          <a:prstGeom prst="rect">
            <a:avLst/>
          </a:prstGeom>
          <a:solidFill>
            <a:srgbClr val="E8F4F3"/>
          </a:solidFill>
          <a:ln w="12700">
            <a:solidFill>
              <a:srgbClr val="CFE0DE"/>
            </a:solidFill>
            <a:prstDash val="solid"/>
          </a:ln>
        </p:spPr>
      </p:sp>
      <p:sp>
        <p:nvSpPr>
          <p:cNvPr id="39" name="Text 37"/>
          <p:cNvSpPr/>
          <p:nvPr/>
        </p:nvSpPr>
        <p:spPr>
          <a:xfrm>
            <a:off x="640080" y="5715000"/>
            <a:ext cx="10911535" cy="548640"/>
          </a:xfrm>
          <a:prstGeom prst="rect">
            <a:avLst/>
          </a:prstGeom>
          <a:noFill/>
          <a:ln/>
        </p:spPr>
        <p:txBody>
          <a:bodyPr wrap="square" lIns="0" tIns="0" rIns="0" bIns="0" rtlCol="0" anchor="ctr"/>
          <a:lstStyle/>
          <a:p>
            <a:pPr indent="0" marL="0">
              <a:buNone/>
            </a:pPr>
            <a:r>
              <a:rPr lang="en-US" sz="1200" b="1" dirty="0">
                <a:solidFill>
                  <a:srgbClr val="0D7877"/>
                </a:solidFill>
                <a:latin typeface="Calibri" pitchFamily="34" charset="0"/>
                <a:ea typeface="Calibri" pitchFamily="34" charset="-122"/>
                <a:cs typeface="Calibri" pitchFamily="34" charset="-120"/>
              </a:rPr>
              <a:t>Self-mark   </a:t>
            </a:r>
            <a:r>
              <a:rPr lang="en-US" sz="1200" dirty="0">
                <a:solidFill>
                  <a:srgbClr val="262B3A"/>
                </a:solidFill>
                <a:latin typeface="Calibri" pitchFamily="34" charset="0"/>
                <a:ea typeface="Calibri" pitchFamily="34" charset="-122"/>
                <a:cs typeface="Calibri" pitchFamily="34" charset="-120"/>
              </a:rPr>
              <a:t>Swap and mark from the answers.  6/6 secure  •  4–5 nearly there  •  0–3 revisit the topic notes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Respiration is an exothermic process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B4.1.4 • respiration transfers energy from glucose, and some is released to the surroundings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B4.1 What happens during cellular respiration?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B4.1.4  |  5</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germinating (living) peas and boiled (dead) peas in vacuum flasks, after 3 days</a:t>
            </a:r>
            <a:endParaRPr lang="en-US" sz="1000" dirty="0"/>
          </a:p>
        </p:txBody>
      </p:sp>
      <p:sp>
        <p:nvSpPr>
          <p:cNvPr id="10" name="Shape 8"/>
          <p:cNvSpPr/>
          <p:nvPr/>
        </p:nvSpPr>
        <p:spPr>
          <a:xfrm>
            <a:off x="685800" y="1325880"/>
            <a:ext cx="5029200" cy="621792"/>
          </a:xfrm>
          <a:prstGeom prst="roundRect">
            <a:avLst>
              <a:gd name="adj" fmla="val 8824"/>
            </a:avLst>
          </a:prstGeom>
          <a:solidFill>
            <a:srgbClr val="FFFFFF"/>
          </a:solidFill>
          <a:ln w="12700">
            <a:solidFill>
              <a:srgbClr val="CFE0DE"/>
            </a:solidFill>
            <a:prstDash val="solid"/>
          </a:ln>
        </p:spPr>
      </p:sp>
      <p:sp>
        <p:nvSpPr>
          <p:cNvPr id="11" name="Text 9"/>
          <p:cNvSpPr/>
          <p:nvPr/>
        </p:nvSpPr>
        <p:spPr>
          <a:xfrm>
            <a:off x="795528" y="1325880"/>
            <a:ext cx="4809744" cy="621792"/>
          </a:xfrm>
          <a:prstGeom prst="rect">
            <a:avLst/>
          </a:prstGeom>
          <a:noFill/>
          <a:ln/>
        </p:spPr>
        <p:txBody>
          <a:bodyPr wrap="square" lIns="0" tIns="0" rIns="0" bIns="0" rtlCol="0" anchor="ctr"/>
          <a:lstStyle/>
          <a:p>
            <a:pPr algn="ctr" indent="0" marL="0">
              <a:buNone/>
            </a:pPr>
            <a:r>
              <a:rPr lang="en-US" sz="1250" b="1" dirty="0">
                <a:solidFill>
                  <a:srgbClr val="262B3A"/>
                </a:solidFill>
                <a:latin typeface="Calibri" pitchFamily="34" charset="0"/>
                <a:ea typeface="Calibri" pitchFamily="34" charset="-122"/>
                <a:cs typeface="Calibri" pitchFamily="34" charset="-120"/>
              </a:rPr>
              <a:t>glucose + oxygen → carbon dioxide + water</a:t>
            </a:r>
            <a:endParaRPr lang="en-US" sz="1200" dirty="0"/>
          </a:p>
          <a:p>
            <a:pPr algn="ctr" indent="0" marL="0">
              <a:buNone/>
            </a:pPr>
            <a:r>
              <a:rPr lang="en-US" sz="1100" b="1" dirty="0">
                <a:solidFill>
                  <a:srgbClr val="C8414C"/>
                </a:solidFill>
                <a:latin typeface="Calibri" pitchFamily="34" charset="0"/>
                <a:ea typeface="Calibri" pitchFamily="34" charset="-122"/>
                <a:cs typeface="Calibri" pitchFamily="34" charset="-120"/>
              </a:rPr>
              <a:t>energy is transferred OUT: the surroundings warm up</a:t>
            </a:r>
            <a:endParaRPr lang="en-US" sz="1200" dirty="0"/>
          </a:p>
        </p:txBody>
      </p:sp>
      <p:sp>
        <p:nvSpPr>
          <p:cNvPr id="12" name="Shape 10"/>
          <p:cNvSpPr/>
          <p:nvPr/>
        </p:nvSpPr>
        <p:spPr>
          <a:xfrm>
            <a:off x="914400" y="2468880"/>
            <a:ext cx="1417320" cy="1600200"/>
          </a:xfrm>
          <a:prstGeom prst="roundRect">
            <a:avLst>
              <a:gd name="adj" fmla="val 7742"/>
            </a:avLst>
          </a:prstGeom>
          <a:solidFill>
            <a:srgbClr val="C9D1DA"/>
          </a:solidFill>
          <a:ln w="15875">
            <a:solidFill>
              <a:srgbClr val="6B7385"/>
            </a:solidFill>
            <a:prstDash val="solid"/>
          </a:ln>
        </p:spPr>
      </p:sp>
      <p:sp>
        <p:nvSpPr>
          <p:cNvPr id="13" name="Shape 11"/>
          <p:cNvSpPr/>
          <p:nvPr/>
        </p:nvSpPr>
        <p:spPr>
          <a:xfrm>
            <a:off x="1005840" y="2514600"/>
            <a:ext cx="1234440" cy="1444752"/>
          </a:xfrm>
          <a:prstGeom prst="roundRect">
            <a:avLst>
              <a:gd name="adj" fmla="val 5926"/>
            </a:avLst>
          </a:prstGeom>
          <a:solidFill>
            <a:srgbClr val="FFFFFF"/>
          </a:solidFill>
          <a:ln w="9525">
            <a:solidFill>
              <a:srgbClr val="9AA3B0"/>
            </a:solidFill>
            <a:prstDash val="solid"/>
          </a:ln>
        </p:spPr>
      </p:sp>
      <p:sp>
        <p:nvSpPr>
          <p:cNvPr id="14" name="Shape 12"/>
          <p:cNvSpPr/>
          <p:nvPr/>
        </p:nvSpPr>
        <p:spPr>
          <a:xfrm>
            <a:off x="1027328" y="3807104"/>
            <a:ext cx="121615" cy="121615"/>
          </a:xfrm>
          <a:prstGeom prst="ellipse">
            <a:avLst/>
          </a:prstGeom>
          <a:solidFill>
            <a:srgbClr val="8DBF5A"/>
          </a:solidFill>
          <a:ln w="9525">
            <a:solidFill>
              <a:srgbClr val="557A2E"/>
            </a:solidFill>
            <a:prstDash val="solid"/>
          </a:ln>
        </p:spPr>
      </p:sp>
      <p:sp>
        <p:nvSpPr>
          <p:cNvPr id="15" name="Shape 13"/>
          <p:cNvSpPr/>
          <p:nvPr/>
        </p:nvSpPr>
        <p:spPr>
          <a:xfrm>
            <a:off x="1155344" y="3807104"/>
            <a:ext cx="121615" cy="121615"/>
          </a:xfrm>
          <a:prstGeom prst="ellipse">
            <a:avLst/>
          </a:prstGeom>
          <a:solidFill>
            <a:srgbClr val="8DBF5A"/>
          </a:solidFill>
          <a:ln w="9525">
            <a:solidFill>
              <a:srgbClr val="557A2E"/>
            </a:solidFill>
            <a:prstDash val="solid"/>
          </a:ln>
        </p:spPr>
      </p:sp>
      <p:sp>
        <p:nvSpPr>
          <p:cNvPr id="16" name="Shape 14"/>
          <p:cNvSpPr/>
          <p:nvPr/>
        </p:nvSpPr>
        <p:spPr>
          <a:xfrm>
            <a:off x="1283360" y="3807104"/>
            <a:ext cx="121615" cy="121615"/>
          </a:xfrm>
          <a:prstGeom prst="ellipse">
            <a:avLst/>
          </a:prstGeom>
          <a:solidFill>
            <a:srgbClr val="8DBF5A"/>
          </a:solidFill>
          <a:ln w="9525">
            <a:solidFill>
              <a:srgbClr val="557A2E"/>
            </a:solidFill>
            <a:prstDash val="solid"/>
          </a:ln>
        </p:spPr>
      </p:sp>
      <p:sp>
        <p:nvSpPr>
          <p:cNvPr id="17" name="Shape 15"/>
          <p:cNvSpPr/>
          <p:nvPr/>
        </p:nvSpPr>
        <p:spPr>
          <a:xfrm>
            <a:off x="1411376" y="3807104"/>
            <a:ext cx="121615" cy="121615"/>
          </a:xfrm>
          <a:prstGeom prst="ellipse">
            <a:avLst/>
          </a:prstGeom>
          <a:solidFill>
            <a:srgbClr val="8DBF5A"/>
          </a:solidFill>
          <a:ln w="9525">
            <a:solidFill>
              <a:srgbClr val="557A2E"/>
            </a:solidFill>
            <a:prstDash val="solid"/>
          </a:ln>
        </p:spPr>
      </p:sp>
      <p:sp>
        <p:nvSpPr>
          <p:cNvPr id="18" name="Shape 16"/>
          <p:cNvSpPr/>
          <p:nvPr/>
        </p:nvSpPr>
        <p:spPr>
          <a:xfrm>
            <a:off x="1539392" y="3807104"/>
            <a:ext cx="121615" cy="121615"/>
          </a:xfrm>
          <a:prstGeom prst="ellipse">
            <a:avLst/>
          </a:prstGeom>
          <a:solidFill>
            <a:srgbClr val="8DBF5A"/>
          </a:solidFill>
          <a:ln w="9525">
            <a:solidFill>
              <a:srgbClr val="557A2E"/>
            </a:solidFill>
            <a:prstDash val="solid"/>
          </a:ln>
        </p:spPr>
      </p:sp>
      <p:sp>
        <p:nvSpPr>
          <p:cNvPr id="19" name="Shape 17"/>
          <p:cNvSpPr/>
          <p:nvPr/>
        </p:nvSpPr>
        <p:spPr>
          <a:xfrm>
            <a:off x="1667408" y="3807104"/>
            <a:ext cx="121615" cy="121615"/>
          </a:xfrm>
          <a:prstGeom prst="ellipse">
            <a:avLst/>
          </a:prstGeom>
          <a:solidFill>
            <a:srgbClr val="8DBF5A"/>
          </a:solidFill>
          <a:ln w="9525">
            <a:solidFill>
              <a:srgbClr val="557A2E"/>
            </a:solidFill>
            <a:prstDash val="solid"/>
          </a:ln>
        </p:spPr>
      </p:sp>
      <p:sp>
        <p:nvSpPr>
          <p:cNvPr id="20" name="Shape 18"/>
          <p:cNvSpPr/>
          <p:nvPr/>
        </p:nvSpPr>
        <p:spPr>
          <a:xfrm>
            <a:off x="1795424" y="3807104"/>
            <a:ext cx="121615" cy="121615"/>
          </a:xfrm>
          <a:prstGeom prst="ellipse">
            <a:avLst/>
          </a:prstGeom>
          <a:solidFill>
            <a:srgbClr val="8DBF5A"/>
          </a:solidFill>
          <a:ln w="9525">
            <a:solidFill>
              <a:srgbClr val="557A2E"/>
            </a:solidFill>
            <a:prstDash val="solid"/>
          </a:ln>
        </p:spPr>
      </p:sp>
      <p:sp>
        <p:nvSpPr>
          <p:cNvPr id="21" name="Shape 19"/>
          <p:cNvSpPr/>
          <p:nvPr/>
        </p:nvSpPr>
        <p:spPr>
          <a:xfrm>
            <a:off x="1923440" y="3807104"/>
            <a:ext cx="121615" cy="121615"/>
          </a:xfrm>
          <a:prstGeom prst="ellipse">
            <a:avLst/>
          </a:prstGeom>
          <a:solidFill>
            <a:srgbClr val="8DBF5A"/>
          </a:solidFill>
          <a:ln w="9525">
            <a:solidFill>
              <a:srgbClr val="557A2E"/>
            </a:solidFill>
            <a:prstDash val="solid"/>
          </a:ln>
        </p:spPr>
      </p:sp>
      <p:sp>
        <p:nvSpPr>
          <p:cNvPr id="22" name="Shape 20"/>
          <p:cNvSpPr/>
          <p:nvPr/>
        </p:nvSpPr>
        <p:spPr>
          <a:xfrm>
            <a:off x="2051456" y="3807104"/>
            <a:ext cx="121615" cy="121615"/>
          </a:xfrm>
          <a:prstGeom prst="ellipse">
            <a:avLst/>
          </a:prstGeom>
          <a:solidFill>
            <a:srgbClr val="8DBF5A"/>
          </a:solidFill>
          <a:ln w="9525">
            <a:solidFill>
              <a:srgbClr val="557A2E"/>
            </a:solidFill>
            <a:prstDash val="solid"/>
          </a:ln>
        </p:spPr>
      </p:sp>
      <p:sp>
        <p:nvSpPr>
          <p:cNvPr id="23" name="Shape 21"/>
          <p:cNvSpPr/>
          <p:nvPr/>
        </p:nvSpPr>
        <p:spPr>
          <a:xfrm>
            <a:off x="1091336" y="3695090"/>
            <a:ext cx="121615" cy="121615"/>
          </a:xfrm>
          <a:prstGeom prst="ellipse">
            <a:avLst/>
          </a:prstGeom>
          <a:solidFill>
            <a:srgbClr val="8DBF5A"/>
          </a:solidFill>
          <a:ln w="9525">
            <a:solidFill>
              <a:srgbClr val="557A2E"/>
            </a:solidFill>
            <a:prstDash val="solid"/>
          </a:ln>
        </p:spPr>
      </p:sp>
      <p:sp>
        <p:nvSpPr>
          <p:cNvPr id="24" name="Shape 22"/>
          <p:cNvSpPr/>
          <p:nvPr/>
        </p:nvSpPr>
        <p:spPr>
          <a:xfrm>
            <a:off x="1219352" y="3695090"/>
            <a:ext cx="121615" cy="121615"/>
          </a:xfrm>
          <a:prstGeom prst="ellipse">
            <a:avLst/>
          </a:prstGeom>
          <a:solidFill>
            <a:srgbClr val="8DBF5A"/>
          </a:solidFill>
          <a:ln w="9525">
            <a:solidFill>
              <a:srgbClr val="557A2E"/>
            </a:solidFill>
            <a:prstDash val="solid"/>
          </a:ln>
        </p:spPr>
      </p:sp>
      <p:sp>
        <p:nvSpPr>
          <p:cNvPr id="25" name="Shape 23"/>
          <p:cNvSpPr/>
          <p:nvPr/>
        </p:nvSpPr>
        <p:spPr>
          <a:xfrm>
            <a:off x="1347368" y="3695090"/>
            <a:ext cx="121615" cy="121615"/>
          </a:xfrm>
          <a:prstGeom prst="ellipse">
            <a:avLst/>
          </a:prstGeom>
          <a:solidFill>
            <a:srgbClr val="8DBF5A"/>
          </a:solidFill>
          <a:ln w="9525">
            <a:solidFill>
              <a:srgbClr val="557A2E"/>
            </a:solidFill>
            <a:prstDash val="solid"/>
          </a:ln>
        </p:spPr>
      </p:sp>
      <p:sp>
        <p:nvSpPr>
          <p:cNvPr id="26" name="Shape 24"/>
          <p:cNvSpPr/>
          <p:nvPr/>
        </p:nvSpPr>
        <p:spPr>
          <a:xfrm>
            <a:off x="1475384" y="3695090"/>
            <a:ext cx="121615" cy="121615"/>
          </a:xfrm>
          <a:prstGeom prst="ellipse">
            <a:avLst/>
          </a:prstGeom>
          <a:solidFill>
            <a:srgbClr val="8DBF5A"/>
          </a:solidFill>
          <a:ln w="9525">
            <a:solidFill>
              <a:srgbClr val="557A2E"/>
            </a:solidFill>
            <a:prstDash val="solid"/>
          </a:ln>
        </p:spPr>
      </p:sp>
      <p:sp>
        <p:nvSpPr>
          <p:cNvPr id="27" name="Shape 25"/>
          <p:cNvSpPr/>
          <p:nvPr/>
        </p:nvSpPr>
        <p:spPr>
          <a:xfrm>
            <a:off x="1603400" y="3695090"/>
            <a:ext cx="121615" cy="121615"/>
          </a:xfrm>
          <a:prstGeom prst="ellipse">
            <a:avLst/>
          </a:prstGeom>
          <a:solidFill>
            <a:srgbClr val="8DBF5A"/>
          </a:solidFill>
          <a:ln w="9525">
            <a:solidFill>
              <a:srgbClr val="557A2E"/>
            </a:solidFill>
            <a:prstDash val="solid"/>
          </a:ln>
        </p:spPr>
      </p:sp>
      <p:sp>
        <p:nvSpPr>
          <p:cNvPr id="28" name="Shape 26"/>
          <p:cNvSpPr/>
          <p:nvPr/>
        </p:nvSpPr>
        <p:spPr>
          <a:xfrm>
            <a:off x="1731416" y="3695090"/>
            <a:ext cx="121615" cy="121615"/>
          </a:xfrm>
          <a:prstGeom prst="ellipse">
            <a:avLst/>
          </a:prstGeom>
          <a:solidFill>
            <a:srgbClr val="8DBF5A"/>
          </a:solidFill>
          <a:ln w="9525">
            <a:solidFill>
              <a:srgbClr val="557A2E"/>
            </a:solidFill>
            <a:prstDash val="solid"/>
          </a:ln>
        </p:spPr>
      </p:sp>
      <p:sp>
        <p:nvSpPr>
          <p:cNvPr id="29" name="Shape 27"/>
          <p:cNvSpPr/>
          <p:nvPr/>
        </p:nvSpPr>
        <p:spPr>
          <a:xfrm>
            <a:off x="1859432" y="3695090"/>
            <a:ext cx="121615" cy="121615"/>
          </a:xfrm>
          <a:prstGeom prst="ellipse">
            <a:avLst/>
          </a:prstGeom>
          <a:solidFill>
            <a:srgbClr val="8DBF5A"/>
          </a:solidFill>
          <a:ln w="9525">
            <a:solidFill>
              <a:srgbClr val="557A2E"/>
            </a:solidFill>
            <a:prstDash val="solid"/>
          </a:ln>
        </p:spPr>
      </p:sp>
      <p:sp>
        <p:nvSpPr>
          <p:cNvPr id="30" name="Shape 28"/>
          <p:cNvSpPr/>
          <p:nvPr/>
        </p:nvSpPr>
        <p:spPr>
          <a:xfrm>
            <a:off x="1987448" y="3695090"/>
            <a:ext cx="121615" cy="121615"/>
          </a:xfrm>
          <a:prstGeom prst="ellipse">
            <a:avLst/>
          </a:prstGeom>
          <a:solidFill>
            <a:srgbClr val="8DBF5A"/>
          </a:solidFill>
          <a:ln w="9525">
            <a:solidFill>
              <a:srgbClr val="557A2E"/>
            </a:solidFill>
            <a:prstDash val="solid"/>
          </a:ln>
        </p:spPr>
      </p:sp>
      <p:sp>
        <p:nvSpPr>
          <p:cNvPr id="31" name="Shape 29"/>
          <p:cNvSpPr/>
          <p:nvPr/>
        </p:nvSpPr>
        <p:spPr>
          <a:xfrm>
            <a:off x="1027328" y="3583076"/>
            <a:ext cx="121615" cy="121615"/>
          </a:xfrm>
          <a:prstGeom prst="ellipse">
            <a:avLst/>
          </a:prstGeom>
          <a:solidFill>
            <a:srgbClr val="8DBF5A"/>
          </a:solidFill>
          <a:ln w="9525">
            <a:solidFill>
              <a:srgbClr val="557A2E"/>
            </a:solidFill>
            <a:prstDash val="solid"/>
          </a:ln>
        </p:spPr>
      </p:sp>
      <p:sp>
        <p:nvSpPr>
          <p:cNvPr id="32" name="Shape 30"/>
          <p:cNvSpPr/>
          <p:nvPr/>
        </p:nvSpPr>
        <p:spPr>
          <a:xfrm>
            <a:off x="1155344" y="3583076"/>
            <a:ext cx="121615" cy="121615"/>
          </a:xfrm>
          <a:prstGeom prst="ellipse">
            <a:avLst/>
          </a:prstGeom>
          <a:solidFill>
            <a:srgbClr val="8DBF5A"/>
          </a:solidFill>
          <a:ln w="9525">
            <a:solidFill>
              <a:srgbClr val="557A2E"/>
            </a:solidFill>
            <a:prstDash val="solid"/>
          </a:ln>
        </p:spPr>
      </p:sp>
      <p:sp>
        <p:nvSpPr>
          <p:cNvPr id="33" name="Shape 31"/>
          <p:cNvSpPr/>
          <p:nvPr/>
        </p:nvSpPr>
        <p:spPr>
          <a:xfrm>
            <a:off x="1283360" y="3583076"/>
            <a:ext cx="121615" cy="121615"/>
          </a:xfrm>
          <a:prstGeom prst="ellipse">
            <a:avLst/>
          </a:prstGeom>
          <a:solidFill>
            <a:srgbClr val="8DBF5A"/>
          </a:solidFill>
          <a:ln w="9525">
            <a:solidFill>
              <a:srgbClr val="557A2E"/>
            </a:solidFill>
            <a:prstDash val="solid"/>
          </a:ln>
        </p:spPr>
      </p:sp>
      <p:sp>
        <p:nvSpPr>
          <p:cNvPr id="34" name="Shape 32"/>
          <p:cNvSpPr/>
          <p:nvPr/>
        </p:nvSpPr>
        <p:spPr>
          <a:xfrm>
            <a:off x="1411376" y="3583076"/>
            <a:ext cx="121615" cy="121615"/>
          </a:xfrm>
          <a:prstGeom prst="ellipse">
            <a:avLst/>
          </a:prstGeom>
          <a:solidFill>
            <a:srgbClr val="8DBF5A"/>
          </a:solidFill>
          <a:ln w="9525">
            <a:solidFill>
              <a:srgbClr val="557A2E"/>
            </a:solidFill>
            <a:prstDash val="solid"/>
          </a:ln>
        </p:spPr>
      </p:sp>
      <p:sp>
        <p:nvSpPr>
          <p:cNvPr id="35" name="Shape 33"/>
          <p:cNvSpPr/>
          <p:nvPr/>
        </p:nvSpPr>
        <p:spPr>
          <a:xfrm>
            <a:off x="1539392" y="3583076"/>
            <a:ext cx="121615" cy="121615"/>
          </a:xfrm>
          <a:prstGeom prst="ellipse">
            <a:avLst/>
          </a:prstGeom>
          <a:solidFill>
            <a:srgbClr val="8DBF5A"/>
          </a:solidFill>
          <a:ln w="9525">
            <a:solidFill>
              <a:srgbClr val="557A2E"/>
            </a:solidFill>
            <a:prstDash val="solid"/>
          </a:ln>
        </p:spPr>
      </p:sp>
      <p:sp>
        <p:nvSpPr>
          <p:cNvPr id="36" name="Shape 34"/>
          <p:cNvSpPr/>
          <p:nvPr/>
        </p:nvSpPr>
        <p:spPr>
          <a:xfrm>
            <a:off x="1667408" y="3583076"/>
            <a:ext cx="121615" cy="121615"/>
          </a:xfrm>
          <a:prstGeom prst="ellipse">
            <a:avLst/>
          </a:prstGeom>
          <a:solidFill>
            <a:srgbClr val="8DBF5A"/>
          </a:solidFill>
          <a:ln w="9525">
            <a:solidFill>
              <a:srgbClr val="557A2E"/>
            </a:solidFill>
            <a:prstDash val="solid"/>
          </a:ln>
        </p:spPr>
      </p:sp>
      <p:sp>
        <p:nvSpPr>
          <p:cNvPr id="37" name="Shape 35"/>
          <p:cNvSpPr/>
          <p:nvPr/>
        </p:nvSpPr>
        <p:spPr>
          <a:xfrm>
            <a:off x="1795424" y="3583076"/>
            <a:ext cx="121615" cy="121615"/>
          </a:xfrm>
          <a:prstGeom prst="ellipse">
            <a:avLst/>
          </a:prstGeom>
          <a:solidFill>
            <a:srgbClr val="8DBF5A"/>
          </a:solidFill>
          <a:ln w="9525">
            <a:solidFill>
              <a:srgbClr val="557A2E"/>
            </a:solidFill>
            <a:prstDash val="solid"/>
          </a:ln>
        </p:spPr>
      </p:sp>
      <p:sp>
        <p:nvSpPr>
          <p:cNvPr id="38" name="Shape 36"/>
          <p:cNvSpPr/>
          <p:nvPr/>
        </p:nvSpPr>
        <p:spPr>
          <a:xfrm>
            <a:off x="1923440" y="3583076"/>
            <a:ext cx="121615" cy="121615"/>
          </a:xfrm>
          <a:prstGeom prst="ellipse">
            <a:avLst/>
          </a:prstGeom>
          <a:solidFill>
            <a:srgbClr val="8DBF5A"/>
          </a:solidFill>
          <a:ln w="9525">
            <a:solidFill>
              <a:srgbClr val="557A2E"/>
            </a:solidFill>
            <a:prstDash val="solid"/>
          </a:ln>
        </p:spPr>
      </p:sp>
      <p:sp>
        <p:nvSpPr>
          <p:cNvPr id="39" name="Shape 37"/>
          <p:cNvSpPr/>
          <p:nvPr/>
        </p:nvSpPr>
        <p:spPr>
          <a:xfrm>
            <a:off x="2051456" y="3583076"/>
            <a:ext cx="121615" cy="121615"/>
          </a:xfrm>
          <a:prstGeom prst="ellipse">
            <a:avLst/>
          </a:prstGeom>
          <a:solidFill>
            <a:srgbClr val="8DBF5A"/>
          </a:solidFill>
          <a:ln w="9525">
            <a:solidFill>
              <a:srgbClr val="557A2E"/>
            </a:solidFill>
            <a:prstDash val="solid"/>
          </a:ln>
        </p:spPr>
      </p:sp>
      <p:sp>
        <p:nvSpPr>
          <p:cNvPr id="40" name="Shape 38"/>
          <p:cNvSpPr/>
          <p:nvPr/>
        </p:nvSpPr>
        <p:spPr>
          <a:xfrm>
            <a:off x="1091336" y="3471062"/>
            <a:ext cx="121615" cy="121615"/>
          </a:xfrm>
          <a:prstGeom prst="ellipse">
            <a:avLst/>
          </a:prstGeom>
          <a:solidFill>
            <a:srgbClr val="8DBF5A"/>
          </a:solidFill>
          <a:ln w="9525">
            <a:solidFill>
              <a:srgbClr val="557A2E"/>
            </a:solidFill>
            <a:prstDash val="solid"/>
          </a:ln>
        </p:spPr>
      </p:sp>
      <p:sp>
        <p:nvSpPr>
          <p:cNvPr id="41" name="Shape 39"/>
          <p:cNvSpPr/>
          <p:nvPr/>
        </p:nvSpPr>
        <p:spPr>
          <a:xfrm>
            <a:off x="1219352" y="3471062"/>
            <a:ext cx="121615" cy="121615"/>
          </a:xfrm>
          <a:prstGeom prst="ellipse">
            <a:avLst/>
          </a:prstGeom>
          <a:solidFill>
            <a:srgbClr val="8DBF5A"/>
          </a:solidFill>
          <a:ln w="9525">
            <a:solidFill>
              <a:srgbClr val="557A2E"/>
            </a:solidFill>
            <a:prstDash val="solid"/>
          </a:ln>
        </p:spPr>
      </p:sp>
      <p:sp>
        <p:nvSpPr>
          <p:cNvPr id="42" name="Shape 40"/>
          <p:cNvSpPr/>
          <p:nvPr/>
        </p:nvSpPr>
        <p:spPr>
          <a:xfrm>
            <a:off x="1347368" y="3471062"/>
            <a:ext cx="121615" cy="121615"/>
          </a:xfrm>
          <a:prstGeom prst="ellipse">
            <a:avLst/>
          </a:prstGeom>
          <a:solidFill>
            <a:srgbClr val="8DBF5A"/>
          </a:solidFill>
          <a:ln w="9525">
            <a:solidFill>
              <a:srgbClr val="557A2E"/>
            </a:solidFill>
            <a:prstDash val="solid"/>
          </a:ln>
        </p:spPr>
      </p:sp>
      <p:sp>
        <p:nvSpPr>
          <p:cNvPr id="43" name="Shape 41"/>
          <p:cNvSpPr/>
          <p:nvPr/>
        </p:nvSpPr>
        <p:spPr>
          <a:xfrm>
            <a:off x="1475384" y="3471062"/>
            <a:ext cx="121615" cy="121615"/>
          </a:xfrm>
          <a:prstGeom prst="ellipse">
            <a:avLst/>
          </a:prstGeom>
          <a:solidFill>
            <a:srgbClr val="8DBF5A"/>
          </a:solidFill>
          <a:ln w="9525">
            <a:solidFill>
              <a:srgbClr val="557A2E"/>
            </a:solidFill>
            <a:prstDash val="solid"/>
          </a:ln>
        </p:spPr>
      </p:sp>
      <p:sp>
        <p:nvSpPr>
          <p:cNvPr id="44" name="Shape 42"/>
          <p:cNvSpPr/>
          <p:nvPr/>
        </p:nvSpPr>
        <p:spPr>
          <a:xfrm>
            <a:off x="1603400" y="3471062"/>
            <a:ext cx="121615" cy="121615"/>
          </a:xfrm>
          <a:prstGeom prst="ellipse">
            <a:avLst/>
          </a:prstGeom>
          <a:solidFill>
            <a:srgbClr val="8DBF5A"/>
          </a:solidFill>
          <a:ln w="9525">
            <a:solidFill>
              <a:srgbClr val="557A2E"/>
            </a:solidFill>
            <a:prstDash val="solid"/>
          </a:ln>
        </p:spPr>
      </p:sp>
      <p:sp>
        <p:nvSpPr>
          <p:cNvPr id="45" name="Shape 43"/>
          <p:cNvSpPr/>
          <p:nvPr/>
        </p:nvSpPr>
        <p:spPr>
          <a:xfrm>
            <a:off x="1731416" y="3471062"/>
            <a:ext cx="121615" cy="121615"/>
          </a:xfrm>
          <a:prstGeom prst="ellipse">
            <a:avLst/>
          </a:prstGeom>
          <a:solidFill>
            <a:srgbClr val="8DBF5A"/>
          </a:solidFill>
          <a:ln w="9525">
            <a:solidFill>
              <a:srgbClr val="557A2E"/>
            </a:solidFill>
            <a:prstDash val="solid"/>
          </a:ln>
        </p:spPr>
      </p:sp>
      <p:sp>
        <p:nvSpPr>
          <p:cNvPr id="46" name="Shape 44"/>
          <p:cNvSpPr/>
          <p:nvPr/>
        </p:nvSpPr>
        <p:spPr>
          <a:xfrm>
            <a:off x="1859432" y="3471062"/>
            <a:ext cx="121615" cy="121615"/>
          </a:xfrm>
          <a:prstGeom prst="ellipse">
            <a:avLst/>
          </a:prstGeom>
          <a:solidFill>
            <a:srgbClr val="8DBF5A"/>
          </a:solidFill>
          <a:ln w="9525">
            <a:solidFill>
              <a:srgbClr val="557A2E"/>
            </a:solidFill>
            <a:prstDash val="solid"/>
          </a:ln>
        </p:spPr>
      </p:sp>
      <p:sp>
        <p:nvSpPr>
          <p:cNvPr id="47" name="Shape 45"/>
          <p:cNvSpPr/>
          <p:nvPr/>
        </p:nvSpPr>
        <p:spPr>
          <a:xfrm>
            <a:off x="1987448" y="3471062"/>
            <a:ext cx="121615" cy="121615"/>
          </a:xfrm>
          <a:prstGeom prst="ellipse">
            <a:avLst/>
          </a:prstGeom>
          <a:solidFill>
            <a:srgbClr val="8DBF5A"/>
          </a:solidFill>
          <a:ln w="9525">
            <a:solidFill>
              <a:srgbClr val="557A2E"/>
            </a:solidFill>
            <a:prstDash val="solid"/>
          </a:ln>
        </p:spPr>
      </p:sp>
      <p:sp>
        <p:nvSpPr>
          <p:cNvPr id="48" name="Shape 46"/>
          <p:cNvSpPr/>
          <p:nvPr/>
        </p:nvSpPr>
        <p:spPr>
          <a:xfrm>
            <a:off x="1027328" y="3359048"/>
            <a:ext cx="121615" cy="121615"/>
          </a:xfrm>
          <a:prstGeom prst="ellipse">
            <a:avLst/>
          </a:prstGeom>
          <a:solidFill>
            <a:srgbClr val="8DBF5A"/>
          </a:solidFill>
          <a:ln w="9525">
            <a:solidFill>
              <a:srgbClr val="557A2E"/>
            </a:solidFill>
            <a:prstDash val="solid"/>
          </a:ln>
        </p:spPr>
      </p:sp>
      <p:sp>
        <p:nvSpPr>
          <p:cNvPr id="49" name="Shape 47"/>
          <p:cNvSpPr/>
          <p:nvPr/>
        </p:nvSpPr>
        <p:spPr>
          <a:xfrm>
            <a:off x="1155344" y="3359048"/>
            <a:ext cx="121615" cy="121615"/>
          </a:xfrm>
          <a:prstGeom prst="ellipse">
            <a:avLst/>
          </a:prstGeom>
          <a:solidFill>
            <a:srgbClr val="8DBF5A"/>
          </a:solidFill>
          <a:ln w="9525">
            <a:solidFill>
              <a:srgbClr val="557A2E"/>
            </a:solidFill>
            <a:prstDash val="solid"/>
          </a:ln>
        </p:spPr>
      </p:sp>
      <p:sp>
        <p:nvSpPr>
          <p:cNvPr id="50" name="Shape 48"/>
          <p:cNvSpPr/>
          <p:nvPr/>
        </p:nvSpPr>
        <p:spPr>
          <a:xfrm>
            <a:off x="1283360" y="3359048"/>
            <a:ext cx="121615" cy="121615"/>
          </a:xfrm>
          <a:prstGeom prst="ellipse">
            <a:avLst/>
          </a:prstGeom>
          <a:solidFill>
            <a:srgbClr val="8DBF5A"/>
          </a:solidFill>
          <a:ln w="9525">
            <a:solidFill>
              <a:srgbClr val="557A2E"/>
            </a:solidFill>
            <a:prstDash val="solid"/>
          </a:ln>
        </p:spPr>
      </p:sp>
      <p:sp>
        <p:nvSpPr>
          <p:cNvPr id="51" name="Shape 49"/>
          <p:cNvSpPr/>
          <p:nvPr/>
        </p:nvSpPr>
        <p:spPr>
          <a:xfrm>
            <a:off x="1411376" y="3359048"/>
            <a:ext cx="121615" cy="121615"/>
          </a:xfrm>
          <a:prstGeom prst="ellipse">
            <a:avLst/>
          </a:prstGeom>
          <a:solidFill>
            <a:srgbClr val="8DBF5A"/>
          </a:solidFill>
          <a:ln w="9525">
            <a:solidFill>
              <a:srgbClr val="557A2E"/>
            </a:solidFill>
            <a:prstDash val="solid"/>
          </a:ln>
        </p:spPr>
      </p:sp>
      <p:sp>
        <p:nvSpPr>
          <p:cNvPr id="52" name="Shape 50"/>
          <p:cNvSpPr/>
          <p:nvPr/>
        </p:nvSpPr>
        <p:spPr>
          <a:xfrm>
            <a:off x="1539392" y="3359048"/>
            <a:ext cx="121615" cy="121615"/>
          </a:xfrm>
          <a:prstGeom prst="ellipse">
            <a:avLst/>
          </a:prstGeom>
          <a:solidFill>
            <a:srgbClr val="8DBF5A"/>
          </a:solidFill>
          <a:ln w="9525">
            <a:solidFill>
              <a:srgbClr val="557A2E"/>
            </a:solidFill>
            <a:prstDash val="solid"/>
          </a:ln>
        </p:spPr>
      </p:sp>
      <p:sp>
        <p:nvSpPr>
          <p:cNvPr id="53" name="Shape 51"/>
          <p:cNvSpPr/>
          <p:nvPr/>
        </p:nvSpPr>
        <p:spPr>
          <a:xfrm>
            <a:off x="1667408" y="3359048"/>
            <a:ext cx="121615" cy="121615"/>
          </a:xfrm>
          <a:prstGeom prst="ellipse">
            <a:avLst/>
          </a:prstGeom>
          <a:solidFill>
            <a:srgbClr val="8DBF5A"/>
          </a:solidFill>
          <a:ln w="9525">
            <a:solidFill>
              <a:srgbClr val="557A2E"/>
            </a:solidFill>
            <a:prstDash val="solid"/>
          </a:ln>
        </p:spPr>
      </p:sp>
      <p:sp>
        <p:nvSpPr>
          <p:cNvPr id="54" name="Shape 52"/>
          <p:cNvSpPr/>
          <p:nvPr/>
        </p:nvSpPr>
        <p:spPr>
          <a:xfrm>
            <a:off x="1795424" y="3359048"/>
            <a:ext cx="121615" cy="121615"/>
          </a:xfrm>
          <a:prstGeom prst="ellipse">
            <a:avLst/>
          </a:prstGeom>
          <a:solidFill>
            <a:srgbClr val="8DBF5A"/>
          </a:solidFill>
          <a:ln w="9525">
            <a:solidFill>
              <a:srgbClr val="557A2E"/>
            </a:solidFill>
            <a:prstDash val="solid"/>
          </a:ln>
        </p:spPr>
      </p:sp>
      <p:sp>
        <p:nvSpPr>
          <p:cNvPr id="55" name="Shape 53"/>
          <p:cNvSpPr/>
          <p:nvPr/>
        </p:nvSpPr>
        <p:spPr>
          <a:xfrm>
            <a:off x="1923440" y="3359048"/>
            <a:ext cx="121615" cy="121615"/>
          </a:xfrm>
          <a:prstGeom prst="ellipse">
            <a:avLst/>
          </a:prstGeom>
          <a:solidFill>
            <a:srgbClr val="8DBF5A"/>
          </a:solidFill>
          <a:ln w="9525">
            <a:solidFill>
              <a:srgbClr val="557A2E"/>
            </a:solidFill>
            <a:prstDash val="solid"/>
          </a:ln>
        </p:spPr>
      </p:sp>
      <p:sp>
        <p:nvSpPr>
          <p:cNvPr id="56" name="Shape 54"/>
          <p:cNvSpPr/>
          <p:nvPr/>
        </p:nvSpPr>
        <p:spPr>
          <a:xfrm>
            <a:off x="2051456" y="3359048"/>
            <a:ext cx="121615" cy="121615"/>
          </a:xfrm>
          <a:prstGeom prst="ellipse">
            <a:avLst/>
          </a:prstGeom>
          <a:solidFill>
            <a:srgbClr val="8DBF5A"/>
          </a:solidFill>
          <a:ln w="9525">
            <a:solidFill>
              <a:srgbClr val="557A2E"/>
            </a:solidFill>
            <a:prstDash val="solid"/>
          </a:ln>
        </p:spPr>
      </p:sp>
      <p:sp>
        <p:nvSpPr>
          <p:cNvPr id="57" name="Shape 55"/>
          <p:cNvSpPr/>
          <p:nvPr/>
        </p:nvSpPr>
        <p:spPr>
          <a:xfrm>
            <a:off x="1091336" y="3247034"/>
            <a:ext cx="121615" cy="121615"/>
          </a:xfrm>
          <a:prstGeom prst="ellipse">
            <a:avLst/>
          </a:prstGeom>
          <a:solidFill>
            <a:srgbClr val="8DBF5A"/>
          </a:solidFill>
          <a:ln w="9525">
            <a:solidFill>
              <a:srgbClr val="557A2E"/>
            </a:solidFill>
            <a:prstDash val="solid"/>
          </a:ln>
        </p:spPr>
      </p:sp>
      <p:sp>
        <p:nvSpPr>
          <p:cNvPr id="58" name="Shape 56"/>
          <p:cNvSpPr/>
          <p:nvPr/>
        </p:nvSpPr>
        <p:spPr>
          <a:xfrm>
            <a:off x="1219352" y="3247034"/>
            <a:ext cx="121615" cy="121615"/>
          </a:xfrm>
          <a:prstGeom prst="ellipse">
            <a:avLst/>
          </a:prstGeom>
          <a:solidFill>
            <a:srgbClr val="8DBF5A"/>
          </a:solidFill>
          <a:ln w="9525">
            <a:solidFill>
              <a:srgbClr val="557A2E"/>
            </a:solidFill>
            <a:prstDash val="solid"/>
          </a:ln>
        </p:spPr>
      </p:sp>
      <p:sp>
        <p:nvSpPr>
          <p:cNvPr id="59" name="Shape 57"/>
          <p:cNvSpPr/>
          <p:nvPr/>
        </p:nvSpPr>
        <p:spPr>
          <a:xfrm>
            <a:off x="1347368" y="3247034"/>
            <a:ext cx="121615" cy="121615"/>
          </a:xfrm>
          <a:prstGeom prst="ellipse">
            <a:avLst/>
          </a:prstGeom>
          <a:solidFill>
            <a:srgbClr val="8DBF5A"/>
          </a:solidFill>
          <a:ln w="9525">
            <a:solidFill>
              <a:srgbClr val="557A2E"/>
            </a:solidFill>
            <a:prstDash val="solid"/>
          </a:ln>
        </p:spPr>
      </p:sp>
      <p:sp>
        <p:nvSpPr>
          <p:cNvPr id="60" name="Shape 58"/>
          <p:cNvSpPr/>
          <p:nvPr/>
        </p:nvSpPr>
        <p:spPr>
          <a:xfrm>
            <a:off x="1475384" y="3247034"/>
            <a:ext cx="121615" cy="121615"/>
          </a:xfrm>
          <a:prstGeom prst="ellipse">
            <a:avLst/>
          </a:prstGeom>
          <a:solidFill>
            <a:srgbClr val="8DBF5A"/>
          </a:solidFill>
          <a:ln w="9525">
            <a:solidFill>
              <a:srgbClr val="557A2E"/>
            </a:solidFill>
            <a:prstDash val="solid"/>
          </a:ln>
        </p:spPr>
      </p:sp>
      <p:sp>
        <p:nvSpPr>
          <p:cNvPr id="61" name="Shape 59"/>
          <p:cNvSpPr/>
          <p:nvPr/>
        </p:nvSpPr>
        <p:spPr>
          <a:xfrm>
            <a:off x="1603400" y="3247034"/>
            <a:ext cx="121615" cy="121615"/>
          </a:xfrm>
          <a:prstGeom prst="ellipse">
            <a:avLst/>
          </a:prstGeom>
          <a:solidFill>
            <a:srgbClr val="8DBF5A"/>
          </a:solidFill>
          <a:ln w="9525">
            <a:solidFill>
              <a:srgbClr val="557A2E"/>
            </a:solidFill>
            <a:prstDash val="solid"/>
          </a:ln>
        </p:spPr>
      </p:sp>
      <p:sp>
        <p:nvSpPr>
          <p:cNvPr id="62" name="Shape 60"/>
          <p:cNvSpPr/>
          <p:nvPr/>
        </p:nvSpPr>
        <p:spPr>
          <a:xfrm>
            <a:off x="1731416" y="3247034"/>
            <a:ext cx="121615" cy="121615"/>
          </a:xfrm>
          <a:prstGeom prst="ellipse">
            <a:avLst/>
          </a:prstGeom>
          <a:solidFill>
            <a:srgbClr val="8DBF5A"/>
          </a:solidFill>
          <a:ln w="9525">
            <a:solidFill>
              <a:srgbClr val="557A2E"/>
            </a:solidFill>
            <a:prstDash val="solid"/>
          </a:ln>
        </p:spPr>
      </p:sp>
      <p:sp>
        <p:nvSpPr>
          <p:cNvPr id="63" name="Shape 61"/>
          <p:cNvSpPr/>
          <p:nvPr/>
        </p:nvSpPr>
        <p:spPr>
          <a:xfrm>
            <a:off x="1859432" y="3247034"/>
            <a:ext cx="121615" cy="121615"/>
          </a:xfrm>
          <a:prstGeom prst="ellipse">
            <a:avLst/>
          </a:prstGeom>
          <a:solidFill>
            <a:srgbClr val="8DBF5A"/>
          </a:solidFill>
          <a:ln w="9525">
            <a:solidFill>
              <a:srgbClr val="557A2E"/>
            </a:solidFill>
            <a:prstDash val="solid"/>
          </a:ln>
        </p:spPr>
      </p:sp>
      <p:sp>
        <p:nvSpPr>
          <p:cNvPr id="64" name="Shape 62"/>
          <p:cNvSpPr/>
          <p:nvPr/>
        </p:nvSpPr>
        <p:spPr>
          <a:xfrm>
            <a:off x="1987448" y="3247034"/>
            <a:ext cx="121615" cy="121615"/>
          </a:xfrm>
          <a:prstGeom prst="ellipse">
            <a:avLst/>
          </a:prstGeom>
          <a:solidFill>
            <a:srgbClr val="8DBF5A"/>
          </a:solidFill>
          <a:ln w="9525">
            <a:solidFill>
              <a:srgbClr val="557A2E"/>
            </a:solidFill>
            <a:prstDash val="solid"/>
          </a:ln>
        </p:spPr>
      </p:sp>
      <p:sp>
        <p:nvSpPr>
          <p:cNvPr id="65" name="Shape 63"/>
          <p:cNvSpPr/>
          <p:nvPr/>
        </p:nvSpPr>
        <p:spPr>
          <a:xfrm>
            <a:off x="1115568" y="2240280"/>
            <a:ext cx="1014984" cy="384048"/>
          </a:xfrm>
          <a:prstGeom prst="roundRect">
            <a:avLst>
              <a:gd name="adj" fmla="val 28571"/>
            </a:avLst>
          </a:prstGeom>
          <a:solidFill>
            <a:srgbClr val="F7F6EF"/>
          </a:solidFill>
          <a:ln w="9525">
            <a:solidFill>
              <a:srgbClr val="B9B5A8"/>
            </a:solidFill>
            <a:prstDash val="solid"/>
          </a:ln>
        </p:spPr>
      </p:sp>
      <p:sp>
        <p:nvSpPr>
          <p:cNvPr id="66" name="Shape 64"/>
          <p:cNvSpPr/>
          <p:nvPr/>
        </p:nvSpPr>
        <p:spPr>
          <a:xfrm>
            <a:off x="1856232" y="2103120"/>
            <a:ext cx="82296" cy="1783080"/>
          </a:xfrm>
          <a:prstGeom prst="roundRect">
            <a:avLst>
              <a:gd name="adj" fmla="val 44444"/>
            </a:avLst>
          </a:prstGeom>
          <a:solidFill>
            <a:srgbClr val="FFFFFF"/>
          </a:solidFill>
          <a:ln w="9525">
            <a:solidFill>
              <a:srgbClr val="6B7385"/>
            </a:solidFill>
            <a:prstDash val="solid"/>
          </a:ln>
        </p:spPr>
      </p:sp>
      <p:sp>
        <p:nvSpPr>
          <p:cNvPr id="67" name="Shape 65"/>
          <p:cNvSpPr/>
          <p:nvPr/>
        </p:nvSpPr>
        <p:spPr>
          <a:xfrm>
            <a:off x="1828800" y="3817620"/>
            <a:ext cx="137160" cy="137160"/>
          </a:xfrm>
          <a:prstGeom prst="ellipse">
            <a:avLst/>
          </a:prstGeom>
          <a:solidFill>
            <a:srgbClr val="C8414C"/>
          </a:solidFill>
          <a:ln w="9525">
            <a:solidFill>
              <a:srgbClr val="8E2A33"/>
            </a:solidFill>
            <a:prstDash val="solid"/>
          </a:ln>
        </p:spPr>
      </p:sp>
      <p:sp>
        <p:nvSpPr>
          <p:cNvPr id="68" name="Shape 66"/>
          <p:cNvSpPr/>
          <p:nvPr/>
        </p:nvSpPr>
        <p:spPr>
          <a:xfrm>
            <a:off x="1883664" y="2780690"/>
            <a:ext cx="27432" cy="1105510"/>
          </a:xfrm>
          <a:prstGeom prst="rect">
            <a:avLst/>
          </a:prstGeom>
          <a:solidFill>
            <a:srgbClr val="C8414C"/>
          </a:solidFill>
          <a:ln/>
        </p:spPr>
      </p:sp>
      <p:sp>
        <p:nvSpPr>
          <p:cNvPr id="69" name="Shape 67"/>
          <p:cNvSpPr/>
          <p:nvPr/>
        </p:nvSpPr>
        <p:spPr>
          <a:xfrm>
            <a:off x="1906524" y="2394585"/>
            <a:ext cx="32004" cy="91"/>
          </a:xfrm>
          <a:prstGeom prst="line">
            <a:avLst/>
          </a:prstGeom>
          <a:noFill/>
          <a:ln w="6350">
            <a:solidFill>
              <a:srgbClr val="6B7385"/>
            </a:solidFill>
            <a:prstDash val="solid"/>
          </a:ln>
        </p:spPr>
      </p:sp>
      <p:sp>
        <p:nvSpPr>
          <p:cNvPr id="70" name="Shape 68"/>
          <p:cNvSpPr/>
          <p:nvPr/>
        </p:nvSpPr>
        <p:spPr>
          <a:xfrm>
            <a:off x="1906524" y="2594610"/>
            <a:ext cx="32004" cy="91"/>
          </a:xfrm>
          <a:prstGeom prst="line">
            <a:avLst/>
          </a:prstGeom>
          <a:noFill/>
          <a:ln w="6350">
            <a:solidFill>
              <a:srgbClr val="6B7385"/>
            </a:solidFill>
            <a:prstDash val="solid"/>
          </a:ln>
        </p:spPr>
      </p:sp>
      <p:sp>
        <p:nvSpPr>
          <p:cNvPr id="71" name="Shape 69"/>
          <p:cNvSpPr/>
          <p:nvPr/>
        </p:nvSpPr>
        <p:spPr>
          <a:xfrm>
            <a:off x="1906524" y="2794635"/>
            <a:ext cx="32004" cy="91"/>
          </a:xfrm>
          <a:prstGeom prst="line">
            <a:avLst/>
          </a:prstGeom>
          <a:noFill/>
          <a:ln w="6350">
            <a:solidFill>
              <a:srgbClr val="6B7385"/>
            </a:solidFill>
            <a:prstDash val="solid"/>
          </a:ln>
        </p:spPr>
      </p:sp>
      <p:sp>
        <p:nvSpPr>
          <p:cNvPr id="72" name="Shape 70"/>
          <p:cNvSpPr/>
          <p:nvPr/>
        </p:nvSpPr>
        <p:spPr>
          <a:xfrm>
            <a:off x="1906524" y="2994660"/>
            <a:ext cx="32004" cy="91"/>
          </a:xfrm>
          <a:prstGeom prst="line">
            <a:avLst/>
          </a:prstGeom>
          <a:noFill/>
          <a:ln w="6350">
            <a:solidFill>
              <a:srgbClr val="6B7385"/>
            </a:solidFill>
            <a:prstDash val="solid"/>
          </a:ln>
        </p:spPr>
      </p:sp>
      <p:sp>
        <p:nvSpPr>
          <p:cNvPr id="73" name="Shape 71"/>
          <p:cNvSpPr/>
          <p:nvPr/>
        </p:nvSpPr>
        <p:spPr>
          <a:xfrm>
            <a:off x="1906524" y="3194685"/>
            <a:ext cx="32004" cy="91"/>
          </a:xfrm>
          <a:prstGeom prst="line">
            <a:avLst/>
          </a:prstGeom>
          <a:noFill/>
          <a:ln w="6350">
            <a:solidFill>
              <a:srgbClr val="6B7385"/>
            </a:solidFill>
            <a:prstDash val="solid"/>
          </a:ln>
        </p:spPr>
      </p:sp>
      <p:sp>
        <p:nvSpPr>
          <p:cNvPr id="74" name="Shape 72"/>
          <p:cNvSpPr/>
          <p:nvPr/>
        </p:nvSpPr>
        <p:spPr>
          <a:xfrm>
            <a:off x="1906524" y="3394710"/>
            <a:ext cx="32004" cy="91"/>
          </a:xfrm>
          <a:prstGeom prst="line">
            <a:avLst/>
          </a:prstGeom>
          <a:noFill/>
          <a:ln w="6350">
            <a:solidFill>
              <a:srgbClr val="6B7385"/>
            </a:solidFill>
            <a:prstDash val="solid"/>
          </a:ln>
        </p:spPr>
      </p:sp>
      <p:sp>
        <p:nvSpPr>
          <p:cNvPr id="75" name="Shape 73"/>
          <p:cNvSpPr/>
          <p:nvPr/>
        </p:nvSpPr>
        <p:spPr>
          <a:xfrm>
            <a:off x="1906524" y="3594735"/>
            <a:ext cx="32004" cy="91"/>
          </a:xfrm>
          <a:prstGeom prst="line">
            <a:avLst/>
          </a:prstGeom>
          <a:noFill/>
          <a:ln w="6350">
            <a:solidFill>
              <a:srgbClr val="6B7385"/>
            </a:solidFill>
            <a:prstDash val="solid"/>
          </a:ln>
        </p:spPr>
      </p:sp>
      <p:sp>
        <p:nvSpPr>
          <p:cNvPr id="76" name="Text 74"/>
          <p:cNvSpPr/>
          <p:nvPr/>
        </p:nvSpPr>
        <p:spPr>
          <a:xfrm>
            <a:off x="2007108" y="2057400"/>
            <a:ext cx="960120" cy="256032"/>
          </a:xfrm>
          <a:prstGeom prst="rect">
            <a:avLst/>
          </a:prstGeom>
          <a:noFill/>
          <a:ln/>
        </p:spPr>
        <p:txBody>
          <a:bodyPr wrap="square" lIns="0" tIns="0" rIns="0" bIns="0" rtlCol="0" anchor="ctr"/>
          <a:lstStyle/>
          <a:p>
            <a:pPr algn="l" indent="0" marL="0">
              <a:buNone/>
            </a:pPr>
            <a:r>
              <a:rPr lang="en-US" sz="1200" b="1" dirty="0">
                <a:solidFill>
                  <a:srgbClr val="C8414C"/>
                </a:solidFill>
                <a:latin typeface="Calibri" pitchFamily="34" charset="0"/>
                <a:ea typeface="Calibri" pitchFamily="34" charset="-122"/>
                <a:cs typeface="Calibri" pitchFamily="34" charset="-120"/>
              </a:rPr>
              <a:t>24.5 °C</a:t>
            </a:r>
            <a:endParaRPr lang="en-US" sz="1200" dirty="0"/>
          </a:p>
        </p:txBody>
      </p:sp>
      <p:sp>
        <p:nvSpPr>
          <p:cNvPr id="77" name="Text 75"/>
          <p:cNvSpPr/>
          <p:nvPr/>
        </p:nvSpPr>
        <p:spPr>
          <a:xfrm>
            <a:off x="685800" y="4087368"/>
            <a:ext cx="1874520" cy="365760"/>
          </a:xfrm>
          <a:prstGeom prst="rect">
            <a:avLst/>
          </a:prstGeom>
          <a:noFill/>
          <a:ln/>
        </p:spPr>
        <p:txBody>
          <a:bodyPr wrap="square" lIns="0" tIns="0" rIns="0" bIns="0" rtlCol="0" anchor="t"/>
          <a:lstStyle/>
          <a:p>
            <a:pPr algn="ctr" indent="0" marL="0">
              <a:buNone/>
            </a:pPr>
            <a:r>
              <a:rPr lang="en-US" sz="1050" b="1" dirty="0">
                <a:solidFill>
                  <a:srgbClr val="262B3A"/>
                </a:solidFill>
                <a:latin typeface="Calibri" pitchFamily="34" charset="0"/>
                <a:ea typeface="Calibri" pitchFamily="34" charset="-122"/>
                <a:cs typeface="Calibri" pitchFamily="34" charset="-120"/>
              </a:rPr>
              <a:t>A</a:t>
            </a:r>
            <a:r>
              <a:rPr lang="en-US" sz="1050" dirty="0">
                <a:solidFill>
                  <a:srgbClr val="262B3A"/>
                </a:solidFill>
                <a:latin typeface="Calibri" pitchFamily="34" charset="0"/>
                <a:ea typeface="Calibri" pitchFamily="34" charset="-122"/>
                <a:cs typeface="Calibri" pitchFamily="34" charset="-120"/>
              </a:rPr>
              <a:t>  germinating peas (alive)</a:t>
            </a:r>
            <a:endParaRPr lang="en-US" sz="1050" dirty="0"/>
          </a:p>
        </p:txBody>
      </p:sp>
      <p:sp>
        <p:nvSpPr>
          <p:cNvPr id="78" name="Shape 76"/>
          <p:cNvSpPr/>
          <p:nvPr/>
        </p:nvSpPr>
        <p:spPr>
          <a:xfrm>
            <a:off x="3611880" y="2468880"/>
            <a:ext cx="1417320" cy="1600200"/>
          </a:xfrm>
          <a:prstGeom prst="roundRect">
            <a:avLst>
              <a:gd name="adj" fmla="val 7742"/>
            </a:avLst>
          </a:prstGeom>
          <a:solidFill>
            <a:srgbClr val="C9D1DA"/>
          </a:solidFill>
          <a:ln w="15875">
            <a:solidFill>
              <a:srgbClr val="6B7385"/>
            </a:solidFill>
            <a:prstDash val="solid"/>
          </a:ln>
        </p:spPr>
      </p:sp>
      <p:sp>
        <p:nvSpPr>
          <p:cNvPr id="79" name="Shape 77"/>
          <p:cNvSpPr/>
          <p:nvPr/>
        </p:nvSpPr>
        <p:spPr>
          <a:xfrm>
            <a:off x="3703320" y="2514600"/>
            <a:ext cx="1234440" cy="1444752"/>
          </a:xfrm>
          <a:prstGeom prst="roundRect">
            <a:avLst>
              <a:gd name="adj" fmla="val 5926"/>
            </a:avLst>
          </a:prstGeom>
          <a:solidFill>
            <a:srgbClr val="FFFFFF"/>
          </a:solidFill>
          <a:ln w="9525">
            <a:solidFill>
              <a:srgbClr val="9AA3B0"/>
            </a:solidFill>
            <a:prstDash val="solid"/>
          </a:ln>
        </p:spPr>
      </p:sp>
      <p:sp>
        <p:nvSpPr>
          <p:cNvPr id="80" name="Shape 78"/>
          <p:cNvSpPr/>
          <p:nvPr/>
        </p:nvSpPr>
        <p:spPr>
          <a:xfrm>
            <a:off x="3724808" y="3807104"/>
            <a:ext cx="121615" cy="121615"/>
          </a:xfrm>
          <a:prstGeom prst="ellipse">
            <a:avLst/>
          </a:prstGeom>
          <a:solidFill>
            <a:srgbClr val="D2CC8C"/>
          </a:solidFill>
          <a:ln w="9525">
            <a:solidFill>
              <a:srgbClr val="9A9460"/>
            </a:solidFill>
            <a:prstDash val="solid"/>
          </a:ln>
        </p:spPr>
      </p:sp>
      <p:sp>
        <p:nvSpPr>
          <p:cNvPr id="81" name="Shape 79"/>
          <p:cNvSpPr/>
          <p:nvPr/>
        </p:nvSpPr>
        <p:spPr>
          <a:xfrm>
            <a:off x="3852824" y="3807104"/>
            <a:ext cx="121615" cy="121615"/>
          </a:xfrm>
          <a:prstGeom prst="ellipse">
            <a:avLst/>
          </a:prstGeom>
          <a:solidFill>
            <a:srgbClr val="D2CC8C"/>
          </a:solidFill>
          <a:ln w="9525">
            <a:solidFill>
              <a:srgbClr val="9A9460"/>
            </a:solidFill>
            <a:prstDash val="solid"/>
          </a:ln>
        </p:spPr>
      </p:sp>
      <p:sp>
        <p:nvSpPr>
          <p:cNvPr id="82" name="Shape 80"/>
          <p:cNvSpPr/>
          <p:nvPr/>
        </p:nvSpPr>
        <p:spPr>
          <a:xfrm>
            <a:off x="3980840" y="3807104"/>
            <a:ext cx="121615" cy="121615"/>
          </a:xfrm>
          <a:prstGeom prst="ellipse">
            <a:avLst/>
          </a:prstGeom>
          <a:solidFill>
            <a:srgbClr val="D2CC8C"/>
          </a:solidFill>
          <a:ln w="9525">
            <a:solidFill>
              <a:srgbClr val="9A9460"/>
            </a:solidFill>
            <a:prstDash val="solid"/>
          </a:ln>
        </p:spPr>
      </p:sp>
      <p:sp>
        <p:nvSpPr>
          <p:cNvPr id="83" name="Shape 81"/>
          <p:cNvSpPr/>
          <p:nvPr/>
        </p:nvSpPr>
        <p:spPr>
          <a:xfrm>
            <a:off x="4108856" y="3807104"/>
            <a:ext cx="121615" cy="121615"/>
          </a:xfrm>
          <a:prstGeom prst="ellipse">
            <a:avLst/>
          </a:prstGeom>
          <a:solidFill>
            <a:srgbClr val="D2CC8C"/>
          </a:solidFill>
          <a:ln w="9525">
            <a:solidFill>
              <a:srgbClr val="9A9460"/>
            </a:solidFill>
            <a:prstDash val="solid"/>
          </a:ln>
        </p:spPr>
      </p:sp>
      <p:sp>
        <p:nvSpPr>
          <p:cNvPr id="84" name="Shape 82"/>
          <p:cNvSpPr/>
          <p:nvPr/>
        </p:nvSpPr>
        <p:spPr>
          <a:xfrm>
            <a:off x="4236872" y="3807104"/>
            <a:ext cx="121615" cy="121615"/>
          </a:xfrm>
          <a:prstGeom prst="ellipse">
            <a:avLst/>
          </a:prstGeom>
          <a:solidFill>
            <a:srgbClr val="D2CC8C"/>
          </a:solidFill>
          <a:ln w="9525">
            <a:solidFill>
              <a:srgbClr val="9A9460"/>
            </a:solidFill>
            <a:prstDash val="solid"/>
          </a:ln>
        </p:spPr>
      </p:sp>
      <p:sp>
        <p:nvSpPr>
          <p:cNvPr id="85" name="Shape 83"/>
          <p:cNvSpPr/>
          <p:nvPr/>
        </p:nvSpPr>
        <p:spPr>
          <a:xfrm>
            <a:off x="4364888" y="3807104"/>
            <a:ext cx="121615" cy="121615"/>
          </a:xfrm>
          <a:prstGeom prst="ellipse">
            <a:avLst/>
          </a:prstGeom>
          <a:solidFill>
            <a:srgbClr val="D2CC8C"/>
          </a:solidFill>
          <a:ln w="9525">
            <a:solidFill>
              <a:srgbClr val="9A9460"/>
            </a:solidFill>
            <a:prstDash val="solid"/>
          </a:ln>
        </p:spPr>
      </p:sp>
      <p:sp>
        <p:nvSpPr>
          <p:cNvPr id="86" name="Shape 84"/>
          <p:cNvSpPr/>
          <p:nvPr/>
        </p:nvSpPr>
        <p:spPr>
          <a:xfrm>
            <a:off x="4492904" y="3807104"/>
            <a:ext cx="121615" cy="121615"/>
          </a:xfrm>
          <a:prstGeom prst="ellipse">
            <a:avLst/>
          </a:prstGeom>
          <a:solidFill>
            <a:srgbClr val="D2CC8C"/>
          </a:solidFill>
          <a:ln w="9525">
            <a:solidFill>
              <a:srgbClr val="9A9460"/>
            </a:solidFill>
            <a:prstDash val="solid"/>
          </a:ln>
        </p:spPr>
      </p:sp>
      <p:sp>
        <p:nvSpPr>
          <p:cNvPr id="87" name="Shape 85"/>
          <p:cNvSpPr/>
          <p:nvPr/>
        </p:nvSpPr>
        <p:spPr>
          <a:xfrm>
            <a:off x="4620920" y="3807104"/>
            <a:ext cx="121615" cy="121615"/>
          </a:xfrm>
          <a:prstGeom prst="ellipse">
            <a:avLst/>
          </a:prstGeom>
          <a:solidFill>
            <a:srgbClr val="D2CC8C"/>
          </a:solidFill>
          <a:ln w="9525">
            <a:solidFill>
              <a:srgbClr val="9A9460"/>
            </a:solidFill>
            <a:prstDash val="solid"/>
          </a:ln>
        </p:spPr>
      </p:sp>
      <p:sp>
        <p:nvSpPr>
          <p:cNvPr id="88" name="Shape 86"/>
          <p:cNvSpPr/>
          <p:nvPr/>
        </p:nvSpPr>
        <p:spPr>
          <a:xfrm>
            <a:off x="4748936" y="3807104"/>
            <a:ext cx="121615" cy="121615"/>
          </a:xfrm>
          <a:prstGeom prst="ellipse">
            <a:avLst/>
          </a:prstGeom>
          <a:solidFill>
            <a:srgbClr val="D2CC8C"/>
          </a:solidFill>
          <a:ln w="9525">
            <a:solidFill>
              <a:srgbClr val="9A9460"/>
            </a:solidFill>
            <a:prstDash val="solid"/>
          </a:ln>
        </p:spPr>
      </p:sp>
      <p:sp>
        <p:nvSpPr>
          <p:cNvPr id="89" name="Shape 87"/>
          <p:cNvSpPr/>
          <p:nvPr/>
        </p:nvSpPr>
        <p:spPr>
          <a:xfrm>
            <a:off x="3788816" y="3695090"/>
            <a:ext cx="121615" cy="121615"/>
          </a:xfrm>
          <a:prstGeom prst="ellipse">
            <a:avLst/>
          </a:prstGeom>
          <a:solidFill>
            <a:srgbClr val="D2CC8C"/>
          </a:solidFill>
          <a:ln w="9525">
            <a:solidFill>
              <a:srgbClr val="9A9460"/>
            </a:solidFill>
            <a:prstDash val="solid"/>
          </a:ln>
        </p:spPr>
      </p:sp>
      <p:sp>
        <p:nvSpPr>
          <p:cNvPr id="90" name="Shape 88"/>
          <p:cNvSpPr/>
          <p:nvPr/>
        </p:nvSpPr>
        <p:spPr>
          <a:xfrm>
            <a:off x="3916832" y="3695090"/>
            <a:ext cx="121615" cy="121615"/>
          </a:xfrm>
          <a:prstGeom prst="ellipse">
            <a:avLst/>
          </a:prstGeom>
          <a:solidFill>
            <a:srgbClr val="D2CC8C"/>
          </a:solidFill>
          <a:ln w="9525">
            <a:solidFill>
              <a:srgbClr val="9A9460"/>
            </a:solidFill>
            <a:prstDash val="solid"/>
          </a:ln>
        </p:spPr>
      </p:sp>
      <p:sp>
        <p:nvSpPr>
          <p:cNvPr id="91" name="Shape 89"/>
          <p:cNvSpPr/>
          <p:nvPr/>
        </p:nvSpPr>
        <p:spPr>
          <a:xfrm>
            <a:off x="4044848" y="3695090"/>
            <a:ext cx="121615" cy="121615"/>
          </a:xfrm>
          <a:prstGeom prst="ellipse">
            <a:avLst/>
          </a:prstGeom>
          <a:solidFill>
            <a:srgbClr val="D2CC8C"/>
          </a:solidFill>
          <a:ln w="9525">
            <a:solidFill>
              <a:srgbClr val="9A9460"/>
            </a:solidFill>
            <a:prstDash val="solid"/>
          </a:ln>
        </p:spPr>
      </p:sp>
      <p:sp>
        <p:nvSpPr>
          <p:cNvPr id="92" name="Shape 90"/>
          <p:cNvSpPr/>
          <p:nvPr/>
        </p:nvSpPr>
        <p:spPr>
          <a:xfrm>
            <a:off x="4172864" y="3695090"/>
            <a:ext cx="121615" cy="121615"/>
          </a:xfrm>
          <a:prstGeom prst="ellipse">
            <a:avLst/>
          </a:prstGeom>
          <a:solidFill>
            <a:srgbClr val="D2CC8C"/>
          </a:solidFill>
          <a:ln w="9525">
            <a:solidFill>
              <a:srgbClr val="9A9460"/>
            </a:solidFill>
            <a:prstDash val="solid"/>
          </a:ln>
        </p:spPr>
      </p:sp>
      <p:sp>
        <p:nvSpPr>
          <p:cNvPr id="93" name="Shape 91"/>
          <p:cNvSpPr/>
          <p:nvPr/>
        </p:nvSpPr>
        <p:spPr>
          <a:xfrm>
            <a:off x="4300880" y="3695090"/>
            <a:ext cx="121615" cy="121615"/>
          </a:xfrm>
          <a:prstGeom prst="ellipse">
            <a:avLst/>
          </a:prstGeom>
          <a:solidFill>
            <a:srgbClr val="D2CC8C"/>
          </a:solidFill>
          <a:ln w="9525">
            <a:solidFill>
              <a:srgbClr val="9A9460"/>
            </a:solidFill>
            <a:prstDash val="solid"/>
          </a:ln>
        </p:spPr>
      </p:sp>
      <p:sp>
        <p:nvSpPr>
          <p:cNvPr id="94" name="Shape 92"/>
          <p:cNvSpPr/>
          <p:nvPr/>
        </p:nvSpPr>
        <p:spPr>
          <a:xfrm>
            <a:off x="4428896" y="3695090"/>
            <a:ext cx="121615" cy="121615"/>
          </a:xfrm>
          <a:prstGeom prst="ellipse">
            <a:avLst/>
          </a:prstGeom>
          <a:solidFill>
            <a:srgbClr val="D2CC8C"/>
          </a:solidFill>
          <a:ln w="9525">
            <a:solidFill>
              <a:srgbClr val="9A9460"/>
            </a:solidFill>
            <a:prstDash val="solid"/>
          </a:ln>
        </p:spPr>
      </p:sp>
      <p:sp>
        <p:nvSpPr>
          <p:cNvPr id="95" name="Shape 93"/>
          <p:cNvSpPr/>
          <p:nvPr/>
        </p:nvSpPr>
        <p:spPr>
          <a:xfrm>
            <a:off x="4556912" y="3695090"/>
            <a:ext cx="121615" cy="121615"/>
          </a:xfrm>
          <a:prstGeom prst="ellipse">
            <a:avLst/>
          </a:prstGeom>
          <a:solidFill>
            <a:srgbClr val="D2CC8C"/>
          </a:solidFill>
          <a:ln w="9525">
            <a:solidFill>
              <a:srgbClr val="9A9460"/>
            </a:solidFill>
            <a:prstDash val="solid"/>
          </a:ln>
        </p:spPr>
      </p:sp>
      <p:sp>
        <p:nvSpPr>
          <p:cNvPr id="96" name="Shape 94"/>
          <p:cNvSpPr/>
          <p:nvPr/>
        </p:nvSpPr>
        <p:spPr>
          <a:xfrm>
            <a:off x="4684928" y="3695090"/>
            <a:ext cx="121615" cy="121615"/>
          </a:xfrm>
          <a:prstGeom prst="ellipse">
            <a:avLst/>
          </a:prstGeom>
          <a:solidFill>
            <a:srgbClr val="D2CC8C"/>
          </a:solidFill>
          <a:ln w="9525">
            <a:solidFill>
              <a:srgbClr val="9A9460"/>
            </a:solidFill>
            <a:prstDash val="solid"/>
          </a:ln>
        </p:spPr>
      </p:sp>
      <p:sp>
        <p:nvSpPr>
          <p:cNvPr id="97" name="Shape 95"/>
          <p:cNvSpPr/>
          <p:nvPr/>
        </p:nvSpPr>
        <p:spPr>
          <a:xfrm>
            <a:off x="3724808" y="3583076"/>
            <a:ext cx="121615" cy="121615"/>
          </a:xfrm>
          <a:prstGeom prst="ellipse">
            <a:avLst/>
          </a:prstGeom>
          <a:solidFill>
            <a:srgbClr val="D2CC8C"/>
          </a:solidFill>
          <a:ln w="9525">
            <a:solidFill>
              <a:srgbClr val="9A9460"/>
            </a:solidFill>
            <a:prstDash val="solid"/>
          </a:ln>
        </p:spPr>
      </p:sp>
      <p:sp>
        <p:nvSpPr>
          <p:cNvPr id="98" name="Shape 96"/>
          <p:cNvSpPr/>
          <p:nvPr/>
        </p:nvSpPr>
        <p:spPr>
          <a:xfrm>
            <a:off x="3852824" y="3583076"/>
            <a:ext cx="121615" cy="121615"/>
          </a:xfrm>
          <a:prstGeom prst="ellipse">
            <a:avLst/>
          </a:prstGeom>
          <a:solidFill>
            <a:srgbClr val="D2CC8C"/>
          </a:solidFill>
          <a:ln w="9525">
            <a:solidFill>
              <a:srgbClr val="9A9460"/>
            </a:solidFill>
            <a:prstDash val="solid"/>
          </a:ln>
        </p:spPr>
      </p:sp>
      <p:sp>
        <p:nvSpPr>
          <p:cNvPr id="99" name="Shape 97"/>
          <p:cNvSpPr/>
          <p:nvPr/>
        </p:nvSpPr>
        <p:spPr>
          <a:xfrm>
            <a:off x="3980840" y="3583076"/>
            <a:ext cx="121615" cy="121615"/>
          </a:xfrm>
          <a:prstGeom prst="ellipse">
            <a:avLst/>
          </a:prstGeom>
          <a:solidFill>
            <a:srgbClr val="D2CC8C"/>
          </a:solidFill>
          <a:ln w="9525">
            <a:solidFill>
              <a:srgbClr val="9A9460"/>
            </a:solidFill>
            <a:prstDash val="solid"/>
          </a:ln>
        </p:spPr>
      </p:sp>
      <p:sp>
        <p:nvSpPr>
          <p:cNvPr id="100" name="Shape 98"/>
          <p:cNvSpPr/>
          <p:nvPr/>
        </p:nvSpPr>
        <p:spPr>
          <a:xfrm>
            <a:off x="4108856" y="3583076"/>
            <a:ext cx="121615" cy="121615"/>
          </a:xfrm>
          <a:prstGeom prst="ellipse">
            <a:avLst/>
          </a:prstGeom>
          <a:solidFill>
            <a:srgbClr val="D2CC8C"/>
          </a:solidFill>
          <a:ln w="9525">
            <a:solidFill>
              <a:srgbClr val="9A9460"/>
            </a:solidFill>
            <a:prstDash val="solid"/>
          </a:ln>
        </p:spPr>
      </p:sp>
      <p:sp>
        <p:nvSpPr>
          <p:cNvPr id="101" name="Shape 99"/>
          <p:cNvSpPr/>
          <p:nvPr/>
        </p:nvSpPr>
        <p:spPr>
          <a:xfrm>
            <a:off x="4236872" y="3583076"/>
            <a:ext cx="121615" cy="121615"/>
          </a:xfrm>
          <a:prstGeom prst="ellipse">
            <a:avLst/>
          </a:prstGeom>
          <a:solidFill>
            <a:srgbClr val="D2CC8C"/>
          </a:solidFill>
          <a:ln w="9525">
            <a:solidFill>
              <a:srgbClr val="9A9460"/>
            </a:solidFill>
            <a:prstDash val="solid"/>
          </a:ln>
        </p:spPr>
      </p:sp>
      <p:sp>
        <p:nvSpPr>
          <p:cNvPr id="102" name="Shape 100"/>
          <p:cNvSpPr/>
          <p:nvPr/>
        </p:nvSpPr>
        <p:spPr>
          <a:xfrm>
            <a:off x="4364888" y="3583076"/>
            <a:ext cx="121615" cy="121615"/>
          </a:xfrm>
          <a:prstGeom prst="ellipse">
            <a:avLst/>
          </a:prstGeom>
          <a:solidFill>
            <a:srgbClr val="D2CC8C"/>
          </a:solidFill>
          <a:ln w="9525">
            <a:solidFill>
              <a:srgbClr val="9A9460"/>
            </a:solidFill>
            <a:prstDash val="solid"/>
          </a:ln>
        </p:spPr>
      </p:sp>
      <p:sp>
        <p:nvSpPr>
          <p:cNvPr id="103" name="Shape 101"/>
          <p:cNvSpPr/>
          <p:nvPr/>
        </p:nvSpPr>
        <p:spPr>
          <a:xfrm>
            <a:off x="4492904" y="3583076"/>
            <a:ext cx="121615" cy="121615"/>
          </a:xfrm>
          <a:prstGeom prst="ellipse">
            <a:avLst/>
          </a:prstGeom>
          <a:solidFill>
            <a:srgbClr val="D2CC8C"/>
          </a:solidFill>
          <a:ln w="9525">
            <a:solidFill>
              <a:srgbClr val="9A9460"/>
            </a:solidFill>
            <a:prstDash val="solid"/>
          </a:ln>
        </p:spPr>
      </p:sp>
      <p:sp>
        <p:nvSpPr>
          <p:cNvPr id="104" name="Shape 102"/>
          <p:cNvSpPr/>
          <p:nvPr/>
        </p:nvSpPr>
        <p:spPr>
          <a:xfrm>
            <a:off x="4620920" y="3583076"/>
            <a:ext cx="121615" cy="121615"/>
          </a:xfrm>
          <a:prstGeom prst="ellipse">
            <a:avLst/>
          </a:prstGeom>
          <a:solidFill>
            <a:srgbClr val="D2CC8C"/>
          </a:solidFill>
          <a:ln w="9525">
            <a:solidFill>
              <a:srgbClr val="9A9460"/>
            </a:solidFill>
            <a:prstDash val="solid"/>
          </a:ln>
        </p:spPr>
      </p:sp>
      <p:sp>
        <p:nvSpPr>
          <p:cNvPr id="105" name="Shape 103"/>
          <p:cNvSpPr/>
          <p:nvPr/>
        </p:nvSpPr>
        <p:spPr>
          <a:xfrm>
            <a:off x="4748936" y="3583076"/>
            <a:ext cx="121615" cy="121615"/>
          </a:xfrm>
          <a:prstGeom prst="ellipse">
            <a:avLst/>
          </a:prstGeom>
          <a:solidFill>
            <a:srgbClr val="D2CC8C"/>
          </a:solidFill>
          <a:ln w="9525">
            <a:solidFill>
              <a:srgbClr val="9A9460"/>
            </a:solidFill>
            <a:prstDash val="solid"/>
          </a:ln>
        </p:spPr>
      </p:sp>
      <p:sp>
        <p:nvSpPr>
          <p:cNvPr id="106" name="Shape 104"/>
          <p:cNvSpPr/>
          <p:nvPr/>
        </p:nvSpPr>
        <p:spPr>
          <a:xfrm>
            <a:off x="3788816" y="3471062"/>
            <a:ext cx="121615" cy="121615"/>
          </a:xfrm>
          <a:prstGeom prst="ellipse">
            <a:avLst/>
          </a:prstGeom>
          <a:solidFill>
            <a:srgbClr val="D2CC8C"/>
          </a:solidFill>
          <a:ln w="9525">
            <a:solidFill>
              <a:srgbClr val="9A9460"/>
            </a:solidFill>
            <a:prstDash val="solid"/>
          </a:ln>
        </p:spPr>
      </p:sp>
      <p:sp>
        <p:nvSpPr>
          <p:cNvPr id="107" name="Shape 105"/>
          <p:cNvSpPr/>
          <p:nvPr/>
        </p:nvSpPr>
        <p:spPr>
          <a:xfrm>
            <a:off x="3916832" y="3471062"/>
            <a:ext cx="121615" cy="121615"/>
          </a:xfrm>
          <a:prstGeom prst="ellipse">
            <a:avLst/>
          </a:prstGeom>
          <a:solidFill>
            <a:srgbClr val="D2CC8C"/>
          </a:solidFill>
          <a:ln w="9525">
            <a:solidFill>
              <a:srgbClr val="9A9460"/>
            </a:solidFill>
            <a:prstDash val="solid"/>
          </a:ln>
        </p:spPr>
      </p:sp>
      <p:sp>
        <p:nvSpPr>
          <p:cNvPr id="108" name="Shape 106"/>
          <p:cNvSpPr/>
          <p:nvPr/>
        </p:nvSpPr>
        <p:spPr>
          <a:xfrm>
            <a:off x="4044848" y="3471062"/>
            <a:ext cx="121615" cy="121615"/>
          </a:xfrm>
          <a:prstGeom prst="ellipse">
            <a:avLst/>
          </a:prstGeom>
          <a:solidFill>
            <a:srgbClr val="D2CC8C"/>
          </a:solidFill>
          <a:ln w="9525">
            <a:solidFill>
              <a:srgbClr val="9A9460"/>
            </a:solidFill>
            <a:prstDash val="solid"/>
          </a:ln>
        </p:spPr>
      </p:sp>
      <p:sp>
        <p:nvSpPr>
          <p:cNvPr id="109" name="Shape 107"/>
          <p:cNvSpPr/>
          <p:nvPr/>
        </p:nvSpPr>
        <p:spPr>
          <a:xfrm>
            <a:off x="4172864" y="3471062"/>
            <a:ext cx="121615" cy="121615"/>
          </a:xfrm>
          <a:prstGeom prst="ellipse">
            <a:avLst/>
          </a:prstGeom>
          <a:solidFill>
            <a:srgbClr val="D2CC8C"/>
          </a:solidFill>
          <a:ln w="9525">
            <a:solidFill>
              <a:srgbClr val="9A9460"/>
            </a:solidFill>
            <a:prstDash val="solid"/>
          </a:ln>
        </p:spPr>
      </p:sp>
      <p:sp>
        <p:nvSpPr>
          <p:cNvPr id="110" name="Shape 108"/>
          <p:cNvSpPr/>
          <p:nvPr/>
        </p:nvSpPr>
        <p:spPr>
          <a:xfrm>
            <a:off x="4300880" y="3471062"/>
            <a:ext cx="121615" cy="121615"/>
          </a:xfrm>
          <a:prstGeom prst="ellipse">
            <a:avLst/>
          </a:prstGeom>
          <a:solidFill>
            <a:srgbClr val="D2CC8C"/>
          </a:solidFill>
          <a:ln w="9525">
            <a:solidFill>
              <a:srgbClr val="9A9460"/>
            </a:solidFill>
            <a:prstDash val="solid"/>
          </a:ln>
        </p:spPr>
      </p:sp>
      <p:sp>
        <p:nvSpPr>
          <p:cNvPr id="111" name="Shape 109"/>
          <p:cNvSpPr/>
          <p:nvPr/>
        </p:nvSpPr>
        <p:spPr>
          <a:xfrm>
            <a:off x="4428896" y="3471062"/>
            <a:ext cx="121615" cy="121615"/>
          </a:xfrm>
          <a:prstGeom prst="ellipse">
            <a:avLst/>
          </a:prstGeom>
          <a:solidFill>
            <a:srgbClr val="D2CC8C"/>
          </a:solidFill>
          <a:ln w="9525">
            <a:solidFill>
              <a:srgbClr val="9A9460"/>
            </a:solidFill>
            <a:prstDash val="solid"/>
          </a:ln>
        </p:spPr>
      </p:sp>
      <p:sp>
        <p:nvSpPr>
          <p:cNvPr id="112" name="Shape 110"/>
          <p:cNvSpPr/>
          <p:nvPr/>
        </p:nvSpPr>
        <p:spPr>
          <a:xfrm>
            <a:off x="4556912" y="3471062"/>
            <a:ext cx="121615" cy="121615"/>
          </a:xfrm>
          <a:prstGeom prst="ellipse">
            <a:avLst/>
          </a:prstGeom>
          <a:solidFill>
            <a:srgbClr val="D2CC8C"/>
          </a:solidFill>
          <a:ln w="9525">
            <a:solidFill>
              <a:srgbClr val="9A9460"/>
            </a:solidFill>
            <a:prstDash val="solid"/>
          </a:ln>
        </p:spPr>
      </p:sp>
      <p:sp>
        <p:nvSpPr>
          <p:cNvPr id="113" name="Shape 111"/>
          <p:cNvSpPr/>
          <p:nvPr/>
        </p:nvSpPr>
        <p:spPr>
          <a:xfrm>
            <a:off x="4684928" y="3471062"/>
            <a:ext cx="121615" cy="121615"/>
          </a:xfrm>
          <a:prstGeom prst="ellipse">
            <a:avLst/>
          </a:prstGeom>
          <a:solidFill>
            <a:srgbClr val="D2CC8C"/>
          </a:solidFill>
          <a:ln w="9525">
            <a:solidFill>
              <a:srgbClr val="9A9460"/>
            </a:solidFill>
            <a:prstDash val="solid"/>
          </a:ln>
        </p:spPr>
      </p:sp>
      <p:sp>
        <p:nvSpPr>
          <p:cNvPr id="114" name="Shape 112"/>
          <p:cNvSpPr/>
          <p:nvPr/>
        </p:nvSpPr>
        <p:spPr>
          <a:xfrm>
            <a:off x="3724808" y="3359048"/>
            <a:ext cx="121615" cy="121615"/>
          </a:xfrm>
          <a:prstGeom prst="ellipse">
            <a:avLst/>
          </a:prstGeom>
          <a:solidFill>
            <a:srgbClr val="D2CC8C"/>
          </a:solidFill>
          <a:ln w="9525">
            <a:solidFill>
              <a:srgbClr val="9A9460"/>
            </a:solidFill>
            <a:prstDash val="solid"/>
          </a:ln>
        </p:spPr>
      </p:sp>
      <p:sp>
        <p:nvSpPr>
          <p:cNvPr id="115" name="Shape 113"/>
          <p:cNvSpPr/>
          <p:nvPr/>
        </p:nvSpPr>
        <p:spPr>
          <a:xfrm>
            <a:off x="3852824" y="3359048"/>
            <a:ext cx="121615" cy="121615"/>
          </a:xfrm>
          <a:prstGeom prst="ellipse">
            <a:avLst/>
          </a:prstGeom>
          <a:solidFill>
            <a:srgbClr val="D2CC8C"/>
          </a:solidFill>
          <a:ln w="9525">
            <a:solidFill>
              <a:srgbClr val="9A9460"/>
            </a:solidFill>
            <a:prstDash val="solid"/>
          </a:ln>
        </p:spPr>
      </p:sp>
      <p:sp>
        <p:nvSpPr>
          <p:cNvPr id="116" name="Shape 114"/>
          <p:cNvSpPr/>
          <p:nvPr/>
        </p:nvSpPr>
        <p:spPr>
          <a:xfrm>
            <a:off x="3980840" y="3359048"/>
            <a:ext cx="121615" cy="121615"/>
          </a:xfrm>
          <a:prstGeom prst="ellipse">
            <a:avLst/>
          </a:prstGeom>
          <a:solidFill>
            <a:srgbClr val="D2CC8C"/>
          </a:solidFill>
          <a:ln w="9525">
            <a:solidFill>
              <a:srgbClr val="9A9460"/>
            </a:solidFill>
            <a:prstDash val="solid"/>
          </a:ln>
        </p:spPr>
      </p:sp>
      <p:sp>
        <p:nvSpPr>
          <p:cNvPr id="117" name="Shape 115"/>
          <p:cNvSpPr/>
          <p:nvPr/>
        </p:nvSpPr>
        <p:spPr>
          <a:xfrm>
            <a:off x="4108856" y="3359048"/>
            <a:ext cx="121615" cy="121615"/>
          </a:xfrm>
          <a:prstGeom prst="ellipse">
            <a:avLst/>
          </a:prstGeom>
          <a:solidFill>
            <a:srgbClr val="D2CC8C"/>
          </a:solidFill>
          <a:ln w="9525">
            <a:solidFill>
              <a:srgbClr val="9A9460"/>
            </a:solidFill>
            <a:prstDash val="solid"/>
          </a:ln>
        </p:spPr>
      </p:sp>
      <p:sp>
        <p:nvSpPr>
          <p:cNvPr id="118" name="Shape 116"/>
          <p:cNvSpPr/>
          <p:nvPr/>
        </p:nvSpPr>
        <p:spPr>
          <a:xfrm>
            <a:off x="4236872" y="3359048"/>
            <a:ext cx="121615" cy="121615"/>
          </a:xfrm>
          <a:prstGeom prst="ellipse">
            <a:avLst/>
          </a:prstGeom>
          <a:solidFill>
            <a:srgbClr val="D2CC8C"/>
          </a:solidFill>
          <a:ln w="9525">
            <a:solidFill>
              <a:srgbClr val="9A9460"/>
            </a:solidFill>
            <a:prstDash val="solid"/>
          </a:ln>
        </p:spPr>
      </p:sp>
      <p:sp>
        <p:nvSpPr>
          <p:cNvPr id="119" name="Shape 117"/>
          <p:cNvSpPr/>
          <p:nvPr/>
        </p:nvSpPr>
        <p:spPr>
          <a:xfrm>
            <a:off x="4364888" y="3359048"/>
            <a:ext cx="121615" cy="121615"/>
          </a:xfrm>
          <a:prstGeom prst="ellipse">
            <a:avLst/>
          </a:prstGeom>
          <a:solidFill>
            <a:srgbClr val="D2CC8C"/>
          </a:solidFill>
          <a:ln w="9525">
            <a:solidFill>
              <a:srgbClr val="9A9460"/>
            </a:solidFill>
            <a:prstDash val="solid"/>
          </a:ln>
        </p:spPr>
      </p:sp>
      <p:sp>
        <p:nvSpPr>
          <p:cNvPr id="120" name="Shape 118"/>
          <p:cNvSpPr/>
          <p:nvPr/>
        </p:nvSpPr>
        <p:spPr>
          <a:xfrm>
            <a:off x="4492904" y="3359048"/>
            <a:ext cx="121615" cy="121615"/>
          </a:xfrm>
          <a:prstGeom prst="ellipse">
            <a:avLst/>
          </a:prstGeom>
          <a:solidFill>
            <a:srgbClr val="D2CC8C"/>
          </a:solidFill>
          <a:ln w="9525">
            <a:solidFill>
              <a:srgbClr val="9A9460"/>
            </a:solidFill>
            <a:prstDash val="solid"/>
          </a:ln>
        </p:spPr>
      </p:sp>
      <p:sp>
        <p:nvSpPr>
          <p:cNvPr id="121" name="Shape 119"/>
          <p:cNvSpPr/>
          <p:nvPr/>
        </p:nvSpPr>
        <p:spPr>
          <a:xfrm>
            <a:off x="4620920" y="3359048"/>
            <a:ext cx="121615" cy="121615"/>
          </a:xfrm>
          <a:prstGeom prst="ellipse">
            <a:avLst/>
          </a:prstGeom>
          <a:solidFill>
            <a:srgbClr val="D2CC8C"/>
          </a:solidFill>
          <a:ln w="9525">
            <a:solidFill>
              <a:srgbClr val="9A9460"/>
            </a:solidFill>
            <a:prstDash val="solid"/>
          </a:ln>
        </p:spPr>
      </p:sp>
      <p:sp>
        <p:nvSpPr>
          <p:cNvPr id="122" name="Shape 120"/>
          <p:cNvSpPr/>
          <p:nvPr/>
        </p:nvSpPr>
        <p:spPr>
          <a:xfrm>
            <a:off x="4748936" y="3359048"/>
            <a:ext cx="121615" cy="121615"/>
          </a:xfrm>
          <a:prstGeom prst="ellipse">
            <a:avLst/>
          </a:prstGeom>
          <a:solidFill>
            <a:srgbClr val="D2CC8C"/>
          </a:solidFill>
          <a:ln w="9525">
            <a:solidFill>
              <a:srgbClr val="9A9460"/>
            </a:solidFill>
            <a:prstDash val="solid"/>
          </a:ln>
        </p:spPr>
      </p:sp>
      <p:sp>
        <p:nvSpPr>
          <p:cNvPr id="123" name="Shape 121"/>
          <p:cNvSpPr/>
          <p:nvPr/>
        </p:nvSpPr>
        <p:spPr>
          <a:xfrm>
            <a:off x="3788816" y="3247034"/>
            <a:ext cx="121615" cy="121615"/>
          </a:xfrm>
          <a:prstGeom prst="ellipse">
            <a:avLst/>
          </a:prstGeom>
          <a:solidFill>
            <a:srgbClr val="D2CC8C"/>
          </a:solidFill>
          <a:ln w="9525">
            <a:solidFill>
              <a:srgbClr val="9A9460"/>
            </a:solidFill>
            <a:prstDash val="solid"/>
          </a:ln>
        </p:spPr>
      </p:sp>
      <p:sp>
        <p:nvSpPr>
          <p:cNvPr id="124" name="Shape 122"/>
          <p:cNvSpPr/>
          <p:nvPr/>
        </p:nvSpPr>
        <p:spPr>
          <a:xfrm>
            <a:off x="3916832" y="3247034"/>
            <a:ext cx="121615" cy="121615"/>
          </a:xfrm>
          <a:prstGeom prst="ellipse">
            <a:avLst/>
          </a:prstGeom>
          <a:solidFill>
            <a:srgbClr val="D2CC8C"/>
          </a:solidFill>
          <a:ln w="9525">
            <a:solidFill>
              <a:srgbClr val="9A9460"/>
            </a:solidFill>
            <a:prstDash val="solid"/>
          </a:ln>
        </p:spPr>
      </p:sp>
      <p:sp>
        <p:nvSpPr>
          <p:cNvPr id="125" name="Shape 123"/>
          <p:cNvSpPr/>
          <p:nvPr/>
        </p:nvSpPr>
        <p:spPr>
          <a:xfrm>
            <a:off x="4044848" y="3247034"/>
            <a:ext cx="121615" cy="121615"/>
          </a:xfrm>
          <a:prstGeom prst="ellipse">
            <a:avLst/>
          </a:prstGeom>
          <a:solidFill>
            <a:srgbClr val="D2CC8C"/>
          </a:solidFill>
          <a:ln w="9525">
            <a:solidFill>
              <a:srgbClr val="9A9460"/>
            </a:solidFill>
            <a:prstDash val="solid"/>
          </a:ln>
        </p:spPr>
      </p:sp>
      <p:sp>
        <p:nvSpPr>
          <p:cNvPr id="126" name="Shape 124"/>
          <p:cNvSpPr/>
          <p:nvPr/>
        </p:nvSpPr>
        <p:spPr>
          <a:xfrm>
            <a:off x="4172864" y="3247034"/>
            <a:ext cx="121615" cy="121615"/>
          </a:xfrm>
          <a:prstGeom prst="ellipse">
            <a:avLst/>
          </a:prstGeom>
          <a:solidFill>
            <a:srgbClr val="D2CC8C"/>
          </a:solidFill>
          <a:ln w="9525">
            <a:solidFill>
              <a:srgbClr val="9A9460"/>
            </a:solidFill>
            <a:prstDash val="solid"/>
          </a:ln>
        </p:spPr>
      </p:sp>
      <p:sp>
        <p:nvSpPr>
          <p:cNvPr id="127" name="Shape 125"/>
          <p:cNvSpPr/>
          <p:nvPr/>
        </p:nvSpPr>
        <p:spPr>
          <a:xfrm>
            <a:off x="4300880" y="3247034"/>
            <a:ext cx="121615" cy="121615"/>
          </a:xfrm>
          <a:prstGeom prst="ellipse">
            <a:avLst/>
          </a:prstGeom>
          <a:solidFill>
            <a:srgbClr val="D2CC8C"/>
          </a:solidFill>
          <a:ln w="9525">
            <a:solidFill>
              <a:srgbClr val="9A9460"/>
            </a:solidFill>
            <a:prstDash val="solid"/>
          </a:ln>
        </p:spPr>
      </p:sp>
      <p:sp>
        <p:nvSpPr>
          <p:cNvPr id="128" name="Shape 126"/>
          <p:cNvSpPr/>
          <p:nvPr/>
        </p:nvSpPr>
        <p:spPr>
          <a:xfrm>
            <a:off x="4428896" y="3247034"/>
            <a:ext cx="121615" cy="121615"/>
          </a:xfrm>
          <a:prstGeom prst="ellipse">
            <a:avLst/>
          </a:prstGeom>
          <a:solidFill>
            <a:srgbClr val="D2CC8C"/>
          </a:solidFill>
          <a:ln w="9525">
            <a:solidFill>
              <a:srgbClr val="9A9460"/>
            </a:solidFill>
            <a:prstDash val="solid"/>
          </a:ln>
        </p:spPr>
      </p:sp>
      <p:sp>
        <p:nvSpPr>
          <p:cNvPr id="129" name="Shape 127"/>
          <p:cNvSpPr/>
          <p:nvPr/>
        </p:nvSpPr>
        <p:spPr>
          <a:xfrm>
            <a:off x="4556912" y="3247034"/>
            <a:ext cx="121615" cy="121615"/>
          </a:xfrm>
          <a:prstGeom prst="ellipse">
            <a:avLst/>
          </a:prstGeom>
          <a:solidFill>
            <a:srgbClr val="D2CC8C"/>
          </a:solidFill>
          <a:ln w="9525">
            <a:solidFill>
              <a:srgbClr val="9A9460"/>
            </a:solidFill>
            <a:prstDash val="solid"/>
          </a:ln>
        </p:spPr>
      </p:sp>
      <p:sp>
        <p:nvSpPr>
          <p:cNvPr id="130" name="Shape 128"/>
          <p:cNvSpPr/>
          <p:nvPr/>
        </p:nvSpPr>
        <p:spPr>
          <a:xfrm>
            <a:off x="4684928" y="3247034"/>
            <a:ext cx="121615" cy="121615"/>
          </a:xfrm>
          <a:prstGeom prst="ellipse">
            <a:avLst/>
          </a:prstGeom>
          <a:solidFill>
            <a:srgbClr val="D2CC8C"/>
          </a:solidFill>
          <a:ln w="9525">
            <a:solidFill>
              <a:srgbClr val="9A9460"/>
            </a:solidFill>
            <a:prstDash val="solid"/>
          </a:ln>
        </p:spPr>
      </p:sp>
      <p:sp>
        <p:nvSpPr>
          <p:cNvPr id="131" name="Shape 129"/>
          <p:cNvSpPr/>
          <p:nvPr/>
        </p:nvSpPr>
        <p:spPr>
          <a:xfrm>
            <a:off x="3813048" y="2240280"/>
            <a:ext cx="1014984" cy="384048"/>
          </a:xfrm>
          <a:prstGeom prst="roundRect">
            <a:avLst>
              <a:gd name="adj" fmla="val 28571"/>
            </a:avLst>
          </a:prstGeom>
          <a:solidFill>
            <a:srgbClr val="F7F6EF"/>
          </a:solidFill>
          <a:ln w="9525">
            <a:solidFill>
              <a:srgbClr val="B9B5A8"/>
            </a:solidFill>
            <a:prstDash val="solid"/>
          </a:ln>
        </p:spPr>
      </p:sp>
      <p:sp>
        <p:nvSpPr>
          <p:cNvPr id="132" name="Shape 130"/>
          <p:cNvSpPr/>
          <p:nvPr/>
        </p:nvSpPr>
        <p:spPr>
          <a:xfrm>
            <a:off x="4553712" y="2103120"/>
            <a:ext cx="82296" cy="1783080"/>
          </a:xfrm>
          <a:prstGeom prst="roundRect">
            <a:avLst>
              <a:gd name="adj" fmla="val 44444"/>
            </a:avLst>
          </a:prstGeom>
          <a:solidFill>
            <a:srgbClr val="FFFFFF"/>
          </a:solidFill>
          <a:ln w="9525">
            <a:solidFill>
              <a:srgbClr val="6B7385"/>
            </a:solidFill>
            <a:prstDash val="solid"/>
          </a:ln>
        </p:spPr>
      </p:sp>
      <p:sp>
        <p:nvSpPr>
          <p:cNvPr id="133" name="Shape 131"/>
          <p:cNvSpPr/>
          <p:nvPr/>
        </p:nvSpPr>
        <p:spPr>
          <a:xfrm>
            <a:off x="4526280" y="3817620"/>
            <a:ext cx="137160" cy="137160"/>
          </a:xfrm>
          <a:prstGeom prst="ellipse">
            <a:avLst/>
          </a:prstGeom>
          <a:solidFill>
            <a:srgbClr val="C8414C"/>
          </a:solidFill>
          <a:ln w="9525">
            <a:solidFill>
              <a:srgbClr val="8E2A33"/>
            </a:solidFill>
            <a:prstDash val="solid"/>
          </a:ln>
        </p:spPr>
      </p:sp>
      <p:sp>
        <p:nvSpPr>
          <p:cNvPr id="134" name="Shape 132"/>
          <p:cNvSpPr/>
          <p:nvPr/>
        </p:nvSpPr>
        <p:spPr>
          <a:xfrm>
            <a:off x="4581144" y="3172968"/>
            <a:ext cx="27432" cy="713232"/>
          </a:xfrm>
          <a:prstGeom prst="rect">
            <a:avLst/>
          </a:prstGeom>
          <a:solidFill>
            <a:srgbClr val="C8414C"/>
          </a:solidFill>
          <a:ln/>
        </p:spPr>
      </p:sp>
      <p:sp>
        <p:nvSpPr>
          <p:cNvPr id="135" name="Shape 133"/>
          <p:cNvSpPr/>
          <p:nvPr/>
        </p:nvSpPr>
        <p:spPr>
          <a:xfrm>
            <a:off x="4604004" y="2394585"/>
            <a:ext cx="32004" cy="91"/>
          </a:xfrm>
          <a:prstGeom prst="line">
            <a:avLst/>
          </a:prstGeom>
          <a:noFill/>
          <a:ln w="6350">
            <a:solidFill>
              <a:srgbClr val="6B7385"/>
            </a:solidFill>
            <a:prstDash val="solid"/>
          </a:ln>
        </p:spPr>
      </p:sp>
      <p:sp>
        <p:nvSpPr>
          <p:cNvPr id="136" name="Shape 134"/>
          <p:cNvSpPr/>
          <p:nvPr/>
        </p:nvSpPr>
        <p:spPr>
          <a:xfrm>
            <a:off x="4604004" y="2594610"/>
            <a:ext cx="32004" cy="91"/>
          </a:xfrm>
          <a:prstGeom prst="line">
            <a:avLst/>
          </a:prstGeom>
          <a:noFill/>
          <a:ln w="6350">
            <a:solidFill>
              <a:srgbClr val="6B7385"/>
            </a:solidFill>
            <a:prstDash val="solid"/>
          </a:ln>
        </p:spPr>
      </p:sp>
      <p:sp>
        <p:nvSpPr>
          <p:cNvPr id="137" name="Shape 135"/>
          <p:cNvSpPr/>
          <p:nvPr/>
        </p:nvSpPr>
        <p:spPr>
          <a:xfrm>
            <a:off x="4604004" y="2794635"/>
            <a:ext cx="32004" cy="91"/>
          </a:xfrm>
          <a:prstGeom prst="line">
            <a:avLst/>
          </a:prstGeom>
          <a:noFill/>
          <a:ln w="6350">
            <a:solidFill>
              <a:srgbClr val="6B7385"/>
            </a:solidFill>
            <a:prstDash val="solid"/>
          </a:ln>
        </p:spPr>
      </p:sp>
      <p:sp>
        <p:nvSpPr>
          <p:cNvPr id="138" name="Shape 136"/>
          <p:cNvSpPr/>
          <p:nvPr/>
        </p:nvSpPr>
        <p:spPr>
          <a:xfrm>
            <a:off x="4604004" y="2994660"/>
            <a:ext cx="32004" cy="91"/>
          </a:xfrm>
          <a:prstGeom prst="line">
            <a:avLst/>
          </a:prstGeom>
          <a:noFill/>
          <a:ln w="6350">
            <a:solidFill>
              <a:srgbClr val="6B7385"/>
            </a:solidFill>
            <a:prstDash val="solid"/>
          </a:ln>
        </p:spPr>
      </p:sp>
      <p:sp>
        <p:nvSpPr>
          <p:cNvPr id="139" name="Shape 137"/>
          <p:cNvSpPr/>
          <p:nvPr/>
        </p:nvSpPr>
        <p:spPr>
          <a:xfrm>
            <a:off x="4604004" y="3194685"/>
            <a:ext cx="32004" cy="91"/>
          </a:xfrm>
          <a:prstGeom prst="line">
            <a:avLst/>
          </a:prstGeom>
          <a:noFill/>
          <a:ln w="6350">
            <a:solidFill>
              <a:srgbClr val="6B7385"/>
            </a:solidFill>
            <a:prstDash val="solid"/>
          </a:ln>
        </p:spPr>
      </p:sp>
      <p:sp>
        <p:nvSpPr>
          <p:cNvPr id="140" name="Shape 138"/>
          <p:cNvSpPr/>
          <p:nvPr/>
        </p:nvSpPr>
        <p:spPr>
          <a:xfrm>
            <a:off x="4604004" y="3394710"/>
            <a:ext cx="32004" cy="91"/>
          </a:xfrm>
          <a:prstGeom prst="line">
            <a:avLst/>
          </a:prstGeom>
          <a:noFill/>
          <a:ln w="6350">
            <a:solidFill>
              <a:srgbClr val="6B7385"/>
            </a:solidFill>
            <a:prstDash val="solid"/>
          </a:ln>
        </p:spPr>
      </p:sp>
      <p:sp>
        <p:nvSpPr>
          <p:cNvPr id="141" name="Shape 139"/>
          <p:cNvSpPr/>
          <p:nvPr/>
        </p:nvSpPr>
        <p:spPr>
          <a:xfrm>
            <a:off x="4604004" y="3594735"/>
            <a:ext cx="32004" cy="91"/>
          </a:xfrm>
          <a:prstGeom prst="line">
            <a:avLst/>
          </a:prstGeom>
          <a:noFill/>
          <a:ln w="6350">
            <a:solidFill>
              <a:srgbClr val="6B7385"/>
            </a:solidFill>
            <a:prstDash val="solid"/>
          </a:ln>
        </p:spPr>
      </p:sp>
      <p:sp>
        <p:nvSpPr>
          <p:cNvPr id="142" name="Text 140"/>
          <p:cNvSpPr/>
          <p:nvPr/>
        </p:nvSpPr>
        <p:spPr>
          <a:xfrm>
            <a:off x="4704588" y="2057400"/>
            <a:ext cx="960120" cy="256032"/>
          </a:xfrm>
          <a:prstGeom prst="rect">
            <a:avLst/>
          </a:prstGeom>
          <a:noFill/>
          <a:ln/>
        </p:spPr>
        <p:txBody>
          <a:bodyPr wrap="square" lIns="0" tIns="0" rIns="0" bIns="0" rtlCol="0" anchor="ctr"/>
          <a:lstStyle/>
          <a:p>
            <a:pPr algn="l" indent="0" marL="0">
              <a:buNone/>
            </a:pPr>
            <a:r>
              <a:rPr lang="en-US" sz="1200" b="1" dirty="0">
                <a:solidFill>
                  <a:srgbClr val="133536"/>
                </a:solidFill>
                <a:latin typeface="Calibri" pitchFamily="34" charset="0"/>
                <a:ea typeface="Calibri" pitchFamily="34" charset="-122"/>
                <a:cs typeface="Calibri" pitchFamily="34" charset="-120"/>
              </a:rPr>
              <a:t>20.0 °C</a:t>
            </a:r>
            <a:endParaRPr lang="en-US" sz="1200" dirty="0"/>
          </a:p>
        </p:txBody>
      </p:sp>
      <p:sp>
        <p:nvSpPr>
          <p:cNvPr id="143" name="Text 141"/>
          <p:cNvSpPr/>
          <p:nvPr/>
        </p:nvSpPr>
        <p:spPr>
          <a:xfrm>
            <a:off x="3383280" y="4087368"/>
            <a:ext cx="1874520" cy="365760"/>
          </a:xfrm>
          <a:prstGeom prst="rect">
            <a:avLst/>
          </a:prstGeom>
          <a:noFill/>
          <a:ln/>
        </p:spPr>
        <p:txBody>
          <a:bodyPr wrap="square" lIns="0" tIns="0" rIns="0" bIns="0" rtlCol="0" anchor="t"/>
          <a:lstStyle/>
          <a:p>
            <a:pPr algn="ctr" indent="0" marL="0">
              <a:buNone/>
            </a:pPr>
            <a:r>
              <a:rPr lang="en-US" sz="1050" b="1" dirty="0">
                <a:solidFill>
                  <a:srgbClr val="262B3A"/>
                </a:solidFill>
                <a:latin typeface="Calibri" pitchFamily="34" charset="0"/>
                <a:ea typeface="Calibri" pitchFamily="34" charset="-122"/>
                <a:cs typeface="Calibri" pitchFamily="34" charset="-120"/>
              </a:rPr>
              <a:t>B</a:t>
            </a:r>
            <a:r>
              <a:rPr lang="en-US" sz="1050" dirty="0">
                <a:solidFill>
                  <a:srgbClr val="262B3A"/>
                </a:solidFill>
                <a:latin typeface="Calibri" pitchFamily="34" charset="0"/>
                <a:ea typeface="Calibri" pitchFamily="34" charset="-122"/>
                <a:cs typeface="Calibri" pitchFamily="34" charset="-120"/>
              </a:rPr>
              <a:t>  boiled peas + disinfectant (dead)</a:t>
            </a:r>
            <a:endParaRPr lang="en-US" sz="1050" dirty="0"/>
          </a:p>
        </p:txBody>
      </p:sp>
      <p:sp>
        <p:nvSpPr>
          <p:cNvPr id="144" name="Text 142"/>
          <p:cNvSpPr/>
          <p:nvPr/>
        </p:nvSpPr>
        <p:spPr>
          <a:xfrm>
            <a:off x="2286000" y="2221992"/>
            <a:ext cx="86868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cotton wool</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85800" y="4526280"/>
          <a:ext cx="5029200" cy="914400"/>
        </p:xfrm>
        <a:graphic>
          <a:graphicData uri="http://schemas.openxmlformats.org/drawingml/2006/table">
            <a:tbl>
              <a:tblPr/>
              <a:tblGrid>
                <a:gridCol w="1737360"/>
                <a:gridCol w="822960"/>
                <a:gridCol w="822960"/>
                <a:gridCol w="822960"/>
                <a:gridCol w="822960"/>
              </a:tblGrid>
              <a:tr h="246888">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Day</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r>
              <a:tr h="246888">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A  temperature / °C</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20.0</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21.5</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23.0</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24.5</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r h="246888">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B  temperature / °C</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20.0</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20.0</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20.1</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20.0</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r>
            </a:tbl>
          </a:graphicData>
        </a:graphic>
      </p:graphicFrame>
      <p:sp>
        <p:nvSpPr>
          <p:cNvPr id="146" name="Shape 143"/>
          <p:cNvSpPr/>
          <p:nvPr/>
        </p:nvSpPr>
        <p:spPr>
          <a:xfrm>
            <a:off x="6217920" y="1188720"/>
            <a:ext cx="5562295" cy="2423160"/>
          </a:xfrm>
          <a:prstGeom prst="roundRect">
            <a:avLst>
              <a:gd name="adj" fmla="val 2264"/>
            </a:avLst>
          </a:prstGeom>
          <a:solidFill>
            <a:srgbClr val="F4FAF9"/>
          </a:solidFill>
          <a:ln w="9525">
            <a:solidFill>
              <a:srgbClr val="CFE0DE"/>
            </a:solidFill>
            <a:prstDash val="solid"/>
          </a:ln>
        </p:spPr>
      </p:sp>
      <p:sp>
        <p:nvSpPr>
          <p:cNvPr id="147" name="Text 144"/>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Exothermic means energy out</a:t>
            </a:r>
            <a:endParaRPr lang="en-US" sz="1300" dirty="0"/>
          </a:p>
        </p:txBody>
      </p:sp>
      <p:sp>
        <p:nvSpPr>
          <p:cNvPr id="148" name="Text 145"/>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Cellular respiration</a:t>
            </a:r>
            <a:r>
              <a:rPr lang="en-US" sz="1150" dirty="0">
                <a:solidFill>
                  <a:srgbClr val="262B3A"/>
                </a:solidFill>
                <a:latin typeface="Calibri" pitchFamily="34" charset="0"/>
                <a:ea typeface="Calibri" pitchFamily="34" charset="-122"/>
                <a:cs typeface="Calibri" pitchFamily="34" charset="-120"/>
              </a:rPr>
              <a:t> is a chemical process in </a:t>
            </a:r>
            <a:r>
              <a:rPr lang="en-US" sz="1150" b="1" dirty="0">
                <a:solidFill>
                  <a:srgbClr val="262B3A"/>
                </a:solidFill>
                <a:latin typeface="Calibri" pitchFamily="34" charset="0"/>
                <a:ea typeface="Calibri" pitchFamily="34" charset="-122"/>
                <a:cs typeface="Calibri" pitchFamily="34" charset="-120"/>
              </a:rPr>
              <a:t>every living cell</a:t>
            </a:r>
            <a:r>
              <a:rPr lang="en-US" sz="1150" dirty="0">
                <a:solidFill>
                  <a:srgbClr val="262B3A"/>
                </a:solidFill>
                <a:latin typeface="Calibri" pitchFamily="34" charset="0"/>
                <a:ea typeface="Calibri" pitchFamily="34" charset="-122"/>
                <a:cs typeface="Calibri" pitchFamily="34" charset="-120"/>
              </a:rPr>
              <a:t>. It transfers energy from </a:t>
            </a:r>
            <a:r>
              <a:rPr lang="en-US" sz="1150" b="1" dirty="0">
                <a:solidFill>
                  <a:srgbClr val="262B3A"/>
                </a:solidFill>
                <a:latin typeface="Calibri" pitchFamily="34" charset="0"/>
                <a:ea typeface="Calibri" pitchFamily="34" charset="-122"/>
                <a:cs typeface="Calibri" pitchFamily="34" charset="-120"/>
              </a:rPr>
              <a:t>glucose</a:t>
            </a:r>
            <a:r>
              <a:rPr lang="en-US" sz="1150" dirty="0">
                <a:solidFill>
                  <a:srgbClr val="262B3A"/>
                </a:solidFill>
                <a:latin typeface="Calibri" pitchFamily="34" charset="0"/>
                <a:ea typeface="Calibri" pitchFamily="34" charset="-122"/>
                <a:cs typeface="Calibri" pitchFamily="34" charset="-120"/>
              </a:rPr>
              <a:t> to make </a:t>
            </a:r>
            <a:r>
              <a:rPr lang="en-US" sz="1150" b="1" dirty="0">
                <a:solidFill>
                  <a:srgbClr val="262B3A"/>
                </a:solidFill>
                <a:latin typeface="Calibri" pitchFamily="34" charset="0"/>
                <a:ea typeface="Calibri" pitchFamily="34" charset="-122"/>
                <a:cs typeface="Calibri" pitchFamily="34" charset="-120"/>
              </a:rPr>
              <a:t>ATP</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It is </a:t>
            </a:r>
            <a:r>
              <a:rPr lang="en-US" sz="1150" b="1" dirty="0">
                <a:solidFill>
                  <a:srgbClr val="262B3A"/>
                </a:solidFill>
                <a:latin typeface="Calibri" pitchFamily="34" charset="0"/>
                <a:ea typeface="Calibri" pitchFamily="34" charset="-122"/>
                <a:cs typeface="Calibri" pitchFamily="34" charset="-120"/>
              </a:rPr>
              <a:t>exothermic</a:t>
            </a:r>
            <a:r>
              <a:rPr lang="en-US" sz="1150" dirty="0">
                <a:solidFill>
                  <a:srgbClr val="262B3A"/>
                </a:solidFill>
                <a:latin typeface="Calibri" pitchFamily="34" charset="0"/>
                <a:ea typeface="Calibri" pitchFamily="34" charset="-122"/>
                <a:cs typeface="Calibri" pitchFamily="34" charset="-120"/>
              </a:rPr>
              <a:t>: some energy is transferred to the </a:t>
            </a:r>
            <a:r>
              <a:rPr lang="en-US" sz="1150" b="1" dirty="0">
                <a:solidFill>
                  <a:srgbClr val="262B3A"/>
                </a:solidFill>
                <a:latin typeface="Calibri" pitchFamily="34" charset="0"/>
                <a:ea typeface="Calibri" pitchFamily="34" charset="-122"/>
                <a:cs typeface="Calibri" pitchFamily="34" charset="-120"/>
              </a:rPr>
              <a:t>surroundings</a:t>
            </a:r>
            <a:r>
              <a:rPr lang="en-US" sz="1150" dirty="0">
                <a:solidFill>
                  <a:srgbClr val="262B3A"/>
                </a:solidFill>
                <a:latin typeface="Calibri" pitchFamily="34" charset="0"/>
                <a:ea typeface="Calibri" pitchFamily="34" charset="-122"/>
                <a:cs typeface="Calibri" pitchFamily="34" charset="-120"/>
              </a:rPr>
              <a:t> by heating.</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Photosynthesis (B3.1) is the opposite: it is </a:t>
            </a:r>
            <a:r>
              <a:rPr lang="en-US" sz="1150" b="1" dirty="0">
                <a:solidFill>
                  <a:srgbClr val="262B3A"/>
                </a:solidFill>
                <a:latin typeface="Calibri" pitchFamily="34" charset="0"/>
                <a:ea typeface="Calibri" pitchFamily="34" charset="-122"/>
                <a:cs typeface="Calibri" pitchFamily="34" charset="-120"/>
              </a:rPr>
              <a:t>endothermic</a:t>
            </a:r>
            <a:r>
              <a:rPr lang="en-US" sz="1150" dirty="0">
                <a:solidFill>
                  <a:srgbClr val="262B3A"/>
                </a:solidFill>
                <a:latin typeface="Calibri" pitchFamily="34" charset="0"/>
                <a:ea typeface="Calibri" pitchFamily="34" charset="-122"/>
                <a:cs typeface="Calibri" pitchFamily="34" charset="-120"/>
              </a:rPr>
              <a:t> and takes in energy from light.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Mammals and birds use this energy to keep their bodies warm.</a:t>
            </a:r>
            <a:endParaRPr lang="en-US" sz="1150" dirty="0"/>
          </a:p>
        </p:txBody>
      </p:sp>
      <p:sp>
        <p:nvSpPr>
          <p:cNvPr id="149" name="Shape 146"/>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150" name="Text 147"/>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reading the results</a:t>
            </a:r>
            <a:endParaRPr lang="en-US" sz="1300" dirty="0"/>
          </a:p>
        </p:txBody>
      </p:sp>
      <p:sp>
        <p:nvSpPr>
          <p:cNvPr id="151" name="Text 148"/>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Flask A rose from 20.0 °C to 24.5 °C in 3 days. Flask B stayed at 20.0 °C.</a:t>
            </a:r>
            <a:endParaRPr lang="en-US" sz="1100" dirty="0"/>
          </a:p>
          <a:p>
            <a:pPr indent="0" marL="0">
              <a:spcBef>
                <a:spcPts val="200"/>
              </a:spcBef>
              <a:buNone/>
            </a:pPr>
            <a:r>
              <a:rPr lang="en-US" sz="1100" b="1" dirty="0">
                <a:solidFill>
                  <a:srgbClr val="0D7877"/>
                </a:solidFill>
                <a:latin typeface="Calibri" pitchFamily="34" charset="0"/>
                <a:ea typeface="Calibri" pitchFamily="34" charset="-122"/>
                <a:cs typeface="Calibri" pitchFamily="34" charset="-120"/>
              </a:rPr>
              <a:t>1 Rise in A   </a:t>
            </a:r>
            <a:r>
              <a:rPr lang="en-US" sz="1100" dirty="0">
                <a:solidFill>
                  <a:srgbClr val="262B3A"/>
                </a:solidFill>
                <a:latin typeface="Calibri" pitchFamily="34" charset="0"/>
                <a:ea typeface="Calibri" pitchFamily="34" charset="-122"/>
                <a:cs typeface="Calibri" pitchFamily="34" charset="-120"/>
              </a:rPr>
              <a:t>24.5 − 20.0 = 4.5 °C</a:t>
            </a:r>
            <a:endParaRPr lang="en-US" sz="1100" dirty="0"/>
          </a:p>
          <a:p>
            <a:pPr indent="0" marL="0">
              <a:spcBef>
                <a:spcPts val="200"/>
              </a:spcBef>
              <a:buNone/>
            </a:pPr>
            <a:r>
              <a:rPr lang="en-US" sz="1100" b="1" dirty="0">
                <a:solidFill>
                  <a:srgbClr val="0D7877"/>
                </a:solidFill>
                <a:latin typeface="Calibri" pitchFamily="34" charset="0"/>
                <a:ea typeface="Calibri" pitchFamily="34" charset="-122"/>
                <a:cs typeface="Calibri" pitchFamily="34" charset="-120"/>
              </a:rPr>
              <a:t>2 Rise in B   </a:t>
            </a:r>
            <a:r>
              <a:rPr lang="en-US" sz="1100" dirty="0">
                <a:solidFill>
                  <a:srgbClr val="262B3A"/>
                </a:solidFill>
                <a:latin typeface="Calibri" pitchFamily="34" charset="0"/>
                <a:ea typeface="Calibri" pitchFamily="34" charset="-122"/>
                <a:cs typeface="Calibri" pitchFamily="34" charset="-120"/>
              </a:rPr>
              <a:t>0 °C: dead peas do not respire</a:t>
            </a:r>
            <a:endParaRPr lang="en-US" sz="1100" dirty="0"/>
          </a:p>
          <a:p>
            <a:pPr indent="0" marL="0">
              <a:spcBef>
                <a:spcPts val="200"/>
              </a:spcBef>
              <a:buNone/>
            </a:pPr>
            <a:r>
              <a:rPr lang="en-US" sz="1100" b="1" dirty="0">
                <a:solidFill>
                  <a:srgbClr val="0D7877"/>
                </a:solidFill>
                <a:latin typeface="Calibri" pitchFamily="34" charset="0"/>
                <a:ea typeface="Calibri" pitchFamily="34" charset="-122"/>
                <a:cs typeface="Calibri" pitchFamily="34" charset="-120"/>
              </a:rPr>
              <a:t>3 Control   </a:t>
            </a:r>
            <a:r>
              <a:rPr lang="en-US" sz="1100" dirty="0">
                <a:solidFill>
                  <a:srgbClr val="262B3A"/>
                </a:solidFill>
                <a:latin typeface="Calibri" pitchFamily="34" charset="0"/>
                <a:ea typeface="Calibri" pitchFamily="34" charset="-122"/>
                <a:cs typeface="Calibri" pitchFamily="34" charset="-120"/>
              </a:rPr>
              <a:t>B shows the rise is caused by living cells</a:t>
            </a:r>
            <a:endParaRPr lang="en-US" sz="1100" dirty="0"/>
          </a:p>
          <a:p>
            <a:pPr indent="0" marL="0">
              <a:spcBef>
                <a:spcPts val="200"/>
              </a:spcBef>
              <a:buNone/>
            </a:pPr>
            <a:r>
              <a:rPr lang="en-US" sz="1100" b="1" dirty="0">
                <a:solidFill>
                  <a:srgbClr val="0D7877"/>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respiring peas release energy: it is exothermic</a:t>
            </a:r>
            <a:endParaRPr lang="en-US" sz="1100" dirty="0"/>
          </a:p>
        </p:txBody>
      </p:sp>
      <p:sp>
        <p:nvSpPr>
          <p:cNvPr id="152" name="Shape 149"/>
          <p:cNvSpPr/>
          <p:nvPr/>
        </p:nvSpPr>
        <p:spPr>
          <a:xfrm>
            <a:off x="411480" y="5833872"/>
            <a:ext cx="11368735" cy="530352"/>
          </a:xfrm>
          <a:prstGeom prst="rect">
            <a:avLst/>
          </a:prstGeom>
          <a:solidFill>
            <a:srgbClr val="FFF4E0"/>
          </a:solidFill>
          <a:ln w="6350">
            <a:solidFill>
              <a:srgbClr val="F1D9A8"/>
            </a:solidFill>
            <a:prstDash val="solid"/>
          </a:ln>
        </p:spPr>
      </p:sp>
      <p:sp>
        <p:nvSpPr>
          <p:cNvPr id="153" name="Shape 150"/>
          <p:cNvSpPr/>
          <p:nvPr/>
        </p:nvSpPr>
        <p:spPr>
          <a:xfrm>
            <a:off x="411480" y="5833872"/>
            <a:ext cx="82296" cy="530352"/>
          </a:xfrm>
          <a:prstGeom prst="rect">
            <a:avLst/>
          </a:prstGeom>
          <a:solidFill>
            <a:srgbClr val="E39A2F"/>
          </a:solidFill>
          <a:ln w="12700">
            <a:solidFill>
              <a:srgbClr val="E39A2F"/>
            </a:solidFill>
            <a:prstDash val="solid"/>
          </a:ln>
        </p:spPr>
      </p:sp>
      <p:sp>
        <p:nvSpPr>
          <p:cNvPr id="154" name="Text 151"/>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Why were the boiled peas washed in disinfectant? What would happen to flask B if microorganisms grew on the peas?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Why respiration never stops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B4.1.2 • every living cell needs a constant supply of ATP</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B4.1 What happens during cellular respiration?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B4.1.2  |  6</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ATP carries energy from respiration to the processes that need it</a:t>
            </a:r>
            <a:endParaRPr lang="en-US" sz="1000" dirty="0"/>
          </a:p>
        </p:txBody>
      </p:sp>
      <p:sp>
        <p:nvSpPr>
          <p:cNvPr id="10" name="Shape 8"/>
          <p:cNvSpPr/>
          <p:nvPr/>
        </p:nvSpPr>
        <p:spPr>
          <a:xfrm>
            <a:off x="1344168" y="1481328"/>
            <a:ext cx="877824" cy="877824"/>
          </a:xfrm>
          <a:prstGeom prst="ellipse">
            <a:avLst/>
          </a:prstGeom>
          <a:solidFill>
            <a:srgbClr val="0D7877"/>
          </a:solidFill>
          <a:ln w="12700">
            <a:solidFill>
              <a:srgbClr val="133536"/>
            </a:solidFill>
            <a:prstDash val="solid"/>
          </a:ln>
        </p:spPr>
      </p:sp>
      <p:sp>
        <p:nvSpPr>
          <p:cNvPr id="11" name="Text 9"/>
          <p:cNvSpPr/>
          <p:nvPr/>
        </p:nvSpPr>
        <p:spPr>
          <a:xfrm>
            <a:off x="1344168" y="1700784"/>
            <a:ext cx="877824" cy="43891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ATP</a:t>
            </a:r>
            <a:endParaRPr lang="en-US" sz="1800" dirty="0"/>
          </a:p>
        </p:txBody>
      </p:sp>
      <p:sp>
        <p:nvSpPr>
          <p:cNvPr id="12" name="Shape 10"/>
          <p:cNvSpPr/>
          <p:nvPr/>
        </p:nvSpPr>
        <p:spPr>
          <a:xfrm>
            <a:off x="1005840" y="3886200"/>
            <a:ext cx="1554480" cy="548640"/>
          </a:xfrm>
          <a:prstGeom prst="roundRect">
            <a:avLst>
              <a:gd name="adj" fmla="val 16667"/>
            </a:avLst>
          </a:prstGeom>
          <a:solidFill>
            <a:srgbClr val="FFFFFF"/>
          </a:solidFill>
          <a:ln w="15875">
            <a:solidFill>
              <a:srgbClr val="133536"/>
            </a:solidFill>
            <a:prstDash val="solid"/>
          </a:ln>
        </p:spPr>
      </p:sp>
      <p:sp>
        <p:nvSpPr>
          <p:cNvPr id="13" name="Text 11"/>
          <p:cNvSpPr/>
          <p:nvPr/>
        </p:nvSpPr>
        <p:spPr>
          <a:xfrm>
            <a:off x="1005840" y="3886200"/>
            <a:ext cx="1554480" cy="548640"/>
          </a:xfrm>
          <a:prstGeom prst="rect">
            <a:avLst/>
          </a:prstGeom>
          <a:noFill/>
          <a:ln/>
        </p:spPr>
        <p:txBody>
          <a:bodyPr wrap="square" lIns="0" tIns="0" rIns="0" bIns="0" rtlCol="0" anchor="ctr"/>
          <a:lstStyle/>
          <a:p>
            <a:pPr algn="ctr" indent="0" marL="0">
              <a:buNone/>
            </a:pPr>
            <a:r>
              <a:rPr lang="en-US" sz="1200" b="1" dirty="0">
                <a:solidFill>
                  <a:srgbClr val="133536"/>
                </a:solidFill>
                <a:latin typeface="Calibri" pitchFamily="34" charset="0"/>
                <a:ea typeface="Calibri" pitchFamily="34" charset="-122"/>
                <a:cs typeface="Calibri" pitchFamily="34" charset="-120"/>
              </a:rPr>
              <a:t>ADP + phosphate</a:t>
            </a:r>
            <a:endParaRPr lang="en-US" sz="1200" dirty="0"/>
          </a:p>
        </p:txBody>
      </p:sp>
      <p:sp>
        <p:nvSpPr>
          <p:cNvPr id="14" name="Shape 12"/>
          <p:cNvSpPr/>
          <p:nvPr/>
        </p:nvSpPr>
        <p:spPr>
          <a:xfrm flipV="1">
            <a:off x="1234440" y="2395728"/>
            <a:ext cx="91" cy="1444752"/>
          </a:xfrm>
          <a:prstGeom prst="line">
            <a:avLst/>
          </a:prstGeom>
          <a:noFill/>
          <a:ln w="38100">
            <a:solidFill>
              <a:srgbClr val="C8414C"/>
            </a:solidFill>
            <a:prstDash val="solid"/>
            <a:tailEnd type="triangle"/>
          </a:ln>
        </p:spPr>
      </p:sp>
      <p:sp>
        <p:nvSpPr>
          <p:cNvPr id="15" name="Text 13"/>
          <p:cNvSpPr/>
          <p:nvPr/>
        </p:nvSpPr>
        <p:spPr>
          <a:xfrm>
            <a:off x="502920" y="2606040"/>
            <a:ext cx="868680" cy="1005840"/>
          </a:xfrm>
          <a:prstGeom prst="rect">
            <a:avLst/>
          </a:prstGeom>
          <a:noFill/>
          <a:ln/>
        </p:spPr>
        <p:txBody>
          <a:bodyPr wrap="square" lIns="0" tIns="0" rIns="0" bIns="0" rtlCol="0" anchor="t"/>
          <a:lstStyle/>
          <a:p>
            <a:pPr algn="l" indent="0" marL="0">
              <a:buNone/>
            </a:pPr>
            <a:r>
              <a:rPr lang="en-US" sz="1050" b="1" dirty="0">
                <a:solidFill>
                  <a:srgbClr val="C8414C"/>
                </a:solidFill>
                <a:latin typeface="Calibri" pitchFamily="34" charset="0"/>
                <a:ea typeface="Calibri" pitchFamily="34" charset="-122"/>
                <a:cs typeface="Calibri" pitchFamily="34" charset="-120"/>
              </a:rPr>
              <a:t>respiration</a:t>
            </a:r>
            <a:endParaRPr lang="en-US" sz="1050" dirty="0"/>
          </a:p>
          <a:p>
            <a:pPr algn="l" indent="0" marL="0">
              <a:buNone/>
            </a:pPr>
            <a:r>
              <a:rPr lang="en-US" sz="1050" dirty="0">
                <a:solidFill>
                  <a:srgbClr val="C8414C"/>
                </a:solidFill>
                <a:latin typeface="Calibri" pitchFamily="34" charset="0"/>
                <a:ea typeface="Calibri" pitchFamily="34" charset="-122"/>
                <a:cs typeface="Calibri" pitchFamily="34" charset="-120"/>
              </a:rPr>
              <a:t>energy from glucose</a:t>
            </a:r>
            <a:endParaRPr lang="en-US" sz="1050" dirty="0"/>
          </a:p>
        </p:txBody>
      </p:sp>
      <p:sp>
        <p:nvSpPr>
          <p:cNvPr id="16" name="Shape 14"/>
          <p:cNvSpPr/>
          <p:nvPr/>
        </p:nvSpPr>
        <p:spPr>
          <a:xfrm>
            <a:off x="2331720" y="2395728"/>
            <a:ext cx="91" cy="1444752"/>
          </a:xfrm>
          <a:prstGeom prst="line">
            <a:avLst/>
          </a:prstGeom>
          <a:noFill/>
          <a:ln w="38100">
            <a:solidFill>
              <a:srgbClr val="2E8B57"/>
            </a:solidFill>
            <a:prstDash val="solid"/>
            <a:tailEnd type="triangle"/>
          </a:ln>
        </p:spPr>
      </p:sp>
      <p:sp>
        <p:nvSpPr>
          <p:cNvPr id="17" name="Text 15"/>
          <p:cNvSpPr/>
          <p:nvPr/>
        </p:nvSpPr>
        <p:spPr>
          <a:xfrm>
            <a:off x="2404872" y="2606040"/>
            <a:ext cx="914400" cy="1005840"/>
          </a:xfrm>
          <a:prstGeom prst="rect">
            <a:avLst/>
          </a:prstGeom>
          <a:noFill/>
          <a:ln/>
        </p:spPr>
        <p:txBody>
          <a:bodyPr wrap="square" lIns="0" tIns="0" rIns="0" bIns="0" rtlCol="0" anchor="t"/>
          <a:lstStyle/>
          <a:p>
            <a:pPr algn="l" indent="0" marL="0">
              <a:buNone/>
            </a:pPr>
            <a:r>
              <a:rPr lang="en-US" sz="1050" b="1" dirty="0">
                <a:solidFill>
                  <a:srgbClr val="2E8B57"/>
                </a:solidFill>
                <a:latin typeface="Calibri" pitchFamily="34" charset="0"/>
                <a:ea typeface="Calibri" pitchFamily="34" charset="-122"/>
                <a:cs typeface="Calibri" pitchFamily="34" charset="-120"/>
              </a:rPr>
              <a:t>energy released</a:t>
            </a:r>
            <a:r>
              <a:rPr lang="en-US" sz="1050" dirty="0">
                <a:solidFill>
                  <a:srgbClr val="2E8B57"/>
                </a:solidFill>
                <a:latin typeface="Calibri" pitchFamily="34" charset="0"/>
                <a:ea typeface="Calibri" pitchFamily="34" charset="-122"/>
                <a:cs typeface="Calibri" pitchFamily="34" charset="-120"/>
              </a:rPr>
              <a:t> for life processes</a:t>
            </a:r>
            <a:endParaRPr lang="en-US" sz="1050" dirty="0"/>
          </a:p>
        </p:txBody>
      </p:sp>
      <p:sp>
        <p:nvSpPr>
          <p:cNvPr id="18" name="Text 16"/>
          <p:cNvSpPr/>
          <p:nvPr/>
        </p:nvSpPr>
        <p:spPr>
          <a:xfrm>
            <a:off x="3429000" y="1325880"/>
            <a:ext cx="2331720" cy="256032"/>
          </a:xfrm>
          <a:prstGeom prst="rect">
            <a:avLst/>
          </a:prstGeom>
          <a:noFill/>
          <a:ln/>
        </p:spPr>
        <p:txBody>
          <a:bodyPr wrap="square" lIns="0" tIns="0" rIns="0" bIns="0" rtlCol="0" anchor="ctr"/>
          <a:lstStyle/>
          <a:p>
            <a:pPr algn="l" indent="0" marL="0">
              <a:buNone/>
            </a:pPr>
            <a:r>
              <a:rPr lang="en-US" sz="1150" b="1" dirty="0">
                <a:solidFill>
                  <a:srgbClr val="2E8B57"/>
                </a:solidFill>
                <a:latin typeface="Calibri" pitchFamily="34" charset="0"/>
                <a:ea typeface="Calibri" pitchFamily="34" charset="-122"/>
                <a:cs typeface="Calibri" pitchFamily="34" charset="-120"/>
              </a:rPr>
              <a:t>ATP is used for…</a:t>
            </a:r>
            <a:endParaRPr lang="en-US" sz="1150" dirty="0"/>
          </a:p>
        </p:txBody>
      </p:sp>
      <p:sp>
        <p:nvSpPr>
          <p:cNvPr id="19" name="Shape 17"/>
          <p:cNvSpPr/>
          <p:nvPr/>
        </p:nvSpPr>
        <p:spPr>
          <a:xfrm>
            <a:off x="3429000" y="1664208"/>
            <a:ext cx="2331720" cy="384048"/>
          </a:xfrm>
          <a:prstGeom prst="roundRect">
            <a:avLst>
              <a:gd name="adj" fmla="val 14286"/>
            </a:avLst>
          </a:prstGeom>
          <a:solidFill>
            <a:srgbClr val="FFFFFF"/>
          </a:solidFill>
          <a:ln w="12700">
            <a:solidFill>
              <a:srgbClr val="2E8B57"/>
            </a:solidFill>
            <a:prstDash val="solid"/>
          </a:ln>
        </p:spPr>
      </p:sp>
      <p:sp>
        <p:nvSpPr>
          <p:cNvPr id="20" name="Text 18"/>
          <p:cNvSpPr/>
          <p:nvPr/>
        </p:nvSpPr>
        <p:spPr>
          <a:xfrm>
            <a:off x="3520440" y="1664208"/>
            <a:ext cx="2194560" cy="384048"/>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muscle contraction (movement)</a:t>
            </a:r>
            <a:endParaRPr lang="en-US" sz="1050" dirty="0"/>
          </a:p>
        </p:txBody>
      </p:sp>
      <p:sp>
        <p:nvSpPr>
          <p:cNvPr id="21" name="Shape 19"/>
          <p:cNvSpPr/>
          <p:nvPr/>
        </p:nvSpPr>
        <p:spPr>
          <a:xfrm>
            <a:off x="3429000" y="2121408"/>
            <a:ext cx="2331720" cy="384048"/>
          </a:xfrm>
          <a:prstGeom prst="roundRect">
            <a:avLst>
              <a:gd name="adj" fmla="val 14286"/>
            </a:avLst>
          </a:prstGeom>
          <a:solidFill>
            <a:srgbClr val="FFFFFF"/>
          </a:solidFill>
          <a:ln w="12700">
            <a:solidFill>
              <a:srgbClr val="2E8B57"/>
            </a:solidFill>
            <a:prstDash val="solid"/>
          </a:ln>
        </p:spPr>
      </p:sp>
      <p:sp>
        <p:nvSpPr>
          <p:cNvPr id="22" name="Text 20"/>
          <p:cNvSpPr/>
          <p:nvPr/>
        </p:nvSpPr>
        <p:spPr>
          <a:xfrm>
            <a:off x="3520440" y="2121408"/>
            <a:ext cx="2194560" cy="384048"/>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building large molecules, e.g. proteins</a:t>
            </a:r>
            <a:endParaRPr lang="en-US" sz="1050" dirty="0"/>
          </a:p>
        </p:txBody>
      </p:sp>
      <p:sp>
        <p:nvSpPr>
          <p:cNvPr id="23" name="Shape 21"/>
          <p:cNvSpPr/>
          <p:nvPr/>
        </p:nvSpPr>
        <p:spPr>
          <a:xfrm>
            <a:off x="3429000" y="2578608"/>
            <a:ext cx="2331720" cy="384048"/>
          </a:xfrm>
          <a:prstGeom prst="roundRect">
            <a:avLst>
              <a:gd name="adj" fmla="val 14286"/>
            </a:avLst>
          </a:prstGeom>
          <a:solidFill>
            <a:srgbClr val="FFFFFF"/>
          </a:solidFill>
          <a:ln w="12700">
            <a:solidFill>
              <a:srgbClr val="2E8B57"/>
            </a:solidFill>
            <a:prstDash val="solid"/>
          </a:ln>
        </p:spPr>
      </p:sp>
      <p:sp>
        <p:nvSpPr>
          <p:cNvPr id="24" name="Text 22"/>
          <p:cNvSpPr/>
          <p:nvPr/>
        </p:nvSpPr>
        <p:spPr>
          <a:xfrm>
            <a:off x="3520440" y="2578608"/>
            <a:ext cx="2194560" cy="384048"/>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active transport into cells</a:t>
            </a:r>
            <a:endParaRPr lang="en-US" sz="1050" dirty="0"/>
          </a:p>
        </p:txBody>
      </p:sp>
      <p:sp>
        <p:nvSpPr>
          <p:cNvPr id="25" name="Shape 23"/>
          <p:cNvSpPr/>
          <p:nvPr/>
        </p:nvSpPr>
        <p:spPr>
          <a:xfrm>
            <a:off x="3429000" y="3035808"/>
            <a:ext cx="2331720" cy="384048"/>
          </a:xfrm>
          <a:prstGeom prst="roundRect">
            <a:avLst>
              <a:gd name="adj" fmla="val 14286"/>
            </a:avLst>
          </a:prstGeom>
          <a:solidFill>
            <a:srgbClr val="FFFFFF"/>
          </a:solidFill>
          <a:ln w="12700">
            <a:solidFill>
              <a:srgbClr val="2E8B57"/>
            </a:solidFill>
            <a:prstDash val="solid"/>
          </a:ln>
        </p:spPr>
      </p:sp>
      <p:sp>
        <p:nvSpPr>
          <p:cNvPr id="26" name="Text 24"/>
          <p:cNvSpPr/>
          <p:nvPr/>
        </p:nvSpPr>
        <p:spPr>
          <a:xfrm>
            <a:off x="3520440" y="3035808"/>
            <a:ext cx="2194560" cy="384048"/>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cell division and growth</a:t>
            </a:r>
            <a:endParaRPr lang="en-US" sz="1050" dirty="0"/>
          </a:p>
        </p:txBody>
      </p:sp>
      <p:sp>
        <p:nvSpPr>
          <p:cNvPr id="27" name="Shape 25"/>
          <p:cNvSpPr/>
          <p:nvPr/>
        </p:nvSpPr>
        <p:spPr>
          <a:xfrm>
            <a:off x="3429000" y="3493008"/>
            <a:ext cx="2331720" cy="384048"/>
          </a:xfrm>
          <a:prstGeom prst="roundRect">
            <a:avLst>
              <a:gd name="adj" fmla="val 14286"/>
            </a:avLst>
          </a:prstGeom>
          <a:solidFill>
            <a:srgbClr val="FFFFFF"/>
          </a:solidFill>
          <a:ln w="12700">
            <a:solidFill>
              <a:srgbClr val="2E8B57"/>
            </a:solidFill>
            <a:prstDash val="solid"/>
          </a:ln>
        </p:spPr>
      </p:sp>
      <p:sp>
        <p:nvSpPr>
          <p:cNvPr id="28" name="Text 26"/>
          <p:cNvSpPr/>
          <p:nvPr/>
        </p:nvSpPr>
        <p:spPr>
          <a:xfrm>
            <a:off x="3520440" y="3493008"/>
            <a:ext cx="2194560" cy="384048"/>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nerve impulses (animals)</a:t>
            </a:r>
            <a:endParaRPr lang="en-US" sz="1050" dirty="0"/>
          </a:p>
        </p:txBody>
      </p:sp>
      <p:sp>
        <p:nvSpPr>
          <p:cNvPr id="29" name="Shape 27"/>
          <p:cNvSpPr/>
          <p:nvPr/>
        </p:nvSpPr>
        <p:spPr>
          <a:xfrm>
            <a:off x="3429000" y="3950208"/>
            <a:ext cx="2331720" cy="384048"/>
          </a:xfrm>
          <a:prstGeom prst="roundRect">
            <a:avLst>
              <a:gd name="adj" fmla="val 14286"/>
            </a:avLst>
          </a:prstGeom>
          <a:solidFill>
            <a:srgbClr val="FFFFFF"/>
          </a:solidFill>
          <a:ln w="12700">
            <a:solidFill>
              <a:srgbClr val="2E8B57"/>
            </a:solidFill>
            <a:prstDash val="solid"/>
          </a:ln>
        </p:spPr>
      </p:sp>
      <p:sp>
        <p:nvSpPr>
          <p:cNvPr id="30" name="Text 28"/>
          <p:cNvSpPr/>
          <p:nvPr/>
        </p:nvSpPr>
        <p:spPr>
          <a:xfrm>
            <a:off x="3520440" y="3950208"/>
            <a:ext cx="2194560" cy="384048"/>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keeping warm (mammals, birds)</a:t>
            </a:r>
            <a:endParaRPr lang="en-US" sz="1050" dirty="0"/>
          </a:p>
        </p:txBody>
      </p:sp>
      <p:sp>
        <p:nvSpPr>
          <p:cNvPr id="31" name="Shape 29"/>
          <p:cNvSpPr/>
          <p:nvPr/>
        </p:nvSpPr>
        <p:spPr>
          <a:xfrm>
            <a:off x="2350008" y="3154680"/>
            <a:ext cx="850392" cy="91"/>
          </a:xfrm>
          <a:prstGeom prst="line">
            <a:avLst/>
          </a:prstGeom>
          <a:noFill/>
          <a:ln w="19050">
            <a:solidFill>
              <a:srgbClr val="2E8B57"/>
            </a:solidFill>
            <a:prstDash val="dash"/>
          </a:ln>
        </p:spPr>
      </p:sp>
      <p:sp>
        <p:nvSpPr>
          <p:cNvPr id="32" name="Shape 30"/>
          <p:cNvSpPr/>
          <p:nvPr/>
        </p:nvSpPr>
        <p:spPr>
          <a:xfrm>
            <a:off x="3200400" y="3154680"/>
            <a:ext cx="182880" cy="91"/>
          </a:xfrm>
          <a:prstGeom prst="line">
            <a:avLst/>
          </a:prstGeom>
          <a:noFill/>
          <a:ln w="19050">
            <a:solidFill>
              <a:srgbClr val="2E8B57"/>
            </a:solidFill>
            <a:prstDash val="solid"/>
            <a:tailEnd type="triangle"/>
          </a:ln>
        </p:spPr>
      </p:sp>
      <p:sp>
        <p:nvSpPr>
          <p:cNvPr id="33" name="Shape 31"/>
          <p:cNvSpPr/>
          <p:nvPr/>
        </p:nvSpPr>
        <p:spPr>
          <a:xfrm>
            <a:off x="685800" y="4663440"/>
            <a:ext cx="5074920" cy="594360"/>
          </a:xfrm>
          <a:prstGeom prst="roundRect">
            <a:avLst>
              <a:gd name="adj" fmla="val 9231"/>
            </a:avLst>
          </a:prstGeom>
          <a:solidFill>
            <a:srgbClr val="FFF4E0"/>
          </a:solidFill>
          <a:ln w="12700">
            <a:solidFill>
              <a:srgbClr val="F1D9A8"/>
            </a:solidFill>
            <a:prstDash val="solid"/>
          </a:ln>
        </p:spPr>
      </p:sp>
      <p:sp>
        <p:nvSpPr>
          <p:cNvPr id="34" name="Text 32"/>
          <p:cNvSpPr/>
          <p:nvPr/>
        </p:nvSpPr>
        <p:spPr>
          <a:xfrm>
            <a:off x="777240" y="4663440"/>
            <a:ext cx="4892040" cy="594360"/>
          </a:xfrm>
          <a:prstGeom prst="rect">
            <a:avLst/>
          </a:prstGeom>
          <a:noFill/>
          <a:ln/>
        </p:spPr>
        <p:txBody>
          <a:bodyPr wrap="square" lIns="0" tIns="0" rIns="0" bIns="0" rtlCol="0" anchor="ctr"/>
          <a:lstStyle/>
          <a:p>
            <a:pPr algn="ctr" indent="0" marL="0">
              <a:buNone/>
            </a:pPr>
            <a:r>
              <a:rPr lang="en-US" sz="1100" dirty="0">
                <a:solidFill>
                  <a:srgbClr val="262B3A"/>
                </a:solidFill>
                <a:latin typeface="Calibri" pitchFamily="34" charset="0"/>
                <a:ea typeface="Calibri" pitchFamily="34" charset="-122"/>
                <a:cs typeface="Calibri" pitchFamily="34" charset="-120"/>
              </a:rPr>
              <a:t>Cells store only a </a:t>
            </a:r>
            <a:r>
              <a:rPr lang="en-US" sz="1100" b="1" dirty="0">
                <a:solidFill>
                  <a:srgbClr val="262B3A"/>
                </a:solidFill>
                <a:latin typeface="Calibri" pitchFamily="34" charset="0"/>
                <a:ea typeface="Calibri" pitchFamily="34" charset="-122"/>
                <a:cs typeface="Calibri" pitchFamily="34" charset="-120"/>
              </a:rPr>
              <a:t>tiny amount of ATP</a:t>
            </a:r>
            <a:r>
              <a:rPr lang="en-US" sz="1100" dirty="0">
                <a:solidFill>
                  <a:srgbClr val="262B3A"/>
                </a:solidFill>
                <a:latin typeface="Calibri" pitchFamily="34" charset="0"/>
                <a:ea typeface="Calibri" pitchFamily="34" charset="-122"/>
                <a:cs typeface="Calibri" pitchFamily="34" charset="-120"/>
              </a:rPr>
              <a:t>, so they must keep making it: respiration never stops, day or night.</a:t>
            </a:r>
            <a:endParaRPr lang="en-US" sz="1100" dirty="0"/>
          </a:p>
        </p:txBody>
      </p:sp>
      <p:sp>
        <p:nvSpPr>
          <p:cNvPr id="35" name="Shape 33"/>
          <p:cNvSpPr/>
          <p:nvPr/>
        </p:nvSpPr>
        <p:spPr>
          <a:xfrm>
            <a:off x="6217920" y="1188720"/>
            <a:ext cx="5562295" cy="2423160"/>
          </a:xfrm>
          <a:prstGeom prst="roundRect">
            <a:avLst>
              <a:gd name="adj" fmla="val 2264"/>
            </a:avLst>
          </a:prstGeom>
          <a:solidFill>
            <a:srgbClr val="F4FAF9"/>
          </a:solidFill>
          <a:ln w="9525">
            <a:solidFill>
              <a:srgbClr val="CFE0DE"/>
            </a:solidFill>
            <a:prstDash val="solid"/>
          </a:ln>
        </p:spPr>
      </p:sp>
      <p:sp>
        <p:nvSpPr>
          <p:cNvPr id="36" name="Text 34"/>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ATP: the energy carrier</a:t>
            </a:r>
            <a:endParaRPr lang="en-US" sz="1300" dirty="0"/>
          </a:p>
        </p:txBody>
      </p:sp>
      <p:sp>
        <p:nvSpPr>
          <p:cNvPr id="37" name="Text 35"/>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Respiration transfers energy from glucose into </a:t>
            </a:r>
            <a:r>
              <a:rPr lang="en-US" sz="1100" b="1" dirty="0">
                <a:solidFill>
                  <a:srgbClr val="262B3A"/>
                </a:solidFill>
                <a:latin typeface="Calibri" pitchFamily="34" charset="0"/>
                <a:ea typeface="Calibri" pitchFamily="34" charset="-122"/>
                <a:cs typeface="Calibri" pitchFamily="34" charset="-120"/>
              </a:rPr>
              <a:t>ATP</a:t>
            </a:r>
            <a:r>
              <a:rPr lang="en-US" sz="1100" dirty="0">
                <a:solidFill>
                  <a:srgbClr val="262B3A"/>
                </a:solidFill>
                <a:latin typeface="Calibri" pitchFamily="34" charset="0"/>
                <a:ea typeface="Calibri" pitchFamily="34" charset="-122"/>
                <a:cs typeface="Calibri" pitchFamily="34" charset="-120"/>
              </a:rPr>
              <a:t> molecules.</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ATP is broken down to </a:t>
            </a:r>
            <a:r>
              <a:rPr lang="en-US" sz="1100" b="1" dirty="0">
                <a:solidFill>
                  <a:srgbClr val="262B3A"/>
                </a:solidFill>
                <a:latin typeface="Calibri" pitchFamily="34" charset="0"/>
                <a:ea typeface="Calibri" pitchFamily="34" charset="-122"/>
                <a:cs typeface="Calibri" pitchFamily="34" charset="-120"/>
              </a:rPr>
              <a:t>ADP + phosphate</a:t>
            </a:r>
            <a:r>
              <a:rPr lang="en-US" sz="1100" dirty="0">
                <a:solidFill>
                  <a:srgbClr val="262B3A"/>
                </a:solidFill>
                <a:latin typeface="Calibri" pitchFamily="34" charset="0"/>
                <a:ea typeface="Calibri" pitchFamily="34" charset="-122"/>
                <a:cs typeface="Calibri" pitchFamily="34" charset="-120"/>
              </a:rPr>
              <a:t>, releasing energy where it is needed. Respiration remakes the ATP.</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Cells need ATP </a:t>
            </a:r>
            <a:r>
              <a:rPr lang="en-US" sz="1100" b="1" dirty="0">
                <a:solidFill>
                  <a:srgbClr val="262B3A"/>
                </a:solidFill>
                <a:latin typeface="Calibri" pitchFamily="34" charset="0"/>
                <a:ea typeface="Calibri" pitchFamily="34" charset="-122"/>
                <a:cs typeface="Calibri" pitchFamily="34" charset="-120"/>
              </a:rPr>
              <a:t>all the time</a:t>
            </a:r>
            <a:r>
              <a:rPr lang="en-US" sz="1100" dirty="0">
                <a:solidFill>
                  <a:srgbClr val="262B3A"/>
                </a:solidFill>
                <a:latin typeface="Calibri" pitchFamily="34" charset="0"/>
                <a:ea typeface="Calibri" pitchFamily="34" charset="-122"/>
                <a:cs typeface="Calibri" pitchFamily="34" charset="-120"/>
              </a:rPr>
              <a:t> and hold very little of it, so respiration happens </a:t>
            </a:r>
            <a:r>
              <a:rPr lang="en-US" sz="1100" b="1" dirty="0">
                <a:solidFill>
                  <a:srgbClr val="262B3A"/>
                </a:solidFill>
                <a:latin typeface="Calibri" pitchFamily="34" charset="0"/>
                <a:ea typeface="Calibri" pitchFamily="34" charset="-122"/>
                <a:cs typeface="Calibri" pitchFamily="34" charset="-120"/>
              </a:rPr>
              <a:t>continuously in all living cells</a:t>
            </a:r>
            <a:r>
              <a:rPr lang="en-US" sz="1100" dirty="0">
                <a:solidFill>
                  <a:srgbClr val="262B3A"/>
                </a:solidFill>
                <a:latin typeface="Calibri" pitchFamily="34" charset="0"/>
                <a:ea typeface="Calibri" pitchFamily="34" charset="-122"/>
                <a:cs typeface="Calibri" pitchFamily="34" charset="-120"/>
              </a:rPr>
              <a:t>, including plant cells in the dark.</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If respiration stops (e.g. the poison cyanide), cells soon die.</a:t>
            </a:r>
            <a:endParaRPr lang="en-US" sz="1100" dirty="0"/>
          </a:p>
        </p:txBody>
      </p:sp>
      <p:sp>
        <p:nvSpPr>
          <p:cNvPr id="38" name="Shape 36"/>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39" name="Text 37"/>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explain</a:t>
            </a:r>
            <a:endParaRPr lang="en-US" sz="1300" dirty="0"/>
          </a:p>
        </p:txBody>
      </p:sp>
      <p:sp>
        <p:nvSpPr>
          <p:cNvPr id="40" name="Text 38"/>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Explain why a plant leaf cell respires during the day and at night.</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Need   </a:t>
            </a:r>
            <a:r>
              <a:rPr lang="en-US" sz="1050" dirty="0">
                <a:solidFill>
                  <a:srgbClr val="262B3A"/>
                </a:solidFill>
                <a:latin typeface="Calibri" pitchFamily="34" charset="0"/>
                <a:ea typeface="Calibri" pitchFamily="34" charset="-122"/>
                <a:cs typeface="Calibri" pitchFamily="34" charset="-120"/>
              </a:rPr>
              <a:t>the cell needs energy all the time (active transport, growth, making proteins)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ATP   </a:t>
            </a:r>
            <a:r>
              <a:rPr lang="en-US" sz="1050" dirty="0">
                <a:solidFill>
                  <a:srgbClr val="262B3A"/>
                </a:solidFill>
                <a:latin typeface="Calibri" pitchFamily="34" charset="0"/>
                <a:ea typeface="Calibri" pitchFamily="34" charset="-122"/>
                <a:cs typeface="Calibri" pitchFamily="34" charset="-120"/>
              </a:rPr>
              <a:t>ATP cannot be stored in large amounts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So   </a:t>
            </a:r>
            <a:r>
              <a:rPr lang="en-US" sz="1050" dirty="0">
                <a:solidFill>
                  <a:srgbClr val="262B3A"/>
                </a:solidFill>
                <a:latin typeface="Calibri" pitchFamily="34" charset="0"/>
                <a:ea typeface="Calibri" pitchFamily="34" charset="-122"/>
                <a:cs typeface="Calibri" pitchFamily="34" charset="-120"/>
              </a:rPr>
              <a:t>ATP must be made continuously by respiration</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respiration goes on day and night; photosynthesis only in light</a:t>
            </a:r>
            <a:endParaRPr lang="en-US" sz="1050" dirty="0"/>
          </a:p>
        </p:txBody>
      </p:sp>
      <p:sp>
        <p:nvSpPr>
          <p:cNvPr id="41" name="Shape 39"/>
          <p:cNvSpPr/>
          <p:nvPr/>
        </p:nvSpPr>
        <p:spPr>
          <a:xfrm>
            <a:off x="411480" y="5833872"/>
            <a:ext cx="11368735" cy="530352"/>
          </a:xfrm>
          <a:prstGeom prst="rect">
            <a:avLst/>
          </a:prstGeom>
          <a:solidFill>
            <a:srgbClr val="FFF4E0"/>
          </a:solidFill>
          <a:ln w="6350">
            <a:solidFill>
              <a:srgbClr val="F1D9A8"/>
            </a:solidFill>
            <a:prstDash val="solid"/>
          </a:ln>
        </p:spPr>
      </p:sp>
      <p:sp>
        <p:nvSpPr>
          <p:cNvPr id="42" name="Shape 40"/>
          <p:cNvSpPr/>
          <p:nvPr/>
        </p:nvSpPr>
        <p:spPr>
          <a:xfrm>
            <a:off x="411480" y="5833872"/>
            <a:ext cx="82296" cy="530352"/>
          </a:xfrm>
          <a:prstGeom prst="rect">
            <a:avLst/>
          </a:prstGeom>
          <a:solidFill>
            <a:srgbClr val="E39A2F"/>
          </a:solidFill>
          <a:ln w="12700">
            <a:solidFill>
              <a:srgbClr val="E39A2F"/>
            </a:solidFill>
            <a:prstDash val="solid"/>
          </a:ln>
        </p:spPr>
      </p:sp>
      <p:sp>
        <p:nvSpPr>
          <p:cNvPr id="43" name="Text 41"/>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student says "plants photosynthesise, so they do not need to respire". Explain why the student is wrong.</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Exam practice: recap 1</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B4.1.4, B4.1.2 • exothermic and continuous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B4.1 What happens during cellular respiration?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1  |  7</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CFE0DE"/>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cellular respiration is described as an </a:t>
            </a:r>
            <a:r>
              <a:rPr lang="en-US" sz="1250" b="1" dirty="0">
                <a:solidFill>
                  <a:srgbClr val="262B3A"/>
                </a:solidFill>
                <a:latin typeface="Calibri" pitchFamily="34" charset="0"/>
                <a:ea typeface="Calibri" pitchFamily="34" charset="-122"/>
                <a:cs typeface="Calibri" pitchFamily="34" charset="-120"/>
              </a:rPr>
              <a:t>exothermic</a:t>
            </a:r>
            <a:r>
              <a:rPr lang="en-US" sz="1250" dirty="0">
                <a:solidFill>
                  <a:srgbClr val="262B3A"/>
                </a:solidFill>
                <a:latin typeface="Calibri" pitchFamily="34" charset="0"/>
                <a:ea typeface="Calibri" pitchFamily="34" charset="-122"/>
                <a:cs typeface="Calibri" pitchFamily="34" charset="-120"/>
              </a:rPr>
              <a:t> process.</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CFE0DE"/>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In the peas experiment, flask B contained </a:t>
            </a:r>
            <a:r>
              <a:rPr lang="en-US" sz="1250" b="1" dirty="0">
                <a:solidFill>
                  <a:srgbClr val="262B3A"/>
                </a:solidFill>
                <a:latin typeface="Calibri" pitchFamily="34" charset="0"/>
                <a:ea typeface="Calibri" pitchFamily="34" charset="-122"/>
                <a:cs typeface="Calibri" pitchFamily="34" charset="-120"/>
              </a:rPr>
              <a:t>boiled</a:t>
            </a:r>
            <a:r>
              <a:rPr lang="en-US" sz="1250" dirty="0">
                <a:solidFill>
                  <a:srgbClr val="262B3A"/>
                </a:solidFill>
                <a:latin typeface="Calibri" pitchFamily="34" charset="0"/>
                <a:ea typeface="Calibri" pitchFamily="34" charset="-122"/>
                <a:cs typeface="Calibri" pitchFamily="34" charset="-120"/>
              </a:rPr>
              <a:t> peas washed in </a:t>
            </a:r>
            <a:r>
              <a:rPr lang="en-US" sz="1250" b="1" dirty="0">
                <a:solidFill>
                  <a:srgbClr val="262B3A"/>
                </a:solidFill>
                <a:latin typeface="Calibri" pitchFamily="34" charset="0"/>
                <a:ea typeface="Calibri" pitchFamily="34" charset="-122"/>
                <a:cs typeface="Calibri" pitchFamily="34" charset="-120"/>
              </a:rPr>
              <a:t>disinfectant</a:t>
            </a:r>
            <a:r>
              <a:rPr lang="en-US" sz="1250" dirty="0">
                <a:solidFill>
                  <a:srgbClr val="262B3A"/>
                </a:solidFill>
                <a:latin typeface="Calibri" pitchFamily="34" charset="0"/>
                <a:ea typeface="Calibri" pitchFamily="34" charset="-122"/>
                <a:cs typeface="Calibri" pitchFamily="34" charset="-120"/>
              </a:rPr>
              <a:t>. Give the reason for each.</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CFE0DE"/>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respiration must happen </a:t>
            </a:r>
            <a:r>
              <a:rPr lang="en-US" sz="1250" b="1" dirty="0">
                <a:solidFill>
                  <a:srgbClr val="262B3A"/>
                </a:solidFill>
                <a:latin typeface="Calibri" pitchFamily="34" charset="0"/>
                <a:ea typeface="Calibri" pitchFamily="34" charset="-122"/>
                <a:cs typeface="Calibri" pitchFamily="34" charset="-120"/>
              </a:rPr>
              <a:t>continuously</a:t>
            </a:r>
            <a:r>
              <a:rPr lang="en-US" sz="1250" dirty="0">
                <a:solidFill>
                  <a:srgbClr val="262B3A"/>
                </a:solidFill>
                <a:latin typeface="Calibri" pitchFamily="34" charset="0"/>
                <a:ea typeface="Calibri" pitchFamily="34" charset="-122"/>
                <a:cs typeface="Calibri" pitchFamily="34" charset="-120"/>
              </a:rPr>
              <a:t> in all living cells.</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CFE0DE"/>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uses of the energy transferred by respiration in a human.</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Aerobic respiration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B4.1.1 • respiration using oxygen: glucose is broken down completely</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B4.1 What happens during cellular respiration?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B4.1.1  |  8</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word and symbol equations; atoms counted on each side</a:t>
            </a:r>
            <a:endParaRPr lang="en-US" sz="1000" dirty="0"/>
          </a:p>
        </p:txBody>
      </p:sp>
      <p:sp>
        <p:nvSpPr>
          <p:cNvPr id="10" name="Text 8"/>
          <p:cNvSpPr/>
          <p:nvPr/>
        </p:nvSpPr>
        <p:spPr>
          <a:xfrm>
            <a:off x="685800" y="1298448"/>
            <a:ext cx="5029200" cy="256032"/>
          </a:xfrm>
          <a:prstGeom prst="rect">
            <a:avLst/>
          </a:prstGeom>
          <a:noFill/>
          <a:ln/>
        </p:spPr>
        <p:txBody>
          <a:bodyPr wrap="square" lIns="0" tIns="0" rIns="0" bIns="0" rtlCol="0" anchor="ctr"/>
          <a:lstStyle/>
          <a:p>
            <a:pPr algn="l" indent="0" marL="0">
              <a:buNone/>
            </a:pPr>
            <a:r>
              <a:rPr lang="en-US" sz="1100" b="1" dirty="0">
                <a:solidFill>
                  <a:srgbClr val="0D7877"/>
                </a:solidFill>
                <a:latin typeface="Calibri" pitchFamily="34" charset="0"/>
                <a:ea typeface="Calibri" pitchFamily="34" charset="-122"/>
                <a:cs typeface="Calibri" pitchFamily="34" charset="-120"/>
              </a:rPr>
              <a:t>Word equation</a:t>
            </a:r>
            <a:endParaRPr lang="en-US" sz="1100" dirty="0"/>
          </a:p>
        </p:txBody>
      </p:sp>
      <p:sp>
        <p:nvSpPr>
          <p:cNvPr id="11" name="Shape 9"/>
          <p:cNvSpPr/>
          <p:nvPr/>
        </p:nvSpPr>
        <p:spPr>
          <a:xfrm>
            <a:off x="685800" y="1572768"/>
            <a:ext cx="5029200" cy="502920"/>
          </a:xfrm>
          <a:prstGeom prst="roundRect">
            <a:avLst>
              <a:gd name="adj" fmla="val 10909"/>
            </a:avLst>
          </a:prstGeom>
          <a:solidFill>
            <a:srgbClr val="FFFFFF"/>
          </a:solidFill>
          <a:ln w="12700">
            <a:solidFill>
              <a:srgbClr val="CFE0DE"/>
            </a:solidFill>
            <a:prstDash val="solid"/>
          </a:ln>
        </p:spPr>
      </p:sp>
      <p:sp>
        <p:nvSpPr>
          <p:cNvPr id="12" name="Text 10"/>
          <p:cNvSpPr/>
          <p:nvPr/>
        </p:nvSpPr>
        <p:spPr>
          <a:xfrm>
            <a:off x="795528" y="1572768"/>
            <a:ext cx="4809744" cy="502920"/>
          </a:xfrm>
          <a:prstGeom prst="rect">
            <a:avLst/>
          </a:prstGeom>
          <a:noFill/>
          <a:ln/>
        </p:spPr>
        <p:txBody>
          <a:bodyPr wrap="square" lIns="0" tIns="0" rIns="0" bIns="0" rtlCol="0" anchor="ctr"/>
          <a:lstStyle/>
          <a:p>
            <a:pPr algn="ctr" indent="0" marL="0">
              <a:buNone/>
            </a:pPr>
            <a:r>
              <a:rPr lang="en-US" sz="1400" b="1" dirty="0">
                <a:solidFill>
                  <a:srgbClr val="262B3A"/>
                </a:solidFill>
                <a:latin typeface="Calibri" pitchFamily="34" charset="0"/>
                <a:ea typeface="Calibri" pitchFamily="34" charset="-122"/>
                <a:cs typeface="Calibri" pitchFamily="34" charset="-120"/>
              </a:rPr>
              <a:t>glucose + oxygen → carbon dioxide + water</a:t>
            </a:r>
            <a:endParaRPr lang="en-US" sz="1200" dirty="0"/>
          </a:p>
        </p:txBody>
      </p:sp>
      <p:sp>
        <p:nvSpPr>
          <p:cNvPr id="13" name="Text 11"/>
          <p:cNvSpPr/>
          <p:nvPr/>
        </p:nvSpPr>
        <p:spPr>
          <a:xfrm>
            <a:off x="685800" y="2176272"/>
            <a:ext cx="5029200" cy="256032"/>
          </a:xfrm>
          <a:prstGeom prst="rect">
            <a:avLst/>
          </a:prstGeom>
          <a:noFill/>
          <a:ln/>
        </p:spPr>
        <p:txBody>
          <a:bodyPr wrap="square" lIns="0" tIns="0" rIns="0" bIns="0" rtlCol="0" anchor="ctr"/>
          <a:lstStyle/>
          <a:p>
            <a:pPr algn="l" indent="0" marL="0">
              <a:buNone/>
            </a:pPr>
            <a:r>
              <a:rPr lang="en-US" sz="1100" b="1" dirty="0">
                <a:solidFill>
                  <a:srgbClr val="0D7877"/>
                </a:solidFill>
                <a:latin typeface="Calibri" pitchFamily="34" charset="0"/>
                <a:ea typeface="Calibri" pitchFamily="34" charset="-122"/>
                <a:cs typeface="Calibri" pitchFamily="34" charset="-120"/>
              </a:rPr>
              <a:t>Symbol equation (balanced)</a:t>
            </a:r>
            <a:endParaRPr lang="en-US" sz="1100" dirty="0"/>
          </a:p>
        </p:txBody>
      </p:sp>
      <p:sp>
        <p:nvSpPr>
          <p:cNvPr id="14" name="Shape 12"/>
          <p:cNvSpPr/>
          <p:nvPr/>
        </p:nvSpPr>
        <p:spPr>
          <a:xfrm>
            <a:off x="685800" y="2450592"/>
            <a:ext cx="5029200" cy="548640"/>
          </a:xfrm>
          <a:prstGeom prst="roundRect">
            <a:avLst>
              <a:gd name="adj" fmla="val 10000"/>
            </a:avLst>
          </a:prstGeom>
          <a:solidFill>
            <a:srgbClr val="FFFFFF"/>
          </a:solidFill>
          <a:ln w="19050">
            <a:solidFill>
              <a:srgbClr val="0D7877"/>
            </a:solidFill>
            <a:prstDash val="solid"/>
          </a:ln>
        </p:spPr>
      </p:sp>
      <p:sp>
        <p:nvSpPr>
          <p:cNvPr id="15" name="Text 13"/>
          <p:cNvSpPr/>
          <p:nvPr/>
        </p:nvSpPr>
        <p:spPr>
          <a:xfrm>
            <a:off x="795528" y="2450592"/>
            <a:ext cx="4809744" cy="548640"/>
          </a:xfrm>
          <a:prstGeom prst="rect">
            <a:avLst/>
          </a:prstGeom>
          <a:noFill/>
          <a:ln/>
        </p:spPr>
        <p:txBody>
          <a:bodyPr wrap="square" lIns="0" tIns="0" rIns="0" bIns="0" rtlCol="0" anchor="ctr"/>
          <a:lstStyle/>
          <a:p>
            <a:pPr algn="ctr" indent="0" marL="0">
              <a:buNone/>
            </a:pPr>
            <a:r>
              <a:rPr lang="en-US" sz="1800" b="1" dirty="0">
                <a:solidFill>
                  <a:srgbClr val="262B3A"/>
                </a:solidFill>
                <a:latin typeface="Calibri" pitchFamily="34" charset="0"/>
                <a:ea typeface="Calibri" pitchFamily="34" charset="-122"/>
                <a:cs typeface="Calibri" pitchFamily="34" charset="-120"/>
              </a:rPr>
              <a:t>C₆H₁₂O₆  +  6O₂  →  6CO₂  +  6H₂O</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85800" y="3127248"/>
          <a:ext cx="5029200" cy="914400"/>
        </p:xfrm>
        <a:graphic>
          <a:graphicData uri="http://schemas.openxmlformats.org/drawingml/2006/table">
            <a:tbl>
              <a:tblPr/>
              <a:tblGrid>
                <a:gridCol w="1188720"/>
                <a:gridCol w="1463040"/>
                <a:gridCol w="1463040"/>
                <a:gridCol w="914400"/>
              </a:tblGrid>
              <a:tr h="27432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Atom</a:t>
                      </a:r>
                      <a:endParaRPr lang="en-US" sz="11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Left (reactants)</a:t>
                      </a:r>
                      <a:endParaRPr lang="en-US" sz="11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Right (products)</a:t>
                      </a:r>
                      <a:endParaRPr lang="en-US" sz="11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Balanced?</a:t>
                      </a:r>
                      <a:endParaRPr lang="en-US" sz="11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r>
              <a:tr h="274320">
                <a:tc>
                  <a:txBody>
                    <a:bodyPr/>
                    <a:lstStyle/>
                    <a:p>
                      <a:pPr algn="ctr" indent="0" marL="0">
                        <a:buNone/>
                      </a:pPr>
                      <a:r>
                        <a:rPr lang="en-US" sz="1100" b="1" dirty="0">
                          <a:solidFill>
                            <a:srgbClr val="262B3A"/>
                          </a:solidFill>
                          <a:latin typeface="Calibri" pitchFamily="34" charset="0"/>
                          <a:ea typeface="Calibri" pitchFamily="34" charset="-122"/>
                          <a:cs typeface="Calibri" pitchFamily="34" charset="-120"/>
                        </a:rPr>
                        <a:t>C carbon</a:t>
                      </a:r>
                      <a:endParaRPr lang="en-US" sz="11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6 × 1 = 6</a:t>
                      </a:r>
                      <a:endParaRPr lang="en-US" sz="11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100" b="1" dirty="0">
                          <a:solidFill>
                            <a:srgbClr val="2E8B57"/>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r h="274320">
                <a:tc>
                  <a:txBody>
                    <a:bodyPr/>
                    <a:lstStyle/>
                    <a:p>
                      <a:pPr algn="ctr" indent="0" marL="0">
                        <a:buNone/>
                      </a:pPr>
                      <a:r>
                        <a:rPr lang="en-US" sz="1100" b="1" dirty="0">
                          <a:solidFill>
                            <a:srgbClr val="262B3A"/>
                          </a:solidFill>
                          <a:latin typeface="Calibri" pitchFamily="34" charset="0"/>
                          <a:ea typeface="Calibri" pitchFamily="34" charset="-122"/>
                          <a:cs typeface="Calibri" pitchFamily="34" charset="-120"/>
                        </a:rPr>
                        <a:t>H hydrogen</a:t>
                      </a:r>
                      <a:endParaRPr lang="en-US" sz="11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6 × 2 = 12</a:t>
                      </a:r>
                      <a:endParaRPr lang="en-US" sz="11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8B57"/>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262B3A"/>
                          </a:solidFill>
                          <a:latin typeface="Calibri" pitchFamily="34" charset="0"/>
                          <a:ea typeface="Calibri" pitchFamily="34" charset="-122"/>
                          <a:cs typeface="Calibri" pitchFamily="34" charset="-120"/>
                        </a:rPr>
                        <a:t>O oxygen</a:t>
                      </a:r>
                      <a:endParaRPr lang="en-US" sz="11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6 + 6 × 2 = 18</a:t>
                      </a:r>
                      <a:endParaRPr lang="en-US" sz="11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6 × 2 + 6 = 18</a:t>
                      </a:r>
                      <a:endParaRPr lang="en-US" sz="11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100" b="1" dirty="0">
                          <a:solidFill>
                            <a:srgbClr val="2E8B57"/>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bl>
          </a:graphicData>
        </a:graphic>
      </p:graphicFrame>
      <p:sp>
        <p:nvSpPr>
          <p:cNvPr id="17" name="Shape 14"/>
          <p:cNvSpPr/>
          <p:nvPr/>
        </p:nvSpPr>
        <p:spPr>
          <a:xfrm>
            <a:off x="685800" y="4343400"/>
            <a:ext cx="2423160" cy="960120"/>
          </a:xfrm>
          <a:prstGeom prst="roundRect">
            <a:avLst>
              <a:gd name="adj" fmla="val 5714"/>
            </a:avLst>
          </a:prstGeom>
          <a:solidFill>
            <a:srgbClr val="FFFFFF"/>
          </a:solidFill>
          <a:ln w="12700">
            <a:solidFill>
              <a:srgbClr val="0D7877"/>
            </a:solidFill>
            <a:prstDash val="solid"/>
          </a:ln>
        </p:spPr>
      </p:sp>
      <p:sp>
        <p:nvSpPr>
          <p:cNvPr id="18" name="Text 15"/>
          <p:cNvSpPr/>
          <p:nvPr/>
        </p:nvSpPr>
        <p:spPr>
          <a:xfrm>
            <a:off x="777240" y="4389120"/>
            <a:ext cx="2240280" cy="86868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Inputs</a:t>
            </a:r>
            <a:endParaRPr lang="en-US" sz="1100" dirty="0"/>
          </a:p>
          <a:p>
            <a:pPr indent="0" marL="0">
              <a:buNone/>
            </a:pPr>
            <a:r>
              <a:rPr lang="en-US" sz="1050" dirty="0">
                <a:solidFill>
                  <a:srgbClr val="262B3A"/>
                </a:solidFill>
                <a:latin typeface="Calibri" pitchFamily="34" charset="0"/>
                <a:ea typeface="Calibri" pitchFamily="34" charset="-122"/>
                <a:cs typeface="Calibri" pitchFamily="34" charset="-120"/>
              </a:rPr>
              <a:t>glucose: from digested food, or photosynthesis</a:t>
            </a:r>
            <a:endParaRPr lang="en-US" sz="1100" dirty="0"/>
          </a:p>
          <a:p>
            <a:pPr indent="0" marL="0">
              <a:buNone/>
            </a:pPr>
            <a:r>
              <a:rPr lang="en-US" sz="1050" dirty="0">
                <a:solidFill>
                  <a:srgbClr val="262B3A"/>
                </a:solidFill>
                <a:latin typeface="Calibri" pitchFamily="34" charset="0"/>
                <a:ea typeface="Calibri" pitchFamily="34" charset="-122"/>
                <a:cs typeface="Calibri" pitchFamily="34" charset="-120"/>
              </a:rPr>
              <a:t>oxygen: from the air, by diffusion</a:t>
            </a:r>
            <a:endParaRPr lang="en-US" sz="1100" dirty="0"/>
          </a:p>
        </p:txBody>
      </p:sp>
      <p:sp>
        <p:nvSpPr>
          <p:cNvPr id="19" name="Shape 16"/>
          <p:cNvSpPr/>
          <p:nvPr/>
        </p:nvSpPr>
        <p:spPr>
          <a:xfrm>
            <a:off x="3291840" y="4343400"/>
            <a:ext cx="2423160" cy="960120"/>
          </a:xfrm>
          <a:prstGeom prst="roundRect">
            <a:avLst>
              <a:gd name="adj" fmla="val 5714"/>
            </a:avLst>
          </a:prstGeom>
          <a:solidFill>
            <a:srgbClr val="FFFFFF"/>
          </a:solidFill>
          <a:ln w="12700">
            <a:solidFill>
              <a:srgbClr val="C8414C"/>
            </a:solidFill>
            <a:prstDash val="solid"/>
          </a:ln>
        </p:spPr>
      </p:sp>
      <p:sp>
        <p:nvSpPr>
          <p:cNvPr id="20" name="Text 17"/>
          <p:cNvSpPr/>
          <p:nvPr/>
        </p:nvSpPr>
        <p:spPr>
          <a:xfrm>
            <a:off x="3383280" y="4389120"/>
            <a:ext cx="2240280" cy="868680"/>
          </a:xfrm>
          <a:prstGeom prst="rect">
            <a:avLst/>
          </a:prstGeom>
          <a:noFill/>
          <a:ln/>
        </p:spPr>
        <p:txBody>
          <a:bodyPr wrap="square" lIns="0" tIns="0" rIns="0" bIns="0" rtlCol="0" anchor="t"/>
          <a:lstStyle/>
          <a:p>
            <a:pPr indent="0" marL="0">
              <a:buNone/>
            </a:pPr>
            <a:r>
              <a:rPr lang="en-US" sz="1100" b="1" dirty="0">
                <a:solidFill>
                  <a:srgbClr val="C8414C"/>
                </a:solidFill>
                <a:latin typeface="Calibri" pitchFamily="34" charset="0"/>
                <a:ea typeface="Calibri" pitchFamily="34" charset="-122"/>
                <a:cs typeface="Calibri" pitchFamily="34" charset="-120"/>
              </a:rPr>
              <a:t>Outputs</a:t>
            </a:r>
            <a:endParaRPr lang="en-US" sz="1100" dirty="0"/>
          </a:p>
          <a:p>
            <a:pPr indent="0" marL="0">
              <a:buNone/>
            </a:pPr>
            <a:r>
              <a:rPr lang="en-US" sz="1050" dirty="0">
                <a:solidFill>
                  <a:srgbClr val="262B3A"/>
                </a:solidFill>
                <a:latin typeface="Calibri" pitchFamily="34" charset="0"/>
                <a:ea typeface="Calibri" pitchFamily="34" charset="-122"/>
                <a:cs typeface="Calibri" pitchFamily="34" charset="-120"/>
              </a:rPr>
              <a:t>carbon dioxide (waste) and water</a:t>
            </a:r>
            <a:endParaRPr lang="en-US" sz="1100" dirty="0"/>
          </a:p>
          <a:p>
            <a:pPr indent="0" marL="0">
              <a:buNone/>
            </a:pPr>
            <a:r>
              <a:rPr lang="en-US" sz="1050" dirty="0">
                <a:solidFill>
                  <a:srgbClr val="262B3A"/>
                </a:solidFill>
                <a:latin typeface="Calibri" pitchFamily="34" charset="0"/>
                <a:ea typeface="Calibri" pitchFamily="34" charset="-122"/>
                <a:cs typeface="Calibri" pitchFamily="34" charset="-120"/>
              </a:rPr>
              <a:t>energy transferred to </a:t>
            </a:r>
            <a:r>
              <a:rPr lang="en-US" sz="1050" b="1" dirty="0">
                <a:solidFill>
                  <a:srgbClr val="262B3A"/>
                </a:solidFill>
                <a:latin typeface="Calibri" pitchFamily="34" charset="0"/>
                <a:ea typeface="Calibri" pitchFamily="34" charset="-122"/>
                <a:cs typeface="Calibri" pitchFamily="34" charset="-120"/>
              </a:rPr>
              <a:t>ATP</a:t>
            </a:r>
            <a:r>
              <a:rPr lang="en-US" sz="1050" dirty="0">
                <a:solidFill>
                  <a:srgbClr val="262B3A"/>
                </a:solidFill>
                <a:latin typeface="Calibri" pitchFamily="34" charset="0"/>
                <a:ea typeface="Calibri" pitchFamily="34" charset="-122"/>
                <a:cs typeface="Calibri" pitchFamily="34" charset="-120"/>
              </a:rPr>
              <a:t> (a lot)</a:t>
            </a:r>
            <a:endParaRPr lang="en-US" sz="1100" dirty="0"/>
          </a:p>
        </p:txBody>
      </p:sp>
      <p:sp>
        <p:nvSpPr>
          <p:cNvPr id="21" name="Shape 18"/>
          <p:cNvSpPr/>
          <p:nvPr/>
        </p:nvSpPr>
        <p:spPr>
          <a:xfrm>
            <a:off x="6217920" y="1188720"/>
            <a:ext cx="5562295" cy="2423160"/>
          </a:xfrm>
          <a:prstGeom prst="roundRect">
            <a:avLst>
              <a:gd name="adj" fmla="val 2264"/>
            </a:avLst>
          </a:prstGeom>
          <a:solidFill>
            <a:srgbClr val="F4FAF9"/>
          </a:solidFill>
          <a:ln w="9525">
            <a:solidFill>
              <a:srgbClr val="CFE0DE"/>
            </a:solidFill>
            <a:prstDash val="solid"/>
          </a:ln>
        </p:spPr>
      </p:sp>
      <p:sp>
        <p:nvSpPr>
          <p:cNvPr id="22" name="Text 19"/>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Respiring with oxygen</a:t>
            </a:r>
            <a:endParaRPr lang="en-US" sz="1300" dirty="0"/>
          </a:p>
        </p:txBody>
      </p:sp>
      <p:sp>
        <p:nvSpPr>
          <p:cNvPr id="23" name="Text 20"/>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Aerobic respiration</a:t>
            </a:r>
            <a:r>
              <a:rPr lang="en-US" sz="1100" dirty="0">
                <a:solidFill>
                  <a:srgbClr val="262B3A"/>
                </a:solidFill>
                <a:latin typeface="Calibri" pitchFamily="34" charset="0"/>
                <a:ea typeface="Calibri" pitchFamily="34" charset="-122"/>
                <a:cs typeface="Calibri" pitchFamily="34" charset="-120"/>
              </a:rPr>
              <a:t> needs </a:t>
            </a:r>
            <a:r>
              <a:rPr lang="en-US" sz="1100" b="1" dirty="0">
                <a:solidFill>
                  <a:srgbClr val="262B3A"/>
                </a:solidFill>
                <a:latin typeface="Calibri" pitchFamily="34" charset="0"/>
                <a:ea typeface="Calibri" pitchFamily="34" charset="-122"/>
                <a:cs typeface="Calibri" pitchFamily="34" charset="-120"/>
              </a:rPr>
              <a:t>oxygen</a:t>
            </a:r>
            <a:r>
              <a:rPr lang="en-US" sz="1100" dirty="0">
                <a:solidFill>
                  <a:srgbClr val="262B3A"/>
                </a:solidFill>
                <a:latin typeface="Calibri" pitchFamily="34" charset="0"/>
                <a:ea typeface="Calibri" pitchFamily="34" charset="-122"/>
                <a:cs typeface="Calibri" pitchFamily="34" charset="-120"/>
              </a:rPr>
              <a:t>. It happens when cells have a good supply of oxygen.</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Glucose is broken down </a:t>
            </a:r>
            <a:r>
              <a:rPr lang="en-US" sz="1100" b="1" dirty="0">
                <a:solidFill>
                  <a:srgbClr val="262B3A"/>
                </a:solidFill>
                <a:latin typeface="Calibri" pitchFamily="34" charset="0"/>
                <a:ea typeface="Calibri" pitchFamily="34" charset="-122"/>
                <a:cs typeface="Calibri" pitchFamily="34" charset="-120"/>
              </a:rPr>
              <a:t>completely</a:t>
            </a:r>
            <a:r>
              <a:rPr lang="en-US" sz="1100" dirty="0">
                <a:solidFill>
                  <a:srgbClr val="262B3A"/>
                </a:solidFill>
                <a:latin typeface="Calibri" pitchFamily="34" charset="0"/>
                <a:ea typeface="Calibri" pitchFamily="34" charset="-122"/>
                <a:cs typeface="Calibri" pitchFamily="34" charset="-120"/>
              </a:rPr>
              <a:t> and combined with oxygen to make </a:t>
            </a:r>
            <a:r>
              <a:rPr lang="en-US" sz="1100" b="1" dirty="0">
                <a:solidFill>
                  <a:srgbClr val="262B3A"/>
                </a:solidFill>
                <a:latin typeface="Calibri" pitchFamily="34" charset="0"/>
                <a:ea typeface="Calibri" pitchFamily="34" charset="-122"/>
                <a:cs typeface="Calibri" pitchFamily="34" charset="-120"/>
              </a:rPr>
              <a:t>carbon dioxide</a:t>
            </a:r>
            <a:r>
              <a:rPr lang="en-US" sz="1100" dirty="0">
                <a:solidFill>
                  <a:srgbClr val="262B3A"/>
                </a:solidFill>
                <a:latin typeface="Calibri" pitchFamily="34" charset="0"/>
                <a:ea typeface="Calibri" pitchFamily="34" charset="-122"/>
                <a:cs typeface="Calibri" pitchFamily="34" charset="-120"/>
              </a:rPr>
              <a:t> and </a:t>
            </a:r>
            <a:r>
              <a:rPr lang="en-US" sz="1100" b="1" dirty="0">
                <a:solidFill>
                  <a:srgbClr val="262B3A"/>
                </a:solidFill>
                <a:latin typeface="Calibri" pitchFamily="34" charset="0"/>
                <a:ea typeface="Calibri" pitchFamily="34" charset="-122"/>
                <a:cs typeface="Calibri" pitchFamily="34" charset="-120"/>
              </a:rPr>
              <a:t>water</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It transfers </a:t>
            </a:r>
            <a:r>
              <a:rPr lang="en-US" sz="1100" b="1" dirty="0">
                <a:solidFill>
                  <a:srgbClr val="262B3A"/>
                </a:solidFill>
                <a:latin typeface="Calibri" pitchFamily="34" charset="0"/>
                <a:ea typeface="Calibri" pitchFamily="34" charset="-122"/>
                <a:cs typeface="Calibri" pitchFamily="34" charset="-120"/>
              </a:rPr>
              <a:t>a lot of energy</a:t>
            </a:r>
            <a:r>
              <a:rPr lang="en-US" sz="1100" dirty="0">
                <a:solidFill>
                  <a:srgbClr val="262B3A"/>
                </a:solidFill>
                <a:latin typeface="Calibri" pitchFamily="34" charset="0"/>
                <a:ea typeface="Calibri" pitchFamily="34" charset="-122"/>
                <a:cs typeface="Calibri" pitchFamily="34" charset="-120"/>
              </a:rPr>
              <a:t> to ATP from each glucose molecule.</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It happens in plants, animals, fungi and many microorganisms. In plant and animal cells most of it happens in the </a:t>
            </a:r>
            <a:r>
              <a:rPr lang="en-US" sz="1100" b="1" dirty="0">
                <a:solidFill>
                  <a:srgbClr val="262B3A"/>
                </a:solidFill>
                <a:latin typeface="Calibri" pitchFamily="34" charset="0"/>
                <a:ea typeface="Calibri" pitchFamily="34" charset="-122"/>
                <a:cs typeface="Calibri" pitchFamily="34" charset="-120"/>
              </a:rPr>
              <a:t>mitochondria</a:t>
            </a:r>
            <a:r>
              <a:rPr lang="en-US" sz="1100" dirty="0">
                <a:solidFill>
                  <a:srgbClr val="262B3A"/>
                </a:solidFill>
                <a:latin typeface="Calibri" pitchFamily="34" charset="0"/>
                <a:ea typeface="Calibri" pitchFamily="34" charset="-122"/>
                <a:cs typeface="Calibri" pitchFamily="34" charset="-120"/>
              </a:rPr>
              <a:t>.</a:t>
            </a:r>
            <a:endParaRPr lang="en-US" sz="1100" dirty="0"/>
          </a:p>
        </p:txBody>
      </p:sp>
      <p:sp>
        <p:nvSpPr>
          <p:cNvPr id="24" name="Shape 21"/>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25" name="Text 22"/>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check the balance</a:t>
            </a:r>
            <a:endParaRPr lang="en-US" sz="1300" dirty="0"/>
          </a:p>
        </p:txBody>
      </p:sp>
      <p:sp>
        <p:nvSpPr>
          <p:cNvPr id="26" name="Text 23"/>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Show that C₆H₁₂O₆ + 6O₂ → 6CO₂ + 6H₂O is balanced.</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Carbon   </a:t>
            </a:r>
            <a:r>
              <a:rPr lang="en-US" sz="1050" dirty="0">
                <a:solidFill>
                  <a:srgbClr val="262B3A"/>
                </a:solidFill>
                <a:latin typeface="Calibri" pitchFamily="34" charset="0"/>
                <a:ea typeface="Calibri" pitchFamily="34" charset="-122"/>
                <a:cs typeface="Calibri" pitchFamily="34" charset="-120"/>
              </a:rPr>
              <a:t>6 on the left; 6 × 1 = 6 on the right</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Hydrogen   </a:t>
            </a:r>
            <a:r>
              <a:rPr lang="en-US" sz="1050" dirty="0">
                <a:solidFill>
                  <a:srgbClr val="262B3A"/>
                </a:solidFill>
                <a:latin typeface="Calibri" pitchFamily="34" charset="0"/>
                <a:ea typeface="Calibri" pitchFamily="34" charset="-122"/>
                <a:cs typeface="Calibri" pitchFamily="34" charset="-120"/>
              </a:rPr>
              <a:t>12 on the left; 6 × 2 = 12 on the right</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Oxygen   </a:t>
            </a:r>
            <a:r>
              <a:rPr lang="en-US" sz="1050" dirty="0">
                <a:solidFill>
                  <a:srgbClr val="262B3A"/>
                </a:solidFill>
                <a:latin typeface="Calibri" pitchFamily="34" charset="0"/>
                <a:ea typeface="Calibri" pitchFamily="34" charset="-122"/>
                <a:cs typeface="Calibri" pitchFamily="34" charset="-120"/>
              </a:rPr>
              <a:t>6 + 12 = 18 on the left; 12 + 6 = 18 on the right</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the same number of each atom on both sides: balanced</a:t>
            </a:r>
            <a:endParaRPr lang="en-US" sz="1050" dirty="0"/>
          </a:p>
        </p:txBody>
      </p:sp>
      <p:sp>
        <p:nvSpPr>
          <p:cNvPr id="27" name="Shape 24"/>
          <p:cNvSpPr/>
          <p:nvPr/>
        </p:nvSpPr>
        <p:spPr>
          <a:xfrm>
            <a:off x="411480" y="5833872"/>
            <a:ext cx="11368735" cy="530352"/>
          </a:xfrm>
          <a:prstGeom prst="rect">
            <a:avLst/>
          </a:prstGeom>
          <a:solidFill>
            <a:srgbClr val="FFF4E0"/>
          </a:solidFill>
          <a:ln w="6350">
            <a:solidFill>
              <a:srgbClr val="F1D9A8"/>
            </a:solidFill>
            <a:prstDash val="solid"/>
          </a:ln>
        </p:spPr>
      </p:sp>
      <p:sp>
        <p:nvSpPr>
          <p:cNvPr id="28" name="Shape 25"/>
          <p:cNvSpPr/>
          <p:nvPr/>
        </p:nvSpPr>
        <p:spPr>
          <a:xfrm>
            <a:off x="411480" y="5833872"/>
            <a:ext cx="82296" cy="530352"/>
          </a:xfrm>
          <a:prstGeom prst="rect">
            <a:avLst/>
          </a:prstGeom>
          <a:solidFill>
            <a:srgbClr val="E39A2F"/>
          </a:solidFill>
          <a:ln w="12700">
            <a:solidFill>
              <a:srgbClr val="E39A2F"/>
            </a:solidFill>
            <a:prstDash val="solid"/>
          </a:ln>
        </p:spPr>
      </p:sp>
      <p:sp>
        <p:nvSpPr>
          <p:cNvPr id="29" name="Text 26"/>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How many molecules of oxygen are needed to respire </a:t>
            </a:r>
            <a:r>
              <a:rPr lang="en-US" sz="1150" b="1" dirty="0">
                <a:solidFill>
                  <a:srgbClr val="262B3A"/>
                </a:solidFill>
                <a:latin typeface="Calibri" pitchFamily="34" charset="0"/>
                <a:ea typeface="Calibri" pitchFamily="34" charset="-122"/>
                <a:cs typeface="Calibri" pitchFamily="34" charset="-120"/>
              </a:rPr>
              <a:t>2</a:t>
            </a:r>
            <a:r>
              <a:rPr lang="en-US" sz="1150" dirty="0">
                <a:solidFill>
                  <a:srgbClr val="262B3A"/>
                </a:solidFill>
                <a:latin typeface="Calibri" pitchFamily="34" charset="0"/>
                <a:ea typeface="Calibri" pitchFamily="34" charset="-122"/>
                <a:cs typeface="Calibri" pitchFamily="34" charset="-120"/>
              </a:rPr>
              <a:t> molecules of glucose aerobically? How many molecules of CO₂ are made?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Mitochondria: where aerobic respiration happens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B4.1.3 • mitochondria are found in eukaryotic cells: plants, animals and fungi</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B4.1 What happens during cellular respiration?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B4.1.3  |  9</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cells not to scale; a mitochondrion is about 1–2 µm long</a:t>
            </a:r>
            <a:endParaRPr lang="en-US" sz="1000" dirty="0"/>
          </a:p>
        </p:txBody>
      </p:sp>
      <p:sp>
        <p:nvSpPr>
          <p:cNvPr id="10" name="Text 8"/>
          <p:cNvSpPr/>
          <p:nvPr/>
        </p:nvSpPr>
        <p:spPr>
          <a:xfrm>
            <a:off x="685800" y="1298448"/>
            <a:ext cx="228600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animal cell (e.g. muscle)</a:t>
            </a:r>
            <a:endParaRPr lang="en-US" sz="1050" dirty="0"/>
          </a:p>
        </p:txBody>
      </p:sp>
      <p:sp>
        <p:nvSpPr>
          <p:cNvPr id="11" name="Shape 9"/>
          <p:cNvSpPr/>
          <p:nvPr/>
        </p:nvSpPr>
        <p:spPr>
          <a:xfrm>
            <a:off x="731520" y="1600200"/>
            <a:ext cx="2240280" cy="1463040"/>
          </a:xfrm>
          <a:prstGeom prst="ellipse">
            <a:avLst/>
          </a:prstGeom>
          <a:solidFill>
            <a:srgbClr val="FBF3DF"/>
          </a:solidFill>
          <a:ln w="22225">
            <a:solidFill>
              <a:srgbClr val="8A6D3B"/>
            </a:solidFill>
            <a:prstDash val="solid"/>
          </a:ln>
        </p:spPr>
      </p:sp>
      <p:sp>
        <p:nvSpPr>
          <p:cNvPr id="12" name="Shape 10"/>
          <p:cNvSpPr/>
          <p:nvPr/>
        </p:nvSpPr>
        <p:spPr>
          <a:xfrm>
            <a:off x="1365199" y="2024482"/>
            <a:ext cx="614477" cy="614477"/>
          </a:xfrm>
          <a:prstGeom prst="ellipse">
            <a:avLst/>
          </a:prstGeom>
          <a:solidFill>
            <a:srgbClr val="C9B6E4"/>
          </a:solidFill>
          <a:ln w="15875">
            <a:solidFill>
              <a:srgbClr val="6A4C93"/>
            </a:solidFill>
            <a:prstDash val="solid"/>
          </a:ln>
        </p:spPr>
      </p:sp>
      <p:sp>
        <p:nvSpPr>
          <p:cNvPr id="13" name="Shape 11"/>
          <p:cNvSpPr/>
          <p:nvPr/>
        </p:nvSpPr>
        <p:spPr>
          <a:xfrm>
            <a:off x="1580266" y="2239548"/>
            <a:ext cx="184343" cy="184343"/>
          </a:xfrm>
          <a:prstGeom prst="ellipse">
            <a:avLst/>
          </a:prstGeom>
          <a:solidFill>
            <a:srgbClr val="6A4C93">
              <a:alpha val="60000"/>
            </a:srgbClr>
          </a:solidFill>
          <a:ln/>
        </p:spPr>
      </p:sp>
      <p:sp>
        <p:nvSpPr>
          <p:cNvPr id="14" name="Shape 12"/>
          <p:cNvSpPr/>
          <p:nvPr/>
        </p:nvSpPr>
        <p:spPr>
          <a:xfrm rot="1800000">
            <a:off x="2138782" y="1929384"/>
            <a:ext cx="321869" cy="160934"/>
          </a:xfrm>
          <a:prstGeom prst="ellipse">
            <a:avLst/>
          </a:prstGeom>
          <a:solidFill>
            <a:srgbClr val="F2B279"/>
          </a:solidFill>
          <a:ln w="15875">
            <a:solidFill>
              <a:srgbClr val="A4561C"/>
            </a:solidFill>
            <a:prstDash val="solid"/>
          </a:ln>
        </p:spPr>
      </p:sp>
      <p:sp>
        <p:nvSpPr>
          <p:cNvPr id="15" name="Shape 13"/>
          <p:cNvSpPr/>
          <p:nvPr/>
        </p:nvSpPr>
        <p:spPr>
          <a:xfrm flipH="1">
            <a:off x="2218831" y="1924471"/>
            <a:ext cx="3814" cy="79563"/>
          </a:xfrm>
          <a:prstGeom prst="line">
            <a:avLst/>
          </a:prstGeom>
          <a:noFill/>
          <a:ln w="9525">
            <a:solidFill>
              <a:srgbClr val="A4561C"/>
            </a:solidFill>
            <a:prstDash val="solid"/>
          </a:ln>
        </p:spPr>
      </p:sp>
      <p:sp>
        <p:nvSpPr>
          <p:cNvPr id="16" name="Shape 14"/>
          <p:cNvSpPr/>
          <p:nvPr/>
        </p:nvSpPr>
        <p:spPr>
          <a:xfrm flipV="1">
            <a:off x="2218831" y="1960950"/>
            <a:ext cx="66997" cy="43085"/>
          </a:xfrm>
          <a:prstGeom prst="line">
            <a:avLst/>
          </a:prstGeom>
          <a:noFill/>
          <a:ln w="9525">
            <a:solidFill>
              <a:srgbClr val="A4561C"/>
            </a:solidFill>
            <a:prstDash val="solid"/>
          </a:ln>
        </p:spPr>
      </p:sp>
      <p:sp>
        <p:nvSpPr>
          <p:cNvPr id="17" name="Shape 15"/>
          <p:cNvSpPr/>
          <p:nvPr/>
        </p:nvSpPr>
        <p:spPr>
          <a:xfrm flipH="1">
            <a:off x="2282013" y="1960950"/>
            <a:ext cx="3814" cy="79563"/>
          </a:xfrm>
          <a:prstGeom prst="line">
            <a:avLst/>
          </a:prstGeom>
          <a:noFill/>
          <a:ln w="9525">
            <a:solidFill>
              <a:srgbClr val="A4561C"/>
            </a:solidFill>
            <a:prstDash val="solid"/>
          </a:ln>
        </p:spPr>
      </p:sp>
      <p:sp>
        <p:nvSpPr>
          <p:cNvPr id="18" name="Shape 16"/>
          <p:cNvSpPr/>
          <p:nvPr/>
        </p:nvSpPr>
        <p:spPr>
          <a:xfrm flipV="1">
            <a:off x="2282013" y="1997428"/>
            <a:ext cx="66997" cy="43085"/>
          </a:xfrm>
          <a:prstGeom prst="line">
            <a:avLst/>
          </a:prstGeom>
          <a:noFill/>
          <a:ln w="9525">
            <a:solidFill>
              <a:srgbClr val="A4561C"/>
            </a:solidFill>
            <a:prstDash val="solid"/>
          </a:ln>
        </p:spPr>
      </p:sp>
      <p:sp>
        <p:nvSpPr>
          <p:cNvPr id="19" name="Shape 17"/>
          <p:cNvSpPr/>
          <p:nvPr/>
        </p:nvSpPr>
        <p:spPr>
          <a:xfrm flipH="1">
            <a:off x="2345196" y="1997428"/>
            <a:ext cx="3814" cy="79563"/>
          </a:xfrm>
          <a:prstGeom prst="line">
            <a:avLst/>
          </a:prstGeom>
          <a:noFill/>
          <a:ln w="9525">
            <a:solidFill>
              <a:srgbClr val="A4561C"/>
            </a:solidFill>
            <a:prstDash val="solid"/>
          </a:ln>
        </p:spPr>
      </p:sp>
      <p:sp>
        <p:nvSpPr>
          <p:cNvPr id="20" name="Shape 18"/>
          <p:cNvSpPr/>
          <p:nvPr/>
        </p:nvSpPr>
        <p:spPr>
          <a:xfrm flipV="1">
            <a:off x="2345196" y="2033907"/>
            <a:ext cx="66997" cy="43085"/>
          </a:xfrm>
          <a:prstGeom prst="line">
            <a:avLst/>
          </a:prstGeom>
          <a:noFill/>
          <a:ln w="9525">
            <a:solidFill>
              <a:srgbClr val="A4561C"/>
            </a:solidFill>
            <a:prstDash val="solid"/>
          </a:ln>
        </p:spPr>
      </p:sp>
      <p:sp>
        <p:nvSpPr>
          <p:cNvPr id="21" name="Shape 19"/>
          <p:cNvSpPr/>
          <p:nvPr/>
        </p:nvSpPr>
        <p:spPr>
          <a:xfrm rot="-1200000">
            <a:off x="2362810" y="2397557"/>
            <a:ext cx="321869" cy="160934"/>
          </a:xfrm>
          <a:prstGeom prst="ellipse">
            <a:avLst/>
          </a:prstGeom>
          <a:solidFill>
            <a:srgbClr val="F2B279"/>
          </a:solidFill>
          <a:ln w="15875">
            <a:solidFill>
              <a:srgbClr val="A4561C"/>
            </a:solidFill>
            <a:prstDash val="solid"/>
          </a:ln>
        </p:spPr>
      </p:sp>
      <p:sp>
        <p:nvSpPr>
          <p:cNvPr id="22" name="Shape 20"/>
          <p:cNvSpPr/>
          <p:nvPr/>
        </p:nvSpPr>
        <p:spPr>
          <a:xfrm>
            <a:off x="2408799" y="2482183"/>
            <a:ext cx="58497" cy="54064"/>
          </a:xfrm>
          <a:prstGeom prst="line">
            <a:avLst/>
          </a:prstGeom>
          <a:noFill/>
          <a:ln w="9525">
            <a:solidFill>
              <a:srgbClr val="A4561C"/>
            </a:solidFill>
            <a:prstDash val="solid"/>
          </a:ln>
        </p:spPr>
      </p:sp>
      <p:sp>
        <p:nvSpPr>
          <p:cNvPr id="23" name="Shape 21"/>
          <p:cNvSpPr/>
          <p:nvPr/>
        </p:nvSpPr>
        <p:spPr>
          <a:xfrm flipV="1">
            <a:off x="2467296" y="2457230"/>
            <a:ext cx="10060" cy="79017"/>
          </a:xfrm>
          <a:prstGeom prst="line">
            <a:avLst/>
          </a:prstGeom>
          <a:noFill/>
          <a:ln w="9525">
            <a:solidFill>
              <a:srgbClr val="A4561C"/>
            </a:solidFill>
            <a:prstDash val="solid"/>
          </a:ln>
        </p:spPr>
      </p:sp>
      <p:sp>
        <p:nvSpPr>
          <p:cNvPr id="24" name="Shape 22"/>
          <p:cNvSpPr/>
          <p:nvPr/>
        </p:nvSpPr>
        <p:spPr>
          <a:xfrm>
            <a:off x="2477356" y="2457230"/>
            <a:ext cx="58497" cy="54064"/>
          </a:xfrm>
          <a:prstGeom prst="line">
            <a:avLst/>
          </a:prstGeom>
          <a:noFill/>
          <a:ln w="9525">
            <a:solidFill>
              <a:srgbClr val="A4561C"/>
            </a:solidFill>
            <a:prstDash val="solid"/>
          </a:ln>
        </p:spPr>
      </p:sp>
      <p:sp>
        <p:nvSpPr>
          <p:cNvPr id="25" name="Shape 23"/>
          <p:cNvSpPr/>
          <p:nvPr/>
        </p:nvSpPr>
        <p:spPr>
          <a:xfrm flipV="1">
            <a:off x="2535853" y="2432277"/>
            <a:ext cx="10060" cy="79017"/>
          </a:xfrm>
          <a:prstGeom prst="line">
            <a:avLst/>
          </a:prstGeom>
          <a:noFill/>
          <a:ln w="9525">
            <a:solidFill>
              <a:srgbClr val="A4561C"/>
            </a:solidFill>
            <a:prstDash val="solid"/>
          </a:ln>
        </p:spPr>
      </p:sp>
      <p:sp>
        <p:nvSpPr>
          <p:cNvPr id="26" name="Shape 24"/>
          <p:cNvSpPr/>
          <p:nvPr/>
        </p:nvSpPr>
        <p:spPr>
          <a:xfrm>
            <a:off x="2545913" y="2432277"/>
            <a:ext cx="58497" cy="54064"/>
          </a:xfrm>
          <a:prstGeom prst="line">
            <a:avLst/>
          </a:prstGeom>
          <a:noFill/>
          <a:ln w="9525">
            <a:solidFill>
              <a:srgbClr val="A4561C"/>
            </a:solidFill>
            <a:prstDash val="solid"/>
          </a:ln>
        </p:spPr>
      </p:sp>
      <p:sp>
        <p:nvSpPr>
          <p:cNvPr id="27" name="Shape 25"/>
          <p:cNvSpPr/>
          <p:nvPr/>
        </p:nvSpPr>
        <p:spPr>
          <a:xfrm flipV="1">
            <a:off x="2604411" y="2407325"/>
            <a:ext cx="10060" cy="79017"/>
          </a:xfrm>
          <a:prstGeom prst="line">
            <a:avLst/>
          </a:prstGeom>
          <a:noFill/>
          <a:ln w="9525">
            <a:solidFill>
              <a:srgbClr val="A4561C"/>
            </a:solidFill>
            <a:prstDash val="solid"/>
          </a:ln>
        </p:spPr>
      </p:sp>
      <p:sp>
        <p:nvSpPr>
          <p:cNvPr id="28" name="Shape 26"/>
          <p:cNvSpPr/>
          <p:nvPr/>
        </p:nvSpPr>
        <p:spPr>
          <a:xfrm rot="600000">
            <a:off x="1735531" y="2719426"/>
            <a:ext cx="321869" cy="160934"/>
          </a:xfrm>
          <a:prstGeom prst="ellipse">
            <a:avLst/>
          </a:prstGeom>
          <a:solidFill>
            <a:srgbClr val="F2B279"/>
          </a:solidFill>
          <a:ln w="15875">
            <a:solidFill>
              <a:srgbClr val="A4561C"/>
            </a:solidFill>
            <a:prstDash val="solid"/>
          </a:ln>
        </p:spPr>
      </p:sp>
      <p:sp>
        <p:nvSpPr>
          <p:cNvPr id="29" name="Shape 27"/>
          <p:cNvSpPr/>
          <p:nvPr/>
        </p:nvSpPr>
        <p:spPr>
          <a:xfrm>
            <a:off x="1794841" y="2746022"/>
            <a:ext cx="23628" cy="76070"/>
          </a:xfrm>
          <a:prstGeom prst="line">
            <a:avLst/>
          </a:prstGeom>
          <a:noFill/>
          <a:ln w="9525">
            <a:solidFill>
              <a:srgbClr val="A4561C"/>
            </a:solidFill>
            <a:prstDash val="solid"/>
          </a:ln>
        </p:spPr>
      </p:sp>
      <p:sp>
        <p:nvSpPr>
          <p:cNvPr id="30" name="Shape 28"/>
          <p:cNvSpPr/>
          <p:nvPr/>
        </p:nvSpPr>
        <p:spPr>
          <a:xfrm flipV="1">
            <a:off x="1818469" y="2758691"/>
            <a:ext cx="48220" cy="63401"/>
          </a:xfrm>
          <a:prstGeom prst="line">
            <a:avLst/>
          </a:prstGeom>
          <a:noFill/>
          <a:ln w="9525">
            <a:solidFill>
              <a:srgbClr val="A4561C"/>
            </a:solidFill>
            <a:prstDash val="solid"/>
          </a:ln>
        </p:spPr>
      </p:sp>
      <p:sp>
        <p:nvSpPr>
          <p:cNvPr id="31" name="Shape 29"/>
          <p:cNvSpPr/>
          <p:nvPr/>
        </p:nvSpPr>
        <p:spPr>
          <a:xfrm>
            <a:off x="1866689" y="2758691"/>
            <a:ext cx="23628" cy="76070"/>
          </a:xfrm>
          <a:prstGeom prst="line">
            <a:avLst/>
          </a:prstGeom>
          <a:noFill/>
          <a:ln w="9525">
            <a:solidFill>
              <a:srgbClr val="A4561C"/>
            </a:solidFill>
            <a:prstDash val="solid"/>
          </a:ln>
        </p:spPr>
      </p:sp>
      <p:sp>
        <p:nvSpPr>
          <p:cNvPr id="32" name="Shape 30"/>
          <p:cNvSpPr/>
          <p:nvPr/>
        </p:nvSpPr>
        <p:spPr>
          <a:xfrm flipV="1">
            <a:off x="1890317" y="2771360"/>
            <a:ext cx="48220" cy="63401"/>
          </a:xfrm>
          <a:prstGeom prst="line">
            <a:avLst/>
          </a:prstGeom>
          <a:noFill/>
          <a:ln w="9525">
            <a:solidFill>
              <a:srgbClr val="A4561C"/>
            </a:solidFill>
            <a:prstDash val="solid"/>
          </a:ln>
        </p:spPr>
      </p:sp>
      <p:sp>
        <p:nvSpPr>
          <p:cNvPr id="33" name="Shape 31"/>
          <p:cNvSpPr/>
          <p:nvPr/>
        </p:nvSpPr>
        <p:spPr>
          <a:xfrm>
            <a:off x="1938538" y="2771360"/>
            <a:ext cx="23628" cy="76070"/>
          </a:xfrm>
          <a:prstGeom prst="line">
            <a:avLst/>
          </a:prstGeom>
          <a:noFill/>
          <a:ln w="9525">
            <a:solidFill>
              <a:srgbClr val="A4561C"/>
            </a:solidFill>
            <a:prstDash val="solid"/>
          </a:ln>
        </p:spPr>
      </p:sp>
      <p:sp>
        <p:nvSpPr>
          <p:cNvPr id="34" name="Shape 32"/>
          <p:cNvSpPr/>
          <p:nvPr/>
        </p:nvSpPr>
        <p:spPr>
          <a:xfrm flipV="1">
            <a:off x="1962166" y="2784028"/>
            <a:ext cx="48220" cy="63401"/>
          </a:xfrm>
          <a:prstGeom prst="line">
            <a:avLst/>
          </a:prstGeom>
          <a:noFill/>
          <a:ln w="9525">
            <a:solidFill>
              <a:srgbClr val="A4561C"/>
            </a:solidFill>
            <a:prstDash val="solid"/>
          </a:ln>
        </p:spPr>
      </p:sp>
      <p:sp>
        <p:nvSpPr>
          <p:cNvPr id="35" name="Shape 33"/>
          <p:cNvSpPr/>
          <p:nvPr/>
        </p:nvSpPr>
        <p:spPr>
          <a:xfrm rot="-2100000">
            <a:off x="1108253" y="1870862"/>
            <a:ext cx="321869" cy="160934"/>
          </a:xfrm>
          <a:prstGeom prst="ellipse">
            <a:avLst/>
          </a:prstGeom>
          <a:solidFill>
            <a:srgbClr val="F2B279"/>
          </a:solidFill>
          <a:ln w="15875">
            <a:solidFill>
              <a:srgbClr val="A4561C"/>
            </a:solidFill>
            <a:prstDash val="solid"/>
          </a:ln>
        </p:spPr>
      </p:sp>
      <p:sp>
        <p:nvSpPr>
          <p:cNvPr id="36" name="Shape 34"/>
          <p:cNvSpPr/>
          <p:nvPr/>
        </p:nvSpPr>
        <p:spPr>
          <a:xfrm>
            <a:off x="1159235" y="1985097"/>
            <a:ext cx="70497" cy="37082"/>
          </a:xfrm>
          <a:prstGeom prst="line">
            <a:avLst/>
          </a:prstGeom>
          <a:noFill/>
          <a:ln w="9525">
            <a:solidFill>
              <a:srgbClr val="A4561C"/>
            </a:solidFill>
            <a:prstDash val="solid"/>
          </a:ln>
        </p:spPr>
      </p:sp>
      <p:sp>
        <p:nvSpPr>
          <p:cNvPr id="37" name="Shape 35"/>
          <p:cNvSpPr/>
          <p:nvPr/>
        </p:nvSpPr>
        <p:spPr>
          <a:xfrm flipH="1" flipV="1">
            <a:off x="1218998" y="1943250"/>
            <a:ext cx="10734" cy="78928"/>
          </a:xfrm>
          <a:prstGeom prst="line">
            <a:avLst/>
          </a:prstGeom>
          <a:noFill/>
          <a:ln w="9525">
            <a:solidFill>
              <a:srgbClr val="A4561C"/>
            </a:solidFill>
            <a:prstDash val="solid"/>
          </a:ln>
        </p:spPr>
      </p:sp>
      <p:sp>
        <p:nvSpPr>
          <p:cNvPr id="38" name="Shape 36"/>
          <p:cNvSpPr/>
          <p:nvPr/>
        </p:nvSpPr>
        <p:spPr>
          <a:xfrm>
            <a:off x="1218998" y="1943250"/>
            <a:ext cx="70497" cy="37082"/>
          </a:xfrm>
          <a:prstGeom prst="line">
            <a:avLst/>
          </a:prstGeom>
          <a:noFill/>
          <a:ln w="9525">
            <a:solidFill>
              <a:srgbClr val="A4561C"/>
            </a:solidFill>
            <a:prstDash val="solid"/>
          </a:ln>
        </p:spPr>
      </p:sp>
      <p:sp>
        <p:nvSpPr>
          <p:cNvPr id="39" name="Shape 37"/>
          <p:cNvSpPr/>
          <p:nvPr/>
        </p:nvSpPr>
        <p:spPr>
          <a:xfrm flipH="1" flipV="1">
            <a:off x="1278761" y="1901404"/>
            <a:ext cx="10734" cy="78928"/>
          </a:xfrm>
          <a:prstGeom prst="line">
            <a:avLst/>
          </a:prstGeom>
          <a:noFill/>
          <a:ln w="9525">
            <a:solidFill>
              <a:srgbClr val="A4561C"/>
            </a:solidFill>
            <a:prstDash val="solid"/>
          </a:ln>
        </p:spPr>
      </p:sp>
      <p:sp>
        <p:nvSpPr>
          <p:cNvPr id="40" name="Shape 38"/>
          <p:cNvSpPr/>
          <p:nvPr/>
        </p:nvSpPr>
        <p:spPr>
          <a:xfrm>
            <a:off x="1278761" y="1901404"/>
            <a:ext cx="70497" cy="37082"/>
          </a:xfrm>
          <a:prstGeom prst="line">
            <a:avLst/>
          </a:prstGeom>
          <a:noFill/>
          <a:ln w="9525">
            <a:solidFill>
              <a:srgbClr val="A4561C"/>
            </a:solidFill>
            <a:prstDash val="solid"/>
          </a:ln>
        </p:spPr>
      </p:sp>
      <p:sp>
        <p:nvSpPr>
          <p:cNvPr id="41" name="Shape 39"/>
          <p:cNvSpPr/>
          <p:nvPr/>
        </p:nvSpPr>
        <p:spPr>
          <a:xfrm flipH="1" flipV="1">
            <a:off x="1338524" y="1859557"/>
            <a:ext cx="10734" cy="78928"/>
          </a:xfrm>
          <a:prstGeom prst="line">
            <a:avLst/>
          </a:prstGeom>
          <a:noFill/>
          <a:ln w="9525">
            <a:solidFill>
              <a:srgbClr val="A4561C"/>
            </a:solidFill>
            <a:prstDash val="solid"/>
          </a:ln>
        </p:spPr>
      </p:sp>
      <p:sp>
        <p:nvSpPr>
          <p:cNvPr id="42" name="Shape 40"/>
          <p:cNvSpPr/>
          <p:nvPr/>
        </p:nvSpPr>
        <p:spPr>
          <a:xfrm rot="2400000">
            <a:off x="1018642" y="2514600"/>
            <a:ext cx="321869" cy="160934"/>
          </a:xfrm>
          <a:prstGeom prst="ellipse">
            <a:avLst/>
          </a:prstGeom>
          <a:solidFill>
            <a:srgbClr val="F2B279"/>
          </a:solidFill>
          <a:ln w="15875">
            <a:solidFill>
              <a:srgbClr val="A4561C"/>
            </a:solidFill>
            <a:prstDash val="solid"/>
          </a:ln>
        </p:spPr>
      </p:sp>
      <p:sp>
        <p:nvSpPr>
          <p:cNvPr id="43" name="Shape 41"/>
          <p:cNvSpPr/>
          <p:nvPr/>
        </p:nvSpPr>
        <p:spPr>
          <a:xfrm flipH="1">
            <a:off x="1100929" y="2497601"/>
            <a:ext cx="17572" cy="77692"/>
          </a:xfrm>
          <a:prstGeom prst="line">
            <a:avLst/>
          </a:prstGeom>
          <a:noFill/>
          <a:ln w="9525">
            <a:solidFill>
              <a:srgbClr val="A4561C"/>
            </a:solidFill>
            <a:prstDash val="solid"/>
          </a:ln>
        </p:spPr>
      </p:sp>
      <p:sp>
        <p:nvSpPr>
          <p:cNvPr id="44" name="Shape 42"/>
          <p:cNvSpPr/>
          <p:nvPr/>
        </p:nvSpPr>
        <p:spPr>
          <a:xfrm flipV="1">
            <a:off x="1100929" y="2544497"/>
            <a:ext cx="73461" cy="30797"/>
          </a:xfrm>
          <a:prstGeom prst="line">
            <a:avLst/>
          </a:prstGeom>
          <a:noFill/>
          <a:ln w="9525">
            <a:solidFill>
              <a:srgbClr val="A4561C"/>
            </a:solidFill>
            <a:prstDash val="solid"/>
          </a:ln>
        </p:spPr>
      </p:sp>
      <p:sp>
        <p:nvSpPr>
          <p:cNvPr id="45" name="Shape 43"/>
          <p:cNvSpPr/>
          <p:nvPr/>
        </p:nvSpPr>
        <p:spPr>
          <a:xfrm flipH="1">
            <a:off x="1156818" y="2544497"/>
            <a:ext cx="17572" cy="77692"/>
          </a:xfrm>
          <a:prstGeom prst="line">
            <a:avLst/>
          </a:prstGeom>
          <a:noFill/>
          <a:ln w="9525">
            <a:solidFill>
              <a:srgbClr val="A4561C"/>
            </a:solidFill>
            <a:prstDash val="solid"/>
          </a:ln>
        </p:spPr>
      </p:sp>
      <p:sp>
        <p:nvSpPr>
          <p:cNvPr id="46" name="Shape 44"/>
          <p:cNvSpPr/>
          <p:nvPr/>
        </p:nvSpPr>
        <p:spPr>
          <a:xfrm flipV="1">
            <a:off x="1156818" y="2591393"/>
            <a:ext cx="73461" cy="30797"/>
          </a:xfrm>
          <a:prstGeom prst="line">
            <a:avLst/>
          </a:prstGeom>
          <a:noFill/>
          <a:ln w="9525">
            <a:solidFill>
              <a:srgbClr val="A4561C"/>
            </a:solidFill>
            <a:prstDash val="solid"/>
          </a:ln>
        </p:spPr>
      </p:sp>
      <p:sp>
        <p:nvSpPr>
          <p:cNvPr id="47" name="Shape 45"/>
          <p:cNvSpPr/>
          <p:nvPr/>
        </p:nvSpPr>
        <p:spPr>
          <a:xfrm flipH="1">
            <a:off x="1212706" y="2591393"/>
            <a:ext cx="17572" cy="77692"/>
          </a:xfrm>
          <a:prstGeom prst="line">
            <a:avLst/>
          </a:prstGeom>
          <a:noFill/>
          <a:ln w="9525">
            <a:solidFill>
              <a:srgbClr val="A4561C"/>
            </a:solidFill>
            <a:prstDash val="solid"/>
          </a:ln>
        </p:spPr>
      </p:sp>
      <p:sp>
        <p:nvSpPr>
          <p:cNvPr id="48" name="Shape 46"/>
          <p:cNvSpPr/>
          <p:nvPr/>
        </p:nvSpPr>
        <p:spPr>
          <a:xfrm flipV="1">
            <a:off x="1212706" y="2638289"/>
            <a:ext cx="73461" cy="30797"/>
          </a:xfrm>
          <a:prstGeom prst="line">
            <a:avLst/>
          </a:prstGeom>
          <a:noFill/>
          <a:ln w="9525">
            <a:solidFill>
              <a:srgbClr val="A4561C"/>
            </a:solidFill>
            <a:prstDash val="solid"/>
          </a:ln>
        </p:spPr>
      </p:sp>
      <p:sp>
        <p:nvSpPr>
          <p:cNvPr id="49" name="Text 47"/>
          <p:cNvSpPr/>
          <p:nvPr/>
        </p:nvSpPr>
        <p:spPr>
          <a:xfrm>
            <a:off x="3429000" y="1298448"/>
            <a:ext cx="228600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plant cell (e.g. leaf)</a:t>
            </a:r>
            <a:endParaRPr lang="en-US" sz="1050" dirty="0"/>
          </a:p>
        </p:txBody>
      </p:sp>
      <p:sp>
        <p:nvSpPr>
          <p:cNvPr id="50" name="Shape 48"/>
          <p:cNvSpPr/>
          <p:nvPr/>
        </p:nvSpPr>
        <p:spPr>
          <a:xfrm>
            <a:off x="3474720" y="1572768"/>
            <a:ext cx="2240280" cy="1536192"/>
          </a:xfrm>
          <a:prstGeom prst="roundRect">
            <a:avLst>
              <a:gd name="adj" fmla="val 4762"/>
            </a:avLst>
          </a:prstGeom>
          <a:solidFill>
            <a:srgbClr val="E4F1D8"/>
          </a:solidFill>
          <a:ln w="38100">
            <a:solidFill>
              <a:srgbClr val="5E9E4A"/>
            </a:solidFill>
            <a:prstDash val="solid"/>
          </a:ln>
        </p:spPr>
      </p:sp>
      <p:sp>
        <p:nvSpPr>
          <p:cNvPr id="51" name="Shape 49"/>
          <p:cNvSpPr/>
          <p:nvPr/>
        </p:nvSpPr>
        <p:spPr>
          <a:xfrm>
            <a:off x="3538728" y="1636776"/>
            <a:ext cx="2112264" cy="1408176"/>
          </a:xfrm>
          <a:prstGeom prst="roundRect">
            <a:avLst>
              <a:gd name="adj" fmla="val 3896"/>
            </a:avLst>
          </a:prstGeom>
          <a:solidFill>
            <a:srgbClr val="FBF3DF"/>
          </a:solidFill>
          <a:ln w="12700">
            <a:solidFill>
              <a:srgbClr val="8A6D3B"/>
            </a:solidFill>
            <a:prstDash val="solid"/>
          </a:ln>
        </p:spPr>
      </p:sp>
      <p:sp>
        <p:nvSpPr>
          <p:cNvPr id="52" name="Shape 50"/>
          <p:cNvSpPr/>
          <p:nvPr/>
        </p:nvSpPr>
        <p:spPr>
          <a:xfrm>
            <a:off x="3922776" y="1910730"/>
            <a:ext cx="1344168" cy="860268"/>
          </a:xfrm>
          <a:prstGeom prst="roundRect">
            <a:avLst>
              <a:gd name="adj" fmla="val 12755"/>
            </a:avLst>
          </a:prstGeom>
          <a:solidFill>
            <a:srgbClr val="DDEFF7"/>
          </a:solidFill>
          <a:ln w="12700">
            <a:solidFill>
              <a:srgbClr val="7FA9C4"/>
            </a:solidFill>
            <a:prstDash val="solid"/>
          </a:ln>
        </p:spPr>
      </p:sp>
      <p:sp>
        <p:nvSpPr>
          <p:cNvPr id="53" name="Shape 51"/>
          <p:cNvSpPr/>
          <p:nvPr/>
        </p:nvSpPr>
        <p:spPr>
          <a:xfrm>
            <a:off x="5097963" y="2663464"/>
            <a:ext cx="337962" cy="337962"/>
          </a:xfrm>
          <a:prstGeom prst="ellipse">
            <a:avLst/>
          </a:prstGeom>
          <a:solidFill>
            <a:srgbClr val="C9B6E4"/>
          </a:solidFill>
          <a:ln w="15875">
            <a:solidFill>
              <a:srgbClr val="6A4C93"/>
            </a:solidFill>
            <a:prstDash val="solid"/>
          </a:ln>
        </p:spPr>
      </p:sp>
      <p:sp>
        <p:nvSpPr>
          <p:cNvPr id="54" name="Shape 52"/>
          <p:cNvSpPr/>
          <p:nvPr/>
        </p:nvSpPr>
        <p:spPr>
          <a:xfrm>
            <a:off x="3635380" y="1731380"/>
            <a:ext cx="261153" cy="143634"/>
          </a:xfrm>
          <a:prstGeom prst="ellipse">
            <a:avLst/>
          </a:prstGeom>
          <a:solidFill>
            <a:srgbClr val="7DBE6A"/>
          </a:solidFill>
          <a:ln w="12700">
            <a:solidFill>
              <a:srgbClr val="3E7F2E"/>
            </a:solidFill>
            <a:prstDash val="solid"/>
          </a:ln>
        </p:spPr>
      </p:sp>
      <p:sp>
        <p:nvSpPr>
          <p:cNvPr id="55" name="Shape 53"/>
          <p:cNvSpPr/>
          <p:nvPr/>
        </p:nvSpPr>
        <p:spPr>
          <a:xfrm>
            <a:off x="3698057" y="1777343"/>
            <a:ext cx="91" cy="51708"/>
          </a:xfrm>
          <a:prstGeom prst="line">
            <a:avLst/>
          </a:prstGeom>
          <a:noFill/>
          <a:ln w="19050">
            <a:solidFill>
              <a:srgbClr val="3E7F2E"/>
            </a:solidFill>
            <a:prstDash val="solid"/>
          </a:ln>
        </p:spPr>
      </p:sp>
      <p:sp>
        <p:nvSpPr>
          <p:cNvPr id="56" name="Shape 54"/>
          <p:cNvSpPr/>
          <p:nvPr/>
        </p:nvSpPr>
        <p:spPr>
          <a:xfrm>
            <a:off x="3750287" y="1777343"/>
            <a:ext cx="91" cy="51708"/>
          </a:xfrm>
          <a:prstGeom prst="line">
            <a:avLst/>
          </a:prstGeom>
          <a:noFill/>
          <a:ln w="19050">
            <a:solidFill>
              <a:srgbClr val="3E7F2E"/>
            </a:solidFill>
            <a:prstDash val="solid"/>
          </a:ln>
        </p:spPr>
      </p:sp>
      <p:sp>
        <p:nvSpPr>
          <p:cNvPr id="57" name="Shape 55"/>
          <p:cNvSpPr/>
          <p:nvPr/>
        </p:nvSpPr>
        <p:spPr>
          <a:xfrm>
            <a:off x="3802518" y="1777343"/>
            <a:ext cx="91" cy="51708"/>
          </a:xfrm>
          <a:prstGeom prst="line">
            <a:avLst/>
          </a:prstGeom>
          <a:noFill/>
          <a:ln w="19050">
            <a:solidFill>
              <a:srgbClr val="3E7F2E"/>
            </a:solidFill>
            <a:prstDash val="solid"/>
          </a:ln>
        </p:spPr>
      </p:sp>
      <p:sp>
        <p:nvSpPr>
          <p:cNvPr id="58" name="Shape 56"/>
          <p:cNvSpPr/>
          <p:nvPr/>
        </p:nvSpPr>
        <p:spPr>
          <a:xfrm>
            <a:off x="4464284" y="1654570"/>
            <a:ext cx="261153" cy="143634"/>
          </a:xfrm>
          <a:prstGeom prst="ellipse">
            <a:avLst/>
          </a:prstGeom>
          <a:solidFill>
            <a:srgbClr val="7DBE6A"/>
          </a:solidFill>
          <a:ln w="12700">
            <a:solidFill>
              <a:srgbClr val="3E7F2E"/>
            </a:solidFill>
            <a:prstDash val="solid"/>
          </a:ln>
        </p:spPr>
      </p:sp>
      <p:sp>
        <p:nvSpPr>
          <p:cNvPr id="59" name="Shape 57"/>
          <p:cNvSpPr/>
          <p:nvPr/>
        </p:nvSpPr>
        <p:spPr>
          <a:xfrm>
            <a:off x="4526960" y="1700533"/>
            <a:ext cx="91" cy="51708"/>
          </a:xfrm>
          <a:prstGeom prst="line">
            <a:avLst/>
          </a:prstGeom>
          <a:noFill/>
          <a:ln w="19050">
            <a:solidFill>
              <a:srgbClr val="3E7F2E"/>
            </a:solidFill>
            <a:prstDash val="solid"/>
          </a:ln>
        </p:spPr>
      </p:sp>
      <p:sp>
        <p:nvSpPr>
          <p:cNvPr id="60" name="Shape 58"/>
          <p:cNvSpPr/>
          <p:nvPr/>
        </p:nvSpPr>
        <p:spPr>
          <a:xfrm>
            <a:off x="4579191" y="1700533"/>
            <a:ext cx="91" cy="51708"/>
          </a:xfrm>
          <a:prstGeom prst="line">
            <a:avLst/>
          </a:prstGeom>
          <a:noFill/>
          <a:ln w="19050">
            <a:solidFill>
              <a:srgbClr val="3E7F2E"/>
            </a:solidFill>
            <a:prstDash val="solid"/>
          </a:ln>
        </p:spPr>
      </p:sp>
      <p:sp>
        <p:nvSpPr>
          <p:cNvPr id="61" name="Shape 59"/>
          <p:cNvSpPr/>
          <p:nvPr/>
        </p:nvSpPr>
        <p:spPr>
          <a:xfrm>
            <a:off x="4631421" y="1700533"/>
            <a:ext cx="91" cy="51708"/>
          </a:xfrm>
          <a:prstGeom prst="line">
            <a:avLst/>
          </a:prstGeom>
          <a:noFill/>
          <a:ln w="19050">
            <a:solidFill>
              <a:srgbClr val="3E7F2E"/>
            </a:solidFill>
            <a:prstDash val="solid"/>
          </a:ln>
        </p:spPr>
      </p:sp>
      <p:sp>
        <p:nvSpPr>
          <p:cNvPr id="62" name="Shape 60"/>
          <p:cNvSpPr/>
          <p:nvPr/>
        </p:nvSpPr>
        <p:spPr>
          <a:xfrm>
            <a:off x="5293187" y="1808189"/>
            <a:ext cx="261153" cy="143634"/>
          </a:xfrm>
          <a:prstGeom prst="ellipse">
            <a:avLst/>
          </a:prstGeom>
          <a:solidFill>
            <a:srgbClr val="7DBE6A"/>
          </a:solidFill>
          <a:ln w="12700">
            <a:solidFill>
              <a:srgbClr val="3E7F2E"/>
            </a:solidFill>
            <a:prstDash val="solid"/>
          </a:ln>
        </p:spPr>
      </p:sp>
      <p:sp>
        <p:nvSpPr>
          <p:cNvPr id="63" name="Shape 61"/>
          <p:cNvSpPr/>
          <p:nvPr/>
        </p:nvSpPr>
        <p:spPr>
          <a:xfrm>
            <a:off x="5355864" y="1854152"/>
            <a:ext cx="91" cy="51708"/>
          </a:xfrm>
          <a:prstGeom prst="line">
            <a:avLst/>
          </a:prstGeom>
          <a:noFill/>
          <a:ln w="19050">
            <a:solidFill>
              <a:srgbClr val="3E7F2E"/>
            </a:solidFill>
            <a:prstDash val="solid"/>
          </a:ln>
        </p:spPr>
      </p:sp>
      <p:sp>
        <p:nvSpPr>
          <p:cNvPr id="64" name="Shape 62"/>
          <p:cNvSpPr/>
          <p:nvPr/>
        </p:nvSpPr>
        <p:spPr>
          <a:xfrm>
            <a:off x="5408094" y="1854152"/>
            <a:ext cx="91" cy="51708"/>
          </a:xfrm>
          <a:prstGeom prst="line">
            <a:avLst/>
          </a:prstGeom>
          <a:noFill/>
          <a:ln w="19050">
            <a:solidFill>
              <a:srgbClr val="3E7F2E"/>
            </a:solidFill>
            <a:prstDash val="solid"/>
          </a:ln>
        </p:spPr>
      </p:sp>
      <p:sp>
        <p:nvSpPr>
          <p:cNvPr id="65" name="Shape 63"/>
          <p:cNvSpPr/>
          <p:nvPr/>
        </p:nvSpPr>
        <p:spPr>
          <a:xfrm>
            <a:off x="5460325" y="1854152"/>
            <a:ext cx="91" cy="51708"/>
          </a:xfrm>
          <a:prstGeom prst="line">
            <a:avLst/>
          </a:prstGeom>
          <a:noFill/>
          <a:ln w="19050">
            <a:solidFill>
              <a:srgbClr val="3E7F2E"/>
            </a:solidFill>
            <a:prstDash val="solid"/>
          </a:ln>
        </p:spPr>
      </p:sp>
      <p:sp>
        <p:nvSpPr>
          <p:cNvPr id="66" name="Shape 64"/>
          <p:cNvSpPr/>
          <p:nvPr/>
        </p:nvSpPr>
        <p:spPr>
          <a:xfrm>
            <a:off x="3568172" y="2345857"/>
            <a:ext cx="261153" cy="143634"/>
          </a:xfrm>
          <a:prstGeom prst="ellipse">
            <a:avLst/>
          </a:prstGeom>
          <a:solidFill>
            <a:srgbClr val="7DBE6A"/>
          </a:solidFill>
          <a:ln w="12700">
            <a:solidFill>
              <a:srgbClr val="3E7F2E"/>
            </a:solidFill>
            <a:prstDash val="solid"/>
          </a:ln>
        </p:spPr>
      </p:sp>
      <p:sp>
        <p:nvSpPr>
          <p:cNvPr id="67" name="Shape 65"/>
          <p:cNvSpPr/>
          <p:nvPr/>
        </p:nvSpPr>
        <p:spPr>
          <a:xfrm>
            <a:off x="3630848" y="2391819"/>
            <a:ext cx="91" cy="51708"/>
          </a:xfrm>
          <a:prstGeom prst="line">
            <a:avLst/>
          </a:prstGeom>
          <a:noFill/>
          <a:ln w="19050">
            <a:solidFill>
              <a:srgbClr val="3E7F2E"/>
            </a:solidFill>
            <a:prstDash val="solid"/>
          </a:ln>
        </p:spPr>
      </p:sp>
      <p:sp>
        <p:nvSpPr>
          <p:cNvPr id="68" name="Shape 66"/>
          <p:cNvSpPr/>
          <p:nvPr/>
        </p:nvSpPr>
        <p:spPr>
          <a:xfrm>
            <a:off x="3683079" y="2391819"/>
            <a:ext cx="91" cy="51708"/>
          </a:xfrm>
          <a:prstGeom prst="line">
            <a:avLst/>
          </a:prstGeom>
          <a:noFill/>
          <a:ln w="19050">
            <a:solidFill>
              <a:srgbClr val="3E7F2E"/>
            </a:solidFill>
            <a:prstDash val="solid"/>
          </a:ln>
        </p:spPr>
      </p:sp>
      <p:sp>
        <p:nvSpPr>
          <p:cNvPr id="69" name="Shape 67"/>
          <p:cNvSpPr/>
          <p:nvPr/>
        </p:nvSpPr>
        <p:spPr>
          <a:xfrm>
            <a:off x="3735309" y="2391819"/>
            <a:ext cx="91" cy="51708"/>
          </a:xfrm>
          <a:prstGeom prst="line">
            <a:avLst/>
          </a:prstGeom>
          <a:noFill/>
          <a:ln w="19050">
            <a:solidFill>
              <a:srgbClr val="3E7F2E"/>
            </a:solidFill>
            <a:prstDash val="solid"/>
          </a:ln>
        </p:spPr>
      </p:sp>
      <p:sp>
        <p:nvSpPr>
          <p:cNvPr id="70" name="Shape 68"/>
          <p:cNvSpPr/>
          <p:nvPr/>
        </p:nvSpPr>
        <p:spPr>
          <a:xfrm>
            <a:off x="5360396" y="2345857"/>
            <a:ext cx="261153" cy="143634"/>
          </a:xfrm>
          <a:prstGeom prst="ellipse">
            <a:avLst/>
          </a:prstGeom>
          <a:solidFill>
            <a:srgbClr val="7DBE6A"/>
          </a:solidFill>
          <a:ln w="12700">
            <a:solidFill>
              <a:srgbClr val="3E7F2E"/>
            </a:solidFill>
            <a:prstDash val="solid"/>
          </a:ln>
        </p:spPr>
      </p:sp>
      <p:sp>
        <p:nvSpPr>
          <p:cNvPr id="71" name="Shape 69"/>
          <p:cNvSpPr/>
          <p:nvPr/>
        </p:nvSpPr>
        <p:spPr>
          <a:xfrm>
            <a:off x="5423072" y="2391819"/>
            <a:ext cx="91" cy="51708"/>
          </a:xfrm>
          <a:prstGeom prst="line">
            <a:avLst/>
          </a:prstGeom>
          <a:noFill/>
          <a:ln w="19050">
            <a:solidFill>
              <a:srgbClr val="3E7F2E"/>
            </a:solidFill>
            <a:prstDash val="solid"/>
          </a:ln>
        </p:spPr>
      </p:sp>
      <p:sp>
        <p:nvSpPr>
          <p:cNvPr id="72" name="Shape 70"/>
          <p:cNvSpPr/>
          <p:nvPr/>
        </p:nvSpPr>
        <p:spPr>
          <a:xfrm>
            <a:off x="5475303" y="2391819"/>
            <a:ext cx="91" cy="51708"/>
          </a:xfrm>
          <a:prstGeom prst="line">
            <a:avLst/>
          </a:prstGeom>
          <a:noFill/>
          <a:ln w="19050">
            <a:solidFill>
              <a:srgbClr val="3E7F2E"/>
            </a:solidFill>
            <a:prstDash val="solid"/>
          </a:ln>
        </p:spPr>
      </p:sp>
      <p:sp>
        <p:nvSpPr>
          <p:cNvPr id="73" name="Shape 71"/>
          <p:cNvSpPr/>
          <p:nvPr/>
        </p:nvSpPr>
        <p:spPr>
          <a:xfrm>
            <a:off x="5527533" y="2391819"/>
            <a:ext cx="91" cy="51708"/>
          </a:xfrm>
          <a:prstGeom prst="line">
            <a:avLst/>
          </a:prstGeom>
          <a:noFill/>
          <a:ln w="19050">
            <a:solidFill>
              <a:srgbClr val="3E7F2E"/>
            </a:solidFill>
            <a:prstDash val="solid"/>
          </a:ln>
        </p:spPr>
      </p:sp>
      <p:sp>
        <p:nvSpPr>
          <p:cNvPr id="74" name="Shape 72"/>
          <p:cNvSpPr/>
          <p:nvPr/>
        </p:nvSpPr>
        <p:spPr>
          <a:xfrm>
            <a:off x="4240256" y="2883524"/>
            <a:ext cx="261153" cy="143634"/>
          </a:xfrm>
          <a:prstGeom prst="ellipse">
            <a:avLst/>
          </a:prstGeom>
          <a:solidFill>
            <a:srgbClr val="7DBE6A"/>
          </a:solidFill>
          <a:ln w="12700">
            <a:solidFill>
              <a:srgbClr val="3E7F2E"/>
            </a:solidFill>
            <a:prstDash val="solid"/>
          </a:ln>
        </p:spPr>
      </p:sp>
      <p:sp>
        <p:nvSpPr>
          <p:cNvPr id="75" name="Shape 73"/>
          <p:cNvSpPr/>
          <p:nvPr/>
        </p:nvSpPr>
        <p:spPr>
          <a:xfrm>
            <a:off x="4302932" y="2929487"/>
            <a:ext cx="91" cy="51708"/>
          </a:xfrm>
          <a:prstGeom prst="line">
            <a:avLst/>
          </a:prstGeom>
          <a:noFill/>
          <a:ln w="19050">
            <a:solidFill>
              <a:srgbClr val="3E7F2E"/>
            </a:solidFill>
            <a:prstDash val="solid"/>
          </a:ln>
        </p:spPr>
      </p:sp>
      <p:sp>
        <p:nvSpPr>
          <p:cNvPr id="76" name="Shape 74"/>
          <p:cNvSpPr/>
          <p:nvPr/>
        </p:nvSpPr>
        <p:spPr>
          <a:xfrm>
            <a:off x="4355163" y="2929487"/>
            <a:ext cx="91" cy="51708"/>
          </a:xfrm>
          <a:prstGeom prst="line">
            <a:avLst/>
          </a:prstGeom>
          <a:noFill/>
          <a:ln w="19050">
            <a:solidFill>
              <a:srgbClr val="3E7F2E"/>
            </a:solidFill>
            <a:prstDash val="solid"/>
          </a:ln>
        </p:spPr>
      </p:sp>
      <p:sp>
        <p:nvSpPr>
          <p:cNvPr id="77" name="Shape 75"/>
          <p:cNvSpPr/>
          <p:nvPr/>
        </p:nvSpPr>
        <p:spPr>
          <a:xfrm>
            <a:off x="4407393" y="2929487"/>
            <a:ext cx="91" cy="51708"/>
          </a:xfrm>
          <a:prstGeom prst="line">
            <a:avLst/>
          </a:prstGeom>
          <a:noFill/>
          <a:ln w="19050">
            <a:solidFill>
              <a:srgbClr val="3E7F2E"/>
            </a:solidFill>
            <a:prstDash val="solid"/>
          </a:ln>
        </p:spPr>
      </p:sp>
      <p:sp>
        <p:nvSpPr>
          <p:cNvPr id="78" name="Shape 76"/>
          <p:cNvSpPr/>
          <p:nvPr/>
        </p:nvSpPr>
        <p:spPr>
          <a:xfrm rot="1200000">
            <a:off x="3695548" y="2774838"/>
            <a:ext cx="230429" cy="115214"/>
          </a:xfrm>
          <a:prstGeom prst="ellipse">
            <a:avLst/>
          </a:prstGeom>
          <a:solidFill>
            <a:srgbClr val="F2B279"/>
          </a:solidFill>
          <a:ln w="15875">
            <a:solidFill>
              <a:srgbClr val="A4561C"/>
            </a:solidFill>
            <a:prstDash val="solid"/>
          </a:ln>
        </p:spPr>
      </p:sp>
      <p:sp>
        <p:nvSpPr>
          <p:cNvPr id="79" name="Shape 77"/>
          <p:cNvSpPr/>
          <p:nvPr/>
        </p:nvSpPr>
        <p:spPr>
          <a:xfrm>
            <a:off x="3745810" y="2781831"/>
            <a:ext cx="7202" cy="56569"/>
          </a:xfrm>
          <a:prstGeom prst="line">
            <a:avLst/>
          </a:prstGeom>
          <a:noFill/>
          <a:ln w="9525">
            <a:solidFill>
              <a:srgbClr val="A4561C"/>
            </a:solidFill>
            <a:prstDash val="solid"/>
          </a:ln>
        </p:spPr>
      </p:sp>
      <p:sp>
        <p:nvSpPr>
          <p:cNvPr id="80" name="Shape 78"/>
          <p:cNvSpPr/>
          <p:nvPr/>
        </p:nvSpPr>
        <p:spPr>
          <a:xfrm flipV="1">
            <a:off x="3753012" y="2799695"/>
            <a:ext cx="41879" cy="38705"/>
          </a:xfrm>
          <a:prstGeom prst="line">
            <a:avLst/>
          </a:prstGeom>
          <a:noFill/>
          <a:ln w="9525">
            <a:solidFill>
              <a:srgbClr val="A4561C"/>
            </a:solidFill>
            <a:prstDash val="solid"/>
          </a:ln>
        </p:spPr>
      </p:sp>
      <p:sp>
        <p:nvSpPr>
          <p:cNvPr id="81" name="Shape 79"/>
          <p:cNvSpPr/>
          <p:nvPr/>
        </p:nvSpPr>
        <p:spPr>
          <a:xfrm>
            <a:off x="3794891" y="2799695"/>
            <a:ext cx="7202" cy="56569"/>
          </a:xfrm>
          <a:prstGeom prst="line">
            <a:avLst/>
          </a:prstGeom>
          <a:noFill/>
          <a:ln w="9525">
            <a:solidFill>
              <a:srgbClr val="A4561C"/>
            </a:solidFill>
            <a:prstDash val="solid"/>
          </a:ln>
        </p:spPr>
      </p:sp>
      <p:sp>
        <p:nvSpPr>
          <p:cNvPr id="82" name="Shape 80"/>
          <p:cNvSpPr/>
          <p:nvPr/>
        </p:nvSpPr>
        <p:spPr>
          <a:xfrm flipV="1">
            <a:off x="3802093" y="2817559"/>
            <a:ext cx="41879" cy="38705"/>
          </a:xfrm>
          <a:prstGeom prst="line">
            <a:avLst/>
          </a:prstGeom>
          <a:noFill/>
          <a:ln w="9525">
            <a:solidFill>
              <a:srgbClr val="A4561C"/>
            </a:solidFill>
            <a:prstDash val="solid"/>
          </a:ln>
        </p:spPr>
      </p:sp>
      <p:sp>
        <p:nvSpPr>
          <p:cNvPr id="83" name="Shape 81"/>
          <p:cNvSpPr/>
          <p:nvPr/>
        </p:nvSpPr>
        <p:spPr>
          <a:xfrm>
            <a:off x="3843972" y="2817559"/>
            <a:ext cx="7202" cy="56569"/>
          </a:xfrm>
          <a:prstGeom prst="line">
            <a:avLst/>
          </a:prstGeom>
          <a:noFill/>
          <a:ln w="9525">
            <a:solidFill>
              <a:srgbClr val="A4561C"/>
            </a:solidFill>
            <a:prstDash val="solid"/>
          </a:ln>
        </p:spPr>
      </p:sp>
      <p:sp>
        <p:nvSpPr>
          <p:cNvPr id="84" name="Shape 82"/>
          <p:cNvSpPr/>
          <p:nvPr/>
        </p:nvSpPr>
        <p:spPr>
          <a:xfrm flipV="1">
            <a:off x="3851173" y="2835423"/>
            <a:ext cx="41879" cy="38705"/>
          </a:xfrm>
          <a:prstGeom prst="line">
            <a:avLst/>
          </a:prstGeom>
          <a:noFill/>
          <a:ln w="9525">
            <a:solidFill>
              <a:srgbClr val="A4561C"/>
            </a:solidFill>
            <a:prstDash val="solid"/>
          </a:ln>
        </p:spPr>
      </p:sp>
      <p:sp>
        <p:nvSpPr>
          <p:cNvPr id="85" name="Shape 83"/>
          <p:cNvSpPr/>
          <p:nvPr/>
        </p:nvSpPr>
        <p:spPr>
          <a:xfrm rot="4800000">
            <a:off x="5342153" y="2098914"/>
            <a:ext cx="230429" cy="115214"/>
          </a:xfrm>
          <a:prstGeom prst="ellipse">
            <a:avLst/>
          </a:prstGeom>
          <a:solidFill>
            <a:srgbClr val="F2B279"/>
          </a:solidFill>
          <a:ln w="15875">
            <a:solidFill>
              <a:srgbClr val="A4561C"/>
            </a:solidFill>
            <a:prstDash val="solid"/>
          </a:ln>
        </p:spPr>
      </p:sp>
      <p:sp>
        <p:nvSpPr>
          <p:cNvPr id="86" name="Shape 84"/>
          <p:cNvSpPr/>
          <p:nvPr/>
        </p:nvSpPr>
        <p:spPr>
          <a:xfrm flipH="1">
            <a:off x="5423336" y="2074964"/>
            <a:ext cx="45389" cy="34521"/>
          </a:xfrm>
          <a:prstGeom prst="line">
            <a:avLst/>
          </a:prstGeom>
          <a:noFill/>
          <a:ln w="9525">
            <a:solidFill>
              <a:srgbClr val="A4561C"/>
            </a:solidFill>
            <a:prstDash val="solid"/>
          </a:ln>
        </p:spPr>
      </p:sp>
      <p:sp>
        <p:nvSpPr>
          <p:cNvPr id="87" name="Shape 85"/>
          <p:cNvSpPr/>
          <p:nvPr/>
        </p:nvSpPr>
        <p:spPr>
          <a:xfrm>
            <a:off x="5423336" y="2109485"/>
            <a:ext cx="54459" cy="16916"/>
          </a:xfrm>
          <a:prstGeom prst="line">
            <a:avLst/>
          </a:prstGeom>
          <a:noFill/>
          <a:ln w="9525">
            <a:solidFill>
              <a:srgbClr val="A4561C"/>
            </a:solidFill>
            <a:prstDash val="solid"/>
          </a:ln>
        </p:spPr>
      </p:sp>
      <p:sp>
        <p:nvSpPr>
          <p:cNvPr id="88" name="Shape 86"/>
          <p:cNvSpPr/>
          <p:nvPr/>
        </p:nvSpPr>
        <p:spPr>
          <a:xfrm flipH="1">
            <a:off x="5432406" y="2126401"/>
            <a:ext cx="45389" cy="34521"/>
          </a:xfrm>
          <a:prstGeom prst="line">
            <a:avLst/>
          </a:prstGeom>
          <a:noFill/>
          <a:ln w="9525">
            <a:solidFill>
              <a:srgbClr val="A4561C"/>
            </a:solidFill>
            <a:prstDash val="solid"/>
          </a:ln>
        </p:spPr>
      </p:sp>
      <p:sp>
        <p:nvSpPr>
          <p:cNvPr id="89" name="Shape 87"/>
          <p:cNvSpPr/>
          <p:nvPr/>
        </p:nvSpPr>
        <p:spPr>
          <a:xfrm>
            <a:off x="5432406" y="2160922"/>
            <a:ext cx="54459" cy="16916"/>
          </a:xfrm>
          <a:prstGeom prst="line">
            <a:avLst/>
          </a:prstGeom>
          <a:noFill/>
          <a:ln w="9525">
            <a:solidFill>
              <a:srgbClr val="A4561C"/>
            </a:solidFill>
            <a:prstDash val="solid"/>
          </a:ln>
        </p:spPr>
      </p:sp>
      <p:sp>
        <p:nvSpPr>
          <p:cNvPr id="90" name="Shape 88"/>
          <p:cNvSpPr/>
          <p:nvPr/>
        </p:nvSpPr>
        <p:spPr>
          <a:xfrm flipH="1">
            <a:off x="5441475" y="2177838"/>
            <a:ext cx="45389" cy="34521"/>
          </a:xfrm>
          <a:prstGeom prst="line">
            <a:avLst/>
          </a:prstGeom>
          <a:noFill/>
          <a:ln w="9525">
            <a:solidFill>
              <a:srgbClr val="A4561C"/>
            </a:solidFill>
            <a:prstDash val="solid"/>
          </a:ln>
        </p:spPr>
      </p:sp>
      <p:sp>
        <p:nvSpPr>
          <p:cNvPr id="91" name="Shape 89"/>
          <p:cNvSpPr/>
          <p:nvPr/>
        </p:nvSpPr>
        <p:spPr>
          <a:xfrm>
            <a:off x="5441475" y="2212359"/>
            <a:ext cx="54459" cy="16916"/>
          </a:xfrm>
          <a:prstGeom prst="line">
            <a:avLst/>
          </a:prstGeom>
          <a:noFill/>
          <a:ln w="9525">
            <a:solidFill>
              <a:srgbClr val="A4561C"/>
            </a:solidFill>
            <a:prstDash val="solid"/>
          </a:ln>
        </p:spPr>
      </p:sp>
      <p:sp>
        <p:nvSpPr>
          <p:cNvPr id="92" name="Text 90"/>
          <p:cNvSpPr/>
          <p:nvPr/>
        </p:nvSpPr>
        <p:spPr>
          <a:xfrm>
            <a:off x="2606040" y="3182112"/>
            <a:ext cx="1188720" cy="256032"/>
          </a:xfrm>
          <a:prstGeom prst="rect">
            <a:avLst/>
          </a:prstGeom>
          <a:noFill/>
          <a:ln/>
        </p:spPr>
        <p:txBody>
          <a:bodyPr wrap="square" lIns="0" tIns="0" rIns="0" bIns="0" rtlCol="0" anchor="ctr"/>
          <a:lstStyle/>
          <a:p>
            <a:pPr algn="ctr" indent="0" marL="0">
              <a:buNone/>
            </a:pPr>
            <a:r>
              <a:rPr lang="en-US" sz="1050" b="1" dirty="0">
                <a:solidFill>
                  <a:srgbClr val="A4561C"/>
                </a:solidFill>
                <a:latin typeface="Calibri" pitchFamily="34" charset="0"/>
                <a:ea typeface="Calibri" pitchFamily="34" charset="-122"/>
                <a:cs typeface="Calibri" pitchFamily="34" charset="-120"/>
              </a:rPr>
              <a:t>mitochondria</a:t>
            </a:r>
            <a:endParaRPr lang="en-US" sz="1050" dirty="0"/>
          </a:p>
        </p:txBody>
      </p:sp>
      <p:sp>
        <p:nvSpPr>
          <p:cNvPr id="93" name="Shape 91"/>
          <p:cNvSpPr/>
          <p:nvPr/>
        </p:nvSpPr>
        <p:spPr>
          <a:xfrm flipH="1" flipV="1">
            <a:off x="2006194" y="2827325"/>
            <a:ext cx="737006" cy="391363"/>
          </a:xfrm>
          <a:prstGeom prst="line">
            <a:avLst/>
          </a:prstGeom>
          <a:noFill/>
          <a:ln w="12700">
            <a:solidFill>
              <a:srgbClr val="A4561C"/>
            </a:solidFill>
            <a:prstDash val="solid"/>
          </a:ln>
        </p:spPr>
      </p:sp>
      <p:sp>
        <p:nvSpPr>
          <p:cNvPr id="94" name="Shape 92"/>
          <p:cNvSpPr/>
          <p:nvPr/>
        </p:nvSpPr>
        <p:spPr>
          <a:xfrm flipV="1">
            <a:off x="3703320" y="2923885"/>
            <a:ext cx="134874" cy="294803"/>
          </a:xfrm>
          <a:prstGeom prst="line">
            <a:avLst/>
          </a:prstGeom>
          <a:noFill/>
          <a:ln w="12700">
            <a:solidFill>
              <a:srgbClr val="A4561C"/>
            </a:solidFill>
            <a:prstDash val="solid"/>
          </a:ln>
        </p:spPr>
      </p:sp>
      <p:sp>
        <p:nvSpPr>
          <p:cNvPr id="95" name="Shape 93"/>
          <p:cNvSpPr/>
          <p:nvPr/>
        </p:nvSpPr>
        <p:spPr>
          <a:xfrm flipH="1">
            <a:off x="1783080" y="2478024"/>
            <a:ext cx="740664" cy="1435608"/>
          </a:xfrm>
          <a:prstGeom prst="line">
            <a:avLst/>
          </a:prstGeom>
          <a:noFill/>
          <a:ln w="12700">
            <a:solidFill>
              <a:srgbClr val="9AA3B0"/>
            </a:solidFill>
            <a:prstDash val="dash"/>
          </a:ln>
        </p:spPr>
      </p:sp>
      <p:sp>
        <p:nvSpPr>
          <p:cNvPr id="96" name="Shape 94"/>
          <p:cNvSpPr/>
          <p:nvPr/>
        </p:nvSpPr>
        <p:spPr>
          <a:xfrm>
            <a:off x="2523744" y="2478024"/>
            <a:ext cx="2093976" cy="1435608"/>
          </a:xfrm>
          <a:prstGeom prst="line">
            <a:avLst/>
          </a:prstGeom>
          <a:noFill/>
          <a:ln w="12700">
            <a:solidFill>
              <a:srgbClr val="9AA3B0"/>
            </a:solidFill>
            <a:prstDash val="dash"/>
          </a:ln>
        </p:spPr>
      </p:sp>
      <p:sp>
        <p:nvSpPr>
          <p:cNvPr id="97" name="Shape 95"/>
          <p:cNvSpPr/>
          <p:nvPr/>
        </p:nvSpPr>
        <p:spPr>
          <a:xfrm>
            <a:off x="1508760" y="3685032"/>
            <a:ext cx="3383280" cy="1188720"/>
          </a:xfrm>
          <a:prstGeom prst="ellipse">
            <a:avLst/>
          </a:prstGeom>
          <a:solidFill>
            <a:srgbClr val="F2B279"/>
          </a:solidFill>
          <a:ln w="25400">
            <a:solidFill>
              <a:srgbClr val="A4561C"/>
            </a:solidFill>
            <a:prstDash val="solid"/>
          </a:ln>
        </p:spPr>
      </p:sp>
      <p:sp>
        <p:nvSpPr>
          <p:cNvPr id="98" name="Shape 96"/>
          <p:cNvSpPr/>
          <p:nvPr/>
        </p:nvSpPr>
        <p:spPr>
          <a:xfrm>
            <a:off x="1603858" y="3780130"/>
            <a:ext cx="3193085" cy="998525"/>
          </a:xfrm>
          <a:prstGeom prst="ellipse">
            <a:avLst/>
          </a:prstGeom>
          <a:solidFill>
            <a:srgbClr val="FCE3C8"/>
          </a:solidFill>
          <a:ln w="12700">
            <a:solidFill>
              <a:srgbClr val="A4561C"/>
            </a:solidFill>
            <a:prstDash val="solid"/>
          </a:ln>
        </p:spPr>
      </p:sp>
      <p:sp>
        <p:nvSpPr>
          <p:cNvPr id="99" name="Shape 97"/>
          <p:cNvSpPr/>
          <p:nvPr/>
        </p:nvSpPr>
        <p:spPr>
          <a:xfrm>
            <a:off x="1923166" y="3949161"/>
            <a:ext cx="159654" cy="412789"/>
          </a:xfrm>
          <a:prstGeom prst="roundRect">
            <a:avLst>
              <a:gd name="adj" fmla="val 50000"/>
            </a:avLst>
          </a:prstGeom>
          <a:solidFill>
            <a:srgbClr val="F2B279"/>
          </a:solidFill>
          <a:ln w="9525">
            <a:solidFill>
              <a:srgbClr val="A4561C"/>
            </a:solidFill>
            <a:prstDash val="solid"/>
          </a:ln>
        </p:spPr>
      </p:sp>
      <p:sp>
        <p:nvSpPr>
          <p:cNvPr id="100" name="Shape 98"/>
          <p:cNvSpPr/>
          <p:nvPr/>
        </p:nvSpPr>
        <p:spPr>
          <a:xfrm>
            <a:off x="2322302" y="4171299"/>
            <a:ext cx="159654" cy="540467"/>
          </a:xfrm>
          <a:prstGeom prst="roundRect">
            <a:avLst>
              <a:gd name="adj" fmla="val 50000"/>
            </a:avLst>
          </a:prstGeom>
          <a:solidFill>
            <a:srgbClr val="F2B279"/>
          </a:solidFill>
          <a:ln w="9525">
            <a:solidFill>
              <a:srgbClr val="A4561C"/>
            </a:solidFill>
            <a:prstDash val="solid"/>
          </a:ln>
        </p:spPr>
      </p:sp>
      <p:sp>
        <p:nvSpPr>
          <p:cNvPr id="101" name="Shape 99"/>
          <p:cNvSpPr/>
          <p:nvPr/>
        </p:nvSpPr>
        <p:spPr>
          <a:xfrm>
            <a:off x="2721437" y="3795983"/>
            <a:ext cx="159654" cy="604261"/>
          </a:xfrm>
          <a:prstGeom prst="roundRect">
            <a:avLst>
              <a:gd name="adj" fmla="val 50000"/>
            </a:avLst>
          </a:prstGeom>
          <a:solidFill>
            <a:srgbClr val="F2B279"/>
          </a:solidFill>
          <a:ln w="9525">
            <a:solidFill>
              <a:srgbClr val="A4561C"/>
            </a:solidFill>
            <a:prstDash val="solid"/>
          </a:ln>
        </p:spPr>
      </p:sp>
      <p:sp>
        <p:nvSpPr>
          <p:cNvPr id="102" name="Shape 100"/>
          <p:cNvSpPr/>
          <p:nvPr/>
        </p:nvSpPr>
        <p:spPr>
          <a:xfrm>
            <a:off x="3120573" y="4154576"/>
            <a:ext cx="159654" cy="624078"/>
          </a:xfrm>
          <a:prstGeom prst="roundRect">
            <a:avLst>
              <a:gd name="adj" fmla="val 50000"/>
            </a:avLst>
          </a:prstGeom>
          <a:solidFill>
            <a:srgbClr val="F2B279"/>
          </a:solidFill>
          <a:ln w="9525">
            <a:solidFill>
              <a:srgbClr val="A4561C"/>
            </a:solidFill>
            <a:prstDash val="solid"/>
          </a:ln>
        </p:spPr>
      </p:sp>
      <p:sp>
        <p:nvSpPr>
          <p:cNvPr id="103" name="Shape 101"/>
          <p:cNvSpPr/>
          <p:nvPr/>
        </p:nvSpPr>
        <p:spPr>
          <a:xfrm>
            <a:off x="3519708" y="3795983"/>
            <a:ext cx="159654" cy="604261"/>
          </a:xfrm>
          <a:prstGeom prst="roundRect">
            <a:avLst>
              <a:gd name="adj" fmla="val 50000"/>
            </a:avLst>
          </a:prstGeom>
          <a:solidFill>
            <a:srgbClr val="F2B279"/>
          </a:solidFill>
          <a:ln w="9525">
            <a:solidFill>
              <a:srgbClr val="A4561C"/>
            </a:solidFill>
            <a:prstDash val="solid"/>
          </a:ln>
        </p:spPr>
      </p:sp>
      <p:sp>
        <p:nvSpPr>
          <p:cNvPr id="104" name="Shape 102"/>
          <p:cNvSpPr/>
          <p:nvPr/>
        </p:nvSpPr>
        <p:spPr>
          <a:xfrm>
            <a:off x="3918844" y="4171299"/>
            <a:ext cx="159654" cy="540467"/>
          </a:xfrm>
          <a:prstGeom prst="roundRect">
            <a:avLst>
              <a:gd name="adj" fmla="val 50000"/>
            </a:avLst>
          </a:prstGeom>
          <a:solidFill>
            <a:srgbClr val="F2B279"/>
          </a:solidFill>
          <a:ln w="9525">
            <a:solidFill>
              <a:srgbClr val="A4561C"/>
            </a:solidFill>
            <a:prstDash val="solid"/>
          </a:ln>
        </p:spPr>
      </p:sp>
      <p:sp>
        <p:nvSpPr>
          <p:cNvPr id="105" name="Shape 103"/>
          <p:cNvSpPr/>
          <p:nvPr/>
        </p:nvSpPr>
        <p:spPr>
          <a:xfrm>
            <a:off x="4317980" y="3949161"/>
            <a:ext cx="159654" cy="412789"/>
          </a:xfrm>
          <a:prstGeom prst="roundRect">
            <a:avLst>
              <a:gd name="adj" fmla="val 50000"/>
            </a:avLst>
          </a:prstGeom>
          <a:solidFill>
            <a:srgbClr val="F2B279"/>
          </a:solidFill>
          <a:ln w="9525">
            <a:solidFill>
              <a:srgbClr val="A4561C"/>
            </a:solidFill>
            <a:prstDash val="solid"/>
          </a:ln>
        </p:spPr>
      </p:sp>
      <p:sp>
        <p:nvSpPr>
          <p:cNvPr id="106" name="Text 104"/>
          <p:cNvSpPr/>
          <p:nvPr/>
        </p:nvSpPr>
        <p:spPr>
          <a:xfrm>
            <a:off x="502920" y="3657600"/>
            <a:ext cx="1280160" cy="256032"/>
          </a:xfrm>
          <a:prstGeom prst="rect">
            <a:avLst/>
          </a:prstGeom>
          <a:noFill/>
          <a:ln/>
        </p:spPr>
        <p:txBody>
          <a:bodyPr wrap="square" lIns="0" tIns="0" rIns="0" bIns="0" rtlCol="0" anchor="ctr"/>
          <a:lstStyle/>
          <a:p>
            <a:pPr algn="r" indent="0" marL="0">
              <a:buNone/>
            </a:pPr>
            <a:r>
              <a:rPr lang="en-US" sz="1050" b="1" dirty="0">
                <a:solidFill>
                  <a:srgbClr val="262B3A"/>
                </a:solidFill>
                <a:latin typeface="Calibri" pitchFamily="34" charset="0"/>
                <a:ea typeface="Calibri" pitchFamily="34" charset="-122"/>
                <a:cs typeface="Calibri" pitchFamily="34" charset="-120"/>
              </a:rPr>
              <a:t>outer membrane</a:t>
            </a:r>
            <a:endParaRPr lang="en-US" sz="1050" dirty="0"/>
          </a:p>
        </p:txBody>
      </p:sp>
      <p:sp>
        <p:nvSpPr>
          <p:cNvPr id="107" name="Shape 105"/>
          <p:cNvSpPr/>
          <p:nvPr/>
        </p:nvSpPr>
        <p:spPr>
          <a:xfrm>
            <a:off x="1801368" y="3785616"/>
            <a:ext cx="164592" cy="118872"/>
          </a:xfrm>
          <a:prstGeom prst="line">
            <a:avLst/>
          </a:prstGeom>
          <a:noFill/>
          <a:ln w="12700">
            <a:solidFill>
              <a:srgbClr val="133536"/>
            </a:solidFill>
            <a:prstDash val="solid"/>
          </a:ln>
        </p:spPr>
      </p:sp>
      <p:sp>
        <p:nvSpPr>
          <p:cNvPr id="108" name="Text 106"/>
          <p:cNvSpPr/>
          <p:nvPr/>
        </p:nvSpPr>
        <p:spPr>
          <a:xfrm>
            <a:off x="4572000" y="3547872"/>
            <a:ext cx="1371600" cy="365760"/>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folded inner membrane</a:t>
            </a:r>
            <a:endParaRPr lang="en-US" sz="1050" dirty="0"/>
          </a:p>
        </p:txBody>
      </p:sp>
      <p:sp>
        <p:nvSpPr>
          <p:cNvPr id="109" name="Shape 107"/>
          <p:cNvSpPr/>
          <p:nvPr/>
        </p:nvSpPr>
        <p:spPr>
          <a:xfrm flipH="1">
            <a:off x="4416552" y="3730752"/>
            <a:ext cx="137160" cy="338328"/>
          </a:xfrm>
          <a:prstGeom prst="line">
            <a:avLst/>
          </a:prstGeom>
          <a:noFill/>
          <a:ln w="12700">
            <a:solidFill>
              <a:srgbClr val="133536"/>
            </a:solidFill>
            <a:prstDash val="solid"/>
          </a:ln>
        </p:spPr>
      </p:sp>
      <p:sp>
        <p:nvSpPr>
          <p:cNvPr id="110" name="Text 108"/>
          <p:cNvSpPr/>
          <p:nvPr/>
        </p:nvSpPr>
        <p:spPr>
          <a:xfrm>
            <a:off x="1463040" y="4956048"/>
            <a:ext cx="34747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matrix: contains the </a:t>
            </a:r>
            <a:r>
              <a:rPr lang="en-US" sz="1050" b="1" dirty="0">
                <a:solidFill>
                  <a:srgbClr val="262B3A"/>
                </a:solidFill>
                <a:latin typeface="Calibri" pitchFamily="34" charset="0"/>
                <a:ea typeface="Calibri" pitchFamily="34" charset="-122"/>
                <a:cs typeface="Calibri" pitchFamily="34" charset="-120"/>
              </a:rPr>
              <a:t>enzymes</a:t>
            </a:r>
            <a:r>
              <a:rPr lang="en-US" sz="1050" b="1" dirty="0">
                <a:solidFill>
                  <a:srgbClr val="262B3A"/>
                </a:solidFill>
                <a:latin typeface="Calibri" pitchFamily="34" charset="0"/>
                <a:ea typeface="Calibri" pitchFamily="34" charset="-122"/>
                <a:cs typeface="Calibri" pitchFamily="34" charset="-120"/>
              </a:rPr>
              <a:t> for aerobic respiration</a:t>
            </a:r>
            <a:endParaRPr lang="en-US" sz="1050" dirty="0"/>
          </a:p>
        </p:txBody>
      </p:sp>
      <p:sp>
        <p:nvSpPr>
          <p:cNvPr id="111" name="Shape 109"/>
          <p:cNvSpPr/>
          <p:nvPr/>
        </p:nvSpPr>
        <p:spPr>
          <a:xfrm flipV="1">
            <a:off x="2971800" y="4617720"/>
            <a:ext cx="45720" cy="338328"/>
          </a:xfrm>
          <a:prstGeom prst="line">
            <a:avLst/>
          </a:prstGeom>
          <a:noFill/>
          <a:ln w="12700">
            <a:solidFill>
              <a:srgbClr val="133536"/>
            </a:solidFill>
            <a:prstDash val="solid"/>
          </a:ln>
        </p:spPr>
      </p:sp>
      <p:sp>
        <p:nvSpPr>
          <p:cNvPr id="112" name="Shape 110"/>
          <p:cNvSpPr/>
          <p:nvPr/>
        </p:nvSpPr>
        <p:spPr>
          <a:xfrm>
            <a:off x="6217920" y="1188720"/>
            <a:ext cx="5562295" cy="2423160"/>
          </a:xfrm>
          <a:prstGeom prst="roundRect">
            <a:avLst>
              <a:gd name="adj" fmla="val 2264"/>
            </a:avLst>
          </a:prstGeom>
          <a:solidFill>
            <a:srgbClr val="F4FAF9"/>
          </a:solidFill>
          <a:ln w="9525">
            <a:solidFill>
              <a:srgbClr val="CFE0DE"/>
            </a:solidFill>
            <a:prstDash val="solid"/>
          </a:ln>
        </p:spPr>
      </p:sp>
      <p:sp>
        <p:nvSpPr>
          <p:cNvPr id="113" name="Text 111"/>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Mitochondria and respiration</a:t>
            </a:r>
            <a:endParaRPr lang="en-US" sz="1300" dirty="0"/>
          </a:p>
        </p:txBody>
      </p:sp>
      <p:sp>
        <p:nvSpPr>
          <p:cNvPr id="114" name="Text 112"/>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Most of the reactions of </a:t>
            </a:r>
            <a:r>
              <a:rPr lang="en-US" sz="1100" b="1" dirty="0">
                <a:solidFill>
                  <a:srgbClr val="262B3A"/>
                </a:solidFill>
                <a:latin typeface="Calibri" pitchFamily="34" charset="0"/>
                <a:ea typeface="Calibri" pitchFamily="34" charset="-122"/>
                <a:cs typeface="Calibri" pitchFamily="34" charset="-120"/>
              </a:rPr>
              <a:t>aerobic</a:t>
            </a:r>
            <a:r>
              <a:rPr lang="en-US" sz="1100" dirty="0">
                <a:solidFill>
                  <a:srgbClr val="262B3A"/>
                </a:solidFill>
                <a:latin typeface="Calibri" pitchFamily="34" charset="0"/>
                <a:ea typeface="Calibri" pitchFamily="34" charset="-122"/>
                <a:cs typeface="Calibri" pitchFamily="34" charset="-120"/>
              </a:rPr>
              <a:t> respiration happen inside </a:t>
            </a:r>
            <a:r>
              <a:rPr lang="en-US" sz="1100" b="1" dirty="0">
                <a:solidFill>
                  <a:srgbClr val="262B3A"/>
                </a:solidFill>
                <a:latin typeface="Calibri" pitchFamily="34" charset="0"/>
                <a:ea typeface="Calibri" pitchFamily="34" charset="-122"/>
                <a:cs typeface="Calibri" pitchFamily="34" charset="-120"/>
              </a:rPr>
              <a:t>mitochondria</a:t>
            </a:r>
            <a:r>
              <a:rPr lang="en-US" sz="1100" dirty="0">
                <a:solidFill>
                  <a:srgbClr val="262B3A"/>
                </a:solidFill>
                <a:latin typeface="Calibri" pitchFamily="34" charset="0"/>
                <a:ea typeface="Calibri" pitchFamily="34" charset="-122"/>
                <a:cs typeface="Calibri" pitchFamily="34" charset="-120"/>
              </a:rPr>
              <a:t>. They contain the </a:t>
            </a:r>
            <a:r>
              <a:rPr lang="en-US" sz="1100" b="1" dirty="0">
                <a:solidFill>
                  <a:srgbClr val="262B3A"/>
                </a:solidFill>
                <a:latin typeface="Calibri" pitchFamily="34" charset="0"/>
                <a:ea typeface="Calibri" pitchFamily="34" charset="-122"/>
                <a:cs typeface="Calibri" pitchFamily="34" charset="-120"/>
              </a:rPr>
              <a:t>enzymes</a:t>
            </a:r>
            <a:r>
              <a:rPr lang="en-US" sz="1100" dirty="0">
                <a:solidFill>
                  <a:srgbClr val="262B3A"/>
                </a:solidFill>
                <a:latin typeface="Calibri" pitchFamily="34" charset="0"/>
                <a:ea typeface="Calibri" pitchFamily="34" charset="-122"/>
                <a:cs typeface="Calibri" pitchFamily="34" charset="-120"/>
              </a:rPr>
              <a:t> needed.</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The first stage, and all of </a:t>
            </a:r>
            <a:r>
              <a:rPr lang="en-US" sz="1100" b="1" dirty="0">
                <a:solidFill>
                  <a:srgbClr val="262B3A"/>
                </a:solidFill>
                <a:latin typeface="Calibri" pitchFamily="34" charset="0"/>
                <a:ea typeface="Calibri" pitchFamily="34" charset="-122"/>
                <a:cs typeface="Calibri" pitchFamily="34" charset="-120"/>
              </a:rPr>
              <a:t>anaerobic</a:t>
            </a:r>
            <a:r>
              <a:rPr lang="en-US" sz="1100" dirty="0">
                <a:solidFill>
                  <a:srgbClr val="262B3A"/>
                </a:solidFill>
                <a:latin typeface="Calibri" pitchFamily="34" charset="0"/>
                <a:ea typeface="Calibri" pitchFamily="34" charset="-122"/>
                <a:cs typeface="Calibri" pitchFamily="34" charset="-120"/>
              </a:rPr>
              <a:t> respiration, happens in the </a:t>
            </a:r>
            <a:r>
              <a:rPr lang="en-US" sz="1100" b="1" dirty="0">
                <a:solidFill>
                  <a:srgbClr val="262B3A"/>
                </a:solidFill>
                <a:latin typeface="Calibri" pitchFamily="34" charset="0"/>
                <a:ea typeface="Calibri" pitchFamily="34" charset="-122"/>
                <a:cs typeface="Calibri" pitchFamily="34" charset="-120"/>
              </a:rPr>
              <a:t>cytoplasm</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Both </a:t>
            </a:r>
            <a:r>
              <a:rPr lang="en-US" sz="1100" b="1" dirty="0">
                <a:solidFill>
                  <a:srgbClr val="262B3A"/>
                </a:solidFill>
                <a:latin typeface="Calibri" pitchFamily="34" charset="0"/>
                <a:ea typeface="Calibri" pitchFamily="34" charset="-122"/>
                <a:cs typeface="Calibri" pitchFamily="34" charset="-120"/>
              </a:rPr>
              <a:t>plant and animal</a:t>
            </a:r>
            <a:r>
              <a:rPr lang="en-US" sz="1100" dirty="0">
                <a:solidFill>
                  <a:srgbClr val="262B3A"/>
                </a:solidFill>
                <a:latin typeface="Calibri" pitchFamily="34" charset="0"/>
                <a:ea typeface="Calibri" pitchFamily="34" charset="-122"/>
                <a:cs typeface="Calibri" pitchFamily="34" charset="-120"/>
              </a:rPr>
              <a:t> cells have mitochondria (plant cells have chloroplasts as well).</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Cells that need </a:t>
            </a:r>
            <a:r>
              <a:rPr lang="en-US" sz="1100" b="1" dirty="0">
                <a:solidFill>
                  <a:srgbClr val="262B3A"/>
                </a:solidFill>
                <a:latin typeface="Calibri" pitchFamily="34" charset="0"/>
                <a:ea typeface="Calibri" pitchFamily="34" charset="-122"/>
                <a:cs typeface="Calibri" pitchFamily="34" charset="-120"/>
              </a:rPr>
              <a:t>a lot of ATP</a:t>
            </a:r>
            <a:r>
              <a:rPr lang="en-US" sz="1100" dirty="0">
                <a:solidFill>
                  <a:srgbClr val="262B3A"/>
                </a:solidFill>
                <a:latin typeface="Calibri" pitchFamily="34" charset="0"/>
                <a:ea typeface="Calibri" pitchFamily="34" charset="-122"/>
                <a:cs typeface="Calibri" pitchFamily="34" charset="-120"/>
              </a:rPr>
              <a:t> have </a:t>
            </a:r>
            <a:r>
              <a:rPr lang="en-US" sz="1100" b="1" dirty="0">
                <a:solidFill>
                  <a:srgbClr val="262B3A"/>
                </a:solidFill>
                <a:latin typeface="Calibri" pitchFamily="34" charset="0"/>
                <a:ea typeface="Calibri" pitchFamily="34" charset="-122"/>
                <a:cs typeface="Calibri" pitchFamily="34" charset="-120"/>
              </a:rPr>
              <a:t>many</a:t>
            </a:r>
            <a:r>
              <a:rPr lang="en-US" sz="1100" dirty="0">
                <a:solidFill>
                  <a:srgbClr val="262B3A"/>
                </a:solidFill>
                <a:latin typeface="Calibri" pitchFamily="34" charset="0"/>
                <a:ea typeface="Calibri" pitchFamily="34" charset="-122"/>
                <a:cs typeface="Calibri" pitchFamily="34" charset="-120"/>
              </a:rPr>
              <a:t> mitochondria.</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Bacteria have no mitochondria: they respire in the cytoplasm.</a:t>
            </a:r>
            <a:endParaRPr lang="en-US" sz="1100" dirty="0"/>
          </a:p>
        </p:txBody>
      </p:sp>
      <p:sp>
        <p:nvSpPr>
          <p:cNvPr id="115" name="Shape 113"/>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116" name="Text 114"/>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explain</a:t>
            </a:r>
            <a:endParaRPr lang="en-US" sz="1300" dirty="0"/>
          </a:p>
        </p:txBody>
      </p:sp>
      <p:sp>
        <p:nvSpPr>
          <p:cNvPr id="117" name="Text 115"/>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 muscle cell has many more mitochondria than a skin cell. Explain why.</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Job   </a:t>
            </a:r>
            <a:r>
              <a:rPr lang="en-US" sz="1050" dirty="0">
                <a:solidFill>
                  <a:srgbClr val="262B3A"/>
                </a:solidFill>
                <a:latin typeface="Calibri" pitchFamily="34" charset="0"/>
                <a:ea typeface="Calibri" pitchFamily="34" charset="-122"/>
                <a:cs typeface="Calibri" pitchFamily="34" charset="-120"/>
              </a:rPr>
              <a:t>muscle cells contract, which needs a lot of energy</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Link   </a:t>
            </a:r>
            <a:r>
              <a:rPr lang="en-US" sz="1050" dirty="0">
                <a:solidFill>
                  <a:srgbClr val="262B3A"/>
                </a:solidFill>
                <a:latin typeface="Calibri" pitchFamily="34" charset="0"/>
                <a:ea typeface="Calibri" pitchFamily="34" charset="-122"/>
                <a:cs typeface="Calibri" pitchFamily="34" charset="-120"/>
              </a:rPr>
              <a:t>more mitochondria → more aerobic respiration</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So   </a:t>
            </a:r>
            <a:r>
              <a:rPr lang="en-US" sz="1050" dirty="0">
                <a:solidFill>
                  <a:srgbClr val="262B3A"/>
                </a:solidFill>
                <a:latin typeface="Calibri" pitchFamily="34" charset="0"/>
                <a:ea typeface="Calibri" pitchFamily="34" charset="-122"/>
                <a:cs typeface="Calibri" pitchFamily="34" charset="-120"/>
              </a:rPr>
              <a:t>more ATP is made each second</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many mitochondria supply the ATP for contraction</a:t>
            </a:r>
            <a:endParaRPr lang="en-US" sz="1050" dirty="0"/>
          </a:p>
        </p:txBody>
      </p:sp>
      <p:sp>
        <p:nvSpPr>
          <p:cNvPr id="118" name="Shape 116"/>
          <p:cNvSpPr/>
          <p:nvPr/>
        </p:nvSpPr>
        <p:spPr>
          <a:xfrm>
            <a:off x="411480" y="5833872"/>
            <a:ext cx="11368735" cy="530352"/>
          </a:xfrm>
          <a:prstGeom prst="rect">
            <a:avLst/>
          </a:prstGeom>
          <a:solidFill>
            <a:srgbClr val="FFF4E0"/>
          </a:solidFill>
          <a:ln w="6350">
            <a:solidFill>
              <a:srgbClr val="F1D9A8"/>
            </a:solidFill>
            <a:prstDash val="solid"/>
          </a:ln>
        </p:spPr>
      </p:sp>
      <p:sp>
        <p:nvSpPr>
          <p:cNvPr id="119" name="Shape 117"/>
          <p:cNvSpPr/>
          <p:nvPr/>
        </p:nvSpPr>
        <p:spPr>
          <a:xfrm>
            <a:off x="411480" y="5833872"/>
            <a:ext cx="82296" cy="530352"/>
          </a:xfrm>
          <a:prstGeom prst="rect">
            <a:avLst/>
          </a:prstGeom>
          <a:solidFill>
            <a:srgbClr val="E39A2F"/>
          </a:solidFill>
          <a:ln w="12700">
            <a:solidFill>
              <a:srgbClr val="E39A2F"/>
            </a:solidFill>
            <a:prstDash val="solid"/>
          </a:ln>
        </p:spPr>
      </p:sp>
      <p:sp>
        <p:nvSpPr>
          <p:cNvPr id="120" name="Text 11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Sperm cells and root hair cells both contain many mitochondria. Suggest what each cell uses the extra ATP for.</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Exam practice: recap 2</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B4.1.1, B4.1.3 • aerobic respiration and mitochondria</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B4.1 What happens during cellular respiration?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2  |  10</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CFE0DE"/>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Write the </a:t>
            </a:r>
            <a:r>
              <a:rPr lang="en-US" sz="1250" b="1" dirty="0">
                <a:solidFill>
                  <a:srgbClr val="262B3A"/>
                </a:solidFill>
                <a:latin typeface="Calibri" pitchFamily="34" charset="0"/>
                <a:ea typeface="Calibri" pitchFamily="34" charset="-122"/>
                <a:cs typeface="Calibri" pitchFamily="34" charset="-120"/>
              </a:rPr>
              <a:t>word equation</a:t>
            </a:r>
            <a:r>
              <a:rPr lang="en-US" sz="1250" dirty="0">
                <a:solidFill>
                  <a:srgbClr val="262B3A"/>
                </a:solidFill>
                <a:latin typeface="Calibri" pitchFamily="34" charset="0"/>
                <a:ea typeface="Calibri" pitchFamily="34" charset="-122"/>
                <a:cs typeface="Calibri" pitchFamily="34" charset="-120"/>
              </a:rPr>
              <a:t> for aerobic respiration.</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CFE0DE"/>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How many molecules of carbon dioxide are made when </a:t>
            </a:r>
            <a:r>
              <a:rPr lang="en-US" sz="1250" b="1" dirty="0">
                <a:solidFill>
                  <a:srgbClr val="262B3A"/>
                </a:solidFill>
                <a:latin typeface="Calibri" pitchFamily="34" charset="0"/>
                <a:ea typeface="Calibri" pitchFamily="34" charset="-122"/>
                <a:cs typeface="Calibri" pitchFamily="34" charset="-120"/>
              </a:rPr>
              <a:t>3</a:t>
            </a:r>
            <a:r>
              <a:rPr lang="en-US" sz="1250" dirty="0">
                <a:solidFill>
                  <a:srgbClr val="262B3A"/>
                </a:solidFill>
                <a:latin typeface="Calibri" pitchFamily="34" charset="0"/>
                <a:ea typeface="Calibri" pitchFamily="34" charset="-122"/>
                <a:cs typeface="Calibri" pitchFamily="34" charset="-120"/>
              </a:rPr>
              <a:t> molecules of glucose are respired aerobically?</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CFE0DE"/>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the organelle where most aerobic respiration happens. Give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type of cell that has many of them.</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CFE0DE"/>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a </a:t>
            </a:r>
            <a:r>
              <a:rPr lang="en-US" sz="1250" b="1" dirty="0">
                <a:solidFill>
                  <a:srgbClr val="262B3A"/>
                </a:solidFill>
                <a:latin typeface="Calibri" pitchFamily="34" charset="0"/>
                <a:ea typeface="Calibri" pitchFamily="34" charset="-122"/>
                <a:cs typeface="Calibri" pitchFamily="34" charset="-120"/>
              </a:rPr>
              <a:t>sperm cell</a:t>
            </a:r>
            <a:r>
              <a:rPr lang="en-US" sz="1250" dirty="0">
                <a:solidFill>
                  <a:srgbClr val="262B3A"/>
                </a:solidFill>
                <a:latin typeface="Calibri" pitchFamily="34" charset="0"/>
                <a:ea typeface="Calibri" pitchFamily="34" charset="-122"/>
                <a:cs typeface="Calibri" pitchFamily="34" charset="-120"/>
              </a:rPr>
              <a:t> contains many mitochondria.</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Anaerobic respiration in animals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B4.1.1 • without enough oxygen, muscle cells make lactic acid</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B4.1 What happens during cellular respiration?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B4.1.1  |  11</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oxygen taken in by a runner before, during and after 6 minutes of hard exercise</a:t>
            </a:r>
            <a:endParaRPr lang="en-US" sz="1000" dirty="0"/>
          </a:p>
        </p:txBody>
      </p:sp>
      <p:sp>
        <p:nvSpPr>
          <p:cNvPr id="10" name="Shape 8"/>
          <p:cNvSpPr/>
          <p:nvPr/>
        </p:nvSpPr>
        <p:spPr>
          <a:xfrm>
            <a:off x="1325880" y="1371600"/>
            <a:ext cx="4343400" cy="3017520"/>
          </a:xfrm>
          <a:prstGeom prst="rect">
            <a:avLst/>
          </a:prstGeom>
          <a:solidFill>
            <a:srgbClr val="FFFFFF"/>
          </a:solidFill>
          <a:ln/>
        </p:spPr>
      </p:sp>
      <p:sp>
        <p:nvSpPr>
          <p:cNvPr id="11" name="Shape 9"/>
          <p:cNvSpPr/>
          <p:nvPr/>
        </p:nvSpPr>
        <p:spPr>
          <a:xfrm>
            <a:off x="1325880" y="1371600"/>
            <a:ext cx="91" cy="3017520"/>
          </a:xfrm>
          <a:prstGeom prst="line">
            <a:avLst/>
          </a:prstGeom>
          <a:noFill/>
          <a:ln w="6350">
            <a:solidFill>
              <a:srgbClr val="C5DCD9"/>
            </a:solidFill>
            <a:prstDash val="solid"/>
          </a:ln>
        </p:spPr>
      </p:sp>
      <p:sp>
        <p:nvSpPr>
          <p:cNvPr id="12" name="Shape 10"/>
          <p:cNvSpPr/>
          <p:nvPr/>
        </p:nvSpPr>
        <p:spPr>
          <a:xfrm>
            <a:off x="1597343" y="1371600"/>
            <a:ext cx="91" cy="3017520"/>
          </a:xfrm>
          <a:prstGeom prst="line">
            <a:avLst/>
          </a:prstGeom>
          <a:noFill/>
          <a:ln w="6350">
            <a:solidFill>
              <a:srgbClr val="E3EFED"/>
            </a:solidFill>
            <a:prstDash val="solid"/>
          </a:ln>
        </p:spPr>
      </p:sp>
      <p:sp>
        <p:nvSpPr>
          <p:cNvPr id="13" name="Shape 11"/>
          <p:cNvSpPr/>
          <p:nvPr/>
        </p:nvSpPr>
        <p:spPr>
          <a:xfrm>
            <a:off x="1868805" y="1371600"/>
            <a:ext cx="91" cy="3017520"/>
          </a:xfrm>
          <a:prstGeom prst="line">
            <a:avLst/>
          </a:prstGeom>
          <a:noFill/>
          <a:ln w="6350">
            <a:solidFill>
              <a:srgbClr val="C5DCD9"/>
            </a:solidFill>
            <a:prstDash val="solid"/>
          </a:ln>
        </p:spPr>
      </p:sp>
      <p:sp>
        <p:nvSpPr>
          <p:cNvPr id="14" name="Shape 12"/>
          <p:cNvSpPr/>
          <p:nvPr/>
        </p:nvSpPr>
        <p:spPr>
          <a:xfrm>
            <a:off x="2140268" y="1371600"/>
            <a:ext cx="91" cy="3017520"/>
          </a:xfrm>
          <a:prstGeom prst="line">
            <a:avLst/>
          </a:prstGeom>
          <a:noFill/>
          <a:ln w="6350">
            <a:solidFill>
              <a:srgbClr val="E3EFED"/>
            </a:solidFill>
            <a:prstDash val="solid"/>
          </a:ln>
        </p:spPr>
      </p:sp>
      <p:sp>
        <p:nvSpPr>
          <p:cNvPr id="15" name="Shape 13"/>
          <p:cNvSpPr/>
          <p:nvPr/>
        </p:nvSpPr>
        <p:spPr>
          <a:xfrm>
            <a:off x="2411730" y="1371600"/>
            <a:ext cx="91" cy="3017520"/>
          </a:xfrm>
          <a:prstGeom prst="line">
            <a:avLst/>
          </a:prstGeom>
          <a:noFill/>
          <a:ln w="6350">
            <a:solidFill>
              <a:srgbClr val="C5DCD9"/>
            </a:solidFill>
            <a:prstDash val="solid"/>
          </a:ln>
        </p:spPr>
      </p:sp>
      <p:sp>
        <p:nvSpPr>
          <p:cNvPr id="16" name="Shape 14"/>
          <p:cNvSpPr/>
          <p:nvPr/>
        </p:nvSpPr>
        <p:spPr>
          <a:xfrm>
            <a:off x="2683193" y="1371600"/>
            <a:ext cx="91" cy="3017520"/>
          </a:xfrm>
          <a:prstGeom prst="line">
            <a:avLst/>
          </a:prstGeom>
          <a:noFill/>
          <a:ln w="6350">
            <a:solidFill>
              <a:srgbClr val="E3EFED"/>
            </a:solidFill>
            <a:prstDash val="solid"/>
          </a:ln>
        </p:spPr>
      </p:sp>
      <p:sp>
        <p:nvSpPr>
          <p:cNvPr id="17" name="Shape 15"/>
          <p:cNvSpPr/>
          <p:nvPr/>
        </p:nvSpPr>
        <p:spPr>
          <a:xfrm>
            <a:off x="2954655" y="1371600"/>
            <a:ext cx="91" cy="3017520"/>
          </a:xfrm>
          <a:prstGeom prst="line">
            <a:avLst/>
          </a:prstGeom>
          <a:noFill/>
          <a:ln w="6350">
            <a:solidFill>
              <a:srgbClr val="C5DCD9"/>
            </a:solidFill>
            <a:prstDash val="solid"/>
          </a:ln>
        </p:spPr>
      </p:sp>
      <p:sp>
        <p:nvSpPr>
          <p:cNvPr id="18" name="Shape 16"/>
          <p:cNvSpPr/>
          <p:nvPr/>
        </p:nvSpPr>
        <p:spPr>
          <a:xfrm>
            <a:off x="3226118" y="1371600"/>
            <a:ext cx="91" cy="3017520"/>
          </a:xfrm>
          <a:prstGeom prst="line">
            <a:avLst/>
          </a:prstGeom>
          <a:noFill/>
          <a:ln w="6350">
            <a:solidFill>
              <a:srgbClr val="E3EFED"/>
            </a:solidFill>
            <a:prstDash val="solid"/>
          </a:ln>
        </p:spPr>
      </p:sp>
      <p:sp>
        <p:nvSpPr>
          <p:cNvPr id="19" name="Shape 17"/>
          <p:cNvSpPr/>
          <p:nvPr/>
        </p:nvSpPr>
        <p:spPr>
          <a:xfrm>
            <a:off x="3497580" y="1371600"/>
            <a:ext cx="91" cy="3017520"/>
          </a:xfrm>
          <a:prstGeom prst="line">
            <a:avLst/>
          </a:prstGeom>
          <a:noFill/>
          <a:ln w="6350">
            <a:solidFill>
              <a:srgbClr val="C5DCD9"/>
            </a:solidFill>
            <a:prstDash val="solid"/>
          </a:ln>
        </p:spPr>
      </p:sp>
      <p:sp>
        <p:nvSpPr>
          <p:cNvPr id="20" name="Shape 18"/>
          <p:cNvSpPr/>
          <p:nvPr/>
        </p:nvSpPr>
        <p:spPr>
          <a:xfrm>
            <a:off x="3769043" y="1371600"/>
            <a:ext cx="91" cy="3017520"/>
          </a:xfrm>
          <a:prstGeom prst="line">
            <a:avLst/>
          </a:prstGeom>
          <a:noFill/>
          <a:ln w="6350">
            <a:solidFill>
              <a:srgbClr val="E3EFED"/>
            </a:solidFill>
            <a:prstDash val="solid"/>
          </a:ln>
        </p:spPr>
      </p:sp>
      <p:sp>
        <p:nvSpPr>
          <p:cNvPr id="21" name="Shape 19"/>
          <p:cNvSpPr/>
          <p:nvPr/>
        </p:nvSpPr>
        <p:spPr>
          <a:xfrm>
            <a:off x="4040505" y="1371600"/>
            <a:ext cx="91" cy="3017520"/>
          </a:xfrm>
          <a:prstGeom prst="line">
            <a:avLst/>
          </a:prstGeom>
          <a:noFill/>
          <a:ln w="6350">
            <a:solidFill>
              <a:srgbClr val="C5DCD9"/>
            </a:solidFill>
            <a:prstDash val="solid"/>
          </a:ln>
        </p:spPr>
      </p:sp>
      <p:sp>
        <p:nvSpPr>
          <p:cNvPr id="22" name="Shape 20"/>
          <p:cNvSpPr/>
          <p:nvPr/>
        </p:nvSpPr>
        <p:spPr>
          <a:xfrm>
            <a:off x="4311968" y="1371600"/>
            <a:ext cx="91" cy="3017520"/>
          </a:xfrm>
          <a:prstGeom prst="line">
            <a:avLst/>
          </a:prstGeom>
          <a:noFill/>
          <a:ln w="6350">
            <a:solidFill>
              <a:srgbClr val="E3EFED"/>
            </a:solidFill>
            <a:prstDash val="solid"/>
          </a:ln>
        </p:spPr>
      </p:sp>
      <p:sp>
        <p:nvSpPr>
          <p:cNvPr id="23" name="Shape 21"/>
          <p:cNvSpPr/>
          <p:nvPr/>
        </p:nvSpPr>
        <p:spPr>
          <a:xfrm>
            <a:off x="4583430" y="1371600"/>
            <a:ext cx="91" cy="3017520"/>
          </a:xfrm>
          <a:prstGeom prst="line">
            <a:avLst/>
          </a:prstGeom>
          <a:noFill/>
          <a:ln w="6350">
            <a:solidFill>
              <a:srgbClr val="C5DCD9"/>
            </a:solidFill>
            <a:prstDash val="solid"/>
          </a:ln>
        </p:spPr>
      </p:sp>
      <p:sp>
        <p:nvSpPr>
          <p:cNvPr id="24" name="Shape 22"/>
          <p:cNvSpPr/>
          <p:nvPr/>
        </p:nvSpPr>
        <p:spPr>
          <a:xfrm>
            <a:off x="4854893" y="1371600"/>
            <a:ext cx="91" cy="3017520"/>
          </a:xfrm>
          <a:prstGeom prst="line">
            <a:avLst/>
          </a:prstGeom>
          <a:noFill/>
          <a:ln w="6350">
            <a:solidFill>
              <a:srgbClr val="E3EFED"/>
            </a:solidFill>
            <a:prstDash val="solid"/>
          </a:ln>
        </p:spPr>
      </p:sp>
      <p:sp>
        <p:nvSpPr>
          <p:cNvPr id="25" name="Shape 23"/>
          <p:cNvSpPr/>
          <p:nvPr/>
        </p:nvSpPr>
        <p:spPr>
          <a:xfrm>
            <a:off x="5126355" y="1371600"/>
            <a:ext cx="91" cy="3017520"/>
          </a:xfrm>
          <a:prstGeom prst="line">
            <a:avLst/>
          </a:prstGeom>
          <a:noFill/>
          <a:ln w="6350">
            <a:solidFill>
              <a:srgbClr val="C5DCD9"/>
            </a:solidFill>
            <a:prstDash val="solid"/>
          </a:ln>
        </p:spPr>
      </p:sp>
      <p:sp>
        <p:nvSpPr>
          <p:cNvPr id="26" name="Shape 24"/>
          <p:cNvSpPr/>
          <p:nvPr/>
        </p:nvSpPr>
        <p:spPr>
          <a:xfrm>
            <a:off x="5397818" y="1371600"/>
            <a:ext cx="91" cy="3017520"/>
          </a:xfrm>
          <a:prstGeom prst="line">
            <a:avLst/>
          </a:prstGeom>
          <a:noFill/>
          <a:ln w="6350">
            <a:solidFill>
              <a:srgbClr val="E3EFED"/>
            </a:solidFill>
            <a:prstDash val="solid"/>
          </a:ln>
        </p:spPr>
      </p:sp>
      <p:sp>
        <p:nvSpPr>
          <p:cNvPr id="27" name="Shape 25"/>
          <p:cNvSpPr/>
          <p:nvPr/>
        </p:nvSpPr>
        <p:spPr>
          <a:xfrm>
            <a:off x="5669280" y="1371600"/>
            <a:ext cx="91" cy="3017520"/>
          </a:xfrm>
          <a:prstGeom prst="line">
            <a:avLst/>
          </a:prstGeom>
          <a:noFill/>
          <a:ln w="6350">
            <a:solidFill>
              <a:srgbClr val="C5DCD9"/>
            </a:solidFill>
            <a:prstDash val="solid"/>
          </a:ln>
        </p:spPr>
      </p:sp>
      <p:sp>
        <p:nvSpPr>
          <p:cNvPr id="28" name="Shape 26"/>
          <p:cNvSpPr/>
          <p:nvPr/>
        </p:nvSpPr>
        <p:spPr>
          <a:xfrm>
            <a:off x="1325880" y="4389120"/>
            <a:ext cx="4343400" cy="91"/>
          </a:xfrm>
          <a:prstGeom prst="line">
            <a:avLst/>
          </a:prstGeom>
          <a:noFill/>
          <a:ln w="6350">
            <a:solidFill>
              <a:srgbClr val="C5DCD9"/>
            </a:solidFill>
            <a:prstDash val="solid"/>
          </a:ln>
        </p:spPr>
      </p:sp>
      <p:sp>
        <p:nvSpPr>
          <p:cNvPr id="29" name="Shape 27"/>
          <p:cNvSpPr/>
          <p:nvPr/>
        </p:nvSpPr>
        <p:spPr>
          <a:xfrm>
            <a:off x="1325880" y="4137660"/>
            <a:ext cx="4343400" cy="91"/>
          </a:xfrm>
          <a:prstGeom prst="line">
            <a:avLst/>
          </a:prstGeom>
          <a:noFill/>
          <a:ln w="6350">
            <a:solidFill>
              <a:srgbClr val="E3EFED"/>
            </a:solidFill>
            <a:prstDash val="solid"/>
          </a:ln>
        </p:spPr>
      </p:sp>
      <p:sp>
        <p:nvSpPr>
          <p:cNvPr id="30" name="Shape 28"/>
          <p:cNvSpPr/>
          <p:nvPr/>
        </p:nvSpPr>
        <p:spPr>
          <a:xfrm>
            <a:off x="1325880" y="3886200"/>
            <a:ext cx="4343400" cy="91"/>
          </a:xfrm>
          <a:prstGeom prst="line">
            <a:avLst/>
          </a:prstGeom>
          <a:noFill/>
          <a:ln w="6350">
            <a:solidFill>
              <a:srgbClr val="C5DCD9"/>
            </a:solidFill>
            <a:prstDash val="solid"/>
          </a:ln>
        </p:spPr>
      </p:sp>
      <p:sp>
        <p:nvSpPr>
          <p:cNvPr id="31" name="Shape 29"/>
          <p:cNvSpPr/>
          <p:nvPr/>
        </p:nvSpPr>
        <p:spPr>
          <a:xfrm>
            <a:off x="1325880" y="3634740"/>
            <a:ext cx="4343400" cy="91"/>
          </a:xfrm>
          <a:prstGeom prst="line">
            <a:avLst/>
          </a:prstGeom>
          <a:noFill/>
          <a:ln w="6350">
            <a:solidFill>
              <a:srgbClr val="E3EFED"/>
            </a:solidFill>
            <a:prstDash val="solid"/>
          </a:ln>
        </p:spPr>
      </p:sp>
      <p:sp>
        <p:nvSpPr>
          <p:cNvPr id="32" name="Shape 30"/>
          <p:cNvSpPr/>
          <p:nvPr/>
        </p:nvSpPr>
        <p:spPr>
          <a:xfrm>
            <a:off x="1325880" y="3383280"/>
            <a:ext cx="4343400" cy="91"/>
          </a:xfrm>
          <a:prstGeom prst="line">
            <a:avLst/>
          </a:prstGeom>
          <a:noFill/>
          <a:ln w="6350">
            <a:solidFill>
              <a:srgbClr val="C5DCD9"/>
            </a:solidFill>
            <a:prstDash val="solid"/>
          </a:ln>
        </p:spPr>
      </p:sp>
      <p:sp>
        <p:nvSpPr>
          <p:cNvPr id="33" name="Shape 31"/>
          <p:cNvSpPr/>
          <p:nvPr/>
        </p:nvSpPr>
        <p:spPr>
          <a:xfrm>
            <a:off x="1325880" y="3131820"/>
            <a:ext cx="4343400" cy="91"/>
          </a:xfrm>
          <a:prstGeom prst="line">
            <a:avLst/>
          </a:prstGeom>
          <a:noFill/>
          <a:ln w="6350">
            <a:solidFill>
              <a:srgbClr val="E3EFED"/>
            </a:solidFill>
            <a:prstDash val="solid"/>
          </a:ln>
        </p:spPr>
      </p:sp>
      <p:sp>
        <p:nvSpPr>
          <p:cNvPr id="34" name="Shape 32"/>
          <p:cNvSpPr/>
          <p:nvPr/>
        </p:nvSpPr>
        <p:spPr>
          <a:xfrm>
            <a:off x="1325880" y="2880360"/>
            <a:ext cx="4343400" cy="91"/>
          </a:xfrm>
          <a:prstGeom prst="line">
            <a:avLst/>
          </a:prstGeom>
          <a:noFill/>
          <a:ln w="6350">
            <a:solidFill>
              <a:srgbClr val="C5DCD9"/>
            </a:solidFill>
            <a:prstDash val="solid"/>
          </a:ln>
        </p:spPr>
      </p:sp>
      <p:sp>
        <p:nvSpPr>
          <p:cNvPr id="35" name="Shape 33"/>
          <p:cNvSpPr/>
          <p:nvPr/>
        </p:nvSpPr>
        <p:spPr>
          <a:xfrm>
            <a:off x="1325880" y="2628900"/>
            <a:ext cx="4343400" cy="91"/>
          </a:xfrm>
          <a:prstGeom prst="line">
            <a:avLst/>
          </a:prstGeom>
          <a:noFill/>
          <a:ln w="6350">
            <a:solidFill>
              <a:srgbClr val="E3EFED"/>
            </a:solidFill>
            <a:prstDash val="solid"/>
          </a:ln>
        </p:spPr>
      </p:sp>
      <p:sp>
        <p:nvSpPr>
          <p:cNvPr id="36" name="Shape 34"/>
          <p:cNvSpPr/>
          <p:nvPr/>
        </p:nvSpPr>
        <p:spPr>
          <a:xfrm>
            <a:off x="1325880" y="2377440"/>
            <a:ext cx="4343400" cy="91"/>
          </a:xfrm>
          <a:prstGeom prst="line">
            <a:avLst/>
          </a:prstGeom>
          <a:noFill/>
          <a:ln w="6350">
            <a:solidFill>
              <a:srgbClr val="C5DCD9"/>
            </a:solidFill>
            <a:prstDash val="solid"/>
          </a:ln>
        </p:spPr>
      </p:sp>
      <p:sp>
        <p:nvSpPr>
          <p:cNvPr id="37" name="Shape 35"/>
          <p:cNvSpPr/>
          <p:nvPr/>
        </p:nvSpPr>
        <p:spPr>
          <a:xfrm>
            <a:off x="1325880" y="2125980"/>
            <a:ext cx="4343400" cy="91"/>
          </a:xfrm>
          <a:prstGeom prst="line">
            <a:avLst/>
          </a:prstGeom>
          <a:noFill/>
          <a:ln w="6350">
            <a:solidFill>
              <a:srgbClr val="E3EFED"/>
            </a:solidFill>
            <a:prstDash val="solid"/>
          </a:ln>
        </p:spPr>
      </p:sp>
      <p:sp>
        <p:nvSpPr>
          <p:cNvPr id="38" name="Shape 36"/>
          <p:cNvSpPr/>
          <p:nvPr/>
        </p:nvSpPr>
        <p:spPr>
          <a:xfrm>
            <a:off x="1325880" y="1874520"/>
            <a:ext cx="4343400" cy="91"/>
          </a:xfrm>
          <a:prstGeom prst="line">
            <a:avLst/>
          </a:prstGeom>
          <a:noFill/>
          <a:ln w="6350">
            <a:solidFill>
              <a:srgbClr val="C5DCD9"/>
            </a:solidFill>
            <a:prstDash val="solid"/>
          </a:ln>
        </p:spPr>
      </p:sp>
      <p:sp>
        <p:nvSpPr>
          <p:cNvPr id="39" name="Shape 37"/>
          <p:cNvSpPr/>
          <p:nvPr/>
        </p:nvSpPr>
        <p:spPr>
          <a:xfrm>
            <a:off x="1325880" y="1623060"/>
            <a:ext cx="4343400" cy="91"/>
          </a:xfrm>
          <a:prstGeom prst="line">
            <a:avLst/>
          </a:prstGeom>
          <a:noFill/>
          <a:ln w="6350">
            <a:solidFill>
              <a:srgbClr val="E3EFED"/>
            </a:solidFill>
            <a:prstDash val="solid"/>
          </a:ln>
        </p:spPr>
      </p:sp>
      <p:sp>
        <p:nvSpPr>
          <p:cNvPr id="40" name="Shape 38"/>
          <p:cNvSpPr/>
          <p:nvPr/>
        </p:nvSpPr>
        <p:spPr>
          <a:xfrm>
            <a:off x="1325880" y="1371600"/>
            <a:ext cx="4343400" cy="91"/>
          </a:xfrm>
          <a:prstGeom prst="line">
            <a:avLst/>
          </a:prstGeom>
          <a:noFill/>
          <a:ln w="6350">
            <a:solidFill>
              <a:srgbClr val="C5DCD9"/>
            </a:solidFill>
            <a:prstDash val="solid"/>
          </a:ln>
        </p:spPr>
      </p:sp>
      <p:sp>
        <p:nvSpPr>
          <p:cNvPr id="41" name="Shape 39"/>
          <p:cNvSpPr/>
          <p:nvPr/>
        </p:nvSpPr>
        <p:spPr>
          <a:xfrm>
            <a:off x="1325880" y="4389120"/>
            <a:ext cx="4343400" cy="91"/>
          </a:xfrm>
          <a:prstGeom prst="line">
            <a:avLst/>
          </a:prstGeom>
          <a:noFill/>
          <a:ln w="19050">
            <a:solidFill>
              <a:srgbClr val="133536"/>
            </a:solidFill>
            <a:prstDash val="solid"/>
          </a:ln>
        </p:spPr>
      </p:sp>
      <p:sp>
        <p:nvSpPr>
          <p:cNvPr id="42" name="Shape 40"/>
          <p:cNvSpPr/>
          <p:nvPr/>
        </p:nvSpPr>
        <p:spPr>
          <a:xfrm flipV="1">
            <a:off x="1325880" y="1371600"/>
            <a:ext cx="91" cy="3017520"/>
          </a:xfrm>
          <a:prstGeom prst="line">
            <a:avLst/>
          </a:prstGeom>
          <a:noFill/>
          <a:ln w="19050">
            <a:solidFill>
              <a:srgbClr val="133536"/>
            </a:solidFill>
            <a:prstDash val="solid"/>
          </a:ln>
        </p:spPr>
      </p:sp>
      <p:sp>
        <p:nvSpPr>
          <p:cNvPr id="43" name="Shape 41"/>
          <p:cNvSpPr/>
          <p:nvPr/>
        </p:nvSpPr>
        <p:spPr>
          <a:xfrm>
            <a:off x="1325880" y="4389120"/>
            <a:ext cx="91" cy="54864"/>
          </a:xfrm>
          <a:prstGeom prst="line">
            <a:avLst/>
          </a:prstGeom>
          <a:noFill/>
          <a:ln w="12700">
            <a:solidFill>
              <a:srgbClr val="133536"/>
            </a:solidFill>
            <a:prstDash val="solid"/>
          </a:ln>
        </p:spPr>
      </p:sp>
      <p:sp>
        <p:nvSpPr>
          <p:cNvPr id="44" name="Text 42"/>
          <p:cNvSpPr/>
          <p:nvPr/>
        </p:nvSpPr>
        <p:spPr>
          <a:xfrm>
            <a:off x="1051560" y="444398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45" name="Shape 43"/>
          <p:cNvSpPr/>
          <p:nvPr/>
        </p:nvSpPr>
        <p:spPr>
          <a:xfrm>
            <a:off x="1868805" y="4389120"/>
            <a:ext cx="91" cy="54864"/>
          </a:xfrm>
          <a:prstGeom prst="line">
            <a:avLst/>
          </a:prstGeom>
          <a:noFill/>
          <a:ln w="12700">
            <a:solidFill>
              <a:srgbClr val="133536"/>
            </a:solidFill>
            <a:prstDash val="solid"/>
          </a:ln>
        </p:spPr>
      </p:sp>
      <p:sp>
        <p:nvSpPr>
          <p:cNvPr id="46" name="Text 44"/>
          <p:cNvSpPr/>
          <p:nvPr/>
        </p:nvSpPr>
        <p:spPr>
          <a:xfrm>
            <a:off x="1594485" y="444398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a:t>
            </a:r>
            <a:endParaRPr lang="en-US" sz="1000" dirty="0"/>
          </a:p>
        </p:txBody>
      </p:sp>
      <p:sp>
        <p:nvSpPr>
          <p:cNvPr id="47" name="Shape 45"/>
          <p:cNvSpPr/>
          <p:nvPr/>
        </p:nvSpPr>
        <p:spPr>
          <a:xfrm>
            <a:off x="2411730" y="4389120"/>
            <a:ext cx="91" cy="54864"/>
          </a:xfrm>
          <a:prstGeom prst="line">
            <a:avLst/>
          </a:prstGeom>
          <a:noFill/>
          <a:ln w="12700">
            <a:solidFill>
              <a:srgbClr val="133536"/>
            </a:solidFill>
            <a:prstDash val="solid"/>
          </a:ln>
        </p:spPr>
      </p:sp>
      <p:sp>
        <p:nvSpPr>
          <p:cNvPr id="48" name="Text 46"/>
          <p:cNvSpPr/>
          <p:nvPr/>
        </p:nvSpPr>
        <p:spPr>
          <a:xfrm>
            <a:off x="2137410" y="444398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a:t>
            </a:r>
            <a:endParaRPr lang="en-US" sz="1000" dirty="0"/>
          </a:p>
        </p:txBody>
      </p:sp>
      <p:sp>
        <p:nvSpPr>
          <p:cNvPr id="49" name="Shape 47"/>
          <p:cNvSpPr/>
          <p:nvPr/>
        </p:nvSpPr>
        <p:spPr>
          <a:xfrm>
            <a:off x="2954655" y="4389120"/>
            <a:ext cx="91" cy="54864"/>
          </a:xfrm>
          <a:prstGeom prst="line">
            <a:avLst/>
          </a:prstGeom>
          <a:noFill/>
          <a:ln w="12700">
            <a:solidFill>
              <a:srgbClr val="133536"/>
            </a:solidFill>
            <a:prstDash val="solid"/>
          </a:ln>
        </p:spPr>
      </p:sp>
      <p:sp>
        <p:nvSpPr>
          <p:cNvPr id="50" name="Text 48"/>
          <p:cNvSpPr/>
          <p:nvPr/>
        </p:nvSpPr>
        <p:spPr>
          <a:xfrm>
            <a:off x="2680335" y="444398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6</a:t>
            </a:r>
            <a:endParaRPr lang="en-US" sz="1000" dirty="0"/>
          </a:p>
        </p:txBody>
      </p:sp>
      <p:sp>
        <p:nvSpPr>
          <p:cNvPr id="51" name="Shape 49"/>
          <p:cNvSpPr/>
          <p:nvPr/>
        </p:nvSpPr>
        <p:spPr>
          <a:xfrm>
            <a:off x="3497580" y="4389120"/>
            <a:ext cx="91" cy="54864"/>
          </a:xfrm>
          <a:prstGeom prst="line">
            <a:avLst/>
          </a:prstGeom>
          <a:noFill/>
          <a:ln w="12700">
            <a:solidFill>
              <a:srgbClr val="133536"/>
            </a:solidFill>
            <a:prstDash val="solid"/>
          </a:ln>
        </p:spPr>
      </p:sp>
      <p:sp>
        <p:nvSpPr>
          <p:cNvPr id="52" name="Text 50"/>
          <p:cNvSpPr/>
          <p:nvPr/>
        </p:nvSpPr>
        <p:spPr>
          <a:xfrm>
            <a:off x="3223260" y="444398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8</a:t>
            </a:r>
            <a:endParaRPr lang="en-US" sz="1000" dirty="0"/>
          </a:p>
        </p:txBody>
      </p:sp>
      <p:sp>
        <p:nvSpPr>
          <p:cNvPr id="53" name="Shape 51"/>
          <p:cNvSpPr/>
          <p:nvPr/>
        </p:nvSpPr>
        <p:spPr>
          <a:xfrm>
            <a:off x="4040505" y="4389120"/>
            <a:ext cx="91" cy="54864"/>
          </a:xfrm>
          <a:prstGeom prst="line">
            <a:avLst/>
          </a:prstGeom>
          <a:noFill/>
          <a:ln w="12700">
            <a:solidFill>
              <a:srgbClr val="133536"/>
            </a:solidFill>
            <a:prstDash val="solid"/>
          </a:ln>
        </p:spPr>
      </p:sp>
      <p:sp>
        <p:nvSpPr>
          <p:cNvPr id="54" name="Text 52"/>
          <p:cNvSpPr/>
          <p:nvPr/>
        </p:nvSpPr>
        <p:spPr>
          <a:xfrm>
            <a:off x="3766185" y="444398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55" name="Shape 53"/>
          <p:cNvSpPr/>
          <p:nvPr/>
        </p:nvSpPr>
        <p:spPr>
          <a:xfrm>
            <a:off x="4583430" y="4389120"/>
            <a:ext cx="91" cy="54864"/>
          </a:xfrm>
          <a:prstGeom prst="line">
            <a:avLst/>
          </a:prstGeom>
          <a:noFill/>
          <a:ln w="12700">
            <a:solidFill>
              <a:srgbClr val="133536"/>
            </a:solidFill>
            <a:prstDash val="solid"/>
          </a:ln>
        </p:spPr>
      </p:sp>
      <p:sp>
        <p:nvSpPr>
          <p:cNvPr id="56" name="Text 54"/>
          <p:cNvSpPr/>
          <p:nvPr/>
        </p:nvSpPr>
        <p:spPr>
          <a:xfrm>
            <a:off x="4309110" y="444398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12</a:t>
            </a:r>
            <a:endParaRPr lang="en-US" sz="1000" dirty="0"/>
          </a:p>
        </p:txBody>
      </p:sp>
      <p:sp>
        <p:nvSpPr>
          <p:cNvPr id="57" name="Shape 55"/>
          <p:cNvSpPr/>
          <p:nvPr/>
        </p:nvSpPr>
        <p:spPr>
          <a:xfrm>
            <a:off x="5126355" y="4389120"/>
            <a:ext cx="91" cy="54864"/>
          </a:xfrm>
          <a:prstGeom prst="line">
            <a:avLst/>
          </a:prstGeom>
          <a:noFill/>
          <a:ln w="12700">
            <a:solidFill>
              <a:srgbClr val="133536"/>
            </a:solidFill>
            <a:prstDash val="solid"/>
          </a:ln>
        </p:spPr>
      </p:sp>
      <p:sp>
        <p:nvSpPr>
          <p:cNvPr id="58" name="Text 56"/>
          <p:cNvSpPr/>
          <p:nvPr/>
        </p:nvSpPr>
        <p:spPr>
          <a:xfrm>
            <a:off x="4852035" y="444398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14</a:t>
            </a:r>
            <a:endParaRPr lang="en-US" sz="1000" dirty="0"/>
          </a:p>
        </p:txBody>
      </p:sp>
      <p:sp>
        <p:nvSpPr>
          <p:cNvPr id="59" name="Shape 57"/>
          <p:cNvSpPr/>
          <p:nvPr/>
        </p:nvSpPr>
        <p:spPr>
          <a:xfrm>
            <a:off x="5669280" y="4389120"/>
            <a:ext cx="91" cy="54864"/>
          </a:xfrm>
          <a:prstGeom prst="line">
            <a:avLst/>
          </a:prstGeom>
          <a:noFill/>
          <a:ln w="12700">
            <a:solidFill>
              <a:srgbClr val="133536"/>
            </a:solidFill>
            <a:prstDash val="solid"/>
          </a:ln>
        </p:spPr>
      </p:sp>
      <p:sp>
        <p:nvSpPr>
          <p:cNvPr id="60" name="Text 58"/>
          <p:cNvSpPr/>
          <p:nvPr/>
        </p:nvSpPr>
        <p:spPr>
          <a:xfrm>
            <a:off x="5394960" y="444398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16</a:t>
            </a:r>
            <a:endParaRPr lang="en-US" sz="1000" dirty="0"/>
          </a:p>
        </p:txBody>
      </p:sp>
      <p:sp>
        <p:nvSpPr>
          <p:cNvPr id="61" name="Shape 59"/>
          <p:cNvSpPr/>
          <p:nvPr/>
        </p:nvSpPr>
        <p:spPr>
          <a:xfrm>
            <a:off x="1271016" y="4389120"/>
            <a:ext cx="54864" cy="91"/>
          </a:xfrm>
          <a:prstGeom prst="line">
            <a:avLst/>
          </a:prstGeom>
          <a:noFill/>
          <a:ln w="12700">
            <a:solidFill>
              <a:srgbClr val="133536"/>
            </a:solidFill>
            <a:prstDash val="solid"/>
          </a:ln>
        </p:spPr>
      </p:sp>
      <p:sp>
        <p:nvSpPr>
          <p:cNvPr id="62" name="Text 60"/>
          <p:cNvSpPr/>
          <p:nvPr/>
        </p:nvSpPr>
        <p:spPr>
          <a:xfrm>
            <a:off x="886968" y="42976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0.0</a:t>
            </a:r>
            <a:endParaRPr lang="en-US" sz="1000" dirty="0"/>
          </a:p>
        </p:txBody>
      </p:sp>
      <p:sp>
        <p:nvSpPr>
          <p:cNvPr id="63" name="Shape 61"/>
          <p:cNvSpPr/>
          <p:nvPr/>
        </p:nvSpPr>
        <p:spPr>
          <a:xfrm>
            <a:off x="1271016" y="3886200"/>
            <a:ext cx="54864" cy="91"/>
          </a:xfrm>
          <a:prstGeom prst="line">
            <a:avLst/>
          </a:prstGeom>
          <a:noFill/>
          <a:ln w="12700">
            <a:solidFill>
              <a:srgbClr val="133536"/>
            </a:solidFill>
            <a:prstDash val="solid"/>
          </a:ln>
        </p:spPr>
      </p:sp>
      <p:sp>
        <p:nvSpPr>
          <p:cNvPr id="64" name="Text 62"/>
          <p:cNvSpPr/>
          <p:nvPr/>
        </p:nvSpPr>
        <p:spPr>
          <a:xfrm>
            <a:off x="886968" y="37947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0.5</a:t>
            </a:r>
            <a:endParaRPr lang="en-US" sz="1000" dirty="0"/>
          </a:p>
        </p:txBody>
      </p:sp>
      <p:sp>
        <p:nvSpPr>
          <p:cNvPr id="65" name="Shape 63"/>
          <p:cNvSpPr/>
          <p:nvPr/>
        </p:nvSpPr>
        <p:spPr>
          <a:xfrm>
            <a:off x="1271016" y="3383280"/>
            <a:ext cx="54864" cy="91"/>
          </a:xfrm>
          <a:prstGeom prst="line">
            <a:avLst/>
          </a:prstGeom>
          <a:noFill/>
          <a:ln w="12700">
            <a:solidFill>
              <a:srgbClr val="133536"/>
            </a:solidFill>
            <a:prstDash val="solid"/>
          </a:ln>
        </p:spPr>
      </p:sp>
      <p:sp>
        <p:nvSpPr>
          <p:cNvPr id="66" name="Text 64"/>
          <p:cNvSpPr/>
          <p:nvPr/>
        </p:nvSpPr>
        <p:spPr>
          <a:xfrm>
            <a:off x="886968" y="329184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67" name="Shape 65"/>
          <p:cNvSpPr/>
          <p:nvPr/>
        </p:nvSpPr>
        <p:spPr>
          <a:xfrm>
            <a:off x="1271016" y="2880360"/>
            <a:ext cx="54864" cy="91"/>
          </a:xfrm>
          <a:prstGeom prst="line">
            <a:avLst/>
          </a:prstGeom>
          <a:noFill/>
          <a:ln w="12700">
            <a:solidFill>
              <a:srgbClr val="133536"/>
            </a:solidFill>
            <a:prstDash val="solid"/>
          </a:ln>
        </p:spPr>
      </p:sp>
      <p:sp>
        <p:nvSpPr>
          <p:cNvPr id="68" name="Text 66"/>
          <p:cNvSpPr/>
          <p:nvPr/>
        </p:nvSpPr>
        <p:spPr>
          <a:xfrm>
            <a:off x="886968" y="278892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1.5</a:t>
            </a:r>
            <a:endParaRPr lang="en-US" sz="1000" dirty="0"/>
          </a:p>
        </p:txBody>
      </p:sp>
      <p:sp>
        <p:nvSpPr>
          <p:cNvPr id="69" name="Shape 67"/>
          <p:cNvSpPr/>
          <p:nvPr/>
        </p:nvSpPr>
        <p:spPr>
          <a:xfrm>
            <a:off x="1271016" y="2377440"/>
            <a:ext cx="54864" cy="91"/>
          </a:xfrm>
          <a:prstGeom prst="line">
            <a:avLst/>
          </a:prstGeom>
          <a:noFill/>
          <a:ln w="12700">
            <a:solidFill>
              <a:srgbClr val="133536"/>
            </a:solidFill>
            <a:prstDash val="solid"/>
          </a:ln>
        </p:spPr>
      </p:sp>
      <p:sp>
        <p:nvSpPr>
          <p:cNvPr id="70" name="Text 68"/>
          <p:cNvSpPr/>
          <p:nvPr/>
        </p:nvSpPr>
        <p:spPr>
          <a:xfrm>
            <a:off x="886968" y="22860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71" name="Shape 69"/>
          <p:cNvSpPr/>
          <p:nvPr/>
        </p:nvSpPr>
        <p:spPr>
          <a:xfrm>
            <a:off x="1271016" y="1874520"/>
            <a:ext cx="54864" cy="91"/>
          </a:xfrm>
          <a:prstGeom prst="line">
            <a:avLst/>
          </a:prstGeom>
          <a:noFill/>
          <a:ln w="12700">
            <a:solidFill>
              <a:srgbClr val="133536"/>
            </a:solidFill>
            <a:prstDash val="solid"/>
          </a:ln>
        </p:spPr>
      </p:sp>
      <p:sp>
        <p:nvSpPr>
          <p:cNvPr id="72" name="Text 70"/>
          <p:cNvSpPr/>
          <p:nvPr/>
        </p:nvSpPr>
        <p:spPr>
          <a:xfrm>
            <a:off x="886968" y="17830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2.5</a:t>
            </a:r>
            <a:endParaRPr lang="en-US" sz="1000" dirty="0"/>
          </a:p>
        </p:txBody>
      </p:sp>
      <p:sp>
        <p:nvSpPr>
          <p:cNvPr id="73" name="Shape 71"/>
          <p:cNvSpPr/>
          <p:nvPr/>
        </p:nvSpPr>
        <p:spPr>
          <a:xfrm>
            <a:off x="1271016" y="1371600"/>
            <a:ext cx="54864" cy="91"/>
          </a:xfrm>
          <a:prstGeom prst="line">
            <a:avLst/>
          </a:prstGeom>
          <a:noFill/>
          <a:ln w="12700">
            <a:solidFill>
              <a:srgbClr val="133536"/>
            </a:solidFill>
            <a:prstDash val="solid"/>
          </a:ln>
        </p:spPr>
      </p:sp>
      <p:sp>
        <p:nvSpPr>
          <p:cNvPr id="74" name="Text 72"/>
          <p:cNvSpPr/>
          <p:nvPr/>
        </p:nvSpPr>
        <p:spPr>
          <a:xfrm>
            <a:off x="886968" y="12801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3.0</a:t>
            </a:r>
            <a:endParaRPr lang="en-US" sz="1000" dirty="0"/>
          </a:p>
        </p:txBody>
      </p:sp>
      <p:sp>
        <p:nvSpPr>
          <p:cNvPr id="75" name="Text 73"/>
          <p:cNvSpPr/>
          <p:nvPr/>
        </p:nvSpPr>
        <p:spPr>
          <a:xfrm>
            <a:off x="1325880" y="4636008"/>
            <a:ext cx="434340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time / min</a:t>
            </a:r>
            <a:endParaRPr lang="en-US" sz="1050" dirty="0"/>
          </a:p>
        </p:txBody>
      </p:sp>
      <p:sp>
        <p:nvSpPr>
          <p:cNvPr id="76" name="Text 74"/>
          <p:cNvSpPr/>
          <p:nvPr/>
        </p:nvSpPr>
        <p:spPr>
          <a:xfrm rot="16200000">
            <a:off x="-749808" y="2752344"/>
            <a:ext cx="30175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oxygen uptake / dm³ per min</a:t>
            </a:r>
            <a:endParaRPr lang="en-US" sz="1050" dirty="0"/>
          </a:p>
        </p:txBody>
      </p:sp>
      <p:sp>
        <p:nvSpPr>
          <p:cNvPr id="77" name="Shape 75"/>
          <p:cNvSpPr/>
          <p:nvPr/>
        </p:nvSpPr>
        <p:spPr>
          <a:xfrm>
            <a:off x="1868805" y="1371600"/>
            <a:ext cx="1628775" cy="3017520"/>
          </a:xfrm>
          <a:prstGeom prst="rect">
            <a:avLst/>
          </a:prstGeom>
          <a:solidFill>
            <a:srgbClr val="FBE3C2">
              <a:alpha val="65000"/>
            </a:srgbClr>
          </a:solidFill>
          <a:ln/>
        </p:spPr>
      </p:sp>
      <p:sp>
        <p:nvSpPr>
          <p:cNvPr id="78" name="Shape 76"/>
          <p:cNvSpPr/>
          <p:nvPr/>
        </p:nvSpPr>
        <p:spPr>
          <a:xfrm>
            <a:off x="3497580" y="1874520"/>
            <a:ext cx="1628775" cy="2212848"/>
          </a:xfrm>
          <a:custGeom>
            <a:avLst/>
            <a:gdLst/>
            <a:ahLst/>
            <a:cxnLst/>
            <a:rect l="l" t="t" r="r" b="b"/>
            <a:pathLst>
              <a:path w="1628775" h="2212848">
                <a:moveTo>
                  <a:pt x="0" y="2212848"/>
                </a:moveTo>
                <a:lnTo>
                  <a:pt x="0" y="0"/>
                </a:lnTo>
                <a:lnTo>
                  <a:pt x="1628775" y="2212848"/>
                </a:lnTo>
                <a:close/>
              </a:path>
            </a:pathLst>
          </a:custGeom>
          <a:solidFill>
            <a:srgbClr val="C8414C">
              <a:alpha val="45000"/>
            </a:srgbClr>
          </a:solidFill>
          <a:ln/>
        </p:spPr>
      </p:sp>
      <p:sp>
        <p:nvSpPr>
          <p:cNvPr id="79" name="Shape 77"/>
          <p:cNvSpPr/>
          <p:nvPr/>
        </p:nvSpPr>
        <p:spPr>
          <a:xfrm>
            <a:off x="1325880" y="4087368"/>
            <a:ext cx="542925" cy="91"/>
          </a:xfrm>
          <a:prstGeom prst="line">
            <a:avLst/>
          </a:prstGeom>
          <a:noFill/>
          <a:ln w="31750">
            <a:solidFill>
              <a:srgbClr val="0D7877"/>
            </a:solidFill>
            <a:prstDash val="solid"/>
          </a:ln>
        </p:spPr>
      </p:sp>
      <p:sp>
        <p:nvSpPr>
          <p:cNvPr id="80" name="Shape 78"/>
          <p:cNvSpPr/>
          <p:nvPr/>
        </p:nvSpPr>
        <p:spPr>
          <a:xfrm flipV="1">
            <a:off x="1868805" y="1874520"/>
            <a:ext cx="542925" cy="2212848"/>
          </a:xfrm>
          <a:prstGeom prst="line">
            <a:avLst/>
          </a:prstGeom>
          <a:noFill/>
          <a:ln w="31750">
            <a:solidFill>
              <a:srgbClr val="0D7877"/>
            </a:solidFill>
            <a:prstDash val="solid"/>
          </a:ln>
        </p:spPr>
      </p:sp>
      <p:sp>
        <p:nvSpPr>
          <p:cNvPr id="81" name="Shape 79"/>
          <p:cNvSpPr/>
          <p:nvPr/>
        </p:nvSpPr>
        <p:spPr>
          <a:xfrm>
            <a:off x="2411730" y="1874520"/>
            <a:ext cx="1085850" cy="91"/>
          </a:xfrm>
          <a:prstGeom prst="line">
            <a:avLst/>
          </a:prstGeom>
          <a:noFill/>
          <a:ln w="31750">
            <a:solidFill>
              <a:srgbClr val="0D7877"/>
            </a:solidFill>
            <a:prstDash val="solid"/>
          </a:ln>
        </p:spPr>
      </p:sp>
      <p:sp>
        <p:nvSpPr>
          <p:cNvPr id="82" name="Shape 80"/>
          <p:cNvSpPr/>
          <p:nvPr/>
        </p:nvSpPr>
        <p:spPr>
          <a:xfrm>
            <a:off x="3497580" y="1874520"/>
            <a:ext cx="1628775" cy="2212848"/>
          </a:xfrm>
          <a:prstGeom prst="line">
            <a:avLst/>
          </a:prstGeom>
          <a:noFill/>
          <a:ln w="31750">
            <a:solidFill>
              <a:srgbClr val="0D7877"/>
            </a:solidFill>
            <a:prstDash val="solid"/>
          </a:ln>
        </p:spPr>
      </p:sp>
      <p:sp>
        <p:nvSpPr>
          <p:cNvPr id="83" name="Shape 81"/>
          <p:cNvSpPr/>
          <p:nvPr/>
        </p:nvSpPr>
        <p:spPr>
          <a:xfrm>
            <a:off x="5126355" y="4087368"/>
            <a:ext cx="542925" cy="91"/>
          </a:xfrm>
          <a:prstGeom prst="line">
            <a:avLst/>
          </a:prstGeom>
          <a:noFill/>
          <a:ln w="31750">
            <a:solidFill>
              <a:srgbClr val="0D7877"/>
            </a:solidFill>
            <a:prstDash val="solid"/>
          </a:ln>
        </p:spPr>
      </p:sp>
      <p:sp>
        <p:nvSpPr>
          <p:cNvPr id="84" name="Shape 82"/>
          <p:cNvSpPr/>
          <p:nvPr/>
        </p:nvSpPr>
        <p:spPr>
          <a:xfrm>
            <a:off x="1325880" y="1572768"/>
            <a:ext cx="2171700" cy="91"/>
          </a:xfrm>
          <a:prstGeom prst="line">
            <a:avLst/>
          </a:prstGeom>
          <a:noFill/>
          <a:ln w="15875">
            <a:solidFill>
              <a:srgbClr val="C8414C"/>
            </a:solidFill>
            <a:prstDash val="dash"/>
          </a:ln>
        </p:spPr>
      </p:sp>
      <p:sp>
        <p:nvSpPr>
          <p:cNvPr id="85" name="Text 83"/>
          <p:cNvSpPr/>
          <p:nvPr/>
        </p:nvSpPr>
        <p:spPr>
          <a:xfrm>
            <a:off x="1371600" y="1325880"/>
            <a:ext cx="2743200" cy="256032"/>
          </a:xfrm>
          <a:prstGeom prst="rect">
            <a:avLst/>
          </a:prstGeom>
          <a:noFill/>
          <a:ln/>
        </p:spPr>
        <p:txBody>
          <a:bodyPr wrap="square" lIns="0" tIns="0" rIns="0" bIns="0" rtlCol="0" anchor="ctr"/>
          <a:lstStyle/>
          <a:p>
            <a:pPr algn="l" indent="0" marL="0">
              <a:buNone/>
            </a:pPr>
            <a:r>
              <a:rPr lang="en-US" sz="1000" b="1" dirty="0">
                <a:solidFill>
                  <a:srgbClr val="C8414C"/>
                </a:solidFill>
                <a:latin typeface="Calibri" pitchFamily="34" charset="0"/>
                <a:ea typeface="Calibri" pitchFamily="34" charset="-122"/>
                <a:cs typeface="Calibri" pitchFamily="34" charset="-120"/>
              </a:rPr>
              <a:t>oxygen the muscles really need</a:t>
            </a:r>
            <a:endParaRPr lang="en-US" sz="1000" dirty="0"/>
          </a:p>
        </p:txBody>
      </p:sp>
      <p:sp>
        <p:nvSpPr>
          <p:cNvPr id="86" name="Text 84"/>
          <p:cNvSpPr/>
          <p:nvPr/>
        </p:nvSpPr>
        <p:spPr>
          <a:xfrm>
            <a:off x="1868805" y="3232404"/>
            <a:ext cx="1628775" cy="256032"/>
          </a:xfrm>
          <a:prstGeom prst="rect">
            <a:avLst/>
          </a:prstGeom>
          <a:noFill/>
          <a:ln/>
        </p:spPr>
        <p:txBody>
          <a:bodyPr wrap="square" lIns="0" tIns="0" rIns="0" bIns="0" rtlCol="0" anchor="ctr"/>
          <a:lstStyle/>
          <a:p>
            <a:pPr algn="ctr" indent="0" marL="0">
              <a:buNone/>
            </a:pPr>
            <a:r>
              <a:rPr lang="en-US" sz="1100" b="1" dirty="0">
                <a:solidFill>
                  <a:srgbClr val="B8730A"/>
                </a:solidFill>
                <a:latin typeface="Calibri" pitchFamily="34" charset="0"/>
                <a:ea typeface="Calibri" pitchFamily="34" charset="-122"/>
                <a:cs typeface="Calibri" pitchFamily="34" charset="-120"/>
              </a:rPr>
              <a:t>EXERCISE</a:t>
            </a:r>
            <a:endParaRPr lang="en-US" sz="1100" dirty="0"/>
          </a:p>
        </p:txBody>
      </p:sp>
      <p:sp>
        <p:nvSpPr>
          <p:cNvPr id="87" name="Text 85"/>
          <p:cNvSpPr/>
          <p:nvPr/>
        </p:nvSpPr>
        <p:spPr>
          <a:xfrm>
            <a:off x="3524726" y="3131820"/>
            <a:ext cx="868680" cy="256032"/>
          </a:xfrm>
          <a:prstGeom prst="rect">
            <a:avLst/>
          </a:prstGeom>
          <a:noFill/>
          <a:ln/>
        </p:spPr>
        <p:txBody>
          <a:bodyPr wrap="square" lIns="0" tIns="0" rIns="0" bIns="0" rtlCol="0" anchor="ctr"/>
          <a:lstStyle/>
          <a:p>
            <a:pPr algn="l" indent="0" marL="0">
              <a:buNone/>
            </a:pPr>
            <a:r>
              <a:rPr lang="en-US" sz="1050" b="1" dirty="0">
                <a:solidFill>
                  <a:srgbClr val="FFFFFF"/>
                </a:solidFill>
                <a:latin typeface="Calibri" pitchFamily="34" charset="0"/>
                <a:ea typeface="Calibri" pitchFamily="34" charset="-122"/>
                <a:cs typeface="Calibri" pitchFamily="34" charset="-120"/>
              </a:rPr>
              <a:t>oxygen debt</a:t>
            </a:r>
            <a:endParaRPr lang="en-US" sz="1050" dirty="0"/>
          </a:p>
        </p:txBody>
      </p:sp>
      <p:sp>
        <p:nvSpPr>
          <p:cNvPr id="88" name="Text 86"/>
          <p:cNvSpPr/>
          <p:nvPr/>
        </p:nvSpPr>
        <p:spPr>
          <a:xfrm>
            <a:off x="3524726" y="3360420"/>
            <a:ext cx="868680" cy="256032"/>
          </a:xfrm>
          <a:prstGeom prst="rect">
            <a:avLst/>
          </a:prstGeom>
          <a:noFill/>
          <a:ln/>
        </p:spPr>
        <p:txBody>
          <a:bodyPr wrap="square" lIns="0" tIns="0" rIns="0" bIns="0" rtlCol="0" anchor="ctr"/>
          <a:lstStyle/>
          <a:p>
            <a:pPr algn="l" indent="0" marL="0">
              <a:buNone/>
            </a:pPr>
            <a:r>
              <a:rPr lang="en-US" sz="1050" b="1" dirty="0">
                <a:solidFill>
                  <a:srgbClr val="FFFFFF"/>
                </a:solidFill>
                <a:latin typeface="Calibri" pitchFamily="34" charset="0"/>
                <a:ea typeface="Calibri" pitchFamily="34" charset="-122"/>
                <a:cs typeface="Calibri" pitchFamily="34" charset="-120"/>
              </a:rPr>
              <a:t>≈ 6.6 dm³</a:t>
            </a:r>
            <a:endParaRPr lang="en-US" sz="1050" dirty="0"/>
          </a:p>
        </p:txBody>
      </p:sp>
      <p:sp>
        <p:nvSpPr>
          <p:cNvPr id="89" name="Text 87"/>
          <p:cNvSpPr/>
          <p:nvPr/>
        </p:nvSpPr>
        <p:spPr>
          <a:xfrm>
            <a:off x="1344168" y="3813048"/>
            <a:ext cx="731520" cy="256032"/>
          </a:xfrm>
          <a:prstGeom prst="rect">
            <a:avLst/>
          </a:prstGeom>
          <a:noFill/>
          <a:ln/>
        </p:spPr>
        <p:txBody>
          <a:bodyPr wrap="square" lIns="0" tIns="0" rIns="0" bIns="0" rtlCol="0" anchor="ctr"/>
          <a:lstStyle/>
          <a:p>
            <a:pPr algn="l" indent="0" marL="0">
              <a:buNone/>
            </a:pPr>
            <a:r>
              <a:rPr lang="en-US" sz="1000" i="1" dirty="0">
                <a:solidFill>
                  <a:srgbClr val="6B7385"/>
                </a:solidFill>
                <a:latin typeface="Calibri" pitchFamily="34" charset="0"/>
                <a:ea typeface="Calibri" pitchFamily="34" charset="-122"/>
                <a:cs typeface="Calibri" pitchFamily="34" charset="-120"/>
              </a:rPr>
              <a:t>rest</a:t>
            </a:r>
            <a:endParaRPr lang="en-US" sz="1000" dirty="0"/>
          </a:p>
        </p:txBody>
      </p:sp>
      <p:sp>
        <p:nvSpPr>
          <p:cNvPr id="90" name="Shape 88"/>
          <p:cNvSpPr/>
          <p:nvPr/>
        </p:nvSpPr>
        <p:spPr>
          <a:xfrm>
            <a:off x="685800" y="4956048"/>
            <a:ext cx="5029200" cy="384048"/>
          </a:xfrm>
          <a:prstGeom prst="roundRect">
            <a:avLst>
              <a:gd name="adj" fmla="val 14286"/>
            </a:avLst>
          </a:prstGeom>
          <a:solidFill>
            <a:srgbClr val="FFFFFF"/>
          </a:solidFill>
          <a:ln w="12700">
            <a:solidFill>
              <a:srgbClr val="C8414C"/>
            </a:solidFill>
            <a:prstDash val="solid"/>
          </a:ln>
        </p:spPr>
      </p:sp>
      <p:sp>
        <p:nvSpPr>
          <p:cNvPr id="91" name="Text 89"/>
          <p:cNvSpPr/>
          <p:nvPr/>
        </p:nvSpPr>
        <p:spPr>
          <a:xfrm>
            <a:off x="795528" y="4956048"/>
            <a:ext cx="4809744" cy="384048"/>
          </a:xfrm>
          <a:prstGeom prst="rect">
            <a:avLst/>
          </a:prstGeom>
          <a:noFill/>
          <a:ln/>
        </p:spPr>
        <p:txBody>
          <a:bodyPr wrap="square" lIns="0" tIns="0" rIns="0" bIns="0" rtlCol="0" anchor="ctr"/>
          <a:lstStyle/>
          <a:p>
            <a:pPr algn="ctr" indent="0" marL="0">
              <a:buNone/>
            </a:pPr>
            <a:r>
              <a:rPr lang="en-US" sz="1200" b="1" dirty="0">
                <a:solidFill>
                  <a:srgbClr val="262B3A"/>
                </a:solidFill>
                <a:latin typeface="Calibri" pitchFamily="34" charset="0"/>
                <a:ea typeface="Calibri" pitchFamily="34" charset="-122"/>
                <a:cs typeface="Calibri" pitchFamily="34" charset="-120"/>
              </a:rPr>
              <a:t>glucose → lactic acid</a:t>
            </a:r>
            <a:r>
              <a:rPr lang="en-US" sz="1200" dirty="0">
                <a:solidFill>
                  <a:srgbClr val="262B3A"/>
                </a:solidFill>
                <a:latin typeface="Calibri" pitchFamily="34" charset="0"/>
                <a:ea typeface="Calibri" pitchFamily="34" charset="-122"/>
                <a:cs typeface="Calibri" pitchFamily="34" charset="-120"/>
              </a:rPr>
              <a:t>   (a little energy transferred to ATP)</a:t>
            </a:r>
            <a:endParaRPr lang="en-US" sz="1200" dirty="0"/>
          </a:p>
        </p:txBody>
      </p:sp>
      <p:sp>
        <p:nvSpPr>
          <p:cNvPr id="92" name="Shape 90"/>
          <p:cNvSpPr/>
          <p:nvPr/>
        </p:nvSpPr>
        <p:spPr>
          <a:xfrm>
            <a:off x="6217920" y="1188720"/>
            <a:ext cx="5562295" cy="2423160"/>
          </a:xfrm>
          <a:prstGeom prst="roundRect">
            <a:avLst>
              <a:gd name="adj" fmla="val 2264"/>
            </a:avLst>
          </a:prstGeom>
          <a:solidFill>
            <a:srgbClr val="F4FAF9"/>
          </a:solidFill>
          <a:ln w="9525">
            <a:solidFill>
              <a:srgbClr val="CFE0DE"/>
            </a:solidFill>
            <a:prstDash val="solid"/>
          </a:ln>
        </p:spPr>
      </p:sp>
      <p:sp>
        <p:nvSpPr>
          <p:cNvPr id="93" name="Text 91"/>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When oxygen runs short</a:t>
            </a:r>
            <a:endParaRPr lang="en-US" sz="1300" dirty="0"/>
          </a:p>
        </p:txBody>
      </p:sp>
      <p:sp>
        <p:nvSpPr>
          <p:cNvPr id="94" name="Text 92"/>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During </a:t>
            </a:r>
            <a:r>
              <a:rPr lang="en-US" sz="1100" b="1" dirty="0">
                <a:solidFill>
                  <a:srgbClr val="262B3A"/>
                </a:solidFill>
                <a:latin typeface="Calibri" pitchFamily="34" charset="0"/>
                <a:ea typeface="Calibri" pitchFamily="34" charset="-122"/>
                <a:cs typeface="Calibri" pitchFamily="34" charset="-120"/>
              </a:rPr>
              <a:t>vigorous exercise</a:t>
            </a:r>
            <a:r>
              <a:rPr lang="en-US" sz="1100" dirty="0">
                <a:solidFill>
                  <a:srgbClr val="262B3A"/>
                </a:solidFill>
                <a:latin typeface="Calibri" pitchFamily="34" charset="0"/>
                <a:ea typeface="Calibri" pitchFamily="34" charset="-122"/>
                <a:cs typeface="Calibri" pitchFamily="34" charset="-120"/>
              </a:rPr>
              <a:t> the blood cannot supply oxygen to muscles fast enough.</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Muscle cells also respire </a:t>
            </a:r>
            <a:r>
              <a:rPr lang="en-US" sz="1100" b="1" dirty="0">
                <a:solidFill>
                  <a:srgbClr val="262B3A"/>
                </a:solidFill>
                <a:latin typeface="Calibri" pitchFamily="34" charset="0"/>
                <a:ea typeface="Calibri" pitchFamily="34" charset="-122"/>
                <a:cs typeface="Calibri" pitchFamily="34" charset="-120"/>
              </a:rPr>
              <a:t>anaerobically</a:t>
            </a:r>
            <a:r>
              <a:rPr lang="en-US" sz="1100" dirty="0">
                <a:solidFill>
                  <a:srgbClr val="262B3A"/>
                </a:solidFill>
                <a:latin typeface="Calibri" pitchFamily="34" charset="0"/>
                <a:ea typeface="Calibri" pitchFamily="34" charset="-122"/>
                <a:cs typeface="Calibri" pitchFamily="34" charset="-120"/>
              </a:rPr>
              <a:t> (without oxygen): </a:t>
            </a:r>
            <a:r>
              <a:rPr lang="en-US" sz="1100" b="1" dirty="0">
                <a:solidFill>
                  <a:srgbClr val="262B3A"/>
                </a:solidFill>
                <a:latin typeface="Calibri" pitchFamily="34" charset="0"/>
                <a:ea typeface="Calibri" pitchFamily="34" charset="-122"/>
                <a:cs typeface="Calibri" pitchFamily="34" charset="-120"/>
              </a:rPr>
              <a:t>glucose → lactic acid</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This transfers </a:t>
            </a:r>
            <a:r>
              <a:rPr lang="en-US" sz="1100" b="1" dirty="0">
                <a:solidFill>
                  <a:srgbClr val="262B3A"/>
                </a:solidFill>
                <a:latin typeface="Calibri" pitchFamily="34" charset="0"/>
                <a:ea typeface="Calibri" pitchFamily="34" charset="-122"/>
                <a:cs typeface="Calibri" pitchFamily="34" charset="-120"/>
              </a:rPr>
              <a:t>much less</a:t>
            </a:r>
            <a:r>
              <a:rPr lang="en-US" sz="1100" dirty="0">
                <a:solidFill>
                  <a:srgbClr val="262B3A"/>
                </a:solidFill>
                <a:latin typeface="Calibri" pitchFamily="34" charset="0"/>
                <a:ea typeface="Calibri" pitchFamily="34" charset="-122"/>
                <a:cs typeface="Calibri" pitchFamily="34" charset="-120"/>
              </a:rPr>
              <a:t> energy to ATP, because glucose is only </a:t>
            </a:r>
            <a:r>
              <a:rPr lang="en-US" sz="1100" b="1" dirty="0">
                <a:solidFill>
                  <a:srgbClr val="262B3A"/>
                </a:solidFill>
                <a:latin typeface="Calibri" pitchFamily="34" charset="0"/>
                <a:ea typeface="Calibri" pitchFamily="34" charset="-122"/>
                <a:cs typeface="Calibri" pitchFamily="34" charset="-120"/>
              </a:rPr>
              <a:t>partly</a:t>
            </a:r>
            <a:r>
              <a:rPr lang="en-US" sz="1100" dirty="0">
                <a:solidFill>
                  <a:srgbClr val="262B3A"/>
                </a:solidFill>
                <a:latin typeface="Calibri" pitchFamily="34" charset="0"/>
                <a:ea typeface="Calibri" pitchFamily="34" charset="-122"/>
                <a:cs typeface="Calibri" pitchFamily="34" charset="-120"/>
              </a:rPr>
              <a:t> broken down. No carbon dioxide is made.</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Lactic acid builds up and causes </a:t>
            </a:r>
            <a:r>
              <a:rPr lang="en-US" sz="1100" b="1" dirty="0">
                <a:solidFill>
                  <a:srgbClr val="262B3A"/>
                </a:solidFill>
                <a:latin typeface="Calibri" pitchFamily="34" charset="0"/>
                <a:ea typeface="Calibri" pitchFamily="34" charset="-122"/>
                <a:cs typeface="Calibri" pitchFamily="34" charset="-120"/>
              </a:rPr>
              <a:t>muscle fatigue</a:t>
            </a:r>
            <a:r>
              <a:rPr lang="en-US" sz="1100" dirty="0">
                <a:solidFill>
                  <a:srgbClr val="262B3A"/>
                </a:solidFill>
                <a:latin typeface="Calibri" pitchFamily="34" charset="0"/>
                <a:ea typeface="Calibri" pitchFamily="34" charset="-122"/>
                <a:cs typeface="Calibri" pitchFamily="34" charset="-120"/>
              </a:rPr>
              <a:t>. After exercise, extra oxygen (the </a:t>
            </a:r>
            <a:r>
              <a:rPr lang="en-US" sz="1100" b="1" dirty="0">
                <a:solidFill>
                  <a:srgbClr val="262B3A"/>
                </a:solidFill>
                <a:latin typeface="Calibri" pitchFamily="34" charset="0"/>
                <a:ea typeface="Calibri" pitchFamily="34" charset="-122"/>
                <a:cs typeface="Calibri" pitchFamily="34" charset="-120"/>
              </a:rPr>
              <a:t>oxygen debt</a:t>
            </a:r>
            <a:r>
              <a:rPr lang="en-US" sz="1100" dirty="0">
                <a:solidFill>
                  <a:srgbClr val="262B3A"/>
                </a:solidFill>
                <a:latin typeface="Calibri" pitchFamily="34" charset="0"/>
                <a:ea typeface="Calibri" pitchFamily="34" charset="-122"/>
                <a:cs typeface="Calibri" pitchFamily="34" charset="-120"/>
              </a:rPr>
              <a:t>) is needed to break it down.</a:t>
            </a:r>
            <a:endParaRPr lang="en-US" sz="1100" dirty="0"/>
          </a:p>
        </p:txBody>
      </p:sp>
      <p:sp>
        <p:nvSpPr>
          <p:cNvPr id="95" name="Shape 93"/>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96" name="Text 94"/>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Stretch: oxygen debt from the graph</a:t>
            </a:r>
            <a:endParaRPr lang="en-US" sz="1300" dirty="0"/>
          </a:p>
        </p:txBody>
      </p:sp>
      <p:sp>
        <p:nvSpPr>
          <p:cNvPr id="97" name="Text 95"/>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After exercise the uptake falls in a straight line from 2.5 to 0.3 dm³/min over 6 minutes.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Shape   </a:t>
            </a:r>
            <a:r>
              <a:rPr lang="en-US" sz="1050" dirty="0">
                <a:solidFill>
                  <a:srgbClr val="262B3A"/>
                </a:solidFill>
                <a:latin typeface="Calibri" pitchFamily="34" charset="0"/>
                <a:ea typeface="Calibri" pitchFamily="34" charset="-122"/>
                <a:cs typeface="Calibri" pitchFamily="34" charset="-120"/>
              </a:rPr>
              <a:t>shaded area is a triangle</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Area   </a:t>
            </a:r>
            <a:r>
              <a:rPr lang="en-US" sz="1050" dirty="0">
                <a:solidFill>
                  <a:srgbClr val="262B3A"/>
                </a:solidFill>
                <a:latin typeface="Calibri" pitchFamily="34" charset="0"/>
                <a:ea typeface="Calibri" pitchFamily="34" charset="-122"/>
                <a:cs typeface="Calibri" pitchFamily="34" charset="-120"/>
              </a:rPr>
              <a:t>debt = ½ × base × height</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Substitute   </a:t>
            </a:r>
            <a:r>
              <a:rPr lang="en-US" sz="1050" dirty="0">
                <a:solidFill>
                  <a:srgbClr val="262B3A"/>
                </a:solidFill>
                <a:latin typeface="Calibri" pitchFamily="34" charset="0"/>
                <a:ea typeface="Calibri" pitchFamily="34" charset="-122"/>
                <a:cs typeface="Calibri" pitchFamily="34" charset="-120"/>
              </a:rPr>
              <a:t>½ × 6 min × (2.5 − 0.3) dm³/min</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oxygen debt = 6.6 dm³</a:t>
            </a:r>
            <a:endParaRPr lang="en-US" sz="1050" dirty="0"/>
          </a:p>
        </p:txBody>
      </p:sp>
      <p:sp>
        <p:nvSpPr>
          <p:cNvPr id="98" name="Shape 96"/>
          <p:cNvSpPr/>
          <p:nvPr/>
        </p:nvSpPr>
        <p:spPr>
          <a:xfrm>
            <a:off x="411480" y="5833872"/>
            <a:ext cx="11368735" cy="530352"/>
          </a:xfrm>
          <a:prstGeom prst="rect">
            <a:avLst/>
          </a:prstGeom>
          <a:solidFill>
            <a:srgbClr val="FFF4E0"/>
          </a:solidFill>
          <a:ln w="6350">
            <a:solidFill>
              <a:srgbClr val="F1D9A8"/>
            </a:solidFill>
            <a:prstDash val="solid"/>
          </a:ln>
        </p:spPr>
      </p:sp>
      <p:sp>
        <p:nvSpPr>
          <p:cNvPr id="99" name="Shape 97"/>
          <p:cNvSpPr/>
          <p:nvPr/>
        </p:nvSpPr>
        <p:spPr>
          <a:xfrm>
            <a:off x="411480" y="5833872"/>
            <a:ext cx="82296" cy="530352"/>
          </a:xfrm>
          <a:prstGeom prst="rect">
            <a:avLst/>
          </a:prstGeom>
          <a:solidFill>
            <a:srgbClr val="E39A2F"/>
          </a:solidFill>
          <a:ln w="12700">
            <a:solidFill>
              <a:srgbClr val="E39A2F"/>
            </a:solidFill>
            <a:prstDash val="solid"/>
          </a:ln>
        </p:spPr>
      </p:sp>
      <p:sp>
        <p:nvSpPr>
          <p:cNvPr id="100" name="Text 9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Use the graph: for how many minutes after the exercise did the runner keep breathing in extra oxygen? Why?</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Anaerobic respiration in plants, yeast and bacteria</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B4.1.1 • plant cells and yeast make ethanol and carbon dioxide</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B4.1 What happens during cellular respiration?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B4.1.1  |  12</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roots in waterlogged soil (left) and a budding yeast cell (right)</a:t>
            </a:r>
            <a:endParaRPr lang="en-US" sz="1000" dirty="0"/>
          </a:p>
        </p:txBody>
      </p:sp>
      <p:sp>
        <p:nvSpPr>
          <p:cNvPr id="10" name="Text 8"/>
          <p:cNvSpPr/>
          <p:nvPr/>
        </p:nvSpPr>
        <p:spPr>
          <a:xfrm>
            <a:off x="640080" y="1298448"/>
            <a:ext cx="2468880" cy="256032"/>
          </a:xfrm>
          <a:prstGeom prst="rect">
            <a:avLst/>
          </a:prstGeom>
          <a:noFill/>
          <a:ln/>
        </p:spPr>
        <p:txBody>
          <a:bodyPr wrap="square" lIns="0" tIns="0" rIns="0" bIns="0" rtlCol="0" anchor="ctr"/>
          <a:lstStyle/>
          <a:p>
            <a:pPr algn="ctr" indent="0" marL="0">
              <a:buNone/>
            </a:pPr>
            <a:r>
              <a:rPr lang="en-US" sz="1100" b="1" dirty="0">
                <a:solidFill>
                  <a:srgbClr val="0D7877"/>
                </a:solidFill>
                <a:latin typeface="Calibri" pitchFamily="34" charset="0"/>
                <a:ea typeface="Calibri" pitchFamily="34" charset="-122"/>
                <a:cs typeface="Calibri" pitchFamily="34" charset="-120"/>
              </a:rPr>
              <a:t>Roots in waterlogged soil</a:t>
            </a:r>
            <a:endParaRPr lang="en-US" sz="1100" dirty="0"/>
          </a:p>
        </p:txBody>
      </p:sp>
      <p:sp>
        <p:nvSpPr>
          <p:cNvPr id="11" name="Shape 9"/>
          <p:cNvSpPr/>
          <p:nvPr/>
        </p:nvSpPr>
        <p:spPr>
          <a:xfrm>
            <a:off x="1874520" y="1783080"/>
            <a:ext cx="91" cy="1188720"/>
          </a:xfrm>
          <a:prstGeom prst="line">
            <a:avLst/>
          </a:prstGeom>
          <a:noFill/>
          <a:ln w="38100">
            <a:solidFill>
              <a:srgbClr val="3E7F2E"/>
            </a:solidFill>
            <a:prstDash val="solid"/>
          </a:ln>
        </p:spPr>
      </p:sp>
      <p:sp>
        <p:nvSpPr>
          <p:cNvPr id="12" name="Shape 10"/>
          <p:cNvSpPr/>
          <p:nvPr/>
        </p:nvSpPr>
        <p:spPr>
          <a:xfrm rot="-1800000">
            <a:off x="1325880" y="1965960"/>
            <a:ext cx="548640" cy="237744"/>
          </a:xfrm>
          <a:prstGeom prst="ellipse">
            <a:avLst/>
          </a:prstGeom>
          <a:solidFill>
            <a:srgbClr val="7DBE6A"/>
          </a:solidFill>
          <a:ln w="12700">
            <a:solidFill>
              <a:srgbClr val="3E7F2E"/>
            </a:solidFill>
            <a:prstDash val="solid"/>
          </a:ln>
        </p:spPr>
      </p:sp>
      <p:sp>
        <p:nvSpPr>
          <p:cNvPr id="13" name="Shape 11"/>
          <p:cNvSpPr/>
          <p:nvPr/>
        </p:nvSpPr>
        <p:spPr>
          <a:xfrm rot="1800000">
            <a:off x="2011680" y="1828800"/>
            <a:ext cx="548640" cy="237744"/>
          </a:xfrm>
          <a:prstGeom prst="ellipse">
            <a:avLst/>
          </a:prstGeom>
          <a:solidFill>
            <a:srgbClr val="7DBE6A"/>
          </a:solidFill>
          <a:ln w="12700">
            <a:solidFill>
              <a:srgbClr val="3E7F2E"/>
            </a:solidFill>
            <a:prstDash val="solid"/>
          </a:ln>
        </p:spPr>
      </p:sp>
      <p:sp>
        <p:nvSpPr>
          <p:cNvPr id="14" name="Shape 12"/>
          <p:cNvSpPr/>
          <p:nvPr/>
        </p:nvSpPr>
        <p:spPr>
          <a:xfrm rot="-1500000">
            <a:off x="1371600" y="2423160"/>
            <a:ext cx="548640" cy="237744"/>
          </a:xfrm>
          <a:prstGeom prst="ellipse">
            <a:avLst/>
          </a:prstGeom>
          <a:solidFill>
            <a:srgbClr val="7DBE6A"/>
          </a:solidFill>
          <a:ln w="12700">
            <a:solidFill>
              <a:srgbClr val="3E7F2E"/>
            </a:solidFill>
            <a:prstDash val="solid"/>
          </a:ln>
        </p:spPr>
      </p:sp>
      <p:sp>
        <p:nvSpPr>
          <p:cNvPr id="15" name="Shape 13"/>
          <p:cNvSpPr/>
          <p:nvPr/>
        </p:nvSpPr>
        <p:spPr>
          <a:xfrm rot="1500000">
            <a:off x="1965960" y="2286000"/>
            <a:ext cx="548640" cy="237744"/>
          </a:xfrm>
          <a:prstGeom prst="ellipse">
            <a:avLst/>
          </a:prstGeom>
          <a:solidFill>
            <a:srgbClr val="7DBE6A"/>
          </a:solidFill>
          <a:ln w="12700">
            <a:solidFill>
              <a:srgbClr val="3E7F2E"/>
            </a:solidFill>
            <a:prstDash val="solid"/>
          </a:ln>
        </p:spPr>
      </p:sp>
      <p:sp>
        <p:nvSpPr>
          <p:cNvPr id="16" name="Shape 14"/>
          <p:cNvSpPr/>
          <p:nvPr/>
        </p:nvSpPr>
        <p:spPr>
          <a:xfrm>
            <a:off x="685800" y="2971800"/>
            <a:ext cx="2377440" cy="1600200"/>
          </a:xfrm>
          <a:prstGeom prst="rect">
            <a:avLst/>
          </a:prstGeom>
          <a:solidFill>
            <a:srgbClr val="9C7A52"/>
          </a:solidFill>
          <a:ln w="12700">
            <a:solidFill>
              <a:srgbClr val="6E5232"/>
            </a:solidFill>
            <a:prstDash val="solid"/>
          </a:ln>
        </p:spPr>
      </p:sp>
      <p:sp>
        <p:nvSpPr>
          <p:cNvPr id="17" name="Shape 15"/>
          <p:cNvSpPr/>
          <p:nvPr/>
        </p:nvSpPr>
        <p:spPr>
          <a:xfrm>
            <a:off x="685800" y="2834640"/>
            <a:ext cx="2377440" cy="137160"/>
          </a:xfrm>
          <a:prstGeom prst="rect">
            <a:avLst/>
          </a:prstGeom>
          <a:solidFill>
            <a:srgbClr val="BFD9F2"/>
          </a:solidFill>
          <a:ln w="9525">
            <a:solidFill>
              <a:srgbClr val="5B9BD5"/>
            </a:solidFill>
            <a:prstDash val="solid"/>
          </a:ln>
        </p:spPr>
      </p:sp>
      <p:sp>
        <p:nvSpPr>
          <p:cNvPr id="18" name="Shape 16"/>
          <p:cNvSpPr/>
          <p:nvPr/>
        </p:nvSpPr>
        <p:spPr>
          <a:xfrm>
            <a:off x="868680" y="3200400"/>
            <a:ext cx="219456" cy="137160"/>
          </a:xfrm>
          <a:prstGeom prst="ellipse">
            <a:avLst/>
          </a:prstGeom>
          <a:solidFill>
            <a:srgbClr val="BFD9F2"/>
          </a:solidFill>
          <a:ln w="6350">
            <a:solidFill>
              <a:srgbClr val="5B9BD5"/>
            </a:solidFill>
            <a:prstDash val="solid"/>
          </a:ln>
        </p:spPr>
      </p:sp>
      <p:sp>
        <p:nvSpPr>
          <p:cNvPr id="19" name="Shape 17"/>
          <p:cNvSpPr/>
          <p:nvPr/>
        </p:nvSpPr>
        <p:spPr>
          <a:xfrm>
            <a:off x="1280160" y="3520440"/>
            <a:ext cx="219456" cy="137160"/>
          </a:xfrm>
          <a:prstGeom prst="ellipse">
            <a:avLst/>
          </a:prstGeom>
          <a:solidFill>
            <a:srgbClr val="BFD9F2"/>
          </a:solidFill>
          <a:ln w="6350">
            <a:solidFill>
              <a:srgbClr val="5B9BD5"/>
            </a:solidFill>
            <a:prstDash val="solid"/>
          </a:ln>
        </p:spPr>
      </p:sp>
      <p:sp>
        <p:nvSpPr>
          <p:cNvPr id="20" name="Shape 18"/>
          <p:cNvSpPr/>
          <p:nvPr/>
        </p:nvSpPr>
        <p:spPr>
          <a:xfrm>
            <a:off x="2651760" y="3291840"/>
            <a:ext cx="219456" cy="137160"/>
          </a:xfrm>
          <a:prstGeom prst="ellipse">
            <a:avLst/>
          </a:prstGeom>
          <a:solidFill>
            <a:srgbClr val="BFD9F2"/>
          </a:solidFill>
          <a:ln w="6350">
            <a:solidFill>
              <a:srgbClr val="5B9BD5"/>
            </a:solidFill>
            <a:prstDash val="solid"/>
          </a:ln>
        </p:spPr>
      </p:sp>
      <p:sp>
        <p:nvSpPr>
          <p:cNvPr id="21" name="Shape 19"/>
          <p:cNvSpPr/>
          <p:nvPr/>
        </p:nvSpPr>
        <p:spPr>
          <a:xfrm>
            <a:off x="2377440" y="3931920"/>
            <a:ext cx="219456" cy="137160"/>
          </a:xfrm>
          <a:prstGeom prst="ellipse">
            <a:avLst/>
          </a:prstGeom>
          <a:solidFill>
            <a:srgbClr val="BFD9F2"/>
          </a:solidFill>
          <a:ln w="6350">
            <a:solidFill>
              <a:srgbClr val="5B9BD5"/>
            </a:solidFill>
            <a:prstDash val="solid"/>
          </a:ln>
        </p:spPr>
      </p:sp>
      <p:sp>
        <p:nvSpPr>
          <p:cNvPr id="22" name="Shape 20"/>
          <p:cNvSpPr/>
          <p:nvPr/>
        </p:nvSpPr>
        <p:spPr>
          <a:xfrm>
            <a:off x="960120" y="4114800"/>
            <a:ext cx="219456" cy="137160"/>
          </a:xfrm>
          <a:prstGeom prst="ellipse">
            <a:avLst/>
          </a:prstGeom>
          <a:solidFill>
            <a:srgbClr val="BFD9F2"/>
          </a:solidFill>
          <a:ln w="6350">
            <a:solidFill>
              <a:srgbClr val="5B9BD5"/>
            </a:solidFill>
            <a:prstDash val="solid"/>
          </a:ln>
        </p:spPr>
      </p:sp>
      <p:sp>
        <p:nvSpPr>
          <p:cNvPr id="23" name="Shape 21"/>
          <p:cNvSpPr/>
          <p:nvPr/>
        </p:nvSpPr>
        <p:spPr>
          <a:xfrm>
            <a:off x="2834640" y="4297680"/>
            <a:ext cx="219456" cy="137160"/>
          </a:xfrm>
          <a:prstGeom prst="ellipse">
            <a:avLst/>
          </a:prstGeom>
          <a:solidFill>
            <a:srgbClr val="BFD9F2"/>
          </a:solidFill>
          <a:ln w="6350">
            <a:solidFill>
              <a:srgbClr val="5B9BD5"/>
            </a:solidFill>
            <a:prstDash val="solid"/>
          </a:ln>
        </p:spPr>
      </p:sp>
      <p:sp>
        <p:nvSpPr>
          <p:cNvPr id="24" name="Shape 22"/>
          <p:cNvSpPr/>
          <p:nvPr/>
        </p:nvSpPr>
        <p:spPr>
          <a:xfrm>
            <a:off x="1554480" y="4206240"/>
            <a:ext cx="219456" cy="137160"/>
          </a:xfrm>
          <a:prstGeom prst="ellipse">
            <a:avLst/>
          </a:prstGeom>
          <a:solidFill>
            <a:srgbClr val="BFD9F2"/>
          </a:solidFill>
          <a:ln w="6350">
            <a:solidFill>
              <a:srgbClr val="5B9BD5"/>
            </a:solidFill>
            <a:prstDash val="solid"/>
          </a:ln>
        </p:spPr>
      </p:sp>
      <p:sp>
        <p:nvSpPr>
          <p:cNvPr id="25" name="Shape 23"/>
          <p:cNvSpPr/>
          <p:nvPr/>
        </p:nvSpPr>
        <p:spPr>
          <a:xfrm flipH="1">
            <a:off x="1417320" y="2971800"/>
            <a:ext cx="457200" cy="777240"/>
          </a:xfrm>
          <a:prstGeom prst="line">
            <a:avLst/>
          </a:prstGeom>
          <a:noFill/>
          <a:ln w="25400">
            <a:solidFill>
              <a:srgbClr val="F2E6C8"/>
            </a:solidFill>
            <a:prstDash val="solid"/>
          </a:ln>
        </p:spPr>
      </p:sp>
      <p:sp>
        <p:nvSpPr>
          <p:cNvPr id="26" name="Shape 24"/>
          <p:cNvSpPr/>
          <p:nvPr/>
        </p:nvSpPr>
        <p:spPr>
          <a:xfrm>
            <a:off x="1874520" y="2971800"/>
            <a:ext cx="457200" cy="685800"/>
          </a:xfrm>
          <a:prstGeom prst="line">
            <a:avLst/>
          </a:prstGeom>
          <a:noFill/>
          <a:ln w="25400">
            <a:solidFill>
              <a:srgbClr val="F2E6C8"/>
            </a:solidFill>
            <a:prstDash val="solid"/>
          </a:ln>
        </p:spPr>
      </p:sp>
      <p:sp>
        <p:nvSpPr>
          <p:cNvPr id="27" name="Shape 25"/>
          <p:cNvSpPr/>
          <p:nvPr/>
        </p:nvSpPr>
        <p:spPr>
          <a:xfrm>
            <a:off x="1874520" y="2971800"/>
            <a:ext cx="91" cy="1371600"/>
          </a:xfrm>
          <a:prstGeom prst="line">
            <a:avLst/>
          </a:prstGeom>
          <a:noFill/>
          <a:ln w="25400">
            <a:solidFill>
              <a:srgbClr val="F2E6C8"/>
            </a:solidFill>
            <a:prstDash val="solid"/>
          </a:ln>
        </p:spPr>
      </p:sp>
      <p:sp>
        <p:nvSpPr>
          <p:cNvPr id="28" name="Shape 26"/>
          <p:cNvSpPr/>
          <p:nvPr/>
        </p:nvSpPr>
        <p:spPr>
          <a:xfrm flipH="1">
            <a:off x="1188720" y="3749040"/>
            <a:ext cx="228600" cy="457200"/>
          </a:xfrm>
          <a:prstGeom prst="line">
            <a:avLst/>
          </a:prstGeom>
          <a:noFill/>
          <a:ln w="25400">
            <a:solidFill>
              <a:srgbClr val="F2E6C8"/>
            </a:solidFill>
            <a:prstDash val="solid"/>
          </a:ln>
        </p:spPr>
      </p:sp>
      <p:sp>
        <p:nvSpPr>
          <p:cNvPr id="29" name="Shape 27"/>
          <p:cNvSpPr/>
          <p:nvPr/>
        </p:nvSpPr>
        <p:spPr>
          <a:xfrm>
            <a:off x="2331720" y="3657600"/>
            <a:ext cx="228600" cy="502920"/>
          </a:xfrm>
          <a:prstGeom prst="line">
            <a:avLst/>
          </a:prstGeom>
          <a:noFill/>
          <a:ln w="25400">
            <a:solidFill>
              <a:srgbClr val="F2E6C8"/>
            </a:solidFill>
            <a:prstDash val="solid"/>
          </a:ln>
        </p:spPr>
      </p:sp>
      <p:sp>
        <p:nvSpPr>
          <p:cNvPr id="30" name="Shape 28"/>
          <p:cNvSpPr/>
          <p:nvPr/>
        </p:nvSpPr>
        <p:spPr>
          <a:xfrm>
            <a:off x="1874520" y="3749040"/>
            <a:ext cx="274320" cy="457200"/>
          </a:xfrm>
          <a:prstGeom prst="line">
            <a:avLst/>
          </a:prstGeom>
          <a:noFill/>
          <a:ln w="25400">
            <a:solidFill>
              <a:srgbClr val="F2E6C8"/>
            </a:solidFill>
            <a:prstDash val="solid"/>
          </a:ln>
        </p:spPr>
      </p:sp>
      <p:sp>
        <p:nvSpPr>
          <p:cNvPr id="31" name="Text 29"/>
          <p:cNvSpPr/>
          <p:nvPr/>
        </p:nvSpPr>
        <p:spPr>
          <a:xfrm>
            <a:off x="640080" y="4617720"/>
            <a:ext cx="2468880" cy="457200"/>
          </a:xfrm>
          <a:prstGeom prst="rect">
            <a:avLst/>
          </a:prstGeom>
          <a:noFill/>
          <a:ln/>
        </p:spPr>
        <p:txBody>
          <a:bodyPr wrap="square" lIns="0" tIns="0" rIns="0" bIns="0" rtlCol="0" anchor="t"/>
          <a:lstStyle/>
          <a:p>
            <a:pPr algn="ctr" indent="0" marL="0">
              <a:buNone/>
            </a:pPr>
            <a:r>
              <a:rPr lang="en-US" sz="1050" dirty="0">
                <a:solidFill>
                  <a:srgbClr val="262B3A"/>
                </a:solidFill>
                <a:latin typeface="Calibri" pitchFamily="34" charset="0"/>
                <a:ea typeface="Calibri" pitchFamily="34" charset="-122"/>
                <a:cs typeface="Calibri" pitchFamily="34" charset="-120"/>
              </a:rPr>
              <a:t>air spaces filled with water → </a:t>
            </a:r>
            <a:r>
              <a:rPr lang="en-US" sz="1050" b="1" dirty="0">
                <a:solidFill>
                  <a:srgbClr val="262B3A"/>
                </a:solidFill>
                <a:latin typeface="Calibri" pitchFamily="34" charset="0"/>
                <a:ea typeface="Calibri" pitchFamily="34" charset="-122"/>
                <a:cs typeface="Calibri" pitchFamily="34" charset="-120"/>
              </a:rPr>
              <a:t>little oxygen</a:t>
            </a:r>
            <a:r>
              <a:rPr lang="en-US" sz="1050" dirty="0">
                <a:solidFill>
                  <a:srgbClr val="262B3A"/>
                </a:solidFill>
                <a:latin typeface="Calibri" pitchFamily="34" charset="0"/>
                <a:ea typeface="Calibri" pitchFamily="34" charset="-122"/>
                <a:cs typeface="Calibri" pitchFamily="34" charset="-120"/>
              </a:rPr>
              <a:t> for root cells</a:t>
            </a:r>
            <a:endParaRPr lang="en-US" sz="1050" dirty="0"/>
          </a:p>
        </p:txBody>
      </p:sp>
      <p:sp>
        <p:nvSpPr>
          <p:cNvPr id="32" name="Text 30"/>
          <p:cNvSpPr/>
          <p:nvPr/>
        </p:nvSpPr>
        <p:spPr>
          <a:xfrm>
            <a:off x="3429000" y="1298448"/>
            <a:ext cx="2377440" cy="256032"/>
          </a:xfrm>
          <a:prstGeom prst="rect">
            <a:avLst/>
          </a:prstGeom>
          <a:noFill/>
          <a:ln/>
        </p:spPr>
        <p:txBody>
          <a:bodyPr wrap="square" lIns="0" tIns="0" rIns="0" bIns="0" rtlCol="0" anchor="ctr"/>
          <a:lstStyle/>
          <a:p>
            <a:pPr algn="ctr" indent="0" marL="0">
              <a:buNone/>
            </a:pPr>
            <a:r>
              <a:rPr lang="en-US" sz="1100" b="1" dirty="0">
                <a:solidFill>
                  <a:srgbClr val="0D7877"/>
                </a:solidFill>
                <a:latin typeface="Calibri" pitchFamily="34" charset="0"/>
                <a:ea typeface="Calibri" pitchFamily="34" charset="-122"/>
                <a:cs typeface="Calibri" pitchFamily="34" charset="-120"/>
              </a:rPr>
              <a:t>Yeast (a single-celled fungus)</a:t>
            </a:r>
            <a:endParaRPr lang="en-US" sz="1100" dirty="0"/>
          </a:p>
        </p:txBody>
      </p:sp>
      <p:sp>
        <p:nvSpPr>
          <p:cNvPr id="33" name="Shape 31"/>
          <p:cNvSpPr/>
          <p:nvPr/>
        </p:nvSpPr>
        <p:spPr>
          <a:xfrm>
            <a:off x="5020056" y="1869034"/>
            <a:ext cx="559613" cy="404165"/>
          </a:xfrm>
          <a:prstGeom prst="ellipse">
            <a:avLst/>
          </a:prstGeom>
          <a:solidFill>
            <a:srgbClr val="F6E7BF"/>
          </a:solidFill>
          <a:ln w="15875">
            <a:solidFill>
              <a:srgbClr val="A07A2A"/>
            </a:solidFill>
            <a:prstDash val="solid"/>
          </a:ln>
        </p:spPr>
      </p:sp>
      <p:sp>
        <p:nvSpPr>
          <p:cNvPr id="34" name="Shape 32"/>
          <p:cNvSpPr/>
          <p:nvPr/>
        </p:nvSpPr>
        <p:spPr>
          <a:xfrm>
            <a:off x="3703320" y="2011680"/>
            <a:ext cx="1645920" cy="1188720"/>
          </a:xfrm>
          <a:prstGeom prst="ellipse">
            <a:avLst/>
          </a:prstGeom>
          <a:solidFill>
            <a:srgbClr val="F6E7BF"/>
          </a:solidFill>
          <a:ln w="22225">
            <a:solidFill>
              <a:srgbClr val="A07A2A"/>
            </a:solidFill>
            <a:prstDash val="solid"/>
          </a:ln>
        </p:spPr>
      </p:sp>
      <p:sp>
        <p:nvSpPr>
          <p:cNvPr id="35" name="Shape 33"/>
          <p:cNvSpPr/>
          <p:nvPr/>
        </p:nvSpPr>
        <p:spPr>
          <a:xfrm>
            <a:off x="4559198" y="2368296"/>
            <a:ext cx="526694" cy="499262"/>
          </a:xfrm>
          <a:prstGeom prst="ellipse">
            <a:avLst/>
          </a:prstGeom>
          <a:solidFill>
            <a:srgbClr val="DDEFF7"/>
          </a:solidFill>
          <a:ln w="9525">
            <a:solidFill>
              <a:srgbClr val="7FA9C4"/>
            </a:solidFill>
            <a:prstDash val="solid"/>
          </a:ln>
        </p:spPr>
      </p:sp>
      <p:sp>
        <p:nvSpPr>
          <p:cNvPr id="36" name="Shape 34"/>
          <p:cNvSpPr/>
          <p:nvPr/>
        </p:nvSpPr>
        <p:spPr>
          <a:xfrm>
            <a:off x="4032504" y="2308860"/>
            <a:ext cx="395021" cy="395021"/>
          </a:xfrm>
          <a:prstGeom prst="ellipse">
            <a:avLst/>
          </a:prstGeom>
          <a:solidFill>
            <a:srgbClr val="C9B6E4"/>
          </a:solidFill>
          <a:ln w="12700">
            <a:solidFill>
              <a:srgbClr val="6A4C93"/>
            </a:solidFill>
            <a:prstDash val="solid"/>
          </a:ln>
        </p:spPr>
      </p:sp>
      <p:sp>
        <p:nvSpPr>
          <p:cNvPr id="37" name="Shape 35"/>
          <p:cNvSpPr/>
          <p:nvPr/>
        </p:nvSpPr>
        <p:spPr>
          <a:xfrm rot="900000">
            <a:off x="4197096" y="2896819"/>
            <a:ext cx="263347" cy="131674"/>
          </a:xfrm>
          <a:prstGeom prst="ellipse">
            <a:avLst/>
          </a:prstGeom>
          <a:solidFill>
            <a:srgbClr val="F2B279"/>
          </a:solidFill>
          <a:ln w="15875">
            <a:solidFill>
              <a:srgbClr val="A4561C"/>
            </a:solidFill>
            <a:prstDash val="solid"/>
          </a:ln>
        </p:spPr>
      </p:sp>
      <p:sp>
        <p:nvSpPr>
          <p:cNvPr id="38" name="Shape 36"/>
          <p:cNvSpPr/>
          <p:nvPr/>
        </p:nvSpPr>
        <p:spPr>
          <a:xfrm>
            <a:off x="4249780" y="2911501"/>
            <a:ext cx="13834" cy="63687"/>
          </a:xfrm>
          <a:prstGeom prst="line">
            <a:avLst/>
          </a:prstGeom>
          <a:noFill/>
          <a:ln w="9525">
            <a:solidFill>
              <a:srgbClr val="A4561C"/>
            </a:solidFill>
            <a:prstDash val="solid"/>
          </a:ln>
        </p:spPr>
      </p:sp>
      <p:sp>
        <p:nvSpPr>
          <p:cNvPr id="39" name="Shape 37"/>
          <p:cNvSpPr/>
          <p:nvPr/>
        </p:nvSpPr>
        <p:spPr>
          <a:xfrm flipV="1">
            <a:off x="4263614" y="2926950"/>
            <a:ext cx="43824" cy="48238"/>
          </a:xfrm>
          <a:prstGeom prst="line">
            <a:avLst/>
          </a:prstGeom>
          <a:noFill/>
          <a:ln w="9525">
            <a:solidFill>
              <a:srgbClr val="A4561C"/>
            </a:solidFill>
            <a:prstDash val="solid"/>
          </a:ln>
        </p:spPr>
      </p:sp>
      <p:sp>
        <p:nvSpPr>
          <p:cNvPr id="40" name="Shape 38"/>
          <p:cNvSpPr/>
          <p:nvPr/>
        </p:nvSpPr>
        <p:spPr>
          <a:xfrm>
            <a:off x="4307438" y="2926950"/>
            <a:ext cx="13834" cy="63687"/>
          </a:xfrm>
          <a:prstGeom prst="line">
            <a:avLst/>
          </a:prstGeom>
          <a:noFill/>
          <a:ln w="9525">
            <a:solidFill>
              <a:srgbClr val="A4561C"/>
            </a:solidFill>
            <a:prstDash val="solid"/>
          </a:ln>
        </p:spPr>
      </p:sp>
      <p:sp>
        <p:nvSpPr>
          <p:cNvPr id="41" name="Shape 39"/>
          <p:cNvSpPr/>
          <p:nvPr/>
        </p:nvSpPr>
        <p:spPr>
          <a:xfrm flipV="1">
            <a:off x="4321272" y="2942400"/>
            <a:ext cx="43824" cy="48238"/>
          </a:xfrm>
          <a:prstGeom prst="line">
            <a:avLst/>
          </a:prstGeom>
          <a:noFill/>
          <a:ln w="9525">
            <a:solidFill>
              <a:srgbClr val="A4561C"/>
            </a:solidFill>
            <a:prstDash val="solid"/>
          </a:ln>
        </p:spPr>
      </p:sp>
      <p:sp>
        <p:nvSpPr>
          <p:cNvPr id="42" name="Shape 40"/>
          <p:cNvSpPr/>
          <p:nvPr/>
        </p:nvSpPr>
        <p:spPr>
          <a:xfrm>
            <a:off x="4365096" y="2942400"/>
            <a:ext cx="13834" cy="63687"/>
          </a:xfrm>
          <a:prstGeom prst="line">
            <a:avLst/>
          </a:prstGeom>
          <a:noFill/>
          <a:ln w="9525">
            <a:solidFill>
              <a:srgbClr val="A4561C"/>
            </a:solidFill>
            <a:prstDash val="solid"/>
          </a:ln>
        </p:spPr>
      </p:sp>
      <p:sp>
        <p:nvSpPr>
          <p:cNvPr id="43" name="Shape 41"/>
          <p:cNvSpPr/>
          <p:nvPr/>
        </p:nvSpPr>
        <p:spPr>
          <a:xfrm flipV="1">
            <a:off x="4378930" y="2957849"/>
            <a:ext cx="43824" cy="48238"/>
          </a:xfrm>
          <a:prstGeom prst="line">
            <a:avLst/>
          </a:prstGeom>
          <a:noFill/>
          <a:ln w="9525">
            <a:solidFill>
              <a:srgbClr val="A4561C"/>
            </a:solidFill>
            <a:prstDash val="solid"/>
          </a:ln>
        </p:spPr>
      </p:sp>
      <p:sp>
        <p:nvSpPr>
          <p:cNvPr id="44" name="Shape 42"/>
          <p:cNvSpPr/>
          <p:nvPr/>
        </p:nvSpPr>
        <p:spPr>
          <a:xfrm rot="-3600000">
            <a:off x="4888382" y="2718511"/>
            <a:ext cx="263347" cy="131674"/>
          </a:xfrm>
          <a:prstGeom prst="ellipse">
            <a:avLst/>
          </a:prstGeom>
          <a:solidFill>
            <a:srgbClr val="F2B279"/>
          </a:solidFill>
          <a:ln w="15875">
            <a:solidFill>
              <a:srgbClr val="A4561C"/>
            </a:solidFill>
            <a:prstDash val="solid"/>
          </a:ln>
        </p:spPr>
      </p:sp>
      <p:sp>
        <p:nvSpPr>
          <p:cNvPr id="45" name="Shape 43"/>
          <p:cNvSpPr/>
          <p:nvPr/>
        </p:nvSpPr>
        <p:spPr>
          <a:xfrm>
            <a:off x="4950200" y="2847406"/>
            <a:ext cx="65097" cy="3121"/>
          </a:xfrm>
          <a:prstGeom prst="line">
            <a:avLst/>
          </a:prstGeom>
          <a:noFill/>
          <a:ln w="9525">
            <a:solidFill>
              <a:srgbClr val="A4561C"/>
            </a:solidFill>
            <a:prstDash val="solid"/>
          </a:ln>
        </p:spPr>
      </p:sp>
      <p:sp>
        <p:nvSpPr>
          <p:cNvPr id="46" name="Shape 44"/>
          <p:cNvSpPr/>
          <p:nvPr/>
        </p:nvSpPr>
        <p:spPr>
          <a:xfrm flipH="1" flipV="1">
            <a:off x="4980046" y="2795711"/>
            <a:ext cx="35251" cy="54816"/>
          </a:xfrm>
          <a:prstGeom prst="line">
            <a:avLst/>
          </a:prstGeom>
          <a:noFill/>
          <a:ln w="9525">
            <a:solidFill>
              <a:srgbClr val="A4561C"/>
            </a:solidFill>
            <a:prstDash val="solid"/>
          </a:ln>
        </p:spPr>
      </p:sp>
      <p:sp>
        <p:nvSpPr>
          <p:cNvPr id="47" name="Shape 45"/>
          <p:cNvSpPr/>
          <p:nvPr/>
        </p:nvSpPr>
        <p:spPr>
          <a:xfrm>
            <a:off x="4980046" y="2795711"/>
            <a:ext cx="65097" cy="3121"/>
          </a:xfrm>
          <a:prstGeom prst="line">
            <a:avLst/>
          </a:prstGeom>
          <a:noFill/>
          <a:ln w="9525">
            <a:solidFill>
              <a:srgbClr val="A4561C"/>
            </a:solidFill>
            <a:prstDash val="solid"/>
          </a:ln>
        </p:spPr>
      </p:sp>
      <p:sp>
        <p:nvSpPr>
          <p:cNvPr id="48" name="Shape 46"/>
          <p:cNvSpPr/>
          <p:nvPr/>
        </p:nvSpPr>
        <p:spPr>
          <a:xfrm flipH="1" flipV="1">
            <a:off x="5009892" y="2744016"/>
            <a:ext cx="35251" cy="54816"/>
          </a:xfrm>
          <a:prstGeom prst="line">
            <a:avLst/>
          </a:prstGeom>
          <a:noFill/>
          <a:ln w="9525">
            <a:solidFill>
              <a:srgbClr val="A4561C"/>
            </a:solidFill>
            <a:prstDash val="solid"/>
          </a:ln>
        </p:spPr>
      </p:sp>
      <p:sp>
        <p:nvSpPr>
          <p:cNvPr id="49" name="Shape 47"/>
          <p:cNvSpPr/>
          <p:nvPr/>
        </p:nvSpPr>
        <p:spPr>
          <a:xfrm>
            <a:off x="5009892" y="2744016"/>
            <a:ext cx="65097" cy="3121"/>
          </a:xfrm>
          <a:prstGeom prst="line">
            <a:avLst/>
          </a:prstGeom>
          <a:noFill/>
          <a:ln w="9525">
            <a:solidFill>
              <a:srgbClr val="A4561C"/>
            </a:solidFill>
            <a:prstDash val="solid"/>
          </a:ln>
        </p:spPr>
      </p:sp>
      <p:sp>
        <p:nvSpPr>
          <p:cNvPr id="50" name="Shape 48"/>
          <p:cNvSpPr/>
          <p:nvPr/>
        </p:nvSpPr>
        <p:spPr>
          <a:xfrm flipH="1" flipV="1">
            <a:off x="5039738" y="2692322"/>
            <a:ext cx="35251" cy="54816"/>
          </a:xfrm>
          <a:prstGeom prst="line">
            <a:avLst/>
          </a:prstGeom>
          <a:noFill/>
          <a:ln w="9525">
            <a:solidFill>
              <a:srgbClr val="A4561C"/>
            </a:solidFill>
            <a:prstDash val="solid"/>
          </a:ln>
        </p:spPr>
      </p:sp>
      <p:sp>
        <p:nvSpPr>
          <p:cNvPr id="51" name="Shape 49"/>
          <p:cNvSpPr/>
          <p:nvPr/>
        </p:nvSpPr>
        <p:spPr>
          <a:xfrm>
            <a:off x="3246120" y="2606040"/>
            <a:ext cx="411480" cy="91"/>
          </a:xfrm>
          <a:prstGeom prst="line">
            <a:avLst/>
          </a:prstGeom>
          <a:noFill/>
          <a:ln w="25400">
            <a:solidFill>
              <a:srgbClr val="133536"/>
            </a:solidFill>
            <a:prstDash val="solid"/>
            <a:tailEnd type="triangle"/>
          </a:ln>
        </p:spPr>
      </p:sp>
      <p:sp>
        <p:nvSpPr>
          <p:cNvPr id="52" name="Text 50"/>
          <p:cNvSpPr/>
          <p:nvPr/>
        </p:nvSpPr>
        <p:spPr>
          <a:xfrm>
            <a:off x="3154680" y="2286000"/>
            <a:ext cx="822960" cy="256032"/>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glucose</a:t>
            </a:r>
            <a:endParaRPr lang="en-US" sz="1050" dirty="0"/>
          </a:p>
        </p:txBody>
      </p:sp>
      <p:sp>
        <p:nvSpPr>
          <p:cNvPr id="53" name="Shape 51"/>
          <p:cNvSpPr/>
          <p:nvPr/>
        </p:nvSpPr>
        <p:spPr>
          <a:xfrm>
            <a:off x="4846320" y="3200400"/>
            <a:ext cx="274320" cy="457200"/>
          </a:xfrm>
          <a:prstGeom prst="line">
            <a:avLst/>
          </a:prstGeom>
          <a:noFill/>
          <a:ln w="25400">
            <a:solidFill>
              <a:srgbClr val="C8414C"/>
            </a:solidFill>
            <a:prstDash val="solid"/>
            <a:tailEnd type="triangle"/>
          </a:ln>
        </p:spPr>
      </p:sp>
      <p:sp>
        <p:nvSpPr>
          <p:cNvPr id="54" name="Shape 52"/>
          <p:cNvSpPr/>
          <p:nvPr/>
        </p:nvSpPr>
        <p:spPr>
          <a:xfrm flipH="1">
            <a:off x="3977640" y="3200400"/>
            <a:ext cx="274320" cy="457200"/>
          </a:xfrm>
          <a:prstGeom prst="line">
            <a:avLst/>
          </a:prstGeom>
          <a:noFill/>
          <a:ln w="25400">
            <a:solidFill>
              <a:srgbClr val="C8414C"/>
            </a:solidFill>
            <a:prstDash val="solid"/>
            <a:tailEnd type="triangle"/>
          </a:ln>
        </p:spPr>
      </p:sp>
      <p:sp>
        <p:nvSpPr>
          <p:cNvPr id="55" name="Text 53"/>
          <p:cNvSpPr/>
          <p:nvPr/>
        </p:nvSpPr>
        <p:spPr>
          <a:xfrm>
            <a:off x="3337560" y="3657600"/>
            <a:ext cx="1188720" cy="256032"/>
          </a:xfrm>
          <a:prstGeom prst="rect">
            <a:avLst/>
          </a:prstGeom>
          <a:noFill/>
          <a:ln/>
        </p:spPr>
        <p:txBody>
          <a:bodyPr wrap="square" lIns="0" tIns="0" rIns="0" bIns="0" rtlCol="0" anchor="ctr"/>
          <a:lstStyle/>
          <a:p>
            <a:pPr algn="ctr" indent="0" marL="0">
              <a:buNone/>
            </a:pPr>
            <a:r>
              <a:rPr lang="en-US" sz="1050" b="1" dirty="0">
                <a:solidFill>
                  <a:srgbClr val="C8414C"/>
                </a:solidFill>
                <a:latin typeface="Calibri" pitchFamily="34" charset="0"/>
                <a:ea typeface="Calibri" pitchFamily="34" charset="-122"/>
                <a:cs typeface="Calibri" pitchFamily="34" charset="-120"/>
              </a:rPr>
              <a:t>ethanol</a:t>
            </a:r>
            <a:endParaRPr lang="en-US" sz="1050" dirty="0"/>
          </a:p>
        </p:txBody>
      </p:sp>
      <p:sp>
        <p:nvSpPr>
          <p:cNvPr id="56" name="Text 54"/>
          <p:cNvSpPr/>
          <p:nvPr/>
        </p:nvSpPr>
        <p:spPr>
          <a:xfrm>
            <a:off x="4572000" y="3657600"/>
            <a:ext cx="1325880" cy="256032"/>
          </a:xfrm>
          <a:prstGeom prst="rect">
            <a:avLst/>
          </a:prstGeom>
          <a:noFill/>
          <a:ln/>
        </p:spPr>
        <p:txBody>
          <a:bodyPr wrap="square" lIns="0" tIns="0" rIns="0" bIns="0" rtlCol="0" anchor="ctr"/>
          <a:lstStyle/>
          <a:p>
            <a:pPr algn="ctr" indent="0" marL="0">
              <a:buNone/>
            </a:pPr>
            <a:r>
              <a:rPr lang="en-US" sz="1050" b="1" dirty="0">
                <a:solidFill>
                  <a:srgbClr val="C8414C"/>
                </a:solidFill>
                <a:latin typeface="Calibri" pitchFamily="34" charset="0"/>
                <a:ea typeface="Calibri" pitchFamily="34" charset="-122"/>
                <a:cs typeface="Calibri" pitchFamily="34" charset="-120"/>
              </a:rPr>
              <a:t>carbon dioxide</a:t>
            </a:r>
            <a:endParaRPr lang="en-US" sz="1050" dirty="0"/>
          </a:p>
        </p:txBody>
      </p:sp>
      <p:sp>
        <p:nvSpPr>
          <p:cNvPr id="57" name="Shape 55"/>
          <p:cNvSpPr/>
          <p:nvPr/>
        </p:nvSpPr>
        <p:spPr>
          <a:xfrm>
            <a:off x="5212080" y="3995928"/>
            <a:ext cx="91440" cy="91440"/>
          </a:xfrm>
          <a:prstGeom prst="ellipse">
            <a:avLst/>
          </a:prstGeom>
          <a:solidFill>
            <a:srgbClr val="FFFFFF"/>
          </a:solidFill>
          <a:ln w="9525">
            <a:solidFill>
              <a:srgbClr val="7F8C99"/>
            </a:solidFill>
            <a:prstDash val="solid"/>
          </a:ln>
        </p:spPr>
      </p:sp>
      <p:sp>
        <p:nvSpPr>
          <p:cNvPr id="58" name="Shape 56"/>
          <p:cNvSpPr/>
          <p:nvPr/>
        </p:nvSpPr>
        <p:spPr>
          <a:xfrm>
            <a:off x="5349240" y="4160520"/>
            <a:ext cx="91440" cy="91440"/>
          </a:xfrm>
          <a:prstGeom prst="ellipse">
            <a:avLst/>
          </a:prstGeom>
          <a:solidFill>
            <a:srgbClr val="FFFFFF"/>
          </a:solidFill>
          <a:ln w="9525">
            <a:solidFill>
              <a:srgbClr val="7F8C99"/>
            </a:solidFill>
            <a:prstDash val="solid"/>
          </a:ln>
        </p:spPr>
      </p:sp>
      <p:sp>
        <p:nvSpPr>
          <p:cNvPr id="59" name="Shape 57"/>
          <p:cNvSpPr/>
          <p:nvPr/>
        </p:nvSpPr>
        <p:spPr>
          <a:xfrm>
            <a:off x="5120640" y="4251960"/>
            <a:ext cx="91440" cy="91440"/>
          </a:xfrm>
          <a:prstGeom prst="ellipse">
            <a:avLst/>
          </a:prstGeom>
          <a:solidFill>
            <a:srgbClr val="FFFFFF"/>
          </a:solidFill>
          <a:ln w="9525">
            <a:solidFill>
              <a:srgbClr val="7F8C99"/>
            </a:solidFill>
            <a:prstDash val="solid"/>
          </a:ln>
        </p:spPr>
      </p:sp>
      <p:sp>
        <p:nvSpPr>
          <p:cNvPr id="60" name="Shape 58"/>
          <p:cNvSpPr/>
          <p:nvPr/>
        </p:nvSpPr>
        <p:spPr>
          <a:xfrm>
            <a:off x="3291840" y="4526280"/>
            <a:ext cx="2514600" cy="685800"/>
          </a:xfrm>
          <a:prstGeom prst="roundRect">
            <a:avLst>
              <a:gd name="adj" fmla="val 8000"/>
            </a:avLst>
          </a:prstGeom>
          <a:solidFill>
            <a:srgbClr val="FFFFFF"/>
          </a:solidFill>
          <a:ln w="12700">
            <a:solidFill>
              <a:srgbClr val="C8414C"/>
            </a:solidFill>
            <a:prstDash val="solid"/>
          </a:ln>
        </p:spPr>
      </p:sp>
      <p:sp>
        <p:nvSpPr>
          <p:cNvPr id="61" name="Text 59"/>
          <p:cNvSpPr/>
          <p:nvPr/>
        </p:nvSpPr>
        <p:spPr>
          <a:xfrm>
            <a:off x="3401568" y="4526280"/>
            <a:ext cx="2295144" cy="685800"/>
          </a:xfrm>
          <a:prstGeom prst="rect">
            <a:avLst/>
          </a:prstGeom>
          <a:noFill/>
          <a:ln/>
        </p:spPr>
        <p:txBody>
          <a:bodyPr wrap="square" lIns="0" tIns="0" rIns="0" bIns="0" rtlCol="0" anchor="ctr"/>
          <a:lstStyle/>
          <a:p>
            <a:pPr algn="ctr" indent="0" marL="0">
              <a:buNone/>
            </a:pPr>
            <a:r>
              <a:rPr lang="en-US" sz="1200" b="1" dirty="0">
                <a:solidFill>
                  <a:srgbClr val="262B3A"/>
                </a:solidFill>
                <a:latin typeface="Calibri" pitchFamily="34" charset="0"/>
                <a:ea typeface="Calibri" pitchFamily="34" charset="-122"/>
                <a:cs typeface="Calibri" pitchFamily="34" charset="-120"/>
              </a:rPr>
              <a:t>glucose →</a:t>
            </a:r>
            <a:endParaRPr lang="en-US" sz="1200" dirty="0"/>
          </a:p>
          <a:p>
            <a:pPr algn="ctr" indent="0" marL="0">
              <a:buNone/>
            </a:pPr>
            <a:r>
              <a:rPr lang="en-US" sz="1200" b="1" dirty="0">
                <a:solidFill>
                  <a:srgbClr val="262B3A"/>
                </a:solidFill>
                <a:latin typeface="Calibri" pitchFamily="34" charset="0"/>
                <a:ea typeface="Calibri" pitchFamily="34" charset="-122"/>
                <a:cs typeface="Calibri" pitchFamily="34" charset="-120"/>
              </a:rPr>
              <a:t>ethanol + carbon dioxide</a:t>
            </a:r>
            <a:endParaRPr lang="en-US" sz="1200" dirty="0"/>
          </a:p>
        </p:txBody>
      </p:sp>
      <p:sp>
        <p:nvSpPr>
          <p:cNvPr id="62" name="Shape 60"/>
          <p:cNvSpPr/>
          <p:nvPr/>
        </p:nvSpPr>
        <p:spPr>
          <a:xfrm>
            <a:off x="6217920" y="1188720"/>
            <a:ext cx="5562295" cy="2423160"/>
          </a:xfrm>
          <a:prstGeom prst="roundRect">
            <a:avLst>
              <a:gd name="adj" fmla="val 2264"/>
            </a:avLst>
          </a:prstGeom>
          <a:solidFill>
            <a:srgbClr val="F4FAF9"/>
          </a:solidFill>
          <a:ln w="9525">
            <a:solidFill>
              <a:srgbClr val="CFE0DE"/>
            </a:solidFill>
            <a:prstDash val="solid"/>
          </a:ln>
        </p:spPr>
      </p:sp>
      <p:sp>
        <p:nvSpPr>
          <p:cNvPr id="63" name="Text 61"/>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Ethanol and carbon dioxide</a:t>
            </a:r>
            <a:endParaRPr lang="en-US" sz="1300" dirty="0"/>
          </a:p>
        </p:txBody>
      </p:sp>
      <p:sp>
        <p:nvSpPr>
          <p:cNvPr id="64" name="Text 62"/>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Plant cells and </a:t>
            </a:r>
            <a:r>
              <a:rPr lang="en-US" sz="1100" b="1" dirty="0">
                <a:solidFill>
                  <a:srgbClr val="262B3A"/>
                </a:solidFill>
                <a:latin typeface="Calibri" pitchFamily="34" charset="0"/>
                <a:ea typeface="Calibri" pitchFamily="34" charset="-122"/>
                <a:cs typeface="Calibri" pitchFamily="34" charset="-120"/>
              </a:rPr>
              <a:t>yeast</a:t>
            </a:r>
            <a:r>
              <a:rPr lang="en-US" sz="1100" dirty="0">
                <a:solidFill>
                  <a:srgbClr val="262B3A"/>
                </a:solidFill>
                <a:latin typeface="Calibri" pitchFamily="34" charset="0"/>
                <a:ea typeface="Calibri" pitchFamily="34" charset="-122"/>
                <a:cs typeface="Calibri" pitchFamily="34" charset="-120"/>
              </a:rPr>
              <a:t> respire anaerobically when oxygen is short: </a:t>
            </a:r>
            <a:r>
              <a:rPr lang="en-US" sz="1100" b="1" dirty="0">
                <a:solidFill>
                  <a:srgbClr val="262B3A"/>
                </a:solidFill>
                <a:latin typeface="Calibri" pitchFamily="34" charset="0"/>
                <a:ea typeface="Calibri" pitchFamily="34" charset="-122"/>
                <a:cs typeface="Calibri" pitchFamily="34" charset="-120"/>
              </a:rPr>
              <a:t>glucose → ethanol + carbon dioxide</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Plant </a:t>
            </a:r>
            <a:r>
              <a:rPr lang="en-US" sz="1100" b="1" dirty="0">
                <a:solidFill>
                  <a:srgbClr val="262B3A"/>
                </a:solidFill>
                <a:latin typeface="Calibri" pitchFamily="34" charset="0"/>
                <a:ea typeface="Calibri" pitchFamily="34" charset="-122"/>
                <a:cs typeface="Calibri" pitchFamily="34" charset="-120"/>
              </a:rPr>
              <a:t>root cells</a:t>
            </a:r>
            <a:r>
              <a:rPr lang="en-US" sz="1100" dirty="0">
                <a:solidFill>
                  <a:srgbClr val="262B3A"/>
                </a:solidFill>
                <a:latin typeface="Calibri" pitchFamily="34" charset="0"/>
                <a:ea typeface="Calibri" pitchFamily="34" charset="-122"/>
                <a:cs typeface="Calibri" pitchFamily="34" charset="-120"/>
              </a:rPr>
              <a:t> in </a:t>
            </a:r>
            <a:r>
              <a:rPr lang="en-US" sz="1100" b="1" dirty="0">
                <a:solidFill>
                  <a:srgbClr val="262B3A"/>
                </a:solidFill>
                <a:latin typeface="Calibri" pitchFamily="34" charset="0"/>
                <a:ea typeface="Calibri" pitchFamily="34" charset="-122"/>
                <a:cs typeface="Calibri" pitchFamily="34" charset="-120"/>
              </a:rPr>
              <a:t>waterlogged soil</a:t>
            </a:r>
            <a:r>
              <a:rPr lang="en-US" sz="1100" dirty="0">
                <a:solidFill>
                  <a:srgbClr val="262B3A"/>
                </a:solidFill>
                <a:latin typeface="Calibri" pitchFamily="34" charset="0"/>
                <a:ea typeface="Calibri" pitchFamily="34" charset="-122"/>
                <a:cs typeface="Calibri" pitchFamily="34" charset="-120"/>
              </a:rPr>
              <a:t> get little oxygen. Ethanol is toxic, and less ATP means less active transport of mineral ions.</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Yeast can respire aerobically </a:t>
            </a:r>
            <a:r>
              <a:rPr lang="en-US" sz="1100" b="1" dirty="0">
                <a:solidFill>
                  <a:srgbClr val="262B3A"/>
                </a:solidFill>
                <a:latin typeface="Calibri" pitchFamily="34" charset="0"/>
                <a:ea typeface="Calibri" pitchFamily="34" charset="-122"/>
                <a:cs typeface="Calibri" pitchFamily="34" charset="-120"/>
              </a:rPr>
              <a:t>or</a:t>
            </a:r>
            <a:r>
              <a:rPr lang="en-US" sz="1100" dirty="0">
                <a:solidFill>
                  <a:srgbClr val="262B3A"/>
                </a:solidFill>
                <a:latin typeface="Calibri" pitchFamily="34" charset="0"/>
                <a:ea typeface="Calibri" pitchFamily="34" charset="-122"/>
                <a:cs typeface="Calibri" pitchFamily="34" charset="-120"/>
              </a:rPr>
              <a:t> anaerobically. Anaerobic respiration in yeast is called </a:t>
            </a:r>
            <a:r>
              <a:rPr lang="en-US" sz="1100" b="1" dirty="0">
                <a:solidFill>
                  <a:srgbClr val="262B3A"/>
                </a:solidFill>
                <a:latin typeface="Calibri" pitchFamily="34" charset="0"/>
                <a:ea typeface="Calibri" pitchFamily="34" charset="-122"/>
                <a:cs typeface="Calibri" pitchFamily="34" charset="-120"/>
              </a:rPr>
              <a:t>fermentation</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Some </a:t>
            </a:r>
            <a:r>
              <a:rPr lang="en-US" sz="1100" b="1" dirty="0">
                <a:solidFill>
                  <a:srgbClr val="262B3A"/>
                </a:solidFill>
                <a:latin typeface="Calibri" pitchFamily="34" charset="0"/>
                <a:ea typeface="Calibri" pitchFamily="34" charset="-122"/>
                <a:cs typeface="Calibri" pitchFamily="34" charset="-120"/>
              </a:rPr>
              <a:t>bacteria</a:t>
            </a:r>
            <a:r>
              <a:rPr lang="en-US" sz="1100" dirty="0">
                <a:solidFill>
                  <a:srgbClr val="262B3A"/>
                </a:solidFill>
                <a:latin typeface="Calibri" pitchFamily="34" charset="0"/>
                <a:ea typeface="Calibri" pitchFamily="34" charset="-122"/>
                <a:cs typeface="Calibri" pitchFamily="34" charset="-120"/>
              </a:rPr>
              <a:t> respire anaerobically, e.g. in deep </a:t>
            </a:r>
            <a:r>
              <a:rPr lang="en-US" sz="1100" b="1" dirty="0">
                <a:solidFill>
                  <a:srgbClr val="262B3A"/>
                </a:solidFill>
                <a:latin typeface="Calibri" pitchFamily="34" charset="0"/>
                <a:ea typeface="Calibri" pitchFamily="34" charset="-122"/>
                <a:cs typeface="Calibri" pitchFamily="34" charset="-120"/>
              </a:rPr>
              <a:t>puncture wounds</a:t>
            </a:r>
            <a:r>
              <a:rPr lang="en-US" sz="1100" dirty="0">
                <a:solidFill>
                  <a:srgbClr val="262B3A"/>
                </a:solidFill>
                <a:latin typeface="Calibri" pitchFamily="34" charset="0"/>
                <a:ea typeface="Calibri" pitchFamily="34" charset="-122"/>
                <a:cs typeface="Calibri" pitchFamily="34" charset="-120"/>
              </a:rPr>
              <a:t> where there is little oxygen.</a:t>
            </a:r>
            <a:endParaRPr lang="en-US" sz="1100" dirty="0"/>
          </a:p>
        </p:txBody>
      </p:sp>
      <p:sp>
        <p:nvSpPr>
          <p:cNvPr id="65" name="Shape 63"/>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66" name="Text 64"/>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explain</a:t>
            </a:r>
            <a:endParaRPr lang="en-US" sz="1300" dirty="0"/>
          </a:p>
        </p:txBody>
      </p:sp>
      <p:sp>
        <p:nvSpPr>
          <p:cNvPr id="67" name="Text 65"/>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 farmer's field floods for a week. The crop plants grow poorly. Explain why.</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Oxygen   </a:t>
            </a:r>
            <a:r>
              <a:rPr lang="en-US" sz="1050" dirty="0">
                <a:solidFill>
                  <a:srgbClr val="262B3A"/>
                </a:solidFill>
                <a:latin typeface="Calibri" pitchFamily="34" charset="0"/>
                <a:ea typeface="Calibri" pitchFamily="34" charset="-122"/>
                <a:cs typeface="Calibri" pitchFamily="34" charset="-120"/>
              </a:rPr>
              <a:t>water fills the air spaces in the soil</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Roots   </a:t>
            </a:r>
            <a:r>
              <a:rPr lang="en-US" sz="1050" dirty="0">
                <a:solidFill>
                  <a:srgbClr val="262B3A"/>
                </a:solidFill>
                <a:latin typeface="Calibri" pitchFamily="34" charset="0"/>
                <a:ea typeface="Calibri" pitchFamily="34" charset="-122"/>
                <a:cs typeface="Calibri" pitchFamily="34" charset="-120"/>
              </a:rPr>
              <a:t>root cells respire anaerobically and make ethanol</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ATP   </a:t>
            </a:r>
            <a:r>
              <a:rPr lang="en-US" sz="1050" dirty="0">
                <a:solidFill>
                  <a:srgbClr val="262B3A"/>
                </a:solidFill>
                <a:latin typeface="Calibri" pitchFamily="34" charset="0"/>
                <a:ea typeface="Calibri" pitchFamily="34" charset="-122"/>
                <a:cs typeface="Calibri" pitchFamily="34" charset="-120"/>
              </a:rPr>
              <a:t>much less ATP for active transport of mineral ions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fewer mineral ions absorbed and toxic ethanol: poor growth</a:t>
            </a:r>
            <a:endParaRPr lang="en-US" sz="1050" dirty="0"/>
          </a:p>
        </p:txBody>
      </p:sp>
      <p:sp>
        <p:nvSpPr>
          <p:cNvPr id="68" name="Shape 66"/>
          <p:cNvSpPr/>
          <p:nvPr/>
        </p:nvSpPr>
        <p:spPr>
          <a:xfrm>
            <a:off x="411480" y="5833872"/>
            <a:ext cx="11368735" cy="530352"/>
          </a:xfrm>
          <a:prstGeom prst="rect">
            <a:avLst/>
          </a:prstGeom>
          <a:solidFill>
            <a:srgbClr val="FFF4E0"/>
          </a:solidFill>
          <a:ln w="6350">
            <a:solidFill>
              <a:srgbClr val="F1D9A8"/>
            </a:solidFill>
            <a:prstDash val="solid"/>
          </a:ln>
        </p:spPr>
      </p:sp>
      <p:sp>
        <p:nvSpPr>
          <p:cNvPr id="69" name="Shape 67"/>
          <p:cNvSpPr/>
          <p:nvPr/>
        </p:nvSpPr>
        <p:spPr>
          <a:xfrm>
            <a:off x="411480" y="5833872"/>
            <a:ext cx="82296" cy="530352"/>
          </a:xfrm>
          <a:prstGeom prst="rect">
            <a:avLst/>
          </a:prstGeom>
          <a:solidFill>
            <a:srgbClr val="E39A2F"/>
          </a:solidFill>
          <a:ln w="12700">
            <a:solidFill>
              <a:srgbClr val="E39A2F"/>
            </a:solidFill>
            <a:prstDash val="solid"/>
          </a:ln>
        </p:spPr>
      </p:sp>
      <p:sp>
        <p:nvSpPr>
          <p:cNvPr id="70" name="Text 6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Give </a:t>
            </a:r>
            <a:r>
              <a:rPr lang="en-US" sz="1150" b="1" dirty="0">
                <a:solidFill>
                  <a:srgbClr val="262B3A"/>
                </a:solidFill>
                <a:latin typeface="Calibri" pitchFamily="34" charset="0"/>
                <a:ea typeface="Calibri" pitchFamily="34" charset="-122"/>
                <a:cs typeface="Calibri" pitchFamily="34" charset="-120"/>
              </a:rPr>
              <a:t>one</a:t>
            </a:r>
            <a:r>
              <a:rPr lang="en-US" sz="1150" dirty="0">
                <a:solidFill>
                  <a:srgbClr val="262B3A"/>
                </a:solidFill>
                <a:latin typeface="Calibri" pitchFamily="34" charset="0"/>
                <a:ea typeface="Calibri" pitchFamily="34" charset="-122"/>
                <a:cs typeface="Calibri" pitchFamily="34" charset="-120"/>
              </a:rPr>
              <a:t> product that is made by anaerobic respiration in yeast but </a:t>
            </a:r>
            <a:r>
              <a:rPr lang="en-US" sz="1150" b="1" dirty="0">
                <a:solidFill>
                  <a:srgbClr val="262B3A"/>
                </a:solidFill>
                <a:latin typeface="Calibri" pitchFamily="34" charset="0"/>
                <a:ea typeface="Calibri" pitchFamily="34" charset="-122"/>
                <a:cs typeface="Calibri" pitchFamily="34" charset="-120"/>
              </a:rPr>
              <a:t>not</a:t>
            </a:r>
            <a:r>
              <a:rPr lang="en-US" sz="1150" dirty="0">
                <a:solidFill>
                  <a:srgbClr val="262B3A"/>
                </a:solidFill>
                <a:latin typeface="Calibri" pitchFamily="34" charset="0"/>
                <a:ea typeface="Calibri" pitchFamily="34" charset="-122"/>
                <a:cs typeface="Calibri" pitchFamily="34" charset="-120"/>
              </a:rPr>
              <a:t> in human muscle cells.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Using fermentation: bread and alcohol</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B4.1.1 • the products of anaerobic respiration in yeast are useful</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B4.1 What happens during cellular respiration?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B4.1.1  |  13</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bread dough rising (top) and a brewing vessel with an airlock (bottom)</a:t>
            </a:r>
            <a:endParaRPr lang="en-US" sz="1000" dirty="0"/>
          </a:p>
        </p:txBody>
      </p:sp>
      <p:sp>
        <p:nvSpPr>
          <p:cNvPr id="10" name="Text 8"/>
          <p:cNvSpPr/>
          <p:nvPr/>
        </p:nvSpPr>
        <p:spPr>
          <a:xfrm>
            <a:off x="640080" y="1298448"/>
            <a:ext cx="5120640" cy="256032"/>
          </a:xfrm>
          <a:prstGeom prst="rect">
            <a:avLst/>
          </a:prstGeom>
          <a:noFill/>
          <a:ln/>
        </p:spPr>
        <p:txBody>
          <a:bodyPr wrap="square" lIns="0" tIns="0" rIns="0" bIns="0" rtlCol="0" anchor="ctr"/>
          <a:lstStyle/>
          <a:p>
            <a:pPr algn="l" indent="0" marL="0">
              <a:buNone/>
            </a:pPr>
            <a:r>
              <a:rPr lang="en-US" sz="1100" b="1" dirty="0">
                <a:solidFill>
                  <a:srgbClr val="0D7877"/>
                </a:solidFill>
                <a:latin typeface="Calibri" pitchFamily="34" charset="0"/>
                <a:ea typeface="Calibri" pitchFamily="34" charset="-122"/>
                <a:cs typeface="Calibri" pitchFamily="34" charset="-120"/>
              </a:rPr>
              <a:t>Bread: carbon dioxide makes the dough rise</a:t>
            </a:r>
            <a:endParaRPr lang="en-US" sz="1100" dirty="0"/>
          </a:p>
        </p:txBody>
      </p:sp>
      <p:sp>
        <p:nvSpPr>
          <p:cNvPr id="11" name="Shape 9"/>
          <p:cNvSpPr/>
          <p:nvPr/>
        </p:nvSpPr>
        <p:spPr>
          <a:xfrm>
            <a:off x="1005840" y="2194560"/>
            <a:ext cx="1645920" cy="822960"/>
          </a:xfrm>
          <a:prstGeom prst="ellipse">
            <a:avLst/>
          </a:prstGeom>
          <a:solidFill>
            <a:srgbClr val="F1DDB0"/>
          </a:solidFill>
          <a:ln w="12700">
            <a:solidFill>
              <a:srgbClr val="B8934A"/>
            </a:solidFill>
            <a:prstDash val="solid"/>
          </a:ln>
        </p:spPr>
      </p:sp>
      <p:sp>
        <p:nvSpPr>
          <p:cNvPr id="12" name="Shape 10"/>
          <p:cNvSpPr/>
          <p:nvPr/>
        </p:nvSpPr>
        <p:spPr>
          <a:xfrm>
            <a:off x="1563624" y="2386584"/>
            <a:ext cx="73152" cy="73152"/>
          </a:xfrm>
          <a:prstGeom prst="ellipse">
            <a:avLst/>
          </a:prstGeom>
          <a:solidFill>
            <a:srgbClr val="FFFFFF"/>
          </a:solidFill>
          <a:ln w="9525">
            <a:solidFill>
              <a:srgbClr val="7F8C99"/>
            </a:solidFill>
            <a:prstDash val="solid"/>
          </a:ln>
        </p:spPr>
      </p:sp>
      <p:sp>
        <p:nvSpPr>
          <p:cNvPr id="13" name="Shape 11"/>
          <p:cNvSpPr/>
          <p:nvPr/>
        </p:nvSpPr>
        <p:spPr>
          <a:xfrm>
            <a:off x="2020824" y="2340864"/>
            <a:ext cx="73152" cy="73152"/>
          </a:xfrm>
          <a:prstGeom prst="ellipse">
            <a:avLst/>
          </a:prstGeom>
          <a:solidFill>
            <a:srgbClr val="FFFFFF"/>
          </a:solidFill>
          <a:ln w="9525">
            <a:solidFill>
              <a:srgbClr val="7F8C99"/>
            </a:solidFill>
            <a:prstDash val="solid"/>
          </a:ln>
        </p:spPr>
      </p:sp>
      <p:sp>
        <p:nvSpPr>
          <p:cNvPr id="14" name="Shape 12"/>
          <p:cNvSpPr/>
          <p:nvPr/>
        </p:nvSpPr>
        <p:spPr>
          <a:xfrm>
            <a:off x="868680" y="2606040"/>
            <a:ext cx="1920240" cy="502920"/>
          </a:xfrm>
          <a:custGeom>
            <a:avLst/>
            <a:gdLst/>
            <a:ahLst/>
            <a:cxnLst/>
            <a:rect l="l" t="t" r="r" b="b"/>
            <a:pathLst>
              <a:path w="1920240" h="502920">
                <a:moveTo>
                  <a:pt x="0" y="0"/>
                </a:moveTo>
                <a:lnTo>
                  <a:pt x="1920240" y="0"/>
                </a:lnTo>
                <a:lnTo>
                  <a:pt x="1645920" y="502920"/>
                </a:lnTo>
                <a:lnTo>
                  <a:pt x="274320" y="502920"/>
                </a:lnTo>
                <a:close/>
              </a:path>
            </a:pathLst>
          </a:custGeom>
          <a:solidFill>
            <a:srgbClr val="C9D1DA"/>
          </a:solidFill>
          <a:ln w="15875">
            <a:solidFill>
              <a:srgbClr val="6B7385"/>
            </a:solidFill>
            <a:prstDash val="solid"/>
          </a:ln>
        </p:spPr>
      </p:sp>
      <p:sp>
        <p:nvSpPr>
          <p:cNvPr id="15" name="Text 13"/>
          <p:cNvSpPr/>
          <p:nvPr/>
        </p:nvSpPr>
        <p:spPr>
          <a:xfrm>
            <a:off x="685800" y="3136392"/>
            <a:ext cx="228600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start: 250 cm³</a:t>
            </a:r>
            <a:endParaRPr lang="en-US" sz="1050" dirty="0"/>
          </a:p>
        </p:txBody>
      </p:sp>
      <p:sp>
        <p:nvSpPr>
          <p:cNvPr id="16" name="Shape 14"/>
          <p:cNvSpPr/>
          <p:nvPr/>
        </p:nvSpPr>
        <p:spPr>
          <a:xfrm>
            <a:off x="3657600" y="1737360"/>
            <a:ext cx="1645920" cy="1280160"/>
          </a:xfrm>
          <a:prstGeom prst="ellipse">
            <a:avLst/>
          </a:prstGeom>
          <a:solidFill>
            <a:srgbClr val="F1DDB0"/>
          </a:solidFill>
          <a:ln w="12700">
            <a:solidFill>
              <a:srgbClr val="B8934A"/>
            </a:solidFill>
            <a:prstDash val="solid"/>
          </a:ln>
        </p:spPr>
      </p:sp>
      <p:sp>
        <p:nvSpPr>
          <p:cNvPr id="17" name="Shape 15"/>
          <p:cNvSpPr/>
          <p:nvPr/>
        </p:nvSpPr>
        <p:spPr>
          <a:xfrm>
            <a:off x="3968496" y="2093976"/>
            <a:ext cx="109728" cy="109728"/>
          </a:xfrm>
          <a:prstGeom prst="ellipse">
            <a:avLst/>
          </a:prstGeom>
          <a:solidFill>
            <a:srgbClr val="FFFFFF"/>
          </a:solidFill>
          <a:ln w="9525">
            <a:solidFill>
              <a:srgbClr val="7F8C99"/>
            </a:solidFill>
            <a:prstDash val="solid"/>
          </a:ln>
        </p:spPr>
      </p:sp>
      <p:sp>
        <p:nvSpPr>
          <p:cNvPr id="18" name="Shape 16"/>
          <p:cNvSpPr/>
          <p:nvPr/>
        </p:nvSpPr>
        <p:spPr>
          <a:xfrm>
            <a:off x="4334256" y="1865376"/>
            <a:ext cx="109728" cy="109728"/>
          </a:xfrm>
          <a:prstGeom prst="ellipse">
            <a:avLst/>
          </a:prstGeom>
          <a:solidFill>
            <a:srgbClr val="FFFFFF"/>
          </a:solidFill>
          <a:ln w="9525">
            <a:solidFill>
              <a:srgbClr val="7F8C99"/>
            </a:solidFill>
            <a:prstDash val="solid"/>
          </a:ln>
        </p:spPr>
      </p:sp>
      <p:sp>
        <p:nvSpPr>
          <p:cNvPr id="19" name="Shape 17"/>
          <p:cNvSpPr/>
          <p:nvPr/>
        </p:nvSpPr>
        <p:spPr>
          <a:xfrm>
            <a:off x="4745736" y="2139696"/>
            <a:ext cx="109728" cy="109728"/>
          </a:xfrm>
          <a:prstGeom prst="ellipse">
            <a:avLst/>
          </a:prstGeom>
          <a:solidFill>
            <a:srgbClr val="FFFFFF"/>
          </a:solidFill>
          <a:ln w="9525">
            <a:solidFill>
              <a:srgbClr val="7F8C99"/>
            </a:solidFill>
            <a:prstDash val="solid"/>
          </a:ln>
        </p:spPr>
      </p:sp>
      <p:sp>
        <p:nvSpPr>
          <p:cNvPr id="20" name="Shape 18"/>
          <p:cNvSpPr/>
          <p:nvPr/>
        </p:nvSpPr>
        <p:spPr>
          <a:xfrm>
            <a:off x="4197096" y="2368296"/>
            <a:ext cx="109728" cy="109728"/>
          </a:xfrm>
          <a:prstGeom prst="ellipse">
            <a:avLst/>
          </a:prstGeom>
          <a:solidFill>
            <a:srgbClr val="FFFFFF"/>
          </a:solidFill>
          <a:ln w="9525">
            <a:solidFill>
              <a:srgbClr val="7F8C99"/>
            </a:solidFill>
            <a:prstDash val="solid"/>
          </a:ln>
        </p:spPr>
      </p:sp>
      <p:sp>
        <p:nvSpPr>
          <p:cNvPr id="21" name="Shape 19"/>
          <p:cNvSpPr/>
          <p:nvPr/>
        </p:nvSpPr>
        <p:spPr>
          <a:xfrm>
            <a:off x="4608576" y="2386584"/>
            <a:ext cx="109728" cy="109728"/>
          </a:xfrm>
          <a:prstGeom prst="ellipse">
            <a:avLst/>
          </a:prstGeom>
          <a:solidFill>
            <a:srgbClr val="FFFFFF"/>
          </a:solidFill>
          <a:ln w="9525">
            <a:solidFill>
              <a:srgbClr val="7F8C99"/>
            </a:solidFill>
            <a:prstDash val="solid"/>
          </a:ln>
        </p:spPr>
      </p:sp>
      <p:sp>
        <p:nvSpPr>
          <p:cNvPr id="22" name="Shape 20"/>
          <p:cNvSpPr/>
          <p:nvPr/>
        </p:nvSpPr>
        <p:spPr>
          <a:xfrm>
            <a:off x="4928616" y="2322576"/>
            <a:ext cx="109728" cy="109728"/>
          </a:xfrm>
          <a:prstGeom prst="ellipse">
            <a:avLst/>
          </a:prstGeom>
          <a:solidFill>
            <a:srgbClr val="FFFFFF"/>
          </a:solidFill>
          <a:ln w="9525">
            <a:solidFill>
              <a:srgbClr val="7F8C99"/>
            </a:solidFill>
            <a:prstDash val="solid"/>
          </a:ln>
        </p:spPr>
      </p:sp>
      <p:sp>
        <p:nvSpPr>
          <p:cNvPr id="23" name="Shape 21"/>
          <p:cNvSpPr/>
          <p:nvPr/>
        </p:nvSpPr>
        <p:spPr>
          <a:xfrm>
            <a:off x="3520440" y="2606040"/>
            <a:ext cx="1920240" cy="502920"/>
          </a:xfrm>
          <a:custGeom>
            <a:avLst/>
            <a:gdLst/>
            <a:ahLst/>
            <a:cxnLst/>
            <a:rect l="l" t="t" r="r" b="b"/>
            <a:pathLst>
              <a:path w="1920240" h="502920">
                <a:moveTo>
                  <a:pt x="0" y="0"/>
                </a:moveTo>
                <a:lnTo>
                  <a:pt x="1920240" y="0"/>
                </a:lnTo>
                <a:lnTo>
                  <a:pt x="1645920" y="502920"/>
                </a:lnTo>
                <a:lnTo>
                  <a:pt x="274320" y="502920"/>
                </a:lnTo>
                <a:close/>
              </a:path>
            </a:pathLst>
          </a:custGeom>
          <a:solidFill>
            <a:srgbClr val="C9D1DA"/>
          </a:solidFill>
          <a:ln w="15875">
            <a:solidFill>
              <a:srgbClr val="6B7385"/>
            </a:solidFill>
            <a:prstDash val="solid"/>
          </a:ln>
        </p:spPr>
      </p:sp>
      <p:sp>
        <p:nvSpPr>
          <p:cNvPr id="24" name="Text 22"/>
          <p:cNvSpPr/>
          <p:nvPr/>
        </p:nvSpPr>
        <p:spPr>
          <a:xfrm>
            <a:off x="3337560" y="3136392"/>
            <a:ext cx="228600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after 60 min at 30 °C: 600 cm³</a:t>
            </a:r>
            <a:endParaRPr lang="en-US" sz="1050" dirty="0"/>
          </a:p>
        </p:txBody>
      </p:sp>
      <p:sp>
        <p:nvSpPr>
          <p:cNvPr id="25" name="Shape 23"/>
          <p:cNvSpPr/>
          <p:nvPr/>
        </p:nvSpPr>
        <p:spPr>
          <a:xfrm>
            <a:off x="2926080" y="2423160"/>
            <a:ext cx="457200" cy="91"/>
          </a:xfrm>
          <a:prstGeom prst="line">
            <a:avLst/>
          </a:prstGeom>
          <a:noFill/>
          <a:ln w="31750">
            <a:solidFill>
              <a:srgbClr val="C8414C"/>
            </a:solidFill>
            <a:prstDash val="solid"/>
            <a:tailEnd type="triangle"/>
          </a:ln>
        </p:spPr>
      </p:sp>
      <p:sp>
        <p:nvSpPr>
          <p:cNvPr id="26" name="Text 24"/>
          <p:cNvSpPr/>
          <p:nvPr/>
        </p:nvSpPr>
        <p:spPr>
          <a:xfrm>
            <a:off x="640080" y="3456432"/>
            <a:ext cx="5120640" cy="256032"/>
          </a:xfrm>
          <a:prstGeom prst="rect">
            <a:avLst/>
          </a:prstGeom>
          <a:noFill/>
          <a:ln/>
        </p:spPr>
        <p:txBody>
          <a:bodyPr wrap="square" lIns="0" tIns="0" rIns="0" bIns="0" rtlCol="0" anchor="ctr"/>
          <a:lstStyle/>
          <a:p>
            <a:pPr algn="l" indent="0" marL="0">
              <a:buNone/>
            </a:pPr>
            <a:r>
              <a:rPr lang="en-US" sz="1100" b="1" dirty="0">
                <a:solidFill>
                  <a:srgbClr val="0D7877"/>
                </a:solidFill>
                <a:latin typeface="Calibri" pitchFamily="34" charset="0"/>
                <a:ea typeface="Calibri" pitchFamily="34" charset="-122"/>
                <a:cs typeface="Calibri" pitchFamily="34" charset="-120"/>
              </a:rPr>
              <a:t>Brewing and wine: ethanol (alcohol)</a:t>
            </a:r>
            <a:endParaRPr lang="en-US" sz="1100" dirty="0"/>
          </a:p>
        </p:txBody>
      </p:sp>
      <p:sp>
        <p:nvSpPr>
          <p:cNvPr id="27" name="Shape 25"/>
          <p:cNvSpPr/>
          <p:nvPr/>
        </p:nvSpPr>
        <p:spPr>
          <a:xfrm>
            <a:off x="1463040" y="4178808"/>
            <a:ext cx="457200" cy="384048"/>
          </a:xfrm>
          <a:prstGeom prst="rect">
            <a:avLst/>
          </a:prstGeom>
          <a:solidFill>
            <a:srgbClr val="E6EEF2"/>
          </a:solidFill>
          <a:ln w="15875">
            <a:solidFill>
              <a:srgbClr val="6B7385"/>
            </a:solidFill>
            <a:prstDash val="solid"/>
          </a:ln>
        </p:spPr>
      </p:sp>
      <p:sp>
        <p:nvSpPr>
          <p:cNvPr id="28" name="Shape 26"/>
          <p:cNvSpPr/>
          <p:nvPr/>
        </p:nvSpPr>
        <p:spPr>
          <a:xfrm>
            <a:off x="914400" y="4526280"/>
            <a:ext cx="1554480" cy="777240"/>
          </a:xfrm>
          <a:prstGeom prst="roundRect">
            <a:avLst>
              <a:gd name="adj" fmla="val 29412"/>
            </a:avLst>
          </a:prstGeom>
          <a:solidFill>
            <a:srgbClr val="E6EEF2"/>
          </a:solidFill>
          <a:ln w="19050">
            <a:solidFill>
              <a:srgbClr val="6B7385"/>
            </a:solidFill>
            <a:prstDash val="solid"/>
          </a:ln>
        </p:spPr>
      </p:sp>
      <p:sp>
        <p:nvSpPr>
          <p:cNvPr id="29" name="Shape 27"/>
          <p:cNvSpPr/>
          <p:nvPr/>
        </p:nvSpPr>
        <p:spPr>
          <a:xfrm>
            <a:off x="969264" y="4800600"/>
            <a:ext cx="1444752" cy="448056"/>
          </a:xfrm>
          <a:prstGeom prst="roundRect">
            <a:avLst>
              <a:gd name="adj" fmla="val 40816"/>
            </a:avLst>
          </a:prstGeom>
          <a:solidFill>
            <a:srgbClr val="E7C77A"/>
          </a:solidFill>
          <a:ln/>
        </p:spPr>
      </p:sp>
      <p:sp>
        <p:nvSpPr>
          <p:cNvPr id="30" name="Shape 28"/>
          <p:cNvSpPr/>
          <p:nvPr/>
        </p:nvSpPr>
        <p:spPr>
          <a:xfrm>
            <a:off x="1243584" y="4901184"/>
            <a:ext cx="73152" cy="73152"/>
          </a:xfrm>
          <a:prstGeom prst="ellipse">
            <a:avLst/>
          </a:prstGeom>
          <a:solidFill>
            <a:srgbClr val="FFFFFF"/>
          </a:solidFill>
          <a:ln w="9525">
            <a:solidFill>
              <a:srgbClr val="7F8C99"/>
            </a:solidFill>
            <a:prstDash val="solid"/>
          </a:ln>
        </p:spPr>
      </p:sp>
      <p:sp>
        <p:nvSpPr>
          <p:cNvPr id="31" name="Shape 29"/>
          <p:cNvSpPr/>
          <p:nvPr/>
        </p:nvSpPr>
        <p:spPr>
          <a:xfrm>
            <a:off x="1609344" y="4855464"/>
            <a:ext cx="73152" cy="73152"/>
          </a:xfrm>
          <a:prstGeom prst="ellipse">
            <a:avLst/>
          </a:prstGeom>
          <a:solidFill>
            <a:srgbClr val="FFFFFF"/>
          </a:solidFill>
          <a:ln w="9525">
            <a:solidFill>
              <a:srgbClr val="7F8C99"/>
            </a:solidFill>
            <a:prstDash val="solid"/>
          </a:ln>
        </p:spPr>
      </p:sp>
      <p:sp>
        <p:nvSpPr>
          <p:cNvPr id="32" name="Shape 30"/>
          <p:cNvSpPr/>
          <p:nvPr/>
        </p:nvSpPr>
        <p:spPr>
          <a:xfrm>
            <a:off x="1975104" y="4946904"/>
            <a:ext cx="73152" cy="73152"/>
          </a:xfrm>
          <a:prstGeom prst="ellipse">
            <a:avLst/>
          </a:prstGeom>
          <a:solidFill>
            <a:srgbClr val="FFFFFF"/>
          </a:solidFill>
          <a:ln w="9525">
            <a:solidFill>
              <a:srgbClr val="7F8C99"/>
            </a:solidFill>
            <a:prstDash val="solid"/>
          </a:ln>
        </p:spPr>
      </p:sp>
      <p:sp>
        <p:nvSpPr>
          <p:cNvPr id="33" name="Shape 31"/>
          <p:cNvSpPr/>
          <p:nvPr/>
        </p:nvSpPr>
        <p:spPr>
          <a:xfrm>
            <a:off x="1426464" y="5084064"/>
            <a:ext cx="73152" cy="73152"/>
          </a:xfrm>
          <a:prstGeom prst="ellipse">
            <a:avLst/>
          </a:prstGeom>
          <a:solidFill>
            <a:srgbClr val="FFFFFF"/>
          </a:solidFill>
          <a:ln w="9525">
            <a:solidFill>
              <a:srgbClr val="7F8C99"/>
            </a:solidFill>
            <a:prstDash val="solid"/>
          </a:ln>
        </p:spPr>
      </p:sp>
      <p:sp>
        <p:nvSpPr>
          <p:cNvPr id="34" name="Shape 32"/>
          <p:cNvSpPr/>
          <p:nvPr/>
        </p:nvSpPr>
        <p:spPr>
          <a:xfrm>
            <a:off x="1837944" y="5111496"/>
            <a:ext cx="73152" cy="73152"/>
          </a:xfrm>
          <a:prstGeom prst="ellipse">
            <a:avLst/>
          </a:prstGeom>
          <a:solidFill>
            <a:srgbClr val="FFFFFF"/>
          </a:solidFill>
          <a:ln w="9525">
            <a:solidFill>
              <a:srgbClr val="7F8C99"/>
            </a:solidFill>
            <a:prstDash val="solid"/>
          </a:ln>
        </p:spPr>
      </p:sp>
      <p:sp>
        <p:nvSpPr>
          <p:cNvPr id="35" name="Shape 33"/>
          <p:cNvSpPr/>
          <p:nvPr/>
        </p:nvSpPr>
        <p:spPr>
          <a:xfrm flipV="1">
            <a:off x="1691640" y="3959352"/>
            <a:ext cx="91" cy="219456"/>
          </a:xfrm>
          <a:prstGeom prst="line">
            <a:avLst/>
          </a:prstGeom>
          <a:noFill/>
          <a:ln w="25400">
            <a:solidFill>
              <a:srgbClr val="133536"/>
            </a:solidFill>
            <a:prstDash val="solid"/>
          </a:ln>
        </p:spPr>
      </p:sp>
      <p:sp>
        <p:nvSpPr>
          <p:cNvPr id="36" name="Shape 34"/>
          <p:cNvSpPr/>
          <p:nvPr/>
        </p:nvSpPr>
        <p:spPr>
          <a:xfrm>
            <a:off x="1490472" y="3685032"/>
            <a:ext cx="402336" cy="310896"/>
          </a:xfrm>
          <a:prstGeom prst="roundRect">
            <a:avLst>
              <a:gd name="adj" fmla="val 29412"/>
            </a:avLst>
          </a:prstGeom>
          <a:solidFill>
            <a:srgbClr val="BFD9F2"/>
          </a:solidFill>
          <a:ln w="19050">
            <a:solidFill>
              <a:srgbClr val="133536"/>
            </a:solidFill>
            <a:prstDash val="solid"/>
          </a:ln>
        </p:spPr>
      </p:sp>
      <p:sp>
        <p:nvSpPr>
          <p:cNvPr id="37" name="Shape 35"/>
          <p:cNvSpPr/>
          <p:nvPr/>
        </p:nvSpPr>
        <p:spPr>
          <a:xfrm>
            <a:off x="1600200" y="3776472"/>
            <a:ext cx="73152" cy="73152"/>
          </a:xfrm>
          <a:prstGeom prst="ellipse">
            <a:avLst/>
          </a:prstGeom>
          <a:solidFill>
            <a:srgbClr val="FFFFFF"/>
          </a:solidFill>
          <a:ln w="9525">
            <a:solidFill>
              <a:srgbClr val="7F8C99"/>
            </a:solidFill>
            <a:prstDash val="solid"/>
          </a:ln>
        </p:spPr>
      </p:sp>
      <p:sp>
        <p:nvSpPr>
          <p:cNvPr id="38" name="Shape 36"/>
          <p:cNvSpPr/>
          <p:nvPr/>
        </p:nvSpPr>
        <p:spPr>
          <a:xfrm>
            <a:off x="1732788" y="3726180"/>
            <a:ext cx="64008" cy="64008"/>
          </a:xfrm>
          <a:prstGeom prst="ellipse">
            <a:avLst/>
          </a:prstGeom>
          <a:solidFill>
            <a:srgbClr val="FFFFFF"/>
          </a:solidFill>
          <a:ln w="9525">
            <a:solidFill>
              <a:srgbClr val="7F8C99"/>
            </a:solidFill>
            <a:prstDash val="solid"/>
          </a:ln>
        </p:spPr>
      </p:sp>
      <p:sp>
        <p:nvSpPr>
          <p:cNvPr id="39" name="Text 37"/>
          <p:cNvSpPr/>
          <p:nvPr/>
        </p:nvSpPr>
        <p:spPr>
          <a:xfrm>
            <a:off x="1984248" y="3639312"/>
            <a:ext cx="3017520" cy="438912"/>
          </a:xfrm>
          <a:prstGeom prst="rect">
            <a:avLst/>
          </a:prstGeom>
          <a:noFill/>
          <a:ln/>
        </p:spPr>
        <p:txBody>
          <a:bodyPr wrap="square" lIns="0" tIns="0" rIns="0" bIns="0" rtlCol="0" anchor="t"/>
          <a:lstStyle/>
          <a:p>
            <a:pPr algn="l" indent="0" marL="0">
              <a:buNone/>
            </a:pPr>
            <a:r>
              <a:rPr lang="en-US" sz="1050" b="1" dirty="0">
                <a:solidFill>
                  <a:srgbClr val="262B3A"/>
                </a:solidFill>
                <a:latin typeface="Calibri" pitchFamily="34" charset="0"/>
                <a:ea typeface="Calibri" pitchFamily="34" charset="-122"/>
                <a:cs typeface="Calibri" pitchFamily="34" charset="-120"/>
              </a:rPr>
              <a:t>airlock</a:t>
            </a:r>
            <a:r>
              <a:rPr lang="en-US" sz="1050" dirty="0">
                <a:solidFill>
                  <a:srgbClr val="262B3A"/>
                </a:solidFill>
                <a:latin typeface="Calibri" pitchFamily="34" charset="0"/>
                <a:ea typeface="Calibri" pitchFamily="34" charset="-122"/>
                <a:cs typeface="Calibri" pitchFamily="34" charset="-120"/>
              </a:rPr>
              <a:t>: lets CO₂ out; keeps air (oxygen) and microorganisms out</a:t>
            </a:r>
            <a:endParaRPr lang="en-US" sz="1050" dirty="0"/>
          </a:p>
        </p:txBody>
      </p:sp>
      <p:sp>
        <p:nvSpPr>
          <p:cNvPr id="40" name="Text 38"/>
          <p:cNvSpPr/>
          <p:nvPr/>
        </p:nvSpPr>
        <p:spPr>
          <a:xfrm>
            <a:off x="2606040" y="4663440"/>
            <a:ext cx="3200400" cy="274320"/>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yeast + sugar (grape juice or malted barley)</a:t>
            </a:r>
            <a:endParaRPr lang="en-US" sz="1050" dirty="0"/>
          </a:p>
        </p:txBody>
      </p:sp>
      <p:sp>
        <p:nvSpPr>
          <p:cNvPr id="41" name="Text 39"/>
          <p:cNvSpPr/>
          <p:nvPr/>
        </p:nvSpPr>
        <p:spPr>
          <a:xfrm>
            <a:off x="2606040" y="4965192"/>
            <a:ext cx="3200400" cy="274320"/>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no oxygen → fermentation → </a:t>
            </a:r>
            <a:r>
              <a:rPr lang="en-US" sz="1050" b="1" dirty="0">
                <a:solidFill>
                  <a:srgbClr val="262B3A"/>
                </a:solidFill>
                <a:latin typeface="Calibri" pitchFamily="34" charset="0"/>
                <a:ea typeface="Calibri" pitchFamily="34" charset="-122"/>
                <a:cs typeface="Calibri" pitchFamily="34" charset="-120"/>
              </a:rPr>
              <a:t>ethanol</a:t>
            </a:r>
            <a:r>
              <a:rPr lang="en-US" sz="1050" dirty="0">
                <a:solidFill>
                  <a:srgbClr val="262B3A"/>
                </a:solidFill>
                <a:latin typeface="Calibri" pitchFamily="34" charset="0"/>
                <a:ea typeface="Calibri" pitchFamily="34" charset="-122"/>
                <a:cs typeface="Calibri" pitchFamily="34" charset="-120"/>
              </a:rPr>
              <a:t> + CO₂</a:t>
            </a:r>
            <a:endParaRPr lang="en-US" sz="1050" dirty="0"/>
          </a:p>
        </p:txBody>
      </p:sp>
      <p:sp>
        <p:nvSpPr>
          <p:cNvPr id="42" name="Shape 40"/>
          <p:cNvSpPr/>
          <p:nvPr/>
        </p:nvSpPr>
        <p:spPr>
          <a:xfrm>
            <a:off x="6217920" y="1188720"/>
            <a:ext cx="5562295" cy="2423160"/>
          </a:xfrm>
          <a:prstGeom prst="roundRect">
            <a:avLst>
              <a:gd name="adj" fmla="val 2264"/>
            </a:avLst>
          </a:prstGeom>
          <a:solidFill>
            <a:srgbClr val="F4FAF9"/>
          </a:solidFill>
          <a:ln w="9525">
            <a:solidFill>
              <a:srgbClr val="CFE0DE"/>
            </a:solidFill>
            <a:prstDash val="solid"/>
          </a:ln>
        </p:spPr>
      </p:sp>
      <p:sp>
        <p:nvSpPr>
          <p:cNvPr id="43" name="Text 41"/>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Fermentation is useful</a:t>
            </a:r>
            <a:endParaRPr lang="en-US" sz="1300" dirty="0"/>
          </a:p>
        </p:txBody>
      </p:sp>
      <p:sp>
        <p:nvSpPr>
          <p:cNvPr id="44" name="Text 42"/>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Bread:</a:t>
            </a:r>
            <a:r>
              <a:rPr lang="en-US" sz="1100" dirty="0">
                <a:solidFill>
                  <a:srgbClr val="262B3A"/>
                </a:solidFill>
                <a:latin typeface="Calibri" pitchFamily="34" charset="0"/>
                <a:ea typeface="Calibri" pitchFamily="34" charset="-122"/>
                <a:cs typeface="Calibri" pitchFamily="34" charset="-120"/>
              </a:rPr>
              <a:t> yeast is mixed with flour, sugar and water. The </a:t>
            </a:r>
            <a:r>
              <a:rPr lang="en-US" sz="1100" b="1" dirty="0">
                <a:solidFill>
                  <a:srgbClr val="262B3A"/>
                </a:solidFill>
                <a:latin typeface="Calibri" pitchFamily="34" charset="0"/>
                <a:ea typeface="Calibri" pitchFamily="34" charset="-122"/>
                <a:cs typeface="Calibri" pitchFamily="34" charset="-120"/>
              </a:rPr>
              <a:t>carbon dioxide</a:t>
            </a:r>
            <a:r>
              <a:rPr lang="en-US" sz="1100" dirty="0">
                <a:solidFill>
                  <a:srgbClr val="262B3A"/>
                </a:solidFill>
                <a:latin typeface="Calibri" pitchFamily="34" charset="0"/>
                <a:ea typeface="Calibri" pitchFamily="34" charset="-122"/>
                <a:cs typeface="Calibri" pitchFamily="34" charset="-120"/>
              </a:rPr>
              <a:t> bubbles make the dough </a:t>
            </a:r>
            <a:r>
              <a:rPr lang="en-US" sz="1100" b="1" dirty="0">
                <a:solidFill>
                  <a:srgbClr val="262B3A"/>
                </a:solidFill>
                <a:latin typeface="Calibri" pitchFamily="34" charset="0"/>
                <a:ea typeface="Calibri" pitchFamily="34" charset="-122"/>
                <a:cs typeface="Calibri" pitchFamily="34" charset="-120"/>
              </a:rPr>
              <a:t>rise</a:t>
            </a:r>
            <a:r>
              <a:rPr lang="en-US" sz="1100" dirty="0">
                <a:solidFill>
                  <a:srgbClr val="262B3A"/>
                </a:solidFill>
                <a:latin typeface="Calibri" pitchFamily="34" charset="0"/>
                <a:ea typeface="Calibri" pitchFamily="34" charset="-122"/>
                <a:cs typeface="Calibri" pitchFamily="34" charset="-120"/>
              </a:rPr>
              <a:t>. The small amount of ethanol evaporates when the bread is baked.</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Beer and wine:</a:t>
            </a:r>
            <a:r>
              <a:rPr lang="en-US" sz="1100" dirty="0">
                <a:solidFill>
                  <a:srgbClr val="262B3A"/>
                </a:solidFill>
                <a:latin typeface="Calibri" pitchFamily="34" charset="0"/>
                <a:ea typeface="Calibri" pitchFamily="34" charset="-122"/>
                <a:cs typeface="Calibri" pitchFamily="34" charset="-120"/>
              </a:rPr>
              <a:t> yeast ferments sugars with no oxygen to make </a:t>
            </a:r>
            <a:r>
              <a:rPr lang="en-US" sz="1100" b="1" dirty="0">
                <a:solidFill>
                  <a:srgbClr val="262B3A"/>
                </a:solidFill>
                <a:latin typeface="Calibri" pitchFamily="34" charset="0"/>
                <a:ea typeface="Calibri" pitchFamily="34" charset="-122"/>
                <a:cs typeface="Calibri" pitchFamily="34" charset="-120"/>
              </a:rPr>
              <a:t>ethanol</a:t>
            </a:r>
            <a:r>
              <a:rPr lang="en-US" sz="1100" dirty="0">
                <a:solidFill>
                  <a:srgbClr val="262B3A"/>
                </a:solidFill>
                <a:latin typeface="Calibri" pitchFamily="34" charset="0"/>
                <a:ea typeface="Calibri" pitchFamily="34" charset="-122"/>
                <a:cs typeface="Calibri" pitchFamily="34" charset="-120"/>
              </a:rPr>
              <a:t> (alcohol). The CO₂ can make drinks fizzy.</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Warmth (about 25–35 °C) speeds up fermentation: the yeast's </a:t>
            </a:r>
            <a:r>
              <a:rPr lang="en-US" sz="1100" b="1" dirty="0">
                <a:solidFill>
                  <a:srgbClr val="262B3A"/>
                </a:solidFill>
                <a:latin typeface="Calibri" pitchFamily="34" charset="0"/>
                <a:ea typeface="Calibri" pitchFamily="34" charset="-122"/>
                <a:cs typeface="Calibri" pitchFamily="34" charset="-120"/>
              </a:rPr>
              <a:t>enzymes</a:t>
            </a:r>
            <a:r>
              <a:rPr lang="en-US" sz="1100" dirty="0">
                <a:solidFill>
                  <a:srgbClr val="262B3A"/>
                </a:solidFill>
                <a:latin typeface="Calibri" pitchFamily="34" charset="0"/>
                <a:ea typeface="Calibri" pitchFamily="34" charset="-122"/>
                <a:cs typeface="Calibri" pitchFamily="34" charset="-120"/>
              </a:rPr>
              <a:t> work faster (B3.1).</a:t>
            </a:r>
            <a:endParaRPr lang="en-US" sz="1100" dirty="0"/>
          </a:p>
        </p:txBody>
      </p:sp>
      <p:sp>
        <p:nvSpPr>
          <p:cNvPr id="45" name="Shape 43"/>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46" name="Text 44"/>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rate of rising</a:t>
            </a:r>
            <a:endParaRPr lang="en-US" sz="1300" dirty="0"/>
          </a:p>
        </p:txBody>
      </p:sp>
      <p:sp>
        <p:nvSpPr>
          <p:cNvPr id="47" name="Text 45"/>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The dough rose from 250 cm³ to 600 cm³ in 60 minutes. Calculate the mean rate of rising.</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Change   </a:t>
            </a:r>
            <a:r>
              <a:rPr lang="en-US" sz="1050" dirty="0">
                <a:solidFill>
                  <a:srgbClr val="262B3A"/>
                </a:solidFill>
                <a:latin typeface="Calibri" pitchFamily="34" charset="0"/>
                <a:ea typeface="Calibri" pitchFamily="34" charset="-122"/>
                <a:cs typeface="Calibri" pitchFamily="34" charset="-120"/>
              </a:rPr>
              <a:t>600 − 250 = 350 cm³</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Equation   </a:t>
            </a:r>
            <a:r>
              <a:rPr lang="en-US" sz="1050" dirty="0">
                <a:solidFill>
                  <a:srgbClr val="262B3A"/>
                </a:solidFill>
                <a:latin typeface="Calibri" pitchFamily="34" charset="0"/>
                <a:ea typeface="Calibri" pitchFamily="34" charset="-122"/>
                <a:cs typeface="Calibri" pitchFamily="34" charset="-120"/>
              </a:rPr>
              <a:t>rate = change in volume ÷ time</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Substitute   </a:t>
            </a:r>
            <a:r>
              <a:rPr lang="en-US" sz="1050" dirty="0">
                <a:solidFill>
                  <a:srgbClr val="262B3A"/>
                </a:solidFill>
                <a:latin typeface="Calibri" pitchFamily="34" charset="0"/>
                <a:ea typeface="Calibri" pitchFamily="34" charset="-122"/>
                <a:cs typeface="Calibri" pitchFamily="34" charset="-120"/>
              </a:rPr>
              <a:t>rate = 350 ÷ 60</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rate = 5.8 cm³ per minute (2 s.f.)</a:t>
            </a:r>
            <a:endParaRPr lang="en-US" sz="1050" dirty="0"/>
          </a:p>
        </p:txBody>
      </p:sp>
      <p:sp>
        <p:nvSpPr>
          <p:cNvPr id="48" name="Shape 46"/>
          <p:cNvSpPr/>
          <p:nvPr/>
        </p:nvSpPr>
        <p:spPr>
          <a:xfrm>
            <a:off x="411480" y="5833872"/>
            <a:ext cx="11368735" cy="530352"/>
          </a:xfrm>
          <a:prstGeom prst="rect">
            <a:avLst/>
          </a:prstGeom>
          <a:solidFill>
            <a:srgbClr val="FFF4E0"/>
          </a:solidFill>
          <a:ln w="6350">
            <a:solidFill>
              <a:srgbClr val="F1D9A8"/>
            </a:solidFill>
            <a:prstDash val="solid"/>
          </a:ln>
        </p:spPr>
      </p:sp>
      <p:sp>
        <p:nvSpPr>
          <p:cNvPr id="49" name="Shape 47"/>
          <p:cNvSpPr/>
          <p:nvPr/>
        </p:nvSpPr>
        <p:spPr>
          <a:xfrm>
            <a:off x="411480" y="5833872"/>
            <a:ext cx="82296" cy="530352"/>
          </a:xfrm>
          <a:prstGeom prst="rect">
            <a:avLst/>
          </a:prstGeom>
          <a:solidFill>
            <a:srgbClr val="E39A2F"/>
          </a:solidFill>
          <a:ln w="12700">
            <a:solidFill>
              <a:srgbClr val="E39A2F"/>
            </a:solidFill>
            <a:prstDash val="solid"/>
          </a:ln>
        </p:spPr>
      </p:sp>
      <p:sp>
        <p:nvSpPr>
          <p:cNvPr id="50" name="Text 4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Why does a brewer use an airlock instead of leaving the vessel open? What would happen to the yeast if air got in?</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Exam practice: recap 3</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B4.1.1 • anaerobic respiration and fermentation</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B4.1 What happens during cellular respiration?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3  |  14</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CFE0DE"/>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the product of anaerobic respiration in human muscle cells.</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CFE0DE"/>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what is meant by an </a:t>
            </a:r>
            <a:r>
              <a:rPr lang="en-US" sz="1250" b="1" dirty="0">
                <a:solidFill>
                  <a:srgbClr val="262B3A"/>
                </a:solidFill>
                <a:latin typeface="Calibri" pitchFamily="34" charset="0"/>
                <a:ea typeface="Calibri" pitchFamily="34" charset="-122"/>
                <a:cs typeface="Calibri" pitchFamily="34" charset="-120"/>
              </a:rPr>
              <a:t>oxygen debt</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CFE0DE"/>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Write the </a:t>
            </a:r>
            <a:r>
              <a:rPr lang="en-US" sz="1250" b="1" dirty="0">
                <a:solidFill>
                  <a:srgbClr val="262B3A"/>
                </a:solidFill>
                <a:latin typeface="Calibri" pitchFamily="34" charset="0"/>
                <a:ea typeface="Calibri" pitchFamily="34" charset="-122"/>
                <a:cs typeface="Calibri" pitchFamily="34" charset="-120"/>
              </a:rPr>
              <a:t>word equation</a:t>
            </a:r>
            <a:r>
              <a:rPr lang="en-US" sz="1250" dirty="0">
                <a:solidFill>
                  <a:srgbClr val="262B3A"/>
                </a:solidFill>
                <a:latin typeface="Calibri" pitchFamily="34" charset="0"/>
                <a:ea typeface="Calibri" pitchFamily="34" charset="-122"/>
                <a:cs typeface="Calibri" pitchFamily="34" charset="-120"/>
              </a:rPr>
              <a:t> for anaerobic respiration in yeast.</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CFE0DE"/>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bread dough rises when it is left in a warm place.</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Comparing aerobic and anaerobic respiration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B4.1.1 • conditions, inputs, outputs and yields of ATP</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B4.1 What happens during cellular respiration?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B4.1.1  |  15</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ATP from one glucose molecule drawn to scale (aerobic figure is approximate)</a:t>
            </a:r>
            <a:endParaRPr lang="en-US" sz="1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5120640" cy="914400"/>
        </p:xfrm>
        <a:graphic>
          <a:graphicData uri="http://schemas.openxmlformats.org/drawingml/2006/table">
            <a:tbl>
              <a:tblPr/>
              <a:tblGrid>
                <a:gridCol w="1554480"/>
                <a:gridCol w="1783080"/>
                <a:gridCol w="1783080"/>
              </a:tblGrid>
              <a:tr h="301752">
                <a:tc>
                  <a:txBody>
                    <a:bodyPr/>
                    <a:lstStyle/>
                    <a:p>
                      <a:pPr indent="0" marL="0">
                        <a:buNone/>
                      </a:pPr>
                      <a:endParaRPr lang="en-US" sz="11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Aerobic</a:t>
                      </a:r>
                      <a:endParaRPr lang="en-US" sz="11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Anaerobic</a:t>
                      </a:r>
                      <a:endParaRPr lang="en-US" sz="11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r>
              <a:tr h="301752">
                <a:tc>
                  <a:txBody>
                    <a:bodyPr/>
                    <a:lstStyle/>
                    <a:p>
                      <a:pPr indent="0" marL="0">
                        <a:buNone/>
                      </a:pPr>
                      <a:r>
                        <a:rPr lang="en-US" sz="1100" b="1" dirty="0">
                          <a:solidFill>
                            <a:srgbClr val="262B3A"/>
                          </a:solidFill>
                          <a:latin typeface="Calibri" pitchFamily="34" charset="0"/>
                          <a:ea typeface="Calibri" pitchFamily="34" charset="-122"/>
                          <a:cs typeface="Calibri" pitchFamily="34" charset="-120"/>
                        </a:rPr>
                        <a:t>When?</a:t>
                      </a:r>
                      <a:endParaRPr lang="en-US" sz="11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100" dirty="0">
                          <a:solidFill>
                            <a:srgbClr val="262B3A"/>
                          </a:solidFill>
                          <a:latin typeface="Calibri" pitchFamily="34" charset="0"/>
                          <a:ea typeface="Calibri" pitchFamily="34" charset="-122"/>
                          <a:cs typeface="Calibri" pitchFamily="34" charset="-120"/>
                        </a:rPr>
                        <a:t>plenty of oxygen</a:t>
                      </a:r>
                      <a:endParaRPr lang="en-US" sz="11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100" dirty="0">
                          <a:solidFill>
                            <a:srgbClr val="262B3A"/>
                          </a:solidFill>
                          <a:latin typeface="Calibri" pitchFamily="34" charset="0"/>
                          <a:ea typeface="Calibri" pitchFamily="34" charset="-122"/>
                          <a:cs typeface="Calibri" pitchFamily="34" charset="-120"/>
                        </a:rPr>
                        <a:t>little or no oxygen</a:t>
                      </a:r>
                      <a:endParaRPr lang="en-US" sz="11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r h="301752">
                <a:tc>
                  <a:txBody>
                    <a:bodyPr/>
                    <a:lstStyle/>
                    <a:p>
                      <a:pPr indent="0" marL="0">
                        <a:buNone/>
                      </a:pPr>
                      <a:r>
                        <a:rPr lang="en-US" sz="1100" b="1" dirty="0">
                          <a:solidFill>
                            <a:srgbClr val="262B3A"/>
                          </a:solidFill>
                          <a:latin typeface="Calibri" pitchFamily="34" charset="0"/>
                          <a:ea typeface="Calibri" pitchFamily="34" charset="-122"/>
                          <a:cs typeface="Calibri" pitchFamily="34" charset="-120"/>
                        </a:rPr>
                        <a:t>Inputs</a:t>
                      </a:r>
                      <a:endParaRPr lang="en-US" sz="11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100" dirty="0">
                          <a:solidFill>
                            <a:srgbClr val="262B3A"/>
                          </a:solidFill>
                          <a:latin typeface="Calibri" pitchFamily="34" charset="0"/>
                          <a:ea typeface="Calibri" pitchFamily="34" charset="-122"/>
                          <a:cs typeface="Calibri" pitchFamily="34" charset="-120"/>
                        </a:rPr>
                        <a:t>glucose + oxygen</a:t>
                      </a:r>
                      <a:endParaRPr lang="en-US" sz="11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100" dirty="0">
                          <a:solidFill>
                            <a:srgbClr val="262B3A"/>
                          </a:solidFill>
                          <a:latin typeface="Calibri" pitchFamily="34" charset="0"/>
                          <a:ea typeface="Calibri" pitchFamily="34" charset="-122"/>
                          <a:cs typeface="Calibri" pitchFamily="34" charset="-120"/>
                        </a:rPr>
                        <a:t>glucose only</a:t>
                      </a:r>
                      <a:endParaRPr lang="en-US" sz="11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r>
              <a:tr h="301752">
                <a:tc>
                  <a:txBody>
                    <a:bodyPr/>
                    <a:lstStyle/>
                    <a:p>
                      <a:pPr indent="0" marL="0">
                        <a:buNone/>
                      </a:pPr>
                      <a:r>
                        <a:rPr lang="en-US" sz="1100" b="1" dirty="0">
                          <a:solidFill>
                            <a:srgbClr val="262B3A"/>
                          </a:solidFill>
                          <a:latin typeface="Calibri" pitchFamily="34" charset="0"/>
                          <a:ea typeface="Calibri" pitchFamily="34" charset="-122"/>
                          <a:cs typeface="Calibri" pitchFamily="34" charset="-120"/>
                        </a:rPr>
                        <a:t>Outputs: animals</a:t>
                      </a:r>
                      <a:endParaRPr lang="en-US" sz="11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100" dirty="0">
                          <a:solidFill>
                            <a:srgbClr val="262B3A"/>
                          </a:solidFill>
                          <a:latin typeface="Calibri" pitchFamily="34" charset="0"/>
                          <a:ea typeface="Calibri" pitchFamily="34" charset="-122"/>
                          <a:cs typeface="Calibri" pitchFamily="34" charset="-120"/>
                        </a:rPr>
                        <a:t>carbon dioxide + water</a:t>
                      </a:r>
                      <a:endParaRPr lang="en-US" sz="11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100" dirty="0">
                          <a:solidFill>
                            <a:srgbClr val="262B3A"/>
                          </a:solidFill>
                          <a:latin typeface="Calibri" pitchFamily="34" charset="0"/>
                          <a:ea typeface="Calibri" pitchFamily="34" charset="-122"/>
                          <a:cs typeface="Calibri" pitchFamily="34" charset="-120"/>
                        </a:rPr>
                        <a:t>lactic acid</a:t>
                      </a:r>
                      <a:endParaRPr lang="en-US" sz="11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r h="301752">
                <a:tc>
                  <a:txBody>
                    <a:bodyPr/>
                    <a:lstStyle/>
                    <a:p>
                      <a:pPr indent="0" marL="0">
                        <a:buNone/>
                      </a:pPr>
                      <a:r>
                        <a:rPr lang="en-US" sz="1100" b="1" dirty="0">
                          <a:solidFill>
                            <a:srgbClr val="262B3A"/>
                          </a:solidFill>
                          <a:latin typeface="Calibri" pitchFamily="34" charset="0"/>
                          <a:ea typeface="Calibri" pitchFamily="34" charset="-122"/>
                          <a:cs typeface="Calibri" pitchFamily="34" charset="-120"/>
                        </a:rPr>
                        <a:t>Outputs: plants, yeast</a:t>
                      </a:r>
                      <a:endParaRPr lang="en-US" sz="11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100" dirty="0">
                          <a:solidFill>
                            <a:srgbClr val="262B3A"/>
                          </a:solidFill>
                          <a:latin typeface="Calibri" pitchFamily="34" charset="0"/>
                          <a:ea typeface="Calibri" pitchFamily="34" charset="-122"/>
                          <a:cs typeface="Calibri" pitchFamily="34" charset="-120"/>
                        </a:rPr>
                        <a:t>carbon dioxide + water</a:t>
                      </a:r>
                      <a:endParaRPr lang="en-US" sz="11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100" dirty="0">
                          <a:solidFill>
                            <a:srgbClr val="262B3A"/>
                          </a:solidFill>
                          <a:latin typeface="Calibri" pitchFamily="34" charset="0"/>
                          <a:ea typeface="Calibri" pitchFamily="34" charset="-122"/>
                          <a:cs typeface="Calibri" pitchFamily="34" charset="-120"/>
                        </a:rPr>
                        <a:t>ethanol + carbon dioxide</a:t>
                      </a:r>
                      <a:endParaRPr lang="en-US" sz="11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r>
              <a:tr h="301752">
                <a:tc>
                  <a:txBody>
                    <a:bodyPr/>
                    <a:lstStyle/>
                    <a:p>
                      <a:pPr indent="0" marL="0">
                        <a:buNone/>
                      </a:pPr>
                      <a:r>
                        <a:rPr lang="en-US" sz="1100" b="1" dirty="0">
                          <a:solidFill>
                            <a:srgbClr val="262B3A"/>
                          </a:solidFill>
                          <a:latin typeface="Calibri" pitchFamily="34" charset="0"/>
                          <a:ea typeface="Calibri" pitchFamily="34" charset="-122"/>
                          <a:cs typeface="Calibri" pitchFamily="34" charset="-120"/>
                        </a:rPr>
                        <a:t>Glucose broken down</a:t>
                      </a:r>
                      <a:endParaRPr lang="en-US" sz="11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100" dirty="0">
                          <a:solidFill>
                            <a:srgbClr val="262B3A"/>
                          </a:solidFill>
                          <a:latin typeface="Calibri" pitchFamily="34" charset="0"/>
                          <a:ea typeface="Calibri" pitchFamily="34" charset="-122"/>
                          <a:cs typeface="Calibri" pitchFamily="34" charset="-120"/>
                        </a:rPr>
                        <a:t>completely</a:t>
                      </a:r>
                      <a:endParaRPr lang="en-US" sz="11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100" dirty="0">
                          <a:solidFill>
                            <a:srgbClr val="262B3A"/>
                          </a:solidFill>
                          <a:latin typeface="Calibri" pitchFamily="34" charset="0"/>
                          <a:ea typeface="Calibri" pitchFamily="34" charset="-122"/>
                          <a:cs typeface="Calibri" pitchFamily="34" charset="-120"/>
                        </a:rPr>
                        <a:t>partly</a:t>
                      </a:r>
                      <a:endParaRPr lang="en-US" sz="11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r h="301752">
                <a:tc>
                  <a:txBody>
                    <a:bodyPr/>
                    <a:lstStyle/>
                    <a:p>
                      <a:pPr indent="0" marL="0">
                        <a:buNone/>
                      </a:pPr>
                      <a:r>
                        <a:rPr lang="en-US" sz="1100" b="1" dirty="0">
                          <a:solidFill>
                            <a:srgbClr val="262B3A"/>
                          </a:solidFill>
                          <a:latin typeface="Calibri" pitchFamily="34" charset="0"/>
                          <a:ea typeface="Calibri" pitchFamily="34" charset="-122"/>
                          <a:cs typeface="Calibri" pitchFamily="34" charset="-120"/>
                        </a:rPr>
                        <a:t>Where in the cell?</a:t>
                      </a:r>
                      <a:endParaRPr lang="en-US" sz="11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100" dirty="0">
                          <a:solidFill>
                            <a:srgbClr val="262B3A"/>
                          </a:solidFill>
                          <a:latin typeface="Calibri" pitchFamily="34" charset="0"/>
                          <a:ea typeface="Calibri" pitchFamily="34" charset="-122"/>
                          <a:cs typeface="Calibri" pitchFamily="34" charset="-120"/>
                        </a:rPr>
                        <a:t>mostly mitochondria</a:t>
                      </a:r>
                      <a:endParaRPr lang="en-US" sz="11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100" dirty="0">
                          <a:solidFill>
                            <a:srgbClr val="262B3A"/>
                          </a:solidFill>
                          <a:latin typeface="Calibri" pitchFamily="34" charset="0"/>
                          <a:ea typeface="Calibri" pitchFamily="34" charset="-122"/>
                          <a:cs typeface="Calibri" pitchFamily="34" charset="-120"/>
                        </a:rPr>
                        <a:t>cytoplasm</a:t>
                      </a:r>
                      <a:endParaRPr lang="en-US" sz="11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r>
              <a:tr h="301752">
                <a:tc>
                  <a:txBody>
                    <a:bodyPr/>
                    <a:lstStyle/>
                    <a:p>
                      <a:pPr indent="0" marL="0">
                        <a:buNone/>
                      </a:pPr>
                      <a:r>
                        <a:rPr lang="en-US" sz="1100" b="1" dirty="0">
                          <a:solidFill>
                            <a:srgbClr val="262B3A"/>
                          </a:solidFill>
                          <a:latin typeface="Calibri" pitchFamily="34" charset="0"/>
                          <a:ea typeface="Calibri" pitchFamily="34" charset="-122"/>
                          <a:cs typeface="Calibri" pitchFamily="34" charset="-120"/>
                        </a:rPr>
                        <a:t>ATP per glucose</a:t>
                      </a:r>
                      <a:endParaRPr lang="en-US" sz="11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100" dirty="0">
                          <a:solidFill>
                            <a:srgbClr val="262B3A"/>
                          </a:solidFill>
                          <a:latin typeface="Calibri" pitchFamily="34" charset="0"/>
                          <a:ea typeface="Calibri" pitchFamily="34" charset="-122"/>
                          <a:cs typeface="Calibri" pitchFamily="34" charset="-120"/>
                        </a:rPr>
                        <a:t>a lot (about 32)</a:t>
                      </a:r>
                      <a:endParaRPr lang="en-US" sz="11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100" dirty="0">
                          <a:solidFill>
                            <a:srgbClr val="262B3A"/>
                          </a:solidFill>
                          <a:latin typeface="Calibri" pitchFamily="34" charset="0"/>
                          <a:ea typeface="Calibri" pitchFamily="34" charset="-122"/>
                          <a:cs typeface="Calibri" pitchFamily="34" charset="-120"/>
                        </a:rPr>
                        <a:t>a little (2)</a:t>
                      </a:r>
                      <a:endParaRPr lang="en-US" sz="11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bl>
          </a:graphicData>
        </a:graphic>
      </p:graphicFrame>
      <p:sp>
        <p:nvSpPr>
          <p:cNvPr id="11" name="Text 8"/>
          <p:cNvSpPr/>
          <p:nvPr/>
        </p:nvSpPr>
        <p:spPr>
          <a:xfrm>
            <a:off x="640080" y="3931920"/>
            <a:ext cx="5120640" cy="256032"/>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ATP made from one glucose molecule</a:t>
            </a:r>
            <a:endParaRPr lang="en-US" sz="1100" dirty="0"/>
          </a:p>
        </p:txBody>
      </p:sp>
      <p:sp>
        <p:nvSpPr>
          <p:cNvPr id="12" name="Shape 9"/>
          <p:cNvSpPr/>
          <p:nvPr/>
        </p:nvSpPr>
        <p:spPr>
          <a:xfrm>
            <a:off x="1783080" y="4279392"/>
            <a:ext cx="3291840" cy="310896"/>
          </a:xfrm>
          <a:prstGeom prst="rect">
            <a:avLst/>
          </a:prstGeom>
          <a:solidFill>
            <a:srgbClr val="0D7877"/>
          </a:solidFill>
          <a:ln/>
        </p:spPr>
      </p:sp>
      <p:sp>
        <p:nvSpPr>
          <p:cNvPr id="13" name="Text 10"/>
          <p:cNvSpPr/>
          <p:nvPr/>
        </p:nvSpPr>
        <p:spPr>
          <a:xfrm>
            <a:off x="713232" y="4279392"/>
            <a:ext cx="1005840" cy="310896"/>
          </a:xfrm>
          <a:prstGeom prst="rect">
            <a:avLst/>
          </a:prstGeom>
          <a:noFill/>
          <a:ln/>
        </p:spPr>
        <p:txBody>
          <a:bodyPr wrap="square" lIns="0" tIns="0" rIns="0" bIns="0" rtlCol="0" anchor="ctr"/>
          <a:lstStyle/>
          <a:p>
            <a:pPr algn="r" indent="0" marL="0">
              <a:buNone/>
            </a:pPr>
            <a:r>
              <a:rPr lang="en-US" sz="1050" b="1" dirty="0">
                <a:solidFill>
                  <a:srgbClr val="262B3A"/>
                </a:solidFill>
                <a:latin typeface="Calibri" pitchFamily="34" charset="0"/>
                <a:ea typeface="Calibri" pitchFamily="34" charset="-122"/>
                <a:cs typeface="Calibri" pitchFamily="34" charset="-120"/>
              </a:rPr>
              <a:t>aerobic</a:t>
            </a:r>
            <a:endParaRPr lang="en-US" sz="1050" dirty="0"/>
          </a:p>
        </p:txBody>
      </p:sp>
      <p:sp>
        <p:nvSpPr>
          <p:cNvPr id="14" name="Text 11"/>
          <p:cNvSpPr/>
          <p:nvPr/>
        </p:nvSpPr>
        <p:spPr>
          <a:xfrm>
            <a:off x="5129784" y="4279392"/>
            <a:ext cx="1463040" cy="310896"/>
          </a:xfrm>
          <a:prstGeom prst="rect">
            <a:avLst/>
          </a:prstGeom>
          <a:noFill/>
          <a:ln/>
        </p:spPr>
        <p:txBody>
          <a:bodyPr wrap="square" lIns="0" tIns="0" rIns="0" bIns="0" rtlCol="0" anchor="ctr"/>
          <a:lstStyle/>
          <a:p>
            <a:pPr algn="l" indent="0" marL="0">
              <a:buNone/>
            </a:pPr>
            <a:r>
              <a:rPr lang="en-US" sz="1050" b="1" dirty="0">
                <a:solidFill>
                  <a:srgbClr val="133536"/>
                </a:solidFill>
                <a:latin typeface="Calibri" pitchFamily="34" charset="0"/>
                <a:ea typeface="Calibri" pitchFamily="34" charset="-122"/>
                <a:cs typeface="Calibri" pitchFamily="34" charset="-120"/>
              </a:rPr>
              <a:t>about 32</a:t>
            </a:r>
            <a:endParaRPr lang="en-US" sz="1050" dirty="0"/>
          </a:p>
        </p:txBody>
      </p:sp>
      <p:sp>
        <p:nvSpPr>
          <p:cNvPr id="15" name="Shape 12"/>
          <p:cNvSpPr/>
          <p:nvPr/>
        </p:nvSpPr>
        <p:spPr>
          <a:xfrm>
            <a:off x="1783080" y="4709160"/>
            <a:ext cx="205740" cy="310896"/>
          </a:xfrm>
          <a:prstGeom prst="rect">
            <a:avLst/>
          </a:prstGeom>
          <a:solidFill>
            <a:srgbClr val="C8414C"/>
          </a:solidFill>
          <a:ln/>
        </p:spPr>
      </p:sp>
      <p:sp>
        <p:nvSpPr>
          <p:cNvPr id="16" name="Text 13"/>
          <p:cNvSpPr/>
          <p:nvPr/>
        </p:nvSpPr>
        <p:spPr>
          <a:xfrm>
            <a:off x="713232" y="4709160"/>
            <a:ext cx="1005840" cy="310896"/>
          </a:xfrm>
          <a:prstGeom prst="rect">
            <a:avLst/>
          </a:prstGeom>
          <a:noFill/>
          <a:ln/>
        </p:spPr>
        <p:txBody>
          <a:bodyPr wrap="square" lIns="0" tIns="0" rIns="0" bIns="0" rtlCol="0" anchor="ctr"/>
          <a:lstStyle/>
          <a:p>
            <a:pPr algn="r" indent="0" marL="0">
              <a:buNone/>
            </a:pPr>
            <a:r>
              <a:rPr lang="en-US" sz="1050" b="1" dirty="0">
                <a:solidFill>
                  <a:srgbClr val="262B3A"/>
                </a:solidFill>
                <a:latin typeface="Calibri" pitchFamily="34" charset="0"/>
                <a:ea typeface="Calibri" pitchFamily="34" charset="-122"/>
                <a:cs typeface="Calibri" pitchFamily="34" charset="-120"/>
              </a:rPr>
              <a:t>anaerobic</a:t>
            </a:r>
            <a:endParaRPr lang="en-US" sz="1050" dirty="0"/>
          </a:p>
        </p:txBody>
      </p:sp>
      <p:sp>
        <p:nvSpPr>
          <p:cNvPr id="17" name="Text 14"/>
          <p:cNvSpPr/>
          <p:nvPr/>
        </p:nvSpPr>
        <p:spPr>
          <a:xfrm>
            <a:off x="2043684" y="4709160"/>
            <a:ext cx="1463040" cy="310896"/>
          </a:xfrm>
          <a:prstGeom prst="rect">
            <a:avLst/>
          </a:prstGeom>
          <a:noFill/>
          <a:ln/>
        </p:spPr>
        <p:txBody>
          <a:bodyPr wrap="square" lIns="0" tIns="0" rIns="0" bIns="0" rtlCol="0" anchor="ctr"/>
          <a:lstStyle/>
          <a:p>
            <a:pPr algn="l" indent="0" marL="0">
              <a:buNone/>
            </a:pPr>
            <a:r>
              <a:rPr lang="en-US" sz="1050" b="1" dirty="0">
                <a:solidFill>
                  <a:srgbClr val="133536"/>
                </a:solidFill>
                <a:latin typeface="Calibri" pitchFamily="34" charset="0"/>
                <a:ea typeface="Calibri" pitchFamily="34" charset="-122"/>
                <a:cs typeface="Calibri" pitchFamily="34" charset="-120"/>
              </a:rPr>
              <a:t>2</a:t>
            </a:r>
            <a:endParaRPr lang="en-US" sz="1050" dirty="0"/>
          </a:p>
        </p:txBody>
      </p:sp>
      <p:sp>
        <p:nvSpPr>
          <p:cNvPr id="18" name="Shape 15"/>
          <p:cNvSpPr/>
          <p:nvPr/>
        </p:nvSpPr>
        <p:spPr>
          <a:xfrm>
            <a:off x="1783080" y="4206240"/>
            <a:ext cx="91" cy="896112"/>
          </a:xfrm>
          <a:prstGeom prst="line">
            <a:avLst/>
          </a:prstGeom>
          <a:noFill/>
          <a:ln w="15875">
            <a:solidFill>
              <a:srgbClr val="133536"/>
            </a:solidFill>
            <a:prstDash val="solid"/>
          </a:ln>
        </p:spPr>
      </p:sp>
      <p:sp>
        <p:nvSpPr>
          <p:cNvPr id="19" name="Shape 16"/>
          <p:cNvSpPr/>
          <p:nvPr/>
        </p:nvSpPr>
        <p:spPr>
          <a:xfrm>
            <a:off x="6217920" y="1188720"/>
            <a:ext cx="5562295" cy="2423160"/>
          </a:xfrm>
          <a:prstGeom prst="roundRect">
            <a:avLst>
              <a:gd name="adj" fmla="val 2264"/>
            </a:avLst>
          </a:prstGeom>
          <a:solidFill>
            <a:srgbClr val="F4FAF9"/>
          </a:solidFill>
          <a:ln w="9525">
            <a:solidFill>
              <a:srgbClr val="CFE0DE"/>
            </a:solidFill>
            <a:prstDash val="solid"/>
          </a:ln>
        </p:spPr>
      </p:sp>
      <p:sp>
        <p:nvSpPr>
          <p:cNvPr id="20" name="Text 17"/>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Same start, different finish</a:t>
            </a:r>
            <a:endParaRPr lang="en-US" sz="1300" dirty="0"/>
          </a:p>
        </p:txBody>
      </p:sp>
      <p:sp>
        <p:nvSpPr>
          <p:cNvPr id="21" name="Text 18"/>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Both start with </a:t>
            </a:r>
            <a:r>
              <a:rPr lang="en-US" sz="1100" b="1" dirty="0">
                <a:solidFill>
                  <a:srgbClr val="262B3A"/>
                </a:solidFill>
                <a:latin typeface="Calibri" pitchFamily="34" charset="0"/>
                <a:ea typeface="Calibri" pitchFamily="34" charset="-122"/>
                <a:cs typeface="Calibri" pitchFamily="34" charset="-120"/>
              </a:rPr>
              <a:t>glucose</a:t>
            </a:r>
            <a:r>
              <a:rPr lang="en-US" sz="1100" dirty="0">
                <a:solidFill>
                  <a:srgbClr val="262B3A"/>
                </a:solidFill>
                <a:latin typeface="Calibri" pitchFamily="34" charset="0"/>
                <a:ea typeface="Calibri" pitchFamily="34" charset="-122"/>
                <a:cs typeface="Calibri" pitchFamily="34" charset="-120"/>
              </a:rPr>
              <a:t> and both transfer energy to </a:t>
            </a:r>
            <a:r>
              <a:rPr lang="en-US" sz="1100" b="1" dirty="0">
                <a:solidFill>
                  <a:srgbClr val="262B3A"/>
                </a:solidFill>
                <a:latin typeface="Calibri" pitchFamily="34" charset="0"/>
                <a:ea typeface="Calibri" pitchFamily="34" charset="-122"/>
                <a:cs typeface="Calibri" pitchFamily="34" charset="-120"/>
              </a:rPr>
              <a:t>ATP</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Aerobic respiration releases </a:t>
            </a:r>
            <a:r>
              <a:rPr lang="en-US" sz="1100" b="1" dirty="0">
                <a:solidFill>
                  <a:srgbClr val="262B3A"/>
                </a:solidFill>
                <a:latin typeface="Calibri" pitchFamily="34" charset="0"/>
                <a:ea typeface="Calibri" pitchFamily="34" charset="-122"/>
                <a:cs typeface="Calibri" pitchFamily="34" charset="-120"/>
              </a:rPr>
              <a:t>far more energy</a:t>
            </a:r>
            <a:r>
              <a:rPr lang="en-US" sz="1100" dirty="0">
                <a:solidFill>
                  <a:srgbClr val="262B3A"/>
                </a:solidFill>
                <a:latin typeface="Calibri" pitchFamily="34" charset="0"/>
                <a:ea typeface="Calibri" pitchFamily="34" charset="-122"/>
                <a:cs typeface="Calibri" pitchFamily="34" charset="-120"/>
              </a:rPr>
              <a:t> per glucose because glucose is broken down completely.</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Anaerobic respiration is </a:t>
            </a:r>
            <a:r>
              <a:rPr lang="en-US" sz="1100" b="1" dirty="0">
                <a:solidFill>
                  <a:srgbClr val="262B3A"/>
                </a:solidFill>
                <a:latin typeface="Calibri" pitchFamily="34" charset="0"/>
                <a:ea typeface="Calibri" pitchFamily="34" charset="-122"/>
                <a:cs typeface="Calibri" pitchFamily="34" charset="-120"/>
              </a:rPr>
              <a:t>less efficient</a:t>
            </a:r>
            <a:r>
              <a:rPr lang="en-US" sz="1100" dirty="0">
                <a:solidFill>
                  <a:srgbClr val="262B3A"/>
                </a:solidFill>
                <a:latin typeface="Calibri" pitchFamily="34" charset="0"/>
                <a:ea typeface="Calibri" pitchFamily="34" charset="-122"/>
                <a:cs typeface="Calibri" pitchFamily="34" charset="-120"/>
              </a:rPr>
              <a:t> but needs no oxygen. In muscles it supplies extra ATP quickly in a sprint.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Only aerobic respiration (and anaerobic in plants and yeast) makes </a:t>
            </a:r>
            <a:r>
              <a:rPr lang="en-US" sz="1100" b="1" dirty="0">
                <a:solidFill>
                  <a:srgbClr val="262B3A"/>
                </a:solidFill>
                <a:latin typeface="Calibri" pitchFamily="34" charset="0"/>
                <a:ea typeface="Calibri" pitchFamily="34" charset="-122"/>
                <a:cs typeface="Calibri" pitchFamily="34" charset="-120"/>
              </a:rPr>
              <a:t>carbon dioxide</a:t>
            </a:r>
            <a:r>
              <a:rPr lang="en-US" sz="1100" dirty="0">
                <a:solidFill>
                  <a:srgbClr val="262B3A"/>
                </a:solidFill>
                <a:latin typeface="Calibri" pitchFamily="34" charset="0"/>
                <a:ea typeface="Calibri" pitchFamily="34" charset="-122"/>
                <a:cs typeface="Calibri" pitchFamily="34" charset="-120"/>
              </a:rPr>
              <a:t>.</a:t>
            </a:r>
            <a:endParaRPr lang="en-US" sz="1100" dirty="0"/>
          </a:p>
        </p:txBody>
      </p:sp>
      <p:sp>
        <p:nvSpPr>
          <p:cNvPr id="22" name="Shape 19"/>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23" name="Text 20"/>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Stretch: comparing yields</a:t>
            </a:r>
            <a:endParaRPr lang="en-US" sz="1300" dirty="0"/>
          </a:p>
        </p:txBody>
      </p:sp>
      <p:sp>
        <p:nvSpPr>
          <p:cNvPr id="24" name="Text 21"/>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 cell needs 64 ATP molecules. How many glucose molecules must it respire (a) aerobically (b) anaerobically?</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Aerobic   </a:t>
            </a:r>
            <a:r>
              <a:rPr lang="en-US" sz="1050" dirty="0">
                <a:solidFill>
                  <a:srgbClr val="262B3A"/>
                </a:solidFill>
                <a:latin typeface="Calibri" pitchFamily="34" charset="0"/>
                <a:ea typeface="Calibri" pitchFamily="34" charset="-122"/>
                <a:cs typeface="Calibri" pitchFamily="34" charset="-120"/>
              </a:rPr>
              <a:t>64 ÷ 32 = 2 glucose</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Anaerobic   </a:t>
            </a:r>
            <a:r>
              <a:rPr lang="en-US" sz="1050" dirty="0">
                <a:solidFill>
                  <a:srgbClr val="262B3A"/>
                </a:solidFill>
                <a:latin typeface="Calibri" pitchFamily="34" charset="0"/>
                <a:ea typeface="Calibri" pitchFamily="34" charset="-122"/>
                <a:cs typeface="Calibri" pitchFamily="34" charset="-120"/>
              </a:rPr>
              <a:t>64 ÷ 2 = 32 glucose</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Ratio   </a:t>
            </a:r>
            <a:r>
              <a:rPr lang="en-US" sz="1050" dirty="0">
                <a:solidFill>
                  <a:srgbClr val="262B3A"/>
                </a:solidFill>
                <a:latin typeface="Calibri" pitchFamily="34" charset="0"/>
                <a:ea typeface="Calibri" pitchFamily="34" charset="-122"/>
                <a:cs typeface="Calibri" pitchFamily="34" charset="-120"/>
              </a:rPr>
              <a:t>32 ÷ 2 = 16 times as much glucose</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2 aerobically; 32 anaerobically</a:t>
            </a:r>
            <a:endParaRPr lang="en-US" sz="1050" dirty="0"/>
          </a:p>
        </p:txBody>
      </p:sp>
      <p:sp>
        <p:nvSpPr>
          <p:cNvPr id="25" name="Shape 22"/>
          <p:cNvSpPr/>
          <p:nvPr/>
        </p:nvSpPr>
        <p:spPr>
          <a:xfrm>
            <a:off x="411480" y="5833872"/>
            <a:ext cx="11368735" cy="530352"/>
          </a:xfrm>
          <a:prstGeom prst="rect">
            <a:avLst/>
          </a:prstGeom>
          <a:solidFill>
            <a:srgbClr val="FFF4E0"/>
          </a:solidFill>
          <a:ln w="6350">
            <a:solidFill>
              <a:srgbClr val="F1D9A8"/>
            </a:solidFill>
            <a:prstDash val="solid"/>
          </a:ln>
        </p:spPr>
      </p:sp>
      <p:sp>
        <p:nvSpPr>
          <p:cNvPr id="26" name="Shape 23"/>
          <p:cNvSpPr/>
          <p:nvPr/>
        </p:nvSpPr>
        <p:spPr>
          <a:xfrm>
            <a:off x="411480" y="5833872"/>
            <a:ext cx="82296" cy="530352"/>
          </a:xfrm>
          <a:prstGeom prst="rect">
            <a:avLst/>
          </a:prstGeom>
          <a:solidFill>
            <a:srgbClr val="E39A2F"/>
          </a:solidFill>
          <a:ln w="12700">
            <a:solidFill>
              <a:srgbClr val="E39A2F"/>
            </a:solidFill>
            <a:prstDash val="solid"/>
          </a:ln>
        </p:spPr>
      </p:sp>
      <p:sp>
        <p:nvSpPr>
          <p:cNvPr id="27" name="Text 24"/>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Give </a:t>
            </a:r>
            <a:r>
              <a:rPr lang="en-US" sz="1150" b="1" dirty="0">
                <a:solidFill>
                  <a:srgbClr val="262B3A"/>
                </a:solidFill>
                <a:latin typeface="Calibri" pitchFamily="34" charset="0"/>
                <a:ea typeface="Calibri" pitchFamily="34" charset="-122"/>
                <a:cs typeface="Calibri" pitchFamily="34" charset="-120"/>
              </a:rPr>
              <a:t>two</a:t>
            </a:r>
            <a:r>
              <a:rPr lang="en-US" sz="1150" dirty="0">
                <a:solidFill>
                  <a:srgbClr val="262B3A"/>
                </a:solidFill>
                <a:latin typeface="Calibri" pitchFamily="34" charset="0"/>
                <a:ea typeface="Calibri" pitchFamily="34" charset="-122"/>
                <a:cs typeface="Calibri" pitchFamily="34" charset="-120"/>
              </a:rPr>
              <a:t> differences between aerobic respiration and anaerobic respiration in a human muscle cell.</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PAG B4: sugars and respiration in yeast</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B4.1.5 • collect the carbon dioxide made by yeast respiring different sugars</a:t>
            </a:r>
            <a:endParaRPr lang="en-US" sz="1100" dirty="0"/>
          </a:p>
        </p:txBody>
      </p:sp>
      <p:sp>
        <p:nvSpPr>
          <p:cNvPr id="6" name="Shape 4"/>
          <p:cNvSpPr/>
          <p:nvPr/>
        </p:nvSpPr>
        <p:spPr>
          <a:xfrm>
            <a:off x="11012119" y="292608"/>
            <a:ext cx="768096"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11012119" y="292608"/>
            <a:ext cx="768096"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PAG B4</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B4.1 What happens during cellular respiration?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PAG B4  |  16</a:t>
            </a:r>
            <a:endParaRPr lang="en-US" sz="1000" dirty="0"/>
          </a:p>
        </p:txBody>
      </p:sp>
      <p:sp>
        <p:nvSpPr>
          <p:cNvPr id="10" name="Shape 8"/>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yeast in a water bath; gas collected over water</a:t>
            </a:r>
            <a:endParaRPr lang="en-US" sz="1000" dirty="0"/>
          </a:p>
        </p:txBody>
      </p:sp>
      <p:sp>
        <p:nvSpPr>
          <p:cNvPr id="12" name="Shape 10"/>
          <p:cNvSpPr/>
          <p:nvPr/>
        </p:nvSpPr>
        <p:spPr>
          <a:xfrm>
            <a:off x="685800" y="3348533"/>
            <a:ext cx="2286000" cy="1772107"/>
          </a:xfrm>
          <a:prstGeom prst="rect">
            <a:avLst/>
          </a:prstGeom>
          <a:solidFill>
            <a:srgbClr val="BFD9F2"/>
          </a:solidFill>
          <a:ln/>
        </p:spPr>
      </p:sp>
      <p:sp>
        <p:nvSpPr>
          <p:cNvPr id="13" name="Shape 11"/>
          <p:cNvSpPr/>
          <p:nvPr/>
        </p:nvSpPr>
        <p:spPr>
          <a:xfrm>
            <a:off x="685800" y="2788920"/>
            <a:ext cx="91" cy="2331720"/>
          </a:xfrm>
          <a:prstGeom prst="line">
            <a:avLst/>
          </a:prstGeom>
          <a:noFill/>
          <a:ln w="25400">
            <a:solidFill>
              <a:srgbClr val="133536"/>
            </a:solidFill>
            <a:prstDash val="solid"/>
          </a:ln>
        </p:spPr>
      </p:sp>
      <p:sp>
        <p:nvSpPr>
          <p:cNvPr id="14" name="Shape 12"/>
          <p:cNvSpPr/>
          <p:nvPr/>
        </p:nvSpPr>
        <p:spPr>
          <a:xfrm>
            <a:off x="2971800" y="2788920"/>
            <a:ext cx="91" cy="2331720"/>
          </a:xfrm>
          <a:prstGeom prst="line">
            <a:avLst/>
          </a:prstGeom>
          <a:noFill/>
          <a:ln w="25400">
            <a:solidFill>
              <a:srgbClr val="133536"/>
            </a:solidFill>
            <a:prstDash val="solid"/>
          </a:ln>
        </p:spPr>
      </p:sp>
      <p:sp>
        <p:nvSpPr>
          <p:cNvPr id="15" name="Shape 13"/>
          <p:cNvSpPr/>
          <p:nvPr/>
        </p:nvSpPr>
        <p:spPr>
          <a:xfrm>
            <a:off x="685800" y="5120640"/>
            <a:ext cx="2286000" cy="91"/>
          </a:xfrm>
          <a:prstGeom prst="line">
            <a:avLst/>
          </a:prstGeom>
          <a:noFill/>
          <a:ln w="25400">
            <a:solidFill>
              <a:srgbClr val="133536"/>
            </a:solidFill>
            <a:prstDash val="solid"/>
          </a:ln>
        </p:spPr>
      </p:sp>
      <p:sp>
        <p:nvSpPr>
          <p:cNvPr id="16" name="Shape 14"/>
          <p:cNvSpPr/>
          <p:nvPr/>
        </p:nvSpPr>
        <p:spPr>
          <a:xfrm>
            <a:off x="685800" y="3348533"/>
            <a:ext cx="2286000" cy="91"/>
          </a:xfrm>
          <a:prstGeom prst="line">
            <a:avLst/>
          </a:prstGeom>
          <a:noFill/>
          <a:ln w="15875">
            <a:solidFill>
              <a:srgbClr val="5B9BD5"/>
            </a:solidFill>
            <a:prstDash val="solid"/>
          </a:ln>
        </p:spPr>
      </p:sp>
      <p:sp>
        <p:nvSpPr>
          <p:cNvPr id="17" name="Text 15"/>
          <p:cNvSpPr/>
          <p:nvPr/>
        </p:nvSpPr>
        <p:spPr>
          <a:xfrm>
            <a:off x="685800" y="5138928"/>
            <a:ext cx="2286000" cy="219456"/>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water bath at 30 °C</a:t>
            </a:r>
            <a:endParaRPr lang="en-US" sz="1050" dirty="0"/>
          </a:p>
        </p:txBody>
      </p:sp>
      <p:sp>
        <p:nvSpPr>
          <p:cNvPr id="18" name="Shape 16"/>
          <p:cNvSpPr/>
          <p:nvPr/>
        </p:nvSpPr>
        <p:spPr>
          <a:xfrm>
            <a:off x="2656332" y="2286000"/>
            <a:ext cx="82296" cy="2377440"/>
          </a:xfrm>
          <a:prstGeom prst="roundRect">
            <a:avLst>
              <a:gd name="adj" fmla="val 44444"/>
            </a:avLst>
          </a:prstGeom>
          <a:solidFill>
            <a:srgbClr val="FFFFFF"/>
          </a:solidFill>
          <a:ln w="9525">
            <a:solidFill>
              <a:srgbClr val="6B7385"/>
            </a:solidFill>
            <a:prstDash val="solid"/>
          </a:ln>
        </p:spPr>
      </p:sp>
      <p:sp>
        <p:nvSpPr>
          <p:cNvPr id="19" name="Shape 17"/>
          <p:cNvSpPr/>
          <p:nvPr/>
        </p:nvSpPr>
        <p:spPr>
          <a:xfrm>
            <a:off x="2628900" y="4594860"/>
            <a:ext cx="137160" cy="137160"/>
          </a:xfrm>
          <a:prstGeom prst="ellipse">
            <a:avLst/>
          </a:prstGeom>
          <a:solidFill>
            <a:srgbClr val="C8414C"/>
          </a:solidFill>
          <a:ln w="9525">
            <a:solidFill>
              <a:srgbClr val="8E2A33"/>
            </a:solidFill>
            <a:prstDash val="solid"/>
          </a:ln>
        </p:spPr>
      </p:sp>
      <p:sp>
        <p:nvSpPr>
          <p:cNvPr id="20" name="Shape 18"/>
          <p:cNvSpPr/>
          <p:nvPr/>
        </p:nvSpPr>
        <p:spPr>
          <a:xfrm>
            <a:off x="2683764" y="3355848"/>
            <a:ext cx="27432" cy="1307592"/>
          </a:xfrm>
          <a:prstGeom prst="rect">
            <a:avLst/>
          </a:prstGeom>
          <a:solidFill>
            <a:srgbClr val="C8414C"/>
          </a:solidFill>
          <a:ln/>
        </p:spPr>
      </p:sp>
      <p:sp>
        <p:nvSpPr>
          <p:cNvPr id="21" name="Shape 19"/>
          <p:cNvSpPr/>
          <p:nvPr/>
        </p:nvSpPr>
        <p:spPr>
          <a:xfrm>
            <a:off x="2706624" y="2651760"/>
            <a:ext cx="32004" cy="91"/>
          </a:xfrm>
          <a:prstGeom prst="line">
            <a:avLst/>
          </a:prstGeom>
          <a:noFill/>
          <a:ln w="6350">
            <a:solidFill>
              <a:srgbClr val="6B7385"/>
            </a:solidFill>
            <a:prstDash val="solid"/>
          </a:ln>
        </p:spPr>
      </p:sp>
      <p:sp>
        <p:nvSpPr>
          <p:cNvPr id="22" name="Shape 20"/>
          <p:cNvSpPr/>
          <p:nvPr/>
        </p:nvSpPr>
        <p:spPr>
          <a:xfrm>
            <a:off x="2706624" y="2926080"/>
            <a:ext cx="32004" cy="91"/>
          </a:xfrm>
          <a:prstGeom prst="line">
            <a:avLst/>
          </a:prstGeom>
          <a:noFill/>
          <a:ln w="6350">
            <a:solidFill>
              <a:srgbClr val="6B7385"/>
            </a:solidFill>
            <a:prstDash val="solid"/>
          </a:ln>
        </p:spPr>
      </p:sp>
      <p:sp>
        <p:nvSpPr>
          <p:cNvPr id="23" name="Shape 21"/>
          <p:cNvSpPr/>
          <p:nvPr/>
        </p:nvSpPr>
        <p:spPr>
          <a:xfrm>
            <a:off x="2706624" y="3200400"/>
            <a:ext cx="32004" cy="91"/>
          </a:xfrm>
          <a:prstGeom prst="line">
            <a:avLst/>
          </a:prstGeom>
          <a:noFill/>
          <a:ln w="6350">
            <a:solidFill>
              <a:srgbClr val="6B7385"/>
            </a:solidFill>
            <a:prstDash val="solid"/>
          </a:ln>
        </p:spPr>
      </p:sp>
      <p:sp>
        <p:nvSpPr>
          <p:cNvPr id="24" name="Shape 22"/>
          <p:cNvSpPr/>
          <p:nvPr/>
        </p:nvSpPr>
        <p:spPr>
          <a:xfrm>
            <a:off x="2706624" y="3474720"/>
            <a:ext cx="32004" cy="91"/>
          </a:xfrm>
          <a:prstGeom prst="line">
            <a:avLst/>
          </a:prstGeom>
          <a:noFill/>
          <a:ln w="6350">
            <a:solidFill>
              <a:srgbClr val="6B7385"/>
            </a:solidFill>
            <a:prstDash val="solid"/>
          </a:ln>
        </p:spPr>
      </p:sp>
      <p:sp>
        <p:nvSpPr>
          <p:cNvPr id="25" name="Shape 23"/>
          <p:cNvSpPr/>
          <p:nvPr/>
        </p:nvSpPr>
        <p:spPr>
          <a:xfrm>
            <a:off x="2706624" y="3749040"/>
            <a:ext cx="32004" cy="91"/>
          </a:xfrm>
          <a:prstGeom prst="line">
            <a:avLst/>
          </a:prstGeom>
          <a:noFill/>
          <a:ln w="6350">
            <a:solidFill>
              <a:srgbClr val="6B7385"/>
            </a:solidFill>
            <a:prstDash val="solid"/>
          </a:ln>
        </p:spPr>
      </p:sp>
      <p:sp>
        <p:nvSpPr>
          <p:cNvPr id="26" name="Shape 24"/>
          <p:cNvSpPr/>
          <p:nvPr/>
        </p:nvSpPr>
        <p:spPr>
          <a:xfrm>
            <a:off x="2706624" y="4023360"/>
            <a:ext cx="32004" cy="91"/>
          </a:xfrm>
          <a:prstGeom prst="line">
            <a:avLst/>
          </a:prstGeom>
          <a:noFill/>
          <a:ln w="6350">
            <a:solidFill>
              <a:srgbClr val="6B7385"/>
            </a:solidFill>
            <a:prstDash val="solid"/>
          </a:ln>
        </p:spPr>
      </p:sp>
      <p:sp>
        <p:nvSpPr>
          <p:cNvPr id="27" name="Shape 25"/>
          <p:cNvSpPr/>
          <p:nvPr/>
        </p:nvSpPr>
        <p:spPr>
          <a:xfrm>
            <a:off x="2706624" y="4297680"/>
            <a:ext cx="32004" cy="91"/>
          </a:xfrm>
          <a:prstGeom prst="line">
            <a:avLst/>
          </a:prstGeom>
          <a:noFill/>
          <a:ln w="6350">
            <a:solidFill>
              <a:srgbClr val="6B7385"/>
            </a:solidFill>
            <a:prstDash val="solid"/>
          </a:ln>
        </p:spPr>
      </p:sp>
      <p:sp>
        <p:nvSpPr>
          <p:cNvPr id="28" name="Shape 26"/>
          <p:cNvSpPr/>
          <p:nvPr/>
        </p:nvSpPr>
        <p:spPr>
          <a:xfrm>
            <a:off x="868680" y="3931920"/>
            <a:ext cx="1371600" cy="1051560"/>
          </a:xfrm>
          <a:custGeom>
            <a:avLst/>
            <a:gdLst/>
            <a:ahLst/>
            <a:cxnLst/>
            <a:rect l="l" t="t" r="r" b="b"/>
            <a:pathLst>
              <a:path w="1371600" h="1051560">
                <a:moveTo>
                  <a:pt x="292608" y="0"/>
                </a:moveTo>
                <a:lnTo>
                  <a:pt x="1078992" y="0"/>
                </a:lnTo>
                <a:lnTo>
                  <a:pt x="1371600" y="1051560"/>
                </a:lnTo>
                <a:lnTo>
                  <a:pt x="0" y="1051560"/>
                </a:lnTo>
                <a:close/>
              </a:path>
            </a:pathLst>
          </a:custGeom>
          <a:solidFill>
            <a:srgbClr val="EFE3C0"/>
          </a:solidFill>
          <a:ln/>
        </p:spPr>
      </p:sp>
      <p:sp>
        <p:nvSpPr>
          <p:cNvPr id="29" name="Shape 27"/>
          <p:cNvSpPr/>
          <p:nvPr/>
        </p:nvSpPr>
        <p:spPr>
          <a:xfrm>
            <a:off x="868680" y="2377440"/>
            <a:ext cx="1371600" cy="2606040"/>
          </a:xfrm>
          <a:custGeom>
            <a:avLst/>
            <a:gdLst/>
            <a:ahLst/>
            <a:cxnLst/>
            <a:rect l="l" t="t" r="r" b="b"/>
            <a:pathLst>
              <a:path w="1371600" h="2606040">
                <a:moveTo>
                  <a:pt x="548640" y="0"/>
                </a:moveTo>
                <a:lnTo>
                  <a:pt x="822960" y="0"/>
                </a:lnTo>
                <a:lnTo>
                  <a:pt x="822960" y="640080"/>
                </a:lnTo>
                <a:lnTo>
                  <a:pt x="1371600" y="2606040"/>
                </a:lnTo>
                <a:lnTo>
                  <a:pt x="0" y="2606040"/>
                </a:lnTo>
                <a:lnTo>
                  <a:pt x="548640" y="640080"/>
                </a:lnTo>
                <a:close/>
              </a:path>
            </a:pathLst>
          </a:custGeom>
          <a:ln w="22225">
            <a:solidFill>
              <a:srgbClr val="133536"/>
            </a:solidFill>
            <a:prstDash val="solid"/>
          </a:ln>
        </p:spPr>
      </p:sp>
      <p:sp>
        <p:nvSpPr>
          <p:cNvPr id="30" name="Shape 28"/>
          <p:cNvSpPr/>
          <p:nvPr/>
        </p:nvSpPr>
        <p:spPr>
          <a:xfrm>
            <a:off x="1371600" y="2240280"/>
            <a:ext cx="365760" cy="201168"/>
          </a:xfrm>
          <a:prstGeom prst="rect">
            <a:avLst/>
          </a:prstGeom>
          <a:solidFill>
            <a:srgbClr val="8C6A3A"/>
          </a:solidFill>
          <a:ln w="12700">
            <a:solidFill>
              <a:srgbClr val="5A4020"/>
            </a:solidFill>
            <a:prstDash val="solid"/>
          </a:ln>
        </p:spPr>
      </p:sp>
      <p:sp>
        <p:nvSpPr>
          <p:cNvPr id="31" name="Shape 29"/>
          <p:cNvSpPr/>
          <p:nvPr/>
        </p:nvSpPr>
        <p:spPr>
          <a:xfrm>
            <a:off x="1234440" y="4434840"/>
            <a:ext cx="91440" cy="91440"/>
          </a:xfrm>
          <a:prstGeom prst="ellipse">
            <a:avLst/>
          </a:prstGeom>
          <a:solidFill>
            <a:srgbClr val="D9C38A"/>
          </a:solidFill>
          <a:ln w="9525">
            <a:solidFill>
              <a:srgbClr val="A07A2A"/>
            </a:solidFill>
            <a:prstDash val="solid"/>
          </a:ln>
        </p:spPr>
      </p:sp>
      <p:sp>
        <p:nvSpPr>
          <p:cNvPr id="32" name="Shape 30"/>
          <p:cNvSpPr/>
          <p:nvPr/>
        </p:nvSpPr>
        <p:spPr>
          <a:xfrm>
            <a:off x="1554480" y="4617720"/>
            <a:ext cx="91440" cy="91440"/>
          </a:xfrm>
          <a:prstGeom prst="ellipse">
            <a:avLst/>
          </a:prstGeom>
          <a:solidFill>
            <a:srgbClr val="D9C38A"/>
          </a:solidFill>
          <a:ln w="9525">
            <a:solidFill>
              <a:srgbClr val="A07A2A"/>
            </a:solidFill>
            <a:prstDash val="solid"/>
          </a:ln>
        </p:spPr>
      </p:sp>
      <p:sp>
        <p:nvSpPr>
          <p:cNvPr id="33" name="Shape 31"/>
          <p:cNvSpPr/>
          <p:nvPr/>
        </p:nvSpPr>
        <p:spPr>
          <a:xfrm>
            <a:off x="1783080" y="4251960"/>
            <a:ext cx="91440" cy="91440"/>
          </a:xfrm>
          <a:prstGeom prst="ellipse">
            <a:avLst/>
          </a:prstGeom>
          <a:solidFill>
            <a:srgbClr val="D9C38A"/>
          </a:solidFill>
          <a:ln w="9525">
            <a:solidFill>
              <a:srgbClr val="A07A2A"/>
            </a:solidFill>
            <a:prstDash val="solid"/>
          </a:ln>
        </p:spPr>
      </p:sp>
      <p:sp>
        <p:nvSpPr>
          <p:cNvPr id="34" name="Shape 32"/>
          <p:cNvSpPr/>
          <p:nvPr/>
        </p:nvSpPr>
        <p:spPr>
          <a:xfrm>
            <a:off x="1417320" y="4114800"/>
            <a:ext cx="91440" cy="91440"/>
          </a:xfrm>
          <a:prstGeom prst="ellipse">
            <a:avLst/>
          </a:prstGeom>
          <a:solidFill>
            <a:srgbClr val="D9C38A"/>
          </a:solidFill>
          <a:ln w="9525">
            <a:solidFill>
              <a:srgbClr val="A07A2A"/>
            </a:solidFill>
            <a:prstDash val="solid"/>
          </a:ln>
        </p:spPr>
      </p:sp>
      <p:sp>
        <p:nvSpPr>
          <p:cNvPr id="35" name="Text 33"/>
          <p:cNvSpPr/>
          <p:nvPr/>
        </p:nvSpPr>
        <p:spPr>
          <a:xfrm>
            <a:off x="502920" y="2331720"/>
            <a:ext cx="822960" cy="457200"/>
          </a:xfrm>
          <a:prstGeom prst="rect">
            <a:avLst/>
          </a:prstGeom>
          <a:noFill/>
          <a:ln/>
        </p:spPr>
        <p:txBody>
          <a:bodyPr wrap="square" lIns="0" tIns="0" rIns="0" bIns="0" rtlCol="0" anchor="t"/>
          <a:lstStyle/>
          <a:p>
            <a:pPr algn="l" indent="0" marL="0">
              <a:buNone/>
            </a:pPr>
            <a:r>
              <a:rPr lang="en-US" sz="1000" b="1" dirty="0">
                <a:solidFill>
                  <a:srgbClr val="262B3A"/>
                </a:solidFill>
                <a:latin typeface="Calibri" pitchFamily="34" charset="0"/>
                <a:ea typeface="Calibri" pitchFamily="34" charset="-122"/>
                <a:cs typeface="Calibri" pitchFamily="34" charset="-120"/>
              </a:rPr>
              <a:t>yeast + sugar solution</a:t>
            </a:r>
            <a:endParaRPr lang="en-US" sz="1000" dirty="0"/>
          </a:p>
        </p:txBody>
      </p:sp>
      <p:sp>
        <p:nvSpPr>
          <p:cNvPr id="36" name="Shape 34"/>
          <p:cNvSpPr/>
          <p:nvPr/>
        </p:nvSpPr>
        <p:spPr>
          <a:xfrm>
            <a:off x="914400" y="2788920"/>
            <a:ext cx="411480" cy="1554480"/>
          </a:xfrm>
          <a:prstGeom prst="line">
            <a:avLst/>
          </a:prstGeom>
          <a:noFill/>
          <a:ln w="12700">
            <a:solidFill>
              <a:srgbClr val="133536"/>
            </a:solidFill>
            <a:prstDash val="solid"/>
          </a:ln>
        </p:spPr>
      </p:sp>
      <p:sp>
        <p:nvSpPr>
          <p:cNvPr id="37" name="Shape 35"/>
          <p:cNvSpPr/>
          <p:nvPr/>
        </p:nvSpPr>
        <p:spPr>
          <a:xfrm>
            <a:off x="3611880" y="4105656"/>
            <a:ext cx="2148840" cy="1060704"/>
          </a:xfrm>
          <a:prstGeom prst="rect">
            <a:avLst/>
          </a:prstGeom>
          <a:solidFill>
            <a:srgbClr val="BFD9F2"/>
          </a:solidFill>
          <a:ln/>
        </p:spPr>
      </p:sp>
      <p:sp>
        <p:nvSpPr>
          <p:cNvPr id="38" name="Shape 36"/>
          <p:cNvSpPr/>
          <p:nvPr/>
        </p:nvSpPr>
        <p:spPr>
          <a:xfrm>
            <a:off x="3611880" y="3840480"/>
            <a:ext cx="91" cy="1325880"/>
          </a:xfrm>
          <a:prstGeom prst="line">
            <a:avLst/>
          </a:prstGeom>
          <a:noFill/>
          <a:ln w="25400">
            <a:solidFill>
              <a:srgbClr val="133536"/>
            </a:solidFill>
            <a:prstDash val="solid"/>
          </a:ln>
        </p:spPr>
      </p:sp>
      <p:sp>
        <p:nvSpPr>
          <p:cNvPr id="39" name="Shape 37"/>
          <p:cNvSpPr/>
          <p:nvPr/>
        </p:nvSpPr>
        <p:spPr>
          <a:xfrm>
            <a:off x="5760720" y="3840480"/>
            <a:ext cx="91" cy="1325880"/>
          </a:xfrm>
          <a:prstGeom prst="line">
            <a:avLst/>
          </a:prstGeom>
          <a:noFill/>
          <a:ln w="25400">
            <a:solidFill>
              <a:srgbClr val="133536"/>
            </a:solidFill>
            <a:prstDash val="solid"/>
          </a:ln>
        </p:spPr>
      </p:sp>
      <p:sp>
        <p:nvSpPr>
          <p:cNvPr id="40" name="Shape 38"/>
          <p:cNvSpPr/>
          <p:nvPr/>
        </p:nvSpPr>
        <p:spPr>
          <a:xfrm>
            <a:off x="3611880" y="5166360"/>
            <a:ext cx="2148840" cy="91"/>
          </a:xfrm>
          <a:prstGeom prst="line">
            <a:avLst/>
          </a:prstGeom>
          <a:noFill/>
          <a:ln w="25400">
            <a:solidFill>
              <a:srgbClr val="133536"/>
            </a:solidFill>
            <a:prstDash val="solid"/>
          </a:ln>
        </p:spPr>
      </p:sp>
      <p:sp>
        <p:nvSpPr>
          <p:cNvPr id="41" name="Shape 39"/>
          <p:cNvSpPr/>
          <p:nvPr/>
        </p:nvSpPr>
        <p:spPr>
          <a:xfrm>
            <a:off x="3611880" y="4105656"/>
            <a:ext cx="2148840" cy="91"/>
          </a:xfrm>
          <a:prstGeom prst="line">
            <a:avLst/>
          </a:prstGeom>
          <a:noFill/>
          <a:ln w="15875">
            <a:solidFill>
              <a:srgbClr val="5B9BD5"/>
            </a:solidFill>
            <a:prstDash val="solid"/>
          </a:ln>
        </p:spPr>
      </p:sp>
      <p:sp>
        <p:nvSpPr>
          <p:cNvPr id="42" name="Shape 40"/>
          <p:cNvSpPr/>
          <p:nvPr/>
        </p:nvSpPr>
        <p:spPr>
          <a:xfrm flipV="1">
            <a:off x="1554480" y="1783080"/>
            <a:ext cx="91" cy="457200"/>
          </a:xfrm>
          <a:prstGeom prst="line">
            <a:avLst/>
          </a:prstGeom>
          <a:noFill/>
          <a:ln w="38100">
            <a:solidFill>
              <a:srgbClr val="6B7385"/>
            </a:solidFill>
            <a:prstDash val="solid"/>
          </a:ln>
        </p:spPr>
      </p:sp>
      <p:sp>
        <p:nvSpPr>
          <p:cNvPr id="43" name="Shape 41"/>
          <p:cNvSpPr/>
          <p:nvPr/>
        </p:nvSpPr>
        <p:spPr>
          <a:xfrm>
            <a:off x="1554480" y="1783080"/>
            <a:ext cx="2606040" cy="91"/>
          </a:xfrm>
          <a:prstGeom prst="line">
            <a:avLst/>
          </a:prstGeom>
          <a:noFill/>
          <a:ln w="38100">
            <a:solidFill>
              <a:srgbClr val="6B7385"/>
            </a:solidFill>
            <a:prstDash val="solid"/>
          </a:ln>
        </p:spPr>
      </p:sp>
      <p:sp>
        <p:nvSpPr>
          <p:cNvPr id="44" name="Shape 42"/>
          <p:cNvSpPr/>
          <p:nvPr/>
        </p:nvSpPr>
        <p:spPr>
          <a:xfrm>
            <a:off x="4160520" y="1783080"/>
            <a:ext cx="91" cy="3172968"/>
          </a:xfrm>
          <a:prstGeom prst="line">
            <a:avLst/>
          </a:prstGeom>
          <a:noFill/>
          <a:ln w="38100">
            <a:solidFill>
              <a:srgbClr val="6B7385"/>
            </a:solidFill>
            <a:prstDash val="solid"/>
          </a:ln>
        </p:spPr>
      </p:sp>
      <p:sp>
        <p:nvSpPr>
          <p:cNvPr id="45" name="Shape 43"/>
          <p:cNvSpPr/>
          <p:nvPr/>
        </p:nvSpPr>
        <p:spPr>
          <a:xfrm>
            <a:off x="4160520" y="4956048"/>
            <a:ext cx="393192" cy="91"/>
          </a:xfrm>
          <a:prstGeom prst="line">
            <a:avLst/>
          </a:prstGeom>
          <a:noFill/>
          <a:ln w="38100">
            <a:solidFill>
              <a:srgbClr val="6B7385"/>
            </a:solidFill>
            <a:prstDash val="solid"/>
          </a:ln>
        </p:spPr>
      </p:sp>
      <p:sp>
        <p:nvSpPr>
          <p:cNvPr id="46" name="Shape 44"/>
          <p:cNvSpPr/>
          <p:nvPr/>
        </p:nvSpPr>
        <p:spPr>
          <a:xfrm flipV="1">
            <a:off x="4553712" y="4617720"/>
            <a:ext cx="91" cy="338328"/>
          </a:xfrm>
          <a:prstGeom prst="line">
            <a:avLst/>
          </a:prstGeom>
          <a:noFill/>
          <a:ln w="38100">
            <a:solidFill>
              <a:srgbClr val="6B7385"/>
            </a:solidFill>
            <a:prstDash val="solid"/>
          </a:ln>
        </p:spPr>
      </p:sp>
      <p:sp>
        <p:nvSpPr>
          <p:cNvPr id="47" name="Text 45"/>
          <p:cNvSpPr/>
          <p:nvPr/>
        </p:nvSpPr>
        <p:spPr>
          <a:xfrm>
            <a:off x="2011680" y="1536192"/>
            <a:ext cx="1828800" cy="219456"/>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delivery tube</a:t>
            </a:r>
            <a:endParaRPr lang="en-US" sz="1050" dirty="0"/>
          </a:p>
        </p:txBody>
      </p:sp>
      <p:sp>
        <p:nvSpPr>
          <p:cNvPr id="48" name="Shape 46"/>
          <p:cNvSpPr/>
          <p:nvPr/>
        </p:nvSpPr>
        <p:spPr>
          <a:xfrm>
            <a:off x="4389120" y="2148840"/>
            <a:ext cx="365760" cy="2560320"/>
          </a:xfrm>
          <a:prstGeom prst="rect">
            <a:avLst/>
          </a:prstGeom>
          <a:solidFill>
            <a:srgbClr val="BFD9F2"/>
          </a:solidFill>
          <a:ln/>
        </p:spPr>
      </p:sp>
      <p:sp>
        <p:nvSpPr>
          <p:cNvPr id="49" name="Shape 47"/>
          <p:cNvSpPr/>
          <p:nvPr/>
        </p:nvSpPr>
        <p:spPr>
          <a:xfrm>
            <a:off x="4389120" y="2148840"/>
            <a:ext cx="365760" cy="566928"/>
          </a:xfrm>
          <a:prstGeom prst="rect">
            <a:avLst/>
          </a:prstGeom>
          <a:solidFill>
            <a:srgbClr val="FFFFFF"/>
          </a:solidFill>
          <a:ln/>
        </p:spPr>
      </p:sp>
      <p:sp>
        <p:nvSpPr>
          <p:cNvPr id="50" name="Shape 48"/>
          <p:cNvSpPr/>
          <p:nvPr/>
        </p:nvSpPr>
        <p:spPr>
          <a:xfrm>
            <a:off x="4389120" y="2148840"/>
            <a:ext cx="91" cy="2560320"/>
          </a:xfrm>
          <a:prstGeom prst="line">
            <a:avLst/>
          </a:prstGeom>
          <a:noFill/>
          <a:ln w="19050">
            <a:solidFill>
              <a:srgbClr val="133536"/>
            </a:solidFill>
            <a:prstDash val="solid"/>
          </a:ln>
        </p:spPr>
      </p:sp>
      <p:sp>
        <p:nvSpPr>
          <p:cNvPr id="51" name="Shape 49"/>
          <p:cNvSpPr/>
          <p:nvPr/>
        </p:nvSpPr>
        <p:spPr>
          <a:xfrm>
            <a:off x="4754880" y="2148840"/>
            <a:ext cx="91" cy="2560320"/>
          </a:xfrm>
          <a:prstGeom prst="line">
            <a:avLst/>
          </a:prstGeom>
          <a:noFill/>
          <a:ln w="19050">
            <a:solidFill>
              <a:srgbClr val="133536"/>
            </a:solidFill>
            <a:prstDash val="solid"/>
          </a:ln>
        </p:spPr>
      </p:sp>
      <p:sp>
        <p:nvSpPr>
          <p:cNvPr id="52" name="Shape 50"/>
          <p:cNvSpPr/>
          <p:nvPr/>
        </p:nvSpPr>
        <p:spPr>
          <a:xfrm>
            <a:off x="4389120" y="2148840"/>
            <a:ext cx="365760" cy="91"/>
          </a:xfrm>
          <a:prstGeom prst="line">
            <a:avLst/>
          </a:prstGeom>
          <a:noFill/>
          <a:ln w="19050">
            <a:solidFill>
              <a:srgbClr val="133536"/>
            </a:solidFill>
            <a:prstDash val="solid"/>
          </a:ln>
        </p:spPr>
      </p:sp>
      <p:sp>
        <p:nvSpPr>
          <p:cNvPr id="53" name="Shape 51"/>
          <p:cNvSpPr/>
          <p:nvPr/>
        </p:nvSpPr>
        <p:spPr>
          <a:xfrm>
            <a:off x="4389120" y="2715768"/>
            <a:ext cx="365760" cy="91"/>
          </a:xfrm>
          <a:prstGeom prst="line">
            <a:avLst/>
          </a:prstGeom>
          <a:noFill/>
          <a:ln w="15875">
            <a:solidFill>
              <a:srgbClr val="5B9BD5"/>
            </a:solidFill>
            <a:prstDash val="solid"/>
          </a:ln>
        </p:spPr>
      </p:sp>
      <p:sp>
        <p:nvSpPr>
          <p:cNvPr id="54" name="Shape 52"/>
          <p:cNvSpPr/>
          <p:nvPr/>
        </p:nvSpPr>
        <p:spPr>
          <a:xfrm>
            <a:off x="4690872" y="2350008"/>
            <a:ext cx="64008" cy="91"/>
          </a:xfrm>
          <a:prstGeom prst="line">
            <a:avLst/>
          </a:prstGeom>
          <a:noFill/>
          <a:ln w="9525">
            <a:solidFill>
              <a:srgbClr val="133536"/>
            </a:solidFill>
            <a:prstDash val="solid"/>
          </a:ln>
        </p:spPr>
      </p:sp>
      <p:sp>
        <p:nvSpPr>
          <p:cNvPr id="55" name="Shape 53"/>
          <p:cNvSpPr/>
          <p:nvPr/>
        </p:nvSpPr>
        <p:spPr>
          <a:xfrm>
            <a:off x="4690872" y="2551176"/>
            <a:ext cx="64008" cy="91"/>
          </a:xfrm>
          <a:prstGeom prst="line">
            <a:avLst/>
          </a:prstGeom>
          <a:noFill/>
          <a:ln w="9525">
            <a:solidFill>
              <a:srgbClr val="133536"/>
            </a:solidFill>
            <a:prstDash val="solid"/>
          </a:ln>
        </p:spPr>
      </p:sp>
      <p:sp>
        <p:nvSpPr>
          <p:cNvPr id="56" name="Shape 54"/>
          <p:cNvSpPr/>
          <p:nvPr/>
        </p:nvSpPr>
        <p:spPr>
          <a:xfrm>
            <a:off x="4690872" y="2752344"/>
            <a:ext cx="64008" cy="91"/>
          </a:xfrm>
          <a:prstGeom prst="line">
            <a:avLst/>
          </a:prstGeom>
          <a:noFill/>
          <a:ln w="9525">
            <a:solidFill>
              <a:srgbClr val="133536"/>
            </a:solidFill>
            <a:prstDash val="solid"/>
          </a:ln>
        </p:spPr>
      </p:sp>
      <p:sp>
        <p:nvSpPr>
          <p:cNvPr id="57" name="Shape 55"/>
          <p:cNvSpPr/>
          <p:nvPr/>
        </p:nvSpPr>
        <p:spPr>
          <a:xfrm>
            <a:off x="4690872" y="2953512"/>
            <a:ext cx="64008" cy="91"/>
          </a:xfrm>
          <a:prstGeom prst="line">
            <a:avLst/>
          </a:prstGeom>
          <a:noFill/>
          <a:ln w="9525">
            <a:solidFill>
              <a:srgbClr val="133536"/>
            </a:solidFill>
            <a:prstDash val="solid"/>
          </a:ln>
        </p:spPr>
      </p:sp>
      <p:sp>
        <p:nvSpPr>
          <p:cNvPr id="58" name="Shape 56"/>
          <p:cNvSpPr/>
          <p:nvPr/>
        </p:nvSpPr>
        <p:spPr>
          <a:xfrm>
            <a:off x="4626864" y="3154680"/>
            <a:ext cx="128016" cy="91"/>
          </a:xfrm>
          <a:prstGeom prst="line">
            <a:avLst/>
          </a:prstGeom>
          <a:noFill/>
          <a:ln w="9525">
            <a:solidFill>
              <a:srgbClr val="133536"/>
            </a:solidFill>
            <a:prstDash val="solid"/>
          </a:ln>
        </p:spPr>
      </p:sp>
      <p:sp>
        <p:nvSpPr>
          <p:cNvPr id="59" name="Shape 57"/>
          <p:cNvSpPr/>
          <p:nvPr/>
        </p:nvSpPr>
        <p:spPr>
          <a:xfrm>
            <a:off x="4690872" y="3355848"/>
            <a:ext cx="64008" cy="91"/>
          </a:xfrm>
          <a:prstGeom prst="line">
            <a:avLst/>
          </a:prstGeom>
          <a:noFill/>
          <a:ln w="9525">
            <a:solidFill>
              <a:srgbClr val="133536"/>
            </a:solidFill>
            <a:prstDash val="solid"/>
          </a:ln>
        </p:spPr>
      </p:sp>
      <p:sp>
        <p:nvSpPr>
          <p:cNvPr id="60" name="Shape 58"/>
          <p:cNvSpPr/>
          <p:nvPr/>
        </p:nvSpPr>
        <p:spPr>
          <a:xfrm>
            <a:off x="4690872" y="3557016"/>
            <a:ext cx="64008" cy="91"/>
          </a:xfrm>
          <a:prstGeom prst="line">
            <a:avLst/>
          </a:prstGeom>
          <a:noFill/>
          <a:ln w="9525">
            <a:solidFill>
              <a:srgbClr val="133536"/>
            </a:solidFill>
            <a:prstDash val="solid"/>
          </a:ln>
        </p:spPr>
      </p:sp>
      <p:sp>
        <p:nvSpPr>
          <p:cNvPr id="61" name="Shape 59"/>
          <p:cNvSpPr/>
          <p:nvPr/>
        </p:nvSpPr>
        <p:spPr>
          <a:xfrm>
            <a:off x="4690872" y="3758184"/>
            <a:ext cx="64008" cy="91"/>
          </a:xfrm>
          <a:prstGeom prst="line">
            <a:avLst/>
          </a:prstGeom>
          <a:noFill/>
          <a:ln w="9525">
            <a:solidFill>
              <a:srgbClr val="133536"/>
            </a:solidFill>
            <a:prstDash val="solid"/>
          </a:ln>
        </p:spPr>
      </p:sp>
      <p:sp>
        <p:nvSpPr>
          <p:cNvPr id="62" name="Shape 60"/>
          <p:cNvSpPr/>
          <p:nvPr/>
        </p:nvSpPr>
        <p:spPr>
          <a:xfrm>
            <a:off x="4690872" y="3959352"/>
            <a:ext cx="64008" cy="91"/>
          </a:xfrm>
          <a:prstGeom prst="line">
            <a:avLst/>
          </a:prstGeom>
          <a:noFill/>
          <a:ln w="9525">
            <a:solidFill>
              <a:srgbClr val="133536"/>
            </a:solidFill>
            <a:prstDash val="solid"/>
          </a:ln>
        </p:spPr>
      </p:sp>
      <p:sp>
        <p:nvSpPr>
          <p:cNvPr id="63" name="Shape 61"/>
          <p:cNvSpPr/>
          <p:nvPr/>
        </p:nvSpPr>
        <p:spPr>
          <a:xfrm>
            <a:off x="4626864" y="4160520"/>
            <a:ext cx="128016" cy="91"/>
          </a:xfrm>
          <a:prstGeom prst="line">
            <a:avLst/>
          </a:prstGeom>
          <a:noFill/>
          <a:ln w="9525">
            <a:solidFill>
              <a:srgbClr val="133536"/>
            </a:solidFill>
            <a:prstDash val="solid"/>
          </a:ln>
        </p:spPr>
      </p:sp>
      <p:sp>
        <p:nvSpPr>
          <p:cNvPr id="64" name="Shape 62"/>
          <p:cNvSpPr/>
          <p:nvPr/>
        </p:nvSpPr>
        <p:spPr>
          <a:xfrm>
            <a:off x="4690872" y="4361688"/>
            <a:ext cx="64008" cy="91"/>
          </a:xfrm>
          <a:prstGeom prst="line">
            <a:avLst/>
          </a:prstGeom>
          <a:noFill/>
          <a:ln w="9525">
            <a:solidFill>
              <a:srgbClr val="133536"/>
            </a:solidFill>
            <a:prstDash val="solid"/>
          </a:ln>
        </p:spPr>
      </p:sp>
      <p:sp>
        <p:nvSpPr>
          <p:cNvPr id="65" name="Shape 63"/>
          <p:cNvSpPr/>
          <p:nvPr/>
        </p:nvSpPr>
        <p:spPr>
          <a:xfrm>
            <a:off x="4512564" y="4393692"/>
            <a:ext cx="82296" cy="82296"/>
          </a:xfrm>
          <a:prstGeom prst="ellipse">
            <a:avLst/>
          </a:prstGeom>
          <a:solidFill>
            <a:srgbClr val="FFFFFF"/>
          </a:solidFill>
          <a:ln w="9525">
            <a:solidFill>
              <a:srgbClr val="7F8C99"/>
            </a:solidFill>
            <a:prstDash val="solid"/>
          </a:ln>
        </p:spPr>
      </p:sp>
      <p:sp>
        <p:nvSpPr>
          <p:cNvPr id="66" name="Shape 64"/>
          <p:cNvSpPr/>
          <p:nvPr/>
        </p:nvSpPr>
        <p:spPr>
          <a:xfrm>
            <a:off x="4485132" y="4073652"/>
            <a:ext cx="82296" cy="82296"/>
          </a:xfrm>
          <a:prstGeom prst="ellipse">
            <a:avLst/>
          </a:prstGeom>
          <a:solidFill>
            <a:srgbClr val="FFFFFF"/>
          </a:solidFill>
          <a:ln w="9525">
            <a:solidFill>
              <a:srgbClr val="7F8C99"/>
            </a:solidFill>
            <a:prstDash val="solid"/>
          </a:ln>
        </p:spPr>
      </p:sp>
      <p:sp>
        <p:nvSpPr>
          <p:cNvPr id="67" name="Shape 65"/>
          <p:cNvSpPr/>
          <p:nvPr/>
        </p:nvSpPr>
        <p:spPr>
          <a:xfrm>
            <a:off x="4530852" y="3707892"/>
            <a:ext cx="82296" cy="82296"/>
          </a:xfrm>
          <a:prstGeom prst="ellipse">
            <a:avLst/>
          </a:prstGeom>
          <a:solidFill>
            <a:srgbClr val="FFFFFF"/>
          </a:solidFill>
          <a:ln w="9525">
            <a:solidFill>
              <a:srgbClr val="7F8C99"/>
            </a:solidFill>
            <a:prstDash val="solid"/>
          </a:ln>
        </p:spPr>
      </p:sp>
      <p:sp>
        <p:nvSpPr>
          <p:cNvPr id="68" name="Shape 66"/>
          <p:cNvSpPr/>
          <p:nvPr/>
        </p:nvSpPr>
        <p:spPr>
          <a:xfrm>
            <a:off x="4503420" y="3342132"/>
            <a:ext cx="82296" cy="82296"/>
          </a:xfrm>
          <a:prstGeom prst="ellipse">
            <a:avLst/>
          </a:prstGeom>
          <a:solidFill>
            <a:srgbClr val="FFFFFF"/>
          </a:solidFill>
          <a:ln w="9525">
            <a:solidFill>
              <a:srgbClr val="7F8C99"/>
            </a:solidFill>
            <a:prstDash val="solid"/>
          </a:ln>
        </p:spPr>
      </p:sp>
      <p:sp>
        <p:nvSpPr>
          <p:cNvPr id="69" name="Text 67"/>
          <p:cNvSpPr/>
          <p:nvPr/>
        </p:nvSpPr>
        <p:spPr>
          <a:xfrm>
            <a:off x="4828032" y="2258568"/>
            <a:ext cx="1097280" cy="384048"/>
          </a:xfrm>
          <a:prstGeom prst="rect">
            <a:avLst/>
          </a:prstGeom>
          <a:noFill/>
          <a:ln/>
        </p:spPr>
        <p:txBody>
          <a:bodyPr wrap="square" lIns="0" tIns="0" rIns="0" bIns="0" rtlCol="0" anchor="t"/>
          <a:lstStyle/>
          <a:p>
            <a:pPr algn="l" indent="0" marL="0">
              <a:buNone/>
            </a:pPr>
            <a:r>
              <a:rPr lang="en-US" sz="1050" b="1" dirty="0">
                <a:solidFill>
                  <a:srgbClr val="C8414C"/>
                </a:solidFill>
                <a:latin typeface="Calibri" pitchFamily="34" charset="0"/>
                <a:ea typeface="Calibri" pitchFamily="34" charset="-122"/>
                <a:cs typeface="Calibri" pitchFamily="34" charset="-120"/>
              </a:rPr>
              <a:t>CO₂ collects here</a:t>
            </a:r>
            <a:endParaRPr lang="en-US" sz="1050" dirty="0"/>
          </a:p>
        </p:txBody>
      </p:sp>
      <p:sp>
        <p:nvSpPr>
          <p:cNvPr id="70" name="Text 68"/>
          <p:cNvSpPr/>
          <p:nvPr/>
        </p:nvSpPr>
        <p:spPr>
          <a:xfrm>
            <a:off x="4828032" y="2880360"/>
            <a:ext cx="1097280" cy="566928"/>
          </a:xfrm>
          <a:prstGeom prst="rect">
            <a:avLst/>
          </a:prstGeom>
          <a:noFill/>
          <a:ln/>
        </p:spPr>
        <p:txBody>
          <a:bodyPr wrap="square" lIns="0" tIns="0" rIns="0" bIns="0" rtlCol="0" anchor="t"/>
          <a:lstStyle/>
          <a:p>
            <a:pPr algn="l" indent="0" marL="0">
              <a:buNone/>
            </a:pPr>
            <a:r>
              <a:rPr lang="en-US" sz="1000" dirty="0">
                <a:solidFill>
                  <a:srgbClr val="262B3A"/>
                </a:solidFill>
                <a:latin typeface="Calibri" pitchFamily="34" charset="0"/>
                <a:ea typeface="Calibri" pitchFamily="34" charset="-122"/>
                <a:cs typeface="Calibri" pitchFamily="34" charset="-120"/>
              </a:rPr>
              <a:t>upside-down measuring cylinder</a:t>
            </a:r>
            <a:endParaRPr lang="en-US" sz="1000" dirty="0"/>
          </a:p>
        </p:txBody>
      </p:sp>
      <p:sp>
        <p:nvSpPr>
          <p:cNvPr id="71" name="Text 69"/>
          <p:cNvSpPr/>
          <p:nvPr/>
        </p:nvSpPr>
        <p:spPr>
          <a:xfrm>
            <a:off x="3611880" y="5175504"/>
            <a:ext cx="2148840" cy="219456"/>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trough of water</a:t>
            </a:r>
            <a:endParaRPr lang="en-US" sz="1050" dirty="0"/>
          </a:p>
        </p:txBody>
      </p:sp>
      <p:sp>
        <p:nvSpPr>
          <p:cNvPr id="72" name="Shape 70"/>
          <p:cNvSpPr/>
          <p:nvPr/>
        </p:nvSpPr>
        <p:spPr>
          <a:xfrm>
            <a:off x="6217920" y="1188720"/>
            <a:ext cx="5562295" cy="2560320"/>
          </a:xfrm>
          <a:prstGeom prst="roundRect">
            <a:avLst>
              <a:gd name="adj" fmla="val 2143"/>
            </a:avLst>
          </a:prstGeom>
          <a:solidFill>
            <a:srgbClr val="F4FAF9"/>
          </a:solidFill>
          <a:ln w="9525">
            <a:solidFill>
              <a:srgbClr val="CFE0DE"/>
            </a:solidFill>
            <a:prstDash val="solid"/>
          </a:ln>
        </p:spPr>
      </p:sp>
      <p:sp>
        <p:nvSpPr>
          <p:cNvPr id="73" name="Text 71"/>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Method</a:t>
            </a:r>
            <a:endParaRPr lang="en-US" sz="1300" dirty="0"/>
          </a:p>
        </p:txBody>
      </p:sp>
      <p:sp>
        <p:nvSpPr>
          <p:cNvPr id="74" name="Text 72"/>
          <p:cNvSpPr/>
          <p:nvPr/>
        </p:nvSpPr>
        <p:spPr>
          <a:xfrm>
            <a:off x="6382512" y="1609344"/>
            <a:ext cx="5233111" cy="2066544"/>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Put the same volume of </a:t>
            </a:r>
            <a:r>
              <a:rPr lang="en-US" sz="1050" b="1" dirty="0">
                <a:solidFill>
                  <a:srgbClr val="262B3A"/>
                </a:solidFill>
                <a:latin typeface="Calibri" pitchFamily="34" charset="0"/>
                <a:ea typeface="Calibri" pitchFamily="34" charset="-122"/>
                <a:cs typeface="Calibri" pitchFamily="34" charset="-120"/>
              </a:rPr>
              <a:t>yeast suspension</a:t>
            </a:r>
            <a:r>
              <a:rPr lang="en-US" sz="1050" dirty="0">
                <a:solidFill>
                  <a:srgbClr val="262B3A"/>
                </a:solidFill>
                <a:latin typeface="Calibri" pitchFamily="34" charset="0"/>
                <a:ea typeface="Calibri" pitchFamily="34" charset="-122"/>
                <a:cs typeface="Calibri" pitchFamily="34" charset="-120"/>
              </a:rPr>
              <a:t> and </a:t>
            </a:r>
            <a:r>
              <a:rPr lang="en-US" sz="1050" b="1" dirty="0">
                <a:solidFill>
                  <a:srgbClr val="262B3A"/>
                </a:solidFill>
                <a:latin typeface="Calibri" pitchFamily="34" charset="0"/>
                <a:ea typeface="Calibri" pitchFamily="34" charset="-122"/>
                <a:cs typeface="Calibri" pitchFamily="34" charset="-120"/>
              </a:rPr>
              <a:t>sugar solution</a:t>
            </a:r>
            <a:r>
              <a:rPr lang="en-US" sz="1050" dirty="0">
                <a:solidFill>
                  <a:srgbClr val="262B3A"/>
                </a:solidFill>
                <a:latin typeface="Calibri" pitchFamily="34" charset="0"/>
                <a:ea typeface="Calibri" pitchFamily="34" charset="-122"/>
                <a:cs typeface="Calibri" pitchFamily="34" charset="-120"/>
              </a:rPr>
              <a:t> (e.g. glucose) in a conical flask. Stand it in a </a:t>
            </a:r>
            <a:r>
              <a:rPr lang="en-US" sz="1050" b="1" dirty="0">
                <a:solidFill>
                  <a:srgbClr val="262B3A"/>
                </a:solidFill>
                <a:latin typeface="Calibri" pitchFamily="34" charset="0"/>
                <a:ea typeface="Calibri" pitchFamily="34" charset="-122"/>
                <a:cs typeface="Calibri" pitchFamily="34" charset="-120"/>
              </a:rPr>
              <a:t>water bath</a:t>
            </a:r>
            <a:r>
              <a:rPr lang="en-US" sz="1050" dirty="0">
                <a:solidFill>
                  <a:srgbClr val="262B3A"/>
                </a:solidFill>
                <a:latin typeface="Calibri" pitchFamily="34" charset="0"/>
                <a:ea typeface="Calibri" pitchFamily="34" charset="-122"/>
                <a:cs typeface="Calibri" pitchFamily="34" charset="-120"/>
              </a:rPr>
              <a:t> for 10 min to reach 30 °C.</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Fit the bung and delivery tube. Fill a measuring cylinder with water and turn it upside down in the trough over the tube.</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Start the stopwatch. Record the </a:t>
            </a:r>
            <a:r>
              <a:rPr lang="en-US" sz="1050" b="1" dirty="0">
                <a:solidFill>
                  <a:srgbClr val="262B3A"/>
                </a:solidFill>
                <a:latin typeface="Calibri" pitchFamily="34" charset="0"/>
                <a:ea typeface="Calibri" pitchFamily="34" charset="-122"/>
                <a:cs typeface="Calibri" pitchFamily="34" charset="-120"/>
              </a:rPr>
              <a:t>volume of gas</a:t>
            </a:r>
            <a:r>
              <a:rPr lang="en-US" sz="1050" dirty="0">
                <a:solidFill>
                  <a:srgbClr val="262B3A"/>
                </a:solidFill>
                <a:latin typeface="Calibri" pitchFamily="34" charset="0"/>
                <a:ea typeface="Calibri" pitchFamily="34" charset="-122"/>
                <a:cs typeface="Calibri" pitchFamily="34" charset="-120"/>
              </a:rPr>
              <a:t> every 2 minutes for 10 minutes.</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Repeat with sucrose, starch and </a:t>
            </a:r>
            <a:r>
              <a:rPr lang="en-US" sz="1050" b="1" dirty="0">
                <a:solidFill>
                  <a:srgbClr val="262B3A"/>
                </a:solidFill>
                <a:latin typeface="Calibri" pitchFamily="34" charset="0"/>
                <a:ea typeface="Calibri" pitchFamily="34" charset="-122"/>
                <a:cs typeface="Calibri" pitchFamily="34" charset="-120"/>
              </a:rPr>
              <a:t>water only</a:t>
            </a:r>
            <a:r>
              <a:rPr lang="en-US" sz="1050" dirty="0">
                <a:solidFill>
                  <a:srgbClr val="262B3A"/>
                </a:solidFill>
                <a:latin typeface="Calibri" pitchFamily="34" charset="0"/>
                <a:ea typeface="Calibri" pitchFamily="34" charset="-122"/>
                <a:cs typeface="Calibri" pitchFamily="34" charset="-120"/>
              </a:rPr>
              <a:t> (control). Do each </a:t>
            </a:r>
            <a:r>
              <a:rPr lang="en-US" sz="1050" b="1" dirty="0">
                <a:solidFill>
                  <a:srgbClr val="262B3A"/>
                </a:solidFill>
                <a:latin typeface="Calibri" pitchFamily="34" charset="0"/>
                <a:ea typeface="Calibri" pitchFamily="34" charset="-122"/>
                <a:cs typeface="Calibri" pitchFamily="34" charset="-120"/>
              </a:rPr>
              <a:t>three times</a:t>
            </a:r>
            <a:r>
              <a:rPr lang="en-US" sz="1050" dirty="0">
                <a:solidFill>
                  <a:srgbClr val="262B3A"/>
                </a:solidFill>
                <a:latin typeface="Calibri" pitchFamily="34" charset="0"/>
                <a:ea typeface="Calibri" pitchFamily="34" charset="-122"/>
                <a:cs typeface="Calibri" pitchFamily="34" charset="-120"/>
              </a:rPr>
              <a:t>.</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Rate of respiration = volume of gas ÷ time.</a:t>
            </a:r>
            <a:endParaRPr lang="en-US" sz="1050" dirty="0"/>
          </a:p>
        </p:txBody>
      </p:sp>
      <p:sp>
        <p:nvSpPr>
          <p:cNvPr id="75" name="Shape 73"/>
          <p:cNvSpPr/>
          <p:nvPr/>
        </p:nvSpPr>
        <p:spPr>
          <a:xfrm>
            <a:off x="6217920" y="3886200"/>
            <a:ext cx="5562295" cy="1828800"/>
          </a:xfrm>
          <a:prstGeom prst="roundRect">
            <a:avLst>
              <a:gd name="adj" fmla="val 3000"/>
            </a:avLst>
          </a:prstGeom>
          <a:solidFill>
            <a:srgbClr val="FFF4E0"/>
          </a:solidFill>
          <a:ln w="9525">
            <a:solidFill>
              <a:srgbClr val="F1D9A8"/>
            </a:solidFill>
            <a:prstDash val="solid"/>
          </a:ln>
        </p:spPr>
      </p:sp>
      <p:sp>
        <p:nvSpPr>
          <p:cNvPr id="76" name="Text 74"/>
          <p:cNvSpPr/>
          <p:nvPr/>
        </p:nvSpPr>
        <p:spPr>
          <a:xfrm>
            <a:off x="6382512" y="395935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Variables and safety</a:t>
            </a:r>
            <a:endParaRPr lang="en-US" sz="1300" dirty="0"/>
          </a:p>
        </p:txBody>
      </p:sp>
      <p:sp>
        <p:nvSpPr>
          <p:cNvPr id="77" name="Text 75"/>
          <p:cNvSpPr/>
          <p:nvPr/>
        </p:nvSpPr>
        <p:spPr>
          <a:xfrm>
            <a:off x="6382512" y="4270248"/>
            <a:ext cx="5233111" cy="1371600"/>
          </a:xfrm>
          <a:prstGeom prst="rect">
            <a:avLst/>
          </a:prstGeom>
          <a:noFill/>
          <a:ln/>
        </p:spPr>
        <p:txBody>
          <a:bodyPr wrap="square" lIns="0" tIns="0" rIns="0" bIns="0" rtlCol="0" anchor="t"/>
          <a:lstStyle/>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Independent   </a:t>
            </a:r>
            <a:r>
              <a:rPr lang="en-US" sz="1050" dirty="0">
                <a:solidFill>
                  <a:srgbClr val="262B3A"/>
                </a:solidFill>
                <a:latin typeface="Calibri" pitchFamily="34" charset="0"/>
                <a:ea typeface="Calibri" pitchFamily="34" charset="-122"/>
                <a:cs typeface="Calibri" pitchFamily="34" charset="-120"/>
              </a:rPr>
              <a:t>the substrate (glucose, sucrose, starch, none)</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Dependent   </a:t>
            </a:r>
            <a:r>
              <a:rPr lang="en-US" sz="1050" dirty="0">
                <a:solidFill>
                  <a:srgbClr val="262B3A"/>
                </a:solidFill>
                <a:latin typeface="Calibri" pitchFamily="34" charset="0"/>
                <a:ea typeface="Calibri" pitchFamily="34" charset="-122"/>
                <a:cs typeface="Calibri" pitchFamily="34" charset="-120"/>
              </a:rPr>
              <a:t>volume of CO₂ collected per minute</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Control   </a:t>
            </a:r>
            <a:r>
              <a:rPr lang="en-US" sz="1050" dirty="0">
                <a:solidFill>
                  <a:srgbClr val="262B3A"/>
                </a:solidFill>
                <a:latin typeface="Calibri" pitchFamily="34" charset="0"/>
                <a:ea typeface="Calibri" pitchFamily="34" charset="-122"/>
                <a:cs typeface="Calibri" pitchFamily="34" charset="-120"/>
              </a:rPr>
              <a:t>temperature; mass of yeast; concentration and volume of sugar</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4 Safety   </a:t>
            </a:r>
            <a:r>
              <a:rPr lang="en-US" sz="1050" b="1" dirty="0">
                <a:solidFill>
                  <a:srgbClr val="C8414C"/>
                </a:solidFill>
                <a:latin typeface="Calibri" pitchFamily="34" charset="0"/>
                <a:ea typeface="Calibri" pitchFamily="34" charset="-122"/>
                <a:cs typeface="Calibri" pitchFamily="34" charset="-120"/>
              </a:rPr>
              <a:t>eye protection; wipe up spills; hot water bath: take care</a:t>
            </a:r>
            <a:endParaRPr lang="en-US" sz="1050" dirty="0"/>
          </a:p>
        </p:txBody>
      </p:sp>
      <p:sp>
        <p:nvSpPr>
          <p:cNvPr id="78" name="Shape 76"/>
          <p:cNvSpPr/>
          <p:nvPr/>
        </p:nvSpPr>
        <p:spPr>
          <a:xfrm>
            <a:off x="411480" y="5833872"/>
            <a:ext cx="11368735" cy="530352"/>
          </a:xfrm>
          <a:prstGeom prst="rect">
            <a:avLst/>
          </a:prstGeom>
          <a:solidFill>
            <a:srgbClr val="FFF4E0"/>
          </a:solidFill>
          <a:ln w="6350">
            <a:solidFill>
              <a:srgbClr val="F1D9A8"/>
            </a:solidFill>
            <a:prstDash val="solid"/>
          </a:ln>
        </p:spPr>
      </p:sp>
      <p:sp>
        <p:nvSpPr>
          <p:cNvPr id="79" name="Shape 77"/>
          <p:cNvSpPr/>
          <p:nvPr/>
        </p:nvSpPr>
        <p:spPr>
          <a:xfrm>
            <a:off x="411480" y="5833872"/>
            <a:ext cx="82296" cy="530352"/>
          </a:xfrm>
          <a:prstGeom prst="rect">
            <a:avLst/>
          </a:prstGeom>
          <a:solidFill>
            <a:srgbClr val="E39A2F"/>
          </a:solidFill>
          <a:ln w="12700">
            <a:solidFill>
              <a:srgbClr val="E39A2F"/>
            </a:solidFill>
            <a:prstDash val="solid"/>
          </a:ln>
        </p:spPr>
      </p:sp>
      <p:sp>
        <p:nvSpPr>
          <p:cNvPr id="80" name="Text 7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Why is a flask with yeast and </a:t>
            </a:r>
            <a:r>
              <a:rPr lang="en-US" sz="1150" b="1" dirty="0">
                <a:solidFill>
                  <a:srgbClr val="262B3A"/>
                </a:solidFill>
                <a:latin typeface="Calibri" pitchFamily="34" charset="0"/>
                <a:ea typeface="Calibri" pitchFamily="34" charset="-122"/>
                <a:cs typeface="Calibri" pitchFamily="34" charset="-120"/>
              </a:rPr>
              <a:t>water only</a:t>
            </a:r>
            <a:r>
              <a:rPr lang="en-US" sz="1150" dirty="0">
                <a:solidFill>
                  <a:srgbClr val="262B3A"/>
                </a:solidFill>
                <a:latin typeface="Calibri" pitchFamily="34" charset="0"/>
                <a:ea typeface="Calibri" pitchFamily="34" charset="-122"/>
                <a:cs typeface="Calibri" pitchFamily="34" charset="-120"/>
              </a:rPr>
              <a:t> included? Why is the flask left in the water bath for 10 minutes before timing starts?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PAG B4: results and evaluation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B4.1.5 • sample class results at 30 °C</a:t>
            </a:r>
            <a:endParaRPr lang="en-US" sz="1100" dirty="0"/>
          </a:p>
        </p:txBody>
      </p:sp>
      <p:sp>
        <p:nvSpPr>
          <p:cNvPr id="6" name="Shape 4"/>
          <p:cNvSpPr/>
          <p:nvPr/>
        </p:nvSpPr>
        <p:spPr>
          <a:xfrm>
            <a:off x="11012119" y="292608"/>
            <a:ext cx="768096"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11012119" y="292608"/>
            <a:ext cx="768096"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PAG B4</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B4.1 What happens during cellular respiration?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PAG B4  |  17</a:t>
            </a:r>
            <a:endParaRPr lang="en-US" sz="1000" dirty="0"/>
          </a:p>
        </p:txBody>
      </p:sp>
      <p:sp>
        <p:nvSpPr>
          <p:cNvPr id="10" name="Shape 8"/>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run 1 for each substrate, plotted to scale</a:t>
            </a:r>
            <a:endParaRPr lang="en-US" sz="1000" dirty="0"/>
          </a:p>
        </p:txBody>
      </p:sp>
      <p:sp>
        <p:nvSpPr>
          <p:cNvPr id="12" name="Shape 10"/>
          <p:cNvSpPr/>
          <p:nvPr/>
        </p:nvSpPr>
        <p:spPr>
          <a:xfrm>
            <a:off x="1325880" y="1371600"/>
            <a:ext cx="4389120" cy="3246120"/>
          </a:xfrm>
          <a:prstGeom prst="rect">
            <a:avLst/>
          </a:prstGeom>
          <a:solidFill>
            <a:srgbClr val="FFFFFF"/>
          </a:solidFill>
          <a:ln/>
        </p:spPr>
      </p:sp>
      <p:sp>
        <p:nvSpPr>
          <p:cNvPr id="13" name="Shape 11"/>
          <p:cNvSpPr/>
          <p:nvPr/>
        </p:nvSpPr>
        <p:spPr>
          <a:xfrm>
            <a:off x="1325880" y="1371600"/>
            <a:ext cx="91" cy="3246120"/>
          </a:xfrm>
          <a:prstGeom prst="line">
            <a:avLst/>
          </a:prstGeom>
          <a:noFill/>
          <a:ln w="6350">
            <a:solidFill>
              <a:srgbClr val="C5DCD9"/>
            </a:solidFill>
            <a:prstDash val="solid"/>
          </a:ln>
        </p:spPr>
      </p:sp>
      <p:sp>
        <p:nvSpPr>
          <p:cNvPr id="14" name="Shape 12"/>
          <p:cNvSpPr/>
          <p:nvPr/>
        </p:nvSpPr>
        <p:spPr>
          <a:xfrm>
            <a:off x="1764792" y="1371600"/>
            <a:ext cx="91" cy="3246120"/>
          </a:xfrm>
          <a:prstGeom prst="line">
            <a:avLst/>
          </a:prstGeom>
          <a:noFill/>
          <a:ln w="6350">
            <a:solidFill>
              <a:srgbClr val="E3EFED"/>
            </a:solidFill>
            <a:prstDash val="solid"/>
          </a:ln>
        </p:spPr>
      </p:sp>
      <p:sp>
        <p:nvSpPr>
          <p:cNvPr id="15" name="Shape 13"/>
          <p:cNvSpPr/>
          <p:nvPr/>
        </p:nvSpPr>
        <p:spPr>
          <a:xfrm>
            <a:off x="2203704" y="1371600"/>
            <a:ext cx="91" cy="3246120"/>
          </a:xfrm>
          <a:prstGeom prst="line">
            <a:avLst/>
          </a:prstGeom>
          <a:noFill/>
          <a:ln w="6350">
            <a:solidFill>
              <a:srgbClr val="C5DCD9"/>
            </a:solidFill>
            <a:prstDash val="solid"/>
          </a:ln>
        </p:spPr>
      </p:sp>
      <p:sp>
        <p:nvSpPr>
          <p:cNvPr id="16" name="Shape 14"/>
          <p:cNvSpPr/>
          <p:nvPr/>
        </p:nvSpPr>
        <p:spPr>
          <a:xfrm>
            <a:off x="2642616" y="1371600"/>
            <a:ext cx="91" cy="3246120"/>
          </a:xfrm>
          <a:prstGeom prst="line">
            <a:avLst/>
          </a:prstGeom>
          <a:noFill/>
          <a:ln w="6350">
            <a:solidFill>
              <a:srgbClr val="E3EFED"/>
            </a:solidFill>
            <a:prstDash val="solid"/>
          </a:ln>
        </p:spPr>
      </p:sp>
      <p:sp>
        <p:nvSpPr>
          <p:cNvPr id="17" name="Shape 15"/>
          <p:cNvSpPr/>
          <p:nvPr/>
        </p:nvSpPr>
        <p:spPr>
          <a:xfrm>
            <a:off x="3081528" y="1371600"/>
            <a:ext cx="91" cy="3246120"/>
          </a:xfrm>
          <a:prstGeom prst="line">
            <a:avLst/>
          </a:prstGeom>
          <a:noFill/>
          <a:ln w="6350">
            <a:solidFill>
              <a:srgbClr val="C5DCD9"/>
            </a:solidFill>
            <a:prstDash val="solid"/>
          </a:ln>
        </p:spPr>
      </p:sp>
      <p:sp>
        <p:nvSpPr>
          <p:cNvPr id="18" name="Shape 16"/>
          <p:cNvSpPr/>
          <p:nvPr/>
        </p:nvSpPr>
        <p:spPr>
          <a:xfrm>
            <a:off x="3520440" y="1371600"/>
            <a:ext cx="91" cy="3246120"/>
          </a:xfrm>
          <a:prstGeom prst="line">
            <a:avLst/>
          </a:prstGeom>
          <a:noFill/>
          <a:ln w="6350">
            <a:solidFill>
              <a:srgbClr val="E3EFED"/>
            </a:solidFill>
            <a:prstDash val="solid"/>
          </a:ln>
        </p:spPr>
      </p:sp>
      <p:sp>
        <p:nvSpPr>
          <p:cNvPr id="19" name="Shape 17"/>
          <p:cNvSpPr/>
          <p:nvPr/>
        </p:nvSpPr>
        <p:spPr>
          <a:xfrm>
            <a:off x="3959352" y="1371600"/>
            <a:ext cx="91" cy="3246120"/>
          </a:xfrm>
          <a:prstGeom prst="line">
            <a:avLst/>
          </a:prstGeom>
          <a:noFill/>
          <a:ln w="6350">
            <a:solidFill>
              <a:srgbClr val="C5DCD9"/>
            </a:solidFill>
            <a:prstDash val="solid"/>
          </a:ln>
        </p:spPr>
      </p:sp>
      <p:sp>
        <p:nvSpPr>
          <p:cNvPr id="20" name="Shape 18"/>
          <p:cNvSpPr/>
          <p:nvPr/>
        </p:nvSpPr>
        <p:spPr>
          <a:xfrm>
            <a:off x="4398264" y="1371600"/>
            <a:ext cx="91" cy="3246120"/>
          </a:xfrm>
          <a:prstGeom prst="line">
            <a:avLst/>
          </a:prstGeom>
          <a:noFill/>
          <a:ln w="6350">
            <a:solidFill>
              <a:srgbClr val="E3EFED"/>
            </a:solidFill>
            <a:prstDash val="solid"/>
          </a:ln>
        </p:spPr>
      </p:sp>
      <p:sp>
        <p:nvSpPr>
          <p:cNvPr id="21" name="Shape 19"/>
          <p:cNvSpPr/>
          <p:nvPr/>
        </p:nvSpPr>
        <p:spPr>
          <a:xfrm>
            <a:off x="4837176" y="1371600"/>
            <a:ext cx="91" cy="3246120"/>
          </a:xfrm>
          <a:prstGeom prst="line">
            <a:avLst/>
          </a:prstGeom>
          <a:noFill/>
          <a:ln w="6350">
            <a:solidFill>
              <a:srgbClr val="C5DCD9"/>
            </a:solidFill>
            <a:prstDash val="solid"/>
          </a:ln>
        </p:spPr>
      </p:sp>
      <p:sp>
        <p:nvSpPr>
          <p:cNvPr id="22" name="Shape 20"/>
          <p:cNvSpPr/>
          <p:nvPr/>
        </p:nvSpPr>
        <p:spPr>
          <a:xfrm>
            <a:off x="5276088" y="1371600"/>
            <a:ext cx="91" cy="3246120"/>
          </a:xfrm>
          <a:prstGeom prst="line">
            <a:avLst/>
          </a:prstGeom>
          <a:noFill/>
          <a:ln w="6350">
            <a:solidFill>
              <a:srgbClr val="E3EFED"/>
            </a:solidFill>
            <a:prstDash val="solid"/>
          </a:ln>
        </p:spPr>
      </p:sp>
      <p:sp>
        <p:nvSpPr>
          <p:cNvPr id="23" name="Shape 21"/>
          <p:cNvSpPr/>
          <p:nvPr/>
        </p:nvSpPr>
        <p:spPr>
          <a:xfrm>
            <a:off x="5715000" y="1371600"/>
            <a:ext cx="91" cy="3246120"/>
          </a:xfrm>
          <a:prstGeom prst="line">
            <a:avLst/>
          </a:prstGeom>
          <a:noFill/>
          <a:ln w="6350">
            <a:solidFill>
              <a:srgbClr val="C5DCD9"/>
            </a:solidFill>
            <a:prstDash val="solid"/>
          </a:ln>
        </p:spPr>
      </p:sp>
      <p:sp>
        <p:nvSpPr>
          <p:cNvPr id="24" name="Shape 22"/>
          <p:cNvSpPr/>
          <p:nvPr/>
        </p:nvSpPr>
        <p:spPr>
          <a:xfrm>
            <a:off x="1325880" y="4617720"/>
            <a:ext cx="4389120" cy="91"/>
          </a:xfrm>
          <a:prstGeom prst="line">
            <a:avLst/>
          </a:prstGeom>
          <a:noFill/>
          <a:ln w="6350">
            <a:solidFill>
              <a:srgbClr val="C5DCD9"/>
            </a:solidFill>
            <a:prstDash val="solid"/>
          </a:ln>
        </p:spPr>
      </p:sp>
      <p:sp>
        <p:nvSpPr>
          <p:cNvPr id="25" name="Shape 23"/>
          <p:cNvSpPr/>
          <p:nvPr/>
        </p:nvSpPr>
        <p:spPr>
          <a:xfrm>
            <a:off x="1325880" y="4385854"/>
            <a:ext cx="4389120" cy="91"/>
          </a:xfrm>
          <a:prstGeom prst="line">
            <a:avLst/>
          </a:prstGeom>
          <a:noFill/>
          <a:ln w="6350">
            <a:solidFill>
              <a:srgbClr val="E3EFED"/>
            </a:solidFill>
            <a:prstDash val="solid"/>
          </a:ln>
        </p:spPr>
      </p:sp>
      <p:sp>
        <p:nvSpPr>
          <p:cNvPr id="26" name="Shape 24"/>
          <p:cNvSpPr/>
          <p:nvPr/>
        </p:nvSpPr>
        <p:spPr>
          <a:xfrm>
            <a:off x="1325880" y="4153989"/>
            <a:ext cx="4389120" cy="91"/>
          </a:xfrm>
          <a:prstGeom prst="line">
            <a:avLst/>
          </a:prstGeom>
          <a:noFill/>
          <a:ln w="6350">
            <a:solidFill>
              <a:srgbClr val="C5DCD9"/>
            </a:solidFill>
            <a:prstDash val="solid"/>
          </a:ln>
        </p:spPr>
      </p:sp>
      <p:sp>
        <p:nvSpPr>
          <p:cNvPr id="27" name="Shape 25"/>
          <p:cNvSpPr/>
          <p:nvPr/>
        </p:nvSpPr>
        <p:spPr>
          <a:xfrm>
            <a:off x="1325880" y="3922123"/>
            <a:ext cx="4389120" cy="91"/>
          </a:xfrm>
          <a:prstGeom prst="line">
            <a:avLst/>
          </a:prstGeom>
          <a:noFill/>
          <a:ln w="6350">
            <a:solidFill>
              <a:srgbClr val="E3EFED"/>
            </a:solidFill>
            <a:prstDash val="solid"/>
          </a:ln>
        </p:spPr>
      </p:sp>
      <p:sp>
        <p:nvSpPr>
          <p:cNvPr id="28" name="Shape 26"/>
          <p:cNvSpPr/>
          <p:nvPr/>
        </p:nvSpPr>
        <p:spPr>
          <a:xfrm>
            <a:off x="1325880" y="3690257"/>
            <a:ext cx="4389120" cy="91"/>
          </a:xfrm>
          <a:prstGeom prst="line">
            <a:avLst/>
          </a:prstGeom>
          <a:noFill/>
          <a:ln w="6350">
            <a:solidFill>
              <a:srgbClr val="C5DCD9"/>
            </a:solidFill>
            <a:prstDash val="solid"/>
          </a:ln>
        </p:spPr>
      </p:sp>
      <p:sp>
        <p:nvSpPr>
          <p:cNvPr id="29" name="Shape 27"/>
          <p:cNvSpPr/>
          <p:nvPr/>
        </p:nvSpPr>
        <p:spPr>
          <a:xfrm>
            <a:off x="1325880" y="3458391"/>
            <a:ext cx="4389120" cy="91"/>
          </a:xfrm>
          <a:prstGeom prst="line">
            <a:avLst/>
          </a:prstGeom>
          <a:noFill/>
          <a:ln w="6350">
            <a:solidFill>
              <a:srgbClr val="E3EFED"/>
            </a:solidFill>
            <a:prstDash val="solid"/>
          </a:ln>
        </p:spPr>
      </p:sp>
      <p:sp>
        <p:nvSpPr>
          <p:cNvPr id="30" name="Shape 28"/>
          <p:cNvSpPr/>
          <p:nvPr/>
        </p:nvSpPr>
        <p:spPr>
          <a:xfrm>
            <a:off x="1325880" y="3226526"/>
            <a:ext cx="4389120" cy="91"/>
          </a:xfrm>
          <a:prstGeom prst="line">
            <a:avLst/>
          </a:prstGeom>
          <a:noFill/>
          <a:ln w="6350">
            <a:solidFill>
              <a:srgbClr val="C5DCD9"/>
            </a:solidFill>
            <a:prstDash val="solid"/>
          </a:ln>
        </p:spPr>
      </p:sp>
      <p:sp>
        <p:nvSpPr>
          <p:cNvPr id="31" name="Shape 29"/>
          <p:cNvSpPr/>
          <p:nvPr/>
        </p:nvSpPr>
        <p:spPr>
          <a:xfrm>
            <a:off x="1325880" y="2994660"/>
            <a:ext cx="4389120" cy="91"/>
          </a:xfrm>
          <a:prstGeom prst="line">
            <a:avLst/>
          </a:prstGeom>
          <a:noFill/>
          <a:ln w="6350">
            <a:solidFill>
              <a:srgbClr val="E3EFED"/>
            </a:solidFill>
            <a:prstDash val="solid"/>
          </a:ln>
        </p:spPr>
      </p:sp>
      <p:sp>
        <p:nvSpPr>
          <p:cNvPr id="32" name="Shape 30"/>
          <p:cNvSpPr/>
          <p:nvPr/>
        </p:nvSpPr>
        <p:spPr>
          <a:xfrm>
            <a:off x="1325880" y="2762794"/>
            <a:ext cx="4389120" cy="91"/>
          </a:xfrm>
          <a:prstGeom prst="line">
            <a:avLst/>
          </a:prstGeom>
          <a:noFill/>
          <a:ln w="6350">
            <a:solidFill>
              <a:srgbClr val="C5DCD9"/>
            </a:solidFill>
            <a:prstDash val="solid"/>
          </a:ln>
        </p:spPr>
      </p:sp>
      <p:sp>
        <p:nvSpPr>
          <p:cNvPr id="33" name="Shape 31"/>
          <p:cNvSpPr/>
          <p:nvPr/>
        </p:nvSpPr>
        <p:spPr>
          <a:xfrm>
            <a:off x="1325880" y="2530929"/>
            <a:ext cx="4389120" cy="91"/>
          </a:xfrm>
          <a:prstGeom prst="line">
            <a:avLst/>
          </a:prstGeom>
          <a:noFill/>
          <a:ln w="6350">
            <a:solidFill>
              <a:srgbClr val="E3EFED"/>
            </a:solidFill>
            <a:prstDash val="solid"/>
          </a:ln>
        </p:spPr>
      </p:sp>
      <p:sp>
        <p:nvSpPr>
          <p:cNvPr id="34" name="Shape 32"/>
          <p:cNvSpPr/>
          <p:nvPr/>
        </p:nvSpPr>
        <p:spPr>
          <a:xfrm>
            <a:off x="1325880" y="2299063"/>
            <a:ext cx="4389120" cy="91"/>
          </a:xfrm>
          <a:prstGeom prst="line">
            <a:avLst/>
          </a:prstGeom>
          <a:noFill/>
          <a:ln w="6350">
            <a:solidFill>
              <a:srgbClr val="C5DCD9"/>
            </a:solidFill>
            <a:prstDash val="solid"/>
          </a:ln>
        </p:spPr>
      </p:sp>
      <p:sp>
        <p:nvSpPr>
          <p:cNvPr id="35" name="Shape 33"/>
          <p:cNvSpPr/>
          <p:nvPr/>
        </p:nvSpPr>
        <p:spPr>
          <a:xfrm>
            <a:off x="1325880" y="2067197"/>
            <a:ext cx="4389120" cy="91"/>
          </a:xfrm>
          <a:prstGeom prst="line">
            <a:avLst/>
          </a:prstGeom>
          <a:noFill/>
          <a:ln w="6350">
            <a:solidFill>
              <a:srgbClr val="E3EFED"/>
            </a:solidFill>
            <a:prstDash val="solid"/>
          </a:ln>
        </p:spPr>
      </p:sp>
      <p:sp>
        <p:nvSpPr>
          <p:cNvPr id="36" name="Shape 34"/>
          <p:cNvSpPr/>
          <p:nvPr/>
        </p:nvSpPr>
        <p:spPr>
          <a:xfrm>
            <a:off x="1325880" y="1835331"/>
            <a:ext cx="4389120" cy="91"/>
          </a:xfrm>
          <a:prstGeom prst="line">
            <a:avLst/>
          </a:prstGeom>
          <a:noFill/>
          <a:ln w="6350">
            <a:solidFill>
              <a:srgbClr val="C5DCD9"/>
            </a:solidFill>
            <a:prstDash val="solid"/>
          </a:ln>
        </p:spPr>
      </p:sp>
      <p:sp>
        <p:nvSpPr>
          <p:cNvPr id="37" name="Shape 35"/>
          <p:cNvSpPr/>
          <p:nvPr/>
        </p:nvSpPr>
        <p:spPr>
          <a:xfrm>
            <a:off x="1325880" y="1603466"/>
            <a:ext cx="4389120" cy="91"/>
          </a:xfrm>
          <a:prstGeom prst="line">
            <a:avLst/>
          </a:prstGeom>
          <a:noFill/>
          <a:ln w="6350">
            <a:solidFill>
              <a:srgbClr val="E3EFED"/>
            </a:solidFill>
            <a:prstDash val="solid"/>
          </a:ln>
        </p:spPr>
      </p:sp>
      <p:sp>
        <p:nvSpPr>
          <p:cNvPr id="38" name="Shape 36"/>
          <p:cNvSpPr/>
          <p:nvPr/>
        </p:nvSpPr>
        <p:spPr>
          <a:xfrm>
            <a:off x="1325880" y="1371600"/>
            <a:ext cx="4389120" cy="91"/>
          </a:xfrm>
          <a:prstGeom prst="line">
            <a:avLst/>
          </a:prstGeom>
          <a:noFill/>
          <a:ln w="6350">
            <a:solidFill>
              <a:srgbClr val="C5DCD9"/>
            </a:solidFill>
            <a:prstDash val="solid"/>
          </a:ln>
        </p:spPr>
      </p:sp>
      <p:sp>
        <p:nvSpPr>
          <p:cNvPr id="39" name="Shape 37"/>
          <p:cNvSpPr/>
          <p:nvPr/>
        </p:nvSpPr>
        <p:spPr>
          <a:xfrm>
            <a:off x="1325880" y="4617720"/>
            <a:ext cx="4389120" cy="91"/>
          </a:xfrm>
          <a:prstGeom prst="line">
            <a:avLst/>
          </a:prstGeom>
          <a:noFill/>
          <a:ln w="19050">
            <a:solidFill>
              <a:srgbClr val="133536"/>
            </a:solidFill>
            <a:prstDash val="solid"/>
          </a:ln>
        </p:spPr>
      </p:sp>
      <p:sp>
        <p:nvSpPr>
          <p:cNvPr id="40" name="Shape 38"/>
          <p:cNvSpPr/>
          <p:nvPr/>
        </p:nvSpPr>
        <p:spPr>
          <a:xfrm flipV="1">
            <a:off x="1325880" y="1371600"/>
            <a:ext cx="91" cy="3246120"/>
          </a:xfrm>
          <a:prstGeom prst="line">
            <a:avLst/>
          </a:prstGeom>
          <a:noFill/>
          <a:ln w="19050">
            <a:solidFill>
              <a:srgbClr val="133536"/>
            </a:solidFill>
            <a:prstDash val="solid"/>
          </a:ln>
        </p:spPr>
      </p:sp>
      <p:sp>
        <p:nvSpPr>
          <p:cNvPr id="41" name="Shape 39"/>
          <p:cNvSpPr/>
          <p:nvPr/>
        </p:nvSpPr>
        <p:spPr>
          <a:xfrm>
            <a:off x="1325880" y="4617720"/>
            <a:ext cx="91" cy="54864"/>
          </a:xfrm>
          <a:prstGeom prst="line">
            <a:avLst/>
          </a:prstGeom>
          <a:noFill/>
          <a:ln w="12700">
            <a:solidFill>
              <a:srgbClr val="133536"/>
            </a:solidFill>
            <a:prstDash val="solid"/>
          </a:ln>
        </p:spPr>
      </p:sp>
      <p:sp>
        <p:nvSpPr>
          <p:cNvPr id="42" name="Text 40"/>
          <p:cNvSpPr/>
          <p:nvPr/>
        </p:nvSpPr>
        <p:spPr>
          <a:xfrm>
            <a:off x="1051560" y="467258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43" name="Shape 41"/>
          <p:cNvSpPr/>
          <p:nvPr/>
        </p:nvSpPr>
        <p:spPr>
          <a:xfrm>
            <a:off x="2203704" y="4617720"/>
            <a:ext cx="91" cy="54864"/>
          </a:xfrm>
          <a:prstGeom prst="line">
            <a:avLst/>
          </a:prstGeom>
          <a:noFill/>
          <a:ln w="12700">
            <a:solidFill>
              <a:srgbClr val="133536"/>
            </a:solidFill>
            <a:prstDash val="solid"/>
          </a:ln>
        </p:spPr>
      </p:sp>
      <p:sp>
        <p:nvSpPr>
          <p:cNvPr id="44" name="Text 42"/>
          <p:cNvSpPr/>
          <p:nvPr/>
        </p:nvSpPr>
        <p:spPr>
          <a:xfrm>
            <a:off x="1929384" y="467258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a:t>
            </a:r>
            <a:endParaRPr lang="en-US" sz="1000" dirty="0"/>
          </a:p>
        </p:txBody>
      </p:sp>
      <p:sp>
        <p:nvSpPr>
          <p:cNvPr id="45" name="Shape 43"/>
          <p:cNvSpPr/>
          <p:nvPr/>
        </p:nvSpPr>
        <p:spPr>
          <a:xfrm>
            <a:off x="3081528" y="4617720"/>
            <a:ext cx="91" cy="54864"/>
          </a:xfrm>
          <a:prstGeom prst="line">
            <a:avLst/>
          </a:prstGeom>
          <a:noFill/>
          <a:ln w="12700">
            <a:solidFill>
              <a:srgbClr val="133536"/>
            </a:solidFill>
            <a:prstDash val="solid"/>
          </a:ln>
        </p:spPr>
      </p:sp>
      <p:sp>
        <p:nvSpPr>
          <p:cNvPr id="46" name="Text 44"/>
          <p:cNvSpPr/>
          <p:nvPr/>
        </p:nvSpPr>
        <p:spPr>
          <a:xfrm>
            <a:off x="2807208" y="467258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a:t>
            </a:r>
            <a:endParaRPr lang="en-US" sz="1000" dirty="0"/>
          </a:p>
        </p:txBody>
      </p:sp>
      <p:sp>
        <p:nvSpPr>
          <p:cNvPr id="47" name="Shape 45"/>
          <p:cNvSpPr/>
          <p:nvPr/>
        </p:nvSpPr>
        <p:spPr>
          <a:xfrm>
            <a:off x="3959352" y="4617720"/>
            <a:ext cx="91" cy="54864"/>
          </a:xfrm>
          <a:prstGeom prst="line">
            <a:avLst/>
          </a:prstGeom>
          <a:noFill/>
          <a:ln w="12700">
            <a:solidFill>
              <a:srgbClr val="133536"/>
            </a:solidFill>
            <a:prstDash val="solid"/>
          </a:ln>
        </p:spPr>
      </p:sp>
      <p:sp>
        <p:nvSpPr>
          <p:cNvPr id="48" name="Text 46"/>
          <p:cNvSpPr/>
          <p:nvPr/>
        </p:nvSpPr>
        <p:spPr>
          <a:xfrm>
            <a:off x="3685032" y="467258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6</a:t>
            </a:r>
            <a:endParaRPr lang="en-US" sz="1000" dirty="0"/>
          </a:p>
        </p:txBody>
      </p:sp>
      <p:sp>
        <p:nvSpPr>
          <p:cNvPr id="49" name="Shape 47"/>
          <p:cNvSpPr/>
          <p:nvPr/>
        </p:nvSpPr>
        <p:spPr>
          <a:xfrm>
            <a:off x="4837176" y="4617720"/>
            <a:ext cx="91" cy="54864"/>
          </a:xfrm>
          <a:prstGeom prst="line">
            <a:avLst/>
          </a:prstGeom>
          <a:noFill/>
          <a:ln w="12700">
            <a:solidFill>
              <a:srgbClr val="133536"/>
            </a:solidFill>
            <a:prstDash val="solid"/>
          </a:ln>
        </p:spPr>
      </p:sp>
      <p:sp>
        <p:nvSpPr>
          <p:cNvPr id="50" name="Text 48"/>
          <p:cNvSpPr/>
          <p:nvPr/>
        </p:nvSpPr>
        <p:spPr>
          <a:xfrm>
            <a:off x="4562856" y="467258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8</a:t>
            </a:r>
            <a:endParaRPr lang="en-US" sz="1000" dirty="0"/>
          </a:p>
        </p:txBody>
      </p:sp>
      <p:sp>
        <p:nvSpPr>
          <p:cNvPr id="51" name="Shape 49"/>
          <p:cNvSpPr/>
          <p:nvPr/>
        </p:nvSpPr>
        <p:spPr>
          <a:xfrm>
            <a:off x="5715000" y="4617720"/>
            <a:ext cx="91" cy="54864"/>
          </a:xfrm>
          <a:prstGeom prst="line">
            <a:avLst/>
          </a:prstGeom>
          <a:noFill/>
          <a:ln w="12700">
            <a:solidFill>
              <a:srgbClr val="133536"/>
            </a:solidFill>
            <a:prstDash val="solid"/>
          </a:ln>
        </p:spPr>
      </p:sp>
      <p:sp>
        <p:nvSpPr>
          <p:cNvPr id="52" name="Text 50"/>
          <p:cNvSpPr/>
          <p:nvPr/>
        </p:nvSpPr>
        <p:spPr>
          <a:xfrm>
            <a:off x="5440680" y="467258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53" name="Shape 51"/>
          <p:cNvSpPr/>
          <p:nvPr/>
        </p:nvSpPr>
        <p:spPr>
          <a:xfrm>
            <a:off x="1271016" y="4617720"/>
            <a:ext cx="54864" cy="91"/>
          </a:xfrm>
          <a:prstGeom prst="line">
            <a:avLst/>
          </a:prstGeom>
          <a:noFill/>
          <a:ln w="12700">
            <a:solidFill>
              <a:srgbClr val="133536"/>
            </a:solidFill>
            <a:prstDash val="solid"/>
          </a:ln>
        </p:spPr>
      </p:sp>
      <p:sp>
        <p:nvSpPr>
          <p:cNvPr id="54" name="Text 52"/>
          <p:cNvSpPr/>
          <p:nvPr/>
        </p:nvSpPr>
        <p:spPr>
          <a:xfrm>
            <a:off x="886968" y="45262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55" name="Shape 53"/>
          <p:cNvSpPr/>
          <p:nvPr/>
        </p:nvSpPr>
        <p:spPr>
          <a:xfrm>
            <a:off x="1271016" y="4153989"/>
            <a:ext cx="54864" cy="91"/>
          </a:xfrm>
          <a:prstGeom prst="line">
            <a:avLst/>
          </a:prstGeom>
          <a:noFill/>
          <a:ln w="12700">
            <a:solidFill>
              <a:srgbClr val="133536"/>
            </a:solidFill>
            <a:prstDash val="solid"/>
          </a:ln>
        </p:spPr>
      </p:sp>
      <p:sp>
        <p:nvSpPr>
          <p:cNvPr id="56" name="Text 54"/>
          <p:cNvSpPr/>
          <p:nvPr/>
        </p:nvSpPr>
        <p:spPr>
          <a:xfrm>
            <a:off x="886968" y="4062549"/>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a:t>
            </a:r>
            <a:endParaRPr lang="en-US" sz="1000" dirty="0"/>
          </a:p>
        </p:txBody>
      </p:sp>
      <p:sp>
        <p:nvSpPr>
          <p:cNvPr id="57" name="Shape 55"/>
          <p:cNvSpPr/>
          <p:nvPr/>
        </p:nvSpPr>
        <p:spPr>
          <a:xfrm>
            <a:off x="1271016" y="3690257"/>
            <a:ext cx="54864" cy="91"/>
          </a:xfrm>
          <a:prstGeom prst="line">
            <a:avLst/>
          </a:prstGeom>
          <a:noFill/>
          <a:ln w="12700">
            <a:solidFill>
              <a:srgbClr val="133536"/>
            </a:solidFill>
            <a:prstDash val="solid"/>
          </a:ln>
        </p:spPr>
      </p:sp>
      <p:sp>
        <p:nvSpPr>
          <p:cNvPr id="58" name="Text 56"/>
          <p:cNvSpPr/>
          <p:nvPr/>
        </p:nvSpPr>
        <p:spPr>
          <a:xfrm>
            <a:off x="886968" y="3598817"/>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a:t>
            </a:r>
            <a:endParaRPr lang="en-US" sz="1000" dirty="0"/>
          </a:p>
        </p:txBody>
      </p:sp>
      <p:sp>
        <p:nvSpPr>
          <p:cNvPr id="59" name="Shape 57"/>
          <p:cNvSpPr/>
          <p:nvPr/>
        </p:nvSpPr>
        <p:spPr>
          <a:xfrm>
            <a:off x="1271016" y="3226526"/>
            <a:ext cx="54864" cy="91"/>
          </a:xfrm>
          <a:prstGeom prst="line">
            <a:avLst/>
          </a:prstGeom>
          <a:noFill/>
          <a:ln w="12700">
            <a:solidFill>
              <a:srgbClr val="133536"/>
            </a:solidFill>
            <a:prstDash val="solid"/>
          </a:ln>
        </p:spPr>
      </p:sp>
      <p:sp>
        <p:nvSpPr>
          <p:cNvPr id="60" name="Text 58"/>
          <p:cNvSpPr/>
          <p:nvPr/>
        </p:nvSpPr>
        <p:spPr>
          <a:xfrm>
            <a:off x="886968" y="3135086"/>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6</a:t>
            </a:r>
            <a:endParaRPr lang="en-US" sz="1000" dirty="0"/>
          </a:p>
        </p:txBody>
      </p:sp>
      <p:sp>
        <p:nvSpPr>
          <p:cNvPr id="61" name="Shape 59"/>
          <p:cNvSpPr/>
          <p:nvPr/>
        </p:nvSpPr>
        <p:spPr>
          <a:xfrm>
            <a:off x="1271016" y="2762794"/>
            <a:ext cx="54864" cy="91"/>
          </a:xfrm>
          <a:prstGeom prst="line">
            <a:avLst/>
          </a:prstGeom>
          <a:noFill/>
          <a:ln w="12700">
            <a:solidFill>
              <a:srgbClr val="133536"/>
            </a:solidFill>
            <a:prstDash val="solid"/>
          </a:ln>
        </p:spPr>
      </p:sp>
      <p:sp>
        <p:nvSpPr>
          <p:cNvPr id="62" name="Text 60"/>
          <p:cNvSpPr/>
          <p:nvPr/>
        </p:nvSpPr>
        <p:spPr>
          <a:xfrm>
            <a:off x="886968" y="2671354"/>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8</a:t>
            </a:r>
            <a:endParaRPr lang="en-US" sz="1000" dirty="0"/>
          </a:p>
        </p:txBody>
      </p:sp>
      <p:sp>
        <p:nvSpPr>
          <p:cNvPr id="63" name="Shape 61"/>
          <p:cNvSpPr/>
          <p:nvPr/>
        </p:nvSpPr>
        <p:spPr>
          <a:xfrm>
            <a:off x="1271016" y="2299063"/>
            <a:ext cx="54864" cy="91"/>
          </a:xfrm>
          <a:prstGeom prst="line">
            <a:avLst/>
          </a:prstGeom>
          <a:noFill/>
          <a:ln w="12700">
            <a:solidFill>
              <a:srgbClr val="133536"/>
            </a:solidFill>
            <a:prstDash val="solid"/>
          </a:ln>
        </p:spPr>
      </p:sp>
      <p:sp>
        <p:nvSpPr>
          <p:cNvPr id="64" name="Text 62"/>
          <p:cNvSpPr/>
          <p:nvPr/>
        </p:nvSpPr>
        <p:spPr>
          <a:xfrm>
            <a:off x="886968" y="2207623"/>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65" name="Shape 63"/>
          <p:cNvSpPr/>
          <p:nvPr/>
        </p:nvSpPr>
        <p:spPr>
          <a:xfrm>
            <a:off x="1271016" y="1835331"/>
            <a:ext cx="54864" cy="91"/>
          </a:xfrm>
          <a:prstGeom prst="line">
            <a:avLst/>
          </a:prstGeom>
          <a:noFill/>
          <a:ln w="12700">
            <a:solidFill>
              <a:srgbClr val="133536"/>
            </a:solidFill>
            <a:prstDash val="solid"/>
          </a:ln>
        </p:spPr>
      </p:sp>
      <p:sp>
        <p:nvSpPr>
          <p:cNvPr id="66" name="Text 64"/>
          <p:cNvSpPr/>
          <p:nvPr/>
        </p:nvSpPr>
        <p:spPr>
          <a:xfrm>
            <a:off x="886968" y="1743891"/>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12</a:t>
            </a:r>
            <a:endParaRPr lang="en-US" sz="1000" dirty="0"/>
          </a:p>
        </p:txBody>
      </p:sp>
      <p:sp>
        <p:nvSpPr>
          <p:cNvPr id="67" name="Shape 65"/>
          <p:cNvSpPr/>
          <p:nvPr/>
        </p:nvSpPr>
        <p:spPr>
          <a:xfrm>
            <a:off x="1271016" y="1371600"/>
            <a:ext cx="54864" cy="91"/>
          </a:xfrm>
          <a:prstGeom prst="line">
            <a:avLst/>
          </a:prstGeom>
          <a:noFill/>
          <a:ln w="12700">
            <a:solidFill>
              <a:srgbClr val="133536"/>
            </a:solidFill>
            <a:prstDash val="solid"/>
          </a:ln>
        </p:spPr>
      </p:sp>
      <p:sp>
        <p:nvSpPr>
          <p:cNvPr id="68" name="Text 66"/>
          <p:cNvSpPr/>
          <p:nvPr/>
        </p:nvSpPr>
        <p:spPr>
          <a:xfrm>
            <a:off x="886968" y="12801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14</a:t>
            </a:r>
            <a:endParaRPr lang="en-US" sz="1000" dirty="0"/>
          </a:p>
        </p:txBody>
      </p:sp>
      <p:sp>
        <p:nvSpPr>
          <p:cNvPr id="69" name="Text 67"/>
          <p:cNvSpPr/>
          <p:nvPr/>
        </p:nvSpPr>
        <p:spPr>
          <a:xfrm>
            <a:off x="1325880" y="4864608"/>
            <a:ext cx="43891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time / min</a:t>
            </a:r>
            <a:endParaRPr lang="en-US" sz="1050" dirty="0"/>
          </a:p>
        </p:txBody>
      </p:sp>
      <p:sp>
        <p:nvSpPr>
          <p:cNvPr id="70" name="Text 68"/>
          <p:cNvSpPr/>
          <p:nvPr/>
        </p:nvSpPr>
        <p:spPr>
          <a:xfrm rot="16200000">
            <a:off x="-864108" y="2866644"/>
            <a:ext cx="32461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volume of gas / cm³</a:t>
            </a:r>
            <a:endParaRPr lang="en-US" sz="1050" dirty="0"/>
          </a:p>
        </p:txBody>
      </p:sp>
      <p:sp>
        <p:nvSpPr>
          <p:cNvPr id="71" name="Shape 69"/>
          <p:cNvSpPr/>
          <p:nvPr/>
        </p:nvSpPr>
        <p:spPr>
          <a:xfrm flipV="1">
            <a:off x="1325880" y="4061242"/>
            <a:ext cx="877824" cy="556478"/>
          </a:xfrm>
          <a:prstGeom prst="line">
            <a:avLst/>
          </a:prstGeom>
          <a:noFill/>
          <a:ln w="25400">
            <a:solidFill>
              <a:srgbClr val="C8414C"/>
            </a:solidFill>
            <a:prstDash val="solid"/>
          </a:ln>
        </p:spPr>
      </p:sp>
      <p:sp>
        <p:nvSpPr>
          <p:cNvPr id="72" name="Shape 70"/>
          <p:cNvSpPr/>
          <p:nvPr/>
        </p:nvSpPr>
        <p:spPr>
          <a:xfrm flipV="1">
            <a:off x="2203704" y="3504765"/>
            <a:ext cx="877824" cy="556478"/>
          </a:xfrm>
          <a:prstGeom prst="line">
            <a:avLst/>
          </a:prstGeom>
          <a:noFill/>
          <a:ln w="25400">
            <a:solidFill>
              <a:srgbClr val="C8414C"/>
            </a:solidFill>
            <a:prstDash val="solid"/>
          </a:ln>
        </p:spPr>
      </p:sp>
      <p:sp>
        <p:nvSpPr>
          <p:cNvPr id="73" name="Shape 71"/>
          <p:cNvSpPr/>
          <p:nvPr/>
        </p:nvSpPr>
        <p:spPr>
          <a:xfrm flipV="1">
            <a:off x="3081528" y="2925100"/>
            <a:ext cx="877824" cy="579664"/>
          </a:xfrm>
          <a:prstGeom prst="line">
            <a:avLst/>
          </a:prstGeom>
          <a:noFill/>
          <a:ln w="25400">
            <a:solidFill>
              <a:srgbClr val="C8414C"/>
            </a:solidFill>
            <a:prstDash val="solid"/>
          </a:ln>
        </p:spPr>
      </p:sp>
      <p:sp>
        <p:nvSpPr>
          <p:cNvPr id="74" name="Shape 72"/>
          <p:cNvSpPr/>
          <p:nvPr/>
        </p:nvSpPr>
        <p:spPr>
          <a:xfrm flipV="1">
            <a:off x="3959352" y="2368623"/>
            <a:ext cx="877824" cy="556478"/>
          </a:xfrm>
          <a:prstGeom prst="line">
            <a:avLst/>
          </a:prstGeom>
          <a:noFill/>
          <a:ln w="25400">
            <a:solidFill>
              <a:srgbClr val="C8414C"/>
            </a:solidFill>
            <a:prstDash val="solid"/>
          </a:ln>
        </p:spPr>
      </p:sp>
      <p:sp>
        <p:nvSpPr>
          <p:cNvPr id="75" name="Shape 73"/>
          <p:cNvSpPr/>
          <p:nvPr/>
        </p:nvSpPr>
        <p:spPr>
          <a:xfrm flipV="1">
            <a:off x="4837176" y="1835331"/>
            <a:ext cx="877824" cy="533291"/>
          </a:xfrm>
          <a:prstGeom prst="line">
            <a:avLst/>
          </a:prstGeom>
          <a:noFill/>
          <a:ln w="25400">
            <a:solidFill>
              <a:srgbClr val="C8414C"/>
            </a:solidFill>
            <a:prstDash val="solid"/>
          </a:ln>
        </p:spPr>
      </p:sp>
      <p:sp>
        <p:nvSpPr>
          <p:cNvPr id="76" name="Shape 74"/>
          <p:cNvSpPr/>
          <p:nvPr/>
        </p:nvSpPr>
        <p:spPr>
          <a:xfrm>
            <a:off x="1280160" y="4572000"/>
            <a:ext cx="91440" cy="91440"/>
          </a:xfrm>
          <a:prstGeom prst="line">
            <a:avLst/>
          </a:prstGeom>
          <a:noFill/>
          <a:ln w="15875">
            <a:solidFill>
              <a:srgbClr val="C8414C"/>
            </a:solidFill>
            <a:prstDash val="solid"/>
          </a:ln>
        </p:spPr>
      </p:sp>
      <p:sp>
        <p:nvSpPr>
          <p:cNvPr id="77" name="Shape 75"/>
          <p:cNvSpPr/>
          <p:nvPr/>
        </p:nvSpPr>
        <p:spPr>
          <a:xfrm flipV="1">
            <a:off x="1280160" y="4572000"/>
            <a:ext cx="91440" cy="91440"/>
          </a:xfrm>
          <a:prstGeom prst="line">
            <a:avLst/>
          </a:prstGeom>
          <a:noFill/>
          <a:ln w="15875">
            <a:solidFill>
              <a:srgbClr val="C8414C"/>
            </a:solidFill>
            <a:prstDash val="solid"/>
          </a:ln>
        </p:spPr>
      </p:sp>
      <p:sp>
        <p:nvSpPr>
          <p:cNvPr id="78" name="Shape 76"/>
          <p:cNvSpPr/>
          <p:nvPr/>
        </p:nvSpPr>
        <p:spPr>
          <a:xfrm>
            <a:off x="2157984" y="4015522"/>
            <a:ext cx="91440" cy="91440"/>
          </a:xfrm>
          <a:prstGeom prst="line">
            <a:avLst/>
          </a:prstGeom>
          <a:noFill/>
          <a:ln w="15875">
            <a:solidFill>
              <a:srgbClr val="C8414C"/>
            </a:solidFill>
            <a:prstDash val="solid"/>
          </a:ln>
        </p:spPr>
      </p:sp>
      <p:sp>
        <p:nvSpPr>
          <p:cNvPr id="79" name="Shape 77"/>
          <p:cNvSpPr/>
          <p:nvPr/>
        </p:nvSpPr>
        <p:spPr>
          <a:xfrm flipV="1">
            <a:off x="2157984" y="4015522"/>
            <a:ext cx="91440" cy="91440"/>
          </a:xfrm>
          <a:prstGeom prst="line">
            <a:avLst/>
          </a:prstGeom>
          <a:noFill/>
          <a:ln w="15875">
            <a:solidFill>
              <a:srgbClr val="C8414C"/>
            </a:solidFill>
            <a:prstDash val="solid"/>
          </a:ln>
        </p:spPr>
      </p:sp>
      <p:sp>
        <p:nvSpPr>
          <p:cNvPr id="80" name="Shape 78"/>
          <p:cNvSpPr/>
          <p:nvPr/>
        </p:nvSpPr>
        <p:spPr>
          <a:xfrm>
            <a:off x="3035808" y="3459045"/>
            <a:ext cx="91440" cy="91440"/>
          </a:xfrm>
          <a:prstGeom prst="line">
            <a:avLst/>
          </a:prstGeom>
          <a:noFill/>
          <a:ln w="15875">
            <a:solidFill>
              <a:srgbClr val="C8414C"/>
            </a:solidFill>
            <a:prstDash val="solid"/>
          </a:ln>
        </p:spPr>
      </p:sp>
      <p:sp>
        <p:nvSpPr>
          <p:cNvPr id="81" name="Shape 79"/>
          <p:cNvSpPr/>
          <p:nvPr/>
        </p:nvSpPr>
        <p:spPr>
          <a:xfrm flipV="1">
            <a:off x="3035808" y="3459045"/>
            <a:ext cx="91440" cy="91440"/>
          </a:xfrm>
          <a:prstGeom prst="line">
            <a:avLst/>
          </a:prstGeom>
          <a:noFill/>
          <a:ln w="15875">
            <a:solidFill>
              <a:srgbClr val="C8414C"/>
            </a:solidFill>
            <a:prstDash val="solid"/>
          </a:ln>
        </p:spPr>
      </p:sp>
      <p:sp>
        <p:nvSpPr>
          <p:cNvPr id="82" name="Shape 80"/>
          <p:cNvSpPr/>
          <p:nvPr/>
        </p:nvSpPr>
        <p:spPr>
          <a:xfrm>
            <a:off x="3913632" y="2879380"/>
            <a:ext cx="91440" cy="91440"/>
          </a:xfrm>
          <a:prstGeom prst="line">
            <a:avLst/>
          </a:prstGeom>
          <a:noFill/>
          <a:ln w="15875">
            <a:solidFill>
              <a:srgbClr val="C8414C"/>
            </a:solidFill>
            <a:prstDash val="solid"/>
          </a:ln>
        </p:spPr>
      </p:sp>
      <p:sp>
        <p:nvSpPr>
          <p:cNvPr id="83" name="Shape 81"/>
          <p:cNvSpPr/>
          <p:nvPr/>
        </p:nvSpPr>
        <p:spPr>
          <a:xfrm flipV="1">
            <a:off x="3913632" y="2879380"/>
            <a:ext cx="91440" cy="91440"/>
          </a:xfrm>
          <a:prstGeom prst="line">
            <a:avLst/>
          </a:prstGeom>
          <a:noFill/>
          <a:ln w="15875">
            <a:solidFill>
              <a:srgbClr val="C8414C"/>
            </a:solidFill>
            <a:prstDash val="solid"/>
          </a:ln>
        </p:spPr>
      </p:sp>
      <p:sp>
        <p:nvSpPr>
          <p:cNvPr id="84" name="Shape 82"/>
          <p:cNvSpPr/>
          <p:nvPr/>
        </p:nvSpPr>
        <p:spPr>
          <a:xfrm>
            <a:off x="4791456" y="2322903"/>
            <a:ext cx="91440" cy="91440"/>
          </a:xfrm>
          <a:prstGeom prst="line">
            <a:avLst/>
          </a:prstGeom>
          <a:noFill/>
          <a:ln w="15875">
            <a:solidFill>
              <a:srgbClr val="C8414C"/>
            </a:solidFill>
            <a:prstDash val="solid"/>
          </a:ln>
        </p:spPr>
      </p:sp>
      <p:sp>
        <p:nvSpPr>
          <p:cNvPr id="85" name="Shape 83"/>
          <p:cNvSpPr/>
          <p:nvPr/>
        </p:nvSpPr>
        <p:spPr>
          <a:xfrm flipV="1">
            <a:off x="4791456" y="2322903"/>
            <a:ext cx="91440" cy="91440"/>
          </a:xfrm>
          <a:prstGeom prst="line">
            <a:avLst/>
          </a:prstGeom>
          <a:noFill/>
          <a:ln w="15875">
            <a:solidFill>
              <a:srgbClr val="C8414C"/>
            </a:solidFill>
            <a:prstDash val="solid"/>
          </a:ln>
        </p:spPr>
      </p:sp>
      <p:sp>
        <p:nvSpPr>
          <p:cNvPr id="86" name="Shape 84"/>
          <p:cNvSpPr/>
          <p:nvPr/>
        </p:nvSpPr>
        <p:spPr>
          <a:xfrm>
            <a:off x="5669280" y="1789611"/>
            <a:ext cx="91440" cy="91440"/>
          </a:xfrm>
          <a:prstGeom prst="line">
            <a:avLst/>
          </a:prstGeom>
          <a:noFill/>
          <a:ln w="15875">
            <a:solidFill>
              <a:srgbClr val="C8414C"/>
            </a:solidFill>
            <a:prstDash val="solid"/>
          </a:ln>
        </p:spPr>
      </p:sp>
      <p:sp>
        <p:nvSpPr>
          <p:cNvPr id="87" name="Shape 85"/>
          <p:cNvSpPr/>
          <p:nvPr/>
        </p:nvSpPr>
        <p:spPr>
          <a:xfrm flipV="1">
            <a:off x="5669280" y="1789611"/>
            <a:ext cx="91440" cy="91440"/>
          </a:xfrm>
          <a:prstGeom prst="line">
            <a:avLst/>
          </a:prstGeom>
          <a:noFill/>
          <a:ln w="15875">
            <a:solidFill>
              <a:srgbClr val="C8414C"/>
            </a:solidFill>
            <a:prstDash val="solid"/>
          </a:ln>
        </p:spPr>
      </p:sp>
      <p:sp>
        <p:nvSpPr>
          <p:cNvPr id="88" name="Shape 86"/>
          <p:cNvSpPr/>
          <p:nvPr/>
        </p:nvSpPr>
        <p:spPr>
          <a:xfrm flipV="1">
            <a:off x="1325880" y="4177175"/>
            <a:ext cx="877824" cy="440545"/>
          </a:xfrm>
          <a:prstGeom prst="line">
            <a:avLst/>
          </a:prstGeom>
          <a:noFill/>
          <a:ln w="25400">
            <a:solidFill>
              <a:srgbClr val="0D7877"/>
            </a:solidFill>
            <a:prstDash val="solid"/>
          </a:ln>
        </p:spPr>
      </p:sp>
      <p:sp>
        <p:nvSpPr>
          <p:cNvPr id="89" name="Shape 87"/>
          <p:cNvSpPr/>
          <p:nvPr/>
        </p:nvSpPr>
        <p:spPr>
          <a:xfrm flipV="1">
            <a:off x="2203704" y="3713444"/>
            <a:ext cx="877824" cy="463731"/>
          </a:xfrm>
          <a:prstGeom prst="line">
            <a:avLst/>
          </a:prstGeom>
          <a:noFill/>
          <a:ln w="25400">
            <a:solidFill>
              <a:srgbClr val="0D7877"/>
            </a:solidFill>
            <a:prstDash val="solid"/>
          </a:ln>
        </p:spPr>
      </p:sp>
      <p:sp>
        <p:nvSpPr>
          <p:cNvPr id="90" name="Shape 88"/>
          <p:cNvSpPr/>
          <p:nvPr/>
        </p:nvSpPr>
        <p:spPr>
          <a:xfrm flipV="1">
            <a:off x="3081528" y="3249712"/>
            <a:ext cx="877824" cy="463731"/>
          </a:xfrm>
          <a:prstGeom prst="line">
            <a:avLst/>
          </a:prstGeom>
          <a:noFill/>
          <a:ln w="25400">
            <a:solidFill>
              <a:srgbClr val="0D7877"/>
            </a:solidFill>
            <a:prstDash val="solid"/>
          </a:ln>
        </p:spPr>
      </p:sp>
      <p:sp>
        <p:nvSpPr>
          <p:cNvPr id="91" name="Shape 89"/>
          <p:cNvSpPr/>
          <p:nvPr/>
        </p:nvSpPr>
        <p:spPr>
          <a:xfrm flipV="1">
            <a:off x="3959352" y="2785981"/>
            <a:ext cx="877824" cy="463731"/>
          </a:xfrm>
          <a:prstGeom prst="line">
            <a:avLst/>
          </a:prstGeom>
          <a:noFill/>
          <a:ln w="25400">
            <a:solidFill>
              <a:srgbClr val="0D7877"/>
            </a:solidFill>
            <a:prstDash val="solid"/>
          </a:ln>
        </p:spPr>
      </p:sp>
      <p:sp>
        <p:nvSpPr>
          <p:cNvPr id="92" name="Shape 90"/>
          <p:cNvSpPr/>
          <p:nvPr/>
        </p:nvSpPr>
        <p:spPr>
          <a:xfrm flipV="1">
            <a:off x="4837176" y="2322249"/>
            <a:ext cx="877824" cy="463731"/>
          </a:xfrm>
          <a:prstGeom prst="line">
            <a:avLst/>
          </a:prstGeom>
          <a:noFill/>
          <a:ln w="25400">
            <a:solidFill>
              <a:srgbClr val="0D7877"/>
            </a:solidFill>
            <a:prstDash val="solid"/>
          </a:ln>
        </p:spPr>
      </p:sp>
      <p:sp>
        <p:nvSpPr>
          <p:cNvPr id="93" name="Shape 91"/>
          <p:cNvSpPr/>
          <p:nvPr/>
        </p:nvSpPr>
        <p:spPr>
          <a:xfrm>
            <a:off x="1280160" y="4572000"/>
            <a:ext cx="91440" cy="91440"/>
          </a:xfrm>
          <a:prstGeom prst="line">
            <a:avLst/>
          </a:prstGeom>
          <a:noFill/>
          <a:ln w="15875">
            <a:solidFill>
              <a:srgbClr val="0D7877"/>
            </a:solidFill>
            <a:prstDash val="solid"/>
          </a:ln>
        </p:spPr>
      </p:sp>
      <p:sp>
        <p:nvSpPr>
          <p:cNvPr id="94" name="Shape 92"/>
          <p:cNvSpPr/>
          <p:nvPr/>
        </p:nvSpPr>
        <p:spPr>
          <a:xfrm flipV="1">
            <a:off x="1280160" y="4572000"/>
            <a:ext cx="91440" cy="91440"/>
          </a:xfrm>
          <a:prstGeom prst="line">
            <a:avLst/>
          </a:prstGeom>
          <a:noFill/>
          <a:ln w="15875">
            <a:solidFill>
              <a:srgbClr val="0D7877"/>
            </a:solidFill>
            <a:prstDash val="solid"/>
          </a:ln>
        </p:spPr>
      </p:sp>
      <p:sp>
        <p:nvSpPr>
          <p:cNvPr id="95" name="Shape 93"/>
          <p:cNvSpPr/>
          <p:nvPr/>
        </p:nvSpPr>
        <p:spPr>
          <a:xfrm>
            <a:off x="2157984" y="4131455"/>
            <a:ext cx="91440" cy="91440"/>
          </a:xfrm>
          <a:prstGeom prst="line">
            <a:avLst/>
          </a:prstGeom>
          <a:noFill/>
          <a:ln w="15875">
            <a:solidFill>
              <a:srgbClr val="0D7877"/>
            </a:solidFill>
            <a:prstDash val="solid"/>
          </a:ln>
        </p:spPr>
      </p:sp>
      <p:sp>
        <p:nvSpPr>
          <p:cNvPr id="96" name="Shape 94"/>
          <p:cNvSpPr/>
          <p:nvPr/>
        </p:nvSpPr>
        <p:spPr>
          <a:xfrm flipV="1">
            <a:off x="2157984" y="4131455"/>
            <a:ext cx="91440" cy="91440"/>
          </a:xfrm>
          <a:prstGeom prst="line">
            <a:avLst/>
          </a:prstGeom>
          <a:noFill/>
          <a:ln w="15875">
            <a:solidFill>
              <a:srgbClr val="0D7877"/>
            </a:solidFill>
            <a:prstDash val="solid"/>
          </a:ln>
        </p:spPr>
      </p:sp>
      <p:sp>
        <p:nvSpPr>
          <p:cNvPr id="97" name="Shape 95"/>
          <p:cNvSpPr/>
          <p:nvPr/>
        </p:nvSpPr>
        <p:spPr>
          <a:xfrm>
            <a:off x="3035808" y="3667724"/>
            <a:ext cx="91440" cy="91440"/>
          </a:xfrm>
          <a:prstGeom prst="line">
            <a:avLst/>
          </a:prstGeom>
          <a:noFill/>
          <a:ln w="15875">
            <a:solidFill>
              <a:srgbClr val="0D7877"/>
            </a:solidFill>
            <a:prstDash val="solid"/>
          </a:ln>
        </p:spPr>
      </p:sp>
      <p:sp>
        <p:nvSpPr>
          <p:cNvPr id="98" name="Shape 96"/>
          <p:cNvSpPr/>
          <p:nvPr/>
        </p:nvSpPr>
        <p:spPr>
          <a:xfrm flipV="1">
            <a:off x="3035808" y="3667724"/>
            <a:ext cx="91440" cy="91440"/>
          </a:xfrm>
          <a:prstGeom prst="line">
            <a:avLst/>
          </a:prstGeom>
          <a:noFill/>
          <a:ln w="15875">
            <a:solidFill>
              <a:srgbClr val="0D7877"/>
            </a:solidFill>
            <a:prstDash val="solid"/>
          </a:ln>
        </p:spPr>
      </p:sp>
      <p:sp>
        <p:nvSpPr>
          <p:cNvPr id="99" name="Shape 97"/>
          <p:cNvSpPr/>
          <p:nvPr/>
        </p:nvSpPr>
        <p:spPr>
          <a:xfrm>
            <a:off x="3913632" y="3203992"/>
            <a:ext cx="91440" cy="91440"/>
          </a:xfrm>
          <a:prstGeom prst="line">
            <a:avLst/>
          </a:prstGeom>
          <a:noFill/>
          <a:ln w="15875">
            <a:solidFill>
              <a:srgbClr val="0D7877"/>
            </a:solidFill>
            <a:prstDash val="solid"/>
          </a:ln>
        </p:spPr>
      </p:sp>
      <p:sp>
        <p:nvSpPr>
          <p:cNvPr id="100" name="Shape 98"/>
          <p:cNvSpPr/>
          <p:nvPr/>
        </p:nvSpPr>
        <p:spPr>
          <a:xfrm flipV="1">
            <a:off x="3913632" y="3203992"/>
            <a:ext cx="91440" cy="91440"/>
          </a:xfrm>
          <a:prstGeom prst="line">
            <a:avLst/>
          </a:prstGeom>
          <a:noFill/>
          <a:ln w="15875">
            <a:solidFill>
              <a:srgbClr val="0D7877"/>
            </a:solidFill>
            <a:prstDash val="solid"/>
          </a:ln>
        </p:spPr>
      </p:sp>
      <p:sp>
        <p:nvSpPr>
          <p:cNvPr id="101" name="Shape 99"/>
          <p:cNvSpPr/>
          <p:nvPr/>
        </p:nvSpPr>
        <p:spPr>
          <a:xfrm>
            <a:off x="4791456" y="2740261"/>
            <a:ext cx="91440" cy="91440"/>
          </a:xfrm>
          <a:prstGeom prst="line">
            <a:avLst/>
          </a:prstGeom>
          <a:noFill/>
          <a:ln w="15875">
            <a:solidFill>
              <a:srgbClr val="0D7877"/>
            </a:solidFill>
            <a:prstDash val="solid"/>
          </a:ln>
        </p:spPr>
      </p:sp>
      <p:sp>
        <p:nvSpPr>
          <p:cNvPr id="102" name="Shape 100"/>
          <p:cNvSpPr/>
          <p:nvPr/>
        </p:nvSpPr>
        <p:spPr>
          <a:xfrm flipV="1">
            <a:off x="4791456" y="2740261"/>
            <a:ext cx="91440" cy="91440"/>
          </a:xfrm>
          <a:prstGeom prst="line">
            <a:avLst/>
          </a:prstGeom>
          <a:noFill/>
          <a:ln w="15875">
            <a:solidFill>
              <a:srgbClr val="0D7877"/>
            </a:solidFill>
            <a:prstDash val="solid"/>
          </a:ln>
        </p:spPr>
      </p:sp>
      <p:sp>
        <p:nvSpPr>
          <p:cNvPr id="103" name="Shape 101"/>
          <p:cNvSpPr/>
          <p:nvPr/>
        </p:nvSpPr>
        <p:spPr>
          <a:xfrm>
            <a:off x="5669280" y="2276529"/>
            <a:ext cx="91440" cy="91440"/>
          </a:xfrm>
          <a:prstGeom prst="line">
            <a:avLst/>
          </a:prstGeom>
          <a:noFill/>
          <a:ln w="15875">
            <a:solidFill>
              <a:srgbClr val="0D7877"/>
            </a:solidFill>
            <a:prstDash val="solid"/>
          </a:ln>
        </p:spPr>
      </p:sp>
      <p:sp>
        <p:nvSpPr>
          <p:cNvPr id="104" name="Shape 102"/>
          <p:cNvSpPr/>
          <p:nvPr/>
        </p:nvSpPr>
        <p:spPr>
          <a:xfrm flipV="1">
            <a:off x="5669280" y="2276529"/>
            <a:ext cx="91440" cy="91440"/>
          </a:xfrm>
          <a:prstGeom prst="line">
            <a:avLst/>
          </a:prstGeom>
          <a:noFill/>
          <a:ln w="15875">
            <a:solidFill>
              <a:srgbClr val="0D7877"/>
            </a:solidFill>
            <a:prstDash val="solid"/>
          </a:ln>
        </p:spPr>
      </p:sp>
      <p:sp>
        <p:nvSpPr>
          <p:cNvPr id="105" name="Shape 103"/>
          <p:cNvSpPr/>
          <p:nvPr/>
        </p:nvSpPr>
        <p:spPr>
          <a:xfrm flipV="1">
            <a:off x="1325880" y="4594533"/>
            <a:ext cx="877824" cy="23187"/>
          </a:xfrm>
          <a:prstGeom prst="line">
            <a:avLst/>
          </a:prstGeom>
          <a:noFill/>
          <a:ln w="25400">
            <a:solidFill>
              <a:srgbClr val="B8730A"/>
            </a:solidFill>
            <a:prstDash val="solid"/>
          </a:ln>
        </p:spPr>
      </p:sp>
      <p:sp>
        <p:nvSpPr>
          <p:cNvPr id="106" name="Shape 104"/>
          <p:cNvSpPr/>
          <p:nvPr/>
        </p:nvSpPr>
        <p:spPr>
          <a:xfrm flipV="1">
            <a:off x="2203704" y="4548160"/>
            <a:ext cx="877824" cy="46373"/>
          </a:xfrm>
          <a:prstGeom prst="line">
            <a:avLst/>
          </a:prstGeom>
          <a:noFill/>
          <a:ln w="25400">
            <a:solidFill>
              <a:srgbClr val="B8730A"/>
            </a:solidFill>
            <a:prstDash val="solid"/>
          </a:ln>
        </p:spPr>
      </p:sp>
      <p:sp>
        <p:nvSpPr>
          <p:cNvPr id="107" name="Shape 105"/>
          <p:cNvSpPr/>
          <p:nvPr/>
        </p:nvSpPr>
        <p:spPr>
          <a:xfrm flipV="1">
            <a:off x="3081528" y="4524974"/>
            <a:ext cx="877824" cy="23187"/>
          </a:xfrm>
          <a:prstGeom prst="line">
            <a:avLst/>
          </a:prstGeom>
          <a:noFill/>
          <a:ln w="25400">
            <a:solidFill>
              <a:srgbClr val="B8730A"/>
            </a:solidFill>
            <a:prstDash val="solid"/>
          </a:ln>
        </p:spPr>
      </p:sp>
      <p:sp>
        <p:nvSpPr>
          <p:cNvPr id="108" name="Shape 106"/>
          <p:cNvSpPr/>
          <p:nvPr/>
        </p:nvSpPr>
        <p:spPr>
          <a:xfrm flipV="1">
            <a:off x="3959352" y="4478601"/>
            <a:ext cx="877824" cy="46373"/>
          </a:xfrm>
          <a:prstGeom prst="line">
            <a:avLst/>
          </a:prstGeom>
          <a:noFill/>
          <a:ln w="25400">
            <a:solidFill>
              <a:srgbClr val="B8730A"/>
            </a:solidFill>
            <a:prstDash val="solid"/>
          </a:ln>
        </p:spPr>
      </p:sp>
      <p:sp>
        <p:nvSpPr>
          <p:cNvPr id="109" name="Shape 107"/>
          <p:cNvSpPr/>
          <p:nvPr/>
        </p:nvSpPr>
        <p:spPr>
          <a:xfrm flipV="1">
            <a:off x="4837176" y="4455414"/>
            <a:ext cx="877824" cy="23187"/>
          </a:xfrm>
          <a:prstGeom prst="line">
            <a:avLst/>
          </a:prstGeom>
          <a:noFill/>
          <a:ln w="25400">
            <a:solidFill>
              <a:srgbClr val="B8730A"/>
            </a:solidFill>
            <a:prstDash val="solid"/>
          </a:ln>
        </p:spPr>
      </p:sp>
      <p:sp>
        <p:nvSpPr>
          <p:cNvPr id="110" name="Shape 108"/>
          <p:cNvSpPr/>
          <p:nvPr/>
        </p:nvSpPr>
        <p:spPr>
          <a:xfrm>
            <a:off x="1280160" y="4572000"/>
            <a:ext cx="91440" cy="91440"/>
          </a:xfrm>
          <a:prstGeom prst="line">
            <a:avLst/>
          </a:prstGeom>
          <a:noFill/>
          <a:ln w="15875">
            <a:solidFill>
              <a:srgbClr val="B8730A"/>
            </a:solidFill>
            <a:prstDash val="solid"/>
          </a:ln>
        </p:spPr>
      </p:sp>
      <p:sp>
        <p:nvSpPr>
          <p:cNvPr id="111" name="Shape 109"/>
          <p:cNvSpPr/>
          <p:nvPr/>
        </p:nvSpPr>
        <p:spPr>
          <a:xfrm flipV="1">
            <a:off x="1280160" y="4572000"/>
            <a:ext cx="91440" cy="91440"/>
          </a:xfrm>
          <a:prstGeom prst="line">
            <a:avLst/>
          </a:prstGeom>
          <a:noFill/>
          <a:ln w="15875">
            <a:solidFill>
              <a:srgbClr val="B8730A"/>
            </a:solidFill>
            <a:prstDash val="solid"/>
          </a:ln>
        </p:spPr>
      </p:sp>
      <p:sp>
        <p:nvSpPr>
          <p:cNvPr id="112" name="Shape 110"/>
          <p:cNvSpPr/>
          <p:nvPr/>
        </p:nvSpPr>
        <p:spPr>
          <a:xfrm>
            <a:off x="2157984" y="4548813"/>
            <a:ext cx="91440" cy="91440"/>
          </a:xfrm>
          <a:prstGeom prst="line">
            <a:avLst/>
          </a:prstGeom>
          <a:noFill/>
          <a:ln w="15875">
            <a:solidFill>
              <a:srgbClr val="B8730A"/>
            </a:solidFill>
            <a:prstDash val="solid"/>
          </a:ln>
        </p:spPr>
      </p:sp>
      <p:sp>
        <p:nvSpPr>
          <p:cNvPr id="113" name="Shape 111"/>
          <p:cNvSpPr/>
          <p:nvPr/>
        </p:nvSpPr>
        <p:spPr>
          <a:xfrm flipV="1">
            <a:off x="2157984" y="4548813"/>
            <a:ext cx="91440" cy="91440"/>
          </a:xfrm>
          <a:prstGeom prst="line">
            <a:avLst/>
          </a:prstGeom>
          <a:noFill/>
          <a:ln w="15875">
            <a:solidFill>
              <a:srgbClr val="B8730A"/>
            </a:solidFill>
            <a:prstDash val="solid"/>
          </a:ln>
        </p:spPr>
      </p:sp>
      <p:sp>
        <p:nvSpPr>
          <p:cNvPr id="114" name="Shape 112"/>
          <p:cNvSpPr/>
          <p:nvPr/>
        </p:nvSpPr>
        <p:spPr>
          <a:xfrm>
            <a:off x="3035808" y="4502440"/>
            <a:ext cx="91440" cy="91440"/>
          </a:xfrm>
          <a:prstGeom prst="line">
            <a:avLst/>
          </a:prstGeom>
          <a:noFill/>
          <a:ln w="15875">
            <a:solidFill>
              <a:srgbClr val="B8730A"/>
            </a:solidFill>
            <a:prstDash val="solid"/>
          </a:ln>
        </p:spPr>
      </p:sp>
      <p:sp>
        <p:nvSpPr>
          <p:cNvPr id="115" name="Shape 113"/>
          <p:cNvSpPr/>
          <p:nvPr/>
        </p:nvSpPr>
        <p:spPr>
          <a:xfrm flipV="1">
            <a:off x="3035808" y="4502440"/>
            <a:ext cx="91440" cy="91440"/>
          </a:xfrm>
          <a:prstGeom prst="line">
            <a:avLst/>
          </a:prstGeom>
          <a:noFill/>
          <a:ln w="15875">
            <a:solidFill>
              <a:srgbClr val="B8730A"/>
            </a:solidFill>
            <a:prstDash val="solid"/>
          </a:ln>
        </p:spPr>
      </p:sp>
      <p:sp>
        <p:nvSpPr>
          <p:cNvPr id="116" name="Shape 114"/>
          <p:cNvSpPr/>
          <p:nvPr/>
        </p:nvSpPr>
        <p:spPr>
          <a:xfrm>
            <a:off x="3913632" y="4479254"/>
            <a:ext cx="91440" cy="91440"/>
          </a:xfrm>
          <a:prstGeom prst="line">
            <a:avLst/>
          </a:prstGeom>
          <a:noFill/>
          <a:ln w="15875">
            <a:solidFill>
              <a:srgbClr val="B8730A"/>
            </a:solidFill>
            <a:prstDash val="solid"/>
          </a:ln>
        </p:spPr>
      </p:sp>
      <p:sp>
        <p:nvSpPr>
          <p:cNvPr id="117" name="Shape 115"/>
          <p:cNvSpPr/>
          <p:nvPr/>
        </p:nvSpPr>
        <p:spPr>
          <a:xfrm flipV="1">
            <a:off x="3913632" y="4479254"/>
            <a:ext cx="91440" cy="91440"/>
          </a:xfrm>
          <a:prstGeom prst="line">
            <a:avLst/>
          </a:prstGeom>
          <a:noFill/>
          <a:ln w="15875">
            <a:solidFill>
              <a:srgbClr val="B8730A"/>
            </a:solidFill>
            <a:prstDash val="solid"/>
          </a:ln>
        </p:spPr>
      </p:sp>
      <p:sp>
        <p:nvSpPr>
          <p:cNvPr id="118" name="Shape 116"/>
          <p:cNvSpPr/>
          <p:nvPr/>
        </p:nvSpPr>
        <p:spPr>
          <a:xfrm>
            <a:off x="4791456" y="4432881"/>
            <a:ext cx="91440" cy="91440"/>
          </a:xfrm>
          <a:prstGeom prst="line">
            <a:avLst/>
          </a:prstGeom>
          <a:noFill/>
          <a:ln w="15875">
            <a:solidFill>
              <a:srgbClr val="B8730A"/>
            </a:solidFill>
            <a:prstDash val="solid"/>
          </a:ln>
        </p:spPr>
      </p:sp>
      <p:sp>
        <p:nvSpPr>
          <p:cNvPr id="119" name="Shape 117"/>
          <p:cNvSpPr/>
          <p:nvPr/>
        </p:nvSpPr>
        <p:spPr>
          <a:xfrm flipV="1">
            <a:off x="4791456" y="4432881"/>
            <a:ext cx="91440" cy="91440"/>
          </a:xfrm>
          <a:prstGeom prst="line">
            <a:avLst/>
          </a:prstGeom>
          <a:noFill/>
          <a:ln w="15875">
            <a:solidFill>
              <a:srgbClr val="B8730A"/>
            </a:solidFill>
            <a:prstDash val="solid"/>
          </a:ln>
        </p:spPr>
      </p:sp>
      <p:sp>
        <p:nvSpPr>
          <p:cNvPr id="120" name="Shape 118"/>
          <p:cNvSpPr/>
          <p:nvPr/>
        </p:nvSpPr>
        <p:spPr>
          <a:xfrm>
            <a:off x="5669280" y="4409694"/>
            <a:ext cx="91440" cy="91440"/>
          </a:xfrm>
          <a:prstGeom prst="line">
            <a:avLst/>
          </a:prstGeom>
          <a:noFill/>
          <a:ln w="15875">
            <a:solidFill>
              <a:srgbClr val="B8730A"/>
            </a:solidFill>
            <a:prstDash val="solid"/>
          </a:ln>
        </p:spPr>
      </p:sp>
      <p:sp>
        <p:nvSpPr>
          <p:cNvPr id="121" name="Shape 119"/>
          <p:cNvSpPr/>
          <p:nvPr/>
        </p:nvSpPr>
        <p:spPr>
          <a:xfrm flipV="1">
            <a:off x="5669280" y="4409694"/>
            <a:ext cx="91440" cy="91440"/>
          </a:xfrm>
          <a:prstGeom prst="line">
            <a:avLst/>
          </a:prstGeom>
          <a:noFill/>
          <a:ln w="15875">
            <a:solidFill>
              <a:srgbClr val="B8730A"/>
            </a:solidFill>
            <a:prstDash val="solid"/>
          </a:ln>
        </p:spPr>
      </p:sp>
      <p:sp>
        <p:nvSpPr>
          <p:cNvPr id="122" name="Shape 120"/>
          <p:cNvSpPr/>
          <p:nvPr/>
        </p:nvSpPr>
        <p:spPr>
          <a:xfrm>
            <a:off x="1325880" y="4617720"/>
            <a:ext cx="877824" cy="91"/>
          </a:xfrm>
          <a:prstGeom prst="line">
            <a:avLst/>
          </a:prstGeom>
          <a:noFill/>
          <a:ln w="25400">
            <a:solidFill>
              <a:srgbClr val="6B7385"/>
            </a:solidFill>
            <a:prstDash val="dash"/>
          </a:ln>
        </p:spPr>
      </p:sp>
      <p:sp>
        <p:nvSpPr>
          <p:cNvPr id="123" name="Shape 121"/>
          <p:cNvSpPr/>
          <p:nvPr/>
        </p:nvSpPr>
        <p:spPr>
          <a:xfrm flipV="1">
            <a:off x="2203704" y="4594533"/>
            <a:ext cx="877824" cy="23187"/>
          </a:xfrm>
          <a:prstGeom prst="line">
            <a:avLst/>
          </a:prstGeom>
          <a:noFill/>
          <a:ln w="25400">
            <a:solidFill>
              <a:srgbClr val="6B7385"/>
            </a:solidFill>
            <a:prstDash val="dash"/>
          </a:ln>
        </p:spPr>
      </p:sp>
      <p:sp>
        <p:nvSpPr>
          <p:cNvPr id="124" name="Shape 122"/>
          <p:cNvSpPr/>
          <p:nvPr/>
        </p:nvSpPr>
        <p:spPr>
          <a:xfrm>
            <a:off x="3081528" y="4594533"/>
            <a:ext cx="877824" cy="91"/>
          </a:xfrm>
          <a:prstGeom prst="line">
            <a:avLst/>
          </a:prstGeom>
          <a:noFill/>
          <a:ln w="25400">
            <a:solidFill>
              <a:srgbClr val="6B7385"/>
            </a:solidFill>
            <a:prstDash val="dash"/>
          </a:ln>
        </p:spPr>
      </p:sp>
      <p:sp>
        <p:nvSpPr>
          <p:cNvPr id="125" name="Shape 123"/>
          <p:cNvSpPr/>
          <p:nvPr/>
        </p:nvSpPr>
        <p:spPr>
          <a:xfrm flipV="1">
            <a:off x="3959352" y="4571347"/>
            <a:ext cx="877824" cy="23187"/>
          </a:xfrm>
          <a:prstGeom prst="line">
            <a:avLst/>
          </a:prstGeom>
          <a:noFill/>
          <a:ln w="25400">
            <a:solidFill>
              <a:srgbClr val="6B7385"/>
            </a:solidFill>
            <a:prstDash val="dash"/>
          </a:ln>
        </p:spPr>
      </p:sp>
      <p:sp>
        <p:nvSpPr>
          <p:cNvPr id="126" name="Shape 124"/>
          <p:cNvSpPr/>
          <p:nvPr/>
        </p:nvSpPr>
        <p:spPr>
          <a:xfrm>
            <a:off x="4837176" y="4571347"/>
            <a:ext cx="877824" cy="91"/>
          </a:xfrm>
          <a:prstGeom prst="line">
            <a:avLst/>
          </a:prstGeom>
          <a:noFill/>
          <a:ln w="25400">
            <a:solidFill>
              <a:srgbClr val="6B7385"/>
            </a:solidFill>
            <a:prstDash val="dash"/>
          </a:ln>
        </p:spPr>
      </p:sp>
      <p:sp>
        <p:nvSpPr>
          <p:cNvPr id="127" name="Shape 125"/>
          <p:cNvSpPr/>
          <p:nvPr/>
        </p:nvSpPr>
        <p:spPr>
          <a:xfrm>
            <a:off x="1280160" y="4572000"/>
            <a:ext cx="91440" cy="91440"/>
          </a:xfrm>
          <a:prstGeom prst="line">
            <a:avLst/>
          </a:prstGeom>
          <a:noFill/>
          <a:ln w="15875">
            <a:solidFill>
              <a:srgbClr val="6B7385"/>
            </a:solidFill>
            <a:prstDash val="solid"/>
          </a:ln>
        </p:spPr>
      </p:sp>
      <p:sp>
        <p:nvSpPr>
          <p:cNvPr id="128" name="Shape 126"/>
          <p:cNvSpPr/>
          <p:nvPr/>
        </p:nvSpPr>
        <p:spPr>
          <a:xfrm flipV="1">
            <a:off x="1280160" y="4572000"/>
            <a:ext cx="91440" cy="91440"/>
          </a:xfrm>
          <a:prstGeom prst="line">
            <a:avLst/>
          </a:prstGeom>
          <a:noFill/>
          <a:ln w="15875">
            <a:solidFill>
              <a:srgbClr val="6B7385"/>
            </a:solidFill>
            <a:prstDash val="solid"/>
          </a:ln>
        </p:spPr>
      </p:sp>
      <p:sp>
        <p:nvSpPr>
          <p:cNvPr id="129" name="Shape 127"/>
          <p:cNvSpPr/>
          <p:nvPr/>
        </p:nvSpPr>
        <p:spPr>
          <a:xfrm>
            <a:off x="2157984" y="4572000"/>
            <a:ext cx="91440" cy="91440"/>
          </a:xfrm>
          <a:prstGeom prst="line">
            <a:avLst/>
          </a:prstGeom>
          <a:noFill/>
          <a:ln w="15875">
            <a:solidFill>
              <a:srgbClr val="6B7385"/>
            </a:solidFill>
            <a:prstDash val="solid"/>
          </a:ln>
        </p:spPr>
      </p:sp>
      <p:sp>
        <p:nvSpPr>
          <p:cNvPr id="130" name="Shape 128"/>
          <p:cNvSpPr/>
          <p:nvPr/>
        </p:nvSpPr>
        <p:spPr>
          <a:xfrm flipV="1">
            <a:off x="2157984" y="4572000"/>
            <a:ext cx="91440" cy="91440"/>
          </a:xfrm>
          <a:prstGeom prst="line">
            <a:avLst/>
          </a:prstGeom>
          <a:noFill/>
          <a:ln w="15875">
            <a:solidFill>
              <a:srgbClr val="6B7385"/>
            </a:solidFill>
            <a:prstDash val="solid"/>
          </a:ln>
        </p:spPr>
      </p:sp>
      <p:sp>
        <p:nvSpPr>
          <p:cNvPr id="131" name="Shape 129"/>
          <p:cNvSpPr/>
          <p:nvPr/>
        </p:nvSpPr>
        <p:spPr>
          <a:xfrm>
            <a:off x="3035808" y="4548813"/>
            <a:ext cx="91440" cy="91440"/>
          </a:xfrm>
          <a:prstGeom prst="line">
            <a:avLst/>
          </a:prstGeom>
          <a:noFill/>
          <a:ln w="15875">
            <a:solidFill>
              <a:srgbClr val="6B7385"/>
            </a:solidFill>
            <a:prstDash val="solid"/>
          </a:ln>
        </p:spPr>
      </p:sp>
      <p:sp>
        <p:nvSpPr>
          <p:cNvPr id="132" name="Shape 130"/>
          <p:cNvSpPr/>
          <p:nvPr/>
        </p:nvSpPr>
        <p:spPr>
          <a:xfrm flipV="1">
            <a:off x="3035808" y="4548813"/>
            <a:ext cx="91440" cy="91440"/>
          </a:xfrm>
          <a:prstGeom prst="line">
            <a:avLst/>
          </a:prstGeom>
          <a:noFill/>
          <a:ln w="15875">
            <a:solidFill>
              <a:srgbClr val="6B7385"/>
            </a:solidFill>
            <a:prstDash val="solid"/>
          </a:ln>
        </p:spPr>
      </p:sp>
      <p:sp>
        <p:nvSpPr>
          <p:cNvPr id="133" name="Shape 131"/>
          <p:cNvSpPr/>
          <p:nvPr/>
        </p:nvSpPr>
        <p:spPr>
          <a:xfrm>
            <a:off x="3913632" y="4548813"/>
            <a:ext cx="91440" cy="91440"/>
          </a:xfrm>
          <a:prstGeom prst="line">
            <a:avLst/>
          </a:prstGeom>
          <a:noFill/>
          <a:ln w="15875">
            <a:solidFill>
              <a:srgbClr val="6B7385"/>
            </a:solidFill>
            <a:prstDash val="solid"/>
          </a:ln>
        </p:spPr>
      </p:sp>
      <p:sp>
        <p:nvSpPr>
          <p:cNvPr id="134" name="Shape 132"/>
          <p:cNvSpPr/>
          <p:nvPr/>
        </p:nvSpPr>
        <p:spPr>
          <a:xfrm flipV="1">
            <a:off x="3913632" y="4548813"/>
            <a:ext cx="91440" cy="91440"/>
          </a:xfrm>
          <a:prstGeom prst="line">
            <a:avLst/>
          </a:prstGeom>
          <a:noFill/>
          <a:ln w="15875">
            <a:solidFill>
              <a:srgbClr val="6B7385"/>
            </a:solidFill>
            <a:prstDash val="solid"/>
          </a:ln>
        </p:spPr>
      </p:sp>
      <p:sp>
        <p:nvSpPr>
          <p:cNvPr id="135" name="Shape 133"/>
          <p:cNvSpPr/>
          <p:nvPr/>
        </p:nvSpPr>
        <p:spPr>
          <a:xfrm>
            <a:off x="4791456" y="4525627"/>
            <a:ext cx="91440" cy="91440"/>
          </a:xfrm>
          <a:prstGeom prst="line">
            <a:avLst/>
          </a:prstGeom>
          <a:noFill/>
          <a:ln w="15875">
            <a:solidFill>
              <a:srgbClr val="6B7385"/>
            </a:solidFill>
            <a:prstDash val="solid"/>
          </a:ln>
        </p:spPr>
      </p:sp>
      <p:sp>
        <p:nvSpPr>
          <p:cNvPr id="136" name="Shape 134"/>
          <p:cNvSpPr/>
          <p:nvPr/>
        </p:nvSpPr>
        <p:spPr>
          <a:xfrm flipV="1">
            <a:off x="4791456" y="4525627"/>
            <a:ext cx="91440" cy="91440"/>
          </a:xfrm>
          <a:prstGeom prst="line">
            <a:avLst/>
          </a:prstGeom>
          <a:noFill/>
          <a:ln w="15875">
            <a:solidFill>
              <a:srgbClr val="6B7385"/>
            </a:solidFill>
            <a:prstDash val="solid"/>
          </a:ln>
        </p:spPr>
      </p:sp>
      <p:sp>
        <p:nvSpPr>
          <p:cNvPr id="137" name="Shape 135"/>
          <p:cNvSpPr/>
          <p:nvPr/>
        </p:nvSpPr>
        <p:spPr>
          <a:xfrm>
            <a:off x="5669280" y="4525627"/>
            <a:ext cx="91440" cy="91440"/>
          </a:xfrm>
          <a:prstGeom prst="line">
            <a:avLst/>
          </a:prstGeom>
          <a:noFill/>
          <a:ln w="15875">
            <a:solidFill>
              <a:srgbClr val="6B7385"/>
            </a:solidFill>
            <a:prstDash val="solid"/>
          </a:ln>
        </p:spPr>
      </p:sp>
      <p:sp>
        <p:nvSpPr>
          <p:cNvPr id="138" name="Shape 136"/>
          <p:cNvSpPr/>
          <p:nvPr/>
        </p:nvSpPr>
        <p:spPr>
          <a:xfrm flipV="1">
            <a:off x="5669280" y="4525627"/>
            <a:ext cx="91440" cy="91440"/>
          </a:xfrm>
          <a:prstGeom prst="line">
            <a:avLst/>
          </a:prstGeom>
          <a:noFill/>
          <a:ln w="15875">
            <a:solidFill>
              <a:srgbClr val="6B7385"/>
            </a:solidFill>
            <a:prstDash val="solid"/>
          </a:ln>
        </p:spPr>
      </p:sp>
      <p:sp>
        <p:nvSpPr>
          <p:cNvPr id="139" name="Shape 137"/>
          <p:cNvSpPr/>
          <p:nvPr/>
        </p:nvSpPr>
        <p:spPr>
          <a:xfrm>
            <a:off x="1457554" y="1464346"/>
            <a:ext cx="1737360" cy="1051560"/>
          </a:xfrm>
          <a:prstGeom prst="rect">
            <a:avLst/>
          </a:prstGeom>
          <a:solidFill>
            <a:srgbClr val="FFFFFF"/>
          </a:solidFill>
          <a:ln w="12700">
            <a:solidFill>
              <a:srgbClr val="CFE0DE"/>
            </a:solidFill>
            <a:prstDash val="solid"/>
          </a:ln>
        </p:spPr>
      </p:sp>
      <p:sp>
        <p:nvSpPr>
          <p:cNvPr id="140" name="Shape 138"/>
          <p:cNvSpPr/>
          <p:nvPr/>
        </p:nvSpPr>
        <p:spPr>
          <a:xfrm>
            <a:off x="1548994" y="1692946"/>
            <a:ext cx="320040" cy="91"/>
          </a:xfrm>
          <a:prstGeom prst="line">
            <a:avLst/>
          </a:prstGeom>
          <a:noFill/>
          <a:ln w="25400">
            <a:solidFill>
              <a:srgbClr val="C8414C"/>
            </a:solidFill>
            <a:prstDash val="solid"/>
          </a:ln>
        </p:spPr>
      </p:sp>
      <p:sp>
        <p:nvSpPr>
          <p:cNvPr id="141" name="Text 139"/>
          <p:cNvSpPr/>
          <p:nvPr/>
        </p:nvSpPr>
        <p:spPr>
          <a:xfrm>
            <a:off x="1933042" y="1601506"/>
            <a:ext cx="1188720" cy="182880"/>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glucose</a:t>
            </a:r>
            <a:endParaRPr lang="en-US" sz="1000" dirty="0"/>
          </a:p>
        </p:txBody>
      </p:sp>
      <p:sp>
        <p:nvSpPr>
          <p:cNvPr id="142" name="Shape 140"/>
          <p:cNvSpPr/>
          <p:nvPr/>
        </p:nvSpPr>
        <p:spPr>
          <a:xfrm>
            <a:off x="1548994" y="1921546"/>
            <a:ext cx="320040" cy="91"/>
          </a:xfrm>
          <a:prstGeom prst="line">
            <a:avLst/>
          </a:prstGeom>
          <a:noFill/>
          <a:ln w="25400">
            <a:solidFill>
              <a:srgbClr val="0D7877"/>
            </a:solidFill>
            <a:prstDash val="solid"/>
          </a:ln>
        </p:spPr>
      </p:sp>
      <p:sp>
        <p:nvSpPr>
          <p:cNvPr id="143" name="Text 141"/>
          <p:cNvSpPr/>
          <p:nvPr/>
        </p:nvSpPr>
        <p:spPr>
          <a:xfrm>
            <a:off x="1933042" y="1830106"/>
            <a:ext cx="1188720" cy="182880"/>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sucrose</a:t>
            </a:r>
            <a:endParaRPr lang="en-US" sz="1000" dirty="0"/>
          </a:p>
        </p:txBody>
      </p:sp>
      <p:sp>
        <p:nvSpPr>
          <p:cNvPr id="144" name="Shape 142"/>
          <p:cNvSpPr/>
          <p:nvPr/>
        </p:nvSpPr>
        <p:spPr>
          <a:xfrm>
            <a:off x="1548994" y="2150146"/>
            <a:ext cx="320040" cy="91"/>
          </a:xfrm>
          <a:prstGeom prst="line">
            <a:avLst/>
          </a:prstGeom>
          <a:noFill/>
          <a:ln w="25400">
            <a:solidFill>
              <a:srgbClr val="B8730A"/>
            </a:solidFill>
            <a:prstDash val="solid"/>
          </a:ln>
        </p:spPr>
      </p:sp>
      <p:sp>
        <p:nvSpPr>
          <p:cNvPr id="145" name="Text 143"/>
          <p:cNvSpPr/>
          <p:nvPr/>
        </p:nvSpPr>
        <p:spPr>
          <a:xfrm>
            <a:off x="1933042" y="2058706"/>
            <a:ext cx="1188720" cy="182880"/>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starch</a:t>
            </a:r>
            <a:endParaRPr lang="en-US" sz="1000" dirty="0"/>
          </a:p>
        </p:txBody>
      </p:sp>
      <p:sp>
        <p:nvSpPr>
          <p:cNvPr id="146" name="Shape 144"/>
          <p:cNvSpPr/>
          <p:nvPr/>
        </p:nvSpPr>
        <p:spPr>
          <a:xfrm>
            <a:off x="1548994" y="2378746"/>
            <a:ext cx="320040" cy="91"/>
          </a:xfrm>
          <a:prstGeom prst="line">
            <a:avLst/>
          </a:prstGeom>
          <a:noFill/>
          <a:ln w="25400">
            <a:solidFill>
              <a:srgbClr val="6B7385"/>
            </a:solidFill>
            <a:prstDash val="dash"/>
          </a:ln>
        </p:spPr>
      </p:sp>
      <p:sp>
        <p:nvSpPr>
          <p:cNvPr id="147" name="Text 145"/>
          <p:cNvSpPr/>
          <p:nvPr/>
        </p:nvSpPr>
        <p:spPr>
          <a:xfrm>
            <a:off x="1933042" y="2287306"/>
            <a:ext cx="1188720" cy="182880"/>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water (control)</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217920" y="1188720"/>
          <a:ext cx="5559552" cy="914400"/>
        </p:xfrm>
        <a:graphic>
          <a:graphicData uri="http://schemas.openxmlformats.org/drawingml/2006/table">
            <a:tbl>
              <a:tblPr/>
              <a:tblGrid>
                <a:gridCol w="1170432"/>
                <a:gridCol w="731520"/>
                <a:gridCol w="731520"/>
                <a:gridCol w="731520"/>
                <a:gridCol w="822960"/>
                <a:gridCol w="1371600"/>
              </a:tblGrid>
              <a:tr h="246888">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Substrate</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Run 1</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Run 2</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Run 3</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Mean</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Rate</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r>
              <a:tr h="246888">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glucose</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12.0</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11.6</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12.4</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12.0</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1.20</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r h="246888">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sucrose</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9.9</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10.3</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8414C"/>
                          </a:solidFill>
                          <a:latin typeface="Calibri" pitchFamily="34" charset="0"/>
                          <a:ea typeface="Calibri" pitchFamily="34" charset="-122"/>
                          <a:cs typeface="Calibri" pitchFamily="34" charset="-120"/>
                        </a:rPr>
                        <a:t>6.1</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10.1</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1.01</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r>
              <a:tr h="246888">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starch</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0.7</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0.5</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0.6</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0.6</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0.06</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r h="246888">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water</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0.2</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0.1</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0.0</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0.1</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0.01</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r>
            </a:tbl>
          </a:graphicData>
        </a:graphic>
      </p:graphicFrame>
      <p:sp>
        <p:nvSpPr>
          <p:cNvPr id="149" name="Text 146"/>
          <p:cNvSpPr/>
          <p:nvPr/>
        </p:nvSpPr>
        <p:spPr>
          <a:xfrm>
            <a:off x="6217920" y="2450592"/>
            <a:ext cx="5559552" cy="201168"/>
          </a:xfrm>
          <a:prstGeom prst="rect">
            <a:avLst/>
          </a:prstGeom>
          <a:noFill/>
          <a:ln/>
        </p:spPr>
        <p:txBody>
          <a:bodyPr wrap="square" lIns="0" tIns="0" rIns="0" bIns="0" rtlCol="0" anchor="ctr"/>
          <a:lstStyle/>
          <a:p>
            <a:pPr algn="l" indent="0" marL="0">
              <a:buNone/>
            </a:pPr>
            <a:r>
              <a:rPr lang="en-US" sz="1000" i="1" dirty="0">
                <a:solidFill>
                  <a:srgbClr val="6B7385"/>
                </a:solidFill>
                <a:latin typeface="Calibri" pitchFamily="34" charset="0"/>
                <a:ea typeface="Calibri" pitchFamily="34" charset="-122"/>
                <a:cs typeface="Calibri" pitchFamily="34" charset="-120"/>
              </a:rPr>
              <a:t>volume of gas in 10 min / cm³ • rate / cm³ per min • </a:t>
            </a:r>
            <a:r>
              <a:rPr lang="en-US" sz="1000" b="1" i="1" dirty="0">
                <a:solidFill>
                  <a:srgbClr val="C8414C"/>
                </a:solidFill>
                <a:latin typeface="Calibri" pitchFamily="34" charset="0"/>
                <a:ea typeface="Calibri" pitchFamily="34" charset="-122"/>
                <a:cs typeface="Calibri" pitchFamily="34" charset="-120"/>
              </a:rPr>
              <a:t>red</a:t>
            </a:r>
            <a:r>
              <a:rPr lang="en-US" sz="1000" i="1" dirty="0">
                <a:solidFill>
                  <a:srgbClr val="6B7385"/>
                </a:solidFill>
                <a:latin typeface="Calibri" pitchFamily="34" charset="0"/>
                <a:ea typeface="Calibri" pitchFamily="34" charset="-122"/>
                <a:cs typeface="Calibri" pitchFamily="34" charset="-120"/>
              </a:rPr>
              <a:t> = anomaly, left out of the mean</a:t>
            </a:r>
            <a:endParaRPr lang="en-US" sz="1000" dirty="0"/>
          </a:p>
        </p:txBody>
      </p:sp>
      <p:sp>
        <p:nvSpPr>
          <p:cNvPr id="150" name="Shape 147"/>
          <p:cNvSpPr/>
          <p:nvPr/>
        </p:nvSpPr>
        <p:spPr>
          <a:xfrm>
            <a:off x="6217920" y="2715768"/>
            <a:ext cx="5559552" cy="1280160"/>
          </a:xfrm>
          <a:prstGeom prst="roundRect">
            <a:avLst>
              <a:gd name="adj" fmla="val 4286"/>
            </a:avLst>
          </a:prstGeom>
          <a:solidFill>
            <a:srgbClr val="F4FAF9"/>
          </a:solidFill>
          <a:ln w="9525">
            <a:solidFill>
              <a:srgbClr val="CFE0DE"/>
            </a:solidFill>
            <a:prstDash val="solid"/>
          </a:ln>
        </p:spPr>
      </p:sp>
      <p:sp>
        <p:nvSpPr>
          <p:cNvPr id="151" name="Text 148"/>
          <p:cNvSpPr/>
          <p:nvPr/>
        </p:nvSpPr>
        <p:spPr>
          <a:xfrm>
            <a:off x="6382512" y="2807208"/>
            <a:ext cx="5230368"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What the results show</a:t>
            </a:r>
            <a:endParaRPr lang="en-US" sz="1300" dirty="0"/>
          </a:p>
        </p:txBody>
      </p:sp>
      <p:sp>
        <p:nvSpPr>
          <p:cNvPr id="152" name="Text 149"/>
          <p:cNvSpPr/>
          <p:nvPr/>
        </p:nvSpPr>
        <p:spPr>
          <a:xfrm>
            <a:off x="6382512" y="3136392"/>
            <a:ext cx="5230368" cy="786384"/>
          </a:xfrm>
          <a:prstGeom prst="rect">
            <a:avLst/>
          </a:prstGeom>
          <a:noFill/>
          <a:ln/>
        </p:spPr>
        <p:txBody>
          <a:bodyPr wrap="square" lIns="0" tIns="0" rIns="0" bIns="0" rtlCol="0" anchor="t"/>
          <a:lstStyle/>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Glucose</a:t>
            </a:r>
            <a:r>
              <a:rPr lang="en-US" sz="1050" dirty="0">
                <a:solidFill>
                  <a:srgbClr val="262B3A"/>
                </a:solidFill>
                <a:latin typeface="Calibri" pitchFamily="34" charset="0"/>
                <a:ea typeface="Calibri" pitchFamily="34" charset="-122"/>
                <a:cs typeface="Calibri" pitchFamily="34" charset="-120"/>
              </a:rPr>
              <a:t> gives the fastest rate: yeast respires it directly.</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Sucrose</a:t>
            </a:r>
            <a:r>
              <a:rPr lang="en-US" sz="1050" dirty="0">
                <a:solidFill>
                  <a:srgbClr val="262B3A"/>
                </a:solidFill>
                <a:latin typeface="Calibri" pitchFamily="34" charset="0"/>
                <a:ea typeface="Calibri" pitchFamily="34" charset="-122"/>
                <a:cs typeface="Calibri" pitchFamily="34" charset="-120"/>
              </a:rPr>
              <a:t> is a little slower: yeast enzymes must first break it into glucose and fructose.</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Starch</a:t>
            </a:r>
            <a:r>
              <a:rPr lang="en-US" sz="1050" dirty="0">
                <a:solidFill>
                  <a:srgbClr val="262B3A"/>
                </a:solidFill>
                <a:latin typeface="Calibri" pitchFamily="34" charset="0"/>
                <a:ea typeface="Calibri" pitchFamily="34" charset="-122"/>
                <a:cs typeface="Calibri" pitchFamily="34" charset="-120"/>
              </a:rPr>
              <a:t> gives almost no gas: yeast cannot easily break starch down (it makes little amylase).</a:t>
            </a:r>
            <a:endParaRPr lang="en-US" sz="1050" dirty="0"/>
          </a:p>
        </p:txBody>
      </p:sp>
      <p:sp>
        <p:nvSpPr>
          <p:cNvPr id="153" name="Shape 150"/>
          <p:cNvSpPr/>
          <p:nvPr/>
        </p:nvSpPr>
        <p:spPr>
          <a:xfrm>
            <a:off x="6217920" y="4096512"/>
            <a:ext cx="5559552" cy="1618488"/>
          </a:xfrm>
          <a:prstGeom prst="roundRect">
            <a:avLst>
              <a:gd name="adj" fmla="val 3390"/>
            </a:avLst>
          </a:prstGeom>
          <a:solidFill>
            <a:srgbClr val="FFF4E0"/>
          </a:solidFill>
          <a:ln w="9525">
            <a:solidFill>
              <a:srgbClr val="F1D9A8"/>
            </a:solidFill>
            <a:prstDash val="solid"/>
          </a:ln>
        </p:spPr>
      </p:sp>
      <p:sp>
        <p:nvSpPr>
          <p:cNvPr id="154" name="Text 151"/>
          <p:cNvSpPr/>
          <p:nvPr/>
        </p:nvSpPr>
        <p:spPr>
          <a:xfrm>
            <a:off x="6382512" y="4169664"/>
            <a:ext cx="52303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Sources of error and improvements</a:t>
            </a:r>
            <a:endParaRPr lang="en-US" sz="1300" dirty="0"/>
          </a:p>
        </p:txBody>
      </p:sp>
      <p:sp>
        <p:nvSpPr>
          <p:cNvPr id="155" name="Text 152"/>
          <p:cNvSpPr/>
          <p:nvPr/>
        </p:nvSpPr>
        <p:spPr>
          <a:xfrm>
            <a:off x="6382512" y="4480560"/>
            <a:ext cx="5230368" cy="1161288"/>
          </a:xfrm>
          <a:prstGeom prst="rect">
            <a:avLst/>
          </a:prstGeom>
          <a:noFill/>
          <a:ln/>
        </p:spPr>
        <p:txBody>
          <a:bodyPr wrap="square" lIns="0" tIns="0" rIns="0" bIns="0" rtlCol="0" anchor="t"/>
          <a:lstStyle/>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CO₂ dissolves   </a:t>
            </a:r>
            <a:r>
              <a:rPr lang="en-US" sz="1050" dirty="0">
                <a:solidFill>
                  <a:srgbClr val="262B3A"/>
                </a:solidFill>
                <a:latin typeface="Calibri" pitchFamily="34" charset="0"/>
                <a:ea typeface="Calibri" pitchFamily="34" charset="-122"/>
                <a:cs typeface="Calibri" pitchFamily="34" charset="-120"/>
              </a:rPr>
              <a:t>some gas dissolves in the water → use a gas syringe</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Leaks   </a:t>
            </a:r>
            <a:r>
              <a:rPr lang="en-US" sz="1050" dirty="0">
                <a:solidFill>
                  <a:srgbClr val="262B3A"/>
                </a:solidFill>
                <a:latin typeface="Calibri" pitchFamily="34" charset="0"/>
                <a:ea typeface="Calibri" pitchFamily="34" charset="-122"/>
                <a:cs typeface="Calibri" pitchFamily="34" charset="-120"/>
              </a:rPr>
              <a:t>gas escapes round the bung (sucrose run 3) → check seals, repeat</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Temperature   </a:t>
            </a:r>
            <a:r>
              <a:rPr lang="en-US" sz="1050" dirty="0">
                <a:solidFill>
                  <a:srgbClr val="262B3A"/>
                </a:solidFill>
                <a:latin typeface="Calibri" pitchFamily="34" charset="0"/>
                <a:ea typeface="Calibri" pitchFamily="34" charset="-122"/>
                <a:cs typeface="Calibri" pitchFamily="34" charset="-120"/>
              </a:rPr>
              <a:t>bath temperature drifts → use a thermostatic water bath</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repeat, ignore anomalies, calculate a mean</a:t>
            </a:r>
            <a:endParaRPr lang="en-US" sz="1050" dirty="0"/>
          </a:p>
        </p:txBody>
      </p:sp>
      <p:sp>
        <p:nvSpPr>
          <p:cNvPr id="156" name="Shape 153"/>
          <p:cNvSpPr/>
          <p:nvPr/>
        </p:nvSpPr>
        <p:spPr>
          <a:xfrm>
            <a:off x="411480" y="5833872"/>
            <a:ext cx="11368735" cy="530352"/>
          </a:xfrm>
          <a:prstGeom prst="rect">
            <a:avLst/>
          </a:prstGeom>
          <a:solidFill>
            <a:srgbClr val="FFF4E0"/>
          </a:solidFill>
          <a:ln w="6350">
            <a:solidFill>
              <a:srgbClr val="F1D9A8"/>
            </a:solidFill>
            <a:prstDash val="solid"/>
          </a:ln>
        </p:spPr>
      </p:sp>
      <p:sp>
        <p:nvSpPr>
          <p:cNvPr id="157" name="Shape 154"/>
          <p:cNvSpPr/>
          <p:nvPr/>
        </p:nvSpPr>
        <p:spPr>
          <a:xfrm>
            <a:off x="411480" y="5833872"/>
            <a:ext cx="82296" cy="530352"/>
          </a:xfrm>
          <a:prstGeom prst="rect">
            <a:avLst/>
          </a:prstGeom>
          <a:solidFill>
            <a:srgbClr val="E39A2F"/>
          </a:solidFill>
          <a:ln w="12700">
            <a:solidFill>
              <a:srgbClr val="E39A2F"/>
            </a:solidFill>
            <a:prstDash val="solid"/>
          </a:ln>
        </p:spPr>
      </p:sp>
      <p:sp>
        <p:nvSpPr>
          <p:cNvPr id="158" name="Text 155"/>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Calculate the mean rate for glucose in cm³ per minute. Which result is anomalous, and what would the sucrose mean be if it were included?</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Exam practice: recap 4</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B4.1.1, B4.1.5 • comparing respiration and PAG B4</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B4.1 What happens during cellular respiration?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4  |  18</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CFE0DE"/>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differences between aerobic and anaerobic respiration in humans.</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CFE0DE"/>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Yeast in glucose solution produced </a:t>
            </a:r>
            <a:r>
              <a:rPr lang="en-US" sz="1250" b="1" dirty="0">
                <a:solidFill>
                  <a:srgbClr val="262B3A"/>
                </a:solidFill>
                <a:latin typeface="Calibri" pitchFamily="34" charset="0"/>
                <a:ea typeface="Calibri" pitchFamily="34" charset="-122"/>
                <a:cs typeface="Calibri" pitchFamily="34" charset="-120"/>
              </a:rPr>
              <a:t>15.0 cm³</a:t>
            </a:r>
            <a:r>
              <a:rPr lang="en-US" sz="1250" dirty="0">
                <a:solidFill>
                  <a:srgbClr val="262B3A"/>
                </a:solidFill>
                <a:latin typeface="Calibri" pitchFamily="34" charset="0"/>
                <a:ea typeface="Calibri" pitchFamily="34" charset="-122"/>
                <a:cs typeface="Calibri" pitchFamily="34" charset="-120"/>
              </a:rPr>
              <a:t> of gas in </a:t>
            </a:r>
            <a:r>
              <a:rPr lang="en-US" sz="1250" b="1" dirty="0">
                <a:solidFill>
                  <a:srgbClr val="262B3A"/>
                </a:solidFill>
                <a:latin typeface="Calibri" pitchFamily="34" charset="0"/>
                <a:ea typeface="Calibri" pitchFamily="34" charset="-122"/>
                <a:cs typeface="Calibri" pitchFamily="34" charset="-120"/>
              </a:rPr>
              <a:t>6 minutes</a:t>
            </a:r>
            <a:r>
              <a:rPr lang="en-US" sz="1250" dirty="0">
                <a:solidFill>
                  <a:srgbClr val="262B3A"/>
                </a:solidFill>
                <a:latin typeface="Calibri" pitchFamily="34" charset="0"/>
                <a:ea typeface="Calibri" pitchFamily="34" charset="-122"/>
                <a:cs typeface="Calibri" pitchFamily="34" charset="-120"/>
              </a:rPr>
              <a:t>. Calculate the rate of respiration.</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CFE0DE"/>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Yeast given </a:t>
            </a:r>
            <a:r>
              <a:rPr lang="en-US" sz="1250" b="1" dirty="0">
                <a:solidFill>
                  <a:srgbClr val="262B3A"/>
                </a:solidFill>
                <a:latin typeface="Calibri" pitchFamily="34" charset="0"/>
                <a:ea typeface="Calibri" pitchFamily="34" charset="-122"/>
                <a:cs typeface="Calibri" pitchFamily="34" charset="-120"/>
              </a:rPr>
              <a:t>starch</a:t>
            </a:r>
            <a:r>
              <a:rPr lang="en-US" sz="1250" dirty="0">
                <a:solidFill>
                  <a:srgbClr val="262B3A"/>
                </a:solidFill>
                <a:latin typeface="Calibri" pitchFamily="34" charset="0"/>
                <a:ea typeface="Calibri" pitchFamily="34" charset="-122"/>
                <a:cs typeface="Calibri" pitchFamily="34" charset="-120"/>
              </a:rPr>
              <a:t> produced almost no gas. Suggest why.</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CFE0DE"/>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source of error in the yeast practical and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improvement.</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Summary: key words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B4.1 What happens during cellular respiration? • learn these definitions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B4.1 What happens during cellular respiration?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Key words  |  19</a:t>
            </a:r>
            <a:endParaRPr lang="en-US" sz="1000" dirty="0"/>
          </a:p>
        </p:txBody>
      </p:sp>
      <p:sp>
        <p:nvSpPr>
          <p:cNvPr id="8" name="Shape 6"/>
          <p:cNvSpPr/>
          <p:nvPr/>
        </p:nvSpPr>
        <p:spPr>
          <a:xfrm>
            <a:off x="411480" y="1188720"/>
            <a:ext cx="2739314" cy="1143000"/>
          </a:xfrm>
          <a:prstGeom prst="rect">
            <a:avLst/>
          </a:prstGeom>
          <a:solidFill>
            <a:srgbClr val="F4FAF9"/>
          </a:solidFill>
          <a:ln w="9525">
            <a:solidFill>
              <a:srgbClr val="CFE0DE"/>
            </a:solidFill>
            <a:prstDash val="solid"/>
          </a:ln>
        </p:spPr>
      </p:sp>
      <p:sp>
        <p:nvSpPr>
          <p:cNvPr id="9" name="Shape 7"/>
          <p:cNvSpPr/>
          <p:nvPr/>
        </p:nvSpPr>
        <p:spPr>
          <a:xfrm>
            <a:off x="411480" y="1188720"/>
            <a:ext cx="73152" cy="1143000"/>
          </a:xfrm>
          <a:prstGeom prst="rect">
            <a:avLst/>
          </a:prstGeom>
          <a:solidFill>
            <a:srgbClr val="0D7877"/>
          </a:solidFill>
          <a:ln w="12700">
            <a:solidFill>
              <a:srgbClr val="0D7877"/>
            </a:solidFill>
            <a:prstDash val="solid"/>
          </a:ln>
        </p:spPr>
      </p:sp>
      <p:sp>
        <p:nvSpPr>
          <p:cNvPr id="10" name="Text 8"/>
          <p:cNvSpPr/>
          <p:nvPr/>
        </p:nvSpPr>
        <p:spPr>
          <a:xfrm>
            <a:off x="576072" y="1243584"/>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Cellular respiration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Chemical process in all living cells that transfers energy from glucose to ATP.</a:t>
            </a:r>
            <a:endParaRPr lang="en-US" sz="1200" dirty="0"/>
          </a:p>
        </p:txBody>
      </p:sp>
      <p:sp>
        <p:nvSpPr>
          <p:cNvPr id="11" name="Shape 9"/>
          <p:cNvSpPr/>
          <p:nvPr/>
        </p:nvSpPr>
        <p:spPr>
          <a:xfrm>
            <a:off x="3287954" y="1188720"/>
            <a:ext cx="2739314" cy="1143000"/>
          </a:xfrm>
          <a:prstGeom prst="rect">
            <a:avLst/>
          </a:prstGeom>
          <a:solidFill>
            <a:srgbClr val="F4FAF9"/>
          </a:solidFill>
          <a:ln w="9525">
            <a:solidFill>
              <a:srgbClr val="CFE0DE"/>
            </a:solidFill>
            <a:prstDash val="solid"/>
          </a:ln>
        </p:spPr>
      </p:sp>
      <p:sp>
        <p:nvSpPr>
          <p:cNvPr id="12" name="Shape 10"/>
          <p:cNvSpPr/>
          <p:nvPr/>
        </p:nvSpPr>
        <p:spPr>
          <a:xfrm>
            <a:off x="3287954" y="1188720"/>
            <a:ext cx="73152" cy="1143000"/>
          </a:xfrm>
          <a:prstGeom prst="rect">
            <a:avLst/>
          </a:prstGeom>
          <a:solidFill>
            <a:srgbClr val="0D7877"/>
          </a:solidFill>
          <a:ln w="12700">
            <a:solidFill>
              <a:srgbClr val="0D7877"/>
            </a:solidFill>
            <a:prstDash val="solid"/>
          </a:ln>
        </p:spPr>
      </p:sp>
      <p:sp>
        <p:nvSpPr>
          <p:cNvPr id="13" name="Text 11"/>
          <p:cNvSpPr/>
          <p:nvPr/>
        </p:nvSpPr>
        <p:spPr>
          <a:xfrm>
            <a:off x="3452546" y="1243584"/>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ATP</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Molecule that carries energy from respiration to the processes that need it.</a:t>
            </a:r>
            <a:endParaRPr lang="en-US" sz="1200" dirty="0"/>
          </a:p>
        </p:txBody>
      </p:sp>
      <p:sp>
        <p:nvSpPr>
          <p:cNvPr id="14" name="Shape 12"/>
          <p:cNvSpPr/>
          <p:nvPr/>
        </p:nvSpPr>
        <p:spPr>
          <a:xfrm>
            <a:off x="6164428" y="1188720"/>
            <a:ext cx="2739314" cy="1143000"/>
          </a:xfrm>
          <a:prstGeom prst="rect">
            <a:avLst/>
          </a:prstGeom>
          <a:solidFill>
            <a:srgbClr val="F4FAF9"/>
          </a:solidFill>
          <a:ln w="9525">
            <a:solidFill>
              <a:srgbClr val="CFE0DE"/>
            </a:solidFill>
            <a:prstDash val="solid"/>
          </a:ln>
        </p:spPr>
      </p:sp>
      <p:sp>
        <p:nvSpPr>
          <p:cNvPr id="15" name="Shape 13"/>
          <p:cNvSpPr/>
          <p:nvPr/>
        </p:nvSpPr>
        <p:spPr>
          <a:xfrm>
            <a:off x="6164428" y="1188720"/>
            <a:ext cx="73152" cy="1143000"/>
          </a:xfrm>
          <a:prstGeom prst="rect">
            <a:avLst/>
          </a:prstGeom>
          <a:solidFill>
            <a:srgbClr val="0D7877"/>
          </a:solidFill>
          <a:ln w="12700">
            <a:solidFill>
              <a:srgbClr val="0D7877"/>
            </a:solidFill>
            <a:prstDash val="solid"/>
          </a:ln>
        </p:spPr>
      </p:sp>
      <p:sp>
        <p:nvSpPr>
          <p:cNvPr id="16" name="Text 14"/>
          <p:cNvSpPr/>
          <p:nvPr/>
        </p:nvSpPr>
        <p:spPr>
          <a:xfrm>
            <a:off x="6329020" y="1243584"/>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Exothermic</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process that transfers energy to the surroundings.</a:t>
            </a:r>
            <a:endParaRPr lang="en-US" sz="1200" dirty="0"/>
          </a:p>
        </p:txBody>
      </p:sp>
      <p:sp>
        <p:nvSpPr>
          <p:cNvPr id="17" name="Shape 15"/>
          <p:cNvSpPr/>
          <p:nvPr/>
        </p:nvSpPr>
        <p:spPr>
          <a:xfrm>
            <a:off x="9040901" y="1188720"/>
            <a:ext cx="2739314" cy="1143000"/>
          </a:xfrm>
          <a:prstGeom prst="rect">
            <a:avLst/>
          </a:prstGeom>
          <a:solidFill>
            <a:srgbClr val="F4FAF9"/>
          </a:solidFill>
          <a:ln w="9525">
            <a:solidFill>
              <a:srgbClr val="CFE0DE"/>
            </a:solidFill>
            <a:prstDash val="solid"/>
          </a:ln>
        </p:spPr>
      </p:sp>
      <p:sp>
        <p:nvSpPr>
          <p:cNvPr id="18" name="Shape 16"/>
          <p:cNvSpPr/>
          <p:nvPr/>
        </p:nvSpPr>
        <p:spPr>
          <a:xfrm>
            <a:off x="9040901" y="1188720"/>
            <a:ext cx="73152" cy="1143000"/>
          </a:xfrm>
          <a:prstGeom prst="rect">
            <a:avLst/>
          </a:prstGeom>
          <a:solidFill>
            <a:srgbClr val="0D7877"/>
          </a:solidFill>
          <a:ln w="12700">
            <a:solidFill>
              <a:srgbClr val="0D7877"/>
            </a:solidFill>
            <a:prstDash val="solid"/>
          </a:ln>
        </p:spPr>
      </p:sp>
      <p:sp>
        <p:nvSpPr>
          <p:cNvPr id="19" name="Text 17"/>
          <p:cNvSpPr/>
          <p:nvPr/>
        </p:nvSpPr>
        <p:spPr>
          <a:xfrm>
            <a:off x="9205493" y="1243584"/>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Continuous</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Respiration never stops: cells need ATP all the time and cannot store much.</a:t>
            </a:r>
            <a:endParaRPr lang="en-US" sz="1200" dirty="0"/>
          </a:p>
        </p:txBody>
      </p:sp>
      <p:sp>
        <p:nvSpPr>
          <p:cNvPr id="20" name="Shape 18"/>
          <p:cNvSpPr/>
          <p:nvPr/>
        </p:nvSpPr>
        <p:spPr>
          <a:xfrm>
            <a:off x="411480" y="2441448"/>
            <a:ext cx="2739314" cy="1143000"/>
          </a:xfrm>
          <a:prstGeom prst="rect">
            <a:avLst/>
          </a:prstGeom>
          <a:solidFill>
            <a:srgbClr val="F4FAF9"/>
          </a:solidFill>
          <a:ln w="9525">
            <a:solidFill>
              <a:srgbClr val="CFE0DE"/>
            </a:solidFill>
            <a:prstDash val="solid"/>
          </a:ln>
        </p:spPr>
      </p:sp>
      <p:sp>
        <p:nvSpPr>
          <p:cNvPr id="21" name="Shape 19"/>
          <p:cNvSpPr/>
          <p:nvPr/>
        </p:nvSpPr>
        <p:spPr>
          <a:xfrm>
            <a:off x="411480" y="2441448"/>
            <a:ext cx="73152" cy="1143000"/>
          </a:xfrm>
          <a:prstGeom prst="rect">
            <a:avLst/>
          </a:prstGeom>
          <a:solidFill>
            <a:srgbClr val="0D7877"/>
          </a:solidFill>
          <a:ln w="12700">
            <a:solidFill>
              <a:srgbClr val="0D7877"/>
            </a:solidFill>
            <a:prstDash val="solid"/>
          </a:ln>
        </p:spPr>
      </p:sp>
      <p:sp>
        <p:nvSpPr>
          <p:cNvPr id="22" name="Text 20"/>
          <p:cNvSpPr/>
          <p:nvPr/>
        </p:nvSpPr>
        <p:spPr>
          <a:xfrm>
            <a:off x="576072" y="2496312"/>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Aerobic respiration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Uses oxygen: glucose + oxygen → carbon dioxide + water. A lot of ATP.</a:t>
            </a:r>
            <a:endParaRPr lang="en-US" sz="1200" dirty="0"/>
          </a:p>
        </p:txBody>
      </p:sp>
      <p:sp>
        <p:nvSpPr>
          <p:cNvPr id="23" name="Shape 21"/>
          <p:cNvSpPr/>
          <p:nvPr/>
        </p:nvSpPr>
        <p:spPr>
          <a:xfrm>
            <a:off x="3287954" y="2441448"/>
            <a:ext cx="2739314" cy="1143000"/>
          </a:xfrm>
          <a:prstGeom prst="rect">
            <a:avLst/>
          </a:prstGeom>
          <a:solidFill>
            <a:srgbClr val="F4FAF9"/>
          </a:solidFill>
          <a:ln w="9525">
            <a:solidFill>
              <a:srgbClr val="CFE0DE"/>
            </a:solidFill>
            <a:prstDash val="solid"/>
          </a:ln>
        </p:spPr>
      </p:sp>
      <p:sp>
        <p:nvSpPr>
          <p:cNvPr id="24" name="Shape 22"/>
          <p:cNvSpPr/>
          <p:nvPr/>
        </p:nvSpPr>
        <p:spPr>
          <a:xfrm>
            <a:off x="3287954" y="2441448"/>
            <a:ext cx="73152" cy="1143000"/>
          </a:xfrm>
          <a:prstGeom prst="rect">
            <a:avLst/>
          </a:prstGeom>
          <a:solidFill>
            <a:srgbClr val="0D7877"/>
          </a:solidFill>
          <a:ln w="12700">
            <a:solidFill>
              <a:srgbClr val="0D7877"/>
            </a:solidFill>
            <a:prstDash val="solid"/>
          </a:ln>
        </p:spPr>
      </p:sp>
      <p:sp>
        <p:nvSpPr>
          <p:cNvPr id="25" name="Text 23"/>
          <p:cNvSpPr/>
          <p:nvPr/>
        </p:nvSpPr>
        <p:spPr>
          <a:xfrm>
            <a:off x="3452546" y="2496312"/>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Anaerobic respiration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Without oxygen. Glucose is only partly broken down; little ATP.</a:t>
            </a:r>
            <a:endParaRPr lang="en-US" sz="1200" dirty="0"/>
          </a:p>
        </p:txBody>
      </p:sp>
      <p:sp>
        <p:nvSpPr>
          <p:cNvPr id="26" name="Shape 24"/>
          <p:cNvSpPr/>
          <p:nvPr/>
        </p:nvSpPr>
        <p:spPr>
          <a:xfrm>
            <a:off x="6164428" y="2441448"/>
            <a:ext cx="2739314" cy="1143000"/>
          </a:xfrm>
          <a:prstGeom prst="rect">
            <a:avLst/>
          </a:prstGeom>
          <a:solidFill>
            <a:srgbClr val="F4FAF9"/>
          </a:solidFill>
          <a:ln w="9525">
            <a:solidFill>
              <a:srgbClr val="CFE0DE"/>
            </a:solidFill>
            <a:prstDash val="solid"/>
          </a:ln>
        </p:spPr>
      </p:sp>
      <p:sp>
        <p:nvSpPr>
          <p:cNvPr id="27" name="Shape 25"/>
          <p:cNvSpPr/>
          <p:nvPr/>
        </p:nvSpPr>
        <p:spPr>
          <a:xfrm>
            <a:off x="6164428" y="2441448"/>
            <a:ext cx="73152" cy="1143000"/>
          </a:xfrm>
          <a:prstGeom prst="rect">
            <a:avLst/>
          </a:prstGeom>
          <a:solidFill>
            <a:srgbClr val="0D7877"/>
          </a:solidFill>
          <a:ln w="12700">
            <a:solidFill>
              <a:srgbClr val="0D7877"/>
            </a:solidFill>
            <a:prstDash val="solid"/>
          </a:ln>
        </p:spPr>
      </p:sp>
      <p:sp>
        <p:nvSpPr>
          <p:cNvPr id="28" name="Text 26"/>
          <p:cNvSpPr/>
          <p:nvPr/>
        </p:nvSpPr>
        <p:spPr>
          <a:xfrm>
            <a:off x="6329020" y="2496312"/>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Mitochondria</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Organelles in plant and animal cells where most aerobic respiration happens.</a:t>
            </a:r>
            <a:endParaRPr lang="en-US" sz="1200" dirty="0"/>
          </a:p>
        </p:txBody>
      </p:sp>
      <p:sp>
        <p:nvSpPr>
          <p:cNvPr id="29" name="Shape 27"/>
          <p:cNvSpPr/>
          <p:nvPr/>
        </p:nvSpPr>
        <p:spPr>
          <a:xfrm>
            <a:off x="9040901" y="2441448"/>
            <a:ext cx="2739314" cy="1143000"/>
          </a:xfrm>
          <a:prstGeom prst="rect">
            <a:avLst/>
          </a:prstGeom>
          <a:solidFill>
            <a:srgbClr val="F4FAF9"/>
          </a:solidFill>
          <a:ln w="9525">
            <a:solidFill>
              <a:srgbClr val="CFE0DE"/>
            </a:solidFill>
            <a:prstDash val="solid"/>
          </a:ln>
        </p:spPr>
      </p:sp>
      <p:sp>
        <p:nvSpPr>
          <p:cNvPr id="30" name="Shape 28"/>
          <p:cNvSpPr/>
          <p:nvPr/>
        </p:nvSpPr>
        <p:spPr>
          <a:xfrm>
            <a:off x="9040901" y="2441448"/>
            <a:ext cx="73152" cy="1143000"/>
          </a:xfrm>
          <a:prstGeom prst="rect">
            <a:avLst/>
          </a:prstGeom>
          <a:solidFill>
            <a:srgbClr val="0D7877"/>
          </a:solidFill>
          <a:ln w="12700">
            <a:solidFill>
              <a:srgbClr val="0D7877"/>
            </a:solidFill>
            <a:prstDash val="solid"/>
          </a:ln>
        </p:spPr>
      </p:sp>
      <p:sp>
        <p:nvSpPr>
          <p:cNvPr id="31" name="Text 29"/>
          <p:cNvSpPr/>
          <p:nvPr/>
        </p:nvSpPr>
        <p:spPr>
          <a:xfrm>
            <a:off x="9205493" y="2496312"/>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Cytoplasm</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Where anaerobic respiration, and the first stage of aerobic, happen.</a:t>
            </a:r>
            <a:endParaRPr lang="en-US" sz="1200" dirty="0"/>
          </a:p>
        </p:txBody>
      </p:sp>
      <p:sp>
        <p:nvSpPr>
          <p:cNvPr id="32" name="Shape 30"/>
          <p:cNvSpPr/>
          <p:nvPr/>
        </p:nvSpPr>
        <p:spPr>
          <a:xfrm>
            <a:off x="411480" y="3694176"/>
            <a:ext cx="2739314" cy="1143000"/>
          </a:xfrm>
          <a:prstGeom prst="rect">
            <a:avLst/>
          </a:prstGeom>
          <a:solidFill>
            <a:srgbClr val="F4FAF9"/>
          </a:solidFill>
          <a:ln w="9525">
            <a:solidFill>
              <a:srgbClr val="CFE0DE"/>
            </a:solidFill>
            <a:prstDash val="solid"/>
          </a:ln>
        </p:spPr>
      </p:sp>
      <p:sp>
        <p:nvSpPr>
          <p:cNvPr id="33" name="Shape 31"/>
          <p:cNvSpPr/>
          <p:nvPr/>
        </p:nvSpPr>
        <p:spPr>
          <a:xfrm>
            <a:off x="411480" y="3694176"/>
            <a:ext cx="73152" cy="1143000"/>
          </a:xfrm>
          <a:prstGeom prst="rect">
            <a:avLst/>
          </a:prstGeom>
          <a:solidFill>
            <a:srgbClr val="0D7877"/>
          </a:solidFill>
          <a:ln w="12700">
            <a:solidFill>
              <a:srgbClr val="0D7877"/>
            </a:solidFill>
            <a:prstDash val="solid"/>
          </a:ln>
        </p:spPr>
      </p:sp>
      <p:sp>
        <p:nvSpPr>
          <p:cNvPr id="34" name="Text 32"/>
          <p:cNvSpPr/>
          <p:nvPr/>
        </p:nvSpPr>
        <p:spPr>
          <a:xfrm>
            <a:off x="576072" y="3749040"/>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Lactic acid</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Made by anaerobic respiration in animal muscle cells.</a:t>
            </a:r>
            <a:endParaRPr lang="en-US" sz="1200" dirty="0"/>
          </a:p>
        </p:txBody>
      </p:sp>
      <p:sp>
        <p:nvSpPr>
          <p:cNvPr id="35" name="Shape 33"/>
          <p:cNvSpPr/>
          <p:nvPr/>
        </p:nvSpPr>
        <p:spPr>
          <a:xfrm>
            <a:off x="3287954" y="3694176"/>
            <a:ext cx="2739314" cy="1143000"/>
          </a:xfrm>
          <a:prstGeom prst="rect">
            <a:avLst/>
          </a:prstGeom>
          <a:solidFill>
            <a:srgbClr val="F4FAF9"/>
          </a:solidFill>
          <a:ln w="9525">
            <a:solidFill>
              <a:srgbClr val="CFE0DE"/>
            </a:solidFill>
            <a:prstDash val="solid"/>
          </a:ln>
        </p:spPr>
      </p:sp>
      <p:sp>
        <p:nvSpPr>
          <p:cNvPr id="36" name="Shape 34"/>
          <p:cNvSpPr/>
          <p:nvPr/>
        </p:nvSpPr>
        <p:spPr>
          <a:xfrm>
            <a:off x="3287954" y="3694176"/>
            <a:ext cx="73152" cy="1143000"/>
          </a:xfrm>
          <a:prstGeom prst="rect">
            <a:avLst/>
          </a:prstGeom>
          <a:solidFill>
            <a:srgbClr val="0D7877"/>
          </a:solidFill>
          <a:ln w="12700">
            <a:solidFill>
              <a:srgbClr val="0D7877"/>
            </a:solidFill>
            <a:prstDash val="solid"/>
          </a:ln>
        </p:spPr>
      </p:sp>
      <p:sp>
        <p:nvSpPr>
          <p:cNvPr id="37" name="Text 35"/>
          <p:cNvSpPr/>
          <p:nvPr/>
        </p:nvSpPr>
        <p:spPr>
          <a:xfrm>
            <a:off x="3452546" y="3749040"/>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Muscle fatigue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Muscles stop contracting well as lactic acid builds up.</a:t>
            </a:r>
            <a:endParaRPr lang="en-US" sz="1200" dirty="0"/>
          </a:p>
        </p:txBody>
      </p:sp>
      <p:sp>
        <p:nvSpPr>
          <p:cNvPr id="38" name="Shape 36"/>
          <p:cNvSpPr/>
          <p:nvPr/>
        </p:nvSpPr>
        <p:spPr>
          <a:xfrm>
            <a:off x="6164428" y="3694176"/>
            <a:ext cx="2739314" cy="1143000"/>
          </a:xfrm>
          <a:prstGeom prst="rect">
            <a:avLst/>
          </a:prstGeom>
          <a:solidFill>
            <a:srgbClr val="F4FAF9"/>
          </a:solidFill>
          <a:ln w="9525">
            <a:solidFill>
              <a:srgbClr val="CFE0DE"/>
            </a:solidFill>
            <a:prstDash val="solid"/>
          </a:ln>
        </p:spPr>
      </p:sp>
      <p:sp>
        <p:nvSpPr>
          <p:cNvPr id="39" name="Shape 37"/>
          <p:cNvSpPr/>
          <p:nvPr/>
        </p:nvSpPr>
        <p:spPr>
          <a:xfrm>
            <a:off x="6164428" y="3694176"/>
            <a:ext cx="73152" cy="1143000"/>
          </a:xfrm>
          <a:prstGeom prst="rect">
            <a:avLst/>
          </a:prstGeom>
          <a:solidFill>
            <a:srgbClr val="0D7877"/>
          </a:solidFill>
          <a:ln w="12700">
            <a:solidFill>
              <a:srgbClr val="0D7877"/>
            </a:solidFill>
            <a:prstDash val="solid"/>
          </a:ln>
        </p:spPr>
      </p:sp>
      <p:sp>
        <p:nvSpPr>
          <p:cNvPr id="40" name="Text 38"/>
          <p:cNvSpPr/>
          <p:nvPr/>
        </p:nvSpPr>
        <p:spPr>
          <a:xfrm>
            <a:off x="6329020" y="3749040"/>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Oxygen debt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Extra oxygen needed after exercise to break down lactic acid.</a:t>
            </a:r>
            <a:endParaRPr lang="en-US" sz="1200" dirty="0"/>
          </a:p>
        </p:txBody>
      </p:sp>
      <p:sp>
        <p:nvSpPr>
          <p:cNvPr id="41" name="Shape 39"/>
          <p:cNvSpPr/>
          <p:nvPr/>
        </p:nvSpPr>
        <p:spPr>
          <a:xfrm>
            <a:off x="9040901" y="3694176"/>
            <a:ext cx="2739314" cy="1143000"/>
          </a:xfrm>
          <a:prstGeom prst="rect">
            <a:avLst/>
          </a:prstGeom>
          <a:solidFill>
            <a:srgbClr val="F4FAF9"/>
          </a:solidFill>
          <a:ln w="9525">
            <a:solidFill>
              <a:srgbClr val="CFE0DE"/>
            </a:solidFill>
            <a:prstDash val="solid"/>
          </a:ln>
        </p:spPr>
      </p:sp>
      <p:sp>
        <p:nvSpPr>
          <p:cNvPr id="42" name="Shape 40"/>
          <p:cNvSpPr/>
          <p:nvPr/>
        </p:nvSpPr>
        <p:spPr>
          <a:xfrm>
            <a:off x="9040901" y="3694176"/>
            <a:ext cx="73152" cy="1143000"/>
          </a:xfrm>
          <a:prstGeom prst="rect">
            <a:avLst/>
          </a:prstGeom>
          <a:solidFill>
            <a:srgbClr val="0D7877"/>
          </a:solidFill>
          <a:ln w="12700">
            <a:solidFill>
              <a:srgbClr val="0D7877"/>
            </a:solidFill>
            <a:prstDash val="solid"/>
          </a:ln>
        </p:spPr>
      </p:sp>
      <p:sp>
        <p:nvSpPr>
          <p:cNvPr id="43" name="Text 41"/>
          <p:cNvSpPr/>
          <p:nvPr/>
        </p:nvSpPr>
        <p:spPr>
          <a:xfrm>
            <a:off x="9205493" y="3749040"/>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Ethanol</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Alcohol made with carbon dioxide by anaerobic respiration in plants and yeast.</a:t>
            </a:r>
            <a:endParaRPr lang="en-US" sz="1200" dirty="0"/>
          </a:p>
        </p:txBody>
      </p:sp>
      <p:sp>
        <p:nvSpPr>
          <p:cNvPr id="44" name="Shape 42"/>
          <p:cNvSpPr/>
          <p:nvPr/>
        </p:nvSpPr>
        <p:spPr>
          <a:xfrm>
            <a:off x="411480" y="4946904"/>
            <a:ext cx="2739314" cy="1143000"/>
          </a:xfrm>
          <a:prstGeom prst="rect">
            <a:avLst/>
          </a:prstGeom>
          <a:solidFill>
            <a:srgbClr val="F4FAF9"/>
          </a:solidFill>
          <a:ln w="9525">
            <a:solidFill>
              <a:srgbClr val="CFE0DE"/>
            </a:solidFill>
            <a:prstDash val="solid"/>
          </a:ln>
        </p:spPr>
      </p:sp>
      <p:sp>
        <p:nvSpPr>
          <p:cNvPr id="45" name="Shape 43"/>
          <p:cNvSpPr/>
          <p:nvPr/>
        </p:nvSpPr>
        <p:spPr>
          <a:xfrm>
            <a:off x="411480" y="4946904"/>
            <a:ext cx="73152" cy="1143000"/>
          </a:xfrm>
          <a:prstGeom prst="rect">
            <a:avLst/>
          </a:prstGeom>
          <a:solidFill>
            <a:srgbClr val="0D7877"/>
          </a:solidFill>
          <a:ln w="12700">
            <a:solidFill>
              <a:srgbClr val="0D7877"/>
            </a:solidFill>
            <a:prstDash val="solid"/>
          </a:ln>
        </p:spPr>
      </p:sp>
      <p:sp>
        <p:nvSpPr>
          <p:cNvPr id="46" name="Text 44"/>
          <p:cNvSpPr/>
          <p:nvPr/>
        </p:nvSpPr>
        <p:spPr>
          <a:xfrm>
            <a:off x="576072" y="5001768"/>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Fermentation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Anaerobic respiration in yeast; used to make bread, beer and wine.</a:t>
            </a:r>
            <a:endParaRPr lang="en-US" sz="1200" dirty="0"/>
          </a:p>
        </p:txBody>
      </p:sp>
      <p:sp>
        <p:nvSpPr>
          <p:cNvPr id="47" name="Shape 45"/>
          <p:cNvSpPr/>
          <p:nvPr/>
        </p:nvSpPr>
        <p:spPr>
          <a:xfrm>
            <a:off x="3287954" y="4946904"/>
            <a:ext cx="2739314" cy="1143000"/>
          </a:xfrm>
          <a:prstGeom prst="rect">
            <a:avLst/>
          </a:prstGeom>
          <a:solidFill>
            <a:srgbClr val="F4FAF9"/>
          </a:solidFill>
          <a:ln w="9525">
            <a:solidFill>
              <a:srgbClr val="CFE0DE"/>
            </a:solidFill>
            <a:prstDash val="solid"/>
          </a:ln>
        </p:spPr>
      </p:sp>
      <p:sp>
        <p:nvSpPr>
          <p:cNvPr id="48" name="Shape 46"/>
          <p:cNvSpPr/>
          <p:nvPr/>
        </p:nvSpPr>
        <p:spPr>
          <a:xfrm>
            <a:off x="3287954" y="4946904"/>
            <a:ext cx="73152" cy="1143000"/>
          </a:xfrm>
          <a:prstGeom prst="rect">
            <a:avLst/>
          </a:prstGeom>
          <a:solidFill>
            <a:srgbClr val="0D7877"/>
          </a:solidFill>
          <a:ln w="12700">
            <a:solidFill>
              <a:srgbClr val="0D7877"/>
            </a:solidFill>
            <a:prstDash val="solid"/>
          </a:ln>
        </p:spPr>
      </p:sp>
      <p:sp>
        <p:nvSpPr>
          <p:cNvPr id="49" name="Text 47"/>
          <p:cNvSpPr/>
          <p:nvPr/>
        </p:nvSpPr>
        <p:spPr>
          <a:xfrm>
            <a:off x="3452546" y="5001768"/>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Yeast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Single-celled fungus that can respire aerobically or anaerobically.</a:t>
            </a:r>
            <a:endParaRPr lang="en-US" sz="1200" dirty="0"/>
          </a:p>
        </p:txBody>
      </p:sp>
      <p:sp>
        <p:nvSpPr>
          <p:cNvPr id="50" name="Shape 48"/>
          <p:cNvSpPr/>
          <p:nvPr/>
        </p:nvSpPr>
        <p:spPr>
          <a:xfrm>
            <a:off x="6164428" y="4946904"/>
            <a:ext cx="2739314" cy="1143000"/>
          </a:xfrm>
          <a:prstGeom prst="rect">
            <a:avLst/>
          </a:prstGeom>
          <a:solidFill>
            <a:srgbClr val="F4FAF9"/>
          </a:solidFill>
          <a:ln w="9525">
            <a:solidFill>
              <a:srgbClr val="CFE0DE"/>
            </a:solidFill>
            <a:prstDash val="solid"/>
          </a:ln>
        </p:spPr>
      </p:sp>
      <p:sp>
        <p:nvSpPr>
          <p:cNvPr id="51" name="Shape 49"/>
          <p:cNvSpPr/>
          <p:nvPr/>
        </p:nvSpPr>
        <p:spPr>
          <a:xfrm>
            <a:off x="6164428" y="4946904"/>
            <a:ext cx="73152" cy="1143000"/>
          </a:xfrm>
          <a:prstGeom prst="rect">
            <a:avLst/>
          </a:prstGeom>
          <a:solidFill>
            <a:srgbClr val="0D7877"/>
          </a:solidFill>
          <a:ln w="12700">
            <a:solidFill>
              <a:srgbClr val="0D7877"/>
            </a:solidFill>
            <a:prstDash val="solid"/>
          </a:ln>
        </p:spPr>
      </p:sp>
      <p:sp>
        <p:nvSpPr>
          <p:cNvPr id="52" name="Text 50"/>
          <p:cNvSpPr/>
          <p:nvPr/>
        </p:nvSpPr>
        <p:spPr>
          <a:xfrm>
            <a:off x="6329020" y="5001768"/>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Substrate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The substance an enzyme acts on, e.g. the sugar the yeast respires.</a:t>
            </a:r>
            <a:endParaRPr lang="en-US" sz="1200" dirty="0"/>
          </a:p>
        </p:txBody>
      </p:sp>
      <p:sp>
        <p:nvSpPr>
          <p:cNvPr id="53" name="Shape 51"/>
          <p:cNvSpPr/>
          <p:nvPr/>
        </p:nvSpPr>
        <p:spPr>
          <a:xfrm>
            <a:off x="9040901" y="4946904"/>
            <a:ext cx="2739314" cy="1143000"/>
          </a:xfrm>
          <a:prstGeom prst="rect">
            <a:avLst/>
          </a:prstGeom>
          <a:solidFill>
            <a:srgbClr val="F4FAF9"/>
          </a:solidFill>
          <a:ln w="9525">
            <a:solidFill>
              <a:srgbClr val="CFE0DE"/>
            </a:solidFill>
            <a:prstDash val="solid"/>
          </a:ln>
        </p:spPr>
      </p:sp>
      <p:sp>
        <p:nvSpPr>
          <p:cNvPr id="54" name="Shape 52"/>
          <p:cNvSpPr/>
          <p:nvPr/>
        </p:nvSpPr>
        <p:spPr>
          <a:xfrm>
            <a:off x="9040901" y="4946904"/>
            <a:ext cx="73152" cy="1143000"/>
          </a:xfrm>
          <a:prstGeom prst="rect">
            <a:avLst/>
          </a:prstGeom>
          <a:solidFill>
            <a:srgbClr val="0D7877"/>
          </a:solidFill>
          <a:ln w="12700">
            <a:solidFill>
              <a:srgbClr val="0D7877"/>
            </a:solidFill>
            <a:prstDash val="solid"/>
          </a:ln>
        </p:spPr>
      </p:sp>
      <p:sp>
        <p:nvSpPr>
          <p:cNvPr id="55" name="Text 53"/>
          <p:cNvSpPr/>
          <p:nvPr/>
        </p:nvSpPr>
        <p:spPr>
          <a:xfrm>
            <a:off x="9205493" y="5001768"/>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Rate of respiration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Volume of CO₂ (or O₂) per unit time, e.g. cm³ per minute.</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Full exam question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B4.1.1–B4.1.5 • answer every part • 13 marks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B4.1 What happens during cellular respiration?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Full question  |  20</a:t>
            </a:r>
            <a:endParaRPr lang="en-US" sz="1000" dirty="0"/>
          </a:p>
        </p:txBody>
      </p:sp>
      <p:sp>
        <p:nvSpPr>
          <p:cNvPr id="8" name="Text 6"/>
          <p:cNvSpPr/>
          <p:nvPr/>
        </p:nvSpPr>
        <p:spPr>
          <a:xfrm>
            <a:off x="411480" y="1143000"/>
            <a:ext cx="11368735" cy="502920"/>
          </a:xfrm>
          <a:prstGeom prst="rect">
            <a:avLst/>
          </a:prstGeom>
          <a:noFill/>
          <a:ln/>
        </p:spPr>
        <p:txBody>
          <a:bodyPr wrap="square" lIns="0" tIns="0" rIns="0" bIns="0" rtlCol="0" anchor="ctr"/>
          <a:lstStyle/>
          <a:p>
            <a:pPr indent="0" marL="0">
              <a:buNone/>
            </a:pPr>
            <a:r>
              <a:rPr lang="en-US" sz="1200" i="1" dirty="0">
                <a:solidFill>
                  <a:srgbClr val="262B3A"/>
                </a:solidFill>
                <a:latin typeface="Calibri" pitchFamily="34" charset="0"/>
                <a:ea typeface="Calibri" pitchFamily="34" charset="-122"/>
                <a:cs typeface="Calibri" pitchFamily="34" charset="-120"/>
              </a:rPr>
              <a:t>A sprinter runs a 400 m race. Her muscle cells respire </a:t>
            </a:r>
            <a:r>
              <a:rPr lang="en-US" sz="1200" b="1" i="1" dirty="0">
                <a:solidFill>
                  <a:srgbClr val="262B3A"/>
                </a:solidFill>
                <a:latin typeface="Calibri" pitchFamily="34" charset="0"/>
                <a:ea typeface="Calibri" pitchFamily="34" charset="-122"/>
                <a:cs typeface="Calibri" pitchFamily="34" charset="-120"/>
              </a:rPr>
              <a:t>aerobically</a:t>
            </a:r>
            <a:r>
              <a:rPr lang="en-US" sz="1200" i="1" dirty="0">
                <a:solidFill>
                  <a:srgbClr val="262B3A"/>
                </a:solidFill>
                <a:latin typeface="Calibri" pitchFamily="34" charset="0"/>
                <a:ea typeface="Calibri" pitchFamily="34" charset="-122"/>
                <a:cs typeface="Calibri" pitchFamily="34" charset="-120"/>
              </a:rPr>
              <a:t> and </a:t>
            </a:r>
            <a:r>
              <a:rPr lang="en-US" sz="1200" b="1" i="1" dirty="0">
                <a:solidFill>
                  <a:srgbClr val="262B3A"/>
                </a:solidFill>
                <a:latin typeface="Calibri" pitchFamily="34" charset="0"/>
                <a:ea typeface="Calibri" pitchFamily="34" charset="-122"/>
                <a:cs typeface="Calibri" pitchFamily="34" charset="-120"/>
              </a:rPr>
              <a:t>anaerobically</a:t>
            </a:r>
            <a:r>
              <a:rPr lang="en-US" sz="1200" i="1" dirty="0">
                <a:solidFill>
                  <a:srgbClr val="262B3A"/>
                </a:solidFill>
                <a:latin typeface="Calibri" pitchFamily="34" charset="0"/>
                <a:ea typeface="Calibri" pitchFamily="34" charset="-122"/>
                <a:cs typeface="Calibri" pitchFamily="34" charset="-120"/>
              </a:rPr>
              <a:t>. Scientists also study respiration in </a:t>
            </a:r>
            <a:r>
              <a:rPr lang="en-US" sz="1200" b="1" i="1" dirty="0">
                <a:solidFill>
                  <a:srgbClr val="262B3A"/>
                </a:solidFill>
                <a:latin typeface="Calibri" pitchFamily="34" charset="0"/>
                <a:ea typeface="Calibri" pitchFamily="34" charset="-122"/>
                <a:cs typeface="Calibri" pitchFamily="34" charset="-120"/>
              </a:rPr>
              <a:t>yeast</a:t>
            </a:r>
            <a:r>
              <a:rPr lang="en-US" sz="1200" i="1" dirty="0">
                <a:solidFill>
                  <a:srgbClr val="262B3A"/>
                </a:solidFill>
                <a:latin typeface="Calibri" pitchFamily="34" charset="0"/>
                <a:ea typeface="Calibri" pitchFamily="34" charset="-122"/>
                <a:cs typeface="Calibri" pitchFamily="34" charset="-120"/>
              </a:rPr>
              <a:t>.</a:t>
            </a:r>
            <a:endParaRPr lang="en-US" sz="1200" dirty="0"/>
          </a:p>
        </p:txBody>
      </p:sp>
      <p:sp>
        <p:nvSpPr>
          <p:cNvPr id="9" name="Shape 7"/>
          <p:cNvSpPr/>
          <p:nvPr/>
        </p:nvSpPr>
        <p:spPr>
          <a:xfrm>
            <a:off x="411480" y="1719072"/>
            <a:ext cx="5570068" cy="1310640"/>
          </a:xfrm>
          <a:prstGeom prst="roundRect">
            <a:avLst>
              <a:gd name="adj" fmla="val 3488"/>
            </a:avLst>
          </a:prstGeom>
          <a:solidFill>
            <a:srgbClr val="F4FAF9"/>
          </a:solidFill>
          <a:ln w="9525">
            <a:solidFill>
              <a:srgbClr val="CFE0DE"/>
            </a:solidFill>
            <a:prstDash val="solid"/>
          </a:ln>
        </p:spPr>
      </p:sp>
      <p:sp>
        <p:nvSpPr>
          <p:cNvPr id="10" name="Text 8"/>
          <p:cNvSpPr/>
          <p:nvPr/>
        </p:nvSpPr>
        <p:spPr>
          <a:xfrm>
            <a:off x="548640" y="1792224"/>
            <a:ext cx="5295748" cy="944880"/>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(a)  </a:t>
            </a:r>
            <a:r>
              <a:rPr lang="en-US" sz="1200" dirty="0">
                <a:solidFill>
                  <a:srgbClr val="262B3A"/>
                </a:solidFill>
                <a:latin typeface="Calibri" pitchFamily="34" charset="0"/>
                <a:ea typeface="Calibri" pitchFamily="34" charset="-122"/>
                <a:cs typeface="Calibri" pitchFamily="34" charset="-120"/>
              </a:rPr>
              <a:t>Complete the word equation for aerobic respiration.</a:t>
            </a:r>
            <a:endParaRPr lang="en-US" sz="1200" dirty="0"/>
          </a:p>
          <a:p>
            <a:pPr indent="0" marL="0">
              <a:buNone/>
            </a:pPr>
            <a:r>
              <a:rPr lang="en-US" sz="1200" dirty="0">
                <a:solidFill>
                  <a:srgbClr val="262B3A"/>
                </a:solidFill>
                <a:latin typeface="Calibri" pitchFamily="34" charset="0"/>
                <a:ea typeface="Calibri" pitchFamily="34" charset="-122"/>
                <a:cs typeface="Calibri" pitchFamily="34" charset="-120"/>
              </a:rPr>
              <a:t>glucose + ……… → ……… + water</a:t>
            </a:r>
            <a:endParaRPr lang="en-US" sz="1200" dirty="0"/>
          </a:p>
        </p:txBody>
      </p:sp>
      <p:sp>
        <p:nvSpPr>
          <p:cNvPr id="11" name="Text 9"/>
          <p:cNvSpPr/>
          <p:nvPr/>
        </p:nvSpPr>
        <p:spPr>
          <a:xfrm>
            <a:off x="4518508" y="2718816"/>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2" name="Shape 10"/>
          <p:cNvSpPr/>
          <p:nvPr/>
        </p:nvSpPr>
        <p:spPr>
          <a:xfrm>
            <a:off x="411480" y="3139440"/>
            <a:ext cx="5570068" cy="1310640"/>
          </a:xfrm>
          <a:prstGeom prst="roundRect">
            <a:avLst>
              <a:gd name="adj" fmla="val 3488"/>
            </a:avLst>
          </a:prstGeom>
          <a:solidFill>
            <a:srgbClr val="FFFFFF"/>
          </a:solidFill>
          <a:ln w="9525">
            <a:solidFill>
              <a:srgbClr val="CFE0DE"/>
            </a:solidFill>
            <a:prstDash val="solid"/>
          </a:ln>
        </p:spPr>
      </p:sp>
      <p:sp>
        <p:nvSpPr>
          <p:cNvPr id="13" name="Text 11"/>
          <p:cNvSpPr/>
          <p:nvPr/>
        </p:nvSpPr>
        <p:spPr>
          <a:xfrm>
            <a:off x="548640" y="3212592"/>
            <a:ext cx="5295748" cy="944880"/>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(b)  </a:t>
            </a:r>
            <a:r>
              <a:rPr lang="en-US" sz="1200" dirty="0">
                <a:solidFill>
                  <a:srgbClr val="262B3A"/>
                </a:solidFill>
                <a:latin typeface="Calibri" pitchFamily="34" charset="0"/>
                <a:ea typeface="Calibri" pitchFamily="34" charset="-122"/>
                <a:cs typeface="Calibri" pitchFamily="34" charset="-120"/>
              </a:rPr>
              <a:t>Muscle cells contain many </a:t>
            </a:r>
            <a:r>
              <a:rPr lang="en-US" sz="1200" b="1" dirty="0">
                <a:solidFill>
                  <a:srgbClr val="262B3A"/>
                </a:solidFill>
                <a:latin typeface="Calibri" pitchFamily="34" charset="0"/>
                <a:ea typeface="Calibri" pitchFamily="34" charset="-122"/>
                <a:cs typeface="Calibri" pitchFamily="34" charset="-120"/>
              </a:rPr>
              <a:t>mitochondria</a:t>
            </a:r>
            <a:r>
              <a:rPr lang="en-US" sz="1200" dirty="0">
                <a:solidFill>
                  <a:srgbClr val="262B3A"/>
                </a:solidFill>
                <a:latin typeface="Calibri" pitchFamily="34" charset="0"/>
                <a:ea typeface="Calibri" pitchFamily="34" charset="-122"/>
                <a:cs typeface="Calibri" pitchFamily="34" charset="-120"/>
              </a:rPr>
              <a:t>. Explain why.</a:t>
            </a:r>
            <a:endParaRPr lang="en-US" sz="1200" dirty="0"/>
          </a:p>
        </p:txBody>
      </p:sp>
      <p:sp>
        <p:nvSpPr>
          <p:cNvPr id="14" name="Text 12"/>
          <p:cNvSpPr/>
          <p:nvPr/>
        </p:nvSpPr>
        <p:spPr>
          <a:xfrm>
            <a:off x="4518508" y="413918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5" name="Shape 13"/>
          <p:cNvSpPr/>
          <p:nvPr/>
        </p:nvSpPr>
        <p:spPr>
          <a:xfrm>
            <a:off x="411480" y="4559808"/>
            <a:ext cx="5570068" cy="1703832"/>
          </a:xfrm>
          <a:prstGeom prst="roundRect">
            <a:avLst>
              <a:gd name="adj" fmla="val 2683"/>
            </a:avLst>
          </a:prstGeom>
          <a:solidFill>
            <a:srgbClr val="F4FAF9"/>
          </a:solidFill>
          <a:ln w="9525">
            <a:solidFill>
              <a:srgbClr val="CFE0DE"/>
            </a:solidFill>
            <a:prstDash val="solid"/>
          </a:ln>
        </p:spPr>
      </p:sp>
      <p:sp>
        <p:nvSpPr>
          <p:cNvPr id="16" name="Text 14"/>
          <p:cNvSpPr/>
          <p:nvPr/>
        </p:nvSpPr>
        <p:spPr>
          <a:xfrm>
            <a:off x="548640" y="4632960"/>
            <a:ext cx="5295748" cy="1338072"/>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(c)  </a:t>
            </a:r>
            <a:r>
              <a:rPr lang="en-US" sz="1200" dirty="0">
                <a:solidFill>
                  <a:srgbClr val="262B3A"/>
                </a:solidFill>
                <a:latin typeface="Calibri" pitchFamily="34" charset="0"/>
                <a:ea typeface="Calibri" pitchFamily="34" charset="-122"/>
                <a:cs typeface="Calibri" pitchFamily="34" charset="-120"/>
              </a:rPr>
              <a:t>Near the end of the race her muscles respire </a:t>
            </a:r>
            <a:r>
              <a:rPr lang="en-US" sz="1200" b="1" dirty="0">
                <a:solidFill>
                  <a:srgbClr val="262B3A"/>
                </a:solidFill>
                <a:latin typeface="Calibri" pitchFamily="34" charset="0"/>
                <a:ea typeface="Calibri" pitchFamily="34" charset="-122"/>
                <a:cs typeface="Calibri" pitchFamily="34" charset="-120"/>
              </a:rPr>
              <a:t>anaerobically</a:t>
            </a:r>
            <a:r>
              <a:rPr lang="en-US" sz="1200" dirty="0">
                <a:solidFill>
                  <a:srgbClr val="262B3A"/>
                </a:solidFill>
                <a:latin typeface="Calibri" pitchFamily="34" charset="0"/>
                <a:ea typeface="Calibri" pitchFamily="34" charset="-122"/>
                <a:cs typeface="Calibri" pitchFamily="34" charset="-120"/>
              </a:rPr>
              <a:t>. Explain why, and why she keeps breathing quickly </a:t>
            </a:r>
            <a:r>
              <a:rPr lang="en-US" sz="1200" b="1" dirty="0">
                <a:solidFill>
                  <a:srgbClr val="262B3A"/>
                </a:solidFill>
                <a:latin typeface="Calibri" pitchFamily="34" charset="0"/>
                <a:ea typeface="Calibri" pitchFamily="34" charset="-122"/>
                <a:cs typeface="Calibri" pitchFamily="34" charset="-120"/>
              </a:rPr>
              <a:t>after</a:t>
            </a:r>
            <a:r>
              <a:rPr lang="en-US" sz="1200" dirty="0">
                <a:solidFill>
                  <a:srgbClr val="262B3A"/>
                </a:solidFill>
                <a:latin typeface="Calibri" pitchFamily="34" charset="0"/>
                <a:ea typeface="Calibri" pitchFamily="34" charset="-122"/>
                <a:cs typeface="Calibri" pitchFamily="34" charset="-120"/>
              </a:rPr>
              <a:t> the race.</a:t>
            </a:r>
            <a:endParaRPr lang="en-US" sz="1200" dirty="0"/>
          </a:p>
        </p:txBody>
      </p:sp>
      <p:sp>
        <p:nvSpPr>
          <p:cNvPr id="17" name="Text 15"/>
          <p:cNvSpPr/>
          <p:nvPr/>
        </p:nvSpPr>
        <p:spPr>
          <a:xfrm>
            <a:off x="4518508"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8" name="Shape 16"/>
          <p:cNvSpPr/>
          <p:nvPr/>
        </p:nvSpPr>
        <p:spPr>
          <a:xfrm>
            <a:off x="6210148" y="1719072"/>
            <a:ext cx="5570068" cy="1579009"/>
          </a:xfrm>
          <a:prstGeom prst="roundRect">
            <a:avLst>
              <a:gd name="adj" fmla="val 2895"/>
            </a:avLst>
          </a:prstGeom>
          <a:solidFill>
            <a:srgbClr val="F4FAF9"/>
          </a:solidFill>
          <a:ln w="9525">
            <a:solidFill>
              <a:srgbClr val="CFE0DE"/>
            </a:solidFill>
            <a:prstDash val="solid"/>
          </a:ln>
        </p:spPr>
      </p:sp>
      <p:sp>
        <p:nvSpPr>
          <p:cNvPr id="19" name="Text 17"/>
          <p:cNvSpPr/>
          <p:nvPr/>
        </p:nvSpPr>
        <p:spPr>
          <a:xfrm>
            <a:off x="6347308" y="1792224"/>
            <a:ext cx="5295748" cy="1213249"/>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(d)  </a:t>
            </a:r>
            <a:r>
              <a:rPr lang="en-US" sz="1200" dirty="0">
                <a:solidFill>
                  <a:srgbClr val="262B3A"/>
                </a:solidFill>
                <a:latin typeface="Calibri" pitchFamily="34" charset="0"/>
                <a:ea typeface="Calibri" pitchFamily="34" charset="-122"/>
                <a:cs typeface="Calibri" pitchFamily="34" charset="-120"/>
              </a:rPr>
              <a:t>Aerobic respiration makes about </a:t>
            </a:r>
            <a:r>
              <a:rPr lang="en-US" sz="1200" b="1" dirty="0">
                <a:solidFill>
                  <a:srgbClr val="262B3A"/>
                </a:solidFill>
                <a:latin typeface="Calibri" pitchFamily="34" charset="0"/>
                <a:ea typeface="Calibri" pitchFamily="34" charset="-122"/>
                <a:cs typeface="Calibri" pitchFamily="34" charset="-120"/>
              </a:rPr>
              <a:t>32 ATP</a:t>
            </a:r>
            <a:r>
              <a:rPr lang="en-US" sz="1200" dirty="0">
                <a:solidFill>
                  <a:srgbClr val="262B3A"/>
                </a:solidFill>
                <a:latin typeface="Calibri" pitchFamily="34" charset="0"/>
                <a:ea typeface="Calibri" pitchFamily="34" charset="-122"/>
                <a:cs typeface="Calibri" pitchFamily="34" charset="-120"/>
              </a:rPr>
              <a:t> per glucose and anaerobic respiration makes </a:t>
            </a:r>
            <a:r>
              <a:rPr lang="en-US" sz="1200" b="1" dirty="0">
                <a:solidFill>
                  <a:srgbClr val="262B3A"/>
                </a:solidFill>
                <a:latin typeface="Calibri" pitchFamily="34" charset="0"/>
                <a:ea typeface="Calibri" pitchFamily="34" charset="-122"/>
                <a:cs typeface="Calibri" pitchFamily="34" charset="-120"/>
              </a:rPr>
              <a:t>2</a:t>
            </a:r>
            <a:r>
              <a:rPr lang="en-US" sz="1200" dirty="0">
                <a:solidFill>
                  <a:srgbClr val="262B3A"/>
                </a:solidFill>
                <a:latin typeface="Calibri" pitchFamily="34" charset="0"/>
                <a:ea typeface="Calibri" pitchFamily="34" charset="-122"/>
                <a:cs typeface="Calibri" pitchFamily="34" charset="-120"/>
              </a:rPr>
              <a:t>. How many times more ATP does aerobic respiration make per glucose?</a:t>
            </a:r>
            <a:endParaRPr lang="en-US" sz="1200" dirty="0"/>
          </a:p>
        </p:txBody>
      </p:sp>
      <p:sp>
        <p:nvSpPr>
          <p:cNvPr id="20" name="Text 18"/>
          <p:cNvSpPr/>
          <p:nvPr/>
        </p:nvSpPr>
        <p:spPr>
          <a:xfrm>
            <a:off x="10317175" y="2987185"/>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1" name="Shape 19"/>
          <p:cNvSpPr/>
          <p:nvPr/>
        </p:nvSpPr>
        <p:spPr>
          <a:xfrm>
            <a:off x="6210148" y="3407809"/>
            <a:ext cx="5570068" cy="1373051"/>
          </a:xfrm>
          <a:prstGeom prst="roundRect">
            <a:avLst>
              <a:gd name="adj" fmla="val 3330"/>
            </a:avLst>
          </a:prstGeom>
          <a:solidFill>
            <a:srgbClr val="FFFFFF"/>
          </a:solidFill>
          <a:ln w="9525">
            <a:solidFill>
              <a:srgbClr val="CFE0DE"/>
            </a:solidFill>
            <a:prstDash val="solid"/>
          </a:ln>
        </p:spPr>
      </p:sp>
      <p:sp>
        <p:nvSpPr>
          <p:cNvPr id="22" name="Text 20"/>
          <p:cNvSpPr/>
          <p:nvPr/>
        </p:nvSpPr>
        <p:spPr>
          <a:xfrm>
            <a:off x="6347308" y="3480961"/>
            <a:ext cx="5295748" cy="1007291"/>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(e)  </a:t>
            </a:r>
            <a:r>
              <a:rPr lang="en-US" sz="1200" dirty="0">
                <a:solidFill>
                  <a:srgbClr val="262B3A"/>
                </a:solidFill>
                <a:latin typeface="Calibri" pitchFamily="34" charset="0"/>
                <a:ea typeface="Calibri" pitchFamily="34" charset="-122"/>
                <a:cs typeface="Calibri" pitchFamily="34" charset="-120"/>
              </a:rPr>
              <a:t>Yeast respiring glucose produced </a:t>
            </a:r>
            <a:r>
              <a:rPr lang="en-US" sz="1200" b="1" dirty="0">
                <a:solidFill>
                  <a:srgbClr val="262B3A"/>
                </a:solidFill>
                <a:latin typeface="Calibri" pitchFamily="34" charset="0"/>
                <a:ea typeface="Calibri" pitchFamily="34" charset="-122"/>
                <a:cs typeface="Calibri" pitchFamily="34" charset="-120"/>
              </a:rPr>
              <a:t>18 cm³</a:t>
            </a:r>
            <a:r>
              <a:rPr lang="en-US" sz="1200" dirty="0">
                <a:solidFill>
                  <a:srgbClr val="262B3A"/>
                </a:solidFill>
                <a:latin typeface="Calibri" pitchFamily="34" charset="0"/>
                <a:ea typeface="Calibri" pitchFamily="34" charset="-122"/>
                <a:cs typeface="Calibri" pitchFamily="34" charset="-120"/>
              </a:rPr>
              <a:t> of carbon dioxide in </a:t>
            </a:r>
            <a:r>
              <a:rPr lang="en-US" sz="1200" b="1" dirty="0">
                <a:solidFill>
                  <a:srgbClr val="262B3A"/>
                </a:solidFill>
                <a:latin typeface="Calibri" pitchFamily="34" charset="0"/>
                <a:ea typeface="Calibri" pitchFamily="34" charset="-122"/>
                <a:cs typeface="Calibri" pitchFamily="34" charset="-120"/>
              </a:rPr>
              <a:t>5 minutes</a:t>
            </a:r>
            <a:r>
              <a:rPr lang="en-US" sz="1200" dirty="0">
                <a:solidFill>
                  <a:srgbClr val="262B3A"/>
                </a:solidFill>
                <a:latin typeface="Calibri" pitchFamily="34" charset="0"/>
                <a:ea typeface="Calibri" pitchFamily="34" charset="-122"/>
                <a:cs typeface="Calibri" pitchFamily="34" charset="-120"/>
              </a:rPr>
              <a:t>. Calculate the rate of respiration. Give the unit.</a:t>
            </a:r>
            <a:endParaRPr lang="en-US" sz="1200" dirty="0"/>
          </a:p>
        </p:txBody>
      </p:sp>
      <p:sp>
        <p:nvSpPr>
          <p:cNvPr id="23" name="Text 21"/>
          <p:cNvSpPr/>
          <p:nvPr/>
        </p:nvSpPr>
        <p:spPr>
          <a:xfrm>
            <a:off x="10317175" y="4469965"/>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4" name="Shape 22"/>
          <p:cNvSpPr/>
          <p:nvPr/>
        </p:nvSpPr>
        <p:spPr>
          <a:xfrm>
            <a:off x="6210148" y="4890589"/>
            <a:ext cx="5570068" cy="1373051"/>
          </a:xfrm>
          <a:prstGeom prst="roundRect">
            <a:avLst>
              <a:gd name="adj" fmla="val 3330"/>
            </a:avLst>
          </a:prstGeom>
          <a:solidFill>
            <a:srgbClr val="F4FAF9"/>
          </a:solidFill>
          <a:ln w="9525">
            <a:solidFill>
              <a:srgbClr val="CFE0DE"/>
            </a:solidFill>
            <a:prstDash val="solid"/>
          </a:ln>
        </p:spPr>
      </p:sp>
      <p:sp>
        <p:nvSpPr>
          <p:cNvPr id="25" name="Text 23"/>
          <p:cNvSpPr/>
          <p:nvPr/>
        </p:nvSpPr>
        <p:spPr>
          <a:xfrm>
            <a:off x="6347308" y="4963741"/>
            <a:ext cx="5295748" cy="1007291"/>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(f)  </a:t>
            </a:r>
            <a:r>
              <a:rPr lang="en-US" sz="1200" dirty="0">
                <a:solidFill>
                  <a:srgbClr val="262B3A"/>
                </a:solidFill>
                <a:latin typeface="Calibri" pitchFamily="34" charset="0"/>
                <a:ea typeface="Calibri" pitchFamily="34" charset="-122"/>
                <a:cs typeface="Calibri" pitchFamily="34" charset="-120"/>
              </a:rPr>
              <a:t>Explain why cellular respiration is described as </a:t>
            </a:r>
            <a:r>
              <a:rPr lang="en-US" sz="1200" b="1" dirty="0">
                <a:solidFill>
                  <a:srgbClr val="262B3A"/>
                </a:solidFill>
                <a:latin typeface="Calibri" pitchFamily="34" charset="0"/>
                <a:ea typeface="Calibri" pitchFamily="34" charset="-122"/>
                <a:cs typeface="Calibri" pitchFamily="34" charset="-120"/>
              </a:rPr>
              <a:t>exothermic</a:t>
            </a:r>
            <a:r>
              <a:rPr lang="en-US" sz="1200" dirty="0">
                <a:solidFill>
                  <a:srgbClr val="262B3A"/>
                </a:solidFill>
                <a:latin typeface="Calibri" pitchFamily="34" charset="0"/>
                <a:ea typeface="Calibri" pitchFamily="34" charset="-122"/>
                <a:cs typeface="Calibri" pitchFamily="34" charset="-120"/>
              </a:rPr>
              <a:t>, and why it must happen </a:t>
            </a:r>
            <a:r>
              <a:rPr lang="en-US" sz="1200" b="1" dirty="0">
                <a:solidFill>
                  <a:srgbClr val="262B3A"/>
                </a:solidFill>
                <a:latin typeface="Calibri" pitchFamily="34" charset="0"/>
                <a:ea typeface="Calibri" pitchFamily="34" charset="-122"/>
                <a:cs typeface="Calibri" pitchFamily="34" charset="-120"/>
              </a:rPr>
              <a:t>continuously</a:t>
            </a:r>
            <a:r>
              <a:rPr lang="en-US" sz="1200" dirty="0">
                <a:solidFill>
                  <a:srgbClr val="262B3A"/>
                </a:solidFill>
                <a:latin typeface="Calibri" pitchFamily="34" charset="0"/>
                <a:ea typeface="Calibri" pitchFamily="34" charset="-122"/>
                <a:cs typeface="Calibri" pitchFamily="34" charset="-120"/>
              </a:rPr>
              <a:t>.</a:t>
            </a:r>
            <a:endParaRPr lang="en-US" sz="1200" dirty="0"/>
          </a:p>
        </p:txBody>
      </p:sp>
      <p:sp>
        <p:nvSpPr>
          <p:cNvPr id="26" name="Text 24"/>
          <p:cNvSpPr/>
          <p:nvPr/>
        </p:nvSpPr>
        <p:spPr>
          <a:xfrm>
            <a:off x="10317175"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7" name="Text 25"/>
          <p:cNvSpPr/>
          <p:nvPr/>
        </p:nvSpPr>
        <p:spPr>
          <a:xfrm>
            <a:off x="9448495" y="6236208"/>
            <a:ext cx="2331720" cy="219456"/>
          </a:xfrm>
          <a:prstGeom prst="rect">
            <a:avLst/>
          </a:prstGeom>
          <a:noFill/>
          <a:ln/>
        </p:spPr>
        <p:txBody>
          <a:bodyPr wrap="square" lIns="0" tIns="0" rIns="0" bIns="0" rtlCol="0" anchor="ctr"/>
          <a:lstStyle/>
          <a:p>
            <a:pPr algn="r" indent="0" marL="0">
              <a:buNone/>
            </a:pPr>
            <a:r>
              <a:rPr lang="en-US" sz="1100" b="1" dirty="0">
                <a:solidFill>
                  <a:srgbClr val="B8730A"/>
                </a:solidFill>
                <a:latin typeface="Calibri" pitchFamily="34" charset="0"/>
                <a:ea typeface="Calibri" pitchFamily="34" charset="-122"/>
                <a:cs typeface="Calibri" pitchFamily="34" charset="-120"/>
              </a:rPr>
              <a:t>Total: 13 marks</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C6867"/>
        </a:solidFill>
      </p:bgPr>
    </p:bg>
    <p:spTree>
      <p:nvGrpSpPr>
        <p:cNvPr id="1" name=""/>
        <p:cNvGrpSpPr/>
        <p:nvPr/>
      </p:nvGrpSpPr>
      <p:grpSpPr>
        <a:xfrm>
          <a:off x="0" y="0"/>
          <a:ext cx="0" cy="0"/>
          <a:chOff x="0" y="0"/>
          <a:chExt cx="0" cy="0"/>
        </a:xfrm>
      </p:grpSpPr>
      <p:sp>
        <p:nvSpPr>
          <p:cNvPr id="2" name="Shape 0"/>
          <p:cNvSpPr/>
          <p:nvPr/>
        </p:nvSpPr>
        <p:spPr>
          <a:xfrm>
            <a:off x="8503920" y="-1097280"/>
            <a:ext cx="5029200" cy="5029200"/>
          </a:xfrm>
          <a:prstGeom prst="ellipse">
            <a:avLst/>
          </a:prstGeom>
          <a:solidFill>
            <a:srgbClr val="0E7C7B"/>
          </a:solidFill>
          <a:ln w="12700">
            <a:solidFill>
              <a:srgbClr val="0E7C7B"/>
            </a:solidFill>
            <a:prstDash val="solid"/>
          </a:ln>
        </p:spPr>
      </p:sp>
      <p:sp>
        <p:nvSpPr>
          <p:cNvPr id="3" name="Shape 1"/>
          <p:cNvSpPr/>
          <p:nvPr/>
        </p:nvSpPr>
        <p:spPr>
          <a:xfrm>
            <a:off x="914400" y="2148840"/>
            <a:ext cx="1463040" cy="1463040"/>
          </a:xfrm>
          <a:prstGeom prst="ellipse">
            <a:avLst/>
          </a:prstGeom>
          <a:solidFill>
            <a:srgbClr val="FFFFFF"/>
          </a:solidFill>
          <a:ln w="12700">
            <a:solidFill>
              <a:srgbClr val="FFFFFF"/>
            </a:solidFill>
            <a:prstDash val="solid"/>
          </a:ln>
        </p:spPr>
      </p:sp>
      <p:sp>
        <p:nvSpPr>
          <p:cNvPr id="4" name="Shape 2"/>
          <p:cNvSpPr/>
          <p:nvPr/>
        </p:nvSpPr>
        <p:spPr>
          <a:xfrm rot="-2700000">
            <a:off x="1143000" y="2779776"/>
            <a:ext cx="914400" cy="201168"/>
          </a:xfrm>
          <a:prstGeom prst="rect">
            <a:avLst/>
          </a:prstGeom>
          <a:solidFill>
            <a:srgbClr val="0C6867"/>
          </a:solidFill>
          <a:ln w="12700">
            <a:solidFill>
              <a:srgbClr val="0C6867"/>
            </a:solidFill>
            <a:prstDash val="solid"/>
          </a:ln>
        </p:spPr>
      </p:sp>
      <p:sp>
        <p:nvSpPr>
          <p:cNvPr id="5" name="Shape 3"/>
          <p:cNvSpPr/>
          <p:nvPr/>
        </p:nvSpPr>
        <p:spPr>
          <a:xfrm rot="13500000">
            <a:off x="1161288" y="3044952"/>
            <a:ext cx="201168" cy="219456"/>
          </a:xfrm>
          <a:prstGeom prst="triangle">
            <a:avLst/>
          </a:prstGeom>
          <a:solidFill>
            <a:srgbClr val="F5A742"/>
          </a:solidFill>
          <a:ln w="12700">
            <a:solidFill>
              <a:srgbClr val="F5A742"/>
            </a:solidFill>
            <a:prstDash val="solid"/>
          </a:ln>
        </p:spPr>
      </p:sp>
      <p:sp>
        <p:nvSpPr>
          <p:cNvPr id="6" name="Shape 4"/>
          <p:cNvSpPr/>
          <p:nvPr/>
        </p:nvSpPr>
        <p:spPr>
          <a:xfrm rot="-2700000">
            <a:off x="1947672" y="2377440"/>
            <a:ext cx="182880" cy="201168"/>
          </a:xfrm>
          <a:prstGeom prst="rect">
            <a:avLst/>
          </a:prstGeom>
          <a:solidFill>
            <a:srgbClr val="C8414C"/>
          </a:solidFill>
          <a:ln w="12700">
            <a:solidFill>
              <a:srgbClr val="C8414C"/>
            </a:solidFill>
            <a:prstDash val="solid"/>
          </a:ln>
        </p:spPr>
      </p:sp>
      <p:sp>
        <p:nvSpPr>
          <p:cNvPr id="7" name="Text 5"/>
          <p:cNvSpPr/>
          <p:nvPr/>
        </p:nvSpPr>
        <p:spPr>
          <a:xfrm>
            <a:off x="2743200" y="2103120"/>
            <a:ext cx="6400800" cy="1005840"/>
          </a:xfrm>
          <a:prstGeom prst="rect">
            <a:avLst/>
          </a:prstGeom>
          <a:noFill/>
          <a:ln/>
        </p:spPr>
        <p:txBody>
          <a:bodyPr wrap="square" lIns="0" tIns="0" rIns="0" bIns="0" rtlCol="0" anchor="ctr"/>
          <a:lstStyle/>
          <a:p>
            <a:pPr indent="0" marL="0">
              <a:buNone/>
            </a:pPr>
            <a:r>
              <a:rPr lang="en-US" sz="5400" b="1" dirty="0">
                <a:solidFill>
                  <a:srgbClr val="FFFFFF"/>
                </a:solidFill>
                <a:latin typeface="Georgia" pitchFamily="34" charset="0"/>
                <a:ea typeface="Georgia" pitchFamily="34" charset="-122"/>
                <a:cs typeface="Georgia" pitchFamily="34" charset="-120"/>
              </a:rPr>
              <a:t>Homework</a:t>
            </a:r>
            <a:endParaRPr lang="en-US" sz="5400" dirty="0"/>
          </a:p>
        </p:txBody>
      </p:sp>
      <p:sp>
        <p:nvSpPr>
          <p:cNvPr id="8" name="Text 6"/>
          <p:cNvSpPr/>
          <p:nvPr/>
        </p:nvSpPr>
        <p:spPr>
          <a:xfrm>
            <a:off x="2743200" y="3108960"/>
            <a:ext cx="7315200" cy="457200"/>
          </a:xfrm>
          <a:prstGeom prst="rect">
            <a:avLst/>
          </a:prstGeom>
          <a:noFill/>
          <a:ln/>
        </p:spPr>
        <p:txBody>
          <a:bodyPr wrap="square" lIns="0" tIns="0" rIns="0" bIns="0" rtlCol="0" anchor="ctr"/>
          <a:lstStyle/>
          <a:p>
            <a:pPr indent="0" marL="0">
              <a:buNone/>
            </a:pPr>
            <a:r>
              <a:rPr lang="en-US" sz="1800" i="1" dirty="0">
                <a:solidFill>
                  <a:srgbClr val="E1F2F0"/>
                </a:solidFill>
                <a:latin typeface="Calibri" pitchFamily="34" charset="0"/>
                <a:ea typeface="Calibri" pitchFamily="34" charset="-122"/>
                <a:cs typeface="Calibri" pitchFamily="34" charset="-120"/>
              </a:rPr>
              <a:t>B4.1 What happens during cellular respiration? • 17 marks • about 30 minutes</a:t>
            </a:r>
            <a:endParaRPr lang="en-US" sz="1800" dirty="0"/>
          </a:p>
        </p:txBody>
      </p:sp>
      <p:sp>
        <p:nvSpPr>
          <p:cNvPr id="9" name="Text 7"/>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CFE7E5"/>
                </a:solidFill>
                <a:latin typeface="Calibri" pitchFamily="34" charset="0"/>
                <a:ea typeface="Calibri" pitchFamily="34" charset="-122"/>
                <a:cs typeface="Calibri" pitchFamily="34" charset="-120"/>
              </a:rPr>
              <a:t>OCR GCSE Twenty First Century Science — Combined Science B (J260) | B4.1 What happens during cellular respiration? | Higher &amp; Foundation</a:t>
            </a:r>
            <a:endParaRPr lang="en-US" sz="1000" dirty="0"/>
          </a:p>
        </p:txBody>
      </p:sp>
      <p:sp>
        <p:nvSpPr>
          <p:cNvPr id="10" name="Text 8"/>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CFE7E5"/>
                </a:solidFill>
                <a:latin typeface="Calibri" pitchFamily="34" charset="0"/>
                <a:ea typeface="Calibri" pitchFamily="34" charset="-122"/>
                <a:cs typeface="Calibri" pitchFamily="34" charset="-120"/>
              </a:rPr>
              <a:t>Homework  |  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Homework</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Answer in full sentences • show all working • 17 marks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B4.1 What happens during cellular respiration?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Homework  |  22</a:t>
            </a:r>
            <a:endParaRPr lang="en-US" sz="1000" dirty="0"/>
          </a:p>
        </p:txBody>
      </p:sp>
      <p:sp>
        <p:nvSpPr>
          <p:cNvPr id="8" name="Text 6"/>
          <p:cNvSpPr/>
          <p:nvPr/>
        </p:nvSpPr>
        <p:spPr>
          <a:xfrm>
            <a:off x="411480" y="1115568"/>
            <a:ext cx="11368735" cy="347472"/>
          </a:xfrm>
          <a:prstGeom prst="rect">
            <a:avLst/>
          </a:prstGeom>
          <a:noFill/>
          <a:ln/>
        </p:spPr>
        <p:txBody>
          <a:bodyPr wrap="square" lIns="0" tIns="0" rIns="0" bIns="0" rtlCol="0" anchor="ctr"/>
          <a:lstStyle/>
          <a:p>
            <a:pPr indent="0" marL="0">
              <a:buNone/>
            </a:pPr>
            <a:r>
              <a:rPr lang="en-US" sz="1150" i="1" dirty="0">
                <a:solidFill>
                  <a:srgbClr val="262B3A"/>
                </a:solidFill>
                <a:latin typeface="Calibri" pitchFamily="34" charset="0"/>
                <a:ea typeface="Calibri" pitchFamily="34" charset="-122"/>
                <a:cs typeface="Calibri" pitchFamily="34" charset="-120"/>
              </a:rPr>
              <a:t>Answer all questions. Q6 is a stretch calculation.</a:t>
            </a:r>
            <a:endParaRPr lang="en-US" sz="1150" dirty="0"/>
          </a:p>
        </p:txBody>
      </p:sp>
      <p:sp>
        <p:nvSpPr>
          <p:cNvPr id="9" name="Shape 7"/>
          <p:cNvSpPr/>
          <p:nvPr/>
        </p:nvSpPr>
        <p:spPr>
          <a:xfrm>
            <a:off x="411480" y="1517904"/>
            <a:ext cx="5570068" cy="1120140"/>
          </a:xfrm>
          <a:prstGeom prst="roundRect">
            <a:avLst>
              <a:gd name="adj" fmla="val 4082"/>
            </a:avLst>
          </a:prstGeom>
          <a:solidFill>
            <a:srgbClr val="F4FAF9"/>
          </a:solidFill>
          <a:ln w="9525">
            <a:solidFill>
              <a:srgbClr val="CFE0DE"/>
            </a:solidFill>
            <a:prstDash val="solid"/>
          </a:ln>
        </p:spPr>
      </p:sp>
      <p:sp>
        <p:nvSpPr>
          <p:cNvPr id="10" name="Text 8"/>
          <p:cNvSpPr/>
          <p:nvPr/>
        </p:nvSpPr>
        <p:spPr>
          <a:xfrm>
            <a:off x="548640" y="1591056"/>
            <a:ext cx="5295748" cy="772668"/>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1  </a:t>
            </a:r>
            <a:r>
              <a:rPr lang="en-US" sz="1150" dirty="0">
                <a:solidFill>
                  <a:srgbClr val="262B3A"/>
                </a:solidFill>
                <a:latin typeface="Calibri" pitchFamily="34" charset="0"/>
                <a:ea typeface="Calibri" pitchFamily="34" charset="-122"/>
                <a:cs typeface="Calibri" pitchFamily="34" charset="-120"/>
              </a:rPr>
              <a:t>Name the molecule that carries energy from respiration to the processes in a cell that need it.</a:t>
            </a:r>
            <a:endParaRPr lang="en-US" sz="1150" dirty="0"/>
          </a:p>
        </p:txBody>
      </p:sp>
      <p:sp>
        <p:nvSpPr>
          <p:cNvPr id="11" name="Text 9"/>
          <p:cNvSpPr/>
          <p:nvPr/>
        </p:nvSpPr>
        <p:spPr>
          <a:xfrm>
            <a:off x="4518508" y="2345436"/>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2" name="Shape 10"/>
          <p:cNvSpPr/>
          <p:nvPr/>
        </p:nvSpPr>
        <p:spPr>
          <a:xfrm>
            <a:off x="411480" y="2747772"/>
            <a:ext cx="5570068" cy="1120140"/>
          </a:xfrm>
          <a:prstGeom prst="roundRect">
            <a:avLst>
              <a:gd name="adj" fmla="val 4082"/>
            </a:avLst>
          </a:prstGeom>
          <a:solidFill>
            <a:srgbClr val="F4FAF9"/>
          </a:solidFill>
          <a:ln w="9525">
            <a:solidFill>
              <a:srgbClr val="CFE0DE"/>
            </a:solidFill>
            <a:prstDash val="solid"/>
          </a:ln>
        </p:spPr>
      </p:sp>
      <p:sp>
        <p:nvSpPr>
          <p:cNvPr id="13" name="Text 11"/>
          <p:cNvSpPr/>
          <p:nvPr/>
        </p:nvSpPr>
        <p:spPr>
          <a:xfrm>
            <a:off x="548640" y="2820924"/>
            <a:ext cx="5295748" cy="772668"/>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2  </a:t>
            </a:r>
            <a:r>
              <a:rPr lang="en-US" sz="1150" dirty="0">
                <a:solidFill>
                  <a:srgbClr val="262B3A"/>
                </a:solidFill>
                <a:latin typeface="Calibri" pitchFamily="34" charset="0"/>
                <a:ea typeface="Calibri" pitchFamily="34" charset="-122"/>
                <a:cs typeface="Calibri" pitchFamily="34" charset="-120"/>
              </a:rPr>
              <a:t>Write the </a:t>
            </a:r>
            <a:r>
              <a:rPr lang="en-US" sz="1150" b="1" dirty="0">
                <a:solidFill>
                  <a:srgbClr val="262B3A"/>
                </a:solidFill>
                <a:latin typeface="Calibri" pitchFamily="34" charset="0"/>
                <a:ea typeface="Calibri" pitchFamily="34" charset="-122"/>
                <a:cs typeface="Calibri" pitchFamily="34" charset="-120"/>
              </a:rPr>
              <a:t>word equation</a:t>
            </a:r>
            <a:r>
              <a:rPr lang="en-US" sz="1150" dirty="0">
                <a:solidFill>
                  <a:srgbClr val="262B3A"/>
                </a:solidFill>
                <a:latin typeface="Calibri" pitchFamily="34" charset="0"/>
                <a:ea typeface="Calibri" pitchFamily="34" charset="-122"/>
                <a:cs typeface="Calibri" pitchFamily="34" charset="-120"/>
              </a:rPr>
              <a:t> for anaerobic respiration in </a:t>
            </a:r>
            <a:r>
              <a:rPr lang="en-US" sz="1150" b="1" dirty="0">
                <a:solidFill>
                  <a:srgbClr val="262B3A"/>
                </a:solidFill>
                <a:latin typeface="Calibri" pitchFamily="34" charset="0"/>
                <a:ea typeface="Calibri" pitchFamily="34" charset="-122"/>
                <a:cs typeface="Calibri" pitchFamily="34" charset="-120"/>
              </a:rPr>
              <a:t>yeast</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14" name="Text 12"/>
          <p:cNvSpPr/>
          <p:nvPr/>
        </p:nvSpPr>
        <p:spPr>
          <a:xfrm>
            <a:off x="4518508" y="3575304"/>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5" name="Shape 13"/>
          <p:cNvSpPr/>
          <p:nvPr/>
        </p:nvSpPr>
        <p:spPr>
          <a:xfrm>
            <a:off x="411480" y="3977640"/>
            <a:ext cx="5570068" cy="1120140"/>
          </a:xfrm>
          <a:prstGeom prst="roundRect">
            <a:avLst>
              <a:gd name="adj" fmla="val 4082"/>
            </a:avLst>
          </a:prstGeom>
          <a:solidFill>
            <a:srgbClr val="F4FAF9"/>
          </a:solidFill>
          <a:ln w="9525">
            <a:solidFill>
              <a:srgbClr val="CFE0DE"/>
            </a:solidFill>
            <a:prstDash val="solid"/>
          </a:ln>
        </p:spPr>
      </p:sp>
      <p:sp>
        <p:nvSpPr>
          <p:cNvPr id="16" name="Text 14"/>
          <p:cNvSpPr/>
          <p:nvPr/>
        </p:nvSpPr>
        <p:spPr>
          <a:xfrm>
            <a:off x="548640" y="4050792"/>
            <a:ext cx="5295748" cy="772668"/>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3  </a:t>
            </a:r>
            <a:r>
              <a:rPr lang="en-US" sz="1150" dirty="0">
                <a:solidFill>
                  <a:srgbClr val="262B3A"/>
                </a:solidFill>
                <a:latin typeface="Calibri" pitchFamily="34" charset="0"/>
                <a:ea typeface="Calibri" pitchFamily="34" charset="-122"/>
                <a:cs typeface="Calibri" pitchFamily="34" charset="-120"/>
              </a:rPr>
              <a:t>A plant is left in </a:t>
            </a:r>
            <a:r>
              <a:rPr lang="en-US" sz="1150" b="1" dirty="0">
                <a:solidFill>
                  <a:srgbClr val="262B3A"/>
                </a:solidFill>
                <a:latin typeface="Calibri" pitchFamily="34" charset="0"/>
                <a:ea typeface="Calibri" pitchFamily="34" charset="-122"/>
                <a:cs typeface="Calibri" pitchFamily="34" charset="-120"/>
              </a:rPr>
              <a:t>waterlogged</a:t>
            </a:r>
            <a:r>
              <a:rPr lang="en-US" sz="1150" dirty="0">
                <a:solidFill>
                  <a:srgbClr val="262B3A"/>
                </a:solidFill>
                <a:latin typeface="Calibri" pitchFamily="34" charset="0"/>
                <a:ea typeface="Calibri" pitchFamily="34" charset="-122"/>
                <a:cs typeface="Calibri" pitchFamily="34" charset="-120"/>
              </a:rPr>
              <a:t> soil for two weeks and wilts. Explain why.</a:t>
            </a:r>
            <a:endParaRPr lang="en-US" sz="1150" dirty="0"/>
          </a:p>
        </p:txBody>
      </p:sp>
      <p:sp>
        <p:nvSpPr>
          <p:cNvPr id="17" name="Text 15"/>
          <p:cNvSpPr/>
          <p:nvPr/>
        </p:nvSpPr>
        <p:spPr>
          <a:xfrm>
            <a:off x="4518508" y="4805172"/>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8" name="Shape 16"/>
          <p:cNvSpPr/>
          <p:nvPr/>
        </p:nvSpPr>
        <p:spPr>
          <a:xfrm>
            <a:off x="411480" y="5207508"/>
            <a:ext cx="5570068" cy="1120140"/>
          </a:xfrm>
          <a:prstGeom prst="roundRect">
            <a:avLst>
              <a:gd name="adj" fmla="val 4082"/>
            </a:avLst>
          </a:prstGeom>
          <a:solidFill>
            <a:srgbClr val="F4FAF9"/>
          </a:solidFill>
          <a:ln w="9525">
            <a:solidFill>
              <a:srgbClr val="CFE0DE"/>
            </a:solidFill>
            <a:prstDash val="solid"/>
          </a:ln>
        </p:spPr>
      </p:sp>
      <p:sp>
        <p:nvSpPr>
          <p:cNvPr id="19" name="Text 17"/>
          <p:cNvSpPr/>
          <p:nvPr/>
        </p:nvSpPr>
        <p:spPr>
          <a:xfrm>
            <a:off x="548640" y="5280660"/>
            <a:ext cx="5295748" cy="772668"/>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4  </a:t>
            </a:r>
            <a:r>
              <a:rPr lang="en-US" sz="1150" dirty="0">
                <a:solidFill>
                  <a:srgbClr val="262B3A"/>
                </a:solidFill>
                <a:latin typeface="Calibri" pitchFamily="34" charset="0"/>
                <a:ea typeface="Calibri" pitchFamily="34" charset="-122"/>
                <a:cs typeface="Calibri" pitchFamily="34" charset="-120"/>
              </a:rPr>
              <a:t>Yeast in a sucrose solution produced </a:t>
            </a:r>
            <a:r>
              <a:rPr lang="en-US" sz="1150" b="1" dirty="0">
                <a:solidFill>
                  <a:srgbClr val="262B3A"/>
                </a:solidFill>
                <a:latin typeface="Calibri" pitchFamily="34" charset="0"/>
                <a:ea typeface="Calibri" pitchFamily="34" charset="-122"/>
                <a:cs typeface="Calibri" pitchFamily="34" charset="-120"/>
              </a:rPr>
              <a:t>24 cm³</a:t>
            </a:r>
            <a:r>
              <a:rPr lang="en-US" sz="1150" dirty="0">
                <a:solidFill>
                  <a:srgbClr val="262B3A"/>
                </a:solidFill>
                <a:latin typeface="Calibri" pitchFamily="34" charset="0"/>
                <a:ea typeface="Calibri" pitchFamily="34" charset="-122"/>
                <a:cs typeface="Calibri" pitchFamily="34" charset="-120"/>
              </a:rPr>
              <a:t> of gas in </a:t>
            </a:r>
            <a:r>
              <a:rPr lang="en-US" sz="1150" b="1" dirty="0">
                <a:solidFill>
                  <a:srgbClr val="262B3A"/>
                </a:solidFill>
                <a:latin typeface="Calibri" pitchFamily="34" charset="0"/>
                <a:ea typeface="Calibri" pitchFamily="34" charset="-122"/>
                <a:cs typeface="Calibri" pitchFamily="34" charset="-120"/>
              </a:rPr>
              <a:t>8 minutes</a:t>
            </a:r>
            <a:r>
              <a:rPr lang="en-US" sz="1150" dirty="0">
                <a:solidFill>
                  <a:srgbClr val="262B3A"/>
                </a:solidFill>
                <a:latin typeface="Calibri" pitchFamily="34" charset="0"/>
                <a:ea typeface="Calibri" pitchFamily="34" charset="-122"/>
                <a:cs typeface="Calibri" pitchFamily="34" charset="-120"/>
              </a:rPr>
              <a:t>. Calculate the rate of respiration.</a:t>
            </a:r>
            <a:endParaRPr lang="en-US" sz="1150" dirty="0"/>
          </a:p>
        </p:txBody>
      </p:sp>
      <p:sp>
        <p:nvSpPr>
          <p:cNvPr id="20" name="Text 18"/>
          <p:cNvSpPr/>
          <p:nvPr/>
        </p:nvSpPr>
        <p:spPr>
          <a:xfrm>
            <a:off x="4518508"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1" name="Shape 19"/>
          <p:cNvSpPr/>
          <p:nvPr/>
        </p:nvSpPr>
        <p:spPr>
          <a:xfrm>
            <a:off x="6210148" y="1517904"/>
            <a:ext cx="5570068" cy="997889"/>
          </a:xfrm>
          <a:prstGeom prst="roundRect">
            <a:avLst>
              <a:gd name="adj" fmla="val 4582"/>
            </a:avLst>
          </a:prstGeom>
          <a:solidFill>
            <a:srgbClr val="F4FAF9"/>
          </a:solidFill>
          <a:ln w="9525">
            <a:solidFill>
              <a:srgbClr val="CFE0DE"/>
            </a:solidFill>
            <a:prstDash val="solid"/>
          </a:ln>
        </p:spPr>
      </p:sp>
      <p:sp>
        <p:nvSpPr>
          <p:cNvPr id="22" name="Text 20"/>
          <p:cNvSpPr/>
          <p:nvPr/>
        </p:nvSpPr>
        <p:spPr>
          <a:xfrm>
            <a:off x="6347308" y="1591056"/>
            <a:ext cx="5295748" cy="650417"/>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5  </a:t>
            </a:r>
            <a:r>
              <a:rPr lang="en-US" sz="1150" dirty="0">
                <a:solidFill>
                  <a:srgbClr val="262B3A"/>
                </a:solidFill>
                <a:latin typeface="Calibri" pitchFamily="34" charset="0"/>
                <a:ea typeface="Calibri" pitchFamily="34" charset="-122"/>
                <a:cs typeface="Calibri" pitchFamily="34" charset="-120"/>
              </a:rPr>
              <a:t>Explain how yeast makes bread dough rise.</a:t>
            </a:r>
            <a:endParaRPr lang="en-US" sz="1150" dirty="0"/>
          </a:p>
        </p:txBody>
      </p:sp>
      <p:sp>
        <p:nvSpPr>
          <p:cNvPr id="23" name="Text 21"/>
          <p:cNvSpPr/>
          <p:nvPr/>
        </p:nvSpPr>
        <p:spPr>
          <a:xfrm>
            <a:off x="10317175" y="2223185"/>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4" name="Shape 22"/>
          <p:cNvSpPr/>
          <p:nvPr/>
        </p:nvSpPr>
        <p:spPr>
          <a:xfrm>
            <a:off x="6210148" y="2625521"/>
            <a:ext cx="5570068" cy="997889"/>
          </a:xfrm>
          <a:prstGeom prst="roundRect">
            <a:avLst>
              <a:gd name="adj" fmla="val 4582"/>
            </a:avLst>
          </a:prstGeom>
          <a:solidFill>
            <a:srgbClr val="F4FAF9"/>
          </a:solidFill>
          <a:ln w="9525">
            <a:solidFill>
              <a:srgbClr val="CFE0DE"/>
            </a:solidFill>
            <a:prstDash val="solid"/>
          </a:ln>
        </p:spPr>
      </p:sp>
      <p:sp>
        <p:nvSpPr>
          <p:cNvPr id="25" name="Text 23"/>
          <p:cNvSpPr/>
          <p:nvPr/>
        </p:nvSpPr>
        <p:spPr>
          <a:xfrm>
            <a:off x="6347308" y="2698673"/>
            <a:ext cx="5295748" cy="650417"/>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6  </a:t>
            </a:r>
            <a:r>
              <a:rPr lang="en-US" sz="1150" b="1" dirty="0">
                <a:solidFill>
                  <a:srgbClr val="262B3A"/>
                </a:solidFill>
                <a:latin typeface="Calibri" pitchFamily="34" charset="0"/>
                <a:ea typeface="Calibri" pitchFamily="34" charset="-122"/>
                <a:cs typeface="Calibri" pitchFamily="34" charset="-120"/>
              </a:rPr>
              <a:t>Stretch:</a:t>
            </a:r>
            <a:r>
              <a:rPr lang="en-US" sz="1150" dirty="0">
                <a:solidFill>
                  <a:srgbClr val="262B3A"/>
                </a:solidFill>
                <a:latin typeface="Calibri" pitchFamily="34" charset="0"/>
                <a:ea typeface="Calibri" pitchFamily="34" charset="-122"/>
                <a:cs typeface="Calibri" pitchFamily="34" charset="-120"/>
              </a:rPr>
              <a:t> aerobic respiration makes about 32 ATP per glucose; anaerobic makes 2. How many glucose molecules must be respired anaerobically to make the same ATP as </a:t>
            </a:r>
            <a:r>
              <a:rPr lang="en-US" sz="1150" b="1" dirty="0">
                <a:solidFill>
                  <a:srgbClr val="262B3A"/>
                </a:solidFill>
                <a:latin typeface="Calibri" pitchFamily="34" charset="0"/>
                <a:ea typeface="Calibri" pitchFamily="34" charset="-122"/>
                <a:cs typeface="Calibri" pitchFamily="34" charset="-120"/>
              </a:rPr>
              <a:t>3</a:t>
            </a:r>
            <a:r>
              <a:rPr lang="en-US" sz="1150" dirty="0">
                <a:solidFill>
                  <a:srgbClr val="262B3A"/>
                </a:solidFill>
                <a:latin typeface="Calibri" pitchFamily="34" charset="0"/>
                <a:ea typeface="Calibri" pitchFamily="34" charset="-122"/>
                <a:cs typeface="Calibri" pitchFamily="34" charset="-120"/>
              </a:rPr>
              <a:t> glucose aerobically?</a:t>
            </a:r>
            <a:endParaRPr lang="en-US" sz="1150" dirty="0"/>
          </a:p>
        </p:txBody>
      </p:sp>
      <p:sp>
        <p:nvSpPr>
          <p:cNvPr id="26" name="Text 24"/>
          <p:cNvSpPr/>
          <p:nvPr/>
        </p:nvSpPr>
        <p:spPr>
          <a:xfrm>
            <a:off x="10317175" y="3330801"/>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27" name="Shape 25"/>
          <p:cNvSpPr/>
          <p:nvPr/>
        </p:nvSpPr>
        <p:spPr>
          <a:xfrm>
            <a:off x="6210148" y="3733137"/>
            <a:ext cx="5570068" cy="2594511"/>
          </a:xfrm>
          <a:prstGeom prst="roundRect">
            <a:avLst>
              <a:gd name="adj" fmla="val 1762"/>
            </a:avLst>
          </a:prstGeom>
          <a:solidFill>
            <a:srgbClr val="FFF4E0"/>
          </a:solidFill>
          <a:ln w="9525">
            <a:solidFill>
              <a:srgbClr val="F1D9A8"/>
            </a:solidFill>
            <a:prstDash val="solid"/>
          </a:ln>
        </p:spPr>
      </p:sp>
      <p:sp>
        <p:nvSpPr>
          <p:cNvPr id="28" name="Text 26"/>
          <p:cNvSpPr/>
          <p:nvPr/>
        </p:nvSpPr>
        <p:spPr>
          <a:xfrm>
            <a:off x="6347308" y="3806289"/>
            <a:ext cx="5295748" cy="2247039"/>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7  </a:t>
            </a:r>
            <a:r>
              <a:rPr lang="en-US" sz="1150" dirty="0">
                <a:solidFill>
                  <a:srgbClr val="262B3A"/>
                </a:solidFill>
                <a:latin typeface="Calibri" pitchFamily="34" charset="0"/>
                <a:ea typeface="Calibri" pitchFamily="34" charset="-122"/>
                <a:cs typeface="Calibri" pitchFamily="34" charset="-120"/>
              </a:rPr>
              <a:t>Compare </a:t>
            </a:r>
            <a:r>
              <a:rPr lang="en-US" sz="1150" b="1" dirty="0">
                <a:solidFill>
                  <a:srgbClr val="262B3A"/>
                </a:solidFill>
                <a:latin typeface="Calibri" pitchFamily="34" charset="0"/>
                <a:ea typeface="Calibri" pitchFamily="34" charset="-122"/>
                <a:cs typeface="Calibri" pitchFamily="34" charset="-120"/>
              </a:rPr>
              <a:t>aerobic respiration in a human muscle cell</a:t>
            </a:r>
            <a:r>
              <a:rPr lang="en-US" sz="1150" dirty="0">
                <a:solidFill>
                  <a:srgbClr val="262B3A"/>
                </a:solidFill>
                <a:latin typeface="Calibri" pitchFamily="34" charset="0"/>
                <a:ea typeface="Calibri" pitchFamily="34" charset="-122"/>
                <a:cs typeface="Calibri" pitchFamily="34" charset="-120"/>
              </a:rPr>
              <a:t> with </a:t>
            </a:r>
            <a:r>
              <a:rPr lang="en-US" sz="1150" b="1" dirty="0">
                <a:solidFill>
                  <a:srgbClr val="262B3A"/>
                </a:solidFill>
                <a:latin typeface="Calibri" pitchFamily="34" charset="0"/>
                <a:ea typeface="Calibri" pitchFamily="34" charset="-122"/>
                <a:cs typeface="Calibri" pitchFamily="34" charset="-120"/>
              </a:rPr>
              <a:t>anaerobic respiration in a yeast cell</a:t>
            </a:r>
            <a:r>
              <a:rPr lang="en-US" sz="1150" dirty="0">
                <a:solidFill>
                  <a:srgbClr val="262B3A"/>
                </a:solidFill>
                <a:latin typeface="Calibri" pitchFamily="34" charset="0"/>
                <a:ea typeface="Calibri" pitchFamily="34" charset="-122"/>
                <a:cs typeface="Calibri" pitchFamily="34" charset="-120"/>
              </a:rPr>
              <a:t>. Include when each happens, where in the cell, the inputs and outputs, and the energy released.</a:t>
            </a:r>
            <a:endParaRPr lang="en-US" sz="1150" dirty="0"/>
          </a:p>
        </p:txBody>
      </p:sp>
      <p:sp>
        <p:nvSpPr>
          <p:cNvPr id="29" name="Text 27"/>
          <p:cNvSpPr/>
          <p:nvPr/>
        </p:nvSpPr>
        <p:spPr>
          <a:xfrm>
            <a:off x="10317175"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[6 marks]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OCR J260 B4.1 What happens during cellular respiration?</dc:title>
  <dc:subject>PptxGenJS Presentation</dc:subject>
  <dc:creator>GCSE Biology</dc:creator>
  <cp:lastModifiedBy>GCSE Biology</cp:lastModifiedBy>
  <cp:revision>1</cp:revision>
  <dcterms:created xsi:type="dcterms:W3CDTF">2026-10-30T07:52:35Z</dcterms:created>
  <dcterms:modified xsi:type="dcterms:W3CDTF">2026-10-30T07:52:35Z</dcterms:modified>
</cp:coreProperties>
</file>