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B4.2 How do we know about mitochondria and other cell structures? is Part 2 of 3 in J260 Chapter B4 (B4.1 respiration, B4.2 microscopy and cell structures, B4.3 growth and development).
The B4.2.1 statement comes from a search extract of the OCR Twenty First Century Biology B specification (ocr.org.uk could not be fetched): see SPEC_B4_2.md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B4.2.1 (both tiers): "explain how electron microscopy has increased our understanding of sub-cellular structures" (wording from search extracts of the OCR B specification; J260 numbering UNVERIFIED).
Cell structures: KS3 underlying knowledge plus the J260 B1.1 statement on the nucleus and genetic material of eukaryotic cells and the genetic material, including plasmids, of prokaryotic cells. They are revised here because B4.2 asks how we know about them.
HT: standard form and orders of magnitude are marked Higher. Evidence: Oak National Academy's OCR Higher lesson is "Electron microscopy, and the size and scale of cells: including standard form"; the Foundation lesson omits standard form (UNVERIFIED against the OCR spec, where bold = 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B4 in Combined Science: B4.1, B4.2, B4.3. B4.4 (plant hormones) is separate science only (J257).
Boundaries: respiration inside mitochondria was taught in B4.1, so it is only recapped here. Mitosis, the cell cycle and stem cells are B4.3, so this deck does not teach them.
Ideas about Science: B4.2 is OCR's example of how a new technology (electron microscopy) led to new observations and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glucose + oxygen → carbon dioxide + water.
2. Mitochondria. Muscle cells need a lot of ATP / energy to contract, so they do a lot of aerobic respiration.
3. The cytoplasm. Ethanol (and carbon dioxide).
4. The entire genetic material of an organism.
5. Plant cell: in the nucleus (chromosomes). Bacterium: in the cytoplasm as a single loop of DNA (chromosomal DNA) and small rings called plasmids.
6. 3.5 × 1000 = 3500 µm.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Root cells are underground and get no light, so they cannot photosynthesise (chloroplasts would be no use). Shared with a cheek cell: nucleus, cytoplasm, cell membrane, mitochondria, ribosomes.
The structures and functions are KS3 underlying knowledge plus B1.1 (nucleus and genetic material). They are revised here because B4.2 asks how we know about them. Ribosomes and the detail inside mitochondria can only be seen with an electron microscope; the diagram is drawn as an electron microscope would show it, but not to scale.
Misconception: plant cells DO have mitochondria. The cell wall is not a barrier like the membrane: it is fully permeable.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Shared (any two): cell membrane, cytoplasm, ribosomes, cell wall. Genetic material: not in a nucleus / free in the cytoplasm; a single loop (circular) of chromosomal DNA; also has plasmids (small rings of DNA).
B1.1 link (J260, search extract): "explain how the nucleus and genetic material of eukaryotic cells (plants and animals) and the genetic material, including plasmids, of prokaryotic cells are related to cell functions".
Flagella are not in every bacterium. The bacterial cell wall is not made of cellulose (peptidoglycan: name not needed). The to-scale strip uses 0.02 in per µm.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[1]: Where proteins are made / protein synthesis (1).
Q2 [3]: Any two (1 each): cell wall; chloroplasts; permanent vacuole. Function (1): cell wall strengthens / supports; chloroplasts absorb light for photosynthesis; vacuole contains cell sap / keeps the cell firm.
Q3 [2]: Bacterium: no nucleus / DNA free in the cytoplasm (animal: in nucleus) (1); single loop of chromosomal DNA / has plasmids (animal: chromosomes, no plasmids) (1).
Q4 [1]: It has no nucleus (its DNA is not enclosed in a nuclear membrane) (1). Accept: no membrane-bound organelles.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0.25 × 1000 = 250 µm (the onion cell); (b) 25 ÷ 1000 = 0.025 µm (the ribosome).
Typical sizes used in this deck (rounded teaching values): cheek cell about 60 µm; onion epidermis cell about 250 µm long; mitochondrion about 1–2 µm (2 µm used); chloroplast about 5 µm; bacterium 1–5 µm (2 µm used); ribosome about 20–30 nm (25 nm used); virus about 100 nm. All conversions asserted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(2.5 × 10⁻⁴) ÷ (2 × 10⁻⁶) = 125 times; about 2 orders of magnitude (10² = 100).
Worked example: 6e-5 ÷ 2.5e-8 = 2400 (node); log10 = 3.38, so the nearest power of ten is 10³.
HT: marked Higher only on the evidence of Oak National Academy's OCR Higher lesson title ("…including standard form"); check the bold statements in the J260 spec. Maths skills: standard form (M1b) and order of magnitude calculations (M2h) — codes UNVERIFIED for J260 B4.2.
Resolution limits on the bands are approximate: eye ≈ 0.1 mm; light microscope ≈ 200 nm; electron microscope ≈ 0.2 nm (best modern instruments are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[2]: 0.04 × 1000 = 40 µm (1); 25 ÷ 1000 = 0.025 µm (1).
Q2 [2]: 1 mm = 1000 µm (1); 1000 ÷ 2 = 500 (1).
Q3 [1]: 6 × 10⁻⁵ m (1).
Q4 [2]: 60 ÷ 2 = 30 times (1); about one order of magnitude (10¹; 30 is nearer 10 than 100 on a log scale: log₁₀ 30 ≈ 1.5, accept 1 or "between 1 and 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×40 objective is very close to the slide; the coarse focus moves the stage a long way and could crash the lens into the slide (breaking the slide or damaging the lens) and it is too coarse to get a sharp image.
The diagram uses a built-in lamp; older microscopes use a mirror (never point a mirror at the Sun). Light microscopes are KS3 underlying knowledge and are used in PAG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Ribosomes (about 25 nm) are smaller than the resolution of a light microscope (about 200 nm). More magnification would only make a bigger blur: the detail is limited by resolution, not magnification.
Figures are typical textbook values: light microscope useful magnification about ×1500–×2000, resolution about 0.2 µm (200 nm); transmission electron microscope magnification up to about ×2 000 000 (modern instruments more), resolution about 0.2 nm (some texts quote 0.1 nm or 2 nm). Ratio 1000 asserted in node.
The wavelength explanation is stretch; "higher resolution" is the key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Specimens must be killed, fixed, cut very thin, stained (heavy metals) and put in a vacuum: this preparation could change the structure or create "artefacts". Scientists checked by using different preparation methods and getting the same structures (repeatability / reproducibility).
B4.2.1 wording (search extract): "explain how electron microscopy has increased our understanding of sub-cellular structures". History (standard, from memory, UNVERIFIED dates checked against common sources): Hooke 1665 Micrographia; Robert Brown named the nucleus 1831; Altmann described "bioblasts" 1890 and Carl Benda named mitochondria 1898; Ernst Ruska and Max Knoll built the first electron microscope 1931 (Ruska, Nobel 1986); George Palade and Fritjof Sjöstrand showed cristae 1952–53; Palade described ribosomes ("Palade granules") 1955.
Respiration in mitochondria itself is B4.1: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[1]: Fine focus (1).
Q2 [2]: Magnification: how many times bigger the image is than the real object (1); resolution: the smallest distance between two points that can be seen as separate / the ability to see fine detail (1).
Q3 [3]: Advantages (any two, 1 each): higher magnification; higher resolution; can see sub-cellular structures e.g. ribosomes / inside mitochondria. Disadvantage (1): expensive / large / specimens must be dead / in a vacuum / complex preparation / black-and-white images.
Q4 [1]: Ribosomes (1). Accept: cristae / inner membrane of mitochondria / nuclear pores / endoplasmic reticulum.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real size = 24 mm ÷ 400 = 0.06 mm (1); × 1000 = 60 µm (1).
The image mitochondrion is drawn 40 mm long at true printed size (40/25.4 = 1.575 in). All numbers asserted in node.
Total magnification of a light microscope = eyepiece × objective (slide 11). The OCR equation status (recall or given) for magnification is UNVERIFIED: teach it as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5 mm ÷ 200 000 = 2.5 × 10⁻⁵ mm = 0.025 µm = 25 nm. HT: 2.5 × 10⁻⁸ m.
On screen the bar is 2.4 in and the chloroplast 2.16 in, so they are in the correct 20 : 18 proportion; the numbers in the question refer to the printed page. Magnification 4000 and real size 4.5 µm asserted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7 marks)
Q1 [1]: magnification = image size ÷ real size (1). Any correct rearrangement.
Q2 [1]: ×400 (1).
Q3 [3]: real size = image size ÷ magnification (1); 36 ÷ 1200 = 0.03 mm (1); = 30 µm (1). Correct answer with no working = 3.
Q4 [2]: 10 mm = 10 000 µm (1); 10 000 ÷ 2 = ×5000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Light must pass through the specimen; a thin layer lets light through and stops cells overlapping, so individual cells can be seen. The stain colours parts of the cell (e.g. the nucleus) so they show up against the transparent cytoplasm, increasing contrast.
PAG B1 is the OCR practical activity group for microscopy (group number from the OCR PAG list, from memory: UNVERIFIED for J260; check the J260 PAG handbook).
Safety follows CLEAPSS guidance in outline: check your school's risk assessment for cheek cells (some schools use prepared slides or the onion only). Used cotton buds and slides go into 1% Virkon or similar disinfectant.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Looking from the side stops you crashing the objective into the slide (breaking it or damaging the lens). Low power has the widest field of view and the most depth, so it is easiest to find and focus on the cells; then you centre the cells before going to higher power.
Drawing size check: 250 µm × 100 = 25 000 µm = 25 mm (node). Onion cells in the field of view are drawn in proportion (not to an exact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eyepiece graticule stays the same size in the eyepiece, but the specimen is magnified 4 times more at ×400, so each unit covers a smaller real distance. 1 unit = 10 ÷ 4 = 2.5 µm (matches the calibration).
Calibration: 10 stage divisions (100 µm) = 40 eyepiece units at ×400 → 2.5 µm per unit; at ×100, 10 divisions = 10 units → 10 µm per unit. Means: cheek 24 units → 60 µm; onion 25 → 250 µm. All asserted in node. Data are illustrative (typical cheek cells 50–60 µm; onion epidermis cells 200–400 µm long).
Alternative method without a graticule: estimate from the field of view diameter (e.g. ×400 field ≈ 0.4 mm) by counting how many cells fit across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[1]: To stain the cells / nucleus so they can be seen (more contrast) (1).
Q2 [1]: To avoid trapping air bubbles (which hide the cells) (1).
Q3 [2]: Any two (1 each): sharp pencil; clear continuous lines / no sketching; no shading; ruled label lines that do not cross; title and magnification; correct proportions; drawing large enough.
Q4 [2]: 1 unit = 100 ÷ 40 = 2.5 µm (1); 24 × 2.5 = 60 µm (1).
Q5 [1]: Cells vary in size, so a mean is more representative / reduces the effect of random error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Any two (1 each): cell membrane; cytoplasm; ribosomes; cell wall.
(b) [2]: Bacterium: DNA free in the cytoplasm / no nucleus (onion: DNA in a nucleus) (1); bacterium: single loop of chromosomal DNA and plasmids (onion: chromosomes, no plasmids) (1).
(c) [2]: ×400 (1); to stain the cells / nucleus so they can be seen / to increase contrast (1).
(d) [3]: real size = image size ÷ magnification (1); 100 ÷ 400 = 0.25 mm (1); = 250 µm (1). Correct answer with no working = 3.
(e) [1]: 2.5 × 10⁻⁴ m (1). Allow error carried forward from (d).
(f) [3]: Light microscopes have a resolution of about 200 nm / cannot show detail smaller than about 200 nm (1); ribosomes are smaller than this, so they cannot be seen / cannot be resolved (1); electron microscopes have a much higher resolution (about 0.2 nm), so ribosomes can be seen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Protein synthesis / where proteins are made (1).
2 [2]: (a) DNA loop / chromosomal DNA / single circular chromosome (1); (b) plasmids (1).
3 [2]: (a) 500 µm (1); (b) 3 µm (1).
4 [2]: 30 mm = 30 000 µm (1); 30 000 ÷ 2 = ×15 000 (1).
5 [2]: (2 × 10⁻⁶) ÷ (1 × 10⁻⁷) = 20 times (1); about one order of magnitude (10¹) (1).
6 [2]: Any two (1 each): wear eye protection; use a new / clean cotton bud; only use your own cells; put used cotton buds and slides in disinfectant; wash hands; avoid skin contact with the stain.
7 [6]: OCR level-of-response mark scheme (6 marks). Read the whole answer, decide the level from the content descriptor, then the mark within the level from the quality of the line of reasoning. Use the indicative scientific points below.
Level 3 (5–6 marks): Explains the difference in resolution AND magnification AND links this to at least two named structures that were seen or understood in detail only with the electron microscope. There is a well-developed line of reasoning which is clear and logically structured. The information presented is relevant and substantiated.
Level 2 (3–4 marks): Describes that electron microscopes have higher magnification or resolution AND gives at least one named structure revealed by electron microscopy. There is a line of reasoning presented with some structure. The information presented is relevant and supported by some evidence.
Level 1 (1–2 marks): Makes a simple statement that electron microscopes magnify more / show more detail, OR names a structure seen with an electron microscope. There is an attempt at a logical structure with a line of reasoning. The information is in the most part relevant.
0 marks: no response or no response worthy of credit.
Indicative scientific points may include:
 • Light microscopes: magnification up to about ×2000; resolution about 200 nm.
 • Light microscopes showed cells, the nucleus, the cell wall, chloroplasts and vacuoles; mitochondria only as tiny dots / granules.
 • Electron microscopes use a beam of electrons; magnification up to about ×2 000 000; resolution about 0.2 nm (about 1000 times better).
 • Higher resolution means much finer detail can be seen / two close points can be told apart.
 • Electron microscopes showed the internal structure of mitochondria: double membrane, folded inner membrane (cristae).
 • This helped explain the function of mitochondria: a large surface area for the enzymes of aerobic respiration.
 • Electron microscopes revealed ribosomes (about 25 nm, too small for a light microscope), the nuclear membrane / pores, and the structure of bacteria (DNA loop, plasmids).
 • Ideas about Science: a new technology produced new observations / data, which led to new or changed explanations of how cells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B4.2  Cell structures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Cells, microscopes and the evidence for organelles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Eukaryotic  •  Prokaryotic  •  Organelles  •  Magnification  •  Resolution  •  Electron microscope  •  µm and nm</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B4.2.1 • electron microscopy • PAG B1 microscopy</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Higher-only maths (standard form) marked HT</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µm</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Eukaryotic and prokaryotic cells • sizes and scales • magnification and resolution</a:t>
            </a:r>
            <a:endParaRPr lang="en-US" sz="1400" dirty="0"/>
          </a:p>
        </p:txBody>
      </p:sp>
      <p:sp>
        <p:nvSpPr>
          <p:cNvPr id="19" name="Shape 17"/>
          <p:cNvSpPr/>
          <p:nvPr/>
        </p:nvSpPr>
        <p:spPr>
          <a:xfrm>
            <a:off x="731520" y="5769864"/>
            <a:ext cx="5669280"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669280"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3 in Chapter B4: Using food and controlling growth</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B4.2 How do we know about mitochondria and other cell structures? • teacher deck • mark schemes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B4.2.1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B1.1 link   </a:t>
            </a:r>
            <a:r>
              <a:rPr lang="en-US" sz="1200" dirty="0">
                <a:solidFill>
                  <a:srgbClr val="262B3A"/>
                </a:solidFill>
                <a:latin typeface="Calibri" pitchFamily="34" charset="0"/>
                <a:ea typeface="Calibri" pitchFamily="34" charset="-122"/>
                <a:cs typeface="Calibri" pitchFamily="34" charset="-120"/>
              </a:rPr>
              <a:t>Describe the structures in </a:t>
            </a:r>
            <a:r>
              <a:rPr lang="en-US" sz="1200" b="1" dirty="0">
                <a:solidFill>
                  <a:srgbClr val="262B3A"/>
                </a:solidFill>
                <a:latin typeface="Calibri" pitchFamily="34" charset="0"/>
                <a:ea typeface="Calibri" pitchFamily="34" charset="-122"/>
                <a:cs typeface="Calibri" pitchFamily="34" charset="-120"/>
              </a:rPr>
              <a:t>animal and plant cells</a:t>
            </a:r>
            <a:r>
              <a:rPr lang="en-US" sz="1200" dirty="0">
                <a:solidFill>
                  <a:srgbClr val="262B3A"/>
                </a:solidFill>
                <a:latin typeface="Calibri" pitchFamily="34" charset="0"/>
                <a:ea typeface="Calibri" pitchFamily="34" charset="-122"/>
                <a:cs typeface="Calibri" pitchFamily="34" charset="-120"/>
              </a:rPr>
              <a:t> (eukaryotic) and what each one does.</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B1.1 link   </a:t>
            </a:r>
            <a:r>
              <a:rPr lang="en-US" sz="1200" dirty="0">
                <a:solidFill>
                  <a:srgbClr val="262B3A"/>
                </a:solidFill>
                <a:latin typeface="Calibri" pitchFamily="34" charset="0"/>
                <a:ea typeface="Calibri" pitchFamily="34" charset="-122"/>
                <a:cs typeface="Calibri" pitchFamily="34" charset="-120"/>
              </a:rPr>
              <a:t>Describe a </a:t>
            </a:r>
            <a:r>
              <a:rPr lang="en-US" sz="1200" b="1" dirty="0">
                <a:solidFill>
                  <a:srgbClr val="262B3A"/>
                </a:solidFill>
                <a:latin typeface="Calibri" pitchFamily="34" charset="0"/>
                <a:ea typeface="Calibri" pitchFamily="34" charset="-122"/>
                <a:cs typeface="Calibri" pitchFamily="34" charset="-120"/>
              </a:rPr>
              <a:t>bacterial cell</a:t>
            </a:r>
            <a:r>
              <a:rPr lang="en-US" sz="1200" dirty="0">
                <a:solidFill>
                  <a:srgbClr val="262B3A"/>
                </a:solidFill>
                <a:latin typeface="Calibri" pitchFamily="34" charset="0"/>
                <a:ea typeface="Calibri" pitchFamily="34" charset="-122"/>
                <a:cs typeface="Calibri" pitchFamily="34" charset="-120"/>
              </a:rPr>
              <a:t> (prokaryotic): DNA loop, </a:t>
            </a:r>
            <a:r>
              <a:rPr lang="en-US" sz="1200" b="1" dirty="0">
                <a:solidFill>
                  <a:srgbClr val="262B3A"/>
                </a:solidFill>
                <a:latin typeface="Calibri" pitchFamily="34" charset="0"/>
                <a:ea typeface="Calibri" pitchFamily="34" charset="-122"/>
                <a:cs typeface="Calibri" pitchFamily="34" charset="-120"/>
              </a:rPr>
              <a:t>plasmids</a:t>
            </a:r>
            <a:r>
              <a:rPr lang="en-US" sz="1200" dirty="0">
                <a:solidFill>
                  <a:srgbClr val="262B3A"/>
                </a:solidFill>
                <a:latin typeface="Calibri" pitchFamily="34" charset="0"/>
                <a:ea typeface="Calibri" pitchFamily="34" charset="-122"/>
                <a:cs typeface="Calibri" pitchFamily="34" charset="-120"/>
              </a:rPr>
              <a:t>, no nucleus, and compare it with eukaryotic cells.</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Maths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mm, µm and nm</a:t>
            </a:r>
            <a:r>
              <a:rPr lang="en-US" sz="1200" dirty="0">
                <a:solidFill>
                  <a:srgbClr val="262B3A"/>
                </a:solidFill>
                <a:latin typeface="Calibri" pitchFamily="34" charset="0"/>
                <a:ea typeface="Calibri" pitchFamily="34" charset="-122"/>
                <a:cs typeface="Calibri" pitchFamily="34" charset="-120"/>
              </a:rPr>
              <a:t> to compare the sizes of cells and organelles.</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Maths   </a:t>
            </a:r>
            <a:r>
              <a:rPr lang="en-US" sz="1200" dirty="0">
                <a:solidFill>
                  <a:srgbClr val="262B3A"/>
                </a:solidFill>
                <a:latin typeface="Calibri" pitchFamily="34" charset="0"/>
                <a:ea typeface="Calibri" pitchFamily="34" charset="-122"/>
                <a:cs typeface="Calibri" pitchFamily="34" charset="-120"/>
              </a:rPr>
              <a:t>Write sizes in </a:t>
            </a:r>
            <a:r>
              <a:rPr lang="en-US" sz="1200" b="1" dirty="0">
                <a:solidFill>
                  <a:srgbClr val="262B3A"/>
                </a:solidFill>
                <a:latin typeface="Calibri" pitchFamily="34" charset="0"/>
                <a:ea typeface="Calibri" pitchFamily="34" charset="-122"/>
                <a:cs typeface="Calibri" pitchFamily="34" charset="-120"/>
              </a:rPr>
              <a:t>standard form</a:t>
            </a:r>
            <a:r>
              <a:rPr lang="en-US" sz="1200" dirty="0">
                <a:solidFill>
                  <a:srgbClr val="262B3A"/>
                </a:solidFill>
                <a:latin typeface="Calibri" pitchFamily="34" charset="0"/>
                <a:ea typeface="Calibri" pitchFamily="34" charset="-122"/>
                <a:cs typeface="Calibri" pitchFamily="34" charset="-120"/>
              </a:rPr>
              <a:t> and compare them as </a:t>
            </a:r>
            <a:r>
              <a:rPr lang="en-US" sz="1200" b="1" dirty="0">
                <a:solidFill>
                  <a:srgbClr val="262B3A"/>
                </a:solidFill>
                <a:latin typeface="Calibri" pitchFamily="34" charset="0"/>
                <a:ea typeface="Calibri" pitchFamily="34" charset="-122"/>
                <a:cs typeface="Calibri" pitchFamily="34" charset="-120"/>
              </a:rPr>
              <a:t>orders of magnitude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5257800" y="4370832"/>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525780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Shape 20"/>
          <p:cNvSpPr/>
          <p:nvPr/>
        </p:nvSpPr>
        <p:spPr>
          <a:xfrm>
            <a:off x="6263640" y="1325880"/>
            <a:ext cx="457200" cy="457200"/>
          </a:xfrm>
          <a:prstGeom prst="ellipse">
            <a:avLst/>
          </a:prstGeom>
          <a:solidFill>
            <a:srgbClr val="0D7877"/>
          </a:solidFill>
          <a:ln w="12700">
            <a:solidFill>
              <a:srgbClr val="0D7877"/>
            </a:solidFill>
            <a:prstDash val="solid"/>
          </a:ln>
        </p:spPr>
      </p:sp>
      <p:sp>
        <p:nvSpPr>
          <p:cNvPr id="23" name="Text 21"/>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4" name="Text 22"/>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B4.2.1   </a:t>
            </a:r>
            <a:r>
              <a:rPr lang="en-US" sz="1200" dirty="0">
                <a:solidFill>
                  <a:srgbClr val="262B3A"/>
                </a:solidFill>
                <a:latin typeface="Calibri" pitchFamily="34" charset="0"/>
                <a:ea typeface="Calibri" pitchFamily="34" charset="-122"/>
                <a:cs typeface="Calibri" pitchFamily="34" charset="-120"/>
              </a:rPr>
              <a:t>Compare </a:t>
            </a:r>
            <a:r>
              <a:rPr lang="en-US" sz="1200" b="1" dirty="0">
                <a:solidFill>
                  <a:srgbClr val="262B3A"/>
                </a:solidFill>
                <a:latin typeface="Calibri" pitchFamily="34" charset="0"/>
                <a:ea typeface="Calibri" pitchFamily="34" charset="-122"/>
                <a:cs typeface="Calibri" pitchFamily="34" charset="-120"/>
              </a:rPr>
              <a:t>light and electron microscopes</a:t>
            </a:r>
            <a:r>
              <a:rPr lang="en-US" sz="1200" dirty="0">
                <a:solidFill>
                  <a:srgbClr val="262B3A"/>
                </a:solidFill>
                <a:latin typeface="Calibri" pitchFamily="34" charset="0"/>
                <a:ea typeface="Calibri" pitchFamily="34" charset="-122"/>
                <a:cs typeface="Calibri" pitchFamily="34" charset="-120"/>
              </a:rPr>
              <a:t>: magnification and </a:t>
            </a:r>
            <a:r>
              <a:rPr lang="en-US" sz="1200" b="1" dirty="0">
                <a:solidFill>
                  <a:srgbClr val="262B3A"/>
                </a:solidFill>
                <a:latin typeface="Calibri" pitchFamily="34" charset="0"/>
                <a:ea typeface="Calibri" pitchFamily="34" charset="-122"/>
                <a:cs typeface="Calibri" pitchFamily="34" charset="-120"/>
              </a:rPr>
              <a:t>resolution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6263640" y="2194560"/>
            <a:ext cx="457200" cy="457200"/>
          </a:xfrm>
          <a:prstGeom prst="ellipse">
            <a:avLst/>
          </a:prstGeom>
          <a:solidFill>
            <a:srgbClr val="0D7877"/>
          </a:solidFill>
          <a:ln w="12700">
            <a:solidFill>
              <a:srgbClr val="0D7877"/>
            </a:solidFill>
            <a:prstDash val="solid"/>
          </a:ln>
        </p:spPr>
      </p:sp>
      <p:sp>
        <p:nvSpPr>
          <p:cNvPr id="26" name="Text 24"/>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B4.2.1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electron microscopy</a:t>
            </a:r>
            <a:r>
              <a:rPr lang="en-US" sz="1200" dirty="0">
                <a:solidFill>
                  <a:srgbClr val="262B3A"/>
                </a:solidFill>
                <a:latin typeface="Calibri" pitchFamily="34" charset="0"/>
                <a:ea typeface="Calibri" pitchFamily="34" charset="-122"/>
                <a:cs typeface="Calibri" pitchFamily="34" charset="-120"/>
              </a:rPr>
              <a:t> has increased our understanding of sub-cellular structures (mitochondria, ribosomes).</a:t>
            </a:r>
            <a:endParaRPr lang="en-US" sz="1100" dirty="0"/>
          </a:p>
        </p:txBody>
      </p:sp>
      <p:sp>
        <p:nvSpPr>
          <p:cNvPr id="28" name="Shape 26"/>
          <p:cNvSpPr/>
          <p:nvPr/>
        </p:nvSpPr>
        <p:spPr>
          <a:xfrm>
            <a:off x="6263640" y="3063240"/>
            <a:ext cx="457200" cy="457200"/>
          </a:xfrm>
          <a:prstGeom prst="ellipse">
            <a:avLst/>
          </a:prstGeom>
          <a:solidFill>
            <a:srgbClr val="0D7877"/>
          </a:solidFill>
          <a:ln w="12700">
            <a:solidFill>
              <a:srgbClr val="0D7877"/>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Maths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magnification = image size ÷ real size</a:t>
            </a:r>
            <a:r>
              <a:rPr lang="en-US" sz="1200" dirty="0">
                <a:solidFill>
                  <a:srgbClr val="262B3A"/>
                </a:solidFill>
                <a:latin typeface="Calibri" pitchFamily="34" charset="0"/>
                <a:ea typeface="Calibri" pitchFamily="34" charset="-122"/>
                <a:cs typeface="Calibri" pitchFamily="34" charset="-120"/>
              </a:rPr>
              <a:t>, with unit conversions, rearranging and scale bars.</a:t>
            </a:r>
            <a:endParaRPr lang="en-US" sz="1100" dirty="0"/>
          </a:p>
        </p:txBody>
      </p:sp>
      <p:sp>
        <p:nvSpPr>
          <p:cNvPr id="31" name="Shape 29"/>
          <p:cNvSpPr/>
          <p:nvPr/>
        </p:nvSpPr>
        <p:spPr>
          <a:xfrm>
            <a:off x="6263640" y="3931920"/>
            <a:ext cx="457200" cy="457200"/>
          </a:xfrm>
          <a:prstGeom prst="ellipse">
            <a:avLst/>
          </a:prstGeom>
          <a:solidFill>
            <a:srgbClr val="0D7877"/>
          </a:solidFill>
          <a:ln w="12700">
            <a:solidFill>
              <a:srgbClr val="0D7877"/>
            </a:solidFill>
            <a:prstDash val="solid"/>
          </a:ln>
        </p:spPr>
      </p:sp>
      <p:sp>
        <p:nvSpPr>
          <p:cNvPr id="32" name="Text 30"/>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3" name="Text 31"/>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PAG B1   </a:t>
            </a:r>
            <a:r>
              <a:rPr lang="en-US" sz="1200" dirty="0">
                <a:solidFill>
                  <a:srgbClr val="262B3A"/>
                </a:solidFill>
                <a:latin typeface="Calibri" pitchFamily="34" charset="0"/>
                <a:ea typeface="Calibri" pitchFamily="34" charset="-122"/>
                <a:cs typeface="Calibri" pitchFamily="34" charset="-120"/>
              </a:rPr>
              <a:t>Prepare slides, use a light microscope, draw cells and </a:t>
            </a:r>
            <a:r>
              <a:rPr lang="en-US" sz="1200" b="1" dirty="0">
                <a:solidFill>
                  <a:srgbClr val="262B3A"/>
                </a:solidFill>
                <a:latin typeface="Calibri" pitchFamily="34" charset="0"/>
                <a:ea typeface="Calibri" pitchFamily="34" charset="-122"/>
                <a:cs typeface="Calibri" pitchFamily="34" charset="-120"/>
              </a:rPr>
              <a:t>measure</a:t>
            </a:r>
            <a:r>
              <a:rPr lang="en-US" sz="1200" dirty="0">
                <a:solidFill>
                  <a:srgbClr val="262B3A"/>
                </a:solidFill>
                <a:latin typeface="Calibri" pitchFamily="34" charset="0"/>
                <a:ea typeface="Calibri" pitchFamily="34" charset="-122"/>
                <a:cs typeface="Calibri" pitchFamily="34" charset="-120"/>
              </a:rPr>
              <a:t> them with an eyepiece graticule.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B4 Using food and controlling growth • B4.2 is Part 2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B4.2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How do we know about cell structures?</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B1.1 link   </a:t>
            </a:r>
            <a:r>
              <a:rPr lang="en-US" sz="1100" dirty="0">
                <a:solidFill>
                  <a:srgbClr val="262B3A"/>
                </a:solidFill>
                <a:latin typeface="Calibri" pitchFamily="34" charset="0"/>
                <a:ea typeface="Calibri" pitchFamily="34" charset="-122"/>
                <a:cs typeface="Calibri" pitchFamily="34" charset="-120"/>
              </a:rPr>
              <a:t>Eukaryotic cells: animal and plant cell structures</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B1.1 link   </a:t>
            </a:r>
            <a:r>
              <a:rPr lang="en-US" sz="1100" dirty="0">
                <a:solidFill>
                  <a:srgbClr val="262B3A"/>
                </a:solidFill>
                <a:latin typeface="Calibri" pitchFamily="34" charset="0"/>
                <a:ea typeface="Calibri" pitchFamily="34" charset="-122"/>
                <a:cs typeface="Calibri" pitchFamily="34" charset="-120"/>
              </a:rPr>
              <a:t>Prokaryotic cells: bacteria, DNA loop and plasmids</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Maths   </a:t>
            </a:r>
            <a:r>
              <a:rPr lang="en-US" sz="1100" dirty="0">
                <a:solidFill>
                  <a:srgbClr val="262B3A"/>
                </a:solidFill>
                <a:latin typeface="Calibri" pitchFamily="34" charset="0"/>
                <a:ea typeface="Calibri" pitchFamily="34" charset="-122"/>
                <a:cs typeface="Calibri" pitchFamily="34" charset="-120"/>
              </a:rPr>
              <a:t>Sizes: mm, µm, nm • standard form, orders of magnitude</a:t>
            </a:r>
            <a:endParaRPr lang="en-US" sz="1100" dirty="0"/>
          </a:p>
        </p:txBody>
      </p:sp>
      <p:sp>
        <p:nvSpPr>
          <p:cNvPr id="24" name="Shape 22"/>
          <p:cNvSpPr/>
          <p:nvPr/>
        </p:nvSpPr>
        <p:spPr>
          <a:xfrm>
            <a:off x="5257800" y="3566160"/>
            <a:ext cx="1097280" cy="274320"/>
          </a:xfrm>
          <a:prstGeom prst="roundRect">
            <a:avLst>
              <a:gd name="adj" fmla="val 50000"/>
            </a:avLst>
          </a:prstGeom>
          <a:solidFill>
            <a:srgbClr val="C8414C"/>
          </a:solidFill>
          <a:ln w="12700">
            <a:solidFill>
              <a:srgbClr val="C8414C"/>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 HT</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B4.2.1   </a:t>
            </a:r>
            <a:r>
              <a:rPr lang="en-US" sz="1100" dirty="0">
                <a:solidFill>
                  <a:srgbClr val="262B3A"/>
                </a:solidFill>
                <a:latin typeface="Calibri" pitchFamily="34" charset="0"/>
                <a:ea typeface="Calibri" pitchFamily="34" charset="-122"/>
                <a:cs typeface="Calibri" pitchFamily="34" charset="-120"/>
              </a:rPr>
              <a:t>Light vs electron microscopes; what electron microscopes revealed</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Maths   </a:t>
            </a:r>
            <a:r>
              <a:rPr lang="en-US" sz="1100" dirty="0">
                <a:solidFill>
                  <a:srgbClr val="262B3A"/>
                </a:solidFill>
                <a:latin typeface="Calibri" pitchFamily="34" charset="0"/>
                <a:ea typeface="Calibri" pitchFamily="34" charset="-122"/>
                <a:cs typeface="Calibri" pitchFamily="34" charset="-120"/>
              </a:rPr>
              <a:t>Magnification = image size ÷ real size; scale bars</a:t>
            </a:r>
            <a:endParaRPr lang="en-US" sz="1100" dirty="0"/>
          </a:p>
        </p:txBody>
      </p:sp>
      <p:sp>
        <p:nvSpPr>
          <p:cNvPr id="34" name="Shape 32"/>
          <p:cNvSpPr/>
          <p:nvPr/>
        </p:nvSpPr>
        <p:spPr>
          <a:xfrm>
            <a:off x="5257800" y="4882896"/>
            <a:ext cx="1097280" cy="274320"/>
          </a:xfrm>
          <a:prstGeom prst="roundRect">
            <a:avLst>
              <a:gd name="adj" fmla="val 50000"/>
            </a:avLst>
          </a:prstGeom>
          <a:solidFill>
            <a:srgbClr val="0D7877"/>
          </a:solidFill>
          <a:ln w="12700">
            <a:solidFill>
              <a:srgbClr val="0D7877"/>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PAG B1   </a:t>
            </a:r>
            <a:r>
              <a:rPr lang="en-US" sz="1100" dirty="0">
                <a:solidFill>
                  <a:srgbClr val="262B3A"/>
                </a:solidFill>
                <a:latin typeface="Calibri" pitchFamily="34" charset="0"/>
                <a:ea typeface="Calibri" pitchFamily="34" charset="-122"/>
                <a:cs typeface="Calibri" pitchFamily="34" charset="-120"/>
              </a:rPr>
              <a:t>Microscopy: slides, drawing and measuring cells</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B4.1 respiration in mitochondria • B1.1 the genome • KS3 cells and the light microscope</a:t>
            </a:r>
            <a:endParaRPr lang="en-US" sz="1050" dirty="0"/>
          </a:p>
        </p:txBody>
      </p:sp>
      <p:sp>
        <p:nvSpPr>
          <p:cNvPr id="42" name="Shape 40"/>
          <p:cNvSpPr/>
          <p:nvPr/>
        </p:nvSpPr>
        <p:spPr>
          <a:xfrm>
            <a:off x="6720840" y="1234440"/>
            <a:ext cx="5056632" cy="2788920"/>
          </a:xfrm>
          <a:prstGeom prst="roundRect">
            <a:avLst>
              <a:gd name="adj" fmla="val 1967"/>
            </a:avLst>
          </a:prstGeom>
          <a:solidFill>
            <a:srgbClr val="0F3D3E"/>
          </a:solidFill>
          <a:ln/>
        </p:spPr>
      </p:sp>
      <p:sp>
        <p:nvSpPr>
          <p:cNvPr id="43" name="Text 41"/>
          <p:cNvSpPr/>
          <p:nvPr/>
        </p:nvSpPr>
        <p:spPr>
          <a:xfrm>
            <a:off x="6903720" y="1325880"/>
            <a:ext cx="4709160" cy="26060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B4 in J260</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B4.1 What happens during cellular respiration?</a:t>
            </a:r>
            <a:r>
              <a:rPr lang="en-US" sz="1150" dirty="0">
                <a:solidFill>
                  <a:srgbClr val="E3F2F0"/>
                </a:solidFill>
                <a:latin typeface="Calibri" pitchFamily="34" charset="0"/>
                <a:ea typeface="Calibri" pitchFamily="34" charset="-122"/>
                <a:cs typeface="Calibri" pitchFamily="34" charset="-120"/>
              </a:rPr>
              <a:t> Aerobic and anaerobic respiration; mitochondria (done).</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B4.2 How do we know about mitochondria and other cell structures?</a:t>
            </a:r>
            <a:r>
              <a:rPr lang="en-US" sz="115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B4.3 How do organisms grow and develop?</a:t>
            </a:r>
            <a:r>
              <a:rPr lang="en-US" sz="1150" dirty="0">
                <a:solidFill>
                  <a:srgbClr val="E3F2F0"/>
                </a:solidFill>
                <a:latin typeface="Calibri" pitchFamily="34" charset="0"/>
                <a:ea typeface="Calibri" pitchFamily="34" charset="-122"/>
                <a:cs typeface="Calibri" pitchFamily="34" charset="-120"/>
              </a:rPr>
              <a:t> The cell cycle, mitosis, stem cells and differentiation (next).</a:t>
            </a:r>
            <a:endParaRPr lang="en-US" sz="1500" dirty="0"/>
          </a:p>
        </p:txBody>
      </p:sp>
      <p:sp>
        <p:nvSpPr>
          <p:cNvPr id="44" name="Shape 42"/>
          <p:cNvSpPr/>
          <p:nvPr/>
        </p:nvSpPr>
        <p:spPr>
          <a:xfrm>
            <a:off x="6720840" y="4160520"/>
            <a:ext cx="5056632" cy="2103120"/>
          </a:xfrm>
          <a:prstGeom prst="roundRect">
            <a:avLst>
              <a:gd name="adj" fmla="val 2609"/>
            </a:avLst>
          </a:prstGeom>
          <a:solidFill>
            <a:srgbClr val="FFF4E0"/>
          </a:solidFill>
          <a:ln w="12700">
            <a:solidFill>
              <a:srgbClr val="F1D9A8"/>
            </a:solidFill>
            <a:prstDash val="solid"/>
          </a:ln>
        </p:spPr>
      </p:sp>
      <p:sp>
        <p:nvSpPr>
          <p:cNvPr id="45" name="Text 43"/>
          <p:cNvSpPr/>
          <p:nvPr/>
        </p:nvSpPr>
        <p:spPr>
          <a:xfrm>
            <a:off x="6903720" y="4251960"/>
            <a:ext cx="4709160" cy="192024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Everything is for both tiers except </a:t>
            </a:r>
            <a:r>
              <a:rPr lang="en-US" sz="1150" b="1" dirty="0">
                <a:solidFill>
                  <a:srgbClr val="262B3A"/>
                </a:solidFill>
                <a:latin typeface="Calibri" pitchFamily="34" charset="0"/>
                <a:ea typeface="Calibri" pitchFamily="34" charset="-122"/>
                <a:cs typeface="Calibri" pitchFamily="34" charset="-120"/>
              </a:rPr>
              <a:t>standard form</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orders of magnitude</a:t>
            </a:r>
            <a:r>
              <a:rPr lang="en-US" sz="1150" dirty="0">
                <a:solidFill>
                  <a:srgbClr val="262B3A"/>
                </a:solidFill>
                <a:latin typeface="Calibri" pitchFamily="34" charset="0"/>
                <a:ea typeface="Calibri" pitchFamily="34" charset="-122"/>
                <a:cs typeface="Calibri" pitchFamily="34" charset="-120"/>
              </a:rPr>
              <a:t> (red </a:t>
            </a: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pill).</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Big idea: new </a:t>
            </a:r>
            <a:r>
              <a:rPr lang="en-US" sz="1150" b="1" dirty="0">
                <a:solidFill>
                  <a:srgbClr val="262B3A"/>
                </a:solidFill>
                <a:latin typeface="Calibri" pitchFamily="34" charset="0"/>
                <a:ea typeface="Calibri" pitchFamily="34" charset="-122"/>
                <a:cs typeface="Calibri" pitchFamily="34" charset="-120"/>
              </a:rPr>
              <a:t>technology</a:t>
            </a:r>
            <a:r>
              <a:rPr lang="en-US" sz="1150" dirty="0">
                <a:solidFill>
                  <a:srgbClr val="262B3A"/>
                </a:solidFill>
                <a:latin typeface="Calibri" pitchFamily="34" charset="0"/>
                <a:ea typeface="Calibri" pitchFamily="34" charset="-122"/>
                <a:cs typeface="Calibri" pitchFamily="34" charset="-120"/>
              </a:rPr>
              <a:t> (the electron microscope) gave new </a:t>
            </a:r>
            <a:r>
              <a:rPr lang="en-US" sz="1150" b="1" dirty="0">
                <a:solidFill>
                  <a:srgbClr val="262B3A"/>
                </a:solidFill>
                <a:latin typeface="Calibri" pitchFamily="34" charset="0"/>
                <a:ea typeface="Calibri" pitchFamily="34" charset="-122"/>
                <a:cs typeface="Calibri" pitchFamily="34" charset="-120"/>
              </a:rPr>
              <a:t>evidence</a:t>
            </a:r>
            <a:r>
              <a:rPr lang="en-US" sz="1150" dirty="0">
                <a:solidFill>
                  <a:srgbClr val="262B3A"/>
                </a:solidFill>
                <a:latin typeface="Calibri" pitchFamily="34" charset="0"/>
                <a:ea typeface="Calibri" pitchFamily="34" charset="-122"/>
                <a:cs typeface="Calibri" pitchFamily="34" charset="-120"/>
              </a:rPr>
              <a:t> about cells.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One practical: </a:t>
            </a:r>
            <a:r>
              <a:rPr lang="en-US" sz="1150" b="1" dirty="0">
                <a:solidFill>
                  <a:srgbClr val="262B3A"/>
                </a:solidFill>
                <a:latin typeface="Calibri" pitchFamily="34" charset="0"/>
                <a:ea typeface="Calibri" pitchFamily="34" charset="-122"/>
                <a:cs typeface="Calibri" pitchFamily="34" charset="-120"/>
              </a:rPr>
              <a:t>PAG B1</a:t>
            </a:r>
            <a:r>
              <a:rPr lang="en-US" sz="1150" dirty="0">
                <a:solidFill>
                  <a:srgbClr val="262B3A"/>
                </a:solidFill>
                <a:latin typeface="Calibri" pitchFamily="34" charset="0"/>
                <a:ea typeface="Calibri" pitchFamily="34" charset="-122"/>
                <a:cs typeface="Calibri" pitchFamily="34" charset="-120"/>
              </a:rPr>
              <a:t> microscopy.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B4.1, B1.1 and KS3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respiration</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a:t>
            </a:r>
            <a:r>
              <a:rPr lang="en-US" sz="1250" b="1" dirty="0">
                <a:solidFill>
                  <a:srgbClr val="262B3A"/>
                </a:solidFill>
                <a:latin typeface="Calibri" pitchFamily="34" charset="0"/>
                <a:ea typeface="Calibri" pitchFamily="34" charset="-122"/>
                <a:cs typeface="Calibri" pitchFamily="34" charset="-120"/>
              </a:rPr>
              <a:t>word equation</a:t>
            </a:r>
            <a:r>
              <a:rPr lang="en-US" sz="1250" dirty="0">
                <a:solidFill>
                  <a:srgbClr val="262B3A"/>
                </a:solidFill>
                <a:latin typeface="Calibri" pitchFamily="34" charset="0"/>
                <a:ea typeface="Calibri" pitchFamily="34" charset="-122"/>
                <a:cs typeface="Calibri" pitchFamily="34" charset="-120"/>
              </a:rPr>
              <a:t> for aerobic respiration.</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mitochondria</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Where in the cell does most </a:t>
            </a:r>
            <a:r>
              <a:rPr lang="en-US" sz="1250" b="1" dirty="0">
                <a:solidFill>
                  <a:srgbClr val="262B3A"/>
                </a:solidFill>
                <a:latin typeface="Calibri" pitchFamily="34" charset="0"/>
                <a:ea typeface="Calibri" pitchFamily="34" charset="-122"/>
                <a:cs typeface="Calibri" pitchFamily="34" charset="-120"/>
              </a:rPr>
              <a:t>aerobic</a:t>
            </a:r>
            <a:r>
              <a:rPr lang="en-US" sz="1250" dirty="0">
                <a:solidFill>
                  <a:srgbClr val="262B3A"/>
                </a:solidFill>
                <a:latin typeface="Calibri" pitchFamily="34" charset="0"/>
                <a:ea typeface="Calibri" pitchFamily="34" charset="-122"/>
                <a:cs typeface="Calibri" pitchFamily="34" charset="-120"/>
              </a:rPr>
              <a:t> respiration happen? Why do muscle cells have </a:t>
            </a:r>
            <a:r>
              <a:rPr lang="en-US" sz="1250" b="1" dirty="0">
                <a:solidFill>
                  <a:srgbClr val="262B3A"/>
                </a:solidFill>
                <a:latin typeface="Calibri" pitchFamily="34" charset="0"/>
                <a:ea typeface="Calibri" pitchFamily="34" charset="-122"/>
                <a:cs typeface="Calibri" pitchFamily="34" charset="-120"/>
              </a:rPr>
              <a:t>many</a:t>
            </a:r>
            <a:r>
              <a:rPr lang="en-US" sz="1250" dirty="0">
                <a:solidFill>
                  <a:srgbClr val="262B3A"/>
                </a:solidFill>
                <a:latin typeface="Calibri" pitchFamily="34" charset="0"/>
                <a:ea typeface="Calibri" pitchFamily="34" charset="-122"/>
                <a:cs typeface="Calibri" pitchFamily="34" charset="-120"/>
              </a:rPr>
              <a:t> of them?</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anaerobic</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Where in the cell does </a:t>
            </a:r>
            <a:r>
              <a:rPr lang="en-US" sz="1250" b="1" dirty="0">
                <a:solidFill>
                  <a:srgbClr val="262B3A"/>
                </a:solidFill>
                <a:latin typeface="Calibri" pitchFamily="34" charset="0"/>
                <a:ea typeface="Calibri" pitchFamily="34" charset="-122"/>
                <a:cs typeface="Calibri" pitchFamily="34" charset="-120"/>
              </a:rPr>
              <a:t>anaerobic</a:t>
            </a:r>
            <a:r>
              <a:rPr lang="en-US" sz="1250" dirty="0">
                <a:solidFill>
                  <a:srgbClr val="262B3A"/>
                </a:solidFill>
                <a:latin typeface="Calibri" pitchFamily="34" charset="0"/>
                <a:ea typeface="Calibri" pitchFamily="34" charset="-122"/>
                <a:cs typeface="Calibri" pitchFamily="34" charset="-120"/>
              </a:rPr>
              <a:t> respiration happen? Name its product in yeast.</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B1.1 • the genome</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the </a:t>
            </a:r>
            <a:r>
              <a:rPr lang="en-US" sz="1250" b="1" dirty="0">
                <a:solidFill>
                  <a:srgbClr val="262B3A"/>
                </a:solidFill>
                <a:latin typeface="Calibri" pitchFamily="34" charset="0"/>
                <a:ea typeface="Calibri" pitchFamily="34" charset="-122"/>
                <a:cs typeface="Calibri" pitchFamily="34" charset="-120"/>
              </a:rPr>
              <a:t>genome</a:t>
            </a:r>
            <a:r>
              <a:rPr lang="en-US" sz="1250" dirty="0">
                <a:solidFill>
                  <a:srgbClr val="262B3A"/>
                </a:solidFill>
                <a:latin typeface="Calibri" pitchFamily="34" charset="0"/>
                <a:ea typeface="Calibri" pitchFamily="34" charset="-122"/>
                <a:cs typeface="Calibri" pitchFamily="34" charset="-120"/>
              </a:rPr>
              <a:t> of an organism?</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B1.1 • genetic material</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Where is the genetic material found in a </a:t>
            </a:r>
            <a:r>
              <a:rPr lang="en-US" sz="1250" b="1" dirty="0">
                <a:solidFill>
                  <a:srgbClr val="262B3A"/>
                </a:solidFill>
                <a:latin typeface="Calibri" pitchFamily="34" charset="0"/>
                <a:ea typeface="Calibri" pitchFamily="34" charset="-122"/>
                <a:cs typeface="Calibri" pitchFamily="34" charset="-120"/>
              </a:rPr>
              <a:t>plant cell</a:t>
            </a:r>
            <a:r>
              <a:rPr lang="en-US" sz="1250" dirty="0">
                <a:solidFill>
                  <a:srgbClr val="262B3A"/>
                </a:solidFill>
                <a:latin typeface="Calibri" pitchFamily="34" charset="0"/>
                <a:ea typeface="Calibri" pitchFamily="34" charset="-122"/>
                <a:cs typeface="Calibri" pitchFamily="34" charset="-120"/>
              </a:rPr>
              <a:t>? Where is it found in a </a:t>
            </a:r>
            <a:r>
              <a:rPr lang="en-US" sz="1250" b="1" dirty="0">
                <a:solidFill>
                  <a:srgbClr val="262B3A"/>
                </a:solidFill>
                <a:latin typeface="Calibri" pitchFamily="34" charset="0"/>
                <a:ea typeface="Calibri" pitchFamily="34" charset="-122"/>
                <a:cs typeface="Calibri" pitchFamily="34" charset="-120"/>
              </a:rPr>
              <a:t>bacterium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maths • units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1 mm = 1000 µm. Convert </a:t>
            </a:r>
            <a:r>
              <a:rPr lang="en-US" sz="1250" b="1" dirty="0">
                <a:solidFill>
                  <a:srgbClr val="262B3A"/>
                </a:solidFill>
                <a:latin typeface="Calibri" pitchFamily="34" charset="0"/>
                <a:ea typeface="Calibri" pitchFamily="34" charset="-122"/>
                <a:cs typeface="Calibri" pitchFamily="34" charset="-120"/>
              </a:rPr>
              <a:t>3.5 mm</a:t>
            </a:r>
            <a:r>
              <a:rPr lang="en-US" sz="1250" dirty="0">
                <a:solidFill>
                  <a:srgbClr val="262B3A"/>
                </a:solidFill>
                <a:latin typeface="Calibri" pitchFamily="34" charset="0"/>
                <a:ea typeface="Calibri" pitchFamily="34" charset="-122"/>
                <a:cs typeface="Calibri" pitchFamily="34" charset="-120"/>
              </a:rPr>
              <a:t> into micrometres (µm).</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Eukaryotic cells: animal and plant cells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Underlying knowledge for B4.2 • links to B1.1 • the parts we can now see in detail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Cells  |  5</a:t>
            </a:r>
            <a:endParaRPr lang="en-US" sz="1000" dirty="0"/>
          </a:p>
        </p:txBody>
      </p:sp>
      <p:sp>
        <p:nvSpPr>
          <p:cNvPr id="8" name="Shape 6"/>
          <p:cNvSpPr/>
          <p:nvPr/>
        </p:nvSpPr>
        <p:spPr>
          <a:xfrm>
            <a:off x="411480" y="1188720"/>
            <a:ext cx="708660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68122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as seen with an electron microscope; ribosomes drawn as dots</a:t>
            </a:r>
            <a:endParaRPr lang="en-US" sz="1000" dirty="0"/>
          </a:p>
        </p:txBody>
      </p:sp>
      <p:sp>
        <p:nvSpPr>
          <p:cNvPr id="10" name="Text 8"/>
          <p:cNvSpPr/>
          <p:nvPr/>
        </p:nvSpPr>
        <p:spPr>
          <a:xfrm>
            <a:off x="1691640" y="1298448"/>
            <a:ext cx="2194560" cy="256032"/>
          </a:xfrm>
          <a:prstGeom prst="rect">
            <a:avLst/>
          </a:prstGeom>
          <a:noFill/>
          <a:ln/>
        </p:spPr>
        <p:txBody>
          <a:bodyPr wrap="square" lIns="0" tIns="0" rIns="0" bIns="0" rtlCol="0" anchor="ctr"/>
          <a:lstStyle/>
          <a:p>
            <a:pPr algn="ctr" indent="0" marL="0">
              <a:buNone/>
            </a:pPr>
            <a:r>
              <a:rPr lang="en-US" sz="1100" b="1" dirty="0">
                <a:solidFill>
                  <a:srgbClr val="0D7877"/>
                </a:solidFill>
                <a:latin typeface="Calibri" pitchFamily="34" charset="0"/>
                <a:ea typeface="Calibri" pitchFamily="34" charset="-122"/>
                <a:cs typeface="Calibri" pitchFamily="34" charset="-120"/>
              </a:rPr>
              <a:t>Animal cell (e.g. cheek cell)</a:t>
            </a:r>
            <a:endParaRPr lang="en-US" sz="1100" dirty="0"/>
          </a:p>
        </p:txBody>
      </p:sp>
      <p:sp>
        <p:nvSpPr>
          <p:cNvPr id="11" name="Text 9"/>
          <p:cNvSpPr/>
          <p:nvPr/>
        </p:nvSpPr>
        <p:spPr>
          <a:xfrm>
            <a:off x="3931920" y="1298448"/>
            <a:ext cx="2103120" cy="256032"/>
          </a:xfrm>
          <a:prstGeom prst="rect">
            <a:avLst/>
          </a:prstGeom>
          <a:noFill/>
          <a:ln/>
        </p:spPr>
        <p:txBody>
          <a:bodyPr wrap="square" lIns="0" tIns="0" rIns="0" bIns="0" rtlCol="0" anchor="ctr"/>
          <a:lstStyle/>
          <a:p>
            <a:pPr algn="ctr" indent="0" marL="0">
              <a:buNone/>
            </a:pPr>
            <a:r>
              <a:rPr lang="en-US" sz="1100" b="1" dirty="0">
                <a:solidFill>
                  <a:srgbClr val="0D7877"/>
                </a:solidFill>
                <a:latin typeface="Calibri" pitchFamily="34" charset="0"/>
                <a:ea typeface="Calibri" pitchFamily="34" charset="-122"/>
                <a:cs typeface="Calibri" pitchFamily="34" charset="-120"/>
              </a:rPr>
              <a:t>Plant cell (e.g. leaf cell)</a:t>
            </a:r>
            <a:endParaRPr lang="en-US" sz="1100" dirty="0"/>
          </a:p>
        </p:txBody>
      </p:sp>
      <p:sp>
        <p:nvSpPr>
          <p:cNvPr id="12" name="Shape 10"/>
          <p:cNvSpPr/>
          <p:nvPr/>
        </p:nvSpPr>
        <p:spPr>
          <a:xfrm>
            <a:off x="1783080" y="1691640"/>
            <a:ext cx="2011680" cy="2743200"/>
          </a:xfrm>
          <a:prstGeom prst="ellipse">
            <a:avLst/>
          </a:prstGeom>
          <a:solidFill>
            <a:srgbClr val="FBF3DF"/>
          </a:solidFill>
          <a:ln w="31750">
            <a:solidFill>
              <a:srgbClr val="8A6D3B"/>
            </a:solidFill>
            <a:prstDash val="solid"/>
          </a:ln>
        </p:spPr>
      </p:sp>
      <p:sp>
        <p:nvSpPr>
          <p:cNvPr id="13" name="Shape 11"/>
          <p:cNvSpPr/>
          <p:nvPr/>
        </p:nvSpPr>
        <p:spPr>
          <a:xfrm>
            <a:off x="2286000" y="2496312"/>
            <a:ext cx="804672" cy="804672"/>
          </a:xfrm>
          <a:prstGeom prst="ellipse">
            <a:avLst/>
          </a:prstGeom>
          <a:solidFill>
            <a:srgbClr val="C9B6E4"/>
          </a:solidFill>
          <a:ln w="19050">
            <a:solidFill>
              <a:srgbClr val="6A4C93"/>
            </a:solidFill>
            <a:prstDash val="solid"/>
          </a:ln>
        </p:spPr>
      </p:sp>
      <p:sp>
        <p:nvSpPr>
          <p:cNvPr id="14" name="Shape 12"/>
          <p:cNvSpPr/>
          <p:nvPr/>
        </p:nvSpPr>
        <p:spPr>
          <a:xfrm>
            <a:off x="2559588" y="2785994"/>
            <a:ext cx="241402" cy="221285"/>
          </a:xfrm>
          <a:prstGeom prst="ellipse">
            <a:avLst/>
          </a:prstGeom>
          <a:solidFill>
            <a:srgbClr val="6A4C93">
              <a:alpha val="60000"/>
            </a:srgbClr>
          </a:solidFill>
          <a:ln/>
        </p:spPr>
      </p:sp>
      <p:sp>
        <p:nvSpPr>
          <p:cNvPr id="15" name="Shape 13"/>
          <p:cNvSpPr/>
          <p:nvPr/>
        </p:nvSpPr>
        <p:spPr>
          <a:xfrm rot="2100000">
            <a:off x="3030322" y="2398727"/>
            <a:ext cx="482803" cy="231746"/>
          </a:xfrm>
          <a:prstGeom prst="ellipse">
            <a:avLst/>
          </a:prstGeom>
          <a:solidFill>
            <a:srgbClr val="F2B279"/>
          </a:solidFill>
          <a:ln w="15875">
            <a:solidFill>
              <a:srgbClr val="A4561C"/>
            </a:solidFill>
            <a:prstDash val="solid"/>
          </a:ln>
        </p:spPr>
      </p:sp>
      <p:sp>
        <p:nvSpPr>
          <p:cNvPr id="16" name="Shape 14"/>
          <p:cNvSpPr/>
          <p:nvPr/>
        </p:nvSpPr>
        <p:spPr>
          <a:xfrm flipH="1">
            <a:off x="3152836" y="2378682"/>
            <a:ext cx="13664" cy="114912"/>
          </a:xfrm>
          <a:prstGeom prst="line">
            <a:avLst/>
          </a:prstGeom>
          <a:noFill/>
          <a:ln w="9525">
            <a:solidFill>
              <a:srgbClr val="A4561C"/>
            </a:solidFill>
            <a:prstDash val="solid"/>
          </a:ln>
        </p:spPr>
      </p:sp>
      <p:sp>
        <p:nvSpPr>
          <p:cNvPr id="17" name="Shape 15"/>
          <p:cNvSpPr/>
          <p:nvPr/>
        </p:nvSpPr>
        <p:spPr>
          <a:xfrm flipV="1">
            <a:off x="3152836" y="2441452"/>
            <a:ext cx="103309" cy="52143"/>
          </a:xfrm>
          <a:prstGeom prst="line">
            <a:avLst/>
          </a:prstGeom>
          <a:noFill/>
          <a:ln w="9525">
            <a:solidFill>
              <a:srgbClr val="A4561C"/>
            </a:solidFill>
            <a:prstDash val="solid"/>
          </a:ln>
        </p:spPr>
      </p:sp>
      <p:sp>
        <p:nvSpPr>
          <p:cNvPr id="18" name="Shape 16"/>
          <p:cNvSpPr/>
          <p:nvPr/>
        </p:nvSpPr>
        <p:spPr>
          <a:xfrm flipH="1">
            <a:off x="3242480" y="2441452"/>
            <a:ext cx="13664" cy="114912"/>
          </a:xfrm>
          <a:prstGeom prst="line">
            <a:avLst/>
          </a:prstGeom>
          <a:noFill/>
          <a:ln w="9525">
            <a:solidFill>
              <a:srgbClr val="A4561C"/>
            </a:solidFill>
            <a:prstDash val="solid"/>
          </a:ln>
        </p:spPr>
      </p:sp>
      <p:sp>
        <p:nvSpPr>
          <p:cNvPr id="19" name="Shape 17"/>
          <p:cNvSpPr/>
          <p:nvPr/>
        </p:nvSpPr>
        <p:spPr>
          <a:xfrm flipV="1">
            <a:off x="3242480" y="2504221"/>
            <a:ext cx="103309" cy="52143"/>
          </a:xfrm>
          <a:prstGeom prst="line">
            <a:avLst/>
          </a:prstGeom>
          <a:noFill/>
          <a:ln w="9525">
            <a:solidFill>
              <a:srgbClr val="A4561C"/>
            </a:solidFill>
            <a:prstDash val="solid"/>
          </a:ln>
        </p:spPr>
      </p:sp>
      <p:sp>
        <p:nvSpPr>
          <p:cNvPr id="20" name="Shape 18"/>
          <p:cNvSpPr/>
          <p:nvPr/>
        </p:nvSpPr>
        <p:spPr>
          <a:xfrm flipH="1">
            <a:off x="3332124" y="2504221"/>
            <a:ext cx="13664" cy="114912"/>
          </a:xfrm>
          <a:prstGeom prst="line">
            <a:avLst/>
          </a:prstGeom>
          <a:noFill/>
          <a:ln w="9525">
            <a:solidFill>
              <a:srgbClr val="A4561C"/>
            </a:solidFill>
            <a:prstDash val="solid"/>
          </a:ln>
        </p:spPr>
      </p:sp>
      <p:sp>
        <p:nvSpPr>
          <p:cNvPr id="21" name="Shape 19"/>
          <p:cNvSpPr/>
          <p:nvPr/>
        </p:nvSpPr>
        <p:spPr>
          <a:xfrm flipV="1">
            <a:off x="3332124" y="2566991"/>
            <a:ext cx="103309" cy="52143"/>
          </a:xfrm>
          <a:prstGeom prst="line">
            <a:avLst/>
          </a:prstGeom>
          <a:noFill/>
          <a:ln w="9525">
            <a:solidFill>
              <a:srgbClr val="A4561C"/>
            </a:solidFill>
            <a:prstDash val="solid"/>
          </a:ln>
        </p:spPr>
      </p:sp>
      <p:sp>
        <p:nvSpPr>
          <p:cNvPr id="22" name="Shape 20"/>
          <p:cNvSpPr/>
          <p:nvPr/>
        </p:nvSpPr>
        <p:spPr>
          <a:xfrm rot="-1500000">
            <a:off x="2990088" y="3550871"/>
            <a:ext cx="482803" cy="231746"/>
          </a:xfrm>
          <a:prstGeom prst="ellipse">
            <a:avLst/>
          </a:prstGeom>
          <a:solidFill>
            <a:srgbClr val="F2B279"/>
          </a:solidFill>
          <a:ln w="15875">
            <a:solidFill>
              <a:srgbClr val="A4561C"/>
            </a:solidFill>
            <a:prstDash val="solid"/>
          </a:ln>
        </p:spPr>
      </p:sp>
      <p:sp>
        <p:nvSpPr>
          <p:cNvPr id="23" name="Shape 21"/>
          <p:cNvSpPr/>
          <p:nvPr/>
        </p:nvSpPr>
        <p:spPr>
          <a:xfrm>
            <a:off x="3061170" y="3689911"/>
            <a:ext cx="92685" cy="69290"/>
          </a:xfrm>
          <a:prstGeom prst="line">
            <a:avLst/>
          </a:prstGeom>
          <a:noFill/>
          <a:ln w="9525">
            <a:solidFill>
              <a:srgbClr val="A4561C"/>
            </a:solidFill>
            <a:prstDash val="solid"/>
          </a:ln>
        </p:spPr>
      </p:sp>
      <p:sp>
        <p:nvSpPr>
          <p:cNvPr id="24" name="Shape 22"/>
          <p:cNvSpPr/>
          <p:nvPr/>
        </p:nvSpPr>
        <p:spPr>
          <a:xfrm flipV="1">
            <a:off x="3153854" y="3643661"/>
            <a:ext cx="6498" cy="115539"/>
          </a:xfrm>
          <a:prstGeom prst="line">
            <a:avLst/>
          </a:prstGeom>
          <a:noFill/>
          <a:ln w="9525">
            <a:solidFill>
              <a:srgbClr val="A4561C"/>
            </a:solidFill>
            <a:prstDash val="solid"/>
          </a:ln>
        </p:spPr>
      </p:sp>
      <p:sp>
        <p:nvSpPr>
          <p:cNvPr id="25" name="Shape 23"/>
          <p:cNvSpPr/>
          <p:nvPr/>
        </p:nvSpPr>
        <p:spPr>
          <a:xfrm>
            <a:off x="3160352" y="3643661"/>
            <a:ext cx="92685" cy="69290"/>
          </a:xfrm>
          <a:prstGeom prst="line">
            <a:avLst/>
          </a:prstGeom>
          <a:noFill/>
          <a:ln w="9525">
            <a:solidFill>
              <a:srgbClr val="A4561C"/>
            </a:solidFill>
            <a:prstDash val="solid"/>
          </a:ln>
        </p:spPr>
      </p:sp>
      <p:sp>
        <p:nvSpPr>
          <p:cNvPr id="26" name="Shape 24"/>
          <p:cNvSpPr/>
          <p:nvPr/>
        </p:nvSpPr>
        <p:spPr>
          <a:xfrm flipV="1">
            <a:off x="3253036" y="3597412"/>
            <a:ext cx="6498" cy="115539"/>
          </a:xfrm>
          <a:prstGeom prst="line">
            <a:avLst/>
          </a:prstGeom>
          <a:noFill/>
          <a:ln w="9525">
            <a:solidFill>
              <a:srgbClr val="A4561C"/>
            </a:solidFill>
            <a:prstDash val="solid"/>
          </a:ln>
        </p:spPr>
      </p:sp>
      <p:sp>
        <p:nvSpPr>
          <p:cNvPr id="27" name="Shape 25"/>
          <p:cNvSpPr/>
          <p:nvPr/>
        </p:nvSpPr>
        <p:spPr>
          <a:xfrm>
            <a:off x="3259534" y="3597412"/>
            <a:ext cx="92685" cy="69290"/>
          </a:xfrm>
          <a:prstGeom prst="line">
            <a:avLst/>
          </a:prstGeom>
          <a:noFill/>
          <a:ln w="9525">
            <a:solidFill>
              <a:srgbClr val="A4561C"/>
            </a:solidFill>
            <a:prstDash val="solid"/>
          </a:ln>
        </p:spPr>
      </p:sp>
      <p:sp>
        <p:nvSpPr>
          <p:cNvPr id="28" name="Shape 26"/>
          <p:cNvSpPr/>
          <p:nvPr/>
        </p:nvSpPr>
        <p:spPr>
          <a:xfrm flipV="1">
            <a:off x="3352219" y="3551163"/>
            <a:ext cx="6498" cy="115539"/>
          </a:xfrm>
          <a:prstGeom prst="line">
            <a:avLst/>
          </a:prstGeom>
          <a:noFill/>
          <a:ln w="9525">
            <a:solidFill>
              <a:srgbClr val="A4561C"/>
            </a:solidFill>
            <a:prstDash val="solid"/>
          </a:ln>
        </p:spPr>
      </p:sp>
      <p:sp>
        <p:nvSpPr>
          <p:cNvPr id="29" name="Shape 27"/>
          <p:cNvSpPr/>
          <p:nvPr/>
        </p:nvSpPr>
        <p:spPr>
          <a:xfrm rot="900000">
            <a:off x="2145182" y="3715463"/>
            <a:ext cx="482803" cy="231746"/>
          </a:xfrm>
          <a:prstGeom prst="ellipse">
            <a:avLst/>
          </a:prstGeom>
          <a:solidFill>
            <a:srgbClr val="F2B279"/>
          </a:solidFill>
          <a:ln w="15875">
            <a:solidFill>
              <a:srgbClr val="A4561C"/>
            </a:solidFill>
            <a:prstDash val="solid"/>
          </a:ln>
        </p:spPr>
      </p:sp>
      <p:sp>
        <p:nvSpPr>
          <p:cNvPr id="30" name="Shape 28"/>
          <p:cNvSpPr/>
          <p:nvPr/>
        </p:nvSpPr>
        <p:spPr>
          <a:xfrm>
            <a:off x="2241220" y="3739603"/>
            <a:ext cx="26462" cy="112656"/>
          </a:xfrm>
          <a:prstGeom prst="line">
            <a:avLst/>
          </a:prstGeom>
          <a:noFill/>
          <a:ln w="9525">
            <a:solidFill>
              <a:srgbClr val="A4561C"/>
            </a:solidFill>
            <a:prstDash val="solid"/>
          </a:ln>
        </p:spPr>
      </p:sp>
      <p:sp>
        <p:nvSpPr>
          <p:cNvPr id="31" name="Shape 29"/>
          <p:cNvSpPr/>
          <p:nvPr/>
        </p:nvSpPr>
        <p:spPr>
          <a:xfrm flipV="1">
            <a:off x="2267682" y="3767927"/>
            <a:ext cx="79245" cy="84332"/>
          </a:xfrm>
          <a:prstGeom prst="line">
            <a:avLst/>
          </a:prstGeom>
          <a:noFill/>
          <a:ln w="9525">
            <a:solidFill>
              <a:srgbClr val="A4561C"/>
            </a:solidFill>
            <a:prstDash val="solid"/>
          </a:ln>
        </p:spPr>
      </p:sp>
      <p:sp>
        <p:nvSpPr>
          <p:cNvPr id="32" name="Shape 30"/>
          <p:cNvSpPr/>
          <p:nvPr/>
        </p:nvSpPr>
        <p:spPr>
          <a:xfrm>
            <a:off x="2346926" y="3767927"/>
            <a:ext cx="26462" cy="112656"/>
          </a:xfrm>
          <a:prstGeom prst="line">
            <a:avLst/>
          </a:prstGeom>
          <a:noFill/>
          <a:ln w="9525">
            <a:solidFill>
              <a:srgbClr val="A4561C"/>
            </a:solidFill>
            <a:prstDash val="solid"/>
          </a:ln>
        </p:spPr>
      </p:sp>
      <p:sp>
        <p:nvSpPr>
          <p:cNvPr id="33" name="Shape 31"/>
          <p:cNvSpPr/>
          <p:nvPr/>
        </p:nvSpPr>
        <p:spPr>
          <a:xfrm flipV="1">
            <a:off x="2373388" y="3796251"/>
            <a:ext cx="79245" cy="84332"/>
          </a:xfrm>
          <a:prstGeom prst="line">
            <a:avLst/>
          </a:prstGeom>
          <a:noFill/>
          <a:ln w="9525">
            <a:solidFill>
              <a:srgbClr val="A4561C"/>
            </a:solidFill>
            <a:prstDash val="solid"/>
          </a:ln>
        </p:spPr>
      </p:sp>
      <p:sp>
        <p:nvSpPr>
          <p:cNvPr id="34" name="Shape 32"/>
          <p:cNvSpPr/>
          <p:nvPr/>
        </p:nvSpPr>
        <p:spPr>
          <a:xfrm>
            <a:off x="2452633" y="3796251"/>
            <a:ext cx="26462" cy="112656"/>
          </a:xfrm>
          <a:prstGeom prst="line">
            <a:avLst/>
          </a:prstGeom>
          <a:noFill/>
          <a:ln w="9525">
            <a:solidFill>
              <a:srgbClr val="A4561C"/>
            </a:solidFill>
            <a:prstDash val="solid"/>
          </a:ln>
        </p:spPr>
      </p:sp>
      <p:sp>
        <p:nvSpPr>
          <p:cNvPr id="35" name="Shape 33"/>
          <p:cNvSpPr/>
          <p:nvPr/>
        </p:nvSpPr>
        <p:spPr>
          <a:xfrm flipV="1">
            <a:off x="2479095" y="3824575"/>
            <a:ext cx="79245" cy="84332"/>
          </a:xfrm>
          <a:prstGeom prst="line">
            <a:avLst/>
          </a:prstGeom>
          <a:noFill/>
          <a:ln w="9525">
            <a:solidFill>
              <a:srgbClr val="A4561C"/>
            </a:solidFill>
            <a:prstDash val="solid"/>
          </a:ln>
        </p:spPr>
      </p:sp>
      <p:sp>
        <p:nvSpPr>
          <p:cNvPr id="36" name="Shape 34"/>
          <p:cNvSpPr/>
          <p:nvPr/>
        </p:nvSpPr>
        <p:spPr>
          <a:xfrm rot="-2400000">
            <a:off x="2084832" y="2179271"/>
            <a:ext cx="482803" cy="231746"/>
          </a:xfrm>
          <a:prstGeom prst="ellipse">
            <a:avLst/>
          </a:prstGeom>
          <a:solidFill>
            <a:srgbClr val="F2B279"/>
          </a:solidFill>
          <a:ln w="15875">
            <a:solidFill>
              <a:srgbClr val="A4561C"/>
            </a:solidFill>
            <a:prstDash val="solid"/>
          </a:ln>
        </p:spPr>
      </p:sp>
      <p:sp>
        <p:nvSpPr>
          <p:cNvPr id="37" name="Shape 35"/>
          <p:cNvSpPr/>
          <p:nvPr/>
        </p:nvSpPr>
        <p:spPr>
          <a:xfrm>
            <a:off x="2167713" y="2361604"/>
            <a:ext cx="107460" cy="42940"/>
          </a:xfrm>
          <a:prstGeom prst="line">
            <a:avLst/>
          </a:prstGeom>
          <a:noFill/>
          <a:ln w="9525">
            <a:solidFill>
              <a:srgbClr val="A4561C"/>
            </a:solidFill>
            <a:prstDash val="solid"/>
          </a:ln>
        </p:spPr>
      </p:sp>
      <p:sp>
        <p:nvSpPr>
          <p:cNvPr id="38" name="Shape 36"/>
          <p:cNvSpPr/>
          <p:nvPr/>
        </p:nvSpPr>
        <p:spPr>
          <a:xfrm flipH="1" flipV="1">
            <a:off x="2251546" y="2291260"/>
            <a:ext cx="23628" cy="113284"/>
          </a:xfrm>
          <a:prstGeom prst="line">
            <a:avLst/>
          </a:prstGeom>
          <a:noFill/>
          <a:ln w="9525">
            <a:solidFill>
              <a:srgbClr val="A4561C"/>
            </a:solidFill>
            <a:prstDash val="solid"/>
          </a:ln>
        </p:spPr>
      </p:sp>
      <p:sp>
        <p:nvSpPr>
          <p:cNvPr id="39" name="Shape 37"/>
          <p:cNvSpPr/>
          <p:nvPr/>
        </p:nvSpPr>
        <p:spPr>
          <a:xfrm>
            <a:off x="2251546" y="2291260"/>
            <a:ext cx="107460" cy="42940"/>
          </a:xfrm>
          <a:prstGeom prst="line">
            <a:avLst/>
          </a:prstGeom>
          <a:noFill/>
          <a:ln w="9525">
            <a:solidFill>
              <a:srgbClr val="A4561C"/>
            </a:solidFill>
            <a:prstDash val="solid"/>
          </a:ln>
        </p:spPr>
      </p:sp>
      <p:sp>
        <p:nvSpPr>
          <p:cNvPr id="40" name="Shape 38"/>
          <p:cNvSpPr/>
          <p:nvPr/>
        </p:nvSpPr>
        <p:spPr>
          <a:xfrm flipH="1" flipV="1">
            <a:off x="2335378" y="2220916"/>
            <a:ext cx="23628" cy="113284"/>
          </a:xfrm>
          <a:prstGeom prst="line">
            <a:avLst/>
          </a:prstGeom>
          <a:noFill/>
          <a:ln w="9525">
            <a:solidFill>
              <a:srgbClr val="A4561C"/>
            </a:solidFill>
            <a:prstDash val="solid"/>
          </a:ln>
        </p:spPr>
      </p:sp>
      <p:sp>
        <p:nvSpPr>
          <p:cNvPr id="41" name="Shape 39"/>
          <p:cNvSpPr/>
          <p:nvPr/>
        </p:nvSpPr>
        <p:spPr>
          <a:xfrm>
            <a:off x="2335378" y="2220916"/>
            <a:ext cx="107460" cy="42940"/>
          </a:xfrm>
          <a:prstGeom prst="line">
            <a:avLst/>
          </a:prstGeom>
          <a:noFill/>
          <a:ln w="9525">
            <a:solidFill>
              <a:srgbClr val="A4561C"/>
            </a:solidFill>
            <a:prstDash val="solid"/>
          </a:ln>
        </p:spPr>
      </p:sp>
      <p:sp>
        <p:nvSpPr>
          <p:cNvPr id="42" name="Shape 40"/>
          <p:cNvSpPr/>
          <p:nvPr/>
        </p:nvSpPr>
        <p:spPr>
          <a:xfrm flipH="1" flipV="1">
            <a:off x="2419210" y="2150572"/>
            <a:ext cx="23628" cy="113284"/>
          </a:xfrm>
          <a:prstGeom prst="line">
            <a:avLst/>
          </a:prstGeom>
          <a:noFill/>
          <a:ln w="9525">
            <a:solidFill>
              <a:srgbClr val="A4561C"/>
            </a:solidFill>
            <a:prstDash val="solid"/>
          </a:ln>
        </p:spPr>
      </p:sp>
      <p:sp>
        <p:nvSpPr>
          <p:cNvPr id="43" name="Shape 41"/>
          <p:cNvSpPr/>
          <p:nvPr/>
        </p:nvSpPr>
        <p:spPr>
          <a:xfrm>
            <a:off x="3488406" y="2786774"/>
            <a:ext cx="51206" cy="51206"/>
          </a:xfrm>
          <a:prstGeom prst="ellipse">
            <a:avLst/>
          </a:prstGeom>
          <a:solidFill>
            <a:srgbClr val="3F2A5C"/>
          </a:solidFill>
          <a:ln w="3175">
            <a:solidFill>
              <a:srgbClr val="3F2A5C"/>
            </a:solidFill>
            <a:prstDash val="solid"/>
          </a:ln>
        </p:spPr>
      </p:sp>
      <p:sp>
        <p:nvSpPr>
          <p:cNvPr id="44" name="Shape 42"/>
          <p:cNvSpPr/>
          <p:nvPr/>
        </p:nvSpPr>
        <p:spPr>
          <a:xfrm>
            <a:off x="2040357" y="2709257"/>
            <a:ext cx="51206" cy="51206"/>
          </a:xfrm>
          <a:prstGeom prst="ellipse">
            <a:avLst/>
          </a:prstGeom>
          <a:solidFill>
            <a:srgbClr val="3F2A5C"/>
          </a:solidFill>
          <a:ln w="3175">
            <a:solidFill>
              <a:srgbClr val="3F2A5C"/>
            </a:solidFill>
            <a:prstDash val="solid"/>
          </a:ln>
        </p:spPr>
      </p:sp>
      <p:sp>
        <p:nvSpPr>
          <p:cNvPr id="45" name="Shape 43"/>
          <p:cNvSpPr/>
          <p:nvPr/>
        </p:nvSpPr>
        <p:spPr>
          <a:xfrm>
            <a:off x="2940502" y="3933846"/>
            <a:ext cx="51206" cy="51206"/>
          </a:xfrm>
          <a:prstGeom prst="ellipse">
            <a:avLst/>
          </a:prstGeom>
          <a:solidFill>
            <a:srgbClr val="3F2A5C"/>
          </a:solidFill>
          <a:ln w="3175">
            <a:solidFill>
              <a:srgbClr val="3F2A5C"/>
            </a:solidFill>
            <a:prstDash val="solid"/>
          </a:ln>
        </p:spPr>
      </p:sp>
      <p:sp>
        <p:nvSpPr>
          <p:cNvPr id="46" name="Shape 44"/>
          <p:cNvSpPr/>
          <p:nvPr/>
        </p:nvSpPr>
        <p:spPr>
          <a:xfrm>
            <a:off x="2527233" y="1898331"/>
            <a:ext cx="51206" cy="51206"/>
          </a:xfrm>
          <a:prstGeom prst="ellipse">
            <a:avLst/>
          </a:prstGeom>
          <a:solidFill>
            <a:srgbClr val="3F2A5C"/>
          </a:solidFill>
          <a:ln w="3175">
            <a:solidFill>
              <a:srgbClr val="3F2A5C"/>
            </a:solidFill>
            <a:prstDash val="solid"/>
          </a:ln>
        </p:spPr>
      </p:sp>
      <p:sp>
        <p:nvSpPr>
          <p:cNvPr id="47" name="Shape 45"/>
          <p:cNvSpPr/>
          <p:nvPr/>
        </p:nvSpPr>
        <p:spPr>
          <a:xfrm>
            <a:off x="2720555" y="2310144"/>
            <a:ext cx="51206" cy="51206"/>
          </a:xfrm>
          <a:prstGeom prst="ellipse">
            <a:avLst/>
          </a:prstGeom>
          <a:solidFill>
            <a:srgbClr val="3F2A5C"/>
          </a:solidFill>
          <a:ln w="3175">
            <a:solidFill>
              <a:srgbClr val="3F2A5C"/>
            </a:solidFill>
            <a:prstDash val="solid"/>
          </a:ln>
        </p:spPr>
      </p:sp>
      <p:sp>
        <p:nvSpPr>
          <p:cNvPr id="48" name="Shape 46"/>
          <p:cNvSpPr/>
          <p:nvPr/>
        </p:nvSpPr>
        <p:spPr>
          <a:xfrm>
            <a:off x="3541803" y="3098288"/>
            <a:ext cx="51206" cy="51206"/>
          </a:xfrm>
          <a:prstGeom prst="ellipse">
            <a:avLst/>
          </a:prstGeom>
          <a:solidFill>
            <a:srgbClr val="3F2A5C"/>
          </a:solidFill>
          <a:ln w="3175">
            <a:solidFill>
              <a:srgbClr val="3F2A5C"/>
            </a:solidFill>
            <a:prstDash val="solid"/>
          </a:ln>
        </p:spPr>
      </p:sp>
      <p:sp>
        <p:nvSpPr>
          <p:cNvPr id="49" name="Shape 47"/>
          <p:cNvSpPr/>
          <p:nvPr/>
        </p:nvSpPr>
        <p:spPr>
          <a:xfrm>
            <a:off x="1952410" y="3340970"/>
            <a:ext cx="51206" cy="51206"/>
          </a:xfrm>
          <a:prstGeom prst="ellipse">
            <a:avLst/>
          </a:prstGeom>
          <a:solidFill>
            <a:srgbClr val="3F2A5C"/>
          </a:solidFill>
          <a:ln w="3175">
            <a:solidFill>
              <a:srgbClr val="3F2A5C"/>
            </a:solidFill>
            <a:prstDash val="solid"/>
          </a:ln>
        </p:spPr>
      </p:sp>
      <p:sp>
        <p:nvSpPr>
          <p:cNvPr id="50" name="Shape 48"/>
          <p:cNvSpPr/>
          <p:nvPr/>
        </p:nvSpPr>
        <p:spPr>
          <a:xfrm>
            <a:off x="2625401" y="2365688"/>
            <a:ext cx="51206" cy="51206"/>
          </a:xfrm>
          <a:prstGeom prst="ellipse">
            <a:avLst/>
          </a:prstGeom>
          <a:solidFill>
            <a:srgbClr val="3F2A5C"/>
          </a:solidFill>
          <a:ln w="3175">
            <a:solidFill>
              <a:srgbClr val="3F2A5C"/>
            </a:solidFill>
            <a:prstDash val="solid"/>
          </a:ln>
        </p:spPr>
      </p:sp>
      <p:sp>
        <p:nvSpPr>
          <p:cNvPr id="51" name="Shape 49"/>
          <p:cNvSpPr/>
          <p:nvPr/>
        </p:nvSpPr>
        <p:spPr>
          <a:xfrm>
            <a:off x="3670955" y="3174116"/>
            <a:ext cx="51206" cy="51206"/>
          </a:xfrm>
          <a:prstGeom prst="ellipse">
            <a:avLst/>
          </a:prstGeom>
          <a:solidFill>
            <a:srgbClr val="3F2A5C"/>
          </a:solidFill>
          <a:ln w="3175">
            <a:solidFill>
              <a:srgbClr val="3F2A5C"/>
            </a:solidFill>
            <a:prstDash val="solid"/>
          </a:ln>
        </p:spPr>
      </p:sp>
      <p:sp>
        <p:nvSpPr>
          <p:cNvPr id="52" name="Shape 50"/>
          <p:cNvSpPr/>
          <p:nvPr/>
        </p:nvSpPr>
        <p:spPr>
          <a:xfrm>
            <a:off x="3123833" y="3063320"/>
            <a:ext cx="51206" cy="51206"/>
          </a:xfrm>
          <a:prstGeom prst="ellipse">
            <a:avLst/>
          </a:prstGeom>
          <a:solidFill>
            <a:srgbClr val="3F2A5C"/>
          </a:solidFill>
          <a:ln w="3175">
            <a:solidFill>
              <a:srgbClr val="3F2A5C"/>
            </a:solidFill>
            <a:prstDash val="solid"/>
          </a:ln>
        </p:spPr>
      </p:sp>
      <p:sp>
        <p:nvSpPr>
          <p:cNvPr id="53" name="Shape 51"/>
          <p:cNvSpPr/>
          <p:nvPr/>
        </p:nvSpPr>
        <p:spPr>
          <a:xfrm>
            <a:off x="2108605" y="3237913"/>
            <a:ext cx="51206" cy="51206"/>
          </a:xfrm>
          <a:prstGeom prst="ellipse">
            <a:avLst/>
          </a:prstGeom>
          <a:solidFill>
            <a:srgbClr val="3F2A5C"/>
          </a:solidFill>
          <a:ln w="3175">
            <a:solidFill>
              <a:srgbClr val="3F2A5C"/>
            </a:solidFill>
            <a:prstDash val="solid"/>
          </a:ln>
        </p:spPr>
      </p:sp>
      <p:sp>
        <p:nvSpPr>
          <p:cNvPr id="54" name="Shape 52"/>
          <p:cNvSpPr/>
          <p:nvPr/>
        </p:nvSpPr>
        <p:spPr>
          <a:xfrm>
            <a:off x="2865346" y="4203435"/>
            <a:ext cx="51206" cy="51206"/>
          </a:xfrm>
          <a:prstGeom prst="ellipse">
            <a:avLst/>
          </a:prstGeom>
          <a:solidFill>
            <a:srgbClr val="3F2A5C"/>
          </a:solidFill>
          <a:ln w="3175">
            <a:solidFill>
              <a:srgbClr val="3F2A5C"/>
            </a:solidFill>
            <a:prstDash val="solid"/>
          </a:ln>
        </p:spPr>
      </p:sp>
      <p:sp>
        <p:nvSpPr>
          <p:cNvPr id="55" name="Shape 53"/>
          <p:cNvSpPr/>
          <p:nvPr/>
        </p:nvSpPr>
        <p:spPr>
          <a:xfrm>
            <a:off x="3489871" y="3438173"/>
            <a:ext cx="51206" cy="51206"/>
          </a:xfrm>
          <a:prstGeom prst="ellipse">
            <a:avLst/>
          </a:prstGeom>
          <a:solidFill>
            <a:srgbClr val="3F2A5C"/>
          </a:solidFill>
          <a:ln w="3175">
            <a:solidFill>
              <a:srgbClr val="3F2A5C"/>
            </a:solidFill>
            <a:prstDash val="solid"/>
          </a:ln>
        </p:spPr>
      </p:sp>
      <p:sp>
        <p:nvSpPr>
          <p:cNvPr id="56" name="Shape 54"/>
          <p:cNvSpPr/>
          <p:nvPr/>
        </p:nvSpPr>
        <p:spPr>
          <a:xfrm>
            <a:off x="2829478" y="2369989"/>
            <a:ext cx="51206" cy="51206"/>
          </a:xfrm>
          <a:prstGeom prst="ellipse">
            <a:avLst/>
          </a:prstGeom>
          <a:solidFill>
            <a:srgbClr val="3F2A5C"/>
          </a:solidFill>
          <a:ln w="3175">
            <a:solidFill>
              <a:srgbClr val="3F2A5C"/>
            </a:solidFill>
            <a:prstDash val="solid"/>
          </a:ln>
        </p:spPr>
      </p:sp>
      <p:sp>
        <p:nvSpPr>
          <p:cNvPr id="57" name="Shape 55"/>
          <p:cNvSpPr/>
          <p:nvPr/>
        </p:nvSpPr>
        <p:spPr>
          <a:xfrm>
            <a:off x="3525639" y="2991774"/>
            <a:ext cx="51206" cy="51206"/>
          </a:xfrm>
          <a:prstGeom prst="ellipse">
            <a:avLst/>
          </a:prstGeom>
          <a:solidFill>
            <a:srgbClr val="3F2A5C"/>
          </a:solidFill>
          <a:ln w="3175">
            <a:solidFill>
              <a:srgbClr val="3F2A5C"/>
            </a:solidFill>
            <a:prstDash val="solid"/>
          </a:ln>
        </p:spPr>
      </p:sp>
      <p:sp>
        <p:nvSpPr>
          <p:cNvPr id="58" name="Shape 56"/>
          <p:cNvSpPr/>
          <p:nvPr/>
        </p:nvSpPr>
        <p:spPr>
          <a:xfrm>
            <a:off x="2394918" y="3418993"/>
            <a:ext cx="51206" cy="51206"/>
          </a:xfrm>
          <a:prstGeom prst="ellipse">
            <a:avLst/>
          </a:prstGeom>
          <a:solidFill>
            <a:srgbClr val="3F2A5C"/>
          </a:solidFill>
          <a:ln w="3175">
            <a:solidFill>
              <a:srgbClr val="3F2A5C"/>
            </a:solidFill>
            <a:prstDash val="solid"/>
          </a:ln>
        </p:spPr>
      </p:sp>
      <p:sp>
        <p:nvSpPr>
          <p:cNvPr id="59" name="Shape 57"/>
          <p:cNvSpPr/>
          <p:nvPr/>
        </p:nvSpPr>
        <p:spPr>
          <a:xfrm>
            <a:off x="3280112" y="2139638"/>
            <a:ext cx="51206" cy="51206"/>
          </a:xfrm>
          <a:prstGeom prst="ellipse">
            <a:avLst/>
          </a:prstGeom>
          <a:solidFill>
            <a:srgbClr val="3F2A5C"/>
          </a:solidFill>
          <a:ln w="3175">
            <a:solidFill>
              <a:srgbClr val="3F2A5C"/>
            </a:solidFill>
            <a:prstDash val="solid"/>
          </a:ln>
        </p:spPr>
      </p:sp>
      <p:sp>
        <p:nvSpPr>
          <p:cNvPr id="60" name="Shape 58"/>
          <p:cNvSpPr/>
          <p:nvPr/>
        </p:nvSpPr>
        <p:spPr>
          <a:xfrm>
            <a:off x="2757586" y="3374675"/>
            <a:ext cx="51206" cy="51206"/>
          </a:xfrm>
          <a:prstGeom prst="ellipse">
            <a:avLst/>
          </a:prstGeom>
          <a:solidFill>
            <a:srgbClr val="3F2A5C"/>
          </a:solidFill>
          <a:ln w="3175">
            <a:solidFill>
              <a:srgbClr val="3F2A5C"/>
            </a:solidFill>
            <a:prstDash val="solid"/>
          </a:ln>
        </p:spPr>
      </p:sp>
      <p:sp>
        <p:nvSpPr>
          <p:cNvPr id="61" name="Shape 59"/>
          <p:cNvSpPr/>
          <p:nvPr/>
        </p:nvSpPr>
        <p:spPr>
          <a:xfrm>
            <a:off x="3399724" y="3027854"/>
            <a:ext cx="51206" cy="51206"/>
          </a:xfrm>
          <a:prstGeom prst="ellipse">
            <a:avLst/>
          </a:prstGeom>
          <a:solidFill>
            <a:srgbClr val="3F2A5C"/>
          </a:solidFill>
          <a:ln w="3175">
            <a:solidFill>
              <a:srgbClr val="3F2A5C"/>
            </a:solidFill>
            <a:prstDash val="solid"/>
          </a:ln>
        </p:spPr>
      </p:sp>
      <p:sp>
        <p:nvSpPr>
          <p:cNvPr id="62" name="Shape 60"/>
          <p:cNvSpPr/>
          <p:nvPr/>
        </p:nvSpPr>
        <p:spPr>
          <a:xfrm>
            <a:off x="2884053" y="2252767"/>
            <a:ext cx="51206" cy="51206"/>
          </a:xfrm>
          <a:prstGeom prst="ellipse">
            <a:avLst/>
          </a:prstGeom>
          <a:solidFill>
            <a:srgbClr val="3F2A5C"/>
          </a:solidFill>
          <a:ln w="3175">
            <a:solidFill>
              <a:srgbClr val="3F2A5C"/>
            </a:solidFill>
            <a:prstDash val="solid"/>
          </a:ln>
        </p:spPr>
      </p:sp>
      <p:sp>
        <p:nvSpPr>
          <p:cNvPr id="63" name="Shape 61"/>
          <p:cNvSpPr/>
          <p:nvPr/>
        </p:nvSpPr>
        <p:spPr>
          <a:xfrm>
            <a:off x="1967367" y="3235275"/>
            <a:ext cx="51206" cy="51206"/>
          </a:xfrm>
          <a:prstGeom prst="ellipse">
            <a:avLst/>
          </a:prstGeom>
          <a:solidFill>
            <a:srgbClr val="3F2A5C"/>
          </a:solidFill>
          <a:ln w="3175">
            <a:solidFill>
              <a:srgbClr val="3F2A5C"/>
            </a:solidFill>
            <a:prstDash val="solid"/>
          </a:ln>
        </p:spPr>
      </p:sp>
      <p:sp>
        <p:nvSpPr>
          <p:cNvPr id="64" name="Shape 62"/>
          <p:cNvSpPr/>
          <p:nvPr/>
        </p:nvSpPr>
        <p:spPr>
          <a:xfrm>
            <a:off x="2385376" y="4185415"/>
            <a:ext cx="51206" cy="51206"/>
          </a:xfrm>
          <a:prstGeom prst="ellipse">
            <a:avLst/>
          </a:prstGeom>
          <a:solidFill>
            <a:srgbClr val="3F2A5C"/>
          </a:solidFill>
          <a:ln w="3175">
            <a:solidFill>
              <a:srgbClr val="3F2A5C"/>
            </a:solidFill>
            <a:prstDash val="solid"/>
          </a:ln>
        </p:spPr>
      </p:sp>
      <p:sp>
        <p:nvSpPr>
          <p:cNvPr id="65" name="Shape 63"/>
          <p:cNvSpPr/>
          <p:nvPr/>
        </p:nvSpPr>
        <p:spPr>
          <a:xfrm>
            <a:off x="3148496" y="3208350"/>
            <a:ext cx="51206" cy="51206"/>
          </a:xfrm>
          <a:prstGeom prst="ellipse">
            <a:avLst/>
          </a:prstGeom>
          <a:solidFill>
            <a:srgbClr val="3F2A5C"/>
          </a:solidFill>
          <a:ln w="3175">
            <a:solidFill>
              <a:srgbClr val="3F2A5C"/>
            </a:solidFill>
            <a:prstDash val="solid"/>
          </a:ln>
        </p:spPr>
      </p:sp>
      <p:sp>
        <p:nvSpPr>
          <p:cNvPr id="66" name="Shape 64"/>
          <p:cNvSpPr/>
          <p:nvPr/>
        </p:nvSpPr>
        <p:spPr>
          <a:xfrm>
            <a:off x="2648800" y="3701854"/>
            <a:ext cx="51206" cy="51206"/>
          </a:xfrm>
          <a:prstGeom prst="ellipse">
            <a:avLst/>
          </a:prstGeom>
          <a:solidFill>
            <a:srgbClr val="3F2A5C"/>
          </a:solidFill>
          <a:ln w="3175">
            <a:solidFill>
              <a:srgbClr val="3F2A5C"/>
            </a:solidFill>
            <a:prstDash val="solid"/>
          </a:ln>
        </p:spPr>
      </p:sp>
      <p:sp>
        <p:nvSpPr>
          <p:cNvPr id="67" name="Shape 65"/>
          <p:cNvSpPr/>
          <p:nvPr/>
        </p:nvSpPr>
        <p:spPr>
          <a:xfrm>
            <a:off x="3269016" y="2953855"/>
            <a:ext cx="51206" cy="51206"/>
          </a:xfrm>
          <a:prstGeom prst="ellipse">
            <a:avLst/>
          </a:prstGeom>
          <a:solidFill>
            <a:srgbClr val="3F2A5C"/>
          </a:solidFill>
          <a:ln w="3175">
            <a:solidFill>
              <a:srgbClr val="3F2A5C"/>
            </a:solidFill>
            <a:prstDash val="solid"/>
          </a:ln>
        </p:spPr>
      </p:sp>
      <p:sp>
        <p:nvSpPr>
          <p:cNvPr id="68" name="Shape 66"/>
          <p:cNvSpPr/>
          <p:nvPr/>
        </p:nvSpPr>
        <p:spPr>
          <a:xfrm>
            <a:off x="2389705" y="1898372"/>
            <a:ext cx="51206" cy="51206"/>
          </a:xfrm>
          <a:prstGeom prst="ellipse">
            <a:avLst/>
          </a:prstGeom>
          <a:solidFill>
            <a:srgbClr val="3F2A5C"/>
          </a:solidFill>
          <a:ln w="3175">
            <a:solidFill>
              <a:srgbClr val="3F2A5C"/>
            </a:solidFill>
            <a:prstDash val="solid"/>
          </a:ln>
        </p:spPr>
      </p:sp>
      <p:sp>
        <p:nvSpPr>
          <p:cNvPr id="69" name="Shape 67"/>
          <p:cNvSpPr/>
          <p:nvPr/>
        </p:nvSpPr>
        <p:spPr>
          <a:xfrm>
            <a:off x="2692992" y="4299854"/>
            <a:ext cx="51206" cy="51206"/>
          </a:xfrm>
          <a:prstGeom prst="ellipse">
            <a:avLst/>
          </a:prstGeom>
          <a:solidFill>
            <a:srgbClr val="3F2A5C"/>
          </a:solidFill>
          <a:ln w="3175">
            <a:solidFill>
              <a:srgbClr val="3F2A5C"/>
            </a:solidFill>
            <a:prstDash val="solid"/>
          </a:ln>
        </p:spPr>
      </p:sp>
      <p:sp>
        <p:nvSpPr>
          <p:cNvPr id="70" name="Shape 68"/>
          <p:cNvSpPr/>
          <p:nvPr/>
        </p:nvSpPr>
        <p:spPr>
          <a:xfrm>
            <a:off x="3591492" y="3473206"/>
            <a:ext cx="51206" cy="51206"/>
          </a:xfrm>
          <a:prstGeom prst="ellipse">
            <a:avLst/>
          </a:prstGeom>
          <a:solidFill>
            <a:srgbClr val="3F2A5C"/>
          </a:solidFill>
          <a:ln w="3175">
            <a:solidFill>
              <a:srgbClr val="3F2A5C"/>
            </a:solidFill>
            <a:prstDash val="solid"/>
          </a:ln>
        </p:spPr>
      </p:sp>
      <p:sp>
        <p:nvSpPr>
          <p:cNvPr id="71" name="Shape 69"/>
          <p:cNvSpPr/>
          <p:nvPr/>
        </p:nvSpPr>
        <p:spPr>
          <a:xfrm>
            <a:off x="2034632" y="3186629"/>
            <a:ext cx="51206" cy="51206"/>
          </a:xfrm>
          <a:prstGeom prst="ellipse">
            <a:avLst/>
          </a:prstGeom>
          <a:solidFill>
            <a:srgbClr val="3F2A5C"/>
          </a:solidFill>
          <a:ln w="3175">
            <a:solidFill>
              <a:srgbClr val="3F2A5C"/>
            </a:solidFill>
            <a:prstDash val="solid"/>
          </a:ln>
        </p:spPr>
      </p:sp>
      <p:sp>
        <p:nvSpPr>
          <p:cNvPr id="72" name="Shape 70"/>
          <p:cNvSpPr/>
          <p:nvPr/>
        </p:nvSpPr>
        <p:spPr>
          <a:xfrm>
            <a:off x="2887842" y="4058287"/>
            <a:ext cx="51206" cy="51206"/>
          </a:xfrm>
          <a:prstGeom prst="ellipse">
            <a:avLst/>
          </a:prstGeom>
          <a:solidFill>
            <a:srgbClr val="3F2A5C"/>
          </a:solidFill>
          <a:ln w="3175">
            <a:solidFill>
              <a:srgbClr val="3F2A5C"/>
            </a:solidFill>
            <a:prstDash val="solid"/>
          </a:ln>
        </p:spPr>
      </p:sp>
      <p:sp>
        <p:nvSpPr>
          <p:cNvPr id="73" name="Shape 71"/>
          <p:cNvSpPr/>
          <p:nvPr/>
        </p:nvSpPr>
        <p:spPr>
          <a:xfrm>
            <a:off x="1951705" y="3633275"/>
            <a:ext cx="51206" cy="51206"/>
          </a:xfrm>
          <a:prstGeom prst="ellipse">
            <a:avLst/>
          </a:prstGeom>
          <a:solidFill>
            <a:srgbClr val="3F2A5C"/>
          </a:solidFill>
          <a:ln w="3175">
            <a:solidFill>
              <a:srgbClr val="3F2A5C"/>
            </a:solidFill>
            <a:prstDash val="solid"/>
          </a:ln>
        </p:spPr>
      </p:sp>
      <p:sp>
        <p:nvSpPr>
          <p:cNvPr id="74" name="Shape 72"/>
          <p:cNvSpPr/>
          <p:nvPr/>
        </p:nvSpPr>
        <p:spPr>
          <a:xfrm>
            <a:off x="3462668" y="2703994"/>
            <a:ext cx="51206" cy="51206"/>
          </a:xfrm>
          <a:prstGeom prst="ellipse">
            <a:avLst/>
          </a:prstGeom>
          <a:solidFill>
            <a:srgbClr val="3F2A5C"/>
          </a:solidFill>
          <a:ln w="3175">
            <a:solidFill>
              <a:srgbClr val="3F2A5C"/>
            </a:solidFill>
            <a:prstDash val="solid"/>
          </a:ln>
        </p:spPr>
      </p:sp>
      <p:sp>
        <p:nvSpPr>
          <p:cNvPr id="75" name="Shape 73"/>
          <p:cNvSpPr/>
          <p:nvPr/>
        </p:nvSpPr>
        <p:spPr>
          <a:xfrm>
            <a:off x="2813024" y="3833728"/>
            <a:ext cx="51206" cy="51206"/>
          </a:xfrm>
          <a:prstGeom prst="ellipse">
            <a:avLst/>
          </a:prstGeom>
          <a:solidFill>
            <a:srgbClr val="3F2A5C"/>
          </a:solidFill>
          <a:ln w="3175">
            <a:solidFill>
              <a:srgbClr val="3F2A5C"/>
            </a:solidFill>
            <a:prstDash val="solid"/>
          </a:ln>
        </p:spPr>
      </p:sp>
      <p:sp>
        <p:nvSpPr>
          <p:cNvPr id="76" name="Shape 74"/>
          <p:cNvSpPr/>
          <p:nvPr/>
        </p:nvSpPr>
        <p:spPr>
          <a:xfrm>
            <a:off x="2503512" y="4152083"/>
            <a:ext cx="51206" cy="51206"/>
          </a:xfrm>
          <a:prstGeom prst="ellipse">
            <a:avLst/>
          </a:prstGeom>
          <a:solidFill>
            <a:srgbClr val="3F2A5C"/>
          </a:solidFill>
          <a:ln w="3175">
            <a:solidFill>
              <a:srgbClr val="3F2A5C"/>
            </a:solidFill>
            <a:prstDash val="solid"/>
          </a:ln>
        </p:spPr>
      </p:sp>
      <p:sp>
        <p:nvSpPr>
          <p:cNvPr id="77" name="Shape 75"/>
          <p:cNvSpPr/>
          <p:nvPr/>
        </p:nvSpPr>
        <p:spPr>
          <a:xfrm flipH="1" flipV="1">
            <a:off x="1664208" y="1965960"/>
            <a:ext cx="179532" cy="628165"/>
          </a:xfrm>
          <a:prstGeom prst="line">
            <a:avLst/>
          </a:prstGeom>
          <a:noFill/>
          <a:ln w="11430">
            <a:solidFill>
              <a:srgbClr val="4A5262"/>
            </a:solidFill>
            <a:prstDash val="solid"/>
          </a:ln>
        </p:spPr>
      </p:sp>
      <p:sp>
        <p:nvSpPr>
          <p:cNvPr id="78" name="Shape 76"/>
          <p:cNvSpPr/>
          <p:nvPr/>
        </p:nvSpPr>
        <p:spPr>
          <a:xfrm>
            <a:off x="1823623" y="2574008"/>
            <a:ext cx="40234" cy="40234"/>
          </a:xfrm>
          <a:prstGeom prst="ellipse">
            <a:avLst/>
          </a:prstGeom>
          <a:solidFill>
            <a:srgbClr val="4A5262"/>
          </a:solidFill>
          <a:ln w="3175">
            <a:solidFill>
              <a:srgbClr val="4A5262"/>
            </a:solidFill>
            <a:prstDash val="solid"/>
          </a:ln>
        </p:spPr>
      </p:sp>
      <p:sp>
        <p:nvSpPr>
          <p:cNvPr id="79" name="Text 77"/>
          <p:cNvSpPr/>
          <p:nvPr/>
        </p:nvSpPr>
        <p:spPr>
          <a:xfrm>
            <a:off x="429768" y="1847088"/>
            <a:ext cx="118872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cell membrane</a:t>
            </a:r>
            <a:endParaRPr lang="en-US" sz="1050" dirty="0"/>
          </a:p>
        </p:txBody>
      </p:sp>
      <p:sp>
        <p:nvSpPr>
          <p:cNvPr id="80" name="Shape 78"/>
          <p:cNvSpPr/>
          <p:nvPr/>
        </p:nvSpPr>
        <p:spPr>
          <a:xfrm flipH="1" flipV="1">
            <a:off x="1664208" y="2514600"/>
            <a:ext cx="782726" cy="182880"/>
          </a:xfrm>
          <a:prstGeom prst="line">
            <a:avLst/>
          </a:prstGeom>
          <a:noFill/>
          <a:ln w="11430">
            <a:solidFill>
              <a:srgbClr val="4A5262"/>
            </a:solidFill>
            <a:prstDash val="solid"/>
          </a:ln>
        </p:spPr>
      </p:sp>
      <p:sp>
        <p:nvSpPr>
          <p:cNvPr id="81" name="Shape 79"/>
          <p:cNvSpPr/>
          <p:nvPr/>
        </p:nvSpPr>
        <p:spPr>
          <a:xfrm>
            <a:off x="2426818" y="2677363"/>
            <a:ext cx="40234" cy="40234"/>
          </a:xfrm>
          <a:prstGeom prst="ellipse">
            <a:avLst/>
          </a:prstGeom>
          <a:solidFill>
            <a:srgbClr val="4A5262"/>
          </a:solidFill>
          <a:ln w="3175">
            <a:solidFill>
              <a:srgbClr val="4A5262"/>
            </a:solidFill>
            <a:prstDash val="solid"/>
          </a:ln>
        </p:spPr>
      </p:sp>
      <p:sp>
        <p:nvSpPr>
          <p:cNvPr id="82" name="Text 80"/>
          <p:cNvSpPr/>
          <p:nvPr/>
        </p:nvSpPr>
        <p:spPr>
          <a:xfrm>
            <a:off x="429768" y="2395728"/>
            <a:ext cx="118872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nucleus</a:t>
            </a:r>
            <a:endParaRPr lang="en-US" sz="1050" dirty="0"/>
          </a:p>
        </p:txBody>
      </p:sp>
      <p:sp>
        <p:nvSpPr>
          <p:cNvPr id="83" name="Shape 81"/>
          <p:cNvSpPr/>
          <p:nvPr/>
        </p:nvSpPr>
        <p:spPr>
          <a:xfrm flipH="1" flipV="1">
            <a:off x="1664208" y="2240280"/>
            <a:ext cx="662026" cy="54864"/>
          </a:xfrm>
          <a:prstGeom prst="line">
            <a:avLst/>
          </a:prstGeom>
          <a:noFill/>
          <a:ln w="11430">
            <a:solidFill>
              <a:srgbClr val="4A5262"/>
            </a:solidFill>
            <a:prstDash val="solid"/>
          </a:ln>
        </p:spPr>
      </p:sp>
      <p:sp>
        <p:nvSpPr>
          <p:cNvPr id="84" name="Shape 82"/>
          <p:cNvSpPr/>
          <p:nvPr/>
        </p:nvSpPr>
        <p:spPr>
          <a:xfrm>
            <a:off x="2306117" y="2275027"/>
            <a:ext cx="40234" cy="40234"/>
          </a:xfrm>
          <a:prstGeom prst="ellipse">
            <a:avLst/>
          </a:prstGeom>
          <a:solidFill>
            <a:srgbClr val="4A5262"/>
          </a:solidFill>
          <a:ln w="3175">
            <a:solidFill>
              <a:srgbClr val="4A5262"/>
            </a:solidFill>
            <a:prstDash val="solid"/>
          </a:ln>
        </p:spPr>
      </p:sp>
      <p:sp>
        <p:nvSpPr>
          <p:cNvPr id="85" name="Text 83"/>
          <p:cNvSpPr/>
          <p:nvPr/>
        </p:nvSpPr>
        <p:spPr>
          <a:xfrm>
            <a:off x="429768" y="2121408"/>
            <a:ext cx="118872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mitochondrion</a:t>
            </a:r>
            <a:endParaRPr lang="en-US" sz="1050" dirty="0"/>
          </a:p>
        </p:txBody>
      </p:sp>
      <p:sp>
        <p:nvSpPr>
          <p:cNvPr id="86" name="Shape 84"/>
          <p:cNvSpPr/>
          <p:nvPr/>
        </p:nvSpPr>
        <p:spPr>
          <a:xfrm flipH="1" flipV="1">
            <a:off x="1664208" y="3566160"/>
            <a:ext cx="313100" cy="92718"/>
          </a:xfrm>
          <a:prstGeom prst="line">
            <a:avLst/>
          </a:prstGeom>
          <a:noFill/>
          <a:ln w="11430">
            <a:solidFill>
              <a:srgbClr val="4A5262"/>
            </a:solidFill>
            <a:prstDash val="solid"/>
          </a:ln>
        </p:spPr>
      </p:sp>
      <p:sp>
        <p:nvSpPr>
          <p:cNvPr id="87" name="Shape 85"/>
          <p:cNvSpPr/>
          <p:nvPr/>
        </p:nvSpPr>
        <p:spPr>
          <a:xfrm>
            <a:off x="1957191" y="3638761"/>
            <a:ext cx="40234" cy="40234"/>
          </a:xfrm>
          <a:prstGeom prst="ellipse">
            <a:avLst/>
          </a:prstGeom>
          <a:solidFill>
            <a:srgbClr val="4A5262"/>
          </a:solidFill>
          <a:ln w="3175">
            <a:solidFill>
              <a:srgbClr val="4A5262"/>
            </a:solidFill>
            <a:prstDash val="solid"/>
          </a:ln>
        </p:spPr>
      </p:sp>
      <p:sp>
        <p:nvSpPr>
          <p:cNvPr id="88" name="Text 86"/>
          <p:cNvSpPr/>
          <p:nvPr/>
        </p:nvSpPr>
        <p:spPr>
          <a:xfrm>
            <a:off x="429768" y="3447288"/>
            <a:ext cx="118872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ribosomes</a:t>
            </a:r>
            <a:endParaRPr lang="en-US" sz="1050" dirty="0"/>
          </a:p>
        </p:txBody>
      </p:sp>
      <p:sp>
        <p:nvSpPr>
          <p:cNvPr id="89" name="Shape 87"/>
          <p:cNvSpPr/>
          <p:nvPr/>
        </p:nvSpPr>
        <p:spPr>
          <a:xfrm flipH="1">
            <a:off x="1664208" y="3968496"/>
            <a:ext cx="758952" cy="146304"/>
          </a:xfrm>
          <a:prstGeom prst="line">
            <a:avLst/>
          </a:prstGeom>
          <a:noFill/>
          <a:ln w="11430">
            <a:solidFill>
              <a:srgbClr val="4A5262"/>
            </a:solidFill>
            <a:prstDash val="solid"/>
          </a:ln>
        </p:spPr>
      </p:sp>
      <p:sp>
        <p:nvSpPr>
          <p:cNvPr id="90" name="Shape 88"/>
          <p:cNvSpPr/>
          <p:nvPr/>
        </p:nvSpPr>
        <p:spPr>
          <a:xfrm>
            <a:off x="2403043" y="3948379"/>
            <a:ext cx="40234" cy="40234"/>
          </a:xfrm>
          <a:prstGeom prst="ellipse">
            <a:avLst/>
          </a:prstGeom>
          <a:solidFill>
            <a:srgbClr val="4A5262"/>
          </a:solidFill>
          <a:ln w="3175">
            <a:solidFill>
              <a:srgbClr val="4A5262"/>
            </a:solidFill>
            <a:prstDash val="solid"/>
          </a:ln>
        </p:spPr>
      </p:sp>
      <p:sp>
        <p:nvSpPr>
          <p:cNvPr id="91" name="Text 89"/>
          <p:cNvSpPr/>
          <p:nvPr/>
        </p:nvSpPr>
        <p:spPr>
          <a:xfrm>
            <a:off x="429768" y="3995928"/>
            <a:ext cx="118872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cytoplasm</a:t>
            </a:r>
            <a:endParaRPr lang="en-US" sz="1050" dirty="0"/>
          </a:p>
        </p:txBody>
      </p:sp>
      <p:sp>
        <p:nvSpPr>
          <p:cNvPr id="92" name="Shape 90"/>
          <p:cNvSpPr/>
          <p:nvPr/>
        </p:nvSpPr>
        <p:spPr>
          <a:xfrm>
            <a:off x="4069080" y="1645920"/>
            <a:ext cx="1828800" cy="3429000"/>
          </a:xfrm>
          <a:prstGeom prst="roundRect">
            <a:avLst>
              <a:gd name="adj" fmla="val 5000"/>
            </a:avLst>
          </a:prstGeom>
          <a:solidFill>
            <a:srgbClr val="D9EBC8"/>
          </a:solidFill>
          <a:ln w="50800">
            <a:solidFill>
              <a:srgbClr val="5E9E4A"/>
            </a:solidFill>
            <a:prstDash val="solid"/>
          </a:ln>
        </p:spPr>
      </p:sp>
      <p:sp>
        <p:nvSpPr>
          <p:cNvPr id="93" name="Shape 91"/>
          <p:cNvSpPr/>
          <p:nvPr/>
        </p:nvSpPr>
        <p:spPr>
          <a:xfrm>
            <a:off x="4151376" y="1728216"/>
            <a:ext cx="1664208" cy="3264408"/>
          </a:xfrm>
          <a:prstGeom prst="roundRect">
            <a:avLst>
              <a:gd name="adj" fmla="val 4396"/>
            </a:avLst>
          </a:prstGeom>
          <a:solidFill>
            <a:srgbClr val="FBF3DF"/>
          </a:solidFill>
          <a:ln w="19050">
            <a:solidFill>
              <a:srgbClr val="8A6D3B"/>
            </a:solidFill>
            <a:prstDash val="solid"/>
          </a:ln>
        </p:spPr>
      </p:sp>
      <p:sp>
        <p:nvSpPr>
          <p:cNvPr id="94" name="Shape 92"/>
          <p:cNvSpPr/>
          <p:nvPr/>
        </p:nvSpPr>
        <p:spPr>
          <a:xfrm>
            <a:off x="4434840" y="2194560"/>
            <a:ext cx="1097280" cy="2125980"/>
          </a:xfrm>
          <a:prstGeom prst="roundRect">
            <a:avLst>
              <a:gd name="adj" fmla="val 15000"/>
            </a:avLst>
          </a:prstGeom>
          <a:solidFill>
            <a:srgbClr val="DDEFF7"/>
          </a:solidFill>
          <a:ln w="15875">
            <a:solidFill>
              <a:srgbClr val="7FA9C4"/>
            </a:solidFill>
            <a:prstDash val="solid"/>
          </a:ln>
        </p:spPr>
      </p:sp>
      <p:sp>
        <p:nvSpPr>
          <p:cNvPr id="95" name="Shape 93"/>
          <p:cNvSpPr/>
          <p:nvPr/>
        </p:nvSpPr>
        <p:spPr>
          <a:xfrm>
            <a:off x="5074920" y="4425696"/>
            <a:ext cx="475488" cy="475488"/>
          </a:xfrm>
          <a:prstGeom prst="ellipse">
            <a:avLst/>
          </a:prstGeom>
          <a:solidFill>
            <a:srgbClr val="C9B6E4"/>
          </a:solidFill>
          <a:ln w="19050">
            <a:solidFill>
              <a:srgbClr val="6A4C93"/>
            </a:solidFill>
            <a:prstDash val="solid"/>
          </a:ln>
        </p:spPr>
      </p:sp>
      <p:sp>
        <p:nvSpPr>
          <p:cNvPr id="96" name="Shape 94"/>
          <p:cNvSpPr/>
          <p:nvPr/>
        </p:nvSpPr>
        <p:spPr>
          <a:xfrm>
            <a:off x="5241341" y="4596872"/>
            <a:ext cx="142646" cy="130759"/>
          </a:xfrm>
          <a:prstGeom prst="ellipse">
            <a:avLst/>
          </a:prstGeom>
          <a:solidFill>
            <a:srgbClr val="6A4C93">
              <a:alpha val="60000"/>
            </a:srgbClr>
          </a:solidFill>
          <a:ln/>
        </p:spPr>
      </p:sp>
      <p:sp>
        <p:nvSpPr>
          <p:cNvPr id="97" name="Shape 95"/>
          <p:cNvSpPr/>
          <p:nvPr/>
        </p:nvSpPr>
        <p:spPr>
          <a:xfrm rot="5400000">
            <a:off x="4114800" y="1981962"/>
            <a:ext cx="274320" cy="150876"/>
          </a:xfrm>
          <a:prstGeom prst="ellipse">
            <a:avLst/>
          </a:prstGeom>
          <a:solidFill>
            <a:srgbClr val="7DBE6A"/>
          </a:solidFill>
          <a:ln w="12700">
            <a:solidFill>
              <a:srgbClr val="3E7F2E"/>
            </a:solidFill>
            <a:prstDash val="solid"/>
          </a:ln>
        </p:spPr>
      </p:sp>
      <p:sp>
        <p:nvSpPr>
          <p:cNvPr id="98" name="Shape 96"/>
          <p:cNvSpPr/>
          <p:nvPr/>
        </p:nvSpPr>
        <p:spPr>
          <a:xfrm>
            <a:off x="4221785" y="1997050"/>
            <a:ext cx="60350" cy="91"/>
          </a:xfrm>
          <a:prstGeom prst="line">
            <a:avLst/>
          </a:prstGeom>
          <a:noFill/>
          <a:ln w="19050">
            <a:solidFill>
              <a:srgbClr val="3E7F2E"/>
            </a:solidFill>
            <a:prstDash val="solid"/>
          </a:ln>
        </p:spPr>
      </p:sp>
      <p:sp>
        <p:nvSpPr>
          <p:cNvPr id="99" name="Shape 97"/>
          <p:cNvSpPr/>
          <p:nvPr/>
        </p:nvSpPr>
        <p:spPr>
          <a:xfrm>
            <a:off x="4221785" y="2057400"/>
            <a:ext cx="60350" cy="91"/>
          </a:xfrm>
          <a:prstGeom prst="line">
            <a:avLst/>
          </a:prstGeom>
          <a:noFill/>
          <a:ln w="19050">
            <a:solidFill>
              <a:srgbClr val="3E7F2E"/>
            </a:solidFill>
            <a:prstDash val="solid"/>
          </a:ln>
        </p:spPr>
      </p:sp>
      <p:sp>
        <p:nvSpPr>
          <p:cNvPr id="100" name="Shape 98"/>
          <p:cNvSpPr/>
          <p:nvPr/>
        </p:nvSpPr>
        <p:spPr>
          <a:xfrm>
            <a:off x="4221785" y="2117750"/>
            <a:ext cx="60350" cy="91"/>
          </a:xfrm>
          <a:prstGeom prst="line">
            <a:avLst/>
          </a:prstGeom>
          <a:noFill/>
          <a:ln w="19050">
            <a:solidFill>
              <a:srgbClr val="3E7F2E"/>
            </a:solidFill>
            <a:prstDash val="solid"/>
          </a:ln>
        </p:spPr>
      </p:sp>
      <p:sp>
        <p:nvSpPr>
          <p:cNvPr id="101" name="Shape 99"/>
          <p:cNvSpPr/>
          <p:nvPr/>
        </p:nvSpPr>
        <p:spPr>
          <a:xfrm rot="5400000">
            <a:off x="4114800" y="3010662"/>
            <a:ext cx="274320" cy="150876"/>
          </a:xfrm>
          <a:prstGeom prst="ellipse">
            <a:avLst/>
          </a:prstGeom>
          <a:solidFill>
            <a:srgbClr val="7DBE6A"/>
          </a:solidFill>
          <a:ln w="12700">
            <a:solidFill>
              <a:srgbClr val="3E7F2E"/>
            </a:solidFill>
            <a:prstDash val="solid"/>
          </a:ln>
        </p:spPr>
      </p:sp>
      <p:sp>
        <p:nvSpPr>
          <p:cNvPr id="102" name="Shape 100"/>
          <p:cNvSpPr/>
          <p:nvPr/>
        </p:nvSpPr>
        <p:spPr>
          <a:xfrm>
            <a:off x="4221785" y="3025750"/>
            <a:ext cx="60350" cy="91"/>
          </a:xfrm>
          <a:prstGeom prst="line">
            <a:avLst/>
          </a:prstGeom>
          <a:noFill/>
          <a:ln w="19050">
            <a:solidFill>
              <a:srgbClr val="3E7F2E"/>
            </a:solidFill>
            <a:prstDash val="solid"/>
          </a:ln>
        </p:spPr>
      </p:sp>
      <p:sp>
        <p:nvSpPr>
          <p:cNvPr id="103" name="Shape 101"/>
          <p:cNvSpPr/>
          <p:nvPr/>
        </p:nvSpPr>
        <p:spPr>
          <a:xfrm>
            <a:off x="4221785" y="3086100"/>
            <a:ext cx="60350" cy="91"/>
          </a:xfrm>
          <a:prstGeom prst="line">
            <a:avLst/>
          </a:prstGeom>
          <a:noFill/>
          <a:ln w="19050">
            <a:solidFill>
              <a:srgbClr val="3E7F2E"/>
            </a:solidFill>
            <a:prstDash val="solid"/>
          </a:ln>
        </p:spPr>
      </p:sp>
      <p:sp>
        <p:nvSpPr>
          <p:cNvPr id="104" name="Shape 102"/>
          <p:cNvSpPr/>
          <p:nvPr/>
        </p:nvSpPr>
        <p:spPr>
          <a:xfrm>
            <a:off x="4221785" y="3146450"/>
            <a:ext cx="60350" cy="91"/>
          </a:xfrm>
          <a:prstGeom prst="line">
            <a:avLst/>
          </a:prstGeom>
          <a:noFill/>
          <a:ln w="19050">
            <a:solidFill>
              <a:srgbClr val="3E7F2E"/>
            </a:solidFill>
            <a:prstDash val="solid"/>
          </a:ln>
        </p:spPr>
      </p:sp>
      <p:sp>
        <p:nvSpPr>
          <p:cNvPr id="105" name="Shape 103"/>
          <p:cNvSpPr/>
          <p:nvPr/>
        </p:nvSpPr>
        <p:spPr>
          <a:xfrm rot="5400000">
            <a:off x="4114800" y="4039362"/>
            <a:ext cx="274320" cy="150876"/>
          </a:xfrm>
          <a:prstGeom prst="ellipse">
            <a:avLst/>
          </a:prstGeom>
          <a:solidFill>
            <a:srgbClr val="7DBE6A"/>
          </a:solidFill>
          <a:ln w="12700">
            <a:solidFill>
              <a:srgbClr val="3E7F2E"/>
            </a:solidFill>
            <a:prstDash val="solid"/>
          </a:ln>
        </p:spPr>
      </p:sp>
      <p:sp>
        <p:nvSpPr>
          <p:cNvPr id="106" name="Shape 104"/>
          <p:cNvSpPr/>
          <p:nvPr/>
        </p:nvSpPr>
        <p:spPr>
          <a:xfrm>
            <a:off x="4221785" y="4054450"/>
            <a:ext cx="60350" cy="91"/>
          </a:xfrm>
          <a:prstGeom prst="line">
            <a:avLst/>
          </a:prstGeom>
          <a:noFill/>
          <a:ln w="19050">
            <a:solidFill>
              <a:srgbClr val="3E7F2E"/>
            </a:solidFill>
            <a:prstDash val="solid"/>
          </a:ln>
        </p:spPr>
      </p:sp>
      <p:sp>
        <p:nvSpPr>
          <p:cNvPr id="107" name="Shape 105"/>
          <p:cNvSpPr/>
          <p:nvPr/>
        </p:nvSpPr>
        <p:spPr>
          <a:xfrm>
            <a:off x="4221785" y="4114800"/>
            <a:ext cx="60350" cy="91"/>
          </a:xfrm>
          <a:prstGeom prst="line">
            <a:avLst/>
          </a:prstGeom>
          <a:noFill/>
          <a:ln w="19050">
            <a:solidFill>
              <a:srgbClr val="3E7F2E"/>
            </a:solidFill>
            <a:prstDash val="solid"/>
          </a:ln>
        </p:spPr>
      </p:sp>
      <p:sp>
        <p:nvSpPr>
          <p:cNvPr id="108" name="Shape 106"/>
          <p:cNvSpPr/>
          <p:nvPr/>
        </p:nvSpPr>
        <p:spPr>
          <a:xfrm>
            <a:off x="4221785" y="4175150"/>
            <a:ext cx="60350" cy="91"/>
          </a:xfrm>
          <a:prstGeom prst="line">
            <a:avLst/>
          </a:prstGeom>
          <a:noFill/>
          <a:ln w="19050">
            <a:solidFill>
              <a:srgbClr val="3E7F2E"/>
            </a:solidFill>
            <a:prstDash val="solid"/>
          </a:ln>
        </p:spPr>
      </p:sp>
      <p:sp>
        <p:nvSpPr>
          <p:cNvPr id="109" name="Shape 107"/>
          <p:cNvSpPr/>
          <p:nvPr/>
        </p:nvSpPr>
        <p:spPr>
          <a:xfrm rot="5400000">
            <a:off x="5577840" y="2256282"/>
            <a:ext cx="274320" cy="150876"/>
          </a:xfrm>
          <a:prstGeom prst="ellipse">
            <a:avLst/>
          </a:prstGeom>
          <a:solidFill>
            <a:srgbClr val="7DBE6A"/>
          </a:solidFill>
          <a:ln w="12700">
            <a:solidFill>
              <a:srgbClr val="3E7F2E"/>
            </a:solidFill>
            <a:prstDash val="solid"/>
          </a:ln>
        </p:spPr>
      </p:sp>
      <p:sp>
        <p:nvSpPr>
          <p:cNvPr id="110" name="Shape 108"/>
          <p:cNvSpPr/>
          <p:nvPr/>
        </p:nvSpPr>
        <p:spPr>
          <a:xfrm>
            <a:off x="5684825" y="2271370"/>
            <a:ext cx="60350" cy="91"/>
          </a:xfrm>
          <a:prstGeom prst="line">
            <a:avLst/>
          </a:prstGeom>
          <a:noFill/>
          <a:ln w="19050">
            <a:solidFill>
              <a:srgbClr val="3E7F2E"/>
            </a:solidFill>
            <a:prstDash val="solid"/>
          </a:ln>
        </p:spPr>
      </p:sp>
      <p:sp>
        <p:nvSpPr>
          <p:cNvPr id="111" name="Shape 109"/>
          <p:cNvSpPr/>
          <p:nvPr/>
        </p:nvSpPr>
        <p:spPr>
          <a:xfrm>
            <a:off x="5684825" y="2331720"/>
            <a:ext cx="60350" cy="91"/>
          </a:xfrm>
          <a:prstGeom prst="line">
            <a:avLst/>
          </a:prstGeom>
          <a:noFill/>
          <a:ln w="19050">
            <a:solidFill>
              <a:srgbClr val="3E7F2E"/>
            </a:solidFill>
            <a:prstDash val="solid"/>
          </a:ln>
        </p:spPr>
      </p:sp>
      <p:sp>
        <p:nvSpPr>
          <p:cNvPr id="112" name="Shape 110"/>
          <p:cNvSpPr/>
          <p:nvPr/>
        </p:nvSpPr>
        <p:spPr>
          <a:xfrm>
            <a:off x="5684825" y="2392070"/>
            <a:ext cx="60350" cy="91"/>
          </a:xfrm>
          <a:prstGeom prst="line">
            <a:avLst/>
          </a:prstGeom>
          <a:noFill/>
          <a:ln w="19050">
            <a:solidFill>
              <a:srgbClr val="3E7F2E"/>
            </a:solidFill>
            <a:prstDash val="solid"/>
          </a:ln>
        </p:spPr>
      </p:sp>
      <p:sp>
        <p:nvSpPr>
          <p:cNvPr id="113" name="Shape 111"/>
          <p:cNvSpPr/>
          <p:nvPr/>
        </p:nvSpPr>
        <p:spPr>
          <a:xfrm rot="5400000">
            <a:off x="5577840" y="3284982"/>
            <a:ext cx="274320" cy="150876"/>
          </a:xfrm>
          <a:prstGeom prst="ellipse">
            <a:avLst/>
          </a:prstGeom>
          <a:solidFill>
            <a:srgbClr val="7DBE6A"/>
          </a:solidFill>
          <a:ln w="12700">
            <a:solidFill>
              <a:srgbClr val="3E7F2E"/>
            </a:solidFill>
            <a:prstDash val="solid"/>
          </a:ln>
        </p:spPr>
      </p:sp>
      <p:sp>
        <p:nvSpPr>
          <p:cNvPr id="114" name="Shape 112"/>
          <p:cNvSpPr/>
          <p:nvPr/>
        </p:nvSpPr>
        <p:spPr>
          <a:xfrm>
            <a:off x="5684825" y="3300070"/>
            <a:ext cx="60350" cy="91"/>
          </a:xfrm>
          <a:prstGeom prst="line">
            <a:avLst/>
          </a:prstGeom>
          <a:noFill/>
          <a:ln w="19050">
            <a:solidFill>
              <a:srgbClr val="3E7F2E"/>
            </a:solidFill>
            <a:prstDash val="solid"/>
          </a:ln>
        </p:spPr>
      </p:sp>
      <p:sp>
        <p:nvSpPr>
          <p:cNvPr id="115" name="Shape 113"/>
          <p:cNvSpPr/>
          <p:nvPr/>
        </p:nvSpPr>
        <p:spPr>
          <a:xfrm>
            <a:off x="5684825" y="3360420"/>
            <a:ext cx="60350" cy="91"/>
          </a:xfrm>
          <a:prstGeom prst="line">
            <a:avLst/>
          </a:prstGeom>
          <a:noFill/>
          <a:ln w="19050">
            <a:solidFill>
              <a:srgbClr val="3E7F2E"/>
            </a:solidFill>
            <a:prstDash val="solid"/>
          </a:ln>
        </p:spPr>
      </p:sp>
      <p:sp>
        <p:nvSpPr>
          <p:cNvPr id="116" name="Shape 114"/>
          <p:cNvSpPr/>
          <p:nvPr/>
        </p:nvSpPr>
        <p:spPr>
          <a:xfrm>
            <a:off x="5684825" y="3420770"/>
            <a:ext cx="60350" cy="91"/>
          </a:xfrm>
          <a:prstGeom prst="line">
            <a:avLst/>
          </a:prstGeom>
          <a:noFill/>
          <a:ln w="19050">
            <a:solidFill>
              <a:srgbClr val="3E7F2E"/>
            </a:solidFill>
            <a:prstDash val="solid"/>
          </a:ln>
        </p:spPr>
      </p:sp>
      <p:sp>
        <p:nvSpPr>
          <p:cNvPr id="117" name="Shape 115"/>
          <p:cNvSpPr/>
          <p:nvPr/>
        </p:nvSpPr>
        <p:spPr>
          <a:xfrm>
            <a:off x="4846320" y="1827657"/>
            <a:ext cx="274320" cy="150876"/>
          </a:xfrm>
          <a:prstGeom prst="ellipse">
            <a:avLst/>
          </a:prstGeom>
          <a:solidFill>
            <a:srgbClr val="7DBE6A"/>
          </a:solidFill>
          <a:ln w="12700">
            <a:solidFill>
              <a:srgbClr val="3E7F2E"/>
            </a:solidFill>
            <a:prstDash val="solid"/>
          </a:ln>
        </p:spPr>
      </p:sp>
      <p:sp>
        <p:nvSpPr>
          <p:cNvPr id="118" name="Shape 116"/>
          <p:cNvSpPr/>
          <p:nvPr/>
        </p:nvSpPr>
        <p:spPr>
          <a:xfrm>
            <a:off x="4923130" y="1872920"/>
            <a:ext cx="91" cy="60350"/>
          </a:xfrm>
          <a:prstGeom prst="line">
            <a:avLst/>
          </a:prstGeom>
          <a:noFill/>
          <a:ln w="19050">
            <a:solidFill>
              <a:srgbClr val="3E7F2E"/>
            </a:solidFill>
            <a:prstDash val="solid"/>
          </a:ln>
        </p:spPr>
      </p:sp>
      <p:sp>
        <p:nvSpPr>
          <p:cNvPr id="119" name="Shape 117"/>
          <p:cNvSpPr/>
          <p:nvPr/>
        </p:nvSpPr>
        <p:spPr>
          <a:xfrm>
            <a:off x="4983480" y="1872920"/>
            <a:ext cx="91" cy="60350"/>
          </a:xfrm>
          <a:prstGeom prst="line">
            <a:avLst/>
          </a:prstGeom>
          <a:noFill/>
          <a:ln w="19050">
            <a:solidFill>
              <a:srgbClr val="3E7F2E"/>
            </a:solidFill>
            <a:prstDash val="solid"/>
          </a:ln>
        </p:spPr>
      </p:sp>
      <p:sp>
        <p:nvSpPr>
          <p:cNvPr id="120" name="Shape 118"/>
          <p:cNvSpPr/>
          <p:nvPr/>
        </p:nvSpPr>
        <p:spPr>
          <a:xfrm>
            <a:off x="5043830" y="1872920"/>
            <a:ext cx="91" cy="60350"/>
          </a:xfrm>
          <a:prstGeom prst="line">
            <a:avLst/>
          </a:prstGeom>
          <a:noFill/>
          <a:ln w="19050">
            <a:solidFill>
              <a:srgbClr val="3E7F2E"/>
            </a:solidFill>
            <a:prstDash val="solid"/>
          </a:ln>
        </p:spPr>
      </p:sp>
      <p:sp>
        <p:nvSpPr>
          <p:cNvPr id="121" name="Shape 119"/>
          <p:cNvSpPr/>
          <p:nvPr/>
        </p:nvSpPr>
        <p:spPr>
          <a:xfrm>
            <a:off x="4480560" y="4656582"/>
            <a:ext cx="274320" cy="150876"/>
          </a:xfrm>
          <a:prstGeom prst="ellipse">
            <a:avLst/>
          </a:prstGeom>
          <a:solidFill>
            <a:srgbClr val="7DBE6A"/>
          </a:solidFill>
          <a:ln w="12700">
            <a:solidFill>
              <a:srgbClr val="3E7F2E"/>
            </a:solidFill>
            <a:prstDash val="solid"/>
          </a:ln>
        </p:spPr>
      </p:sp>
      <p:sp>
        <p:nvSpPr>
          <p:cNvPr id="122" name="Shape 120"/>
          <p:cNvSpPr/>
          <p:nvPr/>
        </p:nvSpPr>
        <p:spPr>
          <a:xfrm>
            <a:off x="4557370" y="4701845"/>
            <a:ext cx="91" cy="60350"/>
          </a:xfrm>
          <a:prstGeom prst="line">
            <a:avLst/>
          </a:prstGeom>
          <a:noFill/>
          <a:ln w="19050">
            <a:solidFill>
              <a:srgbClr val="3E7F2E"/>
            </a:solidFill>
            <a:prstDash val="solid"/>
          </a:ln>
        </p:spPr>
      </p:sp>
      <p:sp>
        <p:nvSpPr>
          <p:cNvPr id="123" name="Shape 121"/>
          <p:cNvSpPr/>
          <p:nvPr/>
        </p:nvSpPr>
        <p:spPr>
          <a:xfrm>
            <a:off x="4617720" y="4701845"/>
            <a:ext cx="91" cy="60350"/>
          </a:xfrm>
          <a:prstGeom prst="line">
            <a:avLst/>
          </a:prstGeom>
          <a:noFill/>
          <a:ln w="19050">
            <a:solidFill>
              <a:srgbClr val="3E7F2E"/>
            </a:solidFill>
            <a:prstDash val="solid"/>
          </a:ln>
        </p:spPr>
      </p:sp>
      <p:sp>
        <p:nvSpPr>
          <p:cNvPr id="124" name="Shape 122"/>
          <p:cNvSpPr/>
          <p:nvPr/>
        </p:nvSpPr>
        <p:spPr>
          <a:xfrm>
            <a:off x="4678070" y="4701845"/>
            <a:ext cx="91" cy="60350"/>
          </a:xfrm>
          <a:prstGeom prst="line">
            <a:avLst/>
          </a:prstGeom>
          <a:noFill/>
          <a:ln w="19050">
            <a:solidFill>
              <a:srgbClr val="3E7F2E"/>
            </a:solidFill>
            <a:prstDash val="solid"/>
          </a:ln>
        </p:spPr>
      </p:sp>
      <p:sp>
        <p:nvSpPr>
          <p:cNvPr id="125" name="Shape 123"/>
          <p:cNvSpPr/>
          <p:nvPr/>
        </p:nvSpPr>
        <p:spPr>
          <a:xfrm rot="4800000">
            <a:off x="5568696" y="4250314"/>
            <a:ext cx="292608" cy="140452"/>
          </a:xfrm>
          <a:prstGeom prst="ellipse">
            <a:avLst/>
          </a:prstGeom>
          <a:solidFill>
            <a:srgbClr val="F2B279"/>
          </a:solidFill>
          <a:ln w="15875">
            <a:solidFill>
              <a:srgbClr val="A4561C"/>
            </a:solidFill>
            <a:prstDash val="solid"/>
          </a:ln>
        </p:spPr>
      </p:sp>
      <p:sp>
        <p:nvSpPr>
          <p:cNvPr id="126" name="Shape 124"/>
          <p:cNvSpPr/>
          <p:nvPr/>
        </p:nvSpPr>
        <p:spPr>
          <a:xfrm flipH="1">
            <a:off x="5673053" y="4217199"/>
            <a:ext cx="55101" cy="43390"/>
          </a:xfrm>
          <a:prstGeom prst="line">
            <a:avLst/>
          </a:prstGeom>
          <a:noFill/>
          <a:ln w="9525">
            <a:solidFill>
              <a:srgbClr val="A4561C"/>
            </a:solidFill>
            <a:prstDash val="solid"/>
          </a:ln>
        </p:spPr>
      </p:sp>
      <p:sp>
        <p:nvSpPr>
          <p:cNvPr id="127" name="Shape 125"/>
          <p:cNvSpPr/>
          <p:nvPr/>
        </p:nvSpPr>
        <p:spPr>
          <a:xfrm>
            <a:off x="5673053" y="4260589"/>
            <a:ext cx="66619" cy="21927"/>
          </a:xfrm>
          <a:prstGeom prst="line">
            <a:avLst/>
          </a:prstGeom>
          <a:noFill/>
          <a:ln w="9525">
            <a:solidFill>
              <a:srgbClr val="A4561C"/>
            </a:solidFill>
            <a:prstDash val="solid"/>
          </a:ln>
        </p:spPr>
      </p:sp>
      <p:sp>
        <p:nvSpPr>
          <p:cNvPr id="128" name="Shape 126"/>
          <p:cNvSpPr/>
          <p:nvPr/>
        </p:nvSpPr>
        <p:spPr>
          <a:xfrm flipH="1">
            <a:off x="5684570" y="4282516"/>
            <a:ext cx="55101" cy="43390"/>
          </a:xfrm>
          <a:prstGeom prst="line">
            <a:avLst/>
          </a:prstGeom>
          <a:noFill/>
          <a:ln w="9525">
            <a:solidFill>
              <a:srgbClr val="A4561C"/>
            </a:solidFill>
            <a:prstDash val="solid"/>
          </a:ln>
        </p:spPr>
      </p:sp>
      <p:sp>
        <p:nvSpPr>
          <p:cNvPr id="129" name="Shape 127"/>
          <p:cNvSpPr/>
          <p:nvPr/>
        </p:nvSpPr>
        <p:spPr>
          <a:xfrm>
            <a:off x="5684570" y="4325906"/>
            <a:ext cx="66619" cy="21927"/>
          </a:xfrm>
          <a:prstGeom prst="line">
            <a:avLst/>
          </a:prstGeom>
          <a:noFill/>
          <a:ln w="9525">
            <a:solidFill>
              <a:srgbClr val="A4561C"/>
            </a:solidFill>
            <a:prstDash val="solid"/>
          </a:ln>
        </p:spPr>
      </p:sp>
      <p:sp>
        <p:nvSpPr>
          <p:cNvPr id="130" name="Shape 128"/>
          <p:cNvSpPr/>
          <p:nvPr/>
        </p:nvSpPr>
        <p:spPr>
          <a:xfrm flipH="1">
            <a:off x="5696087" y="4347833"/>
            <a:ext cx="55101" cy="43390"/>
          </a:xfrm>
          <a:prstGeom prst="line">
            <a:avLst/>
          </a:prstGeom>
          <a:noFill/>
          <a:ln w="9525">
            <a:solidFill>
              <a:srgbClr val="A4561C"/>
            </a:solidFill>
            <a:prstDash val="solid"/>
          </a:ln>
        </p:spPr>
      </p:sp>
      <p:sp>
        <p:nvSpPr>
          <p:cNvPr id="131" name="Shape 129"/>
          <p:cNvSpPr/>
          <p:nvPr/>
        </p:nvSpPr>
        <p:spPr>
          <a:xfrm>
            <a:off x="5696087" y="4391222"/>
            <a:ext cx="66619" cy="21927"/>
          </a:xfrm>
          <a:prstGeom prst="line">
            <a:avLst/>
          </a:prstGeom>
          <a:noFill/>
          <a:ln w="9525">
            <a:solidFill>
              <a:srgbClr val="A4561C"/>
            </a:solidFill>
            <a:prstDash val="solid"/>
          </a:ln>
        </p:spPr>
      </p:sp>
      <p:sp>
        <p:nvSpPr>
          <p:cNvPr id="132" name="Shape 130"/>
          <p:cNvSpPr/>
          <p:nvPr/>
        </p:nvSpPr>
        <p:spPr>
          <a:xfrm>
            <a:off x="4105656" y="4764664"/>
            <a:ext cx="292608" cy="140452"/>
          </a:xfrm>
          <a:prstGeom prst="ellipse">
            <a:avLst/>
          </a:prstGeom>
          <a:solidFill>
            <a:srgbClr val="F2B279"/>
          </a:solidFill>
          <a:ln w="15875">
            <a:solidFill>
              <a:srgbClr val="A4561C"/>
            </a:solidFill>
            <a:prstDash val="solid"/>
          </a:ln>
        </p:spPr>
      </p:sp>
      <p:sp>
        <p:nvSpPr>
          <p:cNvPr id="133" name="Shape 131"/>
          <p:cNvSpPr/>
          <p:nvPr/>
        </p:nvSpPr>
        <p:spPr>
          <a:xfrm>
            <a:off x="4152473" y="4803991"/>
            <a:ext cx="33162" cy="61799"/>
          </a:xfrm>
          <a:prstGeom prst="line">
            <a:avLst/>
          </a:prstGeom>
          <a:noFill/>
          <a:ln w="9525">
            <a:solidFill>
              <a:srgbClr val="A4561C"/>
            </a:solidFill>
            <a:prstDash val="solid"/>
          </a:ln>
        </p:spPr>
      </p:sp>
      <p:sp>
        <p:nvSpPr>
          <p:cNvPr id="134" name="Shape 132"/>
          <p:cNvSpPr/>
          <p:nvPr/>
        </p:nvSpPr>
        <p:spPr>
          <a:xfrm flipV="1">
            <a:off x="4185636" y="4803991"/>
            <a:ext cx="33162" cy="61799"/>
          </a:xfrm>
          <a:prstGeom prst="line">
            <a:avLst/>
          </a:prstGeom>
          <a:noFill/>
          <a:ln w="9525">
            <a:solidFill>
              <a:srgbClr val="A4561C"/>
            </a:solidFill>
            <a:prstDash val="solid"/>
          </a:ln>
        </p:spPr>
      </p:sp>
      <p:sp>
        <p:nvSpPr>
          <p:cNvPr id="135" name="Shape 133"/>
          <p:cNvSpPr/>
          <p:nvPr/>
        </p:nvSpPr>
        <p:spPr>
          <a:xfrm>
            <a:off x="4218798" y="4803991"/>
            <a:ext cx="33162" cy="61799"/>
          </a:xfrm>
          <a:prstGeom prst="line">
            <a:avLst/>
          </a:prstGeom>
          <a:noFill/>
          <a:ln w="9525">
            <a:solidFill>
              <a:srgbClr val="A4561C"/>
            </a:solidFill>
            <a:prstDash val="solid"/>
          </a:ln>
        </p:spPr>
      </p:sp>
      <p:sp>
        <p:nvSpPr>
          <p:cNvPr id="136" name="Shape 134"/>
          <p:cNvSpPr/>
          <p:nvPr/>
        </p:nvSpPr>
        <p:spPr>
          <a:xfrm flipV="1">
            <a:off x="4251960" y="4803991"/>
            <a:ext cx="33162" cy="61799"/>
          </a:xfrm>
          <a:prstGeom prst="line">
            <a:avLst/>
          </a:prstGeom>
          <a:noFill/>
          <a:ln w="9525">
            <a:solidFill>
              <a:srgbClr val="A4561C"/>
            </a:solidFill>
            <a:prstDash val="solid"/>
          </a:ln>
        </p:spPr>
      </p:sp>
      <p:sp>
        <p:nvSpPr>
          <p:cNvPr id="137" name="Shape 135"/>
          <p:cNvSpPr/>
          <p:nvPr/>
        </p:nvSpPr>
        <p:spPr>
          <a:xfrm>
            <a:off x="4285122" y="4803991"/>
            <a:ext cx="33162" cy="61799"/>
          </a:xfrm>
          <a:prstGeom prst="line">
            <a:avLst/>
          </a:prstGeom>
          <a:noFill/>
          <a:ln w="9525">
            <a:solidFill>
              <a:srgbClr val="A4561C"/>
            </a:solidFill>
            <a:prstDash val="solid"/>
          </a:ln>
        </p:spPr>
      </p:sp>
      <p:sp>
        <p:nvSpPr>
          <p:cNvPr id="138" name="Shape 136"/>
          <p:cNvSpPr/>
          <p:nvPr/>
        </p:nvSpPr>
        <p:spPr>
          <a:xfrm flipV="1">
            <a:off x="4318284" y="4803991"/>
            <a:ext cx="33162" cy="61799"/>
          </a:xfrm>
          <a:prstGeom prst="line">
            <a:avLst/>
          </a:prstGeom>
          <a:noFill/>
          <a:ln w="9525">
            <a:solidFill>
              <a:srgbClr val="A4561C"/>
            </a:solidFill>
            <a:prstDash val="solid"/>
          </a:ln>
        </p:spPr>
      </p:sp>
      <p:sp>
        <p:nvSpPr>
          <p:cNvPr id="139" name="Shape 137"/>
          <p:cNvSpPr/>
          <p:nvPr/>
        </p:nvSpPr>
        <p:spPr>
          <a:xfrm>
            <a:off x="4396162" y="4518807"/>
            <a:ext cx="51206" cy="51206"/>
          </a:xfrm>
          <a:prstGeom prst="ellipse">
            <a:avLst/>
          </a:prstGeom>
          <a:solidFill>
            <a:srgbClr val="3F2A5C"/>
          </a:solidFill>
          <a:ln w="3175">
            <a:solidFill>
              <a:srgbClr val="3F2A5C"/>
            </a:solidFill>
            <a:prstDash val="solid"/>
          </a:ln>
        </p:spPr>
      </p:sp>
      <p:sp>
        <p:nvSpPr>
          <p:cNvPr id="140" name="Shape 138"/>
          <p:cNvSpPr/>
          <p:nvPr/>
        </p:nvSpPr>
        <p:spPr>
          <a:xfrm>
            <a:off x="4197819" y="2784969"/>
            <a:ext cx="51206" cy="51206"/>
          </a:xfrm>
          <a:prstGeom prst="ellipse">
            <a:avLst/>
          </a:prstGeom>
          <a:solidFill>
            <a:srgbClr val="3F2A5C"/>
          </a:solidFill>
          <a:ln w="3175">
            <a:solidFill>
              <a:srgbClr val="3F2A5C"/>
            </a:solidFill>
            <a:prstDash val="solid"/>
          </a:ln>
        </p:spPr>
      </p:sp>
      <p:sp>
        <p:nvSpPr>
          <p:cNvPr id="141" name="Shape 139"/>
          <p:cNvSpPr/>
          <p:nvPr/>
        </p:nvSpPr>
        <p:spPr>
          <a:xfrm>
            <a:off x="5728979" y="3936568"/>
            <a:ext cx="51206" cy="51206"/>
          </a:xfrm>
          <a:prstGeom prst="ellipse">
            <a:avLst/>
          </a:prstGeom>
          <a:solidFill>
            <a:srgbClr val="3F2A5C"/>
          </a:solidFill>
          <a:ln w="3175">
            <a:solidFill>
              <a:srgbClr val="3F2A5C"/>
            </a:solidFill>
            <a:prstDash val="solid"/>
          </a:ln>
        </p:spPr>
      </p:sp>
      <p:sp>
        <p:nvSpPr>
          <p:cNvPr id="142" name="Shape 140"/>
          <p:cNvSpPr/>
          <p:nvPr/>
        </p:nvSpPr>
        <p:spPr>
          <a:xfrm>
            <a:off x="4181787" y="1779012"/>
            <a:ext cx="51206" cy="51206"/>
          </a:xfrm>
          <a:prstGeom prst="ellipse">
            <a:avLst/>
          </a:prstGeom>
          <a:solidFill>
            <a:srgbClr val="3F2A5C"/>
          </a:solidFill>
          <a:ln w="3175">
            <a:solidFill>
              <a:srgbClr val="3F2A5C"/>
            </a:solidFill>
            <a:prstDash val="solid"/>
          </a:ln>
        </p:spPr>
      </p:sp>
      <p:sp>
        <p:nvSpPr>
          <p:cNvPr id="143" name="Shape 141"/>
          <p:cNvSpPr/>
          <p:nvPr/>
        </p:nvSpPr>
        <p:spPr>
          <a:xfrm>
            <a:off x="5426761" y="2115723"/>
            <a:ext cx="51206" cy="51206"/>
          </a:xfrm>
          <a:prstGeom prst="ellipse">
            <a:avLst/>
          </a:prstGeom>
          <a:solidFill>
            <a:srgbClr val="3F2A5C"/>
          </a:solidFill>
          <a:ln w="3175">
            <a:solidFill>
              <a:srgbClr val="3F2A5C"/>
            </a:solidFill>
            <a:prstDash val="solid"/>
          </a:ln>
        </p:spPr>
      </p:sp>
      <p:sp>
        <p:nvSpPr>
          <p:cNvPr id="144" name="Shape 142"/>
          <p:cNvSpPr/>
          <p:nvPr/>
        </p:nvSpPr>
        <p:spPr>
          <a:xfrm>
            <a:off x="4234461" y="4601192"/>
            <a:ext cx="51206" cy="51206"/>
          </a:xfrm>
          <a:prstGeom prst="ellipse">
            <a:avLst/>
          </a:prstGeom>
          <a:solidFill>
            <a:srgbClr val="3F2A5C"/>
          </a:solidFill>
          <a:ln w="3175">
            <a:solidFill>
              <a:srgbClr val="3F2A5C"/>
            </a:solidFill>
            <a:prstDash val="solid"/>
          </a:ln>
        </p:spPr>
      </p:sp>
      <p:sp>
        <p:nvSpPr>
          <p:cNvPr id="145" name="Shape 143"/>
          <p:cNvSpPr/>
          <p:nvPr/>
        </p:nvSpPr>
        <p:spPr>
          <a:xfrm>
            <a:off x="4806975" y="4684249"/>
            <a:ext cx="51206" cy="51206"/>
          </a:xfrm>
          <a:prstGeom prst="ellipse">
            <a:avLst/>
          </a:prstGeom>
          <a:solidFill>
            <a:srgbClr val="3F2A5C"/>
          </a:solidFill>
          <a:ln w="3175">
            <a:solidFill>
              <a:srgbClr val="3F2A5C"/>
            </a:solidFill>
            <a:prstDash val="solid"/>
          </a:ln>
        </p:spPr>
      </p:sp>
      <p:sp>
        <p:nvSpPr>
          <p:cNvPr id="146" name="Shape 144"/>
          <p:cNvSpPr/>
          <p:nvPr/>
        </p:nvSpPr>
        <p:spPr>
          <a:xfrm>
            <a:off x="5573881" y="2627421"/>
            <a:ext cx="51206" cy="51206"/>
          </a:xfrm>
          <a:prstGeom prst="ellipse">
            <a:avLst/>
          </a:prstGeom>
          <a:solidFill>
            <a:srgbClr val="3F2A5C"/>
          </a:solidFill>
          <a:ln w="3175">
            <a:solidFill>
              <a:srgbClr val="3F2A5C"/>
            </a:solidFill>
            <a:prstDash val="solid"/>
          </a:ln>
        </p:spPr>
      </p:sp>
      <p:sp>
        <p:nvSpPr>
          <p:cNvPr id="147" name="Shape 145"/>
          <p:cNvSpPr/>
          <p:nvPr/>
        </p:nvSpPr>
        <p:spPr>
          <a:xfrm>
            <a:off x="5189165" y="2077416"/>
            <a:ext cx="51206" cy="51206"/>
          </a:xfrm>
          <a:prstGeom prst="ellipse">
            <a:avLst/>
          </a:prstGeom>
          <a:solidFill>
            <a:srgbClr val="3F2A5C"/>
          </a:solidFill>
          <a:ln w="3175">
            <a:solidFill>
              <a:srgbClr val="3F2A5C"/>
            </a:solidFill>
            <a:prstDash val="solid"/>
          </a:ln>
        </p:spPr>
      </p:sp>
      <p:sp>
        <p:nvSpPr>
          <p:cNvPr id="148" name="Shape 146"/>
          <p:cNvSpPr/>
          <p:nvPr/>
        </p:nvSpPr>
        <p:spPr>
          <a:xfrm>
            <a:off x="4344595" y="4336186"/>
            <a:ext cx="51206" cy="51206"/>
          </a:xfrm>
          <a:prstGeom prst="ellipse">
            <a:avLst/>
          </a:prstGeom>
          <a:solidFill>
            <a:srgbClr val="3F2A5C"/>
          </a:solidFill>
          <a:ln w="3175">
            <a:solidFill>
              <a:srgbClr val="3F2A5C"/>
            </a:solidFill>
            <a:prstDash val="solid"/>
          </a:ln>
        </p:spPr>
      </p:sp>
      <p:sp>
        <p:nvSpPr>
          <p:cNvPr id="149" name="Shape 147"/>
          <p:cNvSpPr/>
          <p:nvPr/>
        </p:nvSpPr>
        <p:spPr>
          <a:xfrm>
            <a:off x="5248205" y="1802232"/>
            <a:ext cx="51206" cy="51206"/>
          </a:xfrm>
          <a:prstGeom prst="ellipse">
            <a:avLst/>
          </a:prstGeom>
          <a:solidFill>
            <a:srgbClr val="3F2A5C"/>
          </a:solidFill>
          <a:ln w="3175">
            <a:solidFill>
              <a:srgbClr val="3F2A5C"/>
            </a:solidFill>
            <a:prstDash val="solid"/>
          </a:ln>
        </p:spPr>
      </p:sp>
      <p:sp>
        <p:nvSpPr>
          <p:cNvPr id="150" name="Shape 148"/>
          <p:cNvSpPr/>
          <p:nvPr/>
        </p:nvSpPr>
        <p:spPr>
          <a:xfrm>
            <a:off x="5067327" y="2122778"/>
            <a:ext cx="51206" cy="51206"/>
          </a:xfrm>
          <a:prstGeom prst="ellipse">
            <a:avLst/>
          </a:prstGeom>
          <a:solidFill>
            <a:srgbClr val="3F2A5C"/>
          </a:solidFill>
          <a:ln w="3175">
            <a:solidFill>
              <a:srgbClr val="3F2A5C"/>
            </a:solidFill>
            <a:prstDash val="solid"/>
          </a:ln>
        </p:spPr>
      </p:sp>
      <p:sp>
        <p:nvSpPr>
          <p:cNvPr id="151" name="Shape 149"/>
          <p:cNvSpPr/>
          <p:nvPr/>
        </p:nvSpPr>
        <p:spPr>
          <a:xfrm>
            <a:off x="4821859" y="4863844"/>
            <a:ext cx="51206" cy="51206"/>
          </a:xfrm>
          <a:prstGeom prst="ellipse">
            <a:avLst/>
          </a:prstGeom>
          <a:solidFill>
            <a:srgbClr val="3F2A5C"/>
          </a:solidFill>
          <a:ln w="3175">
            <a:solidFill>
              <a:srgbClr val="3F2A5C"/>
            </a:solidFill>
            <a:prstDash val="solid"/>
          </a:ln>
        </p:spPr>
      </p:sp>
      <p:sp>
        <p:nvSpPr>
          <p:cNvPr id="152" name="Shape 150"/>
          <p:cNvSpPr/>
          <p:nvPr/>
        </p:nvSpPr>
        <p:spPr>
          <a:xfrm>
            <a:off x="4745124" y="4818906"/>
            <a:ext cx="51206" cy="51206"/>
          </a:xfrm>
          <a:prstGeom prst="ellipse">
            <a:avLst/>
          </a:prstGeom>
          <a:solidFill>
            <a:srgbClr val="3F2A5C"/>
          </a:solidFill>
          <a:ln w="3175">
            <a:solidFill>
              <a:srgbClr val="3F2A5C"/>
            </a:solidFill>
            <a:prstDash val="solid"/>
          </a:ln>
        </p:spPr>
      </p:sp>
      <p:sp>
        <p:nvSpPr>
          <p:cNvPr id="153" name="Shape 151"/>
          <p:cNvSpPr/>
          <p:nvPr/>
        </p:nvSpPr>
        <p:spPr>
          <a:xfrm>
            <a:off x="4317799" y="3232895"/>
            <a:ext cx="51206" cy="51206"/>
          </a:xfrm>
          <a:prstGeom prst="ellipse">
            <a:avLst/>
          </a:prstGeom>
          <a:solidFill>
            <a:srgbClr val="3F2A5C"/>
          </a:solidFill>
          <a:ln w="3175">
            <a:solidFill>
              <a:srgbClr val="3F2A5C"/>
            </a:solidFill>
            <a:prstDash val="solid"/>
          </a:ln>
        </p:spPr>
      </p:sp>
      <p:sp>
        <p:nvSpPr>
          <p:cNvPr id="154" name="Shape 152"/>
          <p:cNvSpPr/>
          <p:nvPr/>
        </p:nvSpPr>
        <p:spPr>
          <a:xfrm>
            <a:off x="5504052" y="1978338"/>
            <a:ext cx="51206" cy="51206"/>
          </a:xfrm>
          <a:prstGeom prst="ellipse">
            <a:avLst/>
          </a:prstGeom>
          <a:solidFill>
            <a:srgbClr val="3F2A5C"/>
          </a:solidFill>
          <a:ln w="3175">
            <a:solidFill>
              <a:srgbClr val="3F2A5C"/>
            </a:solidFill>
            <a:prstDash val="solid"/>
          </a:ln>
        </p:spPr>
      </p:sp>
      <p:sp>
        <p:nvSpPr>
          <p:cNvPr id="155" name="Shape 153"/>
          <p:cNvSpPr/>
          <p:nvPr/>
        </p:nvSpPr>
        <p:spPr>
          <a:xfrm>
            <a:off x="4285084" y="4479926"/>
            <a:ext cx="51206" cy="51206"/>
          </a:xfrm>
          <a:prstGeom prst="ellipse">
            <a:avLst/>
          </a:prstGeom>
          <a:solidFill>
            <a:srgbClr val="3F2A5C"/>
          </a:solidFill>
          <a:ln w="3175">
            <a:solidFill>
              <a:srgbClr val="3F2A5C"/>
            </a:solidFill>
            <a:prstDash val="solid"/>
          </a:ln>
        </p:spPr>
      </p:sp>
      <p:sp>
        <p:nvSpPr>
          <p:cNvPr id="156" name="Shape 154"/>
          <p:cNvSpPr/>
          <p:nvPr/>
        </p:nvSpPr>
        <p:spPr>
          <a:xfrm>
            <a:off x="5631723" y="2993028"/>
            <a:ext cx="51206" cy="51206"/>
          </a:xfrm>
          <a:prstGeom prst="ellipse">
            <a:avLst/>
          </a:prstGeom>
          <a:solidFill>
            <a:srgbClr val="3F2A5C"/>
          </a:solidFill>
          <a:ln w="3175">
            <a:solidFill>
              <a:srgbClr val="3F2A5C"/>
            </a:solidFill>
            <a:prstDash val="solid"/>
          </a:ln>
        </p:spPr>
      </p:sp>
      <p:sp>
        <p:nvSpPr>
          <p:cNvPr id="157" name="Shape 155"/>
          <p:cNvSpPr/>
          <p:nvPr/>
        </p:nvSpPr>
        <p:spPr>
          <a:xfrm>
            <a:off x="4277923" y="2832835"/>
            <a:ext cx="51206" cy="51206"/>
          </a:xfrm>
          <a:prstGeom prst="ellipse">
            <a:avLst/>
          </a:prstGeom>
          <a:solidFill>
            <a:srgbClr val="3F2A5C"/>
          </a:solidFill>
          <a:ln w="3175">
            <a:solidFill>
              <a:srgbClr val="3F2A5C"/>
            </a:solidFill>
            <a:prstDash val="solid"/>
          </a:ln>
        </p:spPr>
      </p:sp>
      <p:sp>
        <p:nvSpPr>
          <p:cNvPr id="158" name="Shape 156"/>
          <p:cNvSpPr/>
          <p:nvPr/>
        </p:nvSpPr>
        <p:spPr>
          <a:xfrm>
            <a:off x="4362782" y="2270147"/>
            <a:ext cx="51206" cy="51206"/>
          </a:xfrm>
          <a:prstGeom prst="ellipse">
            <a:avLst/>
          </a:prstGeom>
          <a:solidFill>
            <a:srgbClr val="3F2A5C"/>
          </a:solidFill>
          <a:ln w="3175">
            <a:solidFill>
              <a:srgbClr val="3F2A5C"/>
            </a:solidFill>
            <a:prstDash val="solid"/>
          </a:ln>
        </p:spPr>
      </p:sp>
      <p:sp>
        <p:nvSpPr>
          <p:cNvPr id="159" name="Shape 157"/>
          <p:cNvSpPr/>
          <p:nvPr/>
        </p:nvSpPr>
        <p:spPr>
          <a:xfrm>
            <a:off x="5638487" y="3877247"/>
            <a:ext cx="51206" cy="51206"/>
          </a:xfrm>
          <a:prstGeom prst="ellipse">
            <a:avLst/>
          </a:prstGeom>
          <a:solidFill>
            <a:srgbClr val="3F2A5C"/>
          </a:solidFill>
          <a:ln w="3175">
            <a:solidFill>
              <a:srgbClr val="3F2A5C"/>
            </a:solidFill>
            <a:prstDash val="solid"/>
          </a:ln>
        </p:spPr>
      </p:sp>
      <p:sp>
        <p:nvSpPr>
          <p:cNvPr id="160" name="Shape 158"/>
          <p:cNvSpPr/>
          <p:nvPr/>
        </p:nvSpPr>
        <p:spPr>
          <a:xfrm>
            <a:off x="5725568" y="2519112"/>
            <a:ext cx="51206" cy="51206"/>
          </a:xfrm>
          <a:prstGeom prst="ellipse">
            <a:avLst/>
          </a:prstGeom>
          <a:solidFill>
            <a:srgbClr val="3F2A5C"/>
          </a:solidFill>
          <a:ln w="3175">
            <a:solidFill>
              <a:srgbClr val="3F2A5C"/>
            </a:solidFill>
            <a:prstDash val="solid"/>
          </a:ln>
        </p:spPr>
      </p:sp>
      <p:sp>
        <p:nvSpPr>
          <p:cNvPr id="161" name="Shape 159"/>
          <p:cNvSpPr/>
          <p:nvPr/>
        </p:nvSpPr>
        <p:spPr>
          <a:xfrm>
            <a:off x="4288867" y="2676395"/>
            <a:ext cx="51206" cy="51206"/>
          </a:xfrm>
          <a:prstGeom prst="ellipse">
            <a:avLst/>
          </a:prstGeom>
          <a:solidFill>
            <a:srgbClr val="3F2A5C"/>
          </a:solidFill>
          <a:ln w="3175">
            <a:solidFill>
              <a:srgbClr val="3F2A5C"/>
            </a:solidFill>
            <a:prstDash val="solid"/>
          </a:ln>
        </p:spPr>
      </p:sp>
      <p:sp>
        <p:nvSpPr>
          <p:cNvPr id="162" name="Shape 160"/>
          <p:cNvSpPr/>
          <p:nvPr/>
        </p:nvSpPr>
        <p:spPr>
          <a:xfrm>
            <a:off x="5560197" y="1896806"/>
            <a:ext cx="51206" cy="51206"/>
          </a:xfrm>
          <a:prstGeom prst="ellipse">
            <a:avLst/>
          </a:prstGeom>
          <a:solidFill>
            <a:srgbClr val="3F2A5C"/>
          </a:solidFill>
          <a:ln w="3175">
            <a:solidFill>
              <a:srgbClr val="3F2A5C"/>
            </a:solidFill>
            <a:prstDash val="solid"/>
          </a:ln>
        </p:spPr>
      </p:sp>
      <p:sp>
        <p:nvSpPr>
          <p:cNvPr id="163" name="Shape 161"/>
          <p:cNvSpPr/>
          <p:nvPr/>
        </p:nvSpPr>
        <p:spPr>
          <a:xfrm>
            <a:off x="4883330" y="4537644"/>
            <a:ext cx="51206" cy="51206"/>
          </a:xfrm>
          <a:prstGeom prst="ellipse">
            <a:avLst/>
          </a:prstGeom>
          <a:solidFill>
            <a:srgbClr val="3F2A5C"/>
          </a:solidFill>
          <a:ln w="3175">
            <a:solidFill>
              <a:srgbClr val="3F2A5C"/>
            </a:solidFill>
            <a:prstDash val="solid"/>
          </a:ln>
        </p:spPr>
      </p:sp>
      <p:sp>
        <p:nvSpPr>
          <p:cNvPr id="164" name="Shape 162"/>
          <p:cNvSpPr/>
          <p:nvPr/>
        </p:nvSpPr>
        <p:spPr>
          <a:xfrm>
            <a:off x="5626734" y="2012254"/>
            <a:ext cx="51206" cy="51206"/>
          </a:xfrm>
          <a:prstGeom prst="ellipse">
            <a:avLst/>
          </a:prstGeom>
          <a:solidFill>
            <a:srgbClr val="3F2A5C"/>
          </a:solidFill>
          <a:ln w="3175">
            <a:solidFill>
              <a:srgbClr val="3F2A5C"/>
            </a:solidFill>
            <a:prstDash val="solid"/>
          </a:ln>
        </p:spPr>
      </p:sp>
      <p:sp>
        <p:nvSpPr>
          <p:cNvPr id="165" name="Shape 163"/>
          <p:cNvSpPr/>
          <p:nvPr/>
        </p:nvSpPr>
        <p:spPr>
          <a:xfrm flipV="1">
            <a:off x="5897880" y="1828800"/>
            <a:ext cx="137160" cy="22860"/>
          </a:xfrm>
          <a:prstGeom prst="line">
            <a:avLst/>
          </a:prstGeom>
          <a:noFill/>
          <a:ln w="11430">
            <a:solidFill>
              <a:srgbClr val="4A5262"/>
            </a:solidFill>
            <a:prstDash val="solid"/>
          </a:ln>
        </p:spPr>
      </p:sp>
      <p:sp>
        <p:nvSpPr>
          <p:cNvPr id="166" name="Shape 164"/>
          <p:cNvSpPr/>
          <p:nvPr/>
        </p:nvSpPr>
        <p:spPr>
          <a:xfrm>
            <a:off x="5877763" y="1831543"/>
            <a:ext cx="40234" cy="40234"/>
          </a:xfrm>
          <a:prstGeom prst="ellipse">
            <a:avLst/>
          </a:prstGeom>
          <a:solidFill>
            <a:srgbClr val="4A5262"/>
          </a:solidFill>
          <a:ln w="3175">
            <a:solidFill>
              <a:srgbClr val="4A5262"/>
            </a:solidFill>
            <a:prstDash val="solid"/>
          </a:ln>
        </p:spPr>
      </p:sp>
      <p:sp>
        <p:nvSpPr>
          <p:cNvPr id="167" name="Text 165"/>
          <p:cNvSpPr/>
          <p:nvPr/>
        </p:nvSpPr>
        <p:spPr>
          <a:xfrm>
            <a:off x="6080760" y="1709928"/>
            <a:ext cx="137160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cell wall</a:t>
            </a:r>
            <a:endParaRPr lang="en-US" sz="1050" dirty="0"/>
          </a:p>
        </p:txBody>
      </p:sp>
      <p:sp>
        <p:nvSpPr>
          <p:cNvPr id="168" name="Shape 166"/>
          <p:cNvSpPr/>
          <p:nvPr/>
        </p:nvSpPr>
        <p:spPr>
          <a:xfrm flipV="1">
            <a:off x="5715000" y="2240280"/>
            <a:ext cx="320040" cy="1120140"/>
          </a:xfrm>
          <a:prstGeom prst="line">
            <a:avLst/>
          </a:prstGeom>
          <a:noFill/>
          <a:ln w="11430">
            <a:solidFill>
              <a:srgbClr val="4A5262"/>
            </a:solidFill>
            <a:prstDash val="solid"/>
          </a:ln>
        </p:spPr>
      </p:sp>
      <p:sp>
        <p:nvSpPr>
          <p:cNvPr id="169" name="Shape 167"/>
          <p:cNvSpPr/>
          <p:nvPr/>
        </p:nvSpPr>
        <p:spPr>
          <a:xfrm>
            <a:off x="5694883" y="3340303"/>
            <a:ext cx="40234" cy="40234"/>
          </a:xfrm>
          <a:prstGeom prst="ellipse">
            <a:avLst/>
          </a:prstGeom>
          <a:solidFill>
            <a:srgbClr val="4A5262"/>
          </a:solidFill>
          <a:ln w="3175">
            <a:solidFill>
              <a:srgbClr val="4A5262"/>
            </a:solidFill>
            <a:prstDash val="solid"/>
          </a:ln>
        </p:spPr>
      </p:sp>
      <p:sp>
        <p:nvSpPr>
          <p:cNvPr id="170" name="Text 168"/>
          <p:cNvSpPr/>
          <p:nvPr/>
        </p:nvSpPr>
        <p:spPr>
          <a:xfrm>
            <a:off x="6080760" y="2121408"/>
            <a:ext cx="137160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chloroplast</a:t>
            </a:r>
            <a:endParaRPr lang="en-US" sz="1050" dirty="0"/>
          </a:p>
        </p:txBody>
      </p:sp>
      <p:sp>
        <p:nvSpPr>
          <p:cNvPr id="171" name="Shape 169"/>
          <p:cNvSpPr/>
          <p:nvPr/>
        </p:nvSpPr>
        <p:spPr>
          <a:xfrm flipV="1">
            <a:off x="5815584" y="2697480"/>
            <a:ext cx="219456" cy="377190"/>
          </a:xfrm>
          <a:prstGeom prst="line">
            <a:avLst/>
          </a:prstGeom>
          <a:noFill/>
          <a:ln w="11430">
            <a:solidFill>
              <a:srgbClr val="4A5262"/>
            </a:solidFill>
            <a:prstDash val="solid"/>
          </a:ln>
        </p:spPr>
      </p:sp>
      <p:sp>
        <p:nvSpPr>
          <p:cNvPr id="172" name="Shape 170"/>
          <p:cNvSpPr/>
          <p:nvPr/>
        </p:nvSpPr>
        <p:spPr>
          <a:xfrm>
            <a:off x="5795467" y="3054553"/>
            <a:ext cx="40234" cy="40234"/>
          </a:xfrm>
          <a:prstGeom prst="ellipse">
            <a:avLst/>
          </a:prstGeom>
          <a:solidFill>
            <a:srgbClr val="4A5262"/>
          </a:solidFill>
          <a:ln w="3175">
            <a:solidFill>
              <a:srgbClr val="4A5262"/>
            </a:solidFill>
            <a:prstDash val="solid"/>
          </a:ln>
        </p:spPr>
      </p:sp>
      <p:sp>
        <p:nvSpPr>
          <p:cNvPr id="173" name="Text 171"/>
          <p:cNvSpPr/>
          <p:nvPr/>
        </p:nvSpPr>
        <p:spPr>
          <a:xfrm>
            <a:off x="6080760" y="2578608"/>
            <a:ext cx="137160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cell membrane</a:t>
            </a:r>
            <a:endParaRPr lang="en-US" sz="1050" dirty="0"/>
          </a:p>
        </p:txBody>
      </p:sp>
      <p:sp>
        <p:nvSpPr>
          <p:cNvPr id="174" name="Shape 172"/>
          <p:cNvSpPr/>
          <p:nvPr/>
        </p:nvSpPr>
        <p:spPr>
          <a:xfrm flipV="1">
            <a:off x="5202936" y="3154680"/>
            <a:ext cx="832104" cy="102870"/>
          </a:xfrm>
          <a:prstGeom prst="line">
            <a:avLst/>
          </a:prstGeom>
          <a:noFill/>
          <a:ln w="11430">
            <a:solidFill>
              <a:srgbClr val="4A5262"/>
            </a:solidFill>
            <a:prstDash val="solid"/>
          </a:ln>
        </p:spPr>
      </p:sp>
      <p:sp>
        <p:nvSpPr>
          <p:cNvPr id="175" name="Shape 173"/>
          <p:cNvSpPr/>
          <p:nvPr/>
        </p:nvSpPr>
        <p:spPr>
          <a:xfrm>
            <a:off x="5182819" y="3237433"/>
            <a:ext cx="40234" cy="40234"/>
          </a:xfrm>
          <a:prstGeom prst="ellipse">
            <a:avLst/>
          </a:prstGeom>
          <a:solidFill>
            <a:srgbClr val="4A5262"/>
          </a:solidFill>
          <a:ln w="3175">
            <a:solidFill>
              <a:srgbClr val="4A5262"/>
            </a:solidFill>
            <a:prstDash val="solid"/>
          </a:ln>
        </p:spPr>
      </p:sp>
      <p:sp>
        <p:nvSpPr>
          <p:cNvPr id="176" name="Text 174"/>
          <p:cNvSpPr/>
          <p:nvPr/>
        </p:nvSpPr>
        <p:spPr>
          <a:xfrm>
            <a:off x="6080760" y="3035808"/>
            <a:ext cx="1371600" cy="237744"/>
          </a:xfrm>
          <a:prstGeom prst="rect">
            <a:avLst/>
          </a:prstGeom>
          <a:noFill/>
          <a:ln/>
        </p:spPr>
        <p:txBody>
          <a:bodyPr wrap="square" lIns="0" tIns="0" rIns="0" bIns="0" rtlCol="0" anchor="ctr"/>
          <a:lstStyle/>
          <a:p>
            <a:pPr algn="l" indent="0" marL="0">
              <a:buNone/>
            </a:pPr>
            <a:r>
              <a:rPr lang="en-US" sz="1000" b="1" dirty="0">
                <a:solidFill>
                  <a:srgbClr val="133536"/>
                </a:solidFill>
                <a:latin typeface="Calibri" pitchFamily="34" charset="0"/>
                <a:ea typeface="Calibri" pitchFamily="34" charset="-122"/>
                <a:cs typeface="Calibri" pitchFamily="34" charset="-120"/>
              </a:rPr>
              <a:t>permanent vacuole</a:t>
            </a:r>
            <a:endParaRPr lang="en-US" sz="1000" dirty="0"/>
          </a:p>
        </p:txBody>
      </p:sp>
      <p:sp>
        <p:nvSpPr>
          <p:cNvPr id="177" name="Shape 175"/>
          <p:cNvSpPr/>
          <p:nvPr/>
        </p:nvSpPr>
        <p:spPr>
          <a:xfrm flipV="1">
            <a:off x="5678424" y="3611880"/>
            <a:ext cx="356616" cy="297180"/>
          </a:xfrm>
          <a:prstGeom prst="line">
            <a:avLst/>
          </a:prstGeom>
          <a:noFill/>
          <a:ln w="11430">
            <a:solidFill>
              <a:srgbClr val="4A5262"/>
            </a:solidFill>
            <a:prstDash val="solid"/>
          </a:ln>
        </p:spPr>
      </p:sp>
      <p:sp>
        <p:nvSpPr>
          <p:cNvPr id="178" name="Shape 176"/>
          <p:cNvSpPr/>
          <p:nvPr/>
        </p:nvSpPr>
        <p:spPr>
          <a:xfrm>
            <a:off x="5658307" y="3888943"/>
            <a:ext cx="40234" cy="40234"/>
          </a:xfrm>
          <a:prstGeom prst="ellipse">
            <a:avLst/>
          </a:prstGeom>
          <a:solidFill>
            <a:srgbClr val="4A5262"/>
          </a:solidFill>
          <a:ln w="3175">
            <a:solidFill>
              <a:srgbClr val="4A5262"/>
            </a:solidFill>
            <a:prstDash val="solid"/>
          </a:ln>
        </p:spPr>
      </p:sp>
      <p:sp>
        <p:nvSpPr>
          <p:cNvPr id="179" name="Text 177"/>
          <p:cNvSpPr/>
          <p:nvPr/>
        </p:nvSpPr>
        <p:spPr>
          <a:xfrm>
            <a:off x="6080760" y="3493008"/>
            <a:ext cx="137160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cytoplasm</a:t>
            </a:r>
            <a:endParaRPr lang="en-US" sz="1050" dirty="0"/>
          </a:p>
        </p:txBody>
      </p:sp>
      <p:sp>
        <p:nvSpPr>
          <p:cNvPr id="180" name="Shape 178"/>
          <p:cNvSpPr/>
          <p:nvPr/>
        </p:nvSpPr>
        <p:spPr>
          <a:xfrm flipV="1">
            <a:off x="5715000" y="4069080"/>
            <a:ext cx="320040" cy="251460"/>
          </a:xfrm>
          <a:prstGeom prst="line">
            <a:avLst/>
          </a:prstGeom>
          <a:noFill/>
          <a:ln w="11430">
            <a:solidFill>
              <a:srgbClr val="4A5262"/>
            </a:solidFill>
            <a:prstDash val="solid"/>
          </a:ln>
        </p:spPr>
      </p:sp>
      <p:sp>
        <p:nvSpPr>
          <p:cNvPr id="181" name="Shape 179"/>
          <p:cNvSpPr/>
          <p:nvPr/>
        </p:nvSpPr>
        <p:spPr>
          <a:xfrm>
            <a:off x="5694883" y="4300423"/>
            <a:ext cx="40234" cy="40234"/>
          </a:xfrm>
          <a:prstGeom prst="ellipse">
            <a:avLst/>
          </a:prstGeom>
          <a:solidFill>
            <a:srgbClr val="4A5262"/>
          </a:solidFill>
          <a:ln w="3175">
            <a:solidFill>
              <a:srgbClr val="4A5262"/>
            </a:solidFill>
            <a:prstDash val="solid"/>
          </a:ln>
        </p:spPr>
      </p:sp>
      <p:sp>
        <p:nvSpPr>
          <p:cNvPr id="182" name="Text 180"/>
          <p:cNvSpPr/>
          <p:nvPr/>
        </p:nvSpPr>
        <p:spPr>
          <a:xfrm>
            <a:off x="6080760" y="3950208"/>
            <a:ext cx="137160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mitochondrion</a:t>
            </a:r>
            <a:endParaRPr lang="en-US" sz="1050" dirty="0"/>
          </a:p>
        </p:txBody>
      </p:sp>
      <p:sp>
        <p:nvSpPr>
          <p:cNvPr id="183" name="Shape 181"/>
          <p:cNvSpPr/>
          <p:nvPr/>
        </p:nvSpPr>
        <p:spPr>
          <a:xfrm flipV="1">
            <a:off x="4908934" y="4526280"/>
            <a:ext cx="1126106" cy="36967"/>
          </a:xfrm>
          <a:prstGeom prst="line">
            <a:avLst/>
          </a:prstGeom>
          <a:noFill/>
          <a:ln w="11430">
            <a:solidFill>
              <a:srgbClr val="4A5262"/>
            </a:solidFill>
            <a:prstDash val="solid"/>
          </a:ln>
        </p:spPr>
      </p:sp>
      <p:sp>
        <p:nvSpPr>
          <p:cNvPr id="184" name="Shape 182"/>
          <p:cNvSpPr/>
          <p:nvPr/>
        </p:nvSpPr>
        <p:spPr>
          <a:xfrm>
            <a:off x="4888817" y="4543130"/>
            <a:ext cx="40234" cy="40234"/>
          </a:xfrm>
          <a:prstGeom prst="ellipse">
            <a:avLst/>
          </a:prstGeom>
          <a:solidFill>
            <a:srgbClr val="4A5262"/>
          </a:solidFill>
          <a:ln w="3175">
            <a:solidFill>
              <a:srgbClr val="4A5262"/>
            </a:solidFill>
            <a:prstDash val="solid"/>
          </a:ln>
        </p:spPr>
      </p:sp>
      <p:sp>
        <p:nvSpPr>
          <p:cNvPr id="185" name="Text 183"/>
          <p:cNvSpPr/>
          <p:nvPr/>
        </p:nvSpPr>
        <p:spPr>
          <a:xfrm>
            <a:off x="6080760" y="4407408"/>
            <a:ext cx="137160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ribosomes</a:t>
            </a:r>
            <a:endParaRPr lang="en-US" sz="1050" dirty="0"/>
          </a:p>
        </p:txBody>
      </p:sp>
      <p:sp>
        <p:nvSpPr>
          <p:cNvPr id="186" name="Shape 184"/>
          <p:cNvSpPr/>
          <p:nvPr/>
        </p:nvSpPr>
        <p:spPr>
          <a:xfrm>
            <a:off x="5479085" y="4782312"/>
            <a:ext cx="555955" cy="201168"/>
          </a:xfrm>
          <a:prstGeom prst="line">
            <a:avLst/>
          </a:prstGeom>
          <a:noFill/>
          <a:ln w="11430">
            <a:solidFill>
              <a:srgbClr val="4A5262"/>
            </a:solidFill>
            <a:prstDash val="solid"/>
          </a:ln>
        </p:spPr>
      </p:sp>
      <p:sp>
        <p:nvSpPr>
          <p:cNvPr id="187" name="Shape 185"/>
          <p:cNvSpPr/>
          <p:nvPr/>
        </p:nvSpPr>
        <p:spPr>
          <a:xfrm>
            <a:off x="5458968" y="4762195"/>
            <a:ext cx="40234" cy="40234"/>
          </a:xfrm>
          <a:prstGeom prst="ellipse">
            <a:avLst/>
          </a:prstGeom>
          <a:solidFill>
            <a:srgbClr val="4A5262"/>
          </a:solidFill>
          <a:ln w="3175">
            <a:solidFill>
              <a:srgbClr val="4A5262"/>
            </a:solidFill>
            <a:prstDash val="solid"/>
          </a:ln>
        </p:spPr>
      </p:sp>
      <p:sp>
        <p:nvSpPr>
          <p:cNvPr id="188" name="Text 186"/>
          <p:cNvSpPr/>
          <p:nvPr/>
        </p:nvSpPr>
        <p:spPr>
          <a:xfrm>
            <a:off x="6080760" y="4864608"/>
            <a:ext cx="137160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nucleus</a:t>
            </a:r>
            <a:endParaRPr lang="en-US" sz="1050" dirty="0"/>
          </a:p>
        </p:txBody>
      </p:sp>
      <p:sp>
        <p:nvSpPr>
          <p:cNvPr id="189" name="Shape 187"/>
          <p:cNvSpPr/>
          <p:nvPr/>
        </p:nvSpPr>
        <p:spPr>
          <a:xfrm>
            <a:off x="594360" y="4572000"/>
            <a:ext cx="3291840" cy="749808"/>
          </a:xfrm>
          <a:prstGeom prst="roundRect">
            <a:avLst>
              <a:gd name="adj" fmla="val 6098"/>
            </a:avLst>
          </a:prstGeom>
          <a:solidFill>
            <a:srgbClr val="FFFFFF"/>
          </a:solidFill>
          <a:ln w="12700">
            <a:solidFill>
              <a:srgbClr val="CFE0DE"/>
            </a:solidFill>
            <a:prstDash val="solid"/>
          </a:ln>
        </p:spPr>
      </p:sp>
      <p:sp>
        <p:nvSpPr>
          <p:cNvPr id="190" name="Text 188"/>
          <p:cNvSpPr/>
          <p:nvPr/>
        </p:nvSpPr>
        <p:spPr>
          <a:xfrm>
            <a:off x="685800" y="4572000"/>
            <a:ext cx="3108960" cy="749808"/>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Eukaryotic</a:t>
            </a:r>
            <a:r>
              <a:rPr lang="en-US" sz="1050" dirty="0">
                <a:solidFill>
                  <a:srgbClr val="262B3A"/>
                </a:solidFill>
                <a:latin typeface="Calibri" pitchFamily="34" charset="0"/>
                <a:ea typeface="Calibri" pitchFamily="34" charset="-122"/>
                <a:cs typeface="Calibri" pitchFamily="34" charset="-120"/>
              </a:rPr>
              <a:t> cells have their DNA inside a </a:t>
            </a:r>
            <a:r>
              <a:rPr lang="en-US" sz="1050" b="1" dirty="0">
                <a:solidFill>
                  <a:srgbClr val="262B3A"/>
                </a:solidFill>
                <a:latin typeface="Calibri" pitchFamily="34" charset="0"/>
                <a:ea typeface="Calibri" pitchFamily="34" charset="-122"/>
                <a:cs typeface="Calibri" pitchFamily="34" charset="-120"/>
              </a:rPr>
              <a:t>nucleus</a:t>
            </a:r>
            <a:r>
              <a:rPr lang="en-US" sz="1050" dirty="0">
                <a:solidFill>
                  <a:srgbClr val="262B3A"/>
                </a:solidFill>
                <a:latin typeface="Calibri" pitchFamily="34" charset="0"/>
                <a:ea typeface="Calibri" pitchFamily="34" charset="-122"/>
                <a:cs typeface="Calibri" pitchFamily="34" charset="-120"/>
              </a:rPr>
              <a:t>. Plants, animals and fungi are eukaryotes.</a:t>
            </a:r>
            <a:endParaRPr lang="en-US" sz="1050" dirty="0"/>
          </a:p>
        </p:txBody>
      </p:sp>
      <p:sp>
        <p:nvSpPr>
          <p:cNvPr id="191" name="Shape 189"/>
          <p:cNvSpPr/>
          <p:nvPr/>
        </p:nvSpPr>
        <p:spPr>
          <a:xfrm>
            <a:off x="7726680" y="1188720"/>
            <a:ext cx="4053535" cy="4526280"/>
          </a:xfrm>
          <a:prstGeom prst="roundRect">
            <a:avLst>
              <a:gd name="adj" fmla="val 1353"/>
            </a:avLst>
          </a:prstGeom>
          <a:solidFill>
            <a:srgbClr val="F4FAF9"/>
          </a:solidFill>
          <a:ln w="9525">
            <a:solidFill>
              <a:srgbClr val="CFE0DE"/>
            </a:solidFill>
            <a:prstDash val="solid"/>
          </a:ln>
        </p:spPr>
      </p:sp>
      <p:sp>
        <p:nvSpPr>
          <p:cNvPr id="192" name="Text 190"/>
          <p:cNvSpPr/>
          <p:nvPr/>
        </p:nvSpPr>
        <p:spPr>
          <a:xfrm>
            <a:off x="7891272" y="1280160"/>
            <a:ext cx="372435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Structures and their jobs</a:t>
            </a:r>
            <a:endParaRPr lang="en-US" sz="1300" dirty="0"/>
          </a:p>
        </p:txBody>
      </p:sp>
      <p:sp>
        <p:nvSpPr>
          <p:cNvPr id="193" name="Text 191"/>
          <p:cNvSpPr/>
          <p:nvPr/>
        </p:nvSpPr>
        <p:spPr>
          <a:xfrm>
            <a:off x="7891272" y="1609344"/>
            <a:ext cx="3724351" cy="40325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Nucleus</a:t>
            </a:r>
            <a:r>
              <a:rPr lang="en-US" sz="1100" dirty="0">
                <a:solidFill>
                  <a:srgbClr val="262B3A"/>
                </a:solidFill>
                <a:latin typeface="Calibri" pitchFamily="34" charset="0"/>
                <a:ea typeface="Calibri" pitchFamily="34" charset="-122"/>
                <a:cs typeface="Calibri" pitchFamily="34" charset="-120"/>
              </a:rPr>
              <a:t>: contains the genetic material (DNA in chromosomes); controls the cell.</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Cytoplasm</a:t>
            </a:r>
            <a:r>
              <a:rPr lang="en-US" sz="1100" dirty="0">
                <a:solidFill>
                  <a:srgbClr val="262B3A"/>
                </a:solidFill>
                <a:latin typeface="Calibri" pitchFamily="34" charset="0"/>
                <a:ea typeface="Calibri" pitchFamily="34" charset="-122"/>
                <a:cs typeface="Calibri" pitchFamily="34" charset="-120"/>
              </a:rPr>
              <a:t>: jelly where many chemical reactions happen (e.g. anaerobic respiration).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Cell membrane</a:t>
            </a:r>
            <a:r>
              <a:rPr lang="en-US" sz="1100" dirty="0">
                <a:solidFill>
                  <a:srgbClr val="262B3A"/>
                </a:solidFill>
                <a:latin typeface="Calibri" pitchFamily="34" charset="0"/>
                <a:ea typeface="Calibri" pitchFamily="34" charset="-122"/>
                <a:cs typeface="Calibri" pitchFamily="34" charset="-120"/>
              </a:rPr>
              <a:t>: controls what enters and leaves the cell.</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Mitochondria</a:t>
            </a:r>
            <a:r>
              <a:rPr lang="en-US" sz="1100" dirty="0">
                <a:solidFill>
                  <a:srgbClr val="262B3A"/>
                </a:solidFill>
                <a:latin typeface="Calibri" pitchFamily="34" charset="0"/>
                <a:ea typeface="Calibri" pitchFamily="34" charset="-122"/>
                <a:cs typeface="Calibri" pitchFamily="34" charset="-120"/>
              </a:rPr>
              <a:t>: where aerobic respiration happens (B4.1).</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Ribosomes</a:t>
            </a:r>
            <a:r>
              <a:rPr lang="en-US" sz="1100" dirty="0">
                <a:solidFill>
                  <a:srgbClr val="262B3A"/>
                </a:solidFill>
                <a:latin typeface="Calibri" pitchFamily="34" charset="0"/>
                <a:ea typeface="Calibri" pitchFamily="34" charset="-122"/>
                <a:cs typeface="Calibri" pitchFamily="34" charset="-120"/>
              </a:rPr>
              <a:t>: where </a:t>
            </a:r>
            <a:r>
              <a:rPr lang="en-US" sz="1100" b="1" dirty="0">
                <a:solidFill>
                  <a:srgbClr val="262B3A"/>
                </a:solidFill>
                <a:latin typeface="Calibri" pitchFamily="34" charset="0"/>
                <a:ea typeface="Calibri" pitchFamily="34" charset="-122"/>
                <a:cs typeface="Calibri" pitchFamily="34" charset="-120"/>
              </a:rPr>
              <a:t>proteins</a:t>
            </a:r>
            <a:r>
              <a:rPr lang="en-US" sz="1100" dirty="0">
                <a:solidFill>
                  <a:srgbClr val="262B3A"/>
                </a:solidFill>
                <a:latin typeface="Calibri" pitchFamily="34" charset="0"/>
                <a:ea typeface="Calibri" pitchFamily="34" charset="-122"/>
                <a:cs typeface="Calibri" pitchFamily="34" charset="-120"/>
              </a:rPr>
              <a:t> are made (protein synthesis).</a:t>
            </a:r>
            <a:endParaRPr lang="en-US" sz="1100" dirty="0"/>
          </a:p>
          <a:p>
            <a:pPr indent="0" marL="0">
              <a:spcAft>
                <a:spcPts val="300"/>
              </a:spcAft>
              <a:buNone/>
            </a:pPr>
            <a:r>
              <a:rPr lang="en-US" sz="1100" b="1" dirty="0">
                <a:solidFill>
                  <a:srgbClr val="2E8B57"/>
                </a:solidFill>
                <a:latin typeface="Calibri" pitchFamily="34" charset="0"/>
                <a:ea typeface="Calibri" pitchFamily="34" charset="-122"/>
                <a:cs typeface="Calibri" pitchFamily="34" charset="-120"/>
              </a:rPr>
              <a:t>Plant cells only: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Cell wall</a:t>
            </a:r>
            <a:r>
              <a:rPr lang="en-US" sz="1100" dirty="0">
                <a:solidFill>
                  <a:srgbClr val="262B3A"/>
                </a:solidFill>
                <a:latin typeface="Calibri" pitchFamily="34" charset="0"/>
                <a:ea typeface="Calibri" pitchFamily="34" charset="-122"/>
                <a:cs typeface="Calibri" pitchFamily="34" charset="-120"/>
              </a:rPr>
              <a:t> (cellulose): strengthens and supports the cell.</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Chloroplasts</a:t>
            </a:r>
            <a:r>
              <a:rPr lang="en-US" sz="1100" dirty="0">
                <a:solidFill>
                  <a:srgbClr val="262B3A"/>
                </a:solidFill>
                <a:latin typeface="Calibri" pitchFamily="34" charset="0"/>
                <a:ea typeface="Calibri" pitchFamily="34" charset="-122"/>
                <a:cs typeface="Calibri" pitchFamily="34" charset="-120"/>
              </a:rPr>
              <a:t>: absorb light for </a:t>
            </a:r>
            <a:r>
              <a:rPr lang="en-US" sz="1100" b="1" dirty="0">
                <a:solidFill>
                  <a:srgbClr val="262B3A"/>
                </a:solidFill>
                <a:latin typeface="Calibri" pitchFamily="34" charset="0"/>
                <a:ea typeface="Calibri" pitchFamily="34" charset="-122"/>
                <a:cs typeface="Calibri" pitchFamily="34" charset="-120"/>
              </a:rPr>
              <a:t>photosynthesis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Permanent vacuole</a:t>
            </a:r>
            <a:r>
              <a:rPr lang="en-US" sz="1100" dirty="0">
                <a:solidFill>
                  <a:srgbClr val="262B3A"/>
                </a:solidFill>
                <a:latin typeface="Calibri" pitchFamily="34" charset="0"/>
                <a:ea typeface="Calibri" pitchFamily="34" charset="-122"/>
                <a:cs typeface="Calibri" pitchFamily="34" charset="-120"/>
              </a:rPr>
              <a:t>: filled with cell sap; keeps the cell firm.</a:t>
            </a:r>
            <a:endParaRPr lang="en-US" sz="1100" dirty="0"/>
          </a:p>
        </p:txBody>
      </p:sp>
      <p:sp>
        <p:nvSpPr>
          <p:cNvPr id="194" name="Shape 192"/>
          <p:cNvSpPr/>
          <p:nvPr/>
        </p:nvSpPr>
        <p:spPr>
          <a:xfrm>
            <a:off x="411480" y="5833872"/>
            <a:ext cx="11368735" cy="530352"/>
          </a:xfrm>
          <a:prstGeom prst="rect">
            <a:avLst/>
          </a:prstGeom>
          <a:solidFill>
            <a:srgbClr val="FFF4E0"/>
          </a:solidFill>
          <a:ln w="6350">
            <a:solidFill>
              <a:srgbClr val="F1D9A8"/>
            </a:solidFill>
            <a:prstDash val="solid"/>
          </a:ln>
        </p:spPr>
      </p:sp>
      <p:sp>
        <p:nvSpPr>
          <p:cNvPr id="195" name="Shape 193"/>
          <p:cNvSpPr/>
          <p:nvPr/>
        </p:nvSpPr>
        <p:spPr>
          <a:xfrm>
            <a:off x="411480" y="5833872"/>
            <a:ext cx="82296" cy="530352"/>
          </a:xfrm>
          <a:prstGeom prst="rect">
            <a:avLst/>
          </a:prstGeom>
          <a:solidFill>
            <a:srgbClr val="E39A2F"/>
          </a:solidFill>
          <a:ln w="12700">
            <a:solidFill>
              <a:srgbClr val="E39A2F"/>
            </a:solidFill>
            <a:prstDash val="solid"/>
          </a:ln>
        </p:spPr>
      </p:sp>
      <p:sp>
        <p:nvSpPr>
          <p:cNvPr id="196" name="Text 19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root hair cell is a plant cell, but it has </a:t>
            </a:r>
            <a:r>
              <a:rPr lang="en-US" sz="1150" b="1" dirty="0">
                <a:solidFill>
                  <a:srgbClr val="262B3A"/>
                </a:solidFill>
                <a:latin typeface="Calibri" pitchFamily="34" charset="0"/>
                <a:ea typeface="Calibri" pitchFamily="34" charset="-122"/>
                <a:cs typeface="Calibri" pitchFamily="34" charset="-120"/>
              </a:rPr>
              <a:t>no chloroplasts</a:t>
            </a:r>
            <a:r>
              <a:rPr lang="en-US" sz="1150" dirty="0">
                <a:solidFill>
                  <a:srgbClr val="262B3A"/>
                </a:solidFill>
                <a:latin typeface="Calibri" pitchFamily="34" charset="0"/>
                <a:ea typeface="Calibri" pitchFamily="34" charset="-122"/>
                <a:cs typeface="Calibri" pitchFamily="34" charset="-120"/>
              </a:rPr>
              <a:t>. Suggest why. Which structures does it share with a cheek cell?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Prokaryotic cells: bacteria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Links to B1.1 • a bacterium has no nucleus: its DNA is free in the cytoplasm</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Cells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bacterium enlarged about 2000 times; to-scale strip below</a:t>
            </a:r>
            <a:endParaRPr lang="en-US" sz="1000" dirty="0"/>
          </a:p>
        </p:txBody>
      </p:sp>
      <p:sp>
        <p:nvSpPr>
          <p:cNvPr id="10" name="Text 8"/>
          <p:cNvSpPr/>
          <p:nvPr/>
        </p:nvSpPr>
        <p:spPr>
          <a:xfrm>
            <a:off x="594360" y="1298448"/>
            <a:ext cx="5212080" cy="256032"/>
          </a:xfrm>
          <a:prstGeom prst="rect">
            <a:avLst/>
          </a:prstGeom>
          <a:noFill/>
          <a:ln/>
        </p:spPr>
        <p:txBody>
          <a:bodyPr wrap="square" lIns="0" tIns="0" rIns="0" bIns="0" rtlCol="0" anchor="ctr"/>
          <a:lstStyle/>
          <a:p>
            <a:pPr algn="ctr" indent="0" marL="0">
              <a:buNone/>
            </a:pPr>
            <a:r>
              <a:rPr lang="en-US" sz="1100" b="1" dirty="0">
                <a:solidFill>
                  <a:srgbClr val="0D7877"/>
                </a:solidFill>
                <a:latin typeface="Calibri" pitchFamily="34" charset="0"/>
                <a:ea typeface="Calibri" pitchFamily="34" charset="-122"/>
                <a:cs typeface="Calibri" pitchFamily="34" charset="-120"/>
              </a:rPr>
              <a:t>A bacterial cell (about 1–5 µm long)</a:t>
            </a:r>
            <a:endParaRPr lang="en-US" sz="1100" dirty="0"/>
          </a:p>
        </p:txBody>
      </p:sp>
      <p:sp>
        <p:nvSpPr>
          <p:cNvPr id="11" name="Shape 9"/>
          <p:cNvSpPr/>
          <p:nvPr/>
        </p:nvSpPr>
        <p:spPr>
          <a:xfrm>
            <a:off x="4709160" y="2948940"/>
            <a:ext cx="28956" cy="37192"/>
          </a:xfrm>
          <a:prstGeom prst="line">
            <a:avLst/>
          </a:prstGeom>
          <a:noFill/>
          <a:ln w="25400">
            <a:solidFill>
              <a:srgbClr val="6E5232"/>
            </a:solidFill>
            <a:prstDash val="solid"/>
          </a:ln>
        </p:spPr>
      </p:sp>
      <p:sp>
        <p:nvSpPr>
          <p:cNvPr id="12" name="Shape 10"/>
          <p:cNvSpPr/>
          <p:nvPr/>
        </p:nvSpPr>
        <p:spPr>
          <a:xfrm>
            <a:off x="4738116" y="2986132"/>
            <a:ext cx="28956" cy="30761"/>
          </a:xfrm>
          <a:prstGeom prst="line">
            <a:avLst/>
          </a:prstGeom>
          <a:noFill/>
          <a:ln w="25400">
            <a:solidFill>
              <a:srgbClr val="6E5232"/>
            </a:solidFill>
            <a:prstDash val="solid"/>
          </a:ln>
        </p:spPr>
      </p:sp>
      <p:sp>
        <p:nvSpPr>
          <p:cNvPr id="13" name="Shape 11"/>
          <p:cNvSpPr/>
          <p:nvPr/>
        </p:nvSpPr>
        <p:spPr>
          <a:xfrm>
            <a:off x="4767072" y="3016893"/>
            <a:ext cx="28956" cy="19011"/>
          </a:xfrm>
          <a:prstGeom prst="line">
            <a:avLst/>
          </a:prstGeom>
          <a:noFill/>
          <a:ln w="25400">
            <a:solidFill>
              <a:srgbClr val="6E5232"/>
            </a:solidFill>
            <a:prstDash val="solid"/>
          </a:ln>
        </p:spPr>
      </p:sp>
      <p:sp>
        <p:nvSpPr>
          <p:cNvPr id="14" name="Shape 12"/>
          <p:cNvSpPr/>
          <p:nvPr/>
        </p:nvSpPr>
        <p:spPr>
          <a:xfrm>
            <a:off x="4796028" y="3035905"/>
            <a:ext cx="28956" cy="3974"/>
          </a:xfrm>
          <a:prstGeom prst="line">
            <a:avLst/>
          </a:prstGeom>
          <a:noFill/>
          <a:ln w="25400">
            <a:solidFill>
              <a:srgbClr val="6E5232"/>
            </a:solidFill>
            <a:prstDash val="solid"/>
          </a:ln>
        </p:spPr>
      </p:sp>
      <p:sp>
        <p:nvSpPr>
          <p:cNvPr id="15" name="Shape 13"/>
          <p:cNvSpPr/>
          <p:nvPr/>
        </p:nvSpPr>
        <p:spPr>
          <a:xfrm flipV="1">
            <a:off x="4824984" y="3028129"/>
            <a:ext cx="28956" cy="11750"/>
          </a:xfrm>
          <a:prstGeom prst="line">
            <a:avLst/>
          </a:prstGeom>
          <a:noFill/>
          <a:ln w="25400">
            <a:solidFill>
              <a:srgbClr val="6E5232"/>
            </a:solidFill>
            <a:prstDash val="solid"/>
          </a:ln>
        </p:spPr>
      </p:sp>
      <p:sp>
        <p:nvSpPr>
          <p:cNvPr id="16" name="Shape 14"/>
          <p:cNvSpPr/>
          <p:nvPr/>
        </p:nvSpPr>
        <p:spPr>
          <a:xfrm flipV="1">
            <a:off x="4853940" y="3002687"/>
            <a:ext cx="28956" cy="25442"/>
          </a:xfrm>
          <a:prstGeom prst="line">
            <a:avLst/>
          </a:prstGeom>
          <a:noFill/>
          <a:ln w="25400">
            <a:solidFill>
              <a:srgbClr val="6E5232"/>
            </a:solidFill>
            <a:prstDash val="solid"/>
          </a:ln>
        </p:spPr>
      </p:sp>
      <p:sp>
        <p:nvSpPr>
          <p:cNvPr id="17" name="Shape 15"/>
          <p:cNvSpPr/>
          <p:nvPr/>
        </p:nvSpPr>
        <p:spPr>
          <a:xfrm flipV="1">
            <a:off x="4882896" y="2967951"/>
            <a:ext cx="28956" cy="34736"/>
          </a:xfrm>
          <a:prstGeom prst="line">
            <a:avLst/>
          </a:prstGeom>
          <a:noFill/>
          <a:ln w="25400">
            <a:solidFill>
              <a:srgbClr val="6E5232"/>
            </a:solidFill>
            <a:prstDash val="solid"/>
          </a:ln>
        </p:spPr>
      </p:sp>
      <p:sp>
        <p:nvSpPr>
          <p:cNvPr id="18" name="Shape 16"/>
          <p:cNvSpPr/>
          <p:nvPr/>
        </p:nvSpPr>
        <p:spPr>
          <a:xfrm flipV="1">
            <a:off x="4911852" y="2929929"/>
            <a:ext cx="28956" cy="38023"/>
          </a:xfrm>
          <a:prstGeom prst="line">
            <a:avLst/>
          </a:prstGeom>
          <a:noFill/>
          <a:ln w="25400">
            <a:solidFill>
              <a:srgbClr val="6E5232"/>
            </a:solidFill>
            <a:prstDash val="solid"/>
          </a:ln>
        </p:spPr>
      </p:sp>
      <p:sp>
        <p:nvSpPr>
          <p:cNvPr id="19" name="Shape 17"/>
          <p:cNvSpPr/>
          <p:nvPr/>
        </p:nvSpPr>
        <p:spPr>
          <a:xfrm flipV="1">
            <a:off x="4940808" y="2895193"/>
            <a:ext cx="28956" cy="34736"/>
          </a:xfrm>
          <a:prstGeom prst="line">
            <a:avLst/>
          </a:prstGeom>
          <a:noFill/>
          <a:ln w="25400">
            <a:solidFill>
              <a:srgbClr val="6E5232"/>
            </a:solidFill>
            <a:prstDash val="solid"/>
          </a:ln>
        </p:spPr>
      </p:sp>
      <p:sp>
        <p:nvSpPr>
          <p:cNvPr id="20" name="Shape 18"/>
          <p:cNvSpPr/>
          <p:nvPr/>
        </p:nvSpPr>
        <p:spPr>
          <a:xfrm flipV="1">
            <a:off x="4969764" y="2869751"/>
            <a:ext cx="28956" cy="25442"/>
          </a:xfrm>
          <a:prstGeom prst="line">
            <a:avLst/>
          </a:prstGeom>
          <a:noFill/>
          <a:ln w="25400">
            <a:solidFill>
              <a:srgbClr val="6E5232"/>
            </a:solidFill>
            <a:prstDash val="solid"/>
          </a:ln>
        </p:spPr>
      </p:sp>
      <p:sp>
        <p:nvSpPr>
          <p:cNvPr id="21" name="Shape 19"/>
          <p:cNvSpPr/>
          <p:nvPr/>
        </p:nvSpPr>
        <p:spPr>
          <a:xfrm flipV="1">
            <a:off x="4998720" y="2858001"/>
            <a:ext cx="28956" cy="11750"/>
          </a:xfrm>
          <a:prstGeom prst="line">
            <a:avLst/>
          </a:prstGeom>
          <a:noFill/>
          <a:ln w="25400">
            <a:solidFill>
              <a:srgbClr val="6E5232"/>
            </a:solidFill>
            <a:prstDash val="solid"/>
          </a:ln>
        </p:spPr>
      </p:sp>
      <p:sp>
        <p:nvSpPr>
          <p:cNvPr id="22" name="Shape 20"/>
          <p:cNvSpPr/>
          <p:nvPr/>
        </p:nvSpPr>
        <p:spPr>
          <a:xfrm>
            <a:off x="5027676" y="2858001"/>
            <a:ext cx="28956" cy="3974"/>
          </a:xfrm>
          <a:prstGeom prst="line">
            <a:avLst/>
          </a:prstGeom>
          <a:noFill/>
          <a:ln w="25400">
            <a:solidFill>
              <a:srgbClr val="6E5232"/>
            </a:solidFill>
            <a:prstDash val="solid"/>
          </a:ln>
        </p:spPr>
      </p:sp>
      <p:sp>
        <p:nvSpPr>
          <p:cNvPr id="23" name="Shape 21"/>
          <p:cNvSpPr/>
          <p:nvPr/>
        </p:nvSpPr>
        <p:spPr>
          <a:xfrm>
            <a:off x="5056632" y="2861975"/>
            <a:ext cx="28956" cy="19011"/>
          </a:xfrm>
          <a:prstGeom prst="line">
            <a:avLst/>
          </a:prstGeom>
          <a:noFill/>
          <a:ln w="25400">
            <a:solidFill>
              <a:srgbClr val="6E5232"/>
            </a:solidFill>
            <a:prstDash val="solid"/>
          </a:ln>
        </p:spPr>
      </p:sp>
      <p:sp>
        <p:nvSpPr>
          <p:cNvPr id="24" name="Shape 22"/>
          <p:cNvSpPr/>
          <p:nvPr/>
        </p:nvSpPr>
        <p:spPr>
          <a:xfrm>
            <a:off x="5085588" y="2880987"/>
            <a:ext cx="28956" cy="30761"/>
          </a:xfrm>
          <a:prstGeom prst="line">
            <a:avLst/>
          </a:prstGeom>
          <a:noFill/>
          <a:ln w="25400">
            <a:solidFill>
              <a:srgbClr val="6E5232"/>
            </a:solidFill>
            <a:prstDash val="solid"/>
          </a:ln>
        </p:spPr>
      </p:sp>
      <p:sp>
        <p:nvSpPr>
          <p:cNvPr id="25" name="Shape 23"/>
          <p:cNvSpPr/>
          <p:nvPr/>
        </p:nvSpPr>
        <p:spPr>
          <a:xfrm>
            <a:off x="5114544" y="2911748"/>
            <a:ext cx="28956" cy="37192"/>
          </a:xfrm>
          <a:prstGeom prst="line">
            <a:avLst/>
          </a:prstGeom>
          <a:noFill/>
          <a:ln w="25400">
            <a:solidFill>
              <a:srgbClr val="6E5232"/>
            </a:solidFill>
            <a:prstDash val="solid"/>
          </a:ln>
        </p:spPr>
      </p:sp>
      <p:sp>
        <p:nvSpPr>
          <p:cNvPr id="26" name="Shape 24"/>
          <p:cNvSpPr/>
          <p:nvPr/>
        </p:nvSpPr>
        <p:spPr>
          <a:xfrm>
            <a:off x="5143500" y="2948940"/>
            <a:ext cx="28956" cy="37192"/>
          </a:xfrm>
          <a:prstGeom prst="line">
            <a:avLst/>
          </a:prstGeom>
          <a:noFill/>
          <a:ln w="25400">
            <a:solidFill>
              <a:srgbClr val="6E5232"/>
            </a:solidFill>
            <a:prstDash val="solid"/>
          </a:ln>
        </p:spPr>
      </p:sp>
      <p:sp>
        <p:nvSpPr>
          <p:cNvPr id="27" name="Shape 25"/>
          <p:cNvSpPr/>
          <p:nvPr/>
        </p:nvSpPr>
        <p:spPr>
          <a:xfrm>
            <a:off x="5172456" y="2986132"/>
            <a:ext cx="28956" cy="30761"/>
          </a:xfrm>
          <a:prstGeom prst="line">
            <a:avLst/>
          </a:prstGeom>
          <a:noFill/>
          <a:ln w="25400">
            <a:solidFill>
              <a:srgbClr val="6E5232"/>
            </a:solidFill>
            <a:prstDash val="solid"/>
          </a:ln>
        </p:spPr>
      </p:sp>
      <p:sp>
        <p:nvSpPr>
          <p:cNvPr id="28" name="Shape 26"/>
          <p:cNvSpPr/>
          <p:nvPr/>
        </p:nvSpPr>
        <p:spPr>
          <a:xfrm>
            <a:off x="5201412" y="3016893"/>
            <a:ext cx="28956" cy="19011"/>
          </a:xfrm>
          <a:prstGeom prst="line">
            <a:avLst/>
          </a:prstGeom>
          <a:noFill/>
          <a:ln w="25400">
            <a:solidFill>
              <a:srgbClr val="6E5232"/>
            </a:solidFill>
            <a:prstDash val="solid"/>
          </a:ln>
        </p:spPr>
      </p:sp>
      <p:sp>
        <p:nvSpPr>
          <p:cNvPr id="29" name="Shape 27"/>
          <p:cNvSpPr/>
          <p:nvPr/>
        </p:nvSpPr>
        <p:spPr>
          <a:xfrm>
            <a:off x="5230368" y="3035905"/>
            <a:ext cx="28956" cy="3974"/>
          </a:xfrm>
          <a:prstGeom prst="line">
            <a:avLst/>
          </a:prstGeom>
          <a:noFill/>
          <a:ln w="25400">
            <a:solidFill>
              <a:srgbClr val="6E5232"/>
            </a:solidFill>
            <a:prstDash val="solid"/>
          </a:ln>
        </p:spPr>
      </p:sp>
      <p:sp>
        <p:nvSpPr>
          <p:cNvPr id="30" name="Shape 28"/>
          <p:cNvSpPr/>
          <p:nvPr/>
        </p:nvSpPr>
        <p:spPr>
          <a:xfrm flipV="1">
            <a:off x="5259324" y="3028129"/>
            <a:ext cx="28956" cy="11750"/>
          </a:xfrm>
          <a:prstGeom prst="line">
            <a:avLst/>
          </a:prstGeom>
          <a:noFill/>
          <a:ln w="25400">
            <a:solidFill>
              <a:srgbClr val="6E5232"/>
            </a:solidFill>
            <a:prstDash val="solid"/>
          </a:ln>
        </p:spPr>
      </p:sp>
      <p:sp>
        <p:nvSpPr>
          <p:cNvPr id="31" name="Shape 29"/>
          <p:cNvSpPr/>
          <p:nvPr/>
        </p:nvSpPr>
        <p:spPr>
          <a:xfrm flipV="1">
            <a:off x="5288280" y="3002687"/>
            <a:ext cx="28956" cy="25442"/>
          </a:xfrm>
          <a:prstGeom prst="line">
            <a:avLst/>
          </a:prstGeom>
          <a:noFill/>
          <a:ln w="25400">
            <a:solidFill>
              <a:srgbClr val="6E5232"/>
            </a:solidFill>
            <a:prstDash val="solid"/>
          </a:ln>
        </p:spPr>
      </p:sp>
      <p:sp>
        <p:nvSpPr>
          <p:cNvPr id="32" name="Shape 30"/>
          <p:cNvSpPr/>
          <p:nvPr/>
        </p:nvSpPr>
        <p:spPr>
          <a:xfrm flipV="1">
            <a:off x="5317236" y="2967951"/>
            <a:ext cx="28956" cy="34736"/>
          </a:xfrm>
          <a:prstGeom prst="line">
            <a:avLst/>
          </a:prstGeom>
          <a:noFill/>
          <a:ln w="25400">
            <a:solidFill>
              <a:srgbClr val="6E5232"/>
            </a:solidFill>
            <a:prstDash val="solid"/>
          </a:ln>
        </p:spPr>
      </p:sp>
      <p:sp>
        <p:nvSpPr>
          <p:cNvPr id="33" name="Shape 31"/>
          <p:cNvSpPr/>
          <p:nvPr/>
        </p:nvSpPr>
        <p:spPr>
          <a:xfrm flipV="1">
            <a:off x="5346192" y="2929929"/>
            <a:ext cx="28956" cy="38023"/>
          </a:xfrm>
          <a:prstGeom prst="line">
            <a:avLst/>
          </a:prstGeom>
          <a:noFill/>
          <a:ln w="25400">
            <a:solidFill>
              <a:srgbClr val="6E5232"/>
            </a:solidFill>
            <a:prstDash val="solid"/>
          </a:ln>
        </p:spPr>
      </p:sp>
      <p:sp>
        <p:nvSpPr>
          <p:cNvPr id="34" name="Shape 32"/>
          <p:cNvSpPr/>
          <p:nvPr/>
        </p:nvSpPr>
        <p:spPr>
          <a:xfrm flipV="1">
            <a:off x="5375148" y="2895193"/>
            <a:ext cx="28956" cy="34736"/>
          </a:xfrm>
          <a:prstGeom prst="line">
            <a:avLst/>
          </a:prstGeom>
          <a:noFill/>
          <a:ln w="25400">
            <a:solidFill>
              <a:srgbClr val="6E5232"/>
            </a:solidFill>
            <a:prstDash val="solid"/>
          </a:ln>
        </p:spPr>
      </p:sp>
      <p:sp>
        <p:nvSpPr>
          <p:cNvPr id="35" name="Shape 33"/>
          <p:cNvSpPr/>
          <p:nvPr/>
        </p:nvSpPr>
        <p:spPr>
          <a:xfrm flipV="1">
            <a:off x="5404104" y="2869751"/>
            <a:ext cx="28956" cy="25442"/>
          </a:xfrm>
          <a:prstGeom prst="line">
            <a:avLst/>
          </a:prstGeom>
          <a:noFill/>
          <a:ln w="25400">
            <a:solidFill>
              <a:srgbClr val="6E5232"/>
            </a:solidFill>
            <a:prstDash val="solid"/>
          </a:ln>
        </p:spPr>
      </p:sp>
      <p:sp>
        <p:nvSpPr>
          <p:cNvPr id="36" name="Shape 34"/>
          <p:cNvSpPr/>
          <p:nvPr/>
        </p:nvSpPr>
        <p:spPr>
          <a:xfrm flipV="1">
            <a:off x="5433060" y="2858001"/>
            <a:ext cx="28956" cy="11750"/>
          </a:xfrm>
          <a:prstGeom prst="line">
            <a:avLst/>
          </a:prstGeom>
          <a:noFill/>
          <a:ln w="25400">
            <a:solidFill>
              <a:srgbClr val="6E5232"/>
            </a:solidFill>
            <a:prstDash val="solid"/>
          </a:ln>
        </p:spPr>
      </p:sp>
      <p:sp>
        <p:nvSpPr>
          <p:cNvPr id="37" name="Shape 35"/>
          <p:cNvSpPr/>
          <p:nvPr/>
        </p:nvSpPr>
        <p:spPr>
          <a:xfrm>
            <a:off x="5462016" y="2858001"/>
            <a:ext cx="28956" cy="3974"/>
          </a:xfrm>
          <a:prstGeom prst="line">
            <a:avLst/>
          </a:prstGeom>
          <a:noFill/>
          <a:ln w="25400">
            <a:solidFill>
              <a:srgbClr val="6E5232"/>
            </a:solidFill>
            <a:prstDash val="solid"/>
          </a:ln>
        </p:spPr>
      </p:sp>
      <p:sp>
        <p:nvSpPr>
          <p:cNvPr id="38" name="Shape 36"/>
          <p:cNvSpPr/>
          <p:nvPr/>
        </p:nvSpPr>
        <p:spPr>
          <a:xfrm>
            <a:off x="5490972" y="2861975"/>
            <a:ext cx="28956" cy="19011"/>
          </a:xfrm>
          <a:prstGeom prst="line">
            <a:avLst/>
          </a:prstGeom>
          <a:noFill/>
          <a:ln w="25400">
            <a:solidFill>
              <a:srgbClr val="6E5232"/>
            </a:solidFill>
            <a:prstDash val="solid"/>
          </a:ln>
        </p:spPr>
      </p:sp>
      <p:sp>
        <p:nvSpPr>
          <p:cNvPr id="39" name="Shape 37"/>
          <p:cNvSpPr/>
          <p:nvPr/>
        </p:nvSpPr>
        <p:spPr>
          <a:xfrm>
            <a:off x="5519928" y="2880987"/>
            <a:ext cx="28956" cy="30761"/>
          </a:xfrm>
          <a:prstGeom prst="line">
            <a:avLst/>
          </a:prstGeom>
          <a:noFill/>
          <a:ln w="25400">
            <a:solidFill>
              <a:srgbClr val="6E5232"/>
            </a:solidFill>
            <a:prstDash val="solid"/>
          </a:ln>
        </p:spPr>
      </p:sp>
      <p:sp>
        <p:nvSpPr>
          <p:cNvPr id="40" name="Shape 38"/>
          <p:cNvSpPr/>
          <p:nvPr/>
        </p:nvSpPr>
        <p:spPr>
          <a:xfrm>
            <a:off x="5548884" y="2911748"/>
            <a:ext cx="28956" cy="37192"/>
          </a:xfrm>
          <a:prstGeom prst="line">
            <a:avLst/>
          </a:prstGeom>
          <a:noFill/>
          <a:ln w="25400">
            <a:solidFill>
              <a:srgbClr val="6E5232"/>
            </a:solidFill>
            <a:prstDash val="solid"/>
          </a:ln>
        </p:spPr>
      </p:sp>
      <p:sp>
        <p:nvSpPr>
          <p:cNvPr id="41" name="Shape 39"/>
          <p:cNvSpPr/>
          <p:nvPr/>
        </p:nvSpPr>
        <p:spPr>
          <a:xfrm>
            <a:off x="868680" y="2148840"/>
            <a:ext cx="3840480" cy="1600200"/>
          </a:xfrm>
          <a:prstGeom prst="roundRect">
            <a:avLst>
              <a:gd name="adj" fmla="val 50000"/>
            </a:avLst>
          </a:prstGeom>
          <a:solidFill>
            <a:srgbClr val="E7DDF0"/>
          </a:solidFill>
          <a:ln w="50800">
            <a:solidFill>
              <a:srgbClr val="7A5BA6"/>
            </a:solidFill>
            <a:prstDash val="solid"/>
          </a:ln>
        </p:spPr>
      </p:sp>
      <p:sp>
        <p:nvSpPr>
          <p:cNvPr id="42" name="Shape 40"/>
          <p:cNvSpPr/>
          <p:nvPr/>
        </p:nvSpPr>
        <p:spPr>
          <a:xfrm>
            <a:off x="969264" y="2249424"/>
            <a:ext cx="3639312" cy="1399032"/>
          </a:xfrm>
          <a:prstGeom prst="roundRect">
            <a:avLst>
              <a:gd name="adj" fmla="val 50000"/>
            </a:avLst>
          </a:prstGeom>
          <a:solidFill>
            <a:srgbClr val="FBF3DF"/>
          </a:solidFill>
          <a:ln w="19050">
            <a:solidFill>
              <a:srgbClr val="8A6D3B"/>
            </a:solidFill>
            <a:prstDash val="solid"/>
          </a:ln>
        </p:spPr>
      </p:sp>
      <p:sp>
        <p:nvSpPr>
          <p:cNvPr id="43" name="Shape 41"/>
          <p:cNvSpPr/>
          <p:nvPr/>
        </p:nvSpPr>
        <p:spPr>
          <a:xfrm>
            <a:off x="1662363" y="2466532"/>
            <a:ext cx="2045041" cy="972132"/>
          </a:xfrm>
          <a:custGeom>
            <a:avLst/>
            <a:gdLst/>
            <a:ahLst/>
            <a:cxnLst/>
            <a:rect l="l" t="t" r="r" b="b"/>
            <a:pathLst>
              <a:path w="2045041" h="972132">
                <a:moveTo>
                  <a:pt x="1955511" y="482408"/>
                </a:moveTo>
                <a:lnTo>
                  <a:pt x="2012222" y="516473"/>
                </a:lnTo>
                <a:lnTo>
                  <a:pt x="2045041" y="553036"/>
                </a:lnTo>
                <a:lnTo>
                  <a:pt x="2042195" y="588944"/>
                </a:lnTo>
                <a:lnTo>
                  <a:pt x="1999789" y="620428"/>
                </a:lnTo>
                <a:lnTo>
                  <a:pt x="1922856" y="644474"/>
                </a:lnTo>
                <a:lnTo>
                  <a:pt x="1823984" y="660022"/>
                </a:lnTo>
                <a:lnTo>
                  <a:pt x="1719929" y="668587"/>
                </a:lnTo>
                <a:lnTo>
                  <a:pt x="1627209" y="674048"/>
                </a:lnTo>
                <a:lnTo>
                  <a:pt x="1557902" y="681627"/>
                </a:lnTo>
                <a:lnTo>
                  <a:pt x="1516826" y="696334"/>
                </a:lnTo>
                <a:lnTo>
                  <a:pt x="1500819" y="721362"/>
                </a:lnTo>
                <a:lnTo>
                  <a:pt x="1500229" y="756915"/>
                </a:lnTo>
                <a:lnTo>
                  <a:pt x="1502082" y="799879"/>
                </a:lnTo>
                <a:lnTo>
                  <a:pt x="1493927" y="844469"/>
                </a:lnTo>
                <a:lnTo>
                  <a:pt x="1467225" y="883718"/>
                </a:lnTo>
                <a:lnTo>
                  <a:pt x="1419300" y="911397"/>
                </a:lnTo>
                <a:lnTo>
                  <a:pt x="1353389" y="923806"/>
                </a:lnTo>
                <a:lnTo>
                  <a:pt x="1276898" y="920920"/>
                </a:lnTo>
                <a:lnTo>
                  <a:pt x="1198520" y="906514"/>
                </a:lnTo>
                <a:lnTo>
                  <a:pt x="1125211" y="887212"/>
                </a:lnTo>
                <a:lnTo>
                  <a:pt x="1060001" y="870696"/>
                </a:lnTo>
                <a:lnTo>
                  <a:pt x="1001335" y="863582"/>
                </a:lnTo>
                <a:lnTo>
                  <a:pt x="944097" y="869542"/>
                </a:lnTo>
                <a:lnTo>
                  <a:pt x="881944" y="888230"/>
                </a:lnTo>
                <a:lnTo>
                  <a:pt x="810097" y="915305"/>
                </a:lnTo>
                <a:lnTo>
                  <a:pt x="727653" y="943557"/>
                </a:lnTo>
                <a:lnTo>
                  <a:pt x="638549" y="964819"/>
                </a:lnTo>
                <a:lnTo>
                  <a:pt x="550833" y="972132"/>
                </a:lnTo>
                <a:lnTo>
                  <a:pt x="474385" y="961556"/>
                </a:lnTo>
                <a:lnTo>
                  <a:pt x="417793" y="933129"/>
                </a:lnTo>
                <a:lnTo>
                  <a:pt x="385374" y="890736"/>
                </a:lnTo>
                <a:lnTo>
                  <a:pt x="375337" y="840952"/>
                </a:lnTo>
                <a:lnTo>
                  <a:pt x="379757" y="791217"/>
                </a:lnTo>
                <a:lnTo>
                  <a:pt x="386471" y="747881"/>
                </a:lnTo>
                <a:lnTo>
                  <a:pt x="382430" y="714671"/>
                </a:lnTo>
                <a:lnTo>
                  <a:pt x="357545" y="691990"/>
                </a:lnTo>
                <a:lnTo>
                  <a:pt x="307877" y="677209"/>
                </a:lnTo>
                <a:lnTo>
                  <a:pt x="237180" y="665787"/>
                </a:lnTo>
                <a:lnTo>
                  <a:pt x="156253" y="652850"/>
                </a:lnTo>
                <a:lnTo>
                  <a:pt x="80208" y="634717"/>
                </a:lnTo>
                <a:lnTo>
                  <a:pt x="24376" y="609905"/>
                </a:lnTo>
                <a:lnTo>
                  <a:pt x="0" y="579347"/>
                </a:lnTo>
                <a:lnTo>
                  <a:pt x="10946" y="545782"/>
                </a:lnTo>
                <a:lnTo>
                  <a:pt x="52420" y="512580"/>
                </a:lnTo>
                <a:lnTo>
                  <a:pt x="112081" y="482408"/>
                </a:lnTo>
                <a:lnTo>
                  <a:pt x="173282" y="456196"/>
                </a:lnTo>
                <a:lnTo>
                  <a:pt x="219551" y="432775"/>
                </a:lnTo>
                <a:lnTo>
                  <a:pt x="239048" y="409286"/>
                </a:lnTo>
                <a:lnTo>
                  <a:pt x="227770" y="382248"/>
                </a:lnTo>
                <a:lnTo>
                  <a:pt x="190598" y="348932"/>
                </a:lnTo>
                <a:lnTo>
                  <a:pt x="139926" y="308557"/>
                </a:lnTo>
                <a:lnTo>
                  <a:pt x="92277" y="262913"/>
                </a:lnTo>
                <a:lnTo>
                  <a:pt x="63892" y="216141"/>
                </a:lnTo>
                <a:lnTo>
                  <a:pt x="66535" y="173717"/>
                </a:lnTo>
                <a:lnTo>
                  <a:pt x="104676" y="140896"/>
                </a:lnTo>
                <a:lnTo>
                  <a:pt x="174766" y="121102"/>
                </a:lnTo>
                <a:lnTo>
                  <a:pt x="266734" y="114758"/>
                </a:lnTo>
                <a:lnTo>
                  <a:pt x="367152" y="118953"/>
                </a:lnTo>
                <a:lnTo>
                  <a:pt x="463094" y="128091"/>
                </a:lnTo>
                <a:lnTo>
                  <a:pt x="545510" y="135379"/>
                </a:lnTo>
                <a:lnTo>
                  <a:pt x="611193" y="134742"/>
                </a:lnTo>
                <a:lnTo>
                  <a:pt x="662828" y="122619"/>
                </a:lnTo>
                <a:lnTo>
                  <a:pt x="707247" y="99104"/>
                </a:lnTo>
                <a:lnTo>
                  <a:pt x="752554" y="68074"/>
                </a:lnTo>
                <a:lnTo>
                  <a:pt x="805103" y="36231"/>
                </a:lnTo>
                <a:lnTo>
                  <a:pt x="867310" y="11322"/>
                </a:lnTo>
                <a:lnTo>
                  <a:pt x="937000" y="0"/>
                </a:lnTo>
                <a:lnTo>
                  <a:pt x="1008432" y="5960"/>
                </a:lnTo>
                <a:lnTo>
                  <a:pt x="1074635" y="28856"/>
                </a:lnTo>
                <a:lnTo>
                  <a:pt x="1130206" y="64325"/>
                </a:lnTo>
                <a:lnTo>
                  <a:pt x="1173619" y="105117"/>
                </a:lnTo>
                <a:lnTo>
                  <a:pt x="1208200" y="143003"/>
                </a:lnTo>
                <a:lnTo>
                  <a:pt x="1241394" y="170945"/>
                </a:lnTo>
                <a:lnTo>
                  <a:pt x="1282492" y="184901"/>
                </a:lnTo>
                <a:lnTo>
                  <a:pt x="1339508" y="184789"/>
                </a:lnTo>
                <a:lnTo>
                  <a:pt x="1416207" y="174358"/>
                </a:lnTo>
                <a:lnTo>
                  <a:pt x="1510266" y="160025"/>
                </a:lnTo>
                <a:lnTo>
                  <a:pt x="1613253" y="149060"/>
                </a:lnTo>
                <a:lnTo>
                  <a:pt x="1712524" y="147622"/>
                </a:lnTo>
                <a:lnTo>
                  <a:pt x="1794580" y="159233"/>
                </a:lnTo>
                <a:lnTo>
                  <a:pt x="1848912" y="184080"/>
                </a:lnTo>
                <a:lnTo>
                  <a:pt x="1871195" y="219301"/>
                </a:lnTo>
                <a:lnTo>
                  <a:pt x="1864833" y="260113"/>
                </a:lnTo>
                <a:lnTo>
                  <a:pt x="1840310" y="301386"/>
                </a:lnTo>
                <a:lnTo>
                  <a:pt x="1812466" y="339175"/>
                </a:lnTo>
                <a:lnTo>
                  <a:pt x="1796395" y="371725"/>
                </a:lnTo>
                <a:lnTo>
                  <a:pt x="1803147" y="399689"/>
                </a:lnTo>
                <a:lnTo>
                  <a:pt x="1836436" y="425522"/>
                </a:lnTo>
                <a:lnTo>
                  <a:pt x="1891360" y="452303"/>
                </a:lnTo>
                <a:close/>
              </a:path>
            </a:pathLst>
          </a:custGeom>
          <a:ln w="25400">
            <a:solidFill>
              <a:srgbClr val="6A4C93"/>
            </a:solidFill>
            <a:prstDash val="solid"/>
          </a:ln>
        </p:spPr>
      </p:sp>
      <p:sp>
        <p:nvSpPr>
          <p:cNvPr id="44" name="Shape 42"/>
          <p:cNvSpPr/>
          <p:nvPr/>
        </p:nvSpPr>
        <p:spPr>
          <a:xfrm>
            <a:off x="3946550" y="2519172"/>
            <a:ext cx="219456" cy="219456"/>
          </a:xfrm>
          <a:prstGeom prst="ellipse">
            <a:avLst/>
          </a:prstGeom>
          <a:ln w="25400">
            <a:solidFill>
              <a:srgbClr val="C8414C"/>
            </a:solidFill>
            <a:prstDash val="solid"/>
          </a:ln>
        </p:spPr>
      </p:sp>
      <p:sp>
        <p:nvSpPr>
          <p:cNvPr id="45" name="Shape 43"/>
          <p:cNvSpPr/>
          <p:nvPr/>
        </p:nvSpPr>
        <p:spPr>
          <a:xfrm>
            <a:off x="3858768" y="3186684"/>
            <a:ext cx="164592" cy="164592"/>
          </a:xfrm>
          <a:prstGeom prst="ellipse">
            <a:avLst/>
          </a:prstGeom>
          <a:ln w="25400">
            <a:solidFill>
              <a:srgbClr val="C8414C"/>
            </a:solidFill>
            <a:prstDash val="solid"/>
          </a:ln>
        </p:spPr>
      </p:sp>
      <p:sp>
        <p:nvSpPr>
          <p:cNvPr id="46" name="Shape 44"/>
          <p:cNvSpPr/>
          <p:nvPr/>
        </p:nvSpPr>
        <p:spPr>
          <a:xfrm>
            <a:off x="1314907" y="2633472"/>
            <a:ext cx="182880" cy="182880"/>
          </a:xfrm>
          <a:prstGeom prst="ellipse">
            <a:avLst/>
          </a:prstGeom>
          <a:ln w="25400">
            <a:solidFill>
              <a:srgbClr val="C8414C"/>
            </a:solidFill>
            <a:prstDash val="solid"/>
          </a:ln>
        </p:spPr>
      </p:sp>
      <p:sp>
        <p:nvSpPr>
          <p:cNvPr id="47" name="Shape 45"/>
          <p:cNvSpPr/>
          <p:nvPr/>
        </p:nvSpPr>
        <p:spPr>
          <a:xfrm>
            <a:off x="4135877" y="2414637"/>
            <a:ext cx="43891" cy="43891"/>
          </a:xfrm>
          <a:prstGeom prst="ellipse">
            <a:avLst/>
          </a:prstGeom>
          <a:solidFill>
            <a:srgbClr val="3F2A5C"/>
          </a:solidFill>
          <a:ln w="3175">
            <a:solidFill>
              <a:srgbClr val="3F2A5C"/>
            </a:solidFill>
            <a:prstDash val="solid"/>
          </a:ln>
        </p:spPr>
      </p:sp>
      <p:sp>
        <p:nvSpPr>
          <p:cNvPr id="48" name="Shape 46"/>
          <p:cNvSpPr/>
          <p:nvPr/>
        </p:nvSpPr>
        <p:spPr>
          <a:xfrm>
            <a:off x="1409694" y="3202436"/>
            <a:ext cx="43891" cy="43891"/>
          </a:xfrm>
          <a:prstGeom prst="ellipse">
            <a:avLst/>
          </a:prstGeom>
          <a:solidFill>
            <a:srgbClr val="3F2A5C"/>
          </a:solidFill>
          <a:ln w="3175">
            <a:solidFill>
              <a:srgbClr val="3F2A5C"/>
            </a:solidFill>
            <a:prstDash val="solid"/>
          </a:ln>
        </p:spPr>
      </p:sp>
      <p:sp>
        <p:nvSpPr>
          <p:cNvPr id="49" name="Shape 47"/>
          <p:cNvSpPr/>
          <p:nvPr/>
        </p:nvSpPr>
        <p:spPr>
          <a:xfrm>
            <a:off x="4110157" y="2323470"/>
            <a:ext cx="43891" cy="43891"/>
          </a:xfrm>
          <a:prstGeom prst="ellipse">
            <a:avLst/>
          </a:prstGeom>
          <a:solidFill>
            <a:srgbClr val="3F2A5C"/>
          </a:solidFill>
          <a:ln w="3175">
            <a:solidFill>
              <a:srgbClr val="3F2A5C"/>
            </a:solidFill>
            <a:prstDash val="solid"/>
          </a:ln>
        </p:spPr>
      </p:sp>
      <p:sp>
        <p:nvSpPr>
          <p:cNvPr id="50" name="Shape 48"/>
          <p:cNvSpPr/>
          <p:nvPr/>
        </p:nvSpPr>
        <p:spPr>
          <a:xfrm>
            <a:off x="4044495" y="3399344"/>
            <a:ext cx="43891" cy="43891"/>
          </a:xfrm>
          <a:prstGeom prst="ellipse">
            <a:avLst/>
          </a:prstGeom>
          <a:solidFill>
            <a:srgbClr val="3F2A5C"/>
          </a:solidFill>
          <a:ln w="3175">
            <a:solidFill>
              <a:srgbClr val="3F2A5C"/>
            </a:solidFill>
            <a:prstDash val="solid"/>
          </a:ln>
        </p:spPr>
      </p:sp>
      <p:sp>
        <p:nvSpPr>
          <p:cNvPr id="51" name="Shape 49"/>
          <p:cNvSpPr/>
          <p:nvPr/>
        </p:nvSpPr>
        <p:spPr>
          <a:xfrm>
            <a:off x="3180077" y="3516232"/>
            <a:ext cx="43891" cy="43891"/>
          </a:xfrm>
          <a:prstGeom prst="ellipse">
            <a:avLst/>
          </a:prstGeom>
          <a:solidFill>
            <a:srgbClr val="3F2A5C"/>
          </a:solidFill>
          <a:ln w="3175">
            <a:solidFill>
              <a:srgbClr val="3F2A5C"/>
            </a:solidFill>
            <a:prstDash val="solid"/>
          </a:ln>
        </p:spPr>
      </p:sp>
      <p:sp>
        <p:nvSpPr>
          <p:cNvPr id="52" name="Shape 50"/>
          <p:cNvSpPr/>
          <p:nvPr/>
        </p:nvSpPr>
        <p:spPr>
          <a:xfrm>
            <a:off x="2048130" y="2321580"/>
            <a:ext cx="43891" cy="43891"/>
          </a:xfrm>
          <a:prstGeom prst="ellipse">
            <a:avLst/>
          </a:prstGeom>
          <a:solidFill>
            <a:srgbClr val="3F2A5C"/>
          </a:solidFill>
          <a:ln w="3175">
            <a:solidFill>
              <a:srgbClr val="3F2A5C"/>
            </a:solidFill>
            <a:prstDash val="solid"/>
          </a:ln>
        </p:spPr>
      </p:sp>
      <p:sp>
        <p:nvSpPr>
          <p:cNvPr id="53" name="Shape 51"/>
          <p:cNvSpPr/>
          <p:nvPr/>
        </p:nvSpPr>
        <p:spPr>
          <a:xfrm>
            <a:off x="3940928" y="3004112"/>
            <a:ext cx="43891" cy="43891"/>
          </a:xfrm>
          <a:prstGeom prst="ellipse">
            <a:avLst/>
          </a:prstGeom>
          <a:solidFill>
            <a:srgbClr val="3F2A5C"/>
          </a:solidFill>
          <a:ln w="3175">
            <a:solidFill>
              <a:srgbClr val="3F2A5C"/>
            </a:solidFill>
            <a:prstDash val="solid"/>
          </a:ln>
        </p:spPr>
      </p:sp>
      <p:sp>
        <p:nvSpPr>
          <p:cNvPr id="54" name="Shape 52"/>
          <p:cNvSpPr/>
          <p:nvPr/>
        </p:nvSpPr>
        <p:spPr>
          <a:xfrm>
            <a:off x="4081099" y="2877204"/>
            <a:ext cx="43891" cy="43891"/>
          </a:xfrm>
          <a:prstGeom prst="ellipse">
            <a:avLst/>
          </a:prstGeom>
          <a:solidFill>
            <a:srgbClr val="3F2A5C"/>
          </a:solidFill>
          <a:ln w="3175">
            <a:solidFill>
              <a:srgbClr val="3F2A5C"/>
            </a:solidFill>
            <a:prstDash val="solid"/>
          </a:ln>
        </p:spPr>
      </p:sp>
      <p:sp>
        <p:nvSpPr>
          <p:cNvPr id="55" name="Shape 53"/>
          <p:cNvSpPr/>
          <p:nvPr/>
        </p:nvSpPr>
        <p:spPr>
          <a:xfrm>
            <a:off x="4018639" y="2307892"/>
            <a:ext cx="43891" cy="43891"/>
          </a:xfrm>
          <a:prstGeom prst="ellipse">
            <a:avLst/>
          </a:prstGeom>
          <a:solidFill>
            <a:srgbClr val="3F2A5C"/>
          </a:solidFill>
          <a:ln w="3175">
            <a:solidFill>
              <a:srgbClr val="3F2A5C"/>
            </a:solidFill>
            <a:prstDash val="solid"/>
          </a:ln>
        </p:spPr>
      </p:sp>
      <p:sp>
        <p:nvSpPr>
          <p:cNvPr id="56" name="Shape 54"/>
          <p:cNvSpPr/>
          <p:nvPr/>
        </p:nvSpPr>
        <p:spPr>
          <a:xfrm>
            <a:off x="3959279" y="3099076"/>
            <a:ext cx="43891" cy="43891"/>
          </a:xfrm>
          <a:prstGeom prst="ellipse">
            <a:avLst/>
          </a:prstGeom>
          <a:solidFill>
            <a:srgbClr val="3F2A5C"/>
          </a:solidFill>
          <a:ln w="3175">
            <a:solidFill>
              <a:srgbClr val="3F2A5C"/>
            </a:solidFill>
            <a:prstDash val="solid"/>
          </a:ln>
        </p:spPr>
      </p:sp>
      <p:sp>
        <p:nvSpPr>
          <p:cNvPr id="57" name="Shape 55"/>
          <p:cNvSpPr/>
          <p:nvPr/>
        </p:nvSpPr>
        <p:spPr>
          <a:xfrm>
            <a:off x="3893370" y="2372525"/>
            <a:ext cx="43891" cy="43891"/>
          </a:xfrm>
          <a:prstGeom prst="ellipse">
            <a:avLst/>
          </a:prstGeom>
          <a:solidFill>
            <a:srgbClr val="3F2A5C"/>
          </a:solidFill>
          <a:ln w="3175">
            <a:solidFill>
              <a:srgbClr val="3F2A5C"/>
            </a:solidFill>
            <a:prstDash val="solid"/>
          </a:ln>
        </p:spPr>
      </p:sp>
      <p:sp>
        <p:nvSpPr>
          <p:cNvPr id="58" name="Shape 56"/>
          <p:cNvSpPr/>
          <p:nvPr/>
        </p:nvSpPr>
        <p:spPr>
          <a:xfrm>
            <a:off x="2492689" y="2345123"/>
            <a:ext cx="43891" cy="43891"/>
          </a:xfrm>
          <a:prstGeom prst="ellipse">
            <a:avLst/>
          </a:prstGeom>
          <a:solidFill>
            <a:srgbClr val="3F2A5C"/>
          </a:solidFill>
          <a:ln w="3175">
            <a:solidFill>
              <a:srgbClr val="3F2A5C"/>
            </a:solidFill>
            <a:prstDash val="solid"/>
          </a:ln>
        </p:spPr>
      </p:sp>
      <p:sp>
        <p:nvSpPr>
          <p:cNvPr id="59" name="Shape 57"/>
          <p:cNvSpPr/>
          <p:nvPr/>
        </p:nvSpPr>
        <p:spPr>
          <a:xfrm>
            <a:off x="4180869" y="3082054"/>
            <a:ext cx="43891" cy="43891"/>
          </a:xfrm>
          <a:prstGeom prst="ellipse">
            <a:avLst/>
          </a:prstGeom>
          <a:solidFill>
            <a:srgbClr val="3F2A5C"/>
          </a:solidFill>
          <a:ln w="3175">
            <a:solidFill>
              <a:srgbClr val="3F2A5C"/>
            </a:solidFill>
            <a:prstDash val="solid"/>
          </a:ln>
        </p:spPr>
      </p:sp>
      <p:sp>
        <p:nvSpPr>
          <p:cNvPr id="60" name="Shape 58"/>
          <p:cNvSpPr/>
          <p:nvPr/>
        </p:nvSpPr>
        <p:spPr>
          <a:xfrm>
            <a:off x="2047438" y="3526950"/>
            <a:ext cx="43891" cy="43891"/>
          </a:xfrm>
          <a:prstGeom prst="ellipse">
            <a:avLst/>
          </a:prstGeom>
          <a:solidFill>
            <a:srgbClr val="3F2A5C"/>
          </a:solidFill>
          <a:ln w="3175">
            <a:solidFill>
              <a:srgbClr val="3F2A5C"/>
            </a:solidFill>
            <a:prstDash val="solid"/>
          </a:ln>
        </p:spPr>
      </p:sp>
      <p:sp>
        <p:nvSpPr>
          <p:cNvPr id="61" name="Shape 59"/>
          <p:cNvSpPr/>
          <p:nvPr/>
        </p:nvSpPr>
        <p:spPr>
          <a:xfrm>
            <a:off x="3889483" y="2772501"/>
            <a:ext cx="43891" cy="43891"/>
          </a:xfrm>
          <a:prstGeom prst="ellipse">
            <a:avLst/>
          </a:prstGeom>
          <a:solidFill>
            <a:srgbClr val="3F2A5C"/>
          </a:solidFill>
          <a:ln w="3175">
            <a:solidFill>
              <a:srgbClr val="3F2A5C"/>
            </a:solidFill>
            <a:prstDash val="solid"/>
          </a:ln>
        </p:spPr>
      </p:sp>
      <p:sp>
        <p:nvSpPr>
          <p:cNvPr id="62" name="Shape 60"/>
          <p:cNvSpPr/>
          <p:nvPr/>
        </p:nvSpPr>
        <p:spPr>
          <a:xfrm>
            <a:off x="3805552" y="3097373"/>
            <a:ext cx="43891" cy="43891"/>
          </a:xfrm>
          <a:prstGeom prst="ellipse">
            <a:avLst/>
          </a:prstGeom>
          <a:solidFill>
            <a:srgbClr val="3F2A5C"/>
          </a:solidFill>
          <a:ln w="3175">
            <a:solidFill>
              <a:srgbClr val="3F2A5C"/>
            </a:solidFill>
            <a:prstDash val="solid"/>
          </a:ln>
        </p:spPr>
      </p:sp>
      <p:sp>
        <p:nvSpPr>
          <p:cNvPr id="63" name="Shape 61"/>
          <p:cNvSpPr/>
          <p:nvPr/>
        </p:nvSpPr>
        <p:spPr>
          <a:xfrm>
            <a:off x="3050686" y="3515118"/>
            <a:ext cx="43891" cy="43891"/>
          </a:xfrm>
          <a:prstGeom prst="ellipse">
            <a:avLst/>
          </a:prstGeom>
          <a:solidFill>
            <a:srgbClr val="3F2A5C"/>
          </a:solidFill>
          <a:ln w="3175">
            <a:solidFill>
              <a:srgbClr val="3F2A5C"/>
            </a:solidFill>
            <a:prstDash val="solid"/>
          </a:ln>
        </p:spPr>
      </p:sp>
      <p:sp>
        <p:nvSpPr>
          <p:cNvPr id="64" name="Shape 62"/>
          <p:cNvSpPr/>
          <p:nvPr/>
        </p:nvSpPr>
        <p:spPr>
          <a:xfrm>
            <a:off x="4098280" y="3193453"/>
            <a:ext cx="43891" cy="43891"/>
          </a:xfrm>
          <a:prstGeom prst="ellipse">
            <a:avLst/>
          </a:prstGeom>
          <a:solidFill>
            <a:srgbClr val="3F2A5C"/>
          </a:solidFill>
          <a:ln w="3175">
            <a:solidFill>
              <a:srgbClr val="3F2A5C"/>
            </a:solidFill>
            <a:prstDash val="solid"/>
          </a:ln>
        </p:spPr>
      </p:sp>
      <p:sp>
        <p:nvSpPr>
          <p:cNvPr id="65" name="Shape 63"/>
          <p:cNvSpPr/>
          <p:nvPr/>
        </p:nvSpPr>
        <p:spPr>
          <a:xfrm>
            <a:off x="1343392" y="3360063"/>
            <a:ext cx="43891" cy="43891"/>
          </a:xfrm>
          <a:prstGeom prst="ellipse">
            <a:avLst/>
          </a:prstGeom>
          <a:solidFill>
            <a:srgbClr val="3F2A5C"/>
          </a:solidFill>
          <a:ln w="3175">
            <a:solidFill>
              <a:srgbClr val="3F2A5C"/>
            </a:solidFill>
            <a:prstDash val="solid"/>
          </a:ln>
        </p:spPr>
      </p:sp>
      <p:sp>
        <p:nvSpPr>
          <p:cNvPr id="66" name="Shape 64"/>
          <p:cNvSpPr/>
          <p:nvPr/>
        </p:nvSpPr>
        <p:spPr>
          <a:xfrm>
            <a:off x="1533483" y="2345853"/>
            <a:ext cx="43891" cy="43891"/>
          </a:xfrm>
          <a:prstGeom prst="ellipse">
            <a:avLst/>
          </a:prstGeom>
          <a:solidFill>
            <a:srgbClr val="3F2A5C"/>
          </a:solidFill>
          <a:ln w="3175">
            <a:solidFill>
              <a:srgbClr val="3F2A5C"/>
            </a:solidFill>
            <a:prstDash val="solid"/>
          </a:ln>
        </p:spPr>
      </p:sp>
      <p:sp>
        <p:nvSpPr>
          <p:cNvPr id="67" name="Shape 65"/>
          <p:cNvSpPr/>
          <p:nvPr/>
        </p:nvSpPr>
        <p:spPr>
          <a:xfrm>
            <a:off x="2756612" y="2341909"/>
            <a:ext cx="43891" cy="43891"/>
          </a:xfrm>
          <a:prstGeom prst="ellipse">
            <a:avLst/>
          </a:prstGeom>
          <a:solidFill>
            <a:srgbClr val="3F2A5C"/>
          </a:solidFill>
          <a:ln w="3175">
            <a:solidFill>
              <a:srgbClr val="3F2A5C"/>
            </a:solidFill>
            <a:prstDash val="solid"/>
          </a:ln>
        </p:spPr>
      </p:sp>
      <p:sp>
        <p:nvSpPr>
          <p:cNvPr id="68" name="Shape 66"/>
          <p:cNvSpPr/>
          <p:nvPr/>
        </p:nvSpPr>
        <p:spPr>
          <a:xfrm>
            <a:off x="1409990" y="2859880"/>
            <a:ext cx="43891" cy="43891"/>
          </a:xfrm>
          <a:prstGeom prst="ellipse">
            <a:avLst/>
          </a:prstGeom>
          <a:solidFill>
            <a:srgbClr val="3F2A5C"/>
          </a:solidFill>
          <a:ln w="3175">
            <a:solidFill>
              <a:srgbClr val="3F2A5C"/>
            </a:solidFill>
            <a:prstDash val="solid"/>
          </a:ln>
        </p:spPr>
      </p:sp>
      <p:sp>
        <p:nvSpPr>
          <p:cNvPr id="69" name="Shape 67"/>
          <p:cNvSpPr/>
          <p:nvPr/>
        </p:nvSpPr>
        <p:spPr>
          <a:xfrm>
            <a:off x="4072277" y="3538807"/>
            <a:ext cx="43891" cy="43891"/>
          </a:xfrm>
          <a:prstGeom prst="ellipse">
            <a:avLst/>
          </a:prstGeom>
          <a:solidFill>
            <a:srgbClr val="3F2A5C"/>
          </a:solidFill>
          <a:ln w="3175">
            <a:solidFill>
              <a:srgbClr val="3F2A5C"/>
            </a:solidFill>
            <a:prstDash val="solid"/>
          </a:ln>
        </p:spPr>
      </p:sp>
      <p:sp>
        <p:nvSpPr>
          <p:cNvPr id="70" name="Shape 68"/>
          <p:cNvSpPr/>
          <p:nvPr/>
        </p:nvSpPr>
        <p:spPr>
          <a:xfrm>
            <a:off x="4170456" y="3380186"/>
            <a:ext cx="43891" cy="43891"/>
          </a:xfrm>
          <a:prstGeom prst="ellipse">
            <a:avLst/>
          </a:prstGeom>
          <a:solidFill>
            <a:srgbClr val="3F2A5C"/>
          </a:solidFill>
          <a:ln w="3175">
            <a:solidFill>
              <a:srgbClr val="3F2A5C"/>
            </a:solidFill>
            <a:prstDash val="solid"/>
          </a:ln>
        </p:spPr>
      </p:sp>
      <p:sp>
        <p:nvSpPr>
          <p:cNvPr id="71" name="Shape 69"/>
          <p:cNvSpPr/>
          <p:nvPr/>
        </p:nvSpPr>
        <p:spPr>
          <a:xfrm>
            <a:off x="3966452" y="2918460"/>
            <a:ext cx="43891" cy="43891"/>
          </a:xfrm>
          <a:prstGeom prst="ellipse">
            <a:avLst/>
          </a:prstGeom>
          <a:solidFill>
            <a:srgbClr val="3F2A5C"/>
          </a:solidFill>
          <a:ln w="3175">
            <a:solidFill>
              <a:srgbClr val="3F2A5C"/>
            </a:solidFill>
            <a:prstDash val="solid"/>
          </a:ln>
        </p:spPr>
      </p:sp>
      <p:sp>
        <p:nvSpPr>
          <p:cNvPr id="72" name="Shape 70"/>
          <p:cNvSpPr/>
          <p:nvPr/>
        </p:nvSpPr>
        <p:spPr>
          <a:xfrm>
            <a:off x="4194470" y="3536323"/>
            <a:ext cx="43891" cy="43891"/>
          </a:xfrm>
          <a:prstGeom prst="ellipse">
            <a:avLst/>
          </a:prstGeom>
          <a:solidFill>
            <a:srgbClr val="3F2A5C"/>
          </a:solidFill>
          <a:ln w="3175">
            <a:solidFill>
              <a:srgbClr val="3F2A5C"/>
            </a:solidFill>
            <a:prstDash val="solid"/>
          </a:ln>
        </p:spPr>
      </p:sp>
      <p:sp>
        <p:nvSpPr>
          <p:cNvPr id="73" name="Shape 71"/>
          <p:cNvSpPr/>
          <p:nvPr/>
        </p:nvSpPr>
        <p:spPr>
          <a:xfrm>
            <a:off x="2312052" y="2319170"/>
            <a:ext cx="43891" cy="43891"/>
          </a:xfrm>
          <a:prstGeom prst="ellipse">
            <a:avLst/>
          </a:prstGeom>
          <a:solidFill>
            <a:srgbClr val="3F2A5C"/>
          </a:solidFill>
          <a:ln w="3175">
            <a:solidFill>
              <a:srgbClr val="3F2A5C"/>
            </a:solidFill>
            <a:prstDash val="solid"/>
          </a:ln>
        </p:spPr>
      </p:sp>
      <p:sp>
        <p:nvSpPr>
          <p:cNvPr id="74" name="Shape 72"/>
          <p:cNvSpPr/>
          <p:nvPr/>
        </p:nvSpPr>
        <p:spPr>
          <a:xfrm>
            <a:off x="1412160" y="2440243"/>
            <a:ext cx="43891" cy="43891"/>
          </a:xfrm>
          <a:prstGeom prst="ellipse">
            <a:avLst/>
          </a:prstGeom>
          <a:solidFill>
            <a:srgbClr val="3F2A5C"/>
          </a:solidFill>
          <a:ln w="3175">
            <a:solidFill>
              <a:srgbClr val="3F2A5C"/>
            </a:solidFill>
            <a:prstDash val="solid"/>
          </a:ln>
        </p:spPr>
      </p:sp>
      <p:sp>
        <p:nvSpPr>
          <p:cNvPr id="75" name="Shape 73"/>
          <p:cNvSpPr/>
          <p:nvPr/>
        </p:nvSpPr>
        <p:spPr>
          <a:xfrm>
            <a:off x="2387625" y="3529323"/>
            <a:ext cx="43891" cy="43891"/>
          </a:xfrm>
          <a:prstGeom prst="ellipse">
            <a:avLst/>
          </a:prstGeom>
          <a:solidFill>
            <a:srgbClr val="3F2A5C"/>
          </a:solidFill>
          <a:ln w="3175">
            <a:solidFill>
              <a:srgbClr val="3F2A5C"/>
            </a:solidFill>
            <a:prstDash val="solid"/>
          </a:ln>
        </p:spPr>
      </p:sp>
      <p:sp>
        <p:nvSpPr>
          <p:cNvPr id="76" name="Shape 74"/>
          <p:cNvSpPr/>
          <p:nvPr/>
        </p:nvSpPr>
        <p:spPr>
          <a:xfrm>
            <a:off x="2869722" y="2348866"/>
            <a:ext cx="43891" cy="43891"/>
          </a:xfrm>
          <a:prstGeom prst="ellipse">
            <a:avLst/>
          </a:prstGeom>
          <a:solidFill>
            <a:srgbClr val="3F2A5C"/>
          </a:solidFill>
          <a:ln w="3175">
            <a:solidFill>
              <a:srgbClr val="3F2A5C"/>
            </a:solidFill>
            <a:prstDash val="solid"/>
          </a:ln>
        </p:spPr>
      </p:sp>
      <p:sp>
        <p:nvSpPr>
          <p:cNvPr id="77" name="Shape 75"/>
          <p:cNvSpPr/>
          <p:nvPr/>
        </p:nvSpPr>
        <p:spPr>
          <a:xfrm flipH="1" flipV="1">
            <a:off x="822960" y="1783080"/>
            <a:ext cx="1197864" cy="365760"/>
          </a:xfrm>
          <a:prstGeom prst="line">
            <a:avLst/>
          </a:prstGeom>
          <a:noFill/>
          <a:ln w="11430">
            <a:solidFill>
              <a:srgbClr val="4A5262"/>
            </a:solidFill>
            <a:prstDash val="solid"/>
          </a:ln>
        </p:spPr>
      </p:sp>
      <p:sp>
        <p:nvSpPr>
          <p:cNvPr id="78" name="Shape 76"/>
          <p:cNvSpPr/>
          <p:nvPr/>
        </p:nvSpPr>
        <p:spPr>
          <a:xfrm>
            <a:off x="2000707" y="2128723"/>
            <a:ext cx="40234" cy="40234"/>
          </a:xfrm>
          <a:prstGeom prst="ellipse">
            <a:avLst/>
          </a:prstGeom>
          <a:solidFill>
            <a:srgbClr val="4A5262"/>
          </a:solidFill>
          <a:ln w="3175">
            <a:solidFill>
              <a:srgbClr val="4A5262"/>
            </a:solidFill>
            <a:prstDash val="solid"/>
          </a:ln>
        </p:spPr>
      </p:sp>
      <p:sp>
        <p:nvSpPr>
          <p:cNvPr id="79" name="Text 77"/>
          <p:cNvSpPr/>
          <p:nvPr/>
        </p:nvSpPr>
        <p:spPr>
          <a:xfrm>
            <a:off x="868680" y="1664208"/>
            <a:ext cx="100584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cell wall</a:t>
            </a:r>
            <a:endParaRPr lang="en-US" sz="1050" dirty="0"/>
          </a:p>
        </p:txBody>
      </p:sp>
      <p:sp>
        <p:nvSpPr>
          <p:cNvPr id="80" name="Shape 78"/>
          <p:cNvSpPr/>
          <p:nvPr/>
        </p:nvSpPr>
        <p:spPr>
          <a:xfrm flipH="1" flipV="1">
            <a:off x="2377440" y="1783080"/>
            <a:ext cx="872338" cy="493776"/>
          </a:xfrm>
          <a:prstGeom prst="line">
            <a:avLst/>
          </a:prstGeom>
          <a:noFill/>
          <a:ln w="11430">
            <a:solidFill>
              <a:srgbClr val="4A5262"/>
            </a:solidFill>
            <a:prstDash val="solid"/>
          </a:ln>
        </p:spPr>
      </p:sp>
      <p:sp>
        <p:nvSpPr>
          <p:cNvPr id="81" name="Shape 79"/>
          <p:cNvSpPr/>
          <p:nvPr/>
        </p:nvSpPr>
        <p:spPr>
          <a:xfrm>
            <a:off x="3229661" y="2256739"/>
            <a:ext cx="40234" cy="40234"/>
          </a:xfrm>
          <a:prstGeom prst="ellipse">
            <a:avLst/>
          </a:prstGeom>
          <a:solidFill>
            <a:srgbClr val="4A5262"/>
          </a:solidFill>
          <a:ln w="3175">
            <a:solidFill>
              <a:srgbClr val="4A5262"/>
            </a:solidFill>
            <a:prstDash val="solid"/>
          </a:ln>
        </p:spPr>
      </p:sp>
      <p:sp>
        <p:nvSpPr>
          <p:cNvPr id="82" name="Text 80"/>
          <p:cNvSpPr/>
          <p:nvPr/>
        </p:nvSpPr>
        <p:spPr>
          <a:xfrm>
            <a:off x="2423160" y="1664208"/>
            <a:ext cx="128016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cell membrane</a:t>
            </a:r>
            <a:endParaRPr lang="en-US" sz="1050" dirty="0"/>
          </a:p>
        </p:txBody>
      </p:sp>
      <p:sp>
        <p:nvSpPr>
          <p:cNvPr id="83" name="Shape 81"/>
          <p:cNvSpPr/>
          <p:nvPr/>
        </p:nvSpPr>
        <p:spPr>
          <a:xfrm flipV="1">
            <a:off x="4111142" y="1783080"/>
            <a:ext cx="140818" cy="754380"/>
          </a:xfrm>
          <a:prstGeom prst="line">
            <a:avLst/>
          </a:prstGeom>
          <a:noFill/>
          <a:ln w="11430">
            <a:solidFill>
              <a:srgbClr val="4A5262"/>
            </a:solidFill>
            <a:prstDash val="solid"/>
          </a:ln>
        </p:spPr>
      </p:sp>
      <p:sp>
        <p:nvSpPr>
          <p:cNvPr id="84" name="Shape 82"/>
          <p:cNvSpPr/>
          <p:nvPr/>
        </p:nvSpPr>
        <p:spPr>
          <a:xfrm>
            <a:off x="4091026" y="2517343"/>
            <a:ext cx="40234" cy="40234"/>
          </a:xfrm>
          <a:prstGeom prst="ellipse">
            <a:avLst/>
          </a:prstGeom>
          <a:solidFill>
            <a:srgbClr val="4A5262"/>
          </a:solidFill>
          <a:ln w="3175">
            <a:solidFill>
              <a:srgbClr val="4A5262"/>
            </a:solidFill>
            <a:prstDash val="solid"/>
          </a:ln>
        </p:spPr>
      </p:sp>
      <p:sp>
        <p:nvSpPr>
          <p:cNvPr id="85" name="Text 83"/>
          <p:cNvSpPr/>
          <p:nvPr/>
        </p:nvSpPr>
        <p:spPr>
          <a:xfrm>
            <a:off x="4297680" y="1664208"/>
            <a:ext cx="1097280" cy="237744"/>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plasmids</a:t>
            </a:r>
            <a:endParaRPr lang="en-US" sz="1050" dirty="0"/>
          </a:p>
        </p:txBody>
      </p:sp>
      <p:sp>
        <p:nvSpPr>
          <p:cNvPr id="86" name="Shape 84"/>
          <p:cNvSpPr/>
          <p:nvPr/>
        </p:nvSpPr>
        <p:spPr>
          <a:xfrm flipH="1">
            <a:off x="2606040" y="3146908"/>
            <a:ext cx="676656" cy="894740"/>
          </a:xfrm>
          <a:prstGeom prst="line">
            <a:avLst/>
          </a:prstGeom>
          <a:noFill/>
          <a:ln w="11430">
            <a:solidFill>
              <a:srgbClr val="4A5262"/>
            </a:solidFill>
            <a:prstDash val="solid"/>
          </a:ln>
        </p:spPr>
      </p:sp>
      <p:sp>
        <p:nvSpPr>
          <p:cNvPr id="87" name="Shape 85"/>
          <p:cNvSpPr/>
          <p:nvPr/>
        </p:nvSpPr>
        <p:spPr>
          <a:xfrm>
            <a:off x="3262579" y="3126791"/>
            <a:ext cx="40234" cy="40234"/>
          </a:xfrm>
          <a:prstGeom prst="ellipse">
            <a:avLst/>
          </a:prstGeom>
          <a:solidFill>
            <a:srgbClr val="4A5262"/>
          </a:solidFill>
          <a:ln w="3175">
            <a:solidFill>
              <a:srgbClr val="4A5262"/>
            </a:solidFill>
            <a:prstDash val="solid"/>
          </a:ln>
        </p:spPr>
      </p:sp>
      <p:sp>
        <p:nvSpPr>
          <p:cNvPr id="88" name="Text 86"/>
          <p:cNvSpPr/>
          <p:nvPr/>
        </p:nvSpPr>
        <p:spPr>
          <a:xfrm>
            <a:off x="1600200" y="4059936"/>
            <a:ext cx="2011680" cy="237744"/>
          </a:xfrm>
          <a:prstGeom prst="rect">
            <a:avLst/>
          </a:prstGeom>
          <a:noFill/>
          <a:ln/>
        </p:spPr>
        <p:txBody>
          <a:bodyPr wrap="square" lIns="0" tIns="0" rIns="0" bIns="0" rtlCol="0" anchor="ctr"/>
          <a:lstStyle/>
          <a:p>
            <a:pPr algn="ctr" indent="0" marL="0">
              <a:buNone/>
            </a:pPr>
            <a:r>
              <a:rPr lang="en-US" sz="1050" b="1" dirty="0">
                <a:solidFill>
                  <a:srgbClr val="6A4C93"/>
                </a:solidFill>
                <a:latin typeface="Calibri" pitchFamily="34" charset="0"/>
                <a:ea typeface="Calibri" pitchFamily="34" charset="-122"/>
                <a:cs typeface="Calibri" pitchFamily="34" charset="-120"/>
              </a:rPr>
              <a:t>DNA loop (chromosomal DNA)</a:t>
            </a:r>
            <a:endParaRPr lang="en-US" sz="1050" dirty="0"/>
          </a:p>
        </p:txBody>
      </p:sp>
      <p:sp>
        <p:nvSpPr>
          <p:cNvPr id="89" name="Shape 87"/>
          <p:cNvSpPr/>
          <p:nvPr/>
        </p:nvSpPr>
        <p:spPr>
          <a:xfrm flipH="1">
            <a:off x="1097280" y="3382008"/>
            <a:ext cx="268057" cy="659640"/>
          </a:xfrm>
          <a:prstGeom prst="line">
            <a:avLst/>
          </a:prstGeom>
          <a:noFill/>
          <a:ln w="11430">
            <a:solidFill>
              <a:srgbClr val="4A5262"/>
            </a:solidFill>
            <a:prstDash val="solid"/>
          </a:ln>
        </p:spPr>
      </p:sp>
      <p:sp>
        <p:nvSpPr>
          <p:cNvPr id="90" name="Shape 88"/>
          <p:cNvSpPr/>
          <p:nvPr/>
        </p:nvSpPr>
        <p:spPr>
          <a:xfrm>
            <a:off x="1345220" y="3361892"/>
            <a:ext cx="40234" cy="40234"/>
          </a:xfrm>
          <a:prstGeom prst="ellipse">
            <a:avLst/>
          </a:prstGeom>
          <a:solidFill>
            <a:srgbClr val="4A5262"/>
          </a:solidFill>
          <a:ln w="3175">
            <a:solidFill>
              <a:srgbClr val="4A5262"/>
            </a:solidFill>
            <a:prstDash val="solid"/>
          </a:ln>
        </p:spPr>
      </p:sp>
      <p:sp>
        <p:nvSpPr>
          <p:cNvPr id="91" name="Text 89"/>
          <p:cNvSpPr/>
          <p:nvPr/>
        </p:nvSpPr>
        <p:spPr>
          <a:xfrm>
            <a:off x="640080" y="4059936"/>
            <a:ext cx="914400" cy="237744"/>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ribosomes</a:t>
            </a:r>
            <a:endParaRPr lang="en-US" sz="1050" dirty="0"/>
          </a:p>
        </p:txBody>
      </p:sp>
      <p:sp>
        <p:nvSpPr>
          <p:cNvPr id="92" name="Shape 90"/>
          <p:cNvSpPr/>
          <p:nvPr/>
        </p:nvSpPr>
        <p:spPr>
          <a:xfrm flipH="1">
            <a:off x="5303520" y="2967951"/>
            <a:ext cx="42672" cy="1073697"/>
          </a:xfrm>
          <a:prstGeom prst="line">
            <a:avLst/>
          </a:prstGeom>
          <a:noFill/>
          <a:ln w="11430">
            <a:solidFill>
              <a:srgbClr val="4A5262"/>
            </a:solidFill>
            <a:prstDash val="solid"/>
          </a:ln>
        </p:spPr>
      </p:sp>
      <p:sp>
        <p:nvSpPr>
          <p:cNvPr id="93" name="Shape 91"/>
          <p:cNvSpPr/>
          <p:nvPr/>
        </p:nvSpPr>
        <p:spPr>
          <a:xfrm>
            <a:off x="5326075" y="2947835"/>
            <a:ext cx="40234" cy="40234"/>
          </a:xfrm>
          <a:prstGeom prst="ellipse">
            <a:avLst/>
          </a:prstGeom>
          <a:solidFill>
            <a:srgbClr val="4A5262"/>
          </a:solidFill>
          <a:ln w="3175">
            <a:solidFill>
              <a:srgbClr val="4A5262"/>
            </a:solidFill>
            <a:prstDash val="solid"/>
          </a:ln>
        </p:spPr>
      </p:sp>
      <p:sp>
        <p:nvSpPr>
          <p:cNvPr id="94" name="Text 92"/>
          <p:cNvSpPr/>
          <p:nvPr/>
        </p:nvSpPr>
        <p:spPr>
          <a:xfrm>
            <a:off x="4869180" y="4059936"/>
            <a:ext cx="868680" cy="237744"/>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flagellum</a:t>
            </a:r>
            <a:endParaRPr lang="en-US" sz="1050" dirty="0"/>
          </a:p>
        </p:txBody>
      </p:sp>
      <p:sp>
        <p:nvSpPr>
          <p:cNvPr id="95" name="Shape 93"/>
          <p:cNvSpPr/>
          <p:nvPr/>
        </p:nvSpPr>
        <p:spPr>
          <a:xfrm>
            <a:off x="3631997" y="3511296"/>
            <a:ext cx="528523" cy="530352"/>
          </a:xfrm>
          <a:prstGeom prst="line">
            <a:avLst/>
          </a:prstGeom>
          <a:noFill/>
          <a:ln w="11430">
            <a:solidFill>
              <a:srgbClr val="4A5262"/>
            </a:solidFill>
            <a:prstDash val="solid"/>
          </a:ln>
        </p:spPr>
      </p:sp>
      <p:sp>
        <p:nvSpPr>
          <p:cNvPr id="96" name="Shape 94"/>
          <p:cNvSpPr/>
          <p:nvPr/>
        </p:nvSpPr>
        <p:spPr>
          <a:xfrm>
            <a:off x="3611880" y="3491179"/>
            <a:ext cx="40234" cy="40234"/>
          </a:xfrm>
          <a:prstGeom prst="ellipse">
            <a:avLst/>
          </a:prstGeom>
          <a:solidFill>
            <a:srgbClr val="4A5262"/>
          </a:solidFill>
          <a:ln w="3175">
            <a:solidFill>
              <a:srgbClr val="4A5262"/>
            </a:solidFill>
            <a:prstDash val="solid"/>
          </a:ln>
        </p:spPr>
      </p:sp>
      <p:sp>
        <p:nvSpPr>
          <p:cNvPr id="97" name="Text 95"/>
          <p:cNvSpPr/>
          <p:nvPr/>
        </p:nvSpPr>
        <p:spPr>
          <a:xfrm>
            <a:off x="3726180" y="4059936"/>
            <a:ext cx="868680" cy="237744"/>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cytoplasm</a:t>
            </a:r>
            <a:endParaRPr lang="en-US" sz="1050" dirty="0"/>
          </a:p>
        </p:txBody>
      </p:sp>
      <p:sp>
        <p:nvSpPr>
          <p:cNvPr id="98" name="Shape 96"/>
          <p:cNvSpPr/>
          <p:nvPr/>
        </p:nvSpPr>
        <p:spPr>
          <a:xfrm>
            <a:off x="594360" y="4617720"/>
            <a:ext cx="5212080" cy="731520"/>
          </a:xfrm>
          <a:prstGeom prst="roundRect">
            <a:avLst>
              <a:gd name="adj" fmla="val 6250"/>
            </a:avLst>
          </a:prstGeom>
          <a:solidFill>
            <a:srgbClr val="FFFFFF"/>
          </a:solidFill>
          <a:ln w="12700">
            <a:solidFill>
              <a:srgbClr val="CFE0DE"/>
            </a:solidFill>
            <a:prstDash val="solid"/>
          </a:ln>
        </p:spPr>
      </p:sp>
      <p:sp>
        <p:nvSpPr>
          <p:cNvPr id="99" name="Shape 97"/>
          <p:cNvSpPr/>
          <p:nvPr/>
        </p:nvSpPr>
        <p:spPr>
          <a:xfrm>
            <a:off x="777240" y="4654296"/>
            <a:ext cx="1097280" cy="658368"/>
          </a:xfrm>
          <a:prstGeom prst="ellipse">
            <a:avLst/>
          </a:prstGeom>
          <a:solidFill>
            <a:srgbClr val="FBF3DF"/>
          </a:solidFill>
          <a:ln w="15875">
            <a:solidFill>
              <a:srgbClr val="8A6D3B"/>
            </a:solidFill>
            <a:prstDash val="solid"/>
          </a:ln>
        </p:spPr>
      </p:sp>
      <p:sp>
        <p:nvSpPr>
          <p:cNvPr id="100" name="Shape 98"/>
          <p:cNvSpPr/>
          <p:nvPr/>
        </p:nvSpPr>
        <p:spPr>
          <a:xfrm>
            <a:off x="1234440" y="4892040"/>
            <a:ext cx="182880" cy="182880"/>
          </a:xfrm>
          <a:prstGeom prst="ellipse">
            <a:avLst/>
          </a:prstGeom>
          <a:solidFill>
            <a:srgbClr val="C9B6E4"/>
          </a:solidFill>
          <a:ln w="9525">
            <a:solidFill>
              <a:srgbClr val="6A4C93"/>
            </a:solidFill>
            <a:prstDash val="solid"/>
          </a:ln>
        </p:spPr>
      </p:sp>
      <p:sp>
        <p:nvSpPr>
          <p:cNvPr id="101" name="Shape 99"/>
          <p:cNvSpPr/>
          <p:nvPr/>
        </p:nvSpPr>
        <p:spPr>
          <a:xfrm>
            <a:off x="2103120" y="4965192"/>
            <a:ext cx="36576" cy="18288"/>
          </a:xfrm>
          <a:prstGeom prst="roundRect">
            <a:avLst>
              <a:gd name="adj" fmla="val 50000"/>
            </a:avLst>
          </a:prstGeom>
          <a:solidFill>
            <a:srgbClr val="7A5BA6"/>
          </a:solidFill>
          <a:ln w="9525">
            <a:solidFill>
              <a:srgbClr val="7A5BA6"/>
            </a:solidFill>
            <a:prstDash val="solid"/>
          </a:ln>
        </p:spPr>
      </p:sp>
      <p:sp>
        <p:nvSpPr>
          <p:cNvPr id="102" name="Shape 100"/>
          <p:cNvSpPr/>
          <p:nvPr/>
        </p:nvSpPr>
        <p:spPr>
          <a:xfrm flipV="1">
            <a:off x="2121408" y="4754880"/>
            <a:ext cx="256032" cy="182880"/>
          </a:xfrm>
          <a:prstGeom prst="line">
            <a:avLst/>
          </a:prstGeom>
          <a:noFill/>
          <a:ln w="9525">
            <a:solidFill>
              <a:srgbClr val="133536"/>
            </a:solidFill>
            <a:prstDash val="solid"/>
          </a:ln>
        </p:spPr>
      </p:sp>
      <p:sp>
        <p:nvSpPr>
          <p:cNvPr id="103" name="Text 101"/>
          <p:cNvSpPr/>
          <p:nvPr/>
        </p:nvSpPr>
        <p:spPr>
          <a:xfrm>
            <a:off x="2395728" y="4645152"/>
            <a:ext cx="3383280" cy="27432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to scale: cheek cell 60 µm; bacterium 2 µm (the tiny dash)</a:t>
            </a:r>
            <a:endParaRPr lang="en-US" sz="1000" dirty="0"/>
          </a:p>
        </p:txBody>
      </p:sp>
      <p:sp>
        <p:nvSpPr>
          <p:cNvPr id="104" name="Text 102"/>
          <p:cNvSpPr/>
          <p:nvPr/>
        </p:nvSpPr>
        <p:spPr>
          <a:xfrm>
            <a:off x="2395728" y="4937760"/>
            <a:ext cx="3383280" cy="27432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a bacterium is about </a:t>
            </a:r>
            <a:r>
              <a:rPr lang="en-US" sz="1000" b="1" dirty="0">
                <a:solidFill>
                  <a:srgbClr val="262B3A"/>
                </a:solidFill>
                <a:latin typeface="Calibri" pitchFamily="34" charset="0"/>
                <a:ea typeface="Calibri" pitchFamily="34" charset="-122"/>
                <a:cs typeface="Calibri" pitchFamily="34" charset="-120"/>
              </a:rPr>
              <a:t>30×</a:t>
            </a:r>
            <a:r>
              <a:rPr lang="en-US" sz="1000" dirty="0">
                <a:solidFill>
                  <a:srgbClr val="262B3A"/>
                </a:solidFill>
                <a:latin typeface="Calibri" pitchFamily="34" charset="0"/>
                <a:ea typeface="Calibri" pitchFamily="34" charset="-122"/>
                <a:cs typeface="Calibri" pitchFamily="34" charset="-120"/>
              </a:rPr>
              <a:t> shorter than a cheek cell</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62295" cy="914400"/>
        </p:xfrm>
        <a:graphic>
          <a:graphicData uri="http://schemas.openxmlformats.org/drawingml/2006/table">
            <a:tbl>
              <a:tblPr/>
              <a:tblGrid>
                <a:gridCol w="1417320"/>
                <a:gridCol w="1143000"/>
                <a:gridCol w="1417320"/>
                <a:gridCol w="1584655"/>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Structure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Animal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Plant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Bacterium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Cell membrane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Cytoplasm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Ribosomes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 (smaller)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Nucleus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Mitochondria</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Chloroplasts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Cell wall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 cellulose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 not cellulose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DNA</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in nucleus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in nucleus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loop + plasmids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106" name="Shape 103"/>
          <p:cNvSpPr/>
          <p:nvPr/>
        </p:nvSpPr>
        <p:spPr>
          <a:xfrm>
            <a:off x="6217920" y="3840480"/>
            <a:ext cx="5562295" cy="1874520"/>
          </a:xfrm>
          <a:prstGeom prst="roundRect">
            <a:avLst>
              <a:gd name="adj" fmla="val 2927"/>
            </a:avLst>
          </a:prstGeom>
          <a:solidFill>
            <a:srgbClr val="F4FAF9"/>
          </a:solidFill>
          <a:ln w="9525">
            <a:solidFill>
              <a:srgbClr val="CFE0DE"/>
            </a:solidFill>
            <a:prstDash val="solid"/>
          </a:ln>
        </p:spPr>
      </p:sp>
      <p:sp>
        <p:nvSpPr>
          <p:cNvPr id="107" name="Text 104"/>
          <p:cNvSpPr/>
          <p:nvPr/>
        </p:nvSpPr>
        <p:spPr>
          <a:xfrm>
            <a:off x="6382512" y="393192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Prokaryotic means "before nucleus"</a:t>
            </a:r>
            <a:endParaRPr lang="en-US" sz="1300" dirty="0"/>
          </a:p>
        </p:txBody>
      </p:sp>
      <p:sp>
        <p:nvSpPr>
          <p:cNvPr id="108" name="Text 105"/>
          <p:cNvSpPr/>
          <p:nvPr/>
        </p:nvSpPr>
        <p:spPr>
          <a:xfrm>
            <a:off x="6382512" y="4261104"/>
            <a:ext cx="5233111" cy="13807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Bacteria are </a:t>
            </a:r>
            <a:r>
              <a:rPr lang="en-US" sz="1050" b="1" dirty="0">
                <a:solidFill>
                  <a:srgbClr val="262B3A"/>
                </a:solidFill>
                <a:latin typeface="Calibri" pitchFamily="34" charset="0"/>
                <a:ea typeface="Calibri" pitchFamily="34" charset="-122"/>
                <a:cs typeface="Calibri" pitchFamily="34" charset="-120"/>
              </a:rPr>
              <a:t>prokaryotes</a:t>
            </a:r>
            <a:r>
              <a:rPr lang="en-US" sz="1050" dirty="0">
                <a:solidFill>
                  <a:srgbClr val="262B3A"/>
                </a:solidFill>
                <a:latin typeface="Calibri" pitchFamily="34" charset="0"/>
                <a:ea typeface="Calibri" pitchFamily="34" charset="-122"/>
                <a:cs typeface="Calibri" pitchFamily="34" charset="-120"/>
              </a:rPr>
              <a:t>: no nucleus, no mitochondria, no chloroplasts.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Most genes are on one </a:t>
            </a:r>
            <a:r>
              <a:rPr lang="en-US" sz="1050" b="1" dirty="0">
                <a:solidFill>
                  <a:srgbClr val="262B3A"/>
                </a:solidFill>
                <a:latin typeface="Calibri" pitchFamily="34" charset="0"/>
                <a:ea typeface="Calibri" pitchFamily="34" charset="-122"/>
                <a:cs typeface="Calibri" pitchFamily="34" charset="-120"/>
              </a:rPr>
              <a:t>loop of chromosomal DNA</a:t>
            </a:r>
            <a:r>
              <a:rPr lang="en-US" sz="1050" dirty="0">
                <a:solidFill>
                  <a:srgbClr val="262B3A"/>
                </a:solidFill>
                <a:latin typeface="Calibri" pitchFamily="34" charset="0"/>
                <a:ea typeface="Calibri" pitchFamily="34" charset="-122"/>
                <a:cs typeface="Calibri" pitchFamily="34" charset="-120"/>
              </a:rPr>
              <a:t>. Extra genes are on small rings called </a:t>
            </a:r>
            <a:r>
              <a:rPr lang="en-US" sz="1050" b="1" dirty="0">
                <a:solidFill>
                  <a:srgbClr val="262B3A"/>
                </a:solidFill>
                <a:latin typeface="Calibri" pitchFamily="34" charset="0"/>
                <a:ea typeface="Calibri" pitchFamily="34" charset="-122"/>
                <a:cs typeface="Calibri" pitchFamily="34" charset="-120"/>
              </a:rPr>
              <a:t>plasmids</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Bacteria respire in the </a:t>
            </a:r>
            <a:r>
              <a:rPr lang="en-US" sz="1050" b="1" dirty="0">
                <a:solidFill>
                  <a:srgbClr val="262B3A"/>
                </a:solidFill>
                <a:latin typeface="Calibri" pitchFamily="34" charset="0"/>
                <a:ea typeface="Calibri" pitchFamily="34" charset="-122"/>
                <a:cs typeface="Calibri" pitchFamily="34" charset="-120"/>
              </a:rPr>
              <a:t>cytoplasm</a:t>
            </a:r>
            <a:r>
              <a:rPr lang="en-US" sz="1050" dirty="0">
                <a:solidFill>
                  <a:srgbClr val="262B3A"/>
                </a:solidFill>
                <a:latin typeface="Calibri" pitchFamily="34" charset="0"/>
                <a:ea typeface="Calibri" pitchFamily="34" charset="-122"/>
                <a:cs typeface="Calibri" pitchFamily="34" charset="-120"/>
              </a:rPr>
              <a:t> and are much </a:t>
            </a:r>
            <a:r>
              <a:rPr lang="en-US" sz="1050" b="1" dirty="0">
                <a:solidFill>
                  <a:srgbClr val="262B3A"/>
                </a:solidFill>
                <a:latin typeface="Calibri" pitchFamily="34" charset="0"/>
                <a:ea typeface="Calibri" pitchFamily="34" charset="-122"/>
                <a:cs typeface="Calibri" pitchFamily="34" charset="-120"/>
              </a:rPr>
              <a:t>smaller</a:t>
            </a:r>
            <a:r>
              <a:rPr lang="en-US" sz="1050" dirty="0">
                <a:solidFill>
                  <a:srgbClr val="262B3A"/>
                </a:solidFill>
                <a:latin typeface="Calibri" pitchFamily="34" charset="0"/>
                <a:ea typeface="Calibri" pitchFamily="34" charset="-122"/>
                <a:cs typeface="Calibri" pitchFamily="34" charset="-120"/>
              </a:rPr>
              <a:t> than eukaryotic cells.</a:t>
            </a:r>
            <a:endParaRPr lang="en-US" sz="1050" dirty="0"/>
          </a:p>
        </p:txBody>
      </p:sp>
      <p:sp>
        <p:nvSpPr>
          <p:cNvPr id="109" name="Shape 106"/>
          <p:cNvSpPr/>
          <p:nvPr/>
        </p:nvSpPr>
        <p:spPr>
          <a:xfrm>
            <a:off x="411480" y="5833872"/>
            <a:ext cx="11368735" cy="530352"/>
          </a:xfrm>
          <a:prstGeom prst="rect">
            <a:avLst/>
          </a:prstGeom>
          <a:solidFill>
            <a:srgbClr val="FFF4E0"/>
          </a:solidFill>
          <a:ln w="6350">
            <a:solidFill>
              <a:srgbClr val="F1D9A8"/>
            </a:solidFill>
            <a:prstDash val="solid"/>
          </a:ln>
        </p:spPr>
      </p:sp>
      <p:sp>
        <p:nvSpPr>
          <p:cNvPr id="110" name="Shape 107"/>
          <p:cNvSpPr/>
          <p:nvPr/>
        </p:nvSpPr>
        <p:spPr>
          <a:xfrm>
            <a:off x="411480" y="5833872"/>
            <a:ext cx="82296" cy="530352"/>
          </a:xfrm>
          <a:prstGeom prst="rect">
            <a:avLst/>
          </a:prstGeom>
          <a:solidFill>
            <a:srgbClr val="E39A2F"/>
          </a:solidFill>
          <a:ln w="12700">
            <a:solidFill>
              <a:srgbClr val="E39A2F"/>
            </a:solidFill>
            <a:prstDash val="solid"/>
          </a:ln>
        </p:spPr>
      </p:sp>
      <p:sp>
        <p:nvSpPr>
          <p:cNvPr id="111" name="Text 10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structures found in a bacterium that are also in a plant cell, and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ways the bacterium's genetic material is different.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Eukaryotic and prokaryotic cells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the function of the </a:t>
            </a:r>
            <a:r>
              <a:rPr lang="en-US" sz="1250" b="1" dirty="0">
                <a:solidFill>
                  <a:srgbClr val="262B3A"/>
                </a:solidFill>
                <a:latin typeface="Calibri" pitchFamily="34" charset="0"/>
                <a:ea typeface="Calibri" pitchFamily="34" charset="-122"/>
                <a:cs typeface="Calibri" pitchFamily="34" charset="-120"/>
              </a:rPr>
              <a:t>ribosomes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structures found in plant cells but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in animal cells. Give the function of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of them.</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differences between the genetic material of a bacterium and of an animal cell.</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bacterium is described as </a:t>
            </a:r>
            <a:r>
              <a:rPr lang="en-US" sz="1250" b="1" dirty="0">
                <a:solidFill>
                  <a:srgbClr val="262B3A"/>
                </a:solidFill>
                <a:latin typeface="Calibri" pitchFamily="34" charset="0"/>
                <a:ea typeface="Calibri" pitchFamily="34" charset="-122"/>
                <a:cs typeface="Calibri" pitchFamily="34" charset="-120"/>
              </a:rPr>
              <a:t>prokaryotic</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Sizes and units: mm, µm and nm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Maths skills • cells are measured in micrometres (µm); organelles and viruses in nanometres (nm)</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Maths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step down the staircase is 1000 times smaller</a:t>
            </a:r>
            <a:endParaRPr lang="en-US" sz="1000" dirty="0"/>
          </a:p>
        </p:txBody>
      </p:sp>
      <p:sp>
        <p:nvSpPr>
          <p:cNvPr id="10" name="Shape 8"/>
          <p:cNvSpPr/>
          <p:nvPr/>
        </p:nvSpPr>
        <p:spPr>
          <a:xfrm>
            <a:off x="685800" y="1371600"/>
            <a:ext cx="1417320" cy="658368"/>
          </a:xfrm>
          <a:prstGeom prst="roundRect">
            <a:avLst>
              <a:gd name="adj" fmla="val 8333"/>
            </a:avLst>
          </a:prstGeom>
          <a:solidFill>
            <a:srgbClr val="FFFFFF"/>
          </a:solidFill>
          <a:ln w="19050">
            <a:solidFill>
              <a:srgbClr val="0D7877"/>
            </a:solidFill>
            <a:prstDash val="solid"/>
          </a:ln>
        </p:spPr>
      </p:sp>
      <p:sp>
        <p:nvSpPr>
          <p:cNvPr id="11" name="Text 9"/>
          <p:cNvSpPr/>
          <p:nvPr/>
        </p:nvSpPr>
        <p:spPr>
          <a:xfrm>
            <a:off x="685800" y="1389888"/>
            <a:ext cx="1417320" cy="365760"/>
          </a:xfrm>
          <a:prstGeom prst="rect">
            <a:avLst/>
          </a:prstGeom>
          <a:noFill/>
          <a:ln/>
        </p:spPr>
        <p:txBody>
          <a:bodyPr wrap="square" lIns="0" tIns="0" rIns="0" bIns="0" rtlCol="0" anchor="ctr"/>
          <a:lstStyle/>
          <a:p>
            <a:pPr algn="ctr" indent="0" marL="0">
              <a:buNone/>
            </a:pPr>
            <a:r>
              <a:rPr lang="en-US" sz="1800" b="1" dirty="0">
                <a:solidFill>
                  <a:srgbClr val="133536"/>
                </a:solidFill>
                <a:latin typeface="Calibri" pitchFamily="34" charset="0"/>
                <a:ea typeface="Calibri" pitchFamily="34" charset="-122"/>
                <a:cs typeface="Calibri" pitchFamily="34" charset="-120"/>
              </a:rPr>
              <a:t>m</a:t>
            </a:r>
            <a:endParaRPr lang="en-US" sz="1800" dirty="0"/>
          </a:p>
        </p:txBody>
      </p:sp>
      <p:sp>
        <p:nvSpPr>
          <p:cNvPr id="12" name="Text 10"/>
          <p:cNvSpPr/>
          <p:nvPr/>
        </p:nvSpPr>
        <p:spPr>
          <a:xfrm>
            <a:off x="685800" y="1755648"/>
            <a:ext cx="14173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metre</a:t>
            </a:r>
            <a:endParaRPr lang="en-US" sz="1050" dirty="0"/>
          </a:p>
        </p:txBody>
      </p:sp>
      <p:sp>
        <p:nvSpPr>
          <p:cNvPr id="13" name="Text 11"/>
          <p:cNvSpPr/>
          <p:nvPr/>
        </p:nvSpPr>
        <p:spPr>
          <a:xfrm>
            <a:off x="2194560" y="1463040"/>
            <a:ext cx="3566160" cy="457200"/>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a person, a tree</a:t>
            </a:r>
            <a:endParaRPr lang="en-US" sz="1050" dirty="0"/>
          </a:p>
        </p:txBody>
      </p:sp>
      <p:sp>
        <p:nvSpPr>
          <p:cNvPr id="14" name="Shape 12"/>
          <p:cNvSpPr/>
          <p:nvPr/>
        </p:nvSpPr>
        <p:spPr>
          <a:xfrm>
            <a:off x="1097280" y="2048256"/>
            <a:ext cx="868680" cy="173736"/>
          </a:xfrm>
          <a:prstGeom prst="line">
            <a:avLst/>
          </a:prstGeom>
          <a:noFill/>
          <a:ln w="25400">
            <a:solidFill>
              <a:srgbClr val="C8414C"/>
            </a:solidFill>
            <a:prstDash val="solid"/>
            <a:tailEnd type="triangle"/>
          </a:ln>
        </p:spPr>
      </p:sp>
      <p:sp>
        <p:nvSpPr>
          <p:cNvPr id="15" name="Text 13"/>
          <p:cNvSpPr/>
          <p:nvPr/>
        </p:nvSpPr>
        <p:spPr>
          <a:xfrm>
            <a:off x="411480" y="2029968"/>
            <a:ext cx="658368" cy="219456"/>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×1000</a:t>
            </a:r>
            <a:endParaRPr lang="en-US" sz="1050" dirty="0"/>
          </a:p>
        </p:txBody>
      </p:sp>
      <p:sp>
        <p:nvSpPr>
          <p:cNvPr id="16" name="Shape 14"/>
          <p:cNvSpPr/>
          <p:nvPr/>
        </p:nvSpPr>
        <p:spPr>
          <a:xfrm>
            <a:off x="1554480" y="2240280"/>
            <a:ext cx="1417320" cy="658368"/>
          </a:xfrm>
          <a:prstGeom prst="roundRect">
            <a:avLst>
              <a:gd name="adj" fmla="val 8333"/>
            </a:avLst>
          </a:prstGeom>
          <a:solidFill>
            <a:srgbClr val="FFFFFF"/>
          </a:solidFill>
          <a:ln w="19050">
            <a:solidFill>
              <a:srgbClr val="0D7877"/>
            </a:solidFill>
            <a:prstDash val="solid"/>
          </a:ln>
        </p:spPr>
      </p:sp>
      <p:sp>
        <p:nvSpPr>
          <p:cNvPr id="17" name="Text 15"/>
          <p:cNvSpPr/>
          <p:nvPr/>
        </p:nvSpPr>
        <p:spPr>
          <a:xfrm>
            <a:off x="1554480" y="2258568"/>
            <a:ext cx="1417320" cy="365760"/>
          </a:xfrm>
          <a:prstGeom prst="rect">
            <a:avLst/>
          </a:prstGeom>
          <a:noFill/>
          <a:ln/>
        </p:spPr>
        <p:txBody>
          <a:bodyPr wrap="square" lIns="0" tIns="0" rIns="0" bIns="0" rtlCol="0" anchor="ctr"/>
          <a:lstStyle/>
          <a:p>
            <a:pPr algn="ctr" indent="0" marL="0">
              <a:buNone/>
            </a:pPr>
            <a:r>
              <a:rPr lang="en-US" sz="1800" b="1" dirty="0">
                <a:solidFill>
                  <a:srgbClr val="133536"/>
                </a:solidFill>
                <a:latin typeface="Calibri" pitchFamily="34" charset="0"/>
                <a:ea typeface="Calibri" pitchFamily="34" charset="-122"/>
                <a:cs typeface="Calibri" pitchFamily="34" charset="-120"/>
              </a:rPr>
              <a:t>mm</a:t>
            </a:r>
            <a:endParaRPr lang="en-US" sz="1800" dirty="0"/>
          </a:p>
        </p:txBody>
      </p:sp>
      <p:sp>
        <p:nvSpPr>
          <p:cNvPr id="18" name="Text 16"/>
          <p:cNvSpPr/>
          <p:nvPr/>
        </p:nvSpPr>
        <p:spPr>
          <a:xfrm>
            <a:off x="1554480" y="2624328"/>
            <a:ext cx="14173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millimetre</a:t>
            </a:r>
            <a:endParaRPr lang="en-US" sz="1050" dirty="0"/>
          </a:p>
        </p:txBody>
      </p:sp>
      <p:sp>
        <p:nvSpPr>
          <p:cNvPr id="19" name="Text 17"/>
          <p:cNvSpPr/>
          <p:nvPr/>
        </p:nvSpPr>
        <p:spPr>
          <a:xfrm>
            <a:off x="3063240" y="2331720"/>
            <a:ext cx="2697480" cy="457200"/>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an ant; the eye can just see 0.1 mm</a:t>
            </a:r>
            <a:endParaRPr lang="en-US" sz="1050" dirty="0"/>
          </a:p>
        </p:txBody>
      </p:sp>
      <p:sp>
        <p:nvSpPr>
          <p:cNvPr id="20" name="Shape 18"/>
          <p:cNvSpPr/>
          <p:nvPr/>
        </p:nvSpPr>
        <p:spPr>
          <a:xfrm>
            <a:off x="1965960" y="2916936"/>
            <a:ext cx="868680" cy="173736"/>
          </a:xfrm>
          <a:prstGeom prst="line">
            <a:avLst/>
          </a:prstGeom>
          <a:noFill/>
          <a:ln w="25400">
            <a:solidFill>
              <a:srgbClr val="C8414C"/>
            </a:solidFill>
            <a:prstDash val="solid"/>
            <a:tailEnd type="triangle"/>
          </a:ln>
        </p:spPr>
      </p:sp>
      <p:sp>
        <p:nvSpPr>
          <p:cNvPr id="21" name="Text 19"/>
          <p:cNvSpPr/>
          <p:nvPr/>
        </p:nvSpPr>
        <p:spPr>
          <a:xfrm>
            <a:off x="1280160" y="2898648"/>
            <a:ext cx="658368" cy="219456"/>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×1000</a:t>
            </a:r>
            <a:endParaRPr lang="en-US" sz="1050" dirty="0"/>
          </a:p>
        </p:txBody>
      </p:sp>
      <p:sp>
        <p:nvSpPr>
          <p:cNvPr id="22" name="Shape 20"/>
          <p:cNvSpPr/>
          <p:nvPr/>
        </p:nvSpPr>
        <p:spPr>
          <a:xfrm>
            <a:off x="2423160" y="3108960"/>
            <a:ext cx="1417320" cy="658368"/>
          </a:xfrm>
          <a:prstGeom prst="roundRect">
            <a:avLst>
              <a:gd name="adj" fmla="val 8333"/>
            </a:avLst>
          </a:prstGeom>
          <a:solidFill>
            <a:srgbClr val="0D7877"/>
          </a:solidFill>
          <a:ln w="19050">
            <a:solidFill>
              <a:srgbClr val="0D7877"/>
            </a:solidFill>
            <a:prstDash val="solid"/>
          </a:ln>
        </p:spPr>
      </p:sp>
      <p:sp>
        <p:nvSpPr>
          <p:cNvPr id="23" name="Text 21"/>
          <p:cNvSpPr/>
          <p:nvPr/>
        </p:nvSpPr>
        <p:spPr>
          <a:xfrm>
            <a:off x="2423160" y="3127248"/>
            <a:ext cx="14173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µm</a:t>
            </a:r>
            <a:endParaRPr lang="en-US" sz="1800" dirty="0"/>
          </a:p>
        </p:txBody>
      </p:sp>
      <p:sp>
        <p:nvSpPr>
          <p:cNvPr id="24" name="Text 22"/>
          <p:cNvSpPr/>
          <p:nvPr/>
        </p:nvSpPr>
        <p:spPr>
          <a:xfrm>
            <a:off x="2423160" y="3493008"/>
            <a:ext cx="1417320" cy="23774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micrometre</a:t>
            </a:r>
            <a:endParaRPr lang="en-US" sz="1050" dirty="0"/>
          </a:p>
        </p:txBody>
      </p:sp>
      <p:sp>
        <p:nvSpPr>
          <p:cNvPr id="25" name="Text 23"/>
          <p:cNvSpPr/>
          <p:nvPr/>
        </p:nvSpPr>
        <p:spPr>
          <a:xfrm>
            <a:off x="3931920" y="3200400"/>
            <a:ext cx="1828800" cy="457200"/>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cells, bacteria, mitochondria</a:t>
            </a:r>
            <a:endParaRPr lang="en-US" sz="1050" dirty="0"/>
          </a:p>
        </p:txBody>
      </p:sp>
      <p:sp>
        <p:nvSpPr>
          <p:cNvPr id="26" name="Shape 24"/>
          <p:cNvSpPr/>
          <p:nvPr/>
        </p:nvSpPr>
        <p:spPr>
          <a:xfrm>
            <a:off x="2834640" y="3785616"/>
            <a:ext cx="868680" cy="173736"/>
          </a:xfrm>
          <a:prstGeom prst="line">
            <a:avLst/>
          </a:prstGeom>
          <a:noFill/>
          <a:ln w="25400">
            <a:solidFill>
              <a:srgbClr val="C8414C"/>
            </a:solidFill>
            <a:prstDash val="solid"/>
            <a:tailEnd type="triangle"/>
          </a:ln>
        </p:spPr>
      </p:sp>
      <p:sp>
        <p:nvSpPr>
          <p:cNvPr id="27" name="Text 25"/>
          <p:cNvSpPr/>
          <p:nvPr/>
        </p:nvSpPr>
        <p:spPr>
          <a:xfrm>
            <a:off x="2148840" y="3767328"/>
            <a:ext cx="658368" cy="219456"/>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×1000</a:t>
            </a:r>
            <a:endParaRPr lang="en-US" sz="1050" dirty="0"/>
          </a:p>
        </p:txBody>
      </p:sp>
      <p:sp>
        <p:nvSpPr>
          <p:cNvPr id="28" name="Shape 26"/>
          <p:cNvSpPr/>
          <p:nvPr/>
        </p:nvSpPr>
        <p:spPr>
          <a:xfrm>
            <a:off x="3291840" y="3977640"/>
            <a:ext cx="1417320" cy="658368"/>
          </a:xfrm>
          <a:prstGeom prst="roundRect">
            <a:avLst>
              <a:gd name="adj" fmla="val 8333"/>
            </a:avLst>
          </a:prstGeom>
          <a:solidFill>
            <a:srgbClr val="FFFFFF"/>
          </a:solidFill>
          <a:ln w="19050">
            <a:solidFill>
              <a:srgbClr val="0D7877"/>
            </a:solidFill>
            <a:prstDash val="solid"/>
          </a:ln>
        </p:spPr>
      </p:sp>
      <p:sp>
        <p:nvSpPr>
          <p:cNvPr id="29" name="Text 27"/>
          <p:cNvSpPr/>
          <p:nvPr/>
        </p:nvSpPr>
        <p:spPr>
          <a:xfrm>
            <a:off x="3291840" y="3995928"/>
            <a:ext cx="1417320" cy="365760"/>
          </a:xfrm>
          <a:prstGeom prst="rect">
            <a:avLst/>
          </a:prstGeom>
          <a:noFill/>
          <a:ln/>
        </p:spPr>
        <p:txBody>
          <a:bodyPr wrap="square" lIns="0" tIns="0" rIns="0" bIns="0" rtlCol="0" anchor="ctr"/>
          <a:lstStyle/>
          <a:p>
            <a:pPr algn="ctr" indent="0" marL="0">
              <a:buNone/>
            </a:pPr>
            <a:r>
              <a:rPr lang="en-US" sz="1800" b="1" dirty="0">
                <a:solidFill>
                  <a:srgbClr val="133536"/>
                </a:solidFill>
                <a:latin typeface="Calibri" pitchFamily="34" charset="0"/>
                <a:ea typeface="Calibri" pitchFamily="34" charset="-122"/>
                <a:cs typeface="Calibri" pitchFamily="34" charset="-120"/>
              </a:rPr>
              <a:t>nm</a:t>
            </a:r>
            <a:endParaRPr lang="en-US" sz="1800" dirty="0"/>
          </a:p>
        </p:txBody>
      </p:sp>
      <p:sp>
        <p:nvSpPr>
          <p:cNvPr id="30" name="Text 28"/>
          <p:cNvSpPr/>
          <p:nvPr/>
        </p:nvSpPr>
        <p:spPr>
          <a:xfrm>
            <a:off x="3291840" y="4361688"/>
            <a:ext cx="14173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nanometre</a:t>
            </a:r>
            <a:endParaRPr lang="en-US" sz="1050" dirty="0"/>
          </a:p>
        </p:txBody>
      </p:sp>
      <p:sp>
        <p:nvSpPr>
          <p:cNvPr id="31" name="Text 29"/>
          <p:cNvSpPr/>
          <p:nvPr/>
        </p:nvSpPr>
        <p:spPr>
          <a:xfrm>
            <a:off x="4800600" y="4069080"/>
            <a:ext cx="960120" cy="457200"/>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ribosomes, viruses, membranes</a:t>
            </a:r>
            <a:endParaRPr lang="en-US" sz="1050" dirty="0"/>
          </a:p>
        </p:txBody>
      </p:sp>
      <p:sp>
        <p:nvSpPr>
          <p:cNvPr id="32" name="Shape 30"/>
          <p:cNvSpPr/>
          <p:nvPr/>
        </p:nvSpPr>
        <p:spPr>
          <a:xfrm>
            <a:off x="685800" y="4864608"/>
            <a:ext cx="5029200" cy="457200"/>
          </a:xfrm>
          <a:prstGeom prst="roundRect">
            <a:avLst>
              <a:gd name="adj" fmla="val 12000"/>
            </a:avLst>
          </a:prstGeom>
          <a:solidFill>
            <a:srgbClr val="FFFFFF"/>
          </a:solidFill>
          <a:ln w="19050">
            <a:solidFill>
              <a:srgbClr val="0D7877"/>
            </a:solidFill>
            <a:prstDash val="solid"/>
          </a:ln>
        </p:spPr>
      </p:sp>
      <p:sp>
        <p:nvSpPr>
          <p:cNvPr id="33" name="Text 31"/>
          <p:cNvSpPr/>
          <p:nvPr/>
        </p:nvSpPr>
        <p:spPr>
          <a:xfrm>
            <a:off x="795528" y="4864608"/>
            <a:ext cx="4809744" cy="457200"/>
          </a:xfrm>
          <a:prstGeom prst="rect">
            <a:avLst/>
          </a:prstGeom>
          <a:noFill/>
          <a:ln/>
        </p:spPr>
        <p:txBody>
          <a:bodyPr wrap="square" lIns="0" tIns="0" rIns="0" bIns="0" rtlCol="0" anchor="ctr"/>
          <a:lstStyle/>
          <a:p>
            <a:pPr algn="ctr" indent="0" marL="0">
              <a:buNone/>
            </a:pPr>
            <a:r>
              <a:rPr lang="en-US" sz="1250" b="1" dirty="0">
                <a:solidFill>
                  <a:srgbClr val="262B3A"/>
                </a:solidFill>
                <a:latin typeface="Calibri" pitchFamily="34" charset="0"/>
                <a:ea typeface="Calibri" pitchFamily="34" charset="-122"/>
                <a:cs typeface="Calibri" pitchFamily="34" charset="-120"/>
              </a:rPr>
              <a:t>1 m = 1000 mm     1 mm = 1000 µm     1 µm = 1000 nm</a:t>
            </a:r>
            <a:endParaRPr lang="en-US" sz="1200" dirty="0"/>
          </a:p>
        </p:txBody>
      </p:sp>
      <p:sp>
        <p:nvSpPr>
          <p:cNvPr id="34" name="Shape 32"/>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35" name="Text 3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Converting units</a:t>
            </a:r>
            <a:endParaRPr lang="en-US" sz="1300" dirty="0"/>
          </a:p>
        </p:txBody>
      </p:sp>
      <p:sp>
        <p:nvSpPr>
          <p:cNvPr id="36" name="Text 3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Going to a </a:t>
            </a:r>
            <a:r>
              <a:rPr lang="en-US" sz="1100" b="1" dirty="0">
                <a:solidFill>
                  <a:srgbClr val="262B3A"/>
                </a:solidFill>
                <a:latin typeface="Calibri" pitchFamily="34" charset="0"/>
                <a:ea typeface="Calibri" pitchFamily="34" charset="-122"/>
                <a:cs typeface="Calibri" pitchFamily="34" charset="-120"/>
              </a:rPr>
              <a:t>smaller</a:t>
            </a:r>
            <a:r>
              <a:rPr lang="en-US" sz="1100" dirty="0">
                <a:solidFill>
                  <a:srgbClr val="262B3A"/>
                </a:solidFill>
                <a:latin typeface="Calibri" pitchFamily="34" charset="0"/>
                <a:ea typeface="Calibri" pitchFamily="34" charset="-122"/>
                <a:cs typeface="Calibri" pitchFamily="34" charset="-120"/>
              </a:rPr>
              <a:t> unit: the number gets </a:t>
            </a:r>
            <a:r>
              <a:rPr lang="en-US" sz="1100" b="1" dirty="0">
                <a:solidFill>
                  <a:srgbClr val="262B3A"/>
                </a:solidFill>
                <a:latin typeface="Calibri" pitchFamily="34" charset="0"/>
                <a:ea typeface="Calibri" pitchFamily="34" charset="-122"/>
                <a:cs typeface="Calibri" pitchFamily="34" charset="-120"/>
              </a:rPr>
              <a:t>bigger</a:t>
            </a:r>
            <a:r>
              <a:rPr lang="en-US" sz="1100" dirty="0">
                <a:solidFill>
                  <a:srgbClr val="262B3A"/>
                </a:solidFill>
                <a:latin typeface="Calibri" pitchFamily="34" charset="0"/>
                <a:ea typeface="Calibri" pitchFamily="34" charset="-122"/>
                <a:cs typeface="Calibri" pitchFamily="34" charset="-120"/>
              </a:rPr>
              <a:t>, so </a:t>
            </a:r>
            <a:r>
              <a:rPr lang="en-US" sz="1100" b="1" dirty="0">
                <a:solidFill>
                  <a:srgbClr val="262B3A"/>
                </a:solidFill>
                <a:latin typeface="Calibri" pitchFamily="34" charset="0"/>
                <a:ea typeface="Calibri" pitchFamily="34" charset="-122"/>
                <a:cs typeface="Calibri" pitchFamily="34" charset="-120"/>
              </a:rPr>
              <a:t>× 1000</a:t>
            </a:r>
            <a:r>
              <a:rPr lang="en-US" sz="1100" dirty="0">
                <a:solidFill>
                  <a:srgbClr val="262B3A"/>
                </a:solidFill>
                <a:latin typeface="Calibri" pitchFamily="34" charset="0"/>
                <a:ea typeface="Calibri" pitchFamily="34" charset="-122"/>
                <a:cs typeface="Calibri" pitchFamily="34" charset="-120"/>
              </a:rPr>
              <a:t> for each step.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Going to a </a:t>
            </a:r>
            <a:r>
              <a:rPr lang="en-US" sz="1100" b="1" dirty="0">
                <a:solidFill>
                  <a:srgbClr val="262B3A"/>
                </a:solidFill>
                <a:latin typeface="Calibri" pitchFamily="34" charset="0"/>
                <a:ea typeface="Calibri" pitchFamily="34" charset="-122"/>
                <a:cs typeface="Calibri" pitchFamily="34" charset="-120"/>
              </a:rPr>
              <a:t>bigger</a:t>
            </a:r>
            <a:r>
              <a:rPr lang="en-US" sz="1100" dirty="0">
                <a:solidFill>
                  <a:srgbClr val="262B3A"/>
                </a:solidFill>
                <a:latin typeface="Calibri" pitchFamily="34" charset="0"/>
                <a:ea typeface="Calibri" pitchFamily="34" charset="-122"/>
                <a:cs typeface="Calibri" pitchFamily="34" charset="-120"/>
              </a:rPr>
              <a:t> unit: the number gets </a:t>
            </a:r>
            <a:r>
              <a:rPr lang="en-US" sz="1100" b="1" dirty="0">
                <a:solidFill>
                  <a:srgbClr val="262B3A"/>
                </a:solidFill>
                <a:latin typeface="Calibri" pitchFamily="34" charset="0"/>
                <a:ea typeface="Calibri" pitchFamily="34" charset="-122"/>
                <a:cs typeface="Calibri" pitchFamily="34" charset="-120"/>
              </a:rPr>
              <a:t>smaller</a:t>
            </a:r>
            <a:r>
              <a:rPr lang="en-US" sz="1100" dirty="0">
                <a:solidFill>
                  <a:srgbClr val="262B3A"/>
                </a:solidFill>
                <a:latin typeface="Calibri" pitchFamily="34" charset="0"/>
                <a:ea typeface="Calibri" pitchFamily="34" charset="-122"/>
                <a:cs typeface="Calibri" pitchFamily="34" charset="-120"/>
              </a:rPr>
              <a:t>, so </a:t>
            </a:r>
            <a:r>
              <a:rPr lang="en-US" sz="1100" b="1" dirty="0">
                <a:solidFill>
                  <a:srgbClr val="262B3A"/>
                </a:solidFill>
                <a:latin typeface="Calibri" pitchFamily="34" charset="0"/>
                <a:ea typeface="Calibri" pitchFamily="34" charset="-122"/>
                <a:cs typeface="Calibri" pitchFamily="34" charset="-120"/>
              </a:rPr>
              <a:t>÷ 1000</a:t>
            </a:r>
            <a:r>
              <a:rPr lang="en-US" sz="1100" dirty="0">
                <a:solidFill>
                  <a:srgbClr val="262B3A"/>
                </a:solidFill>
                <a:latin typeface="Calibri" pitchFamily="34" charset="0"/>
                <a:ea typeface="Calibri" pitchFamily="34" charset="-122"/>
                <a:cs typeface="Calibri" pitchFamily="34" charset="-120"/>
              </a:rPr>
              <a:t> for each step.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µ is the Greek letter "mu": 1 µm is one-thousandth of a millimetre.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Typical sizes: cheek cell </a:t>
            </a:r>
            <a:r>
              <a:rPr lang="en-US" sz="1100" b="1" dirty="0">
                <a:solidFill>
                  <a:srgbClr val="262B3A"/>
                </a:solidFill>
                <a:latin typeface="Calibri" pitchFamily="34" charset="0"/>
                <a:ea typeface="Calibri" pitchFamily="34" charset="-122"/>
                <a:cs typeface="Calibri" pitchFamily="34" charset="-120"/>
              </a:rPr>
              <a:t>60 µm</a:t>
            </a:r>
            <a:r>
              <a:rPr lang="en-US" sz="1100" dirty="0">
                <a:solidFill>
                  <a:srgbClr val="262B3A"/>
                </a:solidFill>
                <a:latin typeface="Calibri" pitchFamily="34" charset="0"/>
                <a:ea typeface="Calibri" pitchFamily="34" charset="-122"/>
                <a:cs typeface="Calibri" pitchFamily="34" charset="-120"/>
              </a:rPr>
              <a:t>; onion cell </a:t>
            </a:r>
            <a:r>
              <a:rPr lang="en-US" sz="1100" b="1" dirty="0">
                <a:solidFill>
                  <a:srgbClr val="262B3A"/>
                </a:solidFill>
                <a:latin typeface="Calibri" pitchFamily="34" charset="0"/>
                <a:ea typeface="Calibri" pitchFamily="34" charset="-122"/>
                <a:cs typeface="Calibri" pitchFamily="34" charset="-120"/>
              </a:rPr>
              <a:t>250 µm</a:t>
            </a:r>
            <a:r>
              <a:rPr lang="en-US" sz="1100" dirty="0">
                <a:solidFill>
                  <a:srgbClr val="262B3A"/>
                </a:solidFill>
                <a:latin typeface="Calibri" pitchFamily="34" charset="0"/>
                <a:ea typeface="Calibri" pitchFamily="34" charset="-122"/>
                <a:cs typeface="Calibri" pitchFamily="34" charset="-120"/>
              </a:rPr>
              <a:t>; mitochondrion </a:t>
            </a:r>
            <a:r>
              <a:rPr lang="en-US" sz="1100" b="1" dirty="0">
                <a:solidFill>
                  <a:srgbClr val="262B3A"/>
                </a:solidFill>
                <a:latin typeface="Calibri" pitchFamily="34" charset="0"/>
                <a:ea typeface="Calibri" pitchFamily="34" charset="-122"/>
                <a:cs typeface="Calibri" pitchFamily="34" charset="-120"/>
              </a:rPr>
              <a:t>2 µm</a:t>
            </a:r>
            <a:r>
              <a:rPr lang="en-US" sz="1100" dirty="0">
                <a:solidFill>
                  <a:srgbClr val="262B3A"/>
                </a:solidFill>
                <a:latin typeface="Calibri" pitchFamily="34" charset="0"/>
                <a:ea typeface="Calibri" pitchFamily="34" charset="-122"/>
                <a:cs typeface="Calibri" pitchFamily="34" charset="-120"/>
              </a:rPr>
              <a:t>; ribosome </a:t>
            </a:r>
            <a:r>
              <a:rPr lang="en-US" sz="1100" b="1" dirty="0">
                <a:solidFill>
                  <a:srgbClr val="262B3A"/>
                </a:solidFill>
                <a:latin typeface="Calibri" pitchFamily="34" charset="0"/>
                <a:ea typeface="Calibri" pitchFamily="34" charset="-122"/>
                <a:cs typeface="Calibri" pitchFamily="34" charset="-120"/>
              </a:rPr>
              <a:t>25 nm</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8" name="Text 3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converting</a:t>
            </a:r>
            <a:endParaRPr lang="en-US" sz="1300" dirty="0"/>
          </a:p>
        </p:txBody>
      </p:sp>
      <p:sp>
        <p:nvSpPr>
          <p:cNvPr id="39" name="Text 3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Convert (a) 0.06 mm into µm, (b) 2500 nm into µm.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 Step   </a:t>
            </a:r>
            <a:r>
              <a:rPr lang="en-US" sz="1050" dirty="0">
                <a:solidFill>
                  <a:srgbClr val="262B3A"/>
                </a:solidFill>
                <a:latin typeface="Calibri" pitchFamily="34" charset="0"/>
                <a:ea typeface="Calibri" pitchFamily="34" charset="-122"/>
                <a:cs typeface="Calibri" pitchFamily="34" charset="-120"/>
              </a:rPr>
              <a:t>mm → µm is one step down: × 1000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 Answer   </a:t>
            </a:r>
            <a:r>
              <a:rPr lang="en-US" sz="1050" dirty="0">
                <a:solidFill>
                  <a:srgbClr val="262B3A"/>
                </a:solidFill>
                <a:latin typeface="Calibri" pitchFamily="34" charset="0"/>
                <a:ea typeface="Calibri" pitchFamily="34" charset="-122"/>
                <a:cs typeface="Calibri" pitchFamily="34" charset="-120"/>
              </a:rPr>
              <a:t>0.06 × 1000 = 60 µm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(b) Step   </a:t>
            </a:r>
            <a:r>
              <a:rPr lang="en-US" sz="1050" dirty="0">
                <a:solidFill>
                  <a:srgbClr val="262B3A"/>
                </a:solidFill>
                <a:latin typeface="Calibri" pitchFamily="34" charset="0"/>
                <a:ea typeface="Calibri" pitchFamily="34" charset="-122"/>
                <a:cs typeface="Calibri" pitchFamily="34" charset="-120"/>
              </a:rPr>
              <a:t>nm → µm is one step up: ÷ 1000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(b) 2500 ÷ 1000 = 2.5 µm</a:t>
            </a:r>
            <a:endParaRPr lang="en-US" sz="1050" dirty="0"/>
          </a:p>
        </p:txBody>
      </p:sp>
      <p:sp>
        <p:nvSpPr>
          <p:cNvPr id="40" name="Shape 38"/>
          <p:cNvSpPr/>
          <p:nvPr/>
        </p:nvSpPr>
        <p:spPr>
          <a:xfrm>
            <a:off x="411480" y="5833872"/>
            <a:ext cx="11368735" cy="530352"/>
          </a:xfrm>
          <a:prstGeom prst="rect">
            <a:avLst/>
          </a:prstGeom>
          <a:solidFill>
            <a:srgbClr val="FFF4E0"/>
          </a:solidFill>
          <a:ln w="6350">
            <a:solidFill>
              <a:srgbClr val="F1D9A8"/>
            </a:solidFill>
            <a:prstDash val="solid"/>
          </a:ln>
        </p:spPr>
      </p:sp>
      <p:sp>
        <p:nvSpPr>
          <p:cNvPr id="41" name="Shape 39"/>
          <p:cNvSpPr/>
          <p:nvPr/>
        </p:nvSpPr>
        <p:spPr>
          <a:xfrm>
            <a:off x="411480" y="5833872"/>
            <a:ext cx="82296" cy="530352"/>
          </a:xfrm>
          <a:prstGeom prst="rect">
            <a:avLst/>
          </a:prstGeom>
          <a:solidFill>
            <a:srgbClr val="E39A2F"/>
          </a:solidFill>
          <a:ln w="12700">
            <a:solidFill>
              <a:srgbClr val="E39A2F"/>
            </a:solidFill>
            <a:prstDash val="solid"/>
          </a:ln>
        </p:spPr>
      </p:sp>
      <p:sp>
        <p:nvSpPr>
          <p:cNvPr id="42" name="Text 4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Convert (a) </a:t>
            </a:r>
            <a:r>
              <a:rPr lang="en-US" sz="1150" b="1" dirty="0">
                <a:solidFill>
                  <a:srgbClr val="262B3A"/>
                </a:solidFill>
                <a:latin typeface="Calibri" pitchFamily="34" charset="0"/>
                <a:ea typeface="Calibri" pitchFamily="34" charset="-122"/>
                <a:cs typeface="Calibri" pitchFamily="34" charset="-120"/>
              </a:rPr>
              <a:t>0.25 mm</a:t>
            </a:r>
            <a:r>
              <a:rPr lang="en-US" sz="1150" dirty="0">
                <a:solidFill>
                  <a:srgbClr val="262B3A"/>
                </a:solidFill>
                <a:latin typeface="Calibri" pitchFamily="34" charset="0"/>
                <a:ea typeface="Calibri" pitchFamily="34" charset="-122"/>
                <a:cs typeface="Calibri" pitchFamily="34" charset="-120"/>
              </a:rPr>
              <a:t> into µm and (b) </a:t>
            </a:r>
            <a:r>
              <a:rPr lang="en-US" sz="1150" b="1" dirty="0">
                <a:solidFill>
                  <a:srgbClr val="262B3A"/>
                </a:solidFill>
                <a:latin typeface="Calibri" pitchFamily="34" charset="0"/>
                <a:ea typeface="Calibri" pitchFamily="34" charset="-122"/>
                <a:cs typeface="Calibri" pitchFamily="34" charset="-120"/>
              </a:rPr>
              <a:t>25 nm</a:t>
            </a:r>
            <a:r>
              <a:rPr lang="en-US" sz="1150" dirty="0">
                <a:solidFill>
                  <a:srgbClr val="262B3A"/>
                </a:solidFill>
                <a:latin typeface="Calibri" pitchFamily="34" charset="0"/>
                <a:ea typeface="Calibri" pitchFamily="34" charset="-122"/>
                <a:cs typeface="Calibri" pitchFamily="34" charset="-120"/>
              </a:rPr>
              <a:t> into µm. Which is the onion cell and which is the ribosome?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Standard form and orders of magnitude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Higher maths • comparing sizes from atoms to cells on a powers-of-ten scale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Maths HT  |  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mark on the scale is 10 times bigger than the one before</a:t>
            </a:r>
            <a:endParaRPr lang="en-US" sz="1000" dirty="0"/>
          </a:p>
        </p:txBody>
      </p:sp>
      <p:sp>
        <p:nvSpPr>
          <p:cNvPr id="12" name="Shape 10"/>
          <p:cNvSpPr/>
          <p:nvPr/>
        </p:nvSpPr>
        <p:spPr>
          <a:xfrm>
            <a:off x="4944291" y="3794760"/>
            <a:ext cx="679269" cy="256032"/>
          </a:xfrm>
          <a:prstGeom prst="rect">
            <a:avLst/>
          </a:prstGeom>
          <a:solidFill>
            <a:srgbClr val="C9D1DA"/>
          </a:solidFill>
          <a:ln/>
        </p:spPr>
      </p:sp>
      <p:sp>
        <p:nvSpPr>
          <p:cNvPr id="13" name="Text 11"/>
          <p:cNvSpPr/>
          <p:nvPr/>
        </p:nvSpPr>
        <p:spPr>
          <a:xfrm>
            <a:off x="2521131" y="3794760"/>
            <a:ext cx="2377440" cy="256032"/>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naked eye (from 0.1 mm)</a:t>
            </a:r>
            <a:endParaRPr lang="en-US" sz="1000" dirty="0"/>
          </a:p>
        </p:txBody>
      </p:sp>
      <p:sp>
        <p:nvSpPr>
          <p:cNvPr id="14" name="Shape 12"/>
          <p:cNvSpPr/>
          <p:nvPr/>
        </p:nvSpPr>
        <p:spPr>
          <a:xfrm>
            <a:off x="3110966" y="4114800"/>
            <a:ext cx="2512594" cy="256032"/>
          </a:xfrm>
          <a:prstGeom prst="rect">
            <a:avLst/>
          </a:prstGeom>
          <a:solidFill>
            <a:srgbClr val="BFE3DF"/>
          </a:solidFill>
          <a:ln/>
        </p:spPr>
      </p:sp>
      <p:sp>
        <p:nvSpPr>
          <p:cNvPr id="15" name="Text 13"/>
          <p:cNvSpPr/>
          <p:nvPr/>
        </p:nvSpPr>
        <p:spPr>
          <a:xfrm>
            <a:off x="3184118" y="4114800"/>
            <a:ext cx="23774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light microscope (from 200 nm)</a:t>
            </a:r>
            <a:endParaRPr lang="en-US" sz="1000" dirty="0"/>
          </a:p>
        </p:txBody>
      </p:sp>
      <p:sp>
        <p:nvSpPr>
          <p:cNvPr id="16" name="Shape 14"/>
          <p:cNvSpPr/>
          <p:nvPr/>
        </p:nvSpPr>
        <p:spPr>
          <a:xfrm>
            <a:off x="1073160" y="4434840"/>
            <a:ext cx="4550400" cy="256032"/>
          </a:xfrm>
          <a:prstGeom prst="rect">
            <a:avLst/>
          </a:prstGeom>
          <a:solidFill>
            <a:srgbClr val="F6D9B5"/>
          </a:solidFill>
          <a:ln/>
        </p:spPr>
      </p:sp>
      <p:sp>
        <p:nvSpPr>
          <p:cNvPr id="17" name="Text 15"/>
          <p:cNvSpPr/>
          <p:nvPr/>
        </p:nvSpPr>
        <p:spPr>
          <a:xfrm>
            <a:off x="1146312" y="4434840"/>
            <a:ext cx="23774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electron microscope (from 0.2 nm)</a:t>
            </a:r>
            <a:endParaRPr lang="en-US" sz="1000" dirty="0"/>
          </a:p>
        </p:txBody>
      </p:sp>
      <p:sp>
        <p:nvSpPr>
          <p:cNvPr id="18" name="Shape 16"/>
          <p:cNvSpPr/>
          <p:nvPr/>
        </p:nvSpPr>
        <p:spPr>
          <a:xfrm>
            <a:off x="868680" y="3429000"/>
            <a:ext cx="4754880" cy="91"/>
          </a:xfrm>
          <a:prstGeom prst="line">
            <a:avLst/>
          </a:prstGeom>
          <a:noFill/>
          <a:ln w="25400">
            <a:solidFill>
              <a:srgbClr val="133536"/>
            </a:solidFill>
            <a:prstDash val="solid"/>
          </a:ln>
        </p:spPr>
      </p:sp>
      <p:sp>
        <p:nvSpPr>
          <p:cNvPr id="19" name="Shape 17"/>
          <p:cNvSpPr/>
          <p:nvPr/>
        </p:nvSpPr>
        <p:spPr>
          <a:xfrm>
            <a:off x="868680" y="3355848"/>
            <a:ext cx="91" cy="146304"/>
          </a:xfrm>
          <a:prstGeom prst="line">
            <a:avLst/>
          </a:prstGeom>
          <a:noFill/>
          <a:ln w="15875">
            <a:solidFill>
              <a:srgbClr val="133536"/>
            </a:solidFill>
            <a:prstDash val="solid"/>
          </a:ln>
        </p:spPr>
      </p:sp>
      <p:sp>
        <p:nvSpPr>
          <p:cNvPr id="20" name="Text 18"/>
          <p:cNvSpPr/>
          <p:nvPr/>
        </p:nvSpPr>
        <p:spPr>
          <a:xfrm>
            <a:off x="594360"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-10</a:t>
            </a:r>
            <a:endParaRPr lang="en-US" sz="1100" dirty="0"/>
          </a:p>
        </p:txBody>
      </p:sp>
      <p:sp>
        <p:nvSpPr>
          <p:cNvPr id="21" name="Shape 19"/>
          <p:cNvSpPr/>
          <p:nvPr/>
        </p:nvSpPr>
        <p:spPr>
          <a:xfrm>
            <a:off x="1547949" y="3355848"/>
            <a:ext cx="91" cy="146304"/>
          </a:xfrm>
          <a:prstGeom prst="line">
            <a:avLst/>
          </a:prstGeom>
          <a:noFill/>
          <a:ln w="15875">
            <a:solidFill>
              <a:srgbClr val="133536"/>
            </a:solidFill>
            <a:prstDash val="solid"/>
          </a:ln>
        </p:spPr>
      </p:sp>
      <p:sp>
        <p:nvSpPr>
          <p:cNvPr id="22" name="Text 20"/>
          <p:cNvSpPr/>
          <p:nvPr/>
        </p:nvSpPr>
        <p:spPr>
          <a:xfrm>
            <a:off x="1273629"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-9</a:t>
            </a:r>
            <a:endParaRPr lang="en-US" sz="1100" dirty="0"/>
          </a:p>
        </p:txBody>
      </p:sp>
      <p:sp>
        <p:nvSpPr>
          <p:cNvPr id="23" name="Shape 21"/>
          <p:cNvSpPr/>
          <p:nvPr/>
        </p:nvSpPr>
        <p:spPr>
          <a:xfrm>
            <a:off x="2227217" y="3355848"/>
            <a:ext cx="91" cy="146304"/>
          </a:xfrm>
          <a:prstGeom prst="line">
            <a:avLst/>
          </a:prstGeom>
          <a:noFill/>
          <a:ln w="15875">
            <a:solidFill>
              <a:srgbClr val="133536"/>
            </a:solidFill>
            <a:prstDash val="solid"/>
          </a:ln>
        </p:spPr>
      </p:sp>
      <p:sp>
        <p:nvSpPr>
          <p:cNvPr id="24" name="Text 22"/>
          <p:cNvSpPr/>
          <p:nvPr/>
        </p:nvSpPr>
        <p:spPr>
          <a:xfrm>
            <a:off x="1952897"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-8</a:t>
            </a:r>
            <a:endParaRPr lang="en-US" sz="1100" dirty="0"/>
          </a:p>
        </p:txBody>
      </p:sp>
      <p:sp>
        <p:nvSpPr>
          <p:cNvPr id="25" name="Shape 23"/>
          <p:cNvSpPr/>
          <p:nvPr/>
        </p:nvSpPr>
        <p:spPr>
          <a:xfrm>
            <a:off x="2906486" y="3355848"/>
            <a:ext cx="91" cy="146304"/>
          </a:xfrm>
          <a:prstGeom prst="line">
            <a:avLst/>
          </a:prstGeom>
          <a:noFill/>
          <a:ln w="15875">
            <a:solidFill>
              <a:srgbClr val="133536"/>
            </a:solidFill>
            <a:prstDash val="solid"/>
          </a:ln>
        </p:spPr>
      </p:sp>
      <p:sp>
        <p:nvSpPr>
          <p:cNvPr id="26" name="Text 24"/>
          <p:cNvSpPr/>
          <p:nvPr/>
        </p:nvSpPr>
        <p:spPr>
          <a:xfrm>
            <a:off x="2632166"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-7</a:t>
            </a:r>
            <a:endParaRPr lang="en-US" sz="1100" dirty="0"/>
          </a:p>
        </p:txBody>
      </p:sp>
      <p:sp>
        <p:nvSpPr>
          <p:cNvPr id="27" name="Shape 25"/>
          <p:cNvSpPr/>
          <p:nvPr/>
        </p:nvSpPr>
        <p:spPr>
          <a:xfrm>
            <a:off x="3585754" y="3355848"/>
            <a:ext cx="91" cy="146304"/>
          </a:xfrm>
          <a:prstGeom prst="line">
            <a:avLst/>
          </a:prstGeom>
          <a:noFill/>
          <a:ln w="15875">
            <a:solidFill>
              <a:srgbClr val="133536"/>
            </a:solidFill>
            <a:prstDash val="solid"/>
          </a:ln>
        </p:spPr>
      </p:sp>
      <p:sp>
        <p:nvSpPr>
          <p:cNvPr id="28" name="Text 26"/>
          <p:cNvSpPr/>
          <p:nvPr/>
        </p:nvSpPr>
        <p:spPr>
          <a:xfrm>
            <a:off x="3311434"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-6</a:t>
            </a:r>
            <a:endParaRPr lang="en-US" sz="1100" dirty="0"/>
          </a:p>
        </p:txBody>
      </p:sp>
      <p:sp>
        <p:nvSpPr>
          <p:cNvPr id="29" name="Shape 27"/>
          <p:cNvSpPr/>
          <p:nvPr/>
        </p:nvSpPr>
        <p:spPr>
          <a:xfrm>
            <a:off x="4265023" y="3355848"/>
            <a:ext cx="91" cy="146304"/>
          </a:xfrm>
          <a:prstGeom prst="line">
            <a:avLst/>
          </a:prstGeom>
          <a:noFill/>
          <a:ln w="15875">
            <a:solidFill>
              <a:srgbClr val="133536"/>
            </a:solidFill>
            <a:prstDash val="solid"/>
          </a:ln>
        </p:spPr>
      </p:sp>
      <p:sp>
        <p:nvSpPr>
          <p:cNvPr id="30" name="Text 28"/>
          <p:cNvSpPr/>
          <p:nvPr/>
        </p:nvSpPr>
        <p:spPr>
          <a:xfrm>
            <a:off x="3990703"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-5</a:t>
            </a:r>
            <a:endParaRPr lang="en-US" sz="1100" dirty="0"/>
          </a:p>
        </p:txBody>
      </p:sp>
      <p:sp>
        <p:nvSpPr>
          <p:cNvPr id="31" name="Shape 29"/>
          <p:cNvSpPr/>
          <p:nvPr/>
        </p:nvSpPr>
        <p:spPr>
          <a:xfrm>
            <a:off x="4944291" y="3355848"/>
            <a:ext cx="91" cy="146304"/>
          </a:xfrm>
          <a:prstGeom prst="line">
            <a:avLst/>
          </a:prstGeom>
          <a:noFill/>
          <a:ln w="15875">
            <a:solidFill>
              <a:srgbClr val="133536"/>
            </a:solidFill>
            <a:prstDash val="solid"/>
          </a:ln>
        </p:spPr>
      </p:sp>
      <p:sp>
        <p:nvSpPr>
          <p:cNvPr id="32" name="Text 30"/>
          <p:cNvSpPr/>
          <p:nvPr/>
        </p:nvSpPr>
        <p:spPr>
          <a:xfrm>
            <a:off x="4669971"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-4</a:t>
            </a:r>
            <a:endParaRPr lang="en-US" sz="1100" dirty="0"/>
          </a:p>
        </p:txBody>
      </p:sp>
      <p:sp>
        <p:nvSpPr>
          <p:cNvPr id="33" name="Shape 31"/>
          <p:cNvSpPr/>
          <p:nvPr/>
        </p:nvSpPr>
        <p:spPr>
          <a:xfrm>
            <a:off x="5623560" y="3355848"/>
            <a:ext cx="91" cy="146304"/>
          </a:xfrm>
          <a:prstGeom prst="line">
            <a:avLst/>
          </a:prstGeom>
          <a:noFill/>
          <a:ln w="15875">
            <a:solidFill>
              <a:srgbClr val="133536"/>
            </a:solidFill>
            <a:prstDash val="solid"/>
          </a:ln>
        </p:spPr>
      </p:sp>
      <p:sp>
        <p:nvSpPr>
          <p:cNvPr id="34" name="Text 32"/>
          <p:cNvSpPr/>
          <p:nvPr/>
        </p:nvSpPr>
        <p:spPr>
          <a:xfrm>
            <a:off x="5349240" y="3502152"/>
            <a:ext cx="548640" cy="237744"/>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10</a:t>
            </a:r>
            <a:r>
              <a:rPr lang="en-US" sz="1100" b="1" baseline="30000" dirty="0">
                <a:solidFill>
                  <a:srgbClr val="133536"/>
                </a:solidFill>
                <a:latin typeface="Calibri" pitchFamily="34" charset="0"/>
                <a:ea typeface="Calibri" pitchFamily="34" charset="-122"/>
                <a:cs typeface="Calibri" pitchFamily="34" charset="-120"/>
              </a:rPr>
              <a:t>-3</a:t>
            </a:r>
            <a:endParaRPr lang="en-US" sz="1100" dirty="0"/>
          </a:p>
        </p:txBody>
      </p:sp>
      <p:sp>
        <p:nvSpPr>
          <p:cNvPr id="35" name="Text 33"/>
          <p:cNvSpPr/>
          <p:nvPr/>
        </p:nvSpPr>
        <p:spPr>
          <a:xfrm>
            <a:off x="5733288" y="3310128"/>
            <a:ext cx="274320" cy="237744"/>
          </a:xfrm>
          <a:prstGeom prst="rect">
            <a:avLst/>
          </a:prstGeom>
          <a:noFill/>
          <a:ln/>
        </p:spPr>
        <p:txBody>
          <a:bodyPr wrap="square" lIns="0" tIns="0" rIns="0" bIns="0" rtlCol="0" anchor="ctr"/>
          <a:lstStyle/>
          <a:p>
            <a:pPr algn="r" indent="0" marL="0">
              <a:buNone/>
            </a:pPr>
            <a:r>
              <a:rPr lang="en-US" sz="1100" b="1" dirty="0">
                <a:solidFill>
                  <a:srgbClr val="262B3A"/>
                </a:solidFill>
                <a:latin typeface="Calibri" pitchFamily="34" charset="0"/>
                <a:ea typeface="Calibri" pitchFamily="34" charset="-122"/>
                <a:cs typeface="Calibri" pitchFamily="34" charset="-120"/>
              </a:rPr>
              <a:t>m</a:t>
            </a:r>
            <a:endParaRPr lang="en-US" sz="1100" dirty="0"/>
          </a:p>
        </p:txBody>
      </p:sp>
      <p:sp>
        <p:nvSpPr>
          <p:cNvPr id="36" name="Shape 34"/>
          <p:cNvSpPr/>
          <p:nvPr/>
        </p:nvSpPr>
        <p:spPr>
          <a:xfrm>
            <a:off x="868680" y="3337560"/>
            <a:ext cx="91" cy="91440"/>
          </a:xfrm>
          <a:prstGeom prst="line">
            <a:avLst/>
          </a:prstGeom>
          <a:noFill/>
          <a:ln w="9525">
            <a:solidFill>
              <a:srgbClr val="9AA3B0"/>
            </a:solidFill>
            <a:prstDash val="dash"/>
          </a:ln>
        </p:spPr>
      </p:sp>
      <p:sp>
        <p:nvSpPr>
          <p:cNvPr id="37" name="Shape 35"/>
          <p:cNvSpPr/>
          <p:nvPr/>
        </p:nvSpPr>
        <p:spPr>
          <a:xfrm>
            <a:off x="822960" y="3383280"/>
            <a:ext cx="91440" cy="91440"/>
          </a:xfrm>
          <a:prstGeom prst="ellipse">
            <a:avLst/>
          </a:prstGeom>
          <a:solidFill>
            <a:srgbClr val="C8414C"/>
          </a:solidFill>
          <a:ln w="9525">
            <a:solidFill>
              <a:srgbClr val="C8414C"/>
            </a:solidFill>
            <a:prstDash val="solid"/>
          </a:ln>
        </p:spPr>
      </p:sp>
      <p:sp>
        <p:nvSpPr>
          <p:cNvPr id="38" name="Text 36"/>
          <p:cNvSpPr/>
          <p:nvPr/>
        </p:nvSpPr>
        <p:spPr>
          <a:xfrm>
            <a:off x="548640" y="306324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atom</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0.1 nm</a:t>
            </a:r>
            <a:endParaRPr lang="en-US" sz="1000" dirty="0"/>
          </a:p>
        </p:txBody>
      </p:sp>
      <p:sp>
        <p:nvSpPr>
          <p:cNvPr id="39" name="Shape 37"/>
          <p:cNvSpPr/>
          <p:nvPr/>
        </p:nvSpPr>
        <p:spPr>
          <a:xfrm>
            <a:off x="2497525" y="2971800"/>
            <a:ext cx="91" cy="457200"/>
          </a:xfrm>
          <a:prstGeom prst="line">
            <a:avLst/>
          </a:prstGeom>
          <a:noFill/>
          <a:ln w="9525">
            <a:solidFill>
              <a:srgbClr val="9AA3B0"/>
            </a:solidFill>
            <a:prstDash val="dash"/>
          </a:ln>
        </p:spPr>
      </p:sp>
      <p:sp>
        <p:nvSpPr>
          <p:cNvPr id="40" name="Shape 38"/>
          <p:cNvSpPr/>
          <p:nvPr/>
        </p:nvSpPr>
        <p:spPr>
          <a:xfrm>
            <a:off x="2451805" y="3383280"/>
            <a:ext cx="91440" cy="91440"/>
          </a:xfrm>
          <a:prstGeom prst="ellipse">
            <a:avLst/>
          </a:prstGeom>
          <a:solidFill>
            <a:srgbClr val="C8414C"/>
          </a:solidFill>
          <a:ln w="9525">
            <a:solidFill>
              <a:srgbClr val="C8414C"/>
            </a:solidFill>
            <a:prstDash val="solid"/>
          </a:ln>
        </p:spPr>
      </p:sp>
      <p:sp>
        <p:nvSpPr>
          <p:cNvPr id="41" name="Text 39"/>
          <p:cNvSpPr/>
          <p:nvPr/>
        </p:nvSpPr>
        <p:spPr>
          <a:xfrm>
            <a:off x="1926025" y="269748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ribosome</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25 nm</a:t>
            </a:r>
            <a:endParaRPr lang="en-US" sz="1000" dirty="0"/>
          </a:p>
        </p:txBody>
      </p:sp>
      <p:sp>
        <p:nvSpPr>
          <p:cNvPr id="42" name="Shape 40"/>
          <p:cNvSpPr/>
          <p:nvPr/>
        </p:nvSpPr>
        <p:spPr>
          <a:xfrm>
            <a:off x="2906486" y="2606040"/>
            <a:ext cx="91" cy="822960"/>
          </a:xfrm>
          <a:prstGeom prst="line">
            <a:avLst/>
          </a:prstGeom>
          <a:noFill/>
          <a:ln w="9525">
            <a:solidFill>
              <a:srgbClr val="9AA3B0"/>
            </a:solidFill>
            <a:prstDash val="dash"/>
          </a:ln>
        </p:spPr>
      </p:sp>
      <p:sp>
        <p:nvSpPr>
          <p:cNvPr id="43" name="Shape 41"/>
          <p:cNvSpPr/>
          <p:nvPr/>
        </p:nvSpPr>
        <p:spPr>
          <a:xfrm>
            <a:off x="2860766" y="3383280"/>
            <a:ext cx="91440" cy="91440"/>
          </a:xfrm>
          <a:prstGeom prst="ellipse">
            <a:avLst/>
          </a:prstGeom>
          <a:solidFill>
            <a:srgbClr val="C8414C"/>
          </a:solidFill>
          <a:ln w="9525">
            <a:solidFill>
              <a:srgbClr val="C8414C"/>
            </a:solidFill>
            <a:prstDash val="solid"/>
          </a:ln>
        </p:spPr>
      </p:sp>
      <p:sp>
        <p:nvSpPr>
          <p:cNvPr id="44" name="Text 42"/>
          <p:cNvSpPr/>
          <p:nvPr/>
        </p:nvSpPr>
        <p:spPr>
          <a:xfrm>
            <a:off x="2334986" y="233172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virus</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100 nm</a:t>
            </a:r>
            <a:endParaRPr lang="en-US" sz="1000" dirty="0"/>
          </a:p>
        </p:txBody>
      </p:sp>
      <p:sp>
        <p:nvSpPr>
          <p:cNvPr id="45" name="Shape 43"/>
          <p:cNvSpPr/>
          <p:nvPr/>
        </p:nvSpPr>
        <p:spPr>
          <a:xfrm>
            <a:off x="3790235" y="3337560"/>
            <a:ext cx="91" cy="91440"/>
          </a:xfrm>
          <a:prstGeom prst="line">
            <a:avLst/>
          </a:prstGeom>
          <a:noFill/>
          <a:ln w="9525">
            <a:solidFill>
              <a:srgbClr val="9AA3B0"/>
            </a:solidFill>
            <a:prstDash val="dash"/>
          </a:ln>
        </p:spPr>
      </p:sp>
      <p:sp>
        <p:nvSpPr>
          <p:cNvPr id="46" name="Shape 44"/>
          <p:cNvSpPr/>
          <p:nvPr/>
        </p:nvSpPr>
        <p:spPr>
          <a:xfrm>
            <a:off x="3744515" y="3383280"/>
            <a:ext cx="91440" cy="91440"/>
          </a:xfrm>
          <a:prstGeom prst="ellipse">
            <a:avLst/>
          </a:prstGeom>
          <a:solidFill>
            <a:srgbClr val="C8414C"/>
          </a:solidFill>
          <a:ln w="9525">
            <a:solidFill>
              <a:srgbClr val="C8414C"/>
            </a:solidFill>
            <a:prstDash val="solid"/>
          </a:ln>
        </p:spPr>
      </p:sp>
      <p:sp>
        <p:nvSpPr>
          <p:cNvPr id="47" name="Text 45"/>
          <p:cNvSpPr/>
          <p:nvPr/>
        </p:nvSpPr>
        <p:spPr>
          <a:xfrm>
            <a:off x="3218735" y="306324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mitochondrion</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2 µm</a:t>
            </a:r>
            <a:endParaRPr lang="en-US" sz="1000" dirty="0"/>
          </a:p>
        </p:txBody>
      </p:sp>
      <p:sp>
        <p:nvSpPr>
          <p:cNvPr id="48" name="Shape 46"/>
          <p:cNvSpPr/>
          <p:nvPr/>
        </p:nvSpPr>
        <p:spPr>
          <a:xfrm>
            <a:off x="3790235" y="2971800"/>
            <a:ext cx="91" cy="457200"/>
          </a:xfrm>
          <a:prstGeom prst="line">
            <a:avLst/>
          </a:prstGeom>
          <a:noFill/>
          <a:ln w="9525">
            <a:solidFill>
              <a:srgbClr val="9AA3B0"/>
            </a:solidFill>
            <a:prstDash val="dash"/>
          </a:ln>
        </p:spPr>
      </p:sp>
      <p:sp>
        <p:nvSpPr>
          <p:cNvPr id="49" name="Shape 47"/>
          <p:cNvSpPr/>
          <p:nvPr/>
        </p:nvSpPr>
        <p:spPr>
          <a:xfrm>
            <a:off x="3744515" y="3383280"/>
            <a:ext cx="91440" cy="91440"/>
          </a:xfrm>
          <a:prstGeom prst="ellipse">
            <a:avLst/>
          </a:prstGeom>
          <a:solidFill>
            <a:srgbClr val="C8414C"/>
          </a:solidFill>
          <a:ln w="9525">
            <a:solidFill>
              <a:srgbClr val="C8414C"/>
            </a:solidFill>
            <a:prstDash val="solid"/>
          </a:ln>
        </p:spPr>
      </p:sp>
      <p:sp>
        <p:nvSpPr>
          <p:cNvPr id="50" name="Text 48"/>
          <p:cNvSpPr/>
          <p:nvPr/>
        </p:nvSpPr>
        <p:spPr>
          <a:xfrm>
            <a:off x="3218735" y="269748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bacterium</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2 µm</a:t>
            </a:r>
            <a:endParaRPr lang="en-US" sz="1000" dirty="0"/>
          </a:p>
        </p:txBody>
      </p:sp>
      <p:sp>
        <p:nvSpPr>
          <p:cNvPr id="51" name="Shape 49"/>
          <p:cNvSpPr/>
          <p:nvPr/>
        </p:nvSpPr>
        <p:spPr>
          <a:xfrm>
            <a:off x="4060543" y="2606040"/>
            <a:ext cx="91" cy="822960"/>
          </a:xfrm>
          <a:prstGeom prst="line">
            <a:avLst/>
          </a:prstGeom>
          <a:noFill/>
          <a:ln w="9525">
            <a:solidFill>
              <a:srgbClr val="9AA3B0"/>
            </a:solidFill>
            <a:prstDash val="dash"/>
          </a:ln>
        </p:spPr>
      </p:sp>
      <p:sp>
        <p:nvSpPr>
          <p:cNvPr id="52" name="Shape 50"/>
          <p:cNvSpPr/>
          <p:nvPr/>
        </p:nvSpPr>
        <p:spPr>
          <a:xfrm>
            <a:off x="4014823" y="3383280"/>
            <a:ext cx="91440" cy="91440"/>
          </a:xfrm>
          <a:prstGeom prst="ellipse">
            <a:avLst/>
          </a:prstGeom>
          <a:solidFill>
            <a:srgbClr val="C8414C"/>
          </a:solidFill>
          <a:ln w="9525">
            <a:solidFill>
              <a:srgbClr val="C8414C"/>
            </a:solidFill>
            <a:prstDash val="solid"/>
          </a:ln>
        </p:spPr>
      </p:sp>
      <p:sp>
        <p:nvSpPr>
          <p:cNvPr id="53" name="Text 51"/>
          <p:cNvSpPr/>
          <p:nvPr/>
        </p:nvSpPr>
        <p:spPr>
          <a:xfrm>
            <a:off x="3489043" y="233172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chloroplast</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5 µm</a:t>
            </a:r>
            <a:endParaRPr lang="en-US" sz="1000" dirty="0"/>
          </a:p>
        </p:txBody>
      </p:sp>
      <p:sp>
        <p:nvSpPr>
          <p:cNvPr id="54" name="Shape 52"/>
          <p:cNvSpPr/>
          <p:nvPr/>
        </p:nvSpPr>
        <p:spPr>
          <a:xfrm>
            <a:off x="4793597" y="2240280"/>
            <a:ext cx="91" cy="1188720"/>
          </a:xfrm>
          <a:prstGeom prst="line">
            <a:avLst/>
          </a:prstGeom>
          <a:noFill/>
          <a:ln w="9525">
            <a:solidFill>
              <a:srgbClr val="9AA3B0"/>
            </a:solidFill>
            <a:prstDash val="dash"/>
          </a:ln>
        </p:spPr>
      </p:sp>
      <p:sp>
        <p:nvSpPr>
          <p:cNvPr id="55" name="Shape 53"/>
          <p:cNvSpPr/>
          <p:nvPr/>
        </p:nvSpPr>
        <p:spPr>
          <a:xfrm>
            <a:off x="4747877" y="3383280"/>
            <a:ext cx="91440" cy="91440"/>
          </a:xfrm>
          <a:prstGeom prst="ellipse">
            <a:avLst/>
          </a:prstGeom>
          <a:solidFill>
            <a:srgbClr val="C8414C"/>
          </a:solidFill>
          <a:ln w="9525">
            <a:solidFill>
              <a:srgbClr val="C8414C"/>
            </a:solidFill>
            <a:prstDash val="solid"/>
          </a:ln>
        </p:spPr>
      </p:sp>
      <p:sp>
        <p:nvSpPr>
          <p:cNvPr id="56" name="Text 54"/>
          <p:cNvSpPr/>
          <p:nvPr/>
        </p:nvSpPr>
        <p:spPr>
          <a:xfrm>
            <a:off x="4222097" y="196596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cheek cell</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60 µm</a:t>
            </a:r>
            <a:endParaRPr lang="en-US" sz="1000" dirty="0"/>
          </a:p>
        </p:txBody>
      </p:sp>
      <p:sp>
        <p:nvSpPr>
          <p:cNvPr id="57" name="Shape 55"/>
          <p:cNvSpPr/>
          <p:nvPr/>
        </p:nvSpPr>
        <p:spPr>
          <a:xfrm>
            <a:off x="5214600" y="1874520"/>
            <a:ext cx="91" cy="1554480"/>
          </a:xfrm>
          <a:prstGeom prst="line">
            <a:avLst/>
          </a:prstGeom>
          <a:noFill/>
          <a:ln w="9525">
            <a:solidFill>
              <a:srgbClr val="9AA3B0"/>
            </a:solidFill>
            <a:prstDash val="dash"/>
          </a:ln>
        </p:spPr>
      </p:sp>
      <p:sp>
        <p:nvSpPr>
          <p:cNvPr id="58" name="Shape 56"/>
          <p:cNvSpPr/>
          <p:nvPr/>
        </p:nvSpPr>
        <p:spPr>
          <a:xfrm>
            <a:off x="5168880" y="3383280"/>
            <a:ext cx="91440" cy="91440"/>
          </a:xfrm>
          <a:prstGeom prst="ellipse">
            <a:avLst/>
          </a:prstGeom>
          <a:solidFill>
            <a:srgbClr val="C8414C"/>
          </a:solidFill>
          <a:ln w="9525">
            <a:solidFill>
              <a:srgbClr val="C8414C"/>
            </a:solidFill>
            <a:prstDash val="solid"/>
          </a:ln>
        </p:spPr>
      </p:sp>
      <p:sp>
        <p:nvSpPr>
          <p:cNvPr id="59" name="Text 57"/>
          <p:cNvSpPr/>
          <p:nvPr/>
        </p:nvSpPr>
        <p:spPr>
          <a:xfrm>
            <a:off x="4643100" y="1600200"/>
            <a:ext cx="114300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onion cell</a:t>
            </a:r>
            <a:endParaRPr lang="en-US" sz="1000" dirty="0"/>
          </a:p>
          <a:p>
            <a:pPr algn="ctr" indent="0" marL="0">
              <a:buNone/>
            </a:pPr>
            <a:r>
              <a:rPr lang="en-US" sz="1000" dirty="0">
                <a:solidFill>
                  <a:srgbClr val="133536"/>
                </a:solidFill>
                <a:latin typeface="Calibri" pitchFamily="34" charset="0"/>
                <a:ea typeface="Calibri" pitchFamily="34" charset="-122"/>
                <a:cs typeface="Calibri" pitchFamily="34" charset="-120"/>
              </a:rPr>
              <a:t>250 µm</a:t>
            </a:r>
            <a:endParaRPr lang="en-US" sz="1000" dirty="0"/>
          </a:p>
        </p:txBody>
      </p:sp>
      <p:sp>
        <p:nvSpPr>
          <p:cNvPr id="60" name="Text 58"/>
          <p:cNvSpPr/>
          <p:nvPr/>
        </p:nvSpPr>
        <p:spPr>
          <a:xfrm>
            <a:off x="640080" y="1325880"/>
            <a:ext cx="51206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Sizes on a powers-of-ten (log) scale</a:t>
            </a:r>
            <a:endParaRPr lang="en-US" sz="1100" dirty="0"/>
          </a:p>
        </p:txBody>
      </p:sp>
      <p:sp>
        <p:nvSpPr>
          <p:cNvPr id="61" name="Shape 59"/>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62" name="Text 6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Standard form</a:t>
            </a:r>
            <a:endParaRPr lang="en-US" sz="1300" dirty="0"/>
          </a:p>
        </p:txBody>
      </p:sp>
      <p:sp>
        <p:nvSpPr>
          <p:cNvPr id="63" name="Text 6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Standard form: </a:t>
            </a:r>
            <a:r>
              <a:rPr lang="en-US" sz="1100" b="1" dirty="0">
                <a:solidFill>
                  <a:srgbClr val="0D7877"/>
                </a:solidFill>
                <a:latin typeface="Calibri" pitchFamily="34" charset="0"/>
                <a:ea typeface="Calibri" pitchFamily="34" charset="-122"/>
                <a:cs typeface="Calibri" pitchFamily="34" charset="-120"/>
              </a:rPr>
              <a:t>A × 10</a:t>
            </a:r>
            <a:r>
              <a:rPr lang="en-US" sz="1100" baseline="30000" dirty="0">
                <a:solidFill>
                  <a:srgbClr val="262B3A"/>
                </a:solidFill>
                <a:latin typeface="Calibri" pitchFamily="34" charset="0"/>
                <a:ea typeface="Calibri" pitchFamily="34" charset="-122"/>
                <a:cs typeface="Calibri" pitchFamily="34" charset="-120"/>
              </a:rPr>
              <a:t>n</a:t>
            </a:r>
            <a:r>
              <a:rPr lang="en-US" sz="1100" dirty="0">
                <a:solidFill>
                  <a:srgbClr val="262B3A"/>
                </a:solidFill>
                <a:latin typeface="Calibri" pitchFamily="34" charset="0"/>
                <a:ea typeface="Calibri" pitchFamily="34" charset="-122"/>
                <a:cs typeface="Calibri" pitchFamily="34" charset="-120"/>
              </a:rPr>
              <a:t> where A is between 1 and 10. Small sizes have a </a:t>
            </a:r>
            <a:r>
              <a:rPr lang="en-US" sz="1100" b="1" dirty="0">
                <a:solidFill>
                  <a:srgbClr val="262B3A"/>
                </a:solidFill>
                <a:latin typeface="Calibri" pitchFamily="34" charset="0"/>
                <a:ea typeface="Calibri" pitchFamily="34" charset="-122"/>
                <a:cs typeface="Calibri" pitchFamily="34" charset="-120"/>
              </a:rPr>
              <a:t>negative</a:t>
            </a:r>
            <a:r>
              <a:rPr lang="en-US" sz="1100" dirty="0">
                <a:solidFill>
                  <a:srgbClr val="262B3A"/>
                </a:solidFill>
                <a:latin typeface="Calibri" pitchFamily="34" charset="0"/>
                <a:ea typeface="Calibri" pitchFamily="34" charset="-122"/>
                <a:cs typeface="Calibri" pitchFamily="34" charset="-120"/>
              </a:rPr>
              <a:t> power.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1 mm = 10</a:t>
            </a:r>
            <a:r>
              <a:rPr lang="en-US" sz="1100" baseline="30000" dirty="0">
                <a:solidFill>
                  <a:srgbClr val="262B3A"/>
                </a:solidFill>
                <a:latin typeface="Calibri" pitchFamily="34" charset="0"/>
                <a:ea typeface="Calibri" pitchFamily="34" charset="-122"/>
                <a:cs typeface="Calibri" pitchFamily="34" charset="-120"/>
              </a:rPr>
              <a:t>−3</a:t>
            </a:r>
            <a:r>
              <a:rPr lang="en-US" sz="1100" dirty="0">
                <a:solidFill>
                  <a:srgbClr val="262B3A"/>
                </a:solidFill>
                <a:latin typeface="Calibri" pitchFamily="34" charset="0"/>
                <a:ea typeface="Calibri" pitchFamily="34" charset="-122"/>
                <a:cs typeface="Calibri" pitchFamily="34" charset="-120"/>
              </a:rPr>
              <a:t> m   1 µm = 10</a:t>
            </a:r>
            <a:r>
              <a:rPr lang="en-US" sz="1100" baseline="30000" dirty="0">
                <a:solidFill>
                  <a:srgbClr val="262B3A"/>
                </a:solidFill>
                <a:latin typeface="Calibri" pitchFamily="34" charset="0"/>
                <a:ea typeface="Calibri" pitchFamily="34" charset="-122"/>
                <a:cs typeface="Calibri" pitchFamily="34" charset="-120"/>
              </a:rPr>
              <a:t>−6</a:t>
            </a:r>
            <a:r>
              <a:rPr lang="en-US" sz="1100" dirty="0">
                <a:solidFill>
                  <a:srgbClr val="262B3A"/>
                </a:solidFill>
                <a:latin typeface="Calibri" pitchFamily="34" charset="0"/>
                <a:ea typeface="Calibri" pitchFamily="34" charset="-122"/>
                <a:cs typeface="Calibri" pitchFamily="34" charset="-120"/>
              </a:rPr>
              <a:t> m   1 nm = 10</a:t>
            </a:r>
            <a:r>
              <a:rPr lang="en-US" sz="1100" baseline="30000" dirty="0">
                <a:solidFill>
                  <a:srgbClr val="262B3A"/>
                </a:solidFill>
                <a:latin typeface="Calibri" pitchFamily="34" charset="0"/>
                <a:ea typeface="Calibri" pitchFamily="34" charset="-122"/>
                <a:cs typeface="Calibri" pitchFamily="34" charset="-120"/>
              </a:rPr>
              <a:t>−9</a:t>
            </a:r>
            <a:r>
              <a:rPr lang="en-US" sz="1100" dirty="0">
                <a:solidFill>
                  <a:srgbClr val="262B3A"/>
                </a:solidFill>
                <a:latin typeface="Calibri" pitchFamily="34" charset="0"/>
                <a:ea typeface="Calibri" pitchFamily="34" charset="-122"/>
                <a:cs typeface="Calibri" pitchFamily="34" charset="-120"/>
              </a:rPr>
              <a:t> 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e.g. 60 µm = 60 × 10</a:t>
            </a:r>
            <a:r>
              <a:rPr lang="en-US" sz="1100" baseline="30000" dirty="0">
                <a:solidFill>
                  <a:srgbClr val="262B3A"/>
                </a:solidFill>
                <a:latin typeface="Calibri" pitchFamily="34" charset="0"/>
                <a:ea typeface="Calibri" pitchFamily="34" charset="-122"/>
                <a:cs typeface="Calibri" pitchFamily="34" charset="-120"/>
              </a:rPr>
              <a:t>−6</a:t>
            </a:r>
            <a:r>
              <a:rPr lang="en-US" sz="1100" dirty="0">
                <a:solidFill>
                  <a:srgbClr val="262B3A"/>
                </a:solidFill>
                <a:latin typeface="Calibri" pitchFamily="34" charset="0"/>
                <a:ea typeface="Calibri" pitchFamily="34" charset="-122"/>
                <a:cs typeface="Calibri" pitchFamily="34" charset="-120"/>
              </a:rPr>
              <a:t> m = </a:t>
            </a:r>
            <a:r>
              <a:rPr lang="en-US" sz="1100" b="1" dirty="0">
                <a:solidFill>
                  <a:srgbClr val="0D7877"/>
                </a:solidFill>
                <a:latin typeface="Calibri" pitchFamily="34" charset="0"/>
                <a:ea typeface="Calibri" pitchFamily="34" charset="-122"/>
                <a:cs typeface="Calibri" pitchFamily="34" charset="-120"/>
              </a:rPr>
              <a:t>6 × 10</a:t>
            </a:r>
            <a:r>
              <a:rPr lang="en-US" sz="1100" baseline="30000" dirty="0">
                <a:solidFill>
                  <a:srgbClr val="262B3A"/>
                </a:solidFill>
                <a:latin typeface="Calibri" pitchFamily="34" charset="0"/>
                <a:ea typeface="Calibri" pitchFamily="34" charset="-122"/>
                <a:cs typeface="Calibri" pitchFamily="34" charset="-120"/>
              </a:rPr>
              <a:t>−5</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0D7877"/>
                </a:solidFill>
                <a:latin typeface="Calibri" pitchFamily="34" charset="0"/>
                <a:ea typeface="Calibri" pitchFamily="34" charset="-122"/>
                <a:cs typeface="Calibri" pitchFamily="34" charset="-120"/>
              </a:rPr>
              <a:t>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 </a:t>
            </a:r>
            <a:r>
              <a:rPr lang="en-US" sz="1100" b="1" dirty="0">
                <a:solidFill>
                  <a:srgbClr val="262B3A"/>
                </a:solidFill>
                <a:latin typeface="Calibri" pitchFamily="34" charset="0"/>
                <a:ea typeface="Calibri" pitchFamily="34" charset="-122"/>
                <a:cs typeface="Calibri" pitchFamily="34" charset="-120"/>
              </a:rPr>
              <a:t>order of magnitude</a:t>
            </a:r>
            <a:r>
              <a:rPr lang="en-US" sz="1100" dirty="0">
                <a:solidFill>
                  <a:srgbClr val="262B3A"/>
                </a:solidFill>
                <a:latin typeface="Calibri" pitchFamily="34" charset="0"/>
                <a:ea typeface="Calibri" pitchFamily="34" charset="-122"/>
                <a:cs typeface="Calibri" pitchFamily="34" charset="-120"/>
              </a:rPr>
              <a:t> is a factor of </a:t>
            </a:r>
            <a:r>
              <a:rPr lang="en-US" sz="1100" b="1" dirty="0">
                <a:solidFill>
                  <a:srgbClr val="262B3A"/>
                </a:solidFill>
                <a:latin typeface="Calibri" pitchFamily="34" charset="0"/>
                <a:ea typeface="Calibri" pitchFamily="34" charset="-122"/>
                <a:cs typeface="Calibri" pitchFamily="34" charset="-120"/>
              </a:rPr>
              <a:t>10</a:t>
            </a:r>
            <a:r>
              <a:rPr lang="en-US" sz="1100" dirty="0">
                <a:solidFill>
                  <a:srgbClr val="262B3A"/>
                </a:solidFill>
                <a:latin typeface="Calibri" pitchFamily="34" charset="0"/>
                <a:ea typeface="Calibri" pitchFamily="34" charset="-122"/>
                <a:cs typeface="Calibri" pitchFamily="34" charset="-120"/>
              </a:rPr>
              <a:t>. Two orders of magnitude = 100 times.</a:t>
            </a:r>
            <a:endParaRPr lang="en-US" sz="1100" dirty="0"/>
          </a:p>
        </p:txBody>
      </p:sp>
      <p:sp>
        <p:nvSpPr>
          <p:cNvPr id="64" name="Shape 6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5" name="Text 6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(HT): orders of magnitude</a:t>
            </a:r>
            <a:endParaRPr lang="en-US" sz="1300" dirty="0"/>
          </a:p>
        </p:txBody>
      </p:sp>
      <p:sp>
        <p:nvSpPr>
          <p:cNvPr id="66" name="Text 64"/>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cheek cell is 6 × 10</a:t>
            </a:r>
            <a:r>
              <a:rPr lang="en-US" sz="1050" i="1" baseline="30000" dirty="0">
                <a:solidFill>
                  <a:srgbClr val="262B3A"/>
                </a:solidFill>
                <a:latin typeface="Calibri" pitchFamily="34" charset="0"/>
                <a:ea typeface="Calibri" pitchFamily="34" charset="-122"/>
                <a:cs typeface="Calibri" pitchFamily="34" charset="-120"/>
              </a:rPr>
              <a:t>−5</a:t>
            </a:r>
            <a:r>
              <a:rPr lang="en-US" sz="1050" i="1" dirty="0">
                <a:solidFill>
                  <a:srgbClr val="262B3A"/>
                </a:solidFill>
                <a:latin typeface="Calibri" pitchFamily="34" charset="0"/>
                <a:ea typeface="Calibri" pitchFamily="34" charset="-122"/>
                <a:cs typeface="Calibri" pitchFamily="34" charset="-120"/>
              </a:rPr>
              <a:t> m. A ribosome is 25 nm. How many orders of magnitude bigger is the cell?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Convert   </a:t>
            </a:r>
            <a:r>
              <a:rPr lang="en-US" sz="1050" dirty="0">
                <a:solidFill>
                  <a:srgbClr val="262B3A"/>
                </a:solidFill>
                <a:latin typeface="Calibri" pitchFamily="34" charset="0"/>
                <a:ea typeface="Calibri" pitchFamily="34" charset="-122"/>
                <a:cs typeface="Calibri" pitchFamily="34" charset="-120"/>
              </a:rPr>
              <a:t>25 nm = 25 × 10</a:t>
            </a:r>
            <a:r>
              <a:rPr lang="en-US" sz="1050" baseline="30000" dirty="0">
                <a:solidFill>
                  <a:srgbClr val="262B3A"/>
                </a:solidFill>
                <a:latin typeface="Calibri" pitchFamily="34" charset="0"/>
                <a:ea typeface="Calibri" pitchFamily="34" charset="-122"/>
                <a:cs typeface="Calibri" pitchFamily="34" charset="-120"/>
              </a:rPr>
              <a:t>−9</a:t>
            </a:r>
            <a:r>
              <a:rPr lang="en-US" sz="1050" dirty="0">
                <a:solidFill>
                  <a:srgbClr val="262B3A"/>
                </a:solidFill>
                <a:latin typeface="Calibri" pitchFamily="34" charset="0"/>
                <a:ea typeface="Calibri" pitchFamily="34" charset="-122"/>
                <a:cs typeface="Calibri" pitchFamily="34" charset="-120"/>
              </a:rPr>
              <a:t> m = 2.5 × 10</a:t>
            </a:r>
            <a:r>
              <a:rPr lang="en-US" sz="1050" baseline="30000" dirty="0">
                <a:solidFill>
                  <a:srgbClr val="262B3A"/>
                </a:solidFill>
                <a:latin typeface="Calibri" pitchFamily="34" charset="0"/>
                <a:ea typeface="Calibri" pitchFamily="34" charset="-122"/>
                <a:cs typeface="Calibri" pitchFamily="34" charset="-120"/>
              </a:rPr>
              <a:t>−8</a:t>
            </a:r>
            <a:r>
              <a:rPr lang="en-US" sz="1050" dirty="0">
                <a:solidFill>
                  <a:srgbClr val="262B3A"/>
                </a:solidFill>
                <a:latin typeface="Calibri" pitchFamily="34" charset="0"/>
                <a:ea typeface="Calibri" pitchFamily="34" charset="-122"/>
                <a:cs typeface="Calibri" pitchFamily="34" charset="-120"/>
              </a:rPr>
              <a:t> 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(6 × 10</a:t>
            </a:r>
            <a:r>
              <a:rPr lang="en-US" sz="1050" baseline="30000" dirty="0">
                <a:solidFill>
                  <a:srgbClr val="262B3A"/>
                </a:solidFill>
                <a:latin typeface="Calibri" pitchFamily="34" charset="0"/>
                <a:ea typeface="Calibri" pitchFamily="34" charset="-122"/>
                <a:cs typeface="Calibri" pitchFamily="34" charset="-120"/>
              </a:rPr>
              <a:t>−5</a:t>
            </a:r>
            <a:r>
              <a:rPr lang="en-US" sz="1050" dirty="0">
                <a:solidFill>
                  <a:srgbClr val="262B3A"/>
                </a:solidFill>
                <a:latin typeface="Calibri" pitchFamily="34" charset="0"/>
                <a:ea typeface="Calibri" pitchFamily="34" charset="-122"/>
                <a:cs typeface="Calibri" pitchFamily="34" charset="-120"/>
              </a:rPr>
              <a:t>) ÷ (2.5 × 10</a:t>
            </a:r>
            <a:r>
              <a:rPr lang="en-US" sz="1050" baseline="30000" dirty="0">
                <a:solidFill>
                  <a:srgbClr val="262B3A"/>
                </a:solidFill>
                <a:latin typeface="Calibri" pitchFamily="34" charset="0"/>
                <a:ea typeface="Calibri" pitchFamily="34" charset="-122"/>
                <a:cs typeface="Calibri" pitchFamily="34" charset="-120"/>
              </a:rPr>
              <a:t>−8</a:t>
            </a:r>
            <a:r>
              <a:rPr lang="en-US" sz="1050" dirty="0">
                <a:solidFill>
                  <a:srgbClr val="262B3A"/>
                </a:solidFill>
                <a:latin typeface="Calibri" pitchFamily="34" charset="0"/>
                <a:ea typeface="Calibri" pitchFamily="34" charset="-122"/>
                <a:cs typeface="Calibri" pitchFamily="34" charset="-120"/>
              </a:rPr>
              <a:t>) = 2.4 × 10</a:t>
            </a:r>
            <a:r>
              <a:rPr lang="en-US" sz="1050" baseline="30000" dirty="0">
                <a:solidFill>
                  <a:srgbClr val="262B3A"/>
                </a:solidFill>
                <a:latin typeface="Calibri" pitchFamily="34" charset="0"/>
                <a:ea typeface="Calibri" pitchFamily="34" charset="-122"/>
                <a:cs typeface="Calibri" pitchFamily="34" charset="-120"/>
              </a:rPr>
              <a:t>3</a:t>
            </a:r>
            <a:r>
              <a:rPr lang="en-US" sz="1050" dirty="0">
                <a:solidFill>
                  <a:srgbClr val="262B3A"/>
                </a:solidFill>
                <a:latin typeface="Calibri" pitchFamily="34" charset="0"/>
                <a:ea typeface="Calibri" pitchFamily="34" charset="-122"/>
                <a:cs typeface="Calibri" pitchFamily="34" charset="-120"/>
              </a:rPr>
              <a:t> = 2400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Nearest power   </a:t>
            </a:r>
            <a:r>
              <a:rPr lang="en-US" sz="1050" dirty="0">
                <a:solidFill>
                  <a:srgbClr val="262B3A"/>
                </a:solidFill>
                <a:latin typeface="Calibri" pitchFamily="34" charset="0"/>
                <a:ea typeface="Calibri" pitchFamily="34" charset="-122"/>
                <a:cs typeface="Calibri" pitchFamily="34" charset="-120"/>
              </a:rPr>
              <a:t>2400 is closest to 10</a:t>
            </a:r>
            <a:r>
              <a:rPr lang="en-US" sz="1050" baseline="30000" dirty="0">
                <a:solidFill>
                  <a:srgbClr val="262B3A"/>
                </a:solidFill>
                <a:latin typeface="Calibri" pitchFamily="34" charset="0"/>
                <a:ea typeface="Calibri" pitchFamily="34" charset="-122"/>
                <a:cs typeface="Calibri" pitchFamily="34" charset="-120"/>
              </a:rPr>
              <a:t>3</a:t>
            </a:r>
            <a:r>
              <a:rPr lang="en-US" sz="1050" dirty="0">
                <a:solidFill>
                  <a:srgbClr val="262B3A"/>
                </a:solidFill>
                <a:latin typeface="Calibri" pitchFamily="34" charset="0"/>
                <a:ea typeface="Calibri" pitchFamily="34" charset="-122"/>
                <a:cs typeface="Calibri" pitchFamily="34" charset="-120"/>
              </a:rPr>
              <a:t> (log₁₀ 2400 ≈ 3.4)</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about 3 orders of magnitude (≈ 1000 times) bigger</a:t>
            </a:r>
            <a:endParaRPr lang="en-US" sz="1050" dirty="0"/>
          </a:p>
        </p:txBody>
      </p:sp>
      <p:sp>
        <p:nvSpPr>
          <p:cNvPr id="67" name="Shape 65"/>
          <p:cNvSpPr/>
          <p:nvPr/>
        </p:nvSpPr>
        <p:spPr>
          <a:xfrm>
            <a:off x="411480" y="5833872"/>
            <a:ext cx="11368735" cy="530352"/>
          </a:xfrm>
          <a:prstGeom prst="rect">
            <a:avLst/>
          </a:prstGeom>
          <a:solidFill>
            <a:srgbClr val="FFF4E0"/>
          </a:solidFill>
          <a:ln w="6350">
            <a:solidFill>
              <a:srgbClr val="F1D9A8"/>
            </a:solidFill>
            <a:prstDash val="solid"/>
          </a:ln>
        </p:spPr>
      </p:sp>
      <p:sp>
        <p:nvSpPr>
          <p:cNvPr id="68" name="Shape 66"/>
          <p:cNvSpPr/>
          <p:nvPr/>
        </p:nvSpPr>
        <p:spPr>
          <a:xfrm>
            <a:off x="411480" y="5833872"/>
            <a:ext cx="82296" cy="530352"/>
          </a:xfrm>
          <a:prstGeom prst="rect">
            <a:avLst/>
          </a:prstGeom>
          <a:solidFill>
            <a:srgbClr val="E39A2F"/>
          </a:solidFill>
          <a:ln w="12700">
            <a:solidFill>
              <a:srgbClr val="E39A2F"/>
            </a:solidFill>
            <a:prstDash val="solid"/>
          </a:ln>
        </p:spPr>
      </p:sp>
      <p:sp>
        <p:nvSpPr>
          <p:cNvPr id="69" name="Text 6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An onion cell is 2.5 × 10</a:t>
            </a:r>
            <a:r>
              <a:rPr lang="en-US" sz="1150" baseline="30000" dirty="0">
                <a:solidFill>
                  <a:srgbClr val="262B3A"/>
                </a:solidFill>
                <a:latin typeface="Calibri" pitchFamily="34" charset="0"/>
                <a:ea typeface="Calibri" pitchFamily="34" charset="-122"/>
                <a:cs typeface="Calibri" pitchFamily="34" charset="-120"/>
              </a:rPr>
              <a:t>−4</a:t>
            </a:r>
            <a:r>
              <a:rPr lang="en-US" sz="1150" dirty="0">
                <a:solidFill>
                  <a:srgbClr val="262B3A"/>
                </a:solidFill>
                <a:latin typeface="Calibri" pitchFamily="34" charset="0"/>
                <a:ea typeface="Calibri" pitchFamily="34" charset="-122"/>
                <a:cs typeface="Calibri" pitchFamily="34" charset="-120"/>
              </a:rPr>
              <a:t> m and a bacterium is 2 × 10</a:t>
            </a:r>
            <a:r>
              <a:rPr lang="en-US" sz="1150" baseline="30000" dirty="0">
                <a:solidFill>
                  <a:srgbClr val="262B3A"/>
                </a:solidFill>
                <a:latin typeface="Calibri" pitchFamily="34" charset="0"/>
                <a:ea typeface="Calibri" pitchFamily="34" charset="-122"/>
                <a:cs typeface="Calibri" pitchFamily="34" charset="-120"/>
              </a:rPr>
              <a:t>−6</a:t>
            </a:r>
            <a:r>
              <a:rPr lang="en-US" sz="1150" dirty="0">
                <a:solidFill>
                  <a:srgbClr val="262B3A"/>
                </a:solidFill>
                <a:latin typeface="Calibri" pitchFamily="34" charset="0"/>
                <a:ea typeface="Calibri" pitchFamily="34" charset="-122"/>
                <a:cs typeface="Calibri" pitchFamily="34" charset="-120"/>
              </a:rPr>
              <a:t> m. How many times longer is the onion cell? About how many orders of magnitude is that?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Sizes, units and standard form • HT questions marked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0.04 mm</a:t>
            </a:r>
            <a:r>
              <a:rPr lang="en-US" sz="1250" dirty="0">
                <a:solidFill>
                  <a:srgbClr val="262B3A"/>
                </a:solidFill>
                <a:latin typeface="Calibri" pitchFamily="34" charset="0"/>
                <a:ea typeface="Calibri" pitchFamily="34" charset="-122"/>
                <a:cs typeface="Calibri" pitchFamily="34" charset="-120"/>
              </a:rPr>
              <a:t> into micrometres. Then convert </a:t>
            </a:r>
            <a:r>
              <a:rPr lang="en-US" sz="1250" b="1" dirty="0">
                <a:solidFill>
                  <a:srgbClr val="262B3A"/>
                </a:solidFill>
                <a:latin typeface="Calibri" pitchFamily="34" charset="0"/>
                <a:ea typeface="Calibri" pitchFamily="34" charset="-122"/>
                <a:cs typeface="Calibri" pitchFamily="34" charset="-120"/>
              </a:rPr>
              <a:t>25 nm</a:t>
            </a:r>
            <a:r>
              <a:rPr lang="en-US" sz="1250" dirty="0">
                <a:solidFill>
                  <a:srgbClr val="262B3A"/>
                </a:solidFill>
                <a:latin typeface="Calibri" pitchFamily="34" charset="0"/>
                <a:ea typeface="Calibri" pitchFamily="34" charset="-122"/>
                <a:cs typeface="Calibri" pitchFamily="34" charset="-120"/>
              </a:rPr>
              <a:t> into micrometres.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bacterium is </a:t>
            </a:r>
            <a:r>
              <a:rPr lang="en-US" sz="1250" b="1" dirty="0">
                <a:solidFill>
                  <a:srgbClr val="262B3A"/>
                </a:solidFill>
                <a:latin typeface="Calibri" pitchFamily="34" charset="0"/>
                <a:ea typeface="Calibri" pitchFamily="34" charset="-122"/>
                <a:cs typeface="Calibri" pitchFamily="34" charset="-120"/>
              </a:rPr>
              <a:t>2 µm</a:t>
            </a:r>
            <a:r>
              <a:rPr lang="en-US" sz="1250" dirty="0">
                <a:solidFill>
                  <a:srgbClr val="262B3A"/>
                </a:solidFill>
                <a:latin typeface="Calibri" pitchFamily="34" charset="0"/>
                <a:ea typeface="Calibri" pitchFamily="34" charset="-122"/>
                <a:cs typeface="Calibri" pitchFamily="34" charset="-120"/>
              </a:rPr>
              <a:t> long. How many bacteria placed end to end would fit across </a:t>
            </a:r>
            <a:r>
              <a:rPr lang="en-US" sz="1250" b="1" dirty="0">
                <a:solidFill>
                  <a:srgbClr val="262B3A"/>
                </a:solidFill>
                <a:latin typeface="Calibri" pitchFamily="34" charset="0"/>
                <a:ea typeface="Calibri" pitchFamily="34" charset="-122"/>
                <a:cs typeface="Calibri" pitchFamily="34" charset="-120"/>
              </a:rPr>
              <a:t>1 mm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a:t>
            </a:r>
            <a:r>
              <a:rPr lang="en-US" sz="1250" b="1" dirty="0">
                <a:solidFill>
                  <a:srgbClr val="262B3A"/>
                </a:solidFill>
                <a:latin typeface="Calibri" pitchFamily="34" charset="0"/>
                <a:ea typeface="Calibri" pitchFamily="34" charset="-122"/>
                <a:cs typeface="Calibri" pitchFamily="34" charset="-120"/>
              </a:rPr>
              <a:t>60 µm</a:t>
            </a:r>
            <a:r>
              <a:rPr lang="en-US" sz="1250" dirty="0">
                <a:solidFill>
                  <a:srgbClr val="262B3A"/>
                </a:solidFill>
                <a:latin typeface="Calibri" pitchFamily="34" charset="0"/>
                <a:ea typeface="Calibri" pitchFamily="34" charset="-122"/>
                <a:cs typeface="Calibri" pitchFamily="34" charset="-120"/>
              </a:rPr>
              <a:t> in metres, in standard form.</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Shape 26"/>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cheek cell is </a:t>
            </a:r>
            <a:r>
              <a:rPr lang="en-US" sz="1250" b="1" dirty="0">
                <a:solidFill>
                  <a:srgbClr val="262B3A"/>
                </a:solidFill>
                <a:latin typeface="Calibri" pitchFamily="34" charset="0"/>
                <a:ea typeface="Calibri" pitchFamily="34" charset="-122"/>
                <a:cs typeface="Calibri" pitchFamily="34" charset="-120"/>
              </a:rPr>
              <a:t>60 µm</a:t>
            </a:r>
            <a:r>
              <a:rPr lang="en-US" sz="1250" dirty="0">
                <a:solidFill>
                  <a:srgbClr val="262B3A"/>
                </a:solidFill>
                <a:latin typeface="Calibri" pitchFamily="34" charset="0"/>
                <a:ea typeface="Calibri" pitchFamily="34" charset="-122"/>
                <a:cs typeface="Calibri" pitchFamily="34" charset="-120"/>
              </a:rPr>
              <a:t> wide and a mitochondrion is </a:t>
            </a:r>
            <a:r>
              <a:rPr lang="en-US" sz="1250" b="1" dirty="0">
                <a:solidFill>
                  <a:srgbClr val="262B3A"/>
                </a:solidFill>
                <a:latin typeface="Calibri" pitchFamily="34" charset="0"/>
                <a:ea typeface="Calibri" pitchFamily="34" charset="-122"/>
                <a:cs typeface="Calibri" pitchFamily="34" charset="-120"/>
              </a:rPr>
              <a:t>2 µm</a:t>
            </a:r>
            <a:r>
              <a:rPr lang="en-US" sz="1250" dirty="0">
                <a:solidFill>
                  <a:srgbClr val="262B3A"/>
                </a:solidFill>
                <a:latin typeface="Calibri" pitchFamily="34" charset="0"/>
                <a:ea typeface="Calibri" pitchFamily="34" charset="-122"/>
                <a:cs typeface="Calibri" pitchFamily="34" charset="-120"/>
              </a:rPr>
              <a:t> long. How many times bigger is the cell? State the difference as an order of magnitude.</a:t>
            </a:r>
            <a:endParaRPr lang="en-US" sz="1250" dirty="0"/>
          </a:p>
        </p:txBody>
      </p:sp>
      <p:sp>
        <p:nvSpPr>
          <p:cNvPr id="31" name="Text 29"/>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light microscope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PAG B1 skills • KS3 underlying knowledge • parts and what they do</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Microscopes  |  11</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compound light microscope with a built-in lamp</a:t>
            </a:r>
            <a:endParaRPr lang="en-US" sz="1000" dirty="0"/>
          </a:p>
        </p:txBody>
      </p:sp>
      <p:sp>
        <p:nvSpPr>
          <p:cNvPr id="10" name="Shape 8"/>
          <p:cNvSpPr/>
          <p:nvPr/>
        </p:nvSpPr>
        <p:spPr>
          <a:xfrm>
            <a:off x="3247949" y="2017715"/>
            <a:ext cx="931316" cy="3033431"/>
          </a:xfrm>
          <a:custGeom>
            <a:avLst/>
            <a:gdLst/>
            <a:ahLst/>
            <a:cxnLst/>
            <a:rect l="l" t="t" r="r" b="b"/>
            <a:pathLst>
              <a:path w="931316" h="3033431">
                <a:moveTo>
                  <a:pt x="487832" y="3033431"/>
                </a:moveTo>
                <a:lnTo>
                  <a:pt x="931316" y="3033431"/>
                </a:lnTo>
                <a:lnTo>
                  <a:pt x="931316" y="505572"/>
                </a:lnTo>
                <a:lnTo>
                  <a:pt x="576529" y="0"/>
                </a:lnTo>
                <a:lnTo>
                  <a:pt x="0" y="0"/>
                </a:lnTo>
                <a:lnTo>
                  <a:pt x="0" y="461223"/>
                </a:lnTo>
                <a:lnTo>
                  <a:pt x="354787" y="461223"/>
                </a:lnTo>
                <a:lnTo>
                  <a:pt x="487832" y="727314"/>
                </a:lnTo>
                <a:close/>
              </a:path>
            </a:pathLst>
          </a:custGeom>
          <a:solidFill>
            <a:srgbClr val="7C8598"/>
          </a:solidFill>
          <a:ln w="15875">
            <a:solidFill>
              <a:srgbClr val="4A5262"/>
            </a:solidFill>
            <a:prstDash val="solid"/>
          </a:ln>
        </p:spPr>
      </p:sp>
      <p:sp>
        <p:nvSpPr>
          <p:cNvPr id="11" name="Shape 9"/>
          <p:cNvSpPr/>
          <p:nvPr/>
        </p:nvSpPr>
        <p:spPr>
          <a:xfrm>
            <a:off x="2094890" y="5051146"/>
            <a:ext cx="2306117" cy="319308"/>
          </a:xfrm>
          <a:prstGeom prst="roundRect">
            <a:avLst>
              <a:gd name="adj" fmla="val 22910"/>
            </a:avLst>
          </a:prstGeom>
          <a:solidFill>
            <a:srgbClr val="4A5262"/>
          </a:solidFill>
          <a:ln w="12700">
            <a:solidFill>
              <a:srgbClr val="2F3542"/>
            </a:solidFill>
            <a:prstDash val="solid"/>
          </a:ln>
        </p:spPr>
      </p:sp>
      <p:sp>
        <p:nvSpPr>
          <p:cNvPr id="12" name="Shape 10"/>
          <p:cNvSpPr/>
          <p:nvPr/>
        </p:nvSpPr>
        <p:spPr>
          <a:xfrm>
            <a:off x="2698029" y="4625401"/>
            <a:ext cx="567660" cy="425745"/>
          </a:xfrm>
          <a:prstGeom prst="roundRect">
            <a:avLst>
              <a:gd name="adj" fmla="val 12887"/>
            </a:avLst>
          </a:prstGeom>
          <a:solidFill>
            <a:srgbClr val="6B7385"/>
          </a:solidFill>
          <a:ln w="12700">
            <a:solidFill>
              <a:srgbClr val="4A5262"/>
            </a:solidFill>
            <a:prstDash val="solid"/>
          </a:ln>
        </p:spPr>
      </p:sp>
      <p:sp>
        <p:nvSpPr>
          <p:cNvPr id="13" name="Shape 11"/>
          <p:cNvSpPr/>
          <p:nvPr/>
        </p:nvSpPr>
        <p:spPr>
          <a:xfrm>
            <a:off x="2848813" y="4678619"/>
            <a:ext cx="266090" cy="266090"/>
          </a:xfrm>
          <a:prstGeom prst="ellipse">
            <a:avLst/>
          </a:prstGeom>
          <a:solidFill>
            <a:srgbClr val="FFE066"/>
          </a:solidFill>
          <a:ln w="15875">
            <a:solidFill>
              <a:srgbClr val="B8930A"/>
            </a:solidFill>
            <a:prstDash val="solid"/>
          </a:ln>
        </p:spPr>
      </p:sp>
      <p:sp>
        <p:nvSpPr>
          <p:cNvPr id="14" name="Shape 12"/>
          <p:cNvSpPr/>
          <p:nvPr/>
        </p:nvSpPr>
        <p:spPr>
          <a:xfrm flipV="1">
            <a:off x="2981858" y="4323832"/>
            <a:ext cx="91" cy="283830"/>
          </a:xfrm>
          <a:prstGeom prst="line">
            <a:avLst/>
          </a:prstGeom>
          <a:noFill/>
          <a:ln w="25400">
            <a:solidFill>
              <a:srgbClr val="E3B505"/>
            </a:solidFill>
            <a:prstDash val="dash"/>
          </a:ln>
        </p:spPr>
      </p:sp>
      <p:sp>
        <p:nvSpPr>
          <p:cNvPr id="15" name="Shape 13"/>
          <p:cNvSpPr/>
          <p:nvPr/>
        </p:nvSpPr>
        <p:spPr>
          <a:xfrm>
            <a:off x="2786725" y="4146438"/>
            <a:ext cx="390266" cy="159654"/>
          </a:xfrm>
          <a:prstGeom prst="rect">
            <a:avLst/>
          </a:prstGeom>
          <a:solidFill>
            <a:srgbClr val="8C96A8"/>
          </a:solidFill>
          <a:ln w="12700">
            <a:solidFill>
              <a:srgbClr val="4A5262"/>
            </a:solidFill>
            <a:prstDash val="solid"/>
          </a:ln>
        </p:spPr>
      </p:sp>
      <p:sp>
        <p:nvSpPr>
          <p:cNvPr id="16" name="Shape 14"/>
          <p:cNvSpPr/>
          <p:nvPr/>
        </p:nvSpPr>
        <p:spPr>
          <a:xfrm>
            <a:off x="2050542" y="3986784"/>
            <a:ext cx="2128723" cy="159654"/>
          </a:xfrm>
          <a:prstGeom prst="rect">
            <a:avLst/>
          </a:prstGeom>
          <a:solidFill>
            <a:srgbClr val="5A6275"/>
          </a:solidFill>
          <a:ln w="12700">
            <a:solidFill>
              <a:srgbClr val="2F3542"/>
            </a:solidFill>
            <a:prstDash val="solid"/>
          </a:ln>
        </p:spPr>
      </p:sp>
      <p:sp>
        <p:nvSpPr>
          <p:cNvPr id="17" name="Shape 15"/>
          <p:cNvSpPr/>
          <p:nvPr/>
        </p:nvSpPr>
        <p:spPr>
          <a:xfrm>
            <a:off x="2866553" y="3986784"/>
            <a:ext cx="230612" cy="159654"/>
          </a:xfrm>
          <a:prstGeom prst="rect">
            <a:avLst/>
          </a:prstGeom>
          <a:solidFill>
            <a:srgbClr val="FFF1A8"/>
          </a:solidFill>
          <a:ln w="6350">
            <a:solidFill>
              <a:srgbClr val="2F3542"/>
            </a:solidFill>
            <a:prstDash val="solid"/>
          </a:ln>
        </p:spPr>
      </p:sp>
      <p:sp>
        <p:nvSpPr>
          <p:cNvPr id="18" name="Shape 16"/>
          <p:cNvSpPr/>
          <p:nvPr/>
        </p:nvSpPr>
        <p:spPr>
          <a:xfrm>
            <a:off x="2494026" y="3924696"/>
            <a:ext cx="975665" cy="62088"/>
          </a:xfrm>
          <a:prstGeom prst="rect">
            <a:avLst/>
          </a:prstGeom>
          <a:solidFill>
            <a:srgbClr val="DDEEF7"/>
          </a:solidFill>
          <a:ln w="9525">
            <a:solidFill>
              <a:srgbClr val="5B9BD5"/>
            </a:solidFill>
            <a:prstDash val="solid"/>
          </a:ln>
        </p:spPr>
      </p:sp>
      <p:sp>
        <p:nvSpPr>
          <p:cNvPr id="19" name="Shape 17"/>
          <p:cNvSpPr/>
          <p:nvPr/>
        </p:nvSpPr>
        <p:spPr>
          <a:xfrm>
            <a:off x="2165848" y="3862608"/>
            <a:ext cx="478963" cy="53218"/>
          </a:xfrm>
          <a:prstGeom prst="rect">
            <a:avLst/>
          </a:prstGeom>
          <a:solidFill>
            <a:srgbClr val="2F3542"/>
          </a:solidFill>
          <a:ln w="12700">
            <a:solidFill>
              <a:srgbClr val="2F3542"/>
            </a:solidFill>
            <a:prstDash val="solid"/>
          </a:ln>
        </p:spPr>
      </p:sp>
      <p:sp>
        <p:nvSpPr>
          <p:cNvPr id="20" name="Shape 18"/>
          <p:cNvSpPr/>
          <p:nvPr/>
        </p:nvSpPr>
        <p:spPr>
          <a:xfrm>
            <a:off x="2139239" y="3835999"/>
            <a:ext cx="106436" cy="106436"/>
          </a:xfrm>
          <a:prstGeom prst="ellipse">
            <a:avLst/>
          </a:prstGeom>
          <a:solidFill>
            <a:srgbClr val="2F3542"/>
          </a:solidFill>
          <a:ln w="9525">
            <a:solidFill>
              <a:srgbClr val="2F3542"/>
            </a:solidFill>
            <a:prstDash val="solid"/>
          </a:ln>
        </p:spPr>
      </p:sp>
      <p:sp>
        <p:nvSpPr>
          <p:cNvPr id="21" name="Shape 19"/>
          <p:cNvSpPr/>
          <p:nvPr/>
        </p:nvSpPr>
        <p:spPr>
          <a:xfrm>
            <a:off x="3318906" y="3862608"/>
            <a:ext cx="478963" cy="53218"/>
          </a:xfrm>
          <a:prstGeom prst="rect">
            <a:avLst/>
          </a:prstGeom>
          <a:solidFill>
            <a:srgbClr val="2F3542"/>
          </a:solidFill>
          <a:ln w="12700">
            <a:solidFill>
              <a:srgbClr val="2F3542"/>
            </a:solidFill>
            <a:prstDash val="solid"/>
          </a:ln>
        </p:spPr>
      </p:sp>
      <p:sp>
        <p:nvSpPr>
          <p:cNvPr id="22" name="Shape 20"/>
          <p:cNvSpPr/>
          <p:nvPr/>
        </p:nvSpPr>
        <p:spPr>
          <a:xfrm>
            <a:off x="3292297" y="3835999"/>
            <a:ext cx="106436" cy="106436"/>
          </a:xfrm>
          <a:prstGeom prst="ellipse">
            <a:avLst/>
          </a:prstGeom>
          <a:solidFill>
            <a:srgbClr val="2F3542"/>
          </a:solidFill>
          <a:ln w="9525">
            <a:solidFill>
              <a:srgbClr val="2F3542"/>
            </a:solidFill>
            <a:prstDash val="solid"/>
          </a:ln>
        </p:spPr>
      </p:sp>
      <p:sp>
        <p:nvSpPr>
          <p:cNvPr id="23" name="Shape 21"/>
          <p:cNvSpPr/>
          <p:nvPr/>
        </p:nvSpPr>
        <p:spPr>
          <a:xfrm>
            <a:off x="3735781" y="3073207"/>
            <a:ext cx="443484" cy="443484"/>
          </a:xfrm>
          <a:prstGeom prst="ellipse">
            <a:avLst/>
          </a:prstGeom>
          <a:solidFill>
            <a:srgbClr val="4A5262"/>
          </a:solidFill>
          <a:ln w="15875">
            <a:solidFill>
              <a:srgbClr val="2F3542"/>
            </a:solidFill>
            <a:prstDash val="solid"/>
          </a:ln>
        </p:spPr>
      </p:sp>
      <p:sp>
        <p:nvSpPr>
          <p:cNvPr id="24" name="Shape 22"/>
          <p:cNvSpPr/>
          <p:nvPr/>
        </p:nvSpPr>
        <p:spPr>
          <a:xfrm>
            <a:off x="3886566" y="3223992"/>
            <a:ext cx="141915" cy="141915"/>
          </a:xfrm>
          <a:prstGeom prst="ellipse">
            <a:avLst/>
          </a:prstGeom>
          <a:solidFill>
            <a:srgbClr val="8C96A8"/>
          </a:solidFill>
          <a:ln w="6350">
            <a:solidFill>
              <a:srgbClr val="2F3542"/>
            </a:solidFill>
            <a:prstDash val="solid"/>
          </a:ln>
        </p:spPr>
      </p:sp>
      <p:sp>
        <p:nvSpPr>
          <p:cNvPr id="25" name="Shape 23"/>
          <p:cNvSpPr/>
          <p:nvPr/>
        </p:nvSpPr>
        <p:spPr>
          <a:xfrm>
            <a:off x="3833348" y="3640866"/>
            <a:ext cx="248351" cy="248351"/>
          </a:xfrm>
          <a:prstGeom prst="ellipse">
            <a:avLst/>
          </a:prstGeom>
          <a:solidFill>
            <a:srgbClr val="AEB6C4"/>
          </a:solidFill>
          <a:ln w="15875">
            <a:solidFill>
              <a:srgbClr val="4A5262"/>
            </a:solidFill>
            <a:prstDash val="solid"/>
          </a:ln>
        </p:spPr>
      </p:sp>
      <p:sp>
        <p:nvSpPr>
          <p:cNvPr id="26" name="Shape 24"/>
          <p:cNvSpPr/>
          <p:nvPr/>
        </p:nvSpPr>
        <p:spPr>
          <a:xfrm>
            <a:off x="2715768" y="1813712"/>
            <a:ext cx="532181" cy="1224016"/>
          </a:xfrm>
          <a:prstGeom prst="rect">
            <a:avLst/>
          </a:prstGeom>
          <a:solidFill>
            <a:srgbClr val="C5CCD6"/>
          </a:solidFill>
          <a:ln w="15875">
            <a:solidFill>
              <a:srgbClr val="5A6275"/>
            </a:solidFill>
            <a:prstDash val="solid"/>
          </a:ln>
        </p:spPr>
      </p:sp>
      <p:sp>
        <p:nvSpPr>
          <p:cNvPr id="27" name="Shape 25"/>
          <p:cNvSpPr/>
          <p:nvPr/>
        </p:nvSpPr>
        <p:spPr>
          <a:xfrm>
            <a:off x="2786725" y="1396837"/>
            <a:ext cx="390266" cy="443484"/>
          </a:xfrm>
          <a:prstGeom prst="rect">
            <a:avLst/>
          </a:prstGeom>
          <a:solidFill>
            <a:srgbClr val="8C96A8"/>
          </a:solidFill>
          <a:ln w="15875">
            <a:solidFill>
              <a:srgbClr val="4A5262"/>
            </a:solidFill>
            <a:prstDash val="solid"/>
          </a:ln>
        </p:spPr>
      </p:sp>
      <p:sp>
        <p:nvSpPr>
          <p:cNvPr id="28" name="Shape 26"/>
          <p:cNvSpPr/>
          <p:nvPr/>
        </p:nvSpPr>
        <p:spPr>
          <a:xfrm>
            <a:off x="2742377" y="1325880"/>
            <a:ext cx="478963" cy="106436"/>
          </a:xfrm>
          <a:prstGeom prst="roundRect">
            <a:avLst>
              <a:gd name="adj" fmla="val 25773"/>
            </a:avLst>
          </a:prstGeom>
          <a:solidFill>
            <a:srgbClr val="4A5262"/>
          </a:solidFill>
          <a:ln w="12700">
            <a:solidFill>
              <a:srgbClr val="2F3542"/>
            </a:solidFill>
            <a:prstDash val="solid"/>
          </a:ln>
        </p:spPr>
      </p:sp>
      <p:sp>
        <p:nvSpPr>
          <p:cNvPr id="29" name="Shape 27"/>
          <p:cNvSpPr/>
          <p:nvPr/>
        </p:nvSpPr>
        <p:spPr>
          <a:xfrm>
            <a:off x="2556114" y="3028859"/>
            <a:ext cx="851489" cy="195133"/>
          </a:xfrm>
          <a:custGeom>
            <a:avLst/>
            <a:gdLst/>
            <a:ahLst/>
            <a:cxnLst/>
            <a:rect l="l" t="t" r="r" b="b"/>
            <a:pathLst>
              <a:path w="851489" h="195133">
                <a:moveTo>
                  <a:pt x="0" y="0"/>
                </a:moveTo>
                <a:lnTo>
                  <a:pt x="851489" y="0"/>
                </a:lnTo>
                <a:lnTo>
                  <a:pt x="745053" y="195133"/>
                </a:lnTo>
                <a:lnTo>
                  <a:pt x="106436" y="195133"/>
                </a:lnTo>
                <a:close/>
              </a:path>
            </a:pathLst>
          </a:custGeom>
          <a:solidFill>
            <a:srgbClr val="5A6275"/>
          </a:solidFill>
          <a:ln w="12700">
            <a:solidFill>
              <a:srgbClr val="2F3542"/>
            </a:solidFill>
            <a:prstDash val="solid"/>
          </a:ln>
        </p:spPr>
      </p:sp>
      <p:sp>
        <p:nvSpPr>
          <p:cNvPr id="30" name="Shape 28"/>
          <p:cNvSpPr/>
          <p:nvPr/>
        </p:nvSpPr>
        <p:spPr>
          <a:xfrm>
            <a:off x="2627071" y="3223992"/>
            <a:ext cx="159654" cy="230612"/>
          </a:xfrm>
          <a:prstGeom prst="rect">
            <a:avLst/>
          </a:prstGeom>
          <a:solidFill>
            <a:srgbClr val="AEB6C4"/>
          </a:solidFill>
          <a:ln w="12700">
            <a:solidFill>
              <a:srgbClr val="4A5262"/>
            </a:solidFill>
            <a:prstDash val="solid"/>
          </a:ln>
        </p:spPr>
      </p:sp>
      <p:sp>
        <p:nvSpPr>
          <p:cNvPr id="31" name="Shape 29"/>
          <p:cNvSpPr/>
          <p:nvPr/>
        </p:nvSpPr>
        <p:spPr>
          <a:xfrm>
            <a:off x="2627071" y="3327767"/>
            <a:ext cx="159654" cy="44348"/>
          </a:xfrm>
          <a:prstGeom prst="rect">
            <a:avLst/>
          </a:prstGeom>
          <a:solidFill>
            <a:srgbClr val="C8414C"/>
          </a:solidFill>
          <a:ln/>
        </p:spPr>
      </p:sp>
      <p:sp>
        <p:nvSpPr>
          <p:cNvPr id="32" name="Shape 30"/>
          <p:cNvSpPr/>
          <p:nvPr/>
        </p:nvSpPr>
        <p:spPr>
          <a:xfrm>
            <a:off x="2651019" y="3427171"/>
            <a:ext cx="111758" cy="44348"/>
          </a:xfrm>
          <a:prstGeom prst="rect">
            <a:avLst/>
          </a:prstGeom>
          <a:solidFill>
            <a:srgbClr val="2F3542"/>
          </a:solidFill>
          <a:ln/>
        </p:spPr>
      </p:sp>
      <p:sp>
        <p:nvSpPr>
          <p:cNvPr id="33" name="Shape 31"/>
          <p:cNvSpPr/>
          <p:nvPr/>
        </p:nvSpPr>
        <p:spPr>
          <a:xfrm>
            <a:off x="2875422" y="3223992"/>
            <a:ext cx="212872" cy="496702"/>
          </a:xfrm>
          <a:prstGeom prst="rect">
            <a:avLst/>
          </a:prstGeom>
          <a:solidFill>
            <a:srgbClr val="AEB6C4"/>
          </a:solidFill>
          <a:ln w="12700">
            <a:solidFill>
              <a:srgbClr val="4A5262"/>
            </a:solidFill>
            <a:prstDash val="solid"/>
          </a:ln>
        </p:spPr>
      </p:sp>
      <p:sp>
        <p:nvSpPr>
          <p:cNvPr id="34" name="Shape 32"/>
          <p:cNvSpPr/>
          <p:nvPr/>
        </p:nvSpPr>
        <p:spPr>
          <a:xfrm>
            <a:off x="2875422" y="3447507"/>
            <a:ext cx="212872" cy="44348"/>
          </a:xfrm>
          <a:prstGeom prst="rect">
            <a:avLst/>
          </a:prstGeom>
          <a:solidFill>
            <a:srgbClr val="2B4C9B"/>
          </a:solidFill>
          <a:ln/>
        </p:spPr>
      </p:sp>
      <p:sp>
        <p:nvSpPr>
          <p:cNvPr id="35" name="Shape 33"/>
          <p:cNvSpPr/>
          <p:nvPr/>
        </p:nvSpPr>
        <p:spPr>
          <a:xfrm>
            <a:off x="2907353" y="3693262"/>
            <a:ext cx="149011" cy="44348"/>
          </a:xfrm>
          <a:prstGeom prst="rect">
            <a:avLst/>
          </a:prstGeom>
          <a:solidFill>
            <a:srgbClr val="2F3542"/>
          </a:solidFill>
          <a:ln/>
        </p:spPr>
      </p:sp>
      <p:sp>
        <p:nvSpPr>
          <p:cNvPr id="36" name="Shape 34"/>
          <p:cNvSpPr/>
          <p:nvPr/>
        </p:nvSpPr>
        <p:spPr>
          <a:xfrm>
            <a:off x="3159252" y="3223992"/>
            <a:ext cx="177394" cy="354787"/>
          </a:xfrm>
          <a:prstGeom prst="rect">
            <a:avLst/>
          </a:prstGeom>
          <a:solidFill>
            <a:srgbClr val="AEB6C4"/>
          </a:solidFill>
          <a:ln w="12700">
            <a:solidFill>
              <a:srgbClr val="4A5262"/>
            </a:solidFill>
            <a:prstDash val="solid"/>
          </a:ln>
        </p:spPr>
      </p:sp>
      <p:sp>
        <p:nvSpPr>
          <p:cNvPr id="37" name="Shape 35"/>
          <p:cNvSpPr/>
          <p:nvPr/>
        </p:nvSpPr>
        <p:spPr>
          <a:xfrm>
            <a:off x="3159252" y="3383646"/>
            <a:ext cx="177394" cy="44348"/>
          </a:xfrm>
          <a:prstGeom prst="rect">
            <a:avLst/>
          </a:prstGeom>
          <a:solidFill>
            <a:srgbClr val="E3B505"/>
          </a:solidFill>
          <a:ln/>
        </p:spPr>
      </p:sp>
      <p:sp>
        <p:nvSpPr>
          <p:cNvPr id="38" name="Shape 36"/>
          <p:cNvSpPr/>
          <p:nvPr/>
        </p:nvSpPr>
        <p:spPr>
          <a:xfrm>
            <a:off x="3185861" y="3551347"/>
            <a:ext cx="124176" cy="44348"/>
          </a:xfrm>
          <a:prstGeom prst="rect">
            <a:avLst/>
          </a:prstGeom>
          <a:solidFill>
            <a:srgbClr val="2F3542"/>
          </a:solidFill>
          <a:ln/>
        </p:spPr>
      </p:sp>
      <p:sp>
        <p:nvSpPr>
          <p:cNvPr id="39" name="Shape 37"/>
          <p:cNvSpPr/>
          <p:nvPr/>
        </p:nvSpPr>
        <p:spPr>
          <a:xfrm flipH="1" flipV="1">
            <a:off x="1691640" y="1600200"/>
            <a:ext cx="1095085" cy="18379"/>
          </a:xfrm>
          <a:prstGeom prst="line">
            <a:avLst/>
          </a:prstGeom>
          <a:noFill/>
          <a:ln w="11430">
            <a:solidFill>
              <a:srgbClr val="4A5262"/>
            </a:solidFill>
            <a:prstDash val="solid"/>
          </a:ln>
        </p:spPr>
      </p:sp>
      <p:sp>
        <p:nvSpPr>
          <p:cNvPr id="40" name="Shape 38"/>
          <p:cNvSpPr/>
          <p:nvPr/>
        </p:nvSpPr>
        <p:spPr>
          <a:xfrm>
            <a:off x="2766609" y="1598463"/>
            <a:ext cx="40234" cy="40234"/>
          </a:xfrm>
          <a:prstGeom prst="ellipse">
            <a:avLst/>
          </a:prstGeom>
          <a:solidFill>
            <a:srgbClr val="4A5262"/>
          </a:solidFill>
          <a:ln w="3175">
            <a:solidFill>
              <a:srgbClr val="4A5262"/>
            </a:solidFill>
            <a:prstDash val="solid"/>
          </a:ln>
        </p:spPr>
      </p:sp>
      <p:sp>
        <p:nvSpPr>
          <p:cNvPr id="41" name="Text 39"/>
          <p:cNvSpPr/>
          <p:nvPr/>
        </p:nvSpPr>
        <p:spPr>
          <a:xfrm>
            <a:off x="502920" y="1481328"/>
            <a:ext cx="114300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eyepiece lens</a:t>
            </a:r>
            <a:endParaRPr lang="en-US" sz="1050" dirty="0"/>
          </a:p>
        </p:txBody>
      </p:sp>
      <p:sp>
        <p:nvSpPr>
          <p:cNvPr id="42" name="Shape 40"/>
          <p:cNvSpPr/>
          <p:nvPr/>
        </p:nvSpPr>
        <p:spPr>
          <a:xfrm flipH="1" flipV="1">
            <a:off x="1691640" y="3063240"/>
            <a:ext cx="935431" cy="302666"/>
          </a:xfrm>
          <a:prstGeom prst="line">
            <a:avLst/>
          </a:prstGeom>
          <a:noFill/>
          <a:ln w="11430">
            <a:solidFill>
              <a:srgbClr val="4A5262"/>
            </a:solidFill>
            <a:prstDash val="solid"/>
          </a:ln>
        </p:spPr>
      </p:sp>
      <p:sp>
        <p:nvSpPr>
          <p:cNvPr id="43" name="Shape 41"/>
          <p:cNvSpPr/>
          <p:nvPr/>
        </p:nvSpPr>
        <p:spPr>
          <a:xfrm>
            <a:off x="2606954" y="3345790"/>
            <a:ext cx="40234" cy="40234"/>
          </a:xfrm>
          <a:prstGeom prst="ellipse">
            <a:avLst/>
          </a:prstGeom>
          <a:solidFill>
            <a:srgbClr val="4A5262"/>
          </a:solidFill>
          <a:ln w="3175">
            <a:solidFill>
              <a:srgbClr val="4A5262"/>
            </a:solidFill>
            <a:prstDash val="solid"/>
          </a:ln>
        </p:spPr>
      </p:sp>
      <p:sp>
        <p:nvSpPr>
          <p:cNvPr id="44" name="Text 42"/>
          <p:cNvSpPr/>
          <p:nvPr/>
        </p:nvSpPr>
        <p:spPr>
          <a:xfrm>
            <a:off x="502920" y="2944368"/>
            <a:ext cx="114300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objective lenses</a:t>
            </a:r>
            <a:endParaRPr lang="en-US" sz="1050" dirty="0"/>
          </a:p>
        </p:txBody>
      </p:sp>
      <p:sp>
        <p:nvSpPr>
          <p:cNvPr id="45" name="Shape 43"/>
          <p:cNvSpPr/>
          <p:nvPr/>
        </p:nvSpPr>
        <p:spPr>
          <a:xfrm flipH="1" flipV="1">
            <a:off x="1691640" y="3493008"/>
            <a:ext cx="509687" cy="396210"/>
          </a:xfrm>
          <a:prstGeom prst="line">
            <a:avLst/>
          </a:prstGeom>
          <a:noFill/>
          <a:ln w="11430">
            <a:solidFill>
              <a:srgbClr val="4A5262"/>
            </a:solidFill>
            <a:prstDash val="solid"/>
          </a:ln>
        </p:spPr>
      </p:sp>
      <p:sp>
        <p:nvSpPr>
          <p:cNvPr id="46" name="Shape 44"/>
          <p:cNvSpPr/>
          <p:nvPr/>
        </p:nvSpPr>
        <p:spPr>
          <a:xfrm>
            <a:off x="2181210" y="3869101"/>
            <a:ext cx="40234" cy="40234"/>
          </a:xfrm>
          <a:prstGeom prst="ellipse">
            <a:avLst/>
          </a:prstGeom>
          <a:solidFill>
            <a:srgbClr val="4A5262"/>
          </a:solidFill>
          <a:ln w="3175">
            <a:solidFill>
              <a:srgbClr val="4A5262"/>
            </a:solidFill>
            <a:prstDash val="solid"/>
          </a:ln>
        </p:spPr>
      </p:sp>
      <p:sp>
        <p:nvSpPr>
          <p:cNvPr id="47" name="Text 45"/>
          <p:cNvSpPr/>
          <p:nvPr/>
        </p:nvSpPr>
        <p:spPr>
          <a:xfrm>
            <a:off x="502920" y="3374136"/>
            <a:ext cx="114300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stage clip</a:t>
            </a:r>
            <a:endParaRPr lang="en-US" sz="1050" dirty="0"/>
          </a:p>
        </p:txBody>
      </p:sp>
      <p:sp>
        <p:nvSpPr>
          <p:cNvPr id="48" name="Shape 46"/>
          <p:cNvSpPr/>
          <p:nvPr/>
        </p:nvSpPr>
        <p:spPr>
          <a:xfrm flipH="1" flipV="1">
            <a:off x="1691640" y="3931920"/>
            <a:ext cx="358902" cy="134691"/>
          </a:xfrm>
          <a:prstGeom prst="line">
            <a:avLst/>
          </a:prstGeom>
          <a:noFill/>
          <a:ln w="11430">
            <a:solidFill>
              <a:srgbClr val="4A5262"/>
            </a:solidFill>
            <a:prstDash val="solid"/>
          </a:ln>
        </p:spPr>
      </p:sp>
      <p:sp>
        <p:nvSpPr>
          <p:cNvPr id="49" name="Shape 47"/>
          <p:cNvSpPr/>
          <p:nvPr/>
        </p:nvSpPr>
        <p:spPr>
          <a:xfrm>
            <a:off x="2030425" y="4046494"/>
            <a:ext cx="40234" cy="40234"/>
          </a:xfrm>
          <a:prstGeom prst="ellipse">
            <a:avLst/>
          </a:prstGeom>
          <a:solidFill>
            <a:srgbClr val="4A5262"/>
          </a:solidFill>
          <a:ln w="3175">
            <a:solidFill>
              <a:srgbClr val="4A5262"/>
            </a:solidFill>
            <a:prstDash val="solid"/>
          </a:ln>
        </p:spPr>
      </p:sp>
      <p:sp>
        <p:nvSpPr>
          <p:cNvPr id="50" name="Text 48"/>
          <p:cNvSpPr/>
          <p:nvPr/>
        </p:nvSpPr>
        <p:spPr>
          <a:xfrm>
            <a:off x="502920" y="3813048"/>
            <a:ext cx="114300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stage</a:t>
            </a:r>
            <a:endParaRPr lang="en-US" sz="1050" dirty="0"/>
          </a:p>
        </p:txBody>
      </p:sp>
      <p:sp>
        <p:nvSpPr>
          <p:cNvPr id="51" name="Shape 49"/>
          <p:cNvSpPr/>
          <p:nvPr/>
        </p:nvSpPr>
        <p:spPr>
          <a:xfrm flipH="1" flipV="1">
            <a:off x="1691640" y="4572000"/>
            <a:ext cx="1006389" cy="257404"/>
          </a:xfrm>
          <a:prstGeom prst="line">
            <a:avLst/>
          </a:prstGeom>
          <a:noFill/>
          <a:ln w="11430">
            <a:solidFill>
              <a:srgbClr val="4A5262"/>
            </a:solidFill>
            <a:prstDash val="solid"/>
          </a:ln>
        </p:spPr>
      </p:sp>
      <p:sp>
        <p:nvSpPr>
          <p:cNvPr id="52" name="Shape 50"/>
          <p:cNvSpPr/>
          <p:nvPr/>
        </p:nvSpPr>
        <p:spPr>
          <a:xfrm>
            <a:off x="2677912" y="4809287"/>
            <a:ext cx="40234" cy="40234"/>
          </a:xfrm>
          <a:prstGeom prst="ellipse">
            <a:avLst/>
          </a:prstGeom>
          <a:solidFill>
            <a:srgbClr val="4A5262"/>
          </a:solidFill>
          <a:ln w="3175">
            <a:solidFill>
              <a:srgbClr val="4A5262"/>
            </a:solidFill>
            <a:prstDash val="solid"/>
          </a:ln>
        </p:spPr>
      </p:sp>
      <p:sp>
        <p:nvSpPr>
          <p:cNvPr id="53" name="Text 51"/>
          <p:cNvSpPr/>
          <p:nvPr/>
        </p:nvSpPr>
        <p:spPr>
          <a:xfrm>
            <a:off x="502920" y="4453128"/>
            <a:ext cx="1143000" cy="237744"/>
          </a:xfrm>
          <a:prstGeom prst="rect">
            <a:avLst/>
          </a:prstGeom>
          <a:noFill/>
          <a:ln/>
        </p:spPr>
        <p:txBody>
          <a:bodyPr wrap="square" lIns="0" tIns="0" rIns="0" bIns="0" rtlCol="0" anchor="ctr"/>
          <a:lstStyle/>
          <a:p>
            <a:pPr algn="r" indent="0" marL="0">
              <a:buNone/>
            </a:pPr>
            <a:r>
              <a:rPr lang="en-US" sz="1050" b="1" dirty="0">
                <a:solidFill>
                  <a:srgbClr val="133536"/>
                </a:solidFill>
                <a:latin typeface="Calibri" pitchFamily="34" charset="0"/>
                <a:ea typeface="Calibri" pitchFamily="34" charset="-122"/>
                <a:cs typeface="Calibri" pitchFamily="34" charset="-120"/>
              </a:rPr>
              <a:t>light source</a:t>
            </a:r>
            <a:endParaRPr lang="en-US" sz="1050" dirty="0"/>
          </a:p>
        </p:txBody>
      </p:sp>
      <p:sp>
        <p:nvSpPr>
          <p:cNvPr id="54" name="Shape 52"/>
          <p:cNvSpPr/>
          <p:nvPr/>
        </p:nvSpPr>
        <p:spPr>
          <a:xfrm flipV="1">
            <a:off x="3247949" y="1508760"/>
            <a:ext cx="1278331" cy="731977"/>
          </a:xfrm>
          <a:prstGeom prst="line">
            <a:avLst/>
          </a:prstGeom>
          <a:noFill/>
          <a:ln w="11430">
            <a:solidFill>
              <a:srgbClr val="4A5262"/>
            </a:solidFill>
            <a:prstDash val="solid"/>
          </a:ln>
        </p:spPr>
      </p:sp>
      <p:sp>
        <p:nvSpPr>
          <p:cNvPr id="55" name="Shape 53"/>
          <p:cNvSpPr/>
          <p:nvPr/>
        </p:nvSpPr>
        <p:spPr>
          <a:xfrm>
            <a:off x="3227832" y="2220620"/>
            <a:ext cx="40234" cy="40234"/>
          </a:xfrm>
          <a:prstGeom prst="ellipse">
            <a:avLst/>
          </a:prstGeom>
          <a:solidFill>
            <a:srgbClr val="4A5262"/>
          </a:solidFill>
          <a:ln w="3175">
            <a:solidFill>
              <a:srgbClr val="4A5262"/>
            </a:solidFill>
            <a:prstDash val="solid"/>
          </a:ln>
        </p:spPr>
      </p:sp>
      <p:sp>
        <p:nvSpPr>
          <p:cNvPr id="56" name="Text 54"/>
          <p:cNvSpPr/>
          <p:nvPr/>
        </p:nvSpPr>
        <p:spPr>
          <a:xfrm>
            <a:off x="4572000" y="1389888"/>
            <a:ext cx="128016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body tube</a:t>
            </a:r>
            <a:endParaRPr lang="en-US" sz="1050" dirty="0"/>
          </a:p>
        </p:txBody>
      </p:sp>
      <p:sp>
        <p:nvSpPr>
          <p:cNvPr id="57" name="Shape 55"/>
          <p:cNvSpPr/>
          <p:nvPr/>
        </p:nvSpPr>
        <p:spPr>
          <a:xfrm flipV="1">
            <a:off x="4134917" y="2377440"/>
            <a:ext cx="391363" cy="793333"/>
          </a:xfrm>
          <a:prstGeom prst="line">
            <a:avLst/>
          </a:prstGeom>
          <a:noFill/>
          <a:ln w="11430">
            <a:solidFill>
              <a:srgbClr val="4A5262"/>
            </a:solidFill>
            <a:prstDash val="solid"/>
          </a:ln>
        </p:spPr>
      </p:sp>
      <p:sp>
        <p:nvSpPr>
          <p:cNvPr id="58" name="Shape 56"/>
          <p:cNvSpPr/>
          <p:nvPr/>
        </p:nvSpPr>
        <p:spPr>
          <a:xfrm>
            <a:off x="4114800" y="3150657"/>
            <a:ext cx="40234" cy="40234"/>
          </a:xfrm>
          <a:prstGeom prst="ellipse">
            <a:avLst/>
          </a:prstGeom>
          <a:solidFill>
            <a:srgbClr val="4A5262"/>
          </a:solidFill>
          <a:ln w="3175">
            <a:solidFill>
              <a:srgbClr val="4A5262"/>
            </a:solidFill>
            <a:prstDash val="solid"/>
          </a:ln>
        </p:spPr>
      </p:sp>
      <p:sp>
        <p:nvSpPr>
          <p:cNvPr id="59" name="Text 57"/>
          <p:cNvSpPr/>
          <p:nvPr/>
        </p:nvSpPr>
        <p:spPr>
          <a:xfrm>
            <a:off x="4572000" y="2258568"/>
            <a:ext cx="128016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coarse focus</a:t>
            </a:r>
            <a:endParaRPr lang="en-US" sz="1050" dirty="0"/>
          </a:p>
        </p:txBody>
      </p:sp>
      <p:sp>
        <p:nvSpPr>
          <p:cNvPr id="60" name="Shape 58"/>
          <p:cNvSpPr/>
          <p:nvPr/>
        </p:nvSpPr>
        <p:spPr>
          <a:xfrm flipV="1">
            <a:off x="4072829" y="2971800"/>
            <a:ext cx="453451" cy="819851"/>
          </a:xfrm>
          <a:prstGeom prst="line">
            <a:avLst/>
          </a:prstGeom>
          <a:noFill/>
          <a:ln w="11430">
            <a:solidFill>
              <a:srgbClr val="4A5262"/>
            </a:solidFill>
            <a:prstDash val="solid"/>
          </a:ln>
        </p:spPr>
      </p:sp>
      <p:sp>
        <p:nvSpPr>
          <p:cNvPr id="61" name="Shape 59"/>
          <p:cNvSpPr/>
          <p:nvPr/>
        </p:nvSpPr>
        <p:spPr>
          <a:xfrm>
            <a:off x="4052712" y="3771534"/>
            <a:ext cx="40234" cy="40234"/>
          </a:xfrm>
          <a:prstGeom prst="ellipse">
            <a:avLst/>
          </a:prstGeom>
          <a:solidFill>
            <a:srgbClr val="4A5262"/>
          </a:solidFill>
          <a:ln w="3175">
            <a:solidFill>
              <a:srgbClr val="4A5262"/>
            </a:solidFill>
            <a:prstDash val="solid"/>
          </a:ln>
        </p:spPr>
      </p:sp>
      <p:sp>
        <p:nvSpPr>
          <p:cNvPr id="62" name="Text 60"/>
          <p:cNvSpPr/>
          <p:nvPr/>
        </p:nvSpPr>
        <p:spPr>
          <a:xfrm>
            <a:off x="4572000" y="2852928"/>
            <a:ext cx="128016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fine focus</a:t>
            </a:r>
            <a:endParaRPr lang="en-US" sz="1050" dirty="0"/>
          </a:p>
        </p:txBody>
      </p:sp>
      <p:sp>
        <p:nvSpPr>
          <p:cNvPr id="63" name="Shape 61"/>
          <p:cNvSpPr/>
          <p:nvPr/>
        </p:nvSpPr>
        <p:spPr>
          <a:xfrm flipV="1">
            <a:off x="4179265" y="3703320"/>
            <a:ext cx="347015" cy="815645"/>
          </a:xfrm>
          <a:prstGeom prst="line">
            <a:avLst/>
          </a:prstGeom>
          <a:noFill/>
          <a:ln w="11430">
            <a:solidFill>
              <a:srgbClr val="4A5262"/>
            </a:solidFill>
            <a:prstDash val="solid"/>
          </a:ln>
        </p:spPr>
      </p:sp>
      <p:sp>
        <p:nvSpPr>
          <p:cNvPr id="64" name="Shape 62"/>
          <p:cNvSpPr/>
          <p:nvPr/>
        </p:nvSpPr>
        <p:spPr>
          <a:xfrm>
            <a:off x="4159148" y="4498848"/>
            <a:ext cx="40234" cy="40234"/>
          </a:xfrm>
          <a:prstGeom prst="ellipse">
            <a:avLst/>
          </a:prstGeom>
          <a:solidFill>
            <a:srgbClr val="4A5262"/>
          </a:solidFill>
          <a:ln w="3175">
            <a:solidFill>
              <a:srgbClr val="4A5262"/>
            </a:solidFill>
            <a:prstDash val="solid"/>
          </a:ln>
        </p:spPr>
      </p:sp>
      <p:sp>
        <p:nvSpPr>
          <p:cNvPr id="65" name="Text 63"/>
          <p:cNvSpPr/>
          <p:nvPr/>
        </p:nvSpPr>
        <p:spPr>
          <a:xfrm>
            <a:off x="4572000" y="3584448"/>
            <a:ext cx="128016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arm</a:t>
            </a:r>
            <a:endParaRPr lang="en-US" sz="1050" dirty="0"/>
          </a:p>
        </p:txBody>
      </p:sp>
      <p:sp>
        <p:nvSpPr>
          <p:cNvPr id="66" name="Shape 64"/>
          <p:cNvSpPr/>
          <p:nvPr/>
        </p:nvSpPr>
        <p:spPr>
          <a:xfrm flipV="1">
            <a:off x="4401007" y="4709160"/>
            <a:ext cx="125273" cy="501640"/>
          </a:xfrm>
          <a:prstGeom prst="line">
            <a:avLst/>
          </a:prstGeom>
          <a:noFill/>
          <a:ln w="11430">
            <a:solidFill>
              <a:srgbClr val="4A5262"/>
            </a:solidFill>
            <a:prstDash val="solid"/>
          </a:ln>
        </p:spPr>
      </p:sp>
      <p:sp>
        <p:nvSpPr>
          <p:cNvPr id="67" name="Shape 65"/>
          <p:cNvSpPr/>
          <p:nvPr/>
        </p:nvSpPr>
        <p:spPr>
          <a:xfrm>
            <a:off x="4380890" y="5190683"/>
            <a:ext cx="40234" cy="40234"/>
          </a:xfrm>
          <a:prstGeom prst="ellipse">
            <a:avLst/>
          </a:prstGeom>
          <a:solidFill>
            <a:srgbClr val="4A5262"/>
          </a:solidFill>
          <a:ln w="3175">
            <a:solidFill>
              <a:srgbClr val="4A5262"/>
            </a:solidFill>
            <a:prstDash val="solid"/>
          </a:ln>
        </p:spPr>
      </p:sp>
      <p:sp>
        <p:nvSpPr>
          <p:cNvPr id="68" name="Text 66"/>
          <p:cNvSpPr/>
          <p:nvPr/>
        </p:nvSpPr>
        <p:spPr>
          <a:xfrm>
            <a:off x="4572000" y="4590288"/>
            <a:ext cx="1280160" cy="237744"/>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base</a:t>
            </a:r>
            <a:endParaRPr lang="en-US" sz="1050" dirty="0"/>
          </a:p>
        </p:txBody>
      </p:sp>
      <p:sp>
        <p:nvSpPr>
          <p:cNvPr id="69" name="Shape 67"/>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70" name="Text 6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Parts and their jobs</a:t>
            </a:r>
            <a:endParaRPr lang="en-US" sz="1300" dirty="0"/>
          </a:p>
        </p:txBody>
      </p:sp>
      <p:sp>
        <p:nvSpPr>
          <p:cNvPr id="71" name="Text 6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Eyepiece lens</a:t>
            </a:r>
            <a:r>
              <a:rPr lang="en-US" sz="1100" dirty="0">
                <a:solidFill>
                  <a:srgbClr val="262B3A"/>
                </a:solidFill>
                <a:latin typeface="Calibri" pitchFamily="34" charset="0"/>
                <a:ea typeface="Calibri" pitchFamily="34" charset="-122"/>
                <a:cs typeface="Calibri" pitchFamily="34" charset="-120"/>
              </a:rPr>
              <a:t>: the lens you look through; usually ×10.</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Objective lenses</a:t>
            </a:r>
            <a:r>
              <a:rPr lang="en-US" sz="1100" dirty="0">
                <a:solidFill>
                  <a:srgbClr val="262B3A"/>
                </a:solidFill>
                <a:latin typeface="Calibri" pitchFamily="34" charset="0"/>
                <a:ea typeface="Calibri" pitchFamily="34" charset="-122"/>
                <a:cs typeface="Calibri" pitchFamily="34" charset="-120"/>
              </a:rPr>
              <a:t>: ×4, ×10 and ×40; turn the nosepiece to change.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Stage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clips</a:t>
            </a:r>
            <a:r>
              <a:rPr lang="en-US" sz="1100" dirty="0">
                <a:solidFill>
                  <a:srgbClr val="262B3A"/>
                </a:solidFill>
                <a:latin typeface="Calibri" pitchFamily="34" charset="0"/>
                <a:ea typeface="Calibri" pitchFamily="34" charset="-122"/>
                <a:cs typeface="Calibri" pitchFamily="34" charset="-120"/>
              </a:rPr>
              <a:t>: hold the slide over the hole.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Light source</a:t>
            </a:r>
            <a:r>
              <a:rPr lang="en-US" sz="1100" dirty="0">
                <a:solidFill>
                  <a:srgbClr val="262B3A"/>
                </a:solidFill>
                <a:latin typeface="Calibri" pitchFamily="34" charset="0"/>
                <a:ea typeface="Calibri" pitchFamily="34" charset="-122"/>
                <a:cs typeface="Calibri" pitchFamily="34" charset="-120"/>
              </a:rPr>
              <a:t>: shines light </a:t>
            </a:r>
            <a:r>
              <a:rPr lang="en-US" sz="1100" b="1" dirty="0">
                <a:solidFill>
                  <a:srgbClr val="262B3A"/>
                </a:solidFill>
                <a:latin typeface="Calibri" pitchFamily="34" charset="0"/>
                <a:ea typeface="Calibri" pitchFamily="34" charset="-122"/>
                <a:cs typeface="Calibri" pitchFamily="34" charset="-120"/>
              </a:rPr>
              <a:t>through</a:t>
            </a:r>
            <a:r>
              <a:rPr lang="en-US" sz="1100" dirty="0">
                <a:solidFill>
                  <a:srgbClr val="262B3A"/>
                </a:solidFill>
                <a:latin typeface="Calibri" pitchFamily="34" charset="0"/>
                <a:ea typeface="Calibri" pitchFamily="34" charset="-122"/>
                <a:cs typeface="Calibri" pitchFamily="34" charset="-120"/>
              </a:rPr>
              <a:t> the thin specimen.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Coarse focus</a:t>
            </a:r>
            <a:r>
              <a:rPr lang="en-US" sz="1100" dirty="0">
                <a:solidFill>
                  <a:srgbClr val="262B3A"/>
                </a:solidFill>
                <a:latin typeface="Calibri" pitchFamily="34" charset="0"/>
                <a:ea typeface="Calibri" pitchFamily="34" charset="-122"/>
                <a:cs typeface="Calibri" pitchFamily="34" charset="-120"/>
              </a:rPr>
              <a:t>: big movements, for low power. </a:t>
            </a:r>
            <a:r>
              <a:rPr lang="en-US" sz="1100" b="1" dirty="0">
                <a:solidFill>
                  <a:srgbClr val="262B3A"/>
                </a:solidFill>
                <a:latin typeface="Calibri" pitchFamily="34" charset="0"/>
                <a:ea typeface="Calibri" pitchFamily="34" charset="-122"/>
                <a:cs typeface="Calibri" pitchFamily="34" charset="-120"/>
              </a:rPr>
              <a:t>Fine focus</a:t>
            </a:r>
            <a:r>
              <a:rPr lang="en-US" sz="1100" dirty="0">
                <a:solidFill>
                  <a:srgbClr val="262B3A"/>
                </a:solidFill>
                <a:latin typeface="Calibri" pitchFamily="34" charset="0"/>
                <a:ea typeface="Calibri" pitchFamily="34" charset="-122"/>
                <a:cs typeface="Calibri" pitchFamily="34" charset="-120"/>
              </a:rPr>
              <a:t>: small movements, for high power.</a:t>
            </a:r>
            <a:endParaRPr lang="en-US" sz="1100" dirty="0"/>
          </a:p>
        </p:txBody>
      </p:sp>
      <p:sp>
        <p:nvSpPr>
          <p:cNvPr id="72" name="Shape 7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3" name="Text 7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total magnification</a:t>
            </a:r>
            <a:endParaRPr lang="en-US" sz="1300" dirty="0"/>
          </a:p>
        </p:txBody>
      </p:sp>
      <p:sp>
        <p:nvSpPr>
          <p:cNvPr id="74" name="Text 7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eyepiece is ×10. What are the total magnifications with the ×4, ×10 and ×40 objectives?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total = eyepiece × objective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Low   </a:t>
            </a:r>
            <a:r>
              <a:rPr lang="en-US" sz="1050" dirty="0">
                <a:solidFill>
                  <a:srgbClr val="262B3A"/>
                </a:solidFill>
                <a:latin typeface="Calibri" pitchFamily="34" charset="0"/>
                <a:ea typeface="Calibri" pitchFamily="34" charset="-122"/>
                <a:cs typeface="Calibri" pitchFamily="34" charset="-120"/>
              </a:rPr>
              <a:t>10 × 4 = ×40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Medium   </a:t>
            </a:r>
            <a:r>
              <a:rPr lang="en-US" sz="1050" dirty="0">
                <a:solidFill>
                  <a:srgbClr val="262B3A"/>
                </a:solidFill>
                <a:latin typeface="Calibri" pitchFamily="34" charset="0"/>
                <a:ea typeface="Calibri" pitchFamily="34" charset="-122"/>
                <a:cs typeface="Calibri" pitchFamily="34" charset="-120"/>
              </a:rPr>
              <a:t>10 × 10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high power: 10 × 40 = ×400</a:t>
            </a:r>
            <a:endParaRPr lang="en-US" sz="1050" dirty="0"/>
          </a:p>
        </p:txBody>
      </p:sp>
      <p:sp>
        <p:nvSpPr>
          <p:cNvPr id="75" name="Shape 73"/>
          <p:cNvSpPr/>
          <p:nvPr/>
        </p:nvSpPr>
        <p:spPr>
          <a:xfrm>
            <a:off x="411480" y="5833872"/>
            <a:ext cx="11368735" cy="530352"/>
          </a:xfrm>
          <a:prstGeom prst="rect">
            <a:avLst/>
          </a:prstGeom>
          <a:solidFill>
            <a:srgbClr val="FFF4E0"/>
          </a:solidFill>
          <a:ln w="6350">
            <a:solidFill>
              <a:srgbClr val="F1D9A8"/>
            </a:solidFill>
            <a:prstDash val="solid"/>
          </a:ln>
        </p:spPr>
      </p:sp>
      <p:sp>
        <p:nvSpPr>
          <p:cNvPr id="76" name="Shape 74"/>
          <p:cNvSpPr/>
          <p:nvPr/>
        </p:nvSpPr>
        <p:spPr>
          <a:xfrm>
            <a:off x="411480" y="5833872"/>
            <a:ext cx="82296" cy="530352"/>
          </a:xfrm>
          <a:prstGeom prst="rect">
            <a:avLst/>
          </a:prstGeom>
          <a:solidFill>
            <a:srgbClr val="E39A2F"/>
          </a:solidFill>
          <a:ln w="12700">
            <a:solidFill>
              <a:srgbClr val="E39A2F"/>
            </a:solidFill>
            <a:prstDash val="solid"/>
          </a:ln>
        </p:spPr>
      </p:sp>
      <p:sp>
        <p:nvSpPr>
          <p:cNvPr id="77" name="Text 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you use the </a:t>
            </a:r>
            <a:r>
              <a:rPr lang="en-US" sz="1150" b="1" dirty="0">
                <a:solidFill>
                  <a:srgbClr val="262B3A"/>
                </a:solidFill>
                <a:latin typeface="Calibri" pitchFamily="34" charset="0"/>
                <a:ea typeface="Calibri" pitchFamily="34" charset="-122"/>
                <a:cs typeface="Calibri" pitchFamily="34" charset="-120"/>
              </a:rPr>
              <a:t>fine focus</a:t>
            </a:r>
            <a:r>
              <a:rPr lang="en-US" sz="1150" dirty="0">
                <a:solidFill>
                  <a:srgbClr val="262B3A"/>
                </a:solidFill>
                <a:latin typeface="Calibri" pitchFamily="34" charset="0"/>
                <a:ea typeface="Calibri" pitchFamily="34" charset="-122"/>
                <a:cs typeface="Calibri" pitchFamily="34" charset="-120"/>
              </a:rPr>
              <a:t>, not the coarse focus, with the ×40 objective?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Magnification and resolution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B4.2.1 • electron microscopes magnify more AND show much finer detail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B4.2.1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objects 100 nm apart viewed with each microscope</a:t>
            </a:r>
            <a:endParaRPr lang="en-US" sz="1000" dirty="0"/>
          </a:p>
        </p:txBody>
      </p:sp>
      <p:sp>
        <p:nvSpPr>
          <p:cNvPr id="10" name="Text 8"/>
          <p:cNvSpPr/>
          <p:nvPr/>
        </p:nvSpPr>
        <p:spPr>
          <a:xfrm>
            <a:off x="640080" y="1298448"/>
            <a:ext cx="51206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Resolution: can you tell two close objects apart?</a:t>
            </a:r>
            <a:endParaRPr lang="en-US" sz="1100" dirty="0"/>
          </a:p>
        </p:txBody>
      </p:sp>
      <p:sp>
        <p:nvSpPr>
          <p:cNvPr id="11" name="Shape 9"/>
          <p:cNvSpPr/>
          <p:nvPr/>
        </p:nvSpPr>
        <p:spPr>
          <a:xfrm>
            <a:off x="777240" y="1645920"/>
            <a:ext cx="2194560" cy="1325880"/>
          </a:xfrm>
          <a:prstGeom prst="roundRect">
            <a:avLst>
              <a:gd name="adj" fmla="val 4138"/>
            </a:avLst>
          </a:prstGeom>
          <a:solidFill>
            <a:srgbClr val="FBF8EE"/>
          </a:solidFill>
          <a:ln w="12700">
            <a:solidFill>
              <a:srgbClr val="2F3542"/>
            </a:solidFill>
            <a:prstDash val="solid"/>
          </a:ln>
        </p:spPr>
      </p:sp>
      <p:sp>
        <p:nvSpPr>
          <p:cNvPr id="12" name="Shape 10"/>
          <p:cNvSpPr/>
          <p:nvPr/>
        </p:nvSpPr>
        <p:spPr>
          <a:xfrm>
            <a:off x="1325880" y="1938528"/>
            <a:ext cx="731520" cy="731520"/>
          </a:xfrm>
          <a:prstGeom prst="ellipse">
            <a:avLst/>
          </a:prstGeom>
          <a:solidFill>
            <a:srgbClr val="6A4C93">
              <a:alpha val="40000"/>
            </a:srgbClr>
          </a:solidFill>
          <a:ln/>
        </p:spPr>
      </p:sp>
      <p:sp>
        <p:nvSpPr>
          <p:cNvPr id="13" name="Shape 11"/>
          <p:cNvSpPr/>
          <p:nvPr/>
        </p:nvSpPr>
        <p:spPr>
          <a:xfrm>
            <a:off x="1645920" y="1938528"/>
            <a:ext cx="731520" cy="731520"/>
          </a:xfrm>
          <a:prstGeom prst="ellipse">
            <a:avLst/>
          </a:prstGeom>
          <a:solidFill>
            <a:srgbClr val="6A4C93">
              <a:alpha val="40000"/>
            </a:srgbClr>
          </a:solidFill>
          <a:ln/>
        </p:spPr>
      </p:sp>
      <p:sp>
        <p:nvSpPr>
          <p:cNvPr id="14" name="Text 12"/>
          <p:cNvSpPr/>
          <p:nvPr/>
        </p:nvSpPr>
        <p:spPr>
          <a:xfrm>
            <a:off x="777240" y="2990088"/>
            <a:ext cx="2194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light microscope</a:t>
            </a:r>
            <a:r>
              <a:rPr lang="en-US" sz="1050" dirty="0">
                <a:solidFill>
                  <a:srgbClr val="262B3A"/>
                </a:solidFill>
                <a:latin typeface="Calibri" pitchFamily="34" charset="0"/>
                <a:ea typeface="Calibri" pitchFamily="34" charset="-122"/>
                <a:cs typeface="Calibri" pitchFamily="34" charset="-120"/>
              </a:rPr>
              <a:t>: one blur</a:t>
            </a:r>
            <a:endParaRPr lang="en-US" sz="1050" dirty="0"/>
          </a:p>
        </p:txBody>
      </p:sp>
      <p:sp>
        <p:nvSpPr>
          <p:cNvPr id="15" name="Shape 13"/>
          <p:cNvSpPr/>
          <p:nvPr/>
        </p:nvSpPr>
        <p:spPr>
          <a:xfrm>
            <a:off x="3429000" y="1645920"/>
            <a:ext cx="2194560" cy="1325880"/>
          </a:xfrm>
          <a:prstGeom prst="roundRect">
            <a:avLst>
              <a:gd name="adj" fmla="val 4138"/>
            </a:avLst>
          </a:prstGeom>
          <a:solidFill>
            <a:srgbClr val="3A3A3A"/>
          </a:solidFill>
          <a:ln w="12700">
            <a:solidFill>
              <a:srgbClr val="2F3542"/>
            </a:solidFill>
            <a:prstDash val="solid"/>
          </a:ln>
        </p:spPr>
      </p:sp>
      <p:sp>
        <p:nvSpPr>
          <p:cNvPr id="16" name="Shape 14"/>
          <p:cNvSpPr/>
          <p:nvPr/>
        </p:nvSpPr>
        <p:spPr>
          <a:xfrm>
            <a:off x="4023360" y="2121408"/>
            <a:ext cx="365760" cy="365760"/>
          </a:xfrm>
          <a:prstGeom prst="ellipse">
            <a:avLst/>
          </a:prstGeom>
          <a:solidFill>
            <a:srgbClr val="E6E6E6"/>
          </a:solidFill>
          <a:ln w="9525">
            <a:solidFill>
              <a:srgbClr val="FFFFFF"/>
            </a:solidFill>
            <a:prstDash val="solid"/>
          </a:ln>
        </p:spPr>
      </p:sp>
      <p:sp>
        <p:nvSpPr>
          <p:cNvPr id="17" name="Shape 15"/>
          <p:cNvSpPr/>
          <p:nvPr/>
        </p:nvSpPr>
        <p:spPr>
          <a:xfrm>
            <a:off x="4663440" y="2121408"/>
            <a:ext cx="365760" cy="365760"/>
          </a:xfrm>
          <a:prstGeom prst="ellipse">
            <a:avLst/>
          </a:prstGeom>
          <a:solidFill>
            <a:srgbClr val="E6E6E6"/>
          </a:solidFill>
          <a:ln w="9525">
            <a:solidFill>
              <a:srgbClr val="FFFFFF"/>
            </a:solidFill>
            <a:prstDash val="solid"/>
          </a:ln>
        </p:spPr>
      </p:sp>
      <p:sp>
        <p:nvSpPr>
          <p:cNvPr id="18" name="Text 16"/>
          <p:cNvSpPr/>
          <p:nvPr/>
        </p:nvSpPr>
        <p:spPr>
          <a:xfrm>
            <a:off x="3429000" y="2990088"/>
            <a:ext cx="2194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electron microscope</a:t>
            </a:r>
            <a:r>
              <a:rPr lang="en-US" sz="1050" dirty="0">
                <a:solidFill>
                  <a:srgbClr val="262B3A"/>
                </a:solidFill>
                <a:latin typeface="Calibri" pitchFamily="34" charset="0"/>
                <a:ea typeface="Calibri" pitchFamily="34" charset="-122"/>
                <a:cs typeface="Calibri" pitchFamily="34" charset="-120"/>
              </a:rPr>
              <a:t>: two objects</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3364992"/>
          <a:ext cx="5120640" cy="914400"/>
        </p:xfrm>
        <a:graphic>
          <a:graphicData uri="http://schemas.openxmlformats.org/drawingml/2006/table">
            <a:tbl>
              <a:tblPr/>
              <a:tblGrid>
                <a:gridCol w="1280160"/>
                <a:gridCol w="1828800"/>
                <a:gridCol w="2011680"/>
              </a:tblGrid>
              <a:tr h="310896">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Light microscope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Electron microscope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Uses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light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 beam of electrons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Magnification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up to about ×2000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up to about ×2 000 000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Resolution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about 200 nm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about 0.2 nm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Specimens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living or dead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dead (in a vacuum)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Cost and size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cheap, portable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expensive, fills a room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20" name="Shape 17"/>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21" name="Text 1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different ideas</a:t>
            </a:r>
            <a:endParaRPr lang="en-US" sz="1300" dirty="0"/>
          </a:p>
        </p:txBody>
      </p:sp>
      <p:sp>
        <p:nvSpPr>
          <p:cNvPr id="22" name="Text 1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Magnification</a:t>
            </a:r>
            <a:r>
              <a:rPr lang="en-US" sz="1100" dirty="0">
                <a:solidFill>
                  <a:srgbClr val="262B3A"/>
                </a:solidFill>
                <a:latin typeface="Calibri" pitchFamily="34" charset="0"/>
                <a:ea typeface="Calibri" pitchFamily="34" charset="-122"/>
                <a:cs typeface="Calibri" pitchFamily="34" charset="-120"/>
              </a:rPr>
              <a:t>: how many times </a:t>
            </a:r>
            <a:r>
              <a:rPr lang="en-US" sz="1100" b="1" dirty="0">
                <a:solidFill>
                  <a:srgbClr val="262B3A"/>
                </a:solidFill>
                <a:latin typeface="Calibri" pitchFamily="34" charset="0"/>
                <a:ea typeface="Calibri" pitchFamily="34" charset="-122"/>
                <a:cs typeface="Calibri" pitchFamily="34" charset="-120"/>
              </a:rPr>
              <a:t>bigger</a:t>
            </a:r>
            <a:r>
              <a:rPr lang="en-US" sz="1100" dirty="0">
                <a:solidFill>
                  <a:srgbClr val="262B3A"/>
                </a:solidFill>
                <a:latin typeface="Calibri" pitchFamily="34" charset="0"/>
                <a:ea typeface="Calibri" pitchFamily="34" charset="-122"/>
                <a:cs typeface="Calibri" pitchFamily="34" charset="-120"/>
              </a:rPr>
              <a:t> the image is than the real object.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Resolution</a:t>
            </a:r>
            <a:r>
              <a:rPr lang="en-US" sz="1100" dirty="0">
                <a:solidFill>
                  <a:srgbClr val="262B3A"/>
                </a:solidFill>
                <a:latin typeface="Calibri" pitchFamily="34" charset="0"/>
                <a:ea typeface="Calibri" pitchFamily="34" charset="-122"/>
                <a:cs typeface="Calibri" pitchFamily="34" charset="-120"/>
              </a:rPr>
              <a:t>: the </a:t>
            </a:r>
            <a:r>
              <a:rPr lang="en-US" sz="1100" b="1" dirty="0">
                <a:solidFill>
                  <a:srgbClr val="262B3A"/>
                </a:solidFill>
                <a:latin typeface="Calibri" pitchFamily="34" charset="0"/>
                <a:ea typeface="Calibri" pitchFamily="34" charset="-122"/>
                <a:cs typeface="Calibri" pitchFamily="34" charset="-120"/>
              </a:rPr>
              <a:t>smallest distance</a:t>
            </a:r>
            <a:r>
              <a:rPr lang="en-US" sz="1100" dirty="0">
                <a:solidFill>
                  <a:srgbClr val="262B3A"/>
                </a:solidFill>
                <a:latin typeface="Calibri" pitchFamily="34" charset="0"/>
                <a:ea typeface="Calibri" pitchFamily="34" charset="-122"/>
                <a:cs typeface="Calibri" pitchFamily="34" charset="-120"/>
              </a:rPr>
              <a:t> between two points that can still be seen as </a:t>
            </a:r>
            <a:r>
              <a:rPr lang="en-US" sz="1100" b="1" dirty="0">
                <a:solidFill>
                  <a:srgbClr val="262B3A"/>
                </a:solidFill>
                <a:latin typeface="Calibri" pitchFamily="34" charset="0"/>
                <a:ea typeface="Calibri" pitchFamily="34" charset="-122"/>
                <a:cs typeface="Calibri" pitchFamily="34" charset="-120"/>
              </a:rPr>
              <a:t>separate</a:t>
            </a:r>
            <a:r>
              <a:rPr lang="en-US" sz="1100" dirty="0">
                <a:solidFill>
                  <a:srgbClr val="262B3A"/>
                </a:solidFill>
                <a:latin typeface="Calibri" pitchFamily="34" charset="0"/>
                <a:ea typeface="Calibri" pitchFamily="34" charset="-122"/>
                <a:cs typeface="Calibri" pitchFamily="34" charset="-120"/>
              </a:rPr>
              <a:t>. It decides how much </a:t>
            </a:r>
            <a:r>
              <a:rPr lang="en-US" sz="1100" b="1" dirty="0">
                <a:solidFill>
                  <a:srgbClr val="262B3A"/>
                </a:solidFill>
                <a:latin typeface="Calibri" pitchFamily="34" charset="0"/>
                <a:ea typeface="Calibri" pitchFamily="34" charset="-122"/>
                <a:cs typeface="Calibri" pitchFamily="34" charset="-120"/>
              </a:rPr>
              <a:t>detail</a:t>
            </a:r>
            <a:r>
              <a:rPr lang="en-US" sz="1100" dirty="0">
                <a:solidFill>
                  <a:srgbClr val="262B3A"/>
                </a:solidFill>
                <a:latin typeface="Calibri" pitchFamily="34" charset="0"/>
                <a:ea typeface="Calibri" pitchFamily="34" charset="-122"/>
                <a:cs typeface="Calibri" pitchFamily="34" charset="-120"/>
              </a:rPr>
              <a:t> you see.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Magnifying more without better resolution just gives a </a:t>
            </a:r>
            <a:r>
              <a:rPr lang="en-US" sz="1100" b="1" dirty="0">
                <a:solidFill>
                  <a:srgbClr val="262B3A"/>
                </a:solidFill>
                <a:latin typeface="Calibri" pitchFamily="34" charset="0"/>
                <a:ea typeface="Calibri" pitchFamily="34" charset="-122"/>
                <a:cs typeface="Calibri" pitchFamily="34" charset="-120"/>
              </a:rPr>
              <a:t>bigger blur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Electrons have a much shorter wavelength than light, so electron microscopes have a much </a:t>
            </a:r>
            <a:r>
              <a:rPr lang="en-US" sz="1100" b="1" dirty="0">
                <a:solidFill>
                  <a:srgbClr val="262B3A"/>
                </a:solidFill>
                <a:latin typeface="Calibri" pitchFamily="34" charset="0"/>
                <a:ea typeface="Calibri" pitchFamily="34" charset="-122"/>
                <a:cs typeface="Calibri" pitchFamily="34" charset="-120"/>
              </a:rPr>
              <a:t>higher resolution</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4" name="Text 2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much finer?</a:t>
            </a:r>
            <a:endParaRPr lang="en-US" sz="1300" dirty="0"/>
          </a:p>
        </p:txBody>
      </p:sp>
      <p:sp>
        <p:nvSpPr>
          <p:cNvPr id="25" name="Text 2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Resolution: light microscope 200 nm; electron microscope 0.2 nm. How many times finer is the detail?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ratio = 200 nm ÷ 0.2 nm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Units   </a:t>
            </a:r>
            <a:r>
              <a:rPr lang="en-US" sz="1050" dirty="0">
                <a:solidFill>
                  <a:srgbClr val="262B3A"/>
                </a:solidFill>
                <a:latin typeface="Calibri" pitchFamily="34" charset="0"/>
                <a:ea typeface="Calibri" pitchFamily="34" charset="-122"/>
                <a:cs typeface="Calibri" pitchFamily="34" charset="-120"/>
              </a:rPr>
              <a:t>both in nm, so divide directly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Calculate   </a:t>
            </a:r>
            <a:r>
              <a:rPr lang="en-US" sz="1050" dirty="0">
                <a:solidFill>
                  <a:srgbClr val="262B3A"/>
                </a:solidFill>
                <a:latin typeface="Calibri" pitchFamily="34" charset="0"/>
                <a:ea typeface="Calibri" pitchFamily="34" charset="-122"/>
                <a:cs typeface="Calibri" pitchFamily="34" charset="-120"/>
              </a:rPr>
              <a:t>200 ÷ 0.2 = 1000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about 1000 times finer detail</a:t>
            </a:r>
            <a:endParaRPr lang="en-US" sz="1050" dirty="0"/>
          </a:p>
        </p:txBody>
      </p:sp>
      <p:sp>
        <p:nvSpPr>
          <p:cNvPr id="26" name="Shape 23"/>
          <p:cNvSpPr/>
          <p:nvPr/>
        </p:nvSpPr>
        <p:spPr>
          <a:xfrm>
            <a:off x="411480" y="5833872"/>
            <a:ext cx="11368735" cy="530352"/>
          </a:xfrm>
          <a:prstGeom prst="rect">
            <a:avLst/>
          </a:prstGeom>
          <a:solidFill>
            <a:srgbClr val="FFF4E0"/>
          </a:solidFill>
          <a:ln w="6350">
            <a:solidFill>
              <a:srgbClr val="F1D9A8"/>
            </a:solidFill>
            <a:prstDash val="solid"/>
          </a:ln>
        </p:spPr>
      </p:sp>
      <p:sp>
        <p:nvSpPr>
          <p:cNvPr id="27" name="Shape 24"/>
          <p:cNvSpPr/>
          <p:nvPr/>
        </p:nvSpPr>
        <p:spPr>
          <a:xfrm>
            <a:off x="411480" y="5833872"/>
            <a:ext cx="82296" cy="530352"/>
          </a:xfrm>
          <a:prstGeom prst="rect">
            <a:avLst/>
          </a:prstGeom>
          <a:solidFill>
            <a:srgbClr val="E39A2F"/>
          </a:solidFill>
          <a:ln w="12700">
            <a:solidFill>
              <a:srgbClr val="E39A2F"/>
            </a:solidFill>
            <a:prstDash val="solid"/>
          </a:ln>
        </p:spPr>
      </p:sp>
      <p:sp>
        <p:nvSpPr>
          <p:cNvPr id="28" name="Text 2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says "a light microscope at ×4000 would show ribosomes". Explain why the student is wrong.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How electron microscopes changed what we know</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B4.2.1 • Ideas about Science: new technology gives new evidence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B4.2.1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 of an animal cell: light microscope view (left) and electron micrograph (right)</a:t>
            </a:r>
            <a:endParaRPr lang="en-US" sz="1000" dirty="0"/>
          </a:p>
        </p:txBody>
      </p:sp>
      <p:sp>
        <p:nvSpPr>
          <p:cNvPr id="10" name="Text 8"/>
          <p:cNvSpPr/>
          <p:nvPr/>
        </p:nvSpPr>
        <p:spPr>
          <a:xfrm>
            <a:off x="548640" y="1280160"/>
            <a:ext cx="2377440" cy="256032"/>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Light microscope (×1000)</a:t>
            </a:r>
            <a:endParaRPr lang="en-US" sz="1050" dirty="0"/>
          </a:p>
        </p:txBody>
      </p:sp>
      <p:sp>
        <p:nvSpPr>
          <p:cNvPr id="11" name="Shape 9"/>
          <p:cNvSpPr/>
          <p:nvPr/>
        </p:nvSpPr>
        <p:spPr>
          <a:xfrm>
            <a:off x="813816" y="1472184"/>
            <a:ext cx="1847088" cy="1847088"/>
          </a:xfrm>
          <a:prstGeom prst="ellipse">
            <a:avLst/>
          </a:prstGeom>
          <a:solidFill>
            <a:srgbClr val="2F3542"/>
          </a:solidFill>
          <a:ln w="9525">
            <a:solidFill>
              <a:srgbClr val="2F3542"/>
            </a:solidFill>
            <a:prstDash val="solid"/>
          </a:ln>
        </p:spPr>
      </p:sp>
      <p:sp>
        <p:nvSpPr>
          <p:cNvPr id="12" name="Shape 10"/>
          <p:cNvSpPr/>
          <p:nvPr/>
        </p:nvSpPr>
        <p:spPr>
          <a:xfrm>
            <a:off x="868680" y="1527048"/>
            <a:ext cx="1737360" cy="1737360"/>
          </a:xfrm>
          <a:prstGeom prst="ellipse">
            <a:avLst/>
          </a:prstGeom>
          <a:solidFill>
            <a:srgbClr val="FBF8EE"/>
          </a:solidFill>
          <a:ln w="6350">
            <a:solidFill>
              <a:srgbClr val="2F3542"/>
            </a:solidFill>
            <a:prstDash val="solid"/>
          </a:ln>
        </p:spPr>
      </p:sp>
      <p:sp>
        <p:nvSpPr>
          <p:cNvPr id="13" name="Shape 11"/>
          <p:cNvSpPr/>
          <p:nvPr/>
        </p:nvSpPr>
        <p:spPr>
          <a:xfrm>
            <a:off x="1097280" y="1874520"/>
            <a:ext cx="1280160" cy="1024128"/>
          </a:xfrm>
          <a:prstGeom prst="ellipse">
            <a:avLst/>
          </a:prstGeom>
          <a:solidFill>
            <a:srgbClr val="E3ECF7"/>
          </a:solidFill>
          <a:ln w="12700">
            <a:solidFill>
              <a:srgbClr val="5B7FB0"/>
            </a:solidFill>
            <a:prstDash val="solid"/>
          </a:ln>
        </p:spPr>
      </p:sp>
      <p:sp>
        <p:nvSpPr>
          <p:cNvPr id="14" name="Shape 12"/>
          <p:cNvSpPr/>
          <p:nvPr/>
        </p:nvSpPr>
        <p:spPr>
          <a:xfrm>
            <a:off x="1481328" y="2194560"/>
            <a:ext cx="365760" cy="365760"/>
          </a:xfrm>
          <a:prstGeom prst="ellipse">
            <a:avLst/>
          </a:prstGeom>
          <a:solidFill>
            <a:srgbClr val="3E64A8"/>
          </a:solidFill>
          <a:ln w="9525">
            <a:solidFill>
              <a:srgbClr val="2B4C9B"/>
            </a:solidFill>
            <a:prstDash val="solid"/>
          </a:ln>
        </p:spPr>
      </p:sp>
      <p:sp>
        <p:nvSpPr>
          <p:cNvPr id="15" name="Shape 13"/>
          <p:cNvSpPr/>
          <p:nvPr/>
        </p:nvSpPr>
        <p:spPr>
          <a:xfrm>
            <a:off x="1305763" y="2128723"/>
            <a:ext cx="40234" cy="40234"/>
          </a:xfrm>
          <a:prstGeom prst="ellipse">
            <a:avLst/>
          </a:prstGeom>
          <a:solidFill>
            <a:srgbClr val="5B6F8F"/>
          </a:solidFill>
          <a:ln w="9525">
            <a:solidFill>
              <a:srgbClr val="5B6F8F"/>
            </a:solidFill>
            <a:prstDash val="solid"/>
          </a:ln>
        </p:spPr>
      </p:sp>
      <p:sp>
        <p:nvSpPr>
          <p:cNvPr id="16" name="Shape 14"/>
          <p:cNvSpPr/>
          <p:nvPr/>
        </p:nvSpPr>
        <p:spPr>
          <a:xfrm>
            <a:off x="2083003" y="2220163"/>
            <a:ext cx="40234" cy="40234"/>
          </a:xfrm>
          <a:prstGeom prst="ellipse">
            <a:avLst/>
          </a:prstGeom>
          <a:solidFill>
            <a:srgbClr val="5B6F8F"/>
          </a:solidFill>
          <a:ln w="9525">
            <a:solidFill>
              <a:srgbClr val="5B6F8F"/>
            </a:solidFill>
            <a:prstDash val="solid"/>
          </a:ln>
        </p:spPr>
      </p:sp>
      <p:sp>
        <p:nvSpPr>
          <p:cNvPr id="17" name="Shape 15"/>
          <p:cNvSpPr/>
          <p:nvPr/>
        </p:nvSpPr>
        <p:spPr>
          <a:xfrm>
            <a:off x="1397203" y="2631643"/>
            <a:ext cx="40234" cy="40234"/>
          </a:xfrm>
          <a:prstGeom prst="ellipse">
            <a:avLst/>
          </a:prstGeom>
          <a:solidFill>
            <a:srgbClr val="5B6F8F"/>
          </a:solidFill>
          <a:ln w="9525">
            <a:solidFill>
              <a:srgbClr val="5B6F8F"/>
            </a:solidFill>
            <a:prstDash val="solid"/>
          </a:ln>
        </p:spPr>
      </p:sp>
      <p:sp>
        <p:nvSpPr>
          <p:cNvPr id="18" name="Shape 16"/>
          <p:cNvSpPr/>
          <p:nvPr/>
        </p:nvSpPr>
        <p:spPr>
          <a:xfrm>
            <a:off x="1991563" y="2585923"/>
            <a:ext cx="40234" cy="40234"/>
          </a:xfrm>
          <a:prstGeom prst="ellipse">
            <a:avLst/>
          </a:prstGeom>
          <a:solidFill>
            <a:srgbClr val="5B6F8F"/>
          </a:solidFill>
          <a:ln w="9525">
            <a:solidFill>
              <a:srgbClr val="5B6F8F"/>
            </a:solidFill>
            <a:prstDash val="solid"/>
          </a:ln>
        </p:spPr>
      </p:sp>
      <p:sp>
        <p:nvSpPr>
          <p:cNvPr id="19" name="Shape 17"/>
          <p:cNvSpPr/>
          <p:nvPr/>
        </p:nvSpPr>
        <p:spPr>
          <a:xfrm>
            <a:off x="1854403" y="2037283"/>
            <a:ext cx="40234" cy="40234"/>
          </a:xfrm>
          <a:prstGeom prst="ellipse">
            <a:avLst/>
          </a:prstGeom>
          <a:solidFill>
            <a:srgbClr val="5B6F8F"/>
          </a:solidFill>
          <a:ln w="9525">
            <a:solidFill>
              <a:srgbClr val="5B6F8F"/>
            </a:solidFill>
            <a:prstDash val="solid"/>
          </a:ln>
        </p:spPr>
      </p:sp>
      <p:sp>
        <p:nvSpPr>
          <p:cNvPr id="20" name="Text 18"/>
          <p:cNvSpPr/>
          <p:nvPr/>
        </p:nvSpPr>
        <p:spPr>
          <a:xfrm>
            <a:off x="594360" y="3310128"/>
            <a:ext cx="237744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nucleus clear; mitochondria = tiny dots
</a:t>
            </a:r>
            <a:r>
              <a:rPr lang="en-US" sz="1000" b="1" dirty="0">
                <a:solidFill>
                  <a:srgbClr val="262B3A"/>
                </a:solidFill>
                <a:latin typeface="Calibri" pitchFamily="34" charset="0"/>
                <a:ea typeface="Calibri" pitchFamily="34" charset="-122"/>
                <a:cs typeface="Calibri" pitchFamily="34" charset="-120"/>
              </a:rPr>
              <a:t>no ribosomes</a:t>
            </a:r>
            <a:r>
              <a:rPr lang="en-US" sz="1000" dirty="0">
                <a:solidFill>
                  <a:srgbClr val="262B3A"/>
                </a:solidFill>
                <a:latin typeface="Calibri" pitchFamily="34" charset="0"/>
                <a:ea typeface="Calibri" pitchFamily="34" charset="-122"/>
                <a:cs typeface="Calibri" pitchFamily="34" charset="-120"/>
              </a:rPr>
              <a:t> visible</a:t>
            </a:r>
            <a:endParaRPr lang="en-US" sz="1000" dirty="0"/>
          </a:p>
        </p:txBody>
      </p:sp>
      <p:sp>
        <p:nvSpPr>
          <p:cNvPr id="21" name="Text 19"/>
          <p:cNvSpPr/>
          <p:nvPr/>
        </p:nvSpPr>
        <p:spPr>
          <a:xfrm>
            <a:off x="3246120" y="1280160"/>
            <a:ext cx="2560320" cy="256032"/>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Electron microscope (×20 000)</a:t>
            </a:r>
            <a:endParaRPr lang="en-US" sz="1050" dirty="0"/>
          </a:p>
        </p:txBody>
      </p:sp>
      <p:sp>
        <p:nvSpPr>
          <p:cNvPr id="22" name="Shape 20"/>
          <p:cNvSpPr/>
          <p:nvPr/>
        </p:nvSpPr>
        <p:spPr>
          <a:xfrm>
            <a:off x="3291840" y="1536192"/>
            <a:ext cx="2468880" cy="1737360"/>
          </a:xfrm>
          <a:prstGeom prst="rect">
            <a:avLst/>
          </a:prstGeom>
          <a:solidFill>
            <a:srgbClr val="C8C8C8"/>
          </a:solidFill>
          <a:ln w="15875">
            <a:solidFill>
              <a:srgbClr val="2F3542"/>
            </a:solidFill>
            <a:prstDash val="solid"/>
          </a:ln>
        </p:spPr>
      </p:sp>
      <p:sp>
        <p:nvSpPr>
          <p:cNvPr id="23" name="Shape 21"/>
          <p:cNvSpPr/>
          <p:nvPr/>
        </p:nvSpPr>
        <p:spPr>
          <a:xfrm>
            <a:off x="2743200" y="2057400"/>
            <a:ext cx="1371600" cy="1463040"/>
          </a:xfrm>
          <a:prstGeom prst="ellipse">
            <a:avLst/>
          </a:prstGeom>
          <a:solidFill>
            <a:srgbClr val="9A9A9A"/>
          </a:solidFill>
          <a:ln/>
        </p:spPr>
      </p:sp>
      <p:sp>
        <p:nvSpPr>
          <p:cNvPr id="24" name="Shape 22"/>
          <p:cNvSpPr/>
          <p:nvPr/>
        </p:nvSpPr>
        <p:spPr>
          <a:xfrm>
            <a:off x="2743200" y="1554480"/>
            <a:ext cx="548640" cy="2011680"/>
          </a:xfrm>
          <a:prstGeom prst="rect">
            <a:avLst/>
          </a:prstGeom>
          <a:solidFill>
            <a:srgbClr val="EEF5F4"/>
          </a:solidFill>
          <a:ln/>
        </p:spPr>
      </p:sp>
      <p:sp>
        <p:nvSpPr>
          <p:cNvPr id="25" name="Shape 23"/>
          <p:cNvSpPr/>
          <p:nvPr/>
        </p:nvSpPr>
        <p:spPr>
          <a:xfrm>
            <a:off x="3291840" y="3273552"/>
            <a:ext cx="914400" cy="320040"/>
          </a:xfrm>
          <a:prstGeom prst="rect">
            <a:avLst/>
          </a:prstGeom>
          <a:solidFill>
            <a:srgbClr val="EEF5F4"/>
          </a:solidFill>
          <a:ln/>
        </p:spPr>
      </p:sp>
      <p:sp>
        <p:nvSpPr>
          <p:cNvPr id="26" name="Shape 24"/>
          <p:cNvSpPr/>
          <p:nvPr/>
        </p:nvSpPr>
        <p:spPr>
          <a:xfrm>
            <a:off x="3291840" y="1536192"/>
            <a:ext cx="91" cy="1737360"/>
          </a:xfrm>
          <a:prstGeom prst="line">
            <a:avLst/>
          </a:prstGeom>
          <a:noFill/>
          <a:ln w="15875">
            <a:solidFill>
              <a:srgbClr val="2F3542"/>
            </a:solidFill>
            <a:prstDash val="solid"/>
          </a:ln>
        </p:spPr>
      </p:sp>
      <p:sp>
        <p:nvSpPr>
          <p:cNvPr id="27" name="Shape 25"/>
          <p:cNvSpPr/>
          <p:nvPr/>
        </p:nvSpPr>
        <p:spPr>
          <a:xfrm>
            <a:off x="3291840" y="3273552"/>
            <a:ext cx="914400" cy="91"/>
          </a:xfrm>
          <a:prstGeom prst="line">
            <a:avLst/>
          </a:prstGeom>
          <a:noFill/>
          <a:ln w="15875">
            <a:solidFill>
              <a:srgbClr val="2F3542"/>
            </a:solidFill>
            <a:prstDash val="solid"/>
          </a:ln>
        </p:spPr>
      </p:sp>
      <p:sp>
        <p:nvSpPr>
          <p:cNvPr id="28" name="Shape 26"/>
          <p:cNvSpPr/>
          <p:nvPr/>
        </p:nvSpPr>
        <p:spPr>
          <a:xfrm rot="600000">
            <a:off x="4206240" y="1728216"/>
            <a:ext cx="1280160" cy="566928"/>
          </a:xfrm>
          <a:prstGeom prst="ellipse">
            <a:avLst/>
          </a:prstGeom>
          <a:solidFill>
            <a:srgbClr val="8E8E8E"/>
          </a:solidFill>
          <a:ln w="19050">
            <a:solidFill>
              <a:srgbClr val="2E2E2E"/>
            </a:solidFill>
            <a:prstDash val="solid"/>
          </a:ln>
        </p:spPr>
      </p:sp>
      <p:sp>
        <p:nvSpPr>
          <p:cNvPr id="29" name="Shape 27"/>
          <p:cNvSpPr/>
          <p:nvPr/>
        </p:nvSpPr>
        <p:spPr>
          <a:xfrm rot="600000">
            <a:off x="4262933" y="1784909"/>
            <a:ext cx="1166774" cy="453542"/>
          </a:xfrm>
          <a:prstGeom prst="ellipse">
            <a:avLst/>
          </a:prstGeom>
          <a:solidFill>
            <a:srgbClr val="B5B5B5"/>
          </a:solidFill>
          <a:ln w="12700">
            <a:solidFill>
              <a:srgbClr val="2E2E2E"/>
            </a:solidFill>
            <a:prstDash val="solid"/>
          </a:ln>
        </p:spPr>
      </p:sp>
      <p:sp>
        <p:nvSpPr>
          <p:cNvPr id="30" name="Shape 28"/>
          <p:cNvSpPr/>
          <p:nvPr/>
        </p:nvSpPr>
        <p:spPr>
          <a:xfrm rot="600000">
            <a:off x="4414965" y="1781578"/>
            <a:ext cx="64008" cy="190448"/>
          </a:xfrm>
          <a:prstGeom prst="roundRect">
            <a:avLst>
              <a:gd name="adj" fmla="val 50000"/>
            </a:avLst>
          </a:prstGeom>
          <a:solidFill>
            <a:srgbClr val="6E6E6E"/>
          </a:solidFill>
          <a:ln w="6350">
            <a:solidFill>
              <a:srgbClr val="2E2E2E"/>
            </a:solidFill>
            <a:prstDash val="solid"/>
          </a:ln>
        </p:spPr>
      </p:sp>
      <p:sp>
        <p:nvSpPr>
          <p:cNvPr id="31" name="Shape 29"/>
          <p:cNvSpPr/>
          <p:nvPr/>
        </p:nvSpPr>
        <p:spPr>
          <a:xfrm rot="600000">
            <a:off x="4553860" y="1926041"/>
            <a:ext cx="64008" cy="245867"/>
          </a:xfrm>
          <a:prstGeom prst="roundRect">
            <a:avLst>
              <a:gd name="adj" fmla="val 50000"/>
            </a:avLst>
          </a:prstGeom>
          <a:solidFill>
            <a:srgbClr val="6E6E6E"/>
          </a:solidFill>
          <a:ln w="6350">
            <a:solidFill>
              <a:srgbClr val="2E2E2E"/>
            </a:solidFill>
            <a:prstDash val="solid"/>
          </a:ln>
        </p:spPr>
      </p:sp>
      <p:sp>
        <p:nvSpPr>
          <p:cNvPr id="32" name="Shape 30"/>
          <p:cNvSpPr/>
          <p:nvPr/>
        </p:nvSpPr>
        <p:spPr>
          <a:xfrm rot="600000">
            <a:off x="4747831" y="1774127"/>
            <a:ext cx="64008" cy="269334"/>
          </a:xfrm>
          <a:prstGeom prst="roundRect">
            <a:avLst>
              <a:gd name="adj" fmla="val 50000"/>
            </a:avLst>
          </a:prstGeom>
          <a:solidFill>
            <a:srgbClr val="6E6E6E"/>
          </a:solidFill>
          <a:ln w="6350">
            <a:solidFill>
              <a:srgbClr val="2E2E2E"/>
            </a:solidFill>
            <a:prstDash val="solid"/>
          </a:ln>
        </p:spPr>
      </p:sp>
      <p:sp>
        <p:nvSpPr>
          <p:cNvPr id="33" name="Shape 31"/>
          <p:cNvSpPr/>
          <p:nvPr/>
        </p:nvSpPr>
        <p:spPr>
          <a:xfrm rot="600000">
            <a:off x="4880801" y="1979899"/>
            <a:ext cx="64008" cy="269334"/>
          </a:xfrm>
          <a:prstGeom prst="roundRect">
            <a:avLst>
              <a:gd name="adj" fmla="val 50000"/>
            </a:avLst>
          </a:prstGeom>
          <a:solidFill>
            <a:srgbClr val="6E6E6E"/>
          </a:solidFill>
          <a:ln w="6350">
            <a:solidFill>
              <a:srgbClr val="2E2E2E"/>
            </a:solidFill>
            <a:prstDash val="solid"/>
          </a:ln>
        </p:spPr>
      </p:sp>
      <p:sp>
        <p:nvSpPr>
          <p:cNvPr id="34" name="Shape 32"/>
          <p:cNvSpPr/>
          <p:nvPr/>
        </p:nvSpPr>
        <p:spPr>
          <a:xfrm rot="600000">
            <a:off x="5074772" y="1851452"/>
            <a:ext cx="64008" cy="245867"/>
          </a:xfrm>
          <a:prstGeom prst="roundRect">
            <a:avLst>
              <a:gd name="adj" fmla="val 50000"/>
            </a:avLst>
          </a:prstGeom>
          <a:solidFill>
            <a:srgbClr val="6E6E6E"/>
          </a:solidFill>
          <a:ln w="6350">
            <a:solidFill>
              <a:srgbClr val="2E2E2E"/>
            </a:solidFill>
            <a:prstDash val="solid"/>
          </a:ln>
        </p:spPr>
      </p:sp>
      <p:sp>
        <p:nvSpPr>
          <p:cNvPr id="35" name="Shape 33"/>
          <p:cNvSpPr/>
          <p:nvPr/>
        </p:nvSpPr>
        <p:spPr>
          <a:xfrm rot="600000">
            <a:off x="5213667" y="2051334"/>
            <a:ext cx="64008" cy="190448"/>
          </a:xfrm>
          <a:prstGeom prst="roundRect">
            <a:avLst>
              <a:gd name="adj" fmla="val 50000"/>
            </a:avLst>
          </a:prstGeom>
          <a:solidFill>
            <a:srgbClr val="6E6E6E"/>
          </a:solidFill>
          <a:ln w="6350">
            <a:solidFill>
              <a:srgbClr val="2E2E2E"/>
            </a:solidFill>
            <a:prstDash val="solid"/>
          </a:ln>
        </p:spPr>
      </p:sp>
      <p:sp>
        <p:nvSpPr>
          <p:cNvPr id="36" name="Shape 34"/>
          <p:cNvSpPr/>
          <p:nvPr/>
        </p:nvSpPr>
        <p:spPr>
          <a:xfrm>
            <a:off x="4160520" y="2697480"/>
            <a:ext cx="1417320" cy="91"/>
          </a:xfrm>
          <a:prstGeom prst="line">
            <a:avLst/>
          </a:prstGeom>
          <a:noFill/>
          <a:ln w="19050">
            <a:solidFill>
              <a:srgbClr val="3A3A3A"/>
            </a:solidFill>
            <a:prstDash val="solid"/>
          </a:ln>
        </p:spPr>
      </p:sp>
      <p:sp>
        <p:nvSpPr>
          <p:cNvPr id="37" name="Shape 35"/>
          <p:cNvSpPr/>
          <p:nvPr/>
        </p:nvSpPr>
        <p:spPr>
          <a:xfrm>
            <a:off x="4213555" y="2631643"/>
            <a:ext cx="40234" cy="40234"/>
          </a:xfrm>
          <a:prstGeom prst="ellipse">
            <a:avLst/>
          </a:prstGeom>
          <a:solidFill>
            <a:srgbClr val="1E1E1E"/>
          </a:solidFill>
          <a:ln w="9525">
            <a:solidFill>
              <a:srgbClr val="1E1E1E"/>
            </a:solidFill>
            <a:prstDash val="solid"/>
          </a:ln>
        </p:spPr>
      </p:sp>
      <p:sp>
        <p:nvSpPr>
          <p:cNvPr id="38" name="Shape 36"/>
          <p:cNvSpPr/>
          <p:nvPr/>
        </p:nvSpPr>
        <p:spPr>
          <a:xfrm>
            <a:off x="4341571" y="2631643"/>
            <a:ext cx="40234" cy="40234"/>
          </a:xfrm>
          <a:prstGeom prst="ellipse">
            <a:avLst/>
          </a:prstGeom>
          <a:solidFill>
            <a:srgbClr val="1E1E1E"/>
          </a:solidFill>
          <a:ln w="9525">
            <a:solidFill>
              <a:srgbClr val="1E1E1E"/>
            </a:solidFill>
            <a:prstDash val="solid"/>
          </a:ln>
        </p:spPr>
      </p:sp>
      <p:sp>
        <p:nvSpPr>
          <p:cNvPr id="39" name="Shape 37"/>
          <p:cNvSpPr/>
          <p:nvPr/>
        </p:nvSpPr>
        <p:spPr>
          <a:xfrm>
            <a:off x="4469587" y="2631643"/>
            <a:ext cx="40234" cy="40234"/>
          </a:xfrm>
          <a:prstGeom prst="ellipse">
            <a:avLst/>
          </a:prstGeom>
          <a:solidFill>
            <a:srgbClr val="1E1E1E"/>
          </a:solidFill>
          <a:ln w="9525">
            <a:solidFill>
              <a:srgbClr val="1E1E1E"/>
            </a:solidFill>
            <a:prstDash val="solid"/>
          </a:ln>
        </p:spPr>
      </p:sp>
      <p:sp>
        <p:nvSpPr>
          <p:cNvPr id="40" name="Shape 38"/>
          <p:cNvSpPr/>
          <p:nvPr/>
        </p:nvSpPr>
        <p:spPr>
          <a:xfrm>
            <a:off x="4597603" y="2631643"/>
            <a:ext cx="40234" cy="40234"/>
          </a:xfrm>
          <a:prstGeom prst="ellipse">
            <a:avLst/>
          </a:prstGeom>
          <a:solidFill>
            <a:srgbClr val="1E1E1E"/>
          </a:solidFill>
          <a:ln w="9525">
            <a:solidFill>
              <a:srgbClr val="1E1E1E"/>
            </a:solidFill>
            <a:prstDash val="solid"/>
          </a:ln>
        </p:spPr>
      </p:sp>
      <p:sp>
        <p:nvSpPr>
          <p:cNvPr id="41" name="Shape 39"/>
          <p:cNvSpPr/>
          <p:nvPr/>
        </p:nvSpPr>
        <p:spPr>
          <a:xfrm>
            <a:off x="4725619" y="2631643"/>
            <a:ext cx="40234" cy="40234"/>
          </a:xfrm>
          <a:prstGeom prst="ellipse">
            <a:avLst/>
          </a:prstGeom>
          <a:solidFill>
            <a:srgbClr val="1E1E1E"/>
          </a:solidFill>
          <a:ln w="9525">
            <a:solidFill>
              <a:srgbClr val="1E1E1E"/>
            </a:solidFill>
            <a:prstDash val="solid"/>
          </a:ln>
        </p:spPr>
      </p:sp>
      <p:sp>
        <p:nvSpPr>
          <p:cNvPr id="42" name="Shape 40"/>
          <p:cNvSpPr/>
          <p:nvPr/>
        </p:nvSpPr>
        <p:spPr>
          <a:xfrm>
            <a:off x="4853635" y="2631643"/>
            <a:ext cx="40234" cy="40234"/>
          </a:xfrm>
          <a:prstGeom prst="ellipse">
            <a:avLst/>
          </a:prstGeom>
          <a:solidFill>
            <a:srgbClr val="1E1E1E"/>
          </a:solidFill>
          <a:ln w="9525">
            <a:solidFill>
              <a:srgbClr val="1E1E1E"/>
            </a:solidFill>
            <a:prstDash val="solid"/>
          </a:ln>
        </p:spPr>
      </p:sp>
      <p:sp>
        <p:nvSpPr>
          <p:cNvPr id="43" name="Shape 41"/>
          <p:cNvSpPr/>
          <p:nvPr/>
        </p:nvSpPr>
        <p:spPr>
          <a:xfrm>
            <a:off x="4981651" y="2631643"/>
            <a:ext cx="40234" cy="40234"/>
          </a:xfrm>
          <a:prstGeom prst="ellipse">
            <a:avLst/>
          </a:prstGeom>
          <a:solidFill>
            <a:srgbClr val="1E1E1E"/>
          </a:solidFill>
          <a:ln w="9525">
            <a:solidFill>
              <a:srgbClr val="1E1E1E"/>
            </a:solidFill>
            <a:prstDash val="solid"/>
          </a:ln>
        </p:spPr>
      </p:sp>
      <p:sp>
        <p:nvSpPr>
          <p:cNvPr id="44" name="Shape 42"/>
          <p:cNvSpPr/>
          <p:nvPr/>
        </p:nvSpPr>
        <p:spPr>
          <a:xfrm>
            <a:off x="5109667" y="2631643"/>
            <a:ext cx="40234" cy="40234"/>
          </a:xfrm>
          <a:prstGeom prst="ellipse">
            <a:avLst/>
          </a:prstGeom>
          <a:solidFill>
            <a:srgbClr val="1E1E1E"/>
          </a:solidFill>
          <a:ln w="9525">
            <a:solidFill>
              <a:srgbClr val="1E1E1E"/>
            </a:solidFill>
            <a:prstDash val="solid"/>
          </a:ln>
        </p:spPr>
      </p:sp>
      <p:sp>
        <p:nvSpPr>
          <p:cNvPr id="45" name="Shape 43"/>
          <p:cNvSpPr/>
          <p:nvPr/>
        </p:nvSpPr>
        <p:spPr>
          <a:xfrm>
            <a:off x="5237683" y="2631643"/>
            <a:ext cx="40234" cy="40234"/>
          </a:xfrm>
          <a:prstGeom prst="ellipse">
            <a:avLst/>
          </a:prstGeom>
          <a:solidFill>
            <a:srgbClr val="1E1E1E"/>
          </a:solidFill>
          <a:ln w="9525">
            <a:solidFill>
              <a:srgbClr val="1E1E1E"/>
            </a:solidFill>
            <a:prstDash val="solid"/>
          </a:ln>
        </p:spPr>
      </p:sp>
      <p:sp>
        <p:nvSpPr>
          <p:cNvPr id="46" name="Shape 44"/>
          <p:cNvSpPr/>
          <p:nvPr/>
        </p:nvSpPr>
        <p:spPr>
          <a:xfrm>
            <a:off x="5365699" y="2631643"/>
            <a:ext cx="40234" cy="40234"/>
          </a:xfrm>
          <a:prstGeom prst="ellipse">
            <a:avLst/>
          </a:prstGeom>
          <a:solidFill>
            <a:srgbClr val="1E1E1E"/>
          </a:solidFill>
          <a:ln w="9525">
            <a:solidFill>
              <a:srgbClr val="1E1E1E"/>
            </a:solidFill>
            <a:prstDash val="solid"/>
          </a:ln>
        </p:spPr>
      </p:sp>
      <p:sp>
        <p:nvSpPr>
          <p:cNvPr id="47" name="Shape 45"/>
          <p:cNvSpPr/>
          <p:nvPr/>
        </p:nvSpPr>
        <p:spPr>
          <a:xfrm>
            <a:off x="5493715" y="2631643"/>
            <a:ext cx="40234" cy="40234"/>
          </a:xfrm>
          <a:prstGeom prst="ellipse">
            <a:avLst/>
          </a:prstGeom>
          <a:solidFill>
            <a:srgbClr val="1E1E1E"/>
          </a:solidFill>
          <a:ln w="9525">
            <a:solidFill>
              <a:srgbClr val="1E1E1E"/>
            </a:solidFill>
            <a:prstDash val="solid"/>
          </a:ln>
        </p:spPr>
      </p:sp>
      <p:sp>
        <p:nvSpPr>
          <p:cNvPr id="48" name="Shape 46"/>
          <p:cNvSpPr/>
          <p:nvPr/>
        </p:nvSpPr>
        <p:spPr>
          <a:xfrm>
            <a:off x="4160520" y="2926080"/>
            <a:ext cx="1417320" cy="91"/>
          </a:xfrm>
          <a:prstGeom prst="line">
            <a:avLst/>
          </a:prstGeom>
          <a:noFill/>
          <a:ln w="19050">
            <a:solidFill>
              <a:srgbClr val="3A3A3A"/>
            </a:solidFill>
            <a:prstDash val="solid"/>
          </a:ln>
        </p:spPr>
      </p:sp>
      <p:sp>
        <p:nvSpPr>
          <p:cNvPr id="49" name="Shape 47"/>
          <p:cNvSpPr/>
          <p:nvPr/>
        </p:nvSpPr>
        <p:spPr>
          <a:xfrm>
            <a:off x="4213555" y="2860243"/>
            <a:ext cx="40234" cy="40234"/>
          </a:xfrm>
          <a:prstGeom prst="ellipse">
            <a:avLst/>
          </a:prstGeom>
          <a:solidFill>
            <a:srgbClr val="1E1E1E"/>
          </a:solidFill>
          <a:ln w="9525">
            <a:solidFill>
              <a:srgbClr val="1E1E1E"/>
            </a:solidFill>
            <a:prstDash val="solid"/>
          </a:ln>
        </p:spPr>
      </p:sp>
      <p:sp>
        <p:nvSpPr>
          <p:cNvPr id="50" name="Shape 48"/>
          <p:cNvSpPr/>
          <p:nvPr/>
        </p:nvSpPr>
        <p:spPr>
          <a:xfrm>
            <a:off x="4341571" y="2860243"/>
            <a:ext cx="40234" cy="40234"/>
          </a:xfrm>
          <a:prstGeom prst="ellipse">
            <a:avLst/>
          </a:prstGeom>
          <a:solidFill>
            <a:srgbClr val="1E1E1E"/>
          </a:solidFill>
          <a:ln w="9525">
            <a:solidFill>
              <a:srgbClr val="1E1E1E"/>
            </a:solidFill>
            <a:prstDash val="solid"/>
          </a:ln>
        </p:spPr>
      </p:sp>
      <p:sp>
        <p:nvSpPr>
          <p:cNvPr id="51" name="Shape 49"/>
          <p:cNvSpPr/>
          <p:nvPr/>
        </p:nvSpPr>
        <p:spPr>
          <a:xfrm>
            <a:off x="4469587" y="2860243"/>
            <a:ext cx="40234" cy="40234"/>
          </a:xfrm>
          <a:prstGeom prst="ellipse">
            <a:avLst/>
          </a:prstGeom>
          <a:solidFill>
            <a:srgbClr val="1E1E1E"/>
          </a:solidFill>
          <a:ln w="9525">
            <a:solidFill>
              <a:srgbClr val="1E1E1E"/>
            </a:solidFill>
            <a:prstDash val="solid"/>
          </a:ln>
        </p:spPr>
      </p:sp>
      <p:sp>
        <p:nvSpPr>
          <p:cNvPr id="52" name="Shape 50"/>
          <p:cNvSpPr/>
          <p:nvPr/>
        </p:nvSpPr>
        <p:spPr>
          <a:xfrm>
            <a:off x="4597603" y="2860243"/>
            <a:ext cx="40234" cy="40234"/>
          </a:xfrm>
          <a:prstGeom prst="ellipse">
            <a:avLst/>
          </a:prstGeom>
          <a:solidFill>
            <a:srgbClr val="1E1E1E"/>
          </a:solidFill>
          <a:ln w="9525">
            <a:solidFill>
              <a:srgbClr val="1E1E1E"/>
            </a:solidFill>
            <a:prstDash val="solid"/>
          </a:ln>
        </p:spPr>
      </p:sp>
      <p:sp>
        <p:nvSpPr>
          <p:cNvPr id="53" name="Shape 51"/>
          <p:cNvSpPr/>
          <p:nvPr/>
        </p:nvSpPr>
        <p:spPr>
          <a:xfrm>
            <a:off x="4725619" y="2860243"/>
            <a:ext cx="40234" cy="40234"/>
          </a:xfrm>
          <a:prstGeom prst="ellipse">
            <a:avLst/>
          </a:prstGeom>
          <a:solidFill>
            <a:srgbClr val="1E1E1E"/>
          </a:solidFill>
          <a:ln w="9525">
            <a:solidFill>
              <a:srgbClr val="1E1E1E"/>
            </a:solidFill>
            <a:prstDash val="solid"/>
          </a:ln>
        </p:spPr>
      </p:sp>
      <p:sp>
        <p:nvSpPr>
          <p:cNvPr id="54" name="Shape 52"/>
          <p:cNvSpPr/>
          <p:nvPr/>
        </p:nvSpPr>
        <p:spPr>
          <a:xfrm>
            <a:off x="4853635" y="2860243"/>
            <a:ext cx="40234" cy="40234"/>
          </a:xfrm>
          <a:prstGeom prst="ellipse">
            <a:avLst/>
          </a:prstGeom>
          <a:solidFill>
            <a:srgbClr val="1E1E1E"/>
          </a:solidFill>
          <a:ln w="9525">
            <a:solidFill>
              <a:srgbClr val="1E1E1E"/>
            </a:solidFill>
            <a:prstDash val="solid"/>
          </a:ln>
        </p:spPr>
      </p:sp>
      <p:sp>
        <p:nvSpPr>
          <p:cNvPr id="55" name="Shape 53"/>
          <p:cNvSpPr/>
          <p:nvPr/>
        </p:nvSpPr>
        <p:spPr>
          <a:xfrm>
            <a:off x="4981651" y="2860243"/>
            <a:ext cx="40234" cy="40234"/>
          </a:xfrm>
          <a:prstGeom prst="ellipse">
            <a:avLst/>
          </a:prstGeom>
          <a:solidFill>
            <a:srgbClr val="1E1E1E"/>
          </a:solidFill>
          <a:ln w="9525">
            <a:solidFill>
              <a:srgbClr val="1E1E1E"/>
            </a:solidFill>
            <a:prstDash val="solid"/>
          </a:ln>
        </p:spPr>
      </p:sp>
      <p:sp>
        <p:nvSpPr>
          <p:cNvPr id="56" name="Shape 54"/>
          <p:cNvSpPr/>
          <p:nvPr/>
        </p:nvSpPr>
        <p:spPr>
          <a:xfrm>
            <a:off x="5109667" y="2860243"/>
            <a:ext cx="40234" cy="40234"/>
          </a:xfrm>
          <a:prstGeom prst="ellipse">
            <a:avLst/>
          </a:prstGeom>
          <a:solidFill>
            <a:srgbClr val="1E1E1E"/>
          </a:solidFill>
          <a:ln w="9525">
            <a:solidFill>
              <a:srgbClr val="1E1E1E"/>
            </a:solidFill>
            <a:prstDash val="solid"/>
          </a:ln>
        </p:spPr>
      </p:sp>
      <p:sp>
        <p:nvSpPr>
          <p:cNvPr id="57" name="Shape 55"/>
          <p:cNvSpPr/>
          <p:nvPr/>
        </p:nvSpPr>
        <p:spPr>
          <a:xfrm>
            <a:off x="5237683" y="2860243"/>
            <a:ext cx="40234" cy="40234"/>
          </a:xfrm>
          <a:prstGeom prst="ellipse">
            <a:avLst/>
          </a:prstGeom>
          <a:solidFill>
            <a:srgbClr val="1E1E1E"/>
          </a:solidFill>
          <a:ln w="9525">
            <a:solidFill>
              <a:srgbClr val="1E1E1E"/>
            </a:solidFill>
            <a:prstDash val="solid"/>
          </a:ln>
        </p:spPr>
      </p:sp>
      <p:sp>
        <p:nvSpPr>
          <p:cNvPr id="58" name="Shape 56"/>
          <p:cNvSpPr/>
          <p:nvPr/>
        </p:nvSpPr>
        <p:spPr>
          <a:xfrm>
            <a:off x="5365699" y="2860243"/>
            <a:ext cx="40234" cy="40234"/>
          </a:xfrm>
          <a:prstGeom prst="ellipse">
            <a:avLst/>
          </a:prstGeom>
          <a:solidFill>
            <a:srgbClr val="1E1E1E"/>
          </a:solidFill>
          <a:ln w="9525">
            <a:solidFill>
              <a:srgbClr val="1E1E1E"/>
            </a:solidFill>
            <a:prstDash val="solid"/>
          </a:ln>
        </p:spPr>
      </p:sp>
      <p:sp>
        <p:nvSpPr>
          <p:cNvPr id="59" name="Shape 57"/>
          <p:cNvSpPr/>
          <p:nvPr/>
        </p:nvSpPr>
        <p:spPr>
          <a:xfrm>
            <a:off x="5493715" y="2860243"/>
            <a:ext cx="40234" cy="40234"/>
          </a:xfrm>
          <a:prstGeom prst="ellipse">
            <a:avLst/>
          </a:prstGeom>
          <a:solidFill>
            <a:srgbClr val="1E1E1E"/>
          </a:solidFill>
          <a:ln w="9525">
            <a:solidFill>
              <a:srgbClr val="1E1E1E"/>
            </a:solidFill>
            <a:prstDash val="solid"/>
          </a:ln>
        </p:spPr>
      </p:sp>
      <p:sp>
        <p:nvSpPr>
          <p:cNvPr id="60" name="Shape 58"/>
          <p:cNvSpPr/>
          <p:nvPr/>
        </p:nvSpPr>
        <p:spPr>
          <a:xfrm>
            <a:off x="4275734" y="2264054"/>
            <a:ext cx="43891" cy="43891"/>
          </a:xfrm>
          <a:prstGeom prst="ellipse">
            <a:avLst/>
          </a:prstGeom>
          <a:solidFill>
            <a:srgbClr val="1E1E1E"/>
          </a:solidFill>
          <a:ln w="9525">
            <a:solidFill>
              <a:srgbClr val="1E1E1E"/>
            </a:solidFill>
            <a:prstDash val="solid"/>
          </a:ln>
        </p:spPr>
      </p:sp>
      <p:sp>
        <p:nvSpPr>
          <p:cNvPr id="61" name="Shape 59"/>
          <p:cNvSpPr/>
          <p:nvPr/>
        </p:nvSpPr>
        <p:spPr>
          <a:xfrm>
            <a:off x="4412894" y="2401214"/>
            <a:ext cx="43891" cy="43891"/>
          </a:xfrm>
          <a:prstGeom prst="ellipse">
            <a:avLst/>
          </a:prstGeom>
          <a:solidFill>
            <a:srgbClr val="1E1E1E"/>
          </a:solidFill>
          <a:ln w="9525">
            <a:solidFill>
              <a:srgbClr val="1E1E1E"/>
            </a:solidFill>
            <a:prstDash val="solid"/>
          </a:ln>
        </p:spPr>
      </p:sp>
      <p:sp>
        <p:nvSpPr>
          <p:cNvPr id="62" name="Shape 60"/>
          <p:cNvSpPr/>
          <p:nvPr/>
        </p:nvSpPr>
        <p:spPr>
          <a:xfrm>
            <a:off x="4184294" y="2035454"/>
            <a:ext cx="43891" cy="43891"/>
          </a:xfrm>
          <a:prstGeom prst="ellipse">
            <a:avLst/>
          </a:prstGeom>
          <a:solidFill>
            <a:srgbClr val="1E1E1E"/>
          </a:solidFill>
          <a:ln w="9525">
            <a:solidFill>
              <a:srgbClr val="1E1E1E"/>
            </a:solidFill>
            <a:prstDash val="solid"/>
          </a:ln>
        </p:spPr>
      </p:sp>
      <p:sp>
        <p:nvSpPr>
          <p:cNvPr id="63" name="Shape 61"/>
          <p:cNvSpPr/>
          <p:nvPr/>
        </p:nvSpPr>
        <p:spPr>
          <a:xfrm>
            <a:off x="5373014" y="2446934"/>
            <a:ext cx="43891" cy="43891"/>
          </a:xfrm>
          <a:prstGeom prst="ellipse">
            <a:avLst/>
          </a:prstGeom>
          <a:solidFill>
            <a:srgbClr val="1E1E1E"/>
          </a:solidFill>
          <a:ln w="9525">
            <a:solidFill>
              <a:srgbClr val="1E1E1E"/>
            </a:solidFill>
            <a:prstDash val="solid"/>
          </a:ln>
        </p:spPr>
      </p:sp>
      <p:sp>
        <p:nvSpPr>
          <p:cNvPr id="64" name="Shape 62"/>
          <p:cNvSpPr/>
          <p:nvPr/>
        </p:nvSpPr>
        <p:spPr>
          <a:xfrm>
            <a:off x="5601614" y="2309774"/>
            <a:ext cx="43891" cy="43891"/>
          </a:xfrm>
          <a:prstGeom prst="ellipse">
            <a:avLst/>
          </a:prstGeom>
          <a:solidFill>
            <a:srgbClr val="1E1E1E"/>
          </a:solidFill>
          <a:ln w="9525">
            <a:solidFill>
              <a:srgbClr val="1E1E1E"/>
            </a:solidFill>
            <a:prstDash val="solid"/>
          </a:ln>
        </p:spPr>
      </p:sp>
      <p:sp>
        <p:nvSpPr>
          <p:cNvPr id="65" name="Shape 63"/>
          <p:cNvSpPr/>
          <p:nvPr/>
        </p:nvSpPr>
        <p:spPr>
          <a:xfrm>
            <a:off x="4321454" y="1715414"/>
            <a:ext cx="43891" cy="43891"/>
          </a:xfrm>
          <a:prstGeom prst="ellipse">
            <a:avLst/>
          </a:prstGeom>
          <a:solidFill>
            <a:srgbClr val="1E1E1E"/>
          </a:solidFill>
          <a:ln w="9525">
            <a:solidFill>
              <a:srgbClr val="1E1E1E"/>
            </a:solidFill>
            <a:prstDash val="solid"/>
          </a:ln>
        </p:spPr>
      </p:sp>
      <p:sp>
        <p:nvSpPr>
          <p:cNvPr id="66" name="Shape 64"/>
          <p:cNvSpPr/>
          <p:nvPr/>
        </p:nvSpPr>
        <p:spPr>
          <a:xfrm>
            <a:off x="4550054" y="3105302"/>
            <a:ext cx="43891" cy="43891"/>
          </a:xfrm>
          <a:prstGeom prst="ellipse">
            <a:avLst/>
          </a:prstGeom>
          <a:solidFill>
            <a:srgbClr val="1E1E1E"/>
          </a:solidFill>
          <a:ln w="9525">
            <a:solidFill>
              <a:srgbClr val="1E1E1E"/>
            </a:solidFill>
            <a:prstDash val="solid"/>
          </a:ln>
        </p:spPr>
      </p:sp>
      <p:sp>
        <p:nvSpPr>
          <p:cNvPr id="67" name="Shape 65"/>
          <p:cNvSpPr/>
          <p:nvPr/>
        </p:nvSpPr>
        <p:spPr>
          <a:xfrm>
            <a:off x="5098694" y="3105302"/>
            <a:ext cx="43891" cy="43891"/>
          </a:xfrm>
          <a:prstGeom prst="ellipse">
            <a:avLst/>
          </a:prstGeom>
          <a:solidFill>
            <a:srgbClr val="1E1E1E"/>
          </a:solidFill>
          <a:ln w="9525">
            <a:solidFill>
              <a:srgbClr val="1E1E1E"/>
            </a:solidFill>
            <a:prstDash val="solid"/>
          </a:ln>
        </p:spPr>
      </p:sp>
      <p:sp>
        <p:nvSpPr>
          <p:cNvPr id="68" name="Shape 66"/>
          <p:cNvSpPr/>
          <p:nvPr/>
        </p:nvSpPr>
        <p:spPr>
          <a:xfrm>
            <a:off x="5327294" y="3132734"/>
            <a:ext cx="43891" cy="43891"/>
          </a:xfrm>
          <a:prstGeom prst="ellipse">
            <a:avLst/>
          </a:prstGeom>
          <a:solidFill>
            <a:srgbClr val="1E1E1E"/>
          </a:solidFill>
          <a:ln w="9525">
            <a:solidFill>
              <a:srgbClr val="1E1E1E"/>
            </a:solidFill>
            <a:prstDash val="solid"/>
          </a:ln>
        </p:spPr>
      </p:sp>
      <p:sp>
        <p:nvSpPr>
          <p:cNvPr id="69" name="Shape 67"/>
          <p:cNvSpPr/>
          <p:nvPr/>
        </p:nvSpPr>
        <p:spPr>
          <a:xfrm flipV="1">
            <a:off x="5074920" y="1664208"/>
            <a:ext cx="365760" cy="210312"/>
          </a:xfrm>
          <a:prstGeom prst="line">
            <a:avLst/>
          </a:prstGeom>
          <a:noFill/>
          <a:ln w="11430">
            <a:solidFill>
              <a:srgbClr val="4A5262"/>
            </a:solidFill>
            <a:prstDash val="solid"/>
          </a:ln>
        </p:spPr>
      </p:sp>
      <p:sp>
        <p:nvSpPr>
          <p:cNvPr id="70" name="Shape 68"/>
          <p:cNvSpPr/>
          <p:nvPr/>
        </p:nvSpPr>
        <p:spPr>
          <a:xfrm>
            <a:off x="5054803" y="1854403"/>
            <a:ext cx="40234" cy="40234"/>
          </a:xfrm>
          <a:prstGeom prst="ellipse">
            <a:avLst/>
          </a:prstGeom>
          <a:solidFill>
            <a:srgbClr val="4A5262"/>
          </a:solidFill>
          <a:ln w="3175">
            <a:solidFill>
              <a:srgbClr val="4A5262"/>
            </a:solidFill>
            <a:prstDash val="solid"/>
          </a:ln>
        </p:spPr>
      </p:sp>
      <p:sp>
        <p:nvSpPr>
          <p:cNvPr id="71" name="Text 69"/>
          <p:cNvSpPr/>
          <p:nvPr/>
        </p:nvSpPr>
        <p:spPr>
          <a:xfrm>
            <a:off x="4846320" y="1545336"/>
            <a:ext cx="548640" cy="237744"/>
          </a:xfrm>
          <a:prstGeom prst="rect">
            <a:avLst/>
          </a:prstGeom>
          <a:noFill/>
          <a:ln/>
        </p:spPr>
        <p:txBody>
          <a:bodyPr wrap="square" lIns="0" tIns="0" rIns="0" bIns="0" rtlCol="0" anchor="ctr"/>
          <a:lstStyle/>
          <a:p>
            <a:pPr algn="r" indent="0" marL="0">
              <a:buNone/>
            </a:pPr>
            <a:r>
              <a:rPr lang="en-US" sz="1000" b="1" dirty="0">
                <a:solidFill>
                  <a:srgbClr val="111111"/>
                </a:solidFill>
                <a:latin typeface="Calibri" pitchFamily="34" charset="0"/>
                <a:ea typeface="Calibri" pitchFamily="34" charset="-122"/>
                <a:cs typeface="Calibri" pitchFamily="34" charset="-120"/>
              </a:rPr>
              <a:t>cristae</a:t>
            </a:r>
            <a:endParaRPr lang="en-US" sz="1000" dirty="0"/>
          </a:p>
        </p:txBody>
      </p:sp>
      <p:sp>
        <p:nvSpPr>
          <p:cNvPr id="72" name="Text 70"/>
          <p:cNvSpPr/>
          <p:nvPr/>
        </p:nvSpPr>
        <p:spPr>
          <a:xfrm>
            <a:off x="3246120" y="3310128"/>
            <a:ext cx="260604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inner membrane folds, </a:t>
            </a:r>
            <a:r>
              <a:rPr lang="en-US" sz="1000" b="1" dirty="0">
                <a:solidFill>
                  <a:srgbClr val="262B3A"/>
                </a:solidFill>
                <a:latin typeface="Calibri" pitchFamily="34" charset="0"/>
                <a:ea typeface="Calibri" pitchFamily="34" charset="-122"/>
                <a:cs typeface="Calibri" pitchFamily="34" charset="-120"/>
              </a:rPr>
              <a:t>ribosomes</a:t>
            </a:r>
            <a:r>
              <a:rPr lang="en-US" sz="1000" dirty="0">
                <a:solidFill>
                  <a:srgbClr val="262B3A"/>
                </a:solidFill>
                <a:latin typeface="Calibri" pitchFamily="34" charset="0"/>
                <a:ea typeface="Calibri" pitchFamily="34" charset="-122"/>
                <a:cs typeface="Calibri" pitchFamily="34" charset="-120"/>
              </a:rPr>
              <a:t>, nuclear membrane</a:t>
            </a:r>
            <a:endParaRPr lang="en-US" sz="1000" dirty="0"/>
          </a:p>
        </p:txBody>
      </p:sp>
      <p:sp>
        <p:nvSpPr>
          <p:cNvPr id="73" name="Shape 71"/>
          <p:cNvSpPr/>
          <p:nvPr/>
        </p:nvSpPr>
        <p:spPr>
          <a:xfrm>
            <a:off x="914400" y="4343400"/>
            <a:ext cx="4572000" cy="91"/>
          </a:xfrm>
          <a:prstGeom prst="line">
            <a:avLst/>
          </a:prstGeom>
          <a:noFill/>
          <a:ln w="25400">
            <a:solidFill>
              <a:srgbClr val="133536"/>
            </a:solidFill>
            <a:prstDash val="solid"/>
          </a:ln>
        </p:spPr>
      </p:sp>
      <p:sp>
        <p:nvSpPr>
          <p:cNvPr id="74" name="Shape 72"/>
          <p:cNvSpPr/>
          <p:nvPr/>
        </p:nvSpPr>
        <p:spPr>
          <a:xfrm>
            <a:off x="941832" y="4279392"/>
            <a:ext cx="128016" cy="128016"/>
          </a:xfrm>
          <a:prstGeom prst="ellipse">
            <a:avLst/>
          </a:prstGeom>
          <a:solidFill>
            <a:srgbClr val="0D7877"/>
          </a:solidFill>
          <a:ln w="9525">
            <a:solidFill>
              <a:srgbClr val="133536"/>
            </a:solidFill>
            <a:prstDash val="solid"/>
          </a:ln>
        </p:spPr>
      </p:sp>
      <p:sp>
        <p:nvSpPr>
          <p:cNvPr id="75" name="Text 73"/>
          <p:cNvSpPr/>
          <p:nvPr/>
        </p:nvSpPr>
        <p:spPr>
          <a:xfrm>
            <a:off x="502920" y="4041648"/>
            <a:ext cx="1005840" cy="219456"/>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1665</a:t>
            </a:r>
            <a:endParaRPr lang="en-US" sz="1050" dirty="0"/>
          </a:p>
        </p:txBody>
      </p:sp>
      <p:sp>
        <p:nvSpPr>
          <p:cNvPr id="76" name="Text 74"/>
          <p:cNvSpPr/>
          <p:nvPr/>
        </p:nvSpPr>
        <p:spPr>
          <a:xfrm>
            <a:off x="457200" y="4434840"/>
            <a:ext cx="1097280" cy="62179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Hooke: "cells" seen in cork</a:t>
            </a:r>
            <a:endParaRPr lang="en-US" sz="1000" dirty="0"/>
          </a:p>
        </p:txBody>
      </p:sp>
      <p:sp>
        <p:nvSpPr>
          <p:cNvPr id="77" name="Shape 75"/>
          <p:cNvSpPr/>
          <p:nvPr/>
        </p:nvSpPr>
        <p:spPr>
          <a:xfrm>
            <a:off x="2039112" y="4279392"/>
            <a:ext cx="128016" cy="128016"/>
          </a:xfrm>
          <a:prstGeom prst="ellipse">
            <a:avLst/>
          </a:prstGeom>
          <a:solidFill>
            <a:srgbClr val="0D7877"/>
          </a:solidFill>
          <a:ln w="9525">
            <a:solidFill>
              <a:srgbClr val="133536"/>
            </a:solidFill>
            <a:prstDash val="solid"/>
          </a:ln>
        </p:spPr>
      </p:sp>
      <p:sp>
        <p:nvSpPr>
          <p:cNvPr id="78" name="Text 76"/>
          <p:cNvSpPr/>
          <p:nvPr/>
        </p:nvSpPr>
        <p:spPr>
          <a:xfrm>
            <a:off x="1600200" y="4041648"/>
            <a:ext cx="1005840" cy="219456"/>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1831</a:t>
            </a:r>
            <a:endParaRPr lang="en-US" sz="1050" dirty="0"/>
          </a:p>
        </p:txBody>
      </p:sp>
      <p:sp>
        <p:nvSpPr>
          <p:cNvPr id="79" name="Text 77"/>
          <p:cNvSpPr/>
          <p:nvPr/>
        </p:nvSpPr>
        <p:spPr>
          <a:xfrm>
            <a:off x="1554480" y="4434840"/>
            <a:ext cx="1097280" cy="62179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Brown: the nucleus</a:t>
            </a:r>
            <a:endParaRPr lang="en-US" sz="1000" dirty="0"/>
          </a:p>
        </p:txBody>
      </p:sp>
      <p:sp>
        <p:nvSpPr>
          <p:cNvPr id="80" name="Shape 78"/>
          <p:cNvSpPr/>
          <p:nvPr/>
        </p:nvSpPr>
        <p:spPr>
          <a:xfrm>
            <a:off x="3136392" y="4279392"/>
            <a:ext cx="128016" cy="128016"/>
          </a:xfrm>
          <a:prstGeom prst="ellipse">
            <a:avLst/>
          </a:prstGeom>
          <a:solidFill>
            <a:srgbClr val="0D7877"/>
          </a:solidFill>
          <a:ln w="9525">
            <a:solidFill>
              <a:srgbClr val="133536"/>
            </a:solidFill>
            <a:prstDash val="solid"/>
          </a:ln>
        </p:spPr>
      </p:sp>
      <p:sp>
        <p:nvSpPr>
          <p:cNvPr id="81" name="Text 79"/>
          <p:cNvSpPr/>
          <p:nvPr/>
        </p:nvSpPr>
        <p:spPr>
          <a:xfrm>
            <a:off x="2697480" y="4041648"/>
            <a:ext cx="1005840" cy="219456"/>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1898</a:t>
            </a:r>
            <a:endParaRPr lang="en-US" sz="1050" dirty="0"/>
          </a:p>
        </p:txBody>
      </p:sp>
      <p:sp>
        <p:nvSpPr>
          <p:cNvPr id="82" name="Text 80"/>
          <p:cNvSpPr/>
          <p:nvPr/>
        </p:nvSpPr>
        <p:spPr>
          <a:xfrm>
            <a:off x="2651760" y="4434840"/>
            <a:ext cx="1097280" cy="62179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Benda names "mitochondria"</a:t>
            </a:r>
            <a:endParaRPr lang="en-US" sz="1000" dirty="0"/>
          </a:p>
        </p:txBody>
      </p:sp>
      <p:sp>
        <p:nvSpPr>
          <p:cNvPr id="83" name="Shape 81"/>
          <p:cNvSpPr/>
          <p:nvPr/>
        </p:nvSpPr>
        <p:spPr>
          <a:xfrm>
            <a:off x="4233672" y="4279392"/>
            <a:ext cx="128016" cy="128016"/>
          </a:xfrm>
          <a:prstGeom prst="ellipse">
            <a:avLst/>
          </a:prstGeom>
          <a:solidFill>
            <a:srgbClr val="B8730A"/>
          </a:solidFill>
          <a:ln w="9525">
            <a:solidFill>
              <a:srgbClr val="133536"/>
            </a:solidFill>
            <a:prstDash val="solid"/>
          </a:ln>
        </p:spPr>
      </p:sp>
      <p:sp>
        <p:nvSpPr>
          <p:cNvPr id="84" name="Text 82"/>
          <p:cNvSpPr/>
          <p:nvPr/>
        </p:nvSpPr>
        <p:spPr>
          <a:xfrm>
            <a:off x="3794760" y="4041648"/>
            <a:ext cx="1005840" cy="219456"/>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1931</a:t>
            </a:r>
            <a:endParaRPr lang="en-US" sz="1050" dirty="0"/>
          </a:p>
        </p:txBody>
      </p:sp>
      <p:sp>
        <p:nvSpPr>
          <p:cNvPr id="85" name="Text 83"/>
          <p:cNvSpPr/>
          <p:nvPr/>
        </p:nvSpPr>
        <p:spPr>
          <a:xfrm>
            <a:off x="3749040" y="4434840"/>
            <a:ext cx="1097280" cy="62179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Ruska &amp; Knoll: first electron microscope</a:t>
            </a:r>
            <a:endParaRPr lang="en-US" sz="1000" dirty="0"/>
          </a:p>
        </p:txBody>
      </p:sp>
      <p:sp>
        <p:nvSpPr>
          <p:cNvPr id="86" name="Shape 84"/>
          <p:cNvSpPr/>
          <p:nvPr/>
        </p:nvSpPr>
        <p:spPr>
          <a:xfrm>
            <a:off x="5330952" y="4279392"/>
            <a:ext cx="128016" cy="128016"/>
          </a:xfrm>
          <a:prstGeom prst="ellipse">
            <a:avLst/>
          </a:prstGeom>
          <a:solidFill>
            <a:srgbClr val="B8730A"/>
          </a:solidFill>
          <a:ln w="9525">
            <a:solidFill>
              <a:srgbClr val="133536"/>
            </a:solidFill>
            <a:prstDash val="solid"/>
          </a:ln>
        </p:spPr>
      </p:sp>
      <p:sp>
        <p:nvSpPr>
          <p:cNvPr id="87" name="Text 85"/>
          <p:cNvSpPr/>
          <p:nvPr/>
        </p:nvSpPr>
        <p:spPr>
          <a:xfrm>
            <a:off x="4892040" y="4041648"/>
            <a:ext cx="1005840" cy="219456"/>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1953</a:t>
            </a:r>
            <a:endParaRPr lang="en-US" sz="1050" dirty="0"/>
          </a:p>
        </p:txBody>
      </p:sp>
      <p:sp>
        <p:nvSpPr>
          <p:cNvPr id="88" name="Text 86"/>
          <p:cNvSpPr/>
          <p:nvPr/>
        </p:nvSpPr>
        <p:spPr>
          <a:xfrm>
            <a:off x="4846320" y="4434840"/>
            <a:ext cx="1097280" cy="62179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Palade: cristae; ribosomes (1955)</a:t>
            </a:r>
            <a:endParaRPr lang="en-US" sz="1000" dirty="0"/>
          </a:p>
        </p:txBody>
      </p:sp>
      <p:sp>
        <p:nvSpPr>
          <p:cNvPr id="89" name="Shape 87"/>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90" name="Text 8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Electron microscopy: new evidence</a:t>
            </a:r>
            <a:endParaRPr lang="en-US" sz="1300" dirty="0"/>
          </a:p>
        </p:txBody>
      </p:sp>
      <p:sp>
        <p:nvSpPr>
          <p:cNvPr id="91" name="Text 8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Light microscopes showed </a:t>
            </a:r>
            <a:r>
              <a:rPr lang="en-US" sz="1100" b="1" dirty="0">
                <a:solidFill>
                  <a:srgbClr val="262B3A"/>
                </a:solidFill>
                <a:latin typeface="Calibri" pitchFamily="34" charset="0"/>
                <a:ea typeface="Calibri" pitchFamily="34" charset="-122"/>
                <a:cs typeface="Calibri" pitchFamily="34" charset="-120"/>
              </a:rPr>
              <a:t>cells</a:t>
            </a:r>
            <a:r>
              <a:rPr lang="en-US" sz="1100" dirty="0">
                <a:solidFill>
                  <a:srgbClr val="262B3A"/>
                </a:solidFill>
                <a:latin typeface="Calibri" pitchFamily="34" charset="0"/>
                <a:ea typeface="Calibri" pitchFamily="34" charset="-122"/>
                <a:cs typeface="Calibri" pitchFamily="34" charset="-120"/>
              </a:rPr>
              <a:t>, the </a:t>
            </a:r>
            <a:r>
              <a:rPr lang="en-US" sz="1100" b="1" dirty="0">
                <a:solidFill>
                  <a:srgbClr val="262B3A"/>
                </a:solidFill>
                <a:latin typeface="Calibri" pitchFamily="34" charset="0"/>
                <a:ea typeface="Calibri" pitchFamily="34" charset="-122"/>
                <a:cs typeface="Calibri" pitchFamily="34" charset="-120"/>
              </a:rPr>
              <a:t>nucleus</a:t>
            </a:r>
            <a:r>
              <a:rPr lang="en-US" sz="1100" dirty="0">
                <a:solidFill>
                  <a:srgbClr val="262B3A"/>
                </a:solidFill>
                <a:latin typeface="Calibri" pitchFamily="34" charset="0"/>
                <a:ea typeface="Calibri" pitchFamily="34" charset="-122"/>
                <a:cs typeface="Calibri" pitchFamily="34" charset="-120"/>
              </a:rPr>
              <a:t> and tiny granules (mitochondria), but no detail inside them.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From the 1930s, </a:t>
            </a:r>
            <a:r>
              <a:rPr lang="en-US" sz="1100" b="1" dirty="0">
                <a:solidFill>
                  <a:srgbClr val="262B3A"/>
                </a:solidFill>
                <a:latin typeface="Calibri" pitchFamily="34" charset="0"/>
                <a:ea typeface="Calibri" pitchFamily="34" charset="-122"/>
                <a:cs typeface="Calibri" pitchFamily="34" charset="-120"/>
              </a:rPr>
              <a:t>electron microscopes</a:t>
            </a:r>
            <a:r>
              <a:rPr lang="en-US" sz="1100" dirty="0">
                <a:solidFill>
                  <a:srgbClr val="262B3A"/>
                </a:solidFill>
                <a:latin typeface="Calibri" pitchFamily="34" charset="0"/>
                <a:ea typeface="Calibri" pitchFamily="34" charset="-122"/>
                <a:cs typeface="Calibri" pitchFamily="34" charset="-120"/>
              </a:rPr>
              <a:t> gave much higher </a:t>
            </a:r>
            <a:r>
              <a:rPr lang="en-US" sz="1100" b="1" dirty="0">
                <a:solidFill>
                  <a:srgbClr val="262B3A"/>
                </a:solidFill>
                <a:latin typeface="Calibri" pitchFamily="34" charset="0"/>
                <a:ea typeface="Calibri" pitchFamily="34" charset="-122"/>
                <a:cs typeface="Calibri" pitchFamily="34" charset="-120"/>
              </a:rPr>
              <a:t>resolution</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Scientists saw the </a:t>
            </a:r>
            <a:r>
              <a:rPr lang="en-US" sz="1100" b="1" dirty="0">
                <a:solidFill>
                  <a:srgbClr val="262B3A"/>
                </a:solidFill>
                <a:latin typeface="Calibri" pitchFamily="34" charset="0"/>
                <a:ea typeface="Calibri" pitchFamily="34" charset="-122"/>
                <a:cs typeface="Calibri" pitchFamily="34" charset="-120"/>
              </a:rPr>
              <a:t>double membrane</a:t>
            </a:r>
            <a:r>
              <a:rPr lang="en-US" sz="1100" dirty="0">
                <a:solidFill>
                  <a:srgbClr val="262B3A"/>
                </a:solidFill>
                <a:latin typeface="Calibri" pitchFamily="34" charset="0"/>
                <a:ea typeface="Calibri" pitchFamily="34" charset="-122"/>
                <a:cs typeface="Calibri" pitchFamily="34" charset="-120"/>
              </a:rPr>
              <a:t> and folded inner membrane of mitochondria, and discovered </a:t>
            </a:r>
            <a:r>
              <a:rPr lang="en-US" sz="1100" b="1" dirty="0">
                <a:solidFill>
                  <a:srgbClr val="262B3A"/>
                </a:solidFill>
                <a:latin typeface="Calibri" pitchFamily="34" charset="0"/>
                <a:ea typeface="Calibri" pitchFamily="34" charset="-122"/>
                <a:cs typeface="Calibri" pitchFamily="34" charset="-120"/>
              </a:rPr>
              <a:t>ribosomes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This explained </a:t>
            </a:r>
            <a:r>
              <a:rPr lang="en-US" sz="1100" b="1" dirty="0">
                <a:solidFill>
                  <a:srgbClr val="262B3A"/>
                </a:solidFill>
                <a:latin typeface="Calibri" pitchFamily="34" charset="0"/>
                <a:ea typeface="Calibri" pitchFamily="34" charset="-122"/>
                <a:cs typeface="Calibri" pitchFamily="34" charset="-120"/>
              </a:rPr>
              <a:t>how</a:t>
            </a:r>
            <a:r>
              <a:rPr lang="en-US" sz="1100" dirty="0">
                <a:solidFill>
                  <a:srgbClr val="262B3A"/>
                </a:solidFill>
                <a:latin typeface="Calibri" pitchFamily="34" charset="0"/>
                <a:ea typeface="Calibri" pitchFamily="34" charset="-122"/>
                <a:cs typeface="Calibri" pitchFamily="34" charset="-120"/>
              </a:rPr>
              <a:t> mitochondria work: a large membrane surface holds the respiration enzymes (B4.1).</a:t>
            </a:r>
            <a:endParaRPr lang="en-US" sz="1100" dirty="0"/>
          </a:p>
        </p:txBody>
      </p:sp>
      <p:sp>
        <p:nvSpPr>
          <p:cNvPr id="92" name="Shape 9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93" name="Text 9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Ideas about Science</a:t>
            </a:r>
            <a:endParaRPr lang="en-US" sz="1300" dirty="0"/>
          </a:p>
        </p:txBody>
      </p:sp>
      <p:sp>
        <p:nvSpPr>
          <p:cNvPr id="94" name="Text 9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were ribosomes not discovered until the 1950s?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Size   </a:t>
            </a:r>
            <a:r>
              <a:rPr lang="en-US" sz="1050" dirty="0">
                <a:solidFill>
                  <a:srgbClr val="262B3A"/>
                </a:solidFill>
                <a:latin typeface="Calibri" pitchFamily="34" charset="0"/>
                <a:ea typeface="Calibri" pitchFamily="34" charset="-122"/>
                <a:cs typeface="Calibri" pitchFamily="34" charset="-120"/>
              </a:rPr>
              <a:t>ribosomes are about 25 nm across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Limit   </a:t>
            </a:r>
            <a:r>
              <a:rPr lang="en-US" sz="1050" dirty="0">
                <a:solidFill>
                  <a:srgbClr val="262B3A"/>
                </a:solidFill>
                <a:latin typeface="Calibri" pitchFamily="34" charset="0"/>
                <a:ea typeface="Calibri" pitchFamily="34" charset="-122"/>
                <a:cs typeface="Calibri" pitchFamily="34" charset="-120"/>
              </a:rPr>
              <a:t>light microscope resolution is about 200 nm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Technology   </a:t>
            </a:r>
            <a:r>
              <a:rPr lang="en-US" sz="1050" dirty="0">
                <a:solidFill>
                  <a:srgbClr val="262B3A"/>
                </a:solidFill>
                <a:latin typeface="Calibri" pitchFamily="34" charset="0"/>
                <a:ea typeface="Calibri" pitchFamily="34" charset="-122"/>
                <a:cs typeface="Calibri" pitchFamily="34" charset="-120"/>
              </a:rPr>
              <a:t>electron microscopes resolve about 0.2 nm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they could only be seen once the technology existed</a:t>
            </a:r>
            <a:endParaRPr lang="en-US" sz="1050" dirty="0"/>
          </a:p>
        </p:txBody>
      </p:sp>
      <p:sp>
        <p:nvSpPr>
          <p:cNvPr id="95" name="Shape 93"/>
          <p:cNvSpPr/>
          <p:nvPr/>
        </p:nvSpPr>
        <p:spPr>
          <a:xfrm>
            <a:off x="411480" y="5833872"/>
            <a:ext cx="11368735" cy="530352"/>
          </a:xfrm>
          <a:prstGeom prst="rect">
            <a:avLst/>
          </a:prstGeom>
          <a:solidFill>
            <a:srgbClr val="FFF4E0"/>
          </a:solidFill>
          <a:ln w="6350">
            <a:solidFill>
              <a:srgbClr val="F1D9A8"/>
            </a:solidFill>
            <a:prstDash val="solid"/>
          </a:ln>
        </p:spPr>
      </p:sp>
      <p:sp>
        <p:nvSpPr>
          <p:cNvPr id="96" name="Shape 94"/>
          <p:cNvSpPr/>
          <p:nvPr/>
        </p:nvSpPr>
        <p:spPr>
          <a:xfrm>
            <a:off x="411480" y="5833872"/>
            <a:ext cx="82296" cy="530352"/>
          </a:xfrm>
          <a:prstGeom prst="rect">
            <a:avLst/>
          </a:prstGeom>
          <a:solidFill>
            <a:srgbClr val="E39A2F"/>
          </a:solidFill>
          <a:ln w="12700">
            <a:solidFill>
              <a:srgbClr val="E39A2F"/>
            </a:solidFill>
            <a:prstDash val="solid"/>
          </a:ln>
        </p:spPr>
      </p:sp>
      <p:sp>
        <p:nvSpPr>
          <p:cNvPr id="97" name="Text 9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Suggest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why scientists at first worried that electron micrographs might show structures that are not really in living cells.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B4.2.1 • microscopes and what they reveal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focusing knob should be used with the </a:t>
            </a:r>
            <a:r>
              <a:rPr lang="en-US" sz="1250" b="1" dirty="0">
                <a:solidFill>
                  <a:srgbClr val="262B3A"/>
                </a:solidFill>
                <a:latin typeface="Calibri" pitchFamily="34" charset="0"/>
                <a:ea typeface="Calibri" pitchFamily="34" charset="-122"/>
                <a:cs typeface="Calibri" pitchFamily="34" charset="-120"/>
              </a:rPr>
              <a:t>×40</a:t>
            </a:r>
            <a:r>
              <a:rPr lang="en-US" sz="1250" dirty="0">
                <a:solidFill>
                  <a:srgbClr val="262B3A"/>
                </a:solidFill>
                <a:latin typeface="Calibri" pitchFamily="34" charset="0"/>
                <a:ea typeface="Calibri" pitchFamily="34" charset="-122"/>
                <a:cs typeface="Calibri" pitchFamily="34" charset="-120"/>
              </a:rPr>
              <a:t> objective lens?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t>
            </a:r>
            <a:r>
              <a:rPr lang="en-US" sz="1250" b="1" dirty="0">
                <a:solidFill>
                  <a:srgbClr val="262B3A"/>
                </a:solidFill>
                <a:latin typeface="Calibri" pitchFamily="34" charset="0"/>
                <a:ea typeface="Calibri" pitchFamily="34" charset="-122"/>
                <a:cs typeface="Calibri" pitchFamily="34" charset="-120"/>
              </a:rPr>
              <a:t>magnification</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resolution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advantages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disadvantage of an electron microscope compared with a light microscope.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cell structure that was only discovered after the electron microscope was invented.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Calculating magnification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Maths skills • magnification = image size ÷ real size • both sizes in the SAME unit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Maths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image of a 2 µm mitochondrion drawn 40 mm long</a:t>
            </a:r>
            <a:endParaRPr lang="en-US" sz="1000" dirty="0"/>
          </a:p>
        </p:txBody>
      </p:sp>
      <p:sp>
        <p:nvSpPr>
          <p:cNvPr id="10" name="Shape 8"/>
          <p:cNvSpPr/>
          <p:nvPr/>
        </p:nvSpPr>
        <p:spPr>
          <a:xfrm>
            <a:off x="777240" y="1371600"/>
            <a:ext cx="2377440" cy="2011680"/>
          </a:xfrm>
          <a:prstGeom prst="triangle">
            <a:avLst/>
          </a:prstGeom>
          <a:solidFill>
            <a:srgbClr val="FFFFFF"/>
          </a:solidFill>
          <a:ln w="25400">
            <a:solidFill>
              <a:srgbClr val="0D7877"/>
            </a:solidFill>
            <a:prstDash val="solid"/>
          </a:ln>
        </p:spPr>
      </p:sp>
      <p:sp>
        <p:nvSpPr>
          <p:cNvPr id="11" name="Shape 9"/>
          <p:cNvSpPr/>
          <p:nvPr/>
        </p:nvSpPr>
        <p:spPr>
          <a:xfrm>
            <a:off x="1252728" y="2478024"/>
            <a:ext cx="1426464" cy="91"/>
          </a:xfrm>
          <a:prstGeom prst="line">
            <a:avLst/>
          </a:prstGeom>
          <a:noFill/>
          <a:ln w="19050">
            <a:solidFill>
              <a:srgbClr val="0D7877"/>
            </a:solidFill>
            <a:prstDash val="solid"/>
          </a:ln>
        </p:spPr>
      </p:sp>
      <p:sp>
        <p:nvSpPr>
          <p:cNvPr id="12" name="Shape 10"/>
          <p:cNvSpPr/>
          <p:nvPr/>
        </p:nvSpPr>
        <p:spPr>
          <a:xfrm>
            <a:off x="1965960" y="2478024"/>
            <a:ext cx="91" cy="905256"/>
          </a:xfrm>
          <a:prstGeom prst="line">
            <a:avLst/>
          </a:prstGeom>
          <a:noFill/>
          <a:ln w="19050">
            <a:solidFill>
              <a:srgbClr val="0D7877"/>
            </a:solidFill>
            <a:prstDash val="solid"/>
          </a:ln>
        </p:spPr>
      </p:sp>
      <p:sp>
        <p:nvSpPr>
          <p:cNvPr id="13" name="Text 11"/>
          <p:cNvSpPr/>
          <p:nvPr/>
        </p:nvSpPr>
        <p:spPr>
          <a:xfrm>
            <a:off x="1371600" y="1934870"/>
            <a:ext cx="1188720" cy="457200"/>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image</a:t>
            </a:r>
            <a:endParaRPr lang="en-US" sz="1100" dirty="0"/>
          </a:p>
          <a:p>
            <a:pPr algn="ctr" indent="0" marL="0">
              <a:buNone/>
            </a:pPr>
            <a:r>
              <a:rPr lang="en-US" sz="1100" dirty="0">
                <a:solidFill>
                  <a:srgbClr val="133536"/>
                </a:solidFill>
                <a:latin typeface="Calibri" pitchFamily="34" charset="0"/>
                <a:ea typeface="Calibri" pitchFamily="34" charset="-122"/>
                <a:cs typeface="Calibri" pitchFamily="34" charset="-120"/>
              </a:rPr>
              <a:t>size</a:t>
            </a:r>
            <a:endParaRPr lang="en-US" sz="1100" dirty="0"/>
          </a:p>
        </p:txBody>
      </p:sp>
      <p:sp>
        <p:nvSpPr>
          <p:cNvPr id="14" name="Text 12"/>
          <p:cNvSpPr/>
          <p:nvPr/>
        </p:nvSpPr>
        <p:spPr>
          <a:xfrm>
            <a:off x="967435" y="2699309"/>
            <a:ext cx="998525" cy="457200"/>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magni-</a:t>
            </a:r>
            <a:endParaRPr lang="en-US" sz="1050" dirty="0"/>
          </a:p>
          <a:p>
            <a:pPr algn="ctr" indent="0" marL="0">
              <a:buNone/>
            </a:pPr>
            <a:r>
              <a:rPr lang="en-US" sz="1050" b="1" dirty="0">
                <a:solidFill>
                  <a:srgbClr val="133536"/>
                </a:solidFill>
                <a:latin typeface="Calibri" pitchFamily="34" charset="0"/>
                <a:ea typeface="Calibri" pitchFamily="34" charset="-122"/>
                <a:cs typeface="Calibri" pitchFamily="34" charset="-120"/>
              </a:rPr>
              <a:t>fication</a:t>
            </a:r>
            <a:endParaRPr lang="en-US" sz="1050" dirty="0"/>
          </a:p>
        </p:txBody>
      </p:sp>
      <p:sp>
        <p:nvSpPr>
          <p:cNvPr id="15" name="Text 13"/>
          <p:cNvSpPr/>
          <p:nvPr/>
        </p:nvSpPr>
        <p:spPr>
          <a:xfrm>
            <a:off x="1965960" y="2699309"/>
            <a:ext cx="998525" cy="457200"/>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real</a:t>
            </a:r>
            <a:endParaRPr lang="en-US" sz="1100" dirty="0"/>
          </a:p>
          <a:p>
            <a:pPr algn="ctr" indent="0" marL="0">
              <a:buNone/>
            </a:pPr>
            <a:r>
              <a:rPr lang="en-US" sz="1100" dirty="0">
                <a:solidFill>
                  <a:srgbClr val="133536"/>
                </a:solidFill>
                <a:latin typeface="Calibri" pitchFamily="34" charset="0"/>
                <a:ea typeface="Calibri" pitchFamily="34" charset="-122"/>
                <a:cs typeface="Calibri" pitchFamily="34" charset="-120"/>
              </a:rPr>
              <a:t>size</a:t>
            </a:r>
            <a:endParaRPr lang="en-US" sz="1100" dirty="0"/>
          </a:p>
        </p:txBody>
      </p:sp>
      <p:sp>
        <p:nvSpPr>
          <p:cNvPr id="16" name="Text 14"/>
          <p:cNvSpPr/>
          <p:nvPr/>
        </p:nvSpPr>
        <p:spPr>
          <a:xfrm>
            <a:off x="3337560" y="1600200"/>
            <a:ext cx="2468880" cy="1280160"/>
          </a:xfrm>
          <a:prstGeom prst="rect">
            <a:avLst/>
          </a:prstGeom>
          <a:noFill/>
          <a:ln/>
        </p:spPr>
        <p:txBody>
          <a:bodyPr wrap="square" lIns="0" tIns="0" rIns="0" bIns="0" rtlCol="0" anchor="ctr"/>
          <a:lstStyle/>
          <a:p>
            <a:pPr indent="0" marL="0">
              <a:buNone/>
            </a:pPr>
            <a:r>
              <a:rPr lang="en-US" sz="1100" b="1" dirty="0">
                <a:solidFill>
                  <a:srgbClr val="262B3A"/>
                </a:solidFill>
                <a:latin typeface="Calibri" pitchFamily="34" charset="0"/>
                <a:ea typeface="Calibri" pitchFamily="34" charset="-122"/>
                <a:cs typeface="Calibri" pitchFamily="34" charset="-120"/>
              </a:rPr>
              <a:t>magnification = image size ÷ real size</a:t>
            </a:r>
            <a:endParaRPr lang="en-US" sz="1100" dirty="0"/>
          </a:p>
          <a:p>
            <a:pPr indent="0" marL="0">
              <a:buNone/>
            </a:pPr>
            <a:r>
              <a:rPr lang="en-US" sz="1100" dirty="0">
                <a:solidFill>
                  <a:srgbClr val="262B3A"/>
                </a:solidFill>
                <a:latin typeface="Calibri" pitchFamily="34" charset="0"/>
                <a:ea typeface="Calibri" pitchFamily="34" charset="-122"/>
                <a:cs typeface="Calibri" pitchFamily="34" charset="-120"/>
              </a:rPr>
              <a:t>real size = image size ÷ magnification</a:t>
            </a:r>
            <a:endParaRPr lang="en-US" sz="1100" dirty="0"/>
          </a:p>
          <a:p>
            <a:pPr indent="0" marL="0">
              <a:buNone/>
            </a:pPr>
            <a:r>
              <a:rPr lang="en-US" sz="1100" dirty="0">
                <a:solidFill>
                  <a:srgbClr val="262B3A"/>
                </a:solidFill>
                <a:latin typeface="Calibri" pitchFamily="34" charset="0"/>
                <a:ea typeface="Calibri" pitchFamily="34" charset="-122"/>
                <a:cs typeface="Calibri" pitchFamily="34" charset="-120"/>
              </a:rPr>
              <a:t>image size = magnification × real size</a:t>
            </a:r>
            <a:endParaRPr lang="en-US" sz="1100" dirty="0"/>
          </a:p>
        </p:txBody>
      </p:sp>
      <p:sp>
        <p:nvSpPr>
          <p:cNvPr id="17" name="Text 15"/>
          <p:cNvSpPr/>
          <p:nvPr/>
        </p:nvSpPr>
        <p:spPr>
          <a:xfrm>
            <a:off x="640080" y="3611880"/>
            <a:ext cx="51206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real mitochondrion: 2 µm  →  image: 40 mm = 40 000 µm</a:t>
            </a:r>
            <a:endParaRPr lang="en-US" sz="1100" dirty="0"/>
          </a:p>
        </p:txBody>
      </p:sp>
      <p:sp>
        <p:nvSpPr>
          <p:cNvPr id="18" name="Shape 16"/>
          <p:cNvSpPr/>
          <p:nvPr/>
        </p:nvSpPr>
        <p:spPr>
          <a:xfrm>
            <a:off x="886968" y="4421124"/>
            <a:ext cx="54864" cy="27432"/>
          </a:xfrm>
          <a:prstGeom prst="ellipse">
            <a:avLst/>
          </a:prstGeom>
          <a:solidFill>
            <a:srgbClr val="F2B279"/>
          </a:solidFill>
          <a:ln w="15875">
            <a:solidFill>
              <a:srgbClr val="A4561C"/>
            </a:solidFill>
            <a:prstDash val="solid"/>
          </a:ln>
        </p:spPr>
      </p:sp>
      <p:sp>
        <p:nvSpPr>
          <p:cNvPr id="19" name="Shape 17"/>
          <p:cNvSpPr/>
          <p:nvPr/>
        </p:nvSpPr>
        <p:spPr>
          <a:xfrm>
            <a:off x="895746" y="4428805"/>
            <a:ext cx="6218" cy="12070"/>
          </a:xfrm>
          <a:prstGeom prst="line">
            <a:avLst/>
          </a:prstGeom>
          <a:noFill/>
          <a:ln w="9525">
            <a:solidFill>
              <a:srgbClr val="A4561C"/>
            </a:solidFill>
            <a:prstDash val="solid"/>
          </a:ln>
        </p:spPr>
      </p:sp>
      <p:sp>
        <p:nvSpPr>
          <p:cNvPr id="20" name="Shape 18"/>
          <p:cNvSpPr/>
          <p:nvPr/>
        </p:nvSpPr>
        <p:spPr>
          <a:xfrm flipV="1">
            <a:off x="901964" y="4428805"/>
            <a:ext cx="6218" cy="12070"/>
          </a:xfrm>
          <a:prstGeom prst="line">
            <a:avLst/>
          </a:prstGeom>
          <a:noFill/>
          <a:ln w="9525">
            <a:solidFill>
              <a:srgbClr val="A4561C"/>
            </a:solidFill>
            <a:prstDash val="solid"/>
          </a:ln>
        </p:spPr>
      </p:sp>
      <p:sp>
        <p:nvSpPr>
          <p:cNvPr id="21" name="Shape 19"/>
          <p:cNvSpPr/>
          <p:nvPr/>
        </p:nvSpPr>
        <p:spPr>
          <a:xfrm>
            <a:off x="908182" y="4428805"/>
            <a:ext cx="6218" cy="12070"/>
          </a:xfrm>
          <a:prstGeom prst="line">
            <a:avLst/>
          </a:prstGeom>
          <a:noFill/>
          <a:ln w="9525">
            <a:solidFill>
              <a:srgbClr val="A4561C"/>
            </a:solidFill>
            <a:prstDash val="solid"/>
          </a:ln>
        </p:spPr>
      </p:sp>
      <p:sp>
        <p:nvSpPr>
          <p:cNvPr id="22" name="Shape 20"/>
          <p:cNvSpPr/>
          <p:nvPr/>
        </p:nvSpPr>
        <p:spPr>
          <a:xfrm flipV="1">
            <a:off x="914400" y="4428805"/>
            <a:ext cx="6218" cy="12070"/>
          </a:xfrm>
          <a:prstGeom prst="line">
            <a:avLst/>
          </a:prstGeom>
          <a:noFill/>
          <a:ln w="9525">
            <a:solidFill>
              <a:srgbClr val="A4561C"/>
            </a:solidFill>
            <a:prstDash val="solid"/>
          </a:ln>
        </p:spPr>
      </p:sp>
      <p:sp>
        <p:nvSpPr>
          <p:cNvPr id="23" name="Shape 21"/>
          <p:cNvSpPr/>
          <p:nvPr/>
        </p:nvSpPr>
        <p:spPr>
          <a:xfrm>
            <a:off x="920618" y="4428805"/>
            <a:ext cx="6218" cy="12070"/>
          </a:xfrm>
          <a:prstGeom prst="line">
            <a:avLst/>
          </a:prstGeom>
          <a:noFill/>
          <a:ln w="9525">
            <a:solidFill>
              <a:srgbClr val="A4561C"/>
            </a:solidFill>
            <a:prstDash val="solid"/>
          </a:ln>
        </p:spPr>
      </p:sp>
      <p:sp>
        <p:nvSpPr>
          <p:cNvPr id="24" name="Shape 22"/>
          <p:cNvSpPr/>
          <p:nvPr/>
        </p:nvSpPr>
        <p:spPr>
          <a:xfrm flipV="1">
            <a:off x="926836" y="4428805"/>
            <a:ext cx="6218" cy="12070"/>
          </a:xfrm>
          <a:prstGeom prst="line">
            <a:avLst/>
          </a:prstGeom>
          <a:noFill/>
          <a:ln w="9525">
            <a:solidFill>
              <a:srgbClr val="A4561C"/>
            </a:solidFill>
            <a:prstDash val="solid"/>
          </a:ln>
        </p:spPr>
      </p:sp>
      <p:sp>
        <p:nvSpPr>
          <p:cNvPr id="25" name="Text 23"/>
          <p:cNvSpPr/>
          <p:nvPr/>
        </p:nvSpPr>
        <p:spPr>
          <a:xfrm>
            <a:off x="640080" y="4709160"/>
            <a:ext cx="731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real (dot)</a:t>
            </a:r>
            <a:endParaRPr lang="en-US" sz="1000" dirty="0"/>
          </a:p>
        </p:txBody>
      </p:sp>
      <p:sp>
        <p:nvSpPr>
          <p:cNvPr id="26" name="Shape 24"/>
          <p:cNvSpPr/>
          <p:nvPr/>
        </p:nvSpPr>
        <p:spPr>
          <a:xfrm>
            <a:off x="1234440" y="4434840"/>
            <a:ext cx="731520" cy="91"/>
          </a:xfrm>
          <a:prstGeom prst="line">
            <a:avLst/>
          </a:prstGeom>
          <a:noFill/>
          <a:ln w="31750">
            <a:solidFill>
              <a:srgbClr val="C8414C"/>
            </a:solidFill>
            <a:prstDash val="solid"/>
            <a:tailEnd type="triangle"/>
          </a:ln>
        </p:spPr>
      </p:sp>
      <p:sp>
        <p:nvSpPr>
          <p:cNvPr id="27" name="Text 25"/>
          <p:cNvSpPr/>
          <p:nvPr/>
        </p:nvSpPr>
        <p:spPr>
          <a:xfrm>
            <a:off x="1188720" y="4114800"/>
            <a:ext cx="8686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×20 000</a:t>
            </a:r>
            <a:endParaRPr lang="en-US" sz="1050" dirty="0"/>
          </a:p>
        </p:txBody>
      </p:sp>
      <p:sp>
        <p:nvSpPr>
          <p:cNvPr id="28" name="Shape 26"/>
          <p:cNvSpPr/>
          <p:nvPr/>
        </p:nvSpPr>
        <p:spPr>
          <a:xfrm>
            <a:off x="2194560" y="4151376"/>
            <a:ext cx="1440000" cy="566928"/>
          </a:xfrm>
          <a:prstGeom prst="ellipse">
            <a:avLst/>
          </a:prstGeom>
          <a:solidFill>
            <a:srgbClr val="F2B279"/>
          </a:solidFill>
          <a:ln w="15875">
            <a:solidFill>
              <a:srgbClr val="A4561C"/>
            </a:solidFill>
            <a:prstDash val="solid"/>
          </a:ln>
        </p:spPr>
      </p:sp>
      <p:sp>
        <p:nvSpPr>
          <p:cNvPr id="29" name="Shape 27"/>
          <p:cNvSpPr/>
          <p:nvPr/>
        </p:nvSpPr>
        <p:spPr>
          <a:xfrm>
            <a:off x="2239914" y="4196730"/>
            <a:ext cx="1349292" cy="476220"/>
          </a:xfrm>
          <a:prstGeom prst="ellipse">
            <a:avLst/>
          </a:prstGeom>
          <a:solidFill>
            <a:srgbClr val="FCE3C8"/>
          </a:solidFill>
          <a:ln w="12700">
            <a:solidFill>
              <a:srgbClr val="A4561C"/>
            </a:solidFill>
            <a:prstDash val="solid"/>
          </a:ln>
        </p:spPr>
      </p:sp>
      <p:sp>
        <p:nvSpPr>
          <p:cNvPr id="30" name="Shape 28"/>
          <p:cNvSpPr/>
          <p:nvPr/>
        </p:nvSpPr>
        <p:spPr>
          <a:xfrm>
            <a:off x="2431064" y="4257363"/>
            <a:ext cx="67465" cy="221846"/>
          </a:xfrm>
          <a:prstGeom prst="roundRect">
            <a:avLst>
              <a:gd name="adj" fmla="val 50000"/>
            </a:avLst>
          </a:prstGeom>
          <a:solidFill>
            <a:srgbClr val="F2B279"/>
          </a:solidFill>
          <a:ln w="9525">
            <a:solidFill>
              <a:srgbClr val="A4561C"/>
            </a:solidFill>
            <a:prstDash val="solid"/>
          </a:ln>
        </p:spPr>
      </p:sp>
      <p:sp>
        <p:nvSpPr>
          <p:cNvPr id="31" name="Shape 29"/>
          <p:cNvSpPr/>
          <p:nvPr/>
        </p:nvSpPr>
        <p:spPr>
          <a:xfrm>
            <a:off x="2655946" y="4378717"/>
            <a:ext cx="67465" cy="280615"/>
          </a:xfrm>
          <a:prstGeom prst="roundRect">
            <a:avLst>
              <a:gd name="adj" fmla="val 50000"/>
            </a:avLst>
          </a:prstGeom>
          <a:solidFill>
            <a:srgbClr val="F2B279"/>
          </a:solidFill>
          <a:ln w="9525">
            <a:solidFill>
              <a:srgbClr val="A4561C"/>
            </a:solidFill>
            <a:prstDash val="solid"/>
          </a:ln>
        </p:spPr>
      </p:sp>
      <p:sp>
        <p:nvSpPr>
          <p:cNvPr id="32" name="Shape 30"/>
          <p:cNvSpPr/>
          <p:nvPr/>
        </p:nvSpPr>
        <p:spPr>
          <a:xfrm>
            <a:off x="2880828" y="4196730"/>
            <a:ext cx="67465" cy="297637"/>
          </a:xfrm>
          <a:prstGeom prst="roundRect">
            <a:avLst>
              <a:gd name="adj" fmla="val 50000"/>
            </a:avLst>
          </a:prstGeom>
          <a:solidFill>
            <a:srgbClr val="F2B279"/>
          </a:solidFill>
          <a:ln w="9525">
            <a:solidFill>
              <a:srgbClr val="A4561C"/>
            </a:solidFill>
            <a:prstDash val="solid"/>
          </a:ln>
        </p:spPr>
      </p:sp>
      <p:sp>
        <p:nvSpPr>
          <p:cNvPr id="33" name="Shape 31"/>
          <p:cNvSpPr/>
          <p:nvPr/>
        </p:nvSpPr>
        <p:spPr>
          <a:xfrm>
            <a:off x="3105710" y="4378717"/>
            <a:ext cx="67465" cy="280615"/>
          </a:xfrm>
          <a:prstGeom prst="roundRect">
            <a:avLst>
              <a:gd name="adj" fmla="val 50000"/>
            </a:avLst>
          </a:prstGeom>
          <a:solidFill>
            <a:srgbClr val="F2B279"/>
          </a:solidFill>
          <a:ln w="9525">
            <a:solidFill>
              <a:srgbClr val="A4561C"/>
            </a:solidFill>
            <a:prstDash val="solid"/>
          </a:ln>
        </p:spPr>
      </p:sp>
      <p:sp>
        <p:nvSpPr>
          <p:cNvPr id="34" name="Shape 32"/>
          <p:cNvSpPr/>
          <p:nvPr/>
        </p:nvSpPr>
        <p:spPr>
          <a:xfrm>
            <a:off x="3330592" y="4257363"/>
            <a:ext cx="67465" cy="221846"/>
          </a:xfrm>
          <a:prstGeom prst="roundRect">
            <a:avLst>
              <a:gd name="adj" fmla="val 50000"/>
            </a:avLst>
          </a:prstGeom>
          <a:solidFill>
            <a:srgbClr val="F2B279"/>
          </a:solidFill>
          <a:ln w="9525">
            <a:solidFill>
              <a:srgbClr val="A4561C"/>
            </a:solidFill>
            <a:prstDash val="solid"/>
          </a:ln>
        </p:spPr>
      </p:sp>
      <p:sp>
        <p:nvSpPr>
          <p:cNvPr id="35" name="Shape 33"/>
          <p:cNvSpPr/>
          <p:nvPr/>
        </p:nvSpPr>
        <p:spPr>
          <a:xfrm>
            <a:off x="2194560" y="4892040"/>
            <a:ext cx="1440000" cy="91"/>
          </a:xfrm>
          <a:prstGeom prst="line">
            <a:avLst/>
          </a:prstGeom>
          <a:noFill/>
          <a:ln w="15875">
            <a:solidFill>
              <a:srgbClr val="133536"/>
            </a:solidFill>
            <a:prstDash val="solid"/>
            <a:headEnd type="triangle"/>
            <a:tailEnd type="triangle"/>
          </a:ln>
        </p:spPr>
      </p:sp>
      <p:sp>
        <p:nvSpPr>
          <p:cNvPr id="36" name="Text 34"/>
          <p:cNvSpPr/>
          <p:nvPr/>
        </p:nvSpPr>
        <p:spPr>
          <a:xfrm>
            <a:off x="2194560" y="4937760"/>
            <a:ext cx="1440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40 mm</a:t>
            </a:r>
            <a:endParaRPr lang="en-US" sz="1050" dirty="0"/>
          </a:p>
        </p:txBody>
      </p:sp>
      <p:sp>
        <p:nvSpPr>
          <p:cNvPr id="37" name="Text 35"/>
          <p:cNvSpPr/>
          <p:nvPr/>
        </p:nvSpPr>
        <p:spPr>
          <a:xfrm>
            <a:off x="3840480" y="4160520"/>
            <a:ext cx="1920240" cy="566928"/>
          </a:xfrm>
          <a:prstGeom prst="rect">
            <a:avLst/>
          </a:prstGeom>
          <a:noFill/>
          <a:ln/>
        </p:spPr>
        <p:txBody>
          <a:bodyPr wrap="square" lIns="0" tIns="0" rIns="0" bIns="0" rtlCol="0" anchor="ctr"/>
          <a:lstStyle/>
          <a:p>
            <a:pPr algn="l" indent="0" marL="0">
              <a:buNone/>
            </a:pPr>
            <a:r>
              <a:rPr lang="en-US" sz="1050" dirty="0">
                <a:solidFill>
                  <a:srgbClr val="C8414C"/>
                </a:solidFill>
                <a:latin typeface="Calibri" pitchFamily="34" charset="0"/>
                <a:ea typeface="Calibri" pitchFamily="34" charset="-122"/>
                <a:cs typeface="Calibri" pitchFamily="34" charset="-120"/>
              </a:rPr>
              <a:t>Always </a:t>
            </a:r>
            <a:r>
              <a:rPr lang="en-US" sz="1050" b="1" dirty="0">
                <a:solidFill>
                  <a:srgbClr val="C8414C"/>
                </a:solidFill>
                <a:latin typeface="Calibri" pitchFamily="34" charset="0"/>
                <a:ea typeface="Calibri" pitchFamily="34" charset="-122"/>
                <a:cs typeface="Calibri" pitchFamily="34" charset="-120"/>
              </a:rPr>
              <a:t>convert</a:t>
            </a:r>
            <a:r>
              <a:rPr lang="en-US" sz="1050" dirty="0">
                <a:solidFill>
                  <a:srgbClr val="C8414C"/>
                </a:solidFill>
                <a:latin typeface="Calibri" pitchFamily="34" charset="0"/>
                <a:ea typeface="Calibri" pitchFamily="34" charset="-122"/>
                <a:cs typeface="Calibri" pitchFamily="34" charset="-120"/>
              </a:rPr>
              <a:t> first: mm × 1000 → µm</a:t>
            </a:r>
            <a:endParaRPr lang="en-US" sz="1050" dirty="0"/>
          </a:p>
        </p:txBody>
      </p:sp>
      <p:sp>
        <p:nvSpPr>
          <p:cNvPr id="38" name="Shape 36"/>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39" name="Text 3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Using the equation</a:t>
            </a:r>
            <a:endParaRPr lang="en-US" sz="1300" dirty="0"/>
          </a:p>
        </p:txBody>
      </p:sp>
      <p:sp>
        <p:nvSpPr>
          <p:cNvPr id="40" name="Text 3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Measure the </a:t>
            </a:r>
            <a:r>
              <a:rPr lang="en-US" sz="1100" b="1" dirty="0">
                <a:solidFill>
                  <a:srgbClr val="262B3A"/>
                </a:solidFill>
                <a:latin typeface="Calibri" pitchFamily="34" charset="0"/>
                <a:ea typeface="Calibri" pitchFamily="34" charset="-122"/>
                <a:cs typeface="Calibri" pitchFamily="34" charset="-120"/>
              </a:rPr>
              <a:t>image</a:t>
            </a:r>
            <a:r>
              <a:rPr lang="en-US" sz="1100" dirty="0">
                <a:solidFill>
                  <a:srgbClr val="262B3A"/>
                </a:solidFill>
                <a:latin typeface="Calibri" pitchFamily="34" charset="0"/>
                <a:ea typeface="Calibri" pitchFamily="34" charset="-122"/>
                <a:cs typeface="Calibri" pitchFamily="34" charset="-120"/>
              </a:rPr>
              <a:t> with a ruler (usually in mm).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Put image size and real size in the </a:t>
            </a:r>
            <a:r>
              <a:rPr lang="en-US" sz="1100" b="1" dirty="0">
                <a:solidFill>
                  <a:srgbClr val="262B3A"/>
                </a:solidFill>
                <a:latin typeface="Calibri" pitchFamily="34" charset="0"/>
                <a:ea typeface="Calibri" pitchFamily="34" charset="-122"/>
                <a:cs typeface="Calibri" pitchFamily="34" charset="-120"/>
              </a:rPr>
              <a:t>same unit</a:t>
            </a:r>
            <a:r>
              <a:rPr lang="en-US" sz="1100" dirty="0">
                <a:solidFill>
                  <a:srgbClr val="262B3A"/>
                </a:solidFill>
                <a:latin typeface="Calibri" pitchFamily="34" charset="0"/>
                <a:ea typeface="Calibri" pitchFamily="34" charset="-122"/>
                <a:cs typeface="Calibri" pitchFamily="34" charset="-120"/>
              </a:rPr>
              <a:t> before dividing (usually µm).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Magnification has </a:t>
            </a:r>
            <a:r>
              <a:rPr lang="en-US" sz="1100" b="1" dirty="0">
                <a:solidFill>
                  <a:srgbClr val="262B3A"/>
                </a:solidFill>
                <a:latin typeface="Calibri" pitchFamily="34" charset="0"/>
                <a:ea typeface="Calibri" pitchFamily="34" charset="-122"/>
                <a:cs typeface="Calibri" pitchFamily="34" charset="-120"/>
              </a:rPr>
              <a:t>no unit</a:t>
            </a:r>
            <a:r>
              <a:rPr lang="en-US" sz="1100" dirty="0">
                <a:solidFill>
                  <a:srgbClr val="262B3A"/>
                </a:solidFill>
                <a:latin typeface="Calibri" pitchFamily="34" charset="0"/>
                <a:ea typeface="Calibri" pitchFamily="34" charset="-122"/>
                <a:cs typeface="Calibri" pitchFamily="34" charset="-120"/>
              </a:rPr>
              <a:t>: write it as ×20 000.</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Rearrange to find a </a:t>
            </a:r>
            <a:r>
              <a:rPr lang="en-US" sz="1100" b="1" dirty="0">
                <a:solidFill>
                  <a:srgbClr val="262B3A"/>
                </a:solidFill>
                <a:latin typeface="Calibri" pitchFamily="34" charset="0"/>
                <a:ea typeface="Calibri" pitchFamily="34" charset="-122"/>
                <a:cs typeface="Calibri" pitchFamily="34" charset="-120"/>
              </a:rPr>
              <a:t>real size</a:t>
            </a:r>
            <a:r>
              <a:rPr lang="en-US" sz="1100" dirty="0">
                <a:solidFill>
                  <a:srgbClr val="262B3A"/>
                </a:solidFill>
                <a:latin typeface="Calibri" pitchFamily="34" charset="0"/>
                <a:ea typeface="Calibri" pitchFamily="34" charset="-122"/>
                <a:cs typeface="Calibri" pitchFamily="34" charset="-120"/>
              </a:rPr>
              <a:t>: real size = image size ÷ magnification.</a:t>
            </a:r>
            <a:endParaRPr lang="en-US" sz="1100" dirty="0"/>
          </a:p>
        </p:txBody>
      </p:sp>
      <p:sp>
        <p:nvSpPr>
          <p:cNvPr id="41" name="Shape 3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2" name="Text 4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magnification</a:t>
            </a:r>
            <a:endParaRPr lang="en-US" sz="1300" dirty="0"/>
          </a:p>
        </p:txBody>
      </p:sp>
      <p:sp>
        <p:nvSpPr>
          <p:cNvPr id="43" name="Text 41"/>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An electron micrograph shows a mitochondrion 40 mm long. The real mitochondrion is 2 µm long. Calculate the magnification.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Convert   </a:t>
            </a:r>
            <a:r>
              <a:rPr lang="en-US" sz="1050" dirty="0">
                <a:solidFill>
                  <a:srgbClr val="262B3A"/>
                </a:solidFill>
                <a:latin typeface="Calibri" pitchFamily="34" charset="0"/>
                <a:ea typeface="Calibri" pitchFamily="34" charset="-122"/>
                <a:cs typeface="Calibri" pitchFamily="34" charset="-120"/>
              </a:rPr>
              <a:t>40 mm × 1000 = 40 000 µm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Equation   </a:t>
            </a:r>
            <a:r>
              <a:rPr lang="en-US" sz="1050" dirty="0">
                <a:solidFill>
                  <a:srgbClr val="262B3A"/>
                </a:solidFill>
                <a:latin typeface="Calibri" pitchFamily="34" charset="0"/>
                <a:ea typeface="Calibri" pitchFamily="34" charset="-122"/>
                <a:cs typeface="Calibri" pitchFamily="34" charset="-120"/>
              </a:rPr>
              <a:t>magnification = image size ÷ real size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40 000 µm ÷ 2 µm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magnification = ×20 000</a:t>
            </a:r>
            <a:endParaRPr lang="en-US" sz="1050" dirty="0"/>
          </a:p>
        </p:txBody>
      </p:sp>
      <p:sp>
        <p:nvSpPr>
          <p:cNvPr id="44" name="Shape 42"/>
          <p:cNvSpPr/>
          <p:nvPr/>
        </p:nvSpPr>
        <p:spPr>
          <a:xfrm>
            <a:off x="411480" y="5833872"/>
            <a:ext cx="11368735" cy="530352"/>
          </a:xfrm>
          <a:prstGeom prst="rect">
            <a:avLst/>
          </a:prstGeom>
          <a:solidFill>
            <a:srgbClr val="FFF4E0"/>
          </a:solidFill>
          <a:ln w="6350">
            <a:solidFill>
              <a:srgbClr val="F1D9A8"/>
            </a:solidFill>
            <a:prstDash val="solid"/>
          </a:ln>
        </p:spPr>
      </p:sp>
      <p:sp>
        <p:nvSpPr>
          <p:cNvPr id="45" name="Shape 43"/>
          <p:cNvSpPr/>
          <p:nvPr/>
        </p:nvSpPr>
        <p:spPr>
          <a:xfrm>
            <a:off x="411480" y="5833872"/>
            <a:ext cx="82296" cy="530352"/>
          </a:xfrm>
          <a:prstGeom prst="rect">
            <a:avLst/>
          </a:prstGeom>
          <a:solidFill>
            <a:srgbClr val="E39A2F"/>
          </a:solidFill>
          <a:ln w="12700">
            <a:solidFill>
              <a:srgbClr val="E39A2F"/>
            </a:solidFill>
            <a:prstDash val="solid"/>
          </a:ln>
        </p:spPr>
      </p:sp>
      <p:sp>
        <p:nvSpPr>
          <p:cNvPr id="46" name="Text 4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draws a cheek cell </a:t>
            </a:r>
            <a:r>
              <a:rPr lang="en-US" sz="1150" b="1" dirty="0">
                <a:solidFill>
                  <a:srgbClr val="262B3A"/>
                </a:solidFill>
                <a:latin typeface="Calibri" pitchFamily="34" charset="0"/>
                <a:ea typeface="Calibri" pitchFamily="34" charset="-122"/>
                <a:cs typeface="Calibri" pitchFamily="34" charset="-120"/>
              </a:rPr>
              <a:t>24 mm</a:t>
            </a:r>
            <a:r>
              <a:rPr lang="en-US" sz="1150" dirty="0">
                <a:solidFill>
                  <a:srgbClr val="262B3A"/>
                </a:solidFill>
                <a:latin typeface="Calibri" pitchFamily="34" charset="0"/>
                <a:ea typeface="Calibri" pitchFamily="34" charset="-122"/>
                <a:cs typeface="Calibri" pitchFamily="34" charset="-120"/>
              </a:rPr>
              <a:t> wide at a magnification of </a:t>
            </a:r>
            <a:r>
              <a:rPr lang="en-US" sz="1150" b="1" dirty="0">
                <a:solidFill>
                  <a:srgbClr val="262B3A"/>
                </a:solidFill>
                <a:latin typeface="Calibri" pitchFamily="34" charset="0"/>
                <a:ea typeface="Calibri" pitchFamily="34" charset="-122"/>
                <a:cs typeface="Calibri" pitchFamily="34" charset="-120"/>
              </a:rPr>
              <a:t>×400</a:t>
            </a:r>
            <a:r>
              <a:rPr lang="en-US" sz="1150" dirty="0">
                <a:solidFill>
                  <a:srgbClr val="262B3A"/>
                </a:solidFill>
                <a:latin typeface="Calibri" pitchFamily="34" charset="0"/>
                <a:ea typeface="Calibri" pitchFamily="34" charset="-122"/>
                <a:cs typeface="Calibri" pitchFamily="34" charset="-120"/>
              </a:rPr>
              <a:t>. Calculate the real width of the cell in µm.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Using a scale bar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Maths skills • a scale bar lets you work out magnification and real sizes from an image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Maths  |  16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electron micrograph of a chloroplast (drawing); bar and chloroplast in proportion</a:t>
            </a:r>
            <a:endParaRPr lang="en-US" sz="1000" dirty="0"/>
          </a:p>
        </p:txBody>
      </p:sp>
      <p:sp>
        <p:nvSpPr>
          <p:cNvPr id="10" name="Shape 8"/>
          <p:cNvSpPr/>
          <p:nvPr/>
        </p:nvSpPr>
        <p:spPr>
          <a:xfrm>
            <a:off x="731520" y="1371600"/>
            <a:ext cx="4937760" cy="2651760"/>
          </a:xfrm>
          <a:prstGeom prst="rect">
            <a:avLst/>
          </a:prstGeom>
          <a:solidFill>
            <a:srgbClr val="CFCFCF"/>
          </a:solidFill>
          <a:ln w="15875">
            <a:solidFill>
              <a:srgbClr val="2F3542"/>
            </a:solidFill>
            <a:prstDash val="solid"/>
          </a:ln>
        </p:spPr>
      </p:sp>
      <p:sp>
        <p:nvSpPr>
          <p:cNvPr id="11" name="Shape 9"/>
          <p:cNvSpPr/>
          <p:nvPr/>
        </p:nvSpPr>
        <p:spPr>
          <a:xfrm>
            <a:off x="2212848" y="2011680"/>
            <a:ext cx="1975104" cy="1005840"/>
          </a:xfrm>
          <a:prstGeom prst="ellipse">
            <a:avLst/>
          </a:prstGeom>
          <a:solidFill>
            <a:srgbClr val="9A9A9A"/>
          </a:solidFill>
          <a:ln w="19050">
            <a:solidFill>
              <a:srgbClr val="2E2E2E"/>
            </a:solidFill>
            <a:prstDash val="solid"/>
          </a:ln>
        </p:spPr>
      </p:sp>
      <p:sp>
        <p:nvSpPr>
          <p:cNvPr id="12" name="Shape 10"/>
          <p:cNvSpPr/>
          <p:nvPr/>
        </p:nvSpPr>
        <p:spPr>
          <a:xfrm>
            <a:off x="2489363" y="2221992"/>
            <a:ext cx="1422075" cy="91"/>
          </a:xfrm>
          <a:prstGeom prst="line">
            <a:avLst/>
          </a:prstGeom>
          <a:noFill/>
          <a:ln w="22225">
            <a:solidFill>
              <a:srgbClr val="3A3A3A"/>
            </a:solidFill>
            <a:prstDash val="solid"/>
          </a:ln>
        </p:spPr>
      </p:sp>
      <p:sp>
        <p:nvSpPr>
          <p:cNvPr id="13" name="Shape 11"/>
          <p:cNvSpPr/>
          <p:nvPr/>
        </p:nvSpPr>
        <p:spPr>
          <a:xfrm>
            <a:off x="2489363" y="2368296"/>
            <a:ext cx="1422075" cy="91"/>
          </a:xfrm>
          <a:prstGeom prst="line">
            <a:avLst/>
          </a:prstGeom>
          <a:noFill/>
          <a:ln w="22225">
            <a:solidFill>
              <a:srgbClr val="3A3A3A"/>
            </a:solidFill>
            <a:prstDash val="solid"/>
          </a:ln>
        </p:spPr>
      </p:sp>
      <p:sp>
        <p:nvSpPr>
          <p:cNvPr id="14" name="Shape 12"/>
          <p:cNvSpPr/>
          <p:nvPr/>
        </p:nvSpPr>
        <p:spPr>
          <a:xfrm>
            <a:off x="2489363" y="2514600"/>
            <a:ext cx="1422075" cy="91"/>
          </a:xfrm>
          <a:prstGeom prst="line">
            <a:avLst/>
          </a:prstGeom>
          <a:noFill/>
          <a:ln w="22225">
            <a:solidFill>
              <a:srgbClr val="3A3A3A"/>
            </a:solidFill>
            <a:prstDash val="solid"/>
          </a:ln>
        </p:spPr>
      </p:sp>
      <p:sp>
        <p:nvSpPr>
          <p:cNvPr id="15" name="Shape 13"/>
          <p:cNvSpPr/>
          <p:nvPr/>
        </p:nvSpPr>
        <p:spPr>
          <a:xfrm>
            <a:off x="2489363" y="2660904"/>
            <a:ext cx="1422075" cy="91"/>
          </a:xfrm>
          <a:prstGeom prst="line">
            <a:avLst/>
          </a:prstGeom>
          <a:noFill/>
          <a:ln w="22225">
            <a:solidFill>
              <a:srgbClr val="3A3A3A"/>
            </a:solidFill>
            <a:prstDash val="solid"/>
          </a:ln>
        </p:spPr>
      </p:sp>
      <p:sp>
        <p:nvSpPr>
          <p:cNvPr id="16" name="Shape 14"/>
          <p:cNvSpPr/>
          <p:nvPr/>
        </p:nvSpPr>
        <p:spPr>
          <a:xfrm>
            <a:off x="2489363" y="2807208"/>
            <a:ext cx="1422075" cy="91"/>
          </a:xfrm>
          <a:prstGeom prst="line">
            <a:avLst/>
          </a:prstGeom>
          <a:noFill/>
          <a:ln w="22225">
            <a:solidFill>
              <a:srgbClr val="3A3A3A"/>
            </a:solidFill>
            <a:prstDash val="solid"/>
          </a:ln>
        </p:spPr>
      </p:sp>
      <p:sp>
        <p:nvSpPr>
          <p:cNvPr id="17" name="Shape 15"/>
          <p:cNvSpPr/>
          <p:nvPr/>
        </p:nvSpPr>
        <p:spPr>
          <a:xfrm>
            <a:off x="2825496" y="2295144"/>
            <a:ext cx="201168" cy="219456"/>
          </a:xfrm>
          <a:prstGeom prst="rect">
            <a:avLst/>
          </a:prstGeom>
          <a:solidFill>
            <a:srgbClr val="4A4A4A"/>
          </a:solidFill>
          <a:ln w="6350">
            <a:solidFill>
              <a:srgbClr val="2E2E2E"/>
            </a:solidFill>
            <a:prstDash val="solid"/>
          </a:ln>
        </p:spPr>
      </p:sp>
      <p:sp>
        <p:nvSpPr>
          <p:cNvPr id="18" name="Shape 16"/>
          <p:cNvSpPr/>
          <p:nvPr/>
        </p:nvSpPr>
        <p:spPr>
          <a:xfrm>
            <a:off x="3511296" y="2514600"/>
            <a:ext cx="201168" cy="219456"/>
          </a:xfrm>
          <a:prstGeom prst="rect">
            <a:avLst/>
          </a:prstGeom>
          <a:solidFill>
            <a:srgbClr val="4A4A4A"/>
          </a:solidFill>
          <a:ln w="6350">
            <a:solidFill>
              <a:srgbClr val="2E2E2E"/>
            </a:solidFill>
            <a:prstDash val="solid"/>
          </a:ln>
        </p:spPr>
      </p:sp>
      <p:sp>
        <p:nvSpPr>
          <p:cNvPr id="19" name="Shape 17"/>
          <p:cNvSpPr/>
          <p:nvPr/>
        </p:nvSpPr>
        <p:spPr>
          <a:xfrm>
            <a:off x="2212848" y="3246120"/>
            <a:ext cx="1975104" cy="91"/>
          </a:xfrm>
          <a:prstGeom prst="line">
            <a:avLst/>
          </a:prstGeom>
          <a:noFill/>
          <a:ln w="19050">
            <a:solidFill>
              <a:srgbClr val="C8414C"/>
            </a:solidFill>
            <a:prstDash val="solid"/>
            <a:headEnd type="triangle"/>
            <a:tailEnd type="triangle"/>
          </a:ln>
        </p:spPr>
      </p:sp>
      <p:sp>
        <p:nvSpPr>
          <p:cNvPr id="20" name="Text 18"/>
          <p:cNvSpPr/>
          <p:nvPr/>
        </p:nvSpPr>
        <p:spPr>
          <a:xfrm>
            <a:off x="2212848" y="3291840"/>
            <a:ext cx="1975104"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image length 18 mm</a:t>
            </a:r>
            <a:endParaRPr lang="en-US" sz="1050" dirty="0"/>
          </a:p>
        </p:txBody>
      </p:sp>
      <p:sp>
        <p:nvSpPr>
          <p:cNvPr id="21" name="Shape 19"/>
          <p:cNvSpPr/>
          <p:nvPr/>
        </p:nvSpPr>
        <p:spPr>
          <a:xfrm>
            <a:off x="3246120" y="3657600"/>
            <a:ext cx="2194560" cy="82296"/>
          </a:xfrm>
          <a:prstGeom prst="rect">
            <a:avLst/>
          </a:prstGeom>
          <a:solidFill>
            <a:srgbClr val="111111"/>
          </a:solidFill>
          <a:ln/>
        </p:spPr>
      </p:sp>
      <p:sp>
        <p:nvSpPr>
          <p:cNvPr id="22" name="Text 20"/>
          <p:cNvSpPr/>
          <p:nvPr/>
        </p:nvSpPr>
        <p:spPr>
          <a:xfrm>
            <a:off x="3246120" y="3364992"/>
            <a:ext cx="2194560" cy="256032"/>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5 µm</a:t>
            </a:r>
            <a:endParaRPr lang="en-US" sz="1100" dirty="0"/>
          </a:p>
        </p:txBody>
      </p:sp>
      <p:sp>
        <p:nvSpPr>
          <p:cNvPr id="23" name="Text 21"/>
          <p:cNvSpPr/>
          <p:nvPr/>
        </p:nvSpPr>
        <p:spPr>
          <a:xfrm>
            <a:off x="868680" y="3639312"/>
            <a:ext cx="2286000" cy="256032"/>
          </a:xfrm>
          <a:prstGeom prst="rect">
            <a:avLst/>
          </a:prstGeom>
          <a:noFill/>
          <a:ln/>
        </p:spPr>
        <p:txBody>
          <a:bodyPr wrap="square" lIns="0" tIns="0" rIns="0" bIns="0" rtlCol="0" anchor="ctr"/>
          <a:lstStyle/>
          <a:p>
            <a:pPr algn="l" indent="0" marL="0">
              <a:buNone/>
            </a:pPr>
            <a:r>
              <a:rPr lang="en-US" sz="1050" b="1" dirty="0">
                <a:solidFill>
                  <a:srgbClr val="111111"/>
                </a:solidFill>
                <a:latin typeface="Calibri" pitchFamily="34" charset="0"/>
                <a:ea typeface="Calibri" pitchFamily="34" charset="-122"/>
                <a:cs typeface="Calibri" pitchFamily="34" charset="-120"/>
              </a:rPr>
              <a:t>scale bar: 20 mm long</a:t>
            </a:r>
            <a:endParaRPr lang="en-US" sz="1050" dirty="0"/>
          </a:p>
        </p:txBody>
      </p:sp>
      <p:sp>
        <p:nvSpPr>
          <p:cNvPr id="24" name="Shape 22"/>
          <p:cNvSpPr/>
          <p:nvPr/>
        </p:nvSpPr>
        <p:spPr>
          <a:xfrm>
            <a:off x="731520" y="4251960"/>
            <a:ext cx="4937760" cy="1051560"/>
          </a:xfrm>
          <a:prstGeom prst="roundRect">
            <a:avLst>
              <a:gd name="adj" fmla="val 5217"/>
            </a:avLst>
          </a:prstGeom>
          <a:solidFill>
            <a:srgbClr val="FFFFFF"/>
          </a:solidFill>
          <a:ln w="15875">
            <a:solidFill>
              <a:srgbClr val="C8414C"/>
            </a:solidFill>
            <a:prstDash val="solid"/>
          </a:ln>
        </p:spPr>
      </p:sp>
      <p:sp>
        <p:nvSpPr>
          <p:cNvPr id="25" name="Shape 23"/>
          <p:cNvSpPr/>
          <p:nvPr/>
        </p:nvSpPr>
        <p:spPr>
          <a:xfrm>
            <a:off x="868680" y="4343400"/>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868680" y="434340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1371600" y="4315968"/>
            <a:ext cx="4206240" cy="310896"/>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Give the answer in metres in standard form</a:t>
            </a:r>
            <a:endParaRPr lang="en-US" sz="1100" dirty="0"/>
          </a:p>
        </p:txBody>
      </p:sp>
      <p:sp>
        <p:nvSpPr>
          <p:cNvPr id="28" name="Text 26"/>
          <p:cNvSpPr/>
          <p:nvPr/>
        </p:nvSpPr>
        <p:spPr>
          <a:xfrm>
            <a:off x="868680" y="4663440"/>
            <a:ext cx="4709160" cy="548640"/>
          </a:xfrm>
          <a:prstGeom prst="rect">
            <a:avLst/>
          </a:prstGeom>
          <a:noFill/>
          <a:ln/>
        </p:spPr>
        <p:txBody>
          <a:bodyPr wrap="square" lIns="0" tIns="0" rIns="0" bIns="0" rtlCol="0" anchor="ctr"/>
          <a:lstStyle/>
          <a:p>
            <a:pPr algn="l" indent="0" marL="0">
              <a:buNone/>
            </a:pPr>
            <a:r>
              <a:rPr lang="en-US" sz="1150" dirty="0">
                <a:solidFill>
                  <a:srgbClr val="262B3A"/>
                </a:solidFill>
                <a:latin typeface="Calibri" pitchFamily="34" charset="0"/>
                <a:ea typeface="Calibri" pitchFamily="34" charset="-122"/>
                <a:cs typeface="Calibri" pitchFamily="34" charset="-120"/>
              </a:rPr>
              <a:t>4.5 µm = 4.5 × 10</a:t>
            </a:r>
            <a:r>
              <a:rPr lang="en-US" sz="1150" baseline="30000" dirty="0">
                <a:solidFill>
                  <a:srgbClr val="262B3A"/>
                </a:solidFill>
                <a:latin typeface="Calibri" pitchFamily="34" charset="0"/>
                <a:ea typeface="Calibri" pitchFamily="34" charset="-122"/>
                <a:cs typeface="Calibri" pitchFamily="34" charset="-120"/>
              </a:rPr>
              <a:t>−6</a:t>
            </a:r>
            <a:r>
              <a:rPr lang="en-US" sz="1150" dirty="0">
                <a:solidFill>
                  <a:srgbClr val="262B3A"/>
                </a:solidFill>
                <a:latin typeface="Calibri" pitchFamily="34" charset="0"/>
                <a:ea typeface="Calibri" pitchFamily="34" charset="-122"/>
                <a:cs typeface="Calibri" pitchFamily="34" charset="-120"/>
              </a:rPr>
              <a:t> m      (1 µm = 10</a:t>
            </a:r>
            <a:r>
              <a:rPr lang="en-US" sz="1150" baseline="30000" dirty="0">
                <a:solidFill>
                  <a:srgbClr val="262B3A"/>
                </a:solidFill>
                <a:latin typeface="Calibri" pitchFamily="34" charset="0"/>
                <a:ea typeface="Calibri" pitchFamily="34" charset="-122"/>
                <a:cs typeface="Calibri" pitchFamily="34" charset="-120"/>
              </a:rPr>
              <a:t>−6</a:t>
            </a:r>
            <a:r>
              <a:rPr lang="en-US" sz="1150" dirty="0">
                <a:solidFill>
                  <a:srgbClr val="262B3A"/>
                </a:solidFill>
                <a:latin typeface="Calibri" pitchFamily="34" charset="0"/>
                <a:ea typeface="Calibri" pitchFamily="34" charset="-122"/>
                <a:cs typeface="Calibri" pitchFamily="34" charset="-120"/>
              </a:rPr>
              <a:t> m)</a:t>
            </a:r>
            <a:endParaRPr lang="en-US" sz="1150" dirty="0"/>
          </a:p>
        </p:txBody>
      </p:sp>
      <p:sp>
        <p:nvSpPr>
          <p:cNvPr id="29" name="Shape 27"/>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30" name="Text 2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steps</a:t>
            </a:r>
            <a:endParaRPr lang="en-US" sz="1300" dirty="0"/>
          </a:p>
        </p:txBody>
      </p:sp>
      <p:sp>
        <p:nvSpPr>
          <p:cNvPr id="31" name="Text 2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Step 1:</a:t>
            </a:r>
            <a:r>
              <a:rPr lang="en-US" sz="1100" dirty="0">
                <a:solidFill>
                  <a:srgbClr val="262B3A"/>
                </a:solidFill>
                <a:latin typeface="Calibri" pitchFamily="34" charset="0"/>
                <a:ea typeface="Calibri" pitchFamily="34" charset="-122"/>
                <a:cs typeface="Calibri" pitchFamily="34" charset="-120"/>
              </a:rPr>
              <a:t> find the magnification from the bar: magnification = bar length on the image ÷ the length it represents.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Step 2:</a:t>
            </a:r>
            <a:r>
              <a:rPr lang="en-US" sz="1100" dirty="0">
                <a:solidFill>
                  <a:srgbClr val="262B3A"/>
                </a:solidFill>
                <a:latin typeface="Calibri" pitchFamily="34" charset="0"/>
                <a:ea typeface="Calibri" pitchFamily="34" charset="-122"/>
                <a:cs typeface="Calibri" pitchFamily="34" charset="-120"/>
              </a:rPr>
              <a:t> measure the object and use real size = image size ÷ magnification.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Scale bars stay correct if the image is enlarged or shrunk, because they change with it.</a:t>
            </a:r>
            <a:endParaRPr lang="en-US" sz="1100" dirty="0"/>
          </a:p>
        </p:txBody>
      </p:sp>
      <p:sp>
        <p:nvSpPr>
          <p:cNvPr id="32" name="Shape 3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3" name="Text 3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scale bar</a:t>
            </a:r>
            <a:endParaRPr lang="en-US" sz="1300" dirty="0"/>
          </a:p>
        </p:txBody>
      </p:sp>
      <p:sp>
        <p:nvSpPr>
          <p:cNvPr id="34" name="Text 3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On the printed micrograph the 5 µm scale bar is 20 mm long. The chloroplast image is 18 mm long. Find its real length.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Magnification   </a:t>
            </a:r>
            <a:r>
              <a:rPr lang="en-US" sz="1050" dirty="0">
                <a:solidFill>
                  <a:srgbClr val="262B3A"/>
                </a:solidFill>
                <a:latin typeface="Calibri" pitchFamily="34" charset="0"/>
                <a:ea typeface="Calibri" pitchFamily="34" charset="-122"/>
                <a:cs typeface="Calibri" pitchFamily="34" charset="-120"/>
              </a:rPr>
              <a:t>20 000 µm ÷ 5 µm = ×4000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Image   </a:t>
            </a:r>
            <a:r>
              <a:rPr lang="en-US" sz="1050" dirty="0">
                <a:solidFill>
                  <a:srgbClr val="262B3A"/>
                </a:solidFill>
                <a:latin typeface="Calibri" pitchFamily="34" charset="0"/>
                <a:ea typeface="Calibri" pitchFamily="34" charset="-122"/>
                <a:cs typeface="Calibri" pitchFamily="34" charset="-120"/>
              </a:rPr>
              <a:t>18 mm = 18 000 µm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Real size   </a:t>
            </a:r>
            <a:r>
              <a:rPr lang="en-US" sz="1050" dirty="0">
                <a:solidFill>
                  <a:srgbClr val="262B3A"/>
                </a:solidFill>
                <a:latin typeface="Calibri" pitchFamily="34" charset="0"/>
                <a:ea typeface="Calibri" pitchFamily="34" charset="-122"/>
                <a:cs typeface="Calibri" pitchFamily="34" charset="-120"/>
              </a:rPr>
              <a:t>18 000 ÷ 4000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real length = 4.5 µm</a:t>
            </a:r>
            <a:endParaRPr lang="en-US" sz="1050" dirty="0"/>
          </a:p>
        </p:txBody>
      </p:sp>
      <p:sp>
        <p:nvSpPr>
          <p:cNvPr id="35"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ribosome image is </a:t>
            </a:r>
            <a:r>
              <a:rPr lang="en-US" sz="1150" b="1" dirty="0">
                <a:solidFill>
                  <a:srgbClr val="262B3A"/>
                </a:solidFill>
                <a:latin typeface="Calibri" pitchFamily="34" charset="0"/>
                <a:ea typeface="Calibri" pitchFamily="34" charset="-122"/>
                <a:cs typeface="Calibri" pitchFamily="34" charset="-120"/>
              </a:rPr>
              <a:t>5 mm</a:t>
            </a:r>
            <a:r>
              <a:rPr lang="en-US" sz="1150" dirty="0">
                <a:solidFill>
                  <a:srgbClr val="262B3A"/>
                </a:solidFill>
                <a:latin typeface="Calibri" pitchFamily="34" charset="0"/>
                <a:ea typeface="Calibri" pitchFamily="34" charset="-122"/>
                <a:cs typeface="Calibri" pitchFamily="34" charset="-120"/>
              </a:rPr>
              <a:t> across at </a:t>
            </a:r>
            <a:r>
              <a:rPr lang="en-US" sz="1150" b="1" dirty="0">
                <a:solidFill>
                  <a:srgbClr val="262B3A"/>
                </a:solidFill>
                <a:latin typeface="Calibri" pitchFamily="34" charset="0"/>
                <a:ea typeface="Calibri" pitchFamily="34" charset="-122"/>
                <a:cs typeface="Calibri" pitchFamily="34" charset="-120"/>
              </a:rPr>
              <a:t>×200 000</a:t>
            </a:r>
            <a:r>
              <a:rPr lang="en-US" sz="1150" dirty="0">
                <a:solidFill>
                  <a:srgbClr val="262B3A"/>
                </a:solidFill>
                <a:latin typeface="Calibri" pitchFamily="34" charset="0"/>
                <a:ea typeface="Calibri" pitchFamily="34" charset="-122"/>
                <a:cs typeface="Calibri" pitchFamily="34" charset="-120"/>
              </a:rPr>
              <a:t>. Calculate its real size in nm. </a:t>
            </a: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give it in metres in standard form.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Magnification calculations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equation that links </a:t>
            </a:r>
            <a:r>
              <a:rPr lang="en-US" sz="1250" b="1" dirty="0">
                <a:solidFill>
                  <a:srgbClr val="262B3A"/>
                </a:solidFill>
                <a:latin typeface="Calibri" pitchFamily="34" charset="0"/>
                <a:ea typeface="Calibri" pitchFamily="34" charset="-122"/>
                <a:cs typeface="Calibri" pitchFamily="34" charset="-120"/>
              </a:rPr>
              <a:t>magnification</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image size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real size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microscope has a </a:t>
            </a:r>
            <a:r>
              <a:rPr lang="en-US" sz="1250" b="1" dirty="0">
                <a:solidFill>
                  <a:srgbClr val="262B3A"/>
                </a:solidFill>
                <a:latin typeface="Calibri" pitchFamily="34" charset="0"/>
                <a:ea typeface="Calibri" pitchFamily="34" charset="-122"/>
                <a:cs typeface="Calibri" pitchFamily="34" charset="-120"/>
              </a:rPr>
              <a:t>×10</a:t>
            </a:r>
            <a:r>
              <a:rPr lang="en-US" sz="1250" dirty="0">
                <a:solidFill>
                  <a:srgbClr val="262B3A"/>
                </a:solidFill>
                <a:latin typeface="Calibri" pitchFamily="34" charset="0"/>
                <a:ea typeface="Calibri" pitchFamily="34" charset="-122"/>
                <a:cs typeface="Calibri" pitchFamily="34" charset="-120"/>
              </a:rPr>
              <a:t> eyepiece and a </a:t>
            </a:r>
            <a:r>
              <a:rPr lang="en-US" sz="1250" b="1" dirty="0">
                <a:solidFill>
                  <a:srgbClr val="262B3A"/>
                </a:solidFill>
                <a:latin typeface="Calibri" pitchFamily="34" charset="0"/>
                <a:ea typeface="Calibri" pitchFamily="34" charset="-122"/>
                <a:cs typeface="Calibri" pitchFamily="34" charset="-120"/>
              </a:rPr>
              <a:t>×40</a:t>
            </a:r>
            <a:r>
              <a:rPr lang="en-US" sz="1250" dirty="0">
                <a:solidFill>
                  <a:srgbClr val="262B3A"/>
                </a:solidFill>
                <a:latin typeface="Calibri" pitchFamily="34" charset="0"/>
                <a:ea typeface="Calibri" pitchFamily="34" charset="-122"/>
                <a:cs typeface="Calibri" pitchFamily="34" charset="-120"/>
              </a:rPr>
              <a:t> objective. Calculate the total magnification.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image of a cell is </a:t>
            </a:r>
            <a:r>
              <a:rPr lang="en-US" sz="1250" b="1" dirty="0">
                <a:solidFill>
                  <a:srgbClr val="262B3A"/>
                </a:solidFill>
                <a:latin typeface="Calibri" pitchFamily="34" charset="0"/>
                <a:ea typeface="Calibri" pitchFamily="34" charset="-122"/>
                <a:cs typeface="Calibri" pitchFamily="34" charset="-120"/>
              </a:rPr>
              <a:t>36 mm</a:t>
            </a:r>
            <a:r>
              <a:rPr lang="en-US" sz="1250" dirty="0">
                <a:solidFill>
                  <a:srgbClr val="262B3A"/>
                </a:solidFill>
                <a:latin typeface="Calibri" pitchFamily="34" charset="0"/>
                <a:ea typeface="Calibri" pitchFamily="34" charset="-122"/>
                <a:cs typeface="Calibri" pitchFamily="34" charset="-120"/>
              </a:rPr>
              <a:t> long at a magnification of </a:t>
            </a:r>
            <a:r>
              <a:rPr lang="en-US" sz="1250" b="1" dirty="0">
                <a:solidFill>
                  <a:srgbClr val="262B3A"/>
                </a:solidFill>
                <a:latin typeface="Calibri" pitchFamily="34" charset="0"/>
                <a:ea typeface="Calibri" pitchFamily="34" charset="-122"/>
                <a:cs typeface="Calibri" pitchFamily="34" charset="-120"/>
              </a:rPr>
              <a:t>×1200</a:t>
            </a:r>
            <a:r>
              <a:rPr lang="en-US" sz="1250" dirty="0">
                <a:solidFill>
                  <a:srgbClr val="262B3A"/>
                </a:solidFill>
                <a:latin typeface="Calibri" pitchFamily="34" charset="0"/>
                <a:ea typeface="Calibri" pitchFamily="34" charset="-122"/>
                <a:cs typeface="Calibri" pitchFamily="34" charset="-120"/>
              </a:rPr>
              <a:t>. Calculate the real length of the cell in </a:t>
            </a:r>
            <a:r>
              <a:rPr lang="en-US" sz="1250" b="1" dirty="0">
                <a:solidFill>
                  <a:srgbClr val="262B3A"/>
                </a:solidFill>
                <a:latin typeface="Calibri" pitchFamily="34" charset="0"/>
                <a:ea typeface="Calibri" pitchFamily="34" charset="-122"/>
                <a:cs typeface="Calibri" pitchFamily="34" charset="-120"/>
              </a:rPr>
              <a:t>µm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On a micrograph, a scale bar </a:t>
            </a:r>
            <a:r>
              <a:rPr lang="en-US" sz="1250" b="1" dirty="0">
                <a:solidFill>
                  <a:srgbClr val="262B3A"/>
                </a:solidFill>
                <a:latin typeface="Calibri" pitchFamily="34" charset="0"/>
                <a:ea typeface="Calibri" pitchFamily="34" charset="-122"/>
                <a:cs typeface="Calibri" pitchFamily="34" charset="-120"/>
              </a:rPr>
              <a:t>10 mm</a:t>
            </a:r>
            <a:r>
              <a:rPr lang="en-US" sz="1250" dirty="0">
                <a:solidFill>
                  <a:srgbClr val="262B3A"/>
                </a:solidFill>
                <a:latin typeface="Calibri" pitchFamily="34" charset="0"/>
                <a:ea typeface="Calibri" pitchFamily="34" charset="-122"/>
                <a:cs typeface="Calibri" pitchFamily="34" charset="-120"/>
              </a:rPr>
              <a:t> long represents </a:t>
            </a:r>
            <a:r>
              <a:rPr lang="en-US" sz="1250" b="1" dirty="0">
                <a:solidFill>
                  <a:srgbClr val="262B3A"/>
                </a:solidFill>
                <a:latin typeface="Calibri" pitchFamily="34" charset="0"/>
                <a:ea typeface="Calibri" pitchFamily="34" charset="-122"/>
                <a:cs typeface="Calibri" pitchFamily="34" charset="-120"/>
              </a:rPr>
              <a:t>2 µm</a:t>
            </a:r>
            <a:r>
              <a:rPr lang="en-US" sz="1250" dirty="0">
                <a:solidFill>
                  <a:srgbClr val="262B3A"/>
                </a:solidFill>
                <a:latin typeface="Calibri" pitchFamily="34" charset="0"/>
                <a:ea typeface="Calibri" pitchFamily="34" charset="-122"/>
                <a:cs typeface="Calibri" pitchFamily="34" charset="-120"/>
              </a:rPr>
              <a:t>. Calculate the magnification.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PAG B1: preparing microscope slides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Practical activity group B1 microscopy • onion epidermis with iodine; cheek cells with methylene blue</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B1</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B1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for making a wet mount</a:t>
            </a:r>
            <a:endParaRPr lang="en-US" sz="1000" dirty="0"/>
          </a:p>
        </p:txBody>
      </p:sp>
      <p:sp>
        <p:nvSpPr>
          <p:cNvPr id="12" name="Shape 10"/>
          <p:cNvSpPr/>
          <p:nvPr/>
        </p:nvSpPr>
        <p:spPr>
          <a:xfrm>
            <a:off x="868680" y="1417320"/>
            <a:ext cx="91440" cy="960120"/>
          </a:xfrm>
          <a:prstGeom prst="rect">
            <a:avLst/>
          </a:prstGeom>
          <a:solidFill>
            <a:srgbClr val="E8F1F8"/>
          </a:solidFill>
          <a:ln w="12700">
            <a:solidFill>
              <a:srgbClr val="5B9BD5"/>
            </a:solidFill>
            <a:prstDash val="solid"/>
          </a:ln>
        </p:spPr>
      </p:sp>
      <p:sp>
        <p:nvSpPr>
          <p:cNvPr id="13" name="Shape 11"/>
          <p:cNvSpPr/>
          <p:nvPr/>
        </p:nvSpPr>
        <p:spPr>
          <a:xfrm>
            <a:off x="795528" y="1298448"/>
            <a:ext cx="237744" cy="274320"/>
          </a:xfrm>
          <a:prstGeom prst="ellipse">
            <a:avLst/>
          </a:prstGeom>
          <a:solidFill>
            <a:srgbClr val="9AA3B0"/>
          </a:solidFill>
          <a:ln w="12700">
            <a:solidFill>
              <a:srgbClr val="5A6275"/>
            </a:solidFill>
            <a:prstDash val="solid"/>
          </a:ln>
        </p:spPr>
      </p:sp>
      <p:sp>
        <p:nvSpPr>
          <p:cNvPr id="14" name="Shape 12"/>
          <p:cNvSpPr/>
          <p:nvPr/>
        </p:nvSpPr>
        <p:spPr>
          <a:xfrm>
            <a:off x="868680" y="2441448"/>
            <a:ext cx="91440" cy="91440"/>
          </a:xfrm>
          <a:prstGeom prst="ellipse">
            <a:avLst/>
          </a:prstGeom>
          <a:solidFill>
            <a:srgbClr val="B07B2A"/>
          </a:solidFill>
          <a:ln w="9525">
            <a:solidFill>
              <a:srgbClr val="6E4A14"/>
            </a:solidFill>
            <a:prstDash val="solid"/>
          </a:ln>
        </p:spPr>
      </p:sp>
      <p:sp>
        <p:nvSpPr>
          <p:cNvPr id="15" name="Text 13"/>
          <p:cNvSpPr/>
          <p:nvPr/>
        </p:nvSpPr>
        <p:spPr>
          <a:xfrm>
            <a:off x="502920" y="2606040"/>
            <a:ext cx="91440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pipette of stain</a:t>
            </a:r>
            <a:endParaRPr lang="en-US" sz="1000" dirty="0"/>
          </a:p>
        </p:txBody>
      </p:sp>
      <p:sp>
        <p:nvSpPr>
          <p:cNvPr id="16" name="Shape 14"/>
          <p:cNvSpPr/>
          <p:nvPr/>
        </p:nvSpPr>
        <p:spPr>
          <a:xfrm>
            <a:off x="1508760" y="1600200"/>
            <a:ext cx="2011680" cy="685800"/>
          </a:xfrm>
          <a:prstGeom prst="rect">
            <a:avLst/>
          </a:prstGeom>
          <a:solidFill>
            <a:srgbClr val="EAF3FA"/>
          </a:solidFill>
          <a:ln w="15875">
            <a:solidFill>
              <a:srgbClr val="5B9BD5"/>
            </a:solidFill>
            <a:prstDash val="solid"/>
          </a:ln>
        </p:spPr>
      </p:sp>
      <p:sp>
        <p:nvSpPr>
          <p:cNvPr id="17" name="Shape 15"/>
          <p:cNvSpPr/>
          <p:nvPr/>
        </p:nvSpPr>
        <p:spPr>
          <a:xfrm>
            <a:off x="2148840" y="1719072"/>
            <a:ext cx="731520" cy="457200"/>
          </a:xfrm>
          <a:prstGeom prst="ellipse">
            <a:avLst/>
          </a:prstGeom>
          <a:solidFill>
            <a:srgbClr val="D9A441">
              <a:alpha val="65000"/>
            </a:srgbClr>
          </a:solidFill>
          <a:ln w="9525">
            <a:solidFill>
              <a:srgbClr val="B07B2A"/>
            </a:solidFill>
            <a:prstDash val="solid"/>
          </a:ln>
        </p:spPr>
      </p:sp>
      <p:sp>
        <p:nvSpPr>
          <p:cNvPr id="18" name="Shape 16"/>
          <p:cNvSpPr/>
          <p:nvPr/>
        </p:nvSpPr>
        <p:spPr>
          <a:xfrm>
            <a:off x="2267712" y="1792224"/>
            <a:ext cx="502920" cy="310896"/>
          </a:xfrm>
          <a:prstGeom prst="rect">
            <a:avLst/>
          </a:prstGeom>
          <a:solidFill>
            <a:srgbClr val="F6E9C4"/>
          </a:solidFill>
          <a:ln w="9525">
            <a:solidFill>
              <a:srgbClr val="9C7A2A"/>
            </a:solidFill>
            <a:prstDash val="solid"/>
          </a:ln>
        </p:spPr>
      </p:sp>
      <p:sp>
        <p:nvSpPr>
          <p:cNvPr id="19" name="Text 17"/>
          <p:cNvSpPr/>
          <p:nvPr/>
        </p:nvSpPr>
        <p:spPr>
          <a:xfrm>
            <a:off x="1508760" y="2331720"/>
            <a:ext cx="201168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slide: onion layer in a drop of iodine</a:t>
            </a:r>
            <a:endParaRPr lang="en-US" sz="1000" dirty="0"/>
          </a:p>
        </p:txBody>
      </p:sp>
      <p:sp>
        <p:nvSpPr>
          <p:cNvPr id="20" name="Shape 18"/>
          <p:cNvSpPr/>
          <p:nvPr/>
        </p:nvSpPr>
        <p:spPr>
          <a:xfrm>
            <a:off x="3794760" y="1371600"/>
            <a:ext cx="548640" cy="868680"/>
          </a:xfrm>
          <a:prstGeom prst="line">
            <a:avLst/>
          </a:prstGeom>
          <a:noFill/>
          <a:ln w="31750">
            <a:solidFill>
              <a:srgbClr val="5A6275"/>
            </a:solidFill>
            <a:prstDash val="solid"/>
          </a:ln>
        </p:spPr>
      </p:sp>
      <p:sp>
        <p:nvSpPr>
          <p:cNvPr id="21" name="Shape 19"/>
          <p:cNvSpPr/>
          <p:nvPr/>
        </p:nvSpPr>
        <p:spPr>
          <a:xfrm>
            <a:off x="4069080" y="1353312"/>
            <a:ext cx="320040" cy="886968"/>
          </a:xfrm>
          <a:prstGeom prst="line">
            <a:avLst/>
          </a:prstGeom>
          <a:noFill/>
          <a:ln w="31750">
            <a:solidFill>
              <a:srgbClr val="5A6275"/>
            </a:solidFill>
            <a:prstDash val="solid"/>
          </a:ln>
        </p:spPr>
      </p:sp>
      <p:sp>
        <p:nvSpPr>
          <p:cNvPr id="22" name="Shape 20"/>
          <p:cNvSpPr/>
          <p:nvPr/>
        </p:nvSpPr>
        <p:spPr>
          <a:xfrm>
            <a:off x="4279392" y="2212848"/>
            <a:ext cx="182880" cy="109728"/>
          </a:xfrm>
          <a:prstGeom prst="rect">
            <a:avLst/>
          </a:prstGeom>
          <a:solidFill>
            <a:srgbClr val="F6E9C4"/>
          </a:solidFill>
          <a:ln w="6350">
            <a:solidFill>
              <a:srgbClr val="9C7A2A"/>
            </a:solidFill>
            <a:prstDash val="solid"/>
          </a:ln>
        </p:spPr>
      </p:sp>
      <p:sp>
        <p:nvSpPr>
          <p:cNvPr id="23" name="Text 21"/>
          <p:cNvSpPr/>
          <p:nvPr/>
        </p:nvSpPr>
        <p:spPr>
          <a:xfrm>
            <a:off x="3657600" y="2377440"/>
            <a:ext cx="914400" cy="237744"/>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forceps</a:t>
            </a:r>
            <a:endParaRPr lang="en-US" sz="1000" dirty="0"/>
          </a:p>
        </p:txBody>
      </p:sp>
      <p:sp>
        <p:nvSpPr>
          <p:cNvPr id="24" name="Shape 22"/>
          <p:cNvSpPr/>
          <p:nvPr/>
        </p:nvSpPr>
        <p:spPr>
          <a:xfrm>
            <a:off x="4983480" y="1417320"/>
            <a:ext cx="365760" cy="731520"/>
          </a:xfrm>
          <a:prstGeom prst="line">
            <a:avLst/>
          </a:prstGeom>
          <a:noFill/>
          <a:ln w="38100">
            <a:solidFill>
              <a:srgbClr val="C99A5B"/>
            </a:solidFill>
            <a:prstDash val="solid"/>
          </a:ln>
        </p:spPr>
      </p:sp>
      <p:sp>
        <p:nvSpPr>
          <p:cNvPr id="25" name="Shape 23"/>
          <p:cNvSpPr/>
          <p:nvPr/>
        </p:nvSpPr>
        <p:spPr>
          <a:xfrm>
            <a:off x="5257800" y="2057400"/>
            <a:ext cx="219456" cy="274320"/>
          </a:xfrm>
          <a:prstGeom prst="ellipse">
            <a:avLst/>
          </a:prstGeom>
          <a:solidFill>
            <a:srgbClr val="FFFFFF"/>
          </a:solidFill>
          <a:ln w="12700">
            <a:solidFill>
              <a:srgbClr val="9AA3B0"/>
            </a:solidFill>
            <a:prstDash val="solid"/>
          </a:ln>
        </p:spPr>
      </p:sp>
      <p:sp>
        <p:nvSpPr>
          <p:cNvPr id="26" name="Text 24"/>
          <p:cNvSpPr/>
          <p:nvPr/>
        </p:nvSpPr>
        <p:spPr>
          <a:xfrm>
            <a:off x="4754880" y="2377440"/>
            <a:ext cx="109728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clean cotton bud (cheek)</a:t>
            </a:r>
            <a:endParaRPr lang="en-US" sz="1000" dirty="0"/>
          </a:p>
        </p:txBody>
      </p:sp>
      <p:sp>
        <p:nvSpPr>
          <p:cNvPr id="27" name="Text 25"/>
          <p:cNvSpPr/>
          <p:nvPr/>
        </p:nvSpPr>
        <p:spPr>
          <a:xfrm>
            <a:off x="640080" y="2971800"/>
            <a:ext cx="51206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Lowering the coverslip (side view)</a:t>
            </a:r>
            <a:endParaRPr lang="en-US" sz="1100" dirty="0"/>
          </a:p>
        </p:txBody>
      </p:sp>
      <p:sp>
        <p:nvSpPr>
          <p:cNvPr id="28" name="Shape 26"/>
          <p:cNvSpPr/>
          <p:nvPr/>
        </p:nvSpPr>
        <p:spPr>
          <a:xfrm>
            <a:off x="777240" y="4160520"/>
            <a:ext cx="4754880" cy="128016"/>
          </a:xfrm>
          <a:prstGeom prst="rect">
            <a:avLst/>
          </a:prstGeom>
          <a:solidFill>
            <a:srgbClr val="EAF3FA"/>
          </a:solidFill>
          <a:ln w="15875">
            <a:solidFill>
              <a:srgbClr val="5B9BD5"/>
            </a:solidFill>
            <a:prstDash val="solid"/>
          </a:ln>
        </p:spPr>
      </p:sp>
      <p:sp>
        <p:nvSpPr>
          <p:cNvPr id="29" name="Shape 27"/>
          <p:cNvSpPr/>
          <p:nvPr/>
        </p:nvSpPr>
        <p:spPr>
          <a:xfrm>
            <a:off x="1965960" y="4041648"/>
            <a:ext cx="914400" cy="182880"/>
          </a:xfrm>
          <a:prstGeom prst="ellipse">
            <a:avLst/>
          </a:prstGeom>
          <a:solidFill>
            <a:srgbClr val="D9A441">
              <a:alpha val="70000"/>
            </a:srgbClr>
          </a:solidFill>
          <a:ln w="9525">
            <a:solidFill>
              <a:srgbClr val="B07B2A"/>
            </a:solidFill>
            <a:prstDash val="solid"/>
          </a:ln>
        </p:spPr>
      </p:sp>
      <p:sp>
        <p:nvSpPr>
          <p:cNvPr id="30" name="Shape 28"/>
          <p:cNvSpPr/>
          <p:nvPr/>
        </p:nvSpPr>
        <p:spPr>
          <a:xfrm flipV="1">
            <a:off x="1938528" y="3496493"/>
            <a:ext cx="1325965" cy="618307"/>
          </a:xfrm>
          <a:prstGeom prst="line">
            <a:avLst/>
          </a:prstGeom>
          <a:noFill/>
          <a:ln w="50800">
            <a:solidFill>
              <a:srgbClr val="5B9BD5"/>
            </a:solidFill>
            <a:prstDash val="solid"/>
          </a:ln>
        </p:spPr>
      </p:sp>
      <p:sp>
        <p:nvSpPr>
          <p:cNvPr id="31" name="Shape 29"/>
          <p:cNvSpPr/>
          <p:nvPr/>
        </p:nvSpPr>
        <p:spPr>
          <a:xfrm flipV="1">
            <a:off x="3345859" y="3443196"/>
            <a:ext cx="1143000" cy="182880"/>
          </a:xfrm>
          <a:prstGeom prst="line">
            <a:avLst/>
          </a:prstGeom>
          <a:noFill/>
          <a:ln w="63500">
            <a:solidFill>
              <a:srgbClr val="C99A5B"/>
            </a:solidFill>
            <a:prstDash val="solid"/>
          </a:ln>
        </p:spPr>
      </p:sp>
      <p:sp>
        <p:nvSpPr>
          <p:cNvPr id="32" name="Shape 30"/>
          <p:cNvSpPr/>
          <p:nvPr/>
        </p:nvSpPr>
        <p:spPr>
          <a:xfrm flipV="1">
            <a:off x="2980099" y="3626076"/>
            <a:ext cx="365760" cy="27432"/>
          </a:xfrm>
          <a:prstGeom prst="line">
            <a:avLst/>
          </a:prstGeom>
          <a:noFill/>
          <a:ln w="19050">
            <a:solidFill>
              <a:srgbClr val="5A6275"/>
            </a:solidFill>
            <a:prstDash val="solid"/>
          </a:ln>
        </p:spPr>
      </p:sp>
      <p:sp>
        <p:nvSpPr>
          <p:cNvPr id="33" name="Text 31"/>
          <p:cNvSpPr/>
          <p:nvPr/>
        </p:nvSpPr>
        <p:spPr>
          <a:xfrm>
            <a:off x="3574459" y="3653508"/>
            <a:ext cx="1280160" cy="237744"/>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mounted needle</a:t>
            </a:r>
            <a:endParaRPr lang="en-US" sz="1000" dirty="0"/>
          </a:p>
        </p:txBody>
      </p:sp>
      <p:sp>
        <p:nvSpPr>
          <p:cNvPr id="34" name="Text 32"/>
          <p:cNvSpPr/>
          <p:nvPr/>
        </p:nvSpPr>
        <p:spPr>
          <a:xfrm>
            <a:off x="1280160" y="3429000"/>
            <a:ext cx="1005840" cy="237744"/>
          </a:xfrm>
          <a:prstGeom prst="rect">
            <a:avLst/>
          </a:prstGeom>
          <a:noFill/>
          <a:ln/>
        </p:spPr>
        <p:txBody>
          <a:bodyPr wrap="square" lIns="0" tIns="0" rIns="0" bIns="0" rtlCol="0" anchor="ctr"/>
          <a:lstStyle/>
          <a:p>
            <a:pPr algn="r" indent="0" marL="0">
              <a:buNone/>
            </a:pPr>
            <a:r>
              <a:rPr lang="en-US" sz="1000" b="1" dirty="0">
                <a:solidFill>
                  <a:srgbClr val="2B6CA8"/>
                </a:solidFill>
                <a:latin typeface="Calibri" pitchFamily="34" charset="0"/>
                <a:ea typeface="Calibri" pitchFamily="34" charset="-122"/>
                <a:cs typeface="Calibri" pitchFamily="34" charset="-120"/>
              </a:rPr>
              <a:t>coverslip</a:t>
            </a:r>
            <a:endParaRPr lang="en-US" sz="1000" dirty="0"/>
          </a:p>
        </p:txBody>
      </p:sp>
      <p:sp>
        <p:nvSpPr>
          <p:cNvPr id="35" name="Shape 33"/>
          <p:cNvSpPr/>
          <p:nvPr/>
        </p:nvSpPr>
        <p:spPr>
          <a:xfrm>
            <a:off x="2304288" y="3566160"/>
            <a:ext cx="210312" cy="274320"/>
          </a:xfrm>
          <a:prstGeom prst="line">
            <a:avLst/>
          </a:prstGeom>
          <a:noFill/>
          <a:ln w="9525">
            <a:solidFill>
              <a:srgbClr val="2B6CA8"/>
            </a:solidFill>
            <a:prstDash val="solid"/>
          </a:ln>
        </p:spPr>
      </p:sp>
      <p:sp>
        <p:nvSpPr>
          <p:cNvPr id="36" name="Text 34"/>
          <p:cNvSpPr/>
          <p:nvPr/>
        </p:nvSpPr>
        <p:spPr>
          <a:xfrm>
            <a:off x="777240" y="4343400"/>
            <a:ext cx="2011680" cy="237744"/>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drop of stain + specimen</a:t>
            </a:r>
            <a:endParaRPr lang="en-US" sz="1000" dirty="0"/>
          </a:p>
        </p:txBody>
      </p:sp>
      <p:sp>
        <p:nvSpPr>
          <p:cNvPr id="37" name="Text 35"/>
          <p:cNvSpPr/>
          <p:nvPr/>
        </p:nvSpPr>
        <p:spPr>
          <a:xfrm>
            <a:off x="777240" y="4663440"/>
            <a:ext cx="484632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Lower slowly from one edge so air is pushed out: </a:t>
            </a:r>
            <a:r>
              <a:rPr lang="en-US" sz="1050" b="1" dirty="0">
                <a:solidFill>
                  <a:srgbClr val="262B3A"/>
                </a:solidFill>
                <a:latin typeface="Calibri" pitchFamily="34" charset="0"/>
                <a:ea typeface="Calibri" pitchFamily="34" charset="-122"/>
                <a:cs typeface="Calibri" pitchFamily="34" charset="-120"/>
              </a:rPr>
              <a:t>no air bubbles</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38" name="Text 36"/>
          <p:cNvSpPr/>
          <p:nvPr/>
        </p:nvSpPr>
        <p:spPr>
          <a:xfrm>
            <a:off x="777240" y="4956048"/>
            <a:ext cx="484632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Iodine: nuclei go yellow-brown. Methylene blue: nuclei go dark blue.</a:t>
            </a:r>
            <a:endParaRPr lang="en-US" sz="1050" dirty="0"/>
          </a:p>
        </p:txBody>
      </p:sp>
      <p:sp>
        <p:nvSpPr>
          <p:cNvPr id="39" name="Shape 37"/>
          <p:cNvSpPr/>
          <p:nvPr/>
        </p:nvSpPr>
        <p:spPr>
          <a:xfrm>
            <a:off x="6217920" y="1188720"/>
            <a:ext cx="5562295" cy="2514600"/>
          </a:xfrm>
          <a:prstGeom prst="roundRect">
            <a:avLst>
              <a:gd name="adj" fmla="val 2182"/>
            </a:avLst>
          </a:prstGeom>
          <a:solidFill>
            <a:srgbClr val="F4FAF9"/>
          </a:solidFill>
          <a:ln w="9525">
            <a:solidFill>
              <a:srgbClr val="CFE0DE"/>
            </a:solidFill>
            <a:prstDash val="solid"/>
          </a:ln>
        </p:spPr>
      </p:sp>
      <p:sp>
        <p:nvSpPr>
          <p:cNvPr id="40" name="Text 3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41" name="Text 39"/>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Onion:</a:t>
            </a:r>
            <a:r>
              <a:rPr lang="en-US" sz="1050" dirty="0">
                <a:solidFill>
                  <a:srgbClr val="262B3A"/>
                </a:solidFill>
                <a:latin typeface="Calibri" pitchFamily="34" charset="0"/>
                <a:ea typeface="Calibri" pitchFamily="34" charset="-122"/>
                <a:cs typeface="Calibri" pitchFamily="34" charset="-120"/>
              </a:rPr>
              <a:t> peel a thin layer of </a:t>
            </a:r>
            <a:r>
              <a:rPr lang="en-US" sz="1050" b="1" dirty="0">
                <a:solidFill>
                  <a:srgbClr val="262B3A"/>
                </a:solidFill>
                <a:latin typeface="Calibri" pitchFamily="34" charset="0"/>
                <a:ea typeface="Calibri" pitchFamily="34" charset="-122"/>
                <a:cs typeface="Calibri" pitchFamily="34" charset="-120"/>
              </a:rPr>
              <a:t>epidermis</a:t>
            </a:r>
            <a:r>
              <a:rPr lang="en-US" sz="1050" dirty="0">
                <a:solidFill>
                  <a:srgbClr val="262B3A"/>
                </a:solidFill>
                <a:latin typeface="Calibri" pitchFamily="34" charset="0"/>
                <a:ea typeface="Calibri" pitchFamily="34" charset="-122"/>
                <a:cs typeface="Calibri" pitchFamily="34" charset="-120"/>
              </a:rPr>
              <a:t> from the inside of an onion scale with forceps. Lay it flat in a drop of </a:t>
            </a:r>
            <a:r>
              <a:rPr lang="en-US" sz="1050" b="1" dirty="0">
                <a:solidFill>
                  <a:srgbClr val="262B3A"/>
                </a:solidFill>
                <a:latin typeface="Calibri" pitchFamily="34" charset="0"/>
                <a:ea typeface="Calibri" pitchFamily="34" charset="-122"/>
                <a:cs typeface="Calibri" pitchFamily="34" charset="-120"/>
              </a:rPr>
              <a:t>iodine solution</a:t>
            </a:r>
            <a:r>
              <a:rPr lang="en-US" sz="1050" dirty="0">
                <a:solidFill>
                  <a:srgbClr val="262B3A"/>
                </a:solidFill>
                <a:latin typeface="Calibri" pitchFamily="34" charset="0"/>
                <a:ea typeface="Calibri" pitchFamily="34" charset="-122"/>
                <a:cs typeface="Calibri" pitchFamily="34" charset="-120"/>
              </a:rPr>
              <a:t> on a slide.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Cheek:</a:t>
            </a:r>
            <a:r>
              <a:rPr lang="en-US" sz="1050" dirty="0">
                <a:solidFill>
                  <a:srgbClr val="262B3A"/>
                </a:solidFill>
                <a:latin typeface="Calibri" pitchFamily="34" charset="0"/>
                <a:ea typeface="Calibri" pitchFamily="34" charset="-122"/>
                <a:cs typeface="Calibri" pitchFamily="34" charset="-120"/>
              </a:rPr>
              <a:t> gently rub the inside of your cheek with a </a:t>
            </a:r>
            <a:r>
              <a:rPr lang="en-US" sz="1050" b="1" dirty="0">
                <a:solidFill>
                  <a:srgbClr val="262B3A"/>
                </a:solidFill>
                <a:latin typeface="Calibri" pitchFamily="34" charset="0"/>
                <a:ea typeface="Calibri" pitchFamily="34" charset="-122"/>
                <a:cs typeface="Calibri" pitchFamily="34" charset="-120"/>
              </a:rPr>
              <a:t>clean cotton bud</a:t>
            </a:r>
            <a:r>
              <a:rPr lang="en-US" sz="1050" dirty="0">
                <a:solidFill>
                  <a:srgbClr val="262B3A"/>
                </a:solidFill>
                <a:latin typeface="Calibri" pitchFamily="34" charset="0"/>
                <a:ea typeface="Calibri" pitchFamily="34" charset="-122"/>
                <a:cs typeface="Calibri" pitchFamily="34" charset="-120"/>
              </a:rPr>
              <a:t>. Smear it on a slide and add a drop of </a:t>
            </a:r>
            <a:r>
              <a:rPr lang="en-US" sz="1050" b="1" dirty="0">
                <a:solidFill>
                  <a:srgbClr val="262B3A"/>
                </a:solidFill>
                <a:latin typeface="Calibri" pitchFamily="34" charset="0"/>
                <a:ea typeface="Calibri" pitchFamily="34" charset="-122"/>
                <a:cs typeface="Calibri" pitchFamily="34" charset="-120"/>
              </a:rPr>
              <a:t>methylene blue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Lower a </a:t>
            </a:r>
            <a:r>
              <a:rPr lang="en-US" sz="1050" b="1" dirty="0">
                <a:solidFill>
                  <a:srgbClr val="262B3A"/>
                </a:solidFill>
                <a:latin typeface="Calibri" pitchFamily="34" charset="0"/>
                <a:ea typeface="Calibri" pitchFamily="34" charset="-122"/>
                <a:cs typeface="Calibri" pitchFamily="34" charset="-120"/>
              </a:rPr>
              <a:t>coverslip</a:t>
            </a:r>
            <a:r>
              <a:rPr lang="en-US" sz="1050" dirty="0">
                <a:solidFill>
                  <a:srgbClr val="262B3A"/>
                </a:solidFill>
                <a:latin typeface="Calibri" pitchFamily="34" charset="0"/>
                <a:ea typeface="Calibri" pitchFamily="34" charset="-122"/>
                <a:cs typeface="Calibri" pitchFamily="34" charset="-120"/>
              </a:rPr>
              <a:t> at an angle with a mounted needle. Blot excess stain with a paper towel.</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stain</a:t>
            </a:r>
            <a:r>
              <a:rPr lang="en-US" sz="1050" dirty="0">
                <a:solidFill>
                  <a:srgbClr val="262B3A"/>
                </a:solidFill>
                <a:latin typeface="Calibri" pitchFamily="34" charset="0"/>
                <a:ea typeface="Calibri" pitchFamily="34" charset="-122"/>
                <a:cs typeface="Calibri" pitchFamily="34" charset="-120"/>
              </a:rPr>
              <a:t> makes the transparent cells and their nuclei visible.</a:t>
            </a:r>
            <a:endParaRPr lang="en-US" sz="1050" dirty="0"/>
          </a:p>
        </p:txBody>
      </p:sp>
      <p:sp>
        <p:nvSpPr>
          <p:cNvPr id="42" name="Shape 40"/>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43" name="Text 41"/>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Safety</a:t>
            </a:r>
            <a:endParaRPr lang="en-US" sz="1300" dirty="0"/>
          </a:p>
        </p:txBody>
      </p:sp>
      <p:sp>
        <p:nvSpPr>
          <p:cNvPr id="44" name="Text 42"/>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Eyes   </a:t>
            </a:r>
            <a:r>
              <a:rPr lang="en-US" sz="1050" dirty="0">
                <a:solidFill>
                  <a:srgbClr val="262B3A"/>
                </a:solidFill>
                <a:latin typeface="Calibri" pitchFamily="34" charset="0"/>
                <a:ea typeface="Calibri" pitchFamily="34" charset="-122"/>
                <a:cs typeface="Calibri" pitchFamily="34" charset="-120"/>
              </a:rPr>
              <a:t>wear eye protection: iodine and methylene blue are irritants and stain skin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Cheek cells   </a:t>
            </a:r>
            <a:r>
              <a:rPr lang="en-US" sz="1050" dirty="0">
                <a:solidFill>
                  <a:srgbClr val="262B3A"/>
                </a:solidFill>
                <a:latin typeface="Calibri" pitchFamily="34" charset="0"/>
                <a:ea typeface="Calibri" pitchFamily="34" charset="-122"/>
                <a:cs typeface="Calibri" pitchFamily="34" charset="-120"/>
              </a:rPr>
              <a:t>use only your own cells; a new cotton bud; put used buds and slides in disinfectant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Glass   </a:t>
            </a:r>
            <a:r>
              <a:rPr lang="en-US" sz="1050" dirty="0">
                <a:solidFill>
                  <a:srgbClr val="262B3A"/>
                </a:solidFill>
                <a:latin typeface="Calibri" pitchFamily="34" charset="0"/>
                <a:ea typeface="Calibri" pitchFamily="34" charset="-122"/>
                <a:cs typeface="Calibri" pitchFamily="34" charset="-120"/>
              </a:rPr>
              <a:t>handle slides and coverslips carefully; report breakages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Light   </a:t>
            </a:r>
            <a:r>
              <a:rPr lang="en-US" sz="1050" b="1" dirty="0">
                <a:solidFill>
                  <a:srgbClr val="C8414C"/>
                </a:solidFill>
                <a:latin typeface="Calibri" pitchFamily="34" charset="0"/>
                <a:ea typeface="Calibri" pitchFamily="34" charset="-122"/>
                <a:cs typeface="Calibri" pitchFamily="34" charset="-120"/>
              </a:rPr>
              <a:t>never reflect direct sunlight into the microscope</a:t>
            </a:r>
            <a:endParaRPr lang="en-US" sz="1050" dirty="0"/>
          </a:p>
        </p:txBody>
      </p:sp>
      <p:sp>
        <p:nvSpPr>
          <p:cNvPr id="45" name="Shape 43"/>
          <p:cNvSpPr/>
          <p:nvPr/>
        </p:nvSpPr>
        <p:spPr>
          <a:xfrm>
            <a:off x="411480" y="5833872"/>
            <a:ext cx="11368735" cy="530352"/>
          </a:xfrm>
          <a:prstGeom prst="rect">
            <a:avLst/>
          </a:prstGeom>
          <a:solidFill>
            <a:srgbClr val="FFF4E0"/>
          </a:solidFill>
          <a:ln w="6350">
            <a:solidFill>
              <a:srgbClr val="F1D9A8"/>
            </a:solidFill>
            <a:prstDash val="solid"/>
          </a:ln>
        </p:spPr>
      </p:sp>
      <p:sp>
        <p:nvSpPr>
          <p:cNvPr id="46" name="Shape 44"/>
          <p:cNvSpPr/>
          <p:nvPr/>
        </p:nvSpPr>
        <p:spPr>
          <a:xfrm>
            <a:off x="411480" y="5833872"/>
            <a:ext cx="82296" cy="530352"/>
          </a:xfrm>
          <a:prstGeom prst="rect">
            <a:avLst/>
          </a:prstGeom>
          <a:solidFill>
            <a:srgbClr val="E39A2F"/>
          </a:solidFill>
          <a:ln w="12700">
            <a:solidFill>
              <a:srgbClr val="E39A2F"/>
            </a:solidFill>
            <a:prstDash val="solid"/>
          </a:ln>
        </p:spPr>
      </p:sp>
      <p:sp>
        <p:nvSpPr>
          <p:cNvPr id="47" name="Text 4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the layer of onion epidermis be only </a:t>
            </a:r>
            <a:r>
              <a:rPr lang="en-US" sz="1150" b="1" dirty="0">
                <a:solidFill>
                  <a:srgbClr val="262B3A"/>
                </a:solidFill>
                <a:latin typeface="Calibri" pitchFamily="34" charset="0"/>
                <a:ea typeface="Calibri" pitchFamily="34" charset="-122"/>
                <a:cs typeface="Calibri" pitchFamily="34" charset="-120"/>
              </a:rPr>
              <a:t>one cell thick</a:t>
            </a:r>
            <a:r>
              <a:rPr lang="en-US" sz="1150" dirty="0">
                <a:solidFill>
                  <a:srgbClr val="262B3A"/>
                </a:solidFill>
                <a:latin typeface="Calibri" pitchFamily="34" charset="0"/>
                <a:ea typeface="Calibri" pitchFamily="34" charset="-122"/>
                <a:cs typeface="Calibri" pitchFamily="34" charset="-120"/>
              </a:rPr>
              <a:t>? Why is a stain added?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PAG B1: viewing and drawing cells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Practical activity group B1 microscopy • focus on low power first, then draw what you see</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B1</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B1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onion epidermis at ×100 (left) and a good biological drawing (right)</a:t>
            </a:r>
            <a:endParaRPr lang="en-US" sz="1000" dirty="0"/>
          </a:p>
        </p:txBody>
      </p:sp>
      <p:sp>
        <p:nvSpPr>
          <p:cNvPr id="12" name="Text 10"/>
          <p:cNvSpPr/>
          <p:nvPr/>
        </p:nvSpPr>
        <p:spPr>
          <a:xfrm>
            <a:off x="548640" y="1280160"/>
            <a:ext cx="2651760" cy="256032"/>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What you see (×100)</a:t>
            </a:r>
            <a:endParaRPr lang="en-US" sz="1050" dirty="0"/>
          </a:p>
        </p:txBody>
      </p:sp>
      <p:sp>
        <p:nvSpPr>
          <p:cNvPr id="13" name="Shape 11"/>
          <p:cNvSpPr/>
          <p:nvPr/>
        </p:nvSpPr>
        <p:spPr>
          <a:xfrm>
            <a:off x="493776" y="1545336"/>
            <a:ext cx="2761488" cy="2761488"/>
          </a:xfrm>
          <a:prstGeom prst="ellipse">
            <a:avLst/>
          </a:prstGeom>
          <a:solidFill>
            <a:srgbClr val="2F3542"/>
          </a:solidFill>
          <a:ln w="9525">
            <a:solidFill>
              <a:srgbClr val="2F3542"/>
            </a:solidFill>
            <a:prstDash val="solid"/>
          </a:ln>
        </p:spPr>
      </p:sp>
      <p:sp>
        <p:nvSpPr>
          <p:cNvPr id="14" name="Shape 12"/>
          <p:cNvSpPr/>
          <p:nvPr/>
        </p:nvSpPr>
        <p:spPr>
          <a:xfrm>
            <a:off x="548640" y="1600200"/>
            <a:ext cx="2651760" cy="2651760"/>
          </a:xfrm>
          <a:prstGeom prst="ellipse">
            <a:avLst/>
          </a:prstGeom>
          <a:solidFill>
            <a:srgbClr val="FBF8EE"/>
          </a:solidFill>
          <a:ln w="6350">
            <a:solidFill>
              <a:srgbClr val="2F3542"/>
            </a:solidFill>
            <a:prstDash val="solid"/>
          </a:ln>
        </p:spPr>
      </p:sp>
      <p:sp>
        <p:nvSpPr>
          <p:cNvPr id="15" name="Shape 13"/>
          <p:cNvSpPr/>
          <p:nvPr/>
        </p:nvSpPr>
        <p:spPr>
          <a:xfrm>
            <a:off x="1216152" y="1901952"/>
            <a:ext cx="658368" cy="292608"/>
          </a:xfrm>
          <a:prstGeom prst="rect">
            <a:avLst/>
          </a:prstGeom>
          <a:solidFill>
            <a:srgbClr val="F6E9C4"/>
          </a:solidFill>
          <a:ln w="15875">
            <a:solidFill>
              <a:srgbClr val="9C7A2A"/>
            </a:solidFill>
            <a:prstDash val="solid"/>
          </a:ln>
        </p:spPr>
      </p:sp>
      <p:sp>
        <p:nvSpPr>
          <p:cNvPr id="16" name="Shape 14"/>
          <p:cNvSpPr/>
          <p:nvPr/>
        </p:nvSpPr>
        <p:spPr>
          <a:xfrm>
            <a:off x="1635862" y="2007108"/>
            <a:ext cx="82296" cy="82296"/>
          </a:xfrm>
          <a:prstGeom prst="ellipse">
            <a:avLst/>
          </a:prstGeom>
          <a:solidFill>
            <a:srgbClr val="B07B2A"/>
          </a:solidFill>
          <a:ln w="9525">
            <a:solidFill>
              <a:srgbClr val="6E4A14"/>
            </a:solidFill>
            <a:prstDash val="solid"/>
          </a:ln>
        </p:spPr>
      </p:sp>
      <p:sp>
        <p:nvSpPr>
          <p:cNvPr id="17" name="Shape 15"/>
          <p:cNvSpPr/>
          <p:nvPr/>
        </p:nvSpPr>
        <p:spPr>
          <a:xfrm>
            <a:off x="1874520" y="1901952"/>
            <a:ext cx="658368" cy="292608"/>
          </a:xfrm>
          <a:prstGeom prst="rect">
            <a:avLst/>
          </a:prstGeom>
          <a:solidFill>
            <a:srgbClr val="F6E9C4"/>
          </a:solidFill>
          <a:ln w="15875">
            <a:solidFill>
              <a:srgbClr val="9C7A2A"/>
            </a:solidFill>
            <a:prstDash val="solid"/>
          </a:ln>
        </p:spPr>
      </p:sp>
      <p:sp>
        <p:nvSpPr>
          <p:cNvPr id="18" name="Shape 16"/>
          <p:cNvSpPr/>
          <p:nvPr/>
        </p:nvSpPr>
        <p:spPr>
          <a:xfrm>
            <a:off x="2030882" y="2007108"/>
            <a:ext cx="82296" cy="82296"/>
          </a:xfrm>
          <a:prstGeom prst="ellipse">
            <a:avLst/>
          </a:prstGeom>
          <a:solidFill>
            <a:srgbClr val="B07B2A"/>
          </a:solidFill>
          <a:ln w="9525">
            <a:solidFill>
              <a:srgbClr val="6E4A14"/>
            </a:solidFill>
            <a:prstDash val="solid"/>
          </a:ln>
        </p:spPr>
      </p:sp>
      <p:sp>
        <p:nvSpPr>
          <p:cNvPr id="19" name="Shape 17"/>
          <p:cNvSpPr/>
          <p:nvPr/>
        </p:nvSpPr>
        <p:spPr>
          <a:xfrm>
            <a:off x="886968" y="2194560"/>
            <a:ext cx="658368" cy="292608"/>
          </a:xfrm>
          <a:prstGeom prst="rect">
            <a:avLst/>
          </a:prstGeom>
          <a:solidFill>
            <a:srgbClr val="F6E9C4"/>
          </a:solidFill>
          <a:ln w="15875">
            <a:solidFill>
              <a:srgbClr val="9C7A2A"/>
            </a:solidFill>
            <a:prstDash val="solid"/>
          </a:ln>
        </p:spPr>
      </p:sp>
      <p:sp>
        <p:nvSpPr>
          <p:cNvPr id="20" name="Shape 18"/>
          <p:cNvSpPr/>
          <p:nvPr/>
        </p:nvSpPr>
        <p:spPr>
          <a:xfrm>
            <a:off x="1043330" y="2299716"/>
            <a:ext cx="82296" cy="82296"/>
          </a:xfrm>
          <a:prstGeom prst="ellipse">
            <a:avLst/>
          </a:prstGeom>
          <a:solidFill>
            <a:srgbClr val="B07B2A"/>
          </a:solidFill>
          <a:ln w="9525">
            <a:solidFill>
              <a:srgbClr val="6E4A14"/>
            </a:solidFill>
            <a:prstDash val="solid"/>
          </a:ln>
        </p:spPr>
      </p:sp>
      <p:sp>
        <p:nvSpPr>
          <p:cNvPr id="21" name="Shape 19"/>
          <p:cNvSpPr/>
          <p:nvPr/>
        </p:nvSpPr>
        <p:spPr>
          <a:xfrm>
            <a:off x="1545336" y="2194560"/>
            <a:ext cx="658368" cy="292608"/>
          </a:xfrm>
          <a:prstGeom prst="rect">
            <a:avLst/>
          </a:prstGeom>
          <a:solidFill>
            <a:srgbClr val="F6E9C4"/>
          </a:solidFill>
          <a:ln w="15875">
            <a:solidFill>
              <a:srgbClr val="9C7A2A"/>
            </a:solidFill>
            <a:prstDash val="solid"/>
          </a:ln>
        </p:spPr>
      </p:sp>
      <p:sp>
        <p:nvSpPr>
          <p:cNvPr id="22" name="Shape 20"/>
          <p:cNvSpPr/>
          <p:nvPr/>
        </p:nvSpPr>
        <p:spPr>
          <a:xfrm>
            <a:off x="1833372" y="2299716"/>
            <a:ext cx="82296" cy="82296"/>
          </a:xfrm>
          <a:prstGeom prst="ellipse">
            <a:avLst/>
          </a:prstGeom>
          <a:solidFill>
            <a:srgbClr val="B07B2A"/>
          </a:solidFill>
          <a:ln w="9525">
            <a:solidFill>
              <a:srgbClr val="6E4A14"/>
            </a:solidFill>
            <a:prstDash val="solid"/>
          </a:ln>
        </p:spPr>
      </p:sp>
      <p:sp>
        <p:nvSpPr>
          <p:cNvPr id="23" name="Shape 21"/>
          <p:cNvSpPr/>
          <p:nvPr/>
        </p:nvSpPr>
        <p:spPr>
          <a:xfrm>
            <a:off x="2203704" y="2194560"/>
            <a:ext cx="658368" cy="292608"/>
          </a:xfrm>
          <a:prstGeom prst="rect">
            <a:avLst/>
          </a:prstGeom>
          <a:solidFill>
            <a:srgbClr val="F6E9C4"/>
          </a:solidFill>
          <a:ln w="15875">
            <a:solidFill>
              <a:srgbClr val="9C7A2A"/>
            </a:solidFill>
            <a:prstDash val="solid"/>
          </a:ln>
        </p:spPr>
      </p:sp>
      <p:sp>
        <p:nvSpPr>
          <p:cNvPr id="24" name="Shape 22"/>
          <p:cNvSpPr/>
          <p:nvPr/>
        </p:nvSpPr>
        <p:spPr>
          <a:xfrm>
            <a:off x="2623414" y="2299716"/>
            <a:ext cx="82296" cy="82296"/>
          </a:xfrm>
          <a:prstGeom prst="ellipse">
            <a:avLst/>
          </a:prstGeom>
          <a:solidFill>
            <a:srgbClr val="B07B2A"/>
          </a:solidFill>
          <a:ln w="9525">
            <a:solidFill>
              <a:srgbClr val="6E4A14"/>
            </a:solidFill>
            <a:prstDash val="solid"/>
          </a:ln>
        </p:spPr>
      </p:sp>
      <p:sp>
        <p:nvSpPr>
          <p:cNvPr id="25" name="Shape 23"/>
          <p:cNvSpPr/>
          <p:nvPr/>
        </p:nvSpPr>
        <p:spPr>
          <a:xfrm>
            <a:off x="1216152" y="2487168"/>
            <a:ext cx="658368" cy="292608"/>
          </a:xfrm>
          <a:prstGeom prst="rect">
            <a:avLst/>
          </a:prstGeom>
          <a:solidFill>
            <a:srgbClr val="F6E9C4"/>
          </a:solidFill>
          <a:ln w="15875">
            <a:solidFill>
              <a:srgbClr val="9C7A2A"/>
            </a:solidFill>
            <a:prstDash val="solid"/>
          </a:ln>
        </p:spPr>
      </p:sp>
      <p:sp>
        <p:nvSpPr>
          <p:cNvPr id="26" name="Shape 24"/>
          <p:cNvSpPr/>
          <p:nvPr/>
        </p:nvSpPr>
        <p:spPr>
          <a:xfrm>
            <a:off x="1504188" y="2592324"/>
            <a:ext cx="82296" cy="82296"/>
          </a:xfrm>
          <a:prstGeom prst="ellipse">
            <a:avLst/>
          </a:prstGeom>
          <a:solidFill>
            <a:srgbClr val="B07B2A"/>
          </a:solidFill>
          <a:ln w="9525">
            <a:solidFill>
              <a:srgbClr val="6E4A14"/>
            </a:solidFill>
            <a:prstDash val="solid"/>
          </a:ln>
        </p:spPr>
      </p:sp>
      <p:sp>
        <p:nvSpPr>
          <p:cNvPr id="27" name="Shape 25"/>
          <p:cNvSpPr/>
          <p:nvPr/>
        </p:nvSpPr>
        <p:spPr>
          <a:xfrm>
            <a:off x="1874520" y="2487168"/>
            <a:ext cx="658368" cy="292608"/>
          </a:xfrm>
          <a:prstGeom prst="rect">
            <a:avLst/>
          </a:prstGeom>
          <a:solidFill>
            <a:srgbClr val="F6E9C4"/>
          </a:solidFill>
          <a:ln w="15875">
            <a:solidFill>
              <a:srgbClr val="9C7A2A"/>
            </a:solidFill>
            <a:prstDash val="solid"/>
          </a:ln>
        </p:spPr>
      </p:sp>
      <p:sp>
        <p:nvSpPr>
          <p:cNvPr id="28" name="Shape 26"/>
          <p:cNvSpPr/>
          <p:nvPr/>
        </p:nvSpPr>
        <p:spPr>
          <a:xfrm>
            <a:off x="2294230" y="2592324"/>
            <a:ext cx="82296" cy="82296"/>
          </a:xfrm>
          <a:prstGeom prst="ellipse">
            <a:avLst/>
          </a:prstGeom>
          <a:solidFill>
            <a:srgbClr val="B07B2A"/>
          </a:solidFill>
          <a:ln w="9525">
            <a:solidFill>
              <a:srgbClr val="6E4A14"/>
            </a:solidFill>
            <a:prstDash val="solid"/>
          </a:ln>
        </p:spPr>
      </p:sp>
      <p:sp>
        <p:nvSpPr>
          <p:cNvPr id="29" name="Shape 27"/>
          <p:cNvSpPr/>
          <p:nvPr/>
        </p:nvSpPr>
        <p:spPr>
          <a:xfrm>
            <a:off x="886968" y="2779776"/>
            <a:ext cx="658368" cy="292608"/>
          </a:xfrm>
          <a:prstGeom prst="rect">
            <a:avLst/>
          </a:prstGeom>
          <a:solidFill>
            <a:srgbClr val="F6E9C4"/>
          </a:solidFill>
          <a:ln w="15875">
            <a:solidFill>
              <a:srgbClr val="9C7A2A"/>
            </a:solidFill>
            <a:prstDash val="solid"/>
          </a:ln>
        </p:spPr>
      </p:sp>
      <p:sp>
        <p:nvSpPr>
          <p:cNvPr id="30" name="Shape 28"/>
          <p:cNvSpPr/>
          <p:nvPr/>
        </p:nvSpPr>
        <p:spPr>
          <a:xfrm>
            <a:off x="1306678" y="2884932"/>
            <a:ext cx="82296" cy="82296"/>
          </a:xfrm>
          <a:prstGeom prst="ellipse">
            <a:avLst/>
          </a:prstGeom>
          <a:solidFill>
            <a:srgbClr val="B07B2A"/>
          </a:solidFill>
          <a:ln w="9525">
            <a:solidFill>
              <a:srgbClr val="6E4A14"/>
            </a:solidFill>
            <a:prstDash val="solid"/>
          </a:ln>
        </p:spPr>
      </p:sp>
      <p:sp>
        <p:nvSpPr>
          <p:cNvPr id="31" name="Shape 29"/>
          <p:cNvSpPr/>
          <p:nvPr/>
        </p:nvSpPr>
        <p:spPr>
          <a:xfrm>
            <a:off x="1545336" y="2779776"/>
            <a:ext cx="658368" cy="292608"/>
          </a:xfrm>
          <a:prstGeom prst="rect">
            <a:avLst/>
          </a:prstGeom>
          <a:solidFill>
            <a:srgbClr val="F6E9C4"/>
          </a:solidFill>
          <a:ln w="15875">
            <a:solidFill>
              <a:srgbClr val="9C7A2A"/>
            </a:solidFill>
            <a:prstDash val="solid"/>
          </a:ln>
        </p:spPr>
      </p:sp>
      <p:sp>
        <p:nvSpPr>
          <p:cNvPr id="32" name="Shape 30"/>
          <p:cNvSpPr/>
          <p:nvPr/>
        </p:nvSpPr>
        <p:spPr>
          <a:xfrm>
            <a:off x="1701698" y="2884932"/>
            <a:ext cx="82296" cy="82296"/>
          </a:xfrm>
          <a:prstGeom prst="ellipse">
            <a:avLst/>
          </a:prstGeom>
          <a:solidFill>
            <a:srgbClr val="B07B2A"/>
          </a:solidFill>
          <a:ln w="9525">
            <a:solidFill>
              <a:srgbClr val="6E4A14"/>
            </a:solidFill>
            <a:prstDash val="solid"/>
          </a:ln>
        </p:spPr>
      </p:sp>
      <p:sp>
        <p:nvSpPr>
          <p:cNvPr id="33" name="Shape 31"/>
          <p:cNvSpPr/>
          <p:nvPr/>
        </p:nvSpPr>
        <p:spPr>
          <a:xfrm>
            <a:off x="2203704" y="2779776"/>
            <a:ext cx="658368" cy="292608"/>
          </a:xfrm>
          <a:prstGeom prst="rect">
            <a:avLst/>
          </a:prstGeom>
          <a:solidFill>
            <a:srgbClr val="F6E9C4"/>
          </a:solidFill>
          <a:ln w="15875">
            <a:solidFill>
              <a:srgbClr val="9C7A2A"/>
            </a:solidFill>
            <a:prstDash val="solid"/>
          </a:ln>
        </p:spPr>
      </p:sp>
      <p:sp>
        <p:nvSpPr>
          <p:cNvPr id="34" name="Shape 32"/>
          <p:cNvSpPr/>
          <p:nvPr/>
        </p:nvSpPr>
        <p:spPr>
          <a:xfrm>
            <a:off x="2491740" y="2884932"/>
            <a:ext cx="82296" cy="82296"/>
          </a:xfrm>
          <a:prstGeom prst="ellipse">
            <a:avLst/>
          </a:prstGeom>
          <a:solidFill>
            <a:srgbClr val="B07B2A"/>
          </a:solidFill>
          <a:ln w="9525">
            <a:solidFill>
              <a:srgbClr val="6E4A14"/>
            </a:solidFill>
            <a:prstDash val="solid"/>
          </a:ln>
        </p:spPr>
      </p:sp>
      <p:sp>
        <p:nvSpPr>
          <p:cNvPr id="35" name="Shape 33"/>
          <p:cNvSpPr/>
          <p:nvPr/>
        </p:nvSpPr>
        <p:spPr>
          <a:xfrm>
            <a:off x="1216152" y="3072384"/>
            <a:ext cx="658368" cy="292608"/>
          </a:xfrm>
          <a:prstGeom prst="rect">
            <a:avLst/>
          </a:prstGeom>
          <a:solidFill>
            <a:srgbClr val="F6E9C4"/>
          </a:solidFill>
          <a:ln w="15875">
            <a:solidFill>
              <a:srgbClr val="9C7A2A"/>
            </a:solidFill>
            <a:prstDash val="solid"/>
          </a:ln>
        </p:spPr>
      </p:sp>
      <p:sp>
        <p:nvSpPr>
          <p:cNvPr id="36" name="Shape 34"/>
          <p:cNvSpPr/>
          <p:nvPr/>
        </p:nvSpPr>
        <p:spPr>
          <a:xfrm>
            <a:off x="1372514" y="3177540"/>
            <a:ext cx="82296" cy="82296"/>
          </a:xfrm>
          <a:prstGeom prst="ellipse">
            <a:avLst/>
          </a:prstGeom>
          <a:solidFill>
            <a:srgbClr val="B07B2A"/>
          </a:solidFill>
          <a:ln w="9525">
            <a:solidFill>
              <a:srgbClr val="6E4A14"/>
            </a:solidFill>
            <a:prstDash val="solid"/>
          </a:ln>
        </p:spPr>
      </p:sp>
      <p:sp>
        <p:nvSpPr>
          <p:cNvPr id="37" name="Shape 35"/>
          <p:cNvSpPr/>
          <p:nvPr/>
        </p:nvSpPr>
        <p:spPr>
          <a:xfrm>
            <a:off x="1874520" y="3072384"/>
            <a:ext cx="658368" cy="292608"/>
          </a:xfrm>
          <a:prstGeom prst="rect">
            <a:avLst/>
          </a:prstGeom>
          <a:solidFill>
            <a:srgbClr val="F6E9C4"/>
          </a:solidFill>
          <a:ln w="15875">
            <a:solidFill>
              <a:srgbClr val="9C7A2A"/>
            </a:solidFill>
            <a:prstDash val="solid"/>
          </a:ln>
        </p:spPr>
      </p:sp>
      <p:sp>
        <p:nvSpPr>
          <p:cNvPr id="38" name="Shape 36"/>
          <p:cNvSpPr/>
          <p:nvPr/>
        </p:nvSpPr>
        <p:spPr>
          <a:xfrm>
            <a:off x="2162556" y="3177540"/>
            <a:ext cx="82296" cy="82296"/>
          </a:xfrm>
          <a:prstGeom prst="ellipse">
            <a:avLst/>
          </a:prstGeom>
          <a:solidFill>
            <a:srgbClr val="B07B2A"/>
          </a:solidFill>
          <a:ln w="9525">
            <a:solidFill>
              <a:srgbClr val="6E4A14"/>
            </a:solidFill>
            <a:prstDash val="solid"/>
          </a:ln>
        </p:spPr>
      </p:sp>
      <p:sp>
        <p:nvSpPr>
          <p:cNvPr id="39" name="Shape 37"/>
          <p:cNvSpPr/>
          <p:nvPr/>
        </p:nvSpPr>
        <p:spPr>
          <a:xfrm>
            <a:off x="886968" y="3364992"/>
            <a:ext cx="658368" cy="292608"/>
          </a:xfrm>
          <a:prstGeom prst="rect">
            <a:avLst/>
          </a:prstGeom>
          <a:solidFill>
            <a:srgbClr val="F6E9C4"/>
          </a:solidFill>
          <a:ln w="15875">
            <a:solidFill>
              <a:srgbClr val="9C7A2A"/>
            </a:solidFill>
            <a:prstDash val="solid"/>
          </a:ln>
        </p:spPr>
      </p:sp>
      <p:sp>
        <p:nvSpPr>
          <p:cNvPr id="40" name="Shape 38"/>
          <p:cNvSpPr/>
          <p:nvPr/>
        </p:nvSpPr>
        <p:spPr>
          <a:xfrm>
            <a:off x="1175004" y="3470148"/>
            <a:ext cx="82296" cy="82296"/>
          </a:xfrm>
          <a:prstGeom prst="ellipse">
            <a:avLst/>
          </a:prstGeom>
          <a:solidFill>
            <a:srgbClr val="B07B2A"/>
          </a:solidFill>
          <a:ln w="9525">
            <a:solidFill>
              <a:srgbClr val="6E4A14"/>
            </a:solidFill>
            <a:prstDash val="solid"/>
          </a:ln>
        </p:spPr>
      </p:sp>
      <p:sp>
        <p:nvSpPr>
          <p:cNvPr id="41" name="Shape 39"/>
          <p:cNvSpPr/>
          <p:nvPr/>
        </p:nvSpPr>
        <p:spPr>
          <a:xfrm>
            <a:off x="1545336" y="3364992"/>
            <a:ext cx="658368" cy="292608"/>
          </a:xfrm>
          <a:prstGeom prst="rect">
            <a:avLst/>
          </a:prstGeom>
          <a:solidFill>
            <a:srgbClr val="F6E9C4"/>
          </a:solidFill>
          <a:ln w="15875">
            <a:solidFill>
              <a:srgbClr val="9C7A2A"/>
            </a:solidFill>
            <a:prstDash val="solid"/>
          </a:ln>
        </p:spPr>
      </p:sp>
      <p:sp>
        <p:nvSpPr>
          <p:cNvPr id="42" name="Shape 40"/>
          <p:cNvSpPr/>
          <p:nvPr/>
        </p:nvSpPr>
        <p:spPr>
          <a:xfrm>
            <a:off x="1965046" y="3470148"/>
            <a:ext cx="82296" cy="82296"/>
          </a:xfrm>
          <a:prstGeom prst="ellipse">
            <a:avLst/>
          </a:prstGeom>
          <a:solidFill>
            <a:srgbClr val="B07B2A"/>
          </a:solidFill>
          <a:ln w="9525">
            <a:solidFill>
              <a:srgbClr val="6E4A14"/>
            </a:solidFill>
            <a:prstDash val="solid"/>
          </a:ln>
        </p:spPr>
      </p:sp>
      <p:sp>
        <p:nvSpPr>
          <p:cNvPr id="43" name="Shape 41"/>
          <p:cNvSpPr/>
          <p:nvPr/>
        </p:nvSpPr>
        <p:spPr>
          <a:xfrm>
            <a:off x="2203704" y="3364992"/>
            <a:ext cx="658368" cy="292608"/>
          </a:xfrm>
          <a:prstGeom prst="rect">
            <a:avLst/>
          </a:prstGeom>
          <a:solidFill>
            <a:srgbClr val="F6E9C4"/>
          </a:solidFill>
          <a:ln w="15875">
            <a:solidFill>
              <a:srgbClr val="9C7A2A"/>
            </a:solidFill>
            <a:prstDash val="solid"/>
          </a:ln>
        </p:spPr>
      </p:sp>
      <p:sp>
        <p:nvSpPr>
          <p:cNvPr id="44" name="Shape 42"/>
          <p:cNvSpPr/>
          <p:nvPr/>
        </p:nvSpPr>
        <p:spPr>
          <a:xfrm>
            <a:off x="2360066" y="3470148"/>
            <a:ext cx="82296" cy="82296"/>
          </a:xfrm>
          <a:prstGeom prst="ellipse">
            <a:avLst/>
          </a:prstGeom>
          <a:solidFill>
            <a:srgbClr val="B07B2A"/>
          </a:solidFill>
          <a:ln w="9525">
            <a:solidFill>
              <a:srgbClr val="6E4A14"/>
            </a:solidFill>
            <a:prstDash val="solid"/>
          </a:ln>
        </p:spPr>
      </p:sp>
      <p:sp>
        <p:nvSpPr>
          <p:cNvPr id="45" name="Shape 43"/>
          <p:cNvSpPr/>
          <p:nvPr/>
        </p:nvSpPr>
        <p:spPr>
          <a:xfrm>
            <a:off x="1216152" y="3657600"/>
            <a:ext cx="658368" cy="292608"/>
          </a:xfrm>
          <a:prstGeom prst="rect">
            <a:avLst/>
          </a:prstGeom>
          <a:solidFill>
            <a:srgbClr val="F6E9C4"/>
          </a:solidFill>
          <a:ln w="15875">
            <a:solidFill>
              <a:srgbClr val="9C7A2A"/>
            </a:solidFill>
            <a:prstDash val="solid"/>
          </a:ln>
        </p:spPr>
      </p:sp>
      <p:sp>
        <p:nvSpPr>
          <p:cNvPr id="46" name="Shape 44"/>
          <p:cNvSpPr/>
          <p:nvPr/>
        </p:nvSpPr>
        <p:spPr>
          <a:xfrm>
            <a:off x="1635862" y="3762756"/>
            <a:ext cx="82296" cy="82296"/>
          </a:xfrm>
          <a:prstGeom prst="ellipse">
            <a:avLst/>
          </a:prstGeom>
          <a:solidFill>
            <a:srgbClr val="B07B2A"/>
          </a:solidFill>
          <a:ln w="9525">
            <a:solidFill>
              <a:srgbClr val="6E4A14"/>
            </a:solidFill>
            <a:prstDash val="solid"/>
          </a:ln>
        </p:spPr>
      </p:sp>
      <p:sp>
        <p:nvSpPr>
          <p:cNvPr id="47" name="Shape 45"/>
          <p:cNvSpPr/>
          <p:nvPr/>
        </p:nvSpPr>
        <p:spPr>
          <a:xfrm>
            <a:off x="1874520" y="3657600"/>
            <a:ext cx="658368" cy="292608"/>
          </a:xfrm>
          <a:prstGeom prst="rect">
            <a:avLst/>
          </a:prstGeom>
          <a:solidFill>
            <a:srgbClr val="F6E9C4"/>
          </a:solidFill>
          <a:ln w="15875">
            <a:solidFill>
              <a:srgbClr val="9C7A2A"/>
            </a:solidFill>
            <a:prstDash val="solid"/>
          </a:ln>
        </p:spPr>
      </p:sp>
      <p:sp>
        <p:nvSpPr>
          <p:cNvPr id="48" name="Shape 46"/>
          <p:cNvSpPr/>
          <p:nvPr/>
        </p:nvSpPr>
        <p:spPr>
          <a:xfrm>
            <a:off x="2030882" y="3762756"/>
            <a:ext cx="82296" cy="82296"/>
          </a:xfrm>
          <a:prstGeom prst="ellipse">
            <a:avLst/>
          </a:prstGeom>
          <a:solidFill>
            <a:srgbClr val="B07B2A"/>
          </a:solidFill>
          <a:ln w="9525">
            <a:solidFill>
              <a:srgbClr val="6E4A14"/>
            </a:solidFill>
            <a:prstDash val="solid"/>
          </a:ln>
        </p:spPr>
      </p:sp>
      <p:sp>
        <p:nvSpPr>
          <p:cNvPr id="49" name="Text 47"/>
          <p:cNvSpPr/>
          <p:nvPr/>
        </p:nvSpPr>
        <p:spPr>
          <a:xfrm>
            <a:off x="3429000" y="1280160"/>
            <a:ext cx="2377440" cy="256032"/>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Your drawing</a:t>
            </a:r>
            <a:endParaRPr lang="en-US" sz="1050" dirty="0"/>
          </a:p>
        </p:txBody>
      </p:sp>
      <p:sp>
        <p:nvSpPr>
          <p:cNvPr id="50" name="Shape 48"/>
          <p:cNvSpPr/>
          <p:nvPr/>
        </p:nvSpPr>
        <p:spPr>
          <a:xfrm>
            <a:off x="3429000" y="1600200"/>
            <a:ext cx="2377440" cy="3108960"/>
          </a:xfrm>
          <a:prstGeom prst="rect">
            <a:avLst/>
          </a:prstGeom>
          <a:solidFill>
            <a:srgbClr val="FFFFFF"/>
          </a:solidFill>
          <a:ln w="12700">
            <a:solidFill>
              <a:srgbClr val="CFE0DE"/>
            </a:solidFill>
            <a:prstDash val="solid"/>
          </a:ln>
        </p:spPr>
      </p:sp>
      <p:sp>
        <p:nvSpPr>
          <p:cNvPr id="51" name="Shape 49"/>
          <p:cNvSpPr/>
          <p:nvPr/>
        </p:nvSpPr>
        <p:spPr>
          <a:xfrm>
            <a:off x="3611880" y="2057400"/>
            <a:ext cx="914400" cy="640080"/>
          </a:xfrm>
          <a:prstGeom prst="rect">
            <a:avLst/>
          </a:prstGeom>
          <a:ln w="12700">
            <a:solidFill>
              <a:srgbClr val="333333"/>
            </a:solidFill>
            <a:prstDash val="solid"/>
          </a:ln>
        </p:spPr>
      </p:sp>
      <p:sp>
        <p:nvSpPr>
          <p:cNvPr id="52" name="Shape 50"/>
          <p:cNvSpPr/>
          <p:nvPr/>
        </p:nvSpPr>
        <p:spPr>
          <a:xfrm>
            <a:off x="3931920" y="2276856"/>
            <a:ext cx="182880" cy="182880"/>
          </a:xfrm>
          <a:prstGeom prst="ellipse">
            <a:avLst/>
          </a:prstGeom>
          <a:ln w="12700">
            <a:solidFill>
              <a:srgbClr val="333333"/>
            </a:solidFill>
            <a:prstDash val="solid"/>
          </a:ln>
        </p:spPr>
      </p:sp>
      <p:sp>
        <p:nvSpPr>
          <p:cNvPr id="53" name="Shape 51"/>
          <p:cNvSpPr/>
          <p:nvPr/>
        </p:nvSpPr>
        <p:spPr>
          <a:xfrm>
            <a:off x="4526280" y="2057400"/>
            <a:ext cx="914400" cy="640080"/>
          </a:xfrm>
          <a:prstGeom prst="rect">
            <a:avLst/>
          </a:prstGeom>
          <a:ln w="12700">
            <a:solidFill>
              <a:srgbClr val="333333"/>
            </a:solidFill>
            <a:prstDash val="solid"/>
          </a:ln>
        </p:spPr>
      </p:sp>
      <p:sp>
        <p:nvSpPr>
          <p:cNvPr id="54" name="Shape 52"/>
          <p:cNvSpPr/>
          <p:nvPr/>
        </p:nvSpPr>
        <p:spPr>
          <a:xfrm>
            <a:off x="4846320" y="2276856"/>
            <a:ext cx="182880" cy="182880"/>
          </a:xfrm>
          <a:prstGeom prst="ellipse">
            <a:avLst/>
          </a:prstGeom>
          <a:ln w="12700">
            <a:solidFill>
              <a:srgbClr val="333333"/>
            </a:solidFill>
            <a:prstDash val="solid"/>
          </a:ln>
        </p:spPr>
      </p:sp>
      <p:sp>
        <p:nvSpPr>
          <p:cNvPr id="55" name="Shape 53"/>
          <p:cNvSpPr/>
          <p:nvPr/>
        </p:nvSpPr>
        <p:spPr>
          <a:xfrm>
            <a:off x="4069080" y="2697480"/>
            <a:ext cx="914400" cy="640080"/>
          </a:xfrm>
          <a:prstGeom prst="rect">
            <a:avLst/>
          </a:prstGeom>
          <a:ln w="12700">
            <a:solidFill>
              <a:srgbClr val="333333"/>
            </a:solidFill>
            <a:prstDash val="solid"/>
          </a:ln>
        </p:spPr>
      </p:sp>
      <p:sp>
        <p:nvSpPr>
          <p:cNvPr id="56" name="Shape 54"/>
          <p:cNvSpPr/>
          <p:nvPr/>
        </p:nvSpPr>
        <p:spPr>
          <a:xfrm>
            <a:off x="4389120" y="2916936"/>
            <a:ext cx="182880" cy="182880"/>
          </a:xfrm>
          <a:prstGeom prst="ellipse">
            <a:avLst/>
          </a:prstGeom>
          <a:ln w="12700">
            <a:solidFill>
              <a:srgbClr val="333333"/>
            </a:solidFill>
            <a:prstDash val="solid"/>
          </a:ln>
        </p:spPr>
      </p:sp>
      <p:sp>
        <p:nvSpPr>
          <p:cNvPr id="57" name="Shape 55"/>
          <p:cNvSpPr/>
          <p:nvPr/>
        </p:nvSpPr>
        <p:spPr>
          <a:xfrm flipV="1">
            <a:off x="4160520" y="1783080"/>
            <a:ext cx="914400" cy="585216"/>
          </a:xfrm>
          <a:prstGeom prst="line">
            <a:avLst/>
          </a:prstGeom>
          <a:noFill/>
          <a:ln w="9525">
            <a:solidFill>
              <a:srgbClr val="333333"/>
            </a:solidFill>
            <a:prstDash val="solid"/>
          </a:ln>
        </p:spPr>
      </p:sp>
      <p:sp>
        <p:nvSpPr>
          <p:cNvPr id="58" name="Text 56"/>
          <p:cNvSpPr/>
          <p:nvPr/>
        </p:nvSpPr>
        <p:spPr>
          <a:xfrm>
            <a:off x="5029200" y="1664208"/>
            <a:ext cx="731520" cy="20116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nucleus</a:t>
            </a:r>
            <a:endParaRPr lang="en-US" sz="1000" dirty="0"/>
          </a:p>
        </p:txBody>
      </p:sp>
      <p:sp>
        <p:nvSpPr>
          <p:cNvPr id="59" name="Shape 57"/>
          <p:cNvSpPr/>
          <p:nvPr/>
        </p:nvSpPr>
        <p:spPr>
          <a:xfrm>
            <a:off x="4526280" y="3337560"/>
            <a:ext cx="548640" cy="274320"/>
          </a:xfrm>
          <a:prstGeom prst="line">
            <a:avLst/>
          </a:prstGeom>
          <a:noFill/>
          <a:ln w="9525">
            <a:solidFill>
              <a:srgbClr val="333333"/>
            </a:solidFill>
            <a:prstDash val="solid"/>
          </a:ln>
        </p:spPr>
      </p:sp>
      <p:sp>
        <p:nvSpPr>
          <p:cNvPr id="60" name="Text 58"/>
          <p:cNvSpPr/>
          <p:nvPr/>
        </p:nvSpPr>
        <p:spPr>
          <a:xfrm>
            <a:off x="5029200" y="3520440"/>
            <a:ext cx="777240" cy="20116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cell wall</a:t>
            </a:r>
            <a:endParaRPr lang="en-US" sz="1000" dirty="0"/>
          </a:p>
        </p:txBody>
      </p:sp>
      <p:sp>
        <p:nvSpPr>
          <p:cNvPr id="61" name="Shape 59"/>
          <p:cNvSpPr/>
          <p:nvPr/>
        </p:nvSpPr>
        <p:spPr>
          <a:xfrm flipH="1">
            <a:off x="3794760" y="2514600"/>
            <a:ext cx="137160" cy="1097280"/>
          </a:xfrm>
          <a:prstGeom prst="line">
            <a:avLst/>
          </a:prstGeom>
          <a:noFill/>
          <a:ln w="9525">
            <a:solidFill>
              <a:srgbClr val="333333"/>
            </a:solidFill>
            <a:prstDash val="solid"/>
          </a:ln>
        </p:spPr>
      </p:sp>
      <p:sp>
        <p:nvSpPr>
          <p:cNvPr id="62" name="Text 60"/>
          <p:cNvSpPr/>
          <p:nvPr/>
        </p:nvSpPr>
        <p:spPr>
          <a:xfrm>
            <a:off x="3520440" y="3611880"/>
            <a:ext cx="1005840" cy="20116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cytoplasm</a:t>
            </a:r>
            <a:endParaRPr lang="en-US" sz="1000" dirty="0"/>
          </a:p>
        </p:txBody>
      </p:sp>
      <p:sp>
        <p:nvSpPr>
          <p:cNvPr id="63" name="Text 61"/>
          <p:cNvSpPr/>
          <p:nvPr/>
        </p:nvSpPr>
        <p:spPr>
          <a:xfrm>
            <a:off x="3474720" y="3977640"/>
            <a:ext cx="228600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Onion epidermis cells ×100</a:t>
            </a:r>
            <a:endParaRPr lang="en-US" sz="1050" dirty="0"/>
          </a:p>
        </p:txBody>
      </p:sp>
      <p:sp>
        <p:nvSpPr>
          <p:cNvPr id="64" name="Text 62"/>
          <p:cNvSpPr/>
          <p:nvPr/>
        </p:nvSpPr>
        <p:spPr>
          <a:xfrm>
            <a:off x="3474720" y="4251960"/>
            <a:ext cx="2286000" cy="237744"/>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(title and magnification)</a:t>
            </a:r>
            <a:endParaRPr lang="en-US" sz="1000" dirty="0"/>
          </a:p>
        </p:txBody>
      </p:sp>
      <p:sp>
        <p:nvSpPr>
          <p:cNvPr id="65" name="Shape 63"/>
          <p:cNvSpPr/>
          <p:nvPr/>
        </p:nvSpPr>
        <p:spPr>
          <a:xfrm>
            <a:off x="594360" y="4800600"/>
            <a:ext cx="5212080" cy="502920"/>
          </a:xfrm>
          <a:prstGeom prst="roundRect">
            <a:avLst>
              <a:gd name="adj" fmla="val 9091"/>
            </a:avLst>
          </a:prstGeom>
          <a:solidFill>
            <a:srgbClr val="FFFFFF"/>
          </a:solidFill>
          <a:ln w="12700">
            <a:solidFill>
              <a:srgbClr val="CFE0DE"/>
            </a:solidFill>
            <a:prstDash val="solid"/>
          </a:ln>
        </p:spPr>
      </p:sp>
      <p:sp>
        <p:nvSpPr>
          <p:cNvPr id="66" name="Text 64"/>
          <p:cNvSpPr/>
          <p:nvPr/>
        </p:nvSpPr>
        <p:spPr>
          <a:xfrm>
            <a:off x="685800" y="4800600"/>
            <a:ext cx="5029200" cy="5029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Drawing size: an onion cell 250 µm long at ×100 is drawn </a:t>
            </a:r>
            <a:r>
              <a:rPr lang="en-US" sz="1050" b="1" dirty="0">
                <a:solidFill>
                  <a:srgbClr val="262B3A"/>
                </a:solidFill>
                <a:latin typeface="Calibri" pitchFamily="34" charset="0"/>
                <a:ea typeface="Calibri" pitchFamily="34" charset="-122"/>
                <a:cs typeface="Calibri" pitchFamily="34" charset="-120"/>
              </a:rPr>
              <a:t>25 mm</a:t>
            </a:r>
            <a:r>
              <a:rPr lang="en-US" sz="1050" dirty="0">
                <a:solidFill>
                  <a:srgbClr val="262B3A"/>
                </a:solidFill>
                <a:latin typeface="Calibri" pitchFamily="34" charset="0"/>
                <a:ea typeface="Calibri" pitchFamily="34" charset="-122"/>
                <a:cs typeface="Calibri" pitchFamily="34" charset="-120"/>
              </a:rPr>
              <a:t> long.</a:t>
            </a:r>
            <a:endParaRPr lang="en-US" sz="1050" dirty="0"/>
          </a:p>
        </p:txBody>
      </p:sp>
      <p:sp>
        <p:nvSpPr>
          <p:cNvPr id="67" name="Shape 65"/>
          <p:cNvSpPr/>
          <p:nvPr/>
        </p:nvSpPr>
        <p:spPr>
          <a:xfrm>
            <a:off x="6217920" y="1188720"/>
            <a:ext cx="5562295" cy="2514600"/>
          </a:xfrm>
          <a:prstGeom prst="roundRect">
            <a:avLst>
              <a:gd name="adj" fmla="val 2182"/>
            </a:avLst>
          </a:prstGeom>
          <a:solidFill>
            <a:srgbClr val="F4FAF9"/>
          </a:solidFill>
          <a:ln w="9525">
            <a:solidFill>
              <a:srgbClr val="CFE0DE"/>
            </a:solidFill>
            <a:prstDash val="solid"/>
          </a:ln>
        </p:spPr>
      </p:sp>
      <p:sp>
        <p:nvSpPr>
          <p:cNvPr id="68" name="Text 6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Using the microscope</a:t>
            </a:r>
            <a:endParaRPr lang="en-US" sz="1300" dirty="0"/>
          </a:p>
        </p:txBody>
      </p:sp>
      <p:sp>
        <p:nvSpPr>
          <p:cNvPr id="69" name="Text 67"/>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Clip the slide on the stage. Start with the </a:t>
            </a:r>
            <a:r>
              <a:rPr lang="en-US" sz="1050" b="1" dirty="0">
                <a:solidFill>
                  <a:srgbClr val="262B3A"/>
                </a:solidFill>
                <a:latin typeface="Calibri" pitchFamily="34" charset="0"/>
                <a:ea typeface="Calibri" pitchFamily="34" charset="-122"/>
                <a:cs typeface="Calibri" pitchFamily="34" charset="-120"/>
              </a:rPr>
              <a:t>lowest power</a:t>
            </a:r>
            <a:r>
              <a:rPr lang="en-US" sz="1050" dirty="0">
                <a:solidFill>
                  <a:srgbClr val="262B3A"/>
                </a:solidFill>
                <a:latin typeface="Calibri" pitchFamily="34" charset="0"/>
                <a:ea typeface="Calibri" pitchFamily="34" charset="-122"/>
                <a:cs typeface="Calibri" pitchFamily="34" charset="-120"/>
              </a:rPr>
              <a:t> (×4) objective.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Looking from the </a:t>
            </a:r>
            <a:r>
              <a:rPr lang="en-US" sz="1050" b="1" dirty="0">
                <a:solidFill>
                  <a:srgbClr val="262B3A"/>
                </a:solidFill>
                <a:latin typeface="Calibri" pitchFamily="34" charset="0"/>
                <a:ea typeface="Calibri" pitchFamily="34" charset="-122"/>
                <a:cs typeface="Calibri" pitchFamily="34" charset="-120"/>
              </a:rPr>
              <a:t>side</a:t>
            </a:r>
            <a:r>
              <a:rPr lang="en-US" sz="1050" dirty="0">
                <a:solidFill>
                  <a:srgbClr val="262B3A"/>
                </a:solidFill>
                <a:latin typeface="Calibri" pitchFamily="34" charset="0"/>
                <a:ea typeface="Calibri" pitchFamily="34" charset="-122"/>
                <a:cs typeface="Calibri" pitchFamily="34" charset="-120"/>
              </a:rPr>
              <a:t>, turn the coarse focus to bring the lens close to the slide.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Look down the eyepiece and turn the coarse focus to move them </a:t>
            </a:r>
            <a:r>
              <a:rPr lang="en-US" sz="1050" b="1" dirty="0">
                <a:solidFill>
                  <a:srgbClr val="262B3A"/>
                </a:solidFill>
                <a:latin typeface="Calibri" pitchFamily="34" charset="0"/>
                <a:ea typeface="Calibri" pitchFamily="34" charset="-122"/>
                <a:cs typeface="Calibri" pitchFamily="34" charset="-120"/>
              </a:rPr>
              <a:t>apart</a:t>
            </a:r>
            <a:r>
              <a:rPr lang="en-US" sz="1050" dirty="0">
                <a:solidFill>
                  <a:srgbClr val="262B3A"/>
                </a:solidFill>
                <a:latin typeface="Calibri" pitchFamily="34" charset="0"/>
                <a:ea typeface="Calibri" pitchFamily="34" charset="-122"/>
                <a:cs typeface="Calibri" pitchFamily="34" charset="-120"/>
              </a:rPr>
              <a:t> until the cells are in focus.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Move to ×10 then ×40 and use only the </a:t>
            </a:r>
            <a:r>
              <a:rPr lang="en-US" sz="1050" b="1" dirty="0">
                <a:solidFill>
                  <a:srgbClr val="262B3A"/>
                </a:solidFill>
                <a:latin typeface="Calibri" pitchFamily="34" charset="0"/>
                <a:ea typeface="Calibri" pitchFamily="34" charset="-122"/>
                <a:cs typeface="Calibri" pitchFamily="34" charset="-120"/>
              </a:rPr>
              <a:t>fine focus</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70" name="Shape 68"/>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71" name="Text 69"/>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Rules for a biological drawing</a:t>
            </a:r>
            <a:endParaRPr lang="en-US" sz="1300" dirty="0"/>
          </a:p>
        </p:txBody>
      </p:sp>
      <p:sp>
        <p:nvSpPr>
          <p:cNvPr id="72" name="Text 70"/>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Pencil   </a:t>
            </a:r>
            <a:r>
              <a:rPr lang="en-US" sz="1050" dirty="0">
                <a:solidFill>
                  <a:srgbClr val="262B3A"/>
                </a:solidFill>
                <a:latin typeface="Calibri" pitchFamily="34" charset="0"/>
                <a:ea typeface="Calibri" pitchFamily="34" charset="-122"/>
                <a:cs typeface="Calibri" pitchFamily="34" charset="-120"/>
              </a:rPr>
              <a:t>sharp pencil; clear, continuous lines; no shading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Scale   </a:t>
            </a:r>
            <a:r>
              <a:rPr lang="en-US" sz="1050" dirty="0">
                <a:solidFill>
                  <a:srgbClr val="262B3A"/>
                </a:solidFill>
                <a:latin typeface="Calibri" pitchFamily="34" charset="0"/>
                <a:ea typeface="Calibri" pitchFamily="34" charset="-122"/>
                <a:cs typeface="Calibri" pitchFamily="34" charset="-120"/>
              </a:rPr>
              <a:t>draw a few cells large, with correct proportions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Labels   </a:t>
            </a:r>
            <a:r>
              <a:rPr lang="en-US" sz="1050" dirty="0">
                <a:solidFill>
                  <a:srgbClr val="262B3A"/>
                </a:solidFill>
                <a:latin typeface="Calibri" pitchFamily="34" charset="0"/>
                <a:ea typeface="Calibri" pitchFamily="34" charset="-122"/>
                <a:cs typeface="Calibri" pitchFamily="34" charset="-120"/>
              </a:rPr>
              <a:t>ruled label lines that do not cross; labels outside the drawing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add a title and the magnification</a:t>
            </a:r>
            <a:endParaRPr lang="en-US" sz="1050" dirty="0"/>
          </a:p>
        </p:txBody>
      </p:sp>
      <p:sp>
        <p:nvSpPr>
          <p:cNvPr id="73" name="Shape 71"/>
          <p:cNvSpPr/>
          <p:nvPr/>
        </p:nvSpPr>
        <p:spPr>
          <a:xfrm>
            <a:off x="411480" y="5833872"/>
            <a:ext cx="11368735" cy="530352"/>
          </a:xfrm>
          <a:prstGeom prst="rect">
            <a:avLst/>
          </a:prstGeom>
          <a:solidFill>
            <a:srgbClr val="FFF4E0"/>
          </a:solidFill>
          <a:ln w="6350">
            <a:solidFill>
              <a:srgbClr val="F1D9A8"/>
            </a:solidFill>
            <a:prstDash val="solid"/>
          </a:ln>
        </p:spPr>
      </p:sp>
      <p:sp>
        <p:nvSpPr>
          <p:cNvPr id="74" name="Shape 72"/>
          <p:cNvSpPr/>
          <p:nvPr/>
        </p:nvSpPr>
        <p:spPr>
          <a:xfrm>
            <a:off x="411480" y="5833872"/>
            <a:ext cx="82296" cy="530352"/>
          </a:xfrm>
          <a:prstGeom prst="rect">
            <a:avLst/>
          </a:prstGeom>
          <a:solidFill>
            <a:srgbClr val="E39A2F"/>
          </a:solidFill>
          <a:ln w="12700">
            <a:solidFill>
              <a:srgbClr val="E39A2F"/>
            </a:solidFill>
            <a:prstDash val="solid"/>
          </a:ln>
        </p:spPr>
      </p:sp>
      <p:sp>
        <p:nvSpPr>
          <p:cNvPr id="75" name="Text 7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 you look from the </a:t>
            </a:r>
            <a:r>
              <a:rPr lang="en-US" sz="1150" b="1" dirty="0">
                <a:solidFill>
                  <a:srgbClr val="262B3A"/>
                </a:solidFill>
                <a:latin typeface="Calibri" pitchFamily="34" charset="0"/>
                <a:ea typeface="Calibri" pitchFamily="34" charset="-122"/>
                <a:cs typeface="Calibri" pitchFamily="34" charset="-120"/>
              </a:rPr>
              <a:t>side</a:t>
            </a:r>
            <a:r>
              <a:rPr lang="en-US" sz="1150" dirty="0">
                <a:solidFill>
                  <a:srgbClr val="262B3A"/>
                </a:solidFill>
                <a:latin typeface="Calibri" pitchFamily="34" charset="0"/>
                <a:ea typeface="Calibri" pitchFamily="34" charset="-122"/>
                <a:cs typeface="Calibri" pitchFamily="34" charset="-120"/>
              </a:rPr>
              <a:t> while lowering the objective, and why start on the </a:t>
            </a:r>
            <a:r>
              <a:rPr lang="en-US" sz="1150" b="1" dirty="0">
                <a:solidFill>
                  <a:srgbClr val="262B3A"/>
                </a:solidFill>
                <a:latin typeface="Calibri" pitchFamily="34" charset="0"/>
                <a:ea typeface="Calibri" pitchFamily="34" charset="-122"/>
                <a:cs typeface="Calibri" pitchFamily="34" charset="-120"/>
              </a:rPr>
              <a:t>lowest power</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PAG B1: measuring cells, results and errors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Practical activity group B1 microscopy • calibrate an eyepiece graticule with a stage micrometer</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B1</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B1  |  20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graticule calibration at ×400 (top) and measuring a cheek cell (bottom)</a:t>
            </a:r>
            <a:endParaRPr lang="en-US" sz="1000" dirty="0"/>
          </a:p>
        </p:txBody>
      </p:sp>
      <p:sp>
        <p:nvSpPr>
          <p:cNvPr id="12" name="Text 10"/>
          <p:cNvSpPr/>
          <p:nvPr/>
        </p:nvSpPr>
        <p:spPr>
          <a:xfrm>
            <a:off x="594360" y="1280160"/>
            <a:ext cx="521208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Calibrate: line up the two scales (×400)</a:t>
            </a:r>
            <a:endParaRPr lang="en-US" sz="1100" dirty="0"/>
          </a:p>
        </p:txBody>
      </p:sp>
      <p:sp>
        <p:nvSpPr>
          <p:cNvPr id="13" name="Shape 11"/>
          <p:cNvSpPr/>
          <p:nvPr/>
        </p:nvSpPr>
        <p:spPr>
          <a:xfrm>
            <a:off x="777240" y="1691640"/>
            <a:ext cx="4572000" cy="502920"/>
          </a:xfrm>
          <a:prstGeom prst="rect">
            <a:avLst/>
          </a:prstGeom>
          <a:solidFill>
            <a:srgbClr val="EAF3FA"/>
          </a:solidFill>
          <a:ln w="9525">
            <a:solidFill>
              <a:srgbClr val="5B9BD5"/>
            </a:solidFill>
            <a:prstDash val="solid"/>
          </a:ln>
        </p:spPr>
      </p:sp>
      <p:sp>
        <p:nvSpPr>
          <p:cNvPr id="14" name="Shape 12"/>
          <p:cNvSpPr/>
          <p:nvPr/>
        </p:nvSpPr>
        <p:spPr>
          <a:xfrm>
            <a:off x="868680" y="1737360"/>
            <a:ext cx="91" cy="228600"/>
          </a:xfrm>
          <a:prstGeom prst="line">
            <a:avLst/>
          </a:prstGeom>
          <a:noFill/>
          <a:ln w="25400">
            <a:solidFill>
              <a:srgbClr val="1F3A68"/>
            </a:solidFill>
            <a:prstDash val="solid"/>
          </a:ln>
        </p:spPr>
      </p:sp>
      <p:sp>
        <p:nvSpPr>
          <p:cNvPr id="15" name="Shape 13"/>
          <p:cNvSpPr/>
          <p:nvPr/>
        </p:nvSpPr>
        <p:spPr>
          <a:xfrm>
            <a:off x="1307592" y="1737360"/>
            <a:ext cx="91" cy="228600"/>
          </a:xfrm>
          <a:prstGeom prst="line">
            <a:avLst/>
          </a:prstGeom>
          <a:noFill/>
          <a:ln w="15875">
            <a:solidFill>
              <a:srgbClr val="1F3A68"/>
            </a:solidFill>
            <a:prstDash val="solid"/>
          </a:ln>
        </p:spPr>
      </p:sp>
      <p:sp>
        <p:nvSpPr>
          <p:cNvPr id="16" name="Shape 14"/>
          <p:cNvSpPr/>
          <p:nvPr/>
        </p:nvSpPr>
        <p:spPr>
          <a:xfrm>
            <a:off x="1746504" y="1737360"/>
            <a:ext cx="91" cy="228600"/>
          </a:xfrm>
          <a:prstGeom prst="line">
            <a:avLst/>
          </a:prstGeom>
          <a:noFill/>
          <a:ln w="15875">
            <a:solidFill>
              <a:srgbClr val="1F3A68"/>
            </a:solidFill>
            <a:prstDash val="solid"/>
          </a:ln>
        </p:spPr>
      </p:sp>
      <p:sp>
        <p:nvSpPr>
          <p:cNvPr id="17" name="Shape 15"/>
          <p:cNvSpPr/>
          <p:nvPr/>
        </p:nvSpPr>
        <p:spPr>
          <a:xfrm>
            <a:off x="2185416" y="1737360"/>
            <a:ext cx="91" cy="228600"/>
          </a:xfrm>
          <a:prstGeom prst="line">
            <a:avLst/>
          </a:prstGeom>
          <a:noFill/>
          <a:ln w="15875">
            <a:solidFill>
              <a:srgbClr val="1F3A68"/>
            </a:solidFill>
            <a:prstDash val="solid"/>
          </a:ln>
        </p:spPr>
      </p:sp>
      <p:sp>
        <p:nvSpPr>
          <p:cNvPr id="18" name="Shape 16"/>
          <p:cNvSpPr/>
          <p:nvPr/>
        </p:nvSpPr>
        <p:spPr>
          <a:xfrm>
            <a:off x="2624328" y="1737360"/>
            <a:ext cx="91" cy="228600"/>
          </a:xfrm>
          <a:prstGeom prst="line">
            <a:avLst/>
          </a:prstGeom>
          <a:noFill/>
          <a:ln w="15875">
            <a:solidFill>
              <a:srgbClr val="1F3A68"/>
            </a:solidFill>
            <a:prstDash val="solid"/>
          </a:ln>
        </p:spPr>
      </p:sp>
      <p:sp>
        <p:nvSpPr>
          <p:cNvPr id="19" name="Shape 17"/>
          <p:cNvSpPr/>
          <p:nvPr/>
        </p:nvSpPr>
        <p:spPr>
          <a:xfrm>
            <a:off x="3063240" y="1737360"/>
            <a:ext cx="91" cy="228600"/>
          </a:xfrm>
          <a:prstGeom prst="line">
            <a:avLst/>
          </a:prstGeom>
          <a:noFill/>
          <a:ln w="25400">
            <a:solidFill>
              <a:srgbClr val="1F3A68"/>
            </a:solidFill>
            <a:prstDash val="solid"/>
          </a:ln>
        </p:spPr>
      </p:sp>
      <p:sp>
        <p:nvSpPr>
          <p:cNvPr id="20" name="Shape 18"/>
          <p:cNvSpPr/>
          <p:nvPr/>
        </p:nvSpPr>
        <p:spPr>
          <a:xfrm>
            <a:off x="3502152" y="1737360"/>
            <a:ext cx="91" cy="228600"/>
          </a:xfrm>
          <a:prstGeom prst="line">
            <a:avLst/>
          </a:prstGeom>
          <a:noFill/>
          <a:ln w="15875">
            <a:solidFill>
              <a:srgbClr val="1F3A68"/>
            </a:solidFill>
            <a:prstDash val="solid"/>
          </a:ln>
        </p:spPr>
      </p:sp>
      <p:sp>
        <p:nvSpPr>
          <p:cNvPr id="21" name="Shape 19"/>
          <p:cNvSpPr/>
          <p:nvPr/>
        </p:nvSpPr>
        <p:spPr>
          <a:xfrm>
            <a:off x="3941064" y="1737360"/>
            <a:ext cx="91" cy="228600"/>
          </a:xfrm>
          <a:prstGeom prst="line">
            <a:avLst/>
          </a:prstGeom>
          <a:noFill/>
          <a:ln w="15875">
            <a:solidFill>
              <a:srgbClr val="1F3A68"/>
            </a:solidFill>
            <a:prstDash val="solid"/>
          </a:ln>
        </p:spPr>
      </p:sp>
      <p:sp>
        <p:nvSpPr>
          <p:cNvPr id="22" name="Shape 20"/>
          <p:cNvSpPr/>
          <p:nvPr/>
        </p:nvSpPr>
        <p:spPr>
          <a:xfrm>
            <a:off x="4379976" y="1737360"/>
            <a:ext cx="91" cy="228600"/>
          </a:xfrm>
          <a:prstGeom prst="line">
            <a:avLst/>
          </a:prstGeom>
          <a:noFill/>
          <a:ln w="15875">
            <a:solidFill>
              <a:srgbClr val="1F3A68"/>
            </a:solidFill>
            <a:prstDash val="solid"/>
          </a:ln>
        </p:spPr>
      </p:sp>
      <p:sp>
        <p:nvSpPr>
          <p:cNvPr id="23" name="Shape 21"/>
          <p:cNvSpPr/>
          <p:nvPr/>
        </p:nvSpPr>
        <p:spPr>
          <a:xfrm>
            <a:off x="4818888" y="1737360"/>
            <a:ext cx="91" cy="228600"/>
          </a:xfrm>
          <a:prstGeom prst="line">
            <a:avLst/>
          </a:prstGeom>
          <a:noFill/>
          <a:ln w="15875">
            <a:solidFill>
              <a:srgbClr val="1F3A68"/>
            </a:solidFill>
            <a:prstDash val="solid"/>
          </a:ln>
        </p:spPr>
      </p:sp>
      <p:sp>
        <p:nvSpPr>
          <p:cNvPr id="24" name="Shape 22"/>
          <p:cNvSpPr/>
          <p:nvPr/>
        </p:nvSpPr>
        <p:spPr>
          <a:xfrm>
            <a:off x="5257800" y="1737360"/>
            <a:ext cx="91" cy="228600"/>
          </a:xfrm>
          <a:prstGeom prst="line">
            <a:avLst/>
          </a:prstGeom>
          <a:noFill/>
          <a:ln w="25400">
            <a:solidFill>
              <a:srgbClr val="1F3A68"/>
            </a:solidFill>
            <a:prstDash val="solid"/>
          </a:ln>
        </p:spPr>
      </p:sp>
      <p:sp>
        <p:nvSpPr>
          <p:cNvPr id="25" name="Shape 23"/>
          <p:cNvSpPr/>
          <p:nvPr/>
        </p:nvSpPr>
        <p:spPr>
          <a:xfrm>
            <a:off x="868680" y="1965960"/>
            <a:ext cx="4389120" cy="91"/>
          </a:xfrm>
          <a:prstGeom prst="line">
            <a:avLst/>
          </a:prstGeom>
          <a:noFill/>
          <a:ln w="15875">
            <a:solidFill>
              <a:srgbClr val="1F3A68"/>
            </a:solidFill>
            <a:prstDash val="solid"/>
          </a:ln>
        </p:spPr>
      </p:sp>
      <p:sp>
        <p:nvSpPr>
          <p:cNvPr id="26" name="Text 24"/>
          <p:cNvSpPr/>
          <p:nvPr/>
        </p:nvSpPr>
        <p:spPr>
          <a:xfrm>
            <a:off x="868680" y="1965960"/>
            <a:ext cx="4389120" cy="219456"/>
          </a:xfrm>
          <a:prstGeom prst="rect">
            <a:avLst/>
          </a:prstGeom>
          <a:noFill/>
          <a:ln/>
        </p:spPr>
        <p:txBody>
          <a:bodyPr wrap="square" lIns="0" tIns="0" rIns="0" bIns="0" rtlCol="0" anchor="ctr"/>
          <a:lstStyle/>
          <a:p>
            <a:pPr algn="ctr" indent="0" marL="0">
              <a:buNone/>
            </a:pPr>
            <a:r>
              <a:rPr lang="en-US" sz="1000" dirty="0">
                <a:solidFill>
                  <a:srgbClr val="1F3A68"/>
                </a:solidFill>
                <a:latin typeface="Calibri" pitchFamily="34" charset="0"/>
                <a:ea typeface="Calibri" pitchFamily="34" charset="-122"/>
                <a:cs typeface="Calibri" pitchFamily="34" charset="-120"/>
              </a:rPr>
              <a:t>stage micrometer: each division = 10 µm (100 µm in total)</a:t>
            </a:r>
            <a:endParaRPr lang="en-US" sz="1000" dirty="0"/>
          </a:p>
        </p:txBody>
      </p:sp>
      <p:sp>
        <p:nvSpPr>
          <p:cNvPr id="27" name="Shape 25"/>
          <p:cNvSpPr/>
          <p:nvPr/>
        </p:nvSpPr>
        <p:spPr>
          <a:xfrm>
            <a:off x="777240" y="2286000"/>
            <a:ext cx="4572000" cy="566928"/>
          </a:xfrm>
          <a:prstGeom prst="rect">
            <a:avLst/>
          </a:prstGeom>
          <a:solidFill>
            <a:srgbClr val="FFF4E0"/>
          </a:solidFill>
          <a:ln w="9525">
            <a:solidFill>
              <a:srgbClr val="E39A2F"/>
            </a:solidFill>
            <a:prstDash val="solid"/>
          </a:ln>
        </p:spPr>
      </p:sp>
      <p:sp>
        <p:nvSpPr>
          <p:cNvPr id="28" name="Shape 26"/>
          <p:cNvSpPr/>
          <p:nvPr/>
        </p:nvSpPr>
        <p:spPr>
          <a:xfrm>
            <a:off x="868680" y="2331720"/>
            <a:ext cx="4389120" cy="91"/>
          </a:xfrm>
          <a:prstGeom prst="line">
            <a:avLst/>
          </a:prstGeom>
          <a:noFill/>
          <a:ln w="15875">
            <a:solidFill>
              <a:srgbClr val="B8730A"/>
            </a:solidFill>
            <a:prstDash val="solid"/>
          </a:ln>
        </p:spPr>
      </p:sp>
      <p:sp>
        <p:nvSpPr>
          <p:cNvPr id="29" name="Shape 27"/>
          <p:cNvSpPr/>
          <p:nvPr/>
        </p:nvSpPr>
        <p:spPr>
          <a:xfrm>
            <a:off x="868680" y="2331720"/>
            <a:ext cx="91" cy="219456"/>
          </a:xfrm>
          <a:prstGeom prst="line">
            <a:avLst/>
          </a:prstGeom>
          <a:noFill/>
          <a:ln w="19050">
            <a:solidFill>
              <a:srgbClr val="B8730A"/>
            </a:solidFill>
            <a:prstDash val="solid"/>
          </a:ln>
        </p:spPr>
      </p:sp>
      <p:sp>
        <p:nvSpPr>
          <p:cNvPr id="30" name="Shape 28"/>
          <p:cNvSpPr/>
          <p:nvPr/>
        </p:nvSpPr>
        <p:spPr>
          <a:xfrm>
            <a:off x="978408" y="2331720"/>
            <a:ext cx="91" cy="91440"/>
          </a:xfrm>
          <a:prstGeom prst="line">
            <a:avLst/>
          </a:prstGeom>
          <a:noFill/>
          <a:ln w="9525">
            <a:solidFill>
              <a:srgbClr val="B8730A"/>
            </a:solidFill>
            <a:prstDash val="solid"/>
          </a:ln>
        </p:spPr>
      </p:sp>
      <p:sp>
        <p:nvSpPr>
          <p:cNvPr id="31" name="Shape 29"/>
          <p:cNvSpPr/>
          <p:nvPr/>
        </p:nvSpPr>
        <p:spPr>
          <a:xfrm>
            <a:off x="1088136" y="2331720"/>
            <a:ext cx="91" cy="91440"/>
          </a:xfrm>
          <a:prstGeom prst="line">
            <a:avLst/>
          </a:prstGeom>
          <a:noFill/>
          <a:ln w="9525">
            <a:solidFill>
              <a:srgbClr val="B8730A"/>
            </a:solidFill>
            <a:prstDash val="solid"/>
          </a:ln>
        </p:spPr>
      </p:sp>
      <p:sp>
        <p:nvSpPr>
          <p:cNvPr id="32" name="Shape 30"/>
          <p:cNvSpPr/>
          <p:nvPr/>
        </p:nvSpPr>
        <p:spPr>
          <a:xfrm>
            <a:off x="1197864" y="2331720"/>
            <a:ext cx="91" cy="91440"/>
          </a:xfrm>
          <a:prstGeom prst="line">
            <a:avLst/>
          </a:prstGeom>
          <a:noFill/>
          <a:ln w="9525">
            <a:solidFill>
              <a:srgbClr val="B8730A"/>
            </a:solidFill>
            <a:prstDash val="solid"/>
          </a:ln>
        </p:spPr>
      </p:sp>
      <p:sp>
        <p:nvSpPr>
          <p:cNvPr id="33" name="Shape 31"/>
          <p:cNvSpPr/>
          <p:nvPr/>
        </p:nvSpPr>
        <p:spPr>
          <a:xfrm>
            <a:off x="1307592" y="2331720"/>
            <a:ext cx="91" cy="91440"/>
          </a:xfrm>
          <a:prstGeom prst="line">
            <a:avLst/>
          </a:prstGeom>
          <a:noFill/>
          <a:ln w="9525">
            <a:solidFill>
              <a:srgbClr val="B8730A"/>
            </a:solidFill>
            <a:prstDash val="solid"/>
          </a:ln>
        </p:spPr>
      </p:sp>
      <p:sp>
        <p:nvSpPr>
          <p:cNvPr id="34" name="Shape 32"/>
          <p:cNvSpPr/>
          <p:nvPr/>
        </p:nvSpPr>
        <p:spPr>
          <a:xfrm>
            <a:off x="1417320" y="2331720"/>
            <a:ext cx="91" cy="155448"/>
          </a:xfrm>
          <a:prstGeom prst="line">
            <a:avLst/>
          </a:prstGeom>
          <a:noFill/>
          <a:ln w="9525">
            <a:solidFill>
              <a:srgbClr val="B8730A"/>
            </a:solidFill>
            <a:prstDash val="solid"/>
          </a:ln>
        </p:spPr>
      </p:sp>
      <p:sp>
        <p:nvSpPr>
          <p:cNvPr id="35" name="Shape 33"/>
          <p:cNvSpPr/>
          <p:nvPr/>
        </p:nvSpPr>
        <p:spPr>
          <a:xfrm>
            <a:off x="1527048" y="2331720"/>
            <a:ext cx="91" cy="91440"/>
          </a:xfrm>
          <a:prstGeom prst="line">
            <a:avLst/>
          </a:prstGeom>
          <a:noFill/>
          <a:ln w="9525">
            <a:solidFill>
              <a:srgbClr val="B8730A"/>
            </a:solidFill>
            <a:prstDash val="solid"/>
          </a:ln>
        </p:spPr>
      </p:sp>
      <p:sp>
        <p:nvSpPr>
          <p:cNvPr id="36" name="Shape 34"/>
          <p:cNvSpPr/>
          <p:nvPr/>
        </p:nvSpPr>
        <p:spPr>
          <a:xfrm>
            <a:off x="1636776" y="2331720"/>
            <a:ext cx="91" cy="91440"/>
          </a:xfrm>
          <a:prstGeom prst="line">
            <a:avLst/>
          </a:prstGeom>
          <a:noFill/>
          <a:ln w="9525">
            <a:solidFill>
              <a:srgbClr val="B8730A"/>
            </a:solidFill>
            <a:prstDash val="solid"/>
          </a:ln>
        </p:spPr>
      </p:sp>
      <p:sp>
        <p:nvSpPr>
          <p:cNvPr id="37" name="Shape 35"/>
          <p:cNvSpPr/>
          <p:nvPr/>
        </p:nvSpPr>
        <p:spPr>
          <a:xfrm>
            <a:off x="1746504" y="2331720"/>
            <a:ext cx="91" cy="91440"/>
          </a:xfrm>
          <a:prstGeom prst="line">
            <a:avLst/>
          </a:prstGeom>
          <a:noFill/>
          <a:ln w="9525">
            <a:solidFill>
              <a:srgbClr val="B8730A"/>
            </a:solidFill>
            <a:prstDash val="solid"/>
          </a:ln>
        </p:spPr>
      </p:sp>
      <p:sp>
        <p:nvSpPr>
          <p:cNvPr id="38" name="Shape 36"/>
          <p:cNvSpPr/>
          <p:nvPr/>
        </p:nvSpPr>
        <p:spPr>
          <a:xfrm>
            <a:off x="1856232" y="2331720"/>
            <a:ext cx="91" cy="91440"/>
          </a:xfrm>
          <a:prstGeom prst="line">
            <a:avLst/>
          </a:prstGeom>
          <a:noFill/>
          <a:ln w="9525">
            <a:solidFill>
              <a:srgbClr val="B8730A"/>
            </a:solidFill>
            <a:prstDash val="solid"/>
          </a:ln>
        </p:spPr>
      </p:sp>
      <p:sp>
        <p:nvSpPr>
          <p:cNvPr id="39" name="Shape 37"/>
          <p:cNvSpPr/>
          <p:nvPr/>
        </p:nvSpPr>
        <p:spPr>
          <a:xfrm>
            <a:off x="1965960" y="2331720"/>
            <a:ext cx="91" cy="219456"/>
          </a:xfrm>
          <a:prstGeom prst="line">
            <a:avLst/>
          </a:prstGeom>
          <a:noFill/>
          <a:ln w="19050">
            <a:solidFill>
              <a:srgbClr val="B8730A"/>
            </a:solidFill>
            <a:prstDash val="solid"/>
          </a:ln>
        </p:spPr>
      </p:sp>
      <p:sp>
        <p:nvSpPr>
          <p:cNvPr id="40" name="Shape 38"/>
          <p:cNvSpPr/>
          <p:nvPr/>
        </p:nvSpPr>
        <p:spPr>
          <a:xfrm>
            <a:off x="2075688" y="2331720"/>
            <a:ext cx="91" cy="91440"/>
          </a:xfrm>
          <a:prstGeom prst="line">
            <a:avLst/>
          </a:prstGeom>
          <a:noFill/>
          <a:ln w="9525">
            <a:solidFill>
              <a:srgbClr val="B8730A"/>
            </a:solidFill>
            <a:prstDash val="solid"/>
          </a:ln>
        </p:spPr>
      </p:sp>
      <p:sp>
        <p:nvSpPr>
          <p:cNvPr id="41" name="Shape 39"/>
          <p:cNvSpPr/>
          <p:nvPr/>
        </p:nvSpPr>
        <p:spPr>
          <a:xfrm>
            <a:off x="2185416" y="2331720"/>
            <a:ext cx="91" cy="91440"/>
          </a:xfrm>
          <a:prstGeom prst="line">
            <a:avLst/>
          </a:prstGeom>
          <a:noFill/>
          <a:ln w="9525">
            <a:solidFill>
              <a:srgbClr val="B8730A"/>
            </a:solidFill>
            <a:prstDash val="solid"/>
          </a:ln>
        </p:spPr>
      </p:sp>
      <p:sp>
        <p:nvSpPr>
          <p:cNvPr id="42" name="Shape 40"/>
          <p:cNvSpPr/>
          <p:nvPr/>
        </p:nvSpPr>
        <p:spPr>
          <a:xfrm>
            <a:off x="2295144" y="2331720"/>
            <a:ext cx="91" cy="91440"/>
          </a:xfrm>
          <a:prstGeom prst="line">
            <a:avLst/>
          </a:prstGeom>
          <a:noFill/>
          <a:ln w="9525">
            <a:solidFill>
              <a:srgbClr val="B8730A"/>
            </a:solidFill>
            <a:prstDash val="solid"/>
          </a:ln>
        </p:spPr>
      </p:sp>
      <p:sp>
        <p:nvSpPr>
          <p:cNvPr id="43" name="Shape 41"/>
          <p:cNvSpPr/>
          <p:nvPr/>
        </p:nvSpPr>
        <p:spPr>
          <a:xfrm>
            <a:off x="2404872" y="2331720"/>
            <a:ext cx="91" cy="91440"/>
          </a:xfrm>
          <a:prstGeom prst="line">
            <a:avLst/>
          </a:prstGeom>
          <a:noFill/>
          <a:ln w="9525">
            <a:solidFill>
              <a:srgbClr val="B8730A"/>
            </a:solidFill>
            <a:prstDash val="solid"/>
          </a:ln>
        </p:spPr>
      </p:sp>
      <p:sp>
        <p:nvSpPr>
          <p:cNvPr id="44" name="Shape 42"/>
          <p:cNvSpPr/>
          <p:nvPr/>
        </p:nvSpPr>
        <p:spPr>
          <a:xfrm>
            <a:off x="2514600" y="2331720"/>
            <a:ext cx="91" cy="155448"/>
          </a:xfrm>
          <a:prstGeom prst="line">
            <a:avLst/>
          </a:prstGeom>
          <a:noFill/>
          <a:ln w="9525">
            <a:solidFill>
              <a:srgbClr val="B8730A"/>
            </a:solidFill>
            <a:prstDash val="solid"/>
          </a:ln>
        </p:spPr>
      </p:sp>
      <p:sp>
        <p:nvSpPr>
          <p:cNvPr id="45" name="Shape 43"/>
          <p:cNvSpPr/>
          <p:nvPr/>
        </p:nvSpPr>
        <p:spPr>
          <a:xfrm>
            <a:off x="2624328" y="2331720"/>
            <a:ext cx="91" cy="91440"/>
          </a:xfrm>
          <a:prstGeom prst="line">
            <a:avLst/>
          </a:prstGeom>
          <a:noFill/>
          <a:ln w="9525">
            <a:solidFill>
              <a:srgbClr val="B8730A"/>
            </a:solidFill>
            <a:prstDash val="solid"/>
          </a:ln>
        </p:spPr>
      </p:sp>
      <p:sp>
        <p:nvSpPr>
          <p:cNvPr id="46" name="Shape 44"/>
          <p:cNvSpPr/>
          <p:nvPr/>
        </p:nvSpPr>
        <p:spPr>
          <a:xfrm>
            <a:off x="2734056" y="2331720"/>
            <a:ext cx="91" cy="91440"/>
          </a:xfrm>
          <a:prstGeom prst="line">
            <a:avLst/>
          </a:prstGeom>
          <a:noFill/>
          <a:ln w="9525">
            <a:solidFill>
              <a:srgbClr val="B8730A"/>
            </a:solidFill>
            <a:prstDash val="solid"/>
          </a:ln>
        </p:spPr>
      </p:sp>
      <p:sp>
        <p:nvSpPr>
          <p:cNvPr id="47" name="Shape 45"/>
          <p:cNvSpPr/>
          <p:nvPr/>
        </p:nvSpPr>
        <p:spPr>
          <a:xfrm>
            <a:off x="2843784" y="2331720"/>
            <a:ext cx="91" cy="91440"/>
          </a:xfrm>
          <a:prstGeom prst="line">
            <a:avLst/>
          </a:prstGeom>
          <a:noFill/>
          <a:ln w="9525">
            <a:solidFill>
              <a:srgbClr val="B8730A"/>
            </a:solidFill>
            <a:prstDash val="solid"/>
          </a:ln>
        </p:spPr>
      </p:sp>
      <p:sp>
        <p:nvSpPr>
          <p:cNvPr id="48" name="Shape 46"/>
          <p:cNvSpPr/>
          <p:nvPr/>
        </p:nvSpPr>
        <p:spPr>
          <a:xfrm>
            <a:off x="2953512" y="2331720"/>
            <a:ext cx="91" cy="91440"/>
          </a:xfrm>
          <a:prstGeom prst="line">
            <a:avLst/>
          </a:prstGeom>
          <a:noFill/>
          <a:ln w="9525">
            <a:solidFill>
              <a:srgbClr val="B8730A"/>
            </a:solidFill>
            <a:prstDash val="solid"/>
          </a:ln>
        </p:spPr>
      </p:sp>
      <p:sp>
        <p:nvSpPr>
          <p:cNvPr id="49" name="Shape 47"/>
          <p:cNvSpPr/>
          <p:nvPr/>
        </p:nvSpPr>
        <p:spPr>
          <a:xfrm>
            <a:off x="3063240" y="2331720"/>
            <a:ext cx="91" cy="219456"/>
          </a:xfrm>
          <a:prstGeom prst="line">
            <a:avLst/>
          </a:prstGeom>
          <a:noFill/>
          <a:ln w="19050">
            <a:solidFill>
              <a:srgbClr val="B8730A"/>
            </a:solidFill>
            <a:prstDash val="solid"/>
          </a:ln>
        </p:spPr>
      </p:sp>
      <p:sp>
        <p:nvSpPr>
          <p:cNvPr id="50" name="Shape 48"/>
          <p:cNvSpPr/>
          <p:nvPr/>
        </p:nvSpPr>
        <p:spPr>
          <a:xfrm>
            <a:off x="3172968" y="2331720"/>
            <a:ext cx="91" cy="91440"/>
          </a:xfrm>
          <a:prstGeom prst="line">
            <a:avLst/>
          </a:prstGeom>
          <a:noFill/>
          <a:ln w="9525">
            <a:solidFill>
              <a:srgbClr val="B8730A"/>
            </a:solidFill>
            <a:prstDash val="solid"/>
          </a:ln>
        </p:spPr>
      </p:sp>
      <p:sp>
        <p:nvSpPr>
          <p:cNvPr id="51" name="Shape 49"/>
          <p:cNvSpPr/>
          <p:nvPr/>
        </p:nvSpPr>
        <p:spPr>
          <a:xfrm>
            <a:off x="3282696" y="2331720"/>
            <a:ext cx="91" cy="91440"/>
          </a:xfrm>
          <a:prstGeom prst="line">
            <a:avLst/>
          </a:prstGeom>
          <a:noFill/>
          <a:ln w="9525">
            <a:solidFill>
              <a:srgbClr val="B8730A"/>
            </a:solidFill>
            <a:prstDash val="solid"/>
          </a:ln>
        </p:spPr>
      </p:sp>
      <p:sp>
        <p:nvSpPr>
          <p:cNvPr id="52" name="Shape 50"/>
          <p:cNvSpPr/>
          <p:nvPr/>
        </p:nvSpPr>
        <p:spPr>
          <a:xfrm>
            <a:off x="3392424" y="2331720"/>
            <a:ext cx="91" cy="91440"/>
          </a:xfrm>
          <a:prstGeom prst="line">
            <a:avLst/>
          </a:prstGeom>
          <a:noFill/>
          <a:ln w="9525">
            <a:solidFill>
              <a:srgbClr val="B8730A"/>
            </a:solidFill>
            <a:prstDash val="solid"/>
          </a:ln>
        </p:spPr>
      </p:sp>
      <p:sp>
        <p:nvSpPr>
          <p:cNvPr id="53" name="Shape 51"/>
          <p:cNvSpPr/>
          <p:nvPr/>
        </p:nvSpPr>
        <p:spPr>
          <a:xfrm>
            <a:off x="3502152" y="2331720"/>
            <a:ext cx="91" cy="91440"/>
          </a:xfrm>
          <a:prstGeom prst="line">
            <a:avLst/>
          </a:prstGeom>
          <a:noFill/>
          <a:ln w="9525">
            <a:solidFill>
              <a:srgbClr val="B8730A"/>
            </a:solidFill>
            <a:prstDash val="solid"/>
          </a:ln>
        </p:spPr>
      </p:sp>
      <p:sp>
        <p:nvSpPr>
          <p:cNvPr id="54" name="Shape 52"/>
          <p:cNvSpPr/>
          <p:nvPr/>
        </p:nvSpPr>
        <p:spPr>
          <a:xfrm>
            <a:off x="3611880" y="2331720"/>
            <a:ext cx="91" cy="155448"/>
          </a:xfrm>
          <a:prstGeom prst="line">
            <a:avLst/>
          </a:prstGeom>
          <a:noFill/>
          <a:ln w="9525">
            <a:solidFill>
              <a:srgbClr val="B8730A"/>
            </a:solidFill>
            <a:prstDash val="solid"/>
          </a:ln>
        </p:spPr>
      </p:sp>
      <p:sp>
        <p:nvSpPr>
          <p:cNvPr id="55" name="Shape 53"/>
          <p:cNvSpPr/>
          <p:nvPr/>
        </p:nvSpPr>
        <p:spPr>
          <a:xfrm>
            <a:off x="3721608" y="2331720"/>
            <a:ext cx="91" cy="91440"/>
          </a:xfrm>
          <a:prstGeom prst="line">
            <a:avLst/>
          </a:prstGeom>
          <a:noFill/>
          <a:ln w="9525">
            <a:solidFill>
              <a:srgbClr val="B8730A"/>
            </a:solidFill>
            <a:prstDash val="solid"/>
          </a:ln>
        </p:spPr>
      </p:sp>
      <p:sp>
        <p:nvSpPr>
          <p:cNvPr id="56" name="Shape 54"/>
          <p:cNvSpPr/>
          <p:nvPr/>
        </p:nvSpPr>
        <p:spPr>
          <a:xfrm>
            <a:off x="3831336" y="2331720"/>
            <a:ext cx="91" cy="91440"/>
          </a:xfrm>
          <a:prstGeom prst="line">
            <a:avLst/>
          </a:prstGeom>
          <a:noFill/>
          <a:ln w="9525">
            <a:solidFill>
              <a:srgbClr val="B8730A"/>
            </a:solidFill>
            <a:prstDash val="solid"/>
          </a:ln>
        </p:spPr>
      </p:sp>
      <p:sp>
        <p:nvSpPr>
          <p:cNvPr id="57" name="Shape 55"/>
          <p:cNvSpPr/>
          <p:nvPr/>
        </p:nvSpPr>
        <p:spPr>
          <a:xfrm>
            <a:off x="3941064" y="2331720"/>
            <a:ext cx="91" cy="91440"/>
          </a:xfrm>
          <a:prstGeom prst="line">
            <a:avLst/>
          </a:prstGeom>
          <a:noFill/>
          <a:ln w="9525">
            <a:solidFill>
              <a:srgbClr val="B8730A"/>
            </a:solidFill>
            <a:prstDash val="solid"/>
          </a:ln>
        </p:spPr>
      </p:sp>
      <p:sp>
        <p:nvSpPr>
          <p:cNvPr id="58" name="Shape 56"/>
          <p:cNvSpPr/>
          <p:nvPr/>
        </p:nvSpPr>
        <p:spPr>
          <a:xfrm>
            <a:off x="4050792" y="2331720"/>
            <a:ext cx="91" cy="91440"/>
          </a:xfrm>
          <a:prstGeom prst="line">
            <a:avLst/>
          </a:prstGeom>
          <a:noFill/>
          <a:ln w="9525">
            <a:solidFill>
              <a:srgbClr val="B8730A"/>
            </a:solidFill>
            <a:prstDash val="solid"/>
          </a:ln>
        </p:spPr>
      </p:sp>
      <p:sp>
        <p:nvSpPr>
          <p:cNvPr id="59" name="Shape 57"/>
          <p:cNvSpPr/>
          <p:nvPr/>
        </p:nvSpPr>
        <p:spPr>
          <a:xfrm>
            <a:off x="4160520" y="2331720"/>
            <a:ext cx="91" cy="219456"/>
          </a:xfrm>
          <a:prstGeom prst="line">
            <a:avLst/>
          </a:prstGeom>
          <a:noFill/>
          <a:ln w="19050">
            <a:solidFill>
              <a:srgbClr val="B8730A"/>
            </a:solidFill>
            <a:prstDash val="solid"/>
          </a:ln>
        </p:spPr>
      </p:sp>
      <p:sp>
        <p:nvSpPr>
          <p:cNvPr id="60" name="Shape 58"/>
          <p:cNvSpPr/>
          <p:nvPr/>
        </p:nvSpPr>
        <p:spPr>
          <a:xfrm>
            <a:off x="4270248" y="2331720"/>
            <a:ext cx="91" cy="91440"/>
          </a:xfrm>
          <a:prstGeom prst="line">
            <a:avLst/>
          </a:prstGeom>
          <a:noFill/>
          <a:ln w="9525">
            <a:solidFill>
              <a:srgbClr val="B8730A"/>
            </a:solidFill>
            <a:prstDash val="solid"/>
          </a:ln>
        </p:spPr>
      </p:sp>
      <p:sp>
        <p:nvSpPr>
          <p:cNvPr id="61" name="Shape 59"/>
          <p:cNvSpPr/>
          <p:nvPr/>
        </p:nvSpPr>
        <p:spPr>
          <a:xfrm>
            <a:off x="4379976" y="2331720"/>
            <a:ext cx="91" cy="91440"/>
          </a:xfrm>
          <a:prstGeom prst="line">
            <a:avLst/>
          </a:prstGeom>
          <a:noFill/>
          <a:ln w="9525">
            <a:solidFill>
              <a:srgbClr val="B8730A"/>
            </a:solidFill>
            <a:prstDash val="solid"/>
          </a:ln>
        </p:spPr>
      </p:sp>
      <p:sp>
        <p:nvSpPr>
          <p:cNvPr id="62" name="Shape 60"/>
          <p:cNvSpPr/>
          <p:nvPr/>
        </p:nvSpPr>
        <p:spPr>
          <a:xfrm>
            <a:off x="4489704" y="2331720"/>
            <a:ext cx="91" cy="91440"/>
          </a:xfrm>
          <a:prstGeom prst="line">
            <a:avLst/>
          </a:prstGeom>
          <a:noFill/>
          <a:ln w="9525">
            <a:solidFill>
              <a:srgbClr val="B8730A"/>
            </a:solidFill>
            <a:prstDash val="solid"/>
          </a:ln>
        </p:spPr>
      </p:sp>
      <p:sp>
        <p:nvSpPr>
          <p:cNvPr id="63" name="Shape 61"/>
          <p:cNvSpPr/>
          <p:nvPr/>
        </p:nvSpPr>
        <p:spPr>
          <a:xfrm>
            <a:off x="4599432" y="2331720"/>
            <a:ext cx="91" cy="91440"/>
          </a:xfrm>
          <a:prstGeom prst="line">
            <a:avLst/>
          </a:prstGeom>
          <a:noFill/>
          <a:ln w="9525">
            <a:solidFill>
              <a:srgbClr val="B8730A"/>
            </a:solidFill>
            <a:prstDash val="solid"/>
          </a:ln>
        </p:spPr>
      </p:sp>
      <p:sp>
        <p:nvSpPr>
          <p:cNvPr id="64" name="Shape 62"/>
          <p:cNvSpPr/>
          <p:nvPr/>
        </p:nvSpPr>
        <p:spPr>
          <a:xfrm>
            <a:off x="4709160" y="2331720"/>
            <a:ext cx="91" cy="155448"/>
          </a:xfrm>
          <a:prstGeom prst="line">
            <a:avLst/>
          </a:prstGeom>
          <a:noFill/>
          <a:ln w="9525">
            <a:solidFill>
              <a:srgbClr val="B8730A"/>
            </a:solidFill>
            <a:prstDash val="solid"/>
          </a:ln>
        </p:spPr>
      </p:sp>
      <p:sp>
        <p:nvSpPr>
          <p:cNvPr id="65" name="Shape 63"/>
          <p:cNvSpPr/>
          <p:nvPr/>
        </p:nvSpPr>
        <p:spPr>
          <a:xfrm>
            <a:off x="4818888" y="2331720"/>
            <a:ext cx="91" cy="91440"/>
          </a:xfrm>
          <a:prstGeom prst="line">
            <a:avLst/>
          </a:prstGeom>
          <a:noFill/>
          <a:ln w="9525">
            <a:solidFill>
              <a:srgbClr val="B8730A"/>
            </a:solidFill>
            <a:prstDash val="solid"/>
          </a:ln>
        </p:spPr>
      </p:sp>
      <p:sp>
        <p:nvSpPr>
          <p:cNvPr id="66" name="Shape 64"/>
          <p:cNvSpPr/>
          <p:nvPr/>
        </p:nvSpPr>
        <p:spPr>
          <a:xfrm>
            <a:off x="4928616" y="2331720"/>
            <a:ext cx="91" cy="91440"/>
          </a:xfrm>
          <a:prstGeom prst="line">
            <a:avLst/>
          </a:prstGeom>
          <a:noFill/>
          <a:ln w="9525">
            <a:solidFill>
              <a:srgbClr val="B8730A"/>
            </a:solidFill>
            <a:prstDash val="solid"/>
          </a:ln>
        </p:spPr>
      </p:sp>
      <p:sp>
        <p:nvSpPr>
          <p:cNvPr id="67" name="Shape 65"/>
          <p:cNvSpPr/>
          <p:nvPr/>
        </p:nvSpPr>
        <p:spPr>
          <a:xfrm>
            <a:off x="5038344" y="2331720"/>
            <a:ext cx="91" cy="91440"/>
          </a:xfrm>
          <a:prstGeom prst="line">
            <a:avLst/>
          </a:prstGeom>
          <a:noFill/>
          <a:ln w="9525">
            <a:solidFill>
              <a:srgbClr val="B8730A"/>
            </a:solidFill>
            <a:prstDash val="solid"/>
          </a:ln>
        </p:spPr>
      </p:sp>
      <p:sp>
        <p:nvSpPr>
          <p:cNvPr id="68" name="Shape 66"/>
          <p:cNvSpPr/>
          <p:nvPr/>
        </p:nvSpPr>
        <p:spPr>
          <a:xfrm>
            <a:off x="5148072" y="2331720"/>
            <a:ext cx="91" cy="91440"/>
          </a:xfrm>
          <a:prstGeom prst="line">
            <a:avLst/>
          </a:prstGeom>
          <a:noFill/>
          <a:ln w="9525">
            <a:solidFill>
              <a:srgbClr val="B8730A"/>
            </a:solidFill>
            <a:prstDash val="solid"/>
          </a:ln>
        </p:spPr>
      </p:sp>
      <p:sp>
        <p:nvSpPr>
          <p:cNvPr id="69" name="Shape 67"/>
          <p:cNvSpPr/>
          <p:nvPr/>
        </p:nvSpPr>
        <p:spPr>
          <a:xfrm>
            <a:off x="5257800" y="2331720"/>
            <a:ext cx="91" cy="219456"/>
          </a:xfrm>
          <a:prstGeom prst="line">
            <a:avLst/>
          </a:prstGeom>
          <a:noFill/>
          <a:ln w="19050">
            <a:solidFill>
              <a:srgbClr val="B8730A"/>
            </a:solidFill>
            <a:prstDash val="solid"/>
          </a:ln>
        </p:spPr>
      </p:sp>
      <p:sp>
        <p:nvSpPr>
          <p:cNvPr id="70" name="Text 68"/>
          <p:cNvSpPr/>
          <p:nvPr/>
        </p:nvSpPr>
        <p:spPr>
          <a:xfrm>
            <a:off x="685800" y="2560320"/>
            <a:ext cx="36576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0</a:t>
            </a:r>
            <a:endParaRPr lang="en-US" sz="1000" dirty="0"/>
          </a:p>
        </p:txBody>
      </p:sp>
      <p:sp>
        <p:nvSpPr>
          <p:cNvPr id="71" name="Text 69"/>
          <p:cNvSpPr/>
          <p:nvPr/>
        </p:nvSpPr>
        <p:spPr>
          <a:xfrm>
            <a:off x="1783080" y="2560320"/>
            <a:ext cx="36576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10</a:t>
            </a:r>
            <a:endParaRPr lang="en-US" sz="1000" dirty="0"/>
          </a:p>
        </p:txBody>
      </p:sp>
      <p:sp>
        <p:nvSpPr>
          <p:cNvPr id="72" name="Text 70"/>
          <p:cNvSpPr/>
          <p:nvPr/>
        </p:nvSpPr>
        <p:spPr>
          <a:xfrm>
            <a:off x="2880360" y="2560320"/>
            <a:ext cx="36576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20</a:t>
            </a:r>
            <a:endParaRPr lang="en-US" sz="1000" dirty="0"/>
          </a:p>
        </p:txBody>
      </p:sp>
      <p:sp>
        <p:nvSpPr>
          <p:cNvPr id="73" name="Text 71"/>
          <p:cNvSpPr/>
          <p:nvPr/>
        </p:nvSpPr>
        <p:spPr>
          <a:xfrm>
            <a:off x="3977640" y="2560320"/>
            <a:ext cx="36576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30</a:t>
            </a:r>
            <a:endParaRPr lang="en-US" sz="1000" dirty="0"/>
          </a:p>
        </p:txBody>
      </p:sp>
      <p:sp>
        <p:nvSpPr>
          <p:cNvPr id="74" name="Text 72"/>
          <p:cNvSpPr/>
          <p:nvPr/>
        </p:nvSpPr>
        <p:spPr>
          <a:xfrm>
            <a:off x="5074920" y="2560320"/>
            <a:ext cx="36576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40</a:t>
            </a:r>
            <a:endParaRPr lang="en-US" sz="1000" dirty="0"/>
          </a:p>
        </p:txBody>
      </p:sp>
      <p:sp>
        <p:nvSpPr>
          <p:cNvPr id="75" name="Text 73"/>
          <p:cNvSpPr/>
          <p:nvPr/>
        </p:nvSpPr>
        <p:spPr>
          <a:xfrm>
            <a:off x="594360" y="2871216"/>
            <a:ext cx="5212080" cy="274320"/>
          </a:xfrm>
          <a:prstGeom prst="rect">
            <a:avLst/>
          </a:prstGeom>
          <a:noFill/>
          <a:ln/>
        </p:spPr>
        <p:txBody>
          <a:bodyPr wrap="square" lIns="0" tIns="0" rIns="0" bIns="0" rtlCol="0" anchor="ctr"/>
          <a:lstStyle/>
          <a:p>
            <a:pPr algn="l" indent="0" marL="0">
              <a:buNone/>
            </a:pPr>
            <a:r>
              <a:rPr lang="en-US" sz="1100" dirty="0">
                <a:solidFill>
                  <a:srgbClr val="262B3A"/>
                </a:solidFill>
                <a:latin typeface="Calibri" pitchFamily="34" charset="0"/>
                <a:ea typeface="Calibri" pitchFamily="34" charset="-122"/>
                <a:cs typeface="Calibri" pitchFamily="34" charset="-120"/>
              </a:rPr>
              <a:t>40 eyepiece units = 100 µm, so </a:t>
            </a:r>
            <a:r>
              <a:rPr lang="en-US" sz="1100" b="1" dirty="0">
                <a:solidFill>
                  <a:srgbClr val="262B3A"/>
                </a:solidFill>
                <a:latin typeface="Calibri" pitchFamily="34" charset="0"/>
                <a:ea typeface="Calibri" pitchFamily="34" charset="-122"/>
                <a:cs typeface="Calibri" pitchFamily="34" charset="-120"/>
              </a:rPr>
              <a:t>1 eyepiece unit = 2.5 µm</a:t>
            </a:r>
            <a:r>
              <a:rPr lang="en-US" sz="1100" dirty="0">
                <a:solidFill>
                  <a:srgbClr val="262B3A"/>
                </a:solidFill>
                <a:latin typeface="Calibri" pitchFamily="34" charset="0"/>
                <a:ea typeface="Calibri" pitchFamily="34" charset="-122"/>
                <a:cs typeface="Calibri" pitchFamily="34" charset="-120"/>
              </a:rPr>
              <a:t> at ×400</a:t>
            </a:r>
            <a:endParaRPr lang="en-US" sz="1100" dirty="0"/>
          </a:p>
        </p:txBody>
      </p:sp>
      <p:sp>
        <p:nvSpPr>
          <p:cNvPr id="76" name="Shape 74"/>
          <p:cNvSpPr/>
          <p:nvPr/>
        </p:nvSpPr>
        <p:spPr>
          <a:xfrm>
            <a:off x="676656" y="3236976"/>
            <a:ext cx="1847088" cy="1847088"/>
          </a:xfrm>
          <a:prstGeom prst="ellipse">
            <a:avLst/>
          </a:prstGeom>
          <a:solidFill>
            <a:srgbClr val="2F3542"/>
          </a:solidFill>
          <a:ln w="9525">
            <a:solidFill>
              <a:srgbClr val="2F3542"/>
            </a:solidFill>
            <a:prstDash val="solid"/>
          </a:ln>
        </p:spPr>
      </p:sp>
      <p:sp>
        <p:nvSpPr>
          <p:cNvPr id="77" name="Shape 75"/>
          <p:cNvSpPr/>
          <p:nvPr/>
        </p:nvSpPr>
        <p:spPr>
          <a:xfrm>
            <a:off x="731520" y="3291840"/>
            <a:ext cx="1737360" cy="1737360"/>
          </a:xfrm>
          <a:prstGeom prst="ellipse">
            <a:avLst/>
          </a:prstGeom>
          <a:solidFill>
            <a:srgbClr val="FBF8EE"/>
          </a:solidFill>
          <a:ln w="6350">
            <a:solidFill>
              <a:srgbClr val="2F3542"/>
            </a:solidFill>
            <a:prstDash val="solid"/>
          </a:ln>
        </p:spPr>
      </p:sp>
      <p:sp>
        <p:nvSpPr>
          <p:cNvPr id="78" name="Shape 76"/>
          <p:cNvSpPr/>
          <p:nvPr/>
        </p:nvSpPr>
        <p:spPr>
          <a:xfrm>
            <a:off x="1051560" y="3749040"/>
            <a:ext cx="1097280" cy="822960"/>
          </a:xfrm>
          <a:prstGeom prst="ellipse">
            <a:avLst/>
          </a:prstGeom>
          <a:solidFill>
            <a:srgbClr val="E3ECF7"/>
          </a:solidFill>
          <a:ln w="12700">
            <a:solidFill>
              <a:srgbClr val="5B7FB0"/>
            </a:solidFill>
            <a:prstDash val="solid"/>
          </a:ln>
        </p:spPr>
      </p:sp>
      <p:sp>
        <p:nvSpPr>
          <p:cNvPr id="79" name="Shape 77"/>
          <p:cNvSpPr/>
          <p:nvPr/>
        </p:nvSpPr>
        <p:spPr>
          <a:xfrm>
            <a:off x="1545336" y="3995928"/>
            <a:ext cx="237744" cy="237744"/>
          </a:xfrm>
          <a:prstGeom prst="ellipse">
            <a:avLst/>
          </a:prstGeom>
          <a:solidFill>
            <a:srgbClr val="3E64A8"/>
          </a:solidFill>
          <a:ln w="9525">
            <a:solidFill>
              <a:srgbClr val="2B4C9B"/>
            </a:solidFill>
            <a:prstDash val="solid"/>
          </a:ln>
        </p:spPr>
      </p:sp>
      <p:sp>
        <p:nvSpPr>
          <p:cNvPr id="80" name="Shape 78"/>
          <p:cNvSpPr/>
          <p:nvPr/>
        </p:nvSpPr>
        <p:spPr>
          <a:xfrm>
            <a:off x="1051560" y="4636008"/>
            <a:ext cx="1097280" cy="91"/>
          </a:xfrm>
          <a:prstGeom prst="line">
            <a:avLst/>
          </a:prstGeom>
          <a:noFill/>
          <a:ln w="15875">
            <a:solidFill>
              <a:srgbClr val="B8730A"/>
            </a:solidFill>
            <a:prstDash val="solid"/>
          </a:ln>
        </p:spPr>
      </p:sp>
      <p:sp>
        <p:nvSpPr>
          <p:cNvPr id="81" name="Shape 79"/>
          <p:cNvSpPr/>
          <p:nvPr/>
        </p:nvSpPr>
        <p:spPr>
          <a:xfrm flipV="1">
            <a:off x="1051560" y="4535424"/>
            <a:ext cx="91" cy="100584"/>
          </a:xfrm>
          <a:prstGeom prst="line">
            <a:avLst/>
          </a:prstGeom>
          <a:noFill/>
          <a:ln w="9525">
            <a:solidFill>
              <a:srgbClr val="B8730A"/>
            </a:solidFill>
            <a:prstDash val="solid"/>
          </a:ln>
        </p:spPr>
      </p:sp>
      <p:sp>
        <p:nvSpPr>
          <p:cNvPr id="82" name="Shape 80"/>
          <p:cNvSpPr/>
          <p:nvPr/>
        </p:nvSpPr>
        <p:spPr>
          <a:xfrm flipV="1">
            <a:off x="1097280" y="4581144"/>
            <a:ext cx="91" cy="54864"/>
          </a:xfrm>
          <a:prstGeom prst="line">
            <a:avLst/>
          </a:prstGeom>
          <a:noFill/>
          <a:ln w="9525">
            <a:solidFill>
              <a:srgbClr val="B8730A"/>
            </a:solidFill>
            <a:prstDash val="solid"/>
          </a:ln>
        </p:spPr>
      </p:sp>
      <p:sp>
        <p:nvSpPr>
          <p:cNvPr id="83" name="Shape 81"/>
          <p:cNvSpPr/>
          <p:nvPr/>
        </p:nvSpPr>
        <p:spPr>
          <a:xfrm flipV="1">
            <a:off x="1143000" y="4581144"/>
            <a:ext cx="91" cy="54864"/>
          </a:xfrm>
          <a:prstGeom prst="line">
            <a:avLst/>
          </a:prstGeom>
          <a:noFill/>
          <a:ln w="9525">
            <a:solidFill>
              <a:srgbClr val="B8730A"/>
            </a:solidFill>
            <a:prstDash val="solid"/>
          </a:ln>
        </p:spPr>
      </p:sp>
      <p:sp>
        <p:nvSpPr>
          <p:cNvPr id="84" name="Shape 82"/>
          <p:cNvSpPr/>
          <p:nvPr/>
        </p:nvSpPr>
        <p:spPr>
          <a:xfrm flipV="1">
            <a:off x="1188720" y="4581144"/>
            <a:ext cx="91" cy="54864"/>
          </a:xfrm>
          <a:prstGeom prst="line">
            <a:avLst/>
          </a:prstGeom>
          <a:noFill/>
          <a:ln w="9525">
            <a:solidFill>
              <a:srgbClr val="B8730A"/>
            </a:solidFill>
            <a:prstDash val="solid"/>
          </a:ln>
        </p:spPr>
      </p:sp>
      <p:sp>
        <p:nvSpPr>
          <p:cNvPr id="85" name="Shape 83"/>
          <p:cNvSpPr/>
          <p:nvPr/>
        </p:nvSpPr>
        <p:spPr>
          <a:xfrm flipV="1">
            <a:off x="1234440" y="4535424"/>
            <a:ext cx="91" cy="100584"/>
          </a:xfrm>
          <a:prstGeom prst="line">
            <a:avLst/>
          </a:prstGeom>
          <a:noFill/>
          <a:ln w="9525">
            <a:solidFill>
              <a:srgbClr val="B8730A"/>
            </a:solidFill>
            <a:prstDash val="solid"/>
          </a:ln>
        </p:spPr>
      </p:sp>
      <p:sp>
        <p:nvSpPr>
          <p:cNvPr id="86" name="Shape 84"/>
          <p:cNvSpPr/>
          <p:nvPr/>
        </p:nvSpPr>
        <p:spPr>
          <a:xfrm flipV="1">
            <a:off x="1280160" y="4581144"/>
            <a:ext cx="91" cy="54864"/>
          </a:xfrm>
          <a:prstGeom prst="line">
            <a:avLst/>
          </a:prstGeom>
          <a:noFill/>
          <a:ln w="9525">
            <a:solidFill>
              <a:srgbClr val="B8730A"/>
            </a:solidFill>
            <a:prstDash val="solid"/>
          </a:ln>
        </p:spPr>
      </p:sp>
      <p:sp>
        <p:nvSpPr>
          <p:cNvPr id="87" name="Shape 85"/>
          <p:cNvSpPr/>
          <p:nvPr/>
        </p:nvSpPr>
        <p:spPr>
          <a:xfrm flipV="1">
            <a:off x="1325880" y="4581144"/>
            <a:ext cx="91" cy="54864"/>
          </a:xfrm>
          <a:prstGeom prst="line">
            <a:avLst/>
          </a:prstGeom>
          <a:noFill/>
          <a:ln w="9525">
            <a:solidFill>
              <a:srgbClr val="B8730A"/>
            </a:solidFill>
            <a:prstDash val="solid"/>
          </a:ln>
        </p:spPr>
      </p:sp>
      <p:sp>
        <p:nvSpPr>
          <p:cNvPr id="88" name="Shape 86"/>
          <p:cNvSpPr/>
          <p:nvPr/>
        </p:nvSpPr>
        <p:spPr>
          <a:xfrm flipV="1">
            <a:off x="1371600" y="4581144"/>
            <a:ext cx="91" cy="54864"/>
          </a:xfrm>
          <a:prstGeom prst="line">
            <a:avLst/>
          </a:prstGeom>
          <a:noFill/>
          <a:ln w="9525">
            <a:solidFill>
              <a:srgbClr val="B8730A"/>
            </a:solidFill>
            <a:prstDash val="solid"/>
          </a:ln>
        </p:spPr>
      </p:sp>
      <p:sp>
        <p:nvSpPr>
          <p:cNvPr id="89" name="Shape 87"/>
          <p:cNvSpPr/>
          <p:nvPr/>
        </p:nvSpPr>
        <p:spPr>
          <a:xfrm flipV="1">
            <a:off x="1417320" y="4535424"/>
            <a:ext cx="91" cy="100584"/>
          </a:xfrm>
          <a:prstGeom prst="line">
            <a:avLst/>
          </a:prstGeom>
          <a:noFill/>
          <a:ln w="9525">
            <a:solidFill>
              <a:srgbClr val="B8730A"/>
            </a:solidFill>
            <a:prstDash val="solid"/>
          </a:ln>
        </p:spPr>
      </p:sp>
      <p:sp>
        <p:nvSpPr>
          <p:cNvPr id="90" name="Shape 88"/>
          <p:cNvSpPr/>
          <p:nvPr/>
        </p:nvSpPr>
        <p:spPr>
          <a:xfrm flipV="1">
            <a:off x="1463040" y="4581144"/>
            <a:ext cx="91" cy="54864"/>
          </a:xfrm>
          <a:prstGeom prst="line">
            <a:avLst/>
          </a:prstGeom>
          <a:noFill/>
          <a:ln w="9525">
            <a:solidFill>
              <a:srgbClr val="B8730A"/>
            </a:solidFill>
            <a:prstDash val="solid"/>
          </a:ln>
        </p:spPr>
      </p:sp>
      <p:sp>
        <p:nvSpPr>
          <p:cNvPr id="91" name="Shape 89"/>
          <p:cNvSpPr/>
          <p:nvPr/>
        </p:nvSpPr>
        <p:spPr>
          <a:xfrm flipV="1">
            <a:off x="1508760" y="4581144"/>
            <a:ext cx="91" cy="54864"/>
          </a:xfrm>
          <a:prstGeom prst="line">
            <a:avLst/>
          </a:prstGeom>
          <a:noFill/>
          <a:ln w="9525">
            <a:solidFill>
              <a:srgbClr val="B8730A"/>
            </a:solidFill>
            <a:prstDash val="solid"/>
          </a:ln>
        </p:spPr>
      </p:sp>
      <p:sp>
        <p:nvSpPr>
          <p:cNvPr id="92" name="Shape 90"/>
          <p:cNvSpPr/>
          <p:nvPr/>
        </p:nvSpPr>
        <p:spPr>
          <a:xfrm flipV="1">
            <a:off x="1554480" y="4581144"/>
            <a:ext cx="91" cy="54864"/>
          </a:xfrm>
          <a:prstGeom prst="line">
            <a:avLst/>
          </a:prstGeom>
          <a:noFill/>
          <a:ln w="9525">
            <a:solidFill>
              <a:srgbClr val="B8730A"/>
            </a:solidFill>
            <a:prstDash val="solid"/>
          </a:ln>
        </p:spPr>
      </p:sp>
      <p:sp>
        <p:nvSpPr>
          <p:cNvPr id="93" name="Shape 91"/>
          <p:cNvSpPr/>
          <p:nvPr/>
        </p:nvSpPr>
        <p:spPr>
          <a:xfrm flipV="1">
            <a:off x="1600200" y="4535424"/>
            <a:ext cx="91" cy="100584"/>
          </a:xfrm>
          <a:prstGeom prst="line">
            <a:avLst/>
          </a:prstGeom>
          <a:noFill/>
          <a:ln w="9525">
            <a:solidFill>
              <a:srgbClr val="B8730A"/>
            </a:solidFill>
            <a:prstDash val="solid"/>
          </a:ln>
        </p:spPr>
      </p:sp>
      <p:sp>
        <p:nvSpPr>
          <p:cNvPr id="94" name="Shape 92"/>
          <p:cNvSpPr/>
          <p:nvPr/>
        </p:nvSpPr>
        <p:spPr>
          <a:xfrm flipV="1">
            <a:off x="1645920" y="4581144"/>
            <a:ext cx="91" cy="54864"/>
          </a:xfrm>
          <a:prstGeom prst="line">
            <a:avLst/>
          </a:prstGeom>
          <a:noFill/>
          <a:ln w="9525">
            <a:solidFill>
              <a:srgbClr val="B8730A"/>
            </a:solidFill>
            <a:prstDash val="solid"/>
          </a:ln>
        </p:spPr>
      </p:sp>
      <p:sp>
        <p:nvSpPr>
          <p:cNvPr id="95" name="Shape 93"/>
          <p:cNvSpPr/>
          <p:nvPr/>
        </p:nvSpPr>
        <p:spPr>
          <a:xfrm flipV="1">
            <a:off x="1691640" y="4581144"/>
            <a:ext cx="91" cy="54864"/>
          </a:xfrm>
          <a:prstGeom prst="line">
            <a:avLst/>
          </a:prstGeom>
          <a:noFill/>
          <a:ln w="9525">
            <a:solidFill>
              <a:srgbClr val="B8730A"/>
            </a:solidFill>
            <a:prstDash val="solid"/>
          </a:ln>
        </p:spPr>
      </p:sp>
      <p:sp>
        <p:nvSpPr>
          <p:cNvPr id="96" name="Shape 94"/>
          <p:cNvSpPr/>
          <p:nvPr/>
        </p:nvSpPr>
        <p:spPr>
          <a:xfrm flipV="1">
            <a:off x="1737360" y="4581144"/>
            <a:ext cx="91" cy="54864"/>
          </a:xfrm>
          <a:prstGeom prst="line">
            <a:avLst/>
          </a:prstGeom>
          <a:noFill/>
          <a:ln w="9525">
            <a:solidFill>
              <a:srgbClr val="B8730A"/>
            </a:solidFill>
            <a:prstDash val="solid"/>
          </a:ln>
        </p:spPr>
      </p:sp>
      <p:sp>
        <p:nvSpPr>
          <p:cNvPr id="97" name="Shape 95"/>
          <p:cNvSpPr/>
          <p:nvPr/>
        </p:nvSpPr>
        <p:spPr>
          <a:xfrm flipV="1">
            <a:off x="1783080" y="4535424"/>
            <a:ext cx="91" cy="100584"/>
          </a:xfrm>
          <a:prstGeom prst="line">
            <a:avLst/>
          </a:prstGeom>
          <a:noFill/>
          <a:ln w="9525">
            <a:solidFill>
              <a:srgbClr val="B8730A"/>
            </a:solidFill>
            <a:prstDash val="solid"/>
          </a:ln>
        </p:spPr>
      </p:sp>
      <p:sp>
        <p:nvSpPr>
          <p:cNvPr id="98" name="Shape 96"/>
          <p:cNvSpPr/>
          <p:nvPr/>
        </p:nvSpPr>
        <p:spPr>
          <a:xfrm flipV="1">
            <a:off x="1828800" y="4581144"/>
            <a:ext cx="91" cy="54864"/>
          </a:xfrm>
          <a:prstGeom prst="line">
            <a:avLst/>
          </a:prstGeom>
          <a:noFill/>
          <a:ln w="9525">
            <a:solidFill>
              <a:srgbClr val="B8730A"/>
            </a:solidFill>
            <a:prstDash val="solid"/>
          </a:ln>
        </p:spPr>
      </p:sp>
      <p:sp>
        <p:nvSpPr>
          <p:cNvPr id="99" name="Shape 97"/>
          <p:cNvSpPr/>
          <p:nvPr/>
        </p:nvSpPr>
        <p:spPr>
          <a:xfrm flipV="1">
            <a:off x="1874520" y="4581144"/>
            <a:ext cx="91" cy="54864"/>
          </a:xfrm>
          <a:prstGeom prst="line">
            <a:avLst/>
          </a:prstGeom>
          <a:noFill/>
          <a:ln w="9525">
            <a:solidFill>
              <a:srgbClr val="B8730A"/>
            </a:solidFill>
            <a:prstDash val="solid"/>
          </a:ln>
        </p:spPr>
      </p:sp>
      <p:sp>
        <p:nvSpPr>
          <p:cNvPr id="100" name="Shape 98"/>
          <p:cNvSpPr/>
          <p:nvPr/>
        </p:nvSpPr>
        <p:spPr>
          <a:xfrm flipV="1">
            <a:off x="1920240" y="4581144"/>
            <a:ext cx="91" cy="54864"/>
          </a:xfrm>
          <a:prstGeom prst="line">
            <a:avLst/>
          </a:prstGeom>
          <a:noFill/>
          <a:ln w="9525">
            <a:solidFill>
              <a:srgbClr val="B8730A"/>
            </a:solidFill>
            <a:prstDash val="solid"/>
          </a:ln>
        </p:spPr>
      </p:sp>
      <p:sp>
        <p:nvSpPr>
          <p:cNvPr id="101" name="Shape 99"/>
          <p:cNvSpPr/>
          <p:nvPr/>
        </p:nvSpPr>
        <p:spPr>
          <a:xfrm flipV="1">
            <a:off x="1965960" y="4535424"/>
            <a:ext cx="91" cy="100584"/>
          </a:xfrm>
          <a:prstGeom prst="line">
            <a:avLst/>
          </a:prstGeom>
          <a:noFill/>
          <a:ln w="9525">
            <a:solidFill>
              <a:srgbClr val="B8730A"/>
            </a:solidFill>
            <a:prstDash val="solid"/>
          </a:ln>
        </p:spPr>
      </p:sp>
      <p:sp>
        <p:nvSpPr>
          <p:cNvPr id="102" name="Shape 100"/>
          <p:cNvSpPr/>
          <p:nvPr/>
        </p:nvSpPr>
        <p:spPr>
          <a:xfrm flipV="1">
            <a:off x="2011680" y="4581144"/>
            <a:ext cx="91" cy="54864"/>
          </a:xfrm>
          <a:prstGeom prst="line">
            <a:avLst/>
          </a:prstGeom>
          <a:noFill/>
          <a:ln w="9525">
            <a:solidFill>
              <a:srgbClr val="B8730A"/>
            </a:solidFill>
            <a:prstDash val="solid"/>
          </a:ln>
        </p:spPr>
      </p:sp>
      <p:sp>
        <p:nvSpPr>
          <p:cNvPr id="103" name="Shape 101"/>
          <p:cNvSpPr/>
          <p:nvPr/>
        </p:nvSpPr>
        <p:spPr>
          <a:xfrm flipV="1">
            <a:off x="2057400" y="4581144"/>
            <a:ext cx="91" cy="54864"/>
          </a:xfrm>
          <a:prstGeom prst="line">
            <a:avLst/>
          </a:prstGeom>
          <a:noFill/>
          <a:ln w="9525">
            <a:solidFill>
              <a:srgbClr val="B8730A"/>
            </a:solidFill>
            <a:prstDash val="solid"/>
          </a:ln>
        </p:spPr>
      </p:sp>
      <p:sp>
        <p:nvSpPr>
          <p:cNvPr id="104" name="Shape 102"/>
          <p:cNvSpPr/>
          <p:nvPr/>
        </p:nvSpPr>
        <p:spPr>
          <a:xfrm flipV="1">
            <a:off x="2103120" y="4581144"/>
            <a:ext cx="91" cy="54864"/>
          </a:xfrm>
          <a:prstGeom prst="line">
            <a:avLst/>
          </a:prstGeom>
          <a:noFill/>
          <a:ln w="9525">
            <a:solidFill>
              <a:srgbClr val="B8730A"/>
            </a:solidFill>
            <a:prstDash val="solid"/>
          </a:ln>
        </p:spPr>
      </p:sp>
      <p:sp>
        <p:nvSpPr>
          <p:cNvPr id="105" name="Shape 103"/>
          <p:cNvSpPr/>
          <p:nvPr/>
        </p:nvSpPr>
        <p:spPr>
          <a:xfrm flipV="1">
            <a:off x="2148840" y="4535424"/>
            <a:ext cx="91" cy="100584"/>
          </a:xfrm>
          <a:prstGeom prst="line">
            <a:avLst/>
          </a:prstGeom>
          <a:noFill/>
          <a:ln w="9525">
            <a:solidFill>
              <a:srgbClr val="B8730A"/>
            </a:solidFill>
            <a:prstDash val="solid"/>
          </a:ln>
        </p:spPr>
      </p:sp>
      <p:sp>
        <p:nvSpPr>
          <p:cNvPr id="106" name="Text 104"/>
          <p:cNvSpPr/>
          <p:nvPr/>
        </p:nvSpPr>
        <p:spPr>
          <a:xfrm>
            <a:off x="2697480" y="3429000"/>
            <a:ext cx="3154680" cy="1371600"/>
          </a:xfrm>
          <a:prstGeom prst="rect">
            <a:avLst/>
          </a:prstGeom>
          <a:noFill/>
          <a:ln/>
        </p:spPr>
        <p:txBody>
          <a:bodyPr wrap="square" lIns="0" tIns="0" rIns="0" bIns="0" rtlCol="0" anchor="ctr"/>
          <a:lstStyle/>
          <a:p>
            <a:pPr indent="0" marL="0">
              <a:buNone/>
            </a:pPr>
            <a:r>
              <a:rPr lang="en-US" sz="1100" b="1" dirty="0">
                <a:solidFill>
                  <a:srgbClr val="262B3A"/>
                </a:solidFill>
                <a:latin typeface="Calibri" pitchFamily="34" charset="0"/>
                <a:ea typeface="Calibri" pitchFamily="34" charset="-122"/>
                <a:cs typeface="Calibri" pitchFamily="34" charset="-120"/>
              </a:rPr>
              <a:t>Measure:</a:t>
            </a:r>
            <a:r>
              <a:rPr lang="en-US" sz="1100" dirty="0">
                <a:solidFill>
                  <a:srgbClr val="262B3A"/>
                </a:solidFill>
                <a:latin typeface="Calibri" pitchFamily="34" charset="0"/>
                <a:ea typeface="Calibri" pitchFamily="34" charset="-122"/>
                <a:cs typeface="Calibri" pitchFamily="34" charset="-120"/>
              </a:rPr>
              <a:t> the cell spans </a:t>
            </a:r>
            <a:r>
              <a:rPr lang="en-US" sz="1100" b="1" dirty="0">
                <a:solidFill>
                  <a:srgbClr val="262B3A"/>
                </a:solidFill>
                <a:latin typeface="Calibri" pitchFamily="34" charset="0"/>
                <a:ea typeface="Calibri" pitchFamily="34" charset="-122"/>
                <a:cs typeface="Calibri" pitchFamily="34" charset="-120"/>
              </a:rPr>
              <a:t>24</a:t>
            </a:r>
            <a:r>
              <a:rPr lang="en-US" sz="1100" dirty="0">
                <a:solidFill>
                  <a:srgbClr val="262B3A"/>
                </a:solidFill>
                <a:latin typeface="Calibri" pitchFamily="34" charset="0"/>
                <a:ea typeface="Calibri" pitchFamily="34" charset="-122"/>
                <a:cs typeface="Calibri" pitchFamily="34" charset="-120"/>
              </a:rPr>
              <a:t> eyepiece units</a:t>
            </a:r>
            <a:endParaRPr lang="en-US" sz="1100" dirty="0"/>
          </a:p>
          <a:p>
            <a:pPr indent="0" marL="0">
              <a:buNone/>
            </a:pPr>
            <a:r>
              <a:rPr lang="en-US" sz="1100" dirty="0">
                <a:solidFill>
                  <a:srgbClr val="262B3A"/>
                </a:solidFill>
                <a:latin typeface="Calibri" pitchFamily="34" charset="0"/>
                <a:ea typeface="Calibri" pitchFamily="34" charset="-122"/>
                <a:cs typeface="Calibri" pitchFamily="34" charset="-120"/>
              </a:rPr>
              <a:t>size = 24 × 2.5 µm = </a:t>
            </a:r>
            <a:r>
              <a:rPr lang="en-US" sz="1100" b="1" dirty="0">
                <a:solidFill>
                  <a:srgbClr val="262B3A"/>
                </a:solidFill>
                <a:latin typeface="Calibri" pitchFamily="34" charset="0"/>
                <a:ea typeface="Calibri" pitchFamily="34" charset="-122"/>
                <a:cs typeface="Calibri" pitchFamily="34" charset="-120"/>
              </a:rPr>
              <a:t>60 µm</a:t>
            </a:r>
            <a:endParaRPr lang="en-US" sz="1100" dirty="0"/>
          </a:p>
          <a:p>
            <a:pPr indent="0" marL="0">
              <a:buNone/>
            </a:pPr>
            <a:r>
              <a:rPr lang="en-US" sz="1100" dirty="0">
                <a:solidFill>
                  <a:srgbClr val="262B3A"/>
                </a:solidFill>
                <a:latin typeface="Calibri" pitchFamily="34" charset="0"/>
                <a:ea typeface="Calibri" pitchFamily="34" charset="-122"/>
                <a:cs typeface="Calibri" pitchFamily="34" charset="-120"/>
              </a:rPr>
              <a:t>Measure </a:t>
            </a:r>
            <a:r>
              <a:rPr lang="en-US" sz="1100" b="1" dirty="0">
                <a:solidFill>
                  <a:srgbClr val="262B3A"/>
                </a:solidFill>
                <a:latin typeface="Calibri" pitchFamily="34" charset="0"/>
                <a:ea typeface="Calibri" pitchFamily="34" charset="-122"/>
                <a:cs typeface="Calibri" pitchFamily="34" charset="-120"/>
              </a:rPr>
              <a:t>5 cells</a:t>
            </a:r>
            <a:r>
              <a:rPr lang="en-US" sz="1100" dirty="0">
                <a:solidFill>
                  <a:srgbClr val="262B3A"/>
                </a:solidFill>
                <a:latin typeface="Calibri" pitchFamily="34" charset="0"/>
                <a:ea typeface="Calibri" pitchFamily="34" charset="-122"/>
                <a:cs typeface="Calibri" pitchFamily="34" charset="-120"/>
              </a:rPr>
              <a:t> and find the mean.</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188720"/>
                <a:gridCol w="502920"/>
                <a:gridCol w="502920"/>
                <a:gridCol w="502920"/>
                <a:gridCol w="502920"/>
                <a:gridCol w="502920"/>
                <a:gridCol w="713232"/>
                <a:gridCol w="11430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Cells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cheek ×400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60 µm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onion ×100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250 µm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108" name="Text 105"/>
          <p:cNvSpPr/>
          <p:nvPr/>
        </p:nvSpPr>
        <p:spPr>
          <a:xfrm>
            <a:off x="6217920" y="2048256"/>
            <a:ext cx="5559552"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lengths in eyepiece units • ×400: 1 unit = 2.5 µm • ×100: 1 unit = 10 µm</a:t>
            </a:r>
            <a:endParaRPr lang="en-US" sz="1000" dirty="0"/>
          </a:p>
        </p:txBody>
      </p:sp>
      <p:sp>
        <p:nvSpPr>
          <p:cNvPr id="109" name="Shape 106"/>
          <p:cNvSpPr/>
          <p:nvPr/>
        </p:nvSpPr>
        <p:spPr>
          <a:xfrm>
            <a:off x="6217920" y="2331720"/>
            <a:ext cx="5559552" cy="1389888"/>
          </a:xfrm>
          <a:prstGeom prst="roundRect">
            <a:avLst>
              <a:gd name="adj" fmla="val 3947"/>
            </a:avLst>
          </a:prstGeom>
          <a:solidFill>
            <a:srgbClr val="F4FAF9"/>
          </a:solidFill>
          <a:ln w="9525">
            <a:solidFill>
              <a:srgbClr val="CFE0DE"/>
            </a:solidFill>
            <a:prstDash val="solid"/>
          </a:ln>
        </p:spPr>
      </p:sp>
      <p:sp>
        <p:nvSpPr>
          <p:cNvPr id="110" name="Text 107"/>
          <p:cNvSpPr/>
          <p:nvPr/>
        </p:nvSpPr>
        <p:spPr>
          <a:xfrm>
            <a:off x="6382512" y="242316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Results</a:t>
            </a:r>
            <a:endParaRPr lang="en-US" sz="1300" dirty="0"/>
          </a:p>
        </p:txBody>
      </p:sp>
      <p:sp>
        <p:nvSpPr>
          <p:cNvPr id="111" name="Text 108"/>
          <p:cNvSpPr/>
          <p:nvPr/>
        </p:nvSpPr>
        <p:spPr>
          <a:xfrm>
            <a:off x="6382512" y="2752344"/>
            <a:ext cx="5230368" cy="89611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Mean cheek cell = 24 × 2.5 = </a:t>
            </a:r>
            <a:r>
              <a:rPr lang="en-US" sz="1050" b="1" dirty="0">
                <a:solidFill>
                  <a:srgbClr val="262B3A"/>
                </a:solidFill>
                <a:latin typeface="Calibri" pitchFamily="34" charset="0"/>
                <a:ea typeface="Calibri" pitchFamily="34" charset="-122"/>
                <a:cs typeface="Calibri" pitchFamily="34" charset="-120"/>
              </a:rPr>
              <a:t>60 µm</a:t>
            </a:r>
            <a:r>
              <a:rPr lang="en-US" sz="1050" dirty="0">
                <a:solidFill>
                  <a:srgbClr val="262B3A"/>
                </a:solidFill>
                <a:latin typeface="Calibri" pitchFamily="34" charset="0"/>
                <a:ea typeface="Calibri" pitchFamily="34" charset="-122"/>
                <a:cs typeface="Calibri" pitchFamily="34" charset="-120"/>
              </a:rPr>
              <a:t>. Mean onion cell = 25 × 10 = </a:t>
            </a:r>
            <a:r>
              <a:rPr lang="en-US" sz="1050" b="1" dirty="0">
                <a:solidFill>
                  <a:srgbClr val="262B3A"/>
                </a:solidFill>
                <a:latin typeface="Calibri" pitchFamily="34" charset="0"/>
                <a:ea typeface="Calibri" pitchFamily="34" charset="-122"/>
                <a:cs typeface="Calibri" pitchFamily="34" charset="-120"/>
              </a:rPr>
              <a:t>250 µm</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Onion cells are about </a:t>
            </a:r>
            <a:r>
              <a:rPr lang="en-US" sz="1050" b="1" dirty="0">
                <a:solidFill>
                  <a:srgbClr val="262B3A"/>
                </a:solidFill>
                <a:latin typeface="Calibri" pitchFamily="34" charset="0"/>
                <a:ea typeface="Calibri" pitchFamily="34" charset="-122"/>
                <a:cs typeface="Calibri" pitchFamily="34" charset="-120"/>
              </a:rPr>
              <a:t>4 times</a:t>
            </a:r>
            <a:r>
              <a:rPr lang="en-US" sz="1050" dirty="0">
                <a:solidFill>
                  <a:srgbClr val="262B3A"/>
                </a:solidFill>
                <a:latin typeface="Calibri" pitchFamily="34" charset="0"/>
                <a:ea typeface="Calibri" pitchFamily="34" charset="-122"/>
                <a:cs typeface="Calibri" pitchFamily="34" charset="-120"/>
              </a:rPr>
              <a:t> longer than cheek cells.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Cells vary, so measuring several and taking a </a:t>
            </a:r>
            <a:r>
              <a:rPr lang="en-US" sz="1050" b="1" dirty="0">
                <a:solidFill>
                  <a:srgbClr val="262B3A"/>
                </a:solidFill>
                <a:latin typeface="Calibri" pitchFamily="34" charset="0"/>
                <a:ea typeface="Calibri" pitchFamily="34" charset="-122"/>
                <a:cs typeface="Calibri" pitchFamily="34" charset="-120"/>
              </a:rPr>
              <a:t>mean</a:t>
            </a:r>
            <a:r>
              <a:rPr lang="en-US" sz="1050" dirty="0">
                <a:solidFill>
                  <a:srgbClr val="262B3A"/>
                </a:solidFill>
                <a:latin typeface="Calibri" pitchFamily="34" charset="0"/>
                <a:ea typeface="Calibri" pitchFamily="34" charset="-122"/>
                <a:cs typeface="Calibri" pitchFamily="34" charset="-120"/>
              </a:rPr>
              <a:t> gives a better estimate.</a:t>
            </a:r>
            <a:endParaRPr lang="en-US" sz="1050" dirty="0"/>
          </a:p>
        </p:txBody>
      </p:sp>
      <p:sp>
        <p:nvSpPr>
          <p:cNvPr id="112" name="Shape 109"/>
          <p:cNvSpPr/>
          <p:nvPr/>
        </p:nvSpPr>
        <p:spPr>
          <a:xfrm>
            <a:off x="6217920" y="3822192"/>
            <a:ext cx="5559552" cy="1892808"/>
          </a:xfrm>
          <a:prstGeom prst="roundRect">
            <a:avLst>
              <a:gd name="adj" fmla="val 2899"/>
            </a:avLst>
          </a:prstGeom>
          <a:solidFill>
            <a:srgbClr val="FFF4E0"/>
          </a:solidFill>
          <a:ln w="9525">
            <a:solidFill>
              <a:srgbClr val="F1D9A8"/>
            </a:solidFill>
            <a:prstDash val="solid"/>
          </a:ln>
        </p:spPr>
      </p:sp>
      <p:sp>
        <p:nvSpPr>
          <p:cNvPr id="113" name="Text 110"/>
          <p:cNvSpPr/>
          <p:nvPr/>
        </p:nvSpPr>
        <p:spPr>
          <a:xfrm>
            <a:off x="6382512" y="3895344"/>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Sources of error and improvements</a:t>
            </a:r>
            <a:endParaRPr lang="en-US" sz="1300" dirty="0"/>
          </a:p>
        </p:txBody>
      </p:sp>
      <p:sp>
        <p:nvSpPr>
          <p:cNvPr id="114" name="Text 111"/>
          <p:cNvSpPr/>
          <p:nvPr/>
        </p:nvSpPr>
        <p:spPr>
          <a:xfrm>
            <a:off x="6382512" y="4206240"/>
            <a:ext cx="5230368" cy="1435608"/>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Calibration   </a:t>
            </a:r>
            <a:r>
              <a:rPr lang="en-US" sz="1050" dirty="0">
                <a:solidFill>
                  <a:srgbClr val="262B3A"/>
                </a:solidFill>
                <a:latin typeface="Calibri" pitchFamily="34" charset="0"/>
                <a:ea typeface="Calibri" pitchFamily="34" charset="-122"/>
                <a:cs typeface="Calibri" pitchFamily="34" charset="-120"/>
              </a:rPr>
              <a:t>graticule units change with each objective → recalibrate for every lens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Edges   </a:t>
            </a:r>
            <a:r>
              <a:rPr lang="en-US" sz="1050" dirty="0">
                <a:solidFill>
                  <a:srgbClr val="262B3A"/>
                </a:solidFill>
                <a:latin typeface="Calibri" pitchFamily="34" charset="0"/>
                <a:ea typeface="Calibri" pitchFamily="34" charset="-122"/>
                <a:cs typeface="Calibri" pitchFamily="34" charset="-120"/>
              </a:rPr>
              <a:t>cell edges are hard to judge → measure along the same axis; use higher power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Preparation   </a:t>
            </a:r>
            <a:r>
              <a:rPr lang="en-US" sz="1050" dirty="0">
                <a:solidFill>
                  <a:srgbClr val="262B3A"/>
                </a:solidFill>
                <a:latin typeface="Calibri" pitchFamily="34" charset="0"/>
                <a:ea typeface="Calibri" pitchFamily="34" charset="-122"/>
                <a:cs typeface="Calibri" pitchFamily="34" charset="-120"/>
              </a:rPr>
              <a:t>air bubbles, folds or overlapping cells → thinner layer; lower coverslip slowly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measure several cells, calculate a mean, ignore damaged cells</a:t>
            </a:r>
            <a:endParaRPr lang="en-US" sz="1050" dirty="0"/>
          </a:p>
        </p:txBody>
      </p:sp>
      <p:sp>
        <p:nvSpPr>
          <p:cNvPr id="115" name="Shape 112"/>
          <p:cNvSpPr/>
          <p:nvPr/>
        </p:nvSpPr>
        <p:spPr>
          <a:xfrm>
            <a:off x="411480" y="5833872"/>
            <a:ext cx="11368735" cy="530352"/>
          </a:xfrm>
          <a:prstGeom prst="rect">
            <a:avLst/>
          </a:prstGeom>
          <a:solidFill>
            <a:srgbClr val="FFF4E0"/>
          </a:solidFill>
          <a:ln w="6350">
            <a:solidFill>
              <a:srgbClr val="F1D9A8"/>
            </a:solidFill>
            <a:prstDash val="solid"/>
          </a:ln>
        </p:spPr>
      </p:sp>
      <p:sp>
        <p:nvSpPr>
          <p:cNvPr id="116" name="Shape 113"/>
          <p:cNvSpPr/>
          <p:nvPr/>
        </p:nvSpPr>
        <p:spPr>
          <a:xfrm>
            <a:off x="411480" y="5833872"/>
            <a:ext cx="82296" cy="530352"/>
          </a:xfrm>
          <a:prstGeom prst="rect">
            <a:avLst/>
          </a:prstGeom>
          <a:solidFill>
            <a:srgbClr val="E39A2F"/>
          </a:solidFill>
          <a:ln w="12700">
            <a:solidFill>
              <a:srgbClr val="E39A2F"/>
            </a:solidFill>
            <a:prstDash val="solid"/>
          </a:ln>
        </p:spPr>
      </p:sp>
      <p:sp>
        <p:nvSpPr>
          <p:cNvPr id="117" name="Text 11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At ×100, 1 eyepiece unit = 10 µm. Why can you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use this value with the ×400 objective? What would 1 unit be at ×400?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PAG B1 microscopy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897941"/>
          </a:xfrm>
          <a:prstGeom prst="roundRect">
            <a:avLst>
              <a:gd name="adj" fmla="val 5092"/>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is </a:t>
            </a:r>
            <a:r>
              <a:rPr lang="en-US" sz="1250" b="1" dirty="0">
                <a:solidFill>
                  <a:srgbClr val="262B3A"/>
                </a:solidFill>
                <a:latin typeface="Calibri" pitchFamily="34" charset="0"/>
                <a:ea typeface="Calibri" pitchFamily="34" charset="-122"/>
                <a:cs typeface="Calibri" pitchFamily="34" charset="-120"/>
              </a:rPr>
              <a:t>methylene blue</a:t>
            </a:r>
            <a:r>
              <a:rPr lang="en-US" sz="1250" dirty="0">
                <a:solidFill>
                  <a:srgbClr val="262B3A"/>
                </a:solidFill>
                <a:latin typeface="Calibri" pitchFamily="34" charset="0"/>
                <a:ea typeface="Calibri" pitchFamily="34" charset="-122"/>
                <a:cs typeface="Calibri" pitchFamily="34" charset="-120"/>
              </a:rPr>
              <a:t> added to cheek cells on a slide?</a:t>
            </a:r>
            <a:endParaRPr lang="en-US" sz="1250" dirty="0"/>
          </a:p>
        </p:txBody>
      </p:sp>
      <p:sp>
        <p:nvSpPr>
          <p:cNvPr id="12" name="Text 10"/>
          <p:cNvSpPr/>
          <p:nvPr/>
        </p:nvSpPr>
        <p:spPr>
          <a:xfrm>
            <a:off x="10317175" y="1720901"/>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251253"/>
            <a:ext cx="11368735" cy="897941"/>
          </a:xfrm>
          <a:prstGeom prst="roundRect">
            <a:avLst>
              <a:gd name="adj" fmla="val 5092"/>
            </a:avLst>
          </a:prstGeom>
          <a:solidFill>
            <a:srgbClr val="FFFFFF"/>
          </a:solidFill>
          <a:ln w="12700">
            <a:solidFill>
              <a:srgbClr val="CFE0DE"/>
            </a:solidFill>
            <a:prstDash val="solid"/>
          </a:ln>
        </p:spPr>
      </p:sp>
      <p:sp>
        <p:nvSpPr>
          <p:cNvPr id="14" name="Shape 12"/>
          <p:cNvSpPr/>
          <p:nvPr/>
        </p:nvSpPr>
        <p:spPr>
          <a:xfrm>
            <a:off x="411480" y="2251253"/>
            <a:ext cx="2103120" cy="292608"/>
          </a:xfrm>
          <a:prstGeom prst="rect">
            <a:avLst/>
          </a:prstGeom>
          <a:solidFill>
            <a:srgbClr val="F5A742"/>
          </a:solidFill>
          <a:ln w="12700">
            <a:solidFill>
              <a:srgbClr val="F5A742"/>
            </a:solidFill>
            <a:prstDash val="solid"/>
          </a:ln>
        </p:spPr>
      </p:sp>
      <p:sp>
        <p:nvSpPr>
          <p:cNvPr id="15" name="Text 13"/>
          <p:cNvSpPr/>
          <p:nvPr/>
        </p:nvSpPr>
        <p:spPr>
          <a:xfrm>
            <a:off x="411480" y="2251253"/>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617013"/>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coverslip is lowered </a:t>
            </a:r>
            <a:r>
              <a:rPr lang="en-US" sz="1250" b="1" dirty="0">
                <a:solidFill>
                  <a:srgbClr val="262B3A"/>
                </a:solidFill>
                <a:latin typeface="Calibri" pitchFamily="34" charset="0"/>
                <a:ea typeface="Calibri" pitchFamily="34" charset="-122"/>
                <a:cs typeface="Calibri" pitchFamily="34" charset="-120"/>
              </a:rPr>
              <a:t>at an angle</a:t>
            </a:r>
            <a:r>
              <a:rPr lang="en-US" sz="1250" dirty="0">
                <a:solidFill>
                  <a:srgbClr val="262B3A"/>
                </a:solidFill>
                <a:latin typeface="Calibri" pitchFamily="34" charset="0"/>
                <a:ea typeface="Calibri" pitchFamily="34" charset="-122"/>
                <a:cs typeface="Calibri" pitchFamily="34" charset="-120"/>
              </a:rPr>
              <a:t> using a mounted needle.</a:t>
            </a:r>
            <a:endParaRPr lang="en-US" sz="1250" dirty="0"/>
          </a:p>
        </p:txBody>
      </p:sp>
      <p:sp>
        <p:nvSpPr>
          <p:cNvPr id="17" name="Text 15"/>
          <p:cNvSpPr/>
          <p:nvPr/>
        </p:nvSpPr>
        <p:spPr>
          <a:xfrm>
            <a:off x="10317175" y="2765146"/>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295498"/>
            <a:ext cx="11368735" cy="897941"/>
          </a:xfrm>
          <a:prstGeom prst="roundRect">
            <a:avLst>
              <a:gd name="adj" fmla="val 5092"/>
            </a:avLst>
          </a:prstGeom>
          <a:solidFill>
            <a:srgbClr val="FFFFFF"/>
          </a:solidFill>
          <a:ln w="12700">
            <a:solidFill>
              <a:srgbClr val="CFE0DE"/>
            </a:solidFill>
            <a:prstDash val="solid"/>
          </a:ln>
        </p:spPr>
      </p:sp>
      <p:sp>
        <p:nvSpPr>
          <p:cNvPr id="19" name="Shape 17"/>
          <p:cNvSpPr/>
          <p:nvPr/>
        </p:nvSpPr>
        <p:spPr>
          <a:xfrm>
            <a:off x="411480" y="3295498"/>
            <a:ext cx="2103120" cy="292608"/>
          </a:xfrm>
          <a:prstGeom prst="rect">
            <a:avLst/>
          </a:prstGeom>
          <a:solidFill>
            <a:srgbClr val="F5A742"/>
          </a:solidFill>
          <a:ln w="12700">
            <a:solidFill>
              <a:srgbClr val="F5A742"/>
            </a:solidFill>
            <a:prstDash val="solid"/>
          </a:ln>
        </p:spPr>
      </p:sp>
      <p:sp>
        <p:nvSpPr>
          <p:cNvPr id="20" name="Text 18"/>
          <p:cNvSpPr/>
          <p:nvPr/>
        </p:nvSpPr>
        <p:spPr>
          <a:xfrm>
            <a:off x="411480" y="329549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3661258"/>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rules for making a scientific drawing of cells.</a:t>
            </a:r>
            <a:endParaRPr lang="en-US" sz="1250" dirty="0"/>
          </a:p>
        </p:txBody>
      </p:sp>
      <p:sp>
        <p:nvSpPr>
          <p:cNvPr id="22" name="Text 20"/>
          <p:cNvSpPr/>
          <p:nvPr/>
        </p:nvSpPr>
        <p:spPr>
          <a:xfrm>
            <a:off x="10317175" y="380939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4339742"/>
            <a:ext cx="11368735" cy="897941"/>
          </a:xfrm>
          <a:prstGeom prst="roundRect">
            <a:avLst>
              <a:gd name="adj" fmla="val 5092"/>
            </a:avLst>
          </a:prstGeom>
          <a:solidFill>
            <a:srgbClr val="FFFFFF"/>
          </a:solidFill>
          <a:ln w="12700">
            <a:solidFill>
              <a:srgbClr val="CFE0DE"/>
            </a:solidFill>
            <a:prstDash val="solid"/>
          </a:ln>
        </p:spPr>
      </p:sp>
      <p:sp>
        <p:nvSpPr>
          <p:cNvPr id="24" name="Shape 22"/>
          <p:cNvSpPr/>
          <p:nvPr/>
        </p:nvSpPr>
        <p:spPr>
          <a:xfrm>
            <a:off x="411480" y="4339742"/>
            <a:ext cx="2103120" cy="292608"/>
          </a:xfrm>
          <a:prstGeom prst="rect">
            <a:avLst/>
          </a:prstGeom>
          <a:solidFill>
            <a:srgbClr val="F5A742"/>
          </a:solidFill>
          <a:ln w="12700">
            <a:solidFill>
              <a:srgbClr val="F5A742"/>
            </a:solidFill>
            <a:prstDash val="solid"/>
          </a:ln>
        </p:spPr>
      </p:sp>
      <p:sp>
        <p:nvSpPr>
          <p:cNvPr id="25" name="Text 23"/>
          <p:cNvSpPr/>
          <p:nvPr/>
        </p:nvSpPr>
        <p:spPr>
          <a:xfrm>
            <a:off x="411480" y="4339742"/>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4705502"/>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At ×400, </a:t>
            </a:r>
            <a:r>
              <a:rPr lang="en-US" sz="1250" b="1" dirty="0">
                <a:solidFill>
                  <a:srgbClr val="262B3A"/>
                </a:solidFill>
                <a:latin typeface="Calibri" pitchFamily="34" charset="0"/>
                <a:ea typeface="Calibri" pitchFamily="34" charset="-122"/>
                <a:cs typeface="Calibri" pitchFamily="34" charset="-120"/>
              </a:rPr>
              <a:t>40</a:t>
            </a:r>
            <a:r>
              <a:rPr lang="en-US" sz="1250" dirty="0">
                <a:solidFill>
                  <a:srgbClr val="262B3A"/>
                </a:solidFill>
                <a:latin typeface="Calibri" pitchFamily="34" charset="0"/>
                <a:ea typeface="Calibri" pitchFamily="34" charset="-122"/>
                <a:cs typeface="Calibri" pitchFamily="34" charset="-120"/>
              </a:rPr>
              <a:t> eyepiece units line up with </a:t>
            </a:r>
            <a:r>
              <a:rPr lang="en-US" sz="1250" b="1" dirty="0">
                <a:solidFill>
                  <a:srgbClr val="262B3A"/>
                </a:solidFill>
                <a:latin typeface="Calibri" pitchFamily="34" charset="0"/>
                <a:ea typeface="Calibri" pitchFamily="34" charset="-122"/>
                <a:cs typeface="Calibri" pitchFamily="34" charset="-120"/>
              </a:rPr>
              <a:t>100 µm</a:t>
            </a:r>
            <a:r>
              <a:rPr lang="en-US" sz="1250" dirty="0">
                <a:solidFill>
                  <a:srgbClr val="262B3A"/>
                </a:solidFill>
                <a:latin typeface="Calibri" pitchFamily="34" charset="0"/>
                <a:ea typeface="Calibri" pitchFamily="34" charset="-122"/>
                <a:cs typeface="Calibri" pitchFamily="34" charset="-120"/>
              </a:rPr>
              <a:t> on a stage micrometer. A cell is </a:t>
            </a:r>
            <a:r>
              <a:rPr lang="en-US" sz="1250" b="1" dirty="0">
                <a:solidFill>
                  <a:srgbClr val="262B3A"/>
                </a:solidFill>
                <a:latin typeface="Calibri" pitchFamily="34" charset="0"/>
                <a:ea typeface="Calibri" pitchFamily="34" charset="-122"/>
                <a:cs typeface="Calibri" pitchFamily="34" charset="-120"/>
              </a:rPr>
              <a:t>24</a:t>
            </a:r>
            <a:r>
              <a:rPr lang="en-US" sz="1250" dirty="0">
                <a:solidFill>
                  <a:srgbClr val="262B3A"/>
                </a:solidFill>
                <a:latin typeface="Calibri" pitchFamily="34" charset="0"/>
                <a:ea typeface="Calibri" pitchFamily="34" charset="-122"/>
                <a:cs typeface="Calibri" pitchFamily="34" charset="-120"/>
              </a:rPr>
              <a:t> eyepiece units long. Calculate its real length.</a:t>
            </a:r>
            <a:endParaRPr lang="en-US" sz="1250" dirty="0"/>
          </a:p>
        </p:txBody>
      </p:sp>
      <p:sp>
        <p:nvSpPr>
          <p:cNvPr id="27" name="Text 25"/>
          <p:cNvSpPr/>
          <p:nvPr/>
        </p:nvSpPr>
        <p:spPr>
          <a:xfrm>
            <a:off x="10317175" y="4853635"/>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411480" y="5383987"/>
            <a:ext cx="11368735" cy="897941"/>
          </a:xfrm>
          <a:prstGeom prst="roundRect">
            <a:avLst>
              <a:gd name="adj" fmla="val 5092"/>
            </a:avLst>
          </a:prstGeom>
          <a:solidFill>
            <a:srgbClr val="FFFFFF"/>
          </a:solidFill>
          <a:ln w="12700">
            <a:solidFill>
              <a:srgbClr val="CFE0DE"/>
            </a:solidFill>
            <a:prstDash val="solid"/>
          </a:ln>
        </p:spPr>
      </p:sp>
      <p:sp>
        <p:nvSpPr>
          <p:cNvPr id="29" name="Shape 27"/>
          <p:cNvSpPr/>
          <p:nvPr/>
        </p:nvSpPr>
        <p:spPr>
          <a:xfrm>
            <a:off x="411480" y="5383987"/>
            <a:ext cx="2103120" cy="292608"/>
          </a:xfrm>
          <a:prstGeom prst="rect">
            <a:avLst/>
          </a:prstGeom>
          <a:solidFill>
            <a:srgbClr val="F5A742"/>
          </a:solidFill>
          <a:ln w="12700">
            <a:solidFill>
              <a:srgbClr val="F5A742"/>
            </a:solidFill>
            <a:prstDash val="solid"/>
          </a:ln>
        </p:spPr>
      </p:sp>
      <p:sp>
        <p:nvSpPr>
          <p:cNvPr id="30" name="Text 28"/>
          <p:cNvSpPr/>
          <p:nvPr/>
        </p:nvSpPr>
        <p:spPr>
          <a:xfrm>
            <a:off x="411480" y="5383987"/>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1" name="Text 29"/>
          <p:cNvSpPr/>
          <p:nvPr/>
        </p:nvSpPr>
        <p:spPr>
          <a:xfrm>
            <a:off x="640080" y="5749747"/>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should the student measure </a:t>
            </a:r>
            <a:r>
              <a:rPr lang="en-US" sz="1250" b="1" dirty="0">
                <a:solidFill>
                  <a:srgbClr val="262B3A"/>
                </a:solidFill>
                <a:latin typeface="Calibri" pitchFamily="34" charset="0"/>
                <a:ea typeface="Calibri" pitchFamily="34" charset="-122"/>
                <a:cs typeface="Calibri" pitchFamily="34" charset="-120"/>
              </a:rPr>
              <a:t>several</a:t>
            </a:r>
            <a:r>
              <a:rPr lang="en-US" sz="1250" dirty="0">
                <a:solidFill>
                  <a:srgbClr val="262B3A"/>
                </a:solidFill>
                <a:latin typeface="Calibri" pitchFamily="34" charset="0"/>
                <a:ea typeface="Calibri" pitchFamily="34" charset="-122"/>
                <a:cs typeface="Calibri" pitchFamily="34" charset="-120"/>
              </a:rPr>
              <a:t> cells?</a:t>
            </a:r>
            <a:endParaRPr lang="en-US" sz="1250" dirty="0"/>
          </a:p>
        </p:txBody>
      </p:sp>
      <p:sp>
        <p:nvSpPr>
          <p:cNvPr id="32" name="Text 3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B4.2 How do we know about mitochondria and other cell structures?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22</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Eukaryotic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Cell with its DNA inside a nucleus, e.g. plant, animal and fungal cells.</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Prokaryotic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Cell with no nucleus, e.g. a bacterium. Its DNA is free in the cytoplasm.</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Nucleus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Contains the genetic material (chromosomes); controls the cell.</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Cell membrane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Controls what substances enter and leave the cell.</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Cytoplasm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Jelly where many chemical reactions happen, e.g. anaerobic respiration.</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Mitochondria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Organelles where aerobic respiration happens.</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Ribosomes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Tiny structures where proteins are made. Seen only with an electron microscope.</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Chloroplasts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Organelles in some plant cells that absorb light for photosynthesis.</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Cell wall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Strengthens the cell. Cellulose in plants; not cellulose in bacteria.</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Permanent vacuole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Large space in a plant cell filled with cell sap.</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Plasmids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Small rings of DNA in bacteria, separate from the main DNA loop.</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Chromosomal DNA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 a bacterium: one large loop of DNA holding most genes.</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Magnification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many times bigger the image is: image size ÷ real size.</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Resolution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Smallest distance between two points that can be seen as separate.</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Electron microscope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Uses electrons; much higher magnification and resolution than light.</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µm and nm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1 mm = 1000 µm; 1 µm = 1000 nm. HT: 1 µm = 10</a:t>
            </a:r>
            <a:r>
              <a:rPr lang="en-US" sz="1000" baseline="30000" dirty="0">
                <a:solidFill>
                  <a:srgbClr val="262B3A"/>
                </a:solidFill>
                <a:latin typeface="Calibri" pitchFamily="34" charset="0"/>
                <a:ea typeface="Calibri" pitchFamily="34" charset="-122"/>
                <a:cs typeface="Calibri" pitchFamily="34" charset="-120"/>
              </a:rPr>
              <a:t>−6</a:t>
            </a:r>
            <a:r>
              <a:rPr lang="en-US" sz="1000" dirty="0">
                <a:solidFill>
                  <a:srgbClr val="262B3A"/>
                </a:solidFill>
                <a:latin typeface="Calibri" pitchFamily="34" charset="0"/>
                <a:ea typeface="Calibri" pitchFamily="34" charset="-122"/>
                <a:cs typeface="Calibri" pitchFamily="34" charset="-120"/>
              </a:rPr>
              <a:t> m; 1 nm = 10</a:t>
            </a:r>
            <a:r>
              <a:rPr lang="en-US" sz="1000" baseline="30000" dirty="0">
                <a:solidFill>
                  <a:srgbClr val="262B3A"/>
                </a:solidFill>
                <a:latin typeface="Calibri" pitchFamily="34" charset="0"/>
                <a:ea typeface="Calibri" pitchFamily="34" charset="-122"/>
                <a:cs typeface="Calibri" pitchFamily="34" charset="-120"/>
              </a:rPr>
              <a:t>−9</a:t>
            </a:r>
            <a:r>
              <a:rPr lang="en-US" sz="1000" dirty="0">
                <a:solidFill>
                  <a:srgbClr val="262B3A"/>
                </a:solidFill>
                <a:latin typeface="Calibri" pitchFamily="34" charset="0"/>
                <a:ea typeface="Calibri" pitchFamily="34" charset="-122"/>
                <a:cs typeface="Calibri" pitchFamily="34" charset="-120"/>
              </a:rPr>
              <a:t> m.</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B4.2.1, B1.1 link and PAG B1 • answer every part • 13 marks • (e) is HT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uses a light microscope to look at </a:t>
            </a:r>
            <a:r>
              <a:rPr lang="en-US" sz="1200" b="1" i="1" dirty="0">
                <a:solidFill>
                  <a:srgbClr val="262B3A"/>
                </a:solidFill>
                <a:latin typeface="Calibri" pitchFamily="34" charset="0"/>
                <a:ea typeface="Calibri" pitchFamily="34" charset="-122"/>
                <a:cs typeface="Calibri" pitchFamily="34" charset="-120"/>
              </a:rPr>
              <a:t>onion cells</a:t>
            </a:r>
            <a:r>
              <a:rPr lang="en-US" sz="1200" i="1" dirty="0">
                <a:solidFill>
                  <a:srgbClr val="262B3A"/>
                </a:solidFill>
                <a:latin typeface="Calibri" pitchFamily="34" charset="0"/>
                <a:ea typeface="Calibri" pitchFamily="34" charset="-122"/>
                <a:cs typeface="Calibri" pitchFamily="34" charset="-120"/>
              </a:rPr>
              <a:t>. She then compares them with an electron micrograph of a </a:t>
            </a:r>
            <a:r>
              <a:rPr lang="en-US" sz="1200" b="1" i="1" dirty="0">
                <a:solidFill>
                  <a:srgbClr val="262B3A"/>
                </a:solidFill>
                <a:latin typeface="Calibri" pitchFamily="34" charset="0"/>
                <a:ea typeface="Calibri" pitchFamily="34" charset="-122"/>
                <a:cs typeface="Calibri" pitchFamily="34" charset="-120"/>
              </a:rPr>
              <a:t>bacterium</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395197"/>
          </a:xfrm>
          <a:prstGeom prst="roundRect">
            <a:avLst>
              <a:gd name="adj" fmla="val 3277"/>
            </a:avLst>
          </a:prstGeom>
          <a:solidFill>
            <a:srgbClr val="F4FAF9"/>
          </a:solidFill>
          <a:ln w="9525">
            <a:solidFill>
              <a:srgbClr val="CFE0DE"/>
            </a:solidFill>
            <a:prstDash val="solid"/>
          </a:ln>
        </p:spPr>
      </p:sp>
      <p:sp>
        <p:nvSpPr>
          <p:cNvPr id="10" name="Text 8"/>
          <p:cNvSpPr/>
          <p:nvPr/>
        </p:nvSpPr>
        <p:spPr>
          <a:xfrm>
            <a:off x="548640" y="1792224"/>
            <a:ext cx="5295748" cy="10294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structures found in </a:t>
            </a:r>
            <a:r>
              <a:rPr lang="en-US" sz="1200" b="1" dirty="0">
                <a:solidFill>
                  <a:srgbClr val="262B3A"/>
                </a:solidFill>
                <a:latin typeface="Calibri" pitchFamily="34" charset="0"/>
                <a:ea typeface="Calibri" pitchFamily="34" charset="-122"/>
                <a:cs typeface="Calibri" pitchFamily="34" charset="-120"/>
              </a:rPr>
              <a:t>both</a:t>
            </a:r>
            <a:r>
              <a:rPr lang="en-US" sz="1200" dirty="0">
                <a:solidFill>
                  <a:srgbClr val="262B3A"/>
                </a:solidFill>
                <a:latin typeface="Calibri" pitchFamily="34" charset="0"/>
                <a:ea typeface="Calibri" pitchFamily="34" charset="-122"/>
                <a:cs typeface="Calibri" pitchFamily="34" charset="-120"/>
              </a:rPr>
              <a:t> a bacterial cell and an onion cell.</a:t>
            </a:r>
            <a:endParaRPr lang="en-US" sz="1200" dirty="0"/>
          </a:p>
        </p:txBody>
      </p:sp>
      <p:sp>
        <p:nvSpPr>
          <p:cNvPr id="11" name="Text 9"/>
          <p:cNvSpPr/>
          <p:nvPr/>
        </p:nvSpPr>
        <p:spPr>
          <a:xfrm>
            <a:off x="4518508" y="28033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23997"/>
            <a:ext cx="5570068" cy="1395197"/>
          </a:xfrm>
          <a:prstGeom prst="roundRect">
            <a:avLst>
              <a:gd name="adj" fmla="val 3277"/>
            </a:avLst>
          </a:prstGeom>
          <a:solidFill>
            <a:srgbClr val="FFFFFF"/>
          </a:solidFill>
          <a:ln w="9525">
            <a:solidFill>
              <a:srgbClr val="CFE0DE"/>
            </a:solidFill>
            <a:prstDash val="solid"/>
          </a:ln>
        </p:spPr>
      </p:sp>
      <p:sp>
        <p:nvSpPr>
          <p:cNvPr id="13" name="Text 11"/>
          <p:cNvSpPr/>
          <p:nvPr/>
        </p:nvSpPr>
        <p:spPr>
          <a:xfrm>
            <a:off x="548640" y="3297149"/>
            <a:ext cx="5295748" cy="10294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differences between the genetic material of the bacterium and the genetic material of the onion cell.</a:t>
            </a:r>
            <a:endParaRPr lang="en-US" sz="1200" dirty="0"/>
          </a:p>
        </p:txBody>
      </p:sp>
      <p:sp>
        <p:nvSpPr>
          <p:cNvPr id="14" name="Text 12"/>
          <p:cNvSpPr/>
          <p:nvPr/>
        </p:nvSpPr>
        <p:spPr>
          <a:xfrm>
            <a:off x="4518508" y="43082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728923"/>
            <a:ext cx="5570068" cy="1534717"/>
          </a:xfrm>
          <a:prstGeom prst="roundRect">
            <a:avLst>
              <a:gd name="adj" fmla="val 2979"/>
            </a:avLst>
          </a:prstGeom>
          <a:solidFill>
            <a:srgbClr val="F4FAF9"/>
          </a:solidFill>
          <a:ln w="9525">
            <a:solidFill>
              <a:srgbClr val="CFE0DE"/>
            </a:solidFill>
            <a:prstDash val="solid"/>
          </a:ln>
        </p:spPr>
      </p:sp>
      <p:sp>
        <p:nvSpPr>
          <p:cNvPr id="16" name="Text 14"/>
          <p:cNvSpPr/>
          <p:nvPr/>
        </p:nvSpPr>
        <p:spPr>
          <a:xfrm>
            <a:off x="548640" y="4802075"/>
            <a:ext cx="5295748" cy="116895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The eyepiece lens is </a:t>
            </a:r>
            <a:r>
              <a:rPr lang="en-US" sz="1200" b="1" dirty="0">
                <a:solidFill>
                  <a:srgbClr val="262B3A"/>
                </a:solidFill>
                <a:latin typeface="Calibri" pitchFamily="34" charset="0"/>
                <a:ea typeface="Calibri" pitchFamily="34" charset="-122"/>
                <a:cs typeface="Calibri" pitchFamily="34" charset="-120"/>
              </a:rPr>
              <a:t>×10</a:t>
            </a:r>
            <a:r>
              <a:rPr lang="en-US" sz="1200" dirty="0">
                <a:solidFill>
                  <a:srgbClr val="262B3A"/>
                </a:solidFill>
                <a:latin typeface="Calibri" pitchFamily="34" charset="0"/>
                <a:ea typeface="Calibri" pitchFamily="34" charset="-122"/>
                <a:cs typeface="Calibri" pitchFamily="34" charset="-120"/>
              </a:rPr>
              <a:t> and the objective lens is </a:t>
            </a:r>
            <a:r>
              <a:rPr lang="en-US" sz="1200" b="1" dirty="0">
                <a:solidFill>
                  <a:srgbClr val="262B3A"/>
                </a:solidFill>
                <a:latin typeface="Calibri" pitchFamily="34" charset="0"/>
                <a:ea typeface="Calibri" pitchFamily="34" charset="-122"/>
                <a:cs typeface="Calibri" pitchFamily="34" charset="-120"/>
              </a:rPr>
              <a:t>×40</a:t>
            </a:r>
            <a:r>
              <a:rPr lang="en-US" sz="1200" dirty="0">
                <a:solidFill>
                  <a:srgbClr val="262B3A"/>
                </a:solidFill>
                <a:latin typeface="Calibri" pitchFamily="34" charset="0"/>
                <a:ea typeface="Calibri" pitchFamily="34" charset="-122"/>
                <a:cs typeface="Calibri" pitchFamily="34" charset="-120"/>
              </a:rPr>
              <a:t>. Calculate the total magnification. Give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reason why she adds </a:t>
            </a:r>
            <a:r>
              <a:rPr lang="en-US" sz="1200" b="1" dirty="0">
                <a:solidFill>
                  <a:srgbClr val="262B3A"/>
                </a:solidFill>
                <a:latin typeface="Calibri" pitchFamily="34" charset="0"/>
                <a:ea typeface="Calibri" pitchFamily="34" charset="-122"/>
                <a:cs typeface="Calibri" pitchFamily="34" charset="-120"/>
              </a:rPr>
              <a:t>iodine</a:t>
            </a:r>
            <a:r>
              <a:rPr lang="en-US" sz="1200" dirty="0">
                <a:solidFill>
                  <a:srgbClr val="262B3A"/>
                </a:solidFill>
                <a:latin typeface="Calibri" pitchFamily="34" charset="0"/>
                <a:ea typeface="Calibri" pitchFamily="34" charset="-122"/>
                <a:cs typeface="Calibri" pitchFamily="34" charset="-120"/>
              </a:rPr>
              <a:t> to the onion cells.</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486757"/>
          </a:xfrm>
          <a:prstGeom prst="roundRect">
            <a:avLst>
              <a:gd name="adj" fmla="val 3075"/>
            </a:avLst>
          </a:prstGeom>
          <a:solidFill>
            <a:srgbClr val="F4FAF9"/>
          </a:solidFill>
          <a:ln w="9525">
            <a:solidFill>
              <a:srgbClr val="CFE0DE"/>
            </a:solidFill>
            <a:prstDash val="solid"/>
          </a:ln>
        </p:spPr>
      </p:sp>
      <p:sp>
        <p:nvSpPr>
          <p:cNvPr id="19" name="Text 17"/>
          <p:cNvSpPr/>
          <p:nvPr/>
        </p:nvSpPr>
        <p:spPr>
          <a:xfrm>
            <a:off x="6347308" y="1792224"/>
            <a:ext cx="5295748" cy="112099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Her drawing of one onion cell is </a:t>
            </a:r>
            <a:r>
              <a:rPr lang="en-US" sz="1200" b="1" dirty="0">
                <a:solidFill>
                  <a:srgbClr val="262B3A"/>
                </a:solidFill>
                <a:latin typeface="Calibri" pitchFamily="34" charset="0"/>
                <a:ea typeface="Calibri" pitchFamily="34" charset="-122"/>
                <a:cs typeface="Calibri" pitchFamily="34" charset="-120"/>
              </a:rPr>
              <a:t>100 mm</a:t>
            </a:r>
            <a:r>
              <a:rPr lang="en-US" sz="1200" dirty="0">
                <a:solidFill>
                  <a:srgbClr val="262B3A"/>
                </a:solidFill>
                <a:latin typeface="Calibri" pitchFamily="34" charset="0"/>
                <a:ea typeface="Calibri" pitchFamily="34" charset="-122"/>
                <a:cs typeface="Calibri" pitchFamily="34" charset="-120"/>
              </a:rPr>
              <a:t> long at a magnification of </a:t>
            </a:r>
            <a:r>
              <a:rPr lang="en-US" sz="1200" b="1" dirty="0">
                <a:solidFill>
                  <a:srgbClr val="262B3A"/>
                </a:solidFill>
                <a:latin typeface="Calibri" pitchFamily="34" charset="0"/>
                <a:ea typeface="Calibri" pitchFamily="34" charset="-122"/>
                <a:cs typeface="Calibri" pitchFamily="34" charset="-120"/>
              </a:rPr>
              <a:t>×400</a:t>
            </a:r>
            <a:r>
              <a:rPr lang="en-US" sz="1200" dirty="0">
                <a:solidFill>
                  <a:srgbClr val="262B3A"/>
                </a:solidFill>
                <a:latin typeface="Calibri" pitchFamily="34" charset="0"/>
                <a:ea typeface="Calibri" pitchFamily="34" charset="-122"/>
                <a:cs typeface="Calibri" pitchFamily="34" charset="-120"/>
              </a:rPr>
              <a:t>. Calculate the real length of the cell in </a:t>
            </a:r>
            <a:r>
              <a:rPr lang="en-US" sz="1200" b="1" dirty="0">
                <a:solidFill>
                  <a:srgbClr val="262B3A"/>
                </a:solidFill>
                <a:latin typeface="Calibri" pitchFamily="34" charset="0"/>
                <a:ea typeface="Calibri" pitchFamily="34" charset="-122"/>
                <a:cs typeface="Calibri" pitchFamily="34" charset="-120"/>
              </a:rPr>
              <a:t>µm</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0317175" y="289493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3315557"/>
            <a:ext cx="5570068" cy="1081278"/>
          </a:xfrm>
          <a:prstGeom prst="roundRect">
            <a:avLst>
              <a:gd name="adj" fmla="val 4228"/>
            </a:avLst>
          </a:prstGeom>
          <a:solidFill>
            <a:srgbClr val="FFFFFF"/>
          </a:solidFill>
          <a:ln w="9525">
            <a:solidFill>
              <a:srgbClr val="CFE0DE"/>
            </a:solidFill>
            <a:prstDash val="solid"/>
          </a:ln>
        </p:spPr>
      </p:sp>
      <p:sp>
        <p:nvSpPr>
          <p:cNvPr id="22" name="Text 20"/>
          <p:cNvSpPr/>
          <p:nvPr/>
        </p:nvSpPr>
        <p:spPr>
          <a:xfrm>
            <a:off x="6347308" y="3388709"/>
            <a:ext cx="4792828" cy="715518"/>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Write your answer to (d) in </a:t>
            </a:r>
            <a:r>
              <a:rPr lang="en-US" sz="1200" b="1" dirty="0">
                <a:solidFill>
                  <a:srgbClr val="262B3A"/>
                </a:solidFill>
                <a:latin typeface="Calibri" pitchFamily="34" charset="0"/>
                <a:ea typeface="Calibri" pitchFamily="34" charset="-122"/>
                <a:cs typeface="Calibri" pitchFamily="34" charset="-120"/>
              </a:rPr>
              <a:t>metres</a:t>
            </a:r>
            <a:r>
              <a:rPr lang="en-US" sz="1200" dirty="0">
                <a:solidFill>
                  <a:srgbClr val="262B3A"/>
                </a:solidFill>
                <a:latin typeface="Calibri" pitchFamily="34" charset="0"/>
                <a:ea typeface="Calibri" pitchFamily="34" charset="-122"/>
                <a:cs typeface="Calibri" pitchFamily="34" charset="-120"/>
              </a:rPr>
              <a:t>, in </a:t>
            </a:r>
            <a:r>
              <a:rPr lang="en-US" sz="1200" b="1" dirty="0">
                <a:solidFill>
                  <a:srgbClr val="262B3A"/>
                </a:solidFill>
                <a:latin typeface="Calibri" pitchFamily="34" charset="0"/>
                <a:ea typeface="Calibri" pitchFamily="34" charset="-122"/>
                <a:cs typeface="Calibri" pitchFamily="34" charset="-120"/>
              </a:rPr>
              <a:t>standard form</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11231575" y="3388709"/>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3388709"/>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408593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6" name="Shape 24"/>
          <p:cNvSpPr/>
          <p:nvPr/>
        </p:nvSpPr>
        <p:spPr>
          <a:xfrm>
            <a:off x="6210148" y="4506563"/>
            <a:ext cx="5570068" cy="1757077"/>
          </a:xfrm>
          <a:prstGeom prst="roundRect">
            <a:avLst>
              <a:gd name="adj" fmla="val 2602"/>
            </a:avLst>
          </a:prstGeom>
          <a:solidFill>
            <a:srgbClr val="F4FAF9"/>
          </a:solidFill>
          <a:ln w="9525">
            <a:solidFill>
              <a:srgbClr val="CFE0DE"/>
            </a:solidFill>
            <a:prstDash val="solid"/>
          </a:ln>
        </p:spPr>
      </p:sp>
      <p:sp>
        <p:nvSpPr>
          <p:cNvPr id="27" name="Text 25"/>
          <p:cNvSpPr/>
          <p:nvPr/>
        </p:nvSpPr>
        <p:spPr>
          <a:xfrm>
            <a:off x="6347308" y="4579715"/>
            <a:ext cx="5295748" cy="139131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Ribosomes are about </a:t>
            </a:r>
            <a:r>
              <a:rPr lang="en-US" sz="1200" b="1" dirty="0">
                <a:solidFill>
                  <a:srgbClr val="262B3A"/>
                </a:solidFill>
                <a:latin typeface="Calibri" pitchFamily="34" charset="0"/>
                <a:ea typeface="Calibri" pitchFamily="34" charset="-122"/>
                <a:cs typeface="Calibri" pitchFamily="34" charset="-120"/>
              </a:rPr>
              <a:t>25 nm</a:t>
            </a:r>
            <a:r>
              <a:rPr lang="en-US" sz="1200" dirty="0">
                <a:solidFill>
                  <a:srgbClr val="262B3A"/>
                </a:solidFill>
                <a:latin typeface="Calibri" pitchFamily="34" charset="0"/>
                <a:ea typeface="Calibri" pitchFamily="34" charset="-122"/>
                <a:cs typeface="Calibri" pitchFamily="34" charset="-120"/>
              </a:rPr>
              <a:t> across. Explain why ribosomes were not discovered until electron microscopes were developed.</a:t>
            </a:r>
            <a:endParaRPr lang="en-US" sz="12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B4.2 How do we know about mitochondria and other cell structures?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B4.2 How do we know about mitochondria and other cell structures?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Q5 is Higher tier (HT).</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State the function of the </a:t>
            </a:r>
            <a:r>
              <a:rPr lang="en-US" sz="1150" b="1" dirty="0">
                <a:solidFill>
                  <a:srgbClr val="262B3A"/>
                </a:solidFill>
                <a:latin typeface="Calibri" pitchFamily="34" charset="0"/>
                <a:ea typeface="Calibri" pitchFamily="34" charset="-122"/>
                <a:cs typeface="Calibri" pitchFamily="34" charset="-120"/>
              </a:rPr>
              <a:t>ribosomes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In a bacterium, name (a) the structure that holds </a:t>
            </a:r>
            <a:r>
              <a:rPr lang="en-US" sz="1150" b="1" dirty="0">
                <a:solidFill>
                  <a:srgbClr val="262B3A"/>
                </a:solidFill>
                <a:latin typeface="Calibri" pitchFamily="34" charset="0"/>
                <a:ea typeface="Calibri" pitchFamily="34" charset="-122"/>
                <a:cs typeface="Calibri" pitchFamily="34" charset="-120"/>
              </a:rPr>
              <a:t>most</a:t>
            </a:r>
            <a:r>
              <a:rPr lang="en-US" sz="1150" dirty="0">
                <a:solidFill>
                  <a:srgbClr val="262B3A"/>
                </a:solidFill>
                <a:latin typeface="Calibri" pitchFamily="34" charset="0"/>
                <a:ea typeface="Calibri" pitchFamily="34" charset="-122"/>
                <a:cs typeface="Calibri" pitchFamily="34" charset="-120"/>
              </a:rPr>
              <a:t> of its genes and (b) the small </a:t>
            </a:r>
            <a:r>
              <a:rPr lang="en-US" sz="1150" b="1" dirty="0">
                <a:solidFill>
                  <a:srgbClr val="262B3A"/>
                </a:solidFill>
                <a:latin typeface="Calibri" pitchFamily="34" charset="0"/>
                <a:ea typeface="Calibri" pitchFamily="34" charset="-122"/>
                <a:cs typeface="Calibri" pitchFamily="34" charset="-120"/>
              </a:rPr>
              <a:t>rings</a:t>
            </a:r>
            <a:r>
              <a:rPr lang="en-US" sz="1150" dirty="0">
                <a:solidFill>
                  <a:srgbClr val="262B3A"/>
                </a:solidFill>
                <a:latin typeface="Calibri" pitchFamily="34" charset="0"/>
                <a:ea typeface="Calibri" pitchFamily="34" charset="-122"/>
                <a:cs typeface="Calibri" pitchFamily="34" charset="-120"/>
              </a:rPr>
              <a:t> of DNA.</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Convert (a) </a:t>
            </a:r>
            <a:r>
              <a:rPr lang="en-US" sz="1150" b="1" dirty="0">
                <a:solidFill>
                  <a:srgbClr val="262B3A"/>
                </a:solidFill>
                <a:latin typeface="Calibri" pitchFamily="34" charset="0"/>
                <a:ea typeface="Calibri" pitchFamily="34" charset="-122"/>
                <a:cs typeface="Calibri" pitchFamily="34" charset="-120"/>
              </a:rPr>
              <a:t>0.5 mm</a:t>
            </a:r>
            <a:r>
              <a:rPr lang="en-US" sz="1150" dirty="0">
                <a:solidFill>
                  <a:srgbClr val="262B3A"/>
                </a:solidFill>
                <a:latin typeface="Calibri" pitchFamily="34" charset="0"/>
                <a:ea typeface="Calibri" pitchFamily="34" charset="-122"/>
                <a:cs typeface="Calibri" pitchFamily="34" charset="-120"/>
              </a:rPr>
              <a:t> into µm and (b) </a:t>
            </a:r>
            <a:r>
              <a:rPr lang="en-US" sz="1150" b="1" dirty="0">
                <a:solidFill>
                  <a:srgbClr val="262B3A"/>
                </a:solidFill>
                <a:latin typeface="Calibri" pitchFamily="34" charset="0"/>
                <a:ea typeface="Calibri" pitchFamily="34" charset="-122"/>
                <a:cs typeface="Calibri" pitchFamily="34" charset="-120"/>
              </a:rPr>
              <a:t>3000 nm</a:t>
            </a:r>
            <a:r>
              <a:rPr lang="en-US" sz="1150" dirty="0">
                <a:solidFill>
                  <a:srgbClr val="262B3A"/>
                </a:solidFill>
                <a:latin typeface="Calibri" pitchFamily="34" charset="0"/>
                <a:ea typeface="Calibri" pitchFamily="34" charset="-122"/>
                <a:cs typeface="Calibri" pitchFamily="34" charset="-120"/>
              </a:rPr>
              <a:t> into µm.</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mitochondrion is </a:t>
            </a:r>
            <a:r>
              <a:rPr lang="en-US" sz="1150" b="1" dirty="0">
                <a:solidFill>
                  <a:srgbClr val="262B3A"/>
                </a:solidFill>
                <a:latin typeface="Calibri" pitchFamily="34" charset="0"/>
                <a:ea typeface="Calibri" pitchFamily="34" charset="-122"/>
                <a:cs typeface="Calibri" pitchFamily="34" charset="-120"/>
              </a:rPr>
              <a:t>2 µm</a:t>
            </a:r>
            <a:r>
              <a:rPr lang="en-US" sz="1150" dirty="0">
                <a:solidFill>
                  <a:srgbClr val="262B3A"/>
                </a:solidFill>
                <a:latin typeface="Calibri" pitchFamily="34" charset="0"/>
                <a:ea typeface="Calibri" pitchFamily="34" charset="-122"/>
                <a:cs typeface="Calibri" pitchFamily="34" charset="-120"/>
              </a:rPr>
              <a:t> long. Its image in an electron micrograph is </a:t>
            </a:r>
            <a:r>
              <a:rPr lang="en-US" sz="1150" b="1" dirty="0">
                <a:solidFill>
                  <a:srgbClr val="262B3A"/>
                </a:solidFill>
                <a:latin typeface="Calibri" pitchFamily="34" charset="0"/>
                <a:ea typeface="Calibri" pitchFamily="34" charset="-122"/>
                <a:cs typeface="Calibri" pitchFamily="34" charset="-120"/>
              </a:rPr>
              <a:t>30 mm</a:t>
            </a:r>
            <a:r>
              <a:rPr lang="en-US" sz="1150" dirty="0">
                <a:solidFill>
                  <a:srgbClr val="262B3A"/>
                </a:solidFill>
                <a:latin typeface="Calibri" pitchFamily="34" charset="0"/>
                <a:ea typeface="Calibri" pitchFamily="34" charset="-122"/>
                <a:cs typeface="Calibri" pitchFamily="34" charset="-120"/>
              </a:rPr>
              <a:t> long. Calculate the magnification.</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4FAF9"/>
          </a:solidFill>
          <a:ln w="9525">
            <a:solidFill>
              <a:srgbClr val="CFE0DE"/>
            </a:solidFill>
            <a:prstDash val="solid"/>
          </a:ln>
        </p:spPr>
      </p:sp>
      <p:sp>
        <p:nvSpPr>
          <p:cNvPr id="22" name="Text 20"/>
          <p:cNvSpPr/>
          <p:nvPr/>
        </p:nvSpPr>
        <p:spPr>
          <a:xfrm>
            <a:off x="6347308" y="1591056"/>
            <a:ext cx="479282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A virus is 1 × 10</a:t>
            </a:r>
            <a:r>
              <a:rPr lang="en-US" sz="1150" baseline="30000" dirty="0">
                <a:solidFill>
                  <a:srgbClr val="262B3A"/>
                </a:solidFill>
                <a:latin typeface="Calibri" pitchFamily="34" charset="0"/>
                <a:ea typeface="Calibri" pitchFamily="34" charset="-122"/>
                <a:cs typeface="Calibri" pitchFamily="34" charset="-120"/>
              </a:rPr>
              <a:t>−7</a:t>
            </a:r>
            <a:r>
              <a:rPr lang="en-US" sz="1150" dirty="0">
                <a:solidFill>
                  <a:srgbClr val="262B3A"/>
                </a:solidFill>
                <a:latin typeface="Calibri" pitchFamily="34" charset="0"/>
                <a:ea typeface="Calibri" pitchFamily="34" charset="-122"/>
                <a:cs typeface="Calibri" pitchFamily="34" charset="-120"/>
              </a:rPr>
              <a:t> m long and a bacterium is 2 × 10</a:t>
            </a:r>
            <a:r>
              <a:rPr lang="en-US" sz="1150" baseline="30000" dirty="0">
                <a:solidFill>
                  <a:srgbClr val="262B3A"/>
                </a:solidFill>
                <a:latin typeface="Calibri" pitchFamily="34" charset="0"/>
                <a:ea typeface="Calibri" pitchFamily="34" charset="-122"/>
                <a:cs typeface="Calibri" pitchFamily="34" charset="-120"/>
              </a:rPr>
              <a:t>−6</a:t>
            </a:r>
            <a:r>
              <a:rPr lang="en-US" sz="1150" dirty="0">
                <a:solidFill>
                  <a:srgbClr val="262B3A"/>
                </a:solidFill>
                <a:latin typeface="Calibri" pitchFamily="34" charset="0"/>
                <a:ea typeface="Calibri" pitchFamily="34" charset="-122"/>
                <a:cs typeface="Calibri" pitchFamily="34" charset="-120"/>
              </a:rPr>
              <a:t> m long. How many times longer is the bacterium? About how many orders of magnitude is this?</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625521"/>
            <a:ext cx="5570068" cy="997889"/>
          </a:xfrm>
          <a:prstGeom prst="roundRect">
            <a:avLst>
              <a:gd name="adj" fmla="val 4582"/>
            </a:avLst>
          </a:prstGeom>
          <a:solidFill>
            <a:srgbClr val="F4FAF9"/>
          </a:solidFill>
          <a:ln w="9525">
            <a:solidFill>
              <a:srgbClr val="CFE0DE"/>
            </a:solidFill>
            <a:prstDash val="solid"/>
          </a:ln>
        </p:spPr>
      </p:sp>
      <p:sp>
        <p:nvSpPr>
          <p:cNvPr id="27" name="Text 25"/>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safety precautions when preparing a slide of </a:t>
            </a:r>
            <a:r>
              <a:rPr lang="en-US" sz="1150" b="1" dirty="0">
                <a:solidFill>
                  <a:srgbClr val="262B3A"/>
                </a:solidFill>
                <a:latin typeface="Calibri" pitchFamily="34" charset="0"/>
                <a:ea typeface="Calibri" pitchFamily="34" charset="-122"/>
                <a:cs typeface="Calibri" pitchFamily="34" charset="-120"/>
              </a:rPr>
              <a:t>cheek cells</a:t>
            </a:r>
            <a:r>
              <a:rPr lang="en-US" sz="1150" dirty="0">
                <a:solidFill>
                  <a:srgbClr val="262B3A"/>
                </a:solidFill>
                <a:latin typeface="Calibri" pitchFamily="34" charset="0"/>
                <a:ea typeface="Calibri" pitchFamily="34" charset="-122"/>
                <a:cs typeface="Calibri" pitchFamily="34" charset="-120"/>
              </a:rPr>
              <a:t> stained with methylene blue.</a:t>
            </a:r>
            <a:endParaRPr lang="en-US" sz="1150" dirty="0"/>
          </a:p>
        </p:txBody>
      </p:sp>
      <p:sp>
        <p:nvSpPr>
          <p:cNvPr id="28" name="Text 26"/>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9" name="Shape 27"/>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30" name="Text 28"/>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For about 300 years scientists studied cells with </a:t>
            </a:r>
            <a:r>
              <a:rPr lang="en-US" sz="1150" b="1" dirty="0">
                <a:solidFill>
                  <a:srgbClr val="262B3A"/>
                </a:solidFill>
                <a:latin typeface="Calibri" pitchFamily="34" charset="0"/>
                <a:ea typeface="Calibri" pitchFamily="34" charset="-122"/>
                <a:cs typeface="Calibri" pitchFamily="34" charset="-120"/>
              </a:rPr>
              <a:t>light microscopes</a:t>
            </a:r>
            <a:r>
              <a:rPr lang="en-US" sz="1150" dirty="0">
                <a:solidFill>
                  <a:srgbClr val="262B3A"/>
                </a:solidFill>
                <a:latin typeface="Calibri" pitchFamily="34" charset="0"/>
                <a:ea typeface="Calibri" pitchFamily="34" charset="-122"/>
                <a:cs typeface="Calibri" pitchFamily="34" charset="-120"/>
              </a:rPr>
              <a:t>. Explain how the development of the </a:t>
            </a:r>
            <a:r>
              <a:rPr lang="en-US" sz="1150" b="1" dirty="0">
                <a:solidFill>
                  <a:srgbClr val="262B3A"/>
                </a:solidFill>
                <a:latin typeface="Calibri" pitchFamily="34" charset="0"/>
                <a:ea typeface="Calibri" pitchFamily="34" charset="-122"/>
                <a:cs typeface="Calibri" pitchFamily="34" charset="-120"/>
              </a:rPr>
              <a:t>electron microscope</a:t>
            </a:r>
            <a:r>
              <a:rPr lang="en-US" sz="1150" dirty="0">
                <a:solidFill>
                  <a:srgbClr val="262B3A"/>
                </a:solidFill>
                <a:latin typeface="Calibri" pitchFamily="34" charset="0"/>
                <a:ea typeface="Calibri" pitchFamily="34" charset="-122"/>
                <a:cs typeface="Calibri" pitchFamily="34" charset="-120"/>
              </a:rPr>
              <a:t> has increased our understanding of </a:t>
            </a:r>
            <a:r>
              <a:rPr lang="en-US" sz="1150" b="1" dirty="0">
                <a:solidFill>
                  <a:srgbClr val="262B3A"/>
                </a:solidFill>
                <a:latin typeface="Calibri" pitchFamily="34" charset="0"/>
                <a:ea typeface="Calibri" pitchFamily="34" charset="-122"/>
                <a:cs typeface="Calibri" pitchFamily="34" charset="-120"/>
              </a:rPr>
              <a:t>cell structures</a:t>
            </a:r>
            <a:r>
              <a:rPr lang="en-US" sz="1150" dirty="0">
                <a:solidFill>
                  <a:srgbClr val="262B3A"/>
                </a:solidFill>
                <a:latin typeface="Calibri" pitchFamily="34" charset="0"/>
                <a:ea typeface="Calibri" pitchFamily="34" charset="-122"/>
                <a:cs typeface="Calibri" pitchFamily="34" charset="-120"/>
              </a:rPr>
              <a:t>. Use ideas about magnification and resolution, and examples of structures.</a:t>
            </a:r>
            <a:endParaRPr lang="en-US" sz="1150" dirty="0"/>
          </a:p>
        </p:txBody>
      </p:sp>
      <p:sp>
        <p:nvSpPr>
          <p:cNvPr id="31" name="Text 29"/>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B4.2 How do we know about mitochondria and other cell structures?</dc:title>
  <dc:subject>PptxGenJS Presentation</dc:subject>
  <dc:creator>GCSE Biology</dc:creator>
  <cp:lastModifiedBy>GCSE Biology</cp:lastModifiedBy>
  <cp:revision>1</cp:revision>
  <dcterms:created xsi:type="dcterms:W3CDTF">2026-10-30T08:07:16Z</dcterms:created>
  <dcterms:modified xsi:type="dcterms:W3CDTF">2026-10-30T08:07:16Z</dcterms:modified>
</cp:coreProperties>
</file>