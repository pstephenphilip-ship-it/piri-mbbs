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B4.3 How do organisms grow and develop? is Part 3 of 3 in J260 Chapter B4 (B4.1, B4.2, B4.3) and is the last B4 deck in Combined Science. B4.4 How is plant growth controlled? (plant hormones) is in Biology B (J257) only, so this deck does not teach it.
The B4.3 statement wordings come from search extracts of a J257 mirror and revision sites (ocr.org.uk could not be fetched): see SPEC_B4_3.md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B4.3 statement was found to be Higher tier only (bold) in J260 (UNVERIFIED). Oak National Academy runs the same OCR combined science cell-division and stem-cell lessons in its Foundation and Higher programmes ("basics" vs "beyond the basics"), which suggests no HT-only content. The time-in-each-stage calculation is marked as stretch.
Numbering B4.3.1–B4.3.5 is from a search extract of a J257 mirror; J260 is expected to match (UNVERIFIED). B4.3.3 meiosis is taught only as a comparison here: the series covers meiosis with inheritance in B1.2. Check SPEC_B4_3.md.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B4 has three sub-topics in Combined Science: B4.1, B4.2 and B4.3. B4.4 (plant hormones: auxins, gibberellins, ethene) is separate science only and is not taught here.
Overlap control: cell structures and microscope use belong to B4.2 and are only recapped (starter, PAG B1). Meiosis is taught with inheritance in B1.2 of this series; here it appears only as a comparison with mitosis (B4.3.3).
The J257 mirror extract notes that learners are not expected to recall the names of the intermediate phases of mitosis, so the deck describes each stage and gives the names (prophase, metaphase, anaphase, telophase) as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section of DNA that codes for a protein / a characteristic. In the nucleus.
2. 23 (half of 46: haploid). Meiosis.
3. ATP. Mitochondria (aerobic respiration).
4. Coarse focusing wheel and fine focusing wheel (also accept: stage, objective lens, eyepiece lens for "parts" if focus is not mentioned; the focusing wheels are the best answer).
5. magnification = image size ÷ real size = 20 ÷ 0.05 = 400 (×400).
6. Any two: cell wall, chloroplasts, permanent (large) vacuole.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2⁶ = 64 cells. Cell division (mitosis), cell enlargement (cells get bigger), differentiation (cells become specialised).
B4.3.1 wording (J257 mirror extract): "describe the role of the cell cycle in growth, including interphase and mitosis". The doubling sequence is asserted in node. In real embryos cells do not all divide at the same rate: the 2ⁿ rule is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78 ÷ 2 = 39 pairs. 78 chromosomes in each new cell (mitosis keeps the number the same).
The word chromatid is useful but may not be required at GCSE (J260 wording names "interphase and mitosis"). DNA replication itself (base pairing) is B1.1 territory: keep to "copied". Node: 23 × 2 = 46; 46 × 2 = 92; 78 ÷ 2 =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[3]: Cell division / mitosis (1); cell enlargement / cells grow bigger (1); differentiation / cells become specialised (1).
Q2 [2]: Chromosomes are in pairs / two sets of chromosomes (1); 46 (1).
Q3 [1]: 2⁵ = 32 (1).
Q4 [2]: It is copied to make two identical chromatids / an identical copy (1); so each new cell gets a full set of chromosomes / the same genetic information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DNA: so each of the two new cells gets a full, identical set of chromosomes / genes. Growth: so each new cell is big enough and has enough organelles (e.g. mitochondria, ribosomes) to work; otherwise the cells would get smaller each division.
Wheel to scale: 10 + 8 + 5 + 1 = 24 h (node). The G1 / S / G2 names are A-level: GCSE needs "interphase: growth and DNA replication". J257 mirror extract: "describe the role of the cell cycle in growth, including interphase and mitosis".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Stage 2 (line up across the middle / equator; metaphase). Spindle fibres pull the chromatids apart to opposite ends (poles) of the cell (anaphase).
Diagrams drawn to keep the colours of each chromosome, so students can see that each new nucleus gets one red long, one blue long, one light red short and one light blue short: the same set as the parent.
The J257 mirror extract says learners are not expected to recall the names of intermediate phases: the names are given in brackets as stretch. Plant cells form a new cell wall (cell plate) across the middle instead of pinching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They are made by mitosis (1); the DNA / chromosomes are copied exactly before division and each new cell gets a full identical set, so the new cells are genetically identical to the parent cells (1).
Bacteria reproduce by binary fission, not mitosis (no nucleus): avoid using bacteria as an example of mitosis. Offspring of asexual reproduction are clones.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[3]: Interphase (1); any two (1 each): cell grows; DNA / chromosomes copied (replicated); new organelles made, e.g. mitochondria / ribosomes; proteins made.
Q2 [2]: Chromosomes condense → chromosomes line up → chromatids separate → two nuclei form. 2 marks all correct; 1 mark for one pair swapped.
Q3 [2]: DNA / each chromosome is copied (exactly) before division (1); each new cell receives one copy (chromatid) of every chromosome (1).
Q4 [1]: Growth (e.g. at root or shoot tips) / repair of damaged tissue / asexual reproduction, e.g. runners, tubers, bulbs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Squashing spreads the cells out into a thin layer one cell thick, so light can pass through and single cells (and chromosomes) can be seen. Cells 2 cm above the tip have stopped dividing: they are enlarging and differentiating, so almost all are in interphase / not dividing.
PAG link: the J257 mirror extract gives B4.3.1 b) "describe how to use a light microscope to observe stages of mitosis" with a PAG 1 reference; OCR biology PAG B1 is microscopy (UNVERIFIED for J260 numbering).
Typical method (SAPS / Nuffield style): 1 M hydrochloric acid at 55–60 °C for 5 min; toluidine blue or acetic orcein stain; garlic gives longer roots than onion. The microscope skills themselves (focusing, magnification) are B4.2: recap only. Data on the next slide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chromosomes condensing (nucleus breaking down; prophase); B chromosomes lined up across the middle (metaphase); C chromatids separated to opposite ends (anaphase); D two nuclei formed / new cell wall forming (telophase, cytokinesis). Most cells are in interphase because interphase is by far the longest part of the cell cycle: the percentage of cells in a stage is proportional to the time spent in it.
Node: total 200; % = 84, 8, 3.5, 2, 2.5; % dividing = 16%; times (stretch, 20 h cycle) = 1008, 96, 42.00000000000001, 24, 30 min, summing to 1200. Interphase = 16.8 h.
The field of view is a drawing for identifying stages; the table counts are illustrative class data from three fields. An onion root tip cycle of about 20 h is a typical textbook value (UNVERIFIED for any one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[1]: To make the chromosomes / nuclei visible / show up (they are colourless) (1).
Q2 [2]: 12 ÷ 150 × 100 (1); = 8% (1).
Q3 [2]: 8% of 22 h = 0.08 × 22 (1); = 1.76 h (≈ 106 min) (1). Allow error carried forward from the previous answer.
Q4 [2]: e.g. cells counted twice / missed; stage hard to decide; only one field counted (1); tally as you count / count several fields of view and add / use clear rules for each stage / squash to one layer (1). Improvement must match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Hair follicle cells divide rapidly by mitosis to make hair; the drug stops these normal dividing cells too, not just the cancer cells, so hair stops growing / falls out. (Also gut lining and bone marrow are affected.)
B4.3.2 wording (J257 mirror extract): "explain how cancer is the result of changes in cells that lead to uncontrolled growth and division". Benign vs malignant is context. Node: 30 ÷ 3 = 10; 2¹⁰ = 1024. Lifestyle factors in detail belong to Chapter B2 (non-communicable disease): mention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mitosis makes 2 cells, meiosis 4; mitosis cells are diploid / same number of chromosomes as the parent, meiosis cells haploid / half the number; mitosis cells genetically identical, meiosis cells genetically different; mitosis cells are body cells, meiosis cells are gametes.
Scope: the J257 mirror extract lists B4.3.3 "describe the process of meiotic division, including interphase and the two meiotic divisions, halving the chromosome number to produce gametes" (separate-science vs combined status UNVERIFIED). This series teaches meiosis with inheritance in B1.2, so this slide is a comparison / recap only; teachers whose B1.2 did not cover it should add the two divisions here. A May 2025 J260/05 paper asked students to classify statements as mitosis or meiosis.
The four gametes show the four possible combinations of one long and one short chromosome (independent assortment); crossing over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[1]: A mass / lump of cells formed by uncontrolled cell division (1).
Q2 [2]: A change / mutation in the genes / DNA that control cell division (1); the cell divides uncontrollably by mitosis, forming a tumour (1).
Q3 [2]: Benign stays in one place / does not spread / does not invade other tissues (1); malignant invades tissues / spreads in the blood (or lymph) to form secondary tumours (1).
Q4 [2]: (a) 46 (1); (b) 23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 produces specialised cells, each adapted to do one job well (division of labour); similar specialised cells form tissues, which make up organs and organ systems, so a large multicellular organism can carry out all its life processes efficiently.
B4.3.5 wording (search extract of a revision-site copy of the spec): "explain the importance of cell differentiation, in which cells become specialised by switching genes off and on to form tissues with particular functions" (code UNVERIFIED). Gene control is described in words only: no detail of transcription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Adult stem cells can only differentiate into a limited range of cell types (usually those of the tissue they are in): they are less versatile than embryonic stem cells.
B4.3.4 wording (J257 mirror extract): "describe the function of stem cells in embryonic and adult animals and meristems in plants". The terms pluripotent / multipotent are not required at GCSE (stretch only). The early-embryo ball is the blastocyst (about 5 days); the term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At the tips of shoots and roots (also side buds). Cell division (mitosis) only happens in the meristems, which are at the tips, so new cells are added at the tips; the cells further back only enlarge and differentiate.
B4.3.4 wording (J257 mirror extract) includes "meristems in plants". The comparison of plant and animal growth is context for B4.3.4/B4.3.5. Lateral (side) meristems that make stems thicker are not required. Hormonal control of plant growth (auxins etc.) is B4.4, separate science only: not taught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A cell becomes specialised (for a particular function) (1); some genes are switched on and others off (so the cell makes different proteins) (1).
Q2 [2]: Any two (1 each): embryonic from early embryo, adult from adult tissues e.g. bone marrow; embryonic can become any cell type, adult only a few / limited types; embryonic build the body, adult replace / repair cells.
Q3 [2]: Meristem (1); shoot tip / root tip / buds (1).
Q4 [2]: Plant meristem cells can differentiate into any type of plant cell throughout life (1); most human cells have differentiated / adult stem cells can only make a few cell types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donor cells are recognised as foreign (different antigens) and may be attacked / rejected by the patient's immune system; the drugs reduce rejection (but increase the risk of infection).
Uses of stem cells are taught as Ideas about Science context (benefits and risks, ethics) for B4.3.4; no separate J260 statement code was found for them (UNVERIFIED). Plant tissue culture is described without plant hormones (B4.4 is J257 only). Therapeutic cloning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 it can be tested by experiments and data. (a) is an ethical question about values / what is right: science can give evidence but cannot decide it; people with different beliefs reach different answers.
Ideas about Science: the J260 IaS section on ethical issues asks students to distinguish questions science can answer from those it cannot, to state an ethical issue clearly and summarise different views, and to recognise the "best outcome for the majority" argument and the "some actions are wrong regardless" argument (wording from memory: UNVERIFIED).
UK facts: Human Fertilisation and Embryology Act; HFEA licences; research embryos must not be kept beyond 14 days (or after the primitive streak appears). Induced pluripotent stem cells (adult cells reprogrammed) are a stretch alternative that avoids destroying embryos.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8 marks)
Q1 [2]: Now: bone marrow transplant / treating leukaemia (1); research: e.g. type 1 diabetes, spinal / nerve injury, Parkinson's, heart damage, growing tissues or organs (1).
Q2 [2]: e.g. tumour / cancer (1) because stem cells divide rapidly / may divide uncontrollably (1); OR infection (1) from viruses in cells grown in the lab (1); OR rejection (1) because donor cells are seen as foreign by the immune system (1).
Q3 [2]: The embryo is destroyed (1); some people believe an embryo is a potential human life / has a right to life (1).
Q4 [2]: It is an ethical question / about values or beliefs, not something that can be tested (1); people with different beliefs or views reach different answers / science can only provide evidence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D → B → A → C. 2 marks all correct; 1 mark if one pair is swapped.
(b) [2]: So that each chromosome becomes two identical copies / chromatids (1); so each new cell gets a full / identical set of chromosomes / genes (1).
(c) [2]: 9 ÷ 120 × 100 (1); = 7.5% (1).
(d) [2]: A change / mutation in the genes that control cell division (1); the cell divides uncontrollably (by mitosis), forming a mass of cells (1).
(e) [2]: Similarity: both unspecialised / both divide by mitosis / both can differentiate (1). Difference: meristem cells can become any type of plant cell (throughout life) but adult stem cells only a few types (1).
(f) [3]: In plants, cell division only happens in meristems (1); meristems are at the root and shoot tips (1); in animals, cells divide throughout the body / in all tissues while growing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Interphase (1).
2 [2]: Genetically identical: same genes / same DNA as each other (and the parent) (1); diploid: chromosomes in pairs / two sets / the full number of chromosomes (46 in humans) (1).
3 [2]: 18 ÷ 240 × 100 (1); = 7.5% (1).
4 [2]: A region / tissue of unspecialised dividing cells (plant stem cells) at the root and shoot tips (1); makes new cells for growth, which can differentiate into any type of plant cell (1).
5 [2]: Changes / mutations in genes that control the cell cycle / cell division (1); cells divide uncontrollably / do not stop dividing, forming a tumour (1).
6 [2]: 6 ÷ 300 × 24 h (= 0.48 h) (1); × 60 = 28.8 minutes (≈ 29 min) (1).
7 [6]: OCR level-of-response mark scheme (6 marks). Read the whole answer, decide the level from the content descriptor, then the mark within the level from the quality of the line of reasoning. Use the indicative scientific points below.
Level 3 (5–6 marks): Evaluates: gives benefits AND risks AND an ethical objection, explained, AND makes a supported judgement (or weighs the views). There is a well-developed line of reasoning which is clear and logically structured. The information presented is relevant and substantiated.
Level 2 (3–4 marks): Describes at least one benefit AND one risk or ethical objection, with some explanation; judgement may be missing or unsupported. There is a line of reasoning presented with some structure. The information presented is relevant and supported by some evidence.
Level 1 (1–2 marks): Gives a simple benefit OR a simple risk / objection, e.g. "it could cure diseases" or "the embryo dies". There is an attempt at a logical structure with a line of reasoning. The information is in the most part relevant.
0 marks: no response or no response worthy of credit.
Indicative scientific points may include:
 • Embryonic stem cells are unspecialised and can differentiate into any type of body cell; adult stem cells only a few types.
 • Benefits: could replace damaged or diseased cells; possible treatments for type 1 diabetes, spinal injury / paralysis, Parkinson's, heart damage; could help many people; research improves understanding of development.
 • Embryos often come from spare IVF embryos that would otherwise be destroyed.
 • Risks: cells could divide uncontrollably / form tumours; infection from viruses in cultured cells; rejection by the immune system (needs immunosuppressant drugs).
 • Ethical objections: the embryo is destroyed; some people believe it is a potential human life with a right to life; some religious views; "some actions are wrong whatever the outcome".
 • Utilitarian view: the right decision gives the best outcome for the greatest number of people.
 • Alternatives: adult stem cells (e.g. bone marrow; no embryo destroyed, less rejection if the patient's own cells) but fewer cell types; regulation (HFEA licence, 14-day limit).
 • A judgement that is supported by the arguments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B4.3  Growth and development</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The cell cycle, mitosis, differentiation and stem cells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Cell cycle  •  Mitosis  •  Cancer  •  Differentiation  •  Stem cells  •  Meristems</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B4.3.1–B4.3.5 • PAG B1: observing mitosis in a root tip squash with a light microscope</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2n</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Cell cycle • mitosis • cancer • differentiation • stem cells • meristems • ethics</a:t>
            </a:r>
            <a:endParaRPr lang="en-US" sz="1400" dirty="0"/>
          </a:p>
        </p:txBody>
      </p:sp>
      <p:sp>
        <p:nvSpPr>
          <p:cNvPr id="19" name="Shape 17"/>
          <p:cNvSpPr/>
          <p:nvPr/>
        </p:nvSpPr>
        <p:spPr>
          <a:xfrm>
            <a:off x="731520" y="5769864"/>
            <a:ext cx="5669280"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669280"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3 in Chapter B4: Using food and controlling growth</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B4.3 How do organisms grow and develop?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B4.3.1–B4.3.5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B4.3.1   </a:t>
            </a:r>
            <a:r>
              <a:rPr lang="en-US" sz="1200" dirty="0">
                <a:solidFill>
                  <a:srgbClr val="262B3A"/>
                </a:solidFill>
                <a:latin typeface="Calibri" pitchFamily="34" charset="0"/>
                <a:ea typeface="Calibri" pitchFamily="34" charset="-122"/>
                <a:cs typeface="Calibri" pitchFamily="34" charset="-120"/>
              </a:rPr>
              <a:t>Describe how multicellular organisms </a:t>
            </a:r>
            <a:r>
              <a:rPr lang="en-US" sz="1200" b="1" dirty="0">
                <a:solidFill>
                  <a:srgbClr val="262B3A"/>
                </a:solidFill>
                <a:latin typeface="Calibri" pitchFamily="34" charset="0"/>
                <a:ea typeface="Calibri" pitchFamily="34" charset="-122"/>
                <a:cs typeface="Calibri" pitchFamily="34" charset="-120"/>
              </a:rPr>
              <a:t>grow</a:t>
            </a:r>
            <a:r>
              <a:rPr lang="en-US" sz="1200" dirty="0">
                <a:solidFill>
                  <a:srgbClr val="262B3A"/>
                </a:solidFill>
                <a:latin typeface="Calibri" pitchFamily="34" charset="0"/>
                <a:ea typeface="Calibri" pitchFamily="34" charset="-122"/>
                <a:cs typeface="Calibri" pitchFamily="34" charset="-120"/>
              </a:rPr>
              <a:t>: more cells (mitosis), bigger cells, and specialised cells.</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cell cycle</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interphase</a:t>
            </a:r>
            <a:r>
              <a:rPr lang="en-US" sz="1200" dirty="0">
                <a:solidFill>
                  <a:srgbClr val="262B3A"/>
                </a:solidFill>
                <a:latin typeface="Calibri" pitchFamily="34" charset="0"/>
                <a:ea typeface="Calibri" pitchFamily="34" charset="-122"/>
                <a:cs typeface="Calibri" pitchFamily="34" charset="-120"/>
              </a:rPr>
              <a:t> (growth, DNA replication) then </a:t>
            </a:r>
            <a:r>
              <a:rPr lang="en-US" sz="1200" b="1" dirty="0">
                <a:solidFill>
                  <a:srgbClr val="262B3A"/>
                </a:solidFill>
                <a:latin typeface="Calibri" pitchFamily="34" charset="0"/>
                <a:ea typeface="Calibri" pitchFamily="34" charset="-122"/>
                <a:cs typeface="Calibri" pitchFamily="34" charset="-120"/>
              </a:rPr>
              <a:t>mitosis</a:t>
            </a:r>
            <a:r>
              <a:rPr lang="en-US" sz="1200" dirty="0">
                <a:solidFill>
                  <a:srgbClr val="262B3A"/>
                </a:solidFill>
                <a:latin typeface="Calibri" pitchFamily="34" charset="0"/>
                <a:ea typeface="Calibri" pitchFamily="34" charset="-122"/>
                <a:cs typeface="Calibri" pitchFamily="34" charset="-120"/>
              </a:rPr>
              <a:t> and cytokinesis.</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B4.3.1   </a:t>
            </a:r>
            <a:r>
              <a:rPr lang="en-US" sz="1200" dirty="0">
                <a:solidFill>
                  <a:srgbClr val="262B3A"/>
                </a:solidFill>
                <a:latin typeface="Calibri" pitchFamily="34" charset="0"/>
                <a:ea typeface="Calibri" pitchFamily="34" charset="-122"/>
                <a:cs typeface="Calibri" pitchFamily="34" charset="-120"/>
              </a:rPr>
              <a:t>Describe the main </a:t>
            </a:r>
            <a:r>
              <a:rPr lang="en-US" sz="1200" b="1" dirty="0">
                <a:solidFill>
                  <a:srgbClr val="262B3A"/>
                </a:solidFill>
                <a:latin typeface="Calibri" pitchFamily="34" charset="0"/>
                <a:ea typeface="Calibri" pitchFamily="34" charset="-122"/>
                <a:cs typeface="Calibri" pitchFamily="34" charset="-120"/>
              </a:rPr>
              <a:t>stages of mitosis</a:t>
            </a:r>
            <a:r>
              <a:rPr lang="en-US" sz="1200" dirty="0">
                <a:solidFill>
                  <a:srgbClr val="262B3A"/>
                </a:solidFill>
                <a:latin typeface="Calibri" pitchFamily="34" charset="0"/>
                <a:ea typeface="Calibri" pitchFamily="34" charset="-122"/>
                <a:cs typeface="Calibri" pitchFamily="34" charset="-120"/>
              </a:rPr>
              <a:t>; explain why the two cells are </a:t>
            </a:r>
            <a:r>
              <a:rPr lang="en-US" sz="1200" b="1" dirty="0">
                <a:solidFill>
                  <a:srgbClr val="262B3A"/>
                </a:solidFill>
                <a:latin typeface="Calibri" pitchFamily="34" charset="0"/>
                <a:ea typeface="Calibri" pitchFamily="34" charset="-122"/>
                <a:cs typeface="Calibri" pitchFamily="34" charset="-120"/>
              </a:rPr>
              <a:t>genetically identical</a:t>
            </a:r>
            <a:r>
              <a:rPr lang="en-US" sz="1200" dirty="0">
                <a:solidFill>
                  <a:srgbClr val="262B3A"/>
                </a:solidFill>
                <a:latin typeface="Calibri" pitchFamily="34" charset="0"/>
                <a:ea typeface="Calibri" pitchFamily="34" charset="-122"/>
                <a:cs typeface="Calibri" pitchFamily="34" charset="-120"/>
              </a:rPr>
              <a:t> and diploid.</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B4.3.1   </a:t>
            </a:r>
            <a:r>
              <a:rPr lang="en-US" sz="1200" dirty="0">
                <a:solidFill>
                  <a:srgbClr val="262B3A"/>
                </a:solidFill>
                <a:latin typeface="Calibri" pitchFamily="34" charset="0"/>
                <a:ea typeface="Calibri" pitchFamily="34" charset="-122"/>
                <a:cs typeface="Calibri" pitchFamily="34" charset="-120"/>
              </a:rPr>
              <a:t>Describe how to use a </a:t>
            </a:r>
            <a:r>
              <a:rPr lang="en-US" sz="1200" b="1" dirty="0">
                <a:solidFill>
                  <a:srgbClr val="262B3A"/>
                </a:solidFill>
                <a:latin typeface="Calibri" pitchFamily="34" charset="0"/>
                <a:ea typeface="Calibri" pitchFamily="34" charset="-122"/>
                <a:cs typeface="Calibri" pitchFamily="34" charset="-120"/>
              </a:rPr>
              <a:t>light microscope</a:t>
            </a:r>
            <a:r>
              <a:rPr lang="en-US" sz="1200" dirty="0">
                <a:solidFill>
                  <a:srgbClr val="262B3A"/>
                </a:solidFill>
                <a:latin typeface="Calibri" pitchFamily="34" charset="0"/>
                <a:ea typeface="Calibri" pitchFamily="34" charset="-122"/>
                <a:cs typeface="Calibri" pitchFamily="34" charset="-120"/>
              </a:rPr>
              <a:t> to observe stages of mitosis (</a:t>
            </a:r>
            <a:r>
              <a:rPr lang="en-US" sz="1200" b="1" dirty="0">
                <a:solidFill>
                  <a:srgbClr val="262B3A"/>
                </a:solidFill>
                <a:latin typeface="Calibri" pitchFamily="34" charset="0"/>
                <a:ea typeface="Calibri" pitchFamily="34" charset="-122"/>
                <a:cs typeface="Calibri" pitchFamily="34" charset="-120"/>
              </a:rPr>
              <a:t>PAG B1</a:t>
            </a:r>
            <a:r>
              <a:rPr lang="en-US" sz="1200" dirty="0">
                <a:solidFill>
                  <a:srgbClr val="262B3A"/>
                </a:solidFill>
                <a:latin typeface="Calibri" pitchFamily="34" charset="0"/>
                <a:ea typeface="Calibri" pitchFamily="34" charset="-122"/>
                <a:cs typeface="Calibri" pitchFamily="34" charset="-120"/>
              </a:rPr>
              <a:t>) and analyse counts.</a:t>
            </a:r>
            <a:endParaRPr lang="en-US" sz="1100" dirty="0"/>
          </a:p>
        </p:txBody>
      </p:sp>
      <p:sp>
        <p:nvSpPr>
          <p:cNvPr id="20" name="Shape 18"/>
          <p:cNvSpPr/>
          <p:nvPr/>
        </p:nvSpPr>
        <p:spPr>
          <a:xfrm>
            <a:off x="502920" y="4800600"/>
            <a:ext cx="457200" cy="457200"/>
          </a:xfrm>
          <a:prstGeom prst="ellipse">
            <a:avLst/>
          </a:prstGeom>
          <a:solidFill>
            <a:srgbClr val="0D7877"/>
          </a:solidFill>
          <a:ln w="12700">
            <a:solidFill>
              <a:srgbClr val="0D7877"/>
            </a:solidFill>
            <a:prstDash val="solid"/>
          </a:ln>
        </p:spPr>
      </p:sp>
      <p:sp>
        <p:nvSpPr>
          <p:cNvPr id="21" name="Text 19"/>
          <p:cNvSpPr/>
          <p:nvPr/>
        </p:nvSpPr>
        <p:spPr>
          <a:xfrm>
            <a:off x="502920" y="4800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1097280" y="475488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B4.3.2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cancer</a:t>
            </a:r>
            <a:r>
              <a:rPr lang="en-US" sz="1200" dirty="0">
                <a:solidFill>
                  <a:srgbClr val="262B3A"/>
                </a:solidFill>
                <a:latin typeface="Calibri" pitchFamily="34" charset="0"/>
                <a:ea typeface="Calibri" pitchFamily="34" charset="-122"/>
                <a:cs typeface="Calibri" pitchFamily="34" charset="-120"/>
              </a:rPr>
              <a:t> results from changes in cells that lead to </a:t>
            </a:r>
            <a:r>
              <a:rPr lang="en-US" sz="1200" b="1" dirty="0">
                <a:solidFill>
                  <a:srgbClr val="262B3A"/>
                </a:solidFill>
                <a:latin typeface="Calibri" pitchFamily="34" charset="0"/>
                <a:ea typeface="Calibri" pitchFamily="34" charset="-122"/>
                <a:cs typeface="Calibri" pitchFamily="34" charset="-120"/>
              </a:rPr>
              <a:t>uncontrolled</a:t>
            </a:r>
            <a:r>
              <a:rPr lang="en-US" sz="1200" dirty="0">
                <a:solidFill>
                  <a:srgbClr val="262B3A"/>
                </a:solidFill>
                <a:latin typeface="Calibri" pitchFamily="34" charset="0"/>
                <a:ea typeface="Calibri" pitchFamily="34" charset="-122"/>
                <a:cs typeface="Calibri" pitchFamily="34" charset="-120"/>
              </a:rPr>
              <a:t> growth and division.</a:t>
            </a:r>
            <a:endParaRPr lang="en-US" sz="1100" dirty="0"/>
          </a:p>
        </p:txBody>
      </p:sp>
      <p:sp>
        <p:nvSpPr>
          <p:cNvPr id="23" name="Shape 21"/>
          <p:cNvSpPr/>
          <p:nvPr/>
        </p:nvSpPr>
        <p:spPr>
          <a:xfrm>
            <a:off x="6263640" y="132588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B4.3.3   </a:t>
            </a:r>
            <a:r>
              <a:rPr lang="en-US" sz="1200" b="1" dirty="0">
                <a:solidFill>
                  <a:srgbClr val="262B3A"/>
                </a:solidFill>
                <a:latin typeface="Calibri" pitchFamily="34" charset="0"/>
                <a:ea typeface="Calibri" pitchFamily="34" charset="-122"/>
                <a:cs typeface="Calibri" pitchFamily="34" charset="-120"/>
              </a:rPr>
              <a:t>Compare</a:t>
            </a:r>
            <a:r>
              <a:rPr lang="en-US" sz="1200" dirty="0">
                <a:solidFill>
                  <a:srgbClr val="262B3A"/>
                </a:solidFill>
                <a:latin typeface="Calibri" pitchFamily="34" charset="0"/>
                <a:ea typeface="Calibri" pitchFamily="34" charset="-122"/>
                <a:cs typeface="Calibri" pitchFamily="34" charset="-120"/>
              </a:rPr>
              <a:t> mitosis with </a:t>
            </a:r>
            <a:r>
              <a:rPr lang="en-US" sz="1200" b="1" dirty="0">
                <a:solidFill>
                  <a:srgbClr val="262B3A"/>
                </a:solidFill>
                <a:latin typeface="Calibri" pitchFamily="34" charset="0"/>
                <a:ea typeface="Calibri" pitchFamily="34" charset="-122"/>
                <a:cs typeface="Calibri" pitchFamily="34" charset="-120"/>
              </a:rPr>
              <a:t>meiosis</a:t>
            </a:r>
            <a:r>
              <a:rPr lang="en-US" sz="1200" dirty="0">
                <a:solidFill>
                  <a:srgbClr val="262B3A"/>
                </a:solidFill>
                <a:latin typeface="Calibri" pitchFamily="34" charset="0"/>
                <a:ea typeface="Calibri" pitchFamily="34" charset="-122"/>
                <a:cs typeface="Calibri" pitchFamily="34" charset="-120"/>
              </a:rPr>
              <a:t> (recap of the halving of chromosome number to make gametes).</a:t>
            </a:r>
            <a:endParaRPr lang="en-US" sz="1100" dirty="0"/>
          </a:p>
        </p:txBody>
      </p:sp>
      <p:sp>
        <p:nvSpPr>
          <p:cNvPr id="26" name="Shape 24"/>
          <p:cNvSpPr/>
          <p:nvPr/>
        </p:nvSpPr>
        <p:spPr>
          <a:xfrm>
            <a:off x="6263640" y="219456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B4.3.5   </a:t>
            </a:r>
            <a:r>
              <a:rPr lang="en-US" sz="1200" dirty="0">
                <a:solidFill>
                  <a:srgbClr val="262B3A"/>
                </a:solidFill>
                <a:latin typeface="Calibri" pitchFamily="34" charset="0"/>
                <a:ea typeface="Calibri" pitchFamily="34" charset="-122"/>
                <a:cs typeface="Calibri" pitchFamily="34" charset="-120"/>
              </a:rPr>
              <a:t>Explain the importance of </a:t>
            </a:r>
            <a:r>
              <a:rPr lang="en-US" sz="1200" b="1" dirty="0">
                <a:solidFill>
                  <a:srgbClr val="262B3A"/>
                </a:solidFill>
                <a:latin typeface="Calibri" pitchFamily="34" charset="0"/>
                <a:ea typeface="Calibri" pitchFamily="34" charset="-122"/>
                <a:cs typeface="Calibri" pitchFamily="34" charset="-120"/>
              </a:rPr>
              <a:t>cell differentiation</a:t>
            </a:r>
            <a:r>
              <a:rPr lang="en-US" sz="1200" dirty="0">
                <a:solidFill>
                  <a:srgbClr val="262B3A"/>
                </a:solidFill>
                <a:latin typeface="Calibri" pitchFamily="34" charset="0"/>
                <a:ea typeface="Calibri" pitchFamily="34" charset="-122"/>
                <a:cs typeface="Calibri" pitchFamily="34" charset="-120"/>
              </a:rPr>
              <a:t>: genes switched on and off to make specialised cells.</a:t>
            </a:r>
            <a:endParaRPr lang="en-US" sz="1100" dirty="0"/>
          </a:p>
        </p:txBody>
      </p:sp>
      <p:sp>
        <p:nvSpPr>
          <p:cNvPr id="29" name="Shape 27"/>
          <p:cNvSpPr/>
          <p:nvPr/>
        </p:nvSpPr>
        <p:spPr>
          <a:xfrm>
            <a:off x="6263640" y="3063240"/>
            <a:ext cx="457200" cy="457200"/>
          </a:xfrm>
          <a:prstGeom prst="ellipse">
            <a:avLst/>
          </a:prstGeom>
          <a:solidFill>
            <a:srgbClr val="0D7877"/>
          </a:solidFill>
          <a:ln w="12700">
            <a:solidFill>
              <a:srgbClr val="0D7877"/>
            </a:solidFill>
            <a:prstDash val="solid"/>
          </a:ln>
        </p:spPr>
      </p:sp>
      <p:sp>
        <p:nvSpPr>
          <p:cNvPr id="30" name="Text 28"/>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B4.3.4   </a:t>
            </a:r>
            <a:r>
              <a:rPr lang="en-US" sz="1200" dirty="0">
                <a:solidFill>
                  <a:srgbClr val="262B3A"/>
                </a:solidFill>
                <a:latin typeface="Calibri" pitchFamily="34" charset="0"/>
                <a:ea typeface="Calibri" pitchFamily="34" charset="-122"/>
                <a:cs typeface="Calibri" pitchFamily="34" charset="-120"/>
              </a:rPr>
              <a:t>Describe the function of </a:t>
            </a:r>
            <a:r>
              <a:rPr lang="en-US" sz="1200" b="1" dirty="0">
                <a:solidFill>
                  <a:srgbClr val="262B3A"/>
                </a:solidFill>
                <a:latin typeface="Calibri" pitchFamily="34" charset="0"/>
                <a:ea typeface="Calibri" pitchFamily="34" charset="-122"/>
                <a:cs typeface="Calibri" pitchFamily="34" charset="-120"/>
              </a:rPr>
              <a:t>stem cells</a:t>
            </a:r>
            <a:r>
              <a:rPr lang="en-US" sz="1200" dirty="0">
                <a:solidFill>
                  <a:srgbClr val="262B3A"/>
                </a:solidFill>
                <a:latin typeface="Calibri" pitchFamily="34" charset="0"/>
                <a:ea typeface="Calibri" pitchFamily="34" charset="-122"/>
                <a:cs typeface="Calibri" pitchFamily="34" charset="-120"/>
              </a:rPr>
              <a:t> in embryos and adults, and </a:t>
            </a:r>
            <a:r>
              <a:rPr lang="en-US" sz="1200" b="1" dirty="0">
                <a:solidFill>
                  <a:srgbClr val="262B3A"/>
                </a:solidFill>
                <a:latin typeface="Calibri" pitchFamily="34" charset="0"/>
                <a:ea typeface="Calibri" pitchFamily="34" charset="-122"/>
                <a:cs typeface="Calibri" pitchFamily="34" charset="-120"/>
              </a:rPr>
              <a:t>meristems</a:t>
            </a:r>
            <a:r>
              <a:rPr lang="en-US" sz="1200" dirty="0">
                <a:solidFill>
                  <a:srgbClr val="262B3A"/>
                </a:solidFill>
                <a:latin typeface="Calibri" pitchFamily="34" charset="0"/>
                <a:ea typeface="Calibri" pitchFamily="34" charset="-122"/>
                <a:cs typeface="Calibri" pitchFamily="34" charset="-120"/>
              </a:rPr>
              <a:t> in plants.</a:t>
            </a:r>
            <a:endParaRPr lang="en-US" sz="1100" dirty="0"/>
          </a:p>
        </p:txBody>
      </p:sp>
      <p:sp>
        <p:nvSpPr>
          <p:cNvPr id="32" name="Shape 30"/>
          <p:cNvSpPr/>
          <p:nvPr/>
        </p:nvSpPr>
        <p:spPr>
          <a:xfrm>
            <a:off x="6263640" y="3931920"/>
            <a:ext cx="457200" cy="457200"/>
          </a:xfrm>
          <a:prstGeom prst="ellipse">
            <a:avLst/>
          </a:prstGeom>
          <a:solidFill>
            <a:srgbClr val="0D7877"/>
          </a:solidFill>
          <a:ln w="12700">
            <a:solidFill>
              <a:srgbClr val="0D7877"/>
            </a:solidFill>
            <a:prstDash val="solid"/>
          </a:ln>
        </p:spPr>
      </p:sp>
      <p:sp>
        <p:nvSpPr>
          <p:cNvPr id="33" name="Text 31"/>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9</a:t>
            </a:r>
            <a:endParaRPr lang="en-US" sz="1600" dirty="0"/>
          </a:p>
        </p:txBody>
      </p:sp>
      <p:sp>
        <p:nvSpPr>
          <p:cNvPr id="34" name="Text 32"/>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IaS   </a:t>
            </a:r>
            <a:r>
              <a:rPr lang="en-US" sz="1200" dirty="0">
                <a:solidFill>
                  <a:srgbClr val="262B3A"/>
                </a:solidFill>
                <a:latin typeface="Calibri" pitchFamily="34" charset="0"/>
                <a:ea typeface="Calibri" pitchFamily="34" charset="-122"/>
                <a:cs typeface="Calibri" pitchFamily="34" charset="-120"/>
              </a:rPr>
              <a:t>Discuss the </a:t>
            </a:r>
            <a:r>
              <a:rPr lang="en-US" sz="1200" b="1" dirty="0">
                <a:solidFill>
                  <a:srgbClr val="262B3A"/>
                </a:solidFill>
                <a:latin typeface="Calibri" pitchFamily="34" charset="0"/>
                <a:ea typeface="Calibri" pitchFamily="34" charset="-122"/>
                <a:cs typeface="Calibri" pitchFamily="34" charset="-120"/>
              </a:rPr>
              <a:t>uses</a:t>
            </a:r>
            <a:r>
              <a:rPr lang="en-US" sz="1200" dirty="0">
                <a:solidFill>
                  <a:srgbClr val="262B3A"/>
                </a:solidFill>
                <a:latin typeface="Calibri" pitchFamily="34" charset="0"/>
                <a:ea typeface="Calibri" pitchFamily="34" charset="-122"/>
                <a:cs typeface="Calibri" pitchFamily="34" charset="-120"/>
              </a:rPr>
              <a:t> of stem cells and the </a:t>
            </a:r>
            <a:r>
              <a:rPr lang="en-US" sz="1200" b="1" dirty="0">
                <a:solidFill>
                  <a:srgbClr val="262B3A"/>
                </a:solidFill>
                <a:latin typeface="Calibri" pitchFamily="34" charset="0"/>
                <a:ea typeface="Calibri" pitchFamily="34" charset="-122"/>
                <a:cs typeface="Calibri" pitchFamily="34" charset="-120"/>
              </a:rPr>
              <a:t>ethical</a:t>
            </a:r>
            <a:r>
              <a:rPr lang="en-US" sz="1200" dirty="0">
                <a:solidFill>
                  <a:srgbClr val="262B3A"/>
                </a:solidFill>
                <a:latin typeface="Calibri" pitchFamily="34" charset="0"/>
                <a:ea typeface="Calibri" pitchFamily="34" charset="-122"/>
                <a:cs typeface="Calibri" pitchFamily="34" charset="-120"/>
              </a:rPr>
              <a:t> issues (ethics and decision making).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B4 Using food and controlling growth • B4.3 is Part 3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B4.3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How do organisms grow and develop?</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B4.3.1   </a:t>
            </a:r>
            <a:r>
              <a:rPr lang="en-US" sz="1100" dirty="0">
                <a:solidFill>
                  <a:srgbClr val="262B3A"/>
                </a:solidFill>
                <a:latin typeface="Calibri" pitchFamily="34" charset="0"/>
                <a:ea typeface="Calibri" pitchFamily="34" charset="-122"/>
                <a:cs typeface="Calibri" pitchFamily="34" charset="-120"/>
              </a:rPr>
              <a:t>Growth, chromosomes and the cell cycle</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B4.3.1   </a:t>
            </a:r>
            <a:r>
              <a:rPr lang="en-US" sz="1100" dirty="0">
                <a:solidFill>
                  <a:srgbClr val="262B3A"/>
                </a:solidFill>
                <a:latin typeface="Calibri" pitchFamily="34" charset="0"/>
                <a:ea typeface="Calibri" pitchFamily="34" charset="-122"/>
                <a:cs typeface="Calibri" pitchFamily="34" charset="-120"/>
              </a:rPr>
              <a:t>Stages of mitosis; genetically identical cells</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PAG B1   </a:t>
            </a:r>
            <a:r>
              <a:rPr lang="en-US" sz="1100" dirty="0">
                <a:solidFill>
                  <a:srgbClr val="262B3A"/>
                </a:solidFill>
                <a:latin typeface="Calibri" pitchFamily="34" charset="0"/>
                <a:ea typeface="Calibri" pitchFamily="34" charset="-122"/>
                <a:cs typeface="Calibri" pitchFamily="34" charset="-120"/>
              </a:rPr>
              <a:t>Practical: observing mitosis in a root tip squash</a:t>
            </a:r>
            <a:endParaRPr lang="en-US" sz="1100" dirty="0"/>
          </a:p>
        </p:txBody>
      </p:sp>
      <p:sp>
        <p:nvSpPr>
          <p:cNvPr id="24" name="Shape 22"/>
          <p:cNvSpPr/>
          <p:nvPr/>
        </p:nvSpPr>
        <p:spPr>
          <a:xfrm>
            <a:off x="5257800" y="3566160"/>
            <a:ext cx="1097280" cy="274320"/>
          </a:xfrm>
          <a:prstGeom prst="roundRect">
            <a:avLst>
              <a:gd name="adj" fmla="val 50000"/>
            </a:avLst>
          </a:prstGeom>
          <a:solidFill>
            <a:srgbClr val="B8730A"/>
          </a:solidFill>
          <a:ln w="12700">
            <a:solidFill>
              <a:srgbClr val="B8730A"/>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B4.3.2, B4.3.3   </a:t>
            </a:r>
            <a:r>
              <a:rPr lang="en-US" sz="1100" dirty="0">
                <a:solidFill>
                  <a:srgbClr val="262B3A"/>
                </a:solidFill>
                <a:latin typeface="Calibri" pitchFamily="34" charset="0"/>
                <a:ea typeface="Calibri" pitchFamily="34" charset="-122"/>
                <a:cs typeface="Calibri" pitchFamily="34" charset="-120"/>
              </a:rPr>
              <a:t>Cancer; mitosis compared with meiosis</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B4.3.4, B4.3.5   </a:t>
            </a:r>
            <a:r>
              <a:rPr lang="en-US" sz="1100" dirty="0">
                <a:solidFill>
                  <a:srgbClr val="262B3A"/>
                </a:solidFill>
                <a:latin typeface="Calibri" pitchFamily="34" charset="0"/>
                <a:ea typeface="Calibri" pitchFamily="34" charset="-122"/>
                <a:cs typeface="Calibri" pitchFamily="34" charset="-120"/>
              </a:rPr>
              <a:t>Differentiation, stem cells and meristems</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IaS   </a:t>
            </a:r>
            <a:r>
              <a:rPr lang="en-US" sz="1100" dirty="0">
                <a:solidFill>
                  <a:srgbClr val="262B3A"/>
                </a:solidFill>
                <a:latin typeface="Calibri" pitchFamily="34" charset="0"/>
                <a:ea typeface="Calibri" pitchFamily="34" charset="-122"/>
                <a:cs typeface="Calibri" pitchFamily="34" charset="-120"/>
              </a:rPr>
              <a:t>Using stem cells: benefits, risks and ethics</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B1.1 genes and chromosomes • B1.2 meiosis and gametes • B4.1 ATP • B4.2 microscopes</a:t>
            </a:r>
            <a:endParaRPr lang="en-US" sz="1050" dirty="0"/>
          </a:p>
        </p:txBody>
      </p:sp>
      <p:sp>
        <p:nvSpPr>
          <p:cNvPr id="42" name="Shape 40"/>
          <p:cNvSpPr/>
          <p:nvPr/>
        </p:nvSpPr>
        <p:spPr>
          <a:xfrm>
            <a:off x="6720840" y="1234440"/>
            <a:ext cx="5056632" cy="2788920"/>
          </a:xfrm>
          <a:prstGeom prst="roundRect">
            <a:avLst>
              <a:gd name="adj" fmla="val 1967"/>
            </a:avLst>
          </a:prstGeom>
          <a:solidFill>
            <a:srgbClr val="0F3D3E"/>
          </a:solidFill>
          <a:ln/>
        </p:spPr>
      </p:sp>
      <p:sp>
        <p:nvSpPr>
          <p:cNvPr id="43" name="Text 41"/>
          <p:cNvSpPr/>
          <p:nvPr/>
        </p:nvSpPr>
        <p:spPr>
          <a:xfrm>
            <a:off x="6903720" y="1325880"/>
            <a:ext cx="4709160" cy="26060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B4 in J260</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B4.1 What happens during cellular respiration?</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B4.2 How do we know about mitochondria and other cell structures?</a:t>
            </a:r>
            <a:r>
              <a:rPr lang="en-US" sz="1150" dirty="0">
                <a:solidFill>
                  <a:srgbClr val="E3F2F0"/>
                </a:solidFill>
                <a:latin typeface="Calibri" pitchFamily="34" charset="0"/>
                <a:ea typeface="Calibri" pitchFamily="34" charset="-122"/>
                <a:cs typeface="Calibri" pitchFamily="34" charset="-120"/>
              </a:rPr>
              <a:t> Microscopes and organelles.</a:t>
            </a:r>
            <a:endParaRPr lang="en-US" sz="1500" dirty="0"/>
          </a:p>
          <a:p>
            <a:pPr marL="152400" indent="-152400">
              <a:spcAft>
                <a:spcPts val="300"/>
              </a:spcAft>
              <a:buSzPct val="100000"/>
              <a:buChar char="▪"/>
            </a:pPr>
            <a:r>
              <a:rPr lang="en-US" sz="1150" b="1" dirty="0">
                <a:solidFill>
                  <a:srgbClr val="E3F2F0"/>
                </a:solidFill>
                <a:latin typeface="Calibri" pitchFamily="34" charset="0"/>
                <a:ea typeface="Calibri" pitchFamily="34" charset="-122"/>
                <a:cs typeface="Calibri" pitchFamily="34" charset="-120"/>
              </a:rPr>
              <a:t>B4.3 How do organisms grow and develop?</a:t>
            </a:r>
            <a:r>
              <a:rPr lang="en-US" sz="1150" dirty="0">
                <a:solidFill>
                  <a:srgbClr val="E3F2F0"/>
                </a:solidFill>
                <a:latin typeface="Calibri" pitchFamily="34" charset="0"/>
                <a:ea typeface="Calibri" pitchFamily="34" charset="-122"/>
                <a:cs typeface="Calibri" pitchFamily="34" charset="-120"/>
              </a:rPr>
              <a:t> (this deck: the last B4 deck in Combined Science)</a:t>
            </a:r>
            <a:endParaRPr lang="en-US" sz="1500" dirty="0"/>
          </a:p>
          <a:p>
            <a:pPr marL="152400" indent="-152400">
              <a:spcAft>
                <a:spcPts val="300"/>
              </a:spcAft>
              <a:buSzPct val="100000"/>
              <a:buChar char="▪"/>
            </a:pPr>
            <a:r>
              <a:rPr lang="en-US" sz="1150" dirty="0">
                <a:solidFill>
                  <a:srgbClr val="E3F2F0"/>
                </a:solidFill>
                <a:latin typeface="Calibri" pitchFamily="34" charset="0"/>
                <a:ea typeface="Calibri" pitchFamily="34" charset="-122"/>
                <a:cs typeface="Calibri" pitchFamily="34" charset="-120"/>
              </a:rPr>
              <a:t>B4.4 How is plant growth controlled? (plant hormones) is </a:t>
            </a:r>
            <a:r>
              <a:rPr lang="en-US" sz="1150" b="1" dirty="0">
                <a:solidFill>
                  <a:srgbClr val="E3F2F0"/>
                </a:solidFill>
                <a:latin typeface="Calibri" pitchFamily="34" charset="0"/>
                <a:ea typeface="Calibri" pitchFamily="34" charset="-122"/>
                <a:cs typeface="Calibri" pitchFamily="34" charset="-120"/>
              </a:rPr>
              <a:t>Biology B J257 only</a:t>
            </a:r>
            <a:r>
              <a:rPr lang="en-US" sz="1150" dirty="0">
                <a:solidFill>
                  <a:srgbClr val="E3F2F0"/>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50" dirty="0">
                <a:solidFill>
                  <a:srgbClr val="E3F2F0"/>
                </a:solidFill>
                <a:latin typeface="Calibri" pitchFamily="34" charset="0"/>
                <a:ea typeface="Calibri" pitchFamily="34" charset="-122"/>
                <a:cs typeface="Calibri" pitchFamily="34" charset="-120"/>
              </a:rPr>
              <a:t>Next: </a:t>
            </a:r>
            <a:r>
              <a:rPr lang="en-US" sz="1150" b="1" dirty="0">
                <a:solidFill>
                  <a:srgbClr val="E3F2F0"/>
                </a:solidFill>
                <a:latin typeface="Calibri" pitchFamily="34" charset="0"/>
                <a:ea typeface="Calibri" pitchFamily="34" charset="-122"/>
                <a:cs typeface="Calibri" pitchFamily="34" charset="-120"/>
              </a:rPr>
              <a:t>Chapter B5 The human body – staying alive</a:t>
            </a:r>
            <a:r>
              <a:rPr lang="en-US" sz="1150" dirty="0">
                <a:solidFill>
                  <a:srgbClr val="E3F2F0"/>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4160520"/>
            <a:ext cx="5056632" cy="2103120"/>
          </a:xfrm>
          <a:prstGeom prst="roundRect">
            <a:avLst>
              <a:gd name="adj" fmla="val 2609"/>
            </a:avLst>
          </a:prstGeom>
          <a:solidFill>
            <a:srgbClr val="FFF4E0"/>
          </a:solidFill>
          <a:ln w="12700">
            <a:solidFill>
              <a:srgbClr val="F1D9A8"/>
            </a:solidFill>
            <a:prstDash val="solid"/>
          </a:ln>
        </p:spPr>
      </p:sp>
      <p:sp>
        <p:nvSpPr>
          <p:cNvPr id="45" name="Text 43"/>
          <p:cNvSpPr/>
          <p:nvPr/>
        </p:nvSpPr>
        <p:spPr>
          <a:xfrm>
            <a:off x="6903720" y="4251960"/>
            <a:ext cx="4709160" cy="19202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slide is for both tiers: no B4.3 statement was found to be Higher only.</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You describe what happens in each stage of mitosis; the stage </a:t>
            </a:r>
            <a:r>
              <a:rPr lang="en-US" sz="1150" b="1" dirty="0">
                <a:solidFill>
                  <a:srgbClr val="262B3A"/>
                </a:solidFill>
                <a:latin typeface="Calibri" pitchFamily="34" charset="0"/>
                <a:ea typeface="Calibri" pitchFamily="34" charset="-122"/>
                <a:cs typeface="Calibri" pitchFamily="34" charset="-120"/>
              </a:rPr>
              <a:t>names</a:t>
            </a:r>
            <a:r>
              <a:rPr lang="en-US" sz="1150" dirty="0">
                <a:solidFill>
                  <a:srgbClr val="262B3A"/>
                </a:solidFill>
                <a:latin typeface="Calibri" pitchFamily="34" charset="0"/>
                <a:ea typeface="Calibri" pitchFamily="34" charset="-122"/>
                <a:cs typeface="Calibri" pitchFamily="34" charset="-120"/>
              </a:rPr>
              <a:t> are a stretch.</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One practical: </a:t>
            </a:r>
            <a:r>
              <a:rPr lang="en-US" sz="1150" b="1" dirty="0">
                <a:solidFill>
                  <a:srgbClr val="262B3A"/>
                </a:solidFill>
                <a:latin typeface="Calibri" pitchFamily="34" charset="0"/>
                <a:ea typeface="Calibri" pitchFamily="34" charset="-122"/>
                <a:cs typeface="Calibri" pitchFamily="34" charset="-120"/>
              </a:rPr>
              <a:t>PAG B1</a:t>
            </a:r>
            <a:r>
              <a:rPr lang="en-US" sz="1150" dirty="0">
                <a:solidFill>
                  <a:srgbClr val="262B3A"/>
                </a:solidFill>
                <a:latin typeface="Calibri" pitchFamily="34" charset="0"/>
                <a:ea typeface="Calibri" pitchFamily="34" charset="-122"/>
                <a:cs typeface="Calibri" pitchFamily="34" charset="-120"/>
              </a:rPr>
              <a:t>, a root tip squash. Maths: </a:t>
            </a:r>
            <a:r>
              <a:rPr lang="en-US" sz="1150" b="1" dirty="0">
                <a:solidFill>
                  <a:srgbClr val="262B3A"/>
                </a:solidFill>
                <a:latin typeface="Calibri" pitchFamily="34" charset="0"/>
                <a:ea typeface="Calibri" pitchFamily="34" charset="-122"/>
                <a:cs typeface="Calibri" pitchFamily="34" charset="-120"/>
              </a:rPr>
              <a:t>percentages</a:t>
            </a:r>
            <a:r>
              <a:rPr lang="en-US" sz="1150" dirty="0">
                <a:solidFill>
                  <a:srgbClr val="262B3A"/>
                </a:solidFill>
                <a:latin typeface="Calibri" pitchFamily="34" charset="0"/>
                <a:ea typeface="Calibri" pitchFamily="34" charset="-122"/>
                <a:cs typeface="Calibri" pitchFamily="34" charset="-120"/>
              </a:rPr>
              <a:t> from cell counts.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B1.1, B1.2, B4.1, B4.2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B1.1 • genes and the genome</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gene</a:t>
            </a:r>
            <a:r>
              <a:rPr lang="en-US" sz="1250" dirty="0">
                <a:solidFill>
                  <a:srgbClr val="262B3A"/>
                </a:solidFill>
                <a:latin typeface="Calibri" pitchFamily="34" charset="0"/>
                <a:ea typeface="Calibri" pitchFamily="34" charset="-122"/>
                <a:cs typeface="Calibri" pitchFamily="34" charset="-120"/>
              </a:rPr>
              <a:t>? Where in an animal cell are the chromosomes found?</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B1.2 • inheritance</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human body cell has </a:t>
            </a:r>
            <a:r>
              <a:rPr lang="en-US" sz="1250" b="1" dirty="0">
                <a:solidFill>
                  <a:srgbClr val="262B3A"/>
                </a:solidFill>
                <a:latin typeface="Calibri" pitchFamily="34" charset="0"/>
                <a:ea typeface="Calibri" pitchFamily="34" charset="-122"/>
                <a:cs typeface="Calibri" pitchFamily="34" charset="-120"/>
              </a:rPr>
              <a:t>46</a:t>
            </a:r>
            <a:r>
              <a:rPr lang="en-US" sz="1250" dirty="0">
                <a:solidFill>
                  <a:srgbClr val="262B3A"/>
                </a:solidFill>
                <a:latin typeface="Calibri" pitchFamily="34" charset="0"/>
                <a:ea typeface="Calibri" pitchFamily="34" charset="-122"/>
                <a:cs typeface="Calibri" pitchFamily="34" charset="-120"/>
              </a:rPr>
              <a:t> chromosomes. How many are in a human </a:t>
            </a:r>
            <a:r>
              <a:rPr lang="en-US" sz="1250" b="1" dirty="0">
                <a:solidFill>
                  <a:srgbClr val="262B3A"/>
                </a:solidFill>
                <a:latin typeface="Calibri" pitchFamily="34" charset="0"/>
                <a:ea typeface="Calibri" pitchFamily="34" charset="-122"/>
                <a:cs typeface="Calibri" pitchFamily="34" charset="-120"/>
              </a:rPr>
              <a:t>sperm</a:t>
            </a:r>
            <a:r>
              <a:rPr lang="en-US" sz="1250" dirty="0">
                <a:solidFill>
                  <a:srgbClr val="262B3A"/>
                </a:solidFill>
                <a:latin typeface="Calibri" pitchFamily="34" charset="0"/>
                <a:ea typeface="Calibri" pitchFamily="34" charset="-122"/>
                <a:cs typeface="Calibri" pitchFamily="34" charset="-120"/>
              </a:rPr>
              <a:t> cell? Name the type of cell division that makes it.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molecule that supplies energy for processes such as </a:t>
            </a:r>
            <a:r>
              <a:rPr lang="en-US" sz="1250" b="1" dirty="0">
                <a:solidFill>
                  <a:srgbClr val="262B3A"/>
                </a:solidFill>
                <a:latin typeface="Calibri" pitchFamily="34" charset="0"/>
                <a:ea typeface="Calibri" pitchFamily="34" charset="-122"/>
                <a:cs typeface="Calibri" pitchFamily="34" charset="-120"/>
              </a:rPr>
              <a:t>cell division</a:t>
            </a:r>
            <a:r>
              <a:rPr lang="en-US" sz="1250" dirty="0">
                <a:solidFill>
                  <a:srgbClr val="262B3A"/>
                </a:solidFill>
                <a:latin typeface="Calibri" pitchFamily="34" charset="0"/>
                <a:ea typeface="Calibri" pitchFamily="34" charset="-122"/>
                <a:cs typeface="Calibri" pitchFamily="34" charset="-120"/>
              </a:rPr>
              <a:t>. Which organelle makes most of it?</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B4.2 • microscopy</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parts of a light microscope you use to bring a specimen into focus.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B4.2 • microscopy</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image is </a:t>
            </a:r>
            <a:r>
              <a:rPr lang="en-US" sz="1250" b="1" dirty="0">
                <a:solidFill>
                  <a:srgbClr val="262B3A"/>
                </a:solidFill>
                <a:latin typeface="Calibri" pitchFamily="34" charset="0"/>
                <a:ea typeface="Calibri" pitchFamily="34" charset="-122"/>
                <a:cs typeface="Calibri" pitchFamily="34" charset="-120"/>
              </a:rPr>
              <a:t>20 mm</a:t>
            </a:r>
            <a:r>
              <a:rPr lang="en-US" sz="1250" dirty="0">
                <a:solidFill>
                  <a:srgbClr val="262B3A"/>
                </a:solidFill>
                <a:latin typeface="Calibri" pitchFamily="34" charset="0"/>
                <a:ea typeface="Calibri" pitchFamily="34" charset="-122"/>
                <a:cs typeface="Calibri" pitchFamily="34" charset="-120"/>
              </a:rPr>
              <a:t> across. The real cell is </a:t>
            </a:r>
            <a:r>
              <a:rPr lang="en-US" sz="1250" b="1" dirty="0">
                <a:solidFill>
                  <a:srgbClr val="262B3A"/>
                </a:solidFill>
                <a:latin typeface="Calibri" pitchFamily="34" charset="0"/>
                <a:ea typeface="Calibri" pitchFamily="34" charset="-122"/>
                <a:cs typeface="Calibri" pitchFamily="34" charset="-120"/>
              </a:rPr>
              <a:t>0.05 mm</a:t>
            </a:r>
            <a:r>
              <a:rPr lang="en-US" sz="1250" dirty="0">
                <a:solidFill>
                  <a:srgbClr val="262B3A"/>
                </a:solidFill>
                <a:latin typeface="Calibri" pitchFamily="34" charset="0"/>
                <a:ea typeface="Calibri" pitchFamily="34" charset="-122"/>
                <a:cs typeface="Calibri" pitchFamily="34" charset="-120"/>
              </a:rPr>
              <a:t> across. Calculate the magnification.</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cells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structures found in a plant cell but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in an animal cell.</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How multicellular organisms grow</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growth needs more cells, bigger cells and specialised cells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fertilised egg (zygote) divides by mitosis; cells drawn not to scale</a:t>
            </a:r>
            <a:endParaRPr lang="en-US" sz="1000" dirty="0"/>
          </a:p>
        </p:txBody>
      </p:sp>
      <p:sp>
        <p:nvSpPr>
          <p:cNvPr id="10" name="Text 8"/>
          <p:cNvSpPr/>
          <p:nvPr/>
        </p:nvSpPr>
        <p:spPr>
          <a:xfrm>
            <a:off x="640080" y="1298448"/>
            <a:ext cx="51206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One cell becomes many: each cell divides into two</a:t>
            </a:r>
            <a:endParaRPr lang="en-US" sz="1100" dirty="0"/>
          </a:p>
        </p:txBody>
      </p:sp>
      <p:sp>
        <p:nvSpPr>
          <p:cNvPr id="11" name="Shape 9"/>
          <p:cNvSpPr/>
          <p:nvPr/>
        </p:nvSpPr>
        <p:spPr>
          <a:xfrm>
            <a:off x="630936" y="2002536"/>
            <a:ext cx="658368" cy="658368"/>
          </a:xfrm>
          <a:prstGeom prst="ellipse">
            <a:avLst/>
          </a:prstGeom>
          <a:solidFill>
            <a:srgbClr val="FFF4D6"/>
          </a:solidFill>
          <a:ln w="19050">
            <a:solidFill>
              <a:srgbClr val="B8730A"/>
            </a:solidFill>
            <a:prstDash val="solid"/>
          </a:ln>
        </p:spPr>
      </p:sp>
      <p:sp>
        <p:nvSpPr>
          <p:cNvPr id="12" name="Shape 10"/>
          <p:cNvSpPr/>
          <p:nvPr/>
        </p:nvSpPr>
        <p:spPr>
          <a:xfrm>
            <a:off x="811987" y="2183587"/>
            <a:ext cx="296266" cy="296266"/>
          </a:xfrm>
          <a:prstGeom prst="ellipse">
            <a:avLst/>
          </a:prstGeom>
          <a:solidFill>
            <a:srgbClr val="C9B6E4"/>
          </a:solidFill>
          <a:ln w="12700">
            <a:solidFill>
              <a:srgbClr val="6A4C93"/>
            </a:solidFill>
            <a:prstDash val="solid"/>
          </a:ln>
        </p:spPr>
      </p:sp>
      <p:sp>
        <p:nvSpPr>
          <p:cNvPr id="13" name="Shape 11"/>
          <p:cNvSpPr/>
          <p:nvPr/>
        </p:nvSpPr>
        <p:spPr>
          <a:xfrm>
            <a:off x="1783080" y="2148840"/>
            <a:ext cx="365760" cy="365760"/>
          </a:xfrm>
          <a:prstGeom prst="ellipse">
            <a:avLst/>
          </a:prstGeom>
          <a:solidFill>
            <a:srgbClr val="FFF4D6"/>
          </a:solidFill>
          <a:ln w="19050">
            <a:solidFill>
              <a:srgbClr val="B8730A"/>
            </a:solidFill>
            <a:prstDash val="solid"/>
          </a:ln>
        </p:spPr>
      </p:sp>
      <p:sp>
        <p:nvSpPr>
          <p:cNvPr id="14" name="Shape 12"/>
          <p:cNvSpPr/>
          <p:nvPr/>
        </p:nvSpPr>
        <p:spPr>
          <a:xfrm>
            <a:off x="1883664" y="2249424"/>
            <a:ext cx="164592" cy="164592"/>
          </a:xfrm>
          <a:prstGeom prst="ellipse">
            <a:avLst/>
          </a:prstGeom>
          <a:solidFill>
            <a:srgbClr val="C9B6E4"/>
          </a:solidFill>
          <a:ln w="12700">
            <a:solidFill>
              <a:srgbClr val="6A4C93"/>
            </a:solidFill>
            <a:prstDash val="solid"/>
          </a:ln>
        </p:spPr>
      </p:sp>
      <p:sp>
        <p:nvSpPr>
          <p:cNvPr id="15" name="Shape 13"/>
          <p:cNvSpPr/>
          <p:nvPr/>
        </p:nvSpPr>
        <p:spPr>
          <a:xfrm>
            <a:off x="2148840" y="2148840"/>
            <a:ext cx="365760" cy="365760"/>
          </a:xfrm>
          <a:prstGeom prst="ellipse">
            <a:avLst/>
          </a:prstGeom>
          <a:solidFill>
            <a:srgbClr val="FFF4D6"/>
          </a:solidFill>
          <a:ln w="19050">
            <a:solidFill>
              <a:srgbClr val="B8730A"/>
            </a:solidFill>
            <a:prstDash val="solid"/>
          </a:ln>
        </p:spPr>
      </p:sp>
      <p:sp>
        <p:nvSpPr>
          <p:cNvPr id="16" name="Shape 14"/>
          <p:cNvSpPr/>
          <p:nvPr/>
        </p:nvSpPr>
        <p:spPr>
          <a:xfrm>
            <a:off x="2249424" y="2249424"/>
            <a:ext cx="164592" cy="164592"/>
          </a:xfrm>
          <a:prstGeom prst="ellipse">
            <a:avLst/>
          </a:prstGeom>
          <a:solidFill>
            <a:srgbClr val="C9B6E4"/>
          </a:solidFill>
          <a:ln w="12700">
            <a:solidFill>
              <a:srgbClr val="6A4C93"/>
            </a:solidFill>
            <a:prstDash val="solid"/>
          </a:ln>
        </p:spPr>
      </p:sp>
      <p:sp>
        <p:nvSpPr>
          <p:cNvPr id="17" name="Shape 15"/>
          <p:cNvSpPr/>
          <p:nvPr/>
        </p:nvSpPr>
        <p:spPr>
          <a:xfrm>
            <a:off x="3122676" y="2025396"/>
            <a:ext cx="301752" cy="301752"/>
          </a:xfrm>
          <a:prstGeom prst="ellipse">
            <a:avLst/>
          </a:prstGeom>
          <a:solidFill>
            <a:srgbClr val="FFF4D6"/>
          </a:solidFill>
          <a:ln w="19050">
            <a:solidFill>
              <a:srgbClr val="B8730A"/>
            </a:solidFill>
            <a:prstDash val="solid"/>
          </a:ln>
        </p:spPr>
      </p:sp>
      <p:sp>
        <p:nvSpPr>
          <p:cNvPr id="18" name="Shape 16"/>
          <p:cNvSpPr/>
          <p:nvPr/>
        </p:nvSpPr>
        <p:spPr>
          <a:xfrm>
            <a:off x="3205658" y="2108378"/>
            <a:ext cx="135788" cy="135788"/>
          </a:xfrm>
          <a:prstGeom prst="ellipse">
            <a:avLst/>
          </a:prstGeom>
          <a:solidFill>
            <a:srgbClr val="C9B6E4"/>
          </a:solidFill>
          <a:ln w="12700">
            <a:solidFill>
              <a:srgbClr val="6A4C93"/>
            </a:solidFill>
            <a:prstDash val="solid"/>
          </a:ln>
        </p:spPr>
      </p:sp>
      <p:sp>
        <p:nvSpPr>
          <p:cNvPr id="19" name="Shape 17"/>
          <p:cNvSpPr/>
          <p:nvPr/>
        </p:nvSpPr>
        <p:spPr>
          <a:xfrm>
            <a:off x="3433572" y="2025396"/>
            <a:ext cx="301752" cy="301752"/>
          </a:xfrm>
          <a:prstGeom prst="ellipse">
            <a:avLst/>
          </a:prstGeom>
          <a:solidFill>
            <a:srgbClr val="FFF4D6"/>
          </a:solidFill>
          <a:ln w="19050">
            <a:solidFill>
              <a:srgbClr val="B8730A"/>
            </a:solidFill>
            <a:prstDash val="solid"/>
          </a:ln>
        </p:spPr>
      </p:sp>
      <p:sp>
        <p:nvSpPr>
          <p:cNvPr id="20" name="Shape 18"/>
          <p:cNvSpPr/>
          <p:nvPr/>
        </p:nvSpPr>
        <p:spPr>
          <a:xfrm>
            <a:off x="3516554" y="2108378"/>
            <a:ext cx="135788" cy="135788"/>
          </a:xfrm>
          <a:prstGeom prst="ellipse">
            <a:avLst/>
          </a:prstGeom>
          <a:solidFill>
            <a:srgbClr val="C9B6E4"/>
          </a:solidFill>
          <a:ln w="12700">
            <a:solidFill>
              <a:srgbClr val="6A4C93"/>
            </a:solidFill>
            <a:prstDash val="solid"/>
          </a:ln>
        </p:spPr>
      </p:sp>
      <p:sp>
        <p:nvSpPr>
          <p:cNvPr id="21" name="Shape 19"/>
          <p:cNvSpPr/>
          <p:nvPr/>
        </p:nvSpPr>
        <p:spPr>
          <a:xfrm>
            <a:off x="3122676" y="2336292"/>
            <a:ext cx="301752" cy="301752"/>
          </a:xfrm>
          <a:prstGeom prst="ellipse">
            <a:avLst/>
          </a:prstGeom>
          <a:solidFill>
            <a:srgbClr val="FFF4D6"/>
          </a:solidFill>
          <a:ln w="19050">
            <a:solidFill>
              <a:srgbClr val="B8730A"/>
            </a:solidFill>
            <a:prstDash val="solid"/>
          </a:ln>
        </p:spPr>
      </p:sp>
      <p:sp>
        <p:nvSpPr>
          <p:cNvPr id="22" name="Shape 20"/>
          <p:cNvSpPr/>
          <p:nvPr/>
        </p:nvSpPr>
        <p:spPr>
          <a:xfrm>
            <a:off x="3205658" y="2419274"/>
            <a:ext cx="135788" cy="135788"/>
          </a:xfrm>
          <a:prstGeom prst="ellipse">
            <a:avLst/>
          </a:prstGeom>
          <a:solidFill>
            <a:srgbClr val="C9B6E4"/>
          </a:solidFill>
          <a:ln w="12700">
            <a:solidFill>
              <a:srgbClr val="6A4C93"/>
            </a:solidFill>
            <a:prstDash val="solid"/>
          </a:ln>
        </p:spPr>
      </p:sp>
      <p:sp>
        <p:nvSpPr>
          <p:cNvPr id="23" name="Shape 21"/>
          <p:cNvSpPr/>
          <p:nvPr/>
        </p:nvSpPr>
        <p:spPr>
          <a:xfrm>
            <a:off x="3433572" y="2336292"/>
            <a:ext cx="301752" cy="301752"/>
          </a:xfrm>
          <a:prstGeom prst="ellipse">
            <a:avLst/>
          </a:prstGeom>
          <a:solidFill>
            <a:srgbClr val="FFF4D6"/>
          </a:solidFill>
          <a:ln w="19050">
            <a:solidFill>
              <a:srgbClr val="B8730A"/>
            </a:solidFill>
            <a:prstDash val="solid"/>
          </a:ln>
        </p:spPr>
      </p:sp>
      <p:sp>
        <p:nvSpPr>
          <p:cNvPr id="24" name="Shape 22"/>
          <p:cNvSpPr/>
          <p:nvPr/>
        </p:nvSpPr>
        <p:spPr>
          <a:xfrm>
            <a:off x="3516554" y="2419274"/>
            <a:ext cx="135788" cy="135788"/>
          </a:xfrm>
          <a:prstGeom prst="ellipse">
            <a:avLst/>
          </a:prstGeom>
          <a:solidFill>
            <a:srgbClr val="C9B6E4"/>
          </a:solidFill>
          <a:ln w="12700">
            <a:solidFill>
              <a:srgbClr val="6A4C93"/>
            </a:solidFill>
            <a:prstDash val="solid"/>
          </a:ln>
        </p:spPr>
      </p:sp>
      <p:sp>
        <p:nvSpPr>
          <p:cNvPr id="25" name="Shape 23"/>
          <p:cNvSpPr/>
          <p:nvPr/>
        </p:nvSpPr>
        <p:spPr>
          <a:xfrm>
            <a:off x="4475988" y="2098548"/>
            <a:ext cx="192024" cy="192024"/>
          </a:xfrm>
          <a:prstGeom prst="ellipse">
            <a:avLst/>
          </a:prstGeom>
          <a:solidFill>
            <a:srgbClr val="FFF4D6"/>
          </a:solidFill>
          <a:ln w="19050">
            <a:solidFill>
              <a:srgbClr val="B8730A"/>
            </a:solidFill>
            <a:prstDash val="solid"/>
          </a:ln>
        </p:spPr>
      </p:sp>
      <p:sp>
        <p:nvSpPr>
          <p:cNvPr id="26" name="Shape 24"/>
          <p:cNvSpPr/>
          <p:nvPr/>
        </p:nvSpPr>
        <p:spPr>
          <a:xfrm>
            <a:off x="4528795" y="2151355"/>
            <a:ext cx="86411" cy="86411"/>
          </a:xfrm>
          <a:prstGeom prst="ellipse">
            <a:avLst/>
          </a:prstGeom>
          <a:solidFill>
            <a:srgbClr val="C9B6E4"/>
          </a:solidFill>
          <a:ln w="12700">
            <a:solidFill>
              <a:srgbClr val="6A4C93"/>
            </a:solidFill>
            <a:prstDash val="solid"/>
          </a:ln>
        </p:spPr>
      </p:sp>
      <p:sp>
        <p:nvSpPr>
          <p:cNvPr id="27" name="Shape 25"/>
          <p:cNvSpPr/>
          <p:nvPr/>
        </p:nvSpPr>
        <p:spPr>
          <a:xfrm>
            <a:off x="4658868" y="2098548"/>
            <a:ext cx="192024" cy="192024"/>
          </a:xfrm>
          <a:prstGeom prst="ellipse">
            <a:avLst/>
          </a:prstGeom>
          <a:solidFill>
            <a:srgbClr val="FFF4D6"/>
          </a:solidFill>
          <a:ln w="19050">
            <a:solidFill>
              <a:srgbClr val="B8730A"/>
            </a:solidFill>
            <a:prstDash val="solid"/>
          </a:ln>
        </p:spPr>
      </p:sp>
      <p:sp>
        <p:nvSpPr>
          <p:cNvPr id="28" name="Shape 26"/>
          <p:cNvSpPr/>
          <p:nvPr/>
        </p:nvSpPr>
        <p:spPr>
          <a:xfrm>
            <a:off x="4711675" y="2151355"/>
            <a:ext cx="86411" cy="86411"/>
          </a:xfrm>
          <a:prstGeom prst="ellipse">
            <a:avLst/>
          </a:prstGeom>
          <a:solidFill>
            <a:srgbClr val="C9B6E4"/>
          </a:solidFill>
          <a:ln w="12700">
            <a:solidFill>
              <a:srgbClr val="6A4C93"/>
            </a:solidFill>
            <a:prstDash val="solid"/>
          </a:ln>
        </p:spPr>
      </p:sp>
      <p:sp>
        <p:nvSpPr>
          <p:cNvPr id="29" name="Shape 27"/>
          <p:cNvSpPr/>
          <p:nvPr/>
        </p:nvSpPr>
        <p:spPr>
          <a:xfrm>
            <a:off x="4841748" y="2098548"/>
            <a:ext cx="192024" cy="192024"/>
          </a:xfrm>
          <a:prstGeom prst="ellipse">
            <a:avLst/>
          </a:prstGeom>
          <a:solidFill>
            <a:srgbClr val="FFF4D6"/>
          </a:solidFill>
          <a:ln w="19050">
            <a:solidFill>
              <a:srgbClr val="B8730A"/>
            </a:solidFill>
            <a:prstDash val="solid"/>
          </a:ln>
        </p:spPr>
      </p:sp>
      <p:sp>
        <p:nvSpPr>
          <p:cNvPr id="30" name="Shape 28"/>
          <p:cNvSpPr/>
          <p:nvPr/>
        </p:nvSpPr>
        <p:spPr>
          <a:xfrm>
            <a:off x="4894555" y="2151355"/>
            <a:ext cx="86411" cy="86411"/>
          </a:xfrm>
          <a:prstGeom prst="ellipse">
            <a:avLst/>
          </a:prstGeom>
          <a:solidFill>
            <a:srgbClr val="C9B6E4"/>
          </a:solidFill>
          <a:ln w="12700">
            <a:solidFill>
              <a:srgbClr val="6A4C93"/>
            </a:solidFill>
            <a:prstDash val="solid"/>
          </a:ln>
        </p:spPr>
      </p:sp>
      <p:sp>
        <p:nvSpPr>
          <p:cNvPr id="31" name="Shape 29"/>
          <p:cNvSpPr/>
          <p:nvPr/>
        </p:nvSpPr>
        <p:spPr>
          <a:xfrm>
            <a:off x="5024628" y="2098548"/>
            <a:ext cx="192024" cy="192024"/>
          </a:xfrm>
          <a:prstGeom prst="ellipse">
            <a:avLst/>
          </a:prstGeom>
          <a:solidFill>
            <a:srgbClr val="FFF4D6"/>
          </a:solidFill>
          <a:ln w="19050">
            <a:solidFill>
              <a:srgbClr val="B8730A"/>
            </a:solidFill>
            <a:prstDash val="solid"/>
          </a:ln>
        </p:spPr>
      </p:sp>
      <p:sp>
        <p:nvSpPr>
          <p:cNvPr id="32" name="Shape 30"/>
          <p:cNvSpPr/>
          <p:nvPr/>
        </p:nvSpPr>
        <p:spPr>
          <a:xfrm>
            <a:off x="5077435" y="2151355"/>
            <a:ext cx="86411" cy="86411"/>
          </a:xfrm>
          <a:prstGeom prst="ellipse">
            <a:avLst/>
          </a:prstGeom>
          <a:solidFill>
            <a:srgbClr val="C9B6E4"/>
          </a:solidFill>
          <a:ln w="12700">
            <a:solidFill>
              <a:srgbClr val="6A4C93"/>
            </a:solidFill>
            <a:prstDash val="solid"/>
          </a:ln>
        </p:spPr>
      </p:sp>
      <p:sp>
        <p:nvSpPr>
          <p:cNvPr id="33" name="Shape 31"/>
          <p:cNvSpPr/>
          <p:nvPr/>
        </p:nvSpPr>
        <p:spPr>
          <a:xfrm>
            <a:off x="4475988" y="2372868"/>
            <a:ext cx="192024" cy="192024"/>
          </a:xfrm>
          <a:prstGeom prst="ellipse">
            <a:avLst/>
          </a:prstGeom>
          <a:solidFill>
            <a:srgbClr val="FFF4D6"/>
          </a:solidFill>
          <a:ln w="19050">
            <a:solidFill>
              <a:srgbClr val="B8730A"/>
            </a:solidFill>
            <a:prstDash val="solid"/>
          </a:ln>
        </p:spPr>
      </p:sp>
      <p:sp>
        <p:nvSpPr>
          <p:cNvPr id="34" name="Shape 32"/>
          <p:cNvSpPr/>
          <p:nvPr/>
        </p:nvSpPr>
        <p:spPr>
          <a:xfrm>
            <a:off x="4528795" y="2425675"/>
            <a:ext cx="86411" cy="86411"/>
          </a:xfrm>
          <a:prstGeom prst="ellipse">
            <a:avLst/>
          </a:prstGeom>
          <a:solidFill>
            <a:srgbClr val="C9B6E4"/>
          </a:solidFill>
          <a:ln w="12700">
            <a:solidFill>
              <a:srgbClr val="6A4C93"/>
            </a:solidFill>
            <a:prstDash val="solid"/>
          </a:ln>
        </p:spPr>
      </p:sp>
      <p:sp>
        <p:nvSpPr>
          <p:cNvPr id="35" name="Shape 33"/>
          <p:cNvSpPr/>
          <p:nvPr/>
        </p:nvSpPr>
        <p:spPr>
          <a:xfrm>
            <a:off x="4658868" y="2372868"/>
            <a:ext cx="192024" cy="192024"/>
          </a:xfrm>
          <a:prstGeom prst="ellipse">
            <a:avLst/>
          </a:prstGeom>
          <a:solidFill>
            <a:srgbClr val="FFF4D6"/>
          </a:solidFill>
          <a:ln w="19050">
            <a:solidFill>
              <a:srgbClr val="B8730A"/>
            </a:solidFill>
            <a:prstDash val="solid"/>
          </a:ln>
        </p:spPr>
      </p:sp>
      <p:sp>
        <p:nvSpPr>
          <p:cNvPr id="36" name="Shape 34"/>
          <p:cNvSpPr/>
          <p:nvPr/>
        </p:nvSpPr>
        <p:spPr>
          <a:xfrm>
            <a:off x="4711675" y="2425675"/>
            <a:ext cx="86411" cy="86411"/>
          </a:xfrm>
          <a:prstGeom prst="ellipse">
            <a:avLst/>
          </a:prstGeom>
          <a:solidFill>
            <a:srgbClr val="C9B6E4"/>
          </a:solidFill>
          <a:ln w="12700">
            <a:solidFill>
              <a:srgbClr val="6A4C93"/>
            </a:solidFill>
            <a:prstDash val="solid"/>
          </a:ln>
        </p:spPr>
      </p:sp>
      <p:sp>
        <p:nvSpPr>
          <p:cNvPr id="37" name="Shape 35"/>
          <p:cNvSpPr/>
          <p:nvPr/>
        </p:nvSpPr>
        <p:spPr>
          <a:xfrm>
            <a:off x="4841748" y="2372868"/>
            <a:ext cx="192024" cy="192024"/>
          </a:xfrm>
          <a:prstGeom prst="ellipse">
            <a:avLst/>
          </a:prstGeom>
          <a:solidFill>
            <a:srgbClr val="FFF4D6"/>
          </a:solidFill>
          <a:ln w="19050">
            <a:solidFill>
              <a:srgbClr val="B8730A"/>
            </a:solidFill>
            <a:prstDash val="solid"/>
          </a:ln>
        </p:spPr>
      </p:sp>
      <p:sp>
        <p:nvSpPr>
          <p:cNvPr id="38" name="Shape 36"/>
          <p:cNvSpPr/>
          <p:nvPr/>
        </p:nvSpPr>
        <p:spPr>
          <a:xfrm>
            <a:off x="4894555" y="2425675"/>
            <a:ext cx="86411" cy="86411"/>
          </a:xfrm>
          <a:prstGeom prst="ellipse">
            <a:avLst/>
          </a:prstGeom>
          <a:solidFill>
            <a:srgbClr val="C9B6E4"/>
          </a:solidFill>
          <a:ln w="12700">
            <a:solidFill>
              <a:srgbClr val="6A4C93"/>
            </a:solidFill>
            <a:prstDash val="solid"/>
          </a:ln>
        </p:spPr>
      </p:sp>
      <p:sp>
        <p:nvSpPr>
          <p:cNvPr id="39" name="Shape 37"/>
          <p:cNvSpPr/>
          <p:nvPr/>
        </p:nvSpPr>
        <p:spPr>
          <a:xfrm>
            <a:off x="5024628" y="2372868"/>
            <a:ext cx="192024" cy="192024"/>
          </a:xfrm>
          <a:prstGeom prst="ellipse">
            <a:avLst/>
          </a:prstGeom>
          <a:solidFill>
            <a:srgbClr val="FFF4D6"/>
          </a:solidFill>
          <a:ln w="19050">
            <a:solidFill>
              <a:srgbClr val="B8730A"/>
            </a:solidFill>
            <a:prstDash val="solid"/>
          </a:ln>
        </p:spPr>
      </p:sp>
      <p:sp>
        <p:nvSpPr>
          <p:cNvPr id="40" name="Shape 38"/>
          <p:cNvSpPr/>
          <p:nvPr/>
        </p:nvSpPr>
        <p:spPr>
          <a:xfrm>
            <a:off x="5077435" y="2425675"/>
            <a:ext cx="86411" cy="86411"/>
          </a:xfrm>
          <a:prstGeom prst="ellipse">
            <a:avLst/>
          </a:prstGeom>
          <a:solidFill>
            <a:srgbClr val="C9B6E4"/>
          </a:solidFill>
          <a:ln w="12700">
            <a:solidFill>
              <a:srgbClr val="6A4C93"/>
            </a:solidFill>
            <a:prstDash val="solid"/>
          </a:ln>
        </p:spPr>
      </p:sp>
      <p:sp>
        <p:nvSpPr>
          <p:cNvPr id="41" name="Shape 39"/>
          <p:cNvSpPr/>
          <p:nvPr/>
        </p:nvSpPr>
        <p:spPr>
          <a:xfrm>
            <a:off x="1371600" y="2331720"/>
            <a:ext cx="365760" cy="91"/>
          </a:xfrm>
          <a:prstGeom prst="line">
            <a:avLst/>
          </a:prstGeom>
          <a:noFill/>
          <a:ln w="22225">
            <a:solidFill>
              <a:srgbClr val="133536"/>
            </a:solidFill>
            <a:prstDash val="solid"/>
            <a:tailEnd type="triangle"/>
          </a:ln>
        </p:spPr>
      </p:sp>
      <p:sp>
        <p:nvSpPr>
          <p:cNvPr id="42" name="Shape 40"/>
          <p:cNvSpPr/>
          <p:nvPr/>
        </p:nvSpPr>
        <p:spPr>
          <a:xfrm>
            <a:off x="2560320" y="2331720"/>
            <a:ext cx="457200" cy="91"/>
          </a:xfrm>
          <a:prstGeom prst="line">
            <a:avLst/>
          </a:prstGeom>
          <a:noFill/>
          <a:ln w="22225">
            <a:solidFill>
              <a:srgbClr val="133536"/>
            </a:solidFill>
            <a:prstDash val="solid"/>
            <a:tailEnd type="triangle"/>
          </a:ln>
        </p:spPr>
      </p:sp>
      <p:sp>
        <p:nvSpPr>
          <p:cNvPr id="43" name="Shape 41"/>
          <p:cNvSpPr/>
          <p:nvPr/>
        </p:nvSpPr>
        <p:spPr>
          <a:xfrm>
            <a:off x="3840480" y="2331720"/>
            <a:ext cx="594360" cy="91"/>
          </a:xfrm>
          <a:prstGeom prst="line">
            <a:avLst/>
          </a:prstGeom>
          <a:noFill/>
          <a:ln w="22225">
            <a:solidFill>
              <a:srgbClr val="133536"/>
            </a:solidFill>
            <a:prstDash val="solid"/>
            <a:tailEnd type="triangle"/>
          </a:ln>
        </p:spPr>
      </p:sp>
      <p:sp>
        <p:nvSpPr>
          <p:cNvPr id="44" name="Text 42"/>
          <p:cNvSpPr/>
          <p:nvPr/>
        </p:nvSpPr>
        <p:spPr>
          <a:xfrm>
            <a:off x="411480" y="2788920"/>
            <a:ext cx="109728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a:t>
            </a:r>
            <a:r>
              <a:rPr lang="en-US" sz="1100" dirty="0">
                <a:solidFill>
                  <a:srgbClr val="262B3A"/>
                </a:solidFill>
                <a:latin typeface="Calibri" pitchFamily="34" charset="0"/>
                <a:ea typeface="Calibri" pitchFamily="34" charset="-122"/>
                <a:cs typeface="Calibri" pitchFamily="34" charset="-120"/>
              </a:rPr>
              <a:t> cell</a:t>
            </a:r>
            <a:endParaRPr lang="en-US" sz="1100" dirty="0"/>
          </a:p>
        </p:txBody>
      </p:sp>
      <p:sp>
        <p:nvSpPr>
          <p:cNvPr id="45" name="Text 43"/>
          <p:cNvSpPr/>
          <p:nvPr/>
        </p:nvSpPr>
        <p:spPr>
          <a:xfrm>
            <a:off x="1600200" y="2788920"/>
            <a:ext cx="109728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2</a:t>
            </a:r>
            <a:r>
              <a:rPr lang="en-US" sz="1100" dirty="0">
                <a:solidFill>
                  <a:srgbClr val="262B3A"/>
                </a:solidFill>
                <a:latin typeface="Calibri" pitchFamily="34" charset="0"/>
                <a:ea typeface="Calibri" pitchFamily="34" charset="-122"/>
                <a:cs typeface="Calibri" pitchFamily="34" charset="-120"/>
              </a:rPr>
              <a:t> cells</a:t>
            </a:r>
            <a:endParaRPr lang="en-US" sz="1100" dirty="0"/>
          </a:p>
        </p:txBody>
      </p:sp>
      <p:sp>
        <p:nvSpPr>
          <p:cNvPr id="46" name="Text 44"/>
          <p:cNvSpPr/>
          <p:nvPr/>
        </p:nvSpPr>
        <p:spPr>
          <a:xfrm>
            <a:off x="2880360" y="2788920"/>
            <a:ext cx="109728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4</a:t>
            </a:r>
            <a:r>
              <a:rPr lang="en-US" sz="1100" dirty="0">
                <a:solidFill>
                  <a:srgbClr val="262B3A"/>
                </a:solidFill>
                <a:latin typeface="Calibri" pitchFamily="34" charset="0"/>
                <a:ea typeface="Calibri" pitchFamily="34" charset="-122"/>
                <a:cs typeface="Calibri" pitchFamily="34" charset="-120"/>
              </a:rPr>
              <a:t> cells</a:t>
            </a:r>
            <a:endParaRPr lang="en-US" sz="1100" dirty="0"/>
          </a:p>
        </p:txBody>
      </p:sp>
      <p:sp>
        <p:nvSpPr>
          <p:cNvPr id="47" name="Text 45"/>
          <p:cNvSpPr/>
          <p:nvPr/>
        </p:nvSpPr>
        <p:spPr>
          <a:xfrm>
            <a:off x="4297680" y="2788920"/>
            <a:ext cx="109728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8</a:t>
            </a:r>
            <a:r>
              <a:rPr lang="en-US" sz="1100" dirty="0">
                <a:solidFill>
                  <a:srgbClr val="262B3A"/>
                </a:solidFill>
                <a:latin typeface="Calibri" pitchFamily="34" charset="0"/>
                <a:ea typeface="Calibri" pitchFamily="34" charset="-122"/>
                <a:cs typeface="Calibri" pitchFamily="34" charset="-120"/>
              </a:rPr>
              <a:t> cells</a:t>
            </a:r>
            <a:endParaRPr lang="en-US" sz="1100" dirty="0"/>
          </a:p>
        </p:txBody>
      </p:sp>
      <p:sp>
        <p:nvSpPr>
          <p:cNvPr id="48" name="Text 46"/>
          <p:cNvSpPr/>
          <p:nvPr/>
        </p:nvSpPr>
        <p:spPr>
          <a:xfrm>
            <a:off x="640080" y="3035808"/>
            <a:ext cx="51206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mitosis → mitosis → mitosis …  after n divisions: 2ⁿ cells</a:t>
            </a:r>
            <a:endParaRPr lang="en-US" sz="1050" dirty="0"/>
          </a:p>
        </p:txBody>
      </p:sp>
      <p:sp>
        <p:nvSpPr>
          <p:cNvPr id="49" name="Shape 47"/>
          <p:cNvSpPr/>
          <p:nvPr/>
        </p:nvSpPr>
        <p:spPr>
          <a:xfrm>
            <a:off x="685800" y="3429000"/>
            <a:ext cx="1600200" cy="1828800"/>
          </a:xfrm>
          <a:prstGeom prst="roundRect">
            <a:avLst>
              <a:gd name="adj" fmla="val 3429"/>
            </a:avLst>
          </a:prstGeom>
          <a:solidFill>
            <a:srgbClr val="FFFFFF"/>
          </a:solidFill>
          <a:ln w="19050">
            <a:solidFill>
              <a:srgbClr val="0D7877"/>
            </a:solidFill>
            <a:prstDash val="solid"/>
          </a:ln>
        </p:spPr>
      </p:sp>
      <p:sp>
        <p:nvSpPr>
          <p:cNvPr id="50" name="Text 48"/>
          <p:cNvSpPr/>
          <p:nvPr/>
        </p:nvSpPr>
        <p:spPr>
          <a:xfrm>
            <a:off x="758952" y="3474720"/>
            <a:ext cx="1463040" cy="274320"/>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1  Cell division</a:t>
            </a:r>
            <a:endParaRPr lang="en-US" sz="1100" dirty="0"/>
          </a:p>
        </p:txBody>
      </p:sp>
      <p:sp>
        <p:nvSpPr>
          <p:cNvPr id="51" name="Text 49"/>
          <p:cNvSpPr/>
          <p:nvPr/>
        </p:nvSpPr>
        <p:spPr>
          <a:xfrm>
            <a:off x="777240" y="4462272"/>
            <a:ext cx="1417320" cy="749808"/>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mitosis makes </a:t>
            </a:r>
            <a:r>
              <a:rPr lang="en-US" sz="1050" b="1" dirty="0">
                <a:solidFill>
                  <a:srgbClr val="262B3A"/>
                </a:solidFill>
                <a:latin typeface="Calibri" pitchFamily="34" charset="0"/>
                <a:ea typeface="Calibri" pitchFamily="34" charset="-122"/>
                <a:cs typeface="Calibri" pitchFamily="34" charset="-120"/>
              </a:rPr>
              <a:t>more cells</a:t>
            </a:r>
            <a:endParaRPr lang="en-US" sz="1050" dirty="0"/>
          </a:p>
        </p:txBody>
      </p:sp>
      <p:sp>
        <p:nvSpPr>
          <p:cNvPr id="52" name="Shape 50"/>
          <p:cNvSpPr/>
          <p:nvPr/>
        </p:nvSpPr>
        <p:spPr>
          <a:xfrm>
            <a:off x="2404872" y="3429000"/>
            <a:ext cx="1600200" cy="1828800"/>
          </a:xfrm>
          <a:prstGeom prst="roundRect">
            <a:avLst>
              <a:gd name="adj" fmla="val 3429"/>
            </a:avLst>
          </a:prstGeom>
          <a:solidFill>
            <a:srgbClr val="FFFFFF"/>
          </a:solidFill>
          <a:ln w="19050">
            <a:solidFill>
              <a:srgbClr val="2E8B57"/>
            </a:solidFill>
            <a:prstDash val="solid"/>
          </a:ln>
        </p:spPr>
      </p:sp>
      <p:sp>
        <p:nvSpPr>
          <p:cNvPr id="53" name="Text 51"/>
          <p:cNvSpPr/>
          <p:nvPr/>
        </p:nvSpPr>
        <p:spPr>
          <a:xfrm>
            <a:off x="2478024" y="3474720"/>
            <a:ext cx="146304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2  Cell enlargement</a:t>
            </a:r>
            <a:endParaRPr lang="en-US" sz="1100" dirty="0"/>
          </a:p>
        </p:txBody>
      </p:sp>
      <p:sp>
        <p:nvSpPr>
          <p:cNvPr id="54" name="Text 52"/>
          <p:cNvSpPr/>
          <p:nvPr/>
        </p:nvSpPr>
        <p:spPr>
          <a:xfrm>
            <a:off x="2496312" y="4462272"/>
            <a:ext cx="1417320" cy="749808"/>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each new cell </a:t>
            </a:r>
            <a:r>
              <a:rPr lang="en-US" sz="1050" b="1" dirty="0">
                <a:solidFill>
                  <a:srgbClr val="262B3A"/>
                </a:solidFill>
                <a:latin typeface="Calibri" pitchFamily="34" charset="0"/>
                <a:ea typeface="Calibri" pitchFamily="34" charset="-122"/>
                <a:cs typeface="Calibri" pitchFamily="34" charset="-120"/>
              </a:rPr>
              <a:t>grows bigger</a:t>
            </a:r>
            <a:r>
              <a:rPr lang="en-US" sz="1050" dirty="0">
                <a:solidFill>
                  <a:srgbClr val="262B3A"/>
                </a:solidFill>
                <a:latin typeface="Calibri" pitchFamily="34" charset="0"/>
                <a:ea typeface="Calibri" pitchFamily="34" charset="-122"/>
                <a:cs typeface="Calibri" pitchFamily="34" charset="-120"/>
              </a:rPr>
              <a:t> (in plants, mostly by taking in water)</a:t>
            </a:r>
            <a:endParaRPr lang="en-US" sz="1050" dirty="0"/>
          </a:p>
        </p:txBody>
      </p:sp>
      <p:sp>
        <p:nvSpPr>
          <p:cNvPr id="55" name="Shape 53"/>
          <p:cNvSpPr/>
          <p:nvPr/>
        </p:nvSpPr>
        <p:spPr>
          <a:xfrm>
            <a:off x="4123944" y="3429000"/>
            <a:ext cx="1600200" cy="1828800"/>
          </a:xfrm>
          <a:prstGeom prst="roundRect">
            <a:avLst>
              <a:gd name="adj" fmla="val 3429"/>
            </a:avLst>
          </a:prstGeom>
          <a:solidFill>
            <a:srgbClr val="FFFFFF"/>
          </a:solidFill>
          <a:ln w="19050">
            <a:solidFill>
              <a:srgbClr val="B8730A"/>
            </a:solidFill>
            <a:prstDash val="solid"/>
          </a:ln>
        </p:spPr>
      </p:sp>
      <p:sp>
        <p:nvSpPr>
          <p:cNvPr id="56" name="Text 54"/>
          <p:cNvSpPr/>
          <p:nvPr/>
        </p:nvSpPr>
        <p:spPr>
          <a:xfrm>
            <a:off x="4197096" y="3474720"/>
            <a:ext cx="1463040" cy="274320"/>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3  Differentiation</a:t>
            </a:r>
            <a:endParaRPr lang="en-US" sz="1100" dirty="0"/>
          </a:p>
        </p:txBody>
      </p:sp>
      <p:sp>
        <p:nvSpPr>
          <p:cNvPr id="57" name="Text 55"/>
          <p:cNvSpPr/>
          <p:nvPr/>
        </p:nvSpPr>
        <p:spPr>
          <a:xfrm>
            <a:off x="4215384" y="4462272"/>
            <a:ext cx="1417320" cy="749808"/>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cells become </a:t>
            </a:r>
            <a:r>
              <a:rPr lang="en-US" sz="1050" b="1" dirty="0">
                <a:solidFill>
                  <a:srgbClr val="262B3A"/>
                </a:solidFill>
                <a:latin typeface="Calibri" pitchFamily="34" charset="0"/>
                <a:ea typeface="Calibri" pitchFamily="34" charset="-122"/>
                <a:cs typeface="Calibri" pitchFamily="34" charset="-120"/>
              </a:rPr>
              <a:t>specialised</a:t>
            </a:r>
            <a:r>
              <a:rPr lang="en-US" sz="1050" dirty="0">
                <a:solidFill>
                  <a:srgbClr val="262B3A"/>
                </a:solidFill>
                <a:latin typeface="Calibri" pitchFamily="34" charset="0"/>
                <a:ea typeface="Calibri" pitchFamily="34" charset="-122"/>
                <a:cs typeface="Calibri" pitchFamily="34" charset="-120"/>
              </a:rPr>
              <a:t> for a job</a:t>
            </a:r>
            <a:endParaRPr lang="en-US" sz="1050" dirty="0"/>
          </a:p>
        </p:txBody>
      </p:sp>
      <p:sp>
        <p:nvSpPr>
          <p:cNvPr id="58" name="Shape 56"/>
          <p:cNvSpPr/>
          <p:nvPr/>
        </p:nvSpPr>
        <p:spPr>
          <a:xfrm>
            <a:off x="1161288" y="3950208"/>
            <a:ext cx="237744" cy="237744"/>
          </a:xfrm>
          <a:prstGeom prst="ellipse">
            <a:avLst/>
          </a:prstGeom>
          <a:solidFill>
            <a:srgbClr val="FFF4D6"/>
          </a:solidFill>
          <a:ln w="19050">
            <a:solidFill>
              <a:srgbClr val="B8730A"/>
            </a:solidFill>
            <a:prstDash val="solid"/>
          </a:ln>
        </p:spPr>
      </p:sp>
      <p:sp>
        <p:nvSpPr>
          <p:cNvPr id="59" name="Shape 57"/>
          <p:cNvSpPr/>
          <p:nvPr/>
        </p:nvSpPr>
        <p:spPr>
          <a:xfrm>
            <a:off x="1226668" y="4015588"/>
            <a:ext cx="106985" cy="106985"/>
          </a:xfrm>
          <a:prstGeom prst="ellipse">
            <a:avLst/>
          </a:prstGeom>
          <a:solidFill>
            <a:srgbClr val="C9B6E4"/>
          </a:solidFill>
          <a:ln w="12700">
            <a:solidFill>
              <a:srgbClr val="6A4C93"/>
            </a:solidFill>
            <a:prstDash val="solid"/>
          </a:ln>
        </p:spPr>
      </p:sp>
      <p:sp>
        <p:nvSpPr>
          <p:cNvPr id="60" name="Shape 58"/>
          <p:cNvSpPr/>
          <p:nvPr/>
        </p:nvSpPr>
        <p:spPr>
          <a:xfrm>
            <a:off x="1435608" y="3950208"/>
            <a:ext cx="237744" cy="237744"/>
          </a:xfrm>
          <a:prstGeom prst="ellipse">
            <a:avLst/>
          </a:prstGeom>
          <a:solidFill>
            <a:srgbClr val="FFF4D6"/>
          </a:solidFill>
          <a:ln w="19050">
            <a:solidFill>
              <a:srgbClr val="B8730A"/>
            </a:solidFill>
            <a:prstDash val="solid"/>
          </a:ln>
        </p:spPr>
      </p:sp>
      <p:sp>
        <p:nvSpPr>
          <p:cNvPr id="61" name="Shape 59"/>
          <p:cNvSpPr/>
          <p:nvPr/>
        </p:nvSpPr>
        <p:spPr>
          <a:xfrm>
            <a:off x="1500988" y="4015588"/>
            <a:ext cx="106985" cy="106985"/>
          </a:xfrm>
          <a:prstGeom prst="ellipse">
            <a:avLst/>
          </a:prstGeom>
          <a:solidFill>
            <a:srgbClr val="C9B6E4"/>
          </a:solidFill>
          <a:ln w="12700">
            <a:solidFill>
              <a:srgbClr val="6A4C93"/>
            </a:solidFill>
            <a:prstDash val="solid"/>
          </a:ln>
        </p:spPr>
      </p:sp>
      <p:sp>
        <p:nvSpPr>
          <p:cNvPr id="62" name="Shape 60"/>
          <p:cNvSpPr/>
          <p:nvPr/>
        </p:nvSpPr>
        <p:spPr>
          <a:xfrm>
            <a:off x="2734056" y="3968496"/>
            <a:ext cx="201168" cy="201168"/>
          </a:xfrm>
          <a:prstGeom prst="ellipse">
            <a:avLst/>
          </a:prstGeom>
          <a:solidFill>
            <a:srgbClr val="FFF4D6"/>
          </a:solidFill>
          <a:ln w="19050">
            <a:solidFill>
              <a:srgbClr val="B8730A"/>
            </a:solidFill>
            <a:prstDash val="solid"/>
          </a:ln>
        </p:spPr>
      </p:sp>
      <p:sp>
        <p:nvSpPr>
          <p:cNvPr id="63" name="Shape 61"/>
          <p:cNvSpPr/>
          <p:nvPr/>
        </p:nvSpPr>
        <p:spPr>
          <a:xfrm>
            <a:off x="2789377" y="4023817"/>
            <a:ext cx="90526" cy="90526"/>
          </a:xfrm>
          <a:prstGeom prst="ellipse">
            <a:avLst/>
          </a:prstGeom>
          <a:solidFill>
            <a:srgbClr val="C9B6E4"/>
          </a:solidFill>
          <a:ln w="12700">
            <a:solidFill>
              <a:srgbClr val="6A4C93"/>
            </a:solidFill>
            <a:prstDash val="solid"/>
          </a:ln>
        </p:spPr>
      </p:sp>
      <p:sp>
        <p:nvSpPr>
          <p:cNvPr id="64" name="Shape 62"/>
          <p:cNvSpPr/>
          <p:nvPr/>
        </p:nvSpPr>
        <p:spPr>
          <a:xfrm>
            <a:off x="2990088" y="4069080"/>
            <a:ext cx="210312" cy="91"/>
          </a:xfrm>
          <a:prstGeom prst="line">
            <a:avLst/>
          </a:prstGeom>
          <a:noFill/>
          <a:ln w="15875">
            <a:solidFill>
              <a:srgbClr val="2E8B57"/>
            </a:solidFill>
            <a:prstDash val="solid"/>
            <a:tailEnd type="triangle"/>
          </a:ln>
        </p:spPr>
      </p:sp>
      <p:sp>
        <p:nvSpPr>
          <p:cNvPr id="65" name="Shape 63"/>
          <p:cNvSpPr/>
          <p:nvPr/>
        </p:nvSpPr>
        <p:spPr>
          <a:xfrm>
            <a:off x="3227832" y="3867912"/>
            <a:ext cx="402336" cy="402336"/>
          </a:xfrm>
          <a:prstGeom prst="ellipse">
            <a:avLst/>
          </a:prstGeom>
          <a:solidFill>
            <a:srgbClr val="FFF4D6"/>
          </a:solidFill>
          <a:ln w="19050">
            <a:solidFill>
              <a:srgbClr val="B8730A"/>
            </a:solidFill>
            <a:prstDash val="solid"/>
          </a:ln>
        </p:spPr>
      </p:sp>
      <p:sp>
        <p:nvSpPr>
          <p:cNvPr id="66" name="Shape 64"/>
          <p:cNvSpPr/>
          <p:nvPr/>
        </p:nvSpPr>
        <p:spPr>
          <a:xfrm>
            <a:off x="3338474" y="3978554"/>
            <a:ext cx="181051" cy="181051"/>
          </a:xfrm>
          <a:prstGeom prst="ellipse">
            <a:avLst/>
          </a:prstGeom>
          <a:solidFill>
            <a:srgbClr val="C9B6E4"/>
          </a:solidFill>
          <a:ln w="12700">
            <a:solidFill>
              <a:srgbClr val="6A4C93"/>
            </a:solidFill>
            <a:prstDash val="solid"/>
          </a:ln>
        </p:spPr>
      </p:sp>
      <p:sp>
        <p:nvSpPr>
          <p:cNvPr id="67" name="Shape 65"/>
          <p:cNvSpPr/>
          <p:nvPr/>
        </p:nvSpPr>
        <p:spPr>
          <a:xfrm flipH="1" flipV="1">
            <a:off x="4555175" y="3737701"/>
            <a:ext cx="122895" cy="84491"/>
          </a:xfrm>
          <a:prstGeom prst="line">
            <a:avLst/>
          </a:prstGeom>
          <a:noFill/>
          <a:ln w="19050">
            <a:solidFill>
              <a:srgbClr val="6A4C93"/>
            </a:solidFill>
            <a:prstDash val="solid"/>
          </a:ln>
        </p:spPr>
      </p:sp>
      <p:sp>
        <p:nvSpPr>
          <p:cNvPr id="68" name="Shape 66"/>
          <p:cNvSpPr/>
          <p:nvPr/>
        </p:nvSpPr>
        <p:spPr>
          <a:xfrm flipH="1">
            <a:off x="4532132" y="3822192"/>
            <a:ext cx="145938" cy="19202"/>
          </a:xfrm>
          <a:prstGeom prst="line">
            <a:avLst/>
          </a:prstGeom>
          <a:noFill/>
          <a:ln w="19050">
            <a:solidFill>
              <a:srgbClr val="6A4C93"/>
            </a:solidFill>
            <a:prstDash val="solid"/>
          </a:ln>
        </p:spPr>
      </p:sp>
      <p:sp>
        <p:nvSpPr>
          <p:cNvPr id="69" name="Shape 67"/>
          <p:cNvSpPr/>
          <p:nvPr/>
        </p:nvSpPr>
        <p:spPr>
          <a:xfrm flipH="1">
            <a:off x="4570537" y="3822192"/>
            <a:ext cx="107533" cy="96012"/>
          </a:xfrm>
          <a:prstGeom prst="line">
            <a:avLst/>
          </a:prstGeom>
          <a:noFill/>
          <a:ln w="19050">
            <a:solidFill>
              <a:srgbClr val="6A4C93"/>
            </a:solidFill>
            <a:prstDash val="solid"/>
          </a:ln>
        </p:spPr>
      </p:sp>
      <p:sp>
        <p:nvSpPr>
          <p:cNvPr id="70" name="Shape 68"/>
          <p:cNvSpPr/>
          <p:nvPr/>
        </p:nvSpPr>
        <p:spPr>
          <a:xfrm flipH="1" flipV="1">
            <a:off x="4631985" y="3706978"/>
            <a:ext cx="46086" cy="115214"/>
          </a:xfrm>
          <a:prstGeom prst="line">
            <a:avLst/>
          </a:prstGeom>
          <a:noFill/>
          <a:ln w="19050">
            <a:solidFill>
              <a:srgbClr val="6A4C93"/>
            </a:solidFill>
            <a:prstDash val="solid"/>
          </a:ln>
        </p:spPr>
      </p:sp>
      <p:sp>
        <p:nvSpPr>
          <p:cNvPr id="71" name="Shape 69"/>
          <p:cNvSpPr/>
          <p:nvPr/>
        </p:nvSpPr>
        <p:spPr>
          <a:xfrm flipH="1">
            <a:off x="4639666" y="3822192"/>
            <a:ext cx="38405" cy="115214"/>
          </a:xfrm>
          <a:prstGeom prst="line">
            <a:avLst/>
          </a:prstGeom>
          <a:noFill/>
          <a:ln w="19050">
            <a:solidFill>
              <a:srgbClr val="6A4C93"/>
            </a:solidFill>
            <a:prstDash val="solid"/>
          </a:ln>
        </p:spPr>
      </p:sp>
      <p:sp>
        <p:nvSpPr>
          <p:cNvPr id="72" name="Shape 70"/>
          <p:cNvSpPr/>
          <p:nvPr/>
        </p:nvSpPr>
        <p:spPr>
          <a:xfrm>
            <a:off x="4624304" y="3768425"/>
            <a:ext cx="107533" cy="107533"/>
          </a:xfrm>
          <a:prstGeom prst="ellipse">
            <a:avLst/>
          </a:prstGeom>
          <a:solidFill>
            <a:srgbClr val="D8C8EC"/>
          </a:solidFill>
          <a:ln w="15875">
            <a:solidFill>
              <a:srgbClr val="6A4C93"/>
            </a:solidFill>
            <a:prstDash val="solid"/>
          </a:ln>
        </p:spPr>
      </p:sp>
      <p:sp>
        <p:nvSpPr>
          <p:cNvPr id="73" name="Shape 71"/>
          <p:cNvSpPr/>
          <p:nvPr/>
        </p:nvSpPr>
        <p:spPr>
          <a:xfrm>
            <a:off x="4658868" y="3802990"/>
            <a:ext cx="38405" cy="38405"/>
          </a:xfrm>
          <a:prstGeom prst="ellipse">
            <a:avLst/>
          </a:prstGeom>
          <a:solidFill>
            <a:srgbClr val="6A4C93"/>
          </a:solidFill>
          <a:ln w="9525">
            <a:solidFill>
              <a:srgbClr val="6A4C93"/>
            </a:solidFill>
            <a:prstDash val="solid"/>
          </a:ln>
        </p:spPr>
      </p:sp>
      <p:sp>
        <p:nvSpPr>
          <p:cNvPr id="74" name="Shape 72"/>
          <p:cNvSpPr/>
          <p:nvPr/>
        </p:nvSpPr>
        <p:spPr>
          <a:xfrm>
            <a:off x="4731837" y="3822192"/>
            <a:ext cx="311079" cy="91"/>
          </a:xfrm>
          <a:prstGeom prst="line">
            <a:avLst/>
          </a:prstGeom>
          <a:noFill/>
          <a:ln w="31750">
            <a:solidFill>
              <a:srgbClr val="6A4C93"/>
            </a:solidFill>
            <a:prstDash val="solid"/>
          </a:ln>
        </p:spPr>
      </p:sp>
      <p:sp>
        <p:nvSpPr>
          <p:cNvPr id="75" name="Shape 73"/>
          <p:cNvSpPr/>
          <p:nvPr/>
        </p:nvSpPr>
        <p:spPr>
          <a:xfrm flipV="1">
            <a:off x="5042916" y="3776106"/>
            <a:ext cx="26883" cy="46086"/>
          </a:xfrm>
          <a:prstGeom prst="line">
            <a:avLst/>
          </a:prstGeom>
          <a:noFill/>
          <a:ln w="19050">
            <a:solidFill>
              <a:srgbClr val="6A4C93"/>
            </a:solidFill>
            <a:prstDash val="solid"/>
          </a:ln>
        </p:spPr>
      </p:sp>
      <p:sp>
        <p:nvSpPr>
          <p:cNvPr id="76" name="Shape 74"/>
          <p:cNvSpPr/>
          <p:nvPr/>
        </p:nvSpPr>
        <p:spPr>
          <a:xfrm>
            <a:off x="5042916" y="3822192"/>
            <a:ext cx="38405" cy="91"/>
          </a:xfrm>
          <a:prstGeom prst="line">
            <a:avLst/>
          </a:prstGeom>
          <a:noFill/>
          <a:ln w="19050">
            <a:solidFill>
              <a:srgbClr val="6A4C93"/>
            </a:solidFill>
            <a:prstDash val="solid"/>
          </a:ln>
        </p:spPr>
      </p:sp>
      <p:sp>
        <p:nvSpPr>
          <p:cNvPr id="77" name="Shape 75"/>
          <p:cNvSpPr/>
          <p:nvPr/>
        </p:nvSpPr>
        <p:spPr>
          <a:xfrm>
            <a:off x="5042916" y="3822192"/>
            <a:ext cx="26883" cy="46086"/>
          </a:xfrm>
          <a:prstGeom prst="line">
            <a:avLst/>
          </a:prstGeom>
          <a:noFill/>
          <a:ln w="19050">
            <a:solidFill>
              <a:srgbClr val="6A4C93"/>
            </a:solidFill>
            <a:prstDash val="solid"/>
          </a:ln>
        </p:spPr>
      </p:sp>
      <p:sp>
        <p:nvSpPr>
          <p:cNvPr id="78" name="Shape 76"/>
          <p:cNvSpPr/>
          <p:nvPr/>
        </p:nvSpPr>
        <p:spPr>
          <a:xfrm>
            <a:off x="4416552" y="4096512"/>
            <a:ext cx="219456" cy="219456"/>
          </a:xfrm>
          <a:prstGeom prst="ellipse">
            <a:avLst/>
          </a:prstGeom>
          <a:solidFill>
            <a:srgbClr val="D9534F"/>
          </a:solidFill>
          <a:ln w="12700">
            <a:solidFill>
              <a:srgbClr val="8E2A33"/>
            </a:solidFill>
            <a:prstDash val="solid"/>
          </a:ln>
        </p:spPr>
      </p:sp>
      <p:sp>
        <p:nvSpPr>
          <p:cNvPr id="79" name="Shape 77"/>
          <p:cNvSpPr/>
          <p:nvPr/>
        </p:nvSpPr>
        <p:spPr>
          <a:xfrm>
            <a:off x="4476902" y="4156862"/>
            <a:ext cx="98755" cy="98755"/>
          </a:xfrm>
          <a:prstGeom prst="ellipse">
            <a:avLst/>
          </a:prstGeom>
          <a:solidFill>
            <a:srgbClr val="EE8A8F"/>
          </a:solidFill>
          <a:ln w="9525">
            <a:solidFill>
              <a:srgbClr val="EE8A8F"/>
            </a:solidFill>
            <a:prstDash val="solid"/>
          </a:ln>
        </p:spPr>
      </p:sp>
      <p:sp>
        <p:nvSpPr>
          <p:cNvPr id="80" name="Shape 78"/>
          <p:cNvSpPr/>
          <p:nvPr/>
        </p:nvSpPr>
        <p:spPr>
          <a:xfrm>
            <a:off x="4942332" y="4162349"/>
            <a:ext cx="356616" cy="87782"/>
          </a:xfrm>
          <a:prstGeom prst="ellipse">
            <a:avLst/>
          </a:prstGeom>
          <a:solidFill>
            <a:srgbClr val="F4B6B9"/>
          </a:solidFill>
          <a:ln w="15875">
            <a:solidFill>
              <a:srgbClr val="A33E48"/>
            </a:solidFill>
            <a:prstDash val="solid"/>
          </a:ln>
        </p:spPr>
      </p:sp>
      <p:sp>
        <p:nvSpPr>
          <p:cNvPr id="81" name="Shape 79"/>
          <p:cNvSpPr/>
          <p:nvPr/>
        </p:nvSpPr>
        <p:spPr>
          <a:xfrm>
            <a:off x="4999939" y="4176065"/>
            <a:ext cx="91" cy="60350"/>
          </a:xfrm>
          <a:prstGeom prst="line">
            <a:avLst/>
          </a:prstGeom>
          <a:noFill/>
          <a:ln w="9525">
            <a:solidFill>
              <a:srgbClr val="C76A72"/>
            </a:solidFill>
            <a:prstDash val="solid"/>
          </a:ln>
        </p:spPr>
      </p:sp>
      <p:sp>
        <p:nvSpPr>
          <p:cNvPr id="82" name="Shape 80"/>
          <p:cNvSpPr/>
          <p:nvPr/>
        </p:nvSpPr>
        <p:spPr>
          <a:xfrm>
            <a:off x="5030114" y="4176065"/>
            <a:ext cx="91" cy="60350"/>
          </a:xfrm>
          <a:prstGeom prst="line">
            <a:avLst/>
          </a:prstGeom>
          <a:noFill/>
          <a:ln w="9525">
            <a:solidFill>
              <a:srgbClr val="C76A72"/>
            </a:solidFill>
            <a:prstDash val="solid"/>
          </a:ln>
        </p:spPr>
      </p:sp>
      <p:sp>
        <p:nvSpPr>
          <p:cNvPr id="83" name="Shape 81"/>
          <p:cNvSpPr/>
          <p:nvPr/>
        </p:nvSpPr>
        <p:spPr>
          <a:xfrm>
            <a:off x="5060290" y="4176065"/>
            <a:ext cx="91" cy="60350"/>
          </a:xfrm>
          <a:prstGeom prst="line">
            <a:avLst/>
          </a:prstGeom>
          <a:noFill/>
          <a:ln w="9525">
            <a:solidFill>
              <a:srgbClr val="C76A72"/>
            </a:solidFill>
            <a:prstDash val="solid"/>
          </a:ln>
        </p:spPr>
      </p:sp>
      <p:sp>
        <p:nvSpPr>
          <p:cNvPr id="84" name="Shape 82"/>
          <p:cNvSpPr/>
          <p:nvPr/>
        </p:nvSpPr>
        <p:spPr>
          <a:xfrm>
            <a:off x="5090465" y="4176065"/>
            <a:ext cx="91" cy="60350"/>
          </a:xfrm>
          <a:prstGeom prst="line">
            <a:avLst/>
          </a:prstGeom>
          <a:noFill/>
          <a:ln w="9525">
            <a:solidFill>
              <a:srgbClr val="C76A72"/>
            </a:solidFill>
            <a:prstDash val="solid"/>
          </a:ln>
        </p:spPr>
      </p:sp>
      <p:sp>
        <p:nvSpPr>
          <p:cNvPr id="85" name="Shape 83"/>
          <p:cNvSpPr/>
          <p:nvPr/>
        </p:nvSpPr>
        <p:spPr>
          <a:xfrm>
            <a:off x="5120640" y="4176065"/>
            <a:ext cx="91" cy="60350"/>
          </a:xfrm>
          <a:prstGeom prst="line">
            <a:avLst/>
          </a:prstGeom>
          <a:noFill/>
          <a:ln w="9525">
            <a:solidFill>
              <a:srgbClr val="C76A72"/>
            </a:solidFill>
            <a:prstDash val="solid"/>
          </a:ln>
        </p:spPr>
      </p:sp>
      <p:sp>
        <p:nvSpPr>
          <p:cNvPr id="86" name="Shape 84"/>
          <p:cNvSpPr/>
          <p:nvPr/>
        </p:nvSpPr>
        <p:spPr>
          <a:xfrm>
            <a:off x="5150815" y="4176065"/>
            <a:ext cx="91" cy="60350"/>
          </a:xfrm>
          <a:prstGeom prst="line">
            <a:avLst/>
          </a:prstGeom>
          <a:noFill/>
          <a:ln w="9525">
            <a:solidFill>
              <a:srgbClr val="C76A72"/>
            </a:solidFill>
            <a:prstDash val="solid"/>
          </a:ln>
        </p:spPr>
      </p:sp>
      <p:sp>
        <p:nvSpPr>
          <p:cNvPr id="87" name="Shape 85"/>
          <p:cNvSpPr/>
          <p:nvPr/>
        </p:nvSpPr>
        <p:spPr>
          <a:xfrm>
            <a:off x="5180990" y="4176065"/>
            <a:ext cx="91" cy="60350"/>
          </a:xfrm>
          <a:prstGeom prst="line">
            <a:avLst/>
          </a:prstGeom>
          <a:noFill/>
          <a:ln w="9525">
            <a:solidFill>
              <a:srgbClr val="C76A72"/>
            </a:solidFill>
            <a:prstDash val="solid"/>
          </a:ln>
        </p:spPr>
      </p:sp>
      <p:sp>
        <p:nvSpPr>
          <p:cNvPr id="88" name="Shape 86"/>
          <p:cNvSpPr/>
          <p:nvPr/>
        </p:nvSpPr>
        <p:spPr>
          <a:xfrm>
            <a:off x="5211166" y="4176065"/>
            <a:ext cx="91" cy="60350"/>
          </a:xfrm>
          <a:prstGeom prst="line">
            <a:avLst/>
          </a:prstGeom>
          <a:noFill/>
          <a:ln w="9525">
            <a:solidFill>
              <a:srgbClr val="C76A72"/>
            </a:solidFill>
            <a:prstDash val="solid"/>
          </a:ln>
        </p:spPr>
      </p:sp>
      <p:sp>
        <p:nvSpPr>
          <p:cNvPr id="89" name="Shape 87"/>
          <p:cNvSpPr/>
          <p:nvPr/>
        </p:nvSpPr>
        <p:spPr>
          <a:xfrm>
            <a:off x="5241341" y="4176065"/>
            <a:ext cx="91" cy="60350"/>
          </a:xfrm>
          <a:prstGeom prst="line">
            <a:avLst/>
          </a:prstGeom>
          <a:noFill/>
          <a:ln w="9525">
            <a:solidFill>
              <a:srgbClr val="C76A72"/>
            </a:solidFill>
            <a:prstDash val="solid"/>
          </a:ln>
        </p:spPr>
      </p:sp>
      <p:sp>
        <p:nvSpPr>
          <p:cNvPr id="90" name="Shape 88"/>
          <p:cNvSpPr/>
          <p:nvPr/>
        </p:nvSpPr>
        <p:spPr>
          <a:xfrm>
            <a:off x="5030114" y="4193896"/>
            <a:ext cx="43891" cy="24689"/>
          </a:xfrm>
          <a:prstGeom prst="ellipse">
            <a:avLst/>
          </a:prstGeom>
          <a:solidFill>
            <a:srgbClr val="C9B6E4"/>
          </a:solidFill>
          <a:ln w="12700">
            <a:solidFill>
              <a:srgbClr val="6A4C93"/>
            </a:solidFill>
            <a:prstDash val="solid"/>
          </a:ln>
        </p:spPr>
      </p:sp>
      <p:sp>
        <p:nvSpPr>
          <p:cNvPr id="91" name="Shape 89"/>
          <p:cNvSpPr/>
          <p:nvPr/>
        </p:nvSpPr>
        <p:spPr>
          <a:xfrm>
            <a:off x="5180990" y="4193896"/>
            <a:ext cx="43891" cy="24689"/>
          </a:xfrm>
          <a:prstGeom prst="ellipse">
            <a:avLst/>
          </a:prstGeom>
          <a:solidFill>
            <a:srgbClr val="C9B6E4"/>
          </a:solidFill>
          <a:ln w="12700">
            <a:solidFill>
              <a:srgbClr val="6A4C93"/>
            </a:solidFill>
            <a:prstDash val="solid"/>
          </a:ln>
        </p:spPr>
      </p:sp>
      <p:sp>
        <p:nvSpPr>
          <p:cNvPr id="92" name="Shape 9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93" name="Text 9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Growth in multicellular organisms</a:t>
            </a:r>
            <a:endParaRPr lang="en-US" sz="1300" dirty="0"/>
          </a:p>
        </p:txBody>
      </p:sp>
      <p:sp>
        <p:nvSpPr>
          <p:cNvPr id="94" name="Text 9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Growth</a:t>
            </a:r>
            <a:r>
              <a:rPr lang="en-US" sz="1100" dirty="0">
                <a:solidFill>
                  <a:srgbClr val="262B3A"/>
                </a:solidFill>
                <a:latin typeface="Calibri" pitchFamily="34" charset="0"/>
                <a:ea typeface="Calibri" pitchFamily="34" charset="-122"/>
                <a:cs typeface="Calibri" pitchFamily="34" charset="-120"/>
              </a:rPr>
              <a:t> is a permanent increase in size or mass.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multicellular organism starts as </a:t>
            </a:r>
            <a:r>
              <a:rPr lang="en-US" sz="1100" b="1" dirty="0">
                <a:solidFill>
                  <a:srgbClr val="262B3A"/>
                </a:solidFill>
                <a:latin typeface="Calibri" pitchFamily="34" charset="0"/>
                <a:ea typeface="Calibri" pitchFamily="34" charset="-122"/>
                <a:cs typeface="Calibri" pitchFamily="34" charset="-120"/>
              </a:rPr>
              <a:t>one cell</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zygote</a:t>
            </a:r>
            <a:r>
              <a:rPr lang="en-US" sz="1100" dirty="0">
                <a:solidFill>
                  <a:srgbClr val="262B3A"/>
                </a:solidFill>
                <a:latin typeface="Calibri" pitchFamily="34" charset="0"/>
                <a:ea typeface="Calibri" pitchFamily="34" charset="-122"/>
                <a:cs typeface="Calibri" pitchFamily="34" charset="-120"/>
              </a:rPr>
              <a:t> (fertilised egg).</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grows by </a:t>
            </a:r>
            <a:r>
              <a:rPr lang="en-US" sz="1100" b="1" dirty="0">
                <a:solidFill>
                  <a:srgbClr val="262B3A"/>
                </a:solidFill>
                <a:latin typeface="Calibri" pitchFamily="34" charset="0"/>
                <a:ea typeface="Calibri" pitchFamily="34" charset="-122"/>
                <a:cs typeface="Calibri" pitchFamily="34" charset="-120"/>
              </a:rPr>
              <a:t>cell division</a:t>
            </a:r>
            <a:r>
              <a:rPr lang="en-US" sz="1100" dirty="0">
                <a:solidFill>
                  <a:srgbClr val="262B3A"/>
                </a:solidFill>
                <a:latin typeface="Calibri" pitchFamily="34" charset="0"/>
                <a:ea typeface="Calibri" pitchFamily="34" charset="-122"/>
                <a:cs typeface="Calibri" pitchFamily="34" charset="-120"/>
              </a:rPr>
              <a:t> (mitosis), </a:t>
            </a:r>
            <a:r>
              <a:rPr lang="en-US" sz="1100" b="1" dirty="0">
                <a:solidFill>
                  <a:srgbClr val="262B3A"/>
                </a:solidFill>
                <a:latin typeface="Calibri" pitchFamily="34" charset="0"/>
                <a:ea typeface="Calibri" pitchFamily="34" charset="-122"/>
                <a:cs typeface="Calibri" pitchFamily="34" charset="-120"/>
              </a:rPr>
              <a:t>cell enlargement</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differentiation</a:t>
            </a:r>
            <a:r>
              <a:rPr lang="en-US" sz="1100" dirty="0">
                <a:solidFill>
                  <a:srgbClr val="262B3A"/>
                </a:solidFill>
                <a:latin typeface="Calibri" pitchFamily="34" charset="0"/>
                <a:ea typeface="Calibri" pitchFamily="34" charset="-122"/>
                <a:cs typeface="Calibri" pitchFamily="34" charset="-120"/>
              </a:rPr>
              <a:t> into specialised cells.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cell cycle</a:t>
            </a:r>
            <a:r>
              <a:rPr lang="en-US" sz="1100" dirty="0">
                <a:solidFill>
                  <a:srgbClr val="262B3A"/>
                </a:solidFill>
                <a:latin typeface="Calibri" pitchFamily="34" charset="0"/>
                <a:ea typeface="Calibri" pitchFamily="34" charset="-122"/>
                <a:cs typeface="Calibri" pitchFamily="34" charset="-120"/>
              </a:rPr>
              <a:t> is the series of steps a cell goes through to divide into two.</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Mitosis also </a:t>
            </a:r>
            <a:r>
              <a:rPr lang="en-US" sz="1100" b="1" dirty="0">
                <a:solidFill>
                  <a:srgbClr val="262B3A"/>
                </a:solidFill>
                <a:latin typeface="Calibri" pitchFamily="34" charset="0"/>
                <a:ea typeface="Calibri" pitchFamily="34" charset="-122"/>
                <a:cs typeface="Calibri" pitchFamily="34" charset="-120"/>
              </a:rPr>
              <a:t>replaces</a:t>
            </a:r>
            <a:r>
              <a:rPr lang="en-US" sz="1100" dirty="0">
                <a:solidFill>
                  <a:srgbClr val="262B3A"/>
                </a:solidFill>
                <a:latin typeface="Calibri" pitchFamily="34" charset="0"/>
                <a:ea typeface="Calibri" pitchFamily="34" charset="-122"/>
                <a:cs typeface="Calibri" pitchFamily="34" charset="-120"/>
              </a:rPr>
              <a:t> worn-out cells and </a:t>
            </a:r>
            <a:r>
              <a:rPr lang="en-US" sz="1100" b="1" dirty="0">
                <a:solidFill>
                  <a:srgbClr val="262B3A"/>
                </a:solidFill>
                <a:latin typeface="Calibri" pitchFamily="34" charset="0"/>
                <a:ea typeface="Calibri" pitchFamily="34" charset="-122"/>
                <a:cs typeface="Calibri" pitchFamily="34" charset="-120"/>
              </a:rPr>
              <a:t>repairs</a:t>
            </a:r>
            <a:r>
              <a:rPr lang="en-US" sz="1100" dirty="0">
                <a:solidFill>
                  <a:srgbClr val="262B3A"/>
                </a:solidFill>
                <a:latin typeface="Calibri" pitchFamily="34" charset="0"/>
                <a:ea typeface="Calibri" pitchFamily="34" charset="-122"/>
                <a:cs typeface="Calibri" pitchFamily="34" charset="-120"/>
              </a:rPr>
              <a:t> damaged tissue.</a:t>
            </a:r>
            <a:endParaRPr lang="en-US" sz="1100" dirty="0"/>
          </a:p>
        </p:txBody>
      </p:sp>
      <p:sp>
        <p:nvSpPr>
          <p:cNvPr id="95" name="Shape 9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96" name="Text 9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doubling</a:t>
            </a:r>
            <a:endParaRPr lang="en-US" sz="1300" dirty="0"/>
          </a:p>
        </p:txBody>
      </p:sp>
      <p:sp>
        <p:nvSpPr>
          <p:cNvPr id="97" name="Text 9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zygote divides by mitosis. Every new cell divides again. How many cells are there after 10 rounds of division?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Pattern   </a:t>
            </a:r>
            <a:r>
              <a:rPr lang="en-US" sz="1050" dirty="0">
                <a:solidFill>
                  <a:srgbClr val="262B3A"/>
                </a:solidFill>
                <a:latin typeface="Calibri" pitchFamily="34" charset="0"/>
                <a:ea typeface="Calibri" pitchFamily="34" charset="-122"/>
                <a:cs typeface="Calibri" pitchFamily="34" charset="-120"/>
              </a:rPr>
              <a:t>1 → 2 → 4 → 8: the number doubles each round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Rule   </a:t>
            </a:r>
            <a:r>
              <a:rPr lang="en-US" sz="1050" dirty="0">
                <a:solidFill>
                  <a:srgbClr val="262B3A"/>
                </a:solidFill>
                <a:latin typeface="Calibri" pitchFamily="34" charset="0"/>
                <a:ea typeface="Calibri" pitchFamily="34" charset="-122"/>
                <a:cs typeface="Calibri" pitchFamily="34" charset="-120"/>
              </a:rPr>
              <a:t>cells = 2ⁿ, where n = number of rounds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cells = 2¹⁰</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1024 cells</a:t>
            </a:r>
            <a:endParaRPr lang="en-US" sz="1050" dirty="0"/>
          </a:p>
        </p:txBody>
      </p:sp>
      <p:sp>
        <p:nvSpPr>
          <p:cNvPr id="98" name="Shape 96"/>
          <p:cNvSpPr/>
          <p:nvPr/>
        </p:nvSpPr>
        <p:spPr>
          <a:xfrm>
            <a:off x="411480" y="5833872"/>
            <a:ext cx="11368735" cy="530352"/>
          </a:xfrm>
          <a:prstGeom prst="rect">
            <a:avLst/>
          </a:prstGeom>
          <a:solidFill>
            <a:srgbClr val="FFF4E0"/>
          </a:solidFill>
          <a:ln w="6350">
            <a:solidFill>
              <a:srgbClr val="F1D9A8"/>
            </a:solidFill>
            <a:prstDash val="solid"/>
          </a:ln>
        </p:spPr>
      </p:sp>
      <p:sp>
        <p:nvSpPr>
          <p:cNvPr id="99" name="Shape 97"/>
          <p:cNvSpPr/>
          <p:nvPr/>
        </p:nvSpPr>
        <p:spPr>
          <a:xfrm>
            <a:off x="411480" y="5833872"/>
            <a:ext cx="82296" cy="530352"/>
          </a:xfrm>
          <a:prstGeom prst="rect">
            <a:avLst/>
          </a:prstGeom>
          <a:solidFill>
            <a:srgbClr val="E39A2F"/>
          </a:solidFill>
          <a:ln w="12700">
            <a:solidFill>
              <a:srgbClr val="E39A2F"/>
            </a:solidFill>
            <a:prstDash val="solid"/>
          </a:ln>
        </p:spPr>
      </p:sp>
      <p:sp>
        <p:nvSpPr>
          <p:cNvPr id="100" name="Text 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many cells are there after </a:t>
            </a:r>
            <a:r>
              <a:rPr lang="en-US" sz="1150" b="1" dirty="0">
                <a:solidFill>
                  <a:srgbClr val="262B3A"/>
                </a:solidFill>
                <a:latin typeface="Calibri" pitchFamily="34" charset="0"/>
                <a:ea typeface="Calibri" pitchFamily="34" charset="-122"/>
                <a:cs typeface="Calibri" pitchFamily="34" charset="-120"/>
              </a:rPr>
              <a:t>6</a:t>
            </a:r>
            <a:r>
              <a:rPr lang="en-US" sz="1150" dirty="0">
                <a:solidFill>
                  <a:srgbClr val="262B3A"/>
                </a:solidFill>
                <a:latin typeface="Calibri" pitchFamily="34" charset="0"/>
                <a:ea typeface="Calibri" pitchFamily="34" charset="-122"/>
                <a:cs typeface="Calibri" pitchFamily="34" charset="-120"/>
              </a:rPr>
              <a:t> rounds of division? Name the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processes that make an organism grow.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Chromosomes and DNA replication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before a cell divides it copies every chromosome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model cell with 2 pairs of chromosomes (human cells have 23 pairs)</a:t>
            </a:r>
            <a:endParaRPr lang="en-US" sz="1000" dirty="0"/>
          </a:p>
        </p:txBody>
      </p:sp>
      <p:sp>
        <p:nvSpPr>
          <p:cNvPr id="10" name="Text 8"/>
          <p:cNvSpPr/>
          <p:nvPr/>
        </p:nvSpPr>
        <p:spPr>
          <a:xfrm>
            <a:off x="594360" y="1298448"/>
            <a:ext cx="2560320" cy="256032"/>
          </a:xfrm>
          <a:prstGeom prst="rect">
            <a:avLst/>
          </a:prstGeom>
          <a:noFill/>
          <a:ln/>
        </p:spPr>
        <p:txBody>
          <a:bodyPr wrap="square" lIns="0" tIns="0" rIns="0" bIns="0" rtlCol="0" anchor="ctr"/>
          <a:lstStyle/>
          <a:p>
            <a:pPr algn="l" indent="0" marL="0">
              <a:buNone/>
            </a:pPr>
            <a:r>
              <a:rPr lang="en-US" sz="1100" dirty="0">
                <a:solidFill>
                  <a:srgbClr val="0D7877"/>
                </a:solidFill>
                <a:latin typeface="Calibri" pitchFamily="34" charset="0"/>
                <a:ea typeface="Calibri" pitchFamily="34" charset="-122"/>
                <a:cs typeface="Calibri" pitchFamily="34" charset="-120"/>
              </a:rPr>
              <a:t>Body cell: chromosomes in </a:t>
            </a:r>
            <a:r>
              <a:rPr lang="en-US" sz="1100" b="1" dirty="0">
                <a:solidFill>
                  <a:srgbClr val="0D7877"/>
                </a:solidFill>
                <a:latin typeface="Calibri" pitchFamily="34" charset="0"/>
                <a:ea typeface="Calibri" pitchFamily="34" charset="-122"/>
                <a:cs typeface="Calibri" pitchFamily="34" charset="-120"/>
              </a:rPr>
              <a:t>pairs</a:t>
            </a:r>
            <a:endParaRPr lang="en-US" sz="1100" dirty="0"/>
          </a:p>
        </p:txBody>
      </p:sp>
      <p:sp>
        <p:nvSpPr>
          <p:cNvPr id="11" name="Shape 9"/>
          <p:cNvSpPr/>
          <p:nvPr/>
        </p:nvSpPr>
        <p:spPr>
          <a:xfrm>
            <a:off x="685800" y="1668780"/>
            <a:ext cx="2286000" cy="1691640"/>
          </a:xfrm>
          <a:prstGeom prst="ellipse">
            <a:avLst/>
          </a:prstGeom>
          <a:solidFill>
            <a:srgbClr val="FBF3DF"/>
          </a:solidFill>
          <a:ln w="19050">
            <a:solidFill>
              <a:srgbClr val="8A6D3B"/>
            </a:solidFill>
            <a:prstDash val="solid"/>
          </a:ln>
        </p:spPr>
      </p:sp>
      <p:sp>
        <p:nvSpPr>
          <p:cNvPr id="12" name="Shape 10"/>
          <p:cNvSpPr/>
          <p:nvPr/>
        </p:nvSpPr>
        <p:spPr>
          <a:xfrm>
            <a:off x="1207008" y="1892808"/>
            <a:ext cx="1243584" cy="1243584"/>
          </a:xfrm>
          <a:prstGeom prst="ellipse">
            <a:avLst/>
          </a:prstGeom>
          <a:solidFill>
            <a:srgbClr val="E7DDF3"/>
          </a:solidFill>
          <a:ln w="15875">
            <a:solidFill>
              <a:srgbClr val="6A4C93"/>
            </a:solidFill>
            <a:prstDash val="solid"/>
          </a:ln>
        </p:spPr>
      </p:sp>
      <p:sp>
        <p:nvSpPr>
          <p:cNvPr id="13" name="Shape 11"/>
          <p:cNvSpPr/>
          <p:nvPr/>
        </p:nvSpPr>
        <p:spPr>
          <a:xfrm rot="1200000">
            <a:off x="1517904" y="2048256"/>
            <a:ext cx="73152" cy="384048"/>
          </a:xfrm>
          <a:prstGeom prst="roundRect">
            <a:avLst>
              <a:gd name="adj" fmla="val 50000"/>
            </a:avLst>
          </a:prstGeom>
          <a:solidFill>
            <a:srgbClr val="D9534F"/>
          </a:solidFill>
          <a:ln w="9525">
            <a:solidFill>
              <a:srgbClr val="8E2A33"/>
            </a:solidFill>
            <a:prstDash val="solid"/>
          </a:ln>
        </p:spPr>
      </p:sp>
      <p:sp>
        <p:nvSpPr>
          <p:cNvPr id="14" name="Shape 12"/>
          <p:cNvSpPr/>
          <p:nvPr/>
        </p:nvSpPr>
        <p:spPr>
          <a:xfrm rot="-900000">
            <a:off x="2020824" y="2093976"/>
            <a:ext cx="73152" cy="384048"/>
          </a:xfrm>
          <a:prstGeom prst="roundRect">
            <a:avLst>
              <a:gd name="adj" fmla="val 50000"/>
            </a:avLst>
          </a:prstGeom>
          <a:solidFill>
            <a:srgbClr val="3B7DD8"/>
          </a:solidFill>
          <a:ln w="9525">
            <a:solidFill>
              <a:srgbClr val="1F4E8C"/>
            </a:solidFill>
            <a:prstDash val="solid"/>
          </a:ln>
        </p:spPr>
      </p:sp>
      <p:sp>
        <p:nvSpPr>
          <p:cNvPr id="15" name="Shape 13"/>
          <p:cNvSpPr/>
          <p:nvPr/>
        </p:nvSpPr>
        <p:spPr>
          <a:xfrm rot="4200000">
            <a:off x="1563624" y="2670048"/>
            <a:ext cx="73152" cy="237744"/>
          </a:xfrm>
          <a:prstGeom prst="roundRect">
            <a:avLst>
              <a:gd name="adj" fmla="val 50000"/>
            </a:avLst>
          </a:prstGeom>
          <a:solidFill>
            <a:srgbClr val="F2A0A6"/>
          </a:solidFill>
          <a:ln w="9525">
            <a:solidFill>
              <a:srgbClr val="B5545C"/>
            </a:solidFill>
            <a:prstDash val="solid"/>
          </a:ln>
        </p:spPr>
      </p:sp>
      <p:sp>
        <p:nvSpPr>
          <p:cNvPr id="16" name="Shape 14"/>
          <p:cNvSpPr/>
          <p:nvPr/>
        </p:nvSpPr>
        <p:spPr>
          <a:xfrm rot="2400000">
            <a:off x="2020824" y="2670048"/>
            <a:ext cx="73152" cy="237744"/>
          </a:xfrm>
          <a:prstGeom prst="roundRect">
            <a:avLst>
              <a:gd name="adj" fmla="val 50000"/>
            </a:avLst>
          </a:prstGeom>
          <a:solidFill>
            <a:srgbClr val="9CC3F0"/>
          </a:solidFill>
          <a:ln w="9525">
            <a:solidFill>
              <a:srgbClr val="4F7FB8"/>
            </a:solidFill>
            <a:prstDash val="solid"/>
          </a:ln>
        </p:spPr>
      </p:sp>
      <p:sp>
        <p:nvSpPr>
          <p:cNvPr id="17" name="Text 15"/>
          <p:cNvSpPr/>
          <p:nvPr/>
        </p:nvSpPr>
        <p:spPr>
          <a:xfrm>
            <a:off x="548640" y="3429000"/>
            <a:ext cx="2651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one of each pair from each parent: </a:t>
            </a:r>
            <a:r>
              <a:rPr lang="en-US" sz="1050" b="1" dirty="0">
                <a:solidFill>
                  <a:srgbClr val="262B3A"/>
                </a:solidFill>
                <a:latin typeface="Calibri" pitchFamily="34" charset="0"/>
                <a:ea typeface="Calibri" pitchFamily="34" charset="-122"/>
                <a:cs typeface="Calibri" pitchFamily="34" charset="-120"/>
              </a:rPr>
              <a:t>diploid</a:t>
            </a:r>
            <a:endParaRPr lang="en-US" sz="1050" dirty="0"/>
          </a:p>
        </p:txBody>
      </p:sp>
      <p:sp>
        <p:nvSpPr>
          <p:cNvPr id="18" name="Text 16"/>
          <p:cNvSpPr/>
          <p:nvPr/>
        </p:nvSpPr>
        <p:spPr>
          <a:xfrm>
            <a:off x="3429000" y="1298448"/>
            <a:ext cx="237744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DNA replication (interphase)</a:t>
            </a:r>
            <a:endParaRPr lang="en-US" sz="1100" dirty="0"/>
          </a:p>
        </p:txBody>
      </p:sp>
      <p:sp>
        <p:nvSpPr>
          <p:cNvPr id="19" name="Shape 17"/>
          <p:cNvSpPr/>
          <p:nvPr/>
        </p:nvSpPr>
        <p:spPr>
          <a:xfrm>
            <a:off x="3826764" y="1943100"/>
            <a:ext cx="118872" cy="868680"/>
          </a:xfrm>
          <a:prstGeom prst="roundRect">
            <a:avLst>
              <a:gd name="adj" fmla="val 50000"/>
            </a:avLst>
          </a:prstGeom>
          <a:solidFill>
            <a:srgbClr val="D9534F"/>
          </a:solidFill>
          <a:ln w="9525">
            <a:solidFill>
              <a:srgbClr val="8E2A33"/>
            </a:solidFill>
            <a:prstDash val="solid"/>
          </a:ln>
        </p:spPr>
      </p:sp>
      <p:sp>
        <p:nvSpPr>
          <p:cNvPr id="20" name="Shape 18"/>
          <p:cNvSpPr/>
          <p:nvPr/>
        </p:nvSpPr>
        <p:spPr>
          <a:xfrm>
            <a:off x="4206240" y="2377440"/>
            <a:ext cx="502920" cy="91"/>
          </a:xfrm>
          <a:prstGeom prst="line">
            <a:avLst/>
          </a:prstGeom>
          <a:noFill/>
          <a:ln w="25400">
            <a:solidFill>
              <a:srgbClr val="133536"/>
            </a:solidFill>
            <a:prstDash val="solid"/>
            <a:tailEnd type="triangle"/>
          </a:ln>
        </p:spPr>
      </p:sp>
      <p:sp>
        <p:nvSpPr>
          <p:cNvPr id="21" name="Text 19"/>
          <p:cNvSpPr/>
          <p:nvPr/>
        </p:nvSpPr>
        <p:spPr>
          <a:xfrm>
            <a:off x="4069080" y="2011680"/>
            <a:ext cx="822960" cy="256032"/>
          </a:xfrm>
          <a:prstGeom prst="rect">
            <a:avLst/>
          </a:prstGeom>
          <a:noFill/>
          <a:ln/>
        </p:spPr>
        <p:txBody>
          <a:bodyPr wrap="square" lIns="0" tIns="0" rIns="0" bIns="0" rtlCol="0" anchor="ctr"/>
          <a:lstStyle/>
          <a:p>
            <a:pPr algn="ctr" indent="0" marL="0">
              <a:buNone/>
            </a:pPr>
            <a:r>
              <a:rPr lang="en-US" sz="1050" i="1" dirty="0">
                <a:solidFill>
                  <a:srgbClr val="262B3A"/>
                </a:solidFill>
                <a:latin typeface="Calibri" pitchFamily="34" charset="0"/>
                <a:ea typeface="Calibri" pitchFamily="34" charset="-122"/>
                <a:cs typeface="Calibri" pitchFamily="34" charset="-120"/>
              </a:rPr>
              <a:t>copied</a:t>
            </a:r>
            <a:endParaRPr lang="en-US" sz="1050" dirty="0"/>
          </a:p>
        </p:txBody>
      </p:sp>
      <p:sp>
        <p:nvSpPr>
          <p:cNvPr id="22" name="Shape 20"/>
          <p:cNvSpPr/>
          <p:nvPr/>
        </p:nvSpPr>
        <p:spPr>
          <a:xfrm>
            <a:off x="5087264" y="1943100"/>
            <a:ext cx="118872" cy="868680"/>
          </a:xfrm>
          <a:prstGeom prst="roundRect">
            <a:avLst>
              <a:gd name="adj" fmla="val 50000"/>
            </a:avLst>
          </a:prstGeom>
          <a:solidFill>
            <a:srgbClr val="D9534F"/>
          </a:solidFill>
          <a:ln w="9525">
            <a:solidFill>
              <a:srgbClr val="8E2A33"/>
            </a:solidFill>
            <a:prstDash val="solid"/>
          </a:ln>
        </p:spPr>
      </p:sp>
      <p:sp>
        <p:nvSpPr>
          <p:cNvPr id="23" name="Shape 21"/>
          <p:cNvSpPr/>
          <p:nvPr/>
        </p:nvSpPr>
        <p:spPr>
          <a:xfrm>
            <a:off x="5218024" y="1943100"/>
            <a:ext cx="118872" cy="868680"/>
          </a:xfrm>
          <a:prstGeom prst="roundRect">
            <a:avLst>
              <a:gd name="adj" fmla="val 50000"/>
            </a:avLst>
          </a:prstGeom>
          <a:solidFill>
            <a:srgbClr val="D9534F"/>
          </a:solidFill>
          <a:ln w="9525">
            <a:solidFill>
              <a:srgbClr val="8E2A33"/>
            </a:solidFill>
            <a:prstDash val="solid"/>
          </a:ln>
        </p:spPr>
      </p:sp>
      <p:sp>
        <p:nvSpPr>
          <p:cNvPr id="24" name="Shape 22"/>
          <p:cNvSpPr/>
          <p:nvPr/>
        </p:nvSpPr>
        <p:spPr>
          <a:xfrm>
            <a:off x="5075377" y="2329891"/>
            <a:ext cx="273406" cy="95098"/>
          </a:xfrm>
          <a:prstGeom prst="ellipse">
            <a:avLst/>
          </a:prstGeom>
          <a:solidFill>
            <a:srgbClr val="8E2A33"/>
          </a:solidFill>
          <a:ln/>
        </p:spPr>
      </p:sp>
      <p:sp>
        <p:nvSpPr>
          <p:cNvPr id="25" name="Text 23"/>
          <p:cNvSpPr/>
          <p:nvPr/>
        </p:nvSpPr>
        <p:spPr>
          <a:xfrm>
            <a:off x="3429000" y="2926080"/>
            <a:ext cx="9601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one DNA molecule</a:t>
            </a:r>
            <a:endParaRPr lang="en-US" sz="1000" dirty="0"/>
          </a:p>
        </p:txBody>
      </p:sp>
      <p:sp>
        <p:nvSpPr>
          <p:cNvPr id="26" name="Text 24"/>
          <p:cNvSpPr/>
          <p:nvPr/>
        </p:nvSpPr>
        <p:spPr>
          <a:xfrm>
            <a:off x="4709160" y="2926080"/>
            <a:ext cx="123444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two identical </a:t>
            </a:r>
            <a:r>
              <a:rPr lang="en-US" sz="1000" b="1" dirty="0">
                <a:solidFill>
                  <a:srgbClr val="262B3A"/>
                </a:solidFill>
                <a:latin typeface="Calibri" pitchFamily="34" charset="0"/>
                <a:ea typeface="Calibri" pitchFamily="34" charset="-122"/>
                <a:cs typeface="Calibri" pitchFamily="34" charset="-120"/>
              </a:rPr>
              <a:t>chromatids</a:t>
            </a:r>
            <a:endParaRPr lang="en-US" sz="1000" dirty="0"/>
          </a:p>
        </p:txBody>
      </p:sp>
      <p:sp>
        <p:nvSpPr>
          <p:cNvPr id="27" name="Shape 25"/>
          <p:cNvSpPr/>
          <p:nvPr/>
        </p:nvSpPr>
        <p:spPr>
          <a:xfrm flipV="1">
            <a:off x="5349240" y="1965960"/>
            <a:ext cx="320040" cy="411480"/>
          </a:xfrm>
          <a:prstGeom prst="line">
            <a:avLst/>
          </a:prstGeom>
          <a:noFill/>
          <a:ln w="9525">
            <a:solidFill>
              <a:srgbClr val="133536"/>
            </a:solidFill>
            <a:prstDash val="solid"/>
          </a:ln>
        </p:spPr>
      </p:sp>
      <p:sp>
        <p:nvSpPr>
          <p:cNvPr id="28" name="Text 26"/>
          <p:cNvSpPr/>
          <p:nvPr/>
        </p:nvSpPr>
        <p:spPr>
          <a:xfrm>
            <a:off x="5120640" y="1691640"/>
            <a:ext cx="868680" cy="25603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centromere</a:t>
            </a:r>
            <a:endParaRPr lang="en-US" sz="1000" dirty="0"/>
          </a:p>
        </p:txBody>
      </p:sp>
      <p:sp>
        <p:nvSpPr>
          <p:cNvPr id="29" name="Text 27"/>
          <p:cNvSpPr/>
          <p:nvPr/>
        </p:nvSpPr>
        <p:spPr>
          <a:xfrm>
            <a:off x="594360" y="3840480"/>
            <a:ext cx="512064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A chromosome is one very long DNA molecule, coiled up. Genes are sections of it.</a:t>
            </a:r>
            <a:endParaRPr lang="en-US" sz="1050" dirty="0"/>
          </a:p>
        </p:txBody>
      </p:sp>
      <p:sp>
        <p:nvSpPr>
          <p:cNvPr id="30" name="Shape 28"/>
          <p:cNvSpPr/>
          <p:nvPr/>
        </p:nvSpPr>
        <p:spPr>
          <a:xfrm>
            <a:off x="822960" y="4572000"/>
            <a:ext cx="91" cy="91"/>
          </a:xfrm>
          <a:prstGeom prst="line">
            <a:avLst/>
          </a:prstGeom>
          <a:noFill/>
          <a:ln w="15875">
            <a:solidFill>
              <a:srgbClr val="F5A742"/>
            </a:solidFill>
            <a:prstDash val="solid"/>
          </a:ln>
        </p:spPr>
      </p:sp>
      <p:sp>
        <p:nvSpPr>
          <p:cNvPr id="31" name="Shape 29"/>
          <p:cNvSpPr/>
          <p:nvPr/>
        </p:nvSpPr>
        <p:spPr>
          <a:xfrm>
            <a:off x="822960" y="4572000"/>
            <a:ext cx="173736" cy="152942"/>
          </a:xfrm>
          <a:prstGeom prst="line">
            <a:avLst/>
          </a:prstGeom>
          <a:noFill/>
          <a:ln w="22225">
            <a:solidFill>
              <a:srgbClr val="133536"/>
            </a:solidFill>
            <a:prstDash val="solid"/>
          </a:ln>
        </p:spPr>
      </p:sp>
      <p:sp>
        <p:nvSpPr>
          <p:cNvPr id="32" name="Shape 30"/>
          <p:cNvSpPr/>
          <p:nvPr/>
        </p:nvSpPr>
        <p:spPr>
          <a:xfrm flipV="1">
            <a:off x="822960" y="4419058"/>
            <a:ext cx="173736" cy="152942"/>
          </a:xfrm>
          <a:prstGeom prst="line">
            <a:avLst/>
          </a:prstGeom>
          <a:noFill/>
          <a:ln w="22225">
            <a:solidFill>
              <a:srgbClr val="133536"/>
            </a:solidFill>
            <a:prstDash val="solid"/>
          </a:ln>
        </p:spPr>
      </p:sp>
      <p:sp>
        <p:nvSpPr>
          <p:cNvPr id="33" name="Shape 31"/>
          <p:cNvSpPr/>
          <p:nvPr/>
        </p:nvSpPr>
        <p:spPr>
          <a:xfrm flipV="1">
            <a:off x="996696" y="4419058"/>
            <a:ext cx="91" cy="305885"/>
          </a:xfrm>
          <a:prstGeom prst="line">
            <a:avLst/>
          </a:prstGeom>
          <a:noFill/>
          <a:ln w="15875">
            <a:solidFill>
              <a:srgbClr val="0D7877"/>
            </a:solidFill>
            <a:prstDash val="solid"/>
          </a:ln>
        </p:spPr>
      </p:sp>
      <p:sp>
        <p:nvSpPr>
          <p:cNvPr id="34" name="Shape 32"/>
          <p:cNvSpPr/>
          <p:nvPr/>
        </p:nvSpPr>
        <p:spPr>
          <a:xfrm>
            <a:off x="996696" y="4724942"/>
            <a:ext cx="173736" cy="107832"/>
          </a:xfrm>
          <a:prstGeom prst="line">
            <a:avLst/>
          </a:prstGeom>
          <a:noFill/>
          <a:ln w="22225">
            <a:solidFill>
              <a:srgbClr val="133536"/>
            </a:solidFill>
            <a:prstDash val="solid"/>
          </a:ln>
        </p:spPr>
      </p:sp>
      <p:sp>
        <p:nvSpPr>
          <p:cNvPr id="35" name="Shape 33"/>
          <p:cNvSpPr/>
          <p:nvPr/>
        </p:nvSpPr>
        <p:spPr>
          <a:xfrm flipV="1">
            <a:off x="996696" y="4311226"/>
            <a:ext cx="173736" cy="107832"/>
          </a:xfrm>
          <a:prstGeom prst="line">
            <a:avLst/>
          </a:prstGeom>
          <a:noFill/>
          <a:ln w="22225">
            <a:solidFill>
              <a:srgbClr val="133536"/>
            </a:solidFill>
            <a:prstDash val="solid"/>
          </a:ln>
        </p:spPr>
      </p:sp>
      <p:sp>
        <p:nvSpPr>
          <p:cNvPr id="36" name="Shape 34"/>
          <p:cNvSpPr/>
          <p:nvPr/>
        </p:nvSpPr>
        <p:spPr>
          <a:xfrm flipV="1">
            <a:off x="1170432" y="4311226"/>
            <a:ext cx="91" cy="521549"/>
          </a:xfrm>
          <a:prstGeom prst="line">
            <a:avLst/>
          </a:prstGeom>
          <a:noFill/>
          <a:ln w="15875">
            <a:solidFill>
              <a:srgbClr val="F5A742"/>
            </a:solidFill>
            <a:prstDash val="solid"/>
          </a:ln>
        </p:spPr>
      </p:sp>
      <p:sp>
        <p:nvSpPr>
          <p:cNvPr id="37" name="Shape 35"/>
          <p:cNvSpPr/>
          <p:nvPr/>
        </p:nvSpPr>
        <p:spPr>
          <a:xfrm>
            <a:off x="1170432" y="4832774"/>
            <a:ext cx="173736" cy="30916"/>
          </a:xfrm>
          <a:prstGeom prst="line">
            <a:avLst/>
          </a:prstGeom>
          <a:noFill/>
          <a:ln w="22225">
            <a:solidFill>
              <a:srgbClr val="133536"/>
            </a:solidFill>
            <a:prstDash val="solid"/>
          </a:ln>
        </p:spPr>
      </p:sp>
      <p:sp>
        <p:nvSpPr>
          <p:cNvPr id="38" name="Shape 36"/>
          <p:cNvSpPr/>
          <p:nvPr/>
        </p:nvSpPr>
        <p:spPr>
          <a:xfrm flipV="1">
            <a:off x="1170432" y="4280309"/>
            <a:ext cx="173736" cy="30916"/>
          </a:xfrm>
          <a:prstGeom prst="line">
            <a:avLst/>
          </a:prstGeom>
          <a:noFill/>
          <a:ln w="22225">
            <a:solidFill>
              <a:srgbClr val="133536"/>
            </a:solidFill>
            <a:prstDash val="solid"/>
          </a:ln>
        </p:spPr>
      </p:sp>
      <p:sp>
        <p:nvSpPr>
          <p:cNvPr id="39" name="Shape 37"/>
          <p:cNvSpPr/>
          <p:nvPr/>
        </p:nvSpPr>
        <p:spPr>
          <a:xfrm flipV="1">
            <a:off x="1344168" y="4280309"/>
            <a:ext cx="91" cy="583381"/>
          </a:xfrm>
          <a:prstGeom prst="line">
            <a:avLst/>
          </a:prstGeom>
          <a:noFill/>
          <a:ln w="15875">
            <a:solidFill>
              <a:srgbClr val="0D7877"/>
            </a:solidFill>
            <a:prstDash val="solid"/>
          </a:ln>
        </p:spPr>
      </p:sp>
      <p:sp>
        <p:nvSpPr>
          <p:cNvPr id="40" name="Shape 38"/>
          <p:cNvSpPr/>
          <p:nvPr/>
        </p:nvSpPr>
        <p:spPr>
          <a:xfrm flipV="1">
            <a:off x="1344168" y="4808573"/>
            <a:ext cx="173736" cy="55118"/>
          </a:xfrm>
          <a:prstGeom prst="line">
            <a:avLst/>
          </a:prstGeom>
          <a:noFill/>
          <a:ln w="22225">
            <a:solidFill>
              <a:srgbClr val="133536"/>
            </a:solidFill>
            <a:prstDash val="solid"/>
          </a:ln>
        </p:spPr>
      </p:sp>
      <p:sp>
        <p:nvSpPr>
          <p:cNvPr id="41" name="Shape 39"/>
          <p:cNvSpPr/>
          <p:nvPr/>
        </p:nvSpPr>
        <p:spPr>
          <a:xfrm>
            <a:off x="1344168" y="4280309"/>
            <a:ext cx="173736" cy="55118"/>
          </a:xfrm>
          <a:prstGeom prst="line">
            <a:avLst/>
          </a:prstGeom>
          <a:noFill/>
          <a:ln w="22225">
            <a:solidFill>
              <a:srgbClr val="133536"/>
            </a:solidFill>
            <a:prstDash val="solid"/>
          </a:ln>
        </p:spPr>
      </p:sp>
      <p:sp>
        <p:nvSpPr>
          <p:cNvPr id="42" name="Shape 40"/>
          <p:cNvSpPr/>
          <p:nvPr/>
        </p:nvSpPr>
        <p:spPr>
          <a:xfrm flipV="1">
            <a:off x="1517904" y="4335427"/>
            <a:ext cx="91" cy="473145"/>
          </a:xfrm>
          <a:prstGeom prst="line">
            <a:avLst/>
          </a:prstGeom>
          <a:noFill/>
          <a:ln w="15875">
            <a:solidFill>
              <a:srgbClr val="F5A742"/>
            </a:solidFill>
            <a:prstDash val="solid"/>
          </a:ln>
        </p:spPr>
      </p:sp>
      <p:sp>
        <p:nvSpPr>
          <p:cNvPr id="43" name="Shape 41"/>
          <p:cNvSpPr/>
          <p:nvPr/>
        </p:nvSpPr>
        <p:spPr>
          <a:xfrm flipV="1">
            <a:off x="1517904" y="4683677"/>
            <a:ext cx="173736" cy="124895"/>
          </a:xfrm>
          <a:prstGeom prst="line">
            <a:avLst/>
          </a:prstGeom>
          <a:noFill/>
          <a:ln w="22225">
            <a:solidFill>
              <a:srgbClr val="133536"/>
            </a:solidFill>
            <a:prstDash val="solid"/>
          </a:ln>
        </p:spPr>
      </p:sp>
      <p:sp>
        <p:nvSpPr>
          <p:cNvPr id="44" name="Shape 42"/>
          <p:cNvSpPr/>
          <p:nvPr/>
        </p:nvSpPr>
        <p:spPr>
          <a:xfrm>
            <a:off x="1517904" y="4335427"/>
            <a:ext cx="173736" cy="124895"/>
          </a:xfrm>
          <a:prstGeom prst="line">
            <a:avLst/>
          </a:prstGeom>
          <a:noFill/>
          <a:ln w="22225">
            <a:solidFill>
              <a:srgbClr val="133536"/>
            </a:solidFill>
            <a:prstDash val="solid"/>
          </a:ln>
        </p:spPr>
      </p:sp>
      <p:sp>
        <p:nvSpPr>
          <p:cNvPr id="45" name="Shape 43"/>
          <p:cNvSpPr/>
          <p:nvPr/>
        </p:nvSpPr>
        <p:spPr>
          <a:xfrm flipV="1">
            <a:off x="1691640" y="4460323"/>
            <a:ext cx="91" cy="223354"/>
          </a:xfrm>
          <a:prstGeom prst="line">
            <a:avLst/>
          </a:prstGeom>
          <a:noFill/>
          <a:ln w="15875">
            <a:solidFill>
              <a:srgbClr val="0D7877"/>
            </a:solidFill>
            <a:prstDash val="solid"/>
          </a:ln>
        </p:spPr>
      </p:sp>
      <p:sp>
        <p:nvSpPr>
          <p:cNvPr id="46" name="Shape 44"/>
          <p:cNvSpPr/>
          <p:nvPr/>
        </p:nvSpPr>
        <p:spPr>
          <a:xfrm flipV="1">
            <a:off x="1691640" y="4525842"/>
            <a:ext cx="173736" cy="157835"/>
          </a:xfrm>
          <a:prstGeom prst="line">
            <a:avLst/>
          </a:prstGeom>
          <a:noFill/>
          <a:ln w="22225">
            <a:solidFill>
              <a:srgbClr val="133536"/>
            </a:solidFill>
            <a:prstDash val="solid"/>
          </a:ln>
        </p:spPr>
      </p:sp>
      <p:sp>
        <p:nvSpPr>
          <p:cNvPr id="47" name="Shape 45"/>
          <p:cNvSpPr/>
          <p:nvPr/>
        </p:nvSpPr>
        <p:spPr>
          <a:xfrm>
            <a:off x="1691640" y="4460323"/>
            <a:ext cx="173736" cy="157835"/>
          </a:xfrm>
          <a:prstGeom prst="line">
            <a:avLst/>
          </a:prstGeom>
          <a:noFill/>
          <a:ln w="22225">
            <a:solidFill>
              <a:srgbClr val="133536"/>
            </a:solidFill>
            <a:prstDash val="solid"/>
          </a:ln>
        </p:spPr>
      </p:sp>
      <p:sp>
        <p:nvSpPr>
          <p:cNvPr id="48" name="Shape 46"/>
          <p:cNvSpPr/>
          <p:nvPr/>
        </p:nvSpPr>
        <p:spPr>
          <a:xfrm>
            <a:off x="1865376" y="4525842"/>
            <a:ext cx="91" cy="92315"/>
          </a:xfrm>
          <a:prstGeom prst="line">
            <a:avLst/>
          </a:prstGeom>
          <a:noFill/>
          <a:ln w="15875">
            <a:solidFill>
              <a:srgbClr val="F5A742"/>
            </a:solidFill>
            <a:prstDash val="solid"/>
          </a:ln>
        </p:spPr>
      </p:sp>
      <p:sp>
        <p:nvSpPr>
          <p:cNvPr id="49" name="Shape 47"/>
          <p:cNvSpPr/>
          <p:nvPr/>
        </p:nvSpPr>
        <p:spPr>
          <a:xfrm flipV="1">
            <a:off x="1865376" y="4381622"/>
            <a:ext cx="173736" cy="144220"/>
          </a:xfrm>
          <a:prstGeom prst="line">
            <a:avLst/>
          </a:prstGeom>
          <a:noFill/>
          <a:ln w="22225">
            <a:solidFill>
              <a:srgbClr val="133536"/>
            </a:solidFill>
            <a:prstDash val="solid"/>
          </a:ln>
        </p:spPr>
      </p:sp>
      <p:sp>
        <p:nvSpPr>
          <p:cNvPr id="50" name="Shape 48"/>
          <p:cNvSpPr/>
          <p:nvPr/>
        </p:nvSpPr>
        <p:spPr>
          <a:xfrm>
            <a:off x="1865376" y="4618158"/>
            <a:ext cx="173736" cy="144220"/>
          </a:xfrm>
          <a:prstGeom prst="line">
            <a:avLst/>
          </a:prstGeom>
          <a:noFill/>
          <a:ln w="22225">
            <a:solidFill>
              <a:srgbClr val="133536"/>
            </a:solidFill>
            <a:prstDash val="solid"/>
          </a:ln>
        </p:spPr>
      </p:sp>
      <p:sp>
        <p:nvSpPr>
          <p:cNvPr id="51" name="Shape 49"/>
          <p:cNvSpPr/>
          <p:nvPr/>
        </p:nvSpPr>
        <p:spPr>
          <a:xfrm>
            <a:off x="2039112" y="4381622"/>
            <a:ext cx="91" cy="380756"/>
          </a:xfrm>
          <a:prstGeom prst="line">
            <a:avLst/>
          </a:prstGeom>
          <a:noFill/>
          <a:ln w="15875">
            <a:solidFill>
              <a:srgbClr val="0D7877"/>
            </a:solidFill>
            <a:prstDash val="solid"/>
          </a:ln>
        </p:spPr>
      </p:sp>
      <p:sp>
        <p:nvSpPr>
          <p:cNvPr id="52" name="Shape 50"/>
          <p:cNvSpPr/>
          <p:nvPr/>
        </p:nvSpPr>
        <p:spPr>
          <a:xfrm flipV="1">
            <a:off x="2039112" y="4293554"/>
            <a:ext cx="173736" cy="88068"/>
          </a:xfrm>
          <a:prstGeom prst="line">
            <a:avLst/>
          </a:prstGeom>
          <a:noFill/>
          <a:ln w="22225">
            <a:solidFill>
              <a:srgbClr val="133536"/>
            </a:solidFill>
            <a:prstDash val="solid"/>
          </a:ln>
        </p:spPr>
      </p:sp>
      <p:sp>
        <p:nvSpPr>
          <p:cNvPr id="53" name="Shape 51"/>
          <p:cNvSpPr/>
          <p:nvPr/>
        </p:nvSpPr>
        <p:spPr>
          <a:xfrm>
            <a:off x="2039112" y="4762378"/>
            <a:ext cx="173736" cy="88068"/>
          </a:xfrm>
          <a:prstGeom prst="line">
            <a:avLst/>
          </a:prstGeom>
          <a:noFill/>
          <a:ln w="22225">
            <a:solidFill>
              <a:srgbClr val="133536"/>
            </a:solidFill>
            <a:prstDash val="solid"/>
          </a:ln>
        </p:spPr>
      </p:sp>
      <p:sp>
        <p:nvSpPr>
          <p:cNvPr id="54" name="Shape 52"/>
          <p:cNvSpPr/>
          <p:nvPr/>
        </p:nvSpPr>
        <p:spPr>
          <a:xfrm>
            <a:off x="2212848" y="4293554"/>
            <a:ext cx="91" cy="556893"/>
          </a:xfrm>
          <a:prstGeom prst="line">
            <a:avLst/>
          </a:prstGeom>
          <a:noFill/>
          <a:ln w="15875">
            <a:solidFill>
              <a:srgbClr val="F5A742"/>
            </a:solidFill>
            <a:prstDash val="solid"/>
          </a:ln>
        </p:spPr>
      </p:sp>
      <p:sp>
        <p:nvSpPr>
          <p:cNvPr id="55" name="Shape 53"/>
          <p:cNvSpPr/>
          <p:nvPr/>
        </p:nvSpPr>
        <p:spPr>
          <a:xfrm flipV="1">
            <a:off x="2212848" y="4287613"/>
            <a:ext cx="173736" cy="5940"/>
          </a:xfrm>
          <a:prstGeom prst="line">
            <a:avLst/>
          </a:prstGeom>
          <a:noFill/>
          <a:ln w="22225">
            <a:solidFill>
              <a:srgbClr val="133536"/>
            </a:solidFill>
            <a:prstDash val="solid"/>
          </a:ln>
        </p:spPr>
      </p:sp>
      <p:sp>
        <p:nvSpPr>
          <p:cNvPr id="56" name="Shape 54"/>
          <p:cNvSpPr/>
          <p:nvPr/>
        </p:nvSpPr>
        <p:spPr>
          <a:xfrm>
            <a:off x="2212848" y="4850446"/>
            <a:ext cx="173736" cy="5940"/>
          </a:xfrm>
          <a:prstGeom prst="line">
            <a:avLst/>
          </a:prstGeom>
          <a:noFill/>
          <a:ln w="22225">
            <a:solidFill>
              <a:srgbClr val="133536"/>
            </a:solidFill>
            <a:prstDash val="solid"/>
          </a:ln>
        </p:spPr>
      </p:sp>
      <p:sp>
        <p:nvSpPr>
          <p:cNvPr id="57" name="Shape 55"/>
          <p:cNvSpPr/>
          <p:nvPr/>
        </p:nvSpPr>
        <p:spPr>
          <a:xfrm>
            <a:off x="2386584" y="4287613"/>
            <a:ext cx="91" cy="568773"/>
          </a:xfrm>
          <a:prstGeom prst="line">
            <a:avLst/>
          </a:prstGeom>
          <a:noFill/>
          <a:ln w="15875">
            <a:solidFill>
              <a:srgbClr val="0D7877"/>
            </a:solidFill>
            <a:prstDash val="solid"/>
          </a:ln>
        </p:spPr>
      </p:sp>
      <p:sp>
        <p:nvSpPr>
          <p:cNvPr id="58" name="Shape 56"/>
          <p:cNvSpPr/>
          <p:nvPr/>
        </p:nvSpPr>
        <p:spPr>
          <a:xfrm>
            <a:off x="2386584" y="4287613"/>
            <a:ext cx="173736" cy="77940"/>
          </a:xfrm>
          <a:prstGeom prst="line">
            <a:avLst/>
          </a:prstGeom>
          <a:noFill/>
          <a:ln w="22225">
            <a:solidFill>
              <a:srgbClr val="133536"/>
            </a:solidFill>
            <a:prstDash val="solid"/>
          </a:ln>
        </p:spPr>
      </p:sp>
      <p:sp>
        <p:nvSpPr>
          <p:cNvPr id="59" name="Shape 57"/>
          <p:cNvSpPr/>
          <p:nvPr/>
        </p:nvSpPr>
        <p:spPr>
          <a:xfrm flipV="1">
            <a:off x="2386584" y="4778447"/>
            <a:ext cx="173736" cy="77940"/>
          </a:xfrm>
          <a:prstGeom prst="line">
            <a:avLst/>
          </a:prstGeom>
          <a:noFill/>
          <a:ln w="22225">
            <a:solidFill>
              <a:srgbClr val="133536"/>
            </a:solidFill>
            <a:prstDash val="solid"/>
          </a:ln>
        </p:spPr>
      </p:sp>
      <p:sp>
        <p:nvSpPr>
          <p:cNvPr id="60" name="Shape 58"/>
          <p:cNvSpPr/>
          <p:nvPr/>
        </p:nvSpPr>
        <p:spPr>
          <a:xfrm>
            <a:off x="2560320" y="4365553"/>
            <a:ext cx="91" cy="412893"/>
          </a:xfrm>
          <a:prstGeom prst="line">
            <a:avLst/>
          </a:prstGeom>
          <a:noFill/>
          <a:ln w="15875">
            <a:solidFill>
              <a:srgbClr val="F5A742"/>
            </a:solidFill>
            <a:prstDash val="solid"/>
          </a:ln>
        </p:spPr>
      </p:sp>
      <p:sp>
        <p:nvSpPr>
          <p:cNvPr id="61" name="Shape 59"/>
          <p:cNvSpPr/>
          <p:nvPr/>
        </p:nvSpPr>
        <p:spPr>
          <a:xfrm>
            <a:off x="2560320" y="4365553"/>
            <a:ext cx="173736" cy="138832"/>
          </a:xfrm>
          <a:prstGeom prst="line">
            <a:avLst/>
          </a:prstGeom>
          <a:noFill/>
          <a:ln w="22225">
            <a:solidFill>
              <a:srgbClr val="133536"/>
            </a:solidFill>
            <a:prstDash val="solid"/>
          </a:ln>
        </p:spPr>
      </p:sp>
      <p:sp>
        <p:nvSpPr>
          <p:cNvPr id="62" name="Shape 60"/>
          <p:cNvSpPr/>
          <p:nvPr/>
        </p:nvSpPr>
        <p:spPr>
          <a:xfrm flipV="1">
            <a:off x="2560320" y="4639615"/>
            <a:ext cx="173736" cy="138832"/>
          </a:xfrm>
          <a:prstGeom prst="line">
            <a:avLst/>
          </a:prstGeom>
          <a:noFill/>
          <a:ln w="22225">
            <a:solidFill>
              <a:srgbClr val="133536"/>
            </a:solidFill>
            <a:prstDash val="solid"/>
          </a:ln>
        </p:spPr>
      </p:sp>
      <p:sp>
        <p:nvSpPr>
          <p:cNvPr id="63" name="Shape 61"/>
          <p:cNvSpPr/>
          <p:nvPr/>
        </p:nvSpPr>
        <p:spPr>
          <a:xfrm>
            <a:off x="2734056" y="4504385"/>
            <a:ext cx="91" cy="135230"/>
          </a:xfrm>
          <a:prstGeom prst="line">
            <a:avLst/>
          </a:prstGeom>
          <a:noFill/>
          <a:ln w="15875">
            <a:solidFill>
              <a:srgbClr val="0D7877"/>
            </a:solidFill>
            <a:prstDash val="solid"/>
          </a:ln>
        </p:spPr>
      </p:sp>
      <p:sp>
        <p:nvSpPr>
          <p:cNvPr id="64" name="Shape 62"/>
          <p:cNvSpPr/>
          <p:nvPr/>
        </p:nvSpPr>
        <p:spPr>
          <a:xfrm>
            <a:off x="2734056" y="4504385"/>
            <a:ext cx="173736" cy="158775"/>
          </a:xfrm>
          <a:prstGeom prst="line">
            <a:avLst/>
          </a:prstGeom>
          <a:noFill/>
          <a:ln w="22225">
            <a:solidFill>
              <a:srgbClr val="133536"/>
            </a:solidFill>
            <a:prstDash val="solid"/>
          </a:ln>
        </p:spPr>
      </p:sp>
      <p:sp>
        <p:nvSpPr>
          <p:cNvPr id="65" name="Shape 63"/>
          <p:cNvSpPr/>
          <p:nvPr/>
        </p:nvSpPr>
        <p:spPr>
          <a:xfrm flipV="1">
            <a:off x="2734056" y="4480841"/>
            <a:ext cx="173736" cy="158775"/>
          </a:xfrm>
          <a:prstGeom prst="line">
            <a:avLst/>
          </a:prstGeom>
          <a:noFill/>
          <a:ln w="22225">
            <a:solidFill>
              <a:srgbClr val="133536"/>
            </a:solidFill>
            <a:prstDash val="solid"/>
          </a:ln>
        </p:spPr>
      </p:sp>
      <p:sp>
        <p:nvSpPr>
          <p:cNvPr id="66" name="Shape 64"/>
          <p:cNvSpPr/>
          <p:nvPr/>
        </p:nvSpPr>
        <p:spPr>
          <a:xfrm flipV="1">
            <a:off x="2907792" y="4480841"/>
            <a:ext cx="91" cy="182319"/>
          </a:xfrm>
          <a:prstGeom prst="line">
            <a:avLst/>
          </a:prstGeom>
          <a:noFill/>
          <a:ln w="15875">
            <a:solidFill>
              <a:srgbClr val="F5A742"/>
            </a:solidFill>
            <a:prstDash val="solid"/>
          </a:ln>
        </p:spPr>
      </p:sp>
      <p:sp>
        <p:nvSpPr>
          <p:cNvPr id="67" name="Shape 65"/>
          <p:cNvSpPr/>
          <p:nvPr/>
        </p:nvSpPr>
        <p:spPr>
          <a:xfrm>
            <a:off x="2907792" y="4663159"/>
            <a:ext cx="173736" cy="131887"/>
          </a:xfrm>
          <a:prstGeom prst="line">
            <a:avLst/>
          </a:prstGeom>
          <a:noFill/>
          <a:ln w="22225">
            <a:solidFill>
              <a:srgbClr val="133536"/>
            </a:solidFill>
            <a:prstDash val="solid"/>
          </a:ln>
        </p:spPr>
      </p:sp>
      <p:sp>
        <p:nvSpPr>
          <p:cNvPr id="68" name="Shape 66"/>
          <p:cNvSpPr/>
          <p:nvPr/>
        </p:nvSpPr>
        <p:spPr>
          <a:xfrm flipV="1">
            <a:off x="2907792" y="4348953"/>
            <a:ext cx="173736" cy="131887"/>
          </a:xfrm>
          <a:prstGeom prst="line">
            <a:avLst/>
          </a:prstGeom>
          <a:noFill/>
          <a:ln w="22225">
            <a:solidFill>
              <a:srgbClr val="133536"/>
            </a:solidFill>
            <a:prstDash val="solid"/>
          </a:ln>
        </p:spPr>
      </p:sp>
      <p:sp>
        <p:nvSpPr>
          <p:cNvPr id="69" name="Shape 67"/>
          <p:cNvSpPr/>
          <p:nvPr/>
        </p:nvSpPr>
        <p:spPr>
          <a:xfrm flipV="1">
            <a:off x="3081528" y="4348953"/>
            <a:ext cx="91" cy="446093"/>
          </a:xfrm>
          <a:prstGeom prst="line">
            <a:avLst/>
          </a:prstGeom>
          <a:noFill/>
          <a:ln w="15875">
            <a:solidFill>
              <a:srgbClr val="0D7877"/>
            </a:solidFill>
            <a:prstDash val="solid"/>
          </a:ln>
        </p:spPr>
      </p:sp>
      <p:sp>
        <p:nvSpPr>
          <p:cNvPr id="70" name="Shape 68"/>
          <p:cNvSpPr/>
          <p:nvPr/>
        </p:nvSpPr>
        <p:spPr>
          <a:xfrm>
            <a:off x="3081528" y="4795047"/>
            <a:ext cx="173736" cy="66099"/>
          </a:xfrm>
          <a:prstGeom prst="line">
            <a:avLst/>
          </a:prstGeom>
          <a:noFill/>
          <a:ln w="22225">
            <a:solidFill>
              <a:srgbClr val="133536"/>
            </a:solidFill>
            <a:prstDash val="solid"/>
          </a:ln>
        </p:spPr>
      </p:sp>
      <p:sp>
        <p:nvSpPr>
          <p:cNvPr id="71" name="Shape 69"/>
          <p:cNvSpPr/>
          <p:nvPr/>
        </p:nvSpPr>
        <p:spPr>
          <a:xfrm flipV="1">
            <a:off x="3081528" y="4282854"/>
            <a:ext cx="173736" cy="66099"/>
          </a:xfrm>
          <a:prstGeom prst="line">
            <a:avLst/>
          </a:prstGeom>
          <a:noFill/>
          <a:ln w="22225">
            <a:solidFill>
              <a:srgbClr val="133536"/>
            </a:solidFill>
            <a:prstDash val="solid"/>
          </a:ln>
        </p:spPr>
      </p:sp>
      <p:sp>
        <p:nvSpPr>
          <p:cNvPr id="72" name="Shape 70"/>
          <p:cNvSpPr/>
          <p:nvPr/>
        </p:nvSpPr>
        <p:spPr>
          <a:xfrm flipV="1">
            <a:off x="3255264" y="4282854"/>
            <a:ext cx="91" cy="578292"/>
          </a:xfrm>
          <a:prstGeom prst="line">
            <a:avLst/>
          </a:prstGeom>
          <a:noFill/>
          <a:ln w="15875">
            <a:solidFill>
              <a:srgbClr val="F5A742"/>
            </a:solidFill>
            <a:prstDash val="solid"/>
          </a:ln>
        </p:spPr>
      </p:sp>
      <p:sp>
        <p:nvSpPr>
          <p:cNvPr id="73" name="Shape 71"/>
          <p:cNvSpPr/>
          <p:nvPr/>
        </p:nvSpPr>
        <p:spPr>
          <a:xfrm flipV="1">
            <a:off x="3255264" y="4841961"/>
            <a:ext cx="173736" cy="19185"/>
          </a:xfrm>
          <a:prstGeom prst="line">
            <a:avLst/>
          </a:prstGeom>
          <a:noFill/>
          <a:ln w="22225">
            <a:solidFill>
              <a:srgbClr val="133536"/>
            </a:solidFill>
            <a:prstDash val="solid"/>
          </a:ln>
        </p:spPr>
      </p:sp>
      <p:sp>
        <p:nvSpPr>
          <p:cNvPr id="74" name="Shape 72"/>
          <p:cNvSpPr/>
          <p:nvPr/>
        </p:nvSpPr>
        <p:spPr>
          <a:xfrm>
            <a:off x="3255264" y="4282854"/>
            <a:ext cx="173736" cy="19185"/>
          </a:xfrm>
          <a:prstGeom prst="line">
            <a:avLst/>
          </a:prstGeom>
          <a:noFill/>
          <a:ln w="22225">
            <a:solidFill>
              <a:srgbClr val="133536"/>
            </a:solidFill>
            <a:prstDash val="solid"/>
          </a:ln>
        </p:spPr>
      </p:sp>
      <p:sp>
        <p:nvSpPr>
          <p:cNvPr id="75" name="Shape 73"/>
          <p:cNvSpPr/>
          <p:nvPr/>
        </p:nvSpPr>
        <p:spPr>
          <a:xfrm flipV="1">
            <a:off x="3429000" y="4302039"/>
            <a:ext cx="91" cy="539923"/>
          </a:xfrm>
          <a:prstGeom prst="line">
            <a:avLst/>
          </a:prstGeom>
          <a:noFill/>
          <a:ln w="15875">
            <a:solidFill>
              <a:srgbClr val="0D7877"/>
            </a:solidFill>
            <a:prstDash val="solid"/>
          </a:ln>
        </p:spPr>
      </p:sp>
      <p:sp>
        <p:nvSpPr>
          <p:cNvPr id="76" name="Shape 74"/>
          <p:cNvSpPr/>
          <p:nvPr/>
        </p:nvSpPr>
        <p:spPr>
          <a:xfrm flipV="1">
            <a:off x="3429000" y="4743151"/>
            <a:ext cx="173736" cy="98810"/>
          </a:xfrm>
          <a:prstGeom prst="line">
            <a:avLst/>
          </a:prstGeom>
          <a:noFill/>
          <a:ln w="22225">
            <a:solidFill>
              <a:srgbClr val="133536"/>
            </a:solidFill>
            <a:prstDash val="solid"/>
          </a:ln>
        </p:spPr>
      </p:sp>
      <p:sp>
        <p:nvSpPr>
          <p:cNvPr id="77" name="Shape 75"/>
          <p:cNvSpPr/>
          <p:nvPr/>
        </p:nvSpPr>
        <p:spPr>
          <a:xfrm>
            <a:off x="3429000" y="4302039"/>
            <a:ext cx="173736" cy="98810"/>
          </a:xfrm>
          <a:prstGeom prst="line">
            <a:avLst/>
          </a:prstGeom>
          <a:noFill/>
          <a:ln w="22225">
            <a:solidFill>
              <a:srgbClr val="133536"/>
            </a:solidFill>
            <a:prstDash val="solid"/>
          </a:ln>
        </p:spPr>
      </p:sp>
      <p:sp>
        <p:nvSpPr>
          <p:cNvPr id="78" name="Shape 76"/>
          <p:cNvSpPr/>
          <p:nvPr/>
        </p:nvSpPr>
        <p:spPr>
          <a:xfrm flipV="1">
            <a:off x="3602736" y="4400849"/>
            <a:ext cx="91" cy="342303"/>
          </a:xfrm>
          <a:prstGeom prst="line">
            <a:avLst/>
          </a:prstGeom>
          <a:noFill/>
          <a:ln w="15875">
            <a:solidFill>
              <a:srgbClr val="F5A742"/>
            </a:solidFill>
            <a:prstDash val="solid"/>
          </a:ln>
        </p:spPr>
      </p:sp>
      <p:sp>
        <p:nvSpPr>
          <p:cNvPr id="79" name="Shape 77"/>
          <p:cNvSpPr/>
          <p:nvPr/>
        </p:nvSpPr>
        <p:spPr>
          <a:xfrm flipV="1">
            <a:off x="3602736" y="4593860"/>
            <a:ext cx="173736" cy="149291"/>
          </a:xfrm>
          <a:prstGeom prst="line">
            <a:avLst/>
          </a:prstGeom>
          <a:noFill/>
          <a:ln w="22225">
            <a:solidFill>
              <a:srgbClr val="133536"/>
            </a:solidFill>
            <a:prstDash val="solid"/>
          </a:ln>
        </p:spPr>
      </p:sp>
      <p:sp>
        <p:nvSpPr>
          <p:cNvPr id="80" name="Shape 78"/>
          <p:cNvSpPr/>
          <p:nvPr/>
        </p:nvSpPr>
        <p:spPr>
          <a:xfrm>
            <a:off x="3602736" y="4400849"/>
            <a:ext cx="173736" cy="149291"/>
          </a:xfrm>
          <a:prstGeom prst="line">
            <a:avLst/>
          </a:prstGeom>
          <a:noFill/>
          <a:ln w="22225">
            <a:solidFill>
              <a:srgbClr val="133536"/>
            </a:solidFill>
            <a:prstDash val="solid"/>
          </a:ln>
        </p:spPr>
      </p:sp>
      <p:sp>
        <p:nvSpPr>
          <p:cNvPr id="81" name="Shape 79"/>
          <p:cNvSpPr/>
          <p:nvPr/>
        </p:nvSpPr>
        <p:spPr>
          <a:xfrm flipV="1">
            <a:off x="3776472" y="4550140"/>
            <a:ext cx="91" cy="43720"/>
          </a:xfrm>
          <a:prstGeom prst="line">
            <a:avLst/>
          </a:prstGeom>
          <a:noFill/>
          <a:ln w="15875">
            <a:solidFill>
              <a:srgbClr val="0D7877"/>
            </a:solidFill>
            <a:prstDash val="solid"/>
          </a:ln>
        </p:spPr>
      </p:sp>
      <p:sp>
        <p:nvSpPr>
          <p:cNvPr id="82" name="Shape 80"/>
          <p:cNvSpPr/>
          <p:nvPr/>
        </p:nvSpPr>
        <p:spPr>
          <a:xfrm flipV="1">
            <a:off x="3776472" y="4438121"/>
            <a:ext cx="173736" cy="155739"/>
          </a:xfrm>
          <a:prstGeom prst="line">
            <a:avLst/>
          </a:prstGeom>
          <a:noFill/>
          <a:ln w="22225">
            <a:solidFill>
              <a:srgbClr val="133536"/>
            </a:solidFill>
            <a:prstDash val="solid"/>
          </a:ln>
        </p:spPr>
      </p:sp>
      <p:sp>
        <p:nvSpPr>
          <p:cNvPr id="83" name="Shape 81"/>
          <p:cNvSpPr/>
          <p:nvPr/>
        </p:nvSpPr>
        <p:spPr>
          <a:xfrm>
            <a:off x="3776472" y="4550140"/>
            <a:ext cx="173736" cy="155739"/>
          </a:xfrm>
          <a:prstGeom prst="line">
            <a:avLst/>
          </a:prstGeom>
          <a:noFill/>
          <a:ln w="22225">
            <a:solidFill>
              <a:srgbClr val="133536"/>
            </a:solidFill>
            <a:prstDash val="solid"/>
          </a:ln>
        </p:spPr>
      </p:sp>
      <p:sp>
        <p:nvSpPr>
          <p:cNvPr id="84" name="Shape 82"/>
          <p:cNvSpPr/>
          <p:nvPr/>
        </p:nvSpPr>
        <p:spPr>
          <a:xfrm>
            <a:off x="3950208" y="4438121"/>
            <a:ext cx="91" cy="267757"/>
          </a:xfrm>
          <a:prstGeom prst="line">
            <a:avLst/>
          </a:prstGeom>
          <a:noFill/>
          <a:ln w="15875">
            <a:solidFill>
              <a:srgbClr val="F5A742"/>
            </a:solidFill>
            <a:prstDash val="solid"/>
          </a:ln>
        </p:spPr>
      </p:sp>
      <p:sp>
        <p:nvSpPr>
          <p:cNvPr id="85" name="Shape 83"/>
          <p:cNvSpPr/>
          <p:nvPr/>
        </p:nvSpPr>
        <p:spPr>
          <a:xfrm flipV="1">
            <a:off x="3950208" y="4321870"/>
            <a:ext cx="173736" cy="116251"/>
          </a:xfrm>
          <a:prstGeom prst="line">
            <a:avLst/>
          </a:prstGeom>
          <a:noFill/>
          <a:ln w="22225">
            <a:solidFill>
              <a:srgbClr val="133536"/>
            </a:solidFill>
            <a:prstDash val="solid"/>
          </a:ln>
        </p:spPr>
      </p:sp>
      <p:sp>
        <p:nvSpPr>
          <p:cNvPr id="86" name="Shape 84"/>
          <p:cNvSpPr/>
          <p:nvPr/>
        </p:nvSpPr>
        <p:spPr>
          <a:xfrm>
            <a:off x="3950208" y="4705879"/>
            <a:ext cx="173736" cy="116251"/>
          </a:xfrm>
          <a:prstGeom prst="line">
            <a:avLst/>
          </a:prstGeom>
          <a:noFill/>
          <a:ln w="22225">
            <a:solidFill>
              <a:srgbClr val="133536"/>
            </a:solidFill>
            <a:prstDash val="solid"/>
          </a:ln>
        </p:spPr>
      </p:sp>
      <p:sp>
        <p:nvSpPr>
          <p:cNvPr id="87" name="Shape 85"/>
          <p:cNvSpPr/>
          <p:nvPr/>
        </p:nvSpPr>
        <p:spPr>
          <a:xfrm>
            <a:off x="4123944" y="4321870"/>
            <a:ext cx="91" cy="500260"/>
          </a:xfrm>
          <a:prstGeom prst="line">
            <a:avLst/>
          </a:prstGeom>
          <a:noFill/>
          <a:ln w="15875">
            <a:solidFill>
              <a:srgbClr val="0D7877"/>
            </a:solidFill>
            <a:prstDash val="solid"/>
          </a:ln>
        </p:spPr>
      </p:sp>
      <p:sp>
        <p:nvSpPr>
          <p:cNvPr id="88" name="Shape 86"/>
          <p:cNvSpPr/>
          <p:nvPr/>
        </p:nvSpPr>
        <p:spPr>
          <a:xfrm flipV="1">
            <a:off x="4123944" y="4279395"/>
            <a:ext cx="173736" cy="42475"/>
          </a:xfrm>
          <a:prstGeom prst="line">
            <a:avLst/>
          </a:prstGeom>
          <a:noFill/>
          <a:ln w="22225">
            <a:solidFill>
              <a:srgbClr val="133536"/>
            </a:solidFill>
            <a:prstDash val="solid"/>
          </a:ln>
        </p:spPr>
      </p:sp>
      <p:sp>
        <p:nvSpPr>
          <p:cNvPr id="89" name="Shape 87"/>
          <p:cNvSpPr/>
          <p:nvPr/>
        </p:nvSpPr>
        <p:spPr>
          <a:xfrm>
            <a:off x="4123944" y="4822130"/>
            <a:ext cx="173736" cy="42475"/>
          </a:xfrm>
          <a:prstGeom prst="line">
            <a:avLst/>
          </a:prstGeom>
          <a:noFill/>
          <a:ln w="22225">
            <a:solidFill>
              <a:srgbClr val="133536"/>
            </a:solidFill>
            <a:prstDash val="solid"/>
          </a:ln>
        </p:spPr>
      </p:sp>
      <p:sp>
        <p:nvSpPr>
          <p:cNvPr id="90" name="Shape 88"/>
          <p:cNvSpPr/>
          <p:nvPr/>
        </p:nvSpPr>
        <p:spPr>
          <a:xfrm>
            <a:off x="4297680" y="4279395"/>
            <a:ext cx="91" cy="585210"/>
          </a:xfrm>
          <a:prstGeom prst="line">
            <a:avLst/>
          </a:prstGeom>
          <a:noFill/>
          <a:ln w="15875">
            <a:solidFill>
              <a:srgbClr val="F5A742"/>
            </a:solidFill>
            <a:prstDash val="solid"/>
          </a:ln>
        </p:spPr>
      </p:sp>
      <p:sp>
        <p:nvSpPr>
          <p:cNvPr id="91" name="Shape 89"/>
          <p:cNvSpPr/>
          <p:nvPr/>
        </p:nvSpPr>
        <p:spPr>
          <a:xfrm>
            <a:off x="4297680" y="4279395"/>
            <a:ext cx="173736" cy="43829"/>
          </a:xfrm>
          <a:prstGeom prst="line">
            <a:avLst/>
          </a:prstGeom>
          <a:noFill/>
          <a:ln w="22225">
            <a:solidFill>
              <a:srgbClr val="133536"/>
            </a:solidFill>
            <a:prstDash val="solid"/>
          </a:ln>
        </p:spPr>
      </p:sp>
      <p:sp>
        <p:nvSpPr>
          <p:cNvPr id="92" name="Shape 90"/>
          <p:cNvSpPr/>
          <p:nvPr/>
        </p:nvSpPr>
        <p:spPr>
          <a:xfrm flipV="1">
            <a:off x="4297680" y="4820776"/>
            <a:ext cx="173736" cy="43829"/>
          </a:xfrm>
          <a:prstGeom prst="line">
            <a:avLst/>
          </a:prstGeom>
          <a:noFill/>
          <a:ln w="22225">
            <a:solidFill>
              <a:srgbClr val="133536"/>
            </a:solidFill>
            <a:prstDash val="solid"/>
          </a:ln>
        </p:spPr>
      </p:sp>
      <p:sp>
        <p:nvSpPr>
          <p:cNvPr id="93" name="Shape 91"/>
          <p:cNvSpPr/>
          <p:nvPr/>
        </p:nvSpPr>
        <p:spPr>
          <a:xfrm>
            <a:off x="4471416" y="4323224"/>
            <a:ext cx="91" cy="497552"/>
          </a:xfrm>
          <a:prstGeom prst="line">
            <a:avLst/>
          </a:prstGeom>
          <a:noFill/>
          <a:ln w="15875">
            <a:solidFill>
              <a:srgbClr val="0D7877"/>
            </a:solidFill>
            <a:prstDash val="solid"/>
          </a:ln>
        </p:spPr>
      </p:sp>
      <p:sp>
        <p:nvSpPr>
          <p:cNvPr id="94" name="Shape 92"/>
          <p:cNvSpPr/>
          <p:nvPr/>
        </p:nvSpPr>
        <p:spPr>
          <a:xfrm>
            <a:off x="4471416" y="4323224"/>
            <a:ext cx="173736" cy="117206"/>
          </a:xfrm>
          <a:prstGeom prst="line">
            <a:avLst/>
          </a:prstGeom>
          <a:noFill/>
          <a:ln w="22225">
            <a:solidFill>
              <a:srgbClr val="133536"/>
            </a:solidFill>
            <a:prstDash val="solid"/>
          </a:ln>
        </p:spPr>
      </p:sp>
      <p:sp>
        <p:nvSpPr>
          <p:cNvPr id="95" name="Shape 93"/>
          <p:cNvSpPr/>
          <p:nvPr/>
        </p:nvSpPr>
        <p:spPr>
          <a:xfrm flipV="1">
            <a:off x="4471416" y="4703570"/>
            <a:ext cx="173736" cy="117206"/>
          </a:xfrm>
          <a:prstGeom prst="line">
            <a:avLst/>
          </a:prstGeom>
          <a:noFill/>
          <a:ln w="22225">
            <a:solidFill>
              <a:srgbClr val="133536"/>
            </a:solidFill>
            <a:prstDash val="solid"/>
          </a:ln>
        </p:spPr>
      </p:sp>
      <p:sp>
        <p:nvSpPr>
          <p:cNvPr id="96" name="Shape 94"/>
          <p:cNvSpPr/>
          <p:nvPr/>
        </p:nvSpPr>
        <p:spPr>
          <a:xfrm>
            <a:off x="4645152" y="4440430"/>
            <a:ext cx="91" cy="263141"/>
          </a:xfrm>
          <a:prstGeom prst="line">
            <a:avLst/>
          </a:prstGeom>
          <a:noFill/>
          <a:ln w="15875">
            <a:solidFill>
              <a:srgbClr val="F5A742"/>
            </a:solidFill>
            <a:prstDash val="solid"/>
          </a:ln>
        </p:spPr>
      </p:sp>
      <p:sp>
        <p:nvSpPr>
          <p:cNvPr id="97" name="Shape 95"/>
          <p:cNvSpPr/>
          <p:nvPr/>
        </p:nvSpPr>
        <p:spPr>
          <a:xfrm>
            <a:off x="4645152" y="4440430"/>
            <a:ext cx="173736" cy="156013"/>
          </a:xfrm>
          <a:prstGeom prst="line">
            <a:avLst/>
          </a:prstGeom>
          <a:noFill/>
          <a:ln w="22225">
            <a:solidFill>
              <a:srgbClr val="133536"/>
            </a:solidFill>
            <a:prstDash val="solid"/>
          </a:ln>
        </p:spPr>
      </p:sp>
      <p:sp>
        <p:nvSpPr>
          <p:cNvPr id="98" name="Shape 96"/>
          <p:cNvSpPr/>
          <p:nvPr/>
        </p:nvSpPr>
        <p:spPr>
          <a:xfrm flipV="1">
            <a:off x="4645152" y="4547558"/>
            <a:ext cx="173736" cy="156013"/>
          </a:xfrm>
          <a:prstGeom prst="line">
            <a:avLst/>
          </a:prstGeom>
          <a:noFill/>
          <a:ln w="22225">
            <a:solidFill>
              <a:srgbClr val="133536"/>
            </a:solidFill>
            <a:prstDash val="solid"/>
          </a:ln>
        </p:spPr>
      </p:sp>
      <p:sp>
        <p:nvSpPr>
          <p:cNvPr id="99" name="Shape 97"/>
          <p:cNvSpPr/>
          <p:nvPr/>
        </p:nvSpPr>
        <p:spPr>
          <a:xfrm flipV="1">
            <a:off x="4818888" y="4547558"/>
            <a:ext cx="91" cy="48884"/>
          </a:xfrm>
          <a:prstGeom prst="line">
            <a:avLst/>
          </a:prstGeom>
          <a:noFill/>
          <a:ln w="15875">
            <a:solidFill>
              <a:srgbClr val="0D7877"/>
            </a:solidFill>
            <a:prstDash val="solid"/>
          </a:ln>
        </p:spPr>
      </p:sp>
      <p:sp>
        <p:nvSpPr>
          <p:cNvPr id="100" name="Shape 98"/>
          <p:cNvSpPr/>
          <p:nvPr/>
        </p:nvSpPr>
        <p:spPr>
          <a:xfrm>
            <a:off x="4818888" y="4596442"/>
            <a:ext cx="173736" cy="148803"/>
          </a:xfrm>
          <a:prstGeom prst="line">
            <a:avLst/>
          </a:prstGeom>
          <a:noFill/>
          <a:ln w="22225">
            <a:solidFill>
              <a:srgbClr val="133536"/>
            </a:solidFill>
            <a:prstDash val="solid"/>
          </a:ln>
        </p:spPr>
      </p:sp>
      <p:sp>
        <p:nvSpPr>
          <p:cNvPr id="101" name="Shape 99"/>
          <p:cNvSpPr/>
          <p:nvPr/>
        </p:nvSpPr>
        <p:spPr>
          <a:xfrm flipV="1">
            <a:off x="4818888" y="4398755"/>
            <a:ext cx="173736" cy="148803"/>
          </a:xfrm>
          <a:prstGeom prst="line">
            <a:avLst/>
          </a:prstGeom>
          <a:noFill/>
          <a:ln w="22225">
            <a:solidFill>
              <a:srgbClr val="133536"/>
            </a:solidFill>
            <a:prstDash val="solid"/>
          </a:ln>
        </p:spPr>
      </p:sp>
      <p:sp>
        <p:nvSpPr>
          <p:cNvPr id="102" name="Shape 100"/>
          <p:cNvSpPr/>
          <p:nvPr/>
        </p:nvSpPr>
        <p:spPr>
          <a:xfrm flipV="1">
            <a:off x="4992624" y="4398755"/>
            <a:ext cx="91" cy="346491"/>
          </a:xfrm>
          <a:prstGeom prst="line">
            <a:avLst/>
          </a:prstGeom>
          <a:noFill/>
          <a:ln w="15875">
            <a:solidFill>
              <a:srgbClr val="F5A742"/>
            </a:solidFill>
            <a:prstDash val="solid"/>
          </a:ln>
        </p:spPr>
      </p:sp>
      <p:sp>
        <p:nvSpPr>
          <p:cNvPr id="103" name="Shape 101"/>
          <p:cNvSpPr/>
          <p:nvPr/>
        </p:nvSpPr>
        <p:spPr>
          <a:xfrm>
            <a:off x="4992624" y="4745245"/>
            <a:ext cx="173736" cy="97704"/>
          </a:xfrm>
          <a:prstGeom prst="line">
            <a:avLst/>
          </a:prstGeom>
          <a:noFill/>
          <a:ln w="22225">
            <a:solidFill>
              <a:srgbClr val="133536"/>
            </a:solidFill>
            <a:prstDash val="solid"/>
          </a:ln>
        </p:spPr>
      </p:sp>
      <p:sp>
        <p:nvSpPr>
          <p:cNvPr id="104" name="Shape 102"/>
          <p:cNvSpPr/>
          <p:nvPr/>
        </p:nvSpPr>
        <p:spPr>
          <a:xfrm flipV="1">
            <a:off x="4992624" y="4301050"/>
            <a:ext cx="173736" cy="97704"/>
          </a:xfrm>
          <a:prstGeom prst="line">
            <a:avLst/>
          </a:prstGeom>
          <a:noFill/>
          <a:ln w="22225">
            <a:solidFill>
              <a:srgbClr val="133536"/>
            </a:solidFill>
            <a:prstDash val="solid"/>
          </a:ln>
        </p:spPr>
      </p:sp>
      <p:sp>
        <p:nvSpPr>
          <p:cNvPr id="105" name="Shape 103"/>
          <p:cNvSpPr/>
          <p:nvPr/>
        </p:nvSpPr>
        <p:spPr>
          <a:xfrm flipV="1">
            <a:off x="5166360" y="4301050"/>
            <a:ext cx="91" cy="541900"/>
          </a:xfrm>
          <a:prstGeom prst="line">
            <a:avLst/>
          </a:prstGeom>
          <a:noFill/>
          <a:ln w="15875">
            <a:solidFill>
              <a:srgbClr val="0D7877"/>
            </a:solidFill>
            <a:prstDash val="solid"/>
          </a:ln>
        </p:spPr>
      </p:sp>
      <p:sp>
        <p:nvSpPr>
          <p:cNvPr id="106" name="Shape 104"/>
          <p:cNvSpPr/>
          <p:nvPr/>
        </p:nvSpPr>
        <p:spPr>
          <a:xfrm>
            <a:off x="1993392" y="4206240"/>
            <a:ext cx="1133856" cy="731520"/>
          </a:xfrm>
          <a:prstGeom prst="rect">
            <a:avLst/>
          </a:prstGeom>
          <a:ln w="19050">
            <a:solidFill>
              <a:srgbClr val="C8414C"/>
            </a:solidFill>
            <a:prstDash val="solid"/>
          </a:ln>
        </p:spPr>
      </p:sp>
      <p:sp>
        <p:nvSpPr>
          <p:cNvPr id="107" name="Text 105"/>
          <p:cNvSpPr/>
          <p:nvPr/>
        </p:nvSpPr>
        <p:spPr>
          <a:xfrm>
            <a:off x="1993392" y="4937760"/>
            <a:ext cx="118872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a gene</a:t>
            </a:r>
            <a:endParaRPr lang="en-US" sz="1050" dirty="0"/>
          </a:p>
        </p:txBody>
      </p:sp>
      <p:sp>
        <p:nvSpPr>
          <p:cNvPr id="108" name="Shape 106"/>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109" name="Text 10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Copying the chromosomes</a:t>
            </a:r>
            <a:endParaRPr lang="en-US" sz="1300" dirty="0"/>
          </a:p>
        </p:txBody>
      </p:sp>
      <p:sp>
        <p:nvSpPr>
          <p:cNvPr id="110" name="Text 10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Chromosomes</a:t>
            </a:r>
            <a:r>
              <a:rPr lang="en-US" sz="1100" dirty="0">
                <a:solidFill>
                  <a:srgbClr val="262B3A"/>
                </a:solidFill>
                <a:latin typeface="Calibri" pitchFamily="34" charset="0"/>
                <a:ea typeface="Calibri" pitchFamily="34" charset="-122"/>
                <a:cs typeface="Calibri" pitchFamily="34" charset="-120"/>
              </a:rPr>
              <a:t> are made of </a:t>
            </a:r>
            <a:r>
              <a:rPr lang="en-US" sz="1100" b="1" dirty="0">
                <a:solidFill>
                  <a:srgbClr val="262B3A"/>
                </a:solidFill>
                <a:latin typeface="Calibri" pitchFamily="34" charset="0"/>
                <a:ea typeface="Calibri" pitchFamily="34" charset="-122"/>
                <a:cs typeface="Calibri" pitchFamily="34" charset="-120"/>
              </a:rPr>
              <a:t>DNA</a:t>
            </a:r>
            <a:r>
              <a:rPr lang="en-US" sz="1100" dirty="0">
                <a:solidFill>
                  <a:srgbClr val="262B3A"/>
                </a:solidFill>
                <a:latin typeface="Calibri" pitchFamily="34" charset="0"/>
                <a:ea typeface="Calibri" pitchFamily="34" charset="-122"/>
                <a:cs typeface="Calibri" pitchFamily="34" charset="-120"/>
              </a:rPr>
              <a:t> and carry the </a:t>
            </a:r>
            <a:r>
              <a:rPr lang="en-US" sz="1100" b="1" dirty="0">
                <a:solidFill>
                  <a:srgbClr val="262B3A"/>
                </a:solidFill>
                <a:latin typeface="Calibri" pitchFamily="34" charset="0"/>
                <a:ea typeface="Calibri" pitchFamily="34" charset="-122"/>
                <a:cs typeface="Calibri" pitchFamily="34" charset="-120"/>
              </a:rPr>
              <a:t>genes</a:t>
            </a:r>
            <a:r>
              <a:rPr lang="en-US" sz="1100" dirty="0">
                <a:solidFill>
                  <a:srgbClr val="262B3A"/>
                </a:solidFill>
                <a:latin typeface="Calibri" pitchFamily="34" charset="0"/>
                <a:ea typeface="Calibri" pitchFamily="34" charset="-122"/>
                <a:cs typeface="Calibri" pitchFamily="34" charset="-120"/>
              </a:rPr>
              <a:t>. They are in the nucleus.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Body cells have chromosomes in </a:t>
            </a:r>
            <a:r>
              <a:rPr lang="en-US" sz="1100" b="1" dirty="0">
                <a:solidFill>
                  <a:srgbClr val="262B3A"/>
                </a:solidFill>
                <a:latin typeface="Calibri" pitchFamily="34" charset="0"/>
                <a:ea typeface="Calibri" pitchFamily="34" charset="-122"/>
                <a:cs typeface="Calibri" pitchFamily="34" charset="-120"/>
              </a:rPr>
              <a:t>pairs</a:t>
            </a:r>
            <a:r>
              <a:rPr lang="en-US" sz="1100" dirty="0">
                <a:solidFill>
                  <a:srgbClr val="262B3A"/>
                </a:solidFill>
                <a:latin typeface="Calibri" pitchFamily="34" charset="0"/>
                <a:ea typeface="Calibri" pitchFamily="34" charset="-122"/>
                <a:cs typeface="Calibri" pitchFamily="34" charset="-120"/>
              </a:rPr>
              <a:t>: they are </a:t>
            </a:r>
            <a:r>
              <a:rPr lang="en-US" sz="1100" b="1" dirty="0">
                <a:solidFill>
                  <a:srgbClr val="262B3A"/>
                </a:solidFill>
                <a:latin typeface="Calibri" pitchFamily="34" charset="0"/>
                <a:ea typeface="Calibri" pitchFamily="34" charset="-122"/>
                <a:cs typeface="Calibri" pitchFamily="34" charset="-120"/>
              </a:rPr>
              <a:t>diploid</a:t>
            </a:r>
            <a:r>
              <a:rPr lang="en-US" sz="1100" dirty="0">
                <a:solidFill>
                  <a:srgbClr val="262B3A"/>
                </a:solidFill>
                <a:latin typeface="Calibri" pitchFamily="34" charset="0"/>
                <a:ea typeface="Calibri" pitchFamily="34" charset="-122"/>
                <a:cs typeface="Calibri" pitchFamily="34" charset="-120"/>
              </a:rPr>
              <a:t> (humans: 23 pairs = </a:t>
            </a:r>
            <a:r>
              <a:rPr lang="en-US" sz="1100" b="1" dirty="0">
                <a:solidFill>
                  <a:srgbClr val="262B3A"/>
                </a:solidFill>
                <a:latin typeface="Calibri" pitchFamily="34" charset="0"/>
                <a:ea typeface="Calibri" pitchFamily="34" charset="-122"/>
                <a:cs typeface="Calibri" pitchFamily="34" charset="-120"/>
              </a:rPr>
              <a:t>46</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a:t>
            </a:r>
            <a:r>
              <a:rPr lang="en-US" sz="1100" b="1" dirty="0">
                <a:solidFill>
                  <a:srgbClr val="262B3A"/>
                </a:solidFill>
                <a:latin typeface="Calibri" pitchFamily="34" charset="0"/>
                <a:ea typeface="Calibri" pitchFamily="34" charset="-122"/>
                <a:cs typeface="Calibri" pitchFamily="34" charset="-120"/>
              </a:rPr>
              <a:t>interphase</a:t>
            </a:r>
            <a:r>
              <a:rPr lang="en-US" sz="1100" dirty="0">
                <a:solidFill>
                  <a:srgbClr val="262B3A"/>
                </a:solidFill>
                <a:latin typeface="Calibri" pitchFamily="34" charset="0"/>
                <a:ea typeface="Calibri" pitchFamily="34" charset="-122"/>
                <a:cs typeface="Calibri" pitchFamily="34" charset="-120"/>
              </a:rPr>
              <a:t>, each chromosome is copied: </a:t>
            </a:r>
            <a:r>
              <a:rPr lang="en-US" sz="1100" b="1" dirty="0">
                <a:solidFill>
                  <a:srgbClr val="262B3A"/>
                </a:solidFill>
                <a:latin typeface="Calibri" pitchFamily="34" charset="0"/>
                <a:ea typeface="Calibri" pitchFamily="34" charset="-122"/>
                <a:cs typeface="Calibri" pitchFamily="34" charset="-120"/>
              </a:rPr>
              <a:t>DNA replication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copied chromosome has two identical </a:t>
            </a:r>
            <a:r>
              <a:rPr lang="en-US" sz="1100" b="1" dirty="0">
                <a:solidFill>
                  <a:srgbClr val="262B3A"/>
                </a:solidFill>
                <a:latin typeface="Calibri" pitchFamily="34" charset="0"/>
                <a:ea typeface="Calibri" pitchFamily="34" charset="-122"/>
                <a:cs typeface="Calibri" pitchFamily="34" charset="-120"/>
              </a:rPr>
              <a:t>chromatids</a:t>
            </a:r>
            <a:r>
              <a:rPr lang="en-US" sz="1100" dirty="0">
                <a:solidFill>
                  <a:srgbClr val="262B3A"/>
                </a:solidFill>
                <a:latin typeface="Calibri" pitchFamily="34" charset="0"/>
                <a:ea typeface="Calibri" pitchFamily="34" charset="-122"/>
                <a:cs typeface="Calibri" pitchFamily="34" charset="-120"/>
              </a:rPr>
              <a:t>, joined at the centromere.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mitosis the chromatids are separated, so each new cell gets a full, identical set.</a:t>
            </a:r>
            <a:endParaRPr lang="en-US" sz="1100" dirty="0"/>
          </a:p>
        </p:txBody>
      </p:sp>
      <p:sp>
        <p:nvSpPr>
          <p:cNvPr id="111" name="Shape 10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2" name="Text 11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counting</a:t>
            </a:r>
            <a:endParaRPr lang="en-US" sz="1300" dirty="0"/>
          </a:p>
        </p:txBody>
      </p:sp>
      <p:sp>
        <p:nvSpPr>
          <p:cNvPr id="113" name="Text 11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human body cell has 23 pairs of chromosomes. How many chromosomes, and how many chromatids after DNA replication?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Chromosomes   </a:t>
            </a:r>
            <a:r>
              <a:rPr lang="en-US" sz="1050" dirty="0">
                <a:solidFill>
                  <a:srgbClr val="262B3A"/>
                </a:solidFill>
                <a:latin typeface="Calibri" pitchFamily="34" charset="0"/>
                <a:ea typeface="Calibri" pitchFamily="34" charset="-122"/>
                <a:cs typeface="Calibri" pitchFamily="34" charset="-120"/>
              </a:rPr>
              <a:t>23 pairs × 2 = 46 chromosomes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Replication   </a:t>
            </a:r>
            <a:r>
              <a:rPr lang="en-US" sz="1050" dirty="0">
                <a:solidFill>
                  <a:srgbClr val="262B3A"/>
                </a:solidFill>
                <a:latin typeface="Calibri" pitchFamily="34" charset="0"/>
                <a:ea typeface="Calibri" pitchFamily="34" charset="-122"/>
                <a:cs typeface="Calibri" pitchFamily="34" charset="-120"/>
              </a:rPr>
              <a:t>each chromosome now has 2 chromatids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Chromatids   </a:t>
            </a:r>
            <a:r>
              <a:rPr lang="en-US" sz="1050" dirty="0">
                <a:solidFill>
                  <a:srgbClr val="262B3A"/>
                </a:solidFill>
                <a:latin typeface="Calibri" pitchFamily="34" charset="0"/>
                <a:ea typeface="Calibri" pitchFamily="34" charset="-122"/>
                <a:cs typeface="Calibri" pitchFamily="34" charset="-120"/>
              </a:rPr>
              <a:t>46 × 2 = 92 chromatids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46 chromosomes; 92 chromatids (still 46 chromosomes)</a:t>
            </a:r>
            <a:endParaRPr lang="en-US" sz="1050" dirty="0"/>
          </a:p>
        </p:txBody>
      </p:sp>
      <p:sp>
        <p:nvSpPr>
          <p:cNvPr id="114" name="Shape 112"/>
          <p:cNvSpPr/>
          <p:nvPr/>
        </p:nvSpPr>
        <p:spPr>
          <a:xfrm>
            <a:off x="411480" y="5833872"/>
            <a:ext cx="11368735" cy="530352"/>
          </a:xfrm>
          <a:prstGeom prst="rect">
            <a:avLst/>
          </a:prstGeom>
          <a:solidFill>
            <a:srgbClr val="FFF4E0"/>
          </a:solidFill>
          <a:ln w="6350">
            <a:solidFill>
              <a:srgbClr val="F1D9A8"/>
            </a:solidFill>
            <a:prstDash val="solid"/>
          </a:ln>
        </p:spPr>
      </p:sp>
      <p:sp>
        <p:nvSpPr>
          <p:cNvPr id="115" name="Shape 113"/>
          <p:cNvSpPr/>
          <p:nvPr/>
        </p:nvSpPr>
        <p:spPr>
          <a:xfrm>
            <a:off x="411480" y="5833872"/>
            <a:ext cx="82296" cy="530352"/>
          </a:xfrm>
          <a:prstGeom prst="rect">
            <a:avLst/>
          </a:prstGeom>
          <a:solidFill>
            <a:srgbClr val="E39A2F"/>
          </a:solidFill>
          <a:ln w="12700">
            <a:solidFill>
              <a:srgbClr val="E39A2F"/>
            </a:solidFill>
            <a:prstDash val="solid"/>
          </a:ln>
        </p:spPr>
      </p:sp>
      <p:sp>
        <p:nvSpPr>
          <p:cNvPr id="116" name="Text 11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dog body cell has </a:t>
            </a:r>
            <a:r>
              <a:rPr lang="en-US" sz="1150" b="1" dirty="0">
                <a:solidFill>
                  <a:srgbClr val="262B3A"/>
                </a:solidFill>
                <a:latin typeface="Calibri" pitchFamily="34" charset="0"/>
                <a:ea typeface="Calibri" pitchFamily="34" charset="-122"/>
                <a:cs typeface="Calibri" pitchFamily="34" charset="-120"/>
              </a:rPr>
              <a:t>78</a:t>
            </a:r>
            <a:r>
              <a:rPr lang="en-US" sz="1150" dirty="0">
                <a:solidFill>
                  <a:srgbClr val="262B3A"/>
                </a:solidFill>
                <a:latin typeface="Calibri" pitchFamily="34" charset="0"/>
                <a:ea typeface="Calibri" pitchFamily="34" charset="-122"/>
                <a:cs typeface="Calibri" pitchFamily="34" charset="-120"/>
              </a:rPr>
              <a:t> chromosomes. How many </a:t>
            </a:r>
            <a:r>
              <a:rPr lang="en-US" sz="1150" b="1" dirty="0">
                <a:solidFill>
                  <a:srgbClr val="262B3A"/>
                </a:solidFill>
                <a:latin typeface="Calibri" pitchFamily="34" charset="0"/>
                <a:ea typeface="Calibri" pitchFamily="34" charset="-122"/>
                <a:cs typeface="Calibri" pitchFamily="34" charset="-120"/>
              </a:rPr>
              <a:t>pairs</a:t>
            </a:r>
            <a:r>
              <a:rPr lang="en-US" sz="1150" dirty="0">
                <a:solidFill>
                  <a:srgbClr val="262B3A"/>
                </a:solidFill>
                <a:latin typeface="Calibri" pitchFamily="34" charset="0"/>
                <a:ea typeface="Calibri" pitchFamily="34" charset="-122"/>
                <a:cs typeface="Calibri" pitchFamily="34" charset="-120"/>
              </a:rPr>
              <a:t> is that? How many chromosomes will each new cell have after mitosis?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growth and chromosomes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processes that make a multicellular organism grow.</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Human body cells are </a:t>
            </a:r>
            <a:r>
              <a:rPr lang="en-US" sz="1250" b="1" dirty="0">
                <a:solidFill>
                  <a:srgbClr val="262B3A"/>
                </a:solidFill>
                <a:latin typeface="Calibri" pitchFamily="34" charset="0"/>
                <a:ea typeface="Calibri" pitchFamily="34" charset="-122"/>
                <a:cs typeface="Calibri" pitchFamily="34" charset="-120"/>
              </a:rPr>
              <a:t>diploid</a:t>
            </a:r>
            <a:r>
              <a:rPr lang="en-US" sz="1250" dirty="0">
                <a:solidFill>
                  <a:srgbClr val="262B3A"/>
                </a:solidFill>
                <a:latin typeface="Calibri" pitchFamily="34" charset="0"/>
                <a:ea typeface="Calibri" pitchFamily="34" charset="-122"/>
                <a:cs typeface="Calibri" pitchFamily="34" charset="-120"/>
              </a:rPr>
              <a:t>. State what diploid means and give the number of chromosomes in a human body cell.</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cell divides by mitosis, then each new cell divides again, </a:t>
            </a:r>
            <a:r>
              <a:rPr lang="en-US" sz="1250" b="1" dirty="0">
                <a:solidFill>
                  <a:srgbClr val="262B3A"/>
                </a:solidFill>
                <a:latin typeface="Calibri" pitchFamily="34" charset="0"/>
                <a:ea typeface="Calibri" pitchFamily="34" charset="-122"/>
                <a:cs typeface="Calibri" pitchFamily="34" charset="-120"/>
              </a:rPr>
              <a:t>5</a:t>
            </a:r>
            <a:r>
              <a:rPr lang="en-US" sz="1250" dirty="0">
                <a:solidFill>
                  <a:srgbClr val="262B3A"/>
                </a:solidFill>
                <a:latin typeface="Calibri" pitchFamily="34" charset="0"/>
                <a:ea typeface="Calibri" pitchFamily="34" charset="-122"/>
                <a:cs typeface="Calibri" pitchFamily="34" charset="-120"/>
              </a:rPr>
              <a:t> times in all. How many cells are made?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happens to each chromosome during </a:t>
            </a:r>
            <a:r>
              <a:rPr lang="en-US" sz="1250" b="1" dirty="0">
                <a:solidFill>
                  <a:srgbClr val="262B3A"/>
                </a:solidFill>
                <a:latin typeface="Calibri" pitchFamily="34" charset="0"/>
                <a:ea typeface="Calibri" pitchFamily="34" charset="-122"/>
                <a:cs typeface="Calibri" pitchFamily="34" charset="-120"/>
              </a:rPr>
              <a:t>DNA replication</a:t>
            </a:r>
            <a:r>
              <a:rPr lang="en-US" sz="1250" dirty="0">
                <a:solidFill>
                  <a:srgbClr val="262B3A"/>
                </a:solidFill>
                <a:latin typeface="Calibri" pitchFamily="34" charset="0"/>
                <a:ea typeface="Calibri" pitchFamily="34" charset="-122"/>
                <a:cs typeface="Calibri" pitchFamily="34" charset="-120"/>
              </a:rPr>
              <a:t>, and why it is needed.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cell cycle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interphase (growth and DNA replication), then mitosis and cytokinesis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wheel drawn to scale for a 24-hour human cell cycle (times vary between cells)</a:t>
            </a:r>
            <a:endParaRPr lang="en-US" sz="1000" dirty="0"/>
          </a:p>
        </p:txBody>
      </p:sp>
      <p:sp>
        <p:nvSpPr>
          <p:cNvPr id="10" name="Shape 8"/>
          <p:cNvSpPr/>
          <p:nvPr/>
        </p:nvSpPr>
        <p:spPr>
          <a:xfrm>
            <a:off x="685800" y="1965960"/>
            <a:ext cx="2834640" cy="2834640"/>
          </a:xfrm>
          <a:prstGeom prst="blockArc">
            <a:avLst>
              <a:gd name="adj1" fmla="val 16200000"/>
              <a:gd name="adj2" fmla="val 3600000"/>
              <a:gd name="adj3" fmla="val 21000"/>
            </a:avLst>
          </a:prstGeom>
          <a:solidFill>
            <a:srgbClr val="7FC8A9"/>
          </a:solidFill>
          <a:ln w="25400">
            <a:solidFill>
              <a:srgbClr val="FFFFFF"/>
            </a:solidFill>
            <a:prstDash val="solid"/>
          </a:ln>
        </p:spPr>
      </p:sp>
      <p:sp>
        <p:nvSpPr>
          <p:cNvPr id="11" name="Shape 9"/>
          <p:cNvSpPr/>
          <p:nvPr/>
        </p:nvSpPr>
        <p:spPr>
          <a:xfrm>
            <a:off x="685800" y="1965960"/>
            <a:ext cx="2834640" cy="2834640"/>
          </a:xfrm>
          <a:prstGeom prst="blockArc">
            <a:avLst>
              <a:gd name="adj1" fmla="val 3600000"/>
              <a:gd name="adj2" fmla="val 10800000"/>
              <a:gd name="adj3" fmla="val 21000"/>
            </a:avLst>
          </a:prstGeom>
          <a:solidFill>
            <a:srgbClr val="5B9BD5"/>
          </a:solidFill>
          <a:ln w="25400">
            <a:solidFill>
              <a:srgbClr val="FFFFFF"/>
            </a:solidFill>
            <a:prstDash val="solid"/>
          </a:ln>
        </p:spPr>
      </p:sp>
      <p:sp>
        <p:nvSpPr>
          <p:cNvPr id="12" name="Shape 10"/>
          <p:cNvSpPr/>
          <p:nvPr/>
        </p:nvSpPr>
        <p:spPr>
          <a:xfrm>
            <a:off x="685800" y="1965960"/>
            <a:ext cx="2834640" cy="2834640"/>
          </a:xfrm>
          <a:prstGeom prst="blockArc">
            <a:avLst>
              <a:gd name="adj1" fmla="val 10800000"/>
              <a:gd name="adj2" fmla="val 15300000"/>
              <a:gd name="adj3" fmla="val 21000"/>
            </a:avLst>
          </a:prstGeom>
          <a:solidFill>
            <a:srgbClr val="B5E0CF"/>
          </a:solidFill>
          <a:ln w="25400">
            <a:solidFill>
              <a:srgbClr val="FFFFFF"/>
            </a:solidFill>
            <a:prstDash val="solid"/>
          </a:ln>
        </p:spPr>
      </p:sp>
      <p:sp>
        <p:nvSpPr>
          <p:cNvPr id="13" name="Shape 11"/>
          <p:cNvSpPr/>
          <p:nvPr/>
        </p:nvSpPr>
        <p:spPr>
          <a:xfrm>
            <a:off x="685800" y="1965960"/>
            <a:ext cx="2834640" cy="2834640"/>
          </a:xfrm>
          <a:prstGeom prst="blockArc">
            <a:avLst>
              <a:gd name="adj1" fmla="val 15300000"/>
              <a:gd name="adj2" fmla="val 16200000"/>
              <a:gd name="adj3" fmla="val 21000"/>
            </a:avLst>
          </a:prstGeom>
          <a:solidFill>
            <a:srgbClr val="C8414C"/>
          </a:solidFill>
          <a:ln w="25400">
            <a:solidFill>
              <a:srgbClr val="FFFFFF"/>
            </a:solidFill>
            <a:prstDash val="solid"/>
          </a:ln>
        </p:spPr>
      </p:sp>
      <p:sp>
        <p:nvSpPr>
          <p:cNvPr id="14" name="Text 12"/>
          <p:cNvSpPr/>
          <p:nvPr/>
        </p:nvSpPr>
        <p:spPr>
          <a:xfrm>
            <a:off x="1280160" y="2999232"/>
            <a:ext cx="1645920" cy="256032"/>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one cycle</a:t>
            </a:r>
            <a:endParaRPr lang="en-US" sz="1100" dirty="0"/>
          </a:p>
        </p:txBody>
      </p:sp>
      <p:sp>
        <p:nvSpPr>
          <p:cNvPr id="15" name="Shape 13"/>
          <p:cNvSpPr/>
          <p:nvPr/>
        </p:nvSpPr>
        <p:spPr>
          <a:xfrm>
            <a:off x="1746504" y="3300984"/>
            <a:ext cx="310896" cy="310896"/>
          </a:xfrm>
          <a:prstGeom prst="ellipse">
            <a:avLst/>
          </a:prstGeom>
          <a:solidFill>
            <a:srgbClr val="FFF4D6"/>
          </a:solidFill>
          <a:ln w="19050">
            <a:solidFill>
              <a:srgbClr val="B8730A"/>
            </a:solidFill>
            <a:prstDash val="solid"/>
          </a:ln>
        </p:spPr>
      </p:sp>
      <p:sp>
        <p:nvSpPr>
          <p:cNvPr id="16" name="Shape 14"/>
          <p:cNvSpPr/>
          <p:nvPr/>
        </p:nvSpPr>
        <p:spPr>
          <a:xfrm>
            <a:off x="1832000" y="3386480"/>
            <a:ext cx="139903" cy="139903"/>
          </a:xfrm>
          <a:prstGeom prst="ellipse">
            <a:avLst/>
          </a:prstGeom>
          <a:solidFill>
            <a:srgbClr val="C9B6E4"/>
          </a:solidFill>
          <a:ln w="12700">
            <a:solidFill>
              <a:srgbClr val="6A4C93"/>
            </a:solidFill>
            <a:prstDash val="solid"/>
          </a:ln>
        </p:spPr>
      </p:sp>
      <p:sp>
        <p:nvSpPr>
          <p:cNvPr id="17" name="Shape 15"/>
          <p:cNvSpPr/>
          <p:nvPr/>
        </p:nvSpPr>
        <p:spPr>
          <a:xfrm>
            <a:off x="2103120" y="3456432"/>
            <a:ext cx="182880" cy="91"/>
          </a:xfrm>
          <a:prstGeom prst="line">
            <a:avLst/>
          </a:prstGeom>
          <a:noFill/>
          <a:ln w="15875">
            <a:solidFill>
              <a:srgbClr val="133536"/>
            </a:solidFill>
            <a:prstDash val="solid"/>
            <a:tailEnd type="triangle"/>
          </a:ln>
        </p:spPr>
      </p:sp>
      <p:sp>
        <p:nvSpPr>
          <p:cNvPr id="18" name="Shape 16"/>
          <p:cNvSpPr/>
          <p:nvPr/>
        </p:nvSpPr>
        <p:spPr>
          <a:xfrm>
            <a:off x="2340864" y="3236976"/>
            <a:ext cx="219456" cy="219456"/>
          </a:xfrm>
          <a:prstGeom prst="ellipse">
            <a:avLst/>
          </a:prstGeom>
          <a:solidFill>
            <a:srgbClr val="FFF4D6"/>
          </a:solidFill>
          <a:ln w="19050">
            <a:solidFill>
              <a:srgbClr val="B8730A"/>
            </a:solidFill>
            <a:prstDash val="solid"/>
          </a:ln>
        </p:spPr>
      </p:sp>
      <p:sp>
        <p:nvSpPr>
          <p:cNvPr id="19" name="Shape 17"/>
          <p:cNvSpPr/>
          <p:nvPr/>
        </p:nvSpPr>
        <p:spPr>
          <a:xfrm>
            <a:off x="2401214" y="3297326"/>
            <a:ext cx="98755" cy="98755"/>
          </a:xfrm>
          <a:prstGeom prst="ellipse">
            <a:avLst/>
          </a:prstGeom>
          <a:solidFill>
            <a:srgbClr val="C9B6E4"/>
          </a:solidFill>
          <a:ln w="12700">
            <a:solidFill>
              <a:srgbClr val="6A4C93"/>
            </a:solidFill>
            <a:prstDash val="solid"/>
          </a:ln>
        </p:spPr>
      </p:sp>
      <p:sp>
        <p:nvSpPr>
          <p:cNvPr id="20" name="Shape 18"/>
          <p:cNvSpPr/>
          <p:nvPr/>
        </p:nvSpPr>
        <p:spPr>
          <a:xfrm>
            <a:off x="2340864" y="3474720"/>
            <a:ext cx="219456" cy="219456"/>
          </a:xfrm>
          <a:prstGeom prst="ellipse">
            <a:avLst/>
          </a:prstGeom>
          <a:solidFill>
            <a:srgbClr val="FFF4D6"/>
          </a:solidFill>
          <a:ln w="19050">
            <a:solidFill>
              <a:srgbClr val="B8730A"/>
            </a:solidFill>
            <a:prstDash val="solid"/>
          </a:ln>
        </p:spPr>
      </p:sp>
      <p:sp>
        <p:nvSpPr>
          <p:cNvPr id="21" name="Shape 19"/>
          <p:cNvSpPr/>
          <p:nvPr/>
        </p:nvSpPr>
        <p:spPr>
          <a:xfrm>
            <a:off x="2401214" y="3535070"/>
            <a:ext cx="98755" cy="98755"/>
          </a:xfrm>
          <a:prstGeom prst="ellipse">
            <a:avLst/>
          </a:prstGeom>
          <a:solidFill>
            <a:srgbClr val="C9B6E4"/>
          </a:solidFill>
          <a:ln w="12700">
            <a:solidFill>
              <a:srgbClr val="6A4C93"/>
            </a:solidFill>
            <a:prstDash val="solid"/>
          </a:ln>
        </p:spPr>
      </p:sp>
      <p:sp>
        <p:nvSpPr>
          <p:cNvPr id="22" name="Text 20"/>
          <p:cNvSpPr/>
          <p:nvPr/>
        </p:nvSpPr>
        <p:spPr>
          <a:xfrm>
            <a:off x="1280160" y="3703320"/>
            <a:ext cx="1645920" cy="256032"/>
          </a:xfrm>
          <a:prstGeom prst="rect">
            <a:avLst/>
          </a:prstGeom>
          <a:noFill/>
          <a:ln/>
        </p:spPr>
        <p:txBody>
          <a:bodyPr wrap="square" lIns="0" tIns="0" rIns="0" bIns="0" rtlCol="0" anchor="ctr"/>
          <a:lstStyle/>
          <a:p>
            <a:pPr algn="ctr" indent="0" marL="0">
              <a:buNone/>
            </a:pPr>
            <a:r>
              <a:rPr lang="en-US" sz="1100" b="1" dirty="0">
                <a:solidFill>
                  <a:srgbClr val="6B7385"/>
                </a:solidFill>
                <a:latin typeface="Calibri" pitchFamily="34" charset="0"/>
                <a:ea typeface="Calibri" pitchFamily="34" charset="-122"/>
                <a:cs typeface="Calibri" pitchFamily="34" charset="-120"/>
              </a:rPr>
              <a:t>24 hours</a:t>
            </a:r>
            <a:endParaRPr lang="en-US" sz="1100" dirty="0"/>
          </a:p>
        </p:txBody>
      </p:sp>
      <p:sp>
        <p:nvSpPr>
          <p:cNvPr id="23" name="Text 21"/>
          <p:cNvSpPr/>
          <p:nvPr/>
        </p:nvSpPr>
        <p:spPr>
          <a:xfrm>
            <a:off x="2818891" y="2965469"/>
            <a:ext cx="731520" cy="256032"/>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10 h</a:t>
            </a:r>
            <a:endParaRPr lang="en-US" sz="1050" dirty="0"/>
          </a:p>
        </p:txBody>
      </p:sp>
      <p:sp>
        <p:nvSpPr>
          <p:cNvPr id="24" name="Text 22"/>
          <p:cNvSpPr/>
          <p:nvPr/>
        </p:nvSpPr>
        <p:spPr>
          <a:xfrm>
            <a:off x="1177519" y="4224938"/>
            <a:ext cx="7315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h</a:t>
            </a:r>
            <a:endParaRPr lang="en-US" sz="1050" dirty="0"/>
          </a:p>
        </p:txBody>
      </p:sp>
      <p:sp>
        <p:nvSpPr>
          <p:cNvPr id="25" name="Text 23"/>
          <p:cNvSpPr/>
          <p:nvPr/>
        </p:nvSpPr>
        <p:spPr>
          <a:xfrm>
            <a:off x="849056" y="2573644"/>
            <a:ext cx="731520" cy="256032"/>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5 h</a:t>
            </a:r>
            <a:endParaRPr lang="en-US" sz="1050" dirty="0"/>
          </a:p>
        </p:txBody>
      </p:sp>
      <p:sp>
        <p:nvSpPr>
          <p:cNvPr id="26" name="Shape 24"/>
          <p:cNvSpPr/>
          <p:nvPr/>
        </p:nvSpPr>
        <p:spPr>
          <a:xfrm flipV="1">
            <a:off x="1918123" y="1600200"/>
            <a:ext cx="457200" cy="377885"/>
          </a:xfrm>
          <a:prstGeom prst="line">
            <a:avLst/>
          </a:prstGeom>
          <a:noFill/>
          <a:ln w="12700">
            <a:solidFill>
              <a:srgbClr val="C8414C"/>
            </a:solidFill>
            <a:prstDash val="solid"/>
          </a:ln>
        </p:spPr>
      </p:sp>
      <p:sp>
        <p:nvSpPr>
          <p:cNvPr id="27" name="Text 25"/>
          <p:cNvSpPr/>
          <p:nvPr/>
        </p:nvSpPr>
        <p:spPr>
          <a:xfrm>
            <a:off x="2375323" y="1325880"/>
            <a:ext cx="2377440" cy="384048"/>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mitosis + cytokinesis</a:t>
            </a:r>
            <a:r>
              <a:rPr lang="en-US" sz="1050" dirty="0">
                <a:solidFill>
                  <a:srgbClr val="C8414C"/>
                </a:solidFill>
                <a:latin typeface="Calibri" pitchFamily="34" charset="0"/>
                <a:ea typeface="Calibri" pitchFamily="34" charset="-122"/>
                <a:cs typeface="Calibri" pitchFamily="34" charset="-120"/>
              </a:rPr>
              <a:t> (1 h): divide</a:t>
            </a:r>
            <a:endParaRPr lang="en-US" sz="1050" dirty="0"/>
          </a:p>
        </p:txBody>
      </p:sp>
      <p:sp>
        <p:nvSpPr>
          <p:cNvPr id="28" name="Shape 26"/>
          <p:cNvSpPr/>
          <p:nvPr/>
        </p:nvSpPr>
        <p:spPr>
          <a:xfrm>
            <a:off x="3767328" y="2112264"/>
            <a:ext cx="219456" cy="219456"/>
          </a:xfrm>
          <a:prstGeom prst="rect">
            <a:avLst/>
          </a:prstGeom>
          <a:solidFill>
            <a:srgbClr val="7FC8A9"/>
          </a:solidFill>
          <a:ln w="6350">
            <a:solidFill>
              <a:srgbClr val="133536"/>
            </a:solidFill>
            <a:prstDash val="solid"/>
          </a:ln>
        </p:spPr>
      </p:sp>
      <p:sp>
        <p:nvSpPr>
          <p:cNvPr id="29" name="Text 27"/>
          <p:cNvSpPr/>
          <p:nvPr/>
        </p:nvSpPr>
        <p:spPr>
          <a:xfrm>
            <a:off x="4069080" y="2057400"/>
            <a:ext cx="1828800" cy="73152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Interphase: cell </a:t>
            </a:r>
            <a:r>
              <a:rPr lang="en-US" sz="1000" b="1" dirty="0">
                <a:solidFill>
                  <a:srgbClr val="262B3A"/>
                </a:solidFill>
                <a:latin typeface="Calibri" pitchFamily="34" charset="0"/>
                <a:ea typeface="Calibri" pitchFamily="34" charset="-122"/>
                <a:cs typeface="Calibri" pitchFamily="34" charset="-120"/>
              </a:rPr>
              <a:t>grows</a:t>
            </a:r>
            <a:r>
              <a:rPr lang="en-US" sz="1000" dirty="0">
                <a:solidFill>
                  <a:srgbClr val="262B3A"/>
                </a:solidFill>
                <a:latin typeface="Calibri" pitchFamily="34" charset="0"/>
                <a:ea typeface="Calibri" pitchFamily="34" charset="-122"/>
                <a:cs typeface="Calibri" pitchFamily="34" charset="-120"/>
              </a:rPr>
              <a:t>, makes new organelles (e.g. mitochondria, ribosomes) and proteins</a:t>
            </a:r>
            <a:endParaRPr lang="en-US" sz="1000" dirty="0"/>
          </a:p>
        </p:txBody>
      </p:sp>
      <p:sp>
        <p:nvSpPr>
          <p:cNvPr id="30" name="Shape 28"/>
          <p:cNvSpPr/>
          <p:nvPr/>
        </p:nvSpPr>
        <p:spPr>
          <a:xfrm>
            <a:off x="3767328" y="2889504"/>
            <a:ext cx="219456" cy="219456"/>
          </a:xfrm>
          <a:prstGeom prst="rect">
            <a:avLst/>
          </a:prstGeom>
          <a:solidFill>
            <a:srgbClr val="5B9BD5"/>
          </a:solidFill>
          <a:ln w="6350">
            <a:solidFill>
              <a:srgbClr val="133536"/>
            </a:solidFill>
            <a:prstDash val="solid"/>
          </a:ln>
        </p:spPr>
      </p:sp>
      <p:sp>
        <p:nvSpPr>
          <p:cNvPr id="31" name="Text 29"/>
          <p:cNvSpPr/>
          <p:nvPr/>
        </p:nvSpPr>
        <p:spPr>
          <a:xfrm>
            <a:off x="4069080" y="2834640"/>
            <a:ext cx="1828800" cy="73152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Interphase: </a:t>
            </a:r>
            <a:r>
              <a:rPr lang="en-US" sz="1000" b="1" dirty="0">
                <a:solidFill>
                  <a:srgbClr val="262B3A"/>
                </a:solidFill>
                <a:latin typeface="Calibri" pitchFamily="34" charset="0"/>
                <a:ea typeface="Calibri" pitchFamily="34" charset="-122"/>
                <a:cs typeface="Calibri" pitchFamily="34" charset="-120"/>
              </a:rPr>
              <a:t>DNA replication</a:t>
            </a:r>
            <a:r>
              <a:rPr lang="en-US" sz="1000" dirty="0">
                <a:solidFill>
                  <a:srgbClr val="262B3A"/>
                </a:solidFill>
                <a:latin typeface="Calibri" pitchFamily="34" charset="0"/>
                <a:ea typeface="Calibri" pitchFamily="34" charset="-122"/>
                <a:cs typeface="Calibri" pitchFamily="34" charset="-120"/>
              </a:rPr>
              <a:t>: every chromosome is copied</a:t>
            </a:r>
            <a:endParaRPr lang="en-US" sz="1000" dirty="0"/>
          </a:p>
        </p:txBody>
      </p:sp>
      <p:sp>
        <p:nvSpPr>
          <p:cNvPr id="32" name="Shape 30"/>
          <p:cNvSpPr/>
          <p:nvPr/>
        </p:nvSpPr>
        <p:spPr>
          <a:xfrm>
            <a:off x="3767328" y="3666744"/>
            <a:ext cx="219456" cy="219456"/>
          </a:xfrm>
          <a:prstGeom prst="rect">
            <a:avLst/>
          </a:prstGeom>
          <a:solidFill>
            <a:srgbClr val="B5E0CF"/>
          </a:solidFill>
          <a:ln w="6350">
            <a:solidFill>
              <a:srgbClr val="133536"/>
            </a:solidFill>
            <a:prstDash val="solid"/>
          </a:ln>
        </p:spPr>
      </p:sp>
      <p:sp>
        <p:nvSpPr>
          <p:cNvPr id="33" name="Text 31"/>
          <p:cNvSpPr/>
          <p:nvPr/>
        </p:nvSpPr>
        <p:spPr>
          <a:xfrm>
            <a:off x="4069080" y="3611880"/>
            <a:ext cx="1828800" cy="73152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Interphase: grows more; DNA checked for errors</a:t>
            </a:r>
            <a:endParaRPr lang="en-US" sz="1000" dirty="0"/>
          </a:p>
        </p:txBody>
      </p:sp>
      <p:sp>
        <p:nvSpPr>
          <p:cNvPr id="34" name="Shape 32"/>
          <p:cNvSpPr/>
          <p:nvPr/>
        </p:nvSpPr>
        <p:spPr>
          <a:xfrm>
            <a:off x="3767328" y="4443984"/>
            <a:ext cx="219456" cy="219456"/>
          </a:xfrm>
          <a:prstGeom prst="rect">
            <a:avLst/>
          </a:prstGeom>
          <a:solidFill>
            <a:srgbClr val="C8414C"/>
          </a:solidFill>
          <a:ln w="6350">
            <a:solidFill>
              <a:srgbClr val="133536"/>
            </a:solidFill>
            <a:prstDash val="solid"/>
          </a:ln>
        </p:spPr>
      </p:sp>
      <p:sp>
        <p:nvSpPr>
          <p:cNvPr id="35" name="Text 33"/>
          <p:cNvSpPr/>
          <p:nvPr/>
        </p:nvSpPr>
        <p:spPr>
          <a:xfrm>
            <a:off x="4069080" y="4389120"/>
            <a:ext cx="1828800" cy="73152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Mitosis</a:t>
            </a:r>
            <a:r>
              <a:rPr lang="en-US" sz="1000" dirty="0">
                <a:solidFill>
                  <a:srgbClr val="262B3A"/>
                </a:solidFill>
                <a:latin typeface="Calibri" pitchFamily="34" charset="0"/>
                <a:ea typeface="Calibri" pitchFamily="34" charset="-122"/>
                <a:cs typeface="Calibri" pitchFamily="34" charset="-120"/>
              </a:rPr>
              <a:t>: nucleus divides. </a:t>
            </a:r>
            <a:r>
              <a:rPr lang="en-US" sz="1000" b="1" dirty="0">
                <a:solidFill>
                  <a:srgbClr val="262B3A"/>
                </a:solidFill>
                <a:latin typeface="Calibri" pitchFamily="34" charset="0"/>
                <a:ea typeface="Calibri" pitchFamily="34" charset="-122"/>
                <a:cs typeface="Calibri" pitchFamily="34" charset="-120"/>
              </a:rPr>
              <a:t>Cytokinesis</a:t>
            </a:r>
            <a:r>
              <a:rPr lang="en-US" sz="1000" dirty="0">
                <a:solidFill>
                  <a:srgbClr val="262B3A"/>
                </a:solidFill>
                <a:latin typeface="Calibri" pitchFamily="34" charset="0"/>
                <a:ea typeface="Calibri" pitchFamily="34" charset="-122"/>
                <a:cs typeface="Calibri" pitchFamily="34" charset="-120"/>
              </a:rPr>
              <a:t>: cytoplasm and membrane divide</a:t>
            </a:r>
            <a:endParaRPr lang="en-US" sz="1000" dirty="0"/>
          </a:p>
        </p:txBody>
      </p:sp>
      <p:sp>
        <p:nvSpPr>
          <p:cNvPr id="36" name="Text 34"/>
          <p:cNvSpPr/>
          <p:nvPr/>
        </p:nvSpPr>
        <p:spPr>
          <a:xfrm>
            <a:off x="548640" y="4956048"/>
            <a:ext cx="329184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Interphase = 23 of 24 hours (about 96%)</a:t>
            </a:r>
            <a:endParaRPr lang="en-US" sz="1050" dirty="0"/>
          </a:p>
        </p:txBody>
      </p:sp>
      <p:sp>
        <p:nvSpPr>
          <p:cNvPr id="37" name="Shape 35"/>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8" name="Text 3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Interphase and mitosis</a:t>
            </a:r>
            <a:endParaRPr lang="en-US" sz="1300" dirty="0"/>
          </a:p>
        </p:txBody>
      </p:sp>
      <p:sp>
        <p:nvSpPr>
          <p:cNvPr id="39" name="Text 3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cell cycle</a:t>
            </a:r>
            <a:r>
              <a:rPr lang="en-US" sz="1100" dirty="0">
                <a:solidFill>
                  <a:srgbClr val="262B3A"/>
                </a:solidFill>
                <a:latin typeface="Calibri" pitchFamily="34" charset="0"/>
                <a:ea typeface="Calibri" pitchFamily="34" charset="-122"/>
                <a:cs typeface="Calibri" pitchFamily="34" charset="-120"/>
              </a:rPr>
              <a:t> is how one cell becomes two. It repeats again and again in growing tissue.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Interphase</a:t>
            </a:r>
            <a:r>
              <a:rPr lang="en-US" sz="1100" dirty="0">
                <a:solidFill>
                  <a:srgbClr val="262B3A"/>
                </a:solidFill>
                <a:latin typeface="Calibri" pitchFamily="34" charset="0"/>
                <a:ea typeface="Calibri" pitchFamily="34" charset="-122"/>
                <a:cs typeface="Calibri" pitchFamily="34" charset="-120"/>
              </a:rPr>
              <a:t> is the longest stage. The cell </a:t>
            </a:r>
            <a:r>
              <a:rPr lang="en-US" sz="1100" b="1" dirty="0">
                <a:solidFill>
                  <a:srgbClr val="262B3A"/>
                </a:solidFill>
                <a:latin typeface="Calibri" pitchFamily="34" charset="0"/>
                <a:ea typeface="Calibri" pitchFamily="34" charset="-122"/>
                <a:cs typeface="Calibri" pitchFamily="34" charset="-120"/>
              </a:rPr>
              <a:t>grows</a:t>
            </a:r>
            <a:r>
              <a:rPr lang="en-US" sz="1100" dirty="0">
                <a:solidFill>
                  <a:srgbClr val="262B3A"/>
                </a:solidFill>
                <a:latin typeface="Calibri" pitchFamily="34" charset="0"/>
                <a:ea typeface="Calibri" pitchFamily="34" charset="-122"/>
                <a:cs typeface="Calibri" pitchFamily="34" charset="-120"/>
              </a:rPr>
              <a:t>, copies its </a:t>
            </a:r>
            <a:r>
              <a:rPr lang="en-US" sz="1100" b="1" dirty="0">
                <a:solidFill>
                  <a:srgbClr val="262B3A"/>
                </a:solidFill>
                <a:latin typeface="Calibri" pitchFamily="34" charset="0"/>
                <a:ea typeface="Calibri" pitchFamily="34" charset="-122"/>
                <a:cs typeface="Calibri" pitchFamily="34" charset="-120"/>
              </a:rPr>
              <a:t>organelles</a:t>
            </a:r>
            <a:r>
              <a:rPr lang="en-US" sz="1100" dirty="0">
                <a:solidFill>
                  <a:srgbClr val="262B3A"/>
                </a:solidFill>
                <a:latin typeface="Calibri" pitchFamily="34" charset="0"/>
                <a:ea typeface="Calibri" pitchFamily="34" charset="-122"/>
                <a:cs typeface="Calibri" pitchFamily="34" charset="-120"/>
              </a:rPr>
              <a:t> and makes proteins, and copies its </a:t>
            </a:r>
            <a:r>
              <a:rPr lang="en-US" sz="1100" b="1" dirty="0">
                <a:solidFill>
                  <a:srgbClr val="262B3A"/>
                </a:solidFill>
                <a:latin typeface="Calibri" pitchFamily="34" charset="0"/>
                <a:ea typeface="Calibri" pitchFamily="34" charset="-122"/>
                <a:cs typeface="Calibri" pitchFamily="34" charset="-120"/>
              </a:rPr>
              <a:t>DNA</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Mitosis</a:t>
            </a:r>
            <a:r>
              <a:rPr lang="en-US" sz="1100" dirty="0">
                <a:solidFill>
                  <a:srgbClr val="262B3A"/>
                </a:solidFill>
                <a:latin typeface="Calibri" pitchFamily="34" charset="0"/>
                <a:ea typeface="Calibri" pitchFamily="34" charset="-122"/>
                <a:cs typeface="Calibri" pitchFamily="34" charset="-120"/>
              </a:rPr>
              <a:t>: the copied chromosomes are separated and the nucleus divides into two.</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Cytokinesis</a:t>
            </a:r>
            <a:r>
              <a:rPr lang="en-US" sz="1100" dirty="0">
                <a:solidFill>
                  <a:srgbClr val="262B3A"/>
                </a:solidFill>
                <a:latin typeface="Calibri" pitchFamily="34" charset="0"/>
                <a:ea typeface="Calibri" pitchFamily="34" charset="-122"/>
                <a:cs typeface="Calibri" pitchFamily="34" charset="-120"/>
              </a:rPr>
              <a:t>: the cytoplasm and cell membrane divide, making </a:t>
            </a:r>
            <a:r>
              <a:rPr lang="en-US" sz="1100" b="1" dirty="0">
                <a:solidFill>
                  <a:srgbClr val="262B3A"/>
                </a:solidFill>
                <a:latin typeface="Calibri" pitchFamily="34" charset="0"/>
                <a:ea typeface="Calibri" pitchFamily="34" charset="-122"/>
                <a:cs typeface="Calibri" pitchFamily="34" charset="-120"/>
              </a:rPr>
              <a:t>two new cells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Cell division needs a lot of </a:t>
            </a:r>
            <a:r>
              <a:rPr lang="en-US" sz="1100" b="1" dirty="0">
                <a:solidFill>
                  <a:srgbClr val="262B3A"/>
                </a:solidFill>
                <a:latin typeface="Calibri" pitchFamily="34" charset="0"/>
                <a:ea typeface="Calibri" pitchFamily="34" charset="-122"/>
                <a:cs typeface="Calibri" pitchFamily="34" charset="-120"/>
              </a:rPr>
              <a:t>ATP</a:t>
            </a:r>
            <a:r>
              <a:rPr lang="en-US" sz="1100" dirty="0">
                <a:solidFill>
                  <a:srgbClr val="262B3A"/>
                </a:solidFill>
                <a:latin typeface="Calibri" pitchFamily="34" charset="0"/>
                <a:ea typeface="Calibri" pitchFamily="34" charset="-122"/>
                <a:cs typeface="Calibri" pitchFamily="34" charset="-120"/>
              </a:rPr>
              <a:t> from respiration (B4.1).</a:t>
            </a:r>
            <a:endParaRPr lang="en-US" sz="1100" dirty="0"/>
          </a:p>
        </p:txBody>
      </p:sp>
      <p:sp>
        <p:nvSpPr>
          <p:cNvPr id="40" name="Shape 3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1" name="Text 3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of the cycle</a:t>
            </a:r>
            <a:endParaRPr lang="en-US" sz="1300" dirty="0"/>
          </a:p>
        </p:txBody>
      </p:sp>
      <p:sp>
        <p:nvSpPr>
          <p:cNvPr id="42" name="Text 40"/>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cell cycle lasts 24 hours. Mitosis and cytokinesis take 1 hour. What percentage of the cycle is this?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Fraction   </a:t>
            </a:r>
            <a:r>
              <a:rPr lang="en-US" sz="1050" dirty="0">
                <a:solidFill>
                  <a:srgbClr val="262B3A"/>
                </a:solidFill>
                <a:latin typeface="Calibri" pitchFamily="34" charset="0"/>
                <a:ea typeface="Calibri" pitchFamily="34" charset="-122"/>
                <a:cs typeface="Calibri" pitchFamily="34" charset="-120"/>
              </a:rPr>
              <a:t>1 ÷ 24</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(1 ÷ 24)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 4.167 %</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about 4.2% of the cycle (2 s.f.)</a:t>
            </a:r>
            <a:endParaRPr lang="en-US" sz="1050" dirty="0"/>
          </a:p>
        </p:txBody>
      </p:sp>
      <p:sp>
        <p:nvSpPr>
          <p:cNvPr id="43" name="Shape 41"/>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2"/>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cell must </a:t>
            </a:r>
            <a:r>
              <a:rPr lang="en-US" sz="1150" b="1" dirty="0">
                <a:solidFill>
                  <a:srgbClr val="262B3A"/>
                </a:solidFill>
                <a:latin typeface="Calibri" pitchFamily="34" charset="0"/>
                <a:ea typeface="Calibri" pitchFamily="34" charset="-122"/>
                <a:cs typeface="Calibri" pitchFamily="34" charset="-120"/>
              </a:rPr>
              <a:t>copy its DNA</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grow</a:t>
            </a:r>
            <a:r>
              <a:rPr lang="en-US" sz="1150" dirty="0">
                <a:solidFill>
                  <a:srgbClr val="262B3A"/>
                </a:solidFill>
                <a:latin typeface="Calibri" pitchFamily="34" charset="0"/>
                <a:ea typeface="Calibri" pitchFamily="34" charset="-122"/>
                <a:cs typeface="Calibri" pitchFamily="34" charset="-120"/>
              </a:rPr>
              <a:t> before it divides.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stages of mitosis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a cell with 2 pairs of chromosomes (2n = 4); each colour is one chromosome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B4.3.1  |  9</a:t>
            </a:r>
            <a:endParaRPr lang="en-US" sz="1000" dirty="0"/>
          </a:p>
        </p:txBody>
      </p:sp>
      <p:sp>
        <p:nvSpPr>
          <p:cNvPr id="8" name="Shape 6"/>
          <p:cNvSpPr/>
          <p:nvPr/>
        </p:nvSpPr>
        <p:spPr>
          <a:xfrm>
            <a:off x="411480" y="1188720"/>
            <a:ext cx="2185416" cy="2971800"/>
          </a:xfrm>
          <a:prstGeom prst="roundRect">
            <a:avLst>
              <a:gd name="adj" fmla="val 2510"/>
            </a:avLst>
          </a:prstGeom>
          <a:solidFill>
            <a:srgbClr val="F4F6F8"/>
          </a:solidFill>
          <a:ln w="9525">
            <a:solidFill>
              <a:srgbClr val="D2E3E1"/>
            </a:solidFill>
            <a:prstDash val="solid"/>
          </a:ln>
        </p:spPr>
      </p:sp>
      <p:sp>
        <p:nvSpPr>
          <p:cNvPr id="9" name="Text 7"/>
          <p:cNvSpPr/>
          <p:nvPr/>
        </p:nvSpPr>
        <p:spPr>
          <a:xfrm>
            <a:off x="484632" y="1243584"/>
            <a:ext cx="2039112" cy="274320"/>
          </a:xfrm>
          <a:prstGeom prst="rect">
            <a:avLst/>
          </a:prstGeom>
          <a:noFill/>
          <a:ln/>
        </p:spPr>
        <p:txBody>
          <a:bodyPr wrap="square" lIns="0" tIns="0" rIns="0" bIns="0" rtlCol="0" anchor="ctr"/>
          <a:lstStyle/>
          <a:p>
            <a:pPr algn="ctr" indent="0" marL="0">
              <a:buNone/>
            </a:pPr>
            <a:r>
              <a:rPr lang="en-US" sz="1150" b="1" dirty="0">
                <a:solidFill>
                  <a:srgbClr val="6B7385"/>
                </a:solidFill>
                <a:latin typeface="Calibri" pitchFamily="34" charset="0"/>
                <a:ea typeface="Calibri" pitchFamily="34" charset="-122"/>
                <a:cs typeface="Calibri" pitchFamily="34" charset="-120"/>
              </a:rPr>
              <a:t>Before: interphase</a:t>
            </a:r>
            <a:endParaRPr lang="en-US" sz="1150" dirty="0"/>
          </a:p>
        </p:txBody>
      </p:sp>
      <p:sp>
        <p:nvSpPr>
          <p:cNvPr id="10" name="Shape 8"/>
          <p:cNvSpPr/>
          <p:nvPr/>
        </p:nvSpPr>
        <p:spPr>
          <a:xfrm>
            <a:off x="635508" y="1668780"/>
            <a:ext cx="1737360" cy="1325880"/>
          </a:xfrm>
          <a:prstGeom prst="ellipse">
            <a:avLst/>
          </a:prstGeom>
          <a:solidFill>
            <a:srgbClr val="FBF3DF"/>
          </a:solidFill>
          <a:ln w="19050">
            <a:solidFill>
              <a:srgbClr val="8A6D3B"/>
            </a:solidFill>
            <a:prstDash val="solid"/>
          </a:ln>
        </p:spPr>
      </p:sp>
      <p:sp>
        <p:nvSpPr>
          <p:cNvPr id="11" name="Shape 9"/>
          <p:cNvSpPr/>
          <p:nvPr/>
        </p:nvSpPr>
        <p:spPr>
          <a:xfrm>
            <a:off x="1083564" y="1911096"/>
            <a:ext cx="841248" cy="841248"/>
          </a:xfrm>
          <a:prstGeom prst="ellipse">
            <a:avLst/>
          </a:prstGeom>
          <a:solidFill>
            <a:srgbClr val="E7DDF3"/>
          </a:solidFill>
          <a:ln w="15875">
            <a:solidFill>
              <a:srgbClr val="6A4C93"/>
            </a:solidFill>
            <a:prstDash val="solid"/>
          </a:ln>
        </p:spPr>
      </p:sp>
      <p:sp>
        <p:nvSpPr>
          <p:cNvPr id="12" name="Shape 10"/>
          <p:cNvSpPr/>
          <p:nvPr/>
        </p:nvSpPr>
        <p:spPr>
          <a:xfrm>
            <a:off x="1220724" y="2121408"/>
            <a:ext cx="80990" cy="73152"/>
          </a:xfrm>
          <a:prstGeom prst="line">
            <a:avLst/>
          </a:prstGeom>
          <a:noFill/>
          <a:ln w="15875">
            <a:solidFill>
              <a:srgbClr val="8E2A33"/>
            </a:solidFill>
            <a:prstDash val="solid"/>
          </a:ln>
        </p:spPr>
      </p:sp>
      <p:sp>
        <p:nvSpPr>
          <p:cNvPr id="13" name="Shape 11"/>
          <p:cNvSpPr/>
          <p:nvPr/>
        </p:nvSpPr>
        <p:spPr>
          <a:xfrm flipV="1">
            <a:off x="1301714" y="2121408"/>
            <a:ext cx="80990" cy="73152"/>
          </a:xfrm>
          <a:prstGeom prst="line">
            <a:avLst/>
          </a:prstGeom>
          <a:noFill/>
          <a:ln w="15875">
            <a:solidFill>
              <a:srgbClr val="8E2A33"/>
            </a:solidFill>
            <a:prstDash val="solid"/>
          </a:ln>
        </p:spPr>
      </p:sp>
      <p:sp>
        <p:nvSpPr>
          <p:cNvPr id="14" name="Shape 12"/>
          <p:cNvSpPr/>
          <p:nvPr/>
        </p:nvSpPr>
        <p:spPr>
          <a:xfrm>
            <a:off x="1382703" y="2121408"/>
            <a:ext cx="80990" cy="73152"/>
          </a:xfrm>
          <a:prstGeom prst="line">
            <a:avLst/>
          </a:prstGeom>
          <a:noFill/>
          <a:ln w="15875">
            <a:solidFill>
              <a:srgbClr val="8E2A33"/>
            </a:solidFill>
            <a:prstDash val="solid"/>
          </a:ln>
        </p:spPr>
      </p:sp>
      <p:sp>
        <p:nvSpPr>
          <p:cNvPr id="15" name="Shape 13"/>
          <p:cNvSpPr/>
          <p:nvPr/>
        </p:nvSpPr>
        <p:spPr>
          <a:xfrm flipV="1">
            <a:off x="1463693" y="2121408"/>
            <a:ext cx="80990" cy="73152"/>
          </a:xfrm>
          <a:prstGeom prst="line">
            <a:avLst/>
          </a:prstGeom>
          <a:noFill/>
          <a:ln w="15875">
            <a:solidFill>
              <a:srgbClr val="8E2A33"/>
            </a:solidFill>
            <a:prstDash val="solid"/>
          </a:ln>
        </p:spPr>
      </p:sp>
      <p:sp>
        <p:nvSpPr>
          <p:cNvPr id="16" name="Shape 14"/>
          <p:cNvSpPr/>
          <p:nvPr/>
        </p:nvSpPr>
        <p:spPr>
          <a:xfrm>
            <a:off x="1544683" y="2121408"/>
            <a:ext cx="80990" cy="73152"/>
          </a:xfrm>
          <a:prstGeom prst="line">
            <a:avLst/>
          </a:prstGeom>
          <a:noFill/>
          <a:ln w="15875">
            <a:solidFill>
              <a:srgbClr val="8E2A33"/>
            </a:solidFill>
            <a:prstDash val="solid"/>
          </a:ln>
        </p:spPr>
      </p:sp>
      <p:sp>
        <p:nvSpPr>
          <p:cNvPr id="17" name="Shape 15"/>
          <p:cNvSpPr/>
          <p:nvPr/>
        </p:nvSpPr>
        <p:spPr>
          <a:xfrm flipV="1">
            <a:off x="1625673" y="2121408"/>
            <a:ext cx="80990" cy="73152"/>
          </a:xfrm>
          <a:prstGeom prst="line">
            <a:avLst/>
          </a:prstGeom>
          <a:noFill/>
          <a:ln w="15875">
            <a:solidFill>
              <a:srgbClr val="8E2A33"/>
            </a:solidFill>
            <a:prstDash val="solid"/>
          </a:ln>
        </p:spPr>
      </p:sp>
      <p:sp>
        <p:nvSpPr>
          <p:cNvPr id="18" name="Shape 16"/>
          <p:cNvSpPr/>
          <p:nvPr/>
        </p:nvSpPr>
        <p:spPr>
          <a:xfrm>
            <a:off x="1706662" y="2121408"/>
            <a:ext cx="80990" cy="73152"/>
          </a:xfrm>
          <a:prstGeom prst="line">
            <a:avLst/>
          </a:prstGeom>
          <a:noFill/>
          <a:ln w="15875">
            <a:solidFill>
              <a:srgbClr val="8E2A33"/>
            </a:solidFill>
            <a:prstDash val="solid"/>
          </a:ln>
        </p:spPr>
      </p:sp>
      <p:sp>
        <p:nvSpPr>
          <p:cNvPr id="19" name="Shape 17"/>
          <p:cNvSpPr/>
          <p:nvPr/>
        </p:nvSpPr>
        <p:spPr>
          <a:xfrm>
            <a:off x="1220724" y="2240280"/>
            <a:ext cx="80990" cy="73152"/>
          </a:xfrm>
          <a:prstGeom prst="line">
            <a:avLst/>
          </a:prstGeom>
          <a:noFill/>
          <a:ln w="15875">
            <a:solidFill>
              <a:srgbClr val="1F4E8C"/>
            </a:solidFill>
            <a:prstDash val="solid"/>
          </a:ln>
        </p:spPr>
      </p:sp>
      <p:sp>
        <p:nvSpPr>
          <p:cNvPr id="20" name="Shape 18"/>
          <p:cNvSpPr/>
          <p:nvPr/>
        </p:nvSpPr>
        <p:spPr>
          <a:xfrm flipV="1">
            <a:off x="1301714" y="2240280"/>
            <a:ext cx="80990" cy="73152"/>
          </a:xfrm>
          <a:prstGeom prst="line">
            <a:avLst/>
          </a:prstGeom>
          <a:noFill/>
          <a:ln w="15875">
            <a:solidFill>
              <a:srgbClr val="1F4E8C"/>
            </a:solidFill>
            <a:prstDash val="solid"/>
          </a:ln>
        </p:spPr>
      </p:sp>
      <p:sp>
        <p:nvSpPr>
          <p:cNvPr id="21" name="Shape 19"/>
          <p:cNvSpPr/>
          <p:nvPr/>
        </p:nvSpPr>
        <p:spPr>
          <a:xfrm>
            <a:off x="1382703" y="2240280"/>
            <a:ext cx="80990" cy="73152"/>
          </a:xfrm>
          <a:prstGeom prst="line">
            <a:avLst/>
          </a:prstGeom>
          <a:noFill/>
          <a:ln w="15875">
            <a:solidFill>
              <a:srgbClr val="1F4E8C"/>
            </a:solidFill>
            <a:prstDash val="solid"/>
          </a:ln>
        </p:spPr>
      </p:sp>
      <p:sp>
        <p:nvSpPr>
          <p:cNvPr id="22" name="Shape 20"/>
          <p:cNvSpPr/>
          <p:nvPr/>
        </p:nvSpPr>
        <p:spPr>
          <a:xfrm flipV="1">
            <a:off x="1463693" y="2240280"/>
            <a:ext cx="80990" cy="73152"/>
          </a:xfrm>
          <a:prstGeom prst="line">
            <a:avLst/>
          </a:prstGeom>
          <a:noFill/>
          <a:ln w="15875">
            <a:solidFill>
              <a:srgbClr val="1F4E8C"/>
            </a:solidFill>
            <a:prstDash val="solid"/>
          </a:ln>
        </p:spPr>
      </p:sp>
      <p:sp>
        <p:nvSpPr>
          <p:cNvPr id="23" name="Shape 21"/>
          <p:cNvSpPr/>
          <p:nvPr/>
        </p:nvSpPr>
        <p:spPr>
          <a:xfrm>
            <a:off x="1544683" y="2240280"/>
            <a:ext cx="80990" cy="73152"/>
          </a:xfrm>
          <a:prstGeom prst="line">
            <a:avLst/>
          </a:prstGeom>
          <a:noFill/>
          <a:ln w="15875">
            <a:solidFill>
              <a:srgbClr val="1F4E8C"/>
            </a:solidFill>
            <a:prstDash val="solid"/>
          </a:ln>
        </p:spPr>
      </p:sp>
      <p:sp>
        <p:nvSpPr>
          <p:cNvPr id="24" name="Shape 22"/>
          <p:cNvSpPr/>
          <p:nvPr/>
        </p:nvSpPr>
        <p:spPr>
          <a:xfrm flipV="1">
            <a:off x="1625673" y="2240280"/>
            <a:ext cx="80990" cy="73152"/>
          </a:xfrm>
          <a:prstGeom prst="line">
            <a:avLst/>
          </a:prstGeom>
          <a:noFill/>
          <a:ln w="15875">
            <a:solidFill>
              <a:srgbClr val="1F4E8C"/>
            </a:solidFill>
            <a:prstDash val="solid"/>
          </a:ln>
        </p:spPr>
      </p:sp>
      <p:sp>
        <p:nvSpPr>
          <p:cNvPr id="25" name="Shape 23"/>
          <p:cNvSpPr/>
          <p:nvPr/>
        </p:nvSpPr>
        <p:spPr>
          <a:xfrm>
            <a:off x="1706662" y="2240280"/>
            <a:ext cx="80990" cy="73152"/>
          </a:xfrm>
          <a:prstGeom prst="line">
            <a:avLst/>
          </a:prstGeom>
          <a:noFill/>
          <a:ln w="15875">
            <a:solidFill>
              <a:srgbClr val="1F4E8C"/>
            </a:solidFill>
            <a:prstDash val="solid"/>
          </a:ln>
        </p:spPr>
      </p:sp>
      <p:sp>
        <p:nvSpPr>
          <p:cNvPr id="26" name="Shape 24"/>
          <p:cNvSpPr/>
          <p:nvPr/>
        </p:nvSpPr>
        <p:spPr>
          <a:xfrm>
            <a:off x="1220724" y="2359152"/>
            <a:ext cx="80990" cy="73152"/>
          </a:xfrm>
          <a:prstGeom prst="line">
            <a:avLst/>
          </a:prstGeom>
          <a:noFill/>
          <a:ln w="15875">
            <a:solidFill>
              <a:srgbClr val="B5545C"/>
            </a:solidFill>
            <a:prstDash val="solid"/>
          </a:ln>
        </p:spPr>
      </p:sp>
      <p:sp>
        <p:nvSpPr>
          <p:cNvPr id="27" name="Shape 25"/>
          <p:cNvSpPr/>
          <p:nvPr/>
        </p:nvSpPr>
        <p:spPr>
          <a:xfrm flipV="1">
            <a:off x="1301714" y="2359152"/>
            <a:ext cx="80990" cy="73152"/>
          </a:xfrm>
          <a:prstGeom prst="line">
            <a:avLst/>
          </a:prstGeom>
          <a:noFill/>
          <a:ln w="15875">
            <a:solidFill>
              <a:srgbClr val="B5545C"/>
            </a:solidFill>
            <a:prstDash val="solid"/>
          </a:ln>
        </p:spPr>
      </p:sp>
      <p:sp>
        <p:nvSpPr>
          <p:cNvPr id="28" name="Shape 26"/>
          <p:cNvSpPr/>
          <p:nvPr/>
        </p:nvSpPr>
        <p:spPr>
          <a:xfrm>
            <a:off x="1382703" y="2359152"/>
            <a:ext cx="80990" cy="73152"/>
          </a:xfrm>
          <a:prstGeom prst="line">
            <a:avLst/>
          </a:prstGeom>
          <a:noFill/>
          <a:ln w="15875">
            <a:solidFill>
              <a:srgbClr val="B5545C"/>
            </a:solidFill>
            <a:prstDash val="solid"/>
          </a:ln>
        </p:spPr>
      </p:sp>
      <p:sp>
        <p:nvSpPr>
          <p:cNvPr id="29" name="Shape 27"/>
          <p:cNvSpPr/>
          <p:nvPr/>
        </p:nvSpPr>
        <p:spPr>
          <a:xfrm flipV="1">
            <a:off x="1463693" y="2359152"/>
            <a:ext cx="80990" cy="73152"/>
          </a:xfrm>
          <a:prstGeom prst="line">
            <a:avLst/>
          </a:prstGeom>
          <a:noFill/>
          <a:ln w="15875">
            <a:solidFill>
              <a:srgbClr val="B5545C"/>
            </a:solidFill>
            <a:prstDash val="solid"/>
          </a:ln>
        </p:spPr>
      </p:sp>
      <p:sp>
        <p:nvSpPr>
          <p:cNvPr id="30" name="Shape 28"/>
          <p:cNvSpPr/>
          <p:nvPr/>
        </p:nvSpPr>
        <p:spPr>
          <a:xfrm>
            <a:off x="1544683" y="2359152"/>
            <a:ext cx="80990" cy="73152"/>
          </a:xfrm>
          <a:prstGeom prst="line">
            <a:avLst/>
          </a:prstGeom>
          <a:noFill/>
          <a:ln w="15875">
            <a:solidFill>
              <a:srgbClr val="B5545C"/>
            </a:solidFill>
            <a:prstDash val="solid"/>
          </a:ln>
        </p:spPr>
      </p:sp>
      <p:sp>
        <p:nvSpPr>
          <p:cNvPr id="31" name="Shape 29"/>
          <p:cNvSpPr/>
          <p:nvPr/>
        </p:nvSpPr>
        <p:spPr>
          <a:xfrm flipV="1">
            <a:off x="1625673" y="2359152"/>
            <a:ext cx="80990" cy="73152"/>
          </a:xfrm>
          <a:prstGeom prst="line">
            <a:avLst/>
          </a:prstGeom>
          <a:noFill/>
          <a:ln w="15875">
            <a:solidFill>
              <a:srgbClr val="B5545C"/>
            </a:solidFill>
            <a:prstDash val="solid"/>
          </a:ln>
        </p:spPr>
      </p:sp>
      <p:sp>
        <p:nvSpPr>
          <p:cNvPr id="32" name="Shape 30"/>
          <p:cNvSpPr/>
          <p:nvPr/>
        </p:nvSpPr>
        <p:spPr>
          <a:xfrm>
            <a:off x="1706662" y="2359152"/>
            <a:ext cx="80990" cy="73152"/>
          </a:xfrm>
          <a:prstGeom prst="line">
            <a:avLst/>
          </a:prstGeom>
          <a:noFill/>
          <a:ln w="15875">
            <a:solidFill>
              <a:srgbClr val="B5545C"/>
            </a:solidFill>
            <a:prstDash val="solid"/>
          </a:ln>
        </p:spPr>
      </p:sp>
      <p:sp>
        <p:nvSpPr>
          <p:cNvPr id="33" name="Shape 31"/>
          <p:cNvSpPr/>
          <p:nvPr/>
        </p:nvSpPr>
        <p:spPr>
          <a:xfrm>
            <a:off x="1220724" y="2478024"/>
            <a:ext cx="80990" cy="73152"/>
          </a:xfrm>
          <a:prstGeom prst="line">
            <a:avLst/>
          </a:prstGeom>
          <a:noFill/>
          <a:ln w="15875">
            <a:solidFill>
              <a:srgbClr val="4F7FB8"/>
            </a:solidFill>
            <a:prstDash val="solid"/>
          </a:ln>
        </p:spPr>
      </p:sp>
      <p:sp>
        <p:nvSpPr>
          <p:cNvPr id="34" name="Shape 32"/>
          <p:cNvSpPr/>
          <p:nvPr/>
        </p:nvSpPr>
        <p:spPr>
          <a:xfrm flipV="1">
            <a:off x="1301714" y="2478024"/>
            <a:ext cx="80990" cy="73152"/>
          </a:xfrm>
          <a:prstGeom prst="line">
            <a:avLst/>
          </a:prstGeom>
          <a:noFill/>
          <a:ln w="15875">
            <a:solidFill>
              <a:srgbClr val="4F7FB8"/>
            </a:solidFill>
            <a:prstDash val="solid"/>
          </a:ln>
        </p:spPr>
      </p:sp>
      <p:sp>
        <p:nvSpPr>
          <p:cNvPr id="35" name="Shape 33"/>
          <p:cNvSpPr/>
          <p:nvPr/>
        </p:nvSpPr>
        <p:spPr>
          <a:xfrm>
            <a:off x="1382703" y="2478024"/>
            <a:ext cx="80990" cy="73152"/>
          </a:xfrm>
          <a:prstGeom prst="line">
            <a:avLst/>
          </a:prstGeom>
          <a:noFill/>
          <a:ln w="15875">
            <a:solidFill>
              <a:srgbClr val="4F7FB8"/>
            </a:solidFill>
            <a:prstDash val="solid"/>
          </a:ln>
        </p:spPr>
      </p:sp>
      <p:sp>
        <p:nvSpPr>
          <p:cNvPr id="36" name="Shape 34"/>
          <p:cNvSpPr/>
          <p:nvPr/>
        </p:nvSpPr>
        <p:spPr>
          <a:xfrm flipV="1">
            <a:off x="1463693" y="2478024"/>
            <a:ext cx="80990" cy="73152"/>
          </a:xfrm>
          <a:prstGeom prst="line">
            <a:avLst/>
          </a:prstGeom>
          <a:noFill/>
          <a:ln w="15875">
            <a:solidFill>
              <a:srgbClr val="4F7FB8"/>
            </a:solidFill>
            <a:prstDash val="solid"/>
          </a:ln>
        </p:spPr>
      </p:sp>
      <p:sp>
        <p:nvSpPr>
          <p:cNvPr id="37" name="Shape 35"/>
          <p:cNvSpPr/>
          <p:nvPr/>
        </p:nvSpPr>
        <p:spPr>
          <a:xfrm>
            <a:off x="1544683" y="2478024"/>
            <a:ext cx="80990" cy="73152"/>
          </a:xfrm>
          <a:prstGeom prst="line">
            <a:avLst/>
          </a:prstGeom>
          <a:noFill/>
          <a:ln w="15875">
            <a:solidFill>
              <a:srgbClr val="4F7FB8"/>
            </a:solidFill>
            <a:prstDash val="solid"/>
          </a:ln>
        </p:spPr>
      </p:sp>
      <p:sp>
        <p:nvSpPr>
          <p:cNvPr id="38" name="Shape 36"/>
          <p:cNvSpPr/>
          <p:nvPr/>
        </p:nvSpPr>
        <p:spPr>
          <a:xfrm flipV="1">
            <a:off x="1625673" y="2478024"/>
            <a:ext cx="80990" cy="73152"/>
          </a:xfrm>
          <a:prstGeom prst="line">
            <a:avLst/>
          </a:prstGeom>
          <a:noFill/>
          <a:ln w="15875">
            <a:solidFill>
              <a:srgbClr val="4F7FB8"/>
            </a:solidFill>
            <a:prstDash val="solid"/>
          </a:ln>
        </p:spPr>
      </p:sp>
      <p:sp>
        <p:nvSpPr>
          <p:cNvPr id="39" name="Shape 37"/>
          <p:cNvSpPr/>
          <p:nvPr/>
        </p:nvSpPr>
        <p:spPr>
          <a:xfrm>
            <a:off x="1706662" y="2478024"/>
            <a:ext cx="80990" cy="73152"/>
          </a:xfrm>
          <a:prstGeom prst="line">
            <a:avLst/>
          </a:prstGeom>
          <a:noFill/>
          <a:ln w="15875">
            <a:solidFill>
              <a:srgbClr val="4F7FB8"/>
            </a:solidFill>
            <a:prstDash val="solid"/>
          </a:ln>
        </p:spPr>
      </p:sp>
      <p:sp>
        <p:nvSpPr>
          <p:cNvPr id="40" name="Text 38"/>
          <p:cNvSpPr/>
          <p:nvPr/>
        </p:nvSpPr>
        <p:spPr>
          <a:xfrm>
            <a:off x="502920" y="3090672"/>
            <a:ext cx="2002536" cy="7772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DNA has been copied. Chromosomes are long, thin threads, not visible.</a:t>
            </a:r>
            <a:endParaRPr lang="en-US" sz="1050" dirty="0"/>
          </a:p>
        </p:txBody>
      </p:sp>
      <p:sp>
        <p:nvSpPr>
          <p:cNvPr id="41" name="Text 39"/>
          <p:cNvSpPr/>
          <p:nvPr/>
        </p:nvSpPr>
        <p:spPr>
          <a:xfrm>
            <a:off x="502920" y="3858768"/>
            <a:ext cx="2002536"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(interphase)</a:t>
            </a:r>
            <a:endParaRPr lang="en-US" sz="1000" dirty="0"/>
          </a:p>
        </p:txBody>
      </p:sp>
      <p:sp>
        <p:nvSpPr>
          <p:cNvPr id="42" name="Shape 40"/>
          <p:cNvSpPr/>
          <p:nvPr/>
        </p:nvSpPr>
        <p:spPr>
          <a:xfrm>
            <a:off x="2578608" y="2331720"/>
            <a:ext cx="146304" cy="91"/>
          </a:xfrm>
          <a:prstGeom prst="line">
            <a:avLst/>
          </a:prstGeom>
          <a:noFill/>
          <a:ln w="19050">
            <a:solidFill>
              <a:srgbClr val="133536"/>
            </a:solidFill>
            <a:prstDash val="solid"/>
            <a:tailEnd type="triangle"/>
          </a:ln>
        </p:spPr>
      </p:sp>
      <p:sp>
        <p:nvSpPr>
          <p:cNvPr id="43" name="Shape 41"/>
          <p:cNvSpPr/>
          <p:nvPr/>
        </p:nvSpPr>
        <p:spPr>
          <a:xfrm>
            <a:off x="2706624" y="1188720"/>
            <a:ext cx="2185416" cy="2971800"/>
          </a:xfrm>
          <a:prstGeom prst="roundRect">
            <a:avLst>
              <a:gd name="adj" fmla="val 2510"/>
            </a:avLst>
          </a:prstGeom>
          <a:solidFill>
            <a:srgbClr val="EEF5F4"/>
          </a:solidFill>
          <a:ln w="9525">
            <a:solidFill>
              <a:srgbClr val="D2E3E1"/>
            </a:solidFill>
            <a:prstDash val="solid"/>
          </a:ln>
        </p:spPr>
      </p:sp>
      <p:sp>
        <p:nvSpPr>
          <p:cNvPr id="44" name="Text 42"/>
          <p:cNvSpPr/>
          <p:nvPr/>
        </p:nvSpPr>
        <p:spPr>
          <a:xfrm>
            <a:off x="2779776" y="1243584"/>
            <a:ext cx="2039112" cy="274320"/>
          </a:xfrm>
          <a:prstGeom prst="rect">
            <a:avLst/>
          </a:prstGeom>
          <a:noFill/>
          <a:ln/>
        </p:spPr>
        <p:txBody>
          <a:bodyPr wrap="square" lIns="0" tIns="0" rIns="0" bIns="0" rtlCol="0" anchor="ctr"/>
          <a:lstStyle/>
          <a:p>
            <a:pPr algn="ctr" indent="0" marL="0">
              <a:buNone/>
            </a:pPr>
            <a:r>
              <a:rPr lang="en-US" sz="1150" b="1" dirty="0">
                <a:solidFill>
                  <a:srgbClr val="133536"/>
                </a:solidFill>
                <a:latin typeface="Calibri" pitchFamily="34" charset="0"/>
                <a:ea typeface="Calibri" pitchFamily="34" charset="-122"/>
                <a:cs typeface="Calibri" pitchFamily="34" charset="-120"/>
              </a:rPr>
              <a:t>1  Chromosomes condense</a:t>
            </a:r>
            <a:endParaRPr lang="en-US" sz="1150" dirty="0"/>
          </a:p>
        </p:txBody>
      </p:sp>
      <p:sp>
        <p:nvSpPr>
          <p:cNvPr id="45" name="Shape 43"/>
          <p:cNvSpPr/>
          <p:nvPr/>
        </p:nvSpPr>
        <p:spPr>
          <a:xfrm>
            <a:off x="2930652" y="1668780"/>
            <a:ext cx="1737360" cy="1325880"/>
          </a:xfrm>
          <a:prstGeom prst="ellipse">
            <a:avLst/>
          </a:prstGeom>
          <a:solidFill>
            <a:srgbClr val="FBF3DF"/>
          </a:solidFill>
          <a:ln w="19050">
            <a:solidFill>
              <a:srgbClr val="8A6D3B"/>
            </a:solidFill>
            <a:prstDash val="solid"/>
          </a:ln>
        </p:spPr>
      </p:sp>
      <p:sp>
        <p:nvSpPr>
          <p:cNvPr id="46" name="Shape 44"/>
          <p:cNvSpPr/>
          <p:nvPr/>
        </p:nvSpPr>
        <p:spPr>
          <a:xfrm>
            <a:off x="3323844" y="1856232"/>
            <a:ext cx="950976" cy="950976"/>
          </a:xfrm>
          <a:prstGeom prst="ellipse">
            <a:avLst/>
          </a:prstGeom>
          <a:solidFill>
            <a:srgbClr val="E7DDF3"/>
          </a:solidFill>
          <a:ln w="15875">
            <a:solidFill>
              <a:srgbClr val="6A4C93"/>
            </a:solidFill>
            <a:prstDash val="dash"/>
          </a:ln>
        </p:spPr>
      </p:sp>
      <p:sp>
        <p:nvSpPr>
          <p:cNvPr id="47" name="Shape 45"/>
          <p:cNvSpPr/>
          <p:nvPr/>
        </p:nvSpPr>
        <p:spPr>
          <a:xfrm rot="1800000">
            <a:off x="3562888" y="2024024"/>
            <a:ext cx="54864" cy="274320"/>
          </a:xfrm>
          <a:prstGeom prst="roundRect">
            <a:avLst>
              <a:gd name="adj" fmla="val 50000"/>
            </a:avLst>
          </a:prstGeom>
          <a:solidFill>
            <a:srgbClr val="D9534F"/>
          </a:solidFill>
          <a:ln w="9525">
            <a:solidFill>
              <a:srgbClr val="8E2A33"/>
            </a:solidFill>
            <a:prstDash val="solid"/>
          </a:ln>
        </p:spPr>
      </p:sp>
      <p:sp>
        <p:nvSpPr>
          <p:cNvPr id="48" name="Shape 46"/>
          <p:cNvSpPr/>
          <p:nvPr/>
        </p:nvSpPr>
        <p:spPr>
          <a:xfrm rot="1800000">
            <a:off x="3615152" y="2054200"/>
            <a:ext cx="54864" cy="274320"/>
          </a:xfrm>
          <a:prstGeom prst="roundRect">
            <a:avLst>
              <a:gd name="adj" fmla="val 50000"/>
            </a:avLst>
          </a:prstGeom>
          <a:solidFill>
            <a:srgbClr val="D9534F"/>
          </a:solidFill>
          <a:ln w="9525">
            <a:solidFill>
              <a:srgbClr val="8E2A33"/>
            </a:solidFill>
            <a:prstDash val="solid"/>
          </a:ln>
        </p:spPr>
      </p:sp>
      <p:sp>
        <p:nvSpPr>
          <p:cNvPr id="49" name="Shape 47"/>
          <p:cNvSpPr/>
          <p:nvPr/>
        </p:nvSpPr>
        <p:spPr>
          <a:xfrm rot="1800000">
            <a:off x="3553358" y="2154326"/>
            <a:ext cx="126187" cy="43891"/>
          </a:xfrm>
          <a:prstGeom prst="ellipse">
            <a:avLst/>
          </a:prstGeom>
          <a:solidFill>
            <a:srgbClr val="8E2A33"/>
          </a:solidFill>
          <a:ln/>
        </p:spPr>
      </p:sp>
      <p:sp>
        <p:nvSpPr>
          <p:cNvPr id="50" name="Shape 48"/>
          <p:cNvSpPr/>
          <p:nvPr/>
        </p:nvSpPr>
        <p:spPr>
          <a:xfrm rot="-1500000">
            <a:off x="3927432" y="2079297"/>
            <a:ext cx="54864" cy="274320"/>
          </a:xfrm>
          <a:prstGeom prst="roundRect">
            <a:avLst>
              <a:gd name="adj" fmla="val 50000"/>
            </a:avLst>
          </a:prstGeom>
          <a:solidFill>
            <a:srgbClr val="3B7DD8"/>
          </a:solidFill>
          <a:ln w="9525">
            <a:solidFill>
              <a:srgbClr val="1F4E8C"/>
            </a:solidFill>
            <a:prstDash val="solid"/>
          </a:ln>
        </p:spPr>
      </p:sp>
      <p:sp>
        <p:nvSpPr>
          <p:cNvPr id="51" name="Shape 49"/>
          <p:cNvSpPr/>
          <p:nvPr/>
        </p:nvSpPr>
        <p:spPr>
          <a:xfrm rot="-1500000">
            <a:off x="3982128" y="2053791"/>
            <a:ext cx="54864" cy="274320"/>
          </a:xfrm>
          <a:prstGeom prst="roundRect">
            <a:avLst>
              <a:gd name="adj" fmla="val 50000"/>
            </a:avLst>
          </a:prstGeom>
          <a:solidFill>
            <a:srgbClr val="3B7DD8"/>
          </a:solidFill>
          <a:ln w="9525">
            <a:solidFill>
              <a:srgbClr val="1F4E8C"/>
            </a:solidFill>
            <a:prstDash val="solid"/>
          </a:ln>
        </p:spPr>
      </p:sp>
      <p:sp>
        <p:nvSpPr>
          <p:cNvPr id="52" name="Shape 50"/>
          <p:cNvSpPr/>
          <p:nvPr/>
        </p:nvSpPr>
        <p:spPr>
          <a:xfrm rot="-1500000">
            <a:off x="3919118" y="2181758"/>
            <a:ext cx="126187" cy="43891"/>
          </a:xfrm>
          <a:prstGeom prst="ellipse">
            <a:avLst/>
          </a:prstGeom>
          <a:solidFill>
            <a:srgbClr val="1F4E8C"/>
          </a:solidFill>
          <a:ln/>
        </p:spPr>
      </p:sp>
      <p:sp>
        <p:nvSpPr>
          <p:cNvPr id="53" name="Shape 51"/>
          <p:cNvSpPr/>
          <p:nvPr/>
        </p:nvSpPr>
        <p:spPr>
          <a:xfrm rot="4200000">
            <a:off x="3624419" y="2417665"/>
            <a:ext cx="54864" cy="173736"/>
          </a:xfrm>
          <a:prstGeom prst="roundRect">
            <a:avLst>
              <a:gd name="adj" fmla="val 50000"/>
            </a:avLst>
          </a:prstGeom>
          <a:solidFill>
            <a:srgbClr val="F2A0A6"/>
          </a:solidFill>
          <a:ln w="9525">
            <a:solidFill>
              <a:srgbClr val="B5545C"/>
            </a:solidFill>
            <a:prstDash val="solid"/>
          </a:ln>
        </p:spPr>
      </p:sp>
      <p:sp>
        <p:nvSpPr>
          <p:cNvPr id="54" name="Shape 52"/>
          <p:cNvSpPr/>
          <p:nvPr/>
        </p:nvSpPr>
        <p:spPr>
          <a:xfrm rot="4200000">
            <a:off x="3645061" y="2474375"/>
            <a:ext cx="54864" cy="173736"/>
          </a:xfrm>
          <a:prstGeom prst="roundRect">
            <a:avLst>
              <a:gd name="adj" fmla="val 50000"/>
            </a:avLst>
          </a:prstGeom>
          <a:solidFill>
            <a:srgbClr val="F2A0A6"/>
          </a:solidFill>
          <a:ln w="9525">
            <a:solidFill>
              <a:srgbClr val="B5545C"/>
            </a:solidFill>
            <a:prstDash val="solid"/>
          </a:ln>
        </p:spPr>
      </p:sp>
      <p:sp>
        <p:nvSpPr>
          <p:cNvPr id="55" name="Shape 53"/>
          <p:cNvSpPr/>
          <p:nvPr/>
        </p:nvSpPr>
        <p:spPr>
          <a:xfrm rot="4200000">
            <a:off x="3599078" y="2510942"/>
            <a:ext cx="126187" cy="43891"/>
          </a:xfrm>
          <a:prstGeom prst="ellipse">
            <a:avLst/>
          </a:prstGeom>
          <a:solidFill>
            <a:srgbClr val="B5545C"/>
          </a:solidFill>
          <a:ln/>
        </p:spPr>
      </p:sp>
      <p:sp>
        <p:nvSpPr>
          <p:cNvPr id="56" name="Shape 54"/>
          <p:cNvSpPr/>
          <p:nvPr/>
        </p:nvSpPr>
        <p:spPr>
          <a:xfrm rot="600000">
            <a:off x="3943351" y="2422492"/>
            <a:ext cx="54864" cy="173736"/>
          </a:xfrm>
          <a:prstGeom prst="roundRect">
            <a:avLst>
              <a:gd name="adj" fmla="val 50000"/>
            </a:avLst>
          </a:prstGeom>
          <a:solidFill>
            <a:srgbClr val="9CC3F0"/>
          </a:solidFill>
          <a:ln w="9525">
            <a:solidFill>
              <a:srgbClr val="4F7FB8"/>
            </a:solidFill>
            <a:prstDash val="solid"/>
          </a:ln>
        </p:spPr>
      </p:sp>
      <p:sp>
        <p:nvSpPr>
          <p:cNvPr id="57" name="Shape 55"/>
          <p:cNvSpPr/>
          <p:nvPr/>
        </p:nvSpPr>
        <p:spPr>
          <a:xfrm rot="600000">
            <a:off x="4002785" y="2432972"/>
            <a:ext cx="54864" cy="173736"/>
          </a:xfrm>
          <a:prstGeom prst="roundRect">
            <a:avLst>
              <a:gd name="adj" fmla="val 50000"/>
            </a:avLst>
          </a:prstGeom>
          <a:solidFill>
            <a:srgbClr val="9CC3F0"/>
          </a:solidFill>
          <a:ln w="9525">
            <a:solidFill>
              <a:srgbClr val="4F7FB8"/>
            </a:solidFill>
            <a:prstDash val="solid"/>
          </a:ln>
        </p:spPr>
      </p:sp>
      <p:sp>
        <p:nvSpPr>
          <p:cNvPr id="58" name="Shape 56"/>
          <p:cNvSpPr/>
          <p:nvPr/>
        </p:nvSpPr>
        <p:spPr>
          <a:xfrm rot="600000">
            <a:off x="3937406" y="2492654"/>
            <a:ext cx="126187" cy="43891"/>
          </a:xfrm>
          <a:prstGeom prst="ellipse">
            <a:avLst/>
          </a:prstGeom>
          <a:solidFill>
            <a:srgbClr val="4F7FB8"/>
          </a:solidFill>
          <a:ln/>
        </p:spPr>
      </p:sp>
      <p:sp>
        <p:nvSpPr>
          <p:cNvPr id="59" name="Text 57"/>
          <p:cNvSpPr/>
          <p:nvPr/>
        </p:nvSpPr>
        <p:spPr>
          <a:xfrm>
            <a:off x="2798064" y="3090672"/>
            <a:ext cx="2002536" cy="7772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They coil up: short and thick. Each is two chromatids. The nuclear membrane breaks down.</a:t>
            </a:r>
            <a:endParaRPr lang="en-US" sz="1050" dirty="0"/>
          </a:p>
        </p:txBody>
      </p:sp>
      <p:sp>
        <p:nvSpPr>
          <p:cNvPr id="60" name="Text 58"/>
          <p:cNvSpPr/>
          <p:nvPr/>
        </p:nvSpPr>
        <p:spPr>
          <a:xfrm>
            <a:off x="2798064" y="3858768"/>
            <a:ext cx="2002536"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(prophase)</a:t>
            </a:r>
            <a:endParaRPr lang="en-US" sz="1000" dirty="0"/>
          </a:p>
        </p:txBody>
      </p:sp>
      <p:sp>
        <p:nvSpPr>
          <p:cNvPr id="61" name="Shape 59"/>
          <p:cNvSpPr/>
          <p:nvPr/>
        </p:nvSpPr>
        <p:spPr>
          <a:xfrm>
            <a:off x="4873752" y="2331720"/>
            <a:ext cx="146304" cy="91"/>
          </a:xfrm>
          <a:prstGeom prst="line">
            <a:avLst/>
          </a:prstGeom>
          <a:noFill/>
          <a:ln w="19050">
            <a:solidFill>
              <a:srgbClr val="133536"/>
            </a:solidFill>
            <a:prstDash val="solid"/>
            <a:tailEnd type="triangle"/>
          </a:ln>
        </p:spPr>
      </p:sp>
      <p:sp>
        <p:nvSpPr>
          <p:cNvPr id="62" name="Shape 60"/>
          <p:cNvSpPr/>
          <p:nvPr/>
        </p:nvSpPr>
        <p:spPr>
          <a:xfrm>
            <a:off x="5001768" y="1188720"/>
            <a:ext cx="2185416" cy="2971800"/>
          </a:xfrm>
          <a:prstGeom prst="roundRect">
            <a:avLst>
              <a:gd name="adj" fmla="val 2510"/>
            </a:avLst>
          </a:prstGeom>
          <a:solidFill>
            <a:srgbClr val="EEF5F4"/>
          </a:solidFill>
          <a:ln w="9525">
            <a:solidFill>
              <a:srgbClr val="D2E3E1"/>
            </a:solidFill>
            <a:prstDash val="solid"/>
          </a:ln>
        </p:spPr>
      </p:sp>
      <p:sp>
        <p:nvSpPr>
          <p:cNvPr id="63" name="Text 61"/>
          <p:cNvSpPr/>
          <p:nvPr/>
        </p:nvSpPr>
        <p:spPr>
          <a:xfrm>
            <a:off x="5074920" y="1243584"/>
            <a:ext cx="2039112" cy="274320"/>
          </a:xfrm>
          <a:prstGeom prst="rect">
            <a:avLst/>
          </a:prstGeom>
          <a:noFill/>
          <a:ln/>
        </p:spPr>
        <p:txBody>
          <a:bodyPr wrap="square" lIns="0" tIns="0" rIns="0" bIns="0" rtlCol="0" anchor="ctr"/>
          <a:lstStyle/>
          <a:p>
            <a:pPr algn="ctr" indent="0" marL="0">
              <a:buNone/>
            </a:pPr>
            <a:r>
              <a:rPr lang="en-US" sz="1150" b="1" dirty="0">
                <a:solidFill>
                  <a:srgbClr val="133536"/>
                </a:solidFill>
                <a:latin typeface="Calibri" pitchFamily="34" charset="0"/>
                <a:ea typeface="Calibri" pitchFamily="34" charset="-122"/>
                <a:cs typeface="Calibri" pitchFamily="34" charset="-120"/>
              </a:rPr>
              <a:t>2  Chromosomes line up</a:t>
            </a:r>
            <a:endParaRPr lang="en-US" sz="1150" dirty="0"/>
          </a:p>
        </p:txBody>
      </p:sp>
      <p:sp>
        <p:nvSpPr>
          <p:cNvPr id="64" name="Shape 62"/>
          <p:cNvSpPr/>
          <p:nvPr/>
        </p:nvSpPr>
        <p:spPr>
          <a:xfrm>
            <a:off x="5225796" y="1645920"/>
            <a:ext cx="1737360" cy="1371600"/>
          </a:xfrm>
          <a:prstGeom prst="ellipse">
            <a:avLst/>
          </a:prstGeom>
          <a:solidFill>
            <a:srgbClr val="FBF3DF"/>
          </a:solidFill>
          <a:ln w="19050">
            <a:solidFill>
              <a:srgbClr val="8A6D3B"/>
            </a:solidFill>
            <a:prstDash val="solid"/>
          </a:ln>
        </p:spPr>
      </p:sp>
      <p:sp>
        <p:nvSpPr>
          <p:cNvPr id="65" name="Shape 63"/>
          <p:cNvSpPr/>
          <p:nvPr/>
        </p:nvSpPr>
        <p:spPr>
          <a:xfrm>
            <a:off x="6094476" y="1764792"/>
            <a:ext cx="91" cy="1133856"/>
          </a:xfrm>
          <a:prstGeom prst="line">
            <a:avLst/>
          </a:prstGeom>
          <a:noFill/>
          <a:ln w="9525">
            <a:solidFill>
              <a:srgbClr val="6B7385"/>
            </a:solidFill>
            <a:prstDash val="dash"/>
          </a:ln>
        </p:spPr>
      </p:sp>
      <p:sp>
        <p:nvSpPr>
          <p:cNvPr id="66" name="Shape 64"/>
          <p:cNvSpPr/>
          <p:nvPr/>
        </p:nvSpPr>
        <p:spPr>
          <a:xfrm flipV="1">
            <a:off x="5344668" y="1929384"/>
            <a:ext cx="719633" cy="402336"/>
          </a:xfrm>
          <a:prstGeom prst="line">
            <a:avLst/>
          </a:prstGeom>
          <a:noFill/>
          <a:ln w="9525">
            <a:solidFill>
              <a:srgbClr val="8C96A8"/>
            </a:solidFill>
            <a:prstDash val="solid"/>
          </a:ln>
        </p:spPr>
      </p:sp>
      <p:sp>
        <p:nvSpPr>
          <p:cNvPr id="67" name="Shape 65"/>
          <p:cNvSpPr/>
          <p:nvPr/>
        </p:nvSpPr>
        <p:spPr>
          <a:xfrm flipH="1" flipV="1">
            <a:off x="6124651" y="1929384"/>
            <a:ext cx="719633" cy="402336"/>
          </a:xfrm>
          <a:prstGeom prst="line">
            <a:avLst/>
          </a:prstGeom>
          <a:noFill/>
          <a:ln w="9525">
            <a:solidFill>
              <a:srgbClr val="8C96A8"/>
            </a:solidFill>
            <a:prstDash val="solid"/>
          </a:ln>
        </p:spPr>
      </p:sp>
      <p:sp>
        <p:nvSpPr>
          <p:cNvPr id="68" name="Shape 66"/>
          <p:cNvSpPr/>
          <p:nvPr/>
        </p:nvSpPr>
        <p:spPr>
          <a:xfrm flipV="1">
            <a:off x="5344668" y="2185416"/>
            <a:ext cx="719633" cy="146304"/>
          </a:xfrm>
          <a:prstGeom prst="line">
            <a:avLst/>
          </a:prstGeom>
          <a:noFill/>
          <a:ln w="9525">
            <a:solidFill>
              <a:srgbClr val="8C96A8"/>
            </a:solidFill>
            <a:prstDash val="solid"/>
          </a:ln>
        </p:spPr>
      </p:sp>
      <p:sp>
        <p:nvSpPr>
          <p:cNvPr id="69" name="Shape 67"/>
          <p:cNvSpPr/>
          <p:nvPr/>
        </p:nvSpPr>
        <p:spPr>
          <a:xfrm flipH="1" flipV="1">
            <a:off x="6124651" y="2185416"/>
            <a:ext cx="719633" cy="146304"/>
          </a:xfrm>
          <a:prstGeom prst="line">
            <a:avLst/>
          </a:prstGeom>
          <a:noFill/>
          <a:ln w="9525">
            <a:solidFill>
              <a:srgbClr val="8C96A8"/>
            </a:solidFill>
            <a:prstDash val="solid"/>
          </a:ln>
        </p:spPr>
      </p:sp>
      <p:sp>
        <p:nvSpPr>
          <p:cNvPr id="70" name="Shape 68"/>
          <p:cNvSpPr/>
          <p:nvPr/>
        </p:nvSpPr>
        <p:spPr>
          <a:xfrm>
            <a:off x="5344668" y="2331720"/>
            <a:ext cx="719633" cy="91440"/>
          </a:xfrm>
          <a:prstGeom prst="line">
            <a:avLst/>
          </a:prstGeom>
          <a:noFill/>
          <a:ln w="9525">
            <a:solidFill>
              <a:srgbClr val="8C96A8"/>
            </a:solidFill>
            <a:prstDash val="solid"/>
          </a:ln>
        </p:spPr>
      </p:sp>
      <p:sp>
        <p:nvSpPr>
          <p:cNvPr id="71" name="Shape 69"/>
          <p:cNvSpPr/>
          <p:nvPr/>
        </p:nvSpPr>
        <p:spPr>
          <a:xfrm flipH="1">
            <a:off x="6124651" y="2331720"/>
            <a:ext cx="719633" cy="91440"/>
          </a:xfrm>
          <a:prstGeom prst="line">
            <a:avLst/>
          </a:prstGeom>
          <a:noFill/>
          <a:ln w="9525">
            <a:solidFill>
              <a:srgbClr val="8C96A8"/>
            </a:solidFill>
            <a:prstDash val="solid"/>
          </a:ln>
        </p:spPr>
      </p:sp>
      <p:sp>
        <p:nvSpPr>
          <p:cNvPr id="72" name="Shape 70"/>
          <p:cNvSpPr/>
          <p:nvPr/>
        </p:nvSpPr>
        <p:spPr>
          <a:xfrm>
            <a:off x="5344668" y="2331720"/>
            <a:ext cx="719633" cy="301752"/>
          </a:xfrm>
          <a:prstGeom prst="line">
            <a:avLst/>
          </a:prstGeom>
          <a:noFill/>
          <a:ln w="9525">
            <a:solidFill>
              <a:srgbClr val="8C96A8"/>
            </a:solidFill>
            <a:prstDash val="solid"/>
          </a:ln>
        </p:spPr>
      </p:sp>
      <p:sp>
        <p:nvSpPr>
          <p:cNvPr id="73" name="Shape 71"/>
          <p:cNvSpPr/>
          <p:nvPr/>
        </p:nvSpPr>
        <p:spPr>
          <a:xfrm flipH="1">
            <a:off x="6124651" y="2331720"/>
            <a:ext cx="719633" cy="301752"/>
          </a:xfrm>
          <a:prstGeom prst="line">
            <a:avLst/>
          </a:prstGeom>
          <a:noFill/>
          <a:ln w="9525">
            <a:solidFill>
              <a:srgbClr val="8C96A8"/>
            </a:solidFill>
            <a:prstDash val="solid"/>
          </a:ln>
        </p:spPr>
      </p:sp>
      <p:sp>
        <p:nvSpPr>
          <p:cNvPr id="74" name="Shape 72"/>
          <p:cNvSpPr/>
          <p:nvPr/>
        </p:nvSpPr>
        <p:spPr>
          <a:xfrm>
            <a:off x="6036869" y="1819656"/>
            <a:ext cx="54864" cy="219456"/>
          </a:xfrm>
          <a:prstGeom prst="roundRect">
            <a:avLst>
              <a:gd name="adj" fmla="val 50000"/>
            </a:avLst>
          </a:prstGeom>
          <a:solidFill>
            <a:srgbClr val="D9534F"/>
          </a:solidFill>
          <a:ln w="9525">
            <a:solidFill>
              <a:srgbClr val="8E2A33"/>
            </a:solidFill>
            <a:prstDash val="solid"/>
          </a:ln>
        </p:spPr>
      </p:sp>
      <p:sp>
        <p:nvSpPr>
          <p:cNvPr id="75" name="Shape 73"/>
          <p:cNvSpPr/>
          <p:nvPr/>
        </p:nvSpPr>
        <p:spPr>
          <a:xfrm>
            <a:off x="6097219" y="1819656"/>
            <a:ext cx="54864" cy="219456"/>
          </a:xfrm>
          <a:prstGeom prst="roundRect">
            <a:avLst>
              <a:gd name="adj" fmla="val 50000"/>
            </a:avLst>
          </a:prstGeom>
          <a:solidFill>
            <a:srgbClr val="D9534F"/>
          </a:solidFill>
          <a:ln w="9525">
            <a:solidFill>
              <a:srgbClr val="8E2A33"/>
            </a:solidFill>
            <a:prstDash val="solid"/>
          </a:ln>
        </p:spPr>
      </p:sp>
      <p:sp>
        <p:nvSpPr>
          <p:cNvPr id="76" name="Shape 74"/>
          <p:cNvSpPr/>
          <p:nvPr/>
        </p:nvSpPr>
        <p:spPr>
          <a:xfrm>
            <a:off x="6031382" y="1907438"/>
            <a:ext cx="126187" cy="43891"/>
          </a:xfrm>
          <a:prstGeom prst="ellipse">
            <a:avLst/>
          </a:prstGeom>
          <a:solidFill>
            <a:srgbClr val="8E2A33"/>
          </a:solidFill>
          <a:ln/>
        </p:spPr>
      </p:sp>
      <p:sp>
        <p:nvSpPr>
          <p:cNvPr id="77" name="Shape 75"/>
          <p:cNvSpPr/>
          <p:nvPr/>
        </p:nvSpPr>
        <p:spPr>
          <a:xfrm>
            <a:off x="6036869" y="2075688"/>
            <a:ext cx="54864" cy="219456"/>
          </a:xfrm>
          <a:prstGeom prst="roundRect">
            <a:avLst>
              <a:gd name="adj" fmla="val 50000"/>
            </a:avLst>
          </a:prstGeom>
          <a:solidFill>
            <a:srgbClr val="3B7DD8"/>
          </a:solidFill>
          <a:ln w="9525">
            <a:solidFill>
              <a:srgbClr val="1F4E8C"/>
            </a:solidFill>
            <a:prstDash val="solid"/>
          </a:ln>
        </p:spPr>
      </p:sp>
      <p:sp>
        <p:nvSpPr>
          <p:cNvPr id="78" name="Shape 76"/>
          <p:cNvSpPr/>
          <p:nvPr/>
        </p:nvSpPr>
        <p:spPr>
          <a:xfrm>
            <a:off x="6097219" y="2075688"/>
            <a:ext cx="54864" cy="219456"/>
          </a:xfrm>
          <a:prstGeom prst="roundRect">
            <a:avLst>
              <a:gd name="adj" fmla="val 50000"/>
            </a:avLst>
          </a:prstGeom>
          <a:solidFill>
            <a:srgbClr val="3B7DD8"/>
          </a:solidFill>
          <a:ln w="9525">
            <a:solidFill>
              <a:srgbClr val="1F4E8C"/>
            </a:solidFill>
            <a:prstDash val="solid"/>
          </a:ln>
        </p:spPr>
      </p:sp>
      <p:sp>
        <p:nvSpPr>
          <p:cNvPr id="79" name="Shape 77"/>
          <p:cNvSpPr/>
          <p:nvPr/>
        </p:nvSpPr>
        <p:spPr>
          <a:xfrm>
            <a:off x="6031382" y="2163470"/>
            <a:ext cx="126187" cy="43891"/>
          </a:xfrm>
          <a:prstGeom prst="ellipse">
            <a:avLst/>
          </a:prstGeom>
          <a:solidFill>
            <a:srgbClr val="1F4E8C"/>
          </a:solidFill>
          <a:ln/>
        </p:spPr>
      </p:sp>
      <p:sp>
        <p:nvSpPr>
          <p:cNvPr id="80" name="Shape 78"/>
          <p:cNvSpPr/>
          <p:nvPr/>
        </p:nvSpPr>
        <p:spPr>
          <a:xfrm>
            <a:off x="6036869" y="2353666"/>
            <a:ext cx="54864" cy="138989"/>
          </a:xfrm>
          <a:prstGeom prst="roundRect">
            <a:avLst>
              <a:gd name="adj" fmla="val 50000"/>
            </a:avLst>
          </a:prstGeom>
          <a:solidFill>
            <a:srgbClr val="F2A0A6"/>
          </a:solidFill>
          <a:ln w="9525">
            <a:solidFill>
              <a:srgbClr val="B5545C"/>
            </a:solidFill>
            <a:prstDash val="solid"/>
          </a:ln>
        </p:spPr>
      </p:sp>
      <p:sp>
        <p:nvSpPr>
          <p:cNvPr id="81" name="Shape 79"/>
          <p:cNvSpPr/>
          <p:nvPr/>
        </p:nvSpPr>
        <p:spPr>
          <a:xfrm>
            <a:off x="6097219" y="2353666"/>
            <a:ext cx="54864" cy="138989"/>
          </a:xfrm>
          <a:prstGeom prst="roundRect">
            <a:avLst>
              <a:gd name="adj" fmla="val 50000"/>
            </a:avLst>
          </a:prstGeom>
          <a:solidFill>
            <a:srgbClr val="F2A0A6"/>
          </a:solidFill>
          <a:ln w="9525">
            <a:solidFill>
              <a:srgbClr val="B5545C"/>
            </a:solidFill>
            <a:prstDash val="solid"/>
          </a:ln>
        </p:spPr>
      </p:sp>
      <p:sp>
        <p:nvSpPr>
          <p:cNvPr id="82" name="Shape 80"/>
          <p:cNvSpPr/>
          <p:nvPr/>
        </p:nvSpPr>
        <p:spPr>
          <a:xfrm>
            <a:off x="6031382" y="2401214"/>
            <a:ext cx="126187" cy="43891"/>
          </a:xfrm>
          <a:prstGeom prst="ellipse">
            <a:avLst/>
          </a:prstGeom>
          <a:solidFill>
            <a:srgbClr val="B5545C"/>
          </a:solidFill>
          <a:ln/>
        </p:spPr>
      </p:sp>
      <p:sp>
        <p:nvSpPr>
          <p:cNvPr id="83" name="Shape 81"/>
          <p:cNvSpPr/>
          <p:nvPr/>
        </p:nvSpPr>
        <p:spPr>
          <a:xfrm>
            <a:off x="6036869" y="2563978"/>
            <a:ext cx="54864" cy="138989"/>
          </a:xfrm>
          <a:prstGeom prst="roundRect">
            <a:avLst>
              <a:gd name="adj" fmla="val 50000"/>
            </a:avLst>
          </a:prstGeom>
          <a:solidFill>
            <a:srgbClr val="9CC3F0"/>
          </a:solidFill>
          <a:ln w="9525">
            <a:solidFill>
              <a:srgbClr val="4F7FB8"/>
            </a:solidFill>
            <a:prstDash val="solid"/>
          </a:ln>
        </p:spPr>
      </p:sp>
      <p:sp>
        <p:nvSpPr>
          <p:cNvPr id="84" name="Shape 82"/>
          <p:cNvSpPr/>
          <p:nvPr/>
        </p:nvSpPr>
        <p:spPr>
          <a:xfrm>
            <a:off x="6097219" y="2563978"/>
            <a:ext cx="54864" cy="138989"/>
          </a:xfrm>
          <a:prstGeom prst="roundRect">
            <a:avLst>
              <a:gd name="adj" fmla="val 50000"/>
            </a:avLst>
          </a:prstGeom>
          <a:solidFill>
            <a:srgbClr val="9CC3F0"/>
          </a:solidFill>
          <a:ln w="9525">
            <a:solidFill>
              <a:srgbClr val="4F7FB8"/>
            </a:solidFill>
            <a:prstDash val="solid"/>
          </a:ln>
        </p:spPr>
      </p:sp>
      <p:sp>
        <p:nvSpPr>
          <p:cNvPr id="85" name="Shape 83"/>
          <p:cNvSpPr/>
          <p:nvPr/>
        </p:nvSpPr>
        <p:spPr>
          <a:xfrm>
            <a:off x="6031382" y="2611526"/>
            <a:ext cx="126187" cy="43891"/>
          </a:xfrm>
          <a:prstGeom prst="ellipse">
            <a:avLst/>
          </a:prstGeom>
          <a:solidFill>
            <a:srgbClr val="4F7FB8"/>
          </a:solidFill>
          <a:ln/>
        </p:spPr>
      </p:sp>
      <p:sp>
        <p:nvSpPr>
          <p:cNvPr id="86" name="Shape 84"/>
          <p:cNvSpPr/>
          <p:nvPr/>
        </p:nvSpPr>
        <p:spPr>
          <a:xfrm>
            <a:off x="5308092" y="2295144"/>
            <a:ext cx="73152" cy="73152"/>
          </a:xfrm>
          <a:prstGeom prst="ellipse">
            <a:avLst/>
          </a:prstGeom>
          <a:solidFill>
            <a:srgbClr val="133536"/>
          </a:solidFill>
          <a:ln w="9525">
            <a:solidFill>
              <a:srgbClr val="133536"/>
            </a:solidFill>
            <a:prstDash val="solid"/>
          </a:ln>
        </p:spPr>
      </p:sp>
      <p:sp>
        <p:nvSpPr>
          <p:cNvPr id="87" name="Shape 85"/>
          <p:cNvSpPr/>
          <p:nvPr/>
        </p:nvSpPr>
        <p:spPr>
          <a:xfrm>
            <a:off x="6807708" y="2295144"/>
            <a:ext cx="73152" cy="73152"/>
          </a:xfrm>
          <a:prstGeom prst="ellipse">
            <a:avLst/>
          </a:prstGeom>
          <a:solidFill>
            <a:srgbClr val="133536"/>
          </a:solidFill>
          <a:ln w="9525">
            <a:solidFill>
              <a:srgbClr val="133536"/>
            </a:solidFill>
            <a:prstDash val="solid"/>
          </a:ln>
        </p:spPr>
      </p:sp>
      <p:sp>
        <p:nvSpPr>
          <p:cNvPr id="88" name="Text 86"/>
          <p:cNvSpPr/>
          <p:nvPr/>
        </p:nvSpPr>
        <p:spPr>
          <a:xfrm>
            <a:off x="5093208" y="3090672"/>
            <a:ext cx="2002536" cy="7772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They line up across the </a:t>
            </a:r>
            <a:r>
              <a:rPr lang="en-US" sz="1050" b="1" dirty="0">
                <a:solidFill>
                  <a:srgbClr val="262B3A"/>
                </a:solidFill>
                <a:latin typeface="Calibri" pitchFamily="34" charset="0"/>
                <a:ea typeface="Calibri" pitchFamily="34" charset="-122"/>
                <a:cs typeface="Calibri" pitchFamily="34" charset="-120"/>
              </a:rPr>
              <a:t>middle</a:t>
            </a:r>
            <a:r>
              <a:rPr lang="en-US" sz="1050" dirty="0">
                <a:solidFill>
                  <a:srgbClr val="262B3A"/>
                </a:solidFill>
                <a:latin typeface="Calibri" pitchFamily="34" charset="0"/>
                <a:ea typeface="Calibri" pitchFamily="34" charset="-122"/>
                <a:cs typeface="Calibri" pitchFamily="34" charset="-120"/>
              </a:rPr>
              <a:t> of the cell. Spindle fibres attach to each one.</a:t>
            </a:r>
            <a:endParaRPr lang="en-US" sz="1050" dirty="0"/>
          </a:p>
        </p:txBody>
      </p:sp>
      <p:sp>
        <p:nvSpPr>
          <p:cNvPr id="89" name="Text 87"/>
          <p:cNvSpPr/>
          <p:nvPr/>
        </p:nvSpPr>
        <p:spPr>
          <a:xfrm>
            <a:off x="5093208" y="3858768"/>
            <a:ext cx="2002536"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(metaphase)</a:t>
            </a:r>
            <a:endParaRPr lang="en-US" sz="1000" dirty="0"/>
          </a:p>
        </p:txBody>
      </p:sp>
      <p:sp>
        <p:nvSpPr>
          <p:cNvPr id="90" name="Shape 88"/>
          <p:cNvSpPr/>
          <p:nvPr/>
        </p:nvSpPr>
        <p:spPr>
          <a:xfrm>
            <a:off x="7168896" y="2331720"/>
            <a:ext cx="146304" cy="91"/>
          </a:xfrm>
          <a:prstGeom prst="line">
            <a:avLst/>
          </a:prstGeom>
          <a:noFill/>
          <a:ln w="19050">
            <a:solidFill>
              <a:srgbClr val="133536"/>
            </a:solidFill>
            <a:prstDash val="solid"/>
            <a:tailEnd type="triangle"/>
          </a:ln>
        </p:spPr>
      </p:sp>
      <p:sp>
        <p:nvSpPr>
          <p:cNvPr id="91" name="Shape 89"/>
          <p:cNvSpPr/>
          <p:nvPr/>
        </p:nvSpPr>
        <p:spPr>
          <a:xfrm>
            <a:off x="7296912" y="1188720"/>
            <a:ext cx="2185416" cy="2971800"/>
          </a:xfrm>
          <a:prstGeom prst="roundRect">
            <a:avLst>
              <a:gd name="adj" fmla="val 2510"/>
            </a:avLst>
          </a:prstGeom>
          <a:solidFill>
            <a:srgbClr val="EEF5F4"/>
          </a:solidFill>
          <a:ln w="9525">
            <a:solidFill>
              <a:srgbClr val="D2E3E1"/>
            </a:solidFill>
            <a:prstDash val="solid"/>
          </a:ln>
        </p:spPr>
      </p:sp>
      <p:sp>
        <p:nvSpPr>
          <p:cNvPr id="92" name="Text 90"/>
          <p:cNvSpPr/>
          <p:nvPr/>
        </p:nvSpPr>
        <p:spPr>
          <a:xfrm>
            <a:off x="7370064" y="1243584"/>
            <a:ext cx="2039112" cy="274320"/>
          </a:xfrm>
          <a:prstGeom prst="rect">
            <a:avLst/>
          </a:prstGeom>
          <a:noFill/>
          <a:ln/>
        </p:spPr>
        <p:txBody>
          <a:bodyPr wrap="square" lIns="0" tIns="0" rIns="0" bIns="0" rtlCol="0" anchor="ctr"/>
          <a:lstStyle/>
          <a:p>
            <a:pPr algn="ctr" indent="0" marL="0">
              <a:buNone/>
            </a:pPr>
            <a:r>
              <a:rPr lang="en-US" sz="1150" b="1" dirty="0">
                <a:solidFill>
                  <a:srgbClr val="133536"/>
                </a:solidFill>
                <a:latin typeface="Calibri" pitchFamily="34" charset="0"/>
                <a:ea typeface="Calibri" pitchFamily="34" charset="-122"/>
                <a:cs typeface="Calibri" pitchFamily="34" charset="-120"/>
              </a:rPr>
              <a:t>3  Chromatids separate</a:t>
            </a:r>
            <a:endParaRPr lang="en-US" sz="1150" dirty="0"/>
          </a:p>
        </p:txBody>
      </p:sp>
      <p:sp>
        <p:nvSpPr>
          <p:cNvPr id="93" name="Shape 91"/>
          <p:cNvSpPr/>
          <p:nvPr/>
        </p:nvSpPr>
        <p:spPr>
          <a:xfrm>
            <a:off x="7448702" y="1713403"/>
            <a:ext cx="1881835" cy="1236635"/>
          </a:xfrm>
          <a:prstGeom prst="ellipse">
            <a:avLst/>
          </a:prstGeom>
          <a:solidFill>
            <a:srgbClr val="FBF3DF"/>
          </a:solidFill>
          <a:ln w="19050">
            <a:solidFill>
              <a:srgbClr val="8A6D3B"/>
            </a:solidFill>
            <a:prstDash val="solid"/>
          </a:ln>
        </p:spPr>
      </p:sp>
      <p:sp>
        <p:nvSpPr>
          <p:cNvPr id="94" name="Shape 92"/>
          <p:cNvSpPr/>
          <p:nvPr/>
        </p:nvSpPr>
        <p:spPr>
          <a:xfrm flipV="1">
            <a:off x="7565197" y="2009120"/>
            <a:ext cx="304678" cy="322600"/>
          </a:xfrm>
          <a:prstGeom prst="line">
            <a:avLst/>
          </a:prstGeom>
          <a:noFill/>
          <a:ln w="9525">
            <a:solidFill>
              <a:srgbClr val="8C96A8"/>
            </a:solidFill>
            <a:prstDash val="solid"/>
          </a:ln>
        </p:spPr>
      </p:sp>
      <p:sp>
        <p:nvSpPr>
          <p:cNvPr id="95" name="Shape 93"/>
          <p:cNvSpPr/>
          <p:nvPr/>
        </p:nvSpPr>
        <p:spPr>
          <a:xfrm rot="3600000">
            <a:off x="7891883" y="1924437"/>
            <a:ext cx="53767" cy="112910"/>
          </a:xfrm>
          <a:prstGeom prst="roundRect">
            <a:avLst>
              <a:gd name="adj" fmla="val 50000"/>
            </a:avLst>
          </a:prstGeom>
          <a:solidFill>
            <a:srgbClr val="D9534F"/>
          </a:solidFill>
          <a:ln w="9525">
            <a:solidFill>
              <a:srgbClr val="8E2A33"/>
            </a:solidFill>
            <a:prstDash val="solid"/>
          </a:ln>
        </p:spPr>
      </p:sp>
      <p:sp>
        <p:nvSpPr>
          <p:cNvPr id="96" name="Shape 94"/>
          <p:cNvSpPr/>
          <p:nvPr/>
        </p:nvSpPr>
        <p:spPr>
          <a:xfrm rot="7200000">
            <a:off x="7891883" y="1980892"/>
            <a:ext cx="53767" cy="112910"/>
          </a:xfrm>
          <a:prstGeom prst="roundRect">
            <a:avLst>
              <a:gd name="adj" fmla="val 50000"/>
            </a:avLst>
          </a:prstGeom>
          <a:solidFill>
            <a:srgbClr val="D9534F"/>
          </a:solidFill>
          <a:ln w="9525">
            <a:solidFill>
              <a:srgbClr val="8E2A33"/>
            </a:solidFill>
            <a:prstDash val="solid"/>
          </a:ln>
        </p:spPr>
      </p:sp>
      <p:sp>
        <p:nvSpPr>
          <p:cNvPr id="97" name="Shape 95"/>
          <p:cNvSpPr/>
          <p:nvPr/>
        </p:nvSpPr>
        <p:spPr>
          <a:xfrm>
            <a:off x="7845680" y="1984925"/>
            <a:ext cx="48390" cy="48390"/>
          </a:xfrm>
          <a:prstGeom prst="ellipse">
            <a:avLst/>
          </a:prstGeom>
          <a:solidFill>
            <a:srgbClr val="8E2A33"/>
          </a:solidFill>
          <a:ln w="9525">
            <a:solidFill>
              <a:srgbClr val="8E2A33"/>
            </a:solidFill>
            <a:prstDash val="solid"/>
          </a:ln>
        </p:spPr>
      </p:sp>
      <p:sp>
        <p:nvSpPr>
          <p:cNvPr id="98" name="Shape 96"/>
          <p:cNvSpPr/>
          <p:nvPr/>
        </p:nvSpPr>
        <p:spPr>
          <a:xfrm flipH="1" flipV="1">
            <a:off x="8909365" y="2009120"/>
            <a:ext cx="304678" cy="322600"/>
          </a:xfrm>
          <a:prstGeom prst="line">
            <a:avLst/>
          </a:prstGeom>
          <a:noFill/>
          <a:ln w="9525">
            <a:solidFill>
              <a:srgbClr val="8C96A8"/>
            </a:solidFill>
            <a:prstDash val="solid"/>
          </a:ln>
        </p:spPr>
      </p:sp>
      <p:sp>
        <p:nvSpPr>
          <p:cNvPr id="99" name="Shape 97"/>
          <p:cNvSpPr/>
          <p:nvPr/>
        </p:nvSpPr>
        <p:spPr>
          <a:xfrm rot="-3600000">
            <a:off x="8833590" y="1924437"/>
            <a:ext cx="53767" cy="112910"/>
          </a:xfrm>
          <a:prstGeom prst="roundRect">
            <a:avLst>
              <a:gd name="adj" fmla="val 50000"/>
            </a:avLst>
          </a:prstGeom>
          <a:solidFill>
            <a:srgbClr val="D9534F"/>
          </a:solidFill>
          <a:ln w="9525">
            <a:solidFill>
              <a:srgbClr val="8E2A33"/>
            </a:solidFill>
            <a:prstDash val="solid"/>
          </a:ln>
        </p:spPr>
      </p:sp>
      <p:sp>
        <p:nvSpPr>
          <p:cNvPr id="100" name="Shape 98"/>
          <p:cNvSpPr/>
          <p:nvPr/>
        </p:nvSpPr>
        <p:spPr>
          <a:xfrm rot="-7200000">
            <a:off x="8833590" y="1980892"/>
            <a:ext cx="53767" cy="112910"/>
          </a:xfrm>
          <a:prstGeom prst="roundRect">
            <a:avLst>
              <a:gd name="adj" fmla="val 50000"/>
            </a:avLst>
          </a:prstGeom>
          <a:solidFill>
            <a:srgbClr val="D9534F"/>
          </a:solidFill>
          <a:ln w="9525">
            <a:solidFill>
              <a:srgbClr val="8E2A33"/>
            </a:solidFill>
            <a:prstDash val="solid"/>
          </a:ln>
        </p:spPr>
      </p:sp>
      <p:sp>
        <p:nvSpPr>
          <p:cNvPr id="101" name="Shape 99"/>
          <p:cNvSpPr/>
          <p:nvPr/>
        </p:nvSpPr>
        <p:spPr>
          <a:xfrm>
            <a:off x="8885170" y="1984925"/>
            <a:ext cx="48390" cy="48390"/>
          </a:xfrm>
          <a:prstGeom prst="ellipse">
            <a:avLst/>
          </a:prstGeom>
          <a:solidFill>
            <a:srgbClr val="8E2A33"/>
          </a:solidFill>
          <a:ln w="9525">
            <a:solidFill>
              <a:srgbClr val="8E2A33"/>
            </a:solidFill>
            <a:prstDash val="solid"/>
          </a:ln>
        </p:spPr>
      </p:sp>
      <p:sp>
        <p:nvSpPr>
          <p:cNvPr id="102" name="Shape 100"/>
          <p:cNvSpPr/>
          <p:nvPr/>
        </p:nvSpPr>
        <p:spPr>
          <a:xfrm flipV="1">
            <a:off x="7565197" y="2224187"/>
            <a:ext cx="304678" cy="107533"/>
          </a:xfrm>
          <a:prstGeom prst="line">
            <a:avLst/>
          </a:prstGeom>
          <a:noFill/>
          <a:ln w="9525">
            <a:solidFill>
              <a:srgbClr val="8C96A8"/>
            </a:solidFill>
            <a:prstDash val="solid"/>
          </a:ln>
        </p:spPr>
      </p:sp>
      <p:sp>
        <p:nvSpPr>
          <p:cNvPr id="103" name="Shape 101"/>
          <p:cNvSpPr/>
          <p:nvPr/>
        </p:nvSpPr>
        <p:spPr>
          <a:xfrm rot="3600000">
            <a:off x="7891883" y="2139504"/>
            <a:ext cx="53767" cy="112910"/>
          </a:xfrm>
          <a:prstGeom prst="roundRect">
            <a:avLst>
              <a:gd name="adj" fmla="val 50000"/>
            </a:avLst>
          </a:prstGeom>
          <a:solidFill>
            <a:srgbClr val="3B7DD8"/>
          </a:solidFill>
          <a:ln w="9525">
            <a:solidFill>
              <a:srgbClr val="1F4E8C"/>
            </a:solidFill>
            <a:prstDash val="solid"/>
          </a:ln>
        </p:spPr>
      </p:sp>
      <p:sp>
        <p:nvSpPr>
          <p:cNvPr id="104" name="Shape 102"/>
          <p:cNvSpPr/>
          <p:nvPr/>
        </p:nvSpPr>
        <p:spPr>
          <a:xfrm rot="7200000">
            <a:off x="7891883" y="2195959"/>
            <a:ext cx="53767" cy="112910"/>
          </a:xfrm>
          <a:prstGeom prst="roundRect">
            <a:avLst>
              <a:gd name="adj" fmla="val 50000"/>
            </a:avLst>
          </a:prstGeom>
          <a:solidFill>
            <a:srgbClr val="3B7DD8"/>
          </a:solidFill>
          <a:ln w="9525">
            <a:solidFill>
              <a:srgbClr val="1F4E8C"/>
            </a:solidFill>
            <a:prstDash val="solid"/>
          </a:ln>
        </p:spPr>
      </p:sp>
      <p:sp>
        <p:nvSpPr>
          <p:cNvPr id="105" name="Shape 103"/>
          <p:cNvSpPr/>
          <p:nvPr/>
        </p:nvSpPr>
        <p:spPr>
          <a:xfrm>
            <a:off x="7845680" y="2199992"/>
            <a:ext cx="48390" cy="48390"/>
          </a:xfrm>
          <a:prstGeom prst="ellipse">
            <a:avLst/>
          </a:prstGeom>
          <a:solidFill>
            <a:srgbClr val="1F4E8C"/>
          </a:solidFill>
          <a:ln w="9525">
            <a:solidFill>
              <a:srgbClr val="1F4E8C"/>
            </a:solidFill>
            <a:prstDash val="solid"/>
          </a:ln>
        </p:spPr>
      </p:sp>
      <p:sp>
        <p:nvSpPr>
          <p:cNvPr id="106" name="Shape 104"/>
          <p:cNvSpPr/>
          <p:nvPr/>
        </p:nvSpPr>
        <p:spPr>
          <a:xfrm flipH="1" flipV="1">
            <a:off x="8909365" y="2224187"/>
            <a:ext cx="304678" cy="107533"/>
          </a:xfrm>
          <a:prstGeom prst="line">
            <a:avLst/>
          </a:prstGeom>
          <a:noFill/>
          <a:ln w="9525">
            <a:solidFill>
              <a:srgbClr val="8C96A8"/>
            </a:solidFill>
            <a:prstDash val="solid"/>
          </a:ln>
        </p:spPr>
      </p:sp>
      <p:sp>
        <p:nvSpPr>
          <p:cNvPr id="107" name="Shape 105"/>
          <p:cNvSpPr/>
          <p:nvPr/>
        </p:nvSpPr>
        <p:spPr>
          <a:xfrm rot="-3600000">
            <a:off x="8833590" y="2139504"/>
            <a:ext cx="53767" cy="112910"/>
          </a:xfrm>
          <a:prstGeom prst="roundRect">
            <a:avLst>
              <a:gd name="adj" fmla="val 50000"/>
            </a:avLst>
          </a:prstGeom>
          <a:solidFill>
            <a:srgbClr val="3B7DD8"/>
          </a:solidFill>
          <a:ln w="9525">
            <a:solidFill>
              <a:srgbClr val="1F4E8C"/>
            </a:solidFill>
            <a:prstDash val="solid"/>
          </a:ln>
        </p:spPr>
      </p:sp>
      <p:sp>
        <p:nvSpPr>
          <p:cNvPr id="108" name="Shape 106"/>
          <p:cNvSpPr/>
          <p:nvPr/>
        </p:nvSpPr>
        <p:spPr>
          <a:xfrm rot="-7200000">
            <a:off x="8833590" y="2195959"/>
            <a:ext cx="53767" cy="112910"/>
          </a:xfrm>
          <a:prstGeom prst="roundRect">
            <a:avLst>
              <a:gd name="adj" fmla="val 50000"/>
            </a:avLst>
          </a:prstGeom>
          <a:solidFill>
            <a:srgbClr val="3B7DD8"/>
          </a:solidFill>
          <a:ln w="9525">
            <a:solidFill>
              <a:srgbClr val="1F4E8C"/>
            </a:solidFill>
            <a:prstDash val="solid"/>
          </a:ln>
        </p:spPr>
      </p:sp>
      <p:sp>
        <p:nvSpPr>
          <p:cNvPr id="109" name="Shape 107"/>
          <p:cNvSpPr/>
          <p:nvPr/>
        </p:nvSpPr>
        <p:spPr>
          <a:xfrm>
            <a:off x="8885170" y="2199992"/>
            <a:ext cx="48390" cy="48390"/>
          </a:xfrm>
          <a:prstGeom prst="ellipse">
            <a:avLst/>
          </a:prstGeom>
          <a:solidFill>
            <a:srgbClr val="1F4E8C"/>
          </a:solidFill>
          <a:ln w="9525">
            <a:solidFill>
              <a:srgbClr val="1F4E8C"/>
            </a:solidFill>
            <a:prstDash val="solid"/>
          </a:ln>
        </p:spPr>
      </p:sp>
      <p:sp>
        <p:nvSpPr>
          <p:cNvPr id="110" name="Shape 108"/>
          <p:cNvSpPr/>
          <p:nvPr/>
        </p:nvSpPr>
        <p:spPr>
          <a:xfrm>
            <a:off x="7565197" y="2331720"/>
            <a:ext cx="304678" cy="89611"/>
          </a:xfrm>
          <a:prstGeom prst="line">
            <a:avLst/>
          </a:prstGeom>
          <a:noFill/>
          <a:ln w="9525">
            <a:solidFill>
              <a:srgbClr val="8C96A8"/>
            </a:solidFill>
            <a:prstDash val="solid"/>
          </a:ln>
        </p:spPr>
      </p:sp>
      <p:sp>
        <p:nvSpPr>
          <p:cNvPr id="111" name="Shape 109"/>
          <p:cNvSpPr/>
          <p:nvPr/>
        </p:nvSpPr>
        <p:spPr>
          <a:xfrm rot="3600000">
            <a:off x="7873956" y="2367699"/>
            <a:ext cx="53767" cy="71510"/>
          </a:xfrm>
          <a:prstGeom prst="roundRect">
            <a:avLst>
              <a:gd name="adj" fmla="val 50000"/>
            </a:avLst>
          </a:prstGeom>
          <a:solidFill>
            <a:srgbClr val="F2A0A6"/>
          </a:solidFill>
          <a:ln w="9525">
            <a:solidFill>
              <a:srgbClr val="B5545C"/>
            </a:solidFill>
            <a:prstDash val="solid"/>
          </a:ln>
        </p:spPr>
      </p:sp>
      <p:sp>
        <p:nvSpPr>
          <p:cNvPr id="112" name="Shape 110"/>
          <p:cNvSpPr/>
          <p:nvPr/>
        </p:nvSpPr>
        <p:spPr>
          <a:xfrm rot="7200000">
            <a:off x="7873956" y="2403454"/>
            <a:ext cx="53767" cy="71510"/>
          </a:xfrm>
          <a:prstGeom prst="roundRect">
            <a:avLst>
              <a:gd name="adj" fmla="val 50000"/>
            </a:avLst>
          </a:prstGeom>
          <a:solidFill>
            <a:srgbClr val="F2A0A6"/>
          </a:solidFill>
          <a:ln w="9525">
            <a:solidFill>
              <a:srgbClr val="B5545C"/>
            </a:solidFill>
            <a:prstDash val="solid"/>
          </a:ln>
        </p:spPr>
      </p:sp>
      <p:sp>
        <p:nvSpPr>
          <p:cNvPr id="113" name="Shape 111"/>
          <p:cNvSpPr/>
          <p:nvPr/>
        </p:nvSpPr>
        <p:spPr>
          <a:xfrm>
            <a:off x="7845680" y="2397136"/>
            <a:ext cx="48390" cy="48390"/>
          </a:xfrm>
          <a:prstGeom prst="ellipse">
            <a:avLst/>
          </a:prstGeom>
          <a:solidFill>
            <a:srgbClr val="B5545C"/>
          </a:solidFill>
          <a:ln w="9525">
            <a:solidFill>
              <a:srgbClr val="B5545C"/>
            </a:solidFill>
            <a:prstDash val="solid"/>
          </a:ln>
        </p:spPr>
      </p:sp>
      <p:sp>
        <p:nvSpPr>
          <p:cNvPr id="114" name="Shape 112"/>
          <p:cNvSpPr/>
          <p:nvPr/>
        </p:nvSpPr>
        <p:spPr>
          <a:xfrm flipH="1">
            <a:off x="8909365" y="2331720"/>
            <a:ext cx="304678" cy="89611"/>
          </a:xfrm>
          <a:prstGeom prst="line">
            <a:avLst/>
          </a:prstGeom>
          <a:noFill/>
          <a:ln w="9525">
            <a:solidFill>
              <a:srgbClr val="8C96A8"/>
            </a:solidFill>
            <a:prstDash val="solid"/>
          </a:ln>
        </p:spPr>
      </p:sp>
      <p:sp>
        <p:nvSpPr>
          <p:cNvPr id="115" name="Shape 113"/>
          <p:cNvSpPr/>
          <p:nvPr/>
        </p:nvSpPr>
        <p:spPr>
          <a:xfrm rot="-3600000">
            <a:off x="8851517" y="2367699"/>
            <a:ext cx="53767" cy="71510"/>
          </a:xfrm>
          <a:prstGeom prst="roundRect">
            <a:avLst>
              <a:gd name="adj" fmla="val 50000"/>
            </a:avLst>
          </a:prstGeom>
          <a:solidFill>
            <a:srgbClr val="F2A0A6"/>
          </a:solidFill>
          <a:ln w="9525">
            <a:solidFill>
              <a:srgbClr val="B5545C"/>
            </a:solidFill>
            <a:prstDash val="solid"/>
          </a:ln>
        </p:spPr>
      </p:sp>
      <p:sp>
        <p:nvSpPr>
          <p:cNvPr id="116" name="Shape 114"/>
          <p:cNvSpPr/>
          <p:nvPr/>
        </p:nvSpPr>
        <p:spPr>
          <a:xfrm rot="-7200000">
            <a:off x="8851517" y="2403454"/>
            <a:ext cx="53767" cy="71510"/>
          </a:xfrm>
          <a:prstGeom prst="roundRect">
            <a:avLst>
              <a:gd name="adj" fmla="val 50000"/>
            </a:avLst>
          </a:prstGeom>
          <a:solidFill>
            <a:srgbClr val="F2A0A6"/>
          </a:solidFill>
          <a:ln w="9525">
            <a:solidFill>
              <a:srgbClr val="B5545C"/>
            </a:solidFill>
            <a:prstDash val="solid"/>
          </a:ln>
        </p:spPr>
      </p:sp>
      <p:sp>
        <p:nvSpPr>
          <p:cNvPr id="117" name="Shape 115"/>
          <p:cNvSpPr/>
          <p:nvPr/>
        </p:nvSpPr>
        <p:spPr>
          <a:xfrm>
            <a:off x="8885170" y="2397136"/>
            <a:ext cx="48390" cy="48390"/>
          </a:xfrm>
          <a:prstGeom prst="ellipse">
            <a:avLst/>
          </a:prstGeom>
          <a:solidFill>
            <a:srgbClr val="B5545C"/>
          </a:solidFill>
          <a:ln w="9525">
            <a:solidFill>
              <a:srgbClr val="B5545C"/>
            </a:solidFill>
            <a:prstDash val="solid"/>
          </a:ln>
        </p:spPr>
      </p:sp>
      <p:sp>
        <p:nvSpPr>
          <p:cNvPr id="118" name="Shape 116"/>
          <p:cNvSpPr/>
          <p:nvPr/>
        </p:nvSpPr>
        <p:spPr>
          <a:xfrm>
            <a:off x="7565197" y="2331720"/>
            <a:ext cx="304678" cy="268834"/>
          </a:xfrm>
          <a:prstGeom prst="line">
            <a:avLst/>
          </a:prstGeom>
          <a:noFill/>
          <a:ln w="9525">
            <a:solidFill>
              <a:srgbClr val="8C96A8"/>
            </a:solidFill>
            <a:prstDash val="solid"/>
          </a:ln>
        </p:spPr>
      </p:sp>
      <p:sp>
        <p:nvSpPr>
          <p:cNvPr id="119" name="Shape 117"/>
          <p:cNvSpPr/>
          <p:nvPr/>
        </p:nvSpPr>
        <p:spPr>
          <a:xfrm rot="3600000">
            <a:off x="7873956" y="2546921"/>
            <a:ext cx="53767" cy="71510"/>
          </a:xfrm>
          <a:prstGeom prst="roundRect">
            <a:avLst>
              <a:gd name="adj" fmla="val 50000"/>
            </a:avLst>
          </a:prstGeom>
          <a:solidFill>
            <a:srgbClr val="9CC3F0"/>
          </a:solidFill>
          <a:ln w="9525">
            <a:solidFill>
              <a:srgbClr val="4F7FB8"/>
            </a:solidFill>
            <a:prstDash val="solid"/>
          </a:ln>
        </p:spPr>
      </p:sp>
      <p:sp>
        <p:nvSpPr>
          <p:cNvPr id="120" name="Shape 118"/>
          <p:cNvSpPr/>
          <p:nvPr/>
        </p:nvSpPr>
        <p:spPr>
          <a:xfrm rot="7200000">
            <a:off x="7873956" y="2582676"/>
            <a:ext cx="53767" cy="71510"/>
          </a:xfrm>
          <a:prstGeom prst="roundRect">
            <a:avLst>
              <a:gd name="adj" fmla="val 50000"/>
            </a:avLst>
          </a:prstGeom>
          <a:solidFill>
            <a:srgbClr val="9CC3F0"/>
          </a:solidFill>
          <a:ln w="9525">
            <a:solidFill>
              <a:srgbClr val="4F7FB8"/>
            </a:solidFill>
            <a:prstDash val="solid"/>
          </a:ln>
        </p:spPr>
      </p:sp>
      <p:sp>
        <p:nvSpPr>
          <p:cNvPr id="121" name="Shape 119"/>
          <p:cNvSpPr/>
          <p:nvPr/>
        </p:nvSpPr>
        <p:spPr>
          <a:xfrm>
            <a:off x="7845680" y="2576359"/>
            <a:ext cx="48390" cy="48390"/>
          </a:xfrm>
          <a:prstGeom prst="ellipse">
            <a:avLst/>
          </a:prstGeom>
          <a:solidFill>
            <a:srgbClr val="4F7FB8"/>
          </a:solidFill>
          <a:ln w="9525">
            <a:solidFill>
              <a:srgbClr val="4F7FB8"/>
            </a:solidFill>
            <a:prstDash val="solid"/>
          </a:ln>
        </p:spPr>
      </p:sp>
      <p:sp>
        <p:nvSpPr>
          <p:cNvPr id="122" name="Shape 120"/>
          <p:cNvSpPr/>
          <p:nvPr/>
        </p:nvSpPr>
        <p:spPr>
          <a:xfrm flipH="1">
            <a:off x="8909365" y="2331720"/>
            <a:ext cx="304678" cy="268834"/>
          </a:xfrm>
          <a:prstGeom prst="line">
            <a:avLst/>
          </a:prstGeom>
          <a:noFill/>
          <a:ln w="9525">
            <a:solidFill>
              <a:srgbClr val="8C96A8"/>
            </a:solidFill>
            <a:prstDash val="solid"/>
          </a:ln>
        </p:spPr>
      </p:sp>
      <p:sp>
        <p:nvSpPr>
          <p:cNvPr id="123" name="Shape 121"/>
          <p:cNvSpPr/>
          <p:nvPr/>
        </p:nvSpPr>
        <p:spPr>
          <a:xfrm rot="-3600000">
            <a:off x="8851517" y="2546921"/>
            <a:ext cx="53767" cy="71510"/>
          </a:xfrm>
          <a:prstGeom prst="roundRect">
            <a:avLst>
              <a:gd name="adj" fmla="val 50000"/>
            </a:avLst>
          </a:prstGeom>
          <a:solidFill>
            <a:srgbClr val="9CC3F0"/>
          </a:solidFill>
          <a:ln w="9525">
            <a:solidFill>
              <a:srgbClr val="4F7FB8"/>
            </a:solidFill>
            <a:prstDash val="solid"/>
          </a:ln>
        </p:spPr>
      </p:sp>
      <p:sp>
        <p:nvSpPr>
          <p:cNvPr id="124" name="Shape 122"/>
          <p:cNvSpPr/>
          <p:nvPr/>
        </p:nvSpPr>
        <p:spPr>
          <a:xfrm rot="-7200000">
            <a:off x="8851517" y="2582676"/>
            <a:ext cx="53767" cy="71510"/>
          </a:xfrm>
          <a:prstGeom prst="roundRect">
            <a:avLst>
              <a:gd name="adj" fmla="val 50000"/>
            </a:avLst>
          </a:prstGeom>
          <a:solidFill>
            <a:srgbClr val="9CC3F0"/>
          </a:solidFill>
          <a:ln w="9525">
            <a:solidFill>
              <a:srgbClr val="4F7FB8"/>
            </a:solidFill>
            <a:prstDash val="solid"/>
          </a:ln>
        </p:spPr>
      </p:sp>
      <p:sp>
        <p:nvSpPr>
          <p:cNvPr id="125" name="Shape 123"/>
          <p:cNvSpPr/>
          <p:nvPr/>
        </p:nvSpPr>
        <p:spPr>
          <a:xfrm>
            <a:off x="8885170" y="2576359"/>
            <a:ext cx="48390" cy="48390"/>
          </a:xfrm>
          <a:prstGeom prst="ellipse">
            <a:avLst/>
          </a:prstGeom>
          <a:solidFill>
            <a:srgbClr val="4F7FB8"/>
          </a:solidFill>
          <a:ln w="9525">
            <a:solidFill>
              <a:srgbClr val="4F7FB8"/>
            </a:solidFill>
            <a:prstDash val="solid"/>
          </a:ln>
        </p:spPr>
      </p:sp>
      <p:sp>
        <p:nvSpPr>
          <p:cNvPr id="126" name="Shape 124"/>
          <p:cNvSpPr/>
          <p:nvPr/>
        </p:nvSpPr>
        <p:spPr>
          <a:xfrm>
            <a:off x="7529352" y="2295876"/>
            <a:ext cx="71689" cy="71689"/>
          </a:xfrm>
          <a:prstGeom prst="ellipse">
            <a:avLst/>
          </a:prstGeom>
          <a:solidFill>
            <a:srgbClr val="133536"/>
          </a:solidFill>
          <a:ln w="9525">
            <a:solidFill>
              <a:srgbClr val="133536"/>
            </a:solidFill>
            <a:prstDash val="solid"/>
          </a:ln>
        </p:spPr>
      </p:sp>
      <p:sp>
        <p:nvSpPr>
          <p:cNvPr id="127" name="Shape 125"/>
          <p:cNvSpPr/>
          <p:nvPr/>
        </p:nvSpPr>
        <p:spPr>
          <a:xfrm>
            <a:off x="9178199" y="2295876"/>
            <a:ext cx="71689" cy="71689"/>
          </a:xfrm>
          <a:prstGeom prst="ellipse">
            <a:avLst/>
          </a:prstGeom>
          <a:solidFill>
            <a:srgbClr val="133536"/>
          </a:solidFill>
          <a:ln w="9525">
            <a:solidFill>
              <a:srgbClr val="133536"/>
            </a:solidFill>
            <a:prstDash val="solid"/>
          </a:ln>
        </p:spPr>
      </p:sp>
      <p:sp>
        <p:nvSpPr>
          <p:cNvPr id="128" name="Shape 126"/>
          <p:cNvSpPr/>
          <p:nvPr/>
        </p:nvSpPr>
        <p:spPr>
          <a:xfrm flipH="1">
            <a:off x="7986370" y="1883664"/>
            <a:ext cx="295717" cy="91"/>
          </a:xfrm>
          <a:prstGeom prst="line">
            <a:avLst/>
          </a:prstGeom>
          <a:noFill/>
          <a:ln w="15875">
            <a:solidFill>
              <a:srgbClr val="C8414C"/>
            </a:solidFill>
            <a:prstDash val="solid"/>
            <a:tailEnd type="triangle"/>
          </a:ln>
        </p:spPr>
      </p:sp>
      <p:sp>
        <p:nvSpPr>
          <p:cNvPr id="129" name="Shape 127"/>
          <p:cNvSpPr/>
          <p:nvPr/>
        </p:nvSpPr>
        <p:spPr>
          <a:xfrm>
            <a:off x="8497153" y="1883664"/>
            <a:ext cx="295717" cy="91"/>
          </a:xfrm>
          <a:prstGeom prst="line">
            <a:avLst/>
          </a:prstGeom>
          <a:noFill/>
          <a:ln w="15875">
            <a:solidFill>
              <a:srgbClr val="C8414C"/>
            </a:solidFill>
            <a:prstDash val="solid"/>
            <a:tailEnd type="triangle"/>
          </a:ln>
        </p:spPr>
      </p:sp>
      <p:sp>
        <p:nvSpPr>
          <p:cNvPr id="130" name="Text 128"/>
          <p:cNvSpPr/>
          <p:nvPr/>
        </p:nvSpPr>
        <p:spPr>
          <a:xfrm>
            <a:off x="7388352" y="3090672"/>
            <a:ext cx="2002536" cy="7772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Fibres </a:t>
            </a:r>
            <a:r>
              <a:rPr lang="en-US" sz="1050" b="1" dirty="0">
                <a:solidFill>
                  <a:srgbClr val="262B3A"/>
                </a:solidFill>
                <a:latin typeface="Calibri" pitchFamily="34" charset="0"/>
                <a:ea typeface="Calibri" pitchFamily="34" charset="-122"/>
                <a:cs typeface="Calibri" pitchFamily="34" charset="-120"/>
              </a:rPr>
              <a:t>pull</a:t>
            </a:r>
            <a:r>
              <a:rPr lang="en-US" sz="1050" dirty="0">
                <a:solidFill>
                  <a:srgbClr val="262B3A"/>
                </a:solidFill>
                <a:latin typeface="Calibri" pitchFamily="34" charset="0"/>
                <a:ea typeface="Calibri" pitchFamily="34" charset="-122"/>
                <a:cs typeface="Calibri" pitchFamily="34" charset="-120"/>
              </a:rPr>
              <a:t> the two chromatids of each chromosome to opposite ends of the cell.</a:t>
            </a:r>
            <a:endParaRPr lang="en-US" sz="1050" dirty="0"/>
          </a:p>
        </p:txBody>
      </p:sp>
      <p:sp>
        <p:nvSpPr>
          <p:cNvPr id="131" name="Text 129"/>
          <p:cNvSpPr/>
          <p:nvPr/>
        </p:nvSpPr>
        <p:spPr>
          <a:xfrm>
            <a:off x="7388352" y="3858768"/>
            <a:ext cx="2002536"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(anaphase)</a:t>
            </a:r>
            <a:endParaRPr lang="en-US" sz="1000" dirty="0"/>
          </a:p>
        </p:txBody>
      </p:sp>
      <p:sp>
        <p:nvSpPr>
          <p:cNvPr id="132" name="Shape 130"/>
          <p:cNvSpPr/>
          <p:nvPr/>
        </p:nvSpPr>
        <p:spPr>
          <a:xfrm>
            <a:off x="9464040" y="2331720"/>
            <a:ext cx="146304" cy="91"/>
          </a:xfrm>
          <a:prstGeom prst="line">
            <a:avLst/>
          </a:prstGeom>
          <a:noFill/>
          <a:ln w="19050">
            <a:solidFill>
              <a:srgbClr val="133536"/>
            </a:solidFill>
            <a:prstDash val="solid"/>
            <a:tailEnd type="triangle"/>
          </a:ln>
        </p:spPr>
      </p:sp>
      <p:sp>
        <p:nvSpPr>
          <p:cNvPr id="133" name="Shape 131"/>
          <p:cNvSpPr/>
          <p:nvPr/>
        </p:nvSpPr>
        <p:spPr>
          <a:xfrm>
            <a:off x="9592056" y="1188720"/>
            <a:ext cx="2185416" cy="2971800"/>
          </a:xfrm>
          <a:prstGeom prst="roundRect">
            <a:avLst>
              <a:gd name="adj" fmla="val 2510"/>
            </a:avLst>
          </a:prstGeom>
          <a:solidFill>
            <a:srgbClr val="EEF5F4"/>
          </a:solidFill>
          <a:ln w="9525">
            <a:solidFill>
              <a:srgbClr val="D2E3E1"/>
            </a:solidFill>
            <a:prstDash val="solid"/>
          </a:ln>
        </p:spPr>
      </p:sp>
      <p:sp>
        <p:nvSpPr>
          <p:cNvPr id="134" name="Text 132"/>
          <p:cNvSpPr/>
          <p:nvPr/>
        </p:nvSpPr>
        <p:spPr>
          <a:xfrm>
            <a:off x="9665208" y="1243584"/>
            <a:ext cx="2039112" cy="274320"/>
          </a:xfrm>
          <a:prstGeom prst="rect">
            <a:avLst/>
          </a:prstGeom>
          <a:noFill/>
          <a:ln/>
        </p:spPr>
        <p:txBody>
          <a:bodyPr wrap="square" lIns="0" tIns="0" rIns="0" bIns="0" rtlCol="0" anchor="ctr"/>
          <a:lstStyle/>
          <a:p>
            <a:pPr algn="ctr" indent="0" marL="0">
              <a:buNone/>
            </a:pPr>
            <a:r>
              <a:rPr lang="en-US" sz="1150" b="1" dirty="0">
                <a:solidFill>
                  <a:srgbClr val="133536"/>
                </a:solidFill>
                <a:latin typeface="Calibri" pitchFamily="34" charset="0"/>
                <a:ea typeface="Calibri" pitchFamily="34" charset="-122"/>
                <a:cs typeface="Calibri" pitchFamily="34" charset="-120"/>
              </a:rPr>
              <a:t>4  Two nuclei form</a:t>
            </a:r>
            <a:endParaRPr lang="en-US" sz="1150" dirty="0"/>
          </a:p>
        </p:txBody>
      </p:sp>
      <p:sp>
        <p:nvSpPr>
          <p:cNvPr id="135" name="Shape 133"/>
          <p:cNvSpPr/>
          <p:nvPr/>
        </p:nvSpPr>
        <p:spPr>
          <a:xfrm>
            <a:off x="9701784" y="1737360"/>
            <a:ext cx="1051560" cy="1188720"/>
          </a:xfrm>
          <a:prstGeom prst="ellipse">
            <a:avLst/>
          </a:prstGeom>
          <a:solidFill>
            <a:srgbClr val="FBF3DF"/>
          </a:solidFill>
          <a:ln w="19050">
            <a:solidFill>
              <a:srgbClr val="8A6D3B"/>
            </a:solidFill>
            <a:prstDash val="solid"/>
          </a:ln>
        </p:spPr>
      </p:sp>
      <p:sp>
        <p:nvSpPr>
          <p:cNvPr id="136" name="Shape 134"/>
          <p:cNvSpPr/>
          <p:nvPr/>
        </p:nvSpPr>
        <p:spPr>
          <a:xfrm>
            <a:off x="10616184" y="1737360"/>
            <a:ext cx="1051560" cy="1188720"/>
          </a:xfrm>
          <a:prstGeom prst="ellipse">
            <a:avLst/>
          </a:prstGeom>
          <a:solidFill>
            <a:srgbClr val="FBF3DF"/>
          </a:solidFill>
          <a:ln w="19050">
            <a:solidFill>
              <a:srgbClr val="8A6D3B"/>
            </a:solidFill>
            <a:prstDash val="solid"/>
          </a:ln>
        </p:spPr>
      </p:sp>
      <p:sp>
        <p:nvSpPr>
          <p:cNvPr id="137" name="Shape 135"/>
          <p:cNvSpPr/>
          <p:nvPr/>
        </p:nvSpPr>
        <p:spPr>
          <a:xfrm>
            <a:off x="9934956" y="2039112"/>
            <a:ext cx="585216" cy="585216"/>
          </a:xfrm>
          <a:prstGeom prst="ellipse">
            <a:avLst/>
          </a:prstGeom>
          <a:solidFill>
            <a:srgbClr val="E7DDF3"/>
          </a:solidFill>
          <a:ln w="15875">
            <a:solidFill>
              <a:srgbClr val="6A4C93"/>
            </a:solidFill>
            <a:prstDash val="solid"/>
          </a:ln>
        </p:spPr>
      </p:sp>
      <p:sp>
        <p:nvSpPr>
          <p:cNvPr id="138" name="Shape 136"/>
          <p:cNvSpPr/>
          <p:nvPr/>
        </p:nvSpPr>
        <p:spPr>
          <a:xfrm rot="1200000">
            <a:off x="10090404" y="2155698"/>
            <a:ext cx="54864" cy="205740"/>
          </a:xfrm>
          <a:prstGeom prst="roundRect">
            <a:avLst>
              <a:gd name="adj" fmla="val 50000"/>
            </a:avLst>
          </a:prstGeom>
          <a:solidFill>
            <a:srgbClr val="D9534F"/>
          </a:solidFill>
          <a:ln w="9525">
            <a:solidFill>
              <a:srgbClr val="8E2A33"/>
            </a:solidFill>
            <a:prstDash val="solid"/>
          </a:ln>
        </p:spPr>
      </p:sp>
      <p:sp>
        <p:nvSpPr>
          <p:cNvPr id="139" name="Shape 137"/>
          <p:cNvSpPr/>
          <p:nvPr/>
        </p:nvSpPr>
        <p:spPr>
          <a:xfrm rot="-900000">
            <a:off x="10291572" y="2137410"/>
            <a:ext cx="54864" cy="205740"/>
          </a:xfrm>
          <a:prstGeom prst="roundRect">
            <a:avLst>
              <a:gd name="adj" fmla="val 50000"/>
            </a:avLst>
          </a:prstGeom>
          <a:solidFill>
            <a:srgbClr val="3B7DD8"/>
          </a:solidFill>
          <a:ln w="9525">
            <a:solidFill>
              <a:srgbClr val="1F4E8C"/>
            </a:solidFill>
            <a:prstDash val="solid"/>
          </a:ln>
        </p:spPr>
      </p:sp>
      <p:sp>
        <p:nvSpPr>
          <p:cNvPr id="140" name="Shape 138"/>
          <p:cNvSpPr/>
          <p:nvPr/>
        </p:nvSpPr>
        <p:spPr>
          <a:xfrm rot="3600000">
            <a:off x="10126980" y="2385441"/>
            <a:ext cx="54864" cy="130302"/>
          </a:xfrm>
          <a:prstGeom prst="roundRect">
            <a:avLst>
              <a:gd name="adj" fmla="val 50000"/>
            </a:avLst>
          </a:prstGeom>
          <a:solidFill>
            <a:srgbClr val="F2A0A6"/>
          </a:solidFill>
          <a:ln w="9525">
            <a:solidFill>
              <a:srgbClr val="B5545C"/>
            </a:solidFill>
            <a:prstDash val="solid"/>
          </a:ln>
        </p:spPr>
      </p:sp>
      <p:sp>
        <p:nvSpPr>
          <p:cNvPr id="141" name="Shape 139"/>
          <p:cNvSpPr/>
          <p:nvPr/>
        </p:nvSpPr>
        <p:spPr>
          <a:xfrm>
            <a:off x="10309860" y="2376297"/>
            <a:ext cx="54864" cy="130302"/>
          </a:xfrm>
          <a:prstGeom prst="roundRect">
            <a:avLst>
              <a:gd name="adj" fmla="val 50000"/>
            </a:avLst>
          </a:prstGeom>
          <a:solidFill>
            <a:srgbClr val="9CC3F0"/>
          </a:solidFill>
          <a:ln w="9525">
            <a:solidFill>
              <a:srgbClr val="4F7FB8"/>
            </a:solidFill>
            <a:prstDash val="solid"/>
          </a:ln>
        </p:spPr>
      </p:sp>
      <p:sp>
        <p:nvSpPr>
          <p:cNvPr id="142" name="Shape 140"/>
          <p:cNvSpPr/>
          <p:nvPr/>
        </p:nvSpPr>
        <p:spPr>
          <a:xfrm>
            <a:off x="10849356" y="2039112"/>
            <a:ext cx="585216" cy="585216"/>
          </a:xfrm>
          <a:prstGeom prst="ellipse">
            <a:avLst/>
          </a:prstGeom>
          <a:solidFill>
            <a:srgbClr val="E7DDF3"/>
          </a:solidFill>
          <a:ln w="15875">
            <a:solidFill>
              <a:srgbClr val="6A4C93"/>
            </a:solidFill>
            <a:prstDash val="solid"/>
          </a:ln>
        </p:spPr>
      </p:sp>
      <p:sp>
        <p:nvSpPr>
          <p:cNvPr id="143" name="Shape 141"/>
          <p:cNvSpPr/>
          <p:nvPr/>
        </p:nvSpPr>
        <p:spPr>
          <a:xfrm rot="1200000">
            <a:off x="11004804" y="2155698"/>
            <a:ext cx="54864" cy="205740"/>
          </a:xfrm>
          <a:prstGeom prst="roundRect">
            <a:avLst>
              <a:gd name="adj" fmla="val 50000"/>
            </a:avLst>
          </a:prstGeom>
          <a:solidFill>
            <a:srgbClr val="D9534F"/>
          </a:solidFill>
          <a:ln w="9525">
            <a:solidFill>
              <a:srgbClr val="8E2A33"/>
            </a:solidFill>
            <a:prstDash val="solid"/>
          </a:ln>
        </p:spPr>
      </p:sp>
      <p:sp>
        <p:nvSpPr>
          <p:cNvPr id="144" name="Shape 142"/>
          <p:cNvSpPr/>
          <p:nvPr/>
        </p:nvSpPr>
        <p:spPr>
          <a:xfrm rot="-900000">
            <a:off x="11205972" y="2137410"/>
            <a:ext cx="54864" cy="205740"/>
          </a:xfrm>
          <a:prstGeom prst="roundRect">
            <a:avLst>
              <a:gd name="adj" fmla="val 50000"/>
            </a:avLst>
          </a:prstGeom>
          <a:solidFill>
            <a:srgbClr val="3B7DD8"/>
          </a:solidFill>
          <a:ln w="9525">
            <a:solidFill>
              <a:srgbClr val="1F4E8C"/>
            </a:solidFill>
            <a:prstDash val="solid"/>
          </a:ln>
        </p:spPr>
      </p:sp>
      <p:sp>
        <p:nvSpPr>
          <p:cNvPr id="145" name="Shape 143"/>
          <p:cNvSpPr/>
          <p:nvPr/>
        </p:nvSpPr>
        <p:spPr>
          <a:xfrm rot="3600000">
            <a:off x="11041380" y="2385441"/>
            <a:ext cx="54864" cy="130302"/>
          </a:xfrm>
          <a:prstGeom prst="roundRect">
            <a:avLst>
              <a:gd name="adj" fmla="val 50000"/>
            </a:avLst>
          </a:prstGeom>
          <a:solidFill>
            <a:srgbClr val="F2A0A6"/>
          </a:solidFill>
          <a:ln w="9525">
            <a:solidFill>
              <a:srgbClr val="B5545C"/>
            </a:solidFill>
            <a:prstDash val="solid"/>
          </a:ln>
        </p:spPr>
      </p:sp>
      <p:sp>
        <p:nvSpPr>
          <p:cNvPr id="146" name="Shape 144"/>
          <p:cNvSpPr/>
          <p:nvPr/>
        </p:nvSpPr>
        <p:spPr>
          <a:xfrm>
            <a:off x="11224260" y="2376297"/>
            <a:ext cx="54864" cy="130302"/>
          </a:xfrm>
          <a:prstGeom prst="roundRect">
            <a:avLst>
              <a:gd name="adj" fmla="val 50000"/>
            </a:avLst>
          </a:prstGeom>
          <a:solidFill>
            <a:srgbClr val="9CC3F0"/>
          </a:solidFill>
          <a:ln w="9525">
            <a:solidFill>
              <a:srgbClr val="4F7FB8"/>
            </a:solidFill>
            <a:prstDash val="solid"/>
          </a:ln>
        </p:spPr>
      </p:sp>
      <p:sp>
        <p:nvSpPr>
          <p:cNvPr id="147" name="Text 145"/>
          <p:cNvSpPr/>
          <p:nvPr/>
        </p:nvSpPr>
        <p:spPr>
          <a:xfrm>
            <a:off x="9683496" y="3090672"/>
            <a:ext cx="2002536" cy="77724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A membrane forms round each set. Then the </a:t>
            </a:r>
            <a:r>
              <a:rPr lang="en-US" sz="1050" b="1" dirty="0">
                <a:solidFill>
                  <a:srgbClr val="262B3A"/>
                </a:solidFill>
                <a:latin typeface="Calibri" pitchFamily="34" charset="0"/>
                <a:ea typeface="Calibri" pitchFamily="34" charset="-122"/>
                <a:cs typeface="Calibri" pitchFamily="34" charset="-120"/>
              </a:rPr>
              <a:t>cytoplasm divides</a:t>
            </a:r>
            <a:r>
              <a:rPr lang="en-US" sz="1050" dirty="0">
                <a:solidFill>
                  <a:srgbClr val="262B3A"/>
                </a:solidFill>
                <a:latin typeface="Calibri" pitchFamily="34" charset="0"/>
                <a:ea typeface="Calibri" pitchFamily="34" charset="-122"/>
                <a:cs typeface="Calibri" pitchFamily="34" charset="-120"/>
              </a:rPr>
              <a:t> (cytokinesis).</a:t>
            </a:r>
            <a:endParaRPr lang="en-US" sz="1050" dirty="0"/>
          </a:p>
        </p:txBody>
      </p:sp>
      <p:sp>
        <p:nvSpPr>
          <p:cNvPr id="148" name="Text 146"/>
          <p:cNvSpPr/>
          <p:nvPr/>
        </p:nvSpPr>
        <p:spPr>
          <a:xfrm>
            <a:off x="9683496" y="3858768"/>
            <a:ext cx="2002536"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(telophase, cytokinesis)</a:t>
            </a:r>
            <a:endParaRPr lang="en-US" sz="1000" dirty="0"/>
          </a:p>
        </p:txBody>
      </p:sp>
      <p:sp>
        <p:nvSpPr>
          <p:cNvPr id="149" name="Text 147"/>
          <p:cNvSpPr/>
          <p:nvPr/>
        </p:nvSpPr>
        <p:spPr>
          <a:xfrm>
            <a:off x="411480" y="4187952"/>
            <a:ext cx="11365992"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chromosome colours: red and blue long pair, light red and light blue short pair. Stage names in brackets are a stretch: you must describe what happens.</a:t>
            </a:r>
            <a:endParaRPr lang="en-US" sz="1000" dirty="0"/>
          </a:p>
        </p:txBody>
      </p:sp>
      <p:sp>
        <p:nvSpPr>
          <p:cNvPr id="150" name="Shape 148"/>
          <p:cNvSpPr/>
          <p:nvPr/>
        </p:nvSpPr>
        <p:spPr>
          <a:xfrm>
            <a:off x="411480" y="4480560"/>
            <a:ext cx="5577840" cy="1261872"/>
          </a:xfrm>
          <a:prstGeom prst="roundRect">
            <a:avLst>
              <a:gd name="adj" fmla="val 4348"/>
            </a:avLst>
          </a:prstGeom>
          <a:solidFill>
            <a:srgbClr val="F4FAF9"/>
          </a:solidFill>
          <a:ln w="9525">
            <a:solidFill>
              <a:srgbClr val="CFE0DE"/>
            </a:solidFill>
            <a:prstDash val="solid"/>
          </a:ln>
        </p:spPr>
      </p:sp>
      <p:sp>
        <p:nvSpPr>
          <p:cNvPr id="151" name="Text 149"/>
          <p:cNvSpPr/>
          <p:nvPr/>
        </p:nvSpPr>
        <p:spPr>
          <a:xfrm>
            <a:off x="576072" y="4572000"/>
            <a:ext cx="524865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Key points</a:t>
            </a:r>
            <a:endParaRPr lang="en-US" sz="1300" dirty="0"/>
          </a:p>
        </p:txBody>
      </p:sp>
      <p:sp>
        <p:nvSpPr>
          <p:cNvPr id="152" name="Text 150"/>
          <p:cNvSpPr/>
          <p:nvPr/>
        </p:nvSpPr>
        <p:spPr>
          <a:xfrm>
            <a:off x="576072" y="4901184"/>
            <a:ext cx="5248656" cy="768096"/>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Mitosis makes </a:t>
            </a:r>
            <a:r>
              <a:rPr lang="en-US" sz="1100" b="1" dirty="0">
                <a:solidFill>
                  <a:srgbClr val="262B3A"/>
                </a:solidFill>
                <a:latin typeface="Calibri" pitchFamily="34" charset="0"/>
                <a:ea typeface="Calibri" pitchFamily="34" charset="-122"/>
                <a:cs typeface="Calibri" pitchFamily="34" charset="-120"/>
              </a:rPr>
              <a:t>two nuclei</a:t>
            </a:r>
            <a:r>
              <a:rPr lang="en-US" sz="1100" dirty="0">
                <a:solidFill>
                  <a:srgbClr val="262B3A"/>
                </a:solidFill>
                <a:latin typeface="Calibri" pitchFamily="34" charset="0"/>
                <a:ea typeface="Calibri" pitchFamily="34" charset="-122"/>
                <a:cs typeface="Calibri" pitchFamily="34" charset="-120"/>
              </a:rPr>
              <a:t> with the </a:t>
            </a:r>
            <a:r>
              <a:rPr lang="en-US" sz="1100" b="1" dirty="0">
                <a:solidFill>
                  <a:srgbClr val="262B3A"/>
                </a:solidFill>
                <a:latin typeface="Calibri" pitchFamily="34" charset="0"/>
                <a:ea typeface="Calibri" pitchFamily="34" charset="-122"/>
                <a:cs typeface="Calibri" pitchFamily="34" charset="-120"/>
              </a:rPr>
              <a:t>same number</a:t>
            </a:r>
            <a:r>
              <a:rPr lang="en-US" sz="1100" dirty="0">
                <a:solidFill>
                  <a:srgbClr val="262B3A"/>
                </a:solidFill>
                <a:latin typeface="Calibri" pitchFamily="34" charset="0"/>
                <a:ea typeface="Calibri" pitchFamily="34" charset="-122"/>
                <a:cs typeface="Calibri" pitchFamily="34" charset="-120"/>
              </a:rPr>
              <a:t> of chromosomes as the parent.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Each new nucleus gets </a:t>
            </a:r>
            <a:r>
              <a:rPr lang="en-US" sz="1100" b="1" dirty="0">
                <a:solidFill>
                  <a:srgbClr val="262B3A"/>
                </a:solidFill>
                <a:latin typeface="Calibri" pitchFamily="34" charset="0"/>
                <a:ea typeface="Calibri" pitchFamily="34" charset="-122"/>
                <a:cs typeface="Calibri" pitchFamily="34" charset="-120"/>
              </a:rPr>
              <a:t>one chromatid</a:t>
            </a:r>
            <a:r>
              <a:rPr lang="en-US" sz="1100" dirty="0">
                <a:solidFill>
                  <a:srgbClr val="262B3A"/>
                </a:solidFill>
                <a:latin typeface="Calibri" pitchFamily="34" charset="0"/>
                <a:ea typeface="Calibri" pitchFamily="34" charset="-122"/>
                <a:cs typeface="Calibri" pitchFamily="34" charset="-120"/>
              </a:rPr>
              <a:t> from </a:t>
            </a:r>
            <a:r>
              <a:rPr lang="en-US" sz="1100" b="1" dirty="0">
                <a:solidFill>
                  <a:srgbClr val="262B3A"/>
                </a:solidFill>
                <a:latin typeface="Calibri" pitchFamily="34" charset="0"/>
                <a:ea typeface="Calibri" pitchFamily="34" charset="-122"/>
                <a:cs typeface="Calibri" pitchFamily="34" charset="-120"/>
              </a:rPr>
              <a:t>every</a:t>
            </a:r>
            <a:r>
              <a:rPr lang="en-US" sz="1100" dirty="0">
                <a:solidFill>
                  <a:srgbClr val="262B3A"/>
                </a:solidFill>
                <a:latin typeface="Calibri" pitchFamily="34" charset="0"/>
                <a:ea typeface="Calibri" pitchFamily="34" charset="-122"/>
                <a:cs typeface="Calibri" pitchFamily="34" charset="-120"/>
              </a:rPr>
              <a:t> chromosome, so both get identical copies.</a:t>
            </a:r>
            <a:endParaRPr lang="en-US" sz="1100" dirty="0"/>
          </a:p>
        </p:txBody>
      </p:sp>
      <p:sp>
        <p:nvSpPr>
          <p:cNvPr id="153" name="Shape 151"/>
          <p:cNvSpPr/>
          <p:nvPr/>
        </p:nvSpPr>
        <p:spPr>
          <a:xfrm>
            <a:off x="6126480" y="4480560"/>
            <a:ext cx="5650992" cy="1261872"/>
          </a:xfrm>
          <a:prstGeom prst="roundRect">
            <a:avLst>
              <a:gd name="adj" fmla="val 4348"/>
            </a:avLst>
          </a:prstGeom>
          <a:solidFill>
            <a:srgbClr val="FFF4E0"/>
          </a:solidFill>
          <a:ln w="9525">
            <a:solidFill>
              <a:srgbClr val="F1D9A8"/>
            </a:solidFill>
            <a:prstDash val="solid"/>
          </a:ln>
        </p:spPr>
      </p:sp>
      <p:sp>
        <p:nvSpPr>
          <p:cNvPr id="154" name="Text 152"/>
          <p:cNvSpPr/>
          <p:nvPr/>
        </p:nvSpPr>
        <p:spPr>
          <a:xfrm>
            <a:off x="6291072" y="4553712"/>
            <a:ext cx="532180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order the stages</a:t>
            </a:r>
            <a:endParaRPr lang="en-US" sz="1300" dirty="0"/>
          </a:p>
        </p:txBody>
      </p:sp>
      <p:sp>
        <p:nvSpPr>
          <p:cNvPr id="155" name="Text 153"/>
          <p:cNvSpPr/>
          <p:nvPr/>
        </p:nvSpPr>
        <p:spPr>
          <a:xfrm>
            <a:off x="6291072" y="4864608"/>
            <a:ext cx="5321808" cy="804672"/>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Put in order: separate • line up • condense • two nuclei.</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Order   </a:t>
            </a:r>
            <a:r>
              <a:rPr lang="en-US" sz="1050" dirty="0">
                <a:solidFill>
                  <a:srgbClr val="262B3A"/>
                </a:solidFill>
                <a:latin typeface="Calibri" pitchFamily="34" charset="0"/>
                <a:ea typeface="Calibri" pitchFamily="34" charset="-122"/>
                <a:cs typeface="Calibri" pitchFamily="34" charset="-120"/>
              </a:rPr>
              <a:t>condense → line up → separate → two nuclei</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then cytokinesis makes two cells</a:t>
            </a:r>
            <a:endParaRPr lang="en-US" sz="1050" dirty="0"/>
          </a:p>
        </p:txBody>
      </p:sp>
      <p:sp>
        <p:nvSpPr>
          <p:cNvPr id="156" name="Shape 154"/>
          <p:cNvSpPr/>
          <p:nvPr/>
        </p:nvSpPr>
        <p:spPr>
          <a:xfrm>
            <a:off x="411480" y="5833872"/>
            <a:ext cx="11368735" cy="530352"/>
          </a:xfrm>
          <a:prstGeom prst="rect">
            <a:avLst/>
          </a:prstGeom>
          <a:solidFill>
            <a:srgbClr val="FFF4E0"/>
          </a:solidFill>
          <a:ln w="6350">
            <a:solidFill>
              <a:srgbClr val="F1D9A8"/>
            </a:solidFill>
            <a:prstDash val="solid"/>
          </a:ln>
        </p:spPr>
      </p:sp>
      <p:sp>
        <p:nvSpPr>
          <p:cNvPr id="157" name="Shape 155"/>
          <p:cNvSpPr/>
          <p:nvPr/>
        </p:nvSpPr>
        <p:spPr>
          <a:xfrm>
            <a:off x="411480" y="5833872"/>
            <a:ext cx="82296" cy="530352"/>
          </a:xfrm>
          <a:prstGeom prst="rect">
            <a:avLst/>
          </a:prstGeom>
          <a:solidFill>
            <a:srgbClr val="E39A2F"/>
          </a:solidFill>
          <a:ln w="12700">
            <a:solidFill>
              <a:srgbClr val="E39A2F"/>
            </a:solidFill>
            <a:prstDash val="solid"/>
          </a:ln>
        </p:spPr>
      </p:sp>
      <p:sp>
        <p:nvSpPr>
          <p:cNvPr id="158" name="Text 1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which stage do the chromosomes line up in the </a:t>
            </a:r>
            <a:r>
              <a:rPr lang="en-US" sz="1150" b="1" dirty="0">
                <a:solidFill>
                  <a:srgbClr val="262B3A"/>
                </a:solidFill>
                <a:latin typeface="Calibri" pitchFamily="34" charset="0"/>
                <a:ea typeface="Calibri" pitchFamily="34" charset="-122"/>
                <a:cs typeface="Calibri" pitchFamily="34" charset="-120"/>
              </a:rPr>
              <a:t>middle</a:t>
            </a:r>
            <a:r>
              <a:rPr lang="en-US" sz="1150" dirty="0">
                <a:solidFill>
                  <a:srgbClr val="262B3A"/>
                </a:solidFill>
                <a:latin typeface="Calibri" pitchFamily="34" charset="0"/>
                <a:ea typeface="Calibri" pitchFamily="34" charset="-122"/>
                <a:cs typeface="Calibri" pitchFamily="34" charset="-120"/>
              </a:rPr>
              <a:t> of the cell? What pulls the chromatids apart in the next stage?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Mitosis makes genetically identical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two diploid daughter cells, used for growth, repair and asexual reproduction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B4.3.1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parent cell and daughter cells with 2n = 4; strawberry runner (right)</a:t>
            </a:r>
            <a:endParaRPr lang="en-US" sz="1000" dirty="0"/>
          </a:p>
        </p:txBody>
      </p:sp>
      <p:sp>
        <p:nvSpPr>
          <p:cNvPr id="10" name="Shape 8"/>
          <p:cNvSpPr/>
          <p:nvPr/>
        </p:nvSpPr>
        <p:spPr>
          <a:xfrm>
            <a:off x="594360" y="1714500"/>
            <a:ext cx="1188720" cy="960120"/>
          </a:xfrm>
          <a:prstGeom prst="ellipse">
            <a:avLst/>
          </a:prstGeom>
          <a:solidFill>
            <a:srgbClr val="FBF3DF"/>
          </a:solidFill>
          <a:ln w="19050">
            <a:solidFill>
              <a:srgbClr val="8A6D3B"/>
            </a:solidFill>
            <a:prstDash val="solid"/>
          </a:ln>
        </p:spPr>
      </p:sp>
      <p:sp>
        <p:nvSpPr>
          <p:cNvPr id="11" name="Shape 9"/>
          <p:cNvSpPr/>
          <p:nvPr/>
        </p:nvSpPr>
        <p:spPr>
          <a:xfrm>
            <a:off x="841248" y="1847088"/>
            <a:ext cx="694944" cy="694944"/>
          </a:xfrm>
          <a:prstGeom prst="ellipse">
            <a:avLst/>
          </a:prstGeom>
          <a:solidFill>
            <a:srgbClr val="E7DDF3"/>
          </a:solidFill>
          <a:ln w="15875">
            <a:solidFill>
              <a:srgbClr val="6A4C93"/>
            </a:solidFill>
            <a:prstDash val="solid"/>
          </a:ln>
        </p:spPr>
      </p:sp>
      <p:sp>
        <p:nvSpPr>
          <p:cNvPr id="12" name="Shape 10"/>
          <p:cNvSpPr/>
          <p:nvPr/>
        </p:nvSpPr>
        <p:spPr>
          <a:xfrm rot="900000">
            <a:off x="998982" y="1929384"/>
            <a:ext cx="68580" cy="347472"/>
          </a:xfrm>
          <a:prstGeom prst="roundRect">
            <a:avLst>
              <a:gd name="adj" fmla="val 50000"/>
            </a:avLst>
          </a:prstGeom>
          <a:solidFill>
            <a:srgbClr val="D9534F"/>
          </a:solidFill>
          <a:ln w="9525">
            <a:solidFill>
              <a:srgbClr val="8E2A33"/>
            </a:solidFill>
            <a:prstDash val="solid"/>
          </a:ln>
        </p:spPr>
      </p:sp>
      <p:sp>
        <p:nvSpPr>
          <p:cNvPr id="13" name="Shape 11"/>
          <p:cNvSpPr/>
          <p:nvPr/>
        </p:nvSpPr>
        <p:spPr>
          <a:xfrm rot="-1200000">
            <a:off x="1291590" y="1911096"/>
            <a:ext cx="68580" cy="347472"/>
          </a:xfrm>
          <a:prstGeom prst="roundRect">
            <a:avLst>
              <a:gd name="adj" fmla="val 50000"/>
            </a:avLst>
          </a:prstGeom>
          <a:solidFill>
            <a:srgbClr val="3B7DD8"/>
          </a:solidFill>
          <a:ln w="9525">
            <a:solidFill>
              <a:srgbClr val="1F4E8C"/>
            </a:solidFill>
            <a:prstDash val="solid"/>
          </a:ln>
        </p:spPr>
      </p:sp>
      <p:sp>
        <p:nvSpPr>
          <p:cNvPr id="14" name="Shape 12"/>
          <p:cNvSpPr/>
          <p:nvPr/>
        </p:nvSpPr>
        <p:spPr>
          <a:xfrm rot="3600000">
            <a:off x="1044702" y="2267712"/>
            <a:ext cx="68580" cy="219456"/>
          </a:xfrm>
          <a:prstGeom prst="roundRect">
            <a:avLst>
              <a:gd name="adj" fmla="val 50000"/>
            </a:avLst>
          </a:prstGeom>
          <a:solidFill>
            <a:srgbClr val="F2A0A6"/>
          </a:solidFill>
          <a:ln w="9525">
            <a:solidFill>
              <a:srgbClr val="B5545C"/>
            </a:solidFill>
            <a:prstDash val="solid"/>
          </a:ln>
        </p:spPr>
      </p:sp>
      <p:sp>
        <p:nvSpPr>
          <p:cNvPr id="15" name="Shape 13"/>
          <p:cNvSpPr/>
          <p:nvPr/>
        </p:nvSpPr>
        <p:spPr>
          <a:xfrm rot="1200000">
            <a:off x="1309878" y="2249424"/>
            <a:ext cx="68580" cy="219456"/>
          </a:xfrm>
          <a:prstGeom prst="roundRect">
            <a:avLst>
              <a:gd name="adj" fmla="val 50000"/>
            </a:avLst>
          </a:prstGeom>
          <a:solidFill>
            <a:srgbClr val="9CC3F0"/>
          </a:solidFill>
          <a:ln w="9525">
            <a:solidFill>
              <a:srgbClr val="4F7FB8"/>
            </a:solidFill>
            <a:prstDash val="solid"/>
          </a:ln>
        </p:spPr>
      </p:sp>
      <p:sp>
        <p:nvSpPr>
          <p:cNvPr id="16" name="Text 14"/>
          <p:cNvSpPr/>
          <p:nvPr/>
        </p:nvSpPr>
        <p:spPr>
          <a:xfrm>
            <a:off x="548640" y="2743200"/>
            <a:ext cx="12801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parent cell</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4 chromosomes</a:t>
            </a:r>
            <a:endParaRPr lang="en-US" sz="1050" dirty="0"/>
          </a:p>
        </p:txBody>
      </p:sp>
      <p:sp>
        <p:nvSpPr>
          <p:cNvPr id="17" name="Shape 15"/>
          <p:cNvSpPr/>
          <p:nvPr/>
        </p:nvSpPr>
        <p:spPr>
          <a:xfrm flipV="1">
            <a:off x="1874520" y="1847088"/>
            <a:ext cx="640080" cy="347472"/>
          </a:xfrm>
          <a:prstGeom prst="line">
            <a:avLst/>
          </a:prstGeom>
          <a:noFill/>
          <a:ln w="25400">
            <a:solidFill>
              <a:srgbClr val="133536"/>
            </a:solidFill>
            <a:prstDash val="solid"/>
            <a:tailEnd type="triangle"/>
          </a:ln>
        </p:spPr>
      </p:sp>
      <p:sp>
        <p:nvSpPr>
          <p:cNvPr id="18" name="Shape 16"/>
          <p:cNvSpPr/>
          <p:nvPr/>
        </p:nvSpPr>
        <p:spPr>
          <a:xfrm>
            <a:off x="1874520" y="2194560"/>
            <a:ext cx="640080" cy="411480"/>
          </a:xfrm>
          <a:prstGeom prst="line">
            <a:avLst/>
          </a:prstGeom>
          <a:noFill/>
          <a:ln w="25400">
            <a:solidFill>
              <a:srgbClr val="133536"/>
            </a:solidFill>
            <a:prstDash val="solid"/>
            <a:tailEnd type="triangle"/>
          </a:ln>
        </p:spPr>
      </p:sp>
      <p:sp>
        <p:nvSpPr>
          <p:cNvPr id="19" name="Text 17"/>
          <p:cNvSpPr/>
          <p:nvPr/>
        </p:nvSpPr>
        <p:spPr>
          <a:xfrm>
            <a:off x="2103120" y="2084832"/>
            <a:ext cx="640080" cy="219456"/>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mitosis</a:t>
            </a:r>
            <a:endParaRPr lang="en-US" sz="1050" dirty="0"/>
          </a:p>
        </p:txBody>
      </p:sp>
      <p:sp>
        <p:nvSpPr>
          <p:cNvPr id="20" name="Shape 18"/>
          <p:cNvSpPr/>
          <p:nvPr/>
        </p:nvSpPr>
        <p:spPr>
          <a:xfrm>
            <a:off x="2628900" y="1312164"/>
            <a:ext cx="960120" cy="777240"/>
          </a:xfrm>
          <a:prstGeom prst="ellipse">
            <a:avLst/>
          </a:prstGeom>
          <a:solidFill>
            <a:srgbClr val="FBF3DF"/>
          </a:solidFill>
          <a:ln w="19050">
            <a:solidFill>
              <a:srgbClr val="8A6D3B"/>
            </a:solidFill>
            <a:prstDash val="solid"/>
          </a:ln>
        </p:spPr>
      </p:sp>
      <p:sp>
        <p:nvSpPr>
          <p:cNvPr id="21" name="Shape 19"/>
          <p:cNvSpPr/>
          <p:nvPr/>
        </p:nvSpPr>
        <p:spPr>
          <a:xfrm>
            <a:off x="2825496" y="1417320"/>
            <a:ext cx="566928" cy="566928"/>
          </a:xfrm>
          <a:prstGeom prst="ellipse">
            <a:avLst/>
          </a:prstGeom>
          <a:solidFill>
            <a:srgbClr val="E7DDF3"/>
          </a:solidFill>
          <a:ln w="15875">
            <a:solidFill>
              <a:srgbClr val="6A4C93"/>
            </a:solidFill>
            <a:prstDash val="solid"/>
          </a:ln>
        </p:spPr>
      </p:sp>
      <p:sp>
        <p:nvSpPr>
          <p:cNvPr id="22" name="Shape 20"/>
          <p:cNvSpPr/>
          <p:nvPr/>
        </p:nvSpPr>
        <p:spPr>
          <a:xfrm rot="900000">
            <a:off x="2957170" y="1488643"/>
            <a:ext cx="54864" cy="277978"/>
          </a:xfrm>
          <a:prstGeom prst="roundRect">
            <a:avLst>
              <a:gd name="adj" fmla="val 50000"/>
            </a:avLst>
          </a:prstGeom>
          <a:solidFill>
            <a:srgbClr val="D9534F"/>
          </a:solidFill>
          <a:ln w="9525">
            <a:solidFill>
              <a:srgbClr val="8E2A33"/>
            </a:solidFill>
            <a:prstDash val="solid"/>
          </a:ln>
        </p:spPr>
      </p:sp>
      <p:sp>
        <p:nvSpPr>
          <p:cNvPr id="23" name="Shape 21"/>
          <p:cNvSpPr/>
          <p:nvPr/>
        </p:nvSpPr>
        <p:spPr>
          <a:xfrm rot="-1200000">
            <a:off x="3191256" y="1474013"/>
            <a:ext cx="54864" cy="277978"/>
          </a:xfrm>
          <a:prstGeom prst="roundRect">
            <a:avLst>
              <a:gd name="adj" fmla="val 50000"/>
            </a:avLst>
          </a:prstGeom>
          <a:solidFill>
            <a:srgbClr val="3B7DD8"/>
          </a:solidFill>
          <a:ln w="9525">
            <a:solidFill>
              <a:srgbClr val="1F4E8C"/>
            </a:solidFill>
            <a:prstDash val="solid"/>
          </a:ln>
        </p:spPr>
      </p:sp>
      <p:sp>
        <p:nvSpPr>
          <p:cNvPr id="24" name="Shape 22"/>
          <p:cNvSpPr/>
          <p:nvPr/>
        </p:nvSpPr>
        <p:spPr>
          <a:xfrm rot="3600000">
            <a:off x="2993746" y="1759306"/>
            <a:ext cx="54864" cy="175565"/>
          </a:xfrm>
          <a:prstGeom prst="roundRect">
            <a:avLst>
              <a:gd name="adj" fmla="val 50000"/>
            </a:avLst>
          </a:prstGeom>
          <a:solidFill>
            <a:srgbClr val="F2A0A6"/>
          </a:solidFill>
          <a:ln w="9525">
            <a:solidFill>
              <a:srgbClr val="B5545C"/>
            </a:solidFill>
            <a:prstDash val="solid"/>
          </a:ln>
        </p:spPr>
      </p:sp>
      <p:sp>
        <p:nvSpPr>
          <p:cNvPr id="25" name="Shape 23"/>
          <p:cNvSpPr/>
          <p:nvPr/>
        </p:nvSpPr>
        <p:spPr>
          <a:xfrm rot="1200000">
            <a:off x="3205886" y="1744675"/>
            <a:ext cx="54864" cy="175565"/>
          </a:xfrm>
          <a:prstGeom prst="roundRect">
            <a:avLst>
              <a:gd name="adj" fmla="val 50000"/>
            </a:avLst>
          </a:prstGeom>
          <a:solidFill>
            <a:srgbClr val="9CC3F0"/>
          </a:solidFill>
          <a:ln w="9525">
            <a:solidFill>
              <a:srgbClr val="4F7FB8"/>
            </a:solidFill>
            <a:prstDash val="solid"/>
          </a:ln>
        </p:spPr>
      </p:sp>
      <p:sp>
        <p:nvSpPr>
          <p:cNvPr id="26" name="Shape 24"/>
          <p:cNvSpPr/>
          <p:nvPr/>
        </p:nvSpPr>
        <p:spPr>
          <a:xfrm>
            <a:off x="2628900" y="2427732"/>
            <a:ext cx="960120" cy="777240"/>
          </a:xfrm>
          <a:prstGeom prst="ellipse">
            <a:avLst/>
          </a:prstGeom>
          <a:solidFill>
            <a:srgbClr val="FBF3DF"/>
          </a:solidFill>
          <a:ln w="19050">
            <a:solidFill>
              <a:srgbClr val="8A6D3B"/>
            </a:solidFill>
            <a:prstDash val="solid"/>
          </a:ln>
        </p:spPr>
      </p:sp>
      <p:sp>
        <p:nvSpPr>
          <p:cNvPr id="27" name="Shape 25"/>
          <p:cNvSpPr/>
          <p:nvPr/>
        </p:nvSpPr>
        <p:spPr>
          <a:xfrm>
            <a:off x="2825496" y="2532888"/>
            <a:ext cx="566928" cy="566928"/>
          </a:xfrm>
          <a:prstGeom prst="ellipse">
            <a:avLst/>
          </a:prstGeom>
          <a:solidFill>
            <a:srgbClr val="E7DDF3"/>
          </a:solidFill>
          <a:ln w="15875">
            <a:solidFill>
              <a:srgbClr val="6A4C93"/>
            </a:solidFill>
            <a:prstDash val="solid"/>
          </a:ln>
        </p:spPr>
      </p:sp>
      <p:sp>
        <p:nvSpPr>
          <p:cNvPr id="28" name="Shape 26"/>
          <p:cNvSpPr/>
          <p:nvPr/>
        </p:nvSpPr>
        <p:spPr>
          <a:xfrm rot="900000">
            <a:off x="2957170" y="2604211"/>
            <a:ext cx="54864" cy="277978"/>
          </a:xfrm>
          <a:prstGeom prst="roundRect">
            <a:avLst>
              <a:gd name="adj" fmla="val 50000"/>
            </a:avLst>
          </a:prstGeom>
          <a:solidFill>
            <a:srgbClr val="D9534F"/>
          </a:solidFill>
          <a:ln w="9525">
            <a:solidFill>
              <a:srgbClr val="8E2A33"/>
            </a:solidFill>
            <a:prstDash val="solid"/>
          </a:ln>
        </p:spPr>
      </p:sp>
      <p:sp>
        <p:nvSpPr>
          <p:cNvPr id="29" name="Shape 27"/>
          <p:cNvSpPr/>
          <p:nvPr/>
        </p:nvSpPr>
        <p:spPr>
          <a:xfrm rot="-1200000">
            <a:off x="3191256" y="2589581"/>
            <a:ext cx="54864" cy="277978"/>
          </a:xfrm>
          <a:prstGeom prst="roundRect">
            <a:avLst>
              <a:gd name="adj" fmla="val 50000"/>
            </a:avLst>
          </a:prstGeom>
          <a:solidFill>
            <a:srgbClr val="3B7DD8"/>
          </a:solidFill>
          <a:ln w="9525">
            <a:solidFill>
              <a:srgbClr val="1F4E8C"/>
            </a:solidFill>
            <a:prstDash val="solid"/>
          </a:ln>
        </p:spPr>
      </p:sp>
      <p:sp>
        <p:nvSpPr>
          <p:cNvPr id="30" name="Shape 28"/>
          <p:cNvSpPr/>
          <p:nvPr/>
        </p:nvSpPr>
        <p:spPr>
          <a:xfrm rot="3600000">
            <a:off x="2993746" y="2874874"/>
            <a:ext cx="54864" cy="175565"/>
          </a:xfrm>
          <a:prstGeom prst="roundRect">
            <a:avLst>
              <a:gd name="adj" fmla="val 50000"/>
            </a:avLst>
          </a:prstGeom>
          <a:solidFill>
            <a:srgbClr val="F2A0A6"/>
          </a:solidFill>
          <a:ln w="9525">
            <a:solidFill>
              <a:srgbClr val="B5545C"/>
            </a:solidFill>
            <a:prstDash val="solid"/>
          </a:ln>
        </p:spPr>
      </p:sp>
      <p:sp>
        <p:nvSpPr>
          <p:cNvPr id="31" name="Shape 29"/>
          <p:cNvSpPr/>
          <p:nvPr/>
        </p:nvSpPr>
        <p:spPr>
          <a:xfrm rot="1200000">
            <a:off x="3205886" y="2860243"/>
            <a:ext cx="54864" cy="175565"/>
          </a:xfrm>
          <a:prstGeom prst="roundRect">
            <a:avLst>
              <a:gd name="adj" fmla="val 50000"/>
            </a:avLst>
          </a:prstGeom>
          <a:solidFill>
            <a:srgbClr val="9CC3F0"/>
          </a:solidFill>
          <a:ln w="9525">
            <a:solidFill>
              <a:srgbClr val="4F7FB8"/>
            </a:solidFill>
            <a:prstDash val="solid"/>
          </a:ln>
        </p:spPr>
      </p:sp>
      <p:sp>
        <p:nvSpPr>
          <p:cNvPr id="32" name="Text 30"/>
          <p:cNvSpPr/>
          <p:nvPr/>
        </p:nvSpPr>
        <p:spPr>
          <a:xfrm>
            <a:off x="2606040" y="3273552"/>
            <a:ext cx="109728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2 cells, each with 4: </a:t>
            </a:r>
            <a:r>
              <a:rPr lang="en-US" sz="1050" b="1" dirty="0">
                <a:solidFill>
                  <a:srgbClr val="262B3A"/>
                </a:solidFill>
                <a:latin typeface="Calibri" pitchFamily="34" charset="0"/>
                <a:ea typeface="Calibri" pitchFamily="34" charset="-122"/>
                <a:cs typeface="Calibri" pitchFamily="34" charset="-120"/>
              </a:rPr>
              <a:t>identical</a:t>
            </a:r>
            <a:endParaRPr lang="en-US" sz="1050" dirty="0"/>
          </a:p>
        </p:txBody>
      </p:sp>
      <p:sp>
        <p:nvSpPr>
          <p:cNvPr id="33" name="Text 31"/>
          <p:cNvSpPr/>
          <p:nvPr/>
        </p:nvSpPr>
        <p:spPr>
          <a:xfrm>
            <a:off x="3931920" y="1298448"/>
            <a:ext cx="192024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Asexual reproduction</a:t>
            </a:r>
            <a:endParaRPr lang="en-US" sz="1050" dirty="0"/>
          </a:p>
        </p:txBody>
      </p:sp>
      <p:sp>
        <p:nvSpPr>
          <p:cNvPr id="34" name="Shape 32"/>
          <p:cNvSpPr/>
          <p:nvPr/>
        </p:nvSpPr>
        <p:spPr>
          <a:xfrm>
            <a:off x="3931920" y="2743200"/>
            <a:ext cx="1874520" cy="91"/>
          </a:xfrm>
          <a:prstGeom prst="line">
            <a:avLst/>
          </a:prstGeom>
          <a:noFill/>
          <a:ln w="38100">
            <a:solidFill>
              <a:srgbClr val="9C7A52"/>
            </a:solidFill>
            <a:prstDash val="solid"/>
          </a:ln>
        </p:spPr>
      </p:sp>
      <p:sp>
        <p:nvSpPr>
          <p:cNvPr id="35" name="Shape 33"/>
          <p:cNvSpPr/>
          <p:nvPr/>
        </p:nvSpPr>
        <p:spPr>
          <a:xfrm rot="-1800000">
            <a:off x="3824021" y="2302459"/>
            <a:ext cx="373075" cy="241402"/>
          </a:xfrm>
          <a:prstGeom prst="ellipse">
            <a:avLst/>
          </a:prstGeom>
          <a:solidFill>
            <a:srgbClr val="7DBE6A"/>
          </a:solidFill>
          <a:ln w="12700">
            <a:solidFill>
              <a:srgbClr val="3E7F2E"/>
            </a:solidFill>
            <a:prstDash val="solid"/>
          </a:ln>
        </p:spPr>
      </p:sp>
      <p:sp>
        <p:nvSpPr>
          <p:cNvPr id="36" name="Shape 34"/>
          <p:cNvSpPr/>
          <p:nvPr/>
        </p:nvSpPr>
        <p:spPr>
          <a:xfrm>
            <a:off x="4065422" y="2302459"/>
            <a:ext cx="373075" cy="241402"/>
          </a:xfrm>
          <a:prstGeom prst="ellipse">
            <a:avLst/>
          </a:prstGeom>
          <a:solidFill>
            <a:srgbClr val="7DBE6A"/>
          </a:solidFill>
          <a:ln w="12700">
            <a:solidFill>
              <a:srgbClr val="3E7F2E"/>
            </a:solidFill>
            <a:prstDash val="solid"/>
          </a:ln>
        </p:spPr>
      </p:sp>
      <p:sp>
        <p:nvSpPr>
          <p:cNvPr id="37" name="Shape 35"/>
          <p:cNvSpPr/>
          <p:nvPr/>
        </p:nvSpPr>
        <p:spPr>
          <a:xfrm rot="1800000">
            <a:off x="4306824" y="2302459"/>
            <a:ext cx="373075" cy="241402"/>
          </a:xfrm>
          <a:prstGeom prst="ellipse">
            <a:avLst/>
          </a:prstGeom>
          <a:solidFill>
            <a:srgbClr val="7DBE6A"/>
          </a:solidFill>
          <a:ln w="12700">
            <a:solidFill>
              <a:srgbClr val="3E7F2E"/>
            </a:solidFill>
            <a:prstDash val="solid"/>
          </a:ln>
        </p:spPr>
      </p:sp>
      <p:sp>
        <p:nvSpPr>
          <p:cNvPr id="38" name="Shape 36"/>
          <p:cNvSpPr/>
          <p:nvPr/>
        </p:nvSpPr>
        <p:spPr>
          <a:xfrm>
            <a:off x="4251960" y="2532888"/>
            <a:ext cx="91" cy="164592"/>
          </a:xfrm>
          <a:prstGeom prst="line">
            <a:avLst/>
          </a:prstGeom>
          <a:noFill/>
          <a:ln w="19050">
            <a:solidFill>
              <a:srgbClr val="3E7F2E"/>
            </a:solidFill>
            <a:prstDash val="solid"/>
          </a:ln>
        </p:spPr>
      </p:sp>
      <p:sp>
        <p:nvSpPr>
          <p:cNvPr id="39" name="Shape 37"/>
          <p:cNvSpPr/>
          <p:nvPr/>
        </p:nvSpPr>
        <p:spPr>
          <a:xfrm rot="-1800000">
            <a:off x="5119726" y="2401214"/>
            <a:ext cx="279806" cy="181051"/>
          </a:xfrm>
          <a:prstGeom prst="ellipse">
            <a:avLst/>
          </a:prstGeom>
          <a:solidFill>
            <a:srgbClr val="7DBE6A"/>
          </a:solidFill>
          <a:ln w="12700">
            <a:solidFill>
              <a:srgbClr val="3E7F2E"/>
            </a:solidFill>
            <a:prstDash val="solid"/>
          </a:ln>
        </p:spPr>
      </p:sp>
      <p:sp>
        <p:nvSpPr>
          <p:cNvPr id="40" name="Shape 38"/>
          <p:cNvSpPr/>
          <p:nvPr/>
        </p:nvSpPr>
        <p:spPr>
          <a:xfrm>
            <a:off x="5300777" y="2401214"/>
            <a:ext cx="279806" cy="181051"/>
          </a:xfrm>
          <a:prstGeom prst="ellipse">
            <a:avLst/>
          </a:prstGeom>
          <a:solidFill>
            <a:srgbClr val="7DBE6A"/>
          </a:solidFill>
          <a:ln w="12700">
            <a:solidFill>
              <a:srgbClr val="3E7F2E"/>
            </a:solidFill>
            <a:prstDash val="solid"/>
          </a:ln>
        </p:spPr>
      </p:sp>
      <p:sp>
        <p:nvSpPr>
          <p:cNvPr id="41" name="Shape 39"/>
          <p:cNvSpPr/>
          <p:nvPr/>
        </p:nvSpPr>
        <p:spPr>
          <a:xfrm rot="1800000">
            <a:off x="5481828" y="2401214"/>
            <a:ext cx="279806" cy="181051"/>
          </a:xfrm>
          <a:prstGeom prst="ellipse">
            <a:avLst/>
          </a:prstGeom>
          <a:solidFill>
            <a:srgbClr val="7DBE6A"/>
          </a:solidFill>
          <a:ln w="12700">
            <a:solidFill>
              <a:srgbClr val="3E7F2E"/>
            </a:solidFill>
            <a:prstDash val="solid"/>
          </a:ln>
        </p:spPr>
      </p:sp>
      <p:sp>
        <p:nvSpPr>
          <p:cNvPr id="42" name="Shape 40"/>
          <p:cNvSpPr/>
          <p:nvPr/>
        </p:nvSpPr>
        <p:spPr>
          <a:xfrm>
            <a:off x="5440680" y="2574036"/>
            <a:ext cx="91" cy="123444"/>
          </a:xfrm>
          <a:prstGeom prst="line">
            <a:avLst/>
          </a:prstGeom>
          <a:noFill/>
          <a:ln w="19050">
            <a:solidFill>
              <a:srgbClr val="3E7F2E"/>
            </a:solidFill>
            <a:prstDash val="solid"/>
          </a:ln>
        </p:spPr>
      </p:sp>
      <p:sp>
        <p:nvSpPr>
          <p:cNvPr id="43" name="Shape 41"/>
          <p:cNvSpPr/>
          <p:nvPr/>
        </p:nvSpPr>
        <p:spPr>
          <a:xfrm>
            <a:off x="4251960" y="2377440"/>
            <a:ext cx="1188720" cy="137160"/>
          </a:xfrm>
          <a:prstGeom prst="line">
            <a:avLst/>
          </a:prstGeom>
          <a:noFill/>
          <a:ln w="19050">
            <a:solidFill>
              <a:srgbClr val="C8414C"/>
            </a:solidFill>
            <a:prstDash val="dash"/>
          </a:ln>
        </p:spPr>
      </p:sp>
      <p:sp>
        <p:nvSpPr>
          <p:cNvPr id="44" name="Shape 42"/>
          <p:cNvSpPr/>
          <p:nvPr/>
        </p:nvSpPr>
        <p:spPr>
          <a:xfrm flipH="1">
            <a:off x="4114800" y="2743200"/>
            <a:ext cx="91440" cy="228600"/>
          </a:xfrm>
          <a:prstGeom prst="line">
            <a:avLst/>
          </a:prstGeom>
          <a:noFill/>
          <a:ln w="12700">
            <a:solidFill>
              <a:srgbClr val="6E5232"/>
            </a:solidFill>
            <a:prstDash val="solid"/>
          </a:ln>
        </p:spPr>
      </p:sp>
      <p:sp>
        <p:nvSpPr>
          <p:cNvPr id="45" name="Shape 43"/>
          <p:cNvSpPr/>
          <p:nvPr/>
        </p:nvSpPr>
        <p:spPr>
          <a:xfrm>
            <a:off x="4297680" y="2743200"/>
            <a:ext cx="91440" cy="228600"/>
          </a:xfrm>
          <a:prstGeom prst="line">
            <a:avLst/>
          </a:prstGeom>
          <a:noFill/>
          <a:ln w="12700">
            <a:solidFill>
              <a:srgbClr val="6E5232"/>
            </a:solidFill>
            <a:prstDash val="solid"/>
          </a:ln>
        </p:spPr>
      </p:sp>
      <p:sp>
        <p:nvSpPr>
          <p:cNvPr id="46" name="Shape 44"/>
          <p:cNvSpPr/>
          <p:nvPr/>
        </p:nvSpPr>
        <p:spPr>
          <a:xfrm flipH="1">
            <a:off x="5394960" y="2743200"/>
            <a:ext cx="45720" cy="182880"/>
          </a:xfrm>
          <a:prstGeom prst="line">
            <a:avLst/>
          </a:prstGeom>
          <a:noFill/>
          <a:ln w="12700">
            <a:solidFill>
              <a:srgbClr val="6E5232"/>
            </a:solidFill>
            <a:prstDash val="solid"/>
          </a:ln>
        </p:spPr>
      </p:sp>
      <p:sp>
        <p:nvSpPr>
          <p:cNvPr id="47" name="Text 45"/>
          <p:cNvSpPr/>
          <p:nvPr/>
        </p:nvSpPr>
        <p:spPr>
          <a:xfrm>
            <a:off x="3931920" y="3017520"/>
            <a:ext cx="192024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runner → new plant: a </a:t>
            </a:r>
            <a:r>
              <a:rPr lang="en-US" sz="1000" b="1" dirty="0">
                <a:solidFill>
                  <a:srgbClr val="262B3A"/>
                </a:solidFill>
                <a:latin typeface="Calibri" pitchFamily="34" charset="0"/>
                <a:ea typeface="Calibri" pitchFamily="34" charset="-122"/>
                <a:cs typeface="Calibri" pitchFamily="34" charset="-120"/>
              </a:rPr>
              <a:t>clone</a:t>
            </a:r>
            <a:endParaRPr lang="en-US" sz="1000" dirty="0"/>
          </a:p>
        </p:txBody>
      </p:sp>
      <p:sp>
        <p:nvSpPr>
          <p:cNvPr id="48" name="Shape 46"/>
          <p:cNvSpPr/>
          <p:nvPr/>
        </p:nvSpPr>
        <p:spPr>
          <a:xfrm>
            <a:off x="640080" y="3749040"/>
            <a:ext cx="2468880" cy="713232"/>
          </a:xfrm>
          <a:prstGeom prst="roundRect">
            <a:avLst>
              <a:gd name="adj" fmla="val 7692"/>
            </a:avLst>
          </a:prstGeom>
          <a:solidFill>
            <a:srgbClr val="FFFFFF"/>
          </a:solidFill>
          <a:ln w="12700">
            <a:solidFill>
              <a:srgbClr val="2E8B57"/>
            </a:solidFill>
            <a:prstDash val="solid"/>
          </a:ln>
        </p:spPr>
      </p:sp>
      <p:sp>
        <p:nvSpPr>
          <p:cNvPr id="49" name="Text 47"/>
          <p:cNvSpPr/>
          <p:nvPr/>
        </p:nvSpPr>
        <p:spPr>
          <a:xfrm>
            <a:off x="731520" y="3785616"/>
            <a:ext cx="2286000" cy="237744"/>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Growth</a:t>
            </a:r>
            <a:endParaRPr lang="en-US" sz="1050" dirty="0"/>
          </a:p>
        </p:txBody>
      </p:sp>
      <p:sp>
        <p:nvSpPr>
          <p:cNvPr id="50" name="Text 48"/>
          <p:cNvSpPr/>
          <p:nvPr/>
        </p:nvSpPr>
        <p:spPr>
          <a:xfrm>
            <a:off x="731520" y="4023360"/>
            <a:ext cx="2286000" cy="41148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more cells: a child grows taller; a seedling grows</a:t>
            </a:r>
            <a:endParaRPr lang="en-US" sz="1000" dirty="0"/>
          </a:p>
        </p:txBody>
      </p:sp>
      <p:sp>
        <p:nvSpPr>
          <p:cNvPr id="51" name="Shape 49"/>
          <p:cNvSpPr/>
          <p:nvPr/>
        </p:nvSpPr>
        <p:spPr>
          <a:xfrm>
            <a:off x="3246120" y="3749040"/>
            <a:ext cx="2468880" cy="713232"/>
          </a:xfrm>
          <a:prstGeom prst="roundRect">
            <a:avLst>
              <a:gd name="adj" fmla="val 7692"/>
            </a:avLst>
          </a:prstGeom>
          <a:solidFill>
            <a:srgbClr val="FFFFFF"/>
          </a:solidFill>
          <a:ln w="12700">
            <a:solidFill>
              <a:srgbClr val="2E8B57"/>
            </a:solidFill>
            <a:prstDash val="solid"/>
          </a:ln>
        </p:spPr>
      </p:sp>
      <p:sp>
        <p:nvSpPr>
          <p:cNvPr id="52" name="Text 50"/>
          <p:cNvSpPr/>
          <p:nvPr/>
        </p:nvSpPr>
        <p:spPr>
          <a:xfrm>
            <a:off x="3337560" y="3785616"/>
            <a:ext cx="2286000" cy="237744"/>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Repair</a:t>
            </a:r>
            <a:endParaRPr lang="en-US" sz="1050" dirty="0"/>
          </a:p>
        </p:txBody>
      </p:sp>
      <p:sp>
        <p:nvSpPr>
          <p:cNvPr id="53" name="Text 51"/>
          <p:cNvSpPr/>
          <p:nvPr/>
        </p:nvSpPr>
        <p:spPr>
          <a:xfrm>
            <a:off x="3337560" y="4023360"/>
            <a:ext cx="2286000" cy="41148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new skin cells close a cut; a broken bone mends</a:t>
            </a:r>
            <a:endParaRPr lang="en-US" sz="1000" dirty="0"/>
          </a:p>
        </p:txBody>
      </p:sp>
      <p:sp>
        <p:nvSpPr>
          <p:cNvPr id="54" name="Shape 52"/>
          <p:cNvSpPr/>
          <p:nvPr/>
        </p:nvSpPr>
        <p:spPr>
          <a:xfrm>
            <a:off x="640080" y="4553712"/>
            <a:ext cx="2468880" cy="713232"/>
          </a:xfrm>
          <a:prstGeom prst="roundRect">
            <a:avLst>
              <a:gd name="adj" fmla="val 7692"/>
            </a:avLst>
          </a:prstGeom>
          <a:solidFill>
            <a:srgbClr val="FFFFFF"/>
          </a:solidFill>
          <a:ln w="12700">
            <a:solidFill>
              <a:srgbClr val="2E8B57"/>
            </a:solidFill>
            <a:prstDash val="solid"/>
          </a:ln>
        </p:spPr>
      </p:sp>
      <p:sp>
        <p:nvSpPr>
          <p:cNvPr id="55" name="Text 53"/>
          <p:cNvSpPr/>
          <p:nvPr/>
        </p:nvSpPr>
        <p:spPr>
          <a:xfrm>
            <a:off x="731520" y="4590288"/>
            <a:ext cx="2286000" cy="237744"/>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Replacement</a:t>
            </a:r>
            <a:endParaRPr lang="en-US" sz="1050" dirty="0"/>
          </a:p>
        </p:txBody>
      </p:sp>
      <p:sp>
        <p:nvSpPr>
          <p:cNvPr id="56" name="Text 54"/>
          <p:cNvSpPr/>
          <p:nvPr/>
        </p:nvSpPr>
        <p:spPr>
          <a:xfrm>
            <a:off x="731520" y="4828032"/>
            <a:ext cx="2286000" cy="41148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worn-out cells replaced, e.g. skin, gut lining</a:t>
            </a:r>
            <a:endParaRPr lang="en-US" sz="1000" dirty="0"/>
          </a:p>
        </p:txBody>
      </p:sp>
      <p:sp>
        <p:nvSpPr>
          <p:cNvPr id="57" name="Shape 55"/>
          <p:cNvSpPr/>
          <p:nvPr/>
        </p:nvSpPr>
        <p:spPr>
          <a:xfrm>
            <a:off x="3246120" y="4553712"/>
            <a:ext cx="2468880" cy="713232"/>
          </a:xfrm>
          <a:prstGeom prst="roundRect">
            <a:avLst>
              <a:gd name="adj" fmla="val 7692"/>
            </a:avLst>
          </a:prstGeom>
          <a:solidFill>
            <a:srgbClr val="FFFFFF"/>
          </a:solidFill>
          <a:ln w="12700">
            <a:solidFill>
              <a:srgbClr val="2E8B57"/>
            </a:solidFill>
            <a:prstDash val="solid"/>
          </a:ln>
        </p:spPr>
      </p:sp>
      <p:sp>
        <p:nvSpPr>
          <p:cNvPr id="58" name="Text 56"/>
          <p:cNvSpPr/>
          <p:nvPr/>
        </p:nvSpPr>
        <p:spPr>
          <a:xfrm>
            <a:off x="3337560" y="4590288"/>
            <a:ext cx="2286000" cy="237744"/>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Asexual reproduction</a:t>
            </a:r>
            <a:endParaRPr lang="en-US" sz="1050" dirty="0"/>
          </a:p>
        </p:txBody>
      </p:sp>
      <p:sp>
        <p:nvSpPr>
          <p:cNvPr id="59" name="Text 57"/>
          <p:cNvSpPr/>
          <p:nvPr/>
        </p:nvSpPr>
        <p:spPr>
          <a:xfrm>
            <a:off x="3337560" y="4828032"/>
            <a:ext cx="2286000" cy="41148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runners, potato tubers; offspring are clones</a:t>
            </a:r>
            <a:endParaRPr lang="en-US" sz="1000" dirty="0"/>
          </a:p>
        </p:txBody>
      </p:sp>
      <p:sp>
        <p:nvSpPr>
          <p:cNvPr id="60" name="Shape 58"/>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1" name="Text 5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identical diploid cells</a:t>
            </a:r>
            <a:endParaRPr lang="en-US" sz="1300" dirty="0"/>
          </a:p>
        </p:txBody>
      </p:sp>
      <p:sp>
        <p:nvSpPr>
          <p:cNvPr id="62" name="Text 6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Mitosis makes </a:t>
            </a:r>
            <a:r>
              <a:rPr lang="en-US" sz="1100" b="1" dirty="0">
                <a:solidFill>
                  <a:srgbClr val="262B3A"/>
                </a:solidFill>
                <a:latin typeface="Calibri" pitchFamily="34" charset="0"/>
                <a:ea typeface="Calibri" pitchFamily="34" charset="-122"/>
                <a:cs typeface="Calibri" pitchFamily="34" charset="-120"/>
              </a:rPr>
              <a:t>two</a:t>
            </a:r>
            <a:r>
              <a:rPr lang="en-US" sz="1100" dirty="0">
                <a:solidFill>
                  <a:srgbClr val="262B3A"/>
                </a:solidFill>
                <a:latin typeface="Calibri" pitchFamily="34" charset="0"/>
                <a:ea typeface="Calibri" pitchFamily="34" charset="-122"/>
                <a:cs typeface="Calibri" pitchFamily="34" charset="-120"/>
              </a:rPr>
              <a:t> new cells from one.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They are </a:t>
            </a:r>
            <a:r>
              <a:rPr lang="en-US" sz="1100" b="1" dirty="0">
                <a:solidFill>
                  <a:srgbClr val="262B3A"/>
                </a:solidFill>
                <a:latin typeface="Calibri" pitchFamily="34" charset="0"/>
                <a:ea typeface="Calibri" pitchFamily="34" charset="-122"/>
                <a:cs typeface="Calibri" pitchFamily="34" charset="-120"/>
              </a:rPr>
              <a:t>genetically identical</a:t>
            </a:r>
            <a:r>
              <a:rPr lang="en-US" sz="1100" dirty="0">
                <a:solidFill>
                  <a:srgbClr val="262B3A"/>
                </a:solidFill>
                <a:latin typeface="Calibri" pitchFamily="34" charset="0"/>
                <a:ea typeface="Calibri" pitchFamily="34" charset="-122"/>
                <a:cs typeface="Calibri" pitchFamily="34" charset="-120"/>
              </a:rPr>
              <a:t> to each other and to the parent cell: the chromosomes were copied exactly, and each cell gets one copy of each.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Both cells are </a:t>
            </a:r>
            <a:r>
              <a:rPr lang="en-US" sz="1100" b="1" dirty="0">
                <a:solidFill>
                  <a:srgbClr val="262B3A"/>
                </a:solidFill>
                <a:latin typeface="Calibri" pitchFamily="34" charset="0"/>
                <a:ea typeface="Calibri" pitchFamily="34" charset="-122"/>
                <a:cs typeface="Calibri" pitchFamily="34" charset="-120"/>
              </a:rPr>
              <a:t>diploid</a:t>
            </a:r>
            <a:r>
              <a:rPr lang="en-US" sz="1100" dirty="0">
                <a:solidFill>
                  <a:srgbClr val="262B3A"/>
                </a:solidFill>
                <a:latin typeface="Calibri" pitchFamily="34" charset="0"/>
                <a:ea typeface="Calibri" pitchFamily="34" charset="-122"/>
                <a:cs typeface="Calibri" pitchFamily="34" charset="-120"/>
              </a:rPr>
              <a:t>: they have the </a:t>
            </a:r>
            <a:r>
              <a:rPr lang="en-US" sz="1100" b="1" dirty="0">
                <a:solidFill>
                  <a:srgbClr val="262B3A"/>
                </a:solidFill>
                <a:latin typeface="Calibri" pitchFamily="34" charset="0"/>
                <a:ea typeface="Calibri" pitchFamily="34" charset="-122"/>
                <a:cs typeface="Calibri" pitchFamily="34" charset="-120"/>
              </a:rPr>
              <a:t>same number</a:t>
            </a:r>
            <a:r>
              <a:rPr lang="en-US" sz="1100" dirty="0">
                <a:solidFill>
                  <a:srgbClr val="262B3A"/>
                </a:solidFill>
                <a:latin typeface="Calibri" pitchFamily="34" charset="0"/>
                <a:ea typeface="Calibri" pitchFamily="34" charset="-122"/>
                <a:cs typeface="Calibri" pitchFamily="34" charset="-120"/>
              </a:rPr>
              <a:t> of chromosomes as the parent (46 in humans).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Mitosis is used for </a:t>
            </a:r>
            <a:r>
              <a:rPr lang="en-US" sz="1100" b="1" dirty="0">
                <a:solidFill>
                  <a:srgbClr val="262B3A"/>
                </a:solidFill>
                <a:latin typeface="Calibri" pitchFamily="34" charset="0"/>
                <a:ea typeface="Calibri" pitchFamily="34" charset="-122"/>
                <a:cs typeface="Calibri" pitchFamily="34" charset="-120"/>
              </a:rPr>
              <a:t>growth</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repair</a:t>
            </a:r>
            <a:r>
              <a:rPr lang="en-US" sz="1100" dirty="0">
                <a:solidFill>
                  <a:srgbClr val="262B3A"/>
                </a:solidFill>
                <a:latin typeface="Calibri" pitchFamily="34" charset="0"/>
                <a:ea typeface="Calibri" pitchFamily="34" charset="-122"/>
                <a:cs typeface="Calibri" pitchFamily="34" charset="-120"/>
              </a:rPr>
              <a:t>, replacement and </a:t>
            </a:r>
            <a:r>
              <a:rPr lang="en-US" sz="1100" b="1" dirty="0">
                <a:solidFill>
                  <a:srgbClr val="262B3A"/>
                </a:solidFill>
                <a:latin typeface="Calibri" pitchFamily="34" charset="0"/>
                <a:ea typeface="Calibri" pitchFamily="34" charset="-122"/>
                <a:cs typeface="Calibri" pitchFamily="34" charset="-120"/>
              </a:rPr>
              <a:t>asexual reproduction</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63" name="Shape 6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4" name="Text 6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mitosis twice</a:t>
            </a:r>
            <a:endParaRPr lang="en-US" sz="1300" dirty="0"/>
          </a:p>
        </p:txBody>
      </p:sp>
      <p:sp>
        <p:nvSpPr>
          <p:cNvPr id="65" name="Text 63"/>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human cell divides by mitosis, then both new cells divide by mitosis. How many cells, and how many chromosomes in each?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Cells   </a:t>
            </a:r>
            <a:r>
              <a:rPr lang="en-US" sz="1050" dirty="0">
                <a:solidFill>
                  <a:srgbClr val="262B3A"/>
                </a:solidFill>
                <a:latin typeface="Calibri" pitchFamily="34" charset="0"/>
                <a:ea typeface="Calibri" pitchFamily="34" charset="-122"/>
                <a:cs typeface="Calibri" pitchFamily="34" charset="-120"/>
              </a:rPr>
              <a:t>1 → 2 → 4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Chromosomes   </a:t>
            </a:r>
            <a:r>
              <a:rPr lang="en-US" sz="1050" dirty="0">
                <a:solidFill>
                  <a:srgbClr val="262B3A"/>
                </a:solidFill>
                <a:latin typeface="Calibri" pitchFamily="34" charset="0"/>
                <a:ea typeface="Calibri" pitchFamily="34" charset="-122"/>
                <a:cs typeface="Calibri" pitchFamily="34" charset="-120"/>
              </a:rPr>
              <a:t>mitosis keeps the number the same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Genes   </a:t>
            </a:r>
            <a:r>
              <a:rPr lang="en-US" sz="1050" dirty="0">
                <a:solidFill>
                  <a:srgbClr val="262B3A"/>
                </a:solidFill>
                <a:latin typeface="Calibri" pitchFamily="34" charset="0"/>
                <a:ea typeface="Calibri" pitchFamily="34" charset="-122"/>
                <a:cs typeface="Calibri" pitchFamily="34" charset="-120"/>
              </a:rPr>
              <a:t>all four have identical genes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4 cells, each with 46 chromosomes</a:t>
            </a:r>
            <a:endParaRPr lang="en-US" sz="1050" dirty="0"/>
          </a:p>
        </p:txBody>
      </p:sp>
      <p:sp>
        <p:nvSpPr>
          <p:cNvPr id="66" name="Shape 64"/>
          <p:cNvSpPr/>
          <p:nvPr/>
        </p:nvSpPr>
        <p:spPr>
          <a:xfrm>
            <a:off x="411480" y="5833872"/>
            <a:ext cx="11368735" cy="530352"/>
          </a:xfrm>
          <a:prstGeom prst="rect">
            <a:avLst/>
          </a:prstGeom>
          <a:solidFill>
            <a:srgbClr val="FFF4E0"/>
          </a:solidFill>
          <a:ln w="6350">
            <a:solidFill>
              <a:srgbClr val="F1D9A8"/>
            </a:solidFill>
            <a:prstDash val="solid"/>
          </a:ln>
        </p:spPr>
      </p:sp>
      <p:sp>
        <p:nvSpPr>
          <p:cNvPr id="67" name="Shape 65"/>
          <p:cNvSpPr/>
          <p:nvPr/>
        </p:nvSpPr>
        <p:spPr>
          <a:xfrm>
            <a:off x="411480" y="5833872"/>
            <a:ext cx="82296" cy="530352"/>
          </a:xfrm>
          <a:prstGeom prst="rect">
            <a:avLst/>
          </a:prstGeom>
          <a:solidFill>
            <a:srgbClr val="E39A2F"/>
          </a:solidFill>
          <a:ln w="12700">
            <a:solidFill>
              <a:srgbClr val="E39A2F"/>
            </a:solidFill>
            <a:prstDash val="solid"/>
          </a:ln>
        </p:spPr>
      </p:sp>
      <p:sp>
        <p:nvSpPr>
          <p:cNvPr id="68" name="Text 6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The new skin cells that heal a cut have exactly the same genes as your other body cells. Explain why.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the cell cycle and mitosis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longest</a:t>
            </a:r>
            <a:r>
              <a:rPr lang="en-US" sz="1250" dirty="0">
                <a:solidFill>
                  <a:srgbClr val="262B3A"/>
                </a:solidFill>
                <a:latin typeface="Calibri" pitchFamily="34" charset="0"/>
                <a:ea typeface="Calibri" pitchFamily="34" charset="-122"/>
                <a:cs typeface="Calibri" pitchFamily="34" charset="-120"/>
              </a:rPr>
              <a:t> stage of the cell cycle. Describe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things that happen in it.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these stages of mitosis in order: </a:t>
            </a:r>
            <a:r>
              <a:rPr lang="en-US" sz="1250" b="1" dirty="0">
                <a:solidFill>
                  <a:srgbClr val="262B3A"/>
                </a:solidFill>
                <a:latin typeface="Calibri" pitchFamily="34" charset="0"/>
                <a:ea typeface="Calibri" pitchFamily="34" charset="-122"/>
                <a:cs typeface="Calibri" pitchFamily="34" charset="-120"/>
              </a:rPr>
              <a:t>chromatids separate</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two nuclei form</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chromosomes condense</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chromosomes line up</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two cells made by mitosis are </a:t>
            </a:r>
            <a:r>
              <a:rPr lang="en-US" sz="1250" b="1" dirty="0">
                <a:solidFill>
                  <a:srgbClr val="262B3A"/>
                </a:solidFill>
                <a:latin typeface="Calibri" pitchFamily="34" charset="0"/>
                <a:ea typeface="Calibri" pitchFamily="34" charset="-122"/>
                <a:cs typeface="Calibri" pitchFamily="34" charset="-120"/>
              </a:rPr>
              <a:t>genetically identical</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use of mitosis in a plant.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B1: observing mitosis in a root tip</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make a root tip squash and look at it with a light microscope</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B1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for a root tip squash (garlic or onion)</a:t>
            </a:r>
            <a:endParaRPr lang="en-US" sz="1000" dirty="0"/>
          </a:p>
        </p:txBody>
      </p:sp>
      <p:sp>
        <p:nvSpPr>
          <p:cNvPr id="12" name="Shape 10"/>
          <p:cNvSpPr/>
          <p:nvPr/>
        </p:nvSpPr>
        <p:spPr>
          <a:xfrm>
            <a:off x="548640" y="1298448"/>
            <a:ext cx="2606040" cy="1938528"/>
          </a:xfrm>
          <a:prstGeom prst="roundRect">
            <a:avLst>
              <a:gd name="adj" fmla="val 2358"/>
            </a:avLst>
          </a:prstGeom>
          <a:solidFill>
            <a:srgbClr val="FFFFFF"/>
          </a:solidFill>
          <a:ln w="12700">
            <a:solidFill>
              <a:srgbClr val="CFE0DE"/>
            </a:solidFill>
            <a:prstDash val="solid"/>
          </a:ln>
        </p:spPr>
      </p:sp>
      <p:sp>
        <p:nvSpPr>
          <p:cNvPr id="13" name="Text 11"/>
          <p:cNvSpPr/>
          <p:nvPr/>
        </p:nvSpPr>
        <p:spPr>
          <a:xfrm>
            <a:off x="640080" y="1335024"/>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1  Grow roots; cut 5 mm tips</a:t>
            </a:r>
            <a:endParaRPr lang="en-US" sz="1050" dirty="0"/>
          </a:p>
        </p:txBody>
      </p:sp>
      <p:sp>
        <p:nvSpPr>
          <p:cNvPr id="14" name="Shape 12"/>
          <p:cNvSpPr/>
          <p:nvPr/>
        </p:nvSpPr>
        <p:spPr>
          <a:xfrm>
            <a:off x="3291840" y="1298448"/>
            <a:ext cx="2606040" cy="1938528"/>
          </a:xfrm>
          <a:prstGeom prst="roundRect">
            <a:avLst>
              <a:gd name="adj" fmla="val 2358"/>
            </a:avLst>
          </a:prstGeom>
          <a:solidFill>
            <a:srgbClr val="FFFFFF"/>
          </a:solidFill>
          <a:ln w="12700">
            <a:solidFill>
              <a:srgbClr val="CFE0DE"/>
            </a:solidFill>
            <a:prstDash val="solid"/>
          </a:ln>
        </p:spPr>
      </p:sp>
      <p:sp>
        <p:nvSpPr>
          <p:cNvPr id="15" name="Text 13"/>
          <p:cNvSpPr/>
          <p:nvPr/>
        </p:nvSpPr>
        <p:spPr>
          <a:xfrm>
            <a:off x="3383280" y="1335024"/>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2  Warm tips in acid</a:t>
            </a:r>
            <a:endParaRPr lang="en-US" sz="1050" dirty="0"/>
          </a:p>
        </p:txBody>
      </p:sp>
      <p:sp>
        <p:nvSpPr>
          <p:cNvPr id="16" name="Shape 14"/>
          <p:cNvSpPr/>
          <p:nvPr/>
        </p:nvSpPr>
        <p:spPr>
          <a:xfrm>
            <a:off x="548640" y="3364992"/>
            <a:ext cx="2606040" cy="1938528"/>
          </a:xfrm>
          <a:prstGeom prst="roundRect">
            <a:avLst>
              <a:gd name="adj" fmla="val 2358"/>
            </a:avLst>
          </a:prstGeom>
          <a:solidFill>
            <a:srgbClr val="FFFFFF"/>
          </a:solidFill>
          <a:ln w="12700">
            <a:solidFill>
              <a:srgbClr val="CFE0DE"/>
            </a:solidFill>
            <a:prstDash val="solid"/>
          </a:ln>
        </p:spPr>
      </p:sp>
      <p:sp>
        <p:nvSpPr>
          <p:cNvPr id="17" name="Text 15"/>
          <p:cNvSpPr/>
          <p:nvPr/>
        </p:nvSpPr>
        <p:spPr>
          <a:xfrm>
            <a:off x="640080" y="3401568"/>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3  Stain, then squash</a:t>
            </a:r>
            <a:endParaRPr lang="en-US" sz="1050" dirty="0"/>
          </a:p>
        </p:txBody>
      </p:sp>
      <p:sp>
        <p:nvSpPr>
          <p:cNvPr id="18" name="Shape 16"/>
          <p:cNvSpPr/>
          <p:nvPr/>
        </p:nvSpPr>
        <p:spPr>
          <a:xfrm>
            <a:off x="3291840" y="3364992"/>
            <a:ext cx="2606040" cy="1938528"/>
          </a:xfrm>
          <a:prstGeom prst="roundRect">
            <a:avLst>
              <a:gd name="adj" fmla="val 2358"/>
            </a:avLst>
          </a:prstGeom>
          <a:solidFill>
            <a:srgbClr val="FFFFFF"/>
          </a:solidFill>
          <a:ln w="12700">
            <a:solidFill>
              <a:srgbClr val="CFE0DE"/>
            </a:solidFill>
            <a:prstDash val="solid"/>
          </a:ln>
        </p:spPr>
      </p:sp>
      <p:sp>
        <p:nvSpPr>
          <p:cNvPr id="19" name="Text 17"/>
          <p:cNvSpPr/>
          <p:nvPr/>
        </p:nvSpPr>
        <p:spPr>
          <a:xfrm>
            <a:off x="3383280" y="3401568"/>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4  Observe: ×100, then ×400</a:t>
            </a:r>
            <a:endParaRPr lang="en-US" sz="1050" dirty="0"/>
          </a:p>
        </p:txBody>
      </p:sp>
      <p:sp>
        <p:nvSpPr>
          <p:cNvPr id="20" name="Shape 18"/>
          <p:cNvSpPr/>
          <p:nvPr/>
        </p:nvSpPr>
        <p:spPr>
          <a:xfrm>
            <a:off x="777240" y="2267712"/>
            <a:ext cx="914400" cy="658368"/>
          </a:xfrm>
          <a:prstGeom prst="rect">
            <a:avLst/>
          </a:prstGeom>
          <a:solidFill>
            <a:srgbClr val="BFD9F2"/>
          </a:solidFill>
          <a:ln/>
        </p:spPr>
      </p:sp>
      <p:sp>
        <p:nvSpPr>
          <p:cNvPr id="21" name="Shape 19"/>
          <p:cNvSpPr/>
          <p:nvPr/>
        </p:nvSpPr>
        <p:spPr>
          <a:xfrm>
            <a:off x="777240" y="2011680"/>
            <a:ext cx="91" cy="914400"/>
          </a:xfrm>
          <a:prstGeom prst="line">
            <a:avLst/>
          </a:prstGeom>
          <a:noFill/>
          <a:ln w="25400">
            <a:solidFill>
              <a:srgbClr val="133536"/>
            </a:solidFill>
            <a:prstDash val="solid"/>
          </a:ln>
        </p:spPr>
      </p:sp>
      <p:sp>
        <p:nvSpPr>
          <p:cNvPr id="22" name="Shape 20"/>
          <p:cNvSpPr/>
          <p:nvPr/>
        </p:nvSpPr>
        <p:spPr>
          <a:xfrm>
            <a:off x="1691640" y="2011680"/>
            <a:ext cx="91" cy="914400"/>
          </a:xfrm>
          <a:prstGeom prst="line">
            <a:avLst/>
          </a:prstGeom>
          <a:noFill/>
          <a:ln w="25400">
            <a:solidFill>
              <a:srgbClr val="133536"/>
            </a:solidFill>
            <a:prstDash val="solid"/>
          </a:ln>
        </p:spPr>
      </p:sp>
      <p:sp>
        <p:nvSpPr>
          <p:cNvPr id="23" name="Shape 21"/>
          <p:cNvSpPr/>
          <p:nvPr/>
        </p:nvSpPr>
        <p:spPr>
          <a:xfrm>
            <a:off x="777240" y="2926080"/>
            <a:ext cx="914400" cy="91"/>
          </a:xfrm>
          <a:prstGeom prst="line">
            <a:avLst/>
          </a:prstGeom>
          <a:noFill/>
          <a:ln w="25400">
            <a:solidFill>
              <a:srgbClr val="133536"/>
            </a:solidFill>
            <a:prstDash val="solid"/>
          </a:ln>
        </p:spPr>
      </p:sp>
      <p:sp>
        <p:nvSpPr>
          <p:cNvPr id="24" name="Shape 22"/>
          <p:cNvSpPr/>
          <p:nvPr/>
        </p:nvSpPr>
        <p:spPr>
          <a:xfrm>
            <a:off x="777240" y="2267712"/>
            <a:ext cx="914400" cy="91"/>
          </a:xfrm>
          <a:prstGeom prst="line">
            <a:avLst/>
          </a:prstGeom>
          <a:noFill/>
          <a:ln w="15875">
            <a:solidFill>
              <a:srgbClr val="5B9BD5"/>
            </a:solidFill>
            <a:prstDash val="solid"/>
          </a:ln>
        </p:spPr>
      </p:sp>
      <p:sp>
        <p:nvSpPr>
          <p:cNvPr id="25" name="Shape 23"/>
          <p:cNvSpPr/>
          <p:nvPr/>
        </p:nvSpPr>
        <p:spPr>
          <a:xfrm>
            <a:off x="982980" y="1682496"/>
            <a:ext cx="502920" cy="384048"/>
          </a:xfrm>
          <a:prstGeom prst="ellipse">
            <a:avLst/>
          </a:prstGeom>
          <a:solidFill>
            <a:srgbClr val="F4EBD9"/>
          </a:solidFill>
          <a:ln w="15875">
            <a:solidFill>
              <a:srgbClr val="B9A47A"/>
            </a:solidFill>
            <a:prstDash val="solid"/>
          </a:ln>
        </p:spPr>
      </p:sp>
      <p:sp>
        <p:nvSpPr>
          <p:cNvPr id="26" name="Shape 24"/>
          <p:cNvSpPr/>
          <p:nvPr/>
        </p:nvSpPr>
        <p:spPr>
          <a:xfrm flipH="1">
            <a:off x="1051560" y="2057400"/>
            <a:ext cx="45720" cy="685800"/>
          </a:xfrm>
          <a:prstGeom prst="line">
            <a:avLst/>
          </a:prstGeom>
          <a:noFill/>
          <a:ln w="31750">
            <a:solidFill>
              <a:srgbClr val="E8E2C8"/>
            </a:solidFill>
            <a:prstDash val="solid"/>
          </a:ln>
        </p:spPr>
      </p:sp>
      <p:sp>
        <p:nvSpPr>
          <p:cNvPr id="27" name="Shape 25"/>
          <p:cNvSpPr/>
          <p:nvPr/>
        </p:nvSpPr>
        <p:spPr>
          <a:xfrm flipH="1">
            <a:off x="1143000" y="2057400"/>
            <a:ext cx="45720" cy="685800"/>
          </a:xfrm>
          <a:prstGeom prst="line">
            <a:avLst/>
          </a:prstGeom>
          <a:noFill/>
          <a:ln w="31750">
            <a:solidFill>
              <a:srgbClr val="E8E2C8"/>
            </a:solidFill>
            <a:prstDash val="solid"/>
          </a:ln>
        </p:spPr>
      </p:sp>
      <p:sp>
        <p:nvSpPr>
          <p:cNvPr id="28" name="Shape 26"/>
          <p:cNvSpPr/>
          <p:nvPr/>
        </p:nvSpPr>
        <p:spPr>
          <a:xfrm flipH="1">
            <a:off x="1234440" y="2057400"/>
            <a:ext cx="45720" cy="685800"/>
          </a:xfrm>
          <a:prstGeom prst="line">
            <a:avLst/>
          </a:prstGeom>
          <a:noFill/>
          <a:ln w="31750">
            <a:solidFill>
              <a:srgbClr val="E8E2C8"/>
            </a:solidFill>
            <a:prstDash val="solid"/>
          </a:ln>
        </p:spPr>
      </p:sp>
      <p:sp>
        <p:nvSpPr>
          <p:cNvPr id="29" name="Shape 27"/>
          <p:cNvSpPr/>
          <p:nvPr/>
        </p:nvSpPr>
        <p:spPr>
          <a:xfrm flipH="1">
            <a:off x="1325880" y="2057400"/>
            <a:ext cx="45720" cy="685800"/>
          </a:xfrm>
          <a:prstGeom prst="line">
            <a:avLst/>
          </a:prstGeom>
          <a:noFill/>
          <a:ln w="31750">
            <a:solidFill>
              <a:srgbClr val="E8E2C8"/>
            </a:solidFill>
            <a:prstDash val="solid"/>
          </a:ln>
        </p:spPr>
      </p:sp>
      <p:sp>
        <p:nvSpPr>
          <p:cNvPr id="30" name="Shape 28"/>
          <p:cNvSpPr/>
          <p:nvPr/>
        </p:nvSpPr>
        <p:spPr>
          <a:xfrm>
            <a:off x="1051560" y="2633472"/>
            <a:ext cx="91" cy="109728"/>
          </a:xfrm>
          <a:prstGeom prst="line">
            <a:avLst/>
          </a:prstGeom>
          <a:noFill/>
          <a:ln w="31750">
            <a:solidFill>
              <a:srgbClr val="C8414C"/>
            </a:solidFill>
            <a:prstDash val="solid"/>
          </a:ln>
        </p:spPr>
      </p:sp>
      <p:sp>
        <p:nvSpPr>
          <p:cNvPr id="31" name="Shape 29"/>
          <p:cNvSpPr/>
          <p:nvPr/>
        </p:nvSpPr>
        <p:spPr>
          <a:xfrm>
            <a:off x="1143000" y="2633472"/>
            <a:ext cx="91" cy="109728"/>
          </a:xfrm>
          <a:prstGeom prst="line">
            <a:avLst/>
          </a:prstGeom>
          <a:noFill/>
          <a:ln w="31750">
            <a:solidFill>
              <a:srgbClr val="C8414C"/>
            </a:solidFill>
            <a:prstDash val="solid"/>
          </a:ln>
        </p:spPr>
      </p:sp>
      <p:sp>
        <p:nvSpPr>
          <p:cNvPr id="32" name="Shape 30"/>
          <p:cNvSpPr/>
          <p:nvPr/>
        </p:nvSpPr>
        <p:spPr>
          <a:xfrm>
            <a:off x="1234440" y="2633472"/>
            <a:ext cx="91" cy="109728"/>
          </a:xfrm>
          <a:prstGeom prst="line">
            <a:avLst/>
          </a:prstGeom>
          <a:noFill/>
          <a:ln w="31750">
            <a:solidFill>
              <a:srgbClr val="C8414C"/>
            </a:solidFill>
            <a:prstDash val="solid"/>
          </a:ln>
        </p:spPr>
      </p:sp>
      <p:sp>
        <p:nvSpPr>
          <p:cNvPr id="33" name="Shape 31"/>
          <p:cNvSpPr/>
          <p:nvPr/>
        </p:nvSpPr>
        <p:spPr>
          <a:xfrm>
            <a:off x="1325880" y="2633472"/>
            <a:ext cx="91" cy="109728"/>
          </a:xfrm>
          <a:prstGeom prst="line">
            <a:avLst/>
          </a:prstGeom>
          <a:noFill/>
          <a:ln w="31750">
            <a:solidFill>
              <a:srgbClr val="C8414C"/>
            </a:solidFill>
            <a:prstDash val="solid"/>
          </a:ln>
        </p:spPr>
      </p:sp>
      <p:sp>
        <p:nvSpPr>
          <p:cNvPr id="34" name="Text 32"/>
          <p:cNvSpPr/>
          <p:nvPr/>
        </p:nvSpPr>
        <p:spPr>
          <a:xfrm>
            <a:off x="640080" y="2962656"/>
            <a:ext cx="1188720" cy="219456"/>
          </a:xfrm>
          <a:prstGeom prst="rect">
            <a:avLst/>
          </a:prstGeom>
          <a:noFill/>
          <a:ln/>
        </p:spPr>
        <p:txBody>
          <a:bodyPr wrap="square" lIns="0" tIns="0" rIns="0" bIns="0" rtlCol="0" anchor="ctr"/>
          <a:lstStyle/>
          <a:p>
            <a:pPr algn="ctr" indent="0" marL="0">
              <a:buNone/>
            </a:pPr>
            <a:r>
              <a:rPr lang="en-US" sz="1000" dirty="0">
                <a:solidFill>
                  <a:srgbClr val="C8414C"/>
                </a:solidFill>
                <a:latin typeface="Calibri" pitchFamily="34" charset="0"/>
                <a:ea typeface="Calibri" pitchFamily="34" charset="-122"/>
                <a:cs typeface="Calibri" pitchFamily="34" charset="-120"/>
              </a:rPr>
              <a:t>tips divide fastest</a:t>
            </a:r>
            <a:endParaRPr lang="en-US" sz="1000" dirty="0"/>
          </a:p>
        </p:txBody>
      </p:sp>
      <p:sp>
        <p:nvSpPr>
          <p:cNvPr id="35" name="Shape 33"/>
          <p:cNvSpPr/>
          <p:nvPr/>
        </p:nvSpPr>
        <p:spPr>
          <a:xfrm>
            <a:off x="2011680" y="2651760"/>
            <a:ext cx="1005840" cy="274320"/>
          </a:xfrm>
          <a:prstGeom prst="rect">
            <a:avLst/>
          </a:prstGeom>
          <a:solidFill>
            <a:srgbClr val="FFFFFF"/>
          </a:solidFill>
          <a:ln w="12700">
            <a:solidFill>
              <a:srgbClr val="9AA3B0"/>
            </a:solidFill>
            <a:prstDash val="solid"/>
          </a:ln>
        </p:spPr>
      </p:sp>
      <p:sp>
        <p:nvSpPr>
          <p:cNvPr id="36" name="Shape 34"/>
          <p:cNvSpPr/>
          <p:nvPr/>
        </p:nvSpPr>
        <p:spPr>
          <a:xfrm flipV="1">
            <a:off x="2148840" y="2240280"/>
            <a:ext cx="640080" cy="228600"/>
          </a:xfrm>
          <a:prstGeom prst="line">
            <a:avLst/>
          </a:prstGeom>
          <a:noFill/>
          <a:ln w="38100">
            <a:solidFill>
              <a:srgbClr val="6B7385"/>
            </a:solidFill>
            <a:prstDash val="solid"/>
          </a:ln>
        </p:spPr>
      </p:sp>
      <p:sp>
        <p:nvSpPr>
          <p:cNvPr id="37" name="Shape 35"/>
          <p:cNvSpPr/>
          <p:nvPr/>
        </p:nvSpPr>
        <p:spPr>
          <a:xfrm>
            <a:off x="2148840" y="2468880"/>
            <a:ext cx="137160" cy="182880"/>
          </a:xfrm>
          <a:prstGeom prst="line">
            <a:avLst/>
          </a:prstGeom>
          <a:noFill/>
          <a:ln w="19050">
            <a:solidFill>
              <a:srgbClr val="9AA3B0"/>
            </a:solidFill>
            <a:prstDash val="solid"/>
          </a:ln>
        </p:spPr>
      </p:sp>
      <p:sp>
        <p:nvSpPr>
          <p:cNvPr id="38" name="Shape 36"/>
          <p:cNvSpPr/>
          <p:nvPr/>
        </p:nvSpPr>
        <p:spPr>
          <a:xfrm>
            <a:off x="2331720" y="2761488"/>
            <a:ext cx="137160" cy="91"/>
          </a:xfrm>
          <a:prstGeom prst="line">
            <a:avLst/>
          </a:prstGeom>
          <a:noFill/>
          <a:ln w="38100">
            <a:solidFill>
              <a:srgbClr val="C8414C"/>
            </a:solidFill>
            <a:prstDash val="solid"/>
          </a:ln>
        </p:spPr>
      </p:sp>
      <p:sp>
        <p:nvSpPr>
          <p:cNvPr id="39" name="Text 37"/>
          <p:cNvSpPr/>
          <p:nvPr/>
        </p:nvSpPr>
        <p:spPr>
          <a:xfrm>
            <a:off x="1920240" y="2971800"/>
            <a:ext cx="118872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scalpel, tile</a:t>
            </a:r>
            <a:endParaRPr lang="en-US" sz="1000" dirty="0"/>
          </a:p>
        </p:txBody>
      </p:sp>
      <p:sp>
        <p:nvSpPr>
          <p:cNvPr id="40" name="Shape 38"/>
          <p:cNvSpPr/>
          <p:nvPr/>
        </p:nvSpPr>
        <p:spPr>
          <a:xfrm>
            <a:off x="3520440" y="2377440"/>
            <a:ext cx="1600200" cy="731520"/>
          </a:xfrm>
          <a:prstGeom prst="rect">
            <a:avLst/>
          </a:prstGeom>
          <a:solidFill>
            <a:srgbClr val="BFD9F2"/>
          </a:solidFill>
          <a:ln/>
        </p:spPr>
      </p:sp>
      <p:sp>
        <p:nvSpPr>
          <p:cNvPr id="41" name="Shape 39"/>
          <p:cNvSpPr/>
          <p:nvPr/>
        </p:nvSpPr>
        <p:spPr>
          <a:xfrm>
            <a:off x="3520440" y="2194560"/>
            <a:ext cx="91" cy="914400"/>
          </a:xfrm>
          <a:prstGeom prst="line">
            <a:avLst/>
          </a:prstGeom>
          <a:noFill/>
          <a:ln w="25400">
            <a:solidFill>
              <a:srgbClr val="133536"/>
            </a:solidFill>
            <a:prstDash val="solid"/>
          </a:ln>
        </p:spPr>
      </p:sp>
      <p:sp>
        <p:nvSpPr>
          <p:cNvPr id="42" name="Shape 40"/>
          <p:cNvSpPr/>
          <p:nvPr/>
        </p:nvSpPr>
        <p:spPr>
          <a:xfrm>
            <a:off x="5120640" y="2194560"/>
            <a:ext cx="91" cy="914400"/>
          </a:xfrm>
          <a:prstGeom prst="line">
            <a:avLst/>
          </a:prstGeom>
          <a:noFill/>
          <a:ln w="25400">
            <a:solidFill>
              <a:srgbClr val="133536"/>
            </a:solidFill>
            <a:prstDash val="solid"/>
          </a:ln>
        </p:spPr>
      </p:sp>
      <p:sp>
        <p:nvSpPr>
          <p:cNvPr id="43" name="Shape 41"/>
          <p:cNvSpPr/>
          <p:nvPr/>
        </p:nvSpPr>
        <p:spPr>
          <a:xfrm>
            <a:off x="3520440" y="3108960"/>
            <a:ext cx="1600200" cy="91"/>
          </a:xfrm>
          <a:prstGeom prst="line">
            <a:avLst/>
          </a:prstGeom>
          <a:noFill/>
          <a:ln w="25400">
            <a:solidFill>
              <a:srgbClr val="133536"/>
            </a:solidFill>
            <a:prstDash val="solid"/>
          </a:ln>
        </p:spPr>
      </p:sp>
      <p:sp>
        <p:nvSpPr>
          <p:cNvPr id="44" name="Shape 42"/>
          <p:cNvSpPr/>
          <p:nvPr/>
        </p:nvSpPr>
        <p:spPr>
          <a:xfrm>
            <a:off x="3520440" y="2377440"/>
            <a:ext cx="1600200" cy="91"/>
          </a:xfrm>
          <a:prstGeom prst="line">
            <a:avLst/>
          </a:prstGeom>
          <a:noFill/>
          <a:ln w="15875">
            <a:solidFill>
              <a:srgbClr val="5B9BD5"/>
            </a:solidFill>
            <a:prstDash val="solid"/>
          </a:ln>
        </p:spPr>
      </p:sp>
      <p:sp>
        <p:nvSpPr>
          <p:cNvPr id="45" name="Shape 43"/>
          <p:cNvSpPr/>
          <p:nvPr/>
        </p:nvSpPr>
        <p:spPr>
          <a:xfrm>
            <a:off x="3977640" y="1691640"/>
            <a:ext cx="292608" cy="1298448"/>
          </a:xfrm>
          <a:prstGeom prst="roundRect">
            <a:avLst>
              <a:gd name="adj" fmla="val 46875"/>
            </a:avLst>
          </a:prstGeom>
          <a:solidFill>
            <a:srgbClr val="F7FAFC"/>
          </a:solidFill>
          <a:ln w="15875">
            <a:solidFill>
              <a:srgbClr val="6B7385"/>
            </a:solidFill>
            <a:prstDash val="solid"/>
          </a:ln>
        </p:spPr>
      </p:sp>
      <p:sp>
        <p:nvSpPr>
          <p:cNvPr id="46" name="Shape 44"/>
          <p:cNvSpPr/>
          <p:nvPr/>
        </p:nvSpPr>
        <p:spPr>
          <a:xfrm>
            <a:off x="4005072" y="2359152"/>
            <a:ext cx="237744" cy="603504"/>
          </a:xfrm>
          <a:prstGeom prst="roundRect">
            <a:avLst>
              <a:gd name="adj" fmla="val 46154"/>
            </a:avLst>
          </a:prstGeom>
          <a:solidFill>
            <a:srgbClr val="F3E9A8"/>
          </a:solidFill>
          <a:ln/>
        </p:spPr>
      </p:sp>
      <p:sp>
        <p:nvSpPr>
          <p:cNvPr id="47" name="Shape 45"/>
          <p:cNvSpPr/>
          <p:nvPr/>
        </p:nvSpPr>
        <p:spPr>
          <a:xfrm>
            <a:off x="4114800" y="2724912"/>
            <a:ext cx="91" cy="137160"/>
          </a:xfrm>
          <a:prstGeom prst="line">
            <a:avLst/>
          </a:prstGeom>
          <a:noFill/>
          <a:ln w="31750">
            <a:solidFill>
              <a:srgbClr val="C8414C"/>
            </a:solidFill>
            <a:prstDash val="solid"/>
          </a:ln>
        </p:spPr>
      </p:sp>
      <p:sp>
        <p:nvSpPr>
          <p:cNvPr id="48" name="Shape 46"/>
          <p:cNvSpPr/>
          <p:nvPr/>
        </p:nvSpPr>
        <p:spPr>
          <a:xfrm>
            <a:off x="4754880" y="1645920"/>
            <a:ext cx="73152" cy="1325880"/>
          </a:xfrm>
          <a:prstGeom prst="roundRect">
            <a:avLst>
              <a:gd name="adj" fmla="val 50000"/>
            </a:avLst>
          </a:prstGeom>
          <a:solidFill>
            <a:srgbClr val="FFFFFF"/>
          </a:solidFill>
          <a:ln w="9525">
            <a:solidFill>
              <a:srgbClr val="6B7385"/>
            </a:solidFill>
            <a:prstDash val="solid"/>
          </a:ln>
        </p:spPr>
      </p:sp>
      <p:sp>
        <p:nvSpPr>
          <p:cNvPr id="49" name="Shape 47"/>
          <p:cNvSpPr/>
          <p:nvPr/>
        </p:nvSpPr>
        <p:spPr>
          <a:xfrm>
            <a:off x="4736592" y="2916936"/>
            <a:ext cx="109728" cy="109728"/>
          </a:xfrm>
          <a:prstGeom prst="ellipse">
            <a:avLst/>
          </a:prstGeom>
          <a:solidFill>
            <a:srgbClr val="C8414C"/>
          </a:solidFill>
          <a:ln w="9525">
            <a:solidFill>
              <a:srgbClr val="8E2A33"/>
            </a:solidFill>
            <a:prstDash val="solid"/>
          </a:ln>
        </p:spPr>
      </p:sp>
      <p:sp>
        <p:nvSpPr>
          <p:cNvPr id="50" name="Shape 48"/>
          <p:cNvSpPr/>
          <p:nvPr/>
        </p:nvSpPr>
        <p:spPr>
          <a:xfrm>
            <a:off x="4777740" y="2331720"/>
            <a:ext cx="27432" cy="640080"/>
          </a:xfrm>
          <a:prstGeom prst="rect">
            <a:avLst/>
          </a:prstGeom>
          <a:solidFill>
            <a:srgbClr val="C8414C"/>
          </a:solidFill>
          <a:ln/>
        </p:spPr>
      </p:sp>
      <p:sp>
        <p:nvSpPr>
          <p:cNvPr id="51" name="Text 49"/>
          <p:cNvSpPr/>
          <p:nvPr/>
        </p:nvSpPr>
        <p:spPr>
          <a:xfrm>
            <a:off x="4901184" y="1783080"/>
            <a:ext cx="932688" cy="7772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hydrochloric acid, 60 °C, 5 min</a:t>
            </a:r>
            <a:endParaRPr lang="en-US" sz="1000" dirty="0"/>
          </a:p>
        </p:txBody>
      </p:sp>
      <p:sp>
        <p:nvSpPr>
          <p:cNvPr id="52" name="Shape 50"/>
          <p:cNvSpPr/>
          <p:nvPr/>
        </p:nvSpPr>
        <p:spPr>
          <a:xfrm>
            <a:off x="777240" y="4526280"/>
            <a:ext cx="2148840" cy="201168"/>
          </a:xfrm>
          <a:prstGeom prst="rect">
            <a:avLst/>
          </a:prstGeom>
          <a:solidFill>
            <a:srgbClr val="E6F0F5"/>
          </a:solidFill>
          <a:ln w="12700">
            <a:solidFill>
              <a:srgbClr val="7FA9C4"/>
            </a:solidFill>
            <a:prstDash val="solid"/>
          </a:ln>
        </p:spPr>
      </p:sp>
      <p:sp>
        <p:nvSpPr>
          <p:cNvPr id="53" name="Shape 51"/>
          <p:cNvSpPr/>
          <p:nvPr/>
        </p:nvSpPr>
        <p:spPr>
          <a:xfrm>
            <a:off x="1042416" y="4443984"/>
            <a:ext cx="384048" cy="109728"/>
          </a:xfrm>
          <a:prstGeom prst="ellipse">
            <a:avLst/>
          </a:prstGeom>
          <a:solidFill>
            <a:srgbClr val="5470C4"/>
          </a:solidFill>
          <a:ln w="12700">
            <a:solidFill>
              <a:srgbClr val="334F9E"/>
            </a:solidFill>
            <a:prstDash val="solid"/>
          </a:ln>
        </p:spPr>
      </p:sp>
      <p:sp>
        <p:nvSpPr>
          <p:cNvPr id="54" name="Shape 52"/>
          <p:cNvSpPr/>
          <p:nvPr/>
        </p:nvSpPr>
        <p:spPr>
          <a:xfrm>
            <a:off x="1143000" y="4480560"/>
            <a:ext cx="182880" cy="91"/>
          </a:xfrm>
          <a:prstGeom prst="line">
            <a:avLst/>
          </a:prstGeom>
          <a:noFill/>
          <a:ln w="31750">
            <a:solidFill>
              <a:srgbClr val="C8414C"/>
            </a:solidFill>
            <a:prstDash val="solid"/>
          </a:ln>
        </p:spPr>
      </p:sp>
      <p:sp>
        <p:nvSpPr>
          <p:cNvPr id="55" name="Shape 53"/>
          <p:cNvSpPr/>
          <p:nvPr/>
        </p:nvSpPr>
        <p:spPr>
          <a:xfrm>
            <a:off x="1828800" y="4443984"/>
            <a:ext cx="685800" cy="73152"/>
          </a:xfrm>
          <a:prstGeom prst="rect">
            <a:avLst/>
          </a:prstGeom>
          <a:solidFill>
            <a:srgbClr val="F7FBFD"/>
          </a:solidFill>
          <a:ln w="9525">
            <a:solidFill>
              <a:srgbClr val="7FA9C4"/>
            </a:solidFill>
            <a:prstDash val="solid"/>
          </a:ln>
        </p:spPr>
      </p:sp>
      <p:sp>
        <p:nvSpPr>
          <p:cNvPr id="56" name="Shape 54"/>
          <p:cNvSpPr/>
          <p:nvPr/>
        </p:nvSpPr>
        <p:spPr>
          <a:xfrm>
            <a:off x="1737360" y="4306824"/>
            <a:ext cx="868680" cy="137160"/>
          </a:xfrm>
          <a:prstGeom prst="rect">
            <a:avLst/>
          </a:prstGeom>
          <a:solidFill>
            <a:srgbClr val="FFFFFF"/>
          </a:solidFill>
          <a:ln w="9525">
            <a:solidFill>
              <a:srgbClr val="B9B5A8"/>
            </a:solidFill>
            <a:prstDash val="solid"/>
          </a:ln>
        </p:spPr>
      </p:sp>
      <p:sp>
        <p:nvSpPr>
          <p:cNvPr id="57" name="Shape 55"/>
          <p:cNvSpPr/>
          <p:nvPr/>
        </p:nvSpPr>
        <p:spPr>
          <a:xfrm>
            <a:off x="1920240" y="3886200"/>
            <a:ext cx="502920" cy="438912"/>
          </a:xfrm>
          <a:prstGeom prst="roundRect">
            <a:avLst>
              <a:gd name="adj" fmla="val 41667"/>
            </a:avLst>
          </a:prstGeom>
          <a:solidFill>
            <a:srgbClr val="F2C9A5"/>
          </a:solidFill>
          <a:ln w="12700">
            <a:solidFill>
              <a:srgbClr val="B07A50"/>
            </a:solidFill>
            <a:prstDash val="solid"/>
          </a:ln>
        </p:spPr>
      </p:sp>
      <p:sp>
        <p:nvSpPr>
          <p:cNvPr id="58" name="Shape 56"/>
          <p:cNvSpPr/>
          <p:nvPr/>
        </p:nvSpPr>
        <p:spPr>
          <a:xfrm>
            <a:off x="2651760" y="3858768"/>
            <a:ext cx="91" cy="365760"/>
          </a:xfrm>
          <a:prstGeom prst="line">
            <a:avLst/>
          </a:prstGeom>
          <a:noFill/>
          <a:ln w="22225">
            <a:solidFill>
              <a:srgbClr val="C8414C"/>
            </a:solidFill>
            <a:prstDash val="solid"/>
            <a:tailEnd type="triangle"/>
          </a:ln>
        </p:spPr>
      </p:sp>
      <p:sp>
        <p:nvSpPr>
          <p:cNvPr id="59" name="Text 57"/>
          <p:cNvSpPr/>
          <p:nvPr/>
        </p:nvSpPr>
        <p:spPr>
          <a:xfrm>
            <a:off x="640080" y="4800600"/>
            <a:ext cx="242316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stain (e.g. toluidine blue) • coverslip • press through paper</a:t>
            </a:r>
            <a:endParaRPr lang="en-US" sz="1000" dirty="0"/>
          </a:p>
        </p:txBody>
      </p:sp>
      <p:sp>
        <p:nvSpPr>
          <p:cNvPr id="60" name="Text 58"/>
          <p:cNvSpPr/>
          <p:nvPr/>
        </p:nvSpPr>
        <p:spPr>
          <a:xfrm>
            <a:off x="594360" y="4005072"/>
            <a:ext cx="1097280" cy="384048"/>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root tip in stain</a:t>
            </a:r>
            <a:endParaRPr lang="en-US" sz="1000" dirty="0"/>
          </a:p>
        </p:txBody>
      </p:sp>
      <p:sp>
        <p:nvSpPr>
          <p:cNvPr id="61" name="Shape 59"/>
          <p:cNvSpPr/>
          <p:nvPr/>
        </p:nvSpPr>
        <p:spPr>
          <a:xfrm>
            <a:off x="3771900" y="5118811"/>
            <a:ext cx="777240" cy="93269"/>
          </a:xfrm>
          <a:prstGeom prst="roundRect">
            <a:avLst>
              <a:gd name="adj" fmla="val 29412"/>
            </a:avLst>
          </a:prstGeom>
          <a:solidFill>
            <a:srgbClr val="5A6275"/>
          </a:solidFill>
          <a:ln w="12700">
            <a:solidFill>
              <a:srgbClr val="4A5262"/>
            </a:solidFill>
            <a:prstDash val="solid"/>
          </a:ln>
        </p:spPr>
      </p:sp>
      <p:sp>
        <p:nvSpPr>
          <p:cNvPr id="62" name="Shape 60"/>
          <p:cNvSpPr/>
          <p:nvPr/>
        </p:nvSpPr>
        <p:spPr>
          <a:xfrm>
            <a:off x="4331513" y="4085082"/>
            <a:ext cx="124358" cy="1049274"/>
          </a:xfrm>
          <a:prstGeom prst="roundRect">
            <a:avLst>
              <a:gd name="adj" fmla="val 36765"/>
            </a:avLst>
          </a:prstGeom>
          <a:solidFill>
            <a:srgbClr val="8C96A8"/>
          </a:solidFill>
          <a:ln w="12700">
            <a:solidFill>
              <a:srgbClr val="5A6275"/>
            </a:solidFill>
            <a:prstDash val="solid"/>
          </a:ln>
        </p:spPr>
      </p:sp>
      <p:sp>
        <p:nvSpPr>
          <p:cNvPr id="63" name="Shape 61"/>
          <p:cNvSpPr/>
          <p:nvPr/>
        </p:nvSpPr>
        <p:spPr>
          <a:xfrm>
            <a:off x="3810762" y="4652467"/>
            <a:ext cx="582930" cy="54407"/>
          </a:xfrm>
          <a:prstGeom prst="rect">
            <a:avLst/>
          </a:prstGeom>
          <a:solidFill>
            <a:srgbClr val="5A6275"/>
          </a:solidFill>
          <a:ln w="12700">
            <a:solidFill>
              <a:srgbClr val="4A5262"/>
            </a:solidFill>
            <a:prstDash val="solid"/>
          </a:ln>
        </p:spPr>
      </p:sp>
      <p:sp>
        <p:nvSpPr>
          <p:cNvPr id="64" name="Shape 62"/>
          <p:cNvSpPr/>
          <p:nvPr/>
        </p:nvSpPr>
        <p:spPr>
          <a:xfrm>
            <a:off x="4005072" y="4839005"/>
            <a:ext cx="124358" cy="124358"/>
          </a:xfrm>
          <a:prstGeom prst="ellipse">
            <a:avLst/>
          </a:prstGeom>
          <a:solidFill>
            <a:srgbClr val="F6E7B8"/>
          </a:solidFill>
          <a:ln w="9525">
            <a:solidFill>
              <a:srgbClr val="B79B4A"/>
            </a:solidFill>
            <a:prstDash val="solid"/>
          </a:ln>
        </p:spPr>
      </p:sp>
      <p:sp>
        <p:nvSpPr>
          <p:cNvPr id="65" name="Shape 63"/>
          <p:cNvSpPr/>
          <p:nvPr/>
        </p:nvSpPr>
        <p:spPr>
          <a:xfrm>
            <a:off x="3989527" y="3929634"/>
            <a:ext cx="155448" cy="582930"/>
          </a:xfrm>
          <a:prstGeom prst="rect">
            <a:avLst/>
          </a:prstGeom>
          <a:solidFill>
            <a:srgbClr val="B8C0CD"/>
          </a:solidFill>
          <a:ln w="12700">
            <a:solidFill>
              <a:srgbClr val="5A6275"/>
            </a:solidFill>
            <a:prstDash val="solid"/>
          </a:ln>
        </p:spPr>
      </p:sp>
      <p:sp>
        <p:nvSpPr>
          <p:cNvPr id="66" name="Shape 64"/>
          <p:cNvSpPr/>
          <p:nvPr/>
        </p:nvSpPr>
        <p:spPr>
          <a:xfrm>
            <a:off x="4020617" y="4497019"/>
            <a:ext cx="93269" cy="93269"/>
          </a:xfrm>
          <a:prstGeom prst="rect">
            <a:avLst/>
          </a:prstGeom>
          <a:solidFill>
            <a:srgbClr val="6B7385"/>
          </a:solidFill>
          <a:ln w="12700">
            <a:solidFill>
              <a:srgbClr val="4A5262"/>
            </a:solidFill>
            <a:prstDash val="solid"/>
          </a:ln>
        </p:spPr>
      </p:sp>
      <p:sp>
        <p:nvSpPr>
          <p:cNvPr id="67" name="Shape 65"/>
          <p:cNvSpPr/>
          <p:nvPr/>
        </p:nvSpPr>
        <p:spPr>
          <a:xfrm>
            <a:off x="4005072" y="3797503"/>
            <a:ext cx="124358" cy="139903"/>
          </a:xfrm>
          <a:prstGeom prst="rect">
            <a:avLst/>
          </a:prstGeom>
          <a:solidFill>
            <a:srgbClr val="6B7385"/>
          </a:solidFill>
          <a:ln w="12700">
            <a:solidFill>
              <a:srgbClr val="4A5262"/>
            </a:solidFill>
            <a:prstDash val="solid"/>
          </a:ln>
        </p:spPr>
      </p:sp>
      <p:sp>
        <p:nvSpPr>
          <p:cNvPr id="68" name="Shape 66"/>
          <p:cNvSpPr/>
          <p:nvPr/>
        </p:nvSpPr>
        <p:spPr>
          <a:xfrm>
            <a:off x="4323740" y="4364888"/>
            <a:ext cx="139903" cy="139903"/>
          </a:xfrm>
          <a:prstGeom prst="ellipse">
            <a:avLst/>
          </a:prstGeom>
          <a:solidFill>
            <a:srgbClr val="4A5262"/>
          </a:solidFill>
          <a:ln w="9525">
            <a:solidFill>
              <a:srgbClr val="4A5262"/>
            </a:solidFill>
            <a:prstDash val="solid"/>
          </a:ln>
        </p:spPr>
      </p:sp>
      <p:sp>
        <p:nvSpPr>
          <p:cNvPr id="69" name="Shape 67"/>
          <p:cNvSpPr/>
          <p:nvPr/>
        </p:nvSpPr>
        <p:spPr>
          <a:xfrm>
            <a:off x="3880714" y="4605833"/>
            <a:ext cx="341986" cy="38862"/>
          </a:xfrm>
          <a:prstGeom prst="rect">
            <a:avLst/>
          </a:prstGeom>
          <a:solidFill>
            <a:srgbClr val="DDEFF7"/>
          </a:solidFill>
          <a:ln w="6350">
            <a:solidFill>
              <a:srgbClr val="7FA9C4"/>
            </a:solidFill>
            <a:prstDash val="solid"/>
          </a:ln>
        </p:spPr>
      </p:sp>
      <p:sp>
        <p:nvSpPr>
          <p:cNvPr id="70" name="Text 68"/>
          <p:cNvSpPr/>
          <p:nvPr/>
        </p:nvSpPr>
        <p:spPr>
          <a:xfrm>
            <a:off x="4754880" y="3749040"/>
            <a:ext cx="1097280" cy="7772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focus with low power first; then high power</a:t>
            </a:r>
            <a:endParaRPr lang="en-US" sz="1000" dirty="0"/>
          </a:p>
        </p:txBody>
      </p:sp>
      <p:sp>
        <p:nvSpPr>
          <p:cNvPr id="71" name="Shape 69"/>
          <p:cNvSpPr/>
          <p:nvPr/>
        </p:nvSpPr>
        <p:spPr>
          <a:xfrm>
            <a:off x="6217920" y="1188720"/>
            <a:ext cx="5562295" cy="2560320"/>
          </a:xfrm>
          <a:prstGeom prst="roundRect">
            <a:avLst>
              <a:gd name="adj" fmla="val 2143"/>
            </a:avLst>
          </a:prstGeom>
          <a:solidFill>
            <a:srgbClr val="F4FAF9"/>
          </a:solidFill>
          <a:ln w="9525">
            <a:solidFill>
              <a:srgbClr val="CFE0DE"/>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73" name="Text 71"/>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Cut </a:t>
            </a:r>
            <a:r>
              <a:rPr lang="en-US" sz="1050" b="1" dirty="0">
                <a:solidFill>
                  <a:srgbClr val="262B3A"/>
                </a:solidFill>
                <a:latin typeface="Calibri" pitchFamily="34" charset="0"/>
                <a:ea typeface="Calibri" pitchFamily="34" charset="-122"/>
                <a:cs typeface="Calibri" pitchFamily="34" charset="-120"/>
              </a:rPr>
              <a:t>5 mm</a:t>
            </a:r>
            <a:r>
              <a:rPr lang="en-US" sz="1050" dirty="0">
                <a:solidFill>
                  <a:srgbClr val="262B3A"/>
                </a:solidFill>
                <a:latin typeface="Calibri" pitchFamily="34" charset="0"/>
                <a:ea typeface="Calibri" pitchFamily="34" charset="-122"/>
                <a:cs typeface="Calibri" pitchFamily="34" charset="-120"/>
              </a:rPr>
              <a:t> off the root tips (the </a:t>
            </a:r>
            <a:r>
              <a:rPr lang="en-US" sz="1050" b="1" dirty="0">
                <a:solidFill>
                  <a:srgbClr val="262B3A"/>
                </a:solidFill>
                <a:latin typeface="Calibri" pitchFamily="34" charset="0"/>
                <a:ea typeface="Calibri" pitchFamily="34" charset="-122"/>
                <a:cs typeface="Calibri" pitchFamily="34" charset="-120"/>
              </a:rPr>
              <a:t>meristem</a:t>
            </a:r>
            <a:r>
              <a:rPr lang="en-US" sz="1050" dirty="0">
                <a:solidFill>
                  <a:srgbClr val="262B3A"/>
                </a:solidFill>
                <a:latin typeface="Calibri" pitchFamily="34" charset="0"/>
                <a:ea typeface="Calibri" pitchFamily="34" charset="-122"/>
                <a:cs typeface="Calibri" pitchFamily="34" charset="-120"/>
              </a:rPr>
              <a:t>, where cells are dividing).</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Warm the tips in </a:t>
            </a:r>
            <a:r>
              <a:rPr lang="en-US" sz="1050" b="1" dirty="0">
                <a:solidFill>
                  <a:srgbClr val="262B3A"/>
                </a:solidFill>
                <a:latin typeface="Calibri" pitchFamily="34" charset="0"/>
                <a:ea typeface="Calibri" pitchFamily="34" charset="-122"/>
                <a:cs typeface="Calibri" pitchFamily="34" charset="-120"/>
              </a:rPr>
              <a:t>hydrochloric acid</a:t>
            </a:r>
            <a:r>
              <a:rPr lang="en-US" sz="1050" dirty="0">
                <a:solidFill>
                  <a:srgbClr val="262B3A"/>
                </a:solidFill>
                <a:latin typeface="Calibri" pitchFamily="34" charset="0"/>
                <a:ea typeface="Calibri" pitchFamily="34" charset="-122"/>
                <a:cs typeface="Calibri" pitchFamily="34" charset="-120"/>
              </a:rPr>
              <a:t> at 60 °C for about 5 min, then rinse in water. This softens them so the cells separate.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Put one tip on a slide, add a drop of </a:t>
            </a:r>
            <a:r>
              <a:rPr lang="en-US" sz="1050" b="1" dirty="0">
                <a:solidFill>
                  <a:srgbClr val="262B3A"/>
                </a:solidFill>
                <a:latin typeface="Calibri" pitchFamily="34" charset="0"/>
                <a:ea typeface="Calibri" pitchFamily="34" charset="-122"/>
                <a:cs typeface="Calibri" pitchFamily="34" charset="-120"/>
              </a:rPr>
              <a:t>stain</a:t>
            </a:r>
            <a:r>
              <a:rPr lang="en-US" sz="1050" dirty="0">
                <a:solidFill>
                  <a:srgbClr val="262B3A"/>
                </a:solidFill>
                <a:latin typeface="Calibri" pitchFamily="34" charset="0"/>
                <a:ea typeface="Calibri" pitchFamily="34" charset="-122"/>
                <a:cs typeface="Calibri" pitchFamily="34" charset="-120"/>
              </a:rPr>
              <a:t> (it colours the chromosomes). Leave 2 min.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Add a coverslip and </a:t>
            </a:r>
            <a:r>
              <a:rPr lang="en-US" sz="1050" b="1" dirty="0">
                <a:solidFill>
                  <a:srgbClr val="262B3A"/>
                </a:solidFill>
                <a:latin typeface="Calibri" pitchFamily="34" charset="0"/>
                <a:ea typeface="Calibri" pitchFamily="34" charset="-122"/>
                <a:cs typeface="Calibri" pitchFamily="34" charset="-120"/>
              </a:rPr>
              <a:t>squash</a:t>
            </a:r>
            <a:r>
              <a:rPr lang="en-US" sz="1050" dirty="0">
                <a:solidFill>
                  <a:srgbClr val="262B3A"/>
                </a:solidFill>
                <a:latin typeface="Calibri" pitchFamily="34" charset="0"/>
                <a:ea typeface="Calibri" pitchFamily="34" charset="-122"/>
                <a:cs typeface="Calibri" pitchFamily="34" charset="-120"/>
              </a:rPr>
              <a:t> gently, to spread the cells in </a:t>
            </a:r>
            <a:r>
              <a:rPr lang="en-US" sz="1050" b="1" dirty="0">
                <a:solidFill>
                  <a:srgbClr val="262B3A"/>
                </a:solidFill>
                <a:latin typeface="Calibri" pitchFamily="34" charset="0"/>
                <a:ea typeface="Calibri" pitchFamily="34" charset="-122"/>
                <a:cs typeface="Calibri" pitchFamily="34" charset="-120"/>
              </a:rPr>
              <a:t>one layer</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View with the </a:t>
            </a:r>
            <a:r>
              <a:rPr lang="en-US" sz="1050" b="1" dirty="0">
                <a:solidFill>
                  <a:srgbClr val="262B3A"/>
                </a:solidFill>
                <a:latin typeface="Calibri" pitchFamily="34" charset="0"/>
                <a:ea typeface="Calibri" pitchFamily="34" charset="-122"/>
                <a:cs typeface="Calibri" pitchFamily="34" charset="-120"/>
              </a:rPr>
              <a:t>low power</a:t>
            </a:r>
            <a:r>
              <a:rPr lang="en-US" sz="1050" dirty="0">
                <a:solidFill>
                  <a:srgbClr val="262B3A"/>
                </a:solidFill>
                <a:latin typeface="Calibri" pitchFamily="34" charset="0"/>
                <a:ea typeface="Calibri" pitchFamily="34" charset="-122"/>
                <a:cs typeface="Calibri" pitchFamily="34" charset="-120"/>
              </a:rPr>
              <a:t> objective, then </a:t>
            </a:r>
            <a:r>
              <a:rPr lang="en-US" sz="1050" b="1" dirty="0">
                <a:solidFill>
                  <a:srgbClr val="262B3A"/>
                </a:solidFill>
                <a:latin typeface="Calibri" pitchFamily="34" charset="0"/>
                <a:ea typeface="Calibri" pitchFamily="34" charset="-122"/>
                <a:cs typeface="Calibri" pitchFamily="34" charset="-120"/>
              </a:rPr>
              <a:t>high power</a:t>
            </a:r>
            <a:r>
              <a:rPr lang="en-US" sz="1050" dirty="0">
                <a:solidFill>
                  <a:srgbClr val="262B3A"/>
                </a:solidFill>
                <a:latin typeface="Calibri" pitchFamily="34" charset="0"/>
                <a:ea typeface="Calibri" pitchFamily="34" charset="-122"/>
                <a:cs typeface="Calibri" pitchFamily="34" charset="-120"/>
              </a:rPr>
              <a:t>. Count the cells in each stage.</a:t>
            </a:r>
            <a:endParaRPr lang="en-US" sz="1050" dirty="0"/>
          </a:p>
        </p:txBody>
      </p:sp>
      <p:sp>
        <p:nvSpPr>
          <p:cNvPr id="74" name="Shape 72"/>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75" name="Text 73"/>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76" name="Text 74"/>
          <p:cNvSpPr/>
          <p:nvPr/>
        </p:nvSpPr>
        <p:spPr>
          <a:xfrm>
            <a:off x="6382512" y="4270248"/>
            <a:ext cx="5233111" cy="137160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Why the tip?   </a:t>
            </a:r>
            <a:r>
              <a:rPr lang="en-US" sz="1050" dirty="0">
                <a:solidFill>
                  <a:srgbClr val="262B3A"/>
                </a:solidFill>
                <a:latin typeface="Calibri" pitchFamily="34" charset="0"/>
                <a:ea typeface="Calibri" pitchFamily="34" charset="-122"/>
                <a:cs typeface="Calibri" pitchFamily="34" charset="-120"/>
              </a:rPr>
              <a:t>only the root tip meristem has many dividing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Fair count   </a:t>
            </a:r>
            <a:r>
              <a:rPr lang="en-US" sz="1050" dirty="0">
                <a:solidFill>
                  <a:srgbClr val="262B3A"/>
                </a:solidFill>
                <a:latin typeface="Calibri" pitchFamily="34" charset="0"/>
                <a:ea typeface="Calibri" pitchFamily="34" charset="-122"/>
                <a:cs typeface="Calibri" pitchFamily="34" charset="-120"/>
              </a:rPr>
              <a:t>count every cell in a field of view; several fields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Hazards   </a:t>
            </a:r>
            <a:r>
              <a:rPr lang="en-US" sz="1050" dirty="0">
                <a:solidFill>
                  <a:srgbClr val="262B3A"/>
                </a:solidFill>
                <a:latin typeface="Calibri" pitchFamily="34" charset="0"/>
                <a:ea typeface="Calibri" pitchFamily="34" charset="-122"/>
                <a:cs typeface="Calibri" pitchFamily="34" charset="-120"/>
              </a:rPr>
              <a:t>acid and stain irritant: eye protection, gloves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scalpel: cut on a tile, away from fingers</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root tip squashed under the coverslip? Why would cells from 2 cm </a:t>
            </a:r>
            <a:r>
              <a:rPr lang="en-US" sz="1150" b="1" dirty="0">
                <a:solidFill>
                  <a:srgbClr val="262B3A"/>
                </a:solidFill>
                <a:latin typeface="Calibri" pitchFamily="34" charset="0"/>
                <a:ea typeface="Calibri" pitchFamily="34" charset="-122"/>
                <a:cs typeface="Calibri" pitchFamily="34" charset="-120"/>
              </a:rPr>
              <a:t>above</a:t>
            </a:r>
            <a:r>
              <a:rPr lang="en-US" sz="1150" dirty="0">
                <a:solidFill>
                  <a:srgbClr val="262B3A"/>
                </a:solidFill>
                <a:latin typeface="Calibri" pitchFamily="34" charset="0"/>
                <a:ea typeface="Calibri" pitchFamily="34" charset="-122"/>
                <a:cs typeface="Calibri" pitchFamily="34" charset="-120"/>
              </a:rPr>
              <a:t> the tip show very few cells in mitosis?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PAG B1: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counts from root tip squashes (sample class data)</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B1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B1  |  13</a:t>
            </a:r>
            <a:endParaRPr lang="en-US" sz="1000" dirty="0"/>
          </a:p>
        </p:txBody>
      </p:sp>
      <p:sp>
        <p:nvSpPr>
          <p:cNvPr id="10" name="Shape 8"/>
          <p:cNvSpPr/>
          <p:nvPr/>
        </p:nvSpPr>
        <p:spPr>
          <a:xfrm>
            <a:off x="411480" y="1188720"/>
            <a:ext cx="51206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48463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field of view at ×400; stained chromosomes dark</a:t>
            </a:r>
            <a:endParaRPr lang="en-US" sz="1000" dirty="0"/>
          </a:p>
        </p:txBody>
      </p:sp>
      <p:sp>
        <p:nvSpPr>
          <p:cNvPr id="12" name="Shape 10"/>
          <p:cNvSpPr/>
          <p:nvPr/>
        </p:nvSpPr>
        <p:spPr>
          <a:xfrm>
            <a:off x="1088136" y="1316736"/>
            <a:ext cx="3767328" cy="3767328"/>
          </a:xfrm>
          <a:prstGeom prst="ellipse">
            <a:avLst/>
          </a:prstGeom>
          <a:solidFill>
            <a:srgbClr val="2C3440"/>
          </a:solidFill>
          <a:ln w="9525">
            <a:solidFill>
              <a:srgbClr val="2C3440"/>
            </a:solidFill>
            <a:prstDash val="solid"/>
          </a:ln>
        </p:spPr>
      </p:sp>
      <p:sp>
        <p:nvSpPr>
          <p:cNvPr id="13" name="Shape 11"/>
          <p:cNvSpPr/>
          <p:nvPr/>
        </p:nvSpPr>
        <p:spPr>
          <a:xfrm>
            <a:off x="1143000" y="1371600"/>
            <a:ext cx="3657600" cy="3657600"/>
          </a:xfrm>
          <a:prstGeom prst="ellipse">
            <a:avLst/>
          </a:prstGeom>
          <a:solidFill>
            <a:srgbClr val="F2F6FB"/>
          </a:solidFill>
          <a:ln w="9525">
            <a:solidFill>
              <a:srgbClr val="F2F6FB"/>
            </a:solidFill>
            <a:prstDash val="solid"/>
          </a:ln>
        </p:spPr>
      </p:sp>
      <p:sp>
        <p:nvSpPr>
          <p:cNvPr id="14" name="Shape 12"/>
          <p:cNvSpPr/>
          <p:nvPr/>
        </p:nvSpPr>
        <p:spPr>
          <a:xfrm>
            <a:off x="2331720" y="1636776"/>
            <a:ext cx="365760" cy="265176"/>
          </a:xfrm>
          <a:prstGeom prst="rect">
            <a:avLst/>
          </a:prstGeom>
          <a:solidFill>
            <a:srgbClr val="DCE8F6"/>
          </a:solidFill>
          <a:ln w="9525">
            <a:solidFill>
              <a:srgbClr val="7F98C4"/>
            </a:solidFill>
            <a:prstDash val="solid"/>
          </a:ln>
        </p:spPr>
      </p:sp>
      <p:sp>
        <p:nvSpPr>
          <p:cNvPr id="15" name="Shape 13"/>
          <p:cNvSpPr/>
          <p:nvPr/>
        </p:nvSpPr>
        <p:spPr>
          <a:xfrm>
            <a:off x="2455164" y="1719072"/>
            <a:ext cx="118872" cy="100584"/>
          </a:xfrm>
          <a:prstGeom prst="ellipse">
            <a:avLst/>
          </a:prstGeom>
          <a:solidFill>
            <a:srgbClr val="8C7BC0"/>
          </a:solidFill>
          <a:ln w="12700">
            <a:solidFill>
              <a:srgbClr val="5A4A99"/>
            </a:solidFill>
            <a:prstDash val="solid"/>
          </a:ln>
        </p:spPr>
      </p:sp>
      <p:sp>
        <p:nvSpPr>
          <p:cNvPr id="16" name="Shape 14"/>
          <p:cNvSpPr/>
          <p:nvPr/>
        </p:nvSpPr>
        <p:spPr>
          <a:xfrm>
            <a:off x="2697480" y="1636776"/>
            <a:ext cx="365760" cy="265176"/>
          </a:xfrm>
          <a:prstGeom prst="rect">
            <a:avLst/>
          </a:prstGeom>
          <a:solidFill>
            <a:srgbClr val="DCE8F6"/>
          </a:solidFill>
          <a:ln w="9525">
            <a:solidFill>
              <a:srgbClr val="7F98C4"/>
            </a:solidFill>
            <a:prstDash val="solid"/>
          </a:ln>
        </p:spPr>
      </p:sp>
      <p:sp>
        <p:nvSpPr>
          <p:cNvPr id="17" name="Shape 15"/>
          <p:cNvSpPr/>
          <p:nvPr/>
        </p:nvSpPr>
        <p:spPr>
          <a:xfrm>
            <a:off x="2820924" y="1719072"/>
            <a:ext cx="118872" cy="100584"/>
          </a:xfrm>
          <a:prstGeom prst="ellipse">
            <a:avLst/>
          </a:prstGeom>
          <a:solidFill>
            <a:srgbClr val="8C7BC0"/>
          </a:solidFill>
          <a:ln w="12700">
            <a:solidFill>
              <a:srgbClr val="5A4A99"/>
            </a:solidFill>
            <a:prstDash val="solid"/>
          </a:ln>
        </p:spPr>
      </p:sp>
      <p:sp>
        <p:nvSpPr>
          <p:cNvPr id="18" name="Shape 16"/>
          <p:cNvSpPr/>
          <p:nvPr/>
        </p:nvSpPr>
        <p:spPr>
          <a:xfrm>
            <a:off x="3063240" y="1636776"/>
            <a:ext cx="365760" cy="265176"/>
          </a:xfrm>
          <a:prstGeom prst="rect">
            <a:avLst/>
          </a:prstGeom>
          <a:solidFill>
            <a:srgbClr val="DCE8F6"/>
          </a:solidFill>
          <a:ln w="9525">
            <a:solidFill>
              <a:srgbClr val="7F98C4"/>
            </a:solidFill>
            <a:prstDash val="solid"/>
          </a:ln>
        </p:spPr>
      </p:sp>
      <p:sp>
        <p:nvSpPr>
          <p:cNvPr id="19" name="Shape 17"/>
          <p:cNvSpPr/>
          <p:nvPr/>
        </p:nvSpPr>
        <p:spPr>
          <a:xfrm>
            <a:off x="3186684" y="1719072"/>
            <a:ext cx="118872" cy="100584"/>
          </a:xfrm>
          <a:prstGeom prst="ellipse">
            <a:avLst/>
          </a:prstGeom>
          <a:solidFill>
            <a:srgbClr val="8C7BC0"/>
          </a:solidFill>
          <a:ln w="12700">
            <a:solidFill>
              <a:srgbClr val="5A4A99"/>
            </a:solidFill>
            <a:prstDash val="solid"/>
          </a:ln>
        </p:spPr>
      </p:sp>
      <p:sp>
        <p:nvSpPr>
          <p:cNvPr id="20" name="Shape 18"/>
          <p:cNvSpPr/>
          <p:nvPr/>
        </p:nvSpPr>
        <p:spPr>
          <a:xfrm>
            <a:off x="3429000" y="1636776"/>
            <a:ext cx="365760" cy="265176"/>
          </a:xfrm>
          <a:prstGeom prst="rect">
            <a:avLst/>
          </a:prstGeom>
          <a:solidFill>
            <a:srgbClr val="DCE8F6"/>
          </a:solidFill>
          <a:ln w="9525">
            <a:solidFill>
              <a:srgbClr val="7F98C4"/>
            </a:solidFill>
            <a:prstDash val="solid"/>
          </a:ln>
        </p:spPr>
      </p:sp>
      <p:sp>
        <p:nvSpPr>
          <p:cNvPr id="21" name="Shape 19"/>
          <p:cNvSpPr/>
          <p:nvPr/>
        </p:nvSpPr>
        <p:spPr>
          <a:xfrm>
            <a:off x="3552444" y="1719072"/>
            <a:ext cx="118872" cy="100584"/>
          </a:xfrm>
          <a:prstGeom prst="ellipse">
            <a:avLst/>
          </a:prstGeom>
          <a:solidFill>
            <a:srgbClr val="8C7BC0"/>
          </a:solidFill>
          <a:ln w="12700">
            <a:solidFill>
              <a:srgbClr val="5A4A99"/>
            </a:solidFill>
            <a:prstDash val="solid"/>
          </a:ln>
        </p:spPr>
      </p:sp>
      <p:sp>
        <p:nvSpPr>
          <p:cNvPr id="22" name="Shape 20"/>
          <p:cNvSpPr/>
          <p:nvPr/>
        </p:nvSpPr>
        <p:spPr>
          <a:xfrm>
            <a:off x="1783080" y="1901952"/>
            <a:ext cx="365760" cy="265176"/>
          </a:xfrm>
          <a:prstGeom prst="rect">
            <a:avLst/>
          </a:prstGeom>
          <a:solidFill>
            <a:srgbClr val="DCE8F6"/>
          </a:solidFill>
          <a:ln w="9525">
            <a:solidFill>
              <a:srgbClr val="7F98C4"/>
            </a:solidFill>
            <a:prstDash val="solid"/>
          </a:ln>
        </p:spPr>
      </p:sp>
      <p:sp>
        <p:nvSpPr>
          <p:cNvPr id="23" name="Shape 21"/>
          <p:cNvSpPr/>
          <p:nvPr/>
        </p:nvSpPr>
        <p:spPr>
          <a:xfrm>
            <a:off x="1906524" y="1984248"/>
            <a:ext cx="118872" cy="100584"/>
          </a:xfrm>
          <a:prstGeom prst="ellipse">
            <a:avLst/>
          </a:prstGeom>
          <a:solidFill>
            <a:srgbClr val="8C7BC0"/>
          </a:solidFill>
          <a:ln w="12700">
            <a:solidFill>
              <a:srgbClr val="5A4A99"/>
            </a:solidFill>
            <a:prstDash val="solid"/>
          </a:ln>
        </p:spPr>
      </p:sp>
      <p:sp>
        <p:nvSpPr>
          <p:cNvPr id="24" name="Shape 22"/>
          <p:cNvSpPr/>
          <p:nvPr/>
        </p:nvSpPr>
        <p:spPr>
          <a:xfrm>
            <a:off x="2148840" y="1901952"/>
            <a:ext cx="365760" cy="265176"/>
          </a:xfrm>
          <a:prstGeom prst="rect">
            <a:avLst/>
          </a:prstGeom>
          <a:solidFill>
            <a:srgbClr val="DCE8F6"/>
          </a:solidFill>
          <a:ln w="9525">
            <a:solidFill>
              <a:srgbClr val="7F98C4"/>
            </a:solidFill>
            <a:prstDash val="solid"/>
          </a:ln>
        </p:spPr>
      </p:sp>
      <p:sp>
        <p:nvSpPr>
          <p:cNvPr id="25" name="Shape 23"/>
          <p:cNvSpPr/>
          <p:nvPr/>
        </p:nvSpPr>
        <p:spPr>
          <a:xfrm>
            <a:off x="2272284" y="1984248"/>
            <a:ext cx="118872" cy="100584"/>
          </a:xfrm>
          <a:prstGeom prst="ellipse">
            <a:avLst/>
          </a:prstGeom>
          <a:solidFill>
            <a:srgbClr val="8C7BC0"/>
          </a:solidFill>
          <a:ln w="12700">
            <a:solidFill>
              <a:srgbClr val="5A4A99"/>
            </a:solidFill>
            <a:prstDash val="solid"/>
          </a:ln>
        </p:spPr>
      </p:sp>
      <p:sp>
        <p:nvSpPr>
          <p:cNvPr id="26" name="Shape 24"/>
          <p:cNvSpPr/>
          <p:nvPr/>
        </p:nvSpPr>
        <p:spPr>
          <a:xfrm>
            <a:off x="2514600" y="1901952"/>
            <a:ext cx="365760" cy="265176"/>
          </a:xfrm>
          <a:prstGeom prst="rect">
            <a:avLst/>
          </a:prstGeom>
          <a:solidFill>
            <a:srgbClr val="DCE8F6"/>
          </a:solidFill>
          <a:ln w="9525">
            <a:solidFill>
              <a:srgbClr val="7F98C4"/>
            </a:solidFill>
            <a:prstDash val="solid"/>
          </a:ln>
        </p:spPr>
      </p:sp>
      <p:sp>
        <p:nvSpPr>
          <p:cNvPr id="27" name="Shape 25"/>
          <p:cNvSpPr/>
          <p:nvPr/>
        </p:nvSpPr>
        <p:spPr>
          <a:xfrm>
            <a:off x="2638044" y="1984248"/>
            <a:ext cx="118872" cy="100584"/>
          </a:xfrm>
          <a:prstGeom prst="ellipse">
            <a:avLst/>
          </a:prstGeom>
          <a:solidFill>
            <a:srgbClr val="8C7BC0"/>
          </a:solidFill>
          <a:ln w="12700">
            <a:solidFill>
              <a:srgbClr val="5A4A99"/>
            </a:solidFill>
            <a:prstDash val="solid"/>
          </a:ln>
        </p:spPr>
      </p:sp>
      <p:sp>
        <p:nvSpPr>
          <p:cNvPr id="28" name="Shape 26"/>
          <p:cNvSpPr/>
          <p:nvPr/>
        </p:nvSpPr>
        <p:spPr>
          <a:xfrm>
            <a:off x="2880360" y="1901952"/>
            <a:ext cx="365760" cy="265176"/>
          </a:xfrm>
          <a:prstGeom prst="rect">
            <a:avLst/>
          </a:prstGeom>
          <a:solidFill>
            <a:srgbClr val="DCE8F6"/>
          </a:solidFill>
          <a:ln w="9525">
            <a:solidFill>
              <a:srgbClr val="7F98C4"/>
            </a:solidFill>
            <a:prstDash val="solid"/>
          </a:ln>
        </p:spPr>
      </p:sp>
      <p:sp>
        <p:nvSpPr>
          <p:cNvPr id="29" name="Shape 27"/>
          <p:cNvSpPr/>
          <p:nvPr/>
        </p:nvSpPr>
        <p:spPr>
          <a:xfrm>
            <a:off x="3003804" y="1984248"/>
            <a:ext cx="118872" cy="100584"/>
          </a:xfrm>
          <a:prstGeom prst="ellipse">
            <a:avLst/>
          </a:prstGeom>
          <a:solidFill>
            <a:srgbClr val="8C7BC0"/>
          </a:solidFill>
          <a:ln w="12700">
            <a:solidFill>
              <a:srgbClr val="5A4A99"/>
            </a:solidFill>
            <a:prstDash val="solid"/>
          </a:ln>
        </p:spPr>
      </p:sp>
      <p:sp>
        <p:nvSpPr>
          <p:cNvPr id="30" name="Shape 28"/>
          <p:cNvSpPr/>
          <p:nvPr/>
        </p:nvSpPr>
        <p:spPr>
          <a:xfrm>
            <a:off x="3246120" y="1901952"/>
            <a:ext cx="365760" cy="265176"/>
          </a:xfrm>
          <a:prstGeom prst="rect">
            <a:avLst/>
          </a:prstGeom>
          <a:solidFill>
            <a:srgbClr val="DCE8F6"/>
          </a:solidFill>
          <a:ln w="9525">
            <a:solidFill>
              <a:srgbClr val="7F98C4"/>
            </a:solidFill>
            <a:prstDash val="solid"/>
          </a:ln>
        </p:spPr>
      </p:sp>
      <p:sp>
        <p:nvSpPr>
          <p:cNvPr id="31" name="Shape 29"/>
          <p:cNvSpPr/>
          <p:nvPr/>
        </p:nvSpPr>
        <p:spPr>
          <a:xfrm>
            <a:off x="3369564" y="1984248"/>
            <a:ext cx="118872" cy="100584"/>
          </a:xfrm>
          <a:prstGeom prst="ellipse">
            <a:avLst/>
          </a:prstGeom>
          <a:solidFill>
            <a:srgbClr val="8C7BC0"/>
          </a:solidFill>
          <a:ln w="12700">
            <a:solidFill>
              <a:srgbClr val="5A4A99"/>
            </a:solidFill>
            <a:prstDash val="solid"/>
          </a:ln>
        </p:spPr>
      </p:sp>
      <p:sp>
        <p:nvSpPr>
          <p:cNvPr id="32" name="Shape 30"/>
          <p:cNvSpPr/>
          <p:nvPr/>
        </p:nvSpPr>
        <p:spPr>
          <a:xfrm>
            <a:off x="3611880" y="1901952"/>
            <a:ext cx="365760" cy="265176"/>
          </a:xfrm>
          <a:prstGeom prst="rect">
            <a:avLst/>
          </a:prstGeom>
          <a:solidFill>
            <a:srgbClr val="DCE8F6"/>
          </a:solidFill>
          <a:ln w="9525">
            <a:solidFill>
              <a:srgbClr val="7F98C4"/>
            </a:solidFill>
            <a:prstDash val="solid"/>
          </a:ln>
        </p:spPr>
      </p:sp>
      <p:sp>
        <p:nvSpPr>
          <p:cNvPr id="33" name="Shape 31"/>
          <p:cNvSpPr/>
          <p:nvPr/>
        </p:nvSpPr>
        <p:spPr>
          <a:xfrm>
            <a:off x="3666744" y="1947672"/>
            <a:ext cx="32004" cy="173736"/>
          </a:xfrm>
          <a:prstGeom prst="rect">
            <a:avLst/>
          </a:prstGeom>
          <a:solidFill>
            <a:srgbClr val="3B2F6B"/>
          </a:solidFill>
          <a:ln w="12700">
            <a:solidFill>
              <a:srgbClr val="3B2F6B"/>
            </a:solidFill>
            <a:prstDash val="solid"/>
          </a:ln>
        </p:spPr>
      </p:sp>
      <p:sp>
        <p:nvSpPr>
          <p:cNvPr id="34" name="Shape 32"/>
          <p:cNvSpPr/>
          <p:nvPr/>
        </p:nvSpPr>
        <p:spPr>
          <a:xfrm>
            <a:off x="3890772" y="1947672"/>
            <a:ext cx="32004" cy="173736"/>
          </a:xfrm>
          <a:prstGeom prst="rect">
            <a:avLst/>
          </a:prstGeom>
          <a:solidFill>
            <a:srgbClr val="3B2F6B"/>
          </a:solidFill>
          <a:ln w="12700">
            <a:solidFill>
              <a:srgbClr val="3B2F6B"/>
            </a:solidFill>
            <a:prstDash val="solid"/>
          </a:ln>
        </p:spPr>
      </p:sp>
      <p:sp>
        <p:nvSpPr>
          <p:cNvPr id="35" name="Shape 33"/>
          <p:cNvSpPr/>
          <p:nvPr/>
        </p:nvSpPr>
        <p:spPr>
          <a:xfrm>
            <a:off x="1600200" y="2167128"/>
            <a:ext cx="365760" cy="265176"/>
          </a:xfrm>
          <a:prstGeom prst="rect">
            <a:avLst/>
          </a:prstGeom>
          <a:solidFill>
            <a:srgbClr val="DCE8F6"/>
          </a:solidFill>
          <a:ln w="9525">
            <a:solidFill>
              <a:srgbClr val="7F98C4"/>
            </a:solidFill>
            <a:prstDash val="solid"/>
          </a:ln>
        </p:spPr>
      </p:sp>
      <p:sp>
        <p:nvSpPr>
          <p:cNvPr id="36" name="Shape 34"/>
          <p:cNvSpPr/>
          <p:nvPr/>
        </p:nvSpPr>
        <p:spPr>
          <a:xfrm>
            <a:off x="1723644" y="2249424"/>
            <a:ext cx="118872" cy="100584"/>
          </a:xfrm>
          <a:prstGeom prst="ellipse">
            <a:avLst/>
          </a:prstGeom>
          <a:solidFill>
            <a:srgbClr val="8C7BC0"/>
          </a:solidFill>
          <a:ln w="12700">
            <a:solidFill>
              <a:srgbClr val="5A4A99"/>
            </a:solidFill>
            <a:prstDash val="solid"/>
          </a:ln>
        </p:spPr>
      </p:sp>
      <p:sp>
        <p:nvSpPr>
          <p:cNvPr id="37" name="Shape 35"/>
          <p:cNvSpPr/>
          <p:nvPr/>
        </p:nvSpPr>
        <p:spPr>
          <a:xfrm>
            <a:off x="1965960" y="2167128"/>
            <a:ext cx="365760" cy="265176"/>
          </a:xfrm>
          <a:prstGeom prst="rect">
            <a:avLst/>
          </a:prstGeom>
          <a:solidFill>
            <a:srgbClr val="DCE8F6"/>
          </a:solidFill>
          <a:ln w="9525">
            <a:solidFill>
              <a:srgbClr val="7F98C4"/>
            </a:solidFill>
            <a:prstDash val="solid"/>
          </a:ln>
        </p:spPr>
      </p:sp>
      <p:sp>
        <p:nvSpPr>
          <p:cNvPr id="38" name="Shape 36"/>
          <p:cNvSpPr/>
          <p:nvPr/>
        </p:nvSpPr>
        <p:spPr>
          <a:xfrm>
            <a:off x="2089404" y="2249424"/>
            <a:ext cx="118872" cy="100584"/>
          </a:xfrm>
          <a:prstGeom prst="ellipse">
            <a:avLst/>
          </a:prstGeom>
          <a:solidFill>
            <a:srgbClr val="8C7BC0"/>
          </a:solidFill>
          <a:ln w="12700">
            <a:solidFill>
              <a:srgbClr val="5A4A99"/>
            </a:solidFill>
            <a:prstDash val="solid"/>
          </a:ln>
        </p:spPr>
      </p:sp>
      <p:sp>
        <p:nvSpPr>
          <p:cNvPr id="39" name="Shape 37"/>
          <p:cNvSpPr/>
          <p:nvPr/>
        </p:nvSpPr>
        <p:spPr>
          <a:xfrm>
            <a:off x="2331720" y="2167128"/>
            <a:ext cx="365760" cy="265176"/>
          </a:xfrm>
          <a:prstGeom prst="rect">
            <a:avLst/>
          </a:prstGeom>
          <a:solidFill>
            <a:srgbClr val="DCE8F6"/>
          </a:solidFill>
          <a:ln w="9525">
            <a:solidFill>
              <a:srgbClr val="7F98C4"/>
            </a:solidFill>
            <a:prstDash val="solid"/>
          </a:ln>
        </p:spPr>
      </p:sp>
      <p:sp>
        <p:nvSpPr>
          <p:cNvPr id="40" name="Shape 38"/>
          <p:cNvSpPr/>
          <p:nvPr/>
        </p:nvSpPr>
        <p:spPr>
          <a:xfrm>
            <a:off x="2455164" y="2249424"/>
            <a:ext cx="118872" cy="100584"/>
          </a:xfrm>
          <a:prstGeom prst="ellipse">
            <a:avLst/>
          </a:prstGeom>
          <a:solidFill>
            <a:srgbClr val="8C7BC0"/>
          </a:solidFill>
          <a:ln w="12700">
            <a:solidFill>
              <a:srgbClr val="5A4A99"/>
            </a:solidFill>
            <a:prstDash val="solid"/>
          </a:ln>
        </p:spPr>
      </p:sp>
      <p:sp>
        <p:nvSpPr>
          <p:cNvPr id="41" name="Shape 39"/>
          <p:cNvSpPr/>
          <p:nvPr/>
        </p:nvSpPr>
        <p:spPr>
          <a:xfrm>
            <a:off x="2697480" y="2167128"/>
            <a:ext cx="365760" cy="265176"/>
          </a:xfrm>
          <a:prstGeom prst="rect">
            <a:avLst/>
          </a:prstGeom>
          <a:solidFill>
            <a:srgbClr val="DCE8F6"/>
          </a:solidFill>
          <a:ln w="9525">
            <a:solidFill>
              <a:srgbClr val="7F98C4"/>
            </a:solidFill>
            <a:prstDash val="solid"/>
          </a:ln>
        </p:spPr>
      </p:sp>
      <p:sp>
        <p:nvSpPr>
          <p:cNvPr id="42" name="Shape 40"/>
          <p:cNvSpPr/>
          <p:nvPr/>
        </p:nvSpPr>
        <p:spPr>
          <a:xfrm>
            <a:off x="2798064" y="2226564"/>
            <a:ext cx="164592" cy="146304"/>
          </a:xfrm>
          <a:prstGeom prst="ellipse">
            <a:avLst/>
          </a:prstGeom>
          <a:solidFill>
            <a:srgbClr val="C9BEE6"/>
          </a:solidFill>
          <a:ln w="12700">
            <a:solidFill>
              <a:srgbClr val="5A4A99"/>
            </a:solidFill>
            <a:prstDash val="dash"/>
          </a:ln>
        </p:spPr>
      </p:sp>
      <p:sp>
        <p:nvSpPr>
          <p:cNvPr id="43" name="Shape 41"/>
          <p:cNvSpPr/>
          <p:nvPr/>
        </p:nvSpPr>
        <p:spPr>
          <a:xfrm rot="1800000">
            <a:off x="2834640" y="2240280"/>
            <a:ext cx="18288" cy="64008"/>
          </a:xfrm>
          <a:prstGeom prst="rect">
            <a:avLst/>
          </a:prstGeom>
          <a:solidFill>
            <a:srgbClr val="3B2F6B"/>
          </a:solidFill>
          <a:ln w="6350">
            <a:solidFill>
              <a:srgbClr val="3B2F6B"/>
            </a:solidFill>
            <a:prstDash val="solid"/>
          </a:ln>
        </p:spPr>
      </p:sp>
      <p:sp>
        <p:nvSpPr>
          <p:cNvPr id="44" name="Shape 42"/>
          <p:cNvSpPr/>
          <p:nvPr/>
        </p:nvSpPr>
        <p:spPr>
          <a:xfrm rot="-2400000">
            <a:off x="2907792" y="2249424"/>
            <a:ext cx="18288" cy="64008"/>
          </a:xfrm>
          <a:prstGeom prst="rect">
            <a:avLst/>
          </a:prstGeom>
          <a:solidFill>
            <a:srgbClr val="3B2F6B"/>
          </a:solidFill>
          <a:ln w="6350">
            <a:solidFill>
              <a:srgbClr val="3B2F6B"/>
            </a:solidFill>
            <a:prstDash val="solid"/>
          </a:ln>
        </p:spPr>
      </p:sp>
      <p:sp>
        <p:nvSpPr>
          <p:cNvPr id="45" name="Shape 43"/>
          <p:cNvSpPr/>
          <p:nvPr/>
        </p:nvSpPr>
        <p:spPr>
          <a:xfrm rot="4800000">
            <a:off x="2852928" y="2304288"/>
            <a:ext cx="18288" cy="64008"/>
          </a:xfrm>
          <a:prstGeom prst="rect">
            <a:avLst/>
          </a:prstGeom>
          <a:solidFill>
            <a:srgbClr val="3B2F6B"/>
          </a:solidFill>
          <a:ln w="6350">
            <a:solidFill>
              <a:srgbClr val="3B2F6B"/>
            </a:solidFill>
            <a:prstDash val="solid"/>
          </a:ln>
        </p:spPr>
      </p:sp>
      <p:sp>
        <p:nvSpPr>
          <p:cNvPr id="46" name="Shape 44"/>
          <p:cNvSpPr/>
          <p:nvPr/>
        </p:nvSpPr>
        <p:spPr>
          <a:xfrm rot="600000">
            <a:off x="2907792" y="2304288"/>
            <a:ext cx="18288" cy="64008"/>
          </a:xfrm>
          <a:prstGeom prst="rect">
            <a:avLst/>
          </a:prstGeom>
          <a:solidFill>
            <a:srgbClr val="3B2F6B"/>
          </a:solidFill>
          <a:ln w="6350">
            <a:solidFill>
              <a:srgbClr val="3B2F6B"/>
            </a:solidFill>
            <a:prstDash val="solid"/>
          </a:ln>
        </p:spPr>
      </p:sp>
      <p:sp>
        <p:nvSpPr>
          <p:cNvPr id="47" name="Shape 45"/>
          <p:cNvSpPr/>
          <p:nvPr/>
        </p:nvSpPr>
        <p:spPr>
          <a:xfrm>
            <a:off x="3063240" y="2167128"/>
            <a:ext cx="365760" cy="265176"/>
          </a:xfrm>
          <a:prstGeom prst="rect">
            <a:avLst/>
          </a:prstGeom>
          <a:solidFill>
            <a:srgbClr val="DCE8F6"/>
          </a:solidFill>
          <a:ln w="9525">
            <a:solidFill>
              <a:srgbClr val="7F98C4"/>
            </a:solidFill>
            <a:prstDash val="solid"/>
          </a:ln>
        </p:spPr>
      </p:sp>
      <p:sp>
        <p:nvSpPr>
          <p:cNvPr id="48" name="Shape 46"/>
          <p:cNvSpPr/>
          <p:nvPr/>
        </p:nvSpPr>
        <p:spPr>
          <a:xfrm>
            <a:off x="3186684" y="2249424"/>
            <a:ext cx="118872" cy="100584"/>
          </a:xfrm>
          <a:prstGeom prst="ellipse">
            <a:avLst/>
          </a:prstGeom>
          <a:solidFill>
            <a:srgbClr val="8C7BC0"/>
          </a:solidFill>
          <a:ln w="12700">
            <a:solidFill>
              <a:srgbClr val="5A4A99"/>
            </a:solidFill>
            <a:prstDash val="solid"/>
          </a:ln>
        </p:spPr>
      </p:sp>
      <p:sp>
        <p:nvSpPr>
          <p:cNvPr id="49" name="Shape 47"/>
          <p:cNvSpPr/>
          <p:nvPr/>
        </p:nvSpPr>
        <p:spPr>
          <a:xfrm>
            <a:off x="3429000" y="2167128"/>
            <a:ext cx="365760" cy="265176"/>
          </a:xfrm>
          <a:prstGeom prst="rect">
            <a:avLst/>
          </a:prstGeom>
          <a:solidFill>
            <a:srgbClr val="DCE8F6"/>
          </a:solidFill>
          <a:ln w="9525">
            <a:solidFill>
              <a:srgbClr val="7F98C4"/>
            </a:solidFill>
            <a:prstDash val="solid"/>
          </a:ln>
        </p:spPr>
      </p:sp>
      <p:sp>
        <p:nvSpPr>
          <p:cNvPr id="50" name="Shape 48"/>
          <p:cNvSpPr/>
          <p:nvPr/>
        </p:nvSpPr>
        <p:spPr>
          <a:xfrm>
            <a:off x="3552444" y="2249424"/>
            <a:ext cx="118872" cy="100584"/>
          </a:xfrm>
          <a:prstGeom prst="ellipse">
            <a:avLst/>
          </a:prstGeom>
          <a:solidFill>
            <a:srgbClr val="8C7BC0"/>
          </a:solidFill>
          <a:ln w="12700">
            <a:solidFill>
              <a:srgbClr val="5A4A99"/>
            </a:solidFill>
            <a:prstDash val="solid"/>
          </a:ln>
        </p:spPr>
      </p:sp>
      <p:sp>
        <p:nvSpPr>
          <p:cNvPr id="51" name="Shape 49"/>
          <p:cNvSpPr/>
          <p:nvPr/>
        </p:nvSpPr>
        <p:spPr>
          <a:xfrm>
            <a:off x="3794760" y="2167128"/>
            <a:ext cx="365760" cy="265176"/>
          </a:xfrm>
          <a:prstGeom prst="rect">
            <a:avLst/>
          </a:prstGeom>
          <a:solidFill>
            <a:srgbClr val="DCE8F6"/>
          </a:solidFill>
          <a:ln w="9525">
            <a:solidFill>
              <a:srgbClr val="7F98C4"/>
            </a:solidFill>
            <a:prstDash val="solid"/>
          </a:ln>
        </p:spPr>
      </p:sp>
      <p:sp>
        <p:nvSpPr>
          <p:cNvPr id="52" name="Shape 50"/>
          <p:cNvSpPr/>
          <p:nvPr/>
        </p:nvSpPr>
        <p:spPr>
          <a:xfrm>
            <a:off x="3918204" y="2249424"/>
            <a:ext cx="118872" cy="100584"/>
          </a:xfrm>
          <a:prstGeom prst="ellipse">
            <a:avLst/>
          </a:prstGeom>
          <a:solidFill>
            <a:srgbClr val="8C7BC0"/>
          </a:solidFill>
          <a:ln w="12700">
            <a:solidFill>
              <a:srgbClr val="5A4A99"/>
            </a:solidFill>
            <a:prstDash val="solid"/>
          </a:ln>
        </p:spPr>
      </p:sp>
      <p:sp>
        <p:nvSpPr>
          <p:cNvPr id="53" name="Shape 51"/>
          <p:cNvSpPr/>
          <p:nvPr/>
        </p:nvSpPr>
        <p:spPr>
          <a:xfrm>
            <a:off x="1417320" y="2432304"/>
            <a:ext cx="365760" cy="265176"/>
          </a:xfrm>
          <a:prstGeom prst="rect">
            <a:avLst/>
          </a:prstGeom>
          <a:solidFill>
            <a:srgbClr val="DCE8F6"/>
          </a:solidFill>
          <a:ln w="9525">
            <a:solidFill>
              <a:srgbClr val="7F98C4"/>
            </a:solidFill>
            <a:prstDash val="solid"/>
          </a:ln>
        </p:spPr>
      </p:sp>
      <p:sp>
        <p:nvSpPr>
          <p:cNvPr id="54" name="Shape 52"/>
          <p:cNvSpPr/>
          <p:nvPr/>
        </p:nvSpPr>
        <p:spPr>
          <a:xfrm>
            <a:off x="1540764" y="2514600"/>
            <a:ext cx="118872" cy="100584"/>
          </a:xfrm>
          <a:prstGeom prst="ellipse">
            <a:avLst/>
          </a:prstGeom>
          <a:solidFill>
            <a:srgbClr val="8C7BC0"/>
          </a:solidFill>
          <a:ln w="12700">
            <a:solidFill>
              <a:srgbClr val="5A4A99"/>
            </a:solidFill>
            <a:prstDash val="solid"/>
          </a:ln>
        </p:spPr>
      </p:sp>
      <p:sp>
        <p:nvSpPr>
          <p:cNvPr id="55" name="Shape 53"/>
          <p:cNvSpPr/>
          <p:nvPr/>
        </p:nvSpPr>
        <p:spPr>
          <a:xfrm>
            <a:off x="1783080" y="2432304"/>
            <a:ext cx="365760" cy="265176"/>
          </a:xfrm>
          <a:prstGeom prst="rect">
            <a:avLst/>
          </a:prstGeom>
          <a:solidFill>
            <a:srgbClr val="DCE8F6"/>
          </a:solidFill>
          <a:ln w="9525">
            <a:solidFill>
              <a:srgbClr val="7F98C4"/>
            </a:solidFill>
            <a:prstDash val="solid"/>
          </a:ln>
        </p:spPr>
      </p:sp>
      <p:sp>
        <p:nvSpPr>
          <p:cNvPr id="56" name="Shape 54"/>
          <p:cNvSpPr/>
          <p:nvPr/>
        </p:nvSpPr>
        <p:spPr>
          <a:xfrm>
            <a:off x="1883664" y="2491740"/>
            <a:ext cx="164592" cy="146304"/>
          </a:xfrm>
          <a:prstGeom prst="ellipse">
            <a:avLst/>
          </a:prstGeom>
          <a:solidFill>
            <a:srgbClr val="C9BEE6"/>
          </a:solidFill>
          <a:ln w="12700">
            <a:solidFill>
              <a:srgbClr val="5A4A99"/>
            </a:solidFill>
            <a:prstDash val="dash"/>
          </a:ln>
        </p:spPr>
      </p:sp>
      <p:sp>
        <p:nvSpPr>
          <p:cNvPr id="57" name="Shape 55"/>
          <p:cNvSpPr/>
          <p:nvPr/>
        </p:nvSpPr>
        <p:spPr>
          <a:xfrm rot="1800000">
            <a:off x="1920240" y="2505456"/>
            <a:ext cx="18288" cy="64008"/>
          </a:xfrm>
          <a:prstGeom prst="rect">
            <a:avLst/>
          </a:prstGeom>
          <a:solidFill>
            <a:srgbClr val="3B2F6B"/>
          </a:solidFill>
          <a:ln w="6350">
            <a:solidFill>
              <a:srgbClr val="3B2F6B"/>
            </a:solidFill>
            <a:prstDash val="solid"/>
          </a:ln>
        </p:spPr>
      </p:sp>
      <p:sp>
        <p:nvSpPr>
          <p:cNvPr id="58" name="Shape 56"/>
          <p:cNvSpPr/>
          <p:nvPr/>
        </p:nvSpPr>
        <p:spPr>
          <a:xfrm rot="-2400000">
            <a:off x="1993392" y="2514600"/>
            <a:ext cx="18288" cy="64008"/>
          </a:xfrm>
          <a:prstGeom prst="rect">
            <a:avLst/>
          </a:prstGeom>
          <a:solidFill>
            <a:srgbClr val="3B2F6B"/>
          </a:solidFill>
          <a:ln w="6350">
            <a:solidFill>
              <a:srgbClr val="3B2F6B"/>
            </a:solidFill>
            <a:prstDash val="solid"/>
          </a:ln>
        </p:spPr>
      </p:sp>
      <p:sp>
        <p:nvSpPr>
          <p:cNvPr id="59" name="Shape 57"/>
          <p:cNvSpPr/>
          <p:nvPr/>
        </p:nvSpPr>
        <p:spPr>
          <a:xfrm rot="4800000">
            <a:off x="1938528" y="2569464"/>
            <a:ext cx="18288" cy="64008"/>
          </a:xfrm>
          <a:prstGeom prst="rect">
            <a:avLst/>
          </a:prstGeom>
          <a:solidFill>
            <a:srgbClr val="3B2F6B"/>
          </a:solidFill>
          <a:ln w="6350">
            <a:solidFill>
              <a:srgbClr val="3B2F6B"/>
            </a:solidFill>
            <a:prstDash val="solid"/>
          </a:ln>
        </p:spPr>
      </p:sp>
      <p:sp>
        <p:nvSpPr>
          <p:cNvPr id="60" name="Shape 58"/>
          <p:cNvSpPr/>
          <p:nvPr/>
        </p:nvSpPr>
        <p:spPr>
          <a:xfrm rot="600000">
            <a:off x="1993392" y="2569464"/>
            <a:ext cx="18288" cy="64008"/>
          </a:xfrm>
          <a:prstGeom prst="rect">
            <a:avLst/>
          </a:prstGeom>
          <a:solidFill>
            <a:srgbClr val="3B2F6B"/>
          </a:solidFill>
          <a:ln w="6350">
            <a:solidFill>
              <a:srgbClr val="3B2F6B"/>
            </a:solidFill>
            <a:prstDash val="solid"/>
          </a:ln>
        </p:spPr>
      </p:sp>
      <p:sp>
        <p:nvSpPr>
          <p:cNvPr id="61" name="Shape 59"/>
          <p:cNvSpPr/>
          <p:nvPr/>
        </p:nvSpPr>
        <p:spPr>
          <a:xfrm>
            <a:off x="2148840" y="2432304"/>
            <a:ext cx="365760" cy="265176"/>
          </a:xfrm>
          <a:prstGeom prst="rect">
            <a:avLst/>
          </a:prstGeom>
          <a:solidFill>
            <a:srgbClr val="DCE8F6"/>
          </a:solidFill>
          <a:ln w="9525">
            <a:solidFill>
              <a:srgbClr val="7F98C4"/>
            </a:solidFill>
            <a:prstDash val="solid"/>
          </a:ln>
        </p:spPr>
      </p:sp>
      <p:sp>
        <p:nvSpPr>
          <p:cNvPr id="62" name="Shape 60"/>
          <p:cNvSpPr/>
          <p:nvPr/>
        </p:nvSpPr>
        <p:spPr>
          <a:xfrm>
            <a:off x="2272284" y="2514600"/>
            <a:ext cx="118872" cy="100584"/>
          </a:xfrm>
          <a:prstGeom prst="ellipse">
            <a:avLst/>
          </a:prstGeom>
          <a:solidFill>
            <a:srgbClr val="8C7BC0"/>
          </a:solidFill>
          <a:ln w="12700">
            <a:solidFill>
              <a:srgbClr val="5A4A99"/>
            </a:solidFill>
            <a:prstDash val="solid"/>
          </a:ln>
        </p:spPr>
      </p:sp>
      <p:sp>
        <p:nvSpPr>
          <p:cNvPr id="63" name="Shape 61"/>
          <p:cNvSpPr/>
          <p:nvPr/>
        </p:nvSpPr>
        <p:spPr>
          <a:xfrm>
            <a:off x="2514600" y="2432304"/>
            <a:ext cx="365760" cy="265176"/>
          </a:xfrm>
          <a:prstGeom prst="rect">
            <a:avLst/>
          </a:prstGeom>
          <a:solidFill>
            <a:srgbClr val="DCE8F6"/>
          </a:solidFill>
          <a:ln w="9525">
            <a:solidFill>
              <a:srgbClr val="7F98C4"/>
            </a:solidFill>
            <a:prstDash val="solid"/>
          </a:ln>
        </p:spPr>
      </p:sp>
      <p:sp>
        <p:nvSpPr>
          <p:cNvPr id="64" name="Shape 62"/>
          <p:cNvSpPr/>
          <p:nvPr/>
        </p:nvSpPr>
        <p:spPr>
          <a:xfrm>
            <a:off x="2638044" y="2514600"/>
            <a:ext cx="118872" cy="100584"/>
          </a:xfrm>
          <a:prstGeom prst="ellipse">
            <a:avLst/>
          </a:prstGeom>
          <a:solidFill>
            <a:srgbClr val="8C7BC0"/>
          </a:solidFill>
          <a:ln w="12700">
            <a:solidFill>
              <a:srgbClr val="5A4A99"/>
            </a:solidFill>
            <a:prstDash val="solid"/>
          </a:ln>
        </p:spPr>
      </p:sp>
      <p:sp>
        <p:nvSpPr>
          <p:cNvPr id="65" name="Shape 63"/>
          <p:cNvSpPr/>
          <p:nvPr/>
        </p:nvSpPr>
        <p:spPr>
          <a:xfrm>
            <a:off x="2880360" y="2432304"/>
            <a:ext cx="365760" cy="265176"/>
          </a:xfrm>
          <a:prstGeom prst="rect">
            <a:avLst/>
          </a:prstGeom>
          <a:solidFill>
            <a:srgbClr val="DCE8F6"/>
          </a:solidFill>
          <a:ln w="9525">
            <a:solidFill>
              <a:srgbClr val="7F98C4"/>
            </a:solidFill>
            <a:prstDash val="solid"/>
          </a:ln>
        </p:spPr>
      </p:sp>
      <p:sp>
        <p:nvSpPr>
          <p:cNvPr id="66" name="Shape 64"/>
          <p:cNvSpPr/>
          <p:nvPr/>
        </p:nvSpPr>
        <p:spPr>
          <a:xfrm>
            <a:off x="3003804" y="2514600"/>
            <a:ext cx="118872" cy="100584"/>
          </a:xfrm>
          <a:prstGeom prst="ellipse">
            <a:avLst/>
          </a:prstGeom>
          <a:solidFill>
            <a:srgbClr val="8C7BC0"/>
          </a:solidFill>
          <a:ln w="12700">
            <a:solidFill>
              <a:srgbClr val="5A4A99"/>
            </a:solidFill>
            <a:prstDash val="solid"/>
          </a:ln>
        </p:spPr>
      </p:sp>
      <p:sp>
        <p:nvSpPr>
          <p:cNvPr id="67" name="Shape 65"/>
          <p:cNvSpPr/>
          <p:nvPr/>
        </p:nvSpPr>
        <p:spPr>
          <a:xfrm>
            <a:off x="3246120" y="2432304"/>
            <a:ext cx="365760" cy="265176"/>
          </a:xfrm>
          <a:prstGeom prst="rect">
            <a:avLst/>
          </a:prstGeom>
          <a:solidFill>
            <a:srgbClr val="DCE8F6"/>
          </a:solidFill>
          <a:ln w="9525">
            <a:solidFill>
              <a:srgbClr val="7F98C4"/>
            </a:solidFill>
            <a:prstDash val="solid"/>
          </a:ln>
        </p:spPr>
      </p:sp>
      <p:sp>
        <p:nvSpPr>
          <p:cNvPr id="68" name="Shape 66"/>
          <p:cNvSpPr/>
          <p:nvPr/>
        </p:nvSpPr>
        <p:spPr>
          <a:xfrm>
            <a:off x="3369564" y="2514600"/>
            <a:ext cx="118872" cy="100584"/>
          </a:xfrm>
          <a:prstGeom prst="ellipse">
            <a:avLst/>
          </a:prstGeom>
          <a:solidFill>
            <a:srgbClr val="8C7BC0"/>
          </a:solidFill>
          <a:ln w="12700">
            <a:solidFill>
              <a:srgbClr val="5A4A99"/>
            </a:solidFill>
            <a:prstDash val="solid"/>
          </a:ln>
        </p:spPr>
      </p:sp>
      <p:sp>
        <p:nvSpPr>
          <p:cNvPr id="69" name="Shape 67"/>
          <p:cNvSpPr/>
          <p:nvPr/>
        </p:nvSpPr>
        <p:spPr>
          <a:xfrm>
            <a:off x="3611880" y="2432304"/>
            <a:ext cx="365760" cy="265176"/>
          </a:xfrm>
          <a:prstGeom prst="rect">
            <a:avLst/>
          </a:prstGeom>
          <a:solidFill>
            <a:srgbClr val="DCE8F6"/>
          </a:solidFill>
          <a:ln w="9525">
            <a:solidFill>
              <a:srgbClr val="7F98C4"/>
            </a:solidFill>
            <a:prstDash val="solid"/>
          </a:ln>
        </p:spPr>
      </p:sp>
      <p:sp>
        <p:nvSpPr>
          <p:cNvPr id="70" name="Shape 68"/>
          <p:cNvSpPr/>
          <p:nvPr/>
        </p:nvSpPr>
        <p:spPr>
          <a:xfrm>
            <a:off x="3735324" y="2514600"/>
            <a:ext cx="118872" cy="100584"/>
          </a:xfrm>
          <a:prstGeom prst="ellipse">
            <a:avLst/>
          </a:prstGeom>
          <a:solidFill>
            <a:srgbClr val="8C7BC0"/>
          </a:solidFill>
          <a:ln w="12700">
            <a:solidFill>
              <a:srgbClr val="5A4A99"/>
            </a:solidFill>
            <a:prstDash val="solid"/>
          </a:ln>
        </p:spPr>
      </p:sp>
      <p:sp>
        <p:nvSpPr>
          <p:cNvPr id="71" name="Shape 69"/>
          <p:cNvSpPr/>
          <p:nvPr/>
        </p:nvSpPr>
        <p:spPr>
          <a:xfrm>
            <a:off x="3977640" y="2432304"/>
            <a:ext cx="365760" cy="265176"/>
          </a:xfrm>
          <a:prstGeom prst="rect">
            <a:avLst/>
          </a:prstGeom>
          <a:solidFill>
            <a:srgbClr val="DCE8F6"/>
          </a:solidFill>
          <a:ln w="9525">
            <a:solidFill>
              <a:srgbClr val="7F98C4"/>
            </a:solidFill>
            <a:prstDash val="solid"/>
          </a:ln>
        </p:spPr>
      </p:sp>
      <p:sp>
        <p:nvSpPr>
          <p:cNvPr id="72" name="Shape 70"/>
          <p:cNvSpPr/>
          <p:nvPr/>
        </p:nvSpPr>
        <p:spPr>
          <a:xfrm>
            <a:off x="4101084" y="2514600"/>
            <a:ext cx="118872" cy="100584"/>
          </a:xfrm>
          <a:prstGeom prst="ellipse">
            <a:avLst/>
          </a:prstGeom>
          <a:solidFill>
            <a:srgbClr val="8C7BC0"/>
          </a:solidFill>
          <a:ln w="12700">
            <a:solidFill>
              <a:srgbClr val="5A4A99"/>
            </a:solidFill>
            <a:prstDash val="solid"/>
          </a:ln>
        </p:spPr>
      </p:sp>
      <p:sp>
        <p:nvSpPr>
          <p:cNvPr id="73" name="Shape 71"/>
          <p:cNvSpPr/>
          <p:nvPr/>
        </p:nvSpPr>
        <p:spPr>
          <a:xfrm>
            <a:off x="1234440" y="2697480"/>
            <a:ext cx="365760" cy="265176"/>
          </a:xfrm>
          <a:prstGeom prst="rect">
            <a:avLst/>
          </a:prstGeom>
          <a:solidFill>
            <a:srgbClr val="DCE8F6"/>
          </a:solidFill>
          <a:ln w="9525">
            <a:solidFill>
              <a:srgbClr val="7F98C4"/>
            </a:solidFill>
            <a:prstDash val="solid"/>
          </a:ln>
        </p:spPr>
      </p:sp>
      <p:sp>
        <p:nvSpPr>
          <p:cNvPr id="74" name="Shape 72"/>
          <p:cNvSpPr/>
          <p:nvPr/>
        </p:nvSpPr>
        <p:spPr>
          <a:xfrm>
            <a:off x="1357884" y="2779776"/>
            <a:ext cx="118872" cy="100584"/>
          </a:xfrm>
          <a:prstGeom prst="ellipse">
            <a:avLst/>
          </a:prstGeom>
          <a:solidFill>
            <a:srgbClr val="8C7BC0"/>
          </a:solidFill>
          <a:ln w="12700">
            <a:solidFill>
              <a:srgbClr val="5A4A99"/>
            </a:solidFill>
            <a:prstDash val="solid"/>
          </a:ln>
        </p:spPr>
      </p:sp>
      <p:sp>
        <p:nvSpPr>
          <p:cNvPr id="75" name="Shape 73"/>
          <p:cNvSpPr/>
          <p:nvPr/>
        </p:nvSpPr>
        <p:spPr>
          <a:xfrm>
            <a:off x="1600200" y="2697480"/>
            <a:ext cx="365760" cy="265176"/>
          </a:xfrm>
          <a:prstGeom prst="rect">
            <a:avLst/>
          </a:prstGeom>
          <a:solidFill>
            <a:srgbClr val="DCE8F6"/>
          </a:solidFill>
          <a:ln w="9525">
            <a:solidFill>
              <a:srgbClr val="7F98C4"/>
            </a:solidFill>
            <a:prstDash val="solid"/>
          </a:ln>
        </p:spPr>
      </p:sp>
      <p:sp>
        <p:nvSpPr>
          <p:cNvPr id="76" name="Shape 74"/>
          <p:cNvSpPr/>
          <p:nvPr/>
        </p:nvSpPr>
        <p:spPr>
          <a:xfrm>
            <a:off x="1700784" y="2756916"/>
            <a:ext cx="164592" cy="146304"/>
          </a:xfrm>
          <a:prstGeom prst="ellipse">
            <a:avLst/>
          </a:prstGeom>
          <a:solidFill>
            <a:srgbClr val="C9BEE6"/>
          </a:solidFill>
          <a:ln w="12700">
            <a:solidFill>
              <a:srgbClr val="5A4A99"/>
            </a:solidFill>
            <a:prstDash val="dash"/>
          </a:ln>
        </p:spPr>
      </p:sp>
      <p:sp>
        <p:nvSpPr>
          <p:cNvPr id="77" name="Shape 75"/>
          <p:cNvSpPr/>
          <p:nvPr/>
        </p:nvSpPr>
        <p:spPr>
          <a:xfrm rot="1800000">
            <a:off x="1737360" y="2770632"/>
            <a:ext cx="18288" cy="64008"/>
          </a:xfrm>
          <a:prstGeom prst="rect">
            <a:avLst/>
          </a:prstGeom>
          <a:solidFill>
            <a:srgbClr val="3B2F6B"/>
          </a:solidFill>
          <a:ln w="6350">
            <a:solidFill>
              <a:srgbClr val="3B2F6B"/>
            </a:solidFill>
            <a:prstDash val="solid"/>
          </a:ln>
        </p:spPr>
      </p:sp>
      <p:sp>
        <p:nvSpPr>
          <p:cNvPr id="78" name="Shape 76"/>
          <p:cNvSpPr/>
          <p:nvPr/>
        </p:nvSpPr>
        <p:spPr>
          <a:xfrm rot="-2400000">
            <a:off x="1810512" y="2779776"/>
            <a:ext cx="18288" cy="64008"/>
          </a:xfrm>
          <a:prstGeom prst="rect">
            <a:avLst/>
          </a:prstGeom>
          <a:solidFill>
            <a:srgbClr val="3B2F6B"/>
          </a:solidFill>
          <a:ln w="6350">
            <a:solidFill>
              <a:srgbClr val="3B2F6B"/>
            </a:solidFill>
            <a:prstDash val="solid"/>
          </a:ln>
        </p:spPr>
      </p:sp>
      <p:sp>
        <p:nvSpPr>
          <p:cNvPr id="79" name="Shape 77"/>
          <p:cNvSpPr/>
          <p:nvPr/>
        </p:nvSpPr>
        <p:spPr>
          <a:xfrm rot="4800000">
            <a:off x="1755648" y="2834640"/>
            <a:ext cx="18288" cy="64008"/>
          </a:xfrm>
          <a:prstGeom prst="rect">
            <a:avLst/>
          </a:prstGeom>
          <a:solidFill>
            <a:srgbClr val="3B2F6B"/>
          </a:solidFill>
          <a:ln w="6350">
            <a:solidFill>
              <a:srgbClr val="3B2F6B"/>
            </a:solidFill>
            <a:prstDash val="solid"/>
          </a:ln>
        </p:spPr>
      </p:sp>
      <p:sp>
        <p:nvSpPr>
          <p:cNvPr id="80" name="Shape 78"/>
          <p:cNvSpPr/>
          <p:nvPr/>
        </p:nvSpPr>
        <p:spPr>
          <a:xfrm rot="600000">
            <a:off x="1810512" y="2834640"/>
            <a:ext cx="18288" cy="64008"/>
          </a:xfrm>
          <a:prstGeom prst="rect">
            <a:avLst/>
          </a:prstGeom>
          <a:solidFill>
            <a:srgbClr val="3B2F6B"/>
          </a:solidFill>
          <a:ln w="6350">
            <a:solidFill>
              <a:srgbClr val="3B2F6B"/>
            </a:solidFill>
            <a:prstDash val="solid"/>
          </a:ln>
        </p:spPr>
      </p:sp>
      <p:sp>
        <p:nvSpPr>
          <p:cNvPr id="81" name="Shape 79"/>
          <p:cNvSpPr/>
          <p:nvPr/>
        </p:nvSpPr>
        <p:spPr>
          <a:xfrm>
            <a:off x="1965960" y="2697480"/>
            <a:ext cx="365760" cy="265176"/>
          </a:xfrm>
          <a:prstGeom prst="rect">
            <a:avLst/>
          </a:prstGeom>
          <a:solidFill>
            <a:srgbClr val="DCE8F6"/>
          </a:solidFill>
          <a:ln w="9525">
            <a:solidFill>
              <a:srgbClr val="7F98C4"/>
            </a:solidFill>
            <a:prstDash val="solid"/>
          </a:ln>
        </p:spPr>
      </p:sp>
      <p:sp>
        <p:nvSpPr>
          <p:cNvPr id="82" name="Shape 80"/>
          <p:cNvSpPr/>
          <p:nvPr/>
        </p:nvSpPr>
        <p:spPr>
          <a:xfrm>
            <a:off x="2089404" y="2779776"/>
            <a:ext cx="118872" cy="100584"/>
          </a:xfrm>
          <a:prstGeom prst="ellipse">
            <a:avLst/>
          </a:prstGeom>
          <a:solidFill>
            <a:srgbClr val="8C7BC0"/>
          </a:solidFill>
          <a:ln w="12700">
            <a:solidFill>
              <a:srgbClr val="5A4A99"/>
            </a:solidFill>
            <a:prstDash val="solid"/>
          </a:ln>
        </p:spPr>
      </p:sp>
      <p:sp>
        <p:nvSpPr>
          <p:cNvPr id="83" name="Shape 81"/>
          <p:cNvSpPr/>
          <p:nvPr/>
        </p:nvSpPr>
        <p:spPr>
          <a:xfrm>
            <a:off x="2331720" y="2697480"/>
            <a:ext cx="365760" cy="265176"/>
          </a:xfrm>
          <a:prstGeom prst="rect">
            <a:avLst/>
          </a:prstGeom>
          <a:solidFill>
            <a:srgbClr val="DCE8F6"/>
          </a:solidFill>
          <a:ln w="9525">
            <a:solidFill>
              <a:srgbClr val="7F98C4"/>
            </a:solidFill>
            <a:prstDash val="solid"/>
          </a:ln>
        </p:spPr>
      </p:sp>
      <p:sp>
        <p:nvSpPr>
          <p:cNvPr id="84" name="Shape 82"/>
          <p:cNvSpPr/>
          <p:nvPr/>
        </p:nvSpPr>
        <p:spPr>
          <a:xfrm>
            <a:off x="2455164" y="2779776"/>
            <a:ext cx="118872" cy="100584"/>
          </a:xfrm>
          <a:prstGeom prst="ellipse">
            <a:avLst/>
          </a:prstGeom>
          <a:solidFill>
            <a:srgbClr val="8C7BC0"/>
          </a:solidFill>
          <a:ln w="12700">
            <a:solidFill>
              <a:srgbClr val="5A4A99"/>
            </a:solidFill>
            <a:prstDash val="solid"/>
          </a:ln>
        </p:spPr>
      </p:sp>
      <p:sp>
        <p:nvSpPr>
          <p:cNvPr id="85" name="Shape 83"/>
          <p:cNvSpPr/>
          <p:nvPr/>
        </p:nvSpPr>
        <p:spPr>
          <a:xfrm>
            <a:off x="2697480" y="2697480"/>
            <a:ext cx="365760" cy="265176"/>
          </a:xfrm>
          <a:prstGeom prst="rect">
            <a:avLst/>
          </a:prstGeom>
          <a:solidFill>
            <a:srgbClr val="DCE8F6"/>
          </a:solidFill>
          <a:ln w="9525">
            <a:solidFill>
              <a:srgbClr val="7F98C4"/>
            </a:solidFill>
            <a:prstDash val="solid"/>
          </a:ln>
        </p:spPr>
      </p:sp>
      <p:sp>
        <p:nvSpPr>
          <p:cNvPr id="86" name="Shape 84"/>
          <p:cNvSpPr/>
          <p:nvPr/>
        </p:nvSpPr>
        <p:spPr>
          <a:xfrm>
            <a:off x="2820924" y="2779776"/>
            <a:ext cx="118872" cy="100584"/>
          </a:xfrm>
          <a:prstGeom prst="ellipse">
            <a:avLst/>
          </a:prstGeom>
          <a:solidFill>
            <a:srgbClr val="8C7BC0"/>
          </a:solidFill>
          <a:ln w="12700">
            <a:solidFill>
              <a:srgbClr val="5A4A99"/>
            </a:solidFill>
            <a:prstDash val="solid"/>
          </a:ln>
        </p:spPr>
      </p:sp>
      <p:sp>
        <p:nvSpPr>
          <p:cNvPr id="87" name="Shape 85"/>
          <p:cNvSpPr/>
          <p:nvPr/>
        </p:nvSpPr>
        <p:spPr>
          <a:xfrm>
            <a:off x="3063240" y="2697480"/>
            <a:ext cx="365760" cy="265176"/>
          </a:xfrm>
          <a:prstGeom prst="rect">
            <a:avLst/>
          </a:prstGeom>
          <a:solidFill>
            <a:srgbClr val="DCE8F6"/>
          </a:solidFill>
          <a:ln w="9525">
            <a:solidFill>
              <a:srgbClr val="7F98C4"/>
            </a:solidFill>
            <a:prstDash val="solid"/>
          </a:ln>
        </p:spPr>
      </p:sp>
      <p:sp>
        <p:nvSpPr>
          <p:cNvPr id="88" name="Shape 86"/>
          <p:cNvSpPr/>
          <p:nvPr/>
        </p:nvSpPr>
        <p:spPr>
          <a:xfrm>
            <a:off x="3186684" y="2779776"/>
            <a:ext cx="118872" cy="100584"/>
          </a:xfrm>
          <a:prstGeom prst="ellipse">
            <a:avLst/>
          </a:prstGeom>
          <a:solidFill>
            <a:srgbClr val="8C7BC0"/>
          </a:solidFill>
          <a:ln w="12700">
            <a:solidFill>
              <a:srgbClr val="5A4A99"/>
            </a:solidFill>
            <a:prstDash val="solid"/>
          </a:ln>
        </p:spPr>
      </p:sp>
      <p:sp>
        <p:nvSpPr>
          <p:cNvPr id="89" name="Shape 87"/>
          <p:cNvSpPr/>
          <p:nvPr/>
        </p:nvSpPr>
        <p:spPr>
          <a:xfrm>
            <a:off x="3429000" y="2697480"/>
            <a:ext cx="365760" cy="265176"/>
          </a:xfrm>
          <a:prstGeom prst="rect">
            <a:avLst/>
          </a:prstGeom>
          <a:solidFill>
            <a:srgbClr val="DCE8F6"/>
          </a:solidFill>
          <a:ln w="9525">
            <a:solidFill>
              <a:srgbClr val="7F98C4"/>
            </a:solidFill>
            <a:prstDash val="solid"/>
          </a:ln>
        </p:spPr>
      </p:sp>
      <p:sp>
        <p:nvSpPr>
          <p:cNvPr id="90" name="Shape 88"/>
          <p:cNvSpPr/>
          <p:nvPr/>
        </p:nvSpPr>
        <p:spPr>
          <a:xfrm>
            <a:off x="3552444" y="2779776"/>
            <a:ext cx="118872" cy="100584"/>
          </a:xfrm>
          <a:prstGeom prst="ellipse">
            <a:avLst/>
          </a:prstGeom>
          <a:solidFill>
            <a:srgbClr val="8C7BC0"/>
          </a:solidFill>
          <a:ln w="12700">
            <a:solidFill>
              <a:srgbClr val="5A4A99"/>
            </a:solidFill>
            <a:prstDash val="solid"/>
          </a:ln>
        </p:spPr>
      </p:sp>
      <p:sp>
        <p:nvSpPr>
          <p:cNvPr id="91" name="Shape 89"/>
          <p:cNvSpPr/>
          <p:nvPr/>
        </p:nvSpPr>
        <p:spPr>
          <a:xfrm>
            <a:off x="3794760" y="2697480"/>
            <a:ext cx="365760" cy="265176"/>
          </a:xfrm>
          <a:prstGeom prst="rect">
            <a:avLst/>
          </a:prstGeom>
          <a:solidFill>
            <a:srgbClr val="DCE8F6"/>
          </a:solidFill>
          <a:ln w="9525">
            <a:solidFill>
              <a:srgbClr val="7F98C4"/>
            </a:solidFill>
            <a:prstDash val="solid"/>
          </a:ln>
        </p:spPr>
      </p:sp>
      <p:sp>
        <p:nvSpPr>
          <p:cNvPr id="92" name="Shape 90"/>
          <p:cNvSpPr/>
          <p:nvPr/>
        </p:nvSpPr>
        <p:spPr>
          <a:xfrm>
            <a:off x="3918204" y="2779776"/>
            <a:ext cx="118872" cy="100584"/>
          </a:xfrm>
          <a:prstGeom prst="ellipse">
            <a:avLst/>
          </a:prstGeom>
          <a:solidFill>
            <a:srgbClr val="8C7BC0"/>
          </a:solidFill>
          <a:ln w="12700">
            <a:solidFill>
              <a:srgbClr val="5A4A99"/>
            </a:solidFill>
            <a:prstDash val="solid"/>
          </a:ln>
        </p:spPr>
      </p:sp>
      <p:sp>
        <p:nvSpPr>
          <p:cNvPr id="93" name="Shape 91"/>
          <p:cNvSpPr/>
          <p:nvPr/>
        </p:nvSpPr>
        <p:spPr>
          <a:xfrm>
            <a:off x="4160520" y="2697480"/>
            <a:ext cx="365760" cy="265176"/>
          </a:xfrm>
          <a:prstGeom prst="rect">
            <a:avLst/>
          </a:prstGeom>
          <a:solidFill>
            <a:srgbClr val="DCE8F6"/>
          </a:solidFill>
          <a:ln w="9525">
            <a:solidFill>
              <a:srgbClr val="7F98C4"/>
            </a:solidFill>
            <a:prstDash val="solid"/>
          </a:ln>
        </p:spPr>
      </p:sp>
      <p:sp>
        <p:nvSpPr>
          <p:cNvPr id="94" name="Shape 92"/>
          <p:cNvSpPr/>
          <p:nvPr/>
        </p:nvSpPr>
        <p:spPr>
          <a:xfrm>
            <a:off x="4283964" y="2779776"/>
            <a:ext cx="118872" cy="100584"/>
          </a:xfrm>
          <a:prstGeom prst="ellipse">
            <a:avLst/>
          </a:prstGeom>
          <a:solidFill>
            <a:srgbClr val="8C7BC0"/>
          </a:solidFill>
          <a:ln w="12700">
            <a:solidFill>
              <a:srgbClr val="5A4A99"/>
            </a:solidFill>
            <a:prstDash val="solid"/>
          </a:ln>
        </p:spPr>
      </p:sp>
      <p:sp>
        <p:nvSpPr>
          <p:cNvPr id="95" name="Shape 93"/>
          <p:cNvSpPr/>
          <p:nvPr/>
        </p:nvSpPr>
        <p:spPr>
          <a:xfrm>
            <a:off x="1417320" y="2962656"/>
            <a:ext cx="365760" cy="265176"/>
          </a:xfrm>
          <a:prstGeom prst="rect">
            <a:avLst/>
          </a:prstGeom>
          <a:solidFill>
            <a:srgbClr val="DCE8F6"/>
          </a:solidFill>
          <a:ln w="9525">
            <a:solidFill>
              <a:srgbClr val="7F98C4"/>
            </a:solidFill>
            <a:prstDash val="solid"/>
          </a:ln>
        </p:spPr>
      </p:sp>
      <p:sp>
        <p:nvSpPr>
          <p:cNvPr id="96" name="Shape 94"/>
          <p:cNvSpPr/>
          <p:nvPr/>
        </p:nvSpPr>
        <p:spPr>
          <a:xfrm>
            <a:off x="1540764" y="3044952"/>
            <a:ext cx="118872" cy="100584"/>
          </a:xfrm>
          <a:prstGeom prst="ellipse">
            <a:avLst/>
          </a:prstGeom>
          <a:solidFill>
            <a:srgbClr val="8C7BC0"/>
          </a:solidFill>
          <a:ln w="12700">
            <a:solidFill>
              <a:srgbClr val="5A4A99"/>
            </a:solidFill>
            <a:prstDash val="solid"/>
          </a:ln>
        </p:spPr>
      </p:sp>
      <p:sp>
        <p:nvSpPr>
          <p:cNvPr id="97" name="Shape 95"/>
          <p:cNvSpPr/>
          <p:nvPr/>
        </p:nvSpPr>
        <p:spPr>
          <a:xfrm>
            <a:off x="1783080" y="2962656"/>
            <a:ext cx="365760" cy="265176"/>
          </a:xfrm>
          <a:prstGeom prst="rect">
            <a:avLst/>
          </a:prstGeom>
          <a:solidFill>
            <a:srgbClr val="DCE8F6"/>
          </a:solidFill>
          <a:ln w="9525">
            <a:solidFill>
              <a:srgbClr val="7F98C4"/>
            </a:solidFill>
            <a:prstDash val="solid"/>
          </a:ln>
        </p:spPr>
      </p:sp>
      <p:sp>
        <p:nvSpPr>
          <p:cNvPr id="98" name="Shape 96"/>
          <p:cNvSpPr/>
          <p:nvPr/>
        </p:nvSpPr>
        <p:spPr>
          <a:xfrm>
            <a:off x="1906524" y="3044952"/>
            <a:ext cx="118872" cy="100584"/>
          </a:xfrm>
          <a:prstGeom prst="ellipse">
            <a:avLst/>
          </a:prstGeom>
          <a:solidFill>
            <a:srgbClr val="8C7BC0"/>
          </a:solidFill>
          <a:ln w="12700">
            <a:solidFill>
              <a:srgbClr val="5A4A99"/>
            </a:solidFill>
            <a:prstDash val="solid"/>
          </a:ln>
        </p:spPr>
      </p:sp>
      <p:sp>
        <p:nvSpPr>
          <p:cNvPr id="99" name="Shape 97"/>
          <p:cNvSpPr/>
          <p:nvPr/>
        </p:nvSpPr>
        <p:spPr>
          <a:xfrm>
            <a:off x="2148840" y="2962656"/>
            <a:ext cx="365760" cy="265176"/>
          </a:xfrm>
          <a:prstGeom prst="rect">
            <a:avLst/>
          </a:prstGeom>
          <a:solidFill>
            <a:srgbClr val="DCE8F6"/>
          </a:solidFill>
          <a:ln w="9525">
            <a:solidFill>
              <a:srgbClr val="7F98C4"/>
            </a:solidFill>
            <a:prstDash val="solid"/>
          </a:ln>
        </p:spPr>
      </p:sp>
      <p:sp>
        <p:nvSpPr>
          <p:cNvPr id="100" name="Shape 98"/>
          <p:cNvSpPr/>
          <p:nvPr/>
        </p:nvSpPr>
        <p:spPr>
          <a:xfrm>
            <a:off x="2272284" y="3044952"/>
            <a:ext cx="118872" cy="100584"/>
          </a:xfrm>
          <a:prstGeom prst="ellipse">
            <a:avLst/>
          </a:prstGeom>
          <a:solidFill>
            <a:srgbClr val="8C7BC0"/>
          </a:solidFill>
          <a:ln w="12700">
            <a:solidFill>
              <a:srgbClr val="5A4A99"/>
            </a:solidFill>
            <a:prstDash val="solid"/>
          </a:ln>
        </p:spPr>
      </p:sp>
      <p:sp>
        <p:nvSpPr>
          <p:cNvPr id="101" name="Shape 99"/>
          <p:cNvSpPr/>
          <p:nvPr/>
        </p:nvSpPr>
        <p:spPr>
          <a:xfrm>
            <a:off x="2514600" y="2962656"/>
            <a:ext cx="365760" cy="265176"/>
          </a:xfrm>
          <a:prstGeom prst="rect">
            <a:avLst/>
          </a:prstGeom>
          <a:solidFill>
            <a:srgbClr val="DCE8F6"/>
          </a:solidFill>
          <a:ln w="9525">
            <a:solidFill>
              <a:srgbClr val="7F98C4"/>
            </a:solidFill>
            <a:prstDash val="solid"/>
          </a:ln>
        </p:spPr>
      </p:sp>
      <p:sp>
        <p:nvSpPr>
          <p:cNvPr id="102" name="Shape 100"/>
          <p:cNvSpPr/>
          <p:nvPr/>
        </p:nvSpPr>
        <p:spPr>
          <a:xfrm>
            <a:off x="2638044" y="3044952"/>
            <a:ext cx="118872" cy="100584"/>
          </a:xfrm>
          <a:prstGeom prst="ellipse">
            <a:avLst/>
          </a:prstGeom>
          <a:solidFill>
            <a:srgbClr val="8C7BC0"/>
          </a:solidFill>
          <a:ln w="12700">
            <a:solidFill>
              <a:srgbClr val="5A4A99"/>
            </a:solidFill>
            <a:prstDash val="solid"/>
          </a:ln>
        </p:spPr>
      </p:sp>
      <p:sp>
        <p:nvSpPr>
          <p:cNvPr id="103" name="Shape 101"/>
          <p:cNvSpPr/>
          <p:nvPr/>
        </p:nvSpPr>
        <p:spPr>
          <a:xfrm>
            <a:off x="2880360" y="2962656"/>
            <a:ext cx="365760" cy="265176"/>
          </a:xfrm>
          <a:prstGeom prst="rect">
            <a:avLst/>
          </a:prstGeom>
          <a:solidFill>
            <a:srgbClr val="DCE8F6"/>
          </a:solidFill>
          <a:ln w="9525">
            <a:solidFill>
              <a:srgbClr val="7F98C4"/>
            </a:solidFill>
            <a:prstDash val="solid"/>
          </a:ln>
        </p:spPr>
      </p:sp>
      <p:sp>
        <p:nvSpPr>
          <p:cNvPr id="104" name="Shape 102"/>
          <p:cNvSpPr/>
          <p:nvPr/>
        </p:nvSpPr>
        <p:spPr>
          <a:xfrm>
            <a:off x="3044952" y="3008376"/>
            <a:ext cx="36576" cy="173736"/>
          </a:xfrm>
          <a:prstGeom prst="rect">
            <a:avLst/>
          </a:prstGeom>
          <a:solidFill>
            <a:srgbClr val="3B2F6B"/>
          </a:solidFill>
          <a:ln w="12700">
            <a:solidFill>
              <a:srgbClr val="3B2F6B"/>
            </a:solidFill>
            <a:prstDash val="solid"/>
          </a:ln>
        </p:spPr>
      </p:sp>
      <p:sp>
        <p:nvSpPr>
          <p:cNvPr id="105" name="Shape 103"/>
          <p:cNvSpPr/>
          <p:nvPr/>
        </p:nvSpPr>
        <p:spPr>
          <a:xfrm>
            <a:off x="3246120" y="2962656"/>
            <a:ext cx="365760" cy="265176"/>
          </a:xfrm>
          <a:prstGeom prst="rect">
            <a:avLst/>
          </a:prstGeom>
          <a:solidFill>
            <a:srgbClr val="DCE8F6"/>
          </a:solidFill>
          <a:ln w="9525">
            <a:solidFill>
              <a:srgbClr val="7F98C4"/>
            </a:solidFill>
            <a:prstDash val="solid"/>
          </a:ln>
        </p:spPr>
      </p:sp>
      <p:sp>
        <p:nvSpPr>
          <p:cNvPr id="106" name="Shape 104"/>
          <p:cNvSpPr/>
          <p:nvPr/>
        </p:nvSpPr>
        <p:spPr>
          <a:xfrm>
            <a:off x="3369564" y="3044952"/>
            <a:ext cx="118872" cy="100584"/>
          </a:xfrm>
          <a:prstGeom prst="ellipse">
            <a:avLst/>
          </a:prstGeom>
          <a:solidFill>
            <a:srgbClr val="8C7BC0"/>
          </a:solidFill>
          <a:ln w="12700">
            <a:solidFill>
              <a:srgbClr val="5A4A99"/>
            </a:solidFill>
            <a:prstDash val="solid"/>
          </a:ln>
        </p:spPr>
      </p:sp>
      <p:sp>
        <p:nvSpPr>
          <p:cNvPr id="107" name="Shape 105"/>
          <p:cNvSpPr/>
          <p:nvPr/>
        </p:nvSpPr>
        <p:spPr>
          <a:xfrm>
            <a:off x="3611880" y="2962656"/>
            <a:ext cx="365760" cy="265176"/>
          </a:xfrm>
          <a:prstGeom prst="rect">
            <a:avLst/>
          </a:prstGeom>
          <a:solidFill>
            <a:srgbClr val="DCE8F6"/>
          </a:solidFill>
          <a:ln w="9525">
            <a:solidFill>
              <a:srgbClr val="7F98C4"/>
            </a:solidFill>
            <a:prstDash val="solid"/>
          </a:ln>
        </p:spPr>
      </p:sp>
      <p:sp>
        <p:nvSpPr>
          <p:cNvPr id="108" name="Shape 106"/>
          <p:cNvSpPr/>
          <p:nvPr/>
        </p:nvSpPr>
        <p:spPr>
          <a:xfrm>
            <a:off x="3735324" y="3044952"/>
            <a:ext cx="118872" cy="100584"/>
          </a:xfrm>
          <a:prstGeom prst="ellipse">
            <a:avLst/>
          </a:prstGeom>
          <a:solidFill>
            <a:srgbClr val="8C7BC0"/>
          </a:solidFill>
          <a:ln w="12700">
            <a:solidFill>
              <a:srgbClr val="5A4A99"/>
            </a:solidFill>
            <a:prstDash val="solid"/>
          </a:ln>
        </p:spPr>
      </p:sp>
      <p:sp>
        <p:nvSpPr>
          <p:cNvPr id="109" name="Shape 107"/>
          <p:cNvSpPr/>
          <p:nvPr/>
        </p:nvSpPr>
        <p:spPr>
          <a:xfrm>
            <a:off x="3977640" y="2962656"/>
            <a:ext cx="365760" cy="265176"/>
          </a:xfrm>
          <a:prstGeom prst="rect">
            <a:avLst/>
          </a:prstGeom>
          <a:solidFill>
            <a:srgbClr val="DCE8F6"/>
          </a:solidFill>
          <a:ln w="9525">
            <a:solidFill>
              <a:srgbClr val="7F98C4"/>
            </a:solidFill>
            <a:prstDash val="solid"/>
          </a:ln>
        </p:spPr>
      </p:sp>
      <p:sp>
        <p:nvSpPr>
          <p:cNvPr id="110" name="Shape 108"/>
          <p:cNvSpPr/>
          <p:nvPr/>
        </p:nvSpPr>
        <p:spPr>
          <a:xfrm>
            <a:off x="4101084" y="3044952"/>
            <a:ext cx="118872" cy="100584"/>
          </a:xfrm>
          <a:prstGeom prst="ellipse">
            <a:avLst/>
          </a:prstGeom>
          <a:solidFill>
            <a:srgbClr val="8C7BC0"/>
          </a:solidFill>
          <a:ln w="12700">
            <a:solidFill>
              <a:srgbClr val="5A4A99"/>
            </a:solidFill>
            <a:prstDash val="solid"/>
          </a:ln>
        </p:spPr>
      </p:sp>
      <p:sp>
        <p:nvSpPr>
          <p:cNvPr id="111" name="Shape 109"/>
          <p:cNvSpPr/>
          <p:nvPr/>
        </p:nvSpPr>
        <p:spPr>
          <a:xfrm>
            <a:off x="4343400" y="2962656"/>
            <a:ext cx="365760" cy="265176"/>
          </a:xfrm>
          <a:prstGeom prst="rect">
            <a:avLst/>
          </a:prstGeom>
          <a:solidFill>
            <a:srgbClr val="DCE8F6"/>
          </a:solidFill>
          <a:ln w="9525">
            <a:solidFill>
              <a:srgbClr val="7F98C4"/>
            </a:solidFill>
            <a:prstDash val="solid"/>
          </a:ln>
        </p:spPr>
      </p:sp>
      <p:sp>
        <p:nvSpPr>
          <p:cNvPr id="112" name="Shape 110"/>
          <p:cNvSpPr/>
          <p:nvPr/>
        </p:nvSpPr>
        <p:spPr>
          <a:xfrm>
            <a:off x="4466844" y="3044952"/>
            <a:ext cx="118872" cy="100584"/>
          </a:xfrm>
          <a:prstGeom prst="ellipse">
            <a:avLst/>
          </a:prstGeom>
          <a:solidFill>
            <a:srgbClr val="8C7BC0"/>
          </a:solidFill>
          <a:ln w="12700">
            <a:solidFill>
              <a:srgbClr val="5A4A99"/>
            </a:solidFill>
            <a:prstDash val="solid"/>
          </a:ln>
        </p:spPr>
      </p:sp>
      <p:sp>
        <p:nvSpPr>
          <p:cNvPr id="113" name="Shape 111"/>
          <p:cNvSpPr/>
          <p:nvPr/>
        </p:nvSpPr>
        <p:spPr>
          <a:xfrm>
            <a:off x="1234440" y="3227832"/>
            <a:ext cx="365760" cy="265176"/>
          </a:xfrm>
          <a:prstGeom prst="rect">
            <a:avLst/>
          </a:prstGeom>
          <a:solidFill>
            <a:srgbClr val="DCE8F6"/>
          </a:solidFill>
          <a:ln w="9525">
            <a:solidFill>
              <a:srgbClr val="7F98C4"/>
            </a:solidFill>
            <a:prstDash val="solid"/>
          </a:ln>
        </p:spPr>
      </p:sp>
      <p:sp>
        <p:nvSpPr>
          <p:cNvPr id="114" name="Shape 112"/>
          <p:cNvSpPr/>
          <p:nvPr/>
        </p:nvSpPr>
        <p:spPr>
          <a:xfrm>
            <a:off x="1357884" y="3310128"/>
            <a:ext cx="118872" cy="100584"/>
          </a:xfrm>
          <a:prstGeom prst="ellipse">
            <a:avLst/>
          </a:prstGeom>
          <a:solidFill>
            <a:srgbClr val="8C7BC0"/>
          </a:solidFill>
          <a:ln w="12700">
            <a:solidFill>
              <a:srgbClr val="5A4A99"/>
            </a:solidFill>
            <a:prstDash val="solid"/>
          </a:ln>
        </p:spPr>
      </p:sp>
      <p:sp>
        <p:nvSpPr>
          <p:cNvPr id="115" name="Shape 113"/>
          <p:cNvSpPr/>
          <p:nvPr/>
        </p:nvSpPr>
        <p:spPr>
          <a:xfrm>
            <a:off x="1600200" y="3227832"/>
            <a:ext cx="365760" cy="265176"/>
          </a:xfrm>
          <a:prstGeom prst="rect">
            <a:avLst/>
          </a:prstGeom>
          <a:solidFill>
            <a:srgbClr val="DCE8F6"/>
          </a:solidFill>
          <a:ln w="9525">
            <a:solidFill>
              <a:srgbClr val="7F98C4"/>
            </a:solidFill>
            <a:prstDash val="solid"/>
          </a:ln>
        </p:spPr>
      </p:sp>
      <p:sp>
        <p:nvSpPr>
          <p:cNvPr id="116" name="Shape 114"/>
          <p:cNvSpPr/>
          <p:nvPr/>
        </p:nvSpPr>
        <p:spPr>
          <a:xfrm>
            <a:off x="1723644" y="3310128"/>
            <a:ext cx="118872" cy="100584"/>
          </a:xfrm>
          <a:prstGeom prst="ellipse">
            <a:avLst/>
          </a:prstGeom>
          <a:solidFill>
            <a:srgbClr val="8C7BC0"/>
          </a:solidFill>
          <a:ln w="12700">
            <a:solidFill>
              <a:srgbClr val="5A4A99"/>
            </a:solidFill>
            <a:prstDash val="solid"/>
          </a:ln>
        </p:spPr>
      </p:sp>
      <p:sp>
        <p:nvSpPr>
          <p:cNvPr id="117" name="Shape 115"/>
          <p:cNvSpPr/>
          <p:nvPr/>
        </p:nvSpPr>
        <p:spPr>
          <a:xfrm>
            <a:off x="1965960" y="3227832"/>
            <a:ext cx="365760" cy="265176"/>
          </a:xfrm>
          <a:prstGeom prst="rect">
            <a:avLst/>
          </a:prstGeom>
          <a:solidFill>
            <a:srgbClr val="DCE8F6"/>
          </a:solidFill>
          <a:ln w="9525">
            <a:solidFill>
              <a:srgbClr val="7F98C4"/>
            </a:solidFill>
            <a:prstDash val="solid"/>
          </a:ln>
        </p:spPr>
      </p:sp>
      <p:sp>
        <p:nvSpPr>
          <p:cNvPr id="118" name="Shape 116"/>
          <p:cNvSpPr/>
          <p:nvPr/>
        </p:nvSpPr>
        <p:spPr>
          <a:xfrm>
            <a:off x="2089404" y="3310128"/>
            <a:ext cx="118872" cy="100584"/>
          </a:xfrm>
          <a:prstGeom prst="ellipse">
            <a:avLst/>
          </a:prstGeom>
          <a:solidFill>
            <a:srgbClr val="8C7BC0"/>
          </a:solidFill>
          <a:ln w="12700">
            <a:solidFill>
              <a:srgbClr val="5A4A99"/>
            </a:solidFill>
            <a:prstDash val="solid"/>
          </a:ln>
        </p:spPr>
      </p:sp>
      <p:sp>
        <p:nvSpPr>
          <p:cNvPr id="119" name="Shape 117"/>
          <p:cNvSpPr/>
          <p:nvPr/>
        </p:nvSpPr>
        <p:spPr>
          <a:xfrm>
            <a:off x="2331720" y="3227832"/>
            <a:ext cx="365760" cy="265176"/>
          </a:xfrm>
          <a:prstGeom prst="rect">
            <a:avLst/>
          </a:prstGeom>
          <a:solidFill>
            <a:srgbClr val="DCE8F6"/>
          </a:solidFill>
          <a:ln w="9525">
            <a:solidFill>
              <a:srgbClr val="7F98C4"/>
            </a:solidFill>
            <a:prstDash val="solid"/>
          </a:ln>
        </p:spPr>
      </p:sp>
      <p:sp>
        <p:nvSpPr>
          <p:cNvPr id="120" name="Shape 118"/>
          <p:cNvSpPr/>
          <p:nvPr/>
        </p:nvSpPr>
        <p:spPr>
          <a:xfrm>
            <a:off x="2455164" y="3310128"/>
            <a:ext cx="118872" cy="100584"/>
          </a:xfrm>
          <a:prstGeom prst="ellipse">
            <a:avLst/>
          </a:prstGeom>
          <a:solidFill>
            <a:srgbClr val="8C7BC0"/>
          </a:solidFill>
          <a:ln w="12700">
            <a:solidFill>
              <a:srgbClr val="5A4A99"/>
            </a:solidFill>
            <a:prstDash val="solid"/>
          </a:ln>
        </p:spPr>
      </p:sp>
      <p:sp>
        <p:nvSpPr>
          <p:cNvPr id="121" name="Shape 119"/>
          <p:cNvSpPr/>
          <p:nvPr/>
        </p:nvSpPr>
        <p:spPr>
          <a:xfrm>
            <a:off x="2697480" y="3227832"/>
            <a:ext cx="365760" cy="265176"/>
          </a:xfrm>
          <a:prstGeom prst="rect">
            <a:avLst/>
          </a:prstGeom>
          <a:solidFill>
            <a:srgbClr val="DCE8F6"/>
          </a:solidFill>
          <a:ln w="9525">
            <a:solidFill>
              <a:srgbClr val="7F98C4"/>
            </a:solidFill>
            <a:prstDash val="solid"/>
          </a:ln>
        </p:spPr>
      </p:sp>
      <p:sp>
        <p:nvSpPr>
          <p:cNvPr id="122" name="Shape 120"/>
          <p:cNvSpPr/>
          <p:nvPr/>
        </p:nvSpPr>
        <p:spPr>
          <a:xfrm>
            <a:off x="2820924" y="3310128"/>
            <a:ext cx="118872" cy="100584"/>
          </a:xfrm>
          <a:prstGeom prst="ellipse">
            <a:avLst/>
          </a:prstGeom>
          <a:solidFill>
            <a:srgbClr val="8C7BC0"/>
          </a:solidFill>
          <a:ln w="12700">
            <a:solidFill>
              <a:srgbClr val="5A4A99"/>
            </a:solidFill>
            <a:prstDash val="solid"/>
          </a:ln>
        </p:spPr>
      </p:sp>
      <p:sp>
        <p:nvSpPr>
          <p:cNvPr id="123" name="Shape 121"/>
          <p:cNvSpPr/>
          <p:nvPr/>
        </p:nvSpPr>
        <p:spPr>
          <a:xfrm>
            <a:off x="3063240" y="3227832"/>
            <a:ext cx="365760" cy="265176"/>
          </a:xfrm>
          <a:prstGeom prst="rect">
            <a:avLst/>
          </a:prstGeom>
          <a:solidFill>
            <a:srgbClr val="DCE8F6"/>
          </a:solidFill>
          <a:ln w="9525">
            <a:solidFill>
              <a:srgbClr val="7F98C4"/>
            </a:solidFill>
            <a:prstDash val="solid"/>
          </a:ln>
        </p:spPr>
      </p:sp>
      <p:sp>
        <p:nvSpPr>
          <p:cNvPr id="124" name="Shape 122"/>
          <p:cNvSpPr/>
          <p:nvPr/>
        </p:nvSpPr>
        <p:spPr>
          <a:xfrm>
            <a:off x="3186684" y="3310128"/>
            <a:ext cx="118872" cy="100584"/>
          </a:xfrm>
          <a:prstGeom prst="ellipse">
            <a:avLst/>
          </a:prstGeom>
          <a:solidFill>
            <a:srgbClr val="8C7BC0"/>
          </a:solidFill>
          <a:ln w="12700">
            <a:solidFill>
              <a:srgbClr val="5A4A99"/>
            </a:solidFill>
            <a:prstDash val="solid"/>
          </a:ln>
        </p:spPr>
      </p:sp>
      <p:sp>
        <p:nvSpPr>
          <p:cNvPr id="125" name="Shape 123"/>
          <p:cNvSpPr/>
          <p:nvPr/>
        </p:nvSpPr>
        <p:spPr>
          <a:xfrm>
            <a:off x="3429000" y="3227832"/>
            <a:ext cx="365760" cy="265176"/>
          </a:xfrm>
          <a:prstGeom prst="rect">
            <a:avLst/>
          </a:prstGeom>
          <a:solidFill>
            <a:srgbClr val="DCE8F6"/>
          </a:solidFill>
          <a:ln w="9525">
            <a:solidFill>
              <a:srgbClr val="7F98C4"/>
            </a:solidFill>
            <a:prstDash val="solid"/>
          </a:ln>
        </p:spPr>
      </p:sp>
      <p:sp>
        <p:nvSpPr>
          <p:cNvPr id="126" name="Shape 124"/>
          <p:cNvSpPr/>
          <p:nvPr/>
        </p:nvSpPr>
        <p:spPr>
          <a:xfrm>
            <a:off x="3552444" y="3310128"/>
            <a:ext cx="118872" cy="100584"/>
          </a:xfrm>
          <a:prstGeom prst="ellipse">
            <a:avLst/>
          </a:prstGeom>
          <a:solidFill>
            <a:srgbClr val="8C7BC0"/>
          </a:solidFill>
          <a:ln w="12700">
            <a:solidFill>
              <a:srgbClr val="5A4A99"/>
            </a:solidFill>
            <a:prstDash val="solid"/>
          </a:ln>
        </p:spPr>
      </p:sp>
      <p:sp>
        <p:nvSpPr>
          <p:cNvPr id="127" name="Shape 125"/>
          <p:cNvSpPr/>
          <p:nvPr/>
        </p:nvSpPr>
        <p:spPr>
          <a:xfrm>
            <a:off x="3794760" y="3227832"/>
            <a:ext cx="365760" cy="265176"/>
          </a:xfrm>
          <a:prstGeom prst="rect">
            <a:avLst/>
          </a:prstGeom>
          <a:solidFill>
            <a:srgbClr val="DCE8F6"/>
          </a:solidFill>
          <a:ln w="9525">
            <a:solidFill>
              <a:srgbClr val="7F98C4"/>
            </a:solidFill>
            <a:prstDash val="solid"/>
          </a:ln>
        </p:spPr>
      </p:sp>
      <p:sp>
        <p:nvSpPr>
          <p:cNvPr id="128" name="Shape 126"/>
          <p:cNvSpPr/>
          <p:nvPr/>
        </p:nvSpPr>
        <p:spPr>
          <a:xfrm>
            <a:off x="3918204" y="3310128"/>
            <a:ext cx="118872" cy="100584"/>
          </a:xfrm>
          <a:prstGeom prst="ellipse">
            <a:avLst/>
          </a:prstGeom>
          <a:solidFill>
            <a:srgbClr val="8C7BC0"/>
          </a:solidFill>
          <a:ln w="12700">
            <a:solidFill>
              <a:srgbClr val="5A4A99"/>
            </a:solidFill>
            <a:prstDash val="solid"/>
          </a:ln>
        </p:spPr>
      </p:sp>
      <p:sp>
        <p:nvSpPr>
          <p:cNvPr id="129" name="Shape 127"/>
          <p:cNvSpPr/>
          <p:nvPr/>
        </p:nvSpPr>
        <p:spPr>
          <a:xfrm>
            <a:off x="4160520" y="3227832"/>
            <a:ext cx="365760" cy="265176"/>
          </a:xfrm>
          <a:prstGeom prst="rect">
            <a:avLst/>
          </a:prstGeom>
          <a:solidFill>
            <a:srgbClr val="DCE8F6"/>
          </a:solidFill>
          <a:ln w="9525">
            <a:solidFill>
              <a:srgbClr val="7F98C4"/>
            </a:solidFill>
            <a:prstDash val="solid"/>
          </a:ln>
        </p:spPr>
      </p:sp>
      <p:sp>
        <p:nvSpPr>
          <p:cNvPr id="130" name="Shape 128"/>
          <p:cNvSpPr/>
          <p:nvPr/>
        </p:nvSpPr>
        <p:spPr>
          <a:xfrm>
            <a:off x="4283964" y="3310128"/>
            <a:ext cx="118872" cy="100584"/>
          </a:xfrm>
          <a:prstGeom prst="ellipse">
            <a:avLst/>
          </a:prstGeom>
          <a:solidFill>
            <a:srgbClr val="8C7BC0"/>
          </a:solidFill>
          <a:ln w="12700">
            <a:solidFill>
              <a:srgbClr val="5A4A99"/>
            </a:solidFill>
            <a:prstDash val="solid"/>
          </a:ln>
        </p:spPr>
      </p:sp>
      <p:sp>
        <p:nvSpPr>
          <p:cNvPr id="131" name="Shape 129"/>
          <p:cNvSpPr/>
          <p:nvPr/>
        </p:nvSpPr>
        <p:spPr>
          <a:xfrm>
            <a:off x="1417320" y="3493008"/>
            <a:ext cx="365760" cy="265176"/>
          </a:xfrm>
          <a:prstGeom prst="rect">
            <a:avLst/>
          </a:prstGeom>
          <a:solidFill>
            <a:srgbClr val="DCE8F6"/>
          </a:solidFill>
          <a:ln w="9525">
            <a:solidFill>
              <a:srgbClr val="7F98C4"/>
            </a:solidFill>
            <a:prstDash val="solid"/>
          </a:ln>
        </p:spPr>
      </p:sp>
      <p:sp>
        <p:nvSpPr>
          <p:cNvPr id="132" name="Shape 130"/>
          <p:cNvSpPr/>
          <p:nvPr/>
        </p:nvSpPr>
        <p:spPr>
          <a:xfrm>
            <a:off x="1540764" y="3575304"/>
            <a:ext cx="118872" cy="100584"/>
          </a:xfrm>
          <a:prstGeom prst="ellipse">
            <a:avLst/>
          </a:prstGeom>
          <a:solidFill>
            <a:srgbClr val="8C7BC0"/>
          </a:solidFill>
          <a:ln w="12700">
            <a:solidFill>
              <a:srgbClr val="5A4A99"/>
            </a:solidFill>
            <a:prstDash val="solid"/>
          </a:ln>
        </p:spPr>
      </p:sp>
      <p:sp>
        <p:nvSpPr>
          <p:cNvPr id="133" name="Shape 131"/>
          <p:cNvSpPr/>
          <p:nvPr/>
        </p:nvSpPr>
        <p:spPr>
          <a:xfrm>
            <a:off x="1783080" y="3493008"/>
            <a:ext cx="365760" cy="265176"/>
          </a:xfrm>
          <a:prstGeom prst="rect">
            <a:avLst/>
          </a:prstGeom>
          <a:solidFill>
            <a:srgbClr val="DCE8F6"/>
          </a:solidFill>
          <a:ln w="9525">
            <a:solidFill>
              <a:srgbClr val="7F98C4"/>
            </a:solidFill>
            <a:prstDash val="solid"/>
          </a:ln>
        </p:spPr>
      </p:sp>
      <p:sp>
        <p:nvSpPr>
          <p:cNvPr id="134" name="Shape 132"/>
          <p:cNvSpPr/>
          <p:nvPr/>
        </p:nvSpPr>
        <p:spPr>
          <a:xfrm>
            <a:off x="1906524" y="3575304"/>
            <a:ext cx="118872" cy="100584"/>
          </a:xfrm>
          <a:prstGeom prst="ellipse">
            <a:avLst/>
          </a:prstGeom>
          <a:solidFill>
            <a:srgbClr val="8C7BC0"/>
          </a:solidFill>
          <a:ln w="12700">
            <a:solidFill>
              <a:srgbClr val="5A4A99"/>
            </a:solidFill>
            <a:prstDash val="solid"/>
          </a:ln>
        </p:spPr>
      </p:sp>
      <p:sp>
        <p:nvSpPr>
          <p:cNvPr id="135" name="Shape 133"/>
          <p:cNvSpPr/>
          <p:nvPr/>
        </p:nvSpPr>
        <p:spPr>
          <a:xfrm>
            <a:off x="2148840" y="3493008"/>
            <a:ext cx="365760" cy="265176"/>
          </a:xfrm>
          <a:prstGeom prst="rect">
            <a:avLst/>
          </a:prstGeom>
          <a:solidFill>
            <a:srgbClr val="DCE8F6"/>
          </a:solidFill>
          <a:ln w="9525">
            <a:solidFill>
              <a:srgbClr val="7F98C4"/>
            </a:solidFill>
            <a:prstDash val="solid"/>
          </a:ln>
        </p:spPr>
      </p:sp>
      <p:sp>
        <p:nvSpPr>
          <p:cNvPr id="136" name="Shape 134"/>
          <p:cNvSpPr/>
          <p:nvPr/>
        </p:nvSpPr>
        <p:spPr>
          <a:xfrm>
            <a:off x="2272284" y="3575304"/>
            <a:ext cx="118872" cy="100584"/>
          </a:xfrm>
          <a:prstGeom prst="ellipse">
            <a:avLst/>
          </a:prstGeom>
          <a:solidFill>
            <a:srgbClr val="8C7BC0"/>
          </a:solidFill>
          <a:ln w="12700">
            <a:solidFill>
              <a:srgbClr val="5A4A99"/>
            </a:solidFill>
            <a:prstDash val="solid"/>
          </a:ln>
        </p:spPr>
      </p:sp>
      <p:sp>
        <p:nvSpPr>
          <p:cNvPr id="137" name="Shape 135"/>
          <p:cNvSpPr/>
          <p:nvPr/>
        </p:nvSpPr>
        <p:spPr>
          <a:xfrm>
            <a:off x="2514600" y="3493008"/>
            <a:ext cx="365760" cy="265176"/>
          </a:xfrm>
          <a:prstGeom prst="rect">
            <a:avLst/>
          </a:prstGeom>
          <a:solidFill>
            <a:srgbClr val="DCE8F6"/>
          </a:solidFill>
          <a:ln w="9525">
            <a:solidFill>
              <a:srgbClr val="7F98C4"/>
            </a:solidFill>
            <a:prstDash val="solid"/>
          </a:ln>
        </p:spPr>
      </p:sp>
      <p:sp>
        <p:nvSpPr>
          <p:cNvPr id="138" name="Shape 136"/>
          <p:cNvSpPr/>
          <p:nvPr/>
        </p:nvSpPr>
        <p:spPr>
          <a:xfrm>
            <a:off x="2638044" y="3575304"/>
            <a:ext cx="118872" cy="100584"/>
          </a:xfrm>
          <a:prstGeom prst="ellipse">
            <a:avLst/>
          </a:prstGeom>
          <a:solidFill>
            <a:srgbClr val="8C7BC0"/>
          </a:solidFill>
          <a:ln w="12700">
            <a:solidFill>
              <a:srgbClr val="5A4A99"/>
            </a:solidFill>
            <a:prstDash val="solid"/>
          </a:ln>
        </p:spPr>
      </p:sp>
      <p:sp>
        <p:nvSpPr>
          <p:cNvPr id="139" name="Shape 137"/>
          <p:cNvSpPr/>
          <p:nvPr/>
        </p:nvSpPr>
        <p:spPr>
          <a:xfrm>
            <a:off x="2880360" y="3493008"/>
            <a:ext cx="365760" cy="265176"/>
          </a:xfrm>
          <a:prstGeom prst="rect">
            <a:avLst/>
          </a:prstGeom>
          <a:solidFill>
            <a:srgbClr val="DCE8F6"/>
          </a:solidFill>
          <a:ln w="9525">
            <a:solidFill>
              <a:srgbClr val="7F98C4"/>
            </a:solidFill>
            <a:prstDash val="solid"/>
          </a:ln>
        </p:spPr>
      </p:sp>
      <p:sp>
        <p:nvSpPr>
          <p:cNvPr id="140" name="Shape 138"/>
          <p:cNvSpPr/>
          <p:nvPr/>
        </p:nvSpPr>
        <p:spPr>
          <a:xfrm>
            <a:off x="3003804" y="3575304"/>
            <a:ext cx="118872" cy="100584"/>
          </a:xfrm>
          <a:prstGeom prst="ellipse">
            <a:avLst/>
          </a:prstGeom>
          <a:solidFill>
            <a:srgbClr val="8C7BC0"/>
          </a:solidFill>
          <a:ln w="12700">
            <a:solidFill>
              <a:srgbClr val="5A4A99"/>
            </a:solidFill>
            <a:prstDash val="solid"/>
          </a:ln>
        </p:spPr>
      </p:sp>
      <p:sp>
        <p:nvSpPr>
          <p:cNvPr id="141" name="Shape 139"/>
          <p:cNvSpPr/>
          <p:nvPr/>
        </p:nvSpPr>
        <p:spPr>
          <a:xfrm>
            <a:off x="3246120" y="3493008"/>
            <a:ext cx="365760" cy="265176"/>
          </a:xfrm>
          <a:prstGeom prst="rect">
            <a:avLst/>
          </a:prstGeom>
          <a:solidFill>
            <a:srgbClr val="DCE8F6"/>
          </a:solidFill>
          <a:ln w="9525">
            <a:solidFill>
              <a:srgbClr val="7F98C4"/>
            </a:solidFill>
            <a:prstDash val="solid"/>
          </a:ln>
        </p:spPr>
      </p:sp>
      <p:sp>
        <p:nvSpPr>
          <p:cNvPr id="142" name="Shape 140"/>
          <p:cNvSpPr/>
          <p:nvPr/>
        </p:nvSpPr>
        <p:spPr>
          <a:xfrm>
            <a:off x="3291840" y="3570732"/>
            <a:ext cx="91440" cy="109728"/>
          </a:xfrm>
          <a:prstGeom prst="ellipse">
            <a:avLst/>
          </a:prstGeom>
          <a:solidFill>
            <a:srgbClr val="8C7BC0"/>
          </a:solidFill>
          <a:ln w="12700">
            <a:solidFill>
              <a:srgbClr val="5A4A99"/>
            </a:solidFill>
            <a:prstDash val="solid"/>
          </a:ln>
        </p:spPr>
      </p:sp>
      <p:sp>
        <p:nvSpPr>
          <p:cNvPr id="143" name="Shape 141"/>
          <p:cNvSpPr/>
          <p:nvPr/>
        </p:nvSpPr>
        <p:spPr>
          <a:xfrm>
            <a:off x="3474720" y="3570732"/>
            <a:ext cx="91440" cy="109728"/>
          </a:xfrm>
          <a:prstGeom prst="ellipse">
            <a:avLst/>
          </a:prstGeom>
          <a:solidFill>
            <a:srgbClr val="8C7BC0"/>
          </a:solidFill>
          <a:ln w="12700">
            <a:solidFill>
              <a:srgbClr val="5A4A99"/>
            </a:solidFill>
            <a:prstDash val="solid"/>
          </a:ln>
        </p:spPr>
      </p:sp>
      <p:sp>
        <p:nvSpPr>
          <p:cNvPr id="144" name="Shape 142"/>
          <p:cNvSpPr/>
          <p:nvPr/>
        </p:nvSpPr>
        <p:spPr>
          <a:xfrm>
            <a:off x="3429000" y="3520440"/>
            <a:ext cx="91" cy="210312"/>
          </a:xfrm>
          <a:prstGeom prst="line">
            <a:avLst/>
          </a:prstGeom>
          <a:noFill/>
          <a:ln w="12700">
            <a:solidFill>
              <a:srgbClr val="5A4A99"/>
            </a:solidFill>
            <a:prstDash val="dash"/>
          </a:ln>
        </p:spPr>
      </p:sp>
      <p:sp>
        <p:nvSpPr>
          <p:cNvPr id="145" name="Shape 143"/>
          <p:cNvSpPr/>
          <p:nvPr/>
        </p:nvSpPr>
        <p:spPr>
          <a:xfrm>
            <a:off x="3611880" y="3493008"/>
            <a:ext cx="365760" cy="265176"/>
          </a:xfrm>
          <a:prstGeom prst="rect">
            <a:avLst/>
          </a:prstGeom>
          <a:solidFill>
            <a:srgbClr val="DCE8F6"/>
          </a:solidFill>
          <a:ln w="9525">
            <a:solidFill>
              <a:srgbClr val="7F98C4"/>
            </a:solidFill>
            <a:prstDash val="solid"/>
          </a:ln>
        </p:spPr>
      </p:sp>
      <p:sp>
        <p:nvSpPr>
          <p:cNvPr id="146" name="Shape 144"/>
          <p:cNvSpPr/>
          <p:nvPr/>
        </p:nvSpPr>
        <p:spPr>
          <a:xfrm>
            <a:off x="3735324" y="3575304"/>
            <a:ext cx="118872" cy="100584"/>
          </a:xfrm>
          <a:prstGeom prst="ellipse">
            <a:avLst/>
          </a:prstGeom>
          <a:solidFill>
            <a:srgbClr val="8C7BC0"/>
          </a:solidFill>
          <a:ln w="12700">
            <a:solidFill>
              <a:srgbClr val="5A4A99"/>
            </a:solidFill>
            <a:prstDash val="solid"/>
          </a:ln>
        </p:spPr>
      </p:sp>
      <p:sp>
        <p:nvSpPr>
          <p:cNvPr id="147" name="Shape 145"/>
          <p:cNvSpPr/>
          <p:nvPr/>
        </p:nvSpPr>
        <p:spPr>
          <a:xfrm>
            <a:off x="3977640" y="3493008"/>
            <a:ext cx="365760" cy="265176"/>
          </a:xfrm>
          <a:prstGeom prst="rect">
            <a:avLst/>
          </a:prstGeom>
          <a:solidFill>
            <a:srgbClr val="DCE8F6"/>
          </a:solidFill>
          <a:ln w="9525">
            <a:solidFill>
              <a:srgbClr val="7F98C4"/>
            </a:solidFill>
            <a:prstDash val="solid"/>
          </a:ln>
        </p:spPr>
      </p:sp>
      <p:sp>
        <p:nvSpPr>
          <p:cNvPr id="148" name="Shape 146"/>
          <p:cNvSpPr/>
          <p:nvPr/>
        </p:nvSpPr>
        <p:spPr>
          <a:xfrm>
            <a:off x="4101084" y="3575304"/>
            <a:ext cx="118872" cy="100584"/>
          </a:xfrm>
          <a:prstGeom prst="ellipse">
            <a:avLst/>
          </a:prstGeom>
          <a:solidFill>
            <a:srgbClr val="8C7BC0"/>
          </a:solidFill>
          <a:ln w="12700">
            <a:solidFill>
              <a:srgbClr val="5A4A99"/>
            </a:solidFill>
            <a:prstDash val="solid"/>
          </a:ln>
        </p:spPr>
      </p:sp>
      <p:sp>
        <p:nvSpPr>
          <p:cNvPr id="149" name="Shape 147"/>
          <p:cNvSpPr/>
          <p:nvPr/>
        </p:nvSpPr>
        <p:spPr>
          <a:xfrm>
            <a:off x="1600200" y="3758184"/>
            <a:ext cx="365760" cy="265176"/>
          </a:xfrm>
          <a:prstGeom prst="rect">
            <a:avLst/>
          </a:prstGeom>
          <a:solidFill>
            <a:srgbClr val="DCE8F6"/>
          </a:solidFill>
          <a:ln w="9525">
            <a:solidFill>
              <a:srgbClr val="7F98C4"/>
            </a:solidFill>
            <a:prstDash val="solid"/>
          </a:ln>
        </p:spPr>
      </p:sp>
      <p:sp>
        <p:nvSpPr>
          <p:cNvPr id="150" name="Shape 148"/>
          <p:cNvSpPr/>
          <p:nvPr/>
        </p:nvSpPr>
        <p:spPr>
          <a:xfrm>
            <a:off x="1723644" y="3840480"/>
            <a:ext cx="118872" cy="100584"/>
          </a:xfrm>
          <a:prstGeom prst="ellipse">
            <a:avLst/>
          </a:prstGeom>
          <a:solidFill>
            <a:srgbClr val="8C7BC0"/>
          </a:solidFill>
          <a:ln w="12700">
            <a:solidFill>
              <a:srgbClr val="5A4A99"/>
            </a:solidFill>
            <a:prstDash val="solid"/>
          </a:ln>
        </p:spPr>
      </p:sp>
      <p:sp>
        <p:nvSpPr>
          <p:cNvPr id="151" name="Shape 149"/>
          <p:cNvSpPr/>
          <p:nvPr/>
        </p:nvSpPr>
        <p:spPr>
          <a:xfrm>
            <a:off x="1965960" y="3758184"/>
            <a:ext cx="365760" cy="265176"/>
          </a:xfrm>
          <a:prstGeom prst="rect">
            <a:avLst/>
          </a:prstGeom>
          <a:solidFill>
            <a:srgbClr val="DCE8F6"/>
          </a:solidFill>
          <a:ln w="9525">
            <a:solidFill>
              <a:srgbClr val="7F98C4"/>
            </a:solidFill>
            <a:prstDash val="solid"/>
          </a:ln>
        </p:spPr>
      </p:sp>
      <p:sp>
        <p:nvSpPr>
          <p:cNvPr id="152" name="Shape 150"/>
          <p:cNvSpPr/>
          <p:nvPr/>
        </p:nvSpPr>
        <p:spPr>
          <a:xfrm>
            <a:off x="2089404" y="3840480"/>
            <a:ext cx="118872" cy="100584"/>
          </a:xfrm>
          <a:prstGeom prst="ellipse">
            <a:avLst/>
          </a:prstGeom>
          <a:solidFill>
            <a:srgbClr val="8C7BC0"/>
          </a:solidFill>
          <a:ln w="12700">
            <a:solidFill>
              <a:srgbClr val="5A4A99"/>
            </a:solidFill>
            <a:prstDash val="solid"/>
          </a:ln>
        </p:spPr>
      </p:sp>
      <p:sp>
        <p:nvSpPr>
          <p:cNvPr id="153" name="Shape 151"/>
          <p:cNvSpPr/>
          <p:nvPr/>
        </p:nvSpPr>
        <p:spPr>
          <a:xfrm>
            <a:off x="2331720" y="3758184"/>
            <a:ext cx="365760" cy="265176"/>
          </a:xfrm>
          <a:prstGeom prst="rect">
            <a:avLst/>
          </a:prstGeom>
          <a:solidFill>
            <a:srgbClr val="DCE8F6"/>
          </a:solidFill>
          <a:ln w="9525">
            <a:solidFill>
              <a:srgbClr val="7F98C4"/>
            </a:solidFill>
            <a:prstDash val="solid"/>
          </a:ln>
        </p:spPr>
      </p:sp>
      <p:sp>
        <p:nvSpPr>
          <p:cNvPr id="154" name="Shape 152"/>
          <p:cNvSpPr/>
          <p:nvPr/>
        </p:nvSpPr>
        <p:spPr>
          <a:xfrm>
            <a:off x="2455164" y="3840480"/>
            <a:ext cx="118872" cy="100584"/>
          </a:xfrm>
          <a:prstGeom prst="ellipse">
            <a:avLst/>
          </a:prstGeom>
          <a:solidFill>
            <a:srgbClr val="8C7BC0"/>
          </a:solidFill>
          <a:ln w="12700">
            <a:solidFill>
              <a:srgbClr val="5A4A99"/>
            </a:solidFill>
            <a:prstDash val="solid"/>
          </a:ln>
        </p:spPr>
      </p:sp>
      <p:sp>
        <p:nvSpPr>
          <p:cNvPr id="155" name="Shape 153"/>
          <p:cNvSpPr/>
          <p:nvPr/>
        </p:nvSpPr>
        <p:spPr>
          <a:xfrm>
            <a:off x="2697480" y="3758184"/>
            <a:ext cx="365760" cy="265176"/>
          </a:xfrm>
          <a:prstGeom prst="rect">
            <a:avLst/>
          </a:prstGeom>
          <a:solidFill>
            <a:srgbClr val="DCE8F6"/>
          </a:solidFill>
          <a:ln w="9525">
            <a:solidFill>
              <a:srgbClr val="7F98C4"/>
            </a:solidFill>
            <a:prstDash val="solid"/>
          </a:ln>
        </p:spPr>
      </p:sp>
      <p:sp>
        <p:nvSpPr>
          <p:cNvPr id="156" name="Shape 154"/>
          <p:cNvSpPr/>
          <p:nvPr/>
        </p:nvSpPr>
        <p:spPr>
          <a:xfrm>
            <a:off x="2820924" y="3840480"/>
            <a:ext cx="118872" cy="100584"/>
          </a:xfrm>
          <a:prstGeom prst="ellipse">
            <a:avLst/>
          </a:prstGeom>
          <a:solidFill>
            <a:srgbClr val="8C7BC0"/>
          </a:solidFill>
          <a:ln w="12700">
            <a:solidFill>
              <a:srgbClr val="5A4A99"/>
            </a:solidFill>
            <a:prstDash val="solid"/>
          </a:ln>
        </p:spPr>
      </p:sp>
      <p:sp>
        <p:nvSpPr>
          <p:cNvPr id="157" name="Shape 155"/>
          <p:cNvSpPr/>
          <p:nvPr/>
        </p:nvSpPr>
        <p:spPr>
          <a:xfrm>
            <a:off x="3063240" y="3758184"/>
            <a:ext cx="365760" cy="265176"/>
          </a:xfrm>
          <a:prstGeom prst="rect">
            <a:avLst/>
          </a:prstGeom>
          <a:solidFill>
            <a:srgbClr val="DCE8F6"/>
          </a:solidFill>
          <a:ln w="9525">
            <a:solidFill>
              <a:srgbClr val="7F98C4"/>
            </a:solidFill>
            <a:prstDash val="solid"/>
          </a:ln>
        </p:spPr>
      </p:sp>
      <p:sp>
        <p:nvSpPr>
          <p:cNvPr id="158" name="Shape 156"/>
          <p:cNvSpPr/>
          <p:nvPr/>
        </p:nvSpPr>
        <p:spPr>
          <a:xfrm>
            <a:off x="3186684" y="3840480"/>
            <a:ext cx="118872" cy="100584"/>
          </a:xfrm>
          <a:prstGeom prst="ellipse">
            <a:avLst/>
          </a:prstGeom>
          <a:solidFill>
            <a:srgbClr val="8C7BC0"/>
          </a:solidFill>
          <a:ln w="12700">
            <a:solidFill>
              <a:srgbClr val="5A4A99"/>
            </a:solidFill>
            <a:prstDash val="solid"/>
          </a:ln>
        </p:spPr>
      </p:sp>
      <p:sp>
        <p:nvSpPr>
          <p:cNvPr id="159" name="Shape 157"/>
          <p:cNvSpPr/>
          <p:nvPr/>
        </p:nvSpPr>
        <p:spPr>
          <a:xfrm>
            <a:off x="3429000" y="3758184"/>
            <a:ext cx="365760" cy="265176"/>
          </a:xfrm>
          <a:prstGeom prst="rect">
            <a:avLst/>
          </a:prstGeom>
          <a:solidFill>
            <a:srgbClr val="DCE8F6"/>
          </a:solidFill>
          <a:ln w="9525">
            <a:solidFill>
              <a:srgbClr val="7F98C4"/>
            </a:solidFill>
            <a:prstDash val="solid"/>
          </a:ln>
        </p:spPr>
      </p:sp>
      <p:sp>
        <p:nvSpPr>
          <p:cNvPr id="160" name="Shape 158"/>
          <p:cNvSpPr/>
          <p:nvPr/>
        </p:nvSpPr>
        <p:spPr>
          <a:xfrm>
            <a:off x="3552444" y="3840480"/>
            <a:ext cx="118872" cy="100584"/>
          </a:xfrm>
          <a:prstGeom prst="ellipse">
            <a:avLst/>
          </a:prstGeom>
          <a:solidFill>
            <a:srgbClr val="8C7BC0"/>
          </a:solidFill>
          <a:ln w="12700">
            <a:solidFill>
              <a:srgbClr val="5A4A99"/>
            </a:solidFill>
            <a:prstDash val="solid"/>
          </a:ln>
        </p:spPr>
      </p:sp>
      <p:sp>
        <p:nvSpPr>
          <p:cNvPr id="161" name="Shape 159"/>
          <p:cNvSpPr/>
          <p:nvPr/>
        </p:nvSpPr>
        <p:spPr>
          <a:xfrm>
            <a:off x="3794760" y="3758184"/>
            <a:ext cx="365760" cy="265176"/>
          </a:xfrm>
          <a:prstGeom prst="rect">
            <a:avLst/>
          </a:prstGeom>
          <a:solidFill>
            <a:srgbClr val="DCE8F6"/>
          </a:solidFill>
          <a:ln w="9525">
            <a:solidFill>
              <a:srgbClr val="7F98C4"/>
            </a:solidFill>
            <a:prstDash val="solid"/>
          </a:ln>
        </p:spPr>
      </p:sp>
      <p:sp>
        <p:nvSpPr>
          <p:cNvPr id="162" name="Shape 160"/>
          <p:cNvSpPr/>
          <p:nvPr/>
        </p:nvSpPr>
        <p:spPr>
          <a:xfrm>
            <a:off x="3918204" y="3840480"/>
            <a:ext cx="118872" cy="100584"/>
          </a:xfrm>
          <a:prstGeom prst="ellipse">
            <a:avLst/>
          </a:prstGeom>
          <a:solidFill>
            <a:srgbClr val="8C7BC0"/>
          </a:solidFill>
          <a:ln w="12700">
            <a:solidFill>
              <a:srgbClr val="5A4A99"/>
            </a:solidFill>
            <a:prstDash val="solid"/>
          </a:ln>
        </p:spPr>
      </p:sp>
      <p:sp>
        <p:nvSpPr>
          <p:cNvPr id="163" name="Shape 161"/>
          <p:cNvSpPr/>
          <p:nvPr/>
        </p:nvSpPr>
        <p:spPr>
          <a:xfrm>
            <a:off x="4160520" y="3758184"/>
            <a:ext cx="365760" cy="265176"/>
          </a:xfrm>
          <a:prstGeom prst="rect">
            <a:avLst/>
          </a:prstGeom>
          <a:solidFill>
            <a:srgbClr val="DCE8F6"/>
          </a:solidFill>
          <a:ln w="9525">
            <a:solidFill>
              <a:srgbClr val="7F98C4"/>
            </a:solidFill>
            <a:prstDash val="solid"/>
          </a:ln>
        </p:spPr>
      </p:sp>
      <p:sp>
        <p:nvSpPr>
          <p:cNvPr id="164" name="Shape 162"/>
          <p:cNvSpPr/>
          <p:nvPr/>
        </p:nvSpPr>
        <p:spPr>
          <a:xfrm>
            <a:off x="4283964" y="3840480"/>
            <a:ext cx="118872" cy="100584"/>
          </a:xfrm>
          <a:prstGeom prst="ellipse">
            <a:avLst/>
          </a:prstGeom>
          <a:solidFill>
            <a:srgbClr val="8C7BC0"/>
          </a:solidFill>
          <a:ln w="12700">
            <a:solidFill>
              <a:srgbClr val="5A4A99"/>
            </a:solidFill>
            <a:prstDash val="solid"/>
          </a:ln>
        </p:spPr>
      </p:sp>
      <p:sp>
        <p:nvSpPr>
          <p:cNvPr id="165" name="Shape 163"/>
          <p:cNvSpPr/>
          <p:nvPr/>
        </p:nvSpPr>
        <p:spPr>
          <a:xfrm>
            <a:off x="1783080" y="4023360"/>
            <a:ext cx="365760" cy="265176"/>
          </a:xfrm>
          <a:prstGeom prst="rect">
            <a:avLst/>
          </a:prstGeom>
          <a:solidFill>
            <a:srgbClr val="DCE8F6"/>
          </a:solidFill>
          <a:ln w="9525">
            <a:solidFill>
              <a:srgbClr val="7F98C4"/>
            </a:solidFill>
            <a:prstDash val="solid"/>
          </a:ln>
        </p:spPr>
      </p:sp>
      <p:sp>
        <p:nvSpPr>
          <p:cNvPr id="166" name="Shape 164"/>
          <p:cNvSpPr/>
          <p:nvPr/>
        </p:nvSpPr>
        <p:spPr>
          <a:xfrm>
            <a:off x="1906524" y="4105656"/>
            <a:ext cx="118872" cy="100584"/>
          </a:xfrm>
          <a:prstGeom prst="ellipse">
            <a:avLst/>
          </a:prstGeom>
          <a:solidFill>
            <a:srgbClr val="8C7BC0"/>
          </a:solidFill>
          <a:ln w="12700">
            <a:solidFill>
              <a:srgbClr val="5A4A99"/>
            </a:solidFill>
            <a:prstDash val="solid"/>
          </a:ln>
        </p:spPr>
      </p:sp>
      <p:sp>
        <p:nvSpPr>
          <p:cNvPr id="167" name="Shape 165"/>
          <p:cNvSpPr/>
          <p:nvPr/>
        </p:nvSpPr>
        <p:spPr>
          <a:xfrm>
            <a:off x="2148840" y="4023360"/>
            <a:ext cx="365760" cy="265176"/>
          </a:xfrm>
          <a:prstGeom prst="rect">
            <a:avLst/>
          </a:prstGeom>
          <a:solidFill>
            <a:srgbClr val="DCE8F6"/>
          </a:solidFill>
          <a:ln w="9525">
            <a:solidFill>
              <a:srgbClr val="7F98C4"/>
            </a:solidFill>
            <a:prstDash val="solid"/>
          </a:ln>
        </p:spPr>
      </p:sp>
      <p:sp>
        <p:nvSpPr>
          <p:cNvPr id="168" name="Shape 166"/>
          <p:cNvSpPr/>
          <p:nvPr/>
        </p:nvSpPr>
        <p:spPr>
          <a:xfrm>
            <a:off x="2272284" y="4105656"/>
            <a:ext cx="118872" cy="100584"/>
          </a:xfrm>
          <a:prstGeom prst="ellipse">
            <a:avLst/>
          </a:prstGeom>
          <a:solidFill>
            <a:srgbClr val="8C7BC0"/>
          </a:solidFill>
          <a:ln w="12700">
            <a:solidFill>
              <a:srgbClr val="5A4A99"/>
            </a:solidFill>
            <a:prstDash val="solid"/>
          </a:ln>
        </p:spPr>
      </p:sp>
      <p:sp>
        <p:nvSpPr>
          <p:cNvPr id="169" name="Shape 167"/>
          <p:cNvSpPr/>
          <p:nvPr/>
        </p:nvSpPr>
        <p:spPr>
          <a:xfrm>
            <a:off x="2514600" y="4023360"/>
            <a:ext cx="365760" cy="265176"/>
          </a:xfrm>
          <a:prstGeom prst="rect">
            <a:avLst/>
          </a:prstGeom>
          <a:solidFill>
            <a:srgbClr val="DCE8F6"/>
          </a:solidFill>
          <a:ln w="9525">
            <a:solidFill>
              <a:srgbClr val="7F98C4"/>
            </a:solidFill>
            <a:prstDash val="solid"/>
          </a:ln>
        </p:spPr>
      </p:sp>
      <p:sp>
        <p:nvSpPr>
          <p:cNvPr id="170" name="Shape 168"/>
          <p:cNvSpPr/>
          <p:nvPr/>
        </p:nvSpPr>
        <p:spPr>
          <a:xfrm>
            <a:off x="2638044" y="4105656"/>
            <a:ext cx="118872" cy="100584"/>
          </a:xfrm>
          <a:prstGeom prst="ellipse">
            <a:avLst/>
          </a:prstGeom>
          <a:solidFill>
            <a:srgbClr val="8C7BC0"/>
          </a:solidFill>
          <a:ln w="12700">
            <a:solidFill>
              <a:srgbClr val="5A4A99"/>
            </a:solidFill>
            <a:prstDash val="solid"/>
          </a:ln>
        </p:spPr>
      </p:sp>
      <p:sp>
        <p:nvSpPr>
          <p:cNvPr id="171" name="Shape 169"/>
          <p:cNvSpPr/>
          <p:nvPr/>
        </p:nvSpPr>
        <p:spPr>
          <a:xfrm>
            <a:off x="2880360" y="4023360"/>
            <a:ext cx="365760" cy="265176"/>
          </a:xfrm>
          <a:prstGeom prst="rect">
            <a:avLst/>
          </a:prstGeom>
          <a:solidFill>
            <a:srgbClr val="DCE8F6"/>
          </a:solidFill>
          <a:ln w="9525">
            <a:solidFill>
              <a:srgbClr val="7F98C4"/>
            </a:solidFill>
            <a:prstDash val="solid"/>
          </a:ln>
        </p:spPr>
      </p:sp>
      <p:sp>
        <p:nvSpPr>
          <p:cNvPr id="172" name="Shape 170"/>
          <p:cNvSpPr/>
          <p:nvPr/>
        </p:nvSpPr>
        <p:spPr>
          <a:xfrm>
            <a:off x="3003804" y="4105656"/>
            <a:ext cx="118872" cy="100584"/>
          </a:xfrm>
          <a:prstGeom prst="ellipse">
            <a:avLst/>
          </a:prstGeom>
          <a:solidFill>
            <a:srgbClr val="8C7BC0"/>
          </a:solidFill>
          <a:ln w="12700">
            <a:solidFill>
              <a:srgbClr val="5A4A99"/>
            </a:solidFill>
            <a:prstDash val="solid"/>
          </a:ln>
        </p:spPr>
      </p:sp>
      <p:sp>
        <p:nvSpPr>
          <p:cNvPr id="173" name="Shape 171"/>
          <p:cNvSpPr/>
          <p:nvPr/>
        </p:nvSpPr>
        <p:spPr>
          <a:xfrm>
            <a:off x="3246120" y="4023360"/>
            <a:ext cx="365760" cy="265176"/>
          </a:xfrm>
          <a:prstGeom prst="rect">
            <a:avLst/>
          </a:prstGeom>
          <a:solidFill>
            <a:srgbClr val="DCE8F6"/>
          </a:solidFill>
          <a:ln w="9525">
            <a:solidFill>
              <a:srgbClr val="7F98C4"/>
            </a:solidFill>
            <a:prstDash val="solid"/>
          </a:ln>
        </p:spPr>
      </p:sp>
      <p:sp>
        <p:nvSpPr>
          <p:cNvPr id="174" name="Shape 172"/>
          <p:cNvSpPr/>
          <p:nvPr/>
        </p:nvSpPr>
        <p:spPr>
          <a:xfrm>
            <a:off x="3369564" y="4105656"/>
            <a:ext cx="118872" cy="100584"/>
          </a:xfrm>
          <a:prstGeom prst="ellipse">
            <a:avLst/>
          </a:prstGeom>
          <a:solidFill>
            <a:srgbClr val="8C7BC0"/>
          </a:solidFill>
          <a:ln w="12700">
            <a:solidFill>
              <a:srgbClr val="5A4A99"/>
            </a:solidFill>
            <a:prstDash val="solid"/>
          </a:ln>
        </p:spPr>
      </p:sp>
      <p:sp>
        <p:nvSpPr>
          <p:cNvPr id="175" name="Shape 173"/>
          <p:cNvSpPr/>
          <p:nvPr/>
        </p:nvSpPr>
        <p:spPr>
          <a:xfrm>
            <a:off x="3611880" y="4023360"/>
            <a:ext cx="365760" cy="265176"/>
          </a:xfrm>
          <a:prstGeom prst="rect">
            <a:avLst/>
          </a:prstGeom>
          <a:solidFill>
            <a:srgbClr val="DCE8F6"/>
          </a:solidFill>
          <a:ln w="9525">
            <a:solidFill>
              <a:srgbClr val="7F98C4"/>
            </a:solidFill>
            <a:prstDash val="solid"/>
          </a:ln>
        </p:spPr>
      </p:sp>
      <p:sp>
        <p:nvSpPr>
          <p:cNvPr id="176" name="Shape 174"/>
          <p:cNvSpPr/>
          <p:nvPr/>
        </p:nvSpPr>
        <p:spPr>
          <a:xfrm>
            <a:off x="3735324" y="4105656"/>
            <a:ext cx="118872" cy="100584"/>
          </a:xfrm>
          <a:prstGeom prst="ellipse">
            <a:avLst/>
          </a:prstGeom>
          <a:solidFill>
            <a:srgbClr val="8C7BC0"/>
          </a:solidFill>
          <a:ln w="12700">
            <a:solidFill>
              <a:srgbClr val="5A4A99"/>
            </a:solidFill>
            <a:prstDash val="solid"/>
          </a:ln>
        </p:spPr>
      </p:sp>
      <p:sp>
        <p:nvSpPr>
          <p:cNvPr id="177" name="Shape 175"/>
          <p:cNvSpPr/>
          <p:nvPr/>
        </p:nvSpPr>
        <p:spPr>
          <a:xfrm>
            <a:off x="3977640" y="4023360"/>
            <a:ext cx="365760" cy="265176"/>
          </a:xfrm>
          <a:prstGeom prst="rect">
            <a:avLst/>
          </a:prstGeom>
          <a:solidFill>
            <a:srgbClr val="DCE8F6"/>
          </a:solidFill>
          <a:ln w="9525">
            <a:solidFill>
              <a:srgbClr val="7F98C4"/>
            </a:solidFill>
            <a:prstDash val="solid"/>
          </a:ln>
        </p:spPr>
      </p:sp>
      <p:sp>
        <p:nvSpPr>
          <p:cNvPr id="178" name="Shape 176"/>
          <p:cNvSpPr/>
          <p:nvPr/>
        </p:nvSpPr>
        <p:spPr>
          <a:xfrm>
            <a:off x="4101084" y="4105656"/>
            <a:ext cx="118872" cy="100584"/>
          </a:xfrm>
          <a:prstGeom prst="ellipse">
            <a:avLst/>
          </a:prstGeom>
          <a:solidFill>
            <a:srgbClr val="8C7BC0"/>
          </a:solidFill>
          <a:ln w="12700">
            <a:solidFill>
              <a:srgbClr val="5A4A99"/>
            </a:solidFill>
            <a:prstDash val="solid"/>
          </a:ln>
        </p:spPr>
      </p:sp>
      <p:sp>
        <p:nvSpPr>
          <p:cNvPr id="179" name="Shape 177"/>
          <p:cNvSpPr/>
          <p:nvPr/>
        </p:nvSpPr>
        <p:spPr>
          <a:xfrm>
            <a:off x="1965960" y="4288536"/>
            <a:ext cx="365760" cy="265176"/>
          </a:xfrm>
          <a:prstGeom prst="rect">
            <a:avLst/>
          </a:prstGeom>
          <a:solidFill>
            <a:srgbClr val="DCE8F6"/>
          </a:solidFill>
          <a:ln w="9525">
            <a:solidFill>
              <a:srgbClr val="7F98C4"/>
            </a:solidFill>
            <a:prstDash val="solid"/>
          </a:ln>
        </p:spPr>
      </p:sp>
      <p:sp>
        <p:nvSpPr>
          <p:cNvPr id="180" name="Shape 178"/>
          <p:cNvSpPr/>
          <p:nvPr/>
        </p:nvSpPr>
        <p:spPr>
          <a:xfrm>
            <a:off x="2089404" y="4370832"/>
            <a:ext cx="118872" cy="100584"/>
          </a:xfrm>
          <a:prstGeom prst="ellipse">
            <a:avLst/>
          </a:prstGeom>
          <a:solidFill>
            <a:srgbClr val="8C7BC0"/>
          </a:solidFill>
          <a:ln w="12700">
            <a:solidFill>
              <a:srgbClr val="5A4A99"/>
            </a:solidFill>
            <a:prstDash val="solid"/>
          </a:ln>
        </p:spPr>
      </p:sp>
      <p:sp>
        <p:nvSpPr>
          <p:cNvPr id="181" name="Shape 179"/>
          <p:cNvSpPr/>
          <p:nvPr/>
        </p:nvSpPr>
        <p:spPr>
          <a:xfrm>
            <a:off x="2331720" y="4288536"/>
            <a:ext cx="365760" cy="265176"/>
          </a:xfrm>
          <a:prstGeom prst="rect">
            <a:avLst/>
          </a:prstGeom>
          <a:solidFill>
            <a:srgbClr val="DCE8F6"/>
          </a:solidFill>
          <a:ln w="9525">
            <a:solidFill>
              <a:srgbClr val="7F98C4"/>
            </a:solidFill>
            <a:prstDash val="solid"/>
          </a:ln>
        </p:spPr>
      </p:sp>
      <p:sp>
        <p:nvSpPr>
          <p:cNvPr id="182" name="Shape 180"/>
          <p:cNvSpPr/>
          <p:nvPr/>
        </p:nvSpPr>
        <p:spPr>
          <a:xfrm>
            <a:off x="2455164" y="4370832"/>
            <a:ext cx="118872" cy="100584"/>
          </a:xfrm>
          <a:prstGeom prst="ellipse">
            <a:avLst/>
          </a:prstGeom>
          <a:solidFill>
            <a:srgbClr val="8C7BC0"/>
          </a:solidFill>
          <a:ln w="12700">
            <a:solidFill>
              <a:srgbClr val="5A4A99"/>
            </a:solidFill>
            <a:prstDash val="solid"/>
          </a:ln>
        </p:spPr>
      </p:sp>
      <p:sp>
        <p:nvSpPr>
          <p:cNvPr id="183" name="Shape 181"/>
          <p:cNvSpPr/>
          <p:nvPr/>
        </p:nvSpPr>
        <p:spPr>
          <a:xfrm>
            <a:off x="2697480" y="4288536"/>
            <a:ext cx="365760" cy="265176"/>
          </a:xfrm>
          <a:prstGeom prst="rect">
            <a:avLst/>
          </a:prstGeom>
          <a:solidFill>
            <a:srgbClr val="DCE8F6"/>
          </a:solidFill>
          <a:ln w="9525">
            <a:solidFill>
              <a:srgbClr val="7F98C4"/>
            </a:solidFill>
            <a:prstDash val="solid"/>
          </a:ln>
        </p:spPr>
      </p:sp>
      <p:sp>
        <p:nvSpPr>
          <p:cNvPr id="184" name="Shape 182"/>
          <p:cNvSpPr/>
          <p:nvPr/>
        </p:nvSpPr>
        <p:spPr>
          <a:xfrm>
            <a:off x="2820924" y="4370832"/>
            <a:ext cx="118872" cy="100584"/>
          </a:xfrm>
          <a:prstGeom prst="ellipse">
            <a:avLst/>
          </a:prstGeom>
          <a:solidFill>
            <a:srgbClr val="8C7BC0"/>
          </a:solidFill>
          <a:ln w="12700">
            <a:solidFill>
              <a:srgbClr val="5A4A99"/>
            </a:solidFill>
            <a:prstDash val="solid"/>
          </a:ln>
        </p:spPr>
      </p:sp>
      <p:sp>
        <p:nvSpPr>
          <p:cNvPr id="185" name="Shape 183"/>
          <p:cNvSpPr/>
          <p:nvPr/>
        </p:nvSpPr>
        <p:spPr>
          <a:xfrm>
            <a:off x="3063240" y="4288536"/>
            <a:ext cx="365760" cy="265176"/>
          </a:xfrm>
          <a:prstGeom prst="rect">
            <a:avLst/>
          </a:prstGeom>
          <a:solidFill>
            <a:srgbClr val="DCE8F6"/>
          </a:solidFill>
          <a:ln w="9525">
            <a:solidFill>
              <a:srgbClr val="7F98C4"/>
            </a:solidFill>
            <a:prstDash val="solid"/>
          </a:ln>
        </p:spPr>
      </p:sp>
      <p:sp>
        <p:nvSpPr>
          <p:cNvPr id="186" name="Shape 184"/>
          <p:cNvSpPr/>
          <p:nvPr/>
        </p:nvSpPr>
        <p:spPr>
          <a:xfrm>
            <a:off x="3186684" y="4370832"/>
            <a:ext cx="118872" cy="100584"/>
          </a:xfrm>
          <a:prstGeom prst="ellipse">
            <a:avLst/>
          </a:prstGeom>
          <a:solidFill>
            <a:srgbClr val="8C7BC0"/>
          </a:solidFill>
          <a:ln w="12700">
            <a:solidFill>
              <a:srgbClr val="5A4A99"/>
            </a:solidFill>
            <a:prstDash val="solid"/>
          </a:ln>
        </p:spPr>
      </p:sp>
      <p:sp>
        <p:nvSpPr>
          <p:cNvPr id="187" name="Shape 185"/>
          <p:cNvSpPr/>
          <p:nvPr/>
        </p:nvSpPr>
        <p:spPr>
          <a:xfrm>
            <a:off x="3429000" y="4288536"/>
            <a:ext cx="365760" cy="265176"/>
          </a:xfrm>
          <a:prstGeom prst="rect">
            <a:avLst/>
          </a:prstGeom>
          <a:solidFill>
            <a:srgbClr val="DCE8F6"/>
          </a:solidFill>
          <a:ln w="9525">
            <a:solidFill>
              <a:srgbClr val="7F98C4"/>
            </a:solidFill>
            <a:prstDash val="solid"/>
          </a:ln>
        </p:spPr>
      </p:sp>
      <p:sp>
        <p:nvSpPr>
          <p:cNvPr id="188" name="Shape 186"/>
          <p:cNvSpPr/>
          <p:nvPr/>
        </p:nvSpPr>
        <p:spPr>
          <a:xfrm>
            <a:off x="3552444" y="4370832"/>
            <a:ext cx="118872" cy="100584"/>
          </a:xfrm>
          <a:prstGeom prst="ellipse">
            <a:avLst/>
          </a:prstGeom>
          <a:solidFill>
            <a:srgbClr val="8C7BC0"/>
          </a:solidFill>
          <a:ln w="12700">
            <a:solidFill>
              <a:srgbClr val="5A4A99"/>
            </a:solidFill>
            <a:prstDash val="solid"/>
          </a:ln>
        </p:spPr>
      </p:sp>
      <p:sp>
        <p:nvSpPr>
          <p:cNvPr id="189" name="Shape 187"/>
          <p:cNvSpPr/>
          <p:nvPr/>
        </p:nvSpPr>
        <p:spPr>
          <a:xfrm>
            <a:off x="3794760" y="4288536"/>
            <a:ext cx="365760" cy="265176"/>
          </a:xfrm>
          <a:prstGeom prst="rect">
            <a:avLst/>
          </a:prstGeom>
          <a:solidFill>
            <a:srgbClr val="DCE8F6"/>
          </a:solidFill>
          <a:ln w="9525">
            <a:solidFill>
              <a:srgbClr val="7F98C4"/>
            </a:solidFill>
            <a:prstDash val="solid"/>
          </a:ln>
        </p:spPr>
      </p:sp>
      <p:sp>
        <p:nvSpPr>
          <p:cNvPr id="190" name="Shape 188"/>
          <p:cNvSpPr/>
          <p:nvPr/>
        </p:nvSpPr>
        <p:spPr>
          <a:xfrm>
            <a:off x="3918204" y="4370832"/>
            <a:ext cx="118872" cy="100584"/>
          </a:xfrm>
          <a:prstGeom prst="ellipse">
            <a:avLst/>
          </a:prstGeom>
          <a:solidFill>
            <a:srgbClr val="8C7BC0"/>
          </a:solidFill>
          <a:ln w="12700">
            <a:solidFill>
              <a:srgbClr val="5A4A99"/>
            </a:solidFill>
            <a:prstDash val="solid"/>
          </a:ln>
        </p:spPr>
      </p:sp>
      <p:sp>
        <p:nvSpPr>
          <p:cNvPr id="191" name="Shape 189"/>
          <p:cNvSpPr/>
          <p:nvPr/>
        </p:nvSpPr>
        <p:spPr>
          <a:xfrm>
            <a:off x="2514600" y="4553712"/>
            <a:ext cx="365760" cy="265176"/>
          </a:xfrm>
          <a:prstGeom prst="rect">
            <a:avLst/>
          </a:prstGeom>
          <a:solidFill>
            <a:srgbClr val="DCE8F6"/>
          </a:solidFill>
          <a:ln w="9525">
            <a:solidFill>
              <a:srgbClr val="7F98C4"/>
            </a:solidFill>
            <a:prstDash val="solid"/>
          </a:ln>
        </p:spPr>
      </p:sp>
      <p:sp>
        <p:nvSpPr>
          <p:cNvPr id="192" name="Shape 190"/>
          <p:cNvSpPr/>
          <p:nvPr/>
        </p:nvSpPr>
        <p:spPr>
          <a:xfrm>
            <a:off x="2638044" y="4636008"/>
            <a:ext cx="118872" cy="100584"/>
          </a:xfrm>
          <a:prstGeom prst="ellipse">
            <a:avLst/>
          </a:prstGeom>
          <a:solidFill>
            <a:srgbClr val="8C7BC0"/>
          </a:solidFill>
          <a:ln w="12700">
            <a:solidFill>
              <a:srgbClr val="5A4A99"/>
            </a:solidFill>
            <a:prstDash val="solid"/>
          </a:ln>
        </p:spPr>
      </p:sp>
      <p:sp>
        <p:nvSpPr>
          <p:cNvPr id="193" name="Shape 191"/>
          <p:cNvSpPr/>
          <p:nvPr/>
        </p:nvSpPr>
        <p:spPr>
          <a:xfrm>
            <a:off x="2880360" y="4553712"/>
            <a:ext cx="365760" cy="265176"/>
          </a:xfrm>
          <a:prstGeom prst="rect">
            <a:avLst/>
          </a:prstGeom>
          <a:solidFill>
            <a:srgbClr val="DCE8F6"/>
          </a:solidFill>
          <a:ln w="9525">
            <a:solidFill>
              <a:srgbClr val="7F98C4"/>
            </a:solidFill>
            <a:prstDash val="solid"/>
          </a:ln>
        </p:spPr>
      </p:sp>
      <p:sp>
        <p:nvSpPr>
          <p:cNvPr id="194" name="Shape 192"/>
          <p:cNvSpPr/>
          <p:nvPr/>
        </p:nvSpPr>
        <p:spPr>
          <a:xfrm>
            <a:off x="3003804" y="4636008"/>
            <a:ext cx="118872" cy="100584"/>
          </a:xfrm>
          <a:prstGeom prst="ellipse">
            <a:avLst/>
          </a:prstGeom>
          <a:solidFill>
            <a:srgbClr val="8C7BC0"/>
          </a:solidFill>
          <a:ln w="12700">
            <a:solidFill>
              <a:srgbClr val="5A4A99"/>
            </a:solidFill>
            <a:prstDash val="solid"/>
          </a:ln>
        </p:spPr>
      </p:sp>
      <p:sp>
        <p:nvSpPr>
          <p:cNvPr id="195" name="Shape 193"/>
          <p:cNvSpPr/>
          <p:nvPr/>
        </p:nvSpPr>
        <p:spPr>
          <a:xfrm>
            <a:off x="3246120" y="4553712"/>
            <a:ext cx="365760" cy="265176"/>
          </a:xfrm>
          <a:prstGeom prst="rect">
            <a:avLst/>
          </a:prstGeom>
          <a:solidFill>
            <a:srgbClr val="DCE8F6"/>
          </a:solidFill>
          <a:ln w="9525">
            <a:solidFill>
              <a:srgbClr val="7F98C4"/>
            </a:solidFill>
            <a:prstDash val="solid"/>
          </a:ln>
        </p:spPr>
      </p:sp>
      <p:sp>
        <p:nvSpPr>
          <p:cNvPr id="196" name="Shape 194"/>
          <p:cNvSpPr/>
          <p:nvPr/>
        </p:nvSpPr>
        <p:spPr>
          <a:xfrm>
            <a:off x="3369564" y="4636008"/>
            <a:ext cx="118872" cy="100584"/>
          </a:xfrm>
          <a:prstGeom prst="ellipse">
            <a:avLst/>
          </a:prstGeom>
          <a:solidFill>
            <a:srgbClr val="8C7BC0"/>
          </a:solidFill>
          <a:ln w="12700">
            <a:solidFill>
              <a:srgbClr val="5A4A99"/>
            </a:solidFill>
            <a:prstDash val="solid"/>
          </a:ln>
        </p:spPr>
      </p:sp>
      <p:sp>
        <p:nvSpPr>
          <p:cNvPr id="197" name="Shape 195"/>
          <p:cNvSpPr/>
          <p:nvPr/>
        </p:nvSpPr>
        <p:spPr>
          <a:xfrm>
            <a:off x="3922776" y="1792224"/>
            <a:ext cx="201168" cy="201168"/>
          </a:xfrm>
          <a:prstGeom prst="ellipse">
            <a:avLst/>
          </a:prstGeom>
          <a:solidFill>
            <a:srgbClr val="FFFFFF"/>
          </a:solidFill>
          <a:ln w="12700">
            <a:solidFill>
              <a:srgbClr val="C8414C"/>
            </a:solidFill>
            <a:prstDash val="solid"/>
          </a:ln>
        </p:spPr>
      </p:sp>
      <p:sp>
        <p:nvSpPr>
          <p:cNvPr id="198" name="Text 196"/>
          <p:cNvSpPr/>
          <p:nvPr/>
        </p:nvSpPr>
        <p:spPr>
          <a:xfrm>
            <a:off x="3922776" y="1792224"/>
            <a:ext cx="201168"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C</a:t>
            </a:r>
            <a:endParaRPr lang="en-US" sz="1000" dirty="0"/>
          </a:p>
        </p:txBody>
      </p:sp>
      <p:sp>
        <p:nvSpPr>
          <p:cNvPr id="199" name="Shape 197"/>
          <p:cNvSpPr/>
          <p:nvPr/>
        </p:nvSpPr>
        <p:spPr>
          <a:xfrm>
            <a:off x="3008376" y="2057400"/>
            <a:ext cx="201168" cy="201168"/>
          </a:xfrm>
          <a:prstGeom prst="ellipse">
            <a:avLst/>
          </a:prstGeom>
          <a:solidFill>
            <a:srgbClr val="FFFFFF"/>
          </a:solidFill>
          <a:ln w="12700">
            <a:solidFill>
              <a:srgbClr val="C8414C"/>
            </a:solidFill>
            <a:prstDash val="solid"/>
          </a:ln>
        </p:spPr>
      </p:sp>
      <p:sp>
        <p:nvSpPr>
          <p:cNvPr id="200" name="Text 198"/>
          <p:cNvSpPr/>
          <p:nvPr/>
        </p:nvSpPr>
        <p:spPr>
          <a:xfrm>
            <a:off x="3008376" y="2057400"/>
            <a:ext cx="201168"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a:t>
            </a:r>
            <a:endParaRPr lang="en-US" sz="1000" dirty="0"/>
          </a:p>
        </p:txBody>
      </p:sp>
      <p:sp>
        <p:nvSpPr>
          <p:cNvPr id="201" name="Shape 199"/>
          <p:cNvSpPr/>
          <p:nvPr/>
        </p:nvSpPr>
        <p:spPr>
          <a:xfrm>
            <a:off x="3191256" y="2852928"/>
            <a:ext cx="201168" cy="201168"/>
          </a:xfrm>
          <a:prstGeom prst="ellipse">
            <a:avLst/>
          </a:prstGeom>
          <a:solidFill>
            <a:srgbClr val="FFFFFF"/>
          </a:solidFill>
          <a:ln w="12700">
            <a:solidFill>
              <a:srgbClr val="C8414C"/>
            </a:solidFill>
            <a:prstDash val="solid"/>
          </a:ln>
        </p:spPr>
      </p:sp>
      <p:sp>
        <p:nvSpPr>
          <p:cNvPr id="202" name="Text 200"/>
          <p:cNvSpPr/>
          <p:nvPr/>
        </p:nvSpPr>
        <p:spPr>
          <a:xfrm>
            <a:off x="3191256" y="2852928"/>
            <a:ext cx="201168"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B</a:t>
            </a:r>
            <a:endParaRPr lang="en-US" sz="1000" dirty="0"/>
          </a:p>
        </p:txBody>
      </p:sp>
      <p:sp>
        <p:nvSpPr>
          <p:cNvPr id="203" name="Shape 201"/>
          <p:cNvSpPr/>
          <p:nvPr/>
        </p:nvSpPr>
        <p:spPr>
          <a:xfrm>
            <a:off x="3557016" y="3383280"/>
            <a:ext cx="201168" cy="201168"/>
          </a:xfrm>
          <a:prstGeom prst="ellipse">
            <a:avLst/>
          </a:prstGeom>
          <a:solidFill>
            <a:srgbClr val="FFFFFF"/>
          </a:solidFill>
          <a:ln w="12700">
            <a:solidFill>
              <a:srgbClr val="C8414C"/>
            </a:solidFill>
            <a:prstDash val="solid"/>
          </a:ln>
        </p:spPr>
      </p:sp>
      <p:sp>
        <p:nvSpPr>
          <p:cNvPr id="204" name="Text 202"/>
          <p:cNvSpPr/>
          <p:nvPr/>
        </p:nvSpPr>
        <p:spPr>
          <a:xfrm>
            <a:off x="3557016" y="3383280"/>
            <a:ext cx="201168"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D</a:t>
            </a:r>
            <a:endParaRPr lang="en-US" sz="1000" dirty="0"/>
          </a:p>
        </p:txBody>
      </p:sp>
      <p:sp>
        <p:nvSpPr>
          <p:cNvPr id="205" name="Text 203"/>
          <p:cNvSpPr/>
          <p:nvPr/>
        </p:nvSpPr>
        <p:spPr>
          <a:xfrm>
            <a:off x="548640" y="1298448"/>
            <a:ext cx="1143000" cy="411480"/>
          </a:xfrm>
          <a:prstGeom prst="rect">
            <a:avLst/>
          </a:prstGeom>
          <a:noFill/>
          <a:ln/>
        </p:spPr>
        <p:txBody>
          <a:bodyPr wrap="square" lIns="0" tIns="0" rIns="0" bIns="0" rtlCol="0" anchor="t"/>
          <a:lstStyle/>
          <a:p>
            <a:pPr algn="l" indent="0" marL="0">
              <a:buNone/>
            </a:pPr>
            <a:r>
              <a:rPr lang="en-US" sz="1050" b="1" dirty="0">
                <a:solidFill>
                  <a:srgbClr val="C8414C"/>
                </a:solidFill>
                <a:latin typeface="Calibri" pitchFamily="34" charset="0"/>
                <a:ea typeface="Calibri" pitchFamily="34" charset="-122"/>
                <a:cs typeface="Calibri" pitchFamily="34" charset="-120"/>
              </a:rPr>
              <a:t>Identify cells A–D</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60720" y="1188720"/>
          <a:ext cx="6016752" cy="914400"/>
        </p:xfrm>
        <a:graphic>
          <a:graphicData uri="http://schemas.openxmlformats.org/drawingml/2006/table">
            <a:tbl>
              <a:tblPr/>
              <a:tblGrid>
                <a:gridCol w="2176272"/>
                <a:gridCol w="1097280"/>
                <a:gridCol w="1371600"/>
                <a:gridCol w="1371600"/>
              </a:tblGrid>
              <a:tr h="24688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Cells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of cells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Time / min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Interphase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C8414C"/>
                          </a:solidFill>
                          <a:latin typeface="Calibri" pitchFamily="34" charset="0"/>
                          <a:ea typeface="Calibri" pitchFamily="34" charset="-122"/>
                          <a:cs typeface="Calibri" pitchFamily="34" charset="-120"/>
                        </a:rPr>
                        <a:t>1008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Chromosomes condense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414C"/>
                          </a:solidFill>
                          <a:latin typeface="Calibri" pitchFamily="34" charset="0"/>
                          <a:ea typeface="Calibri" pitchFamily="34" charset="-122"/>
                          <a:cs typeface="Calibri" pitchFamily="34" charset="-120"/>
                        </a:rPr>
                        <a:t>96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Chromosomes line up</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C8414C"/>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Chromatids separate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414C"/>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Two nuclei form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C8414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1200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207" name="Text 204"/>
          <p:cNvSpPr/>
          <p:nvPr/>
        </p:nvSpPr>
        <p:spPr>
          <a:xfrm>
            <a:off x="5760720" y="2962656"/>
            <a:ext cx="6016752"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three fields of view, 200 cells • </a:t>
            </a:r>
            <a:r>
              <a:rPr lang="en-US" sz="1000" b="1" i="1" dirty="0">
                <a:solidFill>
                  <a:srgbClr val="C8414C"/>
                </a:solidFill>
                <a:latin typeface="Calibri" pitchFamily="34" charset="0"/>
                <a:ea typeface="Calibri" pitchFamily="34" charset="-122"/>
                <a:cs typeface="Calibri" pitchFamily="34" charset="-120"/>
              </a:rPr>
              <a:t>red</a:t>
            </a:r>
            <a:r>
              <a:rPr lang="en-US" sz="1000" i="1" dirty="0">
                <a:solidFill>
                  <a:srgbClr val="6B7385"/>
                </a:solidFill>
                <a:latin typeface="Calibri" pitchFamily="34" charset="0"/>
                <a:ea typeface="Calibri" pitchFamily="34" charset="-122"/>
                <a:cs typeface="Calibri" pitchFamily="34" charset="-120"/>
              </a:rPr>
              <a:t> column is stretch: cycle = 20 h = 1200 min</a:t>
            </a:r>
            <a:endParaRPr lang="en-US" sz="1000" dirty="0"/>
          </a:p>
        </p:txBody>
      </p:sp>
      <p:sp>
        <p:nvSpPr>
          <p:cNvPr id="208" name="Shape 205"/>
          <p:cNvSpPr/>
          <p:nvPr/>
        </p:nvSpPr>
        <p:spPr>
          <a:xfrm>
            <a:off x="5760720" y="3218688"/>
            <a:ext cx="6016752" cy="1325880"/>
          </a:xfrm>
          <a:prstGeom prst="roundRect">
            <a:avLst>
              <a:gd name="adj" fmla="val 4138"/>
            </a:avLst>
          </a:prstGeom>
          <a:solidFill>
            <a:srgbClr val="FFF4E0"/>
          </a:solidFill>
          <a:ln w="9525">
            <a:solidFill>
              <a:srgbClr val="F1D9A8"/>
            </a:solidFill>
            <a:prstDash val="solid"/>
          </a:ln>
        </p:spPr>
      </p:sp>
      <p:sp>
        <p:nvSpPr>
          <p:cNvPr id="209" name="Text 206"/>
          <p:cNvSpPr/>
          <p:nvPr/>
        </p:nvSpPr>
        <p:spPr>
          <a:xfrm>
            <a:off x="5925312" y="3291840"/>
            <a:ext cx="56875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of cells</a:t>
            </a:r>
            <a:endParaRPr lang="en-US" sz="1300" dirty="0"/>
          </a:p>
        </p:txBody>
      </p:sp>
      <p:sp>
        <p:nvSpPr>
          <p:cNvPr id="210" name="Text 207"/>
          <p:cNvSpPr/>
          <p:nvPr/>
        </p:nvSpPr>
        <p:spPr>
          <a:xfrm>
            <a:off x="5925312" y="3602736"/>
            <a:ext cx="5687568" cy="86868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Formula   </a:t>
            </a:r>
            <a:r>
              <a:rPr lang="en-US" sz="1050" dirty="0">
                <a:solidFill>
                  <a:srgbClr val="262B3A"/>
                </a:solidFill>
                <a:latin typeface="Calibri" pitchFamily="34" charset="0"/>
                <a:ea typeface="Calibri" pitchFamily="34" charset="-122"/>
                <a:cs typeface="Calibri" pitchFamily="34" charset="-120"/>
              </a:rPr>
              <a:t>% = cells in stage ÷ total cells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Line up   </a:t>
            </a:r>
            <a:r>
              <a:rPr lang="en-US" sz="1050" dirty="0">
                <a:solidFill>
                  <a:srgbClr val="262B3A"/>
                </a:solidFill>
                <a:latin typeface="Calibri" pitchFamily="34" charset="0"/>
                <a:ea typeface="Calibri" pitchFamily="34" charset="-122"/>
                <a:cs typeface="Calibri" pitchFamily="34" charset="-120"/>
              </a:rPr>
              <a:t>7 ÷ 200 × 100 = 3.5%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stretch: time = 3.5% × 1200 min = 42 min</a:t>
            </a:r>
            <a:endParaRPr lang="en-US" sz="1050" dirty="0"/>
          </a:p>
        </p:txBody>
      </p:sp>
      <p:sp>
        <p:nvSpPr>
          <p:cNvPr id="211" name="Shape 208"/>
          <p:cNvSpPr/>
          <p:nvPr/>
        </p:nvSpPr>
        <p:spPr>
          <a:xfrm>
            <a:off x="5760720" y="4617720"/>
            <a:ext cx="6016752" cy="1097280"/>
          </a:xfrm>
          <a:prstGeom prst="roundRect">
            <a:avLst>
              <a:gd name="adj" fmla="val 5000"/>
            </a:avLst>
          </a:prstGeom>
          <a:solidFill>
            <a:srgbClr val="F4FAF9"/>
          </a:solidFill>
          <a:ln w="9525">
            <a:solidFill>
              <a:srgbClr val="CFE0DE"/>
            </a:solidFill>
            <a:prstDash val="solid"/>
          </a:ln>
        </p:spPr>
      </p:sp>
      <p:sp>
        <p:nvSpPr>
          <p:cNvPr id="212" name="Text 209"/>
          <p:cNvSpPr/>
          <p:nvPr/>
        </p:nvSpPr>
        <p:spPr>
          <a:xfrm>
            <a:off x="5925312" y="4709160"/>
            <a:ext cx="56875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Sources of error and improvements</a:t>
            </a:r>
            <a:endParaRPr lang="en-US" sz="1300" dirty="0"/>
          </a:p>
        </p:txBody>
      </p:sp>
      <p:sp>
        <p:nvSpPr>
          <p:cNvPr id="213" name="Text 210"/>
          <p:cNvSpPr/>
          <p:nvPr/>
        </p:nvSpPr>
        <p:spPr>
          <a:xfrm>
            <a:off x="5925312" y="5038344"/>
            <a:ext cx="5687568" cy="6035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Cells counted twice or missed → tally as you go; count </a:t>
            </a:r>
            <a:r>
              <a:rPr lang="en-US" sz="1050" b="1" dirty="0">
                <a:solidFill>
                  <a:srgbClr val="262B3A"/>
                </a:solidFill>
                <a:latin typeface="Calibri" pitchFamily="34" charset="0"/>
                <a:ea typeface="Calibri" pitchFamily="34" charset="-122"/>
                <a:cs typeface="Calibri" pitchFamily="34" charset="-120"/>
              </a:rPr>
              <a:t>several fields</a:t>
            </a:r>
            <a:r>
              <a:rPr lang="en-US" sz="1050" dirty="0">
                <a:solidFill>
                  <a:srgbClr val="262B3A"/>
                </a:solidFill>
                <a:latin typeface="Calibri" pitchFamily="34" charset="0"/>
                <a:ea typeface="Calibri" pitchFamily="34" charset="-122"/>
                <a:cs typeface="Calibri" pitchFamily="34" charset="-120"/>
              </a:rPr>
              <a:t> and add up.</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Cells overlap or stage unclear → squash more gently; agree rules for each stage.</a:t>
            </a:r>
            <a:endParaRPr lang="en-US" sz="1050" dirty="0"/>
          </a:p>
        </p:txBody>
      </p:sp>
      <p:sp>
        <p:nvSpPr>
          <p:cNvPr id="214" name="Shape 211"/>
          <p:cNvSpPr/>
          <p:nvPr/>
        </p:nvSpPr>
        <p:spPr>
          <a:xfrm>
            <a:off x="411480" y="5833872"/>
            <a:ext cx="11368735" cy="530352"/>
          </a:xfrm>
          <a:prstGeom prst="rect">
            <a:avLst/>
          </a:prstGeom>
          <a:solidFill>
            <a:srgbClr val="FFF4E0"/>
          </a:solidFill>
          <a:ln w="6350">
            <a:solidFill>
              <a:srgbClr val="F1D9A8"/>
            </a:solidFill>
            <a:prstDash val="solid"/>
          </a:ln>
        </p:spPr>
      </p:sp>
      <p:sp>
        <p:nvSpPr>
          <p:cNvPr id="215" name="Shape 212"/>
          <p:cNvSpPr/>
          <p:nvPr/>
        </p:nvSpPr>
        <p:spPr>
          <a:xfrm>
            <a:off x="411480" y="5833872"/>
            <a:ext cx="82296" cy="530352"/>
          </a:xfrm>
          <a:prstGeom prst="rect">
            <a:avLst/>
          </a:prstGeom>
          <a:solidFill>
            <a:srgbClr val="E39A2F"/>
          </a:solidFill>
          <a:ln w="12700">
            <a:solidFill>
              <a:srgbClr val="E39A2F"/>
            </a:solidFill>
            <a:prstDash val="solid"/>
          </a:ln>
        </p:spPr>
      </p:sp>
      <p:sp>
        <p:nvSpPr>
          <p:cNvPr id="216" name="Text 21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Identify the stage of each of cells </a:t>
            </a:r>
            <a:r>
              <a:rPr lang="en-US" sz="1150" b="1" dirty="0">
                <a:solidFill>
                  <a:srgbClr val="262B3A"/>
                </a:solidFill>
                <a:latin typeface="Calibri" pitchFamily="34" charset="0"/>
                <a:ea typeface="Calibri" pitchFamily="34" charset="-122"/>
                <a:cs typeface="Calibri" pitchFamily="34" charset="-120"/>
              </a:rPr>
              <a:t>A–D</a:t>
            </a:r>
            <a:r>
              <a:rPr lang="en-US" sz="1150" dirty="0">
                <a:solidFill>
                  <a:srgbClr val="262B3A"/>
                </a:solidFill>
                <a:latin typeface="Calibri" pitchFamily="34" charset="0"/>
                <a:ea typeface="Calibri" pitchFamily="34" charset="-122"/>
                <a:cs typeface="Calibri" pitchFamily="34" charset="-120"/>
              </a:rPr>
              <a:t>. Most cells are in </a:t>
            </a:r>
            <a:r>
              <a:rPr lang="en-US" sz="1150" b="1" dirty="0">
                <a:solidFill>
                  <a:srgbClr val="262B3A"/>
                </a:solidFill>
                <a:latin typeface="Calibri" pitchFamily="34" charset="0"/>
                <a:ea typeface="Calibri" pitchFamily="34" charset="-122"/>
                <a:cs typeface="Calibri" pitchFamily="34" charset="-120"/>
              </a:rPr>
              <a:t>interphase</a:t>
            </a:r>
            <a:r>
              <a:rPr lang="en-US" sz="1150" dirty="0">
                <a:solidFill>
                  <a:srgbClr val="262B3A"/>
                </a:solidFill>
                <a:latin typeface="Calibri" pitchFamily="34" charset="0"/>
                <a:ea typeface="Calibri" pitchFamily="34" charset="-122"/>
                <a:cs typeface="Calibri" pitchFamily="34" charset="-120"/>
              </a:rPr>
              <a:t> (84%). What does this tell you about the cell cycle?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 • PAG B1 root tip squash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a:t>
            </a:r>
            <a:r>
              <a:rPr lang="en-US" sz="1250" b="1" dirty="0">
                <a:solidFill>
                  <a:srgbClr val="262B3A"/>
                </a:solidFill>
                <a:latin typeface="Calibri" pitchFamily="34" charset="0"/>
                <a:ea typeface="Calibri" pitchFamily="34" charset="-122"/>
                <a:cs typeface="Calibri" pitchFamily="34" charset="-120"/>
              </a:rPr>
              <a:t>stain</a:t>
            </a:r>
            <a:r>
              <a:rPr lang="en-US" sz="1250" dirty="0">
                <a:solidFill>
                  <a:srgbClr val="262B3A"/>
                </a:solidFill>
                <a:latin typeface="Calibri" pitchFamily="34" charset="0"/>
                <a:ea typeface="Calibri" pitchFamily="34" charset="-122"/>
                <a:cs typeface="Calibri" pitchFamily="34" charset="-120"/>
              </a:rPr>
              <a:t> is added to the root tip before it is viewed.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counted </a:t>
            </a:r>
            <a:r>
              <a:rPr lang="en-US" sz="1250" b="1" dirty="0">
                <a:solidFill>
                  <a:srgbClr val="262B3A"/>
                </a:solidFill>
                <a:latin typeface="Calibri" pitchFamily="34" charset="0"/>
                <a:ea typeface="Calibri" pitchFamily="34" charset="-122"/>
                <a:cs typeface="Calibri" pitchFamily="34" charset="-120"/>
              </a:rPr>
              <a:t>150</a:t>
            </a:r>
            <a:r>
              <a:rPr lang="en-US" sz="1250" dirty="0">
                <a:solidFill>
                  <a:srgbClr val="262B3A"/>
                </a:solidFill>
                <a:latin typeface="Calibri" pitchFamily="34" charset="0"/>
                <a:ea typeface="Calibri" pitchFamily="34" charset="-122"/>
                <a:cs typeface="Calibri" pitchFamily="34" charset="-120"/>
              </a:rPr>
              <a:t> cells. </a:t>
            </a:r>
            <a:r>
              <a:rPr lang="en-US" sz="1250" b="1" dirty="0">
                <a:solidFill>
                  <a:srgbClr val="262B3A"/>
                </a:solidFill>
                <a:latin typeface="Calibri" pitchFamily="34" charset="0"/>
                <a:ea typeface="Calibri" pitchFamily="34" charset="-122"/>
                <a:cs typeface="Calibri" pitchFamily="34" charset="-120"/>
              </a:rPr>
              <a:t>12</a:t>
            </a:r>
            <a:r>
              <a:rPr lang="en-US" sz="1250" dirty="0">
                <a:solidFill>
                  <a:srgbClr val="262B3A"/>
                </a:solidFill>
                <a:latin typeface="Calibri" pitchFamily="34" charset="0"/>
                <a:ea typeface="Calibri" pitchFamily="34" charset="-122"/>
                <a:cs typeface="Calibri" pitchFamily="34" charset="-120"/>
              </a:rPr>
              <a:t> were in mitosis. Calculate the percentage of cells in mitosis.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Stretch:</a:t>
            </a:r>
            <a:r>
              <a:rPr lang="en-US" sz="1250" dirty="0">
                <a:solidFill>
                  <a:srgbClr val="262B3A"/>
                </a:solidFill>
                <a:latin typeface="Calibri" pitchFamily="34" charset="0"/>
                <a:ea typeface="Calibri" pitchFamily="34" charset="-122"/>
                <a:cs typeface="Calibri" pitchFamily="34" charset="-120"/>
              </a:rPr>
              <a:t> the cell cycle takes </a:t>
            </a:r>
            <a:r>
              <a:rPr lang="en-US" sz="1250" b="1" dirty="0">
                <a:solidFill>
                  <a:srgbClr val="262B3A"/>
                </a:solidFill>
                <a:latin typeface="Calibri" pitchFamily="34" charset="0"/>
                <a:ea typeface="Calibri" pitchFamily="34" charset="-122"/>
                <a:cs typeface="Calibri" pitchFamily="34" charset="-120"/>
              </a:rPr>
              <a:t>22 hours</a:t>
            </a:r>
            <a:r>
              <a:rPr lang="en-US" sz="1250" dirty="0">
                <a:solidFill>
                  <a:srgbClr val="262B3A"/>
                </a:solidFill>
                <a:latin typeface="Calibri" pitchFamily="34" charset="0"/>
                <a:ea typeface="Calibri" pitchFamily="34" charset="-122"/>
                <a:cs typeface="Calibri" pitchFamily="34" charset="-120"/>
              </a:rPr>
              <a:t>. Use your answer to estimate how long mitosis takes.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source of error when counting cells,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way to reduce it.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Cancer: when cell division goes wrong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B4.3.2 • changes in cells lead to uncontrolled growth and division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B4.3.2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layer of cells (e.g. skin lining) with a growing tumour; not to scale</a:t>
            </a:r>
            <a:endParaRPr lang="en-US" sz="1000" dirty="0"/>
          </a:p>
        </p:txBody>
      </p:sp>
      <p:sp>
        <p:nvSpPr>
          <p:cNvPr id="10" name="Shape 8"/>
          <p:cNvSpPr/>
          <p:nvPr/>
        </p:nvSpPr>
        <p:spPr>
          <a:xfrm>
            <a:off x="640080" y="3017520"/>
            <a:ext cx="292608" cy="457200"/>
          </a:xfrm>
          <a:prstGeom prst="rect">
            <a:avLst/>
          </a:prstGeom>
          <a:solidFill>
            <a:srgbClr val="F7E8C8"/>
          </a:solidFill>
          <a:ln w="9525">
            <a:solidFill>
              <a:srgbClr val="B8934A"/>
            </a:solidFill>
            <a:prstDash val="solid"/>
          </a:ln>
        </p:spPr>
      </p:sp>
      <p:sp>
        <p:nvSpPr>
          <p:cNvPr id="11" name="Shape 9"/>
          <p:cNvSpPr/>
          <p:nvPr/>
        </p:nvSpPr>
        <p:spPr>
          <a:xfrm>
            <a:off x="726948" y="3186684"/>
            <a:ext cx="118872" cy="118872"/>
          </a:xfrm>
          <a:prstGeom prst="ellipse">
            <a:avLst/>
          </a:prstGeom>
          <a:solidFill>
            <a:srgbClr val="C9B6E4"/>
          </a:solidFill>
          <a:ln w="12700">
            <a:solidFill>
              <a:srgbClr val="6A4C93"/>
            </a:solidFill>
            <a:prstDash val="solid"/>
          </a:ln>
        </p:spPr>
      </p:sp>
      <p:sp>
        <p:nvSpPr>
          <p:cNvPr id="12" name="Shape 10"/>
          <p:cNvSpPr/>
          <p:nvPr/>
        </p:nvSpPr>
        <p:spPr>
          <a:xfrm>
            <a:off x="932688" y="3017520"/>
            <a:ext cx="292608" cy="457200"/>
          </a:xfrm>
          <a:prstGeom prst="rect">
            <a:avLst/>
          </a:prstGeom>
          <a:solidFill>
            <a:srgbClr val="F7E8C8"/>
          </a:solidFill>
          <a:ln w="9525">
            <a:solidFill>
              <a:srgbClr val="B8934A"/>
            </a:solidFill>
            <a:prstDash val="solid"/>
          </a:ln>
        </p:spPr>
      </p:sp>
      <p:sp>
        <p:nvSpPr>
          <p:cNvPr id="13" name="Shape 11"/>
          <p:cNvSpPr/>
          <p:nvPr/>
        </p:nvSpPr>
        <p:spPr>
          <a:xfrm>
            <a:off x="1019556" y="3186684"/>
            <a:ext cx="118872" cy="118872"/>
          </a:xfrm>
          <a:prstGeom prst="ellipse">
            <a:avLst/>
          </a:prstGeom>
          <a:solidFill>
            <a:srgbClr val="C9B6E4"/>
          </a:solidFill>
          <a:ln w="12700">
            <a:solidFill>
              <a:srgbClr val="6A4C93"/>
            </a:solidFill>
            <a:prstDash val="solid"/>
          </a:ln>
        </p:spPr>
      </p:sp>
      <p:sp>
        <p:nvSpPr>
          <p:cNvPr id="14" name="Shape 12"/>
          <p:cNvSpPr/>
          <p:nvPr/>
        </p:nvSpPr>
        <p:spPr>
          <a:xfrm>
            <a:off x="1225296" y="3017520"/>
            <a:ext cx="292608" cy="457200"/>
          </a:xfrm>
          <a:prstGeom prst="rect">
            <a:avLst/>
          </a:prstGeom>
          <a:solidFill>
            <a:srgbClr val="F7E8C8"/>
          </a:solidFill>
          <a:ln w="9525">
            <a:solidFill>
              <a:srgbClr val="B8934A"/>
            </a:solidFill>
            <a:prstDash val="solid"/>
          </a:ln>
        </p:spPr>
      </p:sp>
      <p:sp>
        <p:nvSpPr>
          <p:cNvPr id="15" name="Shape 13"/>
          <p:cNvSpPr/>
          <p:nvPr/>
        </p:nvSpPr>
        <p:spPr>
          <a:xfrm>
            <a:off x="1312164" y="3186684"/>
            <a:ext cx="118872" cy="118872"/>
          </a:xfrm>
          <a:prstGeom prst="ellipse">
            <a:avLst/>
          </a:prstGeom>
          <a:solidFill>
            <a:srgbClr val="C9B6E4"/>
          </a:solidFill>
          <a:ln w="12700">
            <a:solidFill>
              <a:srgbClr val="6A4C93"/>
            </a:solidFill>
            <a:prstDash val="solid"/>
          </a:ln>
        </p:spPr>
      </p:sp>
      <p:sp>
        <p:nvSpPr>
          <p:cNvPr id="16" name="Shape 14"/>
          <p:cNvSpPr/>
          <p:nvPr/>
        </p:nvSpPr>
        <p:spPr>
          <a:xfrm>
            <a:off x="1517904" y="3017520"/>
            <a:ext cx="292608" cy="457200"/>
          </a:xfrm>
          <a:prstGeom prst="rect">
            <a:avLst/>
          </a:prstGeom>
          <a:solidFill>
            <a:srgbClr val="F7E8C8"/>
          </a:solidFill>
          <a:ln w="9525">
            <a:solidFill>
              <a:srgbClr val="B8934A"/>
            </a:solidFill>
            <a:prstDash val="solid"/>
          </a:ln>
        </p:spPr>
      </p:sp>
      <p:sp>
        <p:nvSpPr>
          <p:cNvPr id="17" name="Shape 15"/>
          <p:cNvSpPr/>
          <p:nvPr/>
        </p:nvSpPr>
        <p:spPr>
          <a:xfrm>
            <a:off x="1604772" y="3186684"/>
            <a:ext cx="118872" cy="118872"/>
          </a:xfrm>
          <a:prstGeom prst="ellipse">
            <a:avLst/>
          </a:prstGeom>
          <a:solidFill>
            <a:srgbClr val="C9B6E4"/>
          </a:solidFill>
          <a:ln w="12700">
            <a:solidFill>
              <a:srgbClr val="6A4C93"/>
            </a:solidFill>
            <a:prstDash val="solid"/>
          </a:ln>
        </p:spPr>
      </p:sp>
      <p:sp>
        <p:nvSpPr>
          <p:cNvPr id="18" name="Shape 16"/>
          <p:cNvSpPr/>
          <p:nvPr/>
        </p:nvSpPr>
        <p:spPr>
          <a:xfrm>
            <a:off x="1810512" y="3017520"/>
            <a:ext cx="292608" cy="457200"/>
          </a:xfrm>
          <a:prstGeom prst="rect">
            <a:avLst/>
          </a:prstGeom>
          <a:solidFill>
            <a:srgbClr val="F7E8C8"/>
          </a:solidFill>
          <a:ln w="9525">
            <a:solidFill>
              <a:srgbClr val="B8934A"/>
            </a:solidFill>
            <a:prstDash val="solid"/>
          </a:ln>
        </p:spPr>
      </p:sp>
      <p:sp>
        <p:nvSpPr>
          <p:cNvPr id="19" name="Shape 17"/>
          <p:cNvSpPr/>
          <p:nvPr/>
        </p:nvSpPr>
        <p:spPr>
          <a:xfrm>
            <a:off x="1897380" y="3186684"/>
            <a:ext cx="118872" cy="118872"/>
          </a:xfrm>
          <a:prstGeom prst="ellipse">
            <a:avLst/>
          </a:prstGeom>
          <a:solidFill>
            <a:srgbClr val="C9B6E4"/>
          </a:solidFill>
          <a:ln w="12700">
            <a:solidFill>
              <a:srgbClr val="6A4C93"/>
            </a:solidFill>
            <a:prstDash val="solid"/>
          </a:ln>
        </p:spPr>
      </p:sp>
      <p:sp>
        <p:nvSpPr>
          <p:cNvPr id="20" name="Shape 18"/>
          <p:cNvSpPr/>
          <p:nvPr/>
        </p:nvSpPr>
        <p:spPr>
          <a:xfrm>
            <a:off x="2103120" y="3017520"/>
            <a:ext cx="292608" cy="457200"/>
          </a:xfrm>
          <a:prstGeom prst="rect">
            <a:avLst/>
          </a:prstGeom>
          <a:solidFill>
            <a:srgbClr val="F7E8C8"/>
          </a:solidFill>
          <a:ln w="9525">
            <a:solidFill>
              <a:srgbClr val="B8934A"/>
            </a:solidFill>
            <a:prstDash val="solid"/>
          </a:ln>
        </p:spPr>
      </p:sp>
      <p:sp>
        <p:nvSpPr>
          <p:cNvPr id="21" name="Shape 19"/>
          <p:cNvSpPr/>
          <p:nvPr/>
        </p:nvSpPr>
        <p:spPr>
          <a:xfrm>
            <a:off x="2189988" y="3186684"/>
            <a:ext cx="118872" cy="118872"/>
          </a:xfrm>
          <a:prstGeom prst="ellipse">
            <a:avLst/>
          </a:prstGeom>
          <a:solidFill>
            <a:srgbClr val="C9B6E4"/>
          </a:solidFill>
          <a:ln w="12700">
            <a:solidFill>
              <a:srgbClr val="6A4C93"/>
            </a:solidFill>
            <a:prstDash val="solid"/>
          </a:ln>
        </p:spPr>
      </p:sp>
      <p:sp>
        <p:nvSpPr>
          <p:cNvPr id="22" name="Shape 20"/>
          <p:cNvSpPr/>
          <p:nvPr/>
        </p:nvSpPr>
        <p:spPr>
          <a:xfrm>
            <a:off x="2395728" y="3017520"/>
            <a:ext cx="292608" cy="457200"/>
          </a:xfrm>
          <a:prstGeom prst="rect">
            <a:avLst/>
          </a:prstGeom>
          <a:solidFill>
            <a:srgbClr val="F7E8C8"/>
          </a:solidFill>
          <a:ln w="9525">
            <a:solidFill>
              <a:srgbClr val="B8934A"/>
            </a:solidFill>
            <a:prstDash val="solid"/>
          </a:ln>
        </p:spPr>
      </p:sp>
      <p:sp>
        <p:nvSpPr>
          <p:cNvPr id="23" name="Shape 21"/>
          <p:cNvSpPr/>
          <p:nvPr/>
        </p:nvSpPr>
        <p:spPr>
          <a:xfrm>
            <a:off x="2482596" y="3186684"/>
            <a:ext cx="118872" cy="118872"/>
          </a:xfrm>
          <a:prstGeom prst="ellipse">
            <a:avLst/>
          </a:prstGeom>
          <a:solidFill>
            <a:srgbClr val="C9B6E4"/>
          </a:solidFill>
          <a:ln w="12700">
            <a:solidFill>
              <a:srgbClr val="6A4C93"/>
            </a:solidFill>
            <a:prstDash val="solid"/>
          </a:ln>
        </p:spPr>
      </p:sp>
      <p:sp>
        <p:nvSpPr>
          <p:cNvPr id="24" name="Shape 22"/>
          <p:cNvSpPr/>
          <p:nvPr/>
        </p:nvSpPr>
        <p:spPr>
          <a:xfrm>
            <a:off x="2688336" y="3017520"/>
            <a:ext cx="292608" cy="457200"/>
          </a:xfrm>
          <a:prstGeom prst="rect">
            <a:avLst/>
          </a:prstGeom>
          <a:solidFill>
            <a:srgbClr val="F7E8C8"/>
          </a:solidFill>
          <a:ln w="9525">
            <a:solidFill>
              <a:srgbClr val="B8934A"/>
            </a:solidFill>
            <a:prstDash val="solid"/>
          </a:ln>
        </p:spPr>
      </p:sp>
      <p:sp>
        <p:nvSpPr>
          <p:cNvPr id="25" name="Shape 23"/>
          <p:cNvSpPr/>
          <p:nvPr/>
        </p:nvSpPr>
        <p:spPr>
          <a:xfrm>
            <a:off x="2775204" y="3186684"/>
            <a:ext cx="118872" cy="118872"/>
          </a:xfrm>
          <a:prstGeom prst="ellipse">
            <a:avLst/>
          </a:prstGeom>
          <a:solidFill>
            <a:srgbClr val="C9B6E4"/>
          </a:solidFill>
          <a:ln w="12700">
            <a:solidFill>
              <a:srgbClr val="6A4C93"/>
            </a:solidFill>
            <a:prstDash val="solid"/>
          </a:ln>
        </p:spPr>
      </p:sp>
      <p:sp>
        <p:nvSpPr>
          <p:cNvPr id="26" name="Shape 24"/>
          <p:cNvSpPr/>
          <p:nvPr/>
        </p:nvSpPr>
        <p:spPr>
          <a:xfrm>
            <a:off x="2980944" y="3017520"/>
            <a:ext cx="292608" cy="457200"/>
          </a:xfrm>
          <a:prstGeom prst="rect">
            <a:avLst/>
          </a:prstGeom>
          <a:solidFill>
            <a:srgbClr val="F7E8C8"/>
          </a:solidFill>
          <a:ln w="9525">
            <a:solidFill>
              <a:srgbClr val="B8934A"/>
            </a:solidFill>
            <a:prstDash val="solid"/>
          </a:ln>
        </p:spPr>
      </p:sp>
      <p:sp>
        <p:nvSpPr>
          <p:cNvPr id="27" name="Shape 25"/>
          <p:cNvSpPr/>
          <p:nvPr/>
        </p:nvSpPr>
        <p:spPr>
          <a:xfrm>
            <a:off x="3067812" y="3186684"/>
            <a:ext cx="118872" cy="118872"/>
          </a:xfrm>
          <a:prstGeom prst="ellipse">
            <a:avLst/>
          </a:prstGeom>
          <a:solidFill>
            <a:srgbClr val="C9B6E4"/>
          </a:solidFill>
          <a:ln w="12700">
            <a:solidFill>
              <a:srgbClr val="6A4C93"/>
            </a:solidFill>
            <a:prstDash val="solid"/>
          </a:ln>
        </p:spPr>
      </p:sp>
      <p:sp>
        <p:nvSpPr>
          <p:cNvPr id="28" name="Shape 26"/>
          <p:cNvSpPr/>
          <p:nvPr/>
        </p:nvSpPr>
        <p:spPr>
          <a:xfrm>
            <a:off x="3273552" y="3017520"/>
            <a:ext cx="292608" cy="457200"/>
          </a:xfrm>
          <a:prstGeom prst="rect">
            <a:avLst/>
          </a:prstGeom>
          <a:solidFill>
            <a:srgbClr val="E3B8C9"/>
          </a:solidFill>
          <a:ln w="9525">
            <a:solidFill>
              <a:srgbClr val="8E2A55"/>
            </a:solidFill>
            <a:prstDash val="solid"/>
          </a:ln>
        </p:spPr>
      </p:sp>
      <p:sp>
        <p:nvSpPr>
          <p:cNvPr id="29" name="Shape 27"/>
          <p:cNvSpPr/>
          <p:nvPr/>
        </p:nvSpPr>
        <p:spPr>
          <a:xfrm>
            <a:off x="3360420" y="3186684"/>
            <a:ext cx="118872" cy="118872"/>
          </a:xfrm>
          <a:prstGeom prst="ellipse">
            <a:avLst/>
          </a:prstGeom>
          <a:solidFill>
            <a:srgbClr val="8E2A55"/>
          </a:solidFill>
          <a:ln w="12700">
            <a:solidFill>
              <a:srgbClr val="5E1A38"/>
            </a:solidFill>
            <a:prstDash val="solid"/>
          </a:ln>
        </p:spPr>
      </p:sp>
      <p:sp>
        <p:nvSpPr>
          <p:cNvPr id="30" name="Shape 28"/>
          <p:cNvSpPr/>
          <p:nvPr/>
        </p:nvSpPr>
        <p:spPr>
          <a:xfrm>
            <a:off x="3566160" y="3017520"/>
            <a:ext cx="292608" cy="457200"/>
          </a:xfrm>
          <a:prstGeom prst="rect">
            <a:avLst/>
          </a:prstGeom>
          <a:solidFill>
            <a:srgbClr val="E3B8C9"/>
          </a:solidFill>
          <a:ln w="9525">
            <a:solidFill>
              <a:srgbClr val="8E2A55"/>
            </a:solidFill>
            <a:prstDash val="solid"/>
          </a:ln>
        </p:spPr>
      </p:sp>
      <p:sp>
        <p:nvSpPr>
          <p:cNvPr id="31" name="Shape 29"/>
          <p:cNvSpPr/>
          <p:nvPr/>
        </p:nvSpPr>
        <p:spPr>
          <a:xfrm>
            <a:off x="3653028" y="3186684"/>
            <a:ext cx="118872" cy="118872"/>
          </a:xfrm>
          <a:prstGeom prst="ellipse">
            <a:avLst/>
          </a:prstGeom>
          <a:solidFill>
            <a:srgbClr val="8E2A55"/>
          </a:solidFill>
          <a:ln w="12700">
            <a:solidFill>
              <a:srgbClr val="5E1A38"/>
            </a:solidFill>
            <a:prstDash val="solid"/>
          </a:ln>
        </p:spPr>
      </p:sp>
      <p:sp>
        <p:nvSpPr>
          <p:cNvPr id="32" name="Shape 30"/>
          <p:cNvSpPr/>
          <p:nvPr/>
        </p:nvSpPr>
        <p:spPr>
          <a:xfrm>
            <a:off x="3858768" y="3017520"/>
            <a:ext cx="292608" cy="457200"/>
          </a:xfrm>
          <a:prstGeom prst="rect">
            <a:avLst/>
          </a:prstGeom>
          <a:solidFill>
            <a:srgbClr val="E3B8C9"/>
          </a:solidFill>
          <a:ln w="9525">
            <a:solidFill>
              <a:srgbClr val="8E2A55"/>
            </a:solidFill>
            <a:prstDash val="solid"/>
          </a:ln>
        </p:spPr>
      </p:sp>
      <p:sp>
        <p:nvSpPr>
          <p:cNvPr id="33" name="Shape 31"/>
          <p:cNvSpPr/>
          <p:nvPr/>
        </p:nvSpPr>
        <p:spPr>
          <a:xfrm>
            <a:off x="3945636" y="3186684"/>
            <a:ext cx="118872" cy="118872"/>
          </a:xfrm>
          <a:prstGeom prst="ellipse">
            <a:avLst/>
          </a:prstGeom>
          <a:solidFill>
            <a:srgbClr val="8E2A55"/>
          </a:solidFill>
          <a:ln w="12700">
            <a:solidFill>
              <a:srgbClr val="5E1A38"/>
            </a:solidFill>
            <a:prstDash val="solid"/>
          </a:ln>
        </p:spPr>
      </p:sp>
      <p:sp>
        <p:nvSpPr>
          <p:cNvPr id="34" name="Shape 32"/>
          <p:cNvSpPr/>
          <p:nvPr/>
        </p:nvSpPr>
        <p:spPr>
          <a:xfrm>
            <a:off x="4151376" y="3017520"/>
            <a:ext cx="292608" cy="457200"/>
          </a:xfrm>
          <a:prstGeom prst="rect">
            <a:avLst/>
          </a:prstGeom>
          <a:solidFill>
            <a:srgbClr val="E3B8C9"/>
          </a:solidFill>
          <a:ln w="9525">
            <a:solidFill>
              <a:srgbClr val="8E2A55"/>
            </a:solidFill>
            <a:prstDash val="solid"/>
          </a:ln>
        </p:spPr>
      </p:sp>
      <p:sp>
        <p:nvSpPr>
          <p:cNvPr id="35" name="Shape 33"/>
          <p:cNvSpPr/>
          <p:nvPr/>
        </p:nvSpPr>
        <p:spPr>
          <a:xfrm>
            <a:off x="4238244" y="3186684"/>
            <a:ext cx="118872" cy="118872"/>
          </a:xfrm>
          <a:prstGeom prst="ellipse">
            <a:avLst/>
          </a:prstGeom>
          <a:solidFill>
            <a:srgbClr val="8E2A55"/>
          </a:solidFill>
          <a:ln w="12700">
            <a:solidFill>
              <a:srgbClr val="5E1A38"/>
            </a:solidFill>
            <a:prstDash val="solid"/>
          </a:ln>
        </p:spPr>
      </p:sp>
      <p:sp>
        <p:nvSpPr>
          <p:cNvPr id="36" name="Shape 34"/>
          <p:cNvSpPr/>
          <p:nvPr/>
        </p:nvSpPr>
        <p:spPr>
          <a:xfrm>
            <a:off x="4443984" y="3017520"/>
            <a:ext cx="292608" cy="457200"/>
          </a:xfrm>
          <a:prstGeom prst="rect">
            <a:avLst/>
          </a:prstGeom>
          <a:solidFill>
            <a:srgbClr val="E3B8C9"/>
          </a:solidFill>
          <a:ln w="9525">
            <a:solidFill>
              <a:srgbClr val="8E2A55"/>
            </a:solidFill>
            <a:prstDash val="solid"/>
          </a:ln>
        </p:spPr>
      </p:sp>
      <p:sp>
        <p:nvSpPr>
          <p:cNvPr id="37" name="Shape 35"/>
          <p:cNvSpPr/>
          <p:nvPr/>
        </p:nvSpPr>
        <p:spPr>
          <a:xfrm>
            <a:off x="4530852" y="3186684"/>
            <a:ext cx="118872" cy="118872"/>
          </a:xfrm>
          <a:prstGeom prst="ellipse">
            <a:avLst/>
          </a:prstGeom>
          <a:solidFill>
            <a:srgbClr val="8E2A55"/>
          </a:solidFill>
          <a:ln w="12700">
            <a:solidFill>
              <a:srgbClr val="5E1A38"/>
            </a:solidFill>
            <a:prstDash val="solid"/>
          </a:ln>
        </p:spPr>
      </p:sp>
      <p:sp>
        <p:nvSpPr>
          <p:cNvPr id="38" name="Shape 36"/>
          <p:cNvSpPr/>
          <p:nvPr/>
        </p:nvSpPr>
        <p:spPr>
          <a:xfrm>
            <a:off x="4736592" y="3017520"/>
            <a:ext cx="292608" cy="457200"/>
          </a:xfrm>
          <a:prstGeom prst="rect">
            <a:avLst/>
          </a:prstGeom>
          <a:solidFill>
            <a:srgbClr val="F7E8C8"/>
          </a:solidFill>
          <a:ln w="9525">
            <a:solidFill>
              <a:srgbClr val="B8934A"/>
            </a:solidFill>
            <a:prstDash val="solid"/>
          </a:ln>
        </p:spPr>
      </p:sp>
      <p:sp>
        <p:nvSpPr>
          <p:cNvPr id="39" name="Shape 37"/>
          <p:cNvSpPr/>
          <p:nvPr/>
        </p:nvSpPr>
        <p:spPr>
          <a:xfrm>
            <a:off x="4823460" y="3186684"/>
            <a:ext cx="118872" cy="118872"/>
          </a:xfrm>
          <a:prstGeom prst="ellipse">
            <a:avLst/>
          </a:prstGeom>
          <a:solidFill>
            <a:srgbClr val="C9B6E4"/>
          </a:solidFill>
          <a:ln w="12700">
            <a:solidFill>
              <a:srgbClr val="6A4C93"/>
            </a:solidFill>
            <a:prstDash val="solid"/>
          </a:ln>
        </p:spPr>
      </p:sp>
      <p:sp>
        <p:nvSpPr>
          <p:cNvPr id="40" name="Shape 38"/>
          <p:cNvSpPr/>
          <p:nvPr/>
        </p:nvSpPr>
        <p:spPr>
          <a:xfrm>
            <a:off x="5029200" y="3017520"/>
            <a:ext cx="292608" cy="457200"/>
          </a:xfrm>
          <a:prstGeom prst="rect">
            <a:avLst/>
          </a:prstGeom>
          <a:solidFill>
            <a:srgbClr val="F7E8C8"/>
          </a:solidFill>
          <a:ln w="9525">
            <a:solidFill>
              <a:srgbClr val="B8934A"/>
            </a:solidFill>
            <a:prstDash val="solid"/>
          </a:ln>
        </p:spPr>
      </p:sp>
      <p:sp>
        <p:nvSpPr>
          <p:cNvPr id="41" name="Shape 39"/>
          <p:cNvSpPr/>
          <p:nvPr/>
        </p:nvSpPr>
        <p:spPr>
          <a:xfrm>
            <a:off x="5116068" y="3186684"/>
            <a:ext cx="118872" cy="118872"/>
          </a:xfrm>
          <a:prstGeom prst="ellipse">
            <a:avLst/>
          </a:prstGeom>
          <a:solidFill>
            <a:srgbClr val="C9B6E4"/>
          </a:solidFill>
          <a:ln w="12700">
            <a:solidFill>
              <a:srgbClr val="6A4C93"/>
            </a:solidFill>
            <a:prstDash val="solid"/>
          </a:ln>
        </p:spPr>
      </p:sp>
      <p:sp>
        <p:nvSpPr>
          <p:cNvPr id="42" name="Shape 40"/>
          <p:cNvSpPr/>
          <p:nvPr/>
        </p:nvSpPr>
        <p:spPr>
          <a:xfrm>
            <a:off x="5321808" y="3017520"/>
            <a:ext cx="292608" cy="457200"/>
          </a:xfrm>
          <a:prstGeom prst="rect">
            <a:avLst/>
          </a:prstGeom>
          <a:solidFill>
            <a:srgbClr val="F7E8C8"/>
          </a:solidFill>
          <a:ln w="9525">
            <a:solidFill>
              <a:srgbClr val="B8934A"/>
            </a:solidFill>
            <a:prstDash val="solid"/>
          </a:ln>
        </p:spPr>
      </p:sp>
      <p:sp>
        <p:nvSpPr>
          <p:cNvPr id="43" name="Shape 41"/>
          <p:cNvSpPr/>
          <p:nvPr/>
        </p:nvSpPr>
        <p:spPr>
          <a:xfrm>
            <a:off x="5408676" y="3186684"/>
            <a:ext cx="118872" cy="118872"/>
          </a:xfrm>
          <a:prstGeom prst="ellipse">
            <a:avLst/>
          </a:prstGeom>
          <a:solidFill>
            <a:srgbClr val="C9B6E4"/>
          </a:solidFill>
          <a:ln w="12700">
            <a:solidFill>
              <a:srgbClr val="6A4C93"/>
            </a:solidFill>
            <a:prstDash val="solid"/>
          </a:ln>
        </p:spPr>
      </p:sp>
      <p:sp>
        <p:nvSpPr>
          <p:cNvPr id="44" name="Shape 42"/>
          <p:cNvSpPr/>
          <p:nvPr/>
        </p:nvSpPr>
        <p:spPr>
          <a:xfrm>
            <a:off x="640080" y="3474720"/>
            <a:ext cx="4974336" cy="73152"/>
          </a:xfrm>
          <a:prstGeom prst="rect">
            <a:avLst/>
          </a:prstGeom>
          <a:solidFill>
            <a:srgbClr val="C9B98F"/>
          </a:solidFill>
          <a:ln/>
        </p:spPr>
      </p:sp>
      <p:sp>
        <p:nvSpPr>
          <p:cNvPr id="45" name="Shape 43"/>
          <p:cNvSpPr/>
          <p:nvPr/>
        </p:nvSpPr>
        <p:spPr>
          <a:xfrm>
            <a:off x="3364992" y="2766060"/>
            <a:ext cx="274320" cy="228600"/>
          </a:xfrm>
          <a:prstGeom prst="ellipse">
            <a:avLst/>
          </a:prstGeom>
          <a:solidFill>
            <a:srgbClr val="E3B8C9"/>
          </a:solidFill>
          <a:ln w="9525">
            <a:solidFill>
              <a:srgbClr val="8E2A55"/>
            </a:solidFill>
            <a:prstDash val="solid"/>
          </a:ln>
        </p:spPr>
      </p:sp>
      <p:sp>
        <p:nvSpPr>
          <p:cNvPr id="46" name="Shape 44"/>
          <p:cNvSpPr/>
          <p:nvPr/>
        </p:nvSpPr>
        <p:spPr>
          <a:xfrm>
            <a:off x="3456432" y="2834640"/>
            <a:ext cx="91440" cy="91440"/>
          </a:xfrm>
          <a:prstGeom prst="ellipse">
            <a:avLst/>
          </a:prstGeom>
          <a:solidFill>
            <a:srgbClr val="8E2A55"/>
          </a:solidFill>
          <a:ln/>
        </p:spPr>
      </p:sp>
      <p:sp>
        <p:nvSpPr>
          <p:cNvPr id="47" name="Shape 45"/>
          <p:cNvSpPr/>
          <p:nvPr/>
        </p:nvSpPr>
        <p:spPr>
          <a:xfrm>
            <a:off x="3639312" y="2766060"/>
            <a:ext cx="274320" cy="228600"/>
          </a:xfrm>
          <a:prstGeom prst="ellipse">
            <a:avLst/>
          </a:prstGeom>
          <a:solidFill>
            <a:srgbClr val="E3B8C9"/>
          </a:solidFill>
          <a:ln w="9525">
            <a:solidFill>
              <a:srgbClr val="8E2A55"/>
            </a:solidFill>
            <a:prstDash val="solid"/>
          </a:ln>
        </p:spPr>
      </p:sp>
      <p:sp>
        <p:nvSpPr>
          <p:cNvPr id="48" name="Shape 46"/>
          <p:cNvSpPr/>
          <p:nvPr/>
        </p:nvSpPr>
        <p:spPr>
          <a:xfrm>
            <a:off x="3730752" y="2834640"/>
            <a:ext cx="91440" cy="91440"/>
          </a:xfrm>
          <a:prstGeom prst="ellipse">
            <a:avLst/>
          </a:prstGeom>
          <a:solidFill>
            <a:srgbClr val="8E2A55"/>
          </a:solidFill>
          <a:ln/>
        </p:spPr>
      </p:sp>
      <p:sp>
        <p:nvSpPr>
          <p:cNvPr id="49" name="Shape 47"/>
          <p:cNvSpPr/>
          <p:nvPr/>
        </p:nvSpPr>
        <p:spPr>
          <a:xfrm>
            <a:off x="3913632" y="2766060"/>
            <a:ext cx="274320" cy="228600"/>
          </a:xfrm>
          <a:prstGeom prst="ellipse">
            <a:avLst/>
          </a:prstGeom>
          <a:solidFill>
            <a:srgbClr val="E3B8C9"/>
          </a:solidFill>
          <a:ln w="9525">
            <a:solidFill>
              <a:srgbClr val="8E2A55"/>
            </a:solidFill>
            <a:prstDash val="solid"/>
          </a:ln>
        </p:spPr>
      </p:sp>
      <p:sp>
        <p:nvSpPr>
          <p:cNvPr id="50" name="Shape 48"/>
          <p:cNvSpPr/>
          <p:nvPr/>
        </p:nvSpPr>
        <p:spPr>
          <a:xfrm>
            <a:off x="4005072" y="2834640"/>
            <a:ext cx="91440" cy="91440"/>
          </a:xfrm>
          <a:prstGeom prst="ellipse">
            <a:avLst/>
          </a:prstGeom>
          <a:solidFill>
            <a:srgbClr val="8E2A55"/>
          </a:solidFill>
          <a:ln/>
        </p:spPr>
      </p:sp>
      <p:sp>
        <p:nvSpPr>
          <p:cNvPr id="51" name="Shape 49"/>
          <p:cNvSpPr/>
          <p:nvPr/>
        </p:nvSpPr>
        <p:spPr>
          <a:xfrm>
            <a:off x="4187952" y="2766060"/>
            <a:ext cx="274320" cy="228600"/>
          </a:xfrm>
          <a:prstGeom prst="ellipse">
            <a:avLst/>
          </a:prstGeom>
          <a:solidFill>
            <a:srgbClr val="E3B8C9"/>
          </a:solidFill>
          <a:ln w="9525">
            <a:solidFill>
              <a:srgbClr val="8E2A55"/>
            </a:solidFill>
            <a:prstDash val="solid"/>
          </a:ln>
        </p:spPr>
      </p:sp>
      <p:sp>
        <p:nvSpPr>
          <p:cNvPr id="52" name="Shape 50"/>
          <p:cNvSpPr/>
          <p:nvPr/>
        </p:nvSpPr>
        <p:spPr>
          <a:xfrm>
            <a:off x="4279392" y="2834640"/>
            <a:ext cx="91440" cy="91440"/>
          </a:xfrm>
          <a:prstGeom prst="ellipse">
            <a:avLst/>
          </a:prstGeom>
          <a:solidFill>
            <a:srgbClr val="8E2A55"/>
          </a:solidFill>
          <a:ln/>
        </p:spPr>
      </p:sp>
      <p:sp>
        <p:nvSpPr>
          <p:cNvPr id="53" name="Shape 51"/>
          <p:cNvSpPr/>
          <p:nvPr/>
        </p:nvSpPr>
        <p:spPr>
          <a:xfrm>
            <a:off x="4462272" y="2766060"/>
            <a:ext cx="274320" cy="228600"/>
          </a:xfrm>
          <a:prstGeom prst="ellipse">
            <a:avLst/>
          </a:prstGeom>
          <a:solidFill>
            <a:srgbClr val="E3B8C9"/>
          </a:solidFill>
          <a:ln w="9525">
            <a:solidFill>
              <a:srgbClr val="8E2A55"/>
            </a:solidFill>
            <a:prstDash val="solid"/>
          </a:ln>
        </p:spPr>
      </p:sp>
      <p:sp>
        <p:nvSpPr>
          <p:cNvPr id="54" name="Shape 52"/>
          <p:cNvSpPr/>
          <p:nvPr/>
        </p:nvSpPr>
        <p:spPr>
          <a:xfrm>
            <a:off x="4553712" y="2834640"/>
            <a:ext cx="91440" cy="91440"/>
          </a:xfrm>
          <a:prstGeom prst="ellipse">
            <a:avLst/>
          </a:prstGeom>
          <a:solidFill>
            <a:srgbClr val="8E2A55"/>
          </a:solidFill>
          <a:ln/>
        </p:spPr>
      </p:sp>
      <p:sp>
        <p:nvSpPr>
          <p:cNvPr id="55" name="Shape 53"/>
          <p:cNvSpPr/>
          <p:nvPr/>
        </p:nvSpPr>
        <p:spPr>
          <a:xfrm>
            <a:off x="3502152" y="2537460"/>
            <a:ext cx="274320" cy="228600"/>
          </a:xfrm>
          <a:prstGeom prst="ellipse">
            <a:avLst/>
          </a:prstGeom>
          <a:solidFill>
            <a:srgbClr val="E3B8C9"/>
          </a:solidFill>
          <a:ln w="9525">
            <a:solidFill>
              <a:srgbClr val="8E2A55"/>
            </a:solidFill>
            <a:prstDash val="solid"/>
          </a:ln>
        </p:spPr>
      </p:sp>
      <p:sp>
        <p:nvSpPr>
          <p:cNvPr id="56" name="Shape 54"/>
          <p:cNvSpPr/>
          <p:nvPr/>
        </p:nvSpPr>
        <p:spPr>
          <a:xfrm>
            <a:off x="3593592" y="2606040"/>
            <a:ext cx="91440" cy="91440"/>
          </a:xfrm>
          <a:prstGeom prst="ellipse">
            <a:avLst/>
          </a:prstGeom>
          <a:solidFill>
            <a:srgbClr val="8E2A55"/>
          </a:solidFill>
          <a:ln/>
        </p:spPr>
      </p:sp>
      <p:sp>
        <p:nvSpPr>
          <p:cNvPr id="57" name="Shape 55"/>
          <p:cNvSpPr/>
          <p:nvPr/>
        </p:nvSpPr>
        <p:spPr>
          <a:xfrm>
            <a:off x="3776472" y="2537460"/>
            <a:ext cx="274320" cy="228600"/>
          </a:xfrm>
          <a:prstGeom prst="ellipse">
            <a:avLst/>
          </a:prstGeom>
          <a:solidFill>
            <a:srgbClr val="E3B8C9"/>
          </a:solidFill>
          <a:ln w="9525">
            <a:solidFill>
              <a:srgbClr val="8E2A55"/>
            </a:solidFill>
            <a:prstDash val="solid"/>
          </a:ln>
        </p:spPr>
      </p:sp>
      <p:sp>
        <p:nvSpPr>
          <p:cNvPr id="58" name="Shape 56"/>
          <p:cNvSpPr/>
          <p:nvPr/>
        </p:nvSpPr>
        <p:spPr>
          <a:xfrm>
            <a:off x="3867912" y="2606040"/>
            <a:ext cx="91440" cy="91440"/>
          </a:xfrm>
          <a:prstGeom prst="ellipse">
            <a:avLst/>
          </a:prstGeom>
          <a:solidFill>
            <a:srgbClr val="8E2A55"/>
          </a:solidFill>
          <a:ln/>
        </p:spPr>
      </p:sp>
      <p:sp>
        <p:nvSpPr>
          <p:cNvPr id="59" name="Shape 57"/>
          <p:cNvSpPr/>
          <p:nvPr/>
        </p:nvSpPr>
        <p:spPr>
          <a:xfrm>
            <a:off x="4050792" y="2537460"/>
            <a:ext cx="274320" cy="228600"/>
          </a:xfrm>
          <a:prstGeom prst="ellipse">
            <a:avLst/>
          </a:prstGeom>
          <a:solidFill>
            <a:srgbClr val="E3B8C9"/>
          </a:solidFill>
          <a:ln w="9525">
            <a:solidFill>
              <a:srgbClr val="8E2A55"/>
            </a:solidFill>
            <a:prstDash val="solid"/>
          </a:ln>
        </p:spPr>
      </p:sp>
      <p:sp>
        <p:nvSpPr>
          <p:cNvPr id="60" name="Shape 58"/>
          <p:cNvSpPr/>
          <p:nvPr/>
        </p:nvSpPr>
        <p:spPr>
          <a:xfrm>
            <a:off x="4142232" y="2606040"/>
            <a:ext cx="91440" cy="91440"/>
          </a:xfrm>
          <a:prstGeom prst="ellipse">
            <a:avLst/>
          </a:prstGeom>
          <a:solidFill>
            <a:srgbClr val="8E2A55"/>
          </a:solidFill>
          <a:ln/>
        </p:spPr>
      </p:sp>
      <p:sp>
        <p:nvSpPr>
          <p:cNvPr id="61" name="Shape 59"/>
          <p:cNvSpPr/>
          <p:nvPr/>
        </p:nvSpPr>
        <p:spPr>
          <a:xfrm>
            <a:off x="4325112" y="2537460"/>
            <a:ext cx="274320" cy="228600"/>
          </a:xfrm>
          <a:prstGeom prst="ellipse">
            <a:avLst/>
          </a:prstGeom>
          <a:solidFill>
            <a:srgbClr val="E3B8C9"/>
          </a:solidFill>
          <a:ln w="9525">
            <a:solidFill>
              <a:srgbClr val="8E2A55"/>
            </a:solidFill>
            <a:prstDash val="solid"/>
          </a:ln>
        </p:spPr>
      </p:sp>
      <p:sp>
        <p:nvSpPr>
          <p:cNvPr id="62" name="Shape 60"/>
          <p:cNvSpPr/>
          <p:nvPr/>
        </p:nvSpPr>
        <p:spPr>
          <a:xfrm>
            <a:off x="4416552" y="2606040"/>
            <a:ext cx="91440" cy="91440"/>
          </a:xfrm>
          <a:prstGeom prst="ellipse">
            <a:avLst/>
          </a:prstGeom>
          <a:solidFill>
            <a:srgbClr val="8E2A55"/>
          </a:solidFill>
          <a:ln/>
        </p:spPr>
      </p:sp>
      <p:sp>
        <p:nvSpPr>
          <p:cNvPr id="63" name="Shape 61"/>
          <p:cNvSpPr/>
          <p:nvPr/>
        </p:nvSpPr>
        <p:spPr>
          <a:xfrm>
            <a:off x="3639312" y="2308860"/>
            <a:ext cx="274320" cy="228600"/>
          </a:xfrm>
          <a:prstGeom prst="ellipse">
            <a:avLst/>
          </a:prstGeom>
          <a:solidFill>
            <a:srgbClr val="E3B8C9"/>
          </a:solidFill>
          <a:ln w="9525">
            <a:solidFill>
              <a:srgbClr val="8E2A55"/>
            </a:solidFill>
            <a:prstDash val="solid"/>
          </a:ln>
        </p:spPr>
      </p:sp>
      <p:sp>
        <p:nvSpPr>
          <p:cNvPr id="64" name="Shape 62"/>
          <p:cNvSpPr/>
          <p:nvPr/>
        </p:nvSpPr>
        <p:spPr>
          <a:xfrm>
            <a:off x="3730752" y="2377440"/>
            <a:ext cx="91440" cy="91440"/>
          </a:xfrm>
          <a:prstGeom prst="ellipse">
            <a:avLst/>
          </a:prstGeom>
          <a:solidFill>
            <a:srgbClr val="8E2A55"/>
          </a:solidFill>
          <a:ln/>
        </p:spPr>
      </p:sp>
      <p:sp>
        <p:nvSpPr>
          <p:cNvPr id="65" name="Shape 63"/>
          <p:cNvSpPr/>
          <p:nvPr/>
        </p:nvSpPr>
        <p:spPr>
          <a:xfrm>
            <a:off x="3913632" y="2308860"/>
            <a:ext cx="274320" cy="228600"/>
          </a:xfrm>
          <a:prstGeom prst="ellipse">
            <a:avLst/>
          </a:prstGeom>
          <a:solidFill>
            <a:srgbClr val="E3B8C9"/>
          </a:solidFill>
          <a:ln w="9525">
            <a:solidFill>
              <a:srgbClr val="8E2A55"/>
            </a:solidFill>
            <a:prstDash val="solid"/>
          </a:ln>
        </p:spPr>
      </p:sp>
      <p:sp>
        <p:nvSpPr>
          <p:cNvPr id="66" name="Shape 64"/>
          <p:cNvSpPr/>
          <p:nvPr/>
        </p:nvSpPr>
        <p:spPr>
          <a:xfrm>
            <a:off x="4005072" y="2377440"/>
            <a:ext cx="91440" cy="91440"/>
          </a:xfrm>
          <a:prstGeom prst="ellipse">
            <a:avLst/>
          </a:prstGeom>
          <a:solidFill>
            <a:srgbClr val="8E2A55"/>
          </a:solidFill>
          <a:ln/>
        </p:spPr>
      </p:sp>
      <p:sp>
        <p:nvSpPr>
          <p:cNvPr id="67" name="Shape 65"/>
          <p:cNvSpPr/>
          <p:nvPr/>
        </p:nvSpPr>
        <p:spPr>
          <a:xfrm>
            <a:off x="4187952" y="2308860"/>
            <a:ext cx="274320" cy="228600"/>
          </a:xfrm>
          <a:prstGeom prst="ellipse">
            <a:avLst/>
          </a:prstGeom>
          <a:solidFill>
            <a:srgbClr val="E3B8C9"/>
          </a:solidFill>
          <a:ln w="9525">
            <a:solidFill>
              <a:srgbClr val="8E2A55"/>
            </a:solidFill>
            <a:prstDash val="solid"/>
          </a:ln>
        </p:spPr>
      </p:sp>
      <p:sp>
        <p:nvSpPr>
          <p:cNvPr id="68" name="Shape 66"/>
          <p:cNvSpPr/>
          <p:nvPr/>
        </p:nvSpPr>
        <p:spPr>
          <a:xfrm>
            <a:off x="4279392" y="2377440"/>
            <a:ext cx="91440" cy="91440"/>
          </a:xfrm>
          <a:prstGeom prst="ellipse">
            <a:avLst/>
          </a:prstGeom>
          <a:solidFill>
            <a:srgbClr val="8E2A55"/>
          </a:solidFill>
          <a:ln/>
        </p:spPr>
      </p:sp>
      <p:sp>
        <p:nvSpPr>
          <p:cNvPr id="69" name="Shape 67"/>
          <p:cNvSpPr/>
          <p:nvPr/>
        </p:nvSpPr>
        <p:spPr>
          <a:xfrm>
            <a:off x="3776472" y="2080260"/>
            <a:ext cx="274320" cy="228600"/>
          </a:xfrm>
          <a:prstGeom prst="ellipse">
            <a:avLst/>
          </a:prstGeom>
          <a:solidFill>
            <a:srgbClr val="E3B8C9"/>
          </a:solidFill>
          <a:ln w="9525">
            <a:solidFill>
              <a:srgbClr val="8E2A55"/>
            </a:solidFill>
            <a:prstDash val="solid"/>
          </a:ln>
        </p:spPr>
      </p:sp>
      <p:sp>
        <p:nvSpPr>
          <p:cNvPr id="70" name="Shape 68"/>
          <p:cNvSpPr/>
          <p:nvPr/>
        </p:nvSpPr>
        <p:spPr>
          <a:xfrm>
            <a:off x="3867912" y="2148840"/>
            <a:ext cx="91440" cy="91440"/>
          </a:xfrm>
          <a:prstGeom prst="ellipse">
            <a:avLst/>
          </a:prstGeom>
          <a:solidFill>
            <a:srgbClr val="8E2A55"/>
          </a:solidFill>
          <a:ln/>
        </p:spPr>
      </p:sp>
      <p:sp>
        <p:nvSpPr>
          <p:cNvPr id="71" name="Shape 69"/>
          <p:cNvSpPr/>
          <p:nvPr/>
        </p:nvSpPr>
        <p:spPr>
          <a:xfrm>
            <a:off x="4050792" y="2080260"/>
            <a:ext cx="274320" cy="228600"/>
          </a:xfrm>
          <a:prstGeom prst="ellipse">
            <a:avLst/>
          </a:prstGeom>
          <a:solidFill>
            <a:srgbClr val="E3B8C9"/>
          </a:solidFill>
          <a:ln w="9525">
            <a:solidFill>
              <a:srgbClr val="8E2A55"/>
            </a:solidFill>
            <a:prstDash val="solid"/>
          </a:ln>
        </p:spPr>
      </p:sp>
      <p:sp>
        <p:nvSpPr>
          <p:cNvPr id="72" name="Shape 70"/>
          <p:cNvSpPr/>
          <p:nvPr/>
        </p:nvSpPr>
        <p:spPr>
          <a:xfrm>
            <a:off x="4142232" y="2148840"/>
            <a:ext cx="91440" cy="91440"/>
          </a:xfrm>
          <a:prstGeom prst="ellipse">
            <a:avLst/>
          </a:prstGeom>
          <a:solidFill>
            <a:srgbClr val="8E2A55"/>
          </a:solidFill>
          <a:ln/>
        </p:spPr>
      </p:sp>
      <p:sp>
        <p:nvSpPr>
          <p:cNvPr id="73" name="Text 71"/>
          <p:cNvSpPr/>
          <p:nvPr/>
        </p:nvSpPr>
        <p:spPr>
          <a:xfrm>
            <a:off x="3291840" y="1554480"/>
            <a:ext cx="1645920" cy="457200"/>
          </a:xfrm>
          <a:prstGeom prst="rect">
            <a:avLst/>
          </a:prstGeom>
          <a:noFill/>
          <a:ln/>
        </p:spPr>
        <p:txBody>
          <a:bodyPr wrap="square" lIns="0" tIns="0" rIns="0" bIns="0" rtlCol="0" anchor="t"/>
          <a:lstStyle/>
          <a:p>
            <a:pPr algn="ctr" indent="0" marL="0">
              <a:buNone/>
            </a:pPr>
            <a:r>
              <a:rPr lang="en-US" sz="1050" b="1" dirty="0">
                <a:solidFill>
                  <a:srgbClr val="8E2A55"/>
                </a:solidFill>
                <a:latin typeface="Calibri" pitchFamily="34" charset="0"/>
                <a:ea typeface="Calibri" pitchFamily="34" charset="-122"/>
                <a:cs typeface="Calibri" pitchFamily="34" charset="-120"/>
              </a:rPr>
              <a:t>tumour</a:t>
            </a:r>
            <a:r>
              <a:rPr lang="en-US" sz="1050" dirty="0">
                <a:solidFill>
                  <a:srgbClr val="8E2A55"/>
                </a:solidFill>
                <a:latin typeface="Calibri" pitchFamily="34" charset="0"/>
                <a:ea typeface="Calibri" pitchFamily="34" charset="-122"/>
                <a:cs typeface="Calibri" pitchFamily="34" charset="-120"/>
              </a:rPr>
              <a:t>: a lump of cells dividing out of control</a:t>
            </a:r>
            <a:endParaRPr lang="en-US" sz="1050" dirty="0"/>
          </a:p>
        </p:txBody>
      </p:sp>
      <p:sp>
        <p:nvSpPr>
          <p:cNvPr id="74" name="Text 72"/>
          <p:cNvSpPr/>
          <p:nvPr/>
        </p:nvSpPr>
        <p:spPr>
          <a:xfrm>
            <a:off x="640080" y="2057400"/>
            <a:ext cx="246888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1  A </a:t>
            </a:r>
            <a:r>
              <a:rPr lang="en-US" sz="1050" b="1" dirty="0">
                <a:solidFill>
                  <a:srgbClr val="262B3A"/>
                </a:solidFill>
                <a:latin typeface="Calibri" pitchFamily="34" charset="0"/>
                <a:ea typeface="Calibri" pitchFamily="34" charset="-122"/>
                <a:cs typeface="Calibri" pitchFamily="34" charset="-120"/>
              </a:rPr>
              <a:t>change (mutation)</a:t>
            </a:r>
            <a:r>
              <a:rPr lang="en-US" sz="1050" dirty="0">
                <a:solidFill>
                  <a:srgbClr val="262B3A"/>
                </a:solidFill>
                <a:latin typeface="Calibri" pitchFamily="34" charset="0"/>
                <a:ea typeface="Calibri" pitchFamily="34" charset="-122"/>
                <a:cs typeface="Calibri" pitchFamily="34" charset="-120"/>
              </a:rPr>
              <a:t> in the genes that control the cell cycle</a:t>
            </a:r>
            <a:endParaRPr lang="en-US" sz="1050" dirty="0"/>
          </a:p>
        </p:txBody>
      </p:sp>
      <p:sp>
        <p:nvSpPr>
          <p:cNvPr id="75" name="Shape 73"/>
          <p:cNvSpPr/>
          <p:nvPr/>
        </p:nvSpPr>
        <p:spPr>
          <a:xfrm>
            <a:off x="2697480" y="2514600"/>
            <a:ext cx="502920" cy="457200"/>
          </a:xfrm>
          <a:prstGeom prst="line">
            <a:avLst/>
          </a:prstGeom>
          <a:noFill/>
          <a:ln w="19050">
            <a:solidFill>
              <a:srgbClr val="C8414C"/>
            </a:solidFill>
            <a:prstDash val="solid"/>
            <a:tailEnd type="triangle"/>
          </a:ln>
        </p:spPr>
      </p:sp>
      <p:sp>
        <p:nvSpPr>
          <p:cNvPr id="76" name="Text 74"/>
          <p:cNvSpPr/>
          <p:nvPr/>
        </p:nvSpPr>
        <p:spPr>
          <a:xfrm>
            <a:off x="640080" y="2514600"/>
            <a:ext cx="2011680" cy="4114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2  The cell keeps dividing by </a:t>
            </a:r>
            <a:r>
              <a:rPr lang="en-US" sz="1050" b="1" dirty="0">
                <a:solidFill>
                  <a:srgbClr val="262B3A"/>
                </a:solidFill>
                <a:latin typeface="Calibri" pitchFamily="34" charset="0"/>
                <a:ea typeface="Calibri" pitchFamily="34" charset="-122"/>
                <a:cs typeface="Calibri" pitchFamily="34" charset="-120"/>
              </a:rPr>
              <a:t>mitosis</a:t>
            </a:r>
            <a:endParaRPr lang="en-US" sz="1050" dirty="0"/>
          </a:p>
        </p:txBody>
      </p:sp>
      <p:sp>
        <p:nvSpPr>
          <p:cNvPr id="77" name="Shape 75"/>
          <p:cNvSpPr/>
          <p:nvPr/>
        </p:nvSpPr>
        <p:spPr>
          <a:xfrm>
            <a:off x="640080" y="3931920"/>
            <a:ext cx="4983480" cy="502920"/>
          </a:xfrm>
          <a:prstGeom prst="roundRect">
            <a:avLst>
              <a:gd name="adj" fmla="val 45455"/>
            </a:avLst>
          </a:prstGeom>
          <a:solidFill>
            <a:srgbClr val="F6C9CC"/>
          </a:solidFill>
          <a:ln w="15875">
            <a:solidFill>
              <a:srgbClr val="C8414C"/>
            </a:solidFill>
            <a:prstDash val="solid"/>
          </a:ln>
        </p:spPr>
      </p:sp>
      <p:sp>
        <p:nvSpPr>
          <p:cNvPr id="78" name="Text 76"/>
          <p:cNvSpPr/>
          <p:nvPr/>
        </p:nvSpPr>
        <p:spPr>
          <a:xfrm>
            <a:off x="731520" y="3931920"/>
            <a:ext cx="1463040" cy="502920"/>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blood vessel</a:t>
            </a:r>
            <a:endParaRPr lang="en-US" sz="1000" dirty="0"/>
          </a:p>
        </p:txBody>
      </p:sp>
      <p:sp>
        <p:nvSpPr>
          <p:cNvPr id="79" name="Shape 77"/>
          <p:cNvSpPr/>
          <p:nvPr/>
        </p:nvSpPr>
        <p:spPr>
          <a:xfrm>
            <a:off x="3922776" y="3575304"/>
            <a:ext cx="201168" cy="164592"/>
          </a:xfrm>
          <a:prstGeom prst="ellipse">
            <a:avLst/>
          </a:prstGeom>
          <a:solidFill>
            <a:srgbClr val="E3B8C9"/>
          </a:solidFill>
          <a:ln w="12700">
            <a:solidFill>
              <a:srgbClr val="8E2A55"/>
            </a:solidFill>
            <a:prstDash val="solid"/>
          </a:ln>
        </p:spPr>
      </p:sp>
      <p:sp>
        <p:nvSpPr>
          <p:cNvPr id="80" name="Shape 78"/>
          <p:cNvSpPr/>
          <p:nvPr/>
        </p:nvSpPr>
        <p:spPr>
          <a:xfrm>
            <a:off x="4023360" y="3566160"/>
            <a:ext cx="91" cy="320040"/>
          </a:xfrm>
          <a:prstGeom prst="line">
            <a:avLst/>
          </a:prstGeom>
          <a:noFill/>
          <a:ln w="15875">
            <a:solidFill>
              <a:srgbClr val="8E2A55"/>
            </a:solidFill>
            <a:prstDash val="solid"/>
            <a:tailEnd type="triangle"/>
          </a:ln>
        </p:spPr>
      </p:sp>
      <p:sp>
        <p:nvSpPr>
          <p:cNvPr id="81" name="Shape 79"/>
          <p:cNvSpPr/>
          <p:nvPr/>
        </p:nvSpPr>
        <p:spPr>
          <a:xfrm>
            <a:off x="4837176" y="4096512"/>
            <a:ext cx="201168" cy="164592"/>
          </a:xfrm>
          <a:prstGeom prst="ellipse">
            <a:avLst/>
          </a:prstGeom>
          <a:solidFill>
            <a:srgbClr val="E3B8C9"/>
          </a:solidFill>
          <a:ln w="12700">
            <a:solidFill>
              <a:srgbClr val="8E2A55"/>
            </a:solidFill>
            <a:prstDash val="solid"/>
          </a:ln>
        </p:spPr>
      </p:sp>
      <p:sp>
        <p:nvSpPr>
          <p:cNvPr id="82" name="Shape 80"/>
          <p:cNvSpPr/>
          <p:nvPr/>
        </p:nvSpPr>
        <p:spPr>
          <a:xfrm>
            <a:off x="4206240" y="4178808"/>
            <a:ext cx="594360" cy="91"/>
          </a:xfrm>
          <a:prstGeom prst="line">
            <a:avLst/>
          </a:prstGeom>
          <a:noFill/>
          <a:ln w="15875">
            <a:solidFill>
              <a:srgbClr val="8E2A55"/>
            </a:solidFill>
            <a:prstDash val="solid"/>
            <a:tailEnd type="triangle"/>
          </a:ln>
        </p:spPr>
      </p:sp>
      <p:sp>
        <p:nvSpPr>
          <p:cNvPr id="83" name="Text 81"/>
          <p:cNvSpPr/>
          <p:nvPr/>
        </p:nvSpPr>
        <p:spPr>
          <a:xfrm>
            <a:off x="640080" y="4526280"/>
            <a:ext cx="4983480" cy="54864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3  </a:t>
            </a:r>
            <a:r>
              <a:rPr lang="en-US" sz="1050" b="1" dirty="0">
                <a:solidFill>
                  <a:srgbClr val="262B3A"/>
                </a:solidFill>
                <a:latin typeface="Calibri" pitchFamily="34" charset="0"/>
                <a:ea typeface="Calibri" pitchFamily="34" charset="-122"/>
                <a:cs typeface="Calibri" pitchFamily="34" charset="-120"/>
              </a:rPr>
              <a:t>Malignant</a:t>
            </a:r>
            <a:r>
              <a:rPr lang="en-US" sz="1050" dirty="0">
                <a:solidFill>
                  <a:srgbClr val="262B3A"/>
                </a:solidFill>
                <a:latin typeface="Calibri" pitchFamily="34" charset="0"/>
                <a:ea typeface="Calibri" pitchFamily="34" charset="-122"/>
                <a:cs typeface="Calibri" pitchFamily="34" charset="-120"/>
              </a:rPr>
              <a:t>: cells invade nearby tissue and spread in the blood → secondary tumours. </a:t>
            </a:r>
            <a:r>
              <a:rPr lang="en-US" sz="1050" b="1" dirty="0">
                <a:solidFill>
                  <a:srgbClr val="262B3A"/>
                </a:solidFill>
                <a:latin typeface="Calibri" pitchFamily="34" charset="0"/>
                <a:ea typeface="Calibri" pitchFamily="34" charset="-122"/>
                <a:cs typeface="Calibri" pitchFamily="34" charset="-120"/>
              </a:rPr>
              <a:t>Benign</a:t>
            </a:r>
            <a:r>
              <a:rPr lang="en-US" sz="1050" dirty="0">
                <a:solidFill>
                  <a:srgbClr val="262B3A"/>
                </a:solidFill>
                <a:latin typeface="Calibri" pitchFamily="34" charset="0"/>
                <a:ea typeface="Calibri" pitchFamily="34" charset="-122"/>
                <a:cs typeface="Calibri" pitchFamily="34" charset="-120"/>
              </a:rPr>
              <a:t>: stays in one place.</a:t>
            </a:r>
            <a:endParaRPr lang="en-US" sz="1050" dirty="0"/>
          </a:p>
        </p:txBody>
      </p:sp>
      <p:sp>
        <p:nvSpPr>
          <p:cNvPr id="84" name="Shape 82"/>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85" name="Text 8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Uncontrolled cell division</a:t>
            </a:r>
            <a:endParaRPr lang="en-US" sz="1300" dirty="0"/>
          </a:p>
        </p:txBody>
      </p:sp>
      <p:sp>
        <p:nvSpPr>
          <p:cNvPr id="86" name="Text 8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Normally, </a:t>
            </a:r>
            <a:r>
              <a:rPr lang="en-US" sz="1100" b="1" dirty="0">
                <a:solidFill>
                  <a:srgbClr val="262B3A"/>
                </a:solidFill>
                <a:latin typeface="Calibri" pitchFamily="34" charset="0"/>
                <a:ea typeface="Calibri" pitchFamily="34" charset="-122"/>
                <a:cs typeface="Calibri" pitchFamily="34" charset="-120"/>
              </a:rPr>
              <a:t>genes</a:t>
            </a:r>
            <a:r>
              <a:rPr lang="en-US" sz="1100" dirty="0">
                <a:solidFill>
                  <a:srgbClr val="262B3A"/>
                </a:solidFill>
                <a:latin typeface="Calibri" pitchFamily="34" charset="0"/>
                <a:ea typeface="Calibri" pitchFamily="34" charset="-122"/>
                <a:cs typeface="Calibri" pitchFamily="34" charset="-120"/>
              </a:rPr>
              <a:t> control when a cell divides and when it stops.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these genes are </a:t>
            </a:r>
            <a:r>
              <a:rPr lang="en-US" sz="1100" b="1" dirty="0">
                <a:solidFill>
                  <a:srgbClr val="262B3A"/>
                </a:solidFill>
                <a:latin typeface="Calibri" pitchFamily="34" charset="0"/>
                <a:ea typeface="Calibri" pitchFamily="34" charset="-122"/>
                <a:cs typeface="Calibri" pitchFamily="34" charset="-120"/>
              </a:rPr>
              <a:t>changed (mutated)</a:t>
            </a:r>
            <a:r>
              <a:rPr lang="en-US" sz="1100" dirty="0">
                <a:solidFill>
                  <a:srgbClr val="262B3A"/>
                </a:solidFill>
                <a:latin typeface="Calibri" pitchFamily="34" charset="0"/>
                <a:ea typeface="Calibri" pitchFamily="34" charset="-122"/>
                <a:cs typeface="Calibri" pitchFamily="34" charset="-120"/>
              </a:rPr>
              <a:t>, a cell can divide </a:t>
            </a:r>
            <a:r>
              <a:rPr lang="en-US" sz="1100" b="1" dirty="0">
                <a:solidFill>
                  <a:srgbClr val="262B3A"/>
                </a:solidFill>
                <a:latin typeface="Calibri" pitchFamily="34" charset="0"/>
                <a:ea typeface="Calibri" pitchFamily="34" charset="-122"/>
                <a:cs typeface="Calibri" pitchFamily="34" charset="-120"/>
              </a:rPr>
              <a:t>uncontrollably</a:t>
            </a:r>
            <a:r>
              <a:rPr lang="en-US" sz="1100" dirty="0">
                <a:solidFill>
                  <a:srgbClr val="262B3A"/>
                </a:solidFill>
                <a:latin typeface="Calibri" pitchFamily="34" charset="0"/>
                <a:ea typeface="Calibri" pitchFamily="34" charset="-122"/>
                <a:cs typeface="Calibri" pitchFamily="34" charset="-120"/>
              </a:rPr>
              <a:t> by mitosis.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extra cells form a lump called a </a:t>
            </a:r>
            <a:r>
              <a:rPr lang="en-US" sz="1100" b="1" dirty="0">
                <a:solidFill>
                  <a:srgbClr val="262B3A"/>
                </a:solidFill>
                <a:latin typeface="Calibri" pitchFamily="34" charset="0"/>
                <a:ea typeface="Calibri" pitchFamily="34" charset="-122"/>
                <a:cs typeface="Calibri" pitchFamily="34" charset="-120"/>
              </a:rPr>
              <a:t>tumour</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Cancer</a:t>
            </a:r>
            <a:r>
              <a:rPr lang="en-US" sz="1100" dirty="0">
                <a:solidFill>
                  <a:srgbClr val="262B3A"/>
                </a:solidFill>
                <a:latin typeface="Calibri" pitchFamily="34" charset="0"/>
                <a:ea typeface="Calibri" pitchFamily="34" charset="-122"/>
                <a:cs typeface="Calibri" pitchFamily="34" charset="-120"/>
              </a:rPr>
              <a:t> is a malignant tumour that can spread.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Changes are more likely with </a:t>
            </a:r>
            <a:r>
              <a:rPr lang="en-US" sz="1100" b="1" dirty="0">
                <a:solidFill>
                  <a:srgbClr val="262B3A"/>
                </a:solidFill>
                <a:latin typeface="Calibri" pitchFamily="34" charset="0"/>
                <a:ea typeface="Calibri" pitchFamily="34" charset="-122"/>
                <a:cs typeface="Calibri" pitchFamily="34" charset="-120"/>
              </a:rPr>
              <a:t>UV light</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tobacco smoke</a:t>
            </a:r>
            <a:r>
              <a:rPr lang="en-US" sz="1100" dirty="0">
                <a:solidFill>
                  <a:srgbClr val="262B3A"/>
                </a:solidFill>
                <a:latin typeface="Calibri" pitchFamily="34" charset="0"/>
                <a:ea typeface="Calibri" pitchFamily="34" charset="-122"/>
                <a:cs typeface="Calibri" pitchFamily="34" charset="-120"/>
              </a:rPr>
              <a:t> and other </a:t>
            </a:r>
            <a:r>
              <a:rPr lang="en-US" sz="1100" b="1" dirty="0">
                <a:solidFill>
                  <a:srgbClr val="262B3A"/>
                </a:solidFill>
                <a:latin typeface="Calibri" pitchFamily="34" charset="0"/>
                <a:ea typeface="Calibri" pitchFamily="34" charset="-122"/>
                <a:cs typeface="Calibri" pitchFamily="34" charset="-120"/>
              </a:rPr>
              <a:t>carcinogens</a:t>
            </a:r>
            <a:r>
              <a:rPr lang="en-US" sz="1100" dirty="0">
                <a:solidFill>
                  <a:srgbClr val="262B3A"/>
                </a:solidFill>
                <a:latin typeface="Calibri" pitchFamily="34" charset="0"/>
                <a:ea typeface="Calibri" pitchFamily="34" charset="-122"/>
                <a:cs typeface="Calibri" pitchFamily="34" charset="-120"/>
              </a:rPr>
              <a:t>, and ionising radiation.</a:t>
            </a:r>
            <a:endParaRPr lang="en-US" sz="1100" dirty="0"/>
          </a:p>
        </p:txBody>
      </p:sp>
      <p:sp>
        <p:nvSpPr>
          <p:cNvPr id="87" name="Shape 8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8" name="Text 8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tumour growth</a:t>
            </a:r>
            <a:endParaRPr lang="en-US" sz="1300" dirty="0"/>
          </a:p>
        </p:txBody>
      </p:sp>
      <p:sp>
        <p:nvSpPr>
          <p:cNvPr id="89" name="Text 8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tumour cell divides every 3 days, and so do all its daughter cells. How many cells are there after 30 days?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Divisions   </a:t>
            </a:r>
            <a:r>
              <a:rPr lang="en-US" sz="1050" dirty="0">
                <a:solidFill>
                  <a:srgbClr val="262B3A"/>
                </a:solidFill>
                <a:latin typeface="Calibri" pitchFamily="34" charset="0"/>
                <a:ea typeface="Calibri" pitchFamily="34" charset="-122"/>
                <a:cs typeface="Calibri" pitchFamily="34" charset="-120"/>
              </a:rPr>
              <a:t>30 ÷ 3 = 10 rounds of division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Rule   </a:t>
            </a:r>
            <a:r>
              <a:rPr lang="en-US" sz="1050" dirty="0">
                <a:solidFill>
                  <a:srgbClr val="262B3A"/>
                </a:solidFill>
                <a:latin typeface="Calibri" pitchFamily="34" charset="0"/>
                <a:ea typeface="Calibri" pitchFamily="34" charset="-122"/>
                <a:cs typeface="Calibri" pitchFamily="34" charset="-120"/>
              </a:rPr>
              <a:t>cells = 2ⁿ</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cells = 2¹⁰</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1024 cells from one cell</a:t>
            </a:r>
            <a:endParaRPr lang="en-US" sz="1050" dirty="0"/>
          </a:p>
        </p:txBody>
      </p:sp>
      <p:sp>
        <p:nvSpPr>
          <p:cNvPr id="90" name="Shape 88"/>
          <p:cNvSpPr/>
          <p:nvPr/>
        </p:nvSpPr>
        <p:spPr>
          <a:xfrm>
            <a:off x="411480" y="5833872"/>
            <a:ext cx="11368735" cy="530352"/>
          </a:xfrm>
          <a:prstGeom prst="rect">
            <a:avLst/>
          </a:prstGeom>
          <a:solidFill>
            <a:srgbClr val="FFF4E0"/>
          </a:solidFill>
          <a:ln w="6350">
            <a:solidFill>
              <a:srgbClr val="F1D9A8"/>
            </a:solidFill>
            <a:prstDash val="solid"/>
          </a:ln>
        </p:spPr>
      </p:sp>
      <p:sp>
        <p:nvSpPr>
          <p:cNvPr id="91" name="Shape 89"/>
          <p:cNvSpPr/>
          <p:nvPr/>
        </p:nvSpPr>
        <p:spPr>
          <a:xfrm>
            <a:off x="411480" y="5833872"/>
            <a:ext cx="82296" cy="530352"/>
          </a:xfrm>
          <a:prstGeom prst="rect">
            <a:avLst/>
          </a:prstGeom>
          <a:solidFill>
            <a:srgbClr val="E39A2F"/>
          </a:solidFill>
          <a:ln w="12700">
            <a:solidFill>
              <a:srgbClr val="E39A2F"/>
            </a:solidFill>
            <a:prstDash val="solid"/>
          </a:ln>
        </p:spPr>
      </p:sp>
      <p:sp>
        <p:nvSpPr>
          <p:cNvPr id="92" name="Text 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Some cancer drugs stop cells dividing by mitosis. Suggest why patients taking them often lose their </a:t>
            </a:r>
            <a:r>
              <a:rPr lang="en-US" sz="1150" b="1" dirty="0">
                <a:solidFill>
                  <a:srgbClr val="262B3A"/>
                </a:solidFill>
                <a:latin typeface="Calibri" pitchFamily="34" charset="0"/>
                <a:ea typeface="Calibri" pitchFamily="34" charset="-122"/>
                <a:cs typeface="Calibri" pitchFamily="34" charset="-120"/>
              </a:rPr>
              <a:t>hair</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Mitosis compared with meiosis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B4.3.3 • recap of meiosis (B1.2): halving the chromosome number to make gametes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B4.3.3  |  16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body cell 2n = 4: mitosis (top) and meiosis (bottom)</a:t>
            </a:r>
            <a:endParaRPr lang="en-US" sz="1000" dirty="0"/>
          </a:p>
        </p:txBody>
      </p:sp>
      <p:sp>
        <p:nvSpPr>
          <p:cNvPr id="10" name="Text 8"/>
          <p:cNvSpPr/>
          <p:nvPr/>
        </p:nvSpPr>
        <p:spPr>
          <a:xfrm>
            <a:off x="594360" y="1280160"/>
            <a:ext cx="1828800" cy="256032"/>
          </a:xfrm>
          <a:prstGeom prst="rect">
            <a:avLst/>
          </a:prstGeom>
          <a:noFill/>
          <a:ln/>
        </p:spPr>
        <p:txBody>
          <a:bodyPr wrap="square" lIns="0" tIns="0" rIns="0" bIns="0" rtlCol="0" anchor="ctr"/>
          <a:lstStyle/>
          <a:p>
            <a:pPr algn="l" indent="0" marL="0">
              <a:buNone/>
            </a:pPr>
            <a:r>
              <a:rPr lang="en-US" sz="1200" b="1" dirty="0">
                <a:solidFill>
                  <a:srgbClr val="0D7877"/>
                </a:solidFill>
                <a:latin typeface="Calibri" pitchFamily="34" charset="0"/>
                <a:ea typeface="Calibri" pitchFamily="34" charset="-122"/>
                <a:cs typeface="Calibri" pitchFamily="34" charset="-120"/>
              </a:rPr>
              <a:t>Mitosis</a:t>
            </a:r>
            <a:endParaRPr lang="en-US" sz="1200" dirty="0"/>
          </a:p>
        </p:txBody>
      </p:sp>
      <p:sp>
        <p:nvSpPr>
          <p:cNvPr id="11" name="Shape 9"/>
          <p:cNvSpPr/>
          <p:nvPr/>
        </p:nvSpPr>
        <p:spPr>
          <a:xfrm>
            <a:off x="708660" y="1851660"/>
            <a:ext cx="868680" cy="685800"/>
          </a:xfrm>
          <a:prstGeom prst="ellipse">
            <a:avLst/>
          </a:prstGeom>
          <a:solidFill>
            <a:srgbClr val="FBF3DF"/>
          </a:solidFill>
          <a:ln w="19050">
            <a:solidFill>
              <a:srgbClr val="8A6D3B"/>
            </a:solidFill>
            <a:prstDash val="solid"/>
          </a:ln>
        </p:spPr>
      </p:sp>
      <p:sp>
        <p:nvSpPr>
          <p:cNvPr id="12" name="Shape 10"/>
          <p:cNvSpPr/>
          <p:nvPr/>
        </p:nvSpPr>
        <p:spPr>
          <a:xfrm>
            <a:off x="896112" y="1947672"/>
            <a:ext cx="493776" cy="493776"/>
          </a:xfrm>
          <a:prstGeom prst="ellipse">
            <a:avLst/>
          </a:prstGeom>
          <a:solidFill>
            <a:srgbClr val="E7DDF3"/>
          </a:solidFill>
          <a:ln w="15875">
            <a:solidFill>
              <a:srgbClr val="6A4C93"/>
            </a:solidFill>
            <a:prstDash val="solid"/>
          </a:ln>
        </p:spPr>
      </p:sp>
      <p:sp>
        <p:nvSpPr>
          <p:cNvPr id="13" name="Shape 11"/>
          <p:cNvSpPr/>
          <p:nvPr/>
        </p:nvSpPr>
        <p:spPr>
          <a:xfrm rot="900000">
            <a:off x="1024128" y="2002536"/>
            <a:ext cx="54864" cy="256032"/>
          </a:xfrm>
          <a:prstGeom prst="roundRect">
            <a:avLst>
              <a:gd name="adj" fmla="val 50000"/>
            </a:avLst>
          </a:prstGeom>
          <a:solidFill>
            <a:srgbClr val="D9534F"/>
          </a:solidFill>
          <a:ln w="9525">
            <a:solidFill>
              <a:srgbClr val="8E2A33"/>
            </a:solidFill>
            <a:prstDash val="solid"/>
          </a:ln>
        </p:spPr>
      </p:sp>
      <p:sp>
        <p:nvSpPr>
          <p:cNvPr id="14" name="Shape 12"/>
          <p:cNvSpPr/>
          <p:nvPr/>
        </p:nvSpPr>
        <p:spPr>
          <a:xfrm rot="-1200000">
            <a:off x="1207008" y="1993392"/>
            <a:ext cx="54864" cy="256032"/>
          </a:xfrm>
          <a:prstGeom prst="roundRect">
            <a:avLst>
              <a:gd name="adj" fmla="val 50000"/>
            </a:avLst>
          </a:prstGeom>
          <a:solidFill>
            <a:srgbClr val="3B7DD8"/>
          </a:solidFill>
          <a:ln w="9525">
            <a:solidFill>
              <a:srgbClr val="1F4E8C"/>
            </a:solidFill>
            <a:prstDash val="solid"/>
          </a:ln>
        </p:spPr>
      </p:sp>
      <p:sp>
        <p:nvSpPr>
          <p:cNvPr id="15" name="Shape 13"/>
          <p:cNvSpPr/>
          <p:nvPr/>
        </p:nvSpPr>
        <p:spPr>
          <a:xfrm rot="3600000">
            <a:off x="1042416" y="2226564"/>
            <a:ext cx="54864" cy="155448"/>
          </a:xfrm>
          <a:prstGeom prst="roundRect">
            <a:avLst>
              <a:gd name="adj" fmla="val 50000"/>
            </a:avLst>
          </a:prstGeom>
          <a:solidFill>
            <a:srgbClr val="F2A0A6"/>
          </a:solidFill>
          <a:ln w="9525">
            <a:solidFill>
              <a:srgbClr val="B5545C"/>
            </a:solidFill>
            <a:prstDash val="solid"/>
          </a:ln>
        </p:spPr>
      </p:sp>
      <p:sp>
        <p:nvSpPr>
          <p:cNvPr id="16" name="Shape 14"/>
          <p:cNvSpPr/>
          <p:nvPr/>
        </p:nvSpPr>
        <p:spPr>
          <a:xfrm rot="1200000">
            <a:off x="1216152" y="2217420"/>
            <a:ext cx="54864" cy="155448"/>
          </a:xfrm>
          <a:prstGeom prst="roundRect">
            <a:avLst>
              <a:gd name="adj" fmla="val 50000"/>
            </a:avLst>
          </a:prstGeom>
          <a:solidFill>
            <a:srgbClr val="9CC3F0"/>
          </a:solidFill>
          <a:ln w="9525">
            <a:solidFill>
              <a:srgbClr val="4F7FB8"/>
            </a:solidFill>
            <a:prstDash val="solid"/>
          </a:ln>
        </p:spPr>
      </p:sp>
      <p:sp>
        <p:nvSpPr>
          <p:cNvPr id="17" name="Shape 15"/>
          <p:cNvSpPr/>
          <p:nvPr/>
        </p:nvSpPr>
        <p:spPr>
          <a:xfrm flipV="1">
            <a:off x="1645920" y="1783080"/>
            <a:ext cx="640080" cy="411480"/>
          </a:xfrm>
          <a:prstGeom prst="line">
            <a:avLst/>
          </a:prstGeom>
          <a:noFill/>
          <a:ln w="22225">
            <a:solidFill>
              <a:srgbClr val="133536"/>
            </a:solidFill>
            <a:prstDash val="solid"/>
            <a:tailEnd type="triangle"/>
          </a:ln>
        </p:spPr>
      </p:sp>
      <p:sp>
        <p:nvSpPr>
          <p:cNvPr id="18" name="Shape 16"/>
          <p:cNvSpPr/>
          <p:nvPr/>
        </p:nvSpPr>
        <p:spPr>
          <a:xfrm>
            <a:off x="1645920" y="2194560"/>
            <a:ext cx="640080" cy="411480"/>
          </a:xfrm>
          <a:prstGeom prst="line">
            <a:avLst/>
          </a:prstGeom>
          <a:noFill/>
          <a:ln w="22225">
            <a:solidFill>
              <a:srgbClr val="133536"/>
            </a:solidFill>
            <a:prstDash val="solid"/>
            <a:tailEnd type="triangle"/>
          </a:ln>
        </p:spPr>
      </p:sp>
      <p:sp>
        <p:nvSpPr>
          <p:cNvPr id="19" name="Shape 17"/>
          <p:cNvSpPr/>
          <p:nvPr/>
        </p:nvSpPr>
        <p:spPr>
          <a:xfrm>
            <a:off x="2398014" y="1428750"/>
            <a:ext cx="781812" cy="617220"/>
          </a:xfrm>
          <a:prstGeom prst="ellipse">
            <a:avLst/>
          </a:prstGeom>
          <a:solidFill>
            <a:srgbClr val="FBF3DF"/>
          </a:solidFill>
          <a:ln w="19050">
            <a:solidFill>
              <a:srgbClr val="8A6D3B"/>
            </a:solidFill>
            <a:prstDash val="solid"/>
          </a:ln>
        </p:spPr>
      </p:sp>
      <p:sp>
        <p:nvSpPr>
          <p:cNvPr id="20" name="Shape 18"/>
          <p:cNvSpPr/>
          <p:nvPr/>
        </p:nvSpPr>
        <p:spPr>
          <a:xfrm>
            <a:off x="2566721" y="1515161"/>
            <a:ext cx="444398" cy="444398"/>
          </a:xfrm>
          <a:prstGeom prst="ellipse">
            <a:avLst/>
          </a:prstGeom>
          <a:solidFill>
            <a:srgbClr val="E7DDF3"/>
          </a:solidFill>
          <a:ln w="15875">
            <a:solidFill>
              <a:srgbClr val="6A4C93"/>
            </a:solidFill>
            <a:prstDash val="solid"/>
          </a:ln>
        </p:spPr>
      </p:sp>
      <p:sp>
        <p:nvSpPr>
          <p:cNvPr id="21" name="Shape 19"/>
          <p:cNvSpPr/>
          <p:nvPr/>
        </p:nvSpPr>
        <p:spPr>
          <a:xfrm rot="900000">
            <a:off x="2681935" y="1564538"/>
            <a:ext cx="49378" cy="230429"/>
          </a:xfrm>
          <a:prstGeom prst="roundRect">
            <a:avLst>
              <a:gd name="adj" fmla="val 50000"/>
            </a:avLst>
          </a:prstGeom>
          <a:solidFill>
            <a:srgbClr val="D9534F"/>
          </a:solidFill>
          <a:ln w="9525">
            <a:solidFill>
              <a:srgbClr val="8E2A33"/>
            </a:solidFill>
            <a:prstDash val="solid"/>
          </a:ln>
        </p:spPr>
      </p:sp>
      <p:sp>
        <p:nvSpPr>
          <p:cNvPr id="22" name="Shape 20"/>
          <p:cNvSpPr/>
          <p:nvPr/>
        </p:nvSpPr>
        <p:spPr>
          <a:xfrm rot="-1200000">
            <a:off x="2846527" y="1556309"/>
            <a:ext cx="49378" cy="230429"/>
          </a:xfrm>
          <a:prstGeom prst="roundRect">
            <a:avLst>
              <a:gd name="adj" fmla="val 50000"/>
            </a:avLst>
          </a:prstGeom>
          <a:solidFill>
            <a:srgbClr val="3B7DD8"/>
          </a:solidFill>
          <a:ln w="9525">
            <a:solidFill>
              <a:srgbClr val="1F4E8C"/>
            </a:solidFill>
            <a:prstDash val="solid"/>
          </a:ln>
        </p:spPr>
      </p:sp>
      <p:sp>
        <p:nvSpPr>
          <p:cNvPr id="23" name="Shape 21"/>
          <p:cNvSpPr/>
          <p:nvPr/>
        </p:nvSpPr>
        <p:spPr>
          <a:xfrm rot="3600000">
            <a:off x="2698394" y="1766164"/>
            <a:ext cx="49378" cy="139903"/>
          </a:xfrm>
          <a:prstGeom prst="roundRect">
            <a:avLst>
              <a:gd name="adj" fmla="val 50000"/>
            </a:avLst>
          </a:prstGeom>
          <a:solidFill>
            <a:srgbClr val="F2A0A6"/>
          </a:solidFill>
          <a:ln w="9525">
            <a:solidFill>
              <a:srgbClr val="B5545C"/>
            </a:solidFill>
            <a:prstDash val="solid"/>
          </a:ln>
        </p:spPr>
      </p:sp>
      <p:sp>
        <p:nvSpPr>
          <p:cNvPr id="24" name="Shape 22"/>
          <p:cNvSpPr/>
          <p:nvPr/>
        </p:nvSpPr>
        <p:spPr>
          <a:xfrm rot="1200000">
            <a:off x="2854757" y="1757934"/>
            <a:ext cx="49378" cy="139903"/>
          </a:xfrm>
          <a:prstGeom prst="roundRect">
            <a:avLst>
              <a:gd name="adj" fmla="val 50000"/>
            </a:avLst>
          </a:prstGeom>
          <a:solidFill>
            <a:srgbClr val="9CC3F0"/>
          </a:solidFill>
          <a:ln w="9525">
            <a:solidFill>
              <a:srgbClr val="4F7FB8"/>
            </a:solidFill>
            <a:prstDash val="solid"/>
          </a:ln>
        </p:spPr>
      </p:sp>
      <p:sp>
        <p:nvSpPr>
          <p:cNvPr id="25" name="Shape 23"/>
          <p:cNvSpPr/>
          <p:nvPr/>
        </p:nvSpPr>
        <p:spPr>
          <a:xfrm>
            <a:off x="2398014" y="2343150"/>
            <a:ext cx="781812" cy="617220"/>
          </a:xfrm>
          <a:prstGeom prst="ellipse">
            <a:avLst/>
          </a:prstGeom>
          <a:solidFill>
            <a:srgbClr val="FBF3DF"/>
          </a:solidFill>
          <a:ln w="19050">
            <a:solidFill>
              <a:srgbClr val="8A6D3B"/>
            </a:solidFill>
            <a:prstDash val="solid"/>
          </a:ln>
        </p:spPr>
      </p:sp>
      <p:sp>
        <p:nvSpPr>
          <p:cNvPr id="26" name="Shape 24"/>
          <p:cNvSpPr/>
          <p:nvPr/>
        </p:nvSpPr>
        <p:spPr>
          <a:xfrm>
            <a:off x="2566721" y="2429561"/>
            <a:ext cx="444398" cy="444398"/>
          </a:xfrm>
          <a:prstGeom prst="ellipse">
            <a:avLst/>
          </a:prstGeom>
          <a:solidFill>
            <a:srgbClr val="E7DDF3"/>
          </a:solidFill>
          <a:ln w="15875">
            <a:solidFill>
              <a:srgbClr val="6A4C93"/>
            </a:solidFill>
            <a:prstDash val="solid"/>
          </a:ln>
        </p:spPr>
      </p:sp>
      <p:sp>
        <p:nvSpPr>
          <p:cNvPr id="27" name="Shape 25"/>
          <p:cNvSpPr/>
          <p:nvPr/>
        </p:nvSpPr>
        <p:spPr>
          <a:xfrm rot="900000">
            <a:off x="2681935" y="2478938"/>
            <a:ext cx="49378" cy="230429"/>
          </a:xfrm>
          <a:prstGeom prst="roundRect">
            <a:avLst>
              <a:gd name="adj" fmla="val 50000"/>
            </a:avLst>
          </a:prstGeom>
          <a:solidFill>
            <a:srgbClr val="D9534F"/>
          </a:solidFill>
          <a:ln w="9525">
            <a:solidFill>
              <a:srgbClr val="8E2A33"/>
            </a:solidFill>
            <a:prstDash val="solid"/>
          </a:ln>
        </p:spPr>
      </p:sp>
      <p:sp>
        <p:nvSpPr>
          <p:cNvPr id="28" name="Shape 26"/>
          <p:cNvSpPr/>
          <p:nvPr/>
        </p:nvSpPr>
        <p:spPr>
          <a:xfrm rot="-1200000">
            <a:off x="2846527" y="2470709"/>
            <a:ext cx="49378" cy="230429"/>
          </a:xfrm>
          <a:prstGeom prst="roundRect">
            <a:avLst>
              <a:gd name="adj" fmla="val 50000"/>
            </a:avLst>
          </a:prstGeom>
          <a:solidFill>
            <a:srgbClr val="3B7DD8"/>
          </a:solidFill>
          <a:ln w="9525">
            <a:solidFill>
              <a:srgbClr val="1F4E8C"/>
            </a:solidFill>
            <a:prstDash val="solid"/>
          </a:ln>
        </p:spPr>
      </p:sp>
      <p:sp>
        <p:nvSpPr>
          <p:cNvPr id="29" name="Shape 27"/>
          <p:cNvSpPr/>
          <p:nvPr/>
        </p:nvSpPr>
        <p:spPr>
          <a:xfrm rot="3600000">
            <a:off x="2698394" y="2680564"/>
            <a:ext cx="49378" cy="139903"/>
          </a:xfrm>
          <a:prstGeom prst="roundRect">
            <a:avLst>
              <a:gd name="adj" fmla="val 50000"/>
            </a:avLst>
          </a:prstGeom>
          <a:solidFill>
            <a:srgbClr val="F2A0A6"/>
          </a:solidFill>
          <a:ln w="9525">
            <a:solidFill>
              <a:srgbClr val="B5545C"/>
            </a:solidFill>
            <a:prstDash val="solid"/>
          </a:ln>
        </p:spPr>
      </p:sp>
      <p:sp>
        <p:nvSpPr>
          <p:cNvPr id="30" name="Shape 28"/>
          <p:cNvSpPr/>
          <p:nvPr/>
        </p:nvSpPr>
        <p:spPr>
          <a:xfrm rot="1200000">
            <a:off x="2854757" y="2672334"/>
            <a:ext cx="49378" cy="139903"/>
          </a:xfrm>
          <a:prstGeom prst="roundRect">
            <a:avLst>
              <a:gd name="adj" fmla="val 50000"/>
            </a:avLst>
          </a:prstGeom>
          <a:solidFill>
            <a:srgbClr val="9CC3F0"/>
          </a:solidFill>
          <a:ln w="9525">
            <a:solidFill>
              <a:srgbClr val="4F7FB8"/>
            </a:solidFill>
            <a:prstDash val="solid"/>
          </a:ln>
        </p:spPr>
      </p:sp>
      <p:sp>
        <p:nvSpPr>
          <p:cNvPr id="31" name="Text 29"/>
          <p:cNvSpPr/>
          <p:nvPr/>
        </p:nvSpPr>
        <p:spPr>
          <a:xfrm>
            <a:off x="3383280" y="1874520"/>
            <a:ext cx="2514600" cy="6400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2 cells • 4 chromosomes each • </a:t>
            </a:r>
            <a:r>
              <a:rPr lang="en-US" sz="1050" b="1" dirty="0">
                <a:solidFill>
                  <a:srgbClr val="262B3A"/>
                </a:solidFill>
                <a:latin typeface="Calibri" pitchFamily="34" charset="0"/>
                <a:ea typeface="Calibri" pitchFamily="34" charset="-122"/>
                <a:cs typeface="Calibri" pitchFamily="34" charset="-120"/>
              </a:rPr>
              <a:t>identical</a:t>
            </a:r>
            <a:r>
              <a:rPr lang="en-US" sz="1050" dirty="0">
                <a:solidFill>
                  <a:srgbClr val="262B3A"/>
                </a:solidFill>
                <a:latin typeface="Calibri" pitchFamily="34" charset="0"/>
                <a:ea typeface="Calibri" pitchFamily="34" charset="-122"/>
                <a:cs typeface="Calibri" pitchFamily="34" charset="-120"/>
              </a:rPr>
              <a:t> to parent</a:t>
            </a:r>
            <a:endParaRPr lang="en-US" sz="1050" dirty="0"/>
          </a:p>
        </p:txBody>
      </p:sp>
      <p:sp>
        <p:nvSpPr>
          <p:cNvPr id="32" name="Shape 30"/>
          <p:cNvSpPr/>
          <p:nvPr/>
        </p:nvSpPr>
        <p:spPr>
          <a:xfrm>
            <a:off x="640080" y="3200400"/>
            <a:ext cx="5120640" cy="91"/>
          </a:xfrm>
          <a:prstGeom prst="line">
            <a:avLst/>
          </a:prstGeom>
          <a:noFill/>
          <a:ln w="12700">
            <a:solidFill>
              <a:srgbClr val="CFE0DE"/>
            </a:solidFill>
            <a:prstDash val="dash"/>
          </a:ln>
        </p:spPr>
      </p:sp>
      <p:sp>
        <p:nvSpPr>
          <p:cNvPr id="33" name="Text 31"/>
          <p:cNvSpPr/>
          <p:nvPr/>
        </p:nvSpPr>
        <p:spPr>
          <a:xfrm>
            <a:off x="594360" y="3291840"/>
            <a:ext cx="1828800" cy="256032"/>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Meiosis</a:t>
            </a:r>
            <a:endParaRPr lang="en-US" sz="1200" dirty="0"/>
          </a:p>
        </p:txBody>
      </p:sp>
      <p:sp>
        <p:nvSpPr>
          <p:cNvPr id="34" name="Shape 32"/>
          <p:cNvSpPr/>
          <p:nvPr/>
        </p:nvSpPr>
        <p:spPr>
          <a:xfrm>
            <a:off x="708660" y="3863340"/>
            <a:ext cx="868680" cy="685800"/>
          </a:xfrm>
          <a:prstGeom prst="ellipse">
            <a:avLst/>
          </a:prstGeom>
          <a:solidFill>
            <a:srgbClr val="FBF3DF"/>
          </a:solidFill>
          <a:ln w="19050">
            <a:solidFill>
              <a:srgbClr val="8A6D3B"/>
            </a:solidFill>
            <a:prstDash val="solid"/>
          </a:ln>
        </p:spPr>
      </p:sp>
      <p:sp>
        <p:nvSpPr>
          <p:cNvPr id="35" name="Shape 33"/>
          <p:cNvSpPr/>
          <p:nvPr/>
        </p:nvSpPr>
        <p:spPr>
          <a:xfrm>
            <a:off x="896112" y="3959352"/>
            <a:ext cx="493776" cy="493776"/>
          </a:xfrm>
          <a:prstGeom prst="ellipse">
            <a:avLst/>
          </a:prstGeom>
          <a:solidFill>
            <a:srgbClr val="E7DDF3"/>
          </a:solidFill>
          <a:ln w="15875">
            <a:solidFill>
              <a:srgbClr val="6A4C93"/>
            </a:solidFill>
            <a:prstDash val="solid"/>
          </a:ln>
        </p:spPr>
      </p:sp>
      <p:sp>
        <p:nvSpPr>
          <p:cNvPr id="36" name="Shape 34"/>
          <p:cNvSpPr/>
          <p:nvPr/>
        </p:nvSpPr>
        <p:spPr>
          <a:xfrm rot="900000">
            <a:off x="1024128" y="4014216"/>
            <a:ext cx="54864" cy="256032"/>
          </a:xfrm>
          <a:prstGeom prst="roundRect">
            <a:avLst>
              <a:gd name="adj" fmla="val 50000"/>
            </a:avLst>
          </a:prstGeom>
          <a:solidFill>
            <a:srgbClr val="D9534F"/>
          </a:solidFill>
          <a:ln w="9525">
            <a:solidFill>
              <a:srgbClr val="8E2A33"/>
            </a:solidFill>
            <a:prstDash val="solid"/>
          </a:ln>
        </p:spPr>
      </p:sp>
      <p:sp>
        <p:nvSpPr>
          <p:cNvPr id="37" name="Shape 35"/>
          <p:cNvSpPr/>
          <p:nvPr/>
        </p:nvSpPr>
        <p:spPr>
          <a:xfrm rot="-1200000">
            <a:off x="1207008" y="4005072"/>
            <a:ext cx="54864" cy="256032"/>
          </a:xfrm>
          <a:prstGeom prst="roundRect">
            <a:avLst>
              <a:gd name="adj" fmla="val 50000"/>
            </a:avLst>
          </a:prstGeom>
          <a:solidFill>
            <a:srgbClr val="3B7DD8"/>
          </a:solidFill>
          <a:ln w="9525">
            <a:solidFill>
              <a:srgbClr val="1F4E8C"/>
            </a:solidFill>
            <a:prstDash val="solid"/>
          </a:ln>
        </p:spPr>
      </p:sp>
      <p:sp>
        <p:nvSpPr>
          <p:cNvPr id="38" name="Shape 36"/>
          <p:cNvSpPr/>
          <p:nvPr/>
        </p:nvSpPr>
        <p:spPr>
          <a:xfrm rot="3600000">
            <a:off x="1042416" y="4238244"/>
            <a:ext cx="54864" cy="155448"/>
          </a:xfrm>
          <a:prstGeom prst="roundRect">
            <a:avLst>
              <a:gd name="adj" fmla="val 50000"/>
            </a:avLst>
          </a:prstGeom>
          <a:solidFill>
            <a:srgbClr val="F2A0A6"/>
          </a:solidFill>
          <a:ln w="9525">
            <a:solidFill>
              <a:srgbClr val="B5545C"/>
            </a:solidFill>
            <a:prstDash val="solid"/>
          </a:ln>
        </p:spPr>
      </p:sp>
      <p:sp>
        <p:nvSpPr>
          <p:cNvPr id="39" name="Shape 37"/>
          <p:cNvSpPr/>
          <p:nvPr/>
        </p:nvSpPr>
        <p:spPr>
          <a:xfrm rot="1200000">
            <a:off x="1216152" y="4229100"/>
            <a:ext cx="54864" cy="155448"/>
          </a:xfrm>
          <a:prstGeom prst="roundRect">
            <a:avLst>
              <a:gd name="adj" fmla="val 50000"/>
            </a:avLst>
          </a:prstGeom>
          <a:solidFill>
            <a:srgbClr val="9CC3F0"/>
          </a:solidFill>
          <a:ln w="9525">
            <a:solidFill>
              <a:srgbClr val="4F7FB8"/>
            </a:solidFill>
            <a:prstDash val="solid"/>
          </a:ln>
        </p:spPr>
      </p:sp>
      <p:sp>
        <p:nvSpPr>
          <p:cNvPr id="40" name="Shape 38"/>
          <p:cNvSpPr/>
          <p:nvPr/>
        </p:nvSpPr>
        <p:spPr>
          <a:xfrm>
            <a:off x="1645920" y="4206240"/>
            <a:ext cx="594360" cy="91"/>
          </a:xfrm>
          <a:prstGeom prst="line">
            <a:avLst/>
          </a:prstGeom>
          <a:noFill/>
          <a:ln w="22225">
            <a:solidFill>
              <a:srgbClr val="133536"/>
            </a:solidFill>
            <a:prstDash val="solid"/>
            <a:tailEnd type="triangle"/>
          </a:ln>
        </p:spPr>
      </p:sp>
      <p:sp>
        <p:nvSpPr>
          <p:cNvPr id="41" name="Shape 39"/>
          <p:cNvSpPr/>
          <p:nvPr/>
        </p:nvSpPr>
        <p:spPr>
          <a:xfrm>
            <a:off x="2354580" y="3575304"/>
            <a:ext cx="685800" cy="566928"/>
          </a:xfrm>
          <a:prstGeom prst="ellipse">
            <a:avLst/>
          </a:prstGeom>
          <a:solidFill>
            <a:srgbClr val="FBF3DF"/>
          </a:solidFill>
          <a:ln w="19050">
            <a:solidFill>
              <a:srgbClr val="8A6D3B"/>
            </a:solidFill>
            <a:prstDash val="solid"/>
          </a:ln>
        </p:spPr>
      </p:sp>
      <p:sp>
        <p:nvSpPr>
          <p:cNvPr id="42" name="Shape 40"/>
          <p:cNvSpPr/>
          <p:nvPr/>
        </p:nvSpPr>
        <p:spPr>
          <a:xfrm>
            <a:off x="2514600" y="3675888"/>
            <a:ext cx="365760" cy="365760"/>
          </a:xfrm>
          <a:prstGeom prst="ellipse">
            <a:avLst/>
          </a:prstGeom>
          <a:solidFill>
            <a:srgbClr val="E7DDF3"/>
          </a:solidFill>
          <a:ln w="15875">
            <a:solidFill>
              <a:srgbClr val="6A4C93"/>
            </a:solidFill>
            <a:prstDash val="solid"/>
          </a:ln>
        </p:spPr>
      </p:sp>
      <p:sp>
        <p:nvSpPr>
          <p:cNvPr id="43" name="Shape 41"/>
          <p:cNvSpPr/>
          <p:nvPr/>
        </p:nvSpPr>
        <p:spPr>
          <a:xfrm rot="900000">
            <a:off x="2674620" y="3703320"/>
            <a:ext cx="45720" cy="201168"/>
          </a:xfrm>
          <a:prstGeom prst="roundRect">
            <a:avLst>
              <a:gd name="adj" fmla="val 50000"/>
            </a:avLst>
          </a:prstGeom>
          <a:solidFill>
            <a:srgbClr val="D9534F"/>
          </a:solidFill>
          <a:ln w="9525">
            <a:solidFill>
              <a:srgbClr val="8E2A33"/>
            </a:solidFill>
            <a:prstDash val="solid"/>
          </a:ln>
        </p:spPr>
      </p:sp>
      <p:sp>
        <p:nvSpPr>
          <p:cNvPr id="44" name="Shape 42"/>
          <p:cNvSpPr/>
          <p:nvPr/>
        </p:nvSpPr>
        <p:spPr>
          <a:xfrm rot="3600000">
            <a:off x="2674620" y="3886200"/>
            <a:ext cx="45720" cy="128016"/>
          </a:xfrm>
          <a:prstGeom prst="roundRect">
            <a:avLst>
              <a:gd name="adj" fmla="val 50000"/>
            </a:avLst>
          </a:prstGeom>
          <a:solidFill>
            <a:srgbClr val="F2A0A6"/>
          </a:solidFill>
          <a:ln w="9525">
            <a:solidFill>
              <a:srgbClr val="B5545C"/>
            </a:solidFill>
            <a:prstDash val="solid"/>
          </a:ln>
        </p:spPr>
      </p:sp>
      <p:sp>
        <p:nvSpPr>
          <p:cNvPr id="45" name="Shape 43"/>
          <p:cNvSpPr/>
          <p:nvPr/>
        </p:nvSpPr>
        <p:spPr>
          <a:xfrm>
            <a:off x="3131820" y="3575304"/>
            <a:ext cx="685800" cy="566928"/>
          </a:xfrm>
          <a:prstGeom prst="ellipse">
            <a:avLst/>
          </a:prstGeom>
          <a:solidFill>
            <a:srgbClr val="FBF3DF"/>
          </a:solidFill>
          <a:ln w="19050">
            <a:solidFill>
              <a:srgbClr val="8A6D3B"/>
            </a:solidFill>
            <a:prstDash val="solid"/>
          </a:ln>
        </p:spPr>
      </p:sp>
      <p:sp>
        <p:nvSpPr>
          <p:cNvPr id="46" name="Shape 44"/>
          <p:cNvSpPr/>
          <p:nvPr/>
        </p:nvSpPr>
        <p:spPr>
          <a:xfrm>
            <a:off x="3291840" y="3675888"/>
            <a:ext cx="365760" cy="365760"/>
          </a:xfrm>
          <a:prstGeom prst="ellipse">
            <a:avLst/>
          </a:prstGeom>
          <a:solidFill>
            <a:srgbClr val="E7DDF3"/>
          </a:solidFill>
          <a:ln w="15875">
            <a:solidFill>
              <a:srgbClr val="6A4C93"/>
            </a:solidFill>
            <a:prstDash val="solid"/>
          </a:ln>
        </p:spPr>
      </p:sp>
      <p:sp>
        <p:nvSpPr>
          <p:cNvPr id="47" name="Shape 45"/>
          <p:cNvSpPr/>
          <p:nvPr/>
        </p:nvSpPr>
        <p:spPr>
          <a:xfrm rot="-1200000">
            <a:off x="3451860" y="3703320"/>
            <a:ext cx="45720" cy="201168"/>
          </a:xfrm>
          <a:prstGeom prst="roundRect">
            <a:avLst>
              <a:gd name="adj" fmla="val 50000"/>
            </a:avLst>
          </a:prstGeom>
          <a:solidFill>
            <a:srgbClr val="3B7DD8"/>
          </a:solidFill>
          <a:ln w="9525">
            <a:solidFill>
              <a:srgbClr val="1F4E8C"/>
            </a:solidFill>
            <a:prstDash val="solid"/>
          </a:ln>
        </p:spPr>
      </p:sp>
      <p:sp>
        <p:nvSpPr>
          <p:cNvPr id="48" name="Shape 46"/>
          <p:cNvSpPr/>
          <p:nvPr/>
        </p:nvSpPr>
        <p:spPr>
          <a:xfrm rot="1200000">
            <a:off x="3451860" y="3886200"/>
            <a:ext cx="45720" cy="128016"/>
          </a:xfrm>
          <a:prstGeom prst="roundRect">
            <a:avLst>
              <a:gd name="adj" fmla="val 50000"/>
            </a:avLst>
          </a:prstGeom>
          <a:solidFill>
            <a:srgbClr val="9CC3F0"/>
          </a:solidFill>
          <a:ln w="9525">
            <a:solidFill>
              <a:srgbClr val="4F7FB8"/>
            </a:solidFill>
            <a:prstDash val="solid"/>
          </a:ln>
        </p:spPr>
      </p:sp>
      <p:sp>
        <p:nvSpPr>
          <p:cNvPr id="49" name="Shape 47"/>
          <p:cNvSpPr/>
          <p:nvPr/>
        </p:nvSpPr>
        <p:spPr>
          <a:xfrm>
            <a:off x="2354580" y="4261104"/>
            <a:ext cx="685800" cy="566928"/>
          </a:xfrm>
          <a:prstGeom prst="ellipse">
            <a:avLst/>
          </a:prstGeom>
          <a:solidFill>
            <a:srgbClr val="FBF3DF"/>
          </a:solidFill>
          <a:ln w="19050">
            <a:solidFill>
              <a:srgbClr val="8A6D3B"/>
            </a:solidFill>
            <a:prstDash val="solid"/>
          </a:ln>
        </p:spPr>
      </p:sp>
      <p:sp>
        <p:nvSpPr>
          <p:cNvPr id="50" name="Shape 48"/>
          <p:cNvSpPr/>
          <p:nvPr/>
        </p:nvSpPr>
        <p:spPr>
          <a:xfrm>
            <a:off x="2514600" y="4361688"/>
            <a:ext cx="365760" cy="365760"/>
          </a:xfrm>
          <a:prstGeom prst="ellipse">
            <a:avLst/>
          </a:prstGeom>
          <a:solidFill>
            <a:srgbClr val="E7DDF3"/>
          </a:solidFill>
          <a:ln w="15875">
            <a:solidFill>
              <a:srgbClr val="6A4C93"/>
            </a:solidFill>
            <a:prstDash val="solid"/>
          </a:ln>
        </p:spPr>
      </p:sp>
      <p:sp>
        <p:nvSpPr>
          <p:cNvPr id="51" name="Shape 49"/>
          <p:cNvSpPr/>
          <p:nvPr/>
        </p:nvSpPr>
        <p:spPr>
          <a:xfrm rot="900000">
            <a:off x="2674620" y="4389120"/>
            <a:ext cx="45720" cy="201168"/>
          </a:xfrm>
          <a:prstGeom prst="roundRect">
            <a:avLst>
              <a:gd name="adj" fmla="val 50000"/>
            </a:avLst>
          </a:prstGeom>
          <a:solidFill>
            <a:srgbClr val="D9534F"/>
          </a:solidFill>
          <a:ln w="9525">
            <a:solidFill>
              <a:srgbClr val="8E2A33"/>
            </a:solidFill>
            <a:prstDash val="solid"/>
          </a:ln>
        </p:spPr>
      </p:sp>
      <p:sp>
        <p:nvSpPr>
          <p:cNvPr id="52" name="Shape 50"/>
          <p:cNvSpPr/>
          <p:nvPr/>
        </p:nvSpPr>
        <p:spPr>
          <a:xfrm rot="1200000">
            <a:off x="2674620" y="4572000"/>
            <a:ext cx="45720" cy="128016"/>
          </a:xfrm>
          <a:prstGeom prst="roundRect">
            <a:avLst>
              <a:gd name="adj" fmla="val 50000"/>
            </a:avLst>
          </a:prstGeom>
          <a:solidFill>
            <a:srgbClr val="9CC3F0"/>
          </a:solidFill>
          <a:ln w="9525">
            <a:solidFill>
              <a:srgbClr val="4F7FB8"/>
            </a:solidFill>
            <a:prstDash val="solid"/>
          </a:ln>
        </p:spPr>
      </p:sp>
      <p:sp>
        <p:nvSpPr>
          <p:cNvPr id="53" name="Shape 51"/>
          <p:cNvSpPr/>
          <p:nvPr/>
        </p:nvSpPr>
        <p:spPr>
          <a:xfrm>
            <a:off x="3131820" y="4261104"/>
            <a:ext cx="685800" cy="566928"/>
          </a:xfrm>
          <a:prstGeom prst="ellipse">
            <a:avLst/>
          </a:prstGeom>
          <a:solidFill>
            <a:srgbClr val="FBF3DF"/>
          </a:solidFill>
          <a:ln w="19050">
            <a:solidFill>
              <a:srgbClr val="8A6D3B"/>
            </a:solidFill>
            <a:prstDash val="solid"/>
          </a:ln>
        </p:spPr>
      </p:sp>
      <p:sp>
        <p:nvSpPr>
          <p:cNvPr id="54" name="Shape 52"/>
          <p:cNvSpPr/>
          <p:nvPr/>
        </p:nvSpPr>
        <p:spPr>
          <a:xfrm>
            <a:off x="3291840" y="4361688"/>
            <a:ext cx="365760" cy="365760"/>
          </a:xfrm>
          <a:prstGeom prst="ellipse">
            <a:avLst/>
          </a:prstGeom>
          <a:solidFill>
            <a:srgbClr val="E7DDF3"/>
          </a:solidFill>
          <a:ln w="15875">
            <a:solidFill>
              <a:srgbClr val="6A4C93"/>
            </a:solidFill>
            <a:prstDash val="solid"/>
          </a:ln>
        </p:spPr>
      </p:sp>
      <p:sp>
        <p:nvSpPr>
          <p:cNvPr id="55" name="Shape 53"/>
          <p:cNvSpPr/>
          <p:nvPr/>
        </p:nvSpPr>
        <p:spPr>
          <a:xfrm rot="-1200000">
            <a:off x="3451860" y="4389120"/>
            <a:ext cx="45720" cy="201168"/>
          </a:xfrm>
          <a:prstGeom prst="roundRect">
            <a:avLst>
              <a:gd name="adj" fmla="val 50000"/>
            </a:avLst>
          </a:prstGeom>
          <a:solidFill>
            <a:srgbClr val="3B7DD8"/>
          </a:solidFill>
          <a:ln w="9525">
            <a:solidFill>
              <a:srgbClr val="1F4E8C"/>
            </a:solidFill>
            <a:prstDash val="solid"/>
          </a:ln>
        </p:spPr>
      </p:sp>
      <p:sp>
        <p:nvSpPr>
          <p:cNvPr id="56" name="Shape 54"/>
          <p:cNvSpPr/>
          <p:nvPr/>
        </p:nvSpPr>
        <p:spPr>
          <a:xfrm rot="3600000">
            <a:off x="3451860" y="4572000"/>
            <a:ext cx="45720" cy="128016"/>
          </a:xfrm>
          <a:prstGeom prst="roundRect">
            <a:avLst>
              <a:gd name="adj" fmla="val 50000"/>
            </a:avLst>
          </a:prstGeom>
          <a:solidFill>
            <a:srgbClr val="F2A0A6"/>
          </a:solidFill>
          <a:ln w="9525">
            <a:solidFill>
              <a:srgbClr val="B5545C"/>
            </a:solidFill>
            <a:prstDash val="solid"/>
          </a:ln>
        </p:spPr>
      </p:sp>
      <p:sp>
        <p:nvSpPr>
          <p:cNvPr id="57" name="Text 55"/>
          <p:cNvSpPr/>
          <p:nvPr/>
        </p:nvSpPr>
        <p:spPr>
          <a:xfrm>
            <a:off x="3977640" y="3840480"/>
            <a:ext cx="1828800" cy="8686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4 gametes • 2 chromosomes each (</a:t>
            </a:r>
            <a:r>
              <a:rPr lang="en-US" sz="1050" b="1" dirty="0">
                <a:solidFill>
                  <a:srgbClr val="262B3A"/>
                </a:solidFill>
                <a:latin typeface="Calibri" pitchFamily="34" charset="0"/>
                <a:ea typeface="Calibri" pitchFamily="34" charset="-122"/>
                <a:cs typeface="Calibri" pitchFamily="34" charset="-120"/>
              </a:rPr>
              <a:t>haploid</a:t>
            </a:r>
            <a:r>
              <a:rPr lang="en-US" sz="1050" dirty="0">
                <a:solidFill>
                  <a:srgbClr val="262B3A"/>
                </a:solidFill>
                <a:latin typeface="Calibri" pitchFamily="34" charset="0"/>
                <a:ea typeface="Calibri" pitchFamily="34" charset="-122"/>
                <a:cs typeface="Calibri" pitchFamily="34" charset="-120"/>
              </a:rPr>
              <a:t>) • genetically </a:t>
            </a:r>
            <a:r>
              <a:rPr lang="en-US" sz="1050" b="1" dirty="0">
                <a:solidFill>
                  <a:srgbClr val="262B3A"/>
                </a:solidFill>
                <a:latin typeface="Calibri" pitchFamily="34" charset="0"/>
                <a:ea typeface="Calibri" pitchFamily="34" charset="-122"/>
                <a:cs typeface="Calibri" pitchFamily="34" charset="-120"/>
              </a:rPr>
              <a:t>different</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463040"/>
                <a:gridCol w="2048256"/>
                <a:gridCol w="2048256"/>
              </a:tblGrid>
              <a:tr h="384048">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Mitosis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Meiosis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8404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Cells made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4 (gametes)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8404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Chromosome number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same as parent: diploid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halved: haploid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Genetically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identical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different from each other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8404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body cells all over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testes and ovaries; anthers and ovules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Used for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growth, repair, asexual reproduction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making gametes for sexual reproduction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59" name="Shape 56"/>
          <p:cNvSpPr/>
          <p:nvPr/>
        </p:nvSpPr>
        <p:spPr>
          <a:xfrm>
            <a:off x="6217920" y="3794760"/>
            <a:ext cx="5559552" cy="1920240"/>
          </a:xfrm>
          <a:prstGeom prst="roundRect">
            <a:avLst>
              <a:gd name="adj" fmla="val 2857"/>
            </a:avLst>
          </a:prstGeom>
          <a:solidFill>
            <a:srgbClr val="FFF4E0"/>
          </a:solidFill>
          <a:ln w="9525">
            <a:solidFill>
              <a:srgbClr val="F1D9A8"/>
            </a:solidFill>
            <a:prstDash val="solid"/>
          </a:ln>
        </p:spPr>
      </p:sp>
      <p:sp>
        <p:nvSpPr>
          <p:cNvPr id="60" name="Text 57"/>
          <p:cNvSpPr/>
          <p:nvPr/>
        </p:nvSpPr>
        <p:spPr>
          <a:xfrm>
            <a:off x="6382512" y="38679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why halve the number?</a:t>
            </a:r>
            <a:endParaRPr lang="en-US" sz="1300" dirty="0"/>
          </a:p>
        </p:txBody>
      </p:sp>
      <p:sp>
        <p:nvSpPr>
          <p:cNvPr id="61" name="Text 58"/>
          <p:cNvSpPr/>
          <p:nvPr/>
        </p:nvSpPr>
        <p:spPr>
          <a:xfrm>
            <a:off x="6382512" y="4178808"/>
            <a:ext cx="5230368" cy="14630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gametes must be haploid.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Gametes   </a:t>
            </a:r>
            <a:r>
              <a:rPr lang="en-US" sz="1050" dirty="0">
                <a:solidFill>
                  <a:srgbClr val="262B3A"/>
                </a:solidFill>
                <a:latin typeface="Calibri" pitchFamily="34" charset="0"/>
                <a:ea typeface="Calibri" pitchFamily="34" charset="-122"/>
                <a:cs typeface="Calibri" pitchFamily="34" charset="-120"/>
              </a:rPr>
              <a:t>human sperm 23 + egg 23 chromosomes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Fertilisation   </a:t>
            </a:r>
            <a:r>
              <a:rPr lang="en-US" sz="1050" dirty="0">
                <a:solidFill>
                  <a:srgbClr val="262B3A"/>
                </a:solidFill>
                <a:latin typeface="Calibri" pitchFamily="34" charset="0"/>
                <a:ea typeface="Calibri" pitchFamily="34" charset="-122"/>
                <a:cs typeface="Calibri" pitchFamily="34" charset="-120"/>
              </a:rPr>
              <a:t>23 + 23 = 46: diploid zygote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If not halved   </a:t>
            </a:r>
            <a:r>
              <a:rPr lang="en-US" sz="1050" dirty="0">
                <a:solidFill>
                  <a:srgbClr val="262B3A"/>
                </a:solidFill>
                <a:latin typeface="Calibri" pitchFamily="34" charset="0"/>
                <a:ea typeface="Calibri" pitchFamily="34" charset="-122"/>
                <a:cs typeface="Calibri" pitchFamily="34" charset="-120"/>
              </a:rPr>
              <a:t>the number would double every generation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meiosis halves it; mitosis keeps it the same</a:t>
            </a:r>
            <a:endParaRPr lang="en-US" sz="1050" dirty="0"/>
          </a:p>
        </p:txBody>
      </p:sp>
      <p:sp>
        <p:nvSpPr>
          <p:cNvPr id="62" name="Shape 59"/>
          <p:cNvSpPr/>
          <p:nvPr/>
        </p:nvSpPr>
        <p:spPr>
          <a:xfrm>
            <a:off x="411480" y="5833872"/>
            <a:ext cx="11368735" cy="530352"/>
          </a:xfrm>
          <a:prstGeom prst="rect">
            <a:avLst/>
          </a:prstGeom>
          <a:solidFill>
            <a:srgbClr val="FFF4E0"/>
          </a:solidFill>
          <a:ln w="6350">
            <a:solidFill>
              <a:srgbClr val="F1D9A8"/>
            </a:solidFill>
            <a:prstDash val="solid"/>
          </a:ln>
        </p:spPr>
      </p:sp>
      <p:sp>
        <p:nvSpPr>
          <p:cNvPr id="63" name="Shape 60"/>
          <p:cNvSpPr/>
          <p:nvPr/>
        </p:nvSpPr>
        <p:spPr>
          <a:xfrm>
            <a:off x="411480" y="5833872"/>
            <a:ext cx="82296" cy="530352"/>
          </a:xfrm>
          <a:prstGeom prst="rect">
            <a:avLst/>
          </a:prstGeom>
          <a:solidFill>
            <a:srgbClr val="E39A2F"/>
          </a:solidFill>
          <a:ln w="12700">
            <a:solidFill>
              <a:srgbClr val="E39A2F"/>
            </a:solidFill>
            <a:prstDash val="solid"/>
          </a:ln>
        </p:spPr>
      </p:sp>
      <p:sp>
        <p:nvSpPr>
          <p:cNvPr id="64" name="Text 6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differences between the cells made by mitosis and the cells made by meiosis.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B4.3.2, B4.3.3 • cancer; mitosis and meiosis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tumour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 change in a cell can lead to </a:t>
            </a:r>
            <a:r>
              <a:rPr lang="en-US" sz="1250" b="1" dirty="0">
                <a:solidFill>
                  <a:srgbClr val="262B3A"/>
                </a:solidFill>
                <a:latin typeface="Calibri" pitchFamily="34" charset="0"/>
                <a:ea typeface="Calibri" pitchFamily="34" charset="-122"/>
                <a:cs typeface="Calibri" pitchFamily="34" charset="-120"/>
              </a:rPr>
              <a:t>cancer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difference between a </a:t>
            </a:r>
            <a:r>
              <a:rPr lang="en-US" sz="1250" b="1" dirty="0">
                <a:solidFill>
                  <a:srgbClr val="262B3A"/>
                </a:solidFill>
                <a:latin typeface="Calibri" pitchFamily="34" charset="0"/>
                <a:ea typeface="Calibri" pitchFamily="34" charset="-122"/>
                <a:cs typeface="Calibri" pitchFamily="34" charset="-120"/>
              </a:rPr>
              <a:t>benign</a:t>
            </a:r>
            <a:r>
              <a:rPr lang="en-US" sz="1250" dirty="0">
                <a:solidFill>
                  <a:srgbClr val="262B3A"/>
                </a:solidFill>
                <a:latin typeface="Calibri" pitchFamily="34" charset="0"/>
                <a:ea typeface="Calibri" pitchFamily="34" charset="-122"/>
                <a:cs typeface="Calibri" pitchFamily="34" charset="-120"/>
              </a:rPr>
              <a:t> and a </a:t>
            </a:r>
            <a:r>
              <a:rPr lang="en-US" sz="1250" b="1" dirty="0">
                <a:solidFill>
                  <a:srgbClr val="262B3A"/>
                </a:solidFill>
                <a:latin typeface="Calibri" pitchFamily="34" charset="0"/>
                <a:ea typeface="Calibri" pitchFamily="34" charset="-122"/>
                <a:cs typeface="Calibri" pitchFamily="34" charset="-120"/>
              </a:rPr>
              <a:t>malignant</a:t>
            </a:r>
            <a:r>
              <a:rPr lang="en-US" sz="1250" dirty="0">
                <a:solidFill>
                  <a:srgbClr val="262B3A"/>
                </a:solidFill>
                <a:latin typeface="Calibri" pitchFamily="34" charset="0"/>
                <a:ea typeface="Calibri" pitchFamily="34" charset="-122"/>
                <a:cs typeface="Calibri" pitchFamily="34" charset="-120"/>
              </a:rPr>
              <a:t> tumour.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human body cell has 46 chromosomes. How many chromosomes are in each cell made by (a) </a:t>
            </a:r>
            <a:r>
              <a:rPr lang="en-US" sz="1250" b="1" dirty="0">
                <a:solidFill>
                  <a:srgbClr val="262B3A"/>
                </a:solidFill>
                <a:latin typeface="Calibri" pitchFamily="34" charset="0"/>
                <a:ea typeface="Calibri" pitchFamily="34" charset="-122"/>
                <a:cs typeface="Calibri" pitchFamily="34" charset="-120"/>
              </a:rPr>
              <a:t>mitosis</a:t>
            </a:r>
            <a:r>
              <a:rPr lang="en-US" sz="1250" dirty="0">
                <a:solidFill>
                  <a:srgbClr val="262B3A"/>
                </a:solidFill>
                <a:latin typeface="Calibri" pitchFamily="34" charset="0"/>
                <a:ea typeface="Calibri" pitchFamily="34" charset="-122"/>
                <a:cs typeface="Calibri" pitchFamily="34" charset="-120"/>
              </a:rPr>
              <a:t> (b) </a:t>
            </a:r>
            <a:r>
              <a:rPr lang="en-US" sz="1250" b="1" dirty="0">
                <a:solidFill>
                  <a:srgbClr val="262B3A"/>
                </a:solidFill>
                <a:latin typeface="Calibri" pitchFamily="34" charset="0"/>
                <a:ea typeface="Calibri" pitchFamily="34" charset="-122"/>
                <a:cs typeface="Calibri" pitchFamily="34" charset="-120"/>
              </a:rPr>
              <a:t>meiosis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Differentiation: making specialised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B4.3.5 • genes are switched on and off, so cells become specialised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B4.3.5  |  18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six genes shown as boxes: green = switched on, grey = switched off</a:t>
            </a:r>
            <a:endParaRPr lang="en-US" sz="1000" dirty="0"/>
          </a:p>
        </p:txBody>
      </p:sp>
      <p:sp>
        <p:nvSpPr>
          <p:cNvPr id="10" name="Shape 8"/>
          <p:cNvSpPr/>
          <p:nvPr/>
        </p:nvSpPr>
        <p:spPr>
          <a:xfrm>
            <a:off x="868680" y="2651760"/>
            <a:ext cx="914400" cy="914400"/>
          </a:xfrm>
          <a:prstGeom prst="ellipse">
            <a:avLst/>
          </a:prstGeom>
          <a:solidFill>
            <a:srgbClr val="FFF4D6"/>
          </a:solidFill>
          <a:ln w="19050">
            <a:solidFill>
              <a:srgbClr val="B8730A"/>
            </a:solidFill>
            <a:prstDash val="solid"/>
          </a:ln>
        </p:spPr>
      </p:sp>
      <p:sp>
        <p:nvSpPr>
          <p:cNvPr id="11" name="Shape 9"/>
          <p:cNvSpPr/>
          <p:nvPr/>
        </p:nvSpPr>
        <p:spPr>
          <a:xfrm>
            <a:off x="1120140" y="2903220"/>
            <a:ext cx="411480" cy="411480"/>
          </a:xfrm>
          <a:prstGeom prst="ellipse">
            <a:avLst/>
          </a:prstGeom>
          <a:solidFill>
            <a:srgbClr val="C9B6E4"/>
          </a:solidFill>
          <a:ln w="12700">
            <a:solidFill>
              <a:srgbClr val="6A4C93"/>
            </a:solidFill>
            <a:prstDash val="solid"/>
          </a:ln>
        </p:spPr>
      </p:sp>
      <p:sp>
        <p:nvSpPr>
          <p:cNvPr id="12" name="Text 10"/>
          <p:cNvSpPr/>
          <p:nvPr/>
        </p:nvSpPr>
        <p:spPr>
          <a:xfrm>
            <a:off x="548640" y="2194560"/>
            <a:ext cx="1554480" cy="256032"/>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unspecialised cell</a:t>
            </a:r>
            <a:endParaRPr lang="en-US" sz="1050" dirty="0"/>
          </a:p>
        </p:txBody>
      </p:sp>
      <p:sp>
        <p:nvSpPr>
          <p:cNvPr id="13" name="Shape 11"/>
          <p:cNvSpPr/>
          <p:nvPr/>
        </p:nvSpPr>
        <p:spPr>
          <a:xfrm>
            <a:off x="640080" y="3703320"/>
            <a:ext cx="201168" cy="182880"/>
          </a:xfrm>
          <a:prstGeom prst="rect">
            <a:avLst/>
          </a:prstGeom>
          <a:solidFill>
            <a:srgbClr val="2E8B57"/>
          </a:solidFill>
          <a:ln w="6350">
            <a:solidFill>
              <a:srgbClr val="1E6B40"/>
            </a:solidFill>
            <a:prstDash val="solid"/>
          </a:ln>
        </p:spPr>
      </p:sp>
      <p:sp>
        <p:nvSpPr>
          <p:cNvPr id="14" name="Shape 12"/>
          <p:cNvSpPr/>
          <p:nvPr/>
        </p:nvSpPr>
        <p:spPr>
          <a:xfrm>
            <a:off x="868680" y="3703320"/>
            <a:ext cx="201168" cy="182880"/>
          </a:xfrm>
          <a:prstGeom prst="rect">
            <a:avLst/>
          </a:prstGeom>
          <a:solidFill>
            <a:srgbClr val="2E8B57"/>
          </a:solidFill>
          <a:ln w="6350">
            <a:solidFill>
              <a:srgbClr val="1E6B40"/>
            </a:solidFill>
            <a:prstDash val="solid"/>
          </a:ln>
        </p:spPr>
      </p:sp>
      <p:sp>
        <p:nvSpPr>
          <p:cNvPr id="15" name="Shape 13"/>
          <p:cNvSpPr/>
          <p:nvPr/>
        </p:nvSpPr>
        <p:spPr>
          <a:xfrm>
            <a:off x="1097280" y="3703320"/>
            <a:ext cx="201168" cy="182880"/>
          </a:xfrm>
          <a:prstGeom prst="rect">
            <a:avLst/>
          </a:prstGeom>
          <a:solidFill>
            <a:srgbClr val="2E8B57"/>
          </a:solidFill>
          <a:ln w="6350">
            <a:solidFill>
              <a:srgbClr val="1E6B40"/>
            </a:solidFill>
            <a:prstDash val="solid"/>
          </a:ln>
        </p:spPr>
      </p:sp>
      <p:sp>
        <p:nvSpPr>
          <p:cNvPr id="16" name="Shape 14"/>
          <p:cNvSpPr/>
          <p:nvPr/>
        </p:nvSpPr>
        <p:spPr>
          <a:xfrm>
            <a:off x="1325880" y="3703320"/>
            <a:ext cx="201168" cy="182880"/>
          </a:xfrm>
          <a:prstGeom prst="rect">
            <a:avLst/>
          </a:prstGeom>
          <a:solidFill>
            <a:srgbClr val="2E8B57"/>
          </a:solidFill>
          <a:ln w="6350">
            <a:solidFill>
              <a:srgbClr val="1E6B40"/>
            </a:solidFill>
            <a:prstDash val="solid"/>
          </a:ln>
        </p:spPr>
      </p:sp>
      <p:sp>
        <p:nvSpPr>
          <p:cNvPr id="17" name="Shape 15"/>
          <p:cNvSpPr/>
          <p:nvPr/>
        </p:nvSpPr>
        <p:spPr>
          <a:xfrm>
            <a:off x="1554480" y="3703320"/>
            <a:ext cx="201168" cy="182880"/>
          </a:xfrm>
          <a:prstGeom prst="rect">
            <a:avLst/>
          </a:prstGeom>
          <a:solidFill>
            <a:srgbClr val="2E8B57"/>
          </a:solidFill>
          <a:ln w="6350">
            <a:solidFill>
              <a:srgbClr val="1E6B40"/>
            </a:solidFill>
            <a:prstDash val="solid"/>
          </a:ln>
        </p:spPr>
      </p:sp>
      <p:sp>
        <p:nvSpPr>
          <p:cNvPr id="18" name="Shape 16"/>
          <p:cNvSpPr/>
          <p:nvPr/>
        </p:nvSpPr>
        <p:spPr>
          <a:xfrm>
            <a:off x="1783080" y="3703320"/>
            <a:ext cx="201168" cy="182880"/>
          </a:xfrm>
          <a:prstGeom prst="rect">
            <a:avLst/>
          </a:prstGeom>
          <a:solidFill>
            <a:srgbClr val="2E8B57"/>
          </a:solidFill>
          <a:ln w="6350">
            <a:solidFill>
              <a:srgbClr val="1E6B40"/>
            </a:solidFill>
            <a:prstDash val="solid"/>
          </a:ln>
        </p:spPr>
      </p:sp>
      <p:sp>
        <p:nvSpPr>
          <p:cNvPr id="19" name="Text 17"/>
          <p:cNvSpPr/>
          <p:nvPr/>
        </p:nvSpPr>
        <p:spPr>
          <a:xfrm>
            <a:off x="548640" y="3931920"/>
            <a:ext cx="155448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all genes </a:t>
            </a:r>
            <a:r>
              <a:rPr lang="en-US" sz="1000" b="1" dirty="0">
                <a:solidFill>
                  <a:srgbClr val="262B3A"/>
                </a:solidFill>
                <a:latin typeface="Calibri" pitchFamily="34" charset="0"/>
                <a:ea typeface="Calibri" pitchFamily="34" charset="-122"/>
                <a:cs typeface="Calibri" pitchFamily="34" charset="-120"/>
              </a:rPr>
              <a:t>can</a:t>
            </a:r>
            <a:r>
              <a:rPr lang="en-US" sz="1000" dirty="0">
                <a:solidFill>
                  <a:srgbClr val="262B3A"/>
                </a:solidFill>
                <a:latin typeface="Calibri" pitchFamily="34" charset="0"/>
                <a:ea typeface="Calibri" pitchFamily="34" charset="-122"/>
                <a:cs typeface="Calibri" pitchFamily="34" charset="-120"/>
              </a:rPr>
              <a:t> be used</a:t>
            </a:r>
            <a:endParaRPr lang="en-US" sz="1000" dirty="0"/>
          </a:p>
        </p:txBody>
      </p:sp>
      <p:sp>
        <p:nvSpPr>
          <p:cNvPr id="20" name="Shape 18"/>
          <p:cNvSpPr/>
          <p:nvPr/>
        </p:nvSpPr>
        <p:spPr>
          <a:xfrm flipV="1">
            <a:off x="1874520" y="2103120"/>
            <a:ext cx="914400" cy="777240"/>
          </a:xfrm>
          <a:prstGeom prst="line">
            <a:avLst/>
          </a:prstGeom>
          <a:noFill/>
          <a:ln w="19050">
            <a:solidFill>
              <a:srgbClr val="133536"/>
            </a:solidFill>
            <a:prstDash val="solid"/>
            <a:tailEnd type="triangle"/>
          </a:ln>
        </p:spPr>
      </p:sp>
      <p:sp>
        <p:nvSpPr>
          <p:cNvPr id="21" name="Shape 19"/>
          <p:cNvSpPr/>
          <p:nvPr/>
        </p:nvSpPr>
        <p:spPr>
          <a:xfrm>
            <a:off x="2999232" y="1856232"/>
            <a:ext cx="493776" cy="493776"/>
          </a:xfrm>
          <a:prstGeom prst="ellipse">
            <a:avLst/>
          </a:prstGeom>
          <a:solidFill>
            <a:srgbClr val="D9534F"/>
          </a:solidFill>
          <a:ln w="12700">
            <a:solidFill>
              <a:srgbClr val="8E2A33"/>
            </a:solidFill>
            <a:prstDash val="solid"/>
          </a:ln>
        </p:spPr>
      </p:sp>
      <p:sp>
        <p:nvSpPr>
          <p:cNvPr id="22" name="Shape 20"/>
          <p:cNvSpPr/>
          <p:nvPr/>
        </p:nvSpPr>
        <p:spPr>
          <a:xfrm>
            <a:off x="3135020" y="1992020"/>
            <a:ext cx="222199" cy="222199"/>
          </a:xfrm>
          <a:prstGeom prst="ellipse">
            <a:avLst/>
          </a:prstGeom>
          <a:solidFill>
            <a:srgbClr val="EE8A8F"/>
          </a:solidFill>
          <a:ln w="9525">
            <a:solidFill>
              <a:srgbClr val="EE8A8F"/>
            </a:solidFill>
            <a:prstDash val="solid"/>
          </a:ln>
        </p:spPr>
      </p:sp>
      <p:sp>
        <p:nvSpPr>
          <p:cNvPr id="23" name="Shape 21"/>
          <p:cNvSpPr/>
          <p:nvPr/>
        </p:nvSpPr>
        <p:spPr>
          <a:xfrm>
            <a:off x="3429000" y="2011680"/>
            <a:ext cx="365760" cy="365760"/>
          </a:xfrm>
          <a:prstGeom prst="ellipse">
            <a:avLst/>
          </a:prstGeom>
          <a:solidFill>
            <a:srgbClr val="D9534F"/>
          </a:solidFill>
          <a:ln w="12700">
            <a:solidFill>
              <a:srgbClr val="8E2A33"/>
            </a:solidFill>
            <a:prstDash val="solid"/>
          </a:ln>
        </p:spPr>
      </p:sp>
      <p:sp>
        <p:nvSpPr>
          <p:cNvPr id="24" name="Shape 22"/>
          <p:cNvSpPr/>
          <p:nvPr/>
        </p:nvSpPr>
        <p:spPr>
          <a:xfrm>
            <a:off x="3529584" y="2112264"/>
            <a:ext cx="164592" cy="164592"/>
          </a:xfrm>
          <a:prstGeom prst="ellipse">
            <a:avLst/>
          </a:prstGeom>
          <a:solidFill>
            <a:srgbClr val="EE8A8F"/>
          </a:solidFill>
          <a:ln w="9525">
            <a:solidFill>
              <a:srgbClr val="EE8A8F"/>
            </a:solidFill>
            <a:prstDash val="solid"/>
          </a:ln>
        </p:spPr>
      </p:sp>
      <p:sp>
        <p:nvSpPr>
          <p:cNvPr id="25" name="Text 23"/>
          <p:cNvSpPr/>
          <p:nvPr/>
        </p:nvSpPr>
        <p:spPr>
          <a:xfrm>
            <a:off x="4023360" y="1581912"/>
            <a:ext cx="1783080" cy="237744"/>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Red blood cell</a:t>
            </a:r>
            <a:endParaRPr lang="en-US" sz="1100" dirty="0"/>
          </a:p>
        </p:txBody>
      </p:sp>
      <p:sp>
        <p:nvSpPr>
          <p:cNvPr id="26" name="Shape 24"/>
          <p:cNvSpPr/>
          <p:nvPr/>
        </p:nvSpPr>
        <p:spPr>
          <a:xfrm>
            <a:off x="4023360" y="1847088"/>
            <a:ext cx="201168" cy="182880"/>
          </a:xfrm>
          <a:prstGeom prst="rect">
            <a:avLst/>
          </a:prstGeom>
          <a:solidFill>
            <a:srgbClr val="2E8B57"/>
          </a:solidFill>
          <a:ln w="6350">
            <a:solidFill>
              <a:srgbClr val="1E6B40"/>
            </a:solidFill>
            <a:prstDash val="solid"/>
          </a:ln>
        </p:spPr>
      </p:sp>
      <p:sp>
        <p:nvSpPr>
          <p:cNvPr id="27" name="Shape 25"/>
          <p:cNvSpPr/>
          <p:nvPr/>
        </p:nvSpPr>
        <p:spPr>
          <a:xfrm>
            <a:off x="4251960" y="1847088"/>
            <a:ext cx="201168" cy="182880"/>
          </a:xfrm>
          <a:prstGeom prst="rect">
            <a:avLst/>
          </a:prstGeom>
          <a:solidFill>
            <a:srgbClr val="D5D9E0"/>
          </a:solidFill>
          <a:ln w="6350">
            <a:solidFill>
              <a:srgbClr val="A0A7B4"/>
            </a:solidFill>
            <a:prstDash val="solid"/>
          </a:ln>
        </p:spPr>
      </p:sp>
      <p:sp>
        <p:nvSpPr>
          <p:cNvPr id="28" name="Shape 26"/>
          <p:cNvSpPr/>
          <p:nvPr/>
        </p:nvSpPr>
        <p:spPr>
          <a:xfrm>
            <a:off x="4480560" y="1847088"/>
            <a:ext cx="201168" cy="182880"/>
          </a:xfrm>
          <a:prstGeom prst="rect">
            <a:avLst/>
          </a:prstGeom>
          <a:solidFill>
            <a:srgbClr val="D5D9E0"/>
          </a:solidFill>
          <a:ln w="6350">
            <a:solidFill>
              <a:srgbClr val="A0A7B4"/>
            </a:solidFill>
            <a:prstDash val="solid"/>
          </a:ln>
        </p:spPr>
      </p:sp>
      <p:sp>
        <p:nvSpPr>
          <p:cNvPr id="29" name="Shape 27"/>
          <p:cNvSpPr/>
          <p:nvPr/>
        </p:nvSpPr>
        <p:spPr>
          <a:xfrm>
            <a:off x="4709160" y="1847088"/>
            <a:ext cx="201168" cy="182880"/>
          </a:xfrm>
          <a:prstGeom prst="rect">
            <a:avLst/>
          </a:prstGeom>
          <a:solidFill>
            <a:srgbClr val="2E8B57"/>
          </a:solidFill>
          <a:ln w="6350">
            <a:solidFill>
              <a:srgbClr val="1E6B40"/>
            </a:solidFill>
            <a:prstDash val="solid"/>
          </a:ln>
        </p:spPr>
      </p:sp>
      <p:sp>
        <p:nvSpPr>
          <p:cNvPr id="30" name="Shape 28"/>
          <p:cNvSpPr/>
          <p:nvPr/>
        </p:nvSpPr>
        <p:spPr>
          <a:xfrm>
            <a:off x="4937760" y="1847088"/>
            <a:ext cx="201168" cy="182880"/>
          </a:xfrm>
          <a:prstGeom prst="rect">
            <a:avLst/>
          </a:prstGeom>
          <a:solidFill>
            <a:srgbClr val="D5D9E0"/>
          </a:solidFill>
          <a:ln w="6350">
            <a:solidFill>
              <a:srgbClr val="A0A7B4"/>
            </a:solidFill>
            <a:prstDash val="solid"/>
          </a:ln>
        </p:spPr>
      </p:sp>
      <p:sp>
        <p:nvSpPr>
          <p:cNvPr id="31" name="Shape 29"/>
          <p:cNvSpPr/>
          <p:nvPr/>
        </p:nvSpPr>
        <p:spPr>
          <a:xfrm>
            <a:off x="5166360" y="1847088"/>
            <a:ext cx="201168" cy="182880"/>
          </a:xfrm>
          <a:prstGeom prst="rect">
            <a:avLst/>
          </a:prstGeom>
          <a:solidFill>
            <a:srgbClr val="D5D9E0"/>
          </a:solidFill>
          <a:ln w="6350">
            <a:solidFill>
              <a:srgbClr val="A0A7B4"/>
            </a:solidFill>
            <a:prstDash val="solid"/>
          </a:ln>
        </p:spPr>
      </p:sp>
      <p:sp>
        <p:nvSpPr>
          <p:cNvPr id="32" name="Text 30"/>
          <p:cNvSpPr/>
          <p:nvPr/>
        </p:nvSpPr>
        <p:spPr>
          <a:xfrm>
            <a:off x="4023360" y="2075688"/>
            <a:ext cx="178308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haemoglobin genes ON: carries oxygen; loses its nucleus</a:t>
            </a:r>
            <a:endParaRPr lang="en-US" sz="1000" dirty="0"/>
          </a:p>
        </p:txBody>
      </p:sp>
      <p:sp>
        <p:nvSpPr>
          <p:cNvPr id="33" name="Shape 31"/>
          <p:cNvSpPr/>
          <p:nvPr/>
        </p:nvSpPr>
        <p:spPr>
          <a:xfrm>
            <a:off x="1874520" y="3108960"/>
            <a:ext cx="914400" cy="228600"/>
          </a:xfrm>
          <a:prstGeom prst="line">
            <a:avLst/>
          </a:prstGeom>
          <a:noFill/>
          <a:ln w="19050">
            <a:solidFill>
              <a:srgbClr val="133536"/>
            </a:solidFill>
            <a:prstDash val="solid"/>
            <a:tailEnd type="triangle"/>
          </a:ln>
        </p:spPr>
      </p:sp>
      <p:sp>
        <p:nvSpPr>
          <p:cNvPr id="34" name="Shape 32"/>
          <p:cNvSpPr/>
          <p:nvPr/>
        </p:nvSpPr>
        <p:spPr>
          <a:xfrm flipH="1" flipV="1">
            <a:off x="2937053" y="3206801"/>
            <a:ext cx="190195" cy="130759"/>
          </a:xfrm>
          <a:prstGeom prst="line">
            <a:avLst/>
          </a:prstGeom>
          <a:noFill/>
          <a:ln w="19050">
            <a:solidFill>
              <a:srgbClr val="6A4C93"/>
            </a:solidFill>
            <a:prstDash val="solid"/>
          </a:ln>
        </p:spPr>
      </p:sp>
      <p:sp>
        <p:nvSpPr>
          <p:cNvPr id="35" name="Shape 33"/>
          <p:cNvSpPr/>
          <p:nvPr/>
        </p:nvSpPr>
        <p:spPr>
          <a:xfrm flipH="1">
            <a:off x="2901391" y="3337560"/>
            <a:ext cx="225857" cy="29718"/>
          </a:xfrm>
          <a:prstGeom prst="line">
            <a:avLst/>
          </a:prstGeom>
          <a:noFill/>
          <a:ln w="19050">
            <a:solidFill>
              <a:srgbClr val="6A4C93"/>
            </a:solidFill>
            <a:prstDash val="solid"/>
          </a:ln>
        </p:spPr>
      </p:sp>
      <p:sp>
        <p:nvSpPr>
          <p:cNvPr id="36" name="Shape 34"/>
          <p:cNvSpPr/>
          <p:nvPr/>
        </p:nvSpPr>
        <p:spPr>
          <a:xfrm flipH="1">
            <a:off x="2960827" y="3337560"/>
            <a:ext cx="166421" cy="148590"/>
          </a:xfrm>
          <a:prstGeom prst="line">
            <a:avLst/>
          </a:prstGeom>
          <a:noFill/>
          <a:ln w="19050">
            <a:solidFill>
              <a:srgbClr val="6A4C93"/>
            </a:solidFill>
            <a:prstDash val="solid"/>
          </a:ln>
        </p:spPr>
      </p:sp>
      <p:sp>
        <p:nvSpPr>
          <p:cNvPr id="37" name="Shape 35"/>
          <p:cNvSpPr/>
          <p:nvPr/>
        </p:nvSpPr>
        <p:spPr>
          <a:xfrm flipH="1" flipV="1">
            <a:off x="3055925" y="3159252"/>
            <a:ext cx="71323" cy="178308"/>
          </a:xfrm>
          <a:prstGeom prst="line">
            <a:avLst/>
          </a:prstGeom>
          <a:noFill/>
          <a:ln w="19050">
            <a:solidFill>
              <a:srgbClr val="6A4C93"/>
            </a:solidFill>
            <a:prstDash val="solid"/>
          </a:ln>
        </p:spPr>
      </p:sp>
      <p:sp>
        <p:nvSpPr>
          <p:cNvPr id="38" name="Shape 36"/>
          <p:cNvSpPr/>
          <p:nvPr/>
        </p:nvSpPr>
        <p:spPr>
          <a:xfrm flipH="1">
            <a:off x="3067812" y="3337560"/>
            <a:ext cx="59436" cy="178308"/>
          </a:xfrm>
          <a:prstGeom prst="line">
            <a:avLst/>
          </a:prstGeom>
          <a:noFill/>
          <a:ln w="19050">
            <a:solidFill>
              <a:srgbClr val="6A4C93"/>
            </a:solidFill>
            <a:prstDash val="solid"/>
          </a:ln>
        </p:spPr>
      </p:sp>
      <p:sp>
        <p:nvSpPr>
          <p:cNvPr id="39" name="Shape 37"/>
          <p:cNvSpPr/>
          <p:nvPr/>
        </p:nvSpPr>
        <p:spPr>
          <a:xfrm>
            <a:off x="3044038" y="3254350"/>
            <a:ext cx="166421" cy="166421"/>
          </a:xfrm>
          <a:prstGeom prst="ellipse">
            <a:avLst/>
          </a:prstGeom>
          <a:solidFill>
            <a:srgbClr val="D8C8EC"/>
          </a:solidFill>
          <a:ln w="15875">
            <a:solidFill>
              <a:srgbClr val="6A4C93"/>
            </a:solidFill>
            <a:prstDash val="solid"/>
          </a:ln>
        </p:spPr>
      </p:sp>
      <p:sp>
        <p:nvSpPr>
          <p:cNvPr id="40" name="Shape 38"/>
          <p:cNvSpPr/>
          <p:nvPr/>
        </p:nvSpPr>
        <p:spPr>
          <a:xfrm>
            <a:off x="3097530" y="3307842"/>
            <a:ext cx="59436" cy="59436"/>
          </a:xfrm>
          <a:prstGeom prst="ellipse">
            <a:avLst/>
          </a:prstGeom>
          <a:solidFill>
            <a:srgbClr val="6A4C93"/>
          </a:solidFill>
          <a:ln w="9525">
            <a:solidFill>
              <a:srgbClr val="6A4C93"/>
            </a:solidFill>
            <a:prstDash val="solid"/>
          </a:ln>
        </p:spPr>
      </p:sp>
      <p:sp>
        <p:nvSpPr>
          <p:cNvPr id="41" name="Shape 39"/>
          <p:cNvSpPr/>
          <p:nvPr/>
        </p:nvSpPr>
        <p:spPr>
          <a:xfrm>
            <a:off x="3210458" y="3337560"/>
            <a:ext cx="481432" cy="91"/>
          </a:xfrm>
          <a:prstGeom prst="line">
            <a:avLst/>
          </a:prstGeom>
          <a:noFill/>
          <a:ln w="31750">
            <a:solidFill>
              <a:srgbClr val="6A4C93"/>
            </a:solidFill>
            <a:prstDash val="solid"/>
          </a:ln>
        </p:spPr>
      </p:sp>
      <p:sp>
        <p:nvSpPr>
          <p:cNvPr id="42" name="Shape 40"/>
          <p:cNvSpPr/>
          <p:nvPr/>
        </p:nvSpPr>
        <p:spPr>
          <a:xfrm flipV="1">
            <a:off x="3691890" y="3266237"/>
            <a:ext cx="41605" cy="71323"/>
          </a:xfrm>
          <a:prstGeom prst="line">
            <a:avLst/>
          </a:prstGeom>
          <a:noFill/>
          <a:ln w="19050">
            <a:solidFill>
              <a:srgbClr val="6A4C93"/>
            </a:solidFill>
            <a:prstDash val="solid"/>
          </a:ln>
        </p:spPr>
      </p:sp>
      <p:sp>
        <p:nvSpPr>
          <p:cNvPr id="43" name="Shape 41"/>
          <p:cNvSpPr/>
          <p:nvPr/>
        </p:nvSpPr>
        <p:spPr>
          <a:xfrm>
            <a:off x="3691890" y="3337560"/>
            <a:ext cx="59436" cy="91"/>
          </a:xfrm>
          <a:prstGeom prst="line">
            <a:avLst/>
          </a:prstGeom>
          <a:noFill/>
          <a:ln w="19050">
            <a:solidFill>
              <a:srgbClr val="6A4C93"/>
            </a:solidFill>
            <a:prstDash val="solid"/>
          </a:ln>
        </p:spPr>
      </p:sp>
      <p:sp>
        <p:nvSpPr>
          <p:cNvPr id="44" name="Shape 42"/>
          <p:cNvSpPr/>
          <p:nvPr/>
        </p:nvSpPr>
        <p:spPr>
          <a:xfrm>
            <a:off x="3691890" y="3337560"/>
            <a:ext cx="41605" cy="71323"/>
          </a:xfrm>
          <a:prstGeom prst="line">
            <a:avLst/>
          </a:prstGeom>
          <a:noFill/>
          <a:ln w="19050">
            <a:solidFill>
              <a:srgbClr val="6A4C93"/>
            </a:solidFill>
            <a:prstDash val="solid"/>
          </a:ln>
        </p:spPr>
      </p:sp>
      <p:sp>
        <p:nvSpPr>
          <p:cNvPr id="45" name="Text 43"/>
          <p:cNvSpPr/>
          <p:nvPr/>
        </p:nvSpPr>
        <p:spPr>
          <a:xfrm>
            <a:off x="4023360" y="2816352"/>
            <a:ext cx="1783080" cy="237744"/>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Nerve cell</a:t>
            </a:r>
            <a:endParaRPr lang="en-US" sz="1100" dirty="0"/>
          </a:p>
        </p:txBody>
      </p:sp>
      <p:sp>
        <p:nvSpPr>
          <p:cNvPr id="46" name="Shape 44"/>
          <p:cNvSpPr/>
          <p:nvPr/>
        </p:nvSpPr>
        <p:spPr>
          <a:xfrm>
            <a:off x="4023360" y="3081528"/>
            <a:ext cx="201168" cy="182880"/>
          </a:xfrm>
          <a:prstGeom prst="rect">
            <a:avLst/>
          </a:prstGeom>
          <a:solidFill>
            <a:srgbClr val="D5D9E0"/>
          </a:solidFill>
          <a:ln w="6350">
            <a:solidFill>
              <a:srgbClr val="A0A7B4"/>
            </a:solidFill>
            <a:prstDash val="solid"/>
          </a:ln>
        </p:spPr>
      </p:sp>
      <p:sp>
        <p:nvSpPr>
          <p:cNvPr id="47" name="Shape 45"/>
          <p:cNvSpPr/>
          <p:nvPr/>
        </p:nvSpPr>
        <p:spPr>
          <a:xfrm>
            <a:off x="4251960" y="3081528"/>
            <a:ext cx="201168" cy="182880"/>
          </a:xfrm>
          <a:prstGeom prst="rect">
            <a:avLst/>
          </a:prstGeom>
          <a:solidFill>
            <a:srgbClr val="2E8B57"/>
          </a:solidFill>
          <a:ln w="6350">
            <a:solidFill>
              <a:srgbClr val="1E6B40"/>
            </a:solidFill>
            <a:prstDash val="solid"/>
          </a:ln>
        </p:spPr>
      </p:sp>
      <p:sp>
        <p:nvSpPr>
          <p:cNvPr id="48" name="Shape 46"/>
          <p:cNvSpPr/>
          <p:nvPr/>
        </p:nvSpPr>
        <p:spPr>
          <a:xfrm>
            <a:off x="4480560" y="3081528"/>
            <a:ext cx="201168" cy="182880"/>
          </a:xfrm>
          <a:prstGeom prst="rect">
            <a:avLst/>
          </a:prstGeom>
          <a:solidFill>
            <a:srgbClr val="D5D9E0"/>
          </a:solidFill>
          <a:ln w="6350">
            <a:solidFill>
              <a:srgbClr val="A0A7B4"/>
            </a:solidFill>
            <a:prstDash val="solid"/>
          </a:ln>
        </p:spPr>
      </p:sp>
      <p:sp>
        <p:nvSpPr>
          <p:cNvPr id="49" name="Shape 47"/>
          <p:cNvSpPr/>
          <p:nvPr/>
        </p:nvSpPr>
        <p:spPr>
          <a:xfrm>
            <a:off x="4709160" y="3081528"/>
            <a:ext cx="201168" cy="182880"/>
          </a:xfrm>
          <a:prstGeom prst="rect">
            <a:avLst/>
          </a:prstGeom>
          <a:solidFill>
            <a:srgbClr val="D5D9E0"/>
          </a:solidFill>
          <a:ln w="6350">
            <a:solidFill>
              <a:srgbClr val="A0A7B4"/>
            </a:solidFill>
            <a:prstDash val="solid"/>
          </a:ln>
        </p:spPr>
      </p:sp>
      <p:sp>
        <p:nvSpPr>
          <p:cNvPr id="50" name="Shape 48"/>
          <p:cNvSpPr/>
          <p:nvPr/>
        </p:nvSpPr>
        <p:spPr>
          <a:xfrm>
            <a:off x="4937760" y="3081528"/>
            <a:ext cx="201168" cy="182880"/>
          </a:xfrm>
          <a:prstGeom prst="rect">
            <a:avLst/>
          </a:prstGeom>
          <a:solidFill>
            <a:srgbClr val="2E8B57"/>
          </a:solidFill>
          <a:ln w="6350">
            <a:solidFill>
              <a:srgbClr val="1E6B40"/>
            </a:solidFill>
            <a:prstDash val="solid"/>
          </a:ln>
        </p:spPr>
      </p:sp>
      <p:sp>
        <p:nvSpPr>
          <p:cNvPr id="51" name="Shape 49"/>
          <p:cNvSpPr/>
          <p:nvPr/>
        </p:nvSpPr>
        <p:spPr>
          <a:xfrm>
            <a:off x="5166360" y="3081528"/>
            <a:ext cx="201168" cy="182880"/>
          </a:xfrm>
          <a:prstGeom prst="rect">
            <a:avLst/>
          </a:prstGeom>
          <a:solidFill>
            <a:srgbClr val="D5D9E0"/>
          </a:solidFill>
          <a:ln w="6350">
            <a:solidFill>
              <a:srgbClr val="A0A7B4"/>
            </a:solidFill>
            <a:prstDash val="solid"/>
          </a:ln>
        </p:spPr>
      </p:sp>
      <p:sp>
        <p:nvSpPr>
          <p:cNvPr id="52" name="Text 50"/>
          <p:cNvSpPr/>
          <p:nvPr/>
        </p:nvSpPr>
        <p:spPr>
          <a:xfrm>
            <a:off x="4023360" y="3310128"/>
            <a:ext cx="178308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long axon: carries electrical impulses</a:t>
            </a:r>
            <a:endParaRPr lang="en-US" sz="1000" dirty="0"/>
          </a:p>
        </p:txBody>
      </p:sp>
      <p:sp>
        <p:nvSpPr>
          <p:cNvPr id="53" name="Shape 51"/>
          <p:cNvSpPr/>
          <p:nvPr/>
        </p:nvSpPr>
        <p:spPr>
          <a:xfrm>
            <a:off x="1874520" y="3337560"/>
            <a:ext cx="914400" cy="1234440"/>
          </a:xfrm>
          <a:prstGeom prst="line">
            <a:avLst/>
          </a:prstGeom>
          <a:noFill/>
          <a:ln w="19050">
            <a:solidFill>
              <a:srgbClr val="133536"/>
            </a:solidFill>
            <a:prstDash val="solid"/>
            <a:tailEnd type="triangle"/>
          </a:ln>
        </p:spPr>
      </p:sp>
      <p:sp>
        <p:nvSpPr>
          <p:cNvPr id="54" name="Shape 52"/>
          <p:cNvSpPr/>
          <p:nvPr/>
        </p:nvSpPr>
        <p:spPr>
          <a:xfrm>
            <a:off x="2983230" y="4462272"/>
            <a:ext cx="891540" cy="219456"/>
          </a:xfrm>
          <a:prstGeom prst="ellipse">
            <a:avLst/>
          </a:prstGeom>
          <a:solidFill>
            <a:srgbClr val="F4B6B9"/>
          </a:solidFill>
          <a:ln w="15875">
            <a:solidFill>
              <a:srgbClr val="A33E48"/>
            </a:solidFill>
            <a:prstDash val="solid"/>
          </a:ln>
        </p:spPr>
      </p:sp>
      <p:sp>
        <p:nvSpPr>
          <p:cNvPr id="55" name="Shape 53"/>
          <p:cNvSpPr/>
          <p:nvPr/>
        </p:nvSpPr>
        <p:spPr>
          <a:xfrm>
            <a:off x="3127248" y="4496562"/>
            <a:ext cx="91" cy="150876"/>
          </a:xfrm>
          <a:prstGeom prst="line">
            <a:avLst/>
          </a:prstGeom>
          <a:noFill/>
          <a:ln w="9525">
            <a:solidFill>
              <a:srgbClr val="C76A72"/>
            </a:solidFill>
            <a:prstDash val="solid"/>
          </a:ln>
        </p:spPr>
      </p:sp>
      <p:sp>
        <p:nvSpPr>
          <p:cNvPr id="56" name="Shape 54"/>
          <p:cNvSpPr/>
          <p:nvPr/>
        </p:nvSpPr>
        <p:spPr>
          <a:xfrm>
            <a:off x="3202686" y="4496562"/>
            <a:ext cx="91" cy="150876"/>
          </a:xfrm>
          <a:prstGeom prst="line">
            <a:avLst/>
          </a:prstGeom>
          <a:noFill/>
          <a:ln w="9525">
            <a:solidFill>
              <a:srgbClr val="C76A72"/>
            </a:solidFill>
            <a:prstDash val="solid"/>
          </a:ln>
        </p:spPr>
      </p:sp>
      <p:sp>
        <p:nvSpPr>
          <p:cNvPr id="57" name="Shape 55"/>
          <p:cNvSpPr/>
          <p:nvPr/>
        </p:nvSpPr>
        <p:spPr>
          <a:xfrm>
            <a:off x="3278124" y="4496562"/>
            <a:ext cx="91" cy="150876"/>
          </a:xfrm>
          <a:prstGeom prst="line">
            <a:avLst/>
          </a:prstGeom>
          <a:noFill/>
          <a:ln w="9525">
            <a:solidFill>
              <a:srgbClr val="C76A72"/>
            </a:solidFill>
            <a:prstDash val="solid"/>
          </a:ln>
        </p:spPr>
      </p:sp>
      <p:sp>
        <p:nvSpPr>
          <p:cNvPr id="58" name="Shape 56"/>
          <p:cNvSpPr/>
          <p:nvPr/>
        </p:nvSpPr>
        <p:spPr>
          <a:xfrm>
            <a:off x="3353562" y="4496562"/>
            <a:ext cx="91" cy="150876"/>
          </a:xfrm>
          <a:prstGeom prst="line">
            <a:avLst/>
          </a:prstGeom>
          <a:noFill/>
          <a:ln w="9525">
            <a:solidFill>
              <a:srgbClr val="C76A72"/>
            </a:solidFill>
            <a:prstDash val="solid"/>
          </a:ln>
        </p:spPr>
      </p:sp>
      <p:sp>
        <p:nvSpPr>
          <p:cNvPr id="59" name="Shape 57"/>
          <p:cNvSpPr/>
          <p:nvPr/>
        </p:nvSpPr>
        <p:spPr>
          <a:xfrm>
            <a:off x="3429000" y="4496562"/>
            <a:ext cx="91" cy="150876"/>
          </a:xfrm>
          <a:prstGeom prst="line">
            <a:avLst/>
          </a:prstGeom>
          <a:noFill/>
          <a:ln w="9525">
            <a:solidFill>
              <a:srgbClr val="C76A72"/>
            </a:solidFill>
            <a:prstDash val="solid"/>
          </a:ln>
        </p:spPr>
      </p:sp>
      <p:sp>
        <p:nvSpPr>
          <p:cNvPr id="60" name="Shape 58"/>
          <p:cNvSpPr/>
          <p:nvPr/>
        </p:nvSpPr>
        <p:spPr>
          <a:xfrm>
            <a:off x="3504438" y="4496562"/>
            <a:ext cx="91" cy="150876"/>
          </a:xfrm>
          <a:prstGeom prst="line">
            <a:avLst/>
          </a:prstGeom>
          <a:noFill/>
          <a:ln w="9525">
            <a:solidFill>
              <a:srgbClr val="C76A72"/>
            </a:solidFill>
            <a:prstDash val="solid"/>
          </a:ln>
        </p:spPr>
      </p:sp>
      <p:sp>
        <p:nvSpPr>
          <p:cNvPr id="61" name="Shape 59"/>
          <p:cNvSpPr/>
          <p:nvPr/>
        </p:nvSpPr>
        <p:spPr>
          <a:xfrm>
            <a:off x="3579876" y="4496562"/>
            <a:ext cx="91" cy="150876"/>
          </a:xfrm>
          <a:prstGeom prst="line">
            <a:avLst/>
          </a:prstGeom>
          <a:noFill/>
          <a:ln w="9525">
            <a:solidFill>
              <a:srgbClr val="C76A72"/>
            </a:solidFill>
            <a:prstDash val="solid"/>
          </a:ln>
        </p:spPr>
      </p:sp>
      <p:sp>
        <p:nvSpPr>
          <p:cNvPr id="62" name="Shape 60"/>
          <p:cNvSpPr/>
          <p:nvPr/>
        </p:nvSpPr>
        <p:spPr>
          <a:xfrm>
            <a:off x="3655314" y="4496562"/>
            <a:ext cx="91" cy="150876"/>
          </a:xfrm>
          <a:prstGeom prst="line">
            <a:avLst/>
          </a:prstGeom>
          <a:noFill/>
          <a:ln w="9525">
            <a:solidFill>
              <a:srgbClr val="C76A72"/>
            </a:solidFill>
            <a:prstDash val="solid"/>
          </a:ln>
        </p:spPr>
      </p:sp>
      <p:sp>
        <p:nvSpPr>
          <p:cNvPr id="63" name="Shape 61"/>
          <p:cNvSpPr/>
          <p:nvPr/>
        </p:nvSpPr>
        <p:spPr>
          <a:xfrm>
            <a:off x="3730752" y="4496562"/>
            <a:ext cx="91" cy="150876"/>
          </a:xfrm>
          <a:prstGeom prst="line">
            <a:avLst/>
          </a:prstGeom>
          <a:noFill/>
          <a:ln w="9525">
            <a:solidFill>
              <a:srgbClr val="C76A72"/>
            </a:solidFill>
            <a:prstDash val="solid"/>
          </a:ln>
        </p:spPr>
      </p:sp>
      <p:sp>
        <p:nvSpPr>
          <p:cNvPr id="64" name="Shape 62"/>
          <p:cNvSpPr/>
          <p:nvPr/>
        </p:nvSpPr>
        <p:spPr>
          <a:xfrm>
            <a:off x="3202686" y="4541139"/>
            <a:ext cx="109728" cy="61722"/>
          </a:xfrm>
          <a:prstGeom prst="ellipse">
            <a:avLst/>
          </a:prstGeom>
          <a:solidFill>
            <a:srgbClr val="C9B6E4"/>
          </a:solidFill>
          <a:ln w="12700">
            <a:solidFill>
              <a:srgbClr val="6A4C93"/>
            </a:solidFill>
            <a:prstDash val="solid"/>
          </a:ln>
        </p:spPr>
      </p:sp>
      <p:sp>
        <p:nvSpPr>
          <p:cNvPr id="65" name="Shape 63"/>
          <p:cNvSpPr/>
          <p:nvPr/>
        </p:nvSpPr>
        <p:spPr>
          <a:xfrm>
            <a:off x="3579876" y="4541139"/>
            <a:ext cx="109728" cy="61722"/>
          </a:xfrm>
          <a:prstGeom prst="ellipse">
            <a:avLst/>
          </a:prstGeom>
          <a:solidFill>
            <a:srgbClr val="C9B6E4"/>
          </a:solidFill>
          <a:ln w="12700">
            <a:solidFill>
              <a:srgbClr val="6A4C93"/>
            </a:solidFill>
            <a:prstDash val="solid"/>
          </a:ln>
        </p:spPr>
      </p:sp>
      <p:sp>
        <p:nvSpPr>
          <p:cNvPr id="66" name="Text 64"/>
          <p:cNvSpPr/>
          <p:nvPr/>
        </p:nvSpPr>
        <p:spPr>
          <a:xfrm>
            <a:off x="4023360" y="4050792"/>
            <a:ext cx="1783080" cy="237744"/>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Muscle cell</a:t>
            </a:r>
            <a:endParaRPr lang="en-US" sz="1100" dirty="0"/>
          </a:p>
        </p:txBody>
      </p:sp>
      <p:sp>
        <p:nvSpPr>
          <p:cNvPr id="67" name="Shape 65"/>
          <p:cNvSpPr/>
          <p:nvPr/>
        </p:nvSpPr>
        <p:spPr>
          <a:xfrm>
            <a:off x="4023360" y="4315968"/>
            <a:ext cx="201168" cy="182880"/>
          </a:xfrm>
          <a:prstGeom prst="rect">
            <a:avLst/>
          </a:prstGeom>
          <a:solidFill>
            <a:srgbClr val="D5D9E0"/>
          </a:solidFill>
          <a:ln w="6350">
            <a:solidFill>
              <a:srgbClr val="A0A7B4"/>
            </a:solidFill>
            <a:prstDash val="solid"/>
          </a:ln>
        </p:spPr>
      </p:sp>
      <p:sp>
        <p:nvSpPr>
          <p:cNvPr id="68" name="Shape 66"/>
          <p:cNvSpPr/>
          <p:nvPr/>
        </p:nvSpPr>
        <p:spPr>
          <a:xfrm>
            <a:off x="4251960" y="4315968"/>
            <a:ext cx="201168" cy="182880"/>
          </a:xfrm>
          <a:prstGeom prst="rect">
            <a:avLst/>
          </a:prstGeom>
          <a:solidFill>
            <a:srgbClr val="D5D9E0"/>
          </a:solidFill>
          <a:ln w="6350">
            <a:solidFill>
              <a:srgbClr val="A0A7B4"/>
            </a:solidFill>
            <a:prstDash val="solid"/>
          </a:ln>
        </p:spPr>
      </p:sp>
      <p:sp>
        <p:nvSpPr>
          <p:cNvPr id="69" name="Shape 67"/>
          <p:cNvSpPr/>
          <p:nvPr/>
        </p:nvSpPr>
        <p:spPr>
          <a:xfrm>
            <a:off x="4480560" y="4315968"/>
            <a:ext cx="201168" cy="182880"/>
          </a:xfrm>
          <a:prstGeom prst="rect">
            <a:avLst/>
          </a:prstGeom>
          <a:solidFill>
            <a:srgbClr val="2E8B57"/>
          </a:solidFill>
          <a:ln w="6350">
            <a:solidFill>
              <a:srgbClr val="1E6B40"/>
            </a:solidFill>
            <a:prstDash val="solid"/>
          </a:ln>
        </p:spPr>
      </p:sp>
      <p:sp>
        <p:nvSpPr>
          <p:cNvPr id="70" name="Shape 68"/>
          <p:cNvSpPr/>
          <p:nvPr/>
        </p:nvSpPr>
        <p:spPr>
          <a:xfrm>
            <a:off x="4709160" y="4315968"/>
            <a:ext cx="201168" cy="182880"/>
          </a:xfrm>
          <a:prstGeom prst="rect">
            <a:avLst/>
          </a:prstGeom>
          <a:solidFill>
            <a:srgbClr val="D5D9E0"/>
          </a:solidFill>
          <a:ln w="6350">
            <a:solidFill>
              <a:srgbClr val="A0A7B4"/>
            </a:solidFill>
            <a:prstDash val="solid"/>
          </a:ln>
        </p:spPr>
      </p:sp>
      <p:sp>
        <p:nvSpPr>
          <p:cNvPr id="71" name="Shape 69"/>
          <p:cNvSpPr/>
          <p:nvPr/>
        </p:nvSpPr>
        <p:spPr>
          <a:xfrm>
            <a:off x="4937760" y="4315968"/>
            <a:ext cx="201168" cy="182880"/>
          </a:xfrm>
          <a:prstGeom prst="rect">
            <a:avLst/>
          </a:prstGeom>
          <a:solidFill>
            <a:srgbClr val="D5D9E0"/>
          </a:solidFill>
          <a:ln w="6350">
            <a:solidFill>
              <a:srgbClr val="A0A7B4"/>
            </a:solidFill>
            <a:prstDash val="solid"/>
          </a:ln>
        </p:spPr>
      </p:sp>
      <p:sp>
        <p:nvSpPr>
          <p:cNvPr id="72" name="Shape 70"/>
          <p:cNvSpPr/>
          <p:nvPr/>
        </p:nvSpPr>
        <p:spPr>
          <a:xfrm>
            <a:off x="5166360" y="4315968"/>
            <a:ext cx="201168" cy="182880"/>
          </a:xfrm>
          <a:prstGeom prst="rect">
            <a:avLst/>
          </a:prstGeom>
          <a:solidFill>
            <a:srgbClr val="2E8B57"/>
          </a:solidFill>
          <a:ln w="6350">
            <a:solidFill>
              <a:srgbClr val="1E6B40"/>
            </a:solidFill>
            <a:prstDash val="solid"/>
          </a:ln>
        </p:spPr>
      </p:sp>
      <p:sp>
        <p:nvSpPr>
          <p:cNvPr id="73" name="Text 71"/>
          <p:cNvSpPr/>
          <p:nvPr/>
        </p:nvSpPr>
        <p:spPr>
          <a:xfrm>
            <a:off x="4023360" y="4544568"/>
            <a:ext cx="178308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contracting proteins ON: can contract</a:t>
            </a:r>
            <a:endParaRPr lang="en-US" sz="1000" dirty="0"/>
          </a:p>
        </p:txBody>
      </p:sp>
      <p:sp>
        <p:nvSpPr>
          <p:cNvPr id="74" name="Text 72"/>
          <p:cNvSpPr/>
          <p:nvPr/>
        </p:nvSpPr>
        <p:spPr>
          <a:xfrm>
            <a:off x="1965960" y="2651760"/>
            <a:ext cx="8229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differentiation</a:t>
            </a:r>
            <a:endParaRPr lang="en-US" sz="1050" dirty="0"/>
          </a:p>
        </p:txBody>
      </p:sp>
      <p:sp>
        <p:nvSpPr>
          <p:cNvPr id="75" name="Shape 73"/>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76" name="Text 7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cells differentiate</a:t>
            </a:r>
            <a:endParaRPr lang="en-US" sz="1300" dirty="0"/>
          </a:p>
        </p:txBody>
      </p:sp>
      <p:sp>
        <p:nvSpPr>
          <p:cNvPr id="77" name="Text 7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Differentiation</a:t>
            </a:r>
            <a:r>
              <a:rPr lang="en-US" sz="1100" dirty="0">
                <a:solidFill>
                  <a:srgbClr val="262B3A"/>
                </a:solidFill>
                <a:latin typeface="Calibri" pitchFamily="34" charset="0"/>
                <a:ea typeface="Calibri" pitchFamily="34" charset="-122"/>
                <a:cs typeface="Calibri" pitchFamily="34" charset="-120"/>
              </a:rPr>
              <a:t> is the process where a cell becomes </a:t>
            </a:r>
            <a:r>
              <a:rPr lang="en-US" sz="1100" b="1" dirty="0">
                <a:solidFill>
                  <a:srgbClr val="262B3A"/>
                </a:solidFill>
                <a:latin typeface="Calibri" pitchFamily="34" charset="0"/>
                <a:ea typeface="Calibri" pitchFamily="34" charset="-122"/>
                <a:cs typeface="Calibri" pitchFamily="34" charset="-120"/>
              </a:rPr>
              <a:t>specialised</a:t>
            </a:r>
            <a:r>
              <a:rPr lang="en-US" sz="1100" dirty="0">
                <a:solidFill>
                  <a:srgbClr val="262B3A"/>
                </a:solidFill>
                <a:latin typeface="Calibri" pitchFamily="34" charset="0"/>
                <a:ea typeface="Calibri" pitchFamily="34" charset="-122"/>
                <a:cs typeface="Calibri" pitchFamily="34" charset="-120"/>
              </a:rPr>
              <a:t> for a particular job.</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body cell has the </a:t>
            </a:r>
            <a:r>
              <a:rPr lang="en-US" sz="1100" b="1" dirty="0">
                <a:solidFill>
                  <a:srgbClr val="262B3A"/>
                </a:solidFill>
                <a:latin typeface="Calibri" pitchFamily="34" charset="0"/>
                <a:ea typeface="Calibri" pitchFamily="34" charset="-122"/>
                <a:cs typeface="Calibri" pitchFamily="34" charset="-120"/>
              </a:rPr>
              <a:t>same genes</a:t>
            </a:r>
            <a:r>
              <a:rPr lang="en-US" sz="1100" dirty="0">
                <a:solidFill>
                  <a:srgbClr val="262B3A"/>
                </a:solidFill>
                <a:latin typeface="Calibri" pitchFamily="34" charset="0"/>
                <a:ea typeface="Calibri" pitchFamily="34" charset="-122"/>
                <a:cs typeface="Calibri" pitchFamily="34" charset="-120"/>
              </a:rPr>
              <a:t>. Different cells switch different genes </a:t>
            </a:r>
            <a:r>
              <a:rPr lang="en-US" sz="1100" b="1" dirty="0">
                <a:solidFill>
                  <a:srgbClr val="262B3A"/>
                </a:solidFill>
                <a:latin typeface="Calibri" pitchFamily="34" charset="0"/>
                <a:ea typeface="Calibri" pitchFamily="34" charset="-122"/>
                <a:cs typeface="Calibri" pitchFamily="34" charset="-120"/>
              </a:rPr>
              <a:t>on</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off</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genes that are on decide which </a:t>
            </a:r>
            <a:r>
              <a:rPr lang="en-US" sz="1100" b="1" dirty="0">
                <a:solidFill>
                  <a:srgbClr val="262B3A"/>
                </a:solidFill>
                <a:latin typeface="Calibri" pitchFamily="34" charset="0"/>
                <a:ea typeface="Calibri" pitchFamily="34" charset="-122"/>
                <a:cs typeface="Calibri" pitchFamily="34" charset="-120"/>
              </a:rPr>
              <a:t>proteins</a:t>
            </a:r>
            <a:r>
              <a:rPr lang="en-US" sz="1100" dirty="0">
                <a:solidFill>
                  <a:srgbClr val="262B3A"/>
                </a:solidFill>
                <a:latin typeface="Calibri" pitchFamily="34" charset="0"/>
                <a:ea typeface="Calibri" pitchFamily="34" charset="-122"/>
                <a:cs typeface="Calibri" pitchFamily="34" charset="-120"/>
              </a:rPr>
              <a:t> the cell makes, and so its shape and job.</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Specialised cells work together in </a:t>
            </a:r>
            <a:r>
              <a:rPr lang="en-US" sz="1100" b="1" dirty="0">
                <a:solidFill>
                  <a:srgbClr val="262B3A"/>
                </a:solidFill>
                <a:latin typeface="Calibri" pitchFamily="34" charset="0"/>
                <a:ea typeface="Calibri" pitchFamily="34" charset="-122"/>
                <a:cs typeface="Calibri" pitchFamily="34" charset="-120"/>
              </a:rPr>
              <a:t>tissues</a:t>
            </a:r>
            <a:r>
              <a:rPr lang="en-US" sz="1100" dirty="0">
                <a:solidFill>
                  <a:srgbClr val="262B3A"/>
                </a:solidFill>
                <a:latin typeface="Calibri" pitchFamily="34" charset="0"/>
                <a:ea typeface="Calibri" pitchFamily="34" charset="-122"/>
                <a:cs typeface="Calibri" pitchFamily="34" charset="-120"/>
              </a:rPr>
              <a:t> (e.g. muscle tissue), which form organs.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Most animal cells differentiate </a:t>
            </a:r>
            <a:r>
              <a:rPr lang="en-US" sz="1100" b="1" dirty="0">
                <a:solidFill>
                  <a:srgbClr val="262B3A"/>
                </a:solidFill>
                <a:latin typeface="Calibri" pitchFamily="34" charset="0"/>
                <a:ea typeface="Calibri" pitchFamily="34" charset="-122"/>
                <a:cs typeface="Calibri" pitchFamily="34" charset="-120"/>
              </a:rPr>
              <a:t>early</a:t>
            </a:r>
            <a:r>
              <a:rPr lang="en-US" sz="1100" dirty="0">
                <a:solidFill>
                  <a:srgbClr val="262B3A"/>
                </a:solidFill>
                <a:latin typeface="Calibri" pitchFamily="34" charset="0"/>
                <a:ea typeface="Calibri" pitchFamily="34" charset="-122"/>
                <a:cs typeface="Calibri" pitchFamily="34" charset="-120"/>
              </a:rPr>
              <a:t> in development and lose the ability to become other cell types.</a:t>
            </a:r>
            <a:endParaRPr lang="en-US" sz="1100" dirty="0"/>
          </a:p>
        </p:txBody>
      </p:sp>
      <p:sp>
        <p:nvSpPr>
          <p:cNvPr id="78" name="Shape 7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9" name="Text 7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80" name="Text 78"/>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nerve cell and a muscle cell from the same person have the same genes but look different. Explain why.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Same genes   </a:t>
            </a:r>
            <a:r>
              <a:rPr lang="en-US" sz="1050" dirty="0">
                <a:solidFill>
                  <a:srgbClr val="262B3A"/>
                </a:solidFill>
                <a:latin typeface="Calibri" pitchFamily="34" charset="0"/>
                <a:ea typeface="Calibri" pitchFamily="34" charset="-122"/>
                <a:cs typeface="Calibri" pitchFamily="34" charset="-120"/>
              </a:rPr>
              <a:t>both came from the zygote by mitosis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Switching   </a:t>
            </a:r>
            <a:r>
              <a:rPr lang="en-US" sz="1050" dirty="0">
                <a:solidFill>
                  <a:srgbClr val="262B3A"/>
                </a:solidFill>
                <a:latin typeface="Calibri" pitchFamily="34" charset="0"/>
                <a:ea typeface="Calibri" pitchFamily="34" charset="-122"/>
                <a:cs typeface="Calibri" pitchFamily="34" charset="-120"/>
              </a:rPr>
              <a:t>different genes are switched on in each cell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Proteins   </a:t>
            </a:r>
            <a:r>
              <a:rPr lang="en-US" sz="1050" dirty="0">
                <a:solidFill>
                  <a:srgbClr val="262B3A"/>
                </a:solidFill>
                <a:latin typeface="Calibri" pitchFamily="34" charset="0"/>
                <a:ea typeface="Calibri" pitchFamily="34" charset="-122"/>
                <a:cs typeface="Calibri" pitchFamily="34" charset="-120"/>
              </a:rPr>
              <a:t>so each cell makes different proteins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different proteins give a different structure and job</a:t>
            </a:r>
            <a:endParaRPr lang="en-US" sz="1050" dirty="0"/>
          </a:p>
        </p:txBody>
      </p:sp>
      <p:sp>
        <p:nvSpPr>
          <p:cNvPr id="81" name="Shape 79"/>
          <p:cNvSpPr/>
          <p:nvPr/>
        </p:nvSpPr>
        <p:spPr>
          <a:xfrm>
            <a:off x="411480" y="5833872"/>
            <a:ext cx="11368735" cy="530352"/>
          </a:xfrm>
          <a:prstGeom prst="rect">
            <a:avLst/>
          </a:prstGeom>
          <a:solidFill>
            <a:srgbClr val="FFF4E0"/>
          </a:solidFill>
          <a:ln w="6350">
            <a:solidFill>
              <a:srgbClr val="F1D9A8"/>
            </a:solidFill>
            <a:prstDash val="solid"/>
          </a:ln>
        </p:spPr>
      </p:sp>
      <p:sp>
        <p:nvSpPr>
          <p:cNvPr id="82" name="Shape 80"/>
          <p:cNvSpPr/>
          <p:nvPr/>
        </p:nvSpPr>
        <p:spPr>
          <a:xfrm>
            <a:off x="411480" y="5833872"/>
            <a:ext cx="82296" cy="530352"/>
          </a:xfrm>
          <a:prstGeom prst="rect">
            <a:avLst/>
          </a:prstGeom>
          <a:solidFill>
            <a:srgbClr val="E39A2F"/>
          </a:solidFill>
          <a:ln w="12700">
            <a:solidFill>
              <a:srgbClr val="E39A2F"/>
            </a:solidFill>
            <a:prstDash val="solid"/>
          </a:ln>
        </p:spPr>
      </p:sp>
      <p:sp>
        <p:nvSpPr>
          <p:cNvPr id="83" name="Text 8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differentiation important for a </a:t>
            </a:r>
            <a:r>
              <a:rPr lang="en-US" sz="1150" b="1" dirty="0">
                <a:solidFill>
                  <a:srgbClr val="262B3A"/>
                </a:solidFill>
                <a:latin typeface="Calibri" pitchFamily="34" charset="0"/>
                <a:ea typeface="Calibri" pitchFamily="34" charset="-122"/>
                <a:cs typeface="Calibri" pitchFamily="34" charset="-120"/>
              </a:rPr>
              <a:t>multicellular</a:t>
            </a:r>
            <a:r>
              <a:rPr lang="en-US" sz="1150" dirty="0">
                <a:solidFill>
                  <a:srgbClr val="262B3A"/>
                </a:solidFill>
                <a:latin typeface="Calibri" pitchFamily="34" charset="0"/>
                <a:ea typeface="Calibri" pitchFamily="34" charset="-122"/>
                <a:cs typeface="Calibri" pitchFamily="34" charset="-120"/>
              </a:rPr>
              <a:t> organism? Use the word </a:t>
            </a:r>
            <a:r>
              <a:rPr lang="en-US" sz="1150" b="1" dirty="0">
                <a:solidFill>
                  <a:srgbClr val="262B3A"/>
                </a:solidFill>
                <a:latin typeface="Calibri" pitchFamily="34" charset="0"/>
                <a:ea typeface="Calibri" pitchFamily="34" charset="-122"/>
                <a:cs typeface="Calibri" pitchFamily="34" charset="-120"/>
              </a:rPr>
              <a:t>tissue</a:t>
            </a:r>
            <a:r>
              <a:rPr lang="en-US" sz="1150" dirty="0">
                <a:solidFill>
                  <a:srgbClr val="262B3A"/>
                </a:solidFill>
                <a:latin typeface="Calibri" pitchFamily="34" charset="0"/>
                <a:ea typeface="Calibri" pitchFamily="34" charset="-122"/>
                <a:cs typeface="Calibri" pitchFamily="34" charset="-120"/>
              </a:rPr>
              <a:t> in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Stem cells in embryos and adults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B4.3.4 • stem cells are unspecialised cells that can divide and differentiate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B4.3.4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early embryo (top); bone marrow in a long bone (bottom)</a:t>
            </a:r>
            <a:endParaRPr lang="en-US" sz="1000" dirty="0"/>
          </a:p>
        </p:txBody>
      </p:sp>
      <p:sp>
        <p:nvSpPr>
          <p:cNvPr id="10" name="Text 8"/>
          <p:cNvSpPr/>
          <p:nvPr/>
        </p:nvSpPr>
        <p:spPr>
          <a:xfrm>
            <a:off x="594360" y="1298448"/>
            <a:ext cx="521208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Embryonic stem cells</a:t>
            </a:r>
            <a:endParaRPr lang="en-US" sz="1100" dirty="0"/>
          </a:p>
        </p:txBody>
      </p:sp>
      <p:sp>
        <p:nvSpPr>
          <p:cNvPr id="11" name="Shape 9"/>
          <p:cNvSpPr/>
          <p:nvPr/>
        </p:nvSpPr>
        <p:spPr>
          <a:xfrm>
            <a:off x="685800" y="1783080"/>
            <a:ext cx="548640" cy="548640"/>
          </a:xfrm>
          <a:prstGeom prst="ellipse">
            <a:avLst/>
          </a:prstGeom>
          <a:solidFill>
            <a:srgbClr val="FFF4D6"/>
          </a:solidFill>
          <a:ln w="19050">
            <a:solidFill>
              <a:srgbClr val="B8730A"/>
            </a:solidFill>
            <a:prstDash val="solid"/>
          </a:ln>
        </p:spPr>
      </p:sp>
      <p:sp>
        <p:nvSpPr>
          <p:cNvPr id="12" name="Shape 10"/>
          <p:cNvSpPr/>
          <p:nvPr/>
        </p:nvSpPr>
        <p:spPr>
          <a:xfrm>
            <a:off x="836676" y="1933956"/>
            <a:ext cx="246888" cy="246888"/>
          </a:xfrm>
          <a:prstGeom prst="ellipse">
            <a:avLst/>
          </a:prstGeom>
          <a:solidFill>
            <a:srgbClr val="C9B6E4"/>
          </a:solidFill>
          <a:ln w="12700">
            <a:solidFill>
              <a:srgbClr val="6A4C93"/>
            </a:solidFill>
            <a:prstDash val="solid"/>
          </a:ln>
        </p:spPr>
      </p:sp>
      <p:sp>
        <p:nvSpPr>
          <p:cNvPr id="13" name="Shape 11"/>
          <p:cNvSpPr/>
          <p:nvPr/>
        </p:nvSpPr>
        <p:spPr>
          <a:xfrm>
            <a:off x="1298448" y="2057400"/>
            <a:ext cx="393192" cy="91"/>
          </a:xfrm>
          <a:prstGeom prst="line">
            <a:avLst/>
          </a:prstGeom>
          <a:noFill/>
          <a:ln w="19050">
            <a:solidFill>
              <a:srgbClr val="133536"/>
            </a:solidFill>
            <a:prstDash val="solid"/>
            <a:tailEnd type="triangle"/>
          </a:ln>
        </p:spPr>
      </p:sp>
      <p:sp>
        <p:nvSpPr>
          <p:cNvPr id="14" name="Shape 12"/>
          <p:cNvSpPr/>
          <p:nvPr/>
        </p:nvSpPr>
        <p:spPr>
          <a:xfrm>
            <a:off x="1773936" y="1819656"/>
            <a:ext cx="237744" cy="237744"/>
          </a:xfrm>
          <a:prstGeom prst="ellipse">
            <a:avLst/>
          </a:prstGeom>
          <a:solidFill>
            <a:srgbClr val="FFF4D6"/>
          </a:solidFill>
          <a:ln w="19050">
            <a:solidFill>
              <a:srgbClr val="B8730A"/>
            </a:solidFill>
            <a:prstDash val="solid"/>
          </a:ln>
        </p:spPr>
      </p:sp>
      <p:sp>
        <p:nvSpPr>
          <p:cNvPr id="15" name="Shape 13"/>
          <p:cNvSpPr/>
          <p:nvPr/>
        </p:nvSpPr>
        <p:spPr>
          <a:xfrm>
            <a:off x="1839316" y="1885036"/>
            <a:ext cx="106985" cy="106985"/>
          </a:xfrm>
          <a:prstGeom prst="ellipse">
            <a:avLst/>
          </a:prstGeom>
          <a:solidFill>
            <a:srgbClr val="C9B6E4"/>
          </a:solidFill>
          <a:ln w="12700">
            <a:solidFill>
              <a:srgbClr val="6A4C93"/>
            </a:solidFill>
            <a:prstDash val="solid"/>
          </a:ln>
        </p:spPr>
      </p:sp>
      <p:sp>
        <p:nvSpPr>
          <p:cNvPr id="16" name="Shape 14"/>
          <p:cNvSpPr/>
          <p:nvPr/>
        </p:nvSpPr>
        <p:spPr>
          <a:xfrm>
            <a:off x="2011680" y="1819656"/>
            <a:ext cx="237744" cy="237744"/>
          </a:xfrm>
          <a:prstGeom prst="ellipse">
            <a:avLst/>
          </a:prstGeom>
          <a:solidFill>
            <a:srgbClr val="FFF4D6"/>
          </a:solidFill>
          <a:ln w="19050">
            <a:solidFill>
              <a:srgbClr val="B8730A"/>
            </a:solidFill>
            <a:prstDash val="solid"/>
          </a:ln>
        </p:spPr>
      </p:sp>
      <p:sp>
        <p:nvSpPr>
          <p:cNvPr id="17" name="Shape 15"/>
          <p:cNvSpPr/>
          <p:nvPr/>
        </p:nvSpPr>
        <p:spPr>
          <a:xfrm>
            <a:off x="2077060" y="1885036"/>
            <a:ext cx="106985" cy="106985"/>
          </a:xfrm>
          <a:prstGeom prst="ellipse">
            <a:avLst/>
          </a:prstGeom>
          <a:solidFill>
            <a:srgbClr val="C9B6E4"/>
          </a:solidFill>
          <a:ln w="12700">
            <a:solidFill>
              <a:srgbClr val="6A4C93"/>
            </a:solidFill>
            <a:prstDash val="solid"/>
          </a:ln>
        </p:spPr>
      </p:sp>
      <p:sp>
        <p:nvSpPr>
          <p:cNvPr id="18" name="Shape 16"/>
          <p:cNvSpPr/>
          <p:nvPr/>
        </p:nvSpPr>
        <p:spPr>
          <a:xfrm>
            <a:off x="1773936" y="2057400"/>
            <a:ext cx="237744" cy="237744"/>
          </a:xfrm>
          <a:prstGeom prst="ellipse">
            <a:avLst/>
          </a:prstGeom>
          <a:solidFill>
            <a:srgbClr val="FFF4D6"/>
          </a:solidFill>
          <a:ln w="19050">
            <a:solidFill>
              <a:srgbClr val="B8730A"/>
            </a:solidFill>
            <a:prstDash val="solid"/>
          </a:ln>
        </p:spPr>
      </p:sp>
      <p:sp>
        <p:nvSpPr>
          <p:cNvPr id="19" name="Shape 17"/>
          <p:cNvSpPr/>
          <p:nvPr/>
        </p:nvSpPr>
        <p:spPr>
          <a:xfrm>
            <a:off x="1839316" y="2122780"/>
            <a:ext cx="106985" cy="106985"/>
          </a:xfrm>
          <a:prstGeom prst="ellipse">
            <a:avLst/>
          </a:prstGeom>
          <a:solidFill>
            <a:srgbClr val="C9B6E4"/>
          </a:solidFill>
          <a:ln w="12700">
            <a:solidFill>
              <a:srgbClr val="6A4C93"/>
            </a:solidFill>
            <a:prstDash val="solid"/>
          </a:ln>
        </p:spPr>
      </p:sp>
      <p:sp>
        <p:nvSpPr>
          <p:cNvPr id="20" name="Shape 18"/>
          <p:cNvSpPr/>
          <p:nvPr/>
        </p:nvSpPr>
        <p:spPr>
          <a:xfrm>
            <a:off x="2011680" y="2057400"/>
            <a:ext cx="237744" cy="237744"/>
          </a:xfrm>
          <a:prstGeom prst="ellipse">
            <a:avLst/>
          </a:prstGeom>
          <a:solidFill>
            <a:srgbClr val="FFF4D6"/>
          </a:solidFill>
          <a:ln w="19050">
            <a:solidFill>
              <a:srgbClr val="B8730A"/>
            </a:solidFill>
            <a:prstDash val="solid"/>
          </a:ln>
        </p:spPr>
      </p:sp>
      <p:sp>
        <p:nvSpPr>
          <p:cNvPr id="21" name="Shape 19"/>
          <p:cNvSpPr/>
          <p:nvPr/>
        </p:nvSpPr>
        <p:spPr>
          <a:xfrm>
            <a:off x="2077060" y="2122780"/>
            <a:ext cx="106985" cy="106985"/>
          </a:xfrm>
          <a:prstGeom prst="ellipse">
            <a:avLst/>
          </a:prstGeom>
          <a:solidFill>
            <a:srgbClr val="C9B6E4"/>
          </a:solidFill>
          <a:ln w="12700">
            <a:solidFill>
              <a:srgbClr val="6A4C93"/>
            </a:solidFill>
            <a:prstDash val="solid"/>
          </a:ln>
        </p:spPr>
      </p:sp>
      <p:sp>
        <p:nvSpPr>
          <p:cNvPr id="22" name="Shape 20"/>
          <p:cNvSpPr/>
          <p:nvPr/>
        </p:nvSpPr>
        <p:spPr>
          <a:xfrm>
            <a:off x="2331720" y="2057400"/>
            <a:ext cx="411480" cy="91"/>
          </a:xfrm>
          <a:prstGeom prst="line">
            <a:avLst/>
          </a:prstGeom>
          <a:noFill/>
          <a:ln w="19050">
            <a:solidFill>
              <a:srgbClr val="133536"/>
            </a:solidFill>
            <a:prstDash val="solid"/>
            <a:tailEnd type="triangle"/>
          </a:ln>
        </p:spPr>
      </p:sp>
      <p:sp>
        <p:nvSpPr>
          <p:cNvPr id="23" name="Shape 21"/>
          <p:cNvSpPr/>
          <p:nvPr/>
        </p:nvSpPr>
        <p:spPr>
          <a:xfrm>
            <a:off x="2834640" y="1645920"/>
            <a:ext cx="822960" cy="822960"/>
          </a:xfrm>
          <a:prstGeom prst="ellipse">
            <a:avLst/>
          </a:prstGeom>
          <a:solidFill>
            <a:srgbClr val="FFF8E7"/>
          </a:solidFill>
          <a:ln w="15875">
            <a:solidFill>
              <a:srgbClr val="B8730A"/>
            </a:solidFill>
            <a:prstDash val="solid"/>
          </a:ln>
        </p:spPr>
      </p:sp>
      <p:sp>
        <p:nvSpPr>
          <p:cNvPr id="24" name="Shape 22"/>
          <p:cNvSpPr/>
          <p:nvPr/>
        </p:nvSpPr>
        <p:spPr>
          <a:xfrm>
            <a:off x="3529584" y="1993392"/>
            <a:ext cx="128016" cy="128016"/>
          </a:xfrm>
          <a:prstGeom prst="ellipse">
            <a:avLst/>
          </a:prstGeom>
          <a:solidFill>
            <a:srgbClr val="FFF4D6"/>
          </a:solidFill>
          <a:ln w="9525">
            <a:solidFill>
              <a:srgbClr val="B8730A"/>
            </a:solidFill>
            <a:prstDash val="solid"/>
          </a:ln>
        </p:spPr>
      </p:sp>
      <p:sp>
        <p:nvSpPr>
          <p:cNvPr id="25" name="Shape 23"/>
          <p:cNvSpPr/>
          <p:nvPr/>
        </p:nvSpPr>
        <p:spPr>
          <a:xfrm>
            <a:off x="3495173" y="2144154"/>
            <a:ext cx="128016" cy="128016"/>
          </a:xfrm>
          <a:prstGeom prst="ellipse">
            <a:avLst/>
          </a:prstGeom>
          <a:solidFill>
            <a:srgbClr val="FFF4D6"/>
          </a:solidFill>
          <a:ln w="9525">
            <a:solidFill>
              <a:srgbClr val="B8730A"/>
            </a:solidFill>
            <a:prstDash val="solid"/>
          </a:ln>
        </p:spPr>
      </p:sp>
      <p:sp>
        <p:nvSpPr>
          <p:cNvPr id="26" name="Shape 24"/>
          <p:cNvSpPr/>
          <p:nvPr/>
        </p:nvSpPr>
        <p:spPr>
          <a:xfrm>
            <a:off x="3398757" y="2265057"/>
            <a:ext cx="128016" cy="128016"/>
          </a:xfrm>
          <a:prstGeom prst="ellipse">
            <a:avLst/>
          </a:prstGeom>
          <a:solidFill>
            <a:srgbClr val="FFF4D6"/>
          </a:solidFill>
          <a:ln w="9525">
            <a:solidFill>
              <a:srgbClr val="B8730A"/>
            </a:solidFill>
            <a:prstDash val="solid"/>
          </a:ln>
        </p:spPr>
      </p:sp>
      <p:sp>
        <p:nvSpPr>
          <p:cNvPr id="27" name="Shape 25"/>
          <p:cNvSpPr/>
          <p:nvPr/>
        </p:nvSpPr>
        <p:spPr>
          <a:xfrm>
            <a:off x="3259432" y="2332152"/>
            <a:ext cx="128016" cy="128016"/>
          </a:xfrm>
          <a:prstGeom prst="ellipse">
            <a:avLst/>
          </a:prstGeom>
          <a:solidFill>
            <a:srgbClr val="FFF4D6"/>
          </a:solidFill>
          <a:ln w="9525">
            <a:solidFill>
              <a:srgbClr val="B8730A"/>
            </a:solidFill>
            <a:prstDash val="solid"/>
          </a:ln>
        </p:spPr>
      </p:sp>
      <p:sp>
        <p:nvSpPr>
          <p:cNvPr id="28" name="Shape 26"/>
          <p:cNvSpPr/>
          <p:nvPr/>
        </p:nvSpPr>
        <p:spPr>
          <a:xfrm>
            <a:off x="3104792" y="2332152"/>
            <a:ext cx="128016" cy="128016"/>
          </a:xfrm>
          <a:prstGeom prst="ellipse">
            <a:avLst/>
          </a:prstGeom>
          <a:solidFill>
            <a:srgbClr val="FFF4D6"/>
          </a:solidFill>
          <a:ln w="9525">
            <a:solidFill>
              <a:srgbClr val="B8730A"/>
            </a:solidFill>
            <a:prstDash val="solid"/>
          </a:ln>
        </p:spPr>
      </p:sp>
      <p:sp>
        <p:nvSpPr>
          <p:cNvPr id="29" name="Shape 27"/>
          <p:cNvSpPr/>
          <p:nvPr/>
        </p:nvSpPr>
        <p:spPr>
          <a:xfrm>
            <a:off x="2965467" y="2265057"/>
            <a:ext cx="128016" cy="128016"/>
          </a:xfrm>
          <a:prstGeom prst="ellipse">
            <a:avLst/>
          </a:prstGeom>
          <a:solidFill>
            <a:srgbClr val="FFF4D6"/>
          </a:solidFill>
          <a:ln w="9525">
            <a:solidFill>
              <a:srgbClr val="B8730A"/>
            </a:solidFill>
            <a:prstDash val="solid"/>
          </a:ln>
        </p:spPr>
      </p:sp>
      <p:sp>
        <p:nvSpPr>
          <p:cNvPr id="30" name="Shape 28"/>
          <p:cNvSpPr/>
          <p:nvPr/>
        </p:nvSpPr>
        <p:spPr>
          <a:xfrm>
            <a:off x="2869051" y="2144154"/>
            <a:ext cx="128016" cy="128016"/>
          </a:xfrm>
          <a:prstGeom prst="ellipse">
            <a:avLst/>
          </a:prstGeom>
          <a:solidFill>
            <a:srgbClr val="FFF4D6"/>
          </a:solidFill>
          <a:ln w="9525">
            <a:solidFill>
              <a:srgbClr val="B8730A"/>
            </a:solidFill>
            <a:prstDash val="solid"/>
          </a:ln>
        </p:spPr>
      </p:sp>
      <p:sp>
        <p:nvSpPr>
          <p:cNvPr id="31" name="Shape 29"/>
          <p:cNvSpPr/>
          <p:nvPr/>
        </p:nvSpPr>
        <p:spPr>
          <a:xfrm>
            <a:off x="2834640" y="1993392"/>
            <a:ext cx="128016" cy="128016"/>
          </a:xfrm>
          <a:prstGeom prst="ellipse">
            <a:avLst/>
          </a:prstGeom>
          <a:solidFill>
            <a:srgbClr val="FFF4D6"/>
          </a:solidFill>
          <a:ln w="9525">
            <a:solidFill>
              <a:srgbClr val="B8730A"/>
            </a:solidFill>
            <a:prstDash val="solid"/>
          </a:ln>
        </p:spPr>
      </p:sp>
      <p:sp>
        <p:nvSpPr>
          <p:cNvPr id="32" name="Shape 30"/>
          <p:cNvSpPr/>
          <p:nvPr/>
        </p:nvSpPr>
        <p:spPr>
          <a:xfrm>
            <a:off x="2869051" y="1842630"/>
            <a:ext cx="128016" cy="128016"/>
          </a:xfrm>
          <a:prstGeom prst="ellipse">
            <a:avLst/>
          </a:prstGeom>
          <a:solidFill>
            <a:srgbClr val="FFF4D6"/>
          </a:solidFill>
          <a:ln w="9525">
            <a:solidFill>
              <a:srgbClr val="B8730A"/>
            </a:solidFill>
            <a:prstDash val="solid"/>
          </a:ln>
        </p:spPr>
      </p:sp>
      <p:sp>
        <p:nvSpPr>
          <p:cNvPr id="33" name="Shape 31"/>
          <p:cNvSpPr/>
          <p:nvPr/>
        </p:nvSpPr>
        <p:spPr>
          <a:xfrm>
            <a:off x="2965467" y="1721727"/>
            <a:ext cx="128016" cy="128016"/>
          </a:xfrm>
          <a:prstGeom prst="ellipse">
            <a:avLst/>
          </a:prstGeom>
          <a:solidFill>
            <a:srgbClr val="FFF4D6"/>
          </a:solidFill>
          <a:ln w="9525">
            <a:solidFill>
              <a:srgbClr val="B8730A"/>
            </a:solidFill>
            <a:prstDash val="solid"/>
          </a:ln>
        </p:spPr>
      </p:sp>
      <p:sp>
        <p:nvSpPr>
          <p:cNvPr id="34" name="Shape 32"/>
          <p:cNvSpPr/>
          <p:nvPr/>
        </p:nvSpPr>
        <p:spPr>
          <a:xfrm>
            <a:off x="3104792" y="1654632"/>
            <a:ext cx="128016" cy="128016"/>
          </a:xfrm>
          <a:prstGeom prst="ellipse">
            <a:avLst/>
          </a:prstGeom>
          <a:solidFill>
            <a:srgbClr val="FFF4D6"/>
          </a:solidFill>
          <a:ln w="9525">
            <a:solidFill>
              <a:srgbClr val="B8730A"/>
            </a:solidFill>
            <a:prstDash val="solid"/>
          </a:ln>
        </p:spPr>
      </p:sp>
      <p:sp>
        <p:nvSpPr>
          <p:cNvPr id="35" name="Shape 33"/>
          <p:cNvSpPr/>
          <p:nvPr/>
        </p:nvSpPr>
        <p:spPr>
          <a:xfrm>
            <a:off x="3259432" y="1654632"/>
            <a:ext cx="128016" cy="128016"/>
          </a:xfrm>
          <a:prstGeom prst="ellipse">
            <a:avLst/>
          </a:prstGeom>
          <a:solidFill>
            <a:srgbClr val="FFF4D6"/>
          </a:solidFill>
          <a:ln w="9525">
            <a:solidFill>
              <a:srgbClr val="B8730A"/>
            </a:solidFill>
            <a:prstDash val="solid"/>
          </a:ln>
        </p:spPr>
      </p:sp>
      <p:sp>
        <p:nvSpPr>
          <p:cNvPr id="36" name="Shape 34"/>
          <p:cNvSpPr/>
          <p:nvPr/>
        </p:nvSpPr>
        <p:spPr>
          <a:xfrm>
            <a:off x="3398757" y="1721727"/>
            <a:ext cx="128016" cy="128016"/>
          </a:xfrm>
          <a:prstGeom prst="ellipse">
            <a:avLst/>
          </a:prstGeom>
          <a:solidFill>
            <a:srgbClr val="FFF4D6"/>
          </a:solidFill>
          <a:ln w="9525">
            <a:solidFill>
              <a:srgbClr val="B8730A"/>
            </a:solidFill>
            <a:prstDash val="solid"/>
          </a:ln>
        </p:spPr>
      </p:sp>
      <p:sp>
        <p:nvSpPr>
          <p:cNvPr id="37" name="Shape 35"/>
          <p:cNvSpPr/>
          <p:nvPr/>
        </p:nvSpPr>
        <p:spPr>
          <a:xfrm>
            <a:off x="3495173" y="1842630"/>
            <a:ext cx="128016" cy="128016"/>
          </a:xfrm>
          <a:prstGeom prst="ellipse">
            <a:avLst/>
          </a:prstGeom>
          <a:solidFill>
            <a:srgbClr val="FFF4D6"/>
          </a:solidFill>
          <a:ln w="9525">
            <a:solidFill>
              <a:srgbClr val="B8730A"/>
            </a:solidFill>
            <a:prstDash val="solid"/>
          </a:ln>
        </p:spPr>
      </p:sp>
      <p:sp>
        <p:nvSpPr>
          <p:cNvPr id="38" name="Shape 36"/>
          <p:cNvSpPr/>
          <p:nvPr/>
        </p:nvSpPr>
        <p:spPr>
          <a:xfrm>
            <a:off x="3022092" y="1787652"/>
            <a:ext cx="137160" cy="137160"/>
          </a:xfrm>
          <a:prstGeom prst="ellipse">
            <a:avLst/>
          </a:prstGeom>
          <a:solidFill>
            <a:srgbClr val="FFF4D6"/>
          </a:solidFill>
          <a:ln w="19050">
            <a:solidFill>
              <a:srgbClr val="B8730A"/>
            </a:solidFill>
            <a:prstDash val="solid"/>
          </a:ln>
        </p:spPr>
      </p:sp>
      <p:sp>
        <p:nvSpPr>
          <p:cNvPr id="39" name="Shape 37"/>
          <p:cNvSpPr/>
          <p:nvPr/>
        </p:nvSpPr>
        <p:spPr>
          <a:xfrm>
            <a:off x="3059811" y="1825371"/>
            <a:ext cx="61722" cy="61722"/>
          </a:xfrm>
          <a:prstGeom prst="ellipse">
            <a:avLst/>
          </a:prstGeom>
          <a:solidFill>
            <a:srgbClr val="C9B6E4"/>
          </a:solidFill>
          <a:ln w="12700">
            <a:solidFill>
              <a:srgbClr val="6A4C93"/>
            </a:solidFill>
            <a:prstDash val="solid"/>
          </a:ln>
        </p:spPr>
      </p:sp>
      <p:sp>
        <p:nvSpPr>
          <p:cNvPr id="40" name="Shape 38"/>
          <p:cNvSpPr/>
          <p:nvPr/>
        </p:nvSpPr>
        <p:spPr>
          <a:xfrm>
            <a:off x="3150108" y="1769364"/>
            <a:ext cx="137160" cy="137160"/>
          </a:xfrm>
          <a:prstGeom prst="ellipse">
            <a:avLst/>
          </a:prstGeom>
          <a:solidFill>
            <a:srgbClr val="FFF4D6"/>
          </a:solidFill>
          <a:ln w="19050">
            <a:solidFill>
              <a:srgbClr val="B8730A"/>
            </a:solidFill>
            <a:prstDash val="solid"/>
          </a:ln>
        </p:spPr>
      </p:sp>
      <p:sp>
        <p:nvSpPr>
          <p:cNvPr id="41" name="Shape 39"/>
          <p:cNvSpPr/>
          <p:nvPr/>
        </p:nvSpPr>
        <p:spPr>
          <a:xfrm>
            <a:off x="3187827" y="1807083"/>
            <a:ext cx="61722" cy="61722"/>
          </a:xfrm>
          <a:prstGeom prst="ellipse">
            <a:avLst/>
          </a:prstGeom>
          <a:solidFill>
            <a:srgbClr val="C9B6E4"/>
          </a:solidFill>
          <a:ln w="12700">
            <a:solidFill>
              <a:srgbClr val="6A4C93"/>
            </a:solidFill>
            <a:prstDash val="solid"/>
          </a:ln>
        </p:spPr>
      </p:sp>
      <p:sp>
        <p:nvSpPr>
          <p:cNvPr id="42" name="Shape 40"/>
          <p:cNvSpPr/>
          <p:nvPr/>
        </p:nvSpPr>
        <p:spPr>
          <a:xfrm>
            <a:off x="3086100" y="1897380"/>
            <a:ext cx="137160" cy="137160"/>
          </a:xfrm>
          <a:prstGeom prst="ellipse">
            <a:avLst/>
          </a:prstGeom>
          <a:solidFill>
            <a:srgbClr val="FFF4D6"/>
          </a:solidFill>
          <a:ln w="19050">
            <a:solidFill>
              <a:srgbClr val="B8730A"/>
            </a:solidFill>
            <a:prstDash val="solid"/>
          </a:ln>
        </p:spPr>
      </p:sp>
      <p:sp>
        <p:nvSpPr>
          <p:cNvPr id="43" name="Shape 41"/>
          <p:cNvSpPr/>
          <p:nvPr/>
        </p:nvSpPr>
        <p:spPr>
          <a:xfrm>
            <a:off x="3123819" y="1935099"/>
            <a:ext cx="61722" cy="61722"/>
          </a:xfrm>
          <a:prstGeom prst="ellipse">
            <a:avLst/>
          </a:prstGeom>
          <a:solidFill>
            <a:srgbClr val="C9B6E4"/>
          </a:solidFill>
          <a:ln w="12700">
            <a:solidFill>
              <a:srgbClr val="6A4C93"/>
            </a:solidFill>
            <a:prstDash val="solid"/>
          </a:ln>
        </p:spPr>
      </p:sp>
      <p:sp>
        <p:nvSpPr>
          <p:cNvPr id="44" name="Shape 42"/>
          <p:cNvSpPr/>
          <p:nvPr/>
        </p:nvSpPr>
        <p:spPr>
          <a:xfrm>
            <a:off x="3223260" y="1879092"/>
            <a:ext cx="137160" cy="137160"/>
          </a:xfrm>
          <a:prstGeom prst="ellipse">
            <a:avLst/>
          </a:prstGeom>
          <a:solidFill>
            <a:srgbClr val="FFF4D6"/>
          </a:solidFill>
          <a:ln w="19050">
            <a:solidFill>
              <a:srgbClr val="B8730A"/>
            </a:solidFill>
            <a:prstDash val="solid"/>
          </a:ln>
        </p:spPr>
      </p:sp>
      <p:sp>
        <p:nvSpPr>
          <p:cNvPr id="45" name="Shape 43"/>
          <p:cNvSpPr/>
          <p:nvPr/>
        </p:nvSpPr>
        <p:spPr>
          <a:xfrm>
            <a:off x="3260979" y="1916811"/>
            <a:ext cx="61722" cy="61722"/>
          </a:xfrm>
          <a:prstGeom prst="ellipse">
            <a:avLst/>
          </a:prstGeom>
          <a:solidFill>
            <a:srgbClr val="C9B6E4"/>
          </a:solidFill>
          <a:ln w="12700">
            <a:solidFill>
              <a:srgbClr val="6A4C93"/>
            </a:solidFill>
            <a:prstDash val="solid"/>
          </a:ln>
        </p:spPr>
      </p:sp>
      <p:sp>
        <p:nvSpPr>
          <p:cNvPr id="46" name="Shape 44"/>
          <p:cNvSpPr/>
          <p:nvPr/>
        </p:nvSpPr>
        <p:spPr>
          <a:xfrm>
            <a:off x="2967228" y="1924812"/>
            <a:ext cx="137160" cy="137160"/>
          </a:xfrm>
          <a:prstGeom prst="ellipse">
            <a:avLst/>
          </a:prstGeom>
          <a:solidFill>
            <a:srgbClr val="FFF4D6"/>
          </a:solidFill>
          <a:ln w="19050">
            <a:solidFill>
              <a:srgbClr val="B8730A"/>
            </a:solidFill>
            <a:prstDash val="solid"/>
          </a:ln>
        </p:spPr>
      </p:sp>
      <p:sp>
        <p:nvSpPr>
          <p:cNvPr id="47" name="Shape 45"/>
          <p:cNvSpPr/>
          <p:nvPr/>
        </p:nvSpPr>
        <p:spPr>
          <a:xfrm>
            <a:off x="3004947" y="1962531"/>
            <a:ext cx="61722" cy="61722"/>
          </a:xfrm>
          <a:prstGeom prst="ellipse">
            <a:avLst/>
          </a:prstGeom>
          <a:solidFill>
            <a:srgbClr val="C9B6E4"/>
          </a:solidFill>
          <a:ln w="12700">
            <a:solidFill>
              <a:srgbClr val="6A4C93"/>
            </a:solidFill>
            <a:prstDash val="solid"/>
          </a:ln>
        </p:spPr>
      </p:sp>
      <p:sp>
        <p:nvSpPr>
          <p:cNvPr id="48" name="Shape 46"/>
          <p:cNvSpPr/>
          <p:nvPr/>
        </p:nvSpPr>
        <p:spPr>
          <a:xfrm flipV="1">
            <a:off x="3154680" y="1572768"/>
            <a:ext cx="640080" cy="365760"/>
          </a:xfrm>
          <a:prstGeom prst="line">
            <a:avLst/>
          </a:prstGeom>
          <a:noFill/>
          <a:ln w="12700">
            <a:solidFill>
              <a:srgbClr val="C8414C"/>
            </a:solidFill>
            <a:prstDash val="solid"/>
          </a:ln>
        </p:spPr>
      </p:sp>
      <p:sp>
        <p:nvSpPr>
          <p:cNvPr id="49" name="Text 47"/>
          <p:cNvSpPr/>
          <p:nvPr/>
        </p:nvSpPr>
        <p:spPr>
          <a:xfrm>
            <a:off x="3794760" y="1463040"/>
            <a:ext cx="2011680" cy="384048"/>
          </a:xfrm>
          <a:prstGeom prst="rect">
            <a:avLst/>
          </a:prstGeom>
          <a:noFill/>
          <a:ln/>
        </p:spPr>
        <p:txBody>
          <a:bodyPr wrap="square" lIns="0" tIns="0" rIns="0" bIns="0" rtlCol="0" anchor="t"/>
          <a:lstStyle/>
          <a:p>
            <a:pPr algn="l" indent="0" marL="0">
              <a:buNone/>
            </a:pPr>
            <a:r>
              <a:rPr lang="en-US" sz="1000" dirty="0">
                <a:solidFill>
                  <a:srgbClr val="C8414C"/>
                </a:solidFill>
                <a:latin typeface="Calibri" pitchFamily="34" charset="0"/>
                <a:ea typeface="Calibri" pitchFamily="34" charset="-122"/>
                <a:cs typeface="Calibri" pitchFamily="34" charset="-120"/>
              </a:rPr>
              <a:t>inner cells: </a:t>
            </a:r>
            <a:r>
              <a:rPr lang="en-US" sz="1000" b="1" dirty="0">
                <a:solidFill>
                  <a:srgbClr val="C8414C"/>
                </a:solidFill>
                <a:latin typeface="Calibri" pitchFamily="34" charset="0"/>
                <a:ea typeface="Calibri" pitchFamily="34" charset="-122"/>
                <a:cs typeface="Calibri" pitchFamily="34" charset="-120"/>
              </a:rPr>
              <a:t>embryonic stem cells</a:t>
            </a:r>
            <a:endParaRPr lang="en-US" sz="1000" dirty="0"/>
          </a:p>
        </p:txBody>
      </p:sp>
      <p:sp>
        <p:nvSpPr>
          <p:cNvPr id="50" name="Text 48"/>
          <p:cNvSpPr/>
          <p:nvPr/>
        </p:nvSpPr>
        <p:spPr>
          <a:xfrm>
            <a:off x="594360" y="2514600"/>
            <a:ext cx="320040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zygote → ball of cells (about 5 days)</a:t>
            </a:r>
            <a:endParaRPr lang="en-US" sz="1000" dirty="0"/>
          </a:p>
        </p:txBody>
      </p:sp>
      <p:sp>
        <p:nvSpPr>
          <p:cNvPr id="51" name="Shape 49"/>
          <p:cNvSpPr/>
          <p:nvPr/>
        </p:nvSpPr>
        <p:spPr>
          <a:xfrm>
            <a:off x="640080" y="2788920"/>
            <a:ext cx="5120640" cy="438912"/>
          </a:xfrm>
          <a:prstGeom prst="roundRect">
            <a:avLst>
              <a:gd name="adj" fmla="val 10417"/>
            </a:avLst>
          </a:prstGeom>
          <a:solidFill>
            <a:srgbClr val="FFFFFF"/>
          </a:solidFill>
          <a:ln w="12700">
            <a:solidFill>
              <a:srgbClr val="0D7877"/>
            </a:solidFill>
            <a:prstDash val="solid"/>
          </a:ln>
        </p:spPr>
      </p:sp>
      <p:sp>
        <p:nvSpPr>
          <p:cNvPr id="52" name="Text 50"/>
          <p:cNvSpPr/>
          <p:nvPr/>
        </p:nvSpPr>
        <p:spPr>
          <a:xfrm>
            <a:off x="731520" y="2788920"/>
            <a:ext cx="4937760" cy="43891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can become </a:t>
            </a:r>
            <a:r>
              <a:rPr lang="en-US" sz="1050" b="1" dirty="0">
                <a:solidFill>
                  <a:srgbClr val="262B3A"/>
                </a:solidFill>
                <a:latin typeface="Calibri" pitchFamily="34" charset="0"/>
                <a:ea typeface="Calibri" pitchFamily="34" charset="-122"/>
                <a:cs typeface="Calibri" pitchFamily="34" charset="-120"/>
              </a:rPr>
              <a:t>any</a:t>
            </a:r>
            <a:r>
              <a:rPr lang="en-US" sz="1050" dirty="0">
                <a:solidFill>
                  <a:srgbClr val="262B3A"/>
                </a:solidFill>
                <a:latin typeface="Calibri" pitchFamily="34" charset="0"/>
                <a:ea typeface="Calibri" pitchFamily="34" charset="-122"/>
                <a:cs typeface="Calibri" pitchFamily="34" charset="-120"/>
              </a:rPr>
              <a:t> type of body cell • make all the tissues of the growing embryo</a:t>
            </a:r>
            <a:endParaRPr lang="en-US" sz="1050" dirty="0"/>
          </a:p>
        </p:txBody>
      </p:sp>
      <p:sp>
        <p:nvSpPr>
          <p:cNvPr id="53" name="Text 51"/>
          <p:cNvSpPr/>
          <p:nvPr/>
        </p:nvSpPr>
        <p:spPr>
          <a:xfrm>
            <a:off x="594360" y="3383280"/>
            <a:ext cx="521208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Adult stem cells, e.g. in bone marrow</a:t>
            </a:r>
            <a:endParaRPr lang="en-US" sz="1100" dirty="0"/>
          </a:p>
        </p:txBody>
      </p:sp>
      <p:sp>
        <p:nvSpPr>
          <p:cNvPr id="54" name="Shape 52"/>
          <p:cNvSpPr/>
          <p:nvPr/>
        </p:nvSpPr>
        <p:spPr>
          <a:xfrm>
            <a:off x="731520" y="3840480"/>
            <a:ext cx="2286000" cy="502920"/>
          </a:xfrm>
          <a:prstGeom prst="roundRect">
            <a:avLst>
              <a:gd name="adj" fmla="val 45455"/>
            </a:avLst>
          </a:prstGeom>
          <a:solidFill>
            <a:srgbClr val="F2EBDD"/>
          </a:solidFill>
          <a:ln w="19050">
            <a:solidFill>
              <a:srgbClr val="A08F6A"/>
            </a:solidFill>
            <a:prstDash val="solid"/>
          </a:ln>
        </p:spPr>
      </p:sp>
      <p:sp>
        <p:nvSpPr>
          <p:cNvPr id="55" name="Shape 53"/>
          <p:cNvSpPr/>
          <p:nvPr/>
        </p:nvSpPr>
        <p:spPr>
          <a:xfrm>
            <a:off x="548640" y="3744468"/>
            <a:ext cx="457200" cy="685800"/>
          </a:xfrm>
          <a:prstGeom prst="ellipse">
            <a:avLst/>
          </a:prstGeom>
          <a:solidFill>
            <a:srgbClr val="F2EBDD"/>
          </a:solidFill>
          <a:ln w="19050">
            <a:solidFill>
              <a:srgbClr val="A08F6A"/>
            </a:solidFill>
            <a:prstDash val="solid"/>
          </a:ln>
        </p:spPr>
      </p:sp>
      <p:sp>
        <p:nvSpPr>
          <p:cNvPr id="56" name="Shape 54"/>
          <p:cNvSpPr/>
          <p:nvPr/>
        </p:nvSpPr>
        <p:spPr>
          <a:xfrm>
            <a:off x="2743200" y="3744468"/>
            <a:ext cx="457200" cy="685800"/>
          </a:xfrm>
          <a:prstGeom prst="ellipse">
            <a:avLst/>
          </a:prstGeom>
          <a:solidFill>
            <a:srgbClr val="F2EBDD"/>
          </a:solidFill>
          <a:ln w="19050">
            <a:solidFill>
              <a:srgbClr val="A08F6A"/>
            </a:solidFill>
            <a:prstDash val="solid"/>
          </a:ln>
        </p:spPr>
      </p:sp>
      <p:sp>
        <p:nvSpPr>
          <p:cNvPr id="57" name="Shape 55"/>
          <p:cNvSpPr/>
          <p:nvPr/>
        </p:nvSpPr>
        <p:spPr>
          <a:xfrm>
            <a:off x="960120" y="3959352"/>
            <a:ext cx="1828800" cy="256032"/>
          </a:xfrm>
          <a:prstGeom prst="roundRect">
            <a:avLst>
              <a:gd name="adj" fmla="val 42857"/>
            </a:avLst>
          </a:prstGeom>
          <a:solidFill>
            <a:srgbClr val="E8A3A3"/>
          </a:solidFill>
          <a:ln w="9525">
            <a:solidFill>
              <a:srgbClr val="C8414C"/>
            </a:solidFill>
            <a:prstDash val="solid"/>
          </a:ln>
        </p:spPr>
      </p:sp>
      <p:sp>
        <p:nvSpPr>
          <p:cNvPr id="58" name="Text 56"/>
          <p:cNvSpPr/>
          <p:nvPr/>
        </p:nvSpPr>
        <p:spPr>
          <a:xfrm>
            <a:off x="960120" y="3959352"/>
            <a:ext cx="1828800" cy="256032"/>
          </a:xfrm>
          <a:prstGeom prst="rect">
            <a:avLst/>
          </a:prstGeom>
          <a:noFill/>
          <a:ln/>
        </p:spPr>
        <p:txBody>
          <a:bodyPr wrap="square" lIns="0" tIns="0" rIns="0" bIns="0" rtlCol="0" anchor="ctr"/>
          <a:lstStyle/>
          <a:p>
            <a:pPr algn="ctr" indent="0" marL="0">
              <a:buNone/>
            </a:pPr>
            <a:r>
              <a:rPr lang="en-US" sz="1000" b="1" dirty="0">
                <a:solidFill>
                  <a:srgbClr val="7A1F28"/>
                </a:solidFill>
                <a:latin typeface="Calibri" pitchFamily="34" charset="0"/>
                <a:ea typeface="Calibri" pitchFamily="34" charset="-122"/>
                <a:cs typeface="Calibri" pitchFamily="34" charset="-120"/>
              </a:rPr>
              <a:t>marrow</a:t>
            </a:r>
            <a:endParaRPr lang="en-US" sz="1000" dirty="0"/>
          </a:p>
        </p:txBody>
      </p:sp>
      <p:sp>
        <p:nvSpPr>
          <p:cNvPr id="59" name="Shape 57"/>
          <p:cNvSpPr/>
          <p:nvPr/>
        </p:nvSpPr>
        <p:spPr>
          <a:xfrm>
            <a:off x="3429000" y="3904488"/>
            <a:ext cx="365760" cy="365760"/>
          </a:xfrm>
          <a:prstGeom prst="ellipse">
            <a:avLst/>
          </a:prstGeom>
          <a:solidFill>
            <a:srgbClr val="FFF4D6"/>
          </a:solidFill>
          <a:ln w="19050">
            <a:solidFill>
              <a:srgbClr val="B8730A"/>
            </a:solidFill>
            <a:prstDash val="solid"/>
          </a:ln>
        </p:spPr>
      </p:sp>
      <p:sp>
        <p:nvSpPr>
          <p:cNvPr id="60" name="Shape 58"/>
          <p:cNvSpPr/>
          <p:nvPr/>
        </p:nvSpPr>
        <p:spPr>
          <a:xfrm>
            <a:off x="3529584" y="4005072"/>
            <a:ext cx="164592" cy="164592"/>
          </a:xfrm>
          <a:prstGeom prst="ellipse">
            <a:avLst/>
          </a:prstGeom>
          <a:solidFill>
            <a:srgbClr val="C9B6E4"/>
          </a:solidFill>
          <a:ln w="12700">
            <a:solidFill>
              <a:srgbClr val="6A4C93"/>
            </a:solidFill>
            <a:prstDash val="solid"/>
          </a:ln>
        </p:spPr>
      </p:sp>
      <p:sp>
        <p:nvSpPr>
          <p:cNvPr id="61" name="Shape 59"/>
          <p:cNvSpPr/>
          <p:nvPr/>
        </p:nvSpPr>
        <p:spPr>
          <a:xfrm flipV="1">
            <a:off x="3822192" y="3794760"/>
            <a:ext cx="384048" cy="228600"/>
          </a:xfrm>
          <a:prstGeom prst="line">
            <a:avLst/>
          </a:prstGeom>
          <a:noFill/>
          <a:ln w="15875">
            <a:solidFill>
              <a:srgbClr val="133536"/>
            </a:solidFill>
            <a:prstDash val="solid"/>
            <a:tailEnd type="triangle"/>
          </a:ln>
        </p:spPr>
      </p:sp>
      <p:sp>
        <p:nvSpPr>
          <p:cNvPr id="62" name="Shape 60"/>
          <p:cNvSpPr/>
          <p:nvPr/>
        </p:nvSpPr>
        <p:spPr>
          <a:xfrm>
            <a:off x="3822192" y="4087368"/>
            <a:ext cx="384048" cy="91"/>
          </a:xfrm>
          <a:prstGeom prst="line">
            <a:avLst/>
          </a:prstGeom>
          <a:noFill/>
          <a:ln w="15875">
            <a:solidFill>
              <a:srgbClr val="133536"/>
            </a:solidFill>
            <a:prstDash val="solid"/>
            <a:tailEnd type="triangle"/>
          </a:ln>
        </p:spPr>
      </p:sp>
      <p:sp>
        <p:nvSpPr>
          <p:cNvPr id="63" name="Shape 61"/>
          <p:cNvSpPr/>
          <p:nvPr/>
        </p:nvSpPr>
        <p:spPr>
          <a:xfrm>
            <a:off x="3822192" y="4160520"/>
            <a:ext cx="384048" cy="228600"/>
          </a:xfrm>
          <a:prstGeom prst="line">
            <a:avLst/>
          </a:prstGeom>
          <a:noFill/>
          <a:ln w="15875">
            <a:solidFill>
              <a:srgbClr val="133536"/>
            </a:solidFill>
            <a:prstDash val="solid"/>
            <a:tailEnd type="triangle"/>
          </a:ln>
        </p:spPr>
      </p:sp>
      <p:sp>
        <p:nvSpPr>
          <p:cNvPr id="64" name="Shape 62"/>
          <p:cNvSpPr/>
          <p:nvPr/>
        </p:nvSpPr>
        <p:spPr>
          <a:xfrm>
            <a:off x="4242816" y="3666744"/>
            <a:ext cx="201168" cy="201168"/>
          </a:xfrm>
          <a:prstGeom prst="ellipse">
            <a:avLst/>
          </a:prstGeom>
          <a:solidFill>
            <a:srgbClr val="D9534F"/>
          </a:solidFill>
          <a:ln w="12700">
            <a:solidFill>
              <a:srgbClr val="8E2A33"/>
            </a:solidFill>
            <a:prstDash val="solid"/>
          </a:ln>
        </p:spPr>
      </p:sp>
      <p:sp>
        <p:nvSpPr>
          <p:cNvPr id="65" name="Shape 63"/>
          <p:cNvSpPr/>
          <p:nvPr/>
        </p:nvSpPr>
        <p:spPr>
          <a:xfrm>
            <a:off x="4298137" y="3722065"/>
            <a:ext cx="90526" cy="90526"/>
          </a:xfrm>
          <a:prstGeom prst="ellipse">
            <a:avLst/>
          </a:prstGeom>
          <a:solidFill>
            <a:srgbClr val="EE8A8F"/>
          </a:solidFill>
          <a:ln w="9525">
            <a:solidFill>
              <a:srgbClr val="EE8A8F"/>
            </a:solidFill>
            <a:prstDash val="solid"/>
          </a:ln>
        </p:spPr>
      </p:sp>
      <p:sp>
        <p:nvSpPr>
          <p:cNvPr id="66" name="Text 64"/>
          <p:cNvSpPr/>
          <p:nvPr/>
        </p:nvSpPr>
        <p:spPr>
          <a:xfrm>
            <a:off x="4498848" y="3657600"/>
            <a:ext cx="128016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red blood cells</a:t>
            </a:r>
            <a:endParaRPr lang="en-US" sz="1000" dirty="0"/>
          </a:p>
        </p:txBody>
      </p:sp>
      <p:sp>
        <p:nvSpPr>
          <p:cNvPr id="67" name="Shape 65"/>
          <p:cNvSpPr/>
          <p:nvPr/>
        </p:nvSpPr>
        <p:spPr>
          <a:xfrm>
            <a:off x="4242816" y="3986784"/>
            <a:ext cx="201168" cy="201168"/>
          </a:xfrm>
          <a:prstGeom prst="ellipse">
            <a:avLst/>
          </a:prstGeom>
          <a:solidFill>
            <a:srgbClr val="E7E3F5"/>
          </a:solidFill>
          <a:ln w="12700">
            <a:solidFill>
              <a:srgbClr val="6A4C93"/>
            </a:solidFill>
            <a:prstDash val="solid"/>
          </a:ln>
        </p:spPr>
      </p:sp>
      <p:sp>
        <p:nvSpPr>
          <p:cNvPr id="68" name="Shape 66"/>
          <p:cNvSpPr/>
          <p:nvPr/>
        </p:nvSpPr>
        <p:spPr>
          <a:xfrm>
            <a:off x="4288536" y="4032504"/>
            <a:ext cx="109728" cy="109728"/>
          </a:xfrm>
          <a:prstGeom prst="ellipse">
            <a:avLst/>
          </a:prstGeom>
          <a:solidFill>
            <a:srgbClr val="8C7BC0"/>
          </a:solidFill>
          <a:ln w="9525">
            <a:solidFill>
              <a:srgbClr val="8C7BC0"/>
            </a:solidFill>
            <a:prstDash val="solid"/>
          </a:ln>
        </p:spPr>
      </p:sp>
      <p:sp>
        <p:nvSpPr>
          <p:cNvPr id="69" name="Text 67"/>
          <p:cNvSpPr/>
          <p:nvPr/>
        </p:nvSpPr>
        <p:spPr>
          <a:xfrm>
            <a:off x="4498848" y="3977640"/>
            <a:ext cx="128016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white blood cells</a:t>
            </a:r>
            <a:endParaRPr lang="en-US" sz="1000" dirty="0"/>
          </a:p>
        </p:txBody>
      </p:sp>
      <p:sp>
        <p:nvSpPr>
          <p:cNvPr id="70" name="Shape 68"/>
          <p:cNvSpPr/>
          <p:nvPr/>
        </p:nvSpPr>
        <p:spPr>
          <a:xfrm>
            <a:off x="4297680" y="4361688"/>
            <a:ext cx="91440" cy="91440"/>
          </a:xfrm>
          <a:prstGeom prst="ellipse">
            <a:avLst/>
          </a:prstGeom>
          <a:solidFill>
            <a:srgbClr val="C9A0D0"/>
          </a:solidFill>
          <a:ln w="9525">
            <a:solidFill>
              <a:srgbClr val="8A5A99"/>
            </a:solidFill>
            <a:prstDash val="solid"/>
          </a:ln>
        </p:spPr>
      </p:sp>
      <p:sp>
        <p:nvSpPr>
          <p:cNvPr id="71" name="Text 69"/>
          <p:cNvSpPr/>
          <p:nvPr/>
        </p:nvSpPr>
        <p:spPr>
          <a:xfrm>
            <a:off x="4498848" y="4297680"/>
            <a:ext cx="128016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platelets</a:t>
            </a:r>
            <a:endParaRPr lang="en-US" sz="1000" dirty="0"/>
          </a:p>
        </p:txBody>
      </p:sp>
      <p:sp>
        <p:nvSpPr>
          <p:cNvPr id="72" name="Shape 70"/>
          <p:cNvSpPr/>
          <p:nvPr/>
        </p:nvSpPr>
        <p:spPr>
          <a:xfrm>
            <a:off x="640080" y="4663440"/>
            <a:ext cx="5120640" cy="438912"/>
          </a:xfrm>
          <a:prstGeom prst="roundRect">
            <a:avLst>
              <a:gd name="adj" fmla="val 10417"/>
            </a:avLst>
          </a:prstGeom>
          <a:solidFill>
            <a:srgbClr val="FFFFFF"/>
          </a:solidFill>
          <a:ln w="12700">
            <a:solidFill>
              <a:srgbClr val="2E8B57"/>
            </a:solidFill>
            <a:prstDash val="solid"/>
          </a:ln>
        </p:spPr>
      </p:sp>
      <p:sp>
        <p:nvSpPr>
          <p:cNvPr id="73" name="Text 71"/>
          <p:cNvSpPr/>
          <p:nvPr/>
        </p:nvSpPr>
        <p:spPr>
          <a:xfrm>
            <a:off x="731520" y="4663440"/>
            <a:ext cx="4937760" cy="43891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only a </a:t>
            </a:r>
            <a:r>
              <a:rPr lang="en-US" sz="1050" b="1" dirty="0">
                <a:solidFill>
                  <a:srgbClr val="262B3A"/>
                </a:solidFill>
                <a:latin typeface="Calibri" pitchFamily="34" charset="0"/>
                <a:ea typeface="Calibri" pitchFamily="34" charset="-122"/>
                <a:cs typeface="Calibri" pitchFamily="34" charset="-120"/>
              </a:rPr>
              <a:t>few</a:t>
            </a:r>
            <a:r>
              <a:rPr lang="en-US" sz="1050" dirty="0">
                <a:solidFill>
                  <a:srgbClr val="262B3A"/>
                </a:solidFill>
                <a:latin typeface="Calibri" pitchFamily="34" charset="0"/>
                <a:ea typeface="Calibri" pitchFamily="34" charset="-122"/>
                <a:cs typeface="Calibri" pitchFamily="34" charset="-120"/>
              </a:rPr>
              <a:t> cell types • replace and repair cells all through life</a:t>
            </a:r>
            <a:endParaRPr lang="en-US" sz="1050" dirty="0"/>
          </a:p>
        </p:txBody>
      </p:sp>
      <p:sp>
        <p:nvSpPr>
          <p:cNvPr id="74" name="Shape 72"/>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75" name="Text 7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kinds of animal stem cell</a:t>
            </a:r>
            <a:endParaRPr lang="en-US" sz="1300" dirty="0"/>
          </a:p>
        </p:txBody>
      </p:sp>
      <p:sp>
        <p:nvSpPr>
          <p:cNvPr id="76" name="Text 7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stem cell</a:t>
            </a:r>
            <a:r>
              <a:rPr lang="en-US" sz="1100" dirty="0">
                <a:solidFill>
                  <a:srgbClr val="262B3A"/>
                </a:solidFill>
                <a:latin typeface="Calibri" pitchFamily="34" charset="0"/>
                <a:ea typeface="Calibri" pitchFamily="34" charset="-122"/>
                <a:cs typeface="Calibri" pitchFamily="34" charset="-120"/>
              </a:rPr>
              <a:t> is an </a:t>
            </a:r>
            <a:r>
              <a:rPr lang="en-US" sz="1100" b="1" dirty="0">
                <a:solidFill>
                  <a:srgbClr val="262B3A"/>
                </a:solidFill>
                <a:latin typeface="Calibri" pitchFamily="34" charset="0"/>
                <a:ea typeface="Calibri" pitchFamily="34" charset="-122"/>
                <a:cs typeface="Calibri" pitchFamily="34" charset="-120"/>
              </a:rPr>
              <a:t>unspecialised</a:t>
            </a:r>
            <a:r>
              <a:rPr lang="en-US" sz="1100" dirty="0">
                <a:solidFill>
                  <a:srgbClr val="262B3A"/>
                </a:solidFill>
                <a:latin typeface="Calibri" pitchFamily="34" charset="0"/>
                <a:ea typeface="Calibri" pitchFamily="34" charset="-122"/>
                <a:cs typeface="Calibri" pitchFamily="34" charset="-120"/>
              </a:rPr>
              <a:t> cell that can divide by mitosis to make more stem cells, and can </a:t>
            </a:r>
            <a:r>
              <a:rPr lang="en-US" sz="1100" b="1" dirty="0">
                <a:solidFill>
                  <a:srgbClr val="262B3A"/>
                </a:solidFill>
                <a:latin typeface="Calibri" pitchFamily="34" charset="0"/>
                <a:ea typeface="Calibri" pitchFamily="34" charset="-122"/>
                <a:cs typeface="Calibri" pitchFamily="34" charset="-120"/>
              </a:rPr>
              <a:t>differentiate</a:t>
            </a:r>
            <a:r>
              <a:rPr lang="en-US" sz="1100" dirty="0">
                <a:solidFill>
                  <a:srgbClr val="262B3A"/>
                </a:solidFill>
                <a:latin typeface="Calibri" pitchFamily="34" charset="0"/>
                <a:ea typeface="Calibri" pitchFamily="34" charset="-122"/>
                <a:cs typeface="Calibri" pitchFamily="34" charset="-120"/>
              </a:rPr>
              <a:t> into specialised cells.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Embryonic</a:t>
            </a:r>
            <a:r>
              <a:rPr lang="en-US" sz="1100" dirty="0">
                <a:solidFill>
                  <a:srgbClr val="262B3A"/>
                </a:solidFill>
                <a:latin typeface="Calibri" pitchFamily="34" charset="0"/>
                <a:ea typeface="Calibri" pitchFamily="34" charset="-122"/>
                <a:cs typeface="Calibri" pitchFamily="34" charset="-120"/>
              </a:rPr>
              <a:t> stem cells can become </a:t>
            </a:r>
            <a:r>
              <a:rPr lang="en-US" sz="1100" b="1" dirty="0">
                <a:solidFill>
                  <a:srgbClr val="262B3A"/>
                </a:solidFill>
                <a:latin typeface="Calibri" pitchFamily="34" charset="0"/>
                <a:ea typeface="Calibri" pitchFamily="34" charset="-122"/>
                <a:cs typeface="Calibri" pitchFamily="34" charset="-120"/>
              </a:rPr>
              <a:t>any</a:t>
            </a:r>
            <a:r>
              <a:rPr lang="en-US" sz="1100" dirty="0">
                <a:solidFill>
                  <a:srgbClr val="262B3A"/>
                </a:solidFill>
                <a:latin typeface="Calibri" pitchFamily="34" charset="0"/>
                <a:ea typeface="Calibri" pitchFamily="34" charset="-122"/>
                <a:cs typeface="Calibri" pitchFamily="34" charset="-120"/>
              </a:rPr>
              <a:t> type of cell. Their function is to build the whole body.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Adult</a:t>
            </a:r>
            <a:r>
              <a:rPr lang="en-US" sz="1100" dirty="0">
                <a:solidFill>
                  <a:srgbClr val="262B3A"/>
                </a:solidFill>
                <a:latin typeface="Calibri" pitchFamily="34" charset="0"/>
                <a:ea typeface="Calibri" pitchFamily="34" charset="-122"/>
                <a:cs typeface="Calibri" pitchFamily="34" charset="-120"/>
              </a:rPr>
              <a:t> stem cells (e.g. in bone marrow, skin) can only become a </a:t>
            </a:r>
            <a:r>
              <a:rPr lang="en-US" sz="1100" b="1" dirty="0">
                <a:solidFill>
                  <a:srgbClr val="262B3A"/>
                </a:solidFill>
                <a:latin typeface="Calibri" pitchFamily="34" charset="0"/>
                <a:ea typeface="Calibri" pitchFamily="34" charset="-122"/>
                <a:cs typeface="Calibri" pitchFamily="34" charset="-120"/>
              </a:rPr>
              <a:t>few</a:t>
            </a:r>
            <a:r>
              <a:rPr lang="en-US" sz="1100" dirty="0">
                <a:solidFill>
                  <a:srgbClr val="262B3A"/>
                </a:solidFill>
                <a:latin typeface="Calibri" pitchFamily="34" charset="0"/>
                <a:ea typeface="Calibri" pitchFamily="34" charset="-122"/>
                <a:cs typeface="Calibri" pitchFamily="34" charset="-120"/>
              </a:rPr>
              <a:t> types of cell. Their function is to </a:t>
            </a:r>
            <a:r>
              <a:rPr lang="en-US" sz="1100" b="1" dirty="0">
                <a:solidFill>
                  <a:srgbClr val="262B3A"/>
                </a:solidFill>
                <a:latin typeface="Calibri" pitchFamily="34" charset="0"/>
                <a:ea typeface="Calibri" pitchFamily="34" charset="-122"/>
                <a:cs typeface="Calibri" pitchFamily="34" charset="-120"/>
              </a:rPr>
              <a:t>replace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repair</a:t>
            </a:r>
            <a:r>
              <a:rPr lang="en-US" sz="1100" dirty="0">
                <a:solidFill>
                  <a:srgbClr val="262B3A"/>
                </a:solidFill>
                <a:latin typeface="Calibri" pitchFamily="34" charset="0"/>
                <a:ea typeface="Calibri" pitchFamily="34" charset="-122"/>
                <a:cs typeface="Calibri" pitchFamily="34" charset="-120"/>
              </a:rPr>
              <a:t> cells.</a:t>
            </a:r>
            <a:endParaRPr lang="en-US" sz="1100" dirty="0"/>
          </a:p>
        </p:txBody>
      </p:sp>
      <p:sp>
        <p:nvSpPr>
          <p:cNvPr id="77" name="Shape 7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8" name="Text 7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compare</a:t>
            </a:r>
            <a:endParaRPr lang="en-US" sz="1300" dirty="0"/>
          </a:p>
        </p:txBody>
      </p:sp>
      <p:sp>
        <p:nvSpPr>
          <p:cNvPr id="79" name="Text 7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Give two differences between embryonic and adult stem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Where   </a:t>
            </a:r>
            <a:r>
              <a:rPr lang="en-US" sz="1050" dirty="0">
                <a:solidFill>
                  <a:srgbClr val="262B3A"/>
                </a:solidFill>
                <a:latin typeface="Calibri" pitchFamily="34" charset="0"/>
                <a:ea typeface="Calibri" pitchFamily="34" charset="-122"/>
                <a:cs typeface="Calibri" pitchFamily="34" charset="-120"/>
              </a:rPr>
              <a:t>early embryo vs adult tissues, e.g. bone marrow</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Range   </a:t>
            </a:r>
            <a:r>
              <a:rPr lang="en-US" sz="1050" dirty="0">
                <a:solidFill>
                  <a:srgbClr val="262B3A"/>
                </a:solidFill>
                <a:latin typeface="Calibri" pitchFamily="34" charset="0"/>
                <a:ea typeface="Calibri" pitchFamily="34" charset="-122"/>
                <a:cs typeface="Calibri" pitchFamily="34" charset="-120"/>
              </a:rPr>
              <a:t>any cell type vs only a few types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Function   </a:t>
            </a:r>
            <a:r>
              <a:rPr lang="en-US" sz="1050" dirty="0">
                <a:solidFill>
                  <a:srgbClr val="262B3A"/>
                </a:solidFill>
                <a:latin typeface="Calibri" pitchFamily="34" charset="0"/>
                <a:ea typeface="Calibri" pitchFamily="34" charset="-122"/>
                <a:cs typeface="Calibri" pitchFamily="34" charset="-120"/>
              </a:rPr>
              <a:t>build the body vs replace and repair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any two of these, each comparing both kinds</a:t>
            </a:r>
            <a:endParaRPr lang="en-US" sz="1050" dirty="0"/>
          </a:p>
        </p:txBody>
      </p:sp>
      <p:sp>
        <p:nvSpPr>
          <p:cNvPr id="80" name="Shape 78"/>
          <p:cNvSpPr/>
          <p:nvPr/>
        </p:nvSpPr>
        <p:spPr>
          <a:xfrm>
            <a:off x="411480" y="5833872"/>
            <a:ext cx="11368735" cy="530352"/>
          </a:xfrm>
          <a:prstGeom prst="rect">
            <a:avLst/>
          </a:prstGeom>
          <a:solidFill>
            <a:srgbClr val="FFF4E0"/>
          </a:solidFill>
          <a:ln w="6350">
            <a:solidFill>
              <a:srgbClr val="F1D9A8"/>
            </a:solidFill>
            <a:prstDash val="solid"/>
          </a:ln>
        </p:spPr>
      </p:sp>
      <p:sp>
        <p:nvSpPr>
          <p:cNvPr id="81" name="Shape 79"/>
          <p:cNvSpPr/>
          <p:nvPr/>
        </p:nvSpPr>
        <p:spPr>
          <a:xfrm>
            <a:off x="411480" y="5833872"/>
            <a:ext cx="82296" cy="530352"/>
          </a:xfrm>
          <a:prstGeom prst="rect">
            <a:avLst/>
          </a:prstGeom>
          <a:solidFill>
            <a:srgbClr val="E39A2F"/>
          </a:solidFill>
          <a:ln w="12700">
            <a:solidFill>
              <a:srgbClr val="E39A2F"/>
            </a:solidFill>
            <a:prstDash val="solid"/>
          </a:ln>
        </p:spPr>
      </p:sp>
      <p:sp>
        <p:nvSpPr>
          <p:cNvPr id="82" name="Text 8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bone marrow stem cell can become a red blood cell but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a nerve cell. What does this tell you about adult stem cells?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Meristems: plant stem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B4.3.4 • plants grow all their lives at meristems; animals mostly stop growing</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B4.3.4  |  20</a:t>
            </a:r>
            <a:endParaRPr lang="en-US" sz="1000" dirty="0"/>
          </a:p>
        </p:txBody>
      </p:sp>
      <p:sp>
        <p:nvSpPr>
          <p:cNvPr id="8" name="Shape 6"/>
          <p:cNvSpPr/>
          <p:nvPr/>
        </p:nvSpPr>
        <p:spPr>
          <a:xfrm>
            <a:off x="411480" y="1188720"/>
            <a:ext cx="4297680" cy="4526280"/>
          </a:xfrm>
          <a:prstGeom prst="roundRect">
            <a:avLst>
              <a:gd name="adj" fmla="val 1702"/>
            </a:avLst>
          </a:prstGeom>
          <a:solidFill>
            <a:srgbClr val="EEF5F4"/>
          </a:solidFill>
          <a:ln w="9525">
            <a:solidFill>
              <a:srgbClr val="D2E3E1"/>
            </a:solidFill>
            <a:prstDash val="solid"/>
          </a:ln>
        </p:spPr>
      </p:sp>
      <p:sp>
        <p:nvSpPr>
          <p:cNvPr id="9" name="Text 7"/>
          <p:cNvSpPr/>
          <p:nvPr/>
        </p:nvSpPr>
        <p:spPr>
          <a:xfrm>
            <a:off x="548640" y="5404104"/>
            <a:ext cx="402336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young plant: meristems shown in orange</a:t>
            </a:r>
            <a:endParaRPr lang="en-US" sz="1000" dirty="0"/>
          </a:p>
        </p:txBody>
      </p:sp>
      <p:sp>
        <p:nvSpPr>
          <p:cNvPr id="10" name="Shape 8"/>
          <p:cNvSpPr/>
          <p:nvPr/>
        </p:nvSpPr>
        <p:spPr>
          <a:xfrm>
            <a:off x="548640" y="3703320"/>
            <a:ext cx="4023360" cy="1600200"/>
          </a:xfrm>
          <a:prstGeom prst="rect">
            <a:avLst/>
          </a:prstGeom>
          <a:solidFill>
            <a:srgbClr val="C9AE88"/>
          </a:solidFill>
          <a:ln/>
        </p:spPr>
      </p:sp>
      <p:sp>
        <p:nvSpPr>
          <p:cNvPr id="11" name="Shape 9"/>
          <p:cNvSpPr/>
          <p:nvPr/>
        </p:nvSpPr>
        <p:spPr>
          <a:xfrm>
            <a:off x="548640" y="3703320"/>
            <a:ext cx="4023360" cy="91"/>
          </a:xfrm>
          <a:prstGeom prst="line">
            <a:avLst/>
          </a:prstGeom>
          <a:noFill/>
          <a:ln w="19050">
            <a:solidFill>
              <a:srgbClr val="8B6B3E"/>
            </a:solidFill>
            <a:prstDash val="solid"/>
          </a:ln>
        </p:spPr>
      </p:sp>
      <p:sp>
        <p:nvSpPr>
          <p:cNvPr id="12" name="Shape 10"/>
          <p:cNvSpPr/>
          <p:nvPr/>
        </p:nvSpPr>
        <p:spPr>
          <a:xfrm>
            <a:off x="2331720" y="1600200"/>
            <a:ext cx="91" cy="2103120"/>
          </a:xfrm>
          <a:prstGeom prst="line">
            <a:avLst/>
          </a:prstGeom>
          <a:noFill/>
          <a:ln w="50800">
            <a:solidFill>
              <a:srgbClr val="3E7F2E"/>
            </a:solidFill>
            <a:prstDash val="solid"/>
          </a:ln>
        </p:spPr>
      </p:sp>
      <p:sp>
        <p:nvSpPr>
          <p:cNvPr id="13" name="Shape 11"/>
          <p:cNvSpPr/>
          <p:nvPr/>
        </p:nvSpPr>
        <p:spPr>
          <a:xfrm rot="-1500000">
            <a:off x="2372868" y="2779776"/>
            <a:ext cx="685800" cy="292608"/>
          </a:xfrm>
          <a:prstGeom prst="ellipse">
            <a:avLst/>
          </a:prstGeom>
          <a:solidFill>
            <a:srgbClr val="7DBE6A"/>
          </a:solidFill>
          <a:ln w="12700">
            <a:solidFill>
              <a:srgbClr val="3E7F2E"/>
            </a:solidFill>
            <a:prstDash val="solid"/>
          </a:ln>
        </p:spPr>
      </p:sp>
      <p:sp>
        <p:nvSpPr>
          <p:cNvPr id="14" name="Shape 12"/>
          <p:cNvSpPr/>
          <p:nvPr/>
        </p:nvSpPr>
        <p:spPr>
          <a:xfrm rot="1500000">
            <a:off x="1604772" y="1591056"/>
            <a:ext cx="685800" cy="292608"/>
          </a:xfrm>
          <a:prstGeom prst="ellipse">
            <a:avLst/>
          </a:prstGeom>
          <a:solidFill>
            <a:srgbClr val="7DBE6A"/>
          </a:solidFill>
          <a:ln w="12700">
            <a:solidFill>
              <a:srgbClr val="3E7F2E"/>
            </a:solidFill>
            <a:prstDash val="solid"/>
          </a:ln>
        </p:spPr>
      </p:sp>
      <p:sp>
        <p:nvSpPr>
          <p:cNvPr id="15" name="Shape 13"/>
          <p:cNvSpPr/>
          <p:nvPr/>
        </p:nvSpPr>
        <p:spPr>
          <a:xfrm rot="-1500000">
            <a:off x="2372868" y="2505456"/>
            <a:ext cx="685800" cy="292608"/>
          </a:xfrm>
          <a:prstGeom prst="ellipse">
            <a:avLst/>
          </a:prstGeom>
          <a:solidFill>
            <a:srgbClr val="7DBE6A"/>
          </a:solidFill>
          <a:ln w="12700">
            <a:solidFill>
              <a:srgbClr val="3E7F2E"/>
            </a:solidFill>
            <a:prstDash val="solid"/>
          </a:ln>
        </p:spPr>
      </p:sp>
      <p:sp>
        <p:nvSpPr>
          <p:cNvPr id="16" name="Shape 14"/>
          <p:cNvSpPr/>
          <p:nvPr/>
        </p:nvSpPr>
        <p:spPr>
          <a:xfrm rot="1200000">
            <a:off x="1604772" y="2139696"/>
            <a:ext cx="685800" cy="292608"/>
          </a:xfrm>
          <a:prstGeom prst="ellipse">
            <a:avLst/>
          </a:prstGeom>
          <a:solidFill>
            <a:srgbClr val="7DBE6A"/>
          </a:solidFill>
          <a:ln w="12700">
            <a:solidFill>
              <a:srgbClr val="3E7F2E"/>
            </a:solidFill>
            <a:prstDash val="solid"/>
          </a:ln>
        </p:spPr>
      </p:sp>
      <p:sp>
        <p:nvSpPr>
          <p:cNvPr id="17" name="Shape 15"/>
          <p:cNvSpPr/>
          <p:nvPr/>
        </p:nvSpPr>
        <p:spPr>
          <a:xfrm>
            <a:off x="2185416" y="1408176"/>
            <a:ext cx="292608" cy="329184"/>
          </a:xfrm>
          <a:prstGeom prst="ellipse">
            <a:avLst/>
          </a:prstGeom>
          <a:solidFill>
            <a:srgbClr val="F5A742"/>
          </a:solidFill>
          <a:ln w="19050">
            <a:solidFill>
              <a:srgbClr val="B8730A"/>
            </a:solidFill>
            <a:prstDash val="solid"/>
          </a:ln>
        </p:spPr>
      </p:sp>
      <p:sp>
        <p:nvSpPr>
          <p:cNvPr id="18" name="Shape 16"/>
          <p:cNvSpPr/>
          <p:nvPr/>
        </p:nvSpPr>
        <p:spPr>
          <a:xfrm>
            <a:off x="2121408" y="3081528"/>
            <a:ext cx="146304" cy="146304"/>
          </a:xfrm>
          <a:prstGeom prst="ellipse">
            <a:avLst/>
          </a:prstGeom>
          <a:solidFill>
            <a:srgbClr val="F5A742"/>
          </a:solidFill>
          <a:ln w="12700">
            <a:solidFill>
              <a:srgbClr val="B8730A"/>
            </a:solidFill>
            <a:prstDash val="solid"/>
          </a:ln>
        </p:spPr>
      </p:sp>
      <p:sp>
        <p:nvSpPr>
          <p:cNvPr id="19" name="Shape 17"/>
          <p:cNvSpPr/>
          <p:nvPr/>
        </p:nvSpPr>
        <p:spPr>
          <a:xfrm>
            <a:off x="2331720" y="3703320"/>
            <a:ext cx="91" cy="1371600"/>
          </a:xfrm>
          <a:prstGeom prst="line">
            <a:avLst/>
          </a:prstGeom>
          <a:noFill/>
          <a:ln w="31750">
            <a:solidFill>
              <a:srgbClr val="F2E6C8"/>
            </a:solidFill>
            <a:prstDash val="solid"/>
          </a:ln>
        </p:spPr>
      </p:sp>
      <p:sp>
        <p:nvSpPr>
          <p:cNvPr id="20" name="Shape 18"/>
          <p:cNvSpPr/>
          <p:nvPr/>
        </p:nvSpPr>
        <p:spPr>
          <a:xfrm flipH="1">
            <a:off x="1371600" y="3931920"/>
            <a:ext cx="960120" cy="868680"/>
          </a:xfrm>
          <a:prstGeom prst="line">
            <a:avLst/>
          </a:prstGeom>
          <a:noFill/>
          <a:ln w="31750">
            <a:solidFill>
              <a:srgbClr val="F2E6C8"/>
            </a:solidFill>
            <a:prstDash val="solid"/>
          </a:ln>
        </p:spPr>
      </p:sp>
      <p:sp>
        <p:nvSpPr>
          <p:cNvPr id="21" name="Shape 19"/>
          <p:cNvSpPr/>
          <p:nvPr/>
        </p:nvSpPr>
        <p:spPr>
          <a:xfrm>
            <a:off x="2331720" y="3931920"/>
            <a:ext cx="960120" cy="914400"/>
          </a:xfrm>
          <a:prstGeom prst="line">
            <a:avLst/>
          </a:prstGeom>
          <a:noFill/>
          <a:ln w="31750">
            <a:solidFill>
              <a:srgbClr val="F2E6C8"/>
            </a:solidFill>
            <a:prstDash val="solid"/>
          </a:ln>
        </p:spPr>
      </p:sp>
      <p:sp>
        <p:nvSpPr>
          <p:cNvPr id="22" name="Shape 20"/>
          <p:cNvSpPr/>
          <p:nvPr/>
        </p:nvSpPr>
        <p:spPr>
          <a:xfrm flipH="1">
            <a:off x="1783080" y="4297680"/>
            <a:ext cx="548640" cy="822960"/>
          </a:xfrm>
          <a:prstGeom prst="line">
            <a:avLst/>
          </a:prstGeom>
          <a:noFill/>
          <a:ln w="31750">
            <a:solidFill>
              <a:srgbClr val="F2E6C8"/>
            </a:solidFill>
            <a:prstDash val="solid"/>
          </a:ln>
        </p:spPr>
      </p:sp>
      <p:sp>
        <p:nvSpPr>
          <p:cNvPr id="23" name="Shape 21"/>
          <p:cNvSpPr/>
          <p:nvPr/>
        </p:nvSpPr>
        <p:spPr>
          <a:xfrm>
            <a:off x="2240280" y="4983480"/>
            <a:ext cx="182880" cy="182880"/>
          </a:xfrm>
          <a:prstGeom prst="ellipse">
            <a:avLst/>
          </a:prstGeom>
          <a:solidFill>
            <a:srgbClr val="F5A742"/>
          </a:solidFill>
          <a:ln w="12700">
            <a:solidFill>
              <a:srgbClr val="B8730A"/>
            </a:solidFill>
            <a:prstDash val="solid"/>
          </a:ln>
        </p:spPr>
      </p:sp>
      <p:sp>
        <p:nvSpPr>
          <p:cNvPr id="24" name="Shape 22"/>
          <p:cNvSpPr/>
          <p:nvPr/>
        </p:nvSpPr>
        <p:spPr>
          <a:xfrm>
            <a:off x="1280160" y="4709160"/>
            <a:ext cx="182880" cy="182880"/>
          </a:xfrm>
          <a:prstGeom prst="ellipse">
            <a:avLst/>
          </a:prstGeom>
          <a:solidFill>
            <a:srgbClr val="F5A742"/>
          </a:solidFill>
          <a:ln w="12700">
            <a:solidFill>
              <a:srgbClr val="B8730A"/>
            </a:solidFill>
            <a:prstDash val="solid"/>
          </a:ln>
        </p:spPr>
      </p:sp>
      <p:sp>
        <p:nvSpPr>
          <p:cNvPr id="25" name="Shape 23"/>
          <p:cNvSpPr/>
          <p:nvPr/>
        </p:nvSpPr>
        <p:spPr>
          <a:xfrm>
            <a:off x="3200400" y="4754880"/>
            <a:ext cx="182880" cy="182880"/>
          </a:xfrm>
          <a:prstGeom prst="ellipse">
            <a:avLst/>
          </a:prstGeom>
          <a:solidFill>
            <a:srgbClr val="F5A742"/>
          </a:solidFill>
          <a:ln w="12700">
            <a:solidFill>
              <a:srgbClr val="B8730A"/>
            </a:solidFill>
            <a:prstDash val="solid"/>
          </a:ln>
        </p:spPr>
      </p:sp>
      <p:sp>
        <p:nvSpPr>
          <p:cNvPr id="26" name="Shape 24"/>
          <p:cNvSpPr/>
          <p:nvPr/>
        </p:nvSpPr>
        <p:spPr>
          <a:xfrm>
            <a:off x="1691640" y="5029200"/>
            <a:ext cx="182880" cy="182880"/>
          </a:xfrm>
          <a:prstGeom prst="ellipse">
            <a:avLst/>
          </a:prstGeom>
          <a:solidFill>
            <a:srgbClr val="F5A742"/>
          </a:solidFill>
          <a:ln w="12700">
            <a:solidFill>
              <a:srgbClr val="B8730A"/>
            </a:solidFill>
            <a:prstDash val="solid"/>
          </a:ln>
        </p:spPr>
      </p:sp>
      <p:sp>
        <p:nvSpPr>
          <p:cNvPr id="27" name="Text 25"/>
          <p:cNvSpPr/>
          <p:nvPr/>
        </p:nvSpPr>
        <p:spPr>
          <a:xfrm>
            <a:off x="2560320" y="1325880"/>
            <a:ext cx="201168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shoot tip</a:t>
            </a:r>
            <a:r>
              <a:rPr lang="en-US" sz="1050" dirty="0">
                <a:solidFill>
                  <a:srgbClr val="262B3A"/>
                </a:solidFill>
                <a:latin typeface="Calibri" pitchFamily="34" charset="0"/>
                <a:ea typeface="Calibri" pitchFamily="34" charset="-122"/>
                <a:cs typeface="Calibri" pitchFamily="34" charset="-120"/>
              </a:rPr>
              <a:t> meristem</a:t>
            </a:r>
            <a:endParaRPr lang="en-US" sz="1050" dirty="0"/>
          </a:p>
        </p:txBody>
      </p:sp>
      <p:sp>
        <p:nvSpPr>
          <p:cNvPr id="28" name="Text 26"/>
          <p:cNvSpPr/>
          <p:nvPr/>
        </p:nvSpPr>
        <p:spPr>
          <a:xfrm>
            <a:off x="960120" y="3026664"/>
            <a:ext cx="1143000" cy="25603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side bud</a:t>
            </a:r>
            <a:endParaRPr lang="en-US" sz="1000" dirty="0"/>
          </a:p>
        </p:txBody>
      </p:sp>
      <p:sp>
        <p:nvSpPr>
          <p:cNvPr id="29" name="Text 27"/>
          <p:cNvSpPr/>
          <p:nvPr/>
        </p:nvSpPr>
        <p:spPr>
          <a:xfrm>
            <a:off x="2880360" y="4892040"/>
            <a:ext cx="173736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root tip</a:t>
            </a:r>
            <a:r>
              <a:rPr lang="en-US" sz="1050" dirty="0">
                <a:solidFill>
                  <a:srgbClr val="262B3A"/>
                </a:solidFill>
                <a:latin typeface="Calibri" pitchFamily="34" charset="0"/>
                <a:ea typeface="Calibri" pitchFamily="34" charset="-122"/>
                <a:cs typeface="Calibri" pitchFamily="34" charset="-120"/>
              </a:rPr>
              <a:t> meristems</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937760" y="1188720"/>
          <a:ext cx="6839712" cy="914400"/>
        </p:xfrm>
        <a:graphic>
          <a:graphicData uri="http://schemas.openxmlformats.org/drawingml/2006/table">
            <a:tbl>
              <a:tblPr/>
              <a:tblGrid>
                <a:gridCol w="1554480"/>
                <a:gridCol w="2642616"/>
                <a:gridCol w="2642616"/>
              </a:tblGrid>
              <a:tr h="438912">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Plants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Animals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Where cells divide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only at meristems (shoot and root tips)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all over the body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When they grow</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all through life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mostly while young; growth then stops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Stem cells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meristem cells can become any plant cell, all through life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adult stem cells: only a few types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How cells get bigger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mostly by taking in water (vacuole)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by making more cytoplasm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Regrowing parts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can regrow lost parts; cuttings make whole plants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only small repairs (e.g. skin)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31" name="Shape 28"/>
          <p:cNvSpPr/>
          <p:nvPr/>
        </p:nvSpPr>
        <p:spPr>
          <a:xfrm>
            <a:off x="4937760" y="4160520"/>
            <a:ext cx="6839712" cy="1554480"/>
          </a:xfrm>
          <a:prstGeom prst="roundRect">
            <a:avLst>
              <a:gd name="adj" fmla="val 3529"/>
            </a:avLst>
          </a:prstGeom>
          <a:solidFill>
            <a:srgbClr val="FFF4E0"/>
          </a:solidFill>
          <a:ln w="9525">
            <a:solidFill>
              <a:srgbClr val="F1D9A8"/>
            </a:solidFill>
            <a:prstDash val="solid"/>
          </a:ln>
        </p:spPr>
      </p:sp>
      <p:sp>
        <p:nvSpPr>
          <p:cNvPr id="32" name="Text 29"/>
          <p:cNvSpPr/>
          <p:nvPr/>
        </p:nvSpPr>
        <p:spPr>
          <a:xfrm>
            <a:off x="5102352" y="4233672"/>
            <a:ext cx="651052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33" name="Text 30"/>
          <p:cNvSpPr/>
          <p:nvPr/>
        </p:nvSpPr>
        <p:spPr>
          <a:xfrm>
            <a:off x="5102352" y="4544568"/>
            <a:ext cx="6510528" cy="10972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a gardener can grow a whole new plant from a cutting.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Meristem   </a:t>
            </a:r>
            <a:r>
              <a:rPr lang="en-US" sz="1050" dirty="0">
                <a:solidFill>
                  <a:srgbClr val="262B3A"/>
                </a:solidFill>
                <a:latin typeface="Calibri" pitchFamily="34" charset="0"/>
                <a:ea typeface="Calibri" pitchFamily="34" charset="-122"/>
                <a:cs typeface="Calibri" pitchFamily="34" charset="-120"/>
              </a:rPr>
              <a:t>the cutting contains meristem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Stem cells   </a:t>
            </a:r>
            <a:r>
              <a:rPr lang="en-US" sz="1050" dirty="0">
                <a:solidFill>
                  <a:srgbClr val="262B3A"/>
                </a:solidFill>
                <a:latin typeface="Calibri" pitchFamily="34" charset="0"/>
                <a:ea typeface="Calibri" pitchFamily="34" charset="-122"/>
                <a:cs typeface="Calibri" pitchFamily="34" charset="-120"/>
              </a:rPr>
              <a:t>they are unspecialised and can become any plant cell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they divide and differentiate to make new roots, stem and leaves</a:t>
            </a:r>
            <a:endParaRPr lang="en-US" sz="1050" dirty="0"/>
          </a:p>
        </p:txBody>
      </p:sp>
      <p:sp>
        <p:nvSpPr>
          <p:cNvPr id="34" name="Shape 31"/>
          <p:cNvSpPr/>
          <p:nvPr/>
        </p:nvSpPr>
        <p:spPr>
          <a:xfrm>
            <a:off x="411480" y="5833872"/>
            <a:ext cx="11368735" cy="530352"/>
          </a:xfrm>
          <a:prstGeom prst="rect">
            <a:avLst/>
          </a:prstGeom>
          <a:solidFill>
            <a:srgbClr val="FFF4E0"/>
          </a:solidFill>
          <a:ln w="6350">
            <a:solidFill>
              <a:srgbClr val="F1D9A8"/>
            </a:solidFill>
            <a:prstDash val="solid"/>
          </a:ln>
        </p:spPr>
      </p:sp>
      <p:sp>
        <p:nvSpPr>
          <p:cNvPr id="35" name="Shape 32"/>
          <p:cNvSpPr/>
          <p:nvPr/>
        </p:nvSpPr>
        <p:spPr>
          <a:xfrm>
            <a:off x="411480" y="5833872"/>
            <a:ext cx="82296" cy="530352"/>
          </a:xfrm>
          <a:prstGeom prst="rect">
            <a:avLst/>
          </a:prstGeom>
          <a:solidFill>
            <a:srgbClr val="E39A2F"/>
          </a:solidFill>
          <a:ln w="12700">
            <a:solidFill>
              <a:srgbClr val="E39A2F"/>
            </a:solidFill>
            <a:prstDash val="solid"/>
          </a:ln>
        </p:spPr>
      </p:sp>
      <p:sp>
        <p:nvSpPr>
          <p:cNvPr id="36" name="Text 3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Where are the meristems in a plant? Why does a tree get </a:t>
            </a:r>
            <a:r>
              <a:rPr lang="en-US" sz="1150" b="1" dirty="0">
                <a:solidFill>
                  <a:srgbClr val="262B3A"/>
                </a:solidFill>
                <a:latin typeface="Calibri" pitchFamily="34" charset="0"/>
                <a:ea typeface="Calibri" pitchFamily="34" charset="-122"/>
                <a:cs typeface="Calibri" pitchFamily="34" charset="-120"/>
              </a:rPr>
              <a:t>taller</a:t>
            </a:r>
            <a:r>
              <a:rPr lang="en-US" sz="1150" dirty="0">
                <a:solidFill>
                  <a:srgbClr val="262B3A"/>
                </a:solidFill>
                <a:latin typeface="Calibri" pitchFamily="34" charset="0"/>
                <a:ea typeface="Calibri" pitchFamily="34" charset="-122"/>
                <a:cs typeface="Calibri" pitchFamily="34" charset="-120"/>
              </a:rPr>
              <a:t> only at the tips of its branches?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B4.3.4, B4.3.5 • differentiation, stem cells, meristems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t>
            </a:r>
            <a:r>
              <a:rPr lang="en-US" sz="1250" b="1" dirty="0">
                <a:solidFill>
                  <a:srgbClr val="262B3A"/>
                </a:solidFill>
                <a:latin typeface="Calibri" pitchFamily="34" charset="0"/>
                <a:ea typeface="Calibri" pitchFamily="34" charset="-122"/>
                <a:cs typeface="Calibri" pitchFamily="34" charset="-120"/>
              </a:rPr>
              <a:t>differentiation</a:t>
            </a:r>
            <a:r>
              <a:rPr lang="en-US" sz="1250" dirty="0">
                <a:solidFill>
                  <a:srgbClr val="262B3A"/>
                </a:solidFill>
                <a:latin typeface="Calibri" pitchFamily="34" charset="0"/>
                <a:ea typeface="Calibri" pitchFamily="34" charset="-122"/>
                <a:cs typeface="Calibri" pitchFamily="34" charset="-120"/>
              </a:rPr>
              <a:t>? Explain how it happens.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differences between </a:t>
            </a:r>
            <a:r>
              <a:rPr lang="en-US" sz="1250" b="1" dirty="0">
                <a:solidFill>
                  <a:srgbClr val="262B3A"/>
                </a:solidFill>
                <a:latin typeface="Calibri" pitchFamily="34" charset="0"/>
                <a:ea typeface="Calibri" pitchFamily="34" charset="-122"/>
                <a:cs typeface="Calibri" pitchFamily="34" charset="-120"/>
              </a:rPr>
              <a:t>embryonic</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adult</a:t>
            </a:r>
            <a:r>
              <a:rPr lang="en-US" sz="1250" dirty="0">
                <a:solidFill>
                  <a:srgbClr val="262B3A"/>
                </a:solidFill>
                <a:latin typeface="Calibri" pitchFamily="34" charset="0"/>
                <a:ea typeface="Calibri" pitchFamily="34" charset="-122"/>
                <a:cs typeface="Calibri" pitchFamily="34" charset="-120"/>
              </a:rPr>
              <a:t> stem cells.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tissue in plants that contains stem cells and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place where it is found.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plant can regrow a whole new plant from a small cutting, but a human cannot regrow a lost arm. Explain why.</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Using stem cells in medicine and plants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Ideas about Science: benefits and risks • links to B4.3.4</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IaS  |  22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uses now (green) and uses being researched (blue)</a:t>
            </a:r>
            <a:endParaRPr lang="en-US" sz="1000" dirty="0"/>
          </a:p>
        </p:txBody>
      </p:sp>
      <p:sp>
        <p:nvSpPr>
          <p:cNvPr id="10" name="Shape 8"/>
          <p:cNvSpPr/>
          <p:nvPr/>
        </p:nvSpPr>
        <p:spPr>
          <a:xfrm>
            <a:off x="594360" y="1325880"/>
            <a:ext cx="2514600" cy="1965960"/>
          </a:xfrm>
          <a:prstGeom prst="roundRect">
            <a:avLst>
              <a:gd name="adj" fmla="val 2326"/>
            </a:avLst>
          </a:prstGeom>
          <a:solidFill>
            <a:srgbClr val="FFFFFF"/>
          </a:solidFill>
          <a:ln w="19050">
            <a:solidFill>
              <a:srgbClr val="2E8B57"/>
            </a:solidFill>
            <a:prstDash val="solid"/>
          </a:ln>
        </p:spPr>
      </p:sp>
      <p:sp>
        <p:nvSpPr>
          <p:cNvPr id="11" name="Shape 9"/>
          <p:cNvSpPr/>
          <p:nvPr/>
        </p:nvSpPr>
        <p:spPr>
          <a:xfrm>
            <a:off x="685800" y="1417320"/>
            <a:ext cx="548640" cy="274320"/>
          </a:xfrm>
          <a:prstGeom prst="roundRect">
            <a:avLst>
              <a:gd name="adj" fmla="val 50000"/>
            </a:avLst>
          </a:prstGeom>
          <a:solidFill>
            <a:srgbClr val="2E8B57"/>
          </a:solidFill>
          <a:ln w="12700">
            <a:solidFill>
              <a:srgbClr val="2E8B57"/>
            </a:solidFill>
            <a:prstDash val="solid"/>
          </a:ln>
        </p:spPr>
      </p:sp>
      <p:sp>
        <p:nvSpPr>
          <p:cNvPr id="12" name="Text 10"/>
          <p:cNvSpPr/>
          <p:nvPr/>
        </p:nvSpPr>
        <p:spPr>
          <a:xfrm>
            <a:off x="685800" y="1417320"/>
            <a:ext cx="5486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NOW</a:t>
            </a:r>
            <a:endParaRPr lang="en-US" sz="1000" dirty="0"/>
          </a:p>
        </p:txBody>
      </p:sp>
      <p:sp>
        <p:nvSpPr>
          <p:cNvPr id="13" name="Text 11"/>
          <p:cNvSpPr/>
          <p:nvPr/>
        </p:nvSpPr>
        <p:spPr>
          <a:xfrm>
            <a:off x="685800" y="1737360"/>
            <a:ext cx="233172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Bone marrow transplants</a:t>
            </a:r>
            <a:endParaRPr lang="en-US" sz="1100" dirty="0"/>
          </a:p>
        </p:txBody>
      </p:sp>
      <p:sp>
        <p:nvSpPr>
          <p:cNvPr id="14" name="Text 12"/>
          <p:cNvSpPr/>
          <p:nvPr/>
        </p:nvSpPr>
        <p:spPr>
          <a:xfrm>
            <a:off x="685800" y="2651760"/>
            <a:ext cx="2331720" cy="621792"/>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donor stem cells make healthy blood cells, e.g. to treat </a:t>
            </a:r>
            <a:r>
              <a:rPr lang="en-US" sz="1000" b="1" dirty="0">
                <a:solidFill>
                  <a:srgbClr val="262B3A"/>
                </a:solidFill>
                <a:latin typeface="Calibri" pitchFamily="34" charset="0"/>
                <a:ea typeface="Calibri" pitchFamily="34" charset="-122"/>
                <a:cs typeface="Calibri" pitchFamily="34" charset="-120"/>
              </a:rPr>
              <a:t>leukaemia</a:t>
            </a:r>
            <a:endParaRPr lang="en-US" sz="1000" dirty="0"/>
          </a:p>
        </p:txBody>
      </p:sp>
      <p:sp>
        <p:nvSpPr>
          <p:cNvPr id="15" name="Shape 13"/>
          <p:cNvSpPr/>
          <p:nvPr/>
        </p:nvSpPr>
        <p:spPr>
          <a:xfrm>
            <a:off x="3246120" y="1325880"/>
            <a:ext cx="2514600" cy="1965960"/>
          </a:xfrm>
          <a:prstGeom prst="roundRect">
            <a:avLst>
              <a:gd name="adj" fmla="val 2326"/>
            </a:avLst>
          </a:prstGeom>
          <a:solidFill>
            <a:srgbClr val="FFFFFF"/>
          </a:solidFill>
          <a:ln w="19050">
            <a:solidFill>
              <a:srgbClr val="2E8B57"/>
            </a:solidFill>
            <a:prstDash val="solid"/>
          </a:ln>
        </p:spPr>
      </p:sp>
      <p:sp>
        <p:nvSpPr>
          <p:cNvPr id="16" name="Shape 14"/>
          <p:cNvSpPr/>
          <p:nvPr/>
        </p:nvSpPr>
        <p:spPr>
          <a:xfrm>
            <a:off x="3337560" y="1417320"/>
            <a:ext cx="548640" cy="274320"/>
          </a:xfrm>
          <a:prstGeom prst="roundRect">
            <a:avLst>
              <a:gd name="adj" fmla="val 50000"/>
            </a:avLst>
          </a:prstGeom>
          <a:solidFill>
            <a:srgbClr val="2E8B57"/>
          </a:solidFill>
          <a:ln w="12700">
            <a:solidFill>
              <a:srgbClr val="2E8B57"/>
            </a:solidFill>
            <a:prstDash val="solid"/>
          </a:ln>
        </p:spPr>
      </p:sp>
      <p:sp>
        <p:nvSpPr>
          <p:cNvPr id="17" name="Text 15"/>
          <p:cNvSpPr/>
          <p:nvPr/>
        </p:nvSpPr>
        <p:spPr>
          <a:xfrm>
            <a:off x="3337560" y="1417320"/>
            <a:ext cx="5486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NOW</a:t>
            </a:r>
            <a:endParaRPr lang="en-US" sz="1000" dirty="0"/>
          </a:p>
        </p:txBody>
      </p:sp>
      <p:sp>
        <p:nvSpPr>
          <p:cNvPr id="18" name="Text 16"/>
          <p:cNvSpPr/>
          <p:nvPr/>
        </p:nvSpPr>
        <p:spPr>
          <a:xfrm>
            <a:off x="3337560" y="1737360"/>
            <a:ext cx="233172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Cloning plants</a:t>
            </a:r>
            <a:endParaRPr lang="en-US" sz="1100" dirty="0"/>
          </a:p>
        </p:txBody>
      </p:sp>
      <p:sp>
        <p:nvSpPr>
          <p:cNvPr id="19" name="Text 17"/>
          <p:cNvSpPr/>
          <p:nvPr/>
        </p:nvSpPr>
        <p:spPr>
          <a:xfrm>
            <a:off x="3337560" y="2651760"/>
            <a:ext cx="2331720" cy="621792"/>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meristem tissue grown on a sterile medium: many identical plants, e.g. </a:t>
            </a:r>
            <a:r>
              <a:rPr lang="en-US" sz="1000" b="1" dirty="0">
                <a:solidFill>
                  <a:srgbClr val="262B3A"/>
                </a:solidFill>
                <a:latin typeface="Calibri" pitchFamily="34" charset="0"/>
                <a:ea typeface="Calibri" pitchFamily="34" charset="-122"/>
                <a:cs typeface="Calibri" pitchFamily="34" charset="-120"/>
              </a:rPr>
              <a:t>rare species</a:t>
            </a:r>
            <a:r>
              <a:rPr lang="en-US" sz="1000" dirty="0">
                <a:solidFill>
                  <a:srgbClr val="262B3A"/>
                </a:solidFill>
                <a:latin typeface="Calibri" pitchFamily="34" charset="0"/>
                <a:ea typeface="Calibri" pitchFamily="34" charset="-122"/>
                <a:cs typeface="Calibri" pitchFamily="34" charset="-120"/>
              </a:rPr>
              <a:t>, crops</a:t>
            </a:r>
            <a:endParaRPr lang="en-US" sz="1000" dirty="0"/>
          </a:p>
        </p:txBody>
      </p:sp>
      <p:sp>
        <p:nvSpPr>
          <p:cNvPr id="20" name="Shape 18"/>
          <p:cNvSpPr/>
          <p:nvPr/>
        </p:nvSpPr>
        <p:spPr>
          <a:xfrm>
            <a:off x="594360" y="3429000"/>
            <a:ext cx="2514600" cy="1965960"/>
          </a:xfrm>
          <a:prstGeom prst="roundRect">
            <a:avLst>
              <a:gd name="adj" fmla="val 2326"/>
            </a:avLst>
          </a:prstGeom>
          <a:solidFill>
            <a:srgbClr val="FFFFFF"/>
          </a:solidFill>
          <a:ln w="19050">
            <a:solidFill>
              <a:srgbClr val="0D7877"/>
            </a:solidFill>
            <a:prstDash val="solid"/>
          </a:ln>
        </p:spPr>
      </p:sp>
      <p:sp>
        <p:nvSpPr>
          <p:cNvPr id="21" name="Shape 19"/>
          <p:cNvSpPr/>
          <p:nvPr/>
        </p:nvSpPr>
        <p:spPr>
          <a:xfrm>
            <a:off x="685800" y="3520440"/>
            <a:ext cx="914400" cy="274320"/>
          </a:xfrm>
          <a:prstGeom prst="roundRect">
            <a:avLst>
              <a:gd name="adj" fmla="val 50000"/>
            </a:avLst>
          </a:prstGeom>
          <a:solidFill>
            <a:srgbClr val="0D7877"/>
          </a:solidFill>
          <a:ln w="12700">
            <a:solidFill>
              <a:srgbClr val="0D7877"/>
            </a:solidFill>
            <a:prstDash val="solid"/>
          </a:ln>
        </p:spPr>
      </p:sp>
      <p:sp>
        <p:nvSpPr>
          <p:cNvPr id="22" name="Text 20"/>
          <p:cNvSpPr/>
          <p:nvPr/>
        </p:nvSpPr>
        <p:spPr>
          <a:xfrm>
            <a:off x="685800" y="3520440"/>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RESEARCH</a:t>
            </a:r>
            <a:endParaRPr lang="en-US" sz="1000" dirty="0"/>
          </a:p>
        </p:txBody>
      </p:sp>
      <p:sp>
        <p:nvSpPr>
          <p:cNvPr id="23" name="Text 21"/>
          <p:cNvSpPr/>
          <p:nvPr/>
        </p:nvSpPr>
        <p:spPr>
          <a:xfrm>
            <a:off x="685800" y="3840480"/>
            <a:ext cx="233172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Type 1 diabetes</a:t>
            </a:r>
            <a:endParaRPr lang="en-US" sz="1100" dirty="0"/>
          </a:p>
        </p:txBody>
      </p:sp>
      <p:sp>
        <p:nvSpPr>
          <p:cNvPr id="24" name="Text 22"/>
          <p:cNvSpPr/>
          <p:nvPr/>
        </p:nvSpPr>
        <p:spPr>
          <a:xfrm>
            <a:off x="685800" y="4754880"/>
            <a:ext cx="2331720" cy="621792"/>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grow new </a:t>
            </a:r>
            <a:r>
              <a:rPr lang="en-US" sz="1000" b="1" dirty="0">
                <a:solidFill>
                  <a:srgbClr val="262B3A"/>
                </a:solidFill>
                <a:latin typeface="Calibri" pitchFamily="34" charset="0"/>
                <a:ea typeface="Calibri" pitchFamily="34" charset="-122"/>
                <a:cs typeface="Calibri" pitchFamily="34" charset="-120"/>
              </a:rPr>
              <a:t>insulin-making</a:t>
            </a:r>
            <a:r>
              <a:rPr lang="en-US" sz="1000" dirty="0">
                <a:solidFill>
                  <a:srgbClr val="262B3A"/>
                </a:solidFill>
                <a:latin typeface="Calibri" pitchFamily="34" charset="0"/>
                <a:ea typeface="Calibri" pitchFamily="34" charset="-122"/>
                <a:cs typeface="Calibri" pitchFamily="34" charset="-120"/>
              </a:rPr>
              <a:t> cells to replace those destroyed</a:t>
            </a:r>
            <a:endParaRPr lang="en-US" sz="1000" dirty="0"/>
          </a:p>
        </p:txBody>
      </p:sp>
      <p:sp>
        <p:nvSpPr>
          <p:cNvPr id="25" name="Shape 23"/>
          <p:cNvSpPr/>
          <p:nvPr/>
        </p:nvSpPr>
        <p:spPr>
          <a:xfrm>
            <a:off x="3246120" y="3429000"/>
            <a:ext cx="2514600" cy="1965960"/>
          </a:xfrm>
          <a:prstGeom prst="roundRect">
            <a:avLst>
              <a:gd name="adj" fmla="val 2326"/>
            </a:avLst>
          </a:prstGeom>
          <a:solidFill>
            <a:srgbClr val="FFFFFF"/>
          </a:solidFill>
          <a:ln w="19050">
            <a:solidFill>
              <a:srgbClr val="0D7877"/>
            </a:solidFill>
            <a:prstDash val="solid"/>
          </a:ln>
        </p:spPr>
      </p:sp>
      <p:sp>
        <p:nvSpPr>
          <p:cNvPr id="26" name="Shape 24"/>
          <p:cNvSpPr/>
          <p:nvPr/>
        </p:nvSpPr>
        <p:spPr>
          <a:xfrm>
            <a:off x="3337560" y="3520440"/>
            <a:ext cx="914400" cy="274320"/>
          </a:xfrm>
          <a:prstGeom prst="roundRect">
            <a:avLst>
              <a:gd name="adj" fmla="val 50000"/>
            </a:avLst>
          </a:prstGeom>
          <a:solidFill>
            <a:srgbClr val="0D7877"/>
          </a:solidFill>
          <a:ln w="12700">
            <a:solidFill>
              <a:srgbClr val="0D7877"/>
            </a:solidFill>
            <a:prstDash val="solid"/>
          </a:ln>
        </p:spPr>
      </p:sp>
      <p:sp>
        <p:nvSpPr>
          <p:cNvPr id="27" name="Text 25"/>
          <p:cNvSpPr/>
          <p:nvPr/>
        </p:nvSpPr>
        <p:spPr>
          <a:xfrm>
            <a:off x="3337560" y="3520440"/>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RESEARCH</a:t>
            </a:r>
            <a:endParaRPr lang="en-US" sz="1000" dirty="0"/>
          </a:p>
        </p:txBody>
      </p:sp>
      <p:sp>
        <p:nvSpPr>
          <p:cNvPr id="28" name="Text 26"/>
          <p:cNvSpPr/>
          <p:nvPr/>
        </p:nvSpPr>
        <p:spPr>
          <a:xfrm>
            <a:off x="3337560" y="3840480"/>
            <a:ext cx="233172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Nerve damage</a:t>
            </a:r>
            <a:endParaRPr lang="en-US" sz="1100" dirty="0"/>
          </a:p>
        </p:txBody>
      </p:sp>
      <p:sp>
        <p:nvSpPr>
          <p:cNvPr id="29" name="Text 27"/>
          <p:cNvSpPr/>
          <p:nvPr/>
        </p:nvSpPr>
        <p:spPr>
          <a:xfrm>
            <a:off x="3337560" y="4754880"/>
            <a:ext cx="2331720" cy="621792"/>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make new </a:t>
            </a:r>
            <a:r>
              <a:rPr lang="en-US" sz="1000" b="1" dirty="0">
                <a:solidFill>
                  <a:srgbClr val="262B3A"/>
                </a:solidFill>
                <a:latin typeface="Calibri" pitchFamily="34" charset="0"/>
                <a:ea typeface="Calibri" pitchFamily="34" charset="-122"/>
                <a:cs typeface="Calibri" pitchFamily="34" charset="-120"/>
              </a:rPr>
              <a:t>nerve cells</a:t>
            </a:r>
            <a:r>
              <a:rPr lang="en-US" sz="1000" dirty="0">
                <a:solidFill>
                  <a:srgbClr val="262B3A"/>
                </a:solidFill>
                <a:latin typeface="Calibri" pitchFamily="34" charset="0"/>
                <a:ea typeface="Calibri" pitchFamily="34" charset="-122"/>
                <a:cs typeface="Calibri" pitchFamily="34" charset="-120"/>
              </a:rPr>
              <a:t> for spinal injury or Parkinson's disease</a:t>
            </a:r>
            <a:endParaRPr lang="en-US" sz="1000" dirty="0"/>
          </a:p>
        </p:txBody>
      </p:sp>
      <p:sp>
        <p:nvSpPr>
          <p:cNvPr id="30" name="Shape 28"/>
          <p:cNvSpPr/>
          <p:nvPr/>
        </p:nvSpPr>
        <p:spPr>
          <a:xfrm>
            <a:off x="758952" y="2130552"/>
            <a:ext cx="310896" cy="310896"/>
          </a:xfrm>
          <a:prstGeom prst="ellipse">
            <a:avLst/>
          </a:prstGeom>
          <a:solidFill>
            <a:srgbClr val="FFF4D6"/>
          </a:solidFill>
          <a:ln w="19050">
            <a:solidFill>
              <a:srgbClr val="B8730A"/>
            </a:solidFill>
            <a:prstDash val="solid"/>
          </a:ln>
        </p:spPr>
      </p:sp>
      <p:sp>
        <p:nvSpPr>
          <p:cNvPr id="31" name="Shape 29"/>
          <p:cNvSpPr/>
          <p:nvPr/>
        </p:nvSpPr>
        <p:spPr>
          <a:xfrm>
            <a:off x="844448" y="2216048"/>
            <a:ext cx="139903" cy="139903"/>
          </a:xfrm>
          <a:prstGeom prst="ellipse">
            <a:avLst/>
          </a:prstGeom>
          <a:solidFill>
            <a:srgbClr val="C9B6E4"/>
          </a:solidFill>
          <a:ln w="12700">
            <a:solidFill>
              <a:srgbClr val="6A4C93"/>
            </a:solidFill>
            <a:prstDash val="solid"/>
          </a:ln>
        </p:spPr>
      </p:sp>
      <p:sp>
        <p:nvSpPr>
          <p:cNvPr id="32" name="Shape 30"/>
          <p:cNvSpPr/>
          <p:nvPr/>
        </p:nvSpPr>
        <p:spPr>
          <a:xfrm>
            <a:off x="1097280" y="2286000"/>
            <a:ext cx="320040" cy="91"/>
          </a:xfrm>
          <a:prstGeom prst="line">
            <a:avLst/>
          </a:prstGeom>
          <a:noFill/>
          <a:ln w="15875">
            <a:solidFill>
              <a:srgbClr val="133536"/>
            </a:solidFill>
            <a:prstDash val="solid"/>
            <a:tailEnd type="triangle"/>
          </a:ln>
        </p:spPr>
      </p:sp>
      <p:sp>
        <p:nvSpPr>
          <p:cNvPr id="33" name="Shape 31"/>
          <p:cNvSpPr/>
          <p:nvPr/>
        </p:nvSpPr>
        <p:spPr>
          <a:xfrm>
            <a:off x="1490472" y="2103120"/>
            <a:ext cx="219456" cy="219456"/>
          </a:xfrm>
          <a:prstGeom prst="ellipse">
            <a:avLst/>
          </a:prstGeom>
          <a:solidFill>
            <a:srgbClr val="D9534F"/>
          </a:solidFill>
          <a:ln w="12700">
            <a:solidFill>
              <a:srgbClr val="8E2A33"/>
            </a:solidFill>
            <a:prstDash val="solid"/>
          </a:ln>
        </p:spPr>
      </p:sp>
      <p:sp>
        <p:nvSpPr>
          <p:cNvPr id="34" name="Shape 32"/>
          <p:cNvSpPr/>
          <p:nvPr/>
        </p:nvSpPr>
        <p:spPr>
          <a:xfrm>
            <a:off x="1550822" y="2163470"/>
            <a:ext cx="98755" cy="98755"/>
          </a:xfrm>
          <a:prstGeom prst="ellipse">
            <a:avLst/>
          </a:prstGeom>
          <a:solidFill>
            <a:srgbClr val="EE8A8F"/>
          </a:solidFill>
          <a:ln w="9525">
            <a:solidFill>
              <a:srgbClr val="EE8A8F"/>
            </a:solidFill>
            <a:prstDash val="solid"/>
          </a:ln>
        </p:spPr>
      </p:sp>
      <p:sp>
        <p:nvSpPr>
          <p:cNvPr id="35" name="Shape 33"/>
          <p:cNvSpPr/>
          <p:nvPr/>
        </p:nvSpPr>
        <p:spPr>
          <a:xfrm>
            <a:off x="1764792" y="2249424"/>
            <a:ext cx="219456" cy="219456"/>
          </a:xfrm>
          <a:prstGeom prst="ellipse">
            <a:avLst/>
          </a:prstGeom>
          <a:solidFill>
            <a:srgbClr val="D9534F"/>
          </a:solidFill>
          <a:ln w="12700">
            <a:solidFill>
              <a:srgbClr val="8E2A33"/>
            </a:solidFill>
            <a:prstDash val="solid"/>
          </a:ln>
        </p:spPr>
      </p:sp>
      <p:sp>
        <p:nvSpPr>
          <p:cNvPr id="36" name="Shape 34"/>
          <p:cNvSpPr/>
          <p:nvPr/>
        </p:nvSpPr>
        <p:spPr>
          <a:xfrm>
            <a:off x="1825142" y="2309774"/>
            <a:ext cx="98755" cy="98755"/>
          </a:xfrm>
          <a:prstGeom prst="ellipse">
            <a:avLst/>
          </a:prstGeom>
          <a:solidFill>
            <a:srgbClr val="EE8A8F"/>
          </a:solidFill>
          <a:ln w="9525">
            <a:solidFill>
              <a:srgbClr val="EE8A8F"/>
            </a:solidFill>
            <a:prstDash val="solid"/>
          </a:ln>
        </p:spPr>
      </p:sp>
      <p:sp>
        <p:nvSpPr>
          <p:cNvPr id="37" name="Shape 35"/>
          <p:cNvSpPr/>
          <p:nvPr/>
        </p:nvSpPr>
        <p:spPr>
          <a:xfrm>
            <a:off x="2048256" y="2139696"/>
            <a:ext cx="201168" cy="201168"/>
          </a:xfrm>
          <a:prstGeom prst="ellipse">
            <a:avLst/>
          </a:prstGeom>
          <a:solidFill>
            <a:srgbClr val="E7E3F5"/>
          </a:solidFill>
          <a:ln w="12700">
            <a:solidFill>
              <a:srgbClr val="6A4C93"/>
            </a:solidFill>
            <a:prstDash val="solid"/>
          </a:ln>
        </p:spPr>
      </p:sp>
      <p:sp>
        <p:nvSpPr>
          <p:cNvPr id="38" name="Shape 36"/>
          <p:cNvSpPr/>
          <p:nvPr/>
        </p:nvSpPr>
        <p:spPr>
          <a:xfrm>
            <a:off x="3703320" y="2148840"/>
            <a:ext cx="1554480" cy="457200"/>
          </a:xfrm>
          <a:prstGeom prst="ellipse">
            <a:avLst/>
          </a:prstGeom>
          <a:solidFill>
            <a:srgbClr val="F3EDC8"/>
          </a:solidFill>
          <a:ln w="15875">
            <a:solidFill>
              <a:srgbClr val="9AA3B0"/>
            </a:solidFill>
            <a:prstDash val="solid"/>
          </a:ln>
        </p:spPr>
      </p:sp>
      <p:sp>
        <p:nvSpPr>
          <p:cNvPr id="39" name="Shape 37"/>
          <p:cNvSpPr/>
          <p:nvPr/>
        </p:nvSpPr>
        <p:spPr>
          <a:xfrm flipV="1">
            <a:off x="4069080" y="2103120"/>
            <a:ext cx="91" cy="274320"/>
          </a:xfrm>
          <a:prstGeom prst="line">
            <a:avLst/>
          </a:prstGeom>
          <a:noFill/>
          <a:ln w="19050">
            <a:solidFill>
              <a:srgbClr val="3E7F2E"/>
            </a:solidFill>
            <a:prstDash val="solid"/>
          </a:ln>
        </p:spPr>
      </p:sp>
      <p:sp>
        <p:nvSpPr>
          <p:cNvPr id="40" name="Shape 38"/>
          <p:cNvSpPr/>
          <p:nvPr/>
        </p:nvSpPr>
        <p:spPr>
          <a:xfrm rot="-1800000">
            <a:off x="3913632" y="2061972"/>
            <a:ext cx="164592" cy="82296"/>
          </a:xfrm>
          <a:prstGeom prst="ellipse">
            <a:avLst/>
          </a:prstGeom>
          <a:solidFill>
            <a:srgbClr val="7DBE6A"/>
          </a:solidFill>
          <a:ln w="12700">
            <a:solidFill>
              <a:srgbClr val="3E7F2E"/>
            </a:solidFill>
            <a:prstDash val="solid"/>
          </a:ln>
        </p:spPr>
      </p:sp>
      <p:sp>
        <p:nvSpPr>
          <p:cNvPr id="41" name="Shape 39"/>
          <p:cNvSpPr/>
          <p:nvPr/>
        </p:nvSpPr>
        <p:spPr>
          <a:xfrm rot="1800000">
            <a:off x="4059936" y="2043684"/>
            <a:ext cx="164592" cy="82296"/>
          </a:xfrm>
          <a:prstGeom prst="ellipse">
            <a:avLst/>
          </a:prstGeom>
          <a:solidFill>
            <a:srgbClr val="7DBE6A"/>
          </a:solidFill>
          <a:ln w="12700">
            <a:solidFill>
              <a:srgbClr val="3E7F2E"/>
            </a:solidFill>
            <a:prstDash val="solid"/>
          </a:ln>
        </p:spPr>
      </p:sp>
      <p:sp>
        <p:nvSpPr>
          <p:cNvPr id="42" name="Shape 40"/>
          <p:cNvSpPr/>
          <p:nvPr/>
        </p:nvSpPr>
        <p:spPr>
          <a:xfrm flipV="1">
            <a:off x="4480560" y="2103120"/>
            <a:ext cx="91" cy="274320"/>
          </a:xfrm>
          <a:prstGeom prst="line">
            <a:avLst/>
          </a:prstGeom>
          <a:noFill/>
          <a:ln w="19050">
            <a:solidFill>
              <a:srgbClr val="3E7F2E"/>
            </a:solidFill>
            <a:prstDash val="solid"/>
          </a:ln>
        </p:spPr>
      </p:sp>
      <p:sp>
        <p:nvSpPr>
          <p:cNvPr id="43" name="Shape 41"/>
          <p:cNvSpPr/>
          <p:nvPr/>
        </p:nvSpPr>
        <p:spPr>
          <a:xfrm rot="-1800000">
            <a:off x="4325112" y="2061972"/>
            <a:ext cx="164592" cy="82296"/>
          </a:xfrm>
          <a:prstGeom prst="ellipse">
            <a:avLst/>
          </a:prstGeom>
          <a:solidFill>
            <a:srgbClr val="7DBE6A"/>
          </a:solidFill>
          <a:ln w="12700">
            <a:solidFill>
              <a:srgbClr val="3E7F2E"/>
            </a:solidFill>
            <a:prstDash val="solid"/>
          </a:ln>
        </p:spPr>
      </p:sp>
      <p:sp>
        <p:nvSpPr>
          <p:cNvPr id="44" name="Shape 42"/>
          <p:cNvSpPr/>
          <p:nvPr/>
        </p:nvSpPr>
        <p:spPr>
          <a:xfrm rot="1800000">
            <a:off x="4471416" y="2043684"/>
            <a:ext cx="164592" cy="82296"/>
          </a:xfrm>
          <a:prstGeom prst="ellipse">
            <a:avLst/>
          </a:prstGeom>
          <a:solidFill>
            <a:srgbClr val="7DBE6A"/>
          </a:solidFill>
          <a:ln w="12700">
            <a:solidFill>
              <a:srgbClr val="3E7F2E"/>
            </a:solidFill>
            <a:prstDash val="solid"/>
          </a:ln>
        </p:spPr>
      </p:sp>
      <p:sp>
        <p:nvSpPr>
          <p:cNvPr id="45" name="Shape 43"/>
          <p:cNvSpPr/>
          <p:nvPr/>
        </p:nvSpPr>
        <p:spPr>
          <a:xfrm flipV="1">
            <a:off x="4892040" y="2103120"/>
            <a:ext cx="91" cy="274320"/>
          </a:xfrm>
          <a:prstGeom prst="line">
            <a:avLst/>
          </a:prstGeom>
          <a:noFill/>
          <a:ln w="19050">
            <a:solidFill>
              <a:srgbClr val="3E7F2E"/>
            </a:solidFill>
            <a:prstDash val="solid"/>
          </a:ln>
        </p:spPr>
      </p:sp>
      <p:sp>
        <p:nvSpPr>
          <p:cNvPr id="46" name="Shape 44"/>
          <p:cNvSpPr/>
          <p:nvPr/>
        </p:nvSpPr>
        <p:spPr>
          <a:xfrm rot="-1800000">
            <a:off x="4736592" y="2061972"/>
            <a:ext cx="164592" cy="82296"/>
          </a:xfrm>
          <a:prstGeom prst="ellipse">
            <a:avLst/>
          </a:prstGeom>
          <a:solidFill>
            <a:srgbClr val="7DBE6A"/>
          </a:solidFill>
          <a:ln w="12700">
            <a:solidFill>
              <a:srgbClr val="3E7F2E"/>
            </a:solidFill>
            <a:prstDash val="solid"/>
          </a:ln>
        </p:spPr>
      </p:sp>
      <p:sp>
        <p:nvSpPr>
          <p:cNvPr id="47" name="Shape 45"/>
          <p:cNvSpPr/>
          <p:nvPr/>
        </p:nvSpPr>
        <p:spPr>
          <a:xfrm rot="1800000">
            <a:off x="4882896" y="2043684"/>
            <a:ext cx="164592" cy="82296"/>
          </a:xfrm>
          <a:prstGeom prst="ellipse">
            <a:avLst/>
          </a:prstGeom>
          <a:solidFill>
            <a:srgbClr val="7DBE6A"/>
          </a:solidFill>
          <a:ln w="12700">
            <a:solidFill>
              <a:srgbClr val="3E7F2E"/>
            </a:solidFill>
            <a:prstDash val="solid"/>
          </a:ln>
        </p:spPr>
      </p:sp>
      <p:sp>
        <p:nvSpPr>
          <p:cNvPr id="48" name="Shape 46"/>
          <p:cNvSpPr/>
          <p:nvPr/>
        </p:nvSpPr>
        <p:spPr>
          <a:xfrm>
            <a:off x="886968" y="4224528"/>
            <a:ext cx="237744" cy="237744"/>
          </a:xfrm>
          <a:prstGeom prst="ellipse">
            <a:avLst/>
          </a:prstGeom>
          <a:solidFill>
            <a:srgbClr val="CFE8D5"/>
          </a:solidFill>
          <a:ln w="12700">
            <a:solidFill>
              <a:srgbClr val="2E8B57"/>
            </a:solidFill>
            <a:prstDash val="solid"/>
          </a:ln>
        </p:spPr>
      </p:sp>
      <p:sp>
        <p:nvSpPr>
          <p:cNvPr id="49" name="Shape 47"/>
          <p:cNvSpPr/>
          <p:nvPr/>
        </p:nvSpPr>
        <p:spPr>
          <a:xfrm>
            <a:off x="1161288" y="4224528"/>
            <a:ext cx="237744" cy="237744"/>
          </a:xfrm>
          <a:prstGeom prst="ellipse">
            <a:avLst/>
          </a:prstGeom>
          <a:solidFill>
            <a:srgbClr val="CFE8D5"/>
          </a:solidFill>
          <a:ln w="12700">
            <a:solidFill>
              <a:srgbClr val="2E8B57"/>
            </a:solidFill>
            <a:prstDash val="solid"/>
          </a:ln>
        </p:spPr>
      </p:sp>
      <p:sp>
        <p:nvSpPr>
          <p:cNvPr id="50" name="Shape 48"/>
          <p:cNvSpPr/>
          <p:nvPr/>
        </p:nvSpPr>
        <p:spPr>
          <a:xfrm>
            <a:off x="1024128" y="4453128"/>
            <a:ext cx="237744" cy="237744"/>
          </a:xfrm>
          <a:prstGeom prst="ellipse">
            <a:avLst/>
          </a:prstGeom>
          <a:solidFill>
            <a:srgbClr val="CFE8D5"/>
          </a:solidFill>
          <a:ln w="12700">
            <a:solidFill>
              <a:srgbClr val="2E8B57"/>
            </a:solidFill>
            <a:prstDash val="solid"/>
          </a:ln>
        </p:spPr>
      </p:sp>
      <p:sp>
        <p:nvSpPr>
          <p:cNvPr id="51" name="Shape 49"/>
          <p:cNvSpPr/>
          <p:nvPr/>
        </p:nvSpPr>
        <p:spPr>
          <a:xfrm>
            <a:off x="1298448" y="4453128"/>
            <a:ext cx="237744" cy="237744"/>
          </a:xfrm>
          <a:prstGeom prst="ellipse">
            <a:avLst/>
          </a:prstGeom>
          <a:solidFill>
            <a:srgbClr val="CFE8D5"/>
          </a:solidFill>
          <a:ln w="12700">
            <a:solidFill>
              <a:srgbClr val="2E8B57"/>
            </a:solidFill>
            <a:prstDash val="solid"/>
          </a:ln>
        </p:spPr>
      </p:sp>
      <p:sp>
        <p:nvSpPr>
          <p:cNvPr id="52" name="Text 50"/>
          <p:cNvSpPr/>
          <p:nvPr/>
        </p:nvSpPr>
        <p:spPr>
          <a:xfrm>
            <a:off x="1645920" y="4315968"/>
            <a:ext cx="1280160" cy="219456"/>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insulin</a:t>
            </a:r>
            <a:endParaRPr lang="en-US" sz="1000" dirty="0"/>
          </a:p>
        </p:txBody>
      </p:sp>
      <p:sp>
        <p:nvSpPr>
          <p:cNvPr id="53" name="Shape 51"/>
          <p:cNvSpPr/>
          <p:nvPr/>
        </p:nvSpPr>
        <p:spPr>
          <a:xfrm flipH="1" flipV="1">
            <a:off x="3619195" y="4263847"/>
            <a:ext cx="248717" cy="170993"/>
          </a:xfrm>
          <a:prstGeom prst="line">
            <a:avLst/>
          </a:prstGeom>
          <a:noFill/>
          <a:ln w="19050">
            <a:solidFill>
              <a:srgbClr val="6A4C93"/>
            </a:solidFill>
            <a:prstDash val="solid"/>
          </a:ln>
        </p:spPr>
      </p:sp>
      <p:sp>
        <p:nvSpPr>
          <p:cNvPr id="54" name="Shape 52"/>
          <p:cNvSpPr/>
          <p:nvPr/>
        </p:nvSpPr>
        <p:spPr>
          <a:xfrm flipH="1">
            <a:off x="3572561" y="4434840"/>
            <a:ext cx="295351" cy="38862"/>
          </a:xfrm>
          <a:prstGeom prst="line">
            <a:avLst/>
          </a:prstGeom>
          <a:noFill/>
          <a:ln w="19050">
            <a:solidFill>
              <a:srgbClr val="6A4C93"/>
            </a:solidFill>
            <a:prstDash val="solid"/>
          </a:ln>
        </p:spPr>
      </p:sp>
      <p:sp>
        <p:nvSpPr>
          <p:cNvPr id="55" name="Shape 53"/>
          <p:cNvSpPr/>
          <p:nvPr/>
        </p:nvSpPr>
        <p:spPr>
          <a:xfrm flipH="1">
            <a:off x="3650285" y="4434840"/>
            <a:ext cx="217627" cy="194310"/>
          </a:xfrm>
          <a:prstGeom prst="line">
            <a:avLst/>
          </a:prstGeom>
          <a:noFill/>
          <a:ln w="19050">
            <a:solidFill>
              <a:srgbClr val="6A4C93"/>
            </a:solidFill>
            <a:prstDash val="solid"/>
          </a:ln>
        </p:spPr>
      </p:sp>
      <p:sp>
        <p:nvSpPr>
          <p:cNvPr id="56" name="Shape 54"/>
          <p:cNvSpPr/>
          <p:nvPr/>
        </p:nvSpPr>
        <p:spPr>
          <a:xfrm flipH="1" flipV="1">
            <a:off x="3774643" y="4201668"/>
            <a:ext cx="93269" cy="233172"/>
          </a:xfrm>
          <a:prstGeom prst="line">
            <a:avLst/>
          </a:prstGeom>
          <a:noFill/>
          <a:ln w="19050">
            <a:solidFill>
              <a:srgbClr val="6A4C93"/>
            </a:solidFill>
            <a:prstDash val="solid"/>
          </a:ln>
        </p:spPr>
      </p:sp>
      <p:sp>
        <p:nvSpPr>
          <p:cNvPr id="57" name="Shape 55"/>
          <p:cNvSpPr/>
          <p:nvPr/>
        </p:nvSpPr>
        <p:spPr>
          <a:xfrm flipH="1">
            <a:off x="3790188" y="4434840"/>
            <a:ext cx="77724" cy="233172"/>
          </a:xfrm>
          <a:prstGeom prst="line">
            <a:avLst/>
          </a:prstGeom>
          <a:noFill/>
          <a:ln w="19050">
            <a:solidFill>
              <a:srgbClr val="6A4C93"/>
            </a:solidFill>
            <a:prstDash val="solid"/>
          </a:ln>
        </p:spPr>
      </p:sp>
      <p:sp>
        <p:nvSpPr>
          <p:cNvPr id="58" name="Shape 56"/>
          <p:cNvSpPr/>
          <p:nvPr/>
        </p:nvSpPr>
        <p:spPr>
          <a:xfrm>
            <a:off x="3759098" y="4326026"/>
            <a:ext cx="217627" cy="217627"/>
          </a:xfrm>
          <a:prstGeom prst="ellipse">
            <a:avLst/>
          </a:prstGeom>
          <a:solidFill>
            <a:srgbClr val="D8C8EC"/>
          </a:solidFill>
          <a:ln w="15875">
            <a:solidFill>
              <a:srgbClr val="6A4C93"/>
            </a:solidFill>
            <a:prstDash val="solid"/>
          </a:ln>
        </p:spPr>
      </p:sp>
      <p:sp>
        <p:nvSpPr>
          <p:cNvPr id="59" name="Shape 57"/>
          <p:cNvSpPr/>
          <p:nvPr/>
        </p:nvSpPr>
        <p:spPr>
          <a:xfrm>
            <a:off x="3829050" y="4395978"/>
            <a:ext cx="77724" cy="77724"/>
          </a:xfrm>
          <a:prstGeom prst="ellipse">
            <a:avLst/>
          </a:prstGeom>
          <a:solidFill>
            <a:srgbClr val="6A4C93"/>
          </a:solidFill>
          <a:ln w="9525">
            <a:solidFill>
              <a:srgbClr val="6A4C93"/>
            </a:solidFill>
            <a:prstDash val="solid"/>
          </a:ln>
        </p:spPr>
      </p:sp>
      <p:sp>
        <p:nvSpPr>
          <p:cNvPr id="60" name="Shape 58"/>
          <p:cNvSpPr/>
          <p:nvPr/>
        </p:nvSpPr>
        <p:spPr>
          <a:xfrm>
            <a:off x="3976726" y="4434840"/>
            <a:ext cx="629564" cy="91"/>
          </a:xfrm>
          <a:prstGeom prst="line">
            <a:avLst/>
          </a:prstGeom>
          <a:noFill/>
          <a:ln w="31750">
            <a:solidFill>
              <a:srgbClr val="6A4C93"/>
            </a:solidFill>
            <a:prstDash val="solid"/>
          </a:ln>
        </p:spPr>
      </p:sp>
      <p:sp>
        <p:nvSpPr>
          <p:cNvPr id="61" name="Shape 59"/>
          <p:cNvSpPr/>
          <p:nvPr/>
        </p:nvSpPr>
        <p:spPr>
          <a:xfrm flipV="1">
            <a:off x="4606290" y="4341571"/>
            <a:ext cx="54407" cy="93269"/>
          </a:xfrm>
          <a:prstGeom prst="line">
            <a:avLst/>
          </a:prstGeom>
          <a:noFill/>
          <a:ln w="19050">
            <a:solidFill>
              <a:srgbClr val="6A4C93"/>
            </a:solidFill>
            <a:prstDash val="solid"/>
          </a:ln>
        </p:spPr>
      </p:sp>
      <p:sp>
        <p:nvSpPr>
          <p:cNvPr id="62" name="Shape 60"/>
          <p:cNvSpPr/>
          <p:nvPr/>
        </p:nvSpPr>
        <p:spPr>
          <a:xfrm>
            <a:off x="4606290" y="4434840"/>
            <a:ext cx="77724" cy="91"/>
          </a:xfrm>
          <a:prstGeom prst="line">
            <a:avLst/>
          </a:prstGeom>
          <a:noFill/>
          <a:ln w="19050">
            <a:solidFill>
              <a:srgbClr val="6A4C93"/>
            </a:solidFill>
            <a:prstDash val="solid"/>
          </a:ln>
        </p:spPr>
      </p:sp>
      <p:sp>
        <p:nvSpPr>
          <p:cNvPr id="63" name="Shape 61"/>
          <p:cNvSpPr/>
          <p:nvPr/>
        </p:nvSpPr>
        <p:spPr>
          <a:xfrm>
            <a:off x="4606290" y="4434840"/>
            <a:ext cx="54407" cy="93269"/>
          </a:xfrm>
          <a:prstGeom prst="line">
            <a:avLst/>
          </a:prstGeom>
          <a:noFill/>
          <a:ln w="19050">
            <a:solidFill>
              <a:srgbClr val="6A4C93"/>
            </a:solidFill>
            <a:prstDash val="solid"/>
          </a:ln>
        </p:spPr>
      </p:sp>
      <p:sp>
        <p:nvSpPr>
          <p:cNvPr id="64" name="Shape 62"/>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5" name="Text 6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Benefits and risks</a:t>
            </a:r>
            <a:endParaRPr lang="en-US" sz="1300" dirty="0"/>
          </a:p>
        </p:txBody>
      </p:sp>
      <p:sp>
        <p:nvSpPr>
          <p:cNvPr id="66" name="Text 6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Benefits</a:t>
            </a:r>
            <a:r>
              <a:rPr lang="en-US" sz="1100" dirty="0">
                <a:solidFill>
                  <a:srgbClr val="262B3A"/>
                </a:solidFill>
                <a:latin typeface="Calibri" pitchFamily="34" charset="0"/>
                <a:ea typeface="Calibri" pitchFamily="34" charset="-122"/>
                <a:cs typeface="Calibri" pitchFamily="34" charset="-120"/>
              </a:rPr>
              <a:t>: replace damaged or diseased cells; could treat conditions with no cure now; clone useful or rare plants quickly and cheaply.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Risks</a:t>
            </a:r>
            <a:r>
              <a:rPr lang="en-US" sz="1100" dirty="0">
                <a:solidFill>
                  <a:srgbClr val="262B3A"/>
                </a:solidFill>
                <a:latin typeface="Calibri" pitchFamily="34" charset="0"/>
                <a:ea typeface="Calibri" pitchFamily="34" charset="-122"/>
                <a:cs typeface="Calibri" pitchFamily="34" charset="-120"/>
              </a:rPr>
              <a:t>: cells grown in the lab could carry </a:t>
            </a:r>
            <a:r>
              <a:rPr lang="en-US" sz="1100" b="1" dirty="0">
                <a:solidFill>
                  <a:srgbClr val="262B3A"/>
                </a:solidFill>
                <a:latin typeface="Calibri" pitchFamily="34" charset="0"/>
                <a:ea typeface="Calibri" pitchFamily="34" charset="-122"/>
                <a:cs typeface="Calibri" pitchFamily="34" charset="-120"/>
              </a:rPr>
              <a:t>viruses</a:t>
            </a:r>
            <a:r>
              <a:rPr lang="en-US" sz="1100" dirty="0">
                <a:solidFill>
                  <a:srgbClr val="262B3A"/>
                </a:solidFill>
                <a:latin typeface="Calibri" pitchFamily="34" charset="0"/>
                <a:ea typeface="Calibri" pitchFamily="34" charset="-122"/>
                <a:cs typeface="Calibri" pitchFamily="34" charset="-120"/>
              </a:rPr>
              <a:t> (infection); donor cells may be </a:t>
            </a:r>
            <a:r>
              <a:rPr lang="en-US" sz="1100" b="1" dirty="0">
                <a:solidFill>
                  <a:srgbClr val="262B3A"/>
                </a:solidFill>
                <a:latin typeface="Calibri" pitchFamily="34" charset="0"/>
                <a:ea typeface="Calibri" pitchFamily="34" charset="-122"/>
                <a:cs typeface="Calibri" pitchFamily="34" charset="-120"/>
              </a:rPr>
              <a:t>rejected</a:t>
            </a:r>
            <a:r>
              <a:rPr lang="en-US" sz="1100" dirty="0">
                <a:solidFill>
                  <a:srgbClr val="262B3A"/>
                </a:solidFill>
                <a:latin typeface="Calibri" pitchFamily="34" charset="0"/>
                <a:ea typeface="Calibri" pitchFamily="34" charset="-122"/>
                <a:cs typeface="Calibri" pitchFamily="34" charset="-120"/>
              </a:rPr>
              <a:t> by the immune system.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Stem cells divide a lot: they could divide </a:t>
            </a:r>
            <a:r>
              <a:rPr lang="en-US" sz="1100" b="1" dirty="0">
                <a:solidFill>
                  <a:srgbClr val="262B3A"/>
                </a:solidFill>
                <a:latin typeface="Calibri" pitchFamily="34" charset="0"/>
                <a:ea typeface="Calibri" pitchFamily="34" charset="-122"/>
                <a:cs typeface="Calibri" pitchFamily="34" charset="-120"/>
              </a:rPr>
              <a:t>uncontrollably</a:t>
            </a:r>
            <a:r>
              <a:rPr lang="en-US" sz="1100" dirty="0">
                <a:solidFill>
                  <a:srgbClr val="262B3A"/>
                </a:solidFill>
                <a:latin typeface="Calibri" pitchFamily="34" charset="0"/>
                <a:ea typeface="Calibri" pitchFamily="34" charset="-122"/>
                <a:cs typeface="Calibri" pitchFamily="34" charset="-120"/>
              </a:rPr>
              <a:t> and form </a:t>
            </a:r>
            <a:r>
              <a:rPr lang="en-US" sz="1100" b="1" dirty="0">
                <a:solidFill>
                  <a:srgbClr val="262B3A"/>
                </a:solidFill>
                <a:latin typeface="Calibri" pitchFamily="34" charset="0"/>
                <a:ea typeface="Calibri" pitchFamily="34" charset="-122"/>
                <a:cs typeface="Calibri" pitchFamily="34" charset="-120"/>
              </a:rPr>
              <a:t>tumours</a:t>
            </a:r>
            <a:r>
              <a:rPr lang="en-US" sz="1100" dirty="0">
                <a:solidFill>
                  <a:srgbClr val="262B3A"/>
                </a:solidFill>
                <a:latin typeface="Calibri" pitchFamily="34" charset="0"/>
                <a:ea typeface="Calibri" pitchFamily="34" charset="-122"/>
                <a:cs typeface="Calibri" pitchFamily="34" charset="-120"/>
              </a:rPr>
              <a:t> (link to cancer).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Using a patient's </a:t>
            </a:r>
            <a:r>
              <a:rPr lang="en-US" sz="1100" b="1" dirty="0">
                <a:solidFill>
                  <a:srgbClr val="262B3A"/>
                </a:solidFill>
                <a:latin typeface="Calibri" pitchFamily="34" charset="0"/>
                <a:ea typeface="Calibri" pitchFamily="34" charset="-122"/>
                <a:cs typeface="Calibri" pitchFamily="34" charset="-120"/>
              </a:rPr>
              <a:t>own</a:t>
            </a:r>
            <a:r>
              <a:rPr lang="en-US" sz="1100" dirty="0">
                <a:solidFill>
                  <a:srgbClr val="262B3A"/>
                </a:solidFill>
                <a:latin typeface="Calibri" pitchFamily="34" charset="0"/>
                <a:ea typeface="Calibri" pitchFamily="34" charset="-122"/>
                <a:cs typeface="Calibri" pitchFamily="34" charset="-120"/>
              </a:rPr>
              <a:t> stem cells avoids rejection.</a:t>
            </a:r>
            <a:endParaRPr lang="en-US" sz="1100" dirty="0"/>
          </a:p>
        </p:txBody>
      </p:sp>
      <p:sp>
        <p:nvSpPr>
          <p:cNvPr id="67" name="Shape 6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8" name="Text 6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69" name="Text 6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how a bone marrow transplant can treat leukaemia (a cancer of white blood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Remove   </a:t>
            </a:r>
            <a:r>
              <a:rPr lang="en-US" sz="1050" dirty="0">
                <a:solidFill>
                  <a:srgbClr val="262B3A"/>
                </a:solidFill>
                <a:latin typeface="Calibri" pitchFamily="34" charset="0"/>
                <a:ea typeface="Calibri" pitchFamily="34" charset="-122"/>
                <a:cs typeface="Calibri" pitchFamily="34" charset="-120"/>
              </a:rPr>
              <a:t>the patient's faulty bone marrow is destroyed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Transplant   </a:t>
            </a:r>
            <a:r>
              <a:rPr lang="en-US" sz="1050" dirty="0">
                <a:solidFill>
                  <a:srgbClr val="262B3A"/>
                </a:solidFill>
                <a:latin typeface="Calibri" pitchFamily="34" charset="0"/>
                <a:ea typeface="Calibri" pitchFamily="34" charset="-122"/>
                <a:cs typeface="Calibri" pitchFamily="34" charset="-120"/>
              </a:rPr>
              <a:t>healthy donor marrow contains adult stem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Differentiate   </a:t>
            </a:r>
            <a:r>
              <a:rPr lang="en-US" sz="1050" dirty="0">
                <a:solidFill>
                  <a:srgbClr val="262B3A"/>
                </a:solidFill>
                <a:latin typeface="Calibri" pitchFamily="34" charset="0"/>
                <a:ea typeface="Calibri" pitchFamily="34" charset="-122"/>
                <a:cs typeface="Calibri" pitchFamily="34" charset="-120"/>
              </a:rPr>
              <a:t>they divide and become healthy blood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patient can make normal blood cells again</a:t>
            </a:r>
            <a:endParaRPr lang="en-US" sz="1050" dirty="0"/>
          </a:p>
        </p:txBody>
      </p:sp>
      <p:sp>
        <p:nvSpPr>
          <p:cNvPr id="70" name="Shape 68"/>
          <p:cNvSpPr/>
          <p:nvPr/>
        </p:nvSpPr>
        <p:spPr>
          <a:xfrm>
            <a:off x="411480" y="5833872"/>
            <a:ext cx="11368735" cy="530352"/>
          </a:xfrm>
          <a:prstGeom prst="rect">
            <a:avLst/>
          </a:prstGeom>
          <a:solidFill>
            <a:srgbClr val="FFF4E0"/>
          </a:solidFill>
          <a:ln w="6350">
            <a:solidFill>
              <a:srgbClr val="F1D9A8"/>
            </a:solidFill>
            <a:prstDash val="solid"/>
          </a:ln>
        </p:spPr>
      </p:sp>
      <p:sp>
        <p:nvSpPr>
          <p:cNvPr id="71" name="Shape 69"/>
          <p:cNvSpPr/>
          <p:nvPr/>
        </p:nvSpPr>
        <p:spPr>
          <a:xfrm>
            <a:off x="411480" y="5833872"/>
            <a:ext cx="82296" cy="530352"/>
          </a:xfrm>
          <a:prstGeom prst="rect">
            <a:avLst/>
          </a:prstGeom>
          <a:solidFill>
            <a:srgbClr val="E39A2F"/>
          </a:solidFill>
          <a:ln w="12700">
            <a:solidFill>
              <a:srgbClr val="E39A2F"/>
            </a:solidFill>
            <a:prstDash val="solid"/>
          </a:ln>
        </p:spPr>
      </p:sp>
      <p:sp>
        <p:nvSpPr>
          <p:cNvPr id="72" name="Text 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Patients given donated stem cells often take drugs that suppress the </a:t>
            </a:r>
            <a:r>
              <a:rPr lang="en-US" sz="1150" b="1" dirty="0">
                <a:solidFill>
                  <a:srgbClr val="262B3A"/>
                </a:solidFill>
                <a:latin typeface="Calibri" pitchFamily="34" charset="0"/>
                <a:ea typeface="Calibri" pitchFamily="34" charset="-122"/>
                <a:cs typeface="Calibri" pitchFamily="34" charset="-120"/>
              </a:rPr>
              <a:t>immune system</a:t>
            </a:r>
            <a:r>
              <a:rPr lang="en-US" sz="1150" dirty="0">
                <a:solidFill>
                  <a:srgbClr val="262B3A"/>
                </a:solidFill>
                <a:latin typeface="Calibri" pitchFamily="34" charset="0"/>
                <a:ea typeface="Calibri" pitchFamily="34" charset="-122"/>
                <a:cs typeface="Calibri" pitchFamily="34" charset="-120"/>
              </a:rPr>
              <a:t>. Suggest why.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Embryonic stem cells: ethics and decisions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Ideas about Science: ethics and decision making • who should decide, and how?</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IaS  |  23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weighing the arguments: the beam is level because people disagree</a:t>
            </a:r>
            <a:endParaRPr lang="en-US" sz="1000" dirty="0"/>
          </a:p>
        </p:txBody>
      </p:sp>
      <p:sp>
        <p:nvSpPr>
          <p:cNvPr id="10" name="Shape 8"/>
          <p:cNvSpPr/>
          <p:nvPr/>
        </p:nvSpPr>
        <p:spPr>
          <a:xfrm>
            <a:off x="2880360" y="1874520"/>
            <a:ext cx="640080" cy="594360"/>
          </a:xfrm>
          <a:custGeom>
            <a:avLst/>
            <a:gdLst/>
            <a:ahLst/>
            <a:cxnLst/>
            <a:rect l="l" t="t" r="r" b="b"/>
            <a:pathLst>
              <a:path w="640080" h="594360">
                <a:moveTo>
                  <a:pt x="0" y="594360"/>
                </a:moveTo>
                <a:lnTo>
                  <a:pt x="640080" y="594360"/>
                </a:lnTo>
                <a:lnTo>
                  <a:pt x="320040" y="0"/>
                </a:lnTo>
                <a:close/>
              </a:path>
            </a:pathLst>
          </a:custGeom>
          <a:solidFill>
            <a:srgbClr val="133536"/>
          </a:solidFill>
          <a:ln w="12700">
            <a:solidFill>
              <a:srgbClr val="133536"/>
            </a:solidFill>
            <a:prstDash val="solid"/>
          </a:ln>
        </p:spPr>
      </p:sp>
      <p:sp>
        <p:nvSpPr>
          <p:cNvPr id="11" name="Shape 9"/>
          <p:cNvSpPr/>
          <p:nvPr/>
        </p:nvSpPr>
        <p:spPr>
          <a:xfrm>
            <a:off x="1143000" y="1874520"/>
            <a:ext cx="4114800" cy="91"/>
          </a:xfrm>
          <a:prstGeom prst="line">
            <a:avLst/>
          </a:prstGeom>
          <a:noFill/>
          <a:ln w="38100">
            <a:solidFill>
              <a:srgbClr val="133536"/>
            </a:solidFill>
            <a:prstDash val="solid"/>
          </a:ln>
        </p:spPr>
      </p:sp>
      <p:sp>
        <p:nvSpPr>
          <p:cNvPr id="12" name="Shape 10"/>
          <p:cNvSpPr/>
          <p:nvPr/>
        </p:nvSpPr>
        <p:spPr>
          <a:xfrm flipV="1">
            <a:off x="1234440" y="1874520"/>
            <a:ext cx="502920" cy="338328"/>
          </a:xfrm>
          <a:prstGeom prst="line">
            <a:avLst/>
          </a:prstGeom>
          <a:noFill/>
          <a:ln w="12700">
            <a:solidFill>
              <a:srgbClr val="6B7385"/>
            </a:solidFill>
            <a:prstDash val="solid"/>
          </a:ln>
        </p:spPr>
      </p:sp>
      <p:sp>
        <p:nvSpPr>
          <p:cNvPr id="13" name="Shape 11"/>
          <p:cNvSpPr/>
          <p:nvPr/>
        </p:nvSpPr>
        <p:spPr>
          <a:xfrm flipH="1" flipV="1">
            <a:off x="1737360" y="1874520"/>
            <a:ext cx="502920" cy="338328"/>
          </a:xfrm>
          <a:prstGeom prst="line">
            <a:avLst/>
          </a:prstGeom>
          <a:noFill/>
          <a:ln w="12700">
            <a:solidFill>
              <a:srgbClr val="6B7385"/>
            </a:solidFill>
            <a:prstDash val="solid"/>
          </a:ln>
        </p:spPr>
      </p:sp>
      <p:sp>
        <p:nvSpPr>
          <p:cNvPr id="14" name="Shape 12"/>
          <p:cNvSpPr/>
          <p:nvPr/>
        </p:nvSpPr>
        <p:spPr>
          <a:xfrm>
            <a:off x="1097280" y="2212848"/>
            <a:ext cx="1280160" cy="164592"/>
          </a:xfrm>
          <a:custGeom>
            <a:avLst/>
            <a:gdLst/>
            <a:ahLst/>
            <a:cxnLst/>
            <a:rect l="l" t="t" r="r" b="b"/>
            <a:pathLst>
              <a:path w="1280160" h="164592">
                <a:moveTo>
                  <a:pt x="0" y="0"/>
                </a:moveTo>
                <a:lnTo>
                  <a:pt x="1280160" y="0"/>
                </a:lnTo>
                <a:lnTo>
                  <a:pt x="1097280" y="164592"/>
                </a:lnTo>
                <a:lnTo>
                  <a:pt x="182880" y="164592"/>
                </a:lnTo>
                <a:close/>
              </a:path>
            </a:pathLst>
          </a:custGeom>
          <a:solidFill>
            <a:srgbClr val="2E8B57"/>
          </a:solidFill>
          <a:ln w="12700">
            <a:solidFill>
              <a:srgbClr val="2E8B57"/>
            </a:solidFill>
            <a:prstDash val="solid"/>
          </a:ln>
        </p:spPr>
      </p:sp>
      <p:sp>
        <p:nvSpPr>
          <p:cNvPr id="15" name="Text 13"/>
          <p:cNvSpPr/>
          <p:nvPr/>
        </p:nvSpPr>
        <p:spPr>
          <a:xfrm>
            <a:off x="1097280" y="1536192"/>
            <a:ext cx="1280160" cy="256032"/>
          </a:xfrm>
          <a:prstGeom prst="rect">
            <a:avLst/>
          </a:prstGeom>
          <a:noFill/>
          <a:ln/>
        </p:spPr>
        <p:txBody>
          <a:bodyPr wrap="square" lIns="0" tIns="0" rIns="0" bIns="0"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FOR</a:t>
            </a:r>
            <a:endParaRPr lang="en-US" sz="1200" dirty="0"/>
          </a:p>
        </p:txBody>
      </p:sp>
      <p:sp>
        <p:nvSpPr>
          <p:cNvPr id="16" name="Shape 14"/>
          <p:cNvSpPr/>
          <p:nvPr/>
        </p:nvSpPr>
        <p:spPr>
          <a:xfrm flipV="1">
            <a:off x="4160520" y="1874520"/>
            <a:ext cx="502920" cy="338328"/>
          </a:xfrm>
          <a:prstGeom prst="line">
            <a:avLst/>
          </a:prstGeom>
          <a:noFill/>
          <a:ln w="12700">
            <a:solidFill>
              <a:srgbClr val="6B7385"/>
            </a:solidFill>
            <a:prstDash val="solid"/>
          </a:ln>
        </p:spPr>
      </p:sp>
      <p:sp>
        <p:nvSpPr>
          <p:cNvPr id="17" name="Shape 15"/>
          <p:cNvSpPr/>
          <p:nvPr/>
        </p:nvSpPr>
        <p:spPr>
          <a:xfrm flipH="1" flipV="1">
            <a:off x="4663440" y="1874520"/>
            <a:ext cx="502920" cy="338328"/>
          </a:xfrm>
          <a:prstGeom prst="line">
            <a:avLst/>
          </a:prstGeom>
          <a:noFill/>
          <a:ln w="12700">
            <a:solidFill>
              <a:srgbClr val="6B7385"/>
            </a:solidFill>
            <a:prstDash val="solid"/>
          </a:ln>
        </p:spPr>
      </p:sp>
      <p:sp>
        <p:nvSpPr>
          <p:cNvPr id="18" name="Shape 16"/>
          <p:cNvSpPr/>
          <p:nvPr/>
        </p:nvSpPr>
        <p:spPr>
          <a:xfrm>
            <a:off x="4023360" y="2212848"/>
            <a:ext cx="1280160" cy="164592"/>
          </a:xfrm>
          <a:custGeom>
            <a:avLst/>
            <a:gdLst/>
            <a:ahLst/>
            <a:cxnLst/>
            <a:rect l="l" t="t" r="r" b="b"/>
            <a:pathLst>
              <a:path w="1280160" h="164592">
                <a:moveTo>
                  <a:pt x="0" y="0"/>
                </a:moveTo>
                <a:lnTo>
                  <a:pt x="1280160" y="0"/>
                </a:lnTo>
                <a:lnTo>
                  <a:pt x="1097280" y="164592"/>
                </a:lnTo>
                <a:lnTo>
                  <a:pt x="182880" y="164592"/>
                </a:lnTo>
                <a:close/>
              </a:path>
            </a:pathLst>
          </a:custGeom>
          <a:solidFill>
            <a:srgbClr val="C8414C"/>
          </a:solidFill>
          <a:ln w="12700">
            <a:solidFill>
              <a:srgbClr val="C8414C"/>
            </a:solidFill>
            <a:prstDash val="solid"/>
          </a:ln>
        </p:spPr>
      </p:sp>
      <p:sp>
        <p:nvSpPr>
          <p:cNvPr id="19" name="Text 17"/>
          <p:cNvSpPr/>
          <p:nvPr/>
        </p:nvSpPr>
        <p:spPr>
          <a:xfrm>
            <a:off x="4023360" y="1536192"/>
            <a:ext cx="128016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AGAINST</a:t>
            </a:r>
            <a:endParaRPr lang="en-US" sz="1200" dirty="0"/>
          </a:p>
        </p:txBody>
      </p:sp>
      <p:sp>
        <p:nvSpPr>
          <p:cNvPr id="20" name="Shape 18"/>
          <p:cNvSpPr/>
          <p:nvPr/>
        </p:nvSpPr>
        <p:spPr>
          <a:xfrm>
            <a:off x="548640" y="2560320"/>
            <a:ext cx="2606040" cy="2788920"/>
          </a:xfrm>
          <a:prstGeom prst="roundRect">
            <a:avLst>
              <a:gd name="adj" fmla="val 2105"/>
            </a:avLst>
          </a:prstGeom>
          <a:solidFill>
            <a:srgbClr val="EAF6EF"/>
          </a:solidFill>
          <a:ln w="9525">
            <a:solidFill>
              <a:srgbClr val="2E8B57"/>
            </a:solidFill>
            <a:prstDash val="solid"/>
          </a:ln>
        </p:spPr>
      </p:sp>
      <p:sp>
        <p:nvSpPr>
          <p:cNvPr id="21" name="Text 19"/>
          <p:cNvSpPr/>
          <p:nvPr/>
        </p:nvSpPr>
        <p:spPr>
          <a:xfrm>
            <a:off x="713232" y="2651760"/>
            <a:ext cx="2276856" cy="2624328"/>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could treat diseases with no cure, e.g. diabetes, paralysis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embryonic cells can become </a:t>
            </a:r>
            <a:r>
              <a:rPr lang="en-US" sz="1050" b="1" dirty="0">
                <a:solidFill>
                  <a:srgbClr val="262B3A"/>
                </a:solidFill>
                <a:latin typeface="Calibri" pitchFamily="34" charset="0"/>
                <a:ea typeface="Calibri" pitchFamily="34" charset="-122"/>
                <a:cs typeface="Calibri" pitchFamily="34" charset="-120"/>
              </a:rPr>
              <a:t>any</a:t>
            </a:r>
            <a:r>
              <a:rPr lang="en-US" sz="1050" dirty="0">
                <a:solidFill>
                  <a:srgbClr val="262B3A"/>
                </a:solidFill>
                <a:latin typeface="Calibri" pitchFamily="34" charset="0"/>
                <a:ea typeface="Calibri" pitchFamily="34" charset="-122"/>
                <a:cs typeface="Calibri" pitchFamily="34" charset="-120"/>
              </a:rPr>
              <a:t> cell type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embryos used are spare ones from IVF that would be destroyed anyway</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better outcomes for the most people</a:t>
            </a:r>
            <a:endParaRPr lang="en-US" sz="1050" dirty="0"/>
          </a:p>
        </p:txBody>
      </p:sp>
      <p:sp>
        <p:nvSpPr>
          <p:cNvPr id="22" name="Shape 20"/>
          <p:cNvSpPr/>
          <p:nvPr/>
        </p:nvSpPr>
        <p:spPr>
          <a:xfrm>
            <a:off x="3246120" y="2560320"/>
            <a:ext cx="2606040" cy="2788920"/>
          </a:xfrm>
          <a:prstGeom prst="roundRect">
            <a:avLst>
              <a:gd name="adj" fmla="val 2105"/>
            </a:avLst>
          </a:prstGeom>
          <a:solidFill>
            <a:srgbClr val="FBECEC"/>
          </a:solidFill>
          <a:ln w="9525">
            <a:solidFill>
              <a:srgbClr val="C8414C"/>
            </a:solidFill>
            <a:prstDash val="solid"/>
          </a:ln>
        </p:spPr>
      </p:sp>
      <p:sp>
        <p:nvSpPr>
          <p:cNvPr id="23" name="Text 21"/>
          <p:cNvSpPr/>
          <p:nvPr/>
        </p:nvSpPr>
        <p:spPr>
          <a:xfrm>
            <a:off x="3410712" y="2651760"/>
            <a:ext cx="2276856" cy="2624328"/>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embryo is </a:t>
            </a:r>
            <a:r>
              <a:rPr lang="en-US" sz="1050" b="1" dirty="0">
                <a:solidFill>
                  <a:srgbClr val="262B3A"/>
                </a:solidFill>
                <a:latin typeface="Calibri" pitchFamily="34" charset="0"/>
                <a:ea typeface="Calibri" pitchFamily="34" charset="-122"/>
                <a:cs typeface="Calibri" pitchFamily="34" charset="-120"/>
              </a:rPr>
              <a:t>destroyed</a:t>
            </a:r>
            <a:r>
              <a:rPr lang="en-US" sz="1050" dirty="0">
                <a:solidFill>
                  <a:srgbClr val="262B3A"/>
                </a:solidFill>
                <a:latin typeface="Calibri" pitchFamily="34" charset="0"/>
                <a:ea typeface="Calibri" pitchFamily="34" charset="-122"/>
                <a:cs typeface="Calibri" pitchFamily="34" charset="-120"/>
              </a:rPr>
              <a:t>: some believe it is a potential human life with rights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some say it is wrong whatever the benefits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risks: tumours, infection, rejection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adult or own stem cells may be enough</a:t>
            </a:r>
            <a:endParaRPr lang="en-US" sz="1050" dirty="0"/>
          </a:p>
        </p:txBody>
      </p:sp>
      <p:sp>
        <p:nvSpPr>
          <p:cNvPr id="24" name="Shape 22"/>
          <p:cNvSpPr/>
          <p:nvPr/>
        </p:nvSpPr>
        <p:spPr>
          <a:xfrm>
            <a:off x="6217920" y="1188720"/>
            <a:ext cx="5559552" cy="2468880"/>
          </a:xfrm>
          <a:prstGeom prst="roundRect">
            <a:avLst>
              <a:gd name="adj" fmla="val 2222"/>
            </a:avLst>
          </a:prstGeom>
          <a:solidFill>
            <a:srgbClr val="F4FAF9"/>
          </a:solidFill>
          <a:ln w="9525">
            <a:solidFill>
              <a:srgbClr val="CFE0DE"/>
            </a:solidFill>
            <a:prstDash val="solid"/>
          </a:ln>
        </p:spPr>
      </p:sp>
      <p:sp>
        <p:nvSpPr>
          <p:cNvPr id="25" name="Text 23"/>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Ideas about Science</a:t>
            </a:r>
            <a:endParaRPr lang="en-US" sz="1300" dirty="0"/>
          </a:p>
        </p:txBody>
      </p:sp>
      <p:sp>
        <p:nvSpPr>
          <p:cNvPr id="26" name="Text 24"/>
          <p:cNvSpPr/>
          <p:nvPr/>
        </p:nvSpPr>
        <p:spPr>
          <a:xfrm>
            <a:off x="6382512" y="1609344"/>
            <a:ext cx="5230368" cy="19751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Science can answer "</a:t>
            </a:r>
            <a:r>
              <a:rPr lang="en-US" sz="1050" b="1" dirty="0">
                <a:solidFill>
                  <a:srgbClr val="262B3A"/>
                </a:solidFill>
                <a:latin typeface="Calibri" pitchFamily="34" charset="0"/>
                <a:ea typeface="Calibri" pitchFamily="34" charset="-122"/>
                <a:cs typeface="Calibri" pitchFamily="34" charset="-120"/>
              </a:rPr>
              <a:t>can</a:t>
            </a:r>
            <a:r>
              <a:rPr lang="en-US" sz="1050" dirty="0">
                <a:solidFill>
                  <a:srgbClr val="262B3A"/>
                </a:solidFill>
                <a:latin typeface="Calibri" pitchFamily="34" charset="0"/>
                <a:ea typeface="Calibri" pitchFamily="34" charset="-122"/>
                <a:cs typeface="Calibri" pitchFamily="34" charset="-120"/>
              </a:rPr>
              <a:t> stem cells treat diabetes?" It </a:t>
            </a:r>
            <a:r>
              <a:rPr lang="en-US" sz="1050" b="1" dirty="0">
                <a:solidFill>
                  <a:srgbClr val="262B3A"/>
                </a:solidFill>
                <a:latin typeface="Calibri" pitchFamily="34" charset="0"/>
                <a:ea typeface="Calibri" pitchFamily="34" charset="-122"/>
                <a:cs typeface="Calibri" pitchFamily="34" charset="-120"/>
              </a:rPr>
              <a:t>cannot</a:t>
            </a:r>
            <a:r>
              <a:rPr lang="en-US" sz="1050" dirty="0">
                <a:solidFill>
                  <a:srgbClr val="262B3A"/>
                </a:solidFill>
                <a:latin typeface="Calibri" pitchFamily="34" charset="0"/>
                <a:ea typeface="Calibri" pitchFamily="34" charset="-122"/>
                <a:cs typeface="Calibri" pitchFamily="34" charset="-120"/>
              </a:rPr>
              <a:t> answer "</a:t>
            </a:r>
            <a:r>
              <a:rPr lang="en-US" sz="1050" b="1" dirty="0">
                <a:solidFill>
                  <a:srgbClr val="262B3A"/>
                </a:solidFill>
                <a:latin typeface="Calibri" pitchFamily="34" charset="0"/>
                <a:ea typeface="Calibri" pitchFamily="34" charset="-122"/>
                <a:cs typeface="Calibri" pitchFamily="34" charset="-120"/>
              </a:rPr>
              <a:t>should</a:t>
            </a:r>
            <a:r>
              <a:rPr lang="en-US" sz="1050" dirty="0">
                <a:solidFill>
                  <a:srgbClr val="262B3A"/>
                </a:solidFill>
                <a:latin typeface="Calibri" pitchFamily="34" charset="0"/>
                <a:ea typeface="Calibri" pitchFamily="34" charset="-122"/>
                <a:cs typeface="Calibri" pitchFamily="34" charset="-120"/>
              </a:rPr>
              <a:t> embryos be used?": that is an ethical question.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Ethical issue: is it right to destroy an embryo to help others?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Two views: </a:t>
            </a:r>
            <a:r>
              <a:rPr lang="en-US" sz="1050" b="1" dirty="0">
                <a:solidFill>
                  <a:srgbClr val="262B3A"/>
                </a:solidFill>
                <a:latin typeface="Calibri" pitchFamily="34" charset="0"/>
                <a:ea typeface="Calibri" pitchFamily="34" charset="-122"/>
                <a:cs typeface="Calibri" pitchFamily="34" charset="-120"/>
              </a:rPr>
              <a:t>the right decision gives the best outcome for the most people</a:t>
            </a:r>
            <a:r>
              <a:rPr lang="en-US" sz="1050" dirty="0">
                <a:solidFill>
                  <a:srgbClr val="262B3A"/>
                </a:solidFill>
                <a:latin typeface="Calibri" pitchFamily="34" charset="0"/>
                <a:ea typeface="Calibri" pitchFamily="34" charset="-122"/>
                <a:cs typeface="Calibri" pitchFamily="34" charset="-120"/>
              </a:rPr>
              <a:t>, OR </a:t>
            </a:r>
            <a:r>
              <a:rPr lang="en-US" sz="1050" b="1" dirty="0">
                <a:solidFill>
                  <a:srgbClr val="262B3A"/>
                </a:solidFill>
                <a:latin typeface="Calibri" pitchFamily="34" charset="0"/>
                <a:ea typeface="Calibri" pitchFamily="34" charset="-122"/>
                <a:cs typeface="Calibri" pitchFamily="34" charset="-120"/>
              </a:rPr>
              <a:t>some actions are wrong whatever the outcome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In the UK, the law (</a:t>
            </a:r>
            <a:r>
              <a:rPr lang="en-US" sz="1050" b="1" dirty="0">
                <a:solidFill>
                  <a:srgbClr val="262B3A"/>
                </a:solidFill>
                <a:latin typeface="Calibri" pitchFamily="34" charset="0"/>
                <a:ea typeface="Calibri" pitchFamily="34" charset="-122"/>
                <a:cs typeface="Calibri" pitchFamily="34" charset="-120"/>
              </a:rPr>
              <a:t>HFEA</a:t>
            </a:r>
            <a:r>
              <a:rPr lang="en-US" sz="1050" dirty="0">
                <a:solidFill>
                  <a:srgbClr val="262B3A"/>
                </a:solidFill>
                <a:latin typeface="Calibri" pitchFamily="34" charset="0"/>
                <a:ea typeface="Calibri" pitchFamily="34" charset="-122"/>
                <a:cs typeface="Calibri" pitchFamily="34" charset="-120"/>
              </a:rPr>
              <a:t>) licenses embryo research; embryos must not be kept beyond </a:t>
            </a:r>
            <a:r>
              <a:rPr lang="en-US" sz="1050" b="1" dirty="0">
                <a:solidFill>
                  <a:srgbClr val="262B3A"/>
                </a:solidFill>
                <a:latin typeface="Calibri" pitchFamily="34" charset="0"/>
                <a:ea typeface="Calibri" pitchFamily="34" charset="-122"/>
                <a:cs typeface="Calibri" pitchFamily="34" charset="-120"/>
              </a:rPr>
              <a:t>14 days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27" name="Shape 25"/>
          <p:cNvSpPr/>
          <p:nvPr/>
        </p:nvSpPr>
        <p:spPr>
          <a:xfrm>
            <a:off x="6217920" y="3767328"/>
            <a:ext cx="5559552" cy="1947672"/>
          </a:xfrm>
          <a:prstGeom prst="roundRect">
            <a:avLst>
              <a:gd name="adj" fmla="val 2817"/>
            </a:avLst>
          </a:prstGeom>
          <a:solidFill>
            <a:srgbClr val="FFF4E0"/>
          </a:solidFill>
          <a:ln w="9525">
            <a:solidFill>
              <a:srgbClr val="F1D9A8"/>
            </a:solidFill>
            <a:prstDash val="solid"/>
          </a:ln>
        </p:spPr>
      </p:sp>
      <p:sp>
        <p:nvSpPr>
          <p:cNvPr id="28" name="Text 26"/>
          <p:cNvSpPr/>
          <p:nvPr/>
        </p:nvSpPr>
        <p:spPr>
          <a:xfrm>
            <a:off x="6382512" y="3840480"/>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How to answer "evaluate"</a:t>
            </a:r>
            <a:endParaRPr lang="en-US" sz="1300" dirty="0"/>
          </a:p>
        </p:txBody>
      </p:sp>
      <p:sp>
        <p:nvSpPr>
          <p:cNvPr id="29" name="Text 27"/>
          <p:cNvSpPr/>
          <p:nvPr/>
        </p:nvSpPr>
        <p:spPr>
          <a:xfrm>
            <a:off x="6382512" y="4151376"/>
            <a:ext cx="5230368" cy="1490472"/>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Issue   </a:t>
            </a:r>
            <a:r>
              <a:rPr lang="en-US" sz="1050" dirty="0">
                <a:solidFill>
                  <a:srgbClr val="262B3A"/>
                </a:solidFill>
                <a:latin typeface="Calibri" pitchFamily="34" charset="0"/>
                <a:ea typeface="Calibri" pitchFamily="34" charset="-122"/>
                <a:cs typeface="Calibri" pitchFamily="34" charset="-120"/>
              </a:rPr>
              <a:t>say what the ethical issue is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Benefits   </a:t>
            </a:r>
            <a:r>
              <a:rPr lang="en-US" sz="1050" dirty="0">
                <a:solidFill>
                  <a:srgbClr val="262B3A"/>
                </a:solidFill>
                <a:latin typeface="Calibri" pitchFamily="34" charset="0"/>
                <a:ea typeface="Calibri" pitchFamily="34" charset="-122"/>
                <a:cs typeface="Calibri" pitchFamily="34" charset="-120"/>
              </a:rPr>
              <a:t>give the arguments for, with reasons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Objections   </a:t>
            </a:r>
            <a:r>
              <a:rPr lang="en-US" sz="1050" dirty="0">
                <a:solidFill>
                  <a:srgbClr val="262B3A"/>
                </a:solidFill>
                <a:latin typeface="Calibri" pitchFamily="34" charset="0"/>
                <a:ea typeface="Calibri" pitchFamily="34" charset="-122"/>
                <a:cs typeface="Calibri" pitchFamily="34" charset="-120"/>
              </a:rPr>
              <a:t>give the arguments against, with reasons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give a judgement, and say why</a:t>
            </a:r>
            <a:endParaRPr lang="en-US" sz="1050" dirty="0"/>
          </a:p>
        </p:txBody>
      </p:sp>
      <p:sp>
        <p:nvSpPr>
          <p:cNvPr id="30" name="Shape 28"/>
          <p:cNvSpPr/>
          <p:nvPr/>
        </p:nvSpPr>
        <p:spPr>
          <a:xfrm>
            <a:off x="411480" y="5833872"/>
            <a:ext cx="11368735" cy="530352"/>
          </a:xfrm>
          <a:prstGeom prst="rect">
            <a:avLst/>
          </a:prstGeom>
          <a:solidFill>
            <a:srgbClr val="FFF4E0"/>
          </a:solidFill>
          <a:ln w="6350">
            <a:solidFill>
              <a:srgbClr val="F1D9A8"/>
            </a:solidFill>
            <a:prstDash val="solid"/>
          </a:ln>
        </p:spPr>
      </p:sp>
      <p:sp>
        <p:nvSpPr>
          <p:cNvPr id="31" name="Shape 29"/>
          <p:cNvSpPr/>
          <p:nvPr/>
        </p:nvSpPr>
        <p:spPr>
          <a:xfrm>
            <a:off x="411480" y="5833872"/>
            <a:ext cx="82296" cy="530352"/>
          </a:xfrm>
          <a:prstGeom prst="rect">
            <a:avLst/>
          </a:prstGeom>
          <a:solidFill>
            <a:srgbClr val="E39A2F"/>
          </a:solidFill>
          <a:ln w="12700">
            <a:solidFill>
              <a:srgbClr val="E39A2F"/>
            </a:solidFill>
            <a:prstDash val="solid"/>
          </a:ln>
        </p:spPr>
      </p:sp>
      <p:sp>
        <p:nvSpPr>
          <p:cNvPr id="32" name="Text 3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question can science answer? (a) </a:t>
            </a:r>
            <a:r>
              <a:rPr lang="en-US" sz="1150" b="1" dirty="0">
                <a:solidFill>
                  <a:srgbClr val="262B3A"/>
                </a:solidFill>
                <a:latin typeface="Calibri" pitchFamily="34" charset="0"/>
                <a:ea typeface="Calibri" pitchFamily="34" charset="-122"/>
                <a:cs typeface="Calibri" pitchFamily="34" charset="-120"/>
              </a:rPr>
              <a:t>Should</a:t>
            </a:r>
            <a:r>
              <a:rPr lang="en-US" sz="1150" dirty="0">
                <a:solidFill>
                  <a:srgbClr val="262B3A"/>
                </a:solidFill>
                <a:latin typeface="Calibri" pitchFamily="34" charset="0"/>
                <a:ea typeface="Calibri" pitchFamily="34" charset="-122"/>
                <a:cs typeface="Calibri" pitchFamily="34" charset="-120"/>
              </a:rPr>
              <a:t> embryos be used for research? (b) </a:t>
            </a:r>
            <a:r>
              <a:rPr lang="en-US" sz="1150" b="1" dirty="0">
                <a:solidFill>
                  <a:srgbClr val="262B3A"/>
                </a:solidFill>
                <a:latin typeface="Calibri" pitchFamily="34" charset="0"/>
                <a:ea typeface="Calibri" pitchFamily="34" charset="-122"/>
                <a:cs typeface="Calibri" pitchFamily="34" charset="-120"/>
              </a:rPr>
              <a:t>Can</a:t>
            </a:r>
            <a:r>
              <a:rPr lang="en-US" sz="1150" dirty="0">
                <a:solidFill>
                  <a:srgbClr val="262B3A"/>
                </a:solidFill>
                <a:latin typeface="Calibri" pitchFamily="34" charset="0"/>
                <a:ea typeface="Calibri" pitchFamily="34" charset="-122"/>
                <a:cs typeface="Calibri" pitchFamily="34" charset="-120"/>
              </a:rPr>
              <a:t> stem cells make insulin-producing cells? Explain.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Ideas about Science • uses, risks and ethics of stem cells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use of stem cells in medicine </a:t>
            </a:r>
            <a:r>
              <a:rPr lang="en-US" sz="1250" b="1" dirty="0">
                <a:solidFill>
                  <a:srgbClr val="262B3A"/>
                </a:solidFill>
                <a:latin typeface="Calibri" pitchFamily="34" charset="0"/>
                <a:ea typeface="Calibri" pitchFamily="34" charset="-122"/>
                <a:cs typeface="Calibri" pitchFamily="34" charset="-120"/>
              </a:rPr>
              <a:t>now</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use being researched.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risk of a stem cell treatment and explain why it happens.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ethical objection to using </a:t>
            </a:r>
            <a:r>
              <a:rPr lang="en-US" sz="1250" b="1" dirty="0">
                <a:solidFill>
                  <a:srgbClr val="262B3A"/>
                </a:solidFill>
                <a:latin typeface="Calibri" pitchFamily="34" charset="0"/>
                <a:ea typeface="Calibri" pitchFamily="34" charset="-122"/>
                <a:cs typeface="Calibri" pitchFamily="34" charset="-120"/>
              </a:rPr>
              <a:t>embryonic</a:t>
            </a:r>
            <a:r>
              <a:rPr lang="en-US" sz="1250" dirty="0">
                <a:solidFill>
                  <a:srgbClr val="262B3A"/>
                </a:solidFill>
                <a:latin typeface="Calibri" pitchFamily="34" charset="0"/>
                <a:ea typeface="Calibri" pitchFamily="34" charset="-122"/>
                <a:cs typeface="Calibri" pitchFamily="34" charset="-120"/>
              </a:rPr>
              <a:t> stem cells.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"Should scientists be allowed to use human embryos?" Explain why science alone </a:t>
            </a:r>
            <a:r>
              <a:rPr lang="en-US" sz="1250" b="1" dirty="0">
                <a:solidFill>
                  <a:srgbClr val="262B3A"/>
                </a:solidFill>
                <a:latin typeface="Calibri" pitchFamily="34" charset="0"/>
                <a:ea typeface="Calibri" pitchFamily="34" charset="-122"/>
                <a:cs typeface="Calibri" pitchFamily="34" charset="-120"/>
              </a:rPr>
              <a:t>cannot</a:t>
            </a:r>
            <a:r>
              <a:rPr lang="en-US" sz="1250" dirty="0">
                <a:solidFill>
                  <a:srgbClr val="262B3A"/>
                </a:solidFill>
                <a:latin typeface="Calibri" pitchFamily="34" charset="0"/>
                <a:ea typeface="Calibri" pitchFamily="34" charset="-122"/>
                <a:cs typeface="Calibri" pitchFamily="34" charset="-120"/>
              </a:rPr>
              <a:t> answer this question.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B4.3 How do organisms grow and develop?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25</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Cell cycle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series of stages a cell goes through to divide into two new cells.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Interphase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Longest stage: the cell grows, makes organelles and copies its DNA.</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DNA replication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Copying the DNA so each chromosome becomes two identical chromatids.</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Chromosome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long, coiled DNA molecule carrying many genes. Found in pairs in body cells.</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Mitosis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Nuclear division that makes two genetically identical diploid nuclei.</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Cytokinesis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Division of the cytoplasm and membrane after mitosis: two cells form.</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Diploid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Chromosomes in pairs: two sets (46 in humans). Gametes are haploid (23).</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Genetically identical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Having exactly the same genes, e.g. cells made by mitosis; clones.</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Cancer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Disease caused by changes in cells that lead to uncontrolled division.</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Tumour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mass of cells. Benign: stays put. Malignant: invades and spreads.</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Differentiation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cell becomes specialised by switching genes on and off.</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Specialised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cell adapted for one job, e.g. nerve, muscle, red blood cell.</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Stem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Unspecialised cell that can divide and differentiate into other cell types.</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Embryonic stem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From an early embryo; can become any type of body cell.</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Adult stem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E.g. in bone marrow; becomes only a few cell types; repairs and replaces.</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Meristem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Plant tissue at shoot and root tips where cells divide; plant stem cells.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B4.3.1–B4.3.5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26</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looks at a squash of a garlic </a:t>
            </a:r>
            <a:r>
              <a:rPr lang="en-US" sz="1200" b="1" i="1" dirty="0">
                <a:solidFill>
                  <a:srgbClr val="262B3A"/>
                </a:solidFill>
                <a:latin typeface="Calibri" pitchFamily="34" charset="0"/>
                <a:ea typeface="Calibri" pitchFamily="34" charset="-122"/>
                <a:cs typeface="Calibri" pitchFamily="34" charset="-120"/>
              </a:rPr>
              <a:t>root tip</a:t>
            </a:r>
            <a:r>
              <a:rPr lang="en-US" sz="1200" i="1" dirty="0">
                <a:solidFill>
                  <a:srgbClr val="262B3A"/>
                </a:solidFill>
                <a:latin typeface="Calibri" pitchFamily="34" charset="0"/>
                <a:ea typeface="Calibri" pitchFamily="34" charset="-122"/>
                <a:cs typeface="Calibri" pitchFamily="34" charset="-120"/>
              </a:rPr>
              <a:t> under a light microscope. The root tip contains a </a:t>
            </a:r>
            <a:r>
              <a:rPr lang="en-US" sz="1200" b="1" i="1" dirty="0">
                <a:solidFill>
                  <a:srgbClr val="262B3A"/>
                </a:solidFill>
                <a:latin typeface="Calibri" pitchFamily="34" charset="0"/>
                <a:ea typeface="Calibri" pitchFamily="34" charset="-122"/>
                <a:cs typeface="Calibri" pitchFamily="34" charset="-120"/>
              </a:rPr>
              <a:t>meristem</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579009"/>
          </a:xfrm>
          <a:prstGeom prst="roundRect">
            <a:avLst>
              <a:gd name="adj" fmla="val 2895"/>
            </a:avLst>
          </a:prstGeom>
          <a:solidFill>
            <a:srgbClr val="F4FAF9"/>
          </a:solidFill>
          <a:ln w="9525">
            <a:solidFill>
              <a:srgbClr val="CFE0DE"/>
            </a:solidFill>
            <a:prstDash val="solid"/>
          </a:ln>
        </p:spPr>
      </p:sp>
      <p:sp>
        <p:nvSpPr>
          <p:cNvPr id="10" name="Text 8"/>
          <p:cNvSpPr/>
          <p:nvPr/>
        </p:nvSpPr>
        <p:spPr>
          <a:xfrm>
            <a:off x="548640" y="1792224"/>
            <a:ext cx="5295748" cy="1213249"/>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Put these stages of mitosis in order:</a:t>
            </a:r>
            <a:endParaRPr lang="en-US" sz="1200" dirty="0"/>
          </a:p>
          <a:p>
            <a:pPr indent="0" marL="0">
              <a:buNone/>
            </a:pPr>
            <a:r>
              <a:rPr lang="en-US" sz="1200" dirty="0">
                <a:solidFill>
                  <a:srgbClr val="262B3A"/>
                </a:solidFill>
                <a:latin typeface="Calibri" pitchFamily="34" charset="0"/>
                <a:ea typeface="Calibri" pitchFamily="34" charset="-122"/>
                <a:cs typeface="Calibri" pitchFamily="34" charset="-120"/>
              </a:rPr>
              <a:t>A chromatids separate  B chromosomes line up  C two nuclei form  D chromosomes condense</a:t>
            </a:r>
            <a:endParaRPr lang="en-US" sz="1200" dirty="0"/>
          </a:p>
        </p:txBody>
      </p:sp>
      <p:sp>
        <p:nvSpPr>
          <p:cNvPr id="11" name="Text 9"/>
          <p:cNvSpPr/>
          <p:nvPr/>
        </p:nvSpPr>
        <p:spPr>
          <a:xfrm>
            <a:off x="4518508" y="298718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407809"/>
            <a:ext cx="5570068" cy="1373051"/>
          </a:xfrm>
          <a:prstGeom prst="roundRect">
            <a:avLst>
              <a:gd name="adj" fmla="val 3330"/>
            </a:avLst>
          </a:prstGeom>
          <a:solidFill>
            <a:srgbClr val="FFFFFF"/>
          </a:solidFill>
          <a:ln w="9525">
            <a:solidFill>
              <a:srgbClr val="CFE0DE"/>
            </a:solidFill>
            <a:prstDash val="solid"/>
          </a:ln>
        </p:spPr>
      </p:sp>
      <p:sp>
        <p:nvSpPr>
          <p:cNvPr id="13" name="Text 11"/>
          <p:cNvSpPr/>
          <p:nvPr/>
        </p:nvSpPr>
        <p:spPr>
          <a:xfrm>
            <a:off x="548640" y="3480961"/>
            <a:ext cx="5295748" cy="1007291"/>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each cell must copy its </a:t>
            </a:r>
            <a:r>
              <a:rPr lang="en-US" sz="1200" b="1" dirty="0">
                <a:solidFill>
                  <a:srgbClr val="262B3A"/>
                </a:solidFill>
                <a:latin typeface="Calibri" pitchFamily="34" charset="0"/>
                <a:ea typeface="Calibri" pitchFamily="34" charset="-122"/>
                <a:cs typeface="Calibri" pitchFamily="34" charset="-120"/>
              </a:rPr>
              <a:t>DNA</a:t>
            </a:r>
            <a:r>
              <a:rPr lang="en-US" sz="1200" dirty="0">
                <a:solidFill>
                  <a:srgbClr val="262B3A"/>
                </a:solidFill>
                <a:latin typeface="Calibri" pitchFamily="34" charset="0"/>
                <a:ea typeface="Calibri" pitchFamily="34" charset="-122"/>
                <a:cs typeface="Calibri" pitchFamily="34" charset="-120"/>
              </a:rPr>
              <a:t> during </a:t>
            </a:r>
            <a:r>
              <a:rPr lang="en-US" sz="1200" b="1" dirty="0">
                <a:solidFill>
                  <a:srgbClr val="262B3A"/>
                </a:solidFill>
                <a:latin typeface="Calibri" pitchFamily="34" charset="0"/>
                <a:ea typeface="Calibri" pitchFamily="34" charset="-122"/>
                <a:cs typeface="Calibri" pitchFamily="34" charset="-120"/>
              </a:rPr>
              <a:t>interphase</a:t>
            </a:r>
            <a:r>
              <a:rPr lang="en-US" sz="1200" dirty="0">
                <a:solidFill>
                  <a:srgbClr val="262B3A"/>
                </a:solidFill>
                <a:latin typeface="Calibri" pitchFamily="34" charset="0"/>
                <a:ea typeface="Calibri" pitchFamily="34" charset="-122"/>
                <a:cs typeface="Calibri" pitchFamily="34" charset="-120"/>
              </a:rPr>
              <a:t>, before mitosis.</a:t>
            </a:r>
            <a:endParaRPr lang="en-US" sz="1200" dirty="0"/>
          </a:p>
        </p:txBody>
      </p:sp>
      <p:sp>
        <p:nvSpPr>
          <p:cNvPr id="14" name="Text 12"/>
          <p:cNvSpPr/>
          <p:nvPr/>
        </p:nvSpPr>
        <p:spPr>
          <a:xfrm>
            <a:off x="4518508" y="446996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90589"/>
            <a:ext cx="5570068" cy="1373051"/>
          </a:xfrm>
          <a:prstGeom prst="roundRect">
            <a:avLst>
              <a:gd name="adj" fmla="val 3330"/>
            </a:avLst>
          </a:prstGeom>
          <a:solidFill>
            <a:srgbClr val="F4FAF9"/>
          </a:solidFill>
          <a:ln w="9525">
            <a:solidFill>
              <a:srgbClr val="CFE0DE"/>
            </a:solidFill>
            <a:prstDash val="solid"/>
          </a:ln>
        </p:spPr>
      </p:sp>
      <p:sp>
        <p:nvSpPr>
          <p:cNvPr id="16" name="Text 14"/>
          <p:cNvSpPr/>
          <p:nvPr/>
        </p:nvSpPr>
        <p:spPr>
          <a:xfrm>
            <a:off x="548640" y="4963741"/>
            <a:ext cx="5295748" cy="1007291"/>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student counted </a:t>
            </a:r>
            <a:r>
              <a:rPr lang="en-US" sz="1200" b="1" dirty="0">
                <a:solidFill>
                  <a:srgbClr val="262B3A"/>
                </a:solidFill>
                <a:latin typeface="Calibri" pitchFamily="34" charset="0"/>
                <a:ea typeface="Calibri" pitchFamily="34" charset="-122"/>
                <a:cs typeface="Calibri" pitchFamily="34" charset="-120"/>
              </a:rPr>
              <a:t>120</a:t>
            </a:r>
            <a:r>
              <a:rPr lang="en-US" sz="1200" dirty="0">
                <a:solidFill>
                  <a:srgbClr val="262B3A"/>
                </a:solidFill>
                <a:latin typeface="Calibri" pitchFamily="34" charset="0"/>
                <a:ea typeface="Calibri" pitchFamily="34" charset="-122"/>
                <a:cs typeface="Calibri" pitchFamily="34" charset="-120"/>
              </a:rPr>
              <a:t> cells. </a:t>
            </a:r>
            <a:r>
              <a:rPr lang="en-US" sz="1200" b="1" dirty="0">
                <a:solidFill>
                  <a:srgbClr val="262B3A"/>
                </a:solidFill>
                <a:latin typeface="Calibri" pitchFamily="34" charset="0"/>
                <a:ea typeface="Calibri" pitchFamily="34" charset="-122"/>
                <a:cs typeface="Calibri" pitchFamily="34" charset="-120"/>
              </a:rPr>
              <a:t>9</a:t>
            </a:r>
            <a:r>
              <a:rPr lang="en-US" sz="1200" dirty="0">
                <a:solidFill>
                  <a:srgbClr val="262B3A"/>
                </a:solidFill>
                <a:latin typeface="Calibri" pitchFamily="34" charset="0"/>
                <a:ea typeface="Calibri" pitchFamily="34" charset="-122"/>
                <a:cs typeface="Calibri" pitchFamily="34" charset="-120"/>
              </a:rPr>
              <a:t> were in mitosis. Calculate the percentage of cells in mitosis.</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91078"/>
          </a:xfrm>
          <a:prstGeom prst="roundRect">
            <a:avLst>
              <a:gd name="adj" fmla="val 3541"/>
            </a:avLst>
          </a:prstGeom>
          <a:solidFill>
            <a:srgbClr val="F4FAF9"/>
          </a:solidFill>
          <a:ln w="9525">
            <a:solidFill>
              <a:srgbClr val="CFE0DE"/>
            </a:solidFill>
            <a:prstDash val="solid"/>
          </a:ln>
        </p:spPr>
      </p:sp>
      <p:sp>
        <p:nvSpPr>
          <p:cNvPr id="19" name="Text 17"/>
          <p:cNvSpPr/>
          <p:nvPr/>
        </p:nvSpPr>
        <p:spPr>
          <a:xfrm>
            <a:off x="6347308" y="1792224"/>
            <a:ext cx="5295748" cy="925318"/>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Explain how changes in a cell can lead to a </a:t>
            </a:r>
            <a:r>
              <a:rPr lang="en-US" sz="1200" b="1" dirty="0">
                <a:solidFill>
                  <a:srgbClr val="262B3A"/>
                </a:solidFill>
                <a:latin typeface="Calibri" pitchFamily="34" charset="0"/>
                <a:ea typeface="Calibri" pitchFamily="34" charset="-122"/>
                <a:cs typeface="Calibri" pitchFamily="34" charset="-120"/>
              </a:rPr>
              <a:t>tumour</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0317175" y="269925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19878"/>
            <a:ext cx="5570068" cy="1484740"/>
          </a:xfrm>
          <a:prstGeom prst="roundRect">
            <a:avLst>
              <a:gd name="adj" fmla="val 3079"/>
            </a:avLst>
          </a:prstGeom>
          <a:solidFill>
            <a:srgbClr val="FFFFFF"/>
          </a:solidFill>
          <a:ln w="9525">
            <a:solidFill>
              <a:srgbClr val="CFE0DE"/>
            </a:solidFill>
            <a:prstDash val="solid"/>
          </a:ln>
        </p:spPr>
      </p:sp>
      <p:sp>
        <p:nvSpPr>
          <p:cNvPr id="22" name="Text 20"/>
          <p:cNvSpPr/>
          <p:nvPr/>
        </p:nvSpPr>
        <p:spPr>
          <a:xfrm>
            <a:off x="6347308" y="3193030"/>
            <a:ext cx="5295748" cy="111898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Meristem cells are </a:t>
            </a:r>
            <a:r>
              <a:rPr lang="en-US" sz="1200" b="1" dirty="0">
                <a:solidFill>
                  <a:srgbClr val="262B3A"/>
                </a:solidFill>
                <a:latin typeface="Calibri" pitchFamily="34" charset="0"/>
                <a:ea typeface="Calibri" pitchFamily="34" charset="-122"/>
                <a:cs typeface="Calibri" pitchFamily="34" charset="-120"/>
              </a:rPr>
              <a:t>stem cells</a:t>
            </a:r>
            <a:r>
              <a:rPr lang="en-US" sz="1200" dirty="0">
                <a:solidFill>
                  <a:srgbClr val="262B3A"/>
                </a:solidFill>
                <a:latin typeface="Calibri" pitchFamily="34" charset="0"/>
                <a:ea typeface="Calibri" pitchFamily="34" charset="-122"/>
                <a:cs typeface="Calibri" pitchFamily="34" charset="-120"/>
              </a:rPr>
              <a:t>. 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similarity and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difference between plant meristem cells and </a:t>
            </a:r>
            <a:r>
              <a:rPr lang="en-US" sz="1200" b="1" dirty="0">
                <a:solidFill>
                  <a:srgbClr val="262B3A"/>
                </a:solidFill>
                <a:latin typeface="Calibri" pitchFamily="34" charset="0"/>
                <a:ea typeface="Calibri" pitchFamily="34" charset="-122"/>
                <a:cs typeface="Calibri" pitchFamily="34" charset="-120"/>
              </a:rPr>
              <a:t>adult</a:t>
            </a:r>
            <a:r>
              <a:rPr lang="en-US" sz="1200" dirty="0">
                <a:solidFill>
                  <a:srgbClr val="262B3A"/>
                </a:solidFill>
                <a:latin typeface="Calibri" pitchFamily="34" charset="0"/>
                <a:ea typeface="Calibri" pitchFamily="34" charset="-122"/>
                <a:cs typeface="Calibri" pitchFamily="34" charset="-120"/>
              </a:rPr>
              <a:t> stem cells in animals.</a:t>
            </a:r>
            <a:endParaRPr lang="en-US" sz="1200" dirty="0"/>
          </a:p>
        </p:txBody>
      </p:sp>
      <p:sp>
        <p:nvSpPr>
          <p:cNvPr id="23" name="Text 21"/>
          <p:cNvSpPr/>
          <p:nvPr/>
        </p:nvSpPr>
        <p:spPr>
          <a:xfrm>
            <a:off x="10317175" y="429372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714346"/>
            <a:ext cx="5570068" cy="1549294"/>
          </a:xfrm>
          <a:prstGeom prst="roundRect">
            <a:avLst>
              <a:gd name="adj" fmla="val 2951"/>
            </a:avLst>
          </a:prstGeom>
          <a:solidFill>
            <a:srgbClr val="F4FAF9"/>
          </a:solidFill>
          <a:ln w="9525">
            <a:solidFill>
              <a:srgbClr val="CFE0DE"/>
            </a:solidFill>
            <a:prstDash val="solid"/>
          </a:ln>
        </p:spPr>
      </p:sp>
      <p:sp>
        <p:nvSpPr>
          <p:cNvPr id="25" name="Text 23"/>
          <p:cNvSpPr/>
          <p:nvPr/>
        </p:nvSpPr>
        <p:spPr>
          <a:xfrm>
            <a:off x="6347308" y="4787498"/>
            <a:ext cx="5295748" cy="118353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why growth in a plant happens mainly at the root and shoot </a:t>
            </a:r>
            <a:r>
              <a:rPr lang="en-US" sz="1200" b="1" dirty="0">
                <a:solidFill>
                  <a:srgbClr val="262B3A"/>
                </a:solidFill>
                <a:latin typeface="Calibri" pitchFamily="34" charset="0"/>
                <a:ea typeface="Calibri" pitchFamily="34" charset="-122"/>
                <a:cs typeface="Calibri" pitchFamily="34" charset="-120"/>
              </a:rPr>
              <a:t>tips</a:t>
            </a:r>
            <a:r>
              <a:rPr lang="en-US" sz="1200" dirty="0">
                <a:solidFill>
                  <a:srgbClr val="262B3A"/>
                </a:solidFill>
                <a:latin typeface="Calibri" pitchFamily="34" charset="0"/>
                <a:ea typeface="Calibri" pitchFamily="34" charset="-122"/>
                <a:cs typeface="Calibri" pitchFamily="34" charset="-120"/>
              </a:rPr>
              <a:t>, but growth in a young animal happens all over its body.</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B4.3 How do organisms grow and develop?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B4.3 How do organisms grow and develop?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28</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Q6 is a stretch calculation. Q7 is a 6-mark extended answer.</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stage of the cell cycle in which the DNA is copied.</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Mitosis produces two </a:t>
            </a:r>
            <a:r>
              <a:rPr lang="en-US" sz="1150" b="1" dirty="0">
                <a:solidFill>
                  <a:srgbClr val="262B3A"/>
                </a:solidFill>
                <a:latin typeface="Calibri" pitchFamily="34" charset="0"/>
                <a:ea typeface="Calibri" pitchFamily="34" charset="-122"/>
                <a:cs typeface="Calibri" pitchFamily="34" charset="-120"/>
              </a:rPr>
              <a:t>genetically identical</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diploid</a:t>
            </a:r>
            <a:r>
              <a:rPr lang="en-US" sz="1150" dirty="0">
                <a:solidFill>
                  <a:srgbClr val="262B3A"/>
                </a:solidFill>
                <a:latin typeface="Calibri" pitchFamily="34" charset="0"/>
                <a:ea typeface="Calibri" pitchFamily="34" charset="-122"/>
                <a:cs typeface="Calibri" pitchFamily="34" charset="-120"/>
              </a:rPr>
              <a:t> cells. Explain what each of the two words in bold means.</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In a root tip squash, </a:t>
            </a:r>
            <a:r>
              <a:rPr lang="en-US" sz="1150" b="1" dirty="0">
                <a:solidFill>
                  <a:srgbClr val="262B3A"/>
                </a:solidFill>
                <a:latin typeface="Calibri" pitchFamily="34" charset="0"/>
                <a:ea typeface="Calibri" pitchFamily="34" charset="-122"/>
                <a:cs typeface="Calibri" pitchFamily="34" charset="-120"/>
              </a:rPr>
              <a:t>18</a:t>
            </a:r>
            <a:r>
              <a:rPr lang="en-US" sz="1150" dirty="0">
                <a:solidFill>
                  <a:srgbClr val="262B3A"/>
                </a:solidFill>
                <a:latin typeface="Calibri" pitchFamily="34" charset="0"/>
                <a:ea typeface="Calibri" pitchFamily="34" charset="-122"/>
                <a:cs typeface="Calibri" pitchFamily="34" charset="-120"/>
              </a:rPr>
              <a:t> of </a:t>
            </a:r>
            <a:r>
              <a:rPr lang="en-US" sz="1150" b="1" dirty="0">
                <a:solidFill>
                  <a:srgbClr val="262B3A"/>
                </a:solidFill>
                <a:latin typeface="Calibri" pitchFamily="34" charset="0"/>
                <a:ea typeface="Calibri" pitchFamily="34" charset="-122"/>
                <a:cs typeface="Calibri" pitchFamily="34" charset="-120"/>
              </a:rPr>
              <a:t>240</a:t>
            </a:r>
            <a:r>
              <a:rPr lang="en-US" sz="1150" dirty="0">
                <a:solidFill>
                  <a:srgbClr val="262B3A"/>
                </a:solidFill>
                <a:latin typeface="Calibri" pitchFamily="34" charset="0"/>
                <a:ea typeface="Calibri" pitchFamily="34" charset="-122"/>
                <a:cs typeface="Calibri" pitchFamily="34" charset="-120"/>
              </a:rPr>
              <a:t> cells were dividing. Calculate the percentage of cells dividing.</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What is a </a:t>
            </a:r>
            <a:r>
              <a:rPr lang="en-US" sz="1150" b="1" dirty="0">
                <a:solidFill>
                  <a:srgbClr val="262B3A"/>
                </a:solidFill>
                <a:latin typeface="Calibri" pitchFamily="34" charset="0"/>
                <a:ea typeface="Calibri" pitchFamily="34" charset="-122"/>
                <a:cs typeface="Calibri" pitchFamily="34" charset="-120"/>
              </a:rPr>
              <a:t>meristem</a:t>
            </a:r>
            <a:r>
              <a:rPr lang="en-US" sz="1150" dirty="0">
                <a:solidFill>
                  <a:srgbClr val="262B3A"/>
                </a:solidFill>
                <a:latin typeface="Calibri" pitchFamily="34" charset="0"/>
                <a:ea typeface="Calibri" pitchFamily="34" charset="-122"/>
                <a:cs typeface="Calibri" pitchFamily="34" charset="-120"/>
              </a:rPr>
              <a:t>, and what is its function?</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66376"/>
          </a:xfrm>
          <a:prstGeom prst="roundRect">
            <a:avLst>
              <a:gd name="adj" fmla="val 4731"/>
            </a:avLst>
          </a:prstGeom>
          <a:solidFill>
            <a:srgbClr val="F4FAF9"/>
          </a:solidFill>
          <a:ln w="9525">
            <a:solidFill>
              <a:srgbClr val="CFE0DE"/>
            </a:solidFill>
            <a:prstDash val="solid"/>
          </a:ln>
        </p:spPr>
      </p:sp>
      <p:sp>
        <p:nvSpPr>
          <p:cNvPr id="22" name="Text 20"/>
          <p:cNvSpPr/>
          <p:nvPr/>
        </p:nvSpPr>
        <p:spPr>
          <a:xfrm>
            <a:off x="6347308" y="1591056"/>
            <a:ext cx="5295748" cy="618904"/>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cancer</a:t>
            </a:r>
            <a:r>
              <a:rPr lang="en-US" sz="1150" dirty="0">
                <a:solidFill>
                  <a:srgbClr val="262B3A"/>
                </a:solidFill>
                <a:latin typeface="Calibri" pitchFamily="34" charset="0"/>
                <a:ea typeface="Calibri" pitchFamily="34" charset="-122"/>
                <a:cs typeface="Calibri" pitchFamily="34" charset="-120"/>
              </a:rPr>
              <a:t> can be described as a problem with the cell cycle.</a:t>
            </a:r>
            <a:endParaRPr lang="en-US" sz="1150" dirty="0"/>
          </a:p>
        </p:txBody>
      </p:sp>
      <p:sp>
        <p:nvSpPr>
          <p:cNvPr id="23" name="Text 21"/>
          <p:cNvSpPr/>
          <p:nvPr/>
        </p:nvSpPr>
        <p:spPr>
          <a:xfrm>
            <a:off x="10317175" y="21916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594008"/>
            <a:ext cx="5570068" cy="1111333"/>
          </a:xfrm>
          <a:prstGeom prst="roundRect">
            <a:avLst>
              <a:gd name="adj" fmla="val 4114"/>
            </a:avLst>
          </a:prstGeom>
          <a:solidFill>
            <a:srgbClr val="F4FAF9"/>
          </a:solidFill>
          <a:ln w="9525">
            <a:solidFill>
              <a:srgbClr val="CFE0DE"/>
            </a:solidFill>
            <a:prstDash val="solid"/>
          </a:ln>
        </p:spPr>
      </p:sp>
      <p:sp>
        <p:nvSpPr>
          <p:cNvPr id="25" name="Text 23"/>
          <p:cNvSpPr/>
          <p:nvPr/>
        </p:nvSpPr>
        <p:spPr>
          <a:xfrm>
            <a:off x="6347308" y="2667160"/>
            <a:ext cx="5295748" cy="76386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b="1" dirty="0">
                <a:solidFill>
                  <a:srgbClr val="262B3A"/>
                </a:solidFill>
                <a:latin typeface="Calibri" pitchFamily="34" charset="0"/>
                <a:ea typeface="Calibri" pitchFamily="34" charset="-122"/>
                <a:cs typeface="Calibri" pitchFamily="34" charset="-120"/>
              </a:rPr>
              <a:t>Stretch:</a:t>
            </a:r>
            <a:r>
              <a:rPr lang="en-US" sz="1150" dirty="0">
                <a:solidFill>
                  <a:srgbClr val="262B3A"/>
                </a:solidFill>
                <a:latin typeface="Calibri" pitchFamily="34" charset="0"/>
                <a:ea typeface="Calibri" pitchFamily="34" charset="-122"/>
                <a:cs typeface="Calibri" pitchFamily="34" charset="-120"/>
              </a:rPr>
              <a:t> in a root tip, </a:t>
            </a:r>
            <a:r>
              <a:rPr lang="en-US" sz="1150" b="1" dirty="0">
                <a:solidFill>
                  <a:srgbClr val="262B3A"/>
                </a:solidFill>
                <a:latin typeface="Calibri" pitchFamily="34" charset="0"/>
                <a:ea typeface="Calibri" pitchFamily="34" charset="-122"/>
                <a:cs typeface="Calibri" pitchFamily="34" charset="-120"/>
              </a:rPr>
              <a:t>6</a:t>
            </a:r>
            <a:r>
              <a:rPr lang="en-US" sz="1150" dirty="0">
                <a:solidFill>
                  <a:srgbClr val="262B3A"/>
                </a:solidFill>
                <a:latin typeface="Calibri" pitchFamily="34" charset="0"/>
                <a:ea typeface="Calibri" pitchFamily="34" charset="-122"/>
                <a:cs typeface="Calibri" pitchFamily="34" charset="-120"/>
              </a:rPr>
              <a:t> of </a:t>
            </a:r>
            <a:r>
              <a:rPr lang="en-US" sz="1150" b="1" dirty="0">
                <a:solidFill>
                  <a:srgbClr val="262B3A"/>
                </a:solidFill>
                <a:latin typeface="Calibri" pitchFamily="34" charset="0"/>
                <a:ea typeface="Calibri" pitchFamily="34" charset="-122"/>
                <a:cs typeface="Calibri" pitchFamily="34" charset="-120"/>
              </a:rPr>
              <a:t>300</a:t>
            </a:r>
            <a:r>
              <a:rPr lang="en-US" sz="1150" dirty="0">
                <a:solidFill>
                  <a:srgbClr val="262B3A"/>
                </a:solidFill>
                <a:latin typeface="Calibri" pitchFamily="34" charset="0"/>
                <a:ea typeface="Calibri" pitchFamily="34" charset="-122"/>
                <a:cs typeface="Calibri" pitchFamily="34" charset="-120"/>
              </a:rPr>
              <a:t> cells were in the stage where chromatids separate. The cell cycle lasts </a:t>
            </a:r>
            <a:r>
              <a:rPr lang="en-US" sz="1150" b="1" dirty="0">
                <a:solidFill>
                  <a:srgbClr val="262B3A"/>
                </a:solidFill>
                <a:latin typeface="Calibri" pitchFamily="34" charset="0"/>
                <a:ea typeface="Calibri" pitchFamily="34" charset="-122"/>
                <a:cs typeface="Calibri" pitchFamily="34" charset="-120"/>
              </a:rPr>
              <a:t>24 hours</a:t>
            </a:r>
            <a:r>
              <a:rPr lang="en-US" sz="1150" dirty="0">
                <a:solidFill>
                  <a:srgbClr val="262B3A"/>
                </a:solidFill>
                <a:latin typeface="Calibri" pitchFamily="34" charset="0"/>
                <a:ea typeface="Calibri" pitchFamily="34" charset="-122"/>
                <a:cs typeface="Calibri" pitchFamily="34" charset="-120"/>
              </a:rPr>
              <a:t>. Estimate how long this stage lasts, in minutes.</a:t>
            </a:r>
            <a:endParaRPr lang="en-US" sz="1150" dirty="0"/>
          </a:p>
        </p:txBody>
      </p:sp>
      <p:sp>
        <p:nvSpPr>
          <p:cNvPr id="26" name="Text 24"/>
          <p:cNvSpPr/>
          <p:nvPr/>
        </p:nvSpPr>
        <p:spPr>
          <a:xfrm>
            <a:off x="10317175" y="341273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815069"/>
            <a:ext cx="5570068" cy="2512579"/>
          </a:xfrm>
          <a:prstGeom prst="roundRect">
            <a:avLst>
              <a:gd name="adj" fmla="val 1820"/>
            </a:avLst>
          </a:prstGeom>
          <a:solidFill>
            <a:srgbClr val="FFF4E0"/>
          </a:solidFill>
          <a:ln w="9525">
            <a:solidFill>
              <a:srgbClr val="F1D9A8"/>
            </a:solidFill>
            <a:prstDash val="solid"/>
          </a:ln>
        </p:spPr>
      </p:sp>
      <p:sp>
        <p:nvSpPr>
          <p:cNvPr id="28" name="Text 26"/>
          <p:cNvSpPr/>
          <p:nvPr/>
        </p:nvSpPr>
        <p:spPr>
          <a:xfrm>
            <a:off x="6347308" y="3888221"/>
            <a:ext cx="5295748" cy="216510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Some scientists want to use </a:t>
            </a:r>
            <a:r>
              <a:rPr lang="en-US" sz="1150" b="1" dirty="0">
                <a:solidFill>
                  <a:srgbClr val="262B3A"/>
                </a:solidFill>
                <a:latin typeface="Calibri" pitchFamily="34" charset="0"/>
                <a:ea typeface="Calibri" pitchFamily="34" charset="-122"/>
                <a:cs typeface="Calibri" pitchFamily="34" charset="-120"/>
              </a:rPr>
              <a:t>embryonic stem cells</a:t>
            </a:r>
            <a:r>
              <a:rPr lang="en-US" sz="1150" dirty="0">
                <a:solidFill>
                  <a:srgbClr val="262B3A"/>
                </a:solidFill>
                <a:latin typeface="Calibri" pitchFamily="34" charset="0"/>
                <a:ea typeface="Calibri" pitchFamily="34" charset="-122"/>
                <a:cs typeface="Calibri" pitchFamily="34" charset="-120"/>
              </a:rPr>
              <a:t> to treat diseases. </a:t>
            </a:r>
            <a:r>
              <a:rPr lang="en-US" sz="1150" b="1" dirty="0">
                <a:solidFill>
                  <a:srgbClr val="262B3A"/>
                </a:solidFill>
                <a:latin typeface="Calibri" pitchFamily="34" charset="0"/>
                <a:ea typeface="Calibri" pitchFamily="34" charset="-122"/>
                <a:cs typeface="Calibri" pitchFamily="34" charset="-120"/>
              </a:rPr>
              <a:t>Evaluate</a:t>
            </a:r>
            <a:r>
              <a:rPr lang="en-US" sz="1150" dirty="0">
                <a:solidFill>
                  <a:srgbClr val="262B3A"/>
                </a:solidFill>
                <a:latin typeface="Calibri" pitchFamily="34" charset="0"/>
                <a:ea typeface="Calibri" pitchFamily="34" charset="-122"/>
                <a:cs typeface="Calibri" pitchFamily="34" charset="-120"/>
              </a:rPr>
              <a:t> the use of embryonic stem cells in medicine. Include the benefits, the risks and the ethical issues, and give your own conclusion.</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B4.3 How do organisms grow and develop?</dc:title>
  <dc:subject>PptxGenJS Presentation</dc:subject>
  <dc:creator>GCSE Biology</dc:creator>
  <cp:lastModifiedBy>GCSE Biology</cp:lastModifiedBy>
  <cp:revision>1</cp:revision>
  <dcterms:created xsi:type="dcterms:W3CDTF">2026-10-30T08:08:21Z</dcterms:created>
  <dcterms:modified xsi:type="dcterms:W3CDTF">2026-10-30T08:08:21Z</dcterms:modified>
</cp:coreProperties>
</file>