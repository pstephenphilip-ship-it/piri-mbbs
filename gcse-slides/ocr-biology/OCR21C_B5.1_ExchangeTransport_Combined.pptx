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B5.1 How do substances get into, out of and around our bodies? is Part 1 of 6 in J260 Chapter B5 (B5.1–B5.6). The OCR Summer 2022 J260 advance information lists all six B5 sections for both the Foundation and Higher papers.
Statement wordings come from search extracts (ocr.org.uk and the spec mirrors could not be fetched): see SPEC_B5_1.md before showing codes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B5.1 statement was found to be Higher tier only (bold) in J260 (UNVERIFIED). Oak National Academy runs the OCR combined science lessons on the heart and double circulatory system, diffusion and SA:V, and blood cells and vessels in BOTH its Foundation and Higher programmes, which suggests no HT-only content.
Numbering B5.1.1–B5.1.6 is inferred from the order of the statements in search extracts (UNVERIFIED). The wording of B5.1.3–B5.1.6 was found in extracts; B5.1.1 and B5.1.2 are paraphrased. Alveoli and villi are taught as exchange surfaces under B5.1.2/B5.1.3 (relationships with the gas exchange and digestive systems). Check SPEC_B5_1.md.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B5 has six sub-topics, B5.1–B5.6; the OCR Summer 2022 J260 advance information lists all six for both tiers (search extract).
Overlap control: diffusion, osmosis and active transport are taught in Chapter B3 of this series (recap only here). The kidneys and water balance belong to B5.4 and are only named here as the organ that removes urea. Heart disease and risk factors belong to Chapter B2 and are not taught here. White blood cells and defence are B2: named only as a component of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net movement of particles from a region of higher concentration to a region of lower concentration (down a concentration gradient). Faster with: a steeper concentration gradient, a higher temperature, a larger surface area, a shorter distance.
2. glucose + oxygen → carbon dioxide + water (energy released / ATP made).
3. Mitochondria. The cell membrane.
4. Red blood cells, white blood cells, platelets.
5. Any one: engulf / ingest pathogens (phagocytosis); make antibodies; make antitoxins.
6. Trachea (windpipe).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Urea. The kidneys (it leaves the body in urine).
B5.1.1 wording (search extract and J257 copies): describe some of the substances transported into and out of a range of organisms in terms of their requirements, including oxygen, carbon dioxide, water, dissolved food molecules, mineral ions and urea. Mineral ions are from memory (UNVERIFIED). How the kidneys make urine is B5.4: name only. Urea is made in the liver (deamination is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SA = 6 × 25 = 150 cm²; V = 125 cm³; SA:V = 150 : 125 = 1.2 : 1. Smaller than the 4 cm cube (1.5 : 1).
All values asserted in node: 1, 2, 4 cm cubes give 6, 3, 1.5 : 1; 3 cm gives 2 : 1; 5 cm gives 1.2 : 1. Common misconception: larger organisms have a LARGER SA:V ratio (they have a larger SA but a smaller ratio). Ratios are written as n : 1. The SA:V calculation is the maths link (ratios, area and volume of a cube) for B5.1.2.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Its SA:V (3 : 1) is much smaller than that of a single cell, so its surface is too small for its volume to supply enough oxygen / remove enough CO₂ (1); cells in the middle are far from the surface, so diffusion would be too slow (1). (Accept: it needs an exchange surface and a transport system.)
Time for diffusion increases with the square of the distance (stretch idea), so doubling the distance makes diffusion about four times slower. B5.1.2 wording (paraphrase from search extracts): explain the need for exchange surfaces and a transport system in multicellular organisms in terms of surface area : volume ratio. A J260/05 sample paper asks for "ideas about surface area, volume and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[3]: Any two in (1 each): oxygen; water; dissolved food molecules, e.g. glucose / amino acids; mineral ions. Waste (1): carbon dioxide / urea.
Q2 [2]: SA = 24 cm² and V = 8 cm³ (1); 3 : 1 (1).
Q3 [2]: Single cell has a large SA:V / short diffusion distance, so diffusion through the membrane is enough (1); human has a small SA:V / cells far from the surface, so diffusion alone is too slow (1).
Q4 [1]: Large surface area / thin, short diffusion distance / good blood supply / ventilated, maintains a concentration gradient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centre is furthest from every surface, so the acid takes longest to diffuse to it (and the large cube has the smallest SA:V). It models cells deep inside a large organism, which are too far from the surface to be supplied quickly enough by diffusion alone.
PAG link: this is the usual SA:V / diffusion model practical; it fits the OCR biology PAG group on transport in and out of cells (PAG B8 in OCR numbering), but no B5.1 PAG reference was found for J260 (UNVERIFIED), so it is labelled a suggested practical.
Typical recipe: 2% agar with 0.1 mol/dm³ sodium hydroxide and phenolphthalein; 0.1–1 mol/dm³ hydrochloric acid. Teacher prepares the agar. Data on the next slide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As the SA:V ratio increases (smaller cubes), the time to go colourless decreases; the curve is steep at small SA:V. The 2.0 cm cube has the biggest range: 1342 − 1301 = 41 s (ranges 6, 13, 21, 41 s).
Node: SA 1.5, 6, 13.5, 24 cm²; V 0.125, 1, 3.375, 8 cm³; SA:V 12, 6, 4, 3; means 85, 330, 745, 1320 s. The blue curve is t = 11880 ÷ (SA:V)², the model for diffusion time ∝ (distance)², which passes through the means (82.5, 330, 742.5, 1320 s). Data are illustrative, chosen to follow that model. Stretch: time ∝ distance² (Fick / random walk) is beyond GCSE.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[1]: Acid diffuses into the cube and neutralises the alkali, so the indicator turns colourless (1).
Q2 [2]: SA = 1.5 cm², V = 0.125 cm³ (1); 12 : 1 (1).
Q3 [2]: The larger the SA:V ratio, the shorter the time (1); e.g. 12 : 1 took 85 s but 3 : 1 took 1320 s / quote data (1).
Q4 [2]: e.g. acid concentration / volume of acid / temperature / same batch of agar (1); because it also affects the rate of diffusion, so the test is fair / only cube size affects the time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Blood carries oxygen away as soon as it diffuses in, so the oxygen concentration in the blood stays low (and fresh air keeps it high in the alveoli) (1); this keeps a steep concentration gradient, so diffusion stays fast (1).
The J260 circulatory-system statement includes its relationship with the gaseous exchange system (search extract); the lungs are the human example of an exchange surface for B5.1.2. Mechanics of breathing (rib and diaphragm muscles) are not required: diaphragm labelled only. Wall thickness values are typical textbook values (about 0.5 µm each); node: 0.0005 + 0.0005 = 0.001 mm = 1 µm. The person's right lung is on the viewer's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both have a large surface area; both have thin walls (one cell thick) / short diffusion distance; both have a rich blood supply / capillary network that maintains a concentration gradient.
Node: side area = π × 0.1 × 1 = 0.3142 mm²; base = π × 0.05² = 0.00785 mm²; exact ratio = 4h ÷ d = 40. The J260 circulatory-system statement includes its relationship with the digestive system (search extract). Enzymes and digestion itself are not in B5.1 of J260 (UNVERIFIED): taught here only as "large molecules broken into small soluble ones". Lacteals and the hepatic portal vein are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[1]: Alveoli (1).
Q2 [3]: Any three (1 each), each with its reason: huge number / large surface area for more diffusion; thin walls / one cell thick for a short diffusion distance; rich blood supply / many capillaries maintain a concentration gradient; moist so gases dissolve; ventilation keeps the gradient.
Q3 [2]: Any two (1 each): glucose / amino acids / fatty acids and glycerol / vitamins / mineral ions / water.
Q4 [2]: Blood carries absorbed molecules away (1); keeps the concentration in the blood low / maintains a steep concentration gradient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left side (left atrium), via the pulmonary vein. Oxygenated.
B5.1.3 wording (search extract): "describe the human circulatory system, including its relationships with the gaseous exchange system, the digestive system and the excretory system". Fish single circulation is a comparison only (not required). Pulmonary artery carries deoxygenated blood; pulmonary vein carries oxygenated blood: a common exam point. Diagram convention: red = oxygenated, blue = deoxygenated (real blood is always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left ventricle; it must pump blood at high pressure all the way round the body (the right ventricle only pumps to the lungs). The aorta.
B5.1.4 wording (search extract): "explain how the structure of the heart is adapted to its function, including cardiac muscle, chambers and valves".
Diagram checks: the person's right side (right atrium, right ventricle, vena cava, pulmonary artery) is on the viewer's left. Vena cava → right atrium → valve → right ventricle → pulmonary artery (semilunar valve at its base) → lungs; pulmonary veins → left atrium → valve → left ventricle → aorta (semilunar valve) → body. The pulmonary artery passes behind the aorta. Valve names (tricuspid, bicuspid / mitral, semilunar) are not required at GCSE: stretch only. The coronary arteries that supply the heart muscle itself are B2 (heart disease) and are not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70 × 60 = 4200 beats. So blood is pushed out into the arteries and does not flow back into the atria (one-way flow).
The volume-per-minute calculation is maths practice (multiplication and unit conversion); "cardiac output" is not named in the J260 statements found (UNVERIFIED), so the term is not used on the slide. Node: 70 × 72 = 5040 cm³ = 5.04 dm³; 70 × 60 = 4200.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[2]: Blood passes through the heart twice in one complete circuit (1); one circuit to the lungs and one to the rest of the body (1).
Q2 [2]: (a) pulmonary artery (1); (b) pulmonary vein (1).
Q3 [2]: More (cardiac) muscle to contract more strongly / make a higher pressure (1); to pump blood all round the body, not just to the lungs (1).
Q4 [1]: Stop blood flowing backwards / keep blood flowing in one direction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Blood in veins is at low pressure and could flow backwards (e.g. in the legs, against gravity); valves stop this (1). Blood in arteries is at high pressure from the heart pushing it forward, so it does not flow back (1).
B5.1.5 wording (search extract): "explain how the structures of arteries, veins and capillaries are adapted to their functions, including differences in the vessel walls and the presence of valves". Wall thicknesses are typical values (UNVERIFIED for any one vessel); node: 1 ÷ 0.001 =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5 × 0.44 = 2.2 dm³. Any two: glucose / amino acids / mineral ions / carbon dioxide / urea / hormones / water / antibodies / proteins.
B5.1.6 wording (search extract): "explain how red blood cells and plasma are adapted to their transport functions in the blood". White blood cells and platelets are included only as context (defence is B2). Percentages are typical values (55% plasma, about 44% red cells, under 1% white cells and platelets); the tube is drawn to scale. Node: 55 + 44 + 1 = 100; 5 × 0.55 = 2.75; 5 × 0.44 = 2.2. Most CO₂ is carried in plasma as hydrogencarbonate ions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Blood from the gut returns to the right side of the heart (via the vena cava), and the right side pumps all its blood to the lungs; only after returning to the left side is it pumped to the body / muscles (double circulation).
Simplified: blood from the gut goes first to the liver (hepatic portal vein) before the vena cava; not required. How the kidneys filter blood is B5.4: named only. This slide supports the B5.1.3 "relationships with the gaseous exchange, digestive and excretory systems"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Thick muscular / elastic wall (1); to withstand / maintain high pressure of blood pumped from the heart (1).
Q2 [2]: Wall one cell thick / thin, short diffusion distance (1); many capillaries / close to every cell, large surface area (1).
Q3 [2]: Any two (1 each): contains haemoglobin (binds oxygen); no nucleus (more room for haemoglobin); biconcave shape (large surface area for diffusion); small and flexible (fits through capillaries).
Q4 [2]: Plasma (1); kidneys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(i) aorta (1); (ii) pulmonary vein (1).
(b) [2]: Blood passes through the heart twice in one complete circuit (1); once through the lungs circuit and once through the body circuit (1).
(c) [2]: SA = 54 cm² and V = 27 cm³ (1); 2 : 1 (1).
(d) [3]: Humans have a small SA:V ratio (1); the body surface is too small / cells too far from the surface for diffusion alone to supply enough oxygen (1); lungs / alveoli give a very large surface area with a short diffusion distance (1).
(e) [2]: Any two (1 each), with reason: haemoglobin binds oxygen; no nucleus, more room for haemoglobin; biconcave, large surface area for diffusion; flexible, squeeze through capillaries.
(f) [2]: Blood flows back into the left atrium when the ventricle contracts (1); less blood / oxygen pumped to the body, so the patient gets tired / breathless easily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Plasma (1).
2 [2]: Any two (1 each): artery has a thicker wall / more muscle and elastic tissue; artery has a narrower lumen, vein a wider one; veins have valves, arteries do not (except at the heart).
3 [3]: SA = 96 cm² and V = 64 cm³ (1); 1.5 : 1 (1); 1 cm cube is 6 : 1, so 6 ÷ 1.5 = 4 times smaller (1).
4 [2]: Large surface area (1); AND one of: wall one cell thick / short diffusion distance; capillary network carries glucose away, keeping a steep concentration gradient (1).
5 [1]: Short diffusion distance, so substances move quickly between blood and cells (1).
6 [2]: Urea (1); kidneys (1).
7 [6]: OCR level-of-response mark scheme (6 marks). Read the whole answer, decide the level from the content descriptor, then the mark within the level from the quality of the line of reasoning. Use the indicative scientific points below.
Level 3 (5–6 marks): Explains how the gas exchange, digestive AND circulatory systems each contribute, including at least one adaptation, AND links them in a correct sequence to the muscle cell. There is a well-developed line of reasoning which is clear and logically structured. The information presented is relevant and substantiated.
Level 2 (3–4 marks): Describes the role of at least two systems with some detail, e.g. oxygen from the alveoli and glucose from the villi carried in the blood; sequence may be incomplete. There is a line of reasoning presented with some structure. The information presented is relevant and supported by some evidence.
Level 1 (1–2 marks): Simple statements, e.g. "oxygen comes from the lungs" or "the heart pumps blood to the muscles". There is an attempt at a logical structure with a line of reasoning. The information is in the most part relevant.
0 marks: no response or no response worthy of credit.
Indicative scientific points may include:
 • Gas exchange system: air reaches the alveoli; oxygen diffuses into the blood across thin walls; large surface area; rich blood supply keeps the gradient; carbon dioxide diffuses out and is breathed out.
 • Oxygen joins haemoglobin in red blood cells (oxyhaemoglobin).
 • Digestive system: food broken down into small soluble molecules; glucose absorbed through the villi (large surface area, one cell thick, capillary network) into the blood plasma.
 • Circulatory system: double circulation; blood from the gut goes to the right side of the heart, then the lungs, then the left side; the left ventricle pumps it through the aorta and arteries at high pressure.
 • Capillaries in the muscle: walls one cell thick; oxygen and glucose diffuse into muscle cells for aerobic respiration; carbon dioxide diffuses out into the plasma.
 • Carbon dioxide returns in veins to the heart and is pumped to the lungs to be breathed out.
 • The systems are linked: each depends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B5.1  Exchange and transport</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How do substances get into, out of and around our bodies?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Exchange surfaces  •  SA:V ratio  •  Alveoli  •  Villi  •  Double circulation  •  Heart  •  Blood vessels  •  Blood</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B5.1.1–B5.1.6 • suggested practical: modelling SA:V with agar cubes</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SA:V • exchange surfaces • alveoli • villi • double circulation • heart • vessels • blood</a:t>
            </a:r>
            <a:endParaRPr lang="en-US" sz="1400" dirty="0"/>
          </a:p>
        </p:txBody>
      </p:sp>
      <p:sp>
        <p:nvSpPr>
          <p:cNvPr id="19" name="Shape 17"/>
          <p:cNvSpPr/>
          <p:nvPr/>
        </p:nvSpPr>
        <p:spPr>
          <a:xfrm>
            <a:off x="731520" y="5769864"/>
            <a:ext cx="540867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40867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6 in Chapter B5: The human body – staying alive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B5.1 How do substances get into, out of and around our bodies?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B5.1.1–B5.1.6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substances</a:t>
            </a:r>
            <a:r>
              <a:rPr lang="en-US" sz="1200" dirty="0">
                <a:solidFill>
                  <a:srgbClr val="262B3A"/>
                </a:solidFill>
                <a:latin typeface="Calibri" pitchFamily="34" charset="0"/>
                <a:ea typeface="Calibri" pitchFamily="34" charset="-122"/>
                <a:cs typeface="Calibri" pitchFamily="34" charset="-120"/>
              </a:rPr>
              <a:t> transported into and out of organisms: oxygen, carbon dioxide, water, dissolved food molecules, mineral ions, urea.</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B5.1.2   </a:t>
            </a:r>
            <a:r>
              <a:rPr lang="en-US" sz="1200" dirty="0">
                <a:solidFill>
                  <a:srgbClr val="262B3A"/>
                </a:solidFill>
                <a:latin typeface="Calibri" pitchFamily="34" charset="0"/>
                <a:ea typeface="Calibri" pitchFamily="34" charset="-122"/>
                <a:cs typeface="Calibri" pitchFamily="34" charset="-120"/>
              </a:rPr>
              <a:t>Calculate </a:t>
            </a:r>
            <a:r>
              <a:rPr lang="en-US" sz="1200" b="1" dirty="0">
                <a:solidFill>
                  <a:srgbClr val="262B3A"/>
                </a:solidFill>
                <a:latin typeface="Calibri" pitchFamily="34" charset="0"/>
                <a:ea typeface="Calibri" pitchFamily="34" charset="-122"/>
                <a:cs typeface="Calibri" pitchFamily="34" charset="-120"/>
              </a:rPr>
              <a:t>surface area : volume ratios</a:t>
            </a:r>
            <a:r>
              <a:rPr lang="en-US" sz="1200" dirty="0">
                <a:solidFill>
                  <a:srgbClr val="262B3A"/>
                </a:solidFill>
                <a:latin typeface="Calibri" pitchFamily="34" charset="0"/>
                <a:ea typeface="Calibri" pitchFamily="34" charset="-122"/>
                <a:cs typeface="Calibri" pitchFamily="34" charset="-120"/>
              </a:rPr>
              <a:t> and explain why multicellular organisms need </a:t>
            </a:r>
            <a:r>
              <a:rPr lang="en-US" sz="1200" b="1" dirty="0">
                <a:solidFill>
                  <a:srgbClr val="262B3A"/>
                </a:solidFill>
                <a:latin typeface="Calibri" pitchFamily="34" charset="0"/>
                <a:ea typeface="Calibri" pitchFamily="34" charset="-122"/>
                <a:cs typeface="Calibri" pitchFamily="34" charset="-120"/>
              </a:rPr>
              <a:t>exchange surfaces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B5.1.2   </a:t>
            </a:r>
            <a:r>
              <a:rPr lang="en-US" sz="1200" dirty="0">
                <a:solidFill>
                  <a:srgbClr val="262B3A"/>
                </a:solidFill>
                <a:latin typeface="Calibri" pitchFamily="34" charset="0"/>
                <a:ea typeface="Calibri" pitchFamily="34" charset="-122"/>
                <a:cs typeface="Calibri" pitchFamily="34" charset="-120"/>
              </a:rPr>
              <a:t>Explain why large organisms need a </a:t>
            </a:r>
            <a:r>
              <a:rPr lang="en-US" sz="1200" b="1" dirty="0">
                <a:solidFill>
                  <a:srgbClr val="262B3A"/>
                </a:solidFill>
                <a:latin typeface="Calibri" pitchFamily="34" charset="0"/>
                <a:ea typeface="Calibri" pitchFamily="34" charset="-122"/>
                <a:cs typeface="Calibri" pitchFamily="34" charset="-120"/>
              </a:rPr>
              <a:t>transport system</a:t>
            </a:r>
            <a:r>
              <a:rPr lang="en-US" sz="1200" dirty="0">
                <a:solidFill>
                  <a:srgbClr val="262B3A"/>
                </a:solidFill>
                <a:latin typeface="Calibri" pitchFamily="34" charset="0"/>
                <a:ea typeface="Calibri" pitchFamily="34" charset="-122"/>
                <a:cs typeface="Calibri" pitchFamily="34" charset="-120"/>
              </a:rPr>
              <a:t>, using diffusion distance and SA:V.</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B5.1.2   </a:t>
            </a:r>
            <a:r>
              <a:rPr lang="en-US" sz="1200" dirty="0">
                <a:solidFill>
                  <a:srgbClr val="262B3A"/>
                </a:solidFill>
                <a:latin typeface="Calibri" pitchFamily="34" charset="0"/>
                <a:ea typeface="Calibri" pitchFamily="34" charset="-122"/>
                <a:cs typeface="Calibri" pitchFamily="34" charset="-120"/>
              </a:rPr>
              <a:t>Model the effect of SA:V on diffusion with </a:t>
            </a:r>
            <a:r>
              <a:rPr lang="en-US" sz="1200" b="1" dirty="0">
                <a:solidFill>
                  <a:srgbClr val="262B3A"/>
                </a:solidFill>
                <a:latin typeface="Calibri" pitchFamily="34" charset="0"/>
                <a:ea typeface="Calibri" pitchFamily="34" charset="-122"/>
                <a:cs typeface="Calibri" pitchFamily="34" charset="-120"/>
              </a:rPr>
              <a:t>agar cubes</a:t>
            </a:r>
            <a:r>
              <a:rPr lang="en-US" sz="1200" dirty="0">
                <a:solidFill>
                  <a:srgbClr val="262B3A"/>
                </a:solidFill>
                <a:latin typeface="Calibri" pitchFamily="34" charset="0"/>
                <a:ea typeface="Calibri" pitchFamily="34" charset="-122"/>
                <a:cs typeface="Calibri" pitchFamily="34" charset="-120"/>
              </a:rPr>
              <a:t> (suggested practical) and analyse the data.</a:t>
            </a:r>
            <a:endParaRPr lang="en-US" sz="1100" dirty="0"/>
          </a:p>
        </p:txBody>
      </p:sp>
      <p:sp>
        <p:nvSpPr>
          <p:cNvPr id="20" name="Shape 18"/>
          <p:cNvSpPr/>
          <p:nvPr/>
        </p:nvSpPr>
        <p:spPr>
          <a:xfrm>
            <a:off x="502920" y="4800600"/>
            <a:ext cx="457200" cy="457200"/>
          </a:xfrm>
          <a:prstGeom prst="ellipse">
            <a:avLst/>
          </a:prstGeom>
          <a:solidFill>
            <a:srgbClr val="0D7877"/>
          </a:solidFill>
          <a:ln w="12700">
            <a:solidFill>
              <a:srgbClr val="0D7877"/>
            </a:solidFill>
            <a:prstDash val="solid"/>
          </a:ln>
        </p:spPr>
      </p:sp>
      <p:sp>
        <p:nvSpPr>
          <p:cNvPr id="21" name="Text 19"/>
          <p:cNvSpPr/>
          <p:nvPr/>
        </p:nvSpPr>
        <p:spPr>
          <a:xfrm>
            <a:off x="502920" y="4800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1097280" y="475488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B5.1.3   </a:t>
            </a:r>
            <a:r>
              <a:rPr lang="en-US" sz="1200" dirty="0">
                <a:solidFill>
                  <a:srgbClr val="262B3A"/>
                </a:solidFill>
                <a:latin typeface="Calibri" pitchFamily="34" charset="0"/>
                <a:ea typeface="Calibri" pitchFamily="34" charset="-122"/>
                <a:cs typeface="Calibri" pitchFamily="34" charset="-120"/>
              </a:rPr>
              <a:t>Explain how the </a:t>
            </a:r>
            <a:r>
              <a:rPr lang="en-US" sz="1200" b="1" dirty="0">
                <a:solidFill>
                  <a:srgbClr val="262B3A"/>
                </a:solidFill>
                <a:latin typeface="Calibri" pitchFamily="34" charset="0"/>
                <a:ea typeface="Calibri" pitchFamily="34" charset="-122"/>
                <a:cs typeface="Calibri" pitchFamily="34" charset="-120"/>
              </a:rPr>
              <a:t>alveoli</a:t>
            </a:r>
            <a:r>
              <a:rPr lang="en-US" sz="1200" dirty="0">
                <a:solidFill>
                  <a:srgbClr val="262B3A"/>
                </a:solidFill>
                <a:latin typeface="Calibri" pitchFamily="34" charset="0"/>
                <a:ea typeface="Calibri" pitchFamily="34" charset="-122"/>
                <a:cs typeface="Calibri" pitchFamily="34" charset="-120"/>
              </a:rPr>
              <a:t> and the </a:t>
            </a:r>
            <a:r>
              <a:rPr lang="en-US" sz="1200" b="1" dirty="0">
                <a:solidFill>
                  <a:srgbClr val="262B3A"/>
                </a:solidFill>
                <a:latin typeface="Calibri" pitchFamily="34" charset="0"/>
                <a:ea typeface="Calibri" pitchFamily="34" charset="-122"/>
                <a:cs typeface="Calibri" pitchFamily="34" charset="-120"/>
              </a:rPr>
              <a:t>villi</a:t>
            </a:r>
            <a:r>
              <a:rPr lang="en-US" sz="1200" dirty="0">
                <a:solidFill>
                  <a:srgbClr val="262B3A"/>
                </a:solidFill>
                <a:latin typeface="Calibri" pitchFamily="34" charset="0"/>
                <a:ea typeface="Calibri" pitchFamily="34" charset="-122"/>
                <a:cs typeface="Calibri" pitchFamily="34" charset="-120"/>
              </a:rPr>
              <a:t> are adapted for exchange (gas exchange and digestive systems).</a:t>
            </a:r>
            <a:endParaRPr lang="en-US" sz="1100" dirty="0"/>
          </a:p>
        </p:txBody>
      </p:sp>
      <p:sp>
        <p:nvSpPr>
          <p:cNvPr id="23" name="Shape 21"/>
          <p:cNvSpPr/>
          <p:nvPr/>
        </p:nvSpPr>
        <p:spPr>
          <a:xfrm>
            <a:off x="6263640" y="132588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B5.1.3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double circulatory system</a:t>
            </a:r>
            <a:r>
              <a:rPr lang="en-US" sz="1200" dirty="0">
                <a:solidFill>
                  <a:srgbClr val="262B3A"/>
                </a:solidFill>
                <a:latin typeface="Calibri" pitchFamily="34" charset="0"/>
                <a:ea typeface="Calibri" pitchFamily="34" charset="-122"/>
                <a:cs typeface="Calibri" pitchFamily="34" charset="-120"/>
              </a:rPr>
              <a:t> and how it links to the gas exchange, digestive and excretory systems.</a:t>
            </a:r>
            <a:endParaRPr lang="en-US" sz="1100" dirty="0"/>
          </a:p>
        </p:txBody>
      </p:sp>
      <p:sp>
        <p:nvSpPr>
          <p:cNvPr id="26" name="Shape 24"/>
          <p:cNvSpPr/>
          <p:nvPr/>
        </p:nvSpPr>
        <p:spPr>
          <a:xfrm>
            <a:off x="6263640" y="219456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B5.1.4   </a:t>
            </a:r>
            <a:r>
              <a:rPr lang="en-US" sz="1200" dirty="0">
                <a:solidFill>
                  <a:srgbClr val="262B3A"/>
                </a:solidFill>
                <a:latin typeface="Calibri" pitchFamily="34" charset="0"/>
                <a:ea typeface="Calibri" pitchFamily="34" charset="-122"/>
                <a:cs typeface="Calibri" pitchFamily="34" charset="-120"/>
              </a:rPr>
              <a:t>Label the </a:t>
            </a:r>
            <a:r>
              <a:rPr lang="en-US" sz="1200" b="1" dirty="0">
                <a:solidFill>
                  <a:srgbClr val="262B3A"/>
                </a:solidFill>
                <a:latin typeface="Calibri" pitchFamily="34" charset="0"/>
                <a:ea typeface="Calibri" pitchFamily="34" charset="-122"/>
                <a:cs typeface="Calibri" pitchFamily="34" charset="-120"/>
              </a:rPr>
              <a:t>heart</a:t>
            </a:r>
            <a:r>
              <a:rPr lang="en-US" sz="1200" dirty="0">
                <a:solidFill>
                  <a:srgbClr val="262B3A"/>
                </a:solidFill>
                <a:latin typeface="Calibri" pitchFamily="34" charset="0"/>
                <a:ea typeface="Calibri" pitchFamily="34" charset="-122"/>
                <a:cs typeface="Calibri" pitchFamily="34" charset="-120"/>
              </a:rPr>
              <a:t> and explain how its cardiac muscle, chambers and valves are adapted to its function.</a:t>
            </a:r>
            <a:endParaRPr lang="en-US" sz="1100" dirty="0"/>
          </a:p>
        </p:txBody>
      </p:sp>
      <p:sp>
        <p:nvSpPr>
          <p:cNvPr id="29" name="Shape 27"/>
          <p:cNvSpPr/>
          <p:nvPr/>
        </p:nvSpPr>
        <p:spPr>
          <a:xfrm>
            <a:off x="6263640" y="3063240"/>
            <a:ext cx="457200" cy="457200"/>
          </a:xfrm>
          <a:prstGeom prst="ellipse">
            <a:avLst/>
          </a:prstGeom>
          <a:solidFill>
            <a:srgbClr val="0D7877"/>
          </a:solidFill>
          <a:ln w="12700">
            <a:solidFill>
              <a:srgbClr val="0D7877"/>
            </a:solidFill>
            <a:prstDash val="solid"/>
          </a:ln>
        </p:spPr>
      </p:sp>
      <p:sp>
        <p:nvSpPr>
          <p:cNvPr id="30" name="Text 28"/>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B5.1.5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arteries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veins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capillaries</a:t>
            </a:r>
            <a:r>
              <a:rPr lang="en-US" sz="1200" dirty="0">
                <a:solidFill>
                  <a:srgbClr val="262B3A"/>
                </a:solidFill>
                <a:latin typeface="Calibri" pitchFamily="34" charset="0"/>
                <a:ea typeface="Calibri" pitchFamily="34" charset="-122"/>
                <a:cs typeface="Calibri" pitchFamily="34" charset="-120"/>
              </a:rPr>
              <a:t> are adapted, including their walls and valves.</a:t>
            </a:r>
            <a:endParaRPr lang="en-US" sz="1100" dirty="0"/>
          </a:p>
        </p:txBody>
      </p:sp>
      <p:sp>
        <p:nvSpPr>
          <p:cNvPr id="32" name="Shape 30"/>
          <p:cNvSpPr/>
          <p:nvPr/>
        </p:nvSpPr>
        <p:spPr>
          <a:xfrm>
            <a:off x="6263640" y="3931920"/>
            <a:ext cx="457200" cy="457200"/>
          </a:xfrm>
          <a:prstGeom prst="ellipse">
            <a:avLst/>
          </a:prstGeom>
          <a:solidFill>
            <a:srgbClr val="0D7877"/>
          </a:solidFill>
          <a:ln w="12700">
            <a:solidFill>
              <a:srgbClr val="0D7877"/>
            </a:solidFill>
            <a:prstDash val="solid"/>
          </a:ln>
        </p:spPr>
      </p:sp>
      <p:sp>
        <p:nvSpPr>
          <p:cNvPr id="33" name="Text 31"/>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9</a:t>
            </a:r>
            <a:endParaRPr lang="en-US" sz="1600" dirty="0"/>
          </a:p>
        </p:txBody>
      </p:sp>
      <p:sp>
        <p:nvSpPr>
          <p:cNvPr id="34" name="Text 32"/>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B5.1.6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red blood cells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plasma</a:t>
            </a:r>
            <a:r>
              <a:rPr lang="en-US" sz="1200" dirty="0">
                <a:solidFill>
                  <a:srgbClr val="262B3A"/>
                </a:solidFill>
                <a:latin typeface="Calibri" pitchFamily="34" charset="0"/>
                <a:ea typeface="Calibri" pitchFamily="34" charset="-122"/>
                <a:cs typeface="Calibri" pitchFamily="34" charset="-120"/>
              </a:rPr>
              <a:t> are adapted to their transport functions.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B5 The human body – staying alive • B5.1 is Part 1 of 6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Exchange and transport</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B5.1.1, B5.1.2   </a:t>
            </a:r>
            <a:r>
              <a:rPr lang="en-US" sz="1100" dirty="0">
                <a:solidFill>
                  <a:srgbClr val="262B3A"/>
                </a:solidFill>
                <a:latin typeface="Calibri" pitchFamily="34" charset="0"/>
                <a:ea typeface="Calibri" pitchFamily="34" charset="-122"/>
                <a:cs typeface="Calibri" pitchFamily="34" charset="-120"/>
              </a:rPr>
              <a:t>Substances moved; SA:V and exchange surfaces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Modelling SA:V and diffusion with agar cubes</a:t>
            </a:r>
            <a:endParaRPr lang="en-US" sz="1100" dirty="0"/>
          </a:p>
        </p:txBody>
      </p:sp>
      <p:sp>
        <p:nvSpPr>
          <p:cNvPr id="19" name="Shape 17"/>
          <p:cNvSpPr/>
          <p:nvPr/>
        </p:nvSpPr>
        <p:spPr>
          <a:xfrm>
            <a:off x="5257800" y="2907792"/>
            <a:ext cx="1097280" cy="274320"/>
          </a:xfrm>
          <a:prstGeom prst="roundRect">
            <a:avLst>
              <a:gd name="adj" fmla="val 50000"/>
            </a:avLst>
          </a:prstGeom>
          <a:solidFill>
            <a:srgbClr val="B8730A"/>
          </a:solidFill>
          <a:ln w="12700">
            <a:solidFill>
              <a:srgbClr val="B8730A"/>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B5.1.2, B5.1.3   </a:t>
            </a:r>
            <a:r>
              <a:rPr lang="en-US" sz="1100" dirty="0">
                <a:solidFill>
                  <a:srgbClr val="262B3A"/>
                </a:solidFill>
                <a:latin typeface="Calibri" pitchFamily="34" charset="0"/>
                <a:ea typeface="Calibri" pitchFamily="34" charset="-122"/>
                <a:cs typeface="Calibri" pitchFamily="34" charset="-120"/>
              </a:rPr>
              <a:t>Exchange surfaces: alveoli and villi</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B5.1.3, B5.1.4   </a:t>
            </a:r>
            <a:r>
              <a:rPr lang="en-US" sz="1100" dirty="0">
                <a:solidFill>
                  <a:srgbClr val="262B3A"/>
                </a:solidFill>
                <a:latin typeface="Calibri" pitchFamily="34" charset="0"/>
                <a:ea typeface="Calibri" pitchFamily="34" charset="-122"/>
                <a:cs typeface="Calibri" pitchFamily="34" charset="-120"/>
              </a:rPr>
              <a:t>Double circulation and the heart</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B5.1.5, B5.1.6   </a:t>
            </a:r>
            <a:r>
              <a:rPr lang="en-US" sz="1100" dirty="0">
                <a:solidFill>
                  <a:srgbClr val="262B3A"/>
                </a:solidFill>
                <a:latin typeface="Calibri" pitchFamily="34" charset="0"/>
                <a:ea typeface="Calibri" pitchFamily="34" charset="-122"/>
                <a:cs typeface="Calibri" pitchFamily="34" charset="-120"/>
              </a:rPr>
              <a:t>Arteries, veins, capillaries; red cells and plasma</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B5.1.3   </a:t>
            </a:r>
            <a:r>
              <a:rPr lang="en-US" sz="1100" dirty="0">
                <a:solidFill>
                  <a:srgbClr val="262B3A"/>
                </a:solidFill>
                <a:latin typeface="Calibri" pitchFamily="34" charset="0"/>
                <a:ea typeface="Calibri" pitchFamily="34" charset="-122"/>
                <a:cs typeface="Calibri" pitchFamily="34" charset="-120"/>
              </a:rPr>
              <a:t>Putting it together: journeys around the body</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B2 white blood cells • B3 diffusion, osmosis, active transport • B4.1 respiration • B4.3 stem cells</a:t>
            </a:r>
            <a:endParaRPr lang="en-US" sz="1050" dirty="0"/>
          </a:p>
        </p:txBody>
      </p:sp>
      <p:sp>
        <p:nvSpPr>
          <p:cNvPr id="42" name="Shape 40"/>
          <p:cNvSpPr/>
          <p:nvPr/>
        </p:nvSpPr>
        <p:spPr>
          <a:xfrm>
            <a:off x="6720840" y="1234440"/>
            <a:ext cx="5056632" cy="3017520"/>
          </a:xfrm>
          <a:prstGeom prst="roundRect">
            <a:avLst>
              <a:gd name="adj" fmla="val 1818"/>
            </a:avLst>
          </a:prstGeom>
          <a:solidFill>
            <a:srgbClr val="0F3D3E"/>
          </a:solidFill>
          <a:ln/>
        </p:spPr>
      </p:sp>
      <p:sp>
        <p:nvSpPr>
          <p:cNvPr id="43" name="Text 41"/>
          <p:cNvSpPr/>
          <p:nvPr/>
        </p:nvSpPr>
        <p:spPr>
          <a:xfrm>
            <a:off x="6903720" y="1325880"/>
            <a:ext cx="4709160" cy="283464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B5 in J260</a:t>
            </a:r>
            <a:endParaRPr lang="en-US" sz="1500" dirty="0"/>
          </a:p>
          <a:p>
            <a:pPr marL="152400" indent="-152400">
              <a:spcAft>
                <a:spcPts val="300"/>
              </a:spcAft>
              <a:buSzPct val="100000"/>
              <a:buChar char="▪"/>
            </a:pPr>
            <a:r>
              <a:rPr lang="en-US" sz="1100" b="1" dirty="0">
                <a:solidFill>
                  <a:srgbClr val="E3F2F0"/>
                </a:solidFill>
                <a:latin typeface="Calibri" pitchFamily="34" charset="0"/>
                <a:ea typeface="Calibri" pitchFamily="34" charset="-122"/>
                <a:cs typeface="Calibri" pitchFamily="34" charset="-120"/>
              </a:rPr>
              <a:t>B5.1 How do substances get into, out of and around our bodies?</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B5.2 How does the nervous system help us respond to changes?</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B5.3 How do hormones control responses in the human body?</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B5.4 Why do we need to maintain a constant internal environment?</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B5.5 What role do hormones play in human reproduction?</a:t>
            </a:r>
            <a:endParaRPr lang="en-US" sz="1500" dirty="0"/>
          </a:p>
          <a:p>
            <a:pPr marL="152400" indent="-152400">
              <a:spcAft>
                <a:spcPts val="300"/>
              </a:spcAft>
              <a:buSzPct val="100000"/>
              <a:buChar char="▪"/>
            </a:pPr>
            <a:r>
              <a:rPr lang="en-US" sz="1100" dirty="0">
                <a:solidFill>
                  <a:srgbClr val="E3F2F0"/>
                </a:solidFill>
                <a:latin typeface="Calibri" pitchFamily="34" charset="0"/>
                <a:ea typeface="Calibri" pitchFamily="34" charset="-122"/>
                <a:cs typeface="Calibri" pitchFamily="34" charset="-120"/>
              </a:rPr>
              <a:t>B5.6 What can happen when organs and control systems stop working?</a:t>
            </a:r>
            <a:endParaRPr lang="en-US" sz="1500" dirty="0"/>
          </a:p>
        </p:txBody>
      </p:sp>
      <p:sp>
        <p:nvSpPr>
          <p:cNvPr id="44" name="Shape 42"/>
          <p:cNvSpPr/>
          <p:nvPr/>
        </p:nvSpPr>
        <p:spPr>
          <a:xfrm>
            <a:off x="6720840" y="4389120"/>
            <a:ext cx="5056632" cy="1874520"/>
          </a:xfrm>
          <a:prstGeom prst="roundRect">
            <a:avLst>
              <a:gd name="adj" fmla="val 2927"/>
            </a:avLst>
          </a:prstGeom>
          <a:solidFill>
            <a:srgbClr val="FFF4E0"/>
          </a:solidFill>
          <a:ln w="12700">
            <a:solidFill>
              <a:srgbClr val="F1D9A8"/>
            </a:solidFill>
            <a:prstDash val="solid"/>
          </a:ln>
        </p:spPr>
      </p:sp>
      <p:sp>
        <p:nvSpPr>
          <p:cNvPr id="45" name="Text 43"/>
          <p:cNvSpPr/>
          <p:nvPr/>
        </p:nvSpPr>
        <p:spPr>
          <a:xfrm>
            <a:off x="6903720" y="4480560"/>
            <a:ext cx="4709160" cy="169164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slide is for both tiers: no B5.1 statement was found to be Higher only.</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Maths: </a:t>
            </a:r>
            <a:r>
              <a:rPr lang="en-US" sz="1150" b="1" dirty="0">
                <a:solidFill>
                  <a:srgbClr val="262B3A"/>
                </a:solidFill>
                <a:latin typeface="Calibri" pitchFamily="34" charset="0"/>
                <a:ea typeface="Calibri" pitchFamily="34" charset="-122"/>
                <a:cs typeface="Calibri" pitchFamily="34" charset="-120"/>
              </a:rPr>
              <a:t>SA:V ratios</a:t>
            </a:r>
            <a:r>
              <a:rPr lang="en-US" sz="1150" dirty="0">
                <a:solidFill>
                  <a:srgbClr val="262B3A"/>
                </a:solidFill>
                <a:latin typeface="Calibri" pitchFamily="34" charset="0"/>
                <a:ea typeface="Calibri" pitchFamily="34" charset="-122"/>
                <a:cs typeface="Calibri" pitchFamily="34" charset="-120"/>
              </a:rPr>
              <a:t>, means, unit conversions and a graph.</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Diagrams of the heart show the person's </a:t>
            </a:r>
            <a:r>
              <a:rPr lang="en-US" sz="1150" b="1" dirty="0">
                <a:solidFill>
                  <a:srgbClr val="262B3A"/>
                </a:solidFill>
                <a:latin typeface="Calibri" pitchFamily="34" charset="0"/>
                <a:ea typeface="Calibri" pitchFamily="34" charset="-122"/>
                <a:cs typeface="Calibri" pitchFamily="34" charset="-120"/>
              </a:rPr>
              <a:t>right</a:t>
            </a:r>
            <a:r>
              <a:rPr lang="en-US" sz="1150" dirty="0">
                <a:solidFill>
                  <a:srgbClr val="262B3A"/>
                </a:solidFill>
                <a:latin typeface="Calibri" pitchFamily="34" charset="0"/>
                <a:ea typeface="Calibri" pitchFamily="34" charset="-122"/>
                <a:cs typeface="Calibri" pitchFamily="34" charset="-120"/>
              </a:rPr>
              <a:t> side on </a:t>
            </a:r>
            <a:r>
              <a:rPr lang="en-US" sz="1150" b="1" dirty="0">
                <a:solidFill>
                  <a:srgbClr val="262B3A"/>
                </a:solidFill>
                <a:latin typeface="Calibri" pitchFamily="34" charset="0"/>
                <a:ea typeface="Calibri" pitchFamily="34" charset="-122"/>
                <a:cs typeface="Calibri" pitchFamily="34" charset="-120"/>
              </a:rPr>
              <a:t>your left</a:t>
            </a:r>
            <a:r>
              <a:rPr lang="en-US" sz="115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B2, B3, B4.1, B4.2, B4.3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diffusion</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diffusion</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way to make diffusion faster.</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word equation</a:t>
            </a:r>
            <a:r>
              <a:rPr lang="en-US" sz="1250" dirty="0">
                <a:solidFill>
                  <a:srgbClr val="262B3A"/>
                </a:solidFill>
                <a:latin typeface="Calibri" pitchFamily="34" charset="0"/>
                <a:ea typeface="Calibri" pitchFamily="34" charset="-122"/>
                <a:cs typeface="Calibri" pitchFamily="34" charset="-120"/>
              </a:rPr>
              <a:t> for aerobic respiration.</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B4.2 • cell structures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organelle where aerobic respiration happens. Which cell part controls what enters and leaves?</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B4.3 • stem cells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Adult stem cells in </a:t>
            </a:r>
            <a:r>
              <a:rPr lang="en-US" sz="1250" b="1" dirty="0">
                <a:solidFill>
                  <a:srgbClr val="262B3A"/>
                </a:solidFill>
                <a:latin typeface="Calibri" pitchFamily="34" charset="0"/>
                <a:ea typeface="Calibri" pitchFamily="34" charset="-122"/>
                <a:cs typeface="Calibri" pitchFamily="34" charset="-120"/>
              </a:rPr>
              <a:t>bone marrow</a:t>
            </a:r>
            <a:r>
              <a:rPr lang="en-US" sz="1250" dirty="0">
                <a:solidFill>
                  <a:srgbClr val="262B3A"/>
                </a:solidFill>
                <a:latin typeface="Calibri" pitchFamily="34" charset="0"/>
                <a:ea typeface="Calibri" pitchFamily="34" charset="-122"/>
                <a:cs typeface="Calibri" pitchFamily="34" charset="-120"/>
              </a:rPr>
              <a:t> make three types of cell. Name them.</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B2 • keeping healthy</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way that white blood cells protect the body from pathogens.</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breathing</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tube that carries air from the mouth towards the lungs. Which gas do we need to take in?</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What goes in and out of the body?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B5.1.1 • substances organisms must take in or get rid of, and why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simplified human: where each substance enters (green) or leaves (red)</a:t>
            </a:r>
            <a:endParaRPr lang="en-US" sz="1000" dirty="0"/>
          </a:p>
        </p:txBody>
      </p:sp>
      <p:sp>
        <p:nvSpPr>
          <p:cNvPr id="10" name="Shape 8"/>
          <p:cNvSpPr/>
          <p:nvPr/>
        </p:nvSpPr>
        <p:spPr>
          <a:xfrm>
            <a:off x="1956816" y="1362456"/>
            <a:ext cx="658368" cy="658368"/>
          </a:xfrm>
          <a:prstGeom prst="ellipse">
            <a:avLst/>
          </a:prstGeom>
          <a:solidFill>
            <a:srgbClr val="F6E3D3"/>
          </a:solidFill>
          <a:ln w="15875">
            <a:solidFill>
              <a:srgbClr val="B07A50"/>
            </a:solidFill>
            <a:prstDash val="solid"/>
          </a:ln>
        </p:spPr>
      </p:sp>
      <p:sp>
        <p:nvSpPr>
          <p:cNvPr id="11" name="Shape 9"/>
          <p:cNvSpPr/>
          <p:nvPr/>
        </p:nvSpPr>
        <p:spPr>
          <a:xfrm>
            <a:off x="1691640" y="2103120"/>
            <a:ext cx="1188720" cy="2194560"/>
          </a:xfrm>
          <a:prstGeom prst="roundRect">
            <a:avLst>
              <a:gd name="adj" fmla="val 26923"/>
            </a:avLst>
          </a:prstGeom>
          <a:solidFill>
            <a:srgbClr val="F6E3D3"/>
          </a:solidFill>
          <a:ln w="15875">
            <a:solidFill>
              <a:srgbClr val="B07A50"/>
            </a:solidFill>
            <a:prstDash val="solid"/>
          </a:ln>
        </p:spPr>
      </p:sp>
      <p:sp>
        <p:nvSpPr>
          <p:cNvPr id="12" name="Shape 10"/>
          <p:cNvSpPr/>
          <p:nvPr/>
        </p:nvSpPr>
        <p:spPr>
          <a:xfrm>
            <a:off x="1783080" y="4206240"/>
            <a:ext cx="438912" cy="1051560"/>
          </a:xfrm>
          <a:prstGeom prst="roundRect">
            <a:avLst>
              <a:gd name="adj" fmla="val 41667"/>
            </a:avLst>
          </a:prstGeom>
          <a:solidFill>
            <a:srgbClr val="F6E3D3"/>
          </a:solidFill>
          <a:ln w="15875">
            <a:solidFill>
              <a:srgbClr val="B07A50"/>
            </a:solidFill>
            <a:prstDash val="solid"/>
          </a:ln>
        </p:spPr>
      </p:sp>
      <p:sp>
        <p:nvSpPr>
          <p:cNvPr id="13" name="Shape 11"/>
          <p:cNvSpPr/>
          <p:nvPr/>
        </p:nvSpPr>
        <p:spPr>
          <a:xfrm>
            <a:off x="2350008" y="4206240"/>
            <a:ext cx="438912" cy="1051560"/>
          </a:xfrm>
          <a:prstGeom prst="roundRect">
            <a:avLst>
              <a:gd name="adj" fmla="val 41667"/>
            </a:avLst>
          </a:prstGeom>
          <a:solidFill>
            <a:srgbClr val="F6E3D3"/>
          </a:solidFill>
          <a:ln w="15875">
            <a:solidFill>
              <a:srgbClr val="B07A50"/>
            </a:solidFill>
            <a:prstDash val="solid"/>
          </a:ln>
        </p:spPr>
      </p:sp>
      <p:sp>
        <p:nvSpPr>
          <p:cNvPr id="14" name="Shape 12"/>
          <p:cNvSpPr/>
          <p:nvPr/>
        </p:nvSpPr>
        <p:spPr>
          <a:xfrm>
            <a:off x="1837944" y="2286000"/>
            <a:ext cx="384048" cy="640080"/>
          </a:xfrm>
          <a:prstGeom prst="ellipse">
            <a:avLst/>
          </a:prstGeom>
          <a:solidFill>
            <a:srgbClr val="F4B6B6"/>
          </a:solidFill>
          <a:ln w="12700">
            <a:solidFill>
              <a:srgbClr val="8E2A33"/>
            </a:solidFill>
            <a:prstDash val="solid"/>
          </a:ln>
        </p:spPr>
      </p:sp>
      <p:sp>
        <p:nvSpPr>
          <p:cNvPr id="15" name="Shape 13"/>
          <p:cNvSpPr/>
          <p:nvPr/>
        </p:nvSpPr>
        <p:spPr>
          <a:xfrm>
            <a:off x="2350008" y="2286000"/>
            <a:ext cx="384048" cy="640080"/>
          </a:xfrm>
          <a:prstGeom prst="ellipse">
            <a:avLst/>
          </a:prstGeom>
          <a:solidFill>
            <a:srgbClr val="F4B6B6"/>
          </a:solidFill>
          <a:ln w="12700">
            <a:solidFill>
              <a:srgbClr val="8E2A33"/>
            </a:solidFill>
            <a:prstDash val="solid"/>
          </a:ln>
        </p:spPr>
      </p:sp>
      <p:sp>
        <p:nvSpPr>
          <p:cNvPr id="16" name="Shape 14"/>
          <p:cNvSpPr/>
          <p:nvPr/>
        </p:nvSpPr>
        <p:spPr>
          <a:xfrm>
            <a:off x="2286000" y="1965960"/>
            <a:ext cx="91" cy="411480"/>
          </a:xfrm>
          <a:prstGeom prst="line">
            <a:avLst/>
          </a:prstGeom>
          <a:noFill/>
          <a:ln w="38100">
            <a:solidFill>
              <a:srgbClr val="8C96A8"/>
            </a:solidFill>
            <a:prstDash val="solid"/>
          </a:ln>
        </p:spPr>
      </p:sp>
      <p:sp>
        <p:nvSpPr>
          <p:cNvPr id="17" name="Shape 15"/>
          <p:cNvSpPr/>
          <p:nvPr/>
        </p:nvSpPr>
        <p:spPr>
          <a:xfrm>
            <a:off x="1920240" y="3246120"/>
            <a:ext cx="731520" cy="502920"/>
          </a:xfrm>
          <a:prstGeom prst="roundRect">
            <a:avLst>
              <a:gd name="adj" fmla="val 36364"/>
            </a:avLst>
          </a:prstGeom>
          <a:solidFill>
            <a:srgbClr val="F2D29B"/>
          </a:solidFill>
          <a:ln w="12700">
            <a:solidFill>
              <a:srgbClr val="B8730A"/>
            </a:solidFill>
            <a:prstDash val="solid"/>
          </a:ln>
        </p:spPr>
      </p:sp>
      <p:sp>
        <p:nvSpPr>
          <p:cNvPr id="18" name="Shape 16"/>
          <p:cNvSpPr/>
          <p:nvPr/>
        </p:nvSpPr>
        <p:spPr>
          <a:xfrm>
            <a:off x="1847088" y="3794760"/>
            <a:ext cx="182880" cy="274320"/>
          </a:xfrm>
          <a:prstGeom prst="ellipse">
            <a:avLst/>
          </a:prstGeom>
          <a:solidFill>
            <a:srgbClr val="B5651D"/>
          </a:solidFill>
          <a:ln w="12700">
            <a:solidFill>
              <a:srgbClr val="7A3E10"/>
            </a:solidFill>
            <a:prstDash val="solid"/>
          </a:ln>
        </p:spPr>
      </p:sp>
      <p:sp>
        <p:nvSpPr>
          <p:cNvPr id="19" name="Shape 17"/>
          <p:cNvSpPr/>
          <p:nvPr/>
        </p:nvSpPr>
        <p:spPr>
          <a:xfrm>
            <a:off x="2542032" y="3794760"/>
            <a:ext cx="182880" cy="274320"/>
          </a:xfrm>
          <a:prstGeom prst="ellipse">
            <a:avLst/>
          </a:prstGeom>
          <a:solidFill>
            <a:srgbClr val="B5651D"/>
          </a:solidFill>
          <a:ln w="12700">
            <a:solidFill>
              <a:srgbClr val="7A3E10"/>
            </a:solidFill>
            <a:prstDash val="solid"/>
          </a:ln>
        </p:spPr>
      </p:sp>
      <p:sp>
        <p:nvSpPr>
          <p:cNvPr id="20" name="Text 18"/>
          <p:cNvSpPr/>
          <p:nvPr/>
        </p:nvSpPr>
        <p:spPr>
          <a:xfrm>
            <a:off x="1783080" y="2971800"/>
            <a:ext cx="10058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lungs</a:t>
            </a:r>
            <a:endParaRPr lang="en-US" sz="1000" dirty="0"/>
          </a:p>
        </p:txBody>
      </p:sp>
      <p:sp>
        <p:nvSpPr>
          <p:cNvPr id="21" name="Text 19"/>
          <p:cNvSpPr/>
          <p:nvPr/>
        </p:nvSpPr>
        <p:spPr>
          <a:xfrm>
            <a:off x="1920240" y="3246120"/>
            <a:ext cx="731520" cy="5029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gut</a:t>
            </a:r>
            <a:endParaRPr lang="en-US" sz="1000" dirty="0"/>
          </a:p>
        </p:txBody>
      </p:sp>
      <p:sp>
        <p:nvSpPr>
          <p:cNvPr id="22" name="Text 20"/>
          <p:cNvSpPr/>
          <p:nvPr/>
        </p:nvSpPr>
        <p:spPr>
          <a:xfrm>
            <a:off x="1828800" y="4087368"/>
            <a:ext cx="91440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kidneys</a:t>
            </a:r>
            <a:endParaRPr lang="en-US" sz="1000" dirty="0"/>
          </a:p>
        </p:txBody>
      </p:sp>
      <p:sp>
        <p:nvSpPr>
          <p:cNvPr id="23" name="Shape 21"/>
          <p:cNvSpPr/>
          <p:nvPr/>
        </p:nvSpPr>
        <p:spPr>
          <a:xfrm>
            <a:off x="1188720" y="1828800"/>
            <a:ext cx="868680" cy="685800"/>
          </a:xfrm>
          <a:prstGeom prst="line">
            <a:avLst/>
          </a:prstGeom>
          <a:noFill/>
          <a:ln w="25400">
            <a:solidFill>
              <a:srgbClr val="2E8B57"/>
            </a:solidFill>
            <a:prstDash val="solid"/>
            <a:tailEnd type="triangle"/>
          </a:ln>
        </p:spPr>
      </p:sp>
      <p:sp>
        <p:nvSpPr>
          <p:cNvPr id="24" name="Text 22"/>
          <p:cNvSpPr/>
          <p:nvPr/>
        </p:nvSpPr>
        <p:spPr>
          <a:xfrm>
            <a:off x="475488" y="1600200"/>
            <a:ext cx="694944" cy="45720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oxygen</a:t>
            </a:r>
            <a:endParaRPr lang="en-US" sz="1000" dirty="0"/>
          </a:p>
        </p:txBody>
      </p:sp>
      <p:sp>
        <p:nvSpPr>
          <p:cNvPr id="25" name="Shape 23"/>
          <p:cNvSpPr/>
          <p:nvPr/>
        </p:nvSpPr>
        <p:spPr>
          <a:xfrm>
            <a:off x="1188720" y="2788920"/>
            <a:ext cx="731520" cy="548640"/>
          </a:xfrm>
          <a:prstGeom prst="line">
            <a:avLst/>
          </a:prstGeom>
          <a:noFill/>
          <a:ln w="25400">
            <a:solidFill>
              <a:srgbClr val="2E8B57"/>
            </a:solidFill>
            <a:prstDash val="solid"/>
            <a:tailEnd type="triangle"/>
          </a:ln>
        </p:spPr>
      </p:sp>
      <p:sp>
        <p:nvSpPr>
          <p:cNvPr id="26" name="Text 24"/>
          <p:cNvSpPr/>
          <p:nvPr/>
        </p:nvSpPr>
        <p:spPr>
          <a:xfrm>
            <a:off x="475488" y="2560320"/>
            <a:ext cx="694944" cy="45720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water</a:t>
            </a:r>
            <a:endParaRPr lang="en-US" sz="1000" dirty="0"/>
          </a:p>
        </p:txBody>
      </p:sp>
      <p:sp>
        <p:nvSpPr>
          <p:cNvPr id="27" name="Shape 25"/>
          <p:cNvSpPr/>
          <p:nvPr/>
        </p:nvSpPr>
        <p:spPr>
          <a:xfrm>
            <a:off x="1188720" y="3246120"/>
            <a:ext cx="731520" cy="246888"/>
          </a:xfrm>
          <a:prstGeom prst="line">
            <a:avLst/>
          </a:prstGeom>
          <a:noFill/>
          <a:ln w="25400">
            <a:solidFill>
              <a:srgbClr val="2E8B57"/>
            </a:solidFill>
            <a:prstDash val="solid"/>
            <a:tailEnd type="triangle"/>
          </a:ln>
        </p:spPr>
      </p:sp>
      <p:sp>
        <p:nvSpPr>
          <p:cNvPr id="28" name="Text 26"/>
          <p:cNvSpPr/>
          <p:nvPr/>
        </p:nvSpPr>
        <p:spPr>
          <a:xfrm>
            <a:off x="475488" y="3017520"/>
            <a:ext cx="694944" cy="45720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dissolved food molecules</a:t>
            </a:r>
            <a:endParaRPr lang="en-US" sz="1000" dirty="0"/>
          </a:p>
        </p:txBody>
      </p:sp>
      <p:sp>
        <p:nvSpPr>
          <p:cNvPr id="29" name="Shape 27"/>
          <p:cNvSpPr/>
          <p:nvPr/>
        </p:nvSpPr>
        <p:spPr>
          <a:xfrm flipV="1">
            <a:off x="1188720" y="3639312"/>
            <a:ext cx="731520" cy="155448"/>
          </a:xfrm>
          <a:prstGeom prst="line">
            <a:avLst/>
          </a:prstGeom>
          <a:noFill/>
          <a:ln w="25400">
            <a:solidFill>
              <a:srgbClr val="2E8B57"/>
            </a:solidFill>
            <a:prstDash val="solid"/>
            <a:tailEnd type="triangle"/>
          </a:ln>
        </p:spPr>
      </p:sp>
      <p:sp>
        <p:nvSpPr>
          <p:cNvPr id="30" name="Text 28"/>
          <p:cNvSpPr/>
          <p:nvPr/>
        </p:nvSpPr>
        <p:spPr>
          <a:xfrm>
            <a:off x="475488" y="3566160"/>
            <a:ext cx="694944" cy="45720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mineral ions</a:t>
            </a:r>
            <a:endParaRPr lang="en-US" sz="1000" dirty="0"/>
          </a:p>
        </p:txBody>
      </p:sp>
      <p:sp>
        <p:nvSpPr>
          <p:cNvPr id="31" name="Shape 29"/>
          <p:cNvSpPr/>
          <p:nvPr/>
        </p:nvSpPr>
        <p:spPr>
          <a:xfrm flipV="1">
            <a:off x="2743200" y="1828800"/>
            <a:ext cx="502920" cy="685800"/>
          </a:xfrm>
          <a:prstGeom prst="line">
            <a:avLst/>
          </a:prstGeom>
          <a:noFill/>
          <a:ln w="25400">
            <a:solidFill>
              <a:srgbClr val="C8414C"/>
            </a:solidFill>
            <a:prstDash val="solid"/>
            <a:tailEnd type="triangle"/>
          </a:ln>
        </p:spPr>
      </p:sp>
      <p:sp>
        <p:nvSpPr>
          <p:cNvPr id="32" name="Text 30"/>
          <p:cNvSpPr/>
          <p:nvPr/>
        </p:nvSpPr>
        <p:spPr>
          <a:xfrm>
            <a:off x="3291840" y="1700784"/>
            <a:ext cx="114300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carbon dioxide</a:t>
            </a:r>
            <a:endParaRPr lang="en-US" sz="1000" dirty="0"/>
          </a:p>
        </p:txBody>
      </p:sp>
      <p:sp>
        <p:nvSpPr>
          <p:cNvPr id="33" name="Shape 31"/>
          <p:cNvSpPr/>
          <p:nvPr/>
        </p:nvSpPr>
        <p:spPr>
          <a:xfrm flipV="1">
            <a:off x="2743200" y="2331720"/>
            <a:ext cx="502920" cy="457200"/>
          </a:xfrm>
          <a:prstGeom prst="line">
            <a:avLst/>
          </a:prstGeom>
          <a:noFill/>
          <a:ln w="25400">
            <a:solidFill>
              <a:srgbClr val="C8414C"/>
            </a:solidFill>
            <a:prstDash val="solid"/>
            <a:tailEnd type="triangle"/>
          </a:ln>
        </p:spPr>
      </p:sp>
      <p:sp>
        <p:nvSpPr>
          <p:cNvPr id="34" name="Text 32"/>
          <p:cNvSpPr/>
          <p:nvPr/>
        </p:nvSpPr>
        <p:spPr>
          <a:xfrm>
            <a:off x="3291840" y="2203704"/>
            <a:ext cx="114300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water (breath)</a:t>
            </a:r>
            <a:endParaRPr lang="en-US" sz="1000" dirty="0"/>
          </a:p>
        </p:txBody>
      </p:sp>
      <p:sp>
        <p:nvSpPr>
          <p:cNvPr id="35" name="Shape 33"/>
          <p:cNvSpPr/>
          <p:nvPr/>
        </p:nvSpPr>
        <p:spPr>
          <a:xfrm>
            <a:off x="2743200" y="3931920"/>
            <a:ext cx="502920" cy="228600"/>
          </a:xfrm>
          <a:prstGeom prst="line">
            <a:avLst/>
          </a:prstGeom>
          <a:noFill/>
          <a:ln w="25400">
            <a:solidFill>
              <a:srgbClr val="C8414C"/>
            </a:solidFill>
            <a:prstDash val="solid"/>
            <a:tailEnd type="triangle"/>
          </a:ln>
        </p:spPr>
      </p:sp>
      <p:sp>
        <p:nvSpPr>
          <p:cNvPr id="36" name="Text 34"/>
          <p:cNvSpPr/>
          <p:nvPr/>
        </p:nvSpPr>
        <p:spPr>
          <a:xfrm>
            <a:off x="3291840" y="4032504"/>
            <a:ext cx="114300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urea (in urine)</a:t>
            </a:r>
            <a:endParaRPr lang="en-US" sz="1000" dirty="0"/>
          </a:p>
        </p:txBody>
      </p:sp>
      <p:sp>
        <p:nvSpPr>
          <p:cNvPr id="37" name="Shape 35"/>
          <p:cNvSpPr/>
          <p:nvPr/>
        </p:nvSpPr>
        <p:spPr>
          <a:xfrm>
            <a:off x="2743200" y="3611880"/>
            <a:ext cx="502920" cy="960120"/>
          </a:xfrm>
          <a:prstGeom prst="line">
            <a:avLst/>
          </a:prstGeom>
          <a:noFill/>
          <a:ln w="25400">
            <a:solidFill>
              <a:srgbClr val="C8414C"/>
            </a:solidFill>
            <a:prstDash val="solid"/>
            <a:tailEnd type="triangle"/>
          </a:ln>
        </p:spPr>
      </p:sp>
      <p:sp>
        <p:nvSpPr>
          <p:cNvPr id="38" name="Text 36"/>
          <p:cNvSpPr/>
          <p:nvPr/>
        </p:nvSpPr>
        <p:spPr>
          <a:xfrm>
            <a:off x="3291840" y="4443984"/>
            <a:ext cx="114300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water (urine, sweat)</a:t>
            </a:r>
            <a:endParaRPr lang="en-US" sz="1000" dirty="0"/>
          </a:p>
        </p:txBody>
      </p:sp>
      <p:sp>
        <p:nvSpPr>
          <p:cNvPr id="39" name="Shape 37"/>
          <p:cNvSpPr/>
          <p:nvPr/>
        </p:nvSpPr>
        <p:spPr>
          <a:xfrm>
            <a:off x="4434840" y="1325880"/>
            <a:ext cx="1417320" cy="2103120"/>
          </a:xfrm>
          <a:prstGeom prst="roundRect">
            <a:avLst>
              <a:gd name="adj" fmla="val 3226"/>
            </a:avLst>
          </a:prstGeom>
          <a:solidFill>
            <a:srgbClr val="FFFFFF"/>
          </a:solidFill>
          <a:ln w="12700">
            <a:solidFill>
              <a:srgbClr val="CFE0DE"/>
            </a:solidFill>
            <a:prstDash val="solid"/>
          </a:ln>
        </p:spPr>
      </p:sp>
      <p:sp>
        <p:nvSpPr>
          <p:cNvPr id="40" name="Text 38"/>
          <p:cNvSpPr/>
          <p:nvPr/>
        </p:nvSpPr>
        <p:spPr>
          <a:xfrm>
            <a:off x="4480560" y="1353312"/>
            <a:ext cx="1325880" cy="237744"/>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Other organisms</a:t>
            </a:r>
            <a:endParaRPr lang="en-US" sz="1050" dirty="0"/>
          </a:p>
        </p:txBody>
      </p:sp>
      <p:sp>
        <p:nvSpPr>
          <p:cNvPr id="41" name="Shape 39"/>
          <p:cNvSpPr/>
          <p:nvPr/>
        </p:nvSpPr>
        <p:spPr>
          <a:xfrm>
            <a:off x="4526280" y="1664208"/>
            <a:ext cx="457200" cy="329184"/>
          </a:xfrm>
          <a:prstGeom prst="ellipse">
            <a:avLst/>
          </a:prstGeom>
          <a:solidFill>
            <a:srgbClr val="E6F0F5"/>
          </a:solidFill>
          <a:ln w="12700">
            <a:solidFill>
              <a:srgbClr val="7FA9C4"/>
            </a:solidFill>
            <a:prstDash val="solid"/>
          </a:ln>
        </p:spPr>
      </p:sp>
      <p:sp>
        <p:nvSpPr>
          <p:cNvPr id="42" name="Shape 40"/>
          <p:cNvSpPr/>
          <p:nvPr/>
        </p:nvSpPr>
        <p:spPr>
          <a:xfrm>
            <a:off x="4690872" y="1764792"/>
            <a:ext cx="128016" cy="128016"/>
          </a:xfrm>
          <a:prstGeom prst="ellipse">
            <a:avLst/>
          </a:prstGeom>
          <a:solidFill>
            <a:srgbClr val="C9B6E4"/>
          </a:solidFill>
          <a:ln w="9525">
            <a:solidFill>
              <a:srgbClr val="6A4C93"/>
            </a:solidFill>
            <a:prstDash val="solid"/>
          </a:ln>
        </p:spPr>
      </p:sp>
      <p:sp>
        <p:nvSpPr>
          <p:cNvPr id="43" name="Text 41"/>
          <p:cNvSpPr/>
          <p:nvPr/>
        </p:nvSpPr>
        <p:spPr>
          <a:xfrm>
            <a:off x="4526280" y="2029968"/>
            <a:ext cx="1280160" cy="45720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single cell: all through its membrane</a:t>
            </a:r>
            <a:endParaRPr lang="en-US" sz="1000" dirty="0"/>
          </a:p>
        </p:txBody>
      </p:sp>
      <p:sp>
        <p:nvSpPr>
          <p:cNvPr id="44" name="Shape 42"/>
          <p:cNvSpPr/>
          <p:nvPr/>
        </p:nvSpPr>
        <p:spPr>
          <a:xfrm rot="-1200000">
            <a:off x="4526280" y="2569464"/>
            <a:ext cx="457200" cy="201168"/>
          </a:xfrm>
          <a:prstGeom prst="ellipse">
            <a:avLst/>
          </a:prstGeom>
          <a:solidFill>
            <a:srgbClr val="7DBE6A"/>
          </a:solidFill>
          <a:ln w="12700">
            <a:solidFill>
              <a:srgbClr val="3E7F2E"/>
            </a:solidFill>
            <a:prstDash val="solid"/>
          </a:ln>
        </p:spPr>
      </p:sp>
      <p:sp>
        <p:nvSpPr>
          <p:cNvPr id="45" name="Text 43"/>
          <p:cNvSpPr/>
          <p:nvPr/>
        </p:nvSpPr>
        <p:spPr>
          <a:xfrm>
            <a:off x="4526280" y="2816352"/>
            <a:ext cx="128016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plant: gases at leaves; water, ions at roots</a:t>
            </a:r>
            <a:endParaRPr lang="en-US" sz="1000" dirty="0"/>
          </a:p>
        </p:txBody>
      </p:sp>
      <p:sp>
        <p:nvSpPr>
          <p:cNvPr id="46" name="Shape 44"/>
          <p:cNvSpPr/>
          <p:nvPr/>
        </p:nvSpPr>
        <p:spPr>
          <a:xfrm>
            <a:off x="6217920" y="1188720"/>
            <a:ext cx="5562295" cy="2606040"/>
          </a:xfrm>
          <a:prstGeom prst="roundRect">
            <a:avLst>
              <a:gd name="adj" fmla="val 2105"/>
            </a:avLst>
          </a:prstGeom>
          <a:solidFill>
            <a:srgbClr val="F4FAF9"/>
          </a:solidFill>
          <a:ln w="9525">
            <a:solidFill>
              <a:srgbClr val="CFE0DE"/>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Substances that must be transported</a:t>
            </a:r>
            <a:endParaRPr lang="en-US" sz="1300" dirty="0"/>
          </a:p>
        </p:txBody>
      </p:sp>
      <p:sp>
        <p:nvSpPr>
          <p:cNvPr id="48" name="Text 46"/>
          <p:cNvSpPr/>
          <p:nvPr/>
        </p:nvSpPr>
        <p:spPr>
          <a:xfrm>
            <a:off x="6382512" y="1609344"/>
            <a:ext cx="5233111" cy="21122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in: for aerobic </a:t>
            </a:r>
            <a:r>
              <a:rPr lang="en-US" sz="1100" b="1" dirty="0">
                <a:solidFill>
                  <a:srgbClr val="262B3A"/>
                </a:solidFill>
                <a:latin typeface="Calibri" pitchFamily="34" charset="0"/>
                <a:ea typeface="Calibri" pitchFamily="34" charset="-122"/>
                <a:cs typeface="Calibri" pitchFamily="34" charset="-120"/>
              </a:rPr>
              <a:t>respiration</a:t>
            </a:r>
            <a:r>
              <a:rPr lang="en-US" sz="1100" dirty="0">
                <a:solidFill>
                  <a:srgbClr val="262B3A"/>
                </a:solidFill>
                <a:latin typeface="Calibri" pitchFamily="34" charset="0"/>
                <a:ea typeface="Calibri" pitchFamily="34" charset="-122"/>
                <a:cs typeface="Calibri" pitchFamily="34" charset="-120"/>
              </a:rPr>
              <a:t>, which releases energy.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Carbon dioxide</a:t>
            </a:r>
            <a:r>
              <a:rPr lang="en-US" sz="1100" dirty="0">
                <a:solidFill>
                  <a:srgbClr val="262B3A"/>
                </a:solidFill>
                <a:latin typeface="Calibri" pitchFamily="34" charset="0"/>
                <a:ea typeface="Calibri" pitchFamily="34" charset="-122"/>
                <a:cs typeface="Calibri" pitchFamily="34" charset="-120"/>
              </a:rPr>
              <a:t> out: a waste product of respiration.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in and out: cells are mostly water; keeps the balance.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Dissolved food molecules</a:t>
            </a:r>
            <a:r>
              <a:rPr lang="en-US" sz="1100" dirty="0">
                <a:solidFill>
                  <a:srgbClr val="262B3A"/>
                </a:solidFill>
                <a:latin typeface="Calibri" pitchFamily="34" charset="0"/>
                <a:ea typeface="Calibri" pitchFamily="34" charset="-122"/>
                <a:cs typeface="Calibri" pitchFamily="34" charset="-120"/>
              </a:rPr>
              <a:t> in (glucose, amino acids): for respiration and growth.</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Mineral ions</a:t>
            </a:r>
            <a:r>
              <a:rPr lang="en-US" sz="1100" dirty="0">
                <a:solidFill>
                  <a:srgbClr val="262B3A"/>
                </a:solidFill>
                <a:latin typeface="Calibri" pitchFamily="34" charset="0"/>
                <a:ea typeface="Calibri" pitchFamily="34" charset="-122"/>
                <a:cs typeface="Calibri" pitchFamily="34" charset="-120"/>
              </a:rPr>
              <a:t> in (e.g. iron for haemoglobin).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Urea</a:t>
            </a:r>
            <a:r>
              <a:rPr lang="en-US" sz="1100" dirty="0">
                <a:solidFill>
                  <a:srgbClr val="262B3A"/>
                </a:solidFill>
                <a:latin typeface="Calibri" pitchFamily="34" charset="0"/>
                <a:ea typeface="Calibri" pitchFamily="34" charset="-122"/>
                <a:cs typeface="Calibri" pitchFamily="34" charset="-120"/>
              </a:rPr>
              <a:t> out: a waste made in the liver from excess amino acids; removed by the kidneys.</a:t>
            </a:r>
            <a:endParaRPr lang="en-US" sz="1100" dirty="0"/>
          </a:p>
        </p:txBody>
      </p:sp>
      <p:sp>
        <p:nvSpPr>
          <p:cNvPr id="49" name="Shape 47"/>
          <p:cNvSpPr/>
          <p:nvPr/>
        </p:nvSpPr>
        <p:spPr>
          <a:xfrm>
            <a:off x="6217920" y="3931920"/>
            <a:ext cx="5562295" cy="1783080"/>
          </a:xfrm>
          <a:prstGeom prst="roundRect">
            <a:avLst>
              <a:gd name="adj" fmla="val 3077"/>
            </a:avLst>
          </a:prstGeom>
          <a:solidFill>
            <a:srgbClr val="FFF4E0"/>
          </a:solidFill>
          <a:ln w="9525">
            <a:solidFill>
              <a:srgbClr val="F1D9A8"/>
            </a:solidFill>
            <a:prstDash val="solid"/>
          </a:ln>
        </p:spPr>
      </p:sp>
      <p:sp>
        <p:nvSpPr>
          <p:cNvPr id="50" name="Text 48"/>
          <p:cNvSpPr/>
          <p:nvPr/>
        </p:nvSpPr>
        <p:spPr>
          <a:xfrm>
            <a:off x="6382512" y="40050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in or out?</a:t>
            </a:r>
            <a:endParaRPr lang="en-US" sz="1300" dirty="0"/>
          </a:p>
        </p:txBody>
      </p:sp>
      <p:sp>
        <p:nvSpPr>
          <p:cNvPr id="51" name="Text 49"/>
          <p:cNvSpPr/>
          <p:nvPr/>
        </p:nvSpPr>
        <p:spPr>
          <a:xfrm>
            <a:off x="6382512" y="4315968"/>
            <a:ext cx="5233111"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muscle cell is respiring. Which substances must reach it, and which must be removed?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Needs   </a:t>
            </a:r>
            <a:r>
              <a:rPr lang="en-US" sz="1050" dirty="0">
                <a:solidFill>
                  <a:srgbClr val="262B3A"/>
                </a:solidFill>
                <a:latin typeface="Calibri" pitchFamily="34" charset="0"/>
                <a:ea typeface="Calibri" pitchFamily="34" charset="-122"/>
                <a:cs typeface="Calibri" pitchFamily="34" charset="-120"/>
              </a:rPr>
              <a:t>glucose and oxygen for aerobic respiration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Makes   </a:t>
            </a:r>
            <a:r>
              <a:rPr lang="en-US" sz="1050" dirty="0">
                <a:solidFill>
                  <a:srgbClr val="262B3A"/>
                </a:solidFill>
                <a:latin typeface="Calibri" pitchFamily="34" charset="0"/>
                <a:ea typeface="Calibri" pitchFamily="34" charset="-122"/>
                <a:cs typeface="Calibri" pitchFamily="34" charset="-120"/>
              </a:rPr>
              <a:t>carbon dioxide and water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Removed   </a:t>
            </a:r>
            <a:r>
              <a:rPr lang="en-US" sz="1050" dirty="0">
                <a:solidFill>
                  <a:srgbClr val="262B3A"/>
                </a:solidFill>
                <a:latin typeface="Calibri" pitchFamily="34" charset="0"/>
                <a:ea typeface="Calibri" pitchFamily="34" charset="-122"/>
                <a:cs typeface="Calibri" pitchFamily="34" charset="-120"/>
              </a:rPr>
              <a:t>carbon dioxide must be taken away (it is toxic in excess)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in: glucose, oxygen • out: carbon dioxide</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waste</a:t>
            </a:r>
            <a:r>
              <a:rPr lang="en-US" sz="1150" dirty="0">
                <a:solidFill>
                  <a:srgbClr val="262B3A"/>
                </a:solidFill>
                <a:latin typeface="Calibri" pitchFamily="34" charset="0"/>
                <a:ea typeface="Calibri" pitchFamily="34" charset="-122"/>
                <a:cs typeface="Calibri" pitchFamily="34" charset="-120"/>
              </a:rPr>
              <a:t> substance made from excess amino acids. Which organ removes it from the blood?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Surface area to volume ratio</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 • as an organism gets bigger, its surface area : volume ratio gets smaller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B5.1.2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cubes drawn to the same scale (1 cm = 0.38 in)</a:t>
            </a:r>
            <a:endParaRPr lang="en-US" sz="1000" dirty="0"/>
          </a:p>
        </p:txBody>
      </p:sp>
      <p:sp>
        <p:nvSpPr>
          <p:cNvPr id="10" name="Shape 8"/>
          <p:cNvSpPr/>
          <p:nvPr/>
        </p:nvSpPr>
        <p:spPr>
          <a:xfrm>
            <a:off x="868680" y="2942539"/>
            <a:ext cx="486461" cy="138989"/>
          </a:xfrm>
          <a:custGeom>
            <a:avLst/>
            <a:gdLst/>
            <a:ahLst/>
            <a:cxnLst/>
            <a:rect l="l" t="t" r="r" b="b"/>
            <a:pathLst>
              <a:path w="486461" h="138989">
                <a:moveTo>
                  <a:pt x="0" y="138989"/>
                </a:moveTo>
                <a:lnTo>
                  <a:pt x="138989" y="0"/>
                </a:lnTo>
                <a:lnTo>
                  <a:pt x="486461" y="0"/>
                </a:lnTo>
                <a:lnTo>
                  <a:pt x="347472" y="138989"/>
                </a:lnTo>
                <a:close/>
              </a:path>
            </a:pathLst>
          </a:custGeom>
          <a:solidFill>
            <a:srgbClr val="F9D3DF"/>
          </a:solidFill>
          <a:ln w="12700">
            <a:solidFill>
              <a:srgbClr val="9E3B5E"/>
            </a:solidFill>
            <a:prstDash val="solid"/>
          </a:ln>
        </p:spPr>
      </p:sp>
      <p:sp>
        <p:nvSpPr>
          <p:cNvPr id="11" name="Shape 9"/>
          <p:cNvSpPr/>
          <p:nvPr/>
        </p:nvSpPr>
        <p:spPr>
          <a:xfrm>
            <a:off x="1216152" y="2942539"/>
            <a:ext cx="138989" cy="486461"/>
          </a:xfrm>
          <a:custGeom>
            <a:avLst/>
            <a:gdLst/>
            <a:ahLst/>
            <a:cxnLst/>
            <a:rect l="l" t="t" r="r" b="b"/>
            <a:pathLst>
              <a:path w="138989" h="486461">
                <a:moveTo>
                  <a:pt x="0" y="138989"/>
                </a:moveTo>
                <a:lnTo>
                  <a:pt x="138989" y="0"/>
                </a:lnTo>
                <a:lnTo>
                  <a:pt x="138989" y="347472"/>
                </a:lnTo>
                <a:lnTo>
                  <a:pt x="0" y="486461"/>
                </a:lnTo>
                <a:close/>
              </a:path>
            </a:pathLst>
          </a:custGeom>
          <a:solidFill>
            <a:srgbClr val="E58FAE"/>
          </a:solidFill>
          <a:ln w="12700">
            <a:solidFill>
              <a:srgbClr val="9E3B5E"/>
            </a:solidFill>
            <a:prstDash val="solid"/>
          </a:ln>
        </p:spPr>
      </p:sp>
      <p:sp>
        <p:nvSpPr>
          <p:cNvPr id="12" name="Shape 10"/>
          <p:cNvSpPr/>
          <p:nvPr/>
        </p:nvSpPr>
        <p:spPr>
          <a:xfrm>
            <a:off x="868680" y="3081528"/>
            <a:ext cx="347472" cy="347472"/>
          </a:xfrm>
          <a:prstGeom prst="rect">
            <a:avLst/>
          </a:prstGeom>
          <a:solidFill>
            <a:srgbClr val="F4B6C8"/>
          </a:solidFill>
          <a:ln w="12700">
            <a:solidFill>
              <a:srgbClr val="9E3B5E"/>
            </a:solidFill>
            <a:prstDash val="solid"/>
          </a:ln>
        </p:spPr>
      </p:sp>
      <p:sp>
        <p:nvSpPr>
          <p:cNvPr id="13" name="Text 11"/>
          <p:cNvSpPr/>
          <p:nvPr/>
        </p:nvSpPr>
        <p:spPr>
          <a:xfrm>
            <a:off x="594360" y="3483864"/>
            <a:ext cx="1035101"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side 1 cm</a:t>
            </a:r>
            <a:endParaRPr lang="en-US" sz="1050" dirty="0"/>
          </a:p>
        </p:txBody>
      </p:sp>
      <p:sp>
        <p:nvSpPr>
          <p:cNvPr id="14" name="Shape 12"/>
          <p:cNvSpPr/>
          <p:nvPr/>
        </p:nvSpPr>
        <p:spPr>
          <a:xfrm>
            <a:off x="1874520" y="2456078"/>
            <a:ext cx="972922" cy="277978"/>
          </a:xfrm>
          <a:custGeom>
            <a:avLst/>
            <a:gdLst/>
            <a:ahLst/>
            <a:cxnLst/>
            <a:rect l="l" t="t" r="r" b="b"/>
            <a:pathLst>
              <a:path w="972922" h="277978">
                <a:moveTo>
                  <a:pt x="0" y="277978"/>
                </a:moveTo>
                <a:lnTo>
                  <a:pt x="277978" y="0"/>
                </a:lnTo>
                <a:lnTo>
                  <a:pt x="972922" y="0"/>
                </a:lnTo>
                <a:lnTo>
                  <a:pt x="694944" y="277978"/>
                </a:lnTo>
                <a:close/>
              </a:path>
            </a:pathLst>
          </a:custGeom>
          <a:solidFill>
            <a:srgbClr val="F9D3DF"/>
          </a:solidFill>
          <a:ln w="12700">
            <a:solidFill>
              <a:srgbClr val="9E3B5E"/>
            </a:solidFill>
            <a:prstDash val="solid"/>
          </a:ln>
        </p:spPr>
      </p:sp>
      <p:sp>
        <p:nvSpPr>
          <p:cNvPr id="15" name="Shape 13"/>
          <p:cNvSpPr/>
          <p:nvPr/>
        </p:nvSpPr>
        <p:spPr>
          <a:xfrm>
            <a:off x="2569464" y="2456078"/>
            <a:ext cx="277978" cy="972922"/>
          </a:xfrm>
          <a:custGeom>
            <a:avLst/>
            <a:gdLst/>
            <a:ahLst/>
            <a:cxnLst/>
            <a:rect l="l" t="t" r="r" b="b"/>
            <a:pathLst>
              <a:path w="277978" h="972922">
                <a:moveTo>
                  <a:pt x="0" y="277978"/>
                </a:moveTo>
                <a:lnTo>
                  <a:pt x="277978" y="0"/>
                </a:lnTo>
                <a:lnTo>
                  <a:pt x="277978" y="694944"/>
                </a:lnTo>
                <a:lnTo>
                  <a:pt x="0" y="972922"/>
                </a:lnTo>
                <a:close/>
              </a:path>
            </a:pathLst>
          </a:custGeom>
          <a:solidFill>
            <a:srgbClr val="E58FAE"/>
          </a:solidFill>
          <a:ln w="12700">
            <a:solidFill>
              <a:srgbClr val="9E3B5E"/>
            </a:solidFill>
            <a:prstDash val="solid"/>
          </a:ln>
        </p:spPr>
      </p:sp>
      <p:sp>
        <p:nvSpPr>
          <p:cNvPr id="16" name="Shape 14"/>
          <p:cNvSpPr/>
          <p:nvPr/>
        </p:nvSpPr>
        <p:spPr>
          <a:xfrm>
            <a:off x="1874520" y="2734056"/>
            <a:ext cx="694944" cy="694944"/>
          </a:xfrm>
          <a:prstGeom prst="rect">
            <a:avLst/>
          </a:prstGeom>
          <a:solidFill>
            <a:srgbClr val="F4B6C8"/>
          </a:solidFill>
          <a:ln w="12700">
            <a:solidFill>
              <a:srgbClr val="9E3B5E"/>
            </a:solidFill>
            <a:prstDash val="solid"/>
          </a:ln>
        </p:spPr>
      </p:sp>
      <p:sp>
        <p:nvSpPr>
          <p:cNvPr id="17" name="Text 15"/>
          <p:cNvSpPr/>
          <p:nvPr/>
        </p:nvSpPr>
        <p:spPr>
          <a:xfrm>
            <a:off x="1600200" y="3483864"/>
            <a:ext cx="1521562"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side 2 cm</a:t>
            </a:r>
            <a:endParaRPr lang="en-US" sz="1050" dirty="0"/>
          </a:p>
        </p:txBody>
      </p:sp>
      <p:sp>
        <p:nvSpPr>
          <p:cNvPr id="18" name="Shape 16"/>
          <p:cNvSpPr/>
          <p:nvPr/>
        </p:nvSpPr>
        <p:spPr>
          <a:xfrm>
            <a:off x="3337560" y="1483157"/>
            <a:ext cx="1945843" cy="555955"/>
          </a:xfrm>
          <a:custGeom>
            <a:avLst/>
            <a:gdLst/>
            <a:ahLst/>
            <a:cxnLst/>
            <a:rect l="l" t="t" r="r" b="b"/>
            <a:pathLst>
              <a:path w="1945843" h="555955">
                <a:moveTo>
                  <a:pt x="0" y="555955"/>
                </a:moveTo>
                <a:lnTo>
                  <a:pt x="555955" y="0"/>
                </a:lnTo>
                <a:lnTo>
                  <a:pt x="1945843" y="0"/>
                </a:lnTo>
                <a:lnTo>
                  <a:pt x="1389888" y="555955"/>
                </a:lnTo>
                <a:close/>
              </a:path>
            </a:pathLst>
          </a:custGeom>
          <a:solidFill>
            <a:srgbClr val="F9D3DF"/>
          </a:solidFill>
          <a:ln w="12700">
            <a:solidFill>
              <a:srgbClr val="9E3B5E"/>
            </a:solidFill>
            <a:prstDash val="solid"/>
          </a:ln>
        </p:spPr>
      </p:sp>
      <p:sp>
        <p:nvSpPr>
          <p:cNvPr id="19" name="Shape 17"/>
          <p:cNvSpPr/>
          <p:nvPr/>
        </p:nvSpPr>
        <p:spPr>
          <a:xfrm>
            <a:off x="4727448" y="1483157"/>
            <a:ext cx="555955" cy="1945843"/>
          </a:xfrm>
          <a:custGeom>
            <a:avLst/>
            <a:gdLst/>
            <a:ahLst/>
            <a:cxnLst/>
            <a:rect l="l" t="t" r="r" b="b"/>
            <a:pathLst>
              <a:path w="555955" h="1945843">
                <a:moveTo>
                  <a:pt x="0" y="555955"/>
                </a:moveTo>
                <a:lnTo>
                  <a:pt x="555955" y="0"/>
                </a:lnTo>
                <a:lnTo>
                  <a:pt x="555955" y="1389888"/>
                </a:lnTo>
                <a:lnTo>
                  <a:pt x="0" y="1945843"/>
                </a:lnTo>
                <a:close/>
              </a:path>
            </a:pathLst>
          </a:custGeom>
          <a:solidFill>
            <a:srgbClr val="E58FAE"/>
          </a:solidFill>
          <a:ln w="12700">
            <a:solidFill>
              <a:srgbClr val="9E3B5E"/>
            </a:solidFill>
            <a:prstDash val="solid"/>
          </a:ln>
        </p:spPr>
      </p:sp>
      <p:sp>
        <p:nvSpPr>
          <p:cNvPr id="20" name="Shape 18"/>
          <p:cNvSpPr/>
          <p:nvPr/>
        </p:nvSpPr>
        <p:spPr>
          <a:xfrm>
            <a:off x="3337560" y="2039112"/>
            <a:ext cx="1389888" cy="1389888"/>
          </a:xfrm>
          <a:prstGeom prst="rect">
            <a:avLst/>
          </a:prstGeom>
          <a:solidFill>
            <a:srgbClr val="F4B6C8"/>
          </a:solidFill>
          <a:ln w="12700">
            <a:solidFill>
              <a:srgbClr val="9E3B5E"/>
            </a:solidFill>
            <a:prstDash val="solid"/>
          </a:ln>
        </p:spPr>
      </p:sp>
      <p:sp>
        <p:nvSpPr>
          <p:cNvPr id="21" name="Text 19"/>
          <p:cNvSpPr/>
          <p:nvPr/>
        </p:nvSpPr>
        <p:spPr>
          <a:xfrm>
            <a:off x="3063240" y="3483864"/>
            <a:ext cx="2494483"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side 4 cm</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3886200"/>
          <a:ext cx="5212080" cy="914400"/>
        </p:xfrm>
        <a:graphic>
          <a:graphicData uri="http://schemas.openxmlformats.org/drawingml/2006/table">
            <a:tbl>
              <a:tblPr/>
              <a:tblGrid>
                <a:gridCol w="914400"/>
                <a:gridCol w="1600200"/>
                <a:gridCol w="1600200"/>
                <a:gridCol w="1097280"/>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Side / cm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Surface area / cm²</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Volume / cm³</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SA : V</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 × 1 × 1 = 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 × 1 × 1 = 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6 : 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 × 2 × 2 = 24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 × 2 × 2 = 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3 : 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 × 4 × 4 = 96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 × 4 × 4 = 64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1.5 : 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23" name="Text 20"/>
          <p:cNvSpPr/>
          <p:nvPr/>
        </p:nvSpPr>
        <p:spPr>
          <a:xfrm>
            <a:off x="594360" y="5074920"/>
            <a:ext cx="5212080" cy="256032"/>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Side doubles → area × 4, volume × 8 → SA:V halves</a:t>
            </a:r>
            <a:endParaRPr lang="en-US" sz="1050" dirty="0"/>
          </a:p>
        </p:txBody>
      </p:sp>
      <p:sp>
        <p:nvSpPr>
          <p:cNvPr id="24" name="Shape 21"/>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25" name="Text 2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size matters</a:t>
            </a:r>
            <a:endParaRPr lang="en-US" sz="1300" dirty="0"/>
          </a:p>
        </p:txBody>
      </p:sp>
      <p:sp>
        <p:nvSpPr>
          <p:cNvPr id="26" name="Text 2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Substances enter and leave through the </a:t>
            </a:r>
            <a:r>
              <a:rPr lang="en-US" sz="1100" b="1" dirty="0">
                <a:solidFill>
                  <a:srgbClr val="262B3A"/>
                </a:solidFill>
                <a:latin typeface="Calibri" pitchFamily="34" charset="0"/>
                <a:ea typeface="Calibri" pitchFamily="34" charset="-122"/>
                <a:cs typeface="Calibri" pitchFamily="34" charset="-120"/>
              </a:rPr>
              <a:t>surface</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volume</a:t>
            </a:r>
            <a:r>
              <a:rPr lang="en-US" sz="1100" dirty="0">
                <a:solidFill>
                  <a:srgbClr val="262B3A"/>
                </a:solidFill>
                <a:latin typeface="Calibri" pitchFamily="34" charset="0"/>
                <a:ea typeface="Calibri" pitchFamily="34" charset="-122"/>
                <a:cs typeface="Calibri" pitchFamily="34" charset="-120"/>
              </a:rPr>
              <a:t> decides how much the organism needs and makes.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SA : V ratio</a:t>
            </a:r>
            <a:r>
              <a:rPr lang="en-US" sz="1100" dirty="0">
                <a:solidFill>
                  <a:srgbClr val="262B3A"/>
                </a:solidFill>
                <a:latin typeface="Calibri" pitchFamily="34" charset="0"/>
                <a:ea typeface="Calibri" pitchFamily="34" charset="-122"/>
                <a:cs typeface="Calibri" pitchFamily="34" charset="-120"/>
              </a:rPr>
              <a:t> = surface area ÷ volume.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As size increases, </a:t>
            </a:r>
            <a:r>
              <a:rPr lang="en-US" sz="1100" b="1" dirty="0">
                <a:solidFill>
                  <a:srgbClr val="262B3A"/>
                </a:solidFill>
                <a:latin typeface="Calibri" pitchFamily="34" charset="0"/>
                <a:ea typeface="Calibri" pitchFamily="34" charset="-122"/>
                <a:cs typeface="Calibri" pitchFamily="34" charset="-120"/>
              </a:rPr>
              <a:t>volume grows faster</a:t>
            </a:r>
            <a:r>
              <a:rPr lang="en-US" sz="1100" dirty="0">
                <a:solidFill>
                  <a:srgbClr val="262B3A"/>
                </a:solidFill>
                <a:latin typeface="Calibri" pitchFamily="34" charset="0"/>
                <a:ea typeface="Calibri" pitchFamily="34" charset="-122"/>
                <a:cs typeface="Calibri" pitchFamily="34" charset="-120"/>
              </a:rPr>
              <a:t> than surface area, so the </a:t>
            </a:r>
            <a:r>
              <a:rPr lang="en-US" sz="1100" b="1" dirty="0">
                <a:solidFill>
                  <a:srgbClr val="262B3A"/>
                </a:solidFill>
                <a:latin typeface="Calibri" pitchFamily="34" charset="0"/>
                <a:ea typeface="Calibri" pitchFamily="34" charset="-122"/>
                <a:cs typeface="Calibri" pitchFamily="34" charset="-120"/>
              </a:rPr>
              <a:t>SA:V ratio falls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large organism has too little surface for its volume to exchange enough by diffusion.</a:t>
            </a:r>
            <a:endParaRPr lang="en-US" sz="1100" dirty="0"/>
          </a:p>
        </p:txBody>
      </p:sp>
      <p:sp>
        <p:nvSpPr>
          <p:cNvPr id="27" name="Shape 2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8" name="Text 2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 3 cm cube</a:t>
            </a:r>
            <a:endParaRPr lang="en-US" sz="1300" dirty="0"/>
          </a:p>
        </p:txBody>
      </p:sp>
      <p:sp>
        <p:nvSpPr>
          <p:cNvPr id="29" name="Text 26"/>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Calculate the SA:V ratio of a cube with sides of 3 cm.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Area   </a:t>
            </a:r>
            <a:r>
              <a:rPr lang="en-US" sz="1050" dirty="0">
                <a:solidFill>
                  <a:srgbClr val="262B3A"/>
                </a:solidFill>
                <a:latin typeface="Calibri" pitchFamily="34" charset="0"/>
                <a:ea typeface="Calibri" pitchFamily="34" charset="-122"/>
                <a:cs typeface="Calibri" pitchFamily="34" charset="-120"/>
              </a:rPr>
              <a:t>SA = 6 × 3 × 3 = 54 cm²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Volume   </a:t>
            </a:r>
            <a:r>
              <a:rPr lang="en-US" sz="1050" dirty="0">
                <a:solidFill>
                  <a:srgbClr val="262B3A"/>
                </a:solidFill>
                <a:latin typeface="Calibri" pitchFamily="34" charset="0"/>
                <a:ea typeface="Calibri" pitchFamily="34" charset="-122"/>
                <a:cs typeface="Calibri" pitchFamily="34" charset="-120"/>
              </a:rPr>
              <a:t>V = 3 × 3 × 3 = 27 cm³</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Ratio   </a:t>
            </a:r>
            <a:r>
              <a:rPr lang="en-US" sz="1050" dirty="0">
                <a:solidFill>
                  <a:srgbClr val="262B3A"/>
                </a:solidFill>
                <a:latin typeface="Calibri" pitchFamily="34" charset="0"/>
                <a:ea typeface="Calibri" pitchFamily="34" charset="-122"/>
                <a:cs typeface="Calibri" pitchFamily="34" charset="-120"/>
              </a:rPr>
              <a:t>SA : V = 54 : 27</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divide both by 27: 2 : 1</a:t>
            </a:r>
            <a:endParaRPr lang="en-US" sz="1050" dirty="0"/>
          </a:p>
        </p:txBody>
      </p:sp>
      <p:sp>
        <p:nvSpPr>
          <p:cNvPr id="30" name="Shape 27"/>
          <p:cNvSpPr/>
          <p:nvPr/>
        </p:nvSpPr>
        <p:spPr>
          <a:xfrm>
            <a:off x="411480" y="5833872"/>
            <a:ext cx="11368735" cy="530352"/>
          </a:xfrm>
          <a:prstGeom prst="rect">
            <a:avLst/>
          </a:prstGeom>
          <a:solidFill>
            <a:srgbClr val="FFF4E0"/>
          </a:solidFill>
          <a:ln w="6350">
            <a:solidFill>
              <a:srgbClr val="F1D9A8"/>
            </a:solidFill>
            <a:prstDash val="solid"/>
          </a:ln>
        </p:spPr>
      </p:sp>
      <p:sp>
        <p:nvSpPr>
          <p:cNvPr id="31" name="Shape 28"/>
          <p:cNvSpPr/>
          <p:nvPr/>
        </p:nvSpPr>
        <p:spPr>
          <a:xfrm>
            <a:off x="411480" y="5833872"/>
            <a:ext cx="82296" cy="530352"/>
          </a:xfrm>
          <a:prstGeom prst="rect">
            <a:avLst/>
          </a:prstGeom>
          <a:solidFill>
            <a:srgbClr val="E39A2F"/>
          </a:solidFill>
          <a:ln w="12700">
            <a:solidFill>
              <a:srgbClr val="E39A2F"/>
            </a:solidFill>
            <a:prstDash val="solid"/>
          </a:ln>
        </p:spPr>
      </p:sp>
      <p:sp>
        <p:nvSpPr>
          <p:cNvPr id="32" name="Text 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SA:V ratio of a cube with sides of </a:t>
            </a:r>
            <a:r>
              <a:rPr lang="en-US" sz="1150" b="1" dirty="0">
                <a:solidFill>
                  <a:srgbClr val="262B3A"/>
                </a:solidFill>
                <a:latin typeface="Calibri" pitchFamily="34" charset="0"/>
                <a:ea typeface="Calibri" pitchFamily="34" charset="-122"/>
                <a:cs typeface="Calibri" pitchFamily="34" charset="-120"/>
              </a:rPr>
              <a:t>5 cm</a:t>
            </a:r>
            <a:r>
              <a:rPr lang="en-US" sz="1150" dirty="0">
                <a:solidFill>
                  <a:srgbClr val="262B3A"/>
                </a:solidFill>
                <a:latin typeface="Calibri" pitchFamily="34" charset="0"/>
                <a:ea typeface="Calibri" pitchFamily="34" charset="-122"/>
                <a:cs typeface="Calibri" pitchFamily="34" charset="-120"/>
              </a:rPr>
              <a:t>. Is it larger or smaller than for the 4 cm cube?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we need exchange surfaces and transport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 • diffusion is fast over short distances but far too slow over long ones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B5.1.2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single-celled organism (top) and a block of cells (bottom); not to scale</a:t>
            </a:r>
            <a:endParaRPr lang="en-US" sz="1000" dirty="0"/>
          </a:p>
        </p:txBody>
      </p:sp>
      <p:sp>
        <p:nvSpPr>
          <p:cNvPr id="10" name="Text 8"/>
          <p:cNvSpPr/>
          <p:nvPr/>
        </p:nvSpPr>
        <p:spPr>
          <a:xfrm>
            <a:off x="594360" y="1298448"/>
            <a:ext cx="5212080" cy="256032"/>
          </a:xfrm>
          <a:prstGeom prst="rect">
            <a:avLst/>
          </a:prstGeom>
          <a:noFill/>
          <a:ln/>
        </p:spPr>
        <p:txBody>
          <a:bodyPr wrap="square" lIns="0" tIns="0" rIns="0" bIns="0" rtlCol="0" anchor="ctr"/>
          <a:lstStyle/>
          <a:p>
            <a:pPr algn="l" indent="0" marL="0">
              <a:buNone/>
            </a:pPr>
            <a:r>
              <a:rPr lang="en-US" sz="1100" dirty="0">
                <a:solidFill>
                  <a:srgbClr val="0D7877"/>
                </a:solidFill>
                <a:latin typeface="Calibri" pitchFamily="34" charset="0"/>
                <a:ea typeface="Calibri" pitchFamily="34" charset="-122"/>
                <a:cs typeface="Calibri" pitchFamily="34" charset="-120"/>
              </a:rPr>
              <a:t>Single-celled organism, e.g. amoeba: </a:t>
            </a:r>
            <a:r>
              <a:rPr lang="en-US" sz="1100" b="1" dirty="0">
                <a:solidFill>
                  <a:srgbClr val="0D7877"/>
                </a:solidFill>
                <a:latin typeface="Calibri" pitchFamily="34" charset="0"/>
                <a:ea typeface="Calibri" pitchFamily="34" charset="-122"/>
                <a:cs typeface="Calibri" pitchFamily="34" charset="-120"/>
              </a:rPr>
              <a:t>large SA:V</a:t>
            </a:r>
            <a:endParaRPr lang="en-US" sz="1100" dirty="0"/>
          </a:p>
        </p:txBody>
      </p:sp>
      <p:sp>
        <p:nvSpPr>
          <p:cNvPr id="11" name="Shape 9"/>
          <p:cNvSpPr/>
          <p:nvPr/>
        </p:nvSpPr>
        <p:spPr>
          <a:xfrm>
            <a:off x="914400" y="1645920"/>
            <a:ext cx="1737360" cy="1051560"/>
          </a:xfrm>
          <a:custGeom>
            <a:avLst/>
            <a:gdLst/>
            <a:ahLst/>
            <a:cxnLst/>
            <a:rect l="l" t="t" r="r" b="b"/>
            <a:pathLst>
              <a:path w="1737360" h="1051560">
                <a:moveTo>
                  <a:pt x="0" y="502920"/>
                </a:moveTo>
                <a:lnTo>
                  <a:pt x="365760" y="91440"/>
                </a:lnTo>
                <a:lnTo>
                  <a:pt x="1005840" y="137160"/>
                </a:lnTo>
                <a:lnTo>
                  <a:pt x="1371600" y="0"/>
                </a:lnTo>
                <a:lnTo>
                  <a:pt x="1737360" y="365760"/>
                </a:lnTo>
                <a:lnTo>
                  <a:pt x="1600200" y="868680"/>
                </a:lnTo>
                <a:lnTo>
                  <a:pt x="1097280" y="1051560"/>
                </a:lnTo>
                <a:lnTo>
                  <a:pt x="457200" y="960120"/>
                </a:lnTo>
                <a:close/>
              </a:path>
            </a:pathLst>
          </a:custGeom>
          <a:solidFill>
            <a:srgbClr val="E6F0F5"/>
          </a:solidFill>
          <a:ln w="19050">
            <a:solidFill>
              <a:srgbClr val="5B8FA8"/>
            </a:solidFill>
            <a:prstDash val="solid"/>
          </a:ln>
        </p:spPr>
      </p:sp>
      <p:sp>
        <p:nvSpPr>
          <p:cNvPr id="12" name="Shape 10"/>
          <p:cNvSpPr/>
          <p:nvPr/>
        </p:nvSpPr>
        <p:spPr>
          <a:xfrm>
            <a:off x="1645920" y="2057400"/>
            <a:ext cx="274320" cy="274320"/>
          </a:xfrm>
          <a:prstGeom prst="ellipse">
            <a:avLst/>
          </a:prstGeom>
          <a:solidFill>
            <a:srgbClr val="C9B6E4"/>
          </a:solidFill>
          <a:ln w="12700">
            <a:solidFill>
              <a:srgbClr val="6A4C93"/>
            </a:solidFill>
            <a:prstDash val="solid"/>
          </a:ln>
        </p:spPr>
      </p:sp>
      <p:sp>
        <p:nvSpPr>
          <p:cNvPr id="13" name="Shape 11"/>
          <p:cNvSpPr/>
          <p:nvPr/>
        </p:nvSpPr>
        <p:spPr>
          <a:xfrm>
            <a:off x="548640" y="2148840"/>
            <a:ext cx="347472" cy="91"/>
          </a:xfrm>
          <a:prstGeom prst="line">
            <a:avLst/>
          </a:prstGeom>
          <a:noFill/>
          <a:ln w="22225">
            <a:solidFill>
              <a:srgbClr val="2E8B57"/>
            </a:solidFill>
            <a:prstDash val="solid"/>
            <a:tailEnd type="triangle"/>
          </a:ln>
        </p:spPr>
      </p:sp>
      <p:sp>
        <p:nvSpPr>
          <p:cNvPr id="14" name="Shape 12"/>
          <p:cNvSpPr/>
          <p:nvPr/>
        </p:nvSpPr>
        <p:spPr>
          <a:xfrm>
            <a:off x="1828800" y="1417320"/>
            <a:ext cx="91" cy="320040"/>
          </a:xfrm>
          <a:prstGeom prst="line">
            <a:avLst/>
          </a:prstGeom>
          <a:noFill/>
          <a:ln w="22225">
            <a:solidFill>
              <a:srgbClr val="2E8B57"/>
            </a:solidFill>
            <a:prstDash val="solid"/>
            <a:tailEnd type="triangle"/>
          </a:ln>
        </p:spPr>
      </p:sp>
      <p:sp>
        <p:nvSpPr>
          <p:cNvPr id="15" name="Shape 13"/>
          <p:cNvSpPr/>
          <p:nvPr/>
        </p:nvSpPr>
        <p:spPr>
          <a:xfrm flipH="1" flipV="1">
            <a:off x="2651760" y="2240280"/>
            <a:ext cx="365760" cy="45720"/>
          </a:xfrm>
          <a:prstGeom prst="line">
            <a:avLst/>
          </a:prstGeom>
          <a:noFill/>
          <a:ln w="22225">
            <a:solidFill>
              <a:srgbClr val="2E8B57"/>
            </a:solidFill>
            <a:prstDash val="solid"/>
            <a:tailEnd type="triangle"/>
          </a:ln>
        </p:spPr>
      </p:sp>
      <p:sp>
        <p:nvSpPr>
          <p:cNvPr id="16" name="Text 14"/>
          <p:cNvSpPr/>
          <p:nvPr/>
        </p:nvSpPr>
        <p:spPr>
          <a:xfrm>
            <a:off x="3108960" y="1691640"/>
            <a:ext cx="2697480" cy="73152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O₂ diffuses straight in through the membrane; every part is </a:t>
            </a:r>
            <a:r>
              <a:rPr lang="en-US" sz="1050" b="1" dirty="0">
                <a:solidFill>
                  <a:srgbClr val="262B3A"/>
                </a:solidFill>
                <a:latin typeface="Calibri" pitchFamily="34" charset="0"/>
                <a:ea typeface="Calibri" pitchFamily="34" charset="-122"/>
                <a:cs typeface="Calibri" pitchFamily="34" charset="-120"/>
              </a:rPr>
              <a:t>close to the surface</a:t>
            </a:r>
            <a:endParaRPr lang="en-US" sz="1050" dirty="0"/>
          </a:p>
        </p:txBody>
      </p:sp>
      <p:sp>
        <p:nvSpPr>
          <p:cNvPr id="17" name="Shape 15"/>
          <p:cNvSpPr/>
          <p:nvPr/>
        </p:nvSpPr>
        <p:spPr>
          <a:xfrm>
            <a:off x="594360" y="2926080"/>
            <a:ext cx="5212080" cy="91"/>
          </a:xfrm>
          <a:prstGeom prst="line">
            <a:avLst/>
          </a:prstGeom>
          <a:noFill/>
          <a:ln w="12700">
            <a:solidFill>
              <a:srgbClr val="CFE0DE"/>
            </a:solidFill>
            <a:prstDash val="dash"/>
          </a:ln>
        </p:spPr>
      </p:sp>
      <p:sp>
        <p:nvSpPr>
          <p:cNvPr id="18" name="Text 16"/>
          <p:cNvSpPr/>
          <p:nvPr/>
        </p:nvSpPr>
        <p:spPr>
          <a:xfrm>
            <a:off x="594360" y="2990088"/>
            <a:ext cx="5212080" cy="256032"/>
          </a:xfrm>
          <a:prstGeom prst="rect">
            <a:avLst/>
          </a:prstGeom>
          <a:noFill/>
          <a:ln/>
        </p:spPr>
        <p:txBody>
          <a:bodyPr wrap="square" lIns="0" tIns="0" rIns="0" bIns="0" rtlCol="0" anchor="ctr"/>
          <a:lstStyle/>
          <a:p>
            <a:pPr algn="l" indent="0" marL="0">
              <a:buNone/>
            </a:pPr>
            <a:r>
              <a:rPr lang="en-US" sz="1100" dirty="0">
                <a:solidFill>
                  <a:srgbClr val="C8414C"/>
                </a:solidFill>
                <a:latin typeface="Calibri" pitchFamily="34" charset="0"/>
                <a:ea typeface="Calibri" pitchFamily="34" charset="-122"/>
                <a:cs typeface="Calibri" pitchFamily="34" charset="-120"/>
              </a:rPr>
              <a:t>Multicellular organism: </a:t>
            </a:r>
            <a:r>
              <a:rPr lang="en-US" sz="1100" b="1" dirty="0">
                <a:solidFill>
                  <a:srgbClr val="C8414C"/>
                </a:solidFill>
                <a:latin typeface="Calibri" pitchFamily="34" charset="0"/>
                <a:ea typeface="Calibri" pitchFamily="34" charset="-122"/>
                <a:cs typeface="Calibri" pitchFamily="34" charset="-120"/>
              </a:rPr>
              <a:t>small SA:V</a:t>
            </a:r>
            <a:endParaRPr lang="en-US" sz="1100" dirty="0"/>
          </a:p>
        </p:txBody>
      </p:sp>
      <p:sp>
        <p:nvSpPr>
          <p:cNvPr id="19" name="Shape 17"/>
          <p:cNvSpPr/>
          <p:nvPr/>
        </p:nvSpPr>
        <p:spPr>
          <a:xfrm>
            <a:off x="731520" y="3337560"/>
            <a:ext cx="274320" cy="274320"/>
          </a:xfrm>
          <a:prstGeom prst="rect">
            <a:avLst/>
          </a:prstGeom>
          <a:solidFill>
            <a:srgbClr val="E8F4E0"/>
          </a:solidFill>
          <a:ln w="6350">
            <a:solidFill>
              <a:srgbClr val="9C8A5A"/>
            </a:solidFill>
            <a:prstDash val="solid"/>
          </a:ln>
        </p:spPr>
      </p:sp>
      <p:sp>
        <p:nvSpPr>
          <p:cNvPr id="20" name="Shape 18"/>
          <p:cNvSpPr/>
          <p:nvPr/>
        </p:nvSpPr>
        <p:spPr>
          <a:xfrm>
            <a:off x="1005840" y="3337560"/>
            <a:ext cx="274320" cy="274320"/>
          </a:xfrm>
          <a:prstGeom prst="rect">
            <a:avLst/>
          </a:prstGeom>
          <a:solidFill>
            <a:srgbClr val="E8F4E0"/>
          </a:solidFill>
          <a:ln w="6350">
            <a:solidFill>
              <a:srgbClr val="9C8A5A"/>
            </a:solidFill>
            <a:prstDash val="solid"/>
          </a:ln>
        </p:spPr>
      </p:sp>
      <p:sp>
        <p:nvSpPr>
          <p:cNvPr id="21" name="Shape 19"/>
          <p:cNvSpPr/>
          <p:nvPr/>
        </p:nvSpPr>
        <p:spPr>
          <a:xfrm>
            <a:off x="1280160" y="3337560"/>
            <a:ext cx="274320" cy="274320"/>
          </a:xfrm>
          <a:prstGeom prst="rect">
            <a:avLst/>
          </a:prstGeom>
          <a:solidFill>
            <a:srgbClr val="E8F4E0"/>
          </a:solidFill>
          <a:ln w="6350">
            <a:solidFill>
              <a:srgbClr val="9C8A5A"/>
            </a:solidFill>
            <a:prstDash val="solid"/>
          </a:ln>
        </p:spPr>
      </p:sp>
      <p:sp>
        <p:nvSpPr>
          <p:cNvPr id="22" name="Shape 20"/>
          <p:cNvSpPr/>
          <p:nvPr/>
        </p:nvSpPr>
        <p:spPr>
          <a:xfrm>
            <a:off x="1554480" y="3337560"/>
            <a:ext cx="274320" cy="274320"/>
          </a:xfrm>
          <a:prstGeom prst="rect">
            <a:avLst/>
          </a:prstGeom>
          <a:solidFill>
            <a:srgbClr val="E8F4E0"/>
          </a:solidFill>
          <a:ln w="6350">
            <a:solidFill>
              <a:srgbClr val="9C8A5A"/>
            </a:solidFill>
            <a:prstDash val="solid"/>
          </a:ln>
        </p:spPr>
      </p:sp>
      <p:sp>
        <p:nvSpPr>
          <p:cNvPr id="23" name="Shape 21"/>
          <p:cNvSpPr/>
          <p:nvPr/>
        </p:nvSpPr>
        <p:spPr>
          <a:xfrm>
            <a:off x="1828800" y="3337560"/>
            <a:ext cx="274320" cy="274320"/>
          </a:xfrm>
          <a:prstGeom prst="rect">
            <a:avLst/>
          </a:prstGeom>
          <a:solidFill>
            <a:srgbClr val="E8F4E0"/>
          </a:solidFill>
          <a:ln w="6350">
            <a:solidFill>
              <a:srgbClr val="9C8A5A"/>
            </a:solidFill>
            <a:prstDash val="solid"/>
          </a:ln>
        </p:spPr>
      </p:sp>
      <p:sp>
        <p:nvSpPr>
          <p:cNvPr id="24" name="Shape 22"/>
          <p:cNvSpPr/>
          <p:nvPr/>
        </p:nvSpPr>
        <p:spPr>
          <a:xfrm>
            <a:off x="2103120" y="3337560"/>
            <a:ext cx="274320" cy="274320"/>
          </a:xfrm>
          <a:prstGeom prst="rect">
            <a:avLst/>
          </a:prstGeom>
          <a:solidFill>
            <a:srgbClr val="E8F4E0"/>
          </a:solidFill>
          <a:ln w="6350">
            <a:solidFill>
              <a:srgbClr val="9C8A5A"/>
            </a:solidFill>
            <a:prstDash val="solid"/>
          </a:ln>
        </p:spPr>
      </p:sp>
      <p:sp>
        <p:nvSpPr>
          <p:cNvPr id="25" name="Shape 23"/>
          <p:cNvSpPr/>
          <p:nvPr/>
        </p:nvSpPr>
        <p:spPr>
          <a:xfrm>
            <a:off x="2377440" y="3337560"/>
            <a:ext cx="274320" cy="274320"/>
          </a:xfrm>
          <a:prstGeom prst="rect">
            <a:avLst/>
          </a:prstGeom>
          <a:solidFill>
            <a:srgbClr val="E8F4E0"/>
          </a:solidFill>
          <a:ln w="6350">
            <a:solidFill>
              <a:srgbClr val="9C8A5A"/>
            </a:solidFill>
            <a:prstDash val="solid"/>
          </a:ln>
        </p:spPr>
      </p:sp>
      <p:sp>
        <p:nvSpPr>
          <p:cNvPr id="26" name="Shape 24"/>
          <p:cNvSpPr/>
          <p:nvPr/>
        </p:nvSpPr>
        <p:spPr>
          <a:xfrm>
            <a:off x="2651760" y="3337560"/>
            <a:ext cx="274320" cy="274320"/>
          </a:xfrm>
          <a:prstGeom prst="rect">
            <a:avLst/>
          </a:prstGeom>
          <a:solidFill>
            <a:srgbClr val="E8F4E0"/>
          </a:solidFill>
          <a:ln w="6350">
            <a:solidFill>
              <a:srgbClr val="9C8A5A"/>
            </a:solidFill>
            <a:prstDash val="solid"/>
          </a:ln>
        </p:spPr>
      </p:sp>
      <p:sp>
        <p:nvSpPr>
          <p:cNvPr id="27" name="Shape 25"/>
          <p:cNvSpPr/>
          <p:nvPr/>
        </p:nvSpPr>
        <p:spPr>
          <a:xfrm>
            <a:off x="2926080" y="3337560"/>
            <a:ext cx="274320" cy="274320"/>
          </a:xfrm>
          <a:prstGeom prst="rect">
            <a:avLst/>
          </a:prstGeom>
          <a:solidFill>
            <a:srgbClr val="E8F4E0"/>
          </a:solidFill>
          <a:ln w="6350">
            <a:solidFill>
              <a:srgbClr val="9C8A5A"/>
            </a:solidFill>
            <a:prstDash val="solid"/>
          </a:ln>
        </p:spPr>
      </p:sp>
      <p:sp>
        <p:nvSpPr>
          <p:cNvPr id="28" name="Shape 26"/>
          <p:cNvSpPr/>
          <p:nvPr/>
        </p:nvSpPr>
        <p:spPr>
          <a:xfrm>
            <a:off x="731520" y="3611880"/>
            <a:ext cx="274320" cy="274320"/>
          </a:xfrm>
          <a:prstGeom prst="rect">
            <a:avLst/>
          </a:prstGeom>
          <a:solidFill>
            <a:srgbClr val="E8F4E0"/>
          </a:solidFill>
          <a:ln w="6350">
            <a:solidFill>
              <a:srgbClr val="9C8A5A"/>
            </a:solidFill>
            <a:prstDash val="solid"/>
          </a:ln>
        </p:spPr>
      </p:sp>
      <p:sp>
        <p:nvSpPr>
          <p:cNvPr id="29" name="Shape 27"/>
          <p:cNvSpPr/>
          <p:nvPr/>
        </p:nvSpPr>
        <p:spPr>
          <a:xfrm>
            <a:off x="1005840" y="3611880"/>
            <a:ext cx="274320" cy="274320"/>
          </a:xfrm>
          <a:prstGeom prst="rect">
            <a:avLst/>
          </a:prstGeom>
          <a:solidFill>
            <a:srgbClr val="F7E8C8"/>
          </a:solidFill>
          <a:ln w="6350">
            <a:solidFill>
              <a:srgbClr val="9C8A5A"/>
            </a:solidFill>
            <a:prstDash val="solid"/>
          </a:ln>
        </p:spPr>
      </p:sp>
      <p:sp>
        <p:nvSpPr>
          <p:cNvPr id="30" name="Shape 28"/>
          <p:cNvSpPr/>
          <p:nvPr/>
        </p:nvSpPr>
        <p:spPr>
          <a:xfrm>
            <a:off x="1280160" y="3611880"/>
            <a:ext cx="274320" cy="274320"/>
          </a:xfrm>
          <a:prstGeom prst="rect">
            <a:avLst/>
          </a:prstGeom>
          <a:solidFill>
            <a:srgbClr val="F7E8C8"/>
          </a:solidFill>
          <a:ln w="6350">
            <a:solidFill>
              <a:srgbClr val="9C8A5A"/>
            </a:solidFill>
            <a:prstDash val="solid"/>
          </a:ln>
        </p:spPr>
      </p:sp>
      <p:sp>
        <p:nvSpPr>
          <p:cNvPr id="31" name="Shape 29"/>
          <p:cNvSpPr/>
          <p:nvPr/>
        </p:nvSpPr>
        <p:spPr>
          <a:xfrm>
            <a:off x="1554480" y="3611880"/>
            <a:ext cx="274320" cy="274320"/>
          </a:xfrm>
          <a:prstGeom prst="rect">
            <a:avLst/>
          </a:prstGeom>
          <a:solidFill>
            <a:srgbClr val="F7E8C8"/>
          </a:solidFill>
          <a:ln w="6350">
            <a:solidFill>
              <a:srgbClr val="9C8A5A"/>
            </a:solidFill>
            <a:prstDash val="solid"/>
          </a:ln>
        </p:spPr>
      </p:sp>
      <p:sp>
        <p:nvSpPr>
          <p:cNvPr id="32" name="Shape 30"/>
          <p:cNvSpPr/>
          <p:nvPr/>
        </p:nvSpPr>
        <p:spPr>
          <a:xfrm>
            <a:off x="1828800" y="3611880"/>
            <a:ext cx="274320" cy="274320"/>
          </a:xfrm>
          <a:prstGeom prst="rect">
            <a:avLst/>
          </a:prstGeom>
          <a:solidFill>
            <a:srgbClr val="F7E8C8"/>
          </a:solidFill>
          <a:ln w="6350">
            <a:solidFill>
              <a:srgbClr val="9C8A5A"/>
            </a:solidFill>
            <a:prstDash val="solid"/>
          </a:ln>
        </p:spPr>
      </p:sp>
      <p:sp>
        <p:nvSpPr>
          <p:cNvPr id="33" name="Shape 31"/>
          <p:cNvSpPr/>
          <p:nvPr/>
        </p:nvSpPr>
        <p:spPr>
          <a:xfrm>
            <a:off x="2103120" y="3611880"/>
            <a:ext cx="274320" cy="274320"/>
          </a:xfrm>
          <a:prstGeom prst="rect">
            <a:avLst/>
          </a:prstGeom>
          <a:solidFill>
            <a:srgbClr val="F7E8C8"/>
          </a:solidFill>
          <a:ln w="6350">
            <a:solidFill>
              <a:srgbClr val="9C8A5A"/>
            </a:solidFill>
            <a:prstDash val="solid"/>
          </a:ln>
        </p:spPr>
      </p:sp>
      <p:sp>
        <p:nvSpPr>
          <p:cNvPr id="34" name="Shape 32"/>
          <p:cNvSpPr/>
          <p:nvPr/>
        </p:nvSpPr>
        <p:spPr>
          <a:xfrm>
            <a:off x="2377440" y="3611880"/>
            <a:ext cx="274320" cy="274320"/>
          </a:xfrm>
          <a:prstGeom prst="rect">
            <a:avLst/>
          </a:prstGeom>
          <a:solidFill>
            <a:srgbClr val="F7E8C8"/>
          </a:solidFill>
          <a:ln w="6350">
            <a:solidFill>
              <a:srgbClr val="9C8A5A"/>
            </a:solidFill>
            <a:prstDash val="solid"/>
          </a:ln>
        </p:spPr>
      </p:sp>
      <p:sp>
        <p:nvSpPr>
          <p:cNvPr id="35" name="Shape 33"/>
          <p:cNvSpPr/>
          <p:nvPr/>
        </p:nvSpPr>
        <p:spPr>
          <a:xfrm>
            <a:off x="2651760" y="3611880"/>
            <a:ext cx="274320" cy="274320"/>
          </a:xfrm>
          <a:prstGeom prst="rect">
            <a:avLst/>
          </a:prstGeom>
          <a:solidFill>
            <a:srgbClr val="F7E8C8"/>
          </a:solidFill>
          <a:ln w="6350">
            <a:solidFill>
              <a:srgbClr val="9C8A5A"/>
            </a:solidFill>
            <a:prstDash val="solid"/>
          </a:ln>
        </p:spPr>
      </p:sp>
      <p:sp>
        <p:nvSpPr>
          <p:cNvPr id="36" name="Shape 34"/>
          <p:cNvSpPr/>
          <p:nvPr/>
        </p:nvSpPr>
        <p:spPr>
          <a:xfrm>
            <a:off x="2926080" y="3611880"/>
            <a:ext cx="274320" cy="274320"/>
          </a:xfrm>
          <a:prstGeom prst="rect">
            <a:avLst/>
          </a:prstGeom>
          <a:solidFill>
            <a:srgbClr val="E8F4E0"/>
          </a:solidFill>
          <a:ln w="6350">
            <a:solidFill>
              <a:srgbClr val="9C8A5A"/>
            </a:solidFill>
            <a:prstDash val="solid"/>
          </a:ln>
        </p:spPr>
      </p:sp>
      <p:sp>
        <p:nvSpPr>
          <p:cNvPr id="37" name="Shape 35"/>
          <p:cNvSpPr/>
          <p:nvPr/>
        </p:nvSpPr>
        <p:spPr>
          <a:xfrm>
            <a:off x="731520" y="3886200"/>
            <a:ext cx="274320" cy="274320"/>
          </a:xfrm>
          <a:prstGeom prst="rect">
            <a:avLst/>
          </a:prstGeom>
          <a:solidFill>
            <a:srgbClr val="E8F4E0"/>
          </a:solidFill>
          <a:ln w="6350">
            <a:solidFill>
              <a:srgbClr val="9C8A5A"/>
            </a:solidFill>
            <a:prstDash val="solid"/>
          </a:ln>
        </p:spPr>
      </p:sp>
      <p:sp>
        <p:nvSpPr>
          <p:cNvPr id="38" name="Shape 36"/>
          <p:cNvSpPr/>
          <p:nvPr/>
        </p:nvSpPr>
        <p:spPr>
          <a:xfrm>
            <a:off x="1005840" y="3886200"/>
            <a:ext cx="274320" cy="274320"/>
          </a:xfrm>
          <a:prstGeom prst="rect">
            <a:avLst/>
          </a:prstGeom>
          <a:solidFill>
            <a:srgbClr val="F7E8C8"/>
          </a:solidFill>
          <a:ln w="6350">
            <a:solidFill>
              <a:srgbClr val="9C8A5A"/>
            </a:solidFill>
            <a:prstDash val="solid"/>
          </a:ln>
        </p:spPr>
      </p:sp>
      <p:sp>
        <p:nvSpPr>
          <p:cNvPr id="39" name="Shape 37"/>
          <p:cNvSpPr/>
          <p:nvPr/>
        </p:nvSpPr>
        <p:spPr>
          <a:xfrm>
            <a:off x="1280160" y="3886200"/>
            <a:ext cx="274320" cy="274320"/>
          </a:xfrm>
          <a:prstGeom prst="rect">
            <a:avLst/>
          </a:prstGeom>
          <a:solidFill>
            <a:srgbClr val="F7E8C8"/>
          </a:solidFill>
          <a:ln w="6350">
            <a:solidFill>
              <a:srgbClr val="9C8A5A"/>
            </a:solidFill>
            <a:prstDash val="solid"/>
          </a:ln>
        </p:spPr>
      </p:sp>
      <p:sp>
        <p:nvSpPr>
          <p:cNvPr id="40" name="Shape 38"/>
          <p:cNvSpPr/>
          <p:nvPr/>
        </p:nvSpPr>
        <p:spPr>
          <a:xfrm>
            <a:off x="1554480" y="3886200"/>
            <a:ext cx="274320" cy="274320"/>
          </a:xfrm>
          <a:prstGeom prst="rect">
            <a:avLst/>
          </a:prstGeom>
          <a:solidFill>
            <a:srgbClr val="F7E8C8"/>
          </a:solidFill>
          <a:ln w="6350">
            <a:solidFill>
              <a:srgbClr val="9C8A5A"/>
            </a:solidFill>
            <a:prstDash val="solid"/>
          </a:ln>
        </p:spPr>
      </p:sp>
      <p:sp>
        <p:nvSpPr>
          <p:cNvPr id="41" name="Shape 39"/>
          <p:cNvSpPr/>
          <p:nvPr/>
        </p:nvSpPr>
        <p:spPr>
          <a:xfrm>
            <a:off x="1828800" y="3886200"/>
            <a:ext cx="274320" cy="274320"/>
          </a:xfrm>
          <a:prstGeom prst="rect">
            <a:avLst/>
          </a:prstGeom>
          <a:solidFill>
            <a:srgbClr val="F7E8C8"/>
          </a:solidFill>
          <a:ln w="6350">
            <a:solidFill>
              <a:srgbClr val="9C8A5A"/>
            </a:solidFill>
            <a:prstDash val="solid"/>
          </a:ln>
        </p:spPr>
      </p:sp>
      <p:sp>
        <p:nvSpPr>
          <p:cNvPr id="42" name="Shape 40"/>
          <p:cNvSpPr/>
          <p:nvPr/>
        </p:nvSpPr>
        <p:spPr>
          <a:xfrm>
            <a:off x="2103120" y="3886200"/>
            <a:ext cx="274320" cy="274320"/>
          </a:xfrm>
          <a:prstGeom prst="rect">
            <a:avLst/>
          </a:prstGeom>
          <a:solidFill>
            <a:srgbClr val="F7E8C8"/>
          </a:solidFill>
          <a:ln w="6350">
            <a:solidFill>
              <a:srgbClr val="9C8A5A"/>
            </a:solidFill>
            <a:prstDash val="solid"/>
          </a:ln>
        </p:spPr>
      </p:sp>
      <p:sp>
        <p:nvSpPr>
          <p:cNvPr id="43" name="Shape 41"/>
          <p:cNvSpPr/>
          <p:nvPr/>
        </p:nvSpPr>
        <p:spPr>
          <a:xfrm>
            <a:off x="2377440" y="3886200"/>
            <a:ext cx="274320" cy="274320"/>
          </a:xfrm>
          <a:prstGeom prst="rect">
            <a:avLst/>
          </a:prstGeom>
          <a:solidFill>
            <a:srgbClr val="F7E8C8"/>
          </a:solidFill>
          <a:ln w="6350">
            <a:solidFill>
              <a:srgbClr val="9C8A5A"/>
            </a:solidFill>
            <a:prstDash val="solid"/>
          </a:ln>
        </p:spPr>
      </p:sp>
      <p:sp>
        <p:nvSpPr>
          <p:cNvPr id="44" name="Shape 42"/>
          <p:cNvSpPr/>
          <p:nvPr/>
        </p:nvSpPr>
        <p:spPr>
          <a:xfrm>
            <a:off x="2651760" y="3886200"/>
            <a:ext cx="274320" cy="274320"/>
          </a:xfrm>
          <a:prstGeom prst="rect">
            <a:avLst/>
          </a:prstGeom>
          <a:solidFill>
            <a:srgbClr val="F7E8C8"/>
          </a:solidFill>
          <a:ln w="6350">
            <a:solidFill>
              <a:srgbClr val="9C8A5A"/>
            </a:solidFill>
            <a:prstDash val="solid"/>
          </a:ln>
        </p:spPr>
      </p:sp>
      <p:sp>
        <p:nvSpPr>
          <p:cNvPr id="45" name="Shape 43"/>
          <p:cNvSpPr/>
          <p:nvPr/>
        </p:nvSpPr>
        <p:spPr>
          <a:xfrm>
            <a:off x="2926080" y="3886200"/>
            <a:ext cx="274320" cy="274320"/>
          </a:xfrm>
          <a:prstGeom prst="rect">
            <a:avLst/>
          </a:prstGeom>
          <a:solidFill>
            <a:srgbClr val="E8F4E0"/>
          </a:solidFill>
          <a:ln w="6350">
            <a:solidFill>
              <a:srgbClr val="9C8A5A"/>
            </a:solidFill>
            <a:prstDash val="solid"/>
          </a:ln>
        </p:spPr>
      </p:sp>
      <p:sp>
        <p:nvSpPr>
          <p:cNvPr id="46" name="Shape 44"/>
          <p:cNvSpPr/>
          <p:nvPr/>
        </p:nvSpPr>
        <p:spPr>
          <a:xfrm>
            <a:off x="731520" y="4160520"/>
            <a:ext cx="274320" cy="274320"/>
          </a:xfrm>
          <a:prstGeom prst="rect">
            <a:avLst/>
          </a:prstGeom>
          <a:solidFill>
            <a:srgbClr val="E8F4E0"/>
          </a:solidFill>
          <a:ln w="6350">
            <a:solidFill>
              <a:srgbClr val="9C8A5A"/>
            </a:solidFill>
            <a:prstDash val="solid"/>
          </a:ln>
        </p:spPr>
      </p:sp>
      <p:sp>
        <p:nvSpPr>
          <p:cNvPr id="47" name="Shape 45"/>
          <p:cNvSpPr/>
          <p:nvPr/>
        </p:nvSpPr>
        <p:spPr>
          <a:xfrm>
            <a:off x="1005840" y="4160520"/>
            <a:ext cx="274320" cy="274320"/>
          </a:xfrm>
          <a:prstGeom prst="rect">
            <a:avLst/>
          </a:prstGeom>
          <a:solidFill>
            <a:srgbClr val="F7E8C8"/>
          </a:solidFill>
          <a:ln w="6350">
            <a:solidFill>
              <a:srgbClr val="9C8A5A"/>
            </a:solidFill>
            <a:prstDash val="solid"/>
          </a:ln>
        </p:spPr>
      </p:sp>
      <p:sp>
        <p:nvSpPr>
          <p:cNvPr id="48" name="Shape 46"/>
          <p:cNvSpPr/>
          <p:nvPr/>
        </p:nvSpPr>
        <p:spPr>
          <a:xfrm>
            <a:off x="1280160" y="4160520"/>
            <a:ext cx="274320" cy="274320"/>
          </a:xfrm>
          <a:prstGeom prst="rect">
            <a:avLst/>
          </a:prstGeom>
          <a:solidFill>
            <a:srgbClr val="F7E8C8"/>
          </a:solidFill>
          <a:ln w="6350">
            <a:solidFill>
              <a:srgbClr val="9C8A5A"/>
            </a:solidFill>
            <a:prstDash val="solid"/>
          </a:ln>
        </p:spPr>
      </p:sp>
      <p:sp>
        <p:nvSpPr>
          <p:cNvPr id="49" name="Shape 47"/>
          <p:cNvSpPr/>
          <p:nvPr/>
        </p:nvSpPr>
        <p:spPr>
          <a:xfrm>
            <a:off x="1554480" y="4160520"/>
            <a:ext cx="274320" cy="274320"/>
          </a:xfrm>
          <a:prstGeom prst="rect">
            <a:avLst/>
          </a:prstGeom>
          <a:solidFill>
            <a:srgbClr val="F7E8C8"/>
          </a:solidFill>
          <a:ln w="6350">
            <a:solidFill>
              <a:srgbClr val="9C8A5A"/>
            </a:solidFill>
            <a:prstDash val="solid"/>
          </a:ln>
        </p:spPr>
      </p:sp>
      <p:sp>
        <p:nvSpPr>
          <p:cNvPr id="50" name="Shape 48"/>
          <p:cNvSpPr/>
          <p:nvPr/>
        </p:nvSpPr>
        <p:spPr>
          <a:xfrm>
            <a:off x="1828800" y="4160520"/>
            <a:ext cx="274320" cy="274320"/>
          </a:xfrm>
          <a:prstGeom prst="rect">
            <a:avLst/>
          </a:prstGeom>
          <a:solidFill>
            <a:srgbClr val="F7E8C8"/>
          </a:solidFill>
          <a:ln w="6350">
            <a:solidFill>
              <a:srgbClr val="9C8A5A"/>
            </a:solidFill>
            <a:prstDash val="solid"/>
          </a:ln>
        </p:spPr>
      </p:sp>
      <p:sp>
        <p:nvSpPr>
          <p:cNvPr id="51" name="Shape 49"/>
          <p:cNvSpPr/>
          <p:nvPr/>
        </p:nvSpPr>
        <p:spPr>
          <a:xfrm>
            <a:off x="2103120" y="4160520"/>
            <a:ext cx="274320" cy="274320"/>
          </a:xfrm>
          <a:prstGeom prst="rect">
            <a:avLst/>
          </a:prstGeom>
          <a:solidFill>
            <a:srgbClr val="F7E8C8"/>
          </a:solidFill>
          <a:ln w="6350">
            <a:solidFill>
              <a:srgbClr val="9C8A5A"/>
            </a:solidFill>
            <a:prstDash val="solid"/>
          </a:ln>
        </p:spPr>
      </p:sp>
      <p:sp>
        <p:nvSpPr>
          <p:cNvPr id="52" name="Shape 50"/>
          <p:cNvSpPr/>
          <p:nvPr/>
        </p:nvSpPr>
        <p:spPr>
          <a:xfrm>
            <a:off x="2377440" y="4160520"/>
            <a:ext cx="274320" cy="274320"/>
          </a:xfrm>
          <a:prstGeom prst="rect">
            <a:avLst/>
          </a:prstGeom>
          <a:solidFill>
            <a:srgbClr val="F7E8C8"/>
          </a:solidFill>
          <a:ln w="6350">
            <a:solidFill>
              <a:srgbClr val="9C8A5A"/>
            </a:solidFill>
            <a:prstDash val="solid"/>
          </a:ln>
        </p:spPr>
      </p:sp>
      <p:sp>
        <p:nvSpPr>
          <p:cNvPr id="53" name="Shape 51"/>
          <p:cNvSpPr/>
          <p:nvPr/>
        </p:nvSpPr>
        <p:spPr>
          <a:xfrm>
            <a:off x="2651760" y="4160520"/>
            <a:ext cx="274320" cy="274320"/>
          </a:xfrm>
          <a:prstGeom prst="rect">
            <a:avLst/>
          </a:prstGeom>
          <a:solidFill>
            <a:srgbClr val="F7E8C8"/>
          </a:solidFill>
          <a:ln w="6350">
            <a:solidFill>
              <a:srgbClr val="9C8A5A"/>
            </a:solidFill>
            <a:prstDash val="solid"/>
          </a:ln>
        </p:spPr>
      </p:sp>
      <p:sp>
        <p:nvSpPr>
          <p:cNvPr id="54" name="Shape 52"/>
          <p:cNvSpPr/>
          <p:nvPr/>
        </p:nvSpPr>
        <p:spPr>
          <a:xfrm>
            <a:off x="2926080" y="4160520"/>
            <a:ext cx="274320" cy="274320"/>
          </a:xfrm>
          <a:prstGeom prst="rect">
            <a:avLst/>
          </a:prstGeom>
          <a:solidFill>
            <a:srgbClr val="E8F4E0"/>
          </a:solidFill>
          <a:ln w="6350">
            <a:solidFill>
              <a:srgbClr val="9C8A5A"/>
            </a:solidFill>
            <a:prstDash val="solid"/>
          </a:ln>
        </p:spPr>
      </p:sp>
      <p:sp>
        <p:nvSpPr>
          <p:cNvPr id="55" name="Shape 53"/>
          <p:cNvSpPr/>
          <p:nvPr/>
        </p:nvSpPr>
        <p:spPr>
          <a:xfrm>
            <a:off x="731520" y="4434840"/>
            <a:ext cx="274320" cy="274320"/>
          </a:xfrm>
          <a:prstGeom prst="rect">
            <a:avLst/>
          </a:prstGeom>
          <a:solidFill>
            <a:srgbClr val="E8F4E0"/>
          </a:solidFill>
          <a:ln w="6350">
            <a:solidFill>
              <a:srgbClr val="9C8A5A"/>
            </a:solidFill>
            <a:prstDash val="solid"/>
          </a:ln>
        </p:spPr>
      </p:sp>
      <p:sp>
        <p:nvSpPr>
          <p:cNvPr id="56" name="Shape 54"/>
          <p:cNvSpPr/>
          <p:nvPr/>
        </p:nvSpPr>
        <p:spPr>
          <a:xfrm>
            <a:off x="1005840" y="4434840"/>
            <a:ext cx="274320" cy="274320"/>
          </a:xfrm>
          <a:prstGeom prst="rect">
            <a:avLst/>
          </a:prstGeom>
          <a:solidFill>
            <a:srgbClr val="F7E8C8"/>
          </a:solidFill>
          <a:ln w="6350">
            <a:solidFill>
              <a:srgbClr val="9C8A5A"/>
            </a:solidFill>
            <a:prstDash val="solid"/>
          </a:ln>
        </p:spPr>
      </p:sp>
      <p:sp>
        <p:nvSpPr>
          <p:cNvPr id="57" name="Shape 55"/>
          <p:cNvSpPr/>
          <p:nvPr/>
        </p:nvSpPr>
        <p:spPr>
          <a:xfrm>
            <a:off x="1280160" y="4434840"/>
            <a:ext cx="274320" cy="274320"/>
          </a:xfrm>
          <a:prstGeom prst="rect">
            <a:avLst/>
          </a:prstGeom>
          <a:solidFill>
            <a:srgbClr val="F7E8C8"/>
          </a:solidFill>
          <a:ln w="6350">
            <a:solidFill>
              <a:srgbClr val="9C8A5A"/>
            </a:solidFill>
            <a:prstDash val="solid"/>
          </a:ln>
        </p:spPr>
      </p:sp>
      <p:sp>
        <p:nvSpPr>
          <p:cNvPr id="58" name="Shape 56"/>
          <p:cNvSpPr/>
          <p:nvPr/>
        </p:nvSpPr>
        <p:spPr>
          <a:xfrm>
            <a:off x="1554480" y="4434840"/>
            <a:ext cx="274320" cy="274320"/>
          </a:xfrm>
          <a:prstGeom prst="rect">
            <a:avLst/>
          </a:prstGeom>
          <a:solidFill>
            <a:srgbClr val="F7E8C8"/>
          </a:solidFill>
          <a:ln w="6350">
            <a:solidFill>
              <a:srgbClr val="9C8A5A"/>
            </a:solidFill>
            <a:prstDash val="solid"/>
          </a:ln>
        </p:spPr>
      </p:sp>
      <p:sp>
        <p:nvSpPr>
          <p:cNvPr id="59" name="Shape 57"/>
          <p:cNvSpPr/>
          <p:nvPr/>
        </p:nvSpPr>
        <p:spPr>
          <a:xfrm>
            <a:off x="1828800" y="4434840"/>
            <a:ext cx="274320" cy="274320"/>
          </a:xfrm>
          <a:prstGeom prst="rect">
            <a:avLst/>
          </a:prstGeom>
          <a:solidFill>
            <a:srgbClr val="F7E8C8"/>
          </a:solidFill>
          <a:ln w="6350">
            <a:solidFill>
              <a:srgbClr val="9C8A5A"/>
            </a:solidFill>
            <a:prstDash val="solid"/>
          </a:ln>
        </p:spPr>
      </p:sp>
      <p:sp>
        <p:nvSpPr>
          <p:cNvPr id="60" name="Shape 58"/>
          <p:cNvSpPr/>
          <p:nvPr/>
        </p:nvSpPr>
        <p:spPr>
          <a:xfrm>
            <a:off x="2103120" y="4434840"/>
            <a:ext cx="274320" cy="274320"/>
          </a:xfrm>
          <a:prstGeom prst="rect">
            <a:avLst/>
          </a:prstGeom>
          <a:solidFill>
            <a:srgbClr val="F7E8C8"/>
          </a:solidFill>
          <a:ln w="6350">
            <a:solidFill>
              <a:srgbClr val="9C8A5A"/>
            </a:solidFill>
            <a:prstDash val="solid"/>
          </a:ln>
        </p:spPr>
      </p:sp>
      <p:sp>
        <p:nvSpPr>
          <p:cNvPr id="61" name="Shape 59"/>
          <p:cNvSpPr/>
          <p:nvPr/>
        </p:nvSpPr>
        <p:spPr>
          <a:xfrm>
            <a:off x="2377440" y="4434840"/>
            <a:ext cx="274320" cy="274320"/>
          </a:xfrm>
          <a:prstGeom prst="rect">
            <a:avLst/>
          </a:prstGeom>
          <a:solidFill>
            <a:srgbClr val="F7E8C8"/>
          </a:solidFill>
          <a:ln w="6350">
            <a:solidFill>
              <a:srgbClr val="9C8A5A"/>
            </a:solidFill>
            <a:prstDash val="solid"/>
          </a:ln>
        </p:spPr>
      </p:sp>
      <p:sp>
        <p:nvSpPr>
          <p:cNvPr id="62" name="Shape 60"/>
          <p:cNvSpPr/>
          <p:nvPr/>
        </p:nvSpPr>
        <p:spPr>
          <a:xfrm>
            <a:off x="2651760" y="4434840"/>
            <a:ext cx="274320" cy="274320"/>
          </a:xfrm>
          <a:prstGeom prst="rect">
            <a:avLst/>
          </a:prstGeom>
          <a:solidFill>
            <a:srgbClr val="F7E8C8"/>
          </a:solidFill>
          <a:ln w="6350">
            <a:solidFill>
              <a:srgbClr val="9C8A5A"/>
            </a:solidFill>
            <a:prstDash val="solid"/>
          </a:ln>
        </p:spPr>
      </p:sp>
      <p:sp>
        <p:nvSpPr>
          <p:cNvPr id="63" name="Shape 61"/>
          <p:cNvSpPr/>
          <p:nvPr/>
        </p:nvSpPr>
        <p:spPr>
          <a:xfrm>
            <a:off x="2926080" y="4434840"/>
            <a:ext cx="274320" cy="274320"/>
          </a:xfrm>
          <a:prstGeom prst="rect">
            <a:avLst/>
          </a:prstGeom>
          <a:solidFill>
            <a:srgbClr val="E8F4E0"/>
          </a:solidFill>
          <a:ln w="6350">
            <a:solidFill>
              <a:srgbClr val="9C8A5A"/>
            </a:solidFill>
            <a:prstDash val="solid"/>
          </a:ln>
        </p:spPr>
      </p:sp>
      <p:sp>
        <p:nvSpPr>
          <p:cNvPr id="64" name="Shape 62"/>
          <p:cNvSpPr/>
          <p:nvPr/>
        </p:nvSpPr>
        <p:spPr>
          <a:xfrm>
            <a:off x="731520" y="4709160"/>
            <a:ext cx="274320" cy="274320"/>
          </a:xfrm>
          <a:prstGeom prst="rect">
            <a:avLst/>
          </a:prstGeom>
          <a:solidFill>
            <a:srgbClr val="E8F4E0"/>
          </a:solidFill>
          <a:ln w="6350">
            <a:solidFill>
              <a:srgbClr val="9C8A5A"/>
            </a:solidFill>
            <a:prstDash val="solid"/>
          </a:ln>
        </p:spPr>
      </p:sp>
      <p:sp>
        <p:nvSpPr>
          <p:cNvPr id="65" name="Shape 63"/>
          <p:cNvSpPr/>
          <p:nvPr/>
        </p:nvSpPr>
        <p:spPr>
          <a:xfrm>
            <a:off x="1005840" y="4709160"/>
            <a:ext cx="274320" cy="274320"/>
          </a:xfrm>
          <a:prstGeom prst="rect">
            <a:avLst/>
          </a:prstGeom>
          <a:solidFill>
            <a:srgbClr val="E8F4E0"/>
          </a:solidFill>
          <a:ln w="6350">
            <a:solidFill>
              <a:srgbClr val="9C8A5A"/>
            </a:solidFill>
            <a:prstDash val="solid"/>
          </a:ln>
        </p:spPr>
      </p:sp>
      <p:sp>
        <p:nvSpPr>
          <p:cNvPr id="66" name="Shape 64"/>
          <p:cNvSpPr/>
          <p:nvPr/>
        </p:nvSpPr>
        <p:spPr>
          <a:xfrm>
            <a:off x="1280160" y="4709160"/>
            <a:ext cx="274320" cy="274320"/>
          </a:xfrm>
          <a:prstGeom prst="rect">
            <a:avLst/>
          </a:prstGeom>
          <a:solidFill>
            <a:srgbClr val="E8F4E0"/>
          </a:solidFill>
          <a:ln w="6350">
            <a:solidFill>
              <a:srgbClr val="9C8A5A"/>
            </a:solidFill>
            <a:prstDash val="solid"/>
          </a:ln>
        </p:spPr>
      </p:sp>
      <p:sp>
        <p:nvSpPr>
          <p:cNvPr id="67" name="Shape 65"/>
          <p:cNvSpPr/>
          <p:nvPr/>
        </p:nvSpPr>
        <p:spPr>
          <a:xfrm>
            <a:off x="1554480" y="4709160"/>
            <a:ext cx="274320" cy="274320"/>
          </a:xfrm>
          <a:prstGeom prst="rect">
            <a:avLst/>
          </a:prstGeom>
          <a:solidFill>
            <a:srgbClr val="E8F4E0"/>
          </a:solidFill>
          <a:ln w="6350">
            <a:solidFill>
              <a:srgbClr val="9C8A5A"/>
            </a:solidFill>
            <a:prstDash val="solid"/>
          </a:ln>
        </p:spPr>
      </p:sp>
      <p:sp>
        <p:nvSpPr>
          <p:cNvPr id="68" name="Shape 66"/>
          <p:cNvSpPr/>
          <p:nvPr/>
        </p:nvSpPr>
        <p:spPr>
          <a:xfrm>
            <a:off x="1828800" y="4709160"/>
            <a:ext cx="274320" cy="274320"/>
          </a:xfrm>
          <a:prstGeom prst="rect">
            <a:avLst/>
          </a:prstGeom>
          <a:solidFill>
            <a:srgbClr val="E8F4E0"/>
          </a:solidFill>
          <a:ln w="6350">
            <a:solidFill>
              <a:srgbClr val="9C8A5A"/>
            </a:solidFill>
            <a:prstDash val="solid"/>
          </a:ln>
        </p:spPr>
      </p:sp>
      <p:sp>
        <p:nvSpPr>
          <p:cNvPr id="69" name="Shape 67"/>
          <p:cNvSpPr/>
          <p:nvPr/>
        </p:nvSpPr>
        <p:spPr>
          <a:xfrm>
            <a:off x="2103120" y="4709160"/>
            <a:ext cx="274320" cy="274320"/>
          </a:xfrm>
          <a:prstGeom prst="rect">
            <a:avLst/>
          </a:prstGeom>
          <a:solidFill>
            <a:srgbClr val="E8F4E0"/>
          </a:solidFill>
          <a:ln w="6350">
            <a:solidFill>
              <a:srgbClr val="9C8A5A"/>
            </a:solidFill>
            <a:prstDash val="solid"/>
          </a:ln>
        </p:spPr>
      </p:sp>
      <p:sp>
        <p:nvSpPr>
          <p:cNvPr id="70" name="Shape 68"/>
          <p:cNvSpPr/>
          <p:nvPr/>
        </p:nvSpPr>
        <p:spPr>
          <a:xfrm>
            <a:off x="2377440" y="4709160"/>
            <a:ext cx="274320" cy="274320"/>
          </a:xfrm>
          <a:prstGeom prst="rect">
            <a:avLst/>
          </a:prstGeom>
          <a:solidFill>
            <a:srgbClr val="E8F4E0"/>
          </a:solidFill>
          <a:ln w="6350">
            <a:solidFill>
              <a:srgbClr val="9C8A5A"/>
            </a:solidFill>
            <a:prstDash val="solid"/>
          </a:ln>
        </p:spPr>
      </p:sp>
      <p:sp>
        <p:nvSpPr>
          <p:cNvPr id="71" name="Shape 69"/>
          <p:cNvSpPr/>
          <p:nvPr/>
        </p:nvSpPr>
        <p:spPr>
          <a:xfrm>
            <a:off x="2651760" y="4709160"/>
            <a:ext cx="274320" cy="274320"/>
          </a:xfrm>
          <a:prstGeom prst="rect">
            <a:avLst/>
          </a:prstGeom>
          <a:solidFill>
            <a:srgbClr val="E8F4E0"/>
          </a:solidFill>
          <a:ln w="6350">
            <a:solidFill>
              <a:srgbClr val="9C8A5A"/>
            </a:solidFill>
            <a:prstDash val="solid"/>
          </a:ln>
        </p:spPr>
      </p:sp>
      <p:sp>
        <p:nvSpPr>
          <p:cNvPr id="72" name="Shape 70"/>
          <p:cNvSpPr/>
          <p:nvPr/>
        </p:nvSpPr>
        <p:spPr>
          <a:xfrm>
            <a:off x="2926080" y="4709160"/>
            <a:ext cx="274320" cy="274320"/>
          </a:xfrm>
          <a:prstGeom prst="rect">
            <a:avLst/>
          </a:prstGeom>
          <a:solidFill>
            <a:srgbClr val="E8F4E0"/>
          </a:solidFill>
          <a:ln w="6350">
            <a:solidFill>
              <a:srgbClr val="9C8A5A"/>
            </a:solidFill>
            <a:prstDash val="solid"/>
          </a:ln>
        </p:spPr>
      </p:sp>
      <p:sp>
        <p:nvSpPr>
          <p:cNvPr id="73" name="Shape 71"/>
          <p:cNvSpPr/>
          <p:nvPr/>
        </p:nvSpPr>
        <p:spPr>
          <a:xfrm>
            <a:off x="1828800" y="3886200"/>
            <a:ext cx="274320" cy="274320"/>
          </a:xfrm>
          <a:prstGeom prst="rect">
            <a:avLst/>
          </a:prstGeom>
          <a:solidFill>
            <a:srgbClr val="F2B8B8"/>
          </a:solidFill>
          <a:ln w="19050">
            <a:solidFill>
              <a:srgbClr val="C8414C"/>
            </a:solidFill>
            <a:prstDash val="solid"/>
          </a:ln>
        </p:spPr>
      </p:sp>
      <p:sp>
        <p:nvSpPr>
          <p:cNvPr id="74" name="Shape 72"/>
          <p:cNvSpPr/>
          <p:nvPr/>
        </p:nvSpPr>
        <p:spPr>
          <a:xfrm>
            <a:off x="502920" y="4023360"/>
            <a:ext cx="1325880" cy="91"/>
          </a:xfrm>
          <a:prstGeom prst="line">
            <a:avLst/>
          </a:prstGeom>
          <a:noFill/>
          <a:ln w="22225">
            <a:solidFill>
              <a:srgbClr val="2E8B57"/>
            </a:solidFill>
            <a:prstDash val="solid"/>
            <a:tailEnd type="triangle"/>
          </a:ln>
        </p:spPr>
      </p:sp>
      <p:sp>
        <p:nvSpPr>
          <p:cNvPr id="75" name="Text 73"/>
          <p:cNvSpPr/>
          <p:nvPr/>
        </p:nvSpPr>
        <p:spPr>
          <a:xfrm>
            <a:off x="1280160" y="5010912"/>
            <a:ext cx="1371600" cy="256032"/>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cell deep inside</a:t>
            </a:r>
            <a:endParaRPr lang="en-US" sz="1000" dirty="0"/>
          </a:p>
        </p:txBody>
      </p:sp>
      <p:sp>
        <p:nvSpPr>
          <p:cNvPr id="76" name="Text 74"/>
          <p:cNvSpPr/>
          <p:nvPr/>
        </p:nvSpPr>
        <p:spPr>
          <a:xfrm>
            <a:off x="3337560" y="3337560"/>
            <a:ext cx="2468880" cy="77724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O₂ must cross </a:t>
            </a:r>
            <a:r>
              <a:rPr lang="en-US" sz="1050" b="1" dirty="0">
                <a:solidFill>
                  <a:srgbClr val="262B3A"/>
                </a:solidFill>
                <a:latin typeface="Calibri" pitchFamily="34" charset="0"/>
                <a:ea typeface="Calibri" pitchFamily="34" charset="-122"/>
                <a:cs typeface="Calibri" pitchFamily="34" charset="-120"/>
              </a:rPr>
              <a:t>many cells</a:t>
            </a:r>
            <a:r>
              <a:rPr lang="en-US" sz="1050" dirty="0">
                <a:solidFill>
                  <a:srgbClr val="262B3A"/>
                </a:solidFill>
                <a:latin typeface="Calibri" pitchFamily="34" charset="0"/>
                <a:ea typeface="Calibri" pitchFamily="34" charset="-122"/>
                <a:cs typeface="Calibri" pitchFamily="34" charset="-120"/>
              </a:rPr>
              <a:t> to reach the middle: the distance is too long</a:t>
            </a:r>
            <a:endParaRPr lang="en-US" sz="1050" dirty="0"/>
          </a:p>
        </p:txBody>
      </p:sp>
      <p:sp>
        <p:nvSpPr>
          <p:cNvPr id="77" name="Text 75"/>
          <p:cNvSpPr/>
          <p:nvPr/>
        </p:nvSpPr>
        <p:spPr>
          <a:xfrm>
            <a:off x="3337560" y="4160520"/>
            <a:ext cx="2468880" cy="777240"/>
          </a:xfrm>
          <a:prstGeom prst="rect">
            <a:avLst/>
          </a:prstGeom>
          <a:noFill/>
          <a:ln/>
        </p:spPr>
        <p:txBody>
          <a:bodyPr wrap="square" lIns="0" tIns="0" rIns="0" bIns="0" rtlCol="0" anchor="t"/>
          <a:lstStyle/>
          <a:p>
            <a:pPr algn="l" indent="0" marL="0">
              <a:buNone/>
            </a:pPr>
            <a:r>
              <a:rPr lang="en-US" sz="1050" b="1" dirty="0">
                <a:solidFill>
                  <a:srgbClr val="0D7877"/>
                </a:solidFill>
                <a:latin typeface="Calibri" pitchFamily="34" charset="0"/>
                <a:ea typeface="Calibri" pitchFamily="34" charset="-122"/>
                <a:cs typeface="Calibri" pitchFamily="34" charset="-120"/>
              </a:rPr>
              <a:t>Solution: </a:t>
            </a:r>
            <a:r>
              <a:rPr lang="en-US" sz="1050" b="1" dirty="0">
                <a:solidFill>
                  <a:srgbClr val="0D7877"/>
                </a:solidFill>
                <a:latin typeface="Calibri" pitchFamily="34" charset="0"/>
                <a:ea typeface="Calibri" pitchFamily="34" charset="-122"/>
                <a:cs typeface="Calibri" pitchFamily="34" charset="-120"/>
              </a:rPr>
              <a:t>exchange surfaces</a:t>
            </a:r>
            <a:r>
              <a:rPr lang="en-US" sz="1050" b="1" dirty="0">
                <a:solidFill>
                  <a:srgbClr val="0D7877"/>
                </a:solidFill>
                <a:latin typeface="Calibri" pitchFamily="34" charset="0"/>
                <a:ea typeface="Calibri" pitchFamily="34" charset="-122"/>
                <a:cs typeface="Calibri" pitchFamily="34" charset="-120"/>
              </a:rPr>
              <a:t> + a </a:t>
            </a:r>
            <a:r>
              <a:rPr lang="en-US" sz="1050" b="1" dirty="0">
                <a:solidFill>
                  <a:srgbClr val="0D7877"/>
                </a:solidFill>
                <a:latin typeface="Calibri" pitchFamily="34" charset="0"/>
                <a:ea typeface="Calibri" pitchFamily="34" charset="-122"/>
                <a:cs typeface="Calibri" pitchFamily="34" charset="-120"/>
              </a:rPr>
              <a:t>transport system</a:t>
            </a:r>
            <a:r>
              <a:rPr lang="en-US" sz="1050" b="1" dirty="0">
                <a:solidFill>
                  <a:srgbClr val="0D7877"/>
                </a:solidFill>
                <a:latin typeface="Calibri" pitchFamily="34" charset="0"/>
                <a:ea typeface="Calibri" pitchFamily="34" charset="-122"/>
                <a:cs typeface="Calibri" pitchFamily="34" charset="-120"/>
              </a:rPr>
              <a:t> (blood)</a:t>
            </a:r>
            <a:endParaRPr lang="en-US" sz="1050" dirty="0"/>
          </a:p>
        </p:txBody>
      </p:sp>
      <p:sp>
        <p:nvSpPr>
          <p:cNvPr id="78" name="Shape 76"/>
          <p:cNvSpPr/>
          <p:nvPr/>
        </p:nvSpPr>
        <p:spPr>
          <a:xfrm>
            <a:off x="6217920" y="1188720"/>
            <a:ext cx="5562295" cy="2697480"/>
          </a:xfrm>
          <a:prstGeom prst="roundRect">
            <a:avLst>
              <a:gd name="adj" fmla="val 2034"/>
            </a:avLst>
          </a:prstGeom>
          <a:solidFill>
            <a:srgbClr val="F4FAF9"/>
          </a:solidFill>
          <a:ln w="9525">
            <a:solidFill>
              <a:srgbClr val="CFE0DE"/>
            </a:solidFill>
            <a:prstDash val="solid"/>
          </a:ln>
        </p:spPr>
      </p:sp>
      <p:sp>
        <p:nvSpPr>
          <p:cNvPr id="79" name="Text 7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Exchange surfaces and transport</a:t>
            </a:r>
            <a:endParaRPr lang="en-US" sz="1300" dirty="0"/>
          </a:p>
        </p:txBody>
      </p:sp>
      <p:sp>
        <p:nvSpPr>
          <p:cNvPr id="80" name="Text 78"/>
          <p:cNvSpPr/>
          <p:nvPr/>
        </p:nvSpPr>
        <p:spPr>
          <a:xfrm>
            <a:off x="6382512" y="1609344"/>
            <a:ext cx="5233111"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Small organisms have a </a:t>
            </a:r>
            <a:r>
              <a:rPr lang="en-US" sz="1100" b="1" dirty="0">
                <a:solidFill>
                  <a:srgbClr val="262B3A"/>
                </a:solidFill>
                <a:latin typeface="Calibri" pitchFamily="34" charset="0"/>
                <a:ea typeface="Calibri" pitchFamily="34" charset="-122"/>
                <a:cs typeface="Calibri" pitchFamily="34" charset="-120"/>
              </a:rPr>
              <a:t>large SA:V</a:t>
            </a:r>
            <a:r>
              <a:rPr lang="en-US" sz="1100" dirty="0">
                <a:solidFill>
                  <a:srgbClr val="262B3A"/>
                </a:solidFill>
                <a:latin typeface="Calibri" pitchFamily="34" charset="0"/>
                <a:ea typeface="Calibri" pitchFamily="34" charset="-122"/>
                <a:cs typeface="Calibri" pitchFamily="34" charset="-120"/>
              </a:rPr>
              <a:t> and short distances: diffusion through the surface is enough.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Large organisms have a </a:t>
            </a:r>
            <a:r>
              <a:rPr lang="en-US" sz="1100" b="1" dirty="0">
                <a:solidFill>
                  <a:srgbClr val="262B3A"/>
                </a:solidFill>
                <a:latin typeface="Calibri" pitchFamily="34" charset="0"/>
                <a:ea typeface="Calibri" pitchFamily="34" charset="-122"/>
                <a:cs typeface="Calibri" pitchFamily="34" charset="-120"/>
              </a:rPr>
              <a:t>small SA:V</a:t>
            </a:r>
            <a:r>
              <a:rPr lang="en-US" sz="1100" dirty="0">
                <a:solidFill>
                  <a:srgbClr val="262B3A"/>
                </a:solidFill>
                <a:latin typeface="Calibri" pitchFamily="34" charset="0"/>
                <a:ea typeface="Calibri" pitchFamily="34" charset="-122"/>
                <a:cs typeface="Calibri" pitchFamily="34" charset="-120"/>
              </a:rPr>
              <a:t> and cells far from the surface.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They need </a:t>
            </a:r>
            <a:r>
              <a:rPr lang="en-US" sz="1100" b="1" dirty="0">
                <a:solidFill>
                  <a:srgbClr val="262B3A"/>
                </a:solidFill>
                <a:latin typeface="Calibri" pitchFamily="34" charset="0"/>
                <a:ea typeface="Calibri" pitchFamily="34" charset="-122"/>
                <a:cs typeface="Calibri" pitchFamily="34" charset="-120"/>
              </a:rPr>
              <a:t>exchange surfaces</a:t>
            </a:r>
            <a:r>
              <a:rPr lang="en-US" sz="1100" dirty="0">
                <a:solidFill>
                  <a:srgbClr val="262B3A"/>
                </a:solidFill>
                <a:latin typeface="Calibri" pitchFamily="34" charset="0"/>
                <a:ea typeface="Calibri" pitchFamily="34" charset="-122"/>
                <a:cs typeface="Calibri" pitchFamily="34" charset="-120"/>
              </a:rPr>
              <a:t> with a huge area (lungs, small intestine) and a </a:t>
            </a:r>
            <a:r>
              <a:rPr lang="en-US" sz="1100" b="1" dirty="0">
                <a:solidFill>
                  <a:srgbClr val="262B3A"/>
                </a:solidFill>
                <a:latin typeface="Calibri" pitchFamily="34" charset="0"/>
                <a:ea typeface="Calibri" pitchFamily="34" charset="-122"/>
                <a:cs typeface="Calibri" pitchFamily="34" charset="-120"/>
              </a:rPr>
              <a:t>transport system</a:t>
            </a:r>
            <a:r>
              <a:rPr lang="en-US" sz="1100" dirty="0">
                <a:solidFill>
                  <a:srgbClr val="262B3A"/>
                </a:solidFill>
                <a:latin typeface="Calibri" pitchFamily="34" charset="0"/>
                <a:ea typeface="Calibri" pitchFamily="34" charset="-122"/>
                <a:cs typeface="Calibri" pitchFamily="34" charset="-120"/>
              </a:rPr>
              <a:t> to carry substances close to every cell.</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good exchange surface: </a:t>
            </a:r>
            <a:r>
              <a:rPr lang="en-US" sz="1100" b="1" dirty="0">
                <a:solidFill>
                  <a:srgbClr val="262B3A"/>
                </a:solidFill>
                <a:latin typeface="Calibri" pitchFamily="34" charset="0"/>
                <a:ea typeface="Calibri" pitchFamily="34" charset="-122"/>
                <a:cs typeface="Calibri" pitchFamily="34" charset="-120"/>
              </a:rPr>
              <a:t>large area</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thin</a:t>
            </a:r>
            <a:r>
              <a:rPr lang="en-US" sz="1100" dirty="0">
                <a:solidFill>
                  <a:srgbClr val="262B3A"/>
                </a:solidFill>
                <a:latin typeface="Calibri" pitchFamily="34" charset="0"/>
                <a:ea typeface="Calibri" pitchFamily="34" charset="-122"/>
                <a:cs typeface="Calibri" pitchFamily="34" charset="-120"/>
              </a:rPr>
              <a:t> (short distance), </a:t>
            </a:r>
            <a:r>
              <a:rPr lang="en-US" sz="1100" b="1" dirty="0">
                <a:solidFill>
                  <a:srgbClr val="262B3A"/>
                </a:solidFill>
                <a:latin typeface="Calibri" pitchFamily="34" charset="0"/>
                <a:ea typeface="Calibri" pitchFamily="34" charset="-122"/>
                <a:cs typeface="Calibri" pitchFamily="34" charset="-120"/>
              </a:rPr>
              <a:t>good blood supply</a:t>
            </a:r>
            <a:r>
              <a:rPr lang="en-US" sz="1100" dirty="0">
                <a:solidFill>
                  <a:srgbClr val="262B3A"/>
                </a:solidFill>
                <a:latin typeface="Calibri" pitchFamily="34" charset="0"/>
                <a:ea typeface="Calibri" pitchFamily="34" charset="-122"/>
                <a:cs typeface="Calibri" pitchFamily="34" charset="-120"/>
              </a:rPr>
              <a:t> to keep a steep concentration gradient.</a:t>
            </a:r>
            <a:endParaRPr lang="en-US" sz="1100" dirty="0"/>
          </a:p>
        </p:txBody>
      </p:sp>
      <p:sp>
        <p:nvSpPr>
          <p:cNvPr id="81" name="Shape 79"/>
          <p:cNvSpPr/>
          <p:nvPr/>
        </p:nvSpPr>
        <p:spPr>
          <a:xfrm>
            <a:off x="6217920" y="4023360"/>
            <a:ext cx="5562295" cy="1691640"/>
          </a:xfrm>
          <a:prstGeom prst="roundRect">
            <a:avLst>
              <a:gd name="adj" fmla="val 3243"/>
            </a:avLst>
          </a:prstGeom>
          <a:solidFill>
            <a:srgbClr val="FFF4E0"/>
          </a:solidFill>
          <a:ln w="9525">
            <a:solidFill>
              <a:srgbClr val="F1D9A8"/>
            </a:solidFill>
            <a:prstDash val="solid"/>
          </a:ln>
        </p:spPr>
      </p:sp>
      <p:sp>
        <p:nvSpPr>
          <p:cNvPr id="82" name="Text 80"/>
          <p:cNvSpPr/>
          <p:nvPr/>
        </p:nvSpPr>
        <p:spPr>
          <a:xfrm>
            <a:off x="6382512" y="40965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diffusion distance</a:t>
            </a:r>
            <a:endParaRPr lang="en-US" sz="1300" dirty="0"/>
          </a:p>
        </p:txBody>
      </p:sp>
      <p:sp>
        <p:nvSpPr>
          <p:cNvPr id="83" name="Text 81"/>
          <p:cNvSpPr/>
          <p:nvPr/>
        </p:nvSpPr>
        <p:spPr>
          <a:xfrm>
            <a:off x="6382512" y="4407408"/>
            <a:ext cx="5233111"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Oxygen travels 0.1 mm into an amoeba. A cell in a human leg is about 100 mm from the lungs. How many times further is that?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Same units   </a:t>
            </a:r>
            <a:r>
              <a:rPr lang="en-US" sz="1050" dirty="0">
                <a:solidFill>
                  <a:srgbClr val="262B3A"/>
                </a:solidFill>
                <a:latin typeface="Calibri" pitchFamily="34" charset="0"/>
                <a:ea typeface="Calibri" pitchFamily="34" charset="-122"/>
                <a:cs typeface="Calibri" pitchFamily="34" charset="-120"/>
              </a:rPr>
              <a:t>both in mm: 100 mm and 0.1 mm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100 ÷ 0.1</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1000 times further: far too far for diffusion</a:t>
            </a:r>
            <a:endParaRPr lang="en-US" sz="1050" dirty="0"/>
          </a:p>
        </p:txBody>
      </p:sp>
      <p:sp>
        <p:nvSpPr>
          <p:cNvPr id="84" name="Shape 82"/>
          <p:cNvSpPr/>
          <p:nvPr/>
        </p:nvSpPr>
        <p:spPr>
          <a:xfrm>
            <a:off x="411480" y="5833872"/>
            <a:ext cx="11368735" cy="530352"/>
          </a:xfrm>
          <a:prstGeom prst="rect">
            <a:avLst/>
          </a:prstGeom>
          <a:solidFill>
            <a:srgbClr val="FFF4E0"/>
          </a:solidFill>
          <a:ln w="6350">
            <a:solidFill>
              <a:srgbClr val="F1D9A8"/>
            </a:solidFill>
            <a:prstDash val="solid"/>
          </a:ln>
        </p:spPr>
      </p:sp>
      <p:sp>
        <p:nvSpPr>
          <p:cNvPr id="85" name="Shape 83"/>
          <p:cNvSpPr/>
          <p:nvPr/>
        </p:nvSpPr>
        <p:spPr>
          <a:xfrm>
            <a:off x="411480" y="5833872"/>
            <a:ext cx="82296" cy="530352"/>
          </a:xfrm>
          <a:prstGeom prst="rect">
            <a:avLst/>
          </a:prstGeom>
          <a:solidFill>
            <a:srgbClr val="E39A2F"/>
          </a:solidFill>
          <a:ln w="12700">
            <a:solidFill>
              <a:srgbClr val="E39A2F"/>
            </a:solidFill>
            <a:prstDash val="solid"/>
          </a:ln>
        </p:spPr>
      </p:sp>
      <p:sp>
        <p:nvSpPr>
          <p:cNvPr id="86" name="Text 8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2 cm</a:t>
            </a:r>
            <a:r>
              <a:rPr lang="en-US" sz="1150" dirty="0">
                <a:solidFill>
                  <a:srgbClr val="262B3A"/>
                </a:solidFill>
                <a:latin typeface="Calibri" pitchFamily="34" charset="0"/>
                <a:ea typeface="Calibri" pitchFamily="34" charset="-122"/>
                <a:cs typeface="Calibri" pitchFamily="34" charset="-120"/>
              </a:rPr>
              <a:t> cube has a SA:V of 3 : 1. Use this to explain why a 2 cm animal could not survive by diffusion through its skin alone.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B5.1.1, B5.1.2 • substances, SA:V, exchange surfaces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substances the human body must take </a:t>
            </a:r>
            <a:r>
              <a:rPr lang="en-US" sz="1250" b="1" dirty="0">
                <a:solidFill>
                  <a:srgbClr val="262B3A"/>
                </a:solidFill>
                <a:latin typeface="Calibri" pitchFamily="34" charset="0"/>
                <a:ea typeface="Calibri" pitchFamily="34" charset="-122"/>
                <a:cs typeface="Calibri" pitchFamily="34" charset="-120"/>
              </a:rPr>
              <a:t>in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waste substance it must get rid of.</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t>
            </a:r>
            <a:r>
              <a:rPr lang="en-US" sz="1250" b="1" dirty="0">
                <a:solidFill>
                  <a:srgbClr val="262B3A"/>
                </a:solidFill>
                <a:latin typeface="Calibri" pitchFamily="34" charset="0"/>
                <a:ea typeface="Calibri" pitchFamily="34" charset="-122"/>
                <a:cs typeface="Calibri" pitchFamily="34" charset="-120"/>
              </a:rPr>
              <a:t>SA : V ratio</a:t>
            </a:r>
            <a:r>
              <a:rPr lang="en-US" sz="1250" dirty="0">
                <a:solidFill>
                  <a:srgbClr val="262B3A"/>
                </a:solidFill>
                <a:latin typeface="Calibri" pitchFamily="34" charset="0"/>
                <a:ea typeface="Calibri" pitchFamily="34" charset="-122"/>
                <a:cs typeface="Calibri" pitchFamily="34" charset="-120"/>
              </a:rPr>
              <a:t> of a cube with sides of </a:t>
            </a:r>
            <a:r>
              <a:rPr lang="en-US" sz="1250" b="1" dirty="0">
                <a:solidFill>
                  <a:srgbClr val="262B3A"/>
                </a:solidFill>
                <a:latin typeface="Calibri" pitchFamily="34" charset="0"/>
                <a:ea typeface="Calibri" pitchFamily="34" charset="-122"/>
                <a:cs typeface="Calibri" pitchFamily="34" charset="-120"/>
              </a:rPr>
              <a:t>2 cm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single-celled organism does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need a transport system but a human </a:t>
            </a:r>
            <a:r>
              <a:rPr lang="en-US" sz="1250" b="1" dirty="0">
                <a:solidFill>
                  <a:srgbClr val="262B3A"/>
                </a:solidFill>
                <a:latin typeface="Calibri" pitchFamily="34" charset="0"/>
                <a:ea typeface="Calibri" pitchFamily="34" charset="-122"/>
                <a:cs typeface="Calibri" pitchFamily="34" charset="-120"/>
              </a:rPr>
              <a:t>does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feature of an efficient exchange surface.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Practical: modelling SA:V with agar cubes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 • how does cube size affect the time for acid to diffuse to the centre?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pink agar contains an alkali and indicator; acid turns it colourless</a:t>
            </a:r>
            <a:endParaRPr lang="en-US" sz="1000" dirty="0"/>
          </a:p>
        </p:txBody>
      </p:sp>
      <p:sp>
        <p:nvSpPr>
          <p:cNvPr id="12" name="Shape 10"/>
          <p:cNvSpPr/>
          <p:nvPr/>
        </p:nvSpPr>
        <p:spPr>
          <a:xfrm>
            <a:off x="548640" y="1298448"/>
            <a:ext cx="2606040" cy="1938528"/>
          </a:xfrm>
          <a:prstGeom prst="roundRect">
            <a:avLst>
              <a:gd name="adj" fmla="val 2358"/>
            </a:avLst>
          </a:prstGeom>
          <a:solidFill>
            <a:srgbClr val="FFFFFF"/>
          </a:solidFill>
          <a:ln w="12700">
            <a:solidFill>
              <a:srgbClr val="CFE0DE"/>
            </a:solidFill>
            <a:prstDash val="solid"/>
          </a:ln>
        </p:spPr>
      </p:sp>
      <p:sp>
        <p:nvSpPr>
          <p:cNvPr id="13" name="Text 11"/>
          <p:cNvSpPr/>
          <p:nvPr/>
        </p:nvSpPr>
        <p:spPr>
          <a:xfrm>
            <a:off x="640080" y="1335024"/>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1  Cut cubes: 0.5, 1, 1.5, 2 cm</a:t>
            </a:r>
            <a:endParaRPr lang="en-US" sz="1050" dirty="0"/>
          </a:p>
        </p:txBody>
      </p:sp>
      <p:sp>
        <p:nvSpPr>
          <p:cNvPr id="14" name="Shape 12"/>
          <p:cNvSpPr/>
          <p:nvPr/>
        </p:nvSpPr>
        <p:spPr>
          <a:xfrm>
            <a:off x="3291840" y="1298448"/>
            <a:ext cx="2606040" cy="1938528"/>
          </a:xfrm>
          <a:prstGeom prst="roundRect">
            <a:avLst>
              <a:gd name="adj" fmla="val 2358"/>
            </a:avLst>
          </a:prstGeom>
          <a:solidFill>
            <a:srgbClr val="FFFFFF"/>
          </a:solidFill>
          <a:ln w="12700">
            <a:solidFill>
              <a:srgbClr val="CFE0DE"/>
            </a:solidFill>
            <a:prstDash val="solid"/>
          </a:ln>
        </p:spPr>
      </p:sp>
      <p:sp>
        <p:nvSpPr>
          <p:cNvPr id="15" name="Text 13"/>
          <p:cNvSpPr/>
          <p:nvPr/>
        </p:nvSpPr>
        <p:spPr>
          <a:xfrm>
            <a:off x="3383280" y="1335024"/>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2  Drop each into acid; start timer</a:t>
            </a:r>
            <a:endParaRPr lang="en-US" sz="1050" dirty="0"/>
          </a:p>
        </p:txBody>
      </p:sp>
      <p:sp>
        <p:nvSpPr>
          <p:cNvPr id="16" name="Shape 14"/>
          <p:cNvSpPr/>
          <p:nvPr/>
        </p:nvSpPr>
        <p:spPr>
          <a:xfrm>
            <a:off x="548640" y="3364992"/>
            <a:ext cx="2606040" cy="1938528"/>
          </a:xfrm>
          <a:prstGeom prst="roundRect">
            <a:avLst>
              <a:gd name="adj" fmla="val 2358"/>
            </a:avLst>
          </a:prstGeom>
          <a:solidFill>
            <a:srgbClr val="FFFFFF"/>
          </a:solidFill>
          <a:ln w="12700">
            <a:solidFill>
              <a:srgbClr val="CFE0DE"/>
            </a:solidFill>
            <a:prstDash val="solid"/>
          </a:ln>
        </p:spPr>
      </p:sp>
      <p:sp>
        <p:nvSpPr>
          <p:cNvPr id="17" name="Text 15"/>
          <p:cNvSpPr/>
          <p:nvPr/>
        </p:nvSpPr>
        <p:spPr>
          <a:xfrm>
            <a:off x="640080" y="3401568"/>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3  Watch the pink fade</a:t>
            </a:r>
            <a:endParaRPr lang="en-US" sz="1050" dirty="0"/>
          </a:p>
        </p:txBody>
      </p:sp>
      <p:sp>
        <p:nvSpPr>
          <p:cNvPr id="18" name="Shape 16"/>
          <p:cNvSpPr/>
          <p:nvPr/>
        </p:nvSpPr>
        <p:spPr>
          <a:xfrm>
            <a:off x="3291840" y="3364992"/>
            <a:ext cx="2606040" cy="1938528"/>
          </a:xfrm>
          <a:prstGeom prst="roundRect">
            <a:avLst>
              <a:gd name="adj" fmla="val 2358"/>
            </a:avLst>
          </a:prstGeom>
          <a:solidFill>
            <a:srgbClr val="FFFFFF"/>
          </a:solidFill>
          <a:ln w="12700">
            <a:solidFill>
              <a:srgbClr val="CFE0DE"/>
            </a:solidFill>
            <a:prstDash val="solid"/>
          </a:ln>
        </p:spPr>
      </p:sp>
      <p:sp>
        <p:nvSpPr>
          <p:cNvPr id="19" name="Text 17"/>
          <p:cNvSpPr/>
          <p:nvPr/>
        </p:nvSpPr>
        <p:spPr>
          <a:xfrm>
            <a:off x="3383280" y="3401568"/>
            <a:ext cx="242316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4  Time until all colourless</a:t>
            </a:r>
            <a:endParaRPr lang="en-US" sz="1050" dirty="0"/>
          </a:p>
        </p:txBody>
      </p:sp>
      <p:sp>
        <p:nvSpPr>
          <p:cNvPr id="20" name="Shape 18"/>
          <p:cNvSpPr/>
          <p:nvPr/>
        </p:nvSpPr>
        <p:spPr>
          <a:xfrm>
            <a:off x="731520" y="2623414"/>
            <a:ext cx="211226" cy="60350"/>
          </a:xfrm>
          <a:custGeom>
            <a:avLst/>
            <a:gdLst/>
            <a:ahLst/>
            <a:cxnLst/>
            <a:rect l="l" t="t" r="r" b="b"/>
            <a:pathLst>
              <a:path w="211226" h="60350">
                <a:moveTo>
                  <a:pt x="0" y="60350"/>
                </a:moveTo>
                <a:lnTo>
                  <a:pt x="60350" y="0"/>
                </a:lnTo>
                <a:lnTo>
                  <a:pt x="211226" y="0"/>
                </a:lnTo>
                <a:lnTo>
                  <a:pt x="150876" y="60350"/>
                </a:lnTo>
                <a:close/>
              </a:path>
            </a:pathLst>
          </a:custGeom>
          <a:solidFill>
            <a:srgbClr val="F9D3DF"/>
          </a:solidFill>
          <a:ln w="12700">
            <a:solidFill>
              <a:srgbClr val="9E3B5E"/>
            </a:solidFill>
            <a:prstDash val="solid"/>
          </a:ln>
        </p:spPr>
      </p:sp>
      <p:sp>
        <p:nvSpPr>
          <p:cNvPr id="21" name="Shape 19"/>
          <p:cNvSpPr/>
          <p:nvPr/>
        </p:nvSpPr>
        <p:spPr>
          <a:xfrm>
            <a:off x="882396" y="2623414"/>
            <a:ext cx="60350" cy="211226"/>
          </a:xfrm>
          <a:custGeom>
            <a:avLst/>
            <a:gdLst/>
            <a:ahLst/>
            <a:cxnLst/>
            <a:rect l="l" t="t" r="r" b="b"/>
            <a:pathLst>
              <a:path w="60350" h="211226">
                <a:moveTo>
                  <a:pt x="0" y="60350"/>
                </a:moveTo>
                <a:lnTo>
                  <a:pt x="60350" y="0"/>
                </a:lnTo>
                <a:lnTo>
                  <a:pt x="60350" y="150876"/>
                </a:lnTo>
                <a:lnTo>
                  <a:pt x="0" y="211226"/>
                </a:lnTo>
                <a:close/>
              </a:path>
            </a:pathLst>
          </a:custGeom>
          <a:solidFill>
            <a:srgbClr val="E58FAE"/>
          </a:solidFill>
          <a:ln w="12700">
            <a:solidFill>
              <a:srgbClr val="9E3B5E"/>
            </a:solidFill>
            <a:prstDash val="solid"/>
          </a:ln>
        </p:spPr>
      </p:sp>
      <p:sp>
        <p:nvSpPr>
          <p:cNvPr id="22" name="Shape 20"/>
          <p:cNvSpPr/>
          <p:nvPr/>
        </p:nvSpPr>
        <p:spPr>
          <a:xfrm>
            <a:off x="731520" y="2683764"/>
            <a:ext cx="150876" cy="150876"/>
          </a:xfrm>
          <a:prstGeom prst="rect">
            <a:avLst/>
          </a:prstGeom>
          <a:solidFill>
            <a:srgbClr val="F4B6C8"/>
          </a:solidFill>
          <a:ln w="12700">
            <a:solidFill>
              <a:srgbClr val="9E3B5E"/>
            </a:solidFill>
            <a:prstDash val="solid"/>
          </a:ln>
        </p:spPr>
      </p:sp>
      <p:sp>
        <p:nvSpPr>
          <p:cNvPr id="23" name="Shape 21"/>
          <p:cNvSpPr/>
          <p:nvPr/>
        </p:nvSpPr>
        <p:spPr>
          <a:xfrm>
            <a:off x="1024128" y="2412187"/>
            <a:ext cx="422453" cy="120701"/>
          </a:xfrm>
          <a:custGeom>
            <a:avLst/>
            <a:gdLst/>
            <a:ahLst/>
            <a:cxnLst/>
            <a:rect l="l" t="t" r="r" b="b"/>
            <a:pathLst>
              <a:path w="422453" h="120701">
                <a:moveTo>
                  <a:pt x="0" y="120701"/>
                </a:moveTo>
                <a:lnTo>
                  <a:pt x="120701" y="0"/>
                </a:lnTo>
                <a:lnTo>
                  <a:pt x="422453" y="0"/>
                </a:lnTo>
                <a:lnTo>
                  <a:pt x="301752" y="120701"/>
                </a:lnTo>
                <a:close/>
              </a:path>
            </a:pathLst>
          </a:custGeom>
          <a:solidFill>
            <a:srgbClr val="F9D3DF"/>
          </a:solidFill>
          <a:ln w="12700">
            <a:solidFill>
              <a:srgbClr val="9E3B5E"/>
            </a:solidFill>
            <a:prstDash val="solid"/>
          </a:ln>
        </p:spPr>
      </p:sp>
      <p:sp>
        <p:nvSpPr>
          <p:cNvPr id="24" name="Shape 22"/>
          <p:cNvSpPr/>
          <p:nvPr/>
        </p:nvSpPr>
        <p:spPr>
          <a:xfrm>
            <a:off x="1325880" y="2412187"/>
            <a:ext cx="120701" cy="422453"/>
          </a:xfrm>
          <a:custGeom>
            <a:avLst/>
            <a:gdLst/>
            <a:ahLst/>
            <a:cxnLst/>
            <a:rect l="l" t="t" r="r" b="b"/>
            <a:pathLst>
              <a:path w="120701" h="422453">
                <a:moveTo>
                  <a:pt x="0" y="120701"/>
                </a:moveTo>
                <a:lnTo>
                  <a:pt x="120701" y="0"/>
                </a:lnTo>
                <a:lnTo>
                  <a:pt x="120701" y="301752"/>
                </a:lnTo>
                <a:lnTo>
                  <a:pt x="0" y="422453"/>
                </a:lnTo>
                <a:close/>
              </a:path>
            </a:pathLst>
          </a:custGeom>
          <a:solidFill>
            <a:srgbClr val="E58FAE"/>
          </a:solidFill>
          <a:ln w="12700">
            <a:solidFill>
              <a:srgbClr val="9E3B5E"/>
            </a:solidFill>
            <a:prstDash val="solid"/>
          </a:ln>
        </p:spPr>
      </p:sp>
      <p:sp>
        <p:nvSpPr>
          <p:cNvPr id="25" name="Shape 23"/>
          <p:cNvSpPr/>
          <p:nvPr/>
        </p:nvSpPr>
        <p:spPr>
          <a:xfrm>
            <a:off x="1024128" y="2532888"/>
            <a:ext cx="301752" cy="301752"/>
          </a:xfrm>
          <a:prstGeom prst="rect">
            <a:avLst/>
          </a:prstGeom>
          <a:solidFill>
            <a:srgbClr val="F4B6C8"/>
          </a:solidFill>
          <a:ln w="12700">
            <a:solidFill>
              <a:srgbClr val="9E3B5E"/>
            </a:solidFill>
            <a:prstDash val="solid"/>
          </a:ln>
        </p:spPr>
      </p:sp>
      <p:sp>
        <p:nvSpPr>
          <p:cNvPr id="26" name="Shape 24"/>
          <p:cNvSpPr/>
          <p:nvPr/>
        </p:nvSpPr>
        <p:spPr>
          <a:xfrm>
            <a:off x="1463040" y="2200961"/>
            <a:ext cx="633679" cy="181051"/>
          </a:xfrm>
          <a:custGeom>
            <a:avLst/>
            <a:gdLst/>
            <a:ahLst/>
            <a:cxnLst/>
            <a:rect l="l" t="t" r="r" b="b"/>
            <a:pathLst>
              <a:path w="633679" h="181051">
                <a:moveTo>
                  <a:pt x="0" y="181051"/>
                </a:moveTo>
                <a:lnTo>
                  <a:pt x="181051" y="0"/>
                </a:lnTo>
                <a:lnTo>
                  <a:pt x="633679" y="0"/>
                </a:lnTo>
                <a:lnTo>
                  <a:pt x="452628" y="181051"/>
                </a:lnTo>
                <a:close/>
              </a:path>
            </a:pathLst>
          </a:custGeom>
          <a:solidFill>
            <a:srgbClr val="F9D3DF"/>
          </a:solidFill>
          <a:ln w="12700">
            <a:solidFill>
              <a:srgbClr val="9E3B5E"/>
            </a:solidFill>
            <a:prstDash val="solid"/>
          </a:ln>
        </p:spPr>
      </p:sp>
      <p:sp>
        <p:nvSpPr>
          <p:cNvPr id="27" name="Shape 25"/>
          <p:cNvSpPr/>
          <p:nvPr/>
        </p:nvSpPr>
        <p:spPr>
          <a:xfrm>
            <a:off x="1915668" y="2200961"/>
            <a:ext cx="181051" cy="633679"/>
          </a:xfrm>
          <a:custGeom>
            <a:avLst/>
            <a:gdLst/>
            <a:ahLst/>
            <a:cxnLst/>
            <a:rect l="l" t="t" r="r" b="b"/>
            <a:pathLst>
              <a:path w="181051" h="633679">
                <a:moveTo>
                  <a:pt x="0" y="181051"/>
                </a:moveTo>
                <a:lnTo>
                  <a:pt x="181051" y="0"/>
                </a:lnTo>
                <a:lnTo>
                  <a:pt x="181051" y="452628"/>
                </a:lnTo>
                <a:lnTo>
                  <a:pt x="0" y="633679"/>
                </a:lnTo>
                <a:close/>
              </a:path>
            </a:pathLst>
          </a:custGeom>
          <a:solidFill>
            <a:srgbClr val="E58FAE"/>
          </a:solidFill>
          <a:ln w="12700">
            <a:solidFill>
              <a:srgbClr val="9E3B5E"/>
            </a:solidFill>
            <a:prstDash val="solid"/>
          </a:ln>
        </p:spPr>
      </p:sp>
      <p:sp>
        <p:nvSpPr>
          <p:cNvPr id="28" name="Shape 26"/>
          <p:cNvSpPr/>
          <p:nvPr/>
        </p:nvSpPr>
        <p:spPr>
          <a:xfrm>
            <a:off x="1463040" y="2382012"/>
            <a:ext cx="452628" cy="452628"/>
          </a:xfrm>
          <a:prstGeom prst="rect">
            <a:avLst/>
          </a:prstGeom>
          <a:solidFill>
            <a:srgbClr val="F4B6C8"/>
          </a:solidFill>
          <a:ln w="12700">
            <a:solidFill>
              <a:srgbClr val="9E3B5E"/>
            </a:solidFill>
            <a:prstDash val="solid"/>
          </a:ln>
        </p:spPr>
      </p:sp>
      <p:sp>
        <p:nvSpPr>
          <p:cNvPr id="29" name="Shape 27"/>
          <p:cNvSpPr/>
          <p:nvPr/>
        </p:nvSpPr>
        <p:spPr>
          <a:xfrm>
            <a:off x="2029968" y="1989734"/>
            <a:ext cx="844906" cy="241402"/>
          </a:xfrm>
          <a:custGeom>
            <a:avLst/>
            <a:gdLst/>
            <a:ahLst/>
            <a:cxnLst/>
            <a:rect l="l" t="t" r="r" b="b"/>
            <a:pathLst>
              <a:path w="844906" h="241402">
                <a:moveTo>
                  <a:pt x="0" y="241402"/>
                </a:moveTo>
                <a:lnTo>
                  <a:pt x="241402" y="0"/>
                </a:lnTo>
                <a:lnTo>
                  <a:pt x="844906" y="0"/>
                </a:lnTo>
                <a:lnTo>
                  <a:pt x="603504" y="241402"/>
                </a:lnTo>
                <a:close/>
              </a:path>
            </a:pathLst>
          </a:custGeom>
          <a:solidFill>
            <a:srgbClr val="F9D3DF"/>
          </a:solidFill>
          <a:ln w="12700">
            <a:solidFill>
              <a:srgbClr val="9E3B5E"/>
            </a:solidFill>
            <a:prstDash val="solid"/>
          </a:ln>
        </p:spPr>
      </p:sp>
      <p:sp>
        <p:nvSpPr>
          <p:cNvPr id="30" name="Shape 28"/>
          <p:cNvSpPr/>
          <p:nvPr/>
        </p:nvSpPr>
        <p:spPr>
          <a:xfrm>
            <a:off x="2633472" y="1989734"/>
            <a:ext cx="241402" cy="844906"/>
          </a:xfrm>
          <a:custGeom>
            <a:avLst/>
            <a:gdLst/>
            <a:ahLst/>
            <a:cxnLst/>
            <a:rect l="l" t="t" r="r" b="b"/>
            <a:pathLst>
              <a:path w="241402" h="844906">
                <a:moveTo>
                  <a:pt x="0" y="241402"/>
                </a:moveTo>
                <a:lnTo>
                  <a:pt x="241402" y="0"/>
                </a:lnTo>
                <a:lnTo>
                  <a:pt x="241402" y="603504"/>
                </a:lnTo>
                <a:lnTo>
                  <a:pt x="0" y="844906"/>
                </a:lnTo>
                <a:close/>
              </a:path>
            </a:pathLst>
          </a:custGeom>
          <a:solidFill>
            <a:srgbClr val="E58FAE"/>
          </a:solidFill>
          <a:ln w="12700">
            <a:solidFill>
              <a:srgbClr val="9E3B5E"/>
            </a:solidFill>
            <a:prstDash val="solid"/>
          </a:ln>
        </p:spPr>
      </p:sp>
      <p:sp>
        <p:nvSpPr>
          <p:cNvPr id="31" name="Shape 29"/>
          <p:cNvSpPr/>
          <p:nvPr/>
        </p:nvSpPr>
        <p:spPr>
          <a:xfrm>
            <a:off x="2029968" y="2231136"/>
            <a:ext cx="603504" cy="603504"/>
          </a:xfrm>
          <a:prstGeom prst="rect">
            <a:avLst/>
          </a:prstGeom>
          <a:solidFill>
            <a:srgbClr val="F4B6C8"/>
          </a:solidFill>
          <a:ln w="12700">
            <a:solidFill>
              <a:srgbClr val="9E3B5E"/>
            </a:solidFill>
            <a:prstDash val="solid"/>
          </a:ln>
        </p:spPr>
      </p:sp>
      <p:sp>
        <p:nvSpPr>
          <p:cNvPr id="32" name="Shape 30"/>
          <p:cNvSpPr/>
          <p:nvPr/>
        </p:nvSpPr>
        <p:spPr>
          <a:xfrm>
            <a:off x="713232" y="2971800"/>
            <a:ext cx="1920240" cy="164592"/>
          </a:xfrm>
          <a:prstGeom prst="rect">
            <a:avLst/>
          </a:prstGeom>
          <a:solidFill>
            <a:srgbClr val="F6E7B8"/>
          </a:solidFill>
          <a:ln w="9525">
            <a:solidFill>
              <a:srgbClr val="B79B4A"/>
            </a:solidFill>
            <a:prstDash val="solid"/>
          </a:ln>
        </p:spPr>
      </p:sp>
      <p:sp>
        <p:nvSpPr>
          <p:cNvPr id="33" name="Shape 31"/>
          <p:cNvSpPr/>
          <p:nvPr/>
        </p:nvSpPr>
        <p:spPr>
          <a:xfrm>
            <a:off x="731520" y="2971800"/>
            <a:ext cx="91" cy="82296"/>
          </a:xfrm>
          <a:prstGeom prst="line">
            <a:avLst/>
          </a:prstGeom>
          <a:noFill/>
          <a:ln w="9525">
            <a:solidFill>
              <a:srgbClr val="6B5A2A"/>
            </a:solidFill>
            <a:prstDash val="solid"/>
          </a:ln>
        </p:spPr>
      </p:sp>
      <p:sp>
        <p:nvSpPr>
          <p:cNvPr id="34" name="Shape 32"/>
          <p:cNvSpPr/>
          <p:nvPr/>
        </p:nvSpPr>
        <p:spPr>
          <a:xfrm>
            <a:off x="886968" y="2971800"/>
            <a:ext cx="91" cy="45720"/>
          </a:xfrm>
          <a:prstGeom prst="line">
            <a:avLst/>
          </a:prstGeom>
          <a:noFill/>
          <a:ln w="9525">
            <a:solidFill>
              <a:srgbClr val="6B5A2A"/>
            </a:solidFill>
            <a:prstDash val="solid"/>
          </a:ln>
        </p:spPr>
      </p:sp>
      <p:sp>
        <p:nvSpPr>
          <p:cNvPr id="35" name="Shape 33"/>
          <p:cNvSpPr/>
          <p:nvPr/>
        </p:nvSpPr>
        <p:spPr>
          <a:xfrm>
            <a:off x="1042416" y="2971800"/>
            <a:ext cx="91" cy="82296"/>
          </a:xfrm>
          <a:prstGeom prst="line">
            <a:avLst/>
          </a:prstGeom>
          <a:noFill/>
          <a:ln w="9525">
            <a:solidFill>
              <a:srgbClr val="6B5A2A"/>
            </a:solidFill>
            <a:prstDash val="solid"/>
          </a:ln>
        </p:spPr>
      </p:sp>
      <p:sp>
        <p:nvSpPr>
          <p:cNvPr id="36" name="Shape 34"/>
          <p:cNvSpPr/>
          <p:nvPr/>
        </p:nvSpPr>
        <p:spPr>
          <a:xfrm>
            <a:off x="1197864" y="2971800"/>
            <a:ext cx="91" cy="45720"/>
          </a:xfrm>
          <a:prstGeom prst="line">
            <a:avLst/>
          </a:prstGeom>
          <a:noFill/>
          <a:ln w="9525">
            <a:solidFill>
              <a:srgbClr val="6B5A2A"/>
            </a:solidFill>
            <a:prstDash val="solid"/>
          </a:ln>
        </p:spPr>
      </p:sp>
      <p:sp>
        <p:nvSpPr>
          <p:cNvPr id="37" name="Shape 35"/>
          <p:cNvSpPr/>
          <p:nvPr/>
        </p:nvSpPr>
        <p:spPr>
          <a:xfrm>
            <a:off x="1353312" y="2971800"/>
            <a:ext cx="91" cy="82296"/>
          </a:xfrm>
          <a:prstGeom prst="line">
            <a:avLst/>
          </a:prstGeom>
          <a:noFill/>
          <a:ln w="9525">
            <a:solidFill>
              <a:srgbClr val="6B5A2A"/>
            </a:solidFill>
            <a:prstDash val="solid"/>
          </a:ln>
        </p:spPr>
      </p:sp>
      <p:sp>
        <p:nvSpPr>
          <p:cNvPr id="38" name="Shape 36"/>
          <p:cNvSpPr/>
          <p:nvPr/>
        </p:nvSpPr>
        <p:spPr>
          <a:xfrm>
            <a:off x="1508760" y="2971800"/>
            <a:ext cx="91" cy="45720"/>
          </a:xfrm>
          <a:prstGeom prst="line">
            <a:avLst/>
          </a:prstGeom>
          <a:noFill/>
          <a:ln w="9525">
            <a:solidFill>
              <a:srgbClr val="6B5A2A"/>
            </a:solidFill>
            <a:prstDash val="solid"/>
          </a:ln>
        </p:spPr>
      </p:sp>
      <p:sp>
        <p:nvSpPr>
          <p:cNvPr id="39" name="Shape 37"/>
          <p:cNvSpPr/>
          <p:nvPr/>
        </p:nvSpPr>
        <p:spPr>
          <a:xfrm>
            <a:off x="1664208" y="2971800"/>
            <a:ext cx="91" cy="82296"/>
          </a:xfrm>
          <a:prstGeom prst="line">
            <a:avLst/>
          </a:prstGeom>
          <a:noFill/>
          <a:ln w="9525">
            <a:solidFill>
              <a:srgbClr val="6B5A2A"/>
            </a:solidFill>
            <a:prstDash val="solid"/>
          </a:ln>
        </p:spPr>
      </p:sp>
      <p:sp>
        <p:nvSpPr>
          <p:cNvPr id="40" name="Shape 38"/>
          <p:cNvSpPr/>
          <p:nvPr/>
        </p:nvSpPr>
        <p:spPr>
          <a:xfrm>
            <a:off x="1819656" y="2971800"/>
            <a:ext cx="91" cy="45720"/>
          </a:xfrm>
          <a:prstGeom prst="line">
            <a:avLst/>
          </a:prstGeom>
          <a:noFill/>
          <a:ln w="9525">
            <a:solidFill>
              <a:srgbClr val="6B5A2A"/>
            </a:solidFill>
            <a:prstDash val="solid"/>
          </a:ln>
        </p:spPr>
      </p:sp>
      <p:sp>
        <p:nvSpPr>
          <p:cNvPr id="41" name="Shape 39"/>
          <p:cNvSpPr/>
          <p:nvPr/>
        </p:nvSpPr>
        <p:spPr>
          <a:xfrm>
            <a:off x="1975104" y="2971800"/>
            <a:ext cx="91" cy="82296"/>
          </a:xfrm>
          <a:prstGeom prst="line">
            <a:avLst/>
          </a:prstGeom>
          <a:noFill/>
          <a:ln w="9525">
            <a:solidFill>
              <a:srgbClr val="6B5A2A"/>
            </a:solidFill>
            <a:prstDash val="solid"/>
          </a:ln>
        </p:spPr>
      </p:sp>
      <p:sp>
        <p:nvSpPr>
          <p:cNvPr id="42" name="Shape 40"/>
          <p:cNvSpPr/>
          <p:nvPr/>
        </p:nvSpPr>
        <p:spPr>
          <a:xfrm>
            <a:off x="2130552" y="2971800"/>
            <a:ext cx="91" cy="45720"/>
          </a:xfrm>
          <a:prstGeom prst="line">
            <a:avLst/>
          </a:prstGeom>
          <a:noFill/>
          <a:ln w="9525">
            <a:solidFill>
              <a:srgbClr val="6B5A2A"/>
            </a:solidFill>
            <a:prstDash val="solid"/>
          </a:ln>
        </p:spPr>
      </p:sp>
      <p:sp>
        <p:nvSpPr>
          <p:cNvPr id="43" name="Shape 41"/>
          <p:cNvSpPr/>
          <p:nvPr/>
        </p:nvSpPr>
        <p:spPr>
          <a:xfrm>
            <a:off x="2286000" y="2971800"/>
            <a:ext cx="91" cy="82296"/>
          </a:xfrm>
          <a:prstGeom prst="line">
            <a:avLst/>
          </a:prstGeom>
          <a:noFill/>
          <a:ln w="9525">
            <a:solidFill>
              <a:srgbClr val="6B5A2A"/>
            </a:solidFill>
            <a:prstDash val="solid"/>
          </a:ln>
        </p:spPr>
      </p:sp>
      <p:sp>
        <p:nvSpPr>
          <p:cNvPr id="44" name="Shape 42"/>
          <p:cNvSpPr/>
          <p:nvPr/>
        </p:nvSpPr>
        <p:spPr>
          <a:xfrm>
            <a:off x="2441448" y="2971800"/>
            <a:ext cx="91" cy="45720"/>
          </a:xfrm>
          <a:prstGeom prst="line">
            <a:avLst/>
          </a:prstGeom>
          <a:noFill/>
          <a:ln w="9525">
            <a:solidFill>
              <a:srgbClr val="6B5A2A"/>
            </a:solidFill>
            <a:prstDash val="solid"/>
          </a:ln>
        </p:spPr>
      </p:sp>
      <p:sp>
        <p:nvSpPr>
          <p:cNvPr id="45" name="Shape 43"/>
          <p:cNvSpPr/>
          <p:nvPr/>
        </p:nvSpPr>
        <p:spPr>
          <a:xfrm>
            <a:off x="2596896" y="2971800"/>
            <a:ext cx="91" cy="82296"/>
          </a:xfrm>
          <a:prstGeom prst="line">
            <a:avLst/>
          </a:prstGeom>
          <a:noFill/>
          <a:ln w="9525">
            <a:solidFill>
              <a:srgbClr val="6B5A2A"/>
            </a:solidFill>
            <a:prstDash val="solid"/>
          </a:ln>
        </p:spPr>
      </p:sp>
      <p:sp>
        <p:nvSpPr>
          <p:cNvPr id="46" name="Shape 44"/>
          <p:cNvSpPr/>
          <p:nvPr/>
        </p:nvSpPr>
        <p:spPr>
          <a:xfrm flipV="1">
            <a:off x="2697480" y="1691640"/>
            <a:ext cx="365760" cy="137160"/>
          </a:xfrm>
          <a:prstGeom prst="line">
            <a:avLst/>
          </a:prstGeom>
          <a:noFill/>
          <a:ln w="38100">
            <a:solidFill>
              <a:srgbClr val="6B7385"/>
            </a:solidFill>
            <a:prstDash val="solid"/>
          </a:ln>
        </p:spPr>
      </p:sp>
      <p:sp>
        <p:nvSpPr>
          <p:cNvPr id="47" name="Shape 45"/>
          <p:cNvSpPr/>
          <p:nvPr/>
        </p:nvSpPr>
        <p:spPr>
          <a:xfrm flipH="1">
            <a:off x="2514600" y="1828800"/>
            <a:ext cx="182880" cy="73152"/>
          </a:xfrm>
          <a:prstGeom prst="line">
            <a:avLst/>
          </a:prstGeom>
          <a:noFill/>
          <a:ln w="25400">
            <a:solidFill>
              <a:srgbClr val="9AA3B0"/>
            </a:solidFill>
            <a:prstDash val="solid"/>
          </a:ln>
        </p:spPr>
      </p:sp>
      <p:sp>
        <p:nvSpPr>
          <p:cNvPr id="48" name="Text 46"/>
          <p:cNvSpPr/>
          <p:nvPr/>
        </p:nvSpPr>
        <p:spPr>
          <a:xfrm>
            <a:off x="640080" y="3172968"/>
            <a:ext cx="2423160" cy="23774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ruler • scalpel • white tile</a:t>
            </a:r>
            <a:endParaRPr lang="en-US" sz="1000" dirty="0"/>
          </a:p>
        </p:txBody>
      </p:sp>
      <p:sp>
        <p:nvSpPr>
          <p:cNvPr id="49" name="Shape 47"/>
          <p:cNvSpPr/>
          <p:nvPr/>
        </p:nvSpPr>
        <p:spPr>
          <a:xfrm>
            <a:off x="3520440" y="2286000"/>
            <a:ext cx="1143000" cy="822960"/>
          </a:xfrm>
          <a:prstGeom prst="rect">
            <a:avLst/>
          </a:prstGeom>
          <a:solidFill>
            <a:srgbClr val="E8F1FA"/>
          </a:solidFill>
          <a:ln/>
        </p:spPr>
      </p:sp>
      <p:sp>
        <p:nvSpPr>
          <p:cNvPr id="50" name="Shape 48"/>
          <p:cNvSpPr/>
          <p:nvPr/>
        </p:nvSpPr>
        <p:spPr>
          <a:xfrm>
            <a:off x="3520440" y="2011680"/>
            <a:ext cx="91" cy="1097280"/>
          </a:xfrm>
          <a:prstGeom prst="line">
            <a:avLst/>
          </a:prstGeom>
          <a:noFill/>
          <a:ln w="25400">
            <a:solidFill>
              <a:srgbClr val="133536"/>
            </a:solidFill>
            <a:prstDash val="solid"/>
          </a:ln>
        </p:spPr>
      </p:sp>
      <p:sp>
        <p:nvSpPr>
          <p:cNvPr id="51" name="Shape 49"/>
          <p:cNvSpPr/>
          <p:nvPr/>
        </p:nvSpPr>
        <p:spPr>
          <a:xfrm>
            <a:off x="4663440" y="2011680"/>
            <a:ext cx="91" cy="1097280"/>
          </a:xfrm>
          <a:prstGeom prst="line">
            <a:avLst/>
          </a:prstGeom>
          <a:noFill/>
          <a:ln w="25400">
            <a:solidFill>
              <a:srgbClr val="133536"/>
            </a:solidFill>
            <a:prstDash val="solid"/>
          </a:ln>
        </p:spPr>
      </p:sp>
      <p:sp>
        <p:nvSpPr>
          <p:cNvPr id="52" name="Shape 50"/>
          <p:cNvSpPr/>
          <p:nvPr/>
        </p:nvSpPr>
        <p:spPr>
          <a:xfrm>
            <a:off x="3520440" y="3108960"/>
            <a:ext cx="1143000" cy="91"/>
          </a:xfrm>
          <a:prstGeom prst="line">
            <a:avLst/>
          </a:prstGeom>
          <a:noFill/>
          <a:ln w="25400">
            <a:solidFill>
              <a:srgbClr val="133536"/>
            </a:solidFill>
            <a:prstDash val="solid"/>
          </a:ln>
        </p:spPr>
      </p:sp>
      <p:sp>
        <p:nvSpPr>
          <p:cNvPr id="53" name="Shape 51"/>
          <p:cNvSpPr/>
          <p:nvPr/>
        </p:nvSpPr>
        <p:spPr>
          <a:xfrm>
            <a:off x="3520440" y="2286000"/>
            <a:ext cx="1143000" cy="91"/>
          </a:xfrm>
          <a:prstGeom prst="line">
            <a:avLst/>
          </a:prstGeom>
          <a:noFill/>
          <a:ln w="15875">
            <a:solidFill>
              <a:srgbClr val="5B9BD5"/>
            </a:solidFill>
            <a:prstDash val="solid"/>
          </a:ln>
        </p:spPr>
      </p:sp>
      <p:sp>
        <p:nvSpPr>
          <p:cNvPr id="54" name="Shape 52"/>
          <p:cNvSpPr/>
          <p:nvPr/>
        </p:nvSpPr>
        <p:spPr>
          <a:xfrm>
            <a:off x="3931920" y="2606040"/>
            <a:ext cx="420624" cy="118872"/>
          </a:xfrm>
          <a:custGeom>
            <a:avLst/>
            <a:gdLst/>
            <a:ahLst/>
            <a:cxnLst/>
            <a:rect l="l" t="t" r="r" b="b"/>
            <a:pathLst>
              <a:path w="420624" h="118872">
                <a:moveTo>
                  <a:pt x="0" y="118872"/>
                </a:moveTo>
                <a:lnTo>
                  <a:pt x="118872" y="0"/>
                </a:lnTo>
                <a:lnTo>
                  <a:pt x="420624" y="0"/>
                </a:lnTo>
                <a:lnTo>
                  <a:pt x="301752" y="118872"/>
                </a:lnTo>
                <a:close/>
              </a:path>
            </a:pathLst>
          </a:custGeom>
          <a:solidFill>
            <a:srgbClr val="F9D3DF"/>
          </a:solidFill>
          <a:ln w="12700">
            <a:solidFill>
              <a:srgbClr val="9E3B5E"/>
            </a:solidFill>
            <a:prstDash val="solid"/>
          </a:ln>
        </p:spPr>
      </p:sp>
      <p:sp>
        <p:nvSpPr>
          <p:cNvPr id="55" name="Shape 53"/>
          <p:cNvSpPr/>
          <p:nvPr/>
        </p:nvSpPr>
        <p:spPr>
          <a:xfrm>
            <a:off x="4233672" y="2606040"/>
            <a:ext cx="118872" cy="420624"/>
          </a:xfrm>
          <a:custGeom>
            <a:avLst/>
            <a:gdLst/>
            <a:ahLst/>
            <a:cxnLst/>
            <a:rect l="l" t="t" r="r" b="b"/>
            <a:pathLst>
              <a:path w="118872" h="420624">
                <a:moveTo>
                  <a:pt x="0" y="118872"/>
                </a:moveTo>
                <a:lnTo>
                  <a:pt x="118872" y="0"/>
                </a:lnTo>
                <a:lnTo>
                  <a:pt x="118872" y="301752"/>
                </a:lnTo>
                <a:lnTo>
                  <a:pt x="0" y="420624"/>
                </a:lnTo>
                <a:close/>
              </a:path>
            </a:pathLst>
          </a:custGeom>
          <a:solidFill>
            <a:srgbClr val="E58FAE"/>
          </a:solidFill>
          <a:ln w="12700">
            <a:solidFill>
              <a:srgbClr val="9E3B5E"/>
            </a:solidFill>
            <a:prstDash val="solid"/>
          </a:ln>
        </p:spPr>
      </p:sp>
      <p:sp>
        <p:nvSpPr>
          <p:cNvPr id="56" name="Shape 54"/>
          <p:cNvSpPr/>
          <p:nvPr/>
        </p:nvSpPr>
        <p:spPr>
          <a:xfrm>
            <a:off x="3931920" y="2724912"/>
            <a:ext cx="301752" cy="301752"/>
          </a:xfrm>
          <a:prstGeom prst="rect">
            <a:avLst/>
          </a:prstGeom>
          <a:solidFill>
            <a:srgbClr val="F4B6C8"/>
          </a:solidFill>
          <a:ln w="12700">
            <a:solidFill>
              <a:srgbClr val="9E3B5E"/>
            </a:solidFill>
            <a:prstDash val="solid"/>
          </a:ln>
        </p:spPr>
      </p:sp>
      <p:sp>
        <p:nvSpPr>
          <p:cNvPr id="57" name="Shape 55"/>
          <p:cNvSpPr/>
          <p:nvPr/>
        </p:nvSpPr>
        <p:spPr>
          <a:xfrm>
            <a:off x="5093208" y="1984248"/>
            <a:ext cx="694944" cy="694944"/>
          </a:xfrm>
          <a:prstGeom prst="ellipse">
            <a:avLst/>
          </a:prstGeom>
          <a:solidFill>
            <a:srgbClr val="FFFFFF"/>
          </a:solidFill>
          <a:ln w="19050">
            <a:solidFill>
              <a:srgbClr val="133536"/>
            </a:solidFill>
            <a:prstDash val="solid"/>
          </a:ln>
        </p:spPr>
      </p:sp>
      <p:sp>
        <p:nvSpPr>
          <p:cNvPr id="58" name="Shape 56"/>
          <p:cNvSpPr/>
          <p:nvPr/>
        </p:nvSpPr>
        <p:spPr>
          <a:xfrm>
            <a:off x="5394960" y="1901952"/>
            <a:ext cx="91440" cy="91440"/>
          </a:xfrm>
          <a:prstGeom prst="rect">
            <a:avLst/>
          </a:prstGeom>
          <a:solidFill>
            <a:srgbClr val="133536"/>
          </a:solidFill>
          <a:ln/>
        </p:spPr>
      </p:sp>
      <p:sp>
        <p:nvSpPr>
          <p:cNvPr id="59" name="Shape 57"/>
          <p:cNvSpPr/>
          <p:nvPr/>
        </p:nvSpPr>
        <p:spPr>
          <a:xfrm flipV="1">
            <a:off x="5440680" y="2103120"/>
            <a:ext cx="91" cy="228600"/>
          </a:xfrm>
          <a:prstGeom prst="line">
            <a:avLst/>
          </a:prstGeom>
          <a:noFill/>
          <a:ln w="19050">
            <a:solidFill>
              <a:srgbClr val="C8414C"/>
            </a:solidFill>
            <a:prstDash val="solid"/>
          </a:ln>
        </p:spPr>
      </p:sp>
      <p:sp>
        <p:nvSpPr>
          <p:cNvPr id="60" name="Shape 58"/>
          <p:cNvSpPr/>
          <p:nvPr/>
        </p:nvSpPr>
        <p:spPr>
          <a:xfrm>
            <a:off x="5440680" y="2331720"/>
            <a:ext cx="155448" cy="64008"/>
          </a:xfrm>
          <a:prstGeom prst="line">
            <a:avLst/>
          </a:prstGeom>
          <a:noFill/>
          <a:ln w="19050">
            <a:solidFill>
              <a:srgbClr val="133536"/>
            </a:solidFill>
            <a:prstDash val="solid"/>
          </a:ln>
        </p:spPr>
      </p:sp>
      <p:sp>
        <p:nvSpPr>
          <p:cNvPr id="61" name="Text 59"/>
          <p:cNvSpPr/>
          <p:nvPr/>
        </p:nvSpPr>
        <p:spPr>
          <a:xfrm>
            <a:off x="3383280" y="3154680"/>
            <a:ext cx="2423160" cy="23774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dilute hydrochloric acid • stop clock</a:t>
            </a:r>
            <a:endParaRPr lang="en-US" sz="1000" dirty="0"/>
          </a:p>
        </p:txBody>
      </p:sp>
      <p:sp>
        <p:nvSpPr>
          <p:cNvPr id="62" name="Shape 60"/>
          <p:cNvSpPr/>
          <p:nvPr/>
        </p:nvSpPr>
        <p:spPr>
          <a:xfrm>
            <a:off x="777240" y="3977640"/>
            <a:ext cx="457200" cy="457200"/>
          </a:xfrm>
          <a:prstGeom prst="rect">
            <a:avLst/>
          </a:prstGeom>
          <a:solidFill>
            <a:srgbClr val="F7FAFC"/>
          </a:solidFill>
          <a:ln w="12700">
            <a:solidFill>
              <a:srgbClr val="9E3B5E"/>
            </a:solidFill>
            <a:prstDash val="solid"/>
          </a:ln>
        </p:spPr>
      </p:sp>
      <p:sp>
        <p:nvSpPr>
          <p:cNvPr id="63" name="Shape 61"/>
          <p:cNvSpPr/>
          <p:nvPr/>
        </p:nvSpPr>
        <p:spPr>
          <a:xfrm>
            <a:off x="777240" y="3977640"/>
            <a:ext cx="457200" cy="457200"/>
          </a:xfrm>
          <a:prstGeom prst="rect">
            <a:avLst/>
          </a:prstGeom>
          <a:solidFill>
            <a:srgbClr val="E58FAE"/>
          </a:solidFill>
          <a:ln/>
        </p:spPr>
      </p:sp>
      <p:sp>
        <p:nvSpPr>
          <p:cNvPr id="64" name="Shape 62"/>
          <p:cNvSpPr/>
          <p:nvPr/>
        </p:nvSpPr>
        <p:spPr>
          <a:xfrm>
            <a:off x="1252728" y="4206240"/>
            <a:ext cx="73152" cy="91"/>
          </a:xfrm>
          <a:prstGeom prst="line">
            <a:avLst/>
          </a:prstGeom>
          <a:noFill/>
          <a:ln w="12700">
            <a:solidFill>
              <a:srgbClr val="133536"/>
            </a:solidFill>
            <a:prstDash val="solid"/>
            <a:tailEnd type="triangle"/>
          </a:ln>
        </p:spPr>
      </p:sp>
      <p:sp>
        <p:nvSpPr>
          <p:cNvPr id="65" name="Shape 63"/>
          <p:cNvSpPr/>
          <p:nvPr/>
        </p:nvSpPr>
        <p:spPr>
          <a:xfrm>
            <a:off x="1344168" y="3977640"/>
            <a:ext cx="457200" cy="457200"/>
          </a:xfrm>
          <a:prstGeom prst="rect">
            <a:avLst/>
          </a:prstGeom>
          <a:solidFill>
            <a:srgbClr val="F7FAFC"/>
          </a:solidFill>
          <a:ln w="12700">
            <a:solidFill>
              <a:srgbClr val="9E3B5E"/>
            </a:solidFill>
            <a:prstDash val="solid"/>
          </a:ln>
        </p:spPr>
      </p:sp>
      <p:sp>
        <p:nvSpPr>
          <p:cNvPr id="66" name="Shape 64"/>
          <p:cNvSpPr/>
          <p:nvPr/>
        </p:nvSpPr>
        <p:spPr>
          <a:xfrm>
            <a:off x="1420368" y="4053840"/>
            <a:ext cx="304800" cy="304800"/>
          </a:xfrm>
          <a:prstGeom prst="rect">
            <a:avLst/>
          </a:prstGeom>
          <a:solidFill>
            <a:srgbClr val="E58FAE"/>
          </a:solidFill>
          <a:ln/>
        </p:spPr>
      </p:sp>
      <p:sp>
        <p:nvSpPr>
          <p:cNvPr id="67" name="Shape 65"/>
          <p:cNvSpPr/>
          <p:nvPr/>
        </p:nvSpPr>
        <p:spPr>
          <a:xfrm>
            <a:off x="1819656" y="4206240"/>
            <a:ext cx="73152" cy="91"/>
          </a:xfrm>
          <a:prstGeom prst="line">
            <a:avLst/>
          </a:prstGeom>
          <a:noFill/>
          <a:ln w="12700">
            <a:solidFill>
              <a:srgbClr val="133536"/>
            </a:solidFill>
            <a:prstDash val="solid"/>
            <a:tailEnd type="triangle"/>
          </a:ln>
        </p:spPr>
      </p:sp>
      <p:sp>
        <p:nvSpPr>
          <p:cNvPr id="68" name="Shape 66"/>
          <p:cNvSpPr/>
          <p:nvPr/>
        </p:nvSpPr>
        <p:spPr>
          <a:xfrm>
            <a:off x="1911096" y="3977640"/>
            <a:ext cx="457200" cy="457200"/>
          </a:xfrm>
          <a:prstGeom prst="rect">
            <a:avLst/>
          </a:prstGeom>
          <a:solidFill>
            <a:srgbClr val="F7FAFC"/>
          </a:solidFill>
          <a:ln w="12700">
            <a:solidFill>
              <a:srgbClr val="9E3B5E"/>
            </a:solidFill>
            <a:prstDash val="solid"/>
          </a:ln>
        </p:spPr>
      </p:sp>
      <p:sp>
        <p:nvSpPr>
          <p:cNvPr id="69" name="Shape 67"/>
          <p:cNvSpPr/>
          <p:nvPr/>
        </p:nvSpPr>
        <p:spPr>
          <a:xfrm>
            <a:off x="2063496" y="4130040"/>
            <a:ext cx="152400" cy="152400"/>
          </a:xfrm>
          <a:prstGeom prst="rect">
            <a:avLst/>
          </a:prstGeom>
          <a:solidFill>
            <a:srgbClr val="E58FAE"/>
          </a:solidFill>
          <a:ln/>
        </p:spPr>
      </p:sp>
      <p:sp>
        <p:nvSpPr>
          <p:cNvPr id="70" name="Shape 68"/>
          <p:cNvSpPr/>
          <p:nvPr/>
        </p:nvSpPr>
        <p:spPr>
          <a:xfrm>
            <a:off x="2386584" y="4206240"/>
            <a:ext cx="73152" cy="91"/>
          </a:xfrm>
          <a:prstGeom prst="line">
            <a:avLst/>
          </a:prstGeom>
          <a:noFill/>
          <a:ln w="12700">
            <a:solidFill>
              <a:srgbClr val="133536"/>
            </a:solidFill>
            <a:prstDash val="solid"/>
            <a:tailEnd type="triangle"/>
          </a:ln>
        </p:spPr>
      </p:sp>
      <p:sp>
        <p:nvSpPr>
          <p:cNvPr id="71" name="Shape 69"/>
          <p:cNvSpPr/>
          <p:nvPr/>
        </p:nvSpPr>
        <p:spPr>
          <a:xfrm>
            <a:off x="2478024" y="3977640"/>
            <a:ext cx="457200" cy="457200"/>
          </a:xfrm>
          <a:prstGeom prst="rect">
            <a:avLst/>
          </a:prstGeom>
          <a:solidFill>
            <a:srgbClr val="F7FAFC"/>
          </a:solidFill>
          <a:ln w="12700">
            <a:solidFill>
              <a:srgbClr val="9E3B5E"/>
            </a:solidFill>
            <a:prstDash val="solid"/>
          </a:ln>
        </p:spPr>
      </p:sp>
      <p:sp>
        <p:nvSpPr>
          <p:cNvPr id="72" name="Text 70"/>
          <p:cNvSpPr/>
          <p:nvPr/>
        </p:nvSpPr>
        <p:spPr>
          <a:xfrm>
            <a:off x="640080" y="4526280"/>
            <a:ext cx="2423160" cy="54864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cut-through view: acid diffuses in from </a:t>
            </a:r>
            <a:r>
              <a:rPr lang="en-US" sz="1000" b="1" dirty="0">
                <a:solidFill>
                  <a:srgbClr val="262B3A"/>
                </a:solidFill>
                <a:latin typeface="Calibri" pitchFamily="34" charset="0"/>
                <a:ea typeface="Calibri" pitchFamily="34" charset="-122"/>
                <a:cs typeface="Calibri" pitchFamily="34" charset="-120"/>
              </a:rPr>
              <a:t>every face</a:t>
            </a:r>
            <a:r>
              <a:rPr lang="en-US" sz="1000" dirty="0">
                <a:solidFill>
                  <a:srgbClr val="262B3A"/>
                </a:solidFill>
                <a:latin typeface="Calibri" pitchFamily="34" charset="0"/>
                <a:ea typeface="Calibri" pitchFamily="34" charset="-122"/>
                <a:cs typeface="Calibri" pitchFamily="34" charset="-120"/>
              </a:rPr>
              <a:t>; the pink core shrinks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520440" y="3749040"/>
          <a:ext cx="2148840" cy="914400"/>
        </p:xfrm>
        <a:graphic>
          <a:graphicData uri="http://schemas.openxmlformats.org/drawingml/2006/table">
            <a:tbl>
              <a:tblPr/>
              <a:tblGrid>
                <a:gridCol w="1051560"/>
                <a:gridCol w="1097280"/>
              </a:tblGrid>
              <a:tr h="246888">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Side / cm</a:t>
                      </a: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8F4F3"/>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Time / s</a:t>
                      </a: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8F4F3"/>
                    </a:solidFill>
                  </a:tcPr>
                </a:tc>
              </a:tr>
              <a:tr h="246888">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74" name="Text 71"/>
          <p:cNvSpPr/>
          <p:nvPr/>
        </p:nvSpPr>
        <p:spPr>
          <a:xfrm>
            <a:off x="3383280" y="5029200"/>
            <a:ext cx="2423160" cy="23774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repeat 3 times; calculate a mean</a:t>
            </a:r>
            <a:endParaRPr lang="en-US" sz="1000" dirty="0"/>
          </a:p>
        </p:txBody>
      </p:sp>
      <p:sp>
        <p:nvSpPr>
          <p:cNvPr id="75" name="Shape 72"/>
          <p:cNvSpPr/>
          <p:nvPr/>
        </p:nvSpPr>
        <p:spPr>
          <a:xfrm>
            <a:off x="6217920" y="1188720"/>
            <a:ext cx="5562295" cy="2514600"/>
          </a:xfrm>
          <a:prstGeom prst="roundRect">
            <a:avLst>
              <a:gd name="adj" fmla="val 2182"/>
            </a:avLst>
          </a:prstGeom>
          <a:solidFill>
            <a:srgbClr val="F4FAF9"/>
          </a:solidFill>
          <a:ln w="9525">
            <a:solidFill>
              <a:srgbClr val="CFE0DE"/>
            </a:solidFill>
            <a:prstDash val="solid"/>
          </a:ln>
        </p:spPr>
      </p:sp>
      <p:sp>
        <p:nvSpPr>
          <p:cNvPr id="76" name="Text 7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77" name="Text 74"/>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Cut cubes of agar (made with alkali and </a:t>
            </a:r>
            <a:r>
              <a:rPr lang="en-US" sz="1050" b="1" dirty="0">
                <a:solidFill>
                  <a:srgbClr val="262B3A"/>
                </a:solidFill>
                <a:latin typeface="Calibri" pitchFamily="34" charset="0"/>
                <a:ea typeface="Calibri" pitchFamily="34" charset="-122"/>
                <a:cs typeface="Calibri" pitchFamily="34" charset="-120"/>
              </a:rPr>
              <a:t>phenolphthalein</a:t>
            </a:r>
            <a:r>
              <a:rPr lang="en-US" sz="1050" dirty="0">
                <a:solidFill>
                  <a:srgbClr val="262B3A"/>
                </a:solidFill>
                <a:latin typeface="Calibri" pitchFamily="34" charset="0"/>
                <a:ea typeface="Calibri" pitchFamily="34" charset="-122"/>
                <a:cs typeface="Calibri" pitchFamily="34" charset="-120"/>
              </a:rPr>
              <a:t> indicator) with sides 0.5, 1.0, 1.5 and 2.0 cm.</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Put each cube into the same volume of dilute </a:t>
            </a:r>
            <a:r>
              <a:rPr lang="en-US" sz="1050" b="1" dirty="0">
                <a:solidFill>
                  <a:srgbClr val="262B3A"/>
                </a:solidFill>
                <a:latin typeface="Calibri" pitchFamily="34" charset="0"/>
                <a:ea typeface="Calibri" pitchFamily="34" charset="-122"/>
                <a:cs typeface="Calibri" pitchFamily="34" charset="-120"/>
              </a:rPr>
              <a:t>hydrochloric acid</a:t>
            </a:r>
            <a:r>
              <a:rPr lang="en-US" sz="1050" dirty="0">
                <a:solidFill>
                  <a:srgbClr val="262B3A"/>
                </a:solidFill>
                <a:latin typeface="Calibri" pitchFamily="34" charset="0"/>
                <a:ea typeface="Calibri" pitchFamily="34" charset="-122"/>
                <a:cs typeface="Calibri" pitchFamily="34" charset="-120"/>
              </a:rPr>
              <a:t>; start the stop clock.</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acid </a:t>
            </a:r>
            <a:r>
              <a:rPr lang="en-US" sz="1050" b="1" dirty="0">
                <a:solidFill>
                  <a:srgbClr val="262B3A"/>
                </a:solidFill>
                <a:latin typeface="Calibri" pitchFamily="34" charset="0"/>
                <a:ea typeface="Calibri" pitchFamily="34" charset="-122"/>
                <a:cs typeface="Calibri" pitchFamily="34" charset="-120"/>
              </a:rPr>
              <a:t>diffuses</a:t>
            </a:r>
            <a:r>
              <a:rPr lang="en-US" sz="1050" dirty="0">
                <a:solidFill>
                  <a:srgbClr val="262B3A"/>
                </a:solidFill>
                <a:latin typeface="Calibri" pitchFamily="34" charset="0"/>
                <a:ea typeface="Calibri" pitchFamily="34" charset="-122"/>
                <a:cs typeface="Calibri" pitchFamily="34" charset="-120"/>
              </a:rPr>
              <a:t> into the cube and neutralises the alkali, so the pink colour disappears.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Stop the clock when the cube is </a:t>
            </a:r>
            <a:r>
              <a:rPr lang="en-US" sz="1050" b="1" dirty="0">
                <a:solidFill>
                  <a:srgbClr val="262B3A"/>
                </a:solidFill>
                <a:latin typeface="Calibri" pitchFamily="34" charset="0"/>
                <a:ea typeface="Calibri" pitchFamily="34" charset="-122"/>
                <a:cs typeface="Calibri" pitchFamily="34" charset="-120"/>
              </a:rPr>
              <a:t>completely colourless</a:t>
            </a:r>
            <a:r>
              <a:rPr lang="en-US" sz="1050" dirty="0">
                <a:solidFill>
                  <a:srgbClr val="262B3A"/>
                </a:solidFill>
                <a:latin typeface="Calibri" pitchFamily="34" charset="0"/>
                <a:ea typeface="Calibri" pitchFamily="34" charset="-122"/>
                <a:cs typeface="Calibri" pitchFamily="34" charset="-120"/>
              </a:rPr>
              <a:t>. Repeat 3 times for each size.</a:t>
            </a:r>
            <a:endParaRPr lang="en-US" sz="1050" dirty="0"/>
          </a:p>
        </p:txBody>
      </p:sp>
      <p:sp>
        <p:nvSpPr>
          <p:cNvPr id="78" name="Shape 75"/>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79" name="Text 76"/>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80" name="Text 77"/>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cube size (so SA:V ratio)</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time for the cube to go colourless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acid concentration and volume; temperature; same agar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acid irritant: eye protection; cut on a tile, away from fingers</a:t>
            </a:r>
            <a:endParaRPr lang="en-US" sz="1050" dirty="0"/>
          </a:p>
        </p:txBody>
      </p:sp>
      <p:sp>
        <p:nvSpPr>
          <p:cNvPr id="81" name="Shape 78"/>
          <p:cNvSpPr/>
          <p:nvPr/>
        </p:nvSpPr>
        <p:spPr>
          <a:xfrm>
            <a:off x="411480" y="5833872"/>
            <a:ext cx="11368735" cy="530352"/>
          </a:xfrm>
          <a:prstGeom prst="rect">
            <a:avLst/>
          </a:prstGeom>
          <a:solidFill>
            <a:srgbClr val="FFF4E0"/>
          </a:solidFill>
          <a:ln w="6350">
            <a:solidFill>
              <a:srgbClr val="F1D9A8"/>
            </a:solidFill>
            <a:prstDash val="solid"/>
          </a:ln>
        </p:spPr>
      </p:sp>
      <p:sp>
        <p:nvSpPr>
          <p:cNvPr id="82" name="Shape 79"/>
          <p:cNvSpPr/>
          <p:nvPr/>
        </p:nvSpPr>
        <p:spPr>
          <a:xfrm>
            <a:off x="411480" y="5833872"/>
            <a:ext cx="82296" cy="530352"/>
          </a:xfrm>
          <a:prstGeom prst="rect">
            <a:avLst/>
          </a:prstGeom>
          <a:solidFill>
            <a:srgbClr val="E39A2F"/>
          </a:solidFill>
          <a:ln w="12700">
            <a:solidFill>
              <a:srgbClr val="E39A2F"/>
            </a:solidFill>
            <a:prstDash val="solid"/>
          </a:ln>
        </p:spPr>
      </p:sp>
      <p:sp>
        <p:nvSpPr>
          <p:cNvPr id="83" name="Text 8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a:t>
            </a:r>
            <a:r>
              <a:rPr lang="en-US" sz="1150" b="1" dirty="0">
                <a:solidFill>
                  <a:srgbClr val="262B3A"/>
                </a:solidFill>
                <a:latin typeface="Calibri" pitchFamily="34" charset="0"/>
                <a:ea typeface="Calibri" pitchFamily="34" charset="-122"/>
                <a:cs typeface="Calibri" pitchFamily="34" charset="-120"/>
              </a:rPr>
              <a:t>centre</a:t>
            </a:r>
            <a:r>
              <a:rPr lang="en-US" sz="1150" dirty="0">
                <a:solidFill>
                  <a:srgbClr val="262B3A"/>
                </a:solidFill>
                <a:latin typeface="Calibri" pitchFamily="34" charset="0"/>
                <a:ea typeface="Calibri" pitchFamily="34" charset="-122"/>
                <a:cs typeface="Calibri" pitchFamily="34" charset="-120"/>
              </a:rPr>
              <a:t> of the biggest cube the last part to turn colourless? What does this model about a large organism?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 • time for cubes to go colourless (sample class data)</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10</a:t>
            </a:r>
            <a:endParaRPr lang="en-US" sz="1000" dirty="0"/>
          </a:p>
        </p:txBody>
      </p:sp>
      <p:sp>
        <p:nvSpPr>
          <p:cNvPr id="10" name="Shape 8"/>
          <p:cNvSpPr/>
          <p:nvPr/>
        </p:nvSpPr>
        <p:spPr>
          <a:xfrm>
            <a:off x="411480" y="1188720"/>
            <a:ext cx="539496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1206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drawn to scale from the mean times</a:t>
            </a:r>
            <a:endParaRPr lang="en-US" sz="1000" dirty="0"/>
          </a:p>
        </p:txBody>
      </p:sp>
      <p:sp>
        <p:nvSpPr>
          <p:cNvPr id="12" name="Shape 10"/>
          <p:cNvSpPr/>
          <p:nvPr/>
        </p:nvSpPr>
        <p:spPr>
          <a:xfrm>
            <a:off x="1325880" y="1417320"/>
            <a:ext cx="4160520" cy="3383280"/>
          </a:xfrm>
          <a:prstGeom prst="rect">
            <a:avLst/>
          </a:prstGeom>
          <a:solidFill>
            <a:srgbClr val="FFFFFF"/>
          </a:solidFill>
          <a:ln/>
        </p:spPr>
      </p:sp>
      <p:sp>
        <p:nvSpPr>
          <p:cNvPr id="13" name="Shape 11"/>
          <p:cNvSpPr/>
          <p:nvPr/>
        </p:nvSpPr>
        <p:spPr>
          <a:xfrm>
            <a:off x="1325880" y="1417320"/>
            <a:ext cx="91" cy="3383280"/>
          </a:xfrm>
          <a:prstGeom prst="line">
            <a:avLst/>
          </a:prstGeom>
          <a:noFill/>
          <a:ln w="6350">
            <a:solidFill>
              <a:srgbClr val="C5DCD9"/>
            </a:solidFill>
            <a:prstDash val="solid"/>
          </a:ln>
        </p:spPr>
      </p:sp>
      <p:sp>
        <p:nvSpPr>
          <p:cNvPr id="14" name="Shape 12"/>
          <p:cNvSpPr/>
          <p:nvPr/>
        </p:nvSpPr>
        <p:spPr>
          <a:xfrm>
            <a:off x="1672590" y="1417320"/>
            <a:ext cx="91" cy="3383280"/>
          </a:xfrm>
          <a:prstGeom prst="line">
            <a:avLst/>
          </a:prstGeom>
          <a:noFill/>
          <a:ln w="6350">
            <a:solidFill>
              <a:srgbClr val="E3EFED"/>
            </a:solidFill>
            <a:prstDash val="solid"/>
          </a:ln>
        </p:spPr>
      </p:sp>
      <p:sp>
        <p:nvSpPr>
          <p:cNvPr id="15" name="Shape 13"/>
          <p:cNvSpPr/>
          <p:nvPr/>
        </p:nvSpPr>
        <p:spPr>
          <a:xfrm>
            <a:off x="2019300" y="1417320"/>
            <a:ext cx="91" cy="3383280"/>
          </a:xfrm>
          <a:prstGeom prst="line">
            <a:avLst/>
          </a:prstGeom>
          <a:noFill/>
          <a:ln w="6350">
            <a:solidFill>
              <a:srgbClr val="C5DCD9"/>
            </a:solidFill>
            <a:prstDash val="solid"/>
          </a:ln>
        </p:spPr>
      </p:sp>
      <p:sp>
        <p:nvSpPr>
          <p:cNvPr id="16" name="Shape 14"/>
          <p:cNvSpPr/>
          <p:nvPr/>
        </p:nvSpPr>
        <p:spPr>
          <a:xfrm>
            <a:off x="2366010" y="1417320"/>
            <a:ext cx="91" cy="3383280"/>
          </a:xfrm>
          <a:prstGeom prst="line">
            <a:avLst/>
          </a:prstGeom>
          <a:noFill/>
          <a:ln w="6350">
            <a:solidFill>
              <a:srgbClr val="E3EFED"/>
            </a:solidFill>
            <a:prstDash val="solid"/>
          </a:ln>
        </p:spPr>
      </p:sp>
      <p:sp>
        <p:nvSpPr>
          <p:cNvPr id="17" name="Shape 15"/>
          <p:cNvSpPr/>
          <p:nvPr/>
        </p:nvSpPr>
        <p:spPr>
          <a:xfrm>
            <a:off x="2712720" y="1417320"/>
            <a:ext cx="91" cy="3383280"/>
          </a:xfrm>
          <a:prstGeom prst="line">
            <a:avLst/>
          </a:prstGeom>
          <a:noFill/>
          <a:ln w="6350">
            <a:solidFill>
              <a:srgbClr val="C5DCD9"/>
            </a:solidFill>
            <a:prstDash val="solid"/>
          </a:ln>
        </p:spPr>
      </p:sp>
      <p:sp>
        <p:nvSpPr>
          <p:cNvPr id="18" name="Shape 16"/>
          <p:cNvSpPr/>
          <p:nvPr/>
        </p:nvSpPr>
        <p:spPr>
          <a:xfrm>
            <a:off x="3059430" y="1417320"/>
            <a:ext cx="91" cy="3383280"/>
          </a:xfrm>
          <a:prstGeom prst="line">
            <a:avLst/>
          </a:prstGeom>
          <a:noFill/>
          <a:ln w="6350">
            <a:solidFill>
              <a:srgbClr val="E3EFED"/>
            </a:solidFill>
            <a:prstDash val="solid"/>
          </a:ln>
        </p:spPr>
      </p:sp>
      <p:sp>
        <p:nvSpPr>
          <p:cNvPr id="19" name="Shape 17"/>
          <p:cNvSpPr/>
          <p:nvPr/>
        </p:nvSpPr>
        <p:spPr>
          <a:xfrm>
            <a:off x="3406140" y="1417320"/>
            <a:ext cx="91" cy="3383280"/>
          </a:xfrm>
          <a:prstGeom prst="line">
            <a:avLst/>
          </a:prstGeom>
          <a:noFill/>
          <a:ln w="6350">
            <a:solidFill>
              <a:srgbClr val="C5DCD9"/>
            </a:solidFill>
            <a:prstDash val="solid"/>
          </a:ln>
        </p:spPr>
      </p:sp>
      <p:sp>
        <p:nvSpPr>
          <p:cNvPr id="20" name="Shape 18"/>
          <p:cNvSpPr/>
          <p:nvPr/>
        </p:nvSpPr>
        <p:spPr>
          <a:xfrm>
            <a:off x="3752850" y="1417320"/>
            <a:ext cx="91" cy="3383280"/>
          </a:xfrm>
          <a:prstGeom prst="line">
            <a:avLst/>
          </a:prstGeom>
          <a:noFill/>
          <a:ln w="6350">
            <a:solidFill>
              <a:srgbClr val="E3EFED"/>
            </a:solidFill>
            <a:prstDash val="solid"/>
          </a:ln>
        </p:spPr>
      </p:sp>
      <p:sp>
        <p:nvSpPr>
          <p:cNvPr id="21" name="Shape 19"/>
          <p:cNvSpPr/>
          <p:nvPr/>
        </p:nvSpPr>
        <p:spPr>
          <a:xfrm>
            <a:off x="4099560" y="1417320"/>
            <a:ext cx="91" cy="3383280"/>
          </a:xfrm>
          <a:prstGeom prst="line">
            <a:avLst/>
          </a:prstGeom>
          <a:noFill/>
          <a:ln w="6350">
            <a:solidFill>
              <a:srgbClr val="C5DCD9"/>
            </a:solidFill>
            <a:prstDash val="solid"/>
          </a:ln>
        </p:spPr>
      </p:sp>
      <p:sp>
        <p:nvSpPr>
          <p:cNvPr id="22" name="Shape 20"/>
          <p:cNvSpPr/>
          <p:nvPr/>
        </p:nvSpPr>
        <p:spPr>
          <a:xfrm>
            <a:off x="4446270" y="1417320"/>
            <a:ext cx="91" cy="3383280"/>
          </a:xfrm>
          <a:prstGeom prst="line">
            <a:avLst/>
          </a:prstGeom>
          <a:noFill/>
          <a:ln w="6350">
            <a:solidFill>
              <a:srgbClr val="E3EFED"/>
            </a:solidFill>
            <a:prstDash val="solid"/>
          </a:ln>
        </p:spPr>
      </p:sp>
      <p:sp>
        <p:nvSpPr>
          <p:cNvPr id="23" name="Shape 21"/>
          <p:cNvSpPr/>
          <p:nvPr/>
        </p:nvSpPr>
        <p:spPr>
          <a:xfrm>
            <a:off x="4792980" y="1417320"/>
            <a:ext cx="91" cy="3383280"/>
          </a:xfrm>
          <a:prstGeom prst="line">
            <a:avLst/>
          </a:prstGeom>
          <a:noFill/>
          <a:ln w="6350">
            <a:solidFill>
              <a:srgbClr val="C5DCD9"/>
            </a:solidFill>
            <a:prstDash val="solid"/>
          </a:ln>
        </p:spPr>
      </p:sp>
      <p:sp>
        <p:nvSpPr>
          <p:cNvPr id="24" name="Shape 22"/>
          <p:cNvSpPr/>
          <p:nvPr/>
        </p:nvSpPr>
        <p:spPr>
          <a:xfrm>
            <a:off x="5139690" y="1417320"/>
            <a:ext cx="91" cy="3383280"/>
          </a:xfrm>
          <a:prstGeom prst="line">
            <a:avLst/>
          </a:prstGeom>
          <a:noFill/>
          <a:ln w="6350">
            <a:solidFill>
              <a:srgbClr val="E3EFED"/>
            </a:solidFill>
            <a:prstDash val="solid"/>
          </a:ln>
        </p:spPr>
      </p:sp>
      <p:sp>
        <p:nvSpPr>
          <p:cNvPr id="25" name="Shape 23"/>
          <p:cNvSpPr/>
          <p:nvPr/>
        </p:nvSpPr>
        <p:spPr>
          <a:xfrm>
            <a:off x="5486400" y="1417320"/>
            <a:ext cx="91" cy="3383280"/>
          </a:xfrm>
          <a:prstGeom prst="line">
            <a:avLst/>
          </a:prstGeom>
          <a:noFill/>
          <a:ln w="6350">
            <a:solidFill>
              <a:srgbClr val="C5DCD9"/>
            </a:solidFill>
            <a:prstDash val="solid"/>
          </a:ln>
        </p:spPr>
      </p:sp>
      <p:sp>
        <p:nvSpPr>
          <p:cNvPr id="26" name="Shape 24"/>
          <p:cNvSpPr/>
          <p:nvPr/>
        </p:nvSpPr>
        <p:spPr>
          <a:xfrm>
            <a:off x="1325880" y="4800600"/>
            <a:ext cx="4160520" cy="91"/>
          </a:xfrm>
          <a:prstGeom prst="line">
            <a:avLst/>
          </a:prstGeom>
          <a:noFill/>
          <a:ln w="6350">
            <a:solidFill>
              <a:srgbClr val="C5DCD9"/>
            </a:solidFill>
            <a:prstDash val="solid"/>
          </a:ln>
        </p:spPr>
      </p:sp>
      <p:sp>
        <p:nvSpPr>
          <p:cNvPr id="27" name="Shape 25"/>
          <p:cNvSpPr/>
          <p:nvPr/>
        </p:nvSpPr>
        <p:spPr>
          <a:xfrm>
            <a:off x="1325880" y="4558937"/>
            <a:ext cx="4160520" cy="91"/>
          </a:xfrm>
          <a:prstGeom prst="line">
            <a:avLst/>
          </a:prstGeom>
          <a:noFill/>
          <a:ln w="6350">
            <a:solidFill>
              <a:srgbClr val="E3EFED"/>
            </a:solidFill>
            <a:prstDash val="solid"/>
          </a:ln>
        </p:spPr>
      </p:sp>
      <p:sp>
        <p:nvSpPr>
          <p:cNvPr id="28" name="Shape 26"/>
          <p:cNvSpPr/>
          <p:nvPr/>
        </p:nvSpPr>
        <p:spPr>
          <a:xfrm>
            <a:off x="1325880" y="4317274"/>
            <a:ext cx="4160520" cy="91"/>
          </a:xfrm>
          <a:prstGeom prst="line">
            <a:avLst/>
          </a:prstGeom>
          <a:noFill/>
          <a:ln w="6350">
            <a:solidFill>
              <a:srgbClr val="C5DCD9"/>
            </a:solidFill>
            <a:prstDash val="solid"/>
          </a:ln>
        </p:spPr>
      </p:sp>
      <p:sp>
        <p:nvSpPr>
          <p:cNvPr id="29" name="Shape 27"/>
          <p:cNvSpPr/>
          <p:nvPr/>
        </p:nvSpPr>
        <p:spPr>
          <a:xfrm>
            <a:off x="1325880" y="4075611"/>
            <a:ext cx="4160520" cy="91"/>
          </a:xfrm>
          <a:prstGeom prst="line">
            <a:avLst/>
          </a:prstGeom>
          <a:noFill/>
          <a:ln w="6350">
            <a:solidFill>
              <a:srgbClr val="E3EFED"/>
            </a:solidFill>
            <a:prstDash val="solid"/>
          </a:ln>
        </p:spPr>
      </p:sp>
      <p:sp>
        <p:nvSpPr>
          <p:cNvPr id="30" name="Shape 28"/>
          <p:cNvSpPr/>
          <p:nvPr/>
        </p:nvSpPr>
        <p:spPr>
          <a:xfrm>
            <a:off x="1325880" y="3833949"/>
            <a:ext cx="4160520" cy="91"/>
          </a:xfrm>
          <a:prstGeom prst="line">
            <a:avLst/>
          </a:prstGeom>
          <a:noFill/>
          <a:ln w="6350">
            <a:solidFill>
              <a:srgbClr val="C5DCD9"/>
            </a:solidFill>
            <a:prstDash val="solid"/>
          </a:ln>
        </p:spPr>
      </p:sp>
      <p:sp>
        <p:nvSpPr>
          <p:cNvPr id="31" name="Shape 29"/>
          <p:cNvSpPr/>
          <p:nvPr/>
        </p:nvSpPr>
        <p:spPr>
          <a:xfrm>
            <a:off x="1325880" y="3592286"/>
            <a:ext cx="4160520" cy="91"/>
          </a:xfrm>
          <a:prstGeom prst="line">
            <a:avLst/>
          </a:prstGeom>
          <a:noFill/>
          <a:ln w="6350">
            <a:solidFill>
              <a:srgbClr val="E3EFED"/>
            </a:solidFill>
            <a:prstDash val="solid"/>
          </a:ln>
        </p:spPr>
      </p:sp>
      <p:sp>
        <p:nvSpPr>
          <p:cNvPr id="32" name="Shape 30"/>
          <p:cNvSpPr/>
          <p:nvPr/>
        </p:nvSpPr>
        <p:spPr>
          <a:xfrm>
            <a:off x="1325880" y="3350623"/>
            <a:ext cx="4160520" cy="91"/>
          </a:xfrm>
          <a:prstGeom prst="line">
            <a:avLst/>
          </a:prstGeom>
          <a:noFill/>
          <a:ln w="6350">
            <a:solidFill>
              <a:srgbClr val="C5DCD9"/>
            </a:solidFill>
            <a:prstDash val="solid"/>
          </a:ln>
        </p:spPr>
      </p:sp>
      <p:sp>
        <p:nvSpPr>
          <p:cNvPr id="33" name="Shape 31"/>
          <p:cNvSpPr/>
          <p:nvPr/>
        </p:nvSpPr>
        <p:spPr>
          <a:xfrm>
            <a:off x="1325880" y="3108960"/>
            <a:ext cx="4160520" cy="91"/>
          </a:xfrm>
          <a:prstGeom prst="line">
            <a:avLst/>
          </a:prstGeom>
          <a:noFill/>
          <a:ln w="6350">
            <a:solidFill>
              <a:srgbClr val="E3EFED"/>
            </a:solidFill>
            <a:prstDash val="solid"/>
          </a:ln>
        </p:spPr>
      </p:sp>
      <p:sp>
        <p:nvSpPr>
          <p:cNvPr id="34" name="Shape 32"/>
          <p:cNvSpPr/>
          <p:nvPr/>
        </p:nvSpPr>
        <p:spPr>
          <a:xfrm>
            <a:off x="1325880" y="2867297"/>
            <a:ext cx="4160520" cy="91"/>
          </a:xfrm>
          <a:prstGeom prst="line">
            <a:avLst/>
          </a:prstGeom>
          <a:noFill/>
          <a:ln w="6350">
            <a:solidFill>
              <a:srgbClr val="C5DCD9"/>
            </a:solidFill>
            <a:prstDash val="solid"/>
          </a:ln>
        </p:spPr>
      </p:sp>
      <p:sp>
        <p:nvSpPr>
          <p:cNvPr id="35" name="Shape 33"/>
          <p:cNvSpPr/>
          <p:nvPr/>
        </p:nvSpPr>
        <p:spPr>
          <a:xfrm>
            <a:off x="1325880" y="2625634"/>
            <a:ext cx="4160520" cy="91"/>
          </a:xfrm>
          <a:prstGeom prst="line">
            <a:avLst/>
          </a:prstGeom>
          <a:noFill/>
          <a:ln w="6350">
            <a:solidFill>
              <a:srgbClr val="E3EFED"/>
            </a:solidFill>
            <a:prstDash val="solid"/>
          </a:ln>
        </p:spPr>
      </p:sp>
      <p:sp>
        <p:nvSpPr>
          <p:cNvPr id="36" name="Shape 34"/>
          <p:cNvSpPr/>
          <p:nvPr/>
        </p:nvSpPr>
        <p:spPr>
          <a:xfrm>
            <a:off x="1325880" y="2383971"/>
            <a:ext cx="4160520" cy="91"/>
          </a:xfrm>
          <a:prstGeom prst="line">
            <a:avLst/>
          </a:prstGeom>
          <a:noFill/>
          <a:ln w="6350">
            <a:solidFill>
              <a:srgbClr val="C5DCD9"/>
            </a:solidFill>
            <a:prstDash val="solid"/>
          </a:ln>
        </p:spPr>
      </p:sp>
      <p:sp>
        <p:nvSpPr>
          <p:cNvPr id="37" name="Shape 35"/>
          <p:cNvSpPr/>
          <p:nvPr/>
        </p:nvSpPr>
        <p:spPr>
          <a:xfrm>
            <a:off x="1325880" y="2142309"/>
            <a:ext cx="4160520" cy="91"/>
          </a:xfrm>
          <a:prstGeom prst="line">
            <a:avLst/>
          </a:prstGeom>
          <a:noFill/>
          <a:ln w="6350">
            <a:solidFill>
              <a:srgbClr val="E3EFED"/>
            </a:solidFill>
            <a:prstDash val="solid"/>
          </a:ln>
        </p:spPr>
      </p:sp>
      <p:sp>
        <p:nvSpPr>
          <p:cNvPr id="38" name="Shape 36"/>
          <p:cNvSpPr/>
          <p:nvPr/>
        </p:nvSpPr>
        <p:spPr>
          <a:xfrm>
            <a:off x="1325880" y="1900646"/>
            <a:ext cx="4160520" cy="91"/>
          </a:xfrm>
          <a:prstGeom prst="line">
            <a:avLst/>
          </a:prstGeom>
          <a:noFill/>
          <a:ln w="6350">
            <a:solidFill>
              <a:srgbClr val="C5DCD9"/>
            </a:solidFill>
            <a:prstDash val="solid"/>
          </a:ln>
        </p:spPr>
      </p:sp>
      <p:sp>
        <p:nvSpPr>
          <p:cNvPr id="39" name="Shape 37"/>
          <p:cNvSpPr/>
          <p:nvPr/>
        </p:nvSpPr>
        <p:spPr>
          <a:xfrm>
            <a:off x="1325880" y="1658983"/>
            <a:ext cx="4160520" cy="91"/>
          </a:xfrm>
          <a:prstGeom prst="line">
            <a:avLst/>
          </a:prstGeom>
          <a:noFill/>
          <a:ln w="6350">
            <a:solidFill>
              <a:srgbClr val="E3EFED"/>
            </a:solidFill>
            <a:prstDash val="solid"/>
          </a:ln>
        </p:spPr>
      </p:sp>
      <p:sp>
        <p:nvSpPr>
          <p:cNvPr id="40" name="Shape 38"/>
          <p:cNvSpPr/>
          <p:nvPr/>
        </p:nvSpPr>
        <p:spPr>
          <a:xfrm>
            <a:off x="1325880" y="1417320"/>
            <a:ext cx="4160520" cy="91"/>
          </a:xfrm>
          <a:prstGeom prst="line">
            <a:avLst/>
          </a:prstGeom>
          <a:noFill/>
          <a:ln w="6350">
            <a:solidFill>
              <a:srgbClr val="C5DCD9"/>
            </a:solidFill>
            <a:prstDash val="solid"/>
          </a:ln>
        </p:spPr>
      </p:sp>
      <p:sp>
        <p:nvSpPr>
          <p:cNvPr id="41" name="Shape 39"/>
          <p:cNvSpPr/>
          <p:nvPr/>
        </p:nvSpPr>
        <p:spPr>
          <a:xfrm>
            <a:off x="1325880" y="4800600"/>
            <a:ext cx="4160520" cy="91"/>
          </a:xfrm>
          <a:prstGeom prst="line">
            <a:avLst/>
          </a:prstGeom>
          <a:noFill/>
          <a:ln w="19050">
            <a:solidFill>
              <a:srgbClr val="133536"/>
            </a:solidFill>
            <a:prstDash val="solid"/>
          </a:ln>
        </p:spPr>
      </p:sp>
      <p:sp>
        <p:nvSpPr>
          <p:cNvPr id="42" name="Shape 40"/>
          <p:cNvSpPr/>
          <p:nvPr/>
        </p:nvSpPr>
        <p:spPr>
          <a:xfrm flipV="1">
            <a:off x="1325880" y="1417320"/>
            <a:ext cx="91" cy="3383280"/>
          </a:xfrm>
          <a:prstGeom prst="line">
            <a:avLst/>
          </a:prstGeom>
          <a:noFill/>
          <a:ln w="19050">
            <a:solidFill>
              <a:srgbClr val="133536"/>
            </a:solidFill>
            <a:prstDash val="solid"/>
          </a:ln>
        </p:spPr>
      </p:sp>
      <p:sp>
        <p:nvSpPr>
          <p:cNvPr id="43" name="Shape 41"/>
          <p:cNvSpPr/>
          <p:nvPr/>
        </p:nvSpPr>
        <p:spPr>
          <a:xfrm>
            <a:off x="1325880" y="4800600"/>
            <a:ext cx="91" cy="54864"/>
          </a:xfrm>
          <a:prstGeom prst="line">
            <a:avLst/>
          </a:prstGeom>
          <a:noFill/>
          <a:ln w="12700">
            <a:solidFill>
              <a:srgbClr val="133536"/>
            </a:solidFill>
            <a:prstDash val="solid"/>
          </a:ln>
        </p:spPr>
      </p:sp>
      <p:sp>
        <p:nvSpPr>
          <p:cNvPr id="44" name="Text 42"/>
          <p:cNvSpPr/>
          <p:nvPr/>
        </p:nvSpPr>
        <p:spPr>
          <a:xfrm>
            <a:off x="10515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2019300" y="4800600"/>
            <a:ext cx="91" cy="54864"/>
          </a:xfrm>
          <a:prstGeom prst="line">
            <a:avLst/>
          </a:prstGeom>
          <a:noFill/>
          <a:ln w="12700">
            <a:solidFill>
              <a:srgbClr val="133536"/>
            </a:solidFill>
            <a:prstDash val="solid"/>
          </a:ln>
        </p:spPr>
      </p:sp>
      <p:sp>
        <p:nvSpPr>
          <p:cNvPr id="46" name="Text 44"/>
          <p:cNvSpPr/>
          <p:nvPr/>
        </p:nvSpPr>
        <p:spPr>
          <a:xfrm>
            <a:off x="17449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2712720" y="4800600"/>
            <a:ext cx="91" cy="54864"/>
          </a:xfrm>
          <a:prstGeom prst="line">
            <a:avLst/>
          </a:prstGeom>
          <a:noFill/>
          <a:ln w="12700">
            <a:solidFill>
              <a:srgbClr val="133536"/>
            </a:solidFill>
            <a:prstDash val="solid"/>
          </a:ln>
        </p:spPr>
      </p:sp>
      <p:sp>
        <p:nvSpPr>
          <p:cNvPr id="48" name="Text 46"/>
          <p:cNvSpPr/>
          <p:nvPr/>
        </p:nvSpPr>
        <p:spPr>
          <a:xfrm>
            <a:off x="24384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9" name="Shape 47"/>
          <p:cNvSpPr/>
          <p:nvPr/>
        </p:nvSpPr>
        <p:spPr>
          <a:xfrm>
            <a:off x="3406140" y="4800600"/>
            <a:ext cx="91" cy="54864"/>
          </a:xfrm>
          <a:prstGeom prst="line">
            <a:avLst/>
          </a:prstGeom>
          <a:noFill/>
          <a:ln w="12700">
            <a:solidFill>
              <a:srgbClr val="133536"/>
            </a:solidFill>
            <a:prstDash val="solid"/>
          </a:ln>
        </p:spPr>
      </p:sp>
      <p:sp>
        <p:nvSpPr>
          <p:cNvPr id="50" name="Text 48"/>
          <p:cNvSpPr/>
          <p:nvPr/>
        </p:nvSpPr>
        <p:spPr>
          <a:xfrm>
            <a:off x="31318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1" name="Shape 49"/>
          <p:cNvSpPr/>
          <p:nvPr/>
        </p:nvSpPr>
        <p:spPr>
          <a:xfrm>
            <a:off x="4099560" y="4800600"/>
            <a:ext cx="91" cy="54864"/>
          </a:xfrm>
          <a:prstGeom prst="line">
            <a:avLst/>
          </a:prstGeom>
          <a:noFill/>
          <a:ln w="12700">
            <a:solidFill>
              <a:srgbClr val="133536"/>
            </a:solidFill>
            <a:prstDash val="solid"/>
          </a:ln>
        </p:spPr>
      </p:sp>
      <p:sp>
        <p:nvSpPr>
          <p:cNvPr id="52" name="Text 50"/>
          <p:cNvSpPr/>
          <p:nvPr/>
        </p:nvSpPr>
        <p:spPr>
          <a:xfrm>
            <a:off x="38252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3" name="Shape 51"/>
          <p:cNvSpPr/>
          <p:nvPr/>
        </p:nvSpPr>
        <p:spPr>
          <a:xfrm>
            <a:off x="4792980" y="4800600"/>
            <a:ext cx="91" cy="54864"/>
          </a:xfrm>
          <a:prstGeom prst="line">
            <a:avLst/>
          </a:prstGeom>
          <a:noFill/>
          <a:ln w="12700">
            <a:solidFill>
              <a:srgbClr val="133536"/>
            </a:solidFill>
            <a:prstDash val="solid"/>
          </a:ln>
        </p:spPr>
      </p:sp>
      <p:sp>
        <p:nvSpPr>
          <p:cNvPr id="54" name="Text 52"/>
          <p:cNvSpPr/>
          <p:nvPr/>
        </p:nvSpPr>
        <p:spPr>
          <a:xfrm>
            <a:off x="45186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Shape 53"/>
          <p:cNvSpPr/>
          <p:nvPr/>
        </p:nvSpPr>
        <p:spPr>
          <a:xfrm>
            <a:off x="5486400" y="4800600"/>
            <a:ext cx="91" cy="54864"/>
          </a:xfrm>
          <a:prstGeom prst="line">
            <a:avLst/>
          </a:prstGeom>
          <a:noFill/>
          <a:ln w="12700">
            <a:solidFill>
              <a:srgbClr val="133536"/>
            </a:solidFill>
            <a:prstDash val="solid"/>
          </a:ln>
        </p:spPr>
      </p:sp>
      <p:sp>
        <p:nvSpPr>
          <p:cNvPr id="56" name="Text 54"/>
          <p:cNvSpPr/>
          <p:nvPr/>
        </p:nvSpPr>
        <p:spPr>
          <a:xfrm>
            <a:off x="52120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57" name="Shape 55"/>
          <p:cNvSpPr/>
          <p:nvPr/>
        </p:nvSpPr>
        <p:spPr>
          <a:xfrm>
            <a:off x="1271016" y="4800600"/>
            <a:ext cx="54864" cy="91"/>
          </a:xfrm>
          <a:prstGeom prst="line">
            <a:avLst/>
          </a:prstGeom>
          <a:noFill/>
          <a:ln w="12700">
            <a:solidFill>
              <a:srgbClr val="133536"/>
            </a:solidFill>
            <a:prstDash val="solid"/>
          </a:ln>
        </p:spPr>
      </p:sp>
      <p:sp>
        <p:nvSpPr>
          <p:cNvPr id="58" name="Text 56"/>
          <p:cNvSpPr/>
          <p:nvPr/>
        </p:nvSpPr>
        <p:spPr>
          <a:xfrm>
            <a:off x="88696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9" name="Shape 57"/>
          <p:cNvSpPr/>
          <p:nvPr/>
        </p:nvSpPr>
        <p:spPr>
          <a:xfrm>
            <a:off x="1271016" y="4317274"/>
            <a:ext cx="54864" cy="91"/>
          </a:xfrm>
          <a:prstGeom prst="line">
            <a:avLst/>
          </a:prstGeom>
          <a:noFill/>
          <a:ln w="12700">
            <a:solidFill>
              <a:srgbClr val="133536"/>
            </a:solidFill>
            <a:prstDash val="solid"/>
          </a:ln>
        </p:spPr>
      </p:sp>
      <p:sp>
        <p:nvSpPr>
          <p:cNvPr id="60" name="Text 58"/>
          <p:cNvSpPr/>
          <p:nvPr/>
        </p:nvSpPr>
        <p:spPr>
          <a:xfrm>
            <a:off x="886968" y="422583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61" name="Shape 59"/>
          <p:cNvSpPr/>
          <p:nvPr/>
        </p:nvSpPr>
        <p:spPr>
          <a:xfrm>
            <a:off x="1271016" y="3833949"/>
            <a:ext cx="54864" cy="91"/>
          </a:xfrm>
          <a:prstGeom prst="line">
            <a:avLst/>
          </a:prstGeom>
          <a:noFill/>
          <a:ln w="12700">
            <a:solidFill>
              <a:srgbClr val="133536"/>
            </a:solidFill>
            <a:prstDash val="solid"/>
          </a:ln>
        </p:spPr>
      </p:sp>
      <p:sp>
        <p:nvSpPr>
          <p:cNvPr id="62" name="Text 60"/>
          <p:cNvSpPr/>
          <p:nvPr/>
        </p:nvSpPr>
        <p:spPr>
          <a:xfrm>
            <a:off x="886968" y="374250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63" name="Shape 61"/>
          <p:cNvSpPr/>
          <p:nvPr/>
        </p:nvSpPr>
        <p:spPr>
          <a:xfrm>
            <a:off x="1271016" y="3350623"/>
            <a:ext cx="54864" cy="91"/>
          </a:xfrm>
          <a:prstGeom prst="line">
            <a:avLst/>
          </a:prstGeom>
          <a:noFill/>
          <a:ln w="12700">
            <a:solidFill>
              <a:srgbClr val="133536"/>
            </a:solidFill>
            <a:prstDash val="solid"/>
          </a:ln>
        </p:spPr>
      </p:sp>
      <p:sp>
        <p:nvSpPr>
          <p:cNvPr id="64" name="Text 62"/>
          <p:cNvSpPr/>
          <p:nvPr/>
        </p:nvSpPr>
        <p:spPr>
          <a:xfrm>
            <a:off x="886968" y="325918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600</a:t>
            </a:r>
            <a:endParaRPr lang="en-US" sz="1000" dirty="0"/>
          </a:p>
        </p:txBody>
      </p:sp>
      <p:sp>
        <p:nvSpPr>
          <p:cNvPr id="65" name="Shape 63"/>
          <p:cNvSpPr/>
          <p:nvPr/>
        </p:nvSpPr>
        <p:spPr>
          <a:xfrm>
            <a:off x="1271016" y="2867297"/>
            <a:ext cx="54864" cy="91"/>
          </a:xfrm>
          <a:prstGeom prst="line">
            <a:avLst/>
          </a:prstGeom>
          <a:noFill/>
          <a:ln w="12700">
            <a:solidFill>
              <a:srgbClr val="133536"/>
            </a:solidFill>
            <a:prstDash val="solid"/>
          </a:ln>
        </p:spPr>
      </p:sp>
      <p:sp>
        <p:nvSpPr>
          <p:cNvPr id="66" name="Text 64"/>
          <p:cNvSpPr/>
          <p:nvPr/>
        </p:nvSpPr>
        <p:spPr>
          <a:xfrm>
            <a:off x="886968" y="27758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800</a:t>
            </a:r>
            <a:endParaRPr lang="en-US" sz="1000" dirty="0"/>
          </a:p>
        </p:txBody>
      </p:sp>
      <p:sp>
        <p:nvSpPr>
          <p:cNvPr id="67" name="Shape 65"/>
          <p:cNvSpPr/>
          <p:nvPr/>
        </p:nvSpPr>
        <p:spPr>
          <a:xfrm>
            <a:off x="1271016" y="2383971"/>
            <a:ext cx="54864" cy="91"/>
          </a:xfrm>
          <a:prstGeom prst="line">
            <a:avLst/>
          </a:prstGeom>
          <a:noFill/>
          <a:ln w="12700">
            <a:solidFill>
              <a:srgbClr val="133536"/>
            </a:solidFill>
            <a:prstDash val="solid"/>
          </a:ln>
        </p:spPr>
      </p:sp>
      <p:sp>
        <p:nvSpPr>
          <p:cNvPr id="68" name="Text 66"/>
          <p:cNvSpPr/>
          <p:nvPr/>
        </p:nvSpPr>
        <p:spPr>
          <a:xfrm>
            <a:off x="886968" y="229253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1000</a:t>
            </a:r>
            <a:endParaRPr lang="en-US" sz="1000" dirty="0"/>
          </a:p>
        </p:txBody>
      </p:sp>
      <p:sp>
        <p:nvSpPr>
          <p:cNvPr id="69" name="Shape 67"/>
          <p:cNvSpPr/>
          <p:nvPr/>
        </p:nvSpPr>
        <p:spPr>
          <a:xfrm>
            <a:off x="1271016" y="1900646"/>
            <a:ext cx="54864" cy="91"/>
          </a:xfrm>
          <a:prstGeom prst="line">
            <a:avLst/>
          </a:prstGeom>
          <a:noFill/>
          <a:ln w="12700">
            <a:solidFill>
              <a:srgbClr val="133536"/>
            </a:solidFill>
            <a:prstDash val="solid"/>
          </a:ln>
        </p:spPr>
      </p:sp>
      <p:sp>
        <p:nvSpPr>
          <p:cNvPr id="70" name="Text 68"/>
          <p:cNvSpPr/>
          <p:nvPr/>
        </p:nvSpPr>
        <p:spPr>
          <a:xfrm>
            <a:off x="886968" y="180920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1200</a:t>
            </a:r>
            <a:endParaRPr lang="en-US" sz="1000" dirty="0"/>
          </a:p>
        </p:txBody>
      </p:sp>
      <p:sp>
        <p:nvSpPr>
          <p:cNvPr id="71" name="Shape 69"/>
          <p:cNvSpPr/>
          <p:nvPr/>
        </p:nvSpPr>
        <p:spPr>
          <a:xfrm>
            <a:off x="1271016" y="1417320"/>
            <a:ext cx="54864" cy="91"/>
          </a:xfrm>
          <a:prstGeom prst="line">
            <a:avLst/>
          </a:prstGeom>
          <a:noFill/>
          <a:ln w="12700">
            <a:solidFill>
              <a:srgbClr val="133536"/>
            </a:solidFill>
            <a:prstDash val="solid"/>
          </a:ln>
        </p:spPr>
      </p:sp>
      <p:sp>
        <p:nvSpPr>
          <p:cNvPr id="72" name="Text 7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1400</a:t>
            </a:r>
            <a:endParaRPr lang="en-US" sz="1000" dirty="0"/>
          </a:p>
        </p:txBody>
      </p:sp>
      <p:sp>
        <p:nvSpPr>
          <p:cNvPr id="73" name="Text 71"/>
          <p:cNvSpPr/>
          <p:nvPr/>
        </p:nvSpPr>
        <p:spPr>
          <a:xfrm>
            <a:off x="1325880" y="5047488"/>
            <a:ext cx="4160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surface area : volume ratio (per cm)</a:t>
            </a:r>
            <a:endParaRPr lang="en-US" sz="1050" dirty="0"/>
          </a:p>
        </p:txBody>
      </p:sp>
      <p:sp>
        <p:nvSpPr>
          <p:cNvPr id="74" name="Text 72"/>
          <p:cNvSpPr/>
          <p:nvPr/>
        </p:nvSpPr>
        <p:spPr>
          <a:xfrm rot="16200000">
            <a:off x="-93268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mean time to go colourless / s</a:t>
            </a:r>
            <a:endParaRPr lang="en-US" sz="1050" dirty="0"/>
          </a:p>
        </p:txBody>
      </p:sp>
      <p:sp>
        <p:nvSpPr>
          <p:cNvPr id="75" name="Shape 73"/>
          <p:cNvSpPr/>
          <p:nvPr/>
        </p:nvSpPr>
        <p:spPr>
          <a:xfrm>
            <a:off x="2366010" y="1610650"/>
            <a:ext cx="52007" cy="296571"/>
          </a:xfrm>
          <a:prstGeom prst="line">
            <a:avLst/>
          </a:prstGeom>
          <a:noFill/>
          <a:ln w="22225">
            <a:solidFill>
              <a:srgbClr val="0D7877"/>
            </a:solidFill>
            <a:prstDash val="solid"/>
          </a:ln>
        </p:spPr>
      </p:sp>
      <p:sp>
        <p:nvSpPr>
          <p:cNvPr id="76" name="Shape 74"/>
          <p:cNvSpPr/>
          <p:nvPr/>
        </p:nvSpPr>
        <p:spPr>
          <a:xfrm>
            <a:off x="2418017" y="1907222"/>
            <a:ext cx="52006" cy="257056"/>
          </a:xfrm>
          <a:prstGeom prst="line">
            <a:avLst/>
          </a:prstGeom>
          <a:noFill/>
          <a:ln w="22225">
            <a:solidFill>
              <a:srgbClr val="0D7877"/>
            </a:solidFill>
            <a:prstDash val="solid"/>
          </a:ln>
        </p:spPr>
      </p:sp>
      <p:sp>
        <p:nvSpPr>
          <p:cNvPr id="77" name="Shape 75"/>
          <p:cNvSpPr/>
          <p:nvPr/>
        </p:nvSpPr>
        <p:spPr>
          <a:xfrm>
            <a:off x="2470023" y="2164278"/>
            <a:ext cx="52007" cy="224262"/>
          </a:xfrm>
          <a:prstGeom prst="line">
            <a:avLst/>
          </a:prstGeom>
          <a:noFill/>
          <a:ln w="22225">
            <a:solidFill>
              <a:srgbClr val="0D7877"/>
            </a:solidFill>
            <a:prstDash val="solid"/>
          </a:ln>
        </p:spPr>
      </p:sp>
      <p:sp>
        <p:nvSpPr>
          <p:cNvPr id="78" name="Shape 76"/>
          <p:cNvSpPr/>
          <p:nvPr/>
        </p:nvSpPr>
        <p:spPr>
          <a:xfrm>
            <a:off x="2522030" y="2388540"/>
            <a:ext cx="52006" cy="196817"/>
          </a:xfrm>
          <a:prstGeom prst="line">
            <a:avLst/>
          </a:prstGeom>
          <a:noFill/>
          <a:ln w="22225">
            <a:solidFill>
              <a:srgbClr val="0D7877"/>
            </a:solidFill>
            <a:prstDash val="solid"/>
          </a:ln>
        </p:spPr>
      </p:sp>
      <p:sp>
        <p:nvSpPr>
          <p:cNvPr id="79" name="Shape 77"/>
          <p:cNvSpPr/>
          <p:nvPr/>
        </p:nvSpPr>
        <p:spPr>
          <a:xfrm>
            <a:off x="2574036" y="2585357"/>
            <a:ext cx="52007" cy="173675"/>
          </a:xfrm>
          <a:prstGeom prst="line">
            <a:avLst/>
          </a:prstGeom>
          <a:noFill/>
          <a:ln w="22225">
            <a:solidFill>
              <a:srgbClr val="0D7877"/>
            </a:solidFill>
            <a:prstDash val="solid"/>
          </a:ln>
        </p:spPr>
      </p:sp>
      <p:sp>
        <p:nvSpPr>
          <p:cNvPr id="80" name="Shape 78"/>
          <p:cNvSpPr/>
          <p:nvPr/>
        </p:nvSpPr>
        <p:spPr>
          <a:xfrm>
            <a:off x="2626043" y="2759032"/>
            <a:ext cx="52006" cy="154024"/>
          </a:xfrm>
          <a:prstGeom prst="line">
            <a:avLst/>
          </a:prstGeom>
          <a:noFill/>
          <a:ln w="22225">
            <a:solidFill>
              <a:srgbClr val="0D7877"/>
            </a:solidFill>
            <a:prstDash val="solid"/>
          </a:ln>
        </p:spPr>
      </p:sp>
      <p:sp>
        <p:nvSpPr>
          <p:cNvPr id="81" name="Shape 79"/>
          <p:cNvSpPr/>
          <p:nvPr/>
        </p:nvSpPr>
        <p:spPr>
          <a:xfrm>
            <a:off x="2678049" y="2913056"/>
            <a:ext cx="52006" cy="137229"/>
          </a:xfrm>
          <a:prstGeom prst="line">
            <a:avLst/>
          </a:prstGeom>
          <a:noFill/>
          <a:ln w="22225">
            <a:solidFill>
              <a:srgbClr val="0D7877"/>
            </a:solidFill>
            <a:prstDash val="solid"/>
          </a:ln>
        </p:spPr>
      </p:sp>
      <p:sp>
        <p:nvSpPr>
          <p:cNvPr id="82" name="Shape 80"/>
          <p:cNvSpPr/>
          <p:nvPr/>
        </p:nvSpPr>
        <p:spPr>
          <a:xfrm>
            <a:off x="2730056" y="3050285"/>
            <a:ext cx="52007" cy="122790"/>
          </a:xfrm>
          <a:prstGeom prst="line">
            <a:avLst/>
          </a:prstGeom>
          <a:noFill/>
          <a:ln w="22225">
            <a:solidFill>
              <a:srgbClr val="0D7877"/>
            </a:solidFill>
            <a:prstDash val="solid"/>
          </a:ln>
        </p:spPr>
      </p:sp>
      <p:sp>
        <p:nvSpPr>
          <p:cNvPr id="83" name="Shape 81"/>
          <p:cNvSpPr/>
          <p:nvPr/>
        </p:nvSpPr>
        <p:spPr>
          <a:xfrm>
            <a:off x="2782062" y="3173075"/>
            <a:ext cx="52006" cy="110308"/>
          </a:xfrm>
          <a:prstGeom prst="line">
            <a:avLst/>
          </a:prstGeom>
          <a:noFill/>
          <a:ln w="22225">
            <a:solidFill>
              <a:srgbClr val="0D7877"/>
            </a:solidFill>
            <a:prstDash val="solid"/>
          </a:ln>
        </p:spPr>
      </p:sp>
      <p:sp>
        <p:nvSpPr>
          <p:cNvPr id="84" name="Shape 82"/>
          <p:cNvSpPr/>
          <p:nvPr/>
        </p:nvSpPr>
        <p:spPr>
          <a:xfrm>
            <a:off x="2834069" y="3283383"/>
            <a:ext cx="52007" cy="99462"/>
          </a:xfrm>
          <a:prstGeom prst="line">
            <a:avLst/>
          </a:prstGeom>
          <a:noFill/>
          <a:ln w="22225">
            <a:solidFill>
              <a:srgbClr val="0D7877"/>
            </a:solidFill>
            <a:prstDash val="solid"/>
          </a:ln>
        </p:spPr>
      </p:sp>
      <p:sp>
        <p:nvSpPr>
          <p:cNvPr id="85" name="Shape 83"/>
          <p:cNvSpPr/>
          <p:nvPr/>
        </p:nvSpPr>
        <p:spPr>
          <a:xfrm>
            <a:off x="2886075" y="3382845"/>
            <a:ext cx="52006" cy="89993"/>
          </a:xfrm>
          <a:prstGeom prst="line">
            <a:avLst/>
          </a:prstGeom>
          <a:noFill/>
          <a:ln w="22225">
            <a:solidFill>
              <a:srgbClr val="0D7877"/>
            </a:solidFill>
            <a:prstDash val="solid"/>
          </a:ln>
        </p:spPr>
      </p:sp>
      <p:sp>
        <p:nvSpPr>
          <p:cNvPr id="86" name="Shape 84"/>
          <p:cNvSpPr/>
          <p:nvPr/>
        </p:nvSpPr>
        <p:spPr>
          <a:xfrm>
            <a:off x="2938082" y="3472837"/>
            <a:ext cx="52006" cy="81689"/>
          </a:xfrm>
          <a:prstGeom prst="line">
            <a:avLst/>
          </a:prstGeom>
          <a:noFill/>
          <a:ln w="22225">
            <a:solidFill>
              <a:srgbClr val="0D7877"/>
            </a:solidFill>
            <a:prstDash val="solid"/>
          </a:ln>
        </p:spPr>
      </p:sp>
      <p:sp>
        <p:nvSpPr>
          <p:cNvPr id="87" name="Shape 85"/>
          <p:cNvSpPr/>
          <p:nvPr/>
        </p:nvSpPr>
        <p:spPr>
          <a:xfrm>
            <a:off x="2990088" y="3554526"/>
            <a:ext cx="52007" cy="74375"/>
          </a:xfrm>
          <a:prstGeom prst="line">
            <a:avLst/>
          </a:prstGeom>
          <a:noFill/>
          <a:ln w="22225">
            <a:solidFill>
              <a:srgbClr val="0D7877"/>
            </a:solidFill>
            <a:prstDash val="solid"/>
          </a:ln>
        </p:spPr>
      </p:sp>
      <p:sp>
        <p:nvSpPr>
          <p:cNvPr id="88" name="Shape 86"/>
          <p:cNvSpPr/>
          <p:nvPr/>
        </p:nvSpPr>
        <p:spPr>
          <a:xfrm>
            <a:off x="3042095" y="3628901"/>
            <a:ext cx="52006" cy="67910"/>
          </a:xfrm>
          <a:prstGeom prst="line">
            <a:avLst/>
          </a:prstGeom>
          <a:noFill/>
          <a:ln w="22225">
            <a:solidFill>
              <a:srgbClr val="0D7877"/>
            </a:solidFill>
            <a:prstDash val="solid"/>
          </a:ln>
        </p:spPr>
      </p:sp>
      <p:sp>
        <p:nvSpPr>
          <p:cNvPr id="89" name="Shape 87"/>
          <p:cNvSpPr/>
          <p:nvPr/>
        </p:nvSpPr>
        <p:spPr>
          <a:xfrm>
            <a:off x="3094101" y="3696811"/>
            <a:ext cx="52006" cy="62173"/>
          </a:xfrm>
          <a:prstGeom prst="line">
            <a:avLst/>
          </a:prstGeom>
          <a:noFill/>
          <a:ln w="22225">
            <a:solidFill>
              <a:srgbClr val="0D7877"/>
            </a:solidFill>
            <a:prstDash val="solid"/>
          </a:ln>
        </p:spPr>
      </p:sp>
      <p:sp>
        <p:nvSpPr>
          <p:cNvPr id="90" name="Shape 88"/>
          <p:cNvSpPr/>
          <p:nvPr/>
        </p:nvSpPr>
        <p:spPr>
          <a:xfrm>
            <a:off x="3146108" y="3758984"/>
            <a:ext cx="52006" cy="57064"/>
          </a:xfrm>
          <a:prstGeom prst="line">
            <a:avLst/>
          </a:prstGeom>
          <a:noFill/>
          <a:ln w="22225">
            <a:solidFill>
              <a:srgbClr val="0D7877"/>
            </a:solidFill>
            <a:prstDash val="solid"/>
          </a:ln>
        </p:spPr>
      </p:sp>
      <p:sp>
        <p:nvSpPr>
          <p:cNvPr id="91" name="Shape 89"/>
          <p:cNvSpPr/>
          <p:nvPr/>
        </p:nvSpPr>
        <p:spPr>
          <a:xfrm>
            <a:off x="3198114" y="3816048"/>
            <a:ext cx="52006" cy="52500"/>
          </a:xfrm>
          <a:prstGeom prst="line">
            <a:avLst/>
          </a:prstGeom>
          <a:noFill/>
          <a:ln w="22225">
            <a:solidFill>
              <a:srgbClr val="0D7877"/>
            </a:solidFill>
            <a:prstDash val="solid"/>
          </a:ln>
        </p:spPr>
      </p:sp>
      <p:sp>
        <p:nvSpPr>
          <p:cNvPr id="92" name="Shape 90"/>
          <p:cNvSpPr/>
          <p:nvPr/>
        </p:nvSpPr>
        <p:spPr>
          <a:xfrm>
            <a:off x="3250120" y="3868547"/>
            <a:ext cx="52007" cy="48410"/>
          </a:xfrm>
          <a:prstGeom prst="line">
            <a:avLst/>
          </a:prstGeom>
          <a:noFill/>
          <a:ln w="22225">
            <a:solidFill>
              <a:srgbClr val="0D7877"/>
            </a:solidFill>
            <a:prstDash val="solid"/>
          </a:ln>
        </p:spPr>
      </p:sp>
      <p:sp>
        <p:nvSpPr>
          <p:cNvPr id="93" name="Shape 91"/>
          <p:cNvSpPr/>
          <p:nvPr/>
        </p:nvSpPr>
        <p:spPr>
          <a:xfrm>
            <a:off x="3302127" y="3916957"/>
            <a:ext cx="52006" cy="44734"/>
          </a:xfrm>
          <a:prstGeom prst="line">
            <a:avLst/>
          </a:prstGeom>
          <a:noFill/>
          <a:ln w="22225">
            <a:solidFill>
              <a:srgbClr val="0D7877"/>
            </a:solidFill>
            <a:prstDash val="solid"/>
          </a:ln>
        </p:spPr>
      </p:sp>
      <p:sp>
        <p:nvSpPr>
          <p:cNvPr id="94" name="Shape 92"/>
          <p:cNvSpPr/>
          <p:nvPr/>
        </p:nvSpPr>
        <p:spPr>
          <a:xfrm>
            <a:off x="3354134" y="3961691"/>
            <a:ext cx="52006" cy="41421"/>
          </a:xfrm>
          <a:prstGeom prst="line">
            <a:avLst/>
          </a:prstGeom>
          <a:noFill/>
          <a:ln w="22225">
            <a:solidFill>
              <a:srgbClr val="0D7877"/>
            </a:solidFill>
            <a:prstDash val="solid"/>
          </a:ln>
        </p:spPr>
      </p:sp>
      <p:sp>
        <p:nvSpPr>
          <p:cNvPr id="95" name="Shape 93"/>
          <p:cNvSpPr/>
          <p:nvPr/>
        </p:nvSpPr>
        <p:spPr>
          <a:xfrm>
            <a:off x="3406140" y="4003113"/>
            <a:ext cx="52007" cy="38427"/>
          </a:xfrm>
          <a:prstGeom prst="line">
            <a:avLst/>
          </a:prstGeom>
          <a:noFill/>
          <a:ln w="22225">
            <a:solidFill>
              <a:srgbClr val="0D7877"/>
            </a:solidFill>
            <a:prstDash val="solid"/>
          </a:ln>
        </p:spPr>
      </p:sp>
      <p:sp>
        <p:nvSpPr>
          <p:cNvPr id="96" name="Shape 94"/>
          <p:cNvSpPr/>
          <p:nvPr/>
        </p:nvSpPr>
        <p:spPr>
          <a:xfrm>
            <a:off x="3458147" y="4041540"/>
            <a:ext cx="52006" cy="35715"/>
          </a:xfrm>
          <a:prstGeom prst="line">
            <a:avLst/>
          </a:prstGeom>
          <a:noFill/>
          <a:ln w="22225">
            <a:solidFill>
              <a:srgbClr val="0D7877"/>
            </a:solidFill>
            <a:prstDash val="solid"/>
          </a:ln>
        </p:spPr>
      </p:sp>
      <p:sp>
        <p:nvSpPr>
          <p:cNvPr id="97" name="Shape 95"/>
          <p:cNvSpPr/>
          <p:nvPr/>
        </p:nvSpPr>
        <p:spPr>
          <a:xfrm>
            <a:off x="3510153" y="4077255"/>
            <a:ext cx="52006" cy="33253"/>
          </a:xfrm>
          <a:prstGeom prst="line">
            <a:avLst/>
          </a:prstGeom>
          <a:noFill/>
          <a:ln w="22225">
            <a:solidFill>
              <a:srgbClr val="0D7877"/>
            </a:solidFill>
            <a:prstDash val="solid"/>
          </a:ln>
        </p:spPr>
      </p:sp>
      <p:sp>
        <p:nvSpPr>
          <p:cNvPr id="98" name="Shape 96"/>
          <p:cNvSpPr/>
          <p:nvPr/>
        </p:nvSpPr>
        <p:spPr>
          <a:xfrm>
            <a:off x="3562160" y="4110508"/>
            <a:ext cx="52006" cy="31011"/>
          </a:xfrm>
          <a:prstGeom prst="line">
            <a:avLst/>
          </a:prstGeom>
          <a:noFill/>
          <a:ln w="22225">
            <a:solidFill>
              <a:srgbClr val="0D7877"/>
            </a:solidFill>
            <a:prstDash val="solid"/>
          </a:ln>
        </p:spPr>
      </p:sp>
      <p:sp>
        <p:nvSpPr>
          <p:cNvPr id="99" name="Shape 97"/>
          <p:cNvSpPr/>
          <p:nvPr/>
        </p:nvSpPr>
        <p:spPr>
          <a:xfrm>
            <a:off x="3614166" y="4141519"/>
            <a:ext cx="52006" cy="28967"/>
          </a:xfrm>
          <a:prstGeom prst="line">
            <a:avLst/>
          </a:prstGeom>
          <a:noFill/>
          <a:ln w="22225">
            <a:solidFill>
              <a:srgbClr val="0D7877"/>
            </a:solidFill>
            <a:prstDash val="solid"/>
          </a:ln>
        </p:spPr>
      </p:sp>
      <p:sp>
        <p:nvSpPr>
          <p:cNvPr id="100" name="Shape 98"/>
          <p:cNvSpPr/>
          <p:nvPr/>
        </p:nvSpPr>
        <p:spPr>
          <a:xfrm>
            <a:off x="3666172" y="4170486"/>
            <a:ext cx="52007" cy="27098"/>
          </a:xfrm>
          <a:prstGeom prst="line">
            <a:avLst/>
          </a:prstGeom>
          <a:noFill/>
          <a:ln w="22225">
            <a:solidFill>
              <a:srgbClr val="0D7877"/>
            </a:solidFill>
            <a:prstDash val="solid"/>
          </a:ln>
        </p:spPr>
      </p:sp>
      <p:sp>
        <p:nvSpPr>
          <p:cNvPr id="101" name="Shape 99"/>
          <p:cNvSpPr/>
          <p:nvPr/>
        </p:nvSpPr>
        <p:spPr>
          <a:xfrm>
            <a:off x="3718179" y="4197585"/>
            <a:ext cx="52006" cy="25387"/>
          </a:xfrm>
          <a:prstGeom prst="line">
            <a:avLst/>
          </a:prstGeom>
          <a:noFill/>
          <a:ln w="22225">
            <a:solidFill>
              <a:srgbClr val="0D7877"/>
            </a:solidFill>
            <a:prstDash val="solid"/>
          </a:ln>
        </p:spPr>
      </p:sp>
      <p:sp>
        <p:nvSpPr>
          <p:cNvPr id="102" name="Shape 100"/>
          <p:cNvSpPr/>
          <p:nvPr/>
        </p:nvSpPr>
        <p:spPr>
          <a:xfrm>
            <a:off x="3770186" y="4222972"/>
            <a:ext cx="52006" cy="23817"/>
          </a:xfrm>
          <a:prstGeom prst="line">
            <a:avLst/>
          </a:prstGeom>
          <a:noFill/>
          <a:ln w="22225">
            <a:solidFill>
              <a:srgbClr val="0D7877"/>
            </a:solidFill>
            <a:prstDash val="solid"/>
          </a:ln>
        </p:spPr>
      </p:sp>
      <p:sp>
        <p:nvSpPr>
          <p:cNvPr id="103" name="Shape 101"/>
          <p:cNvSpPr/>
          <p:nvPr/>
        </p:nvSpPr>
        <p:spPr>
          <a:xfrm>
            <a:off x="3822192" y="4246789"/>
            <a:ext cx="52006" cy="22374"/>
          </a:xfrm>
          <a:prstGeom prst="line">
            <a:avLst/>
          </a:prstGeom>
          <a:noFill/>
          <a:ln w="22225">
            <a:solidFill>
              <a:srgbClr val="0D7877"/>
            </a:solidFill>
            <a:prstDash val="solid"/>
          </a:ln>
        </p:spPr>
      </p:sp>
      <p:sp>
        <p:nvSpPr>
          <p:cNvPr id="104" name="Shape 102"/>
          <p:cNvSpPr/>
          <p:nvPr/>
        </p:nvSpPr>
        <p:spPr>
          <a:xfrm>
            <a:off x="3874198" y="4269163"/>
            <a:ext cx="52007" cy="21045"/>
          </a:xfrm>
          <a:prstGeom prst="line">
            <a:avLst/>
          </a:prstGeom>
          <a:noFill/>
          <a:ln w="22225">
            <a:solidFill>
              <a:srgbClr val="0D7877"/>
            </a:solidFill>
            <a:prstDash val="solid"/>
          </a:ln>
        </p:spPr>
      </p:sp>
      <p:sp>
        <p:nvSpPr>
          <p:cNvPr id="105" name="Shape 103"/>
          <p:cNvSpPr/>
          <p:nvPr/>
        </p:nvSpPr>
        <p:spPr>
          <a:xfrm>
            <a:off x="3926205" y="4290208"/>
            <a:ext cx="52006" cy="19819"/>
          </a:xfrm>
          <a:prstGeom prst="line">
            <a:avLst/>
          </a:prstGeom>
          <a:noFill/>
          <a:ln w="22225">
            <a:solidFill>
              <a:srgbClr val="0D7877"/>
            </a:solidFill>
            <a:prstDash val="solid"/>
          </a:ln>
        </p:spPr>
      </p:sp>
      <p:sp>
        <p:nvSpPr>
          <p:cNvPr id="106" name="Shape 104"/>
          <p:cNvSpPr/>
          <p:nvPr/>
        </p:nvSpPr>
        <p:spPr>
          <a:xfrm>
            <a:off x="3978212" y="4310027"/>
            <a:ext cx="52006" cy="18687"/>
          </a:xfrm>
          <a:prstGeom prst="line">
            <a:avLst/>
          </a:prstGeom>
          <a:noFill/>
          <a:ln w="22225">
            <a:solidFill>
              <a:srgbClr val="0D7877"/>
            </a:solidFill>
            <a:prstDash val="solid"/>
          </a:ln>
        </p:spPr>
      </p:sp>
      <p:sp>
        <p:nvSpPr>
          <p:cNvPr id="107" name="Shape 105"/>
          <p:cNvSpPr/>
          <p:nvPr/>
        </p:nvSpPr>
        <p:spPr>
          <a:xfrm>
            <a:off x="4030218" y="4328714"/>
            <a:ext cx="52006" cy="17639"/>
          </a:xfrm>
          <a:prstGeom prst="line">
            <a:avLst/>
          </a:prstGeom>
          <a:noFill/>
          <a:ln w="22225">
            <a:solidFill>
              <a:srgbClr val="0D7877"/>
            </a:solidFill>
            <a:prstDash val="solid"/>
          </a:ln>
        </p:spPr>
      </p:sp>
      <p:sp>
        <p:nvSpPr>
          <p:cNvPr id="108" name="Shape 106"/>
          <p:cNvSpPr/>
          <p:nvPr/>
        </p:nvSpPr>
        <p:spPr>
          <a:xfrm>
            <a:off x="4082224" y="4346353"/>
            <a:ext cx="52006" cy="16668"/>
          </a:xfrm>
          <a:prstGeom prst="line">
            <a:avLst/>
          </a:prstGeom>
          <a:noFill/>
          <a:ln w="22225">
            <a:solidFill>
              <a:srgbClr val="0D7877"/>
            </a:solidFill>
            <a:prstDash val="solid"/>
          </a:ln>
        </p:spPr>
      </p:sp>
      <p:sp>
        <p:nvSpPr>
          <p:cNvPr id="109" name="Shape 107"/>
          <p:cNvSpPr/>
          <p:nvPr/>
        </p:nvSpPr>
        <p:spPr>
          <a:xfrm>
            <a:off x="4134231" y="4363021"/>
            <a:ext cx="52007" cy="15767"/>
          </a:xfrm>
          <a:prstGeom prst="line">
            <a:avLst/>
          </a:prstGeom>
          <a:noFill/>
          <a:ln w="22225">
            <a:solidFill>
              <a:srgbClr val="0D7877"/>
            </a:solidFill>
            <a:prstDash val="solid"/>
          </a:ln>
        </p:spPr>
      </p:sp>
      <p:sp>
        <p:nvSpPr>
          <p:cNvPr id="110" name="Shape 108"/>
          <p:cNvSpPr/>
          <p:nvPr/>
        </p:nvSpPr>
        <p:spPr>
          <a:xfrm>
            <a:off x="4186238" y="4378788"/>
            <a:ext cx="52006" cy="14930"/>
          </a:xfrm>
          <a:prstGeom prst="line">
            <a:avLst/>
          </a:prstGeom>
          <a:noFill/>
          <a:ln w="22225">
            <a:solidFill>
              <a:srgbClr val="0D7877"/>
            </a:solidFill>
            <a:prstDash val="solid"/>
          </a:ln>
        </p:spPr>
      </p:sp>
      <p:sp>
        <p:nvSpPr>
          <p:cNvPr id="111" name="Shape 109"/>
          <p:cNvSpPr/>
          <p:nvPr/>
        </p:nvSpPr>
        <p:spPr>
          <a:xfrm>
            <a:off x="4238244" y="4393719"/>
            <a:ext cx="52006" cy="14151"/>
          </a:xfrm>
          <a:prstGeom prst="line">
            <a:avLst/>
          </a:prstGeom>
          <a:noFill/>
          <a:ln w="22225">
            <a:solidFill>
              <a:srgbClr val="0D7877"/>
            </a:solidFill>
            <a:prstDash val="solid"/>
          </a:ln>
        </p:spPr>
      </p:sp>
      <p:sp>
        <p:nvSpPr>
          <p:cNvPr id="112" name="Shape 110"/>
          <p:cNvSpPr/>
          <p:nvPr/>
        </p:nvSpPr>
        <p:spPr>
          <a:xfrm>
            <a:off x="4290251" y="4407870"/>
            <a:ext cx="52006" cy="13426"/>
          </a:xfrm>
          <a:prstGeom prst="line">
            <a:avLst/>
          </a:prstGeom>
          <a:noFill/>
          <a:ln w="22225">
            <a:solidFill>
              <a:srgbClr val="0D7877"/>
            </a:solidFill>
            <a:prstDash val="solid"/>
          </a:ln>
        </p:spPr>
      </p:sp>
      <p:sp>
        <p:nvSpPr>
          <p:cNvPr id="113" name="Shape 111"/>
          <p:cNvSpPr/>
          <p:nvPr/>
        </p:nvSpPr>
        <p:spPr>
          <a:xfrm>
            <a:off x="4342257" y="4421296"/>
            <a:ext cx="52006" cy="12749"/>
          </a:xfrm>
          <a:prstGeom prst="line">
            <a:avLst/>
          </a:prstGeom>
          <a:noFill/>
          <a:ln w="22225">
            <a:solidFill>
              <a:srgbClr val="0D7877"/>
            </a:solidFill>
            <a:prstDash val="solid"/>
          </a:ln>
        </p:spPr>
      </p:sp>
      <p:sp>
        <p:nvSpPr>
          <p:cNvPr id="114" name="Shape 112"/>
          <p:cNvSpPr/>
          <p:nvPr/>
        </p:nvSpPr>
        <p:spPr>
          <a:xfrm>
            <a:off x="4394263" y="4434044"/>
            <a:ext cx="52007" cy="12117"/>
          </a:xfrm>
          <a:prstGeom prst="line">
            <a:avLst/>
          </a:prstGeom>
          <a:noFill/>
          <a:ln w="22225">
            <a:solidFill>
              <a:srgbClr val="0D7877"/>
            </a:solidFill>
            <a:prstDash val="solid"/>
          </a:ln>
        </p:spPr>
      </p:sp>
      <p:sp>
        <p:nvSpPr>
          <p:cNvPr id="115" name="Shape 113"/>
          <p:cNvSpPr/>
          <p:nvPr/>
        </p:nvSpPr>
        <p:spPr>
          <a:xfrm>
            <a:off x="4446270" y="4446161"/>
            <a:ext cx="52007" cy="11526"/>
          </a:xfrm>
          <a:prstGeom prst="line">
            <a:avLst/>
          </a:prstGeom>
          <a:noFill/>
          <a:ln w="22225">
            <a:solidFill>
              <a:srgbClr val="0D7877"/>
            </a:solidFill>
            <a:prstDash val="solid"/>
          </a:ln>
        </p:spPr>
      </p:sp>
      <p:sp>
        <p:nvSpPr>
          <p:cNvPr id="116" name="Shape 114"/>
          <p:cNvSpPr/>
          <p:nvPr/>
        </p:nvSpPr>
        <p:spPr>
          <a:xfrm>
            <a:off x="4498277" y="4457687"/>
            <a:ext cx="52006" cy="10973"/>
          </a:xfrm>
          <a:prstGeom prst="line">
            <a:avLst/>
          </a:prstGeom>
          <a:noFill/>
          <a:ln w="22225">
            <a:solidFill>
              <a:srgbClr val="0D7877"/>
            </a:solidFill>
            <a:prstDash val="solid"/>
          </a:ln>
        </p:spPr>
      </p:sp>
      <p:sp>
        <p:nvSpPr>
          <p:cNvPr id="117" name="Shape 115"/>
          <p:cNvSpPr/>
          <p:nvPr/>
        </p:nvSpPr>
        <p:spPr>
          <a:xfrm>
            <a:off x="4550283" y="4468659"/>
            <a:ext cx="52006" cy="10454"/>
          </a:xfrm>
          <a:prstGeom prst="line">
            <a:avLst/>
          </a:prstGeom>
          <a:noFill/>
          <a:ln w="22225">
            <a:solidFill>
              <a:srgbClr val="0D7877"/>
            </a:solidFill>
            <a:prstDash val="solid"/>
          </a:ln>
        </p:spPr>
      </p:sp>
      <p:sp>
        <p:nvSpPr>
          <p:cNvPr id="118" name="Shape 116"/>
          <p:cNvSpPr/>
          <p:nvPr/>
        </p:nvSpPr>
        <p:spPr>
          <a:xfrm>
            <a:off x="4602290" y="4479114"/>
            <a:ext cx="52006" cy="9968"/>
          </a:xfrm>
          <a:prstGeom prst="line">
            <a:avLst/>
          </a:prstGeom>
          <a:noFill/>
          <a:ln w="22225">
            <a:solidFill>
              <a:srgbClr val="0D7877"/>
            </a:solidFill>
            <a:prstDash val="solid"/>
          </a:ln>
        </p:spPr>
      </p:sp>
      <p:sp>
        <p:nvSpPr>
          <p:cNvPr id="119" name="Shape 117"/>
          <p:cNvSpPr/>
          <p:nvPr/>
        </p:nvSpPr>
        <p:spPr>
          <a:xfrm>
            <a:off x="4654296" y="4489081"/>
            <a:ext cx="52006" cy="9511"/>
          </a:xfrm>
          <a:prstGeom prst="line">
            <a:avLst/>
          </a:prstGeom>
          <a:noFill/>
          <a:ln w="22225">
            <a:solidFill>
              <a:srgbClr val="0D7877"/>
            </a:solidFill>
            <a:prstDash val="solid"/>
          </a:ln>
        </p:spPr>
      </p:sp>
      <p:sp>
        <p:nvSpPr>
          <p:cNvPr id="120" name="Shape 118"/>
          <p:cNvSpPr/>
          <p:nvPr/>
        </p:nvSpPr>
        <p:spPr>
          <a:xfrm>
            <a:off x="4706303" y="4498593"/>
            <a:ext cx="52007" cy="9082"/>
          </a:xfrm>
          <a:prstGeom prst="line">
            <a:avLst/>
          </a:prstGeom>
          <a:noFill/>
          <a:ln w="22225">
            <a:solidFill>
              <a:srgbClr val="0D7877"/>
            </a:solidFill>
            <a:prstDash val="solid"/>
          </a:ln>
        </p:spPr>
      </p:sp>
      <p:sp>
        <p:nvSpPr>
          <p:cNvPr id="121" name="Shape 119"/>
          <p:cNvSpPr/>
          <p:nvPr/>
        </p:nvSpPr>
        <p:spPr>
          <a:xfrm>
            <a:off x="4758309" y="4507675"/>
            <a:ext cx="52006" cy="8679"/>
          </a:xfrm>
          <a:prstGeom prst="line">
            <a:avLst/>
          </a:prstGeom>
          <a:noFill/>
          <a:ln w="22225">
            <a:solidFill>
              <a:srgbClr val="0D7877"/>
            </a:solidFill>
            <a:prstDash val="solid"/>
          </a:ln>
        </p:spPr>
      </p:sp>
      <p:sp>
        <p:nvSpPr>
          <p:cNvPr id="122" name="Shape 120"/>
          <p:cNvSpPr/>
          <p:nvPr/>
        </p:nvSpPr>
        <p:spPr>
          <a:xfrm>
            <a:off x="4810316" y="4516354"/>
            <a:ext cx="52006" cy="8299"/>
          </a:xfrm>
          <a:prstGeom prst="line">
            <a:avLst/>
          </a:prstGeom>
          <a:noFill/>
          <a:ln w="22225">
            <a:solidFill>
              <a:srgbClr val="0D7877"/>
            </a:solidFill>
            <a:prstDash val="solid"/>
          </a:ln>
        </p:spPr>
      </p:sp>
      <p:sp>
        <p:nvSpPr>
          <p:cNvPr id="123" name="Shape 121"/>
          <p:cNvSpPr/>
          <p:nvPr/>
        </p:nvSpPr>
        <p:spPr>
          <a:xfrm>
            <a:off x="4862322" y="4524653"/>
            <a:ext cx="52006" cy="7941"/>
          </a:xfrm>
          <a:prstGeom prst="line">
            <a:avLst/>
          </a:prstGeom>
          <a:noFill/>
          <a:ln w="22225">
            <a:solidFill>
              <a:srgbClr val="0D7877"/>
            </a:solidFill>
            <a:prstDash val="solid"/>
          </a:ln>
        </p:spPr>
      </p:sp>
      <p:sp>
        <p:nvSpPr>
          <p:cNvPr id="124" name="Shape 122"/>
          <p:cNvSpPr/>
          <p:nvPr/>
        </p:nvSpPr>
        <p:spPr>
          <a:xfrm>
            <a:off x="4914329" y="4532593"/>
            <a:ext cx="52006" cy="7603"/>
          </a:xfrm>
          <a:prstGeom prst="line">
            <a:avLst/>
          </a:prstGeom>
          <a:noFill/>
          <a:ln w="22225">
            <a:solidFill>
              <a:srgbClr val="0D7877"/>
            </a:solidFill>
            <a:prstDash val="solid"/>
          </a:ln>
        </p:spPr>
      </p:sp>
      <p:sp>
        <p:nvSpPr>
          <p:cNvPr id="125" name="Shape 123"/>
          <p:cNvSpPr/>
          <p:nvPr/>
        </p:nvSpPr>
        <p:spPr>
          <a:xfrm>
            <a:off x="4966335" y="4540196"/>
            <a:ext cx="52007" cy="7284"/>
          </a:xfrm>
          <a:prstGeom prst="line">
            <a:avLst/>
          </a:prstGeom>
          <a:noFill/>
          <a:ln w="22225">
            <a:solidFill>
              <a:srgbClr val="0D7877"/>
            </a:solidFill>
            <a:prstDash val="solid"/>
          </a:ln>
        </p:spPr>
      </p:sp>
      <p:sp>
        <p:nvSpPr>
          <p:cNvPr id="126" name="Shape 124"/>
          <p:cNvSpPr/>
          <p:nvPr/>
        </p:nvSpPr>
        <p:spPr>
          <a:xfrm>
            <a:off x="5018342" y="4547480"/>
            <a:ext cx="52006" cy="6982"/>
          </a:xfrm>
          <a:prstGeom prst="line">
            <a:avLst/>
          </a:prstGeom>
          <a:noFill/>
          <a:ln w="22225">
            <a:solidFill>
              <a:srgbClr val="0D7877"/>
            </a:solidFill>
            <a:prstDash val="solid"/>
          </a:ln>
        </p:spPr>
      </p:sp>
      <p:sp>
        <p:nvSpPr>
          <p:cNvPr id="127" name="Shape 125"/>
          <p:cNvSpPr/>
          <p:nvPr/>
        </p:nvSpPr>
        <p:spPr>
          <a:xfrm>
            <a:off x="5070348" y="4554462"/>
            <a:ext cx="52006" cy="6697"/>
          </a:xfrm>
          <a:prstGeom prst="line">
            <a:avLst/>
          </a:prstGeom>
          <a:noFill/>
          <a:ln w="22225">
            <a:solidFill>
              <a:srgbClr val="0D7877"/>
            </a:solidFill>
            <a:prstDash val="solid"/>
          </a:ln>
        </p:spPr>
      </p:sp>
      <p:sp>
        <p:nvSpPr>
          <p:cNvPr id="128" name="Shape 126"/>
          <p:cNvSpPr/>
          <p:nvPr/>
        </p:nvSpPr>
        <p:spPr>
          <a:xfrm>
            <a:off x="5122355" y="4561159"/>
            <a:ext cx="52006" cy="6428"/>
          </a:xfrm>
          <a:prstGeom prst="line">
            <a:avLst/>
          </a:prstGeom>
          <a:noFill/>
          <a:ln w="22225">
            <a:solidFill>
              <a:srgbClr val="0D7877"/>
            </a:solidFill>
            <a:prstDash val="solid"/>
          </a:ln>
        </p:spPr>
      </p:sp>
      <p:sp>
        <p:nvSpPr>
          <p:cNvPr id="129" name="Shape 127"/>
          <p:cNvSpPr/>
          <p:nvPr/>
        </p:nvSpPr>
        <p:spPr>
          <a:xfrm>
            <a:off x="5174361" y="4567587"/>
            <a:ext cx="52007" cy="6172"/>
          </a:xfrm>
          <a:prstGeom prst="line">
            <a:avLst/>
          </a:prstGeom>
          <a:noFill/>
          <a:ln w="22225">
            <a:solidFill>
              <a:srgbClr val="0D7877"/>
            </a:solidFill>
            <a:prstDash val="solid"/>
          </a:ln>
        </p:spPr>
      </p:sp>
      <p:sp>
        <p:nvSpPr>
          <p:cNvPr id="130" name="Shape 128"/>
          <p:cNvSpPr/>
          <p:nvPr/>
        </p:nvSpPr>
        <p:spPr>
          <a:xfrm>
            <a:off x="5226368" y="4573759"/>
            <a:ext cx="52006" cy="5930"/>
          </a:xfrm>
          <a:prstGeom prst="line">
            <a:avLst/>
          </a:prstGeom>
          <a:noFill/>
          <a:ln w="22225">
            <a:solidFill>
              <a:srgbClr val="0D7877"/>
            </a:solidFill>
            <a:prstDash val="solid"/>
          </a:ln>
        </p:spPr>
      </p:sp>
      <p:sp>
        <p:nvSpPr>
          <p:cNvPr id="131" name="Shape 129"/>
          <p:cNvSpPr/>
          <p:nvPr/>
        </p:nvSpPr>
        <p:spPr>
          <a:xfrm>
            <a:off x="5278374" y="4579689"/>
            <a:ext cx="52006" cy="5701"/>
          </a:xfrm>
          <a:prstGeom prst="line">
            <a:avLst/>
          </a:prstGeom>
          <a:noFill/>
          <a:ln w="22225">
            <a:solidFill>
              <a:srgbClr val="0D7877"/>
            </a:solidFill>
            <a:prstDash val="solid"/>
          </a:ln>
        </p:spPr>
      </p:sp>
      <p:sp>
        <p:nvSpPr>
          <p:cNvPr id="132" name="Shape 130"/>
          <p:cNvSpPr/>
          <p:nvPr/>
        </p:nvSpPr>
        <p:spPr>
          <a:xfrm>
            <a:off x="5330381" y="4585390"/>
            <a:ext cx="52006" cy="5483"/>
          </a:xfrm>
          <a:prstGeom prst="line">
            <a:avLst/>
          </a:prstGeom>
          <a:noFill/>
          <a:ln w="22225">
            <a:solidFill>
              <a:srgbClr val="0D7877"/>
            </a:solidFill>
            <a:prstDash val="solid"/>
          </a:ln>
        </p:spPr>
      </p:sp>
      <p:sp>
        <p:nvSpPr>
          <p:cNvPr id="133" name="Shape 131"/>
          <p:cNvSpPr/>
          <p:nvPr/>
        </p:nvSpPr>
        <p:spPr>
          <a:xfrm>
            <a:off x="5382387" y="4590873"/>
            <a:ext cx="52006" cy="5276"/>
          </a:xfrm>
          <a:prstGeom prst="line">
            <a:avLst/>
          </a:prstGeom>
          <a:noFill/>
          <a:ln w="22225">
            <a:solidFill>
              <a:srgbClr val="0D7877"/>
            </a:solidFill>
            <a:prstDash val="solid"/>
          </a:ln>
        </p:spPr>
      </p:sp>
      <p:sp>
        <p:nvSpPr>
          <p:cNvPr id="134" name="Shape 132"/>
          <p:cNvSpPr/>
          <p:nvPr/>
        </p:nvSpPr>
        <p:spPr>
          <a:xfrm>
            <a:off x="5434393" y="4596149"/>
            <a:ext cx="52007" cy="5079"/>
          </a:xfrm>
          <a:prstGeom prst="line">
            <a:avLst/>
          </a:prstGeom>
          <a:noFill/>
          <a:ln w="22225">
            <a:solidFill>
              <a:srgbClr val="0D7877"/>
            </a:solidFill>
            <a:prstDash val="solid"/>
          </a:ln>
        </p:spPr>
      </p:sp>
      <p:sp>
        <p:nvSpPr>
          <p:cNvPr id="135" name="Shape 133"/>
          <p:cNvSpPr/>
          <p:nvPr/>
        </p:nvSpPr>
        <p:spPr>
          <a:xfrm>
            <a:off x="5440680" y="4549467"/>
            <a:ext cx="91440" cy="91440"/>
          </a:xfrm>
          <a:prstGeom prst="line">
            <a:avLst/>
          </a:prstGeom>
          <a:noFill/>
          <a:ln w="15875">
            <a:solidFill>
              <a:srgbClr val="C8414C"/>
            </a:solidFill>
            <a:prstDash val="solid"/>
          </a:ln>
        </p:spPr>
      </p:sp>
      <p:sp>
        <p:nvSpPr>
          <p:cNvPr id="136" name="Shape 134"/>
          <p:cNvSpPr/>
          <p:nvPr/>
        </p:nvSpPr>
        <p:spPr>
          <a:xfrm flipV="1">
            <a:off x="5440680" y="4549467"/>
            <a:ext cx="91440" cy="91440"/>
          </a:xfrm>
          <a:prstGeom prst="line">
            <a:avLst/>
          </a:prstGeom>
          <a:noFill/>
          <a:ln w="15875">
            <a:solidFill>
              <a:srgbClr val="C8414C"/>
            </a:solidFill>
            <a:prstDash val="solid"/>
          </a:ln>
        </p:spPr>
      </p:sp>
      <p:sp>
        <p:nvSpPr>
          <p:cNvPr id="137" name="Shape 135"/>
          <p:cNvSpPr/>
          <p:nvPr/>
        </p:nvSpPr>
        <p:spPr>
          <a:xfrm>
            <a:off x="3360420" y="3957393"/>
            <a:ext cx="91440" cy="91440"/>
          </a:xfrm>
          <a:prstGeom prst="line">
            <a:avLst/>
          </a:prstGeom>
          <a:noFill/>
          <a:ln w="15875">
            <a:solidFill>
              <a:srgbClr val="C8414C"/>
            </a:solidFill>
            <a:prstDash val="solid"/>
          </a:ln>
        </p:spPr>
      </p:sp>
      <p:sp>
        <p:nvSpPr>
          <p:cNvPr id="138" name="Shape 136"/>
          <p:cNvSpPr/>
          <p:nvPr/>
        </p:nvSpPr>
        <p:spPr>
          <a:xfrm flipV="1">
            <a:off x="3360420" y="3957393"/>
            <a:ext cx="91440" cy="91440"/>
          </a:xfrm>
          <a:prstGeom prst="line">
            <a:avLst/>
          </a:prstGeom>
          <a:noFill/>
          <a:ln w="15875">
            <a:solidFill>
              <a:srgbClr val="C8414C"/>
            </a:solidFill>
            <a:prstDash val="solid"/>
          </a:ln>
        </p:spPr>
      </p:sp>
      <p:sp>
        <p:nvSpPr>
          <p:cNvPr id="139" name="Shape 137"/>
          <p:cNvSpPr/>
          <p:nvPr/>
        </p:nvSpPr>
        <p:spPr>
          <a:xfrm>
            <a:off x="2667000" y="2954492"/>
            <a:ext cx="91440" cy="91440"/>
          </a:xfrm>
          <a:prstGeom prst="line">
            <a:avLst/>
          </a:prstGeom>
          <a:noFill/>
          <a:ln w="15875">
            <a:solidFill>
              <a:srgbClr val="C8414C"/>
            </a:solidFill>
            <a:prstDash val="solid"/>
          </a:ln>
        </p:spPr>
      </p:sp>
      <p:sp>
        <p:nvSpPr>
          <p:cNvPr id="140" name="Shape 138"/>
          <p:cNvSpPr/>
          <p:nvPr/>
        </p:nvSpPr>
        <p:spPr>
          <a:xfrm flipV="1">
            <a:off x="2667000" y="2954492"/>
            <a:ext cx="91440" cy="91440"/>
          </a:xfrm>
          <a:prstGeom prst="line">
            <a:avLst/>
          </a:prstGeom>
          <a:noFill/>
          <a:ln w="15875">
            <a:solidFill>
              <a:srgbClr val="C8414C"/>
            </a:solidFill>
            <a:prstDash val="solid"/>
          </a:ln>
        </p:spPr>
      </p:sp>
      <p:sp>
        <p:nvSpPr>
          <p:cNvPr id="141" name="Shape 139"/>
          <p:cNvSpPr/>
          <p:nvPr/>
        </p:nvSpPr>
        <p:spPr>
          <a:xfrm>
            <a:off x="2320290" y="1564930"/>
            <a:ext cx="91440" cy="91440"/>
          </a:xfrm>
          <a:prstGeom prst="line">
            <a:avLst/>
          </a:prstGeom>
          <a:noFill/>
          <a:ln w="15875">
            <a:solidFill>
              <a:srgbClr val="C8414C"/>
            </a:solidFill>
            <a:prstDash val="solid"/>
          </a:ln>
        </p:spPr>
      </p:sp>
      <p:sp>
        <p:nvSpPr>
          <p:cNvPr id="142" name="Shape 140"/>
          <p:cNvSpPr/>
          <p:nvPr/>
        </p:nvSpPr>
        <p:spPr>
          <a:xfrm flipV="1">
            <a:off x="2320290" y="1564930"/>
            <a:ext cx="91440" cy="91440"/>
          </a:xfrm>
          <a:prstGeom prst="line">
            <a:avLst/>
          </a:prstGeom>
          <a:noFill/>
          <a:ln w="15875">
            <a:solidFill>
              <a:srgbClr val="C8414C"/>
            </a:solidFill>
            <a:prstDash val="solid"/>
          </a:ln>
        </p:spPr>
      </p:sp>
      <p:sp>
        <p:nvSpPr>
          <p:cNvPr id="143" name="Text 141"/>
          <p:cNvSpPr/>
          <p:nvPr/>
        </p:nvSpPr>
        <p:spPr>
          <a:xfrm>
            <a:off x="5559552" y="4320867"/>
            <a:ext cx="822960" cy="201168"/>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0.5 cm</a:t>
            </a:r>
            <a:endParaRPr lang="en-US" sz="1000" dirty="0"/>
          </a:p>
        </p:txBody>
      </p:sp>
      <p:sp>
        <p:nvSpPr>
          <p:cNvPr id="144" name="Text 142"/>
          <p:cNvSpPr/>
          <p:nvPr/>
        </p:nvSpPr>
        <p:spPr>
          <a:xfrm>
            <a:off x="3479292" y="3728793"/>
            <a:ext cx="822960" cy="201168"/>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1 cm</a:t>
            </a:r>
            <a:endParaRPr lang="en-US" sz="1000" dirty="0"/>
          </a:p>
        </p:txBody>
      </p:sp>
      <p:sp>
        <p:nvSpPr>
          <p:cNvPr id="145" name="Text 143"/>
          <p:cNvSpPr/>
          <p:nvPr/>
        </p:nvSpPr>
        <p:spPr>
          <a:xfrm>
            <a:off x="2785872" y="2725892"/>
            <a:ext cx="822960" cy="201168"/>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1.5 cm</a:t>
            </a:r>
            <a:endParaRPr lang="en-US" sz="1000" dirty="0"/>
          </a:p>
        </p:txBody>
      </p:sp>
      <p:sp>
        <p:nvSpPr>
          <p:cNvPr id="146" name="Text 144"/>
          <p:cNvSpPr/>
          <p:nvPr/>
        </p:nvSpPr>
        <p:spPr>
          <a:xfrm>
            <a:off x="2439162" y="1336330"/>
            <a:ext cx="822960" cy="201168"/>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2 cm</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89320" y="1188720"/>
          <a:ext cx="5788152" cy="914400"/>
        </p:xfrm>
        <a:graphic>
          <a:graphicData uri="http://schemas.openxmlformats.org/drawingml/2006/table">
            <a:tbl>
              <a:tblPr/>
              <a:tblGrid>
                <a:gridCol w="713232"/>
                <a:gridCol w="713232"/>
                <a:gridCol w="713232"/>
                <a:gridCol w="594360"/>
                <a:gridCol w="768096"/>
                <a:gridCol w="768096"/>
                <a:gridCol w="768096"/>
                <a:gridCol w="749808"/>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Side / cm</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SA / cm²</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 / cm³</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SA:V</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1 / s</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2 / s</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3 / s</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 / s</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0.5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0.125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338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327</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330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3.375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752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731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752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745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1301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1342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1317</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1320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48" name="Shape 145"/>
          <p:cNvSpPr/>
          <p:nvPr/>
        </p:nvSpPr>
        <p:spPr>
          <a:xfrm>
            <a:off x="5989320" y="2697480"/>
            <a:ext cx="5788152" cy="1463040"/>
          </a:xfrm>
          <a:prstGeom prst="roundRect">
            <a:avLst>
              <a:gd name="adj" fmla="val 3750"/>
            </a:avLst>
          </a:prstGeom>
          <a:solidFill>
            <a:srgbClr val="FFF4E0"/>
          </a:solidFill>
          <a:ln w="9525">
            <a:solidFill>
              <a:srgbClr val="F1D9A8"/>
            </a:solidFill>
            <a:prstDash val="solid"/>
          </a:ln>
        </p:spPr>
      </p:sp>
      <p:sp>
        <p:nvSpPr>
          <p:cNvPr id="149" name="Text 146"/>
          <p:cNvSpPr/>
          <p:nvPr/>
        </p:nvSpPr>
        <p:spPr>
          <a:xfrm>
            <a:off x="6153912" y="2770632"/>
            <a:ext cx="54589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the 1.5 cm cube</a:t>
            </a:r>
            <a:endParaRPr lang="en-US" sz="1300" dirty="0"/>
          </a:p>
        </p:txBody>
      </p:sp>
      <p:sp>
        <p:nvSpPr>
          <p:cNvPr id="150" name="Text 147"/>
          <p:cNvSpPr/>
          <p:nvPr/>
        </p:nvSpPr>
        <p:spPr>
          <a:xfrm>
            <a:off x="6153912" y="3081528"/>
            <a:ext cx="5458968" cy="100584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SA:V   </a:t>
            </a:r>
            <a:r>
              <a:rPr lang="en-US" sz="1050" dirty="0">
                <a:solidFill>
                  <a:srgbClr val="262B3A"/>
                </a:solidFill>
                <a:latin typeface="Calibri" pitchFamily="34" charset="0"/>
                <a:ea typeface="Calibri" pitchFamily="34" charset="-122"/>
                <a:cs typeface="Calibri" pitchFamily="34" charset="-120"/>
              </a:rPr>
              <a:t>SA = 6 × 1.5² = 13.5 cm²; V = 1.5³ = 3.375 cm³; ratio = 4 : 1</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Mean   </a:t>
            </a:r>
            <a:r>
              <a:rPr lang="en-US" sz="1050" dirty="0">
                <a:solidFill>
                  <a:srgbClr val="262B3A"/>
                </a:solidFill>
                <a:latin typeface="Calibri" pitchFamily="34" charset="0"/>
                <a:ea typeface="Calibri" pitchFamily="34" charset="-122"/>
                <a:cs typeface="Calibri" pitchFamily="34" charset="-120"/>
              </a:rPr>
              <a:t>(752 + 731 + 752) ÷ 3 = 745 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larger SA:V → shorter time; 2 cm cube: 1320 s = 22 min</a:t>
            </a:r>
            <a:endParaRPr lang="en-US" sz="1050" dirty="0"/>
          </a:p>
        </p:txBody>
      </p:sp>
      <p:sp>
        <p:nvSpPr>
          <p:cNvPr id="151" name="Shape 148"/>
          <p:cNvSpPr/>
          <p:nvPr/>
        </p:nvSpPr>
        <p:spPr>
          <a:xfrm>
            <a:off x="5989320" y="4251960"/>
            <a:ext cx="5788152" cy="1463040"/>
          </a:xfrm>
          <a:prstGeom prst="roundRect">
            <a:avLst>
              <a:gd name="adj" fmla="val 3750"/>
            </a:avLst>
          </a:prstGeom>
          <a:solidFill>
            <a:srgbClr val="F4FAF9"/>
          </a:solidFill>
          <a:ln w="9525">
            <a:solidFill>
              <a:srgbClr val="CFE0DE"/>
            </a:solidFill>
            <a:prstDash val="solid"/>
          </a:ln>
        </p:spPr>
      </p:sp>
      <p:sp>
        <p:nvSpPr>
          <p:cNvPr id="152" name="Text 149"/>
          <p:cNvSpPr/>
          <p:nvPr/>
        </p:nvSpPr>
        <p:spPr>
          <a:xfrm>
            <a:off x="6153912" y="4343400"/>
            <a:ext cx="54589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Sources of error and improvements</a:t>
            </a:r>
            <a:endParaRPr lang="en-US" sz="1300" dirty="0"/>
          </a:p>
        </p:txBody>
      </p:sp>
      <p:sp>
        <p:nvSpPr>
          <p:cNvPr id="153" name="Text 150"/>
          <p:cNvSpPr/>
          <p:nvPr/>
        </p:nvSpPr>
        <p:spPr>
          <a:xfrm>
            <a:off x="6153912" y="4672584"/>
            <a:ext cx="5458968" cy="969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Cubes not cut exactly to size → measure with a ruler; use a cube cutter.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Hard to judge "completely colourless" → white tile behind; one person judges every cube.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Cube touches the beaker, so one face gets less acid → stir gently or use a mesh.</a:t>
            </a:r>
            <a:endParaRPr lang="en-US" sz="1050" dirty="0"/>
          </a:p>
        </p:txBody>
      </p:sp>
      <p:sp>
        <p:nvSpPr>
          <p:cNvPr id="154" name="Shape 151"/>
          <p:cNvSpPr/>
          <p:nvPr/>
        </p:nvSpPr>
        <p:spPr>
          <a:xfrm>
            <a:off x="411480" y="5833872"/>
            <a:ext cx="11368735" cy="530352"/>
          </a:xfrm>
          <a:prstGeom prst="rect">
            <a:avLst/>
          </a:prstGeom>
          <a:solidFill>
            <a:srgbClr val="FFF4E0"/>
          </a:solidFill>
          <a:ln w="6350">
            <a:solidFill>
              <a:srgbClr val="F1D9A8"/>
            </a:solidFill>
            <a:prstDash val="solid"/>
          </a:ln>
        </p:spPr>
      </p:sp>
      <p:sp>
        <p:nvSpPr>
          <p:cNvPr id="155" name="Shape 152"/>
          <p:cNvSpPr/>
          <p:nvPr/>
        </p:nvSpPr>
        <p:spPr>
          <a:xfrm>
            <a:off x="411480" y="5833872"/>
            <a:ext cx="82296" cy="530352"/>
          </a:xfrm>
          <a:prstGeom prst="rect">
            <a:avLst/>
          </a:prstGeom>
          <a:solidFill>
            <a:srgbClr val="E39A2F"/>
          </a:solidFill>
          <a:ln w="12700">
            <a:solidFill>
              <a:srgbClr val="E39A2F"/>
            </a:solidFill>
            <a:prstDash val="solid"/>
          </a:ln>
        </p:spPr>
      </p:sp>
      <p:sp>
        <p:nvSpPr>
          <p:cNvPr id="156" name="Text 15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Describe the </a:t>
            </a:r>
            <a:r>
              <a:rPr lang="en-US" sz="1150" b="1" dirty="0">
                <a:solidFill>
                  <a:srgbClr val="262B3A"/>
                </a:solidFill>
                <a:latin typeface="Calibri" pitchFamily="34" charset="0"/>
                <a:ea typeface="Calibri" pitchFamily="34" charset="-122"/>
                <a:cs typeface="Calibri" pitchFamily="34" charset="-120"/>
              </a:rPr>
              <a:t>pattern</a:t>
            </a:r>
            <a:r>
              <a:rPr lang="en-US" sz="1150" dirty="0">
                <a:solidFill>
                  <a:srgbClr val="262B3A"/>
                </a:solidFill>
                <a:latin typeface="Calibri" pitchFamily="34" charset="0"/>
                <a:ea typeface="Calibri" pitchFamily="34" charset="-122"/>
                <a:cs typeface="Calibri" pitchFamily="34" charset="-120"/>
              </a:rPr>
              <a:t> in the results. Which cube has the biggest </a:t>
            </a:r>
            <a:r>
              <a:rPr lang="en-US" sz="1150" b="1" dirty="0">
                <a:solidFill>
                  <a:srgbClr val="262B3A"/>
                </a:solidFill>
                <a:latin typeface="Calibri" pitchFamily="34" charset="0"/>
                <a:ea typeface="Calibri" pitchFamily="34" charset="-122"/>
                <a:cs typeface="Calibri" pitchFamily="34" charset="-120"/>
              </a:rPr>
              <a:t>range</a:t>
            </a:r>
            <a:r>
              <a:rPr lang="en-US" sz="1150" dirty="0">
                <a:solidFill>
                  <a:srgbClr val="262B3A"/>
                </a:solidFill>
                <a:latin typeface="Calibri" pitchFamily="34" charset="0"/>
                <a:ea typeface="Calibri" pitchFamily="34" charset="-122"/>
                <a:cs typeface="Calibri" pitchFamily="34" charset="-120"/>
              </a:rPr>
              <a:t> of repeat times?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 • agar cube practical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agar cubes turn from pink to </a:t>
            </a:r>
            <a:r>
              <a:rPr lang="en-US" sz="1250" b="1" dirty="0">
                <a:solidFill>
                  <a:srgbClr val="262B3A"/>
                </a:solidFill>
                <a:latin typeface="Calibri" pitchFamily="34" charset="0"/>
                <a:ea typeface="Calibri" pitchFamily="34" charset="-122"/>
                <a:cs typeface="Calibri" pitchFamily="34" charset="-120"/>
              </a:rPr>
              <a:t>colourless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SA:V ratio of a cube with sides of </a:t>
            </a:r>
            <a:r>
              <a:rPr lang="en-US" sz="1250" b="1" dirty="0">
                <a:solidFill>
                  <a:srgbClr val="262B3A"/>
                </a:solidFill>
                <a:latin typeface="Calibri" pitchFamily="34" charset="0"/>
                <a:ea typeface="Calibri" pitchFamily="34" charset="-122"/>
                <a:cs typeface="Calibri" pitchFamily="34" charset="-120"/>
              </a:rPr>
              <a:t>0.5 cm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results to describe the link between </a:t>
            </a:r>
            <a:r>
              <a:rPr lang="en-US" sz="1250" b="1" dirty="0">
                <a:solidFill>
                  <a:srgbClr val="262B3A"/>
                </a:solidFill>
                <a:latin typeface="Calibri" pitchFamily="34" charset="0"/>
                <a:ea typeface="Calibri" pitchFamily="34" charset="-122"/>
                <a:cs typeface="Calibri" pitchFamily="34" charset="-120"/>
              </a:rPr>
              <a:t>SA:V ratio</a:t>
            </a:r>
            <a:r>
              <a:rPr lang="en-US" sz="1250" dirty="0">
                <a:solidFill>
                  <a:srgbClr val="262B3A"/>
                </a:solidFill>
                <a:latin typeface="Calibri" pitchFamily="34" charset="0"/>
                <a:ea typeface="Calibri" pitchFamily="34" charset="-122"/>
                <a:cs typeface="Calibri" pitchFamily="34" charset="-120"/>
              </a:rPr>
              <a:t> and the time taken to go colourless.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control variable and explain why it must be kept the same.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lungs: a gas exchange surface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B5.1.3 • millions of alveoli give a huge, thin surface next to the blood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B5.1.3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gas exchange system (left) and one alveolus with a capillary (right)</a:t>
            </a:r>
            <a:endParaRPr lang="en-US" sz="1000" dirty="0"/>
          </a:p>
        </p:txBody>
      </p:sp>
      <p:sp>
        <p:nvSpPr>
          <p:cNvPr id="10" name="Shape 8"/>
          <p:cNvSpPr/>
          <p:nvPr/>
        </p:nvSpPr>
        <p:spPr>
          <a:xfrm>
            <a:off x="662940" y="2080260"/>
            <a:ext cx="1143000" cy="2331720"/>
          </a:xfrm>
          <a:prstGeom prst="ellipse">
            <a:avLst/>
          </a:prstGeom>
          <a:solidFill>
            <a:srgbClr val="F8D7DA"/>
          </a:solidFill>
          <a:ln w="15875">
            <a:solidFill>
              <a:srgbClr val="C77C86"/>
            </a:solidFill>
            <a:prstDash val="solid"/>
          </a:ln>
        </p:spPr>
      </p:sp>
      <p:sp>
        <p:nvSpPr>
          <p:cNvPr id="11" name="Shape 9"/>
          <p:cNvSpPr/>
          <p:nvPr/>
        </p:nvSpPr>
        <p:spPr>
          <a:xfrm>
            <a:off x="2308860" y="2080260"/>
            <a:ext cx="1143000" cy="2331720"/>
          </a:xfrm>
          <a:prstGeom prst="ellipse">
            <a:avLst/>
          </a:prstGeom>
          <a:solidFill>
            <a:srgbClr val="F8D7DA"/>
          </a:solidFill>
          <a:ln w="15875">
            <a:solidFill>
              <a:srgbClr val="C77C86"/>
            </a:solidFill>
            <a:prstDash val="solid"/>
          </a:ln>
        </p:spPr>
      </p:sp>
      <p:sp>
        <p:nvSpPr>
          <p:cNvPr id="12" name="Shape 10"/>
          <p:cNvSpPr/>
          <p:nvPr/>
        </p:nvSpPr>
        <p:spPr>
          <a:xfrm>
            <a:off x="1947672" y="1325880"/>
            <a:ext cx="219456" cy="1051560"/>
          </a:xfrm>
          <a:prstGeom prst="rect">
            <a:avLst/>
          </a:prstGeom>
          <a:solidFill>
            <a:srgbClr val="F4F0E8"/>
          </a:solidFill>
          <a:ln w="12700">
            <a:solidFill>
              <a:srgbClr val="8C96A8"/>
            </a:solidFill>
            <a:prstDash val="solid"/>
          </a:ln>
        </p:spPr>
      </p:sp>
      <p:sp>
        <p:nvSpPr>
          <p:cNvPr id="13" name="Shape 11"/>
          <p:cNvSpPr/>
          <p:nvPr/>
        </p:nvSpPr>
        <p:spPr>
          <a:xfrm>
            <a:off x="1947672" y="1417320"/>
            <a:ext cx="219456" cy="91"/>
          </a:xfrm>
          <a:prstGeom prst="line">
            <a:avLst/>
          </a:prstGeom>
          <a:noFill/>
          <a:ln w="12700">
            <a:solidFill>
              <a:srgbClr val="8C96A8"/>
            </a:solidFill>
            <a:prstDash val="solid"/>
          </a:ln>
        </p:spPr>
      </p:sp>
      <p:sp>
        <p:nvSpPr>
          <p:cNvPr id="14" name="Shape 12"/>
          <p:cNvSpPr/>
          <p:nvPr/>
        </p:nvSpPr>
        <p:spPr>
          <a:xfrm>
            <a:off x="1947672" y="1554480"/>
            <a:ext cx="219456" cy="91"/>
          </a:xfrm>
          <a:prstGeom prst="line">
            <a:avLst/>
          </a:prstGeom>
          <a:noFill/>
          <a:ln w="12700">
            <a:solidFill>
              <a:srgbClr val="8C96A8"/>
            </a:solidFill>
            <a:prstDash val="solid"/>
          </a:ln>
        </p:spPr>
      </p:sp>
      <p:sp>
        <p:nvSpPr>
          <p:cNvPr id="15" name="Shape 13"/>
          <p:cNvSpPr/>
          <p:nvPr/>
        </p:nvSpPr>
        <p:spPr>
          <a:xfrm>
            <a:off x="1947672" y="1691640"/>
            <a:ext cx="219456" cy="91"/>
          </a:xfrm>
          <a:prstGeom prst="line">
            <a:avLst/>
          </a:prstGeom>
          <a:noFill/>
          <a:ln w="12700">
            <a:solidFill>
              <a:srgbClr val="8C96A8"/>
            </a:solidFill>
            <a:prstDash val="solid"/>
          </a:ln>
        </p:spPr>
      </p:sp>
      <p:sp>
        <p:nvSpPr>
          <p:cNvPr id="16" name="Shape 14"/>
          <p:cNvSpPr/>
          <p:nvPr/>
        </p:nvSpPr>
        <p:spPr>
          <a:xfrm>
            <a:off x="1947672" y="1828800"/>
            <a:ext cx="219456" cy="91"/>
          </a:xfrm>
          <a:prstGeom prst="line">
            <a:avLst/>
          </a:prstGeom>
          <a:noFill/>
          <a:ln w="12700">
            <a:solidFill>
              <a:srgbClr val="8C96A8"/>
            </a:solidFill>
            <a:prstDash val="solid"/>
          </a:ln>
        </p:spPr>
      </p:sp>
      <p:sp>
        <p:nvSpPr>
          <p:cNvPr id="17" name="Shape 15"/>
          <p:cNvSpPr/>
          <p:nvPr/>
        </p:nvSpPr>
        <p:spPr>
          <a:xfrm>
            <a:off x="1947672" y="1965960"/>
            <a:ext cx="219456" cy="91"/>
          </a:xfrm>
          <a:prstGeom prst="line">
            <a:avLst/>
          </a:prstGeom>
          <a:noFill/>
          <a:ln w="12700">
            <a:solidFill>
              <a:srgbClr val="8C96A8"/>
            </a:solidFill>
            <a:prstDash val="solid"/>
          </a:ln>
        </p:spPr>
      </p:sp>
      <p:sp>
        <p:nvSpPr>
          <p:cNvPr id="18" name="Shape 16"/>
          <p:cNvSpPr/>
          <p:nvPr/>
        </p:nvSpPr>
        <p:spPr>
          <a:xfrm>
            <a:off x="1947672" y="2103120"/>
            <a:ext cx="219456" cy="91"/>
          </a:xfrm>
          <a:prstGeom prst="line">
            <a:avLst/>
          </a:prstGeom>
          <a:noFill/>
          <a:ln w="12700">
            <a:solidFill>
              <a:srgbClr val="8C96A8"/>
            </a:solidFill>
            <a:prstDash val="solid"/>
          </a:ln>
        </p:spPr>
      </p:sp>
      <p:sp>
        <p:nvSpPr>
          <p:cNvPr id="19" name="Shape 17"/>
          <p:cNvSpPr/>
          <p:nvPr/>
        </p:nvSpPr>
        <p:spPr>
          <a:xfrm>
            <a:off x="1947672" y="2240280"/>
            <a:ext cx="219456" cy="91"/>
          </a:xfrm>
          <a:prstGeom prst="line">
            <a:avLst/>
          </a:prstGeom>
          <a:noFill/>
          <a:ln w="12700">
            <a:solidFill>
              <a:srgbClr val="8C96A8"/>
            </a:solidFill>
            <a:prstDash val="solid"/>
          </a:ln>
        </p:spPr>
      </p:sp>
      <p:sp>
        <p:nvSpPr>
          <p:cNvPr id="20" name="Shape 18"/>
          <p:cNvSpPr/>
          <p:nvPr/>
        </p:nvSpPr>
        <p:spPr>
          <a:xfrm flipH="1">
            <a:off x="1463040" y="2377440"/>
            <a:ext cx="594360" cy="320040"/>
          </a:xfrm>
          <a:prstGeom prst="line">
            <a:avLst/>
          </a:prstGeom>
          <a:noFill/>
          <a:ln w="63500">
            <a:solidFill>
              <a:srgbClr val="B0A79A"/>
            </a:solidFill>
            <a:prstDash val="solid"/>
          </a:ln>
        </p:spPr>
      </p:sp>
      <p:sp>
        <p:nvSpPr>
          <p:cNvPr id="21" name="Shape 19"/>
          <p:cNvSpPr/>
          <p:nvPr/>
        </p:nvSpPr>
        <p:spPr>
          <a:xfrm>
            <a:off x="2057400" y="2377440"/>
            <a:ext cx="594360" cy="320040"/>
          </a:xfrm>
          <a:prstGeom prst="line">
            <a:avLst/>
          </a:prstGeom>
          <a:noFill/>
          <a:ln w="63500">
            <a:solidFill>
              <a:srgbClr val="B0A79A"/>
            </a:solidFill>
            <a:prstDash val="solid"/>
          </a:ln>
        </p:spPr>
      </p:sp>
      <p:sp>
        <p:nvSpPr>
          <p:cNvPr id="22" name="Shape 20"/>
          <p:cNvSpPr/>
          <p:nvPr/>
        </p:nvSpPr>
        <p:spPr>
          <a:xfrm flipH="1">
            <a:off x="1293370" y="2697480"/>
            <a:ext cx="169670" cy="664480"/>
          </a:xfrm>
          <a:prstGeom prst="line">
            <a:avLst/>
          </a:prstGeom>
          <a:noFill/>
          <a:ln w="44450">
            <a:solidFill>
              <a:srgbClr val="B0A79A"/>
            </a:solidFill>
            <a:prstDash val="solid"/>
          </a:ln>
        </p:spPr>
      </p:sp>
      <p:sp>
        <p:nvSpPr>
          <p:cNvPr id="23" name="Shape 21"/>
          <p:cNvSpPr/>
          <p:nvPr/>
        </p:nvSpPr>
        <p:spPr>
          <a:xfrm flipH="1">
            <a:off x="1019452" y="3361960"/>
            <a:ext cx="273919" cy="325208"/>
          </a:xfrm>
          <a:prstGeom prst="line">
            <a:avLst/>
          </a:prstGeom>
          <a:noFill/>
          <a:ln w="28893">
            <a:solidFill>
              <a:srgbClr val="B0A79A"/>
            </a:solidFill>
            <a:prstDash val="solid"/>
          </a:ln>
        </p:spPr>
      </p:sp>
      <p:sp>
        <p:nvSpPr>
          <p:cNvPr id="24" name="Shape 22"/>
          <p:cNvSpPr/>
          <p:nvPr/>
        </p:nvSpPr>
        <p:spPr>
          <a:xfrm flipH="1">
            <a:off x="778827" y="3687168"/>
            <a:ext cx="240624" cy="107686"/>
          </a:xfrm>
          <a:prstGeom prst="line">
            <a:avLst/>
          </a:prstGeom>
          <a:noFill/>
          <a:ln w="18780">
            <a:solidFill>
              <a:srgbClr val="B0A79A"/>
            </a:solidFill>
            <a:prstDash val="solid"/>
          </a:ln>
        </p:spPr>
      </p:sp>
      <p:sp>
        <p:nvSpPr>
          <p:cNvPr id="25" name="Shape 23"/>
          <p:cNvSpPr/>
          <p:nvPr/>
        </p:nvSpPr>
        <p:spPr>
          <a:xfrm flipH="1" flipV="1">
            <a:off x="615452" y="3790082"/>
            <a:ext cx="163376" cy="4773"/>
          </a:xfrm>
          <a:prstGeom prst="line">
            <a:avLst/>
          </a:prstGeom>
          <a:noFill/>
          <a:ln w="12207">
            <a:solidFill>
              <a:srgbClr val="B0A79A"/>
            </a:solidFill>
            <a:prstDash val="solid"/>
          </a:ln>
        </p:spPr>
      </p:sp>
      <p:sp>
        <p:nvSpPr>
          <p:cNvPr id="26" name="Shape 24"/>
          <p:cNvSpPr/>
          <p:nvPr/>
        </p:nvSpPr>
        <p:spPr>
          <a:xfrm>
            <a:off x="574304" y="3748934"/>
            <a:ext cx="82296" cy="82296"/>
          </a:xfrm>
          <a:prstGeom prst="ellipse">
            <a:avLst/>
          </a:prstGeom>
          <a:solidFill>
            <a:srgbClr val="F2A6B0"/>
          </a:solidFill>
          <a:ln w="6350">
            <a:solidFill>
              <a:srgbClr val="B5545C"/>
            </a:solidFill>
            <a:prstDash val="solid"/>
          </a:ln>
        </p:spPr>
      </p:sp>
      <p:sp>
        <p:nvSpPr>
          <p:cNvPr id="27" name="Shape 25"/>
          <p:cNvSpPr/>
          <p:nvPr/>
        </p:nvSpPr>
        <p:spPr>
          <a:xfrm>
            <a:off x="629168" y="3794654"/>
            <a:ext cx="82296" cy="82296"/>
          </a:xfrm>
          <a:prstGeom prst="ellipse">
            <a:avLst/>
          </a:prstGeom>
          <a:solidFill>
            <a:srgbClr val="F2A6B0"/>
          </a:solidFill>
          <a:ln w="6350">
            <a:solidFill>
              <a:srgbClr val="B5545C"/>
            </a:solidFill>
            <a:prstDash val="solid"/>
          </a:ln>
        </p:spPr>
      </p:sp>
      <p:sp>
        <p:nvSpPr>
          <p:cNvPr id="28" name="Shape 26"/>
          <p:cNvSpPr/>
          <p:nvPr/>
        </p:nvSpPr>
        <p:spPr>
          <a:xfrm>
            <a:off x="519440" y="3794654"/>
            <a:ext cx="82296" cy="82296"/>
          </a:xfrm>
          <a:prstGeom prst="ellipse">
            <a:avLst/>
          </a:prstGeom>
          <a:solidFill>
            <a:srgbClr val="F2A6B0"/>
          </a:solidFill>
          <a:ln w="6350">
            <a:solidFill>
              <a:srgbClr val="B5545C"/>
            </a:solidFill>
            <a:prstDash val="solid"/>
          </a:ln>
        </p:spPr>
      </p:sp>
      <p:sp>
        <p:nvSpPr>
          <p:cNvPr id="29" name="Shape 27"/>
          <p:cNvSpPr/>
          <p:nvPr/>
        </p:nvSpPr>
        <p:spPr>
          <a:xfrm flipH="1">
            <a:off x="673533" y="3794854"/>
            <a:ext cx="105294" cy="125010"/>
          </a:xfrm>
          <a:prstGeom prst="line">
            <a:avLst/>
          </a:prstGeom>
          <a:noFill/>
          <a:ln w="12207">
            <a:solidFill>
              <a:srgbClr val="B0A79A"/>
            </a:solidFill>
            <a:prstDash val="solid"/>
          </a:ln>
        </p:spPr>
      </p:sp>
      <p:sp>
        <p:nvSpPr>
          <p:cNvPr id="30" name="Shape 28"/>
          <p:cNvSpPr/>
          <p:nvPr/>
        </p:nvSpPr>
        <p:spPr>
          <a:xfrm>
            <a:off x="632385" y="3878716"/>
            <a:ext cx="82296" cy="82296"/>
          </a:xfrm>
          <a:prstGeom prst="ellipse">
            <a:avLst/>
          </a:prstGeom>
          <a:solidFill>
            <a:srgbClr val="F2A6B0"/>
          </a:solidFill>
          <a:ln w="6350">
            <a:solidFill>
              <a:srgbClr val="B5545C"/>
            </a:solidFill>
            <a:prstDash val="solid"/>
          </a:ln>
        </p:spPr>
      </p:sp>
      <p:sp>
        <p:nvSpPr>
          <p:cNvPr id="31" name="Shape 29"/>
          <p:cNvSpPr/>
          <p:nvPr/>
        </p:nvSpPr>
        <p:spPr>
          <a:xfrm>
            <a:off x="687249" y="3924436"/>
            <a:ext cx="82296" cy="82296"/>
          </a:xfrm>
          <a:prstGeom prst="ellipse">
            <a:avLst/>
          </a:prstGeom>
          <a:solidFill>
            <a:srgbClr val="F2A6B0"/>
          </a:solidFill>
          <a:ln w="6350">
            <a:solidFill>
              <a:srgbClr val="B5545C"/>
            </a:solidFill>
            <a:prstDash val="solid"/>
          </a:ln>
        </p:spPr>
      </p:sp>
      <p:sp>
        <p:nvSpPr>
          <p:cNvPr id="32" name="Shape 30"/>
          <p:cNvSpPr/>
          <p:nvPr/>
        </p:nvSpPr>
        <p:spPr>
          <a:xfrm>
            <a:off x="577521" y="3924436"/>
            <a:ext cx="82296" cy="82296"/>
          </a:xfrm>
          <a:prstGeom prst="ellipse">
            <a:avLst/>
          </a:prstGeom>
          <a:solidFill>
            <a:srgbClr val="F2A6B0"/>
          </a:solidFill>
          <a:ln w="6350">
            <a:solidFill>
              <a:srgbClr val="B5545C"/>
            </a:solidFill>
            <a:prstDash val="solid"/>
          </a:ln>
        </p:spPr>
      </p:sp>
      <p:sp>
        <p:nvSpPr>
          <p:cNvPr id="33" name="Shape 31"/>
          <p:cNvSpPr/>
          <p:nvPr/>
        </p:nvSpPr>
        <p:spPr>
          <a:xfrm flipH="1">
            <a:off x="954231" y="3687168"/>
            <a:ext cx="65221" cy="255426"/>
          </a:xfrm>
          <a:prstGeom prst="line">
            <a:avLst/>
          </a:prstGeom>
          <a:noFill/>
          <a:ln w="18780">
            <a:solidFill>
              <a:srgbClr val="B0A79A"/>
            </a:solidFill>
            <a:prstDash val="solid"/>
          </a:ln>
        </p:spPr>
      </p:sp>
      <p:sp>
        <p:nvSpPr>
          <p:cNvPr id="34" name="Shape 32"/>
          <p:cNvSpPr/>
          <p:nvPr/>
        </p:nvSpPr>
        <p:spPr>
          <a:xfrm flipH="1">
            <a:off x="848936" y="3942594"/>
            <a:ext cx="105294" cy="125010"/>
          </a:xfrm>
          <a:prstGeom prst="line">
            <a:avLst/>
          </a:prstGeom>
          <a:noFill/>
          <a:ln w="12207">
            <a:solidFill>
              <a:srgbClr val="B0A79A"/>
            </a:solidFill>
            <a:prstDash val="solid"/>
          </a:ln>
        </p:spPr>
      </p:sp>
      <p:sp>
        <p:nvSpPr>
          <p:cNvPr id="35" name="Shape 33"/>
          <p:cNvSpPr/>
          <p:nvPr/>
        </p:nvSpPr>
        <p:spPr>
          <a:xfrm>
            <a:off x="807788" y="4026456"/>
            <a:ext cx="82296" cy="82296"/>
          </a:xfrm>
          <a:prstGeom prst="ellipse">
            <a:avLst/>
          </a:prstGeom>
          <a:solidFill>
            <a:srgbClr val="F2A6B0"/>
          </a:solidFill>
          <a:ln w="6350">
            <a:solidFill>
              <a:srgbClr val="B5545C"/>
            </a:solidFill>
            <a:prstDash val="solid"/>
          </a:ln>
        </p:spPr>
      </p:sp>
      <p:sp>
        <p:nvSpPr>
          <p:cNvPr id="36" name="Shape 34"/>
          <p:cNvSpPr/>
          <p:nvPr/>
        </p:nvSpPr>
        <p:spPr>
          <a:xfrm>
            <a:off x="862652" y="4072176"/>
            <a:ext cx="82296" cy="82296"/>
          </a:xfrm>
          <a:prstGeom prst="ellipse">
            <a:avLst/>
          </a:prstGeom>
          <a:solidFill>
            <a:srgbClr val="F2A6B0"/>
          </a:solidFill>
          <a:ln w="6350">
            <a:solidFill>
              <a:srgbClr val="B5545C"/>
            </a:solidFill>
            <a:prstDash val="solid"/>
          </a:ln>
        </p:spPr>
      </p:sp>
      <p:sp>
        <p:nvSpPr>
          <p:cNvPr id="37" name="Shape 35"/>
          <p:cNvSpPr/>
          <p:nvPr/>
        </p:nvSpPr>
        <p:spPr>
          <a:xfrm>
            <a:off x="752924" y="4072176"/>
            <a:ext cx="82296" cy="82296"/>
          </a:xfrm>
          <a:prstGeom prst="ellipse">
            <a:avLst/>
          </a:prstGeom>
          <a:solidFill>
            <a:srgbClr val="F2A6B0"/>
          </a:solidFill>
          <a:ln w="6350">
            <a:solidFill>
              <a:srgbClr val="B5545C"/>
            </a:solidFill>
            <a:prstDash val="solid"/>
          </a:ln>
        </p:spPr>
      </p:sp>
      <p:sp>
        <p:nvSpPr>
          <p:cNvPr id="38" name="Shape 36"/>
          <p:cNvSpPr/>
          <p:nvPr/>
        </p:nvSpPr>
        <p:spPr>
          <a:xfrm>
            <a:off x="954231" y="3942594"/>
            <a:ext cx="32472" cy="160187"/>
          </a:xfrm>
          <a:prstGeom prst="line">
            <a:avLst/>
          </a:prstGeom>
          <a:noFill/>
          <a:ln w="12207">
            <a:solidFill>
              <a:srgbClr val="B0A79A"/>
            </a:solidFill>
            <a:prstDash val="solid"/>
          </a:ln>
        </p:spPr>
      </p:sp>
      <p:sp>
        <p:nvSpPr>
          <p:cNvPr id="39" name="Shape 37"/>
          <p:cNvSpPr/>
          <p:nvPr/>
        </p:nvSpPr>
        <p:spPr>
          <a:xfrm>
            <a:off x="945554" y="4061633"/>
            <a:ext cx="82296" cy="82296"/>
          </a:xfrm>
          <a:prstGeom prst="ellipse">
            <a:avLst/>
          </a:prstGeom>
          <a:solidFill>
            <a:srgbClr val="F2A6B0"/>
          </a:solidFill>
          <a:ln w="6350">
            <a:solidFill>
              <a:srgbClr val="B5545C"/>
            </a:solidFill>
            <a:prstDash val="solid"/>
          </a:ln>
        </p:spPr>
      </p:sp>
      <p:sp>
        <p:nvSpPr>
          <p:cNvPr id="40" name="Shape 38"/>
          <p:cNvSpPr/>
          <p:nvPr/>
        </p:nvSpPr>
        <p:spPr>
          <a:xfrm>
            <a:off x="1000418" y="4107353"/>
            <a:ext cx="82296" cy="82296"/>
          </a:xfrm>
          <a:prstGeom prst="ellipse">
            <a:avLst/>
          </a:prstGeom>
          <a:solidFill>
            <a:srgbClr val="F2A6B0"/>
          </a:solidFill>
          <a:ln w="6350">
            <a:solidFill>
              <a:srgbClr val="B5545C"/>
            </a:solidFill>
            <a:prstDash val="solid"/>
          </a:ln>
        </p:spPr>
      </p:sp>
      <p:sp>
        <p:nvSpPr>
          <p:cNvPr id="41" name="Shape 39"/>
          <p:cNvSpPr/>
          <p:nvPr/>
        </p:nvSpPr>
        <p:spPr>
          <a:xfrm>
            <a:off x="890690" y="4107353"/>
            <a:ext cx="82296" cy="82296"/>
          </a:xfrm>
          <a:prstGeom prst="ellipse">
            <a:avLst/>
          </a:prstGeom>
          <a:solidFill>
            <a:srgbClr val="F2A6B0"/>
          </a:solidFill>
          <a:ln w="6350">
            <a:solidFill>
              <a:srgbClr val="B5545C"/>
            </a:solidFill>
            <a:prstDash val="solid"/>
          </a:ln>
        </p:spPr>
      </p:sp>
      <p:sp>
        <p:nvSpPr>
          <p:cNvPr id="42" name="Shape 40"/>
          <p:cNvSpPr/>
          <p:nvPr/>
        </p:nvSpPr>
        <p:spPr>
          <a:xfrm>
            <a:off x="1293370" y="3361960"/>
            <a:ext cx="84473" cy="416720"/>
          </a:xfrm>
          <a:prstGeom prst="line">
            <a:avLst/>
          </a:prstGeom>
          <a:noFill/>
          <a:ln w="28893">
            <a:solidFill>
              <a:srgbClr val="B0A79A"/>
            </a:solidFill>
            <a:prstDash val="solid"/>
          </a:ln>
        </p:spPr>
      </p:sp>
      <p:sp>
        <p:nvSpPr>
          <p:cNvPr id="43" name="Shape 41"/>
          <p:cNvSpPr/>
          <p:nvPr/>
        </p:nvSpPr>
        <p:spPr>
          <a:xfrm flipH="1">
            <a:off x="1312623" y="3778681"/>
            <a:ext cx="65221" cy="255426"/>
          </a:xfrm>
          <a:prstGeom prst="line">
            <a:avLst/>
          </a:prstGeom>
          <a:noFill/>
          <a:ln w="18780">
            <a:solidFill>
              <a:srgbClr val="B0A79A"/>
            </a:solidFill>
            <a:prstDash val="solid"/>
          </a:ln>
        </p:spPr>
      </p:sp>
      <p:sp>
        <p:nvSpPr>
          <p:cNvPr id="44" name="Shape 42"/>
          <p:cNvSpPr/>
          <p:nvPr/>
        </p:nvSpPr>
        <p:spPr>
          <a:xfrm flipH="1">
            <a:off x="1207328" y="4034107"/>
            <a:ext cx="105294" cy="125010"/>
          </a:xfrm>
          <a:prstGeom prst="line">
            <a:avLst/>
          </a:prstGeom>
          <a:noFill/>
          <a:ln w="12207">
            <a:solidFill>
              <a:srgbClr val="B0A79A"/>
            </a:solidFill>
            <a:prstDash val="solid"/>
          </a:ln>
        </p:spPr>
      </p:sp>
      <p:sp>
        <p:nvSpPr>
          <p:cNvPr id="45" name="Shape 43"/>
          <p:cNvSpPr/>
          <p:nvPr/>
        </p:nvSpPr>
        <p:spPr>
          <a:xfrm>
            <a:off x="1166180" y="4117969"/>
            <a:ext cx="82296" cy="82296"/>
          </a:xfrm>
          <a:prstGeom prst="ellipse">
            <a:avLst/>
          </a:prstGeom>
          <a:solidFill>
            <a:srgbClr val="F2A6B0"/>
          </a:solidFill>
          <a:ln w="6350">
            <a:solidFill>
              <a:srgbClr val="B5545C"/>
            </a:solidFill>
            <a:prstDash val="solid"/>
          </a:ln>
        </p:spPr>
      </p:sp>
      <p:sp>
        <p:nvSpPr>
          <p:cNvPr id="46" name="Shape 44"/>
          <p:cNvSpPr/>
          <p:nvPr/>
        </p:nvSpPr>
        <p:spPr>
          <a:xfrm>
            <a:off x="1221044" y="4163689"/>
            <a:ext cx="82296" cy="82296"/>
          </a:xfrm>
          <a:prstGeom prst="ellipse">
            <a:avLst/>
          </a:prstGeom>
          <a:solidFill>
            <a:srgbClr val="F2A6B0"/>
          </a:solidFill>
          <a:ln w="6350">
            <a:solidFill>
              <a:srgbClr val="B5545C"/>
            </a:solidFill>
            <a:prstDash val="solid"/>
          </a:ln>
        </p:spPr>
      </p:sp>
      <p:sp>
        <p:nvSpPr>
          <p:cNvPr id="47" name="Shape 45"/>
          <p:cNvSpPr/>
          <p:nvPr/>
        </p:nvSpPr>
        <p:spPr>
          <a:xfrm>
            <a:off x="1111316" y="4163689"/>
            <a:ext cx="82296" cy="82296"/>
          </a:xfrm>
          <a:prstGeom prst="ellipse">
            <a:avLst/>
          </a:prstGeom>
          <a:solidFill>
            <a:srgbClr val="F2A6B0"/>
          </a:solidFill>
          <a:ln w="6350">
            <a:solidFill>
              <a:srgbClr val="B5545C"/>
            </a:solidFill>
            <a:prstDash val="solid"/>
          </a:ln>
        </p:spPr>
      </p:sp>
      <p:sp>
        <p:nvSpPr>
          <p:cNvPr id="48" name="Shape 46"/>
          <p:cNvSpPr/>
          <p:nvPr/>
        </p:nvSpPr>
        <p:spPr>
          <a:xfrm>
            <a:off x="1312623" y="4034107"/>
            <a:ext cx="32472" cy="160187"/>
          </a:xfrm>
          <a:prstGeom prst="line">
            <a:avLst/>
          </a:prstGeom>
          <a:noFill/>
          <a:ln w="12207">
            <a:solidFill>
              <a:srgbClr val="B0A79A"/>
            </a:solidFill>
            <a:prstDash val="solid"/>
          </a:ln>
        </p:spPr>
      </p:sp>
      <p:sp>
        <p:nvSpPr>
          <p:cNvPr id="49" name="Shape 47"/>
          <p:cNvSpPr/>
          <p:nvPr/>
        </p:nvSpPr>
        <p:spPr>
          <a:xfrm>
            <a:off x="1303946" y="4153146"/>
            <a:ext cx="82296" cy="82296"/>
          </a:xfrm>
          <a:prstGeom prst="ellipse">
            <a:avLst/>
          </a:prstGeom>
          <a:solidFill>
            <a:srgbClr val="F2A6B0"/>
          </a:solidFill>
          <a:ln w="6350">
            <a:solidFill>
              <a:srgbClr val="B5545C"/>
            </a:solidFill>
            <a:prstDash val="solid"/>
          </a:ln>
        </p:spPr>
      </p:sp>
      <p:sp>
        <p:nvSpPr>
          <p:cNvPr id="50" name="Shape 48"/>
          <p:cNvSpPr/>
          <p:nvPr/>
        </p:nvSpPr>
        <p:spPr>
          <a:xfrm>
            <a:off x="1358810" y="4198866"/>
            <a:ext cx="82296" cy="82296"/>
          </a:xfrm>
          <a:prstGeom prst="ellipse">
            <a:avLst/>
          </a:prstGeom>
          <a:solidFill>
            <a:srgbClr val="F2A6B0"/>
          </a:solidFill>
          <a:ln w="6350">
            <a:solidFill>
              <a:srgbClr val="B5545C"/>
            </a:solidFill>
            <a:prstDash val="solid"/>
          </a:ln>
        </p:spPr>
      </p:sp>
      <p:sp>
        <p:nvSpPr>
          <p:cNvPr id="51" name="Shape 49"/>
          <p:cNvSpPr/>
          <p:nvPr/>
        </p:nvSpPr>
        <p:spPr>
          <a:xfrm>
            <a:off x="1249082" y="4198866"/>
            <a:ext cx="82296" cy="82296"/>
          </a:xfrm>
          <a:prstGeom prst="ellipse">
            <a:avLst/>
          </a:prstGeom>
          <a:solidFill>
            <a:srgbClr val="F2A6B0"/>
          </a:solidFill>
          <a:ln w="6350">
            <a:solidFill>
              <a:srgbClr val="B5545C"/>
            </a:solidFill>
            <a:prstDash val="solid"/>
          </a:ln>
        </p:spPr>
      </p:sp>
      <p:sp>
        <p:nvSpPr>
          <p:cNvPr id="52" name="Shape 50"/>
          <p:cNvSpPr/>
          <p:nvPr/>
        </p:nvSpPr>
        <p:spPr>
          <a:xfrm>
            <a:off x="1377844" y="3778681"/>
            <a:ext cx="159540" cy="209865"/>
          </a:xfrm>
          <a:prstGeom prst="line">
            <a:avLst/>
          </a:prstGeom>
          <a:noFill/>
          <a:ln w="18780">
            <a:solidFill>
              <a:srgbClr val="B0A79A"/>
            </a:solidFill>
            <a:prstDash val="solid"/>
          </a:ln>
        </p:spPr>
      </p:sp>
      <p:sp>
        <p:nvSpPr>
          <p:cNvPr id="53" name="Shape 51"/>
          <p:cNvSpPr/>
          <p:nvPr/>
        </p:nvSpPr>
        <p:spPr>
          <a:xfrm>
            <a:off x="1537384" y="3988545"/>
            <a:ext cx="32472" cy="160187"/>
          </a:xfrm>
          <a:prstGeom prst="line">
            <a:avLst/>
          </a:prstGeom>
          <a:noFill/>
          <a:ln w="12207">
            <a:solidFill>
              <a:srgbClr val="B0A79A"/>
            </a:solidFill>
            <a:prstDash val="solid"/>
          </a:ln>
        </p:spPr>
      </p:sp>
      <p:sp>
        <p:nvSpPr>
          <p:cNvPr id="54" name="Shape 52"/>
          <p:cNvSpPr/>
          <p:nvPr/>
        </p:nvSpPr>
        <p:spPr>
          <a:xfrm>
            <a:off x="1528708" y="4107585"/>
            <a:ext cx="82296" cy="82296"/>
          </a:xfrm>
          <a:prstGeom prst="ellipse">
            <a:avLst/>
          </a:prstGeom>
          <a:solidFill>
            <a:srgbClr val="F2A6B0"/>
          </a:solidFill>
          <a:ln w="6350">
            <a:solidFill>
              <a:srgbClr val="B5545C"/>
            </a:solidFill>
            <a:prstDash val="solid"/>
          </a:ln>
        </p:spPr>
      </p:sp>
      <p:sp>
        <p:nvSpPr>
          <p:cNvPr id="55" name="Shape 53"/>
          <p:cNvSpPr/>
          <p:nvPr/>
        </p:nvSpPr>
        <p:spPr>
          <a:xfrm>
            <a:off x="1583572" y="4153305"/>
            <a:ext cx="82296" cy="82296"/>
          </a:xfrm>
          <a:prstGeom prst="ellipse">
            <a:avLst/>
          </a:prstGeom>
          <a:solidFill>
            <a:srgbClr val="F2A6B0"/>
          </a:solidFill>
          <a:ln w="6350">
            <a:solidFill>
              <a:srgbClr val="B5545C"/>
            </a:solidFill>
            <a:prstDash val="solid"/>
          </a:ln>
        </p:spPr>
      </p:sp>
      <p:sp>
        <p:nvSpPr>
          <p:cNvPr id="56" name="Shape 54"/>
          <p:cNvSpPr/>
          <p:nvPr/>
        </p:nvSpPr>
        <p:spPr>
          <a:xfrm>
            <a:off x="1473844" y="4153305"/>
            <a:ext cx="82296" cy="82296"/>
          </a:xfrm>
          <a:prstGeom prst="ellipse">
            <a:avLst/>
          </a:prstGeom>
          <a:solidFill>
            <a:srgbClr val="F2A6B0"/>
          </a:solidFill>
          <a:ln w="6350">
            <a:solidFill>
              <a:srgbClr val="B5545C"/>
            </a:solidFill>
            <a:prstDash val="solid"/>
          </a:ln>
        </p:spPr>
      </p:sp>
      <p:sp>
        <p:nvSpPr>
          <p:cNvPr id="57" name="Shape 55"/>
          <p:cNvSpPr/>
          <p:nvPr/>
        </p:nvSpPr>
        <p:spPr>
          <a:xfrm>
            <a:off x="1537384" y="3988545"/>
            <a:ext cx="145664" cy="74138"/>
          </a:xfrm>
          <a:prstGeom prst="line">
            <a:avLst/>
          </a:prstGeom>
          <a:noFill/>
          <a:ln w="12207">
            <a:solidFill>
              <a:srgbClr val="B0A79A"/>
            </a:solidFill>
            <a:prstDash val="solid"/>
          </a:ln>
        </p:spPr>
      </p:sp>
      <p:sp>
        <p:nvSpPr>
          <p:cNvPr id="58" name="Shape 56"/>
          <p:cNvSpPr/>
          <p:nvPr/>
        </p:nvSpPr>
        <p:spPr>
          <a:xfrm>
            <a:off x="1641900" y="4021536"/>
            <a:ext cx="82296" cy="82296"/>
          </a:xfrm>
          <a:prstGeom prst="ellipse">
            <a:avLst/>
          </a:prstGeom>
          <a:solidFill>
            <a:srgbClr val="F2A6B0"/>
          </a:solidFill>
          <a:ln w="6350">
            <a:solidFill>
              <a:srgbClr val="B5545C"/>
            </a:solidFill>
            <a:prstDash val="solid"/>
          </a:ln>
        </p:spPr>
      </p:sp>
      <p:sp>
        <p:nvSpPr>
          <p:cNvPr id="59" name="Shape 57"/>
          <p:cNvSpPr/>
          <p:nvPr/>
        </p:nvSpPr>
        <p:spPr>
          <a:xfrm>
            <a:off x="1696764" y="4067256"/>
            <a:ext cx="82296" cy="82296"/>
          </a:xfrm>
          <a:prstGeom prst="ellipse">
            <a:avLst/>
          </a:prstGeom>
          <a:solidFill>
            <a:srgbClr val="F2A6B0"/>
          </a:solidFill>
          <a:ln w="6350">
            <a:solidFill>
              <a:srgbClr val="B5545C"/>
            </a:solidFill>
            <a:prstDash val="solid"/>
          </a:ln>
        </p:spPr>
      </p:sp>
      <p:sp>
        <p:nvSpPr>
          <p:cNvPr id="60" name="Shape 58"/>
          <p:cNvSpPr/>
          <p:nvPr/>
        </p:nvSpPr>
        <p:spPr>
          <a:xfrm>
            <a:off x="1587036" y="4067256"/>
            <a:ext cx="82296" cy="82296"/>
          </a:xfrm>
          <a:prstGeom prst="ellipse">
            <a:avLst/>
          </a:prstGeom>
          <a:solidFill>
            <a:srgbClr val="F2A6B0"/>
          </a:solidFill>
          <a:ln w="6350">
            <a:solidFill>
              <a:srgbClr val="B5545C"/>
            </a:solidFill>
            <a:prstDash val="solid"/>
          </a:ln>
        </p:spPr>
      </p:sp>
      <p:sp>
        <p:nvSpPr>
          <p:cNvPr id="61" name="Shape 59"/>
          <p:cNvSpPr/>
          <p:nvPr/>
        </p:nvSpPr>
        <p:spPr>
          <a:xfrm>
            <a:off x="2651760" y="2697480"/>
            <a:ext cx="169670" cy="664480"/>
          </a:xfrm>
          <a:prstGeom prst="line">
            <a:avLst/>
          </a:prstGeom>
          <a:noFill/>
          <a:ln w="44450">
            <a:solidFill>
              <a:srgbClr val="B0A79A"/>
            </a:solidFill>
            <a:prstDash val="solid"/>
          </a:ln>
        </p:spPr>
      </p:sp>
      <p:sp>
        <p:nvSpPr>
          <p:cNvPr id="62" name="Shape 60"/>
          <p:cNvSpPr/>
          <p:nvPr/>
        </p:nvSpPr>
        <p:spPr>
          <a:xfrm flipH="1">
            <a:off x="2736956" y="3361960"/>
            <a:ext cx="84473" cy="416720"/>
          </a:xfrm>
          <a:prstGeom prst="line">
            <a:avLst/>
          </a:prstGeom>
          <a:noFill/>
          <a:ln w="28893">
            <a:solidFill>
              <a:srgbClr val="B0A79A"/>
            </a:solidFill>
            <a:prstDash val="solid"/>
          </a:ln>
        </p:spPr>
      </p:sp>
      <p:sp>
        <p:nvSpPr>
          <p:cNvPr id="63" name="Shape 61"/>
          <p:cNvSpPr/>
          <p:nvPr/>
        </p:nvSpPr>
        <p:spPr>
          <a:xfrm flipH="1">
            <a:off x="2577416" y="3778681"/>
            <a:ext cx="159540" cy="209865"/>
          </a:xfrm>
          <a:prstGeom prst="line">
            <a:avLst/>
          </a:prstGeom>
          <a:noFill/>
          <a:ln w="18780">
            <a:solidFill>
              <a:srgbClr val="B0A79A"/>
            </a:solidFill>
            <a:prstDash val="solid"/>
          </a:ln>
        </p:spPr>
      </p:sp>
      <p:sp>
        <p:nvSpPr>
          <p:cNvPr id="64" name="Shape 62"/>
          <p:cNvSpPr/>
          <p:nvPr/>
        </p:nvSpPr>
        <p:spPr>
          <a:xfrm flipH="1">
            <a:off x="2431752" y="3988545"/>
            <a:ext cx="145664" cy="74138"/>
          </a:xfrm>
          <a:prstGeom prst="line">
            <a:avLst/>
          </a:prstGeom>
          <a:noFill/>
          <a:ln w="12207">
            <a:solidFill>
              <a:srgbClr val="B0A79A"/>
            </a:solidFill>
            <a:prstDash val="solid"/>
          </a:ln>
        </p:spPr>
      </p:sp>
      <p:sp>
        <p:nvSpPr>
          <p:cNvPr id="65" name="Shape 63"/>
          <p:cNvSpPr/>
          <p:nvPr/>
        </p:nvSpPr>
        <p:spPr>
          <a:xfrm>
            <a:off x="2390604" y="4021536"/>
            <a:ext cx="82296" cy="82296"/>
          </a:xfrm>
          <a:prstGeom prst="ellipse">
            <a:avLst/>
          </a:prstGeom>
          <a:solidFill>
            <a:srgbClr val="F2A6B0"/>
          </a:solidFill>
          <a:ln w="6350">
            <a:solidFill>
              <a:srgbClr val="B5545C"/>
            </a:solidFill>
            <a:prstDash val="solid"/>
          </a:ln>
        </p:spPr>
      </p:sp>
      <p:sp>
        <p:nvSpPr>
          <p:cNvPr id="66" name="Shape 64"/>
          <p:cNvSpPr/>
          <p:nvPr/>
        </p:nvSpPr>
        <p:spPr>
          <a:xfrm>
            <a:off x="2445468" y="4067256"/>
            <a:ext cx="82296" cy="82296"/>
          </a:xfrm>
          <a:prstGeom prst="ellipse">
            <a:avLst/>
          </a:prstGeom>
          <a:solidFill>
            <a:srgbClr val="F2A6B0"/>
          </a:solidFill>
          <a:ln w="6350">
            <a:solidFill>
              <a:srgbClr val="B5545C"/>
            </a:solidFill>
            <a:prstDash val="solid"/>
          </a:ln>
        </p:spPr>
      </p:sp>
      <p:sp>
        <p:nvSpPr>
          <p:cNvPr id="67" name="Shape 65"/>
          <p:cNvSpPr/>
          <p:nvPr/>
        </p:nvSpPr>
        <p:spPr>
          <a:xfrm>
            <a:off x="2335740" y="4067256"/>
            <a:ext cx="82296" cy="82296"/>
          </a:xfrm>
          <a:prstGeom prst="ellipse">
            <a:avLst/>
          </a:prstGeom>
          <a:solidFill>
            <a:srgbClr val="F2A6B0"/>
          </a:solidFill>
          <a:ln w="6350">
            <a:solidFill>
              <a:srgbClr val="B5545C"/>
            </a:solidFill>
            <a:prstDash val="solid"/>
          </a:ln>
        </p:spPr>
      </p:sp>
      <p:sp>
        <p:nvSpPr>
          <p:cNvPr id="68" name="Shape 66"/>
          <p:cNvSpPr/>
          <p:nvPr/>
        </p:nvSpPr>
        <p:spPr>
          <a:xfrm flipH="1">
            <a:off x="2544944" y="3988545"/>
            <a:ext cx="32472" cy="160187"/>
          </a:xfrm>
          <a:prstGeom prst="line">
            <a:avLst/>
          </a:prstGeom>
          <a:noFill/>
          <a:ln w="12207">
            <a:solidFill>
              <a:srgbClr val="B0A79A"/>
            </a:solidFill>
            <a:prstDash val="solid"/>
          </a:ln>
        </p:spPr>
      </p:sp>
      <p:sp>
        <p:nvSpPr>
          <p:cNvPr id="69" name="Shape 67"/>
          <p:cNvSpPr/>
          <p:nvPr/>
        </p:nvSpPr>
        <p:spPr>
          <a:xfrm>
            <a:off x="2503796" y="4107585"/>
            <a:ext cx="82296" cy="82296"/>
          </a:xfrm>
          <a:prstGeom prst="ellipse">
            <a:avLst/>
          </a:prstGeom>
          <a:solidFill>
            <a:srgbClr val="F2A6B0"/>
          </a:solidFill>
          <a:ln w="6350">
            <a:solidFill>
              <a:srgbClr val="B5545C"/>
            </a:solidFill>
            <a:prstDash val="solid"/>
          </a:ln>
        </p:spPr>
      </p:sp>
      <p:sp>
        <p:nvSpPr>
          <p:cNvPr id="70" name="Shape 68"/>
          <p:cNvSpPr/>
          <p:nvPr/>
        </p:nvSpPr>
        <p:spPr>
          <a:xfrm>
            <a:off x="2558660" y="4153305"/>
            <a:ext cx="82296" cy="82296"/>
          </a:xfrm>
          <a:prstGeom prst="ellipse">
            <a:avLst/>
          </a:prstGeom>
          <a:solidFill>
            <a:srgbClr val="F2A6B0"/>
          </a:solidFill>
          <a:ln w="6350">
            <a:solidFill>
              <a:srgbClr val="B5545C"/>
            </a:solidFill>
            <a:prstDash val="solid"/>
          </a:ln>
        </p:spPr>
      </p:sp>
      <p:sp>
        <p:nvSpPr>
          <p:cNvPr id="71" name="Shape 69"/>
          <p:cNvSpPr/>
          <p:nvPr/>
        </p:nvSpPr>
        <p:spPr>
          <a:xfrm>
            <a:off x="2448932" y="4153305"/>
            <a:ext cx="82296" cy="82296"/>
          </a:xfrm>
          <a:prstGeom prst="ellipse">
            <a:avLst/>
          </a:prstGeom>
          <a:solidFill>
            <a:srgbClr val="F2A6B0"/>
          </a:solidFill>
          <a:ln w="6350">
            <a:solidFill>
              <a:srgbClr val="B5545C"/>
            </a:solidFill>
            <a:prstDash val="solid"/>
          </a:ln>
        </p:spPr>
      </p:sp>
      <p:sp>
        <p:nvSpPr>
          <p:cNvPr id="72" name="Shape 70"/>
          <p:cNvSpPr/>
          <p:nvPr/>
        </p:nvSpPr>
        <p:spPr>
          <a:xfrm>
            <a:off x="2736956" y="3778681"/>
            <a:ext cx="65221" cy="255426"/>
          </a:xfrm>
          <a:prstGeom prst="line">
            <a:avLst/>
          </a:prstGeom>
          <a:noFill/>
          <a:ln w="18780">
            <a:solidFill>
              <a:srgbClr val="B0A79A"/>
            </a:solidFill>
            <a:prstDash val="solid"/>
          </a:ln>
        </p:spPr>
      </p:sp>
      <p:sp>
        <p:nvSpPr>
          <p:cNvPr id="73" name="Shape 71"/>
          <p:cNvSpPr/>
          <p:nvPr/>
        </p:nvSpPr>
        <p:spPr>
          <a:xfrm flipH="1">
            <a:off x="2769706" y="4034107"/>
            <a:ext cx="32472" cy="160187"/>
          </a:xfrm>
          <a:prstGeom prst="line">
            <a:avLst/>
          </a:prstGeom>
          <a:noFill/>
          <a:ln w="12207">
            <a:solidFill>
              <a:srgbClr val="B0A79A"/>
            </a:solidFill>
            <a:prstDash val="solid"/>
          </a:ln>
        </p:spPr>
      </p:sp>
      <p:sp>
        <p:nvSpPr>
          <p:cNvPr id="74" name="Shape 72"/>
          <p:cNvSpPr/>
          <p:nvPr/>
        </p:nvSpPr>
        <p:spPr>
          <a:xfrm>
            <a:off x="2728558" y="4153146"/>
            <a:ext cx="82296" cy="82296"/>
          </a:xfrm>
          <a:prstGeom prst="ellipse">
            <a:avLst/>
          </a:prstGeom>
          <a:solidFill>
            <a:srgbClr val="F2A6B0"/>
          </a:solidFill>
          <a:ln w="6350">
            <a:solidFill>
              <a:srgbClr val="B5545C"/>
            </a:solidFill>
            <a:prstDash val="solid"/>
          </a:ln>
        </p:spPr>
      </p:sp>
      <p:sp>
        <p:nvSpPr>
          <p:cNvPr id="75" name="Shape 73"/>
          <p:cNvSpPr/>
          <p:nvPr/>
        </p:nvSpPr>
        <p:spPr>
          <a:xfrm>
            <a:off x="2783422" y="4198866"/>
            <a:ext cx="82296" cy="82296"/>
          </a:xfrm>
          <a:prstGeom prst="ellipse">
            <a:avLst/>
          </a:prstGeom>
          <a:solidFill>
            <a:srgbClr val="F2A6B0"/>
          </a:solidFill>
          <a:ln w="6350">
            <a:solidFill>
              <a:srgbClr val="B5545C"/>
            </a:solidFill>
            <a:prstDash val="solid"/>
          </a:ln>
        </p:spPr>
      </p:sp>
      <p:sp>
        <p:nvSpPr>
          <p:cNvPr id="76" name="Shape 74"/>
          <p:cNvSpPr/>
          <p:nvPr/>
        </p:nvSpPr>
        <p:spPr>
          <a:xfrm>
            <a:off x="2673694" y="4198866"/>
            <a:ext cx="82296" cy="82296"/>
          </a:xfrm>
          <a:prstGeom prst="ellipse">
            <a:avLst/>
          </a:prstGeom>
          <a:solidFill>
            <a:srgbClr val="F2A6B0"/>
          </a:solidFill>
          <a:ln w="6350">
            <a:solidFill>
              <a:srgbClr val="B5545C"/>
            </a:solidFill>
            <a:prstDash val="solid"/>
          </a:ln>
        </p:spPr>
      </p:sp>
      <p:sp>
        <p:nvSpPr>
          <p:cNvPr id="77" name="Shape 75"/>
          <p:cNvSpPr/>
          <p:nvPr/>
        </p:nvSpPr>
        <p:spPr>
          <a:xfrm>
            <a:off x="2802177" y="4034107"/>
            <a:ext cx="105294" cy="125010"/>
          </a:xfrm>
          <a:prstGeom prst="line">
            <a:avLst/>
          </a:prstGeom>
          <a:noFill/>
          <a:ln w="12207">
            <a:solidFill>
              <a:srgbClr val="B0A79A"/>
            </a:solidFill>
            <a:prstDash val="solid"/>
          </a:ln>
        </p:spPr>
      </p:sp>
      <p:sp>
        <p:nvSpPr>
          <p:cNvPr id="78" name="Shape 76"/>
          <p:cNvSpPr/>
          <p:nvPr/>
        </p:nvSpPr>
        <p:spPr>
          <a:xfrm>
            <a:off x="2866324" y="4117969"/>
            <a:ext cx="82296" cy="82296"/>
          </a:xfrm>
          <a:prstGeom prst="ellipse">
            <a:avLst/>
          </a:prstGeom>
          <a:solidFill>
            <a:srgbClr val="F2A6B0"/>
          </a:solidFill>
          <a:ln w="6350">
            <a:solidFill>
              <a:srgbClr val="B5545C"/>
            </a:solidFill>
            <a:prstDash val="solid"/>
          </a:ln>
        </p:spPr>
      </p:sp>
      <p:sp>
        <p:nvSpPr>
          <p:cNvPr id="79" name="Shape 77"/>
          <p:cNvSpPr/>
          <p:nvPr/>
        </p:nvSpPr>
        <p:spPr>
          <a:xfrm>
            <a:off x="2921188" y="4163689"/>
            <a:ext cx="82296" cy="82296"/>
          </a:xfrm>
          <a:prstGeom prst="ellipse">
            <a:avLst/>
          </a:prstGeom>
          <a:solidFill>
            <a:srgbClr val="F2A6B0"/>
          </a:solidFill>
          <a:ln w="6350">
            <a:solidFill>
              <a:srgbClr val="B5545C"/>
            </a:solidFill>
            <a:prstDash val="solid"/>
          </a:ln>
        </p:spPr>
      </p:sp>
      <p:sp>
        <p:nvSpPr>
          <p:cNvPr id="80" name="Shape 78"/>
          <p:cNvSpPr/>
          <p:nvPr/>
        </p:nvSpPr>
        <p:spPr>
          <a:xfrm>
            <a:off x="2811460" y="4163689"/>
            <a:ext cx="82296" cy="82296"/>
          </a:xfrm>
          <a:prstGeom prst="ellipse">
            <a:avLst/>
          </a:prstGeom>
          <a:solidFill>
            <a:srgbClr val="F2A6B0"/>
          </a:solidFill>
          <a:ln w="6350">
            <a:solidFill>
              <a:srgbClr val="B5545C"/>
            </a:solidFill>
            <a:prstDash val="solid"/>
          </a:ln>
        </p:spPr>
      </p:sp>
      <p:sp>
        <p:nvSpPr>
          <p:cNvPr id="81" name="Shape 79"/>
          <p:cNvSpPr/>
          <p:nvPr/>
        </p:nvSpPr>
        <p:spPr>
          <a:xfrm>
            <a:off x="2821430" y="3361960"/>
            <a:ext cx="273919" cy="325208"/>
          </a:xfrm>
          <a:prstGeom prst="line">
            <a:avLst/>
          </a:prstGeom>
          <a:noFill/>
          <a:ln w="28893">
            <a:solidFill>
              <a:srgbClr val="B0A79A"/>
            </a:solidFill>
            <a:prstDash val="solid"/>
          </a:ln>
        </p:spPr>
      </p:sp>
      <p:sp>
        <p:nvSpPr>
          <p:cNvPr id="82" name="Shape 80"/>
          <p:cNvSpPr/>
          <p:nvPr/>
        </p:nvSpPr>
        <p:spPr>
          <a:xfrm>
            <a:off x="3095348" y="3687168"/>
            <a:ext cx="65221" cy="255426"/>
          </a:xfrm>
          <a:prstGeom prst="line">
            <a:avLst/>
          </a:prstGeom>
          <a:noFill/>
          <a:ln w="18780">
            <a:solidFill>
              <a:srgbClr val="B0A79A"/>
            </a:solidFill>
            <a:prstDash val="solid"/>
          </a:ln>
        </p:spPr>
      </p:sp>
      <p:sp>
        <p:nvSpPr>
          <p:cNvPr id="83" name="Shape 81"/>
          <p:cNvSpPr/>
          <p:nvPr/>
        </p:nvSpPr>
        <p:spPr>
          <a:xfrm flipH="1">
            <a:off x="3128098" y="3942594"/>
            <a:ext cx="32472" cy="160187"/>
          </a:xfrm>
          <a:prstGeom prst="line">
            <a:avLst/>
          </a:prstGeom>
          <a:noFill/>
          <a:ln w="12207">
            <a:solidFill>
              <a:srgbClr val="B0A79A"/>
            </a:solidFill>
            <a:prstDash val="solid"/>
          </a:ln>
        </p:spPr>
      </p:sp>
      <p:sp>
        <p:nvSpPr>
          <p:cNvPr id="84" name="Shape 82"/>
          <p:cNvSpPr/>
          <p:nvPr/>
        </p:nvSpPr>
        <p:spPr>
          <a:xfrm>
            <a:off x="3086950" y="4061633"/>
            <a:ext cx="82296" cy="82296"/>
          </a:xfrm>
          <a:prstGeom prst="ellipse">
            <a:avLst/>
          </a:prstGeom>
          <a:solidFill>
            <a:srgbClr val="F2A6B0"/>
          </a:solidFill>
          <a:ln w="6350">
            <a:solidFill>
              <a:srgbClr val="B5545C"/>
            </a:solidFill>
            <a:prstDash val="solid"/>
          </a:ln>
        </p:spPr>
      </p:sp>
      <p:sp>
        <p:nvSpPr>
          <p:cNvPr id="85" name="Shape 83"/>
          <p:cNvSpPr/>
          <p:nvPr/>
        </p:nvSpPr>
        <p:spPr>
          <a:xfrm>
            <a:off x="3141814" y="4107353"/>
            <a:ext cx="82296" cy="82296"/>
          </a:xfrm>
          <a:prstGeom prst="ellipse">
            <a:avLst/>
          </a:prstGeom>
          <a:solidFill>
            <a:srgbClr val="F2A6B0"/>
          </a:solidFill>
          <a:ln w="6350">
            <a:solidFill>
              <a:srgbClr val="B5545C"/>
            </a:solidFill>
            <a:prstDash val="solid"/>
          </a:ln>
        </p:spPr>
      </p:sp>
      <p:sp>
        <p:nvSpPr>
          <p:cNvPr id="86" name="Shape 84"/>
          <p:cNvSpPr/>
          <p:nvPr/>
        </p:nvSpPr>
        <p:spPr>
          <a:xfrm>
            <a:off x="3032086" y="4107353"/>
            <a:ext cx="82296" cy="82296"/>
          </a:xfrm>
          <a:prstGeom prst="ellipse">
            <a:avLst/>
          </a:prstGeom>
          <a:solidFill>
            <a:srgbClr val="F2A6B0"/>
          </a:solidFill>
          <a:ln w="6350">
            <a:solidFill>
              <a:srgbClr val="B5545C"/>
            </a:solidFill>
            <a:prstDash val="solid"/>
          </a:ln>
        </p:spPr>
      </p:sp>
      <p:sp>
        <p:nvSpPr>
          <p:cNvPr id="87" name="Shape 85"/>
          <p:cNvSpPr/>
          <p:nvPr/>
        </p:nvSpPr>
        <p:spPr>
          <a:xfrm>
            <a:off x="3160569" y="3942594"/>
            <a:ext cx="105294" cy="125010"/>
          </a:xfrm>
          <a:prstGeom prst="line">
            <a:avLst/>
          </a:prstGeom>
          <a:noFill/>
          <a:ln w="12207">
            <a:solidFill>
              <a:srgbClr val="B0A79A"/>
            </a:solidFill>
            <a:prstDash val="solid"/>
          </a:ln>
        </p:spPr>
      </p:sp>
      <p:sp>
        <p:nvSpPr>
          <p:cNvPr id="88" name="Shape 86"/>
          <p:cNvSpPr/>
          <p:nvPr/>
        </p:nvSpPr>
        <p:spPr>
          <a:xfrm>
            <a:off x="3224716" y="4026456"/>
            <a:ext cx="82296" cy="82296"/>
          </a:xfrm>
          <a:prstGeom prst="ellipse">
            <a:avLst/>
          </a:prstGeom>
          <a:solidFill>
            <a:srgbClr val="F2A6B0"/>
          </a:solidFill>
          <a:ln w="6350">
            <a:solidFill>
              <a:srgbClr val="B5545C"/>
            </a:solidFill>
            <a:prstDash val="solid"/>
          </a:ln>
        </p:spPr>
      </p:sp>
      <p:sp>
        <p:nvSpPr>
          <p:cNvPr id="89" name="Shape 87"/>
          <p:cNvSpPr/>
          <p:nvPr/>
        </p:nvSpPr>
        <p:spPr>
          <a:xfrm>
            <a:off x="3279580" y="4072176"/>
            <a:ext cx="82296" cy="82296"/>
          </a:xfrm>
          <a:prstGeom prst="ellipse">
            <a:avLst/>
          </a:prstGeom>
          <a:solidFill>
            <a:srgbClr val="F2A6B0"/>
          </a:solidFill>
          <a:ln w="6350">
            <a:solidFill>
              <a:srgbClr val="B5545C"/>
            </a:solidFill>
            <a:prstDash val="solid"/>
          </a:ln>
        </p:spPr>
      </p:sp>
      <p:sp>
        <p:nvSpPr>
          <p:cNvPr id="90" name="Shape 88"/>
          <p:cNvSpPr/>
          <p:nvPr/>
        </p:nvSpPr>
        <p:spPr>
          <a:xfrm>
            <a:off x="3169852" y="4072176"/>
            <a:ext cx="82296" cy="82296"/>
          </a:xfrm>
          <a:prstGeom prst="ellipse">
            <a:avLst/>
          </a:prstGeom>
          <a:solidFill>
            <a:srgbClr val="F2A6B0"/>
          </a:solidFill>
          <a:ln w="6350">
            <a:solidFill>
              <a:srgbClr val="B5545C"/>
            </a:solidFill>
            <a:prstDash val="solid"/>
          </a:ln>
        </p:spPr>
      </p:sp>
      <p:sp>
        <p:nvSpPr>
          <p:cNvPr id="91" name="Shape 89"/>
          <p:cNvSpPr/>
          <p:nvPr/>
        </p:nvSpPr>
        <p:spPr>
          <a:xfrm>
            <a:off x="3095348" y="3687168"/>
            <a:ext cx="240624" cy="107686"/>
          </a:xfrm>
          <a:prstGeom prst="line">
            <a:avLst/>
          </a:prstGeom>
          <a:noFill/>
          <a:ln w="18780">
            <a:solidFill>
              <a:srgbClr val="B0A79A"/>
            </a:solidFill>
            <a:prstDash val="solid"/>
          </a:ln>
        </p:spPr>
      </p:sp>
      <p:sp>
        <p:nvSpPr>
          <p:cNvPr id="92" name="Shape 90"/>
          <p:cNvSpPr/>
          <p:nvPr/>
        </p:nvSpPr>
        <p:spPr>
          <a:xfrm>
            <a:off x="3335973" y="3794854"/>
            <a:ext cx="105294" cy="125010"/>
          </a:xfrm>
          <a:prstGeom prst="line">
            <a:avLst/>
          </a:prstGeom>
          <a:noFill/>
          <a:ln w="12207">
            <a:solidFill>
              <a:srgbClr val="B0A79A"/>
            </a:solidFill>
            <a:prstDash val="solid"/>
          </a:ln>
        </p:spPr>
      </p:sp>
      <p:sp>
        <p:nvSpPr>
          <p:cNvPr id="93" name="Shape 91"/>
          <p:cNvSpPr/>
          <p:nvPr/>
        </p:nvSpPr>
        <p:spPr>
          <a:xfrm>
            <a:off x="3400119" y="3878716"/>
            <a:ext cx="82296" cy="82296"/>
          </a:xfrm>
          <a:prstGeom prst="ellipse">
            <a:avLst/>
          </a:prstGeom>
          <a:solidFill>
            <a:srgbClr val="F2A6B0"/>
          </a:solidFill>
          <a:ln w="6350">
            <a:solidFill>
              <a:srgbClr val="B5545C"/>
            </a:solidFill>
            <a:prstDash val="solid"/>
          </a:ln>
        </p:spPr>
      </p:sp>
      <p:sp>
        <p:nvSpPr>
          <p:cNvPr id="94" name="Shape 92"/>
          <p:cNvSpPr/>
          <p:nvPr/>
        </p:nvSpPr>
        <p:spPr>
          <a:xfrm>
            <a:off x="3454983" y="3924436"/>
            <a:ext cx="82296" cy="82296"/>
          </a:xfrm>
          <a:prstGeom prst="ellipse">
            <a:avLst/>
          </a:prstGeom>
          <a:solidFill>
            <a:srgbClr val="F2A6B0"/>
          </a:solidFill>
          <a:ln w="6350">
            <a:solidFill>
              <a:srgbClr val="B5545C"/>
            </a:solidFill>
            <a:prstDash val="solid"/>
          </a:ln>
        </p:spPr>
      </p:sp>
      <p:sp>
        <p:nvSpPr>
          <p:cNvPr id="95" name="Shape 93"/>
          <p:cNvSpPr/>
          <p:nvPr/>
        </p:nvSpPr>
        <p:spPr>
          <a:xfrm>
            <a:off x="3345255" y="3924436"/>
            <a:ext cx="82296" cy="82296"/>
          </a:xfrm>
          <a:prstGeom prst="ellipse">
            <a:avLst/>
          </a:prstGeom>
          <a:solidFill>
            <a:srgbClr val="F2A6B0"/>
          </a:solidFill>
          <a:ln w="6350">
            <a:solidFill>
              <a:srgbClr val="B5545C"/>
            </a:solidFill>
            <a:prstDash val="solid"/>
          </a:ln>
        </p:spPr>
      </p:sp>
      <p:sp>
        <p:nvSpPr>
          <p:cNvPr id="96" name="Shape 94"/>
          <p:cNvSpPr/>
          <p:nvPr/>
        </p:nvSpPr>
        <p:spPr>
          <a:xfrm flipV="1">
            <a:off x="3335973" y="3790082"/>
            <a:ext cx="163376" cy="4773"/>
          </a:xfrm>
          <a:prstGeom prst="line">
            <a:avLst/>
          </a:prstGeom>
          <a:noFill/>
          <a:ln w="12207">
            <a:solidFill>
              <a:srgbClr val="B0A79A"/>
            </a:solidFill>
            <a:prstDash val="solid"/>
          </a:ln>
        </p:spPr>
      </p:sp>
      <p:sp>
        <p:nvSpPr>
          <p:cNvPr id="97" name="Shape 95"/>
          <p:cNvSpPr/>
          <p:nvPr/>
        </p:nvSpPr>
        <p:spPr>
          <a:xfrm>
            <a:off x="3458200" y="3748934"/>
            <a:ext cx="82296" cy="82296"/>
          </a:xfrm>
          <a:prstGeom prst="ellipse">
            <a:avLst/>
          </a:prstGeom>
          <a:solidFill>
            <a:srgbClr val="F2A6B0"/>
          </a:solidFill>
          <a:ln w="6350">
            <a:solidFill>
              <a:srgbClr val="B5545C"/>
            </a:solidFill>
            <a:prstDash val="solid"/>
          </a:ln>
        </p:spPr>
      </p:sp>
      <p:sp>
        <p:nvSpPr>
          <p:cNvPr id="98" name="Shape 96"/>
          <p:cNvSpPr/>
          <p:nvPr/>
        </p:nvSpPr>
        <p:spPr>
          <a:xfrm>
            <a:off x="3513064" y="3794654"/>
            <a:ext cx="82296" cy="82296"/>
          </a:xfrm>
          <a:prstGeom prst="ellipse">
            <a:avLst/>
          </a:prstGeom>
          <a:solidFill>
            <a:srgbClr val="F2A6B0"/>
          </a:solidFill>
          <a:ln w="6350">
            <a:solidFill>
              <a:srgbClr val="B5545C"/>
            </a:solidFill>
            <a:prstDash val="solid"/>
          </a:ln>
        </p:spPr>
      </p:sp>
      <p:sp>
        <p:nvSpPr>
          <p:cNvPr id="99" name="Shape 97"/>
          <p:cNvSpPr/>
          <p:nvPr/>
        </p:nvSpPr>
        <p:spPr>
          <a:xfrm>
            <a:off x="3403336" y="3794654"/>
            <a:ext cx="82296" cy="82296"/>
          </a:xfrm>
          <a:prstGeom prst="ellipse">
            <a:avLst/>
          </a:prstGeom>
          <a:solidFill>
            <a:srgbClr val="F2A6B0"/>
          </a:solidFill>
          <a:ln w="6350">
            <a:solidFill>
              <a:srgbClr val="B5545C"/>
            </a:solidFill>
            <a:prstDash val="solid"/>
          </a:ln>
        </p:spPr>
      </p:sp>
      <p:sp>
        <p:nvSpPr>
          <p:cNvPr id="100" name="Shape 98"/>
          <p:cNvSpPr/>
          <p:nvPr/>
        </p:nvSpPr>
        <p:spPr>
          <a:xfrm flipV="1">
            <a:off x="548640" y="4750535"/>
            <a:ext cx="150876" cy="50065"/>
          </a:xfrm>
          <a:prstGeom prst="line">
            <a:avLst/>
          </a:prstGeom>
          <a:noFill/>
          <a:ln w="50800">
            <a:solidFill>
              <a:srgbClr val="8E4A3A"/>
            </a:solidFill>
            <a:prstDash val="solid"/>
          </a:ln>
        </p:spPr>
      </p:sp>
      <p:sp>
        <p:nvSpPr>
          <p:cNvPr id="101" name="Shape 99"/>
          <p:cNvSpPr/>
          <p:nvPr/>
        </p:nvSpPr>
        <p:spPr>
          <a:xfrm flipV="1">
            <a:off x="699516" y="4701702"/>
            <a:ext cx="150876" cy="48833"/>
          </a:xfrm>
          <a:prstGeom prst="line">
            <a:avLst/>
          </a:prstGeom>
          <a:noFill/>
          <a:ln w="50800">
            <a:solidFill>
              <a:srgbClr val="8E4A3A"/>
            </a:solidFill>
            <a:prstDash val="solid"/>
          </a:ln>
        </p:spPr>
      </p:sp>
      <p:sp>
        <p:nvSpPr>
          <p:cNvPr id="102" name="Shape 100"/>
          <p:cNvSpPr/>
          <p:nvPr/>
        </p:nvSpPr>
        <p:spPr>
          <a:xfrm flipV="1">
            <a:off x="850392" y="4655305"/>
            <a:ext cx="150876" cy="46397"/>
          </a:xfrm>
          <a:prstGeom prst="line">
            <a:avLst/>
          </a:prstGeom>
          <a:noFill/>
          <a:ln w="50800">
            <a:solidFill>
              <a:srgbClr val="8E4A3A"/>
            </a:solidFill>
            <a:prstDash val="solid"/>
          </a:ln>
        </p:spPr>
      </p:sp>
      <p:sp>
        <p:nvSpPr>
          <p:cNvPr id="103" name="Shape 101"/>
          <p:cNvSpPr/>
          <p:nvPr/>
        </p:nvSpPr>
        <p:spPr>
          <a:xfrm flipV="1">
            <a:off x="1001268" y="4612485"/>
            <a:ext cx="150876" cy="42820"/>
          </a:xfrm>
          <a:prstGeom prst="line">
            <a:avLst/>
          </a:prstGeom>
          <a:noFill/>
          <a:ln w="50800">
            <a:solidFill>
              <a:srgbClr val="8E4A3A"/>
            </a:solidFill>
            <a:prstDash val="solid"/>
          </a:ln>
        </p:spPr>
      </p:sp>
      <p:sp>
        <p:nvSpPr>
          <p:cNvPr id="104" name="Shape 102"/>
          <p:cNvSpPr/>
          <p:nvPr/>
        </p:nvSpPr>
        <p:spPr>
          <a:xfrm flipV="1">
            <a:off x="1152144" y="4574298"/>
            <a:ext cx="150876" cy="38188"/>
          </a:xfrm>
          <a:prstGeom prst="line">
            <a:avLst/>
          </a:prstGeom>
          <a:noFill/>
          <a:ln w="50800">
            <a:solidFill>
              <a:srgbClr val="8E4A3A"/>
            </a:solidFill>
            <a:prstDash val="solid"/>
          </a:ln>
        </p:spPr>
      </p:sp>
      <p:sp>
        <p:nvSpPr>
          <p:cNvPr id="105" name="Shape 103"/>
          <p:cNvSpPr/>
          <p:nvPr/>
        </p:nvSpPr>
        <p:spPr>
          <a:xfrm flipV="1">
            <a:off x="1303020" y="4541682"/>
            <a:ext cx="150876" cy="32615"/>
          </a:xfrm>
          <a:prstGeom prst="line">
            <a:avLst/>
          </a:prstGeom>
          <a:noFill/>
          <a:ln w="50800">
            <a:solidFill>
              <a:srgbClr val="8E4A3A"/>
            </a:solidFill>
            <a:prstDash val="solid"/>
          </a:ln>
        </p:spPr>
      </p:sp>
      <p:sp>
        <p:nvSpPr>
          <p:cNvPr id="106" name="Shape 104"/>
          <p:cNvSpPr/>
          <p:nvPr/>
        </p:nvSpPr>
        <p:spPr>
          <a:xfrm flipV="1">
            <a:off x="1453896" y="4515442"/>
            <a:ext cx="150876" cy="26240"/>
          </a:xfrm>
          <a:prstGeom prst="line">
            <a:avLst/>
          </a:prstGeom>
          <a:noFill/>
          <a:ln w="50800">
            <a:solidFill>
              <a:srgbClr val="8E4A3A"/>
            </a:solidFill>
            <a:prstDash val="solid"/>
          </a:ln>
        </p:spPr>
      </p:sp>
      <p:sp>
        <p:nvSpPr>
          <p:cNvPr id="107" name="Shape 105"/>
          <p:cNvSpPr/>
          <p:nvPr/>
        </p:nvSpPr>
        <p:spPr>
          <a:xfrm flipV="1">
            <a:off x="1604772" y="4496224"/>
            <a:ext cx="150876" cy="19218"/>
          </a:xfrm>
          <a:prstGeom prst="line">
            <a:avLst/>
          </a:prstGeom>
          <a:noFill/>
          <a:ln w="50800">
            <a:solidFill>
              <a:srgbClr val="8E4A3A"/>
            </a:solidFill>
            <a:prstDash val="solid"/>
          </a:ln>
        </p:spPr>
      </p:sp>
      <p:sp>
        <p:nvSpPr>
          <p:cNvPr id="108" name="Shape 106"/>
          <p:cNvSpPr/>
          <p:nvPr/>
        </p:nvSpPr>
        <p:spPr>
          <a:xfrm flipV="1">
            <a:off x="1755648" y="4484500"/>
            <a:ext cx="150876" cy="11724"/>
          </a:xfrm>
          <a:prstGeom prst="line">
            <a:avLst/>
          </a:prstGeom>
          <a:noFill/>
          <a:ln w="50800">
            <a:solidFill>
              <a:srgbClr val="8E4A3A"/>
            </a:solidFill>
            <a:prstDash val="solid"/>
          </a:ln>
        </p:spPr>
      </p:sp>
      <p:sp>
        <p:nvSpPr>
          <p:cNvPr id="109" name="Shape 107"/>
          <p:cNvSpPr/>
          <p:nvPr/>
        </p:nvSpPr>
        <p:spPr>
          <a:xfrm flipV="1">
            <a:off x="1906524" y="4480560"/>
            <a:ext cx="150876" cy="3940"/>
          </a:xfrm>
          <a:prstGeom prst="line">
            <a:avLst/>
          </a:prstGeom>
          <a:noFill/>
          <a:ln w="50800">
            <a:solidFill>
              <a:srgbClr val="8E4A3A"/>
            </a:solidFill>
            <a:prstDash val="solid"/>
          </a:ln>
        </p:spPr>
      </p:sp>
      <p:sp>
        <p:nvSpPr>
          <p:cNvPr id="110" name="Shape 108"/>
          <p:cNvSpPr/>
          <p:nvPr/>
        </p:nvSpPr>
        <p:spPr>
          <a:xfrm>
            <a:off x="2057400" y="4480560"/>
            <a:ext cx="150876" cy="3940"/>
          </a:xfrm>
          <a:prstGeom prst="line">
            <a:avLst/>
          </a:prstGeom>
          <a:noFill/>
          <a:ln w="50800">
            <a:solidFill>
              <a:srgbClr val="8E4A3A"/>
            </a:solidFill>
            <a:prstDash val="solid"/>
          </a:ln>
        </p:spPr>
      </p:sp>
      <p:sp>
        <p:nvSpPr>
          <p:cNvPr id="111" name="Shape 109"/>
          <p:cNvSpPr/>
          <p:nvPr/>
        </p:nvSpPr>
        <p:spPr>
          <a:xfrm>
            <a:off x="2208276" y="4484500"/>
            <a:ext cx="150876" cy="11724"/>
          </a:xfrm>
          <a:prstGeom prst="line">
            <a:avLst/>
          </a:prstGeom>
          <a:noFill/>
          <a:ln w="50800">
            <a:solidFill>
              <a:srgbClr val="8E4A3A"/>
            </a:solidFill>
            <a:prstDash val="solid"/>
          </a:ln>
        </p:spPr>
      </p:sp>
      <p:sp>
        <p:nvSpPr>
          <p:cNvPr id="112" name="Shape 110"/>
          <p:cNvSpPr/>
          <p:nvPr/>
        </p:nvSpPr>
        <p:spPr>
          <a:xfrm>
            <a:off x="2359152" y="4496224"/>
            <a:ext cx="150876" cy="19218"/>
          </a:xfrm>
          <a:prstGeom prst="line">
            <a:avLst/>
          </a:prstGeom>
          <a:noFill/>
          <a:ln w="50800">
            <a:solidFill>
              <a:srgbClr val="8E4A3A"/>
            </a:solidFill>
            <a:prstDash val="solid"/>
          </a:ln>
        </p:spPr>
      </p:sp>
      <p:sp>
        <p:nvSpPr>
          <p:cNvPr id="113" name="Shape 111"/>
          <p:cNvSpPr/>
          <p:nvPr/>
        </p:nvSpPr>
        <p:spPr>
          <a:xfrm>
            <a:off x="2510028" y="4515442"/>
            <a:ext cx="150876" cy="26240"/>
          </a:xfrm>
          <a:prstGeom prst="line">
            <a:avLst/>
          </a:prstGeom>
          <a:noFill/>
          <a:ln w="50800">
            <a:solidFill>
              <a:srgbClr val="8E4A3A"/>
            </a:solidFill>
            <a:prstDash val="solid"/>
          </a:ln>
        </p:spPr>
      </p:sp>
      <p:sp>
        <p:nvSpPr>
          <p:cNvPr id="114" name="Shape 112"/>
          <p:cNvSpPr/>
          <p:nvPr/>
        </p:nvSpPr>
        <p:spPr>
          <a:xfrm>
            <a:off x="2660904" y="4541682"/>
            <a:ext cx="150876" cy="32615"/>
          </a:xfrm>
          <a:prstGeom prst="line">
            <a:avLst/>
          </a:prstGeom>
          <a:noFill/>
          <a:ln w="50800">
            <a:solidFill>
              <a:srgbClr val="8E4A3A"/>
            </a:solidFill>
            <a:prstDash val="solid"/>
          </a:ln>
        </p:spPr>
      </p:sp>
      <p:sp>
        <p:nvSpPr>
          <p:cNvPr id="115" name="Shape 113"/>
          <p:cNvSpPr/>
          <p:nvPr/>
        </p:nvSpPr>
        <p:spPr>
          <a:xfrm>
            <a:off x="2811780" y="4574298"/>
            <a:ext cx="150876" cy="38188"/>
          </a:xfrm>
          <a:prstGeom prst="line">
            <a:avLst/>
          </a:prstGeom>
          <a:noFill/>
          <a:ln w="50800">
            <a:solidFill>
              <a:srgbClr val="8E4A3A"/>
            </a:solidFill>
            <a:prstDash val="solid"/>
          </a:ln>
        </p:spPr>
      </p:sp>
      <p:sp>
        <p:nvSpPr>
          <p:cNvPr id="116" name="Shape 114"/>
          <p:cNvSpPr/>
          <p:nvPr/>
        </p:nvSpPr>
        <p:spPr>
          <a:xfrm>
            <a:off x="2962656" y="4612485"/>
            <a:ext cx="150876" cy="42820"/>
          </a:xfrm>
          <a:prstGeom prst="line">
            <a:avLst/>
          </a:prstGeom>
          <a:noFill/>
          <a:ln w="50800">
            <a:solidFill>
              <a:srgbClr val="8E4A3A"/>
            </a:solidFill>
            <a:prstDash val="solid"/>
          </a:ln>
        </p:spPr>
      </p:sp>
      <p:sp>
        <p:nvSpPr>
          <p:cNvPr id="117" name="Shape 115"/>
          <p:cNvSpPr/>
          <p:nvPr/>
        </p:nvSpPr>
        <p:spPr>
          <a:xfrm>
            <a:off x="3113532" y="4655305"/>
            <a:ext cx="150876" cy="46397"/>
          </a:xfrm>
          <a:prstGeom prst="line">
            <a:avLst/>
          </a:prstGeom>
          <a:noFill/>
          <a:ln w="50800">
            <a:solidFill>
              <a:srgbClr val="8E4A3A"/>
            </a:solidFill>
            <a:prstDash val="solid"/>
          </a:ln>
        </p:spPr>
      </p:sp>
      <p:sp>
        <p:nvSpPr>
          <p:cNvPr id="118" name="Shape 116"/>
          <p:cNvSpPr/>
          <p:nvPr/>
        </p:nvSpPr>
        <p:spPr>
          <a:xfrm>
            <a:off x="3264408" y="4701702"/>
            <a:ext cx="150876" cy="48833"/>
          </a:xfrm>
          <a:prstGeom prst="line">
            <a:avLst/>
          </a:prstGeom>
          <a:noFill/>
          <a:ln w="50800">
            <a:solidFill>
              <a:srgbClr val="8E4A3A"/>
            </a:solidFill>
            <a:prstDash val="solid"/>
          </a:ln>
        </p:spPr>
      </p:sp>
      <p:sp>
        <p:nvSpPr>
          <p:cNvPr id="119" name="Shape 117"/>
          <p:cNvSpPr/>
          <p:nvPr/>
        </p:nvSpPr>
        <p:spPr>
          <a:xfrm>
            <a:off x="3415284" y="4750535"/>
            <a:ext cx="150876" cy="50065"/>
          </a:xfrm>
          <a:prstGeom prst="line">
            <a:avLst/>
          </a:prstGeom>
          <a:noFill/>
          <a:ln w="50800">
            <a:solidFill>
              <a:srgbClr val="8E4A3A"/>
            </a:solidFill>
            <a:prstDash val="solid"/>
          </a:ln>
        </p:spPr>
      </p:sp>
      <p:sp>
        <p:nvSpPr>
          <p:cNvPr id="120" name="Shape 118"/>
          <p:cNvSpPr/>
          <p:nvPr/>
        </p:nvSpPr>
        <p:spPr>
          <a:xfrm flipV="1">
            <a:off x="2167128" y="1463040"/>
            <a:ext cx="347472" cy="182880"/>
          </a:xfrm>
          <a:prstGeom prst="line">
            <a:avLst/>
          </a:prstGeom>
          <a:noFill/>
          <a:ln w="9525">
            <a:solidFill>
              <a:srgbClr val="133536"/>
            </a:solidFill>
            <a:prstDash val="solid"/>
          </a:ln>
        </p:spPr>
      </p:sp>
      <p:sp>
        <p:nvSpPr>
          <p:cNvPr id="121" name="Text 119"/>
          <p:cNvSpPr/>
          <p:nvPr/>
        </p:nvSpPr>
        <p:spPr>
          <a:xfrm>
            <a:off x="2551176" y="1335024"/>
            <a:ext cx="9144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trachea</a:t>
            </a:r>
            <a:endParaRPr lang="en-US" sz="1050" dirty="0"/>
          </a:p>
        </p:txBody>
      </p:sp>
      <p:sp>
        <p:nvSpPr>
          <p:cNvPr id="122" name="Shape 120"/>
          <p:cNvSpPr/>
          <p:nvPr/>
        </p:nvSpPr>
        <p:spPr>
          <a:xfrm flipV="1">
            <a:off x="2514600" y="2240280"/>
            <a:ext cx="274320" cy="393192"/>
          </a:xfrm>
          <a:prstGeom prst="line">
            <a:avLst/>
          </a:prstGeom>
          <a:noFill/>
          <a:ln w="9525">
            <a:solidFill>
              <a:srgbClr val="133536"/>
            </a:solidFill>
            <a:prstDash val="solid"/>
          </a:ln>
        </p:spPr>
      </p:sp>
      <p:sp>
        <p:nvSpPr>
          <p:cNvPr id="123" name="Text 121"/>
          <p:cNvSpPr/>
          <p:nvPr/>
        </p:nvSpPr>
        <p:spPr>
          <a:xfrm>
            <a:off x="2825496" y="2112264"/>
            <a:ext cx="9144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bronchus</a:t>
            </a:r>
            <a:endParaRPr lang="en-US" sz="1050" dirty="0"/>
          </a:p>
        </p:txBody>
      </p:sp>
      <p:sp>
        <p:nvSpPr>
          <p:cNvPr id="124" name="Shape 122"/>
          <p:cNvSpPr/>
          <p:nvPr/>
        </p:nvSpPr>
        <p:spPr>
          <a:xfrm flipH="1" flipV="1">
            <a:off x="731520" y="1938528"/>
            <a:ext cx="566928" cy="1426464"/>
          </a:xfrm>
          <a:prstGeom prst="line">
            <a:avLst/>
          </a:prstGeom>
          <a:noFill/>
          <a:ln w="9525">
            <a:solidFill>
              <a:srgbClr val="133536"/>
            </a:solidFill>
            <a:prstDash val="solid"/>
          </a:ln>
        </p:spPr>
      </p:sp>
      <p:sp>
        <p:nvSpPr>
          <p:cNvPr id="125" name="Text 123"/>
          <p:cNvSpPr/>
          <p:nvPr/>
        </p:nvSpPr>
        <p:spPr>
          <a:xfrm>
            <a:off x="768096" y="1810512"/>
            <a:ext cx="9144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bronchioles</a:t>
            </a:r>
            <a:endParaRPr lang="en-US" sz="1050" dirty="0"/>
          </a:p>
        </p:txBody>
      </p:sp>
      <p:sp>
        <p:nvSpPr>
          <p:cNvPr id="126" name="Shape 124"/>
          <p:cNvSpPr/>
          <p:nvPr/>
        </p:nvSpPr>
        <p:spPr>
          <a:xfrm flipH="1">
            <a:off x="685800" y="4069080"/>
            <a:ext cx="274320" cy="457200"/>
          </a:xfrm>
          <a:prstGeom prst="line">
            <a:avLst/>
          </a:prstGeom>
          <a:noFill/>
          <a:ln w="9525">
            <a:solidFill>
              <a:srgbClr val="133536"/>
            </a:solidFill>
            <a:prstDash val="solid"/>
          </a:ln>
        </p:spPr>
      </p:sp>
      <p:sp>
        <p:nvSpPr>
          <p:cNvPr id="127" name="Text 125"/>
          <p:cNvSpPr/>
          <p:nvPr/>
        </p:nvSpPr>
        <p:spPr>
          <a:xfrm>
            <a:off x="100584" y="4398264"/>
            <a:ext cx="548640" cy="256032"/>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alveoli</a:t>
            </a:r>
            <a:endParaRPr lang="en-US" sz="1000" dirty="0"/>
          </a:p>
        </p:txBody>
      </p:sp>
      <p:sp>
        <p:nvSpPr>
          <p:cNvPr id="128" name="Text 126"/>
          <p:cNvSpPr/>
          <p:nvPr/>
        </p:nvSpPr>
        <p:spPr>
          <a:xfrm>
            <a:off x="2103120" y="4937760"/>
            <a:ext cx="14630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diaphragm</a:t>
            </a:r>
            <a:endParaRPr lang="en-US" sz="1050" dirty="0"/>
          </a:p>
        </p:txBody>
      </p:sp>
      <p:sp>
        <p:nvSpPr>
          <p:cNvPr id="129" name="Text 127"/>
          <p:cNvSpPr/>
          <p:nvPr/>
        </p:nvSpPr>
        <p:spPr>
          <a:xfrm>
            <a:off x="502920" y="1298448"/>
            <a:ext cx="137160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person's right lung</a:t>
            </a:r>
            <a:endParaRPr lang="en-US" sz="1000" dirty="0"/>
          </a:p>
        </p:txBody>
      </p:sp>
      <p:sp>
        <p:nvSpPr>
          <p:cNvPr id="130" name="Shape 128"/>
          <p:cNvSpPr/>
          <p:nvPr/>
        </p:nvSpPr>
        <p:spPr>
          <a:xfrm>
            <a:off x="3794760" y="1325880"/>
            <a:ext cx="2057400" cy="4023360"/>
          </a:xfrm>
          <a:prstGeom prst="roundRect">
            <a:avLst>
              <a:gd name="adj" fmla="val 2222"/>
            </a:avLst>
          </a:prstGeom>
          <a:solidFill>
            <a:srgbClr val="FFFFFF"/>
          </a:solidFill>
          <a:ln w="12700">
            <a:solidFill>
              <a:srgbClr val="CFE0DE"/>
            </a:solidFill>
            <a:prstDash val="solid"/>
          </a:ln>
        </p:spPr>
      </p:sp>
      <p:sp>
        <p:nvSpPr>
          <p:cNvPr id="131" name="Text 129"/>
          <p:cNvSpPr/>
          <p:nvPr/>
        </p:nvSpPr>
        <p:spPr>
          <a:xfrm>
            <a:off x="3840480" y="1371600"/>
            <a:ext cx="1965960" cy="237744"/>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One alveolus</a:t>
            </a:r>
            <a:endParaRPr lang="en-US" sz="1050" dirty="0"/>
          </a:p>
        </p:txBody>
      </p:sp>
      <p:sp>
        <p:nvSpPr>
          <p:cNvPr id="132" name="Shape 130"/>
          <p:cNvSpPr/>
          <p:nvPr/>
        </p:nvSpPr>
        <p:spPr>
          <a:xfrm>
            <a:off x="4160520" y="1856232"/>
            <a:ext cx="1316736" cy="1316736"/>
          </a:xfrm>
          <a:prstGeom prst="ellipse">
            <a:avLst/>
          </a:prstGeom>
          <a:solidFill>
            <a:srgbClr val="EEF6FB"/>
          </a:solidFill>
          <a:ln w="25400">
            <a:solidFill>
              <a:srgbClr val="C77C86"/>
            </a:solidFill>
            <a:prstDash val="solid"/>
          </a:ln>
        </p:spPr>
      </p:sp>
      <p:sp>
        <p:nvSpPr>
          <p:cNvPr id="133" name="Text 131"/>
          <p:cNvSpPr/>
          <p:nvPr/>
        </p:nvSpPr>
        <p:spPr>
          <a:xfrm>
            <a:off x="4343400" y="2240280"/>
            <a:ext cx="96012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air</a:t>
            </a:r>
            <a:endParaRPr lang="en-US" sz="1050" dirty="0"/>
          </a:p>
        </p:txBody>
      </p:sp>
      <p:sp>
        <p:nvSpPr>
          <p:cNvPr id="134" name="Shape 132"/>
          <p:cNvSpPr/>
          <p:nvPr/>
        </p:nvSpPr>
        <p:spPr>
          <a:xfrm>
            <a:off x="3886200" y="3246120"/>
            <a:ext cx="914400" cy="384048"/>
          </a:xfrm>
          <a:prstGeom prst="rect">
            <a:avLst/>
          </a:prstGeom>
          <a:solidFill>
            <a:srgbClr val="C3D6F2"/>
          </a:solidFill>
          <a:ln w="12700">
            <a:solidFill>
              <a:srgbClr val="1F4E8C"/>
            </a:solidFill>
            <a:prstDash val="solid"/>
          </a:ln>
        </p:spPr>
      </p:sp>
      <p:sp>
        <p:nvSpPr>
          <p:cNvPr id="135" name="Shape 133"/>
          <p:cNvSpPr/>
          <p:nvPr/>
        </p:nvSpPr>
        <p:spPr>
          <a:xfrm>
            <a:off x="4800600" y="3246120"/>
            <a:ext cx="960120" cy="384048"/>
          </a:xfrm>
          <a:prstGeom prst="rect">
            <a:avLst/>
          </a:prstGeom>
          <a:solidFill>
            <a:srgbClr val="F6C4C4"/>
          </a:solidFill>
          <a:ln w="12700">
            <a:solidFill>
              <a:srgbClr val="8E2A33"/>
            </a:solidFill>
            <a:prstDash val="solid"/>
          </a:ln>
        </p:spPr>
      </p:sp>
      <p:sp>
        <p:nvSpPr>
          <p:cNvPr id="136" name="Shape 134"/>
          <p:cNvSpPr/>
          <p:nvPr/>
        </p:nvSpPr>
        <p:spPr>
          <a:xfrm>
            <a:off x="4059936" y="3337560"/>
            <a:ext cx="201168" cy="201168"/>
          </a:xfrm>
          <a:prstGeom prst="ellipse">
            <a:avLst/>
          </a:prstGeom>
          <a:solidFill>
            <a:srgbClr val="D9534F"/>
          </a:solidFill>
          <a:ln w="12700">
            <a:solidFill>
              <a:srgbClr val="8E2A33"/>
            </a:solidFill>
            <a:prstDash val="solid"/>
          </a:ln>
        </p:spPr>
      </p:sp>
      <p:sp>
        <p:nvSpPr>
          <p:cNvPr id="137" name="Shape 135"/>
          <p:cNvSpPr/>
          <p:nvPr/>
        </p:nvSpPr>
        <p:spPr>
          <a:xfrm>
            <a:off x="4115257" y="3392881"/>
            <a:ext cx="90526" cy="90526"/>
          </a:xfrm>
          <a:prstGeom prst="ellipse">
            <a:avLst/>
          </a:prstGeom>
          <a:solidFill>
            <a:srgbClr val="EE8A8F"/>
          </a:solidFill>
          <a:ln w="9525">
            <a:solidFill>
              <a:srgbClr val="EE8A8F"/>
            </a:solidFill>
            <a:prstDash val="solid"/>
          </a:ln>
        </p:spPr>
      </p:sp>
      <p:sp>
        <p:nvSpPr>
          <p:cNvPr id="138" name="Shape 136"/>
          <p:cNvSpPr/>
          <p:nvPr/>
        </p:nvSpPr>
        <p:spPr>
          <a:xfrm>
            <a:off x="4471416" y="3337560"/>
            <a:ext cx="201168" cy="201168"/>
          </a:xfrm>
          <a:prstGeom prst="ellipse">
            <a:avLst/>
          </a:prstGeom>
          <a:solidFill>
            <a:srgbClr val="D9534F"/>
          </a:solidFill>
          <a:ln w="12700">
            <a:solidFill>
              <a:srgbClr val="8E2A33"/>
            </a:solidFill>
            <a:prstDash val="solid"/>
          </a:ln>
        </p:spPr>
      </p:sp>
      <p:sp>
        <p:nvSpPr>
          <p:cNvPr id="139" name="Shape 137"/>
          <p:cNvSpPr/>
          <p:nvPr/>
        </p:nvSpPr>
        <p:spPr>
          <a:xfrm>
            <a:off x="4526737" y="3392881"/>
            <a:ext cx="90526" cy="90526"/>
          </a:xfrm>
          <a:prstGeom prst="ellipse">
            <a:avLst/>
          </a:prstGeom>
          <a:solidFill>
            <a:srgbClr val="EE8A8F"/>
          </a:solidFill>
          <a:ln w="9525">
            <a:solidFill>
              <a:srgbClr val="EE8A8F"/>
            </a:solidFill>
            <a:prstDash val="solid"/>
          </a:ln>
        </p:spPr>
      </p:sp>
      <p:sp>
        <p:nvSpPr>
          <p:cNvPr id="140" name="Shape 138"/>
          <p:cNvSpPr/>
          <p:nvPr/>
        </p:nvSpPr>
        <p:spPr>
          <a:xfrm>
            <a:off x="4974336" y="3337560"/>
            <a:ext cx="201168" cy="201168"/>
          </a:xfrm>
          <a:prstGeom prst="ellipse">
            <a:avLst/>
          </a:prstGeom>
          <a:solidFill>
            <a:srgbClr val="D9534F"/>
          </a:solidFill>
          <a:ln w="12700">
            <a:solidFill>
              <a:srgbClr val="8E2A33"/>
            </a:solidFill>
            <a:prstDash val="solid"/>
          </a:ln>
        </p:spPr>
      </p:sp>
      <p:sp>
        <p:nvSpPr>
          <p:cNvPr id="141" name="Shape 139"/>
          <p:cNvSpPr/>
          <p:nvPr/>
        </p:nvSpPr>
        <p:spPr>
          <a:xfrm>
            <a:off x="5029657" y="3392881"/>
            <a:ext cx="90526" cy="90526"/>
          </a:xfrm>
          <a:prstGeom prst="ellipse">
            <a:avLst/>
          </a:prstGeom>
          <a:solidFill>
            <a:srgbClr val="EE8A8F"/>
          </a:solidFill>
          <a:ln w="9525">
            <a:solidFill>
              <a:srgbClr val="EE8A8F"/>
            </a:solidFill>
            <a:prstDash val="solid"/>
          </a:ln>
        </p:spPr>
      </p:sp>
      <p:sp>
        <p:nvSpPr>
          <p:cNvPr id="142" name="Shape 140"/>
          <p:cNvSpPr/>
          <p:nvPr/>
        </p:nvSpPr>
        <p:spPr>
          <a:xfrm>
            <a:off x="5385816" y="3337560"/>
            <a:ext cx="201168" cy="201168"/>
          </a:xfrm>
          <a:prstGeom prst="ellipse">
            <a:avLst/>
          </a:prstGeom>
          <a:solidFill>
            <a:srgbClr val="D9534F"/>
          </a:solidFill>
          <a:ln w="12700">
            <a:solidFill>
              <a:srgbClr val="8E2A33"/>
            </a:solidFill>
            <a:prstDash val="solid"/>
          </a:ln>
        </p:spPr>
      </p:sp>
      <p:sp>
        <p:nvSpPr>
          <p:cNvPr id="143" name="Shape 141"/>
          <p:cNvSpPr/>
          <p:nvPr/>
        </p:nvSpPr>
        <p:spPr>
          <a:xfrm>
            <a:off x="5441137" y="3392881"/>
            <a:ext cx="90526" cy="90526"/>
          </a:xfrm>
          <a:prstGeom prst="ellipse">
            <a:avLst/>
          </a:prstGeom>
          <a:solidFill>
            <a:srgbClr val="EE8A8F"/>
          </a:solidFill>
          <a:ln w="9525">
            <a:solidFill>
              <a:srgbClr val="EE8A8F"/>
            </a:solidFill>
            <a:prstDash val="solid"/>
          </a:ln>
        </p:spPr>
      </p:sp>
      <p:sp>
        <p:nvSpPr>
          <p:cNvPr id="144" name="Shape 142"/>
          <p:cNvSpPr/>
          <p:nvPr/>
        </p:nvSpPr>
        <p:spPr>
          <a:xfrm>
            <a:off x="3931920" y="3767328"/>
            <a:ext cx="1783080" cy="91"/>
          </a:xfrm>
          <a:prstGeom prst="line">
            <a:avLst/>
          </a:prstGeom>
          <a:noFill/>
          <a:ln w="19050">
            <a:solidFill>
              <a:srgbClr val="133536"/>
            </a:solidFill>
            <a:prstDash val="solid"/>
            <a:tailEnd type="triangle"/>
          </a:ln>
        </p:spPr>
      </p:sp>
      <p:sp>
        <p:nvSpPr>
          <p:cNvPr id="145" name="Text 143"/>
          <p:cNvSpPr/>
          <p:nvPr/>
        </p:nvSpPr>
        <p:spPr>
          <a:xfrm>
            <a:off x="3886200" y="3822192"/>
            <a:ext cx="192024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blood flow in a </a:t>
            </a:r>
            <a:r>
              <a:rPr lang="en-US" sz="1000" b="1" dirty="0">
                <a:solidFill>
                  <a:srgbClr val="262B3A"/>
                </a:solidFill>
                <a:latin typeface="Calibri" pitchFamily="34" charset="0"/>
                <a:ea typeface="Calibri" pitchFamily="34" charset="-122"/>
                <a:cs typeface="Calibri" pitchFamily="34" charset="-120"/>
              </a:rPr>
              <a:t>capillary</a:t>
            </a:r>
            <a:endParaRPr lang="en-US" sz="1000" dirty="0"/>
          </a:p>
        </p:txBody>
      </p:sp>
      <p:sp>
        <p:nvSpPr>
          <p:cNvPr id="146" name="Shape 144"/>
          <p:cNvSpPr/>
          <p:nvPr/>
        </p:nvSpPr>
        <p:spPr>
          <a:xfrm>
            <a:off x="4645152" y="2697480"/>
            <a:ext cx="91" cy="612648"/>
          </a:xfrm>
          <a:prstGeom prst="line">
            <a:avLst/>
          </a:prstGeom>
          <a:noFill/>
          <a:ln w="28575">
            <a:solidFill>
              <a:srgbClr val="2E8B57"/>
            </a:solidFill>
            <a:prstDash val="solid"/>
            <a:tailEnd type="triangle"/>
          </a:ln>
        </p:spPr>
      </p:sp>
      <p:sp>
        <p:nvSpPr>
          <p:cNvPr id="147" name="Text 145"/>
          <p:cNvSpPr/>
          <p:nvPr/>
        </p:nvSpPr>
        <p:spPr>
          <a:xfrm>
            <a:off x="3840480" y="2788920"/>
            <a:ext cx="731520" cy="256032"/>
          </a:xfrm>
          <a:prstGeom prst="rect">
            <a:avLst/>
          </a:prstGeom>
          <a:noFill/>
          <a:ln/>
        </p:spPr>
        <p:txBody>
          <a:bodyPr wrap="square" lIns="0" tIns="0" rIns="0" bIns="0" rtlCol="0" anchor="ctr"/>
          <a:lstStyle/>
          <a:p>
            <a:pPr algn="r" indent="0" marL="0">
              <a:buNone/>
            </a:pPr>
            <a:r>
              <a:rPr lang="en-US" sz="1050" b="1" dirty="0">
                <a:solidFill>
                  <a:srgbClr val="2E8B57"/>
                </a:solidFill>
                <a:latin typeface="Calibri" pitchFamily="34" charset="0"/>
                <a:ea typeface="Calibri" pitchFamily="34" charset="-122"/>
                <a:cs typeface="Calibri" pitchFamily="34" charset="-120"/>
              </a:rPr>
              <a:t>O₂ in</a:t>
            </a:r>
            <a:endParaRPr lang="en-US" sz="1050" dirty="0"/>
          </a:p>
        </p:txBody>
      </p:sp>
      <p:sp>
        <p:nvSpPr>
          <p:cNvPr id="148" name="Shape 146"/>
          <p:cNvSpPr/>
          <p:nvPr/>
        </p:nvSpPr>
        <p:spPr>
          <a:xfrm flipV="1">
            <a:off x="4992624" y="2697480"/>
            <a:ext cx="91" cy="612648"/>
          </a:xfrm>
          <a:prstGeom prst="line">
            <a:avLst/>
          </a:prstGeom>
          <a:noFill/>
          <a:ln w="28575">
            <a:solidFill>
              <a:srgbClr val="C8414C"/>
            </a:solidFill>
            <a:prstDash val="solid"/>
            <a:tailEnd type="triangle"/>
          </a:ln>
        </p:spPr>
      </p:sp>
      <p:sp>
        <p:nvSpPr>
          <p:cNvPr id="149" name="Text 147"/>
          <p:cNvSpPr/>
          <p:nvPr/>
        </p:nvSpPr>
        <p:spPr>
          <a:xfrm>
            <a:off x="5074920" y="2788920"/>
            <a:ext cx="73152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CO₂ out</a:t>
            </a:r>
            <a:endParaRPr lang="en-US" sz="1050" dirty="0"/>
          </a:p>
        </p:txBody>
      </p:sp>
      <p:sp>
        <p:nvSpPr>
          <p:cNvPr id="150" name="Text 148"/>
          <p:cNvSpPr/>
          <p:nvPr/>
        </p:nvSpPr>
        <p:spPr>
          <a:xfrm>
            <a:off x="3886200" y="4114800"/>
            <a:ext cx="192024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walls: </a:t>
            </a:r>
            <a:r>
              <a:rPr lang="en-US" sz="1000" b="1" dirty="0">
                <a:solidFill>
                  <a:srgbClr val="262B3A"/>
                </a:solidFill>
                <a:latin typeface="Calibri" pitchFamily="34" charset="0"/>
                <a:ea typeface="Calibri" pitchFamily="34" charset="-122"/>
                <a:cs typeface="Calibri" pitchFamily="34" charset="-120"/>
              </a:rPr>
              <a:t>one cell thick</a:t>
            </a:r>
            <a:r>
              <a:rPr lang="en-US" sz="1000" dirty="0">
                <a:solidFill>
                  <a:srgbClr val="262B3A"/>
                </a:solidFill>
                <a:latin typeface="Calibri" pitchFamily="34" charset="0"/>
                <a:ea typeface="Calibri" pitchFamily="34" charset="-122"/>
                <a:cs typeface="Calibri" pitchFamily="34" charset="-120"/>
              </a:rPr>
              <a:t>; total distance about </a:t>
            </a:r>
            <a:r>
              <a:rPr lang="en-US" sz="1000" b="1" dirty="0">
                <a:solidFill>
                  <a:srgbClr val="262B3A"/>
                </a:solidFill>
                <a:latin typeface="Calibri" pitchFamily="34" charset="0"/>
                <a:ea typeface="Calibri" pitchFamily="34" charset="-122"/>
                <a:cs typeface="Calibri" pitchFamily="34" charset="-120"/>
              </a:rPr>
              <a:t>1 µm</a:t>
            </a:r>
            <a:endParaRPr lang="en-US" sz="1000" dirty="0"/>
          </a:p>
        </p:txBody>
      </p:sp>
      <p:sp>
        <p:nvSpPr>
          <p:cNvPr id="151" name="Text 149"/>
          <p:cNvSpPr/>
          <p:nvPr/>
        </p:nvSpPr>
        <p:spPr>
          <a:xfrm>
            <a:off x="3886200" y="4572000"/>
            <a:ext cx="192024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moist lining: gases dissolve first</a:t>
            </a:r>
            <a:endParaRPr lang="en-US" sz="1000" dirty="0"/>
          </a:p>
        </p:txBody>
      </p:sp>
      <p:sp>
        <p:nvSpPr>
          <p:cNvPr id="152" name="Shape 150"/>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153" name="Text 15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the alveoli are adapted</a:t>
            </a:r>
            <a:endParaRPr lang="en-US" sz="1300" dirty="0"/>
          </a:p>
        </p:txBody>
      </p:sp>
      <p:sp>
        <p:nvSpPr>
          <p:cNvPr id="154" name="Text 152"/>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Air goes down the </a:t>
            </a:r>
            <a:r>
              <a:rPr lang="en-US" sz="1100" b="1" dirty="0">
                <a:solidFill>
                  <a:srgbClr val="262B3A"/>
                </a:solidFill>
                <a:latin typeface="Calibri" pitchFamily="34" charset="0"/>
                <a:ea typeface="Calibri" pitchFamily="34" charset="-122"/>
                <a:cs typeface="Calibri" pitchFamily="34" charset="-120"/>
              </a:rPr>
              <a:t>trachea</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bronchi</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bronchioles</a:t>
            </a:r>
            <a:r>
              <a:rPr lang="en-US" sz="1100" dirty="0">
                <a:solidFill>
                  <a:srgbClr val="262B3A"/>
                </a:solidFill>
                <a:latin typeface="Calibri" pitchFamily="34" charset="0"/>
                <a:ea typeface="Calibri" pitchFamily="34" charset="-122"/>
                <a:cs typeface="Calibri" pitchFamily="34" charset="-120"/>
              </a:rPr>
              <a:t> to millions of tiny air sacs, the </a:t>
            </a:r>
            <a:r>
              <a:rPr lang="en-US" sz="1100" b="1" dirty="0">
                <a:solidFill>
                  <a:srgbClr val="262B3A"/>
                </a:solidFill>
                <a:latin typeface="Calibri" pitchFamily="34" charset="0"/>
                <a:ea typeface="Calibri" pitchFamily="34" charset="-122"/>
                <a:cs typeface="Calibri" pitchFamily="34" charset="-120"/>
              </a:rPr>
              <a:t>alveoli</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Oxygen </a:t>
            </a:r>
            <a:r>
              <a:rPr lang="en-US" sz="1100" b="1" dirty="0">
                <a:solidFill>
                  <a:srgbClr val="262B3A"/>
                </a:solidFill>
                <a:latin typeface="Calibri" pitchFamily="34" charset="0"/>
                <a:ea typeface="Calibri" pitchFamily="34" charset="-122"/>
                <a:cs typeface="Calibri" pitchFamily="34" charset="-120"/>
              </a:rPr>
              <a:t>diffuses</a:t>
            </a:r>
            <a:r>
              <a:rPr lang="en-US" sz="1100" dirty="0">
                <a:solidFill>
                  <a:srgbClr val="262B3A"/>
                </a:solidFill>
                <a:latin typeface="Calibri" pitchFamily="34" charset="0"/>
                <a:ea typeface="Calibri" pitchFamily="34" charset="-122"/>
                <a:cs typeface="Calibri" pitchFamily="34" charset="-120"/>
              </a:rPr>
              <a:t> from the air in the alveoli into the blood; carbon dioxide diffuses out.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Huge surface area</a:t>
            </a:r>
            <a:r>
              <a:rPr lang="en-US" sz="1100" dirty="0">
                <a:solidFill>
                  <a:srgbClr val="262B3A"/>
                </a:solidFill>
                <a:latin typeface="Calibri" pitchFamily="34" charset="0"/>
                <a:ea typeface="Calibri" pitchFamily="34" charset="-122"/>
                <a:cs typeface="Calibri" pitchFamily="34" charset="-120"/>
              </a:rPr>
              <a:t> (millions of alveoli); </a:t>
            </a:r>
            <a:r>
              <a:rPr lang="en-US" sz="1100" b="1" dirty="0">
                <a:solidFill>
                  <a:srgbClr val="262B3A"/>
                </a:solidFill>
                <a:latin typeface="Calibri" pitchFamily="34" charset="0"/>
                <a:ea typeface="Calibri" pitchFamily="34" charset="-122"/>
                <a:cs typeface="Calibri" pitchFamily="34" charset="-120"/>
              </a:rPr>
              <a:t>thin walls</a:t>
            </a:r>
            <a:r>
              <a:rPr lang="en-US" sz="1100" dirty="0">
                <a:solidFill>
                  <a:srgbClr val="262B3A"/>
                </a:solidFill>
                <a:latin typeface="Calibri" pitchFamily="34" charset="0"/>
                <a:ea typeface="Calibri" pitchFamily="34" charset="-122"/>
                <a:cs typeface="Calibri" pitchFamily="34" charset="-120"/>
              </a:rPr>
              <a:t>, one cell thick: short distance.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Rich blood supply</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breathing</a:t>
            </a:r>
            <a:r>
              <a:rPr lang="en-US" sz="1100" dirty="0">
                <a:solidFill>
                  <a:srgbClr val="262B3A"/>
                </a:solidFill>
                <a:latin typeface="Calibri" pitchFamily="34" charset="0"/>
                <a:ea typeface="Calibri" pitchFamily="34" charset="-122"/>
                <a:cs typeface="Calibri" pitchFamily="34" charset="-120"/>
              </a:rPr>
              <a:t> (ventilation) keep a steep concentration gradient.</a:t>
            </a:r>
            <a:endParaRPr lang="en-US" sz="1100" dirty="0"/>
          </a:p>
        </p:txBody>
      </p:sp>
      <p:sp>
        <p:nvSpPr>
          <p:cNvPr id="155" name="Shape 153"/>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156" name="Text 154"/>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diffusion distance</a:t>
            </a:r>
            <a:endParaRPr lang="en-US" sz="1300" dirty="0"/>
          </a:p>
        </p:txBody>
      </p:sp>
      <p:sp>
        <p:nvSpPr>
          <p:cNvPr id="157" name="Text 155"/>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alveolus wall and capillary wall are each 0.0005 mm thick. What is the total diffusion distance in µm?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Add   </a:t>
            </a:r>
            <a:r>
              <a:rPr lang="en-US" sz="1050" dirty="0">
                <a:solidFill>
                  <a:srgbClr val="262B3A"/>
                </a:solidFill>
                <a:latin typeface="Calibri" pitchFamily="34" charset="0"/>
                <a:ea typeface="Calibri" pitchFamily="34" charset="-122"/>
                <a:cs typeface="Calibri" pitchFamily="34" charset="-120"/>
              </a:rPr>
              <a:t>0.0005 + 0.0005 = 0.001 mm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Convert   </a:t>
            </a:r>
            <a:r>
              <a:rPr lang="en-US" sz="1050" dirty="0">
                <a:solidFill>
                  <a:srgbClr val="262B3A"/>
                </a:solidFill>
                <a:latin typeface="Calibri" pitchFamily="34" charset="0"/>
                <a:ea typeface="Calibri" pitchFamily="34" charset="-122"/>
                <a:cs typeface="Calibri" pitchFamily="34" charset="-120"/>
              </a:rPr>
              <a:t>1 mm = 1000 µm, so ×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0.001 × 1000 = 1 µm</a:t>
            </a:r>
            <a:endParaRPr lang="en-US" sz="1050" dirty="0"/>
          </a:p>
        </p:txBody>
      </p:sp>
      <p:sp>
        <p:nvSpPr>
          <p:cNvPr id="158" name="Shape 156"/>
          <p:cNvSpPr/>
          <p:nvPr/>
        </p:nvSpPr>
        <p:spPr>
          <a:xfrm>
            <a:off x="411480" y="5833872"/>
            <a:ext cx="11368735" cy="530352"/>
          </a:xfrm>
          <a:prstGeom prst="rect">
            <a:avLst/>
          </a:prstGeom>
          <a:solidFill>
            <a:srgbClr val="FFF4E0"/>
          </a:solidFill>
          <a:ln w="6350">
            <a:solidFill>
              <a:srgbClr val="F1D9A8"/>
            </a:solidFill>
            <a:prstDash val="solid"/>
          </a:ln>
        </p:spPr>
      </p:sp>
      <p:sp>
        <p:nvSpPr>
          <p:cNvPr id="159" name="Shape 157"/>
          <p:cNvSpPr/>
          <p:nvPr/>
        </p:nvSpPr>
        <p:spPr>
          <a:xfrm>
            <a:off x="411480" y="5833872"/>
            <a:ext cx="82296" cy="530352"/>
          </a:xfrm>
          <a:prstGeom prst="rect">
            <a:avLst/>
          </a:prstGeom>
          <a:solidFill>
            <a:srgbClr val="E39A2F"/>
          </a:solidFill>
          <a:ln w="12700">
            <a:solidFill>
              <a:srgbClr val="E39A2F"/>
            </a:solidFill>
            <a:prstDash val="solid"/>
          </a:ln>
        </p:spPr>
      </p:sp>
      <p:sp>
        <p:nvSpPr>
          <p:cNvPr id="160" name="Text 1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the </a:t>
            </a:r>
            <a:r>
              <a:rPr lang="en-US" sz="1150" b="1" dirty="0">
                <a:solidFill>
                  <a:srgbClr val="262B3A"/>
                </a:solidFill>
                <a:latin typeface="Calibri" pitchFamily="34" charset="0"/>
                <a:ea typeface="Calibri" pitchFamily="34" charset="-122"/>
                <a:cs typeface="Calibri" pitchFamily="34" charset="-120"/>
              </a:rPr>
              <a:t>blood flowing</a:t>
            </a:r>
            <a:r>
              <a:rPr lang="en-US" sz="1150" dirty="0">
                <a:solidFill>
                  <a:srgbClr val="262B3A"/>
                </a:solidFill>
                <a:latin typeface="Calibri" pitchFamily="34" charset="0"/>
                <a:ea typeface="Calibri" pitchFamily="34" charset="-122"/>
                <a:cs typeface="Calibri" pitchFamily="34" charset="-120"/>
              </a:rPr>
              <a:t> past the alveoli helps oxygen to keep diffusing into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small intestine: absorbing food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B5.1.3 • villi give a huge surface for dissolved food molecules to enter the blood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B5.1.3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 of the small intestine wall (left) and one villus enlarged (right)</a:t>
            </a:r>
            <a:endParaRPr lang="en-US" sz="1000" dirty="0"/>
          </a:p>
        </p:txBody>
      </p:sp>
      <p:sp>
        <p:nvSpPr>
          <p:cNvPr id="10" name="Text 8"/>
          <p:cNvSpPr/>
          <p:nvPr/>
        </p:nvSpPr>
        <p:spPr>
          <a:xfrm>
            <a:off x="548640" y="1298448"/>
            <a:ext cx="320040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Inside the small intestine (lumen)</a:t>
            </a:r>
            <a:endParaRPr lang="en-US" sz="1050" dirty="0"/>
          </a:p>
        </p:txBody>
      </p:sp>
      <p:sp>
        <p:nvSpPr>
          <p:cNvPr id="11" name="Shape 9"/>
          <p:cNvSpPr/>
          <p:nvPr/>
        </p:nvSpPr>
        <p:spPr>
          <a:xfrm>
            <a:off x="768096" y="1682496"/>
            <a:ext cx="109728" cy="109728"/>
          </a:xfrm>
          <a:prstGeom prst="rect">
            <a:avLst/>
          </a:prstGeom>
          <a:solidFill>
            <a:srgbClr val="2E8B57"/>
          </a:solidFill>
          <a:ln w="12700">
            <a:solidFill>
              <a:srgbClr val="1E6B40"/>
            </a:solidFill>
            <a:prstDash val="solid"/>
          </a:ln>
        </p:spPr>
      </p:sp>
      <p:sp>
        <p:nvSpPr>
          <p:cNvPr id="12" name="Shape 10"/>
          <p:cNvSpPr/>
          <p:nvPr/>
        </p:nvSpPr>
        <p:spPr>
          <a:xfrm>
            <a:off x="1408176" y="1591056"/>
            <a:ext cx="109728" cy="109728"/>
          </a:xfrm>
          <a:prstGeom prst="ellipse">
            <a:avLst/>
          </a:prstGeom>
          <a:solidFill>
            <a:srgbClr val="F5A742"/>
          </a:solidFill>
          <a:ln w="9525">
            <a:solidFill>
              <a:srgbClr val="B8730A"/>
            </a:solidFill>
            <a:prstDash val="solid"/>
          </a:ln>
        </p:spPr>
      </p:sp>
      <p:sp>
        <p:nvSpPr>
          <p:cNvPr id="13" name="Shape 11"/>
          <p:cNvSpPr/>
          <p:nvPr/>
        </p:nvSpPr>
        <p:spPr>
          <a:xfrm>
            <a:off x="2139696" y="1728216"/>
            <a:ext cx="109728" cy="109728"/>
          </a:xfrm>
          <a:prstGeom prst="rect">
            <a:avLst/>
          </a:prstGeom>
          <a:solidFill>
            <a:srgbClr val="2E8B57"/>
          </a:solidFill>
          <a:ln w="12700">
            <a:solidFill>
              <a:srgbClr val="1E6B40"/>
            </a:solidFill>
            <a:prstDash val="solid"/>
          </a:ln>
        </p:spPr>
      </p:sp>
      <p:sp>
        <p:nvSpPr>
          <p:cNvPr id="14" name="Shape 12"/>
          <p:cNvSpPr/>
          <p:nvPr/>
        </p:nvSpPr>
        <p:spPr>
          <a:xfrm>
            <a:off x="2779776" y="1609344"/>
            <a:ext cx="109728" cy="109728"/>
          </a:xfrm>
          <a:prstGeom prst="ellipse">
            <a:avLst/>
          </a:prstGeom>
          <a:solidFill>
            <a:srgbClr val="F5A742"/>
          </a:solidFill>
          <a:ln w="9525">
            <a:solidFill>
              <a:srgbClr val="B8730A"/>
            </a:solidFill>
            <a:prstDash val="solid"/>
          </a:ln>
        </p:spPr>
      </p:sp>
      <p:sp>
        <p:nvSpPr>
          <p:cNvPr id="15" name="Shape 13"/>
          <p:cNvSpPr/>
          <p:nvPr/>
        </p:nvSpPr>
        <p:spPr>
          <a:xfrm>
            <a:off x="3328416" y="1728216"/>
            <a:ext cx="109728" cy="109728"/>
          </a:xfrm>
          <a:prstGeom prst="rect">
            <a:avLst/>
          </a:prstGeom>
          <a:solidFill>
            <a:srgbClr val="2E8B57"/>
          </a:solidFill>
          <a:ln w="12700">
            <a:solidFill>
              <a:srgbClr val="1E6B40"/>
            </a:solidFill>
            <a:prstDash val="solid"/>
          </a:ln>
        </p:spPr>
      </p:sp>
      <p:sp>
        <p:nvSpPr>
          <p:cNvPr id="16" name="Shape 14"/>
          <p:cNvSpPr/>
          <p:nvPr/>
        </p:nvSpPr>
        <p:spPr>
          <a:xfrm>
            <a:off x="1042416" y="2048256"/>
            <a:ext cx="109728" cy="109728"/>
          </a:xfrm>
          <a:prstGeom prst="ellipse">
            <a:avLst/>
          </a:prstGeom>
          <a:solidFill>
            <a:srgbClr val="F5A742"/>
          </a:solidFill>
          <a:ln w="9525">
            <a:solidFill>
              <a:srgbClr val="B8730A"/>
            </a:solidFill>
            <a:prstDash val="solid"/>
          </a:ln>
        </p:spPr>
      </p:sp>
      <p:sp>
        <p:nvSpPr>
          <p:cNvPr id="17" name="Shape 15"/>
          <p:cNvSpPr/>
          <p:nvPr/>
        </p:nvSpPr>
        <p:spPr>
          <a:xfrm>
            <a:off x="2505456" y="2002536"/>
            <a:ext cx="109728" cy="109728"/>
          </a:xfrm>
          <a:prstGeom prst="rect">
            <a:avLst/>
          </a:prstGeom>
          <a:solidFill>
            <a:srgbClr val="2E8B57"/>
          </a:solidFill>
          <a:ln w="12700">
            <a:solidFill>
              <a:srgbClr val="1E6B40"/>
            </a:solidFill>
            <a:prstDash val="solid"/>
          </a:ln>
        </p:spPr>
      </p:sp>
      <p:sp>
        <p:nvSpPr>
          <p:cNvPr id="18" name="Shape 16"/>
          <p:cNvSpPr/>
          <p:nvPr/>
        </p:nvSpPr>
        <p:spPr>
          <a:xfrm>
            <a:off x="548640" y="4343400"/>
            <a:ext cx="3108960" cy="502920"/>
          </a:xfrm>
          <a:prstGeom prst="rect">
            <a:avLst/>
          </a:prstGeom>
          <a:solidFill>
            <a:srgbClr val="E3B8A8"/>
          </a:solidFill>
          <a:ln w="12700">
            <a:solidFill>
              <a:srgbClr val="8E4A3A"/>
            </a:solidFill>
            <a:prstDash val="solid"/>
          </a:ln>
        </p:spPr>
      </p:sp>
      <p:sp>
        <p:nvSpPr>
          <p:cNvPr id="19" name="Text 17"/>
          <p:cNvSpPr/>
          <p:nvPr/>
        </p:nvSpPr>
        <p:spPr>
          <a:xfrm>
            <a:off x="548640" y="4846320"/>
            <a:ext cx="310896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muscle and wall of the intestine</a:t>
            </a:r>
            <a:endParaRPr lang="en-US" sz="1000" dirty="0"/>
          </a:p>
        </p:txBody>
      </p:sp>
      <p:sp>
        <p:nvSpPr>
          <p:cNvPr id="20" name="Shape 18"/>
          <p:cNvSpPr/>
          <p:nvPr/>
        </p:nvSpPr>
        <p:spPr>
          <a:xfrm>
            <a:off x="621792" y="2331720"/>
            <a:ext cx="384048" cy="2103120"/>
          </a:xfrm>
          <a:prstGeom prst="roundRect">
            <a:avLst>
              <a:gd name="adj" fmla="val 47619"/>
            </a:avLst>
          </a:prstGeom>
          <a:solidFill>
            <a:srgbClr val="F6D5C8"/>
          </a:solidFill>
          <a:ln w="15875">
            <a:solidFill>
              <a:srgbClr val="B5654A"/>
            </a:solidFill>
            <a:prstDash val="solid"/>
          </a:ln>
        </p:spPr>
      </p:sp>
      <p:sp>
        <p:nvSpPr>
          <p:cNvPr id="21" name="Shape 19"/>
          <p:cNvSpPr/>
          <p:nvPr/>
        </p:nvSpPr>
        <p:spPr>
          <a:xfrm>
            <a:off x="740664" y="2606040"/>
            <a:ext cx="91" cy="1737360"/>
          </a:xfrm>
          <a:prstGeom prst="line">
            <a:avLst/>
          </a:prstGeom>
          <a:noFill/>
          <a:ln w="19050">
            <a:solidFill>
              <a:srgbClr val="D9534F"/>
            </a:solidFill>
            <a:prstDash val="solid"/>
          </a:ln>
        </p:spPr>
      </p:sp>
      <p:sp>
        <p:nvSpPr>
          <p:cNvPr id="22" name="Shape 20"/>
          <p:cNvSpPr/>
          <p:nvPr/>
        </p:nvSpPr>
        <p:spPr>
          <a:xfrm>
            <a:off x="886968" y="2606040"/>
            <a:ext cx="91" cy="1737360"/>
          </a:xfrm>
          <a:prstGeom prst="line">
            <a:avLst/>
          </a:prstGeom>
          <a:noFill/>
          <a:ln w="19050">
            <a:solidFill>
              <a:srgbClr val="4F7FC9"/>
            </a:solidFill>
            <a:prstDash val="solid"/>
          </a:ln>
        </p:spPr>
      </p:sp>
      <p:sp>
        <p:nvSpPr>
          <p:cNvPr id="23" name="Shape 21"/>
          <p:cNvSpPr/>
          <p:nvPr/>
        </p:nvSpPr>
        <p:spPr>
          <a:xfrm>
            <a:off x="740664" y="2606040"/>
            <a:ext cx="146304" cy="91"/>
          </a:xfrm>
          <a:prstGeom prst="line">
            <a:avLst/>
          </a:prstGeom>
          <a:noFill/>
          <a:ln w="19050">
            <a:solidFill>
              <a:srgbClr val="D9534F"/>
            </a:solidFill>
            <a:prstDash val="solid"/>
          </a:ln>
        </p:spPr>
      </p:sp>
      <p:sp>
        <p:nvSpPr>
          <p:cNvPr id="24" name="Shape 22"/>
          <p:cNvSpPr/>
          <p:nvPr/>
        </p:nvSpPr>
        <p:spPr>
          <a:xfrm>
            <a:off x="1124712" y="2331720"/>
            <a:ext cx="384048" cy="2103120"/>
          </a:xfrm>
          <a:prstGeom prst="roundRect">
            <a:avLst>
              <a:gd name="adj" fmla="val 47619"/>
            </a:avLst>
          </a:prstGeom>
          <a:solidFill>
            <a:srgbClr val="F6D5C8"/>
          </a:solidFill>
          <a:ln w="15875">
            <a:solidFill>
              <a:srgbClr val="B5654A"/>
            </a:solidFill>
            <a:prstDash val="solid"/>
          </a:ln>
        </p:spPr>
      </p:sp>
      <p:sp>
        <p:nvSpPr>
          <p:cNvPr id="25" name="Shape 23"/>
          <p:cNvSpPr/>
          <p:nvPr/>
        </p:nvSpPr>
        <p:spPr>
          <a:xfrm>
            <a:off x="1243584" y="2606040"/>
            <a:ext cx="91" cy="1737360"/>
          </a:xfrm>
          <a:prstGeom prst="line">
            <a:avLst/>
          </a:prstGeom>
          <a:noFill/>
          <a:ln w="19050">
            <a:solidFill>
              <a:srgbClr val="D9534F"/>
            </a:solidFill>
            <a:prstDash val="solid"/>
          </a:ln>
        </p:spPr>
      </p:sp>
      <p:sp>
        <p:nvSpPr>
          <p:cNvPr id="26" name="Shape 24"/>
          <p:cNvSpPr/>
          <p:nvPr/>
        </p:nvSpPr>
        <p:spPr>
          <a:xfrm>
            <a:off x="1389888" y="2606040"/>
            <a:ext cx="91" cy="1737360"/>
          </a:xfrm>
          <a:prstGeom prst="line">
            <a:avLst/>
          </a:prstGeom>
          <a:noFill/>
          <a:ln w="19050">
            <a:solidFill>
              <a:srgbClr val="4F7FC9"/>
            </a:solidFill>
            <a:prstDash val="solid"/>
          </a:ln>
        </p:spPr>
      </p:sp>
      <p:sp>
        <p:nvSpPr>
          <p:cNvPr id="27" name="Shape 25"/>
          <p:cNvSpPr/>
          <p:nvPr/>
        </p:nvSpPr>
        <p:spPr>
          <a:xfrm>
            <a:off x="1243584" y="2606040"/>
            <a:ext cx="146304" cy="91"/>
          </a:xfrm>
          <a:prstGeom prst="line">
            <a:avLst/>
          </a:prstGeom>
          <a:noFill/>
          <a:ln w="19050">
            <a:solidFill>
              <a:srgbClr val="D9534F"/>
            </a:solidFill>
            <a:prstDash val="solid"/>
          </a:ln>
        </p:spPr>
      </p:sp>
      <p:sp>
        <p:nvSpPr>
          <p:cNvPr id="28" name="Shape 26"/>
          <p:cNvSpPr/>
          <p:nvPr/>
        </p:nvSpPr>
        <p:spPr>
          <a:xfrm>
            <a:off x="1627632" y="2331720"/>
            <a:ext cx="384048" cy="2103120"/>
          </a:xfrm>
          <a:prstGeom prst="roundRect">
            <a:avLst>
              <a:gd name="adj" fmla="val 47619"/>
            </a:avLst>
          </a:prstGeom>
          <a:solidFill>
            <a:srgbClr val="F6D5C8"/>
          </a:solidFill>
          <a:ln w="15875">
            <a:solidFill>
              <a:srgbClr val="B5654A"/>
            </a:solidFill>
            <a:prstDash val="solid"/>
          </a:ln>
        </p:spPr>
      </p:sp>
      <p:sp>
        <p:nvSpPr>
          <p:cNvPr id="29" name="Shape 27"/>
          <p:cNvSpPr/>
          <p:nvPr/>
        </p:nvSpPr>
        <p:spPr>
          <a:xfrm>
            <a:off x="1746504" y="2606040"/>
            <a:ext cx="91" cy="1737360"/>
          </a:xfrm>
          <a:prstGeom prst="line">
            <a:avLst/>
          </a:prstGeom>
          <a:noFill/>
          <a:ln w="19050">
            <a:solidFill>
              <a:srgbClr val="D9534F"/>
            </a:solidFill>
            <a:prstDash val="solid"/>
          </a:ln>
        </p:spPr>
      </p:sp>
      <p:sp>
        <p:nvSpPr>
          <p:cNvPr id="30" name="Shape 28"/>
          <p:cNvSpPr/>
          <p:nvPr/>
        </p:nvSpPr>
        <p:spPr>
          <a:xfrm>
            <a:off x="1892808" y="2606040"/>
            <a:ext cx="91" cy="1737360"/>
          </a:xfrm>
          <a:prstGeom prst="line">
            <a:avLst/>
          </a:prstGeom>
          <a:noFill/>
          <a:ln w="19050">
            <a:solidFill>
              <a:srgbClr val="4F7FC9"/>
            </a:solidFill>
            <a:prstDash val="solid"/>
          </a:ln>
        </p:spPr>
      </p:sp>
      <p:sp>
        <p:nvSpPr>
          <p:cNvPr id="31" name="Shape 29"/>
          <p:cNvSpPr/>
          <p:nvPr/>
        </p:nvSpPr>
        <p:spPr>
          <a:xfrm>
            <a:off x="1746504" y="2606040"/>
            <a:ext cx="146304" cy="91"/>
          </a:xfrm>
          <a:prstGeom prst="line">
            <a:avLst/>
          </a:prstGeom>
          <a:noFill/>
          <a:ln w="19050">
            <a:solidFill>
              <a:srgbClr val="D9534F"/>
            </a:solidFill>
            <a:prstDash val="solid"/>
          </a:ln>
        </p:spPr>
      </p:sp>
      <p:sp>
        <p:nvSpPr>
          <p:cNvPr id="32" name="Shape 30"/>
          <p:cNvSpPr/>
          <p:nvPr/>
        </p:nvSpPr>
        <p:spPr>
          <a:xfrm>
            <a:off x="2130552" y="2331720"/>
            <a:ext cx="384048" cy="2103120"/>
          </a:xfrm>
          <a:prstGeom prst="roundRect">
            <a:avLst>
              <a:gd name="adj" fmla="val 47619"/>
            </a:avLst>
          </a:prstGeom>
          <a:solidFill>
            <a:srgbClr val="F6D5C8"/>
          </a:solidFill>
          <a:ln w="15875">
            <a:solidFill>
              <a:srgbClr val="B5654A"/>
            </a:solidFill>
            <a:prstDash val="solid"/>
          </a:ln>
        </p:spPr>
      </p:sp>
      <p:sp>
        <p:nvSpPr>
          <p:cNvPr id="33" name="Shape 31"/>
          <p:cNvSpPr/>
          <p:nvPr/>
        </p:nvSpPr>
        <p:spPr>
          <a:xfrm>
            <a:off x="2249424" y="2606040"/>
            <a:ext cx="91" cy="1737360"/>
          </a:xfrm>
          <a:prstGeom prst="line">
            <a:avLst/>
          </a:prstGeom>
          <a:noFill/>
          <a:ln w="19050">
            <a:solidFill>
              <a:srgbClr val="D9534F"/>
            </a:solidFill>
            <a:prstDash val="solid"/>
          </a:ln>
        </p:spPr>
      </p:sp>
      <p:sp>
        <p:nvSpPr>
          <p:cNvPr id="34" name="Shape 32"/>
          <p:cNvSpPr/>
          <p:nvPr/>
        </p:nvSpPr>
        <p:spPr>
          <a:xfrm>
            <a:off x="2395728" y="2606040"/>
            <a:ext cx="91" cy="1737360"/>
          </a:xfrm>
          <a:prstGeom prst="line">
            <a:avLst/>
          </a:prstGeom>
          <a:noFill/>
          <a:ln w="19050">
            <a:solidFill>
              <a:srgbClr val="4F7FC9"/>
            </a:solidFill>
            <a:prstDash val="solid"/>
          </a:ln>
        </p:spPr>
      </p:sp>
      <p:sp>
        <p:nvSpPr>
          <p:cNvPr id="35" name="Shape 33"/>
          <p:cNvSpPr/>
          <p:nvPr/>
        </p:nvSpPr>
        <p:spPr>
          <a:xfrm>
            <a:off x="2249424" y="2606040"/>
            <a:ext cx="146304" cy="91"/>
          </a:xfrm>
          <a:prstGeom prst="line">
            <a:avLst/>
          </a:prstGeom>
          <a:noFill/>
          <a:ln w="19050">
            <a:solidFill>
              <a:srgbClr val="D9534F"/>
            </a:solidFill>
            <a:prstDash val="solid"/>
          </a:ln>
        </p:spPr>
      </p:sp>
      <p:sp>
        <p:nvSpPr>
          <p:cNvPr id="36" name="Shape 34"/>
          <p:cNvSpPr/>
          <p:nvPr/>
        </p:nvSpPr>
        <p:spPr>
          <a:xfrm>
            <a:off x="2633472" y="2331720"/>
            <a:ext cx="384048" cy="2103120"/>
          </a:xfrm>
          <a:prstGeom prst="roundRect">
            <a:avLst>
              <a:gd name="adj" fmla="val 47619"/>
            </a:avLst>
          </a:prstGeom>
          <a:solidFill>
            <a:srgbClr val="F6D5C8"/>
          </a:solidFill>
          <a:ln w="15875">
            <a:solidFill>
              <a:srgbClr val="B5654A"/>
            </a:solidFill>
            <a:prstDash val="solid"/>
          </a:ln>
        </p:spPr>
      </p:sp>
      <p:sp>
        <p:nvSpPr>
          <p:cNvPr id="37" name="Shape 35"/>
          <p:cNvSpPr/>
          <p:nvPr/>
        </p:nvSpPr>
        <p:spPr>
          <a:xfrm>
            <a:off x="2752344" y="2606040"/>
            <a:ext cx="91" cy="1737360"/>
          </a:xfrm>
          <a:prstGeom prst="line">
            <a:avLst/>
          </a:prstGeom>
          <a:noFill/>
          <a:ln w="19050">
            <a:solidFill>
              <a:srgbClr val="D9534F"/>
            </a:solidFill>
            <a:prstDash val="solid"/>
          </a:ln>
        </p:spPr>
      </p:sp>
      <p:sp>
        <p:nvSpPr>
          <p:cNvPr id="38" name="Shape 36"/>
          <p:cNvSpPr/>
          <p:nvPr/>
        </p:nvSpPr>
        <p:spPr>
          <a:xfrm>
            <a:off x="2898648" y="2606040"/>
            <a:ext cx="91" cy="1737360"/>
          </a:xfrm>
          <a:prstGeom prst="line">
            <a:avLst/>
          </a:prstGeom>
          <a:noFill/>
          <a:ln w="19050">
            <a:solidFill>
              <a:srgbClr val="4F7FC9"/>
            </a:solidFill>
            <a:prstDash val="solid"/>
          </a:ln>
        </p:spPr>
      </p:sp>
      <p:sp>
        <p:nvSpPr>
          <p:cNvPr id="39" name="Shape 37"/>
          <p:cNvSpPr/>
          <p:nvPr/>
        </p:nvSpPr>
        <p:spPr>
          <a:xfrm>
            <a:off x="2752344" y="2606040"/>
            <a:ext cx="146304" cy="91"/>
          </a:xfrm>
          <a:prstGeom prst="line">
            <a:avLst/>
          </a:prstGeom>
          <a:noFill/>
          <a:ln w="19050">
            <a:solidFill>
              <a:srgbClr val="D9534F"/>
            </a:solidFill>
            <a:prstDash val="solid"/>
          </a:ln>
        </p:spPr>
      </p:sp>
      <p:sp>
        <p:nvSpPr>
          <p:cNvPr id="40" name="Shape 38"/>
          <p:cNvSpPr/>
          <p:nvPr/>
        </p:nvSpPr>
        <p:spPr>
          <a:xfrm>
            <a:off x="3136392" y="2331720"/>
            <a:ext cx="384048" cy="2103120"/>
          </a:xfrm>
          <a:prstGeom prst="roundRect">
            <a:avLst>
              <a:gd name="adj" fmla="val 47619"/>
            </a:avLst>
          </a:prstGeom>
          <a:solidFill>
            <a:srgbClr val="F6D5C8"/>
          </a:solidFill>
          <a:ln w="15875">
            <a:solidFill>
              <a:srgbClr val="B5654A"/>
            </a:solidFill>
            <a:prstDash val="solid"/>
          </a:ln>
        </p:spPr>
      </p:sp>
      <p:sp>
        <p:nvSpPr>
          <p:cNvPr id="41" name="Shape 39"/>
          <p:cNvSpPr/>
          <p:nvPr/>
        </p:nvSpPr>
        <p:spPr>
          <a:xfrm>
            <a:off x="3255264" y="2606040"/>
            <a:ext cx="91" cy="1737360"/>
          </a:xfrm>
          <a:prstGeom prst="line">
            <a:avLst/>
          </a:prstGeom>
          <a:noFill/>
          <a:ln w="19050">
            <a:solidFill>
              <a:srgbClr val="D9534F"/>
            </a:solidFill>
            <a:prstDash val="solid"/>
          </a:ln>
        </p:spPr>
      </p:sp>
      <p:sp>
        <p:nvSpPr>
          <p:cNvPr id="42" name="Shape 40"/>
          <p:cNvSpPr/>
          <p:nvPr/>
        </p:nvSpPr>
        <p:spPr>
          <a:xfrm>
            <a:off x="3401568" y="2606040"/>
            <a:ext cx="91" cy="1737360"/>
          </a:xfrm>
          <a:prstGeom prst="line">
            <a:avLst/>
          </a:prstGeom>
          <a:noFill/>
          <a:ln w="19050">
            <a:solidFill>
              <a:srgbClr val="4F7FC9"/>
            </a:solidFill>
            <a:prstDash val="solid"/>
          </a:ln>
        </p:spPr>
      </p:sp>
      <p:sp>
        <p:nvSpPr>
          <p:cNvPr id="43" name="Shape 41"/>
          <p:cNvSpPr/>
          <p:nvPr/>
        </p:nvSpPr>
        <p:spPr>
          <a:xfrm>
            <a:off x="3255264" y="2606040"/>
            <a:ext cx="146304" cy="91"/>
          </a:xfrm>
          <a:prstGeom prst="line">
            <a:avLst/>
          </a:prstGeom>
          <a:noFill/>
          <a:ln w="19050">
            <a:solidFill>
              <a:srgbClr val="D9534F"/>
            </a:solidFill>
            <a:prstDash val="solid"/>
          </a:ln>
        </p:spPr>
      </p:sp>
      <p:sp>
        <p:nvSpPr>
          <p:cNvPr id="44" name="Shape 42"/>
          <p:cNvSpPr/>
          <p:nvPr/>
        </p:nvSpPr>
        <p:spPr>
          <a:xfrm flipH="1">
            <a:off x="868680" y="1874520"/>
            <a:ext cx="91440" cy="457200"/>
          </a:xfrm>
          <a:prstGeom prst="line">
            <a:avLst/>
          </a:prstGeom>
          <a:noFill/>
          <a:ln w="19050">
            <a:solidFill>
              <a:srgbClr val="B8730A"/>
            </a:solidFill>
            <a:prstDash val="solid"/>
            <a:tailEnd type="triangle"/>
          </a:ln>
        </p:spPr>
      </p:sp>
      <p:sp>
        <p:nvSpPr>
          <p:cNvPr id="45" name="Shape 43"/>
          <p:cNvSpPr/>
          <p:nvPr/>
        </p:nvSpPr>
        <p:spPr>
          <a:xfrm flipH="1">
            <a:off x="2286000" y="1874520"/>
            <a:ext cx="45720" cy="457200"/>
          </a:xfrm>
          <a:prstGeom prst="line">
            <a:avLst/>
          </a:prstGeom>
          <a:noFill/>
          <a:ln w="19050">
            <a:solidFill>
              <a:srgbClr val="B8730A"/>
            </a:solidFill>
            <a:prstDash val="solid"/>
            <a:tailEnd type="triangle"/>
          </a:ln>
        </p:spPr>
      </p:sp>
      <p:sp>
        <p:nvSpPr>
          <p:cNvPr id="46" name="Shape 44"/>
          <p:cNvSpPr/>
          <p:nvPr/>
        </p:nvSpPr>
        <p:spPr>
          <a:xfrm>
            <a:off x="3794760" y="1325880"/>
            <a:ext cx="2057400" cy="4023360"/>
          </a:xfrm>
          <a:prstGeom prst="roundRect">
            <a:avLst>
              <a:gd name="adj" fmla="val 2222"/>
            </a:avLst>
          </a:prstGeom>
          <a:solidFill>
            <a:srgbClr val="FFFFFF"/>
          </a:solidFill>
          <a:ln w="12700">
            <a:solidFill>
              <a:srgbClr val="CFE0DE"/>
            </a:solidFill>
            <a:prstDash val="solid"/>
          </a:ln>
        </p:spPr>
      </p:sp>
      <p:sp>
        <p:nvSpPr>
          <p:cNvPr id="47" name="Text 45"/>
          <p:cNvSpPr/>
          <p:nvPr/>
        </p:nvSpPr>
        <p:spPr>
          <a:xfrm>
            <a:off x="3840480" y="1371600"/>
            <a:ext cx="1965960" cy="237744"/>
          </a:xfrm>
          <a:prstGeom prst="rect">
            <a:avLst/>
          </a:prstGeom>
          <a:noFill/>
          <a:ln/>
        </p:spPr>
        <p:txBody>
          <a:bodyPr wrap="square" lIns="0" tIns="0" rIns="0" bIns="0" rtlCol="0" anchor="ctr"/>
          <a:lstStyle/>
          <a:p>
            <a:pPr algn="ctr" indent="0" marL="0">
              <a:buNone/>
            </a:pPr>
            <a:r>
              <a:rPr lang="en-US" sz="1050" b="1" dirty="0">
                <a:solidFill>
                  <a:srgbClr val="0D7877"/>
                </a:solidFill>
                <a:latin typeface="Calibri" pitchFamily="34" charset="0"/>
                <a:ea typeface="Calibri" pitchFamily="34" charset="-122"/>
                <a:cs typeface="Calibri" pitchFamily="34" charset="-120"/>
              </a:rPr>
              <a:t>One villus</a:t>
            </a:r>
            <a:endParaRPr lang="en-US" sz="1050" dirty="0"/>
          </a:p>
        </p:txBody>
      </p:sp>
      <p:sp>
        <p:nvSpPr>
          <p:cNvPr id="48" name="Shape 46"/>
          <p:cNvSpPr/>
          <p:nvPr/>
        </p:nvSpPr>
        <p:spPr>
          <a:xfrm>
            <a:off x="4023360" y="1783080"/>
            <a:ext cx="731520" cy="3108960"/>
          </a:xfrm>
          <a:prstGeom prst="roundRect">
            <a:avLst>
              <a:gd name="adj" fmla="val 47500"/>
            </a:avLst>
          </a:prstGeom>
          <a:solidFill>
            <a:srgbClr val="F6D5C8"/>
          </a:solidFill>
          <a:ln w="25400">
            <a:solidFill>
              <a:srgbClr val="B5654A"/>
            </a:solidFill>
            <a:prstDash val="solid"/>
          </a:ln>
        </p:spPr>
      </p:sp>
      <p:sp>
        <p:nvSpPr>
          <p:cNvPr id="49" name="Shape 47"/>
          <p:cNvSpPr/>
          <p:nvPr/>
        </p:nvSpPr>
        <p:spPr>
          <a:xfrm flipH="1">
            <a:off x="3950208" y="2103120"/>
            <a:ext cx="73152" cy="91"/>
          </a:xfrm>
          <a:prstGeom prst="line">
            <a:avLst/>
          </a:prstGeom>
          <a:noFill/>
          <a:ln w="9525">
            <a:solidFill>
              <a:srgbClr val="B5654A"/>
            </a:solidFill>
            <a:prstDash val="solid"/>
          </a:ln>
        </p:spPr>
      </p:sp>
      <p:sp>
        <p:nvSpPr>
          <p:cNvPr id="50" name="Shape 48"/>
          <p:cNvSpPr/>
          <p:nvPr/>
        </p:nvSpPr>
        <p:spPr>
          <a:xfrm>
            <a:off x="4754880" y="2103120"/>
            <a:ext cx="73152" cy="91"/>
          </a:xfrm>
          <a:prstGeom prst="line">
            <a:avLst/>
          </a:prstGeom>
          <a:noFill/>
          <a:ln w="9525">
            <a:solidFill>
              <a:srgbClr val="B5654A"/>
            </a:solidFill>
            <a:prstDash val="solid"/>
          </a:ln>
        </p:spPr>
      </p:sp>
      <p:sp>
        <p:nvSpPr>
          <p:cNvPr id="51" name="Shape 49"/>
          <p:cNvSpPr/>
          <p:nvPr/>
        </p:nvSpPr>
        <p:spPr>
          <a:xfrm flipH="1">
            <a:off x="3950208" y="2212848"/>
            <a:ext cx="73152" cy="91"/>
          </a:xfrm>
          <a:prstGeom prst="line">
            <a:avLst/>
          </a:prstGeom>
          <a:noFill/>
          <a:ln w="9525">
            <a:solidFill>
              <a:srgbClr val="B5654A"/>
            </a:solidFill>
            <a:prstDash val="solid"/>
          </a:ln>
        </p:spPr>
      </p:sp>
      <p:sp>
        <p:nvSpPr>
          <p:cNvPr id="52" name="Shape 50"/>
          <p:cNvSpPr/>
          <p:nvPr/>
        </p:nvSpPr>
        <p:spPr>
          <a:xfrm>
            <a:off x="4754880" y="2212848"/>
            <a:ext cx="73152" cy="91"/>
          </a:xfrm>
          <a:prstGeom prst="line">
            <a:avLst/>
          </a:prstGeom>
          <a:noFill/>
          <a:ln w="9525">
            <a:solidFill>
              <a:srgbClr val="B5654A"/>
            </a:solidFill>
            <a:prstDash val="solid"/>
          </a:ln>
        </p:spPr>
      </p:sp>
      <p:sp>
        <p:nvSpPr>
          <p:cNvPr id="53" name="Shape 51"/>
          <p:cNvSpPr/>
          <p:nvPr/>
        </p:nvSpPr>
        <p:spPr>
          <a:xfrm flipH="1">
            <a:off x="3950208" y="2322576"/>
            <a:ext cx="73152" cy="91"/>
          </a:xfrm>
          <a:prstGeom prst="line">
            <a:avLst/>
          </a:prstGeom>
          <a:noFill/>
          <a:ln w="9525">
            <a:solidFill>
              <a:srgbClr val="B5654A"/>
            </a:solidFill>
            <a:prstDash val="solid"/>
          </a:ln>
        </p:spPr>
      </p:sp>
      <p:sp>
        <p:nvSpPr>
          <p:cNvPr id="54" name="Shape 52"/>
          <p:cNvSpPr/>
          <p:nvPr/>
        </p:nvSpPr>
        <p:spPr>
          <a:xfrm>
            <a:off x="4754880" y="2322576"/>
            <a:ext cx="73152" cy="91"/>
          </a:xfrm>
          <a:prstGeom prst="line">
            <a:avLst/>
          </a:prstGeom>
          <a:noFill/>
          <a:ln w="9525">
            <a:solidFill>
              <a:srgbClr val="B5654A"/>
            </a:solidFill>
            <a:prstDash val="solid"/>
          </a:ln>
        </p:spPr>
      </p:sp>
      <p:sp>
        <p:nvSpPr>
          <p:cNvPr id="55" name="Shape 53"/>
          <p:cNvSpPr/>
          <p:nvPr/>
        </p:nvSpPr>
        <p:spPr>
          <a:xfrm flipH="1">
            <a:off x="3950208" y="2432304"/>
            <a:ext cx="73152" cy="91"/>
          </a:xfrm>
          <a:prstGeom prst="line">
            <a:avLst/>
          </a:prstGeom>
          <a:noFill/>
          <a:ln w="9525">
            <a:solidFill>
              <a:srgbClr val="B5654A"/>
            </a:solidFill>
            <a:prstDash val="solid"/>
          </a:ln>
        </p:spPr>
      </p:sp>
      <p:sp>
        <p:nvSpPr>
          <p:cNvPr id="56" name="Shape 54"/>
          <p:cNvSpPr/>
          <p:nvPr/>
        </p:nvSpPr>
        <p:spPr>
          <a:xfrm>
            <a:off x="4754880" y="2432304"/>
            <a:ext cx="73152" cy="91"/>
          </a:xfrm>
          <a:prstGeom prst="line">
            <a:avLst/>
          </a:prstGeom>
          <a:noFill/>
          <a:ln w="9525">
            <a:solidFill>
              <a:srgbClr val="B5654A"/>
            </a:solidFill>
            <a:prstDash val="solid"/>
          </a:ln>
        </p:spPr>
      </p:sp>
      <p:sp>
        <p:nvSpPr>
          <p:cNvPr id="57" name="Shape 55"/>
          <p:cNvSpPr/>
          <p:nvPr/>
        </p:nvSpPr>
        <p:spPr>
          <a:xfrm flipH="1">
            <a:off x="3950208" y="2542032"/>
            <a:ext cx="73152" cy="91"/>
          </a:xfrm>
          <a:prstGeom prst="line">
            <a:avLst/>
          </a:prstGeom>
          <a:noFill/>
          <a:ln w="9525">
            <a:solidFill>
              <a:srgbClr val="B5654A"/>
            </a:solidFill>
            <a:prstDash val="solid"/>
          </a:ln>
        </p:spPr>
      </p:sp>
      <p:sp>
        <p:nvSpPr>
          <p:cNvPr id="58" name="Shape 56"/>
          <p:cNvSpPr/>
          <p:nvPr/>
        </p:nvSpPr>
        <p:spPr>
          <a:xfrm>
            <a:off x="4754880" y="2542032"/>
            <a:ext cx="73152" cy="91"/>
          </a:xfrm>
          <a:prstGeom prst="line">
            <a:avLst/>
          </a:prstGeom>
          <a:noFill/>
          <a:ln w="9525">
            <a:solidFill>
              <a:srgbClr val="B5654A"/>
            </a:solidFill>
            <a:prstDash val="solid"/>
          </a:ln>
        </p:spPr>
      </p:sp>
      <p:sp>
        <p:nvSpPr>
          <p:cNvPr id="59" name="Shape 57"/>
          <p:cNvSpPr/>
          <p:nvPr/>
        </p:nvSpPr>
        <p:spPr>
          <a:xfrm flipH="1">
            <a:off x="3950208" y="2651760"/>
            <a:ext cx="73152" cy="91"/>
          </a:xfrm>
          <a:prstGeom prst="line">
            <a:avLst/>
          </a:prstGeom>
          <a:noFill/>
          <a:ln w="9525">
            <a:solidFill>
              <a:srgbClr val="B5654A"/>
            </a:solidFill>
            <a:prstDash val="solid"/>
          </a:ln>
        </p:spPr>
      </p:sp>
      <p:sp>
        <p:nvSpPr>
          <p:cNvPr id="60" name="Shape 58"/>
          <p:cNvSpPr/>
          <p:nvPr/>
        </p:nvSpPr>
        <p:spPr>
          <a:xfrm>
            <a:off x="4754880" y="2651760"/>
            <a:ext cx="73152" cy="91"/>
          </a:xfrm>
          <a:prstGeom prst="line">
            <a:avLst/>
          </a:prstGeom>
          <a:noFill/>
          <a:ln w="9525">
            <a:solidFill>
              <a:srgbClr val="B5654A"/>
            </a:solidFill>
            <a:prstDash val="solid"/>
          </a:ln>
        </p:spPr>
      </p:sp>
      <p:sp>
        <p:nvSpPr>
          <p:cNvPr id="61" name="Shape 59"/>
          <p:cNvSpPr/>
          <p:nvPr/>
        </p:nvSpPr>
        <p:spPr>
          <a:xfrm flipH="1">
            <a:off x="3950208" y="2761488"/>
            <a:ext cx="73152" cy="91"/>
          </a:xfrm>
          <a:prstGeom prst="line">
            <a:avLst/>
          </a:prstGeom>
          <a:noFill/>
          <a:ln w="9525">
            <a:solidFill>
              <a:srgbClr val="B5654A"/>
            </a:solidFill>
            <a:prstDash val="solid"/>
          </a:ln>
        </p:spPr>
      </p:sp>
      <p:sp>
        <p:nvSpPr>
          <p:cNvPr id="62" name="Shape 60"/>
          <p:cNvSpPr/>
          <p:nvPr/>
        </p:nvSpPr>
        <p:spPr>
          <a:xfrm>
            <a:off x="4754880" y="2761488"/>
            <a:ext cx="73152" cy="91"/>
          </a:xfrm>
          <a:prstGeom prst="line">
            <a:avLst/>
          </a:prstGeom>
          <a:noFill/>
          <a:ln w="9525">
            <a:solidFill>
              <a:srgbClr val="B5654A"/>
            </a:solidFill>
            <a:prstDash val="solid"/>
          </a:ln>
        </p:spPr>
      </p:sp>
      <p:sp>
        <p:nvSpPr>
          <p:cNvPr id="63" name="Shape 61"/>
          <p:cNvSpPr/>
          <p:nvPr/>
        </p:nvSpPr>
        <p:spPr>
          <a:xfrm flipH="1">
            <a:off x="3950208" y="2871216"/>
            <a:ext cx="73152" cy="91"/>
          </a:xfrm>
          <a:prstGeom prst="line">
            <a:avLst/>
          </a:prstGeom>
          <a:noFill/>
          <a:ln w="9525">
            <a:solidFill>
              <a:srgbClr val="B5654A"/>
            </a:solidFill>
            <a:prstDash val="solid"/>
          </a:ln>
        </p:spPr>
      </p:sp>
      <p:sp>
        <p:nvSpPr>
          <p:cNvPr id="64" name="Shape 62"/>
          <p:cNvSpPr/>
          <p:nvPr/>
        </p:nvSpPr>
        <p:spPr>
          <a:xfrm>
            <a:off x="4754880" y="2871216"/>
            <a:ext cx="73152" cy="91"/>
          </a:xfrm>
          <a:prstGeom prst="line">
            <a:avLst/>
          </a:prstGeom>
          <a:noFill/>
          <a:ln w="9525">
            <a:solidFill>
              <a:srgbClr val="B5654A"/>
            </a:solidFill>
            <a:prstDash val="solid"/>
          </a:ln>
        </p:spPr>
      </p:sp>
      <p:sp>
        <p:nvSpPr>
          <p:cNvPr id="65" name="Shape 63"/>
          <p:cNvSpPr/>
          <p:nvPr/>
        </p:nvSpPr>
        <p:spPr>
          <a:xfrm flipH="1">
            <a:off x="3950208" y="2980944"/>
            <a:ext cx="73152" cy="91"/>
          </a:xfrm>
          <a:prstGeom prst="line">
            <a:avLst/>
          </a:prstGeom>
          <a:noFill/>
          <a:ln w="9525">
            <a:solidFill>
              <a:srgbClr val="B5654A"/>
            </a:solidFill>
            <a:prstDash val="solid"/>
          </a:ln>
        </p:spPr>
      </p:sp>
      <p:sp>
        <p:nvSpPr>
          <p:cNvPr id="66" name="Shape 64"/>
          <p:cNvSpPr/>
          <p:nvPr/>
        </p:nvSpPr>
        <p:spPr>
          <a:xfrm>
            <a:off x="4754880" y="2980944"/>
            <a:ext cx="73152" cy="91"/>
          </a:xfrm>
          <a:prstGeom prst="line">
            <a:avLst/>
          </a:prstGeom>
          <a:noFill/>
          <a:ln w="9525">
            <a:solidFill>
              <a:srgbClr val="B5654A"/>
            </a:solidFill>
            <a:prstDash val="solid"/>
          </a:ln>
        </p:spPr>
      </p:sp>
      <p:sp>
        <p:nvSpPr>
          <p:cNvPr id="67" name="Shape 65"/>
          <p:cNvSpPr/>
          <p:nvPr/>
        </p:nvSpPr>
        <p:spPr>
          <a:xfrm flipH="1">
            <a:off x="3950208" y="3090672"/>
            <a:ext cx="73152" cy="91"/>
          </a:xfrm>
          <a:prstGeom prst="line">
            <a:avLst/>
          </a:prstGeom>
          <a:noFill/>
          <a:ln w="9525">
            <a:solidFill>
              <a:srgbClr val="B5654A"/>
            </a:solidFill>
            <a:prstDash val="solid"/>
          </a:ln>
        </p:spPr>
      </p:sp>
      <p:sp>
        <p:nvSpPr>
          <p:cNvPr id="68" name="Shape 66"/>
          <p:cNvSpPr/>
          <p:nvPr/>
        </p:nvSpPr>
        <p:spPr>
          <a:xfrm>
            <a:off x="4754880" y="3090672"/>
            <a:ext cx="73152" cy="91"/>
          </a:xfrm>
          <a:prstGeom prst="line">
            <a:avLst/>
          </a:prstGeom>
          <a:noFill/>
          <a:ln w="9525">
            <a:solidFill>
              <a:srgbClr val="B5654A"/>
            </a:solidFill>
            <a:prstDash val="solid"/>
          </a:ln>
        </p:spPr>
      </p:sp>
      <p:sp>
        <p:nvSpPr>
          <p:cNvPr id="69" name="Shape 67"/>
          <p:cNvSpPr/>
          <p:nvPr/>
        </p:nvSpPr>
        <p:spPr>
          <a:xfrm flipH="1">
            <a:off x="3950208" y="3200400"/>
            <a:ext cx="73152" cy="91"/>
          </a:xfrm>
          <a:prstGeom prst="line">
            <a:avLst/>
          </a:prstGeom>
          <a:noFill/>
          <a:ln w="9525">
            <a:solidFill>
              <a:srgbClr val="B5654A"/>
            </a:solidFill>
            <a:prstDash val="solid"/>
          </a:ln>
        </p:spPr>
      </p:sp>
      <p:sp>
        <p:nvSpPr>
          <p:cNvPr id="70" name="Shape 68"/>
          <p:cNvSpPr/>
          <p:nvPr/>
        </p:nvSpPr>
        <p:spPr>
          <a:xfrm>
            <a:off x="4754880" y="3200400"/>
            <a:ext cx="73152" cy="91"/>
          </a:xfrm>
          <a:prstGeom prst="line">
            <a:avLst/>
          </a:prstGeom>
          <a:noFill/>
          <a:ln w="9525">
            <a:solidFill>
              <a:srgbClr val="B5654A"/>
            </a:solidFill>
            <a:prstDash val="solid"/>
          </a:ln>
        </p:spPr>
      </p:sp>
      <p:sp>
        <p:nvSpPr>
          <p:cNvPr id="71" name="Shape 69"/>
          <p:cNvSpPr/>
          <p:nvPr/>
        </p:nvSpPr>
        <p:spPr>
          <a:xfrm flipH="1">
            <a:off x="3950208" y="3310128"/>
            <a:ext cx="73152" cy="91"/>
          </a:xfrm>
          <a:prstGeom prst="line">
            <a:avLst/>
          </a:prstGeom>
          <a:noFill/>
          <a:ln w="9525">
            <a:solidFill>
              <a:srgbClr val="B5654A"/>
            </a:solidFill>
            <a:prstDash val="solid"/>
          </a:ln>
        </p:spPr>
      </p:sp>
      <p:sp>
        <p:nvSpPr>
          <p:cNvPr id="72" name="Shape 70"/>
          <p:cNvSpPr/>
          <p:nvPr/>
        </p:nvSpPr>
        <p:spPr>
          <a:xfrm>
            <a:off x="4754880" y="3310128"/>
            <a:ext cx="73152" cy="91"/>
          </a:xfrm>
          <a:prstGeom prst="line">
            <a:avLst/>
          </a:prstGeom>
          <a:noFill/>
          <a:ln w="9525">
            <a:solidFill>
              <a:srgbClr val="B5654A"/>
            </a:solidFill>
            <a:prstDash val="solid"/>
          </a:ln>
        </p:spPr>
      </p:sp>
      <p:sp>
        <p:nvSpPr>
          <p:cNvPr id="73" name="Shape 71"/>
          <p:cNvSpPr/>
          <p:nvPr/>
        </p:nvSpPr>
        <p:spPr>
          <a:xfrm flipH="1">
            <a:off x="3950208" y="3419856"/>
            <a:ext cx="73152" cy="91"/>
          </a:xfrm>
          <a:prstGeom prst="line">
            <a:avLst/>
          </a:prstGeom>
          <a:noFill/>
          <a:ln w="9525">
            <a:solidFill>
              <a:srgbClr val="B5654A"/>
            </a:solidFill>
            <a:prstDash val="solid"/>
          </a:ln>
        </p:spPr>
      </p:sp>
      <p:sp>
        <p:nvSpPr>
          <p:cNvPr id="74" name="Shape 72"/>
          <p:cNvSpPr/>
          <p:nvPr/>
        </p:nvSpPr>
        <p:spPr>
          <a:xfrm>
            <a:off x="4754880" y="3419856"/>
            <a:ext cx="73152" cy="91"/>
          </a:xfrm>
          <a:prstGeom prst="line">
            <a:avLst/>
          </a:prstGeom>
          <a:noFill/>
          <a:ln w="9525">
            <a:solidFill>
              <a:srgbClr val="B5654A"/>
            </a:solidFill>
            <a:prstDash val="solid"/>
          </a:ln>
        </p:spPr>
      </p:sp>
      <p:sp>
        <p:nvSpPr>
          <p:cNvPr id="75" name="Shape 73"/>
          <p:cNvSpPr/>
          <p:nvPr/>
        </p:nvSpPr>
        <p:spPr>
          <a:xfrm flipH="1">
            <a:off x="3950208" y="3529584"/>
            <a:ext cx="73152" cy="91"/>
          </a:xfrm>
          <a:prstGeom prst="line">
            <a:avLst/>
          </a:prstGeom>
          <a:noFill/>
          <a:ln w="9525">
            <a:solidFill>
              <a:srgbClr val="B5654A"/>
            </a:solidFill>
            <a:prstDash val="solid"/>
          </a:ln>
        </p:spPr>
      </p:sp>
      <p:sp>
        <p:nvSpPr>
          <p:cNvPr id="76" name="Shape 74"/>
          <p:cNvSpPr/>
          <p:nvPr/>
        </p:nvSpPr>
        <p:spPr>
          <a:xfrm>
            <a:off x="4754880" y="3529584"/>
            <a:ext cx="73152" cy="91"/>
          </a:xfrm>
          <a:prstGeom prst="line">
            <a:avLst/>
          </a:prstGeom>
          <a:noFill/>
          <a:ln w="9525">
            <a:solidFill>
              <a:srgbClr val="B5654A"/>
            </a:solidFill>
            <a:prstDash val="solid"/>
          </a:ln>
        </p:spPr>
      </p:sp>
      <p:sp>
        <p:nvSpPr>
          <p:cNvPr id="77" name="Shape 75"/>
          <p:cNvSpPr/>
          <p:nvPr/>
        </p:nvSpPr>
        <p:spPr>
          <a:xfrm flipH="1">
            <a:off x="3950208" y="3639312"/>
            <a:ext cx="73152" cy="91"/>
          </a:xfrm>
          <a:prstGeom prst="line">
            <a:avLst/>
          </a:prstGeom>
          <a:noFill/>
          <a:ln w="9525">
            <a:solidFill>
              <a:srgbClr val="B5654A"/>
            </a:solidFill>
            <a:prstDash val="solid"/>
          </a:ln>
        </p:spPr>
      </p:sp>
      <p:sp>
        <p:nvSpPr>
          <p:cNvPr id="78" name="Shape 76"/>
          <p:cNvSpPr/>
          <p:nvPr/>
        </p:nvSpPr>
        <p:spPr>
          <a:xfrm>
            <a:off x="4754880" y="3639312"/>
            <a:ext cx="73152" cy="91"/>
          </a:xfrm>
          <a:prstGeom prst="line">
            <a:avLst/>
          </a:prstGeom>
          <a:noFill/>
          <a:ln w="9525">
            <a:solidFill>
              <a:srgbClr val="B5654A"/>
            </a:solidFill>
            <a:prstDash val="solid"/>
          </a:ln>
        </p:spPr>
      </p:sp>
      <p:sp>
        <p:nvSpPr>
          <p:cNvPr id="79" name="Shape 77"/>
          <p:cNvSpPr/>
          <p:nvPr/>
        </p:nvSpPr>
        <p:spPr>
          <a:xfrm flipH="1">
            <a:off x="3950208" y="3749040"/>
            <a:ext cx="73152" cy="91"/>
          </a:xfrm>
          <a:prstGeom prst="line">
            <a:avLst/>
          </a:prstGeom>
          <a:noFill/>
          <a:ln w="9525">
            <a:solidFill>
              <a:srgbClr val="B5654A"/>
            </a:solidFill>
            <a:prstDash val="solid"/>
          </a:ln>
        </p:spPr>
      </p:sp>
      <p:sp>
        <p:nvSpPr>
          <p:cNvPr id="80" name="Shape 78"/>
          <p:cNvSpPr/>
          <p:nvPr/>
        </p:nvSpPr>
        <p:spPr>
          <a:xfrm>
            <a:off x="4754880" y="3749040"/>
            <a:ext cx="73152" cy="91"/>
          </a:xfrm>
          <a:prstGeom prst="line">
            <a:avLst/>
          </a:prstGeom>
          <a:noFill/>
          <a:ln w="9525">
            <a:solidFill>
              <a:srgbClr val="B5654A"/>
            </a:solidFill>
            <a:prstDash val="solid"/>
          </a:ln>
        </p:spPr>
      </p:sp>
      <p:sp>
        <p:nvSpPr>
          <p:cNvPr id="81" name="Shape 79"/>
          <p:cNvSpPr/>
          <p:nvPr/>
        </p:nvSpPr>
        <p:spPr>
          <a:xfrm flipH="1">
            <a:off x="3950208" y="3858768"/>
            <a:ext cx="73152" cy="91"/>
          </a:xfrm>
          <a:prstGeom prst="line">
            <a:avLst/>
          </a:prstGeom>
          <a:noFill/>
          <a:ln w="9525">
            <a:solidFill>
              <a:srgbClr val="B5654A"/>
            </a:solidFill>
            <a:prstDash val="solid"/>
          </a:ln>
        </p:spPr>
      </p:sp>
      <p:sp>
        <p:nvSpPr>
          <p:cNvPr id="82" name="Shape 80"/>
          <p:cNvSpPr/>
          <p:nvPr/>
        </p:nvSpPr>
        <p:spPr>
          <a:xfrm>
            <a:off x="4754880" y="3858768"/>
            <a:ext cx="73152" cy="91"/>
          </a:xfrm>
          <a:prstGeom prst="line">
            <a:avLst/>
          </a:prstGeom>
          <a:noFill/>
          <a:ln w="9525">
            <a:solidFill>
              <a:srgbClr val="B5654A"/>
            </a:solidFill>
            <a:prstDash val="solid"/>
          </a:ln>
        </p:spPr>
      </p:sp>
      <p:sp>
        <p:nvSpPr>
          <p:cNvPr id="83" name="Shape 81"/>
          <p:cNvSpPr/>
          <p:nvPr/>
        </p:nvSpPr>
        <p:spPr>
          <a:xfrm flipH="1">
            <a:off x="3950208" y="3968496"/>
            <a:ext cx="73152" cy="91"/>
          </a:xfrm>
          <a:prstGeom prst="line">
            <a:avLst/>
          </a:prstGeom>
          <a:noFill/>
          <a:ln w="9525">
            <a:solidFill>
              <a:srgbClr val="B5654A"/>
            </a:solidFill>
            <a:prstDash val="solid"/>
          </a:ln>
        </p:spPr>
      </p:sp>
      <p:sp>
        <p:nvSpPr>
          <p:cNvPr id="84" name="Shape 82"/>
          <p:cNvSpPr/>
          <p:nvPr/>
        </p:nvSpPr>
        <p:spPr>
          <a:xfrm>
            <a:off x="4754880" y="3968496"/>
            <a:ext cx="73152" cy="91"/>
          </a:xfrm>
          <a:prstGeom prst="line">
            <a:avLst/>
          </a:prstGeom>
          <a:noFill/>
          <a:ln w="9525">
            <a:solidFill>
              <a:srgbClr val="B5654A"/>
            </a:solidFill>
            <a:prstDash val="solid"/>
          </a:ln>
        </p:spPr>
      </p:sp>
      <p:sp>
        <p:nvSpPr>
          <p:cNvPr id="85" name="Shape 83"/>
          <p:cNvSpPr/>
          <p:nvPr/>
        </p:nvSpPr>
        <p:spPr>
          <a:xfrm flipH="1">
            <a:off x="3950208" y="4078224"/>
            <a:ext cx="73152" cy="91"/>
          </a:xfrm>
          <a:prstGeom prst="line">
            <a:avLst/>
          </a:prstGeom>
          <a:noFill/>
          <a:ln w="9525">
            <a:solidFill>
              <a:srgbClr val="B5654A"/>
            </a:solidFill>
            <a:prstDash val="solid"/>
          </a:ln>
        </p:spPr>
      </p:sp>
      <p:sp>
        <p:nvSpPr>
          <p:cNvPr id="86" name="Shape 84"/>
          <p:cNvSpPr/>
          <p:nvPr/>
        </p:nvSpPr>
        <p:spPr>
          <a:xfrm>
            <a:off x="4754880" y="4078224"/>
            <a:ext cx="73152" cy="91"/>
          </a:xfrm>
          <a:prstGeom prst="line">
            <a:avLst/>
          </a:prstGeom>
          <a:noFill/>
          <a:ln w="9525">
            <a:solidFill>
              <a:srgbClr val="B5654A"/>
            </a:solidFill>
            <a:prstDash val="solid"/>
          </a:ln>
        </p:spPr>
      </p:sp>
      <p:sp>
        <p:nvSpPr>
          <p:cNvPr id="87" name="Shape 85"/>
          <p:cNvSpPr/>
          <p:nvPr/>
        </p:nvSpPr>
        <p:spPr>
          <a:xfrm flipH="1">
            <a:off x="3950208" y="4187952"/>
            <a:ext cx="73152" cy="91"/>
          </a:xfrm>
          <a:prstGeom prst="line">
            <a:avLst/>
          </a:prstGeom>
          <a:noFill/>
          <a:ln w="9525">
            <a:solidFill>
              <a:srgbClr val="B5654A"/>
            </a:solidFill>
            <a:prstDash val="solid"/>
          </a:ln>
        </p:spPr>
      </p:sp>
      <p:sp>
        <p:nvSpPr>
          <p:cNvPr id="88" name="Shape 86"/>
          <p:cNvSpPr/>
          <p:nvPr/>
        </p:nvSpPr>
        <p:spPr>
          <a:xfrm>
            <a:off x="4754880" y="4187952"/>
            <a:ext cx="73152" cy="91"/>
          </a:xfrm>
          <a:prstGeom prst="line">
            <a:avLst/>
          </a:prstGeom>
          <a:noFill/>
          <a:ln w="9525">
            <a:solidFill>
              <a:srgbClr val="B5654A"/>
            </a:solidFill>
            <a:prstDash val="solid"/>
          </a:ln>
        </p:spPr>
      </p:sp>
      <p:sp>
        <p:nvSpPr>
          <p:cNvPr id="89" name="Shape 87"/>
          <p:cNvSpPr/>
          <p:nvPr/>
        </p:nvSpPr>
        <p:spPr>
          <a:xfrm flipH="1">
            <a:off x="3950208" y="4297680"/>
            <a:ext cx="73152" cy="91"/>
          </a:xfrm>
          <a:prstGeom prst="line">
            <a:avLst/>
          </a:prstGeom>
          <a:noFill/>
          <a:ln w="9525">
            <a:solidFill>
              <a:srgbClr val="B5654A"/>
            </a:solidFill>
            <a:prstDash val="solid"/>
          </a:ln>
        </p:spPr>
      </p:sp>
      <p:sp>
        <p:nvSpPr>
          <p:cNvPr id="90" name="Shape 88"/>
          <p:cNvSpPr/>
          <p:nvPr/>
        </p:nvSpPr>
        <p:spPr>
          <a:xfrm>
            <a:off x="4754880" y="4297680"/>
            <a:ext cx="73152" cy="91"/>
          </a:xfrm>
          <a:prstGeom prst="line">
            <a:avLst/>
          </a:prstGeom>
          <a:noFill/>
          <a:ln w="9525">
            <a:solidFill>
              <a:srgbClr val="B5654A"/>
            </a:solidFill>
            <a:prstDash val="solid"/>
          </a:ln>
        </p:spPr>
      </p:sp>
      <p:sp>
        <p:nvSpPr>
          <p:cNvPr id="91" name="Shape 89"/>
          <p:cNvSpPr/>
          <p:nvPr/>
        </p:nvSpPr>
        <p:spPr>
          <a:xfrm flipH="1">
            <a:off x="3950208" y="4407408"/>
            <a:ext cx="73152" cy="91"/>
          </a:xfrm>
          <a:prstGeom prst="line">
            <a:avLst/>
          </a:prstGeom>
          <a:noFill/>
          <a:ln w="9525">
            <a:solidFill>
              <a:srgbClr val="B5654A"/>
            </a:solidFill>
            <a:prstDash val="solid"/>
          </a:ln>
        </p:spPr>
      </p:sp>
      <p:sp>
        <p:nvSpPr>
          <p:cNvPr id="92" name="Shape 90"/>
          <p:cNvSpPr/>
          <p:nvPr/>
        </p:nvSpPr>
        <p:spPr>
          <a:xfrm>
            <a:off x="4754880" y="4407408"/>
            <a:ext cx="73152" cy="91"/>
          </a:xfrm>
          <a:prstGeom prst="line">
            <a:avLst/>
          </a:prstGeom>
          <a:noFill/>
          <a:ln w="9525">
            <a:solidFill>
              <a:srgbClr val="B5654A"/>
            </a:solidFill>
            <a:prstDash val="solid"/>
          </a:ln>
        </p:spPr>
      </p:sp>
      <p:sp>
        <p:nvSpPr>
          <p:cNvPr id="93" name="Shape 91"/>
          <p:cNvSpPr/>
          <p:nvPr/>
        </p:nvSpPr>
        <p:spPr>
          <a:xfrm flipH="1">
            <a:off x="3950208" y="4517136"/>
            <a:ext cx="73152" cy="91"/>
          </a:xfrm>
          <a:prstGeom prst="line">
            <a:avLst/>
          </a:prstGeom>
          <a:noFill/>
          <a:ln w="9525">
            <a:solidFill>
              <a:srgbClr val="B5654A"/>
            </a:solidFill>
            <a:prstDash val="solid"/>
          </a:ln>
        </p:spPr>
      </p:sp>
      <p:sp>
        <p:nvSpPr>
          <p:cNvPr id="94" name="Shape 92"/>
          <p:cNvSpPr/>
          <p:nvPr/>
        </p:nvSpPr>
        <p:spPr>
          <a:xfrm>
            <a:off x="4754880" y="4517136"/>
            <a:ext cx="73152" cy="91"/>
          </a:xfrm>
          <a:prstGeom prst="line">
            <a:avLst/>
          </a:prstGeom>
          <a:noFill/>
          <a:ln w="9525">
            <a:solidFill>
              <a:srgbClr val="B5654A"/>
            </a:solidFill>
            <a:prstDash val="solid"/>
          </a:ln>
        </p:spPr>
      </p:sp>
      <p:sp>
        <p:nvSpPr>
          <p:cNvPr id="95" name="Shape 93"/>
          <p:cNvSpPr/>
          <p:nvPr/>
        </p:nvSpPr>
        <p:spPr>
          <a:xfrm flipH="1">
            <a:off x="3950208" y="4626864"/>
            <a:ext cx="73152" cy="91"/>
          </a:xfrm>
          <a:prstGeom prst="line">
            <a:avLst/>
          </a:prstGeom>
          <a:noFill/>
          <a:ln w="9525">
            <a:solidFill>
              <a:srgbClr val="B5654A"/>
            </a:solidFill>
            <a:prstDash val="solid"/>
          </a:ln>
        </p:spPr>
      </p:sp>
      <p:sp>
        <p:nvSpPr>
          <p:cNvPr id="96" name="Shape 94"/>
          <p:cNvSpPr/>
          <p:nvPr/>
        </p:nvSpPr>
        <p:spPr>
          <a:xfrm>
            <a:off x="4754880" y="4626864"/>
            <a:ext cx="73152" cy="91"/>
          </a:xfrm>
          <a:prstGeom prst="line">
            <a:avLst/>
          </a:prstGeom>
          <a:noFill/>
          <a:ln w="9525">
            <a:solidFill>
              <a:srgbClr val="B5654A"/>
            </a:solidFill>
            <a:prstDash val="solid"/>
          </a:ln>
        </p:spPr>
      </p:sp>
      <p:sp>
        <p:nvSpPr>
          <p:cNvPr id="97" name="Shape 95"/>
          <p:cNvSpPr/>
          <p:nvPr/>
        </p:nvSpPr>
        <p:spPr>
          <a:xfrm flipH="1">
            <a:off x="3950208" y="4736592"/>
            <a:ext cx="73152" cy="91"/>
          </a:xfrm>
          <a:prstGeom prst="line">
            <a:avLst/>
          </a:prstGeom>
          <a:noFill/>
          <a:ln w="9525">
            <a:solidFill>
              <a:srgbClr val="B5654A"/>
            </a:solidFill>
            <a:prstDash val="solid"/>
          </a:ln>
        </p:spPr>
      </p:sp>
      <p:sp>
        <p:nvSpPr>
          <p:cNvPr id="98" name="Shape 96"/>
          <p:cNvSpPr/>
          <p:nvPr/>
        </p:nvSpPr>
        <p:spPr>
          <a:xfrm>
            <a:off x="4754880" y="4736592"/>
            <a:ext cx="73152" cy="91"/>
          </a:xfrm>
          <a:prstGeom prst="line">
            <a:avLst/>
          </a:prstGeom>
          <a:noFill/>
          <a:ln w="9525">
            <a:solidFill>
              <a:srgbClr val="B5654A"/>
            </a:solidFill>
            <a:prstDash val="solid"/>
          </a:ln>
        </p:spPr>
      </p:sp>
      <p:sp>
        <p:nvSpPr>
          <p:cNvPr id="99" name="Shape 97"/>
          <p:cNvSpPr/>
          <p:nvPr/>
        </p:nvSpPr>
        <p:spPr>
          <a:xfrm flipV="1">
            <a:off x="4224528" y="2240280"/>
            <a:ext cx="91" cy="2651760"/>
          </a:xfrm>
          <a:prstGeom prst="line">
            <a:avLst/>
          </a:prstGeom>
          <a:noFill/>
          <a:ln w="111252">
            <a:solidFill>
              <a:srgbClr val="D9534F"/>
            </a:solidFill>
            <a:prstDash val="solid"/>
          </a:ln>
        </p:spPr>
      </p:sp>
      <p:sp>
        <p:nvSpPr>
          <p:cNvPr id="100" name="Shape 98"/>
          <p:cNvSpPr/>
          <p:nvPr/>
        </p:nvSpPr>
        <p:spPr>
          <a:xfrm>
            <a:off x="4224528" y="2240280"/>
            <a:ext cx="329184" cy="91"/>
          </a:xfrm>
          <a:prstGeom prst="line">
            <a:avLst/>
          </a:prstGeom>
          <a:noFill/>
          <a:ln w="111252">
            <a:solidFill>
              <a:srgbClr val="D9534F"/>
            </a:solidFill>
            <a:prstDash val="solid"/>
          </a:ln>
        </p:spPr>
      </p:sp>
      <p:sp>
        <p:nvSpPr>
          <p:cNvPr id="101" name="Shape 99"/>
          <p:cNvSpPr/>
          <p:nvPr/>
        </p:nvSpPr>
        <p:spPr>
          <a:xfrm>
            <a:off x="4553712" y="2240280"/>
            <a:ext cx="91" cy="2651760"/>
          </a:xfrm>
          <a:prstGeom prst="line">
            <a:avLst/>
          </a:prstGeom>
          <a:noFill/>
          <a:ln w="111252">
            <a:solidFill>
              <a:srgbClr val="D9534F"/>
            </a:solidFill>
            <a:prstDash val="solid"/>
          </a:ln>
        </p:spPr>
      </p:sp>
      <p:sp>
        <p:nvSpPr>
          <p:cNvPr id="102" name="Shape 100"/>
          <p:cNvSpPr/>
          <p:nvPr/>
        </p:nvSpPr>
        <p:spPr>
          <a:xfrm>
            <a:off x="4168902" y="2184654"/>
            <a:ext cx="111252" cy="111252"/>
          </a:xfrm>
          <a:prstGeom prst="ellipse">
            <a:avLst/>
          </a:prstGeom>
          <a:solidFill>
            <a:srgbClr val="D9534F"/>
          </a:solidFill>
          <a:ln w="12700">
            <a:solidFill>
              <a:srgbClr val="D9534F"/>
            </a:solidFill>
            <a:prstDash val="solid"/>
          </a:ln>
        </p:spPr>
      </p:sp>
      <p:sp>
        <p:nvSpPr>
          <p:cNvPr id="103" name="Shape 101"/>
          <p:cNvSpPr/>
          <p:nvPr/>
        </p:nvSpPr>
        <p:spPr>
          <a:xfrm>
            <a:off x="4498086" y="2184654"/>
            <a:ext cx="111252" cy="111252"/>
          </a:xfrm>
          <a:prstGeom prst="ellipse">
            <a:avLst/>
          </a:prstGeom>
          <a:solidFill>
            <a:srgbClr val="D9534F"/>
          </a:solidFill>
          <a:ln w="12700">
            <a:solidFill>
              <a:srgbClr val="D9534F"/>
            </a:solidFill>
            <a:prstDash val="solid"/>
          </a:ln>
        </p:spPr>
      </p:sp>
      <p:sp>
        <p:nvSpPr>
          <p:cNvPr id="104" name="Shape 102"/>
          <p:cNvSpPr/>
          <p:nvPr/>
        </p:nvSpPr>
        <p:spPr>
          <a:xfrm flipV="1">
            <a:off x="4224528" y="2240280"/>
            <a:ext cx="91" cy="2651760"/>
          </a:xfrm>
          <a:prstGeom prst="line">
            <a:avLst/>
          </a:prstGeom>
          <a:noFill/>
          <a:ln w="73152">
            <a:solidFill>
              <a:srgbClr val="F6C4C4"/>
            </a:solidFill>
            <a:prstDash val="solid"/>
          </a:ln>
        </p:spPr>
      </p:sp>
      <p:sp>
        <p:nvSpPr>
          <p:cNvPr id="105" name="Shape 103"/>
          <p:cNvSpPr/>
          <p:nvPr/>
        </p:nvSpPr>
        <p:spPr>
          <a:xfrm>
            <a:off x="4224528" y="2240280"/>
            <a:ext cx="329184" cy="91"/>
          </a:xfrm>
          <a:prstGeom prst="line">
            <a:avLst/>
          </a:prstGeom>
          <a:noFill/>
          <a:ln w="73152">
            <a:solidFill>
              <a:srgbClr val="F6C4C4"/>
            </a:solidFill>
            <a:prstDash val="solid"/>
          </a:ln>
        </p:spPr>
      </p:sp>
      <p:sp>
        <p:nvSpPr>
          <p:cNvPr id="106" name="Shape 104"/>
          <p:cNvSpPr/>
          <p:nvPr/>
        </p:nvSpPr>
        <p:spPr>
          <a:xfrm>
            <a:off x="4553712" y="2240280"/>
            <a:ext cx="91" cy="2651760"/>
          </a:xfrm>
          <a:prstGeom prst="line">
            <a:avLst/>
          </a:prstGeom>
          <a:noFill/>
          <a:ln w="73152">
            <a:solidFill>
              <a:srgbClr val="F6C4C4"/>
            </a:solidFill>
            <a:prstDash val="solid"/>
          </a:ln>
        </p:spPr>
      </p:sp>
      <p:sp>
        <p:nvSpPr>
          <p:cNvPr id="107" name="Shape 105"/>
          <p:cNvSpPr/>
          <p:nvPr/>
        </p:nvSpPr>
        <p:spPr>
          <a:xfrm>
            <a:off x="4187952" y="2203704"/>
            <a:ext cx="73152" cy="73152"/>
          </a:xfrm>
          <a:prstGeom prst="ellipse">
            <a:avLst/>
          </a:prstGeom>
          <a:solidFill>
            <a:srgbClr val="F6C4C4"/>
          </a:solidFill>
          <a:ln w="12700">
            <a:solidFill>
              <a:srgbClr val="F6C4C4"/>
            </a:solidFill>
            <a:prstDash val="solid"/>
          </a:ln>
        </p:spPr>
      </p:sp>
      <p:sp>
        <p:nvSpPr>
          <p:cNvPr id="108" name="Shape 106"/>
          <p:cNvSpPr/>
          <p:nvPr/>
        </p:nvSpPr>
        <p:spPr>
          <a:xfrm>
            <a:off x="4517136" y="2203704"/>
            <a:ext cx="73152" cy="73152"/>
          </a:xfrm>
          <a:prstGeom prst="ellipse">
            <a:avLst/>
          </a:prstGeom>
          <a:solidFill>
            <a:srgbClr val="F6C4C4"/>
          </a:solidFill>
          <a:ln w="12700">
            <a:solidFill>
              <a:srgbClr val="F6C4C4"/>
            </a:solidFill>
            <a:prstDash val="solid"/>
          </a:ln>
        </p:spPr>
      </p:sp>
      <p:sp>
        <p:nvSpPr>
          <p:cNvPr id="109" name="Shape 107"/>
          <p:cNvSpPr/>
          <p:nvPr/>
        </p:nvSpPr>
        <p:spPr>
          <a:xfrm>
            <a:off x="4553712" y="2377440"/>
            <a:ext cx="91" cy="2468880"/>
          </a:xfrm>
          <a:prstGeom prst="line">
            <a:avLst/>
          </a:prstGeom>
          <a:noFill/>
          <a:ln w="31750">
            <a:solidFill>
              <a:srgbClr val="4F7FC9"/>
            </a:solidFill>
            <a:prstDash val="solid"/>
          </a:ln>
        </p:spPr>
      </p:sp>
      <p:sp>
        <p:nvSpPr>
          <p:cNvPr id="110" name="Shape 108"/>
          <p:cNvSpPr/>
          <p:nvPr/>
        </p:nvSpPr>
        <p:spPr>
          <a:xfrm>
            <a:off x="4736592" y="2514600"/>
            <a:ext cx="182880" cy="91"/>
          </a:xfrm>
          <a:prstGeom prst="line">
            <a:avLst/>
          </a:prstGeom>
          <a:noFill/>
          <a:ln w="9525">
            <a:solidFill>
              <a:srgbClr val="133536"/>
            </a:solidFill>
            <a:prstDash val="solid"/>
          </a:ln>
        </p:spPr>
      </p:sp>
      <p:sp>
        <p:nvSpPr>
          <p:cNvPr id="111" name="Text 109"/>
          <p:cNvSpPr/>
          <p:nvPr/>
        </p:nvSpPr>
        <p:spPr>
          <a:xfrm>
            <a:off x="4956048" y="2308860"/>
            <a:ext cx="868680" cy="41148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one layer</a:t>
            </a:r>
            <a:r>
              <a:rPr lang="en-US" sz="1000" dirty="0">
                <a:solidFill>
                  <a:srgbClr val="262B3A"/>
                </a:solidFill>
                <a:latin typeface="Calibri" pitchFamily="34" charset="0"/>
                <a:ea typeface="Calibri" pitchFamily="34" charset="-122"/>
                <a:cs typeface="Calibri" pitchFamily="34" charset="-120"/>
              </a:rPr>
              <a:t> of cells</a:t>
            </a:r>
            <a:endParaRPr lang="en-US" sz="1000" dirty="0"/>
          </a:p>
        </p:txBody>
      </p:sp>
      <p:sp>
        <p:nvSpPr>
          <p:cNvPr id="112" name="Shape 110"/>
          <p:cNvSpPr/>
          <p:nvPr/>
        </p:nvSpPr>
        <p:spPr>
          <a:xfrm>
            <a:off x="4809744" y="3246120"/>
            <a:ext cx="109728" cy="91"/>
          </a:xfrm>
          <a:prstGeom prst="line">
            <a:avLst/>
          </a:prstGeom>
          <a:noFill/>
          <a:ln w="9525">
            <a:solidFill>
              <a:srgbClr val="133536"/>
            </a:solidFill>
            <a:prstDash val="solid"/>
          </a:ln>
        </p:spPr>
      </p:sp>
      <p:sp>
        <p:nvSpPr>
          <p:cNvPr id="113" name="Text 111"/>
          <p:cNvSpPr/>
          <p:nvPr/>
        </p:nvSpPr>
        <p:spPr>
          <a:xfrm>
            <a:off x="4956048" y="3118104"/>
            <a:ext cx="86868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microvilli</a:t>
            </a:r>
            <a:endParaRPr lang="en-US" sz="1000" dirty="0"/>
          </a:p>
        </p:txBody>
      </p:sp>
      <p:sp>
        <p:nvSpPr>
          <p:cNvPr id="114" name="Shape 112"/>
          <p:cNvSpPr/>
          <p:nvPr/>
        </p:nvSpPr>
        <p:spPr>
          <a:xfrm>
            <a:off x="4553712" y="3886200"/>
            <a:ext cx="365760" cy="91"/>
          </a:xfrm>
          <a:prstGeom prst="line">
            <a:avLst/>
          </a:prstGeom>
          <a:noFill/>
          <a:ln w="9525">
            <a:solidFill>
              <a:srgbClr val="133536"/>
            </a:solidFill>
            <a:prstDash val="solid"/>
          </a:ln>
        </p:spPr>
      </p:sp>
      <p:sp>
        <p:nvSpPr>
          <p:cNvPr id="115" name="Text 113"/>
          <p:cNvSpPr/>
          <p:nvPr/>
        </p:nvSpPr>
        <p:spPr>
          <a:xfrm>
            <a:off x="4956048" y="3680460"/>
            <a:ext cx="868680" cy="41148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capillary</a:t>
            </a:r>
            <a:r>
              <a:rPr lang="en-US" sz="1000" dirty="0">
                <a:solidFill>
                  <a:srgbClr val="262B3A"/>
                </a:solidFill>
                <a:latin typeface="Calibri" pitchFamily="34" charset="0"/>
                <a:ea typeface="Calibri" pitchFamily="34" charset="-122"/>
                <a:cs typeface="Calibri" pitchFamily="34" charset="-120"/>
              </a:rPr>
              <a:t> network</a:t>
            </a:r>
            <a:endParaRPr lang="en-US" sz="1000" dirty="0"/>
          </a:p>
        </p:txBody>
      </p:sp>
      <p:sp>
        <p:nvSpPr>
          <p:cNvPr id="116" name="Shape 114"/>
          <p:cNvSpPr/>
          <p:nvPr/>
        </p:nvSpPr>
        <p:spPr>
          <a:xfrm flipH="1">
            <a:off x="4846320" y="4572000"/>
            <a:ext cx="685800" cy="91"/>
          </a:xfrm>
          <a:prstGeom prst="line">
            <a:avLst/>
          </a:prstGeom>
          <a:noFill/>
          <a:ln w="22225">
            <a:solidFill>
              <a:srgbClr val="B8730A"/>
            </a:solidFill>
            <a:prstDash val="solid"/>
            <a:tailEnd type="triangle"/>
          </a:ln>
        </p:spPr>
      </p:sp>
      <p:sp>
        <p:nvSpPr>
          <p:cNvPr id="117" name="Text 115"/>
          <p:cNvSpPr/>
          <p:nvPr/>
        </p:nvSpPr>
        <p:spPr>
          <a:xfrm>
            <a:off x="4919472" y="4645152"/>
            <a:ext cx="868680" cy="237744"/>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glucose in</a:t>
            </a:r>
            <a:endParaRPr lang="en-US" sz="1000" dirty="0"/>
          </a:p>
        </p:txBody>
      </p:sp>
      <p:sp>
        <p:nvSpPr>
          <p:cNvPr id="118" name="Shape 116"/>
          <p:cNvSpPr/>
          <p:nvPr/>
        </p:nvSpPr>
        <p:spPr>
          <a:xfrm>
            <a:off x="6217920" y="1188720"/>
            <a:ext cx="5562295" cy="2697480"/>
          </a:xfrm>
          <a:prstGeom prst="roundRect">
            <a:avLst>
              <a:gd name="adj" fmla="val 2034"/>
            </a:avLst>
          </a:prstGeom>
          <a:solidFill>
            <a:srgbClr val="F4FAF9"/>
          </a:solidFill>
          <a:ln w="9525">
            <a:solidFill>
              <a:srgbClr val="CFE0DE"/>
            </a:solidFill>
            <a:prstDash val="solid"/>
          </a:ln>
        </p:spPr>
      </p:sp>
      <p:sp>
        <p:nvSpPr>
          <p:cNvPr id="119" name="Text 11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villi are adapted</a:t>
            </a:r>
            <a:endParaRPr lang="en-US" sz="1300" dirty="0"/>
          </a:p>
        </p:txBody>
      </p:sp>
      <p:sp>
        <p:nvSpPr>
          <p:cNvPr id="120" name="Text 118"/>
          <p:cNvSpPr/>
          <p:nvPr/>
        </p:nvSpPr>
        <p:spPr>
          <a:xfrm>
            <a:off x="6382512" y="1609344"/>
            <a:ext cx="5233111"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Digestion breaks food into </a:t>
            </a:r>
            <a:r>
              <a:rPr lang="en-US" sz="1100" b="1" dirty="0">
                <a:solidFill>
                  <a:srgbClr val="262B3A"/>
                </a:solidFill>
                <a:latin typeface="Calibri" pitchFamily="34" charset="0"/>
                <a:ea typeface="Calibri" pitchFamily="34" charset="-122"/>
                <a:cs typeface="Calibri" pitchFamily="34" charset="-120"/>
              </a:rPr>
              <a:t>small, soluble</a:t>
            </a:r>
            <a:r>
              <a:rPr lang="en-US" sz="1100" dirty="0">
                <a:solidFill>
                  <a:srgbClr val="262B3A"/>
                </a:solidFill>
                <a:latin typeface="Calibri" pitchFamily="34" charset="0"/>
                <a:ea typeface="Calibri" pitchFamily="34" charset="-122"/>
                <a:cs typeface="Calibri" pitchFamily="34" charset="-120"/>
              </a:rPr>
              <a:t> molecules, e.g. </a:t>
            </a:r>
            <a:r>
              <a:rPr lang="en-US" sz="1100" b="1" dirty="0">
                <a:solidFill>
                  <a:srgbClr val="262B3A"/>
                </a:solidFill>
                <a:latin typeface="Calibri" pitchFamily="34" charset="0"/>
                <a:ea typeface="Calibri" pitchFamily="34" charset="-122"/>
                <a:cs typeface="Calibri" pitchFamily="34" charset="-120"/>
              </a:rPr>
              <a:t>glucose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amino acids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They are absorbed into the blood through the wall of the </a:t>
            </a:r>
            <a:r>
              <a:rPr lang="en-US" sz="1100" b="1" dirty="0">
                <a:solidFill>
                  <a:srgbClr val="262B3A"/>
                </a:solidFill>
                <a:latin typeface="Calibri" pitchFamily="34" charset="0"/>
                <a:ea typeface="Calibri" pitchFamily="34" charset="-122"/>
                <a:cs typeface="Calibri" pitchFamily="34" charset="-120"/>
              </a:rPr>
              <a:t>small intestine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Millions of </a:t>
            </a:r>
            <a:r>
              <a:rPr lang="en-US" sz="1100" b="1" dirty="0">
                <a:solidFill>
                  <a:srgbClr val="262B3A"/>
                </a:solidFill>
                <a:latin typeface="Calibri" pitchFamily="34" charset="0"/>
                <a:ea typeface="Calibri" pitchFamily="34" charset="-122"/>
                <a:cs typeface="Calibri" pitchFamily="34" charset="-120"/>
              </a:rPr>
              <a:t>villi</a:t>
            </a:r>
            <a:r>
              <a:rPr lang="en-US" sz="1100" dirty="0">
                <a:solidFill>
                  <a:srgbClr val="262B3A"/>
                </a:solidFill>
                <a:latin typeface="Calibri" pitchFamily="34" charset="0"/>
                <a:ea typeface="Calibri" pitchFamily="34" charset="-122"/>
                <a:cs typeface="Calibri" pitchFamily="34" charset="-120"/>
              </a:rPr>
              <a:t> (with </a:t>
            </a:r>
            <a:r>
              <a:rPr lang="en-US" sz="1100" b="1" dirty="0">
                <a:solidFill>
                  <a:srgbClr val="262B3A"/>
                </a:solidFill>
                <a:latin typeface="Calibri" pitchFamily="34" charset="0"/>
                <a:ea typeface="Calibri" pitchFamily="34" charset="-122"/>
                <a:cs typeface="Calibri" pitchFamily="34" charset="-120"/>
              </a:rPr>
              <a:t>microvilli</a:t>
            </a:r>
            <a:r>
              <a:rPr lang="en-US" sz="1100" dirty="0">
                <a:solidFill>
                  <a:srgbClr val="262B3A"/>
                </a:solidFill>
                <a:latin typeface="Calibri" pitchFamily="34" charset="0"/>
                <a:ea typeface="Calibri" pitchFamily="34" charset="-122"/>
                <a:cs typeface="Calibri" pitchFamily="34" charset="-120"/>
              </a:rPr>
              <a:t>) give a </a:t>
            </a:r>
            <a:r>
              <a:rPr lang="en-US" sz="1100" b="1" dirty="0">
                <a:solidFill>
                  <a:srgbClr val="262B3A"/>
                </a:solidFill>
                <a:latin typeface="Calibri" pitchFamily="34" charset="0"/>
                <a:ea typeface="Calibri" pitchFamily="34" charset="-122"/>
                <a:cs typeface="Calibri" pitchFamily="34" charset="-120"/>
              </a:rPr>
              <a:t>huge surface area</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Wall </a:t>
            </a:r>
            <a:r>
              <a:rPr lang="en-US" sz="1100" b="1" dirty="0">
                <a:solidFill>
                  <a:srgbClr val="262B3A"/>
                </a:solidFill>
                <a:latin typeface="Calibri" pitchFamily="34" charset="0"/>
                <a:ea typeface="Calibri" pitchFamily="34" charset="-122"/>
                <a:cs typeface="Calibri" pitchFamily="34" charset="-120"/>
              </a:rPr>
              <a:t>one cell thick</a:t>
            </a:r>
            <a:r>
              <a:rPr lang="en-US" sz="1100" dirty="0">
                <a:solidFill>
                  <a:srgbClr val="262B3A"/>
                </a:solidFill>
                <a:latin typeface="Calibri" pitchFamily="34" charset="0"/>
                <a:ea typeface="Calibri" pitchFamily="34" charset="-122"/>
                <a:cs typeface="Calibri" pitchFamily="34" charset="-120"/>
              </a:rPr>
              <a:t>: short distance. </a:t>
            </a:r>
            <a:r>
              <a:rPr lang="en-US" sz="1100" b="1" dirty="0">
                <a:solidFill>
                  <a:srgbClr val="262B3A"/>
                </a:solidFill>
                <a:latin typeface="Calibri" pitchFamily="34" charset="0"/>
                <a:ea typeface="Calibri" pitchFamily="34" charset="-122"/>
                <a:cs typeface="Calibri" pitchFamily="34" charset="-120"/>
              </a:rPr>
              <a:t>Capillary network</a:t>
            </a:r>
            <a:r>
              <a:rPr lang="en-US" sz="1100" dirty="0">
                <a:solidFill>
                  <a:srgbClr val="262B3A"/>
                </a:solidFill>
                <a:latin typeface="Calibri" pitchFamily="34" charset="0"/>
                <a:ea typeface="Calibri" pitchFamily="34" charset="-122"/>
                <a:cs typeface="Calibri" pitchFamily="34" charset="-120"/>
              </a:rPr>
              <a:t>: blood carries molecules away, keeping a steep gradient.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Absorption is by </a:t>
            </a:r>
            <a:r>
              <a:rPr lang="en-US" sz="1100" b="1" dirty="0">
                <a:solidFill>
                  <a:srgbClr val="262B3A"/>
                </a:solidFill>
                <a:latin typeface="Calibri" pitchFamily="34" charset="0"/>
                <a:ea typeface="Calibri" pitchFamily="34" charset="-122"/>
                <a:cs typeface="Calibri" pitchFamily="34" charset="-120"/>
              </a:rPr>
              <a:t>diffusion</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active transport</a:t>
            </a:r>
            <a:r>
              <a:rPr lang="en-US" sz="1100" dirty="0">
                <a:solidFill>
                  <a:srgbClr val="262B3A"/>
                </a:solidFill>
                <a:latin typeface="Calibri" pitchFamily="34" charset="0"/>
                <a:ea typeface="Calibri" pitchFamily="34" charset="-122"/>
                <a:cs typeface="Calibri" pitchFamily="34" charset="-120"/>
              </a:rPr>
              <a:t> (B3 recap).</a:t>
            </a:r>
            <a:endParaRPr lang="en-US" sz="1100" dirty="0"/>
          </a:p>
        </p:txBody>
      </p:sp>
      <p:sp>
        <p:nvSpPr>
          <p:cNvPr id="121" name="Shape 119"/>
          <p:cNvSpPr/>
          <p:nvPr/>
        </p:nvSpPr>
        <p:spPr>
          <a:xfrm>
            <a:off x="6217920" y="4023360"/>
            <a:ext cx="5562295" cy="1691640"/>
          </a:xfrm>
          <a:prstGeom prst="roundRect">
            <a:avLst>
              <a:gd name="adj" fmla="val 3243"/>
            </a:avLst>
          </a:prstGeom>
          <a:solidFill>
            <a:srgbClr val="FFF4E0"/>
          </a:solidFill>
          <a:ln w="9525">
            <a:solidFill>
              <a:srgbClr val="F1D9A8"/>
            </a:solidFill>
            <a:prstDash val="solid"/>
          </a:ln>
        </p:spPr>
      </p:sp>
      <p:sp>
        <p:nvSpPr>
          <p:cNvPr id="122" name="Text 120"/>
          <p:cNvSpPr/>
          <p:nvPr/>
        </p:nvSpPr>
        <p:spPr>
          <a:xfrm>
            <a:off x="6382512" y="40965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much area?</a:t>
            </a:r>
            <a:endParaRPr lang="en-US" sz="1300" dirty="0"/>
          </a:p>
        </p:txBody>
      </p:sp>
      <p:sp>
        <p:nvSpPr>
          <p:cNvPr id="123" name="Text 121"/>
          <p:cNvSpPr/>
          <p:nvPr/>
        </p:nvSpPr>
        <p:spPr>
          <a:xfrm>
            <a:off x="6382512" y="4407408"/>
            <a:ext cx="5233111"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Model a villus as a cylinder 1 mm tall and 0.1 mm across. Compare its side area with the flat base it stands 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Side   </a:t>
            </a:r>
            <a:r>
              <a:rPr lang="en-US" sz="1050" dirty="0">
                <a:solidFill>
                  <a:srgbClr val="262B3A"/>
                </a:solidFill>
                <a:latin typeface="Calibri" pitchFamily="34" charset="0"/>
                <a:ea typeface="Calibri" pitchFamily="34" charset="-122"/>
                <a:cs typeface="Calibri" pitchFamily="34" charset="-120"/>
              </a:rPr>
              <a:t>π × d × h = π × 0.1 × 1 = 0.31 mm²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Base   </a:t>
            </a:r>
            <a:r>
              <a:rPr lang="en-US" sz="1050" dirty="0">
                <a:solidFill>
                  <a:srgbClr val="262B3A"/>
                </a:solidFill>
                <a:latin typeface="Calibri" pitchFamily="34" charset="0"/>
                <a:ea typeface="Calibri" pitchFamily="34" charset="-122"/>
                <a:cs typeface="Calibri" pitchFamily="34" charset="-120"/>
              </a:rPr>
              <a:t>π × r² = π × 0.05² = 0.0079 mm²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0.31 ÷ 0.0079: about 40 times more area</a:t>
            </a:r>
            <a:endParaRPr lang="en-US" sz="1050" dirty="0"/>
          </a:p>
        </p:txBody>
      </p:sp>
      <p:sp>
        <p:nvSpPr>
          <p:cNvPr id="124" name="Shape 122"/>
          <p:cNvSpPr/>
          <p:nvPr/>
        </p:nvSpPr>
        <p:spPr>
          <a:xfrm>
            <a:off x="411480" y="5833872"/>
            <a:ext cx="11368735" cy="530352"/>
          </a:xfrm>
          <a:prstGeom prst="rect">
            <a:avLst/>
          </a:prstGeom>
          <a:solidFill>
            <a:srgbClr val="FFF4E0"/>
          </a:solidFill>
          <a:ln w="6350">
            <a:solidFill>
              <a:srgbClr val="F1D9A8"/>
            </a:solidFill>
            <a:prstDash val="solid"/>
          </a:ln>
        </p:spPr>
      </p:sp>
      <p:sp>
        <p:nvSpPr>
          <p:cNvPr id="125" name="Shape 123"/>
          <p:cNvSpPr/>
          <p:nvPr/>
        </p:nvSpPr>
        <p:spPr>
          <a:xfrm>
            <a:off x="411480" y="5833872"/>
            <a:ext cx="82296" cy="530352"/>
          </a:xfrm>
          <a:prstGeom prst="rect">
            <a:avLst/>
          </a:prstGeom>
          <a:solidFill>
            <a:srgbClr val="E39A2F"/>
          </a:solidFill>
          <a:ln w="12700">
            <a:solidFill>
              <a:srgbClr val="E39A2F"/>
            </a:solidFill>
            <a:prstDash val="solid"/>
          </a:ln>
        </p:spPr>
      </p:sp>
      <p:sp>
        <p:nvSpPr>
          <p:cNvPr id="126" name="Text 1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ways the villi and the alveoli are </a:t>
            </a:r>
            <a:r>
              <a:rPr lang="en-US" sz="1150" b="1" dirty="0">
                <a:solidFill>
                  <a:srgbClr val="262B3A"/>
                </a:solidFill>
                <a:latin typeface="Calibri" pitchFamily="34" charset="0"/>
                <a:ea typeface="Calibri" pitchFamily="34" charset="-122"/>
                <a:cs typeface="Calibri" pitchFamily="34" charset="-120"/>
              </a:rPr>
              <a:t>similar</a:t>
            </a:r>
            <a:r>
              <a:rPr lang="en-US" sz="1150" dirty="0">
                <a:solidFill>
                  <a:srgbClr val="262B3A"/>
                </a:solidFill>
                <a:latin typeface="Calibri" pitchFamily="34" charset="0"/>
                <a:ea typeface="Calibri" pitchFamily="34" charset="-122"/>
                <a:cs typeface="Calibri" pitchFamily="34" charset="-120"/>
              </a:rPr>
              <a:t> as exchange surfaces.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 B5.1.3 • alveoli and villi</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tiny air sacs in the lungs where gas exchange happens.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ways the alveoli are adapted for efficient gas exchange.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dissolved food molecules absorbed by the villi.</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good </a:t>
            </a:r>
            <a:r>
              <a:rPr lang="en-US" sz="1250" b="1" dirty="0">
                <a:solidFill>
                  <a:srgbClr val="262B3A"/>
                </a:solidFill>
                <a:latin typeface="Calibri" pitchFamily="34" charset="0"/>
                <a:ea typeface="Calibri" pitchFamily="34" charset="-122"/>
                <a:cs typeface="Calibri" pitchFamily="34" charset="-120"/>
              </a:rPr>
              <a:t>blood supply</a:t>
            </a:r>
            <a:r>
              <a:rPr lang="en-US" sz="1250" dirty="0">
                <a:solidFill>
                  <a:srgbClr val="262B3A"/>
                </a:solidFill>
                <a:latin typeface="Calibri" pitchFamily="34" charset="0"/>
                <a:ea typeface="Calibri" pitchFamily="34" charset="-122"/>
                <a:cs typeface="Calibri" pitchFamily="34" charset="-120"/>
              </a:rPr>
              <a:t> to the villi increases the rate of absorption.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double circulatory system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B5.1.3 • blood passes through the heart twice in every circuit of the body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B5.1.3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heart drawn from the front: the person's right side is on your left</a:t>
            </a:r>
            <a:endParaRPr lang="en-US" sz="1000" dirty="0"/>
          </a:p>
        </p:txBody>
      </p:sp>
      <p:sp>
        <p:nvSpPr>
          <p:cNvPr id="10" name="Shape 8"/>
          <p:cNvSpPr/>
          <p:nvPr/>
        </p:nvSpPr>
        <p:spPr>
          <a:xfrm>
            <a:off x="2103120" y="1371600"/>
            <a:ext cx="2377440" cy="685800"/>
          </a:xfrm>
          <a:prstGeom prst="roundRect">
            <a:avLst>
              <a:gd name="adj" fmla="val 16000"/>
            </a:avLst>
          </a:prstGeom>
          <a:solidFill>
            <a:srgbClr val="F8D7DA"/>
          </a:solidFill>
          <a:ln w="15875">
            <a:solidFill>
              <a:srgbClr val="C77C86"/>
            </a:solidFill>
            <a:prstDash val="solid"/>
          </a:ln>
        </p:spPr>
      </p:sp>
      <p:sp>
        <p:nvSpPr>
          <p:cNvPr id="11" name="Text 9"/>
          <p:cNvSpPr/>
          <p:nvPr/>
        </p:nvSpPr>
        <p:spPr>
          <a:xfrm>
            <a:off x="2103120" y="1371600"/>
            <a:ext cx="2377440" cy="6858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lungs</a:t>
            </a:r>
            <a:r>
              <a:rPr lang="en-US" sz="1000" dirty="0">
                <a:solidFill>
                  <a:srgbClr val="262B3A"/>
                </a:solidFill>
                <a:latin typeface="Calibri" pitchFamily="34" charset="0"/>
                <a:ea typeface="Calibri" pitchFamily="34" charset="-122"/>
                <a:cs typeface="Calibri" pitchFamily="34" charset="-120"/>
              </a:rPr>
              <a:t> (gas exchange system)</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O₂ in • CO₂ out</a:t>
            </a:r>
            <a:endParaRPr lang="en-US" sz="1000" dirty="0"/>
          </a:p>
        </p:txBody>
      </p:sp>
      <p:sp>
        <p:nvSpPr>
          <p:cNvPr id="12" name="Shape 10"/>
          <p:cNvSpPr/>
          <p:nvPr/>
        </p:nvSpPr>
        <p:spPr>
          <a:xfrm>
            <a:off x="2377440" y="2926080"/>
            <a:ext cx="640080" cy="457200"/>
          </a:xfrm>
          <a:prstGeom prst="rect">
            <a:avLst/>
          </a:prstGeom>
          <a:solidFill>
            <a:srgbClr val="C3D6F2"/>
          </a:solidFill>
          <a:ln w="12700">
            <a:solidFill>
              <a:srgbClr val="1F4E8C"/>
            </a:solidFill>
            <a:prstDash val="solid"/>
          </a:ln>
        </p:spPr>
      </p:sp>
      <p:sp>
        <p:nvSpPr>
          <p:cNvPr id="13" name="Text 11"/>
          <p:cNvSpPr/>
          <p:nvPr/>
        </p:nvSpPr>
        <p:spPr>
          <a:xfrm>
            <a:off x="2377440" y="2926080"/>
            <a:ext cx="640080" cy="457200"/>
          </a:xfrm>
          <a:prstGeom prst="rect">
            <a:avLst/>
          </a:prstGeom>
          <a:noFill/>
          <a:ln/>
        </p:spPr>
        <p:txBody>
          <a:bodyPr wrap="square" lIns="0" tIns="0" rIns="0" bIns="0" rtlCol="0" anchor="ctr"/>
          <a:lstStyle/>
          <a:p>
            <a:pPr algn="ctr" indent="0" marL="0">
              <a:buNone/>
            </a:pPr>
            <a:r>
              <a:rPr lang="en-US" sz="1050" b="1" dirty="0">
                <a:solidFill>
                  <a:srgbClr val="1F4E8C"/>
                </a:solidFill>
                <a:latin typeface="Calibri" pitchFamily="34" charset="0"/>
                <a:ea typeface="Calibri" pitchFamily="34" charset="-122"/>
                <a:cs typeface="Calibri" pitchFamily="34" charset="-120"/>
              </a:rPr>
              <a:t>RA</a:t>
            </a:r>
            <a:endParaRPr lang="en-US" sz="1050" dirty="0"/>
          </a:p>
        </p:txBody>
      </p:sp>
      <p:sp>
        <p:nvSpPr>
          <p:cNvPr id="14" name="Shape 12"/>
          <p:cNvSpPr/>
          <p:nvPr/>
        </p:nvSpPr>
        <p:spPr>
          <a:xfrm>
            <a:off x="3383280" y="2926080"/>
            <a:ext cx="640080" cy="457200"/>
          </a:xfrm>
          <a:prstGeom prst="rect">
            <a:avLst/>
          </a:prstGeom>
          <a:solidFill>
            <a:srgbClr val="F6C4C4"/>
          </a:solidFill>
          <a:ln w="12700">
            <a:solidFill>
              <a:srgbClr val="8E2A33"/>
            </a:solidFill>
            <a:prstDash val="solid"/>
          </a:ln>
        </p:spPr>
      </p:sp>
      <p:sp>
        <p:nvSpPr>
          <p:cNvPr id="15" name="Text 13"/>
          <p:cNvSpPr/>
          <p:nvPr/>
        </p:nvSpPr>
        <p:spPr>
          <a:xfrm>
            <a:off x="3383280" y="2926080"/>
            <a:ext cx="640080" cy="457200"/>
          </a:xfrm>
          <a:prstGeom prst="rect">
            <a:avLst/>
          </a:prstGeom>
          <a:noFill/>
          <a:ln/>
        </p:spPr>
        <p:txBody>
          <a:bodyPr wrap="square" lIns="0" tIns="0" rIns="0" bIns="0" rtlCol="0" anchor="ctr"/>
          <a:lstStyle/>
          <a:p>
            <a:pPr algn="ctr" indent="0" marL="0">
              <a:buNone/>
            </a:pPr>
            <a:r>
              <a:rPr lang="en-US" sz="1050" b="1" dirty="0">
                <a:solidFill>
                  <a:srgbClr val="8E2A33"/>
                </a:solidFill>
                <a:latin typeface="Calibri" pitchFamily="34" charset="0"/>
                <a:ea typeface="Calibri" pitchFamily="34" charset="-122"/>
                <a:cs typeface="Calibri" pitchFamily="34" charset="-120"/>
              </a:rPr>
              <a:t>LA</a:t>
            </a:r>
            <a:endParaRPr lang="en-US" sz="1050" dirty="0"/>
          </a:p>
        </p:txBody>
      </p:sp>
      <p:sp>
        <p:nvSpPr>
          <p:cNvPr id="16" name="Shape 14"/>
          <p:cNvSpPr/>
          <p:nvPr/>
        </p:nvSpPr>
        <p:spPr>
          <a:xfrm>
            <a:off x="2377440" y="3429000"/>
            <a:ext cx="868680" cy="594360"/>
          </a:xfrm>
          <a:prstGeom prst="rect">
            <a:avLst/>
          </a:prstGeom>
          <a:solidFill>
            <a:srgbClr val="C3D6F2"/>
          </a:solidFill>
          <a:ln w="12700">
            <a:solidFill>
              <a:srgbClr val="1F4E8C"/>
            </a:solidFill>
            <a:prstDash val="solid"/>
          </a:ln>
        </p:spPr>
      </p:sp>
      <p:sp>
        <p:nvSpPr>
          <p:cNvPr id="17" name="Text 15"/>
          <p:cNvSpPr/>
          <p:nvPr/>
        </p:nvSpPr>
        <p:spPr>
          <a:xfrm>
            <a:off x="2377440" y="3429000"/>
            <a:ext cx="777240" cy="594360"/>
          </a:xfrm>
          <a:prstGeom prst="rect">
            <a:avLst/>
          </a:prstGeom>
          <a:noFill/>
          <a:ln/>
        </p:spPr>
        <p:txBody>
          <a:bodyPr wrap="square" lIns="0" tIns="0" rIns="0" bIns="0" rtlCol="0" anchor="ctr"/>
          <a:lstStyle/>
          <a:p>
            <a:pPr algn="ctr" indent="0" marL="0">
              <a:buNone/>
            </a:pPr>
            <a:r>
              <a:rPr lang="en-US" sz="1050" b="1" dirty="0">
                <a:solidFill>
                  <a:srgbClr val="1F4E8C"/>
                </a:solidFill>
                <a:latin typeface="Calibri" pitchFamily="34" charset="0"/>
                <a:ea typeface="Calibri" pitchFamily="34" charset="-122"/>
                <a:cs typeface="Calibri" pitchFamily="34" charset="-120"/>
              </a:rPr>
              <a:t>RV</a:t>
            </a:r>
            <a:endParaRPr lang="en-US" sz="1050" dirty="0"/>
          </a:p>
        </p:txBody>
      </p:sp>
      <p:sp>
        <p:nvSpPr>
          <p:cNvPr id="18" name="Shape 16"/>
          <p:cNvSpPr/>
          <p:nvPr/>
        </p:nvSpPr>
        <p:spPr>
          <a:xfrm>
            <a:off x="3291840" y="3429000"/>
            <a:ext cx="731520" cy="594360"/>
          </a:xfrm>
          <a:prstGeom prst="rect">
            <a:avLst/>
          </a:prstGeom>
          <a:solidFill>
            <a:srgbClr val="F6C4C4"/>
          </a:solidFill>
          <a:ln w="12700">
            <a:solidFill>
              <a:srgbClr val="8E2A33"/>
            </a:solidFill>
            <a:prstDash val="solid"/>
          </a:ln>
        </p:spPr>
      </p:sp>
      <p:sp>
        <p:nvSpPr>
          <p:cNvPr id="19" name="Text 17"/>
          <p:cNvSpPr/>
          <p:nvPr/>
        </p:nvSpPr>
        <p:spPr>
          <a:xfrm>
            <a:off x="3291840" y="3429000"/>
            <a:ext cx="731520" cy="594360"/>
          </a:xfrm>
          <a:prstGeom prst="rect">
            <a:avLst/>
          </a:prstGeom>
          <a:noFill/>
          <a:ln/>
        </p:spPr>
        <p:txBody>
          <a:bodyPr wrap="square" lIns="0" tIns="0" rIns="0" bIns="0" rtlCol="0" anchor="ctr"/>
          <a:lstStyle/>
          <a:p>
            <a:pPr algn="ctr" indent="0" marL="0">
              <a:buNone/>
            </a:pPr>
            <a:r>
              <a:rPr lang="en-US" sz="1050" b="1" dirty="0">
                <a:solidFill>
                  <a:srgbClr val="8E2A33"/>
                </a:solidFill>
                <a:latin typeface="Calibri" pitchFamily="34" charset="0"/>
                <a:ea typeface="Calibri" pitchFamily="34" charset="-122"/>
                <a:cs typeface="Calibri" pitchFamily="34" charset="-120"/>
              </a:rPr>
              <a:t>LV</a:t>
            </a:r>
            <a:endParaRPr lang="en-US" sz="1050" dirty="0"/>
          </a:p>
        </p:txBody>
      </p:sp>
      <p:sp>
        <p:nvSpPr>
          <p:cNvPr id="20" name="Text 18"/>
          <p:cNvSpPr/>
          <p:nvPr/>
        </p:nvSpPr>
        <p:spPr>
          <a:xfrm>
            <a:off x="2194560" y="4041648"/>
            <a:ext cx="201168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heart</a:t>
            </a:r>
            <a:endParaRPr lang="en-US" sz="1050" dirty="0"/>
          </a:p>
        </p:txBody>
      </p:sp>
      <p:sp>
        <p:nvSpPr>
          <p:cNvPr id="21" name="Shape 19"/>
          <p:cNvSpPr/>
          <p:nvPr/>
        </p:nvSpPr>
        <p:spPr>
          <a:xfrm>
            <a:off x="731520" y="4572000"/>
            <a:ext cx="5029200" cy="749808"/>
          </a:xfrm>
          <a:prstGeom prst="roundRect">
            <a:avLst>
              <a:gd name="adj" fmla="val 12195"/>
            </a:avLst>
          </a:prstGeom>
          <a:solidFill>
            <a:srgbClr val="F3EBDD"/>
          </a:solidFill>
          <a:ln w="15875">
            <a:solidFill>
              <a:srgbClr val="A08F6A"/>
            </a:solidFill>
            <a:prstDash val="solid"/>
          </a:ln>
        </p:spPr>
      </p:sp>
      <p:sp>
        <p:nvSpPr>
          <p:cNvPr id="22" name="Shape 20"/>
          <p:cNvSpPr/>
          <p:nvPr/>
        </p:nvSpPr>
        <p:spPr>
          <a:xfrm>
            <a:off x="1600200" y="4645152"/>
            <a:ext cx="1261872" cy="603504"/>
          </a:xfrm>
          <a:prstGeom prst="roundRect">
            <a:avLst>
              <a:gd name="adj" fmla="val 9091"/>
            </a:avLst>
          </a:prstGeom>
          <a:solidFill>
            <a:srgbClr val="F2D29B"/>
          </a:solidFill>
          <a:ln w="9525">
            <a:solidFill>
              <a:srgbClr val="A08F6A"/>
            </a:solidFill>
            <a:prstDash val="solid"/>
          </a:ln>
        </p:spPr>
      </p:sp>
      <p:sp>
        <p:nvSpPr>
          <p:cNvPr id="23" name="Text 21"/>
          <p:cNvSpPr/>
          <p:nvPr/>
        </p:nvSpPr>
        <p:spPr>
          <a:xfrm>
            <a:off x="1600200" y="4645152"/>
            <a:ext cx="1261872" cy="60350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small intestine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food molecules in</a:t>
            </a:r>
            <a:endParaRPr lang="en-US" sz="1000" dirty="0"/>
          </a:p>
        </p:txBody>
      </p:sp>
      <p:sp>
        <p:nvSpPr>
          <p:cNvPr id="24" name="Shape 22"/>
          <p:cNvSpPr/>
          <p:nvPr/>
        </p:nvSpPr>
        <p:spPr>
          <a:xfrm>
            <a:off x="2944368" y="4645152"/>
            <a:ext cx="1261872" cy="603504"/>
          </a:xfrm>
          <a:prstGeom prst="roundRect">
            <a:avLst>
              <a:gd name="adj" fmla="val 9091"/>
            </a:avLst>
          </a:prstGeom>
          <a:solidFill>
            <a:srgbClr val="E6C2A8"/>
          </a:solidFill>
          <a:ln w="9525">
            <a:solidFill>
              <a:srgbClr val="A08F6A"/>
            </a:solidFill>
            <a:prstDash val="solid"/>
          </a:ln>
        </p:spPr>
      </p:sp>
      <p:sp>
        <p:nvSpPr>
          <p:cNvPr id="25" name="Text 23"/>
          <p:cNvSpPr/>
          <p:nvPr/>
        </p:nvSpPr>
        <p:spPr>
          <a:xfrm>
            <a:off x="2944368" y="4645152"/>
            <a:ext cx="1261872" cy="60350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kidneys</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urea out</a:t>
            </a:r>
            <a:endParaRPr lang="en-US" sz="1000" dirty="0"/>
          </a:p>
        </p:txBody>
      </p:sp>
      <p:sp>
        <p:nvSpPr>
          <p:cNvPr id="26" name="Shape 24"/>
          <p:cNvSpPr/>
          <p:nvPr/>
        </p:nvSpPr>
        <p:spPr>
          <a:xfrm>
            <a:off x="4288536" y="4645152"/>
            <a:ext cx="1261872" cy="603504"/>
          </a:xfrm>
          <a:prstGeom prst="roundRect">
            <a:avLst>
              <a:gd name="adj" fmla="val 9091"/>
            </a:avLst>
          </a:prstGeom>
          <a:solidFill>
            <a:srgbClr val="F4E3D8"/>
          </a:solidFill>
          <a:ln w="9525">
            <a:solidFill>
              <a:srgbClr val="A08F6A"/>
            </a:solidFill>
            <a:prstDash val="solid"/>
          </a:ln>
        </p:spPr>
      </p:sp>
      <p:sp>
        <p:nvSpPr>
          <p:cNvPr id="27" name="Text 25"/>
          <p:cNvSpPr/>
          <p:nvPr/>
        </p:nvSpPr>
        <p:spPr>
          <a:xfrm>
            <a:off x="4288536" y="4645152"/>
            <a:ext cx="1261872" cy="603504"/>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muscles, brain…</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cells use O₂, glucose</a:t>
            </a:r>
            <a:endParaRPr lang="en-US" sz="1000" dirty="0"/>
          </a:p>
        </p:txBody>
      </p:sp>
      <p:sp>
        <p:nvSpPr>
          <p:cNvPr id="28" name="Text 26"/>
          <p:cNvSpPr/>
          <p:nvPr/>
        </p:nvSpPr>
        <p:spPr>
          <a:xfrm>
            <a:off x="749808" y="4572000"/>
            <a:ext cx="868680" cy="74980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body</a:t>
            </a:r>
            <a:endParaRPr lang="en-US" sz="1050" dirty="0"/>
          </a:p>
        </p:txBody>
      </p:sp>
      <p:sp>
        <p:nvSpPr>
          <p:cNvPr id="29" name="Shape 27"/>
          <p:cNvSpPr/>
          <p:nvPr/>
        </p:nvSpPr>
        <p:spPr>
          <a:xfrm flipV="1">
            <a:off x="3127248" y="2029968"/>
            <a:ext cx="91" cy="1426464"/>
          </a:xfrm>
          <a:prstGeom prst="line">
            <a:avLst/>
          </a:prstGeom>
          <a:noFill/>
          <a:ln w="184404">
            <a:solidFill>
              <a:srgbClr val="1F4E8C"/>
            </a:solidFill>
            <a:prstDash val="solid"/>
          </a:ln>
        </p:spPr>
      </p:sp>
      <p:sp>
        <p:nvSpPr>
          <p:cNvPr id="30" name="Shape 28"/>
          <p:cNvSpPr/>
          <p:nvPr/>
        </p:nvSpPr>
        <p:spPr>
          <a:xfrm flipV="1">
            <a:off x="3127248" y="2029968"/>
            <a:ext cx="91" cy="1426464"/>
          </a:xfrm>
          <a:prstGeom prst="line">
            <a:avLst/>
          </a:prstGeom>
          <a:noFill/>
          <a:ln w="146304">
            <a:solidFill>
              <a:srgbClr val="4F7FC9"/>
            </a:solidFill>
            <a:prstDash val="solid"/>
          </a:ln>
        </p:spPr>
      </p:sp>
      <p:sp>
        <p:nvSpPr>
          <p:cNvPr id="31" name="Shape 29"/>
          <p:cNvSpPr/>
          <p:nvPr/>
        </p:nvSpPr>
        <p:spPr>
          <a:xfrm>
            <a:off x="3749040" y="2029968"/>
            <a:ext cx="91" cy="914400"/>
          </a:xfrm>
          <a:prstGeom prst="line">
            <a:avLst/>
          </a:prstGeom>
          <a:noFill/>
          <a:ln w="184404">
            <a:solidFill>
              <a:srgbClr val="8E2A33"/>
            </a:solidFill>
            <a:prstDash val="solid"/>
          </a:ln>
        </p:spPr>
      </p:sp>
      <p:sp>
        <p:nvSpPr>
          <p:cNvPr id="32" name="Shape 30"/>
          <p:cNvSpPr/>
          <p:nvPr/>
        </p:nvSpPr>
        <p:spPr>
          <a:xfrm>
            <a:off x="3749040" y="2029968"/>
            <a:ext cx="91" cy="914400"/>
          </a:xfrm>
          <a:prstGeom prst="line">
            <a:avLst/>
          </a:prstGeom>
          <a:noFill/>
          <a:ln w="146304">
            <a:solidFill>
              <a:srgbClr val="D9534F"/>
            </a:solidFill>
            <a:prstDash val="solid"/>
          </a:ln>
        </p:spPr>
      </p:sp>
      <p:sp>
        <p:nvSpPr>
          <p:cNvPr id="33" name="Shape 31"/>
          <p:cNvSpPr/>
          <p:nvPr/>
        </p:nvSpPr>
        <p:spPr>
          <a:xfrm>
            <a:off x="4005072" y="3703320"/>
            <a:ext cx="1389888" cy="91"/>
          </a:xfrm>
          <a:prstGeom prst="line">
            <a:avLst/>
          </a:prstGeom>
          <a:noFill/>
          <a:ln w="184404">
            <a:solidFill>
              <a:srgbClr val="8E2A33"/>
            </a:solidFill>
            <a:prstDash val="solid"/>
          </a:ln>
        </p:spPr>
      </p:sp>
      <p:sp>
        <p:nvSpPr>
          <p:cNvPr id="34" name="Shape 32"/>
          <p:cNvSpPr/>
          <p:nvPr/>
        </p:nvSpPr>
        <p:spPr>
          <a:xfrm>
            <a:off x="5394960" y="3703320"/>
            <a:ext cx="91" cy="886968"/>
          </a:xfrm>
          <a:prstGeom prst="line">
            <a:avLst/>
          </a:prstGeom>
          <a:noFill/>
          <a:ln w="184404">
            <a:solidFill>
              <a:srgbClr val="8E2A33"/>
            </a:solidFill>
            <a:prstDash val="solid"/>
          </a:ln>
        </p:spPr>
      </p:sp>
      <p:sp>
        <p:nvSpPr>
          <p:cNvPr id="35" name="Shape 33"/>
          <p:cNvSpPr/>
          <p:nvPr/>
        </p:nvSpPr>
        <p:spPr>
          <a:xfrm>
            <a:off x="5302758" y="3611118"/>
            <a:ext cx="184404" cy="184404"/>
          </a:xfrm>
          <a:prstGeom prst="ellipse">
            <a:avLst/>
          </a:prstGeom>
          <a:solidFill>
            <a:srgbClr val="8E2A33"/>
          </a:solidFill>
          <a:ln w="12700">
            <a:solidFill>
              <a:srgbClr val="8E2A33"/>
            </a:solidFill>
            <a:prstDash val="solid"/>
          </a:ln>
        </p:spPr>
      </p:sp>
      <p:sp>
        <p:nvSpPr>
          <p:cNvPr id="36" name="Shape 34"/>
          <p:cNvSpPr/>
          <p:nvPr/>
        </p:nvSpPr>
        <p:spPr>
          <a:xfrm>
            <a:off x="4005072" y="3703320"/>
            <a:ext cx="1389888" cy="91"/>
          </a:xfrm>
          <a:prstGeom prst="line">
            <a:avLst/>
          </a:prstGeom>
          <a:noFill/>
          <a:ln w="146304">
            <a:solidFill>
              <a:srgbClr val="D9534F"/>
            </a:solidFill>
            <a:prstDash val="solid"/>
          </a:ln>
        </p:spPr>
      </p:sp>
      <p:sp>
        <p:nvSpPr>
          <p:cNvPr id="37" name="Shape 35"/>
          <p:cNvSpPr/>
          <p:nvPr/>
        </p:nvSpPr>
        <p:spPr>
          <a:xfrm>
            <a:off x="5394960" y="3703320"/>
            <a:ext cx="91" cy="886968"/>
          </a:xfrm>
          <a:prstGeom prst="line">
            <a:avLst/>
          </a:prstGeom>
          <a:noFill/>
          <a:ln w="146304">
            <a:solidFill>
              <a:srgbClr val="D9534F"/>
            </a:solidFill>
            <a:prstDash val="solid"/>
          </a:ln>
        </p:spPr>
      </p:sp>
      <p:sp>
        <p:nvSpPr>
          <p:cNvPr id="38" name="Shape 36"/>
          <p:cNvSpPr/>
          <p:nvPr/>
        </p:nvSpPr>
        <p:spPr>
          <a:xfrm>
            <a:off x="5321808" y="3630168"/>
            <a:ext cx="146304" cy="146304"/>
          </a:xfrm>
          <a:prstGeom prst="ellipse">
            <a:avLst/>
          </a:prstGeom>
          <a:solidFill>
            <a:srgbClr val="D9534F"/>
          </a:solidFill>
          <a:ln w="12700">
            <a:solidFill>
              <a:srgbClr val="D9534F"/>
            </a:solidFill>
            <a:prstDash val="solid"/>
          </a:ln>
        </p:spPr>
      </p:sp>
      <p:sp>
        <p:nvSpPr>
          <p:cNvPr id="39" name="Shape 37"/>
          <p:cNvSpPr/>
          <p:nvPr/>
        </p:nvSpPr>
        <p:spPr>
          <a:xfrm flipV="1">
            <a:off x="1143000" y="3154680"/>
            <a:ext cx="91" cy="1435608"/>
          </a:xfrm>
          <a:prstGeom prst="line">
            <a:avLst/>
          </a:prstGeom>
          <a:noFill/>
          <a:ln w="184404">
            <a:solidFill>
              <a:srgbClr val="1F4E8C"/>
            </a:solidFill>
            <a:prstDash val="solid"/>
          </a:ln>
        </p:spPr>
      </p:sp>
      <p:sp>
        <p:nvSpPr>
          <p:cNvPr id="40" name="Shape 38"/>
          <p:cNvSpPr/>
          <p:nvPr/>
        </p:nvSpPr>
        <p:spPr>
          <a:xfrm>
            <a:off x="1143000" y="3154680"/>
            <a:ext cx="1252728" cy="91"/>
          </a:xfrm>
          <a:prstGeom prst="line">
            <a:avLst/>
          </a:prstGeom>
          <a:noFill/>
          <a:ln w="184404">
            <a:solidFill>
              <a:srgbClr val="1F4E8C"/>
            </a:solidFill>
            <a:prstDash val="solid"/>
          </a:ln>
        </p:spPr>
      </p:sp>
      <p:sp>
        <p:nvSpPr>
          <p:cNvPr id="41" name="Shape 39"/>
          <p:cNvSpPr/>
          <p:nvPr/>
        </p:nvSpPr>
        <p:spPr>
          <a:xfrm>
            <a:off x="1050798" y="3062478"/>
            <a:ext cx="184404" cy="184404"/>
          </a:xfrm>
          <a:prstGeom prst="ellipse">
            <a:avLst/>
          </a:prstGeom>
          <a:solidFill>
            <a:srgbClr val="1F4E8C"/>
          </a:solidFill>
          <a:ln w="12700">
            <a:solidFill>
              <a:srgbClr val="1F4E8C"/>
            </a:solidFill>
            <a:prstDash val="solid"/>
          </a:ln>
        </p:spPr>
      </p:sp>
      <p:sp>
        <p:nvSpPr>
          <p:cNvPr id="42" name="Shape 40"/>
          <p:cNvSpPr/>
          <p:nvPr/>
        </p:nvSpPr>
        <p:spPr>
          <a:xfrm flipV="1">
            <a:off x="1143000" y="3154680"/>
            <a:ext cx="91" cy="1435608"/>
          </a:xfrm>
          <a:prstGeom prst="line">
            <a:avLst/>
          </a:prstGeom>
          <a:noFill/>
          <a:ln w="146304">
            <a:solidFill>
              <a:srgbClr val="4F7FC9"/>
            </a:solidFill>
            <a:prstDash val="solid"/>
          </a:ln>
        </p:spPr>
      </p:sp>
      <p:sp>
        <p:nvSpPr>
          <p:cNvPr id="43" name="Shape 41"/>
          <p:cNvSpPr/>
          <p:nvPr/>
        </p:nvSpPr>
        <p:spPr>
          <a:xfrm>
            <a:off x="1143000" y="3154680"/>
            <a:ext cx="1252728" cy="91"/>
          </a:xfrm>
          <a:prstGeom prst="line">
            <a:avLst/>
          </a:prstGeom>
          <a:noFill/>
          <a:ln w="146304">
            <a:solidFill>
              <a:srgbClr val="4F7FC9"/>
            </a:solidFill>
            <a:prstDash val="solid"/>
          </a:ln>
        </p:spPr>
      </p:sp>
      <p:sp>
        <p:nvSpPr>
          <p:cNvPr id="44" name="Shape 42"/>
          <p:cNvSpPr/>
          <p:nvPr/>
        </p:nvSpPr>
        <p:spPr>
          <a:xfrm>
            <a:off x="1069848" y="3081528"/>
            <a:ext cx="146304" cy="146304"/>
          </a:xfrm>
          <a:prstGeom prst="ellipse">
            <a:avLst/>
          </a:prstGeom>
          <a:solidFill>
            <a:srgbClr val="4F7FC9"/>
          </a:solidFill>
          <a:ln w="12700">
            <a:solidFill>
              <a:srgbClr val="4F7FC9"/>
            </a:solidFill>
            <a:prstDash val="solid"/>
          </a:ln>
        </p:spPr>
      </p:sp>
      <p:sp>
        <p:nvSpPr>
          <p:cNvPr id="45" name="Shape 43"/>
          <p:cNvSpPr/>
          <p:nvPr/>
        </p:nvSpPr>
        <p:spPr>
          <a:xfrm flipV="1">
            <a:off x="3127248" y="2377440"/>
            <a:ext cx="91" cy="457200"/>
          </a:xfrm>
          <a:prstGeom prst="line">
            <a:avLst/>
          </a:prstGeom>
          <a:noFill/>
          <a:ln w="19050">
            <a:solidFill>
              <a:srgbClr val="FFFFFF"/>
            </a:solidFill>
            <a:prstDash val="solid"/>
            <a:tailEnd type="triangle"/>
          </a:ln>
        </p:spPr>
      </p:sp>
      <p:sp>
        <p:nvSpPr>
          <p:cNvPr id="46" name="Shape 44"/>
          <p:cNvSpPr/>
          <p:nvPr/>
        </p:nvSpPr>
        <p:spPr>
          <a:xfrm>
            <a:off x="3749040" y="2286000"/>
            <a:ext cx="91" cy="457200"/>
          </a:xfrm>
          <a:prstGeom prst="line">
            <a:avLst/>
          </a:prstGeom>
          <a:noFill/>
          <a:ln w="19050">
            <a:solidFill>
              <a:srgbClr val="FFFFFF"/>
            </a:solidFill>
            <a:prstDash val="solid"/>
            <a:tailEnd type="triangle"/>
          </a:ln>
        </p:spPr>
      </p:sp>
      <p:sp>
        <p:nvSpPr>
          <p:cNvPr id="47" name="Shape 45"/>
          <p:cNvSpPr/>
          <p:nvPr/>
        </p:nvSpPr>
        <p:spPr>
          <a:xfrm>
            <a:off x="4526280" y="3703320"/>
            <a:ext cx="502920" cy="91"/>
          </a:xfrm>
          <a:prstGeom prst="line">
            <a:avLst/>
          </a:prstGeom>
          <a:noFill/>
          <a:ln w="19050">
            <a:solidFill>
              <a:srgbClr val="FFFFFF"/>
            </a:solidFill>
            <a:prstDash val="solid"/>
            <a:tailEnd type="triangle"/>
          </a:ln>
        </p:spPr>
      </p:sp>
      <p:sp>
        <p:nvSpPr>
          <p:cNvPr id="48" name="Shape 46"/>
          <p:cNvSpPr/>
          <p:nvPr/>
        </p:nvSpPr>
        <p:spPr>
          <a:xfrm>
            <a:off x="5394960" y="3931920"/>
            <a:ext cx="91" cy="502920"/>
          </a:xfrm>
          <a:prstGeom prst="line">
            <a:avLst/>
          </a:prstGeom>
          <a:noFill/>
          <a:ln w="19050">
            <a:solidFill>
              <a:srgbClr val="FFFFFF"/>
            </a:solidFill>
            <a:prstDash val="solid"/>
            <a:tailEnd type="triangle"/>
          </a:ln>
        </p:spPr>
      </p:sp>
      <p:sp>
        <p:nvSpPr>
          <p:cNvPr id="49" name="Shape 47"/>
          <p:cNvSpPr/>
          <p:nvPr/>
        </p:nvSpPr>
        <p:spPr>
          <a:xfrm flipV="1">
            <a:off x="1143000" y="3657600"/>
            <a:ext cx="91" cy="777240"/>
          </a:xfrm>
          <a:prstGeom prst="line">
            <a:avLst/>
          </a:prstGeom>
          <a:noFill/>
          <a:ln w="19050">
            <a:solidFill>
              <a:srgbClr val="FFFFFF"/>
            </a:solidFill>
            <a:prstDash val="solid"/>
            <a:tailEnd type="triangle"/>
          </a:ln>
        </p:spPr>
      </p:sp>
      <p:sp>
        <p:nvSpPr>
          <p:cNvPr id="50" name="Shape 48"/>
          <p:cNvSpPr/>
          <p:nvPr/>
        </p:nvSpPr>
        <p:spPr>
          <a:xfrm>
            <a:off x="1463040" y="3154680"/>
            <a:ext cx="640080" cy="91"/>
          </a:xfrm>
          <a:prstGeom prst="line">
            <a:avLst/>
          </a:prstGeom>
          <a:noFill/>
          <a:ln w="19050">
            <a:solidFill>
              <a:srgbClr val="FFFFFF"/>
            </a:solidFill>
            <a:prstDash val="solid"/>
            <a:tailEnd type="triangle"/>
          </a:ln>
        </p:spPr>
      </p:sp>
      <p:sp>
        <p:nvSpPr>
          <p:cNvPr id="51" name="Text 49"/>
          <p:cNvSpPr/>
          <p:nvPr/>
        </p:nvSpPr>
        <p:spPr>
          <a:xfrm>
            <a:off x="1463040" y="2423160"/>
            <a:ext cx="1481328" cy="219456"/>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pulmonary artery</a:t>
            </a:r>
            <a:endParaRPr lang="en-US" sz="1000" dirty="0"/>
          </a:p>
        </p:txBody>
      </p:sp>
      <p:sp>
        <p:nvSpPr>
          <p:cNvPr id="52" name="Text 50"/>
          <p:cNvSpPr/>
          <p:nvPr/>
        </p:nvSpPr>
        <p:spPr>
          <a:xfrm>
            <a:off x="3886200" y="2377440"/>
            <a:ext cx="14630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pulmonary vein</a:t>
            </a:r>
            <a:endParaRPr lang="en-US" sz="1000" dirty="0"/>
          </a:p>
        </p:txBody>
      </p:sp>
      <p:sp>
        <p:nvSpPr>
          <p:cNvPr id="53" name="Text 51"/>
          <p:cNvSpPr/>
          <p:nvPr/>
        </p:nvSpPr>
        <p:spPr>
          <a:xfrm>
            <a:off x="4114800" y="3429000"/>
            <a:ext cx="1280160" cy="219456"/>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aorta</a:t>
            </a:r>
            <a:endParaRPr lang="en-US" sz="1000" dirty="0"/>
          </a:p>
        </p:txBody>
      </p:sp>
      <p:sp>
        <p:nvSpPr>
          <p:cNvPr id="54" name="Text 52"/>
          <p:cNvSpPr/>
          <p:nvPr/>
        </p:nvSpPr>
        <p:spPr>
          <a:xfrm>
            <a:off x="502920" y="2743200"/>
            <a:ext cx="1371600" cy="219456"/>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vena cava</a:t>
            </a:r>
            <a:endParaRPr lang="en-US" sz="1000" dirty="0"/>
          </a:p>
        </p:txBody>
      </p:sp>
      <p:sp>
        <p:nvSpPr>
          <p:cNvPr id="55" name="Text 53"/>
          <p:cNvSpPr/>
          <p:nvPr/>
        </p:nvSpPr>
        <p:spPr>
          <a:xfrm>
            <a:off x="4526280" y="1417320"/>
            <a:ext cx="137160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1  lungs circuit</a:t>
            </a:r>
            <a:endParaRPr lang="en-US" sz="1050" dirty="0"/>
          </a:p>
        </p:txBody>
      </p:sp>
      <p:sp>
        <p:nvSpPr>
          <p:cNvPr id="56" name="Text 54"/>
          <p:cNvSpPr/>
          <p:nvPr/>
        </p:nvSpPr>
        <p:spPr>
          <a:xfrm>
            <a:off x="4251960" y="4069080"/>
            <a:ext cx="169164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2  body circuit</a:t>
            </a:r>
            <a:endParaRPr lang="en-US" sz="1050" dirty="0"/>
          </a:p>
        </p:txBody>
      </p:sp>
      <p:sp>
        <p:nvSpPr>
          <p:cNvPr id="57" name="Shape 55"/>
          <p:cNvSpPr/>
          <p:nvPr/>
        </p:nvSpPr>
        <p:spPr>
          <a:xfrm>
            <a:off x="594360" y="1371600"/>
            <a:ext cx="1325880" cy="914400"/>
          </a:xfrm>
          <a:prstGeom prst="rect">
            <a:avLst/>
          </a:prstGeom>
          <a:solidFill>
            <a:srgbClr val="FFFFFF"/>
          </a:solidFill>
          <a:ln w="9525">
            <a:solidFill>
              <a:srgbClr val="CFE0DE"/>
            </a:solidFill>
            <a:prstDash val="solid"/>
          </a:ln>
        </p:spPr>
      </p:sp>
      <p:sp>
        <p:nvSpPr>
          <p:cNvPr id="58" name="Shape 56"/>
          <p:cNvSpPr/>
          <p:nvPr/>
        </p:nvSpPr>
        <p:spPr>
          <a:xfrm>
            <a:off x="685800" y="1481328"/>
            <a:ext cx="201168" cy="128016"/>
          </a:xfrm>
          <a:prstGeom prst="rect">
            <a:avLst/>
          </a:prstGeom>
          <a:solidFill>
            <a:srgbClr val="D9534F"/>
          </a:solidFill>
          <a:ln/>
        </p:spPr>
      </p:sp>
      <p:sp>
        <p:nvSpPr>
          <p:cNvPr id="59" name="Text 57"/>
          <p:cNvSpPr/>
          <p:nvPr/>
        </p:nvSpPr>
        <p:spPr>
          <a:xfrm>
            <a:off x="932688" y="1417320"/>
            <a:ext cx="96012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oxygenated</a:t>
            </a:r>
            <a:endParaRPr lang="en-US" sz="1000" dirty="0"/>
          </a:p>
        </p:txBody>
      </p:sp>
      <p:sp>
        <p:nvSpPr>
          <p:cNvPr id="60" name="Shape 58"/>
          <p:cNvSpPr/>
          <p:nvPr/>
        </p:nvSpPr>
        <p:spPr>
          <a:xfrm>
            <a:off x="685800" y="1810512"/>
            <a:ext cx="201168" cy="128016"/>
          </a:xfrm>
          <a:prstGeom prst="rect">
            <a:avLst/>
          </a:prstGeom>
          <a:solidFill>
            <a:srgbClr val="4F7FC9"/>
          </a:solidFill>
          <a:ln/>
        </p:spPr>
      </p:sp>
      <p:sp>
        <p:nvSpPr>
          <p:cNvPr id="61" name="Text 59"/>
          <p:cNvSpPr/>
          <p:nvPr/>
        </p:nvSpPr>
        <p:spPr>
          <a:xfrm>
            <a:off x="932688" y="1746504"/>
            <a:ext cx="96012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deoxygenated</a:t>
            </a:r>
            <a:endParaRPr lang="en-US" sz="1000" dirty="0"/>
          </a:p>
        </p:txBody>
      </p:sp>
      <p:sp>
        <p:nvSpPr>
          <p:cNvPr id="62" name="Shape 60"/>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63" name="Text 6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circuits, one heart</a:t>
            </a:r>
            <a:endParaRPr lang="en-US" sz="1300" dirty="0"/>
          </a:p>
        </p:txBody>
      </p:sp>
      <p:sp>
        <p:nvSpPr>
          <p:cNvPr id="64" name="Text 62"/>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right</a:t>
            </a:r>
            <a:r>
              <a:rPr lang="en-US" sz="1100" dirty="0">
                <a:solidFill>
                  <a:srgbClr val="262B3A"/>
                </a:solidFill>
                <a:latin typeface="Calibri" pitchFamily="34" charset="0"/>
                <a:ea typeface="Calibri" pitchFamily="34" charset="-122"/>
                <a:cs typeface="Calibri" pitchFamily="34" charset="-120"/>
              </a:rPr>
              <a:t> side of the heart pumps deoxygenated blood to the </a:t>
            </a:r>
            <a:r>
              <a:rPr lang="en-US" sz="1100" b="1" dirty="0">
                <a:solidFill>
                  <a:srgbClr val="262B3A"/>
                </a:solidFill>
                <a:latin typeface="Calibri" pitchFamily="34" charset="0"/>
                <a:ea typeface="Calibri" pitchFamily="34" charset="-122"/>
                <a:cs typeface="Calibri" pitchFamily="34" charset="-120"/>
              </a:rPr>
              <a:t>lungs</a:t>
            </a:r>
            <a:r>
              <a:rPr lang="en-US" sz="1100" dirty="0">
                <a:solidFill>
                  <a:srgbClr val="262B3A"/>
                </a:solidFill>
                <a:latin typeface="Calibri" pitchFamily="34" charset="0"/>
                <a:ea typeface="Calibri" pitchFamily="34" charset="-122"/>
                <a:cs typeface="Calibri" pitchFamily="34" charset="-120"/>
              </a:rPr>
              <a:t>; it returns oxygenated to the </a:t>
            </a:r>
            <a:r>
              <a:rPr lang="en-US" sz="1100" b="1" dirty="0">
                <a:solidFill>
                  <a:srgbClr val="262B3A"/>
                </a:solidFill>
                <a:latin typeface="Calibri" pitchFamily="34" charset="0"/>
                <a:ea typeface="Calibri" pitchFamily="34" charset="-122"/>
                <a:cs typeface="Calibri" pitchFamily="34" charset="-120"/>
              </a:rPr>
              <a:t>left</a:t>
            </a:r>
            <a:r>
              <a:rPr lang="en-US" sz="1100" dirty="0">
                <a:solidFill>
                  <a:srgbClr val="262B3A"/>
                </a:solidFill>
                <a:latin typeface="Calibri" pitchFamily="34" charset="0"/>
                <a:ea typeface="Calibri" pitchFamily="34" charset="-122"/>
                <a:cs typeface="Calibri" pitchFamily="34" charset="-120"/>
              </a:rPr>
              <a:t> side.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left</a:t>
            </a:r>
            <a:r>
              <a:rPr lang="en-US" sz="1100" dirty="0">
                <a:solidFill>
                  <a:srgbClr val="262B3A"/>
                </a:solidFill>
                <a:latin typeface="Calibri" pitchFamily="34" charset="0"/>
                <a:ea typeface="Calibri" pitchFamily="34" charset="-122"/>
                <a:cs typeface="Calibri" pitchFamily="34" charset="-120"/>
              </a:rPr>
              <a:t> side pumps oxygenated blood to the </a:t>
            </a:r>
            <a:r>
              <a:rPr lang="en-US" sz="1100" b="1" dirty="0">
                <a:solidFill>
                  <a:srgbClr val="262B3A"/>
                </a:solidFill>
                <a:latin typeface="Calibri" pitchFamily="34" charset="0"/>
                <a:ea typeface="Calibri" pitchFamily="34" charset="-122"/>
                <a:cs typeface="Calibri" pitchFamily="34" charset="-120"/>
              </a:rPr>
              <a:t>rest of the body</a:t>
            </a:r>
            <a:r>
              <a:rPr lang="en-US" sz="1100" dirty="0">
                <a:solidFill>
                  <a:srgbClr val="262B3A"/>
                </a:solidFill>
                <a:latin typeface="Calibri" pitchFamily="34" charset="0"/>
                <a:ea typeface="Calibri" pitchFamily="34" charset="-122"/>
                <a:cs typeface="Calibri" pitchFamily="34" charset="-120"/>
              </a:rPr>
              <a:t>; it returns deoxygenated to the right side.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Blood passes through the heart </a:t>
            </a:r>
            <a:r>
              <a:rPr lang="en-US" sz="1100" b="1" dirty="0">
                <a:solidFill>
                  <a:srgbClr val="262B3A"/>
                </a:solidFill>
                <a:latin typeface="Calibri" pitchFamily="34" charset="0"/>
                <a:ea typeface="Calibri" pitchFamily="34" charset="-122"/>
                <a:cs typeface="Calibri" pitchFamily="34" charset="-120"/>
              </a:rPr>
              <a:t>twice</a:t>
            </a:r>
            <a:r>
              <a:rPr lang="en-US" sz="1100" dirty="0">
                <a:solidFill>
                  <a:srgbClr val="262B3A"/>
                </a:solidFill>
                <a:latin typeface="Calibri" pitchFamily="34" charset="0"/>
                <a:ea typeface="Calibri" pitchFamily="34" charset="-122"/>
                <a:cs typeface="Calibri" pitchFamily="34" charset="-120"/>
              </a:rPr>
              <a:t> per circuit: a </a:t>
            </a:r>
            <a:r>
              <a:rPr lang="en-US" sz="1100" b="1" dirty="0">
                <a:solidFill>
                  <a:srgbClr val="262B3A"/>
                </a:solidFill>
                <a:latin typeface="Calibri" pitchFamily="34" charset="0"/>
                <a:ea typeface="Calibri" pitchFamily="34" charset="-122"/>
                <a:cs typeface="Calibri" pitchFamily="34" charset="-120"/>
              </a:rPr>
              <a:t>double circulation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Blood returning from the lungs is pumped again, so it reaches the body at </a:t>
            </a:r>
            <a:r>
              <a:rPr lang="en-US" sz="1100" b="1" dirty="0">
                <a:solidFill>
                  <a:srgbClr val="262B3A"/>
                </a:solidFill>
                <a:latin typeface="Calibri" pitchFamily="34" charset="0"/>
                <a:ea typeface="Calibri" pitchFamily="34" charset="-122"/>
                <a:cs typeface="Calibri" pitchFamily="34" charset="-120"/>
              </a:rPr>
              <a:t>high pressure</a:t>
            </a:r>
            <a:r>
              <a:rPr lang="en-US" sz="1100" dirty="0">
                <a:solidFill>
                  <a:srgbClr val="262B3A"/>
                </a:solidFill>
                <a:latin typeface="Calibri" pitchFamily="34" charset="0"/>
                <a:ea typeface="Calibri" pitchFamily="34" charset="-122"/>
                <a:cs typeface="Calibri" pitchFamily="34" charset="-120"/>
              </a:rPr>
              <a:t>: fast delivery.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circulation links the </a:t>
            </a:r>
            <a:r>
              <a:rPr lang="en-US" sz="1100" b="1" dirty="0">
                <a:solidFill>
                  <a:srgbClr val="262B3A"/>
                </a:solidFill>
                <a:latin typeface="Calibri" pitchFamily="34" charset="0"/>
                <a:ea typeface="Calibri" pitchFamily="34" charset="-122"/>
                <a:cs typeface="Calibri" pitchFamily="34" charset="-120"/>
              </a:rPr>
              <a:t>gas exchange</a:t>
            </a:r>
            <a:r>
              <a:rPr lang="en-US" sz="1100" dirty="0">
                <a:solidFill>
                  <a:srgbClr val="262B3A"/>
                </a:solidFill>
                <a:latin typeface="Calibri" pitchFamily="34" charset="0"/>
                <a:ea typeface="Calibri" pitchFamily="34" charset="-122"/>
                <a:cs typeface="Calibri" pitchFamily="34" charset="-120"/>
              </a:rPr>
              <a:t> (lungs), </a:t>
            </a:r>
            <a:r>
              <a:rPr lang="en-US" sz="1100" b="1" dirty="0">
                <a:solidFill>
                  <a:srgbClr val="262B3A"/>
                </a:solidFill>
                <a:latin typeface="Calibri" pitchFamily="34" charset="0"/>
                <a:ea typeface="Calibri" pitchFamily="34" charset="-122"/>
                <a:cs typeface="Calibri" pitchFamily="34" charset="-120"/>
              </a:rPr>
              <a:t>digestive</a:t>
            </a:r>
            <a:r>
              <a:rPr lang="en-US" sz="1100" dirty="0">
                <a:solidFill>
                  <a:srgbClr val="262B3A"/>
                </a:solidFill>
                <a:latin typeface="Calibri" pitchFamily="34" charset="0"/>
                <a:ea typeface="Calibri" pitchFamily="34" charset="-122"/>
                <a:cs typeface="Calibri" pitchFamily="34" charset="-120"/>
              </a:rPr>
              <a:t> (gut) and </a:t>
            </a:r>
            <a:r>
              <a:rPr lang="en-US" sz="1100" b="1" dirty="0">
                <a:solidFill>
                  <a:srgbClr val="262B3A"/>
                </a:solidFill>
                <a:latin typeface="Calibri" pitchFamily="34" charset="0"/>
                <a:ea typeface="Calibri" pitchFamily="34" charset="-122"/>
                <a:cs typeface="Calibri" pitchFamily="34" charset="-120"/>
              </a:rPr>
              <a:t>excretory</a:t>
            </a:r>
            <a:r>
              <a:rPr lang="en-US" sz="1100" dirty="0">
                <a:solidFill>
                  <a:srgbClr val="262B3A"/>
                </a:solidFill>
                <a:latin typeface="Calibri" pitchFamily="34" charset="0"/>
                <a:ea typeface="Calibri" pitchFamily="34" charset="-122"/>
                <a:cs typeface="Calibri" pitchFamily="34" charset="-120"/>
              </a:rPr>
              <a:t> (kidneys) systems.</a:t>
            </a:r>
            <a:endParaRPr lang="en-US" sz="1100" dirty="0"/>
          </a:p>
        </p:txBody>
      </p:sp>
      <p:sp>
        <p:nvSpPr>
          <p:cNvPr id="65" name="Shape 63"/>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66" name="Text 64"/>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67" name="Text 65"/>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a mammal need a double circulation, not a single one like a fish?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Lungs   </a:t>
            </a:r>
            <a:r>
              <a:rPr lang="en-US" sz="1050" dirty="0">
                <a:solidFill>
                  <a:srgbClr val="262B3A"/>
                </a:solidFill>
                <a:latin typeface="Calibri" pitchFamily="34" charset="0"/>
                <a:ea typeface="Calibri" pitchFamily="34" charset="-122"/>
                <a:cs typeface="Calibri" pitchFamily="34" charset="-120"/>
              </a:rPr>
              <a:t>blood loses pressure in the lung capillaries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Re-pump   </a:t>
            </a:r>
            <a:r>
              <a:rPr lang="en-US" sz="1050" dirty="0">
                <a:solidFill>
                  <a:srgbClr val="262B3A"/>
                </a:solidFill>
                <a:latin typeface="Calibri" pitchFamily="34" charset="0"/>
                <a:ea typeface="Calibri" pitchFamily="34" charset="-122"/>
                <a:cs typeface="Calibri" pitchFamily="34" charset="-120"/>
              </a:rPr>
              <a:t>it returns to the heart and is pumped again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high pressure to the body: O₂ and glucose delivered fast for a high respiration rate</a:t>
            </a:r>
            <a:endParaRPr lang="en-US" sz="1050" dirty="0"/>
          </a:p>
        </p:txBody>
      </p:sp>
      <p:sp>
        <p:nvSpPr>
          <p:cNvPr id="68"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69"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0"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side of the heart receives blood from the </a:t>
            </a:r>
            <a:r>
              <a:rPr lang="en-US" sz="1150" b="1" dirty="0">
                <a:solidFill>
                  <a:srgbClr val="262B3A"/>
                </a:solidFill>
                <a:latin typeface="Calibri" pitchFamily="34" charset="0"/>
                <a:ea typeface="Calibri" pitchFamily="34" charset="-122"/>
                <a:cs typeface="Calibri" pitchFamily="34" charset="-120"/>
              </a:rPr>
              <a:t>lungs</a:t>
            </a:r>
            <a:r>
              <a:rPr lang="en-US" sz="1150" dirty="0">
                <a:solidFill>
                  <a:srgbClr val="262B3A"/>
                </a:solidFill>
                <a:latin typeface="Calibri" pitchFamily="34" charset="0"/>
                <a:ea typeface="Calibri" pitchFamily="34" charset="-122"/>
                <a:cs typeface="Calibri" pitchFamily="34" charset="-120"/>
              </a:rPr>
              <a:t>? Is this blood oxygenated or deoxygenated?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structure of the heart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B5.1.4 • four chambers, four valves, four main blood vessels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B5.1.4  |  16</a:t>
            </a:r>
            <a:endParaRPr lang="en-US" sz="1000" dirty="0"/>
          </a:p>
        </p:txBody>
      </p:sp>
      <p:sp>
        <p:nvSpPr>
          <p:cNvPr id="8" name="Shape 6"/>
          <p:cNvSpPr/>
          <p:nvPr/>
        </p:nvSpPr>
        <p:spPr>
          <a:xfrm>
            <a:off x="411480" y="1188720"/>
            <a:ext cx="6583680" cy="4526280"/>
          </a:xfrm>
          <a:prstGeom prst="roundRect">
            <a:avLst>
              <a:gd name="adj" fmla="val 1616"/>
            </a:avLst>
          </a:prstGeom>
          <a:solidFill>
            <a:srgbClr val="EEF5F4"/>
          </a:solidFill>
          <a:ln w="9525">
            <a:solidFill>
              <a:srgbClr val="D2E3E1"/>
            </a:solidFill>
            <a:prstDash val="solid"/>
          </a:ln>
        </p:spPr>
      </p:sp>
      <p:sp>
        <p:nvSpPr>
          <p:cNvPr id="9" name="Shape 7"/>
          <p:cNvSpPr/>
          <p:nvPr/>
        </p:nvSpPr>
        <p:spPr>
          <a:xfrm>
            <a:off x="1920240" y="1371600"/>
            <a:ext cx="91" cy="1371600"/>
          </a:xfrm>
          <a:prstGeom prst="line">
            <a:avLst/>
          </a:prstGeom>
          <a:noFill/>
          <a:ln w="312420">
            <a:solidFill>
              <a:srgbClr val="1F4E8C"/>
            </a:solidFill>
            <a:prstDash val="solid"/>
          </a:ln>
        </p:spPr>
      </p:sp>
      <p:sp>
        <p:nvSpPr>
          <p:cNvPr id="10" name="Shape 8"/>
          <p:cNvSpPr/>
          <p:nvPr/>
        </p:nvSpPr>
        <p:spPr>
          <a:xfrm>
            <a:off x="1920240" y="2743200"/>
            <a:ext cx="475488" cy="91"/>
          </a:xfrm>
          <a:prstGeom prst="line">
            <a:avLst/>
          </a:prstGeom>
          <a:noFill/>
          <a:ln w="312420">
            <a:solidFill>
              <a:srgbClr val="1F4E8C"/>
            </a:solidFill>
            <a:prstDash val="solid"/>
          </a:ln>
        </p:spPr>
      </p:sp>
      <p:sp>
        <p:nvSpPr>
          <p:cNvPr id="11" name="Shape 9"/>
          <p:cNvSpPr/>
          <p:nvPr/>
        </p:nvSpPr>
        <p:spPr>
          <a:xfrm>
            <a:off x="1764030" y="2586990"/>
            <a:ext cx="312420" cy="312420"/>
          </a:xfrm>
          <a:prstGeom prst="ellipse">
            <a:avLst/>
          </a:prstGeom>
          <a:solidFill>
            <a:srgbClr val="1F4E8C"/>
          </a:solidFill>
          <a:ln w="12700">
            <a:solidFill>
              <a:srgbClr val="1F4E8C"/>
            </a:solidFill>
            <a:prstDash val="solid"/>
          </a:ln>
        </p:spPr>
      </p:sp>
      <p:sp>
        <p:nvSpPr>
          <p:cNvPr id="12" name="Shape 10"/>
          <p:cNvSpPr/>
          <p:nvPr/>
        </p:nvSpPr>
        <p:spPr>
          <a:xfrm>
            <a:off x="1920240" y="1371600"/>
            <a:ext cx="91" cy="1371600"/>
          </a:xfrm>
          <a:prstGeom prst="line">
            <a:avLst/>
          </a:prstGeom>
          <a:noFill/>
          <a:ln w="274320">
            <a:solidFill>
              <a:srgbClr val="4F7FC9"/>
            </a:solidFill>
            <a:prstDash val="solid"/>
          </a:ln>
        </p:spPr>
      </p:sp>
      <p:sp>
        <p:nvSpPr>
          <p:cNvPr id="13" name="Shape 11"/>
          <p:cNvSpPr/>
          <p:nvPr/>
        </p:nvSpPr>
        <p:spPr>
          <a:xfrm>
            <a:off x="1920240" y="2743200"/>
            <a:ext cx="475488" cy="91"/>
          </a:xfrm>
          <a:prstGeom prst="line">
            <a:avLst/>
          </a:prstGeom>
          <a:noFill/>
          <a:ln w="274320">
            <a:solidFill>
              <a:srgbClr val="4F7FC9"/>
            </a:solidFill>
            <a:prstDash val="solid"/>
          </a:ln>
        </p:spPr>
      </p:sp>
      <p:sp>
        <p:nvSpPr>
          <p:cNvPr id="14" name="Shape 12"/>
          <p:cNvSpPr/>
          <p:nvPr/>
        </p:nvSpPr>
        <p:spPr>
          <a:xfrm>
            <a:off x="1783080" y="2606040"/>
            <a:ext cx="274320" cy="274320"/>
          </a:xfrm>
          <a:prstGeom prst="ellipse">
            <a:avLst/>
          </a:prstGeom>
          <a:solidFill>
            <a:srgbClr val="4F7FC9"/>
          </a:solidFill>
          <a:ln w="12700">
            <a:solidFill>
              <a:srgbClr val="4F7FC9"/>
            </a:solidFill>
            <a:prstDash val="solid"/>
          </a:ln>
        </p:spPr>
      </p:sp>
      <p:sp>
        <p:nvSpPr>
          <p:cNvPr id="15" name="Shape 13"/>
          <p:cNvSpPr/>
          <p:nvPr/>
        </p:nvSpPr>
        <p:spPr>
          <a:xfrm flipV="1">
            <a:off x="1920240" y="2743200"/>
            <a:ext cx="91" cy="2514600"/>
          </a:xfrm>
          <a:prstGeom prst="line">
            <a:avLst/>
          </a:prstGeom>
          <a:noFill/>
          <a:ln w="312420">
            <a:solidFill>
              <a:srgbClr val="1F4E8C"/>
            </a:solidFill>
            <a:prstDash val="solid"/>
          </a:ln>
        </p:spPr>
      </p:sp>
      <p:sp>
        <p:nvSpPr>
          <p:cNvPr id="16" name="Shape 14"/>
          <p:cNvSpPr/>
          <p:nvPr/>
        </p:nvSpPr>
        <p:spPr>
          <a:xfrm flipV="1">
            <a:off x="1920240" y="2743200"/>
            <a:ext cx="91" cy="2514600"/>
          </a:xfrm>
          <a:prstGeom prst="line">
            <a:avLst/>
          </a:prstGeom>
          <a:noFill/>
          <a:ln w="274320">
            <a:solidFill>
              <a:srgbClr val="4F7FC9"/>
            </a:solidFill>
            <a:prstDash val="solid"/>
          </a:ln>
        </p:spPr>
      </p:sp>
      <p:sp>
        <p:nvSpPr>
          <p:cNvPr id="17" name="Shape 15"/>
          <p:cNvSpPr/>
          <p:nvPr/>
        </p:nvSpPr>
        <p:spPr>
          <a:xfrm>
            <a:off x="2194560" y="2395728"/>
            <a:ext cx="2926080" cy="2862072"/>
          </a:xfrm>
          <a:prstGeom prst="roundRect">
            <a:avLst>
              <a:gd name="adj" fmla="val 14377"/>
            </a:avLst>
          </a:prstGeom>
          <a:solidFill>
            <a:srgbClr val="E3A99B"/>
          </a:solidFill>
          <a:ln w="19050">
            <a:solidFill>
              <a:srgbClr val="8E4A3A"/>
            </a:solidFill>
            <a:prstDash val="solid"/>
          </a:ln>
        </p:spPr>
      </p:sp>
      <p:sp>
        <p:nvSpPr>
          <p:cNvPr id="18" name="Shape 16"/>
          <p:cNvSpPr/>
          <p:nvPr/>
        </p:nvSpPr>
        <p:spPr>
          <a:xfrm>
            <a:off x="2395728" y="2560320"/>
            <a:ext cx="658368" cy="685800"/>
          </a:xfrm>
          <a:prstGeom prst="roundRect">
            <a:avLst>
              <a:gd name="adj" fmla="val 16667"/>
            </a:avLst>
          </a:prstGeom>
          <a:solidFill>
            <a:srgbClr val="C3D6F2"/>
          </a:solidFill>
          <a:ln w="12700">
            <a:solidFill>
              <a:srgbClr val="1F4E8C"/>
            </a:solidFill>
            <a:prstDash val="solid"/>
          </a:ln>
        </p:spPr>
      </p:sp>
      <p:sp>
        <p:nvSpPr>
          <p:cNvPr id="19" name="Shape 17"/>
          <p:cNvSpPr/>
          <p:nvPr/>
        </p:nvSpPr>
        <p:spPr>
          <a:xfrm>
            <a:off x="4224528" y="2560320"/>
            <a:ext cx="658368" cy="685800"/>
          </a:xfrm>
          <a:prstGeom prst="roundRect">
            <a:avLst>
              <a:gd name="adj" fmla="val 16667"/>
            </a:avLst>
          </a:prstGeom>
          <a:solidFill>
            <a:srgbClr val="F6C4C4"/>
          </a:solidFill>
          <a:ln w="12700">
            <a:solidFill>
              <a:srgbClr val="8E2A33"/>
            </a:solidFill>
            <a:prstDash val="solid"/>
          </a:ln>
        </p:spPr>
      </p:sp>
      <p:sp>
        <p:nvSpPr>
          <p:cNvPr id="20" name="Shape 18"/>
          <p:cNvSpPr/>
          <p:nvPr/>
        </p:nvSpPr>
        <p:spPr>
          <a:xfrm>
            <a:off x="2395728" y="3474720"/>
            <a:ext cx="1078992" cy="1481328"/>
          </a:xfrm>
          <a:prstGeom prst="roundRect">
            <a:avLst>
              <a:gd name="adj" fmla="val 15254"/>
            </a:avLst>
          </a:prstGeom>
          <a:solidFill>
            <a:srgbClr val="C3D6F2"/>
          </a:solidFill>
          <a:ln w="12700">
            <a:solidFill>
              <a:srgbClr val="1F4E8C"/>
            </a:solidFill>
            <a:prstDash val="solid"/>
          </a:ln>
        </p:spPr>
      </p:sp>
      <p:sp>
        <p:nvSpPr>
          <p:cNvPr id="21" name="Shape 19"/>
          <p:cNvSpPr/>
          <p:nvPr/>
        </p:nvSpPr>
        <p:spPr>
          <a:xfrm>
            <a:off x="3749040" y="3474720"/>
            <a:ext cx="841248" cy="1216152"/>
          </a:xfrm>
          <a:prstGeom prst="roundRect">
            <a:avLst>
              <a:gd name="adj" fmla="val 19565"/>
            </a:avLst>
          </a:prstGeom>
          <a:solidFill>
            <a:srgbClr val="F6C4C4"/>
          </a:solidFill>
          <a:ln w="12700">
            <a:solidFill>
              <a:srgbClr val="8E2A33"/>
            </a:solidFill>
            <a:prstDash val="solid"/>
          </a:ln>
        </p:spPr>
      </p:sp>
      <p:sp>
        <p:nvSpPr>
          <p:cNvPr id="22" name="Shape 20"/>
          <p:cNvSpPr/>
          <p:nvPr/>
        </p:nvSpPr>
        <p:spPr>
          <a:xfrm>
            <a:off x="2487168" y="3200400"/>
            <a:ext cx="475488" cy="320040"/>
          </a:xfrm>
          <a:prstGeom prst="rect">
            <a:avLst/>
          </a:prstGeom>
          <a:solidFill>
            <a:srgbClr val="C3D6F2"/>
          </a:solidFill>
          <a:ln/>
        </p:spPr>
      </p:sp>
      <p:sp>
        <p:nvSpPr>
          <p:cNvPr id="23" name="Shape 21"/>
          <p:cNvSpPr/>
          <p:nvPr/>
        </p:nvSpPr>
        <p:spPr>
          <a:xfrm>
            <a:off x="4261104" y="3200400"/>
            <a:ext cx="292608" cy="320040"/>
          </a:xfrm>
          <a:prstGeom prst="rect">
            <a:avLst/>
          </a:prstGeom>
          <a:solidFill>
            <a:srgbClr val="F6C4C4"/>
          </a:solidFill>
          <a:ln/>
        </p:spPr>
      </p:sp>
      <p:sp>
        <p:nvSpPr>
          <p:cNvPr id="24" name="Shape 22"/>
          <p:cNvSpPr/>
          <p:nvPr/>
        </p:nvSpPr>
        <p:spPr>
          <a:xfrm>
            <a:off x="2487168" y="3255264"/>
            <a:ext cx="118872" cy="237744"/>
          </a:xfrm>
          <a:prstGeom prst="line">
            <a:avLst/>
          </a:prstGeom>
          <a:noFill/>
          <a:ln w="38100">
            <a:solidFill>
              <a:srgbClr val="F5F5F5"/>
            </a:solidFill>
            <a:prstDash val="solid"/>
          </a:ln>
        </p:spPr>
      </p:sp>
      <p:sp>
        <p:nvSpPr>
          <p:cNvPr id="25" name="Shape 23"/>
          <p:cNvSpPr/>
          <p:nvPr/>
        </p:nvSpPr>
        <p:spPr>
          <a:xfrm flipH="1">
            <a:off x="2843784" y="3255264"/>
            <a:ext cx="118872" cy="237744"/>
          </a:xfrm>
          <a:prstGeom prst="line">
            <a:avLst/>
          </a:prstGeom>
          <a:noFill/>
          <a:ln w="38100">
            <a:solidFill>
              <a:srgbClr val="F5F5F5"/>
            </a:solidFill>
            <a:prstDash val="solid"/>
          </a:ln>
        </p:spPr>
      </p:sp>
      <p:sp>
        <p:nvSpPr>
          <p:cNvPr id="26" name="Shape 24"/>
          <p:cNvSpPr/>
          <p:nvPr/>
        </p:nvSpPr>
        <p:spPr>
          <a:xfrm>
            <a:off x="4261104" y="3255264"/>
            <a:ext cx="118872" cy="237744"/>
          </a:xfrm>
          <a:prstGeom prst="line">
            <a:avLst/>
          </a:prstGeom>
          <a:noFill/>
          <a:ln w="38100">
            <a:solidFill>
              <a:srgbClr val="F5F5F5"/>
            </a:solidFill>
            <a:prstDash val="solid"/>
          </a:ln>
        </p:spPr>
      </p:sp>
      <p:sp>
        <p:nvSpPr>
          <p:cNvPr id="27" name="Shape 25"/>
          <p:cNvSpPr/>
          <p:nvPr/>
        </p:nvSpPr>
        <p:spPr>
          <a:xfrm flipH="1">
            <a:off x="4434840" y="3255264"/>
            <a:ext cx="118872" cy="237744"/>
          </a:xfrm>
          <a:prstGeom prst="line">
            <a:avLst/>
          </a:prstGeom>
          <a:noFill/>
          <a:ln w="38100">
            <a:solidFill>
              <a:srgbClr val="F5F5F5"/>
            </a:solidFill>
            <a:prstDash val="solid"/>
          </a:ln>
        </p:spPr>
      </p:sp>
      <p:sp>
        <p:nvSpPr>
          <p:cNvPr id="28" name="Shape 26"/>
          <p:cNvSpPr/>
          <p:nvPr/>
        </p:nvSpPr>
        <p:spPr>
          <a:xfrm>
            <a:off x="2487168" y="3255264"/>
            <a:ext cx="118872" cy="237744"/>
          </a:xfrm>
          <a:prstGeom prst="line">
            <a:avLst/>
          </a:prstGeom>
          <a:noFill/>
          <a:ln w="38100">
            <a:solidFill>
              <a:srgbClr val="133536"/>
            </a:solidFill>
            <a:prstDash val="solid"/>
          </a:ln>
        </p:spPr>
      </p:sp>
      <p:sp>
        <p:nvSpPr>
          <p:cNvPr id="29" name="Shape 27"/>
          <p:cNvSpPr/>
          <p:nvPr/>
        </p:nvSpPr>
        <p:spPr>
          <a:xfrm flipH="1">
            <a:off x="2843784" y="3255264"/>
            <a:ext cx="118872" cy="237744"/>
          </a:xfrm>
          <a:prstGeom prst="line">
            <a:avLst/>
          </a:prstGeom>
          <a:noFill/>
          <a:ln w="38100">
            <a:solidFill>
              <a:srgbClr val="133536"/>
            </a:solidFill>
            <a:prstDash val="solid"/>
          </a:ln>
        </p:spPr>
      </p:sp>
      <p:sp>
        <p:nvSpPr>
          <p:cNvPr id="30" name="Shape 28"/>
          <p:cNvSpPr/>
          <p:nvPr/>
        </p:nvSpPr>
        <p:spPr>
          <a:xfrm>
            <a:off x="4261104" y="3255264"/>
            <a:ext cx="118872" cy="237744"/>
          </a:xfrm>
          <a:prstGeom prst="line">
            <a:avLst/>
          </a:prstGeom>
          <a:noFill/>
          <a:ln w="38100">
            <a:solidFill>
              <a:srgbClr val="133536"/>
            </a:solidFill>
            <a:prstDash val="solid"/>
          </a:ln>
        </p:spPr>
      </p:sp>
      <p:sp>
        <p:nvSpPr>
          <p:cNvPr id="31" name="Shape 29"/>
          <p:cNvSpPr/>
          <p:nvPr/>
        </p:nvSpPr>
        <p:spPr>
          <a:xfrm flipH="1">
            <a:off x="4434840" y="3255264"/>
            <a:ext cx="118872" cy="237744"/>
          </a:xfrm>
          <a:prstGeom prst="line">
            <a:avLst/>
          </a:prstGeom>
          <a:noFill/>
          <a:ln w="38100">
            <a:solidFill>
              <a:srgbClr val="133536"/>
            </a:solidFill>
            <a:prstDash val="solid"/>
          </a:ln>
        </p:spPr>
      </p:sp>
      <p:sp>
        <p:nvSpPr>
          <p:cNvPr id="32" name="Shape 30"/>
          <p:cNvSpPr/>
          <p:nvPr/>
        </p:nvSpPr>
        <p:spPr>
          <a:xfrm flipV="1">
            <a:off x="3255264" y="2057400"/>
            <a:ext cx="91" cy="1554480"/>
          </a:xfrm>
          <a:prstGeom prst="line">
            <a:avLst/>
          </a:prstGeom>
          <a:noFill/>
          <a:ln w="312420">
            <a:solidFill>
              <a:srgbClr val="1F4E8C"/>
            </a:solidFill>
            <a:prstDash val="solid"/>
          </a:ln>
        </p:spPr>
      </p:sp>
      <p:sp>
        <p:nvSpPr>
          <p:cNvPr id="33" name="Shape 31"/>
          <p:cNvSpPr/>
          <p:nvPr/>
        </p:nvSpPr>
        <p:spPr>
          <a:xfrm flipV="1">
            <a:off x="3255264" y="2057400"/>
            <a:ext cx="91" cy="1554480"/>
          </a:xfrm>
          <a:prstGeom prst="line">
            <a:avLst/>
          </a:prstGeom>
          <a:noFill/>
          <a:ln w="274320">
            <a:solidFill>
              <a:srgbClr val="4F7FC9"/>
            </a:solidFill>
            <a:prstDash val="solid"/>
          </a:ln>
        </p:spPr>
      </p:sp>
      <p:sp>
        <p:nvSpPr>
          <p:cNvPr id="34" name="Shape 32"/>
          <p:cNvSpPr/>
          <p:nvPr/>
        </p:nvSpPr>
        <p:spPr>
          <a:xfrm>
            <a:off x="2395728" y="2057400"/>
            <a:ext cx="2313432" cy="91"/>
          </a:xfrm>
          <a:prstGeom prst="line">
            <a:avLst/>
          </a:prstGeom>
          <a:noFill/>
          <a:ln w="275844">
            <a:solidFill>
              <a:srgbClr val="1F4E8C"/>
            </a:solidFill>
            <a:prstDash val="solid"/>
          </a:ln>
        </p:spPr>
      </p:sp>
      <p:sp>
        <p:nvSpPr>
          <p:cNvPr id="35" name="Shape 33"/>
          <p:cNvSpPr/>
          <p:nvPr/>
        </p:nvSpPr>
        <p:spPr>
          <a:xfrm>
            <a:off x="2395728" y="2057400"/>
            <a:ext cx="2313432" cy="91"/>
          </a:xfrm>
          <a:prstGeom prst="line">
            <a:avLst/>
          </a:prstGeom>
          <a:noFill/>
          <a:ln w="237744">
            <a:solidFill>
              <a:srgbClr val="4F7FC9"/>
            </a:solidFill>
            <a:prstDash val="solid"/>
          </a:ln>
        </p:spPr>
      </p:sp>
      <p:sp>
        <p:nvSpPr>
          <p:cNvPr id="36" name="Shape 34"/>
          <p:cNvSpPr/>
          <p:nvPr/>
        </p:nvSpPr>
        <p:spPr>
          <a:xfrm flipV="1">
            <a:off x="3913632" y="1600200"/>
            <a:ext cx="91" cy="2011680"/>
          </a:xfrm>
          <a:prstGeom prst="line">
            <a:avLst/>
          </a:prstGeom>
          <a:noFill/>
          <a:ln w="330708">
            <a:solidFill>
              <a:srgbClr val="8E2A33"/>
            </a:solidFill>
            <a:prstDash val="solid"/>
          </a:ln>
        </p:spPr>
      </p:sp>
      <p:sp>
        <p:nvSpPr>
          <p:cNvPr id="37" name="Shape 35"/>
          <p:cNvSpPr/>
          <p:nvPr/>
        </p:nvSpPr>
        <p:spPr>
          <a:xfrm flipV="1">
            <a:off x="3913632" y="1371600"/>
            <a:ext cx="246888" cy="228600"/>
          </a:xfrm>
          <a:prstGeom prst="line">
            <a:avLst/>
          </a:prstGeom>
          <a:noFill/>
          <a:ln w="330708">
            <a:solidFill>
              <a:srgbClr val="8E2A33"/>
            </a:solidFill>
            <a:prstDash val="solid"/>
          </a:ln>
        </p:spPr>
      </p:sp>
      <p:sp>
        <p:nvSpPr>
          <p:cNvPr id="38" name="Shape 36"/>
          <p:cNvSpPr/>
          <p:nvPr/>
        </p:nvSpPr>
        <p:spPr>
          <a:xfrm>
            <a:off x="4160520" y="1371600"/>
            <a:ext cx="960120" cy="91"/>
          </a:xfrm>
          <a:prstGeom prst="line">
            <a:avLst/>
          </a:prstGeom>
          <a:noFill/>
          <a:ln w="330708">
            <a:solidFill>
              <a:srgbClr val="8E2A33"/>
            </a:solidFill>
            <a:prstDash val="solid"/>
          </a:ln>
        </p:spPr>
      </p:sp>
      <p:sp>
        <p:nvSpPr>
          <p:cNvPr id="39" name="Shape 37"/>
          <p:cNvSpPr/>
          <p:nvPr/>
        </p:nvSpPr>
        <p:spPr>
          <a:xfrm>
            <a:off x="5120640" y="1371600"/>
            <a:ext cx="320040" cy="274320"/>
          </a:xfrm>
          <a:prstGeom prst="line">
            <a:avLst/>
          </a:prstGeom>
          <a:noFill/>
          <a:ln w="330708">
            <a:solidFill>
              <a:srgbClr val="8E2A33"/>
            </a:solidFill>
            <a:prstDash val="solid"/>
          </a:ln>
        </p:spPr>
      </p:sp>
      <p:sp>
        <p:nvSpPr>
          <p:cNvPr id="40" name="Shape 38"/>
          <p:cNvSpPr/>
          <p:nvPr/>
        </p:nvSpPr>
        <p:spPr>
          <a:xfrm>
            <a:off x="5440680" y="1645920"/>
            <a:ext cx="91" cy="594360"/>
          </a:xfrm>
          <a:prstGeom prst="line">
            <a:avLst/>
          </a:prstGeom>
          <a:noFill/>
          <a:ln w="330708">
            <a:solidFill>
              <a:srgbClr val="8E2A33"/>
            </a:solidFill>
            <a:prstDash val="solid"/>
          </a:ln>
        </p:spPr>
      </p:sp>
      <p:sp>
        <p:nvSpPr>
          <p:cNvPr id="41" name="Shape 39"/>
          <p:cNvSpPr/>
          <p:nvPr/>
        </p:nvSpPr>
        <p:spPr>
          <a:xfrm>
            <a:off x="3748278" y="1434846"/>
            <a:ext cx="330708" cy="330708"/>
          </a:xfrm>
          <a:prstGeom prst="ellipse">
            <a:avLst/>
          </a:prstGeom>
          <a:solidFill>
            <a:srgbClr val="8E2A33"/>
          </a:solidFill>
          <a:ln w="12700">
            <a:solidFill>
              <a:srgbClr val="8E2A33"/>
            </a:solidFill>
            <a:prstDash val="solid"/>
          </a:ln>
        </p:spPr>
      </p:sp>
      <p:sp>
        <p:nvSpPr>
          <p:cNvPr id="42" name="Shape 40"/>
          <p:cNvSpPr/>
          <p:nvPr/>
        </p:nvSpPr>
        <p:spPr>
          <a:xfrm>
            <a:off x="3995166" y="1206246"/>
            <a:ext cx="330708" cy="330708"/>
          </a:xfrm>
          <a:prstGeom prst="ellipse">
            <a:avLst/>
          </a:prstGeom>
          <a:solidFill>
            <a:srgbClr val="8E2A33"/>
          </a:solidFill>
          <a:ln w="12700">
            <a:solidFill>
              <a:srgbClr val="8E2A33"/>
            </a:solidFill>
            <a:prstDash val="solid"/>
          </a:ln>
        </p:spPr>
      </p:sp>
      <p:sp>
        <p:nvSpPr>
          <p:cNvPr id="43" name="Shape 41"/>
          <p:cNvSpPr/>
          <p:nvPr/>
        </p:nvSpPr>
        <p:spPr>
          <a:xfrm>
            <a:off x="4955286" y="1206246"/>
            <a:ext cx="330708" cy="330708"/>
          </a:xfrm>
          <a:prstGeom prst="ellipse">
            <a:avLst/>
          </a:prstGeom>
          <a:solidFill>
            <a:srgbClr val="8E2A33"/>
          </a:solidFill>
          <a:ln w="12700">
            <a:solidFill>
              <a:srgbClr val="8E2A33"/>
            </a:solidFill>
            <a:prstDash val="solid"/>
          </a:ln>
        </p:spPr>
      </p:sp>
      <p:sp>
        <p:nvSpPr>
          <p:cNvPr id="44" name="Shape 42"/>
          <p:cNvSpPr/>
          <p:nvPr/>
        </p:nvSpPr>
        <p:spPr>
          <a:xfrm>
            <a:off x="5275326" y="1480566"/>
            <a:ext cx="330708" cy="330708"/>
          </a:xfrm>
          <a:prstGeom prst="ellipse">
            <a:avLst/>
          </a:prstGeom>
          <a:solidFill>
            <a:srgbClr val="8E2A33"/>
          </a:solidFill>
          <a:ln w="12700">
            <a:solidFill>
              <a:srgbClr val="8E2A33"/>
            </a:solidFill>
            <a:prstDash val="solid"/>
          </a:ln>
        </p:spPr>
      </p:sp>
      <p:sp>
        <p:nvSpPr>
          <p:cNvPr id="45" name="Shape 43"/>
          <p:cNvSpPr/>
          <p:nvPr/>
        </p:nvSpPr>
        <p:spPr>
          <a:xfrm flipV="1">
            <a:off x="3913632" y="1600200"/>
            <a:ext cx="91" cy="2011680"/>
          </a:xfrm>
          <a:prstGeom prst="line">
            <a:avLst/>
          </a:prstGeom>
          <a:noFill/>
          <a:ln w="292608">
            <a:solidFill>
              <a:srgbClr val="D9534F"/>
            </a:solidFill>
            <a:prstDash val="solid"/>
          </a:ln>
        </p:spPr>
      </p:sp>
      <p:sp>
        <p:nvSpPr>
          <p:cNvPr id="46" name="Shape 44"/>
          <p:cNvSpPr/>
          <p:nvPr/>
        </p:nvSpPr>
        <p:spPr>
          <a:xfrm flipV="1">
            <a:off x="3913632" y="1371600"/>
            <a:ext cx="246888" cy="228600"/>
          </a:xfrm>
          <a:prstGeom prst="line">
            <a:avLst/>
          </a:prstGeom>
          <a:noFill/>
          <a:ln w="292608">
            <a:solidFill>
              <a:srgbClr val="D9534F"/>
            </a:solidFill>
            <a:prstDash val="solid"/>
          </a:ln>
        </p:spPr>
      </p:sp>
      <p:sp>
        <p:nvSpPr>
          <p:cNvPr id="47" name="Shape 45"/>
          <p:cNvSpPr/>
          <p:nvPr/>
        </p:nvSpPr>
        <p:spPr>
          <a:xfrm>
            <a:off x="4160520" y="1371600"/>
            <a:ext cx="960120" cy="91"/>
          </a:xfrm>
          <a:prstGeom prst="line">
            <a:avLst/>
          </a:prstGeom>
          <a:noFill/>
          <a:ln w="292608">
            <a:solidFill>
              <a:srgbClr val="D9534F"/>
            </a:solidFill>
            <a:prstDash val="solid"/>
          </a:ln>
        </p:spPr>
      </p:sp>
      <p:sp>
        <p:nvSpPr>
          <p:cNvPr id="48" name="Shape 46"/>
          <p:cNvSpPr/>
          <p:nvPr/>
        </p:nvSpPr>
        <p:spPr>
          <a:xfrm>
            <a:off x="5120640" y="1371600"/>
            <a:ext cx="320040" cy="274320"/>
          </a:xfrm>
          <a:prstGeom prst="line">
            <a:avLst/>
          </a:prstGeom>
          <a:noFill/>
          <a:ln w="292608">
            <a:solidFill>
              <a:srgbClr val="D9534F"/>
            </a:solidFill>
            <a:prstDash val="solid"/>
          </a:ln>
        </p:spPr>
      </p:sp>
      <p:sp>
        <p:nvSpPr>
          <p:cNvPr id="49" name="Shape 47"/>
          <p:cNvSpPr/>
          <p:nvPr/>
        </p:nvSpPr>
        <p:spPr>
          <a:xfrm>
            <a:off x="5440680" y="1645920"/>
            <a:ext cx="91" cy="594360"/>
          </a:xfrm>
          <a:prstGeom prst="line">
            <a:avLst/>
          </a:prstGeom>
          <a:noFill/>
          <a:ln w="292608">
            <a:solidFill>
              <a:srgbClr val="D9534F"/>
            </a:solidFill>
            <a:prstDash val="solid"/>
          </a:ln>
        </p:spPr>
      </p:sp>
      <p:sp>
        <p:nvSpPr>
          <p:cNvPr id="50" name="Shape 48"/>
          <p:cNvSpPr/>
          <p:nvPr/>
        </p:nvSpPr>
        <p:spPr>
          <a:xfrm>
            <a:off x="3767328" y="1453896"/>
            <a:ext cx="292608" cy="292608"/>
          </a:xfrm>
          <a:prstGeom prst="ellipse">
            <a:avLst/>
          </a:prstGeom>
          <a:solidFill>
            <a:srgbClr val="D9534F"/>
          </a:solidFill>
          <a:ln w="12700">
            <a:solidFill>
              <a:srgbClr val="D9534F"/>
            </a:solidFill>
            <a:prstDash val="solid"/>
          </a:ln>
        </p:spPr>
      </p:sp>
      <p:sp>
        <p:nvSpPr>
          <p:cNvPr id="51" name="Shape 49"/>
          <p:cNvSpPr/>
          <p:nvPr/>
        </p:nvSpPr>
        <p:spPr>
          <a:xfrm>
            <a:off x="4014216" y="1225296"/>
            <a:ext cx="292608" cy="292608"/>
          </a:xfrm>
          <a:prstGeom prst="ellipse">
            <a:avLst/>
          </a:prstGeom>
          <a:solidFill>
            <a:srgbClr val="D9534F"/>
          </a:solidFill>
          <a:ln w="12700">
            <a:solidFill>
              <a:srgbClr val="D9534F"/>
            </a:solidFill>
            <a:prstDash val="solid"/>
          </a:ln>
        </p:spPr>
      </p:sp>
      <p:sp>
        <p:nvSpPr>
          <p:cNvPr id="52" name="Shape 50"/>
          <p:cNvSpPr/>
          <p:nvPr/>
        </p:nvSpPr>
        <p:spPr>
          <a:xfrm>
            <a:off x="4974336" y="1225296"/>
            <a:ext cx="292608" cy="292608"/>
          </a:xfrm>
          <a:prstGeom prst="ellipse">
            <a:avLst/>
          </a:prstGeom>
          <a:solidFill>
            <a:srgbClr val="D9534F"/>
          </a:solidFill>
          <a:ln w="12700">
            <a:solidFill>
              <a:srgbClr val="D9534F"/>
            </a:solidFill>
            <a:prstDash val="solid"/>
          </a:ln>
        </p:spPr>
      </p:sp>
      <p:sp>
        <p:nvSpPr>
          <p:cNvPr id="53" name="Shape 51"/>
          <p:cNvSpPr/>
          <p:nvPr/>
        </p:nvSpPr>
        <p:spPr>
          <a:xfrm>
            <a:off x="5294376" y="1499616"/>
            <a:ext cx="292608" cy="292608"/>
          </a:xfrm>
          <a:prstGeom prst="ellipse">
            <a:avLst/>
          </a:prstGeom>
          <a:solidFill>
            <a:srgbClr val="D9534F"/>
          </a:solidFill>
          <a:ln w="12700">
            <a:solidFill>
              <a:srgbClr val="D9534F"/>
            </a:solidFill>
            <a:prstDash val="solid"/>
          </a:ln>
        </p:spPr>
      </p:sp>
      <p:sp>
        <p:nvSpPr>
          <p:cNvPr id="54" name="Shape 52"/>
          <p:cNvSpPr/>
          <p:nvPr/>
        </p:nvSpPr>
        <p:spPr>
          <a:xfrm flipH="1">
            <a:off x="4846320" y="2724912"/>
            <a:ext cx="1051560" cy="91"/>
          </a:xfrm>
          <a:prstGeom prst="line">
            <a:avLst/>
          </a:prstGeom>
          <a:noFill/>
          <a:ln w="239268">
            <a:solidFill>
              <a:srgbClr val="8E2A33"/>
            </a:solidFill>
            <a:prstDash val="solid"/>
          </a:ln>
        </p:spPr>
      </p:sp>
      <p:sp>
        <p:nvSpPr>
          <p:cNvPr id="55" name="Shape 53"/>
          <p:cNvSpPr/>
          <p:nvPr/>
        </p:nvSpPr>
        <p:spPr>
          <a:xfrm flipH="1">
            <a:off x="4846320" y="2724912"/>
            <a:ext cx="1051560" cy="91"/>
          </a:xfrm>
          <a:prstGeom prst="line">
            <a:avLst/>
          </a:prstGeom>
          <a:noFill/>
          <a:ln w="201168">
            <a:solidFill>
              <a:srgbClr val="D9534F"/>
            </a:solidFill>
            <a:prstDash val="solid"/>
          </a:ln>
        </p:spPr>
      </p:sp>
      <p:sp>
        <p:nvSpPr>
          <p:cNvPr id="56" name="Shape 54"/>
          <p:cNvSpPr/>
          <p:nvPr/>
        </p:nvSpPr>
        <p:spPr>
          <a:xfrm flipH="1">
            <a:off x="4846320" y="3072384"/>
            <a:ext cx="1051560" cy="91"/>
          </a:xfrm>
          <a:prstGeom prst="line">
            <a:avLst/>
          </a:prstGeom>
          <a:noFill/>
          <a:ln w="239268">
            <a:solidFill>
              <a:srgbClr val="8E2A33"/>
            </a:solidFill>
            <a:prstDash val="solid"/>
          </a:ln>
        </p:spPr>
      </p:sp>
      <p:sp>
        <p:nvSpPr>
          <p:cNvPr id="57" name="Shape 55"/>
          <p:cNvSpPr/>
          <p:nvPr/>
        </p:nvSpPr>
        <p:spPr>
          <a:xfrm flipH="1">
            <a:off x="4846320" y="3072384"/>
            <a:ext cx="1051560" cy="91"/>
          </a:xfrm>
          <a:prstGeom prst="line">
            <a:avLst/>
          </a:prstGeom>
          <a:noFill/>
          <a:ln w="201168">
            <a:solidFill>
              <a:srgbClr val="D9534F"/>
            </a:solidFill>
            <a:prstDash val="solid"/>
          </a:ln>
        </p:spPr>
      </p:sp>
      <p:sp>
        <p:nvSpPr>
          <p:cNvPr id="58" name="Shape 56"/>
          <p:cNvSpPr/>
          <p:nvPr/>
        </p:nvSpPr>
        <p:spPr>
          <a:xfrm>
            <a:off x="3145536" y="3310128"/>
            <a:ext cx="109728" cy="146304"/>
          </a:xfrm>
          <a:prstGeom prst="line">
            <a:avLst/>
          </a:prstGeom>
          <a:noFill/>
          <a:ln w="28575">
            <a:solidFill>
              <a:srgbClr val="133536"/>
            </a:solidFill>
            <a:prstDash val="solid"/>
          </a:ln>
        </p:spPr>
      </p:sp>
      <p:sp>
        <p:nvSpPr>
          <p:cNvPr id="59" name="Shape 57"/>
          <p:cNvSpPr/>
          <p:nvPr/>
        </p:nvSpPr>
        <p:spPr>
          <a:xfrm flipH="1">
            <a:off x="3255264" y="3310128"/>
            <a:ext cx="109728" cy="146304"/>
          </a:xfrm>
          <a:prstGeom prst="line">
            <a:avLst/>
          </a:prstGeom>
          <a:noFill/>
          <a:ln w="28575">
            <a:solidFill>
              <a:srgbClr val="133536"/>
            </a:solidFill>
            <a:prstDash val="solid"/>
          </a:ln>
        </p:spPr>
      </p:sp>
      <p:sp>
        <p:nvSpPr>
          <p:cNvPr id="60" name="Shape 58"/>
          <p:cNvSpPr/>
          <p:nvPr/>
        </p:nvSpPr>
        <p:spPr>
          <a:xfrm>
            <a:off x="3794760" y="3310128"/>
            <a:ext cx="118872" cy="146304"/>
          </a:xfrm>
          <a:prstGeom prst="line">
            <a:avLst/>
          </a:prstGeom>
          <a:noFill/>
          <a:ln w="28575">
            <a:solidFill>
              <a:srgbClr val="133536"/>
            </a:solidFill>
            <a:prstDash val="solid"/>
          </a:ln>
        </p:spPr>
      </p:sp>
      <p:sp>
        <p:nvSpPr>
          <p:cNvPr id="61" name="Shape 59"/>
          <p:cNvSpPr/>
          <p:nvPr/>
        </p:nvSpPr>
        <p:spPr>
          <a:xfrm flipH="1">
            <a:off x="3913632" y="3310128"/>
            <a:ext cx="118872" cy="146304"/>
          </a:xfrm>
          <a:prstGeom prst="line">
            <a:avLst/>
          </a:prstGeom>
          <a:noFill/>
          <a:ln w="28575">
            <a:solidFill>
              <a:srgbClr val="133536"/>
            </a:solidFill>
            <a:prstDash val="solid"/>
          </a:ln>
        </p:spPr>
      </p:sp>
      <p:sp>
        <p:nvSpPr>
          <p:cNvPr id="62" name="Text 60"/>
          <p:cNvSpPr/>
          <p:nvPr/>
        </p:nvSpPr>
        <p:spPr>
          <a:xfrm>
            <a:off x="2395728" y="2560320"/>
            <a:ext cx="658368" cy="685800"/>
          </a:xfrm>
          <a:prstGeom prst="rect">
            <a:avLst/>
          </a:prstGeom>
          <a:noFill/>
          <a:ln/>
        </p:spPr>
        <p:txBody>
          <a:bodyPr wrap="square" lIns="0" tIns="0" rIns="0" bIns="0" rtlCol="0" anchor="ctr"/>
          <a:lstStyle/>
          <a:p>
            <a:pPr algn="ctr" indent="0" marL="0">
              <a:buNone/>
            </a:pPr>
            <a:r>
              <a:rPr lang="en-US" sz="1000" b="1" dirty="0">
                <a:solidFill>
                  <a:srgbClr val="1F4E8C"/>
                </a:solidFill>
                <a:latin typeface="Calibri" pitchFamily="34" charset="0"/>
                <a:ea typeface="Calibri" pitchFamily="34" charset="-122"/>
                <a:cs typeface="Calibri" pitchFamily="34" charset="-120"/>
              </a:rPr>
              <a:t>right</a:t>
            </a:r>
            <a:endParaRPr lang="en-US" sz="1000" dirty="0"/>
          </a:p>
          <a:p>
            <a:pPr algn="ctr" indent="0" marL="0">
              <a:buNone/>
            </a:pPr>
            <a:r>
              <a:rPr lang="en-US" sz="1000" b="1" dirty="0">
                <a:solidFill>
                  <a:srgbClr val="1F4E8C"/>
                </a:solidFill>
                <a:latin typeface="Calibri" pitchFamily="34" charset="0"/>
                <a:ea typeface="Calibri" pitchFamily="34" charset="-122"/>
                <a:cs typeface="Calibri" pitchFamily="34" charset="-120"/>
              </a:rPr>
              <a:t>atrium</a:t>
            </a:r>
            <a:endParaRPr lang="en-US" sz="1000" dirty="0"/>
          </a:p>
        </p:txBody>
      </p:sp>
      <p:sp>
        <p:nvSpPr>
          <p:cNvPr id="63" name="Text 61"/>
          <p:cNvSpPr/>
          <p:nvPr/>
        </p:nvSpPr>
        <p:spPr>
          <a:xfrm>
            <a:off x="4224528" y="2560320"/>
            <a:ext cx="658368" cy="685800"/>
          </a:xfrm>
          <a:prstGeom prst="rect">
            <a:avLst/>
          </a:prstGeom>
          <a:noFill/>
          <a:ln/>
        </p:spPr>
        <p:txBody>
          <a:bodyPr wrap="square" lIns="0" tIns="0" rIns="0" bIns="0" rtlCol="0" anchor="ctr"/>
          <a:lstStyle/>
          <a:p>
            <a:pPr algn="ctr" indent="0" marL="0">
              <a:buNone/>
            </a:pPr>
            <a:r>
              <a:rPr lang="en-US" sz="1000" b="1" dirty="0">
                <a:solidFill>
                  <a:srgbClr val="8E2A33"/>
                </a:solidFill>
                <a:latin typeface="Calibri" pitchFamily="34" charset="0"/>
                <a:ea typeface="Calibri" pitchFamily="34" charset="-122"/>
                <a:cs typeface="Calibri" pitchFamily="34" charset="-120"/>
              </a:rPr>
              <a:t>left</a:t>
            </a:r>
            <a:endParaRPr lang="en-US" sz="1000" dirty="0"/>
          </a:p>
          <a:p>
            <a:pPr algn="ctr" indent="0" marL="0">
              <a:buNone/>
            </a:pPr>
            <a:r>
              <a:rPr lang="en-US" sz="1000" b="1" dirty="0">
                <a:solidFill>
                  <a:srgbClr val="8E2A33"/>
                </a:solidFill>
                <a:latin typeface="Calibri" pitchFamily="34" charset="0"/>
                <a:ea typeface="Calibri" pitchFamily="34" charset="-122"/>
                <a:cs typeface="Calibri" pitchFamily="34" charset="-120"/>
              </a:rPr>
              <a:t>atrium</a:t>
            </a:r>
            <a:endParaRPr lang="en-US" sz="1000" dirty="0"/>
          </a:p>
        </p:txBody>
      </p:sp>
      <p:sp>
        <p:nvSpPr>
          <p:cNvPr id="64" name="Text 62"/>
          <p:cNvSpPr/>
          <p:nvPr/>
        </p:nvSpPr>
        <p:spPr>
          <a:xfrm>
            <a:off x="2395728" y="4160520"/>
            <a:ext cx="1078992" cy="548640"/>
          </a:xfrm>
          <a:prstGeom prst="rect">
            <a:avLst/>
          </a:prstGeom>
          <a:noFill/>
          <a:ln/>
        </p:spPr>
        <p:txBody>
          <a:bodyPr wrap="square" lIns="0" tIns="0" rIns="0" bIns="0" rtlCol="0" anchor="ctr"/>
          <a:lstStyle/>
          <a:p>
            <a:pPr algn="ctr" indent="0" marL="0">
              <a:buNone/>
            </a:pPr>
            <a:r>
              <a:rPr lang="en-US" sz="1050" b="1" dirty="0">
                <a:solidFill>
                  <a:srgbClr val="1F4E8C"/>
                </a:solidFill>
                <a:latin typeface="Calibri" pitchFamily="34" charset="0"/>
                <a:ea typeface="Calibri" pitchFamily="34" charset="-122"/>
                <a:cs typeface="Calibri" pitchFamily="34" charset="-120"/>
              </a:rPr>
              <a:t>right</a:t>
            </a:r>
            <a:endParaRPr lang="en-US" sz="1050" dirty="0"/>
          </a:p>
          <a:p>
            <a:pPr algn="ctr" indent="0" marL="0">
              <a:buNone/>
            </a:pPr>
            <a:r>
              <a:rPr lang="en-US" sz="1050" b="1" dirty="0">
                <a:solidFill>
                  <a:srgbClr val="1F4E8C"/>
                </a:solidFill>
                <a:latin typeface="Calibri" pitchFamily="34" charset="0"/>
                <a:ea typeface="Calibri" pitchFamily="34" charset="-122"/>
                <a:cs typeface="Calibri" pitchFamily="34" charset="-120"/>
              </a:rPr>
              <a:t>ventricle</a:t>
            </a:r>
            <a:endParaRPr lang="en-US" sz="1050" dirty="0"/>
          </a:p>
        </p:txBody>
      </p:sp>
      <p:sp>
        <p:nvSpPr>
          <p:cNvPr id="65" name="Text 63"/>
          <p:cNvSpPr/>
          <p:nvPr/>
        </p:nvSpPr>
        <p:spPr>
          <a:xfrm>
            <a:off x="3749040" y="4069080"/>
            <a:ext cx="841248" cy="548640"/>
          </a:xfrm>
          <a:prstGeom prst="rect">
            <a:avLst/>
          </a:prstGeom>
          <a:noFill/>
          <a:ln/>
        </p:spPr>
        <p:txBody>
          <a:bodyPr wrap="square" lIns="0" tIns="0" rIns="0" bIns="0" rtlCol="0" anchor="ctr"/>
          <a:lstStyle/>
          <a:p>
            <a:pPr algn="ctr" indent="0" marL="0">
              <a:buNone/>
            </a:pPr>
            <a:r>
              <a:rPr lang="en-US" sz="1050" b="1" dirty="0">
                <a:solidFill>
                  <a:srgbClr val="8E2A33"/>
                </a:solidFill>
                <a:latin typeface="Calibri" pitchFamily="34" charset="0"/>
                <a:ea typeface="Calibri" pitchFamily="34" charset="-122"/>
                <a:cs typeface="Calibri" pitchFamily="34" charset="-120"/>
              </a:rPr>
              <a:t>left</a:t>
            </a:r>
            <a:endParaRPr lang="en-US" sz="1050" dirty="0"/>
          </a:p>
          <a:p>
            <a:pPr algn="ctr" indent="0" marL="0">
              <a:buNone/>
            </a:pPr>
            <a:r>
              <a:rPr lang="en-US" sz="1050" b="1" dirty="0">
                <a:solidFill>
                  <a:srgbClr val="8E2A33"/>
                </a:solidFill>
                <a:latin typeface="Calibri" pitchFamily="34" charset="0"/>
                <a:ea typeface="Calibri" pitchFamily="34" charset="-122"/>
                <a:cs typeface="Calibri" pitchFamily="34" charset="-120"/>
              </a:rPr>
              <a:t>ventricle</a:t>
            </a:r>
            <a:endParaRPr lang="en-US" sz="1050" dirty="0"/>
          </a:p>
        </p:txBody>
      </p:sp>
      <p:sp>
        <p:nvSpPr>
          <p:cNvPr id="66" name="Shape 64"/>
          <p:cNvSpPr/>
          <p:nvPr/>
        </p:nvSpPr>
        <p:spPr>
          <a:xfrm>
            <a:off x="1920240" y="1600200"/>
            <a:ext cx="91" cy="502920"/>
          </a:xfrm>
          <a:prstGeom prst="line">
            <a:avLst/>
          </a:prstGeom>
          <a:noFill/>
          <a:ln w="19050">
            <a:solidFill>
              <a:srgbClr val="FFFFFF"/>
            </a:solidFill>
            <a:prstDash val="solid"/>
            <a:tailEnd type="triangle"/>
          </a:ln>
        </p:spPr>
      </p:sp>
      <p:sp>
        <p:nvSpPr>
          <p:cNvPr id="67" name="Shape 65"/>
          <p:cNvSpPr/>
          <p:nvPr/>
        </p:nvSpPr>
        <p:spPr>
          <a:xfrm flipV="1">
            <a:off x="1920240" y="4206240"/>
            <a:ext cx="91" cy="777240"/>
          </a:xfrm>
          <a:prstGeom prst="line">
            <a:avLst/>
          </a:prstGeom>
          <a:noFill/>
          <a:ln w="19050">
            <a:solidFill>
              <a:srgbClr val="FFFFFF"/>
            </a:solidFill>
            <a:prstDash val="solid"/>
            <a:tailEnd type="triangle"/>
          </a:ln>
        </p:spPr>
      </p:sp>
      <p:sp>
        <p:nvSpPr>
          <p:cNvPr id="68" name="Shape 66"/>
          <p:cNvSpPr/>
          <p:nvPr/>
        </p:nvSpPr>
        <p:spPr>
          <a:xfrm>
            <a:off x="2697480" y="2971800"/>
            <a:ext cx="91" cy="731520"/>
          </a:xfrm>
          <a:prstGeom prst="line">
            <a:avLst/>
          </a:prstGeom>
          <a:noFill/>
          <a:ln w="19050">
            <a:solidFill>
              <a:srgbClr val="1F4E8C"/>
            </a:solidFill>
            <a:prstDash val="solid"/>
            <a:tailEnd type="triangle"/>
          </a:ln>
        </p:spPr>
      </p:sp>
      <p:sp>
        <p:nvSpPr>
          <p:cNvPr id="69" name="Shape 67"/>
          <p:cNvSpPr/>
          <p:nvPr/>
        </p:nvSpPr>
        <p:spPr>
          <a:xfrm flipV="1">
            <a:off x="3108960" y="3675888"/>
            <a:ext cx="146304" cy="438912"/>
          </a:xfrm>
          <a:prstGeom prst="line">
            <a:avLst/>
          </a:prstGeom>
          <a:noFill/>
          <a:ln w="19050">
            <a:solidFill>
              <a:srgbClr val="1F4E8C"/>
            </a:solidFill>
            <a:prstDash val="solid"/>
            <a:tailEnd type="triangle"/>
          </a:ln>
        </p:spPr>
      </p:sp>
      <p:sp>
        <p:nvSpPr>
          <p:cNvPr id="70" name="Shape 68"/>
          <p:cNvSpPr/>
          <p:nvPr/>
        </p:nvSpPr>
        <p:spPr>
          <a:xfrm flipV="1">
            <a:off x="3255264" y="2331720"/>
            <a:ext cx="91" cy="685800"/>
          </a:xfrm>
          <a:prstGeom prst="line">
            <a:avLst/>
          </a:prstGeom>
          <a:noFill/>
          <a:ln w="19050">
            <a:solidFill>
              <a:srgbClr val="FFFFFF"/>
            </a:solidFill>
            <a:prstDash val="solid"/>
            <a:tailEnd type="triangle"/>
          </a:ln>
        </p:spPr>
      </p:sp>
      <p:sp>
        <p:nvSpPr>
          <p:cNvPr id="71" name="Shape 69"/>
          <p:cNvSpPr/>
          <p:nvPr/>
        </p:nvSpPr>
        <p:spPr>
          <a:xfrm flipH="1">
            <a:off x="2468880" y="2057400"/>
            <a:ext cx="502920" cy="91"/>
          </a:xfrm>
          <a:prstGeom prst="line">
            <a:avLst/>
          </a:prstGeom>
          <a:noFill/>
          <a:ln w="19050">
            <a:solidFill>
              <a:srgbClr val="FFFFFF"/>
            </a:solidFill>
            <a:prstDash val="solid"/>
            <a:tailEnd type="triangle"/>
          </a:ln>
        </p:spPr>
      </p:sp>
      <p:sp>
        <p:nvSpPr>
          <p:cNvPr id="72" name="Shape 70"/>
          <p:cNvSpPr/>
          <p:nvPr/>
        </p:nvSpPr>
        <p:spPr>
          <a:xfrm>
            <a:off x="4206240" y="2057400"/>
            <a:ext cx="475488" cy="91"/>
          </a:xfrm>
          <a:prstGeom prst="line">
            <a:avLst/>
          </a:prstGeom>
          <a:noFill/>
          <a:ln w="19050">
            <a:solidFill>
              <a:srgbClr val="FFFFFF"/>
            </a:solidFill>
            <a:prstDash val="solid"/>
            <a:tailEnd type="triangle"/>
          </a:ln>
        </p:spPr>
      </p:sp>
      <p:sp>
        <p:nvSpPr>
          <p:cNvPr id="73" name="Shape 71"/>
          <p:cNvSpPr/>
          <p:nvPr/>
        </p:nvSpPr>
        <p:spPr>
          <a:xfrm>
            <a:off x="4407408" y="2926080"/>
            <a:ext cx="91" cy="777240"/>
          </a:xfrm>
          <a:prstGeom prst="line">
            <a:avLst/>
          </a:prstGeom>
          <a:noFill/>
          <a:ln w="19050">
            <a:solidFill>
              <a:srgbClr val="8E2A33"/>
            </a:solidFill>
            <a:prstDash val="solid"/>
            <a:tailEnd type="triangle"/>
          </a:ln>
        </p:spPr>
      </p:sp>
      <p:sp>
        <p:nvSpPr>
          <p:cNvPr id="74" name="Shape 72"/>
          <p:cNvSpPr/>
          <p:nvPr/>
        </p:nvSpPr>
        <p:spPr>
          <a:xfrm flipH="1" flipV="1">
            <a:off x="3913632" y="3675888"/>
            <a:ext cx="128016" cy="393192"/>
          </a:xfrm>
          <a:prstGeom prst="line">
            <a:avLst/>
          </a:prstGeom>
          <a:noFill/>
          <a:ln w="19050">
            <a:solidFill>
              <a:srgbClr val="8E2A33"/>
            </a:solidFill>
            <a:prstDash val="solid"/>
            <a:tailEnd type="triangle"/>
          </a:ln>
        </p:spPr>
      </p:sp>
      <p:sp>
        <p:nvSpPr>
          <p:cNvPr id="75" name="Shape 73"/>
          <p:cNvSpPr/>
          <p:nvPr/>
        </p:nvSpPr>
        <p:spPr>
          <a:xfrm flipV="1">
            <a:off x="3913632" y="1828800"/>
            <a:ext cx="91" cy="1188720"/>
          </a:xfrm>
          <a:prstGeom prst="line">
            <a:avLst/>
          </a:prstGeom>
          <a:noFill/>
          <a:ln w="19050">
            <a:solidFill>
              <a:srgbClr val="FFFFFF"/>
            </a:solidFill>
            <a:prstDash val="solid"/>
            <a:tailEnd type="triangle"/>
          </a:ln>
        </p:spPr>
      </p:sp>
      <p:sp>
        <p:nvSpPr>
          <p:cNvPr id="76" name="Shape 74"/>
          <p:cNvSpPr/>
          <p:nvPr/>
        </p:nvSpPr>
        <p:spPr>
          <a:xfrm>
            <a:off x="5440680" y="1783080"/>
            <a:ext cx="91" cy="429768"/>
          </a:xfrm>
          <a:prstGeom prst="line">
            <a:avLst/>
          </a:prstGeom>
          <a:noFill/>
          <a:ln w="19050">
            <a:solidFill>
              <a:srgbClr val="FFFFFF"/>
            </a:solidFill>
            <a:prstDash val="solid"/>
            <a:tailEnd type="triangle"/>
          </a:ln>
        </p:spPr>
      </p:sp>
      <p:sp>
        <p:nvSpPr>
          <p:cNvPr id="77" name="Shape 75"/>
          <p:cNvSpPr/>
          <p:nvPr/>
        </p:nvSpPr>
        <p:spPr>
          <a:xfrm flipH="1">
            <a:off x="5303520" y="2724912"/>
            <a:ext cx="548640" cy="91"/>
          </a:xfrm>
          <a:prstGeom prst="line">
            <a:avLst/>
          </a:prstGeom>
          <a:noFill/>
          <a:ln w="19050">
            <a:solidFill>
              <a:srgbClr val="FFFFFF"/>
            </a:solidFill>
            <a:prstDash val="solid"/>
            <a:tailEnd type="triangle"/>
          </a:ln>
        </p:spPr>
      </p:sp>
      <p:sp>
        <p:nvSpPr>
          <p:cNvPr id="78" name="Shape 76"/>
          <p:cNvSpPr/>
          <p:nvPr/>
        </p:nvSpPr>
        <p:spPr>
          <a:xfrm flipH="1">
            <a:off x="5303520" y="3072384"/>
            <a:ext cx="548640" cy="91"/>
          </a:xfrm>
          <a:prstGeom prst="line">
            <a:avLst/>
          </a:prstGeom>
          <a:noFill/>
          <a:ln w="19050">
            <a:solidFill>
              <a:srgbClr val="FFFFFF"/>
            </a:solidFill>
            <a:prstDash val="solid"/>
            <a:tailEnd type="triangle"/>
          </a:ln>
        </p:spPr>
      </p:sp>
      <p:sp>
        <p:nvSpPr>
          <p:cNvPr id="79" name="Shape 77"/>
          <p:cNvSpPr/>
          <p:nvPr/>
        </p:nvSpPr>
        <p:spPr>
          <a:xfrm flipH="1">
            <a:off x="1600200" y="1481328"/>
            <a:ext cx="228600" cy="91"/>
          </a:xfrm>
          <a:prstGeom prst="line">
            <a:avLst/>
          </a:prstGeom>
          <a:noFill/>
          <a:ln w="9525">
            <a:solidFill>
              <a:srgbClr val="133536"/>
            </a:solidFill>
            <a:prstDash val="solid"/>
          </a:ln>
        </p:spPr>
      </p:sp>
      <p:sp>
        <p:nvSpPr>
          <p:cNvPr id="80" name="Text 78"/>
          <p:cNvSpPr/>
          <p:nvPr/>
        </p:nvSpPr>
        <p:spPr>
          <a:xfrm>
            <a:off x="420624" y="1275588"/>
            <a:ext cx="1143000" cy="41148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vena cava</a:t>
            </a:r>
            <a:r>
              <a:rPr lang="en-US" sz="1050" dirty="0">
                <a:solidFill>
                  <a:srgbClr val="262B3A"/>
                </a:solidFill>
                <a:latin typeface="Calibri" pitchFamily="34" charset="0"/>
                <a:ea typeface="Calibri" pitchFamily="34" charset="-122"/>
                <a:cs typeface="Calibri" pitchFamily="34" charset="-120"/>
              </a:rPr>
              <a:t> from the body</a:t>
            </a:r>
            <a:endParaRPr lang="en-US" sz="1050" dirty="0"/>
          </a:p>
        </p:txBody>
      </p:sp>
      <p:sp>
        <p:nvSpPr>
          <p:cNvPr id="81" name="Shape 79"/>
          <p:cNvSpPr/>
          <p:nvPr/>
        </p:nvSpPr>
        <p:spPr>
          <a:xfrm flipH="1">
            <a:off x="1737360" y="2057400"/>
            <a:ext cx="713232" cy="137160"/>
          </a:xfrm>
          <a:prstGeom prst="line">
            <a:avLst/>
          </a:prstGeom>
          <a:noFill/>
          <a:ln w="9525">
            <a:solidFill>
              <a:srgbClr val="133536"/>
            </a:solidFill>
            <a:prstDash val="solid"/>
          </a:ln>
        </p:spPr>
      </p:sp>
      <p:sp>
        <p:nvSpPr>
          <p:cNvPr id="82" name="Text 80"/>
          <p:cNvSpPr/>
          <p:nvPr/>
        </p:nvSpPr>
        <p:spPr>
          <a:xfrm>
            <a:off x="512064" y="1988820"/>
            <a:ext cx="1188720" cy="411480"/>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pulmonary artery</a:t>
            </a:r>
            <a:r>
              <a:rPr lang="en-US" sz="1050" dirty="0">
                <a:solidFill>
                  <a:srgbClr val="262B3A"/>
                </a:solidFill>
                <a:latin typeface="Calibri" pitchFamily="34" charset="0"/>
                <a:ea typeface="Calibri" pitchFamily="34" charset="-122"/>
                <a:cs typeface="Calibri" pitchFamily="34" charset="-120"/>
              </a:rPr>
              <a:t> to the lungs</a:t>
            </a:r>
            <a:endParaRPr lang="en-US" sz="1050" dirty="0"/>
          </a:p>
        </p:txBody>
      </p:sp>
      <p:sp>
        <p:nvSpPr>
          <p:cNvPr id="83" name="Shape 81"/>
          <p:cNvSpPr/>
          <p:nvPr/>
        </p:nvSpPr>
        <p:spPr>
          <a:xfrm flipH="1">
            <a:off x="1600200" y="3401568"/>
            <a:ext cx="960120" cy="91"/>
          </a:xfrm>
          <a:prstGeom prst="line">
            <a:avLst/>
          </a:prstGeom>
          <a:noFill/>
          <a:ln w="9525">
            <a:solidFill>
              <a:srgbClr val="133536"/>
            </a:solidFill>
            <a:prstDash val="solid"/>
          </a:ln>
        </p:spPr>
      </p:sp>
      <p:sp>
        <p:nvSpPr>
          <p:cNvPr id="84" name="Text 82"/>
          <p:cNvSpPr/>
          <p:nvPr/>
        </p:nvSpPr>
        <p:spPr>
          <a:xfrm>
            <a:off x="420624" y="3127248"/>
            <a:ext cx="1143000" cy="548640"/>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valve</a:t>
            </a:r>
            <a:r>
              <a:rPr lang="en-US" sz="1000" dirty="0">
                <a:solidFill>
                  <a:srgbClr val="262B3A"/>
                </a:solidFill>
                <a:latin typeface="Calibri" pitchFamily="34" charset="0"/>
                <a:ea typeface="Calibri" pitchFamily="34" charset="-122"/>
                <a:cs typeface="Calibri" pitchFamily="34" charset="-120"/>
              </a:rPr>
              <a:t>: stops backflow into the atrium</a:t>
            </a:r>
            <a:endParaRPr lang="en-US" sz="1000" dirty="0"/>
          </a:p>
        </p:txBody>
      </p:sp>
      <p:sp>
        <p:nvSpPr>
          <p:cNvPr id="85" name="Shape 83"/>
          <p:cNvSpPr/>
          <p:nvPr/>
        </p:nvSpPr>
        <p:spPr>
          <a:xfrm flipH="1">
            <a:off x="1600200" y="4526280"/>
            <a:ext cx="685800" cy="91"/>
          </a:xfrm>
          <a:prstGeom prst="line">
            <a:avLst/>
          </a:prstGeom>
          <a:noFill/>
          <a:ln w="9525">
            <a:solidFill>
              <a:srgbClr val="133536"/>
            </a:solidFill>
            <a:prstDash val="solid"/>
          </a:ln>
        </p:spPr>
      </p:sp>
      <p:sp>
        <p:nvSpPr>
          <p:cNvPr id="86" name="Text 84"/>
          <p:cNvSpPr/>
          <p:nvPr/>
        </p:nvSpPr>
        <p:spPr>
          <a:xfrm>
            <a:off x="420624" y="4320540"/>
            <a:ext cx="1143000" cy="4114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thin wall: pumps to the </a:t>
            </a:r>
            <a:r>
              <a:rPr lang="en-US" sz="1000" b="1" dirty="0">
                <a:solidFill>
                  <a:srgbClr val="262B3A"/>
                </a:solidFill>
                <a:latin typeface="Calibri" pitchFamily="34" charset="0"/>
                <a:ea typeface="Calibri" pitchFamily="34" charset="-122"/>
                <a:cs typeface="Calibri" pitchFamily="34" charset="-120"/>
              </a:rPr>
              <a:t>lungs</a:t>
            </a:r>
            <a:endParaRPr lang="en-US" sz="1000" dirty="0"/>
          </a:p>
        </p:txBody>
      </p:sp>
      <p:sp>
        <p:nvSpPr>
          <p:cNvPr id="87" name="Shape 85"/>
          <p:cNvSpPr/>
          <p:nvPr/>
        </p:nvSpPr>
        <p:spPr>
          <a:xfrm flipH="1">
            <a:off x="1600200" y="5074920"/>
            <a:ext cx="228600" cy="91"/>
          </a:xfrm>
          <a:prstGeom prst="line">
            <a:avLst/>
          </a:prstGeom>
          <a:noFill/>
          <a:ln w="9525">
            <a:solidFill>
              <a:srgbClr val="133536"/>
            </a:solidFill>
            <a:prstDash val="solid"/>
          </a:ln>
        </p:spPr>
      </p:sp>
      <p:sp>
        <p:nvSpPr>
          <p:cNvPr id="88" name="Text 86"/>
          <p:cNvSpPr/>
          <p:nvPr/>
        </p:nvSpPr>
        <p:spPr>
          <a:xfrm>
            <a:off x="420624" y="4946904"/>
            <a:ext cx="1143000" cy="25603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vena cava</a:t>
            </a:r>
            <a:endParaRPr lang="en-US" sz="1000" dirty="0"/>
          </a:p>
        </p:txBody>
      </p:sp>
      <p:sp>
        <p:nvSpPr>
          <p:cNvPr id="89" name="Shape 87"/>
          <p:cNvSpPr/>
          <p:nvPr/>
        </p:nvSpPr>
        <p:spPr>
          <a:xfrm flipV="1">
            <a:off x="5120640" y="1298448"/>
            <a:ext cx="365760" cy="73152"/>
          </a:xfrm>
          <a:prstGeom prst="line">
            <a:avLst/>
          </a:prstGeom>
          <a:noFill/>
          <a:ln w="9525">
            <a:solidFill>
              <a:srgbClr val="133536"/>
            </a:solidFill>
            <a:prstDash val="solid"/>
          </a:ln>
        </p:spPr>
      </p:sp>
      <p:sp>
        <p:nvSpPr>
          <p:cNvPr id="90" name="Text 88"/>
          <p:cNvSpPr/>
          <p:nvPr/>
        </p:nvSpPr>
        <p:spPr>
          <a:xfrm>
            <a:off x="5522976" y="1092708"/>
            <a:ext cx="1417320" cy="41148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aorta</a:t>
            </a:r>
            <a:r>
              <a:rPr lang="en-US" sz="1050" dirty="0">
                <a:solidFill>
                  <a:srgbClr val="262B3A"/>
                </a:solidFill>
                <a:latin typeface="Calibri" pitchFamily="34" charset="0"/>
                <a:ea typeface="Calibri" pitchFamily="34" charset="-122"/>
                <a:cs typeface="Calibri" pitchFamily="34" charset="-120"/>
              </a:rPr>
              <a:t> to the body</a:t>
            </a:r>
            <a:endParaRPr lang="en-US" sz="1050" dirty="0"/>
          </a:p>
        </p:txBody>
      </p:sp>
      <p:sp>
        <p:nvSpPr>
          <p:cNvPr id="91" name="Text 89"/>
          <p:cNvSpPr/>
          <p:nvPr/>
        </p:nvSpPr>
        <p:spPr>
          <a:xfrm>
            <a:off x="4096512" y="1700784"/>
            <a:ext cx="1280160" cy="219456"/>
          </a:xfrm>
          <a:prstGeom prst="rect">
            <a:avLst/>
          </a:prstGeom>
          <a:noFill/>
          <a:ln/>
        </p:spPr>
        <p:txBody>
          <a:bodyPr wrap="square" lIns="0" tIns="0" rIns="0" bIns="0" rtlCol="0" anchor="ctr"/>
          <a:lstStyle/>
          <a:p>
            <a:pPr algn="l" indent="0" marL="0">
              <a:buNone/>
            </a:pPr>
            <a:r>
              <a:rPr lang="en-US" sz="1000" i="1" dirty="0">
                <a:solidFill>
                  <a:srgbClr val="1F4E8C"/>
                </a:solidFill>
                <a:latin typeface="Calibri" pitchFamily="34" charset="0"/>
                <a:ea typeface="Calibri" pitchFamily="34" charset="-122"/>
                <a:cs typeface="Calibri" pitchFamily="34" charset="-120"/>
              </a:rPr>
              <a:t>to the lungs</a:t>
            </a:r>
            <a:endParaRPr lang="en-US" sz="1000" dirty="0"/>
          </a:p>
        </p:txBody>
      </p:sp>
      <p:sp>
        <p:nvSpPr>
          <p:cNvPr id="92" name="Shape 90"/>
          <p:cNvSpPr/>
          <p:nvPr/>
        </p:nvSpPr>
        <p:spPr>
          <a:xfrm>
            <a:off x="5897880" y="2898648"/>
            <a:ext cx="91440" cy="91"/>
          </a:xfrm>
          <a:prstGeom prst="line">
            <a:avLst/>
          </a:prstGeom>
          <a:noFill/>
          <a:ln w="9525">
            <a:solidFill>
              <a:srgbClr val="133536"/>
            </a:solidFill>
            <a:prstDash val="solid"/>
          </a:ln>
        </p:spPr>
      </p:sp>
      <p:sp>
        <p:nvSpPr>
          <p:cNvPr id="93" name="Text 91"/>
          <p:cNvSpPr/>
          <p:nvPr/>
        </p:nvSpPr>
        <p:spPr>
          <a:xfrm>
            <a:off x="6025896" y="2624328"/>
            <a:ext cx="960120" cy="54864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pulmonary vein</a:t>
            </a:r>
            <a:r>
              <a:rPr lang="en-US" sz="1000" dirty="0">
                <a:solidFill>
                  <a:srgbClr val="262B3A"/>
                </a:solidFill>
                <a:latin typeface="Calibri" pitchFamily="34" charset="0"/>
                <a:ea typeface="Calibri" pitchFamily="34" charset="-122"/>
                <a:cs typeface="Calibri" pitchFamily="34" charset="-120"/>
              </a:rPr>
              <a:t> from the lungs</a:t>
            </a:r>
            <a:endParaRPr lang="en-US" sz="1000" dirty="0"/>
          </a:p>
        </p:txBody>
      </p:sp>
      <p:sp>
        <p:nvSpPr>
          <p:cNvPr id="94" name="Shape 92"/>
          <p:cNvSpPr/>
          <p:nvPr/>
        </p:nvSpPr>
        <p:spPr>
          <a:xfrm>
            <a:off x="4937760" y="4206240"/>
            <a:ext cx="548640" cy="91"/>
          </a:xfrm>
          <a:prstGeom prst="line">
            <a:avLst/>
          </a:prstGeom>
          <a:noFill/>
          <a:ln w="9525">
            <a:solidFill>
              <a:srgbClr val="133536"/>
            </a:solidFill>
            <a:prstDash val="solid"/>
          </a:ln>
        </p:spPr>
      </p:sp>
      <p:sp>
        <p:nvSpPr>
          <p:cNvPr id="95" name="Text 93"/>
          <p:cNvSpPr/>
          <p:nvPr/>
        </p:nvSpPr>
        <p:spPr>
          <a:xfrm>
            <a:off x="5522976" y="3931920"/>
            <a:ext cx="1463040" cy="54864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thick wall of </a:t>
            </a:r>
            <a:r>
              <a:rPr lang="en-US" sz="1000" b="1" dirty="0">
                <a:solidFill>
                  <a:srgbClr val="262B3A"/>
                </a:solidFill>
                <a:latin typeface="Calibri" pitchFamily="34" charset="0"/>
                <a:ea typeface="Calibri" pitchFamily="34" charset="-122"/>
                <a:cs typeface="Calibri" pitchFamily="34" charset="-120"/>
              </a:rPr>
              <a:t>cardiac muscle</a:t>
            </a:r>
            <a:r>
              <a:rPr lang="en-US" sz="1000" dirty="0">
                <a:solidFill>
                  <a:srgbClr val="262B3A"/>
                </a:solidFill>
                <a:latin typeface="Calibri" pitchFamily="34" charset="0"/>
                <a:ea typeface="Calibri" pitchFamily="34" charset="-122"/>
                <a:cs typeface="Calibri" pitchFamily="34" charset="-120"/>
              </a:rPr>
              <a:t>: pumps to the whole </a:t>
            </a:r>
            <a:r>
              <a:rPr lang="en-US" sz="1000" b="1" dirty="0">
                <a:solidFill>
                  <a:srgbClr val="262B3A"/>
                </a:solidFill>
                <a:latin typeface="Calibri" pitchFamily="34" charset="0"/>
                <a:ea typeface="Calibri" pitchFamily="34" charset="-122"/>
                <a:cs typeface="Calibri" pitchFamily="34" charset="-120"/>
              </a:rPr>
              <a:t>body</a:t>
            </a:r>
            <a:endParaRPr lang="en-US" sz="1000" dirty="0"/>
          </a:p>
        </p:txBody>
      </p:sp>
      <p:sp>
        <p:nvSpPr>
          <p:cNvPr id="96" name="Shape 94"/>
          <p:cNvSpPr/>
          <p:nvPr/>
        </p:nvSpPr>
        <p:spPr>
          <a:xfrm>
            <a:off x="4498848" y="3364992"/>
            <a:ext cx="987552" cy="219456"/>
          </a:xfrm>
          <a:prstGeom prst="line">
            <a:avLst/>
          </a:prstGeom>
          <a:noFill/>
          <a:ln w="9525">
            <a:solidFill>
              <a:srgbClr val="133536"/>
            </a:solidFill>
            <a:prstDash val="solid"/>
          </a:ln>
        </p:spPr>
      </p:sp>
      <p:sp>
        <p:nvSpPr>
          <p:cNvPr id="97" name="Text 95"/>
          <p:cNvSpPr/>
          <p:nvPr/>
        </p:nvSpPr>
        <p:spPr>
          <a:xfrm>
            <a:off x="5522976" y="3456432"/>
            <a:ext cx="132588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valves</a:t>
            </a:r>
            <a:r>
              <a:rPr lang="en-US" sz="1000" dirty="0">
                <a:solidFill>
                  <a:srgbClr val="262B3A"/>
                </a:solidFill>
                <a:latin typeface="Calibri" pitchFamily="34" charset="0"/>
                <a:ea typeface="Calibri" pitchFamily="34" charset="-122"/>
                <a:cs typeface="Calibri" pitchFamily="34" charset="-120"/>
              </a:rPr>
              <a:t>: one-way flow</a:t>
            </a:r>
            <a:endParaRPr lang="en-US" sz="1000" dirty="0"/>
          </a:p>
        </p:txBody>
      </p:sp>
      <p:sp>
        <p:nvSpPr>
          <p:cNvPr id="98" name="Shape 96"/>
          <p:cNvSpPr/>
          <p:nvPr/>
        </p:nvSpPr>
        <p:spPr>
          <a:xfrm>
            <a:off x="4041648" y="3401568"/>
            <a:ext cx="1444752" cy="182880"/>
          </a:xfrm>
          <a:prstGeom prst="line">
            <a:avLst/>
          </a:prstGeom>
          <a:noFill/>
          <a:ln w="9525">
            <a:solidFill>
              <a:srgbClr val="133536"/>
            </a:solidFill>
            <a:prstDash val="solid"/>
          </a:ln>
        </p:spPr>
      </p:sp>
      <p:sp>
        <p:nvSpPr>
          <p:cNvPr id="99" name="Shape 97"/>
          <p:cNvSpPr/>
          <p:nvPr/>
        </p:nvSpPr>
        <p:spPr>
          <a:xfrm>
            <a:off x="3611880" y="4864608"/>
            <a:ext cx="1874520" cy="91"/>
          </a:xfrm>
          <a:prstGeom prst="line">
            <a:avLst/>
          </a:prstGeom>
          <a:noFill/>
          <a:ln w="9525">
            <a:solidFill>
              <a:srgbClr val="133536"/>
            </a:solidFill>
            <a:prstDash val="solid"/>
          </a:ln>
        </p:spPr>
      </p:sp>
      <p:sp>
        <p:nvSpPr>
          <p:cNvPr id="100" name="Text 98"/>
          <p:cNvSpPr/>
          <p:nvPr/>
        </p:nvSpPr>
        <p:spPr>
          <a:xfrm>
            <a:off x="5522976" y="4658868"/>
            <a:ext cx="1463040" cy="41148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septum</a:t>
            </a:r>
            <a:r>
              <a:rPr lang="en-US" sz="1000" dirty="0">
                <a:solidFill>
                  <a:srgbClr val="262B3A"/>
                </a:solidFill>
                <a:latin typeface="Calibri" pitchFamily="34" charset="0"/>
                <a:ea typeface="Calibri" pitchFamily="34" charset="-122"/>
                <a:cs typeface="Calibri" pitchFamily="34" charset="-120"/>
              </a:rPr>
              <a:t>: keeps the two sides apart</a:t>
            </a:r>
            <a:endParaRPr lang="en-US" sz="1000" dirty="0"/>
          </a:p>
        </p:txBody>
      </p:sp>
      <p:sp>
        <p:nvSpPr>
          <p:cNvPr id="101" name="Shape 99"/>
          <p:cNvSpPr/>
          <p:nvPr/>
        </p:nvSpPr>
        <p:spPr>
          <a:xfrm>
            <a:off x="548640" y="5458968"/>
            <a:ext cx="6309360" cy="237744"/>
          </a:xfrm>
          <a:prstGeom prst="rect">
            <a:avLst/>
          </a:prstGeom>
          <a:solidFill>
            <a:srgbClr val="FFFFFF"/>
          </a:solidFill>
          <a:ln/>
        </p:spPr>
      </p:sp>
      <p:sp>
        <p:nvSpPr>
          <p:cNvPr id="102" name="Text 100"/>
          <p:cNvSpPr/>
          <p:nvPr/>
        </p:nvSpPr>
        <p:spPr>
          <a:xfrm>
            <a:off x="548640" y="5458968"/>
            <a:ext cx="6309360" cy="237744"/>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front view: the person's </a:t>
            </a:r>
            <a:r>
              <a:rPr lang="en-US" sz="1000" b="1" i="1" dirty="0">
                <a:solidFill>
                  <a:srgbClr val="6B7385"/>
                </a:solidFill>
                <a:latin typeface="Calibri" pitchFamily="34" charset="0"/>
                <a:ea typeface="Calibri" pitchFamily="34" charset="-122"/>
                <a:cs typeface="Calibri" pitchFamily="34" charset="-120"/>
              </a:rPr>
              <a:t>RIGHT</a:t>
            </a:r>
            <a:r>
              <a:rPr lang="en-US" sz="1000" i="1" dirty="0">
                <a:solidFill>
                  <a:srgbClr val="6B7385"/>
                </a:solidFill>
                <a:latin typeface="Calibri" pitchFamily="34" charset="0"/>
                <a:ea typeface="Calibri" pitchFamily="34" charset="-122"/>
                <a:cs typeface="Calibri" pitchFamily="34" charset="-120"/>
              </a:rPr>
              <a:t> side is on </a:t>
            </a:r>
            <a:r>
              <a:rPr lang="en-US" sz="1000" b="1" i="1" dirty="0">
                <a:solidFill>
                  <a:srgbClr val="6B7385"/>
                </a:solidFill>
                <a:latin typeface="Calibri" pitchFamily="34" charset="0"/>
                <a:ea typeface="Calibri" pitchFamily="34" charset="-122"/>
                <a:cs typeface="Calibri" pitchFamily="34" charset="-120"/>
              </a:rPr>
              <a:t>YOUR LEFT</a:t>
            </a:r>
            <a:r>
              <a:rPr lang="en-US" sz="1000" i="1" dirty="0">
                <a:solidFill>
                  <a:srgbClr val="6B7385"/>
                </a:solidFill>
                <a:latin typeface="Calibri" pitchFamily="34" charset="0"/>
                <a:ea typeface="Calibri" pitchFamily="34" charset="-122"/>
                <a:cs typeface="Calibri" pitchFamily="34" charset="-120"/>
              </a:rPr>
              <a:t>. Red = oxygenated, blue = deoxygenated.</a:t>
            </a:r>
            <a:endParaRPr lang="en-US" sz="1000" dirty="0"/>
          </a:p>
        </p:txBody>
      </p:sp>
      <p:sp>
        <p:nvSpPr>
          <p:cNvPr id="103" name="Shape 101"/>
          <p:cNvSpPr/>
          <p:nvPr/>
        </p:nvSpPr>
        <p:spPr>
          <a:xfrm>
            <a:off x="7178040" y="1188720"/>
            <a:ext cx="4599432" cy="4526280"/>
          </a:xfrm>
          <a:prstGeom prst="roundRect">
            <a:avLst>
              <a:gd name="adj" fmla="val 1212"/>
            </a:avLst>
          </a:prstGeom>
          <a:solidFill>
            <a:srgbClr val="F4FAF9"/>
          </a:solidFill>
          <a:ln w="9525">
            <a:solidFill>
              <a:srgbClr val="CFE0DE"/>
            </a:solidFill>
            <a:prstDash val="solid"/>
          </a:ln>
        </p:spPr>
      </p:sp>
      <p:sp>
        <p:nvSpPr>
          <p:cNvPr id="104" name="Text 102"/>
          <p:cNvSpPr/>
          <p:nvPr/>
        </p:nvSpPr>
        <p:spPr>
          <a:xfrm>
            <a:off x="7342632" y="1280160"/>
            <a:ext cx="427024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the structure fits the job</a:t>
            </a:r>
            <a:endParaRPr lang="en-US" sz="1300" dirty="0"/>
          </a:p>
        </p:txBody>
      </p:sp>
      <p:sp>
        <p:nvSpPr>
          <p:cNvPr id="105" name="Text 103"/>
          <p:cNvSpPr/>
          <p:nvPr/>
        </p:nvSpPr>
        <p:spPr>
          <a:xfrm>
            <a:off x="7342632" y="1609344"/>
            <a:ext cx="4270248" cy="40325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Cardiac muscle</a:t>
            </a:r>
            <a:r>
              <a:rPr lang="en-US" sz="1100" dirty="0">
                <a:solidFill>
                  <a:srgbClr val="262B3A"/>
                </a:solidFill>
                <a:latin typeface="Calibri" pitchFamily="34" charset="0"/>
                <a:ea typeface="Calibri" pitchFamily="34" charset="-122"/>
                <a:cs typeface="Calibri" pitchFamily="34" charset="-120"/>
              </a:rPr>
              <a:t> in the walls contracts again and again without tiring, to pump blood.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Four chambers</a:t>
            </a:r>
            <a:r>
              <a:rPr lang="en-US" sz="1100" dirty="0">
                <a:solidFill>
                  <a:srgbClr val="262B3A"/>
                </a:solidFill>
                <a:latin typeface="Calibri" pitchFamily="34" charset="0"/>
                <a:ea typeface="Calibri" pitchFamily="34" charset="-122"/>
                <a:cs typeface="Calibri" pitchFamily="34" charset="-120"/>
              </a:rPr>
              <a:t>: two </a:t>
            </a:r>
            <a:r>
              <a:rPr lang="en-US" sz="1100" b="1" dirty="0">
                <a:solidFill>
                  <a:srgbClr val="262B3A"/>
                </a:solidFill>
                <a:latin typeface="Calibri" pitchFamily="34" charset="0"/>
                <a:ea typeface="Calibri" pitchFamily="34" charset="-122"/>
                <a:cs typeface="Calibri" pitchFamily="34" charset="-120"/>
              </a:rPr>
              <a:t>atria</a:t>
            </a:r>
            <a:r>
              <a:rPr lang="en-US" sz="1100" dirty="0">
                <a:solidFill>
                  <a:srgbClr val="262B3A"/>
                </a:solidFill>
                <a:latin typeface="Calibri" pitchFamily="34" charset="0"/>
                <a:ea typeface="Calibri" pitchFamily="34" charset="-122"/>
                <a:cs typeface="Calibri" pitchFamily="34" charset="-120"/>
              </a:rPr>
              <a:t> (top) receive blood; two </a:t>
            </a:r>
            <a:r>
              <a:rPr lang="en-US" sz="1100" b="1" dirty="0">
                <a:solidFill>
                  <a:srgbClr val="262B3A"/>
                </a:solidFill>
                <a:latin typeface="Calibri" pitchFamily="34" charset="0"/>
                <a:ea typeface="Calibri" pitchFamily="34" charset="-122"/>
                <a:cs typeface="Calibri" pitchFamily="34" charset="-120"/>
              </a:rPr>
              <a:t>ventricles</a:t>
            </a:r>
            <a:r>
              <a:rPr lang="en-US" sz="1100" dirty="0">
                <a:solidFill>
                  <a:srgbClr val="262B3A"/>
                </a:solidFill>
                <a:latin typeface="Calibri" pitchFamily="34" charset="0"/>
                <a:ea typeface="Calibri" pitchFamily="34" charset="-122"/>
                <a:cs typeface="Calibri" pitchFamily="34" charset="-120"/>
              </a:rPr>
              <a:t> (bottom) pump it out.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left ventricle</a:t>
            </a:r>
            <a:r>
              <a:rPr lang="en-US" sz="1100" dirty="0">
                <a:solidFill>
                  <a:srgbClr val="262B3A"/>
                </a:solidFill>
                <a:latin typeface="Calibri" pitchFamily="34" charset="0"/>
                <a:ea typeface="Calibri" pitchFamily="34" charset="-122"/>
                <a:cs typeface="Calibri" pitchFamily="34" charset="-120"/>
              </a:rPr>
              <a:t> has the </a:t>
            </a:r>
            <a:r>
              <a:rPr lang="en-US" sz="1100" b="1" dirty="0">
                <a:solidFill>
                  <a:srgbClr val="262B3A"/>
                </a:solidFill>
                <a:latin typeface="Calibri" pitchFamily="34" charset="0"/>
                <a:ea typeface="Calibri" pitchFamily="34" charset="-122"/>
                <a:cs typeface="Calibri" pitchFamily="34" charset="-120"/>
              </a:rPr>
              <a:t>thickest wall</a:t>
            </a:r>
            <a:r>
              <a:rPr lang="en-US" sz="1100" dirty="0">
                <a:solidFill>
                  <a:srgbClr val="262B3A"/>
                </a:solidFill>
                <a:latin typeface="Calibri" pitchFamily="34" charset="0"/>
                <a:ea typeface="Calibri" pitchFamily="34" charset="-122"/>
                <a:cs typeface="Calibri" pitchFamily="34" charset="-120"/>
              </a:rPr>
              <a:t>: it pumps blood all round the body at high pressure.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right ventricle wall is thinner: it pumps only to the nearby lungs (lower pressure protects the alveoli).</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Valves</a:t>
            </a:r>
            <a:r>
              <a:rPr lang="en-US" sz="1100" dirty="0">
                <a:solidFill>
                  <a:srgbClr val="262B3A"/>
                </a:solidFill>
                <a:latin typeface="Calibri" pitchFamily="34" charset="0"/>
                <a:ea typeface="Calibri" pitchFamily="34" charset="-122"/>
                <a:cs typeface="Calibri" pitchFamily="34" charset="-120"/>
              </a:rPr>
              <a:t> stop blood flowing backwards: between atria and ventricles, and at the base of the arteries.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septum</a:t>
            </a:r>
            <a:r>
              <a:rPr lang="en-US" sz="1100" dirty="0">
                <a:solidFill>
                  <a:srgbClr val="262B3A"/>
                </a:solidFill>
                <a:latin typeface="Calibri" pitchFamily="34" charset="0"/>
                <a:ea typeface="Calibri" pitchFamily="34" charset="-122"/>
                <a:cs typeface="Calibri" pitchFamily="34" charset="-120"/>
              </a:rPr>
              <a:t> keeps oxygenated and deoxygenated blood apart.</a:t>
            </a:r>
            <a:endParaRPr lang="en-US" sz="1100" dirty="0"/>
          </a:p>
        </p:txBody>
      </p:sp>
      <p:sp>
        <p:nvSpPr>
          <p:cNvPr id="106" name="Shape 104"/>
          <p:cNvSpPr/>
          <p:nvPr/>
        </p:nvSpPr>
        <p:spPr>
          <a:xfrm>
            <a:off x="411480" y="5833872"/>
            <a:ext cx="11368735" cy="530352"/>
          </a:xfrm>
          <a:prstGeom prst="rect">
            <a:avLst/>
          </a:prstGeom>
          <a:solidFill>
            <a:srgbClr val="FFF4E0"/>
          </a:solidFill>
          <a:ln w="6350">
            <a:solidFill>
              <a:srgbClr val="F1D9A8"/>
            </a:solidFill>
            <a:prstDash val="solid"/>
          </a:ln>
        </p:spPr>
      </p:sp>
      <p:sp>
        <p:nvSpPr>
          <p:cNvPr id="107" name="Shape 105"/>
          <p:cNvSpPr/>
          <p:nvPr/>
        </p:nvSpPr>
        <p:spPr>
          <a:xfrm>
            <a:off x="411480" y="5833872"/>
            <a:ext cx="82296" cy="530352"/>
          </a:xfrm>
          <a:prstGeom prst="rect">
            <a:avLst/>
          </a:prstGeom>
          <a:solidFill>
            <a:srgbClr val="E39A2F"/>
          </a:solidFill>
          <a:ln w="12700">
            <a:solidFill>
              <a:srgbClr val="E39A2F"/>
            </a:solidFill>
            <a:prstDash val="solid"/>
          </a:ln>
        </p:spPr>
      </p:sp>
      <p:sp>
        <p:nvSpPr>
          <p:cNvPr id="108" name="Text 10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chamber with the </a:t>
            </a:r>
            <a:r>
              <a:rPr lang="en-US" sz="1150" b="1" dirty="0">
                <a:solidFill>
                  <a:srgbClr val="262B3A"/>
                </a:solidFill>
                <a:latin typeface="Calibri" pitchFamily="34" charset="0"/>
                <a:ea typeface="Calibri" pitchFamily="34" charset="-122"/>
                <a:cs typeface="Calibri" pitchFamily="34" charset="-120"/>
              </a:rPr>
              <a:t>thickest</a:t>
            </a:r>
            <a:r>
              <a:rPr lang="en-US" sz="1150" dirty="0">
                <a:solidFill>
                  <a:srgbClr val="262B3A"/>
                </a:solidFill>
                <a:latin typeface="Calibri" pitchFamily="34" charset="0"/>
                <a:ea typeface="Calibri" pitchFamily="34" charset="-122"/>
                <a:cs typeface="Calibri" pitchFamily="34" charset="-120"/>
              </a:rPr>
              <a:t> wall and explain why. Name the vessel that carries blood </a:t>
            </a:r>
            <a:r>
              <a:rPr lang="en-US" sz="1150" b="1" dirty="0">
                <a:solidFill>
                  <a:srgbClr val="262B3A"/>
                </a:solidFill>
                <a:latin typeface="Calibri" pitchFamily="34" charset="0"/>
                <a:ea typeface="Calibri" pitchFamily="34" charset="-122"/>
                <a:cs typeface="Calibri" pitchFamily="34" charset="-120"/>
              </a:rPr>
              <a:t>from</a:t>
            </a:r>
            <a:r>
              <a:rPr lang="en-US" sz="1150" dirty="0">
                <a:solidFill>
                  <a:srgbClr val="262B3A"/>
                </a:solidFill>
                <a:latin typeface="Calibri" pitchFamily="34" charset="0"/>
                <a:ea typeface="Calibri" pitchFamily="34" charset="-122"/>
                <a:cs typeface="Calibri" pitchFamily="34" charset="-120"/>
              </a:rPr>
              <a:t> this chamber.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path of blood through the heart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B5.1.4 • atria fill, ventricles contract, valves keep the flow one way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B5.1.4  |  17</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read the right side top to bottom, then the left side bottom to top</a:t>
            </a:r>
            <a:endParaRPr lang="en-US" sz="1000" dirty="0"/>
          </a:p>
        </p:txBody>
      </p:sp>
      <p:sp>
        <p:nvSpPr>
          <p:cNvPr id="10" name="Text 8"/>
          <p:cNvSpPr/>
          <p:nvPr/>
        </p:nvSpPr>
        <p:spPr>
          <a:xfrm>
            <a:off x="548640" y="1280160"/>
            <a:ext cx="2560320" cy="292608"/>
          </a:xfrm>
          <a:prstGeom prst="rect">
            <a:avLst/>
          </a:prstGeom>
          <a:noFill/>
          <a:ln/>
        </p:spPr>
        <p:txBody>
          <a:bodyPr wrap="square" lIns="0" tIns="0" rIns="0" bIns="0" rtlCol="0" anchor="ctr"/>
          <a:lstStyle/>
          <a:p>
            <a:pPr algn="ctr" indent="0" marL="0">
              <a:buNone/>
            </a:pPr>
            <a:r>
              <a:rPr lang="en-US" sz="1100" b="1" dirty="0">
                <a:solidFill>
                  <a:srgbClr val="1F4E8C"/>
                </a:solidFill>
                <a:latin typeface="Calibri" pitchFamily="34" charset="0"/>
                <a:ea typeface="Calibri" pitchFamily="34" charset="-122"/>
                <a:cs typeface="Calibri" pitchFamily="34" charset="-120"/>
              </a:rPr>
              <a:t>Right</a:t>
            </a:r>
            <a:r>
              <a:rPr lang="en-US" sz="1100" dirty="0">
                <a:solidFill>
                  <a:srgbClr val="1F4E8C"/>
                </a:solidFill>
                <a:latin typeface="Calibri" pitchFamily="34" charset="0"/>
                <a:ea typeface="Calibri" pitchFamily="34" charset="-122"/>
                <a:cs typeface="Calibri" pitchFamily="34" charset="-120"/>
              </a:rPr>
              <a:t> side: deoxygenated</a:t>
            </a:r>
            <a:endParaRPr lang="en-US" sz="1100" dirty="0"/>
          </a:p>
        </p:txBody>
      </p:sp>
      <p:sp>
        <p:nvSpPr>
          <p:cNvPr id="11" name="Text 9"/>
          <p:cNvSpPr/>
          <p:nvPr/>
        </p:nvSpPr>
        <p:spPr>
          <a:xfrm>
            <a:off x="3246120" y="1280160"/>
            <a:ext cx="2560320" cy="292608"/>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Left</a:t>
            </a:r>
            <a:r>
              <a:rPr lang="en-US" sz="1100" dirty="0">
                <a:solidFill>
                  <a:srgbClr val="8E2A33"/>
                </a:solidFill>
                <a:latin typeface="Calibri" pitchFamily="34" charset="0"/>
                <a:ea typeface="Calibri" pitchFamily="34" charset="-122"/>
                <a:cs typeface="Calibri" pitchFamily="34" charset="-120"/>
              </a:rPr>
              <a:t> side: oxygenated</a:t>
            </a:r>
            <a:endParaRPr lang="en-US" sz="1100" dirty="0"/>
          </a:p>
        </p:txBody>
      </p:sp>
      <p:sp>
        <p:nvSpPr>
          <p:cNvPr id="12" name="Shape 10"/>
          <p:cNvSpPr/>
          <p:nvPr/>
        </p:nvSpPr>
        <p:spPr>
          <a:xfrm>
            <a:off x="822960" y="1664208"/>
            <a:ext cx="2011680" cy="402336"/>
          </a:xfrm>
          <a:prstGeom prst="roundRect">
            <a:avLst>
              <a:gd name="adj" fmla="val 11364"/>
            </a:avLst>
          </a:prstGeom>
          <a:solidFill>
            <a:srgbClr val="F3EBDD"/>
          </a:solidFill>
          <a:ln w="12700">
            <a:solidFill>
              <a:srgbClr val="A08F6A"/>
            </a:solidFill>
            <a:prstDash val="solid"/>
          </a:ln>
        </p:spPr>
      </p:sp>
      <p:sp>
        <p:nvSpPr>
          <p:cNvPr id="13" name="Text 11"/>
          <p:cNvSpPr/>
          <p:nvPr/>
        </p:nvSpPr>
        <p:spPr>
          <a:xfrm>
            <a:off x="859536" y="1664208"/>
            <a:ext cx="1938528" cy="40233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body</a:t>
            </a:r>
            <a:endParaRPr lang="en-US" sz="1050" dirty="0"/>
          </a:p>
        </p:txBody>
      </p:sp>
      <p:sp>
        <p:nvSpPr>
          <p:cNvPr id="14" name="Shape 12"/>
          <p:cNvSpPr/>
          <p:nvPr/>
        </p:nvSpPr>
        <p:spPr>
          <a:xfrm>
            <a:off x="1828800" y="2066544"/>
            <a:ext cx="91" cy="128016"/>
          </a:xfrm>
          <a:prstGeom prst="line">
            <a:avLst/>
          </a:prstGeom>
          <a:noFill/>
          <a:ln w="22225">
            <a:solidFill>
              <a:srgbClr val="1F4E8C"/>
            </a:solidFill>
            <a:prstDash val="solid"/>
            <a:tailEnd type="triangle"/>
          </a:ln>
        </p:spPr>
      </p:sp>
      <p:sp>
        <p:nvSpPr>
          <p:cNvPr id="15" name="Shape 13"/>
          <p:cNvSpPr/>
          <p:nvPr/>
        </p:nvSpPr>
        <p:spPr>
          <a:xfrm>
            <a:off x="822960" y="2194560"/>
            <a:ext cx="2011680" cy="402336"/>
          </a:xfrm>
          <a:prstGeom prst="roundRect">
            <a:avLst>
              <a:gd name="adj" fmla="val 11364"/>
            </a:avLst>
          </a:prstGeom>
          <a:solidFill>
            <a:srgbClr val="C3D6F2"/>
          </a:solidFill>
          <a:ln w="12700">
            <a:solidFill>
              <a:srgbClr val="1F4E8C"/>
            </a:solidFill>
            <a:prstDash val="solid"/>
          </a:ln>
        </p:spPr>
      </p:sp>
      <p:sp>
        <p:nvSpPr>
          <p:cNvPr id="16" name="Text 14"/>
          <p:cNvSpPr/>
          <p:nvPr/>
        </p:nvSpPr>
        <p:spPr>
          <a:xfrm>
            <a:off x="859536" y="2194560"/>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vena cava</a:t>
            </a:r>
            <a:endParaRPr lang="en-US" sz="1050" dirty="0"/>
          </a:p>
        </p:txBody>
      </p:sp>
      <p:sp>
        <p:nvSpPr>
          <p:cNvPr id="17" name="Shape 15"/>
          <p:cNvSpPr/>
          <p:nvPr/>
        </p:nvSpPr>
        <p:spPr>
          <a:xfrm>
            <a:off x="1828800" y="2596896"/>
            <a:ext cx="91" cy="128016"/>
          </a:xfrm>
          <a:prstGeom prst="line">
            <a:avLst/>
          </a:prstGeom>
          <a:noFill/>
          <a:ln w="22225">
            <a:solidFill>
              <a:srgbClr val="1F4E8C"/>
            </a:solidFill>
            <a:prstDash val="solid"/>
            <a:tailEnd type="triangle"/>
          </a:ln>
        </p:spPr>
      </p:sp>
      <p:sp>
        <p:nvSpPr>
          <p:cNvPr id="18" name="Shape 16"/>
          <p:cNvSpPr/>
          <p:nvPr/>
        </p:nvSpPr>
        <p:spPr>
          <a:xfrm>
            <a:off x="822960" y="2724912"/>
            <a:ext cx="2011680" cy="402336"/>
          </a:xfrm>
          <a:prstGeom prst="roundRect">
            <a:avLst>
              <a:gd name="adj" fmla="val 11364"/>
            </a:avLst>
          </a:prstGeom>
          <a:solidFill>
            <a:srgbClr val="C3D6F2"/>
          </a:solidFill>
          <a:ln w="12700">
            <a:solidFill>
              <a:srgbClr val="1F4E8C"/>
            </a:solidFill>
            <a:prstDash val="solid"/>
          </a:ln>
        </p:spPr>
      </p:sp>
      <p:sp>
        <p:nvSpPr>
          <p:cNvPr id="19" name="Text 17"/>
          <p:cNvSpPr/>
          <p:nvPr/>
        </p:nvSpPr>
        <p:spPr>
          <a:xfrm>
            <a:off x="859536" y="2724912"/>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right atrium</a:t>
            </a:r>
            <a:endParaRPr lang="en-US" sz="1050" dirty="0"/>
          </a:p>
        </p:txBody>
      </p:sp>
      <p:sp>
        <p:nvSpPr>
          <p:cNvPr id="20" name="Shape 18"/>
          <p:cNvSpPr/>
          <p:nvPr/>
        </p:nvSpPr>
        <p:spPr>
          <a:xfrm>
            <a:off x="1828800" y="3127248"/>
            <a:ext cx="91" cy="128016"/>
          </a:xfrm>
          <a:prstGeom prst="line">
            <a:avLst/>
          </a:prstGeom>
          <a:noFill/>
          <a:ln w="22225">
            <a:solidFill>
              <a:srgbClr val="1F4E8C"/>
            </a:solidFill>
            <a:prstDash val="solid"/>
            <a:tailEnd type="triangle"/>
          </a:ln>
        </p:spPr>
      </p:sp>
      <p:sp>
        <p:nvSpPr>
          <p:cNvPr id="21" name="Shape 19"/>
          <p:cNvSpPr/>
          <p:nvPr/>
        </p:nvSpPr>
        <p:spPr>
          <a:xfrm>
            <a:off x="822960" y="3255264"/>
            <a:ext cx="2011680" cy="402336"/>
          </a:xfrm>
          <a:prstGeom prst="roundRect">
            <a:avLst>
              <a:gd name="adj" fmla="val 11364"/>
            </a:avLst>
          </a:prstGeom>
          <a:solidFill>
            <a:srgbClr val="FFF4E0"/>
          </a:solidFill>
          <a:ln w="12700">
            <a:solidFill>
              <a:srgbClr val="E39A2F"/>
            </a:solidFill>
            <a:prstDash val="solid"/>
          </a:ln>
        </p:spPr>
      </p:sp>
      <p:sp>
        <p:nvSpPr>
          <p:cNvPr id="22" name="Text 20"/>
          <p:cNvSpPr/>
          <p:nvPr/>
        </p:nvSpPr>
        <p:spPr>
          <a:xfrm>
            <a:off x="859536" y="3255264"/>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valve</a:t>
            </a:r>
            <a:endParaRPr lang="en-US" sz="1050" dirty="0"/>
          </a:p>
        </p:txBody>
      </p:sp>
      <p:sp>
        <p:nvSpPr>
          <p:cNvPr id="23" name="Shape 21"/>
          <p:cNvSpPr/>
          <p:nvPr/>
        </p:nvSpPr>
        <p:spPr>
          <a:xfrm>
            <a:off x="1828800" y="3657600"/>
            <a:ext cx="91" cy="128016"/>
          </a:xfrm>
          <a:prstGeom prst="line">
            <a:avLst/>
          </a:prstGeom>
          <a:noFill/>
          <a:ln w="22225">
            <a:solidFill>
              <a:srgbClr val="1F4E8C"/>
            </a:solidFill>
            <a:prstDash val="solid"/>
            <a:tailEnd type="triangle"/>
          </a:ln>
        </p:spPr>
      </p:sp>
      <p:sp>
        <p:nvSpPr>
          <p:cNvPr id="24" name="Shape 22"/>
          <p:cNvSpPr/>
          <p:nvPr/>
        </p:nvSpPr>
        <p:spPr>
          <a:xfrm>
            <a:off x="822960" y="3785616"/>
            <a:ext cx="2011680" cy="402336"/>
          </a:xfrm>
          <a:prstGeom prst="roundRect">
            <a:avLst>
              <a:gd name="adj" fmla="val 11364"/>
            </a:avLst>
          </a:prstGeom>
          <a:solidFill>
            <a:srgbClr val="C3D6F2"/>
          </a:solidFill>
          <a:ln w="12700">
            <a:solidFill>
              <a:srgbClr val="1F4E8C"/>
            </a:solidFill>
            <a:prstDash val="solid"/>
          </a:ln>
        </p:spPr>
      </p:sp>
      <p:sp>
        <p:nvSpPr>
          <p:cNvPr id="25" name="Text 23"/>
          <p:cNvSpPr/>
          <p:nvPr/>
        </p:nvSpPr>
        <p:spPr>
          <a:xfrm>
            <a:off x="859536" y="3785616"/>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right ventricle</a:t>
            </a:r>
            <a:endParaRPr lang="en-US" sz="1050" dirty="0"/>
          </a:p>
        </p:txBody>
      </p:sp>
      <p:sp>
        <p:nvSpPr>
          <p:cNvPr id="26" name="Shape 24"/>
          <p:cNvSpPr/>
          <p:nvPr/>
        </p:nvSpPr>
        <p:spPr>
          <a:xfrm>
            <a:off x="1828800" y="4187952"/>
            <a:ext cx="91" cy="128016"/>
          </a:xfrm>
          <a:prstGeom prst="line">
            <a:avLst/>
          </a:prstGeom>
          <a:noFill/>
          <a:ln w="22225">
            <a:solidFill>
              <a:srgbClr val="1F4E8C"/>
            </a:solidFill>
            <a:prstDash val="solid"/>
            <a:tailEnd type="triangle"/>
          </a:ln>
        </p:spPr>
      </p:sp>
      <p:sp>
        <p:nvSpPr>
          <p:cNvPr id="27" name="Shape 25"/>
          <p:cNvSpPr/>
          <p:nvPr/>
        </p:nvSpPr>
        <p:spPr>
          <a:xfrm>
            <a:off x="822960" y="4315968"/>
            <a:ext cx="2011680" cy="402336"/>
          </a:xfrm>
          <a:prstGeom prst="roundRect">
            <a:avLst>
              <a:gd name="adj" fmla="val 11364"/>
            </a:avLst>
          </a:prstGeom>
          <a:solidFill>
            <a:srgbClr val="C3D6F2"/>
          </a:solidFill>
          <a:ln w="12700">
            <a:solidFill>
              <a:srgbClr val="1F4E8C"/>
            </a:solidFill>
            <a:prstDash val="solid"/>
          </a:ln>
        </p:spPr>
      </p:sp>
      <p:sp>
        <p:nvSpPr>
          <p:cNvPr id="28" name="Text 26"/>
          <p:cNvSpPr/>
          <p:nvPr/>
        </p:nvSpPr>
        <p:spPr>
          <a:xfrm>
            <a:off x="859536" y="4315968"/>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pulmonary artery</a:t>
            </a:r>
            <a:endParaRPr lang="en-US" sz="1050" dirty="0"/>
          </a:p>
        </p:txBody>
      </p:sp>
      <p:sp>
        <p:nvSpPr>
          <p:cNvPr id="29" name="Shape 27"/>
          <p:cNvSpPr/>
          <p:nvPr/>
        </p:nvSpPr>
        <p:spPr>
          <a:xfrm>
            <a:off x="1828800" y="4718304"/>
            <a:ext cx="91" cy="128016"/>
          </a:xfrm>
          <a:prstGeom prst="line">
            <a:avLst/>
          </a:prstGeom>
          <a:noFill/>
          <a:ln w="22225">
            <a:solidFill>
              <a:srgbClr val="1F4E8C"/>
            </a:solidFill>
            <a:prstDash val="solid"/>
            <a:tailEnd type="triangle"/>
          </a:ln>
        </p:spPr>
      </p:sp>
      <p:sp>
        <p:nvSpPr>
          <p:cNvPr id="30" name="Shape 28"/>
          <p:cNvSpPr/>
          <p:nvPr/>
        </p:nvSpPr>
        <p:spPr>
          <a:xfrm>
            <a:off x="822960" y="4846320"/>
            <a:ext cx="2011680" cy="402336"/>
          </a:xfrm>
          <a:prstGeom prst="roundRect">
            <a:avLst>
              <a:gd name="adj" fmla="val 11364"/>
            </a:avLst>
          </a:prstGeom>
          <a:solidFill>
            <a:srgbClr val="F3EBDD"/>
          </a:solidFill>
          <a:ln w="12700">
            <a:solidFill>
              <a:srgbClr val="A08F6A"/>
            </a:solidFill>
            <a:prstDash val="solid"/>
          </a:ln>
        </p:spPr>
      </p:sp>
      <p:sp>
        <p:nvSpPr>
          <p:cNvPr id="31" name="Text 29"/>
          <p:cNvSpPr/>
          <p:nvPr/>
        </p:nvSpPr>
        <p:spPr>
          <a:xfrm>
            <a:off x="859536" y="4846320"/>
            <a:ext cx="1938528" cy="40233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lungs</a:t>
            </a:r>
            <a:endParaRPr lang="en-US" sz="1050" dirty="0"/>
          </a:p>
        </p:txBody>
      </p:sp>
      <p:sp>
        <p:nvSpPr>
          <p:cNvPr id="32" name="Shape 30"/>
          <p:cNvSpPr/>
          <p:nvPr/>
        </p:nvSpPr>
        <p:spPr>
          <a:xfrm>
            <a:off x="3520440" y="1664208"/>
            <a:ext cx="2011680" cy="402336"/>
          </a:xfrm>
          <a:prstGeom prst="roundRect">
            <a:avLst>
              <a:gd name="adj" fmla="val 11364"/>
            </a:avLst>
          </a:prstGeom>
          <a:solidFill>
            <a:srgbClr val="F3EBDD"/>
          </a:solidFill>
          <a:ln w="12700">
            <a:solidFill>
              <a:srgbClr val="A08F6A"/>
            </a:solidFill>
            <a:prstDash val="solid"/>
          </a:ln>
        </p:spPr>
      </p:sp>
      <p:sp>
        <p:nvSpPr>
          <p:cNvPr id="33" name="Text 31"/>
          <p:cNvSpPr/>
          <p:nvPr/>
        </p:nvSpPr>
        <p:spPr>
          <a:xfrm>
            <a:off x="3557016" y="1664208"/>
            <a:ext cx="1938528" cy="40233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body</a:t>
            </a:r>
            <a:endParaRPr lang="en-US" sz="1050" dirty="0"/>
          </a:p>
        </p:txBody>
      </p:sp>
      <p:sp>
        <p:nvSpPr>
          <p:cNvPr id="34" name="Shape 32"/>
          <p:cNvSpPr/>
          <p:nvPr/>
        </p:nvSpPr>
        <p:spPr>
          <a:xfrm flipV="1">
            <a:off x="4526280" y="2066544"/>
            <a:ext cx="91" cy="128016"/>
          </a:xfrm>
          <a:prstGeom prst="line">
            <a:avLst/>
          </a:prstGeom>
          <a:noFill/>
          <a:ln w="22225">
            <a:solidFill>
              <a:srgbClr val="8E2A33"/>
            </a:solidFill>
            <a:prstDash val="solid"/>
            <a:tailEnd type="triangle"/>
          </a:ln>
        </p:spPr>
      </p:sp>
      <p:sp>
        <p:nvSpPr>
          <p:cNvPr id="35" name="Shape 33"/>
          <p:cNvSpPr/>
          <p:nvPr/>
        </p:nvSpPr>
        <p:spPr>
          <a:xfrm>
            <a:off x="3520440" y="2194560"/>
            <a:ext cx="2011680" cy="402336"/>
          </a:xfrm>
          <a:prstGeom prst="roundRect">
            <a:avLst>
              <a:gd name="adj" fmla="val 11364"/>
            </a:avLst>
          </a:prstGeom>
          <a:solidFill>
            <a:srgbClr val="F6C4C4"/>
          </a:solidFill>
          <a:ln w="12700">
            <a:solidFill>
              <a:srgbClr val="8E2A33"/>
            </a:solidFill>
            <a:prstDash val="solid"/>
          </a:ln>
        </p:spPr>
      </p:sp>
      <p:sp>
        <p:nvSpPr>
          <p:cNvPr id="36" name="Text 34"/>
          <p:cNvSpPr/>
          <p:nvPr/>
        </p:nvSpPr>
        <p:spPr>
          <a:xfrm>
            <a:off x="3557016" y="2194560"/>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aorta</a:t>
            </a:r>
            <a:endParaRPr lang="en-US" sz="1050" dirty="0"/>
          </a:p>
        </p:txBody>
      </p:sp>
      <p:sp>
        <p:nvSpPr>
          <p:cNvPr id="37" name="Shape 35"/>
          <p:cNvSpPr/>
          <p:nvPr/>
        </p:nvSpPr>
        <p:spPr>
          <a:xfrm flipV="1">
            <a:off x="4526280" y="2596896"/>
            <a:ext cx="91" cy="128016"/>
          </a:xfrm>
          <a:prstGeom prst="line">
            <a:avLst/>
          </a:prstGeom>
          <a:noFill/>
          <a:ln w="22225">
            <a:solidFill>
              <a:srgbClr val="8E2A33"/>
            </a:solidFill>
            <a:prstDash val="solid"/>
            <a:tailEnd type="triangle"/>
          </a:ln>
        </p:spPr>
      </p:sp>
      <p:sp>
        <p:nvSpPr>
          <p:cNvPr id="38" name="Shape 36"/>
          <p:cNvSpPr/>
          <p:nvPr/>
        </p:nvSpPr>
        <p:spPr>
          <a:xfrm>
            <a:off x="3520440" y="2724912"/>
            <a:ext cx="2011680" cy="402336"/>
          </a:xfrm>
          <a:prstGeom prst="roundRect">
            <a:avLst>
              <a:gd name="adj" fmla="val 11364"/>
            </a:avLst>
          </a:prstGeom>
          <a:solidFill>
            <a:srgbClr val="F6C4C4"/>
          </a:solidFill>
          <a:ln w="12700">
            <a:solidFill>
              <a:srgbClr val="8E2A33"/>
            </a:solidFill>
            <a:prstDash val="solid"/>
          </a:ln>
        </p:spPr>
      </p:sp>
      <p:sp>
        <p:nvSpPr>
          <p:cNvPr id="39" name="Text 37"/>
          <p:cNvSpPr/>
          <p:nvPr/>
        </p:nvSpPr>
        <p:spPr>
          <a:xfrm>
            <a:off x="3557016" y="2724912"/>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left ventricle</a:t>
            </a:r>
            <a:endParaRPr lang="en-US" sz="1050" dirty="0"/>
          </a:p>
        </p:txBody>
      </p:sp>
      <p:sp>
        <p:nvSpPr>
          <p:cNvPr id="40" name="Shape 38"/>
          <p:cNvSpPr/>
          <p:nvPr/>
        </p:nvSpPr>
        <p:spPr>
          <a:xfrm flipV="1">
            <a:off x="4526280" y="3127248"/>
            <a:ext cx="91" cy="128016"/>
          </a:xfrm>
          <a:prstGeom prst="line">
            <a:avLst/>
          </a:prstGeom>
          <a:noFill/>
          <a:ln w="22225">
            <a:solidFill>
              <a:srgbClr val="8E2A33"/>
            </a:solidFill>
            <a:prstDash val="solid"/>
            <a:tailEnd type="triangle"/>
          </a:ln>
        </p:spPr>
      </p:sp>
      <p:sp>
        <p:nvSpPr>
          <p:cNvPr id="41" name="Shape 39"/>
          <p:cNvSpPr/>
          <p:nvPr/>
        </p:nvSpPr>
        <p:spPr>
          <a:xfrm>
            <a:off x="3520440" y="3255264"/>
            <a:ext cx="2011680" cy="402336"/>
          </a:xfrm>
          <a:prstGeom prst="roundRect">
            <a:avLst>
              <a:gd name="adj" fmla="val 11364"/>
            </a:avLst>
          </a:prstGeom>
          <a:solidFill>
            <a:srgbClr val="FFF4E0"/>
          </a:solidFill>
          <a:ln w="12700">
            <a:solidFill>
              <a:srgbClr val="E39A2F"/>
            </a:solidFill>
            <a:prstDash val="solid"/>
          </a:ln>
        </p:spPr>
      </p:sp>
      <p:sp>
        <p:nvSpPr>
          <p:cNvPr id="42" name="Text 40"/>
          <p:cNvSpPr/>
          <p:nvPr/>
        </p:nvSpPr>
        <p:spPr>
          <a:xfrm>
            <a:off x="3557016" y="3255264"/>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valve</a:t>
            </a:r>
            <a:endParaRPr lang="en-US" sz="1050" dirty="0"/>
          </a:p>
        </p:txBody>
      </p:sp>
      <p:sp>
        <p:nvSpPr>
          <p:cNvPr id="43" name="Shape 41"/>
          <p:cNvSpPr/>
          <p:nvPr/>
        </p:nvSpPr>
        <p:spPr>
          <a:xfrm flipV="1">
            <a:off x="4526280" y="3657600"/>
            <a:ext cx="91" cy="128016"/>
          </a:xfrm>
          <a:prstGeom prst="line">
            <a:avLst/>
          </a:prstGeom>
          <a:noFill/>
          <a:ln w="22225">
            <a:solidFill>
              <a:srgbClr val="8E2A33"/>
            </a:solidFill>
            <a:prstDash val="solid"/>
            <a:tailEnd type="triangle"/>
          </a:ln>
        </p:spPr>
      </p:sp>
      <p:sp>
        <p:nvSpPr>
          <p:cNvPr id="44" name="Shape 42"/>
          <p:cNvSpPr/>
          <p:nvPr/>
        </p:nvSpPr>
        <p:spPr>
          <a:xfrm>
            <a:off x="3520440" y="3785616"/>
            <a:ext cx="2011680" cy="402336"/>
          </a:xfrm>
          <a:prstGeom prst="roundRect">
            <a:avLst>
              <a:gd name="adj" fmla="val 11364"/>
            </a:avLst>
          </a:prstGeom>
          <a:solidFill>
            <a:srgbClr val="F6C4C4"/>
          </a:solidFill>
          <a:ln w="12700">
            <a:solidFill>
              <a:srgbClr val="8E2A33"/>
            </a:solidFill>
            <a:prstDash val="solid"/>
          </a:ln>
        </p:spPr>
      </p:sp>
      <p:sp>
        <p:nvSpPr>
          <p:cNvPr id="45" name="Text 43"/>
          <p:cNvSpPr/>
          <p:nvPr/>
        </p:nvSpPr>
        <p:spPr>
          <a:xfrm>
            <a:off x="3557016" y="3785616"/>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left atrium</a:t>
            </a:r>
            <a:endParaRPr lang="en-US" sz="1050" dirty="0"/>
          </a:p>
        </p:txBody>
      </p:sp>
      <p:sp>
        <p:nvSpPr>
          <p:cNvPr id="46" name="Shape 44"/>
          <p:cNvSpPr/>
          <p:nvPr/>
        </p:nvSpPr>
        <p:spPr>
          <a:xfrm flipV="1">
            <a:off x="4526280" y="4187952"/>
            <a:ext cx="91" cy="128016"/>
          </a:xfrm>
          <a:prstGeom prst="line">
            <a:avLst/>
          </a:prstGeom>
          <a:noFill/>
          <a:ln w="22225">
            <a:solidFill>
              <a:srgbClr val="8E2A33"/>
            </a:solidFill>
            <a:prstDash val="solid"/>
            <a:tailEnd type="triangle"/>
          </a:ln>
        </p:spPr>
      </p:sp>
      <p:sp>
        <p:nvSpPr>
          <p:cNvPr id="47" name="Shape 45"/>
          <p:cNvSpPr/>
          <p:nvPr/>
        </p:nvSpPr>
        <p:spPr>
          <a:xfrm>
            <a:off x="3520440" y="4315968"/>
            <a:ext cx="2011680" cy="402336"/>
          </a:xfrm>
          <a:prstGeom prst="roundRect">
            <a:avLst>
              <a:gd name="adj" fmla="val 11364"/>
            </a:avLst>
          </a:prstGeom>
          <a:solidFill>
            <a:srgbClr val="F6C4C4"/>
          </a:solidFill>
          <a:ln w="12700">
            <a:solidFill>
              <a:srgbClr val="8E2A33"/>
            </a:solidFill>
            <a:prstDash val="solid"/>
          </a:ln>
        </p:spPr>
      </p:sp>
      <p:sp>
        <p:nvSpPr>
          <p:cNvPr id="48" name="Text 46"/>
          <p:cNvSpPr/>
          <p:nvPr/>
        </p:nvSpPr>
        <p:spPr>
          <a:xfrm>
            <a:off x="3557016" y="4315968"/>
            <a:ext cx="1938528" cy="40233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pulmonary vein</a:t>
            </a:r>
            <a:endParaRPr lang="en-US" sz="1050" dirty="0"/>
          </a:p>
        </p:txBody>
      </p:sp>
      <p:sp>
        <p:nvSpPr>
          <p:cNvPr id="49" name="Shape 47"/>
          <p:cNvSpPr/>
          <p:nvPr/>
        </p:nvSpPr>
        <p:spPr>
          <a:xfrm flipV="1">
            <a:off x="4526280" y="4718304"/>
            <a:ext cx="91" cy="128016"/>
          </a:xfrm>
          <a:prstGeom prst="line">
            <a:avLst/>
          </a:prstGeom>
          <a:noFill/>
          <a:ln w="22225">
            <a:solidFill>
              <a:srgbClr val="8E2A33"/>
            </a:solidFill>
            <a:prstDash val="solid"/>
            <a:tailEnd type="triangle"/>
          </a:ln>
        </p:spPr>
      </p:sp>
      <p:sp>
        <p:nvSpPr>
          <p:cNvPr id="50" name="Shape 48"/>
          <p:cNvSpPr/>
          <p:nvPr/>
        </p:nvSpPr>
        <p:spPr>
          <a:xfrm>
            <a:off x="3520440" y="4846320"/>
            <a:ext cx="2011680" cy="402336"/>
          </a:xfrm>
          <a:prstGeom prst="roundRect">
            <a:avLst>
              <a:gd name="adj" fmla="val 11364"/>
            </a:avLst>
          </a:prstGeom>
          <a:solidFill>
            <a:srgbClr val="F3EBDD"/>
          </a:solidFill>
          <a:ln w="12700">
            <a:solidFill>
              <a:srgbClr val="A08F6A"/>
            </a:solidFill>
            <a:prstDash val="solid"/>
          </a:ln>
        </p:spPr>
      </p:sp>
      <p:sp>
        <p:nvSpPr>
          <p:cNvPr id="51" name="Text 49"/>
          <p:cNvSpPr/>
          <p:nvPr/>
        </p:nvSpPr>
        <p:spPr>
          <a:xfrm>
            <a:off x="3557016" y="4846320"/>
            <a:ext cx="1938528" cy="40233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lungs</a:t>
            </a:r>
            <a:endParaRPr lang="en-US" sz="1050" dirty="0"/>
          </a:p>
        </p:txBody>
      </p:sp>
      <p:sp>
        <p:nvSpPr>
          <p:cNvPr id="52" name="Shape 50"/>
          <p:cNvSpPr/>
          <p:nvPr/>
        </p:nvSpPr>
        <p:spPr>
          <a:xfrm>
            <a:off x="2834640" y="5047488"/>
            <a:ext cx="685800" cy="91"/>
          </a:xfrm>
          <a:prstGeom prst="line">
            <a:avLst/>
          </a:prstGeom>
          <a:noFill/>
          <a:ln w="22225">
            <a:solidFill>
              <a:srgbClr val="133536"/>
            </a:solidFill>
            <a:prstDash val="solid"/>
            <a:tailEnd type="triangle"/>
          </a:ln>
        </p:spPr>
      </p:sp>
      <p:sp>
        <p:nvSpPr>
          <p:cNvPr id="53" name="Shape 51"/>
          <p:cNvSpPr/>
          <p:nvPr/>
        </p:nvSpPr>
        <p:spPr>
          <a:xfrm flipH="1">
            <a:off x="2834640" y="1865376"/>
            <a:ext cx="685800" cy="91"/>
          </a:xfrm>
          <a:prstGeom prst="line">
            <a:avLst/>
          </a:prstGeom>
          <a:noFill/>
          <a:ln w="22225">
            <a:solidFill>
              <a:srgbClr val="133536"/>
            </a:solidFill>
            <a:prstDash val="solid"/>
            <a:tailEnd type="triangle"/>
          </a:ln>
        </p:spPr>
      </p:sp>
      <p:sp>
        <p:nvSpPr>
          <p:cNvPr id="54" name="Shape 52"/>
          <p:cNvSpPr/>
          <p:nvPr/>
        </p:nvSpPr>
        <p:spPr>
          <a:xfrm>
            <a:off x="6217920" y="1188720"/>
            <a:ext cx="5562295" cy="2697480"/>
          </a:xfrm>
          <a:prstGeom prst="roundRect">
            <a:avLst>
              <a:gd name="adj" fmla="val 2034"/>
            </a:avLst>
          </a:prstGeom>
          <a:solidFill>
            <a:srgbClr val="F4FAF9"/>
          </a:solidFill>
          <a:ln w="9525">
            <a:solidFill>
              <a:srgbClr val="CFE0DE"/>
            </a:solidFill>
            <a:prstDash val="solid"/>
          </a:ln>
        </p:spPr>
      </p:sp>
      <p:sp>
        <p:nvSpPr>
          <p:cNvPr id="55" name="Text 5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One heartbeat</a:t>
            </a:r>
            <a:endParaRPr lang="en-US" sz="1300" dirty="0"/>
          </a:p>
        </p:txBody>
      </p:sp>
      <p:sp>
        <p:nvSpPr>
          <p:cNvPr id="56" name="Text 54"/>
          <p:cNvSpPr/>
          <p:nvPr/>
        </p:nvSpPr>
        <p:spPr>
          <a:xfrm>
            <a:off x="6382512" y="1609344"/>
            <a:ext cx="5233111"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Blood flows into both </a:t>
            </a:r>
            <a:r>
              <a:rPr lang="en-US" sz="1100" b="1" dirty="0">
                <a:solidFill>
                  <a:srgbClr val="262B3A"/>
                </a:solidFill>
                <a:latin typeface="Calibri" pitchFamily="34" charset="0"/>
                <a:ea typeface="Calibri" pitchFamily="34" charset="-122"/>
                <a:cs typeface="Calibri" pitchFamily="34" charset="-120"/>
              </a:rPr>
              <a:t>atria</a:t>
            </a:r>
            <a:r>
              <a:rPr lang="en-US" sz="1100" dirty="0">
                <a:solidFill>
                  <a:srgbClr val="262B3A"/>
                </a:solidFill>
                <a:latin typeface="Calibri" pitchFamily="34" charset="0"/>
                <a:ea typeface="Calibri" pitchFamily="34" charset="-122"/>
                <a:cs typeface="Calibri" pitchFamily="34" charset="-120"/>
              </a:rPr>
              <a:t>, which </a:t>
            </a:r>
            <a:r>
              <a:rPr lang="en-US" sz="1100" b="1" dirty="0">
                <a:solidFill>
                  <a:srgbClr val="262B3A"/>
                </a:solidFill>
                <a:latin typeface="Calibri" pitchFamily="34" charset="0"/>
                <a:ea typeface="Calibri" pitchFamily="34" charset="-122"/>
                <a:cs typeface="Calibri" pitchFamily="34" charset="-120"/>
              </a:rPr>
              <a:t>contract</a:t>
            </a:r>
            <a:r>
              <a:rPr lang="en-US" sz="1100" dirty="0">
                <a:solidFill>
                  <a:srgbClr val="262B3A"/>
                </a:solidFill>
                <a:latin typeface="Calibri" pitchFamily="34" charset="0"/>
                <a:ea typeface="Calibri" pitchFamily="34" charset="-122"/>
                <a:cs typeface="Calibri" pitchFamily="34" charset="-120"/>
              </a:rPr>
              <a:t> together and push blood into the ventricles.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Both </a:t>
            </a:r>
            <a:r>
              <a:rPr lang="en-US" sz="1100" b="1" dirty="0">
                <a:solidFill>
                  <a:srgbClr val="262B3A"/>
                </a:solidFill>
                <a:latin typeface="Calibri" pitchFamily="34" charset="0"/>
                <a:ea typeface="Calibri" pitchFamily="34" charset="-122"/>
                <a:cs typeface="Calibri" pitchFamily="34" charset="-120"/>
              </a:rPr>
              <a:t>ventricles</a:t>
            </a:r>
            <a:r>
              <a:rPr lang="en-US" sz="1100" dirty="0">
                <a:solidFill>
                  <a:srgbClr val="262B3A"/>
                </a:solidFill>
                <a:latin typeface="Calibri" pitchFamily="34" charset="0"/>
                <a:ea typeface="Calibri" pitchFamily="34" charset="-122"/>
                <a:cs typeface="Calibri" pitchFamily="34" charset="-120"/>
              </a:rPr>
              <a:t> then </a:t>
            </a:r>
            <a:r>
              <a:rPr lang="en-US" sz="1100" b="1" dirty="0">
                <a:solidFill>
                  <a:srgbClr val="262B3A"/>
                </a:solidFill>
                <a:latin typeface="Calibri" pitchFamily="34" charset="0"/>
                <a:ea typeface="Calibri" pitchFamily="34" charset="-122"/>
                <a:cs typeface="Calibri" pitchFamily="34" charset="-120"/>
              </a:rPr>
              <a:t>contract</a:t>
            </a:r>
            <a:r>
              <a:rPr lang="en-US" sz="1100" dirty="0">
                <a:solidFill>
                  <a:srgbClr val="262B3A"/>
                </a:solidFill>
                <a:latin typeface="Calibri" pitchFamily="34" charset="0"/>
                <a:ea typeface="Calibri" pitchFamily="34" charset="-122"/>
                <a:cs typeface="Calibri" pitchFamily="34" charset="-120"/>
              </a:rPr>
              <a:t> and push blood out into the arteries.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valves between atria and ventricles </a:t>
            </a:r>
            <a:r>
              <a:rPr lang="en-US" sz="1100" b="1" dirty="0">
                <a:solidFill>
                  <a:srgbClr val="262B3A"/>
                </a:solidFill>
                <a:latin typeface="Calibri" pitchFamily="34" charset="0"/>
                <a:ea typeface="Calibri" pitchFamily="34" charset="-122"/>
                <a:cs typeface="Calibri" pitchFamily="34" charset="-120"/>
              </a:rPr>
              <a:t>shut</a:t>
            </a:r>
            <a:r>
              <a:rPr lang="en-US" sz="1100" dirty="0">
                <a:solidFill>
                  <a:srgbClr val="262B3A"/>
                </a:solidFill>
                <a:latin typeface="Calibri" pitchFamily="34" charset="0"/>
                <a:ea typeface="Calibri" pitchFamily="34" charset="-122"/>
                <a:cs typeface="Calibri" pitchFamily="34" charset="-120"/>
              </a:rPr>
              <a:t> so blood cannot go back; the valves in the arteries open.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Then the heart relaxes and fills again. The two sides pump at the </a:t>
            </a:r>
            <a:r>
              <a:rPr lang="en-US" sz="1100" b="1" dirty="0">
                <a:solidFill>
                  <a:srgbClr val="262B3A"/>
                </a:solidFill>
                <a:latin typeface="Calibri" pitchFamily="34" charset="0"/>
                <a:ea typeface="Calibri" pitchFamily="34" charset="-122"/>
                <a:cs typeface="Calibri" pitchFamily="34" charset="-120"/>
              </a:rPr>
              <a:t>same time</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57" name="Shape 55"/>
          <p:cNvSpPr/>
          <p:nvPr/>
        </p:nvSpPr>
        <p:spPr>
          <a:xfrm>
            <a:off x="6217920" y="4023360"/>
            <a:ext cx="5562295" cy="1691640"/>
          </a:xfrm>
          <a:prstGeom prst="roundRect">
            <a:avLst>
              <a:gd name="adj" fmla="val 3243"/>
            </a:avLst>
          </a:prstGeom>
          <a:solidFill>
            <a:srgbClr val="FFF4E0"/>
          </a:solidFill>
          <a:ln w="9525">
            <a:solidFill>
              <a:srgbClr val="F1D9A8"/>
            </a:solidFill>
            <a:prstDash val="solid"/>
          </a:ln>
        </p:spPr>
      </p:sp>
      <p:sp>
        <p:nvSpPr>
          <p:cNvPr id="58" name="Text 56"/>
          <p:cNvSpPr/>
          <p:nvPr/>
        </p:nvSpPr>
        <p:spPr>
          <a:xfrm>
            <a:off x="6382512" y="40965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volume pumped</a:t>
            </a:r>
            <a:endParaRPr lang="en-US" sz="1300" dirty="0"/>
          </a:p>
        </p:txBody>
      </p:sp>
      <p:sp>
        <p:nvSpPr>
          <p:cNvPr id="59" name="Text 57"/>
          <p:cNvSpPr/>
          <p:nvPr/>
        </p:nvSpPr>
        <p:spPr>
          <a:xfrm>
            <a:off x="6382512" y="4407408"/>
            <a:ext cx="5233111"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Each beat, the left ventricle pumps 70 cm³ of blood. The heart beats 72 times a minute. Calculate the volume per minute in dm³.</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Multiply   </a:t>
            </a:r>
            <a:r>
              <a:rPr lang="en-US" sz="1050" dirty="0">
                <a:solidFill>
                  <a:srgbClr val="262B3A"/>
                </a:solidFill>
                <a:latin typeface="Calibri" pitchFamily="34" charset="0"/>
                <a:ea typeface="Calibri" pitchFamily="34" charset="-122"/>
                <a:cs typeface="Calibri" pitchFamily="34" charset="-120"/>
              </a:rPr>
              <a:t>70 cm³ × 72 = 5040 cm³ per minute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Convert   </a:t>
            </a:r>
            <a:r>
              <a:rPr lang="en-US" sz="1050" dirty="0">
                <a:solidFill>
                  <a:srgbClr val="262B3A"/>
                </a:solidFill>
                <a:latin typeface="Calibri" pitchFamily="34" charset="0"/>
                <a:ea typeface="Calibri" pitchFamily="34" charset="-122"/>
                <a:cs typeface="Calibri" pitchFamily="34" charset="-120"/>
              </a:rPr>
              <a:t>1 dm³ = 1000 cm³, so ÷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5.04 dm³ per minute</a:t>
            </a:r>
            <a:endParaRPr lang="en-US" sz="105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heart beats </a:t>
            </a:r>
            <a:r>
              <a:rPr lang="en-US" sz="1150" b="1" dirty="0">
                <a:solidFill>
                  <a:srgbClr val="262B3A"/>
                </a:solidFill>
                <a:latin typeface="Calibri" pitchFamily="34" charset="0"/>
                <a:ea typeface="Calibri" pitchFamily="34" charset="-122"/>
                <a:cs typeface="Calibri" pitchFamily="34" charset="-120"/>
              </a:rPr>
              <a:t>70</a:t>
            </a:r>
            <a:r>
              <a:rPr lang="en-US" sz="1150" dirty="0">
                <a:solidFill>
                  <a:srgbClr val="262B3A"/>
                </a:solidFill>
                <a:latin typeface="Calibri" pitchFamily="34" charset="0"/>
                <a:ea typeface="Calibri" pitchFamily="34" charset="-122"/>
                <a:cs typeface="Calibri" pitchFamily="34" charset="-120"/>
              </a:rPr>
              <a:t> times a minute. How many times does it beat in </a:t>
            </a:r>
            <a:r>
              <a:rPr lang="en-US" sz="1150" b="1" dirty="0">
                <a:solidFill>
                  <a:srgbClr val="262B3A"/>
                </a:solidFill>
                <a:latin typeface="Calibri" pitchFamily="34" charset="0"/>
                <a:ea typeface="Calibri" pitchFamily="34" charset="-122"/>
                <a:cs typeface="Calibri" pitchFamily="34" charset="-120"/>
              </a:rPr>
              <a:t>one hour</a:t>
            </a:r>
            <a:r>
              <a:rPr lang="en-US" sz="1150" dirty="0">
                <a:solidFill>
                  <a:srgbClr val="262B3A"/>
                </a:solidFill>
                <a:latin typeface="Calibri" pitchFamily="34" charset="0"/>
                <a:ea typeface="Calibri" pitchFamily="34" charset="-122"/>
                <a:cs typeface="Calibri" pitchFamily="34" charset="-120"/>
              </a:rPr>
              <a:t>? Why must the valves close when the ventricles contract?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B5.1.3, B5.1.4 • double circulation and the heart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human circulatory system is called a </a:t>
            </a:r>
            <a:r>
              <a:rPr lang="en-US" sz="1250" b="1" dirty="0">
                <a:solidFill>
                  <a:srgbClr val="262B3A"/>
                </a:solidFill>
                <a:latin typeface="Calibri" pitchFamily="34" charset="0"/>
                <a:ea typeface="Calibri" pitchFamily="34" charset="-122"/>
                <a:cs typeface="Calibri" pitchFamily="34" charset="-120"/>
              </a:rPr>
              <a:t>double</a:t>
            </a:r>
            <a:r>
              <a:rPr lang="en-US" sz="1250" dirty="0">
                <a:solidFill>
                  <a:srgbClr val="262B3A"/>
                </a:solidFill>
                <a:latin typeface="Calibri" pitchFamily="34" charset="0"/>
                <a:ea typeface="Calibri" pitchFamily="34" charset="-122"/>
                <a:cs typeface="Calibri" pitchFamily="34" charset="-120"/>
              </a:rPr>
              <a:t> circulation.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blood vessel that carries blood (a) </a:t>
            </a:r>
            <a:r>
              <a:rPr lang="en-US" sz="1250" b="1" dirty="0">
                <a:solidFill>
                  <a:srgbClr val="262B3A"/>
                </a:solidFill>
                <a:latin typeface="Calibri" pitchFamily="34" charset="0"/>
                <a:ea typeface="Calibri" pitchFamily="34" charset="-122"/>
                <a:cs typeface="Calibri" pitchFamily="34" charset="-120"/>
              </a:rPr>
              <a:t>from the right ventricle</a:t>
            </a:r>
            <a:r>
              <a:rPr lang="en-US" sz="1250" dirty="0">
                <a:solidFill>
                  <a:srgbClr val="262B3A"/>
                </a:solidFill>
                <a:latin typeface="Calibri" pitchFamily="34" charset="0"/>
                <a:ea typeface="Calibri" pitchFamily="34" charset="-122"/>
                <a:cs typeface="Calibri" pitchFamily="34" charset="-120"/>
              </a:rPr>
              <a:t> (b) </a:t>
            </a:r>
            <a:r>
              <a:rPr lang="en-US" sz="1250" b="1" dirty="0">
                <a:solidFill>
                  <a:srgbClr val="262B3A"/>
                </a:solidFill>
                <a:latin typeface="Calibri" pitchFamily="34" charset="0"/>
                <a:ea typeface="Calibri" pitchFamily="34" charset="-122"/>
                <a:cs typeface="Calibri" pitchFamily="34" charset="-120"/>
              </a:rPr>
              <a:t>into the left atrium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wall of the </a:t>
            </a:r>
            <a:r>
              <a:rPr lang="en-US" sz="1250" b="1" dirty="0">
                <a:solidFill>
                  <a:srgbClr val="262B3A"/>
                </a:solidFill>
                <a:latin typeface="Calibri" pitchFamily="34" charset="0"/>
                <a:ea typeface="Calibri" pitchFamily="34" charset="-122"/>
                <a:cs typeface="Calibri" pitchFamily="34" charset="-120"/>
              </a:rPr>
              <a:t>left ventricle</a:t>
            </a:r>
            <a:r>
              <a:rPr lang="en-US" sz="1250" dirty="0">
                <a:solidFill>
                  <a:srgbClr val="262B3A"/>
                </a:solidFill>
                <a:latin typeface="Calibri" pitchFamily="34" charset="0"/>
                <a:ea typeface="Calibri" pitchFamily="34" charset="-122"/>
                <a:cs typeface="Calibri" pitchFamily="34" charset="-120"/>
              </a:rPr>
              <a:t> is thicker than the wall of the right ventricle.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function of the </a:t>
            </a:r>
            <a:r>
              <a:rPr lang="en-US" sz="1250" b="1" dirty="0">
                <a:solidFill>
                  <a:srgbClr val="262B3A"/>
                </a:solidFill>
                <a:latin typeface="Calibri" pitchFamily="34" charset="0"/>
                <a:ea typeface="Calibri" pitchFamily="34" charset="-122"/>
                <a:cs typeface="Calibri" pitchFamily="34" charset="-120"/>
              </a:rPr>
              <a:t>valves</a:t>
            </a:r>
            <a:r>
              <a:rPr lang="en-US" sz="1250" dirty="0">
                <a:solidFill>
                  <a:srgbClr val="262B3A"/>
                </a:solidFill>
                <a:latin typeface="Calibri" pitchFamily="34" charset="0"/>
                <a:ea typeface="Calibri" pitchFamily="34" charset="-122"/>
                <a:cs typeface="Calibri" pitchFamily="34" charset="-120"/>
              </a:rPr>
              <a:t> in the heart.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Arteries, veins and capillaries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B5.1.5 • each vessel's wall and size suit the pressure and the job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B5.1.5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cross-sections (top; capillary enlarged) and a vein cut lengthways (bottom)</a:t>
            </a:r>
            <a:endParaRPr lang="en-US" sz="1000" dirty="0"/>
          </a:p>
        </p:txBody>
      </p:sp>
      <p:sp>
        <p:nvSpPr>
          <p:cNvPr id="10" name="Shape 8"/>
          <p:cNvSpPr/>
          <p:nvPr/>
        </p:nvSpPr>
        <p:spPr>
          <a:xfrm>
            <a:off x="640080" y="1645920"/>
            <a:ext cx="1371600" cy="1371600"/>
          </a:xfrm>
          <a:prstGeom prst="ellipse">
            <a:avLst/>
          </a:prstGeom>
          <a:solidFill>
            <a:srgbClr val="E8A0A0"/>
          </a:solidFill>
          <a:ln w="15875">
            <a:solidFill>
              <a:srgbClr val="8E4A3A"/>
            </a:solidFill>
            <a:prstDash val="solid"/>
          </a:ln>
        </p:spPr>
      </p:sp>
      <p:sp>
        <p:nvSpPr>
          <p:cNvPr id="11" name="Shape 9"/>
          <p:cNvSpPr/>
          <p:nvPr/>
        </p:nvSpPr>
        <p:spPr>
          <a:xfrm>
            <a:off x="868680" y="1874520"/>
            <a:ext cx="914400" cy="914400"/>
          </a:xfrm>
          <a:prstGeom prst="ellipse">
            <a:avLst/>
          </a:prstGeom>
          <a:solidFill>
            <a:srgbClr val="F2C9C9"/>
          </a:solidFill>
          <a:ln w="9525">
            <a:solidFill>
              <a:srgbClr val="8E4A3A"/>
            </a:solidFill>
            <a:prstDash val="solid"/>
          </a:ln>
        </p:spPr>
      </p:sp>
      <p:sp>
        <p:nvSpPr>
          <p:cNvPr id="12" name="Shape 10"/>
          <p:cNvSpPr/>
          <p:nvPr/>
        </p:nvSpPr>
        <p:spPr>
          <a:xfrm>
            <a:off x="1106424" y="2112264"/>
            <a:ext cx="438912" cy="438912"/>
          </a:xfrm>
          <a:prstGeom prst="ellipse">
            <a:avLst/>
          </a:prstGeom>
          <a:solidFill>
            <a:srgbClr val="D9534F"/>
          </a:solidFill>
          <a:ln w="12700">
            <a:solidFill>
              <a:srgbClr val="8E2A33"/>
            </a:solidFill>
            <a:prstDash val="solid"/>
          </a:ln>
        </p:spPr>
      </p:sp>
      <p:sp>
        <p:nvSpPr>
          <p:cNvPr id="13" name="Text 11"/>
          <p:cNvSpPr/>
          <p:nvPr/>
        </p:nvSpPr>
        <p:spPr>
          <a:xfrm>
            <a:off x="548640" y="1280160"/>
            <a:ext cx="1554480" cy="256032"/>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Artery</a:t>
            </a:r>
            <a:endParaRPr lang="en-US" sz="1100" dirty="0"/>
          </a:p>
        </p:txBody>
      </p:sp>
      <p:sp>
        <p:nvSpPr>
          <p:cNvPr id="14" name="Text 12"/>
          <p:cNvSpPr/>
          <p:nvPr/>
        </p:nvSpPr>
        <p:spPr>
          <a:xfrm>
            <a:off x="548640" y="3090672"/>
            <a:ext cx="155448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thick muscle and elastic wall; </a:t>
            </a:r>
            <a:r>
              <a:rPr lang="en-US" sz="1000" b="1" dirty="0">
                <a:solidFill>
                  <a:srgbClr val="262B3A"/>
                </a:solidFill>
                <a:latin typeface="Calibri" pitchFamily="34" charset="0"/>
                <a:ea typeface="Calibri" pitchFamily="34" charset="-122"/>
                <a:cs typeface="Calibri" pitchFamily="34" charset="-120"/>
              </a:rPr>
              <a:t>narrow</a:t>
            </a:r>
            <a:r>
              <a:rPr lang="en-US" sz="1000" dirty="0">
                <a:solidFill>
                  <a:srgbClr val="262B3A"/>
                </a:solidFill>
                <a:latin typeface="Calibri" pitchFamily="34" charset="0"/>
                <a:ea typeface="Calibri" pitchFamily="34" charset="-122"/>
                <a:cs typeface="Calibri" pitchFamily="34" charset="-120"/>
              </a:rPr>
              <a:t> lumen</a:t>
            </a:r>
            <a:endParaRPr lang="en-US" sz="1000" dirty="0"/>
          </a:p>
        </p:txBody>
      </p:sp>
      <p:sp>
        <p:nvSpPr>
          <p:cNvPr id="15" name="Shape 13"/>
          <p:cNvSpPr/>
          <p:nvPr/>
        </p:nvSpPr>
        <p:spPr>
          <a:xfrm>
            <a:off x="2514600" y="1783080"/>
            <a:ext cx="1371600" cy="1097280"/>
          </a:xfrm>
          <a:prstGeom prst="ellipse">
            <a:avLst/>
          </a:prstGeom>
          <a:solidFill>
            <a:srgbClr val="E8C8C8"/>
          </a:solidFill>
          <a:ln w="15875">
            <a:solidFill>
              <a:srgbClr val="8E4A3A"/>
            </a:solidFill>
            <a:prstDash val="solid"/>
          </a:ln>
        </p:spPr>
      </p:sp>
      <p:sp>
        <p:nvSpPr>
          <p:cNvPr id="16" name="Shape 14"/>
          <p:cNvSpPr/>
          <p:nvPr/>
        </p:nvSpPr>
        <p:spPr>
          <a:xfrm>
            <a:off x="2606040" y="1874520"/>
            <a:ext cx="1188720" cy="914400"/>
          </a:xfrm>
          <a:prstGeom prst="ellipse">
            <a:avLst/>
          </a:prstGeom>
          <a:solidFill>
            <a:srgbClr val="C3D6F2"/>
          </a:solidFill>
          <a:ln w="12700">
            <a:solidFill>
              <a:srgbClr val="1F4E8C"/>
            </a:solidFill>
            <a:prstDash val="solid"/>
          </a:ln>
        </p:spPr>
      </p:sp>
      <p:sp>
        <p:nvSpPr>
          <p:cNvPr id="17" name="Text 15"/>
          <p:cNvSpPr/>
          <p:nvPr/>
        </p:nvSpPr>
        <p:spPr>
          <a:xfrm>
            <a:off x="2468880" y="1280160"/>
            <a:ext cx="1463040" cy="256032"/>
          </a:xfrm>
          <a:prstGeom prst="rect">
            <a:avLst/>
          </a:prstGeom>
          <a:noFill/>
          <a:ln/>
        </p:spPr>
        <p:txBody>
          <a:bodyPr wrap="square" lIns="0" tIns="0" rIns="0" bIns="0" rtlCol="0" anchor="ctr"/>
          <a:lstStyle/>
          <a:p>
            <a:pPr algn="ctr" indent="0" marL="0">
              <a:buNone/>
            </a:pPr>
            <a:r>
              <a:rPr lang="en-US" sz="1100" b="1" dirty="0">
                <a:solidFill>
                  <a:srgbClr val="1F4E8C"/>
                </a:solidFill>
                <a:latin typeface="Calibri" pitchFamily="34" charset="0"/>
                <a:ea typeface="Calibri" pitchFamily="34" charset="-122"/>
                <a:cs typeface="Calibri" pitchFamily="34" charset="-120"/>
              </a:rPr>
              <a:t>Vein</a:t>
            </a:r>
            <a:endParaRPr lang="en-US" sz="1100" dirty="0"/>
          </a:p>
        </p:txBody>
      </p:sp>
      <p:sp>
        <p:nvSpPr>
          <p:cNvPr id="18" name="Text 16"/>
          <p:cNvSpPr/>
          <p:nvPr/>
        </p:nvSpPr>
        <p:spPr>
          <a:xfrm>
            <a:off x="2423160" y="3090672"/>
            <a:ext cx="155448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thin wall; </a:t>
            </a:r>
            <a:r>
              <a:rPr lang="en-US" sz="1000" b="1" dirty="0">
                <a:solidFill>
                  <a:srgbClr val="262B3A"/>
                </a:solidFill>
                <a:latin typeface="Calibri" pitchFamily="34" charset="0"/>
                <a:ea typeface="Calibri" pitchFamily="34" charset="-122"/>
                <a:cs typeface="Calibri" pitchFamily="34" charset="-120"/>
              </a:rPr>
              <a:t>wide</a:t>
            </a:r>
            <a:r>
              <a:rPr lang="en-US" sz="1000" dirty="0">
                <a:solidFill>
                  <a:srgbClr val="262B3A"/>
                </a:solidFill>
                <a:latin typeface="Calibri" pitchFamily="34" charset="0"/>
                <a:ea typeface="Calibri" pitchFamily="34" charset="-122"/>
                <a:cs typeface="Calibri" pitchFamily="34" charset="-120"/>
              </a:rPr>
              <a:t> lumen</a:t>
            </a:r>
            <a:endParaRPr lang="en-US" sz="1000" dirty="0"/>
          </a:p>
        </p:txBody>
      </p:sp>
      <p:sp>
        <p:nvSpPr>
          <p:cNvPr id="19" name="Shape 17"/>
          <p:cNvSpPr/>
          <p:nvPr/>
        </p:nvSpPr>
        <p:spPr>
          <a:xfrm>
            <a:off x="4590288" y="1892808"/>
            <a:ext cx="877824" cy="877824"/>
          </a:xfrm>
          <a:prstGeom prst="ellipse">
            <a:avLst/>
          </a:prstGeom>
          <a:solidFill>
            <a:srgbClr val="F8E4E4"/>
          </a:solidFill>
          <a:ln w="19050">
            <a:solidFill>
              <a:srgbClr val="B5545C"/>
            </a:solidFill>
            <a:prstDash val="solid"/>
          </a:ln>
        </p:spPr>
      </p:sp>
      <p:sp>
        <p:nvSpPr>
          <p:cNvPr id="20" name="Shape 18"/>
          <p:cNvSpPr/>
          <p:nvPr/>
        </p:nvSpPr>
        <p:spPr>
          <a:xfrm>
            <a:off x="4663440" y="1965960"/>
            <a:ext cx="731520" cy="731520"/>
          </a:xfrm>
          <a:prstGeom prst="ellipse">
            <a:avLst/>
          </a:prstGeom>
          <a:solidFill>
            <a:srgbClr val="FBEFEF"/>
          </a:solidFill>
          <a:ln w="9525">
            <a:solidFill>
              <a:srgbClr val="B5545C"/>
            </a:solidFill>
            <a:prstDash val="solid"/>
          </a:ln>
        </p:spPr>
      </p:sp>
      <p:sp>
        <p:nvSpPr>
          <p:cNvPr id="21" name="Shape 19"/>
          <p:cNvSpPr/>
          <p:nvPr/>
        </p:nvSpPr>
        <p:spPr>
          <a:xfrm>
            <a:off x="5029200" y="1892808"/>
            <a:ext cx="91" cy="73152"/>
          </a:xfrm>
          <a:prstGeom prst="line">
            <a:avLst/>
          </a:prstGeom>
          <a:noFill/>
          <a:ln w="19050">
            <a:solidFill>
              <a:srgbClr val="B5545C"/>
            </a:solidFill>
            <a:prstDash val="solid"/>
          </a:ln>
        </p:spPr>
      </p:sp>
      <p:sp>
        <p:nvSpPr>
          <p:cNvPr id="22" name="Shape 20"/>
          <p:cNvSpPr/>
          <p:nvPr/>
        </p:nvSpPr>
        <p:spPr>
          <a:xfrm>
            <a:off x="5029200" y="2697480"/>
            <a:ext cx="91" cy="73152"/>
          </a:xfrm>
          <a:prstGeom prst="line">
            <a:avLst/>
          </a:prstGeom>
          <a:noFill/>
          <a:ln w="19050">
            <a:solidFill>
              <a:srgbClr val="B5545C"/>
            </a:solidFill>
            <a:prstDash val="solid"/>
          </a:ln>
        </p:spPr>
      </p:sp>
      <p:sp>
        <p:nvSpPr>
          <p:cNvPr id="23" name="Shape 21"/>
          <p:cNvSpPr/>
          <p:nvPr/>
        </p:nvSpPr>
        <p:spPr>
          <a:xfrm>
            <a:off x="4791456" y="2093976"/>
            <a:ext cx="475488" cy="475488"/>
          </a:xfrm>
          <a:prstGeom prst="ellipse">
            <a:avLst/>
          </a:prstGeom>
          <a:solidFill>
            <a:srgbClr val="D9534F"/>
          </a:solidFill>
          <a:ln w="12700">
            <a:solidFill>
              <a:srgbClr val="8E2A33"/>
            </a:solidFill>
            <a:prstDash val="solid"/>
          </a:ln>
        </p:spPr>
      </p:sp>
      <p:sp>
        <p:nvSpPr>
          <p:cNvPr id="24" name="Shape 22"/>
          <p:cNvSpPr/>
          <p:nvPr/>
        </p:nvSpPr>
        <p:spPr>
          <a:xfrm>
            <a:off x="4922215" y="2224735"/>
            <a:ext cx="213970" cy="213970"/>
          </a:xfrm>
          <a:prstGeom prst="ellipse">
            <a:avLst/>
          </a:prstGeom>
          <a:solidFill>
            <a:srgbClr val="EE8A8F"/>
          </a:solidFill>
          <a:ln w="9525">
            <a:solidFill>
              <a:srgbClr val="EE8A8F"/>
            </a:solidFill>
            <a:prstDash val="solid"/>
          </a:ln>
        </p:spPr>
      </p:sp>
      <p:sp>
        <p:nvSpPr>
          <p:cNvPr id="25" name="Text 23"/>
          <p:cNvSpPr/>
          <p:nvPr/>
        </p:nvSpPr>
        <p:spPr>
          <a:xfrm>
            <a:off x="4343400" y="1280160"/>
            <a:ext cx="1371600" cy="256032"/>
          </a:xfrm>
          <a:prstGeom prst="rect">
            <a:avLst/>
          </a:prstGeom>
          <a:noFill/>
          <a:ln/>
        </p:spPr>
        <p:txBody>
          <a:bodyPr wrap="square" lIns="0" tIns="0" rIns="0" bIns="0" rtlCol="0" anchor="ctr"/>
          <a:lstStyle/>
          <a:p>
            <a:pPr algn="ctr" indent="0" marL="0">
              <a:buNone/>
            </a:pPr>
            <a:r>
              <a:rPr lang="en-US" sz="1100" b="1" dirty="0">
                <a:solidFill>
                  <a:srgbClr val="0D7877"/>
                </a:solidFill>
                <a:latin typeface="Calibri" pitchFamily="34" charset="0"/>
                <a:ea typeface="Calibri" pitchFamily="34" charset="-122"/>
                <a:cs typeface="Calibri" pitchFamily="34" charset="-120"/>
              </a:rPr>
              <a:t>Capillary</a:t>
            </a:r>
            <a:endParaRPr lang="en-US" sz="1100" dirty="0"/>
          </a:p>
        </p:txBody>
      </p:sp>
      <p:sp>
        <p:nvSpPr>
          <p:cNvPr id="26" name="Text 24"/>
          <p:cNvSpPr/>
          <p:nvPr/>
        </p:nvSpPr>
        <p:spPr>
          <a:xfrm>
            <a:off x="4251960" y="3090672"/>
            <a:ext cx="155448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wall </a:t>
            </a:r>
            <a:r>
              <a:rPr lang="en-US" sz="1000" b="1" dirty="0">
                <a:solidFill>
                  <a:srgbClr val="262B3A"/>
                </a:solidFill>
                <a:latin typeface="Calibri" pitchFamily="34" charset="0"/>
                <a:ea typeface="Calibri" pitchFamily="34" charset="-122"/>
                <a:cs typeface="Calibri" pitchFamily="34" charset="-120"/>
              </a:rPr>
              <a:t>one cell thick</a:t>
            </a:r>
            <a:r>
              <a:rPr lang="en-US" sz="1000" dirty="0">
                <a:solidFill>
                  <a:srgbClr val="262B3A"/>
                </a:solidFill>
                <a:latin typeface="Calibri" pitchFamily="34" charset="0"/>
                <a:ea typeface="Calibri" pitchFamily="34" charset="-122"/>
                <a:cs typeface="Calibri" pitchFamily="34" charset="-120"/>
              </a:rPr>
              <a:t>; lumen fits one red cell</a:t>
            </a:r>
            <a:endParaRPr lang="en-US" sz="1000" dirty="0"/>
          </a:p>
        </p:txBody>
      </p:sp>
      <p:sp>
        <p:nvSpPr>
          <p:cNvPr id="27" name="Shape 25"/>
          <p:cNvSpPr/>
          <p:nvPr/>
        </p:nvSpPr>
        <p:spPr>
          <a:xfrm>
            <a:off x="777240" y="3867912"/>
            <a:ext cx="4846320" cy="585216"/>
          </a:xfrm>
          <a:prstGeom prst="rect">
            <a:avLst/>
          </a:prstGeom>
          <a:solidFill>
            <a:srgbClr val="C3D6F2"/>
          </a:solidFill>
          <a:ln/>
        </p:spPr>
      </p:sp>
      <p:sp>
        <p:nvSpPr>
          <p:cNvPr id="28" name="Shape 26"/>
          <p:cNvSpPr/>
          <p:nvPr/>
        </p:nvSpPr>
        <p:spPr>
          <a:xfrm>
            <a:off x="777240" y="3867912"/>
            <a:ext cx="4846320" cy="91"/>
          </a:xfrm>
          <a:prstGeom prst="line">
            <a:avLst/>
          </a:prstGeom>
          <a:noFill/>
          <a:ln w="31750">
            <a:solidFill>
              <a:srgbClr val="1F4E8C"/>
            </a:solidFill>
            <a:prstDash val="solid"/>
          </a:ln>
        </p:spPr>
      </p:sp>
      <p:sp>
        <p:nvSpPr>
          <p:cNvPr id="29" name="Shape 27"/>
          <p:cNvSpPr/>
          <p:nvPr/>
        </p:nvSpPr>
        <p:spPr>
          <a:xfrm>
            <a:off x="777240" y="4453128"/>
            <a:ext cx="4846320" cy="91"/>
          </a:xfrm>
          <a:prstGeom prst="line">
            <a:avLst/>
          </a:prstGeom>
          <a:noFill/>
          <a:ln w="31750">
            <a:solidFill>
              <a:srgbClr val="1F4E8C"/>
            </a:solidFill>
            <a:prstDash val="solid"/>
          </a:ln>
        </p:spPr>
      </p:sp>
      <p:sp>
        <p:nvSpPr>
          <p:cNvPr id="30" name="Shape 28"/>
          <p:cNvSpPr/>
          <p:nvPr/>
        </p:nvSpPr>
        <p:spPr>
          <a:xfrm>
            <a:off x="2103120" y="3867912"/>
            <a:ext cx="411480" cy="201168"/>
          </a:xfrm>
          <a:prstGeom prst="line">
            <a:avLst/>
          </a:prstGeom>
          <a:noFill/>
          <a:ln w="31750">
            <a:solidFill>
              <a:srgbClr val="1F4E8C"/>
            </a:solidFill>
            <a:prstDash val="solid"/>
          </a:ln>
        </p:spPr>
      </p:sp>
      <p:sp>
        <p:nvSpPr>
          <p:cNvPr id="31" name="Shape 29"/>
          <p:cNvSpPr/>
          <p:nvPr/>
        </p:nvSpPr>
        <p:spPr>
          <a:xfrm flipV="1">
            <a:off x="2103120" y="4251960"/>
            <a:ext cx="411480" cy="201168"/>
          </a:xfrm>
          <a:prstGeom prst="line">
            <a:avLst/>
          </a:prstGeom>
          <a:noFill/>
          <a:ln w="31750">
            <a:solidFill>
              <a:srgbClr val="1F4E8C"/>
            </a:solidFill>
            <a:prstDash val="solid"/>
          </a:ln>
        </p:spPr>
      </p:sp>
      <p:sp>
        <p:nvSpPr>
          <p:cNvPr id="32" name="Shape 30"/>
          <p:cNvSpPr/>
          <p:nvPr/>
        </p:nvSpPr>
        <p:spPr>
          <a:xfrm>
            <a:off x="1097280" y="4160520"/>
            <a:ext cx="731520" cy="91"/>
          </a:xfrm>
          <a:prstGeom prst="line">
            <a:avLst/>
          </a:prstGeom>
          <a:noFill/>
          <a:ln w="25400">
            <a:solidFill>
              <a:srgbClr val="2E8B57"/>
            </a:solidFill>
            <a:prstDash val="solid"/>
            <a:tailEnd type="triangle"/>
          </a:ln>
        </p:spPr>
      </p:sp>
      <p:sp>
        <p:nvSpPr>
          <p:cNvPr id="33" name="Shape 31"/>
          <p:cNvSpPr/>
          <p:nvPr/>
        </p:nvSpPr>
        <p:spPr>
          <a:xfrm>
            <a:off x="2606040" y="4160520"/>
            <a:ext cx="502920" cy="91"/>
          </a:xfrm>
          <a:prstGeom prst="line">
            <a:avLst/>
          </a:prstGeom>
          <a:noFill/>
          <a:ln w="25400">
            <a:solidFill>
              <a:srgbClr val="2E8B57"/>
            </a:solidFill>
            <a:prstDash val="solid"/>
            <a:tailEnd type="triangle"/>
          </a:ln>
        </p:spPr>
      </p:sp>
      <p:sp>
        <p:nvSpPr>
          <p:cNvPr id="34" name="Text 32"/>
          <p:cNvSpPr/>
          <p:nvPr/>
        </p:nvSpPr>
        <p:spPr>
          <a:xfrm>
            <a:off x="1188720" y="4480560"/>
            <a:ext cx="1828800" cy="411480"/>
          </a:xfrm>
          <a:prstGeom prst="rect">
            <a:avLst/>
          </a:prstGeom>
          <a:noFill/>
          <a:ln/>
        </p:spPr>
        <p:txBody>
          <a:bodyPr wrap="square" lIns="0" tIns="0" rIns="0" bIns="0" rtlCol="0" anchor="t"/>
          <a:lstStyle/>
          <a:p>
            <a:pPr algn="ctr" indent="0" marL="0">
              <a:buNone/>
            </a:pPr>
            <a:r>
              <a:rPr lang="en-US" sz="1000" dirty="0">
                <a:solidFill>
                  <a:srgbClr val="2E8B57"/>
                </a:solidFill>
                <a:latin typeface="Calibri" pitchFamily="34" charset="0"/>
                <a:ea typeface="Calibri" pitchFamily="34" charset="-122"/>
                <a:cs typeface="Calibri" pitchFamily="34" charset="-120"/>
              </a:rPr>
              <a:t>valve </a:t>
            </a:r>
            <a:r>
              <a:rPr lang="en-US" sz="1000" b="1" dirty="0">
                <a:solidFill>
                  <a:srgbClr val="2E8B57"/>
                </a:solidFill>
                <a:latin typeface="Calibri" pitchFamily="34" charset="0"/>
                <a:ea typeface="Calibri" pitchFamily="34" charset="-122"/>
                <a:cs typeface="Calibri" pitchFamily="34" charset="-120"/>
              </a:rPr>
              <a:t>open</a:t>
            </a:r>
            <a:r>
              <a:rPr lang="en-US" sz="1000" dirty="0">
                <a:solidFill>
                  <a:srgbClr val="2E8B57"/>
                </a:solidFill>
                <a:latin typeface="Calibri" pitchFamily="34" charset="0"/>
                <a:ea typeface="Calibri" pitchFamily="34" charset="-122"/>
                <a:cs typeface="Calibri" pitchFamily="34" charset="-120"/>
              </a:rPr>
              <a:t>: blood flows to the heart</a:t>
            </a:r>
            <a:endParaRPr lang="en-US" sz="1000" dirty="0"/>
          </a:p>
        </p:txBody>
      </p:sp>
      <p:sp>
        <p:nvSpPr>
          <p:cNvPr id="35" name="Shape 33"/>
          <p:cNvSpPr/>
          <p:nvPr/>
        </p:nvSpPr>
        <p:spPr>
          <a:xfrm>
            <a:off x="4206240" y="3867912"/>
            <a:ext cx="365760" cy="292608"/>
          </a:xfrm>
          <a:prstGeom prst="line">
            <a:avLst/>
          </a:prstGeom>
          <a:noFill/>
          <a:ln w="31750">
            <a:solidFill>
              <a:srgbClr val="1F4E8C"/>
            </a:solidFill>
            <a:prstDash val="solid"/>
          </a:ln>
        </p:spPr>
      </p:sp>
      <p:sp>
        <p:nvSpPr>
          <p:cNvPr id="36" name="Shape 34"/>
          <p:cNvSpPr/>
          <p:nvPr/>
        </p:nvSpPr>
        <p:spPr>
          <a:xfrm flipV="1">
            <a:off x="4206240" y="4160520"/>
            <a:ext cx="365760" cy="292608"/>
          </a:xfrm>
          <a:prstGeom prst="line">
            <a:avLst/>
          </a:prstGeom>
          <a:noFill/>
          <a:ln w="31750">
            <a:solidFill>
              <a:srgbClr val="1F4E8C"/>
            </a:solidFill>
            <a:prstDash val="solid"/>
          </a:ln>
        </p:spPr>
      </p:sp>
      <p:sp>
        <p:nvSpPr>
          <p:cNvPr id="37" name="Shape 35"/>
          <p:cNvSpPr/>
          <p:nvPr/>
        </p:nvSpPr>
        <p:spPr>
          <a:xfrm flipH="1">
            <a:off x="4709160" y="4160520"/>
            <a:ext cx="685800" cy="91"/>
          </a:xfrm>
          <a:prstGeom prst="line">
            <a:avLst/>
          </a:prstGeom>
          <a:noFill/>
          <a:ln w="25400">
            <a:solidFill>
              <a:srgbClr val="C8414C"/>
            </a:solidFill>
            <a:prstDash val="solid"/>
            <a:tailEnd type="triangle"/>
          </a:ln>
        </p:spPr>
      </p:sp>
      <p:sp>
        <p:nvSpPr>
          <p:cNvPr id="38" name="Text 36"/>
          <p:cNvSpPr/>
          <p:nvPr/>
        </p:nvSpPr>
        <p:spPr>
          <a:xfrm>
            <a:off x="3657600" y="4480560"/>
            <a:ext cx="1965960" cy="411480"/>
          </a:xfrm>
          <a:prstGeom prst="rect">
            <a:avLst/>
          </a:prstGeom>
          <a:noFill/>
          <a:ln/>
        </p:spPr>
        <p:txBody>
          <a:bodyPr wrap="square" lIns="0" tIns="0" rIns="0" bIns="0" rtlCol="0" anchor="t"/>
          <a:lstStyle/>
          <a:p>
            <a:pPr algn="ctr" indent="0" marL="0">
              <a:buNone/>
            </a:pPr>
            <a:r>
              <a:rPr lang="en-US" sz="1000" dirty="0">
                <a:solidFill>
                  <a:srgbClr val="C8414C"/>
                </a:solidFill>
                <a:latin typeface="Calibri" pitchFamily="34" charset="0"/>
                <a:ea typeface="Calibri" pitchFamily="34" charset="-122"/>
                <a:cs typeface="Calibri" pitchFamily="34" charset="-120"/>
              </a:rPr>
              <a:t>valve </a:t>
            </a:r>
            <a:r>
              <a:rPr lang="en-US" sz="1000" b="1" dirty="0">
                <a:solidFill>
                  <a:srgbClr val="C8414C"/>
                </a:solidFill>
                <a:latin typeface="Calibri" pitchFamily="34" charset="0"/>
                <a:ea typeface="Calibri" pitchFamily="34" charset="-122"/>
                <a:cs typeface="Calibri" pitchFamily="34" charset="-120"/>
              </a:rPr>
              <a:t>shut</a:t>
            </a:r>
            <a:r>
              <a:rPr lang="en-US" sz="1000" dirty="0">
                <a:solidFill>
                  <a:srgbClr val="C8414C"/>
                </a:solidFill>
                <a:latin typeface="Calibri" pitchFamily="34" charset="0"/>
                <a:ea typeface="Calibri" pitchFamily="34" charset="-122"/>
                <a:cs typeface="Calibri" pitchFamily="34" charset="-120"/>
              </a:rPr>
              <a:t>: stops backflow</a:t>
            </a:r>
            <a:endParaRPr lang="en-US" sz="1000" dirty="0"/>
          </a:p>
        </p:txBody>
      </p:sp>
      <p:sp>
        <p:nvSpPr>
          <p:cNvPr id="39" name="Text 37"/>
          <p:cNvSpPr/>
          <p:nvPr/>
        </p:nvSpPr>
        <p:spPr>
          <a:xfrm>
            <a:off x="4800600" y="3593592"/>
            <a:ext cx="914400" cy="237744"/>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to heart →</a:t>
            </a:r>
            <a:endParaRPr lang="en-US" sz="1000" dirty="0"/>
          </a:p>
        </p:txBody>
      </p:sp>
      <p:sp>
        <p:nvSpPr>
          <p:cNvPr id="40" name="Shape 38"/>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41" name="Text 3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Structure and function</a:t>
            </a:r>
            <a:endParaRPr lang="en-US" sz="1300" dirty="0"/>
          </a:p>
        </p:txBody>
      </p:sp>
      <p:sp>
        <p:nvSpPr>
          <p:cNvPr id="42" name="Text 40"/>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Arteries</a:t>
            </a:r>
            <a:r>
              <a:rPr lang="en-US" sz="1100" dirty="0">
                <a:solidFill>
                  <a:srgbClr val="262B3A"/>
                </a:solidFill>
                <a:latin typeface="Calibri" pitchFamily="34" charset="0"/>
                <a:ea typeface="Calibri" pitchFamily="34" charset="-122"/>
                <a:cs typeface="Calibri" pitchFamily="34" charset="-120"/>
              </a:rPr>
              <a:t> carry blood </a:t>
            </a:r>
            <a:r>
              <a:rPr lang="en-US" sz="1100" b="1" dirty="0">
                <a:solidFill>
                  <a:srgbClr val="262B3A"/>
                </a:solidFill>
                <a:latin typeface="Calibri" pitchFamily="34" charset="0"/>
                <a:ea typeface="Calibri" pitchFamily="34" charset="-122"/>
                <a:cs typeface="Calibri" pitchFamily="34" charset="-120"/>
              </a:rPr>
              <a:t>away</a:t>
            </a:r>
            <a:r>
              <a:rPr lang="en-US" sz="1100" dirty="0">
                <a:solidFill>
                  <a:srgbClr val="262B3A"/>
                </a:solidFill>
                <a:latin typeface="Calibri" pitchFamily="34" charset="0"/>
                <a:ea typeface="Calibri" pitchFamily="34" charset="-122"/>
                <a:cs typeface="Calibri" pitchFamily="34" charset="-120"/>
              </a:rPr>
              <a:t> from the heart at </a:t>
            </a:r>
            <a:r>
              <a:rPr lang="en-US" sz="1100" b="1" dirty="0">
                <a:solidFill>
                  <a:srgbClr val="262B3A"/>
                </a:solidFill>
                <a:latin typeface="Calibri" pitchFamily="34" charset="0"/>
                <a:ea typeface="Calibri" pitchFamily="34" charset="-122"/>
                <a:cs typeface="Calibri" pitchFamily="34" charset="-120"/>
              </a:rPr>
              <a:t>high pressure</a:t>
            </a:r>
            <a:r>
              <a:rPr lang="en-US" sz="1100" dirty="0">
                <a:solidFill>
                  <a:srgbClr val="262B3A"/>
                </a:solidFill>
                <a:latin typeface="Calibri" pitchFamily="34" charset="0"/>
                <a:ea typeface="Calibri" pitchFamily="34" charset="-122"/>
                <a:cs typeface="Calibri" pitchFamily="34" charset="-120"/>
              </a:rPr>
              <a:t>: thick muscular, elastic walls stretch and recoil.</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Veins</a:t>
            </a:r>
            <a:r>
              <a:rPr lang="en-US" sz="1100" dirty="0">
                <a:solidFill>
                  <a:srgbClr val="262B3A"/>
                </a:solidFill>
                <a:latin typeface="Calibri" pitchFamily="34" charset="0"/>
                <a:ea typeface="Calibri" pitchFamily="34" charset="-122"/>
                <a:cs typeface="Calibri" pitchFamily="34" charset="-120"/>
              </a:rPr>
              <a:t> carry blood </a:t>
            </a:r>
            <a:r>
              <a:rPr lang="en-US" sz="1100" b="1" dirty="0">
                <a:solidFill>
                  <a:srgbClr val="262B3A"/>
                </a:solidFill>
                <a:latin typeface="Calibri" pitchFamily="34" charset="0"/>
                <a:ea typeface="Calibri" pitchFamily="34" charset="-122"/>
                <a:cs typeface="Calibri" pitchFamily="34" charset="-120"/>
              </a:rPr>
              <a:t>back</a:t>
            </a:r>
            <a:r>
              <a:rPr lang="en-US" sz="1100" dirty="0">
                <a:solidFill>
                  <a:srgbClr val="262B3A"/>
                </a:solidFill>
                <a:latin typeface="Calibri" pitchFamily="34" charset="0"/>
                <a:ea typeface="Calibri" pitchFamily="34" charset="-122"/>
                <a:cs typeface="Calibri" pitchFamily="34" charset="-120"/>
              </a:rPr>
              <a:t> to the heart at </a:t>
            </a:r>
            <a:r>
              <a:rPr lang="en-US" sz="1100" b="1" dirty="0">
                <a:solidFill>
                  <a:srgbClr val="262B3A"/>
                </a:solidFill>
                <a:latin typeface="Calibri" pitchFamily="34" charset="0"/>
                <a:ea typeface="Calibri" pitchFamily="34" charset="-122"/>
                <a:cs typeface="Calibri" pitchFamily="34" charset="-120"/>
              </a:rPr>
              <a:t>low pressure</a:t>
            </a:r>
            <a:r>
              <a:rPr lang="en-US" sz="1100" dirty="0">
                <a:solidFill>
                  <a:srgbClr val="262B3A"/>
                </a:solidFill>
                <a:latin typeface="Calibri" pitchFamily="34" charset="0"/>
                <a:ea typeface="Calibri" pitchFamily="34" charset="-122"/>
                <a:cs typeface="Calibri" pitchFamily="34" charset="-120"/>
              </a:rPr>
              <a:t>: thin walls, wide lumen, </a:t>
            </a:r>
            <a:r>
              <a:rPr lang="en-US" sz="1100" b="1" dirty="0">
                <a:solidFill>
                  <a:srgbClr val="262B3A"/>
                </a:solidFill>
                <a:latin typeface="Calibri" pitchFamily="34" charset="0"/>
                <a:ea typeface="Calibri" pitchFamily="34" charset="-122"/>
                <a:cs typeface="Calibri" pitchFamily="34" charset="-120"/>
              </a:rPr>
              <a:t>valves</a:t>
            </a:r>
            <a:r>
              <a:rPr lang="en-US" sz="1100" dirty="0">
                <a:solidFill>
                  <a:srgbClr val="262B3A"/>
                </a:solidFill>
                <a:latin typeface="Calibri" pitchFamily="34" charset="0"/>
                <a:ea typeface="Calibri" pitchFamily="34" charset="-122"/>
                <a:cs typeface="Calibri" pitchFamily="34" charset="-120"/>
              </a:rPr>
              <a:t> stop backflow.</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Capillaries</a:t>
            </a:r>
            <a:r>
              <a:rPr lang="en-US" sz="1100" dirty="0">
                <a:solidFill>
                  <a:srgbClr val="262B3A"/>
                </a:solidFill>
                <a:latin typeface="Calibri" pitchFamily="34" charset="0"/>
                <a:ea typeface="Calibri" pitchFamily="34" charset="-122"/>
                <a:cs typeface="Calibri" pitchFamily="34" charset="-120"/>
              </a:rPr>
              <a:t> link arteries to veins in every tissue: walls </a:t>
            </a:r>
            <a:r>
              <a:rPr lang="en-US" sz="1100" b="1" dirty="0">
                <a:solidFill>
                  <a:srgbClr val="262B3A"/>
                </a:solidFill>
                <a:latin typeface="Calibri" pitchFamily="34" charset="0"/>
                <a:ea typeface="Calibri" pitchFamily="34" charset="-122"/>
                <a:cs typeface="Calibri" pitchFamily="34" charset="-120"/>
              </a:rPr>
              <a:t>one cell thick</a:t>
            </a:r>
            <a:r>
              <a:rPr lang="en-US" sz="1100" dirty="0">
                <a:solidFill>
                  <a:srgbClr val="262B3A"/>
                </a:solidFill>
                <a:latin typeface="Calibri" pitchFamily="34" charset="0"/>
                <a:ea typeface="Calibri" pitchFamily="34" charset="-122"/>
                <a:cs typeface="Calibri" pitchFamily="34" charset="-120"/>
              </a:rPr>
              <a:t> for a short diffusion distance; huge numbers give a large surface area.</a:t>
            </a:r>
            <a:endParaRPr lang="en-US" sz="1100" dirty="0"/>
          </a:p>
        </p:txBody>
      </p:sp>
      <p:sp>
        <p:nvSpPr>
          <p:cNvPr id="43" name="Shape 41"/>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44" name="Text 42"/>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comparing walls</a:t>
            </a:r>
            <a:endParaRPr lang="en-US" sz="1300" dirty="0"/>
          </a:p>
        </p:txBody>
      </p:sp>
      <p:sp>
        <p:nvSpPr>
          <p:cNvPr id="45" name="Text 43"/>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An artery wall is 1 mm thick. A capillary wall is 0.001 mm thick. How many times thicker is the artery wall?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1 ÷ 0.001</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dirty="0">
                <a:solidFill>
                  <a:srgbClr val="262B3A"/>
                </a:solidFill>
                <a:latin typeface="Calibri" pitchFamily="34" charset="0"/>
                <a:ea typeface="Calibri" pitchFamily="34" charset="-122"/>
                <a:cs typeface="Calibri" pitchFamily="34" charset="-120"/>
              </a:rPr>
              <a:t>1000 times thicker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Why   </a:t>
            </a:r>
            <a:r>
              <a:rPr lang="en-US" sz="1050" b="1" dirty="0">
                <a:solidFill>
                  <a:srgbClr val="C8414C"/>
                </a:solidFill>
                <a:latin typeface="Calibri" pitchFamily="34" charset="0"/>
                <a:ea typeface="Calibri" pitchFamily="34" charset="-122"/>
                <a:cs typeface="Calibri" pitchFamily="34" charset="-120"/>
              </a:rPr>
              <a:t>the artery resists high pressure; the capillary lets substances diffuse</a:t>
            </a:r>
            <a:endParaRPr lang="en-US" sz="1050" dirty="0"/>
          </a:p>
        </p:txBody>
      </p:sp>
      <p:sp>
        <p:nvSpPr>
          <p:cNvPr id="46"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7"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8"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veins</a:t>
            </a:r>
            <a:r>
              <a:rPr lang="en-US" sz="1150" dirty="0">
                <a:solidFill>
                  <a:srgbClr val="262B3A"/>
                </a:solidFill>
                <a:latin typeface="Calibri" pitchFamily="34" charset="0"/>
                <a:ea typeface="Calibri" pitchFamily="34" charset="-122"/>
                <a:cs typeface="Calibri" pitchFamily="34" charset="-120"/>
              </a:rPr>
              <a:t> need valves but </a:t>
            </a:r>
            <a:r>
              <a:rPr lang="en-US" sz="1150" b="1" dirty="0">
                <a:solidFill>
                  <a:srgbClr val="262B3A"/>
                </a:solidFill>
                <a:latin typeface="Calibri" pitchFamily="34" charset="0"/>
                <a:ea typeface="Calibri" pitchFamily="34" charset="-122"/>
                <a:cs typeface="Calibri" pitchFamily="34" charset="-120"/>
              </a:rPr>
              <a:t>arteries</a:t>
            </a:r>
            <a:r>
              <a:rPr lang="en-US" sz="1150" dirty="0">
                <a:solidFill>
                  <a:srgbClr val="262B3A"/>
                </a:solidFill>
                <a:latin typeface="Calibri" pitchFamily="34" charset="0"/>
                <a:ea typeface="Calibri" pitchFamily="34" charset="-122"/>
                <a:cs typeface="Calibri" pitchFamily="34" charset="-120"/>
              </a:rPr>
              <a:t> do not.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Blood: red blood cells and plasma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B5.1.6 • red blood cells carry oxygen; plasma carries almost everything else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B5.1.6  |  20</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blood sample after spinning, drawn to scale (left); cells not to scale</a:t>
            </a:r>
            <a:endParaRPr lang="en-US" sz="1000" dirty="0"/>
          </a:p>
        </p:txBody>
      </p:sp>
      <p:sp>
        <p:nvSpPr>
          <p:cNvPr id="10" name="Shape 8"/>
          <p:cNvSpPr/>
          <p:nvPr/>
        </p:nvSpPr>
        <p:spPr>
          <a:xfrm>
            <a:off x="868680" y="1600200"/>
            <a:ext cx="548640" cy="1810512"/>
          </a:xfrm>
          <a:prstGeom prst="rect">
            <a:avLst/>
          </a:prstGeom>
          <a:solidFill>
            <a:srgbClr val="F7E08A"/>
          </a:solidFill>
          <a:ln/>
        </p:spPr>
      </p:sp>
      <p:sp>
        <p:nvSpPr>
          <p:cNvPr id="11" name="Shape 9"/>
          <p:cNvSpPr/>
          <p:nvPr/>
        </p:nvSpPr>
        <p:spPr>
          <a:xfrm>
            <a:off x="868680" y="3410712"/>
            <a:ext cx="548640" cy="32918"/>
          </a:xfrm>
          <a:prstGeom prst="rect">
            <a:avLst/>
          </a:prstGeom>
          <a:solidFill>
            <a:srgbClr val="FAFAFA"/>
          </a:solidFill>
          <a:ln/>
        </p:spPr>
      </p:sp>
      <p:sp>
        <p:nvSpPr>
          <p:cNvPr id="12" name="Shape 10"/>
          <p:cNvSpPr/>
          <p:nvPr/>
        </p:nvSpPr>
        <p:spPr>
          <a:xfrm>
            <a:off x="868680" y="3443630"/>
            <a:ext cx="548640" cy="1448410"/>
          </a:xfrm>
          <a:prstGeom prst="rect">
            <a:avLst/>
          </a:prstGeom>
          <a:solidFill>
            <a:srgbClr val="B8323C"/>
          </a:solidFill>
          <a:ln/>
        </p:spPr>
      </p:sp>
      <p:sp>
        <p:nvSpPr>
          <p:cNvPr id="13" name="Shape 11"/>
          <p:cNvSpPr/>
          <p:nvPr/>
        </p:nvSpPr>
        <p:spPr>
          <a:xfrm>
            <a:off x="868680" y="1463040"/>
            <a:ext cx="91" cy="3429000"/>
          </a:xfrm>
          <a:prstGeom prst="line">
            <a:avLst/>
          </a:prstGeom>
          <a:noFill/>
          <a:ln w="25400">
            <a:solidFill>
              <a:srgbClr val="133536"/>
            </a:solidFill>
            <a:prstDash val="solid"/>
          </a:ln>
        </p:spPr>
      </p:sp>
      <p:sp>
        <p:nvSpPr>
          <p:cNvPr id="14" name="Shape 12"/>
          <p:cNvSpPr/>
          <p:nvPr/>
        </p:nvSpPr>
        <p:spPr>
          <a:xfrm>
            <a:off x="1417320" y="1463040"/>
            <a:ext cx="91" cy="3429000"/>
          </a:xfrm>
          <a:prstGeom prst="line">
            <a:avLst/>
          </a:prstGeom>
          <a:noFill/>
          <a:ln w="25400">
            <a:solidFill>
              <a:srgbClr val="133536"/>
            </a:solidFill>
            <a:prstDash val="solid"/>
          </a:ln>
        </p:spPr>
      </p:sp>
      <p:sp>
        <p:nvSpPr>
          <p:cNvPr id="15" name="Shape 13"/>
          <p:cNvSpPr/>
          <p:nvPr/>
        </p:nvSpPr>
        <p:spPr>
          <a:xfrm>
            <a:off x="868680" y="4892040"/>
            <a:ext cx="548640" cy="91"/>
          </a:xfrm>
          <a:prstGeom prst="line">
            <a:avLst/>
          </a:prstGeom>
          <a:noFill/>
          <a:ln w="25400">
            <a:solidFill>
              <a:srgbClr val="133536"/>
            </a:solidFill>
            <a:prstDash val="solid"/>
          </a:ln>
        </p:spPr>
      </p:sp>
      <p:sp>
        <p:nvSpPr>
          <p:cNvPr id="16" name="Shape 14"/>
          <p:cNvSpPr/>
          <p:nvPr/>
        </p:nvSpPr>
        <p:spPr>
          <a:xfrm>
            <a:off x="1417320" y="2505456"/>
            <a:ext cx="182880" cy="91"/>
          </a:xfrm>
          <a:prstGeom prst="line">
            <a:avLst/>
          </a:prstGeom>
          <a:noFill/>
          <a:ln w="9525">
            <a:solidFill>
              <a:srgbClr val="133536"/>
            </a:solidFill>
            <a:prstDash val="solid"/>
          </a:ln>
        </p:spPr>
      </p:sp>
      <p:sp>
        <p:nvSpPr>
          <p:cNvPr id="17" name="Text 15"/>
          <p:cNvSpPr/>
          <p:nvPr/>
        </p:nvSpPr>
        <p:spPr>
          <a:xfrm>
            <a:off x="1636776" y="2377440"/>
            <a:ext cx="10058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plasma</a:t>
            </a:r>
            <a:r>
              <a:rPr lang="en-US" sz="1050" dirty="0">
                <a:solidFill>
                  <a:srgbClr val="262B3A"/>
                </a:solidFill>
                <a:latin typeface="Calibri" pitchFamily="34" charset="0"/>
                <a:ea typeface="Calibri" pitchFamily="34" charset="-122"/>
                <a:cs typeface="Calibri" pitchFamily="34" charset="-120"/>
              </a:rPr>
              <a:t> 55%</a:t>
            </a:r>
            <a:endParaRPr lang="en-US" sz="1050" dirty="0"/>
          </a:p>
        </p:txBody>
      </p:sp>
      <p:sp>
        <p:nvSpPr>
          <p:cNvPr id="18" name="Shape 16"/>
          <p:cNvSpPr/>
          <p:nvPr/>
        </p:nvSpPr>
        <p:spPr>
          <a:xfrm>
            <a:off x="1417320" y="3427171"/>
            <a:ext cx="182880" cy="212141"/>
          </a:xfrm>
          <a:prstGeom prst="line">
            <a:avLst/>
          </a:prstGeom>
          <a:noFill/>
          <a:ln w="9525">
            <a:solidFill>
              <a:srgbClr val="133536"/>
            </a:solidFill>
            <a:prstDash val="solid"/>
          </a:ln>
        </p:spPr>
      </p:sp>
      <p:sp>
        <p:nvSpPr>
          <p:cNvPr id="19" name="Text 17"/>
          <p:cNvSpPr/>
          <p:nvPr/>
        </p:nvSpPr>
        <p:spPr>
          <a:xfrm>
            <a:off x="1636776" y="3433572"/>
            <a:ext cx="1097280" cy="4114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white cells, platelets 1%</a:t>
            </a:r>
            <a:endParaRPr lang="en-US" sz="1000" dirty="0"/>
          </a:p>
        </p:txBody>
      </p:sp>
      <p:sp>
        <p:nvSpPr>
          <p:cNvPr id="20" name="Shape 18"/>
          <p:cNvSpPr/>
          <p:nvPr/>
        </p:nvSpPr>
        <p:spPr>
          <a:xfrm>
            <a:off x="1417320" y="4167835"/>
            <a:ext cx="182880" cy="91"/>
          </a:xfrm>
          <a:prstGeom prst="line">
            <a:avLst/>
          </a:prstGeom>
          <a:noFill/>
          <a:ln w="9525">
            <a:solidFill>
              <a:srgbClr val="133536"/>
            </a:solidFill>
            <a:prstDash val="solid"/>
          </a:ln>
        </p:spPr>
      </p:sp>
      <p:sp>
        <p:nvSpPr>
          <p:cNvPr id="21" name="Text 19"/>
          <p:cNvSpPr/>
          <p:nvPr/>
        </p:nvSpPr>
        <p:spPr>
          <a:xfrm>
            <a:off x="1636776" y="4039819"/>
            <a:ext cx="10058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red cells</a:t>
            </a:r>
            <a:r>
              <a:rPr lang="en-US" sz="1050" dirty="0">
                <a:solidFill>
                  <a:srgbClr val="262B3A"/>
                </a:solidFill>
                <a:latin typeface="Calibri" pitchFamily="34" charset="0"/>
                <a:ea typeface="Calibri" pitchFamily="34" charset="-122"/>
                <a:cs typeface="Calibri" pitchFamily="34" charset="-120"/>
              </a:rPr>
              <a:t> 44%</a:t>
            </a:r>
            <a:endParaRPr lang="en-US" sz="1050" dirty="0"/>
          </a:p>
        </p:txBody>
      </p:sp>
      <p:sp>
        <p:nvSpPr>
          <p:cNvPr id="22" name="Text 20"/>
          <p:cNvSpPr/>
          <p:nvPr/>
        </p:nvSpPr>
        <p:spPr>
          <a:xfrm>
            <a:off x="2880360" y="1298448"/>
            <a:ext cx="2926080" cy="256032"/>
          </a:xfrm>
          <a:prstGeom prst="rect">
            <a:avLst/>
          </a:prstGeom>
          <a:noFill/>
          <a:ln/>
        </p:spPr>
        <p:txBody>
          <a:bodyPr wrap="square" lIns="0" tIns="0" rIns="0" bIns="0" rtlCol="0" anchor="ctr"/>
          <a:lstStyle/>
          <a:p>
            <a:pPr algn="l" indent="0" marL="0">
              <a:buNone/>
            </a:pPr>
            <a:r>
              <a:rPr lang="en-US" sz="1100" b="1" dirty="0">
                <a:solidFill>
                  <a:srgbClr val="8E2A33"/>
                </a:solidFill>
                <a:latin typeface="Calibri" pitchFamily="34" charset="0"/>
                <a:ea typeface="Calibri" pitchFamily="34" charset="-122"/>
                <a:cs typeface="Calibri" pitchFamily="34" charset="-120"/>
              </a:rPr>
              <a:t>Red blood cell</a:t>
            </a:r>
            <a:endParaRPr lang="en-US" sz="1100" dirty="0"/>
          </a:p>
        </p:txBody>
      </p:sp>
      <p:sp>
        <p:nvSpPr>
          <p:cNvPr id="23" name="Shape 21"/>
          <p:cNvSpPr/>
          <p:nvPr/>
        </p:nvSpPr>
        <p:spPr>
          <a:xfrm>
            <a:off x="2962656" y="1636776"/>
            <a:ext cx="658368" cy="658368"/>
          </a:xfrm>
          <a:prstGeom prst="ellipse">
            <a:avLst/>
          </a:prstGeom>
          <a:solidFill>
            <a:srgbClr val="D9534F"/>
          </a:solidFill>
          <a:ln w="12700">
            <a:solidFill>
              <a:srgbClr val="8E2A33"/>
            </a:solidFill>
            <a:prstDash val="solid"/>
          </a:ln>
        </p:spPr>
      </p:sp>
      <p:sp>
        <p:nvSpPr>
          <p:cNvPr id="24" name="Shape 22"/>
          <p:cNvSpPr/>
          <p:nvPr/>
        </p:nvSpPr>
        <p:spPr>
          <a:xfrm>
            <a:off x="3143707" y="1817827"/>
            <a:ext cx="296266" cy="296266"/>
          </a:xfrm>
          <a:prstGeom prst="ellipse">
            <a:avLst/>
          </a:prstGeom>
          <a:solidFill>
            <a:srgbClr val="EE8A8F"/>
          </a:solidFill>
          <a:ln w="9525">
            <a:solidFill>
              <a:srgbClr val="EE8A8F"/>
            </a:solidFill>
            <a:prstDash val="solid"/>
          </a:ln>
        </p:spPr>
      </p:sp>
      <p:sp>
        <p:nvSpPr>
          <p:cNvPr id="25" name="Text 23"/>
          <p:cNvSpPr/>
          <p:nvPr/>
        </p:nvSpPr>
        <p:spPr>
          <a:xfrm>
            <a:off x="2880360" y="2331720"/>
            <a:ext cx="82296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from above</a:t>
            </a:r>
            <a:endParaRPr lang="en-US" sz="1000" dirty="0"/>
          </a:p>
        </p:txBody>
      </p:sp>
      <p:sp>
        <p:nvSpPr>
          <p:cNvPr id="26" name="Shape 24"/>
          <p:cNvSpPr/>
          <p:nvPr/>
        </p:nvSpPr>
        <p:spPr>
          <a:xfrm>
            <a:off x="4178351" y="1906501"/>
            <a:ext cx="512978" cy="118918"/>
          </a:xfrm>
          <a:prstGeom prst="rect">
            <a:avLst/>
          </a:prstGeom>
          <a:solidFill>
            <a:srgbClr val="D9534F"/>
          </a:solidFill>
          <a:ln/>
        </p:spPr>
      </p:sp>
      <p:sp>
        <p:nvSpPr>
          <p:cNvPr id="27" name="Shape 25"/>
          <p:cNvSpPr/>
          <p:nvPr/>
        </p:nvSpPr>
        <p:spPr>
          <a:xfrm>
            <a:off x="4046220" y="1833829"/>
            <a:ext cx="264262" cy="264262"/>
          </a:xfrm>
          <a:prstGeom prst="ellipse">
            <a:avLst/>
          </a:prstGeom>
          <a:solidFill>
            <a:srgbClr val="D9534F"/>
          </a:solidFill>
          <a:ln w="12700">
            <a:solidFill>
              <a:srgbClr val="8E2A33"/>
            </a:solidFill>
            <a:prstDash val="solid"/>
          </a:ln>
        </p:spPr>
      </p:sp>
      <p:sp>
        <p:nvSpPr>
          <p:cNvPr id="28" name="Shape 26"/>
          <p:cNvSpPr/>
          <p:nvPr/>
        </p:nvSpPr>
        <p:spPr>
          <a:xfrm>
            <a:off x="4559198" y="1833829"/>
            <a:ext cx="264262" cy="264262"/>
          </a:xfrm>
          <a:prstGeom prst="ellipse">
            <a:avLst/>
          </a:prstGeom>
          <a:solidFill>
            <a:srgbClr val="D9534F"/>
          </a:solidFill>
          <a:ln w="12700">
            <a:solidFill>
              <a:srgbClr val="8E2A33"/>
            </a:solidFill>
            <a:prstDash val="solid"/>
          </a:ln>
        </p:spPr>
      </p:sp>
      <p:sp>
        <p:nvSpPr>
          <p:cNvPr id="29" name="Shape 27"/>
          <p:cNvSpPr/>
          <p:nvPr/>
        </p:nvSpPr>
        <p:spPr>
          <a:xfrm>
            <a:off x="4178351" y="1906501"/>
            <a:ext cx="512978" cy="91"/>
          </a:xfrm>
          <a:prstGeom prst="line">
            <a:avLst/>
          </a:prstGeom>
          <a:noFill/>
          <a:ln w="12700">
            <a:solidFill>
              <a:srgbClr val="8E2A33"/>
            </a:solidFill>
            <a:prstDash val="solid"/>
          </a:ln>
        </p:spPr>
      </p:sp>
      <p:sp>
        <p:nvSpPr>
          <p:cNvPr id="30" name="Shape 28"/>
          <p:cNvSpPr/>
          <p:nvPr/>
        </p:nvSpPr>
        <p:spPr>
          <a:xfrm>
            <a:off x="4178351" y="2025419"/>
            <a:ext cx="512978" cy="91"/>
          </a:xfrm>
          <a:prstGeom prst="line">
            <a:avLst/>
          </a:prstGeom>
          <a:noFill/>
          <a:ln w="12700">
            <a:solidFill>
              <a:srgbClr val="8E2A33"/>
            </a:solidFill>
            <a:prstDash val="solid"/>
          </a:ln>
        </p:spPr>
      </p:sp>
      <p:sp>
        <p:nvSpPr>
          <p:cNvPr id="31" name="Shape 29"/>
          <p:cNvSpPr/>
          <p:nvPr/>
        </p:nvSpPr>
        <p:spPr>
          <a:xfrm>
            <a:off x="4165138" y="1909144"/>
            <a:ext cx="539405" cy="113632"/>
          </a:xfrm>
          <a:prstGeom prst="rect">
            <a:avLst/>
          </a:prstGeom>
          <a:solidFill>
            <a:srgbClr val="D9534F"/>
          </a:solidFill>
          <a:ln/>
        </p:spPr>
      </p:sp>
      <p:sp>
        <p:nvSpPr>
          <p:cNvPr id="32" name="Text 30"/>
          <p:cNvSpPr/>
          <p:nvPr/>
        </p:nvSpPr>
        <p:spPr>
          <a:xfrm>
            <a:off x="4023360" y="2331720"/>
            <a:ext cx="82296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from the side</a:t>
            </a:r>
            <a:endParaRPr lang="en-US" sz="1000" dirty="0"/>
          </a:p>
        </p:txBody>
      </p:sp>
      <p:sp>
        <p:nvSpPr>
          <p:cNvPr id="33" name="Text 31"/>
          <p:cNvSpPr/>
          <p:nvPr/>
        </p:nvSpPr>
        <p:spPr>
          <a:xfrm>
            <a:off x="2880360" y="2606040"/>
            <a:ext cx="2926080" cy="41148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biconcave</a:t>
            </a:r>
            <a:r>
              <a:rPr lang="en-US" sz="1000" dirty="0">
                <a:solidFill>
                  <a:srgbClr val="262B3A"/>
                </a:solidFill>
                <a:latin typeface="Calibri" pitchFamily="34" charset="0"/>
                <a:ea typeface="Calibri" pitchFamily="34" charset="-122"/>
                <a:cs typeface="Calibri" pitchFamily="34" charset="-120"/>
              </a:rPr>
              <a:t> disc • </a:t>
            </a:r>
            <a:r>
              <a:rPr lang="en-US" sz="1000" b="1" dirty="0">
                <a:solidFill>
                  <a:srgbClr val="262B3A"/>
                </a:solidFill>
                <a:latin typeface="Calibri" pitchFamily="34" charset="0"/>
                <a:ea typeface="Calibri" pitchFamily="34" charset="-122"/>
                <a:cs typeface="Calibri" pitchFamily="34" charset="-120"/>
              </a:rPr>
              <a:t>no nucleus</a:t>
            </a:r>
            <a:r>
              <a:rPr lang="en-US" sz="1000" dirty="0">
                <a:solidFill>
                  <a:srgbClr val="262B3A"/>
                </a:solidFill>
                <a:latin typeface="Calibri" pitchFamily="34" charset="0"/>
                <a:ea typeface="Calibri" pitchFamily="34" charset="-122"/>
                <a:cs typeface="Calibri" pitchFamily="34" charset="-120"/>
              </a:rPr>
              <a:t> • full of </a:t>
            </a:r>
            <a:r>
              <a:rPr lang="en-US" sz="1000" b="1" dirty="0">
                <a:solidFill>
                  <a:srgbClr val="262B3A"/>
                </a:solidFill>
                <a:latin typeface="Calibri" pitchFamily="34" charset="0"/>
                <a:ea typeface="Calibri" pitchFamily="34" charset="-122"/>
                <a:cs typeface="Calibri" pitchFamily="34" charset="-120"/>
              </a:rPr>
              <a:t>haemoglobin</a:t>
            </a:r>
            <a:endParaRPr lang="en-US" sz="1000" dirty="0"/>
          </a:p>
        </p:txBody>
      </p:sp>
      <p:sp>
        <p:nvSpPr>
          <p:cNvPr id="34" name="Shape 32"/>
          <p:cNvSpPr/>
          <p:nvPr/>
        </p:nvSpPr>
        <p:spPr>
          <a:xfrm>
            <a:off x="2880360" y="3063240"/>
            <a:ext cx="2926080" cy="566928"/>
          </a:xfrm>
          <a:prstGeom prst="roundRect">
            <a:avLst>
              <a:gd name="adj" fmla="val 8065"/>
            </a:avLst>
          </a:prstGeom>
          <a:solidFill>
            <a:srgbClr val="FFFFFF"/>
          </a:solidFill>
          <a:ln w="12700">
            <a:solidFill>
              <a:srgbClr val="8E2A33"/>
            </a:solidFill>
            <a:prstDash val="solid"/>
          </a:ln>
        </p:spPr>
      </p:sp>
      <p:sp>
        <p:nvSpPr>
          <p:cNvPr id="35" name="Text 33"/>
          <p:cNvSpPr/>
          <p:nvPr/>
        </p:nvSpPr>
        <p:spPr>
          <a:xfrm>
            <a:off x="2926080" y="3063240"/>
            <a:ext cx="2834640" cy="56692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lungs: haemoglobin + oxygen → </a:t>
            </a:r>
            <a:r>
              <a:rPr lang="en-US" sz="1000" b="1" dirty="0">
                <a:solidFill>
                  <a:srgbClr val="262B3A"/>
                </a:solidFill>
                <a:latin typeface="Calibri" pitchFamily="34" charset="0"/>
                <a:ea typeface="Calibri" pitchFamily="34" charset="-122"/>
                <a:cs typeface="Calibri" pitchFamily="34" charset="-120"/>
              </a:rPr>
              <a:t>oxyhaemoglobin</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tissues: it releases the oxygen</a:t>
            </a:r>
            <a:endParaRPr lang="en-US" sz="1000" dirty="0"/>
          </a:p>
        </p:txBody>
      </p:sp>
      <p:sp>
        <p:nvSpPr>
          <p:cNvPr id="36" name="Text 34"/>
          <p:cNvSpPr/>
          <p:nvPr/>
        </p:nvSpPr>
        <p:spPr>
          <a:xfrm>
            <a:off x="2880360" y="3749040"/>
            <a:ext cx="2926080" cy="256032"/>
          </a:xfrm>
          <a:prstGeom prst="rect">
            <a:avLst/>
          </a:prstGeom>
          <a:noFill/>
          <a:ln/>
        </p:spPr>
        <p:txBody>
          <a:bodyPr wrap="square" lIns="0" tIns="0" rIns="0" bIns="0" rtlCol="0" anchor="ctr"/>
          <a:lstStyle/>
          <a:p>
            <a:pPr algn="l" indent="0" marL="0">
              <a:buNone/>
            </a:pPr>
            <a:r>
              <a:rPr lang="en-US" sz="1050" b="1" dirty="0">
                <a:solidFill>
                  <a:srgbClr val="6B7385"/>
                </a:solidFill>
                <a:latin typeface="Calibri" pitchFamily="34" charset="0"/>
                <a:ea typeface="Calibri" pitchFamily="34" charset="-122"/>
                <a:cs typeface="Calibri" pitchFamily="34" charset="-120"/>
              </a:rPr>
              <a:t>Also in blood</a:t>
            </a:r>
            <a:endParaRPr lang="en-US" sz="1050" dirty="0"/>
          </a:p>
        </p:txBody>
      </p:sp>
      <p:sp>
        <p:nvSpPr>
          <p:cNvPr id="37" name="Shape 35"/>
          <p:cNvSpPr/>
          <p:nvPr/>
        </p:nvSpPr>
        <p:spPr>
          <a:xfrm>
            <a:off x="2953512" y="4023360"/>
            <a:ext cx="402336" cy="402336"/>
          </a:xfrm>
          <a:prstGeom prst="ellipse">
            <a:avLst/>
          </a:prstGeom>
          <a:solidFill>
            <a:srgbClr val="EEEAF7"/>
          </a:solidFill>
          <a:ln w="12700">
            <a:solidFill>
              <a:srgbClr val="6A4C93"/>
            </a:solidFill>
            <a:prstDash val="solid"/>
          </a:ln>
        </p:spPr>
      </p:sp>
      <p:sp>
        <p:nvSpPr>
          <p:cNvPr id="38" name="Shape 36"/>
          <p:cNvSpPr/>
          <p:nvPr/>
        </p:nvSpPr>
        <p:spPr>
          <a:xfrm>
            <a:off x="3023921" y="4123944"/>
            <a:ext cx="120701" cy="120701"/>
          </a:xfrm>
          <a:prstGeom prst="ellipse">
            <a:avLst/>
          </a:prstGeom>
          <a:solidFill>
            <a:srgbClr val="8C7BC0"/>
          </a:solidFill>
          <a:ln w="6350">
            <a:solidFill>
              <a:srgbClr val="5A4A99"/>
            </a:solidFill>
            <a:prstDash val="solid"/>
          </a:ln>
        </p:spPr>
      </p:sp>
      <p:sp>
        <p:nvSpPr>
          <p:cNvPr id="39" name="Shape 37"/>
          <p:cNvSpPr/>
          <p:nvPr/>
        </p:nvSpPr>
        <p:spPr>
          <a:xfrm>
            <a:off x="3144622" y="4113886"/>
            <a:ext cx="120701" cy="120701"/>
          </a:xfrm>
          <a:prstGeom prst="ellipse">
            <a:avLst/>
          </a:prstGeom>
          <a:solidFill>
            <a:srgbClr val="8C7BC0"/>
          </a:solidFill>
          <a:ln w="6350">
            <a:solidFill>
              <a:srgbClr val="5A4A99"/>
            </a:solidFill>
            <a:prstDash val="solid"/>
          </a:ln>
        </p:spPr>
      </p:sp>
      <p:sp>
        <p:nvSpPr>
          <p:cNvPr id="40" name="Shape 38"/>
          <p:cNvSpPr/>
          <p:nvPr/>
        </p:nvSpPr>
        <p:spPr>
          <a:xfrm>
            <a:off x="3094330" y="4224528"/>
            <a:ext cx="120701" cy="120701"/>
          </a:xfrm>
          <a:prstGeom prst="ellipse">
            <a:avLst/>
          </a:prstGeom>
          <a:solidFill>
            <a:srgbClr val="8C7BC0"/>
          </a:solidFill>
          <a:ln w="6350">
            <a:solidFill>
              <a:srgbClr val="5A4A99"/>
            </a:solidFill>
            <a:prstDash val="solid"/>
          </a:ln>
        </p:spPr>
      </p:sp>
      <p:sp>
        <p:nvSpPr>
          <p:cNvPr id="41" name="Text 39"/>
          <p:cNvSpPr/>
          <p:nvPr/>
        </p:nvSpPr>
        <p:spPr>
          <a:xfrm>
            <a:off x="3429000" y="4069080"/>
            <a:ext cx="1097280" cy="3657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white blood cell: defence (B2)</a:t>
            </a:r>
            <a:endParaRPr lang="en-US" sz="1000" dirty="0"/>
          </a:p>
        </p:txBody>
      </p:sp>
      <p:sp>
        <p:nvSpPr>
          <p:cNvPr id="42" name="Shape 40"/>
          <p:cNvSpPr/>
          <p:nvPr/>
        </p:nvSpPr>
        <p:spPr>
          <a:xfrm>
            <a:off x="4617720" y="4114800"/>
            <a:ext cx="91440" cy="91440"/>
          </a:xfrm>
          <a:prstGeom prst="ellipse">
            <a:avLst/>
          </a:prstGeom>
          <a:solidFill>
            <a:srgbClr val="C9A0D0"/>
          </a:solidFill>
          <a:ln w="9525">
            <a:solidFill>
              <a:srgbClr val="8A5A99"/>
            </a:solidFill>
            <a:prstDash val="solid"/>
          </a:ln>
        </p:spPr>
      </p:sp>
      <p:sp>
        <p:nvSpPr>
          <p:cNvPr id="43" name="Shape 41"/>
          <p:cNvSpPr/>
          <p:nvPr/>
        </p:nvSpPr>
        <p:spPr>
          <a:xfrm>
            <a:off x="4754880" y="4251960"/>
            <a:ext cx="91440" cy="91440"/>
          </a:xfrm>
          <a:prstGeom prst="ellipse">
            <a:avLst/>
          </a:prstGeom>
          <a:solidFill>
            <a:srgbClr val="C9A0D0"/>
          </a:solidFill>
          <a:ln w="9525">
            <a:solidFill>
              <a:srgbClr val="8A5A99"/>
            </a:solidFill>
            <a:prstDash val="solid"/>
          </a:ln>
        </p:spPr>
      </p:sp>
      <p:sp>
        <p:nvSpPr>
          <p:cNvPr id="44" name="Shape 42"/>
          <p:cNvSpPr/>
          <p:nvPr/>
        </p:nvSpPr>
        <p:spPr>
          <a:xfrm>
            <a:off x="4572000" y="4297680"/>
            <a:ext cx="91440" cy="91440"/>
          </a:xfrm>
          <a:prstGeom prst="ellipse">
            <a:avLst/>
          </a:prstGeom>
          <a:solidFill>
            <a:srgbClr val="C9A0D0"/>
          </a:solidFill>
          <a:ln w="9525">
            <a:solidFill>
              <a:srgbClr val="8A5A99"/>
            </a:solidFill>
            <a:prstDash val="solid"/>
          </a:ln>
        </p:spPr>
      </p:sp>
      <p:sp>
        <p:nvSpPr>
          <p:cNvPr id="45" name="Text 43"/>
          <p:cNvSpPr/>
          <p:nvPr/>
        </p:nvSpPr>
        <p:spPr>
          <a:xfrm>
            <a:off x="4892040" y="4069080"/>
            <a:ext cx="914400" cy="36576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platelets: clotting</a:t>
            </a:r>
            <a:endParaRPr lang="en-US" sz="1000" dirty="0"/>
          </a:p>
        </p:txBody>
      </p:sp>
      <p:sp>
        <p:nvSpPr>
          <p:cNvPr id="46" name="Shape 44"/>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Adapted for transport</a:t>
            </a:r>
            <a:endParaRPr lang="en-US" sz="1300" dirty="0"/>
          </a:p>
        </p:txBody>
      </p:sp>
      <p:sp>
        <p:nvSpPr>
          <p:cNvPr id="48" name="Text 46"/>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Red blood cells</a:t>
            </a:r>
            <a:r>
              <a:rPr lang="en-US" sz="1100" dirty="0">
                <a:solidFill>
                  <a:srgbClr val="262B3A"/>
                </a:solidFill>
                <a:latin typeface="Calibri" pitchFamily="34" charset="0"/>
                <a:ea typeface="Calibri" pitchFamily="34" charset="-122"/>
                <a:cs typeface="Calibri" pitchFamily="34" charset="-120"/>
              </a:rPr>
              <a:t> carry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from the lungs to the tissues.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Full of </a:t>
            </a:r>
            <a:r>
              <a:rPr lang="en-US" sz="1100" b="1" dirty="0">
                <a:solidFill>
                  <a:srgbClr val="262B3A"/>
                </a:solidFill>
                <a:latin typeface="Calibri" pitchFamily="34" charset="0"/>
                <a:ea typeface="Calibri" pitchFamily="34" charset="-122"/>
                <a:cs typeface="Calibri" pitchFamily="34" charset="-120"/>
              </a:rPr>
              <a:t>haemoglobin</a:t>
            </a:r>
            <a:r>
              <a:rPr lang="en-US" sz="1100" dirty="0">
                <a:solidFill>
                  <a:srgbClr val="262B3A"/>
                </a:solidFill>
                <a:latin typeface="Calibri" pitchFamily="34" charset="0"/>
                <a:ea typeface="Calibri" pitchFamily="34" charset="-122"/>
                <a:cs typeface="Calibri" pitchFamily="34" charset="-120"/>
              </a:rPr>
              <a:t>, which joins with oxygen. </a:t>
            </a:r>
            <a:r>
              <a:rPr lang="en-US" sz="1100" b="1" dirty="0">
                <a:solidFill>
                  <a:srgbClr val="262B3A"/>
                </a:solidFill>
                <a:latin typeface="Calibri" pitchFamily="34" charset="0"/>
                <a:ea typeface="Calibri" pitchFamily="34" charset="-122"/>
                <a:cs typeface="Calibri" pitchFamily="34" charset="-120"/>
              </a:rPr>
              <a:t>No nucleus</a:t>
            </a:r>
            <a:r>
              <a:rPr lang="en-US" sz="1100" dirty="0">
                <a:solidFill>
                  <a:srgbClr val="262B3A"/>
                </a:solidFill>
                <a:latin typeface="Calibri" pitchFamily="34" charset="0"/>
                <a:ea typeface="Calibri" pitchFamily="34" charset="-122"/>
                <a:cs typeface="Calibri" pitchFamily="34" charset="-120"/>
              </a:rPr>
              <a:t>: more room for haemoglobin.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Biconcave</a:t>
            </a:r>
            <a:r>
              <a:rPr lang="en-US" sz="1100" dirty="0">
                <a:solidFill>
                  <a:srgbClr val="262B3A"/>
                </a:solidFill>
                <a:latin typeface="Calibri" pitchFamily="34" charset="0"/>
                <a:ea typeface="Calibri" pitchFamily="34" charset="-122"/>
                <a:cs typeface="Calibri" pitchFamily="34" charset="-120"/>
              </a:rPr>
              <a:t> shape: large surface area for oxygen to diffuse in and out fast; flexible to squeeze through capillaries.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Plasma</a:t>
            </a:r>
            <a:r>
              <a:rPr lang="en-US" sz="1100" dirty="0">
                <a:solidFill>
                  <a:srgbClr val="262B3A"/>
                </a:solidFill>
                <a:latin typeface="Calibri" pitchFamily="34" charset="0"/>
                <a:ea typeface="Calibri" pitchFamily="34" charset="-122"/>
                <a:cs typeface="Calibri" pitchFamily="34" charset="-120"/>
              </a:rPr>
              <a:t> is a pale yellow liquid, mostly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Substances </a:t>
            </a:r>
            <a:r>
              <a:rPr lang="en-US" sz="1100" b="1" dirty="0">
                <a:solidFill>
                  <a:srgbClr val="262B3A"/>
                </a:solidFill>
                <a:latin typeface="Calibri" pitchFamily="34" charset="0"/>
                <a:ea typeface="Calibri" pitchFamily="34" charset="-122"/>
                <a:cs typeface="Calibri" pitchFamily="34" charset="-120"/>
              </a:rPr>
              <a:t>dissolve</a:t>
            </a:r>
            <a:r>
              <a:rPr lang="en-US" sz="1100" dirty="0">
                <a:solidFill>
                  <a:srgbClr val="262B3A"/>
                </a:solidFill>
                <a:latin typeface="Calibri" pitchFamily="34" charset="0"/>
                <a:ea typeface="Calibri" pitchFamily="34" charset="-122"/>
                <a:cs typeface="Calibri" pitchFamily="34" charset="-120"/>
              </a:rPr>
              <a:t> in it: glucose, amino acids, mineral ions, </a:t>
            </a:r>
            <a:r>
              <a:rPr lang="en-US" sz="1100" b="1" dirty="0">
                <a:solidFill>
                  <a:srgbClr val="262B3A"/>
                </a:solidFill>
                <a:latin typeface="Calibri" pitchFamily="34" charset="0"/>
                <a:ea typeface="Calibri" pitchFamily="34" charset="-122"/>
                <a:cs typeface="Calibri" pitchFamily="34" charset="-120"/>
              </a:rPr>
              <a:t>carbon dioxide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urea</a:t>
            </a:r>
            <a:r>
              <a:rPr lang="en-US" sz="1100" dirty="0">
                <a:solidFill>
                  <a:srgbClr val="262B3A"/>
                </a:solidFill>
                <a:latin typeface="Calibri" pitchFamily="34" charset="0"/>
                <a:ea typeface="Calibri" pitchFamily="34" charset="-122"/>
                <a:cs typeface="Calibri" pitchFamily="34" charset="-120"/>
              </a:rPr>
              <a:t>, hormones.</a:t>
            </a:r>
            <a:endParaRPr lang="en-US" sz="1100" dirty="0"/>
          </a:p>
        </p:txBody>
      </p:sp>
      <p:sp>
        <p:nvSpPr>
          <p:cNvPr id="49" name="Shape 47"/>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50" name="Text 48"/>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much plasma?</a:t>
            </a:r>
            <a:endParaRPr lang="en-US" sz="1300" dirty="0"/>
          </a:p>
        </p:txBody>
      </p:sp>
      <p:sp>
        <p:nvSpPr>
          <p:cNvPr id="51" name="Text 49"/>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An adult has 5 dm³ of blood. 55% of it is plasma. Calculate the volume of plasma.</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Percent   </a:t>
            </a:r>
            <a:r>
              <a:rPr lang="en-US" sz="1050" dirty="0">
                <a:solidFill>
                  <a:srgbClr val="262B3A"/>
                </a:solidFill>
                <a:latin typeface="Calibri" pitchFamily="34" charset="0"/>
                <a:ea typeface="Calibri" pitchFamily="34" charset="-122"/>
                <a:cs typeface="Calibri" pitchFamily="34" charset="-120"/>
              </a:rPr>
              <a:t>55% = 0.55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Multiply   </a:t>
            </a:r>
            <a:r>
              <a:rPr lang="en-US" sz="1050" dirty="0">
                <a:solidFill>
                  <a:srgbClr val="262B3A"/>
                </a:solidFill>
                <a:latin typeface="Calibri" pitchFamily="34" charset="0"/>
                <a:ea typeface="Calibri" pitchFamily="34" charset="-122"/>
                <a:cs typeface="Calibri" pitchFamily="34" charset="-120"/>
              </a:rPr>
              <a:t>5 dm³ × 0.55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2.75 dm³ of plasma</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volume of </a:t>
            </a:r>
            <a:r>
              <a:rPr lang="en-US" sz="1150" b="1" dirty="0">
                <a:solidFill>
                  <a:srgbClr val="262B3A"/>
                </a:solidFill>
                <a:latin typeface="Calibri" pitchFamily="34" charset="0"/>
                <a:ea typeface="Calibri" pitchFamily="34" charset="-122"/>
                <a:cs typeface="Calibri" pitchFamily="34" charset="-120"/>
              </a:rPr>
              <a:t>red cells</a:t>
            </a:r>
            <a:r>
              <a:rPr lang="en-US" sz="1150" dirty="0">
                <a:solidFill>
                  <a:srgbClr val="262B3A"/>
                </a:solidFill>
                <a:latin typeface="Calibri" pitchFamily="34" charset="0"/>
                <a:ea typeface="Calibri" pitchFamily="34" charset="-122"/>
                <a:cs typeface="Calibri" pitchFamily="34" charset="-120"/>
              </a:rPr>
              <a:t> in 5 dm³ of blood (44%). Name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substances carried in </a:t>
            </a:r>
            <a:r>
              <a:rPr lang="en-US" sz="1150" b="1" dirty="0">
                <a:solidFill>
                  <a:srgbClr val="262B3A"/>
                </a:solidFill>
                <a:latin typeface="Calibri" pitchFamily="34" charset="0"/>
                <a:ea typeface="Calibri" pitchFamily="34" charset="-122"/>
                <a:cs typeface="Calibri" pitchFamily="34" charset="-120"/>
              </a:rPr>
              <a:t>plasma</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Putting it together: journeys around the body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B5.1.3 • how the circulatory system links gas exchange, digestion and excretion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B5.1.3  |  21</a:t>
            </a:r>
            <a:endParaRPr lang="en-US" sz="1000" dirty="0"/>
          </a:p>
        </p:txBody>
      </p:sp>
      <p:sp>
        <p:nvSpPr>
          <p:cNvPr id="8" name="Text 6"/>
          <p:cNvSpPr/>
          <p:nvPr/>
        </p:nvSpPr>
        <p:spPr>
          <a:xfrm>
            <a:off x="411480" y="1207008"/>
            <a:ext cx="1280160" cy="548640"/>
          </a:xfrm>
          <a:prstGeom prst="rect">
            <a:avLst/>
          </a:prstGeom>
          <a:noFill/>
          <a:ln/>
        </p:spPr>
        <p:txBody>
          <a:bodyPr wrap="square" lIns="0" tIns="0" rIns="0" bIns="0" rtlCol="0" anchor="ctr"/>
          <a:lstStyle/>
          <a:p>
            <a:pPr algn="l" indent="0" marL="0">
              <a:buNone/>
            </a:pPr>
            <a:r>
              <a:rPr lang="en-US" sz="1150" b="1" dirty="0">
                <a:solidFill>
                  <a:srgbClr val="8E2A33"/>
                </a:solidFill>
                <a:latin typeface="Calibri" pitchFamily="34" charset="0"/>
                <a:ea typeface="Calibri" pitchFamily="34" charset="-122"/>
                <a:cs typeface="Calibri" pitchFamily="34" charset="-120"/>
              </a:rPr>
              <a:t>Oxygen</a:t>
            </a:r>
            <a:endParaRPr lang="en-US" sz="1150" dirty="0"/>
          </a:p>
        </p:txBody>
      </p:sp>
      <p:sp>
        <p:nvSpPr>
          <p:cNvPr id="9" name="Shape 7"/>
          <p:cNvSpPr/>
          <p:nvPr/>
        </p:nvSpPr>
        <p:spPr>
          <a:xfrm>
            <a:off x="1783080" y="1207008"/>
            <a:ext cx="1161288" cy="548640"/>
          </a:xfrm>
          <a:prstGeom prst="roundRect">
            <a:avLst>
              <a:gd name="adj" fmla="val 8333"/>
            </a:avLst>
          </a:prstGeom>
          <a:solidFill>
            <a:srgbClr val="F6C4C4"/>
          </a:solidFill>
          <a:ln w="12700">
            <a:solidFill>
              <a:srgbClr val="8E2A33"/>
            </a:solidFill>
            <a:prstDash val="solid"/>
          </a:ln>
        </p:spPr>
      </p:sp>
      <p:sp>
        <p:nvSpPr>
          <p:cNvPr id="10" name="Text 8"/>
          <p:cNvSpPr/>
          <p:nvPr/>
        </p:nvSpPr>
        <p:spPr>
          <a:xfrm>
            <a:off x="1819656"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air in alveoli</a:t>
            </a:r>
            <a:endParaRPr lang="en-US" sz="1000" dirty="0"/>
          </a:p>
        </p:txBody>
      </p:sp>
      <p:sp>
        <p:nvSpPr>
          <p:cNvPr id="11" name="Shape 9"/>
          <p:cNvSpPr/>
          <p:nvPr/>
        </p:nvSpPr>
        <p:spPr>
          <a:xfrm>
            <a:off x="2944368" y="1481328"/>
            <a:ext cx="109728" cy="91"/>
          </a:xfrm>
          <a:prstGeom prst="line">
            <a:avLst/>
          </a:prstGeom>
          <a:noFill/>
          <a:ln w="15875">
            <a:solidFill>
              <a:srgbClr val="8E2A33"/>
            </a:solidFill>
            <a:prstDash val="solid"/>
            <a:tailEnd type="triangle"/>
          </a:ln>
        </p:spPr>
      </p:sp>
      <p:sp>
        <p:nvSpPr>
          <p:cNvPr id="12" name="Shape 10"/>
          <p:cNvSpPr/>
          <p:nvPr/>
        </p:nvSpPr>
        <p:spPr>
          <a:xfrm>
            <a:off x="3054096" y="1207008"/>
            <a:ext cx="1161288" cy="548640"/>
          </a:xfrm>
          <a:prstGeom prst="roundRect">
            <a:avLst>
              <a:gd name="adj" fmla="val 8333"/>
            </a:avLst>
          </a:prstGeom>
          <a:solidFill>
            <a:srgbClr val="F6C4C4"/>
          </a:solidFill>
          <a:ln w="12700">
            <a:solidFill>
              <a:srgbClr val="8E2A33"/>
            </a:solidFill>
            <a:prstDash val="solid"/>
          </a:ln>
        </p:spPr>
      </p:sp>
      <p:sp>
        <p:nvSpPr>
          <p:cNvPr id="13" name="Text 11"/>
          <p:cNvSpPr/>
          <p:nvPr/>
        </p:nvSpPr>
        <p:spPr>
          <a:xfrm>
            <a:off x="3090672"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diffuses into blood</a:t>
            </a:r>
            <a:endParaRPr lang="en-US" sz="1000" dirty="0"/>
          </a:p>
        </p:txBody>
      </p:sp>
      <p:sp>
        <p:nvSpPr>
          <p:cNvPr id="14" name="Shape 12"/>
          <p:cNvSpPr/>
          <p:nvPr/>
        </p:nvSpPr>
        <p:spPr>
          <a:xfrm>
            <a:off x="4215384" y="1481328"/>
            <a:ext cx="109728" cy="91"/>
          </a:xfrm>
          <a:prstGeom prst="line">
            <a:avLst/>
          </a:prstGeom>
          <a:noFill/>
          <a:ln w="15875">
            <a:solidFill>
              <a:srgbClr val="8E2A33"/>
            </a:solidFill>
            <a:prstDash val="solid"/>
            <a:tailEnd type="triangle"/>
          </a:ln>
        </p:spPr>
      </p:sp>
      <p:sp>
        <p:nvSpPr>
          <p:cNvPr id="15" name="Shape 13"/>
          <p:cNvSpPr/>
          <p:nvPr/>
        </p:nvSpPr>
        <p:spPr>
          <a:xfrm>
            <a:off x="4325112" y="1207008"/>
            <a:ext cx="1161288" cy="548640"/>
          </a:xfrm>
          <a:prstGeom prst="roundRect">
            <a:avLst>
              <a:gd name="adj" fmla="val 8333"/>
            </a:avLst>
          </a:prstGeom>
          <a:solidFill>
            <a:srgbClr val="F6C4C4"/>
          </a:solidFill>
          <a:ln w="12700">
            <a:solidFill>
              <a:srgbClr val="8E2A33"/>
            </a:solidFill>
            <a:prstDash val="solid"/>
          </a:ln>
        </p:spPr>
      </p:sp>
      <p:sp>
        <p:nvSpPr>
          <p:cNvPr id="16" name="Text 14"/>
          <p:cNvSpPr/>
          <p:nvPr/>
        </p:nvSpPr>
        <p:spPr>
          <a:xfrm>
            <a:off x="4361688"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joins haemoglobin</a:t>
            </a:r>
            <a:endParaRPr lang="en-US" sz="1000" dirty="0"/>
          </a:p>
        </p:txBody>
      </p:sp>
      <p:sp>
        <p:nvSpPr>
          <p:cNvPr id="17" name="Shape 15"/>
          <p:cNvSpPr/>
          <p:nvPr/>
        </p:nvSpPr>
        <p:spPr>
          <a:xfrm>
            <a:off x="5486400" y="1481328"/>
            <a:ext cx="109728" cy="91"/>
          </a:xfrm>
          <a:prstGeom prst="line">
            <a:avLst/>
          </a:prstGeom>
          <a:noFill/>
          <a:ln w="15875">
            <a:solidFill>
              <a:srgbClr val="8E2A33"/>
            </a:solidFill>
            <a:prstDash val="solid"/>
            <a:tailEnd type="triangle"/>
          </a:ln>
        </p:spPr>
      </p:sp>
      <p:sp>
        <p:nvSpPr>
          <p:cNvPr id="18" name="Shape 16"/>
          <p:cNvSpPr/>
          <p:nvPr/>
        </p:nvSpPr>
        <p:spPr>
          <a:xfrm>
            <a:off x="5596128" y="1207008"/>
            <a:ext cx="1161288" cy="548640"/>
          </a:xfrm>
          <a:prstGeom prst="roundRect">
            <a:avLst>
              <a:gd name="adj" fmla="val 8333"/>
            </a:avLst>
          </a:prstGeom>
          <a:solidFill>
            <a:srgbClr val="F6C4C4"/>
          </a:solidFill>
          <a:ln w="12700">
            <a:solidFill>
              <a:srgbClr val="8E2A33"/>
            </a:solidFill>
            <a:prstDash val="solid"/>
          </a:ln>
        </p:spPr>
      </p:sp>
      <p:sp>
        <p:nvSpPr>
          <p:cNvPr id="19" name="Text 17"/>
          <p:cNvSpPr/>
          <p:nvPr/>
        </p:nvSpPr>
        <p:spPr>
          <a:xfrm>
            <a:off x="5632704"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pulmonary vein</a:t>
            </a:r>
            <a:endParaRPr lang="en-US" sz="1000" dirty="0"/>
          </a:p>
        </p:txBody>
      </p:sp>
      <p:sp>
        <p:nvSpPr>
          <p:cNvPr id="20" name="Shape 18"/>
          <p:cNvSpPr/>
          <p:nvPr/>
        </p:nvSpPr>
        <p:spPr>
          <a:xfrm>
            <a:off x="6757416" y="1481328"/>
            <a:ext cx="109728" cy="91"/>
          </a:xfrm>
          <a:prstGeom prst="line">
            <a:avLst/>
          </a:prstGeom>
          <a:noFill/>
          <a:ln w="15875">
            <a:solidFill>
              <a:srgbClr val="8E2A33"/>
            </a:solidFill>
            <a:prstDash val="solid"/>
            <a:tailEnd type="triangle"/>
          </a:ln>
        </p:spPr>
      </p:sp>
      <p:sp>
        <p:nvSpPr>
          <p:cNvPr id="21" name="Shape 19"/>
          <p:cNvSpPr/>
          <p:nvPr/>
        </p:nvSpPr>
        <p:spPr>
          <a:xfrm>
            <a:off x="6867144" y="1207008"/>
            <a:ext cx="1161288" cy="548640"/>
          </a:xfrm>
          <a:prstGeom prst="roundRect">
            <a:avLst>
              <a:gd name="adj" fmla="val 8333"/>
            </a:avLst>
          </a:prstGeom>
          <a:solidFill>
            <a:srgbClr val="F6C4C4"/>
          </a:solidFill>
          <a:ln w="12700">
            <a:solidFill>
              <a:srgbClr val="8E2A33"/>
            </a:solidFill>
            <a:prstDash val="solid"/>
          </a:ln>
        </p:spPr>
      </p:sp>
      <p:sp>
        <p:nvSpPr>
          <p:cNvPr id="22" name="Text 20"/>
          <p:cNvSpPr/>
          <p:nvPr/>
        </p:nvSpPr>
        <p:spPr>
          <a:xfrm>
            <a:off x="6903720"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left side of heart</a:t>
            </a:r>
            <a:endParaRPr lang="en-US" sz="1000" dirty="0"/>
          </a:p>
        </p:txBody>
      </p:sp>
      <p:sp>
        <p:nvSpPr>
          <p:cNvPr id="23" name="Shape 21"/>
          <p:cNvSpPr/>
          <p:nvPr/>
        </p:nvSpPr>
        <p:spPr>
          <a:xfrm>
            <a:off x="8028432" y="1481328"/>
            <a:ext cx="109728" cy="91"/>
          </a:xfrm>
          <a:prstGeom prst="line">
            <a:avLst/>
          </a:prstGeom>
          <a:noFill/>
          <a:ln w="15875">
            <a:solidFill>
              <a:srgbClr val="8E2A33"/>
            </a:solidFill>
            <a:prstDash val="solid"/>
            <a:tailEnd type="triangle"/>
          </a:ln>
        </p:spPr>
      </p:sp>
      <p:sp>
        <p:nvSpPr>
          <p:cNvPr id="24" name="Shape 22"/>
          <p:cNvSpPr/>
          <p:nvPr/>
        </p:nvSpPr>
        <p:spPr>
          <a:xfrm>
            <a:off x="8138160" y="1207008"/>
            <a:ext cx="1161288" cy="548640"/>
          </a:xfrm>
          <a:prstGeom prst="roundRect">
            <a:avLst>
              <a:gd name="adj" fmla="val 8333"/>
            </a:avLst>
          </a:prstGeom>
          <a:solidFill>
            <a:srgbClr val="F6C4C4"/>
          </a:solidFill>
          <a:ln w="12700">
            <a:solidFill>
              <a:srgbClr val="8E2A33"/>
            </a:solidFill>
            <a:prstDash val="solid"/>
          </a:ln>
        </p:spPr>
      </p:sp>
      <p:sp>
        <p:nvSpPr>
          <p:cNvPr id="25" name="Text 23"/>
          <p:cNvSpPr/>
          <p:nvPr/>
        </p:nvSpPr>
        <p:spPr>
          <a:xfrm>
            <a:off x="8174736"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aorta → arteries</a:t>
            </a:r>
            <a:endParaRPr lang="en-US" sz="1000" dirty="0"/>
          </a:p>
        </p:txBody>
      </p:sp>
      <p:sp>
        <p:nvSpPr>
          <p:cNvPr id="26" name="Shape 24"/>
          <p:cNvSpPr/>
          <p:nvPr/>
        </p:nvSpPr>
        <p:spPr>
          <a:xfrm>
            <a:off x="9299448" y="1481328"/>
            <a:ext cx="109728" cy="91"/>
          </a:xfrm>
          <a:prstGeom prst="line">
            <a:avLst/>
          </a:prstGeom>
          <a:noFill/>
          <a:ln w="15875">
            <a:solidFill>
              <a:srgbClr val="8E2A33"/>
            </a:solidFill>
            <a:prstDash val="solid"/>
            <a:tailEnd type="triangle"/>
          </a:ln>
        </p:spPr>
      </p:sp>
      <p:sp>
        <p:nvSpPr>
          <p:cNvPr id="27" name="Shape 25"/>
          <p:cNvSpPr/>
          <p:nvPr/>
        </p:nvSpPr>
        <p:spPr>
          <a:xfrm>
            <a:off x="9409176" y="1207008"/>
            <a:ext cx="1161288" cy="548640"/>
          </a:xfrm>
          <a:prstGeom prst="roundRect">
            <a:avLst>
              <a:gd name="adj" fmla="val 8333"/>
            </a:avLst>
          </a:prstGeom>
          <a:solidFill>
            <a:srgbClr val="F6C4C4"/>
          </a:solidFill>
          <a:ln w="12700">
            <a:solidFill>
              <a:srgbClr val="8E2A33"/>
            </a:solidFill>
            <a:prstDash val="solid"/>
          </a:ln>
        </p:spPr>
      </p:sp>
      <p:sp>
        <p:nvSpPr>
          <p:cNvPr id="28" name="Text 26"/>
          <p:cNvSpPr/>
          <p:nvPr/>
        </p:nvSpPr>
        <p:spPr>
          <a:xfrm>
            <a:off x="9445752"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capillary</a:t>
            </a:r>
            <a:endParaRPr lang="en-US" sz="1000" dirty="0"/>
          </a:p>
        </p:txBody>
      </p:sp>
      <p:sp>
        <p:nvSpPr>
          <p:cNvPr id="29" name="Shape 27"/>
          <p:cNvSpPr/>
          <p:nvPr/>
        </p:nvSpPr>
        <p:spPr>
          <a:xfrm>
            <a:off x="10570464" y="1481328"/>
            <a:ext cx="109728" cy="91"/>
          </a:xfrm>
          <a:prstGeom prst="line">
            <a:avLst/>
          </a:prstGeom>
          <a:noFill/>
          <a:ln w="15875">
            <a:solidFill>
              <a:srgbClr val="8E2A33"/>
            </a:solidFill>
            <a:prstDash val="solid"/>
            <a:tailEnd type="triangle"/>
          </a:ln>
        </p:spPr>
      </p:sp>
      <p:sp>
        <p:nvSpPr>
          <p:cNvPr id="30" name="Shape 28"/>
          <p:cNvSpPr/>
          <p:nvPr/>
        </p:nvSpPr>
        <p:spPr>
          <a:xfrm>
            <a:off x="10680192" y="1207008"/>
            <a:ext cx="1161288" cy="548640"/>
          </a:xfrm>
          <a:prstGeom prst="roundRect">
            <a:avLst>
              <a:gd name="adj" fmla="val 8333"/>
            </a:avLst>
          </a:prstGeom>
          <a:solidFill>
            <a:srgbClr val="F6C4C4"/>
          </a:solidFill>
          <a:ln w="12700">
            <a:solidFill>
              <a:srgbClr val="8E2A33"/>
            </a:solidFill>
            <a:prstDash val="solid"/>
          </a:ln>
        </p:spPr>
      </p:sp>
      <p:sp>
        <p:nvSpPr>
          <p:cNvPr id="31" name="Text 29"/>
          <p:cNvSpPr/>
          <p:nvPr/>
        </p:nvSpPr>
        <p:spPr>
          <a:xfrm>
            <a:off x="10716768" y="1207008"/>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muscle cell: respiration</a:t>
            </a:r>
            <a:endParaRPr lang="en-US" sz="1000" dirty="0"/>
          </a:p>
        </p:txBody>
      </p:sp>
      <p:sp>
        <p:nvSpPr>
          <p:cNvPr id="32" name="Text 30"/>
          <p:cNvSpPr/>
          <p:nvPr/>
        </p:nvSpPr>
        <p:spPr>
          <a:xfrm>
            <a:off x="411480" y="1883664"/>
            <a:ext cx="1280160" cy="548640"/>
          </a:xfrm>
          <a:prstGeom prst="rect">
            <a:avLst/>
          </a:prstGeom>
          <a:noFill/>
          <a:ln/>
        </p:spPr>
        <p:txBody>
          <a:bodyPr wrap="square" lIns="0" tIns="0" rIns="0" bIns="0" rtlCol="0" anchor="ctr"/>
          <a:lstStyle/>
          <a:p>
            <a:pPr algn="l" indent="0" marL="0">
              <a:buNone/>
            </a:pPr>
            <a:r>
              <a:rPr lang="en-US" sz="1150" b="1" dirty="0">
                <a:solidFill>
                  <a:srgbClr val="B8730A"/>
                </a:solidFill>
                <a:latin typeface="Calibri" pitchFamily="34" charset="0"/>
                <a:ea typeface="Calibri" pitchFamily="34" charset="-122"/>
                <a:cs typeface="Calibri" pitchFamily="34" charset="-120"/>
              </a:rPr>
              <a:t>Glucose</a:t>
            </a:r>
            <a:endParaRPr lang="en-US" sz="1150" dirty="0"/>
          </a:p>
        </p:txBody>
      </p:sp>
      <p:sp>
        <p:nvSpPr>
          <p:cNvPr id="33" name="Shape 31"/>
          <p:cNvSpPr/>
          <p:nvPr/>
        </p:nvSpPr>
        <p:spPr>
          <a:xfrm>
            <a:off x="1783080" y="1883664"/>
            <a:ext cx="1161288" cy="548640"/>
          </a:xfrm>
          <a:prstGeom prst="roundRect">
            <a:avLst>
              <a:gd name="adj" fmla="val 8333"/>
            </a:avLst>
          </a:prstGeom>
          <a:solidFill>
            <a:srgbClr val="FFF4E0"/>
          </a:solidFill>
          <a:ln w="12700">
            <a:solidFill>
              <a:srgbClr val="B8730A"/>
            </a:solidFill>
            <a:prstDash val="solid"/>
          </a:ln>
        </p:spPr>
      </p:sp>
      <p:sp>
        <p:nvSpPr>
          <p:cNvPr id="34" name="Text 32"/>
          <p:cNvSpPr/>
          <p:nvPr/>
        </p:nvSpPr>
        <p:spPr>
          <a:xfrm>
            <a:off x="1819656"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villi of small intestine</a:t>
            </a:r>
            <a:endParaRPr lang="en-US" sz="1000" dirty="0"/>
          </a:p>
        </p:txBody>
      </p:sp>
      <p:sp>
        <p:nvSpPr>
          <p:cNvPr id="35" name="Shape 33"/>
          <p:cNvSpPr/>
          <p:nvPr/>
        </p:nvSpPr>
        <p:spPr>
          <a:xfrm>
            <a:off x="2944368" y="2157984"/>
            <a:ext cx="109728" cy="91"/>
          </a:xfrm>
          <a:prstGeom prst="line">
            <a:avLst/>
          </a:prstGeom>
          <a:noFill/>
          <a:ln w="15875">
            <a:solidFill>
              <a:srgbClr val="B8730A"/>
            </a:solidFill>
            <a:prstDash val="solid"/>
            <a:tailEnd type="triangle"/>
          </a:ln>
        </p:spPr>
      </p:sp>
      <p:sp>
        <p:nvSpPr>
          <p:cNvPr id="36" name="Shape 34"/>
          <p:cNvSpPr/>
          <p:nvPr/>
        </p:nvSpPr>
        <p:spPr>
          <a:xfrm>
            <a:off x="3054096" y="1883664"/>
            <a:ext cx="1161288" cy="548640"/>
          </a:xfrm>
          <a:prstGeom prst="roundRect">
            <a:avLst>
              <a:gd name="adj" fmla="val 8333"/>
            </a:avLst>
          </a:prstGeom>
          <a:solidFill>
            <a:srgbClr val="FFF4E0"/>
          </a:solidFill>
          <a:ln w="12700">
            <a:solidFill>
              <a:srgbClr val="B8730A"/>
            </a:solidFill>
            <a:prstDash val="solid"/>
          </a:ln>
        </p:spPr>
      </p:sp>
      <p:sp>
        <p:nvSpPr>
          <p:cNvPr id="37" name="Text 35"/>
          <p:cNvSpPr/>
          <p:nvPr/>
        </p:nvSpPr>
        <p:spPr>
          <a:xfrm>
            <a:off x="3090672"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into capillaries</a:t>
            </a:r>
            <a:endParaRPr lang="en-US" sz="1000" dirty="0"/>
          </a:p>
        </p:txBody>
      </p:sp>
      <p:sp>
        <p:nvSpPr>
          <p:cNvPr id="38" name="Shape 36"/>
          <p:cNvSpPr/>
          <p:nvPr/>
        </p:nvSpPr>
        <p:spPr>
          <a:xfrm>
            <a:off x="4215384" y="2157984"/>
            <a:ext cx="109728" cy="91"/>
          </a:xfrm>
          <a:prstGeom prst="line">
            <a:avLst/>
          </a:prstGeom>
          <a:noFill/>
          <a:ln w="15875">
            <a:solidFill>
              <a:srgbClr val="B8730A"/>
            </a:solidFill>
            <a:prstDash val="solid"/>
            <a:tailEnd type="triangle"/>
          </a:ln>
        </p:spPr>
      </p:sp>
      <p:sp>
        <p:nvSpPr>
          <p:cNvPr id="39" name="Shape 37"/>
          <p:cNvSpPr/>
          <p:nvPr/>
        </p:nvSpPr>
        <p:spPr>
          <a:xfrm>
            <a:off x="4325112" y="1883664"/>
            <a:ext cx="1161288" cy="548640"/>
          </a:xfrm>
          <a:prstGeom prst="roundRect">
            <a:avLst>
              <a:gd name="adj" fmla="val 8333"/>
            </a:avLst>
          </a:prstGeom>
          <a:solidFill>
            <a:srgbClr val="FFF4E0"/>
          </a:solidFill>
          <a:ln w="12700">
            <a:solidFill>
              <a:srgbClr val="B8730A"/>
            </a:solidFill>
            <a:prstDash val="solid"/>
          </a:ln>
        </p:spPr>
      </p:sp>
      <p:sp>
        <p:nvSpPr>
          <p:cNvPr id="40" name="Text 38"/>
          <p:cNvSpPr/>
          <p:nvPr/>
        </p:nvSpPr>
        <p:spPr>
          <a:xfrm>
            <a:off x="4361688"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dissolved in plasma</a:t>
            </a:r>
            <a:endParaRPr lang="en-US" sz="1000" dirty="0"/>
          </a:p>
        </p:txBody>
      </p:sp>
      <p:sp>
        <p:nvSpPr>
          <p:cNvPr id="41" name="Shape 39"/>
          <p:cNvSpPr/>
          <p:nvPr/>
        </p:nvSpPr>
        <p:spPr>
          <a:xfrm>
            <a:off x="5486400" y="2157984"/>
            <a:ext cx="109728" cy="91"/>
          </a:xfrm>
          <a:prstGeom prst="line">
            <a:avLst/>
          </a:prstGeom>
          <a:noFill/>
          <a:ln w="15875">
            <a:solidFill>
              <a:srgbClr val="B8730A"/>
            </a:solidFill>
            <a:prstDash val="solid"/>
            <a:tailEnd type="triangle"/>
          </a:ln>
        </p:spPr>
      </p:sp>
      <p:sp>
        <p:nvSpPr>
          <p:cNvPr id="42" name="Shape 40"/>
          <p:cNvSpPr/>
          <p:nvPr/>
        </p:nvSpPr>
        <p:spPr>
          <a:xfrm>
            <a:off x="5596128" y="1883664"/>
            <a:ext cx="1161288" cy="548640"/>
          </a:xfrm>
          <a:prstGeom prst="roundRect">
            <a:avLst>
              <a:gd name="adj" fmla="val 8333"/>
            </a:avLst>
          </a:prstGeom>
          <a:solidFill>
            <a:srgbClr val="FFF4E0"/>
          </a:solidFill>
          <a:ln w="12700">
            <a:solidFill>
              <a:srgbClr val="B8730A"/>
            </a:solidFill>
            <a:prstDash val="solid"/>
          </a:ln>
        </p:spPr>
      </p:sp>
      <p:sp>
        <p:nvSpPr>
          <p:cNvPr id="43" name="Text 41"/>
          <p:cNvSpPr/>
          <p:nvPr/>
        </p:nvSpPr>
        <p:spPr>
          <a:xfrm>
            <a:off x="5632704"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vena cava</a:t>
            </a:r>
            <a:endParaRPr lang="en-US" sz="1000" dirty="0"/>
          </a:p>
        </p:txBody>
      </p:sp>
      <p:sp>
        <p:nvSpPr>
          <p:cNvPr id="44" name="Shape 42"/>
          <p:cNvSpPr/>
          <p:nvPr/>
        </p:nvSpPr>
        <p:spPr>
          <a:xfrm>
            <a:off x="6757416" y="2157984"/>
            <a:ext cx="109728" cy="91"/>
          </a:xfrm>
          <a:prstGeom prst="line">
            <a:avLst/>
          </a:prstGeom>
          <a:noFill/>
          <a:ln w="15875">
            <a:solidFill>
              <a:srgbClr val="B8730A"/>
            </a:solidFill>
            <a:prstDash val="solid"/>
            <a:tailEnd type="triangle"/>
          </a:ln>
        </p:spPr>
      </p:sp>
      <p:sp>
        <p:nvSpPr>
          <p:cNvPr id="45" name="Shape 43"/>
          <p:cNvSpPr/>
          <p:nvPr/>
        </p:nvSpPr>
        <p:spPr>
          <a:xfrm>
            <a:off x="6867144" y="1883664"/>
            <a:ext cx="1161288" cy="548640"/>
          </a:xfrm>
          <a:prstGeom prst="roundRect">
            <a:avLst>
              <a:gd name="adj" fmla="val 8333"/>
            </a:avLst>
          </a:prstGeom>
          <a:solidFill>
            <a:srgbClr val="FFF4E0"/>
          </a:solidFill>
          <a:ln w="12700">
            <a:solidFill>
              <a:srgbClr val="B8730A"/>
            </a:solidFill>
            <a:prstDash val="solid"/>
          </a:ln>
        </p:spPr>
      </p:sp>
      <p:sp>
        <p:nvSpPr>
          <p:cNvPr id="46" name="Text 44"/>
          <p:cNvSpPr/>
          <p:nvPr/>
        </p:nvSpPr>
        <p:spPr>
          <a:xfrm>
            <a:off x="6903720"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right side of heart → lungs</a:t>
            </a:r>
            <a:endParaRPr lang="en-US" sz="1000" dirty="0"/>
          </a:p>
        </p:txBody>
      </p:sp>
      <p:sp>
        <p:nvSpPr>
          <p:cNvPr id="47" name="Shape 45"/>
          <p:cNvSpPr/>
          <p:nvPr/>
        </p:nvSpPr>
        <p:spPr>
          <a:xfrm>
            <a:off x="8028432" y="2157984"/>
            <a:ext cx="109728" cy="91"/>
          </a:xfrm>
          <a:prstGeom prst="line">
            <a:avLst/>
          </a:prstGeom>
          <a:noFill/>
          <a:ln w="15875">
            <a:solidFill>
              <a:srgbClr val="B8730A"/>
            </a:solidFill>
            <a:prstDash val="solid"/>
            <a:tailEnd type="triangle"/>
          </a:ln>
        </p:spPr>
      </p:sp>
      <p:sp>
        <p:nvSpPr>
          <p:cNvPr id="48" name="Shape 46"/>
          <p:cNvSpPr/>
          <p:nvPr/>
        </p:nvSpPr>
        <p:spPr>
          <a:xfrm>
            <a:off x="8138160" y="1883664"/>
            <a:ext cx="1161288" cy="548640"/>
          </a:xfrm>
          <a:prstGeom prst="roundRect">
            <a:avLst>
              <a:gd name="adj" fmla="val 8333"/>
            </a:avLst>
          </a:prstGeom>
          <a:solidFill>
            <a:srgbClr val="FFF4E0"/>
          </a:solidFill>
          <a:ln w="12700">
            <a:solidFill>
              <a:srgbClr val="B8730A"/>
            </a:solidFill>
            <a:prstDash val="solid"/>
          </a:ln>
        </p:spPr>
      </p:sp>
      <p:sp>
        <p:nvSpPr>
          <p:cNvPr id="49" name="Text 47"/>
          <p:cNvSpPr/>
          <p:nvPr/>
        </p:nvSpPr>
        <p:spPr>
          <a:xfrm>
            <a:off x="8174736"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left side of heart</a:t>
            </a:r>
            <a:endParaRPr lang="en-US" sz="1000" dirty="0"/>
          </a:p>
        </p:txBody>
      </p:sp>
      <p:sp>
        <p:nvSpPr>
          <p:cNvPr id="50" name="Shape 48"/>
          <p:cNvSpPr/>
          <p:nvPr/>
        </p:nvSpPr>
        <p:spPr>
          <a:xfrm>
            <a:off x="9299448" y="2157984"/>
            <a:ext cx="109728" cy="91"/>
          </a:xfrm>
          <a:prstGeom prst="line">
            <a:avLst/>
          </a:prstGeom>
          <a:noFill/>
          <a:ln w="15875">
            <a:solidFill>
              <a:srgbClr val="B8730A"/>
            </a:solidFill>
            <a:prstDash val="solid"/>
            <a:tailEnd type="triangle"/>
          </a:ln>
        </p:spPr>
      </p:sp>
      <p:sp>
        <p:nvSpPr>
          <p:cNvPr id="51" name="Shape 49"/>
          <p:cNvSpPr/>
          <p:nvPr/>
        </p:nvSpPr>
        <p:spPr>
          <a:xfrm>
            <a:off x="9409176" y="1883664"/>
            <a:ext cx="1161288" cy="548640"/>
          </a:xfrm>
          <a:prstGeom prst="roundRect">
            <a:avLst>
              <a:gd name="adj" fmla="val 8333"/>
            </a:avLst>
          </a:prstGeom>
          <a:solidFill>
            <a:srgbClr val="FFF4E0"/>
          </a:solidFill>
          <a:ln w="12700">
            <a:solidFill>
              <a:srgbClr val="B8730A"/>
            </a:solidFill>
            <a:prstDash val="solid"/>
          </a:ln>
        </p:spPr>
      </p:sp>
      <p:sp>
        <p:nvSpPr>
          <p:cNvPr id="52" name="Text 50"/>
          <p:cNvSpPr/>
          <p:nvPr/>
        </p:nvSpPr>
        <p:spPr>
          <a:xfrm>
            <a:off x="9445752"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aorta → capillary</a:t>
            </a:r>
            <a:endParaRPr lang="en-US" sz="1000" dirty="0"/>
          </a:p>
        </p:txBody>
      </p:sp>
      <p:sp>
        <p:nvSpPr>
          <p:cNvPr id="53" name="Shape 51"/>
          <p:cNvSpPr/>
          <p:nvPr/>
        </p:nvSpPr>
        <p:spPr>
          <a:xfrm>
            <a:off x="10570464" y="2157984"/>
            <a:ext cx="109728" cy="91"/>
          </a:xfrm>
          <a:prstGeom prst="line">
            <a:avLst/>
          </a:prstGeom>
          <a:noFill/>
          <a:ln w="15875">
            <a:solidFill>
              <a:srgbClr val="B8730A"/>
            </a:solidFill>
            <a:prstDash val="solid"/>
            <a:tailEnd type="triangle"/>
          </a:ln>
        </p:spPr>
      </p:sp>
      <p:sp>
        <p:nvSpPr>
          <p:cNvPr id="54" name="Shape 52"/>
          <p:cNvSpPr/>
          <p:nvPr/>
        </p:nvSpPr>
        <p:spPr>
          <a:xfrm>
            <a:off x="10680192" y="1883664"/>
            <a:ext cx="1161288" cy="548640"/>
          </a:xfrm>
          <a:prstGeom prst="roundRect">
            <a:avLst>
              <a:gd name="adj" fmla="val 8333"/>
            </a:avLst>
          </a:prstGeom>
          <a:solidFill>
            <a:srgbClr val="FFF4E0"/>
          </a:solidFill>
          <a:ln w="12700">
            <a:solidFill>
              <a:srgbClr val="B8730A"/>
            </a:solidFill>
            <a:prstDash val="solid"/>
          </a:ln>
        </p:spPr>
      </p:sp>
      <p:sp>
        <p:nvSpPr>
          <p:cNvPr id="55" name="Text 53"/>
          <p:cNvSpPr/>
          <p:nvPr/>
        </p:nvSpPr>
        <p:spPr>
          <a:xfrm>
            <a:off x="10716768" y="1883664"/>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muscle cell: respiration</a:t>
            </a:r>
            <a:endParaRPr lang="en-US" sz="1000" dirty="0"/>
          </a:p>
        </p:txBody>
      </p:sp>
      <p:sp>
        <p:nvSpPr>
          <p:cNvPr id="56" name="Text 54"/>
          <p:cNvSpPr/>
          <p:nvPr/>
        </p:nvSpPr>
        <p:spPr>
          <a:xfrm>
            <a:off x="411480" y="2560320"/>
            <a:ext cx="1280160" cy="548640"/>
          </a:xfrm>
          <a:prstGeom prst="rect">
            <a:avLst/>
          </a:prstGeom>
          <a:noFill/>
          <a:ln/>
        </p:spPr>
        <p:txBody>
          <a:bodyPr wrap="square" lIns="0" tIns="0" rIns="0" bIns="0" rtlCol="0" anchor="ctr"/>
          <a:lstStyle/>
          <a:p>
            <a:pPr algn="l" indent="0" marL="0">
              <a:buNone/>
            </a:pPr>
            <a:r>
              <a:rPr lang="en-US" sz="1150" b="1" dirty="0">
                <a:solidFill>
                  <a:srgbClr val="1F4E8C"/>
                </a:solidFill>
                <a:latin typeface="Calibri" pitchFamily="34" charset="0"/>
                <a:ea typeface="Calibri" pitchFamily="34" charset="-122"/>
                <a:cs typeface="Calibri" pitchFamily="34" charset="-120"/>
              </a:rPr>
              <a:t>Carbon dioxide</a:t>
            </a:r>
            <a:endParaRPr lang="en-US" sz="1150" dirty="0"/>
          </a:p>
        </p:txBody>
      </p:sp>
      <p:sp>
        <p:nvSpPr>
          <p:cNvPr id="57" name="Shape 55"/>
          <p:cNvSpPr/>
          <p:nvPr/>
        </p:nvSpPr>
        <p:spPr>
          <a:xfrm>
            <a:off x="1783080" y="2560320"/>
            <a:ext cx="1161288" cy="548640"/>
          </a:xfrm>
          <a:prstGeom prst="roundRect">
            <a:avLst>
              <a:gd name="adj" fmla="val 8333"/>
            </a:avLst>
          </a:prstGeom>
          <a:solidFill>
            <a:srgbClr val="C3D6F2"/>
          </a:solidFill>
          <a:ln w="12700">
            <a:solidFill>
              <a:srgbClr val="1F4E8C"/>
            </a:solidFill>
            <a:prstDash val="solid"/>
          </a:ln>
        </p:spPr>
      </p:sp>
      <p:sp>
        <p:nvSpPr>
          <p:cNvPr id="58" name="Text 56"/>
          <p:cNvSpPr/>
          <p:nvPr/>
        </p:nvSpPr>
        <p:spPr>
          <a:xfrm>
            <a:off x="1819656"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muscle cell</a:t>
            </a:r>
            <a:endParaRPr lang="en-US" sz="1000" dirty="0"/>
          </a:p>
        </p:txBody>
      </p:sp>
      <p:sp>
        <p:nvSpPr>
          <p:cNvPr id="59" name="Shape 57"/>
          <p:cNvSpPr/>
          <p:nvPr/>
        </p:nvSpPr>
        <p:spPr>
          <a:xfrm>
            <a:off x="2944368" y="2834640"/>
            <a:ext cx="109728" cy="91"/>
          </a:xfrm>
          <a:prstGeom prst="line">
            <a:avLst/>
          </a:prstGeom>
          <a:noFill/>
          <a:ln w="15875">
            <a:solidFill>
              <a:srgbClr val="1F4E8C"/>
            </a:solidFill>
            <a:prstDash val="solid"/>
            <a:tailEnd type="triangle"/>
          </a:ln>
        </p:spPr>
      </p:sp>
      <p:sp>
        <p:nvSpPr>
          <p:cNvPr id="60" name="Shape 58"/>
          <p:cNvSpPr/>
          <p:nvPr/>
        </p:nvSpPr>
        <p:spPr>
          <a:xfrm>
            <a:off x="3054096" y="2560320"/>
            <a:ext cx="1161288" cy="548640"/>
          </a:xfrm>
          <a:prstGeom prst="roundRect">
            <a:avLst>
              <a:gd name="adj" fmla="val 8333"/>
            </a:avLst>
          </a:prstGeom>
          <a:solidFill>
            <a:srgbClr val="C3D6F2"/>
          </a:solidFill>
          <a:ln w="12700">
            <a:solidFill>
              <a:srgbClr val="1F4E8C"/>
            </a:solidFill>
            <a:prstDash val="solid"/>
          </a:ln>
        </p:spPr>
      </p:sp>
      <p:sp>
        <p:nvSpPr>
          <p:cNvPr id="61" name="Text 59"/>
          <p:cNvSpPr/>
          <p:nvPr/>
        </p:nvSpPr>
        <p:spPr>
          <a:xfrm>
            <a:off x="3090672"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into capillary plasma</a:t>
            </a:r>
            <a:endParaRPr lang="en-US" sz="1000" dirty="0"/>
          </a:p>
        </p:txBody>
      </p:sp>
      <p:sp>
        <p:nvSpPr>
          <p:cNvPr id="62" name="Shape 60"/>
          <p:cNvSpPr/>
          <p:nvPr/>
        </p:nvSpPr>
        <p:spPr>
          <a:xfrm>
            <a:off x="4215384" y="2834640"/>
            <a:ext cx="109728" cy="91"/>
          </a:xfrm>
          <a:prstGeom prst="line">
            <a:avLst/>
          </a:prstGeom>
          <a:noFill/>
          <a:ln w="15875">
            <a:solidFill>
              <a:srgbClr val="1F4E8C"/>
            </a:solidFill>
            <a:prstDash val="solid"/>
            <a:tailEnd type="triangle"/>
          </a:ln>
        </p:spPr>
      </p:sp>
      <p:sp>
        <p:nvSpPr>
          <p:cNvPr id="63" name="Shape 61"/>
          <p:cNvSpPr/>
          <p:nvPr/>
        </p:nvSpPr>
        <p:spPr>
          <a:xfrm>
            <a:off x="4325112" y="2560320"/>
            <a:ext cx="1161288" cy="548640"/>
          </a:xfrm>
          <a:prstGeom prst="roundRect">
            <a:avLst>
              <a:gd name="adj" fmla="val 8333"/>
            </a:avLst>
          </a:prstGeom>
          <a:solidFill>
            <a:srgbClr val="C3D6F2"/>
          </a:solidFill>
          <a:ln w="12700">
            <a:solidFill>
              <a:srgbClr val="1F4E8C"/>
            </a:solidFill>
            <a:prstDash val="solid"/>
          </a:ln>
        </p:spPr>
      </p:sp>
      <p:sp>
        <p:nvSpPr>
          <p:cNvPr id="64" name="Text 62"/>
          <p:cNvSpPr/>
          <p:nvPr/>
        </p:nvSpPr>
        <p:spPr>
          <a:xfrm>
            <a:off x="4361688"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veins</a:t>
            </a:r>
            <a:endParaRPr lang="en-US" sz="1000" dirty="0"/>
          </a:p>
        </p:txBody>
      </p:sp>
      <p:sp>
        <p:nvSpPr>
          <p:cNvPr id="65" name="Shape 63"/>
          <p:cNvSpPr/>
          <p:nvPr/>
        </p:nvSpPr>
        <p:spPr>
          <a:xfrm>
            <a:off x="5486400" y="2834640"/>
            <a:ext cx="109728" cy="91"/>
          </a:xfrm>
          <a:prstGeom prst="line">
            <a:avLst/>
          </a:prstGeom>
          <a:noFill/>
          <a:ln w="15875">
            <a:solidFill>
              <a:srgbClr val="1F4E8C"/>
            </a:solidFill>
            <a:prstDash val="solid"/>
            <a:tailEnd type="triangle"/>
          </a:ln>
        </p:spPr>
      </p:sp>
      <p:sp>
        <p:nvSpPr>
          <p:cNvPr id="66" name="Shape 64"/>
          <p:cNvSpPr/>
          <p:nvPr/>
        </p:nvSpPr>
        <p:spPr>
          <a:xfrm>
            <a:off x="5596128" y="2560320"/>
            <a:ext cx="1161288" cy="548640"/>
          </a:xfrm>
          <a:prstGeom prst="roundRect">
            <a:avLst>
              <a:gd name="adj" fmla="val 8333"/>
            </a:avLst>
          </a:prstGeom>
          <a:solidFill>
            <a:srgbClr val="C3D6F2"/>
          </a:solidFill>
          <a:ln w="12700">
            <a:solidFill>
              <a:srgbClr val="1F4E8C"/>
            </a:solidFill>
            <a:prstDash val="solid"/>
          </a:ln>
        </p:spPr>
      </p:sp>
      <p:sp>
        <p:nvSpPr>
          <p:cNvPr id="67" name="Text 65"/>
          <p:cNvSpPr/>
          <p:nvPr/>
        </p:nvSpPr>
        <p:spPr>
          <a:xfrm>
            <a:off x="5632704"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vena cava</a:t>
            </a:r>
            <a:endParaRPr lang="en-US" sz="1000" dirty="0"/>
          </a:p>
        </p:txBody>
      </p:sp>
      <p:sp>
        <p:nvSpPr>
          <p:cNvPr id="68" name="Shape 66"/>
          <p:cNvSpPr/>
          <p:nvPr/>
        </p:nvSpPr>
        <p:spPr>
          <a:xfrm>
            <a:off x="6757416" y="2834640"/>
            <a:ext cx="109728" cy="91"/>
          </a:xfrm>
          <a:prstGeom prst="line">
            <a:avLst/>
          </a:prstGeom>
          <a:noFill/>
          <a:ln w="15875">
            <a:solidFill>
              <a:srgbClr val="1F4E8C"/>
            </a:solidFill>
            <a:prstDash val="solid"/>
            <a:tailEnd type="triangle"/>
          </a:ln>
        </p:spPr>
      </p:sp>
      <p:sp>
        <p:nvSpPr>
          <p:cNvPr id="69" name="Shape 67"/>
          <p:cNvSpPr/>
          <p:nvPr/>
        </p:nvSpPr>
        <p:spPr>
          <a:xfrm>
            <a:off x="6867144" y="2560320"/>
            <a:ext cx="1161288" cy="548640"/>
          </a:xfrm>
          <a:prstGeom prst="roundRect">
            <a:avLst>
              <a:gd name="adj" fmla="val 8333"/>
            </a:avLst>
          </a:prstGeom>
          <a:solidFill>
            <a:srgbClr val="C3D6F2"/>
          </a:solidFill>
          <a:ln w="12700">
            <a:solidFill>
              <a:srgbClr val="1F4E8C"/>
            </a:solidFill>
            <a:prstDash val="solid"/>
          </a:ln>
        </p:spPr>
      </p:sp>
      <p:sp>
        <p:nvSpPr>
          <p:cNvPr id="70" name="Text 68"/>
          <p:cNvSpPr/>
          <p:nvPr/>
        </p:nvSpPr>
        <p:spPr>
          <a:xfrm>
            <a:off x="6903720"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right side of heart</a:t>
            </a:r>
            <a:endParaRPr lang="en-US" sz="1000" dirty="0"/>
          </a:p>
        </p:txBody>
      </p:sp>
      <p:sp>
        <p:nvSpPr>
          <p:cNvPr id="71" name="Shape 69"/>
          <p:cNvSpPr/>
          <p:nvPr/>
        </p:nvSpPr>
        <p:spPr>
          <a:xfrm>
            <a:off x="8028432" y="2834640"/>
            <a:ext cx="109728" cy="91"/>
          </a:xfrm>
          <a:prstGeom prst="line">
            <a:avLst/>
          </a:prstGeom>
          <a:noFill/>
          <a:ln w="15875">
            <a:solidFill>
              <a:srgbClr val="1F4E8C"/>
            </a:solidFill>
            <a:prstDash val="solid"/>
            <a:tailEnd type="triangle"/>
          </a:ln>
        </p:spPr>
      </p:sp>
      <p:sp>
        <p:nvSpPr>
          <p:cNvPr id="72" name="Shape 70"/>
          <p:cNvSpPr/>
          <p:nvPr/>
        </p:nvSpPr>
        <p:spPr>
          <a:xfrm>
            <a:off x="8138160" y="2560320"/>
            <a:ext cx="1161288" cy="548640"/>
          </a:xfrm>
          <a:prstGeom prst="roundRect">
            <a:avLst>
              <a:gd name="adj" fmla="val 8333"/>
            </a:avLst>
          </a:prstGeom>
          <a:solidFill>
            <a:srgbClr val="C3D6F2"/>
          </a:solidFill>
          <a:ln w="12700">
            <a:solidFill>
              <a:srgbClr val="1F4E8C"/>
            </a:solidFill>
            <a:prstDash val="solid"/>
          </a:ln>
        </p:spPr>
      </p:sp>
      <p:sp>
        <p:nvSpPr>
          <p:cNvPr id="73" name="Text 71"/>
          <p:cNvSpPr/>
          <p:nvPr/>
        </p:nvSpPr>
        <p:spPr>
          <a:xfrm>
            <a:off x="8174736"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pulmonary artery</a:t>
            </a:r>
            <a:endParaRPr lang="en-US" sz="1000" dirty="0"/>
          </a:p>
        </p:txBody>
      </p:sp>
      <p:sp>
        <p:nvSpPr>
          <p:cNvPr id="74" name="Shape 72"/>
          <p:cNvSpPr/>
          <p:nvPr/>
        </p:nvSpPr>
        <p:spPr>
          <a:xfrm>
            <a:off x="9299448" y="2834640"/>
            <a:ext cx="109728" cy="91"/>
          </a:xfrm>
          <a:prstGeom prst="line">
            <a:avLst/>
          </a:prstGeom>
          <a:noFill/>
          <a:ln w="15875">
            <a:solidFill>
              <a:srgbClr val="1F4E8C"/>
            </a:solidFill>
            <a:prstDash val="solid"/>
            <a:tailEnd type="triangle"/>
          </a:ln>
        </p:spPr>
      </p:sp>
      <p:sp>
        <p:nvSpPr>
          <p:cNvPr id="75" name="Shape 73"/>
          <p:cNvSpPr/>
          <p:nvPr/>
        </p:nvSpPr>
        <p:spPr>
          <a:xfrm>
            <a:off x="9409176" y="2560320"/>
            <a:ext cx="1161288" cy="548640"/>
          </a:xfrm>
          <a:prstGeom prst="roundRect">
            <a:avLst>
              <a:gd name="adj" fmla="val 8333"/>
            </a:avLst>
          </a:prstGeom>
          <a:solidFill>
            <a:srgbClr val="C3D6F2"/>
          </a:solidFill>
          <a:ln w="12700">
            <a:solidFill>
              <a:srgbClr val="1F4E8C"/>
            </a:solidFill>
            <a:prstDash val="solid"/>
          </a:ln>
        </p:spPr>
      </p:sp>
      <p:sp>
        <p:nvSpPr>
          <p:cNvPr id="76" name="Text 74"/>
          <p:cNvSpPr/>
          <p:nvPr/>
        </p:nvSpPr>
        <p:spPr>
          <a:xfrm>
            <a:off x="9445752"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diffuses into alveoli</a:t>
            </a:r>
            <a:endParaRPr lang="en-US" sz="1000" dirty="0"/>
          </a:p>
        </p:txBody>
      </p:sp>
      <p:sp>
        <p:nvSpPr>
          <p:cNvPr id="77" name="Shape 75"/>
          <p:cNvSpPr/>
          <p:nvPr/>
        </p:nvSpPr>
        <p:spPr>
          <a:xfrm>
            <a:off x="10570464" y="2834640"/>
            <a:ext cx="109728" cy="91"/>
          </a:xfrm>
          <a:prstGeom prst="line">
            <a:avLst/>
          </a:prstGeom>
          <a:noFill/>
          <a:ln w="15875">
            <a:solidFill>
              <a:srgbClr val="1F4E8C"/>
            </a:solidFill>
            <a:prstDash val="solid"/>
            <a:tailEnd type="triangle"/>
          </a:ln>
        </p:spPr>
      </p:sp>
      <p:sp>
        <p:nvSpPr>
          <p:cNvPr id="78" name="Shape 76"/>
          <p:cNvSpPr/>
          <p:nvPr/>
        </p:nvSpPr>
        <p:spPr>
          <a:xfrm>
            <a:off x="10680192" y="2560320"/>
            <a:ext cx="1161288" cy="548640"/>
          </a:xfrm>
          <a:prstGeom prst="roundRect">
            <a:avLst>
              <a:gd name="adj" fmla="val 8333"/>
            </a:avLst>
          </a:prstGeom>
          <a:solidFill>
            <a:srgbClr val="C3D6F2"/>
          </a:solidFill>
          <a:ln w="12700">
            <a:solidFill>
              <a:srgbClr val="1F4E8C"/>
            </a:solidFill>
            <a:prstDash val="solid"/>
          </a:ln>
        </p:spPr>
      </p:sp>
      <p:sp>
        <p:nvSpPr>
          <p:cNvPr id="79" name="Text 77"/>
          <p:cNvSpPr/>
          <p:nvPr/>
        </p:nvSpPr>
        <p:spPr>
          <a:xfrm>
            <a:off x="10716768" y="2560320"/>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breathed out</a:t>
            </a:r>
            <a:endParaRPr lang="en-US" sz="1000" dirty="0"/>
          </a:p>
        </p:txBody>
      </p:sp>
      <p:sp>
        <p:nvSpPr>
          <p:cNvPr id="80" name="Text 78"/>
          <p:cNvSpPr/>
          <p:nvPr/>
        </p:nvSpPr>
        <p:spPr>
          <a:xfrm>
            <a:off x="411480" y="3236976"/>
            <a:ext cx="1280160" cy="548640"/>
          </a:xfrm>
          <a:prstGeom prst="rect">
            <a:avLst/>
          </a:prstGeom>
          <a:noFill/>
          <a:ln/>
        </p:spPr>
        <p:txBody>
          <a:bodyPr wrap="square" lIns="0" tIns="0" rIns="0" bIns="0" rtlCol="0" anchor="ctr"/>
          <a:lstStyle/>
          <a:p>
            <a:pPr algn="l" indent="0" marL="0">
              <a:buNone/>
            </a:pPr>
            <a:r>
              <a:rPr lang="en-US" sz="1150" b="1" dirty="0">
                <a:solidFill>
                  <a:srgbClr val="6B5A2A"/>
                </a:solidFill>
                <a:latin typeface="Calibri" pitchFamily="34" charset="0"/>
                <a:ea typeface="Calibri" pitchFamily="34" charset="-122"/>
                <a:cs typeface="Calibri" pitchFamily="34" charset="-120"/>
              </a:rPr>
              <a:t>Urea</a:t>
            </a:r>
            <a:endParaRPr lang="en-US" sz="1150" dirty="0"/>
          </a:p>
        </p:txBody>
      </p:sp>
      <p:sp>
        <p:nvSpPr>
          <p:cNvPr id="81" name="Shape 79"/>
          <p:cNvSpPr/>
          <p:nvPr/>
        </p:nvSpPr>
        <p:spPr>
          <a:xfrm>
            <a:off x="1783080" y="3236976"/>
            <a:ext cx="1161288" cy="548640"/>
          </a:xfrm>
          <a:prstGeom prst="roundRect">
            <a:avLst>
              <a:gd name="adj" fmla="val 8333"/>
            </a:avLst>
          </a:prstGeom>
          <a:solidFill>
            <a:srgbClr val="F3EBDD"/>
          </a:solidFill>
          <a:ln w="12700">
            <a:solidFill>
              <a:srgbClr val="6B5A2A"/>
            </a:solidFill>
            <a:prstDash val="solid"/>
          </a:ln>
        </p:spPr>
      </p:sp>
      <p:sp>
        <p:nvSpPr>
          <p:cNvPr id="82" name="Text 80"/>
          <p:cNvSpPr/>
          <p:nvPr/>
        </p:nvSpPr>
        <p:spPr>
          <a:xfrm>
            <a:off x="1819656"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made in the liver</a:t>
            </a:r>
            <a:endParaRPr lang="en-US" sz="1000" dirty="0"/>
          </a:p>
        </p:txBody>
      </p:sp>
      <p:sp>
        <p:nvSpPr>
          <p:cNvPr id="83" name="Shape 81"/>
          <p:cNvSpPr/>
          <p:nvPr/>
        </p:nvSpPr>
        <p:spPr>
          <a:xfrm>
            <a:off x="2944368" y="3511296"/>
            <a:ext cx="109728" cy="91"/>
          </a:xfrm>
          <a:prstGeom prst="line">
            <a:avLst/>
          </a:prstGeom>
          <a:noFill/>
          <a:ln w="15875">
            <a:solidFill>
              <a:srgbClr val="6B5A2A"/>
            </a:solidFill>
            <a:prstDash val="solid"/>
            <a:tailEnd type="triangle"/>
          </a:ln>
        </p:spPr>
      </p:sp>
      <p:sp>
        <p:nvSpPr>
          <p:cNvPr id="84" name="Shape 82"/>
          <p:cNvSpPr/>
          <p:nvPr/>
        </p:nvSpPr>
        <p:spPr>
          <a:xfrm>
            <a:off x="3054096" y="3236976"/>
            <a:ext cx="1161288" cy="548640"/>
          </a:xfrm>
          <a:prstGeom prst="roundRect">
            <a:avLst>
              <a:gd name="adj" fmla="val 8333"/>
            </a:avLst>
          </a:prstGeom>
          <a:solidFill>
            <a:srgbClr val="F3EBDD"/>
          </a:solidFill>
          <a:ln w="12700">
            <a:solidFill>
              <a:srgbClr val="6B5A2A"/>
            </a:solidFill>
            <a:prstDash val="solid"/>
          </a:ln>
        </p:spPr>
      </p:sp>
      <p:sp>
        <p:nvSpPr>
          <p:cNvPr id="85" name="Text 83"/>
          <p:cNvSpPr/>
          <p:nvPr/>
        </p:nvSpPr>
        <p:spPr>
          <a:xfrm>
            <a:off x="3090672"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dissolved in plasma</a:t>
            </a:r>
            <a:endParaRPr lang="en-US" sz="1000" dirty="0"/>
          </a:p>
        </p:txBody>
      </p:sp>
      <p:sp>
        <p:nvSpPr>
          <p:cNvPr id="86" name="Shape 84"/>
          <p:cNvSpPr/>
          <p:nvPr/>
        </p:nvSpPr>
        <p:spPr>
          <a:xfrm>
            <a:off x="4215384" y="3511296"/>
            <a:ext cx="109728" cy="91"/>
          </a:xfrm>
          <a:prstGeom prst="line">
            <a:avLst/>
          </a:prstGeom>
          <a:noFill/>
          <a:ln w="15875">
            <a:solidFill>
              <a:srgbClr val="6B5A2A"/>
            </a:solidFill>
            <a:prstDash val="solid"/>
            <a:tailEnd type="triangle"/>
          </a:ln>
        </p:spPr>
      </p:sp>
      <p:sp>
        <p:nvSpPr>
          <p:cNvPr id="87" name="Shape 85"/>
          <p:cNvSpPr/>
          <p:nvPr/>
        </p:nvSpPr>
        <p:spPr>
          <a:xfrm>
            <a:off x="4325112" y="3236976"/>
            <a:ext cx="1161288" cy="548640"/>
          </a:xfrm>
          <a:prstGeom prst="roundRect">
            <a:avLst>
              <a:gd name="adj" fmla="val 8333"/>
            </a:avLst>
          </a:prstGeom>
          <a:solidFill>
            <a:srgbClr val="F3EBDD"/>
          </a:solidFill>
          <a:ln w="12700">
            <a:solidFill>
              <a:srgbClr val="6B5A2A"/>
            </a:solidFill>
            <a:prstDash val="solid"/>
          </a:ln>
        </p:spPr>
      </p:sp>
      <p:sp>
        <p:nvSpPr>
          <p:cNvPr id="88" name="Text 86"/>
          <p:cNvSpPr/>
          <p:nvPr/>
        </p:nvSpPr>
        <p:spPr>
          <a:xfrm>
            <a:off x="4361688"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vena cava</a:t>
            </a:r>
            <a:endParaRPr lang="en-US" sz="1000" dirty="0"/>
          </a:p>
        </p:txBody>
      </p:sp>
      <p:sp>
        <p:nvSpPr>
          <p:cNvPr id="89" name="Shape 87"/>
          <p:cNvSpPr/>
          <p:nvPr/>
        </p:nvSpPr>
        <p:spPr>
          <a:xfrm>
            <a:off x="5486400" y="3511296"/>
            <a:ext cx="109728" cy="91"/>
          </a:xfrm>
          <a:prstGeom prst="line">
            <a:avLst/>
          </a:prstGeom>
          <a:noFill/>
          <a:ln w="15875">
            <a:solidFill>
              <a:srgbClr val="6B5A2A"/>
            </a:solidFill>
            <a:prstDash val="solid"/>
            <a:tailEnd type="triangle"/>
          </a:ln>
        </p:spPr>
      </p:sp>
      <p:sp>
        <p:nvSpPr>
          <p:cNvPr id="90" name="Shape 88"/>
          <p:cNvSpPr/>
          <p:nvPr/>
        </p:nvSpPr>
        <p:spPr>
          <a:xfrm>
            <a:off x="5596128" y="3236976"/>
            <a:ext cx="1161288" cy="548640"/>
          </a:xfrm>
          <a:prstGeom prst="roundRect">
            <a:avLst>
              <a:gd name="adj" fmla="val 8333"/>
            </a:avLst>
          </a:prstGeom>
          <a:solidFill>
            <a:srgbClr val="F3EBDD"/>
          </a:solidFill>
          <a:ln w="12700">
            <a:solidFill>
              <a:srgbClr val="6B5A2A"/>
            </a:solidFill>
            <a:prstDash val="solid"/>
          </a:ln>
        </p:spPr>
      </p:sp>
      <p:sp>
        <p:nvSpPr>
          <p:cNvPr id="91" name="Text 89"/>
          <p:cNvSpPr/>
          <p:nvPr/>
        </p:nvSpPr>
        <p:spPr>
          <a:xfrm>
            <a:off x="5632704"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heart and lungs</a:t>
            </a:r>
            <a:endParaRPr lang="en-US" sz="1000" dirty="0"/>
          </a:p>
        </p:txBody>
      </p:sp>
      <p:sp>
        <p:nvSpPr>
          <p:cNvPr id="92" name="Shape 90"/>
          <p:cNvSpPr/>
          <p:nvPr/>
        </p:nvSpPr>
        <p:spPr>
          <a:xfrm>
            <a:off x="6757416" y="3511296"/>
            <a:ext cx="109728" cy="91"/>
          </a:xfrm>
          <a:prstGeom prst="line">
            <a:avLst/>
          </a:prstGeom>
          <a:noFill/>
          <a:ln w="15875">
            <a:solidFill>
              <a:srgbClr val="6B5A2A"/>
            </a:solidFill>
            <a:prstDash val="solid"/>
            <a:tailEnd type="triangle"/>
          </a:ln>
        </p:spPr>
      </p:sp>
      <p:sp>
        <p:nvSpPr>
          <p:cNvPr id="93" name="Shape 91"/>
          <p:cNvSpPr/>
          <p:nvPr/>
        </p:nvSpPr>
        <p:spPr>
          <a:xfrm>
            <a:off x="6867144" y="3236976"/>
            <a:ext cx="1161288" cy="548640"/>
          </a:xfrm>
          <a:prstGeom prst="roundRect">
            <a:avLst>
              <a:gd name="adj" fmla="val 8333"/>
            </a:avLst>
          </a:prstGeom>
          <a:solidFill>
            <a:srgbClr val="F3EBDD"/>
          </a:solidFill>
          <a:ln w="12700">
            <a:solidFill>
              <a:srgbClr val="6B5A2A"/>
            </a:solidFill>
            <a:prstDash val="solid"/>
          </a:ln>
        </p:spPr>
      </p:sp>
      <p:sp>
        <p:nvSpPr>
          <p:cNvPr id="94" name="Text 92"/>
          <p:cNvSpPr/>
          <p:nvPr/>
        </p:nvSpPr>
        <p:spPr>
          <a:xfrm>
            <a:off x="6903720"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left side of heart</a:t>
            </a:r>
            <a:endParaRPr lang="en-US" sz="1000" dirty="0"/>
          </a:p>
        </p:txBody>
      </p:sp>
      <p:sp>
        <p:nvSpPr>
          <p:cNvPr id="95" name="Shape 93"/>
          <p:cNvSpPr/>
          <p:nvPr/>
        </p:nvSpPr>
        <p:spPr>
          <a:xfrm>
            <a:off x="8028432" y="3511296"/>
            <a:ext cx="109728" cy="91"/>
          </a:xfrm>
          <a:prstGeom prst="line">
            <a:avLst/>
          </a:prstGeom>
          <a:noFill/>
          <a:ln w="15875">
            <a:solidFill>
              <a:srgbClr val="6B5A2A"/>
            </a:solidFill>
            <a:prstDash val="solid"/>
            <a:tailEnd type="triangle"/>
          </a:ln>
        </p:spPr>
      </p:sp>
      <p:sp>
        <p:nvSpPr>
          <p:cNvPr id="96" name="Shape 94"/>
          <p:cNvSpPr/>
          <p:nvPr/>
        </p:nvSpPr>
        <p:spPr>
          <a:xfrm>
            <a:off x="8138160" y="3236976"/>
            <a:ext cx="1161288" cy="548640"/>
          </a:xfrm>
          <a:prstGeom prst="roundRect">
            <a:avLst>
              <a:gd name="adj" fmla="val 8333"/>
            </a:avLst>
          </a:prstGeom>
          <a:solidFill>
            <a:srgbClr val="F3EBDD"/>
          </a:solidFill>
          <a:ln w="12700">
            <a:solidFill>
              <a:srgbClr val="6B5A2A"/>
            </a:solidFill>
            <a:prstDash val="solid"/>
          </a:ln>
        </p:spPr>
      </p:sp>
      <p:sp>
        <p:nvSpPr>
          <p:cNvPr id="97" name="Text 95"/>
          <p:cNvSpPr/>
          <p:nvPr/>
        </p:nvSpPr>
        <p:spPr>
          <a:xfrm>
            <a:off x="8174736"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aorta → artery</a:t>
            </a:r>
            <a:endParaRPr lang="en-US" sz="1000" dirty="0"/>
          </a:p>
        </p:txBody>
      </p:sp>
      <p:sp>
        <p:nvSpPr>
          <p:cNvPr id="98" name="Shape 96"/>
          <p:cNvSpPr/>
          <p:nvPr/>
        </p:nvSpPr>
        <p:spPr>
          <a:xfrm>
            <a:off x="9299448" y="3511296"/>
            <a:ext cx="109728" cy="91"/>
          </a:xfrm>
          <a:prstGeom prst="line">
            <a:avLst/>
          </a:prstGeom>
          <a:noFill/>
          <a:ln w="15875">
            <a:solidFill>
              <a:srgbClr val="6B5A2A"/>
            </a:solidFill>
            <a:prstDash val="solid"/>
            <a:tailEnd type="triangle"/>
          </a:ln>
        </p:spPr>
      </p:sp>
      <p:sp>
        <p:nvSpPr>
          <p:cNvPr id="99" name="Shape 97"/>
          <p:cNvSpPr/>
          <p:nvPr/>
        </p:nvSpPr>
        <p:spPr>
          <a:xfrm>
            <a:off x="9409176" y="3236976"/>
            <a:ext cx="1161288" cy="548640"/>
          </a:xfrm>
          <a:prstGeom prst="roundRect">
            <a:avLst>
              <a:gd name="adj" fmla="val 8333"/>
            </a:avLst>
          </a:prstGeom>
          <a:solidFill>
            <a:srgbClr val="F3EBDD"/>
          </a:solidFill>
          <a:ln w="12700">
            <a:solidFill>
              <a:srgbClr val="6B5A2A"/>
            </a:solidFill>
            <a:prstDash val="solid"/>
          </a:ln>
        </p:spPr>
      </p:sp>
      <p:sp>
        <p:nvSpPr>
          <p:cNvPr id="100" name="Text 98"/>
          <p:cNvSpPr/>
          <p:nvPr/>
        </p:nvSpPr>
        <p:spPr>
          <a:xfrm>
            <a:off x="9445752"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kidneys filter it</a:t>
            </a:r>
            <a:endParaRPr lang="en-US" sz="1000" dirty="0"/>
          </a:p>
        </p:txBody>
      </p:sp>
      <p:sp>
        <p:nvSpPr>
          <p:cNvPr id="101" name="Shape 99"/>
          <p:cNvSpPr/>
          <p:nvPr/>
        </p:nvSpPr>
        <p:spPr>
          <a:xfrm>
            <a:off x="10570464" y="3511296"/>
            <a:ext cx="109728" cy="91"/>
          </a:xfrm>
          <a:prstGeom prst="line">
            <a:avLst/>
          </a:prstGeom>
          <a:noFill/>
          <a:ln w="15875">
            <a:solidFill>
              <a:srgbClr val="6B5A2A"/>
            </a:solidFill>
            <a:prstDash val="solid"/>
            <a:tailEnd type="triangle"/>
          </a:ln>
        </p:spPr>
      </p:sp>
      <p:sp>
        <p:nvSpPr>
          <p:cNvPr id="102" name="Shape 100"/>
          <p:cNvSpPr/>
          <p:nvPr/>
        </p:nvSpPr>
        <p:spPr>
          <a:xfrm>
            <a:off x="10680192" y="3236976"/>
            <a:ext cx="1161288" cy="548640"/>
          </a:xfrm>
          <a:prstGeom prst="roundRect">
            <a:avLst>
              <a:gd name="adj" fmla="val 8333"/>
            </a:avLst>
          </a:prstGeom>
          <a:solidFill>
            <a:srgbClr val="F3EBDD"/>
          </a:solidFill>
          <a:ln w="12700">
            <a:solidFill>
              <a:srgbClr val="6B5A2A"/>
            </a:solidFill>
            <a:prstDash val="solid"/>
          </a:ln>
        </p:spPr>
      </p:sp>
      <p:sp>
        <p:nvSpPr>
          <p:cNvPr id="103" name="Text 101"/>
          <p:cNvSpPr/>
          <p:nvPr/>
        </p:nvSpPr>
        <p:spPr>
          <a:xfrm>
            <a:off x="10716768" y="3236976"/>
            <a:ext cx="1088136" cy="54864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leaves in urine</a:t>
            </a:r>
            <a:endParaRPr lang="en-US" sz="1000" dirty="0"/>
          </a:p>
        </p:txBody>
      </p:sp>
      <p:sp>
        <p:nvSpPr>
          <p:cNvPr id="104" name="Shape 102"/>
          <p:cNvSpPr/>
          <p:nvPr/>
        </p:nvSpPr>
        <p:spPr>
          <a:xfrm>
            <a:off x="411480" y="3977640"/>
            <a:ext cx="5577840" cy="1737360"/>
          </a:xfrm>
          <a:prstGeom prst="roundRect">
            <a:avLst>
              <a:gd name="adj" fmla="val 3158"/>
            </a:avLst>
          </a:prstGeom>
          <a:solidFill>
            <a:srgbClr val="F4FAF9"/>
          </a:solidFill>
          <a:ln w="9525">
            <a:solidFill>
              <a:srgbClr val="CFE0DE"/>
            </a:solidFill>
            <a:prstDash val="solid"/>
          </a:ln>
        </p:spPr>
      </p:sp>
      <p:sp>
        <p:nvSpPr>
          <p:cNvPr id="105" name="Text 103"/>
          <p:cNvSpPr/>
          <p:nvPr/>
        </p:nvSpPr>
        <p:spPr>
          <a:xfrm>
            <a:off x="576072" y="4069080"/>
            <a:ext cx="524865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The systems work together</a:t>
            </a:r>
            <a:endParaRPr lang="en-US" sz="1300" dirty="0"/>
          </a:p>
        </p:txBody>
      </p:sp>
      <p:sp>
        <p:nvSpPr>
          <p:cNvPr id="106" name="Text 104"/>
          <p:cNvSpPr/>
          <p:nvPr/>
        </p:nvSpPr>
        <p:spPr>
          <a:xfrm>
            <a:off x="576072" y="4398264"/>
            <a:ext cx="5248656" cy="12435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Gas exchange system</a:t>
            </a:r>
            <a:r>
              <a:rPr lang="en-US" sz="1100" dirty="0">
                <a:solidFill>
                  <a:srgbClr val="262B3A"/>
                </a:solidFill>
                <a:latin typeface="Calibri" pitchFamily="34" charset="0"/>
                <a:ea typeface="Calibri" pitchFamily="34" charset="-122"/>
                <a:cs typeface="Calibri" pitchFamily="34" charset="-120"/>
              </a:rPr>
              <a:t> (lungs): O₂ into the blood, CO₂ out.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Digestive system</a:t>
            </a:r>
            <a:r>
              <a:rPr lang="en-US" sz="1100" dirty="0">
                <a:solidFill>
                  <a:srgbClr val="262B3A"/>
                </a:solidFill>
                <a:latin typeface="Calibri" pitchFamily="34" charset="0"/>
                <a:ea typeface="Calibri" pitchFamily="34" charset="-122"/>
                <a:cs typeface="Calibri" pitchFamily="34" charset="-120"/>
              </a:rPr>
              <a:t> (small intestine): dissolved food molecules into the blood.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Excretory system</a:t>
            </a:r>
            <a:r>
              <a:rPr lang="en-US" sz="1100" dirty="0">
                <a:solidFill>
                  <a:srgbClr val="262B3A"/>
                </a:solidFill>
                <a:latin typeface="Calibri" pitchFamily="34" charset="0"/>
                <a:ea typeface="Calibri" pitchFamily="34" charset="-122"/>
                <a:cs typeface="Calibri" pitchFamily="34" charset="-120"/>
              </a:rPr>
              <a:t> (kidneys): urea out of the blood. </a:t>
            </a:r>
            <a:r>
              <a:rPr lang="en-US" sz="1100" b="1" dirty="0">
                <a:solidFill>
                  <a:srgbClr val="262B3A"/>
                </a:solidFill>
                <a:latin typeface="Calibri" pitchFamily="34" charset="0"/>
                <a:ea typeface="Calibri" pitchFamily="34" charset="-122"/>
                <a:cs typeface="Calibri" pitchFamily="34" charset="-120"/>
              </a:rPr>
              <a:t>Circulatory system</a:t>
            </a:r>
            <a:r>
              <a:rPr lang="en-US" sz="1100" dirty="0">
                <a:solidFill>
                  <a:srgbClr val="262B3A"/>
                </a:solidFill>
                <a:latin typeface="Calibri" pitchFamily="34" charset="0"/>
                <a:ea typeface="Calibri" pitchFamily="34" charset="-122"/>
                <a:cs typeface="Calibri" pitchFamily="34" charset="-120"/>
              </a:rPr>
              <a:t> links them all.</a:t>
            </a:r>
            <a:endParaRPr lang="en-US" sz="1100" dirty="0"/>
          </a:p>
        </p:txBody>
      </p:sp>
      <p:sp>
        <p:nvSpPr>
          <p:cNvPr id="107" name="Shape 105"/>
          <p:cNvSpPr/>
          <p:nvPr/>
        </p:nvSpPr>
        <p:spPr>
          <a:xfrm>
            <a:off x="6126480" y="3977640"/>
            <a:ext cx="5650992" cy="1737360"/>
          </a:xfrm>
          <a:prstGeom prst="roundRect">
            <a:avLst>
              <a:gd name="adj" fmla="val 3158"/>
            </a:avLst>
          </a:prstGeom>
          <a:solidFill>
            <a:srgbClr val="FFF4E0"/>
          </a:solidFill>
          <a:ln w="9525">
            <a:solidFill>
              <a:srgbClr val="F1D9A8"/>
            </a:solidFill>
            <a:prstDash val="solid"/>
          </a:ln>
        </p:spPr>
      </p:sp>
      <p:sp>
        <p:nvSpPr>
          <p:cNvPr id="108" name="Text 106"/>
          <p:cNvSpPr/>
          <p:nvPr/>
        </p:nvSpPr>
        <p:spPr>
          <a:xfrm>
            <a:off x="6291072" y="4050792"/>
            <a:ext cx="532180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count the heart visits</a:t>
            </a:r>
            <a:endParaRPr lang="en-US" sz="1300" dirty="0"/>
          </a:p>
        </p:txBody>
      </p:sp>
      <p:sp>
        <p:nvSpPr>
          <p:cNvPr id="109" name="Text 107"/>
          <p:cNvSpPr/>
          <p:nvPr/>
        </p:nvSpPr>
        <p:spPr>
          <a:xfrm>
            <a:off x="6291072" y="4361688"/>
            <a:ext cx="5321808" cy="12801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glucose molecule goes from the gut to a leg muscle. How many times does it pass through the heart?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Route   </a:t>
            </a:r>
            <a:r>
              <a:rPr lang="en-US" sz="1050" dirty="0">
                <a:solidFill>
                  <a:srgbClr val="262B3A"/>
                </a:solidFill>
                <a:latin typeface="Calibri" pitchFamily="34" charset="0"/>
                <a:ea typeface="Calibri" pitchFamily="34" charset="-122"/>
                <a:cs typeface="Calibri" pitchFamily="34" charset="-120"/>
              </a:rPr>
              <a:t>gut → vena cava → right side → lungs → left side → body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Count   </a:t>
            </a:r>
            <a:r>
              <a:rPr lang="en-US" sz="1050" dirty="0">
                <a:solidFill>
                  <a:srgbClr val="262B3A"/>
                </a:solidFill>
                <a:latin typeface="Calibri" pitchFamily="34" charset="0"/>
                <a:ea typeface="Calibri" pitchFamily="34" charset="-122"/>
                <a:cs typeface="Calibri" pitchFamily="34" charset="-120"/>
              </a:rPr>
              <a:t>right side once, left side once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twice (once through each side): a double circulation</a:t>
            </a:r>
            <a:endParaRPr lang="en-US" sz="1050" dirty="0"/>
          </a:p>
        </p:txBody>
      </p:sp>
      <p:sp>
        <p:nvSpPr>
          <p:cNvPr id="110" name="Shape 108"/>
          <p:cNvSpPr/>
          <p:nvPr/>
        </p:nvSpPr>
        <p:spPr>
          <a:xfrm>
            <a:off x="411480" y="5833872"/>
            <a:ext cx="11368735" cy="530352"/>
          </a:xfrm>
          <a:prstGeom prst="rect">
            <a:avLst/>
          </a:prstGeom>
          <a:solidFill>
            <a:srgbClr val="FFF4E0"/>
          </a:solidFill>
          <a:ln w="6350">
            <a:solidFill>
              <a:srgbClr val="F1D9A8"/>
            </a:solidFill>
            <a:prstDash val="solid"/>
          </a:ln>
        </p:spPr>
      </p:sp>
      <p:sp>
        <p:nvSpPr>
          <p:cNvPr id="111" name="Shape 109"/>
          <p:cNvSpPr/>
          <p:nvPr/>
        </p:nvSpPr>
        <p:spPr>
          <a:xfrm>
            <a:off x="411480" y="5833872"/>
            <a:ext cx="82296" cy="530352"/>
          </a:xfrm>
          <a:prstGeom prst="rect">
            <a:avLst/>
          </a:prstGeom>
          <a:solidFill>
            <a:srgbClr val="E39A2F"/>
          </a:solidFill>
          <a:ln w="12700">
            <a:solidFill>
              <a:srgbClr val="E39A2F"/>
            </a:solidFill>
            <a:prstDash val="solid"/>
          </a:ln>
        </p:spPr>
      </p:sp>
      <p:sp>
        <p:nvSpPr>
          <p:cNvPr id="112" name="Text 11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Glucose absorbed in the gut passes through the </a:t>
            </a:r>
            <a:r>
              <a:rPr lang="en-US" sz="1150" b="1" dirty="0">
                <a:solidFill>
                  <a:srgbClr val="262B3A"/>
                </a:solidFill>
                <a:latin typeface="Calibri" pitchFamily="34" charset="0"/>
                <a:ea typeface="Calibri" pitchFamily="34" charset="-122"/>
                <a:cs typeface="Calibri" pitchFamily="34" charset="-120"/>
              </a:rPr>
              <a:t>lungs</a:t>
            </a:r>
            <a:r>
              <a:rPr lang="en-US" sz="1150" dirty="0">
                <a:solidFill>
                  <a:srgbClr val="262B3A"/>
                </a:solidFill>
                <a:latin typeface="Calibri" pitchFamily="34" charset="0"/>
                <a:ea typeface="Calibri" pitchFamily="34" charset="-122"/>
                <a:cs typeface="Calibri" pitchFamily="34" charset="-120"/>
              </a:rPr>
              <a:t> before it reaches a muscle. Use the diagram to explain why.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B5.1.3, B5.1.5, B5.1.6 • vessels, blood, linked systems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22</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the structure of an </a:t>
            </a:r>
            <a:r>
              <a:rPr lang="en-US" sz="1250" b="1" dirty="0">
                <a:solidFill>
                  <a:srgbClr val="262B3A"/>
                </a:solidFill>
                <a:latin typeface="Calibri" pitchFamily="34" charset="0"/>
                <a:ea typeface="Calibri" pitchFamily="34" charset="-122"/>
                <a:cs typeface="Calibri" pitchFamily="34" charset="-120"/>
              </a:rPr>
              <a:t>artery</a:t>
            </a:r>
            <a:r>
              <a:rPr lang="en-US" sz="1250" dirty="0">
                <a:solidFill>
                  <a:srgbClr val="262B3A"/>
                </a:solidFill>
                <a:latin typeface="Calibri" pitchFamily="34" charset="0"/>
                <a:ea typeface="Calibri" pitchFamily="34" charset="-122"/>
                <a:cs typeface="Calibri" pitchFamily="34" charset="-120"/>
              </a:rPr>
              <a:t> is related to its function.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t>
            </a:r>
            <a:r>
              <a:rPr lang="en-US" sz="1250" b="1" dirty="0">
                <a:solidFill>
                  <a:srgbClr val="262B3A"/>
                </a:solidFill>
                <a:latin typeface="Calibri" pitchFamily="34" charset="0"/>
                <a:ea typeface="Calibri" pitchFamily="34" charset="-122"/>
                <a:cs typeface="Calibri" pitchFamily="34" charset="-120"/>
              </a:rPr>
              <a:t>capillaries</a:t>
            </a:r>
            <a:r>
              <a:rPr lang="en-US" sz="1250" dirty="0">
                <a:solidFill>
                  <a:srgbClr val="262B3A"/>
                </a:solidFill>
                <a:latin typeface="Calibri" pitchFamily="34" charset="0"/>
                <a:ea typeface="Calibri" pitchFamily="34" charset="-122"/>
                <a:cs typeface="Calibri" pitchFamily="34" charset="-120"/>
              </a:rPr>
              <a:t> are adapted for exchanging substances with cells.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a </a:t>
            </a:r>
            <a:r>
              <a:rPr lang="en-US" sz="1250" b="1" dirty="0">
                <a:solidFill>
                  <a:srgbClr val="262B3A"/>
                </a:solidFill>
                <a:latin typeface="Calibri" pitchFamily="34" charset="0"/>
                <a:ea typeface="Calibri" pitchFamily="34" charset="-122"/>
                <a:cs typeface="Calibri" pitchFamily="34" charset="-120"/>
              </a:rPr>
              <a:t>red blood cell</a:t>
            </a:r>
            <a:r>
              <a:rPr lang="en-US" sz="1250" dirty="0">
                <a:solidFill>
                  <a:srgbClr val="262B3A"/>
                </a:solidFill>
                <a:latin typeface="Calibri" pitchFamily="34" charset="0"/>
                <a:ea typeface="Calibri" pitchFamily="34" charset="-122"/>
                <a:cs typeface="Calibri" pitchFamily="34" charset="-120"/>
              </a:rPr>
              <a:t> is adapted to carry oxygen.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part of the blood that carries </a:t>
            </a:r>
            <a:r>
              <a:rPr lang="en-US" sz="1250" b="1" dirty="0">
                <a:solidFill>
                  <a:srgbClr val="262B3A"/>
                </a:solidFill>
                <a:latin typeface="Calibri" pitchFamily="34" charset="0"/>
                <a:ea typeface="Calibri" pitchFamily="34" charset="-122"/>
                <a:cs typeface="Calibri" pitchFamily="34" charset="-120"/>
              </a:rPr>
              <a:t>urea</a:t>
            </a:r>
            <a:r>
              <a:rPr lang="en-US" sz="1250" dirty="0">
                <a:solidFill>
                  <a:srgbClr val="262B3A"/>
                </a:solidFill>
                <a:latin typeface="Calibri" pitchFamily="34" charset="0"/>
                <a:ea typeface="Calibri" pitchFamily="34" charset="-122"/>
                <a:cs typeface="Calibri" pitchFamily="34" charset="-120"/>
              </a:rPr>
              <a:t>, and the organ that removes urea from the blood.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B5.1 How do substances get into, out of and around our bodies?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23</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Exchange surface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surface where substances move into or out of the body, e.g. alveoli, villi.</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SA : V ratio</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Surface area ÷ volume. It gets smaller as an organism gets bigger.</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Diffusion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Net movement of particles from high to low concentration.</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Alveoli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Tiny air sacs in the lungs: large area, thin walls, rich blood supply.</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Villi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Finger-like folds of the small intestine wall that absorb food molecules.</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Double circulation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Blood passes through the heart twice per circuit: lungs, then body.</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Atrium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Upper heart chamber; receives blood from the veins.</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Ventricle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Lower heart chamber; pumps blood into the arteries. Left wall is thickest.</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Valve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Flap that stops blood flowing backwards; in the heart and in veins.</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Cardiac muscle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Heart muscle: contracts again and again without tiring.</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Artery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Carries blood away from the heart at high pressure; thick, elastic wall.</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Vein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Carries blood back to the heart at low pressure; thin wall, valves.</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Capillary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Tiny vessel with a wall one cell thick; exchange with cells.</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Plasma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Liquid part of blood; carries dissolved glucose, CO₂, urea, hormones.</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Red blood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Biconcave, no nucleus, full of haemoglobin; carries oxygen.</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Haemoglobin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Red protein that joins with oxygen to form oxyhaemoglobin.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B5.1.2–B5.1.6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24</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Humans are large, multicellular organisms. They need </a:t>
            </a:r>
            <a:r>
              <a:rPr lang="en-US" sz="1200" b="1" i="1" dirty="0">
                <a:solidFill>
                  <a:srgbClr val="262B3A"/>
                </a:solidFill>
                <a:latin typeface="Calibri" pitchFamily="34" charset="0"/>
                <a:ea typeface="Calibri" pitchFamily="34" charset="-122"/>
                <a:cs typeface="Calibri" pitchFamily="34" charset="-120"/>
              </a:rPr>
              <a:t>exchange surfaces</a:t>
            </a:r>
            <a:r>
              <a:rPr lang="en-US" sz="1200" i="1" dirty="0">
                <a:solidFill>
                  <a:srgbClr val="262B3A"/>
                </a:solidFill>
                <a:latin typeface="Calibri" pitchFamily="34" charset="0"/>
                <a:ea typeface="Calibri" pitchFamily="34" charset="-122"/>
                <a:cs typeface="Calibri" pitchFamily="34" charset="-120"/>
              </a:rPr>
              <a:t> and a </a:t>
            </a:r>
            <a:r>
              <a:rPr lang="en-US" sz="1200" b="1" i="1" dirty="0">
                <a:solidFill>
                  <a:srgbClr val="262B3A"/>
                </a:solidFill>
                <a:latin typeface="Calibri" pitchFamily="34" charset="0"/>
                <a:ea typeface="Calibri" pitchFamily="34" charset="-122"/>
                <a:cs typeface="Calibri" pitchFamily="34" charset="-120"/>
              </a:rPr>
              <a:t>circulatory system</a:t>
            </a:r>
            <a:r>
              <a:rPr lang="en-US" sz="1200" i="1" dirty="0">
                <a:solidFill>
                  <a:srgbClr val="262B3A"/>
                </a:solidFill>
                <a:latin typeface="Calibri" pitchFamily="34" charset="0"/>
                <a:ea typeface="Calibri" pitchFamily="34" charset="-122"/>
                <a:cs typeface="Calibri" pitchFamily="34" charset="-120"/>
              </a:rPr>
              <a:t> to supply their cells.</a:t>
            </a:r>
            <a:endParaRPr lang="en-US" sz="1200" dirty="0"/>
          </a:p>
        </p:txBody>
      </p:sp>
      <p:sp>
        <p:nvSpPr>
          <p:cNvPr id="9" name="Shape 7"/>
          <p:cNvSpPr/>
          <p:nvPr/>
        </p:nvSpPr>
        <p:spPr>
          <a:xfrm>
            <a:off x="411480" y="1719072"/>
            <a:ext cx="5570068" cy="1441704"/>
          </a:xfrm>
          <a:prstGeom prst="roundRect">
            <a:avLst>
              <a:gd name="adj" fmla="val 3171"/>
            </a:avLst>
          </a:prstGeom>
          <a:solidFill>
            <a:srgbClr val="F4FAF9"/>
          </a:solidFill>
          <a:ln w="9525">
            <a:solidFill>
              <a:srgbClr val="CFE0DE"/>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blood vessel that carries blood (i) from the heart to the body (ii) from the lungs back to the heart.</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CFE0DE"/>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the human circulatory system is described as a </a:t>
            </a:r>
            <a:r>
              <a:rPr lang="en-US" sz="1200" b="1" dirty="0">
                <a:solidFill>
                  <a:srgbClr val="262B3A"/>
                </a:solidFill>
                <a:latin typeface="Calibri" pitchFamily="34" charset="0"/>
                <a:ea typeface="Calibri" pitchFamily="34" charset="-122"/>
                <a:cs typeface="Calibri" pitchFamily="34" charset="-120"/>
              </a:rPr>
              <a:t>double</a:t>
            </a:r>
            <a:r>
              <a:rPr lang="en-US" sz="1200" dirty="0">
                <a:solidFill>
                  <a:srgbClr val="262B3A"/>
                </a:solidFill>
                <a:latin typeface="Calibri" pitchFamily="34" charset="0"/>
                <a:ea typeface="Calibri" pitchFamily="34" charset="-122"/>
                <a:cs typeface="Calibri" pitchFamily="34" charset="-120"/>
              </a:rPr>
              <a:t> circulation.</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4FAF9"/>
          </a:solidFill>
          <a:ln w="9525">
            <a:solidFill>
              <a:srgbClr val="CFE0DE"/>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Calculate the SA:V ratio of a cube with sides of </a:t>
            </a:r>
            <a:r>
              <a:rPr lang="en-US" sz="1200" b="1" dirty="0">
                <a:solidFill>
                  <a:srgbClr val="262B3A"/>
                </a:solidFill>
                <a:latin typeface="Calibri" pitchFamily="34" charset="0"/>
                <a:ea typeface="Calibri" pitchFamily="34" charset="-122"/>
                <a:cs typeface="Calibri" pitchFamily="34" charset="-120"/>
              </a:rPr>
              <a:t>3 cm</a:t>
            </a:r>
            <a:r>
              <a:rPr lang="en-US" sz="1200" dirty="0">
                <a:solidFill>
                  <a:srgbClr val="262B3A"/>
                </a:solidFill>
                <a:latin typeface="Calibri" pitchFamily="34" charset="0"/>
                <a:ea typeface="Calibri" pitchFamily="34" charset="-122"/>
                <a:cs typeface="Calibri" pitchFamily="34" charset="-120"/>
              </a:rPr>
              <a:t>. Give your answer as a ratio.</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507236"/>
          </a:xfrm>
          <a:prstGeom prst="roundRect">
            <a:avLst>
              <a:gd name="adj" fmla="val 3033"/>
            </a:avLst>
          </a:prstGeom>
          <a:solidFill>
            <a:srgbClr val="F4FAF9"/>
          </a:solidFill>
          <a:ln w="9525">
            <a:solidFill>
              <a:srgbClr val="CFE0DE"/>
            </a:solidFill>
            <a:prstDash val="solid"/>
          </a:ln>
        </p:spPr>
      </p:sp>
      <p:sp>
        <p:nvSpPr>
          <p:cNvPr id="19" name="Text 17"/>
          <p:cNvSpPr/>
          <p:nvPr/>
        </p:nvSpPr>
        <p:spPr>
          <a:xfrm>
            <a:off x="6347308" y="1792224"/>
            <a:ext cx="5295748" cy="114147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Use ideas about </a:t>
            </a:r>
            <a:r>
              <a:rPr lang="en-US" sz="1200" b="1" dirty="0">
                <a:solidFill>
                  <a:srgbClr val="262B3A"/>
                </a:solidFill>
                <a:latin typeface="Calibri" pitchFamily="34" charset="0"/>
                <a:ea typeface="Calibri" pitchFamily="34" charset="-122"/>
                <a:cs typeface="Calibri" pitchFamily="34" charset="-120"/>
              </a:rPr>
              <a:t>SA:V ratio</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diffusion</a:t>
            </a:r>
            <a:r>
              <a:rPr lang="en-US" sz="1200" dirty="0">
                <a:solidFill>
                  <a:srgbClr val="262B3A"/>
                </a:solidFill>
                <a:latin typeface="Calibri" pitchFamily="34" charset="0"/>
                <a:ea typeface="Calibri" pitchFamily="34" charset="-122"/>
                <a:cs typeface="Calibri" pitchFamily="34" charset="-120"/>
              </a:rPr>
              <a:t> to explain why humans need lungs.</a:t>
            </a:r>
            <a:endParaRPr lang="en-US" sz="1200" dirty="0"/>
          </a:p>
        </p:txBody>
      </p:sp>
      <p:sp>
        <p:nvSpPr>
          <p:cNvPr id="20" name="Text 18"/>
          <p:cNvSpPr/>
          <p:nvPr/>
        </p:nvSpPr>
        <p:spPr>
          <a:xfrm>
            <a:off x="10317175" y="29154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3336036"/>
            <a:ext cx="5570068" cy="1310640"/>
          </a:xfrm>
          <a:prstGeom prst="roundRect">
            <a:avLst>
              <a:gd name="adj" fmla="val 3488"/>
            </a:avLst>
          </a:prstGeom>
          <a:solidFill>
            <a:srgbClr val="FFFFFF"/>
          </a:solidFill>
          <a:ln w="9525">
            <a:solidFill>
              <a:srgbClr val="CFE0DE"/>
            </a:solidFill>
            <a:prstDash val="solid"/>
          </a:ln>
        </p:spPr>
      </p:sp>
      <p:sp>
        <p:nvSpPr>
          <p:cNvPr id="22" name="Text 20"/>
          <p:cNvSpPr/>
          <p:nvPr/>
        </p:nvSpPr>
        <p:spPr>
          <a:xfrm>
            <a:off x="6347308" y="3409188"/>
            <a:ext cx="5295748" cy="94488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ways red blood cells are adapted to carry oxygen.</a:t>
            </a:r>
            <a:endParaRPr lang="en-US" sz="1200" dirty="0"/>
          </a:p>
        </p:txBody>
      </p:sp>
      <p:sp>
        <p:nvSpPr>
          <p:cNvPr id="23" name="Text 21"/>
          <p:cNvSpPr/>
          <p:nvPr/>
        </p:nvSpPr>
        <p:spPr>
          <a:xfrm>
            <a:off x="10317175" y="43357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756404"/>
            <a:ext cx="5570068" cy="1507236"/>
          </a:xfrm>
          <a:prstGeom prst="roundRect">
            <a:avLst>
              <a:gd name="adj" fmla="val 3033"/>
            </a:avLst>
          </a:prstGeom>
          <a:solidFill>
            <a:srgbClr val="F4FAF9"/>
          </a:solidFill>
          <a:ln w="9525">
            <a:solidFill>
              <a:srgbClr val="CFE0DE"/>
            </a:solidFill>
            <a:prstDash val="solid"/>
          </a:ln>
        </p:spPr>
      </p:sp>
      <p:sp>
        <p:nvSpPr>
          <p:cNvPr id="25" name="Text 23"/>
          <p:cNvSpPr/>
          <p:nvPr/>
        </p:nvSpPr>
        <p:spPr>
          <a:xfrm>
            <a:off x="6347308" y="4829556"/>
            <a:ext cx="5295748" cy="114147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A patient has a </a:t>
            </a:r>
            <a:r>
              <a:rPr lang="en-US" sz="1200" b="1" dirty="0">
                <a:solidFill>
                  <a:srgbClr val="262B3A"/>
                </a:solidFill>
                <a:latin typeface="Calibri" pitchFamily="34" charset="0"/>
                <a:ea typeface="Calibri" pitchFamily="34" charset="-122"/>
                <a:cs typeface="Calibri" pitchFamily="34" charset="-120"/>
              </a:rPr>
              <a:t>leaking valve</a:t>
            </a:r>
            <a:r>
              <a:rPr lang="en-US" sz="1200" dirty="0">
                <a:solidFill>
                  <a:srgbClr val="262B3A"/>
                </a:solidFill>
                <a:latin typeface="Calibri" pitchFamily="34" charset="0"/>
                <a:ea typeface="Calibri" pitchFamily="34" charset="-122"/>
                <a:cs typeface="Calibri" pitchFamily="34" charset="-120"/>
              </a:rPr>
              <a:t> between the left atrium and the left ventricle. Suggest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effects on the patient.</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B5.1 How do substances get into, out of and around our bodies?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B5.1 How do substances get into, out of and around our bodies?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26</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Q3 is a calculation: show your working. Q7 is a 6-mark extended answer.</a:t>
            </a:r>
            <a:endParaRPr lang="en-US" sz="1150" dirty="0"/>
          </a:p>
        </p:txBody>
      </p:sp>
      <p:sp>
        <p:nvSpPr>
          <p:cNvPr id="9" name="Shape 7"/>
          <p:cNvSpPr/>
          <p:nvPr/>
        </p:nvSpPr>
        <p:spPr>
          <a:xfrm>
            <a:off x="411480" y="1517904"/>
            <a:ext cx="5570068" cy="1066800"/>
          </a:xfrm>
          <a:prstGeom prst="roundRect">
            <a:avLst>
              <a:gd name="adj" fmla="val 4286"/>
            </a:avLst>
          </a:prstGeom>
          <a:solidFill>
            <a:srgbClr val="F4FAF9"/>
          </a:solidFill>
          <a:ln w="9525">
            <a:solidFill>
              <a:srgbClr val="CFE0DE"/>
            </a:solidFill>
            <a:prstDash val="solid"/>
          </a:ln>
        </p:spPr>
      </p:sp>
      <p:sp>
        <p:nvSpPr>
          <p:cNvPr id="10" name="Text 8"/>
          <p:cNvSpPr/>
          <p:nvPr/>
        </p:nvSpPr>
        <p:spPr>
          <a:xfrm>
            <a:off x="548640" y="1591056"/>
            <a:ext cx="5295748" cy="71932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liquid</a:t>
            </a:r>
            <a:r>
              <a:rPr lang="en-US" sz="1150" dirty="0">
                <a:solidFill>
                  <a:srgbClr val="262B3A"/>
                </a:solidFill>
                <a:latin typeface="Calibri" pitchFamily="34" charset="0"/>
                <a:ea typeface="Calibri" pitchFamily="34" charset="-122"/>
                <a:cs typeface="Calibri" pitchFamily="34" charset="-120"/>
              </a:rPr>
              <a:t> part of the blood.</a:t>
            </a:r>
            <a:endParaRPr lang="en-US" sz="1150" dirty="0"/>
          </a:p>
        </p:txBody>
      </p:sp>
      <p:sp>
        <p:nvSpPr>
          <p:cNvPr id="11" name="Text 9"/>
          <p:cNvSpPr/>
          <p:nvPr/>
        </p:nvSpPr>
        <p:spPr>
          <a:xfrm>
            <a:off x="4518508" y="229209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694432"/>
            <a:ext cx="5570068" cy="1066800"/>
          </a:xfrm>
          <a:prstGeom prst="roundRect">
            <a:avLst>
              <a:gd name="adj" fmla="val 4286"/>
            </a:avLst>
          </a:prstGeom>
          <a:solidFill>
            <a:srgbClr val="F4FAF9"/>
          </a:solidFill>
          <a:ln w="9525">
            <a:solidFill>
              <a:srgbClr val="CFE0DE"/>
            </a:solidFill>
            <a:prstDash val="solid"/>
          </a:ln>
        </p:spPr>
      </p:sp>
      <p:sp>
        <p:nvSpPr>
          <p:cNvPr id="13" name="Text 11"/>
          <p:cNvSpPr/>
          <p:nvPr/>
        </p:nvSpPr>
        <p:spPr>
          <a:xfrm>
            <a:off x="548640" y="2767584"/>
            <a:ext cx="5295748" cy="71932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differences between the structure of an </a:t>
            </a:r>
            <a:r>
              <a:rPr lang="en-US" sz="1150" b="1" dirty="0">
                <a:solidFill>
                  <a:srgbClr val="262B3A"/>
                </a:solidFill>
                <a:latin typeface="Calibri" pitchFamily="34" charset="0"/>
                <a:ea typeface="Calibri" pitchFamily="34" charset="-122"/>
                <a:cs typeface="Calibri" pitchFamily="34" charset="-120"/>
              </a:rPr>
              <a:t>artery</a:t>
            </a:r>
            <a:r>
              <a:rPr lang="en-US" sz="1150" dirty="0">
                <a:solidFill>
                  <a:srgbClr val="262B3A"/>
                </a:solidFill>
                <a:latin typeface="Calibri" pitchFamily="34" charset="0"/>
                <a:ea typeface="Calibri" pitchFamily="34" charset="-122"/>
                <a:cs typeface="Calibri" pitchFamily="34" charset="-120"/>
              </a:rPr>
              <a:t> and a </a:t>
            </a:r>
            <a:r>
              <a:rPr lang="en-US" sz="1150" b="1" dirty="0">
                <a:solidFill>
                  <a:srgbClr val="262B3A"/>
                </a:solidFill>
                <a:latin typeface="Calibri" pitchFamily="34" charset="0"/>
                <a:ea typeface="Calibri" pitchFamily="34" charset="-122"/>
                <a:cs typeface="Calibri" pitchFamily="34" charset="-120"/>
              </a:rPr>
              <a:t>vein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46862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870960"/>
            <a:ext cx="5570068" cy="1280160"/>
          </a:xfrm>
          <a:prstGeom prst="roundRect">
            <a:avLst>
              <a:gd name="adj" fmla="val 3571"/>
            </a:avLst>
          </a:prstGeom>
          <a:solidFill>
            <a:srgbClr val="F4FAF9"/>
          </a:solidFill>
          <a:ln w="9525">
            <a:solidFill>
              <a:srgbClr val="CFE0DE"/>
            </a:solidFill>
            <a:prstDash val="solid"/>
          </a:ln>
        </p:spPr>
      </p:sp>
      <p:sp>
        <p:nvSpPr>
          <p:cNvPr id="16" name="Text 14"/>
          <p:cNvSpPr/>
          <p:nvPr/>
        </p:nvSpPr>
        <p:spPr>
          <a:xfrm>
            <a:off x="548640" y="3944112"/>
            <a:ext cx="5295748" cy="93268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cube has sides of </a:t>
            </a:r>
            <a:r>
              <a:rPr lang="en-US" sz="1150" b="1" dirty="0">
                <a:solidFill>
                  <a:srgbClr val="262B3A"/>
                </a:solidFill>
                <a:latin typeface="Calibri" pitchFamily="34" charset="0"/>
                <a:ea typeface="Calibri" pitchFamily="34" charset="-122"/>
                <a:cs typeface="Calibri" pitchFamily="34" charset="-120"/>
              </a:rPr>
              <a:t>4 cm</a:t>
            </a:r>
            <a:r>
              <a:rPr lang="en-US" sz="1150" dirty="0">
                <a:solidFill>
                  <a:srgbClr val="262B3A"/>
                </a:solidFill>
                <a:latin typeface="Calibri" pitchFamily="34" charset="0"/>
                <a:ea typeface="Calibri" pitchFamily="34" charset="-122"/>
                <a:cs typeface="Calibri" pitchFamily="34" charset="-120"/>
              </a:rPr>
              <a:t>. Calculate its SA:V ratio. How many times </a:t>
            </a:r>
            <a:r>
              <a:rPr lang="en-US" sz="1150" b="1" dirty="0">
                <a:solidFill>
                  <a:srgbClr val="262B3A"/>
                </a:solidFill>
                <a:latin typeface="Calibri" pitchFamily="34" charset="0"/>
                <a:ea typeface="Calibri" pitchFamily="34" charset="-122"/>
                <a:cs typeface="Calibri" pitchFamily="34" charset="-120"/>
              </a:rPr>
              <a:t>smaller</a:t>
            </a:r>
            <a:r>
              <a:rPr lang="en-US" sz="1150" dirty="0">
                <a:solidFill>
                  <a:srgbClr val="262B3A"/>
                </a:solidFill>
                <a:latin typeface="Calibri" pitchFamily="34" charset="0"/>
                <a:ea typeface="Calibri" pitchFamily="34" charset="-122"/>
                <a:cs typeface="Calibri" pitchFamily="34" charset="-120"/>
              </a:rPr>
              <a:t> is this than the ratio for a </a:t>
            </a:r>
            <a:r>
              <a:rPr lang="en-US" sz="1150" b="1" dirty="0">
                <a:solidFill>
                  <a:srgbClr val="262B3A"/>
                </a:solidFill>
                <a:latin typeface="Calibri" pitchFamily="34" charset="0"/>
                <a:ea typeface="Calibri" pitchFamily="34" charset="-122"/>
                <a:cs typeface="Calibri" pitchFamily="34" charset="-120"/>
              </a:rPr>
              <a:t>1 cm</a:t>
            </a:r>
            <a:r>
              <a:rPr lang="en-US" sz="1150" dirty="0">
                <a:solidFill>
                  <a:srgbClr val="262B3A"/>
                </a:solidFill>
                <a:latin typeface="Calibri" pitchFamily="34" charset="0"/>
                <a:ea typeface="Calibri" pitchFamily="34" charset="-122"/>
                <a:cs typeface="Calibri" pitchFamily="34" charset="-120"/>
              </a:rPr>
              <a:t> cube?</a:t>
            </a:r>
            <a:endParaRPr lang="en-US" sz="1150" dirty="0"/>
          </a:p>
        </p:txBody>
      </p:sp>
      <p:sp>
        <p:nvSpPr>
          <p:cNvPr id="17" name="Text 15"/>
          <p:cNvSpPr/>
          <p:nvPr/>
        </p:nvSpPr>
        <p:spPr>
          <a:xfrm>
            <a:off x="4518508" y="485851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5260848"/>
            <a:ext cx="5570068" cy="1066800"/>
          </a:xfrm>
          <a:prstGeom prst="roundRect">
            <a:avLst>
              <a:gd name="adj" fmla="val 4286"/>
            </a:avLst>
          </a:prstGeom>
          <a:solidFill>
            <a:srgbClr val="F4FAF9"/>
          </a:solidFill>
          <a:ln w="9525">
            <a:solidFill>
              <a:srgbClr val="CFE0DE"/>
            </a:solidFill>
            <a:prstDash val="solid"/>
          </a:ln>
        </p:spPr>
      </p:sp>
      <p:sp>
        <p:nvSpPr>
          <p:cNvPr id="19" name="Text 17"/>
          <p:cNvSpPr/>
          <p:nvPr/>
        </p:nvSpPr>
        <p:spPr>
          <a:xfrm>
            <a:off x="548640" y="5334000"/>
            <a:ext cx="5295748" cy="71932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how the </a:t>
            </a:r>
            <a:r>
              <a:rPr lang="en-US" sz="1150" b="1" dirty="0">
                <a:solidFill>
                  <a:srgbClr val="262B3A"/>
                </a:solidFill>
                <a:latin typeface="Calibri" pitchFamily="34" charset="0"/>
                <a:ea typeface="Calibri" pitchFamily="34" charset="-122"/>
                <a:cs typeface="Calibri" pitchFamily="34" charset="-120"/>
              </a:rPr>
              <a:t>villi</a:t>
            </a:r>
            <a:r>
              <a:rPr lang="en-US" sz="1150" dirty="0">
                <a:solidFill>
                  <a:srgbClr val="262B3A"/>
                </a:solidFill>
                <a:latin typeface="Calibri" pitchFamily="34" charset="0"/>
                <a:ea typeface="Calibri" pitchFamily="34" charset="-122"/>
                <a:cs typeface="Calibri" pitchFamily="34" charset="-120"/>
              </a:rPr>
              <a:t> increase the rate at which glucose is absorbed into the blood.</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4FAF9"/>
          </a:solidFill>
          <a:ln w="9525">
            <a:solidFill>
              <a:srgbClr val="CFE0DE"/>
            </a:solidFill>
            <a:prstDash val="solid"/>
          </a:ln>
        </p:spPr>
      </p:sp>
      <p:sp>
        <p:nvSpPr>
          <p:cNvPr id="22" name="Text 20"/>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why the walls of capillaries are only </a:t>
            </a:r>
            <a:r>
              <a:rPr lang="en-US" sz="1150" b="1" dirty="0">
                <a:solidFill>
                  <a:srgbClr val="262B3A"/>
                </a:solidFill>
                <a:latin typeface="Calibri" pitchFamily="34" charset="0"/>
                <a:ea typeface="Calibri" pitchFamily="34" charset="-122"/>
                <a:cs typeface="Calibri" pitchFamily="34" charset="-120"/>
              </a:rPr>
              <a:t>one cell thick</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4" name="Shape 22"/>
          <p:cNvSpPr/>
          <p:nvPr/>
        </p:nvSpPr>
        <p:spPr>
          <a:xfrm>
            <a:off x="6210148" y="2625521"/>
            <a:ext cx="5570068" cy="997889"/>
          </a:xfrm>
          <a:prstGeom prst="roundRect">
            <a:avLst>
              <a:gd name="adj" fmla="val 4582"/>
            </a:avLst>
          </a:prstGeom>
          <a:solidFill>
            <a:srgbClr val="F4FAF9"/>
          </a:solidFill>
          <a:ln w="9525">
            <a:solidFill>
              <a:srgbClr val="CFE0DE"/>
            </a:solidFill>
            <a:prstDash val="solid"/>
          </a:ln>
        </p:spPr>
      </p:sp>
      <p:sp>
        <p:nvSpPr>
          <p:cNvPr id="25" name="Text 23"/>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Name the waste substance made in the liver that is carried in the plasma, and the organ that removes it.</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A leg muscle cell needs oxygen and glucose for respiration. </a:t>
            </a:r>
            <a:r>
              <a:rPr lang="en-US" sz="1150" b="1" dirty="0">
                <a:solidFill>
                  <a:srgbClr val="262B3A"/>
                </a:solidFill>
                <a:latin typeface="Calibri" pitchFamily="34" charset="0"/>
                <a:ea typeface="Calibri" pitchFamily="34" charset="-122"/>
                <a:cs typeface="Calibri" pitchFamily="34" charset="-120"/>
              </a:rPr>
              <a:t>Explain</a:t>
            </a:r>
            <a:r>
              <a:rPr lang="en-US" sz="1150" dirty="0">
                <a:solidFill>
                  <a:srgbClr val="262B3A"/>
                </a:solidFill>
                <a:latin typeface="Calibri" pitchFamily="34" charset="0"/>
                <a:ea typeface="Calibri" pitchFamily="34" charset="-122"/>
                <a:cs typeface="Calibri" pitchFamily="34" charset="-120"/>
              </a:rPr>
              <a:t> how the </a:t>
            </a:r>
            <a:r>
              <a:rPr lang="en-US" sz="1150" b="1" dirty="0">
                <a:solidFill>
                  <a:srgbClr val="262B3A"/>
                </a:solidFill>
                <a:latin typeface="Calibri" pitchFamily="34" charset="0"/>
                <a:ea typeface="Calibri" pitchFamily="34" charset="-122"/>
                <a:cs typeface="Calibri" pitchFamily="34" charset="-120"/>
              </a:rPr>
              <a:t>gas exchange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digestive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circulatory</a:t>
            </a:r>
            <a:r>
              <a:rPr lang="en-US" sz="1150" dirty="0">
                <a:solidFill>
                  <a:srgbClr val="262B3A"/>
                </a:solidFill>
                <a:latin typeface="Calibri" pitchFamily="34" charset="0"/>
                <a:ea typeface="Calibri" pitchFamily="34" charset="-122"/>
                <a:cs typeface="Calibri" pitchFamily="34" charset="-120"/>
              </a:rPr>
              <a:t> systems work together to supply them, and to remove the carbon dioxide made.</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B5.1 How do substances get into, out of and around our bodies?</dc:title>
  <dc:subject>PptxGenJS Presentation</dc:subject>
  <dc:creator>GCSE Biology</dc:creator>
  <cp:lastModifiedBy>GCSE Biology</cp:lastModifiedBy>
  <cp:revision>1</cp:revision>
  <dcterms:created xsi:type="dcterms:W3CDTF">2026-10-30T14:26:58Z</dcterms:created>
  <dcterms:modified xsi:type="dcterms:W3CDTF">2026-10-30T14:26:58Z</dcterms:modified>
</cp:coreProperties>
</file>