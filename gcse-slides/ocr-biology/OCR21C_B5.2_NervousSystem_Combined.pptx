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B5.2 How does the nervous system help us respond to changes? is Part 2 of 6 in J260 Chapter B5 The human body – staying alive (B5.1–B5.6; OCR J260 "specification at a glance" lists all six questions).
Scope: J260 Combined Science B covers B5.2.1 (components of the nervous system), B5.2.2 (neurones and synapses) and B5.2.3 (reflex arc). The brain (cerebral cortex, cerebellum, brain stem) and the difficulties of investigating brain function appear to be Biology B (J257) only, so they are not taught here. The eye is not in J260 B5.2 either. Statement wording comes from search extracts (ocr.org.uk could not be fetched): see SPEC_B5_2.md before showing codes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B5.2 statement was found to be Higher tier only (bold) in J260 (UNVERIFIED). Oak National Academy runs the same four OCR combined science lessons (the human nervous system; neurones and synapses; the structure and function of a reflex arc; human reaction time practical) in its Foundation and Higher programmes, which suggests no HT-only content. The distance-to-time equation for the ruler drop is labelled stretch.
Wording: B5.2.1 "explain how the components of the nervous system work together to enable it to function, including sensory receptors, sensory neurons, the CNS, motor neurons and effectors" (J257 mirror extract); B5.2.2 nerve cells and synapses; B5.2.3 reflex arc including the relay neurone (paraphrased in extracts). Learners are not expected to explain impulses in terms of membrane potentials. Check SPEC_B5_2.md.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B5 has six sub-topics (OCR specification at a glance; Doc Brown combined-science page). This deck is B5.2.
Overlap control: hormones and the endocrine system are B5.3 (glands appear here only as effectors); homeostasis is B5.4; damage to the nervous system and eye defects belong to B5.6 / J257 only. Diffusion (B5.1) is used only to explain how neurotransmitter crosses the synaptic gap.
The brain (cerebral cortex, cerebellum, brain stem) and the difficulties of investigating brain function appear to be J257 only: Oak National Academy's OCR combined science unit has four lessons (nervous system, neurones and synapses, reflex arc, reaction time practical), while its full OCR biology unit adds the eye, eye defects, the brain and brain damage (UNVERIFIED against the J260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Differentiation.
2. To carry out (aerobic) respiration, releasing energy / making ATP for the cell (e.g. to send impulses, make neurotransmitter).
3. The net movement of particles from a region of higher concentration to a region of lower concentration (down a concentration gradient).
4. Controls what enters and leaves the cell.
5. It contracts (gets shorter), pulling on the bone (via a tendon) so the bone moves at a joint.
6. Any three: eye – light; ear – sound (and balance / position); nose – chemicals (smell); tongue – chemicals (taste); skin – touch / pressure / temperature / 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Brain and spinal cord. The coordinator (CNS) receives impulses from the sensory neurones, processes the information and sends impulses along motor neurones to the right effectors.
B5.2.1 wording (J257 mirror extract): "explain how the components of the nervous system work together to enable it to function, including sensory receptors, sensory neurons, the CNS, motor neurons and effectors". The term peripheral nervous system is useful context; it may not be required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Receptor: pain / pressure receptors in the skin (of the finger). Effector: muscle (in the arm, e.g. biceps). Response: the muscle contracts and the hand is pulled away.
Glands as effectors: link forward to B5.3 (hormones) only. Do not teach the endocrine system here. "Effectors are muscles or glands" is the key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Brain (1); spinal cord (1).
Q2 [2]: Receptor → sensory neurone → CNS → motor neurone → effector. 2 marks all correct; 1 mark for one adjacent pair swapped.
Q3 [2]: Muscles contract (1); glands secrete / release chemicals / hormones (1).
Q4 [2]: Stimulus: (bright) light (1); receptor: light receptors / cells in the eye / retina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 insulates the axon / speeds up the impulse. 0.8 ÷ 80 = 0.01 s = 10 ms.
Node: 1.0 ÷ 100 = 0.01 s = 10 ms; 1.0 ÷ 1 = 1 s; 0.8 ÷ 80 × 1000 = 10 ms. Speeds are typical textbook values: myelinated up to about 100 m/s, unmyelinated about 0.5–2 m/s (illustrative).
B5.2.2 (J257 mirror extract, paraphrase): explain how the structures of nerve cells (and synapses) relate to their functions. Learners are not expected to explain impulses in terms of membrane potentials: keep to "electrical impulse".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Motor neurone. In the CNS (brain and spinal cord).
The sensory neurone is drawn with its cell body on a side branch (as in the dorsal root ganglion); students do not need the terms dendron or ganglion. Relay neurones are also called interneurones or connector neurones. Relay neurones in the CNS are usually unmyelinated and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Impulse arrives → neurotransmitter released → neurotransmitter diffuses across the gap → neurotransmitter binds to receptors (→ new impulse).
Link to B5.1: diffusion. Crossing a synapse is slower than travelling along an axon because diffusion takes time (useful for reflex vs voluntary: fewer synapses = faster). Named neurotransmitters, membrane potentials and drug actions at synapses are not required (UNVERIFIED for J260; the J257 extract says learners are not expected to explain impulses in terms of membrane potentials).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It insulates the axon (1); so the impulse travels faster (1).
Q2 [1]: Sensory carries impulses from receptor to CNS, motor from CNS to effector / sensory cell body to the side, motor cell body at the end (in CNS) (1).
Q3 [3]: Neurotransmitter released (from the end of the first neurone) (1); diffuses across the gap (1); binds to receptors on the next neurone, starting a new impulse (1).
Q4 [2]: 1.2 ÷ 60 = 0.02 s (1); = 20 ms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relay neurone links the sensory neurone to the motor neurone in the CNS (spinal cord), so the impulse goes straight back out to the effector without passing through the conscious brain. Reflexes are very fast and automatic, so they reduce damage (e.g. burns) before we have time to think.
Diagram conventions: sensory neurone enters the spinal cord at the back (dorsal, top of the cross-section) with its cell body just outside the cord; the relay neurone is entirely in the grey matter; the motor neurone cell body is in the front (ventral) grey matter and its axon leaves at the front. Dashed circles = synapses. A separate neurone also sends an impulse up to the brain so we feel pain afterwards (not drawn).
B5.2.3 (search extract, paraphrase): explain how the structure of a reflex arc, including the relay neurone, is related to its function. Node: 1.5 ÷ 75 = 0.02 s = 20 ms; path length and speed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Voluntary (you see the ball and decide to catch it; the brain is involved). Any two: automatic / no conscious thought; fast; same response every time; protects the body; coordinated by the spinal cord (or unconscious part of the brain).
Node: 2.4 ÷ 60 × 1000 = 40 ms; 1.5 ÷ 75 × 1000 = 20 ms. Times are illustrative. The pupil and blink reflexes are coordinated by the brain stem (an unconscious part of the brain), not the spinal cord: hence "spinal cord (or lower brain)". Brain regions themselves are J257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[2]: A fast, automatic response (that does not involve the conscious brain) (1); any example e.g. knee jerk, blinking, pupil reflex, withdrawing hand from heat (1).
Q2 [2]: Relay neurone (1); passes the impulse from the sensory neurone to the motor neurone (1).
Q3 [2]: Fewer neurones / synapses / shorter pathway (1); does not go through the conscious part of the brain / no decision needed (1).
Q4 [1]: They protect the body from harm / reduce damage, e.g. from burns, because they are fast and automatic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 that B is reacting to the ruler moving (seeing it fall), not predicting it from a signal / timing pattern. Using the same hand keeps a control variable constant (the dominant hand may be faster), so only the distraction changes.
Practical status: Oak National Academy's OCR combined science unit includes "Human reaction time: practical"; a search extract of the J257 B5.2 summary mentions practical investigation of reflexes / reaction times. The exact J260 PAG reference was not found (possibly PAG B6 physiology and responses, UNVERIFIED), so the slide is labelled "suggested practical".
The data on the next slides are illustrative class data. Other factors students can test: practice, dominant vs non-dominant hand, time of day, sound vs visual cue. Do not use caffeine drinks with students without a risk assessment (some schools allow decaffeinated vs caffeinated cola with parental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 is not typical of the other results (e.g. B was not ready / looked away), so including it would make the mean unrepresentative (too high). Range = 17.1 − 14.8 = 2.3 cm (14.8 cm to 17.1 cm).
Node: sums 79 and 92; means 15.8 and 23 cm; with anomaly 25.44 cm. Reaction times from t = √(2d ÷ g), g = 9.8 m/s²: 0.1796 s and 0.2167 s (180 ms and 217 ms). Stretch: increase = 21%.
Bar chart drawn to scale (0–250 ms). Data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0.14 s (node: 0.143 s). Yes: with the distraction the mean reaction time increased from about 0.18 s to 0.22 s (by about 21%), because the brain is busy processing the counting task. Only one student was tested, so test more people before generalising.
Conversion values (node, 3 d.p.): 5 cm → 0.101 s; 10 cm → 0.143 s; 15 cm → 0.175 s; 20 cm → 0.202 s; 25 cm → 0.226 s; 30 cm → 0.247 s.
The equation comes from d = ½gt² (physics). It is not in the biology spec: students are normally given a conversion table or graph. Stretch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(12.0 + 13.4 + 12.8 + 14.2 + 13.1) ÷ 5 = 65.5 ÷ 5 (1); = 13.1 cm (1).
Q2 [1]: 0.16 s (1). Allow 0.15–0.17 s from the graph.
Q3 [2]: Independent: amount of practice / number of practice attempts (1); dependent: reaction time / distance the ruler falls (1).
Q4 [2]: Control: same hand / same person / same ruler / same starting position / same person dropping (1); computer records in ms / more precise / no reading error / no guessing of drop (1).
Q5 [1]: To reduce the effect of random errors / spot anomalies, so the result is more accurate / representative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[3]: (i) sensory (1); (ii) relay (1); (iii) motor (1).
(b) [3]: Neurotransmitter released by the first neurone (1); diffuses across the gap (1); binds to receptors on the next neurone and starts a new impulse (1).
(c) [2]: (19.0 + 20.4 + 19.8 + 19.2) ÷ 4 = 78.4 ÷ 4 (1); = 19.6 cm (1).
(d) [2]: d = 0.196 m; t = √(2 × 0.196 ÷ 9.8) = √0.04 (1); = 0.2 s (1). Allow ecf from (c).
(e) [3]: The withdrawal is a reflex / automatic (1); impulse goes through the spinal cord / relay neurone, not the conscious brain / no decision made (1); fewer neurones / synapses / shorter pathway (so faster)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[2]: A muscle or gland that responds to an impulse / brings about a response (1); two examples, e.g. arm muscle, salivary gland, sweat gland (1).
2 [1]: Insulates the axon / speeds up the impulse (1).
3 [2]: Receptor → sensory neurone → relay neurone → motor neurone → effector. 2 marks all correct; 1 mark one pair swapped.
4 [2]: Neurotransmitter is only released by the first neurone (1); the receptors are only on the second neurone (1).
5 [2]: (20 + 22 + 21 + 23 + 19) ÷ 5 = 21 cm (1); about 0.21 s (allow 0.20–0.22 s) (1).
6 [2]: People's reaction times vary / one person may not be typical (1); a larger sample makes the conclusion more reliable / representative / repeatable (1).
7 [6]: OCR level-of-response mark scheme (6 marks). Read the whole answer, decide the level from the content descriptor, then the mark within the level from the quality of the line of reasoning. Use the indicative scientific points below.
Level 3 (5–6 marks): Describes a clear, workable method AND controls several variables AND explains how the data are processed (repeats, means, conversion) to reach a conclusion. There is a well-developed line of reasoning which is clear and logically structured. The information presented is relevant and substantiated.
Level 2 (3–4 marks): Describes a workable method with at least one control variable OR describes repeats/means; some processing of results described. There is a line of reasoning presented with some structure. The information presented is relevant and supported by some evidence.
Level 1 (1–2 marks): Gives some simple steps, e.g. "drop a ruler and see where it is caught" for each hand. There is an attempt at a logical structure with a line of reasoning. The information is in the most part relevant.
0 marks: no response or no response worthy of credit.
Indicative scientific points may include:
 • Independent variable: hand used (dominant / non-dominant); dependent: distance fallen, converted to reaction time.
 • Method: B sits with forearm on the bench, hand over the edge; thumb and finger level with 0 cm; A drops a 30 cm ruler without warning; B catches it; read the distance at the top of the thumb.
 • Repeat at least 5 times for each hand (and/or test several people); calculate the mean for each hand.
 • Control variables: same person catching and dropping, same ruler, same starting position / height, same posture, same environment / no distractions, no caffeine; vary the time before dropping so B cannot predict.
 • Practice drops first (learning effect); alternate hands or randomise the order.
 • Identify and leave out anomalies; repeat those trials.
 • Convert mean distance to reaction time with a conversion table / graph / t = √(2d ÷ g).
 • Compare the means: a smaller mean distance means a faster reaction; draw a bar chart; consider the range / overlap of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B5.2  The nervous system</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How does the nervous system help us respond to changes?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Receptors  •  Neurones  •  Synapses  •  Reflex arc  •  Effectors  •  Reaction time</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B5.2.1–B5.2.3 • suggested practical: reaction time (ruler drop test)</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found • stretch marked</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Receptors • neurones • synapses • reflex arc • effectors • reaction time</a:t>
            </a:r>
            <a:endParaRPr lang="en-US" sz="1400" dirty="0"/>
          </a:p>
        </p:txBody>
      </p:sp>
      <p:sp>
        <p:nvSpPr>
          <p:cNvPr id="19" name="Shape 17"/>
          <p:cNvSpPr/>
          <p:nvPr/>
        </p:nvSpPr>
        <p:spPr>
          <a:xfrm>
            <a:off x="731520" y="5769864"/>
            <a:ext cx="540867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40867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2 of 6 in Chapter B5: The human body – staying alive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B5.2 How does the nervous system help us respond to changes?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B5.2.1–B5.2.3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B5.2.1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nervous system</a:t>
            </a:r>
            <a:r>
              <a:rPr lang="en-US" sz="1200" dirty="0">
                <a:solidFill>
                  <a:srgbClr val="262B3A"/>
                </a:solidFill>
                <a:latin typeface="Calibri" pitchFamily="34" charset="0"/>
                <a:ea typeface="Calibri" pitchFamily="34" charset="-122"/>
                <a:cs typeface="Calibri" pitchFamily="34" charset="-120"/>
              </a:rPr>
              <a:t>: the </a:t>
            </a:r>
            <a:r>
              <a:rPr lang="en-US" sz="1200" b="1" dirty="0">
                <a:solidFill>
                  <a:srgbClr val="262B3A"/>
                </a:solidFill>
                <a:latin typeface="Calibri" pitchFamily="34" charset="0"/>
                <a:ea typeface="Calibri" pitchFamily="34" charset="-122"/>
                <a:cs typeface="Calibri" pitchFamily="34" charset="-120"/>
              </a:rPr>
              <a:t>CNS</a:t>
            </a:r>
            <a:r>
              <a:rPr lang="en-US" sz="1200" dirty="0">
                <a:solidFill>
                  <a:srgbClr val="262B3A"/>
                </a:solidFill>
                <a:latin typeface="Calibri" pitchFamily="34" charset="0"/>
                <a:ea typeface="Calibri" pitchFamily="34" charset="-122"/>
                <a:cs typeface="Calibri" pitchFamily="34" charset="-120"/>
              </a:rPr>
              <a:t> (brain and spinal cord) and the nerves of the peripheral nervous system.</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B5.2.1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receptors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sensory neurones</a:t>
            </a:r>
            <a:r>
              <a:rPr lang="en-US" sz="1200" dirty="0">
                <a:solidFill>
                  <a:srgbClr val="262B3A"/>
                </a:solidFill>
                <a:latin typeface="Calibri" pitchFamily="34" charset="0"/>
                <a:ea typeface="Calibri" pitchFamily="34" charset="-122"/>
                <a:cs typeface="Calibri" pitchFamily="34" charset="-120"/>
              </a:rPr>
              <a:t>, the </a:t>
            </a:r>
            <a:r>
              <a:rPr lang="en-US" sz="1200" b="1" dirty="0">
                <a:solidFill>
                  <a:srgbClr val="262B3A"/>
                </a:solidFill>
                <a:latin typeface="Calibri" pitchFamily="34" charset="0"/>
                <a:ea typeface="Calibri" pitchFamily="34" charset="-122"/>
                <a:cs typeface="Calibri" pitchFamily="34" charset="-120"/>
              </a:rPr>
              <a:t>CNS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motor neurones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effectors</a:t>
            </a:r>
            <a:r>
              <a:rPr lang="en-US" sz="1200" dirty="0">
                <a:solidFill>
                  <a:srgbClr val="262B3A"/>
                </a:solidFill>
                <a:latin typeface="Calibri" pitchFamily="34" charset="0"/>
                <a:ea typeface="Calibri" pitchFamily="34" charset="-122"/>
                <a:cs typeface="Calibri" pitchFamily="34" charset="-120"/>
              </a:rPr>
              <a:t> work together.</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B5.2.2   </a:t>
            </a:r>
            <a:r>
              <a:rPr lang="en-US" sz="1200" dirty="0">
                <a:solidFill>
                  <a:srgbClr val="262B3A"/>
                </a:solidFill>
                <a:latin typeface="Calibri" pitchFamily="34" charset="0"/>
                <a:ea typeface="Calibri" pitchFamily="34" charset="-122"/>
                <a:cs typeface="Calibri" pitchFamily="34" charset="-120"/>
              </a:rPr>
              <a:t>Describe the structure of a </a:t>
            </a:r>
            <a:r>
              <a:rPr lang="en-US" sz="1200" b="1" dirty="0">
                <a:solidFill>
                  <a:srgbClr val="262B3A"/>
                </a:solidFill>
                <a:latin typeface="Calibri" pitchFamily="34" charset="0"/>
                <a:ea typeface="Calibri" pitchFamily="34" charset="-122"/>
                <a:cs typeface="Calibri" pitchFamily="34" charset="-120"/>
              </a:rPr>
              <a:t>neurone</a:t>
            </a:r>
            <a:r>
              <a:rPr lang="en-US" sz="1200" dirty="0">
                <a:solidFill>
                  <a:srgbClr val="262B3A"/>
                </a:solidFill>
                <a:latin typeface="Calibri" pitchFamily="34" charset="0"/>
                <a:ea typeface="Calibri" pitchFamily="34" charset="-122"/>
                <a:cs typeface="Calibri" pitchFamily="34" charset="-120"/>
              </a:rPr>
              <a:t> and explain how the axon, dendrites and </a:t>
            </a:r>
            <a:r>
              <a:rPr lang="en-US" sz="1200" b="1" dirty="0">
                <a:solidFill>
                  <a:srgbClr val="262B3A"/>
                </a:solidFill>
                <a:latin typeface="Calibri" pitchFamily="34" charset="0"/>
                <a:ea typeface="Calibri" pitchFamily="34" charset="-122"/>
                <a:cs typeface="Calibri" pitchFamily="34" charset="-120"/>
              </a:rPr>
              <a:t>myelin sheath</a:t>
            </a:r>
            <a:r>
              <a:rPr lang="en-US" sz="1200" dirty="0">
                <a:solidFill>
                  <a:srgbClr val="262B3A"/>
                </a:solidFill>
                <a:latin typeface="Calibri" pitchFamily="34" charset="0"/>
                <a:ea typeface="Calibri" pitchFamily="34" charset="-122"/>
                <a:cs typeface="Calibri" pitchFamily="34" charset="-120"/>
              </a:rPr>
              <a:t> suit its job.</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B5.2.2   </a:t>
            </a:r>
            <a:r>
              <a:rPr lang="en-US" sz="1200" dirty="0">
                <a:solidFill>
                  <a:srgbClr val="262B3A"/>
                </a:solidFill>
                <a:latin typeface="Calibri" pitchFamily="34" charset="0"/>
                <a:ea typeface="Calibri" pitchFamily="34" charset="-122"/>
                <a:cs typeface="Calibri" pitchFamily="34" charset="-120"/>
              </a:rPr>
              <a:t>Compare </a:t>
            </a:r>
            <a:r>
              <a:rPr lang="en-US" sz="1200" b="1" dirty="0">
                <a:solidFill>
                  <a:srgbClr val="262B3A"/>
                </a:solidFill>
                <a:latin typeface="Calibri" pitchFamily="34" charset="0"/>
                <a:ea typeface="Calibri" pitchFamily="34" charset="-122"/>
                <a:cs typeface="Calibri" pitchFamily="34" charset="-120"/>
              </a:rPr>
              <a:t>sensory</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relay</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motor</a:t>
            </a:r>
            <a:r>
              <a:rPr lang="en-US" sz="1200" dirty="0">
                <a:solidFill>
                  <a:srgbClr val="262B3A"/>
                </a:solidFill>
                <a:latin typeface="Calibri" pitchFamily="34" charset="0"/>
                <a:ea typeface="Calibri" pitchFamily="34" charset="-122"/>
                <a:cs typeface="Calibri" pitchFamily="34" charset="-120"/>
              </a:rPr>
              <a:t> neurones.</a:t>
            </a:r>
            <a:endParaRPr lang="en-US" sz="1100" dirty="0"/>
          </a:p>
        </p:txBody>
      </p:sp>
      <p:sp>
        <p:nvSpPr>
          <p:cNvPr id="20" name="Shape 18"/>
          <p:cNvSpPr/>
          <p:nvPr/>
        </p:nvSpPr>
        <p:spPr>
          <a:xfrm>
            <a:off x="6263640" y="1325880"/>
            <a:ext cx="457200" cy="457200"/>
          </a:xfrm>
          <a:prstGeom prst="ellipse">
            <a:avLst/>
          </a:prstGeom>
          <a:solidFill>
            <a:srgbClr val="0D7877"/>
          </a:solidFill>
          <a:ln w="12700">
            <a:solidFill>
              <a:srgbClr val="0D7877"/>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B5.2.2   </a:t>
            </a:r>
            <a:r>
              <a:rPr lang="en-US" sz="1200" dirty="0">
                <a:solidFill>
                  <a:srgbClr val="262B3A"/>
                </a:solidFill>
                <a:latin typeface="Calibri" pitchFamily="34" charset="0"/>
                <a:ea typeface="Calibri" pitchFamily="34" charset="-122"/>
                <a:cs typeface="Calibri" pitchFamily="34" charset="-120"/>
              </a:rPr>
              <a:t>Explain how a </a:t>
            </a:r>
            <a:r>
              <a:rPr lang="en-US" sz="1200" b="1" dirty="0">
                <a:solidFill>
                  <a:srgbClr val="262B3A"/>
                </a:solidFill>
                <a:latin typeface="Calibri" pitchFamily="34" charset="0"/>
                <a:ea typeface="Calibri" pitchFamily="34" charset="-122"/>
                <a:cs typeface="Calibri" pitchFamily="34" charset="-120"/>
              </a:rPr>
              <a:t>synapse</a:t>
            </a:r>
            <a:r>
              <a:rPr lang="en-US" sz="1200" dirty="0">
                <a:solidFill>
                  <a:srgbClr val="262B3A"/>
                </a:solidFill>
                <a:latin typeface="Calibri" pitchFamily="34" charset="0"/>
                <a:ea typeface="Calibri" pitchFamily="34" charset="-122"/>
                <a:cs typeface="Calibri" pitchFamily="34" charset="-120"/>
              </a:rPr>
              <a:t> passes an impulse on, using a </a:t>
            </a:r>
            <a:r>
              <a:rPr lang="en-US" sz="1200" b="1" dirty="0">
                <a:solidFill>
                  <a:srgbClr val="262B3A"/>
                </a:solidFill>
                <a:latin typeface="Calibri" pitchFamily="34" charset="0"/>
                <a:ea typeface="Calibri" pitchFamily="34" charset="-122"/>
                <a:cs typeface="Calibri" pitchFamily="34" charset="-120"/>
              </a:rPr>
              <a:t>neurotransmitter</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6263640" y="2194560"/>
            <a:ext cx="457200" cy="457200"/>
          </a:xfrm>
          <a:prstGeom prst="ellipse">
            <a:avLst/>
          </a:prstGeom>
          <a:solidFill>
            <a:srgbClr val="0D7877"/>
          </a:solidFill>
          <a:ln w="12700">
            <a:solidFill>
              <a:srgbClr val="0D7877"/>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B5.2.3   </a:t>
            </a:r>
            <a:r>
              <a:rPr lang="en-US" sz="1200" dirty="0">
                <a:solidFill>
                  <a:srgbClr val="262B3A"/>
                </a:solidFill>
                <a:latin typeface="Calibri" pitchFamily="34" charset="0"/>
                <a:ea typeface="Calibri" pitchFamily="34" charset="-122"/>
                <a:cs typeface="Calibri" pitchFamily="34" charset="-120"/>
              </a:rPr>
              <a:t>Explain how the structure of a </a:t>
            </a:r>
            <a:r>
              <a:rPr lang="en-US" sz="1200" b="1" dirty="0">
                <a:solidFill>
                  <a:srgbClr val="262B3A"/>
                </a:solidFill>
                <a:latin typeface="Calibri" pitchFamily="34" charset="0"/>
                <a:ea typeface="Calibri" pitchFamily="34" charset="-122"/>
                <a:cs typeface="Calibri" pitchFamily="34" charset="-120"/>
              </a:rPr>
              <a:t>reflex arc</a:t>
            </a:r>
            <a:r>
              <a:rPr lang="en-US" sz="1200" dirty="0">
                <a:solidFill>
                  <a:srgbClr val="262B3A"/>
                </a:solidFill>
                <a:latin typeface="Calibri" pitchFamily="34" charset="0"/>
                <a:ea typeface="Calibri" pitchFamily="34" charset="-122"/>
                <a:cs typeface="Calibri" pitchFamily="34" charset="-120"/>
              </a:rPr>
              <a:t>, including the </a:t>
            </a:r>
            <a:r>
              <a:rPr lang="en-US" sz="1200" b="1" dirty="0">
                <a:solidFill>
                  <a:srgbClr val="262B3A"/>
                </a:solidFill>
                <a:latin typeface="Calibri" pitchFamily="34" charset="0"/>
                <a:ea typeface="Calibri" pitchFamily="34" charset="-122"/>
                <a:cs typeface="Calibri" pitchFamily="34" charset="-120"/>
              </a:rPr>
              <a:t>relay neurone</a:t>
            </a:r>
            <a:r>
              <a:rPr lang="en-US" sz="1200" dirty="0">
                <a:solidFill>
                  <a:srgbClr val="262B3A"/>
                </a:solidFill>
                <a:latin typeface="Calibri" pitchFamily="34" charset="0"/>
                <a:ea typeface="Calibri" pitchFamily="34" charset="-122"/>
                <a:cs typeface="Calibri" pitchFamily="34" charset="-120"/>
              </a:rPr>
              <a:t>, gives a fast, automatic response.</a:t>
            </a:r>
            <a:endParaRPr lang="en-US" sz="1100" dirty="0"/>
          </a:p>
        </p:txBody>
      </p:sp>
      <p:sp>
        <p:nvSpPr>
          <p:cNvPr id="26" name="Shape 24"/>
          <p:cNvSpPr/>
          <p:nvPr/>
        </p:nvSpPr>
        <p:spPr>
          <a:xfrm>
            <a:off x="6263640" y="3063240"/>
            <a:ext cx="457200" cy="457200"/>
          </a:xfrm>
          <a:prstGeom prst="ellipse">
            <a:avLst/>
          </a:prstGeom>
          <a:solidFill>
            <a:srgbClr val="0D7877"/>
          </a:solidFill>
          <a:ln w="12700">
            <a:solidFill>
              <a:srgbClr val="0D7877"/>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B5.2.3   </a:t>
            </a:r>
            <a:r>
              <a:rPr lang="en-US" sz="1200" dirty="0">
                <a:solidFill>
                  <a:srgbClr val="262B3A"/>
                </a:solidFill>
                <a:latin typeface="Calibri" pitchFamily="34" charset="0"/>
                <a:ea typeface="Calibri" pitchFamily="34" charset="-122"/>
                <a:cs typeface="Calibri" pitchFamily="34" charset="-120"/>
              </a:rPr>
              <a:t>Compare </a:t>
            </a:r>
            <a:r>
              <a:rPr lang="en-US" sz="1200" b="1" dirty="0">
                <a:solidFill>
                  <a:srgbClr val="262B3A"/>
                </a:solidFill>
                <a:latin typeface="Calibri" pitchFamily="34" charset="0"/>
                <a:ea typeface="Calibri" pitchFamily="34" charset="-122"/>
                <a:cs typeface="Calibri" pitchFamily="34" charset="-120"/>
              </a:rPr>
              <a:t>reflex</a:t>
            </a:r>
            <a:r>
              <a:rPr lang="en-US" sz="1200" dirty="0">
                <a:solidFill>
                  <a:srgbClr val="262B3A"/>
                </a:solidFill>
                <a:latin typeface="Calibri" pitchFamily="34" charset="0"/>
                <a:ea typeface="Calibri" pitchFamily="34" charset="-122"/>
                <a:cs typeface="Calibri" pitchFamily="34" charset="-120"/>
              </a:rPr>
              <a:t> actions with </a:t>
            </a:r>
            <a:r>
              <a:rPr lang="en-US" sz="1200" b="1" dirty="0">
                <a:solidFill>
                  <a:srgbClr val="262B3A"/>
                </a:solidFill>
                <a:latin typeface="Calibri" pitchFamily="34" charset="0"/>
                <a:ea typeface="Calibri" pitchFamily="34" charset="-122"/>
                <a:cs typeface="Calibri" pitchFamily="34" charset="-120"/>
              </a:rPr>
              <a:t>voluntary</a:t>
            </a:r>
            <a:r>
              <a:rPr lang="en-US" sz="1200" dirty="0">
                <a:solidFill>
                  <a:srgbClr val="262B3A"/>
                </a:solidFill>
                <a:latin typeface="Calibri" pitchFamily="34" charset="0"/>
                <a:ea typeface="Calibri" pitchFamily="34" charset="-122"/>
                <a:cs typeface="Calibri" pitchFamily="34" charset="-120"/>
              </a:rPr>
              <a:t> (conscious) responses.</a:t>
            </a:r>
            <a:endParaRPr lang="en-US" sz="1100" dirty="0"/>
          </a:p>
        </p:txBody>
      </p:sp>
      <p:sp>
        <p:nvSpPr>
          <p:cNvPr id="29" name="Shape 27"/>
          <p:cNvSpPr/>
          <p:nvPr/>
        </p:nvSpPr>
        <p:spPr>
          <a:xfrm>
            <a:off x="6263640" y="3931920"/>
            <a:ext cx="457200" cy="457200"/>
          </a:xfrm>
          <a:prstGeom prst="ellipse">
            <a:avLst/>
          </a:prstGeom>
          <a:solidFill>
            <a:srgbClr val="0D7877"/>
          </a:solidFill>
          <a:ln w="12700">
            <a:solidFill>
              <a:srgbClr val="0D7877"/>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Practical   </a:t>
            </a:r>
            <a:r>
              <a:rPr lang="en-US" sz="1200" dirty="0">
                <a:solidFill>
                  <a:srgbClr val="262B3A"/>
                </a:solidFill>
                <a:latin typeface="Calibri" pitchFamily="34" charset="0"/>
                <a:ea typeface="Calibri" pitchFamily="34" charset="-122"/>
                <a:cs typeface="Calibri" pitchFamily="34" charset="-120"/>
              </a:rPr>
              <a:t>Measure </a:t>
            </a:r>
            <a:r>
              <a:rPr lang="en-US" sz="1200" b="1" dirty="0">
                <a:solidFill>
                  <a:srgbClr val="262B3A"/>
                </a:solidFill>
                <a:latin typeface="Calibri" pitchFamily="34" charset="0"/>
                <a:ea typeface="Calibri" pitchFamily="34" charset="-122"/>
                <a:cs typeface="Calibri" pitchFamily="34" charset="-120"/>
              </a:rPr>
              <a:t>reaction time</a:t>
            </a:r>
            <a:r>
              <a:rPr lang="en-US" sz="1200" dirty="0">
                <a:solidFill>
                  <a:srgbClr val="262B3A"/>
                </a:solidFill>
                <a:latin typeface="Calibri" pitchFamily="34" charset="0"/>
                <a:ea typeface="Calibri" pitchFamily="34" charset="-122"/>
                <a:cs typeface="Calibri" pitchFamily="34" charset="-120"/>
              </a:rPr>
              <a:t> with a ruler drop test; calculate </a:t>
            </a:r>
            <a:r>
              <a:rPr lang="en-US" sz="1200" b="1" dirty="0">
                <a:solidFill>
                  <a:srgbClr val="262B3A"/>
                </a:solidFill>
                <a:latin typeface="Calibri" pitchFamily="34" charset="0"/>
                <a:ea typeface="Calibri" pitchFamily="34" charset="-122"/>
                <a:cs typeface="Calibri" pitchFamily="34" charset="-120"/>
              </a:rPr>
              <a:t>means</a:t>
            </a:r>
            <a:r>
              <a:rPr lang="en-US" sz="1200" dirty="0">
                <a:solidFill>
                  <a:srgbClr val="262B3A"/>
                </a:solidFill>
                <a:latin typeface="Calibri" pitchFamily="34" charset="0"/>
                <a:ea typeface="Calibri" pitchFamily="34" charset="-122"/>
                <a:cs typeface="Calibri" pitchFamily="34" charset="-120"/>
              </a:rPr>
              <a:t> and convert distance to time.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B5 The human body – staying alive • B5.2 is Part 2 of 6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The nervous system</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B5.2.1   </a:t>
            </a:r>
            <a:r>
              <a:rPr lang="en-US" sz="1100" dirty="0">
                <a:solidFill>
                  <a:srgbClr val="262B3A"/>
                </a:solidFill>
                <a:latin typeface="Calibri" pitchFamily="34" charset="0"/>
                <a:ea typeface="Calibri" pitchFamily="34" charset="-122"/>
                <a:cs typeface="Calibri" pitchFamily="34" charset="-120"/>
              </a:rPr>
              <a:t>The nervous system: CNS, receptors and effectors</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B5.2.2   </a:t>
            </a:r>
            <a:r>
              <a:rPr lang="en-US" sz="1100" dirty="0">
                <a:solidFill>
                  <a:srgbClr val="262B3A"/>
                </a:solidFill>
                <a:latin typeface="Calibri" pitchFamily="34" charset="0"/>
                <a:ea typeface="Calibri" pitchFamily="34" charset="-122"/>
                <a:cs typeface="Calibri" pitchFamily="34" charset="-120"/>
              </a:rPr>
              <a:t>Neurones: structure, types and the myelin sheath</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B5.2.2   </a:t>
            </a:r>
            <a:r>
              <a:rPr lang="en-US" sz="1100" dirty="0">
                <a:solidFill>
                  <a:srgbClr val="262B3A"/>
                </a:solidFill>
                <a:latin typeface="Calibri" pitchFamily="34" charset="0"/>
                <a:ea typeface="Calibri" pitchFamily="34" charset="-122"/>
                <a:cs typeface="Calibri" pitchFamily="34" charset="-120"/>
              </a:rPr>
              <a:t>Synapses and neurotransmitters</a:t>
            </a:r>
            <a:endParaRPr lang="en-US" sz="1100" dirty="0"/>
          </a:p>
        </p:txBody>
      </p:sp>
      <p:sp>
        <p:nvSpPr>
          <p:cNvPr id="24" name="Shape 22"/>
          <p:cNvSpPr/>
          <p:nvPr/>
        </p:nvSpPr>
        <p:spPr>
          <a:xfrm>
            <a:off x="5257800" y="3566160"/>
            <a:ext cx="1097280" cy="274320"/>
          </a:xfrm>
          <a:prstGeom prst="roundRect">
            <a:avLst>
              <a:gd name="adj" fmla="val 50000"/>
            </a:avLst>
          </a:prstGeom>
          <a:solidFill>
            <a:srgbClr val="0D7877"/>
          </a:solidFill>
          <a:ln w="12700">
            <a:solidFill>
              <a:srgbClr val="0D7877"/>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B5.2.3   </a:t>
            </a:r>
            <a:r>
              <a:rPr lang="en-US" sz="1100" dirty="0">
                <a:solidFill>
                  <a:srgbClr val="262B3A"/>
                </a:solidFill>
                <a:latin typeface="Calibri" pitchFamily="34" charset="0"/>
                <a:ea typeface="Calibri" pitchFamily="34" charset="-122"/>
                <a:cs typeface="Calibri" pitchFamily="34" charset="-120"/>
              </a:rPr>
              <a:t>The reflex arc; reflex vs voluntary responses</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Reaction time: the ruler drop test</a:t>
            </a:r>
            <a:endParaRPr lang="en-US" sz="1100" dirty="0"/>
          </a:p>
        </p:txBody>
      </p:sp>
      <p:sp>
        <p:nvSpPr>
          <p:cNvPr id="34" name="Shape 32"/>
          <p:cNvSpPr/>
          <p:nvPr/>
        </p:nvSpPr>
        <p:spPr>
          <a:xfrm>
            <a:off x="5257800" y="4882896"/>
            <a:ext cx="109728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Maths   </a:t>
            </a:r>
            <a:r>
              <a:rPr lang="en-US" sz="1100" dirty="0">
                <a:solidFill>
                  <a:srgbClr val="262B3A"/>
                </a:solidFill>
                <a:latin typeface="Calibri" pitchFamily="34" charset="0"/>
                <a:ea typeface="Calibri" pitchFamily="34" charset="-122"/>
                <a:cs typeface="Calibri" pitchFamily="34" charset="-120"/>
              </a:rPr>
              <a:t>Means, anomalies, reading a graph; time = distance ÷ speed</a:t>
            </a:r>
            <a:endParaRPr lang="en-US" sz="1100" dirty="0"/>
          </a:p>
        </p:txBody>
      </p:sp>
      <p:sp>
        <p:nvSpPr>
          <p:cNvPr id="39" name="Shape 37"/>
          <p:cNvSpPr/>
          <p:nvPr/>
        </p:nvSpPr>
        <p:spPr>
          <a:xfrm>
            <a:off x="5257800" y="5541264"/>
            <a:ext cx="1097280" cy="274320"/>
          </a:xfrm>
          <a:prstGeom prst="roundRect">
            <a:avLst>
              <a:gd name="adj" fmla="val 50000"/>
            </a:avLst>
          </a:prstGeom>
          <a:solidFill>
            <a:srgbClr val="0D7877"/>
          </a:solidFill>
          <a:ln w="12700">
            <a:solidFill>
              <a:srgbClr val="0D7877"/>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B4.3 specialised cells • B4.1 respiration (ATP) • B5.1 diffusion • KS3 muscles</a:t>
            </a:r>
            <a:endParaRPr lang="en-US" sz="1050" dirty="0"/>
          </a:p>
        </p:txBody>
      </p:sp>
      <p:sp>
        <p:nvSpPr>
          <p:cNvPr id="42" name="Shape 40"/>
          <p:cNvSpPr/>
          <p:nvPr/>
        </p:nvSpPr>
        <p:spPr>
          <a:xfrm>
            <a:off x="6720840" y="1234440"/>
            <a:ext cx="5056632" cy="2971800"/>
          </a:xfrm>
          <a:prstGeom prst="roundRect">
            <a:avLst>
              <a:gd name="adj" fmla="val 1846"/>
            </a:avLst>
          </a:prstGeom>
          <a:solidFill>
            <a:srgbClr val="0F3D3E"/>
          </a:solidFill>
          <a:ln/>
        </p:spPr>
      </p:sp>
      <p:sp>
        <p:nvSpPr>
          <p:cNvPr id="43" name="Text 41"/>
          <p:cNvSpPr/>
          <p:nvPr/>
        </p:nvSpPr>
        <p:spPr>
          <a:xfrm>
            <a:off x="6903720" y="1325880"/>
            <a:ext cx="4709160" cy="27889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B5 in J260</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B5.1 How do substances get into, out of and around our bodies?</a:t>
            </a:r>
            <a:endParaRPr lang="en-US" sz="1500" dirty="0"/>
          </a:p>
          <a:p>
            <a:pPr marL="152400" indent="-152400">
              <a:spcAft>
                <a:spcPts val="300"/>
              </a:spcAft>
              <a:buSzPct val="100000"/>
              <a:buChar char="▪"/>
            </a:pPr>
            <a:r>
              <a:rPr lang="en-US" sz="1100" b="1" dirty="0">
                <a:solidFill>
                  <a:srgbClr val="E3F2F0"/>
                </a:solidFill>
                <a:latin typeface="Calibri" pitchFamily="34" charset="0"/>
                <a:ea typeface="Calibri" pitchFamily="34" charset="-122"/>
                <a:cs typeface="Calibri" pitchFamily="34" charset="-120"/>
              </a:rPr>
              <a:t>B5.2 How does the nervous system help us respond to changes?</a:t>
            </a:r>
            <a:r>
              <a:rPr lang="en-US" sz="110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B5.3 How do hormones control responses in the human body?</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B5.4 Why do we need to maintain a constant internal environment?</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B5.5 What role do hormones play in human reproduction?</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B5.6 What can happen when organs and control systems stop working?</a:t>
            </a:r>
            <a:endParaRPr lang="en-US" sz="1500" dirty="0"/>
          </a:p>
        </p:txBody>
      </p:sp>
      <p:sp>
        <p:nvSpPr>
          <p:cNvPr id="44" name="Shape 42"/>
          <p:cNvSpPr/>
          <p:nvPr/>
        </p:nvSpPr>
        <p:spPr>
          <a:xfrm>
            <a:off x="6720840" y="4343400"/>
            <a:ext cx="5056632" cy="1920240"/>
          </a:xfrm>
          <a:prstGeom prst="roundRect">
            <a:avLst>
              <a:gd name="adj" fmla="val 2857"/>
            </a:avLst>
          </a:prstGeom>
          <a:solidFill>
            <a:srgbClr val="FFF4E0"/>
          </a:solidFill>
          <a:ln w="12700">
            <a:solidFill>
              <a:srgbClr val="F1D9A8"/>
            </a:solidFill>
            <a:prstDash val="solid"/>
          </a:ln>
        </p:spPr>
      </p:sp>
      <p:sp>
        <p:nvSpPr>
          <p:cNvPr id="45" name="Text 43"/>
          <p:cNvSpPr/>
          <p:nvPr/>
        </p:nvSpPr>
        <p:spPr>
          <a:xfrm>
            <a:off x="6903720" y="4434840"/>
            <a:ext cx="4709160" cy="17373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 slide is for both tiers: no B5.2 statement was found to be Higher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brain</a:t>
            </a:r>
            <a:r>
              <a:rPr lang="en-US" sz="1100" dirty="0">
                <a:solidFill>
                  <a:srgbClr val="262B3A"/>
                </a:solidFill>
                <a:latin typeface="Calibri" pitchFamily="34" charset="0"/>
                <a:ea typeface="Calibri" pitchFamily="34" charset="-122"/>
                <a:cs typeface="Calibri" pitchFamily="34" charset="-120"/>
              </a:rPr>
              <a:t> regions and the </a:t>
            </a:r>
            <a:r>
              <a:rPr lang="en-US" sz="1100" b="1" dirty="0">
                <a:solidFill>
                  <a:srgbClr val="262B3A"/>
                </a:solidFill>
                <a:latin typeface="Calibri" pitchFamily="34" charset="0"/>
                <a:ea typeface="Calibri" pitchFamily="34" charset="-122"/>
                <a:cs typeface="Calibri" pitchFamily="34" charset="-120"/>
              </a:rPr>
              <a:t>eye</a:t>
            </a:r>
            <a:r>
              <a:rPr lang="en-US" sz="1100" dirty="0">
                <a:solidFill>
                  <a:srgbClr val="262B3A"/>
                </a:solidFill>
                <a:latin typeface="Calibri" pitchFamily="34" charset="0"/>
                <a:ea typeface="Calibri" pitchFamily="34" charset="-122"/>
                <a:cs typeface="Calibri" pitchFamily="34" charset="-120"/>
              </a:rPr>
              <a:t> are Biology B (J257) only: not in this deck.</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Practical: </a:t>
            </a:r>
            <a:r>
              <a:rPr lang="en-US" sz="1100" b="1" dirty="0">
                <a:solidFill>
                  <a:srgbClr val="262B3A"/>
                </a:solidFill>
                <a:latin typeface="Calibri" pitchFamily="34" charset="0"/>
                <a:ea typeface="Calibri" pitchFamily="34" charset="-122"/>
                <a:cs typeface="Calibri" pitchFamily="34" charset="-120"/>
              </a:rPr>
              <a:t>reaction time</a:t>
            </a:r>
            <a:r>
              <a:rPr lang="en-US" sz="1100" dirty="0">
                <a:solidFill>
                  <a:srgbClr val="262B3A"/>
                </a:solidFill>
                <a:latin typeface="Calibri" pitchFamily="34" charset="0"/>
                <a:ea typeface="Calibri" pitchFamily="34" charset="-122"/>
                <a:cs typeface="Calibri" pitchFamily="34" charset="-120"/>
              </a:rPr>
              <a:t> (ruler drop). The equation for converting distance to time is a stretch.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B4.1, B4.2, B4.3, B5.1 and KS3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B4.3 • differentiation</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nerve cell is a </a:t>
            </a:r>
            <a:r>
              <a:rPr lang="en-US" sz="1250" b="1" dirty="0">
                <a:solidFill>
                  <a:srgbClr val="262B3A"/>
                </a:solidFill>
                <a:latin typeface="Calibri" pitchFamily="34" charset="0"/>
                <a:ea typeface="Calibri" pitchFamily="34" charset="-122"/>
                <a:cs typeface="Calibri" pitchFamily="34" charset="-120"/>
              </a:rPr>
              <a:t>specialised</a:t>
            </a:r>
            <a:r>
              <a:rPr lang="en-US" sz="1250" dirty="0">
                <a:solidFill>
                  <a:srgbClr val="262B3A"/>
                </a:solidFill>
                <a:latin typeface="Calibri" pitchFamily="34" charset="0"/>
                <a:ea typeface="Calibri" pitchFamily="34" charset="-122"/>
                <a:cs typeface="Calibri" pitchFamily="34" charset="-120"/>
              </a:rPr>
              <a:t> cell. Name the process by which a cell becomes specialised.</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respiration</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Nerve cells contain many </a:t>
            </a:r>
            <a:r>
              <a:rPr lang="en-US" sz="1250" b="1" dirty="0">
                <a:solidFill>
                  <a:srgbClr val="262B3A"/>
                </a:solidFill>
                <a:latin typeface="Calibri" pitchFamily="34" charset="0"/>
                <a:ea typeface="Calibri" pitchFamily="34" charset="-122"/>
                <a:cs typeface="Calibri" pitchFamily="34" charset="-120"/>
              </a:rPr>
              <a:t>mitochondria</a:t>
            </a:r>
            <a:r>
              <a:rPr lang="en-US" sz="1250" dirty="0">
                <a:solidFill>
                  <a:srgbClr val="262B3A"/>
                </a:solidFill>
                <a:latin typeface="Calibri" pitchFamily="34" charset="0"/>
                <a:ea typeface="Calibri" pitchFamily="34" charset="-122"/>
                <a:cs typeface="Calibri" pitchFamily="34" charset="-120"/>
              </a:rPr>
              <a:t>. Explain why.</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B5.1 • diffusion</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diffusion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B4.2 • cell structures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the function of the </a:t>
            </a:r>
            <a:r>
              <a:rPr lang="en-US" sz="1250" b="1" dirty="0">
                <a:solidFill>
                  <a:srgbClr val="262B3A"/>
                </a:solidFill>
                <a:latin typeface="Calibri" pitchFamily="34" charset="0"/>
                <a:ea typeface="Calibri" pitchFamily="34" charset="-122"/>
                <a:cs typeface="Calibri" pitchFamily="34" charset="-120"/>
              </a:rPr>
              <a:t>cell membrane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muscles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does a muscle do when it receives a signal? How does this move a bone?</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senses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sense organs and the </a:t>
            </a:r>
            <a:r>
              <a:rPr lang="en-US" sz="1250" b="1" dirty="0">
                <a:solidFill>
                  <a:srgbClr val="262B3A"/>
                </a:solidFill>
                <a:latin typeface="Calibri" pitchFamily="34" charset="0"/>
                <a:ea typeface="Calibri" pitchFamily="34" charset="-122"/>
                <a:cs typeface="Calibri" pitchFamily="34" charset="-120"/>
              </a:rPr>
              <a:t>stimulus</a:t>
            </a:r>
            <a:r>
              <a:rPr lang="en-US" sz="1250" dirty="0">
                <a:solidFill>
                  <a:srgbClr val="262B3A"/>
                </a:solidFill>
                <a:latin typeface="Calibri" pitchFamily="34" charset="0"/>
                <a:ea typeface="Calibri" pitchFamily="34" charset="-122"/>
                <a:cs typeface="Calibri" pitchFamily="34" charset="-120"/>
              </a:rPr>
              <a:t> each one detects.</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nervous system: stimulus to response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B5.2.1 • the nervous system lets us respond quickly to changes inside and outside the body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B5.2.1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CNS in red; peripheral nerves in yellow; not to scale</a:t>
            </a:r>
            <a:endParaRPr lang="en-US" sz="1000" dirty="0"/>
          </a:p>
        </p:txBody>
      </p:sp>
      <p:sp>
        <p:nvSpPr>
          <p:cNvPr id="10" name="Shape 8"/>
          <p:cNvSpPr/>
          <p:nvPr/>
        </p:nvSpPr>
        <p:spPr>
          <a:xfrm>
            <a:off x="658368" y="2395728"/>
            <a:ext cx="603504" cy="1554480"/>
          </a:xfrm>
          <a:custGeom>
            <a:avLst/>
            <a:gdLst/>
            <a:ahLst/>
            <a:cxnLst/>
            <a:rect l="l" t="t" r="r" b="b"/>
            <a:pathLst>
              <a:path w="603504" h="1554480">
                <a:moveTo>
                  <a:pt x="603504" y="0"/>
                </a:moveTo>
                <a:lnTo>
                  <a:pt x="438912" y="36576"/>
                </a:lnTo>
                <a:lnTo>
                  <a:pt x="0" y="1490472"/>
                </a:lnTo>
                <a:lnTo>
                  <a:pt x="192024" y="1554480"/>
                </a:lnTo>
                <a:close/>
              </a:path>
            </a:pathLst>
          </a:custGeom>
          <a:solidFill>
            <a:srgbClr val="F8E4D4"/>
          </a:solidFill>
          <a:ln w="12700">
            <a:solidFill>
              <a:srgbClr val="C9A88A"/>
            </a:solidFill>
            <a:prstDash val="solid"/>
          </a:ln>
        </p:spPr>
      </p:sp>
      <p:sp>
        <p:nvSpPr>
          <p:cNvPr id="11" name="Shape 9"/>
          <p:cNvSpPr/>
          <p:nvPr/>
        </p:nvSpPr>
        <p:spPr>
          <a:xfrm>
            <a:off x="2212848" y="2395728"/>
            <a:ext cx="603504" cy="1554480"/>
          </a:xfrm>
          <a:custGeom>
            <a:avLst/>
            <a:gdLst/>
            <a:ahLst/>
            <a:cxnLst/>
            <a:rect l="l" t="t" r="r" b="b"/>
            <a:pathLst>
              <a:path w="603504" h="1554480">
                <a:moveTo>
                  <a:pt x="0" y="0"/>
                </a:moveTo>
                <a:lnTo>
                  <a:pt x="164592" y="36576"/>
                </a:lnTo>
                <a:lnTo>
                  <a:pt x="603504" y="1490472"/>
                </a:lnTo>
                <a:lnTo>
                  <a:pt x="411480" y="1554480"/>
                </a:lnTo>
                <a:close/>
              </a:path>
            </a:pathLst>
          </a:custGeom>
          <a:solidFill>
            <a:srgbClr val="F8E4D4"/>
          </a:solidFill>
          <a:ln w="12700">
            <a:solidFill>
              <a:srgbClr val="C9A88A"/>
            </a:solidFill>
            <a:prstDash val="solid"/>
          </a:ln>
        </p:spPr>
      </p:sp>
      <p:sp>
        <p:nvSpPr>
          <p:cNvPr id="12" name="Shape 10"/>
          <p:cNvSpPr/>
          <p:nvPr/>
        </p:nvSpPr>
        <p:spPr>
          <a:xfrm>
            <a:off x="1298448" y="3840480"/>
            <a:ext cx="411480" cy="1417320"/>
          </a:xfrm>
          <a:custGeom>
            <a:avLst/>
            <a:gdLst/>
            <a:ahLst/>
            <a:cxnLst/>
            <a:rect l="l" t="t" r="r" b="b"/>
            <a:pathLst>
              <a:path w="411480" h="1417320">
                <a:moveTo>
                  <a:pt x="0" y="0"/>
                </a:moveTo>
                <a:lnTo>
                  <a:pt x="411480" y="0"/>
                </a:lnTo>
                <a:lnTo>
                  <a:pt x="329184" y="1417320"/>
                </a:lnTo>
                <a:lnTo>
                  <a:pt x="45720" y="1417320"/>
                </a:lnTo>
                <a:close/>
              </a:path>
            </a:pathLst>
          </a:custGeom>
          <a:solidFill>
            <a:srgbClr val="F8E4D4"/>
          </a:solidFill>
          <a:ln w="12700">
            <a:solidFill>
              <a:srgbClr val="C9A88A"/>
            </a:solidFill>
            <a:prstDash val="solid"/>
          </a:ln>
        </p:spPr>
      </p:sp>
      <p:sp>
        <p:nvSpPr>
          <p:cNvPr id="13" name="Shape 11"/>
          <p:cNvSpPr/>
          <p:nvPr/>
        </p:nvSpPr>
        <p:spPr>
          <a:xfrm>
            <a:off x="1764792" y="3840480"/>
            <a:ext cx="411480" cy="1417320"/>
          </a:xfrm>
          <a:custGeom>
            <a:avLst/>
            <a:gdLst/>
            <a:ahLst/>
            <a:cxnLst/>
            <a:rect l="l" t="t" r="r" b="b"/>
            <a:pathLst>
              <a:path w="411480" h="1417320">
                <a:moveTo>
                  <a:pt x="411480" y="0"/>
                </a:moveTo>
                <a:lnTo>
                  <a:pt x="0" y="0"/>
                </a:lnTo>
                <a:lnTo>
                  <a:pt x="82296" y="1417320"/>
                </a:lnTo>
                <a:lnTo>
                  <a:pt x="365760" y="1417320"/>
                </a:lnTo>
                <a:close/>
              </a:path>
            </a:pathLst>
          </a:custGeom>
          <a:solidFill>
            <a:srgbClr val="F8E4D4"/>
          </a:solidFill>
          <a:ln w="12700">
            <a:solidFill>
              <a:srgbClr val="C9A88A"/>
            </a:solidFill>
            <a:prstDash val="solid"/>
          </a:ln>
        </p:spPr>
      </p:sp>
      <p:sp>
        <p:nvSpPr>
          <p:cNvPr id="14" name="Shape 12"/>
          <p:cNvSpPr/>
          <p:nvPr/>
        </p:nvSpPr>
        <p:spPr>
          <a:xfrm>
            <a:off x="1188720" y="2331720"/>
            <a:ext cx="1097280" cy="1691640"/>
          </a:xfrm>
          <a:prstGeom prst="roundRect">
            <a:avLst>
              <a:gd name="adj" fmla="val 15000"/>
            </a:avLst>
          </a:prstGeom>
          <a:solidFill>
            <a:srgbClr val="F8E4D4"/>
          </a:solidFill>
          <a:ln w="12700">
            <a:solidFill>
              <a:srgbClr val="C9A88A"/>
            </a:solidFill>
            <a:prstDash val="solid"/>
          </a:ln>
        </p:spPr>
      </p:sp>
      <p:sp>
        <p:nvSpPr>
          <p:cNvPr id="15" name="Shape 13"/>
          <p:cNvSpPr/>
          <p:nvPr/>
        </p:nvSpPr>
        <p:spPr>
          <a:xfrm>
            <a:off x="1627632" y="2176272"/>
            <a:ext cx="219456" cy="201168"/>
          </a:xfrm>
          <a:prstGeom prst="rect">
            <a:avLst/>
          </a:prstGeom>
          <a:solidFill>
            <a:srgbClr val="F8E4D4"/>
          </a:solidFill>
          <a:ln/>
        </p:spPr>
      </p:sp>
      <p:sp>
        <p:nvSpPr>
          <p:cNvPr id="16" name="Shape 14"/>
          <p:cNvSpPr/>
          <p:nvPr/>
        </p:nvSpPr>
        <p:spPr>
          <a:xfrm>
            <a:off x="1380744" y="1371600"/>
            <a:ext cx="713232" cy="822960"/>
          </a:xfrm>
          <a:prstGeom prst="ellipse">
            <a:avLst/>
          </a:prstGeom>
          <a:solidFill>
            <a:srgbClr val="F8E4D4"/>
          </a:solidFill>
          <a:ln w="12700">
            <a:solidFill>
              <a:srgbClr val="C9A88A"/>
            </a:solidFill>
            <a:prstDash val="solid"/>
          </a:ln>
        </p:spPr>
      </p:sp>
      <p:sp>
        <p:nvSpPr>
          <p:cNvPr id="17" name="Shape 15"/>
          <p:cNvSpPr/>
          <p:nvPr/>
        </p:nvSpPr>
        <p:spPr>
          <a:xfrm>
            <a:off x="1463040" y="1453896"/>
            <a:ext cx="548640" cy="438912"/>
          </a:xfrm>
          <a:prstGeom prst="ellipse">
            <a:avLst/>
          </a:prstGeom>
          <a:solidFill>
            <a:srgbClr val="F2A0A6"/>
          </a:solidFill>
          <a:ln w="15875">
            <a:solidFill>
              <a:srgbClr val="8E2A33"/>
            </a:solidFill>
            <a:prstDash val="solid"/>
          </a:ln>
        </p:spPr>
      </p:sp>
      <p:sp>
        <p:nvSpPr>
          <p:cNvPr id="18" name="Shape 16"/>
          <p:cNvSpPr/>
          <p:nvPr/>
        </p:nvSpPr>
        <p:spPr>
          <a:xfrm>
            <a:off x="1554480" y="1563624"/>
            <a:ext cx="365760" cy="43891"/>
          </a:xfrm>
          <a:prstGeom prst="line">
            <a:avLst/>
          </a:prstGeom>
          <a:noFill/>
          <a:ln w="9525">
            <a:solidFill>
              <a:srgbClr val="C76A72"/>
            </a:solidFill>
            <a:prstDash val="solid"/>
          </a:ln>
        </p:spPr>
      </p:sp>
      <p:sp>
        <p:nvSpPr>
          <p:cNvPr id="19" name="Shape 17"/>
          <p:cNvSpPr/>
          <p:nvPr/>
        </p:nvSpPr>
        <p:spPr>
          <a:xfrm>
            <a:off x="1554480" y="1673352"/>
            <a:ext cx="365760" cy="91"/>
          </a:xfrm>
          <a:prstGeom prst="line">
            <a:avLst/>
          </a:prstGeom>
          <a:noFill/>
          <a:ln w="9525">
            <a:solidFill>
              <a:srgbClr val="C76A72"/>
            </a:solidFill>
            <a:prstDash val="solid"/>
          </a:ln>
        </p:spPr>
      </p:sp>
      <p:sp>
        <p:nvSpPr>
          <p:cNvPr id="20" name="Shape 18"/>
          <p:cNvSpPr/>
          <p:nvPr/>
        </p:nvSpPr>
        <p:spPr>
          <a:xfrm flipV="1">
            <a:off x="1554480" y="1739189"/>
            <a:ext cx="365760" cy="43891"/>
          </a:xfrm>
          <a:prstGeom prst="line">
            <a:avLst/>
          </a:prstGeom>
          <a:noFill/>
          <a:ln w="9525">
            <a:solidFill>
              <a:srgbClr val="C76A72"/>
            </a:solidFill>
            <a:prstDash val="solid"/>
          </a:ln>
        </p:spPr>
      </p:sp>
      <p:sp>
        <p:nvSpPr>
          <p:cNvPr id="21" name="Shape 19"/>
          <p:cNvSpPr/>
          <p:nvPr/>
        </p:nvSpPr>
        <p:spPr>
          <a:xfrm>
            <a:off x="1737360" y="1883664"/>
            <a:ext cx="91" cy="1956816"/>
          </a:xfrm>
          <a:prstGeom prst="line">
            <a:avLst/>
          </a:prstGeom>
          <a:noFill/>
          <a:ln w="76200">
            <a:solidFill>
              <a:srgbClr val="D9534F"/>
            </a:solidFill>
            <a:prstDash val="solid"/>
          </a:ln>
        </p:spPr>
      </p:sp>
      <p:sp>
        <p:nvSpPr>
          <p:cNvPr id="22" name="Shape 20"/>
          <p:cNvSpPr/>
          <p:nvPr/>
        </p:nvSpPr>
        <p:spPr>
          <a:xfrm flipH="1">
            <a:off x="1234440" y="2514600"/>
            <a:ext cx="502920" cy="45720"/>
          </a:xfrm>
          <a:prstGeom prst="line">
            <a:avLst/>
          </a:prstGeom>
          <a:noFill/>
          <a:ln w="25400">
            <a:solidFill>
              <a:srgbClr val="E0A800"/>
            </a:solidFill>
            <a:prstDash val="solid"/>
          </a:ln>
        </p:spPr>
      </p:sp>
      <p:sp>
        <p:nvSpPr>
          <p:cNvPr id="23" name="Shape 21"/>
          <p:cNvSpPr/>
          <p:nvPr/>
        </p:nvSpPr>
        <p:spPr>
          <a:xfrm flipH="1">
            <a:off x="841248" y="2560320"/>
            <a:ext cx="393192" cy="1261872"/>
          </a:xfrm>
          <a:prstGeom prst="line">
            <a:avLst/>
          </a:prstGeom>
          <a:noFill/>
          <a:ln w="25400">
            <a:solidFill>
              <a:srgbClr val="E0A800"/>
            </a:solidFill>
            <a:prstDash val="solid"/>
          </a:ln>
        </p:spPr>
      </p:sp>
      <p:sp>
        <p:nvSpPr>
          <p:cNvPr id="24" name="Shape 22"/>
          <p:cNvSpPr/>
          <p:nvPr/>
        </p:nvSpPr>
        <p:spPr>
          <a:xfrm>
            <a:off x="1737360" y="2514600"/>
            <a:ext cx="502920" cy="45720"/>
          </a:xfrm>
          <a:prstGeom prst="line">
            <a:avLst/>
          </a:prstGeom>
          <a:noFill/>
          <a:ln w="25400">
            <a:solidFill>
              <a:srgbClr val="E0A800"/>
            </a:solidFill>
            <a:prstDash val="solid"/>
          </a:ln>
        </p:spPr>
      </p:sp>
      <p:sp>
        <p:nvSpPr>
          <p:cNvPr id="25" name="Shape 23"/>
          <p:cNvSpPr/>
          <p:nvPr/>
        </p:nvSpPr>
        <p:spPr>
          <a:xfrm>
            <a:off x="2240280" y="2560320"/>
            <a:ext cx="393192" cy="1261872"/>
          </a:xfrm>
          <a:prstGeom prst="line">
            <a:avLst/>
          </a:prstGeom>
          <a:noFill/>
          <a:ln w="25400">
            <a:solidFill>
              <a:srgbClr val="E0A800"/>
            </a:solidFill>
            <a:prstDash val="solid"/>
          </a:ln>
        </p:spPr>
      </p:sp>
      <p:sp>
        <p:nvSpPr>
          <p:cNvPr id="26" name="Shape 24"/>
          <p:cNvSpPr/>
          <p:nvPr/>
        </p:nvSpPr>
        <p:spPr>
          <a:xfrm flipH="1">
            <a:off x="1508760" y="3749040"/>
            <a:ext cx="228600" cy="228600"/>
          </a:xfrm>
          <a:prstGeom prst="line">
            <a:avLst/>
          </a:prstGeom>
          <a:noFill/>
          <a:ln w="25400">
            <a:solidFill>
              <a:srgbClr val="E0A800"/>
            </a:solidFill>
            <a:prstDash val="solid"/>
          </a:ln>
        </p:spPr>
      </p:sp>
      <p:sp>
        <p:nvSpPr>
          <p:cNvPr id="27" name="Shape 25"/>
          <p:cNvSpPr/>
          <p:nvPr/>
        </p:nvSpPr>
        <p:spPr>
          <a:xfrm flipH="1">
            <a:off x="1490472" y="3977640"/>
            <a:ext cx="18288" cy="1188720"/>
          </a:xfrm>
          <a:prstGeom prst="line">
            <a:avLst/>
          </a:prstGeom>
          <a:noFill/>
          <a:ln w="25400">
            <a:solidFill>
              <a:srgbClr val="E0A800"/>
            </a:solidFill>
            <a:prstDash val="solid"/>
          </a:ln>
        </p:spPr>
      </p:sp>
      <p:sp>
        <p:nvSpPr>
          <p:cNvPr id="28" name="Shape 26"/>
          <p:cNvSpPr/>
          <p:nvPr/>
        </p:nvSpPr>
        <p:spPr>
          <a:xfrm>
            <a:off x="1737360" y="3749040"/>
            <a:ext cx="228600" cy="228600"/>
          </a:xfrm>
          <a:prstGeom prst="line">
            <a:avLst/>
          </a:prstGeom>
          <a:noFill/>
          <a:ln w="25400">
            <a:solidFill>
              <a:srgbClr val="E0A800"/>
            </a:solidFill>
            <a:prstDash val="solid"/>
          </a:ln>
        </p:spPr>
      </p:sp>
      <p:sp>
        <p:nvSpPr>
          <p:cNvPr id="29" name="Shape 27"/>
          <p:cNvSpPr/>
          <p:nvPr/>
        </p:nvSpPr>
        <p:spPr>
          <a:xfrm>
            <a:off x="1965960" y="3977640"/>
            <a:ext cx="18288" cy="1188720"/>
          </a:xfrm>
          <a:prstGeom prst="line">
            <a:avLst/>
          </a:prstGeom>
          <a:noFill/>
          <a:ln w="25400">
            <a:solidFill>
              <a:srgbClr val="E0A800"/>
            </a:solidFill>
            <a:prstDash val="solid"/>
          </a:ln>
        </p:spPr>
      </p:sp>
      <p:sp>
        <p:nvSpPr>
          <p:cNvPr id="30" name="Shape 28"/>
          <p:cNvSpPr/>
          <p:nvPr/>
        </p:nvSpPr>
        <p:spPr>
          <a:xfrm flipH="1">
            <a:off x="1353312" y="2880360"/>
            <a:ext cx="384048" cy="109728"/>
          </a:xfrm>
          <a:prstGeom prst="line">
            <a:avLst/>
          </a:prstGeom>
          <a:noFill/>
          <a:ln w="19050">
            <a:solidFill>
              <a:srgbClr val="E0A800"/>
            </a:solidFill>
            <a:prstDash val="solid"/>
          </a:ln>
        </p:spPr>
      </p:sp>
      <p:sp>
        <p:nvSpPr>
          <p:cNvPr id="31" name="Shape 29"/>
          <p:cNvSpPr/>
          <p:nvPr/>
        </p:nvSpPr>
        <p:spPr>
          <a:xfrm>
            <a:off x="1737360" y="2880360"/>
            <a:ext cx="384048" cy="109728"/>
          </a:xfrm>
          <a:prstGeom prst="line">
            <a:avLst/>
          </a:prstGeom>
          <a:noFill/>
          <a:ln w="19050">
            <a:solidFill>
              <a:srgbClr val="E0A800"/>
            </a:solidFill>
            <a:prstDash val="solid"/>
          </a:ln>
        </p:spPr>
      </p:sp>
      <p:sp>
        <p:nvSpPr>
          <p:cNvPr id="32" name="Shape 30"/>
          <p:cNvSpPr/>
          <p:nvPr/>
        </p:nvSpPr>
        <p:spPr>
          <a:xfrm flipH="1">
            <a:off x="1353312" y="3200400"/>
            <a:ext cx="384048" cy="109728"/>
          </a:xfrm>
          <a:prstGeom prst="line">
            <a:avLst/>
          </a:prstGeom>
          <a:noFill/>
          <a:ln w="19050">
            <a:solidFill>
              <a:srgbClr val="E0A800"/>
            </a:solidFill>
            <a:prstDash val="solid"/>
          </a:ln>
        </p:spPr>
      </p:sp>
      <p:sp>
        <p:nvSpPr>
          <p:cNvPr id="33" name="Shape 31"/>
          <p:cNvSpPr/>
          <p:nvPr/>
        </p:nvSpPr>
        <p:spPr>
          <a:xfrm>
            <a:off x="1737360" y="3200400"/>
            <a:ext cx="384048" cy="109728"/>
          </a:xfrm>
          <a:prstGeom prst="line">
            <a:avLst/>
          </a:prstGeom>
          <a:noFill/>
          <a:ln w="19050">
            <a:solidFill>
              <a:srgbClr val="E0A800"/>
            </a:solidFill>
            <a:prstDash val="solid"/>
          </a:ln>
        </p:spPr>
      </p:sp>
      <p:sp>
        <p:nvSpPr>
          <p:cNvPr id="34" name="Shape 32"/>
          <p:cNvSpPr/>
          <p:nvPr/>
        </p:nvSpPr>
        <p:spPr>
          <a:xfrm flipH="1">
            <a:off x="1353312" y="3520440"/>
            <a:ext cx="384048" cy="109728"/>
          </a:xfrm>
          <a:prstGeom prst="line">
            <a:avLst/>
          </a:prstGeom>
          <a:noFill/>
          <a:ln w="19050">
            <a:solidFill>
              <a:srgbClr val="E0A800"/>
            </a:solidFill>
            <a:prstDash val="solid"/>
          </a:ln>
        </p:spPr>
      </p:sp>
      <p:sp>
        <p:nvSpPr>
          <p:cNvPr id="35" name="Shape 33"/>
          <p:cNvSpPr/>
          <p:nvPr/>
        </p:nvSpPr>
        <p:spPr>
          <a:xfrm>
            <a:off x="1737360" y="3520440"/>
            <a:ext cx="384048" cy="109728"/>
          </a:xfrm>
          <a:prstGeom prst="line">
            <a:avLst/>
          </a:prstGeom>
          <a:noFill/>
          <a:ln w="19050">
            <a:solidFill>
              <a:srgbClr val="E0A800"/>
            </a:solidFill>
            <a:prstDash val="solid"/>
          </a:ln>
        </p:spPr>
      </p:sp>
      <p:sp>
        <p:nvSpPr>
          <p:cNvPr id="36" name="Text 34"/>
          <p:cNvSpPr/>
          <p:nvPr/>
        </p:nvSpPr>
        <p:spPr>
          <a:xfrm>
            <a:off x="2697480" y="1481328"/>
            <a:ext cx="114300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brain</a:t>
            </a:r>
            <a:endParaRPr lang="en-US" sz="1100" dirty="0"/>
          </a:p>
        </p:txBody>
      </p:sp>
      <p:sp>
        <p:nvSpPr>
          <p:cNvPr id="37" name="Shape 35"/>
          <p:cNvSpPr/>
          <p:nvPr/>
        </p:nvSpPr>
        <p:spPr>
          <a:xfrm flipV="1">
            <a:off x="1965960" y="1609344"/>
            <a:ext cx="704088" cy="36576"/>
          </a:xfrm>
          <a:prstGeom prst="line">
            <a:avLst/>
          </a:prstGeom>
          <a:noFill/>
          <a:ln w="9525">
            <a:solidFill>
              <a:srgbClr val="5A6275"/>
            </a:solidFill>
            <a:prstDash val="solid"/>
          </a:ln>
        </p:spPr>
      </p:sp>
      <p:sp>
        <p:nvSpPr>
          <p:cNvPr id="38" name="Text 36"/>
          <p:cNvSpPr/>
          <p:nvPr/>
        </p:nvSpPr>
        <p:spPr>
          <a:xfrm>
            <a:off x="2697480" y="2514600"/>
            <a:ext cx="114300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spinal cord</a:t>
            </a:r>
            <a:endParaRPr lang="en-US" sz="1100" dirty="0"/>
          </a:p>
        </p:txBody>
      </p:sp>
      <p:sp>
        <p:nvSpPr>
          <p:cNvPr id="39" name="Shape 37"/>
          <p:cNvSpPr/>
          <p:nvPr/>
        </p:nvSpPr>
        <p:spPr>
          <a:xfrm flipV="1">
            <a:off x="1783080" y="2642616"/>
            <a:ext cx="886968" cy="54864"/>
          </a:xfrm>
          <a:prstGeom prst="line">
            <a:avLst/>
          </a:prstGeom>
          <a:noFill/>
          <a:ln w="9525">
            <a:solidFill>
              <a:srgbClr val="5A6275"/>
            </a:solidFill>
            <a:prstDash val="solid"/>
          </a:ln>
        </p:spPr>
      </p:sp>
      <p:sp>
        <p:nvSpPr>
          <p:cNvPr id="40" name="Shape 38"/>
          <p:cNvSpPr/>
          <p:nvPr/>
        </p:nvSpPr>
        <p:spPr>
          <a:xfrm>
            <a:off x="3611880" y="1463040"/>
            <a:ext cx="128016" cy="1325880"/>
          </a:xfrm>
          <a:prstGeom prst="rightBrace">
            <a:avLst/>
          </a:prstGeom>
          <a:noFill/>
          <a:ln w="19050">
            <a:solidFill>
              <a:srgbClr val="D9534F"/>
            </a:solidFill>
            <a:prstDash val="solid"/>
          </a:ln>
        </p:spPr>
      </p:sp>
      <p:sp>
        <p:nvSpPr>
          <p:cNvPr id="41" name="Text 39"/>
          <p:cNvSpPr/>
          <p:nvPr/>
        </p:nvSpPr>
        <p:spPr>
          <a:xfrm>
            <a:off x="2697480" y="2852928"/>
            <a:ext cx="1188720" cy="411480"/>
          </a:xfrm>
          <a:prstGeom prst="rect">
            <a:avLst/>
          </a:prstGeom>
          <a:noFill/>
          <a:ln/>
        </p:spPr>
        <p:txBody>
          <a:bodyPr wrap="square" lIns="0" tIns="0" rIns="0" bIns="0" rtlCol="0" anchor="t"/>
          <a:lstStyle/>
          <a:p>
            <a:pPr algn="l" indent="0" marL="0">
              <a:buNone/>
            </a:pPr>
            <a:r>
              <a:rPr lang="en-US" sz="1000" dirty="0">
                <a:solidFill>
                  <a:srgbClr val="8E2A33"/>
                </a:solidFill>
                <a:latin typeface="Calibri" pitchFamily="34" charset="0"/>
                <a:ea typeface="Calibri" pitchFamily="34" charset="-122"/>
                <a:cs typeface="Calibri" pitchFamily="34" charset="-120"/>
              </a:rPr>
              <a:t>= </a:t>
            </a:r>
            <a:r>
              <a:rPr lang="en-US" sz="1000" b="1" dirty="0">
                <a:solidFill>
                  <a:srgbClr val="8E2A33"/>
                </a:solidFill>
                <a:latin typeface="Calibri" pitchFamily="34" charset="0"/>
                <a:ea typeface="Calibri" pitchFamily="34" charset="-122"/>
                <a:cs typeface="Calibri" pitchFamily="34" charset="-120"/>
              </a:rPr>
              <a:t>CNS</a:t>
            </a:r>
            <a:r>
              <a:rPr lang="en-US" sz="1000" dirty="0">
                <a:solidFill>
                  <a:srgbClr val="8E2A33"/>
                </a:solidFill>
                <a:latin typeface="Calibri" pitchFamily="34" charset="0"/>
                <a:ea typeface="Calibri" pitchFamily="34" charset="-122"/>
                <a:cs typeface="Calibri" pitchFamily="34" charset="-120"/>
              </a:rPr>
              <a:t> (central nervous system)</a:t>
            </a:r>
            <a:endParaRPr lang="en-US" sz="1000" dirty="0"/>
          </a:p>
        </p:txBody>
      </p:sp>
      <p:sp>
        <p:nvSpPr>
          <p:cNvPr id="42" name="Text 40"/>
          <p:cNvSpPr/>
          <p:nvPr/>
        </p:nvSpPr>
        <p:spPr>
          <a:xfrm>
            <a:off x="2697480" y="4251960"/>
            <a:ext cx="1143000" cy="41148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nerves</a:t>
            </a:r>
            <a:r>
              <a:rPr lang="en-US" sz="1000" dirty="0">
                <a:solidFill>
                  <a:srgbClr val="262B3A"/>
                </a:solidFill>
                <a:latin typeface="Calibri" pitchFamily="34" charset="0"/>
                <a:ea typeface="Calibri" pitchFamily="34" charset="-122"/>
                <a:cs typeface="Calibri" pitchFamily="34" charset="-120"/>
              </a:rPr>
              <a:t>: peripheral nervous system</a:t>
            </a:r>
            <a:endParaRPr lang="en-US" sz="1000" dirty="0"/>
          </a:p>
        </p:txBody>
      </p:sp>
      <p:sp>
        <p:nvSpPr>
          <p:cNvPr id="43" name="Shape 41"/>
          <p:cNvSpPr/>
          <p:nvPr/>
        </p:nvSpPr>
        <p:spPr>
          <a:xfrm flipV="1">
            <a:off x="1993392" y="4434840"/>
            <a:ext cx="676656" cy="45720"/>
          </a:xfrm>
          <a:prstGeom prst="line">
            <a:avLst/>
          </a:prstGeom>
          <a:noFill/>
          <a:ln w="9525">
            <a:solidFill>
              <a:srgbClr val="5A6275"/>
            </a:solidFill>
            <a:prstDash val="solid"/>
          </a:ln>
        </p:spPr>
      </p:sp>
      <p:sp>
        <p:nvSpPr>
          <p:cNvPr id="44" name="Shape 42"/>
          <p:cNvSpPr/>
          <p:nvPr/>
        </p:nvSpPr>
        <p:spPr>
          <a:xfrm>
            <a:off x="3931920" y="1325880"/>
            <a:ext cx="1920240" cy="457200"/>
          </a:xfrm>
          <a:prstGeom prst="roundRect">
            <a:avLst>
              <a:gd name="adj" fmla="val 12000"/>
            </a:avLst>
          </a:prstGeom>
          <a:solidFill>
            <a:srgbClr val="FFF4E0"/>
          </a:solidFill>
          <a:ln w="15875">
            <a:solidFill>
              <a:srgbClr val="E39A2F"/>
            </a:solidFill>
            <a:prstDash val="solid"/>
          </a:ln>
        </p:spPr>
      </p:sp>
      <p:sp>
        <p:nvSpPr>
          <p:cNvPr id="45" name="Text 43"/>
          <p:cNvSpPr/>
          <p:nvPr/>
        </p:nvSpPr>
        <p:spPr>
          <a:xfrm>
            <a:off x="3977640" y="1325880"/>
            <a:ext cx="1828800"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Stimulus</a:t>
            </a:r>
            <a:endParaRPr lang="en-US" sz="1050" dirty="0"/>
          </a:p>
          <a:p>
            <a:pPr algn="ctr" indent="0" marL="0">
              <a:buNone/>
            </a:pPr>
            <a:r>
              <a:rPr lang="en-US" sz="1000" dirty="0">
                <a:solidFill>
                  <a:srgbClr val="6B7385"/>
                </a:solidFill>
                <a:latin typeface="Calibri" pitchFamily="34" charset="0"/>
                <a:ea typeface="Calibri" pitchFamily="34" charset="-122"/>
                <a:cs typeface="Calibri" pitchFamily="34" charset="-120"/>
              </a:rPr>
              <a:t>change, e.g. heat</a:t>
            </a:r>
            <a:endParaRPr lang="en-US" sz="1050" dirty="0"/>
          </a:p>
        </p:txBody>
      </p:sp>
      <p:sp>
        <p:nvSpPr>
          <p:cNvPr id="46" name="Shape 44"/>
          <p:cNvSpPr/>
          <p:nvPr/>
        </p:nvSpPr>
        <p:spPr>
          <a:xfrm>
            <a:off x="4892040" y="1783080"/>
            <a:ext cx="91" cy="128016"/>
          </a:xfrm>
          <a:prstGeom prst="line">
            <a:avLst/>
          </a:prstGeom>
          <a:noFill/>
          <a:ln w="19050">
            <a:solidFill>
              <a:srgbClr val="133536"/>
            </a:solidFill>
            <a:prstDash val="solid"/>
            <a:tailEnd type="triangle"/>
          </a:ln>
        </p:spPr>
      </p:sp>
      <p:sp>
        <p:nvSpPr>
          <p:cNvPr id="47" name="Shape 45"/>
          <p:cNvSpPr/>
          <p:nvPr/>
        </p:nvSpPr>
        <p:spPr>
          <a:xfrm>
            <a:off x="3931920" y="1911096"/>
            <a:ext cx="1920240" cy="457200"/>
          </a:xfrm>
          <a:prstGeom prst="roundRect">
            <a:avLst>
              <a:gd name="adj" fmla="val 12000"/>
            </a:avLst>
          </a:prstGeom>
          <a:solidFill>
            <a:srgbClr val="FFFFFF"/>
          </a:solidFill>
          <a:ln w="15875">
            <a:solidFill>
              <a:srgbClr val="2F6DB5"/>
            </a:solidFill>
            <a:prstDash val="solid"/>
          </a:ln>
        </p:spPr>
      </p:sp>
      <p:sp>
        <p:nvSpPr>
          <p:cNvPr id="48" name="Text 46"/>
          <p:cNvSpPr/>
          <p:nvPr/>
        </p:nvSpPr>
        <p:spPr>
          <a:xfrm>
            <a:off x="3977640" y="1911096"/>
            <a:ext cx="1828800"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Receptor</a:t>
            </a:r>
            <a:endParaRPr lang="en-US" sz="1050" dirty="0"/>
          </a:p>
          <a:p>
            <a:pPr algn="ctr" indent="0" marL="0">
              <a:buNone/>
            </a:pPr>
            <a:r>
              <a:rPr lang="en-US" sz="1000" dirty="0">
                <a:solidFill>
                  <a:srgbClr val="6B7385"/>
                </a:solidFill>
                <a:latin typeface="Calibri" pitchFamily="34" charset="0"/>
                <a:ea typeface="Calibri" pitchFamily="34" charset="-122"/>
                <a:cs typeface="Calibri" pitchFamily="34" charset="-120"/>
              </a:rPr>
              <a:t>detects it</a:t>
            </a:r>
            <a:endParaRPr lang="en-US" sz="1050" dirty="0"/>
          </a:p>
        </p:txBody>
      </p:sp>
      <p:sp>
        <p:nvSpPr>
          <p:cNvPr id="49" name="Shape 47"/>
          <p:cNvSpPr/>
          <p:nvPr/>
        </p:nvSpPr>
        <p:spPr>
          <a:xfrm>
            <a:off x="4892040" y="2368296"/>
            <a:ext cx="91" cy="128016"/>
          </a:xfrm>
          <a:prstGeom prst="line">
            <a:avLst/>
          </a:prstGeom>
          <a:noFill/>
          <a:ln w="19050">
            <a:solidFill>
              <a:srgbClr val="133536"/>
            </a:solidFill>
            <a:prstDash val="solid"/>
            <a:tailEnd type="triangle"/>
          </a:ln>
        </p:spPr>
      </p:sp>
      <p:sp>
        <p:nvSpPr>
          <p:cNvPr id="50" name="Shape 48"/>
          <p:cNvSpPr/>
          <p:nvPr/>
        </p:nvSpPr>
        <p:spPr>
          <a:xfrm>
            <a:off x="3931920" y="2496312"/>
            <a:ext cx="1920240" cy="457200"/>
          </a:xfrm>
          <a:prstGeom prst="roundRect">
            <a:avLst>
              <a:gd name="adj" fmla="val 12000"/>
            </a:avLst>
          </a:prstGeom>
          <a:solidFill>
            <a:srgbClr val="FFFFFF"/>
          </a:solidFill>
          <a:ln w="15875">
            <a:solidFill>
              <a:srgbClr val="2F6DB5"/>
            </a:solidFill>
            <a:prstDash val="solid"/>
          </a:ln>
        </p:spPr>
      </p:sp>
      <p:sp>
        <p:nvSpPr>
          <p:cNvPr id="51" name="Text 49"/>
          <p:cNvSpPr/>
          <p:nvPr/>
        </p:nvSpPr>
        <p:spPr>
          <a:xfrm>
            <a:off x="3977640" y="2496312"/>
            <a:ext cx="1828800"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Sensory neurone</a:t>
            </a:r>
            <a:endParaRPr lang="en-US" sz="1050" dirty="0"/>
          </a:p>
          <a:p>
            <a:pPr algn="ctr" indent="0" marL="0">
              <a:buNone/>
            </a:pPr>
            <a:r>
              <a:rPr lang="en-US" sz="1000" dirty="0">
                <a:solidFill>
                  <a:srgbClr val="6B7385"/>
                </a:solidFill>
                <a:latin typeface="Calibri" pitchFamily="34" charset="0"/>
                <a:ea typeface="Calibri" pitchFamily="34" charset="-122"/>
                <a:cs typeface="Calibri" pitchFamily="34" charset="-120"/>
              </a:rPr>
              <a:t>impulse to CNS</a:t>
            </a:r>
            <a:endParaRPr lang="en-US" sz="1050" dirty="0"/>
          </a:p>
        </p:txBody>
      </p:sp>
      <p:sp>
        <p:nvSpPr>
          <p:cNvPr id="52" name="Shape 50"/>
          <p:cNvSpPr/>
          <p:nvPr/>
        </p:nvSpPr>
        <p:spPr>
          <a:xfrm>
            <a:off x="4892040" y="2953512"/>
            <a:ext cx="91" cy="128016"/>
          </a:xfrm>
          <a:prstGeom prst="line">
            <a:avLst/>
          </a:prstGeom>
          <a:noFill/>
          <a:ln w="19050">
            <a:solidFill>
              <a:srgbClr val="133536"/>
            </a:solidFill>
            <a:prstDash val="solid"/>
            <a:tailEnd type="triangle"/>
          </a:ln>
        </p:spPr>
      </p:sp>
      <p:sp>
        <p:nvSpPr>
          <p:cNvPr id="53" name="Shape 51"/>
          <p:cNvSpPr/>
          <p:nvPr/>
        </p:nvSpPr>
        <p:spPr>
          <a:xfrm>
            <a:off x="3931920" y="3081528"/>
            <a:ext cx="1920240" cy="457200"/>
          </a:xfrm>
          <a:prstGeom prst="roundRect">
            <a:avLst>
              <a:gd name="adj" fmla="val 12000"/>
            </a:avLst>
          </a:prstGeom>
          <a:solidFill>
            <a:srgbClr val="FBE3E5"/>
          </a:solidFill>
          <a:ln w="15875">
            <a:solidFill>
              <a:srgbClr val="D9534F"/>
            </a:solidFill>
            <a:prstDash val="solid"/>
          </a:ln>
        </p:spPr>
      </p:sp>
      <p:sp>
        <p:nvSpPr>
          <p:cNvPr id="54" name="Text 52"/>
          <p:cNvSpPr/>
          <p:nvPr/>
        </p:nvSpPr>
        <p:spPr>
          <a:xfrm>
            <a:off x="3977640" y="3081528"/>
            <a:ext cx="1828800"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CNS (coordinator)</a:t>
            </a:r>
            <a:endParaRPr lang="en-US" sz="1050" dirty="0"/>
          </a:p>
          <a:p>
            <a:pPr algn="ctr" indent="0" marL="0">
              <a:buNone/>
            </a:pPr>
            <a:r>
              <a:rPr lang="en-US" sz="1000" dirty="0">
                <a:solidFill>
                  <a:srgbClr val="6B7385"/>
                </a:solidFill>
                <a:latin typeface="Calibri" pitchFamily="34" charset="0"/>
                <a:ea typeface="Calibri" pitchFamily="34" charset="-122"/>
                <a:cs typeface="Calibri" pitchFamily="34" charset="-120"/>
              </a:rPr>
              <a:t>brain or spinal cord</a:t>
            </a:r>
            <a:endParaRPr lang="en-US" sz="1050" dirty="0"/>
          </a:p>
        </p:txBody>
      </p:sp>
      <p:sp>
        <p:nvSpPr>
          <p:cNvPr id="55" name="Shape 53"/>
          <p:cNvSpPr/>
          <p:nvPr/>
        </p:nvSpPr>
        <p:spPr>
          <a:xfrm>
            <a:off x="4892040" y="3538728"/>
            <a:ext cx="91" cy="128016"/>
          </a:xfrm>
          <a:prstGeom prst="line">
            <a:avLst/>
          </a:prstGeom>
          <a:noFill/>
          <a:ln w="19050">
            <a:solidFill>
              <a:srgbClr val="133536"/>
            </a:solidFill>
            <a:prstDash val="solid"/>
            <a:tailEnd type="triangle"/>
          </a:ln>
        </p:spPr>
      </p:sp>
      <p:sp>
        <p:nvSpPr>
          <p:cNvPr id="56" name="Shape 54"/>
          <p:cNvSpPr/>
          <p:nvPr/>
        </p:nvSpPr>
        <p:spPr>
          <a:xfrm>
            <a:off x="3931920" y="3666744"/>
            <a:ext cx="1920240" cy="457200"/>
          </a:xfrm>
          <a:prstGeom prst="roundRect">
            <a:avLst>
              <a:gd name="adj" fmla="val 12000"/>
            </a:avLst>
          </a:prstGeom>
          <a:solidFill>
            <a:srgbClr val="FFFFFF"/>
          </a:solidFill>
          <a:ln w="15875">
            <a:solidFill>
              <a:srgbClr val="C8414C"/>
            </a:solidFill>
            <a:prstDash val="solid"/>
          </a:ln>
        </p:spPr>
      </p:sp>
      <p:sp>
        <p:nvSpPr>
          <p:cNvPr id="57" name="Text 55"/>
          <p:cNvSpPr/>
          <p:nvPr/>
        </p:nvSpPr>
        <p:spPr>
          <a:xfrm>
            <a:off x="3977640" y="3666744"/>
            <a:ext cx="1828800"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Motor neurone</a:t>
            </a:r>
            <a:endParaRPr lang="en-US" sz="1050" dirty="0"/>
          </a:p>
          <a:p>
            <a:pPr algn="ctr" indent="0" marL="0">
              <a:buNone/>
            </a:pPr>
            <a:r>
              <a:rPr lang="en-US" sz="1000" dirty="0">
                <a:solidFill>
                  <a:srgbClr val="6B7385"/>
                </a:solidFill>
                <a:latin typeface="Calibri" pitchFamily="34" charset="0"/>
                <a:ea typeface="Calibri" pitchFamily="34" charset="-122"/>
                <a:cs typeface="Calibri" pitchFamily="34" charset="-120"/>
              </a:rPr>
              <a:t>impulse to effector</a:t>
            </a:r>
            <a:endParaRPr lang="en-US" sz="1050" dirty="0"/>
          </a:p>
        </p:txBody>
      </p:sp>
      <p:sp>
        <p:nvSpPr>
          <p:cNvPr id="58" name="Shape 56"/>
          <p:cNvSpPr/>
          <p:nvPr/>
        </p:nvSpPr>
        <p:spPr>
          <a:xfrm>
            <a:off x="4892040" y="4123944"/>
            <a:ext cx="91" cy="128016"/>
          </a:xfrm>
          <a:prstGeom prst="line">
            <a:avLst/>
          </a:prstGeom>
          <a:noFill/>
          <a:ln w="19050">
            <a:solidFill>
              <a:srgbClr val="133536"/>
            </a:solidFill>
            <a:prstDash val="solid"/>
            <a:tailEnd type="triangle"/>
          </a:ln>
        </p:spPr>
      </p:sp>
      <p:sp>
        <p:nvSpPr>
          <p:cNvPr id="59" name="Shape 57"/>
          <p:cNvSpPr/>
          <p:nvPr/>
        </p:nvSpPr>
        <p:spPr>
          <a:xfrm>
            <a:off x="3931920" y="4251960"/>
            <a:ext cx="1920240" cy="457200"/>
          </a:xfrm>
          <a:prstGeom prst="roundRect">
            <a:avLst>
              <a:gd name="adj" fmla="val 12000"/>
            </a:avLst>
          </a:prstGeom>
          <a:solidFill>
            <a:srgbClr val="FFFFFF"/>
          </a:solidFill>
          <a:ln w="15875">
            <a:solidFill>
              <a:srgbClr val="C8414C"/>
            </a:solidFill>
            <a:prstDash val="solid"/>
          </a:ln>
        </p:spPr>
      </p:sp>
      <p:sp>
        <p:nvSpPr>
          <p:cNvPr id="60" name="Text 58"/>
          <p:cNvSpPr/>
          <p:nvPr/>
        </p:nvSpPr>
        <p:spPr>
          <a:xfrm>
            <a:off x="3977640" y="4251960"/>
            <a:ext cx="1828800"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Effector</a:t>
            </a:r>
            <a:endParaRPr lang="en-US" sz="1050" dirty="0"/>
          </a:p>
          <a:p>
            <a:pPr algn="ctr" indent="0" marL="0">
              <a:buNone/>
            </a:pPr>
            <a:r>
              <a:rPr lang="en-US" sz="1000" dirty="0">
                <a:solidFill>
                  <a:srgbClr val="6B7385"/>
                </a:solidFill>
                <a:latin typeface="Calibri" pitchFamily="34" charset="0"/>
                <a:ea typeface="Calibri" pitchFamily="34" charset="-122"/>
                <a:cs typeface="Calibri" pitchFamily="34" charset="-120"/>
              </a:rPr>
              <a:t>muscle or gland</a:t>
            </a:r>
            <a:endParaRPr lang="en-US" sz="1050" dirty="0"/>
          </a:p>
        </p:txBody>
      </p:sp>
      <p:sp>
        <p:nvSpPr>
          <p:cNvPr id="61" name="Shape 59"/>
          <p:cNvSpPr/>
          <p:nvPr/>
        </p:nvSpPr>
        <p:spPr>
          <a:xfrm>
            <a:off x="4892040" y="4709160"/>
            <a:ext cx="91" cy="128016"/>
          </a:xfrm>
          <a:prstGeom prst="line">
            <a:avLst/>
          </a:prstGeom>
          <a:noFill/>
          <a:ln w="19050">
            <a:solidFill>
              <a:srgbClr val="133536"/>
            </a:solidFill>
            <a:prstDash val="solid"/>
            <a:tailEnd type="triangle"/>
          </a:ln>
        </p:spPr>
      </p:sp>
      <p:sp>
        <p:nvSpPr>
          <p:cNvPr id="62" name="Shape 60"/>
          <p:cNvSpPr/>
          <p:nvPr/>
        </p:nvSpPr>
        <p:spPr>
          <a:xfrm>
            <a:off x="3931920" y="4837176"/>
            <a:ext cx="1920240" cy="457200"/>
          </a:xfrm>
          <a:prstGeom prst="roundRect">
            <a:avLst>
              <a:gd name="adj" fmla="val 12000"/>
            </a:avLst>
          </a:prstGeom>
          <a:solidFill>
            <a:srgbClr val="FFF4E0"/>
          </a:solidFill>
          <a:ln w="15875">
            <a:solidFill>
              <a:srgbClr val="E39A2F"/>
            </a:solidFill>
            <a:prstDash val="solid"/>
          </a:ln>
        </p:spPr>
      </p:sp>
      <p:sp>
        <p:nvSpPr>
          <p:cNvPr id="63" name="Text 61"/>
          <p:cNvSpPr/>
          <p:nvPr/>
        </p:nvSpPr>
        <p:spPr>
          <a:xfrm>
            <a:off x="3977640" y="4837176"/>
            <a:ext cx="1828800"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Response</a:t>
            </a:r>
            <a:endParaRPr lang="en-US" sz="1050" dirty="0"/>
          </a:p>
          <a:p>
            <a:pPr algn="ctr" indent="0" marL="0">
              <a:buNone/>
            </a:pPr>
            <a:r>
              <a:rPr lang="en-US" sz="1000" dirty="0">
                <a:solidFill>
                  <a:srgbClr val="6B7385"/>
                </a:solidFill>
                <a:latin typeface="Calibri" pitchFamily="34" charset="0"/>
                <a:ea typeface="Calibri" pitchFamily="34" charset="-122"/>
                <a:cs typeface="Calibri" pitchFamily="34" charset="-120"/>
              </a:rPr>
              <a:t>action</a:t>
            </a:r>
            <a:endParaRPr lang="en-US" sz="1050" dirty="0"/>
          </a:p>
        </p:txBody>
      </p:sp>
      <p:sp>
        <p:nvSpPr>
          <p:cNvPr id="64" name="Shape 62"/>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65" name="Text 6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Structure of the nervous system</a:t>
            </a:r>
            <a:endParaRPr lang="en-US" sz="1300" dirty="0"/>
          </a:p>
        </p:txBody>
      </p:sp>
      <p:sp>
        <p:nvSpPr>
          <p:cNvPr id="66" name="Text 6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stimulus</a:t>
            </a:r>
            <a:r>
              <a:rPr lang="en-US" sz="1250" dirty="0">
                <a:solidFill>
                  <a:srgbClr val="262B3A"/>
                </a:solidFill>
                <a:latin typeface="Calibri" pitchFamily="34" charset="0"/>
                <a:ea typeface="Calibri" pitchFamily="34" charset="-122"/>
                <a:cs typeface="Calibri" pitchFamily="34" charset="-120"/>
              </a:rPr>
              <a:t> is a change in the environment, inside or outside the body.</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The </a:t>
            </a:r>
            <a:r>
              <a:rPr lang="en-US" sz="1250" b="1" dirty="0">
                <a:solidFill>
                  <a:srgbClr val="262B3A"/>
                </a:solidFill>
                <a:latin typeface="Calibri" pitchFamily="34" charset="0"/>
                <a:ea typeface="Calibri" pitchFamily="34" charset="-122"/>
                <a:cs typeface="Calibri" pitchFamily="34" charset="-120"/>
              </a:rPr>
              <a:t>central nervous system (CNS)</a:t>
            </a:r>
            <a:r>
              <a:rPr lang="en-US" sz="1250" dirty="0">
                <a:solidFill>
                  <a:srgbClr val="262B3A"/>
                </a:solidFill>
                <a:latin typeface="Calibri" pitchFamily="34" charset="0"/>
                <a:ea typeface="Calibri" pitchFamily="34" charset="-122"/>
                <a:cs typeface="Calibri" pitchFamily="34" charset="-120"/>
              </a:rPr>
              <a:t> is the </a:t>
            </a:r>
            <a:r>
              <a:rPr lang="en-US" sz="1250" b="1" dirty="0">
                <a:solidFill>
                  <a:srgbClr val="262B3A"/>
                </a:solidFill>
                <a:latin typeface="Calibri" pitchFamily="34" charset="0"/>
                <a:ea typeface="Calibri" pitchFamily="34" charset="-122"/>
                <a:cs typeface="Calibri" pitchFamily="34" charset="-120"/>
              </a:rPr>
              <a:t>brain</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spinal cord</a:t>
            </a:r>
            <a:r>
              <a:rPr lang="en-US" sz="1250" dirty="0">
                <a:solidFill>
                  <a:srgbClr val="262B3A"/>
                </a:solidFill>
                <a:latin typeface="Calibri" pitchFamily="34" charset="0"/>
                <a:ea typeface="Calibri" pitchFamily="34" charset="-122"/>
                <a:cs typeface="Calibri" pitchFamily="34" charset="-120"/>
              </a:rPr>
              <a:t>. It is the </a:t>
            </a:r>
            <a:r>
              <a:rPr lang="en-US" sz="1250" b="1" dirty="0">
                <a:solidFill>
                  <a:srgbClr val="262B3A"/>
                </a:solidFill>
                <a:latin typeface="Calibri" pitchFamily="34" charset="0"/>
                <a:ea typeface="Calibri" pitchFamily="34" charset="-122"/>
                <a:cs typeface="Calibri" pitchFamily="34" charset="-120"/>
              </a:rPr>
              <a:t>coordinator</a:t>
            </a:r>
            <a:r>
              <a:rPr lang="en-US" sz="1250" dirty="0">
                <a:solidFill>
                  <a:srgbClr val="262B3A"/>
                </a:solidFill>
                <a:latin typeface="Calibri" pitchFamily="34" charset="0"/>
                <a:ea typeface="Calibri" pitchFamily="34" charset="-122"/>
                <a:cs typeface="Calibri" pitchFamily="34" charset="-120"/>
              </a:rPr>
              <a:t>: it processes information and sends instructions.</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Nerves connect the CNS to the rest of the body (the </a:t>
            </a:r>
            <a:r>
              <a:rPr lang="en-US" sz="1250" b="1" dirty="0">
                <a:solidFill>
                  <a:srgbClr val="262B3A"/>
                </a:solidFill>
                <a:latin typeface="Calibri" pitchFamily="34" charset="0"/>
                <a:ea typeface="Calibri" pitchFamily="34" charset="-122"/>
                <a:cs typeface="Calibri" pitchFamily="34" charset="-120"/>
              </a:rPr>
              <a:t>peripheral</a:t>
            </a:r>
            <a:r>
              <a:rPr lang="en-US" sz="1250" dirty="0">
                <a:solidFill>
                  <a:srgbClr val="262B3A"/>
                </a:solidFill>
                <a:latin typeface="Calibri" pitchFamily="34" charset="0"/>
                <a:ea typeface="Calibri" pitchFamily="34" charset="-122"/>
                <a:cs typeface="Calibri" pitchFamily="34" charset="-120"/>
              </a:rPr>
              <a:t> nervous system).</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Information travels along </a:t>
            </a:r>
            <a:r>
              <a:rPr lang="en-US" sz="1250" b="1" dirty="0">
                <a:solidFill>
                  <a:srgbClr val="262B3A"/>
                </a:solidFill>
                <a:latin typeface="Calibri" pitchFamily="34" charset="0"/>
                <a:ea typeface="Calibri" pitchFamily="34" charset="-122"/>
                <a:cs typeface="Calibri" pitchFamily="34" charset="-120"/>
              </a:rPr>
              <a:t>neurones</a:t>
            </a:r>
            <a:r>
              <a:rPr lang="en-US" sz="1250" dirty="0">
                <a:solidFill>
                  <a:srgbClr val="262B3A"/>
                </a:solidFill>
                <a:latin typeface="Calibri" pitchFamily="34" charset="0"/>
                <a:ea typeface="Calibri" pitchFamily="34" charset="-122"/>
                <a:cs typeface="Calibri" pitchFamily="34" charset="-120"/>
              </a:rPr>
              <a:t> (nerve cells) as </a:t>
            </a:r>
            <a:r>
              <a:rPr lang="en-US" sz="1250" b="1" dirty="0">
                <a:solidFill>
                  <a:srgbClr val="262B3A"/>
                </a:solidFill>
                <a:latin typeface="Calibri" pitchFamily="34" charset="0"/>
                <a:ea typeface="Calibri" pitchFamily="34" charset="-122"/>
                <a:cs typeface="Calibri" pitchFamily="34" charset="-120"/>
              </a:rPr>
              <a:t>electrical impulses</a:t>
            </a:r>
            <a:r>
              <a:rPr lang="en-US" sz="1250" dirty="0">
                <a:solidFill>
                  <a:srgbClr val="262B3A"/>
                </a:solidFill>
                <a:latin typeface="Calibri" pitchFamily="34" charset="0"/>
                <a:ea typeface="Calibri" pitchFamily="34" charset="-122"/>
                <a:cs typeface="Calibri" pitchFamily="34" charset="-120"/>
              </a:rPr>
              <a:t>. A nerve is a bundle of many neurones.</a:t>
            </a:r>
            <a:endParaRPr lang="en-US" sz="1250" dirty="0"/>
          </a:p>
        </p:txBody>
      </p:sp>
      <p:sp>
        <p:nvSpPr>
          <p:cNvPr id="67" name="Shape 6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8" name="Text 6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trace the pathway</a:t>
            </a:r>
            <a:endParaRPr lang="en-US" sz="1300" dirty="0"/>
          </a:p>
        </p:txBody>
      </p:sp>
      <p:sp>
        <p:nvSpPr>
          <p:cNvPr id="69" name="Text 67"/>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You see a ball coming and catch it. Identify each part of the pathway.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Stimulus   </a:t>
            </a:r>
            <a:r>
              <a:rPr lang="en-US" sz="1050" dirty="0">
                <a:solidFill>
                  <a:srgbClr val="262B3A"/>
                </a:solidFill>
                <a:latin typeface="Calibri" pitchFamily="34" charset="0"/>
                <a:ea typeface="Calibri" pitchFamily="34" charset="-122"/>
                <a:cs typeface="Calibri" pitchFamily="34" charset="-120"/>
              </a:rPr>
              <a:t>light from the moving ball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Receptor   </a:t>
            </a:r>
            <a:r>
              <a:rPr lang="en-US" sz="1050" dirty="0">
                <a:solidFill>
                  <a:srgbClr val="262B3A"/>
                </a:solidFill>
                <a:latin typeface="Calibri" pitchFamily="34" charset="0"/>
                <a:ea typeface="Calibri" pitchFamily="34" charset="-122"/>
                <a:cs typeface="Calibri" pitchFamily="34" charset="-120"/>
              </a:rPr>
              <a:t>light receptor cells in the eye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Coordinator   </a:t>
            </a:r>
            <a:r>
              <a:rPr lang="en-US" sz="1050" dirty="0">
                <a:solidFill>
                  <a:srgbClr val="262B3A"/>
                </a:solidFill>
                <a:latin typeface="Calibri" pitchFamily="34" charset="0"/>
                <a:ea typeface="Calibri" pitchFamily="34" charset="-122"/>
                <a:cs typeface="Calibri" pitchFamily="34" charset="-120"/>
              </a:rPr>
              <a:t>CNS (brain) → motor neurones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Effector   </a:t>
            </a:r>
            <a:r>
              <a:rPr lang="en-US" sz="1050" b="1" dirty="0">
                <a:solidFill>
                  <a:srgbClr val="C8414C"/>
                </a:solidFill>
                <a:latin typeface="Calibri" pitchFamily="34" charset="0"/>
                <a:ea typeface="Calibri" pitchFamily="34" charset="-122"/>
                <a:cs typeface="Calibri" pitchFamily="34" charset="-120"/>
              </a:rPr>
              <a:t>arm and hand muscles contract: catch</a:t>
            </a:r>
            <a:endParaRPr lang="en-US" sz="1050" dirty="0"/>
          </a:p>
        </p:txBody>
      </p:sp>
      <p:sp>
        <p:nvSpPr>
          <p:cNvPr id="70" name="Shape 68"/>
          <p:cNvSpPr/>
          <p:nvPr/>
        </p:nvSpPr>
        <p:spPr>
          <a:xfrm>
            <a:off x="411480" y="5833872"/>
            <a:ext cx="11368735" cy="530352"/>
          </a:xfrm>
          <a:prstGeom prst="rect">
            <a:avLst/>
          </a:prstGeom>
          <a:solidFill>
            <a:srgbClr val="FFF4E0"/>
          </a:solidFill>
          <a:ln w="6350">
            <a:solidFill>
              <a:srgbClr val="F1D9A8"/>
            </a:solidFill>
            <a:prstDash val="solid"/>
          </a:ln>
        </p:spPr>
      </p:sp>
      <p:sp>
        <p:nvSpPr>
          <p:cNvPr id="71" name="Shape 69"/>
          <p:cNvSpPr/>
          <p:nvPr/>
        </p:nvSpPr>
        <p:spPr>
          <a:xfrm>
            <a:off x="411480" y="5833872"/>
            <a:ext cx="82296" cy="530352"/>
          </a:xfrm>
          <a:prstGeom prst="rect">
            <a:avLst/>
          </a:prstGeom>
          <a:solidFill>
            <a:srgbClr val="E39A2F"/>
          </a:solidFill>
          <a:ln w="12700">
            <a:solidFill>
              <a:srgbClr val="E39A2F"/>
            </a:solidFill>
            <a:prstDash val="solid"/>
          </a:ln>
        </p:spPr>
      </p:sp>
      <p:sp>
        <p:nvSpPr>
          <p:cNvPr id="72" name="Text 7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parts of the CNS. What is the job of the </a:t>
            </a:r>
            <a:r>
              <a:rPr lang="en-US" sz="1150" b="1" dirty="0">
                <a:solidFill>
                  <a:srgbClr val="262B3A"/>
                </a:solidFill>
                <a:latin typeface="Calibri" pitchFamily="34" charset="0"/>
                <a:ea typeface="Calibri" pitchFamily="34" charset="-122"/>
                <a:cs typeface="Calibri" pitchFamily="34" charset="-120"/>
              </a:rPr>
              <a:t>coordinator</a:t>
            </a:r>
            <a:r>
              <a:rPr lang="en-US" sz="1150" dirty="0">
                <a:solidFill>
                  <a:srgbClr val="262B3A"/>
                </a:solidFill>
                <a:latin typeface="Calibri" pitchFamily="34" charset="0"/>
                <a:ea typeface="Calibri" pitchFamily="34" charset="-122"/>
                <a:cs typeface="Calibri" pitchFamily="34" charset="-120"/>
              </a:rPr>
              <a:t> in the pathway from stimulus to response?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Receptors and effectors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B5.2.1 • receptors detect stimuli; effectors bring about responses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B5.2.1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receptor cells are found in sense organs; icons not to scale</a:t>
            </a:r>
            <a:endParaRPr lang="en-US" sz="1000" dirty="0"/>
          </a:p>
        </p:txBody>
      </p:sp>
      <p:sp>
        <p:nvSpPr>
          <p:cNvPr id="10" name="Text 8"/>
          <p:cNvSpPr/>
          <p:nvPr/>
        </p:nvSpPr>
        <p:spPr>
          <a:xfrm>
            <a:off x="594360" y="1298448"/>
            <a:ext cx="2926080" cy="256032"/>
          </a:xfrm>
          <a:prstGeom prst="rect">
            <a:avLst/>
          </a:prstGeom>
          <a:noFill/>
          <a:ln/>
        </p:spPr>
        <p:txBody>
          <a:bodyPr wrap="square" lIns="0" tIns="0" rIns="0" bIns="0" rtlCol="0" anchor="ctr"/>
          <a:lstStyle/>
          <a:p>
            <a:pPr algn="l" indent="0" marL="0">
              <a:buNone/>
            </a:pPr>
            <a:r>
              <a:rPr lang="en-US" sz="1150" b="1" dirty="0">
                <a:solidFill>
                  <a:srgbClr val="2F6DB5"/>
                </a:solidFill>
                <a:latin typeface="Calibri" pitchFamily="34" charset="0"/>
                <a:ea typeface="Calibri" pitchFamily="34" charset="-122"/>
                <a:cs typeface="Calibri" pitchFamily="34" charset="-120"/>
              </a:rPr>
              <a:t>Receptors detect a stimulus</a:t>
            </a:r>
            <a:endParaRPr lang="en-US" sz="1150" dirty="0"/>
          </a:p>
        </p:txBody>
      </p:sp>
      <p:sp>
        <p:nvSpPr>
          <p:cNvPr id="11" name="Shape 9"/>
          <p:cNvSpPr/>
          <p:nvPr/>
        </p:nvSpPr>
        <p:spPr>
          <a:xfrm>
            <a:off x="566928" y="1645920"/>
            <a:ext cx="3063240" cy="512064"/>
          </a:xfrm>
          <a:prstGeom prst="roundRect">
            <a:avLst>
              <a:gd name="adj" fmla="val 8929"/>
            </a:avLst>
          </a:prstGeom>
          <a:solidFill>
            <a:srgbClr val="FFFFFF"/>
          </a:solidFill>
          <a:ln w="12700">
            <a:solidFill>
              <a:srgbClr val="CFE0DE"/>
            </a:solidFill>
            <a:prstDash val="solid"/>
          </a:ln>
        </p:spPr>
      </p:sp>
      <p:sp>
        <p:nvSpPr>
          <p:cNvPr id="12" name="Shape 10"/>
          <p:cNvSpPr/>
          <p:nvPr/>
        </p:nvSpPr>
        <p:spPr>
          <a:xfrm>
            <a:off x="685800" y="1773936"/>
            <a:ext cx="457200" cy="256032"/>
          </a:xfrm>
          <a:prstGeom prst="ellipse">
            <a:avLst/>
          </a:prstGeom>
          <a:solidFill>
            <a:srgbClr val="FFFFFF"/>
          </a:solidFill>
          <a:ln w="15875">
            <a:solidFill>
              <a:srgbClr val="5A6275"/>
            </a:solidFill>
            <a:prstDash val="solid"/>
          </a:ln>
        </p:spPr>
      </p:sp>
      <p:sp>
        <p:nvSpPr>
          <p:cNvPr id="13" name="Shape 11"/>
          <p:cNvSpPr/>
          <p:nvPr/>
        </p:nvSpPr>
        <p:spPr>
          <a:xfrm>
            <a:off x="822960" y="1810512"/>
            <a:ext cx="182880" cy="182880"/>
          </a:xfrm>
          <a:prstGeom prst="ellipse">
            <a:avLst/>
          </a:prstGeom>
          <a:solidFill>
            <a:srgbClr val="3B7DD8"/>
          </a:solidFill>
          <a:ln w="9525">
            <a:solidFill>
              <a:srgbClr val="1F4E8C"/>
            </a:solidFill>
            <a:prstDash val="solid"/>
          </a:ln>
        </p:spPr>
      </p:sp>
      <p:sp>
        <p:nvSpPr>
          <p:cNvPr id="14" name="Shape 12"/>
          <p:cNvSpPr/>
          <p:nvPr/>
        </p:nvSpPr>
        <p:spPr>
          <a:xfrm>
            <a:off x="873252" y="1860804"/>
            <a:ext cx="82296" cy="82296"/>
          </a:xfrm>
          <a:prstGeom prst="ellipse">
            <a:avLst/>
          </a:prstGeom>
          <a:solidFill>
            <a:srgbClr val="1A1A1A"/>
          </a:solidFill>
          <a:ln w="9525">
            <a:solidFill>
              <a:srgbClr val="1A1A1A"/>
            </a:solidFill>
            <a:prstDash val="solid"/>
          </a:ln>
        </p:spPr>
      </p:sp>
      <p:sp>
        <p:nvSpPr>
          <p:cNvPr id="15" name="Text 13"/>
          <p:cNvSpPr/>
          <p:nvPr/>
        </p:nvSpPr>
        <p:spPr>
          <a:xfrm>
            <a:off x="1280160" y="1664208"/>
            <a:ext cx="685800" cy="475488"/>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Eye</a:t>
            </a:r>
            <a:endParaRPr lang="en-US" sz="1100" dirty="0"/>
          </a:p>
        </p:txBody>
      </p:sp>
      <p:sp>
        <p:nvSpPr>
          <p:cNvPr id="16" name="Text 14"/>
          <p:cNvSpPr/>
          <p:nvPr/>
        </p:nvSpPr>
        <p:spPr>
          <a:xfrm>
            <a:off x="1920240" y="1664208"/>
            <a:ext cx="1664208" cy="47548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light</a:t>
            </a:r>
            <a:endParaRPr lang="en-US" sz="1050" dirty="0"/>
          </a:p>
        </p:txBody>
      </p:sp>
      <p:sp>
        <p:nvSpPr>
          <p:cNvPr id="17" name="Shape 15"/>
          <p:cNvSpPr/>
          <p:nvPr/>
        </p:nvSpPr>
        <p:spPr>
          <a:xfrm>
            <a:off x="566928" y="2249424"/>
            <a:ext cx="3063240" cy="512064"/>
          </a:xfrm>
          <a:prstGeom prst="roundRect">
            <a:avLst>
              <a:gd name="adj" fmla="val 8929"/>
            </a:avLst>
          </a:prstGeom>
          <a:solidFill>
            <a:srgbClr val="FFFFFF"/>
          </a:solidFill>
          <a:ln w="12700">
            <a:solidFill>
              <a:srgbClr val="CFE0DE"/>
            </a:solidFill>
            <a:prstDash val="solid"/>
          </a:ln>
        </p:spPr>
      </p:sp>
      <p:sp>
        <p:nvSpPr>
          <p:cNvPr id="18" name="Shape 16"/>
          <p:cNvSpPr/>
          <p:nvPr/>
        </p:nvSpPr>
        <p:spPr>
          <a:xfrm>
            <a:off x="749808" y="2304288"/>
            <a:ext cx="329184" cy="402336"/>
          </a:xfrm>
          <a:prstGeom prst="blockArc">
            <a:avLst>
              <a:gd name="adj1" fmla="val 12000000"/>
              <a:gd name="adj2" fmla="val 8400000"/>
              <a:gd name="adj3" fmla="val 17500"/>
            </a:avLst>
          </a:prstGeom>
          <a:solidFill>
            <a:srgbClr val="F2C9A5"/>
          </a:solidFill>
          <a:ln w="12700">
            <a:solidFill>
              <a:srgbClr val="B07A50"/>
            </a:solidFill>
            <a:prstDash val="solid"/>
          </a:ln>
        </p:spPr>
      </p:sp>
      <p:sp>
        <p:nvSpPr>
          <p:cNvPr id="19" name="Text 17"/>
          <p:cNvSpPr/>
          <p:nvPr/>
        </p:nvSpPr>
        <p:spPr>
          <a:xfrm>
            <a:off x="1280160" y="2267712"/>
            <a:ext cx="685800" cy="475488"/>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Ear</a:t>
            </a:r>
            <a:endParaRPr lang="en-US" sz="1100" dirty="0"/>
          </a:p>
        </p:txBody>
      </p:sp>
      <p:sp>
        <p:nvSpPr>
          <p:cNvPr id="20" name="Text 18"/>
          <p:cNvSpPr/>
          <p:nvPr/>
        </p:nvSpPr>
        <p:spPr>
          <a:xfrm>
            <a:off x="1920240" y="2267712"/>
            <a:ext cx="1664208" cy="47548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sound; position (balance)</a:t>
            </a:r>
            <a:endParaRPr lang="en-US" sz="1050" dirty="0"/>
          </a:p>
        </p:txBody>
      </p:sp>
      <p:sp>
        <p:nvSpPr>
          <p:cNvPr id="21" name="Shape 19"/>
          <p:cNvSpPr/>
          <p:nvPr/>
        </p:nvSpPr>
        <p:spPr>
          <a:xfrm>
            <a:off x="566928" y="2852928"/>
            <a:ext cx="3063240" cy="512064"/>
          </a:xfrm>
          <a:prstGeom prst="roundRect">
            <a:avLst>
              <a:gd name="adj" fmla="val 8929"/>
            </a:avLst>
          </a:prstGeom>
          <a:solidFill>
            <a:srgbClr val="FFFFFF"/>
          </a:solidFill>
          <a:ln w="12700">
            <a:solidFill>
              <a:srgbClr val="CFE0DE"/>
            </a:solidFill>
            <a:prstDash val="solid"/>
          </a:ln>
        </p:spPr>
      </p:sp>
      <p:sp>
        <p:nvSpPr>
          <p:cNvPr id="22" name="Shape 20"/>
          <p:cNvSpPr/>
          <p:nvPr/>
        </p:nvSpPr>
        <p:spPr>
          <a:xfrm>
            <a:off x="804672" y="2926080"/>
            <a:ext cx="246888" cy="329184"/>
          </a:xfrm>
          <a:custGeom>
            <a:avLst/>
            <a:gdLst/>
            <a:ahLst/>
            <a:cxnLst/>
            <a:rect l="l" t="t" r="r" b="b"/>
            <a:pathLst>
              <a:path w="246888" h="329184">
                <a:moveTo>
                  <a:pt x="109728" y="0"/>
                </a:moveTo>
                <a:lnTo>
                  <a:pt x="246888" y="329184"/>
                </a:lnTo>
                <a:lnTo>
                  <a:pt x="0" y="329184"/>
                </a:lnTo>
                <a:close/>
              </a:path>
            </a:pathLst>
          </a:custGeom>
          <a:solidFill>
            <a:srgbClr val="F2C9A5"/>
          </a:solidFill>
          <a:ln w="12700">
            <a:solidFill>
              <a:srgbClr val="B07A50"/>
            </a:solidFill>
            <a:prstDash val="solid"/>
          </a:ln>
        </p:spPr>
      </p:sp>
      <p:sp>
        <p:nvSpPr>
          <p:cNvPr id="23" name="Text 21"/>
          <p:cNvSpPr/>
          <p:nvPr/>
        </p:nvSpPr>
        <p:spPr>
          <a:xfrm>
            <a:off x="1280160" y="2871216"/>
            <a:ext cx="685800" cy="475488"/>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Nose</a:t>
            </a:r>
            <a:endParaRPr lang="en-US" sz="1100" dirty="0"/>
          </a:p>
        </p:txBody>
      </p:sp>
      <p:sp>
        <p:nvSpPr>
          <p:cNvPr id="24" name="Text 22"/>
          <p:cNvSpPr/>
          <p:nvPr/>
        </p:nvSpPr>
        <p:spPr>
          <a:xfrm>
            <a:off x="1920240" y="2871216"/>
            <a:ext cx="1664208" cy="47548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chemicals (smell)</a:t>
            </a:r>
            <a:endParaRPr lang="en-US" sz="1050" dirty="0"/>
          </a:p>
        </p:txBody>
      </p:sp>
      <p:sp>
        <p:nvSpPr>
          <p:cNvPr id="25" name="Shape 23"/>
          <p:cNvSpPr/>
          <p:nvPr/>
        </p:nvSpPr>
        <p:spPr>
          <a:xfrm>
            <a:off x="566928" y="3456432"/>
            <a:ext cx="3063240" cy="512064"/>
          </a:xfrm>
          <a:prstGeom prst="roundRect">
            <a:avLst>
              <a:gd name="adj" fmla="val 8929"/>
            </a:avLst>
          </a:prstGeom>
          <a:solidFill>
            <a:srgbClr val="FFFFFF"/>
          </a:solidFill>
          <a:ln w="12700">
            <a:solidFill>
              <a:srgbClr val="CFE0DE"/>
            </a:solidFill>
            <a:prstDash val="solid"/>
          </a:ln>
        </p:spPr>
      </p:sp>
      <p:sp>
        <p:nvSpPr>
          <p:cNvPr id="26" name="Shape 24"/>
          <p:cNvSpPr/>
          <p:nvPr/>
        </p:nvSpPr>
        <p:spPr>
          <a:xfrm>
            <a:off x="786384" y="3529584"/>
            <a:ext cx="256032" cy="365760"/>
          </a:xfrm>
          <a:prstGeom prst="roundRect">
            <a:avLst>
              <a:gd name="adj" fmla="val 46429"/>
            </a:avLst>
          </a:prstGeom>
          <a:solidFill>
            <a:srgbClr val="F29BA5"/>
          </a:solidFill>
          <a:ln w="12700">
            <a:solidFill>
              <a:srgbClr val="B5545C"/>
            </a:solidFill>
            <a:prstDash val="solid"/>
          </a:ln>
        </p:spPr>
      </p:sp>
      <p:sp>
        <p:nvSpPr>
          <p:cNvPr id="27" name="Shape 25"/>
          <p:cNvSpPr/>
          <p:nvPr/>
        </p:nvSpPr>
        <p:spPr>
          <a:xfrm>
            <a:off x="914400" y="3575304"/>
            <a:ext cx="91" cy="210312"/>
          </a:xfrm>
          <a:prstGeom prst="line">
            <a:avLst/>
          </a:prstGeom>
          <a:noFill/>
          <a:ln w="12700">
            <a:solidFill>
              <a:srgbClr val="B5545C"/>
            </a:solidFill>
            <a:prstDash val="solid"/>
          </a:ln>
        </p:spPr>
      </p:sp>
      <p:sp>
        <p:nvSpPr>
          <p:cNvPr id="28" name="Text 26"/>
          <p:cNvSpPr/>
          <p:nvPr/>
        </p:nvSpPr>
        <p:spPr>
          <a:xfrm>
            <a:off x="1280160" y="3474720"/>
            <a:ext cx="685800" cy="475488"/>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Tongue</a:t>
            </a:r>
            <a:endParaRPr lang="en-US" sz="1100" dirty="0"/>
          </a:p>
        </p:txBody>
      </p:sp>
      <p:sp>
        <p:nvSpPr>
          <p:cNvPr id="29" name="Text 27"/>
          <p:cNvSpPr/>
          <p:nvPr/>
        </p:nvSpPr>
        <p:spPr>
          <a:xfrm>
            <a:off x="1920240" y="3474720"/>
            <a:ext cx="1664208" cy="47548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chemicals (taste)</a:t>
            </a:r>
            <a:endParaRPr lang="en-US" sz="1050" dirty="0"/>
          </a:p>
        </p:txBody>
      </p:sp>
      <p:sp>
        <p:nvSpPr>
          <p:cNvPr id="30" name="Shape 28"/>
          <p:cNvSpPr/>
          <p:nvPr/>
        </p:nvSpPr>
        <p:spPr>
          <a:xfrm>
            <a:off x="566928" y="4059936"/>
            <a:ext cx="3063240" cy="512064"/>
          </a:xfrm>
          <a:prstGeom prst="roundRect">
            <a:avLst>
              <a:gd name="adj" fmla="val 8929"/>
            </a:avLst>
          </a:prstGeom>
          <a:solidFill>
            <a:srgbClr val="FFFFFF"/>
          </a:solidFill>
          <a:ln w="12700">
            <a:solidFill>
              <a:srgbClr val="CFE0DE"/>
            </a:solidFill>
            <a:prstDash val="solid"/>
          </a:ln>
        </p:spPr>
      </p:sp>
      <p:sp>
        <p:nvSpPr>
          <p:cNvPr id="31" name="Shape 29"/>
          <p:cNvSpPr/>
          <p:nvPr/>
        </p:nvSpPr>
        <p:spPr>
          <a:xfrm>
            <a:off x="685800" y="4151376"/>
            <a:ext cx="457200" cy="109728"/>
          </a:xfrm>
          <a:prstGeom prst="rect">
            <a:avLst/>
          </a:prstGeom>
          <a:solidFill>
            <a:srgbClr val="F2C9A5"/>
          </a:solidFill>
          <a:ln w="9525">
            <a:solidFill>
              <a:srgbClr val="B07A50"/>
            </a:solidFill>
            <a:prstDash val="solid"/>
          </a:ln>
        </p:spPr>
      </p:sp>
      <p:sp>
        <p:nvSpPr>
          <p:cNvPr id="32" name="Shape 30"/>
          <p:cNvSpPr/>
          <p:nvPr/>
        </p:nvSpPr>
        <p:spPr>
          <a:xfrm>
            <a:off x="685800" y="4261104"/>
            <a:ext cx="457200" cy="219456"/>
          </a:xfrm>
          <a:prstGeom prst="rect">
            <a:avLst/>
          </a:prstGeom>
          <a:solidFill>
            <a:srgbClr val="F8E1CF"/>
          </a:solidFill>
          <a:ln w="9525">
            <a:solidFill>
              <a:srgbClr val="B07A50"/>
            </a:solidFill>
            <a:prstDash val="solid"/>
          </a:ln>
        </p:spPr>
      </p:sp>
      <p:sp>
        <p:nvSpPr>
          <p:cNvPr id="33" name="Shape 31"/>
          <p:cNvSpPr/>
          <p:nvPr/>
        </p:nvSpPr>
        <p:spPr>
          <a:xfrm>
            <a:off x="745236" y="4338828"/>
            <a:ext cx="64008" cy="64008"/>
          </a:xfrm>
          <a:prstGeom prst="ellipse">
            <a:avLst/>
          </a:prstGeom>
          <a:solidFill>
            <a:srgbClr val="2F6DB5"/>
          </a:solidFill>
          <a:ln w="9525">
            <a:solidFill>
              <a:srgbClr val="2F6DB5"/>
            </a:solidFill>
            <a:prstDash val="solid"/>
          </a:ln>
        </p:spPr>
      </p:sp>
      <p:sp>
        <p:nvSpPr>
          <p:cNvPr id="34" name="Shape 32"/>
          <p:cNvSpPr/>
          <p:nvPr/>
        </p:nvSpPr>
        <p:spPr>
          <a:xfrm>
            <a:off x="882396" y="4338828"/>
            <a:ext cx="64008" cy="64008"/>
          </a:xfrm>
          <a:prstGeom prst="ellipse">
            <a:avLst/>
          </a:prstGeom>
          <a:solidFill>
            <a:srgbClr val="2F6DB5"/>
          </a:solidFill>
          <a:ln w="9525">
            <a:solidFill>
              <a:srgbClr val="2F6DB5"/>
            </a:solidFill>
            <a:prstDash val="solid"/>
          </a:ln>
        </p:spPr>
      </p:sp>
      <p:sp>
        <p:nvSpPr>
          <p:cNvPr id="35" name="Shape 33"/>
          <p:cNvSpPr/>
          <p:nvPr/>
        </p:nvSpPr>
        <p:spPr>
          <a:xfrm>
            <a:off x="1019556" y="4338828"/>
            <a:ext cx="64008" cy="64008"/>
          </a:xfrm>
          <a:prstGeom prst="ellipse">
            <a:avLst/>
          </a:prstGeom>
          <a:solidFill>
            <a:srgbClr val="2F6DB5"/>
          </a:solidFill>
          <a:ln w="9525">
            <a:solidFill>
              <a:srgbClr val="2F6DB5"/>
            </a:solidFill>
            <a:prstDash val="solid"/>
          </a:ln>
        </p:spPr>
      </p:sp>
      <p:sp>
        <p:nvSpPr>
          <p:cNvPr id="36" name="Text 34"/>
          <p:cNvSpPr/>
          <p:nvPr/>
        </p:nvSpPr>
        <p:spPr>
          <a:xfrm>
            <a:off x="1280160" y="4078224"/>
            <a:ext cx="685800" cy="475488"/>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Skin</a:t>
            </a:r>
            <a:endParaRPr lang="en-US" sz="1100" dirty="0"/>
          </a:p>
        </p:txBody>
      </p:sp>
      <p:sp>
        <p:nvSpPr>
          <p:cNvPr id="37" name="Text 35"/>
          <p:cNvSpPr/>
          <p:nvPr/>
        </p:nvSpPr>
        <p:spPr>
          <a:xfrm>
            <a:off x="1920240" y="4078224"/>
            <a:ext cx="1664208" cy="47548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touch, pressure, temperature, pain</a:t>
            </a:r>
            <a:endParaRPr lang="en-US" sz="1050" dirty="0"/>
          </a:p>
        </p:txBody>
      </p:sp>
      <p:sp>
        <p:nvSpPr>
          <p:cNvPr id="38" name="Text 36"/>
          <p:cNvSpPr/>
          <p:nvPr/>
        </p:nvSpPr>
        <p:spPr>
          <a:xfrm>
            <a:off x="3840480" y="1298448"/>
            <a:ext cx="2011680" cy="256032"/>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Effectors respond</a:t>
            </a:r>
            <a:endParaRPr lang="en-US" sz="1150" dirty="0"/>
          </a:p>
        </p:txBody>
      </p:sp>
      <p:sp>
        <p:nvSpPr>
          <p:cNvPr id="39" name="Shape 37"/>
          <p:cNvSpPr/>
          <p:nvPr/>
        </p:nvSpPr>
        <p:spPr>
          <a:xfrm>
            <a:off x="3840480" y="1645920"/>
            <a:ext cx="2011680" cy="1417320"/>
          </a:xfrm>
          <a:prstGeom prst="roundRect">
            <a:avLst>
              <a:gd name="adj" fmla="val 3226"/>
            </a:avLst>
          </a:prstGeom>
          <a:solidFill>
            <a:srgbClr val="FFFFFF"/>
          </a:solidFill>
          <a:ln w="12700">
            <a:solidFill>
              <a:srgbClr val="CFE0DE"/>
            </a:solidFill>
            <a:prstDash val="solid"/>
          </a:ln>
        </p:spPr>
      </p:sp>
      <p:sp>
        <p:nvSpPr>
          <p:cNvPr id="40" name="Shape 38"/>
          <p:cNvSpPr/>
          <p:nvPr/>
        </p:nvSpPr>
        <p:spPr>
          <a:xfrm>
            <a:off x="4023360" y="1810512"/>
            <a:ext cx="1645920" cy="457200"/>
          </a:xfrm>
          <a:prstGeom prst="roundRect">
            <a:avLst>
              <a:gd name="adj" fmla="val 16000"/>
            </a:avLst>
          </a:prstGeom>
          <a:solidFill>
            <a:srgbClr val="F4B6B9"/>
          </a:solidFill>
          <a:ln w="15875">
            <a:solidFill>
              <a:srgbClr val="A33E48"/>
            </a:solidFill>
            <a:prstDash val="solid"/>
          </a:ln>
        </p:spPr>
      </p:sp>
      <p:sp>
        <p:nvSpPr>
          <p:cNvPr id="41" name="Shape 39"/>
          <p:cNvSpPr/>
          <p:nvPr/>
        </p:nvSpPr>
        <p:spPr>
          <a:xfrm>
            <a:off x="4069080" y="1886712"/>
            <a:ext cx="1554480" cy="91"/>
          </a:xfrm>
          <a:prstGeom prst="line">
            <a:avLst/>
          </a:prstGeom>
          <a:noFill/>
          <a:ln w="9525">
            <a:solidFill>
              <a:srgbClr val="C76A72"/>
            </a:solidFill>
            <a:prstDash val="solid"/>
          </a:ln>
        </p:spPr>
      </p:sp>
      <p:sp>
        <p:nvSpPr>
          <p:cNvPr id="42" name="Shape 40"/>
          <p:cNvSpPr/>
          <p:nvPr/>
        </p:nvSpPr>
        <p:spPr>
          <a:xfrm>
            <a:off x="4069080" y="1962912"/>
            <a:ext cx="1554480" cy="91"/>
          </a:xfrm>
          <a:prstGeom prst="line">
            <a:avLst/>
          </a:prstGeom>
          <a:noFill/>
          <a:ln w="9525">
            <a:solidFill>
              <a:srgbClr val="C76A72"/>
            </a:solidFill>
            <a:prstDash val="solid"/>
          </a:ln>
        </p:spPr>
      </p:sp>
      <p:sp>
        <p:nvSpPr>
          <p:cNvPr id="43" name="Shape 41"/>
          <p:cNvSpPr/>
          <p:nvPr/>
        </p:nvSpPr>
        <p:spPr>
          <a:xfrm>
            <a:off x="4069080" y="2039112"/>
            <a:ext cx="1554480" cy="91"/>
          </a:xfrm>
          <a:prstGeom prst="line">
            <a:avLst/>
          </a:prstGeom>
          <a:noFill/>
          <a:ln w="9525">
            <a:solidFill>
              <a:srgbClr val="C76A72"/>
            </a:solidFill>
            <a:prstDash val="solid"/>
          </a:ln>
        </p:spPr>
      </p:sp>
      <p:sp>
        <p:nvSpPr>
          <p:cNvPr id="44" name="Shape 42"/>
          <p:cNvSpPr/>
          <p:nvPr/>
        </p:nvSpPr>
        <p:spPr>
          <a:xfrm>
            <a:off x="4069080" y="2115312"/>
            <a:ext cx="1554480" cy="91"/>
          </a:xfrm>
          <a:prstGeom prst="line">
            <a:avLst/>
          </a:prstGeom>
          <a:noFill/>
          <a:ln w="9525">
            <a:solidFill>
              <a:srgbClr val="C76A72"/>
            </a:solidFill>
            <a:prstDash val="solid"/>
          </a:ln>
        </p:spPr>
      </p:sp>
      <p:sp>
        <p:nvSpPr>
          <p:cNvPr id="45" name="Shape 43"/>
          <p:cNvSpPr/>
          <p:nvPr/>
        </p:nvSpPr>
        <p:spPr>
          <a:xfrm>
            <a:off x="4069080" y="2191512"/>
            <a:ext cx="1554480" cy="91"/>
          </a:xfrm>
          <a:prstGeom prst="line">
            <a:avLst/>
          </a:prstGeom>
          <a:noFill/>
          <a:ln w="9525">
            <a:solidFill>
              <a:srgbClr val="C76A72"/>
            </a:solidFill>
            <a:prstDash val="solid"/>
          </a:ln>
        </p:spPr>
      </p:sp>
      <p:sp>
        <p:nvSpPr>
          <p:cNvPr id="46" name="Text 44"/>
          <p:cNvSpPr/>
          <p:nvPr/>
        </p:nvSpPr>
        <p:spPr>
          <a:xfrm>
            <a:off x="3886200" y="2331720"/>
            <a:ext cx="1920240" cy="65836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Muscles</a:t>
            </a:r>
            <a:r>
              <a:rPr lang="en-US" sz="1050" dirty="0">
                <a:solidFill>
                  <a:srgbClr val="262B3A"/>
                </a:solidFill>
                <a:latin typeface="Calibri" pitchFamily="34" charset="0"/>
                <a:ea typeface="Calibri" pitchFamily="34" charset="-122"/>
                <a:cs typeface="Calibri" pitchFamily="34" charset="-120"/>
              </a:rPr>
              <a:t> contract (shorten) to cause movement</a:t>
            </a:r>
            <a:endParaRPr lang="en-US" sz="1050" dirty="0"/>
          </a:p>
        </p:txBody>
      </p:sp>
      <p:sp>
        <p:nvSpPr>
          <p:cNvPr id="47" name="Shape 45"/>
          <p:cNvSpPr/>
          <p:nvPr/>
        </p:nvSpPr>
        <p:spPr>
          <a:xfrm>
            <a:off x="3840480" y="3154680"/>
            <a:ext cx="2011680" cy="1508760"/>
          </a:xfrm>
          <a:prstGeom prst="roundRect">
            <a:avLst>
              <a:gd name="adj" fmla="val 3030"/>
            </a:avLst>
          </a:prstGeom>
          <a:solidFill>
            <a:srgbClr val="FFFFFF"/>
          </a:solidFill>
          <a:ln w="12700">
            <a:solidFill>
              <a:srgbClr val="CFE0DE"/>
            </a:solidFill>
            <a:prstDash val="solid"/>
          </a:ln>
        </p:spPr>
      </p:sp>
      <p:sp>
        <p:nvSpPr>
          <p:cNvPr id="48" name="Shape 46"/>
          <p:cNvSpPr/>
          <p:nvPr/>
        </p:nvSpPr>
        <p:spPr>
          <a:xfrm>
            <a:off x="4297680" y="3282696"/>
            <a:ext cx="457200" cy="384048"/>
          </a:xfrm>
          <a:prstGeom prst="ellipse">
            <a:avLst/>
          </a:prstGeom>
          <a:solidFill>
            <a:srgbClr val="D9E8C8"/>
          </a:solidFill>
          <a:ln w="15875">
            <a:solidFill>
              <a:srgbClr val="5E8A3A"/>
            </a:solidFill>
            <a:prstDash val="solid"/>
          </a:ln>
        </p:spPr>
      </p:sp>
      <p:sp>
        <p:nvSpPr>
          <p:cNvPr id="49" name="Shape 47"/>
          <p:cNvSpPr/>
          <p:nvPr/>
        </p:nvSpPr>
        <p:spPr>
          <a:xfrm>
            <a:off x="4402836" y="3396996"/>
            <a:ext cx="64008" cy="64008"/>
          </a:xfrm>
          <a:prstGeom prst="ellipse">
            <a:avLst/>
          </a:prstGeom>
          <a:solidFill>
            <a:srgbClr val="5E8A3A"/>
          </a:solidFill>
          <a:ln w="9525">
            <a:solidFill>
              <a:srgbClr val="5E8A3A"/>
            </a:solidFill>
            <a:prstDash val="solid"/>
          </a:ln>
        </p:spPr>
      </p:sp>
      <p:sp>
        <p:nvSpPr>
          <p:cNvPr id="50" name="Shape 48"/>
          <p:cNvSpPr/>
          <p:nvPr/>
        </p:nvSpPr>
        <p:spPr>
          <a:xfrm>
            <a:off x="4567428" y="3369564"/>
            <a:ext cx="64008" cy="64008"/>
          </a:xfrm>
          <a:prstGeom prst="ellipse">
            <a:avLst/>
          </a:prstGeom>
          <a:solidFill>
            <a:srgbClr val="5E8A3A"/>
          </a:solidFill>
          <a:ln w="9525">
            <a:solidFill>
              <a:srgbClr val="5E8A3A"/>
            </a:solidFill>
            <a:prstDash val="solid"/>
          </a:ln>
        </p:spPr>
      </p:sp>
      <p:sp>
        <p:nvSpPr>
          <p:cNvPr id="51" name="Shape 49"/>
          <p:cNvSpPr/>
          <p:nvPr/>
        </p:nvSpPr>
        <p:spPr>
          <a:xfrm>
            <a:off x="4494276" y="3515868"/>
            <a:ext cx="64008" cy="64008"/>
          </a:xfrm>
          <a:prstGeom prst="ellipse">
            <a:avLst/>
          </a:prstGeom>
          <a:solidFill>
            <a:srgbClr val="5E8A3A"/>
          </a:solidFill>
          <a:ln w="9525">
            <a:solidFill>
              <a:srgbClr val="5E8A3A"/>
            </a:solidFill>
            <a:prstDash val="solid"/>
          </a:ln>
        </p:spPr>
      </p:sp>
      <p:sp>
        <p:nvSpPr>
          <p:cNvPr id="52" name="Shape 50"/>
          <p:cNvSpPr/>
          <p:nvPr/>
        </p:nvSpPr>
        <p:spPr>
          <a:xfrm>
            <a:off x="4604004" y="3506724"/>
            <a:ext cx="64008" cy="64008"/>
          </a:xfrm>
          <a:prstGeom prst="ellipse">
            <a:avLst/>
          </a:prstGeom>
          <a:solidFill>
            <a:srgbClr val="5E8A3A"/>
          </a:solidFill>
          <a:ln w="9525">
            <a:solidFill>
              <a:srgbClr val="5E8A3A"/>
            </a:solidFill>
            <a:prstDash val="solid"/>
          </a:ln>
        </p:spPr>
      </p:sp>
      <p:sp>
        <p:nvSpPr>
          <p:cNvPr id="53" name="Shape 51"/>
          <p:cNvSpPr/>
          <p:nvPr/>
        </p:nvSpPr>
        <p:spPr>
          <a:xfrm>
            <a:off x="4709160" y="3566160"/>
            <a:ext cx="201168" cy="146304"/>
          </a:xfrm>
          <a:prstGeom prst="line">
            <a:avLst/>
          </a:prstGeom>
          <a:noFill/>
          <a:ln w="22225">
            <a:solidFill>
              <a:srgbClr val="5E8A3A"/>
            </a:solidFill>
            <a:prstDash val="solid"/>
          </a:ln>
        </p:spPr>
      </p:sp>
      <p:sp>
        <p:nvSpPr>
          <p:cNvPr id="54" name="Shape 52"/>
          <p:cNvSpPr/>
          <p:nvPr/>
        </p:nvSpPr>
        <p:spPr>
          <a:xfrm>
            <a:off x="4928616" y="3749040"/>
            <a:ext cx="73152" cy="73152"/>
          </a:xfrm>
          <a:prstGeom prst="ellipse">
            <a:avLst/>
          </a:prstGeom>
          <a:solidFill>
            <a:srgbClr val="7FA9C4"/>
          </a:solidFill>
          <a:ln w="9525">
            <a:solidFill>
              <a:srgbClr val="4F7FB8"/>
            </a:solidFill>
            <a:prstDash val="solid"/>
          </a:ln>
        </p:spPr>
      </p:sp>
      <p:sp>
        <p:nvSpPr>
          <p:cNvPr id="55" name="Shape 53"/>
          <p:cNvSpPr/>
          <p:nvPr/>
        </p:nvSpPr>
        <p:spPr>
          <a:xfrm>
            <a:off x="5001768" y="3858768"/>
            <a:ext cx="73152" cy="73152"/>
          </a:xfrm>
          <a:prstGeom prst="ellipse">
            <a:avLst/>
          </a:prstGeom>
          <a:solidFill>
            <a:srgbClr val="7FA9C4"/>
          </a:solidFill>
          <a:ln w="9525">
            <a:solidFill>
              <a:srgbClr val="4F7FB8"/>
            </a:solidFill>
            <a:prstDash val="solid"/>
          </a:ln>
        </p:spPr>
      </p:sp>
      <p:sp>
        <p:nvSpPr>
          <p:cNvPr id="56" name="Text 54"/>
          <p:cNvSpPr/>
          <p:nvPr/>
        </p:nvSpPr>
        <p:spPr>
          <a:xfrm>
            <a:off x="3886200" y="3931920"/>
            <a:ext cx="1920240" cy="68580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Glands</a:t>
            </a:r>
            <a:r>
              <a:rPr lang="en-US" sz="1050" dirty="0">
                <a:solidFill>
                  <a:srgbClr val="262B3A"/>
                </a:solidFill>
                <a:latin typeface="Calibri" pitchFamily="34" charset="0"/>
                <a:ea typeface="Calibri" pitchFamily="34" charset="-122"/>
                <a:cs typeface="Calibri" pitchFamily="34" charset="-120"/>
              </a:rPr>
              <a:t> secrete (release) chemicals, e.g. sweat, saliva, hormones</a:t>
            </a:r>
            <a:endParaRPr lang="en-US" sz="1050" dirty="0"/>
          </a:p>
        </p:txBody>
      </p:sp>
      <p:sp>
        <p:nvSpPr>
          <p:cNvPr id="57" name="Shape 55"/>
          <p:cNvSpPr/>
          <p:nvPr/>
        </p:nvSpPr>
        <p:spPr>
          <a:xfrm>
            <a:off x="566928" y="4754880"/>
            <a:ext cx="5285232" cy="548640"/>
          </a:xfrm>
          <a:prstGeom prst="roundRect">
            <a:avLst>
              <a:gd name="adj" fmla="val 8333"/>
            </a:avLst>
          </a:prstGeom>
          <a:solidFill>
            <a:srgbClr val="FFF4E0"/>
          </a:solidFill>
          <a:ln w="12700">
            <a:solidFill>
              <a:srgbClr val="F1D9A8"/>
            </a:solidFill>
            <a:prstDash val="solid"/>
          </a:ln>
        </p:spPr>
      </p:sp>
      <p:sp>
        <p:nvSpPr>
          <p:cNvPr id="58" name="Text 56"/>
          <p:cNvSpPr/>
          <p:nvPr/>
        </p:nvSpPr>
        <p:spPr>
          <a:xfrm>
            <a:off x="658368" y="4754880"/>
            <a:ext cx="5120640" cy="54864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Smell of food (stimulus) → receptors in </a:t>
            </a:r>
            <a:r>
              <a:rPr lang="en-US" sz="1050" b="1" dirty="0">
                <a:solidFill>
                  <a:srgbClr val="262B3A"/>
                </a:solidFill>
                <a:latin typeface="Calibri" pitchFamily="34" charset="0"/>
                <a:ea typeface="Calibri" pitchFamily="34" charset="-122"/>
                <a:cs typeface="Calibri" pitchFamily="34" charset="-120"/>
              </a:rPr>
              <a:t>nose</a:t>
            </a:r>
            <a:r>
              <a:rPr lang="en-US" sz="1050" dirty="0">
                <a:solidFill>
                  <a:srgbClr val="262B3A"/>
                </a:solidFill>
                <a:latin typeface="Calibri" pitchFamily="34" charset="0"/>
                <a:ea typeface="Calibri" pitchFamily="34" charset="-122"/>
                <a:cs typeface="Calibri" pitchFamily="34" charset="-120"/>
              </a:rPr>
              <a:t> → CNS → salivary </a:t>
            </a:r>
            <a:r>
              <a:rPr lang="en-US" sz="1050" b="1" dirty="0">
                <a:solidFill>
                  <a:srgbClr val="262B3A"/>
                </a:solidFill>
                <a:latin typeface="Calibri" pitchFamily="34" charset="0"/>
                <a:ea typeface="Calibri" pitchFamily="34" charset="-122"/>
                <a:cs typeface="Calibri" pitchFamily="34" charset="-120"/>
              </a:rPr>
              <a:t>gland</a:t>
            </a:r>
            <a:r>
              <a:rPr lang="en-US" sz="1050" dirty="0">
                <a:solidFill>
                  <a:srgbClr val="262B3A"/>
                </a:solidFill>
                <a:latin typeface="Calibri" pitchFamily="34" charset="0"/>
                <a:ea typeface="Calibri" pitchFamily="34" charset="-122"/>
                <a:cs typeface="Calibri" pitchFamily="34" charset="-120"/>
              </a:rPr>
              <a:t> secretes saliva (response)</a:t>
            </a:r>
            <a:endParaRPr lang="en-US" sz="1050" dirty="0"/>
          </a:p>
        </p:txBody>
      </p:sp>
      <p:sp>
        <p:nvSpPr>
          <p:cNvPr id="59" name="Shape 57"/>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Receptors and effectors</a:t>
            </a:r>
            <a:endParaRPr lang="en-US" sz="1300" dirty="0"/>
          </a:p>
        </p:txBody>
      </p:sp>
      <p:sp>
        <p:nvSpPr>
          <p:cNvPr id="61" name="Text 5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250" b="1" dirty="0">
                <a:solidFill>
                  <a:srgbClr val="262B3A"/>
                </a:solidFill>
                <a:latin typeface="Calibri" pitchFamily="34" charset="0"/>
                <a:ea typeface="Calibri" pitchFamily="34" charset="-122"/>
                <a:cs typeface="Calibri" pitchFamily="34" charset="-120"/>
              </a:rPr>
              <a:t>Receptors</a:t>
            </a:r>
            <a:r>
              <a:rPr lang="en-US" sz="1250" dirty="0">
                <a:solidFill>
                  <a:srgbClr val="262B3A"/>
                </a:solidFill>
                <a:latin typeface="Calibri" pitchFamily="34" charset="0"/>
                <a:ea typeface="Calibri" pitchFamily="34" charset="-122"/>
                <a:cs typeface="Calibri" pitchFamily="34" charset="-120"/>
              </a:rPr>
              <a:t> are cells that detect a </a:t>
            </a:r>
            <a:r>
              <a:rPr lang="en-US" sz="1250" b="1" dirty="0">
                <a:solidFill>
                  <a:srgbClr val="262B3A"/>
                </a:solidFill>
                <a:latin typeface="Calibri" pitchFamily="34" charset="0"/>
                <a:ea typeface="Calibri" pitchFamily="34" charset="-122"/>
                <a:cs typeface="Calibri" pitchFamily="34" charset="-120"/>
              </a:rPr>
              <a:t>stimulus</a:t>
            </a:r>
            <a:r>
              <a:rPr lang="en-US" sz="1250" dirty="0">
                <a:solidFill>
                  <a:srgbClr val="262B3A"/>
                </a:solidFill>
                <a:latin typeface="Calibri" pitchFamily="34" charset="0"/>
                <a:ea typeface="Calibri" pitchFamily="34" charset="-122"/>
                <a:cs typeface="Calibri" pitchFamily="34" charset="-120"/>
              </a:rPr>
              <a:t>. Many are grouped in </a:t>
            </a:r>
            <a:r>
              <a:rPr lang="en-US" sz="1250" b="1" dirty="0">
                <a:solidFill>
                  <a:srgbClr val="262B3A"/>
                </a:solidFill>
                <a:latin typeface="Calibri" pitchFamily="34" charset="0"/>
                <a:ea typeface="Calibri" pitchFamily="34" charset="-122"/>
                <a:cs typeface="Calibri" pitchFamily="34" charset="-120"/>
              </a:rPr>
              <a:t>sense organs</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A receptor changes the stimulus into an electrical </a:t>
            </a:r>
            <a:r>
              <a:rPr lang="en-US" sz="1250" b="1" dirty="0">
                <a:solidFill>
                  <a:srgbClr val="262B3A"/>
                </a:solidFill>
                <a:latin typeface="Calibri" pitchFamily="34" charset="0"/>
                <a:ea typeface="Calibri" pitchFamily="34" charset="-122"/>
                <a:cs typeface="Calibri" pitchFamily="34" charset="-120"/>
              </a:rPr>
              <a:t>impulse</a:t>
            </a:r>
            <a:r>
              <a:rPr lang="en-US" sz="1250" dirty="0">
                <a:solidFill>
                  <a:srgbClr val="262B3A"/>
                </a:solidFill>
                <a:latin typeface="Calibri" pitchFamily="34" charset="0"/>
                <a:ea typeface="Calibri" pitchFamily="34" charset="-122"/>
                <a:cs typeface="Calibri" pitchFamily="34" charset="-120"/>
              </a:rPr>
              <a:t> in a </a:t>
            </a:r>
            <a:r>
              <a:rPr lang="en-US" sz="1250" b="1" dirty="0">
                <a:solidFill>
                  <a:srgbClr val="262B3A"/>
                </a:solidFill>
                <a:latin typeface="Calibri" pitchFamily="34" charset="0"/>
                <a:ea typeface="Calibri" pitchFamily="34" charset="-122"/>
                <a:cs typeface="Calibri" pitchFamily="34" charset="-120"/>
              </a:rPr>
              <a:t>sensory neurone</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Different receptors detect different stimuli: light, sound, chemicals, touch, temperature.</a:t>
            </a:r>
            <a:endParaRPr lang="en-US" sz="1250" dirty="0"/>
          </a:p>
          <a:p>
            <a:pPr marL="152400" indent="-152400">
              <a:spcAft>
                <a:spcPts val="300"/>
              </a:spcAft>
              <a:buSzPct val="100000"/>
              <a:buChar char="▪"/>
            </a:pPr>
            <a:r>
              <a:rPr lang="en-US" sz="1250" b="1" dirty="0">
                <a:solidFill>
                  <a:srgbClr val="262B3A"/>
                </a:solidFill>
                <a:latin typeface="Calibri" pitchFamily="34" charset="0"/>
                <a:ea typeface="Calibri" pitchFamily="34" charset="-122"/>
                <a:cs typeface="Calibri" pitchFamily="34" charset="-120"/>
              </a:rPr>
              <a:t>Effectors</a:t>
            </a:r>
            <a:r>
              <a:rPr lang="en-US" sz="1250" dirty="0">
                <a:solidFill>
                  <a:srgbClr val="262B3A"/>
                </a:solidFill>
                <a:latin typeface="Calibri" pitchFamily="34" charset="0"/>
                <a:ea typeface="Calibri" pitchFamily="34" charset="-122"/>
                <a:cs typeface="Calibri" pitchFamily="34" charset="-120"/>
              </a:rPr>
              <a:t> are </a:t>
            </a:r>
            <a:r>
              <a:rPr lang="en-US" sz="1250" b="1" dirty="0">
                <a:solidFill>
                  <a:srgbClr val="262B3A"/>
                </a:solidFill>
                <a:latin typeface="Calibri" pitchFamily="34" charset="0"/>
                <a:ea typeface="Calibri" pitchFamily="34" charset="-122"/>
                <a:cs typeface="Calibri" pitchFamily="34" charset="-120"/>
              </a:rPr>
              <a:t>muscles</a:t>
            </a:r>
            <a:r>
              <a:rPr lang="en-US" sz="1250" dirty="0">
                <a:solidFill>
                  <a:srgbClr val="262B3A"/>
                </a:solidFill>
                <a:latin typeface="Calibri" pitchFamily="34" charset="0"/>
                <a:ea typeface="Calibri" pitchFamily="34" charset="-122"/>
                <a:cs typeface="Calibri" pitchFamily="34" charset="-120"/>
              </a:rPr>
              <a:t> or </a:t>
            </a:r>
            <a:r>
              <a:rPr lang="en-US" sz="1250" b="1" dirty="0">
                <a:solidFill>
                  <a:srgbClr val="262B3A"/>
                </a:solidFill>
                <a:latin typeface="Calibri" pitchFamily="34" charset="0"/>
                <a:ea typeface="Calibri" pitchFamily="34" charset="-122"/>
                <a:cs typeface="Calibri" pitchFamily="34" charset="-120"/>
              </a:rPr>
              <a:t>glands</a:t>
            </a:r>
            <a:r>
              <a:rPr lang="en-US" sz="1250" dirty="0">
                <a:solidFill>
                  <a:srgbClr val="262B3A"/>
                </a:solidFill>
                <a:latin typeface="Calibri" pitchFamily="34" charset="0"/>
                <a:ea typeface="Calibri" pitchFamily="34" charset="-122"/>
                <a:cs typeface="Calibri" pitchFamily="34" charset="-120"/>
              </a:rPr>
              <a:t>. They receive impulses along </a:t>
            </a:r>
            <a:r>
              <a:rPr lang="en-US" sz="1250" b="1" dirty="0">
                <a:solidFill>
                  <a:srgbClr val="262B3A"/>
                </a:solidFill>
                <a:latin typeface="Calibri" pitchFamily="34" charset="0"/>
                <a:ea typeface="Calibri" pitchFamily="34" charset="-122"/>
                <a:cs typeface="Calibri" pitchFamily="34" charset="-120"/>
              </a:rPr>
              <a:t>motor neurones</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The response is coordinated, so the right effector responds at the right time.</a:t>
            </a:r>
            <a:endParaRPr lang="en-US" sz="1250" dirty="0"/>
          </a:p>
        </p:txBody>
      </p:sp>
      <p:sp>
        <p:nvSpPr>
          <p:cNvPr id="62" name="Shape 6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3" name="Text 6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identify</a:t>
            </a:r>
            <a:endParaRPr lang="en-US" sz="1300" dirty="0"/>
          </a:p>
        </p:txBody>
      </p:sp>
      <p:sp>
        <p:nvSpPr>
          <p:cNvPr id="64" name="Text 6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cyclist hears a car horn and brakes. Identify the receptor, the coordinator and the effector.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Stimulus   </a:t>
            </a:r>
            <a:r>
              <a:rPr lang="en-US" sz="1050" dirty="0">
                <a:solidFill>
                  <a:srgbClr val="262B3A"/>
                </a:solidFill>
                <a:latin typeface="Calibri" pitchFamily="34" charset="0"/>
                <a:ea typeface="Calibri" pitchFamily="34" charset="-122"/>
                <a:cs typeface="Calibri" pitchFamily="34" charset="-120"/>
              </a:rPr>
              <a:t>sound of the horn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Receptor   </a:t>
            </a:r>
            <a:r>
              <a:rPr lang="en-US" sz="1050" dirty="0">
                <a:solidFill>
                  <a:srgbClr val="262B3A"/>
                </a:solidFill>
                <a:latin typeface="Calibri" pitchFamily="34" charset="0"/>
                <a:ea typeface="Calibri" pitchFamily="34" charset="-122"/>
                <a:cs typeface="Calibri" pitchFamily="34" charset="-120"/>
              </a:rPr>
              <a:t>sound receptors in the ear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Coordinator   </a:t>
            </a:r>
            <a:r>
              <a:rPr lang="en-US" sz="1050" dirty="0">
                <a:solidFill>
                  <a:srgbClr val="262B3A"/>
                </a:solidFill>
                <a:latin typeface="Calibri" pitchFamily="34" charset="0"/>
                <a:ea typeface="Calibri" pitchFamily="34" charset="-122"/>
                <a:cs typeface="Calibri" pitchFamily="34" charset="-120"/>
              </a:rPr>
              <a:t>CNS (brain and spinal cord)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Effector   </a:t>
            </a:r>
            <a:r>
              <a:rPr lang="en-US" sz="1050" b="1" dirty="0">
                <a:solidFill>
                  <a:srgbClr val="C8414C"/>
                </a:solidFill>
                <a:latin typeface="Calibri" pitchFamily="34" charset="0"/>
                <a:ea typeface="Calibri" pitchFamily="34" charset="-122"/>
                <a:cs typeface="Calibri" pitchFamily="34" charset="-120"/>
              </a:rPr>
              <a:t>hand muscles contract: squeeze the brake</a:t>
            </a:r>
            <a:endParaRPr lang="en-US" sz="105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Your hand touches a sharp pin. Name the </a:t>
            </a:r>
            <a:r>
              <a:rPr lang="en-US" sz="1150" b="1" dirty="0">
                <a:solidFill>
                  <a:srgbClr val="262B3A"/>
                </a:solidFill>
                <a:latin typeface="Calibri" pitchFamily="34" charset="0"/>
                <a:ea typeface="Calibri" pitchFamily="34" charset="-122"/>
                <a:cs typeface="Calibri" pitchFamily="34" charset="-120"/>
              </a:rPr>
              <a:t>receptor</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effector</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response</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B5.2.1 • the nervous system, receptors and effectors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parts of the central nervous system (CNS).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Put these in the order an impulse passes through them: </a:t>
            </a:r>
            <a:r>
              <a:rPr lang="en-US" sz="1250" b="1" dirty="0">
                <a:solidFill>
                  <a:srgbClr val="262B3A"/>
                </a:solidFill>
                <a:latin typeface="Calibri" pitchFamily="34" charset="0"/>
                <a:ea typeface="Calibri" pitchFamily="34" charset="-122"/>
                <a:cs typeface="Calibri" pitchFamily="34" charset="-120"/>
              </a:rPr>
              <a:t>motor neurone, receptor, CNS, effector, sensory neurone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types of effector and state how each one responds.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bright light shines into a person's eyes and they </a:t>
            </a:r>
            <a:r>
              <a:rPr lang="en-US" sz="1250" b="1" dirty="0">
                <a:solidFill>
                  <a:srgbClr val="262B3A"/>
                </a:solidFill>
                <a:latin typeface="Calibri" pitchFamily="34" charset="0"/>
                <a:ea typeface="Calibri" pitchFamily="34" charset="-122"/>
                <a:cs typeface="Calibri" pitchFamily="34" charset="-120"/>
              </a:rPr>
              <a:t>blink</a:t>
            </a:r>
            <a:r>
              <a:rPr lang="en-US" sz="1250" dirty="0">
                <a:solidFill>
                  <a:srgbClr val="262B3A"/>
                </a:solidFill>
                <a:latin typeface="Calibri" pitchFamily="34" charset="0"/>
                <a:ea typeface="Calibri" pitchFamily="34" charset="-122"/>
                <a:cs typeface="Calibri" pitchFamily="34" charset="-120"/>
              </a:rPr>
              <a:t>. Identify the </a:t>
            </a:r>
            <a:r>
              <a:rPr lang="en-US" sz="1250" b="1" dirty="0">
                <a:solidFill>
                  <a:srgbClr val="262B3A"/>
                </a:solidFill>
                <a:latin typeface="Calibri" pitchFamily="34" charset="0"/>
                <a:ea typeface="Calibri" pitchFamily="34" charset="-122"/>
                <a:cs typeface="Calibri" pitchFamily="34" charset="-120"/>
              </a:rPr>
              <a:t>stimulus</a:t>
            </a:r>
            <a:r>
              <a:rPr lang="en-US" sz="1250" dirty="0">
                <a:solidFill>
                  <a:srgbClr val="262B3A"/>
                </a:solidFill>
                <a:latin typeface="Calibri" pitchFamily="34" charset="0"/>
                <a:ea typeface="Calibri" pitchFamily="34" charset="-122"/>
                <a:cs typeface="Calibri" pitchFamily="34" charset="-120"/>
              </a:rPr>
              <a:t> and the </a:t>
            </a:r>
            <a:r>
              <a:rPr lang="en-US" sz="1250" b="1" dirty="0">
                <a:solidFill>
                  <a:srgbClr val="262B3A"/>
                </a:solidFill>
                <a:latin typeface="Calibri" pitchFamily="34" charset="0"/>
                <a:ea typeface="Calibri" pitchFamily="34" charset="-122"/>
                <a:cs typeface="Calibri" pitchFamily="34" charset="-120"/>
              </a:rPr>
              <a:t>receptor</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structure of a neurone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B5.2.2 • a motor neurone: structure linked to function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B5.2.2  |  8</a:t>
            </a:r>
            <a:endParaRPr lang="en-US" sz="1000" dirty="0"/>
          </a:p>
        </p:txBody>
      </p:sp>
      <p:sp>
        <p:nvSpPr>
          <p:cNvPr id="8" name="Shape 6"/>
          <p:cNvSpPr/>
          <p:nvPr/>
        </p:nvSpPr>
        <p:spPr>
          <a:xfrm>
            <a:off x="411480" y="1188720"/>
            <a:ext cx="667512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64008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motor neurone (much shorter than real); arrows show the direction of the impulse</a:t>
            </a:r>
            <a:endParaRPr lang="en-US" sz="1000" dirty="0"/>
          </a:p>
        </p:txBody>
      </p:sp>
      <p:sp>
        <p:nvSpPr>
          <p:cNvPr id="10" name="Shape 8"/>
          <p:cNvSpPr/>
          <p:nvPr/>
        </p:nvSpPr>
        <p:spPr>
          <a:xfrm flipV="1">
            <a:off x="1645920" y="1765377"/>
            <a:ext cx="132108" cy="749223"/>
          </a:xfrm>
          <a:prstGeom prst="line">
            <a:avLst/>
          </a:prstGeom>
          <a:noFill/>
          <a:ln w="19050">
            <a:solidFill>
              <a:srgbClr val="6A4C93"/>
            </a:solidFill>
            <a:prstDash val="solid"/>
          </a:ln>
        </p:spPr>
      </p:sp>
      <p:sp>
        <p:nvSpPr>
          <p:cNvPr id="11" name="Shape 9"/>
          <p:cNvSpPr/>
          <p:nvPr/>
        </p:nvSpPr>
        <p:spPr>
          <a:xfrm flipH="1" flipV="1">
            <a:off x="1706399" y="1511959"/>
            <a:ext cx="71629" cy="253419"/>
          </a:xfrm>
          <a:prstGeom prst="line">
            <a:avLst/>
          </a:prstGeom>
          <a:noFill/>
          <a:ln w="12700">
            <a:solidFill>
              <a:srgbClr val="6A4C93"/>
            </a:solidFill>
            <a:prstDash val="solid"/>
          </a:ln>
        </p:spPr>
      </p:sp>
      <p:sp>
        <p:nvSpPr>
          <p:cNvPr id="12" name="Shape 10"/>
          <p:cNvSpPr/>
          <p:nvPr/>
        </p:nvSpPr>
        <p:spPr>
          <a:xfrm flipV="1">
            <a:off x="1778028" y="1551740"/>
            <a:ext cx="153984" cy="213637"/>
          </a:xfrm>
          <a:prstGeom prst="line">
            <a:avLst/>
          </a:prstGeom>
          <a:noFill/>
          <a:ln w="12700">
            <a:solidFill>
              <a:srgbClr val="6A4C93"/>
            </a:solidFill>
            <a:prstDash val="solid"/>
          </a:ln>
        </p:spPr>
      </p:sp>
      <p:sp>
        <p:nvSpPr>
          <p:cNvPr id="13" name="Shape 11"/>
          <p:cNvSpPr/>
          <p:nvPr/>
        </p:nvSpPr>
        <p:spPr>
          <a:xfrm flipH="1" flipV="1">
            <a:off x="1344590" y="1816039"/>
            <a:ext cx="301330" cy="698561"/>
          </a:xfrm>
          <a:prstGeom prst="line">
            <a:avLst/>
          </a:prstGeom>
          <a:noFill/>
          <a:ln w="19050">
            <a:solidFill>
              <a:srgbClr val="6A4C93"/>
            </a:solidFill>
            <a:prstDash val="solid"/>
          </a:ln>
        </p:spPr>
      </p:sp>
      <p:sp>
        <p:nvSpPr>
          <p:cNvPr id="14" name="Shape 12"/>
          <p:cNvSpPr/>
          <p:nvPr/>
        </p:nvSpPr>
        <p:spPr>
          <a:xfrm flipH="1" flipV="1">
            <a:off x="1145489" y="1643672"/>
            <a:ext cx="199101" cy="172367"/>
          </a:xfrm>
          <a:prstGeom prst="line">
            <a:avLst/>
          </a:prstGeom>
          <a:noFill/>
          <a:ln w="12700">
            <a:solidFill>
              <a:srgbClr val="6A4C93"/>
            </a:solidFill>
            <a:prstDash val="solid"/>
          </a:ln>
        </p:spPr>
      </p:sp>
      <p:sp>
        <p:nvSpPr>
          <p:cNvPr id="15" name="Shape 13"/>
          <p:cNvSpPr/>
          <p:nvPr/>
        </p:nvSpPr>
        <p:spPr>
          <a:xfrm flipV="1">
            <a:off x="1344590" y="1552932"/>
            <a:ext cx="11256" cy="263107"/>
          </a:xfrm>
          <a:prstGeom prst="line">
            <a:avLst/>
          </a:prstGeom>
          <a:noFill/>
          <a:ln w="12700">
            <a:solidFill>
              <a:srgbClr val="6A4C93"/>
            </a:solidFill>
            <a:prstDash val="solid"/>
          </a:ln>
        </p:spPr>
      </p:sp>
      <p:sp>
        <p:nvSpPr>
          <p:cNvPr id="16" name="Shape 14"/>
          <p:cNvSpPr/>
          <p:nvPr/>
        </p:nvSpPr>
        <p:spPr>
          <a:xfrm flipH="1" flipV="1">
            <a:off x="1010297" y="2096544"/>
            <a:ext cx="635623" cy="418056"/>
          </a:xfrm>
          <a:prstGeom prst="line">
            <a:avLst/>
          </a:prstGeom>
          <a:noFill/>
          <a:ln w="19050">
            <a:solidFill>
              <a:srgbClr val="6A4C93"/>
            </a:solidFill>
            <a:prstDash val="solid"/>
          </a:ln>
        </p:spPr>
      </p:sp>
      <p:sp>
        <p:nvSpPr>
          <p:cNvPr id="17" name="Shape 15"/>
          <p:cNvSpPr/>
          <p:nvPr/>
        </p:nvSpPr>
        <p:spPr>
          <a:xfrm flipH="1" flipV="1">
            <a:off x="749233" y="2061942"/>
            <a:ext cx="261064" cy="34603"/>
          </a:xfrm>
          <a:prstGeom prst="line">
            <a:avLst/>
          </a:prstGeom>
          <a:noFill/>
          <a:ln w="12700">
            <a:solidFill>
              <a:srgbClr val="6A4C93"/>
            </a:solidFill>
            <a:prstDash val="solid"/>
          </a:ln>
        </p:spPr>
      </p:sp>
      <p:sp>
        <p:nvSpPr>
          <p:cNvPr id="18" name="Shape 16"/>
          <p:cNvSpPr/>
          <p:nvPr/>
        </p:nvSpPr>
        <p:spPr>
          <a:xfrm flipH="1" flipV="1">
            <a:off x="875122" y="1870536"/>
            <a:ext cx="135175" cy="226008"/>
          </a:xfrm>
          <a:prstGeom prst="line">
            <a:avLst/>
          </a:prstGeom>
          <a:noFill/>
          <a:ln w="12700">
            <a:solidFill>
              <a:srgbClr val="6A4C93"/>
            </a:solidFill>
            <a:prstDash val="solid"/>
          </a:ln>
        </p:spPr>
      </p:sp>
      <p:sp>
        <p:nvSpPr>
          <p:cNvPr id="19" name="Shape 17"/>
          <p:cNvSpPr/>
          <p:nvPr/>
        </p:nvSpPr>
        <p:spPr>
          <a:xfrm flipH="1">
            <a:off x="885139" y="2514600"/>
            <a:ext cx="760781" cy="91"/>
          </a:xfrm>
          <a:prstGeom prst="line">
            <a:avLst/>
          </a:prstGeom>
          <a:noFill/>
          <a:ln w="19050">
            <a:solidFill>
              <a:srgbClr val="6A4C93"/>
            </a:solidFill>
            <a:prstDash val="solid"/>
          </a:ln>
        </p:spPr>
      </p:sp>
      <p:sp>
        <p:nvSpPr>
          <p:cNvPr id="20" name="Shape 18"/>
          <p:cNvSpPr/>
          <p:nvPr/>
        </p:nvSpPr>
        <p:spPr>
          <a:xfrm flipH="1">
            <a:off x="648009" y="2514600"/>
            <a:ext cx="237130" cy="114547"/>
          </a:xfrm>
          <a:prstGeom prst="line">
            <a:avLst/>
          </a:prstGeom>
          <a:noFill/>
          <a:ln w="12700">
            <a:solidFill>
              <a:srgbClr val="6A4C93"/>
            </a:solidFill>
            <a:prstDash val="solid"/>
          </a:ln>
        </p:spPr>
      </p:sp>
      <p:sp>
        <p:nvSpPr>
          <p:cNvPr id="21" name="Shape 19"/>
          <p:cNvSpPr/>
          <p:nvPr/>
        </p:nvSpPr>
        <p:spPr>
          <a:xfrm flipH="1" flipV="1">
            <a:off x="648009" y="2400053"/>
            <a:ext cx="237130" cy="114547"/>
          </a:xfrm>
          <a:prstGeom prst="line">
            <a:avLst/>
          </a:prstGeom>
          <a:noFill/>
          <a:ln w="12700">
            <a:solidFill>
              <a:srgbClr val="6A4C93"/>
            </a:solidFill>
            <a:prstDash val="solid"/>
          </a:ln>
        </p:spPr>
      </p:sp>
      <p:sp>
        <p:nvSpPr>
          <p:cNvPr id="22" name="Shape 20"/>
          <p:cNvSpPr/>
          <p:nvPr/>
        </p:nvSpPr>
        <p:spPr>
          <a:xfrm flipH="1">
            <a:off x="1010297" y="2514600"/>
            <a:ext cx="635623" cy="418056"/>
          </a:xfrm>
          <a:prstGeom prst="line">
            <a:avLst/>
          </a:prstGeom>
          <a:noFill/>
          <a:ln w="19050">
            <a:solidFill>
              <a:srgbClr val="6A4C93"/>
            </a:solidFill>
            <a:prstDash val="solid"/>
          </a:ln>
        </p:spPr>
      </p:sp>
      <p:sp>
        <p:nvSpPr>
          <p:cNvPr id="23" name="Shape 21"/>
          <p:cNvSpPr/>
          <p:nvPr/>
        </p:nvSpPr>
        <p:spPr>
          <a:xfrm flipH="1">
            <a:off x="875122" y="2932656"/>
            <a:ext cx="135175" cy="226008"/>
          </a:xfrm>
          <a:prstGeom prst="line">
            <a:avLst/>
          </a:prstGeom>
          <a:noFill/>
          <a:ln w="12700">
            <a:solidFill>
              <a:srgbClr val="6A4C93"/>
            </a:solidFill>
            <a:prstDash val="solid"/>
          </a:ln>
        </p:spPr>
      </p:sp>
      <p:sp>
        <p:nvSpPr>
          <p:cNvPr id="24" name="Shape 22"/>
          <p:cNvSpPr/>
          <p:nvPr/>
        </p:nvSpPr>
        <p:spPr>
          <a:xfrm flipH="1">
            <a:off x="749233" y="2932656"/>
            <a:ext cx="261064" cy="34603"/>
          </a:xfrm>
          <a:prstGeom prst="line">
            <a:avLst/>
          </a:prstGeom>
          <a:noFill/>
          <a:ln w="12700">
            <a:solidFill>
              <a:srgbClr val="6A4C93"/>
            </a:solidFill>
            <a:prstDash val="solid"/>
          </a:ln>
        </p:spPr>
      </p:sp>
      <p:sp>
        <p:nvSpPr>
          <p:cNvPr id="25" name="Shape 23"/>
          <p:cNvSpPr/>
          <p:nvPr/>
        </p:nvSpPr>
        <p:spPr>
          <a:xfrm flipH="1">
            <a:off x="1344590" y="2514600"/>
            <a:ext cx="301330" cy="698561"/>
          </a:xfrm>
          <a:prstGeom prst="line">
            <a:avLst/>
          </a:prstGeom>
          <a:noFill/>
          <a:ln w="19050">
            <a:solidFill>
              <a:srgbClr val="6A4C93"/>
            </a:solidFill>
            <a:prstDash val="solid"/>
          </a:ln>
        </p:spPr>
      </p:sp>
      <p:sp>
        <p:nvSpPr>
          <p:cNvPr id="26" name="Shape 24"/>
          <p:cNvSpPr/>
          <p:nvPr/>
        </p:nvSpPr>
        <p:spPr>
          <a:xfrm>
            <a:off x="1344590" y="3213161"/>
            <a:ext cx="11256" cy="263107"/>
          </a:xfrm>
          <a:prstGeom prst="line">
            <a:avLst/>
          </a:prstGeom>
          <a:noFill/>
          <a:ln w="12700">
            <a:solidFill>
              <a:srgbClr val="6A4C93"/>
            </a:solidFill>
            <a:prstDash val="solid"/>
          </a:ln>
        </p:spPr>
      </p:sp>
      <p:sp>
        <p:nvSpPr>
          <p:cNvPr id="27" name="Shape 25"/>
          <p:cNvSpPr/>
          <p:nvPr/>
        </p:nvSpPr>
        <p:spPr>
          <a:xfrm flipH="1">
            <a:off x="1145489" y="3213161"/>
            <a:ext cx="199101" cy="172367"/>
          </a:xfrm>
          <a:prstGeom prst="line">
            <a:avLst/>
          </a:prstGeom>
          <a:noFill/>
          <a:ln w="12700">
            <a:solidFill>
              <a:srgbClr val="6A4C93"/>
            </a:solidFill>
            <a:prstDash val="solid"/>
          </a:ln>
        </p:spPr>
      </p:sp>
      <p:sp>
        <p:nvSpPr>
          <p:cNvPr id="28" name="Shape 26"/>
          <p:cNvSpPr/>
          <p:nvPr/>
        </p:nvSpPr>
        <p:spPr>
          <a:xfrm>
            <a:off x="1645920" y="2514600"/>
            <a:ext cx="132108" cy="749223"/>
          </a:xfrm>
          <a:prstGeom prst="line">
            <a:avLst/>
          </a:prstGeom>
          <a:noFill/>
          <a:ln w="19050">
            <a:solidFill>
              <a:srgbClr val="6A4C93"/>
            </a:solidFill>
            <a:prstDash val="solid"/>
          </a:ln>
        </p:spPr>
      </p:sp>
      <p:sp>
        <p:nvSpPr>
          <p:cNvPr id="29" name="Shape 27"/>
          <p:cNvSpPr/>
          <p:nvPr/>
        </p:nvSpPr>
        <p:spPr>
          <a:xfrm>
            <a:off x="1778028" y="3263823"/>
            <a:ext cx="153984" cy="213637"/>
          </a:xfrm>
          <a:prstGeom prst="line">
            <a:avLst/>
          </a:prstGeom>
          <a:noFill/>
          <a:ln w="12700">
            <a:solidFill>
              <a:srgbClr val="6A4C93"/>
            </a:solidFill>
            <a:prstDash val="solid"/>
          </a:ln>
        </p:spPr>
      </p:sp>
      <p:sp>
        <p:nvSpPr>
          <p:cNvPr id="30" name="Shape 28"/>
          <p:cNvSpPr/>
          <p:nvPr/>
        </p:nvSpPr>
        <p:spPr>
          <a:xfrm flipH="1">
            <a:off x="1706399" y="3263823"/>
            <a:ext cx="71629" cy="253419"/>
          </a:xfrm>
          <a:prstGeom prst="line">
            <a:avLst/>
          </a:prstGeom>
          <a:noFill/>
          <a:ln w="12700">
            <a:solidFill>
              <a:srgbClr val="6A4C93"/>
            </a:solidFill>
            <a:prstDash val="solid"/>
          </a:ln>
        </p:spPr>
      </p:sp>
      <p:sp>
        <p:nvSpPr>
          <p:cNvPr id="31" name="Shape 29"/>
          <p:cNvSpPr/>
          <p:nvPr/>
        </p:nvSpPr>
        <p:spPr>
          <a:xfrm>
            <a:off x="1353312" y="2221992"/>
            <a:ext cx="585216" cy="585216"/>
          </a:xfrm>
          <a:prstGeom prst="ellipse">
            <a:avLst/>
          </a:prstGeom>
          <a:solidFill>
            <a:srgbClr val="E3D7F0"/>
          </a:solidFill>
          <a:ln w="19050">
            <a:solidFill>
              <a:srgbClr val="6A4C93"/>
            </a:solidFill>
            <a:prstDash val="solid"/>
          </a:ln>
        </p:spPr>
      </p:sp>
      <p:sp>
        <p:nvSpPr>
          <p:cNvPr id="32" name="Shape 30"/>
          <p:cNvSpPr/>
          <p:nvPr/>
        </p:nvSpPr>
        <p:spPr>
          <a:xfrm>
            <a:off x="1523025" y="2391705"/>
            <a:ext cx="245791" cy="245791"/>
          </a:xfrm>
          <a:prstGeom prst="ellipse">
            <a:avLst/>
          </a:prstGeom>
          <a:solidFill>
            <a:srgbClr val="C9B6E4"/>
          </a:solidFill>
          <a:ln w="12700">
            <a:solidFill>
              <a:srgbClr val="6A4C93"/>
            </a:solidFill>
            <a:prstDash val="solid"/>
          </a:ln>
        </p:spPr>
      </p:sp>
      <p:sp>
        <p:nvSpPr>
          <p:cNvPr id="33" name="Shape 31"/>
          <p:cNvSpPr/>
          <p:nvPr/>
        </p:nvSpPr>
        <p:spPr>
          <a:xfrm>
            <a:off x="1938528" y="2514600"/>
            <a:ext cx="3776472" cy="91"/>
          </a:xfrm>
          <a:prstGeom prst="line">
            <a:avLst/>
          </a:prstGeom>
          <a:noFill/>
          <a:ln w="38100">
            <a:solidFill>
              <a:srgbClr val="6A4C93"/>
            </a:solidFill>
            <a:prstDash val="solid"/>
          </a:ln>
        </p:spPr>
      </p:sp>
      <p:sp>
        <p:nvSpPr>
          <p:cNvPr id="34" name="Shape 32"/>
          <p:cNvSpPr/>
          <p:nvPr/>
        </p:nvSpPr>
        <p:spPr>
          <a:xfrm>
            <a:off x="2212848" y="2404872"/>
            <a:ext cx="457200" cy="219456"/>
          </a:xfrm>
          <a:prstGeom prst="roundRect">
            <a:avLst>
              <a:gd name="adj" fmla="val 50000"/>
            </a:avLst>
          </a:prstGeom>
          <a:solidFill>
            <a:srgbClr val="FBE3A6"/>
          </a:solidFill>
          <a:ln w="9525">
            <a:solidFill>
              <a:srgbClr val="C9A04A"/>
            </a:solidFill>
            <a:prstDash val="solid"/>
          </a:ln>
        </p:spPr>
      </p:sp>
      <p:sp>
        <p:nvSpPr>
          <p:cNvPr id="35" name="Shape 33"/>
          <p:cNvSpPr/>
          <p:nvPr/>
        </p:nvSpPr>
        <p:spPr>
          <a:xfrm>
            <a:off x="2743200" y="2404872"/>
            <a:ext cx="457200" cy="219456"/>
          </a:xfrm>
          <a:prstGeom prst="roundRect">
            <a:avLst>
              <a:gd name="adj" fmla="val 50000"/>
            </a:avLst>
          </a:prstGeom>
          <a:solidFill>
            <a:srgbClr val="FBE3A6"/>
          </a:solidFill>
          <a:ln w="9525">
            <a:solidFill>
              <a:srgbClr val="C9A04A"/>
            </a:solidFill>
            <a:prstDash val="solid"/>
          </a:ln>
        </p:spPr>
      </p:sp>
      <p:sp>
        <p:nvSpPr>
          <p:cNvPr id="36" name="Shape 34"/>
          <p:cNvSpPr/>
          <p:nvPr/>
        </p:nvSpPr>
        <p:spPr>
          <a:xfrm>
            <a:off x="3273552" y="2404872"/>
            <a:ext cx="457200" cy="219456"/>
          </a:xfrm>
          <a:prstGeom prst="roundRect">
            <a:avLst>
              <a:gd name="adj" fmla="val 50000"/>
            </a:avLst>
          </a:prstGeom>
          <a:solidFill>
            <a:srgbClr val="FBE3A6"/>
          </a:solidFill>
          <a:ln w="9525">
            <a:solidFill>
              <a:srgbClr val="C9A04A"/>
            </a:solidFill>
            <a:prstDash val="solid"/>
          </a:ln>
        </p:spPr>
      </p:sp>
      <p:sp>
        <p:nvSpPr>
          <p:cNvPr id="37" name="Shape 35"/>
          <p:cNvSpPr/>
          <p:nvPr/>
        </p:nvSpPr>
        <p:spPr>
          <a:xfrm>
            <a:off x="3803904" y="2404872"/>
            <a:ext cx="457200" cy="219456"/>
          </a:xfrm>
          <a:prstGeom prst="roundRect">
            <a:avLst>
              <a:gd name="adj" fmla="val 50000"/>
            </a:avLst>
          </a:prstGeom>
          <a:solidFill>
            <a:srgbClr val="FBE3A6"/>
          </a:solidFill>
          <a:ln w="9525">
            <a:solidFill>
              <a:srgbClr val="C9A04A"/>
            </a:solidFill>
            <a:prstDash val="solid"/>
          </a:ln>
        </p:spPr>
      </p:sp>
      <p:sp>
        <p:nvSpPr>
          <p:cNvPr id="38" name="Shape 36"/>
          <p:cNvSpPr/>
          <p:nvPr/>
        </p:nvSpPr>
        <p:spPr>
          <a:xfrm>
            <a:off x="4334256" y="2404872"/>
            <a:ext cx="457200" cy="219456"/>
          </a:xfrm>
          <a:prstGeom prst="roundRect">
            <a:avLst>
              <a:gd name="adj" fmla="val 50000"/>
            </a:avLst>
          </a:prstGeom>
          <a:solidFill>
            <a:srgbClr val="FBE3A6"/>
          </a:solidFill>
          <a:ln w="9525">
            <a:solidFill>
              <a:srgbClr val="C9A04A"/>
            </a:solidFill>
            <a:prstDash val="solid"/>
          </a:ln>
        </p:spPr>
      </p:sp>
      <p:sp>
        <p:nvSpPr>
          <p:cNvPr id="39" name="Shape 37"/>
          <p:cNvSpPr/>
          <p:nvPr/>
        </p:nvSpPr>
        <p:spPr>
          <a:xfrm>
            <a:off x="4864608" y="2404872"/>
            <a:ext cx="457200" cy="219456"/>
          </a:xfrm>
          <a:prstGeom prst="roundRect">
            <a:avLst>
              <a:gd name="adj" fmla="val 50000"/>
            </a:avLst>
          </a:prstGeom>
          <a:solidFill>
            <a:srgbClr val="FBE3A6"/>
          </a:solidFill>
          <a:ln w="9525">
            <a:solidFill>
              <a:srgbClr val="C9A04A"/>
            </a:solidFill>
            <a:prstDash val="solid"/>
          </a:ln>
        </p:spPr>
      </p:sp>
      <p:sp>
        <p:nvSpPr>
          <p:cNvPr id="40" name="Shape 38"/>
          <p:cNvSpPr/>
          <p:nvPr/>
        </p:nvSpPr>
        <p:spPr>
          <a:xfrm flipV="1">
            <a:off x="5715000" y="2253996"/>
            <a:ext cx="390906" cy="260604"/>
          </a:xfrm>
          <a:prstGeom prst="line">
            <a:avLst/>
          </a:prstGeom>
          <a:noFill/>
          <a:ln w="19050">
            <a:solidFill>
              <a:srgbClr val="6A4C93"/>
            </a:solidFill>
            <a:prstDash val="solid"/>
          </a:ln>
        </p:spPr>
      </p:sp>
      <p:sp>
        <p:nvSpPr>
          <p:cNvPr id="41" name="Shape 39"/>
          <p:cNvSpPr/>
          <p:nvPr/>
        </p:nvSpPr>
        <p:spPr>
          <a:xfrm>
            <a:off x="6066815" y="2214905"/>
            <a:ext cx="78181" cy="78181"/>
          </a:xfrm>
          <a:prstGeom prst="ellipse">
            <a:avLst/>
          </a:prstGeom>
          <a:solidFill>
            <a:srgbClr val="6A4C93"/>
          </a:solidFill>
          <a:ln w="9525">
            <a:solidFill>
              <a:srgbClr val="6A4C93"/>
            </a:solidFill>
            <a:prstDash val="solid"/>
          </a:ln>
        </p:spPr>
      </p:sp>
      <p:sp>
        <p:nvSpPr>
          <p:cNvPr id="42" name="Shape 40"/>
          <p:cNvSpPr/>
          <p:nvPr/>
        </p:nvSpPr>
        <p:spPr>
          <a:xfrm flipV="1">
            <a:off x="5715000" y="2427732"/>
            <a:ext cx="434340" cy="86868"/>
          </a:xfrm>
          <a:prstGeom prst="line">
            <a:avLst/>
          </a:prstGeom>
          <a:noFill/>
          <a:ln w="19050">
            <a:solidFill>
              <a:srgbClr val="6A4C93"/>
            </a:solidFill>
            <a:prstDash val="solid"/>
          </a:ln>
        </p:spPr>
      </p:sp>
      <p:sp>
        <p:nvSpPr>
          <p:cNvPr id="43" name="Shape 41"/>
          <p:cNvSpPr/>
          <p:nvPr/>
        </p:nvSpPr>
        <p:spPr>
          <a:xfrm>
            <a:off x="6110249" y="2388641"/>
            <a:ext cx="78181" cy="78181"/>
          </a:xfrm>
          <a:prstGeom prst="ellipse">
            <a:avLst/>
          </a:prstGeom>
          <a:solidFill>
            <a:srgbClr val="6A4C93"/>
          </a:solidFill>
          <a:ln w="9525">
            <a:solidFill>
              <a:srgbClr val="6A4C93"/>
            </a:solidFill>
            <a:prstDash val="solid"/>
          </a:ln>
        </p:spPr>
      </p:sp>
      <p:sp>
        <p:nvSpPr>
          <p:cNvPr id="44" name="Shape 42"/>
          <p:cNvSpPr/>
          <p:nvPr/>
        </p:nvSpPr>
        <p:spPr>
          <a:xfrm>
            <a:off x="5715000" y="2514600"/>
            <a:ext cx="434340" cy="86868"/>
          </a:xfrm>
          <a:prstGeom prst="line">
            <a:avLst/>
          </a:prstGeom>
          <a:noFill/>
          <a:ln w="19050">
            <a:solidFill>
              <a:srgbClr val="6A4C93"/>
            </a:solidFill>
            <a:prstDash val="solid"/>
          </a:ln>
        </p:spPr>
      </p:sp>
      <p:sp>
        <p:nvSpPr>
          <p:cNvPr id="45" name="Shape 43"/>
          <p:cNvSpPr/>
          <p:nvPr/>
        </p:nvSpPr>
        <p:spPr>
          <a:xfrm>
            <a:off x="6110249" y="2562377"/>
            <a:ext cx="78181" cy="78181"/>
          </a:xfrm>
          <a:prstGeom prst="ellipse">
            <a:avLst/>
          </a:prstGeom>
          <a:solidFill>
            <a:srgbClr val="6A4C93"/>
          </a:solidFill>
          <a:ln w="9525">
            <a:solidFill>
              <a:srgbClr val="6A4C93"/>
            </a:solidFill>
            <a:prstDash val="solid"/>
          </a:ln>
        </p:spPr>
      </p:sp>
      <p:sp>
        <p:nvSpPr>
          <p:cNvPr id="46" name="Shape 44"/>
          <p:cNvSpPr/>
          <p:nvPr/>
        </p:nvSpPr>
        <p:spPr>
          <a:xfrm>
            <a:off x="5715000" y="2514600"/>
            <a:ext cx="390906" cy="260604"/>
          </a:xfrm>
          <a:prstGeom prst="line">
            <a:avLst/>
          </a:prstGeom>
          <a:noFill/>
          <a:ln w="19050">
            <a:solidFill>
              <a:srgbClr val="6A4C93"/>
            </a:solidFill>
            <a:prstDash val="solid"/>
          </a:ln>
        </p:spPr>
      </p:sp>
      <p:sp>
        <p:nvSpPr>
          <p:cNvPr id="47" name="Shape 45"/>
          <p:cNvSpPr/>
          <p:nvPr/>
        </p:nvSpPr>
        <p:spPr>
          <a:xfrm>
            <a:off x="6066815" y="2736113"/>
            <a:ext cx="78181" cy="78181"/>
          </a:xfrm>
          <a:prstGeom prst="ellipse">
            <a:avLst/>
          </a:prstGeom>
          <a:solidFill>
            <a:srgbClr val="6A4C93"/>
          </a:solidFill>
          <a:ln w="9525">
            <a:solidFill>
              <a:srgbClr val="6A4C93"/>
            </a:solidFill>
            <a:prstDash val="solid"/>
          </a:ln>
        </p:spPr>
      </p:sp>
      <p:sp>
        <p:nvSpPr>
          <p:cNvPr id="48" name="Shape 46"/>
          <p:cNvSpPr/>
          <p:nvPr/>
        </p:nvSpPr>
        <p:spPr>
          <a:xfrm>
            <a:off x="6172200" y="1965960"/>
            <a:ext cx="566928" cy="1097280"/>
          </a:xfrm>
          <a:prstGeom prst="roundRect">
            <a:avLst>
              <a:gd name="adj" fmla="val 12903"/>
            </a:avLst>
          </a:prstGeom>
          <a:solidFill>
            <a:srgbClr val="F4B6B9"/>
          </a:solidFill>
          <a:ln w="15875">
            <a:solidFill>
              <a:srgbClr val="A33E48"/>
            </a:solidFill>
            <a:prstDash val="solid"/>
          </a:ln>
        </p:spPr>
      </p:sp>
      <p:sp>
        <p:nvSpPr>
          <p:cNvPr id="49" name="Shape 47"/>
          <p:cNvSpPr/>
          <p:nvPr/>
        </p:nvSpPr>
        <p:spPr>
          <a:xfrm>
            <a:off x="6217920" y="2148840"/>
            <a:ext cx="475488" cy="91"/>
          </a:xfrm>
          <a:prstGeom prst="line">
            <a:avLst/>
          </a:prstGeom>
          <a:noFill/>
          <a:ln w="9525">
            <a:solidFill>
              <a:srgbClr val="C76A72"/>
            </a:solidFill>
            <a:prstDash val="solid"/>
          </a:ln>
        </p:spPr>
      </p:sp>
      <p:sp>
        <p:nvSpPr>
          <p:cNvPr id="50" name="Shape 48"/>
          <p:cNvSpPr/>
          <p:nvPr/>
        </p:nvSpPr>
        <p:spPr>
          <a:xfrm>
            <a:off x="6217920" y="2331720"/>
            <a:ext cx="475488" cy="91"/>
          </a:xfrm>
          <a:prstGeom prst="line">
            <a:avLst/>
          </a:prstGeom>
          <a:noFill/>
          <a:ln w="9525">
            <a:solidFill>
              <a:srgbClr val="C76A72"/>
            </a:solidFill>
            <a:prstDash val="solid"/>
          </a:ln>
        </p:spPr>
      </p:sp>
      <p:sp>
        <p:nvSpPr>
          <p:cNvPr id="51" name="Shape 49"/>
          <p:cNvSpPr/>
          <p:nvPr/>
        </p:nvSpPr>
        <p:spPr>
          <a:xfrm>
            <a:off x="6217920" y="2514600"/>
            <a:ext cx="475488" cy="91"/>
          </a:xfrm>
          <a:prstGeom prst="line">
            <a:avLst/>
          </a:prstGeom>
          <a:noFill/>
          <a:ln w="9525">
            <a:solidFill>
              <a:srgbClr val="C76A72"/>
            </a:solidFill>
            <a:prstDash val="solid"/>
          </a:ln>
        </p:spPr>
      </p:sp>
      <p:sp>
        <p:nvSpPr>
          <p:cNvPr id="52" name="Shape 50"/>
          <p:cNvSpPr/>
          <p:nvPr/>
        </p:nvSpPr>
        <p:spPr>
          <a:xfrm>
            <a:off x="6217920" y="2697480"/>
            <a:ext cx="475488" cy="91"/>
          </a:xfrm>
          <a:prstGeom prst="line">
            <a:avLst/>
          </a:prstGeom>
          <a:noFill/>
          <a:ln w="9525">
            <a:solidFill>
              <a:srgbClr val="C76A72"/>
            </a:solidFill>
            <a:prstDash val="solid"/>
          </a:ln>
        </p:spPr>
      </p:sp>
      <p:sp>
        <p:nvSpPr>
          <p:cNvPr id="53" name="Shape 51"/>
          <p:cNvSpPr/>
          <p:nvPr/>
        </p:nvSpPr>
        <p:spPr>
          <a:xfrm>
            <a:off x="6217920" y="2880360"/>
            <a:ext cx="475488" cy="91"/>
          </a:xfrm>
          <a:prstGeom prst="line">
            <a:avLst/>
          </a:prstGeom>
          <a:noFill/>
          <a:ln w="9525">
            <a:solidFill>
              <a:srgbClr val="C76A72"/>
            </a:solidFill>
            <a:prstDash val="solid"/>
          </a:ln>
        </p:spPr>
      </p:sp>
      <p:sp>
        <p:nvSpPr>
          <p:cNvPr id="54" name="Shape 52"/>
          <p:cNvSpPr/>
          <p:nvPr/>
        </p:nvSpPr>
        <p:spPr>
          <a:xfrm>
            <a:off x="2926080" y="2971800"/>
            <a:ext cx="137160" cy="91"/>
          </a:xfrm>
          <a:prstGeom prst="line">
            <a:avLst/>
          </a:prstGeom>
          <a:noFill/>
          <a:ln w="25400">
            <a:solidFill>
              <a:srgbClr val="C8414C"/>
            </a:solidFill>
            <a:prstDash val="solid"/>
            <a:tailEnd type="triangle"/>
          </a:ln>
        </p:spPr>
      </p:sp>
      <p:sp>
        <p:nvSpPr>
          <p:cNvPr id="55" name="Shape 53"/>
          <p:cNvSpPr/>
          <p:nvPr/>
        </p:nvSpPr>
        <p:spPr>
          <a:xfrm>
            <a:off x="4343400" y="2971800"/>
            <a:ext cx="137160" cy="91"/>
          </a:xfrm>
          <a:prstGeom prst="line">
            <a:avLst/>
          </a:prstGeom>
          <a:noFill/>
          <a:ln w="25400">
            <a:solidFill>
              <a:srgbClr val="C8414C"/>
            </a:solidFill>
            <a:prstDash val="solid"/>
            <a:tailEnd type="triangle"/>
          </a:ln>
        </p:spPr>
      </p:sp>
      <p:sp>
        <p:nvSpPr>
          <p:cNvPr id="56" name="Text 54"/>
          <p:cNvSpPr/>
          <p:nvPr/>
        </p:nvSpPr>
        <p:spPr>
          <a:xfrm>
            <a:off x="2743200" y="3044952"/>
            <a:ext cx="201168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direction of impulse</a:t>
            </a:r>
            <a:endParaRPr lang="en-US" sz="1050" dirty="0"/>
          </a:p>
        </p:txBody>
      </p:sp>
      <p:sp>
        <p:nvSpPr>
          <p:cNvPr id="57" name="Text 55"/>
          <p:cNvSpPr/>
          <p:nvPr/>
        </p:nvSpPr>
        <p:spPr>
          <a:xfrm>
            <a:off x="548640" y="1298448"/>
            <a:ext cx="118872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dendrites</a:t>
            </a:r>
            <a:endParaRPr lang="en-US" sz="1100" dirty="0"/>
          </a:p>
        </p:txBody>
      </p:sp>
      <p:sp>
        <p:nvSpPr>
          <p:cNvPr id="58" name="Shape 56"/>
          <p:cNvSpPr/>
          <p:nvPr/>
        </p:nvSpPr>
        <p:spPr>
          <a:xfrm>
            <a:off x="868680" y="1554480"/>
            <a:ext cx="182880" cy="548640"/>
          </a:xfrm>
          <a:prstGeom prst="line">
            <a:avLst/>
          </a:prstGeom>
          <a:noFill/>
          <a:ln w="9525">
            <a:solidFill>
              <a:srgbClr val="5A6275"/>
            </a:solidFill>
            <a:prstDash val="solid"/>
          </a:ln>
        </p:spPr>
      </p:sp>
      <p:sp>
        <p:nvSpPr>
          <p:cNvPr id="59" name="Text 57"/>
          <p:cNvSpPr/>
          <p:nvPr/>
        </p:nvSpPr>
        <p:spPr>
          <a:xfrm>
            <a:off x="1874520" y="1298448"/>
            <a:ext cx="109728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cell body</a:t>
            </a:r>
            <a:endParaRPr lang="en-US" sz="1100" dirty="0"/>
          </a:p>
        </p:txBody>
      </p:sp>
      <p:sp>
        <p:nvSpPr>
          <p:cNvPr id="60" name="Shape 58"/>
          <p:cNvSpPr/>
          <p:nvPr/>
        </p:nvSpPr>
        <p:spPr>
          <a:xfrm flipH="1">
            <a:off x="1810512" y="1554480"/>
            <a:ext cx="292608" cy="731520"/>
          </a:xfrm>
          <a:prstGeom prst="line">
            <a:avLst/>
          </a:prstGeom>
          <a:noFill/>
          <a:ln w="9525">
            <a:solidFill>
              <a:srgbClr val="5A6275"/>
            </a:solidFill>
            <a:prstDash val="solid"/>
          </a:ln>
        </p:spPr>
      </p:sp>
      <p:sp>
        <p:nvSpPr>
          <p:cNvPr id="61" name="Text 59"/>
          <p:cNvSpPr/>
          <p:nvPr/>
        </p:nvSpPr>
        <p:spPr>
          <a:xfrm>
            <a:off x="548640" y="3429000"/>
            <a:ext cx="128016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nucleus</a:t>
            </a:r>
            <a:endParaRPr lang="en-US" sz="1100" dirty="0"/>
          </a:p>
        </p:txBody>
      </p:sp>
      <p:sp>
        <p:nvSpPr>
          <p:cNvPr id="62" name="Shape 60"/>
          <p:cNvSpPr/>
          <p:nvPr/>
        </p:nvSpPr>
        <p:spPr>
          <a:xfrm flipV="1">
            <a:off x="1005840" y="2578608"/>
            <a:ext cx="603504" cy="877824"/>
          </a:xfrm>
          <a:prstGeom prst="line">
            <a:avLst/>
          </a:prstGeom>
          <a:noFill/>
          <a:ln w="9525">
            <a:solidFill>
              <a:srgbClr val="5A6275"/>
            </a:solidFill>
            <a:prstDash val="solid"/>
          </a:ln>
        </p:spPr>
      </p:sp>
      <p:sp>
        <p:nvSpPr>
          <p:cNvPr id="63" name="Text 61"/>
          <p:cNvSpPr/>
          <p:nvPr/>
        </p:nvSpPr>
        <p:spPr>
          <a:xfrm>
            <a:off x="3017520" y="1298448"/>
            <a:ext cx="219456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axon</a:t>
            </a:r>
            <a:r>
              <a:rPr lang="en-US" sz="1100" dirty="0">
                <a:solidFill>
                  <a:srgbClr val="262B3A"/>
                </a:solidFill>
                <a:latin typeface="Calibri" pitchFamily="34" charset="0"/>
                <a:ea typeface="Calibri" pitchFamily="34" charset="-122"/>
                <a:cs typeface="Calibri" pitchFamily="34" charset="-120"/>
              </a:rPr>
              <a:t>: long, carries the impulse</a:t>
            </a:r>
            <a:endParaRPr lang="en-US" sz="1100" dirty="0"/>
          </a:p>
        </p:txBody>
      </p:sp>
      <p:sp>
        <p:nvSpPr>
          <p:cNvPr id="64" name="Shape 62"/>
          <p:cNvSpPr/>
          <p:nvPr/>
        </p:nvSpPr>
        <p:spPr>
          <a:xfrm>
            <a:off x="3200400" y="1554480"/>
            <a:ext cx="91440" cy="941832"/>
          </a:xfrm>
          <a:prstGeom prst="line">
            <a:avLst/>
          </a:prstGeom>
          <a:noFill/>
          <a:ln w="9525">
            <a:solidFill>
              <a:srgbClr val="5A6275"/>
            </a:solidFill>
            <a:prstDash val="solid"/>
          </a:ln>
        </p:spPr>
      </p:sp>
      <p:sp>
        <p:nvSpPr>
          <p:cNvPr id="65" name="Text 63"/>
          <p:cNvSpPr/>
          <p:nvPr/>
        </p:nvSpPr>
        <p:spPr>
          <a:xfrm>
            <a:off x="3703320" y="1691640"/>
            <a:ext cx="237744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myelin sheath</a:t>
            </a:r>
            <a:r>
              <a:rPr lang="en-US" sz="1100" dirty="0">
                <a:solidFill>
                  <a:srgbClr val="262B3A"/>
                </a:solidFill>
                <a:latin typeface="Calibri" pitchFamily="34" charset="0"/>
                <a:ea typeface="Calibri" pitchFamily="34" charset="-122"/>
                <a:cs typeface="Calibri" pitchFamily="34" charset="-120"/>
              </a:rPr>
              <a:t>: fatty insulating layer</a:t>
            </a:r>
            <a:endParaRPr lang="en-US" sz="1100" dirty="0"/>
          </a:p>
        </p:txBody>
      </p:sp>
      <p:sp>
        <p:nvSpPr>
          <p:cNvPr id="66" name="Shape 64"/>
          <p:cNvSpPr/>
          <p:nvPr/>
        </p:nvSpPr>
        <p:spPr>
          <a:xfrm>
            <a:off x="4023360" y="1938528"/>
            <a:ext cx="91440" cy="484632"/>
          </a:xfrm>
          <a:prstGeom prst="line">
            <a:avLst/>
          </a:prstGeom>
          <a:noFill/>
          <a:ln w="9525">
            <a:solidFill>
              <a:srgbClr val="5A6275"/>
            </a:solidFill>
            <a:prstDash val="solid"/>
          </a:ln>
        </p:spPr>
      </p:sp>
      <p:sp>
        <p:nvSpPr>
          <p:cNvPr id="67" name="Text 65"/>
          <p:cNvSpPr/>
          <p:nvPr/>
        </p:nvSpPr>
        <p:spPr>
          <a:xfrm>
            <a:off x="5074920" y="3154680"/>
            <a:ext cx="128016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axon terminals</a:t>
            </a:r>
            <a:endParaRPr lang="en-US" sz="1100" dirty="0"/>
          </a:p>
        </p:txBody>
      </p:sp>
      <p:sp>
        <p:nvSpPr>
          <p:cNvPr id="68" name="Shape 66"/>
          <p:cNvSpPr/>
          <p:nvPr/>
        </p:nvSpPr>
        <p:spPr>
          <a:xfrm flipV="1">
            <a:off x="5760720" y="2788920"/>
            <a:ext cx="228600" cy="365760"/>
          </a:xfrm>
          <a:prstGeom prst="line">
            <a:avLst/>
          </a:prstGeom>
          <a:noFill/>
          <a:ln w="9525">
            <a:solidFill>
              <a:srgbClr val="5A6275"/>
            </a:solidFill>
            <a:prstDash val="solid"/>
          </a:ln>
        </p:spPr>
      </p:sp>
      <p:sp>
        <p:nvSpPr>
          <p:cNvPr id="69" name="Text 67"/>
          <p:cNvSpPr/>
          <p:nvPr/>
        </p:nvSpPr>
        <p:spPr>
          <a:xfrm>
            <a:off x="5989320" y="1600200"/>
            <a:ext cx="1051560"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effector</a:t>
            </a:r>
            <a:r>
              <a:rPr lang="en-US" sz="1050" dirty="0">
                <a:solidFill>
                  <a:srgbClr val="262B3A"/>
                </a:solidFill>
                <a:latin typeface="Calibri" pitchFamily="34" charset="0"/>
                <a:ea typeface="Calibri" pitchFamily="34" charset="-122"/>
                <a:cs typeface="Calibri" pitchFamily="34" charset="-120"/>
              </a:rPr>
              <a:t> (muscle)</a:t>
            </a:r>
            <a:endParaRPr lang="en-US" sz="1050" dirty="0"/>
          </a:p>
        </p:txBody>
      </p:sp>
      <p:sp>
        <p:nvSpPr>
          <p:cNvPr id="70" name="Shape 68"/>
          <p:cNvSpPr/>
          <p:nvPr/>
        </p:nvSpPr>
        <p:spPr>
          <a:xfrm>
            <a:off x="594360" y="3886200"/>
            <a:ext cx="6309360" cy="1417320"/>
          </a:xfrm>
          <a:prstGeom prst="roundRect">
            <a:avLst>
              <a:gd name="adj" fmla="val 3226"/>
            </a:avLst>
          </a:prstGeom>
          <a:solidFill>
            <a:srgbClr val="FFFFFF"/>
          </a:solidFill>
          <a:ln w="12700">
            <a:solidFill>
              <a:srgbClr val="CFE0DE"/>
            </a:solidFill>
            <a:prstDash val="solid"/>
          </a:ln>
        </p:spPr>
      </p:sp>
      <p:sp>
        <p:nvSpPr>
          <p:cNvPr id="71" name="Shape 69"/>
          <p:cNvSpPr/>
          <p:nvPr/>
        </p:nvSpPr>
        <p:spPr>
          <a:xfrm>
            <a:off x="777240" y="4041648"/>
            <a:ext cx="1097280" cy="1097280"/>
          </a:xfrm>
          <a:prstGeom prst="ellipse">
            <a:avLst/>
          </a:prstGeom>
          <a:solidFill>
            <a:srgbClr val="F6F0E0"/>
          </a:solidFill>
          <a:ln w="19050">
            <a:solidFill>
              <a:srgbClr val="8A6D3B"/>
            </a:solidFill>
            <a:prstDash val="solid"/>
          </a:ln>
        </p:spPr>
      </p:sp>
      <p:sp>
        <p:nvSpPr>
          <p:cNvPr id="72" name="Shape 70"/>
          <p:cNvSpPr/>
          <p:nvPr/>
        </p:nvSpPr>
        <p:spPr>
          <a:xfrm>
            <a:off x="1216152" y="4480560"/>
            <a:ext cx="219456" cy="219456"/>
          </a:xfrm>
          <a:prstGeom prst="ellipse">
            <a:avLst/>
          </a:prstGeom>
          <a:solidFill>
            <a:srgbClr val="FBE3A6"/>
          </a:solidFill>
          <a:ln w="9525">
            <a:solidFill>
              <a:srgbClr val="C9A04A"/>
            </a:solidFill>
            <a:prstDash val="solid"/>
          </a:ln>
        </p:spPr>
      </p:sp>
      <p:sp>
        <p:nvSpPr>
          <p:cNvPr id="73" name="Shape 71"/>
          <p:cNvSpPr/>
          <p:nvPr/>
        </p:nvSpPr>
        <p:spPr>
          <a:xfrm>
            <a:off x="1289304" y="4553712"/>
            <a:ext cx="73152" cy="73152"/>
          </a:xfrm>
          <a:prstGeom prst="ellipse">
            <a:avLst/>
          </a:prstGeom>
          <a:solidFill>
            <a:srgbClr val="6A4C93"/>
          </a:solidFill>
          <a:ln w="9525">
            <a:solidFill>
              <a:srgbClr val="6A4C93"/>
            </a:solidFill>
            <a:prstDash val="solid"/>
          </a:ln>
        </p:spPr>
      </p:sp>
      <p:sp>
        <p:nvSpPr>
          <p:cNvPr id="74" name="Shape 72"/>
          <p:cNvSpPr/>
          <p:nvPr/>
        </p:nvSpPr>
        <p:spPr>
          <a:xfrm>
            <a:off x="1490472" y="4315968"/>
            <a:ext cx="219456" cy="219456"/>
          </a:xfrm>
          <a:prstGeom prst="ellipse">
            <a:avLst/>
          </a:prstGeom>
          <a:solidFill>
            <a:srgbClr val="FBE3A6"/>
          </a:solidFill>
          <a:ln w="9525">
            <a:solidFill>
              <a:srgbClr val="C9A04A"/>
            </a:solidFill>
            <a:prstDash val="solid"/>
          </a:ln>
        </p:spPr>
      </p:sp>
      <p:sp>
        <p:nvSpPr>
          <p:cNvPr id="75" name="Shape 73"/>
          <p:cNvSpPr/>
          <p:nvPr/>
        </p:nvSpPr>
        <p:spPr>
          <a:xfrm>
            <a:off x="1563624" y="4389120"/>
            <a:ext cx="73152" cy="73152"/>
          </a:xfrm>
          <a:prstGeom prst="ellipse">
            <a:avLst/>
          </a:prstGeom>
          <a:solidFill>
            <a:srgbClr val="6A4C93"/>
          </a:solidFill>
          <a:ln w="9525">
            <a:solidFill>
              <a:srgbClr val="6A4C93"/>
            </a:solidFill>
            <a:prstDash val="solid"/>
          </a:ln>
        </p:spPr>
      </p:sp>
      <p:sp>
        <p:nvSpPr>
          <p:cNvPr id="76" name="Shape 74"/>
          <p:cNvSpPr/>
          <p:nvPr/>
        </p:nvSpPr>
        <p:spPr>
          <a:xfrm>
            <a:off x="941832" y="4334256"/>
            <a:ext cx="219456" cy="219456"/>
          </a:xfrm>
          <a:prstGeom prst="ellipse">
            <a:avLst/>
          </a:prstGeom>
          <a:solidFill>
            <a:srgbClr val="FBE3A6"/>
          </a:solidFill>
          <a:ln w="9525">
            <a:solidFill>
              <a:srgbClr val="C9A04A"/>
            </a:solidFill>
            <a:prstDash val="solid"/>
          </a:ln>
        </p:spPr>
      </p:sp>
      <p:sp>
        <p:nvSpPr>
          <p:cNvPr id="77" name="Shape 75"/>
          <p:cNvSpPr/>
          <p:nvPr/>
        </p:nvSpPr>
        <p:spPr>
          <a:xfrm>
            <a:off x="1014984" y="4407408"/>
            <a:ext cx="73152" cy="73152"/>
          </a:xfrm>
          <a:prstGeom prst="ellipse">
            <a:avLst/>
          </a:prstGeom>
          <a:solidFill>
            <a:srgbClr val="6A4C93"/>
          </a:solidFill>
          <a:ln w="9525">
            <a:solidFill>
              <a:srgbClr val="6A4C93"/>
            </a:solidFill>
            <a:prstDash val="solid"/>
          </a:ln>
        </p:spPr>
      </p:sp>
      <p:sp>
        <p:nvSpPr>
          <p:cNvPr id="78" name="Shape 76"/>
          <p:cNvSpPr/>
          <p:nvPr/>
        </p:nvSpPr>
        <p:spPr>
          <a:xfrm>
            <a:off x="1472184" y="4663440"/>
            <a:ext cx="219456" cy="219456"/>
          </a:xfrm>
          <a:prstGeom prst="ellipse">
            <a:avLst/>
          </a:prstGeom>
          <a:solidFill>
            <a:srgbClr val="FBE3A6"/>
          </a:solidFill>
          <a:ln w="9525">
            <a:solidFill>
              <a:srgbClr val="C9A04A"/>
            </a:solidFill>
            <a:prstDash val="solid"/>
          </a:ln>
        </p:spPr>
      </p:sp>
      <p:sp>
        <p:nvSpPr>
          <p:cNvPr id="79" name="Shape 77"/>
          <p:cNvSpPr/>
          <p:nvPr/>
        </p:nvSpPr>
        <p:spPr>
          <a:xfrm>
            <a:off x="1545336" y="4736592"/>
            <a:ext cx="73152" cy="73152"/>
          </a:xfrm>
          <a:prstGeom prst="ellipse">
            <a:avLst/>
          </a:prstGeom>
          <a:solidFill>
            <a:srgbClr val="6A4C93"/>
          </a:solidFill>
          <a:ln w="9525">
            <a:solidFill>
              <a:srgbClr val="6A4C93"/>
            </a:solidFill>
            <a:prstDash val="solid"/>
          </a:ln>
        </p:spPr>
      </p:sp>
      <p:sp>
        <p:nvSpPr>
          <p:cNvPr id="80" name="Shape 78"/>
          <p:cNvSpPr/>
          <p:nvPr/>
        </p:nvSpPr>
        <p:spPr>
          <a:xfrm>
            <a:off x="960120" y="4681728"/>
            <a:ext cx="219456" cy="219456"/>
          </a:xfrm>
          <a:prstGeom prst="ellipse">
            <a:avLst/>
          </a:prstGeom>
          <a:solidFill>
            <a:srgbClr val="FBE3A6"/>
          </a:solidFill>
          <a:ln w="9525">
            <a:solidFill>
              <a:srgbClr val="C9A04A"/>
            </a:solidFill>
            <a:prstDash val="solid"/>
          </a:ln>
        </p:spPr>
      </p:sp>
      <p:sp>
        <p:nvSpPr>
          <p:cNvPr id="81" name="Shape 79"/>
          <p:cNvSpPr/>
          <p:nvPr/>
        </p:nvSpPr>
        <p:spPr>
          <a:xfrm>
            <a:off x="1033272" y="4754880"/>
            <a:ext cx="73152" cy="73152"/>
          </a:xfrm>
          <a:prstGeom prst="ellipse">
            <a:avLst/>
          </a:prstGeom>
          <a:solidFill>
            <a:srgbClr val="6A4C93"/>
          </a:solidFill>
          <a:ln w="9525">
            <a:solidFill>
              <a:srgbClr val="6A4C93"/>
            </a:solidFill>
            <a:prstDash val="solid"/>
          </a:ln>
        </p:spPr>
      </p:sp>
      <p:sp>
        <p:nvSpPr>
          <p:cNvPr id="82" name="Shape 80"/>
          <p:cNvSpPr/>
          <p:nvPr/>
        </p:nvSpPr>
        <p:spPr>
          <a:xfrm>
            <a:off x="1234440" y="4809744"/>
            <a:ext cx="219456" cy="219456"/>
          </a:xfrm>
          <a:prstGeom prst="ellipse">
            <a:avLst/>
          </a:prstGeom>
          <a:solidFill>
            <a:srgbClr val="FBE3A6"/>
          </a:solidFill>
          <a:ln w="9525">
            <a:solidFill>
              <a:srgbClr val="C9A04A"/>
            </a:solidFill>
            <a:prstDash val="solid"/>
          </a:ln>
        </p:spPr>
      </p:sp>
      <p:sp>
        <p:nvSpPr>
          <p:cNvPr id="83" name="Shape 81"/>
          <p:cNvSpPr/>
          <p:nvPr/>
        </p:nvSpPr>
        <p:spPr>
          <a:xfrm>
            <a:off x="1307592" y="4882896"/>
            <a:ext cx="73152" cy="73152"/>
          </a:xfrm>
          <a:prstGeom prst="ellipse">
            <a:avLst/>
          </a:prstGeom>
          <a:solidFill>
            <a:srgbClr val="6A4C93"/>
          </a:solidFill>
          <a:ln w="9525">
            <a:solidFill>
              <a:srgbClr val="6A4C93"/>
            </a:solidFill>
            <a:prstDash val="solid"/>
          </a:ln>
        </p:spPr>
      </p:sp>
      <p:sp>
        <p:nvSpPr>
          <p:cNvPr id="84" name="Shape 82"/>
          <p:cNvSpPr/>
          <p:nvPr/>
        </p:nvSpPr>
        <p:spPr>
          <a:xfrm>
            <a:off x="1234440" y="4151376"/>
            <a:ext cx="219456" cy="219456"/>
          </a:xfrm>
          <a:prstGeom prst="ellipse">
            <a:avLst/>
          </a:prstGeom>
          <a:solidFill>
            <a:srgbClr val="FBE3A6"/>
          </a:solidFill>
          <a:ln w="9525">
            <a:solidFill>
              <a:srgbClr val="C9A04A"/>
            </a:solidFill>
            <a:prstDash val="solid"/>
          </a:ln>
        </p:spPr>
      </p:sp>
      <p:sp>
        <p:nvSpPr>
          <p:cNvPr id="85" name="Shape 83"/>
          <p:cNvSpPr/>
          <p:nvPr/>
        </p:nvSpPr>
        <p:spPr>
          <a:xfrm>
            <a:off x="1307592" y="4224528"/>
            <a:ext cx="73152" cy="73152"/>
          </a:xfrm>
          <a:prstGeom prst="ellipse">
            <a:avLst/>
          </a:prstGeom>
          <a:solidFill>
            <a:srgbClr val="6A4C93"/>
          </a:solidFill>
          <a:ln w="9525">
            <a:solidFill>
              <a:srgbClr val="6A4C93"/>
            </a:solidFill>
            <a:prstDash val="solid"/>
          </a:ln>
        </p:spPr>
      </p:sp>
      <p:sp>
        <p:nvSpPr>
          <p:cNvPr id="86" name="Shape 84"/>
          <p:cNvSpPr/>
          <p:nvPr/>
        </p:nvSpPr>
        <p:spPr>
          <a:xfrm>
            <a:off x="1581912" y="4498848"/>
            <a:ext cx="219456" cy="219456"/>
          </a:xfrm>
          <a:prstGeom prst="ellipse">
            <a:avLst/>
          </a:prstGeom>
          <a:solidFill>
            <a:srgbClr val="FBE3A6"/>
          </a:solidFill>
          <a:ln w="9525">
            <a:solidFill>
              <a:srgbClr val="C9A04A"/>
            </a:solidFill>
            <a:prstDash val="solid"/>
          </a:ln>
        </p:spPr>
      </p:sp>
      <p:sp>
        <p:nvSpPr>
          <p:cNvPr id="87" name="Shape 85"/>
          <p:cNvSpPr/>
          <p:nvPr/>
        </p:nvSpPr>
        <p:spPr>
          <a:xfrm>
            <a:off x="1655064" y="4572000"/>
            <a:ext cx="73152" cy="73152"/>
          </a:xfrm>
          <a:prstGeom prst="ellipse">
            <a:avLst/>
          </a:prstGeom>
          <a:solidFill>
            <a:srgbClr val="6A4C93"/>
          </a:solidFill>
          <a:ln w="9525">
            <a:solidFill>
              <a:srgbClr val="6A4C93"/>
            </a:solidFill>
            <a:prstDash val="solid"/>
          </a:ln>
        </p:spPr>
      </p:sp>
      <p:sp>
        <p:nvSpPr>
          <p:cNvPr id="88" name="Shape 86"/>
          <p:cNvSpPr/>
          <p:nvPr/>
        </p:nvSpPr>
        <p:spPr>
          <a:xfrm>
            <a:off x="850392" y="4507992"/>
            <a:ext cx="219456" cy="219456"/>
          </a:xfrm>
          <a:prstGeom prst="ellipse">
            <a:avLst/>
          </a:prstGeom>
          <a:solidFill>
            <a:srgbClr val="FBE3A6"/>
          </a:solidFill>
          <a:ln w="9525">
            <a:solidFill>
              <a:srgbClr val="C9A04A"/>
            </a:solidFill>
            <a:prstDash val="solid"/>
          </a:ln>
        </p:spPr>
      </p:sp>
      <p:sp>
        <p:nvSpPr>
          <p:cNvPr id="89" name="Shape 87"/>
          <p:cNvSpPr/>
          <p:nvPr/>
        </p:nvSpPr>
        <p:spPr>
          <a:xfrm>
            <a:off x="923544" y="4581144"/>
            <a:ext cx="73152" cy="73152"/>
          </a:xfrm>
          <a:prstGeom prst="ellipse">
            <a:avLst/>
          </a:prstGeom>
          <a:solidFill>
            <a:srgbClr val="6A4C93"/>
          </a:solidFill>
          <a:ln w="9525">
            <a:solidFill>
              <a:srgbClr val="6A4C93"/>
            </a:solidFill>
            <a:prstDash val="solid"/>
          </a:ln>
        </p:spPr>
      </p:sp>
      <p:sp>
        <p:nvSpPr>
          <p:cNvPr id="90" name="Text 88"/>
          <p:cNvSpPr/>
          <p:nvPr/>
        </p:nvSpPr>
        <p:spPr>
          <a:xfrm>
            <a:off x="2011680" y="3977640"/>
            <a:ext cx="4754880" cy="566928"/>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A nerve</a:t>
            </a:r>
            <a:r>
              <a:rPr lang="en-US" sz="1050" dirty="0">
                <a:solidFill>
                  <a:srgbClr val="262B3A"/>
                </a:solidFill>
                <a:latin typeface="Calibri" pitchFamily="34" charset="0"/>
                <a:ea typeface="Calibri" pitchFamily="34" charset="-122"/>
                <a:cs typeface="Calibri" pitchFamily="34" charset="-120"/>
              </a:rPr>
              <a:t> is a bundle of many neurones (cross-section, left). Each axon has its own myelin sheath, so impulses stay separate.</a:t>
            </a:r>
            <a:endParaRPr lang="en-US" sz="1050" dirty="0"/>
          </a:p>
        </p:txBody>
      </p:sp>
      <p:sp>
        <p:nvSpPr>
          <p:cNvPr id="91" name="Text 89"/>
          <p:cNvSpPr/>
          <p:nvPr/>
        </p:nvSpPr>
        <p:spPr>
          <a:xfrm>
            <a:off x="2011680" y="4572000"/>
            <a:ext cx="4754880" cy="566928"/>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Neurones can be </a:t>
            </a:r>
            <a:r>
              <a:rPr lang="en-US" sz="1050" b="1" dirty="0">
                <a:solidFill>
                  <a:srgbClr val="262B3A"/>
                </a:solidFill>
                <a:latin typeface="Calibri" pitchFamily="34" charset="0"/>
                <a:ea typeface="Calibri" pitchFamily="34" charset="-122"/>
                <a:cs typeface="Calibri" pitchFamily="34" charset="-120"/>
              </a:rPr>
              <a:t>over 1 m long</a:t>
            </a:r>
            <a:r>
              <a:rPr lang="en-US" sz="1050" dirty="0">
                <a:solidFill>
                  <a:srgbClr val="262B3A"/>
                </a:solidFill>
                <a:latin typeface="Calibri" pitchFamily="34" charset="0"/>
                <a:ea typeface="Calibri" pitchFamily="34" charset="-122"/>
                <a:cs typeface="Calibri" pitchFamily="34" charset="-120"/>
              </a:rPr>
              <a:t>, e.g. from the spinal cord to a toe, so one cell carries the impulse all the way.</a:t>
            </a:r>
            <a:endParaRPr lang="en-US" sz="1050" dirty="0"/>
          </a:p>
        </p:txBody>
      </p:sp>
      <p:sp>
        <p:nvSpPr>
          <p:cNvPr id="92" name="Shape 90"/>
          <p:cNvSpPr/>
          <p:nvPr/>
        </p:nvSpPr>
        <p:spPr>
          <a:xfrm>
            <a:off x="7315200" y="1188720"/>
            <a:ext cx="4462272" cy="2606040"/>
          </a:xfrm>
          <a:prstGeom prst="roundRect">
            <a:avLst>
              <a:gd name="adj" fmla="val 2105"/>
            </a:avLst>
          </a:prstGeom>
          <a:solidFill>
            <a:srgbClr val="F4FAF9"/>
          </a:solidFill>
          <a:ln w="9525">
            <a:solidFill>
              <a:srgbClr val="CFE0DE"/>
            </a:solidFill>
            <a:prstDash val="solid"/>
          </a:ln>
        </p:spPr>
      </p:sp>
      <p:sp>
        <p:nvSpPr>
          <p:cNvPr id="93" name="Text 91"/>
          <p:cNvSpPr/>
          <p:nvPr/>
        </p:nvSpPr>
        <p:spPr>
          <a:xfrm>
            <a:off x="7479792" y="1280160"/>
            <a:ext cx="413308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Structure and function</a:t>
            </a:r>
            <a:endParaRPr lang="en-US" sz="1300" dirty="0"/>
          </a:p>
        </p:txBody>
      </p:sp>
      <p:sp>
        <p:nvSpPr>
          <p:cNvPr id="94" name="Text 92"/>
          <p:cNvSpPr/>
          <p:nvPr/>
        </p:nvSpPr>
        <p:spPr>
          <a:xfrm>
            <a:off x="7479792" y="1609344"/>
            <a:ext cx="4133088" cy="211226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Dendrites</a:t>
            </a:r>
            <a:r>
              <a:rPr lang="en-US" sz="1150" dirty="0">
                <a:solidFill>
                  <a:srgbClr val="262B3A"/>
                </a:solidFill>
                <a:latin typeface="Calibri" pitchFamily="34" charset="0"/>
                <a:ea typeface="Calibri" pitchFamily="34" charset="-122"/>
                <a:cs typeface="Calibri" pitchFamily="34" charset="-120"/>
              </a:rPr>
              <a:t>: many branches receive impulses from other neurones.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Cell body</a:t>
            </a:r>
            <a:r>
              <a:rPr lang="en-US" sz="1150" dirty="0">
                <a:solidFill>
                  <a:srgbClr val="262B3A"/>
                </a:solidFill>
                <a:latin typeface="Calibri" pitchFamily="34" charset="0"/>
                <a:ea typeface="Calibri" pitchFamily="34" charset="-122"/>
                <a:cs typeface="Calibri" pitchFamily="34" charset="-120"/>
              </a:rPr>
              <a:t>: contains the </a:t>
            </a:r>
            <a:r>
              <a:rPr lang="en-US" sz="1150" b="1" dirty="0">
                <a:solidFill>
                  <a:srgbClr val="262B3A"/>
                </a:solidFill>
                <a:latin typeface="Calibri" pitchFamily="34" charset="0"/>
                <a:ea typeface="Calibri" pitchFamily="34" charset="-122"/>
                <a:cs typeface="Calibri" pitchFamily="34" charset="-120"/>
              </a:rPr>
              <a:t>nucleus</a:t>
            </a:r>
            <a:r>
              <a:rPr lang="en-US" sz="1150" dirty="0">
                <a:solidFill>
                  <a:srgbClr val="262B3A"/>
                </a:solidFill>
                <a:latin typeface="Calibri" pitchFamily="34" charset="0"/>
                <a:ea typeface="Calibri" pitchFamily="34" charset="-122"/>
                <a:cs typeface="Calibri" pitchFamily="34" charset="-120"/>
              </a:rPr>
              <a:t> and most organelles.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Axon</a:t>
            </a:r>
            <a:r>
              <a:rPr lang="en-US" sz="1150" dirty="0">
                <a:solidFill>
                  <a:srgbClr val="262B3A"/>
                </a:solidFill>
                <a:latin typeface="Calibri" pitchFamily="34" charset="0"/>
                <a:ea typeface="Calibri" pitchFamily="34" charset="-122"/>
                <a:cs typeface="Calibri" pitchFamily="34" charset="-120"/>
              </a:rPr>
              <a:t>: long, thin extension that carries impulses </a:t>
            </a:r>
            <a:r>
              <a:rPr lang="en-US" sz="1150" b="1" dirty="0">
                <a:solidFill>
                  <a:srgbClr val="262B3A"/>
                </a:solidFill>
                <a:latin typeface="Calibri" pitchFamily="34" charset="0"/>
                <a:ea typeface="Calibri" pitchFamily="34" charset="-122"/>
                <a:cs typeface="Calibri" pitchFamily="34" charset="-120"/>
              </a:rPr>
              <a:t>away</a:t>
            </a:r>
            <a:r>
              <a:rPr lang="en-US" sz="1150" dirty="0">
                <a:solidFill>
                  <a:srgbClr val="262B3A"/>
                </a:solidFill>
                <a:latin typeface="Calibri" pitchFamily="34" charset="0"/>
                <a:ea typeface="Calibri" pitchFamily="34" charset="-122"/>
                <a:cs typeface="Calibri" pitchFamily="34" charset="-120"/>
              </a:rPr>
              <a:t> from the cell body.</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Myelin sheath</a:t>
            </a:r>
            <a:r>
              <a:rPr lang="en-US" sz="1150" dirty="0">
                <a:solidFill>
                  <a:srgbClr val="262B3A"/>
                </a:solidFill>
                <a:latin typeface="Calibri" pitchFamily="34" charset="0"/>
                <a:ea typeface="Calibri" pitchFamily="34" charset="-122"/>
                <a:cs typeface="Calibri" pitchFamily="34" charset="-120"/>
              </a:rPr>
              <a:t>: insulates the axon so the impulse travels </a:t>
            </a:r>
            <a:r>
              <a:rPr lang="en-US" sz="1150" b="1" dirty="0">
                <a:solidFill>
                  <a:srgbClr val="262B3A"/>
                </a:solidFill>
                <a:latin typeface="Calibri" pitchFamily="34" charset="0"/>
                <a:ea typeface="Calibri" pitchFamily="34" charset="-122"/>
                <a:cs typeface="Calibri" pitchFamily="34" charset="-120"/>
              </a:rPr>
              <a:t>faster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Axon terminals</a:t>
            </a:r>
            <a:r>
              <a:rPr lang="en-US" sz="1150" dirty="0">
                <a:solidFill>
                  <a:srgbClr val="262B3A"/>
                </a:solidFill>
                <a:latin typeface="Calibri" pitchFamily="34" charset="0"/>
                <a:ea typeface="Calibri" pitchFamily="34" charset="-122"/>
                <a:cs typeface="Calibri" pitchFamily="34" charset="-120"/>
              </a:rPr>
              <a:t>: pass the impulse on, at a </a:t>
            </a:r>
            <a:r>
              <a:rPr lang="en-US" sz="1150" b="1" dirty="0">
                <a:solidFill>
                  <a:srgbClr val="262B3A"/>
                </a:solidFill>
                <a:latin typeface="Calibri" pitchFamily="34" charset="0"/>
                <a:ea typeface="Calibri" pitchFamily="34" charset="-122"/>
                <a:cs typeface="Calibri" pitchFamily="34" charset="-120"/>
              </a:rPr>
              <a:t>synapse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95" name="Shape 93"/>
          <p:cNvSpPr/>
          <p:nvPr/>
        </p:nvSpPr>
        <p:spPr>
          <a:xfrm>
            <a:off x="7315200" y="3904488"/>
            <a:ext cx="4462272" cy="1810512"/>
          </a:xfrm>
          <a:prstGeom prst="roundRect">
            <a:avLst>
              <a:gd name="adj" fmla="val 3030"/>
            </a:avLst>
          </a:prstGeom>
          <a:solidFill>
            <a:srgbClr val="FFF4E0"/>
          </a:solidFill>
          <a:ln w="9525">
            <a:solidFill>
              <a:srgbClr val="F1D9A8"/>
            </a:solidFill>
            <a:prstDash val="solid"/>
          </a:ln>
        </p:spPr>
      </p:sp>
      <p:sp>
        <p:nvSpPr>
          <p:cNvPr id="96" name="Text 94"/>
          <p:cNvSpPr/>
          <p:nvPr/>
        </p:nvSpPr>
        <p:spPr>
          <a:xfrm>
            <a:off x="7479792" y="3977640"/>
            <a:ext cx="413308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why myelin matters</a:t>
            </a:r>
            <a:endParaRPr lang="en-US" sz="1300" dirty="0"/>
          </a:p>
        </p:txBody>
      </p:sp>
      <p:sp>
        <p:nvSpPr>
          <p:cNvPr id="97" name="Text 95"/>
          <p:cNvSpPr/>
          <p:nvPr/>
        </p:nvSpPr>
        <p:spPr>
          <a:xfrm>
            <a:off x="7479792" y="4288536"/>
            <a:ext cx="4133088" cy="1353312"/>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An impulse travels 1.0 m along a motor neurone at 100 m/s. How long does it take?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time = distance ÷ speed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time = 1.0 m ÷ 100 m/s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0.01 s = 10 ms (without myelin ~1 m/s: about 1 s)</a:t>
            </a:r>
            <a:endParaRPr lang="en-US" sz="1050" dirty="0"/>
          </a:p>
        </p:txBody>
      </p:sp>
      <p:sp>
        <p:nvSpPr>
          <p:cNvPr id="98" name="Shape 96"/>
          <p:cNvSpPr/>
          <p:nvPr/>
        </p:nvSpPr>
        <p:spPr>
          <a:xfrm>
            <a:off x="411480" y="5833872"/>
            <a:ext cx="11368735" cy="530352"/>
          </a:xfrm>
          <a:prstGeom prst="rect">
            <a:avLst/>
          </a:prstGeom>
          <a:solidFill>
            <a:srgbClr val="FFF4E0"/>
          </a:solidFill>
          <a:ln w="6350">
            <a:solidFill>
              <a:srgbClr val="F1D9A8"/>
            </a:solidFill>
            <a:prstDash val="solid"/>
          </a:ln>
        </p:spPr>
      </p:sp>
      <p:sp>
        <p:nvSpPr>
          <p:cNvPr id="99" name="Shape 97"/>
          <p:cNvSpPr/>
          <p:nvPr/>
        </p:nvSpPr>
        <p:spPr>
          <a:xfrm>
            <a:off x="411480" y="5833872"/>
            <a:ext cx="82296" cy="530352"/>
          </a:xfrm>
          <a:prstGeom prst="rect">
            <a:avLst/>
          </a:prstGeom>
          <a:solidFill>
            <a:srgbClr val="E39A2F"/>
          </a:solidFill>
          <a:ln w="12700">
            <a:solidFill>
              <a:srgbClr val="E39A2F"/>
            </a:solidFill>
            <a:prstDash val="solid"/>
          </a:ln>
        </p:spPr>
      </p:sp>
      <p:sp>
        <p:nvSpPr>
          <p:cNvPr id="100" name="Text 9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State the function of the </a:t>
            </a:r>
            <a:r>
              <a:rPr lang="en-US" sz="1150" b="1" dirty="0">
                <a:solidFill>
                  <a:srgbClr val="262B3A"/>
                </a:solidFill>
                <a:latin typeface="Calibri" pitchFamily="34" charset="0"/>
                <a:ea typeface="Calibri" pitchFamily="34" charset="-122"/>
                <a:cs typeface="Calibri" pitchFamily="34" charset="-120"/>
              </a:rPr>
              <a:t>myelin sheath</a:t>
            </a:r>
            <a:r>
              <a:rPr lang="en-US" sz="1150" dirty="0">
                <a:solidFill>
                  <a:srgbClr val="262B3A"/>
                </a:solidFill>
                <a:latin typeface="Calibri" pitchFamily="34" charset="0"/>
                <a:ea typeface="Calibri" pitchFamily="34" charset="-122"/>
                <a:cs typeface="Calibri" pitchFamily="34" charset="-120"/>
              </a:rPr>
              <a:t>. An impulse travels </a:t>
            </a:r>
            <a:r>
              <a:rPr lang="en-US" sz="1150" b="1" dirty="0">
                <a:solidFill>
                  <a:srgbClr val="262B3A"/>
                </a:solidFill>
                <a:latin typeface="Calibri" pitchFamily="34" charset="0"/>
                <a:ea typeface="Calibri" pitchFamily="34" charset="-122"/>
                <a:cs typeface="Calibri" pitchFamily="34" charset="-120"/>
              </a:rPr>
              <a:t>0.8 m</a:t>
            </a:r>
            <a:r>
              <a:rPr lang="en-US" sz="1150" dirty="0">
                <a:solidFill>
                  <a:srgbClr val="262B3A"/>
                </a:solidFill>
                <a:latin typeface="Calibri" pitchFamily="34" charset="0"/>
                <a:ea typeface="Calibri" pitchFamily="34" charset="-122"/>
                <a:cs typeface="Calibri" pitchFamily="34" charset="-120"/>
              </a:rPr>
              <a:t> at </a:t>
            </a:r>
            <a:r>
              <a:rPr lang="en-US" sz="1150" b="1" dirty="0">
                <a:solidFill>
                  <a:srgbClr val="262B3A"/>
                </a:solidFill>
                <a:latin typeface="Calibri" pitchFamily="34" charset="0"/>
                <a:ea typeface="Calibri" pitchFamily="34" charset="-122"/>
                <a:cs typeface="Calibri" pitchFamily="34" charset="-120"/>
              </a:rPr>
              <a:t>80 m/s</a:t>
            </a:r>
            <a:r>
              <a:rPr lang="en-US" sz="1150" dirty="0">
                <a:solidFill>
                  <a:srgbClr val="262B3A"/>
                </a:solidFill>
                <a:latin typeface="Calibri" pitchFamily="34" charset="0"/>
                <a:ea typeface="Calibri" pitchFamily="34" charset="-122"/>
                <a:cs typeface="Calibri" pitchFamily="34" charset="-120"/>
              </a:rPr>
              <a:t>: how many </a:t>
            </a:r>
            <a:r>
              <a:rPr lang="en-US" sz="1150" b="1" dirty="0">
                <a:solidFill>
                  <a:srgbClr val="262B3A"/>
                </a:solidFill>
                <a:latin typeface="Calibri" pitchFamily="34" charset="0"/>
                <a:ea typeface="Calibri" pitchFamily="34" charset="-122"/>
                <a:cs typeface="Calibri" pitchFamily="34" charset="-120"/>
              </a:rPr>
              <a:t>ms</a:t>
            </a:r>
            <a:r>
              <a:rPr lang="en-US" sz="1150" dirty="0">
                <a:solidFill>
                  <a:srgbClr val="262B3A"/>
                </a:solidFill>
                <a:latin typeface="Calibri" pitchFamily="34" charset="0"/>
                <a:ea typeface="Calibri" pitchFamily="34" charset="-122"/>
                <a:cs typeface="Calibri" pitchFamily="34" charset="-120"/>
              </a:rPr>
              <a:t> does it take?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Sensory, relay and motor neurones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B5.2.2 • three types of neurone, each shaped for its job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B5.2.2  |  9</a:t>
            </a:r>
            <a:endParaRPr lang="en-US" sz="1000" dirty="0"/>
          </a:p>
        </p:txBody>
      </p:sp>
      <p:sp>
        <p:nvSpPr>
          <p:cNvPr id="8" name="Shape 6"/>
          <p:cNvSpPr/>
          <p:nvPr/>
        </p:nvSpPr>
        <p:spPr>
          <a:xfrm>
            <a:off x="411480" y="1188720"/>
            <a:ext cx="585216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5778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simplified neurones; arrows show the direction of the impulse</a:t>
            </a:r>
            <a:endParaRPr lang="en-US" sz="1000" dirty="0"/>
          </a:p>
        </p:txBody>
      </p:sp>
      <p:sp>
        <p:nvSpPr>
          <p:cNvPr id="10" name="Text 8"/>
          <p:cNvSpPr/>
          <p:nvPr/>
        </p:nvSpPr>
        <p:spPr>
          <a:xfrm>
            <a:off x="548640" y="1280160"/>
            <a:ext cx="3840480" cy="256032"/>
          </a:xfrm>
          <a:prstGeom prst="rect">
            <a:avLst/>
          </a:prstGeom>
          <a:noFill/>
          <a:ln/>
        </p:spPr>
        <p:txBody>
          <a:bodyPr wrap="square" lIns="0" tIns="0" rIns="0" bIns="0" rtlCol="0" anchor="ctr"/>
          <a:lstStyle/>
          <a:p>
            <a:pPr algn="l" indent="0" marL="0">
              <a:buNone/>
            </a:pPr>
            <a:r>
              <a:rPr lang="en-US" sz="1100" b="1" dirty="0">
                <a:solidFill>
                  <a:srgbClr val="2F6DB5"/>
                </a:solidFill>
                <a:latin typeface="Calibri" pitchFamily="34" charset="0"/>
                <a:ea typeface="Calibri" pitchFamily="34" charset="-122"/>
                <a:cs typeface="Calibri" pitchFamily="34" charset="-120"/>
              </a:rPr>
              <a:t>Sensory neurone</a:t>
            </a:r>
            <a:r>
              <a:rPr lang="en-US" sz="1100" dirty="0">
                <a:solidFill>
                  <a:srgbClr val="2F6DB5"/>
                </a:solidFill>
                <a:latin typeface="Calibri" pitchFamily="34" charset="0"/>
                <a:ea typeface="Calibri" pitchFamily="34" charset="-122"/>
                <a:cs typeface="Calibri" pitchFamily="34" charset="-120"/>
              </a:rPr>
              <a:t>: receptor → CNS</a:t>
            </a:r>
            <a:endParaRPr lang="en-US" sz="1100" dirty="0"/>
          </a:p>
        </p:txBody>
      </p:sp>
      <p:sp>
        <p:nvSpPr>
          <p:cNvPr id="11" name="Shape 9"/>
          <p:cNvSpPr/>
          <p:nvPr/>
        </p:nvSpPr>
        <p:spPr>
          <a:xfrm>
            <a:off x="662940" y="1680667"/>
            <a:ext cx="411480" cy="98755"/>
          </a:xfrm>
          <a:prstGeom prst="rect">
            <a:avLst/>
          </a:prstGeom>
          <a:solidFill>
            <a:srgbClr val="F2C9A5"/>
          </a:solidFill>
          <a:ln w="9525">
            <a:solidFill>
              <a:srgbClr val="B07A50"/>
            </a:solidFill>
            <a:prstDash val="solid"/>
          </a:ln>
        </p:spPr>
      </p:sp>
      <p:sp>
        <p:nvSpPr>
          <p:cNvPr id="12" name="Shape 10"/>
          <p:cNvSpPr/>
          <p:nvPr/>
        </p:nvSpPr>
        <p:spPr>
          <a:xfrm>
            <a:off x="662940" y="1779422"/>
            <a:ext cx="411480" cy="197510"/>
          </a:xfrm>
          <a:prstGeom prst="rect">
            <a:avLst/>
          </a:prstGeom>
          <a:solidFill>
            <a:srgbClr val="F8E1CF"/>
          </a:solidFill>
          <a:ln w="9525">
            <a:solidFill>
              <a:srgbClr val="B07A50"/>
            </a:solidFill>
            <a:prstDash val="solid"/>
          </a:ln>
        </p:spPr>
      </p:sp>
      <p:sp>
        <p:nvSpPr>
          <p:cNvPr id="13" name="Shape 11"/>
          <p:cNvSpPr/>
          <p:nvPr/>
        </p:nvSpPr>
        <p:spPr>
          <a:xfrm>
            <a:off x="716432" y="1849374"/>
            <a:ext cx="57607" cy="57607"/>
          </a:xfrm>
          <a:prstGeom prst="ellipse">
            <a:avLst/>
          </a:prstGeom>
          <a:solidFill>
            <a:srgbClr val="2F6DB5"/>
          </a:solidFill>
          <a:ln w="9525">
            <a:solidFill>
              <a:srgbClr val="2F6DB5"/>
            </a:solidFill>
            <a:prstDash val="solid"/>
          </a:ln>
        </p:spPr>
      </p:sp>
      <p:sp>
        <p:nvSpPr>
          <p:cNvPr id="14" name="Shape 12"/>
          <p:cNvSpPr/>
          <p:nvPr/>
        </p:nvSpPr>
        <p:spPr>
          <a:xfrm>
            <a:off x="839876" y="1849374"/>
            <a:ext cx="57607" cy="57607"/>
          </a:xfrm>
          <a:prstGeom prst="ellipse">
            <a:avLst/>
          </a:prstGeom>
          <a:solidFill>
            <a:srgbClr val="2F6DB5"/>
          </a:solidFill>
          <a:ln w="9525">
            <a:solidFill>
              <a:srgbClr val="2F6DB5"/>
            </a:solidFill>
            <a:prstDash val="solid"/>
          </a:ln>
        </p:spPr>
      </p:sp>
      <p:sp>
        <p:nvSpPr>
          <p:cNvPr id="15" name="Shape 13"/>
          <p:cNvSpPr/>
          <p:nvPr/>
        </p:nvSpPr>
        <p:spPr>
          <a:xfrm>
            <a:off x="963320" y="1849374"/>
            <a:ext cx="57607" cy="57607"/>
          </a:xfrm>
          <a:prstGeom prst="ellipse">
            <a:avLst/>
          </a:prstGeom>
          <a:solidFill>
            <a:srgbClr val="2F6DB5"/>
          </a:solidFill>
          <a:ln w="9525">
            <a:solidFill>
              <a:srgbClr val="2F6DB5"/>
            </a:solidFill>
            <a:prstDash val="solid"/>
          </a:ln>
        </p:spPr>
      </p:sp>
      <p:sp>
        <p:nvSpPr>
          <p:cNvPr id="16" name="Shape 14"/>
          <p:cNvSpPr/>
          <p:nvPr/>
        </p:nvSpPr>
        <p:spPr>
          <a:xfrm>
            <a:off x="1097280" y="1828800"/>
            <a:ext cx="4023360" cy="91"/>
          </a:xfrm>
          <a:prstGeom prst="line">
            <a:avLst/>
          </a:prstGeom>
          <a:noFill/>
          <a:ln w="31750">
            <a:solidFill>
              <a:srgbClr val="2F6DB5"/>
            </a:solidFill>
            <a:prstDash val="solid"/>
          </a:ln>
        </p:spPr>
      </p:sp>
      <p:sp>
        <p:nvSpPr>
          <p:cNvPr id="17" name="Shape 15"/>
          <p:cNvSpPr/>
          <p:nvPr/>
        </p:nvSpPr>
        <p:spPr>
          <a:xfrm>
            <a:off x="1280160" y="1737360"/>
            <a:ext cx="384048" cy="182880"/>
          </a:xfrm>
          <a:prstGeom prst="roundRect">
            <a:avLst>
              <a:gd name="adj" fmla="val 50000"/>
            </a:avLst>
          </a:prstGeom>
          <a:solidFill>
            <a:srgbClr val="FBE3A6"/>
          </a:solidFill>
          <a:ln w="9525">
            <a:solidFill>
              <a:srgbClr val="C9A04A"/>
            </a:solidFill>
            <a:prstDash val="solid"/>
          </a:ln>
        </p:spPr>
      </p:sp>
      <p:sp>
        <p:nvSpPr>
          <p:cNvPr id="18" name="Shape 16"/>
          <p:cNvSpPr/>
          <p:nvPr/>
        </p:nvSpPr>
        <p:spPr>
          <a:xfrm>
            <a:off x="1737360" y="1737360"/>
            <a:ext cx="384048" cy="182880"/>
          </a:xfrm>
          <a:prstGeom prst="roundRect">
            <a:avLst>
              <a:gd name="adj" fmla="val 50000"/>
            </a:avLst>
          </a:prstGeom>
          <a:solidFill>
            <a:srgbClr val="FBE3A6"/>
          </a:solidFill>
          <a:ln w="9525">
            <a:solidFill>
              <a:srgbClr val="C9A04A"/>
            </a:solidFill>
            <a:prstDash val="solid"/>
          </a:ln>
        </p:spPr>
      </p:sp>
      <p:sp>
        <p:nvSpPr>
          <p:cNvPr id="19" name="Shape 17"/>
          <p:cNvSpPr/>
          <p:nvPr/>
        </p:nvSpPr>
        <p:spPr>
          <a:xfrm>
            <a:off x="2194560" y="1737360"/>
            <a:ext cx="384048" cy="182880"/>
          </a:xfrm>
          <a:prstGeom prst="roundRect">
            <a:avLst>
              <a:gd name="adj" fmla="val 50000"/>
            </a:avLst>
          </a:prstGeom>
          <a:solidFill>
            <a:srgbClr val="FBE3A6"/>
          </a:solidFill>
          <a:ln w="9525">
            <a:solidFill>
              <a:srgbClr val="C9A04A"/>
            </a:solidFill>
            <a:prstDash val="solid"/>
          </a:ln>
        </p:spPr>
      </p:sp>
      <p:sp>
        <p:nvSpPr>
          <p:cNvPr id="20" name="Shape 18"/>
          <p:cNvSpPr/>
          <p:nvPr/>
        </p:nvSpPr>
        <p:spPr>
          <a:xfrm>
            <a:off x="2651760" y="1737360"/>
            <a:ext cx="384048" cy="182880"/>
          </a:xfrm>
          <a:prstGeom prst="roundRect">
            <a:avLst>
              <a:gd name="adj" fmla="val 50000"/>
            </a:avLst>
          </a:prstGeom>
          <a:solidFill>
            <a:srgbClr val="FBE3A6"/>
          </a:solidFill>
          <a:ln w="9525">
            <a:solidFill>
              <a:srgbClr val="C9A04A"/>
            </a:solidFill>
            <a:prstDash val="solid"/>
          </a:ln>
        </p:spPr>
      </p:sp>
      <p:sp>
        <p:nvSpPr>
          <p:cNvPr id="21" name="Shape 19"/>
          <p:cNvSpPr/>
          <p:nvPr/>
        </p:nvSpPr>
        <p:spPr>
          <a:xfrm>
            <a:off x="3108960" y="1737360"/>
            <a:ext cx="384048" cy="182880"/>
          </a:xfrm>
          <a:prstGeom prst="roundRect">
            <a:avLst>
              <a:gd name="adj" fmla="val 50000"/>
            </a:avLst>
          </a:prstGeom>
          <a:solidFill>
            <a:srgbClr val="FBE3A6"/>
          </a:solidFill>
          <a:ln w="9525">
            <a:solidFill>
              <a:srgbClr val="C9A04A"/>
            </a:solidFill>
            <a:prstDash val="solid"/>
          </a:ln>
        </p:spPr>
      </p:sp>
      <p:sp>
        <p:nvSpPr>
          <p:cNvPr id="22" name="Shape 20"/>
          <p:cNvSpPr/>
          <p:nvPr/>
        </p:nvSpPr>
        <p:spPr>
          <a:xfrm>
            <a:off x="3566160" y="1737360"/>
            <a:ext cx="384048" cy="182880"/>
          </a:xfrm>
          <a:prstGeom prst="roundRect">
            <a:avLst>
              <a:gd name="adj" fmla="val 50000"/>
            </a:avLst>
          </a:prstGeom>
          <a:solidFill>
            <a:srgbClr val="FBE3A6"/>
          </a:solidFill>
          <a:ln w="9525">
            <a:solidFill>
              <a:srgbClr val="C9A04A"/>
            </a:solidFill>
            <a:prstDash val="solid"/>
          </a:ln>
        </p:spPr>
      </p:sp>
      <p:sp>
        <p:nvSpPr>
          <p:cNvPr id="23" name="Shape 21"/>
          <p:cNvSpPr/>
          <p:nvPr/>
        </p:nvSpPr>
        <p:spPr>
          <a:xfrm>
            <a:off x="4023360" y="1737360"/>
            <a:ext cx="384048" cy="182880"/>
          </a:xfrm>
          <a:prstGeom prst="roundRect">
            <a:avLst>
              <a:gd name="adj" fmla="val 50000"/>
            </a:avLst>
          </a:prstGeom>
          <a:solidFill>
            <a:srgbClr val="FBE3A6"/>
          </a:solidFill>
          <a:ln w="9525">
            <a:solidFill>
              <a:srgbClr val="C9A04A"/>
            </a:solidFill>
            <a:prstDash val="solid"/>
          </a:ln>
        </p:spPr>
      </p:sp>
      <p:sp>
        <p:nvSpPr>
          <p:cNvPr id="24" name="Shape 22"/>
          <p:cNvSpPr/>
          <p:nvPr/>
        </p:nvSpPr>
        <p:spPr>
          <a:xfrm>
            <a:off x="4480560" y="1737360"/>
            <a:ext cx="384048" cy="182880"/>
          </a:xfrm>
          <a:prstGeom prst="roundRect">
            <a:avLst>
              <a:gd name="adj" fmla="val 50000"/>
            </a:avLst>
          </a:prstGeom>
          <a:solidFill>
            <a:srgbClr val="FBE3A6"/>
          </a:solidFill>
          <a:ln w="9525">
            <a:solidFill>
              <a:srgbClr val="C9A04A"/>
            </a:solidFill>
            <a:prstDash val="solid"/>
          </a:ln>
        </p:spPr>
      </p:sp>
      <p:sp>
        <p:nvSpPr>
          <p:cNvPr id="25" name="Shape 23"/>
          <p:cNvSpPr/>
          <p:nvPr/>
        </p:nvSpPr>
        <p:spPr>
          <a:xfrm flipV="1">
            <a:off x="3108960" y="1536192"/>
            <a:ext cx="91" cy="292608"/>
          </a:xfrm>
          <a:prstGeom prst="line">
            <a:avLst/>
          </a:prstGeom>
          <a:noFill/>
          <a:ln w="25400">
            <a:solidFill>
              <a:srgbClr val="2F6DB5"/>
            </a:solidFill>
            <a:prstDash val="solid"/>
          </a:ln>
        </p:spPr>
      </p:sp>
      <p:sp>
        <p:nvSpPr>
          <p:cNvPr id="26" name="Shape 24"/>
          <p:cNvSpPr/>
          <p:nvPr/>
        </p:nvSpPr>
        <p:spPr>
          <a:xfrm>
            <a:off x="2990088" y="1325880"/>
            <a:ext cx="237744" cy="237744"/>
          </a:xfrm>
          <a:prstGeom prst="ellipse">
            <a:avLst/>
          </a:prstGeom>
          <a:solidFill>
            <a:srgbClr val="D6E4F5"/>
          </a:solidFill>
          <a:ln w="15875">
            <a:solidFill>
              <a:srgbClr val="2F6DB5"/>
            </a:solidFill>
            <a:prstDash val="solid"/>
          </a:ln>
        </p:spPr>
      </p:sp>
      <p:sp>
        <p:nvSpPr>
          <p:cNvPr id="27" name="Shape 25"/>
          <p:cNvSpPr/>
          <p:nvPr/>
        </p:nvSpPr>
        <p:spPr>
          <a:xfrm>
            <a:off x="3058668" y="1394460"/>
            <a:ext cx="100584" cy="100584"/>
          </a:xfrm>
          <a:prstGeom prst="ellipse">
            <a:avLst/>
          </a:prstGeom>
          <a:solidFill>
            <a:srgbClr val="C9B6E4"/>
          </a:solidFill>
          <a:ln w="9525">
            <a:solidFill>
              <a:srgbClr val="6A4C93"/>
            </a:solidFill>
            <a:prstDash val="solid"/>
          </a:ln>
        </p:spPr>
      </p:sp>
      <p:sp>
        <p:nvSpPr>
          <p:cNvPr id="28" name="Shape 26"/>
          <p:cNvSpPr/>
          <p:nvPr/>
        </p:nvSpPr>
        <p:spPr>
          <a:xfrm flipV="1">
            <a:off x="5120640" y="1636776"/>
            <a:ext cx="288036" cy="192024"/>
          </a:xfrm>
          <a:prstGeom prst="line">
            <a:avLst/>
          </a:prstGeom>
          <a:noFill/>
          <a:ln w="19050">
            <a:solidFill>
              <a:srgbClr val="2F6DB5"/>
            </a:solidFill>
            <a:prstDash val="solid"/>
          </a:ln>
        </p:spPr>
      </p:sp>
      <p:sp>
        <p:nvSpPr>
          <p:cNvPr id="29" name="Shape 27"/>
          <p:cNvSpPr/>
          <p:nvPr/>
        </p:nvSpPr>
        <p:spPr>
          <a:xfrm>
            <a:off x="5379872" y="1607972"/>
            <a:ext cx="57607" cy="57607"/>
          </a:xfrm>
          <a:prstGeom prst="ellipse">
            <a:avLst/>
          </a:prstGeom>
          <a:solidFill>
            <a:srgbClr val="2F6DB5"/>
          </a:solidFill>
          <a:ln w="9525">
            <a:solidFill>
              <a:srgbClr val="2F6DB5"/>
            </a:solidFill>
            <a:prstDash val="solid"/>
          </a:ln>
        </p:spPr>
      </p:sp>
      <p:sp>
        <p:nvSpPr>
          <p:cNvPr id="30" name="Shape 28"/>
          <p:cNvSpPr/>
          <p:nvPr/>
        </p:nvSpPr>
        <p:spPr>
          <a:xfrm flipV="1">
            <a:off x="5120640" y="1764792"/>
            <a:ext cx="320040" cy="64008"/>
          </a:xfrm>
          <a:prstGeom prst="line">
            <a:avLst/>
          </a:prstGeom>
          <a:noFill/>
          <a:ln w="19050">
            <a:solidFill>
              <a:srgbClr val="2F6DB5"/>
            </a:solidFill>
            <a:prstDash val="solid"/>
          </a:ln>
        </p:spPr>
      </p:sp>
      <p:sp>
        <p:nvSpPr>
          <p:cNvPr id="31" name="Shape 29"/>
          <p:cNvSpPr/>
          <p:nvPr/>
        </p:nvSpPr>
        <p:spPr>
          <a:xfrm>
            <a:off x="5411876" y="1735988"/>
            <a:ext cx="57607" cy="57607"/>
          </a:xfrm>
          <a:prstGeom prst="ellipse">
            <a:avLst/>
          </a:prstGeom>
          <a:solidFill>
            <a:srgbClr val="2F6DB5"/>
          </a:solidFill>
          <a:ln w="9525">
            <a:solidFill>
              <a:srgbClr val="2F6DB5"/>
            </a:solidFill>
            <a:prstDash val="solid"/>
          </a:ln>
        </p:spPr>
      </p:sp>
      <p:sp>
        <p:nvSpPr>
          <p:cNvPr id="32" name="Shape 30"/>
          <p:cNvSpPr/>
          <p:nvPr/>
        </p:nvSpPr>
        <p:spPr>
          <a:xfrm>
            <a:off x="5120640" y="1828800"/>
            <a:ext cx="320040" cy="64008"/>
          </a:xfrm>
          <a:prstGeom prst="line">
            <a:avLst/>
          </a:prstGeom>
          <a:noFill/>
          <a:ln w="19050">
            <a:solidFill>
              <a:srgbClr val="2F6DB5"/>
            </a:solidFill>
            <a:prstDash val="solid"/>
          </a:ln>
        </p:spPr>
      </p:sp>
      <p:sp>
        <p:nvSpPr>
          <p:cNvPr id="33" name="Shape 31"/>
          <p:cNvSpPr/>
          <p:nvPr/>
        </p:nvSpPr>
        <p:spPr>
          <a:xfrm>
            <a:off x="5411876" y="1864004"/>
            <a:ext cx="57607" cy="57607"/>
          </a:xfrm>
          <a:prstGeom prst="ellipse">
            <a:avLst/>
          </a:prstGeom>
          <a:solidFill>
            <a:srgbClr val="2F6DB5"/>
          </a:solidFill>
          <a:ln w="9525">
            <a:solidFill>
              <a:srgbClr val="2F6DB5"/>
            </a:solidFill>
            <a:prstDash val="solid"/>
          </a:ln>
        </p:spPr>
      </p:sp>
      <p:sp>
        <p:nvSpPr>
          <p:cNvPr id="34" name="Shape 32"/>
          <p:cNvSpPr/>
          <p:nvPr/>
        </p:nvSpPr>
        <p:spPr>
          <a:xfrm>
            <a:off x="5120640" y="1828800"/>
            <a:ext cx="288036" cy="192024"/>
          </a:xfrm>
          <a:prstGeom prst="line">
            <a:avLst/>
          </a:prstGeom>
          <a:noFill/>
          <a:ln w="19050">
            <a:solidFill>
              <a:srgbClr val="2F6DB5"/>
            </a:solidFill>
            <a:prstDash val="solid"/>
          </a:ln>
        </p:spPr>
      </p:sp>
      <p:sp>
        <p:nvSpPr>
          <p:cNvPr id="35" name="Shape 33"/>
          <p:cNvSpPr/>
          <p:nvPr/>
        </p:nvSpPr>
        <p:spPr>
          <a:xfrm>
            <a:off x="5379872" y="1992020"/>
            <a:ext cx="57607" cy="57607"/>
          </a:xfrm>
          <a:prstGeom prst="ellipse">
            <a:avLst/>
          </a:prstGeom>
          <a:solidFill>
            <a:srgbClr val="2F6DB5"/>
          </a:solidFill>
          <a:ln w="9525">
            <a:solidFill>
              <a:srgbClr val="2F6DB5"/>
            </a:solidFill>
            <a:prstDash val="solid"/>
          </a:ln>
        </p:spPr>
      </p:sp>
      <p:sp>
        <p:nvSpPr>
          <p:cNvPr id="36" name="Shape 34"/>
          <p:cNvSpPr/>
          <p:nvPr/>
        </p:nvSpPr>
        <p:spPr>
          <a:xfrm>
            <a:off x="1737360" y="2103120"/>
            <a:ext cx="640080" cy="91"/>
          </a:xfrm>
          <a:prstGeom prst="line">
            <a:avLst/>
          </a:prstGeom>
          <a:noFill/>
          <a:ln w="25400">
            <a:solidFill>
              <a:srgbClr val="2F6DB5"/>
            </a:solidFill>
            <a:prstDash val="solid"/>
            <a:tailEnd type="triangle"/>
          </a:ln>
        </p:spPr>
      </p:sp>
      <p:sp>
        <p:nvSpPr>
          <p:cNvPr id="37" name="Shape 35"/>
          <p:cNvSpPr/>
          <p:nvPr/>
        </p:nvSpPr>
        <p:spPr>
          <a:xfrm>
            <a:off x="3840480" y="2103120"/>
            <a:ext cx="640080" cy="91"/>
          </a:xfrm>
          <a:prstGeom prst="line">
            <a:avLst/>
          </a:prstGeom>
          <a:noFill/>
          <a:ln w="25400">
            <a:solidFill>
              <a:srgbClr val="2F6DB5"/>
            </a:solidFill>
            <a:prstDash val="solid"/>
            <a:tailEnd type="triangle"/>
          </a:ln>
        </p:spPr>
      </p:sp>
      <p:sp>
        <p:nvSpPr>
          <p:cNvPr id="38" name="Text 36"/>
          <p:cNvSpPr/>
          <p:nvPr/>
        </p:nvSpPr>
        <p:spPr>
          <a:xfrm>
            <a:off x="3291840" y="1325880"/>
            <a:ext cx="118872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cell body</a:t>
            </a:r>
            <a:endParaRPr lang="en-US" sz="1000" dirty="0"/>
          </a:p>
        </p:txBody>
      </p:sp>
      <p:sp>
        <p:nvSpPr>
          <p:cNvPr id="39" name="Text 37"/>
          <p:cNvSpPr/>
          <p:nvPr/>
        </p:nvSpPr>
        <p:spPr>
          <a:xfrm>
            <a:off x="548640" y="2029968"/>
            <a:ext cx="822960" cy="25603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receptor</a:t>
            </a:r>
            <a:endParaRPr lang="en-US" sz="1000" dirty="0"/>
          </a:p>
        </p:txBody>
      </p:sp>
      <p:sp>
        <p:nvSpPr>
          <p:cNvPr id="40" name="Shape 38"/>
          <p:cNvSpPr/>
          <p:nvPr/>
        </p:nvSpPr>
        <p:spPr>
          <a:xfrm>
            <a:off x="548640" y="2560320"/>
            <a:ext cx="5577840" cy="1143000"/>
          </a:xfrm>
          <a:prstGeom prst="roundRect">
            <a:avLst>
              <a:gd name="adj" fmla="val 4000"/>
            </a:avLst>
          </a:prstGeom>
          <a:solidFill>
            <a:srgbClr val="F7F3FB"/>
          </a:solidFill>
          <a:ln w="9525">
            <a:solidFill>
              <a:srgbClr val="8A7AA8"/>
            </a:solidFill>
            <a:prstDash val="solid"/>
          </a:ln>
        </p:spPr>
      </p:sp>
      <p:sp>
        <p:nvSpPr>
          <p:cNvPr id="41" name="Text 39"/>
          <p:cNvSpPr/>
          <p:nvPr/>
        </p:nvSpPr>
        <p:spPr>
          <a:xfrm>
            <a:off x="640080" y="2587752"/>
            <a:ext cx="4114800" cy="256032"/>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Relay neurone</a:t>
            </a:r>
            <a:r>
              <a:rPr lang="en-US" sz="1100" dirty="0">
                <a:solidFill>
                  <a:srgbClr val="2E8B57"/>
                </a:solidFill>
                <a:latin typeface="Calibri" pitchFamily="34" charset="0"/>
                <a:ea typeface="Calibri" pitchFamily="34" charset="-122"/>
                <a:cs typeface="Calibri" pitchFamily="34" charset="-120"/>
              </a:rPr>
              <a:t>: inside the CNS; links sensory to motor</a:t>
            </a:r>
            <a:endParaRPr lang="en-US" sz="1100" dirty="0"/>
          </a:p>
        </p:txBody>
      </p:sp>
      <p:sp>
        <p:nvSpPr>
          <p:cNvPr id="42" name="Text 40"/>
          <p:cNvSpPr/>
          <p:nvPr/>
        </p:nvSpPr>
        <p:spPr>
          <a:xfrm>
            <a:off x="4937760" y="2587752"/>
            <a:ext cx="1143000" cy="256032"/>
          </a:xfrm>
          <a:prstGeom prst="rect">
            <a:avLst/>
          </a:prstGeom>
          <a:noFill/>
          <a:ln/>
        </p:spPr>
        <p:txBody>
          <a:bodyPr wrap="square" lIns="0" tIns="0" rIns="0" bIns="0" rtlCol="0" anchor="ctr"/>
          <a:lstStyle/>
          <a:p>
            <a:pPr algn="r" indent="0" marL="0">
              <a:buNone/>
            </a:pPr>
            <a:r>
              <a:rPr lang="en-US" sz="1050" b="1" dirty="0">
                <a:solidFill>
                  <a:srgbClr val="8A7AA8"/>
                </a:solidFill>
                <a:latin typeface="Calibri" pitchFamily="34" charset="0"/>
                <a:ea typeface="Calibri" pitchFamily="34" charset="-122"/>
                <a:cs typeface="Calibri" pitchFamily="34" charset="-120"/>
              </a:rPr>
              <a:t>CNS</a:t>
            </a:r>
            <a:endParaRPr lang="en-US" sz="1050" dirty="0"/>
          </a:p>
        </p:txBody>
      </p:sp>
      <p:sp>
        <p:nvSpPr>
          <p:cNvPr id="43" name="Shape 41"/>
          <p:cNvSpPr/>
          <p:nvPr/>
        </p:nvSpPr>
        <p:spPr>
          <a:xfrm flipV="1">
            <a:off x="2743200" y="3103474"/>
            <a:ext cx="247071" cy="142646"/>
          </a:xfrm>
          <a:prstGeom prst="line">
            <a:avLst/>
          </a:prstGeom>
          <a:noFill/>
          <a:ln w="19050">
            <a:solidFill>
              <a:srgbClr val="2E8B57"/>
            </a:solidFill>
            <a:prstDash val="solid"/>
          </a:ln>
        </p:spPr>
      </p:sp>
      <p:sp>
        <p:nvSpPr>
          <p:cNvPr id="44" name="Shape 42"/>
          <p:cNvSpPr/>
          <p:nvPr/>
        </p:nvSpPr>
        <p:spPr>
          <a:xfrm flipV="1">
            <a:off x="2990271" y="3021811"/>
            <a:ext cx="55533" cy="81662"/>
          </a:xfrm>
          <a:prstGeom prst="line">
            <a:avLst/>
          </a:prstGeom>
          <a:noFill/>
          <a:ln w="12700">
            <a:solidFill>
              <a:srgbClr val="2E8B57"/>
            </a:solidFill>
            <a:prstDash val="solid"/>
          </a:ln>
        </p:spPr>
      </p:sp>
      <p:sp>
        <p:nvSpPr>
          <p:cNvPr id="45" name="Shape 43"/>
          <p:cNvSpPr/>
          <p:nvPr/>
        </p:nvSpPr>
        <p:spPr>
          <a:xfrm flipV="1">
            <a:off x="2990271" y="3096212"/>
            <a:ext cx="98488" cy="7262"/>
          </a:xfrm>
          <a:prstGeom prst="line">
            <a:avLst/>
          </a:prstGeom>
          <a:noFill/>
          <a:ln w="12700">
            <a:solidFill>
              <a:srgbClr val="2E8B57"/>
            </a:solidFill>
            <a:prstDash val="solid"/>
          </a:ln>
        </p:spPr>
      </p:sp>
      <p:sp>
        <p:nvSpPr>
          <p:cNvPr id="46" name="Shape 44"/>
          <p:cNvSpPr/>
          <p:nvPr/>
        </p:nvSpPr>
        <p:spPr>
          <a:xfrm flipV="1">
            <a:off x="2743200" y="2965161"/>
            <a:ext cx="49541" cy="280959"/>
          </a:xfrm>
          <a:prstGeom prst="line">
            <a:avLst/>
          </a:prstGeom>
          <a:noFill/>
          <a:ln w="19050">
            <a:solidFill>
              <a:srgbClr val="2E8B57"/>
            </a:solidFill>
            <a:prstDash val="solid"/>
          </a:ln>
        </p:spPr>
      </p:sp>
      <p:sp>
        <p:nvSpPr>
          <p:cNvPr id="47" name="Shape 45"/>
          <p:cNvSpPr/>
          <p:nvPr/>
        </p:nvSpPr>
        <p:spPr>
          <a:xfrm flipH="1" flipV="1">
            <a:off x="2765880" y="2870129"/>
            <a:ext cx="26861" cy="95032"/>
          </a:xfrm>
          <a:prstGeom prst="line">
            <a:avLst/>
          </a:prstGeom>
          <a:noFill/>
          <a:ln w="12700">
            <a:solidFill>
              <a:srgbClr val="2E8B57"/>
            </a:solidFill>
            <a:prstDash val="solid"/>
          </a:ln>
        </p:spPr>
      </p:sp>
      <p:sp>
        <p:nvSpPr>
          <p:cNvPr id="48" name="Shape 46"/>
          <p:cNvSpPr/>
          <p:nvPr/>
        </p:nvSpPr>
        <p:spPr>
          <a:xfrm flipV="1">
            <a:off x="2792741" y="2885048"/>
            <a:ext cx="57744" cy="80114"/>
          </a:xfrm>
          <a:prstGeom prst="line">
            <a:avLst/>
          </a:prstGeom>
          <a:noFill/>
          <a:ln w="12700">
            <a:solidFill>
              <a:srgbClr val="2E8B57"/>
            </a:solidFill>
            <a:prstDash val="solid"/>
          </a:ln>
        </p:spPr>
      </p:sp>
      <p:sp>
        <p:nvSpPr>
          <p:cNvPr id="49" name="Shape 47"/>
          <p:cNvSpPr/>
          <p:nvPr/>
        </p:nvSpPr>
        <p:spPr>
          <a:xfrm flipH="1" flipV="1">
            <a:off x="2559817" y="3027573"/>
            <a:ext cx="183383" cy="218547"/>
          </a:xfrm>
          <a:prstGeom prst="line">
            <a:avLst/>
          </a:prstGeom>
          <a:noFill/>
          <a:ln w="19050">
            <a:solidFill>
              <a:srgbClr val="2E8B57"/>
            </a:solidFill>
            <a:prstDash val="solid"/>
          </a:ln>
        </p:spPr>
      </p:sp>
      <p:sp>
        <p:nvSpPr>
          <p:cNvPr id="50" name="Shape 48"/>
          <p:cNvSpPr/>
          <p:nvPr/>
        </p:nvSpPr>
        <p:spPr>
          <a:xfrm flipH="1" flipV="1">
            <a:off x="2469753" y="2987064"/>
            <a:ext cx="90065" cy="40509"/>
          </a:xfrm>
          <a:prstGeom prst="line">
            <a:avLst/>
          </a:prstGeom>
          <a:noFill/>
          <a:ln w="12700">
            <a:solidFill>
              <a:srgbClr val="2E8B57"/>
            </a:solidFill>
            <a:prstDash val="solid"/>
          </a:ln>
        </p:spPr>
      </p:sp>
      <p:sp>
        <p:nvSpPr>
          <p:cNvPr id="51" name="Shape 49"/>
          <p:cNvSpPr/>
          <p:nvPr/>
        </p:nvSpPr>
        <p:spPr>
          <a:xfrm flipH="1" flipV="1">
            <a:off x="2535564" y="2931842"/>
            <a:ext cx="24254" cy="95731"/>
          </a:xfrm>
          <a:prstGeom prst="line">
            <a:avLst/>
          </a:prstGeom>
          <a:noFill/>
          <a:ln w="12700">
            <a:solidFill>
              <a:srgbClr val="2E8B57"/>
            </a:solidFill>
            <a:prstDash val="solid"/>
          </a:ln>
        </p:spPr>
      </p:sp>
      <p:sp>
        <p:nvSpPr>
          <p:cNvPr id="52" name="Shape 50"/>
          <p:cNvSpPr/>
          <p:nvPr/>
        </p:nvSpPr>
        <p:spPr>
          <a:xfrm flipH="1">
            <a:off x="2457907" y="3246120"/>
            <a:ext cx="285293" cy="91"/>
          </a:xfrm>
          <a:prstGeom prst="line">
            <a:avLst/>
          </a:prstGeom>
          <a:noFill/>
          <a:ln w="19050">
            <a:solidFill>
              <a:srgbClr val="2E8B57"/>
            </a:solidFill>
            <a:prstDash val="solid"/>
          </a:ln>
        </p:spPr>
      </p:sp>
      <p:sp>
        <p:nvSpPr>
          <p:cNvPr id="53" name="Shape 51"/>
          <p:cNvSpPr/>
          <p:nvPr/>
        </p:nvSpPr>
        <p:spPr>
          <a:xfrm flipH="1">
            <a:off x="2368983" y="3246120"/>
            <a:ext cx="88924" cy="42955"/>
          </a:xfrm>
          <a:prstGeom prst="line">
            <a:avLst/>
          </a:prstGeom>
          <a:noFill/>
          <a:ln w="12700">
            <a:solidFill>
              <a:srgbClr val="2E8B57"/>
            </a:solidFill>
            <a:prstDash val="solid"/>
          </a:ln>
        </p:spPr>
      </p:sp>
      <p:sp>
        <p:nvSpPr>
          <p:cNvPr id="54" name="Shape 52"/>
          <p:cNvSpPr/>
          <p:nvPr/>
        </p:nvSpPr>
        <p:spPr>
          <a:xfrm flipH="1" flipV="1">
            <a:off x="2368983" y="3203165"/>
            <a:ext cx="88924" cy="42955"/>
          </a:xfrm>
          <a:prstGeom prst="line">
            <a:avLst/>
          </a:prstGeom>
          <a:noFill/>
          <a:ln w="12700">
            <a:solidFill>
              <a:srgbClr val="2E8B57"/>
            </a:solidFill>
            <a:prstDash val="solid"/>
          </a:ln>
        </p:spPr>
      </p:sp>
      <p:sp>
        <p:nvSpPr>
          <p:cNvPr id="55" name="Shape 53"/>
          <p:cNvSpPr/>
          <p:nvPr/>
        </p:nvSpPr>
        <p:spPr>
          <a:xfrm flipH="1">
            <a:off x="2559817" y="3246120"/>
            <a:ext cx="183383" cy="218547"/>
          </a:xfrm>
          <a:prstGeom prst="line">
            <a:avLst/>
          </a:prstGeom>
          <a:noFill/>
          <a:ln w="19050">
            <a:solidFill>
              <a:srgbClr val="2E8B57"/>
            </a:solidFill>
            <a:prstDash val="solid"/>
          </a:ln>
        </p:spPr>
      </p:sp>
      <p:sp>
        <p:nvSpPr>
          <p:cNvPr id="56" name="Shape 54"/>
          <p:cNvSpPr/>
          <p:nvPr/>
        </p:nvSpPr>
        <p:spPr>
          <a:xfrm flipH="1">
            <a:off x="2535564" y="3464667"/>
            <a:ext cx="24254" cy="95731"/>
          </a:xfrm>
          <a:prstGeom prst="line">
            <a:avLst/>
          </a:prstGeom>
          <a:noFill/>
          <a:ln w="12700">
            <a:solidFill>
              <a:srgbClr val="2E8B57"/>
            </a:solidFill>
            <a:prstDash val="solid"/>
          </a:ln>
        </p:spPr>
      </p:sp>
      <p:sp>
        <p:nvSpPr>
          <p:cNvPr id="57" name="Shape 55"/>
          <p:cNvSpPr/>
          <p:nvPr/>
        </p:nvSpPr>
        <p:spPr>
          <a:xfrm flipH="1">
            <a:off x="2469753" y="3464667"/>
            <a:ext cx="90065" cy="40509"/>
          </a:xfrm>
          <a:prstGeom prst="line">
            <a:avLst/>
          </a:prstGeom>
          <a:noFill/>
          <a:ln w="12700">
            <a:solidFill>
              <a:srgbClr val="2E8B57"/>
            </a:solidFill>
            <a:prstDash val="solid"/>
          </a:ln>
        </p:spPr>
      </p:sp>
      <p:sp>
        <p:nvSpPr>
          <p:cNvPr id="58" name="Shape 56"/>
          <p:cNvSpPr/>
          <p:nvPr/>
        </p:nvSpPr>
        <p:spPr>
          <a:xfrm>
            <a:off x="2743200" y="3246120"/>
            <a:ext cx="49541" cy="280959"/>
          </a:xfrm>
          <a:prstGeom prst="line">
            <a:avLst/>
          </a:prstGeom>
          <a:noFill/>
          <a:ln w="19050">
            <a:solidFill>
              <a:srgbClr val="2E8B57"/>
            </a:solidFill>
            <a:prstDash val="solid"/>
          </a:ln>
        </p:spPr>
      </p:sp>
      <p:sp>
        <p:nvSpPr>
          <p:cNvPr id="59" name="Shape 57"/>
          <p:cNvSpPr/>
          <p:nvPr/>
        </p:nvSpPr>
        <p:spPr>
          <a:xfrm>
            <a:off x="2792741" y="3527079"/>
            <a:ext cx="57744" cy="80114"/>
          </a:xfrm>
          <a:prstGeom prst="line">
            <a:avLst/>
          </a:prstGeom>
          <a:noFill/>
          <a:ln w="12700">
            <a:solidFill>
              <a:srgbClr val="2E8B57"/>
            </a:solidFill>
            <a:prstDash val="solid"/>
          </a:ln>
        </p:spPr>
      </p:sp>
      <p:sp>
        <p:nvSpPr>
          <p:cNvPr id="60" name="Shape 58"/>
          <p:cNvSpPr/>
          <p:nvPr/>
        </p:nvSpPr>
        <p:spPr>
          <a:xfrm flipH="1">
            <a:off x="2765880" y="3527079"/>
            <a:ext cx="26861" cy="95032"/>
          </a:xfrm>
          <a:prstGeom prst="line">
            <a:avLst/>
          </a:prstGeom>
          <a:noFill/>
          <a:ln w="12700">
            <a:solidFill>
              <a:srgbClr val="2E8B57"/>
            </a:solidFill>
            <a:prstDash val="solid"/>
          </a:ln>
        </p:spPr>
      </p:sp>
      <p:sp>
        <p:nvSpPr>
          <p:cNvPr id="61" name="Shape 59"/>
          <p:cNvSpPr/>
          <p:nvPr/>
        </p:nvSpPr>
        <p:spPr>
          <a:xfrm>
            <a:off x="2743200" y="3246120"/>
            <a:ext cx="247071" cy="142646"/>
          </a:xfrm>
          <a:prstGeom prst="line">
            <a:avLst/>
          </a:prstGeom>
          <a:noFill/>
          <a:ln w="19050">
            <a:solidFill>
              <a:srgbClr val="2E8B57"/>
            </a:solidFill>
            <a:prstDash val="solid"/>
          </a:ln>
        </p:spPr>
      </p:sp>
      <p:sp>
        <p:nvSpPr>
          <p:cNvPr id="62" name="Shape 60"/>
          <p:cNvSpPr/>
          <p:nvPr/>
        </p:nvSpPr>
        <p:spPr>
          <a:xfrm>
            <a:off x="2990271" y="3388766"/>
            <a:ext cx="98488" cy="7262"/>
          </a:xfrm>
          <a:prstGeom prst="line">
            <a:avLst/>
          </a:prstGeom>
          <a:noFill/>
          <a:ln w="12700">
            <a:solidFill>
              <a:srgbClr val="2E8B57"/>
            </a:solidFill>
            <a:prstDash val="solid"/>
          </a:ln>
        </p:spPr>
      </p:sp>
      <p:sp>
        <p:nvSpPr>
          <p:cNvPr id="63" name="Shape 61"/>
          <p:cNvSpPr/>
          <p:nvPr/>
        </p:nvSpPr>
        <p:spPr>
          <a:xfrm>
            <a:off x="2990271" y="3388766"/>
            <a:ext cx="55533" cy="81662"/>
          </a:xfrm>
          <a:prstGeom prst="line">
            <a:avLst/>
          </a:prstGeom>
          <a:noFill/>
          <a:ln w="12700">
            <a:solidFill>
              <a:srgbClr val="2E8B57"/>
            </a:solidFill>
            <a:prstDash val="solid"/>
          </a:ln>
        </p:spPr>
      </p:sp>
      <p:sp>
        <p:nvSpPr>
          <p:cNvPr id="64" name="Shape 62"/>
          <p:cNvSpPr/>
          <p:nvPr/>
        </p:nvSpPr>
        <p:spPr>
          <a:xfrm>
            <a:off x="2633472" y="3136392"/>
            <a:ext cx="219456" cy="219456"/>
          </a:xfrm>
          <a:prstGeom prst="ellipse">
            <a:avLst/>
          </a:prstGeom>
          <a:solidFill>
            <a:srgbClr val="E3D7F0"/>
          </a:solidFill>
          <a:ln w="19050">
            <a:solidFill>
              <a:srgbClr val="2E8B57"/>
            </a:solidFill>
            <a:prstDash val="solid"/>
          </a:ln>
        </p:spPr>
      </p:sp>
      <p:sp>
        <p:nvSpPr>
          <p:cNvPr id="65" name="Shape 63"/>
          <p:cNvSpPr/>
          <p:nvPr/>
        </p:nvSpPr>
        <p:spPr>
          <a:xfrm>
            <a:off x="2697114" y="3200034"/>
            <a:ext cx="92172" cy="92172"/>
          </a:xfrm>
          <a:prstGeom prst="ellipse">
            <a:avLst/>
          </a:prstGeom>
          <a:solidFill>
            <a:srgbClr val="C9B6E4"/>
          </a:solidFill>
          <a:ln w="12700">
            <a:solidFill>
              <a:srgbClr val="6A4C93"/>
            </a:solidFill>
            <a:prstDash val="solid"/>
          </a:ln>
        </p:spPr>
      </p:sp>
      <p:sp>
        <p:nvSpPr>
          <p:cNvPr id="66" name="Shape 64"/>
          <p:cNvSpPr/>
          <p:nvPr/>
        </p:nvSpPr>
        <p:spPr>
          <a:xfrm>
            <a:off x="2852928" y="3246120"/>
            <a:ext cx="1170432" cy="91"/>
          </a:xfrm>
          <a:prstGeom prst="line">
            <a:avLst/>
          </a:prstGeom>
          <a:noFill/>
          <a:ln w="31750">
            <a:solidFill>
              <a:srgbClr val="2E8B57"/>
            </a:solidFill>
            <a:prstDash val="solid"/>
          </a:ln>
        </p:spPr>
      </p:sp>
      <p:sp>
        <p:nvSpPr>
          <p:cNvPr id="67" name="Shape 65"/>
          <p:cNvSpPr/>
          <p:nvPr/>
        </p:nvSpPr>
        <p:spPr>
          <a:xfrm flipV="1">
            <a:off x="4023360" y="3095244"/>
            <a:ext cx="226314" cy="150876"/>
          </a:xfrm>
          <a:prstGeom prst="line">
            <a:avLst/>
          </a:prstGeom>
          <a:noFill/>
          <a:ln w="19050">
            <a:solidFill>
              <a:srgbClr val="2E8B57"/>
            </a:solidFill>
            <a:prstDash val="solid"/>
          </a:ln>
        </p:spPr>
      </p:sp>
      <p:sp>
        <p:nvSpPr>
          <p:cNvPr id="68" name="Shape 66"/>
          <p:cNvSpPr/>
          <p:nvPr/>
        </p:nvSpPr>
        <p:spPr>
          <a:xfrm>
            <a:off x="4227043" y="3072613"/>
            <a:ext cx="45263" cy="45263"/>
          </a:xfrm>
          <a:prstGeom prst="ellipse">
            <a:avLst/>
          </a:prstGeom>
          <a:solidFill>
            <a:srgbClr val="2E8B57"/>
          </a:solidFill>
          <a:ln w="9525">
            <a:solidFill>
              <a:srgbClr val="2E8B57"/>
            </a:solidFill>
            <a:prstDash val="solid"/>
          </a:ln>
        </p:spPr>
      </p:sp>
      <p:sp>
        <p:nvSpPr>
          <p:cNvPr id="69" name="Shape 67"/>
          <p:cNvSpPr/>
          <p:nvPr/>
        </p:nvSpPr>
        <p:spPr>
          <a:xfrm flipV="1">
            <a:off x="4023360" y="3195828"/>
            <a:ext cx="251460" cy="50292"/>
          </a:xfrm>
          <a:prstGeom prst="line">
            <a:avLst/>
          </a:prstGeom>
          <a:noFill/>
          <a:ln w="19050">
            <a:solidFill>
              <a:srgbClr val="2E8B57"/>
            </a:solidFill>
            <a:prstDash val="solid"/>
          </a:ln>
        </p:spPr>
      </p:sp>
      <p:sp>
        <p:nvSpPr>
          <p:cNvPr id="70" name="Shape 68"/>
          <p:cNvSpPr/>
          <p:nvPr/>
        </p:nvSpPr>
        <p:spPr>
          <a:xfrm>
            <a:off x="4252189" y="3173197"/>
            <a:ext cx="45263" cy="45263"/>
          </a:xfrm>
          <a:prstGeom prst="ellipse">
            <a:avLst/>
          </a:prstGeom>
          <a:solidFill>
            <a:srgbClr val="2E8B57"/>
          </a:solidFill>
          <a:ln w="9525">
            <a:solidFill>
              <a:srgbClr val="2E8B57"/>
            </a:solidFill>
            <a:prstDash val="solid"/>
          </a:ln>
        </p:spPr>
      </p:sp>
      <p:sp>
        <p:nvSpPr>
          <p:cNvPr id="71" name="Shape 69"/>
          <p:cNvSpPr/>
          <p:nvPr/>
        </p:nvSpPr>
        <p:spPr>
          <a:xfrm>
            <a:off x="4023360" y="3246120"/>
            <a:ext cx="251460" cy="50292"/>
          </a:xfrm>
          <a:prstGeom prst="line">
            <a:avLst/>
          </a:prstGeom>
          <a:noFill/>
          <a:ln w="19050">
            <a:solidFill>
              <a:srgbClr val="2E8B57"/>
            </a:solidFill>
            <a:prstDash val="solid"/>
          </a:ln>
        </p:spPr>
      </p:sp>
      <p:sp>
        <p:nvSpPr>
          <p:cNvPr id="72" name="Shape 70"/>
          <p:cNvSpPr/>
          <p:nvPr/>
        </p:nvSpPr>
        <p:spPr>
          <a:xfrm>
            <a:off x="4252189" y="3273781"/>
            <a:ext cx="45263" cy="45263"/>
          </a:xfrm>
          <a:prstGeom prst="ellipse">
            <a:avLst/>
          </a:prstGeom>
          <a:solidFill>
            <a:srgbClr val="2E8B57"/>
          </a:solidFill>
          <a:ln w="9525">
            <a:solidFill>
              <a:srgbClr val="2E8B57"/>
            </a:solidFill>
            <a:prstDash val="solid"/>
          </a:ln>
        </p:spPr>
      </p:sp>
      <p:sp>
        <p:nvSpPr>
          <p:cNvPr id="73" name="Shape 71"/>
          <p:cNvSpPr/>
          <p:nvPr/>
        </p:nvSpPr>
        <p:spPr>
          <a:xfrm>
            <a:off x="4023360" y="3246120"/>
            <a:ext cx="226314" cy="150876"/>
          </a:xfrm>
          <a:prstGeom prst="line">
            <a:avLst/>
          </a:prstGeom>
          <a:noFill/>
          <a:ln w="19050">
            <a:solidFill>
              <a:srgbClr val="2E8B57"/>
            </a:solidFill>
            <a:prstDash val="solid"/>
          </a:ln>
        </p:spPr>
      </p:sp>
      <p:sp>
        <p:nvSpPr>
          <p:cNvPr id="74" name="Shape 72"/>
          <p:cNvSpPr/>
          <p:nvPr/>
        </p:nvSpPr>
        <p:spPr>
          <a:xfrm>
            <a:off x="4227043" y="3374365"/>
            <a:ext cx="45263" cy="45263"/>
          </a:xfrm>
          <a:prstGeom prst="ellipse">
            <a:avLst/>
          </a:prstGeom>
          <a:solidFill>
            <a:srgbClr val="2E8B57"/>
          </a:solidFill>
          <a:ln w="9525">
            <a:solidFill>
              <a:srgbClr val="2E8B57"/>
            </a:solidFill>
            <a:prstDash val="solid"/>
          </a:ln>
        </p:spPr>
      </p:sp>
      <p:sp>
        <p:nvSpPr>
          <p:cNvPr id="75" name="Shape 73"/>
          <p:cNvSpPr/>
          <p:nvPr/>
        </p:nvSpPr>
        <p:spPr>
          <a:xfrm>
            <a:off x="3017520" y="3474720"/>
            <a:ext cx="548640" cy="91"/>
          </a:xfrm>
          <a:prstGeom prst="line">
            <a:avLst/>
          </a:prstGeom>
          <a:noFill/>
          <a:ln w="25400">
            <a:solidFill>
              <a:srgbClr val="2E8B57"/>
            </a:solidFill>
            <a:prstDash val="solid"/>
            <a:tailEnd type="triangle"/>
          </a:ln>
        </p:spPr>
      </p:sp>
      <p:sp>
        <p:nvSpPr>
          <p:cNvPr id="76" name="Text 74"/>
          <p:cNvSpPr/>
          <p:nvPr/>
        </p:nvSpPr>
        <p:spPr>
          <a:xfrm>
            <a:off x="685800" y="3136392"/>
            <a:ext cx="1600200" cy="25603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many short dendrites</a:t>
            </a:r>
            <a:endParaRPr lang="en-US" sz="1000" dirty="0"/>
          </a:p>
        </p:txBody>
      </p:sp>
      <p:sp>
        <p:nvSpPr>
          <p:cNvPr id="77" name="Text 75"/>
          <p:cNvSpPr/>
          <p:nvPr/>
        </p:nvSpPr>
        <p:spPr>
          <a:xfrm>
            <a:off x="548640" y="3886200"/>
            <a:ext cx="411480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Motor neurone</a:t>
            </a:r>
            <a:r>
              <a:rPr lang="en-US" sz="1100" dirty="0">
                <a:solidFill>
                  <a:srgbClr val="C8414C"/>
                </a:solidFill>
                <a:latin typeface="Calibri" pitchFamily="34" charset="0"/>
                <a:ea typeface="Calibri" pitchFamily="34" charset="-122"/>
                <a:cs typeface="Calibri" pitchFamily="34" charset="-120"/>
              </a:rPr>
              <a:t>: CNS → effector</a:t>
            </a:r>
            <a:endParaRPr lang="en-US" sz="1100" dirty="0"/>
          </a:p>
        </p:txBody>
      </p:sp>
      <p:sp>
        <p:nvSpPr>
          <p:cNvPr id="78" name="Shape 76"/>
          <p:cNvSpPr/>
          <p:nvPr/>
        </p:nvSpPr>
        <p:spPr>
          <a:xfrm flipV="1">
            <a:off x="1188720" y="4311135"/>
            <a:ext cx="70182" cy="398025"/>
          </a:xfrm>
          <a:prstGeom prst="line">
            <a:avLst/>
          </a:prstGeom>
          <a:noFill/>
          <a:ln w="19050">
            <a:solidFill>
              <a:srgbClr val="C8414C"/>
            </a:solidFill>
            <a:prstDash val="solid"/>
          </a:ln>
        </p:spPr>
      </p:sp>
      <p:sp>
        <p:nvSpPr>
          <p:cNvPr id="79" name="Shape 77"/>
          <p:cNvSpPr/>
          <p:nvPr/>
        </p:nvSpPr>
        <p:spPr>
          <a:xfrm flipH="1" flipV="1">
            <a:off x="1220849" y="4176507"/>
            <a:ext cx="38053" cy="134629"/>
          </a:xfrm>
          <a:prstGeom prst="line">
            <a:avLst/>
          </a:prstGeom>
          <a:noFill/>
          <a:ln w="12700">
            <a:solidFill>
              <a:srgbClr val="C8414C"/>
            </a:solidFill>
            <a:prstDash val="solid"/>
          </a:ln>
        </p:spPr>
      </p:sp>
      <p:sp>
        <p:nvSpPr>
          <p:cNvPr id="80" name="Shape 78"/>
          <p:cNvSpPr/>
          <p:nvPr/>
        </p:nvSpPr>
        <p:spPr>
          <a:xfrm flipV="1">
            <a:off x="1258902" y="4197641"/>
            <a:ext cx="81804" cy="113495"/>
          </a:xfrm>
          <a:prstGeom prst="line">
            <a:avLst/>
          </a:prstGeom>
          <a:noFill/>
          <a:ln w="12700">
            <a:solidFill>
              <a:srgbClr val="C8414C"/>
            </a:solidFill>
            <a:prstDash val="solid"/>
          </a:ln>
        </p:spPr>
      </p:sp>
      <p:sp>
        <p:nvSpPr>
          <p:cNvPr id="81" name="Shape 79"/>
          <p:cNvSpPr/>
          <p:nvPr/>
        </p:nvSpPr>
        <p:spPr>
          <a:xfrm flipH="1" flipV="1">
            <a:off x="986638" y="4359143"/>
            <a:ext cx="202082" cy="350017"/>
          </a:xfrm>
          <a:prstGeom prst="line">
            <a:avLst/>
          </a:prstGeom>
          <a:noFill/>
          <a:ln w="19050">
            <a:solidFill>
              <a:srgbClr val="C8414C"/>
            </a:solidFill>
            <a:prstDash val="solid"/>
          </a:ln>
        </p:spPr>
      </p:sp>
      <p:sp>
        <p:nvSpPr>
          <p:cNvPr id="82" name="Shape 80"/>
          <p:cNvSpPr/>
          <p:nvPr/>
        </p:nvSpPr>
        <p:spPr>
          <a:xfrm flipH="1" flipV="1">
            <a:off x="870950" y="4280472"/>
            <a:ext cx="115688" cy="78671"/>
          </a:xfrm>
          <a:prstGeom prst="line">
            <a:avLst/>
          </a:prstGeom>
          <a:noFill/>
          <a:ln w="12700">
            <a:solidFill>
              <a:srgbClr val="C8414C"/>
            </a:solidFill>
            <a:prstDash val="solid"/>
          </a:ln>
        </p:spPr>
      </p:sp>
      <p:sp>
        <p:nvSpPr>
          <p:cNvPr id="83" name="Shape 81"/>
          <p:cNvSpPr/>
          <p:nvPr/>
        </p:nvSpPr>
        <p:spPr>
          <a:xfrm flipH="1" flipV="1">
            <a:off x="976350" y="4219619"/>
            <a:ext cx="10287" cy="139524"/>
          </a:xfrm>
          <a:prstGeom prst="line">
            <a:avLst/>
          </a:prstGeom>
          <a:noFill/>
          <a:ln w="12700">
            <a:solidFill>
              <a:srgbClr val="C8414C"/>
            </a:solidFill>
            <a:prstDash val="solid"/>
          </a:ln>
        </p:spPr>
      </p:sp>
      <p:sp>
        <p:nvSpPr>
          <p:cNvPr id="84" name="Shape 82"/>
          <p:cNvSpPr/>
          <p:nvPr/>
        </p:nvSpPr>
        <p:spPr>
          <a:xfrm flipH="1" flipV="1">
            <a:off x="808929" y="4570927"/>
            <a:ext cx="379791" cy="138233"/>
          </a:xfrm>
          <a:prstGeom prst="line">
            <a:avLst/>
          </a:prstGeom>
          <a:noFill/>
          <a:ln w="19050">
            <a:solidFill>
              <a:srgbClr val="C8414C"/>
            </a:solidFill>
            <a:prstDash val="solid"/>
          </a:ln>
        </p:spPr>
      </p:sp>
      <p:sp>
        <p:nvSpPr>
          <p:cNvPr id="85" name="Shape 83"/>
          <p:cNvSpPr/>
          <p:nvPr/>
        </p:nvSpPr>
        <p:spPr>
          <a:xfrm flipH="1">
            <a:off x="669738" y="4570927"/>
            <a:ext cx="139191" cy="14097"/>
          </a:xfrm>
          <a:prstGeom prst="line">
            <a:avLst/>
          </a:prstGeom>
          <a:noFill/>
          <a:ln w="12700">
            <a:solidFill>
              <a:srgbClr val="C8414C"/>
            </a:solidFill>
            <a:prstDash val="solid"/>
          </a:ln>
        </p:spPr>
      </p:sp>
      <p:sp>
        <p:nvSpPr>
          <p:cNvPr id="86" name="Shape 84"/>
          <p:cNvSpPr/>
          <p:nvPr/>
        </p:nvSpPr>
        <p:spPr>
          <a:xfrm flipH="1" flipV="1">
            <a:off x="711364" y="4470658"/>
            <a:ext cx="97565" cy="100269"/>
          </a:xfrm>
          <a:prstGeom prst="line">
            <a:avLst/>
          </a:prstGeom>
          <a:noFill/>
          <a:ln w="12700">
            <a:solidFill>
              <a:srgbClr val="C8414C"/>
            </a:solidFill>
            <a:prstDash val="solid"/>
          </a:ln>
        </p:spPr>
      </p:sp>
      <p:sp>
        <p:nvSpPr>
          <p:cNvPr id="87" name="Shape 85"/>
          <p:cNvSpPr/>
          <p:nvPr/>
        </p:nvSpPr>
        <p:spPr>
          <a:xfrm flipH="1">
            <a:off x="808929" y="4709160"/>
            <a:ext cx="379791" cy="138233"/>
          </a:xfrm>
          <a:prstGeom prst="line">
            <a:avLst/>
          </a:prstGeom>
          <a:noFill/>
          <a:ln w="19050">
            <a:solidFill>
              <a:srgbClr val="C8414C"/>
            </a:solidFill>
            <a:prstDash val="solid"/>
          </a:ln>
        </p:spPr>
      </p:sp>
      <p:sp>
        <p:nvSpPr>
          <p:cNvPr id="88" name="Shape 86"/>
          <p:cNvSpPr/>
          <p:nvPr/>
        </p:nvSpPr>
        <p:spPr>
          <a:xfrm flipH="1">
            <a:off x="711364" y="4847393"/>
            <a:ext cx="97565" cy="100269"/>
          </a:xfrm>
          <a:prstGeom prst="line">
            <a:avLst/>
          </a:prstGeom>
          <a:noFill/>
          <a:ln w="12700">
            <a:solidFill>
              <a:srgbClr val="C8414C"/>
            </a:solidFill>
            <a:prstDash val="solid"/>
          </a:ln>
        </p:spPr>
      </p:sp>
      <p:sp>
        <p:nvSpPr>
          <p:cNvPr id="89" name="Shape 87"/>
          <p:cNvSpPr/>
          <p:nvPr/>
        </p:nvSpPr>
        <p:spPr>
          <a:xfrm flipH="1" flipV="1">
            <a:off x="669738" y="4833295"/>
            <a:ext cx="139191" cy="14097"/>
          </a:xfrm>
          <a:prstGeom prst="line">
            <a:avLst/>
          </a:prstGeom>
          <a:noFill/>
          <a:ln w="12700">
            <a:solidFill>
              <a:srgbClr val="C8414C"/>
            </a:solidFill>
            <a:prstDash val="solid"/>
          </a:ln>
        </p:spPr>
      </p:sp>
      <p:sp>
        <p:nvSpPr>
          <p:cNvPr id="90" name="Shape 88"/>
          <p:cNvSpPr/>
          <p:nvPr/>
        </p:nvSpPr>
        <p:spPr>
          <a:xfrm flipH="1">
            <a:off x="986638" y="4709160"/>
            <a:ext cx="202082" cy="350017"/>
          </a:xfrm>
          <a:prstGeom prst="line">
            <a:avLst/>
          </a:prstGeom>
          <a:noFill/>
          <a:ln w="19050">
            <a:solidFill>
              <a:srgbClr val="C8414C"/>
            </a:solidFill>
            <a:prstDash val="solid"/>
          </a:ln>
        </p:spPr>
      </p:sp>
      <p:sp>
        <p:nvSpPr>
          <p:cNvPr id="91" name="Shape 89"/>
          <p:cNvSpPr/>
          <p:nvPr/>
        </p:nvSpPr>
        <p:spPr>
          <a:xfrm flipH="1">
            <a:off x="976350" y="5059177"/>
            <a:ext cx="10287" cy="139524"/>
          </a:xfrm>
          <a:prstGeom prst="line">
            <a:avLst/>
          </a:prstGeom>
          <a:noFill/>
          <a:ln w="12700">
            <a:solidFill>
              <a:srgbClr val="C8414C"/>
            </a:solidFill>
            <a:prstDash val="solid"/>
          </a:ln>
        </p:spPr>
      </p:sp>
      <p:sp>
        <p:nvSpPr>
          <p:cNvPr id="92" name="Shape 90"/>
          <p:cNvSpPr/>
          <p:nvPr/>
        </p:nvSpPr>
        <p:spPr>
          <a:xfrm flipH="1">
            <a:off x="870950" y="5059177"/>
            <a:ext cx="115688" cy="78671"/>
          </a:xfrm>
          <a:prstGeom prst="line">
            <a:avLst/>
          </a:prstGeom>
          <a:noFill/>
          <a:ln w="12700">
            <a:solidFill>
              <a:srgbClr val="C8414C"/>
            </a:solidFill>
            <a:prstDash val="solid"/>
          </a:ln>
        </p:spPr>
      </p:sp>
      <p:sp>
        <p:nvSpPr>
          <p:cNvPr id="93" name="Shape 91"/>
          <p:cNvSpPr/>
          <p:nvPr/>
        </p:nvSpPr>
        <p:spPr>
          <a:xfrm>
            <a:off x="1188720" y="4709160"/>
            <a:ext cx="70182" cy="398025"/>
          </a:xfrm>
          <a:prstGeom prst="line">
            <a:avLst/>
          </a:prstGeom>
          <a:noFill/>
          <a:ln w="19050">
            <a:solidFill>
              <a:srgbClr val="C8414C"/>
            </a:solidFill>
            <a:prstDash val="solid"/>
          </a:ln>
        </p:spPr>
      </p:sp>
      <p:sp>
        <p:nvSpPr>
          <p:cNvPr id="94" name="Shape 92"/>
          <p:cNvSpPr/>
          <p:nvPr/>
        </p:nvSpPr>
        <p:spPr>
          <a:xfrm>
            <a:off x="1258902" y="5107185"/>
            <a:ext cx="81804" cy="113495"/>
          </a:xfrm>
          <a:prstGeom prst="line">
            <a:avLst/>
          </a:prstGeom>
          <a:noFill/>
          <a:ln w="12700">
            <a:solidFill>
              <a:srgbClr val="C8414C"/>
            </a:solidFill>
            <a:prstDash val="solid"/>
          </a:ln>
        </p:spPr>
      </p:sp>
      <p:sp>
        <p:nvSpPr>
          <p:cNvPr id="95" name="Shape 93"/>
          <p:cNvSpPr/>
          <p:nvPr/>
        </p:nvSpPr>
        <p:spPr>
          <a:xfrm flipH="1">
            <a:off x="1220849" y="5107185"/>
            <a:ext cx="38053" cy="134629"/>
          </a:xfrm>
          <a:prstGeom prst="line">
            <a:avLst/>
          </a:prstGeom>
          <a:noFill/>
          <a:ln w="12700">
            <a:solidFill>
              <a:srgbClr val="C8414C"/>
            </a:solidFill>
            <a:prstDash val="solid"/>
          </a:ln>
        </p:spPr>
      </p:sp>
      <p:sp>
        <p:nvSpPr>
          <p:cNvPr id="96" name="Shape 94"/>
          <p:cNvSpPr/>
          <p:nvPr/>
        </p:nvSpPr>
        <p:spPr>
          <a:xfrm>
            <a:off x="1033272" y="4553712"/>
            <a:ext cx="310896" cy="310896"/>
          </a:xfrm>
          <a:prstGeom prst="ellipse">
            <a:avLst/>
          </a:prstGeom>
          <a:solidFill>
            <a:srgbClr val="E3D7F0"/>
          </a:solidFill>
          <a:ln w="19050">
            <a:solidFill>
              <a:srgbClr val="C8414C"/>
            </a:solidFill>
            <a:prstDash val="solid"/>
          </a:ln>
        </p:spPr>
      </p:sp>
      <p:sp>
        <p:nvSpPr>
          <p:cNvPr id="97" name="Shape 95"/>
          <p:cNvSpPr/>
          <p:nvPr/>
        </p:nvSpPr>
        <p:spPr>
          <a:xfrm>
            <a:off x="1123432" y="4643872"/>
            <a:ext cx="130576" cy="130576"/>
          </a:xfrm>
          <a:prstGeom prst="ellipse">
            <a:avLst/>
          </a:prstGeom>
          <a:solidFill>
            <a:srgbClr val="C9B6E4"/>
          </a:solidFill>
          <a:ln w="12700">
            <a:solidFill>
              <a:srgbClr val="6A4C93"/>
            </a:solidFill>
            <a:prstDash val="solid"/>
          </a:ln>
        </p:spPr>
      </p:sp>
      <p:sp>
        <p:nvSpPr>
          <p:cNvPr id="98" name="Shape 96"/>
          <p:cNvSpPr/>
          <p:nvPr/>
        </p:nvSpPr>
        <p:spPr>
          <a:xfrm>
            <a:off x="1344168" y="4709160"/>
            <a:ext cx="3685032" cy="91"/>
          </a:xfrm>
          <a:prstGeom prst="line">
            <a:avLst/>
          </a:prstGeom>
          <a:noFill/>
          <a:ln w="31750">
            <a:solidFill>
              <a:srgbClr val="C8414C"/>
            </a:solidFill>
            <a:prstDash val="solid"/>
          </a:ln>
        </p:spPr>
      </p:sp>
      <p:sp>
        <p:nvSpPr>
          <p:cNvPr id="99" name="Shape 97"/>
          <p:cNvSpPr/>
          <p:nvPr/>
        </p:nvSpPr>
        <p:spPr>
          <a:xfrm>
            <a:off x="1527048" y="4617720"/>
            <a:ext cx="384048" cy="182880"/>
          </a:xfrm>
          <a:prstGeom prst="roundRect">
            <a:avLst>
              <a:gd name="adj" fmla="val 50000"/>
            </a:avLst>
          </a:prstGeom>
          <a:solidFill>
            <a:srgbClr val="FBE3A6"/>
          </a:solidFill>
          <a:ln w="9525">
            <a:solidFill>
              <a:srgbClr val="C9A04A"/>
            </a:solidFill>
            <a:prstDash val="solid"/>
          </a:ln>
        </p:spPr>
      </p:sp>
      <p:sp>
        <p:nvSpPr>
          <p:cNvPr id="100" name="Shape 98"/>
          <p:cNvSpPr/>
          <p:nvPr/>
        </p:nvSpPr>
        <p:spPr>
          <a:xfrm>
            <a:off x="1984248" y="4617720"/>
            <a:ext cx="384048" cy="182880"/>
          </a:xfrm>
          <a:prstGeom prst="roundRect">
            <a:avLst>
              <a:gd name="adj" fmla="val 50000"/>
            </a:avLst>
          </a:prstGeom>
          <a:solidFill>
            <a:srgbClr val="FBE3A6"/>
          </a:solidFill>
          <a:ln w="9525">
            <a:solidFill>
              <a:srgbClr val="C9A04A"/>
            </a:solidFill>
            <a:prstDash val="solid"/>
          </a:ln>
        </p:spPr>
      </p:sp>
      <p:sp>
        <p:nvSpPr>
          <p:cNvPr id="101" name="Shape 99"/>
          <p:cNvSpPr/>
          <p:nvPr/>
        </p:nvSpPr>
        <p:spPr>
          <a:xfrm>
            <a:off x="2441448" y="4617720"/>
            <a:ext cx="384048" cy="182880"/>
          </a:xfrm>
          <a:prstGeom prst="roundRect">
            <a:avLst>
              <a:gd name="adj" fmla="val 50000"/>
            </a:avLst>
          </a:prstGeom>
          <a:solidFill>
            <a:srgbClr val="FBE3A6"/>
          </a:solidFill>
          <a:ln w="9525">
            <a:solidFill>
              <a:srgbClr val="C9A04A"/>
            </a:solidFill>
            <a:prstDash val="solid"/>
          </a:ln>
        </p:spPr>
      </p:sp>
      <p:sp>
        <p:nvSpPr>
          <p:cNvPr id="102" name="Shape 100"/>
          <p:cNvSpPr/>
          <p:nvPr/>
        </p:nvSpPr>
        <p:spPr>
          <a:xfrm>
            <a:off x="2898648" y="4617720"/>
            <a:ext cx="384048" cy="182880"/>
          </a:xfrm>
          <a:prstGeom prst="roundRect">
            <a:avLst>
              <a:gd name="adj" fmla="val 50000"/>
            </a:avLst>
          </a:prstGeom>
          <a:solidFill>
            <a:srgbClr val="FBE3A6"/>
          </a:solidFill>
          <a:ln w="9525">
            <a:solidFill>
              <a:srgbClr val="C9A04A"/>
            </a:solidFill>
            <a:prstDash val="solid"/>
          </a:ln>
        </p:spPr>
      </p:sp>
      <p:sp>
        <p:nvSpPr>
          <p:cNvPr id="103" name="Shape 101"/>
          <p:cNvSpPr/>
          <p:nvPr/>
        </p:nvSpPr>
        <p:spPr>
          <a:xfrm>
            <a:off x="3355848" y="4617720"/>
            <a:ext cx="384048" cy="182880"/>
          </a:xfrm>
          <a:prstGeom prst="roundRect">
            <a:avLst>
              <a:gd name="adj" fmla="val 50000"/>
            </a:avLst>
          </a:prstGeom>
          <a:solidFill>
            <a:srgbClr val="FBE3A6"/>
          </a:solidFill>
          <a:ln w="9525">
            <a:solidFill>
              <a:srgbClr val="C9A04A"/>
            </a:solidFill>
            <a:prstDash val="solid"/>
          </a:ln>
        </p:spPr>
      </p:sp>
      <p:sp>
        <p:nvSpPr>
          <p:cNvPr id="104" name="Shape 102"/>
          <p:cNvSpPr/>
          <p:nvPr/>
        </p:nvSpPr>
        <p:spPr>
          <a:xfrm>
            <a:off x="3813048" y="4617720"/>
            <a:ext cx="384048" cy="182880"/>
          </a:xfrm>
          <a:prstGeom prst="roundRect">
            <a:avLst>
              <a:gd name="adj" fmla="val 50000"/>
            </a:avLst>
          </a:prstGeom>
          <a:solidFill>
            <a:srgbClr val="FBE3A6"/>
          </a:solidFill>
          <a:ln w="9525">
            <a:solidFill>
              <a:srgbClr val="C9A04A"/>
            </a:solidFill>
            <a:prstDash val="solid"/>
          </a:ln>
        </p:spPr>
      </p:sp>
      <p:sp>
        <p:nvSpPr>
          <p:cNvPr id="105" name="Shape 103"/>
          <p:cNvSpPr/>
          <p:nvPr/>
        </p:nvSpPr>
        <p:spPr>
          <a:xfrm>
            <a:off x="4270248" y="4617720"/>
            <a:ext cx="384048" cy="182880"/>
          </a:xfrm>
          <a:prstGeom prst="roundRect">
            <a:avLst>
              <a:gd name="adj" fmla="val 50000"/>
            </a:avLst>
          </a:prstGeom>
          <a:solidFill>
            <a:srgbClr val="FBE3A6"/>
          </a:solidFill>
          <a:ln w="9525">
            <a:solidFill>
              <a:srgbClr val="C9A04A"/>
            </a:solidFill>
            <a:prstDash val="solid"/>
          </a:ln>
        </p:spPr>
      </p:sp>
      <p:sp>
        <p:nvSpPr>
          <p:cNvPr id="106" name="Shape 104"/>
          <p:cNvSpPr/>
          <p:nvPr/>
        </p:nvSpPr>
        <p:spPr>
          <a:xfrm flipV="1">
            <a:off x="5029200" y="4544568"/>
            <a:ext cx="246888" cy="164592"/>
          </a:xfrm>
          <a:prstGeom prst="line">
            <a:avLst/>
          </a:prstGeom>
          <a:noFill/>
          <a:ln w="19050">
            <a:solidFill>
              <a:srgbClr val="C8414C"/>
            </a:solidFill>
            <a:prstDash val="solid"/>
          </a:ln>
        </p:spPr>
      </p:sp>
      <p:sp>
        <p:nvSpPr>
          <p:cNvPr id="107" name="Shape 105"/>
          <p:cNvSpPr/>
          <p:nvPr/>
        </p:nvSpPr>
        <p:spPr>
          <a:xfrm>
            <a:off x="5251399" y="4519879"/>
            <a:ext cx="49378" cy="49378"/>
          </a:xfrm>
          <a:prstGeom prst="ellipse">
            <a:avLst/>
          </a:prstGeom>
          <a:solidFill>
            <a:srgbClr val="C8414C"/>
          </a:solidFill>
          <a:ln w="9525">
            <a:solidFill>
              <a:srgbClr val="C8414C"/>
            </a:solidFill>
            <a:prstDash val="solid"/>
          </a:ln>
        </p:spPr>
      </p:sp>
      <p:sp>
        <p:nvSpPr>
          <p:cNvPr id="108" name="Shape 106"/>
          <p:cNvSpPr/>
          <p:nvPr/>
        </p:nvSpPr>
        <p:spPr>
          <a:xfrm flipV="1">
            <a:off x="5029200" y="4654296"/>
            <a:ext cx="274320" cy="54864"/>
          </a:xfrm>
          <a:prstGeom prst="line">
            <a:avLst/>
          </a:prstGeom>
          <a:noFill/>
          <a:ln w="19050">
            <a:solidFill>
              <a:srgbClr val="C8414C"/>
            </a:solidFill>
            <a:prstDash val="solid"/>
          </a:ln>
        </p:spPr>
      </p:sp>
      <p:sp>
        <p:nvSpPr>
          <p:cNvPr id="109" name="Shape 107"/>
          <p:cNvSpPr/>
          <p:nvPr/>
        </p:nvSpPr>
        <p:spPr>
          <a:xfrm>
            <a:off x="5278831" y="4629607"/>
            <a:ext cx="49378" cy="49378"/>
          </a:xfrm>
          <a:prstGeom prst="ellipse">
            <a:avLst/>
          </a:prstGeom>
          <a:solidFill>
            <a:srgbClr val="C8414C"/>
          </a:solidFill>
          <a:ln w="9525">
            <a:solidFill>
              <a:srgbClr val="C8414C"/>
            </a:solidFill>
            <a:prstDash val="solid"/>
          </a:ln>
        </p:spPr>
      </p:sp>
      <p:sp>
        <p:nvSpPr>
          <p:cNvPr id="110" name="Shape 108"/>
          <p:cNvSpPr/>
          <p:nvPr/>
        </p:nvSpPr>
        <p:spPr>
          <a:xfrm>
            <a:off x="5029200" y="4709160"/>
            <a:ext cx="274320" cy="54864"/>
          </a:xfrm>
          <a:prstGeom prst="line">
            <a:avLst/>
          </a:prstGeom>
          <a:noFill/>
          <a:ln w="19050">
            <a:solidFill>
              <a:srgbClr val="C8414C"/>
            </a:solidFill>
            <a:prstDash val="solid"/>
          </a:ln>
        </p:spPr>
      </p:sp>
      <p:sp>
        <p:nvSpPr>
          <p:cNvPr id="111" name="Shape 109"/>
          <p:cNvSpPr/>
          <p:nvPr/>
        </p:nvSpPr>
        <p:spPr>
          <a:xfrm>
            <a:off x="5278831" y="4739335"/>
            <a:ext cx="49378" cy="49378"/>
          </a:xfrm>
          <a:prstGeom prst="ellipse">
            <a:avLst/>
          </a:prstGeom>
          <a:solidFill>
            <a:srgbClr val="C8414C"/>
          </a:solidFill>
          <a:ln w="9525">
            <a:solidFill>
              <a:srgbClr val="C8414C"/>
            </a:solidFill>
            <a:prstDash val="solid"/>
          </a:ln>
        </p:spPr>
      </p:sp>
      <p:sp>
        <p:nvSpPr>
          <p:cNvPr id="112" name="Shape 110"/>
          <p:cNvSpPr/>
          <p:nvPr/>
        </p:nvSpPr>
        <p:spPr>
          <a:xfrm>
            <a:off x="5029200" y="4709160"/>
            <a:ext cx="246888" cy="164592"/>
          </a:xfrm>
          <a:prstGeom prst="line">
            <a:avLst/>
          </a:prstGeom>
          <a:noFill/>
          <a:ln w="19050">
            <a:solidFill>
              <a:srgbClr val="C8414C"/>
            </a:solidFill>
            <a:prstDash val="solid"/>
          </a:ln>
        </p:spPr>
      </p:sp>
      <p:sp>
        <p:nvSpPr>
          <p:cNvPr id="113" name="Shape 111"/>
          <p:cNvSpPr/>
          <p:nvPr/>
        </p:nvSpPr>
        <p:spPr>
          <a:xfrm>
            <a:off x="5251399" y="4849063"/>
            <a:ext cx="49378" cy="49378"/>
          </a:xfrm>
          <a:prstGeom prst="ellipse">
            <a:avLst/>
          </a:prstGeom>
          <a:solidFill>
            <a:srgbClr val="C8414C"/>
          </a:solidFill>
          <a:ln w="9525">
            <a:solidFill>
              <a:srgbClr val="C8414C"/>
            </a:solidFill>
            <a:prstDash val="solid"/>
          </a:ln>
        </p:spPr>
      </p:sp>
      <p:sp>
        <p:nvSpPr>
          <p:cNvPr id="114" name="Shape 112"/>
          <p:cNvSpPr/>
          <p:nvPr/>
        </p:nvSpPr>
        <p:spPr>
          <a:xfrm>
            <a:off x="5440680" y="4343400"/>
            <a:ext cx="457200" cy="731520"/>
          </a:xfrm>
          <a:prstGeom prst="roundRect">
            <a:avLst>
              <a:gd name="adj" fmla="val 16000"/>
            </a:avLst>
          </a:prstGeom>
          <a:solidFill>
            <a:srgbClr val="F4B6B9"/>
          </a:solidFill>
          <a:ln w="15875">
            <a:solidFill>
              <a:srgbClr val="A33E48"/>
            </a:solidFill>
            <a:prstDash val="solid"/>
          </a:ln>
        </p:spPr>
      </p:sp>
      <p:sp>
        <p:nvSpPr>
          <p:cNvPr id="115" name="Shape 113"/>
          <p:cNvSpPr/>
          <p:nvPr/>
        </p:nvSpPr>
        <p:spPr>
          <a:xfrm>
            <a:off x="5486400" y="4465320"/>
            <a:ext cx="365760" cy="91"/>
          </a:xfrm>
          <a:prstGeom prst="line">
            <a:avLst/>
          </a:prstGeom>
          <a:noFill/>
          <a:ln w="9525">
            <a:solidFill>
              <a:srgbClr val="C76A72"/>
            </a:solidFill>
            <a:prstDash val="solid"/>
          </a:ln>
        </p:spPr>
      </p:sp>
      <p:sp>
        <p:nvSpPr>
          <p:cNvPr id="116" name="Shape 114"/>
          <p:cNvSpPr/>
          <p:nvPr/>
        </p:nvSpPr>
        <p:spPr>
          <a:xfrm>
            <a:off x="5486400" y="4587240"/>
            <a:ext cx="365760" cy="91"/>
          </a:xfrm>
          <a:prstGeom prst="line">
            <a:avLst/>
          </a:prstGeom>
          <a:noFill/>
          <a:ln w="9525">
            <a:solidFill>
              <a:srgbClr val="C76A72"/>
            </a:solidFill>
            <a:prstDash val="solid"/>
          </a:ln>
        </p:spPr>
      </p:sp>
      <p:sp>
        <p:nvSpPr>
          <p:cNvPr id="117" name="Shape 115"/>
          <p:cNvSpPr/>
          <p:nvPr/>
        </p:nvSpPr>
        <p:spPr>
          <a:xfrm>
            <a:off x="5486400" y="4709160"/>
            <a:ext cx="365760" cy="91"/>
          </a:xfrm>
          <a:prstGeom prst="line">
            <a:avLst/>
          </a:prstGeom>
          <a:noFill/>
          <a:ln w="9525">
            <a:solidFill>
              <a:srgbClr val="C76A72"/>
            </a:solidFill>
            <a:prstDash val="solid"/>
          </a:ln>
        </p:spPr>
      </p:sp>
      <p:sp>
        <p:nvSpPr>
          <p:cNvPr id="118" name="Shape 116"/>
          <p:cNvSpPr/>
          <p:nvPr/>
        </p:nvSpPr>
        <p:spPr>
          <a:xfrm>
            <a:off x="5486400" y="4831080"/>
            <a:ext cx="365760" cy="91"/>
          </a:xfrm>
          <a:prstGeom prst="line">
            <a:avLst/>
          </a:prstGeom>
          <a:noFill/>
          <a:ln w="9525">
            <a:solidFill>
              <a:srgbClr val="C76A72"/>
            </a:solidFill>
            <a:prstDash val="solid"/>
          </a:ln>
        </p:spPr>
      </p:sp>
      <p:sp>
        <p:nvSpPr>
          <p:cNvPr id="119" name="Shape 117"/>
          <p:cNvSpPr/>
          <p:nvPr/>
        </p:nvSpPr>
        <p:spPr>
          <a:xfrm>
            <a:off x="5486400" y="4953000"/>
            <a:ext cx="365760" cy="91"/>
          </a:xfrm>
          <a:prstGeom prst="line">
            <a:avLst/>
          </a:prstGeom>
          <a:noFill/>
          <a:ln w="9525">
            <a:solidFill>
              <a:srgbClr val="C76A72"/>
            </a:solidFill>
            <a:prstDash val="solid"/>
          </a:ln>
        </p:spPr>
      </p:sp>
      <p:sp>
        <p:nvSpPr>
          <p:cNvPr id="120" name="Shape 118"/>
          <p:cNvSpPr/>
          <p:nvPr/>
        </p:nvSpPr>
        <p:spPr>
          <a:xfrm>
            <a:off x="2011680" y="4983480"/>
            <a:ext cx="640080" cy="91"/>
          </a:xfrm>
          <a:prstGeom prst="line">
            <a:avLst/>
          </a:prstGeom>
          <a:noFill/>
          <a:ln w="25400">
            <a:solidFill>
              <a:srgbClr val="C8414C"/>
            </a:solidFill>
            <a:prstDash val="solid"/>
            <a:tailEnd type="triangle"/>
          </a:ln>
        </p:spPr>
      </p:sp>
      <p:sp>
        <p:nvSpPr>
          <p:cNvPr id="121" name="Shape 119"/>
          <p:cNvSpPr/>
          <p:nvPr/>
        </p:nvSpPr>
        <p:spPr>
          <a:xfrm>
            <a:off x="3566160" y="4983480"/>
            <a:ext cx="640080" cy="91"/>
          </a:xfrm>
          <a:prstGeom prst="line">
            <a:avLst/>
          </a:prstGeom>
          <a:noFill/>
          <a:ln w="25400">
            <a:solidFill>
              <a:srgbClr val="C8414C"/>
            </a:solidFill>
            <a:prstDash val="solid"/>
            <a:tailEnd type="triangle"/>
          </a:ln>
        </p:spPr>
      </p:sp>
      <p:sp>
        <p:nvSpPr>
          <p:cNvPr id="122" name="Text 120"/>
          <p:cNvSpPr/>
          <p:nvPr/>
        </p:nvSpPr>
        <p:spPr>
          <a:xfrm>
            <a:off x="5257800" y="5093208"/>
            <a:ext cx="822960" cy="25603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muscle</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92240" y="1188720"/>
          <a:ext cx="5285232" cy="914400"/>
        </p:xfrm>
        <a:graphic>
          <a:graphicData uri="http://schemas.openxmlformats.org/drawingml/2006/table">
            <a:tbl>
              <a:tblPr/>
              <a:tblGrid>
                <a:gridCol w="960120"/>
                <a:gridCol w="1947672"/>
                <a:gridCol w="237744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Neurone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Carries impulse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Features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329184">
                <a:tc>
                  <a:txBody>
                    <a:bodyPr/>
                    <a:lstStyle/>
                    <a:p>
                      <a:pPr indent="0" marL="0">
                        <a:buNone/>
                      </a:pPr>
                      <a:r>
                        <a:rPr lang="en-US" sz="1050" b="1" dirty="0">
                          <a:solidFill>
                            <a:srgbClr val="2F6DB5"/>
                          </a:solidFill>
                          <a:latin typeface="Calibri" pitchFamily="34" charset="0"/>
                          <a:ea typeface="Calibri" pitchFamily="34" charset="-122"/>
                          <a:cs typeface="Calibri" pitchFamily="34" charset="-120"/>
                        </a:rPr>
                        <a:t>Sensory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receptor → CNS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long; cell body to one side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29184">
                <a:tc>
                  <a:txBody>
                    <a:bodyPr/>
                    <a:lstStyle/>
                    <a:p>
                      <a:pPr indent="0" marL="0">
                        <a:buNone/>
                      </a:pPr>
                      <a:r>
                        <a:rPr lang="en-US" sz="1050" b="1" dirty="0">
                          <a:solidFill>
                            <a:srgbClr val="2E8B57"/>
                          </a:solidFill>
                          <a:latin typeface="Calibri" pitchFamily="34" charset="0"/>
                          <a:ea typeface="Calibri" pitchFamily="34" charset="-122"/>
                          <a:cs typeface="Calibri" pitchFamily="34" charset="-120"/>
                        </a:rPr>
                        <a:t>Relay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sensory → motor (in CNS)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short; many connections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C8414C"/>
                          </a:solidFill>
                          <a:latin typeface="Calibri" pitchFamily="34" charset="0"/>
                          <a:ea typeface="Calibri" pitchFamily="34" charset="-122"/>
                          <a:cs typeface="Calibri" pitchFamily="34" charset="-120"/>
                        </a:rPr>
                        <a:t>Motor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CNS → effector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long axon; cell body in CNS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124" name="Shape 121"/>
          <p:cNvSpPr/>
          <p:nvPr/>
        </p:nvSpPr>
        <p:spPr>
          <a:xfrm>
            <a:off x="6492240" y="2633472"/>
            <a:ext cx="5285232" cy="1463040"/>
          </a:xfrm>
          <a:prstGeom prst="roundRect">
            <a:avLst>
              <a:gd name="adj" fmla="val 3750"/>
            </a:avLst>
          </a:prstGeom>
          <a:solidFill>
            <a:srgbClr val="F4FAF9"/>
          </a:solidFill>
          <a:ln w="9525">
            <a:solidFill>
              <a:srgbClr val="CFE0DE"/>
            </a:solidFill>
            <a:prstDash val="solid"/>
          </a:ln>
        </p:spPr>
      </p:sp>
      <p:sp>
        <p:nvSpPr>
          <p:cNvPr id="125" name="Text 122"/>
          <p:cNvSpPr/>
          <p:nvPr/>
        </p:nvSpPr>
        <p:spPr>
          <a:xfrm>
            <a:off x="6656832" y="2724912"/>
            <a:ext cx="495604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Shared features</a:t>
            </a:r>
            <a:endParaRPr lang="en-US" sz="1300" dirty="0"/>
          </a:p>
        </p:txBody>
      </p:sp>
      <p:sp>
        <p:nvSpPr>
          <p:cNvPr id="126" name="Text 123"/>
          <p:cNvSpPr/>
          <p:nvPr/>
        </p:nvSpPr>
        <p:spPr>
          <a:xfrm>
            <a:off x="6656832" y="3054096"/>
            <a:ext cx="4956048" cy="969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All have a long </a:t>
            </a:r>
            <a:r>
              <a:rPr lang="en-US" sz="1050" b="1" dirty="0">
                <a:solidFill>
                  <a:srgbClr val="262B3A"/>
                </a:solidFill>
                <a:latin typeface="Calibri" pitchFamily="34" charset="0"/>
                <a:ea typeface="Calibri" pitchFamily="34" charset="-122"/>
                <a:cs typeface="Calibri" pitchFamily="34" charset="-120"/>
              </a:rPr>
              <a:t>axon</a:t>
            </a:r>
            <a:r>
              <a:rPr lang="en-US" sz="1050" dirty="0">
                <a:solidFill>
                  <a:srgbClr val="262B3A"/>
                </a:solidFill>
                <a:latin typeface="Calibri" pitchFamily="34" charset="0"/>
                <a:ea typeface="Calibri" pitchFamily="34" charset="-122"/>
                <a:cs typeface="Calibri" pitchFamily="34" charset="-120"/>
              </a:rPr>
              <a:t>, many with a </a:t>
            </a:r>
            <a:r>
              <a:rPr lang="en-US" sz="1050" b="1" dirty="0">
                <a:solidFill>
                  <a:srgbClr val="262B3A"/>
                </a:solidFill>
                <a:latin typeface="Calibri" pitchFamily="34" charset="0"/>
                <a:ea typeface="Calibri" pitchFamily="34" charset="-122"/>
                <a:cs typeface="Calibri" pitchFamily="34" charset="-120"/>
              </a:rPr>
              <a:t>myelin sheath</a:t>
            </a:r>
            <a:r>
              <a:rPr lang="en-US" sz="1050" dirty="0">
                <a:solidFill>
                  <a:srgbClr val="262B3A"/>
                </a:solidFill>
                <a:latin typeface="Calibri" pitchFamily="34" charset="0"/>
                <a:ea typeface="Calibri" pitchFamily="34" charset="-122"/>
                <a:cs typeface="Calibri" pitchFamily="34" charset="-120"/>
              </a:rPr>
              <a:t>, to carry impulses fast over long distances.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All connect to other cells at </a:t>
            </a:r>
            <a:r>
              <a:rPr lang="en-US" sz="1050" b="1" dirty="0">
                <a:solidFill>
                  <a:srgbClr val="262B3A"/>
                </a:solidFill>
                <a:latin typeface="Calibri" pitchFamily="34" charset="0"/>
                <a:ea typeface="Calibri" pitchFamily="34" charset="-122"/>
                <a:cs typeface="Calibri" pitchFamily="34" charset="-120"/>
              </a:rPr>
              <a:t>synapses</a:t>
            </a:r>
            <a:r>
              <a:rPr lang="en-US" sz="1050" dirty="0">
                <a:solidFill>
                  <a:srgbClr val="262B3A"/>
                </a:solidFill>
                <a:latin typeface="Calibri" pitchFamily="34" charset="0"/>
                <a:ea typeface="Calibri" pitchFamily="34" charset="-122"/>
                <a:cs typeface="Calibri" pitchFamily="34" charset="-120"/>
              </a:rPr>
              <a:t>, so impulses can go to many cells.</a:t>
            </a:r>
            <a:endParaRPr lang="en-US" sz="1050" dirty="0"/>
          </a:p>
        </p:txBody>
      </p:sp>
      <p:sp>
        <p:nvSpPr>
          <p:cNvPr id="127" name="Shape 124"/>
          <p:cNvSpPr/>
          <p:nvPr/>
        </p:nvSpPr>
        <p:spPr>
          <a:xfrm>
            <a:off x="6492240" y="4206240"/>
            <a:ext cx="5285232" cy="1508760"/>
          </a:xfrm>
          <a:prstGeom prst="roundRect">
            <a:avLst>
              <a:gd name="adj" fmla="val 3636"/>
            </a:avLst>
          </a:prstGeom>
          <a:solidFill>
            <a:srgbClr val="FFF4E0"/>
          </a:solidFill>
          <a:ln w="9525">
            <a:solidFill>
              <a:srgbClr val="F1D9A8"/>
            </a:solidFill>
            <a:prstDash val="solid"/>
          </a:ln>
        </p:spPr>
      </p:sp>
      <p:sp>
        <p:nvSpPr>
          <p:cNvPr id="128" name="Text 125"/>
          <p:cNvSpPr/>
          <p:nvPr/>
        </p:nvSpPr>
        <p:spPr>
          <a:xfrm>
            <a:off x="6656832" y="4279392"/>
            <a:ext cx="495604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129" name="Text 126"/>
          <p:cNvSpPr/>
          <p:nvPr/>
        </p:nvSpPr>
        <p:spPr>
          <a:xfrm>
            <a:off x="6656832" y="4590288"/>
            <a:ext cx="4956048" cy="10515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a relay neurone has many dendrites.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Link   </a:t>
            </a:r>
            <a:r>
              <a:rPr lang="en-US" sz="1050" dirty="0">
                <a:solidFill>
                  <a:srgbClr val="262B3A"/>
                </a:solidFill>
                <a:latin typeface="Calibri" pitchFamily="34" charset="0"/>
                <a:ea typeface="Calibri" pitchFamily="34" charset="-122"/>
                <a:cs typeface="Calibri" pitchFamily="34" charset="-120"/>
              </a:rPr>
              <a:t>dendrites receive impulses from other neurones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many dendrites = connections with many sensory (and other) neurones</a:t>
            </a:r>
            <a:endParaRPr lang="en-US" sz="1050" dirty="0"/>
          </a:p>
        </p:txBody>
      </p:sp>
      <p:sp>
        <p:nvSpPr>
          <p:cNvPr id="130" name="Shape 127"/>
          <p:cNvSpPr/>
          <p:nvPr/>
        </p:nvSpPr>
        <p:spPr>
          <a:xfrm>
            <a:off x="411480" y="5833872"/>
            <a:ext cx="11368735" cy="530352"/>
          </a:xfrm>
          <a:prstGeom prst="rect">
            <a:avLst/>
          </a:prstGeom>
          <a:solidFill>
            <a:srgbClr val="FFF4E0"/>
          </a:solidFill>
          <a:ln w="6350">
            <a:solidFill>
              <a:srgbClr val="F1D9A8"/>
            </a:solidFill>
            <a:prstDash val="solid"/>
          </a:ln>
        </p:spPr>
      </p:sp>
      <p:sp>
        <p:nvSpPr>
          <p:cNvPr id="131" name="Shape 128"/>
          <p:cNvSpPr/>
          <p:nvPr/>
        </p:nvSpPr>
        <p:spPr>
          <a:xfrm>
            <a:off x="411480" y="5833872"/>
            <a:ext cx="82296" cy="530352"/>
          </a:xfrm>
          <a:prstGeom prst="rect">
            <a:avLst/>
          </a:prstGeom>
          <a:solidFill>
            <a:srgbClr val="E39A2F"/>
          </a:solidFill>
          <a:ln w="12700">
            <a:solidFill>
              <a:srgbClr val="E39A2F"/>
            </a:solidFill>
            <a:prstDash val="solid"/>
          </a:ln>
        </p:spPr>
      </p:sp>
      <p:sp>
        <p:nvSpPr>
          <p:cNvPr id="132" name="Text 12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type of neurone carries impulses </a:t>
            </a:r>
            <a:r>
              <a:rPr lang="en-US" sz="1150" b="1" dirty="0">
                <a:solidFill>
                  <a:srgbClr val="262B3A"/>
                </a:solidFill>
                <a:latin typeface="Calibri" pitchFamily="34" charset="0"/>
                <a:ea typeface="Calibri" pitchFamily="34" charset="-122"/>
                <a:cs typeface="Calibri" pitchFamily="34" charset="-120"/>
              </a:rPr>
              <a:t>to</a:t>
            </a:r>
            <a:r>
              <a:rPr lang="en-US" sz="1150" dirty="0">
                <a:solidFill>
                  <a:srgbClr val="262B3A"/>
                </a:solidFill>
                <a:latin typeface="Calibri" pitchFamily="34" charset="0"/>
                <a:ea typeface="Calibri" pitchFamily="34" charset="-122"/>
                <a:cs typeface="Calibri" pitchFamily="34" charset="-120"/>
              </a:rPr>
              <a:t> an effector? Where are </a:t>
            </a:r>
            <a:r>
              <a:rPr lang="en-US" sz="1150" b="1" dirty="0">
                <a:solidFill>
                  <a:srgbClr val="262B3A"/>
                </a:solidFill>
                <a:latin typeface="Calibri" pitchFamily="34" charset="0"/>
                <a:ea typeface="Calibri" pitchFamily="34" charset="-122"/>
                <a:cs typeface="Calibri" pitchFamily="34" charset="-120"/>
              </a:rPr>
              <a:t>relay</a:t>
            </a:r>
            <a:r>
              <a:rPr lang="en-US" sz="1150" dirty="0">
                <a:solidFill>
                  <a:srgbClr val="262B3A"/>
                </a:solidFill>
                <a:latin typeface="Calibri" pitchFamily="34" charset="0"/>
                <a:ea typeface="Calibri" pitchFamily="34" charset="-122"/>
                <a:cs typeface="Calibri" pitchFamily="34" charset="-120"/>
              </a:rPr>
              <a:t> neurones found?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Synapses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B5.2.2 • the junction between two neurones: a chemical passes the impulse across a tiny gap</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B5.2.2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synapse (greatly magnified); the gap is about 20 nm wide</a:t>
            </a:r>
            <a:endParaRPr lang="en-US" sz="1000" dirty="0"/>
          </a:p>
        </p:txBody>
      </p:sp>
      <p:sp>
        <p:nvSpPr>
          <p:cNvPr id="10" name="Shape 8"/>
          <p:cNvSpPr/>
          <p:nvPr/>
        </p:nvSpPr>
        <p:spPr>
          <a:xfrm>
            <a:off x="2880360" y="1280160"/>
            <a:ext cx="640080" cy="777240"/>
          </a:xfrm>
          <a:prstGeom prst="rect">
            <a:avLst/>
          </a:prstGeom>
          <a:solidFill>
            <a:srgbClr val="E3D7F0"/>
          </a:solidFill>
          <a:ln w="19050">
            <a:solidFill>
              <a:srgbClr val="6A4C93"/>
            </a:solidFill>
            <a:prstDash val="solid"/>
          </a:ln>
        </p:spPr>
      </p:sp>
      <p:sp>
        <p:nvSpPr>
          <p:cNvPr id="11" name="Shape 9"/>
          <p:cNvSpPr/>
          <p:nvPr/>
        </p:nvSpPr>
        <p:spPr>
          <a:xfrm>
            <a:off x="1965960" y="1943100"/>
            <a:ext cx="2468880" cy="1325880"/>
          </a:xfrm>
          <a:prstGeom prst="ellipse">
            <a:avLst/>
          </a:prstGeom>
          <a:solidFill>
            <a:srgbClr val="E3D7F0"/>
          </a:solidFill>
          <a:ln w="19050">
            <a:solidFill>
              <a:srgbClr val="6A4C93"/>
            </a:solidFill>
            <a:prstDash val="solid"/>
          </a:ln>
        </p:spPr>
      </p:sp>
      <p:sp>
        <p:nvSpPr>
          <p:cNvPr id="12" name="Shape 10"/>
          <p:cNvSpPr/>
          <p:nvPr/>
        </p:nvSpPr>
        <p:spPr>
          <a:xfrm>
            <a:off x="2889504" y="1874520"/>
            <a:ext cx="621792" cy="274320"/>
          </a:xfrm>
          <a:prstGeom prst="rect">
            <a:avLst/>
          </a:prstGeom>
          <a:solidFill>
            <a:srgbClr val="E3D7F0"/>
          </a:solidFill>
          <a:ln/>
        </p:spPr>
      </p:sp>
      <p:sp>
        <p:nvSpPr>
          <p:cNvPr id="13" name="Shape 11"/>
          <p:cNvSpPr/>
          <p:nvPr/>
        </p:nvSpPr>
        <p:spPr>
          <a:xfrm>
            <a:off x="3200400" y="1325880"/>
            <a:ext cx="91" cy="548640"/>
          </a:xfrm>
          <a:prstGeom prst="line">
            <a:avLst/>
          </a:prstGeom>
          <a:noFill/>
          <a:ln w="31750">
            <a:solidFill>
              <a:srgbClr val="C8414C"/>
            </a:solidFill>
            <a:prstDash val="solid"/>
            <a:tailEnd type="triangle"/>
          </a:ln>
        </p:spPr>
      </p:sp>
      <p:sp>
        <p:nvSpPr>
          <p:cNvPr id="14" name="Shape 12"/>
          <p:cNvSpPr/>
          <p:nvPr/>
        </p:nvSpPr>
        <p:spPr>
          <a:xfrm>
            <a:off x="2377440" y="2194560"/>
            <a:ext cx="274320" cy="274320"/>
          </a:xfrm>
          <a:prstGeom prst="ellipse">
            <a:avLst/>
          </a:prstGeom>
          <a:solidFill>
            <a:srgbClr val="FFF6D6"/>
          </a:solidFill>
          <a:ln w="12700">
            <a:solidFill>
              <a:srgbClr val="9C7400"/>
            </a:solidFill>
            <a:prstDash val="solid"/>
          </a:ln>
        </p:spPr>
      </p:sp>
      <p:sp>
        <p:nvSpPr>
          <p:cNvPr id="15" name="Shape 13"/>
          <p:cNvSpPr/>
          <p:nvPr/>
        </p:nvSpPr>
        <p:spPr>
          <a:xfrm>
            <a:off x="2441448" y="2267712"/>
            <a:ext cx="54864" cy="54864"/>
          </a:xfrm>
          <a:prstGeom prst="ellipse">
            <a:avLst/>
          </a:prstGeom>
          <a:solidFill>
            <a:srgbClr val="E0A800"/>
          </a:solidFill>
          <a:ln w="6350">
            <a:solidFill>
              <a:srgbClr val="9C7400"/>
            </a:solidFill>
            <a:prstDash val="solid"/>
          </a:ln>
        </p:spPr>
      </p:sp>
      <p:sp>
        <p:nvSpPr>
          <p:cNvPr id="16" name="Shape 14"/>
          <p:cNvSpPr/>
          <p:nvPr/>
        </p:nvSpPr>
        <p:spPr>
          <a:xfrm>
            <a:off x="2532888" y="2276856"/>
            <a:ext cx="54864" cy="54864"/>
          </a:xfrm>
          <a:prstGeom prst="ellipse">
            <a:avLst/>
          </a:prstGeom>
          <a:solidFill>
            <a:srgbClr val="E0A800"/>
          </a:solidFill>
          <a:ln w="6350">
            <a:solidFill>
              <a:srgbClr val="9C7400"/>
            </a:solidFill>
            <a:prstDash val="solid"/>
          </a:ln>
        </p:spPr>
      </p:sp>
      <p:sp>
        <p:nvSpPr>
          <p:cNvPr id="17" name="Shape 15"/>
          <p:cNvSpPr/>
          <p:nvPr/>
        </p:nvSpPr>
        <p:spPr>
          <a:xfrm>
            <a:off x="2487168" y="2350008"/>
            <a:ext cx="54864" cy="54864"/>
          </a:xfrm>
          <a:prstGeom prst="ellipse">
            <a:avLst/>
          </a:prstGeom>
          <a:solidFill>
            <a:srgbClr val="E0A800"/>
          </a:solidFill>
          <a:ln w="6350">
            <a:solidFill>
              <a:srgbClr val="9C7400"/>
            </a:solidFill>
            <a:prstDash val="solid"/>
          </a:ln>
        </p:spPr>
      </p:sp>
      <p:sp>
        <p:nvSpPr>
          <p:cNvPr id="18" name="Shape 16"/>
          <p:cNvSpPr/>
          <p:nvPr/>
        </p:nvSpPr>
        <p:spPr>
          <a:xfrm>
            <a:off x="2834640" y="2057400"/>
            <a:ext cx="274320" cy="274320"/>
          </a:xfrm>
          <a:prstGeom prst="ellipse">
            <a:avLst/>
          </a:prstGeom>
          <a:solidFill>
            <a:srgbClr val="FFF6D6"/>
          </a:solidFill>
          <a:ln w="12700">
            <a:solidFill>
              <a:srgbClr val="9C7400"/>
            </a:solidFill>
            <a:prstDash val="solid"/>
          </a:ln>
        </p:spPr>
      </p:sp>
      <p:sp>
        <p:nvSpPr>
          <p:cNvPr id="19" name="Shape 17"/>
          <p:cNvSpPr/>
          <p:nvPr/>
        </p:nvSpPr>
        <p:spPr>
          <a:xfrm>
            <a:off x="2898648" y="2130552"/>
            <a:ext cx="54864" cy="54864"/>
          </a:xfrm>
          <a:prstGeom prst="ellipse">
            <a:avLst/>
          </a:prstGeom>
          <a:solidFill>
            <a:srgbClr val="E0A800"/>
          </a:solidFill>
          <a:ln w="6350">
            <a:solidFill>
              <a:srgbClr val="9C7400"/>
            </a:solidFill>
            <a:prstDash val="solid"/>
          </a:ln>
        </p:spPr>
      </p:sp>
      <p:sp>
        <p:nvSpPr>
          <p:cNvPr id="20" name="Shape 18"/>
          <p:cNvSpPr/>
          <p:nvPr/>
        </p:nvSpPr>
        <p:spPr>
          <a:xfrm>
            <a:off x="2990088" y="2139696"/>
            <a:ext cx="54864" cy="54864"/>
          </a:xfrm>
          <a:prstGeom prst="ellipse">
            <a:avLst/>
          </a:prstGeom>
          <a:solidFill>
            <a:srgbClr val="E0A800"/>
          </a:solidFill>
          <a:ln w="6350">
            <a:solidFill>
              <a:srgbClr val="9C7400"/>
            </a:solidFill>
            <a:prstDash val="solid"/>
          </a:ln>
        </p:spPr>
      </p:sp>
      <p:sp>
        <p:nvSpPr>
          <p:cNvPr id="21" name="Shape 19"/>
          <p:cNvSpPr/>
          <p:nvPr/>
        </p:nvSpPr>
        <p:spPr>
          <a:xfrm>
            <a:off x="2944368" y="2212848"/>
            <a:ext cx="54864" cy="54864"/>
          </a:xfrm>
          <a:prstGeom prst="ellipse">
            <a:avLst/>
          </a:prstGeom>
          <a:solidFill>
            <a:srgbClr val="E0A800"/>
          </a:solidFill>
          <a:ln w="6350">
            <a:solidFill>
              <a:srgbClr val="9C7400"/>
            </a:solidFill>
            <a:prstDash val="solid"/>
          </a:ln>
        </p:spPr>
      </p:sp>
      <p:sp>
        <p:nvSpPr>
          <p:cNvPr id="22" name="Shape 20"/>
          <p:cNvSpPr/>
          <p:nvPr/>
        </p:nvSpPr>
        <p:spPr>
          <a:xfrm>
            <a:off x="3337560" y="2148840"/>
            <a:ext cx="274320" cy="274320"/>
          </a:xfrm>
          <a:prstGeom prst="ellipse">
            <a:avLst/>
          </a:prstGeom>
          <a:solidFill>
            <a:srgbClr val="FFF6D6"/>
          </a:solidFill>
          <a:ln w="12700">
            <a:solidFill>
              <a:srgbClr val="9C7400"/>
            </a:solidFill>
            <a:prstDash val="solid"/>
          </a:ln>
        </p:spPr>
      </p:sp>
      <p:sp>
        <p:nvSpPr>
          <p:cNvPr id="23" name="Shape 21"/>
          <p:cNvSpPr/>
          <p:nvPr/>
        </p:nvSpPr>
        <p:spPr>
          <a:xfrm>
            <a:off x="3401568" y="2221992"/>
            <a:ext cx="54864" cy="54864"/>
          </a:xfrm>
          <a:prstGeom prst="ellipse">
            <a:avLst/>
          </a:prstGeom>
          <a:solidFill>
            <a:srgbClr val="E0A800"/>
          </a:solidFill>
          <a:ln w="6350">
            <a:solidFill>
              <a:srgbClr val="9C7400"/>
            </a:solidFill>
            <a:prstDash val="solid"/>
          </a:ln>
        </p:spPr>
      </p:sp>
      <p:sp>
        <p:nvSpPr>
          <p:cNvPr id="24" name="Shape 22"/>
          <p:cNvSpPr/>
          <p:nvPr/>
        </p:nvSpPr>
        <p:spPr>
          <a:xfrm>
            <a:off x="3493008" y="2231136"/>
            <a:ext cx="54864" cy="54864"/>
          </a:xfrm>
          <a:prstGeom prst="ellipse">
            <a:avLst/>
          </a:prstGeom>
          <a:solidFill>
            <a:srgbClr val="E0A800"/>
          </a:solidFill>
          <a:ln w="6350">
            <a:solidFill>
              <a:srgbClr val="9C7400"/>
            </a:solidFill>
            <a:prstDash val="solid"/>
          </a:ln>
        </p:spPr>
      </p:sp>
      <p:sp>
        <p:nvSpPr>
          <p:cNvPr id="25" name="Shape 23"/>
          <p:cNvSpPr/>
          <p:nvPr/>
        </p:nvSpPr>
        <p:spPr>
          <a:xfrm>
            <a:off x="3447288" y="2304288"/>
            <a:ext cx="54864" cy="54864"/>
          </a:xfrm>
          <a:prstGeom prst="ellipse">
            <a:avLst/>
          </a:prstGeom>
          <a:solidFill>
            <a:srgbClr val="E0A800"/>
          </a:solidFill>
          <a:ln w="6350">
            <a:solidFill>
              <a:srgbClr val="9C7400"/>
            </a:solidFill>
            <a:prstDash val="solid"/>
          </a:ln>
        </p:spPr>
      </p:sp>
      <p:sp>
        <p:nvSpPr>
          <p:cNvPr id="26" name="Shape 24"/>
          <p:cNvSpPr/>
          <p:nvPr/>
        </p:nvSpPr>
        <p:spPr>
          <a:xfrm>
            <a:off x="3749040" y="2377440"/>
            <a:ext cx="274320" cy="274320"/>
          </a:xfrm>
          <a:prstGeom prst="ellipse">
            <a:avLst/>
          </a:prstGeom>
          <a:solidFill>
            <a:srgbClr val="FFF6D6"/>
          </a:solidFill>
          <a:ln w="12700">
            <a:solidFill>
              <a:srgbClr val="9C7400"/>
            </a:solidFill>
            <a:prstDash val="solid"/>
          </a:ln>
        </p:spPr>
      </p:sp>
      <p:sp>
        <p:nvSpPr>
          <p:cNvPr id="27" name="Shape 25"/>
          <p:cNvSpPr/>
          <p:nvPr/>
        </p:nvSpPr>
        <p:spPr>
          <a:xfrm>
            <a:off x="3813048" y="2450592"/>
            <a:ext cx="54864" cy="54864"/>
          </a:xfrm>
          <a:prstGeom prst="ellipse">
            <a:avLst/>
          </a:prstGeom>
          <a:solidFill>
            <a:srgbClr val="E0A800"/>
          </a:solidFill>
          <a:ln w="6350">
            <a:solidFill>
              <a:srgbClr val="9C7400"/>
            </a:solidFill>
            <a:prstDash val="solid"/>
          </a:ln>
        </p:spPr>
      </p:sp>
      <p:sp>
        <p:nvSpPr>
          <p:cNvPr id="28" name="Shape 26"/>
          <p:cNvSpPr/>
          <p:nvPr/>
        </p:nvSpPr>
        <p:spPr>
          <a:xfrm>
            <a:off x="3904488" y="2459736"/>
            <a:ext cx="54864" cy="54864"/>
          </a:xfrm>
          <a:prstGeom prst="ellipse">
            <a:avLst/>
          </a:prstGeom>
          <a:solidFill>
            <a:srgbClr val="E0A800"/>
          </a:solidFill>
          <a:ln w="6350">
            <a:solidFill>
              <a:srgbClr val="9C7400"/>
            </a:solidFill>
            <a:prstDash val="solid"/>
          </a:ln>
        </p:spPr>
      </p:sp>
      <p:sp>
        <p:nvSpPr>
          <p:cNvPr id="29" name="Shape 27"/>
          <p:cNvSpPr/>
          <p:nvPr/>
        </p:nvSpPr>
        <p:spPr>
          <a:xfrm>
            <a:off x="3858768" y="2532888"/>
            <a:ext cx="54864" cy="54864"/>
          </a:xfrm>
          <a:prstGeom prst="ellipse">
            <a:avLst/>
          </a:prstGeom>
          <a:solidFill>
            <a:srgbClr val="E0A800"/>
          </a:solidFill>
          <a:ln w="6350">
            <a:solidFill>
              <a:srgbClr val="9C7400"/>
            </a:solidFill>
            <a:prstDash val="solid"/>
          </a:ln>
        </p:spPr>
      </p:sp>
      <p:sp>
        <p:nvSpPr>
          <p:cNvPr id="30" name="Shape 28"/>
          <p:cNvSpPr/>
          <p:nvPr/>
        </p:nvSpPr>
        <p:spPr>
          <a:xfrm>
            <a:off x="2560320" y="2606040"/>
            <a:ext cx="274320" cy="274320"/>
          </a:xfrm>
          <a:prstGeom prst="ellipse">
            <a:avLst/>
          </a:prstGeom>
          <a:solidFill>
            <a:srgbClr val="FFF6D6"/>
          </a:solidFill>
          <a:ln w="12700">
            <a:solidFill>
              <a:srgbClr val="9C7400"/>
            </a:solidFill>
            <a:prstDash val="solid"/>
          </a:ln>
        </p:spPr>
      </p:sp>
      <p:sp>
        <p:nvSpPr>
          <p:cNvPr id="31" name="Shape 29"/>
          <p:cNvSpPr/>
          <p:nvPr/>
        </p:nvSpPr>
        <p:spPr>
          <a:xfrm>
            <a:off x="2624328" y="2679192"/>
            <a:ext cx="54864" cy="54864"/>
          </a:xfrm>
          <a:prstGeom prst="ellipse">
            <a:avLst/>
          </a:prstGeom>
          <a:solidFill>
            <a:srgbClr val="E0A800"/>
          </a:solidFill>
          <a:ln w="6350">
            <a:solidFill>
              <a:srgbClr val="9C7400"/>
            </a:solidFill>
            <a:prstDash val="solid"/>
          </a:ln>
        </p:spPr>
      </p:sp>
      <p:sp>
        <p:nvSpPr>
          <p:cNvPr id="32" name="Shape 30"/>
          <p:cNvSpPr/>
          <p:nvPr/>
        </p:nvSpPr>
        <p:spPr>
          <a:xfrm>
            <a:off x="2715768" y="2688336"/>
            <a:ext cx="54864" cy="54864"/>
          </a:xfrm>
          <a:prstGeom prst="ellipse">
            <a:avLst/>
          </a:prstGeom>
          <a:solidFill>
            <a:srgbClr val="E0A800"/>
          </a:solidFill>
          <a:ln w="6350">
            <a:solidFill>
              <a:srgbClr val="9C7400"/>
            </a:solidFill>
            <a:prstDash val="solid"/>
          </a:ln>
        </p:spPr>
      </p:sp>
      <p:sp>
        <p:nvSpPr>
          <p:cNvPr id="33" name="Shape 31"/>
          <p:cNvSpPr/>
          <p:nvPr/>
        </p:nvSpPr>
        <p:spPr>
          <a:xfrm>
            <a:off x="2670048" y="2761488"/>
            <a:ext cx="54864" cy="54864"/>
          </a:xfrm>
          <a:prstGeom prst="ellipse">
            <a:avLst/>
          </a:prstGeom>
          <a:solidFill>
            <a:srgbClr val="E0A800"/>
          </a:solidFill>
          <a:ln w="6350">
            <a:solidFill>
              <a:srgbClr val="9C7400"/>
            </a:solidFill>
            <a:prstDash val="solid"/>
          </a:ln>
        </p:spPr>
      </p:sp>
      <p:sp>
        <p:nvSpPr>
          <p:cNvPr id="34" name="Shape 32"/>
          <p:cNvSpPr/>
          <p:nvPr/>
        </p:nvSpPr>
        <p:spPr>
          <a:xfrm>
            <a:off x="3108960" y="2560320"/>
            <a:ext cx="274320" cy="274320"/>
          </a:xfrm>
          <a:prstGeom prst="ellipse">
            <a:avLst/>
          </a:prstGeom>
          <a:solidFill>
            <a:srgbClr val="FFF6D6"/>
          </a:solidFill>
          <a:ln w="12700">
            <a:solidFill>
              <a:srgbClr val="9C7400"/>
            </a:solidFill>
            <a:prstDash val="solid"/>
          </a:ln>
        </p:spPr>
      </p:sp>
      <p:sp>
        <p:nvSpPr>
          <p:cNvPr id="35" name="Shape 33"/>
          <p:cNvSpPr/>
          <p:nvPr/>
        </p:nvSpPr>
        <p:spPr>
          <a:xfrm>
            <a:off x="3172968" y="2633472"/>
            <a:ext cx="54864" cy="54864"/>
          </a:xfrm>
          <a:prstGeom prst="ellipse">
            <a:avLst/>
          </a:prstGeom>
          <a:solidFill>
            <a:srgbClr val="E0A800"/>
          </a:solidFill>
          <a:ln w="6350">
            <a:solidFill>
              <a:srgbClr val="9C7400"/>
            </a:solidFill>
            <a:prstDash val="solid"/>
          </a:ln>
        </p:spPr>
      </p:sp>
      <p:sp>
        <p:nvSpPr>
          <p:cNvPr id="36" name="Shape 34"/>
          <p:cNvSpPr/>
          <p:nvPr/>
        </p:nvSpPr>
        <p:spPr>
          <a:xfrm>
            <a:off x="3264408" y="2642616"/>
            <a:ext cx="54864" cy="54864"/>
          </a:xfrm>
          <a:prstGeom prst="ellipse">
            <a:avLst/>
          </a:prstGeom>
          <a:solidFill>
            <a:srgbClr val="E0A800"/>
          </a:solidFill>
          <a:ln w="6350">
            <a:solidFill>
              <a:srgbClr val="9C7400"/>
            </a:solidFill>
            <a:prstDash val="solid"/>
          </a:ln>
        </p:spPr>
      </p:sp>
      <p:sp>
        <p:nvSpPr>
          <p:cNvPr id="37" name="Shape 35"/>
          <p:cNvSpPr/>
          <p:nvPr/>
        </p:nvSpPr>
        <p:spPr>
          <a:xfrm>
            <a:off x="3218688" y="2715768"/>
            <a:ext cx="54864" cy="54864"/>
          </a:xfrm>
          <a:prstGeom prst="ellipse">
            <a:avLst/>
          </a:prstGeom>
          <a:solidFill>
            <a:srgbClr val="E0A800"/>
          </a:solidFill>
          <a:ln w="6350">
            <a:solidFill>
              <a:srgbClr val="9C7400"/>
            </a:solidFill>
            <a:prstDash val="solid"/>
          </a:ln>
        </p:spPr>
      </p:sp>
      <p:sp>
        <p:nvSpPr>
          <p:cNvPr id="38" name="Shape 36"/>
          <p:cNvSpPr/>
          <p:nvPr/>
        </p:nvSpPr>
        <p:spPr>
          <a:xfrm>
            <a:off x="3520440" y="2743200"/>
            <a:ext cx="274320" cy="274320"/>
          </a:xfrm>
          <a:prstGeom prst="ellipse">
            <a:avLst/>
          </a:prstGeom>
          <a:solidFill>
            <a:srgbClr val="FFF6D6"/>
          </a:solidFill>
          <a:ln w="12700">
            <a:solidFill>
              <a:srgbClr val="9C7400"/>
            </a:solidFill>
            <a:prstDash val="solid"/>
          </a:ln>
        </p:spPr>
      </p:sp>
      <p:sp>
        <p:nvSpPr>
          <p:cNvPr id="39" name="Shape 37"/>
          <p:cNvSpPr/>
          <p:nvPr/>
        </p:nvSpPr>
        <p:spPr>
          <a:xfrm>
            <a:off x="3584448" y="2816352"/>
            <a:ext cx="54864" cy="54864"/>
          </a:xfrm>
          <a:prstGeom prst="ellipse">
            <a:avLst/>
          </a:prstGeom>
          <a:solidFill>
            <a:srgbClr val="E0A800"/>
          </a:solidFill>
          <a:ln w="6350">
            <a:solidFill>
              <a:srgbClr val="9C7400"/>
            </a:solidFill>
            <a:prstDash val="solid"/>
          </a:ln>
        </p:spPr>
      </p:sp>
      <p:sp>
        <p:nvSpPr>
          <p:cNvPr id="40" name="Shape 38"/>
          <p:cNvSpPr/>
          <p:nvPr/>
        </p:nvSpPr>
        <p:spPr>
          <a:xfrm>
            <a:off x="3675888" y="2825496"/>
            <a:ext cx="54864" cy="54864"/>
          </a:xfrm>
          <a:prstGeom prst="ellipse">
            <a:avLst/>
          </a:prstGeom>
          <a:solidFill>
            <a:srgbClr val="E0A800"/>
          </a:solidFill>
          <a:ln w="6350">
            <a:solidFill>
              <a:srgbClr val="9C7400"/>
            </a:solidFill>
            <a:prstDash val="solid"/>
          </a:ln>
        </p:spPr>
      </p:sp>
      <p:sp>
        <p:nvSpPr>
          <p:cNvPr id="41" name="Shape 39"/>
          <p:cNvSpPr/>
          <p:nvPr/>
        </p:nvSpPr>
        <p:spPr>
          <a:xfrm>
            <a:off x="3630168" y="2898648"/>
            <a:ext cx="54864" cy="54864"/>
          </a:xfrm>
          <a:prstGeom prst="ellipse">
            <a:avLst/>
          </a:prstGeom>
          <a:solidFill>
            <a:srgbClr val="E0A800"/>
          </a:solidFill>
          <a:ln w="6350">
            <a:solidFill>
              <a:srgbClr val="9C7400"/>
            </a:solidFill>
            <a:prstDash val="solid"/>
          </a:ln>
        </p:spPr>
      </p:sp>
      <p:sp>
        <p:nvSpPr>
          <p:cNvPr id="42" name="Shape 40"/>
          <p:cNvSpPr/>
          <p:nvPr/>
        </p:nvSpPr>
        <p:spPr>
          <a:xfrm>
            <a:off x="2743200" y="3072384"/>
            <a:ext cx="274320" cy="274320"/>
          </a:xfrm>
          <a:prstGeom prst="blockArc">
            <a:avLst>
              <a:gd name="adj1" fmla="val 10800000"/>
              <a:gd name="adj2" fmla="val 0"/>
              <a:gd name="adj3" fmla="val 6000"/>
            </a:avLst>
          </a:prstGeom>
          <a:solidFill>
            <a:srgbClr val="9C7400"/>
          </a:solidFill>
          <a:ln w="6350">
            <a:solidFill>
              <a:srgbClr val="9C7400"/>
            </a:solidFill>
            <a:prstDash val="solid"/>
          </a:ln>
        </p:spPr>
      </p:sp>
      <p:sp>
        <p:nvSpPr>
          <p:cNvPr id="43" name="Shape 41"/>
          <p:cNvSpPr/>
          <p:nvPr/>
        </p:nvSpPr>
        <p:spPr>
          <a:xfrm>
            <a:off x="2619756" y="3369564"/>
            <a:ext cx="64008" cy="64008"/>
          </a:xfrm>
          <a:prstGeom prst="ellipse">
            <a:avLst/>
          </a:prstGeom>
          <a:solidFill>
            <a:srgbClr val="E0A800"/>
          </a:solidFill>
          <a:ln w="6350">
            <a:solidFill>
              <a:srgbClr val="9C7400"/>
            </a:solidFill>
            <a:prstDash val="solid"/>
          </a:ln>
        </p:spPr>
      </p:sp>
      <p:sp>
        <p:nvSpPr>
          <p:cNvPr id="44" name="Shape 42"/>
          <p:cNvSpPr/>
          <p:nvPr/>
        </p:nvSpPr>
        <p:spPr>
          <a:xfrm>
            <a:off x="2802636" y="3442716"/>
            <a:ext cx="64008" cy="64008"/>
          </a:xfrm>
          <a:prstGeom prst="ellipse">
            <a:avLst/>
          </a:prstGeom>
          <a:solidFill>
            <a:srgbClr val="E0A800"/>
          </a:solidFill>
          <a:ln w="6350">
            <a:solidFill>
              <a:srgbClr val="9C7400"/>
            </a:solidFill>
            <a:prstDash val="solid"/>
          </a:ln>
        </p:spPr>
      </p:sp>
      <p:sp>
        <p:nvSpPr>
          <p:cNvPr id="45" name="Shape 43"/>
          <p:cNvSpPr/>
          <p:nvPr/>
        </p:nvSpPr>
        <p:spPr>
          <a:xfrm>
            <a:off x="2985516" y="3351276"/>
            <a:ext cx="64008" cy="64008"/>
          </a:xfrm>
          <a:prstGeom prst="ellipse">
            <a:avLst/>
          </a:prstGeom>
          <a:solidFill>
            <a:srgbClr val="E0A800"/>
          </a:solidFill>
          <a:ln w="6350">
            <a:solidFill>
              <a:srgbClr val="9C7400"/>
            </a:solidFill>
            <a:prstDash val="solid"/>
          </a:ln>
        </p:spPr>
      </p:sp>
      <p:sp>
        <p:nvSpPr>
          <p:cNvPr id="46" name="Shape 44"/>
          <p:cNvSpPr/>
          <p:nvPr/>
        </p:nvSpPr>
        <p:spPr>
          <a:xfrm>
            <a:off x="3214116" y="3470148"/>
            <a:ext cx="64008" cy="64008"/>
          </a:xfrm>
          <a:prstGeom prst="ellipse">
            <a:avLst/>
          </a:prstGeom>
          <a:solidFill>
            <a:srgbClr val="E0A800"/>
          </a:solidFill>
          <a:ln w="6350">
            <a:solidFill>
              <a:srgbClr val="9C7400"/>
            </a:solidFill>
            <a:prstDash val="solid"/>
          </a:ln>
        </p:spPr>
      </p:sp>
      <p:sp>
        <p:nvSpPr>
          <p:cNvPr id="47" name="Shape 45"/>
          <p:cNvSpPr/>
          <p:nvPr/>
        </p:nvSpPr>
        <p:spPr>
          <a:xfrm>
            <a:off x="3396996" y="3387852"/>
            <a:ext cx="64008" cy="64008"/>
          </a:xfrm>
          <a:prstGeom prst="ellipse">
            <a:avLst/>
          </a:prstGeom>
          <a:solidFill>
            <a:srgbClr val="E0A800"/>
          </a:solidFill>
          <a:ln w="6350">
            <a:solidFill>
              <a:srgbClr val="9C7400"/>
            </a:solidFill>
            <a:prstDash val="solid"/>
          </a:ln>
        </p:spPr>
      </p:sp>
      <p:sp>
        <p:nvSpPr>
          <p:cNvPr id="48" name="Shape 46"/>
          <p:cNvSpPr/>
          <p:nvPr/>
        </p:nvSpPr>
        <p:spPr>
          <a:xfrm>
            <a:off x="3579876" y="3488436"/>
            <a:ext cx="64008" cy="64008"/>
          </a:xfrm>
          <a:prstGeom prst="ellipse">
            <a:avLst/>
          </a:prstGeom>
          <a:solidFill>
            <a:srgbClr val="E0A800"/>
          </a:solidFill>
          <a:ln w="6350">
            <a:solidFill>
              <a:srgbClr val="9C7400"/>
            </a:solidFill>
            <a:prstDash val="solid"/>
          </a:ln>
        </p:spPr>
      </p:sp>
      <p:sp>
        <p:nvSpPr>
          <p:cNvPr id="49" name="Shape 47"/>
          <p:cNvSpPr/>
          <p:nvPr/>
        </p:nvSpPr>
        <p:spPr>
          <a:xfrm>
            <a:off x="2894076" y="3579876"/>
            <a:ext cx="64008" cy="64008"/>
          </a:xfrm>
          <a:prstGeom prst="ellipse">
            <a:avLst/>
          </a:prstGeom>
          <a:solidFill>
            <a:srgbClr val="E0A800"/>
          </a:solidFill>
          <a:ln w="6350">
            <a:solidFill>
              <a:srgbClr val="9C7400"/>
            </a:solidFill>
            <a:prstDash val="solid"/>
          </a:ln>
        </p:spPr>
      </p:sp>
      <p:sp>
        <p:nvSpPr>
          <p:cNvPr id="50" name="Shape 48"/>
          <p:cNvSpPr/>
          <p:nvPr/>
        </p:nvSpPr>
        <p:spPr>
          <a:xfrm>
            <a:off x="1371600" y="3730752"/>
            <a:ext cx="3657600" cy="914400"/>
          </a:xfrm>
          <a:prstGeom prst="rect">
            <a:avLst/>
          </a:prstGeom>
          <a:solidFill>
            <a:srgbClr val="E9F2E3"/>
          </a:solidFill>
          <a:ln w="19050">
            <a:solidFill>
              <a:srgbClr val="2E8B57"/>
            </a:solidFill>
            <a:prstDash val="solid"/>
          </a:ln>
        </p:spPr>
      </p:sp>
      <p:sp>
        <p:nvSpPr>
          <p:cNvPr id="51" name="Shape 49"/>
          <p:cNvSpPr/>
          <p:nvPr/>
        </p:nvSpPr>
        <p:spPr>
          <a:xfrm>
            <a:off x="1746504" y="3657600"/>
            <a:ext cx="164592" cy="118872"/>
          </a:xfrm>
          <a:prstGeom prst="rect">
            <a:avLst/>
          </a:prstGeom>
          <a:solidFill>
            <a:srgbClr val="7DBE6A"/>
          </a:solidFill>
          <a:ln w="9525">
            <a:solidFill>
              <a:srgbClr val="3E7F2E"/>
            </a:solidFill>
            <a:prstDash val="solid"/>
          </a:ln>
        </p:spPr>
      </p:sp>
      <p:sp>
        <p:nvSpPr>
          <p:cNvPr id="52" name="Shape 50"/>
          <p:cNvSpPr/>
          <p:nvPr/>
        </p:nvSpPr>
        <p:spPr>
          <a:xfrm>
            <a:off x="1796796" y="3657600"/>
            <a:ext cx="64008" cy="54864"/>
          </a:xfrm>
          <a:prstGeom prst="rect">
            <a:avLst/>
          </a:prstGeom>
          <a:solidFill>
            <a:srgbClr val="E9F2E3"/>
          </a:solidFill>
          <a:ln/>
        </p:spPr>
      </p:sp>
      <p:sp>
        <p:nvSpPr>
          <p:cNvPr id="53" name="Shape 51"/>
          <p:cNvSpPr/>
          <p:nvPr/>
        </p:nvSpPr>
        <p:spPr>
          <a:xfrm>
            <a:off x="2157984" y="3657600"/>
            <a:ext cx="164592" cy="118872"/>
          </a:xfrm>
          <a:prstGeom prst="rect">
            <a:avLst/>
          </a:prstGeom>
          <a:solidFill>
            <a:srgbClr val="7DBE6A"/>
          </a:solidFill>
          <a:ln w="9525">
            <a:solidFill>
              <a:srgbClr val="3E7F2E"/>
            </a:solidFill>
            <a:prstDash val="solid"/>
          </a:ln>
        </p:spPr>
      </p:sp>
      <p:sp>
        <p:nvSpPr>
          <p:cNvPr id="54" name="Shape 52"/>
          <p:cNvSpPr/>
          <p:nvPr/>
        </p:nvSpPr>
        <p:spPr>
          <a:xfrm>
            <a:off x="2208276" y="3657600"/>
            <a:ext cx="64008" cy="54864"/>
          </a:xfrm>
          <a:prstGeom prst="rect">
            <a:avLst/>
          </a:prstGeom>
          <a:solidFill>
            <a:srgbClr val="E9F2E3"/>
          </a:solidFill>
          <a:ln/>
        </p:spPr>
      </p:sp>
      <p:sp>
        <p:nvSpPr>
          <p:cNvPr id="55" name="Shape 53"/>
          <p:cNvSpPr/>
          <p:nvPr/>
        </p:nvSpPr>
        <p:spPr>
          <a:xfrm>
            <a:off x="2569464" y="3657600"/>
            <a:ext cx="164592" cy="118872"/>
          </a:xfrm>
          <a:prstGeom prst="rect">
            <a:avLst/>
          </a:prstGeom>
          <a:solidFill>
            <a:srgbClr val="7DBE6A"/>
          </a:solidFill>
          <a:ln w="9525">
            <a:solidFill>
              <a:srgbClr val="3E7F2E"/>
            </a:solidFill>
            <a:prstDash val="solid"/>
          </a:ln>
        </p:spPr>
      </p:sp>
      <p:sp>
        <p:nvSpPr>
          <p:cNvPr id="56" name="Shape 54"/>
          <p:cNvSpPr/>
          <p:nvPr/>
        </p:nvSpPr>
        <p:spPr>
          <a:xfrm>
            <a:off x="2619756" y="3657600"/>
            <a:ext cx="64008" cy="54864"/>
          </a:xfrm>
          <a:prstGeom prst="rect">
            <a:avLst/>
          </a:prstGeom>
          <a:solidFill>
            <a:srgbClr val="E9F2E3"/>
          </a:solidFill>
          <a:ln/>
        </p:spPr>
      </p:sp>
      <p:sp>
        <p:nvSpPr>
          <p:cNvPr id="57" name="Shape 55"/>
          <p:cNvSpPr/>
          <p:nvPr/>
        </p:nvSpPr>
        <p:spPr>
          <a:xfrm>
            <a:off x="2980944" y="3657600"/>
            <a:ext cx="164592" cy="118872"/>
          </a:xfrm>
          <a:prstGeom prst="rect">
            <a:avLst/>
          </a:prstGeom>
          <a:solidFill>
            <a:srgbClr val="7DBE6A"/>
          </a:solidFill>
          <a:ln w="9525">
            <a:solidFill>
              <a:srgbClr val="3E7F2E"/>
            </a:solidFill>
            <a:prstDash val="solid"/>
          </a:ln>
        </p:spPr>
      </p:sp>
      <p:sp>
        <p:nvSpPr>
          <p:cNvPr id="58" name="Shape 56"/>
          <p:cNvSpPr/>
          <p:nvPr/>
        </p:nvSpPr>
        <p:spPr>
          <a:xfrm>
            <a:off x="3031236" y="3657600"/>
            <a:ext cx="64008" cy="54864"/>
          </a:xfrm>
          <a:prstGeom prst="rect">
            <a:avLst/>
          </a:prstGeom>
          <a:solidFill>
            <a:srgbClr val="E9F2E3"/>
          </a:solidFill>
          <a:ln/>
        </p:spPr>
      </p:sp>
      <p:sp>
        <p:nvSpPr>
          <p:cNvPr id="59" name="Shape 57"/>
          <p:cNvSpPr/>
          <p:nvPr/>
        </p:nvSpPr>
        <p:spPr>
          <a:xfrm>
            <a:off x="3033979" y="3655771"/>
            <a:ext cx="58522" cy="58522"/>
          </a:xfrm>
          <a:prstGeom prst="ellipse">
            <a:avLst/>
          </a:prstGeom>
          <a:solidFill>
            <a:srgbClr val="E0A800"/>
          </a:solidFill>
          <a:ln w="6350">
            <a:solidFill>
              <a:srgbClr val="9C7400"/>
            </a:solidFill>
            <a:prstDash val="solid"/>
          </a:ln>
        </p:spPr>
      </p:sp>
      <p:sp>
        <p:nvSpPr>
          <p:cNvPr id="60" name="Shape 58"/>
          <p:cNvSpPr/>
          <p:nvPr/>
        </p:nvSpPr>
        <p:spPr>
          <a:xfrm>
            <a:off x="3392424" y="3657600"/>
            <a:ext cx="164592" cy="118872"/>
          </a:xfrm>
          <a:prstGeom prst="rect">
            <a:avLst/>
          </a:prstGeom>
          <a:solidFill>
            <a:srgbClr val="7DBE6A"/>
          </a:solidFill>
          <a:ln w="9525">
            <a:solidFill>
              <a:srgbClr val="3E7F2E"/>
            </a:solidFill>
            <a:prstDash val="solid"/>
          </a:ln>
        </p:spPr>
      </p:sp>
      <p:sp>
        <p:nvSpPr>
          <p:cNvPr id="61" name="Shape 59"/>
          <p:cNvSpPr/>
          <p:nvPr/>
        </p:nvSpPr>
        <p:spPr>
          <a:xfrm>
            <a:off x="3442716" y="3657600"/>
            <a:ext cx="64008" cy="54864"/>
          </a:xfrm>
          <a:prstGeom prst="rect">
            <a:avLst/>
          </a:prstGeom>
          <a:solidFill>
            <a:srgbClr val="E9F2E3"/>
          </a:solidFill>
          <a:ln/>
        </p:spPr>
      </p:sp>
      <p:sp>
        <p:nvSpPr>
          <p:cNvPr id="62" name="Shape 60"/>
          <p:cNvSpPr/>
          <p:nvPr/>
        </p:nvSpPr>
        <p:spPr>
          <a:xfrm>
            <a:off x="3445459" y="3655771"/>
            <a:ext cx="58522" cy="58522"/>
          </a:xfrm>
          <a:prstGeom prst="ellipse">
            <a:avLst/>
          </a:prstGeom>
          <a:solidFill>
            <a:srgbClr val="E0A800"/>
          </a:solidFill>
          <a:ln w="6350">
            <a:solidFill>
              <a:srgbClr val="9C7400"/>
            </a:solidFill>
            <a:prstDash val="solid"/>
          </a:ln>
        </p:spPr>
      </p:sp>
      <p:sp>
        <p:nvSpPr>
          <p:cNvPr id="63" name="Shape 61"/>
          <p:cNvSpPr/>
          <p:nvPr/>
        </p:nvSpPr>
        <p:spPr>
          <a:xfrm>
            <a:off x="3803904" y="3657600"/>
            <a:ext cx="164592" cy="118872"/>
          </a:xfrm>
          <a:prstGeom prst="rect">
            <a:avLst/>
          </a:prstGeom>
          <a:solidFill>
            <a:srgbClr val="7DBE6A"/>
          </a:solidFill>
          <a:ln w="9525">
            <a:solidFill>
              <a:srgbClr val="3E7F2E"/>
            </a:solidFill>
            <a:prstDash val="solid"/>
          </a:ln>
        </p:spPr>
      </p:sp>
      <p:sp>
        <p:nvSpPr>
          <p:cNvPr id="64" name="Shape 62"/>
          <p:cNvSpPr/>
          <p:nvPr/>
        </p:nvSpPr>
        <p:spPr>
          <a:xfrm>
            <a:off x="3854196" y="3657600"/>
            <a:ext cx="64008" cy="54864"/>
          </a:xfrm>
          <a:prstGeom prst="rect">
            <a:avLst/>
          </a:prstGeom>
          <a:solidFill>
            <a:srgbClr val="E9F2E3"/>
          </a:solidFill>
          <a:ln/>
        </p:spPr>
      </p:sp>
      <p:sp>
        <p:nvSpPr>
          <p:cNvPr id="65" name="Shape 63"/>
          <p:cNvSpPr/>
          <p:nvPr/>
        </p:nvSpPr>
        <p:spPr>
          <a:xfrm>
            <a:off x="4215384" y="3657600"/>
            <a:ext cx="164592" cy="118872"/>
          </a:xfrm>
          <a:prstGeom prst="rect">
            <a:avLst/>
          </a:prstGeom>
          <a:solidFill>
            <a:srgbClr val="7DBE6A"/>
          </a:solidFill>
          <a:ln w="9525">
            <a:solidFill>
              <a:srgbClr val="3E7F2E"/>
            </a:solidFill>
            <a:prstDash val="solid"/>
          </a:ln>
        </p:spPr>
      </p:sp>
      <p:sp>
        <p:nvSpPr>
          <p:cNvPr id="66" name="Shape 64"/>
          <p:cNvSpPr/>
          <p:nvPr/>
        </p:nvSpPr>
        <p:spPr>
          <a:xfrm>
            <a:off x="4265676" y="3657600"/>
            <a:ext cx="64008" cy="54864"/>
          </a:xfrm>
          <a:prstGeom prst="rect">
            <a:avLst/>
          </a:prstGeom>
          <a:solidFill>
            <a:srgbClr val="E9F2E3"/>
          </a:solidFill>
          <a:ln/>
        </p:spPr>
      </p:sp>
      <p:sp>
        <p:nvSpPr>
          <p:cNvPr id="67" name="Shape 65"/>
          <p:cNvSpPr/>
          <p:nvPr/>
        </p:nvSpPr>
        <p:spPr>
          <a:xfrm>
            <a:off x="4581144" y="3657600"/>
            <a:ext cx="164592" cy="118872"/>
          </a:xfrm>
          <a:prstGeom prst="rect">
            <a:avLst/>
          </a:prstGeom>
          <a:solidFill>
            <a:srgbClr val="7DBE6A"/>
          </a:solidFill>
          <a:ln w="9525">
            <a:solidFill>
              <a:srgbClr val="3E7F2E"/>
            </a:solidFill>
            <a:prstDash val="solid"/>
          </a:ln>
        </p:spPr>
      </p:sp>
      <p:sp>
        <p:nvSpPr>
          <p:cNvPr id="68" name="Shape 66"/>
          <p:cNvSpPr/>
          <p:nvPr/>
        </p:nvSpPr>
        <p:spPr>
          <a:xfrm>
            <a:off x="4631436" y="3657600"/>
            <a:ext cx="64008" cy="54864"/>
          </a:xfrm>
          <a:prstGeom prst="rect">
            <a:avLst/>
          </a:prstGeom>
          <a:solidFill>
            <a:srgbClr val="E9F2E3"/>
          </a:solidFill>
          <a:ln/>
        </p:spPr>
      </p:sp>
      <p:sp>
        <p:nvSpPr>
          <p:cNvPr id="69" name="Shape 67"/>
          <p:cNvSpPr/>
          <p:nvPr/>
        </p:nvSpPr>
        <p:spPr>
          <a:xfrm>
            <a:off x="2743200" y="4343400"/>
            <a:ext cx="1645920" cy="91"/>
          </a:xfrm>
          <a:prstGeom prst="line">
            <a:avLst/>
          </a:prstGeom>
          <a:noFill/>
          <a:ln w="31750">
            <a:solidFill>
              <a:srgbClr val="C8414C"/>
            </a:solidFill>
            <a:prstDash val="solid"/>
            <a:tailEnd type="triangle"/>
          </a:ln>
        </p:spPr>
      </p:sp>
      <p:sp>
        <p:nvSpPr>
          <p:cNvPr id="70" name="Text 68"/>
          <p:cNvSpPr/>
          <p:nvPr/>
        </p:nvSpPr>
        <p:spPr>
          <a:xfrm>
            <a:off x="2651760" y="4005072"/>
            <a:ext cx="201168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new impulse</a:t>
            </a:r>
            <a:endParaRPr lang="en-US" sz="1050" dirty="0"/>
          </a:p>
        </p:txBody>
      </p:sp>
      <p:sp>
        <p:nvSpPr>
          <p:cNvPr id="71" name="Shape 69"/>
          <p:cNvSpPr/>
          <p:nvPr/>
        </p:nvSpPr>
        <p:spPr>
          <a:xfrm>
            <a:off x="2569464" y="1335024"/>
            <a:ext cx="256032" cy="256032"/>
          </a:xfrm>
          <a:prstGeom prst="ellipse">
            <a:avLst/>
          </a:prstGeom>
          <a:solidFill>
            <a:srgbClr val="C8414C"/>
          </a:solidFill>
          <a:ln w="9525">
            <a:solidFill>
              <a:srgbClr val="C8414C"/>
            </a:solidFill>
            <a:prstDash val="solid"/>
          </a:ln>
        </p:spPr>
      </p:sp>
      <p:sp>
        <p:nvSpPr>
          <p:cNvPr id="72" name="Text 70"/>
          <p:cNvSpPr/>
          <p:nvPr/>
        </p:nvSpPr>
        <p:spPr>
          <a:xfrm>
            <a:off x="2569464" y="133502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73" name="Text 71"/>
          <p:cNvSpPr/>
          <p:nvPr/>
        </p:nvSpPr>
        <p:spPr>
          <a:xfrm>
            <a:off x="548640" y="1325880"/>
            <a:ext cx="2011680" cy="411480"/>
          </a:xfrm>
          <a:prstGeom prst="rect">
            <a:avLst/>
          </a:prstGeom>
          <a:noFill/>
          <a:ln/>
        </p:spPr>
        <p:txBody>
          <a:bodyPr wrap="square" lIns="0" tIns="0" rIns="0" bIns="0" rtlCol="0" anchor="t"/>
          <a:lstStyle/>
          <a:p>
            <a:pPr algn="r" indent="0" marL="0">
              <a:buNone/>
            </a:pPr>
            <a:r>
              <a:rPr lang="en-US" sz="1050" dirty="0">
                <a:solidFill>
                  <a:srgbClr val="262B3A"/>
                </a:solidFill>
                <a:latin typeface="Calibri" pitchFamily="34" charset="0"/>
                <a:ea typeface="Calibri" pitchFamily="34" charset="-122"/>
                <a:cs typeface="Calibri" pitchFamily="34" charset="-120"/>
              </a:rPr>
              <a:t>impulse arrives at the axon terminal</a:t>
            </a:r>
            <a:endParaRPr lang="en-US" sz="1050" dirty="0"/>
          </a:p>
        </p:txBody>
      </p:sp>
      <p:sp>
        <p:nvSpPr>
          <p:cNvPr id="74" name="Shape 72"/>
          <p:cNvSpPr/>
          <p:nvPr/>
        </p:nvSpPr>
        <p:spPr>
          <a:xfrm>
            <a:off x="1655064" y="2615184"/>
            <a:ext cx="256032" cy="256032"/>
          </a:xfrm>
          <a:prstGeom prst="ellipse">
            <a:avLst/>
          </a:prstGeom>
          <a:solidFill>
            <a:srgbClr val="C8414C"/>
          </a:solidFill>
          <a:ln w="9525">
            <a:solidFill>
              <a:srgbClr val="C8414C"/>
            </a:solidFill>
            <a:prstDash val="solid"/>
          </a:ln>
        </p:spPr>
      </p:sp>
      <p:sp>
        <p:nvSpPr>
          <p:cNvPr id="75" name="Text 73"/>
          <p:cNvSpPr/>
          <p:nvPr/>
        </p:nvSpPr>
        <p:spPr>
          <a:xfrm>
            <a:off x="1655064" y="261518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76" name="Text 74"/>
          <p:cNvSpPr/>
          <p:nvPr/>
        </p:nvSpPr>
        <p:spPr>
          <a:xfrm>
            <a:off x="502920" y="2103120"/>
            <a:ext cx="1325880" cy="54864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vesicles</a:t>
            </a:r>
            <a:r>
              <a:rPr lang="en-US" sz="1050" dirty="0">
                <a:solidFill>
                  <a:srgbClr val="262B3A"/>
                </a:solidFill>
                <a:latin typeface="Calibri" pitchFamily="34" charset="0"/>
                <a:ea typeface="Calibri" pitchFamily="34" charset="-122"/>
                <a:cs typeface="Calibri" pitchFamily="34" charset="-120"/>
              </a:rPr>
              <a:t> release </a:t>
            </a:r>
            <a:r>
              <a:rPr lang="en-US" sz="1050" b="1" dirty="0">
                <a:solidFill>
                  <a:srgbClr val="262B3A"/>
                </a:solidFill>
                <a:latin typeface="Calibri" pitchFamily="34" charset="0"/>
                <a:ea typeface="Calibri" pitchFamily="34" charset="-122"/>
                <a:cs typeface="Calibri" pitchFamily="34" charset="-120"/>
              </a:rPr>
              <a:t>neurotransmitter</a:t>
            </a:r>
            <a:endParaRPr lang="en-US" sz="1050" dirty="0"/>
          </a:p>
        </p:txBody>
      </p:sp>
      <p:sp>
        <p:nvSpPr>
          <p:cNvPr id="77" name="Shape 75"/>
          <p:cNvSpPr/>
          <p:nvPr/>
        </p:nvSpPr>
        <p:spPr>
          <a:xfrm flipV="1">
            <a:off x="1901952" y="2377440"/>
            <a:ext cx="493776" cy="292608"/>
          </a:xfrm>
          <a:prstGeom prst="line">
            <a:avLst/>
          </a:prstGeom>
          <a:noFill/>
          <a:ln w="9525">
            <a:solidFill>
              <a:srgbClr val="5A6275"/>
            </a:solidFill>
            <a:prstDash val="solid"/>
          </a:ln>
        </p:spPr>
      </p:sp>
      <p:sp>
        <p:nvSpPr>
          <p:cNvPr id="78" name="Shape 76"/>
          <p:cNvSpPr/>
          <p:nvPr/>
        </p:nvSpPr>
        <p:spPr>
          <a:xfrm>
            <a:off x="4581144" y="3300984"/>
            <a:ext cx="256032" cy="256032"/>
          </a:xfrm>
          <a:prstGeom prst="ellipse">
            <a:avLst/>
          </a:prstGeom>
          <a:solidFill>
            <a:srgbClr val="C8414C"/>
          </a:solidFill>
          <a:ln w="9525">
            <a:solidFill>
              <a:srgbClr val="C8414C"/>
            </a:solidFill>
            <a:prstDash val="solid"/>
          </a:ln>
        </p:spPr>
      </p:sp>
      <p:sp>
        <p:nvSpPr>
          <p:cNvPr id="79" name="Text 77"/>
          <p:cNvSpPr/>
          <p:nvPr/>
        </p:nvSpPr>
        <p:spPr>
          <a:xfrm>
            <a:off x="4581144" y="330098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80" name="Text 78"/>
          <p:cNvSpPr/>
          <p:nvPr/>
        </p:nvSpPr>
        <p:spPr>
          <a:xfrm>
            <a:off x="4572000" y="2743200"/>
            <a:ext cx="1325880" cy="54864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it </a:t>
            </a:r>
            <a:r>
              <a:rPr lang="en-US" sz="1050" b="1" dirty="0">
                <a:solidFill>
                  <a:srgbClr val="262B3A"/>
                </a:solidFill>
                <a:latin typeface="Calibri" pitchFamily="34" charset="0"/>
                <a:ea typeface="Calibri" pitchFamily="34" charset="-122"/>
                <a:cs typeface="Calibri" pitchFamily="34" charset="-120"/>
              </a:rPr>
              <a:t>diffuses</a:t>
            </a:r>
            <a:r>
              <a:rPr lang="en-US" sz="1050" dirty="0">
                <a:solidFill>
                  <a:srgbClr val="262B3A"/>
                </a:solidFill>
                <a:latin typeface="Calibri" pitchFamily="34" charset="0"/>
                <a:ea typeface="Calibri" pitchFamily="34" charset="-122"/>
                <a:cs typeface="Calibri" pitchFamily="34" charset="-120"/>
              </a:rPr>
              <a:t> across the </a:t>
            </a:r>
            <a:r>
              <a:rPr lang="en-US" sz="1050" b="1" dirty="0">
                <a:solidFill>
                  <a:srgbClr val="262B3A"/>
                </a:solidFill>
                <a:latin typeface="Calibri" pitchFamily="34" charset="0"/>
                <a:ea typeface="Calibri" pitchFamily="34" charset="-122"/>
                <a:cs typeface="Calibri" pitchFamily="34" charset="-120"/>
              </a:rPr>
              <a:t>gap</a:t>
            </a:r>
            <a:endParaRPr lang="en-US" sz="1050" dirty="0"/>
          </a:p>
        </p:txBody>
      </p:sp>
      <p:sp>
        <p:nvSpPr>
          <p:cNvPr id="81" name="Shape 79"/>
          <p:cNvSpPr/>
          <p:nvPr/>
        </p:nvSpPr>
        <p:spPr>
          <a:xfrm flipH="1">
            <a:off x="3703320" y="3429000"/>
            <a:ext cx="868680" cy="45720"/>
          </a:xfrm>
          <a:prstGeom prst="line">
            <a:avLst/>
          </a:prstGeom>
          <a:noFill/>
          <a:ln w="9525">
            <a:solidFill>
              <a:srgbClr val="5A6275"/>
            </a:solidFill>
            <a:prstDash val="solid"/>
          </a:ln>
        </p:spPr>
      </p:sp>
      <p:sp>
        <p:nvSpPr>
          <p:cNvPr id="82" name="Shape 80"/>
          <p:cNvSpPr/>
          <p:nvPr/>
        </p:nvSpPr>
        <p:spPr>
          <a:xfrm>
            <a:off x="1014984" y="3621024"/>
            <a:ext cx="256032" cy="256032"/>
          </a:xfrm>
          <a:prstGeom prst="ellipse">
            <a:avLst/>
          </a:prstGeom>
          <a:solidFill>
            <a:srgbClr val="C8414C"/>
          </a:solidFill>
          <a:ln w="9525">
            <a:solidFill>
              <a:srgbClr val="C8414C"/>
            </a:solidFill>
            <a:prstDash val="solid"/>
          </a:ln>
        </p:spPr>
      </p:sp>
      <p:sp>
        <p:nvSpPr>
          <p:cNvPr id="83" name="Text 81"/>
          <p:cNvSpPr/>
          <p:nvPr/>
        </p:nvSpPr>
        <p:spPr>
          <a:xfrm>
            <a:off x="1014984" y="362102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84" name="Text 82"/>
          <p:cNvSpPr/>
          <p:nvPr/>
        </p:nvSpPr>
        <p:spPr>
          <a:xfrm>
            <a:off x="502920" y="3931920"/>
            <a:ext cx="868680" cy="54864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binds to </a:t>
            </a:r>
            <a:r>
              <a:rPr lang="en-US" sz="1050" b="1" dirty="0">
                <a:solidFill>
                  <a:srgbClr val="262B3A"/>
                </a:solidFill>
                <a:latin typeface="Calibri" pitchFamily="34" charset="0"/>
                <a:ea typeface="Calibri" pitchFamily="34" charset="-122"/>
                <a:cs typeface="Calibri" pitchFamily="34" charset="-120"/>
              </a:rPr>
              <a:t>receptors</a:t>
            </a:r>
            <a:endParaRPr lang="en-US" sz="1050" dirty="0"/>
          </a:p>
        </p:txBody>
      </p:sp>
      <p:sp>
        <p:nvSpPr>
          <p:cNvPr id="85" name="Shape 83"/>
          <p:cNvSpPr/>
          <p:nvPr/>
        </p:nvSpPr>
        <p:spPr>
          <a:xfrm>
            <a:off x="5038344" y="4215384"/>
            <a:ext cx="256032" cy="256032"/>
          </a:xfrm>
          <a:prstGeom prst="ellipse">
            <a:avLst/>
          </a:prstGeom>
          <a:solidFill>
            <a:srgbClr val="C8414C"/>
          </a:solidFill>
          <a:ln w="9525">
            <a:solidFill>
              <a:srgbClr val="C8414C"/>
            </a:solidFill>
            <a:prstDash val="solid"/>
          </a:ln>
        </p:spPr>
      </p:sp>
      <p:sp>
        <p:nvSpPr>
          <p:cNvPr id="86" name="Text 84"/>
          <p:cNvSpPr/>
          <p:nvPr/>
        </p:nvSpPr>
        <p:spPr>
          <a:xfrm>
            <a:off x="5038344" y="421538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87" name="Text 85"/>
          <p:cNvSpPr/>
          <p:nvPr/>
        </p:nvSpPr>
        <p:spPr>
          <a:xfrm>
            <a:off x="4754880" y="4681728"/>
            <a:ext cx="1188720" cy="54864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impulse starts in the next neurone</a:t>
            </a:r>
            <a:endParaRPr lang="en-US" sz="1050" dirty="0"/>
          </a:p>
        </p:txBody>
      </p:sp>
      <p:sp>
        <p:nvSpPr>
          <p:cNvPr id="88" name="Text 86"/>
          <p:cNvSpPr/>
          <p:nvPr/>
        </p:nvSpPr>
        <p:spPr>
          <a:xfrm>
            <a:off x="4343400" y="1325880"/>
            <a:ext cx="1554480" cy="256032"/>
          </a:xfrm>
          <a:prstGeom prst="rect">
            <a:avLst/>
          </a:prstGeom>
          <a:noFill/>
          <a:ln/>
        </p:spPr>
        <p:txBody>
          <a:bodyPr wrap="square" lIns="0" tIns="0" rIns="0" bIns="0" rtlCol="0" anchor="ctr"/>
          <a:lstStyle/>
          <a:p>
            <a:pPr algn="l" indent="0" marL="0">
              <a:buNone/>
            </a:pPr>
            <a:r>
              <a:rPr lang="en-US" sz="1050" b="1" dirty="0">
                <a:solidFill>
                  <a:srgbClr val="6A4C93"/>
                </a:solidFill>
                <a:latin typeface="Calibri" pitchFamily="34" charset="0"/>
                <a:ea typeface="Calibri" pitchFamily="34" charset="-122"/>
                <a:cs typeface="Calibri" pitchFamily="34" charset="-120"/>
              </a:rPr>
              <a:t>neurone 1</a:t>
            </a:r>
            <a:endParaRPr lang="en-US" sz="1050" dirty="0"/>
          </a:p>
        </p:txBody>
      </p:sp>
      <p:sp>
        <p:nvSpPr>
          <p:cNvPr id="89" name="Text 87"/>
          <p:cNvSpPr/>
          <p:nvPr/>
        </p:nvSpPr>
        <p:spPr>
          <a:xfrm>
            <a:off x="1417320" y="4681728"/>
            <a:ext cx="146304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neurone 2</a:t>
            </a:r>
            <a:endParaRPr lang="en-US" sz="1050" dirty="0"/>
          </a:p>
        </p:txBody>
      </p:sp>
      <p:sp>
        <p:nvSpPr>
          <p:cNvPr id="90" name="Shape 88"/>
          <p:cNvSpPr/>
          <p:nvPr/>
        </p:nvSpPr>
        <p:spPr>
          <a:xfrm>
            <a:off x="6217920" y="1188720"/>
            <a:ext cx="5562295" cy="2651760"/>
          </a:xfrm>
          <a:prstGeom prst="roundRect">
            <a:avLst>
              <a:gd name="adj" fmla="val 2069"/>
            </a:avLst>
          </a:prstGeom>
          <a:solidFill>
            <a:srgbClr val="F4FAF9"/>
          </a:solidFill>
          <a:ln w="9525">
            <a:solidFill>
              <a:srgbClr val="CFE0DE"/>
            </a:solidFill>
            <a:prstDash val="solid"/>
          </a:ln>
        </p:spPr>
      </p:sp>
      <p:sp>
        <p:nvSpPr>
          <p:cNvPr id="91" name="Text 8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a synapse works</a:t>
            </a:r>
            <a:endParaRPr lang="en-US" sz="1300" dirty="0"/>
          </a:p>
        </p:txBody>
      </p:sp>
      <p:sp>
        <p:nvSpPr>
          <p:cNvPr id="92" name="Text 90"/>
          <p:cNvSpPr/>
          <p:nvPr/>
        </p:nvSpPr>
        <p:spPr>
          <a:xfrm>
            <a:off x="6382512" y="1609344"/>
            <a:ext cx="5233111" cy="215798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a:t>
            </a:r>
            <a:r>
              <a:rPr lang="en-US" sz="1050" b="1" dirty="0">
                <a:solidFill>
                  <a:srgbClr val="262B3A"/>
                </a:solidFill>
                <a:latin typeface="Calibri" pitchFamily="34" charset="0"/>
                <a:ea typeface="Calibri" pitchFamily="34" charset="-122"/>
                <a:cs typeface="Calibri" pitchFamily="34" charset="-120"/>
              </a:rPr>
              <a:t>synapse</a:t>
            </a:r>
            <a:r>
              <a:rPr lang="en-US" sz="1050" dirty="0">
                <a:solidFill>
                  <a:srgbClr val="262B3A"/>
                </a:solidFill>
                <a:latin typeface="Calibri" pitchFamily="34" charset="0"/>
                <a:ea typeface="Calibri" pitchFamily="34" charset="-122"/>
                <a:cs typeface="Calibri" pitchFamily="34" charset="-120"/>
              </a:rPr>
              <a:t> is a junction between two neurones. There is a tiny </a:t>
            </a:r>
            <a:r>
              <a:rPr lang="en-US" sz="1050" b="1" dirty="0">
                <a:solidFill>
                  <a:srgbClr val="262B3A"/>
                </a:solidFill>
                <a:latin typeface="Calibri" pitchFamily="34" charset="0"/>
                <a:ea typeface="Calibri" pitchFamily="34" charset="-122"/>
                <a:cs typeface="Calibri" pitchFamily="34" charset="-120"/>
              </a:rPr>
              <a:t>gap</a:t>
            </a:r>
            <a:r>
              <a:rPr lang="en-US" sz="1050" dirty="0">
                <a:solidFill>
                  <a:srgbClr val="262B3A"/>
                </a:solidFill>
                <a:latin typeface="Calibri" pitchFamily="34" charset="0"/>
                <a:ea typeface="Calibri" pitchFamily="34" charset="-122"/>
                <a:cs typeface="Calibri" pitchFamily="34" charset="-120"/>
              </a:rPr>
              <a:t> between them.</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impulse cannot jump the gap. A chemical, a </a:t>
            </a:r>
            <a:r>
              <a:rPr lang="en-US" sz="1050" b="1" dirty="0">
                <a:solidFill>
                  <a:srgbClr val="262B3A"/>
                </a:solidFill>
                <a:latin typeface="Calibri" pitchFamily="34" charset="0"/>
                <a:ea typeface="Calibri" pitchFamily="34" charset="-122"/>
                <a:cs typeface="Calibri" pitchFamily="34" charset="-120"/>
              </a:rPr>
              <a:t>neurotransmitter</a:t>
            </a:r>
            <a:r>
              <a:rPr lang="en-US" sz="1050" dirty="0">
                <a:solidFill>
                  <a:srgbClr val="262B3A"/>
                </a:solidFill>
                <a:latin typeface="Calibri" pitchFamily="34" charset="0"/>
                <a:ea typeface="Calibri" pitchFamily="34" charset="-122"/>
                <a:cs typeface="Calibri" pitchFamily="34" charset="-120"/>
              </a:rPr>
              <a:t>, carries the signal across.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neurotransmitter </a:t>
            </a:r>
            <a:r>
              <a:rPr lang="en-US" sz="1050" b="1" dirty="0">
                <a:solidFill>
                  <a:srgbClr val="262B3A"/>
                </a:solidFill>
                <a:latin typeface="Calibri" pitchFamily="34" charset="0"/>
                <a:ea typeface="Calibri" pitchFamily="34" charset="-122"/>
                <a:cs typeface="Calibri" pitchFamily="34" charset="-120"/>
              </a:rPr>
              <a:t>diffuses</a:t>
            </a:r>
            <a:r>
              <a:rPr lang="en-US" sz="1050" dirty="0">
                <a:solidFill>
                  <a:srgbClr val="262B3A"/>
                </a:solidFill>
                <a:latin typeface="Calibri" pitchFamily="34" charset="0"/>
                <a:ea typeface="Calibri" pitchFamily="34" charset="-122"/>
                <a:cs typeface="Calibri" pitchFamily="34" charset="-120"/>
              </a:rPr>
              <a:t> across the gap and </a:t>
            </a:r>
            <a:r>
              <a:rPr lang="en-US" sz="1050" b="1" dirty="0">
                <a:solidFill>
                  <a:srgbClr val="262B3A"/>
                </a:solidFill>
                <a:latin typeface="Calibri" pitchFamily="34" charset="0"/>
                <a:ea typeface="Calibri" pitchFamily="34" charset="-122"/>
                <a:cs typeface="Calibri" pitchFamily="34" charset="-120"/>
              </a:rPr>
              <a:t>binds</a:t>
            </a:r>
            <a:r>
              <a:rPr lang="en-US" sz="1050" dirty="0">
                <a:solidFill>
                  <a:srgbClr val="262B3A"/>
                </a:solidFill>
                <a:latin typeface="Calibri" pitchFamily="34" charset="0"/>
                <a:ea typeface="Calibri" pitchFamily="34" charset="-122"/>
                <a:cs typeface="Calibri" pitchFamily="34" charset="-120"/>
              </a:rPr>
              <a:t> to </a:t>
            </a:r>
            <a:r>
              <a:rPr lang="en-US" sz="1050" b="1" dirty="0">
                <a:solidFill>
                  <a:srgbClr val="262B3A"/>
                </a:solidFill>
                <a:latin typeface="Calibri" pitchFamily="34" charset="0"/>
                <a:ea typeface="Calibri" pitchFamily="34" charset="-122"/>
                <a:cs typeface="Calibri" pitchFamily="34" charset="-120"/>
              </a:rPr>
              <a:t>receptor</a:t>
            </a:r>
            <a:r>
              <a:rPr lang="en-US" sz="1050" dirty="0">
                <a:solidFill>
                  <a:srgbClr val="262B3A"/>
                </a:solidFill>
                <a:latin typeface="Calibri" pitchFamily="34" charset="0"/>
                <a:ea typeface="Calibri" pitchFamily="34" charset="-122"/>
                <a:cs typeface="Calibri" pitchFamily="34" charset="-120"/>
              </a:rPr>
              <a:t> molecules on the next neurone.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This starts a new </a:t>
            </a:r>
            <a:r>
              <a:rPr lang="en-US" sz="1050" b="1" dirty="0">
                <a:solidFill>
                  <a:srgbClr val="262B3A"/>
                </a:solidFill>
                <a:latin typeface="Calibri" pitchFamily="34" charset="0"/>
                <a:ea typeface="Calibri" pitchFamily="34" charset="-122"/>
                <a:cs typeface="Calibri" pitchFamily="34" charset="-120"/>
              </a:rPr>
              <a:t>electrical impulse</a:t>
            </a:r>
            <a:r>
              <a:rPr lang="en-US" sz="1050" dirty="0">
                <a:solidFill>
                  <a:srgbClr val="262B3A"/>
                </a:solidFill>
                <a:latin typeface="Calibri" pitchFamily="34" charset="0"/>
                <a:ea typeface="Calibri" pitchFamily="34" charset="-122"/>
                <a:cs typeface="Calibri" pitchFamily="34" charset="-120"/>
              </a:rPr>
              <a:t> in the next neurone.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Synapses make impulses go </a:t>
            </a:r>
            <a:r>
              <a:rPr lang="en-US" sz="1050" b="1" dirty="0">
                <a:solidFill>
                  <a:srgbClr val="262B3A"/>
                </a:solidFill>
                <a:latin typeface="Calibri" pitchFamily="34" charset="0"/>
                <a:ea typeface="Calibri" pitchFamily="34" charset="-122"/>
                <a:cs typeface="Calibri" pitchFamily="34" charset="-120"/>
              </a:rPr>
              <a:t>one way only</a:t>
            </a:r>
            <a:r>
              <a:rPr lang="en-US" sz="1050" dirty="0">
                <a:solidFill>
                  <a:srgbClr val="262B3A"/>
                </a:solidFill>
                <a:latin typeface="Calibri" pitchFamily="34" charset="0"/>
                <a:ea typeface="Calibri" pitchFamily="34" charset="-122"/>
                <a:cs typeface="Calibri" pitchFamily="34" charset="-120"/>
              </a:rPr>
              <a:t>, and let one neurone connect to many others.</a:t>
            </a:r>
            <a:endParaRPr lang="en-US" sz="1050" dirty="0"/>
          </a:p>
        </p:txBody>
      </p:sp>
      <p:sp>
        <p:nvSpPr>
          <p:cNvPr id="93" name="Shape 91"/>
          <p:cNvSpPr/>
          <p:nvPr/>
        </p:nvSpPr>
        <p:spPr>
          <a:xfrm>
            <a:off x="6217920" y="3977640"/>
            <a:ext cx="5562295" cy="1737360"/>
          </a:xfrm>
          <a:prstGeom prst="roundRect">
            <a:avLst>
              <a:gd name="adj" fmla="val 3158"/>
            </a:avLst>
          </a:prstGeom>
          <a:solidFill>
            <a:srgbClr val="FFF4E0"/>
          </a:solidFill>
          <a:ln w="9525">
            <a:solidFill>
              <a:srgbClr val="F1D9A8"/>
            </a:solidFill>
            <a:prstDash val="solid"/>
          </a:ln>
        </p:spPr>
      </p:sp>
      <p:sp>
        <p:nvSpPr>
          <p:cNvPr id="94" name="Text 92"/>
          <p:cNvSpPr/>
          <p:nvPr/>
        </p:nvSpPr>
        <p:spPr>
          <a:xfrm>
            <a:off x="6382512" y="40507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one-way only</a:t>
            </a:r>
            <a:endParaRPr lang="en-US" sz="1300" dirty="0"/>
          </a:p>
        </p:txBody>
      </p:sp>
      <p:sp>
        <p:nvSpPr>
          <p:cNvPr id="95" name="Text 93"/>
          <p:cNvSpPr/>
          <p:nvPr/>
        </p:nvSpPr>
        <p:spPr>
          <a:xfrm>
            <a:off x="6382512" y="4361688"/>
            <a:ext cx="5233111" cy="12801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impulses can cross a synapse in only one direction.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Release   </a:t>
            </a:r>
            <a:r>
              <a:rPr lang="en-US" sz="1050" dirty="0">
                <a:solidFill>
                  <a:srgbClr val="262B3A"/>
                </a:solidFill>
                <a:latin typeface="Calibri" pitchFamily="34" charset="0"/>
                <a:ea typeface="Calibri" pitchFamily="34" charset="-122"/>
                <a:cs typeface="Calibri" pitchFamily="34" charset="-120"/>
              </a:rPr>
              <a:t>neurotransmitter is only released from neurone 1</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Receptors   </a:t>
            </a:r>
            <a:r>
              <a:rPr lang="en-US" sz="1050" dirty="0">
                <a:solidFill>
                  <a:srgbClr val="262B3A"/>
                </a:solidFill>
                <a:latin typeface="Calibri" pitchFamily="34" charset="0"/>
                <a:ea typeface="Calibri" pitchFamily="34" charset="-122"/>
                <a:cs typeface="Calibri" pitchFamily="34" charset="-120"/>
              </a:rPr>
              <a:t>receptors are only on neurone 2</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so the signal can only pass from neurone 1 to neurone 2</a:t>
            </a:r>
            <a:endParaRPr lang="en-US" sz="1050" dirty="0"/>
          </a:p>
        </p:txBody>
      </p:sp>
      <p:sp>
        <p:nvSpPr>
          <p:cNvPr id="96" name="Shape 94"/>
          <p:cNvSpPr/>
          <p:nvPr/>
        </p:nvSpPr>
        <p:spPr>
          <a:xfrm>
            <a:off x="411480" y="5833872"/>
            <a:ext cx="11368735" cy="530352"/>
          </a:xfrm>
          <a:prstGeom prst="rect">
            <a:avLst/>
          </a:prstGeom>
          <a:solidFill>
            <a:srgbClr val="FFF4E0"/>
          </a:solidFill>
          <a:ln w="6350">
            <a:solidFill>
              <a:srgbClr val="F1D9A8"/>
            </a:solidFill>
            <a:prstDash val="solid"/>
          </a:ln>
        </p:spPr>
      </p:sp>
      <p:sp>
        <p:nvSpPr>
          <p:cNvPr id="97" name="Shape 95"/>
          <p:cNvSpPr/>
          <p:nvPr/>
        </p:nvSpPr>
        <p:spPr>
          <a:xfrm>
            <a:off x="411480" y="5833872"/>
            <a:ext cx="82296" cy="530352"/>
          </a:xfrm>
          <a:prstGeom prst="rect">
            <a:avLst/>
          </a:prstGeom>
          <a:solidFill>
            <a:srgbClr val="E39A2F"/>
          </a:solidFill>
          <a:ln w="12700">
            <a:solidFill>
              <a:srgbClr val="E39A2F"/>
            </a:solidFill>
            <a:prstDash val="solid"/>
          </a:ln>
        </p:spPr>
      </p:sp>
      <p:sp>
        <p:nvSpPr>
          <p:cNvPr id="98" name="Text 9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Put in order: </a:t>
            </a:r>
            <a:r>
              <a:rPr lang="en-US" sz="1150" b="1" dirty="0">
                <a:solidFill>
                  <a:srgbClr val="262B3A"/>
                </a:solidFill>
                <a:latin typeface="Calibri" pitchFamily="34" charset="0"/>
                <a:ea typeface="Calibri" pitchFamily="34" charset="-122"/>
                <a:cs typeface="Calibri" pitchFamily="34" charset="-120"/>
              </a:rPr>
              <a:t>neurotransmitter binds to receptors</a:t>
            </a:r>
            <a:r>
              <a:rPr lang="en-US" sz="1150" dirty="0">
                <a:solidFill>
                  <a:srgbClr val="262B3A"/>
                </a:solidFill>
                <a:latin typeface="Calibri" pitchFamily="34" charset="0"/>
                <a:ea typeface="Calibri" pitchFamily="34" charset="-122"/>
                <a:cs typeface="Calibri" pitchFamily="34" charset="-120"/>
              </a:rPr>
              <a:t> • </a:t>
            </a:r>
            <a:r>
              <a:rPr lang="en-US" sz="1150" b="1" dirty="0">
                <a:solidFill>
                  <a:srgbClr val="262B3A"/>
                </a:solidFill>
                <a:latin typeface="Calibri" pitchFamily="34" charset="0"/>
                <a:ea typeface="Calibri" pitchFamily="34" charset="-122"/>
                <a:cs typeface="Calibri" pitchFamily="34" charset="-120"/>
              </a:rPr>
              <a:t>impulse arrives</a:t>
            </a:r>
            <a:r>
              <a:rPr lang="en-US" sz="1150" dirty="0">
                <a:solidFill>
                  <a:srgbClr val="262B3A"/>
                </a:solidFill>
                <a:latin typeface="Calibri" pitchFamily="34" charset="0"/>
                <a:ea typeface="Calibri" pitchFamily="34" charset="-122"/>
                <a:cs typeface="Calibri" pitchFamily="34" charset="-120"/>
              </a:rPr>
              <a:t> • </a:t>
            </a:r>
            <a:r>
              <a:rPr lang="en-US" sz="1150" b="1" dirty="0">
                <a:solidFill>
                  <a:srgbClr val="262B3A"/>
                </a:solidFill>
                <a:latin typeface="Calibri" pitchFamily="34" charset="0"/>
                <a:ea typeface="Calibri" pitchFamily="34" charset="-122"/>
                <a:cs typeface="Calibri" pitchFamily="34" charset="-120"/>
              </a:rPr>
              <a:t>neurotransmitter diffuses across gap</a:t>
            </a:r>
            <a:r>
              <a:rPr lang="en-US" sz="1150" dirty="0">
                <a:solidFill>
                  <a:srgbClr val="262B3A"/>
                </a:solidFill>
                <a:latin typeface="Calibri" pitchFamily="34" charset="0"/>
                <a:ea typeface="Calibri" pitchFamily="34" charset="-122"/>
                <a:cs typeface="Calibri" pitchFamily="34" charset="-120"/>
              </a:rPr>
              <a:t> • </a:t>
            </a:r>
            <a:r>
              <a:rPr lang="en-US" sz="1150" b="1" dirty="0">
                <a:solidFill>
                  <a:srgbClr val="262B3A"/>
                </a:solidFill>
                <a:latin typeface="Calibri" pitchFamily="34" charset="0"/>
                <a:ea typeface="Calibri" pitchFamily="34" charset="-122"/>
                <a:cs typeface="Calibri" pitchFamily="34" charset="-120"/>
              </a:rPr>
              <a:t>neurotransmitter released</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B5.2.2 • neurones and synapses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the </a:t>
            </a:r>
            <a:r>
              <a:rPr lang="en-US" sz="1250" b="1" dirty="0">
                <a:solidFill>
                  <a:srgbClr val="262B3A"/>
                </a:solidFill>
                <a:latin typeface="Calibri" pitchFamily="34" charset="0"/>
                <a:ea typeface="Calibri" pitchFamily="34" charset="-122"/>
                <a:cs typeface="Calibri" pitchFamily="34" charset="-120"/>
              </a:rPr>
              <a:t>myelin sheath</a:t>
            </a:r>
            <a:r>
              <a:rPr lang="en-US" sz="1250" dirty="0">
                <a:solidFill>
                  <a:srgbClr val="262B3A"/>
                </a:solidFill>
                <a:latin typeface="Calibri" pitchFamily="34" charset="0"/>
                <a:ea typeface="Calibri" pitchFamily="34" charset="-122"/>
                <a:cs typeface="Calibri" pitchFamily="34" charset="-120"/>
              </a:rPr>
              <a:t> helps a motor neurone do its job.</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difference between a </a:t>
            </a:r>
            <a:r>
              <a:rPr lang="en-US" sz="1250" b="1" dirty="0">
                <a:solidFill>
                  <a:srgbClr val="262B3A"/>
                </a:solidFill>
                <a:latin typeface="Calibri" pitchFamily="34" charset="0"/>
                <a:ea typeface="Calibri" pitchFamily="34" charset="-122"/>
                <a:cs typeface="Calibri" pitchFamily="34" charset="-120"/>
              </a:rPr>
              <a:t>sensory</a:t>
            </a:r>
            <a:r>
              <a:rPr lang="en-US" sz="1250" dirty="0">
                <a:solidFill>
                  <a:srgbClr val="262B3A"/>
                </a:solidFill>
                <a:latin typeface="Calibri" pitchFamily="34" charset="0"/>
                <a:ea typeface="Calibri" pitchFamily="34" charset="-122"/>
                <a:cs typeface="Calibri" pitchFamily="34" charset="-120"/>
              </a:rPr>
              <a:t> neurone and a </a:t>
            </a:r>
            <a:r>
              <a:rPr lang="en-US" sz="1250" b="1" dirty="0">
                <a:solidFill>
                  <a:srgbClr val="262B3A"/>
                </a:solidFill>
                <a:latin typeface="Calibri" pitchFamily="34" charset="0"/>
                <a:ea typeface="Calibri" pitchFamily="34" charset="-122"/>
                <a:cs typeface="Calibri" pitchFamily="34" charset="-120"/>
              </a:rPr>
              <a:t>motor</a:t>
            </a:r>
            <a:r>
              <a:rPr lang="en-US" sz="1250" dirty="0">
                <a:solidFill>
                  <a:srgbClr val="262B3A"/>
                </a:solidFill>
                <a:latin typeface="Calibri" pitchFamily="34" charset="0"/>
                <a:ea typeface="Calibri" pitchFamily="34" charset="-122"/>
                <a:cs typeface="Calibri" pitchFamily="34" charset="-120"/>
              </a:rPr>
              <a:t> neurone.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an impulse is passed from one neurone to the next across a </a:t>
            </a:r>
            <a:r>
              <a:rPr lang="en-US" sz="1250" b="1" dirty="0">
                <a:solidFill>
                  <a:srgbClr val="262B3A"/>
                </a:solidFill>
                <a:latin typeface="Calibri" pitchFamily="34" charset="0"/>
                <a:ea typeface="Calibri" pitchFamily="34" charset="-122"/>
                <a:cs typeface="Calibri" pitchFamily="34" charset="-120"/>
              </a:rPr>
              <a:t>synapse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impulse travels </a:t>
            </a:r>
            <a:r>
              <a:rPr lang="en-US" sz="1250" b="1" dirty="0">
                <a:solidFill>
                  <a:srgbClr val="262B3A"/>
                </a:solidFill>
                <a:latin typeface="Calibri" pitchFamily="34" charset="0"/>
                <a:ea typeface="Calibri" pitchFamily="34" charset="-122"/>
                <a:cs typeface="Calibri" pitchFamily="34" charset="-120"/>
              </a:rPr>
              <a:t>1.2 m</a:t>
            </a:r>
            <a:r>
              <a:rPr lang="en-US" sz="1250" dirty="0">
                <a:solidFill>
                  <a:srgbClr val="262B3A"/>
                </a:solidFill>
                <a:latin typeface="Calibri" pitchFamily="34" charset="0"/>
                <a:ea typeface="Calibri" pitchFamily="34" charset="-122"/>
                <a:cs typeface="Calibri" pitchFamily="34" charset="-120"/>
              </a:rPr>
              <a:t> along a neurone at </a:t>
            </a:r>
            <a:r>
              <a:rPr lang="en-US" sz="1250" b="1" dirty="0">
                <a:solidFill>
                  <a:srgbClr val="262B3A"/>
                </a:solidFill>
                <a:latin typeface="Calibri" pitchFamily="34" charset="0"/>
                <a:ea typeface="Calibri" pitchFamily="34" charset="-122"/>
                <a:cs typeface="Calibri" pitchFamily="34" charset="-120"/>
              </a:rPr>
              <a:t>60 m/s</a:t>
            </a:r>
            <a:r>
              <a:rPr lang="en-US" sz="1250" dirty="0">
                <a:solidFill>
                  <a:srgbClr val="262B3A"/>
                </a:solidFill>
                <a:latin typeface="Calibri" pitchFamily="34" charset="0"/>
                <a:ea typeface="Calibri" pitchFamily="34" charset="-122"/>
                <a:cs typeface="Calibri" pitchFamily="34" charset="-120"/>
              </a:rPr>
              <a:t>. Calculate the time taken in </a:t>
            </a:r>
            <a:r>
              <a:rPr lang="en-US" sz="1250" b="1" dirty="0">
                <a:solidFill>
                  <a:srgbClr val="262B3A"/>
                </a:solidFill>
                <a:latin typeface="Calibri" pitchFamily="34" charset="0"/>
                <a:ea typeface="Calibri" pitchFamily="34" charset="-122"/>
                <a:cs typeface="Calibri" pitchFamily="34" charset="-120"/>
              </a:rPr>
              <a:t>ms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reflex arc</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B5.2.3 • a fast, automatic response: hand pulled away from a flame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B5.2.3  |  12</a:t>
            </a:r>
            <a:endParaRPr lang="en-US" sz="1000" dirty="0"/>
          </a:p>
        </p:txBody>
      </p:sp>
      <p:sp>
        <p:nvSpPr>
          <p:cNvPr id="8" name="Shape 6"/>
          <p:cNvSpPr/>
          <p:nvPr/>
        </p:nvSpPr>
        <p:spPr>
          <a:xfrm>
            <a:off x="411480" y="1188720"/>
            <a:ext cx="667512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64008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reflex arc through the spinal cord (cross-section); not to scale</a:t>
            </a:r>
            <a:endParaRPr lang="en-US" sz="1000" dirty="0"/>
          </a:p>
        </p:txBody>
      </p:sp>
      <p:sp>
        <p:nvSpPr>
          <p:cNvPr id="10" name="Shape 8"/>
          <p:cNvSpPr/>
          <p:nvPr/>
        </p:nvSpPr>
        <p:spPr>
          <a:xfrm>
            <a:off x="868680" y="2743200"/>
            <a:ext cx="3108960" cy="731520"/>
          </a:xfrm>
          <a:custGeom>
            <a:avLst/>
            <a:gdLst/>
            <a:ahLst/>
            <a:cxnLst/>
            <a:rect l="l" t="t" r="r" b="b"/>
            <a:pathLst>
              <a:path w="3108960" h="731520">
                <a:moveTo>
                  <a:pt x="0" y="91440"/>
                </a:moveTo>
                <a:lnTo>
                  <a:pt x="3108960" y="0"/>
                </a:lnTo>
                <a:lnTo>
                  <a:pt x="3108960" y="731520"/>
                </a:lnTo>
                <a:lnTo>
                  <a:pt x="0" y="603504"/>
                </a:lnTo>
                <a:close/>
              </a:path>
            </a:pathLst>
          </a:custGeom>
          <a:solidFill>
            <a:srgbClr val="F8E4D4"/>
          </a:solidFill>
          <a:ln w="12700">
            <a:solidFill>
              <a:srgbClr val="C9A88A"/>
            </a:solidFill>
            <a:prstDash val="solid"/>
          </a:ln>
        </p:spPr>
      </p:sp>
      <p:sp>
        <p:nvSpPr>
          <p:cNvPr id="11" name="Shape 9"/>
          <p:cNvSpPr/>
          <p:nvPr/>
        </p:nvSpPr>
        <p:spPr>
          <a:xfrm>
            <a:off x="502920" y="2862072"/>
            <a:ext cx="548640" cy="457200"/>
          </a:xfrm>
          <a:prstGeom prst="ellipse">
            <a:avLst/>
          </a:prstGeom>
          <a:solidFill>
            <a:srgbClr val="F8E4D4"/>
          </a:solidFill>
          <a:ln w="12700">
            <a:solidFill>
              <a:srgbClr val="C9A88A"/>
            </a:solidFill>
            <a:prstDash val="solid"/>
          </a:ln>
        </p:spPr>
      </p:sp>
      <p:sp>
        <p:nvSpPr>
          <p:cNvPr id="12" name="Shape 10"/>
          <p:cNvSpPr/>
          <p:nvPr/>
        </p:nvSpPr>
        <p:spPr>
          <a:xfrm>
            <a:off x="603504" y="3840480"/>
            <a:ext cx="164592" cy="502920"/>
          </a:xfrm>
          <a:prstGeom prst="rect">
            <a:avLst/>
          </a:prstGeom>
          <a:solidFill>
            <a:srgbClr val="F6F0E0"/>
          </a:solidFill>
          <a:ln w="12700">
            <a:solidFill>
              <a:srgbClr val="B9A47A"/>
            </a:solidFill>
            <a:prstDash val="solid"/>
          </a:ln>
        </p:spPr>
      </p:sp>
      <p:sp>
        <p:nvSpPr>
          <p:cNvPr id="13" name="Shape 11"/>
          <p:cNvSpPr/>
          <p:nvPr/>
        </p:nvSpPr>
        <p:spPr>
          <a:xfrm>
            <a:off x="594360" y="3438144"/>
            <a:ext cx="182880" cy="384048"/>
          </a:xfrm>
          <a:prstGeom prst="ellipse">
            <a:avLst/>
          </a:prstGeom>
          <a:solidFill>
            <a:srgbClr val="F5A742"/>
          </a:solidFill>
          <a:ln w="12700">
            <a:solidFill>
              <a:srgbClr val="D9822B"/>
            </a:solidFill>
            <a:prstDash val="solid"/>
          </a:ln>
        </p:spPr>
      </p:sp>
      <p:sp>
        <p:nvSpPr>
          <p:cNvPr id="14" name="Shape 12"/>
          <p:cNvSpPr/>
          <p:nvPr/>
        </p:nvSpPr>
        <p:spPr>
          <a:xfrm>
            <a:off x="644652" y="3593592"/>
            <a:ext cx="82296" cy="182880"/>
          </a:xfrm>
          <a:prstGeom prst="ellipse">
            <a:avLst/>
          </a:prstGeom>
          <a:solidFill>
            <a:srgbClr val="FCE38A"/>
          </a:solidFill>
          <a:ln/>
        </p:spPr>
      </p:sp>
      <p:sp>
        <p:nvSpPr>
          <p:cNvPr id="15" name="Text 13"/>
          <p:cNvSpPr/>
          <p:nvPr/>
        </p:nvSpPr>
        <p:spPr>
          <a:xfrm>
            <a:off x="868680" y="3840480"/>
            <a:ext cx="1097280" cy="256032"/>
          </a:xfrm>
          <a:prstGeom prst="rect">
            <a:avLst/>
          </a:prstGeom>
          <a:noFill/>
          <a:ln/>
        </p:spPr>
        <p:txBody>
          <a:bodyPr wrap="square" lIns="0" tIns="0" rIns="0" bIns="0" rtlCol="0" anchor="ctr"/>
          <a:lstStyle/>
          <a:p>
            <a:pPr algn="l" indent="0" marL="0">
              <a:buNone/>
            </a:pPr>
            <a:r>
              <a:rPr lang="en-US" sz="1050" b="1" dirty="0">
                <a:solidFill>
                  <a:srgbClr val="B8730A"/>
                </a:solidFill>
                <a:latin typeface="Calibri" pitchFamily="34" charset="0"/>
                <a:ea typeface="Calibri" pitchFamily="34" charset="-122"/>
                <a:cs typeface="Calibri" pitchFamily="34" charset="-120"/>
              </a:rPr>
              <a:t>stimulus</a:t>
            </a:r>
            <a:r>
              <a:rPr lang="en-US" sz="1050" dirty="0">
                <a:solidFill>
                  <a:srgbClr val="B8730A"/>
                </a:solidFill>
                <a:latin typeface="Calibri" pitchFamily="34" charset="0"/>
                <a:ea typeface="Calibri" pitchFamily="34" charset="-122"/>
                <a:cs typeface="Calibri" pitchFamily="34" charset="-120"/>
              </a:rPr>
              <a:t>: heat</a:t>
            </a:r>
            <a:endParaRPr lang="en-US" sz="1050" dirty="0"/>
          </a:p>
        </p:txBody>
      </p:sp>
      <p:sp>
        <p:nvSpPr>
          <p:cNvPr id="16" name="Shape 14"/>
          <p:cNvSpPr/>
          <p:nvPr/>
        </p:nvSpPr>
        <p:spPr>
          <a:xfrm>
            <a:off x="2537460" y="3118104"/>
            <a:ext cx="1143000" cy="310896"/>
          </a:xfrm>
          <a:prstGeom prst="ellipse">
            <a:avLst/>
          </a:prstGeom>
          <a:solidFill>
            <a:srgbClr val="F29BA5"/>
          </a:solidFill>
          <a:ln w="15875">
            <a:solidFill>
              <a:srgbClr val="A33E48"/>
            </a:solidFill>
            <a:prstDash val="solid"/>
          </a:ln>
        </p:spPr>
      </p:sp>
      <p:sp>
        <p:nvSpPr>
          <p:cNvPr id="17" name="Shape 15"/>
          <p:cNvSpPr/>
          <p:nvPr/>
        </p:nvSpPr>
        <p:spPr>
          <a:xfrm>
            <a:off x="4846320" y="2286000"/>
            <a:ext cx="1737360" cy="1463040"/>
          </a:xfrm>
          <a:prstGeom prst="ellipse">
            <a:avLst/>
          </a:prstGeom>
          <a:solidFill>
            <a:srgbClr val="F7F3FB"/>
          </a:solidFill>
          <a:ln w="19050">
            <a:solidFill>
              <a:srgbClr val="8A7AA8"/>
            </a:solidFill>
            <a:prstDash val="solid"/>
          </a:ln>
        </p:spPr>
      </p:sp>
      <p:sp>
        <p:nvSpPr>
          <p:cNvPr id="18" name="Shape 16"/>
          <p:cNvSpPr/>
          <p:nvPr/>
        </p:nvSpPr>
        <p:spPr>
          <a:xfrm rot="-1500000">
            <a:off x="5239512" y="2459736"/>
            <a:ext cx="292608" cy="566928"/>
          </a:xfrm>
          <a:prstGeom prst="ellipse">
            <a:avLst/>
          </a:prstGeom>
          <a:solidFill>
            <a:srgbClr val="D8C8EC"/>
          </a:solidFill>
          <a:ln w="12700">
            <a:solidFill>
              <a:srgbClr val="8A7AA8"/>
            </a:solidFill>
            <a:prstDash val="solid"/>
          </a:ln>
        </p:spPr>
      </p:sp>
      <p:sp>
        <p:nvSpPr>
          <p:cNvPr id="19" name="Shape 17"/>
          <p:cNvSpPr/>
          <p:nvPr/>
        </p:nvSpPr>
        <p:spPr>
          <a:xfrm rot="1500000">
            <a:off x="5897880" y="2459736"/>
            <a:ext cx="292608" cy="566928"/>
          </a:xfrm>
          <a:prstGeom prst="ellipse">
            <a:avLst/>
          </a:prstGeom>
          <a:solidFill>
            <a:srgbClr val="D8C8EC"/>
          </a:solidFill>
          <a:ln w="12700">
            <a:solidFill>
              <a:srgbClr val="8A7AA8"/>
            </a:solidFill>
            <a:prstDash val="solid"/>
          </a:ln>
        </p:spPr>
      </p:sp>
      <p:sp>
        <p:nvSpPr>
          <p:cNvPr id="20" name="Shape 18"/>
          <p:cNvSpPr/>
          <p:nvPr/>
        </p:nvSpPr>
        <p:spPr>
          <a:xfrm rot="1200000">
            <a:off x="5166360" y="2999232"/>
            <a:ext cx="438912" cy="548640"/>
          </a:xfrm>
          <a:prstGeom prst="ellipse">
            <a:avLst/>
          </a:prstGeom>
          <a:solidFill>
            <a:srgbClr val="D8C8EC"/>
          </a:solidFill>
          <a:ln w="12700">
            <a:solidFill>
              <a:srgbClr val="8A7AA8"/>
            </a:solidFill>
            <a:prstDash val="solid"/>
          </a:ln>
        </p:spPr>
      </p:sp>
      <p:sp>
        <p:nvSpPr>
          <p:cNvPr id="21" name="Shape 19"/>
          <p:cNvSpPr/>
          <p:nvPr/>
        </p:nvSpPr>
        <p:spPr>
          <a:xfrm rot="-1200000">
            <a:off x="5824728" y="2999232"/>
            <a:ext cx="438912" cy="548640"/>
          </a:xfrm>
          <a:prstGeom prst="ellipse">
            <a:avLst/>
          </a:prstGeom>
          <a:solidFill>
            <a:srgbClr val="D8C8EC"/>
          </a:solidFill>
          <a:ln w="12700">
            <a:solidFill>
              <a:srgbClr val="8A7AA8"/>
            </a:solidFill>
            <a:prstDash val="solid"/>
          </a:ln>
        </p:spPr>
      </p:sp>
      <p:sp>
        <p:nvSpPr>
          <p:cNvPr id="22" name="Shape 20"/>
          <p:cNvSpPr/>
          <p:nvPr/>
        </p:nvSpPr>
        <p:spPr>
          <a:xfrm>
            <a:off x="5349240" y="2926080"/>
            <a:ext cx="731520" cy="219456"/>
          </a:xfrm>
          <a:prstGeom prst="rect">
            <a:avLst/>
          </a:prstGeom>
          <a:solidFill>
            <a:srgbClr val="D8C8EC"/>
          </a:solidFill>
          <a:ln/>
        </p:spPr>
      </p:sp>
      <p:sp>
        <p:nvSpPr>
          <p:cNvPr id="23" name="Shape 21"/>
          <p:cNvSpPr/>
          <p:nvPr/>
        </p:nvSpPr>
        <p:spPr>
          <a:xfrm>
            <a:off x="5669280" y="2990088"/>
            <a:ext cx="91440" cy="91440"/>
          </a:xfrm>
          <a:prstGeom prst="ellipse">
            <a:avLst/>
          </a:prstGeom>
          <a:solidFill>
            <a:srgbClr val="FFFFFF"/>
          </a:solidFill>
          <a:ln w="9525">
            <a:solidFill>
              <a:srgbClr val="8A7AA8"/>
            </a:solidFill>
            <a:prstDash val="solid"/>
          </a:ln>
        </p:spPr>
      </p:sp>
      <p:sp>
        <p:nvSpPr>
          <p:cNvPr id="24" name="Shape 22"/>
          <p:cNvSpPr/>
          <p:nvPr/>
        </p:nvSpPr>
        <p:spPr>
          <a:xfrm>
            <a:off x="502920" y="2953512"/>
            <a:ext cx="128016" cy="128016"/>
          </a:xfrm>
          <a:prstGeom prst="ellipse">
            <a:avLst/>
          </a:prstGeom>
          <a:solidFill>
            <a:srgbClr val="2F6DB5"/>
          </a:solidFill>
          <a:ln w="9525">
            <a:solidFill>
              <a:srgbClr val="2F6DB5"/>
            </a:solidFill>
            <a:prstDash val="solid"/>
          </a:ln>
        </p:spPr>
      </p:sp>
      <p:sp>
        <p:nvSpPr>
          <p:cNvPr id="25" name="Shape 23"/>
          <p:cNvSpPr/>
          <p:nvPr/>
        </p:nvSpPr>
        <p:spPr>
          <a:xfrm flipV="1">
            <a:off x="603504" y="2926080"/>
            <a:ext cx="310896" cy="54864"/>
          </a:xfrm>
          <a:prstGeom prst="line">
            <a:avLst/>
          </a:prstGeom>
          <a:noFill/>
          <a:ln w="28575">
            <a:solidFill>
              <a:srgbClr val="2F6DB5"/>
            </a:solidFill>
            <a:prstDash val="solid"/>
          </a:ln>
        </p:spPr>
      </p:sp>
      <p:sp>
        <p:nvSpPr>
          <p:cNvPr id="26" name="Shape 24"/>
          <p:cNvSpPr/>
          <p:nvPr/>
        </p:nvSpPr>
        <p:spPr>
          <a:xfrm flipV="1">
            <a:off x="914400" y="2880360"/>
            <a:ext cx="3017520" cy="45720"/>
          </a:xfrm>
          <a:prstGeom prst="line">
            <a:avLst/>
          </a:prstGeom>
          <a:noFill/>
          <a:ln w="28575">
            <a:solidFill>
              <a:srgbClr val="2F6DB5"/>
            </a:solidFill>
            <a:prstDash val="solid"/>
          </a:ln>
        </p:spPr>
      </p:sp>
      <p:sp>
        <p:nvSpPr>
          <p:cNvPr id="27" name="Shape 25"/>
          <p:cNvSpPr/>
          <p:nvPr/>
        </p:nvSpPr>
        <p:spPr>
          <a:xfrm flipV="1">
            <a:off x="3931920" y="2487168"/>
            <a:ext cx="502920" cy="393192"/>
          </a:xfrm>
          <a:prstGeom prst="line">
            <a:avLst/>
          </a:prstGeom>
          <a:noFill/>
          <a:ln w="28575">
            <a:solidFill>
              <a:srgbClr val="2F6DB5"/>
            </a:solidFill>
            <a:prstDash val="solid"/>
          </a:ln>
        </p:spPr>
      </p:sp>
      <p:sp>
        <p:nvSpPr>
          <p:cNvPr id="28" name="Shape 26"/>
          <p:cNvSpPr/>
          <p:nvPr/>
        </p:nvSpPr>
        <p:spPr>
          <a:xfrm>
            <a:off x="4434840" y="2487168"/>
            <a:ext cx="320040" cy="91"/>
          </a:xfrm>
          <a:prstGeom prst="line">
            <a:avLst/>
          </a:prstGeom>
          <a:noFill/>
          <a:ln w="28575">
            <a:solidFill>
              <a:srgbClr val="2F6DB5"/>
            </a:solidFill>
            <a:prstDash val="solid"/>
          </a:ln>
        </p:spPr>
      </p:sp>
      <p:sp>
        <p:nvSpPr>
          <p:cNvPr id="29" name="Shape 27"/>
          <p:cNvSpPr/>
          <p:nvPr/>
        </p:nvSpPr>
        <p:spPr>
          <a:xfrm>
            <a:off x="4754880" y="2487168"/>
            <a:ext cx="566928" cy="210312"/>
          </a:xfrm>
          <a:prstGeom prst="line">
            <a:avLst/>
          </a:prstGeom>
          <a:noFill/>
          <a:ln w="28575">
            <a:solidFill>
              <a:srgbClr val="2F6DB5"/>
            </a:solidFill>
            <a:prstDash val="solid"/>
          </a:ln>
        </p:spPr>
      </p:sp>
      <p:sp>
        <p:nvSpPr>
          <p:cNvPr id="30" name="Shape 28"/>
          <p:cNvSpPr/>
          <p:nvPr/>
        </p:nvSpPr>
        <p:spPr>
          <a:xfrm>
            <a:off x="4434840" y="2368296"/>
            <a:ext cx="237744" cy="237744"/>
          </a:xfrm>
          <a:prstGeom prst="ellipse">
            <a:avLst/>
          </a:prstGeom>
          <a:solidFill>
            <a:srgbClr val="D6E4F5"/>
          </a:solidFill>
          <a:ln w="15875">
            <a:solidFill>
              <a:srgbClr val="2F6DB5"/>
            </a:solidFill>
            <a:prstDash val="solid"/>
          </a:ln>
        </p:spPr>
      </p:sp>
      <p:sp>
        <p:nvSpPr>
          <p:cNvPr id="31" name="Shape 29"/>
          <p:cNvSpPr/>
          <p:nvPr/>
        </p:nvSpPr>
        <p:spPr>
          <a:xfrm>
            <a:off x="4507992" y="2441448"/>
            <a:ext cx="91440" cy="91440"/>
          </a:xfrm>
          <a:prstGeom prst="ellipse">
            <a:avLst/>
          </a:prstGeom>
          <a:solidFill>
            <a:srgbClr val="C9B6E4"/>
          </a:solidFill>
          <a:ln w="9525">
            <a:solidFill>
              <a:srgbClr val="6A4C93"/>
            </a:solidFill>
            <a:prstDash val="solid"/>
          </a:ln>
        </p:spPr>
      </p:sp>
      <p:sp>
        <p:nvSpPr>
          <p:cNvPr id="32" name="Shape 30"/>
          <p:cNvSpPr/>
          <p:nvPr/>
        </p:nvSpPr>
        <p:spPr>
          <a:xfrm flipV="1">
            <a:off x="2313445" y="2901558"/>
            <a:ext cx="219431" cy="3325"/>
          </a:xfrm>
          <a:prstGeom prst="line">
            <a:avLst/>
          </a:prstGeom>
          <a:noFill/>
          <a:ln w="28575">
            <a:solidFill>
              <a:srgbClr val="2F6DB5"/>
            </a:solidFill>
            <a:prstDash val="solid"/>
            <a:tailEnd type="triangle"/>
          </a:ln>
        </p:spPr>
      </p:sp>
      <p:sp>
        <p:nvSpPr>
          <p:cNvPr id="33" name="Shape 31"/>
          <p:cNvSpPr/>
          <p:nvPr/>
        </p:nvSpPr>
        <p:spPr>
          <a:xfrm>
            <a:off x="5394960" y="2743200"/>
            <a:ext cx="45720" cy="274320"/>
          </a:xfrm>
          <a:prstGeom prst="line">
            <a:avLst/>
          </a:prstGeom>
          <a:noFill/>
          <a:ln w="28575">
            <a:solidFill>
              <a:srgbClr val="2E8B57"/>
            </a:solidFill>
            <a:prstDash val="solid"/>
          </a:ln>
        </p:spPr>
      </p:sp>
      <p:sp>
        <p:nvSpPr>
          <p:cNvPr id="34" name="Shape 32"/>
          <p:cNvSpPr/>
          <p:nvPr/>
        </p:nvSpPr>
        <p:spPr>
          <a:xfrm flipH="1">
            <a:off x="5358384" y="3017520"/>
            <a:ext cx="82296" cy="201168"/>
          </a:xfrm>
          <a:prstGeom prst="line">
            <a:avLst/>
          </a:prstGeom>
          <a:noFill/>
          <a:ln w="28575">
            <a:solidFill>
              <a:srgbClr val="2E8B57"/>
            </a:solidFill>
            <a:prstDash val="solid"/>
          </a:ln>
        </p:spPr>
      </p:sp>
      <p:sp>
        <p:nvSpPr>
          <p:cNvPr id="35" name="Shape 33"/>
          <p:cNvSpPr/>
          <p:nvPr/>
        </p:nvSpPr>
        <p:spPr>
          <a:xfrm>
            <a:off x="5385816" y="2880360"/>
            <a:ext cx="128016" cy="128016"/>
          </a:xfrm>
          <a:prstGeom prst="ellipse">
            <a:avLst/>
          </a:prstGeom>
          <a:solidFill>
            <a:srgbClr val="D7EBDD"/>
          </a:solidFill>
          <a:ln w="15875">
            <a:solidFill>
              <a:srgbClr val="2E8B57"/>
            </a:solidFill>
            <a:prstDash val="solid"/>
          </a:ln>
        </p:spPr>
      </p:sp>
      <p:sp>
        <p:nvSpPr>
          <p:cNvPr id="36" name="Shape 34"/>
          <p:cNvSpPr/>
          <p:nvPr/>
        </p:nvSpPr>
        <p:spPr>
          <a:xfrm>
            <a:off x="5266944" y="2633472"/>
            <a:ext cx="182880" cy="182880"/>
          </a:xfrm>
          <a:prstGeom prst="ellipse">
            <a:avLst/>
          </a:prstGeom>
          <a:ln w="12700">
            <a:solidFill>
              <a:srgbClr val="133536"/>
            </a:solidFill>
            <a:prstDash val="dash"/>
          </a:ln>
        </p:spPr>
      </p:sp>
      <p:sp>
        <p:nvSpPr>
          <p:cNvPr id="37" name="Shape 35"/>
          <p:cNvSpPr/>
          <p:nvPr/>
        </p:nvSpPr>
        <p:spPr>
          <a:xfrm>
            <a:off x="5276088" y="3172968"/>
            <a:ext cx="164592" cy="164592"/>
          </a:xfrm>
          <a:prstGeom prst="ellipse">
            <a:avLst/>
          </a:prstGeom>
          <a:ln w="12700">
            <a:solidFill>
              <a:srgbClr val="133536"/>
            </a:solidFill>
            <a:prstDash val="dash"/>
          </a:ln>
        </p:spPr>
      </p:sp>
      <p:sp>
        <p:nvSpPr>
          <p:cNvPr id="38" name="Shape 36"/>
          <p:cNvSpPr/>
          <p:nvPr/>
        </p:nvSpPr>
        <p:spPr>
          <a:xfrm flipH="1">
            <a:off x="5303520" y="3291840"/>
            <a:ext cx="64008" cy="128016"/>
          </a:xfrm>
          <a:prstGeom prst="line">
            <a:avLst/>
          </a:prstGeom>
          <a:noFill/>
          <a:ln w="25400">
            <a:solidFill>
              <a:srgbClr val="C8414C"/>
            </a:solidFill>
            <a:prstDash val="solid"/>
          </a:ln>
        </p:spPr>
      </p:sp>
      <p:sp>
        <p:nvSpPr>
          <p:cNvPr id="39" name="Shape 37"/>
          <p:cNvSpPr/>
          <p:nvPr/>
        </p:nvSpPr>
        <p:spPr>
          <a:xfrm>
            <a:off x="5193792" y="3364992"/>
            <a:ext cx="182880" cy="182880"/>
          </a:xfrm>
          <a:prstGeom prst="ellipse">
            <a:avLst/>
          </a:prstGeom>
          <a:solidFill>
            <a:srgbClr val="F6D3D6"/>
          </a:solidFill>
          <a:ln w="15875">
            <a:solidFill>
              <a:srgbClr val="C8414C"/>
            </a:solidFill>
            <a:prstDash val="solid"/>
          </a:ln>
        </p:spPr>
      </p:sp>
      <p:sp>
        <p:nvSpPr>
          <p:cNvPr id="40" name="Shape 38"/>
          <p:cNvSpPr/>
          <p:nvPr/>
        </p:nvSpPr>
        <p:spPr>
          <a:xfrm>
            <a:off x="5248656" y="3419856"/>
            <a:ext cx="73152" cy="73152"/>
          </a:xfrm>
          <a:prstGeom prst="ellipse">
            <a:avLst/>
          </a:prstGeom>
          <a:solidFill>
            <a:srgbClr val="C9B6E4"/>
          </a:solidFill>
          <a:ln w="9525">
            <a:solidFill>
              <a:srgbClr val="6A4C93"/>
            </a:solidFill>
            <a:prstDash val="solid"/>
          </a:ln>
        </p:spPr>
      </p:sp>
      <p:sp>
        <p:nvSpPr>
          <p:cNvPr id="41" name="Shape 39"/>
          <p:cNvSpPr/>
          <p:nvPr/>
        </p:nvSpPr>
        <p:spPr>
          <a:xfrm flipH="1">
            <a:off x="4754880" y="3493008"/>
            <a:ext cx="448056" cy="118872"/>
          </a:xfrm>
          <a:prstGeom prst="line">
            <a:avLst/>
          </a:prstGeom>
          <a:noFill/>
          <a:ln w="28575">
            <a:solidFill>
              <a:srgbClr val="C8414C"/>
            </a:solidFill>
            <a:prstDash val="solid"/>
          </a:ln>
        </p:spPr>
      </p:sp>
      <p:sp>
        <p:nvSpPr>
          <p:cNvPr id="42" name="Shape 40"/>
          <p:cNvSpPr/>
          <p:nvPr/>
        </p:nvSpPr>
        <p:spPr>
          <a:xfrm flipH="1" flipV="1">
            <a:off x="3931920" y="3547872"/>
            <a:ext cx="822960" cy="64008"/>
          </a:xfrm>
          <a:prstGeom prst="line">
            <a:avLst/>
          </a:prstGeom>
          <a:noFill/>
          <a:ln w="28575">
            <a:solidFill>
              <a:srgbClr val="C8414C"/>
            </a:solidFill>
            <a:prstDash val="solid"/>
          </a:ln>
        </p:spPr>
      </p:sp>
      <p:sp>
        <p:nvSpPr>
          <p:cNvPr id="43" name="Shape 41"/>
          <p:cNvSpPr/>
          <p:nvPr/>
        </p:nvSpPr>
        <p:spPr>
          <a:xfrm flipH="1" flipV="1">
            <a:off x="3611880" y="3346704"/>
            <a:ext cx="320040" cy="201168"/>
          </a:xfrm>
          <a:prstGeom prst="line">
            <a:avLst/>
          </a:prstGeom>
          <a:noFill/>
          <a:ln w="28575">
            <a:solidFill>
              <a:srgbClr val="C8414C"/>
            </a:solidFill>
            <a:prstDash val="solid"/>
          </a:ln>
        </p:spPr>
      </p:sp>
      <p:sp>
        <p:nvSpPr>
          <p:cNvPr id="44" name="Shape 42"/>
          <p:cNvSpPr/>
          <p:nvPr/>
        </p:nvSpPr>
        <p:spPr>
          <a:xfrm flipH="1">
            <a:off x="3426714" y="3346704"/>
            <a:ext cx="185166" cy="123444"/>
          </a:xfrm>
          <a:prstGeom prst="line">
            <a:avLst/>
          </a:prstGeom>
          <a:noFill/>
          <a:ln w="19050">
            <a:solidFill>
              <a:srgbClr val="C8414C"/>
            </a:solidFill>
            <a:prstDash val="solid"/>
          </a:ln>
        </p:spPr>
      </p:sp>
      <p:sp>
        <p:nvSpPr>
          <p:cNvPr id="45" name="Shape 43"/>
          <p:cNvSpPr/>
          <p:nvPr/>
        </p:nvSpPr>
        <p:spPr>
          <a:xfrm>
            <a:off x="3445231" y="3488665"/>
            <a:ext cx="-37033" cy="-37033"/>
          </a:xfrm>
          <a:prstGeom prst="ellipse">
            <a:avLst/>
          </a:prstGeom>
          <a:solidFill>
            <a:srgbClr val="C8414C"/>
          </a:solidFill>
          <a:ln w="9525">
            <a:solidFill>
              <a:srgbClr val="C8414C"/>
            </a:solidFill>
            <a:prstDash val="solid"/>
          </a:ln>
        </p:spPr>
      </p:sp>
      <p:sp>
        <p:nvSpPr>
          <p:cNvPr id="46" name="Shape 44"/>
          <p:cNvSpPr/>
          <p:nvPr/>
        </p:nvSpPr>
        <p:spPr>
          <a:xfrm flipH="1">
            <a:off x="3406140" y="3346704"/>
            <a:ext cx="205740" cy="41148"/>
          </a:xfrm>
          <a:prstGeom prst="line">
            <a:avLst/>
          </a:prstGeom>
          <a:noFill/>
          <a:ln w="19050">
            <a:solidFill>
              <a:srgbClr val="C8414C"/>
            </a:solidFill>
            <a:prstDash val="solid"/>
          </a:ln>
        </p:spPr>
      </p:sp>
      <p:sp>
        <p:nvSpPr>
          <p:cNvPr id="47" name="Shape 45"/>
          <p:cNvSpPr/>
          <p:nvPr/>
        </p:nvSpPr>
        <p:spPr>
          <a:xfrm>
            <a:off x="3424657" y="3406369"/>
            <a:ext cx="-37033" cy="-37033"/>
          </a:xfrm>
          <a:prstGeom prst="ellipse">
            <a:avLst/>
          </a:prstGeom>
          <a:solidFill>
            <a:srgbClr val="C8414C"/>
          </a:solidFill>
          <a:ln w="9525">
            <a:solidFill>
              <a:srgbClr val="C8414C"/>
            </a:solidFill>
            <a:prstDash val="solid"/>
          </a:ln>
        </p:spPr>
      </p:sp>
      <p:sp>
        <p:nvSpPr>
          <p:cNvPr id="48" name="Shape 46"/>
          <p:cNvSpPr/>
          <p:nvPr/>
        </p:nvSpPr>
        <p:spPr>
          <a:xfrm flipH="1" flipV="1">
            <a:off x="3406140" y="3305556"/>
            <a:ext cx="205740" cy="41148"/>
          </a:xfrm>
          <a:prstGeom prst="line">
            <a:avLst/>
          </a:prstGeom>
          <a:noFill/>
          <a:ln w="19050">
            <a:solidFill>
              <a:srgbClr val="C8414C"/>
            </a:solidFill>
            <a:prstDash val="solid"/>
          </a:ln>
        </p:spPr>
      </p:sp>
      <p:sp>
        <p:nvSpPr>
          <p:cNvPr id="49" name="Shape 47"/>
          <p:cNvSpPr/>
          <p:nvPr/>
        </p:nvSpPr>
        <p:spPr>
          <a:xfrm>
            <a:off x="3424657" y="3324073"/>
            <a:ext cx="-37033" cy="-37033"/>
          </a:xfrm>
          <a:prstGeom prst="ellipse">
            <a:avLst/>
          </a:prstGeom>
          <a:solidFill>
            <a:srgbClr val="C8414C"/>
          </a:solidFill>
          <a:ln w="9525">
            <a:solidFill>
              <a:srgbClr val="C8414C"/>
            </a:solidFill>
            <a:prstDash val="solid"/>
          </a:ln>
        </p:spPr>
      </p:sp>
      <p:sp>
        <p:nvSpPr>
          <p:cNvPr id="50" name="Shape 48"/>
          <p:cNvSpPr/>
          <p:nvPr/>
        </p:nvSpPr>
        <p:spPr>
          <a:xfrm flipH="1" flipV="1">
            <a:off x="3426714" y="3223260"/>
            <a:ext cx="185166" cy="123444"/>
          </a:xfrm>
          <a:prstGeom prst="line">
            <a:avLst/>
          </a:prstGeom>
          <a:noFill/>
          <a:ln w="19050">
            <a:solidFill>
              <a:srgbClr val="C8414C"/>
            </a:solidFill>
            <a:prstDash val="solid"/>
          </a:ln>
        </p:spPr>
      </p:sp>
      <p:sp>
        <p:nvSpPr>
          <p:cNvPr id="51" name="Shape 49"/>
          <p:cNvSpPr/>
          <p:nvPr/>
        </p:nvSpPr>
        <p:spPr>
          <a:xfrm>
            <a:off x="3445231" y="3241777"/>
            <a:ext cx="-37033" cy="-37033"/>
          </a:xfrm>
          <a:prstGeom prst="ellipse">
            <a:avLst/>
          </a:prstGeom>
          <a:solidFill>
            <a:srgbClr val="C8414C"/>
          </a:solidFill>
          <a:ln w="9525">
            <a:solidFill>
              <a:srgbClr val="C8414C"/>
            </a:solidFill>
            <a:prstDash val="solid"/>
          </a:ln>
        </p:spPr>
      </p:sp>
      <p:sp>
        <p:nvSpPr>
          <p:cNvPr id="52" name="Shape 50"/>
          <p:cNvSpPr/>
          <p:nvPr/>
        </p:nvSpPr>
        <p:spPr>
          <a:xfrm flipH="1" flipV="1">
            <a:off x="4234002" y="3571367"/>
            <a:ext cx="218795" cy="17017"/>
          </a:xfrm>
          <a:prstGeom prst="line">
            <a:avLst/>
          </a:prstGeom>
          <a:noFill/>
          <a:ln w="28575">
            <a:solidFill>
              <a:srgbClr val="C8414C"/>
            </a:solidFill>
            <a:prstDash val="solid"/>
            <a:tailEnd type="triangle"/>
          </a:ln>
        </p:spPr>
      </p:sp>
      <p:sp>
        <p:nvSpPr>
          <p:cNvPr id="53" name="Text 51"/>
          <p:cNvSpPr/>
          <p:nvPr/>
        </p:nvSpPr>
        <p:spPr>
          <a:xfrm>
            <a:off x="502920" y="2395728"/>
            <a:ext cx="118872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receptor</a:t>
            </a:r>
            <a:r>
              <a:rPr lang="en-US" sz="1050" dirty="0">
                <a:solidFill>
                  <a:srgbClr val="262B3A"/>
                </a:solidFill>
                <a:latin typeface="Calibri" pitchFamily="34" charset="0"/>
                <a:ea typeface="Calibri" pitchFamily="34" charset="-122"/>
                <a:cs typeface="Calibri" pitchFamily="34" charset="-120"/>
              </a:rPr>
              <a:t> in skin</a:t>
            </a:r>
            <a:endParaRPr lang="en-US" sz="1050" dirty="0"/>
          </a:p>
        </p:txBody>
      </p:sp>
      <p:sp>
        <p:nvSpPr>
          <p:cNvPr id="54" name="Shape 52"/>
          <p:cNvSpPr/>
          <p:nvPr/>
        </p:nvSpPr>
        <p:spPr>
          <a:xfrm flipH="1">
            <a:off x="566928" y="2633472"/>
            <a:ext cx="73152" cy="310896"/>
          </a:xfrm>
          <a:prstGeom prst="line">
            <a:avLst/>
          </a:prstGeom>
          <a:noFill/>
          <a:ln w="9525">
            <a:solidFill>
              <a:srgbClr val="5A6275"/>
            </a:solidFill>
            <a:prstDash val="solid"/>
          </a:ln>
        </p:spPr>
      </p:sp>
      <p:sp>
        <p:nvSpPr>
          <p:cNvPr id="55" name="Text 53"/>
          <p:cNvSpPr/>
          <p:nvPr/>
        </p:nvSpPr>
        <p:spPr>
          <a:xfrm>
            <a:off x="1737360" y="2395728"/>
            <a:ext cx="1645920" cy="256032"/>
          </a:xfrm>
          <a:prstGeom prst="rect">
            <a:avLst/>
          </a:prstGeom>
          <a:noFill/>
          <a:ln/>
        </p:spPr>
        <p:txBody>
          <a:bodyPr wrap="square" lIns="0" tIns="0" rIns="0" bIns="0" rtlCol="0" anchor="ctr"/>
          <a:lstStyle/>
          <a:p>
            <a:pPr algn="l" indent="0" marL="0">
              <a:buNone/>
            </a:pPr>
            <a:r>
              <a:rPr lang="en-US" sz="1050" b="1" dirty="0">
                <a:solidFill>
                  <a:srgbClr val="2F6DB5"/>
                </a:solidFill>
                <a:latin typeface="Calibri" pitchFamily="34" charset="0"/>
                <a:ea typeface="Calibri" pitchFamily="34" charset="-122"/>
                <a:cs typeface="Calibri" pitchFamily="34" charset="-120"/>
              </a:rPr>
              <a:t>sensory neurone</a:t>
            </a:r>
            <a:endParaRPr lang="en-US" sz="1050" dirty="0"/>
          </a:p>
        </p:txBody>
      </p:sp>
      <p:sp>
        <p:nvSpPr>
          <p:cNvPr id="56" name="Shape 54"/>
          <p:cNvSpPr/>
          <p:nvPr/>
        </p:nvSpPr>
        <p:spPr>
          <a:xfrm>
            <a:off x="2286000" y="2633472"/>
            <a:ext cx="91440" cy="265176"/>
          </a:xfrm>
          <a:prstGeom prst="line">
            <a:avLst/>
          </a:prstGeom>
          <a:noFill/>
          <a:ln w="9525">
            <a:solidFill>
              <a:srgbClr val="5A6275"/>
            </a:solidFill>
            <a:prstDash val="solid"/>
          </a:ln>
        </p:spPr>
      </p:sp>
      <p:sp>
        <p:nvSpPr>
          <p:cNvPr id="57" name="Text 55"/>
          <p:cNvSpPr/>
          <p:nvPr/>
        </p:nvSpPr>
        <p:spPr>
          <a:xfrm>
            <a:off x="3520440" y="1874520"/>
            <a:ext cx="1554480" cy="384048"/>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cell body of sensory neurone</a:t>
            </a:r>
            <a:endParaRPr lang="en-US" sz="1000" dirty="0"/>
          </a:p>
        </p:txBody>
      </p:sp>
      <p:sp>
        <p:nvSpPr>
          <p:cNvPr id="58" name="Shape 56"/>
          <p:cNvSpPr/>
          <p:nvPr/>
        </p:nvSpPr>
        <p:spPr>
          <a:xfrm>
            <a:off x="4206240" y="2240280"/>
            <a:ext cx="292608" cy="155448"/>
          </a:xfrm>
          <a:prstGeom prst="line">
            <a:avLst/>
          </a:prstGeom>
          <a:noFill/>
          <a:ln w="9525">
            <a:solidFill>
              <a:srgbClr val="5A6275"/>
            </a:solidFill>
            <a:prstDash val="solid"/>
          </a:ln>
        </p:spPr>
      </p:sp>
      <p:sp>
        <p:nvSpPr>
          <p:cNvPr id="59" name="Text 57"/>
          <p:cNvSpPr/>
          <p:nvPr/>
        </p:nvSpPr>
        <p:spPr>
          <a:xfrm>
            <a:off x="6080760" y="1691640"/>
            <a:ext cx="96012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synapse</a:t>
            </a:r>
            <a:endParaRPr lang="en-US" sz="1050" dirty="0"/>
          </a:p>
        </p:txBody>
      </p:sp>
      <p:sp>
        <p:nvSpPr>
          <p:cNvPr id="60" name="Shape 58"/>
          <p:cNvSpPr/>
          <p:nvPr/>
        </p:nvSpPr>
        <p:spPr>
          <a:xfrm flipH="1">
            <a:off x="5440680" y="1828800"/>
            <a:ext cx="685800" cy="841248"/>
          </a:xfrm>
          <a:prstGeom prst="line">
            <a:avLst/>
          </a:prstGeom>
          <a:noFill/>
          <a:ln w="9525">
            <a:solidFill>
              <a:srgbClr val="5A6275"/>
            </a:solidFill>
            <a:prstDash val="solid"/>
          </a:ln>
        </p:spPr>
      </p:sp>
      <p:sp>
        <p:nvSpPr>
          <p:cNvPr id="61" name="Text 59"/>
          <p:cNvSpPr/>
          <p:nvPr/>
        </p:nvSpPr>
        <p:spPr>
          <a:xfrm>
            <a:off x="6080760" y="2148840"/>
            <a:ext cx="960120" cy="384048"/>
          </a:xfrm>
          <a:prstGeom prst="rect">
            <a:avLst/>
          </a:prstGeom>
          <a:noFill/>
          <a:ln/>
        </p:spPr>
        <p:txBody>
          <a:bodyPr wrap="square" lIns="0" tIns="0" rIns="0" bIns="0" rtlCol="0" anchor="t"/>
          <a:lstStyle/>
          <a:p>
            <a:pPr algn="l" indent="0" marL="0">
              <a:buNone/>
            </a:pPr>
            <a:r>
              <a:rPr lang="en-US" sz="1050" b="1" dirty="0">
                <a:solidFill>
                  <a:srgbClr val="2E8B57"/>
                </a:solidFill>
                <a:latin typeface="Calibri" pitchFamily="34" charset="0"/>
                <a:ea typeface="Calibri" pitchFamily="34" charset="-122"/>
                <a:cs typeface="Calibri" pitchFamily="34" charset="-120"/>
              </a:rPr>
              <a:t>relay neurone</a:t>
            </a:r>
            <a:endParaRPr lang="en-US" sz="1050" dirty="0"/>
          </a:p>
        </p:txBody>
      </p:sp>
      <p:sp>
        <p:nvSpPr>
          <p:cNvPr id="62" name="Shape 60"/>
          <p:cNvSpPr/>
          <p:nvPr/>
        </p:nvSpPr>
        <p:spPr>
          <a:xfrm flipH="1">
            <a:off x="5486400" y="2377440"/>
            <a:ext cx="621792" cy="594360"/>
          </a:xfrm>
          <a:prstGeom prst="line">
            <a:avLst/>
          </a:prstGeom>
          <a:noFill/>
          <a:ln w="9525">
            <a:solidFill>
              <a:srgbClr val="5A6275"/>
            </a:solidFill>
            <a:prstDash val="solid"/>
          </a:ln>
        </p:spPr>
      </p:sp>
      <p:sp>
        <p:nvSpPr>
          <p:cNvPr id="63" name="Text 61"/>
          <p:cNvSpPr/>
          <p:nvPr/>
        </p:nvSpPr>
        <p:spPr>
          <a:xfrm>
            <a:off x="5669280" y="3822192"/>
            <a:ext cx="13716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spinal cord</a:t>
            </a:r>
            <a:r>
              <a:rPr lang="en-US" sz="1050" dirty="0">
                <a:solidFill>
                  <a:srgbClr val="262B3A"/>
                </a:solidFill>
                <a:latin typeface="Calibri" pitchFamily="34" charset="0"/>
                <a:ea typeface="Calibri" pitchFamily="34" charset="-122"/>
                <a:cs typeface="Calibri" pitchFamily="34" charset="-120"/>
              </a:rPr>
              <a:t> (CNS)</a:t>
            </a:r>
            <a:endParaRPr lang="en-US" sz="1050" dirty="0"/>
          </a:p>
        </p:txBody>
      </p:sp>
      <p:sp>
        <p:nvSpPr>
          <p:cNvPr id="64" name="Text 62"/>
          <p:cNvSpPr/>
          <p:nvPr/>
        </p:nvSpPr>
        <p:spPr>
          <a:xfrm>
            <a:off x="5669280" y="4041648"/>
            <a:ext cx="1371600" cy="256032"/>
          </a:xfrm>
          <a:prstGeom prst="rect">
            <a:avLst/>
          </a:prstGeom>
          <a:noFill/>
          <a:ln/>
        </p:spPr>
        <p:txBody>
          <a:bodyPr wrap="square" lIns="0" tIns="0" rIns="0" bIns="0" rtlCol="0" anchor="ctr"/>
          <a:lstStyle/>
          <a:p>
            <a:pPr algn="l" indent="0" marL="0">
              <a:buNone/>
            </a:pPr>
            <a:r>
              <a:rPr lang="en-US" sz="1000" dirty="0">
                <a:solidFill>
                  <a:srgbClr val="6B7385"/>
                </a:solidFill>
                <a:latin typeface="Calibri" pitchFamily="34" charset="0"/>
                <a:ea typeface="Calibri" pitchFamily="34" charset="-122"/>
                <a:cs typeface="Calibri" pitchFamily="34" charset="-120"/>
              </a:rPr>
              <a:t>grey matter: cell bodies</a:t>
            </a:r>
            <a:endParaRPr lang="en-US" sz="1000" dirty="0"/>
          </a:p>
        </p:txBody>
      </p:sp>
      <p:sp>
        <p:nvSpPr>
          <p:cNvPr id="65" name="Text 63"/>
          <p:cNvSpPr/>
          <p:nvPr/>
        </p:nvSpPr>
        <p:spPr>
          <a:xfrm>
            <a:off x="3794760" y="3675888"/>
            <a:ext cx="146304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motor neurone</a:t>
            </a:r>
            <a:endParaRPr lang="en-US" sz="1050" dirty="0"/>
          </a:p>
        </p:txBody>
      </p:sp>
      <p:sp>
        <p:nvSpPr>
          <p:cNvPr id="66" name="Text 64"/>
          <p:cNvSpPr/>
          <p:nvPr/>
        </p:nvSpPr>
        <p:spPr>
          <a:xfrm>
            <a:off x="2377440" y="3566160"/>
            <a:ext cx="1463040" cy="411480"/>
          </a:xfrm>
          <a:prstGeom prst="rect">
            <a:avLst/>
          </a:prstGeom>
          <a:noFill/>
          <a:ln/>
        </p:spPr>
        <p:txBody>
          <a:bodyPr wrap="square" lIns="0" tIns="0" rIns="0" bIns="0" rtlCol="0" anchor="t"/>
          <a:lstStyle/>
          <a:p>
            <a:pPr algn="l" indent="0" marL="0">
              <a:buNone/>
            </a:pPr>
            <a:r>
              <a:rPr lang="en-US" sz="1050" b="1" dirty="0">
                <a:solidFill>
                  <a:srgbClr val="8E2A33"/>
                </a:solidFill>
                <a:latin typeface="Calibri" pitchFamily="34" charset="0"/>
                <a:ea typeface="Calibri" pitchFamily="34" charset="-122"/>
                <a:cs typeface="Calibri" pitchFamily="34" charset="-120"/>
              </a:rPr>
              <a:t>effector</a:t>
            </a:r>
            <a:r>
              <a:rPr lang="en-US" sz="1050" dirty="0">
                <a:solidFill>
                  <a:srgbClr val="8E2A33"/>
                </a:solidFill>
                <a:latin typeface="Calibri" pitchFamily="34" charset="0"/>
                <a:ea typeface="Calibri" pitchFamily="34" charset="-122"/>
                <a:cs typeface="Calibri" pitchFamily="34" charset="-120"/>
              </a:rPr>
              <a:t>: biceps muscle</a:t>
            </a:r>
            <a:endParaRPr lang="en-US" sz="1050" dirty="0"/>
          </a:p>
        </p:txBody>
      </p:sp>
      <p:sp>
        <p:nvSpPr>
          <p:cNvPr id="67" name="Shape 65"/>
          <p:cNvSpPr/>
          <p:nvPr/>
        </p:nvSpPr>
        <p:spPr>
          <a:xfrm flipV="1">
            <a:off x="2743200" y="3401568"/>
            <a:ext cx="137160" cy="210312"/>
          </a:xfrm>
          <a:prstGeom prst="line">
            <a:avLst/>
          </a:prstGeom>
          <a:noFill/>
          <a:ln w="9525">
            <a:solidFill>
              <a:srgbClr val="5A6275"/>
            </a:solidFill>
            <a:prstDash val="solid"/>
          </a:ln>
        </p:spPr>
      </p:sp>
      <p:sp>
        <p:nvSpPr>
          <p:cNvPr id="68" name="Shape 66"/>
          <p:cNvSpPr/>
          <p:nvPr/>
        </p:nvSpPr>
        <p:spPr>
          <a:xfrm>
            <a:off x="548640" y="4617720"/>
            <a:ext cx="804672" cy="566928"/>
          </a:xfrm>
          <a:prstGeom prst="roundRect">
            <a:avLst>
              <a:gd name="adj" fmla="val 9677"/>
            </a:avLst>
          </a:prstGeom>
          <a:solidFill>
            <a:srgbClr val="FFFFFF"/>
          </a:solidFill>
          <a:ln w="15875">
            <a:solidFill>
              <a:srgbClr val="E39A2F"/>
            </a:solidFill>
            <a:prstDash val="solid"/>
          </a:ln>
        </p:spPr>
      </p:sp>
      <p:sp>
        <p:nvSpPr>
          <p:cNvPr id="69" name="Text 67"/>
          <p:cNvSpPr/>
          <p:nvPr/>
        </p:nvSpPr>
        <p:spPr>
          <a:xfrm>
            <a:off x="585216" y="4617720"/>
            <a:ext cx="731520"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stimulus</a:t>
            </a:r>
            <a:endParaRPr lang="en-US" sz="1000" dirty="0"/>
          </a:p>
        </p:txBody>
      </p:sp>
      <p:sp>
        <p:nvSpPr>
          <p:cNvPr id="70" name="Shape 68"/>
          <p:cNvSpPr/>
          <p:nvPr/>
        </p:nvSpPr>
        <p:spPr>
          <a:xfrm>
            <a:off x="1353312" y="4901184"/>
            <a:ext cx="109728" cy="91"/>
          </a:xfrm>
          <a:prstGeom prst="line">
            <a:avLst/>
          </a:prstGeom>
          <a:noFill/>
          <a:ln w="15875">
            <a:solidFill>
              <a:srgbClr val="133536"/>
            </a:solidFill>
            <a:prstDash val="solid"/>
            <a:tailEnd type="triangle"/>
          </a:ln>
        </p:spPr>
      </p:sp>
      <p:sp>
        <p:nvSpPr>
          <p:cNvPr id="71" name="Shape 69"/>
          <p:cNvSpPr/>
          <p:nvPr/>
        </p:nvSpPr>
        <p:spPr>
          <a:xfrm>
            <a:off x="1463040" y="4617720"/>
            <a:ext cx="804672" cy="566928"/>
          </a:xfrm>
          <a:prstGeom prst="roundRect">
            <a:avLst>
              <a:gd name="adj" fmla="val 9677"/>
            </a:avLst>
          </a:prstGeom>
          <a:solidFill>
            <a:srgbClr val="FFFFFF"/>
          </a:solidFill>
          <a:ln w="15875">
            <a:solidFill>
              <a:srgbClr val="2F6DB5"/>
            </a:solidFill>
            <a:prstDash val="solid"/>
          </a:ln>
        </p:spPr>
      </p:sp>
      <p:sp>
        <p:nvSpPr>
          <p:cNvPr id="72" name="Text 70"/>
          <p:cNvSpPr/>
          <p:nvPr/>
        </p:nvSpPr>
        <p:spPr>
          <a:xfrm>
            <a:off x="1499616" y="4617720"/>
            <a:ext cx="731520"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receptor</a:t>
            </a:r>
            <a:endParaRPr lang="en-US" sz="1000" dirty="0"/>
          </a:p>
        </p:txBody>
      </p:sp>
      <p:sp>
        <p:nvSpPr>
          <p:cNvPr id="73" name="Shape 71"/>
          <p:cNvSpPr/>
          <p:nvPr/>
        </p:nvSpPr>
        <p:spPr>
          <a:xfrm>
            <a:off x="2267712" y="4901184"/>
            <a:ext cx="109728" cy="91"/>
          </a:xfrm>
          <a:prstGeom prst="line">
            <a:avLst/>
          </a:prstGeom>
          <a:noFill/>
          <a:ln w="15875">
            <a:solidFill>
              <a:srgbClr val="133536"/>
            </a:solidFill>
            <a:prstDash val="solid"/>
            <a:tailEnd type="triangle"/>
          </a:ln>
        </p:spPr>
      </p:sp>
      <p:sp>
        <p:nvSpPr>
          <p:cNvPr id="74" name="Shape 72"/>
          <p:cNvSpPr/>
          <p:nvPr/>
        </p:nvSpPr>
        <p:spPr>
          <a:xfrm>
            <a:off x="2377440" y="4617720"/>
            <a:ext cx="804672" cy="566928"/>
          </a:xfrm>
          <a:prstGeom prst="roundRect">
            <a:avLst>
              <a:gd name="adj" fmla="val 9677"/>
            </a:avLst>
          </a:prstGeom>
          <a:solidFill>
            <a:srgbClr val="FFFFFF"/>
          </a:solidFill>
          <a:ln w="15875">
            <a:solidFill>
              <a:srgbClr val="2F6DB5"/>
            </a:solidFill>
            <a:prstDash val="solid"/>
          </a:ln>
        </p:spPr>
      </p:sp>
      <p:sp>
        <p:nvSpPr>
          <p:cNvPr id="75" name="Text 73"/>
          <p:cNvSpPr/>
          <p:nvPr/>
        </p:nvSpPr>
        <p:spPr>
          <a:xfrm>
            <a:off x="2414016" y="4617720"/>
            <a:ext cx="731520"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sensory neurone</a:t>
            </a:r>
            <a:endParaRPr lang="en-US" sz="1000" dirty="0"/>
          </a:p>
        </p:txBody>
      </p:sp>
      <p:sp>
        <p:nvSpPr>
          <p:cNvPr id="76" name="Shape 74"/>
          <p:cNvSpPr/>
          <p:nvPr/>
        </p:nvSpPr>
        <p:spPr>
          <a:xfrm>
            <a:off x="3182112" y="4901184"/>
            <a:ext cx="109728" cy="91"/>
          </a:xfrm>
          <a:prstGeom prst="line">
            <a:avLst/>
          </a:prstGeom>
          <a:noFill/>
          <a:ln w="15875">
            <a:solidFill>
              <a:srgbClr val="133536"/>
            </a:solidFill>
            <a:prstDash val="solid"/>
            <a:tailEnd type="triangle"/>
          </a:ln>
        </p:spPr>
      </p:sp>
      <p:sp>
        <p:nvSpPr>
          <p:cNvPr id="77" name="Shape 75"/>
          <p:cNvSpPr/>
          <p:nvPr/>
        </p:nvSpPr>
        <p:spPr>
          <a:xfrm>
            <a:off x="3291840" y="4617720"/>
            <a:ext cx="804672" cy="566928"/>
          </a:xfrm>
          <a:prstGeom prst="roundRect">
            <a:avLst>
              <a:gd name="adj" fmla="val 9677"/>
            </a:avLst>
          </a:prstGeom>
          <a:solidFill>
            <a:srgbClr val="FFFFFF"/>
          </a:solidFill>
          <a:ln w="15875">
            <a:solidFill>
              <a:srgbClr val="2E8B57"/>
            </a:solidFill>
            <a:prstDash val="solid"/>
          </a:ln>
        </p:spPr>
      </p:sp>
      <p:sp>
        <p:nvSpPr>
          <p:cNvPr id="78" name="Text 76"/>
          <p:cNvSpPr/>
          <p:nvPr/>
        </p:nvSpPr>
        <p:spPr>
          <a:xfrm>
            <a:off x="3328416" y="4617720"/>
            <a:ext cx="731520"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relay neurone</a:t>
            </a:r>
            <a:endParaRPr lang="en-US" sz="1000" dirty="0"/>
          </a:p>
        </p:txBody>
      </p:sp>
      <p:sp>
        <p:nvSpPr>
          <p:cNvPr id="79" name="Shape 77"/>
          <p:cNvSpPr/>
          <p:nvPr/>
        </p:nvSpPr>
        <p:spPr>
          <a:xfrm>
            <a:off x="4096512" y="4901184"/>
            <a:ext cx="109728" cy="91"/>
          </a:xfrm>
          <a:prstGeom prst="line">
            <a:avLst/>
          </a:prstGeom>
          <a:noFill/>
          <a:ln w="15875">
            <a:solidFill>
              <a:srgbClr val="133536"/>
            </a:solidFill>
            <a:prstDash val="solid"/>
            <a:tailEnd type="triangle"/>
          </a:ln>
        </p:spPr>
      </p:sp>
      <p:sp>
        <p:nvSpPr>
          <p:cNvPr id="80" name="Shape 78"/>
          <p:cNvSpPr/>
          <p:nvPr/>
        </p:nvSpPr>
        <p:spPr>
          <a:xfrm>
            <a:off x="4206240" y="4617720"/>
            <a:ext cx="804672" cy="566928"/>
          </a:xfrm>
          <a:prstGeom prst="roundRect">
            <a:avLst>
              <a:gd name="adj" fmla="val 9677"/>
            </a:avLst>
          </a:prstGeom>
          <a:solidFill>
            <a:srgbClr val="FFFFFF"/>
          </a:solidFill>
          <a:ln w="15875">
            <a:solidFill>
              <a:srgbClr val="C8414C"/>
            </a:solidFill>
            <a:prstDash val="solid"/>
          </a:ln>
        </p:spPr>
      </p:sp>
      <p:sp>
        <p:nvSpPr>
          <p:cNvPr id="81" name="Text 79"/>
          <p:cNvSpPr/>
          <p:nvPr/>
        </p:nvSpPr>
        <p:spPr>
          <a:xfrm>
            <a:off x="4242816" y="4617720"/>
            <a:ext cx="731520"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motor neurone</a:t>
            </a:r>
            <a:endParaRPr lang="en-US" sz="1000" dirty="0"/>
          </a:p>
        </p:txBody>
      </p:sp>
      <p:sp>
        <p:nvSpPr>
          <p:cNvPr id="82" name="Shape 80"/>
          <p:cNvSpPr/>
          <p:nvPr/>
        </p:nvSpPr>
        <p:spPr>
          <a:xfrm>
            <a:off x="5010912" y="4901184"/>
            <a:ext cx="109728" cy="91"/>
          </a:xfrm>
          <a:prstGeom prst="line">
            <a:avLst/>
          </a:prstGeom>
          <a:noFill/>
          <a:ln w="15875">
            <a:solidFill>
              <a:srgbClr val="133536"/>
            </a:solidFill>
            <a:prstDash val="solid"/>
            <a:tailEnd type="triangle"/>
          </a:ln>
        </p:spPr>
      </p:sp>
      <p:sp>
        <p:nvSpPr>
          <p:cNvPr id="83" name="Shape 81"/>
          <p:cNvSpPr/>
          <p:nvPr/>
        </p:nvSpPr>
        <p:spPr>
          <a:xfrm>
            <a:off x="5120640" y="4617720"/>
            <a:ext cx="804672" cy="566928"/>
          </a:xfrm>
          <a:prstGeom prst="roundRect">
            <a:avLst>
              <a:gd name="adj" fmla="val 9677"/>
            </a:avLst>
          </a:prstGeom>
          <a:solidFill>
            <a:srgbClr val="FFFFFF"/>
          </a:solidFill>
          <a:ln w="15875">
            <a:solidFill>
              <a:srgbClr val="C8414C"/>
            </a:solidFill>
            <a:prstDash val="solid"/>
          </a:ln>
        </p:spPr>
      </p:sp>
      <p:sp>
        <p:nvSpPr>
          <p:cNvPr id="84" name="Text 82"/>
          <p:cNvSpPr/>
          <p:nvPr/>
        </p:nvSpPr>
        <p:spPr>
          <a:xfrm>
            <a:off x="5157216" y="4617720"/>
            <a:ext cx="731520"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effector</a:t>
            </a:r>
            <a:endParaRPr lang="en-US" sz="1000" dirty="0"/>
          </a:p>
        </p:txBody>
      </p:sp>
      <p:sp>
        <p:nvSpPr>
          <p:cNvPr id="85" name="Shape 83"/>
          <p:cNvSpPr/>
          <p:nvPr/>
        </p:nvSpPr>
        <p:spPr>
          <a:xfrm>
            <a:off x="5925312" y="4901184"/>
            <a:ext cx="109728" cy="91"/>
          </a:xfrm>
          <a:prstGeom prst="line">
            <a:avLst/>
          </a:prstGeom>
          <a:noFill/>
          <a:ln w="15875">
            <a:solidFill>
              <a:srgbClr val="133536"/>
            </a:solidFill>
            <a:prstDash val="solid"/>
            <a:tailEnd type="triangle"/>
          </a:ln>
        </p:spPr>
      </p:sp>
      <p:sp>
        <p:nvSpPr>
          <p:cNvPr id="86" name="Shape 84"/>
          <p:cNvSpPr/>
          <p:nvPr/>
        </p:nvSpPr>
        <p:spPr>
          <a:xfrm>
            <a:off x="6035040" y="4617720"/>
            <a:ext cx="804672" cy="566928"/>
          </a:xfrm>
          <a:prstGeom prst="roundRect">
            <a:avLst>
              <a:gd name="adj" fmla="val 9677"/>
            </a:avLst>
          </a:prstGeom>
          <a:solidFill>
            <a:srgbClr val="FFFFFF"/>
          </a:solidFill>
          <a:ln w="15875">
            <a:solidFill>
              <a:srgbClr val="E39A2F"/>
            </a:solidFill>
            <a:prstDash val="solid"/>
          </a:ln>
        </p:spPr>
      </p:sp>
      <p:sp>
        <p:nvSpPr>
          <p:cNvPr id="87" name="Text 85"/>
          <p:cNvSpPr/>
          <p:nvPr/>
        </p:nvSpPr>
        <p:spPr>
          <a:xfrm>
            <a:off x="6071616" y="4617720"/>
            <a:ext cx="731520"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response</a:t>
            </a:r>
            <a:endParaRPr lang="en-US" sz="1000" dirty="0"/>
          </a:p>
        </p:txBody>
      </p:sp>
      <p:sp>
        <p:nvSpPr>
          <p:cNvPr id="88" name="Text 86"/>
          <p:cNvSpPr/>
          <p:nvPr/>
        </p:nvSpPr>
        <p:spPr>
          <a:xfrm>
            <a:off x="548640" y="4315968"/>
            <a:ext cx="3200400" cy="256032"/>
          </a:xfrm>
          <a:prstGeom prst="rect">
            <a:avLst/>
          </a:prstGeom>
          <a:noFill/>
          <a:ln/>
        </p:spPr>
        <p:txBody>
          <a:bodyPr wrap="square" lIns="0" tIns="0" rIns="0" bIns="0" rtlCol="0" anchor="ctr"/>
          <a:lstStyle/>
          <a:p>
            <a:pPr algn="l" indent="0" marL="0">
              <a:buNone/>
            </a:pPr>
            <a:r>
              <a:rPr lang="en-US" sz="1050" b="1" dirty="0">
                <a:solidFill>
                  <a:srgbClr val="B8730A"/>
                </a:solidFill>
                <a:latin typeface="Calibri" pitchFamily="34" charset="0"/>
                <a:ea typeface="Calibri" pitchFamily="34" charset="-122"/>
                <a:cs typeface="Calibri" pitchFamily="34" charset="-120"/>
              </a:rPr>
              <a:t>response: muscle contracts, hand pulled away</a:t>
            </a:r>
            <a:endParaRPr lang="en-US" sz="1050" dirty="0"/>
          </a:p>
        </p:txBody>
      </p:sp>
      <p:sp>
        <p:nvSpPr>
          <p:cNvPr id="89" name="Shape 87"/>
          <p:cNvSpPr/>
          <p:nvPr/>
        </p:nvSpPr>
        <p:spPr>
          <a:xfrm>
            <a:off x="7315200" y="1188720"/>
            <a:ext cx="4465015" cy="2697480"/>
          </a:xfrm>
          <a:prstGeom prst="roundRect">
            <a:avLst>
              <a:gd name="adj" fmla="val 2034"/>
            </a:avLst>
          </a:prstGeom>
          <a:solidFill>
            <a:srgbClr val="F4FAF9"/>
          </a:solidFill>
          <a:ln w="9525">
            <a:solidFill>
              <a:srgbClr val="CFE0DE"/>
            </a:solidFill>
            <a:prstDash val="solid"/>
          </a:ln>
        </p:spPr>
      </p:sp>
      <p:sp>
        <p:nvSpPr>
          <p:cNvPr id="90" name="Text 88"/>
          <p:cNvSpPr/>
          <p:nvPr/>
        </p:nvSpPr>
        <p:spPr>
          <a:xfrm>
            <a:off x="7479792" y="1280160"/>
            <a:ext cx="413583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the reflex arc works</a:t>
            </a:r>
            <a:endParaRPr lang="en-US" sz="1300" dirty="0"/>
          </a:p>
        </p:txBody>
      </p:sp>
      <p:sp>
        <p:nvSpPr>
          <p:cNvPr id="91" name="Text 89"/>
          <p:cNvSpPr/>
          <p:nvPr/>
        </p:nvSpPr>
        <p:spPr>
          <a:xfrm>
            <a:off x="7479792" y="1609344"/>
            <a:ext cx="4135831" cy="22037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a:t>
            </a:r>
            <a:r>
              <a:rPr lang="en-US" sz="1050" b="1" dirty="0">
                <a:solidFill>
                  <a:srgbClr val="262B3A"/>
                </a:solidFill>
                <a:latin typeface="Calibri" pitchFamily="34" charset="0"/>
                <a:ea typeface="Calibri" pitchFamily="34" charset="-122"/>
                <a:cs typeface="Calibri" pitchFamily="34" charset="-120"/>
              </a:rPr>
              <a:t>reflex</a:t>
            </a:r>
            <a:r>
              <a:rPr lang="en-US" sz="1050" dirty="0">
                <a:solidFill>
                  <a:srgbClr val="262B3A"/>
                </a:solidFill>
                <a:latin typeface="Calibri" pitchFamily="34" charset="0"/>
                <a:ea typeface="Calibri" pitchFamily="34" charset="-122"/>
                <a:cs typeface="Calibri" pitchFamily="34" charset="-120"/>
              </a:rPr>
              <a:t> is a fast, automatic response that does not need the conscious brain.</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Receptor</a:t>
            </a:r>
            <a:r>
              <a:rPr lang="en-US" sz="1050" dirty="0">
                <a:solidFill>
                  <a:srgbClr val="262B3A"/>
                </a:solidFill>
                <a:latin typeface="Calibri" pitchFamily="34" charset="0"/>
                <a:ea typeface="Calibri" pitchFamily="34" charset="-122"/>
                <a:cs typeface="Calibri" pitchFamily="34" charset="-120"/>
              </a:rPr>
              <a:t> detects the stimulus → impulse along the </a:t>
            </a:r>
            <a:r>
              <a:rPr lang="en-US" sz="1050" b="1" dirty="0">
                <a:solidFill>
                  <a:srgbClr val="262B3A"/>
                </a:solidFill>
                <a:latin typeface="Calibri" pitchFamily="34" charset="0"/>
                <a:ea typeface="Calibri" pitchFamily="34" charset="-122"/>
                <a:cs typeface="Calibri" pitchFamily="34" charset="-120"/>
              </a:rPr>
              <a:t>sensory neurone</a:t>
            </a:r>
            <a:r>
              <a:rPr lang="en-US" sz="1050" dirty="0">
                <a:solidFill>
                  <a:srgbClr val="262B3A"/>
                </a:solidFill>
                <a:latin typeface="Calibri" pitchFamily="34" charset="0"/>
                <a:ea typeface="Calibri" pitchFamily="34" charset="-122"/>
                <a:cs typeface="Calibri" pitchFamily="34" charset="-120"/>
              </a:rPr>
              <a:t> to the spinal cord.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At a </a:t>
            </a:r>
            <a:r>
              <a:rPr lang="en-US" sz="1050" b="1" dirty="0">
                <a:solidFill>
                  <a:srgbClr val="262B3A"/>
                </a:solidFill>
                <a:latin typeface="Calibri" pitchFamily="34" charset="0"/>
                <a:ea typeface="Calibri" pitchFamily="34" charset="-122"/>
                <a:cs typeface="Calibri" pitchFamily="34" charset="-120"/>
              </a:rPr>
              <a:t>synapse</a:t>
            </a:r>
            <a:r>
              <a:rPr lang="en-US" sz="1050" dirty="0">
                <a:solidFill>
                  <a:srgbClr val="262B3A"/>
                </a:solidFill>
                <a:latin typeface="Calibri" pitchFamily="34" charset="0"/>
                <a:ea typeface="Calibri" pitchFamily="34" charset="-122"/>
                <a:cs typeface="Calibri" pitchFamily="34" charset="-120"/>
              </a:rPr>
              <a:t> it passes to a </a:t>
            </a:r>
            <a:r>
              <a:rPr lang="en-US" sz="1050" b="1" dirty="0">
                <a:solidFill>
                  <a:srgbClr val="262B3A"/>
                </a:solidFill>
                <a:latin typeface="Calibri" pitchFamily="34" charset="0"/>
                <a:ea typeface="Calibri" pitchFamily="34" charset="-122"/>
                <a:cs typeface="Calibri" pitchFamily="34" charset="-120"/>
              </a:rPr>
              <a:t>relay neurone</a:t>
            </a:r>
            <a:r>
              <a:rPr lang="en-US" sz="1050" dirty="0">
                <a:solidFill>
                  <a:srgbClr val="262B3A"/>
                </a:solidFill>
                <a:latin typeface="Calibri" pitchFamily="34" charset="0"/>
                <a:ea typeface="Calibri" pitchFamily="34" charset="-122"/>
                <a:cs typeface="Calibri" pitchFamily="34" charset="-120"/>
              </a:rPr>
              <a:t> in the CNS, then to a </a:t>
            </a:r>
            <a:r>
              <a:rPr lang="en-US" sz="1050" b="1" dirty="0">
                <a:solidFill>
                  <a:srgbClr val="262B3A"/>
                </a:solidFill>
                <a:latin typeface="Calibri" pitchFamily="34" charset="0"/>
                <a:ea typeface="Calibri" pitchFamily="34" charset="-122"/>
                <a:cs typeface="Calibri" pitchFamily="34" charset="-120"/>
              </a:rPr>
              <a:t>motor neurone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a:t>
            </a:r>
            <a:r>
              <a:rPr lang="en-US" sz="1050" b="1" dirty="0">
                <a:solidFill>
                  <a:srgbClr val="262B3A"/>
                </a:solidFill>
                <a:latin typeface="Calibri" pitchFamily="34" charset="0"/>
                <a:ea typeface="Calibri" pitchFamily="34" charset="-122"/>
                <a:cs typeface="Calibri" pitchFamily="34" charset="-120"/>
              </a:rPr>
              <a:t>effector</a:t>
            </a:r>
            <a:r>
              <a:rPr lang="en-US" sz="1050" dirty="0">
                <a:solidFill>
                  <a:srgbClr val="262B3A"/>
                </a:solidFill>
                <a:latin typeface="Calibri" pitchFamily="34" charset="0"/>
                <a:ea typeface="Calibri" pitchFamily="34" charset="-122"/>
                <a:cs typeface="Calibri" pitchFamily="34" charset="-120"/>
              </a:rPr>
              <a:t> (muscle) contracts and pulls the hand away.</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Only </a:t>
            </a:r>
            <a:r>
              <a:rPr lang="en-US" sz="1050" b="1" dirty="0">
                <a:solidFill>
                  <a:srgbClr val="262B3A"/>
                </a:solidFill>
                <a:latin typeface="Calibri" pitchFamily="34" charset="0"/>
                <a:ea typeface="Calibri" pitchFamily="34" charset="-122"/>
                <a:cs typeface="Calibri" pitchFamily="34" charset="-120"/>
              </a:rPr>
              <a:t>three neurones</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two synapses</a:t>
            </a:r>
            <a:r>
              <a:rPr lang="en-US" sz="1050" dirty="0">
                <a:solidFill>
                  <a:srgbClr val="262B3A"/>
                </a:solidFill>
                <a:latin typeface="Calibri" pitchFamily="34" charset="0"/>
                <a:ea typeface="Calibri" pitchFamily="34" charset="-122"/>
                <a:cs typeface="Calibri" pitchFamily="34" charset="-120"/>
              </a:rPr>
              <a:t>, and the impulse does not go via the brain, so it is very fast.</a:t>
            </a:r>
            <a:endParaRPr lang="en-US" sz="1050" dirty="0"/>
          </a:p>
        </p:txBody>
      </p:sp>
      <p:sp>
        <p:nvSpPr>
          <p:cNvPr id="92" name="Shape 90"/>
          <p:cNvSpPr/>
          <p:nvPr/>
        </p:nvSpPr>
        <p:spPr>
          <a:xfrm>
            <a:off x="7315200" y="4023360"/>
            <a:ext cx="4465015" cy="1691640"/>
          </a:xfrm>
          <a:prstGeom prst="roundRect">
            <a:avLst>
              <a:gd name="adj" fmla="val 3243"/>
            </a:avLst>
          </a:prstGeom>
          <a:solidFill>
            <a:srgbClr val="FFF4E0"/>
          </a:solidFill>
          <a:ln w="9525">
            <a:solidFill>
              <a:srgbClr val="F1D9A8"/>
            </a:solidFill>
            <a:prstDash val="solid"/>
          </a:ln>
        </p:spPr>
      </p:sp>
      <p:sp>
        <p:nvSpPr>
          <p:cNvPr id="93" name="Text 91"/>
          <p:cNvSpPr/>
          <p:nvPr/>
        </p:nvSpPr>
        <p:spPr>
          <a:xfrm>
            <a:off x="7479792" y="4096512"/>
            <a:ext cx="413583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why so fast?</a:t>
            </a:r>
            <a:endParaRPr lang="en-US" sz="1300" dirty="0"/>
          </a:p>
        </p:txBody>
      </p:sp>
      <p:sp>
        <p:nvSpPr>
          <p:cNvPr id="94" name="Text 92"/>
          <p:cNvSpPr/>
          <p:nvPr/>
        </p:nvSpPr>
        <p:spPr>
          <a:xfrm>
            <a:off x="7479792" y="4407408"/>
            <a:ext cx="4135831"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reflex pathway is 1.5 m long. Impulses travel at 75 m/s. Find the time.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time = distance ÷ speed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1.5 m ÷ 75 m/s = 0.02 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20 ms: much faster than a reaction (about 200 ms)</a:t>
            </a:r>
            <a:endParaRPr lang="en-US" sz="1050" dirty="0"/>
          </a:p>
        </p:txBody>
      </p:sp>
      <p:sp>
        <p:nvSpPr>
          <p:cNvPr id="95" name="Shape 93"/>
          <p:cNvSpPr/>
          <p:nvPr/>
        </p:nvSpPr>
        <p:spPr>
          <a:xfrm>
            <a:off x="411480" y="5833872"/>
            <a:ext cx="11368735" cy="530352"/>
          </a:xfrm>
          <a:prstGeom prst="rect">
            <a:avLst/>
          </a:prstGeom>
          <a:solidFill>
            <a:srgbClr val="FFF4E0"/>
          </a:solidFill>
          <a:ln w="6350">
            <a:solidFill>
              <a:srgbClr val="F1D9A8"/>
            </a:solidFill>
            <a:prstDash val="solid"/>
          </a:ln>
        </p:spPr>
      </p:sp>
      <p:sp>
        <p:nvSpPr>
          <p:cNvPr id="96" name="Shape 94"/>
          <p:cNvSpPr/>
          <p:nvPr/>
        </p:nvSpPr>
        <p:spPr>
          <a:xfrm>
            <a:off x="411480" y="5833872"/>
            <a:ext cx="82296" cy="530352"/>
          </a:xfrm>
          <a:prstGeom prst="rect">
            <a:avLst/>
          </a:prstGeom>
          <a:solidFill>
            <a:srgbClr val="E39A2F"/>
          </a:solidFill>
          <a:ln w="12700">
            <a:solidFill>
              <a:srgbClr val="E39A2F"/>
            </a:solidFill>
            <a:prstDash val="solid"/>
          </a:ln>
        </p:spPr>
      </p:sp>
      <p:sp>
        <p:nvSpPr>
          <p:cNvPr id="97" name="Text 9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relay neurone important in a reflex arc? Why does a reflex </a:t>
            </a:r>
            <a:r>
              <a:rPr lang="en-US" sz="1150" b="1" dirty="0">
                <a:solidFill>
                  <a:srgbClr val="262B3A"/>
                </a:solidFill>
                <a:latin typeface="Calibri" pitchFamily="34" charset="0"/>
                <a:ea typeface="Calibri" pitchFamily="34" charset="-122"/>
                <a:cs typeface="Calibri" pitchFamily="34" charset="-120"/>
              </a:rPr>
              <a:t>protect</a:t>
            </a:r>
            <a:r>
              <a:rPr lang="en-US" sz="1150" dirty="0">
                <a:solidFill>
                  <a:srgbClr val="262B3A"/>
                </a:solidFill>
                <a:latin typeface="Calibri" pitchFamily="34" charset="0"/>
                <a:ea typeface="Calibri" pitchFamily="34" charset="-122"/>
                <a:cs typeface="Calibri" pitchFamily="34" charset="-120"/>
              </a:rPr>
              <a:t> the body?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Reflex and voluntary responses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B5.2.3 • reflexes skip the conscious brain; voluntary actions do not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B5.2.3  |  13</a:t>
            </a:r>
            <a:endParaRPr lang="en-US" sz="1000" dirty="0"/>
          </a:p>
        </p:txBody>
      </p:sp>
      <p:sp>
        <p:nvSpPr>
          <p:cNvPr id="8" name="Shape 6"/>
          <p:cNvSpPr/>
          <p:nvPr/>
        </p:nvSpPr>
        <p:spPr>
          <a:xfrm>
            <a:off x="411480" y="1188720"/>
            <a:ext cx="585216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5778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routes for an impulse; boxes are parts of the pathway</a:t>
            </a:r>
            <a:endParaRPr lang="en-US" sz="1000" dirty="0"/>
          </a:p>
        </p:txBody>
      </p:sp>
      <p:sp>
        <p:nvSpPr>
          <p:cNvPr id="10" name="Text 8"/>
          <p:cNvSpPr/>
          <p:nvPr/>
        </p:nvSpPr>
        <p:spPr>
          <a:xfrm>
            <a:off x="548640" y="1298448"/>
            <a:ext cx="5486400" cy="256032"/>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Reflex</a:t>
            </a:r>
            <a:r>
              <a:rPr lang="en-US" sz="1100" dirty="0">
                <a:solidFill>
                  <a:srgbClr val="2E8B57"/>
                </a:solidFill>
                <a:latin typeface="Calibri" pitchFamily="34" charset="0"/>
                <a:ea typeface="Calibri" pitchFamily="34" charset="-122"/>
                <a:cs typeface="Calibri" pitchFamily="34" charset="-120"/>
              </a:rPr>
              <a:t>: hand touches a hot pan</a:t>
            </a:r>
            <a:endParaRPr lang="en-US" sz="1100" dirty="0"/>
          </a:p>
        </p:txBody>
      </p:sp>
      <p:sp>
        <p:nvSpPr>
          <p:cNvPr id="11" name="Shape 9"/>
          <p:cNvSpPr/>
          <p:nvPr/>
        </p:nvSpPr>
        <p:spPr>
          <a:xfrm>
            <a:off x="640080" y="1645920"/>
            <a:ext cx="1554480" cy="502920"/>
          </a:xfrm>
          <a:prstGeom prst="roundRect">
            <a:avLst>
              <a:gd name="adj" fmla="val 10909"/>
            </a:avLst>
          </a:prstGeom>
          <a:solidFill>
            <a:srgbClr val="FFFFFF"/>
          </a:solidFill>
          <a:ln w="15875">
            <a:solidFill>
              <a:srgbClr val="2F6DB5"/>
            </a:solidFill>
            <a:prstDash val="solid"/>
          </a:ln>
        </p:spPr>
      </p:sp>
      <p:sp>
        <p:nvSpPr>
          <p:cNvPr id="12" name="Text 10"/>
          <p:cNvSpPr/>
          <p:nvPr/>
        </p:nvSpPr>
        <p:spPr>
          <a:xfrm>
            <a:off x="676656" y="1645920"/>
            <a:ext cx="1481328" cy="5029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receptor (skin)</a:t>
            </a:r>
            <a:endParaRPr lang="en-US" sz="1050" dirty="0"/>
          </a:p>
        </p:txBody>
      </p:sp>
      <p:sp>
        <p:nvSpPr>
          <p:cNvPr id="13" name="Shape 11"/>
          <p:cNvSpPr/>
          <p:nvPr/>
        </p:nvSpPr>
        <p:spPr>
          <a:xfrm>
            <a:off x="2194560" y="1901952"/>
            <a:ext cx="320040" cy="91"/>
          </a:xfrm>
          <a:prstGeom prst="line">
            <a:avLst/>
          </a:prstGeom>
          <a:noFill/>
          <a:ln w="19050">
            <a:solidFill>
              <a:srgbClr val="133536"/>
            </a:solidFill>
            <a:prstDash val="solid"/>
            <a:tailEnd type="triangle"/>
          </a:ln>
        </p:spPr>
      </p:sp>
      <p:sp>
        <p:nvSpPr>
          <p:cNvPr id="14" name="Shape 12"/>
          <p:cNvSpPr/>
          <p:nvPr/>
        </p:nvSpPr>
        <p:spPr>
          <a:xfrm>
            <a:off x="2514600" y="1645920"/>
            <a:ext cx="1554480" cy="502920"/>
          </a:xfrm>
          <a:prstGeom prst="roundRect">
            <a:avLst>
              <a:gd name="adj" fmla="val 10909"/>
            </a:avLst>
          </a:prstGeom>
          <a:solidFill>
            <a:srgbClr val="FFFFFF"/>
          </a:solidFill>
          <a:ln w="15875">
            <a:solidFill>
              <a:srgbClr val="2E8B57"/>
            </a:solidFill>
            <a:prstDash val="solid"/>
          </a:ln>
        </p:spPr>
      </p:sp>
      <p:sp>
        <p:nvSpPr>
          <p:cNvPr id="15" name="Text 13"/>
          <p:cNvSpPr/>
          <p:nvPr/>
        </p:nvSpPr>
        <p:spPr>
          <a:xfrm>
            <a:off x="2551176" y="1645920"/>
            <a:ext cx="1481328" cy="5029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spinal cord (relay)</a:t>
            </a:r>
            <a:endParaRPr lang="en-US" sz="1050" dirty="0"/>
          </a:p>
        </p:txBody>
      </p:sp>
      <p:sp>
        <p:nvSpPr>
          <p:cNvPr id="16" name="Shape 14"/>
          <p:cNvSpPr/>
          <p:nvPr/>
        </p:nvSpPr>
        <p:spPr>
          <a:xfrm>
            <a:off x="4069080" y="1901952"/>
            <a:ext cx="320040" cy="91"/>
          </a:xfrm>
          <a:prstGeom prst="line">
            <a:avLst/>
          </a:prstGeom>
          <a:noFill/>
          <a:ln w="19050">
            <a:solidFill>
              <a:srgbClr val="133536"/>
            </a:solidFill>
            <a:prstDash val="solid"/>
            <a:tailEnd type="triangle"/>
          </a:ln>
        </p:spPr>
      </p:sp>
      <p:sp>
        <p:nvSpPr>
          <p:cNvPr id="17" name="Shape 15"/>
          <p:cNvSpPr/>
          <p:nvPr/>
        </p:nvSpPr>
        <p:spPr>
          <a:xfrm>
            <a:off x="4389120" y="1645920"/>
            <a:ext cx="1554480" cy="502920"/>
          </a:xfrm>
          <a:prstGeom prst="roundRect">
            <a:avLst>
              <a:gd name="adj" fmla="val 10909"/>
            </a:avLst>
          </a:prstGeom>
          <a:solidFill>
            <a:srgbClr val="FFFFFF"/>
          </a:solidFill>
          <a:ln w="15875">
            <a:solidFill>
              <a:srgbClr val="C8414C"/>
            </a:solidFill>
            <a:prstDash val="solid"/>
          </a:ln>
        </p:spPr>
      </p:sp>
      <p:sp>
        <p:nvSpPr>
          <p:cNvPr id="18" name="Text 16"/>
          <p:cNvSpPr/>
          <p:nvPr/>
        </p:nvSpPr>
        <p:spPr>
          <a:xfrm>
            <a:off x="4425696" y="1645920"/>
            <a:ext cx="1481328" cy="5029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muscle</a:t>
            </a:r>
            <a:endParaRPr lang="en-US" sz="1050" dirty="0"/>
          </a:p>
        </p:txBody>
      </p:sp>
      <p:sp>
        <p:nvSpPr>
          <p:cNvPr id="19" name="Text 17"/>
          <p:cNvSpPr/>
          <p:nvPr/>
        </p:nvSpPr>
        <p:spPr>
          <a:xfrm>
            <a:off x="640080" y="2212848"/>
            <a:ext cx="5303520" cy="256032"/>
          </a:xfrm>
          <a:prstGeom prst="rect">
            <a:avLst/>
          </a:prstGeom>
          <a:noFill/>
          <a:ln/>
        </p:spPr>
        <p:txBody>
          <a:bodyPr wrap="square" lIns="0" tIns="0" rIns="0" bIns="0" rtlCol="0" anchor="ctr"/>
          <a:lstStyle/>
          <a:p>
            <a:pPr algn="l" indent="0" marL="0">
              <a:buNone/>
            </a:pPr>
            <a:r>
              <a:rPr lang="en-US" sz="1050" dirty="0">
                <a:solidFill>
                  <a:srgbClr val="6B7385"/>
                </a:solidFill>
                <a:latin typeface="Calibri" pitchFamily="34" charset="0"/>
                <a:ea typeface="Calibri" pitchFamily="34" charset="-122"/>
                <a:cs typeface="Calibri" pitchFamily="34" charset="-120"/>
              </a:rPr>
              <a:t>3 neurones • 2 synapses • no decision • about </a:t>
            </a:r>
            <a:r>
              <a:rPr lang="en-US" sz="1050" b="1" dirty="0">
                <a:solidFill>
                  <a:srgbClr val="6B7385"/>
                </a:solidFill>
                <a:latin typeface="Calibri" pitchFamily="34" charset="0"/>
                <a:ea typeface="Calibri" pitchFamily="34" charset="-122"/>
                <a:cs typeface="Calibri" pitchFamily="34" charset="-120"/>
              </a:rPr>
              <a:t>0.02–0.05 s</a:t>
            </a:r>
            <a:endParaRPr lang="en-US" sz="1050" dirty="0"/>
          </a:p>
        </p:txBody>
      </p:sp>
      <p:sp>
        <p:nvSpPr>
          <p:cNvPr id="20" name="Text 18"/>
          <p:cNvSpPr/>
          <p:nvPr/>
        </p:nvSpPr>
        <p:spPr>
          <a:xfrm>
            <a:off x="548640" y="2697480"/>
            <a:ext cx="548640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Voluntary</a:t>
            </a:r>
            <a:r>
              <a:rPr lang="en-US" sz="1100" dirty="0">
                <a:solidFill>
                  <a:srgbClr val="0D7877"/>
                </a:solidFill>
                <a:latin typeface="Calibri" pitchFamily="34" charset="0"/>
                <a:ea typeface="Calibri" pitchFamily="34" charset="-122"/>
                <a:cs typeface="Calibri" pitchFamily="34" charset="-120"/>
              </a:rPr>
              <a:t>: you decide to catch a falling ruler</a:t>
            </a:r>
            <a:endParaRPr lang="en-US" sz="1100" dirty="0"/>
          </a:p>
        </p:txBody>
      </p:sp>
      <p:sp>
        <p:nvSpPr>
          <p:cNvPr id="21" name="Shape 19"/>
          <p:cNvSpPr/>
          <p:nvPr/>
        </p:nvSpPr>
        <p:spPr>
          <a:xfrm>
            <a:off x="640080" y="3044952"/>
            <a:ext cx="1143000" cy="502920"/>
          </a:xfrm>
          <a:prstGeom prst="roundRect">
            <a:avLst>
              <a:gd name="adj" fmla="val 10909"/>
            </a:avLst>
          </a:prstGeom>
          <a:solidFill>
            <a:srgbClr val="FFFFFF"/>
          </a:solidFill>
          <a:ln w="15875">
            <a:solidFill>
              <a:srgbClr val="2F6DB5"/>
            </a:solidFill>
            <a:prstDash val="solid"/>
          </a:ln>
        </p:spPr>
      </p:sp>
      <p:sp>
        <p:nvSpPr>
          <p:cNvPr id="22" name="Text 20"/>
          <p:cNvSpPr/>
          <p:nvPr/>
        </p:nvSpPr>
        <p:spPr>
          <a:xfrm>
            <a:off x="676656" y="3044952"/>
            <a:ext cx="1069848" cy="50292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receptor (eye)</a:t>
            </a:r>
            <a:endParaRPr lang="en-US" sz="1000" dirty="0"/>
          </a:p>
        </p:txBody>
      </p:sp>
      <p:sp>
        <p:nvSpPr>
          <p:cNvPr id="23" name="Shape 21"/>
          <p:cNvSpPr/>
          <p:nvPr/>
        </p:nvSpPr>
        <p:spPr>
          <a:xfrm>
            <a:off x="1783080" y="3291840"/>
            <a:ext cx="256032" cy="91"/>
          </a:xfrm>
          <a:prstGeom prst="line">
            <a:avLst/>
          </a:prstGeom>
          <a:noFill/>
          <a:ln w="19050">
            <a:solidFill>
              <a:srgbClr val="133536"/>
            </a:solidFill>
            <a:prstDash val="solid"/>
            <a:tailEnd type="triangle"/>
          </a:ln>
        </p:spPr>
      </p:sp>
      <p:sp>
        <p:nvSpPr>
          <p:cNvPr id="24" name="Shape 22"/>
          <p:cNvSpPr/>
          <p:nvPr/>
        </p:nvSpPr>
        <p:spPr>
          <a:xfrm>
            <a:off x="2039112" y="3044952"/>
            <a:ext cx="1143000" cy="502920"/>
          </a:xfrm>
          <a:prstGeom prst="roundRect">
            <a:avLst>
              <a:gd name="adj" fmla="val 10909"/>
            </a:avLst>
          </a:prstGeom>
          <a:solidFill>
            <a:srgbClr val="FFFFFF"/>
          </a:solidFill>
          <a:ln w="15875">
            <a:solidFill>
              <a:srgbClr val="8A7AA8"/>
            </a:solidFill>
            <a:prstDash val="solid"/>
          </a:ln>
        </p:spPr>
      </p:sp>
      <p:sp>
        <p:nvSpPr>
          <p:cNvPr id="25" name="Text 23"/>
          <p:cNvSpPr/>
          <p:nvPr/>
        </p:nvSpPr>
        <p:spPr>
          <a:xfrm>
            <a:off x="2075688" y="3044952"/>
            <a:ext cx="1069848" cy="50292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brain: decide</a:t>
            </a:r>
            <a:endParaRPr lang="en-US" sz="1000" dirty="0"/>
          </a:p>
        </p:txBody>
      </p:sp>
      <p:sp>
        <p:nvSpPr>
          <p:cNvPr id="26" name="Shape 24"/>
          <p:cNvSpPr/>
          <p:nvPr/>
        </p:nvSpPr>
        <p:spPr>
          <a:xfrm>
            <a:off x="3182112" y="3291840"/>
            <a:ext cx="256032" cy="91"/>
          </a:xfrm>
          <a:prstGeom prst="line">
            <a:avLst/>
          </a:prstGeom>
          <a:noFill/>
          <a:ln w="19050">
            <a:solidFill>
              <a:srgbClr val="133536"/>
            </a:solidFill>
            <a:prstDash val="solid"/>
            <a:tailEnd type="triangle"/>
          </a:ln>
        </p:spPr>
      </p:sp>
      <p:sp>
        <p:nvSpPr>
          <p:cNvPr id="27" name="Shape 25"/>
          <p:cNvSpPr/>
          <p:nvPr/>
        </p:nvSpPr>
        <p:spPr>
          <a:xfrm>
            <a:off x="3438144" y="3044952"/>
            <a:ext cx="1143000" cy="502920"/>
          </a:xfrm>
          <a:prstGeom prst="roundRect">
            <a:avLst>
              <a:gd name="adj" fmla="val 10909"/>
            </a:avLst>
          </a:prstGeom>
          <a:solidFill>
            <a:srgbClr val="FFFFFF"/>
          </a:solidFill>
          <a:ln w="15875">
            <a:solidFill>
              <a:srgbClr val="2E8B57"/>
            </a:solidFill>
            <a:prstDash val="solid"/>
          </a:ln>
        </p:spPr>
      </p:sp>
      <p:sp>
        <p:nvSpPr>
          <p:cNvPr id="28" name="Text 26"/>
          <p:cNvSpPr/>
          <p:nvPr/>
        </p:nvSpPr>
        <p:spPr>
          <a:xfrm>
            <a:off x="3474720" y="3044952"/>
            <a:ext cx="1069848" cy="50292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spinal cord</a:t>
            </a:r>
            <a:endParaRPr lang="en-US" sz="1000" dirty="0"/>
          </a:p>
        </p:txBody>
      </p:sp>
      <p:sp>
        <p:nvSpPr>
          <p:cNvPr id="29" name="Shape 27"/>
          <p:cNvSpPr/>
          <p:nvPr/>
        </p:nvSpPr>
        <p:spPr>
          <a:xfrm>
            <a:off x="4581144" y="3291840"/>
            <a:ext cx="256032" cy="91"/>
          </a:xfrm>
          <a:prstGeom prst="line">
            <a:avLst/>
          </a:prstGeom>
          <a:noFill/>
          <a:ln w="19050">
            <a:solidFill>
              <a:srgbClr val="133536"/>
            </a:solidFill>
            <a:prstDash val="solid"/>
            <a:tailEnd type="triangle"/>
          </a:ln>
        </p:spPr>
      </p:sp>
      <p:sp>
        <p:nvSpPr>
          <p:cNvPr id="30" name="Shape 28"/>
          <p:cNvSpPr/>
          <p:nvPr/>
        </p:nvSpPr>
        <p:spPr>
          <a:xfrm>
            <a:off x="4837176" y="3044952"/>
            <a:ext cx="1143000" cy="502920"/>
          </a:xfrm>
          <a:prstGeom prst="roundRect">
            <a:avLst>
              <a:gd name="adj" fmla="val 10909"/>
            </a:avLst>
          </a:prstGeom>
          <a:solidFill>
            <a:srgbClr val="FFFFFF"/>
          </a:solidFill>
          <a:ln w="15875">
            <a:solidFill>
              <a:srgbClr val="C8414C"/>
            </a:solidFill>
            <a:prstDash val="solid"/>
          </a:ln>
        </p:spPr>
      </p:sp>
      <p:sp>
        <p:nvSpPr>
          <p:cNvPr id="31" name="Text 29"/>
          <p:cNvSpPr/>
          <p:nvPr/>
        </p:nvSpPr>
        <p:spPr>
          <a:xfrm>
            <a:off x="4873752" y="3044952"/>
            <a:ext cx="1069848" cy="50292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muscle</a:t>
            </a:r>
            <a:endParaRPr lang="en-US" sz="1000" dirty="0"/>
          </a:p>
        </p:txBody>
      </p:sp>
      <p:sp>
        <p:nvSpPr>
          <p:cNvPr id="32" name="Text 30"/>
          <p:cNvSpPr/>
          <p:nvPr/>
        </p:nvSpPr>
        <p:spPr>
          <a:xfrm>
            <a:off x="640080" y="3611880"/>
            <a:ext cx="5303520" cy="256032"/>
          </a:xfrm>
          <a:prstGeom prst="rect">
            <a:avLst/>
          </a:prstGeom>
          <a:noFill/>
          <a:ln/>
        </p:spPr>
        <p:txBody>
          <a:bodyPr wrap="square" lIns="0" tIns="0" rIns="0" bIns="0" rtlCol="0" anchor="ctr"/>
          <a:lstStyle/>
          <a:p>
            <a:pPr algn="l" indent="0" marL="0">
              <a:buNone/>
            </a:pPr>
            <a:r>
              <a:rPr lang="en-US" sz="1050" dirty="0">
                <a:solidFill>
                  <a:srgbClr val="6B7385"/>
                </a:solidFill>
                <a:latin typeface="Calibri" pitchFamily="34" charset="0"/>
                <a:ea typeface="Calibri" pitchFamily="34" charset="-122"/>
                <a:cs typeface="Calibri" pitchFamily="34" charset="-120"/>
              </a:rPr>
              <a:t>longer path • many synapses • conscious decision • about </a:t>
            </a:r>
            <a:r>
              <a:rPr lang="en-US" sz="1050" b="1" dirty="0">
                <a:solidFill>
                  <a:srgbClr val="6B7385"/>
                </a:solidFill>
                <a:latin typeface="Calibri" pitchFamily="34" charset="0"/>
                <a:ea typeface="Calibri" pitchFamily="34" charset="-122"/>
                <a:cs typeface="Calibri" pitchFamily="34" charset="-120"/>
              </a:rPr>
              <a:t>0.2 s</a:t>
            </a:r>
            <a:endParaRPr lang="en-US" sz="1050" dirty="0"/>
          </a:p>
        </p:txBody>
      </p:sp>
      <p:sp>
        <p:nvSpPr>
          <p:cNvPr id="33" name="Shape 31"/>
          <p:cNvSpPr/>
          <p:nvPr/>
        </p:nvSpPr>
        <p:spPr>
          <a:xfrm>
            <a:off x="594360" y="4023360"/>
            <a:ext cx="5486400" cy="1325880"/>
          </a:xfrm>
          <a:prstGeom prst="roundRect">
            <a:avLst>
              <a:gd name="adj" fmla="val 3448"/>
            </a:avLst>
          </a:prstGeom>
          <a:solidFill>
            <a:srgbClr val="FFFFFF"/>
          </a:solidFill>
          <a:ln w="12700">
            <a:solidFill>
              <a:srgbClr val="CFE0DE"/>
            </a:solidFill>
            <a:prstDash val="solid"/>
          </a:ln>
        </p:spPr>
      </p:sp>
      <p:sp>
        <p:nvSpPr>
          <p:cNvPr id="34" name="Text 32"/>
          <p:cNvSpPr/>
          <p:nvPr/>
        </p:nvSpPr>
        <p:spPr>
          <a:xfrm>
            <a:off x="731520" y="4069080"/>
            <a:ext cx="530352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Examples of reflexes</a:t>
            </a:r>
            <a:endParaRPr lang="en-US" sz="1100" dirty="0"/>
          </a:p>
        </p:txBody>
      </p:sp>
      <p:sp>
        <p:nvSpPr>
          <p:cNvPr id="35" name="Text 33"/>
          <p:cNvSpPr/>
          <p:nvPr/>
        </p:nvSpPr>
        <p:spPr>
          <a:xfrm>
            <a:off x="731520" y="4389120"/>
            <a:ext cx="265176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Knee jerk</a:t>
            </a:r>
            <a:r>
              <a:rPr lang="en-US" sz="1050" dirty="0">
                <a:solidFill>
                  <a:srgbClr val="262B3A"/>
                </a:solidFill>
                <a:latin typeface="Calibri" pitchFamily="34" charset="0"/>
                <a:ea typeface="Calibri" pitchFamily="34" charset="-122"/>
                <a:cs typeface="Calibri" pitchFamily="34" charset="-120"/>
              </a:rPr>
              <a:t>: tap below knee → leg kicks</a:t>
            </a:r>
            <a:endParaRPr lang="en-US" sz="1050" dirty="0"/>
          </a:p>
        </p:txBody>
      </p:sp>
      <p:sp>
        <p:nvSpPr>
          <p:cNvPr id="36" name="Text 34"/>
          <p:cNvSpPr/>
          <p:nvPr/>
        </p:nvSpPr>
        <p:spPr>
          <a:xfrm>
            <a:off x="3429000" y="4389120"/>
            <a:ext cx="265176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Blinking</a:t>
            </a:r>
            <a:r>
              <a:rPr lang="en-US" sz="1050" dirty="0">
                <a:solidFill>
                  <a:srgbClr val="262B3A"/>
                </a:solidFill>
                <a:latin typeface="Calibri" pitchFamily="34" charset="0"/>
                <a:ea typeface="Calibri" pitchFamily="34" charset="-122"/>
                <a:cs typeface="Calibri" pitchFamily="34" charset="-120"/>
              </a:rPr>
              <a:t>: object near eye → eyelid closes</a:t>
            </a:r>
            <a:endParaRPr lang="en-US" sz="1050" dirty="0"/>
          </a:p>
        </p:txBody>
      </p:sp>
      <p:sp>
        <p:nvSpPr>
          <p:cNvPr id="37" name="Text 35"/>
          <p:cNvSpPr/>
          <p:nvPr/>
        </p:nvSpPr>
        <p:spPr>
          <a:xfrm>
            <a:off x="731520" y="4828032"/>
            <a:ext cx="265176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Pupil</a:t>
            </a:r>
            <a:r>
              <a:rPr lang="en-US" sz="1050" dirty="0">
                <a:solidFill>
                  <a:srgbClr val="262B3A"/>
                </a:solidFill>
                <a:latin typeface="Calibri" pitchFamily="34" charset="0"/>
                <a:ea typeface="Calibri" pitchFamily="34" charset="-122"/>
                <a:cs typeface="Calibri" pitchFamily="34" charset="-120"/>
              </a:rPr>
              <a:t>: bright light → pupil gets smaller</a:t>
            </a:r>
            <a:endParaRPr lang="en-US" sz="1050" dirty="0"/>
          </a:p>
        </p:txBody>
      </p:sp>
      <p:sp>
        <p:nvSpPr>
          <p:cNvPr id="38" name="Text 36"/>
          <p:cNvSpPr/>
          <p:nvPr/>
        </p:nvSpPr>
        <p:spPr>
          <a:xfrm>
            <a:off x="3429000" y="4828032"/>
            <a:ext cx="265176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Withdrawal</a:t>
            </a:r>
            <a:r>
              <a:rPr lang="en-US" sz="1050" dirty="0">
                <a:solidFill>
                  <a:srgbClr val="262B3A"/>
                </a:solidFill>
                <a:latin typeface="Calibri" pitchFamily="34" charset="0"/>
                <a:ea typeface="Calibri" pitchFamily="34" charset="-122"/>
                <a:cs typeface="Calibri" pitchFamily="34" charset="-120"/>
              </a:rPr>
              <a:t>: pain → limb pulled away</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1188720"/>
          <a:ext cx="5285232" cy="914400"/>
        </p:xfrm>
        <a:graphic>
          <a:graphicData uri="http://schemas.openxmlformats.org/drawingml/2006/table">
            <a:tbl>
              <a:tblPr/>
              <a:tblGrid>
                <a:gridCol w="1188720"/>
                <a:gridCol w="2048256"/>
                <a:gridCol w="2048256"/>
              </a:tblGrid>
              <a:tr h="310896">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Reflex</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Voluntary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Conscious?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 automatic</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yes: you decide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spinal cord (or lower brain)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brain (conscious part)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Speed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fast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slower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Response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always the same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can vary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protection, survival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complex behaviour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40" name="Shape 37"/>
          <p:cNvSpPr/>
          <p:nvPr/>
        </p:nvSpPr>
        <p:spPr>
          <a:xfrm>
            <a:off x="6492240" y="3246120"/>
            <a:ext cx="5285232" cy="2468880"/>
          </a:xfrm>
          <a:prstGeom prst="roundRect">
            <a:avLst>
              <a:gd name="adj" fmla="val 2222"/>
            </a:avLst>
          </a:prstGeom>
          <a:solidFill>
            <a:srgbClr val="FFF4E0"/>
          </a:solidFill>
          <a:ln w="9525">
            <a:solidFill>
              <a:srgbClr val="F1D9A8"/>
            </a:solidFill>
            <a:prstDash val="solid"/>
          </a:ln>
        </p:spPr>
      </p:sp>
      <p:sp>
        <p:nvSpPr>
          <p:cNvPr id="41" name="Text 38"/>
          <p:cNvSpPr/>
          <p:nvPr/>
        </p:nvSpPr>
        <p:spPr>
          <a:xfrm>
            <a:off x="6656832" y="3319272"/>
            <a:ext cx="495604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compare the times</a:t>
            </a:r>
            <a:endParaRPr lang="en-US" sz="1300" dirty="0"/>
          </a:p>
        </p:txBody>
      </p:sp>
      <p:sp>
        <p:nvSpPr>
          <p:cNvPr id="42" name="Text 39"/>
          <p:cNvSpPr/>
          <p:nvPr/>
        </p:nvSpPr>
        <p:spPr>
          <a:xfrm>
            <a:off x="6656832" y="3630168"/>
            <a:ext cx="4956048" cy="2011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Voluntary path 2.4 m at 60 m/s; reflex path 1.5 m at 75 m/s. Why is a real reaction (≈ 0.2 s) much longer than either travel time?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Voluntary   </a:t>
            </a:r>
            <a:r>
              <a:rPr lang="en-US" sz="1050" dirty="0">
                <a:solidFill>
                  <a:srgbClr val="262B3A"/>
                </a:solidFill>
                <a:latin typeface="Calibri" pitchFamily="34" charset="0"/>
                <a:ea typeface="Calibri" pitchFamily="34" charset="-122"/>
                <a:cs typeface="Calibri" pitchFamily="34" charset="-120"/>
              </a:rPr>
              <a:t>2.4 ÷ 60 = 0.04 s = 40 ms of travel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Reflex   </a:t>
            </a:r>
            <a:r>
              <a:rPr lang="en-US" sz="1050" dirty="0">
                <a:solidFill>
                  <a:srgbClr val="262B3A"/>
                </a:solidFill>
                <a:latin typeface="Calibri" pitchFamily="34" charset="0"/>
                <a:ea typeface="Calibri" pitchFamily="34" charset="-122"/>
                <a:cs typeface="Calibri" pitchFamily="34" charset="-120"/>
              </a:rPr>
              <a:t>1.5 ÷ 75 = 0.02 s = 20 ms of travel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Explain   </a:t>
            </a:r>
            <a:r>
              <a:rPr lang="en-US" sz="1050" dirty="0">
                <a:solidFill>
                  <a:srgbClr val="262B3A"/>
                </a:solidFill>
                <a:latin typeface="Calibri" pitchFamily="34" charset="0"/>
                <a:ea typeface="Calibri" pitchFamily="34" charset="-122"/>
                <a:cs typeface="Calibri" pitchFamily="34" charset="-120"/>
              </a:rPr>
              <a:t>most of a reaction time is at </a:t>
            </a:r>
            <a:r>
              <a:rPr lang="en-US" sz="1050" b="1" dirty="0">
                <a:solidFill>
                  <a:srgbClr val="262B3A"/>
                </a:solidFill>
                <a:latin typeface="Calibri" pitchFamily="34" charset="0"/>
                <a:ea typeface="Calibri" pitchFamily="34" charset="-122"/>
                <a:cs typeface="Calibri" pitchFamily="34" charset="-120"/>
              </a:rPr>
              <a:t>synapses</a:t>
            </a:r>
            <a:r>
              <a:rPr lang="en-US" sz="1050" dirty="0">
                <a:solidFill>
                  <a:srgbClr val="262B3A"/>
                </a:solidFill>
                <a:latin typeface="Calibri" pitchFamily="34" charset="0"/>
                <a:ea typeface="Calibri" pitchFamily="34" charset="-122"/>
                <a:cs typeface="Calibri" pitchFamily="34" charset="-120"/>
              </a:rPr>
              <a:t> and in the </a:t>
            </a:r>
            <a:r>
              <a:rPr lang="en-US" sz="1050" b="1" dirty="0">
                <a:solidFill>
                  <a:srgbClr val="262B3A"/>
                </a:solidFill>
                <a:latin typeface="Calibri" pitchFamily="34" charset="0"/>
                <a:ea typeface="Calibri" pitchFamily="34" charset="-122"/>
                <a:cs typeface="Calibri" pitchFamily="34" charset="-120"/>
              </a:rPr>
              <a:t>brain</a:t>
            </a:r>
            <a:r>
              <a:rPr lang="en-US" sz="1050" dirty="0">
                <a:solidFill>
                  <a:srgbClr val="262B3A"/>
                </a:solidFill>
                <a:latin typeface="Calibri" pitchFamily="34" charset="0"/>
                <a:ea typeface="Calibri" pitchFamily="34" charset="-122"/>
                <a:cs typeface="Calibri" pitchFamily="34" charset="-120"/>
              </a:rPr>
              <a:t> deciding</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more synapses + brain processing = slower</a:t>
            </a:r>
            <a:endParaRPr lang="en-US" sz="1050" dirty="0"/>
          </a:p>
        </p:txBody>
      </p:sp>
      <p:sp>
        <p:nvSpPr>
          <p:cNvPr id="43" name="Shape 40"/>
          <p:cNvSpPr/>
          <p:nvPr/>
        </p:nvSpPr>
        <p:spPr>
          <a:xfrm>
            <a:off x="411480" y="5833872"/>
            <a:ext cx="11368735" cy="530352"/>
          </a:xfrm>
          <a:prstGeom prst="rect">
            <a:avLst/>
          </a:prstGeom>
          <a:solidFill>
            <a:srgbClr val="FFF4E0"/>
          </a:solidFill>
          <a:ln w="6350">
            <a:solidFill>
              <a:srgbClr val="F1D9A8"/>
            </a:solidFill>
            <a:prstDash val="solid"/>
          </a:ln>
        </p:spPr>
      </p:sp>
      <p:sp>
        <p:nvSpPr>
          <p:cNvPr id="44" name="Shape 41"/>
          <p:cNvSpPr/>
          <p:nvPr/>
        </p:nvSpPr>
        <p:spPr>
          <a:xfrm>
            <a:off x="411480" y="5833872"/>
            <a:ext cx="82296" cy="530352"/>
          </a:xfrm>
          <a:prstGeom prst="rect">
            <a:avLst/>
          </a:prstGeom>
          <a:solidFill>
            <a:srgbClr val="E39A2F"/>
          </a:solidFill>
          <a:ln w="12700">
            <a:solidFill>
              <a:srgbClr val="E39A2F"/>
            </a:solidFill>
            <a:prstDash val="solid"/>
          </a:ln>
        </p:spPr>
      </p:sp>
      <p:sp>
        <p:nvSpPr>
          <p:cNvPr id="45" name="Text 4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Is catching a ball a </a:t>
            </a:r>
            <a:r>
              <a:rPr lang="en-US" sz="1150" b="1" dirty="0">
                <a:solidFill>
                  <a:srgbClr val="262B3A"/>
                </a:solidFill>
                <a:latin typeface="Calibri" pitchFamily="34" charset="0"/>
                <a:ea typeface="Calibri" pitchFamily="34" charset="-122"/>
                <a:cs typeface="Calibri" pitchFamily="34" charset="-120"/>
              </a:rPr>
              <a:t>reflex</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voluntary</a:t>
            </a:r>
            <a:r>
              <a:rPr lang="en-US" sz="1150" dirty="0">
                <a:solidFill>
                  <a:srgbClr val="262B3A"/>
                </a:solidFill>
                <a:latin typeface="Calibri" pitchFamily="34" charset="0"/>
                <a:ea typeface="Calibri" pitchFamily="34" charset="-122"/>
                <a:cs typeface="Calibri" pitchFamily="34" charset="-120"/>
              </a:rPr>
              <a:t> action? 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features of a reflex.</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B5.2.3 • the reflex arc</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reflex</a:t>
            </a:r>
            <a:r>
              <a:rPr lang="en-US" sz="1250" dirty="0">
                <a:solidFill>
                  <a:srgbClr val="262B3A"/>
                </a:solidFill>
                <a:latin typeface="Calibri" pitchFamily="34" charset="0"/>
                <a:ea typeface="Calibri" pitchFamily="34" charset="-122"/>
                <a:cs typeface="Calibri" pitchFamily="34" charset="-120"/>
              </a:rPr>
              <a:t> action?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neurone in a reflex arc that is found </a:t>
            </a:r>
            <a:r>
              <a:rPr lang="en-US" sz="1250" b="1" dirty="0">
                <a:solidFill>
                  <a:srgbClr val="262B3A"/>
                </a:solidFill>
                <a:latin typeface="Calibri" pitchFamily="34" charset="0"/>
                <a:ea typeface="Calibri" pitchFamily="34" charset="-122"/>
                <a:cs typeface="Calibri" pitchFamily="34" charset="-120"/>
              </a:rPr>
              <a:t>only</a:t>
            </a:r>
            <a:r>
              <a:rPr lang="en-US" sz="1250" dirty="0">
                <a:solidFill>
                  <a:srgbClr val="262B3A"/>
                </a:solidFill>
                <a:latin typeface="Calibri" pitchFamily="34" charset="0"/>
                <a:ea typeface="Calibri" pitchFamily="34" charset="-122"/>
                <a:cs typeface="Calibri" pitchFamily="34" charset="-120"/>
              </a:rPr>
              <a:t> in the CNS, and give its job.</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reflex action is </a:t>
            </a:r>
            <a:r>
              <a:rPr lang="en-US" sz="1250" b="1" dirty="0">
                <a:solidFill>
                  <a:srgbClr val="262B3A"/>
                </a:solidFill>
                <a:latin typeface="Calibri" pitchFamily="34" charset="0"/>
                <a:ea typeface="Calibri" pitchFamily="34" charset="-122"/>
                <a:cs typeface="Calibri" pitchFamily="34" charset="-120"/>
              </a:rPr>
              <a:t>faster</a:t>
            </a:r>
            <a:r>
              <a:rPr lang="en-US" sz="1250" dirty="0">
                <a:solidFill>
                  <a:srgbClr val="262B3A"/>
                </a:solidFill>
                <a:latin typeface="Calibri" pitchFamily="34" charset="0"/>
                <a:ea typeface="Calibri" pitchFamily="34" charset="-122"/>
                <a:cs typeface="Calibri" pitchFamily="34" charset="-120"/>
              </a:rPr>
              <a:t> than a voluntary action.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having reflexes helps humans to </a:t>
            </a:r>
            <a:r>
              <a:rPr lang="en-US" sz="1250" b="1" dirty="0">
                <a:solidFill>
                  <a:srgbClr val="262B3A"/>
                </a:solidFill>
                <a:latin typeface="Calibri" pitchFamily="34" charset="0"/>
                <a:ea typeface="Calibri" pitchFamily="34" charset="-122"/>
                <a:cs typeface="Calibri" pitchFamily="34" charset="-120"/>
              </a:rPr>
              <a:t>survive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Practical: measuring reaction time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B5.2.3 • the ruler drop test: does a distraction slow down reaction time?</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for the ruler drop test</a:t>
            </a:r>
            <a:endParaRPr lang="en-US" sz="1000" dirty="0"/>
          </a:p>
        </p:txBody>
      </p:sp>
      <p:sp>
        <p:nvSpPr>
          <p:cNvPr id="12" name="Shape 10"/>
          <p:cNvSpPr/>
          <p:nvPr/>
        </p:nvSpPr>
        <p:spPr>
          <a:xfrm>
            <a:off x="2331720" y="1572768"/>
            <a:ext cx="347472" cy="3026664"/>
          </a:xfrm>
          <a:prstGeom prst="rect">
            <a:avLst/>
          </a:prstGeom>
          <a:solidFill>
            <a:srgbClr val="F6E7B8"/>
          </a:solidFill>
          <a:ln w="9525">
            <a:solidFill>
              <a:srgbClr val="B79B4A"/>
            </a:solidFill>
            <a:prstDash val="solid"/>
          </a:ln>
        </p:spPr>
      </p:sp>
      <p:sp>
        <p:nvSpPr>
          <p:cNvPr id="13" name="Shape 11"/>
          <p:cNvSpPr/>
          <p:nvPr/>
        </p:nvSpPr>
        <p:spPr>
          <a:xfrm>
            <a:off x="2331720" y="4526280"/>
            <a:ext cx="155448" cy="91"/>
          </a:xfrm>
          <a:prstGeom prst="line">
            <a:avLst/>
          </a:prstGeom>
          <a:noFill/>
          <a:ln w="9525">
            <a:solidFill>
              <a:srgbClr val="6B5A2A"/>
            </a:solidFill>
            <a:prstDash val="solid"/>
          </a:ln>
        </p:spPr>
      </p:sp>
      <p:sp>
        <p:nvSpPr>
          <p:cNvPr id="14" name="Text 12"/>
          <p:cNvSpPr/>
          <p:nvPr/>
        </p:nvSpPr>
        <p:spPr>
          <a:xfrm>
            <a:off x="2468880" y="4443984"/>
            <a:ext cx="201168" cy="16459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5" name="Shape 13"/>
          <p:cNvSpPr/>
          <p:nvPr/>
        </p:nvSpPr>
        <p:spPr>
          <a:xfrm>
            <a:off x="2331720" y="4430268"/>
            <a:ext cx="82296" cy="91"/>
          </a:xfrm>
          <a:prstGeom prst="line">
            <a:avLst/>
          </a:prstGeom>
          <a:noFill/>
          <a:ln w="9525">
            <a:solidFill>
              <a:srgbClr val="6B5A2A"/>
            </a:solidFill>
            <a:prstDash val="solid"/>
          </a:ln>
        </p:spPr>
      </p:sp>
      <p:sp>
        <p:nvSpPr>
          <p:cNvPr id="16" name="Shape 14"/>
          <p:cNvSpPr/>
          <p:nvPr/>
        </p:nvSpPr>
        <p:spPr>
          <a:xfrm>
            <a:off x="2331720" y="4334256"/>
            <a:ext cx="82296" cy="91"/>
          </a:xfrm>
          <a:prstGeom prst="line">
            <a:avLst/>
          </a:prstGeom>
          <a:noFill/>
          <a:ln w="9525">
            <a:solidFill>
              <a:srgbClr val="6B5A2A"/>
            </a:solidFill>
            <a:prstDash val="solid"/>
          </a:ln>
        </p:spPr>
      </p:sp>
      <p:sp>
        <p:nvSpPr>
          <p:cNvPr id="17" name="Shape 15"/>
          <p:cNvSpPr/>
          <p:nvPr/>
        </p:nvSpPr>
        <p:spPr>
          <a:xfrm>
            <a:off x="2331720" y="4238244"/>
            <a:ext cx="82296" cy="91"/>
          </a:xfrm>
          <a:prstGeom prst="line">
            <a:avLst/>
          </a:prstGeom>
          <a:noFill/>
          <a:ln w="9525">
            <a:solidFill>
              <a:srgbClr val="6B5A2A"/>
            </a:solidFill>
            <a:prstDash val="solid"/>
          </a:ln>
        </p:spPr>
      </p:sp>
      <p:sp>
        <p:nvSpPr>
          <p:cNvPr id="18" name="Shape 16"/>
          <p:cNvSpPr/>
          <p:nvPr/>
        </p:nvSpPr>
        <p:spPr>
          <a:xfrm>
            <a:off x="2331720" y="4142232"/>
            <a:ext cx="82296" cy="91"/>
          </a:xfrm>
          <a:prstGeom prst="line">
            <a:avLst/>
          </a:prstGeom>
          <a:noFill/>
          <a:ln w="9525">
            <a:solidFill>
              <a:srgbClr val="6B5A2A"/>
            </a:solidFill>
            <a:prstDash val="solid"/>
          </a:ln>
        </p:spPr>
      </p:sp>
      <p:sp>
        <p:nvSpPr>
          <p:cNvPr id="19" name="Shape 17"/>
          <p:cNvSpPr/>
          <p:nvPr/>
        </p:nvSpPr>
        <p:spPr>
          <a:xfrm>
            <a:off x="2331720" y="4046220"/>
            <a:ext cx="155448" cy="91"/>
          </a:xfrm>
          <a:prstGeom prst="line">
            <a:avLst/>
          </a:prstGeom>
          <a:noFill/>
          <a:ln w="9525">
            <a:solidFill>
              <a:srgbClr val="6B5A2A"/>
            </a:solidFill>
            <a:prstDash val="solid"/>
          </a:ln>
        </p:spPr>
      </p:sp>
      <p:sp>
        <p:nvSpPr>
          <p:cNvPr id="20" name="Text 18"/>
          <p:cNvSpPr/>
          <p:nvPr/>
        </p:nvSpPr>
        <p:spPr>
          <a:xfrm>
            <a:off x="2468880" y="3963924"/>
            <a:ext cx="201168" cy="16459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21" name="Shape 19"/>
          <p:cNvSpPr/>
          <p:nvPr/>
        </p:nvSpPr>
        <p:spPr>
          <a:xfrm>
            <a:off x="2331720" y="3950208"/>
            <a:ext cx="82296" cy="91"/>
          </a:xfrm>
          <a:prstGeom prst="line">
            <a:avLst/>
          </a:prstGeom>
          <a:noFill/>
          <a:ln w="9525">
            <a:solidFill>
              <a:srgbClr val="6B5A2A"/>
            </a:solidFill>
            <a:prstDash val="solid"/>
          </a:ln>
        </p:spPr>
      </p:sp>
      <p:sp>
        <p:nvSpPr>
          <p:cNvPr id="22" name="Shape 20"/>
          <p:cNvSpPr/>
          <p:nvPr/>
        </p:nvSpPr>
        <p:spPr>
          <a:xfrm>
            <a:off x="2331720" y="3854196"/>
            <a:ext cx="82296" cy="91"/>
          </a:xfrm>
          <a:prstGeom prst="line">
            <a:avLst/>
          </a:prstGeom>
          <a:noFill/>
          <a:ln w="9525">
            <a:solidFill>
              <a:srgbClr val="6B5A2A"/>
            </a:solidFill>
            <a:prstDash val="solid"/>
          </a:ln>
        </p:spPr>
      </p:sp>
      <p:sp>
        <p:nvSpPr>
          <p:cNvPr id="23" name="Shape 21"/>
          <p:cNvSpPr/>
          <p:nvPr/>
        </p:nvSpPr>
        <p:spPr>
          <a:xfrm>
            <a:off x="2331720" y="3758184"/>
            <a:ext cx="82296" cy="91"/>
          </a:xfrm>
          <a:prstGeom prst="line">
            <a:avLst/>
          </a:prstGeom>
          <a:noFill/>
          <a:ln w="9525">
            <a:solidFill>
              <a:srgbClr val="6B5A2A"/>
            </a:solidFill>
            <a:prstDash val="solid"/>
          </a:ln>
        </p:spPr>
      </p:sp>
      <p:sp>
        <p:nvSpPr>
          <p:cNvPr id="24" name="Shape 22"/>
          <p:cNvSpPr/>
          <p:nvPr/>
        </p:nvSpPr>
        <p:spPr>
          <a:xfrm>
            <a:off x="2331720" y="3662172"/>
            <a:ext cx="82296" cy="91"/>
          </a:xfrm>
          <a:prstGeom prst="line">
            <a:avLst/>
          </a:prstGeom>
          <a:noFill/>
          <a:ln w="9525">
            <a:solidFill>
              <a:srgbClr val="6B5A2A"/>
            </a:solidFill>
            <a:prstDash val="solid"/>
          </a:ln>
        </p:spPr>
      </p:sp>
      <p:sp>
        <p:nvSpPr>
          <p:cNvPr id="25" name="Shape 23"/>
          <p:cNvSpPr/>
          <p:nvPr/>
        </p:nvSpPr>
        <p:spPr>
          <a:xfrm>
            <a:off x="2331720" y="3566160"/>
            <a:ext cx="155448" cy="91"/>
          </a:xfrm>
          <a:prstGeom prst="line">
            <a:avLst/>
          </a:prstGeom>
          <a:noFill/>
          <a:ln w="9525">
            <a:solidFill>
              <a:srgbClr val="6B5A2A"/>
            </a:solidFill>
            <a:prstDash val="solid"/>
          </a:ln>
        </p:spPr>
      </p:sp>
      <p:sp>
        <p:nvSpPr>
          <p:cNvPr id="26" name="Text 24"/>
          <p:cNvSpPr/>
          <p:nvPr/>
        </p:nvSpPr>
        <p:spPr>
          <a:xfrm>
            <a:off x="2468880" y="3483864"/>
            <a:ext cx="201168" cy="16459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27" name="Shape 25"/>
          <p:cNvSpPr/>
          <p:nvPr/>
        </p:nvSpPr>
        <p:spPr>
          <a:xfrm>
            <a:off x="2331720" y="3470148"/>
            <a:ext cx="82296" cy="91"/>
          </a:xfrm>
          <a:prstGeom prst="line">
            <a:avLst/>
          </a:prstGeom>
          <a:noFill/>
          <a:ln w="9525">
            <a:solidFill>
              <a:srgbClr val="6B5A2A"/>
            </a:solidFill>
            <a:prstDash val="solid"/>
          </a:ln>
        </p:spPr>
      </p:sp>
      <p:sp>
        <p:nvSpPr>
          <p:cNvPr id="28" name="Shape 26"/>
          <p:cNvSpPr/>
          <p:nvPr/>
        </p:nvSpPr>
        <p:spPr>
          <a:xfrm>
            <a:off x="2331720" y="3374136"/>
            <a:ext cx="82296" cy="91"/>
          </a:xfrm>
          <a:prstGeom prst="line">
            <a:avLst/>
          </a:prstGeom>
          <a:noFill/>
          <a:ln w="9525">
            <a:solidFill>
              <a:srgbClr val="6B5A2A"/>
            </a:solidFill>
            <a:prstDash val="solid"/>
          </a:ln>
        </p:spPr>
      </p:sp>
      <p:sp>
        <p:nvSpPr>
          <p:cNvPr id="29" name="Shape 27"/>
          <p:cNvSpPr/>
          <p:nvPr/>
        </p:nvSpPr>
        <p:spPr>
          <a:xfrm>
            <a:off x="2331720" y="3278124"/>
            <a:ext cx="82296" cy="91"/>
          </a:xfrm>
          <a:prstGeom prst="line">
            <a:avLst/>
          </a:prstGeom>
          <a:noFill/>
          <a:ln w="9525">
            <a:solidFill>
              <a:srgbClr val="6B5A2A"/>
            </a:solidFill>
            <a:prstDash val="solid"/>
          </a:ln>
        </p:spPr>
      </p:sp>
      <p:sp>
        <p:nvSpPr>
          <p:cNvPr id="30" name="Shape 28"/>
          <p:cNvSpPr/>
          <p:nvPr/>
        </p:nvSpPr>
        <p:spPr>
          <a:xfrm>
            <a:off x="2331720" y="3182112"/>
            <a:ext cx="82296" cy="91"/>
          </a:xfrm>
          <a:prstGeom prst="line">
            <a:avLst/>
          </a:prstGeom>
          <a:noFill/>
          <a:ln w="9525">
            <a:solidFill>
              <a:srgbClr val="6B5A2A"/>
            </a:solidFill>
            <a:prstDash val="solid"/>
          </a:ln>
        </p:spPr>
      </p:sp>
      <p:sp>
        <p:nvSpPr>
          <p:cNvPr id="31" name="Shape 29"/>
          <p:cNvSpPr/>
          <p:nvPr/>
        </p:nvSpPr>
        <p:spPr>
          <a:xfrm>
            <a:off x="2331720" y="3086100"/>
            <a:ext cx="155448" cy="91"/>
          </a:xfrm>
          <a:prstGeom prst="line">
            <a:avLst/>
          </a:prstGeom>
          <a:noFill/>
          <a:ln w="9525">
            <a:solidFill>
              <a:srgbClr val="6B5A2A"/>
            </a:solidFill>
            <a:prstDash val="solid"/>
          </a:ln>
        </p:spPr>
      </p:sp>
      <p:sp>
        <p:nvSpPr>
          <p:cNvPr id="32" name="Text 30"/>
          <p:cNvSpPr/>
          <p:nvPr/>
        </p:nvSpPr>
        <p:spPr>
          <a:xfrm>
            <a:off x="2468880" y="3003804"/>
            <a:ext cx="201168" cy="16459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33" name="Shape 31"/>
          <p:cNvSpPr/>
          <p:nvPr/>
        </p:nvSpPr>
        <p:spPr>
          <a:xfrm>
            <a:off x="2331720" y="2990088"/>
            <a:ext cx="82296" cy="91"/>
          </a:xfrm>
          <a:prstGeom prst="line">
            <a:avLst/>
          </a:prstGeom>
          <a:noFill/>
          <a:ln w="9525">
            <a:solidFill>
              <a:srgbClr val="6B5A2A"/>
            </a:solidFill>
            <a:prstDash val="solid"/>
          </a:ln>
        </p:spPr>
      </p:sp>
      <p:sp>
        <p:nvSpPr>
          <p:cNvPr id="34" name="Shape 32"/>
          <p:cNvSpPr/>
          <p:nvPr/>
        </p:nvSpPr>
        <p:spPr>
          <a:xfrm>
            <a:off x="2331720" y="2894076"/>
            <a:ext cx="82296" cy="91"/>
          </a:xfrm>
          <a:prstGeom prst="line">
            <a:avLst/>
          </a:prstGeom>
          <a:noFill/>
          <a:ln w="9525">
            <a:solidFill>
              <a:srgbClr val="6B5A2A"/>
            </a:solidFill>
            <a:prstDash val="solid"/>
          </a:ln>
        </p:spPr>
      </p:sp>
      <p:sp>
        <p:nvSpPr>
          <p:cNvPr id="35" name="Shape 33"/>
          <p:cNvSpPr/>
          <p:nvPr/>
        </p:nvSpPr>
        <p:spPr>
          <a:xfrm>
            <a:off x="2331720" y="2798064"/>
            <a:ext cx="82296" cy="91"/>
          </a:xfrm>
          <a:prstGeom prst="line">
            <a:avLst/>
          </a:prstGeom>
          <a:noFill/>
          <a:ln w="9525">
            <a:solidFill>
              <a:srgbClr val="6B5A2A"/>
            </a:solidFill>
            <a:prstDash val="solid"/>
          </a:ln>
        </p:spPr>
      </p:sp>
      <p:sp>
        <p:nvSpPr>
          <p:cNvPr id="36" name="Shape 34"/>
          <p:cNvSpPr/>
          <p:nvPr/>
        </p:nvSpPr>
        <p:spPr>
          <a:xfrm>
            <a:off x="2331720" y="2702052"/>
            <a:ext cx="82296" cy="91"/>
          </a:xfrm>
          <a:prstGeom prst="line">
            <a:avLst/>
          </a:prstGeom>
          <a:noFill/>
          <a:ln w="9525">
            <a:solidFill>
              <a:srgbClr val="6B5A2A"/>
            </a:solidFill>
            <a:prstDash val="solid"/>
          </a:ln>
        </p:spPr>
      </p:sp>
      <p:sp>
        <p:nvSpPr>
          <p:cNvPr id="37" name="Shape 35"/>
          <p:cNvSpPr/>
          <p:nvPr/>
        </p:nvSpPr>
        <p:spPr>
          <a:xfrm>
            <a:off x="2331720" y="2606040"/>
            <a:ext cx="155448" cy="91"/>
          </a:xfrm>
          <a:prstGeom prst="line">
            <a:avLst/>
          </a:prstGeom>
          <a:noFill/>
          <a:ln w="9525">
            <a:solidFill>
              <a:srgbClr val="6B5A2A"/>
            </a:solidFill>
            <a:prstDash val="solid"/>
          </a:ln>
        </p:spPr>
      </p:sp>
      <p:sp>
        <p:nvSpPr>
          <p:cNvPr id="38" name="Text 36"/>
          <p:cNvSpPr/>
          <p:nvPr/>
        </p:nvSpPr>
        <p:spPr>
          <a:xfrm>
            <a:off x="2468880" y="2523744"/>
            <a:ext cx="201168" cy="16459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39" name="Shape 37"/>
          <p:cNvSpPr/>
          <p:nvPr/>
        </p:nvSpPr>
        <p:spPr>
          <a:xfrm>
            <a:off x="2331720" y="2510028"/>
            <a:ext cx="82296" cy="91"/>
          </a:xfrm>
          <a:prstGeom prst="line">
            <a:avLst/>
          </a:prstGeom>
          <a:noFill/>
          <a:ln w="9525">
            <a:solidFill>
              <a:srgbClr val="6B5A2A"/>
            </a:solidFill>
            <a:prstDash val="solid"/>
          </a:ln>
        </p:spPr>
      </p:sp>
      <p:sp>
        <p:nvSpPr>
          <p:cNvPr id="40" name="Shape 38"/>
          <p:cNvSpPr/>
          <p:nvPr/>
        </p:nvSpPr>
        <p:spPr>
          <a:xfrm>
            <a:off x="2331720" y="2414016"/>
            <a:ext cx="82296" cy="91"/>
          </a:xfrm>
          <a:prstGeom prst="line">
            <a:avLst/>
          </a:prstGeom>
          <a:noFill/>
          <a:ln w="9525">
            <a:solidFill>
              <a:srgbClr val="6B5A2A"/>
            </a:solidFill>
            <a:prstDash val="solid"/>
          </a:ln>
        </p:spPr>
      </p:sp>
      <p:sp>
        <p:nvSpPr>
          <p:cNvPr id="41" name="Shape 39"/>
          <p:cNvSpPr/>
          <p:nvPr/>
        </p:nvSpPr>
        <p:spPr>
          <a:xfrm>
            <a:off x="2331720" y="2318004"/>
            <a:ext cx="82296" cy="91"/>
          </a:xfrm>
          <a:prstGeom prst="line">
            <a:avLst/>
          </a:prstGeom>
          <a:noFill/>
          <a:ln w="9525">
            <a:solidFill>
              <a:srgbClr val="6B5A2A"/>
            </a:solidFill>
            <a:prstDash val="solid"/>
          </a:ln>
        </p:spPr>
      </p:sp>
      <p:sp>
        <p:nvSpPr>
          <p:cNvPr id="42" name="Shape 40"/>
          <p:cNvSpPr/>
          <p:nvPr/>
        </p:nvSpPr>
        <p:spPr>
          <a:xfrm>
            <a:off x="2331720" y="2221992"/>
            <a:ext cx="82296" cy="91"/>
          </a:xfrm>
          <a:prstGeom prst="line">
            <a:avLst/>
          </a:prstGeom>
          <a:noFill/>
          <a:ln w="9525">
            <a:solidFill>
              <a:srgbClr val="6B5A2A"/>
            </a:solidFill>
            <a:prstDash val="solid"/>
          </a:ln>
        </p:spPr>
      </p:sp>
      <p:sp>
        <p:nvSpPr>
          <p:cNvPr id="43" name="Shape 41"/>
          <p:cNvSpPr/>
          <p:nvPr/>
        </p:nvSpPr>
        <p:spPr>
          <a:xfrm>
            <a:off x="2331720" y="2125980"/>
            <a:ext cx="155448" cy="91"/>
          </a:xfrm>
          <a:prstGeom prst="line">
            <a:avLst/>
          </a:prstGeom>
          <a:noFill/>
          <a:ln w="9525">
            <a:solidFill>
              <a:srgbClr val="6B5A2A"/>
            </a:solidFill>
            <a:prstDash val="solid"/>
          </a:ln>
        </p:spPr>
      </p:sp>
      <p:sp>
        <p:nvSpPr>
          <p:cNvPr id="44" name="Text 42"/>
          <p:cNvSpPr/>
          <p:nvPr/>
        </p:nvSpPr>
        <p:spPr>
          <a:xfrm>
            <a:off x="2468880" y="2043684"/>
            <a:ext cx="201168" cy="16459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5" name="Shape 43"/>
          <p:cNvSpPr/>
          <p:nvPr/>
        </p:nvSpPr>
        <p:spPr>
          <a:xfrm>
            <a:off x="2331720" y="2029968"/>
            <a:ext cx="82296" cy="91"/>
          </a:xfrm>
          <a:prstGeom prst="line">
            <a:avLst/>
          </a:prstGeom>
          <a:noFill/>
          <a:ln w="9525">
            <a:solidFill>
              <a:srgbClr val="6B5A2A"/>
            </a:solidFill>
            <a:prstDash val="solid"/>
          </a:ln>
        </p:spPr>
      </p:sp>
      <p:sp>
        <p:nvSpPr>
          <p:cNvPr id="46" name="Shape 44"/>
          <p:cNvSpPr/>
          <p:nvPr/>
        </p:nvSpPr>
        <p:spPr>
          <a:xfrm>
            <a:off x="2331720" y="1933956"/>
            <a:ext cx="82296" cy="91"/>
          </a:xfrm>
          <a:prstGeom prst="line">
            <a:avLst/>
          </a:prstGeom>
          <a:noFill/>
          <a:ln w="9525">
            <a:solidFill>
              <a:srgbClr val="6B5A2A"/>
            </a:solidFill>
            <a:prstDash val="solid"/>
          </a:ln>
        </p:spPr>
      </p:sp>
      <p:sp>
        <p:nvSpPr>
          <p:cNvPr id="47" name="Shape 45"/>
          <p:cNvSpPr/>
          <p:nvPr/>
        </p:nvSpPr>
        <p:spPr>
          <a:xfrm>
            <a:off x="2331720" y="1837944"/>
            <a:ext cx="82296" cy="91"/>
          </a:xfrm>
          <a:prstGeom prst="line">
            <a:avLst/>
          </a:prstGeom>
          <a:noFill/>
          <a:ln w="9525">
            <a:solidFill>
              <a:srgbClr val="6B5A2A"/>
            </a:solidFill>
            <a:prstDash val="solid"/>
          </a:ln>
        </p:spPr>
      </p:sp>
      <p:sp>
        <p:nvSpPr>
          <p:cNvPr id="48" name="Shape 46"/>
          <p:cNvSpPr/>
          <p:nvPr/>
        </p:nvSpPr>
        <p:spPr>
          <a:xfrm>
            <a:off x="2331720" y="1741932"/>
            <a:ext cx="82296" cy="91"/>
          </a:xfrm>
          <a:prstGeom prst="line">
            <a:avLst/>
          </a:prstGeom>
          <a:noFill/>
          <a:ln w="9525">
            <a:solidFill>
              <a:srgbClr val="6B5A2A"/>
            </a:solidFill>
            <a:prstDash val="solid"/>
          </a:ln>
        </p:spPr>
      </p:sp>
      <p:sp>
        <p:nvSpPr>
          <p:cNvPr id="49" name="Shape 47"/>
          <p:cNvSpPr/>
          <p:nvPr/>
        </p:nvSpPr>
        <p:spPr>
          <a:xfrm>
            <a:off x="2331720" y="1645920"/>
            <a:ext cx="155448" cy="91"/>
          </a:xfrm>
          <a:prstGeom prst="line">
            <a:avLst/>
          </a:prstGeom>
          <a:noFill/>
          <a:ln w="9525">
            <a:solidFill>
              <a:srgbClr val="6B5A2A"/>
            </a:solidFill>
            <a:prstDash val="solid"/>
          </a:ln>
        </p:spPr>
      </p:sp>
      <p:sp>
        <p:nvSpPr>
          <p:cNvPr id="50" name="Text 48"/>
          <p:cNvSpPr/>
          <p:nvPr/>
        </p:nvSpPr>
        <p:spPr>
          <a:xfrm>
            <a:off x="2468880" y="1563624"/>
            <a:ext cx="201168" cy="16459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1" name="Shape 49"/>
          <p:cNvSpPr/>
          <p:nvPr/>
        </p:nvSpPr>
        <p:spPr>
          <a:xfrm>
            <a:off x="2208276" y="1389888"/>
            <a:ext cx="594360" cy="292608"/>
          </a:xfrm>
          <a:prstGeom prst="ellipse">
            <a:avLst/>
          </a:prstGeom>
          <a:solidFill>
            <a:srgbClr val="F2C9A5"/>
          </a:solidFill>
          <a:ln w="12700">
            <a:solidFill>
              <a:srgbClr val="B07A50"/>
            </a:solidFill>
            <a:prstDash val="solid"/>
          </a:ln>
        </p:spPr>
      </p:sp>
      <p:sp>
        <p:nvSpPr>
          <p:cNvPr id="52" name="Shape 50"/>
          <p:cNvSpPr/>
          <p:nvPr/>
        </p:nvSpPr>
        <p:spPr>
          <a:xfrm>
            <a:off x="2743200" y="1463040"/>
            <a:ext cx="1005840" cy="164592"/>
          </a:xfrm>
          <a:prstGeom prst="roundRect">
            <a:avLst>
              <a:gd name="adj" fmla="val 44444"/>
            </a:avLst>
          </a:prstGeom>
          <a:solidFill>
            <a:srgbClr val="F2C9A5"/>
          </a:solidFill>
          <a:ln w="12700">
            <a:solidFill>
              <a:srgbClr val="B07A50"/>
            </a:solidFill>
            <a:prstDash val="solid"/>
          </a:ln>
        </p:spPr>
      </p:sp>
      <p:sp>
        <p:nvSpPr>
          <p:cNvPr id="53" name="Text 51"/>
          <p:cNvSpPr/>
          <p:nvPr/>
        </p:nvSpPr>
        <p:spPr>
          <a:xfrm>
            <a:off x="3429000" y="1691640"/>
            <a:ext cx="2468880" cy="54864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Person A</a:t>
            </a:r>
            <a:r>
              <a:rPr lang="en-US" sz="1050" dirty="0">
                <a:solidFill>
                  <a:srgbClr val="262B3A"/>
                </a:solidFill>
                <a:latin typeface="Calibri" pitchFamily="34" charset="0"/>
                <a:ea typeface="Calibri" pitchFamily="34" charset="-122"/>
                <a:cs typeface="Calibri" pitchFamily="34" charset="-120"/>
              </a:rPr>
              <a:t> holds the top of the ruler, then drops it </a:t>
            </a:r>
            <a:r>
              <a:rPr lang="en-US" sz="1050" b="1" dirty="0">
                <a:solidFill>
                  <a:srgbClr val="262B3A"/>
                </a:solidFill>
                <a:latin typeface="Calibri" pitchFamily="34" charset="0"/>
                <a:ea typeface="Calibri" pitchFamily="34" charset="-122"/>
                <a:cs typeface="Calibri" pitchFamily="34" charset="-120"/>
              </a:rPr>
              <a:t>without warning</a:t>
            </a:r>
            <a:endParaRPr lang="en-US" sz="1050" dirty="0"/>
          </a:p>
        </p:txBody>
      </p:sp>
      <p:sp>
        <p:nvSpPr>
          <p:cNvPr id="54" name="Shape 52"/>
          <p:cNvSpPr/>
          <p:nvPr/>
        </p:nvSpPr>
        <p:spPr>
          <a:xfrm>
            <a:off x="1975104" y="4471416"/>
            <a:ext cx="347472" cy="146304"/>
          </a:xfrm>
          <a:prstGeom prst="ellipse">
            <a:avLst/>
          </a:prstGeom>
          <a:solidFill>
            <a:srgbClr val="F2C9A5"/>
          </a:solidFill>
          <a:ln w="12700">
            <a:solidFill>
              <a:srgbClr val="B07A50"/>
            </a:solidFill>
            <a:prstDash val="solid"/>
          </a:ln>
        </p:spPr>
      </p:sp>
      <p:sp>
        <p:nvSpPr>
          <p:cNvPr id="55" name="Shape 53"/>
          <p:cNvSpPr/>
          <p:nvPr/>
        </p:nvSpPr>
        <p:spPr>
          <a:xfrm>
            <a:off x="2688336" y="4471416"/>
            <a:ext cx="347472" cy="146304"/>
          </a:xfrm>
          <a:prstGeom prst="ellipse">
            <a:avLst/>
          </a:prstGeom>
          <a:solidFill>
            <a:srgbClr val="F2C9A5"/>
          </a:solidFill>
          <a:ln w="12700">
            <a:solidFill>
              <a:srgbClr val="B07A50"/>
            </a:solidFill>
            <a:prstDash val="solid"/>
          </a:ln>
        </p:spPr>
      </p:sp>
      <p:sp>
        <p:nvSpPr>
          <p:cNvPr id="56" name="Shape 54"/>
          <p:cNvSpPr/>
          <p:nvPr/>
        </p:nvSpPr>
        <p:spPr>
          <a:xfrm>
            <a:off x="2926080" y="4544568"/>
            <a:ext cx="822960" cy="384048"/>
          </a:xfrm>
          <a:prstGeom prst="roundRect">
            <a:avLst>
              <a:gd name="adj" fmla="val 35714"/>
            </a:avLst>
          </a:prstGeom>
          <a:solidFill>
            <a:srgbClr val="F2C9A5"/>
          </a:solidFill>
          <a:ln w="12700">
            <a:solidFill>
              <a:srgbClr val="B07A50"/>
            </a:solidFill>
            <a:prstDash val="solid"/>
          </a:ln>
        </p:spPr>
      </p:sp>
      <p:sp>
        <p:nvSpPr>
          <p:cNvPr id="57" name="Shape 55"/>
          <p:cNvSpPr/>
          <p:nvPr/>
        </p:nvSpPr>
        <p:spPr>
          <a:xfrm>
            <a:off x="3520440" y="4727448"/>
            <a:ext cx="2103120" cy="274320"/>
          </a:xfrm>
          <a:prstGeom prst="roundRect">
            <a:avLst>
              <a:gd name="adj" fmla="val 40000"/>
            </a:avLst>
          </a:prstGeom>
          <a:solidFill>
            <a:srgbClr val="F2C9A5"/>
          </a:solidFill>
          <a:ln w="12700">
            <a:solidFill>
              <a:srgbClr val="B07A50"/>
            </a:solidFill>
            <a:prstDash val="solid"/>
          </a:ln>
        </p:spPr>
      </p:sp>
      <p:sp>
        <p:nvSpPr>
          <p:cNvPr id="58" name="Shape 56"/>
          <p:cNvSpPr/>
          <p:nvPr/>
        </p:nvSpPr>
        <p:spPr>
          <a:xfrm>
            <a:off x="3246120" y="5001768"/>
            <a:ext cx="2743200" cy="128016"/>
          </a:xfrm>
          <a:prstGeom prst="rect">
            <a:avLst/>
          </a:prstGeom>
          <a:solidFill>
            <a:srgbClr val="C99A5B"/>
          </a:solidFill>
          <a:ln w="12700">
            <a:solidFill>
              <a:srgbClr val="8A6A3A"/>
            </a:solidFill>
            <a:prstDash val="solid"/>
          </a:ln>
        </p:spPr>
      </p:sp>
      <p:sp>
        <p:nvSpPr>
          <p:cNvPr id="59" name="Shape 57"/>
          <p:cNvSpPr/>
          <p:nvPr/>
        </p:nvSpPr>
        <p:spPr>
          <a:xfrm>
            <a:off x="5623560" y="5129784"/>
            <a:ext cx="109728" cy="274320"/>
          </a:xfrm>
          <a:prstGeom prst="rect">
            <a:avLst/>
          </a:prstGeom>
          <a:solidFill>
            <a:srgbClr val="C99A5B"/>
          </a:solidFill>
          <a:ln w="12700">
            <a:solidFill>
              <a:srgbClr val="8A6A3A"/>
            </a:solidFill>
            <a:prstDash val="solid"/>
          </a:ln>
        </p:spPr>
      </p:sp>
      <p:sp>
        <p:nvSpPr>
          <p:cNvPr id="60" name="Text 58"/>
          <p:cNvSpPr/>
          <p:nvPr/>
        </p:nvSpPr>
        <p:spPr>
          <a:xfrm>
            <a:off x="3246120" y="3749040"/>
            <a:ext cx="2651760" cy="54864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Person B</a:t>
            </a:r>
            <a:r>
              <a:rPr lang="en-US" sz="1050" dirty="0">
                <a:solidFill>
                  <a:srgbClr val="262B3A"/>
                </a:solidFill>
                <a:latin typeface="Calibri" pitchFamily="34" charset="0"/>
                <a:ea typeface="Calibri" pitchFamily="34" charset="-122"/>
                <a:cs typeface="Calibri" pitchFamily="34" charset="-120"/>
              </a:rPr>
              <a:t>: forearm on the bench; thumb and finger level with </a:t>
            </a:r>
            <a:r>
              <a:rPr lang="en-US" sz="1050" b="1" dirty="0">
                <a:solidFill>
                  <a:srgbClr val="262B3A"/>
                </a:solidFill>
                <a:latin typeface="Calibri" pitchFamily="34" charset="0"/>
                <a:ea typeface="Calibri" pitchFamily="34" charset="-122"/>
                <a:cs typeface="Calibri" pitchFamily="34" charset="-120"/>
              </a:rPr>
              <a:t>0 cm</a:t>
            </a:r>
            <a:r>
              <a:rPr lang="en-US" sz="1050" dirty="0">
                <a:solidFill>
                  <a:srgbClr val="262B3A"/>
                </a:solidFill>
                <a:latin typeface="Calibri" pitchFamily="34" charset="0"/>
                <a:ea typeface="Calibri" pitchFamily="34" charset="-122"/>
                <a:cs typeface="Calibri" pitchFamily="34" charset="-120"/>
              </a:rPr>
              <a:t>, not touching</a:t>
            </a:r>
            <a:endParaRPr lang="en-US" sz="1050" dirty="0"/>
          </a:p>
        </p:txBody>
      </p:sp>
      <p:sp>
        <p:nvSpPr>
          <p:cNvPr id="61" name="Shape 59"/>
          <p:cNvSpPr/>
          <p:nvPr/>
        </p:nvSpPr>
        <p:spPr>
          <a:xfrm>
            <a:off x="1691640" y="1828800"/>
            <a:ext cx="91" cy="1097280"/>
          </a:xfrm>
          <a:prstGeom prst="line">
            <a:avLst/>
          </a:prstGeom>
          <a:noFill/>
          <a:ln w="31750">
            <a:solidFill>
              <a:srgbClr val="C8414C"/>
            </a:solidFill>
            <a:prstDash val="solid"/>
            <a:tailEnd type="triangle"/>
          </a:ln>
        </p:spPr>
      </p:sp>
      <p:sp>
        <p:nvSpPr>
          <p:cNvPr id="62" name="Text 60"/>
          <p:cNvSpPr/>
          <p:nvPr/>
        </p:nvSpPr>
        <p:spPr>
          <a:xfrm>
            <a:off x="548640" y="2057400"/>
            <a:ext cx="105156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ruler falls</a:t>
            </a:r>
            <a:endParaRPr lang="en-US" sz="1050" dirty="0"/>
          </a:p>
        </p:txBody>
      </p:sp>
      <p:sp>
        <p:nvSpPr>
          <p:cNvPr id="63" name="Shape 61"/>
          <p:cNvSpPr/>
          <p:nvPr/>
        </p:nvSpPr>
        <p:spPr>
          <a:xfrm flipH="1">
            <a:off x="1828800" y="2990088"/>
            <a:ext cx="484632" cy="91"/>
          </a:xfrm>
          <a:prstGeom prst="line">
            <a:avLst/>
          </a:prstGeom>
          <a:noFill/>
          <a:ln w="15875">
            <a:solidFill>
              <a:srgbClr val="0D7877"/>
            </a:solidFill>
            <a:prstDash val="dash"/>
          </a:ln>
        </p:spPr>
      </p:sp>
      <p:sp>
        <p:nvSpPr>
          <p:cNvPr id="64" name="Shape 62"/>
          <p:cNvSpPr/>
          <p:nvPr/>
        </p:nvSpPr>
        <p:spPr>
          <a:xfrm>
            <a:off x="1920240" y="2990088"/>
            <a:ext cx="91" cy="1536192"/>
          </a:xfrm>
          <a:prstGeom prst="line">
            <a:avLst/>
          </a:prstGeom>
          <a:noFill/>
          <a:ln w="15875">
            <a:solidFill>
              <a:srgbClr val="0D7877"/>
            </a:solidFill>
            <a:prstDash val="solid"/>
            <a:headEnd type="triangle"/>
            <a:tailEnd type="triangle"/>
          </a:ln>
        </p:spPr>
      </p:sp>
      <p:sp>
        <p:nvSpPr>
          <p:cNvPr id="65" name="Text 63"/>
          <p:cNvSpPr/>
          <p:nvPr/>
        </p:nvSpPr>
        <p:spPr>
          <a:xfrm>
            <a:off x="548640" y="3337560"/>
            <a:ext cx="1234440" cy="411480"/>
          </a:xfrm>
          <a:prstGeom prst="rect">
            <a:avLst/>
          </a:prstGeom>
          <a:noFill/>
          <a:ln/>
        </p:spPr>
        <p:txBody>
          <a:bodyPr wrap="square" lIns="0" tIns="0" rIns="0" bIns="0" rtlCol="0" anchor="t"/>
          <a:lstStyle/>
          <a:p>
            <a:pPr algn="r" indent="0" marL="0">
              <a:buNone/>
            </a:pPr>
            <a:r>
              <a:rPr lang="en-US" sz="1050" dirty="0">
                <a:solidFill>
                  <a:srgbClr val="0D7877"/>
                </a:solidFill>
                <a:latin typeface="Calibri" pitchFamily="34" charset="0"/>
                <a:ea typeface="Calibri" pitchFamily="34" charset="-122"/>
                <a:cs typeface="Calibri" pitchFamily="34" charset="-120"/>
              </a:rPr>
              <a:t>read </a:t>
            </a:r>
            <a:r>
              <a:rPr lang="en-US" sz="1050" b="1" dirty="0">
                <a:solidFill>
                  <a:srgbClr val="0D7877"/>
                </a:solidFill>
                <a:latin typeface="Calibri" pitchFamily="34" charset="0"/>
                <a:ea typeface="Calibri" pitchFamily="34" charset="-122"/>
                <a:cs typeface="Calibri" pitchFamily="34" charset="-120"/>
              </a:rPr>
              <a:t>d</a:t>
            </a:r>
            <a:r>
              <a:rPr lang="en-US" sz="1050" dirty="0">
                <a:solidFill>
                  <a:srgbClr val="0D7877"/>
                </a:solidFill>
                <a:latin typeface="Calibri" pitchFamily="34" charset="0"/>
                <a:ea typeface="Calibri" pitchFamily="34" charset="-122"/>
                <a:cs typeface="Calibri" pitchFamily="34" charset="-120"/>
              </a:rPr>
              <a:t> at the top of the thumb</a:t>
            </a:r>
            <a:endParaRPr lang="en-US" sz="1050" dirty="0"/>
          </a:p>
        </p:txBody>
      </p:sp>
      <p:sp>
        <p:nvSpPr>
          <p:cNvPr id="66" name="Shape 64"/>
          <p:cNvSpPr/>
          <p:nvPr/>
        </p:nvSpPr>
        <p:spPr>
          <a:xfrm>
            <a:off x="6217920" y="1188720"/>
            <a:ext cx="5562295" cy="2560320"/>
          </a:xfrm>
          <a:prstGeom prst="roundRect">
            <a:avLst>
              <a:gd name="adj" fmla="val 2143"/>
            </a:avLst>
          </a:prstGeom>
          <a:solidFill>
            <a:srgbClr val="F4FAF9"/>
          </a:solidFill>
          <a:ln w="9525">
            <a:solidFill>
              <a:srgbClr val="CFE0DE"/>
            </a:solidFill>
            <a:prstDash val="solid"/>
          </a:ln>
        </p:spPr>
      </p:sp>
      <p:sp>
        <p:nvSpPr>
          <p:cNvPr id="67" name="Text 6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68" name="Text 66"/>
          <p:cNvSpPr/>
          <p:nvPr/>
        </p:nvSpPr>
        <p:spPr>
          <a:xfrm>
            <a:off x="6382512" y="1609344"/>
            <a:ext cx="5233111" cy="206654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Person B rests their forearm on the bench, hand over the edge, and holds thumb and finger either side of the </a:t>
            </a:r>
            <a:r>
              <a:rPr lang="en-US" sz="1200" b="1" dirty="0">
                <a:solidFill>
                  <a:srgbClr val="262B3A"/>
                </a:solidFill>
                <a:latin typeface="Calibri" pitchFamily="34" charset="0"/>
                <a:ea typeface="Calibri" pitchFamily="34" charset="-122"/>
                <a:cs typeface="Calibri" pitchFamily="34" charset="-120"/>
              </a:rPr>
              <a:t>0 cm</a:t>
            </a:r>
            <a:r>
              <a:rPr lang="en-US" sz="1200" dirty="0">
                <a:solidFill>
                  <a:srgbClr val="262B3A"/>
                </a:solidFill>
                <a:latin typeface="Calibri" pitchFamily="34" charset="0"/>
                <a:ea typeface="Calibri" pitchFamily="34" charset="-122"/>
                <a:cs typeface="Calibri" pitchFamily="34" charset="-120"/>
              </a:rPr>
              <a:t> mark.</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Person A drops the ruler </a:t>
            </a:r>
            <a:r>
              <a:rPr lang="en-US" sz="1200" b="1" dirty="0">
                <a:solidFill>
                  <a:srgbClr val="262B3A"/>
                </a:solidFill>
                <a:latin typeface="Calibri" pitchFamily="34" charset="0"/>
                <a:ea typeface="Calibri" pitchFamily="34" charset="-122"/>
                <a:cs typeface="Calibri" pitchFamily="34" charset="-120"/>
              </a:rPr>
              <a:t>without warning</a:t>
            </a:r>
            <a:r>
              <a:rPr lang="en-US" sz="1200" dirty="0">
                <a:solidFill>
                  <a:srgbClr val="262B3A"/>
                </a:solidFill>
                <a:latin typeface="Calibri" pitchFamily="34" charset="0"/>
                <a:ea typeface="Calibri" pitchFamily="34" charset="-122"/>
                <a:cs typeface="Calibri" pitchFamily="34" charset="-120"/>
              </a:rPr>
              <a:t>. B catches it as fast as possible.</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Read the distance </a:t>
            </a:r>
            <a:r>
              <a:rPr lang="en-US" sz="1200" b="1" dirty="0">
                <a:solidFill>
                  <a:srgbClr val="262B3A"/>
                </a:solidFill>
                <a:latin typeface="Calibri" pitchFamily="34" charset="0"/>
                <a:ea typeface="Calibri" pitchFamily="34" charset="-122"/>
                <a:cs typeface="Calibri" pitchFamily="34" charset="-120"/>
              </a:rPr>
              <a:t>d</a:t>
            </a:r>
            <a:r>
              <a:rPr lang="en-US" sz="1200" dirty="0">
                <a:solidFill>
                  <a:srgbClr val="262B3A"/>
                </a:solidFill>
                <a:latin typeface="Calibri" pitchFamily="34" charset="0"/>
                <a:ea typeface="Calibri" pitchFamily="34" charset="-122"/>
                <a:cs typeface="Calibri" pitchFamily="34" charset="-120"/>
              </a:rPr>
              <a:t> (cm) at the top of B's thumb. Repeat </a:t>
            </a:r>
            <a:r>
              <a:rPr lang="en-US" sz="1200" b="1" dirty="0">
                <a:solidFill>
                  <a:srgbClr val="262B3A"/>
                </a:solidFill>
                <a:latin typeface="Calibri" pitchFamily="34" charset="0"/>
                <a:ea typeface="Calibri" pitchFamily="34" charset="-122"/>
                <a:cs typeface="Calibri" pitchFamily="34" charset="-120"/>
              </a:rPr>
              <a:t>5 times</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Repeat while B counts backwards in 3s (the </a:t>
            </a:r>
            <a:r>
              <a:rPr lang="en-US" sz="1200" b="1" dirty="0">
                <a:solidFill>
                  <a:srgbClr val="262B3A"/>
                </a:solidFill>
                <a:latin typeface="Calibri" pitchFamily="34" charset="0"/>
                <a:ea typeface="Calibri" pitchFamily="34" charset="-122"/>
                <a:cs typeface="Calibri" pitchFamily="34" charset="-120"/>
              </a:rPr>
              <a:t>distraction</a:t>
            </a:r>
            <a:r>
              <a:rPr lang="en-US" sz="1200" dirty="0">
                <a:solidFill>
                  <a:srgbClr val="262B3A"/>
                </a:solidFill>
                <a:latin typeface="Calibri" pitchFamily="34" charset="0"/>
                <a:ea typeface="Calibri" pitchFamily="34" charset="-122"/>
                <a:cs typeface="Calibri" pitchFamily="34" charset="-120"/>
              </a:rPr>
              <a:t>). Calculate the </a:t>
            </a:r>
            <a:r>
              <a:rPr lang="en-US" sz="1200" b="1" dirty="0">
                <a:solidFill>
                  <a:srgbClr val="262B3A"/>
                </a:solidFill>
                <a:latin typeface="Calibri" pitchFamily="34" charset="0"/>
                <a:ea typeface="Calibri" pitchFamily="34" charset="-122"/>
                <a:cs typeface="Calibri" pitchFamily="34" charset="-120"/>
              </a:rPr>
              <a:t>mean</a:t>
            </a:r>
            <a:r>
              <a:rPr lang="en-US" sz="1200" dirty="0">
                <a:solidFill>
                  <a:srgbClr val="262B3A"/>
                </a:solidFill>
                <a:latin typeface="Calibri" pitchFamily="34" charset="0"/>
                <a:ea typeface="Calibri" pitchFamily="34" charset="-122"/>
                <a:cs typeface="Calibri" pitchFamily="34" charset="-120"/>
              </a:rPr>
              <a:t> d for each.</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Convert each mean distance to a </a:t>
            </a:r>
            <a:r>
              <a:rPr lang="en-US" sz="1200" b="1" dirty="0">
                <a:solidFill>
                  <a:srgbClr val="262B3A"/>
                </a:solidFill>
                <a:latin typeface="Calibri" pitchFamily="34" charset="0"/>
                <a:ea typeface="Calibri" pitchFamily="34" charset="-122"/>
                <a:cs typeface="Calibri" pitchFamily="34" charset="-120"/>
              </a:rPr>
              <a:t>reaction time</a:t>
            </a:r>
            <a:r>
              <a:rPr lang="en-US" sz="1200" dirty="0">
                <a:solidFill>
                  <a:srgbClr val="262B3A"/>
                </a:solidFill>
                <a:latin typeface="Calibri" pitchFamily="34" charset="0"/>
                <a:ea typeface="Calibri" pitchFamily="34" charset="-122"/>
                <a:cs typeface="Calibri" pitchFamily="34" charset="-120"/>
              </a:rPr>
              <a:t> using a table or graph.</a:t>
            </a:r>
            <a:endParaRPr lang="en-US" sz="1200" dirty="0"/>
          </a:p>
        </p:txBody>
      </p:sp>
      <p:sp>
        <p:nvSpPr>
          <p:cNvPr id="69" name="Shape 67"/>
          <p:cNvSpPr/>
          <p:nvPr/>
        </p:nvSpPr>
        <p:spPr>
          <a:xfrm>
            <a:off x="6217920" y="3886200"/>
            <a:ext cx="5562295" cy="1828800"/>
          </a:xfrm>
          <a:prstGeom prst="roundRect">
            <a:avLst>
              <a:gd name="adj" fmla="val 3000"/>
            </a:avLst>
          </a:prstGeom>
          <a:solidFill>
            <a:srgbClr val="FFF4E0"/>
          </a:solidFill>
          <a:ln w="9525">
            <a:solidFill>
              <a:srgbClr val="F1D9A8"/>
            </a:solidFill>
            <a:prstDash val="solid"/>
          </a:ln>
        </p:spPr>
      </p:sp>
      <p:sp>
        <p:nvSpPr>
          <p:cNvPr id="70" name="Text 68"/>
          <p:cNvSpPr/>
          <p:nvPr/>
        </p:nvSpPr>
        <p:spPr>
          <a:xfrm>
            <a:off x="6382512" y="39593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71" name="Text 69"/>
          <p:cNvSpPr/>
          <p:nvPr/>
        </p:nvSpPr>
        <p:spPr>
          <a:xfrm>
            <a:off x="6382512" y="4270248"/>
            <a:ext cx="5233111" cy="137160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distraction (none / counting backwards)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distance fallen → reaction time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same person, ruler, hand, start height, catching position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low risk: no caffeine or energy drinks for this test</a:t>
            </a:r>
            <a:endParaRPr lang="en-US" sz="1050" dirty="0"/>
          </a:p>
        </p:txBody>
      </p:sp>
      <p:sp>
        <p:nvSpPr>
          <p:cNvPr id="72" name="Shape 70"/>
          <p:cNvSpPr/>
          <p:nvPr/>
        </p:nvSpPr>
        <p:spPr>
          <a:xfrm>
            <a:off x="411480" y="5833872"/>
            <a:ext cx="11368735" cy="530352"/>
          </a:xfrm>
          <a:prstGeom prst="rect">
            <a:avLst/>
          </a:prstGeom>
          <a:solidFill>
            <a:srgbClr val="FFF4E0"/>
          </a:solidFill>
          <a:ln w="6350">
            <a:solidFill>
              <a:srgbClr val="F1D9A8"/>
            </a:solidFill>
            <a:prstDash val="solid"/>
          </a:ln>
        </p:spPr>
      </p:sp>
      <p:sp>
        <p:nvSpPr>
          <p:cNvPr id="73" name="Shape 71"/>
          <p:cNvSpPr/>
          <p:nvPr/>
        </p:nvSpPr>
        <p:spPr>
          <a:xfrm>
            <a:off x="411480" y="5833872"/>
            <a:ext cx="82296" cy="530352"/>
          </a:xfrm>
          <a:prstGeom prst="rect">
            <a:avLst/>
          </a:prstGeom>
          <a:solidFill>
            <a:srgbClr val="E39A2F"/>
          </a:solidFill>
          <a:ln w="12700">
            <a:solidFill>
              <a:srgbClr val="E39A2F"/>
            </a:solidFill>
            <a:prstDash val="solid"/>
          </a:ln>
        </p:spPr>
      </p:sp>
      <p:sp>
        <p:nvSpPr>
          <p:cNvPr id="74" name="Text 7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person A drop the ruler </a:t>
            </a:r>
            <a:r>
              <a:rPr lang="en-US" sz="1150" b="1" dirty="0">
                <a:solidFill>
                  <a:srgbClr val="262B3A"/>
                </a:solidFill>
                <a:latin typeface="Calibri" pitchFamily="34" charset="0"/>
                <a:ea typeface="Calibri" pitchFamily="34" charset="-122"/>
                <a:cs typeface="Calibri" pitchFamily="34" charset="-120"/>
              </a:rPr>
              <a:t>without warning</a:t>
            </a:r>
            <a:r>
              <a:rPr lang="en-US" sz="1150" dirty="0">
                <a:solidFill>
                  <a:srgbClr val="262B3A"/>
                </a:solidFill>
                <a:latin typeface="Calibri" pitchFamily="34" charset="0"/>
                <a:ea typeface="Calibri" pitchFamily="34" charset="-122"/>
                <a:cs typeface="Calibri" pitchFamily="34" charset="-120"/>
              </a:rPr>
              <a:t>? Why does B use the </a:t>
            </a:r>
            <a:r>
              <a:rPr lang="en-US" sz="1150" b="1" dirty="0">
                <a:solidFill>
                  <a:srgbClr val="262B3A"/>
                </a:solidFill>
                <a:latin typeface="Calibri" pitchFamily="34" charset="0"/>
                <a:ea typeface="Calibri" pitchFamily="34" charset="-122"/>
                <a:cs typeface="Calibri" pitchFamily="34" charset="-120"/>
              </a:rPr>
              <a:t>same hand</a:t>
            </a:r>
            <a:r>
              <a:rPr lang="en-US" sz="1150" dirty="0">
                <a:solidFill>
                  <a:srgbClr val="262B3A"/>
                </a:solidFill>
                <a:latin typeface="Calibri" pitchFamily="34" charset="0"/>
                <a:ea typeface="Calibri" pitchFamily="34" charset="-122"/>
                <a:cs typeface="Calibri" pitchFamily="34" charset="-120"/>
              </a:rPr>
              <a:t> every time?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Practical: results and means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B5.2.3 • ruler drop distances for one student (sample data)</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16</a:t>
            </a:r>
            <a:endParaRPr lang="en-US" sz="1000" dirty="0"/>
          </a:p>
        </p:txBody>
      </p:sp>
      <p:sp>
        <p:nvSpPr>
          <p:cNvPr id="10" name="Text 8"/>
          <p:cNvSpPr/>
          <p:nvPr/>
        </p:nvSpPr>
        <p:spPr>
          <a:xfrm>
            <a:off x="411480" y="1143000"/>
            <a:ext cx="731520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Distance fallen d / cm, trials 1–5</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11365992" cy="914400"/>
        </p:xfrm>
        <a:graphic>
          <a:graphicData uri="http://schemas.openxmlformats.org/drawingml/2006/table">
            <a:tbl>
              <a:tblPr/>
              <a:tblGrid>
                <a:gridCol w="2103120"/>
                <a:gridCol w="914400"/>
                <a:gridCol w="914400"/>
                <a:gridCol w="914400"/>
                <a:gridCol w="914400"/>
                <a:gridCol w="914400"/>
                <a:gridCol w="2011680"/>
                <a:gridCol w="2679192"/>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Mean d / cm</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Reaction time / s</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329184">
                <a:tc>
                  <a:txBody>
                    <a:bodyPr/>
                    <a:lstStyle/>
                    <a:p>
                      <a:pPr algn="l" indent="0" marL="0">
                        <a:buNone/>
                      </a:pPr>
                      <a:r>
                        <a:rPr lang="en-US" sz="1100" b="1" dirty="0">
                          <a:solidFill>
                            <a:srgbClr val="262B3A"/>
                          </a:solidFill>
                          <a:latin typeface="Calibri" pitchFamily="34" charset="0"/>
                          <a:ea typeface="Calibri" pitchFamily="34" charset="-122"/>
                          <a:cs typeface="Calibri" pitchFamily="34" charset="-120"/>
                        </a:rPr>
                        <a:t>No distraction</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16.2</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14.8</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15.5</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17.1</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15.4</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15.8</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0.18</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29184">
                <a:tc>
                  <a:txBody>
                    <a:bodyPr/>
                    <a:lstStyle/>
                    <a:p>
                      <a:pPr algn="l" indent="0" marL="0">
                        <a:buNone/>
                      </a:pPr>
                      <a:r>
                        <a:rPr lang="en-US" sz="1100" b="1" dirty="0">
                          <a:solidFill>
                            <a:srgbClr val="262B3A"/>
                          </a:solidFill>
                          <a:latin typeface="Calibri" pitchFamily="34" charset="0"/>
                          <a:ea typeface="Calibri" pitchFamily="34" charset="-122"/>
                          <a:cs typeface="Calibri" pitchFamily="34" charset="-120"/>
                        </a:rPr>
                        <a:t>Counting backwards</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22.6</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24.1</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21.5</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35.2</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23.8</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23.0</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0.22</a:t>
                      </a:r>
                      <a:endParaRPr lang="en-US" sz="11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12" name="Shape 9"/>
          <p:cNvSpPr/>
          <p:nvPr/>
        </p:nvSpPr>
        <p:spPr>
          <a:xfrm>
            <a:off x="5422392" y="2093976"/>
            <a:ext cx="585216" cy="292608"/>
          </a:xfrm>
          <a:prstGeom prst="ellipse">
            <a:avLst/>
          </a:prstGeom>
          <a:ln w="19050">
            <a:solidFill>
              <a:srgbClr val="C8414C"/>
            </a:solidFill>
            <a:prstDash val="solid"/>
          </a:ln>
        </p:spPr>
      </p:sp>
      <p:sp>
        <p:nvSpPr>
          <p:cNvPr id="13" name="Text 10"/>
          <p:cNvSpPr/>
          <p:nvPr/>
        </p:nvSpPr>
        <p:spPr>
          <a:xfrm>
            <a:off x="411480" y="2450592"/>
            <a:ext cx="11338560" cy="274320"/>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35.2</a:t>
            </a:r>
            <a:r>
              <a:rPr lang="en-US" sz="1050" dirty="0">
                <a:solidFill>
                  <a:srgbClr val="262B3A"/>
                </a:solidFill>
                <a:latin typeface="Calibri" pitchFamily="34" charset="0"/>
                <a:ea typeface="Calibri" pitchFamily="34" charset="-122"/>
                <a:cs typeface="Calibri" pitchFamily="34" charset="-120"/>
              </a:rPr>
              <a:t> is an </a:t>
            </a:r>
            <a:r>
              <a:rPr lang="en-US" sz="1050" b="1" dirty="0">
                <a:solidFill>
                  <a:srgbClr val="262B3A"/>
                </a:solidFill>
                <a:latin typeface="Calibri" pitchFamily="34" charset="0"/>
                <a:ea typeface="Calibri" pitchFamily="34" charset="-122"/>
                <a:cs typeface="Calibri" pitchFamily="34" charset="-120"/>
              </a:rPr>
              <a:t>anomaly</a:t>
            </a:r>
            <a:r>
              <a:rPr lang="en-US" sz="1050" dirty="0">
                <a:solidFill>
                  <a:srgbClr val="262B3A"/>
                </a:solidFill>
                <a:latin typeface="Calibri" pitchFamily="34" charset="0"/>
                <a:ea typeface="Calibri" pitchFamily="34" charset="-122"/>
                <a:cs typeface="Calibri" pitchFamily="34" charset="-120"/>
              </a:rPr>
              <a:t> (far from the other four results): it is left out of the mean. Reaction times come from the conversion graph on the next slide.</a:t>
            </a:r>
            <a:endParaRPr lang="en-US" sz="1050" dirty="0"/>
          </a:p>
        </p:txBody>
      </p:sp>
      <p:sp>
        <p:nvSpPr>
          <p:cNvPr id="14" name="Shape 11"/>
          <p:cNvSpPr/>
          <p:nvPr/>
        </p:nvSpPr>
        <p:spPr>
          <a:xfrm>
            <a:off x="411480" y="2834640"/>
            <a:ext cx="5577840" cy="1737360"/>
          </a:xfrm>
          <a:prstGeom prst="roundRect">
            <a:avLst>
              <a:gd name="adj" fmla="val 3158"/>
            </a:avLst>
          </a:prstGeom>
          <a:solidFill>
            <a:srgbClr val="FFF4E0"/>
          </a:solidFill>
          <a:ln w="9525">
            <a:solidFill>
              <a:srgbClr val="F1D9A8"/>
            </a:solidFill>
            <a:prstDash val="solid"/>
          </a:ln>
        </p:spPr>
      </p:sp>
      <p:sp>
        <p:nvSpPr>
          <p:cNvPr id="15" name="Text 12"/>
          <p:cNvSpPr/>
          <p:nvPr/>
        </p:nvSpPr>
        <p:spPr>
          <a:xfrm>
            <a:off x="576072" y="2907792"/>
            <a:ext cx="5248656"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calculating the means</a:t>
            </a:r>
            <a:endParaRPr lang="en-US" sz="1300" dirty="0"/>
          </a:p>
        </p:txBody>
      </p:sp>
      <p:sp>
        <p:nvSpPr>
          <p:cNvPr id="16" name="Text 13"/>
          <p:cNvSpPr/>
          <p:nvPr/>
        </p:nvSpPr>
        <p:spPr>
          <a:xfrm>
            <a:off x="576072" y="3218688"/>
            <a:ext cx="5248656" cy="128016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No distraction   </a:t>
            </a:r>
            <a:r>
              <a:rPr lang="en-US" sz="1050" dirty="0">
                <a:solidFill>
                  <a:srgbClr val="262B3A"/>
                </a:solidFill>
                <a:latin typeface="Calibri" pitchFamily="34" charset="0"/>
                <a:ea typeface="Calibri" pitchFamily="34" charset="-122"/>
                <a:cs typeface="Calibri" pitchFamily="34" charset="-120"/>
              </a:rPr>
              <a:t>(16.2 + 14.8 + 15.5 + 17.1 + 15.4) ÷ 5 = 79 ÷ 5 = </a:t>
            </a:r>
            <a:r>
              <a:rPr lang="en-US" sz="1050" b="1" dirty="0">
                <a:solidFill>
                  <a:srgbClr val="262B3A"/>
                </a:solidFill>
                <a:latin typeface="Calibri" pitchFamily="34" charset="0"/>
                <a:ea typeface="Calibri" pitchFamily="34" charset="-122"/>
                <a:cs typeface="Calibri" pitchFamily="34" charset="-120"/>
              </a:rPr>
              <a:t>15.8 cm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Counting backwards   </a:t>
            </a:r>
            <a:r>
              <a:rPr lang="en-US" sz="1050" dirty="0">
                <a:solidFill>
                  <a:srgbClr val="262B3A"/>
                </a:solidFill>
                <a:latin typeface="Calibri" pitchFamily="34" charset="0"/>
                <a:ea typeface="Calibri" pitchFamily="34" charset="-122"/>
                <a:cs typeface="Calibri" pitchFamily="34" charset="-120"/>
              </a:rPr>
              <a:t>leave out 35.2: (22.6 + 24.1 + 21.5 + 23.8) ÷ 4 = 92 ÷ 4 = </a:t>
            </a:r>
            <a:r>
              <a:rPr lang="en-US" sz="1050" b="1" dirty="0">
                <a:solidFill>
                  <a:srgbClr val="262B3A"/>
                </a:solidFill>
                <a:latin typeface="Calibri" pitchFamily="34" charset="0"/>
                <a:ea typeface="Calibri" pitchFamily="34" charset="-122"/>
                <a:cs typeface="Calibri" pitchFamily="34" charset="-120"/>
              </a:rPr>
              <a:t>23.0 cm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Check   </a:t>
            </a:r>
            <a:r>
              <a:rPr lang="en-US" sz="1050" dirty="0">
                <a:solidFill>
                  <a:srgbClr val="262B3A"/>
                </a:solidFill>
                <a:latin typeface="Calibri" pitchFamily="34" charset="0"/>
                <a:ea typeface="Calibri" pitchFamily="34" charset="-122"/>
                <a:cs typeface="Calibri" pitchFamily="34" charset="-120"/>
              </a:rPr>
              <a:t>keeping the anomaly would give 25.44 cm: too high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mean d = 15.8 cm and 23.0 cm → about 0.18 s and 0.22 s</a:t>
            </a:r>
            <a:endParaRPr lang="en-US" sz="1050" dirty="0"/>
          </a:p>
        </p:txBody>
      </p:sp>
      <p:sp>
        <p:nvSpPr>
          <p:cNvPr id="17" name="Shape 14"/>
          <p:cNvSpPr/>
          <p:nvPr/>
        </p:nvSpPr>
        <p:spPr>
          <a:xfrm>
            <a:off x="411480" y="4681728"/>
            <a:ext cx="5577840" cy="1033272"/>
          </a:xfrm>
          <a:prstGeom prst="roundRect">
            <a:avLst>
              <a:gd name="adj" fmla="val 5310"/>
            </a:avLst>
          </a:prstGeom>
          <a:solidFill>
            <a:srgbClr val="F4FAF9"/>
          </a:solidFill>
          <a:ln w="9525">
            <a:solidFill>
              <a:srgbClr val="CFE0DE"/>
            </a:solidFill>
            <a:prstDash val="solid"/>
          </a:ln>
        </p:spPr>
      </p:sp>
      <p:sp>
        <p:nvSpPr>
          <p:cNvPr id="18" name="Text 15"/>
          <p:cNvSpPr/>
          <p:nvPr/>
        </p:nvSpPr>
        <p:spPr>
          <a:xfrm>
            <a:off x="576072" y="4773168"/>
            <a:ext cx="524865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Conclusion</a:t>
            </a:r>
            <a:endParaRPr lang="en-US" sz="1300" dirty="0"/>
          </a:p>
        </p:txBody>
      </p:sp>
      <p:sp>
        <p:nvSpPr>
          <p:cNvPr id="19" name="Text 16"/>
          <p:cNvSpPr/>
          <p:nvPr/>
        </p:nvSpPr>
        <p:spPr>
          <a:xfrm>
            <a:off x="576072" y="5102352"/>
            <a:ext cx="5248656" cy="539496"/>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With the distraction the mean reaction time rose from about </a:t>
            </a:r>
            <a:r>
              <a:rPr lang="en-US" sz="1050" b="1" dirty="0">
                <a:solidFill>
                  <a:srgbClr val="262B3A"/>
                </a:solidFill>
                <a:latin typeface="Calibri" pitchFamily="34" charset="0"/>
                <a:ea typeface="Calibri" pitchFamily="34" charset="-122"/>
                <a:cs typeface="Calibri" pitchFamily="34" charset="-120"/>
              </a:rPr>
              <a:t>0.18 s</a:t>
            </a:r>
            <a:r>
              <a:rPr lang="en-US" sz="1050" dirty="0">
                <a:solidFill>
                  <a:srgbClr val="262B3A"/>
                </a:solidFill>
                <a:latin typeface="Calibri" pitchFamily="34" charset="0"/>
                <a:ea typeface="Calibri" pitchFamily="34" charset="-122"/>
                <a:cs typeface="Calibri" pitchFamily="34" charset="-120"/>
              </a:rPr>
              <a:t> to </a:t>
            </a:r>
            <a:r>
              <a:rPr lang="en-US" sz="1050" b="1" dirty="0">
                <a:solidFill>
                  <a:srgbClr val="262B3A"/>
                </a:solidFill>
                <a:latin typeface="Calibri" pitchFamily="34" charset="0"/>
                <a:ea typeface="Calibri" pitchFamily="34" charset="-122"/>
                <a:cs typeface="Calibri" pitchFamily="34" charset="-120"/>
              </a:rPr>
              <a:t>0.22 s</a:t>
            </a:r>
            <a:r>
              <a:rPr lang="en-US" sz="1050" dirty="0">
                <a:solidFill>
                  <a:srgbClr val="262B3A"/>
                </a:solidFill>
                <a:latin typeface="Calibri" pitchFamily="34" charset="0"/>
                <a:ea typeface="Calibri" pitchFamily="34" charset="-122"/>
                <a:cs typeface="Calibri" pitchFamily="34" charset="-120"/>
              </a:rPr>
              <a:t>: the brain was busy with the counting.</a:t>
            </a:r>
            <a:endParaRPr lang="en-US" sz="1050" dirty="0"/>
          </a:p>
        </p:txBody>
      </p:sp>
      <p:sp>
        <p:nvSpPr>
          <p:cNvPr id="20" name="Shape 17"/>
          <p:cNvSpPr/>
          <p:nvPr/>
        </p:nvSpPr>
        <p:spPr>
          <a:xfrm>
            <a:off x="6217920" y="2834640"/>
            <a:ext cx="5559552" cy="2880360"/>
          </a:xfrm>
          <a:prstGeom prst="roundRect">
            <a:avLst>
              <a:gd name="adj" fmla="val 2540"/>
            </a:avLst>
          </a:prstGeom>
          <a:solidFill>
            <a:srgbClr val="EEF5F4"/>
          </a:solidFill>
          <a:ln w="9525">
            <a:solidFill>
              <a:srgbClr val="D2E3E1"/>
            </a:solidFill>
            <a:prstDash val="solid"/>
          </a:ln>
        </p:spPr>
      </p:sp>
      <p:sp>
        <p:nvSpPr>
          <p:cNvPr id="21" name="Shape 18"/>
          <p:cNvSpPr/>
          <p:nvPr/>
        </p:nvSpPr>
        <p:spPr>
          <a:xfrm>
            <a:off x="7406640" y="3017520"/>
            <a:ext cx="4023360" cy="2011680"/>
          </a:xfrm>
          <a:prstGeom prst="rect">
            <a:avLst/>
          </a:prstGeom>
          <a:solidFill>
            <a:srgbClr val="FFFFFF"/>
          </a:solidFill>
          <a:ln/>
        </p:spPr>
      </p:sp>
      <p:sp>
        <p:nvSpPr>
          <p:cNvPr id="22" name="Shape 19"/>
          <p:cNvSpPr/>
          <p:nvPr/>
        </p:nvSpPr>
        <p:spPr>
          <a:xfrm>
            <a:off x="7406640" y="3017520"/>
            <a:ext cx="91" cy="2011680"/>
          </a:xfrm>
          <a:prstGeom prst="line">
            <a:avLst/>
          </a:prstGeom>
          <a:noFill/>
          <a:ln w="6350">
            <a:solidFill>
              <a:srgbClr val="C5DCD9"/>
            </a:solidFill>
            <a:prstDash val="solid"/>
          </a:ln>
        </p:spPr>
      </p:sp>
      <p:sp>
        <p:nvSpPr>
          <p:cNvPr id="23" name="Shape 20"/>
          <p:cNvSpPr/>
          <p:nvPr/>
        </p:nvSpPr>
        <p:spPr>
          <a:xfrm>
            <a:off x="9418320" y="3017520"/>
            <a:ext cx="91" cy="2011680"/>
          </a:xfrm>
          <a:prstGeom prst="line">
            <a:avLst/>
          </a:prstGeom>
          <a:noFill/>
          <a:ln w="6350">
            <a:solidFill>
              <a:srgbClr val="C5DCD9"/>
            </a:solidFill>
            <a:prstDash val="solid"/>
          </a:ln>
        </p:spPr>
      </p:sp>
      <p:sp>
        <p:nvSpPr>
          <p:cNvPr id="24" name="Shape 21"/>
          <p:cNvSpPr/>
          <p:nvPr/>
        </p:nvSpPr>
        <p:spPr>
          <a:xfrm>
            <a:off x="11430000" y="3017520"/>
            <a:ext cx="91" cy="2011680"/>
          </a:xfrm>
          <a:prstGeom prst="line">
            <a:avLst/>
          </a:prstGeom>
          <a:noFill/>
          <a:ln w="6350">
            <a:solidFill>
              <a:srgbClr val="C5DCD9"/>
            </a:solidFill>
            <a:prstDash val="solid"/>
          </a:ln>
        </p:spPr>
      </p:sp>
      <p:sp>
        <p:nvSpPr>
          <p:cNvPr id="25" name="Shape 22"/>
          <p:cNvSpPr/>
          <p:nvPr/>
        </p:nvSpPr>
        <p:spPr>
          <a:xfrm>
            <a:off x="7406640" y="5029200"/>
            <a:ext cx="4023360" cy="91"/>
          </a:xfrm>
          <a:prstGeom prst="line">
            <a:avLst/>
          </a:prstGeom>
          <a:noFill/>
          <a:ln w="6350">
            <a:solidFill>
              <a:srgbClr val="C5DCD9"/>
            </a:solidFill>
            <a:prstDash val="solid"/>
          </a:ln>
        </p:spPr>
      </p:sp>
      <p:sp>
        <p:nvSpPr>
          <p:cNvPr id="26" name="Shape 23"/>
          <p:cNvSpPr/>
          <p:nvPr/>
        </p:nvSpPr>
        <p:spPr>
          <a:xfrm>
            <a:off x="7406640" y="4626864"/>
            <a:ext cx="4023360" cy="91"/>
          </a:xfrm>
          <a:prstGeom prst="line">
            <a:avLst/>
          </a:prstGeom>
          <a:noFill/>
          <a:ln w="6350">
            <a:solidFill>
              <a:srgbClr val="C5DCD9"/>
            </a:solidFill>
            <a:prstDash val="solid"/>
          </a:ln>
        </p:spPr>
      </p:sp>
      <p:sp>
        <p:nvSpPr>
          <p:cNvPr id="27" name="Shape 24"/>
          <p:cNvSpPr/>
          <p:nvPr/>
        </p:nvSpPr>
        <p:spPr>
          <a:xfrm>
            <a:off x="7406640" y="4224528"/>
            <a:ext cx="4023360" cy="91"/>
          </a:xfrm>
          <a:prstGeom prst="line">
            <a:avLst/>
          </a:prstGeom>
          <a:noFill/>
          <a:ln w="6350">
            <a:solidFill>
              <a:srgbClr val="C5DCD9"/>
            </a:solidFill>
            <a:prstDash val="solid"/>
          </a:ln>
        </p:spPr>
      </p:sp>
      <p:sp>
        <p:nvSpPr>
          <p:cNvPr id="28" name="Shape 25"/>
          <p:cNvSpPr/>
          <p:nvPr/>
        </p:nvSpPr>
        <p:spPr>
          <a:xfrm>
            <a:off x="7406640" y="3822192"/>
            <a:ext cx="4023360" cy="91"/>
          </a:xfrm>
          <a:prstGeom prst="line">
            <a:avLst/>
          </a:prstGeom>
          <a:noFill/>
          <a:ln w="6350">
            <a:solidFill>
              <a:srgbClr val="C5DCD9"/>
            </a:solidFill>
            <a:prstDash val="solid"/>
          </a:ln>
        </p:spPr>
      </p:sp>
      <p:sp>
        <p:nvSpPr>
          <p:cNvPr id="29" name="Shape 26"/>
          <p:cNvSpPr/>
          <p:nvPr/>
        </p:nvSpPr>
        <p:spPr>
          <a:xfrm>
            <a:off x="7406640" y="3419856"/>
            <a:ext cx="4023360" cy="91"/>
          </a:xfrm>
          <a:prstGeom prst="line">
            <a:avLst/>
          </a:prstGeom>
          <a:noFill/>
          <a:ln w="6350">
            <a:solidFill>
              <a:srgbClr val="C5DCD9"/>
            </a:solidFill>
            <a:prstDash val="solid"/>
          </a:ln>
        </p:spPr>
      </p:sp>
      <p:sp>
        <p:nvSpPr>
          <p:cNvPr id="30" name="Shape 27"/>
          <p:cNvSpPr/>
          <p:nvPr/>
        </p:nvSpPr>
        <p:spPr>
          <a:xfrm>
            <a:off x="7406640" y="3017520"/>
            <a:ext cx="4023360" cy="91"/>
          </a:xfrm>
          <a:prstGeom prst="line">
            <a:avLst/>
          </a:prstGeom>
          <a:noFill/>
          <a:ln w="6350">
            <a:solidFill>
              <a:srgbClr val="C5DCD9"/>
            </a:solidFill>
            <a:prstDash val="solid"/>
          </a:ln>
        </p:spPr>
      </p:sp>
      <p:sp>
        <p:nvSpPr>
          <p:cNvPr id="31" name="Shape 28"/>
          <p:cNvSpPr/>
          <p:nvPr/>
        </p:nvSpPr>
        <p:spPr>
          <a:xfrm>
            <a:off x="7406640" y="5029200"/>
            <a:ext cx="4023360" cy="91"/>
          </a:xfrm>
          <a:prstGeom prst="line">
            <a:avLst/>
          </a:prstGeom>
          <a:noFill/>
          <a:ln w="19050">
            <a:solidFill>
              <a:srgbClr val="133536"/>
            </a:solidFill>
            <a:prstDash val="solid"/>
          </a:ln>
        </p:spPr>
      </p:sp>
      <p:sp>
        <p:nvSpPr>
          <p:cNvPr id="32" name="Shape 29"/>
          <p:cNvSpPr/>
          <p:nvPr/>
        </p:nvSpPr>
        <p:spPr>
          <a:xfrm flipV="1">
            <a:off x="7406640" y="3017520"/>
            <a:ext cx="91" cy="2011680"/>
          </a:xfrm>
          <a:prstGeom prst="line">
            <a:avLst/>
          </a:prstGeom>
          <a:noFill/>
          <a:ln w="19050">
            <a:solidFill>
              <a:srgbClr val="133536"/>
            </a:solidFill>
            <a:prstDash val="solid"/>
          </a:ln>
        </p:spPr>
      </p:sp>
      <p:sp>
        <p:nvSpPr>
          <p:cNvPr id="33" name="Shape 30"/>
          <p:cNvSpPr/>
          <p:nvPr/>
        </p:nvSpPr>
        <p:spPr>
          <a:xfrm>
            <a:off x="7406640" y="5029200"/>
            <a:ext cx="91" cy="54864"/>
          </a:xfrm>
          <a:prstGeom prst="line">
            <a:avLst/>
          </a:prstGeom>
          <a:noFill/>
          <a:ln w="12700">
            <a:solidFill>
              <a:srgbClr val="133536"/>
            </a:solidFill>
            <a:prstDash val="solid"/>
          </a:ln>
        </p:spPr>
      </p:sp>
      <p:sp>
        <p:nvSpPr>
          <p:cNvPr id="34" name="Text 31"/>
          <p:cNvSpPr/>
          <p:nvPr/>
        </p:nvSpPr>
        <p:spPr>
          <a:xfrm>
            <a:off x="7132320" y="50840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9418320" y="5029200"/>
            <a:ext cx="91" cy="54864"/>
          </a:xfrm>
          <a:prstGeom prst="line">
            <a:avLst/>
          </a:prstGeom>
          <a:noFill/>
          <a:ln w="12700">
            <a:solidFill>
              <a:srgbClr val="133536"/>
            </a:solidFill>
            <a:prstDash val="solid"/>
          </a:ln>
        </p:spPr>
      </p:sp>
      <p:sp>
        <p:nvSpPr>
          <p:cNvPr id="36" name="Text 33"/>
          <p:cNvSpPr/>
          <p:nvPr/>
        </p:nvSpPr>
        <p:spPr>
          <a:xfrm>
            <a:off x="9144000" y="50840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7" name="Shape 34"/>
          <p:cNvSpPr/>
          <p:nvPr/>
        </p:nvSpPr>
        <p:spPr>
          <a:xfrm>
            <a:off x="11430000" y="5029200"/>
            <a:ext cx="91" cy="54864"/>
          </a:xfrm>
          <a:prstGeom prst="line">
            <a:avLst/>
          </a:prstGeom>
          <a:noFill/>
          <a:ln w="12700">
            <a:solidFill>
              <a:srgbClr val="133536"/>
            </a:solidFill>
            <a:prstDash val="solid"/>
          </a:ln>
        </p:spPr>
      </p:sp>
      <p:sp>
        <p:nvSpPr>
          <p:cNvPr id="38" name="Text 35"/>
          <p:cNvSpPr/>
          <p:nvPr/>
        </p:nvSpPr>
        <p:spPr>
          <a:xfrm>
            <a:off x="11155680" y="50840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9" name="Shape 36"/>
          <p:cNvSpPr/>
          <p:nvPr/>
        </p:nvSpPr>
        <p:spPr>
          <a:xfrm>
            <a:off x="7351776" y="5029200"/>
            <a:ext cx="54864" cy="91"/>
          </a:xfrm>
          <a:prstGeom prst="line">
            <a:avLst/>
          </a:prstGeom>
          <a:noFill/>
          <a:ln w="12700">
            <a:solidFill>
              <a:srgbClr val="133536"/>
            </a:solidFill>
            <a:prstDash val="solid"/>
          </a:ln>
        </p:spPr>
      </p:sp>
      <p:sp>
        <p:nvSpPr>
          <p:cNvPr id="40" name="Text 37"/>
          <p:cNvSpPr/>
          <p:nvPr/>
        </p:nvSpPr>
        <p:spPr>
          <a:xfrm>
            <a:off x="6967728" y="4937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1" name="Shape 38"/>
          <p:cNvSpPr/>
          <p:nvPr/>
        </p:nvSpPr>
        <p:spPr>
          <a:xfrm>
            <a:off x="7351776" y="4626864"/>
            <a:ext cx="54864" cy="91"/>
          </a:xfrm>
          <a:prstGeom prst="line">
            <a:avLst/>
          </a:prstGeom>
          <a:noFill/>
          <a:ln w="12700">
            <a:solidFill>
              <a:srgbClr val="133536"/>
            </a:solidFill>
            <a:prstDash val="solid"/>
          </a:ln>
        </p:spPr>
      </p:sp>
      <p:sp>
        <p:nvSpPr>
          <p:cNvPr id="42" name="Text 39"/>
          <p:cNvSpPr/>
          <p:nvPr/>
        </p:nvSpPr>
        <p:spPr>
          <a:xfrm>
            <a:off x="6967728" y="453542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43" name="Shape 40"/>
          <p:cNvSpPr/>
          <p:nvPr/>
        </p:nvSpPr>
        <p:spPr>
          <a:xfrm>
            <a:off x="7351776" y="4224528"/>
            <a:ext cx="54864" cy="91"/>
          </a:xfrm>
          <a:prstGeom prst="line">
            <a:avLst/>
          </a:prstGeom>
          <a:noFill/>
          <a:ln w="12700">
            <a:solidFill>
              <a:srgbClr val="133536"/>
            </a:solidFill>
            <a:prstDash val="solid"/>
          </a:ln>
        </p:spPr>
      </p:sp>
      <p:sp>
        <p:nvSpPr>
          <p:cNvPr id="44" name="Text 41"/>
          <p:cNvSpPr/>
          <p:nvPr/>
        </p:nvSpPr>
        <p:spPr>
          <a:xfrm>
            <a:off x="6967728" y="413308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45" name="Shape 42"/>
          <p:cNvSpPr/>
          <p:nvPr/>
        </p:nvSpPr>
        <p:spPr>
          <a:xfrm>
            <a:off x="7351776" y="3822192"/>
            <a:ext cx="54864" cy="91"/>
          </a:xfrm>
          <a:prstGeom prst="line">
            <a:avLst/>
          </a:prstGeom>
          <a:noFill/>
          <a:ln w="12700">
            <a:solidFill>
              <a:srgbClr val="133536"/>
            </a:solidFill>
            <a:prstDash val="solid"/>
          </a:ln>
        </p:spPr>
      </p:sp>
      <p:sp>
        <p:nvSpPr>
          <p:cNvPr id="46" name="Text 43"/>
          <p:cNvSpPr/>
          <p:nvPr/>
        </p:nvSpPr>
        <p:spPr>
          <a:xfrm>
            <a:off x="6967728" y="37307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47" name="Shape 44"/>
          <p:cNvSpPr/>
          <p:nvPr/>
        </p:nvSpPr>
        <p:spPr>
          <a:xfrm>
            <a:off x="7351776" y="3419856"/>
            <a:ext cx="54864" cy="91"/>
          </a:xfrm>
          <a:prstGeom prst="line">
            <a:avLst/>
          </a:prstGeom>
          <a:noFill/>
          <a:ln w="12700">
            <a:solidFill>
              <a:srgbClr val="133536"/>
            </a:solidFill>
            <a:prstDash val="solid"/>
          </a:ln>
        </p:spPr>
      </p:sp>
      <p:sp>
        <p:nvSpPr>
          <p:cNvPr id="48" name="Text 45"/>
          <p:cNvSpPr/>
          <p:nvPr/>
        </p:nvSpPr>
        <p:spPr>
          <a:xfrm>
            <a:off x="6967728" y="332841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49" name="Shape 46"/>
          <p:cNvSpPr/>
          <p:nvPr/>
        </p:nvSpPr>
        <p:spPr>
          <a:xfrm>
            <a:off x="7351776" y="3017520"/>
            <a:ext cx="54864" cy="91"/>
          </a:xfrm>
          <a:prstGeom prst="line">
            <a:avLst/>
          </a:prstGeom>
          <a:noFill/>
          <a:ln w="12700">
            <a:solidFill>
              <a:srgbClr val="133536"/>
            </a:solidFill>
            <a:prstDash val="solid"/>
          </a:ln>
        </p:spPr>
      </p:sp>
      <p:sp>
        <p:nvSpPr>
          <p:cNvPr id="50" name="Text 47"/>
          <p:cNvSpPr/>
          <p:nvPr/>
        </p:nvSpPr>
        <p:spPr>
          <a:xfrm>
            <a:off x="6967728" y="2926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51" name="Text 48"/>
          <p:cNvSpPr/>
          <p:nvPr/>
        </p:nvSpPr>
        <p:spPr>
          <a:xfrm rot="16200000">
            <a:off x="5833872" y="3895344"/>
            <a:ext cx="20116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mean reaction time / ms</a:t>
            </a:r>
            <a:endParaRPr lang="en-US" sz="1050" dirty="0"/>
          </a:p>
        </p:txBody>
      </p:sp>
      <p:sp>
        <p:nvSpPr>
          <p:cNvPr id="52" name="Shape 49"/>
          <p:cNvSpPr/>
          <p:nvPr/>
        </p:nvSpPr>
        <p:spPr>
          <a:xfrm>
            <a:off x="8001000" y="3584261"/>
            <a:ext cx="822960" cy="1444939"/>
          </a:xfrm>
          <a:prstGeom prst="rect">
            <a:avLst/>
          </a:prstGeom>
          <a:solidFill>
            <a:srgbClr val="0D7877"/>
          </a:solidFill>
          <a:ln w="12700">
            <a:solidFill>
              <a:srgbClr val="0D7877"/>
            </a:solidFill>
            <a:prstDash val="solid"/>
          </a:ln>
        </p:spPr>
      </p:sp>
      <p:sp>
        <p:nvSpPr>
          <p:cNvPr id="53" name="Text 50"/>
          <p:cNvSpPr/>
          <p:nvPr/>
        </p:nvSpPr>
        <p:spPr>
          <a:xfrm>
            <a:off x="7726680" y="3346517"/>
            <a:ext cx="13716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180 ms</a:t>
            </a:r>
            <a:endParaRPr lang="en-US" sz="1050" dirty="0"/>
          </a:p>
        </p:txBody>
      </p:sp>
      <p:sp>
        <p:nvSpPr>
          <p:cNvPr id="54" name="Text 51"/>
          <p:cNvSpPr/>
          <p:nvPr/>
        </p:nvSpPr>
        <p:spPr>
          <a:xfrm>
            <a:off x="7635240" y="5102352"/>
            <a:ext cx="155448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no distraction</a:t>
            </a:r>
            <a:endParaRPr lang="en-US" sz="1000" dirty="0"/>
          </a:p>
        </p:txBody>
      </p:sp>
      <p:sp>
        <p:nvSpPr>
          <p:cNvPr id="55" name="Shape 52"/>
          <p:cNvSpPr/>
          <p:nvPr/>
        </p:nvSpPr>
        <p:spPr>
          <a:xfrm>
            <a:off x="10012680" y="3285849"/>
            <a:ext cx="822960" cy="1743351"/>
          </a:xfrm>
          <a:prstGeom prst="rect">
            <a:avLst/>
          </a:prstGeom>
          <a:solidFill>
            <a:srgbClr val="B8730A"/>
          </a:solidFill>
          <a:ln w="12700">
            <a:solidFill>
              <a:srgbClr val="B8730A"/>
            </a:solidFill>
            <a:prstDash val="solid"/>
          </a:ln>
        </p:spPr>
      </p:sp>
      <p:sp>
        <p:nvSpPr>
          <p:cNvPr id="56" name="Text 53"/>
          <p:cNvSpPr/>
          <p:nvPr/>
        </p:nvSpPr>
        <p:spPr>
          <a:xfrm>
            <a:off x="9738360" y="3048105"/>
            <a:ext cx="13716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217 ms</a:t>
            </a:r>
            <a:endParaRPr lang="en-US" sz="1050" dirty="0"/>
          </a:p>
        </p:txBody>
      </p:sp>
      <p:sp>
        <p:nvSpPr>
          <p:cNvPr id="57" name="Text 54"/>
          <p:cNvSpPr/>
          <p:nvPr/>
        </p:nvSpPr>
        <p:spPr>
          <a:xfrm>
            <a:off x="9646920" y="5102352"/>
            <a:ext cx="155448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counting backwards</a:t>
            </a:r>
            <a:endParaRPr lang="en-US" sz="1000" dirty="0"/>
          </a:p>
        </p:txBody>
      </p:sp>
      <p:sp>
        <p:nvSpPr>
          <p:cNvPr id="58" name="Text 55"/>
          <p:cNvSpPr/>
          <p:nvPr/>
        </p:nvSpPr>
        <p:spPr>
          <a:xfrm>
            <a:off x="6355080" y="5413248"/>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bar chart: the independent variable is categoric</a:t>
            </a:r>
            <a:endParaRPr lang="en-US" sz="1000" dirty="0"/>
          </a:p>
        </p:txBody>
      </p:sp>
      <p:sp>
        <p:nvSpPr>
          <p:cNvPr id="59" name="Shape 56"/>
          <p:cNvSpPr/>
          <p:nvPr/>
        </p:nvSpPr>
        <p:spPr>
          <a:xfrm>
            <a:off x="411480" y="5833872"/>
            <a:ext cx="11368735" cy="530352"/>
          </a:xfrm>
          <a:prstGeom prst="rect">
            <a:avLst/>
          </a:prstGeom>
          <a:solidFill>
            <a:srgbClr val="FFF4E0"/>
          </a:solidFill>
          <a:ln w="6350">
            <a:solidFill>
              <a:srgbClr val="F1D9A8"/>
            </a:solidFill>
            <a:prstDash val="solid"/>
          </a:ln>
        </p:spPr>
      </p:sp>
      <p:sp>
        <p:nvSpPr>
          <p:cNvPr id="60" name="Shape 57"/>
          <p:cNvSpPr/>
          <p:nvPr/>
        </p:nvSpPr>
        <p:spPr>
          <a:xfrm>
            <a:off x="411480" y="5833872"/>
            <a:ext cx="82296" cy="530352"/>
          </a:xfrm>
          <a:prstGeom prst="rect">
            <a:avLst/>
          </a:prstGeom>
          <a:solidFill>
            <a:srgbClr val="E39A2F"/>
          </a:solidFill>
          <a:ln w="12700">
            <a:solidFill>
              <a:srgbClr val="E39A2F"/>
            </a:solidFill>
            <a:prstDash val="solid"/>
          </a:ln>
        </p:spPr>
      </p:sp>
      <p:sp>
        <p:nvSpPr>
          <p:cNvPr id="61" name="Text 5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anomaly left out? Calculate the </a:t>
            </a:r>
            <a:r>
              <a:rPr lang="en-US" sz="1150" b="1" dirty="0">
                <a:solidFill>
                  <a:srgbClr val="262B3A"/>
                </a:solidFill>
                <a:latin typeface="Calibri" pitchFamily="34" charset="0"/>
                <a:ea typeface="Calibri" pitchFamily="34" charset="-122"/>
                <a:cs typeface="Calibri" pitchFamily="34" charset="-120"/>
              </a:rPr>
              <a:t>range</a:t>
            </a:r>
            <a:r>
              <a:rPr lang="en-US" sz="1150" dirty="0">
                <a:solidFill>
                  <a:srgbClr val="262B3A"/>
                </a:solidFill>
                <a:latin typeface="Calibri" pitchFamily="34" charset="0"/>
                <a:ea typeface="Calibri" pitchFamily="34" charset="-122"/>
                <a:cs typeface="Calibri" pitchFamily="34" charset="-120"/>
              </a:rPr>
              <a:t> of the no-distraction results.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Practical: distance to reaction time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B5.2.3 • use a conversion graph; evaluate the method</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17</a:t>
            </a:r>
            <a:endParaRPr lang="en-US" sz="1000" dirty="0"/>
          </a:p>
        </p:txBody>
      </p:sp>
      <p:sp>
        <p:nvSpPr>
          <p:cNvPr id="10" name="Shape 8"/>
          <p:cNvSpPr/>
          <p:nvPr/>
        </p:nvSpPr>
        <p:spPr>
          <a:xfrm>
            <a:off x="411480" y="1188720"/>
            <a:ext cx="585216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5778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conversion graph drawn to scale from t = √(2d ÷ g)</a:t>
            </a:r>
            <a:endParaRPr lang="en-US" sz="1000" dirty="0"/>
          </a:p>
        </p:txBody>
      </p:sp>
      <p:sp>
        <p:nvSpPr>
          <p:cNvPr id="12" name="Shape 10"/>
          <p:cNvSpPr/>
          <p:nvPr/>
        </p:nvSpPr>
        <p:spPr>
          <a:xfrm>
            <a:off x="1325880" y="1417320"/>
            <a:ext cx="4663440" cy="3383280"/>
          </a:xfrm>
          <a:prstGeom prst="rect">
            <a:avLst/>
          </a:prstGeom>
          <a:solidFill>
            <a:srgbClr val="FFFFFF"/>
          </a:solidFill>
          <a:ln/>
        </p:spPr>
      </p:sp>
      <p:sp>
        <p:nvSpPr>
          <p:cNvPr id="13" name="Shape 11"/>
          <p:cNvSpPr/>
          <p:nvPr/>
        </p:nvSpPr>
        <p:spPr>
          <a:xfrm>
            <a:off x="1325880" y="1417320"/>
            <a:ext cx="91" cy="3383280"/>
          </a:xfrm>
          <a:prstGeom prst="line">
            <a:avLst/>
          </a:prstGeom>
          <a:noFill/>
          <a:ln w="6350">
            <a:solidFill>
              <a:srgbClr val="C5DCD9"/>
            </a:solidFill>
            <a:prstDash val="solid"/>
          </a:ln>
        </p:spPr>
      </p:sp>
      <p:sp>
        <p:nvSpPr>
          <p:cNvPr id="14" name="Shape 12"/>
          <p:cNvSpPr/>
          <p:nvPr/>
        </p:nvSpPr>
        <p:spPr>
          <a:xfrm>
            <a:off x="1481328" y="1417320"/>
            <a:ext cx="91" cy="3383280"/>
          </a:xfrm>
          <a:prstGeom prst="line">
            <a:avLst/>
          </a:prstGeom>
          <a:noFill/>
          <a:ln w="6350">
            <a:solidFill>
              <a:srgbClr val="E3EFED"/>
            </a:solidFill>
            <a:prstDash val="solid"/>
          </a:ln>
        </p:spPr>
      </p:sp>
      <p:sp>
        <p:nvSpPr>
          <p:cNvPr id="15" name="Shape 13"/>
          <p:cNvSpPr/>
          <p:nvPr/>
        </p:nvSpPr>
        <p:spPr>
          <a:xfrm>
            <a:off x="1636776" y="1417320"/>
            <a:ext cx="91" cy="3383280"/>
          </a:xfrm>
          <a:prstGeom prst="line">
            <a:avLst/>
          </a:prstGeom>
          <a:noFill/>
          <a:ln w="6350">
            <a:solidFill>
              <a:srgbClr val="E3EFED"/>
            </a:solidFill>
            <a:prstDash val="solid"/>
          </a:ln>
        </p:spPr>
      </p:sp>
      <p:sp>
        <p:nvSpPr>
          <p:cNvPr id="16" name="Shape 14"/>
          <p:cNvSpPr/>
          <p:nvPr/>
        </p:nvSpPr>
        <p:spPr>
          <a:xfrm>
            <a:off x="1792224" y="1417320"/>
            <a:ext cx="91" cy="3383280"/>
          </a:xfrm>
          <a:prstGeom prst="line">
            <a:avLst/>
          </a:prstGeom>
          <a:noFill/>
          <a:ln w="6350">
            <a:solidFill>
              <a:srgbClr val="E3EFED"/>
            </a:solidFill>
            <a:prstDash val="solid"/>
          </a:ln>
        </p:spPr>
      </p:sp>
      <p:sp>
        <p:nvSpPr>
          <p:cNvPr id="17" name="Shape 15"/>
          <p:cNvSpPr/>
          <p:nvPr/>
        </p:nvSpPr>
        <p:spPr>
          <a:xfrm>
            <a:off x="1947672" y="1417320"/>
            <a:ext cx="91" cy="3383280"/>
          </a:xfrm>
          <a:prstGeom prst="line">
            <a:avLst/>
          </a:prstGeom>
          <a:noFill/>
          <a:ln w="6350">
            <a:solidFill>
              <a:srgbClr val="E3EFED"/>
            </a:solidFill>
            <a:prstDash val="solid"/>
          </a:ln>
        </p:spPr>
      </p:sp>
      <p:sp>
        <p:nvSpPr>
          <p:cNvPr id="18" name="Shape 16"/>
          <p:cNvSpPr/>
          <p:nvPr/>
        </p:nvSpPr>
        <p:spPr>
          <a:xfrm>
            <a:off x="2103120" y="1417320"/>
            <a:ext cx="91" cy="3383280"/>
          </a:xfrm>
          <a:prstGeom prst="line">
            <a:avLst/>
          </a:prstGeom>
          <a:noFill/>
          <a:ln w="6350">
            <a:solidFill>
              <a:srgbClr val="C5DCD9"/>
            </a:solidFill>
            <a:prstDash val="solid"/>
          </a:ln>
        </p:spPr>
      </p:sp>
      <p:sp>
        <p:nvSpPr>
          <p:cNvPr id="19" name="Shape 17"/>
          <p:cNvSpPr/>
          <p:nvPr/>
        </p:nvSpPr>
        <p:spPr>
          <a:xfrm>
            <a:off x="2258568" y="1417320"/>
            <a:ext cx="91" cy="3383280"/>
          </a:xfrm>
          <a:prstGeom prst="line">
            <a:avLst/>
          </a:prstGeom>
          <a:noFill/>
          <a:ln w="6350">
            <a:solidFill>
              <a:srgbClr val="E3EFED"/>
            </a:solidFill>
            <a:prstDash val="solid"/>
          </a:ln>
        </p:spPr>
      </p:sp>
      <p:sp>
        <p:nvSpPr>
          <p:cNvPr id="20" name="Shape 18"/>
          <p:cNvSpPr/>
          <p:nvPr/>
        </p:nvSpPr>
        <p:spPr>
          <a:xfrm>
            <a:off x="2414016" y="1417320"/>
            <a:ext cx="91" cy="3383280"/>
          </a:xfrm>
          <a:prstGeom prst="line">
            <a:avLst/>
          </a:prstGeom>
          <a:noFill/>
          <a:ln w="6350">
            <a:solidFill>
              <a:srgbClr val="E3EFED"/>
            </a:solidFill>
            <a:prstDash val="solid"/>
          </a:ln>
        </p:spPr>
      </p:sp>
      <p:sp>
        <p:nvSpPr>
          <p:cNvPr id="21" name="Shape 19"/>
          <p:cNvSpPr/>
          <p:nvPr/>
        </p:nvSpPr>
        <p:spPr>
          <a:xfrm>
            <a:off x="2569464" y="1417320"/>
            <a:ext cx="91" cy="3383280"/>
          </a:xfrm>
          <a:prstGeom prst="line">
            <a:avLst/>
          </a:prstGeom>
          <a:noFill/>
          <a:ln w="6350">
            <a:solidFill>
              <a:srgbClr val="E3EFED"/>
            </a:solidFill>
            <a:prstDash val="solid"/>
          </a:ln>
        </p:spPr>
      </p:sp>
      <p:sp>
        <p:nvSpPr>
          <p:cNvPr id="22" name="Shape 20"/>
          <p:cNvSpPr/>
          <p:nvPr/>
        </p:nvSpPr>
        <p:spPr>
          <a:xfrm>
            <a:off x="2724912" y="1417320"/>
            <a:ext cx="91" cy="3383280"/>
          </a:xfrm>
          <a:prstGeom prst="line">
            <a:avLst/>
          </a:prstGeom>
          <a:noFill/>
          <a:ln w="6350">
            <a:solidFill>
              <a:srgbClr val="E3EFED"/>
            </a:solidFill>
            <a:prstDash val="solid"/>
          </a:ln>
        </p:spPr>
      </p:sp>
      <p:sp>
        <p:nvSpPr>
          <p:cNvPr id="23" name="Shape 21"/>
          <p:cNvSpPr/>
          <p:nvPr/>
        </p:nvSpPr>
        <p:spPr>
          <a:xfrm>
            <a:off x="2880360" y="1417320"/>
            <a:ext cx="91" cy="3383280"/>
          </a:xfrm>
          <a:prstGeom prst="line">
            <a:avLst/>
          </a:prstGeom>
          <a:noFill/>
          <a:ln w="6350">
            <a:solidFill>
              <a:srgbClr val="C5DCD9"/>
            </a:solidFill>
            <a:prstDash val="solid"/>
          </a:ln>
        </p:spPr>
      </p:sp>
      <p:sp>
        <p:nvSpPr>
          <p:cNvPr id="24" name="Shape 22"/>
          <p:cNvSpPr/>
          <p:nvPr/>
        </p:nvSpPr>
        <p:spPr>
          <a:xfrm>
            <a:off x="3035808" y="1417320"/>
            <a:ext cx="91" cy="3383280"/>
          </a:xfrm>
          <a:prstGeom prst="line">
            <a:avLst/>
          </a:prstGeom>
          <a:noFill/>
          <a:ln w="6350">
            <a:solidFill>
              <a:srgbClr val="E3EFED"/>
            </a:solidFill>
            <a:prstDash val="solid"/>
          </a:ln>
        </p:spPr>
      </p:sp>
      <p:sp>
        <p:nvSpPr>
          <p:cNvPr id="25" name="Shape 23"/>
          <p:cNvSpPr/>
          <p:nvPr/>
        </p:nvSpPr>
        <p:spPr>
          <a:xfrm>
            <a:off x="3191256" y="1417320"/>
            <a:ext cx="91" cy="3383280"/>
          </a:xfrm>
          <a:prstGeom prst="line">
            <a:avLst/>
          </a:prstGeom>
          <a:noFill/>
          <a:ln w="6350">
            <a:solidFill>
              <a:srgbClr val="E3EFED"/>
            </a:solidFill>
            <a:prstDash val="solid"/>
          </a:ln>
        </p:spPr>
      </p:sp>
      <p:sp>
        <p:nvSpPr>
          <p:cNvPr id="26" name="Shape 24"/>
          <p:cNvSpPr/>
          <p:nvPr/>
        </p:nvSpPr>
        <p:spPr>
          <a:xfrm>
            <a:off x="3346704" y="1417320"/>
            <a:ext cx="91" cy="3383280"/>
          </a:xfrm>
          <a:prstGeom prst="line">
            <a:avLst/>
          </a:prstGeom>
          <a:noFill/>
          <a:ln w="6350">
            <a:solidFill>
              <a:srgbClr val="E3EFED"/>
            </a:solidFill>
            <a:prstDash val="solid"/>
          </a:ln>
        </p:spPr>
      </p:sp>
      <p:sp>
        <p:nvSpPr>
          <p:cNvPr id="27" name="Shape 25"/>
          <p:cNvSpPr/>
          <p:nvPr/>
        </p:nvSpPr>
        <p:spPr>
          <a:xfrm>
            <a:off x="3502152" y="1417320"/>
            <a:ext cx="91" cy="3383280"/>
          </a:xfrm>
          <a:prstGeom prst="line">
            <a:avLst/>
          </a:prstGeom>
          <a:noFill/>
          <a:ln w="6350">
            <a:solidFill>
              <a:srgbClr val="E3EFED"/>
            </a:solidFill>
            <a:prstDash val="solid"/>
          </a:ln>
        </p:spPr>
      </p:sp>
      <p:sp>
        <p:nvSpPr>
          <p:cNvPr id="28" name="Shape 26"/>
          <p:cNvSpPr/>
          <p:nvPr/>
        </p:nvSpPr>
        <p:spPr>
          <a:xfrm>
            <a:off x="3657600" y="1417320"/>
            <a:ext cx="91" cy="3383280"/>
          </a:xfrm>
          <a:prstGeom prst="line">
            <a:avLst/>
          </a:prstGeom>
          <a:noFill/>
          <a:ln w="6350">
            <a:solidFill>
              <a:srgbClr val="C5DCD9"/>
            </a:solidFill>
            <a:prstDash val="solid"/>
          </a:ln>
        </p:spPr>
      </p:sp>
      <p:sp>
        <p:nvSpPr>
          <p:cNvPr id="29" name="Shape 27"/>
          <p:cNvSpPr/>
          <p:nvPr/>
        </p:nvSpPr>
        <p:spPr>
          <a:xfrm>
            <a:off x="3813048" y="1417320"/>
            <a:ext cx="91" cy="3383280"/>
          </a:xfrm>
          <a:prstGeom prst="line">
            <a:avLst/>
          </a:prstGeom>
          <a:noFill/>
          <a:ln w="6350">
            <a:solidFill>
              <a:srgbClr val="E3EFED"/>
            </a:solidFill>
            <a:prstDash val="solid"/>
          </a:ln>
        </p:spPr>
      </p:sp>
      <p:sp>
        <p:nvSpPr>
          <p:cNvPr id="30" name="Shape 28"/>
          <p:cNvSpPr/>
          <p:nvPr/>
        </p:nvSpPr>
        <p:spPr>
          <a:xfrm>
            <a:off x="3968496" y="1417320"/>
            <a:ext cx="91" cy="3383280"/>
          </a:xfrm>
          <a:prstGeom prst="line">
            <a:avLst/>
          </a:prstGeom>
          <a:noFill/>
          <a:ln w="6350">
            <a:solidFill>
              <a:srgbClr val="E3EFED"/>
            </a:solidFill>
            <a:prstDash val="solid"/>
          </a:ln>
        </p:spPr>
      </p:sp>
      <p:sp>
        <p:nvSpPr>
          <p:cNvPr id="31" name="Shape 29"/>
          <p:cNvSpPr/>
          <p:nvPr/>
        </p:nvSpPr>
        <p:spPr>
          <a:xfrm>
            <a:off x="4123944" y="1417320"/>
            <a:ext cx="91" cy="3383280"/>
          </a:xfrm>
          <a:prstGeom prst="line">
            <a:avLst/>
          </a:prstGeom>
          <a:noFill/>
          <a:ln w="6350">
            <a:solidFill>
              <a:srgbClr val="E3EFED"/>
            </a:solidFill>
            <a:prstDash val="solid"/>
          </a:ln>
        </p:spPr>
      </p:sp>
      <p:sp>
        <p:nvSpPr>
          <p:cNvPr id="32" name="Shape 30"/>
          <p:cNvSpPr/>
          <p:nvPr/>
        </p:nvSpPr>
        <p:spPr>
          <a:xfrm>
            <a:off x="4279392" y="1417320"/>
            <a:ext cx="91" cy="3383280"/>
          </a:xfrm>
          <a:prstGeom prst="line">
            <a:avLst/>
          </a:prstGeom>
          <a:noFill/>
          <a:ln w="6350">
            <a:solidFill>
              <a:srgbClr val="E3EFED"/>
            </a:solidFill>
            <a:prstDash val="solid"/>
          </a:ln>
        </p:spPr>
      </p:sp>
      <p:sp>
        <p:nvSpPr>
          <p:cNvPr id="33" name="Shape 31"/>
          <p:cNvSpPr/>
          <p:nvPr/>
        </p:nvSpPr>
        <p:spPr>
          <a:xfrm>
            <a:off x="4434840" y="1417320"/>
            <a:ext cx="91" cy="3383280"/>
          </a:xfrm>
          <a:prstGeom prst="line">
            <a:avLst/>
          </a:prstGeom>
          <a:noFill/>
          <a:ln w="6350">
            <a:solidFill>
              <a:srgbClr val="C5DCD9"/>
            </a:solidFill>
            <a:prstDash val="solid"/>
          </a:ln>
        </p:spPr>
      </p:sp>
      <p:sp>
        <p:nvSpPr>
          <p:cNvPr id="34" name="Shape 32"/>
          <p:cNvSpPr/>
          <p:nvPr/>
        </p:nvSpPr>
        <p:spPr>
          <a:xfrm>
            <a:off x="4590288" y="1417320"/>
            <a:ext cx="91" cy="3383280"/>
          </a:xfrm>
          <a:prstGeom prst="line">
            <a:avLst/>
          </a:prstGeom>
          <a:noFill/>
          <a:ln w="6350">
            <a:solidFill>
              <a:srgbClr val="E3EFED"/>
            </a:solidFill>
            <a:prstDash val="solid"/>
          </a:ln>
        </p:spPr>
      </p:sp>
      <p:sp>
        <p:nvSpPr>
          <p:cNvPr id="35" name="Shape 33"/>
          <p:cNvSpPr/>
          <p:nvPr/>
        </p:nvSpPr>
        <p:spPr>
          <a:xfrm>
            <a:off x="4745736" y="1417320"/>
            <a:ext cx="91" cy="3383280"/>
          </a:xfrm>
          <a:prstGeom prst="line">
            <a:avLst/>
          </a:prstGeom>
          <a:noFill/>
          <a:ln w="6350">
            <a:solidFill>
              <a:srgbClr val="E3EFED"/>
            </a:solidFill>
            <a:prstDash val="solid"/>
          </a:ln>
        </p:spPr>
      </p:sp>
      <p:sp>
        <p:nvSpPr>
          <p:cNvPr id="36" name="Shape 34"/>
          <p:cNvSpPr/>
          <p:nvPr/>
        </p:nvSpPr>
        <p:spPr>
          <a:xfrm>
            <a:off x="4901184" y="1417320"/>
            <a:ext cx="91" cy="3383280"/>
          </a:xfrm>
          <a:prstGeom prst="line">
            <a:avLst/>
          </a:prstGeom>
          <a:noFill/>
          <a:ln w="6350">
            <a:solidFill>
              <a:srgbClr val="E3EFED"/>
            </a:solidFill>
            <a:prstDash val="solid"/>
          </a:ln>
        </p:spPr>
      </p:sp>
      <p:sp>
        <p:nvSpPr>
          <p:cNvPr id="37" name="Shape 35"/>
          <p:cNvSpPr/>
          <p:nvPr/>
        </p:nvSpPr>
        <p:spPr>
          <a:xfrm>
            <a:off x="5056632" y="1417320"/>
            <a:ext cx="91" cy="3383280"/>
          </a:xfrm>
          <a:prstGeom prst="line">
            <a:avLst/>
          </a:prstGeom>
          <a:noFill/>
          <a:ln w="6350">
            <a:solidFill>
              <a:srgbClr val="E3EFED"/>
            </a:solidFill>
            <a:prstDash val="solid"/>
          </a:ln>
        </p:spPr>
      </p:sp>
      <p:sp>
        <p:nvSpPr>
          <p:cNvPr id="38" name="Shape 36"/>
          <p:cNvSpPr/>
          <p:nvPr/>
        </p:nvSpPr>
        <p:spPr>
          <a:xfrm>
            <a:off x="5212080" y="1417320"/>
            <a:ext cx="91" cy="3383280"/>
          </a:xfrm>
          <a:prstGeom prst="line">
            <a:avLst/>
          </a:prstGeom>
          <a:noFill/>
          <a:ln w="6350">
            <a:solidFill>
              <a:srgbClr val="C5DCD9"/>
            </a:solidFill>
            <a:prstDash val="solid"/>
          </a:ln>
        </p:spPr>
      </p:sp>
      <p:sp>
        <p:nvSpPr>
          <p:cNvPr id="39" name="Shape 37"/>
          <p:cNvSpPr/>
          <p:nvPr/>
        </p:nvSpPr>
        <p:spPr>
          <a:xfrm>
            <a:off x="5367528" y="1417320"/>
            <a:ext cx="91" cy="3383280"/>
          </a:xfrm>
          <a:prstGeom prst="line">
            <a:avLst/>
          </a:prstGeom>
          <a:noFill/>
          <a:ln w="6350">
            <a:solidFill>
              <a:srgbClr val="E3EFED"/>
            </a:solidFill>
            <a:prstDash val="solid"/>
          </a:ln>
        </p:spPr>
      </p:sp>
      <p:sp>
        <p:nvSpPr>
          <p:cNvPr id="40" name="Shape 38"/>
          <p:cNvSpPr/>
          <p:nvPr/>
        </p:nvSpPr>
        <p:spPr>
          <a:xfrm>
            <a:off x="5522976" y="1417320"/>
            <a:ext cx="91" cy="3383280"/>
          </a:xfrm>
          <a:prstGeom prst="line">
            <a:avLst/>
          </a:prstGeom>
          <a:noFill/>
          <a:ln w="6350">
            <a:solidFill>
              <a:srgbClr val="E3EFED"/>
            </a:solidFill>
            <a:prstDash val="solid"/>
          </a:ln>
        </p:spPr>
      </p:sp>
      <p:sp>
        <p:nvSpPr>
          <p:cNvPr id="41" name="Shape 39"/>
          <p:cNvSpPr/>
          <p:nvPr/>
        </p:nvSpPr>
        <p:spPr>
          <a:xfrm>
            <a:off x="5678424" y="1417320"/>
            <a:ext cx="91" cy="3383280"/>
          </a:xfrm>
          <a:prstGeom prst="line">
            <a:avLst/>
          </a:prstGeom>
          <a:noFill/>
          <a:ln w="6350">
            <a:solidFill>
              <a:srgbClr val="E3EFED"/>
            </a:solidFill>
            <a:prstDash val="solid"/>
          </a:ln>
        </p:spPr>
      </p:sp>
      <p:sp>
        <p:nvSpPr>
          <p:cNvPr id="42" name="Shape 40"/>
          <p:cNvSpPr/>
          <p:nvPr/>
        </p:nvSpPr>
        <p:spPr>
          <a:xfrm>
            <a:off x="5833872" y="1417320"/>
            <a:ext cx="91" cy="3383280"/>
          </a:xfrm>
          <a:prstGeom prst="line">
            <a:avLst/>
          </a:prstGeom>
          <a:noFill/>
          <a:ln w="6350">
            <a:solidFill>
              <a:srgbClr val="E3EFED"/>
            </a:solidFill>
            <a:prstDash val="solid"/>
          </a:ln>
        </p:spPr>
      </p:sp>
      <p:sp>
        <p:nvSpPr>
          <p:cNvPr id="43" name="Shape 41"/>
          <p:cNvSpPr/>
          <p:nvPr/>
        </p:nvSpPr>
        <p:spPr>
          <a:xfrm>
            <a:off x="5989320" y="1417320"/>
            <a:ext cx="91" cy="3383280"/>
          </a:xfrm>
          <a:prstGeom prst="line">
            <a:avLst/>
          </a:prstGeom>
          <a:noFill/>
          <a:ln w="6350">
            <a:solidFill>
              <a:srgbClr val="C5DCD9"/>
            </a:solidFill>
            <a:prstDash val="solid"/>
          </a:ln>
        </p:spPr>
      </p:sp>
      <p:sp>
        <p:nvSpPr>
          <p:cNvPr id="44" name="Shape 42"/>
          <p:cNvSpPr/>
          <p:nvPr/>
        </p:nvSpPr>
        <p:spPr>
          <a:xfrm>
            <a:off x="1325880" y="4800600"/>
            <a:ext cx="4663440" cy="91"/>
          </a:xfrm>
          <a:prstGeom prst="line">
            <a:avLst/>
          </a:prstGeom>
          <a:noFill/>
          <a:ln w="6350">
            <a:solidFill>
              <a:srgbClr val="C5DCD9"/>
            </a:solidFill>
            <a:prstDash val="solid"/>
          </a:ln>
        </p:spPr>
      </p:sp>
      <p:sp>
        <p:nvSpPr>
          <p:cNvPr id="45" name="Shape 43"/>
          <p:cNvSpPr/>
          <p:nvPr/>
        </p:nvSpPr>
        <p:spPr>
          <a:xfrm>
            <a:off x="1325880" y="4665269"/>
            <a:ext cx="4663440" cy="91"/>
          </a:xfrm>
          <a:prstGeom prst="line">
            <a:avLst/>
          </a:prstGeom>
          <a:noFill/>
          <a:ln w="6350">
            <a:solidFill>
              <a:srgbClr val="E3EFED"/>
            </a:solidFill>
            <a:prstDash val="solid"/>
          </a:ln>
        </p:spPr>
      </p:sp>
      <p:sp>
        <p:nvSpPr>
          <p:cNvPr id="46" name="Shape 44"/>
          <p:cNvSpPr/>
          <p:nvPr/>
        </p:nvSpPr>
        <p:spPr>
          <a:xfrm>
            <a:off x="1325880" y="4529938"/>
            <a:ext cx="4663440" cy="91"/>
          </a:xfrm>
          <a:prstGeom prst="line">
            <a:avLst/>
          </a:prstGeom>
          <a:noFill/>
          <a:ln w="6350">
            <a:solidFill>
              <a:srgbClr val="E3EFED"/>
            </a:solidFill>
            <a:prstDash val="solid"/>
          </a:ln>
        </p:spPr>
      </p:sp>
      <p:sp>
        <p:nvSpPr>
          <p:cNvPr id="47" name="Shape 45"/>
          <p:cNvSpPr/>
          <p:nvPr/>
        </p:nvSpPr>
        <p:spPr>
          <a:xfrm>
            <a:off x="1325880" y="4394606"/>
            <a:ext cx="4663440" cy="91"/>
          </a:xfrm>
          <a:prstGeom prst="line">
            <a:avLst/>
          </a:prstGeom>
          <a:noFill/>
          <a:ln w="6350">
            <a:solidFill>
              <a:srgbClr val="E3EFED"/>
            </a:solidFill>
            <a:prstDash val="solid"/>
          </a:ln>
        </p:spPr>
      </p:sp>
      <p:sp>
        <p:nvSpPr>
          <p:cNvPr id="48" name="Shape 46"/>
          <p:cNvSpPr/>
          <p:nvPr/>
        </p:nvSpPr>
        <p:spPr>
          <a:xfrm>
            <a:off x="1325880" y="4259275"/>
            <a:ext cx="4663440" cy="91"/>
          </a:xfrm>
          <a:prstGeom prst="line">
            <a:avLst/>
          </a:prstGeom>
          <a:noFill/>
          <a:ln w="6350">
            <a:solidFill>
              <a:srgbClr val="E3EFED"/>
            </a:solidFill>
            <a:prstDash val="solid"/>
          </a:ln>
        </p:spPr>
      </p:sp>
      <p:sp>
        <p:nvSpPr>
          <p:cNvPr id="49" name="Shape 47"/>
          <p:cNvSpPr/>
          <p:nvPr/>
        </p:nvSpPr>
        <p:spPr>
          <a:xfrm>
            <a:off x="1325880" y="4123944"/>
            <a:ext cx="4663440" cy="91"/>
          </a:xfrm>
          <a:prstGeom prst="line">
            <a:avLst/>
          </a:prstGeom>
          <a:noFill/>
          <a:ln w="6350">
            <a:solidFill>
              <a:srgbClr val="C5DCD9"/>
            </a:solidFill>
            <a:prstDash val="solid"/>
          </a:ln>
        </p:spPr>
      </p:sp>
      <p:sp>
        <p:nvSpPr>
          <p:cNvPr id="50" name="Shape 48"/>
          <p:cNvSpPr/>
          <p:nvPr/>
        </p:nvSpPr>
        <p:spPr>
          <a:xfrm>
            <a:off x="1325880" y="3988613"/>
            <a:ext cx="4663440" cy="91"/>
          </a:xfrm>
          <a:prstGeom prst="line">
            <a:avLst/>
          </a:prstGeom>
          <a:noFill/>
          <a:ln w="6350">
            <a:solidFill>
              <a:srgbClr val="E3EFED"/>
            </a:solidFill>
            <a:prstDash val="solid"/>
          </a:ln>
        </p:spPr>
      </p:sp>
      <p:sp>
        <p:nvSpPr>
          <p:cNvPr id="51" name="Shape 49"/>
          <p:cNvSpPr/>
          <p:nvPr/>
        </p:nvSpPr>
        <p:spPr>
          <a:xfrm>
            <a:off x="1325880" y="3853282"/>
            <a:ext cx="4663440" cy="91"/>
          </a:xfrm>
          <a:prstGeom prst="line">
            <a:avLst/>
          </a:prstGeom>
          <a:noFill/>
          <a:ln w="6350">
            <a:solidFill>
              <a:srgbClr val="E3EFED"/>
            </a:solidFill>
            <a:prstDash val="solid"/>
          </a:ln>
        </p:spPr>
      </p:sp>
      <p:sp>
        <p:nvSpPr>
          <p:cNvPr id="52" name="Shape 50"/>
          <p:cNvSpPr/>
          <p:nvPr/>
        </p:nvSpPr>
        <p:spPr>
          <a:xfrm>
            <a:off x="1325880" y="3717950"/>
            <a:ext cx="4663440" cy="91"/>
          </a:xfrm>
          <a:prstGeom prst="line">
            <a:avLst/>
          </a:prstGeom>
          <a:noFill/>
          <a:ln w="6350">
            <a:solidFill>
              <a:srgbClr val="E3EFED"/>
            </a:solidFill>
            <a:prstDash val="solid"/>
          </a:ln>
        </p:spPr>
      </p:sp>
      <p:sp>
        <p:nvSpPr>
          <p:cNvPr id="53" name="Shape 51"/>
          <p:cNvSpPr/>
          <p:nvPr/>
        </p:nvSpPr>
        <p:spPr>
          <a:xfrm>
            <a:off x="1325880" y="3582619"/>
            <a:ext cx="4663440" cy="91"/>
          </a:xfrm>
          <a:prstGeom prst="line">
            <a:avLst/>
          </a:prstGeom>
          <a:noFill/>
          <a:ln w="6350">
            <a:solidFill>
              <a:srgbClr val="E3EFED"/>
            </a:solidFill>
            <a:prstDash val="solid"/>
          </a:ln>
        </p:spPr>
      </p:sp>
      <p:sp>
        <p:nvSpPr>
          <p:cNvPr id="54" name="Shape 52"/>
          <p:cNvSpPr/>
          <p:nvPr/>
        </p:nvSpPr>
        <p:spPr>
          <a:xfrm>
            <a:off x="1325880" y="3447288"/>
            <a:ext cx="4663440" cy="91"/>
          </a:xfrm>
          <a:prstGeom prst="line">
            <a:avLst/>
          </a:prstGeom>
          <a:noFill/>
          <a:ln w="6350">
            <a:solidFill>
              <a:srgbClr val="C5DCD9"/>
            </a:solidFill>
            <a:prstDash val="solid"/>
          </a:ln>
        </p:spPr>
      </p:sp>
      <p:sp>
        <p:nvSpPr>
          <p:cNvPr id="55" name="Shape 53"/>
          <p:cNvSpPr/>
          <p:nvPr/>
        </p:nvSpPr>
        <p:spPr>
          <a:xfrm>
            <a:off x="1325880" y="3311957"/>
            <a:ext cx="4663440" cy="91"/>
          </a:xfrm>
          <a:prstGeom prst="line">
            <a:avLst/>
          </a:prstGeom>
          <a:noFill/>
          <a:ln w="6350">
            <a:solidFill>
              <a:srgbClr val="E3EFED"/>
            </a:solidFill>
            <a:prstDash val="solid"/>
          </a:ln>
        </p:spPr>
      </p:sp>
      <p:sp>
        <p:nvSpPr>
          <p:cNvPr id="56" name="Shape 54"/>
          <p:cNvSpPr/>
          <p:nvPr/>
        </p:nvSpPr>
        <p:spPr>
          <a:xfrm>
            <a:off x="1325880" y="3176626"/>
            <a:ext cx="4663440" cy="91"/>
          </a:xfrm>
          <a:prstGeom prst="line">
            <a:avLst/>
          </a:prstGeom>
          <a:noFill/>
          <a:ln w="6350">
            <a:solidFill>
              <a:srgbClr val="E3EFED"/>
            </a:solidFill>
            <a:prstDash val="solid"/>
          </a:ln>
        </p:spPr>
      </p:sp>
      <p:sp>
        <p:nvSpPr>
          <p:cNvPr id="57" name="Shape 55"/>
          <p:cNvSpPr/>
          <p:nvPr/>
        </p:nvSpPr>
        <p:spPr>
          <a:xfrm>
            <a:off x="1325880" y="3041294"/>
            <a:ext cx="4663440" cy="91"/>
          </a:xfrm>
          <a:prstGeom prst="line">
            <a:avLst/>
          </a:prstGeom>
          <a:noFill/>
          <a:ln w="6350">
            <a:solidFill>
              <a:srgbClr val="E3EFED"/>
            </a:solidFill>
            <a:prstDash val="solid"/>
          </a:ln>
        </p:spPr>
      </p:sp>
      <p:sp>
        <p:nvSpPr>
          <p:cNvPr id="58" name="Shape 56"/>
          <p:cNvSpPr/>
          <p:nvPr/>
        </p:nvSpPr>
        <p:spPr>
          <a:xfrm>
            <a:off x="1325880" y="2905963"/>
            <a:ext cx="4663440" cy="91"/>
          </a:xfrm>
          <a:prstGeom prst="line">
            <a:avLst/>
          </a:prstGeom>
          <a:noFill/>
          <a:ln w="6350">
            <a:solidFill>
              <a:srgbClr val="E3EFED"/>
            </a:solidFill>
            <a:prstDash val="solid"/>
          </a:ln>
        </p:spPr>
      </p:sp>
      <p:sp>
        <p:nvSpPr>
          <p:cNvPr id="59" name="Shape 57"/>
          <p:cNvSpPr/>
          <p:nvPr/>
        </p:nvSpPr>
        <p:spPr>
          <a:xfrm>
            <a:off x="1325880" y="2770632"/>
            <a:ext cx="4663440" cy="91"/>
          </a:xfrm>
          <a:prstGeom prst="line">
            <a:avLst/>
          </a:prstGeom>
          <a:noFill/>
          <a:ln w="6350">
            <a:solidFill>
              <a:srgbClr val="C5DCD9"/>
            </a:solidFill>
            <a:prstDash val="solid"/>
          </a:ln>
        </p:spPr>
      </p:sp>
      <p:sp>
        <p:nvSpPr>
          <p:cNvPr id="60" name="Shape 58"/>
          <p:cNvSpPr/>
          <p:nvPr/>
        </p:nvSpPr>
        <p:spPr>
          <a:xfrm>
            <a:off x="1325880" y="2635301"/>
            <a:ext cx="4663440" cy="91"/>
          </a:xfrm>
          <a:prstGeom prst="line">
            <a:avLst/>
          </a:prstGeom>
          <a:noFill/>
          <a:ln w="6350">
            <a:solidFill>
              <a:srgbClr val="E3EFED"/>
            </a:solidFill>
            <a:prstDash val="solid"/>
          </a:ln>
        </p:spPr>
      </p:sp>
      <p:sp>
        <p:nvSpPr>
          <p:cNvPr id="61" name="Shape 59"/>
          <p:cNvSpPr/>
          <p:nvPr/>
        </p:nvSpPr>
        <p:spPr>
          <a:xfrm>
            <a:off x="1325880" y="2499970"/>
            <a:ext cx="4663440" cy="91"/>
          </a:xfrm>
          <a:prstGeom prst="line">
            <a:avLst/>
          </a:prstGeom>
          <a:noFill/>
          <a:ln w="6350">
            <a:solidFill>
              <a:srgbClr val="E3EFED"/>
            </a:solidFill>
            <a:prstDash val="solid"/>
          </a:ln>
        </p:spPr>
      </p:sp>
      <p:sp>
        <p:nvSpPr>
          <p:cNvPr id="62" name="Shape 60"/>
          <p:cNvSpPr/>
          <p:nvPr/>
        </p:nvSpPr>
        <p:spPr>
          <a:xfrm>
            <a:off x="1325880" y="2364638"/>
            <a:ext cx="4663440" cy="91"/>
          </a:xfrm>
          <a:prstGeom prst="line">
            <a:avLst/>
          </a:prstGeom>
          <a:noFill/>
          <a:ln w="6350">
            <a:solidFill>
              <a:srgbClr val="E3EFED"/>
            </a:solidFill>
            <a:prstDash val="solid"/>
          </a:ln>
        </p:spPr>
      </p:sp>
      <p:sp>
        <p:nvSpPr>
          <p:cNvPr id="63" name="Shape 61"/>
          <p:cNvSpPr/>
          <p:nvPr/>
        </p:nvSpPr>
        <p:spPr>
          <a:xfrm>
            <a:off x="1325880" y="2229307"/>
            <a:ext cx="4663440" cy="91"/>
          </a:xfrm>
          <a:prstGeom prst="line">
            <a:avLst/>
          </a:prstGeom>
          <a:noFill/>
          <a:ln w="6350">
            <a:solidFill>
              <a:srgbClr val="E3EFED"/>
            </a:solidFill>
            <a:prstDash val="solid"/>
          </a:ln>
        </p:spPr>
      </p:sp>
      <p:sp>
        <p:nvSpPr>
          <p:cNvPr id="64" name="Shape 62"/>
          <p:cNvSpPr/>
          <p:nvPr/>
        </p:nvSpPr>
        <p:spPr>
          <a:xfrm>
            <a:off x="1325880" y="2093976"/>
            <a:ext cx="4663440" cy="91"/>
          </a:xfrm>
          <a:prstGeom prst="line">
            <a:avLst/>
          </a:prstGeom>
          <a:noFill/>
          <a:ln w="6350">
            <a:solidFill>
              <a:srgbClr val="C5DCD9"/>
            </a:solidFill>
            <a:prstDash val="solid"/>
          </a:ln>
        </p:spPr>
      </p:sp>
      <p:sp>
        <p:nvSpPr>
          <p:cNvPr id="65" name="Shape 63"/>
          <p:cNvSpPr/>
          <p:nvPr/>
        </p:nvSpPr>
        <p:spPr>
          <a:xfrm>
            <a:off x="1325880" y="1958645"/>
            <a:ext cx="4663440" cy="91"/>
          </a:xfrm>
          <a:prstGeom prst="line">
            <a:avLst/>
          </a:prstGeom>
          <a:noFill/>
          <a:ln w="6350">
            <a:solidFill>
              <a:srgbClr val="E3EFED"/>
            </a:solidFill>
            <a:prstDash val="solid"/>
          </a:ln>
        </p:spPr>
      </p:sp>
      <p:sp>
        <p:nvSpPr>
          <p:cNvPr id="66" name="Shape 64"/>
          <p:cNvSpPr/>
          <p:nvPr/>
        </p:nvSpPr>
        <p:spPr>
          <a:xfrm>
            <a:off x="1325880" y="1823314"/>
            <a:ext cx="4663440" cy="91"/>
          </a:xfrm>
          <a:prstGeom prst="line">
            <a:avLst/>
          </a:prstGeom>
          <a:noFill/>
          <a:ln w="6350">
            <a:solidFill>
              <a:srgbClr val="E3EFED"/>
            </a:solidFill>
            <a:prstDash val="solid"/>
          </a:ln>
        </p:spPr>
      </p:sp>
      <p:sp>
        <p:nvSpPr>
          <p:cNvPr id="67" name="Shape 65"/>
          <p:cNvSpPr/>
          <p:nvPr/>
        </p:nvSpPr>
        <p:spPr>
          <a:xfrm>
            <a:off x="1325880" y="1687982"/>
            <a:ext cx="4663440" cy="91"/>
          </a:xfrm>
          <a:prstGeom prst="line">
            <a:avLst/>
          </a:prstGeom>
          <a:noFill/>
          <a:ln w="6350">
            <a:solidFill>
              <a:srgbClr val="E3EFED"/>
            </a:solidFill>
            <a:prstDash val="solid"/>
          </a:ln>
        </p:spPr>
      </p:sp>
      <p:sp>
        <p:nvSpPr>
          <p:cNvPr id="68" name="Shape 66"/>
          <p:cNvSpPr/>
          <p:nvPr/>
        </p:nvSpPr>
        <p:spPr>
          <a:xfrm>
            <a:off x="1325880" y="1552651"/>
            <a:ext cx="4663440" cy="91"/>
          </a:xfrm>
          <a:prstGeom prst="line">
            <a:avLst/>
          </a:prstGeom>
          <a:noFill/>
          <a:ln w="6350">
            <a:solidFill>
              <a:srgbClr val="E3EFED"/>
            </a:solidFill>
            <a:prstDash val="solid"/>
          </a:ln>
        </p:spPr>
      </p:sp>
      <p:sp>
        <p:nvSpPr>
          <p:cNvPr id="69" name="Shape 67"/>
          <p:cNvSpPr/>
          <p:nvPr/>
        </p:nvSpPr>
        <p:spPr>
          <a:xfrm>
            <a:off x="1325880" y="1417320"/>
            <a:ext cx="4663440" cy="91"/>
          </a:xfrm>
          <a:prstGeom prst="line">
            <a:avLst/>
          </a:prstGeom>
          <a:noFill/>
          <a:ln w="6350">
            <a:solidFill>
              <a:srgbClr val="C5DCD9"/>
            </a:solidFill>
            <a:prstDash val="solid"/>
          </a:ln>
        </p:spPr>
      </p:sp>
      <p:sp>
        <p:nvSpPr>
          <p:cNvPr id="70" name="Shape 68"/>
          <p:cNvSpPr/>
          <p:nvPr/>
        </p:nvSpPr>
        <p:spPr>
          <a:xfrm>
            <a:off x="1325880" y="4800600"/>
            <a:ext cx="4663440" cy="91"/>
          </a:xfrm>
          <a:prstGeom prst="line">
            <a:avLst/>
          </a:prstGeom>
          <a:noFill/>
          <a:ln w="19050">
            <a:solidFill>
              <a:srgbClr val="133536"/>
            </a:solidFill>
            <a:prstDash val="solid"/>
          </a:ln>
        </p:spPr>
      </p:sp>
      <p:sp>
        <p:nvSpPr>
          <p:cNvPr id="71" name="Shape 69"/>
          <p:cNvSpPr/>
          <p:nvPr/>
        </p:nvSpPr>
        <p:spPr>
          <a:xfrm flipV="1">
            <a:off x="1325880" y="1417320"/>
            <a:ext cx="91" cy="3383280"/>
          </a:xfrm>
          <a:prstGeom prst="line">
            <a:avLst/>
          </a:prstGeom>
          <a:noFill/>
          <a:ln w="19050">
            <a:solidFill>
              <a:srgbClr val="133536"/>
            </a:solidFill>
            <a:prstDash val="solid"/>
          </a:ln>
        </p:spPr>
      </p:sp>
      <p:sp>
        <p:nvSpPr>
          <p:cNvPr id="72" name="Shape 70"/>
          <p:cNvSpPr/>
          <p:nvPr/>
        </p:nvSpPr>
        <p:spPr>
          <a:xfrm>
            <a:off x="1325880" y="4800600"/>
            <a:ext cx="91" cy="54864"/>
          </a:xfrm>
          <a:prstGeom prst="line">
            <a:avLst/>
          </a:prstGeom>
          <a:noFill/>
          <a:ln w="12700">
            <a:solidFill>
              <a:srgbClr val="133536"/>
            </a:solidFill>
            <a:prstDash val="solid"/>
          </a:ln>
        </p:spPr>
      </p:sp>
      <p:sp>
        <p:nvSpPr>
          <p:cNvPr id="73" name="Text 71"/>
          <p:cNvSpPr/>
          <p:nvPr/>
        </p:nvSpPr>
        <p:spPr>
          <a:xfrm>
            <a:off x="10515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74" name="Shape 72"/>
          <p:cNvSpPr/>
          <p:nvPr/>
        </p:nvSpPr>
        <p:spPr>
          <a:xfrm>
            <a:off x="2103120" y="4800600"/>
            <a:ext cx="91" cy="54864"/>
          </a:xfrm>
          <a:prstGeom prst="line">
            <a:avLst/>
          </a:prstGeom>
          <a:noFill/>
          <a:ln w="12700">
            <a:solidFill>
              <a:srgbClr val="133536"/>
            </a:solidFill>
            <a:prstDash val="solid"/>
          </a:ln>
        </p:spPr>
      </p:sp>
      <p:sp>
        <p:nvSpPr>
          <p:cNvPr id="75" name="Text 73"/>
          <p:cNvSpPr/>
          <p:nvPr/>
        </p:nvSpPr>
        <p:spPr>
          <a:xfrm>
            <a:off x="182880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76" name="Shape 74"/>
          <p:cNvSpPr/>
          <p:nvPr/>
        </p:nvSpPr>
        <p:spPr>
          <a:xfrm>
            <a:off x="2880360" y="4800600"/>
            <a:ext cx="91" cy="54864"/>
          </a:xfrm>
          <a:prstGeom prst="line">
            <a:avLst/>
          </a:prstGeom>
          <a:noFill/>
          <a:ln w="12700">
            <a:solidFill>
              <a:srgbClr val="133536"/>
            </a:solidFill>
            <a:prstDash val="solid"/>
          </a:ln>
        </p:spPr>
      </p:sp>
      <p:sp>
        <p:nvSpPr>
          <p:cNvPr id="77" name="Text 75"/>
          <p:cNvSpPr/>
          <p:nvPr/>
        </p:nvSpPr>
        <p:spPr>
          <a:xfrm>
            <a:off x="26060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78" name="Shape 76"/>
          <p:cNvSpPr/>
          <p:nvPr/>
        </p:nvSpPr>
        <p:spPr>
          <a:xfrm>
            <a:off x="3657600" y="4800600"/>
            <a:ext cx="91" cy="54864"/>
          </a:xfrm>
          <a:prstGeom prst="line">
            <a:avLst/>
          </a:prstGeom>
          <a:noFill/>
          <a:ln w="12700">
            <a:solidFill>
              <a:srgbClr val="133536"/>
            </a:solidFill>
            <a:prstDash val="solid"/>
          </a:ln>
        </p:spPr>
      </p:sp>
      <p:sp>
        <p:nvSpPr>
          <p:cNvPr id="79" name="Text 77"/>
          <p:cNvSpPr/>
          <p:nvPr/>
        </p:nvSpPr>
        <p:spPr>
          <a:xfrm>
            <a:off x="33832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80" name="Shape 78"/>
          <p:cNvSpPr/>
          <p:nvPr/>
        </p:nvSpPr>
        <p:spPr>
          <a:xfrm>
            <a:off x="4434840" y="4800600"/>
            <a:ext cx="91" cy="54864"/>
          </a:xfrm>
          <a:prstGeom prst="line">
            <a:avLst/>
          </a:prstGeom>
          <a:noFill/>
          <a:ln w="12700">
            <a:solidFill>
              <a:srgbClr val="133536"/>
            </a:solidFill>
            <a:prstDash val="solid"/>
          </a:ln>
        </p:spPr>
      </p:sp>
      <p:sp>
        <p:nvSpPr>
          <p:cNvPr id="81" name="Text 79"/>
          <p:cNvSpPr/>
          <p:nvPr/>
        </p:nvSpPr>
        <p:spPr>
          <a:xfrm>
            <a:off x="416052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82" name="Shape 80"/>
          <p:cNvSpPr/>
          <p:nvPr/>
        </p:nvSpPr>
        <p:spPr>
          <a:xfrm>
            <a:off x="5212080" y="4800600"/>
            <a:ext cx="91" cy="54864"/>
          </a:xfrm>
          <a:prstGeom prst="line">
            <a:avLst/>
          </a:prstGeom>
          <a:noFill/>
          <a:ln w="12700">
            <a:solidFill>
              <a:srgbClr val="133536"/>
            </a:solidFill>
            <a:prstDash val="solid"/>
          </a:ln>
        </p:spPr>
      </p:sp>
      <p:sp>
        <p:nvSpPr>
          <p:cNvPr id="83" name="Text 81"/>
          <p:cNvSpPr/>
          <p:nvPr/>
        </p:nvSpPr>
        <p:spPr>
          <a:xfrm>
            <a:off x="49377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84" name="Shape 82"/>
          <p:cNvSpPr/>
          <p:nvPr/>
        </p:nvSpPr>
        <p:spPr>
          <a:xfrm>
            <a:off x="5989320" y="4800600"/>
            <a:ext cx="91" cy="54864"/>
          </a:xfrm>
          <a:prstGeom prst="line">
            <a:avLst/>
          </a:prstGeom>
          <a:noFill/>
          <a:ln w="12700">
            <a:solidFill>
              <a:srgbClr val="133536"/>
            </a:solidFill>
            <a:prstDash val="solid"/>
          </a:ln>
        </p:spPr>
      </p:sp>
      <p:sp>
        <p:nvSpPr>
          <p:cNvPr id="85" name="Text 83"/>
          <p:cNvSpPr/>
          <p:nvPr/>
        </p:nvSpPr>
        <p:spPr>
          <a:xfrm>
            <a:off x="571500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86" name="Shape 84"/>
          <p:cNvSpPr/>
          <p:nvPr/>
        </p:nvSpPr>
        <p:spPr>
          <a:xfrm>
            <a:off x="1271016" y="4800600"/>
            <a:ext cx="54864" cy="91"/>
          </a:xfrm>
          <a:prstGeom prst="line">
            <a:avLst/>
          </a:prstGeom>
          <a:noFill/>
          <a:ln w="12700">
            <a:solidFill>
              <a:srgbClr val="133536"/>
            </a:solidFill>
            <a:prstDash val="solid"/>
          </a:ln>
        </p:spPr>
      </p:sp>
      <p:sp>
        <p:nvSpPr>
          <p:cNvPr id="87" name="Text 85"/>
          <p:cNvSpPr/>
          <p:nvPr/>
        </p:nvSpPr>
        <p:spPr>
          <a:xfrm>
            <a:off x="886968" y="4709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88" name="Shape 86"/>
          <p:cNvSpPr/>
          <p:nvPr/>
        </p:nvSpPr>
        <p:spPr>
          <a:xfrm>
            <a:off x="1271016" y="4123944"/>
            <a:ext cx="54864" cy="91"/>
          </a:xfrm>
          <a:prstGeom prst="line">
            <a:avLst/>
          </a:prstGeom>
          <a:noFill/>
          <a:ln w="12700">
            <a:solidFill>
              <a:srgbClr val="133536"/>
            </a:solidFill>
            <a:prstDash val="solid"/>
          </a:ln>
        </p:spPr>
      </p:sp>
      <p:sp>
        <p:nvSpPr>
          <p:cNvPr id="89" name="Text 87"/>
          <p:cNvSpPr/>
          <p:nvPr/>
        </p:nvSpPr>
        <p:spPr>
          <a:xfrm>
            <a:off x="886968" y="403250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p>
        </p:txBody>
      </p:sp>
      <p:sp>
        <p:nvSpPr>
          <p:cNvPr id="90" name="Shape 88"/>
          <p:cNvSpPr/>
          <p:nvPr/>
        </p:nvSpPr>
        <p:spPr>
          <a:xfrm>
            <a:off x="1271016" y="3447288"/>
            <a:ext cx="54864" cy="91"/>
          </a:xfrm>
          <a:prstGeom prst="line">
            <a:avLst/>
          </a:prstGeom>
          <a:noFill/>
          <a:ln w="12700">
            <a:solidFill>
              <a:srgbClr val="133536"/>
            </a:solidFill>
            <a:prstDash val="solid"/>
          </a:ln>
        </p:spPr>
      </p:sp>
      <p:sp>
        <p:nvSpPr>
          <p:cNvPr id="91" name="Text 89"/>
          <p:cNvSpPr/>
          <p:nvPr/>
        </p:nvSpPr>
        <p:spPr>
          <a:xfrm>
            <a:off x="886968" y="33558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p>
        </p:txBody>
      </p:sp>
      <p:sp>
        <p:nvSpPr>
          <p:cNvPr id="92" name="Shape 90"/>
          <p:cNvSpPr/>
          <p:nvPr/>
        </p:nvSpPr>
        <p:spPr>
          <a:xfrm>
            <a:off x="1271016" y="2770632"/>
            <a:ext cx="54864" cy="91"/>
          </a:xfrm>
          <a:prstGeom prst="line">
            <a:avLst/>
          </a:prstGeom>
          <a:noFill/>
          <a:ln w="12700">
            <a:solidFill>
              <a:srgbClr val="133536"/>
            </a:solidFill>
            <a:prstDash val="solid"/>
          </a:ln>
        </p:spPr>
      </p:sp>
      <p:sp>
        <p:nvSpPr>
          <p:cNvPr id="93" name="Text 91"/>
          <p:cNvSpPr/>
          <p:nvPr/>
        </p:nvSpPr>
        <p:spPr>
          <a:xfrm>
            <a:off x="886968" y="26791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0.15</a:t>
            </a:r>
            <a:endParaRPr lang="en-US" sz="1000" dirty="0"/>
          </a:p>
        </p:txBody>
      </p:sp>
      <p:sp>
        <p:nvSpPr>
          <p:cNvPr id="94" name="Shape 92"/>
          <p:cNvSpPr/>
          <p:nvPr/>
        </p:nvSpPr>
        <p:spPr>
          <a:xfrm>
            <a:off x="1271016" y="2093976"/>
            <a:ext cx="54864" cy="91"/>
          </a:xfrm>
          <a:prstGeom prst="line">
            <a:avLst/>
          </a:prstGeom>
          <a:noFill/>
          <a:ln w="12700">
            <a:solidFill>
              <a:srgbClr val="133536"/>
            </a:solidFill>
            <a:prstDash val="solid"/>
          </a:ln>
        </p:spPr>
      </p:sp>
      <p:sp>
        <p:nvSpPr>
          <p:cNvPr id="95" name="Text 93"/>
          <p:cNvSpPr/>
          <p:nvPr/>
        </p:nvSpPr>
        <p:spPr>
          <a:xfrm>
            <a:off x="886968" y="20025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p>
        </p:txBody>
      </p:sp>
      <p:sp>
        <p:nvSpPr>
          <p:cNvPr id="96" name="Shape 94"/>
          <p:cNvSpPr/>
          <p:nvPr/>
        </p:nvSpPr>
        <p:spPr>
          <a:xfrm>
            <a:off x="1271016" y="1417320"/>
            <a:ext cx="54864" cy="91"/>
          </a:xfrm>
          <a:prstGeom prst="line">
            <a:avLst/>
          </a:prstGeom>
          <a:noFill/>
          <a:ln w="12700">
            <a:solidFill>
              <a:srgbClr val="133536"/>
            </a:solidFill>
            <a:prstDash val="solid"/>
          </a:ln>
        </p:spPr>
      </p:sp>
      <p:sp>
        <p:nvSpPr>
          <p:cNvPr id="97" name="Text 95"/>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0.25</a:t>
            </a:r>
            <a:endParaRPr lang="en-US" sz="1000" dirty="0"/>
          </a:p>
        </p:txBody>
      </p:sp>
      <p:sp>
        <p:nvSpPr>
          <p:cNvPr id="98" name="Text 96"/>
          <p:cNvSpPr/>
          <p:nvPr/>
        </p:nvSpPr>
        <p:spPr>
          <a:xfrm>
            <a:off x="1325880" y="5047488"/>
            <a:ext cx="46634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distance fallen d / cm</a:t>
            </a:r>
            <a:endParaRPr lang="en-US" sz="1050" dirty="0"/>
          </a:p>
        </p:txBody>
      </p:sp>
      <p:sp>
        <p:nvSpPr>
          <p:cNvPr id="99" name="Text 97"/>
          <p:cNvSpPr/>
          <p:nvPr/>
        </p:nvSpPr>
        <p:spPr>
          <a:xfrm rot="16200000">
            <a:off x="-932688" y="2980944"/>
            <a:ext cx="3383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reaction time / s</a:t>
            </a:r>
            <a:endParaRPr lang="en-US" sz="1050" dirty="0"/>
          </a:p>
        </p:txBody>
      </p:sp>
      <p:sp>
        <p:nvSpPr>
          <p:cNvPr id="100" name="Shape 98"/>
          <p:cNvSpPr/>
          <p:nvPr/>
        </p:nvSpPr>
        <p:spPr>
          <a:xfrm flipV="1">
            <a:off x="1325880" y="4368300"/>
            <a:ext cx="77724" cy="432300"/>
          </a:xfrm>
          <a:prstGeom prst="line">
            <a:avLst/>
          </a:prstGeom>
          <a:noFill/>
          <a:ln w="28575">
            <a:solidFill>
              <a:srgbClr val="0D7877"/>
            </a:solidFill>
            <a:prstDash val="solid"/>
          </a:ln>
        </p:spPr>
      </p:sp>
      <p:sp>
        <p:nvSpPr>
          <p:cNvPr id="101" name="Shape 99"/>
          <p:cNvSpPr/>
          <p:nvPr/>
        </p:nvSpPr>
        <p:spPr>
          <a:xfrm flipV="1">
            <a:off x="1403604" y="4189236"/>
            <a:ext cx="77724" cy="179064"/>
          </a:xfrm>
          <a:prstGeom prst="line">
            <a:avLst/>
          </a:prstGeom>
          <a:noFill/>
          <a:ln w="28575">
            <a:solidFill>
              <a:srgbClr val="0D7877"/>
            </a:solidFill>
            <a:prstDash val="solid"/>
          </a:ln>
        </p:spPr>
      </p:sp>
      <p:sp>
        <p:nvSpPr>
          <p:cNvPr id="102" name="Shape 100"/>
          <p:cNvSpPr/>
          <p:nvPr/>
        </p:nvSpPr>
        <p:spPr>
          <a:xfrm flipV="1">
            <a:off x="1481328" y="4051835"/>
            <a:ext cx="77724" cy="137401"/>
          </a:xfrm>
          <a:prstGeom prst="line">
            <a:avLst/>
          </a:prstGeom>
          <a:noFill/>
          <a:ln w="28575">
            <a:solidFill>
              <a:srgbClr val="0D7877"/>
            </a:solidFill>
            <a:prstDash val="solid"/>
          </a:ln>
        </p:spPr>
      </p:sp>
      <p:sp>
        <p:nvSpPr>
          <p:cNvPr id="103" name="Shape 101"/>
          <p:cNvSpPr/>
          <p:nvPr/>
        </p:nvSpPr>
        <p:spPr>
          <a:xfrm flipV="1">
            <a:off x="1559052" y="3936001"/>
            <a:ext cx="77724" cy="115834"/>
          </a:xfrm>
          <a:prstGeom prst="line">
            <a:avLst/>
          </a:prstGeom>
          <a:noFill/>
          <a:ln w="28575">
            <a:solidFill>
              <a:srgbClr val="0D7877"/>
            </a:solidFill>
            <a:prstDash val="solid"/>
          </a:ln>
        </p:spPr>
      </p:sp>
      <p:sp>
        <p:nvSpPr>
          <p:cNvPr id="104" name="Shape 102"/>
          <p:cNvSpPr/>
          <p:nvPr/>
        </p:nvSpPr>
        <p:spPr>
          <a:xfrm flipV="1">
            <a:off x="1636776" y="3833949"/>
            <a:ext cx="77724" cy="102052"/>
          </a:xfrm>
          <a:prstGeom prst="line">
            <a:avLst/>
          </a:prstGeom>
          <a:noFill/>
          <a:ln w="28575">
            <a:solidFill>
              <a:srgbClr val="0D7877"/>
            </a:solidFill>
            <a:prstDash val="solid"/>
          </a:ln>
        </p:spPr>
      </p:sp>
      <p:sp>
        <p:nvSpPr>
          <p:cNvPr id="105" name="Shape 103"/>
          <p:cNvSpPr/>
          <p:nvPr/>
        </p:nvSpPr>
        <p:spPr>
          <a:xfrm flipV="1">
            <a:off x="1714500" y="3741686"/>
            <a:ext cx="77724" cy="92262"/>
          </a:xfrm>
          <a:prstGeom prst="line">
            <a:avLst/>
          </a:prstGeom>
          <a:noFill/>
          <a:ln w="28575">
            <a:solidFill>
              <a:srgbClr val="0D7877"/>
            </a:solidFill>
            <a:prstDash val="solid"/>
          </a:ln>
        </p:spPr>
      </p:sp>
      <p:sp>
        <p:nvSpPr>
          <p:cNvPr id="106" name="Shape 104"/>
          <p:cNvSpPr/>
          <p:nvPr/>
        </p:nvSpPr>
        <p:spPr>
          <a:xfrm flipV="1">
            <a:off x="1792224" y="3656843"/>
            <a:ext cx="77724" cy="84844"/>
          </a:xfrm>
          <a:prstGeom prst="line">
            <a:avLst/>
          </a:prstGeom>
          <a:noFill/>
          <a:ln w="28575">
            <a:solidFill>
              <a:srgbClr val="0D7877"/>
            </a:solidFill>
            <a:prstDash val="solid"/>
          </a:ln>
        </p:spPr>
      </p:sp>
      <p:sp>
        <p:nvSpPr>
          <p:cNvPr id="107" name="Shape 105"/>
          <p:cNvSpPr/>
          <p:nvPr/>
        </p:nvSpPr>
        <p:spPr>
          <a:xfrm flipV="1">
            <a:off x="1869948" y="3577872"/>
            <a:ext cx="77724" cy="78971"/>
          </a:xfrm>
          <a:prstGeom prst="line">
            <a:avLst/>
          </a:prstGeom>
          <a:noFill/>
          <a:ln w="28575">
            <a:solidFill>
              <a:srgbClr val="0D7877"/>
            </a:solidFill>
            <a:prstDash val="solid"/>
          </a:ln>
        </p:spPr>
      </p:sp>
      <p:sp>
        <p:nvSpPr>
          <p:cNvPr id="108" name="Shape 106"/>
          <p:cNvSpPr/>
          <p:nvPr/>
        </p:nvSpPr>
        <p:spPr>
          <a:xfrm flipV="1">
            <a:off x="1947672" y="3503701"/>
            <a:ext cx="77724" cy="74171"/>
          </a:xfrm>
          <a:prstGeom prst="line">
            <a:avLst/>
          </a:prstGeom>
          <a:noFill/>
          <a:ln w="28575">
            <a:solidFill>
              <a:srgbClr val="0D7877"/>
            </a:solidFill>
            <a:prstDash val="solid"/>
          </a:ln>
        </p:spPr>
      </p:sp>
      <p:sp>
        <p:nvSpPr>
          <p:cNvPr id="109" name="Shape 107"/>
          <p:cNvSpPr/>
          <p:nvPr/>
        </p:nvSpPr>
        <p:spPr>
          <a:xfrm flipV="1">
            <a:off x="2025396" y="3433548"/>
            <a:ext cx="77724" cy="70153"/>
          </a:xfrm>
          <a:prstGeom prst="line">
            <a:avLst/>
          </a:prstGeom>
          <a:noFill/>
          <a:ln w="28575">
            <a:solidFill>
              <a:srgbClr val="0D7877"/>
            </a:solidFill>
            <a:prstDash val="solid"/>
          </a:ln>
        </p:spPr>
      </p:sp>
      <p:sp>
        <p:nvSpPr>
          <p:cNvPr id="110" name="Shape 108"/>
          <p:cNvSpPr/>
          <p:nvPr/>
        </p:nvSpPr>
        <p:spPr>
          <a:xfrm flipV="1">
            <a:off x="2103120" y="3366824"/>
            <a:ext cx="77724" cy="66724"/>
          </a:xfrm>
          <a:prstGeom prst="line">
            <a:avLst/>
          </a:prstGeom>
          <a:noFill/>
          <a:ln w="28575">
            <a:solidFill>
              <a:srgbClr val="0D7877"/>
            </a:solidFill>
            <a:prstDash val="solid"/>
          </a:ln>
        </p:spPr>
      </p:sp>
      <p:sp>
        <p:nvSpPr>
          <p:cNvPr id="111" name="Shape 109"/>
          <p:cNvSpPr/>
          <p:nvPr/>
        </p:nvSpPr>
        <p:spPr>
          <a:xfrm flipV="1">
            <a:off x="2180844" y="3303070"/>
            <a:ext cx="77724" cy="63754"/>
          </a:xfrm>
          <a:prstGeom prst="line">
            <a:avLst/>
          </a:prstGeom>
          <a:noFill/>
          <a:ln w="28575">
            <a:solidFill>
              <a:srgbClr val="0D7877"/>
            </a:solidFill>
            <a:prstDash val="solid"/>
          </a:ln>
        </p:spPr>
      </p:sp>
      <p:sp>
        <p:nvSpPr>
          <p:cNvPr id="112" name="Shape 110"/>
          <p:cNvSpPr/>
          <p:nvPr/>
        </p:nvSpPr>
        <p:spPr>
          <a:xfrm flipV="1">
            <a:off x="2258568" y="3241921"/>
            <a:ext cx="77724" cy="61149"/>
          </a:xfrm>
          <a:prstGeom prst="line">
            <a:avLst/>
          </a:prstGeom>
          <a:noFill/>
          <a:ln w="28575">
            <a:solidFill>
              <a:srgbClr val="0D7877"/>
            </a:solidFill>
            <a:prstDash val="solid"/>
          </a:ln>
        </p:spPr>
      </p:sp>
      <p:sp>
        <p:nvSpPr>
          <p:cNvPr id="113" name="Shape 111"/>
          <p:cNvSpPr/>
          <p:nvPr/>
        </p:nvSpPr>
        <p:spPr>
          <a:xfrm flipV="1">
            <a:off x="2336292" y="3183083"/>
            <a:ext cx="77724" cy="58839"/>
          </a:xfrm>
          <a:prstGeom prst="line">
            <a:avLst/>
          </a:prstGeom>
          <a:noFill/>
          <a:ln w="28575">
            <a:solidFill>
              <a:srgbClr val="0D7877"/>
            </a:solidFill>
            <a:prstDash val="solid"/>
          </a:ln>
        </p:spPr>
      </p:sp>
      <p:sp>
        <p:nvSpPr>
          <p:cNvPr id="114" name="Shape 112"/>
          <p:cNvSpPr/>
          <p:nvPr/>
        </p:nvSpPr>
        <p:spPr>
          <a:xfrm flipV="1">
            <a:off x="2414016" y="3126311"/>
            <a:ext cx="77724" cy="56772"/>
          </a:xfrm>
          <a:prstGeom prst="line">
            <a:avLst/>
          </a:prstGeom>
          <a:noFill/>
          <a:ln w="28575">
            <a:solidFill>
              <a:srgbClr val="0D7877"/>
            </a:solidFill>
            <a:prstDash val="solid"/>
          </a:ln>
        </p:spPr>
      </p:sp>
      <p:sp>
        <p:nvSpPr>
          <p:cNvPr id="115" name="Shape 113"/>
          <p:cNvSpPr/>
          <p:nvPr/>
        </p:nvSpPr>
        <p:spPr>
          <a:xfrm flipV="1">
            <a:off x="2491740" y="3071401"/>
            <a:ext cx="77724" cy="54909"/>
          </a:xfrm>
          <a:prstGeom prst="line">
            <a:avLst/>
          </a:prstGeom>
          <a:noFill/>
          <a:ln w="28575">
            <a:solidFill>
              <a:srgbClr val="0D7877"/>
            </a:solidFill>
            <a:prstDash val="solid"/>
          </a:ln>
        </p:spPr>
      </p:sp>
      <p:sp>
        <p:nvSpPr>
          <p:cNvPr id="116" name="Shape 114"/>
          <p:cNvSpPr/>
          <p:nvPr/>
        </p:nvSpPr>
        <p:spPr>
          <a:xfrm flipV="1">
            <a:off x="2569464" y="3018183"/>
            <a:ext cx="77724" cy="53219"/>
          </a:xfrm>
          <a:prstGeom prst="line">
            <a:avLst/>
          </a:prstGeom>
          <a:noFill/>
          <a:ln w="28575">
            <a:solidFill>
              <a:srgbClr val="0D7877"/>
            </a:solidFill>
            <a:prstDash val="solid"/>
          </a:ln>
        </p:spPr>
      </p:sp>
      <p:sp>
        <p:nvSpPr>
          <p:cNvPr id="117" name="Shape 115"/>
          <p:cNvSpPr/>
          <p:nvPr/>
        </p:nvSpPr>
        <p:spPr>
          <a:xfrm flipV="1">
            <a:off x="2647188" y="2966508"/>
            <a:ext cx="77724" cy="51675"/>
          </a:xfrm>
          <a:prstGeom prst="line">
            <a:avLst/>
          </a:prstGeom>
          <a:noFill/>
          <a:ln w="28575">
            <a:solidFill>
              <a:srgbClr val="0D7877"/>
            </a:solidFill>
            <a:prstDash val="solid"/>
          </a:ln>
        </p:spPr>
      </p:sp>
      <p:sp>
        <p:nvSpPr>
          <p:cNvPr id="118" name="Shape 116"/>
          <p:cNvSpPr/>
          <p:nvPr/>
        </p:nvSpPr>
        <p:spPr>
          <a:xfrm flipV="1">
            <a:off x="2724912" y="2916249"/>
            <a:ext cx="77724" cy="50258"/>
          </a:xfrm>
          <a:prstGeom prst="line">
            <a:avLst/>
          </a:prstGeom>
          <a:noFill/>
          <a:ln w="28575">
            <a:solidFill>
              <a:srgbClr val="0D7877"/>
            </a:solidFill>
            <a:prstDash val="solid"/>
          </a:ln>
        </p:spPr>
      </p:sp>
      <p:sp>
        <p:nvSpPr>
          <p:cNvPr id="119" name="Shape 117"/>
          <p:cNvSpPr/>
          <p:nvPr/>
        </p:nvSpPr>
        <p:spPr>
          <a:xfrm flipV="1">
            <a:off x="2802636" y="2867297"/>
            <a:ext cx="77724" cy="48952"/>
          </a:xfrm>
          <a:prstGeom prst="line">
            <a:avLst/>
          </a:prstGeom>
          <a:noFill/>
          <a:ln w="28575">
            <a:solidFill>
              <a:srgbClr val="0D7877"/>
            </a:solidFill>
            <a:prstDash val="solid"/>
          </a:ln>
        </p:spPr>
      </p:sp>
      <p:sp>
        <p:nvSpPr>
          <p:cNvPr id="120" name="Shape 118"/>
          <p:cNvSpPr/>
          <p:nvPr/>
        </p:nvSpPr>
        <p:spPr>
          <a:xfrm flipV="1">
            <a:off x="2880360" y="2819554"/>
            <a:ext cx="77724" cy="47743"/>
          </a:xfrm>
          <a:prstGeom prst="line">
            <a:avLst/>
          </a:prstGeom>
          <a:noFill/>
          <a:ln w="28575">
            <a:solidFill>
              <a:srgbClr val="0D7877"/>
            </a:solidFill>
            <a:prstDash val="solid"/>
          </a:ln>
        </p:spPr>
      </p:sp>
      <p:sp>
        <p:nvSpPr>
          <p:cNvPr id="121" name="Shape 119"/>
          <p:cNvSpPr/>
          <p:nvPr/>
        </p:nvSpPr>
        <p:spPr>
          <a:xfrm flipV="1">
            <a:off x="2958084" y="2772935"/>
            <a:ext cx="77724" cy="46619"/>
          </a:xfrm>
          <a:prstGeom prst="line">
            <a:avLst/>
          </a:prstGeom>
          <a:noFill/>
          <a:ln w="28575">
            <a:solidFill>
              <a:srgbClr val="0D7877"/>
            </a:solidFill>
            <a:prstDash val="solid"/>
          </a:ln>
        </p:spPr>
      </p:sp>
      <p:sp>
        <p:nvSpPr>
          <p:cNvPr id="122" name="Shape 120"/>
          <p:cNvSpPr/>
          <p:nvPr/>
        </p:nvSpPr>
        <p:spPr>
          <a:xfrm flipV="1">
            <a:off x="3035808" y="2727364"/>
            <a:ext cx="77724" cy="45571"/>
          </a:xfrm>
          <a:prstGeom prst="line">
            <a:avLst/>
          </a:prstGeom>
          <a:noFill/>
          <a:ln w="28575">
            <a:solidFill>
              <a:srgbClr val="0D7877"/>
            </a:solidFill>
            <a:prstDash val="solid"/>
          </a:ln>
        </p:spPr>
      </p:sp>
      <p:sp>
        <p:nvSpPr>
          <p:cNvPr id="123" name="Shape 121"/>
          <p:cNvSpPr/>
          <p:nvPr/>
        </p:nvSpPr>
        <p:spPr>
          <a:xfrm flipV="1">
            <a:off x="3113532" y="2682773"/>
            <a:ext cx="77724" cy="44591"/>
          </a:xfrm>
          <a:prstGeom prst="line">
            <a:avLst/>
          </a:prstGeom>
          <a:noFill/>
          <a:ln w="28575">
            <a:solidFill>
              <a:srgbClr val="0D7877"/>
            </a:solidFill>
            <a:prstDash val="solid"/>
          </a:ln>
        </p:spPr>
      </p:sp>
      <p:sp>
        <p:nvSpPr>
          <p:cNvPr id="124" name="Shape 122"/>
          <p:cNvSpPr/>
          <p:nvPr/>
        </p:nvSpPr>
        <p:spPr>
          <a:xfrm flipV="1">
            <a:off x="3191256" y="2639102"/>
            <a:ext cx="77724" cy="43671"/>
          </a:xfrm>
          <a:prstGeom prst="line">
            <a:avLst/>
          </a:prstGeom>
          <a:noFill/>
          <a:ln w="28575">
            <a:solidFill>
              <a:srgbClr val="0D7877"/>
            </a:solidFill>
            <a:prstDash val="solid"/>
          </a:ln>
        </p:spPr>
      </p:sp>
      <p:sp>
        <p:nvSpPr>
          <p:cNvPr id="125" name="Shape 123"/>
          <p:cNvSpPr/>
          <p:nvPr/>
        </p:nvSpPr>
        <p:spPr>
          <a:xfrm flipV="1">
            <a:off x="3268980" y="2596296"/>
            <a:ext cx="77724" cy="42806"/>
          </a:xfrm>
          <a:prstGeom prst="line">
            <a:avLst/>
          </a:prstGeom>
          <a:noFill/>
          <a:ln w="28575">
            <a:solidFill>
              <a:srgbClr val="0D7877"/>
            </a:solidFill>
            <a:prstDash val="solid"/>
          </a:ln>
        </p:spPr>
      </p:sp>
      <p:sp>
        <p:nvSpPr>
          <p:cNvPr id="126" name="Shape 124"/>
          <p:cNvSpPr/>
          <p:nvPr/>
        </p:nvSpPr>
        <p:spPr>
          <a:xfrm flipV="1">
            <a:off x="3346704" y="2554305"/>
            <a:ext cx="77724" cy="41991"/>
          </a:xfrm>
          <a:prstGeom prst="line">
            <a:avLst/>
          </a:prstGeom>
          <a:noFill/>
          <a:ln w="28575">
            <a:solidFill>
              <a:srgbClr val="0D7877"/>
            </a:solidFill>
            <a:prstDash val="solid"/>
          </a:ln>
        </p:spPr>
      </p:sp>
      <p:sp>
        <p:nvSpPr>
          <p:cNvPr id="127" name="Shape 125"/>
          <p:cNvSpPr/>
          <p:nvPr/>
        </p:nvSpPr>
        <p:spPr>
          <a:xfrm flipV="1">
            <a:off x="3424428" y="2513085"/>
            <a:ext cx="77724" cy="41220"/>
          </a:xfrm>
          <a:prstGeom prst="line">
            <a:avLst/>
          </a:prstGeom>
          <a:noFill/>
          <a:ln w="28575">
            <a:solidFill>
              <a:srgbClr val="0D7877"/>
            </a:solidFill>
            <a:prstDash val="solid"/>
          </a:ln>
        </p:spPr>
      </p:sp>
      <p:sp>
        <p:nvSpPr>
          <p:cNvPr id="128" name="Shape 126"/>
          <p:cNvSpPr/>
          <p:nvPr/>
        </p:nvSpPr>
        <p:spPr>
          <a:xfrm flipV="1">
            <a:off x="3502152" y="2472595"/>
            <a:ext cx="77724" cy="40490"/>
          </a:xfrm>
          <a:prstGeom prst="line">
            <a:avLst/>
          </a:prstGeom>
          <a:noFill/>
          <a:ln w="28575">
            <a:solidFill>
              <a:srgbClr val="0D7877"/>
            </a:solidFill>
            <a:prstDash val="solid"/>
          </a:ln>
        </p:spPr>
      </p:sp>
      <p:sp>
        <p:nvSpPr>
          <p:cNvPr id="129" name="Shape 127"/>
          <p:cNvSpPr/>
          <p:nvPr/>
        </p:nvSpPr>
        <p:spPr>
          <a:xfrm flipV="1">
            <a:off x="3579876" y="2432797"/>
            <a:ext cx="77724" cy="39798"/>
          </a:xfrm>
          <a:prstGeom prst="line">
            <a:avLst/>
          </a:prstGeom>
          <a:noFill/>
          <a:ln w="28575">
            <a:solidFill>
              <a:srgbClr val="0D7877"/>
            </a:solidFill>
            <a:prstDash val="solid"/>
          </a:ln>
        </p:spPr>
      </p:sp>
      <p:sp>
        <p:nvSpPr>
          <p:cNvPr id="130" name="Shape 128"/>
          <p:cNvSpPr/>
          <p:nvPr/>
        </p:nvSpPr>
        <p:spPr>
          <a:xfrm flipV="1">
            <a:off x="3657600" y="2393657"/>
            <a:ext cx="77724" cy="39140"/>
          </a:xfrm>
          <a:prstGeom prst="line">
            <a:avLst/>
          </a:prstGeom>
          <a:noFill/>
          <a:ln w="28575">
            <a:solidFill>
              <a:srgbClr val="0D7877"/>
            </a:solidFill>
            <a:prstDash val="solid"/>
          </a:ln>
        </p:spPr>
      </p:sp>
      <p:sp>
        <p:nvSpPr>
          <p:cNvPr id="131" name="Shape 129"/>
          <p:cNvSpPr/>
          <p:nvPr/>
        </p:nvSpPr>
        <p:spPr>
          <a:xfrm flipV="1">
            <a:off x="3735324" y="2355144"/>
            <a:ext cx="77724" cy="38514"/>
          </a:xfrm>
          <a:prstGeom prst="line">
            <a:avLst/>
          </a:prstGeom>
          <a:noFill/>
          <a:ln w="28575">
            <a:solidFill>
              <a:srgbClr val="0D7877"/>
            </a:solidFill>
            <a:prstDash val="solid"/>
          </a:ln>
        </p:spPr>
      </p:sp>
      <p:sp>
        <p:nvSpPr>
          <p:cNvPr id="132" name="Shape 130"/>
          <p:cNvSpPr/>
          <p:nvPr/>
        </p:nvSpPr>
        <p:spPr>
          <a:xfrm flipV="1">
            <a:off x="3813048" y="2317228"/>
            <a:ext cx="77724" cy="37916"/>
          </a:xfrm>
          <a:prstGeom prst="line">
            <a:avLst/>
          </a:prstGeom>
          <a:noFill/>
          <a:ln w="28575">
            <a:solidFill>
              <a:srgbClr val="0D7877"/>
            </a:solidFill>
            <a:prstDash val="solid"/>
          </a:ln>
        </p:spPr>
      </p:sp>
      <p:sp>
        <p:nvSpPr>
          <p:cNvPr id="133" name="Shape 131"/>
          <p:cNvSpPr/>
          <p:nvPr/>
        </p:nvSpPr>
        <p:spPr>
          <a:xfrm flipV="1">
            <a:off x="3890772" y="2279881"/>
            <a:ext cx="77724" cy="37346"/>
          </a:xfrm>
          <a:prstGeom prst="line">
            <a:avLst/>
          </a:prstGeom>
          <a:noFill/>
          <a:ln w="28575">
            <a:solidFill>
              <a:srgbClr val="0D7877"/>
            </a:solidFill>
            <a:prstDash val="solid"/>
          </a:ln>
        </p:spPr>
      </p:sp>
      <p:sp>
        <p:nvSpPr>
          <p:cNvPr id="134" name="Shape 132"/>
          <p:cNvSpPr/>
          <p:nvPr/>
        </p:nvSpPr>
        <p:spPr>
          <a:xfrm flipV="1">
            <a:off x="3968496" y="2243081"/>
            <a:ext cx="77724" cy="36801"/>
          </a:xfrm>
          <a:prstGeom prst="line">
            <a:avLst/>
          </a:prstGeom>
          <a:noFill/>
          <a:ln w="28575">
            <a:solidFill>
              <a:srgbClr val="0D7877"/>
            </a:solidFill>
            <a:prstDash val="solid"/>
          </a:ln>
        </p:spPr>
      </p:sp>
      <p:sp>
        <p:nvSpPr>
          <p:cNvPr id="135" name="Shape 133"/>
          <p:cNvSpPr/>
          <p:nvPr/>
        </p:nvSpPr>
        <p:spPr>
          <a:xfrm flipV="1">
            <a:off x="4046220" y="2206802"/>
            <a:ext cx="77724" cy="36279"/>
          </a:xfrm>
          <a:prstGeom prst="line">
            <a:avLst/>
          </a:prstGeom>
          <a:noFill/>
          <a:ln w="28575">
            <a:solidFill>
              <a:srgbClr val="0D7877"/>
            </a:solidFill>
            <a:prstDash val="solid"/>
          </a:ln>
        </p:spPr>
      </p:sp>
      <p:sp>
        <p:nvSpPr>
          <p:cNvPr id="136" name="Shape 134"/>
          <p:cNvSpPr/>
          <p:nvPr/>
        </p:nvSpPr>
        <p:spPr>
          <a:xfrm flipV="1">
            <a:off x="4123944" y="2171024"/>
            <a:ext cx="77724" cy="35778"/>
          </a:xfrm>
          <a:prstGeom prst="line">
            <a:avLst/>
          </a:prstGeom>
          <a:noFill/>
          <a:ln w="28575">
            <a:solidFill>
              <a:srgbClr val="0D7877"/>
            </a:solidFill>
            <a:prstDash val="solid"/>
          </a:ln>
        </p:spPr>
      </p:sp>
      <p:sp>
        <p:nvSpPr>
          <p:cNvPr id="137" name="Shape 135"/>
          <p:cNvSpPr/>
          <p:nvPr/>
        </p:nvSpPr>
        <p:spPr>
          <a:xfrm flipV="1">
            <a:off x="4201668" y="2135726"/>
            <a:ext cx="77724" cy="35298"/>
          </a:xfrm>
          <a:prstGeom prst="line">
            <a:avLst/>
          </a:prstGeom>
          <a:noFill/>
          <a:ln w="28575">
            <a:solidFill>
              <a:srgbClr val="0D7877"/>
            </a:solidFill>
            <a:prstDash val="solid"/>
          </a:ln>
        </p:spPr>
      </p:sp>
      <p:sp>
        <p:nvSpPr>
          <p:cNvPr id="138" name="Shape 136"/>
          <p:cNvSpPr/>
          <p:nvPr/>
        </p:nvSpPr>
        <p:spPr>
          <a:xfrm flipV="1">
            <a:off x="4279392" y="2100889"/>
            <a:ext cx="77724" cy="34836"/>
          </a:xfrm>
          <a:prstGeom prst="line">
            <a:avLst/>
          </a:prstGeom>
          <a:noFill/>
          <a:ln w="28575">
            <a:solidFill>
              <a:srgbClr val="0D7877"/>
            </a:solidFill>
            <a:prstDash val="solid"/>
          </a:ln>
        </p:spPr>
      </p:sp>
      <p:sp>
        <p:nvSpPr>
          <p:cNvPr id="139" name="Shape 137"/>
          <p:cNvSpPr/>
          <p:nvPr/>
        </p:nvSpPr>
        <p:spPr>
          <a:xfrm flipV="1">
            <a:off x="4357116" y="2066497"/>
            <a:ext cx="77724" cy="34393"/>
          </a:xfrm>
          <a:prstGeom prst="line">
            <a:avLst/>
          </a:prstGeom>
          <a:noFill/>
          <a:ln w="28575">
            <a:solidFill>
              <a:srgbClr val="0D7877"/>
            </a:solidFill>
            <a:prstDash val="solid"/>
          </a:ln>
        </p:spPr>
      </p:sp>
      <p:sp>
        <p:nvSpPr>
          <p:cNvPr id="140" name="Shape 138"/>
          <p:cNvSpPr/>
          <p:nvPr/>
        </p:nvSpPr>
        <p:spPr>
          <a:xfrm flipV="1">
            <a:off x="4434840" y="2032532"/>
            <a:ext cx="77724" cy="33965"/>
          </a:xfrm>
          <a:prstGeom prst="line">
            <a:avLst/>
          </a:prstGeom>
          <a:noFill/>
          <a:ln w="28575">
            <a:solidFill>
              <a:srgbClr val="0D7877"/>
            </a:solidFill>
            <a:prstDash val="solid"/>
          </a:ln>
        </p:spPr>
      </p:sp>
      <p:sp>
        <p:nvSpPr>
          <p:cNvPr id="141" name="Shape 139"/>
          <p:cNvSpPr/>
          <p:nvPr/>
        </p:nvSpPr>
        <p:spPr>
          <a:xfrm flipV="1">
            <a:off x="4512564" y="1998978"/>
            <a:ext cx="77724" cy="33554"/>
          </a:xfrm>
          <a:prstGeom prst="line">
            <a:avLst/>
          </a:prstGeom>
          <a:noFill/>
          <a:ln w="28575">
            <a:solidFill>
              <a:srgbClr val="0D7877"/>
            </a:solidFill>
            <a:prstDash val="solid"/>
          </a:ln>
        </p:spPr>
      </p:sp>
      <p:sp>
        <p:nvSpPr>
          <p:cNvPr id="142" name="Shape 140"/>
          <p:cNvSpPr/>
          <p:nvPr/>
        </p:nvSpPr>
        <p:spPr>
          <a:xfrm flipV="1">
            <a:off x="4590288" y="1965822"/>
            <a:ext cx="77724" cy="33156"/>
          </a:xfrm>
          <a:prstGeom prst="line">
            <a:avLst/>
          </a:prstGeom>
          <a:noFill/>
          <a:ln w="28575">
            <a:solidFill>
              <a:srgbClr val="0D7877"/>
            </a:solidFill>
            <a:prstDash val="solid"/>
          </a:ln>
        </p:spPr>
      </p:sp>
      <p:sp>
        <p:nvSpPr>
          <p:cNvPr id="143" name="Shape 141"/>
          <p:cNvSpPr/>
          <p:nvPr/>
        </p:nvSpPr>
        <p:spPr>
          <a:xfrm flipV="1">
            <a:off x="4668012" y="1933048"/>
            <a:ext cx="77724" cy="32773"/>
          </a:xfrm>
          <a:prstGeom prst="line">
            <a:avLst/>
          </a:prstGeom>
          <a:noFill/>
          <a:ln w="28575">
            <a:solidFill>
              <a:srgbClr val="0D7877"/>
            </a:solidFill>
            <a:prstDash val="solid"/>
          </a:ln>
        </p:spPr>
      </p:sp>
      <p:sp>
        <p:nvSpPr>
          <p:cNvPr id="144" name="Shape 142"/>
          <p:cNvSpPr/>
          <p:nvPr/>
        </p:nvSpPr>
        <p:spPr>
          <a:xfrm flipV="1">
            <a:off x="4745736" y="1900646"/>
            <a:ext cx="77724" cy="32403"/>
          </a:xfrm>
          <a:prstGeom prst="line">
            <a:avLst/>
          </a:prstGeom>
          <a:noFill/>
          <a:ln w="28575">
            <a:solidFill>
              <a:srgbClr val="0D7877"/>
            </a:solidFill>
            <a:prstDash val="solid"/>
          </a:ln>
        </p:spPr>
      </p:sp>
      <p:sp>
        <p:nvSpPr>
          <p:cNvPr id="145" name="Shape 143"/>
          <p:cNvSpPr/>
          <p:nvPr/>
        </p:nvSpPr>
        <p:spPr>
          <a:xfrm flipV="1">
            <a:off x="4823460" y="1868601"/>
            <a:ext cx="77724" cy="32045"/>
          </a:xfrm>
          <a:prstGeom prst="line">
            <a:avLst/>
          </a:prstGeom>
          <a:noFill/>
          <a:ln w="28575">
            <a:solidFill>
              <a:srgbClr val="0D7877"/>
            </a:solidFill>
            <a:prstDash val="solid"/>
          </a:ln>
        </p:spPr>
      </p:sp>
      <p:sp>
        <p:nvSpPr>
          <p:cNvPr id="146" name="Shape 144"/>
          <p:cNvSpPr/>
          <p:nvPr/>
        </p:nvSpPr>
        <p:spPr>
          <a:xfrm flipV="1">
            <a:off x="4901184" y="1836903"/>
            <a:ext cx="77724" cy="31698"/>
          </a:xfrm>
          <a:prstGeom prst="line">
            <a:avLst/>
          </a:prstGeom>
          <a:noFill/>
          <a:ln w="28575">
            <a:solidFill>
              <a:srgbClr val="0D7877"/>
            </a:solidFill>
            <a:prstDash val="solid"/>
          </a:ln>
        </p:spPr>
      </p:sp>
      <p:sp>
        <p:nvSpPr>
          <p:cNvPr id="147" name="Shape 145"/>
          <p:cNvSpPr/>
          <p:nvPr/>
        </p:nvSpPr>
        <p:spPr>
          <a:xfrm flipV="1">
            <a:off x="4978908" y="1805540"/>
            <a:ext cx="77724" cy="31363"/>
          </a:xfrm>
          <a:prstGeom prst="line">
            <a:avLst/>
          </a:prstGeom>
          <a:noFill/>
          <a:ln w="28575">
            <a:solidFill>
              <a:srgbClr val="0D7877"/>
            </a:solidFill>
            <a:prstDash val="solid"/>
          </a:ln>
        </p:spPr>
      </p:sp>
      <p:sp>
        <p:nvSpPr>
          <p:cNvPr id="148" name="Shape 146"/>
          <p:cNvSpPr/>
          <p:nvPr/>
        </p:nvSpPr>
        <p:spPr>
          <a:xfrm flipV="1">
            <a:off x="5056632" y="1774502"/>
            <a:ext cx="77724" cy="31038"/>
          </a:xfrm>
          <a:prstGeom prst="line">
            <a:avLst/>
          </a:prstGeom>
          <a:noFill/>
          <a:ln w="28575">
            <a:solidFill>
              <a:srgbClr val="0D7877"/>
            </a:solidFill>
            <a:prstDash val="solid"/>
          </a:ln>
        </p:spPr>
      </p:sp>
      <p:sp>
        <p:nvSpPr>
          <p:cNvPr id="149" name="Shape 147"/>
          <p:cNvSpPr/>
          <p:nvPr/>
        </p:nvSpPr>
        <p:spPr>
          <a:xfrm flipV="1">
            <a:off x="5134356" y="1743780"/>
            <a:ext cx="77724" cy="30723"/>
          </a:xfrm>
          <a:prstGeom prst="line">
            <a:avLst/>
          </a:prstGeom>
          <a:noFill/>
          <a:ln w="28575">
            <a:solidFill>
              <a:srgbClr val="0D7877"/>
            </a:solidFill>
            <a:prstDash val="solid"/>
          </a:ln>
        </p:spPr>
      </p:sp>
      <p:sp>
        <p:nvSpPr>
          <p:cNvPr id="150" name="Shape 148"/>
          <p:cNvSpPr/>
          <p:nvPr/>
        </p:nvSpPr>
        <p:spPr>
          <a:xfrm flipV="1">
            <a:off x="5212080" y="1713363"/>
            <a:ext cx="77724" cy="30417"/>
          </a:xfrm>
          <a:prstGeom prst="line">
            <a:avLst/>
          </a:prstGeom>
          <a:noFill/>
          <a:ln w="28575">
            <a:solidFill>
              <a:srgbClr val="0D7877"/>
            </a:solidFill>
            <a:prstDash val="solid"/>
          </a:ln>
        </p:spPr>
      </p:sp>
      <p:sp>
        <p:nvSpPr>
          <p:cNvPr id="151" name="Shape 149"/>
          <p:cNvSpPr/>
          <p:nvPr/>
        </p:nvSpPr>
        <p:spPr>
          <a:xfrm flipV="1">
            <a:off x="5289804" y="1683243"/>
            <a:ext cx="77724" cy="30120"/>
          </a:xfrm>
          <a:prstGeom prst="line">
            <a:avLst/>
          </a:prstGeom>
          <a:noFill/>
          <a:ln w="28575">
            <a:solidFill>
              <a:srgbClr val="0D7877"/>
            </a:solidFill>
            <a:prstDash val="solid"/>
          </a:ln>
        </p:spPr>
      </p:sp>
      <p:sp>
        <p:nvSpPr>
          <p:cNvPr id="152" name="Shape 150"/>
          <p:cNvSpPr/>
          <p:nvPr/>
        </p:nvSpPr>
        <p:spPr>
          <a:xfrm flipV="1">
            <a:off x="5367528" y="1653411"/>
            <a:ext cx="77724" cy="29832"/>
          </a:xfrm>
          <a:prstGeom prst="line">
            <a:avLst/>
          </a:prstGeom>
          <a:noFill/>
          <a:ln w="28575">
            <a:solidFill>
              <a:srgbClr val="0D7877"/>
            </a:solidFill>
            <a:prstDash val="solid"/>
          </a:ln>
        </p:spPr>
      </p:sp>
      <p:sp>
        <p:nvSpPr>
          <p:cNvPr id="153" name="Shape 151"/>
          <p:cNvSpPr/>
          <p:nvPr/>
        </p:nvSpPr>
        <p:spPr>
          <a:xfrm flipV="1">
            <a:off x="5445252" y="1623859"/>
            <a:ext cx="77724" cy="29552"/>
          </a:xfrm>
          <a:prstGeom prst="line">
            <a:avLst/>
          </a:prstGeom>
          <a:noFill/>
          <a:ln w="28575">
            <a:solidFill>
              <a:srgbClr val="0D7877"/>
            </a:solidFill>
            <a:prstDash val="solid"/>
          </a:ln>
        </p:spPr>
      </p:sp>
      <p:sp>
        <p:nvSpPr>
          <p:cNvPr id="154" name="Shape 152"/>
          <p:cNvSpPr/>
          <p:nvPr/>
        </p:nvSpPr>
        <p:spPr>
          <a:xfrm flipV="1">
            <a:off x="5522976" y="1594580"/>
            <a:ext cx="77724" cy="29279"/>
          </a:xfrm>
          <a:prstGeom prst="line">
            <a:avLst/>
          </a:prstGeom>
          <a:noFill/>
          <a:ln w="28575">
            <a:solidFill>
              <a:srgbClr val="0D7877"/>
            </a:solidFill>
            <a:prstDash val="solid"/>
          </a:ln>
        </p:spPr>
      </p:sp>
      <p:sp>
        <p:nvSpPr>
          <p:cNvPr id="155" name="Shape 153"/>
          <p:cNvSpPr/>
          <p:nvPr/>
        </p:nvSpPr>
        <p:spPr>
          <a:xfrm flipV="1">
            <a:off x="5600700" y="1565566"/>
            <a:ext cx="77724" cy="29014"/>
          </a:xfrm>
          <a:prstGeom prst="line">
            <a:avLst/>
          </a:prstGeom>
          <a:noFill/>
          <a:ln w="28575">
            <a:solidFill>
              <a:srgbClr val="0D7877"/>
            </a:solidFill>
            <a:prstDash val="solid"/>
          </a:ln>
        </p:spPr>
      </p:sp>
      <p:sp>
        <p:nvSpPr>
          <p:cNvPr id="156" name="Shape 154"/>
          <p:cNvSpPr/>
          <p:nvPr/>
        </p:nvSpPr>
        <p:spPr>
          <a:xfrm flipV="1">
            <a:off x="5678424" y="1536809"/>
            <a:ext cx="77724" cy="28756"/>
          </a:xfrm>
          <a:prstGeom prst="line">
            <a:avLst/>
          </a:prstGeom>
          <a:noFill/>
          <a:ln w="28575">
            <a:solidFill>
              <a:srgbClr val="0D7877"/>
            </a:solidFill>
            <a:prstDash val="solid"/>
          </a:ln>
        </p:spPr>
      </p:sp>
      <p:sp>
        <p:nvSpPr>
          <p:cNvPr id="157" name="Shape 155"/>
          <p:cNvSpPr/>
          <p:nvPr/>
        </p:nvSpPr>
        <p:spPr>
          <a:xfrm flipV="1">
            <a:off x="5756148" y="1508304"/>
            <a:ext cx="77724" cy="28505"/>
          </a:xfrm>
          <a:prstGeom prst="line">
            <a:avLst/>
          </a:prstGeom>
          <a:noFill/>
          <a:ln w="28575">
            <a:solidFill>
              <a:srgbClr val="0D7877"/>
            </a:solidFill>
            <a:prstDash val="solid"/>
          </a:ln>
        </p:spPr>
      </p:sp>
      <p:sp>
        <p:nvSpPr>
          <p:cNvPr id="158" name="Shape 156"/>
          <p:cNvSpPr/>
          <p:nvPr/>
        </p:nvSpPr>
        <p:spPr>
          <a:xfrm flipV="1">
            <a:off x="5833872" y="1480043"/>
            <a:ext cx="77724" cy="28261"/>
          </a:xfrm>
          <a:prstGeom prst="line">
            <a:avLst/>
          </a:prstGeom>
          <a:noFill/>
          <a:ln w="28575">
            <a:solidFill>
              <a:srgbClr val="0D7877"/>
            </a:solidFill>
            <a:prstDash val="solid"/>
          </a:ln>
        </p:spPr>
      </p:sp>
      <p:sp>
        <p:nvSpPr>
          <p:cNvPr id="159" name="Shape 157"/>
          <p:cNvSpPr/>
          <p:nvPr/>
        </p:nvSpPr>
        <p:spPr>
          <a:xfrm flipV="1">
            <a:off x="5911596" y="1452021"/>
            <a:ext cx="77724" cy="28022"/>
          </a:xfrm>
          <a:prstGeom prst="line">
            <a:avLst/>
          </a:prstGeom>
          <a:noFill/>
          <a:ln w="28575">
            <a:solidFill>
              <a:srgbClr val="0D7877"/>
            </a:solidFill>
            <a:prstDash val="solid"/>
          </a:ln>
        </p:spPr>
      </p:sp>
      <p:sp>
        <p:nvSpPr>
          <p:cNvPr id="160" name="Shape 158"/>
          <p:cNvSpPr/>
          <p:nvPr/>
        </p:nvSpPr>
        <p:spPr>
          <a:xfrm flipV="1">
            <a:off x="3781958" y="2370476"/>
            <a:ext cx="91" cy="2430124"/>
          </a:xfrm>
          <a:prstGeom prst="line">
            <a:avLst/>
          </a:prstGeom>
          <a:noFill/>
          <a:ln w="19050">
            <a:solidFill>
              <a:srgbClr val="0D7877"/>
            </a:solidFill>
            <a:prstDash val="dash"/>
          </a:ln>
        </p:spPr>
      </p:sp>
      <p:sp>
        <p:nvSpPr>
          <p:cNvPr id="161" name="Shape 159"/>
          <p:cNvSpPr/>
          <p:nvPr/>
        </p:nvSpPr>
        <p:spPr>
          <a:xfrm flipH="1">
            <a:off x="1325880" y="2370476"/>
            <a:ext cx="2456078" cy="91"/>
          </a:xfrm>
          <a:prstGeom prst="line">
            <a:avLst/>
          </a:prstGeom>
          <a:noFill/>
          <a:ln w="19050">
            <a:solidFill>
              <a:srgbClr val="0D7877"/>
            </a:solidFill>
            <a:prstDash val="dash"/>
          </a:ln>
        </p:spPr>
      </p:sp>
      <p:sp>
        <p:nvSpPr>
          <p:cNvPr id="162" name="Shape 160"/>
          <p:cNvSpPr/>
          <p:nvPr/>
        </p:nvSpPr>
        <p:spPr>
          <a:xfrm>
            <a:off x="3736238" y="2324756"/>
            <a:ext cx="91440" cy="91440"/>
          </a:xfrm>
          <a:prstGeom prst="ellipse">
            <a:avLst/>
          </a:prstGeom>
          <a:solidFill>
            <a:srgbClr val="0D7877"/>
          </a:solidFill>
          <a:ln w="9525">
            <a:solidFill>
              <a:srgbClr val="0D7877"/>
            </a:solidFill>
            <a:prstDash val="solid"/>
          </a:ln>
        </p:spPr>
      </p:sp>
      <p:sp>
        <p:nvSpPr>
          <p:cNvPr id="163" name="Shape 161"/>
          <p:cNvSpPr/>
          <p:nvPr/>
        </p:nvSpPr>
        <p:spPr>
          <a:xfrm flipV="1">
            <a:off x="4901184" y="1868601"/>
            <a:ext cx="91" cy="2931999"/>
          </a:xfrm>
          <a:prstGeom prst="line">
            <a:avLst/>
          </a:prstGeom>
          <a:noFill/>
          <a:ln w="19050">
            <a:solidFill>
              <a:srgbClr val="B8730A"/>
            </a:solidFill>
            <a:prstDash val="dash"/>
          </a:ln>
        </p:spPr>
      </p:sp>
      <p:sp>
        <p:nvSpPr>
          <p:cNvPr id="164" name="Shape 162"/>
          <p:cNvSpPr/>
          <p:nvPr/>
        </p:nvSpPr>
        <p:spPr>
          <a:xfrm flipH="1">
            <a:off x="1325880" y="1868601"/>
            <a:ext cx="3575304" cy="91"/>
          </a:xfrm>
          <a:prstGeom prst="line">
            <a:avLst/>
          </a:prstGeom>
          <a:noFill/>
          <a:ln w="19050">
            <a:solidFill>
              <a:srgbClr val="B8730A"/>
            </a:solidFill>
            <a:prstDash val="dash"/>
          </a:ln>
        </p:spPr>
      </p:sp>
      <p:sp>
        <p:nvSpPr>
          <p:cNvPr id="165" name="Shape 163"/>
          <p:cNvSpPr/>
          <p:nvPr/>
        </p:nvSpPr>
        <p:spPr>
          <a:xfrm>
            <a:off x="4855464" y="1822881"/>
            <a:ext cx="91440" cy="91440"/>
          </a:xfrm>
          <a:prstGeom prst="ellipse">
            <a:avLst/>
          </a:prstGeom>
          <a:solidFill>
            <a:srgbClr val="B8730A"/>
          </a:solidFill>
          <a:ln w="9525">
            <a:solidFill>
              <a:srgbClr val="B8730A"/>
            </a:solidFill>
            <a:prstDash val="solid"/>
          </a:ln>
        </p:spPr>
      </p:sp>
      <p:sp>
        <p:nvSpPr>
          <p:cNvPr id="166" name="Text 164"/>
          <p:cNvSpPr/>
          <p:nvPr/>
        </p:nvSpPr>
        <p:spPr>
          <a:xfrm>
            <a:off x="3827678" y="2425340"/>
            <a:ext cx="1188720" cy="256032"/>
          </a:xfrm>
          <a:prstGeom prst="rect">
            <a:avLst/>
          </a:prstGeom>
          <a:noFill/>
          <a:ln/>
        </p:spPr>
        <p:txBody>
          <a:bodyPr wrap="square" lIns="0" tIns="0" rIns="0" bIns="0" rtlCol="0" anchor="ctr"/>
          <a:lstStyle/>
          <a:p>
            <a:pPr algn="l" indent="0" marL="0">
              <a:buNone/>
            </a:pPr>
            <a:r>
              <a:rPr lang="en-US" sz="1000" b="1" dirty="0">
                <a:solidFill>
                  <a:srgbClr val="0D7877"/>
                </a:solidFill>
                <a:latin typeface="Calibri" pitchFamily="34" charset="0"/>
                <a:ea typeface="Calibri" pitchFamily="34" charset="-122"/>
                <a:cs typeface="Calibri" pitchFamily="34" charset="-120"/>
              </a:rPr>
              <a:t>15.8 cm → 0.18 s</a:t>
            </a:r>
            <a:endParaRPr lang="en-US" sz="1000" dirty="0"/>
          </a:p>
        </p:txBody>
      </p:sp>
      <p:sp>
        <p:nvSpPr>
          <p:cNvPr id="167" name="Text 165"/>
          <p:cNvSpPr/>
          <p:nvPr/>
        </p:nvSpPr>
        <p:spPr>
          <a:xfrm>
            <a:off x="4946904" y="1923465"/>
            <a:ext cx="1188720" cy="256032"/>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23.0 cm → 0.22 s</a:t>
            </a:r>
            <a:endParaRPr lang="en-US" sz="1000" dirty="0"/>
          </a:p>
        </p:txBody>
      </p:sp>
      <p:sp>
        <p:nvSpPr>
          <p:cNvPr id="168" name="Shape 166"/>
          <p:cNvSpPr/>
          <p:nvPr/>
        </p:nvSpPr>
        <p:spPr>
          <a:xfrm>
            <a:off x="6492240" y="1188720"/>
            <a:ext cx="5285232" cy="2148840"/>
          </a:xfrm>
          <a:prstGeom prst="roundRect">
            <a:avLst>
              <a:gd name="adj" fmla="val 2553"/>
            </a:avLst>
          </a:prstGeom>
          <a:solidFill>
            <a:srgbClr val="FFF4E0"/>
          </a:solidFill>
          <a:ln w="9525">
            <a:solidFill>
              <a:srgbClr val="F1D9A8"/>
            </a:solidFill>
            <a:prstDash val="solid"/>
          </a:ln>
        </p:spPr>
      </p:sp>
      <p:sp>
        <p:nvSpPr>
          <p:cNvPr id="169" name="Text 167"/>
          <p:cNvSpPr/>
          <p:nvPr/>
        </p:nvSpPr>
        <p:spPr>
          <a:xfrm>
            <a:off x="6656832" y="1261872"/>
            <a:ext cx="495604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Stretch: using the equation</a:t>
            </a:r>
            <a:endParaRPr lang="en-US" sz="1300" dirty="0"/>
          </a:p>
        </p:txBody>
      </p:sp>
      <p:sp>
        <p:nvSpPr>
          <p:cNvPr id="170" name="Text 168"/>
          <p:cNvSpPr/>
          <p:nvPr/>
        </p:nvSpPr>
        <p:spPr>
          <a:xfrm>
            <a:off x="6656832" y="1572768"/>
            <a:ext cx="4956048" cy="16916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Convert 15.8 cm. g = 9.8 m/s². Use t = √(2d ÷ g), with d in metres.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Units   </a:t>
            </a:r>
            <a:r>
              <a:rPr lang="en-US" sz="1050" dirty="0">
                <a:solidFill>
                  <a:srgbClr val="262B3A"/>
                </a:solidFill>
                <a:latin typeface="Calibri" pitchFamily="34" charset="0"/>
                <a:ea typeface="Calibri" pitchFamily="34" charset="-122"/>
                <a:cs typeface="Calibri" pitchFamily="34" charset="-120"/>
              </a:rPr>
              <a:t>d = 15.8 cm = 0.158 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t = √(2 × 0.158 ÷ 9.8) = √0.03224…</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Calculate   </a:t>
            </a:r>
            <a:r>
              <a:rPr lang="en-US" sz="1050" dirty="0">
                <a:solidFill>
                  <a:srgbClr val="262B3A"/>
                </a:solidFill>
                <a:latin typeface="Calibri" pitchFamily="34" charset="0"/>
                <a:ea typeface="Calibri" pitchFamily="34" charset="-122"/>
                <a:cs typeface="Calibri" pitchFamily="34" charset="-120"/>
              </a:rPr>
              <a:t>t = 0.1796 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 = 0.18 s (180 ms)</a:t>
            </a:r>
            <a:endParaRPr lang="en-US" sz="1050" dirty="0"/>
          </a:p>
        </p:txBody>
      </p:sp>
      <p:sp>
        <p:nvSpPr>
          <p:cNvPr id="171" name="Shape 169"/>
          <p:cNvSpPr/>
          <p:nvPr/>
        </p:nvSpPr>
        <p:spPr>
          <a:xfrm>
            <a:off x="6492240" y="3447288"/>
            <a:ext cx="5285232" cy="2267712"/>
          </a:xfrm>
          <a:prstGeom prst="roundRect">
            <a:avLst>
              <a:gd name="adj" fmla="val 2419"/>
            </a:avLst>
          </a:prstGeom>
          <a:solidFill>
            <a:srgbClr val="F4FAF9"/>
          </a:solidFill>
          <a:ln w="9525">
            <a:solidFill>
              <a:srgbClr val="CFE0DE"/>
            </a:solidFill>
            <a:prstDash val="solid"/>
          </a:ln>
        </p:spPr>
      </p:sp>
      <p:sp>
        <p:nvSpPr>
          <p:cNvPr id="172" name="Text 170"/>
          <p:cNvSpPr/>
          <p:nvPr/>
        </p:nvSpPr>
        <p:spPr>
          <a:xfrm>
            <a:off x="6656832" y="3538728"/>
            <a:ext cx="495604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Errors and improvements</a:t>
            </a:r>
            <a:endParaRPr lang="en-US" sz="1300" dirty="0"/>
          </a:p>
        </p:txBody>
      </p:sp>
      <p:sp>
        <p:nvSpPr>
          <p:cNvPr id="173" name="Text 171"/>
          <p:cNvSpPr/>
          <p:nvPr/>
        </p:nvSpPr>
        <p:spPr>
          <a:xfrm>
            <a:off x="6656832" y="3867912"/>
            <a:ext cx="4956048" cy="1773936"/>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Random</a:t>
            </a:r>
            <a:r>
              <a:rPr lang="en-US" sz="1050" dirty="0">
                <a:solidFill>
                  <a:srgbClr val="262B3A"/>
                </a:solidFill>
                <a:latin typeface="Calibri" pitchFamily="34" charset="0"/>
                <a:ea typeface="Calibri" pitchFamily="34" charset="-122"/>
                <a:cs typeface="Calibri" pitchFamily="34" charset="-120"/>
              </a:rPr>
              <a:t>: B guesses when A will drop → vary the delay; repeat and take a </a:t>
            </a:r>
            <a:r>
              <a:rPr lang="en-US" sz="1050" b="1" dirty="0">
                <a:solidFill>
                  <a:srgbClr val="262B3A"/>
                </a:solidFill>
                <a:latin typeface="Calibri" pitchFamily="34" charset="0"/>
                <a:ea typeface="Calibri" pitchFamily="34" charset="-122"/>
                <a:cs typeface="Calibri" pitchFamily="34" charset="-120"/>
              </a:rPr>
              <a:t>mean</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Anomalies</a:t>
            </a:r>
            <a:r>
              <a:rPr lang="en-US" sz="1050" dirty="0">
                <a:solidFill>
                  <a:srgbClr val="262B3A"/>
                </a:solidFill>
                <a:latin typeface="Calibri" pitchFamily="34" charset="0"/>
                <a:ea typeface="Calibri" pitchFamily="34" charset="-122"/>
                <a:cs typeface="Calibri" pitchFamily="34" charset="-120"/>
              </a:rPr>
              <a:t>: B not ready → identify, leave out, repeat that trial.</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Reading</a:t>
            </a:r>
            <a:r>
              <a:rPr lang="en-US" sz="1050" dirty="0">
                <a:solidFill>
                  <a:srgbClr val="262B3A"/>
                </a:solidFill>
                <a:latin typeface="Calibri" pitchFamily="34" charset="0"/>
                <a:ea typeface="Calibri" pitchFamily="34" charset="-122"/>
                <a:cs typeface="Calibri" pitchFamily="34" charset="-120"/>
              </a:rPr>
              <a:t>: thumb position unclear → read at the top of the thumb each time.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Learning effect</a:t>
            </a:r>
            <a:r>
              <a:rPr lang="en-US" sz="1050" dirty="0">
                <a:solidFill>
                  <a:srgbClr val="262B3A"/>
                </a:solidFill>
                <a:latin typeface="Calibri" pitchFamily="34" charset="0"/>
                <a:ea typeface="Calibri" pitchFamily="34" charset="-122"/>
                <a:cs typeface="Calibri" pitchFamily="34" charset="-120"/>
              </a:rPr>
              <a:t>: B gets faster with practice → have practice drops first.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Better: a computer reaction timer records in </a:t>
            </a:r>
            <a:r>
              <a:rPr lang="en-US" sz="1050" b="1" dirty="0">
                <a:solidFill>
                  <a:srgbClr val="262B3A"/>
                </a:solidFill>
                <a:latin typeface="Calibri" pitchFamily="34" charset="0"/>
                <a:ea typeface="Calibri" pitchFamily="34" charset="-122"/>
                <a:cs typeface="Calibri" pitchFamily="34" charset="-120"/>
              </a:rPr>
              <a:t>ms</a:t>
            </a:r>
            <a:r>
              <a:rPr lang="en-US" sz="1050" dirty="0">
                <a:solidFill>
                  <a:srgbClr val="262B3A"/>
                </a:solidFill>
                <a:latin typeface="Calibri" pitchFamily="34" charset="0"/>
                <a:ea typeface="Calibri" pitchFamily="34" charset="-122"/>
                <a:cs typeface="Calibri" pitchFamily="34" charset="-120"/>
              </a:rPr>
              <a:t>, more precisely.</a:t>
            </a:r>
            <a:endParaRPr lang="en-US" sz="1050" dirty="0"/>
          </a:p>
        </p:txBody>
      </p:sp>
      <p:sp>
        <p:nvSpPr>
          <p:cNvPr id="174" name="Shape 172"/>
          <p:cNvSpPr/>
          <p:nvPr/>
        </p:nvSpPr>
        <p:spPr>
          <a:xfrm>
            <a:off x="411480" y="5833872"/>
            <a:ext cx="11368735" cy="530352"/>
          </a:xfrm>
          <a:prstGeom prst="rect">
            <a:avLst/>
          </a:prstGeom>
          <a:solidFill>
            <a:srgbClr val="FFF4E0"/>
          </a:solidFill>
          <a:ln w="6350">
            <a:solidFill>
              <a:srgbClr val="F1D9A8"/>
            </a:solidFill>
            <a:prstDash val="solid"/>
          </a:ln>
        </p:spPr>
      </p:sp>
      <p:sp>
        <p:nvSpPr>
          <p:cNvPr id="175" name="Shape 173"/>
          <p:cNvSpPr/>
          <p:nvPr/>
        </p:nvSpPr>
        <p:spPr>
          <a:xfrm>
            <a:off x="411480" y="5833872"/>
            <a:ext cx="82296" cy="530352"/>
          </a:xfrm>
          <a:prstGeom prst="rect">
            <a:avLst/>
          </a:prstGeom>
          <a:solidFill>
            <a:srgbClr val="E39A2F"/>
          </a:solidFill>
          <a:ln w="12700">
            <a:solidFill>
              <a:srgbClr val="E39A2F"/>
            </a:solidFill>
            <a:prstDash val="solid"/>
          </a:ln>
        </p:spPr>
      </p:sp>
      <p:sp>
        <p:nvSpPr>
          <p:cNvPr id="176" name="Text 17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what reaction time matches a drop of </a:t>
            </a:r>
            <a:r>
              <a:rPr lang="en-US" sz="1150" b="1" dirty="0">
                <a:solidFill>
                  <a:srgbClr val="262B3A"/>
                </a:solidFill>
                <a:latin typeface="Calibri" pitchFamily="34" charset="0"/>
                <a:ea typeface="Calibri" pitchFamily="34" charset="-122"/>
                <a:cs typeface="Calibri" pitchFamily="34" charset="-120"/>
              </a:rPr>
              <a:t>10 cm</a:t>
            </a:r>
            <a:r>
              <a:rPr lang="en-US" sz="1150" dirty="0">
                <a:solidFill>
                  <a:srgbClr val="262B3A"/>
                </a:solidFill>
                <a:latin typeface="Calibri" pitchFamily="34" charset="0"/>
                <a:ea typeface="Calibri" pitchFamily="34" charset="-122"/>
                <a:cs typeface="Calibri" pitchFamily="34" charset="-120"/>
              </a:rPr>
              <a:t>? Conclude: does counting backwards affect reaction time?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Suggested practical • reaction time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897941"/>
          </a:xfrm>
          <a:prstGeom prst="roundRect">
            <a:avLst>
              <a:gd name="adj" fmla="val 5092"/>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student's ruler drop distances were </a:t>
            </a:r>
            <a:r>
              <a:rPr lang="en-US" sz="1250" b="1" dirty="0">
                <a:solidFill>
                  <a:srgbClr val="262B3A"/>
                </a:solidFill>
                <a:latin typeface="Calibri" pitchFamily="34" charset="0"/>
                <a:ea typeface="Calibri" pitchFamily="34" charset="-122"/>
                <a:cs typeface="Calibri" pitchFamily="34" charset="-120"/>
              </a:rPr>
              <a:t>12.0, 13.4, 12.8, 14.2 and 13.1 cm</a:t>
            </a:r>
            <a:r>
              <a:rPr lang="en-US" sz="1250" dirty="0">
                <a:solidFill>
                  <a:srgbClr val="262B3A"/>
                </a:solidFill>
                <a:latin typeface="Calibri" pitchFamily="34" charset="0"/>
                <a:ea typeface="Calibri" pitchFamily="34" charset="-122"/>
                <a:cs typeface="Calibri" pitchFamily="34" charset="-120"/>
              </a:rPr>
              <a:t>. Calculate the mean distance.</a:t>
            </a:r>
            <a:endParaRPr lang="en-US" sz="1250" dirty="0"/>
          </a:p>
        </p:txBody>
      </p:sp>
      <p:sp>
        <p:nvSpPr>
          <p:cNvPr id="12" name="Text 10"/>
          <p:cNvSpPr/>
          <p:nvPr/>
        </p:nvSpPr>
        <p:spPr>
          <a:xfrm>
            <a:off x="10317175" y="1720901"/>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251253"/>
            <a:ext cx="11368735" cy="897941"/>
          </a:xfrm>
          <a:prstGeom prst="roundRect">
            <a:avLst>
              <a:gd name="adj" fmla="val 5092"/>
            </a:avLst>
          </a:prstGeom>
          <a:solidFill>
            <a:srgbClr val="FFFFFF"/>
          </a:solidFill>
          <a:ln w="12700">
            <a:solidFill>
              <a:srgbClr val="CFE0DE"/>
            </a:solidFill>
            <a:prstDash val="solid"/>
          </a:ln>
        </p:spPr>
      </p:sp>
      <p:sp>
        <p:nvSpPr>
          <p:cNvPr id="14" name="Shape 12"/>
          <p:cNvSpPr/>
          <p:nvPr/>
        </p:nvSpPr>
        <p:spPr>
          <a:xfrm>
            <a:off x="411480" y="2251253"/>
            <a:ext cx="2103120" cy="292608"/>
          </a:xfrm>
          <a:prstGeom prst="rect">
            <a:avLst/>
          </a:prstGeom>
          <a:solidFill>
            <a:srgbClr val="F5A742"/>
          </a:solidFill>
          <a:ln w="12700">
            <a:solidFill>
              <a:srgbClr val="F5A742"/>
            </a:solidFill>
            <a:prstDash val="solid"/>
          </a:ln>
        </p:spPr>
      </p:sp>
      <p:sp>
        <p:nvSpPr>
          <p:cNvPr id="15" name="Text 13"/>
          <p:cNvSpPr/>
          <p:nvPr/>
        </p:nvSpPr>
        <p:spPr>
          <a:xfrm>
            <a:off x="411480" y="2251253"/>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617013"/>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conversion graph to find the reaction time for this mean. Give your answer in seconds to 2 significant figures.</a:t>
            </a:r>
            <a:endParaRPr lang="en-US" sz="1250" dirty="0"/>
          </a:p>
        </p:txBody>
      </p:sp>
      <p:sp>
        <p:nvSpPr>
          <p:cNvPr id="17" name="Text 15"/>
          <p:cNvSpPr/>
          <p:nvPr/>
        </p:nvSpPr>
        <p:spPr>
          <a:xfrm>
            <a:off x="10317175" y="2765146"/>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295498"/>
            <a:ext cx="11368735" cy="897941"/>
          </a:xfrm>
          <a:prstGeom prst="roundRect">
            <a:avLst>
              <a:gd name="adj" fmla="val 5092"/>
            </a:avLst>
          </a:prstGeom>
          <a:solidFill>
            <a:srgbClr val="FFFFFF"/>
          </a:solidFill>
          <a:ln w="12700">
            <a:solidFill>
              <a:srgbClr val="CFE0DE"/>
            </a:solidFill>
            <a:prstDash val="solid"/>
          </a:ln>
        </p:spPr>
      </p:sp>
      <p:sp>
        <p:nvSpPr>
          <p:cNvPr id="19" name="Shape 17"/>
          <p:cNvSpPr/>
          <p:nvPr/>
        </p:nvSpPr>
        <p:spPr>
          <a:xfrm>
            <a:off x="411480" y="3295498"/>
            <a:ext cx="2103120" cy="292608"/>
          </a:xfrm>
          <a:prstGeom prst="rect">
            <a:avLst/>
          </a:prstGeom>
          <a:solidFill>
            <a:srgbClr val="F5A742"/>
          </a:solidFill>
          <a:ln w="12700">
            <a:solidFill>
              <a:srgbClr val="F5A742"/>
            </a:solidFill>
            <a:prstDash val="solid"/>
          </a:ln>
        </p:spPr>
      </p:sp>
      <p:sp>
        <p:nvSpPr>
          <p:cNvPr id="20" name="Text 18"/>
          <p:cNvSpPr/>
          <p:nvPr/>
        </p:nvSpPr>
        <p:spPr>
          <a:xfrm>
            <a:off x="411480" y="329549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3661258"/>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Identify the </a:t>
            </a:r>
            <a:r>
              <a:rPr lang="en-US" sz="1250" b="1" dirty="0">
                <a:solidFill>
                  <a:srgbClr val="262B3A"/>
                </a:solidFill>
                <a:latin typeface="Calibri" pitchFamily="34" charset="0"/>
                <a:ea typeface="Calibri" pitchFamily="34" charset="-122"/>
                <a:cs typeface="Calibri" pitchFamily="34" charset="-120"/>
              </a:rPr>
              <a:t>independent</a:t>
            </a:r>
            <a:r>
              <a:rPr lang="en-US" sz="1250" dirty="0">
                <a:solidFill>
                  <a:srgbClr val="262B3A"/>
                </a:solidFill>
                <a:latin typeface="Calibri" pitchFamily="34" charset="0"/>
                <a:ea typeface="Calibri" pitchFamily="34" charset="-122"/>
                <a:cs typeface="Calibri" pitchFamily="34" charset="-120"/>
              </a:rPr>
              <a:t> and the </a:t>
            </a:r>
            <a:r>
              <a:rPr lang="en-US" sz="1250" b="1" dirty="0">
                <a:solidFill>
                  <a:srgbClr val="262B3A"/>
                </a:solidFill>
                <a:latin typeface="Calibri" pitchFamily="34" charset="0"/>
                <a:ea typeface="Calibri" pitchFamily="34" charset="-122"/>
                <a:cs typeface="Calibri" pitchFamily="34" charset="-120"/>
              </a:rPr>
              <a:t>dependent</a:t>
            </a:r>
            <a:r>
              <a:rPr lang="en-US" sz="1250" dirty="0">
                <a:solidFill>
                  <a:srgbClr val="262B3A"/>
                </a:solidFill>
                <a:latin typeface="Calibri" pitchFamily="34" charset="0"/>
                <a:ea typeface="Calibri" pitchFamily="34" charset="-122"/>
                <a:cs typeface="Calibri" pitchFamily="34" charset="-120"/>
              </a:rPr>
              <a:t> variable in an investigation of whether practice improves reaction time.</a:t>
            </a:r>
            <a:endParaRPr lang="en-US" sz="1250" dirty="0"/>
          </a:p>
        </p:txBody>
      </p:sp>
      <p:sp>
        <p:nvSpPr>
          <p:cNvPr id="22" name="Text 20"/>
          <p:cNvSpPr/>
          <p:nvPr/>
        </p:nvSpPr>
        <p:spPr>
          <a:xfrm>
            <a:off x="10317175" y="380939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4339742"/>
            <a:ext cx="11368735" cy="897941"/>
          </a:xfrm>
          <a:prstGeom prst="roundRect">
            <a:avLst>
              <a:gd name="adj" fmla="val 5092"/>
            </a:avLst>
          </a:prstGeom>
          <a:solidFill>
            <a:srgbClr val="FFFFFF"/>
          </a:solidFill>
          <a:ln w="12700">
            <a:solidFill>
              <a:srgbClr val="CFE0DE"/>
            </a:solidFill>
            <a:prstDash val="solid"/>
          </a:ln>
        </p:spPr>
      </p:sp>
      <p:sp>
        <p:nvSpPr>
          <p:cNvPr id="24" name="Shape 22"/>
          <p:cNvSpPr/>
          <p:nvPr/>
        </p:nvSpPr>
        <p:spPr>
          <a:xfrm>
            <a:off x="411480" y="4339742"/>
            <a:ext cx="2103120" cy="292608"/>
          </a:xfrm>
          <a:prstGeom prst="rect">
            <a:avLst/>
          </a:prstGeom>
          <a:solidFill>
            <a:srgbClr val="F5A742"/>
          </a:solidFill>
          <a:ln w="12700">
            <a:solidFill>
              <a:srgbClr val="F5A742"/>
            </a:solidFill>
            <a:prstDash val="solid"/>
          </a:ln>
        </p:spPr>
      </p:sp>
      <p:sp>
        <p:nvSpPr>
          <p:cNvPr id="25" name="Text 23"/>
          <p:cNvSpPr/>
          <p:nvPr/>
        </p:nvSpPr>
        <p:spPr>
          <a:xfrm>
            <a:off x="411480" y="4339742"/>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4705502"/>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control variable,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reason why a computer timer gives better data than a ruler.</a:t>
            </a:r>
            <a:endParaRPr lang="en-US" sz="1250" dirty="0"/>
          </a:p>
        </p:txBody>
      </p:sp>
      <p:sp>
        <p:nvSpPr>
          <p:cNvPr id="27" name="Text 25"/>
          <p:cNvSpPr/>
          <p:nvPr/>
        </p:nvSpPr>
        <p:spPr>
          <a:xfrm>
            <a:off x="10317175" y="4853635"/>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411480" y="5383987"/>
            <a:ext cx="11368735" cy="897941"/>
          </a:xfrm>
          <a:prstGeom prst="roundRect">
            <a:avLst>
              <a:gd name="adj" fmla="val 5092"/>
            </a:avLst>
          </a:prstGeom>
          <a:solidFill>
            <a:srgbClr val="FFFFFF"/>
          </a:solidFill>
          <a:ln w="12700">
            <a:solidFill>
              <a:srgbClr val="CFE0DE"/>
            </a:solidFill>
            <a:prstDash val="solid"/>
          </a:ln>
        </p:spPr>
      </p:sp>
      <p:sp>
        <p:nvSpPr>
          <p:cNvPr id="29" name="Shape 27"/>
          <p:cNvSpPr/>
          <p:nvPr/>
        </p:nvSpPr>
        <p:spPr>
          <a:xfrm>
            <a:off x="411480" y="5383987"/>
            <a:ext cx="2103120" cy="292608"/>
          </a:xfrm>
          <a:prstGeom prst="rect">
            <a:avLst/>
          </a:prstGeom>
          <a:solidFill>
            <a:srgbClr val="F5A742"/>
          </a:solidFill>
          <a:ln w="12700">
            <a:solidFill>
              <a:srgbClr val="F5A742"/>
            </a:solidFill>
            <a:prstDash val="solid"/>
          </a:ln>
        </p:spPr>
      </p:sp>
      <p:sp>
        <p:nvSpPr>
          <p:cNvPr id="30" name="Text 28"/>
          <p:cNvSpPr/>
          <p:nvPr/>
        </p:nvSpPr>
        <p:spPr>
          <a:xfrm>
            <a:off x="411480" y="5383987"/>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1" name="Text 29"/>
          <p:cNvSpPr/>
          <p:nvPr/>
        </p:nvSpPr>
        <p:spPr>
          <a:xfrm>
            <a:off x="640080" y="5749747"/>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student repeats each measurement and calculates a mean.</a:t>
            </a:r>
            <a:endParaRPr lang="en-US" sz="1250" dirty="0"/>
          </a:p>
        </p:txBody>
      </p:sp>
      <p:sp>
        <p:nvSpPr>
          <p:cNvPr id="32" name="Text 3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B5.2 How does the nervous system help us respond to changes?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19</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Stimulus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in the environment (inside or outside the body) that is detected.</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Receptor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cell that detects a stimulus and starts an impulse, e.g. in eye, ear, skin.</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Effector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muscle or gland that responds: muscles contract, glands secrete.</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CNS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Central nervous system: brain and spinal cord. The coordinator.</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Neurone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nerve cell. Carries electrical impulses. A nerve is a bundle of neurones.</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Sensory neurone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Carries impulses from a receptor to the CNS.</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Relay neurone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 the CNS; carries impulses from a sensory to a motor neurone.</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Motor neurone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Carries impulses from the CNS to an effector.</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Axon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Long extension of a neurone that carries the impulse away from the cell body.</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Myelin sheath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Fatty layer that insulates the axon and speeds up the impulse.</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Synapse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Junction between two neurones, with a tiny gap.</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Neurotransmitter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Chemical that diffuses across a synapse and binds to receptors.</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Reflex</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fast, automatic response that does not involve the conscious brain.</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Reflex arc</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Pathway of a reflex: receptor → sensory → relay → motor → effector.</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Reaction time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Time between a stimulus and the response to it.</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Voluntary response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response under conscious control: the brain decides.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B5.2.1–B5.2.3 and the reaction time practical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20</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touches a hot plate and pulls her hand away. Later she does a </a:t>
            </a:r>
            <a:r>
              <a:rPr lang="en-US" sz="1200" b="1" i="1" dirty="0">
                <a:solidFill>
                  <a:srgbClr val="262B3A"/>
                </a:solidFill>
                <a:latin typeface="Calibri" pitchFamily="34" charset="0"/>
                <a:ea typeface="Calibri" pitchFamily="34" charset="-122"/>
                <a:cs typeface="Calibri" pitchFamily="34" charset="-120"/>
              </a:rPr>
              <a:t>ruler drop test</a:t>
            </a:r>
            <a:r>
              <a:rPr lang="en-US" sz="1200" i="1" dirty="0">
                <a:solidFill>
                  <a:srgbClr val="262B3A"/>
                </a:solidFill>
                <a:latin typeface="Calibri" pitchFamily="34" charset="0"/>
                <a:ea typeface="Calibri" pitchFamily="34" charset="-122"/>
                <a:cs typeface="Calibri" pitchFamily="34" charset="-120"/>
              </a:rPr>
              <a:t> to measure her reaction time.</a:t>
            </a:r>
            <a:endParaRPr lang="en-US" sz="1200" dirty="0"/>
          </a:p>
        </p:txBody>
      </p:sp>
      <p:sp>
        <p:nvSpPr>
          <p:cNvPr id="9" name="Shape 7"/>
          <p:cNvSpPr/>
          <p:nvPr/>
        </p:nvSpPr>
        <p:spPr>
          <a:xfrm>
            <a:off x="411480" y="1719072"/>
            <a:ext cx="5570068" cy="1510357"/>
          </a:xfrm>
          <a:prstGeom prst="roundRect">
            <a:avLst>
              <a:gd name="adj" fmla="val 3027"/>
            </a:avLst>
          </a:prstGeom>
          <a:solidFill>
            <a:srgbClr val="F4FAF9"/>
          </a:solidFill>
          <a:ln w="9525">
            <a:solidFill>
              <a:srgbClr val="CFE0DE"/>
            </a:solidFill>
            <a:prstDash val="solid"/>
          </a:ln>
        </p:spPr>
      </p:sp>
      <p:sp>
        <p:nvSpPr>
          <p:cNvPr id="10" name="Text 8"/>
          <p:cNvSpPr/>
          <p:nvPr/>
        </p:nvSpPr>
        <p:spPr>
          <a:xfrm>
            <a:off x="548640" y="1792224"/>
            <a:ext cx="5295748" cy="114459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In the reflex, name the type of neurone that carries the impulse:</a:t>
            </a:r>
            <a:endParaRPr lang="en-US" sz="1200" dirty="0"/>
          </a:p>
          <a:p>
            <a:pPr indent="0" marL="0">
              <a:buNone/>
            </a:pPr>
            <a:r>
              <a:rPr lang="en-US" sz="1200" dirty="0">
                <a:solidFill>
                  <a:srgbClr val="262B3A"/>
                </a:solidFill>
                <a:latin typeface="Calibri" pitchFamily="34" charset="0"/>
                <a:ea typeface="Calibri" pitchFamily="34" charset="-122"/>
                <a:cs typeface="Calibri" pitchFamily="34" charset="-120"/>
              </a:rPr>
              <a:t>(i) from the receptor  (ii) through the spinal cord  (iii) to the muscle.</a:t>
            </a:r>
            <a:endParaRPr lang="en-US" sz="1200" dirty="0"/>
          </a:p>
        </p:txBody>
      </p:sp>
      <p:sp>
        <p:nvSpPr>
          <p:cNvPr id="11" name="Text 9"/>
          <p:cNvSpPr/>
          <p:nvPr/>
        </p:nvSpPr>
        <p:spPr>
          <a:xfrm>
            <a:off x="4518508" y="291853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2" name="Shape 10"/>
          <p:cNvSpPr/>
          <p:nvPr/>
        </p:nvSpPr>
        <p:spPr>
          <a:xfrm>
            <a:off x="411480" y="3339157"/>
            <a:ext cx="5570068" cy="1510357"/>
          </a:xfrm>
          <a:prstGeom prst="roundRect">
            <a:avLst>
              <a:gd name="adj" fmla="val 3027"/>
            </a:avLst>
          </a:prstGeom>
          <a:solidFill>
            <a:srgbClr val="FFFFFF"/>
          </a:solidFill>
          <a:ln w="9525">
            <a:solidFill>
              <a:srgbClr val="CFE0DE"/>
            </a:solidFill>
            <a:prstDash val="solid"/>
          </a:ln>
        </p:spPr>
      </p:sp>
      <p:sp>
        <p:nvSpPr>
          <p:cNvPr id="13" name="Text 11"/>
          <p:cNvSpPr/>
          <p:nvPr/>
        </p:nvSpPr>
        <p:spPr>
          <a:xfrm>
            <a:off x="548640" y="3412309"/>
            <a:ext cx="5295748" cy="114459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Describe how the impulse passes from one neurone to the next at a </a:t>
            </a:r>
            <a:r>
              <a:rPr lang="en-US" sz="1200" b="1" dirty="0">
                <a:solidFill>
                  <a:srgbClr val="262B3A"/>
                </a:solidFill>
                <a:latin typeface="Calibri" pitchFamily="34" charset="0"/>
                <a:ea typeface="Calibri" pitchFamily="34" charset="-122"/>
                <a:cs typeface="Calibri" pitchFamily="34" charset="-120"/>
              </a:rPr>
              <a:t>synapse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4518508" y="4538617"/>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4959241"/>
            <a:ext cx="5570068" cy="1304399"/>
          </a:xfrm>
          <a:prstGeom prst="roundRect">
            <a:avLst>
              <a:gd name="adj" fmla="val 3505"/>
            </a:avLst>
          </a:prstGeom>
          <a:solidFill>
            <a:srgbClr val="F4FAF9"/>
          </a:solidFill>
          <a:ln w="9525">
            <a:solidFill>
              <a:srgbClr val="CFE0DE"/>
            </a:solidFill>
            <a:prstDash val="solid"/>
          </a:ln>
        </p:spPr>
      </p:sp>
      <p:sp>
        <p:nvSpPr>
          <p:cNvPr id="16" name="Text 14"/>
          <p:cNvSpPr/>
          <p:nvPr/>
        </p:nvSpPr>
        <p:spPr>
          <a:xfrm>
            <a:off x="548640" y="5032393"/>
            <a:ext cx="5295748" cy="938639"/>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Her ruler drop distances were </a:t>
            </a:r>
            <a:r>
              <a:rPr lang="en-US" sz="1200" b="1" dirty="0">
                <a:solidFill>
                  <a:srgbClr val="262B3A"/>
                </a:solidFill>
                <a:latin typeface="Calibri" pitchFamily="34" charset="0"/>
                <a:ea typeface="Calibri" pitchFamily="34" charset="-122"/>
                <a:cs typeface="Calibri" pitchFamily="34" charset="-120"/>
              </a:rPr>
              <a:t>19.0, 20.4, 19.8 and 19.2 cm</a:t>
            </a:r>
            <a:r>
              <a:rPr lang="en-US" sz="1200" dirty="0">
                <a:solidFill>
                  <a:srgbClr val="262B3A"/>
                </a:solidFill>
                <a:latin typeface="Calibri" pitchFamily="34" charset="0"/>
                <a:ea typeface="Calibri" pitchFamily="34" charset="-122"/>
                <a:cs typeface="Calibri" pitchFamily="34" charset="-120"/>
              </a:rPr>
              <a:t>. Calculate the mean.</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959580"/>
          </a:xfrm>
          <a:prstGeom prst="roundRect">
            <a:avLst>
              <a:gd name="adj" fmla="val 2333"/>
            </a:avLst>
          </a:prstGeom>
          <a:solidFill>
            <a:srgbClr val="F4FAF9"/>
          </a:solidFill>
          <a:ln w="9525">
            <a:solidFill>
              <a:srgbClr val="CFE0DE"/>
            </a:solidFill>
            <a:prstDash val="solid"/>
          </a:ln>
        </p:spPr>
      </p:sp>
      <p:sp>
        <p:nvSpPr>
          <p:cNvPr id="19" name="Text 17"/>
          <p:cNvSpPr/>
          <p:nvPr/>
        </p:nvSpPr>
        <p:spPr>
          <a:xfrm>
            <a:off x="6347308" y="1792224"/>
            <a:ext cx="5295748" cy="1593820"/>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Use t = √(2d ÷ g), where g = 9.8 m/s² and d is in </a:t>
            </a:r>
            <a:r>
              <a:rPr lang="en-US" sz="1200" b="1" dirty="0">
                <a:solidFill>
                  <a:srgbClr val="262B3A"/>
                </a:solidFill>
                <a:latin typeface="Calibri" pitchFamily="34" charset="0"/>
                <a:ea typeface="Calibri" pitchFamily="34" charset="-122"/>
                <a:cs typeface="Calibri" pitchFamily="34" charset="-120"/>
              </a:rPr>
              <a:t>metres</a:t>
            </a:r>
            <a:r>
              <a:rPr lang="en-US" sz="1200" dirty="0">
                <a:solidFill>
                  <a:srgbClr val="262B3A"/>
                </a:solidFill>
                <a:latin typeface="Calibri" pitchFamily="34" charset="0"/>
                <a:ea typeface="Calibri" pitchFamily="34" charset="-122"/>
                <a:cs typeface="Calibri" pitchFamily="34" charset="-120"/>
              </a:rPr>
              <a:t>, to calculate her reaction time.</a:t>
            </a:r>
            <a:endParaRPr lang="en-US" sz="1200" dirty="0"/>
          </a:p>
        </p:txBody>
      </p:sp>
      <p:sp>
        <p:nvSpPr>
          <p:cNvPr id="20" name="Text 18"/>
          <p:cNvSpPr/>
          <p:nvPr/>
        </p:nvSpPr>
        <p:spPr>
          <a:xfrm>
            <a:off x="10317175" y="336775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788380"/>
            <a:ext cx="5570068" cy="2475260"/>
          </a:xfrm>
          <a:prstGeom prst="roundRect">
            <a:avLst>
              <a:gd name="adj" fmla="val 1847"/>
            </a:avLst>
          </a:prstGeom>
          <a:solidFill>
            <a:srgbClr val="FFFFFF"/>
          </a:solidFill>
          <a:ln w="9525">
            <a:solidFill>
              <a:srgbClr val="CFE0DE"/>
            </a:solidFill>
            <a:prstDash val="solid"/>
          </a:ln>
        </p:spPr>
      </p:sp>
      <p:sp>
        <p:nvSpPr>
          <p:cNvPr id="22" name="Text 20"/>
          <p:cNvSpPr/>
          <p:nvPr/>
        </p:nvSpPr>
        <p:spPr>
          <a:xfrm>
            <a:off x="6347308" y="3861532"/>
            <a:ext cx="5295748" cy="2109500"/>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Pulling her hand from the hot plate took much less time than catching the ruler. Explain why.</a:t>
            </a:r>
            <a:endParaRPr lang="en-US" sz="1200" dirty="0"/>
          </a:p>
        </p:txBody>
      </p:sp>
      <p:sp>
        <p:nvSpPr>
          <p:cNvPr id="23" name="Text 21"/>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Text 22"/>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B5.2 How does the nervous system help us respond to changes?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B5.2 How does the nervous system help us respond to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22</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What is an </a:t>
            </a:r>
            <a:r>
              <a:rPr lang="en-US" sz="1150" b="1" dirty="0">
                <a:solidFill>
                  <a:srgbClr val="262B3A"/>
                </a:solidFill>
                <a:latin typeface="Calibri" pitchFamily="34" charset="0"/>
                <a:ea typeface="Calibri" pitchFamily="34" charset="-122"/>
                <a:cs typeface="Calibri" pitchFamily="34" charset="-120"/>
              </a:rPr>
              <a:t>effector</a:t>
            </a:r>
            <a:r>
              <a:rPr lang="en-US" sz="1150" dirty="0">
                <a:solidFill>
                  <a:srgbClr val="262B3A"/>
                </a:solidFill>
                <a:latin typeface="Calibri" pitchFamily="34" charset="0"/>
                <a:ea typeface="Calibri" pitchFamily="34" charset="-122"/>
                <a:cs typeface="Calibri" pitchFamily="34" charset="-120"/>
              </a:rPr>
              <a:t>? 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examples.</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State the function of the </a:t>
            </a:r>
            <a:r>
              <a:rPr lang="en-US" sz="1150" b="1" dirty="0">
                <a:solidFill>
                  <a:srgbClr val="262B3A"/>
                </a:solidFill>
                <a:latin typeface="Calibri" pitchFamily="34" charset="0"/>
                <a:ea typeface="Calibri" pitchFamily="34" charset="-122"/>
                <a:cs typeface="Calibri" pitchFamily="34" charset="-120"/>
              </a:rPr>
              <a:t>myelin sheath</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Write these in the correct order for a reflex arc: </a:t>
            </a:r>
            <a:r>
              <a:rPr lang="en-US" sz="1150" b="1" dirty="0">
                <a:solidFill>
                  <a:srgbClr val="262B3A"/>
                </a:solidFill>
                <a:latin typeface="Calibri" pitchFamily="34" charset="0"/>
                <a:ea typeface="Calibri" pitchFamily="34" charset="-122"/>
                <a:cs typeface="Calibri" pitchFamily="34" charset="-120"/>
              </a:rPr>
              <a:t>effector, relay neurone, receptor, motor neurone, sensory neurone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Explain why an impulse can only cross a </a:t>
            </a:r>
            <a:r>
              <a:rPr lang="en-US" sz="1150" b="1" dirty="0">
                <a:solidFill>
                  <a:srgbClr val="262B3A"/>
                </a:solidFill>
                <a:latin typeface="Calibri" pitchFamily="34" charset="0"/>
                <a:ea typeface="Calibri" pitchFamily="34" charset="-122"/>
                <a:cs typeface="Calibri" pitchFamily="34" charset="-120"/>
              </a:rPr>
              <a:t>synapse</a:t>
            </a:r>
            <a:r>
              <a:rPr lang="en-US" sz="1150" dirty="0">
                <a:solidFill>
                  <a:srgbClr val="262B3A"/>
                </a:solidFill>
                <a:latin typeface="Calibri" pitchFamily="34" charset="0"/>
                <a:ea typeface="Calibri" pitchFamily="34" charset="-122"/>
                <a:cs typeface="Calibri" pitchFamily="34" charset="-120"/>
              </a:rPr>
              <a:t> in one direction.</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97889"/>
          </a:xfrm>
          <a:prstGeom prst="roundRect">
            <a:avLst>
              <a:gd name="adj" fmla="val 4582"/>
            </a:avLst>
          </a:prstGeom>
          <a:solidFill>
            <a:srgbClr val="F4FAF9"/>
          </a:solidFill>
          <a:ln w="9525">
            <a:solidFill>
              <a:srgbClr val="CFE0DE"/>
            </a:solidFill>
            <a:prstDash val="solid"/>
          </a:ln>
        </p:spPr>
      </p:sp>
      <p:sp>
        <p:nvSpPr>
          <p:cNvPr id="22" name="Text 20"/>
          <p:cNvSpPr/>
          <p:nvPr/>
        </p:nvSpPr>
        <p:spPr>
          <a:xfrm>
            <a:off x="6347308" y="1591056"/>
            <a:ext cx="5295748" cy="65041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Ruler drops: </a:t>
            </a:r>
            <a:r>
              <a:rPr lang="en-US" sz="1150" b="1" dirty="0">
                <a:solidFill>
                  <a:srgbClr val="262B3A"/>
                </a:solidFill>
                <a:latin typeface="Calibri" pitchFamily="34" charset="0"/>
                <a:ea typeface="Calibri" pitchFamily="34" charset="-122"/>
                <a:cs typeface="Calibri" pitchFamily="34" charset="-120"/>
              </a:rPr>
              <a:t>20, 22, 21, 23</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19 cm</a:t>
            </a:r>
            <a:r>
              <a:rPr lang="en-US" sz="1150" dirty="0">
                <a:solidFill>
                  <a:srgbClr val="262B3A"/>
                </a:solidFill>
                <a:latin typeface="Calibri" pitchFamily="34" charset="0"/>
                <a:ea typeface="Calibri" pitchFamily="34" charset="-122"/>
                <a:cs typeface="Calibri" pitchFamily="34" charset="-120"/>
              </a:rPr>
              <a:t>. Calculate the mean, then use the graph from the lesson to find the reaction time.</a:t>
            </a:r>
            <a:endParaRPr lang="en-US" sz="1150" dirty="0"/>
          </a:p>
        </p:txBody>
      </p:sp>
      <p:sp>
        <p:nvSpPr>
          <p:cNvPr id="23" name="Text 21"/>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625521"/>
            <a:ext cx="5570068" cy="997889"/>
          </a:xfrm>
          <a:prstGeom prst="roundRect">
            <a:avLst>
              <a:gd name="adj" fmla="val 4582"/>
            </a:avLst>
          </a:prstGeom>
          <a:solidFill>
            <a:srgbClr val="F4FAF9"/>
          </a:solidFill>
          <a:ln w="9525">
            <a:solidFill>
              <a:srgbClr val="CFE0DE"/>
            </a:solidFill>
            <a:prstDash val="solid"/>
          </a:ln>
        </p:spPr>
      </p:sp>
      <p:sp>
        <p:nvSpPr>
          <p:cNvPr id="25" name="Text 23"/>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Explain why a scientist would test </a:t>
            </a:r>
            <a:r>
              <a:rPr lang="en-US" sz="1150" b="1" dirty="0">
                <a:solidFill>
                  <a:srgbClr val="262B3A"/>
                </a:solidFill>
                <a:latin typeface="Calibri" pitchFamily="34" charset="0"/>
                <a:ea typeface="Calibri" pitchFamily="34" charset="-122"/>
                <a:cs typeface="Calibri" pitchFamily="34" charset="-120"/>
              </a:rPr>
              <a:t>many people</a:t>
            </a:r>
            <a:r>
              <a:rPr lang="en-US" sz="1150" dirty="0">
                <a:solidFill>
                  <a:srgbClr val="262B3A"/>
                </a:solidFill>
                <a:latin typeface="Calibri" pitchFamily="34" charset="0"/>
                <a:ea typeface="Calibri" pitchFamily="34" charset="-122"/>
                <a:cs typeface="Calibri" pitchFamily="34" charset="-120"/>
              </a:rPr>
              <a:t>, not just one, before concluding that a distraction slows reaction time.</a:t>
            </a:r>
            <a:endParaRPr lang="en-US" sz="1150" dirty="0"/>
          </a:p>
        </p:txBody>
      </p:sp>
      <p:sp>
        <p:nvSpPr>
          <p:cNvPr id="26" name="Text 24"/>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8" name="Text 26"/>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A student wants to find out whether people react faster with their </a:t>
            </a:r>
            <a:r>
              <a:rPr lang="en-US" sz="1150" b="1" dirty="0">
                <a:solidFill>
                  <a:srgbClr val="262B3A"/>
                </a:solidFill>
                <a:latin typeface="Calibri" pitchFamily="34" charset="0"/>
                <a:ea typeface="Calibri" pitchFamily="34" charset="-122"/>
                <a:cs typeface="Calibri" pitchFamily="34" charset="-120"/>
              </a:rPr>
              <a:t>dominant</a:t>
            </a:r>
            <a:r>
              <a:rPr lang="en-US" sz="1150" dirty="0">
                <a:solidFill>
                  <a:srgbClr val="262B3A"/>
                </a:solidFill>
                <a:latin typeface="Calibri" pitchFamily="34" charset="0"/>
                <a:ea typeface="Calibri" pitchFamily="34" charset="-122"/>
                <a:cs typeface="Calibri" pitchFamily="34" charset="-120"/>
              </a:rPr>
              <a:t> hand. </a:t>
            </a:r>
            <a:r>
              <a:rPr lang="en-US" sz="1150" b="1" dirty="0">
                <a:solidFill>
                  <a:srgbClr val="262B3A"/>
                </a:solidFill>
                <a:latin typeface="Calibri" pitchFamily="34" charset="0"/>
                <a:ea typeface="Calibri" pitchFamily="34" charset="-122"/>
                <a:cs typeface="Calibri" pitchFamily="34" charset="-120"/>
              </a:rPr>
              <a:t>Describe</a:t>
            </a:r>
            <a:r>
              <a:rPr lang="en-US" sz="1150" dirty="0">
                <a:solidFill>
                  <a:srgbClr val="262B3A"/>
                </a:solidFill>
                <a:latin typeface="Calibri" pitchFamily="34" charset="0"/>
                <a:ea typeface="Calibri" pitchFamily="34" charset="-122"/>
                <a:cs typeface="Calibri" pitchFamily="34" charset="-120"/>
              </a:rPr>
              <a:t> how she could use the ruler drop test to investigate this. Include how she makes it a fair test and how she processes her results.</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B5.2 How does the nervous system help us respond to changes?</dc:title>
  <dc:subject>PptxGenJS Presentation</dc:subject>
  <dc:creator>GCSE Biology</dc:creator>
  <cp:lastModifiedBy>GCSE Biology</cp:lastModifiedBy>
  <cp:revision>1</cp:revision>
  <dcterms:created xsi:type="dcterms:W3CDTF">2026-10-30T14:26:11Z</dcterms:created>
  <dcterms:modified xsi:type="dcterms:W3CDTF">2026-10-30T14:26:11Z</dcterms:modified>
</cp:coreProperties>
</file>