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B5.3 How do hormones control responses in the human body? is Part 3 of 6 in J260 Chapter B5 The human body – staying alive.
Scope check (see SPEC_B5_3.md): J260 B5.3 has two statements, B5.3.1 principles of hormonal coordination by the endocrine system, and B5.3.2 the roles of thyroxine and adrenaline, with thyroxine as an example of negative feedback. Blood glucose control by insulin and glucagon, and type 1 and type 2 diabetes, are in J260 B5.6 ("What can happen when organs and control systems stop working?"), and the sex hormones are in B5.5. They appear on the gland map only and are taught in those decks.
The statement wording comes from search extracts (ocr.org.uk could not be fetched). The HT status of B5.3.2 is UNVERIFIED.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Statement wording found in search extracts (J257 mirror; the same B5.3 wording is quoted for J260 from a plutoniumscience copy of the J260 specification):
B5.3.1 "describe the principles of hormonal coordination and control by the human endocrine system".
B5.3.2 "explain the roles of thyroxine and adrenaline in the body, including thyroxine as an example of a negative feedback system".
HT: the HT pill on B5.3.2 is UNVERIFIED. The evidence is indirect: the thyroxine and adrenaline questions found are on Higher papers (J260/05, J257 Paper 4), Oak National Academy lists "adrenaline, thyroxine and negative feedback" only in its OCR Higher programme, and the equivalent statement is HT in OCR Gateway and AQA. If your copy of the J260 specification shows B5.3.2 in normal type, teach slides 11–17 to all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J260 Chapter B5 sub-topics as found in search extracts (PMT topic index, docbrown combined pages, a J260 specification copy): B5.1–B5.6, all with Foundation and Higher material in Combined Science; one source suggests that some B5.4 statements are separate science (J257) only (UNVERIFIED). See SPEC_B5_3.md.
Overlap control: blood glucose control (insulin, glucagon HT) and diabetes are B5.6; menstrual cycle hormones (FSH, LH, oestrogen, progesterone) are B5.5; homeostasis in general, for example temperature control, is B5.4. This deck names those hormones on the gland map and leaves the detail to those decks. Negative feedback is taught here through thyroxine, as the B5.3.2 statement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Plasma.
2. Muscles and glands. An effector carries out the response (muscles contract; glands release / secrete substances, e.g. hormones).
3. A cell (or group of cells) that detects a stimulus / change in the environment. Examples: light receptors in the eye (retina); temperature receptors in the skin; pressure receptors in the skin; chemical receptors in the tongue / nose.
4. glucose + oxygen → carbon dioxide + water (energy released / transferred).
5. Arteries carry blood away; veins carry blood back to the heart.
6. 15 × 2 = 30 breaths per minute.
Q2 sets up this lesson: glands are effectors, and many glands release hormones.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gland secretes the hormone into the blood (1); it dissolves in the plasma and is carried around the body in the blood / circulation (1) until it reaches the target cells, which have receptors for it (1).
B5.3.1 "describe the principles of hormonal coordination and control by the human endocrine system". The receptor-shape model is a simplified model (stretch link to enzymes and the lock-and-key model). Hormones are removed / broken down (e.g. by the liver), so the effect stops when the gland stops secreting: this is why hormone effects can last a long time but are not permanent.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Adrenal gland; adrenaline. Ovaries (female) and testes (male).
The pancreas is drawn behind the stomach with its tail towards the body's left (viewer's right); kidneys are drawn faintly because the adrenal glands sit on them. The thyroid is drawn as two lobes joined by an isthmus, in front of the windpipe.
Overlap control: insulin and glucagon (glucagon is HT) are taught in B5.6, sex hormones in B5.5; ADH (pituitary, water balance) belongs with the kidney in B5.4 and is not named here. TSH, FSH and LH are named because the pituitary slide uses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8 marks)
Q1 [2]: A chemical (messenger) (1); made / secreted by an (endocrine) gland and carried in the blood (to a target organ) (1).
Q2 [2]: Thyroid (gland) (1); thyroxine (1).
Q3 [2]: Only the cells of target organs have receptors (1); that the hormone fits / binds to (1).
Q4 [2]: (a) adrenal gland (1); (b) testes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Its hormones control (stimulate) other endocrine glands, e.g. the thyroid, ovaries and testes (1). TSH (thyroid-stimulating hormone) (1).
The hypothalamus (TRH) and ACTH (adrenal cortex) are not required at GCSE and are left out. Growth hormone acts on many tissues, not one gland: it is included to show that the pituitary also acts directly on organs. FSH and LH are only named: their roles in the menstrual cycle are B5.5.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 Nervous system: the response must be very fast / it is a reflex to one place (the eyelid muscle). (b) Hormones (growth hormone): growth is slow and long-lasting and affects many tissues all over the body.
Node: 1.5 ÷ 100 = 0.015 s; 60 ÷ 0.015 = 4000. Impulse speeds vary (about 1–120 m/s); 100 m/s is a typical fast motor neurone. A circulation time of about 1 minute at rest is a textbook value. Neurone structure and synapses belong to B5.2: recap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8 marks)
Q1 [2]: Its hormones control / stimulate other (endocrine) glands (1); e.g. TSH makes the thyroid release thyroxine / FSH, LH act on the ovaries or testes (1).
Q2 [2]: Any two (1 each): electrical impulses vs chemicals / hormones; along neurones vs in the blood; fast vs slower; short-lived vs longer-lasting; one precise place vs widespread / many target organs.
Q3 [2]: time = distance ÷ speed = 1.2 ÷ 60 (1); = 0.02 s (20 ms) (1).
Q4 [2]: Growth happens over a long time / years, and hormones have long-lasting effects (1); it affects many tissues all over the body, and hormones reach all target cells in the blood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Blood glucose concentration rises (1), so more glucose is delivered to the muscles for respiration (1), releasing more energy for muscle contraction (1).
B5.3.2 "explain the roles of thyroxine and adrenaline in the body". HT status UNVERIFIED (see slide 2 notes). The release of adrenaline is triggered by nerve impulses: a good example of the two systems working together. The glycogen-to-glucose effect is part of adrenaline's role; the control of blood glucose by insulin and glucagon is B5.6 and is not taught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(90 − 72) ÷ 72 × 100 = 18 ÷ 72 × 100 = 25%.
Node: peak 124, rise 54, % increase 77.14285714285715 (77.1% to 3 s.f.). Graph drawn to scale from the table (y axis starts at 60 bpm: point this out; it exaggerates the change visually).
Illustrative data, typical of class pulse-rate investigations. No PAG is linked to B5.3 in the extracts found; this is a suggested data activity (heart rate can be measured with a pulse in the wrist or a pulse oximeter). Ethics: do not deliberately frighten students; a mild surprise or a video clip is enough, and students with heart conditions should not take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8 marks)
Q1 [2]: Adrenal gland (1); on top of the kidneys (1).
Q2 [3]: Any three (1 each): heart rate increases / heart beats more strongly; breathing rate increases; liver converts glycogen to glucose / blood glucose rises; more blood to muscles; blood diverted from gut / skin; pupils dilate.
Q3 [2]: (105 − 60) ÷ 60 × 100 (1); = 75% (1).
Q4 [1]: So more blood (oxygen, glucose) goes to the muscles / digestion is not needed in an emergency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response is opposite to (reverses / cancels out) the change: an increase causes a response that decreases the level, and a decrease causes a response that increases it.
B5.3.2 asks for thyroxine "as an example of a negative feedback system": the next slide applies this pattern. Misconception to tackle: negative feedback is not only about bringing high levels down; it also brings low levels up. Homeostasis in general (temperature control etc.) is B5.4: the thermostat is an analogy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pituitary releases more TSH (1); this stimulates the thyroid to release more thyroxine (1); thyroxine rises back to normal, then TSH release is reduced again (1).
B5.3.2 "including thyroxine as an example of a negative feedback system" (HT status UNVERIFIED). A June 2018 J260/05 (Higher) mark scheme credits "thyroxine increases rate of chemical reactions / controls metabolic rate" and the TSH feedback loop. The hypothalamus (TRH) is not required at GCSE (stretch). Iodine deficiency and goitre are context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Thyroxine inhibits TSH release (negative feedback): when thyroxine is high, less TSH is released; when thyroxine is low, more TSH is released. TSH then changes thyroxine release, so the two levels move in opposite directions (with a short delay).
The graph is a model (a damped oscillation in arbitrary units), not real data: real levels fluctuate much less. The delay between the lines is shown to make the cause and effect visible.
The comparison table links B5.3.1 and B5.3.2: adrenaline is a short-term, fast hormonal response triggered by nerves; thyroxine is a long-term control kept steady by negative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8 marks)
Q1 [1]: A change in a level triggers a response that reverses the change / brings it back to normal (1).
Q2 [1]: Metabolic rate / rate of chemical reactions in cells (also accept growth and development) (1).
Q3 [2]: TSH / thyroid-stimulating hormone (1); pituitary gland (1).
Q4 [3]: High thyroxine inhibits / reduces TSH release from the pituitary (1); less TSH reaches the thyroid (in the blood) (1); so the thyroid releases less thyroxine and the level falls (back to normal) (1).
Q5 [1]: e.g. adrenaline acts in seconds / short-term, thyroxine long-term; adrenaline for fight or flight, thyroxine controls metabolic rate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hide the definitions, students say them, then reveal. Thyroxine, TSH, negative feedback, set point and adrenaline go with the HT statement B5.3.2 (HT status UNVERIFIED).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[3]: (i) adrenal gland (1); (ii) pituitary gland (1); (iii) thyroid gland (1).
(b) [2]: Adrenaline is carried in the blood to all organs (1); only target organs / cells have receptors that adrenaline fits / binds to (1).
(c) [2]: Any two (1 each): chemical vs electrical; in the blood vs along neurones; slower vs faster; longer-lasting vs short-lived; widespread vs precise / one place.
(d) [2]: (132 − 80) ÷ 80 × 100 (1); = 65% (1).
(e) [2]: Any two explained effects (1 each): heart beats faster so more blood / oxygen / glucose to muscles; liver converts glycogen to glucose so more glucose for respiration; breathing faster so more oxygen; blood diverted from gut to muscles. Effect must be linked to the muscles / respiration.
(f) [2]: Pituitary releases TSH which stimulates the thyroid to release thyroxine (1); high thyroxine inhibits TSH release so less thyroxine is made / low thyroxine causes more TSH so more thyroxine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A gland that secretes hormones (directly) into the blood (1).
2 [2]: Thyroxine (1); metabolic rate / rate of chemical reactions in cells (1).
3 [2]: TSH is secreted into the blood and carried to the thyroid (1); thyroid cells have receptors for TSH, so the thyroid responds / releases thyroxine (1).
4 [2]: (112 − 64) ÷ 64 × 100 (1); = 75% (1).
5 [2]: Any two (1 each): heart rate increases; breathing rate increases; liver releases glucose (glycogen → glucose); more blood to muscles; blood diverted from gut / skin; pupils dilate.
6 [2]: More TSH is released by the pituitary (1); so the thyroid is stimulated to release more thyroxine (until the level is back to normal) (1).
7 [6]: OCR level-of-response mark scheme (6 marks). Read the whole answer, decide the level from the content descriptor, then the mark within the level from the quality of the line of reasoning. Use the indicative scientific points below.
Level 3 (5–6 marks): Compares the two systems on at least THREE features (e.g. signal, route, speed, duration, spread) with a suitable example of each system, and explains why each suits its job. There is a well-developed line of reasoning which is clear and logically structured. The information presented is relevant and substantiated.
Level 2 (3–4 marks): Compares the two systems on at least TWO features, OR describes features with an example, with some explanation. There is a line of reasoning presented with some structure. The information presented is relevant and supported by some evidence.
Level 1 (1–2 marks): Gives simple features of one or both systems, e.g. "nerves are faster" or "hormones are in the blood". There is an attempt at a logical structure with a line of reasoning. The information is in the most part relevant.
0 marks: no response or no response worthy of credit.
Indicative scientific points may include:
 • Nervous: electrical impulses along neurones (sensory, relay, motor); hormonal: chemicals (hormones) secreted by endocrine glands into the blood.
 • Nervous responses are very fast (milliseconds); hormonal responses are slower (seconds to hours).
 • Nervous effects are short-lived; hormonal effects are usually longer-lasting.
 • Nervous signals go to one precise place (a particular muscle or gland); hormones reach all cells but act only on target organs with receptors, so effects can be widespread.
 • Examples: reflexes, e.g. hand withdrawn from a hot object (nervous); growth, metabolic rate (thyroxine), puberty (sex hormones) (hormonal).
 • Both use receptors and effectors; glands are effectors of the nervous system; the systems work together, e.g. nerve impulses trigger adrenaline release; the pituitary is controlled by the brain.
 • Judgement: fast, short, precise responses suit nerves; slow, long-term, widespread changes suit hormones.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D3E"/>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0E7C7B"/>
          </a:solidFill>
          <a:ln w="12700">
            <a:solidFill>
              <a:srgbClr val="0E7C7B"/>
            </a:solidFill>
            <a:prstDash val="solid"/>
          </a:ln>
        </p:spPr>
      </p:sp>
      <p:sp>
        <p:nvSpPr>
          <p:cNvPr id="3" name="Shape 1"/>
          <p:cNvSpPr/>
          <p:nvPr/>
        </p:nvSpPr>
        <p:spPr>
          <a:xfrm>
            <a:off x="9326880" y="2377440"/>
            <a:ext cx="4937760" cy="4937760"/>
          </a:xfrm>
          <a:prstGeom prst="ellipse">
            <a:avLst/>
          </a:prstGeom>
          <a:solidFill>
            <a:srgbClr val="14A3A1">
              <a:alpha val="85000"/>
            </a:srgbClr>
          </a:solidFill>
          <a:ln w="12700">
            <a:solidFill>
              <a:srgbClr val="14A3A1"/>
            </a:solidFill>
            <a:prstDash val="solid"/>
          </a:ln>
        </p:spPr>
      </p:sp>
      <p:sp>
        <p:nvSpPr>
          <p:cNvPr id="4" name="Shape 2"/>
          <p:cNvSpPr/>
          <p:nvPr/>
        </p:nvSpPr>
        <p:spPr>
          <a:xfrm>
            <a:off x="0" y="0"/>
            <a:ext cx="164592" cy="6858000"/>
          </a:xfrm>
          <a:prstGeom prst="rect">
            <a:avLst/>
          </a:prstGeom>
          <a:solidFill>
            <a:srgbClr val="14A3A1"/>
          </a:solidFill>
          <a:ln w="12700">
            <a:solidFill>
              <a:srgbClr val="14A3A1"/>
            </a:solidFill>
            <a:prstDash val="solid"/>
          </a:ln>
        </p:spPr>
      </p:sp>
      <p:sp>
        <p:nvSpPr>
          <p:cNvPr id="5" name="Text 3"/>
          <p:cNvSpPr/>
          <p:nvPr/>
        </p:nvSpPr>
        <p:spPr>
          <a:xfrm>
            <a:off x="731520" y="822960"/>
            <a:ext cx="8686800" cy="320040"/>
          </a:xfrm>
          <a:prstGeom prst="rect">
            <a:avLst/>
          </a:prstGeom>
          <a:noFill/>
          <a:ln/>
        </p:spPr>
        <p:txBody>
          <a:bodyPr wrap="square" lIns="0" tIns="0" rIns="0" bIns="0" rtlCol="0" anchor="ctr"/>
          <a:lstStyle/>
          <a:p>
            <a:pPr indent="0" marL="0">
              <a:buNone/>
            </a:pPr>
            <a:r>
              <a:rPr lang="en-US" sz="1300" b="1" spc="400" kern="0" dirty="0">
                <a:solidFill>
                  <a:srgbClr val="8FD3CF"/>
                </a:solidFill>
                <a:latin typeface="Calibri" pitchFamily="34" charset="0"/>
                <a:ea typeface="Calibri" pitchFamily="34" charset="-122"/>
                <a:cs typeface="Calibri" pitchFamily="34" charset="-120"/>
              </a:rPr>
              <a:t>OCR GCSE COMBINED SCIENCE B (TWENTY FIRST CENTURY)</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B5.3  Hormones</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C4E3E0"/>
                </a:solidFill>
                <a:latin typeface="Georgia" pitchFamily="34" charset="0"/>
                <a:ea typeface="Georgia" pitchFamily="34" charset="-122"/>
                <a:cs typeface="Georgia" pitchFamily="34" charset="-120"/>
              </a:rPr>
              <a:t>How do hormones control responses in the human body?</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D6ECEA"/>
                </a:solidFill>
                <a:latin typeface="Calibri" pitchFamily="34" charset="0"/>
                <a:ea typeface="Calibri" pitchFamily="34" charset="-122"/>
                <a:cs typeface="Calibri" pitchFamily="34" charset="-120"/>
              </a:rPr>
              <a:t>Hormone  •  Endocrine gland  •  Target organ  •  Adrenaline  •  Thyroxine  •  Negative feedback</a:t>
            </a:r>
            <a:endParaRPr lang="en-US" sz="1300" dirty="0"/>
          </a:p>
        </p:txBody>
      </p:sp>
      <p:sp>
        <p:nvSpPr>
          <p:cNvPr id="10" name="Shape 8"/>
          <p:cNvSpPr/>
          <p:nvPr/>
        </p:nvSpPr>
        <p:spPr>
          <a:xfrm>
            <a:off x="731520" y="3886200"/>
            <a:ext cx="457200" cy="457200"/>
          </a:xfrm>
          <a:prstGeom prst="ellipse">
            <a:avLst/>
          </a:prstGeom>
          <a:solidFill>
            <a:srgbClr val="14A3A1"/>
          </a:solidFill>
          <a:ln w="12700">
            <a:solidFill>
              <a:srgbClr val="8FD3CF"/>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B5.3.1–B5.3.2 • the endocrine system; adrenaline, thyroxine and negative feedback</a:t>
            </a:r>
            <a:endParaRPr lang="en-US" sz="1400" dirty="0"/>
          </a:p>
        </p:txBody>
      </p:sp>
      <p:sp>
        <p:nvSpPr>
          <p:cNvPr id="13" name="Shape 11"/>
          <p:cNvSpPr/>
          <p:nvPr/>
        </p:nvSpPr>
        <p:spPr>
          <a:xfrm>
            <a:off x="731520" y="4507992"/>
            <a:ext cx="457200" cy="457200"/>
          </a:xfrm>
          <a:prstGeom prst="ellipse">
            <a:avLst/>
          </a:prstGeom>
          <a:solidFill>
            <a:srgbClr val="14A3A1"/>
          </a:solidFill>
          <a:ln w="12700">
            <a:solidFill>
              <a:srgbClr val="8FD3CF"/>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B5.3.2 (adrenaline, thyroxine) marked HT</a:t>
            </a:r>
            <a:endParaRPr lang="en-US" sz="1400" dirty="0"/>
          </a:p>
        </p:txBody>
      </p:sp>
      <p:sp>
        <p:nvSpPr>
          <p:cNvPr id="16" name="Shape 14"/>
          <p:cNvSpPr/>
          <p:nvPr/>
        </p:nvSpPr>
        <p:spPr>
          <a:xfrm>
            <a:off x="731520" y="5129784"/>
            <a:ext cx="457200" cy="457200"/>
          </a:xfrm>
          <a:prstGeom prst="ellipse">
            <a:avLst/>
          </a:prstGeom>
          <a:solidFill>
            <a:srgbClr val="14A3A1"/>
          </a:solidFill>
          <a:ln w="12700">
            <a:solidFill>
              <a:srgbClr val="8FD3CF"/>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Glands • hormones • target organs • nerves vs hormones • feedback loops</a:t>
            </a:r>
            <a:endParaRPr lang="en-US" sz="1400" dirty="0"/>
          </a:p>
        </p:txBody>
      </p:sp>
      <p:sp>
        <p:nvSpPr>
          <p:cNvPr id="19" name="Shape 17"/>
          <p:cNvSpPr/>
          <p:nvPr/>
        </p:nvSpPr>
        <p:spPr>
          <a:xfrm>
            <a:off x="731520" y="5769864"/>
            <a:ext cx="5408676" cy="365760"/>
          </a:xfrm>
          <a:prstGeom prst="roundRect">
            <a:avLst>
              <a:gd name="adj" fmla="val 50000"/>
            </a:avLst>
          </a:prstGeom>
          <a:solidFill>
            <a:srgbClr val="0B2E2F"/>
          </a:solidFill>
          <a:ln w="15875">
            <a:solidFill>
              <a:srgbClr val="F5A742"/>
            </a:solidFill>
            <a:prstDash val="solid"/>
          </a:ln>
        </p:spPr>
      </p:sp>
      <p:sp>
        <p:nvSpPr>
          <p:cNvPr id="20" name="Text 18"/>
          <p:cNvSpPr/>
          <p:nvPr/>
        </p:nvSpPr>
        <p:spPr>
          <a:xfrm>
            <a:off x="731520" y="5769864"/>
            <a:ext cx="5408676" cy="365760"/>
          </a:xfrm>
          <a:prstGeom prst="rect">
            <a:avLst/>
          </a:prstGeom>
          <a:noFill/>
          <a:ln/>
        </p:spPr>
        <p:txBody>
          <a:bodyPr wrap="square" lIns="0" tIns="0" rIns="0" bIns="0" rtlCol="0" anchor="ctr"/>
          <a:lstStyle/>
          <a:p>
            <a:pPr algn="ctr" indent="0" marL="0">
              <a:buNone/>
            </a:pPr>
            <a:r>
              <a:rPr lang="en-US" sz="1200" b="1" dirty="0">
                <a:solidFill>
                  <a:srgbClr val="F5A742"/>
                </a:solidFill>
                <a:latin typeface="Calibri" pitchFamily="34" charset="0"/>
                <a:ea typeface="Calibri" pitchFamily="34" charset="-122"/>
                <a:cs typeface="Calibri" pitchFamily="34" charset="-120"/>
              </a:rPr>
              <a:t>Part 3 of 6 in Chapter B5: The human body – staying alive</a:t>
            </a:r>
            <a:endParaRPr lang="en-US" sz="1200" dirty="0"/>
          </a:p>
        </p:txBody>
      </p:sp>
      <p:sp>
        <p:nvSpPr>
          <p:cNvPr id="21" name="Text 19"/>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CFE7E5"/>
                </a:solidFill>
                <a:latin typeface="Calibri" pitchFamily="34" charset="0"/>
                <a:ea typeface="Calibri" pitchFamily="34" charset="-122"/>
                <a:cs typeface="Calibri" pitchFamily="34" charset="-120"/>
              </a:rPr>
              <a:t>OCR J260 Combined Science B • B5.3 How do hormones control responses in the human body? • teacher deck • mark schemes and answers in the speaker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B5.3.1–B5.3.2 • by the end of this sub-topic you can…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B5.3 How do hormones control responses in the human body?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0D7877"/>
          </a:solidFill>
          <a:ln w="12700">
            <a:solidFill>
              <a:srgbClr val="0D7877"/>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B5.3.1   </a:t>
            </a:r>
            <a:r>
              <a:rPr lang="en-US" sz="1200" dirty="0">
                <a:solidFill>
                  <a:srgbClr val="262B3A"/>
                </a:solidFill>
                <a:latin typeface="Calibri" pitchFamily="34" charset="0"/>
                <a:ea typeface="Calibri" pitchFamily="34" charset="-122"/>
                <a:cs typeface="Calibri" pitchFamily="34" charset="-120"/>
              </a:rPr>
              <a:t>Describe a </a:t>
            </a:r>
            <a:r>
              <a:rPr lang="en-US" sz="1200" b="1" dirty="0">
                <a:solidFill>
                  <a:srgbClr val="262B3A"/>
                </a:solidFill>
                <a:latin typeface="Calibri" pitchFamily="34" charset="0"/>
                <a:ea typeface="Calibri" pitchFamily="34" charset="-122"/>
                <a:cs typeface="Calibri" pitchFamily="34" charset="-120"/>
              </a:rPr>
              <a:t>hormone</a:t>
            </a:r>
            <a:r>
              <a:rPr lang="en-US" sz="1200" dirty="0">
                <a:solidFill>
                  <a:srgbClr val="262B3A"/>
                </a:solidFill>
                <a:latin typeface="Calibri" pitchFamily="34" charset="0"/>
                <a:ea typeface="Calibri" pitchFamily="34" charset="-122"/>
                <a:cs typeface="Calibri" pitchFamily="34" charset="-120"/>
              </a:rPr>
              <a:t> as a chemical messenger made by an </a:t>
            </a:r>
            <a:r>
              <a:rPr lang="en-US" sz="1200" b="1" dirty="0">
                <a:solidFill>
                  <a:srgbClr val="262B3A"/>
                </a:solidFill>
                <a:latin typeface="Calibri" pitchFamily="34" charset="0"/>
                <a:ea typeface="Calibri" pitchFamily="34" charset="-122"/>
                <a:cs typeface="Calibri" pitchFamily="34" charset="-120"/>
              </a:rPr>
              <a:t>endocrine gland</a:t>
            </a:r>
            <a:r>
              <a:rPr lang="en-US" sz="1200" dirty="0">
                <a:solidFill>
                  <a:srgbClr val="262B3A"/>
                </a:solidFill>
                <a:latin typeface="Calibri" pitchFamily="34" charset="0"/>
                <a:ea typeface="Calibri" pitchFamily="34" charset="-122"/>
                <a:cs typeface="Calibri" pitchFamily="34" charset="-120"/>
              </a:rPr>
              <a:t> and carried in the </a:t>
            </a:r>
            <a:r>
              <a:rPr lang="en-US" sz="1200" b="1" dirty="0">
                <a:solidFill>
                  <a:srgbClr val="262B3A"/>
                </a:solidFill>
                <a:latin typeface="Calibri" pitchFamily="34" charset="0"/>
                <a:ea typeface="Calibri" pitchFamily="34" charset="-122"/>
                <a:cs typeface="Calibri" pitchFamily="34" charset="-120"/>
              </a:rPr>
              <a:t>blood</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1" name="Shape 9"/>
          <p:cNvSpPr/>
          <p:nvPr/>
        </p:nvSpPr>
        <p:spPr>
          <a:xfrm>
            <a:off x="502920" y="2194560"/>
            <a:ext cx="457200" cy="457200"/>
          </a:xfrm>
          <a:prstGeom prst="ellipse">
            <a:avLst/>
          </a:prstGeom>
          <a:solidFill>
            <a:srgbClr val="0D7877"/>
          </a:solidFill>
          <a:ln w="12700">
            <a:solidFill>
              <a:srgbClr val="0D7877"/>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B5.3.1   </a:t>
            </a:r>
            <a:r>
              <a:rPr lang="en-US" sz="1200" dirty="0">
                <a:solidFill>
                  <a:srgbClr val="262B3A"/>
                </a:solidFill>
                <a:latin typeface="Calibri" pitchFamily="34" charset="0"/>
                <a:ea typeface="Calibri" pitchFamily="34" charset="-122"/>
                <a:cs typeface="Calibri" pitchFamily="34" charset="-120"/>
              </a:rPr>
              <a:t>Explain why a hormone only affects its </a:t>
            </a:r>
            <a:r>
              <a:rPr lang="en-US" sz="1200" b="1" dirty="0">
                <a:solidFill>
                  <a:srgbClr val="262B3A"/>
                </a:solidFill>
                <a:latin typeface="Calibri" pitchFamily="34" charset="0"/>
                <a:ea typeface="Calibri" pitchFamily="34" charset="-122"/>
                <a:cs typeface="Calibri" pitchFamily="34" charset="-120"/>
              </a:rPr>
              <a:t>target organs</a:t>
            </a:r>
            <a:r>
              <a:rPr lang="en-US" sz="1200" dirty="0">
                <a:solidFill>
                  <a:srgbClr val="262B3A"/>
                </a:solidFill>
                <a:latin typeface="Calibri" pitchFamily="34" charset="0"/>
                <a:ea typeface="Calibri" pitchFamily="34" charset="-122"/>
                <a:cs typeface="Calibri" pitchFamily="34" charset="-120"/>
              </a:rPr>
              <a:t>: their cells have matching </a:t>
            </a:r>
            <a:r>
              <a:rPr lang="en-US" sz="1200" b="1" dirty="0">
                <a:solidFill>
                  <a:srgbClr val="262B3A"/>
                </a:solidFill>
                <a:latin typeface="Calibri" pitchFamily="34" charset="0"/>
                <a:ea typeface="Calibri" pitchFamily="34" charset="-122"/>
                <a:cs typeface="Calibri" pitchFamily="34" charset="-120"/>
              </a:rPr>
              <a:t>receptors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4" name="Shape 12"/>
          <p:cNvSpPr/>
          <p:nvPr/>
        </p:nvSpPr>
        <p:spPr>
          <a:xfrm>
            <a:off x="502920" y="3063240"/>
            <a:ext cx="457200" cy="457200"/>
          </a:xfrm>
          <a:prstGeom prst="ellipse">
            <a:avLst/>
          </a:prstGeom>
          <a:solidFill>
            <a:srgbClr val="0D7877"/>
          </a:solidFill>
          <a:ln w="12700">
            <a:solidFill>
              <a:srgbClr val="0D7877"/>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B5.3.1   </a:t>
            </a:r>
            <a:r>
              <a:rPr lang="en-US" sz="1200" dirty="0">
                <a:solidFill>
                  <a:srgbClr val="262B3A"/>
                </a:solidFill>
                <a:latin typeface="Calibri" pitchFamily="34" charset="0"/>
                <a:ea typeface="Calibri" pitchFamily="34" charset="-122"/>
                <a:cs typeface="Calibri" pitchFamily="34" charset="-120"/>
              </a:rPr>
              <a:t>Locate the main </a:t>
            </a:r>
            <a:r>
              <a:rPr lang="en-US" sz="1200" b="1" dirty="0">
                <a:solidFill>
                  <a:srgbClr val="262B3A"/>
                </a:solidFill>
                <a:latin typeface="Calibri" pitchFamily="34" charset="0"/>
                <a:ea typeface="Calibri" pitchFamily="34" charset="-122"/>
                <a:cs typeface="Calibri" pitchFamily="34" charset="-120"/>
              </a:rPr>
              <a:t>endocrine glands</a:t>
            </a:r>
            <a:r>
              <a:rPr lang="en-US" sz="1200" dirty="0">
                <a:solidFill>
                  <a:srgbClr val="262B3A"/>
                </a:solidFill>
                <a:latin typeface="Calibri" pitchFamily="34" charset="0"/>
                <a:ea typeface="Calibri" pitchFamily="34" charset="-122"/>
                <a:cs typeface="Calibri" pitchFamily="34" charset="-120"/>
              </a:rPr>
              <a:t> on a body outline and name the hormones they make.</a:t>
            </a:r>
            <a:endParaRPr lang="en-US" sz="1100" dirty="0"/>
          </a:p>
        </p:txBody>
      </p:sp>
      <p:sp>
        <p:nvSpPr>
          <p:cNvPr id="17" name="Shape 15"/>
          <p:cNvSpPr/>
          <p:nvPr/>
        </p:nvSpPr>
        <p:spPr>
          <a:xfrm>
            <a:off x="502920" y="3931920"/>
            <a:ext cx="457200" cy="457200"/>
          </a:xfrm>
          <a:prstGeom prst="ellipse">
            <a:avLst/>
          </a:prstGeom>
          <a:solidFill>
            <a:srgbClr val="0D7877"/>
          </a:solidFill>
          <a:ln w="12700">
            <a:solidFill>
              <a:srgbClr val="0D7877"/>
            </a:solidFill>
            <a:prstDash val="solid"/>
          </a:ln>
        </p:spPr>
      </p:sp>
      <p:sp>
        <p:nvSpPr>
          <p:cNvPr id="18" name="Text 16"/>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B5.3.1   </a:t>
            </a:r>
            <a:r>
              <a:rPr lang="en-US" sz="1200" dirty="0">
                <a:solidFill>
                  <a:srgbClr val="262B3A"/>
                </a:solidFill>
                <a:latin typeface="Calibri" pitchFamily="34" charset="0"/>
                <a:ea typeface="Calibri" pitchFamily="34" charset="-122"/>
                <a:cs typeface="Calibri" pitchFamily="34" charset="-120"/>
              </a:rPr>
              <a:t>Describe the </a:t>
            </a:r>
            <a:r>
              <a:rPr lang="en-US" sz="1200" b="1" dirty="0">
                <a:solidFill>
                  <a:srgbClr val="262B3A"/>
                </a:solidFill>
                <a:latin typeface="Calibri" pitchFamily="34" charset="0"/>
                <a:ea typeface="Calibri" pitchFamily="34" charset="-122"/>
                <a:cs typeface="Calibri" pitchFamily="34" charset="-120"/>
              </a:rPr>
              <a:t>pituitary</a:t>
            </a:r>
            <a:r>
              <a:rPr lang="en-US" sz="1200" dirty="0">
                <a:solidFill>
                  <a:srgbClr val="262B3A"/>
                </a:solidFill>
                <a:latin typeface="Calibri" pitchFamily="34" charset="0"/>
                <a:ea typeface="Calibri" pitchFamily="34" charset="-122"/>
                <a:cs typeface="Calibri" pitchFamily="34" charset="-120"/>
              </a:rPr>
              <a:t> as the "master gland" that controls other glands.</a:t>
            </a:r>
            <a:endParaRPr lang="en-US" sz="1100" dirty="0"/>
          </a:p>
        </p:txBody>
      </p:sp>
      <p:sp>
        <p:nvSpPr>
          <p:cNvPr id="20" name="Shape 18"/>
          <p:cNvSpPr/>
          <p:nvPr/>
        </p:nvSpPr>
        <p:spPr>
          <a:xfrm>
            <a:off x="6263640" y="1325880"/>
            <a:ext cx="457200" cy="457200"/>
          </a:xfrm>
          <a:prstGeom prst="ellipse">
            <a:avLst/>
          </a:prstGeom>
          <a:solidFill>
            <a:srgbClr val="0D7877"/>
          </a:solidFill>
          <a:ln w="12700">
            <a:solidFill>
              <a:srgbClr val="0D7877"/>
            </a:solidFill>
            <a:prstDash val="solid"/>
          </a:ln>
        </p:spPr>
      </p:sp>
      <p:sp>
        <p:nvSpPr>
          <p:cNvPr id="21" name="Text 19"/>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2" name="Text 20"/>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B5.3.1   </a:t>
            </a:r>
            <a:r>
              <a:rPr lang="en-US" sz="1200" b="1" dirty="0">
                <a:solidFill>
                  <a:srgbClr val="262B3A"/>
                </a:solidFill>
                <a:latin typeface="Calibri" pitchFamily="34" charset="0"/>
                <a:ea typeface="Calibri" pitchFamily="34" charset="-122"/>
                <a:cs typeface="Calibri" pitchFamily="34" charset="-120"/>
              </a:rPr>
              <a:t>Compare</a:t>
            </a:r>
            <a:r>
              <a:rPr lang="en-US" sz="1200" dirty="0">
                <a:solidFill>
                  <a:srgbClr val="262B3A"/>
                </a:solidFill>
                <a:latin typeface="Calibri" pitchFamily="34" charset="0"/>
                <a:ea typeface="Calibri" pitchFamily="34" charset="-122"/>
                <a:cs typeface="Calibri" pitchFamily="34" charset="-120"/>
              </a:rPr>
              <a:t> hormonal and nervous control: speed, duration, how signals travel and where they act.</a:t>
            </a:r>
            <a:endParaRPr lang="en-US" sz="1100" dirty="0"/>
          </a:p>
        </p:txBody>
      </p:sp>
      <p:sp>
        <p:nvSpPr>
          <p:cNvPr id="23" name="Shape 21"/>
          <p:cNvSpPr/>
          <p:nvPr/>
        </p:nvSpPr>
        <p:spPr>
          <a:xfrm>
            <a:off x="6263640" y="2194560"/>
            <a:ext cx="457200" cy="457200"/>
          </a:xfrm>
          <a:prstGeom prst="ellipse">
            <a:avLst/>
          </a:prstGeom>
          <a:solidFill>
            <a:srgbClr val="0D7877"/>
          </a:solidFill>
          <a:ln w="12700">
            <a:solidFill>
              <a:srgbClr val="0D7877"/>
            </a:solidFill>
            <a:prstDash val="solid"/>
          </a:ln>
        </p:spPr>
      </p:sp>
      <p:sp>
        <p:nvSpPr>
          <p:cNvPr id="24" name="Text 22"/>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5" name="Text 23"/>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B5.3.2   </a:t>
            </a:r>
            <a:r>
              <a:rPr lang="en-US" sz="1200" dirty="0">
                <a:solidFill>
                  <a:srgbClr val="262B3A"/>
                </a:solidFill>
                <a:latin typeface="Calibri" pitchFamily="34" charset="0"/>
                <a:ea typeface="Calibri" pitchFamily="34" charset="-122"/>
                <a:cs typeface="Calibri" pitchFamily="34" charset="-120"/>
              </a:rPr>
              <a:t>Explain the role of </a:t>
            </a:r>
            <a:r>
              <a:rPr lang="en-US" sz="1200" b="1" dirty="0">
                <a:solidFill>
                  <a:srgbClr val="262B3A"/>
                </a:solidFill>
                <a:latin typeface="Calibri" pitchFamily="34" charset="0"/>
                <a:ea typeface="Calibri" pitchFamily="34" charset="-122"/>
                <a:cs typeface="Calibri" pitchFamily="34" charset="-120"/>
              </a:rPr>
              <a:t>adrenaline</a:t>
            </a:r>
            <a:r>
              <a:rPr lang="en-US" sz="1200" dirty="0">
                <a:solidFill>
                  <a:srgbClr val="262B3A"/>
                </a:solidFill>
                <a:latin typeface="Calibri" pitchFamily="34" charset="0"/>
                <a:ea typeface="Calibri" pitchFamily="34" charset="-122"/>
                <a:cs typeface="Calibri" pitchFamily="34" charset="-120"/>
              </a:rPr>
              <a:t> in preparing the body for "fight or flight".</a:t>
            </a:r>
            <a:endParaRPr lang="en-US" sz="1100" dirty="0"/>
          </a:p>
        </p:txBody>
      </p:sp>
      <p:sp>
        <p:nvSpPr>
          <p:cNvPr id="26" name="Shape 24"/>
          <p:cNvSpPr/>
          <p:nvPr/>
        </p:nvSpPr>
        <p:spPr>
          <a:xfrm>
            <a:off x="11018520" y="2633472"/>
            <a:ext cx="411480" cy="274320"/>
          </a:xfrm>
          <a:prstGeom prst="roundRect">
            <a:avLst>
              <a:gd name="adj" fmla="val 50000"/>
            </a:avLst>
          </a:prstGeom>
          <a:solidFill>
            <a:srgbClr val="C8414C"/>
          </a:solidFill>
          <a:ln w="12700">
            <a:solidFill>
              <a:srgbClr val="C8414C"/>
            </a:solidFill>
            <a:prstDash val="solid"/>
          </a:ln>
        </p:spPr>
      </p:sp>
      <p:sp>
        <p:nvSpPr>
          <p:cNvPr id="27" name="Text 25"/>
          <p:cNvSpPr/>
          <p:nvPr/>
        </p:nvSpPr>
        <p:spPr>
          <a:xfrm>
            <a:off x="11018520" y="263347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8" name="Shape 26"/>
          <p:cNvSpPr/>
          <p:nvPr/>
        </p:nvSpPr>
        <p:spPr>
          <a:xfrm>
            <a:off x="6263640" y="3063240"/>
            <a:ext cx="457200" cy="457200"/>
          </a:xfrm>
          <a:prstGeom prst="ellipse">
            <a:avLst/>
          </a:prstGeom>
          <a:solidFill>
            <a:srgbClr val="0D7877"/>
          </a:solidFill>
          <a:ln w="12700">
            <a:solidFill>
              <a:srgbClr val="0D7877"/>
            </a:solidFill>
            <a:prstDash val="solid"/>
          </a:ln>
        </p:spPr>
      </p:sp>
      <p:sp>
        <p:nvSpPr>
          <p:cNvPr id="29" name="Text 27"/>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30" name="Text 28"/>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B5.3.2   </a:t>
            </a:r>
            <a:r>
              <a:rPr lang="en-US" sz="1200" dirty="0">
                <a:solidFill>
                  <a:srgbClr val="262B3A"/>
                </a:solidFill>
                <a:latin typeface="Calibri" pitchFamily="34" charset="0"/>
                <a:ea typeface="Calibri" pitchFamily="34" charset="-122"/>
                <a:cs typeface="Calibri" pitchFamily="34" charset="-120"/>
              </a:rPr>
              <a:t>Explain what </a:t>
            </a:r>
            <a:r>
              <a:rPr lang="en-US" sz="1200" b="1" dirty="0">
                <a:solidFill>
                  <a:srgbClr val="262B3A"/>
                </a:solidFill>
                <a:latin typeface="Calibri" pitchFamily="34" charset="0"/>
                <a:ea typeface="Calibri" pitchFamily="34" charset="-122"/>
                <a:cs typeface="Calibri" pitchFamily="34" charset="-120"/>
              </a:rPr>
              <a:t>negative feedback</a:t>
            </a:r>
            <a:r>
              <a:rPr lang="en-US" sz="1200" dirty="0">
                <a:solidFill>
                  <a:srgbClr val="262B3A"/>
                </a:solidFill>
                <a:latin typeface="Calibri" pitchFamily="34" charset="0"/>
                <a:ea typeface="Calibri" pitchFamily="34" charset="-122"/>
                <a:cs typeface="Calibri" pitchFamily="34" charset="-120"/>
              </a:rPr>
              <a:t> is and why it keeps conditions steady.</a:t>
            </a:r>
            <a:endParaRPr lang="en-US" sz="1100" dirty="0"/>
          </a:p>
        </p:txBody>
      </p:sp>
      <p:sp>
        <p:nvSpPr>
          <p:cNvPr id="31" name="Shape 29"/>
          <p:cNvSpPr/>
          <p:nvPr/>
        </p:nvSpPr>
        <p:spPr>
          <a:xfrm>
            <a:off x="11018520" y="3502152"/>
            <a:ext cx="411480" cy="274320"/>
          </a:xfrm>
          <a:prstGeom prst="roundRect">
            <a:avLst>
              <a:gd name="adj" fmla="val 50000"/>
            </a:avLst>
          </a:prstGeom>
          <a:solidFill>
            <a:srgbClr val="C8414C"/>
          </a:solidFill>
          <a:ln w="12700">
            <a:solidFill>
              <a:srgbClr val="C8414C"/>
            </a:solidFill>
            <a:prstDash val="solid"/>
          </a:ln>
        </p:spPr>
      </p:sp>
      <p:sp>
        <p:nvSpPr>
          <p:cNvPr id="32" name="Text 30"/>
          <p:cNvSpPr/>
          <p:nvPr/>
        </p:nvSpPr>
        <p:spPr>
          <a:xfrm>
            <a:off x="11018520" y="350215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3" name="Shape 31"/>
          <p:cNvSpPr/>
          <p:nvPr/>
        </p:nvSpPr>
        <p:spPr>
          <a:xfrm>
            <a:off x="6263640" y="3931920"/>
            <a:ext cx="457200" cy="457200"/>
          </a:xfrm>
          <a:prstGeom prst="ellipse">
            <a:avLst/>
          </a:prstGeom>
          <a:solidFill>
            <a:srgbClr val="0D7877"/>
          </a:solidFill>
          <a:ln w="12700">
            <a:solidFill>
              <a:srgbClr val="0D7877"/>
            </a:solidFill>
            <a:prstDash val="solid"/>
          </a:ln>
        </p:spPr>
      </p:sp>
      <p:sp>
        <p:nvSpPr>
          <p:cNvPr id="34" name="Text 32"/>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5" name="Text 33"/>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B5.3.2   </a:t>
            </a:r>
            <a:r>
              <a:rPr lang="en-US" sz="1200" dirty="0">
                <a:solidFill>
                  <a:srgbClr val="262B3A"/>
                </a:solidFill>
                <a:latin typeface="Calibri" pitchFamily="34" charset="0"/>
                <a:ea typeface="Calibri" pitchFamily="34" charset="-122"/>
                <a:cs typeface="Calibri" pitchFamily="34" charset="-120"/>
              </a:rPr>
              <a:t>Explain how </a:t>
            </a:r>
            <a:r>
              <a:rPr lang="en-US" sz="1200" b="1" dirty="0">
                <a:solidFill>
                  <a:srgbClr val="262B3A"/>
                </a:solidFill>
                <a:latin typeface="Calibri" pitchFamily="34" charset="0"/>
                <a:ea typeface="Calibri" pitchFamily="34" charset="-122"/>
                <a:cs typeface="Calibri" pitchFamily="34" charset="-120"/>
              </a:rPr>
              <a:t>thyroxine</a:t>
            </a:r>
            <a:r>
              <a:rPr lang="en-US" sz="1200" dirty="0">
                <a:solidFill>
                  <a:srgbClr val="262B3A"/>
                </a:solidFill>
                <a:latin typeface="Calibri" pitchFamily="34" charset="0"/>
                <a:ea typeface="Calibri" pitchFamily="34" charset="-122"/>
                <a:cs typeface="Calibri" pitchFamily="34" charset="-120"/>
              </a:rPr>
              <a:t> controls metabolic rate and how its level is kept steady by negative feedback with </a:t>
            </a:r>
            <a:r>
              <a:rPr lang="en-US" sz="1200" b="1" dirty="0">
                <a:solidFill>
                  <a:srgbClr val="262B3A"/>
                </a:solidFill>
                <a:latin typeface="Calibri" pitchFamily="34" charset="0"/>
                <a:ea typeface="Calibri" pitchFamily="34" charset="-122"/>
                <a:cs typeface="Calibri" pitchFamily="34" charset="-120"/>
              </a:rPr>
              <a:t>TSH</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36" name="Shape 34"/>
          <p:cNvSpPr/>
          <p:nvPr/>
        </p:nvSpPr>
        <p:spPr>
          <a:xfrm>
            <a:off x="11018520" y="4370832"/>
            <a:ext cx="411480" cy="274320"/>
          </a:xfrm>
          <a:prstGeom prst="roundRect">
            <a:avLst>
              <a:gd name="adj" fmla="val 50000"/>
            </a:avLst>
          </a:prstGeom>
          <a:solidFill>
            <a:srgbClr val="C8414C"/>
          </a:solidFill>
          <a:ln w="12700">
            <a:solidFill>
              <a:srgbClr val="C8414C"/>
            </a:solidFill>
            <a:prstDash val="solid"/>
          </a:ln>
        </p:spPr>
      </p:sp>
      <p:sp>
        <p:nvSpPr>
          <p:cNvPr id="37" name="Text 35"/>
          <p:cNvSpPr/>
          <p:nvPr/>
        </p:nvSpPr>
        <p:spPr>
          <a:xfrm>
            <a:off x="11018520" y="437083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Chapter B5 The human body – staying alive • B5.3 is Part 3 of 6 in Combined Science B</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B5.3 How do hormones control responses in the human body?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234440"/>
            <a:ext cx="2103120" cy="685800"/>
          </a:xfrm>
          <a:prstGeom prst="roundRect">
            <a:avLst>
              <a:gd name="adj" fmla="val 8000"/>
            </a:avLst>
          </a:prstGeom>
          <a:solidFill>
            <a:srgbClr val="133536"/>
          </a:solidFill>
          <a:ln/>
        </p:spPr>
      </p:sp>
      <p:sp>
        <p:nvSpPr>
          <p:cNvPr id="9" name="Text 7"/>
          <p:cNvSpPr/>
          <p:nvPr/>
        </p:nvSpPr>
        <p:spPr>
          <a:xfrm>
            <a:off x="411480" y="1234440"/>
            <a:ext cx="210312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B5.3</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How do hormones control responses?</a:t>
            </a:r>
            <a:endParaRPr lang="en-US" sz="1100" dirty="0"/>
          </a:p>
        </p:txBody>
      </p:sp>
      <p:sp>
        <p:nvSpPr>
          <p:cNvPr id="10" name="Shape 8"/>
          <p:cNvSpPr/>
          <p:nvPr/>
        </p:nvSpPr>
        <p:spPr>
          <a:xfrm>
            <a:off x="914400" y="1920240"/>
            <a:ext cx="91" cy="3758184"/>
          </a:xfrm>
          <a:prstGeom prst="line">
            <a:avLst/>
          </a:prstGeom>
          <a:noFill/>
          <a:ln w="19050">
            <a:solidFill>
              <a:srgbClr val="0D7877"/>
            </a:solidFill>
            <a:prstDash val="solid"/>
          </a:ln>
        </p:spPr>
      </p:sp>
      <p:sp>
        <p:nvSpPr>
          <p:cNvPr id="11" name="Shape 9"/>
          <p:cNvSpPr/>
          <p:nvPr/>
        </p:nvSpPr>
        <p:spPr>
          <a:xfrm>
            <a:off x="914400" y="2386584"/>
            <a:ext cx="411480" cy="91"/>
          </a:xfrm>
          <a:prstGeom prst="line">
            <a:avLst/>
          </a:prstGeom>
          <a:noFill/>
          <a:ln w="19050">
            <a:solidFill>
              <a:srgbClr val="0D7877"/>
            </a:solidFill>
            <a:prstDash val="solid"/>
          </a:ln>
        </p:spPr>
      </p:sp>
      <p:sp>
        <p:nvSpPr>
          <p:cNvPr id="12" name="Shape 10"/>
          <p:cNvSpPr/>
          <p:nvPr/>
        </p:nvSpPr>
        <p:spPr>
          <a:xfrm>
            <a:off x="1325880" y="2103120"/>
            <a:ext cx="5120640" cy="566928"/>
          </a:xfrm>
          <a:prstGeom prst="roundRect">
            <a:avLst>
              <a:gd name="adj" fmla="val 8065"/>
            </a:avLst>
          </a:prstGeom>
          <a:solidFill>
            <a:srgbClr val="F4FAF9"/>
          </a:solidFill>
          <a:ln w="12700">
            <a:solidFill>
              <a:srgbClr val="CFE0DE"/>
            </a:solidFill>
            <a:prstDash val="solid"/>
          </a:ln>
        </p:spPr>
      </p:sp>
      <p:sp>
        <p:nvSpPr>
          <p:cNvPr id="13" name="Text 11"/>
          <p:cNvSpPr/>
          <p:nvPr/>
        </p:nvSpPr>
        <p:spPr>
          <a:xfrm>
            <a:off x="1463040" y="2103120"/>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B5.3.1   </a:t>
            </a:r>
            <a:r>
              <a:rPr lang="en-US" sz="1100" dirty="0">
                <a:solidFill>
                  <a:srgbClr val="262B3A"/>
                </a:solidFill>
                <a:latin typeface="Calibri" pitchFamily="34" charset="0"/>
                <a:ea typeface="Calibri" pitchFamily="34" charset="-122"/>
                <a:cs typeface="Calibri" pitchFamily="34" charset="-120"/>
              </a:rPr>
              <a:t>Hormones, endocrine glands and target organs</a:t>
            </a:r>
            <a:endParaRPr lang="en-US" sz="1100" dirty="0"/>
          </a:p>
        </p:txBody>
      </p:sp>
      <p:sp>
        <p:nvSpPr>
          <p:cNvPr id="14" name="Shape 12"/>
          <p:cNvSpPr/>
          <p:nvPr/>
        </p:nvSpPr>
        <p:spPr>
          <a:xfrm>
            <a:off x="5257800" y="2249424"/>
            <a:ext cx="1097280" cy="274320"/>
          </a:xfrm>
          <a:prstGeom prst="roundRect">
            <a:avLst>
              <a:gd name="adj" fmla="val 50000"/>
            </a:avLst>
          </a:prstGeom>
          <a:solidFill>
            <a:srgbClr val="0D7877"/>
          </a:solidFill>
          <a:ln w="12700">
            <a:solidFill>
              <a:srgbClr val="0D7877"/>
            </a:solidFill>
            <a:prstDash val="solid"/>
          </a:ln>
        </p:spPr>
      </p:sp>
      <p:sp>
        <p:nvSpPr>
          <p:cNvPr id="15" name="Text 13"/>
          <p:cNvSpPr/>
          <p:nvPr/>
        </p:nvSpPr>
        <p:spPr>
          <a:xfrm>
            <a:off x="5257800" y="2249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3044952"/>
            <a:ext cx="411480" cy="91"/>
          </a:xfrm>
          <a:prstGeom prst="line">
            <a:avLst/>
          </a:prstGeom>
          <a:noFill/>
          <a:ln w="19050">
            <a:solidFill>
              <a:srgbClr val="0D7877"/>
            </a:solidFill>
            <a:prstDash val="solid"/>
          </a:ln>
        </p:spPr>
      </p:sp>
      <p:sp>
        <p:nvSpPr>
          <p:cNvPr id="17" name="Shape 15"/>
          <p:cNvSpPr/>
          <p:nvPr/>
        </p:nvSpPr>
        <p:spPr>
          <a:xfrm>
            <a:off x="1325880" y="2761488"/>
            <a:ext cx="5120640" cy="566928"/>
          </a:xfrm>
          <a:prstGeom prst="roundRect">
            <a:avLst>
              <a:gd name="adj" fmla="val 8065"/>
            </a:avLst>
          </a:prstGeom>
          <a:solidFill>
            <a:srgbClr val="F4FAF9"/>
          </a:solidFill>
          <a:ln w="12700">
            <a:solidFill>
              <a:srgbClr val="CFE0DE"/>
            </a:solidFill>
            <a:prstDash val="solid"/>
          </a:ln>
        </p:spPr>
      </p:sp>
      <p:sp>
        <p:nvSpPr>
          <p:cNvPr id="18" name="Text 16"/>
          <p:cNvSpPr/>
          <p:nvPr/>
        </p:nvSpPr>
        <p:spPr>
          <a:xfrm>
            <a:off x="1463040" y="2761488"/>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B5.3.1   </a:t>
            </a:r>
            <a:r>
              <a:rPr lang="en-US" sz="1100" dirty="0">
                <a:solidFill>
                  <a:srgbClr val="262B3A"/>
                </a:solidFill>
                <a:latin typeface="Calibri" pitchFamily="34" charset="0"/>
                <a:ea typeface="Calibri" pitchFamily="34" charset="-122"/>
                <a:cs typeface="Calibri" pitchFamily="34" charset="-120"/>
              </a:rPr>
              <a:t>Map of the endocrine system on the body</a:t>
            </a:r>
            <a:endParaRPr lang="en-US" sz="1100" dirty="0"/>
          </a:p>
        </p:txBody>
      </p:sp>
      <p:sp>
        <p:nvSpPr>
          <p:cNvPr id="19" name="Shape 17"/>
          <p:cNvSpPr/>
          <p:nvPr/>
        </p:nvSpPr>
        <p:spPr>
          <a:xfrm>
            <a:off x="5257800" y="2907792"/>
            <a:ext cx="1097280" cy="274320"/>
          </a:xfrm>
          <a:prstGeom prst="roundRect">
            <a:avLst>
              <a:gd name="adj" fmla="val 50000"/>
            </a:avLst>
          </a:prstGeom>
          <a:solidFill>
            <a:srgbClr val="0D7877"/>
          </a:solidFill>
          <a:ln w="12700">
            <a:solidFill>
              <a:srgbClr val="0D7877"/>
            </a:solidFill>
            <a:prstDash val="solid"/>
          </a:ln>
        </p:spPr>
      </p:sp>
      <p:sp>
        <p:nvSpPr>
          <p:cNvPr id="20" name="Text 18"/>
          <p:cNvSpPr/>
          <p:nvPr/>
        </p:nvSpPr>
        <p:spPr>
          <a:xfrm>
            <a:off x="5257800" y="2907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1" name="Shape 19"/>
          <p:cNvSpPr/>
          <p:nvPr/>
        </p:nvSpPr>
        <p:spPr>
          <a:xfrm>
            <a:off x="914400" y="3703320"/>
            <a:ext cx="411480" cy="91"/>
          </a:xfrm>
          <a:prstGeom prst="line">
            <a:avLst/>
          </a:prstGeom>
          <a:noFill/>
          <a:ln w="19050">
            <a:solidFill>
              <a:srgbClr val="0D7877"/>
            </a:solidFill>
            <a:prstDash val="solid"/>
          </a:ln>
        </p:spPr>
      </p:sp>
      <p:sp>
        <p:nvSpPr>
          <p:cNvPr id="22" name="Shape 20"/>
          <p:cNvSpPr/>
          <p:nvPr/>
        </p:nvSpPr>
        <p:spPr>
          <a:xfrm>
            <a:off x="1325880" y="3419856"/>
            <a:ext cx="5120640" cy="566928"/>
          </a:xfrm>
          <a:prstGeom prst="roundRect">
            <a:avLst>
              <a:gd name="adj" fmla="val 8065"/>
            </a:avLst>
          </a:prstGeom>
          <a:solidFill>
            <a:srgbClr val="F4FAF9"/>
          </a:solidFill>
          <a:ln w="12700">
            <a:solidFill>
              <a:srgbClr val="CFE0DE"/>
            </a:solidFill>
            <a:prstDash val="solid"/>
          </a:ln>
        </p:spPr>
      </p:sp>
      <p:sp>
        <p:nvSpPr>
          <p:cNvPr id="23" name="Text 21"/>
          <p:cNvSpPr/>
          <p:nvPr/>
        </p:nvSpPr>
        <p:spPr>
          <a:xfrm>
            <a:off x="1463040" y="3419856"/>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B5.3.1   </a:t>
            </a:r>
            <a:r>
              <a:rPr lang="en-US" sz="1100" dirty="0">
                <a:solidFill>
                  <a:srgbClr val="262B3A"/>
                </a:solidFill>
                <a:latin typeface="Calibri" pitchFamily="34" charset="0"/>
                <a:ea typeface="Calibri" pitchFamily="34" charset="-122"/>
                <a:cs typeface="Calibri" pitchFamily="34" charset="-120"/>
              </a:rPr>
              <a:t>The pituitary gland; nerves and hormones compared</a:t>
            </a:r>
            <a:endParaRPr lang="en-US" sz="1100" dirty="0"/>
          </a:p>
        </p:txBody>
      </p:sp>
      <p:sp>
        <p:nvSpPr>
          <p:cNvPr id="24" name="Shape 22"/>
          <p:cNvSpPr/>
          <p:nvPr/>
        </p:nvSpPr>
        <p:spPr>
          <a:xfrm>
            <a:off x="5257800" y="3566160"/>
            <a:ext cx="1097280" cy="274320"/>
          </a:xfrm>
          <a:prstGeom prst="roundRect">
            <a:avLst>
              <a:gd name="adj" fmla="val 50000"/>
            </a:avLst>
          </a:prstGeom>
          <a:solidFill>
            <a:srgbClr val="0D7877"/>
          </a:solidFill>
          <a:ln w="12700">
            <a:solidFill>
              <a:srgbClr val="0D7877"/>
            </a:solidFill>
            <a:prstDash val="solid"/>
          </a:ln>
        </p:spPr>
      </p:sp>
      <p:sp>
        <p:nvSpPr>
          <p:cNvPr id="25" name="Text 23"/>
          <p:cNvSpPr/>
          <p:nvPr/>
        </p:nvSpPr>
        <p:spPr>
          <a:xfrm>
            <a:off x="5257800" y="35661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6" name="Shape 24"/>
          <p:cNvSpPr/>
          <p:nvPr/>
        </p:nvSpPr>
        <p:spPr>
          <a:xfrm>
            <a:off x="914400" y="4361688"/>
            <a:ext cx="411480" cy="91"/>
          </a:xfrm>
          <a:prstGeom prst="line">
            <a:avLst/>
          </a:prstGeom>
          <a:noFill/>
          <a:ln w="19050">
            <a:solidFill>
              <a:srgbClr val="0D7877"/>
            </a:solidFill>
            <a:prstDash val="solid"/>
          </a:ln>
        </p:spPr>
      </p:sp>
      <p:sp>
        <p:nvSpPr>
          <p:cNvPr id="27" name="Shape 25"/>
          <p:cNvSpPr/>
          <p:nvPr/>
        </p:nvSpPr>
        <p:spPr>
          <a:xfrm>
            <a:off x="1325880" y="4078224"/>
            <a:ext cx="5120640" cy="566928"/>
          </a:xfrm>
          <a:prstGeom prst="roundRect">
            <a:avLst>
              <a:gd name="adj" fmla="val 8065"/>
            </a:avLst>
          </a:prstGeom>
          <a:solidFill>
            <a:srgbClr val="F4FAF9"/>
          </a:solidFill>
          <a:ln w="12700">
            <a:solidFill>
              <a:srgbClr val="CFE0DE"/>
            </a:solidFill>
            <a:prstDash val="solid"/>
          </a:ln>
        </p:spPr>
      </p:sp>
      <p:sp>
        <p:nvSpPr>
          <p:cNvPr id="28" name="Text 26"/>
          <p:cNvSpPr/>
          <p:nvPr/>
        </p:nvSpPr>
        <p:spPr>
          <a:xfrm>
            <a:off x="1463040" y="4078224"/>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B5.3.2   </a:t>
            </a:r>
            <a:r>
              <a:rPr lang="en-US" sz="1100" dirty="0">
                <a:solidFill>
                  <a:srgbClr val="262B3A"/>
                </a:solidFill>
                <a:latin typeface="Calibri" pitchFamily="34" charset="0"/>
                <a:ea typeface="Calibri" pitchFamily="34" charset="-122"/>
                <a:cs typeface="Calibri" pitchFamily="34" charset="-120"/>
              </a:rPr>
              <a:t>Adrenaline: fight or flight; heart rate data</a:t>
            </a:r>
            <a:endParaRPr lang="en-US" sz="1100" dirty="0"/>
          </a:p>
        </p:txBody>
      </p:sp>
      <p:sp>
        <p:nvSpPr>
          <p:cNvPr id="29" name="Shape 27"/>
          <p:cNvSpPr/>
          <p:nvPr/>
        </p:nvSpPr>
        <p:spPr>
          <a:xfrm>
            <a:off x="5257800" y="4224528"/>
            <a:ext cx="1097280" cy="274320"/>
          </a:xfrm>
          <a:prstGeom prst="roundRect">
            <a:avLst>
              <a:gd name="adj" fmla="val 50000"/>
            </a:avLst>
          </a:prstGeom>
          <a:solidFill>
            <a:srgbClr val="C8414C"/>
          </a:solidFill>
          <a:ln w="12700">
            <a:solidFill>
              <a:srgbClr val="C8414C"/>
            </a:solidFill>
            <a:prstDash val="solid"/>
          </a:ln>
        </p:spPr>
      </p:sp>
      <p:sp>
        <p:nvSpPr>
          <p:cNvPr id="30" name="Text 28"/>
          <p:cNvSpPr/>
          <p:nvPr/>
        </p:nvSpPr>
        <p:spPr>
          <a:xfrm>
            <a:off x="5257800" y="42245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1" name="Shape 29"/>
          <p:cNvSpPr/>
          <p:nvPr/>
        </p:nvSpPr>
        <p:spPr>
          <a:xfrm>
            <a:off x="914400" y="5020056"/>
            <a:ext cx="411480" cy="91"/>
          </a:xfrm>
          <a:prstGeom prst="line">
            <a:avLst/>
          </a:prstGeom>
          <a:noFill/>
          <a:ln w="19050">
            <a:solidFill>
              <a:srgbClr val="0D7877"/>
            </a:solidFill>
            <a:prstDash val="solid"/>
          </a:ln>
        </p:spPr>
      </p:sp>
      <p:sp>
        <p:nvSpPr>
          <p:cNvPr id="32" name="Shape 30"/>
          <p:cNvSpPr/>
          <p:nvPr/>
        </p:nvSpPr>
        <p:spPr>
          <a:xfrm>
            <a:off x="1325880" y="4736592"/>
            <a:ext cx="5120640" cy="566928"/>
          </a:xfrm>
          <a:prstGeom prst="roundRect">
            <a:avLst>
              <a:gd name="adj" fmla="val 8065"/>
            </a:avLst>
          </a:prstGeom>
          <a:solidFill>
            <a:srgbClr val="F4FAF9"/>
          </a:solidFill>
          <a:ln w="12700">
            <a:solidFill>
              <a:srgbClr val="CFE0DE"/>
            </a:solidFill>
            <a:prstDash val="solid"/>
          </a:ln>
        </p:spPr>
      </p:sp>
      <p:sp>
        <p:nvSpPr>
          <p:cNvPr id="33" name="Text 31"/>
          <p:cNvSpPr/>
          <p:nvPr/>
        </p:nvSpPr>
        <p:spPr>
          <a:xfrm>
            <a:off x="1463040" y="4736592"/>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B5.3.2   </a:t>
            </a:r>
            <a:r>
              <a:rPr lang="en-US" sz="1100" dirty="0">
                <a:solidFill>
                  <a:srgbClr val="262B3A"/>
                </a:solidFill>
                <a:latin typeface="Calibri" pitchFamily="34" charset="0"/>
                <a:ea typeface="Calibri" pitchFamily="34" charset="-122"/>
                <a:cs typeface="Calibri" pitchFamily="34" charset="-120"/>
              </a:rPr>
              <a:t>Negative feedback</a:t>
            </a:r>
            <a:endParaRPr lang="en-US" sz="1100" dirty="0"/>
          </a:p>
        </p:txBody>
      </p:sp>
      <p:sp>
        <p:nvSpPr>
          <p:cNvPr id="34" name="Shape 32"/>
          <p:cNvSpPr/>
          <p:nvPr/>
        </p:nvSpPr>
        <p:spPr>
          <a:xfrm>
            <a:off x="5257800" y="4882896"/>
            <a:ext cx="1097280" cy="274320"/>
          </a:xfrm>
          <a:prstGeom prst="roundRect">
            <a:avLst>
              <a:gd name="adj" fmla="val 50000"/>
            </a:avLst>
          </a:prstGeom>
          <a:solidFill>
            <a:srgbClr val="C8414C"/>
          </a:solidFill>
          <a:ln w="12700">
            <a:solidFill>
              <a:srgbClr val="C8414C"/>
            </a:solidFill>
            <a:prstDash val="solid"/>
          </a:ln>
        </p:spPr>
      </p:sp>
      <p:sp>
        <p:nvSpPr>
          <p:cNvPr id="35" name="Text 33"/>
          <p:cNvSpPr/>
          <p:nvPr/>
        </p:nvSpPr>
        <p:spPr>
          <a:xfrm>
            <a:off x="5257800" y="488289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6" name="Shape 34"/>
          <p:cNvSpPr/>
          <p:nvPr/>
        </p:nvSpPr>
        <p:spPr>
          <a:xfrm>
            <a:off x="914400" y="5678424"/>
            <a:ext cx="411480" cy="91"/>
          </a:xfrm>
          <a:prstGeom prst="line">
            <a:avLst/>
          </a:prstGeom>
          <a:noFill/>
          <a:ln w="19050">
            <a:solidFill>
              <a:srgbClr val="0D7877"/>
            </a:solidFill>
            <a:prstDash val="solid"/>
          </a:ln>
        </p:spPr>
      </p:sp>
      <p:sp>
        <p:nvSpPr>
          <p:cNvPr id="37" name="Shape 35"/>
          <p:cNvSpPr/>
          <p:nvPr/>
        </p:nvSpPr>
        <p:spPr>
          <a:xfrm>
            <a:off x="1325880" y="5394960"/>
            <a:ext cx="5120640" cy="566928"/>
          </a:xfrm>
          <a:prstGeom prst="roundRect">
            <a:avLst>
              <a:gd name="adj" fmla="val 8065"/>
            </a:avLst>
          </a:prstGeom>
          <a:solidFill>
            <a:srgbClr val="F4FAF9"/>
          </a:solidFill>
          <a:ln w="12700">
            <a:solidFill>
              <a:srgbClr val="CFE0DE"/>
            </a:solidFill>
            <a:prstDash val="solid"/>
          </a:ln>
        </p:spPr>
      </p:sp>
      <p:sp>
        <p:nvSpPr>
          <p:cNvPr id="38" name="Text 36"/>
          <p:cNvSpPr/>
          <p:nvPr/>
        </p:nvSpPr>
        <p:spPr>
          <a:xfrm>
            <a:off x="1463040" y="5394960"/>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B5.3.2   </a:t>
            </a:r>
            <a:r>
              <a:rPr lang="en-US" sz="1100" dirty="0">
                <a:solidFill>
                  <a:srgbClr val="262B3A"/>
                </a:solidFill>
                <a:latin typeface="Calibri" pitchFamily="34" charset="0"/>
                <a:ea typeface="Calibri" pitchFamily="34" charset="-122"/>
                <a:cs typeface="Calibri" pitchFamily="34" charset="-120"/>
              </a:rPr>
              <a:t>Thyroxine, TSH and metabolic rate</a:t>
            </a:r>
            <a:endParaRPr lang="en-US" sz="1100" dirty="0"/>
          </a:p>
        </p:txBody>
      </p:sp>
      <p:sp>
        <p:nvSpPr>
          <p:cNvPr id="39" name="Shape 37"/>
          <p:cNvSpPr/>
          <p:nvPr/>
        </p:nvSpPr>
        <p:spPr>
          <a:xfrm>
            <a:off x="5257800" y="5541264"/>
            <a:ext cx="1097280" cy="274320"/>
          </a:xfrm>
          <a:prstGeom prst="roundRect">
            <a:avLst>
              <a:gd name="adj" fmla="val 50000"/>
            </a:avLst>
          </a:prstGeom>
          <a:solidFill>
            <a:srgbClr val="C8414C"/>
          </a:solidFill>
          <a:ln w="12700">
            <a:solidFill>
              <a:srgbClr val="C8414C"/>
            </a:solidFill>
            <a:prstDash val="solid"/>
          </a:ln>
        </p:spPr>
      </p:sp>
      <p:sp>
        <p:nvSpPr>
          <p:cNvPr id="40" name="Text 38"/>
          <p:cNvSpPr/>
          <p:nvPr/>
        </p:nvSpPr>
        <p:spPr>
          <a:xfrm>
            <a:off x="5257800" y="5541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41" name="Text 39"/>
          <p:cNvSpPr/>
          <p:nvPr/>
        </p:nvSpPr>
        <p:spPr>
          <a:xfrm>
            <a:off x="411480" y="6053328"/>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B5.1 blood and circulation • B5.2 nervous system, receptors and effectors • B4.1 respiration</a:t>
            </a:r>
            <a:endParaRPr lang="en-US" sz="1050" dirty="0"/>
          </a:p>
        </p:txBody>
      </p:sp>
      <p:sp>
        <p:nvSpPr>
          <p:cNvPr id="42" name="Shape 40"/>
          <p:cNvSpPr/>
          <p:nvPr/>
        </p:nvSpPr>
        <p:spPr>
          <a:xfrm>
            <a:off x="6720840" y="1234440"/>
            <a:ext cx="5056632" cy="2971800"/>
          </a:xfrm>
          <a:prstGeom prst="roundRect">
            <a:avLst>
              <a:gd name="adj" fmla="val 1846"/>
            </a:avLst>
          </a:prstGeom>
          <a:solidFill>
            <a:srgbClr val="0F3D3E"/>
          </a:solidFill>
          <a:ln/>
        </p:spPr>
      </p:sp>
      <p:sp>
        <p:nvSpPr>
          <p:cNvPr id="43" name="Text 41"/>
          <p:cNvSpPr/>
          <p:nvPr/>
        </p:nvSpPr>
        <p:spPr>
          <a:xfrm>
            <a:off x="6903720" y="1325880"/>
            <a:ext cx="4709160" cy="27889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Chapter B5 in J260</a:t>
            </a:r>
            <a:endParaRPr lang="en-US" sz="1500" dirty="0"/>
          </a:p>
          <a:p>
            <a:pPr marL="152400" indent="-152400">
              <a:spcAft>
                <a:spcPts val="200"/>
              </a:spcAft>
              <a:buSzPct val="100000"/>
              <a:buChar char="▪"/>
            </a:pPr>
            <a:r>
              <a:rPr lang="en-US" sz="1100" dirty="0">
                <a:solidFill>
                  <a:srgbClr val="E3F2F0"/>
                </a:solidFill>
                <a:latin typeface="Calibri" pitchFamily="34" charset="0"/>
                <a:ea typeface="Calibri" pitchFamily="34" charset="-122"/>
                <a:cs typeface="Calibri" pitchFamily="34" charset="-120"/>
              </a:rPr>
              <a:t>B5.1 How do substances get into, out of and around our bodies?</a:t>
            </a:r>
            <a:endParaRPr lang="en-US" sz="1500" dirty="0"/>
          </a:p>
          <a:p>
            <a:pPr marL="152400" indent="-152400">
              <a:spcAft>
                <a:spcPts val="200"/>
              </a:spcAft>
              <a:buSzPct val="100000"/>
              <a:buChar char="▪"/>
            </a:pPr>
            <a:r>
              <a:rPr lang="en-US" sz="1100" dirty="0">
                <a:solidFill>
                  <a:srgbClr val="E3F2F0"/>
                </a:solidFill>
                <a:latin typeface="Calibri" pitchFamily="34" charset="0"/>
                <a:ea typeface="Calibri" pitchFamily="34" charset="-122"/>
                <a:cs typeface="Calibri" pitchFamily="34" charset="-120"/>
              </a:rPr>
              <a:t>B5.2 How does the nervous system help us respond to changes?</a:t>
            </a:r>
            <a:endParaRPr lang="en-US" sz="1500" dirty="0"/>
          </a:p>
          <a:p>
            <a:pPr marL="152400" indent="-152400">
              <a:spcAft>
                <a:spcPts val="200"/>
              </a:spcAft>
              <a:buSzPct val="100000"/>
              <a:buChar char="▪"/>
            </a:pPr>
            <a:r>
              <a:rPr lang="en-US" sz="1100" b="1" dirty="0">
                <a:solidFill>
                  <a:srgbClr val="E3F2F0"/>
                </a:solidFill>
                <a:latin typeface="Calibri" pitchFamily="34" charset="0"/>
                <a:ea typeface="Calibri" pitchFamily="34" charset="-122"/>
                <a:cs typeface="Calibri" pitchFamily="34" charset="-120"/>
              </a:rPr>
              <a:t>B5.3 How do hormones control responses in the human body?</a:t>
            </a:r>
            <a:r>
              <a:rPr lang="en-US" sz="1100" dirty="0">
                <a:solidFill>
                  <a:srgbClr val="E3F2F0"/>
                </a:solidFill>
                <a:latin typeface="Calibri" pitchFamily="34" charset="0"/>
                <a:ea typeface="Calibri" pitchFamily="34" charset="-122"/>
                <a:cs typeface="Calibri" pitchFamily="34" charset="-120"/>
              </a:rPr>
              <a:t> (this deck)</a:t>
            </a:r>
            <a:endParaRPr lang="en-US" sz="1500" dirty="0"/>
          </a:p>
          <a:p>
            <a:pPr marL="152400" indent="-152400">
              <a:spcAft>
                <a:spcPts val="200"/>
              </a:spcAft>
              <a:buSzPct val="100000"/>
              <a:buChar char="▪"/>
            </a:pPr>
            <a:r>
              <a:rPr lang="en-US" sz="1100" dirty="0">
                <a:solidFill>
                  <a:srgbClr val="E3F2F0"/>
                </a:solidFill>
                <a:latin typeface="Calibri" pitchFamily="34" charset="0"/>
                <a:ea typeface="Calibri" pitchFamily="34" charset="-122"/>
                <a:cs typeface="Calibri" pitchFamily="34" charset="-120"/>
              </a:rPr>
              <a:t>B5.4 Why do we need to maintain a constant internal environment?</a:t>
            </a:r>
            <a:endParaRPr lang="en-US" sz="1500" dirty="0"/>
          </a:p>
          <a:p>
            <a:pPr marL="152400" indent="-152400">
              <a:spcAft>
                <a:spcPts val="200"/>
              </a:spcAft>
              <a:buSzPct val="100000"/>
              <a:buChar char="▪"/>
            </a:pPr>
            <a:r>
              <a:rPr lang="en-US" sz="1100" dirty="0">
                <a:solidFill>
                  <a:srgbClr val="E3F2F0"/>
                </a:solidFill>
                <a:latin typeface="Calibri" pitchFamily="34" charset="0"/>
                <a:ea typeface="Calibri" pitchFamily="34" charset="-122"/>
                <a:cs typeface="Calibri" pitchFamily="34" charset="-120"/>
              </a:rPr>
              <a:t>B5.5 What role do hormones play in human reproduction?</a:t>
            </a:r>
            <a:endParaRPr lang="en-US" sz="1500" dirty="0"/>
          </a:p>
          <a:p>
            <a:pPr marL="152400" indent="-152400">
              <a:spcAft>
                <a:spcPts val="200"/>
              </a:spcAft>
              <a:buSzPct val="100000"/>
              <a:buChar char="▪"/>
            </a:pPr>
            <a:r>
              <a:rPr lang="en-US" sz="1100" dirty="0">
                <a:solidFill>
                  <a:srgbClr val="E3F2F0"/>
                </a:solidFill>
                <a:latin typeface="Calibri" pitchFamily="34" charset="0"/>
                <a:ea typeface="Calibri" pitchFamily="34" charset="-122"/>
                <a:cs typeface="Calibri" pitchFamily="34" charset="-120"/>
              </a:rPr>
              <a:t>B5.6 What can happen when organs and control systems stop working? (insulin, glucagon, diabetes)</a:t>
            </a:r>
            <a:endParaRPr lang="en-US" sz="1500" dirty="0"/>
          </a:p>
        </p:txBody>
      </p:sp>
      <p:sp>
        <p:nvSpPr>
          <p:cNvPr id="44" name="Shape 42"/>
          <p:cNvSpPr/>
          <p:nvPr/>
        </p:nvSpPr>
        <p:spPr>
          <a:xfrm>
            <a:off x="6720840" y="4343400"/>
            <a:ext cx="5056632" cy="1920240"/>
          </a:xfrm>
          <a:prstGeom prst="roundRect">
            <a:avLst>
              <a:gd name="adj" fmla="val 2857"/>
            </a:avLst>
          </a:prstGeom>
          <a:solidFill>
            <a:srgbClr val="FFF4E0"/>
          </a:solidFill>
          <a:ln w="12700">
            <a:solidFill>
              <a:srgbClr val="F1D9A8"/>
            </a:solidFill>
            <a:prstDash val="solid"/>
          </a:ln>
        </p:spPr>
      </p:sp>
      <p:sp>
        <p:nvSpPr>
          <p:cNvPr id="45" name="Text 43"/>
          <p:cNvSpPr/>
          <p:nvPr/>
        </p:nvSpPr>
        <p:spPr>
          <a:xfrm>
            <a:off x="6903720" y="4434840"/>
            <a:ext cx="4709160" cy="173736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Slides 5–10 are for everyone. Slides marked </a:t>
            </a:r>
            <a:r>
              <a:rPr lang="en-US" sz="1100" b="1" dirty="0">
                <a:solidFill>
                  <a:srgbClr val="262B3A"/>
                </a:solidFill>
                <a:latin typeface="Calibri" pitchFamily="34" charset="0"/>
                <a:ea typeface="Calibri" pitchFamily="34" charset="-122"/>
                <a:cs typeface="Calibri" pitchFamily="34" charset="-120"/>
              </a:rPr>
              <a:t>HT</a:t>
            </a:r>
            <a:r>
              <a:rPr lang="en-US" sz="1100" dirty="0">
                <a:solidFill>
                  <a:srgbClr val="262B3A"/>
                </a:solidFill>
                <a:latin typeface="Calibri" pitchFamily="34" charset="0"/>
                <a:ea typeface="Calibri" pitchFamily="34" charset="-122"/>
                <a:cs typeface="Calibri" pitchFamily="34" charset="-120"/>
              </a:rPr>
              <a:t> (adrenaline, thyroxine, feedback) are Higher tier.</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Insulin and the sex hormones appear on the gland map only: you learn them in </a:t>
            </a:r>
            <a:r>
              <a:rPr lang="en-US" sz="1100" b="1" dirty="0">
                <a:solidFill>
                  <a:srgbClr val="262B3A"/>
                </a:solidFill>
                <a:latin typeface="Calibri" pitchFamily="34" charset="0"/>
                <a:ea typeface="Calibri" pitchFamily="34" charset="-122"/>
                <a:cs typeface="Calibri" pitchFamily="34" charset="-120"/>
              </a:rPr>
              <a:t>B5.6</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B5.5</a:t>
            </a:r>
            <a:r>
              <a:rPr lang="en-US" sz="1100" dirty="0">
                <a:solidFill>
                  <a:srgbClr val="262B3A"/>
                </a:solidFill>
                <a:latin typeface="Calibri" pitchFamily="34" charset="0"/>
                <a:ea typeface="Calibri" pitchFamily="34" charset="-122"/>
                <a:cs typeface="Calibri" pitchFamily="34" charset="-120"/>
              </a:rPr>
              <a:t>.</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Maths: </a:t>
            </a:r>
            <a:r>
              <a:rPr lang="en-US" sz="1100" b="1" dirty="0">
                <a:solidFill>
                  <a:srgbClr val="262B3A"/>
                </a:solidFill>
                <a:latin typeface="Calibri" pitchFamily="34" charset="0"/>
                <a:ea typeface="Calibri" pitchFamily="34" charset="-122"/>
                <a:cs typeface="Calibri" pitchFamily="34" charset="-120"/>
              </a:rPr>
              <a:t>percentage change</a:t>
            </a:r>
            <a:r>
              <a:rPr lang="en-US" sz="1100" dirty="0">
                <a:solidFill>
                  <a:srgbClr val="262B3A"/>
                </a:solidFill>
                <a:latin typeface="Calibri" pitchFamily="34" charset="0"/>
                <a:ea typeface="Calibri" pitchFamily="34" charset="-122"/>
                <a:cs typeface="Calibri" pitchFamily="34" charset="-120"/>
              </a:rPr>
              <a:t> and reading a </a:t>
            </a:r>
            <a:r>
              <a:rPr lang="en-US" sz="1100" b="1" dirty="0">
                <a:solidFill>
                  <a:srgbClr val="262B3A"/>
                </a:solidFill>
                <a:latin typeface="Calibri" pitchFamily="34" charset="0"/>
                <a:ea typeface="Calibri" pitchFamily="34" charset="-122"/>
                <a:cs typeface="Calibri" pitchFamily="34" charset="-120"/>
              </a:rPr>
              <a:t>graph</a:t>
            </a:r>
            <a:r>
              <a:rPr lang="en-US" sz="1100" dirty="0">
                <a:solidFill>
                  <a:srgbClr val="262B3A"/>
                </a:solidFill>
                <a:latin typeface="Calibri" pitchFamily="34" charset="0"/>
                <a:ea typeface="Calibri" pitchFamily="34" charset="-122"/>
                <a:cs typeface="Calibri" pitchFamily="34" charset="-120"/>
              </a:rPr>
              <a:t> of heart rate.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Recall from B5.1, B5.2 and B4.1 • 6 minutes • no notes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B5.3 How do hormones control responses in the human body?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4FAF9"/>
          </a:solidFill>
          <a:ln w="9525">
            <a:solidFill>
              <a:srgbClr val="CFE0DE"/>
            </a:solidFill>
            <a:prstDash val="solid"/>
          </a:ln>
        </p:spPr>
      </p:sp>
      <p:sp>
        <p:nvSpPr>
          <p:cNvPr id="9" name="Shape 7"/>
          <p:cNvSpPr/>
          <p:nvPr/>
        </p:nvSpPr>
        <p:spPr>
          <a:xfrm>
            <a:off x="548640" y="1371600"/>
            <a:ext cx="438912" cy="438912"/>
          </a:xfrm>
          <a:prstGeom prst="ellipse">
            <a:avLst/>
          </a:prstGeom>
          <a:solidFill>
            <a:srgbClr val="0D7877"/>
          </a:solidFill>
          <a:ln w="12700">
            <a:solidFill>
              <a:srgbClr val="0D7877"/>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B5.1 • blood</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a:t>
            </a:r>
            <a:r>
              <a:rPr lang="en-US" sz="1250" b="1" dirty="0">
                <a:solidFill>
                  <a:srgbClr val="262B3A"/>
                </a:solidFill>
                <a:latin typeface="Calibri" pitchFamily="34" charset="0"/>
                <a:ea typeface="Calibri" pitchFamily="34" charset="-122"/>
                <a:cs typeface="Calibri" pitchFamily="34" charset="-120"/>
              </a:rPr>
              <a:t>liquid part of the blood</a:t>
            </a:r>
            <a:r>
              <a:rPr lang="en-US" sz="1250" dirty="0">
                <a:solidFill>
                  <a:srgbClr val="262B3A"/>
                </a:solidFill>
                <a:latin typeface="Calibri" pitchFamily="34" charset="0"/>
                <a:ea typeface="Calibri" pitchFamily="34" charset="-122"/>
                <a:cs typeface="Calibri" pitchFamily="34" charset="-120"/>
              </a:rPr>
              <a:t> that carries dissolved substances around the body.</a:t>
            </a:r>
            <a:endParaRPr lang="en-US" sz="1250" dirty="0"/>
          </a:p>
        </p:txBody>
      </p:sp>
      <p:sp>
        <p:nvSpPr>
          <p:cNvPr id="13" name="Shape 11"/>
          <p:cNvSpPr/>
          <p:nvPr/>
        </p:nvSpPr>
        <p:spPr>
          <a:xfrm>
            <a:off x="4251960" y="1234440"/>
            <a:ext cx="3657600" cy="2011680"/>
          </a:xfrm>
          <a:prstGeom prst="roundRect">
            <a:avLst>
              <a:gd name="adj" fmla="val 2727"/>
            </a:avLst>
          </a:prstGeom>
          <a:solidFill>
            <a:srgbClr val="F4FAF9"/>
          </a:solidFill>
          <a:ln w="9525">
            <a:solidFill>
              <a:srgbClr val="CFE0DE"/>
            </a:solidFill>
            <a:prstDash val="solid"/>
          </a:ln>
        </p:spPr>
      </p:sp>
      <p:sp>
        <p:nvSpPr>
          <p:cNvPr id="14" name="Shape 12"/>
          <p:cNvSpPr/>
          <p:nvPr/>
        </p:nvSpPr>
        <p:spPr>
          <a:xfrm>
            <a:off x="4389120" y="1371600"/>
            <a:ext cx="438912" cy="438912"/>
          </a:xfrm>
          <a:prstGeom prst="ellipse">
            <a:avLst/>
          </a:prstGeom>
          <a:solidFill>
            <a:srgbClr val="0D7877"/>
          </a:solidFill>
          <a:ln w="12700">
            <a:solidFill>
              <a:srgbClr val="0D7877"/>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B5.2 • nervous system</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kinds of </a:t>
            </a:r>
            <a:r>
              <a:rPr lang="en-US" sz="1250" b="1" dirty="0">
                <a:solidFill>
                  <a:srgbClr val="262B3A"/>
                </a:solidFill>
                <a:latin typeface="Calibri" pitchFamily="34" charset="0"/>
                <a:ea typeface="Calibri" pitchFamily="34" charset="-122"/>
                <a:cs typeface="Calibri" pitchFamily="34" charset="-120"/>
              </a:rPr>
              <a:t>effector</a:t>
            </a:r>
            <a:r>
              <a:rPr lang="en-US" sz="1250" dirty="0">
                <a:solidFill>
                  <a:srgbClr val="262B3A"/>
                </a:solidFill>
                <a:latin typeface="Calibri" pitchFamily="34" charset="0"/>
                <a:ea typeface="Calibri" pitchFamily="34" charset="-122"/>
                <a:cs typeface="Calibri" pitchFamily="34" charset="-120"/>
              </a:rPr>
              <a:t> in the body. What does an effector do?</a:t>
            </a:r>
            <a:endParaRPr lang="en-US" sz="1250" dirty="0"/>
          </a:p>
        </p:txBody>
      </p:sp>
      <p:sp>
        <p:nvSpPr>
          <p:cNvPr id="18" name="Shape 16"/>
          <p:cNvSpPr/>
          <p:nvPr/>
        </p:nvSpPr>
        <p:spPr>
          <a:xfrm>
            <a:off x="8092440" y="1234440"/>
            <a:ext cx="3657600" cy="2011680"/>
          </a:xfrm>
          <a:prstGeom prst="roundRect">
            <a:avLst>
              <a:gd name="adj" fmla="val 2727"/>
            </a:avLst>
          </a:prstGeom>
          <a:solidFill>
            <a:srgbClr val="F4FAF9"/>
          </a:solidFill>
          <a:ln w="9525">
            <a:solidFill>
              <a:srgbClr val="CFE0DE"/>
            </a:solidFill>
            <a:prstDash val="solid"/>
          </a:ln>
        </p:spPr>
      </p:sp>
      <p:sp>
        <p:nvSpPr>
          <p:cNvPr id="19" name="Shape 17"/>
          <p:cNvSpPr/>
          <p:nvPr/>
        </p:nvSpPr>
        <p:spPr>
          <a:xfrm>
            <a:off x="8229600" y="1371600"/>
            <a:ext cx="438912" cy="438912"/>
          </a:xfrm>
          <a:prstGeom prst="ellipse">
            <a:avLst/>
          </a:prstGeom>
          <a:solidFill>
            <a:srgbClr val="0D7877"/>
          </a:solidFill>
          <a:ln w="12700">
            <a:solidFill>
              <a:srgbClr val="0D7877"/>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B5.2 • nervous system</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a </a:t>
            </a:r>
            <a:r>
              <a:rPr lang="en-US" sz="1250" b="1" dirty="0">
                <a:solidFill>
                  <a:srgbClr val="262B3A"/>
                </a:solidFill>
                <a:latin typeface="Calibri" pitchFamily="34" charset="0"/>
                <a:ea typeface="Calibri" pitchFamily="34" charset="-122"/>
                <a:cs typeface="Calibri" pitchFamily="34" charset="-120"/>
              </a:rPr>
              <a:t>receptor</a:t>
            </a:r>
            <a:r>
              <a:rPr lang="en-US" sz="1250" dirty="0">
                <a:solidFill>
                  <a:srgbClr val="262B3A"/>
                </a:solidFill>
                <a:latin typeface="Calibri" pitchFamily="34" charset="0"/>
                <a:ea typeface="Calibri" pitchFamily="34" charset="-122"/>
                <a:cs typeface="Calibri" pitchFamily="34" charset="-120"/>
              </a:rPr>
              <a:t>? 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example of a receptor in the body.</a:t>
            </a:r>
            <a:endParaRPr lang="en-US" sz="1250" dirty="0"/>
          </a:p>
        </p:txBody>
      </p:sp>
      <p:sp>
        <p:nvSpPr>
          <p:cNvPr id="23" name="Shape 21"/>
          <p:cNvSpPr/>
          <p:nvPr/>
        </p:nvSpPr>
        <p:spPr>
          <a:xfrm>
            <a:off x="411480" y="3429000"/>
            <a:ext cx="3657600" cy="2011680"/>
          </a:xfrm>
          <a:prstGeom prst="roundRect">
            <a:avLst>
              <a:gd name="adj" fmla="val 2727"/>
            </a:avLst>
          </a:prstGeom>
          <a:solidFill>
            <a:srgbClr val="F4FAF9"/>
          </a:solidFill>
          <a:ln w="9525">
            <a:solidFill>
              <a:srgbClr val="CFE0DE"/>
            </a:solidFill>
            <a:prstDash val="solid"/>
          </a:ln>
        </p:spPr>
      </p:sp>
      <p:sp>
        <p:nvSpPr>
          <p:cNvPr id="24" name="Shape 22"/>
          <p:cNvSpPr/>
          <p:nvPr/>
        </p:nvSpPr>
        <p:spPr>
          <a:xfrm>
            <a:off x="548640" y="3566160"/>
            <a:ext cx="438912" cy="438912"/>
          </a:xfrm>
          <a:prstGeom prst="ellipse">
            <a:avLst/>
          </a:prstGeom>
          <a:solidFill>
            <a:srgbClr val="0D7877"/>
          </a:solidFill>
          <a:ln w="12700">
            <a:solidFill>
              <a:srgbClr val="0D7877"/>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B4.1 • respiration</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Write the </a:t>
            </a:r>
            <a:r>
              <a:rPr lang="en-US" sz="1250" b="1" dirty="0">
                <a:solidFill>
                  <a:srgbClr val="262B3A"/>
                </a:solidFill>
                <a:latin typeface="Calibri" pitchFamily="34" charset="0"/>
                <a:ea typeface="Calibri" pitchFamily="34" charset="-122"/>
                <a:cs typeface="Calibri" pitchFamily="34" charset="-120"/>
              </a:rPr>
              <a:t>word equation</a:t>
            </a:r>
            <a:r>
              <a:rPr lang="en-US" sz="1250" dirty="0">
                <a:solidFill>
                  <a:srgbClr val="262B3A"/>
                </a:solidFill>
                <a:latin typeface="Calibri" pitchFamily="34" charset="0"/>
                <a:ea typeface="Calibri" pitchFamily="34" charset="-122"/>
                <a:cs typeface="Calibri" pitchFamily="34" charset="-120"/>
              </a:rPr>
              <a:t> for aerobic respiration.</a:t>
            </a:r>
            <a:endParaRPr lang="en-US" sz="1250" dirty="0"/>
          </a:p>
        </p:txBody>
      </p:sp>
      <p:sp>
        <p:nvSpPr>
          <p:cNvPr id="28" name="Shape 26"/>
          <p:cNvSpPr/>
          <p:nvPr/>
        </p:nvSpPr>
        <p:spPr>
          <a:xfrm>
            <a:off x="4251960" y="3429000"/>
            <a:ext cx="3657600" cy="2011680"/>
          </a:xfrm>
          <a:prstGeom prst="roundRect">
            <a:avLst>
              <a:gd name="adj" fmla="val 2727"/>
            </a:avLst>
          </a:prstGeom>
          <a:solidFill>
            <a:srgbClr val="F4FAF9"/>
          </a:solidFill>
          <a:ln w="9525">
            <a:solidFill>
              <a:srgbClr val="CFE0DE"/>
            </a:solidFill>
            <a:prstDash val="solid"/>
          </a:ln>
        </p:spPr>
      </p:sp>
      <p:sp>
        <p:nvSpPr>
          <p:cNvPr id="29" name="Shape 27"/>
          <p:cNvSpPr/>
          <p:nvPr/>
        </p:nvSpPr>
        <p:spPr>
          <a:xfrm>
            <a:off x="4389120" y="3566160"/>
            <a:ext cx="438912" cy="438912"/>
          </a:xfrm>
          <a:prstGeom prst="ellipse">
            <a:avLst/>
          </a:prstGeom>
          <a:solidFill>
            <a:srgbClr val="0D7877"/>
          </a:solidFill>
          <a:ln w="12700">
            <a:solidFill>
              <a:srgbClr val="0D7877"/>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B5.1 • circulation</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Which blood vessels carry blood </a:t>
            </a:r>
            <a:r>
              <a:rPr lang="en-US" sz="1250" b="1" dirty="0">
                <a:solidFill>
                  <a:srgbClr val="262B3A"/>
                </a:solidFill>
                <a:latin typeface="Calibri" pitchFamily="34" charset="0"/>
                <a:ea typeface="Calibri" pitchFamily="34" charset="-122"/>
                <a:cs typeface="Calibri" pitchFamily="34" charset="-120"/>
              </a:rPr>
              <a:t>away</a:t>
            </a:r>
            <a:r>
              <a:rPr lang="en-US" sz="1250" dirty="0">
                <a:solidFill>
                  <a:srgbClr val="262B3A"/>
                </a:solidFill>
                <a:latin typeface="Calibri" pitchFamily="34" charset="0"/>
                <a:ea typeface="Calibri" pitchFamily="34" charset="-122"/>
                <a:cs typeface="Calibri" pitchFamily="34" charset="-120"/>
              </a:rPr>
              <a:t> from the heart? Which carry it </a:t>
            </a:r>
            <a:r>
              <a:rPr lang="en-US" sz="1250" b="1" dirty="0">
                <a:solidFill>
                  <a:srgbClr val="262B3A"/>
                </a:solidFill>
                <a:latin typeface="Calibri" pitchFamily="34" charset="0"/>
                <a:ea typeface="Calibri" pitchFamily="34" charset="-122"/>
                <a:cs typeface="Calibri" pitchFamily="34" charset="-120"/>
              </a:rPr>
              <a:t>back</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33" name="Shape 31"/>
          <p:cNvSpPr/>
          <p:nvPr/>
        </p:nvSpPr>
        <p:spPr>
          <a:xfrm>
            <a:off x="8092440" y="3429000"/>
            <a:ext cx="3657600" cy="2011680"/>
          </a:xfrm>
          <a:prstGeom prst="roundRect">
            <a:avLst>
              <a:gd name="adj" fmla="val 2727"/>
            </a:avLst>
          </a:prstGeom>
          <a:solidFill>
            <a:srgbClr val="F4FAF9"/>
          </a:solidFill>
          <a:ln w="9525">
            <a:solidFill>
              <a:srgbClr val="CFE0DE"/>
            </a:solidFill>
            <a:prstDash val="solid"/>
          </a:ln>
        </p:spPr>
      </p:sp>
      <p:sp>
        <p:nvSpPr>
          <p:cNvPr id="34" name="Shape 32"/>
          <p:cNvSpPr/>
          <p:nvPr/>
        </p:nvSpPr>
        <p:spPr>
          <a:xfrm>
            <a:off x="8229600" y="3566160"/>
            <a:ext cx="438912" cy="438912"/>
          </a:xfrm>
          <a:prstGeom prst="ellipse">
            <a:avLst/>
          </a:prstGeom>
          <a:solidFill>
            <a:srgbClr val="0D7877"/>
          </a:solidFill>
          <a:ln w="12700">
            <a:solidFill>
              <a:srgbClr val="0D7877"/>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B5.1 • breathing</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student takes </a:t>
            </a:r>
            <a:r>
              <a:rPr lang="en-US" sz="1250" b="1" dirty="0">
                <a:solidFill>
                  <a:srgbClr val="262B3A"/>
                </a:solidFill>
                <a:latin typeface="Calibri" pitchFamily="34" charset="0"/>
                <a:ea typeface="Calibri" pitchFamily="34" charset="-122"/>
                <a:cs typeface="Calibri" pitchFamily="34" charset="-120"/>
              </a:rPr>
              <a:t>15 breaths in 30 s</a:t>
            </a:r>
            <a:r>
              <a:rPr lang="en-US" sz="1250" dirty="0">
                <a:solidFill>
                  <a:srgbClr val="262B3A"/>
                </a:solidFill>
                <a:latin typeface="Calibri" pitchFamily="34" charset="0"/>
                <a:ea typeface="Calibri" pitchFamily="34" charset="-122"/>
                <a:cs typeface="Calibri" pitchFamily="34" charset="-120"/>
              </a:rPr>
              <a:t>. What is the breathing rate in breaths per </a:t>
            </a:r>
            <a:r>
              <a:rPr lang="en-US" sz="1250" b="1" dirty="0">
                <a:solidFill>
                  <a:srgbClr val="262B3A"/>
                </a:solidFill>
                <a:latin typeface="Calibri" pitchFamily="34" charset="0"/>
                <a:ea typeface="Calibri" pitchFamily="34" charset="-122"/>
                <a:cs typeface="Calibri" pitchFamily="34" charset="-120"/>
              </a:rPr>
              <a:t>minute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38" name="Shape 36"/>
          <p:cNvSpPr/>
          <p:nvPr/>
        </p:nvSpPr>
        <p:spPr>
          <a:xfrm>
            <a:off x="411480" y="5715000"/>
            <a:ext cx="11368735" cy="548640"/>
          </a:xfrm>
          <a:prstGeom prst="rect">
            <a:avLst/>
          </a:prstGeom>
          <a:solidFill>
            <a:srgbClr val="E8F4F3"/>
          </a:solidFill>
          <a:ln w="12700">
            <a:solidFill>
              <a:srgbClr val="CFE0DE"/>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0D7877"/>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Hormones: chemical messengers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B5.3.1 • made by endocrine glands, carried in the blood, act on target organs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B5.3 How do hormones control responses in the human body?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B5.3.1  |  5</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one hormone travels in the plasma; only cells with matching receptors respond</a:t>
            </a:r>
            <a:endParaRPr lang="en-US" sz="1000" dirty="0"/>
          </a:p>
        </p:txBody>
      </p:sp>
      <p:sp>
        <p:nvSpPr>
          <p:cNvPr id="10" name="Shape 8"/>
          <p:cNvSpPr/>
          <p:nvPr/>
        </p:nvSpPr>
        <p:spPr>
          <a:xfrm>
            <a:off x="640080" y="1668780"/>
            <a:ext cx="1188720" cy="960120"/>
          </a:xfrm>
          <a:prstGeom prst="ellipse">
            <a:avLst/>
          </a:prstGeom>
          <a:solidFill>
            <a:srgbClr val="F3D3A6"/>
          </a:solidFill>
          <a:ln w="19050">
            <a:solidFill>
              <a:srgbClr val="9A5A0A"/>
            </a:solidFill>
            <a:prstDash val="solid"/>
          </a:ln>
        </p:spPr>
      </p:sp>
      <p:sp>
        <p:nvSpPr>
          <p:cNvPr id="11" name="Shape 9"/>
          <p:cNvSpPr/>
          <p:nvPr/>
        </p:nvSpPr>
        <p:spPr>
          <a:xfrm>
            <a:off x="896112" y="1901952"/>
            <a:ext cx="128016" cy="115214"/>
          </a:xfrm>
          <a:prstGeom prst="triangle">
            <a:avLst/>
          </a:prstGeom>
          <a:solidFill>
            <a:srgbClr val="E08A1E"/>
          </a:solidFill>
          <a:ln w="9525">
            <a:solidFill>
              <a:srgbClr val="9A5A0A"/>
            </a:solidFill>
            <a:prstDash val="solid"/>
          </a:ln>
        </p:spPr>
      </p:sp>
      <p:sp>
        <p:nvSpPr>
          <p:cNvPr id="12" name="Shape 10"/>
          <p:cNvSpPr/>
          <p:nvPr/>
        </p:nvSpPr>
        <p:spPr>
          <a:xfrm>
            <a:off x="1216152" y="1810512"/>
            <a:ext cx="128016" cy="115214"/>
          </a:xfrm>
          <a:prstGeom prst="triangle">
            <a:avLst/>
          </a:prstGeom>
          <a:solidFill>
            <a:srgbClr val="E08A1E"/>
          </a:solidFill>
          <a:ln w="9525">
            <a:solidFill>
              <a:srgbClr val="9A5A0A"/>
            </a:solidFill>
            <a:prstDash val="solid"/>
          </a:ln>
        </p:spPr>
      </p:sp>
      <p:sp>
        <p:nvSpPr>
          <p:cNvPr id="13" name="Shape 11"/>
          <p:cNvSpPr/>
          <p:nvPr/>
        </p:nvSpPr>
        <p:spPr>
          <a:xfrm>
            <a:off x="1490472" y="2039112"/>
            <a:ext cx="128016" cy="115214"/>
          </a:xfrm>
          <a:prstGeom prst="triangle">
            <a:avLst/>
          </a:prstGeom>
          <a:solidFill>
            <a:srgbClr val="E08A1E"/>
          </a:solidFill>
          <a:ln w="9525">
            <a:solidFill>
              <a:srgbClr val="9A5A0A"/>
            </a:solidFill>
            <a:prstDash val="solid"/>
          </a:ln>
        </p:spPr>
      </p:sp>
      <p:sp>
        <p:nvSpPr>
          <p:cNvPr id="14" name="Shape 12"/>
          <p:cNvSpPr/>
          <p:nvPr/>
        </p:nvSpPr>
        <p:spPr>
          <a:xfrm>
            <a:off x="987552" y="2267712"/>
            <a:ext cx="128016" cy="115214"/>
          </a:xfrm>
          <a:prstGeom prst="triangle">
            <a:avLst/>
          </a:prstGeom>
          <a:solidFill>
            <a:srgbClr val="E08A1E"/>
          </a:solidFill>
          <a:ln w="9525">
            <a:solidFill>
              <a:srgbClr val="9A5A0A"/>
            </a:solidFill>
            <a:prstDash val="solid"/>
          </a:ln>
        </p:spPr>
      </p:sp>
      <p:sp>
        <p:nvSpPr>
          <p:cNvPr id="15" name="Shape 13"/>
          <p:cNvSpPr/>
          <p:nvPr/>
        </p:nvSpPr>
        <p:spPr>
          <a:xfrm>
            <a:off x="1307592" y="2313432"/>
            <a:ext cx="128016" cy="115214"/>
          </a:xfrm>
          <a:prstGeom prst="triangle">
            <a:avLst/>
          </a:prstGeom>
          <a:solidFill>
            <a:srgbClr val="E08A1E"/>
          </a:solidFill>
          <a:ln w="9525">
            <a:solidFill>
              <a:srgbClr val="9A5A0A"/>
            </a:solidFill>
            <a:prstDash val="solid"/>
          </a:ln>
        </p:spPr>
      </p:sp>
      <p:sp>
        <p:nvSpPr>
          <p:cNvPr id="16" name="Text 14"/>
          <p:cNvSpPr/>
          <p:nvPr/>
        </p:nvSpPr>
        <p:spPr>
          <a:xfrm>
            <a:off x="640080" y="1325880"/>
            <a:ext cx="1280160" cy="256032"/>
          </a:xfrm>
          <a:prstGeom prst="rect">
            <a:avLst/>
          </a:prstGeom>
          <a:noFill/>
          <a:ln/>
        </p:spPr>
        <p:txBody>
          <a:bodyPr wrap="square" lIns="0" tIns="0" rIns="0" bIns="0" rtlCol="0" anchor="ctr"/>
          <a:lstStyle/>
          <a:p>
            <a:pPr algn="l" indent="0" marL="0">
              <a:buNone/>
            </a:pPr>
            <a:r>
              <a:rPr lang="en-US" sz="1100" dirty="0">
                <a:solidFill>
                  <a:srgbClr val="9A5A0A"/>
                </a:solidFill>
                <a:latin typeface="Calibri" pitchFamily="34" charset="0"/>
                <a:ea typeface="Calibri" pitchFamily="34" charset="-122"/>
                <a:cs typeface="Calibri" pitchFamily="34" charset="-120"/>
              </a:rPr>
              <a:t>1  Endocrine </a:t>
            </a:r>
            <a:r>
              <a:rPr lang="en-US" sz="1100" b="1" dirty="0">
                <a:solidFill>
                  <a:srgbClr val="9A5A0A"/>
                </a:solidFill>
                <a:latin typeface="Calibri" pitchFamily="34" charset="0"/>
                <a:ea typeface="Calibri" pitchFamily="34" charset="-122"/>
                <a:cs typeface="Calibri" pitchFamily="34" charset="-120"/>
              </a:rPr>
              <a:t>gland</a:t>
            </a:r>
            <a:endParaRPr lang="en-US" sz="1100" dirty="0"/>
          </a:p>
        </p:txBody>
      </p:sp>
      <p:sp>
        <p:nvSpPr>
          <p:cNvPr id="17" name="Text 15"/>
          <p:cNvSpPr/>
          <p:nvPr/>
        </p:nvSpPr>
        <p:spPr>
          <a:xfrm>
            <a:off x="548640" y="2697480"/>
            <a:ext cx="1234440" cy="54864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makes the hormone and </a:t>
            </a:r>
            <a:r>
              <a:rPr lang="en-US" sz="1000" b="1" dirty="0">
                <a:solidFill>
                  <a:srgbClr val="262B3A"/>
                </a:solidFill>
                <a:latin typeface="Calibri" pitchFamily="34" charset="0"/>
                <a:ea typeface="Calibri" pitchFamily="34" charset="-122"/>
                <a:cs typeface="Calibri" pitchFamily="34" charset="-120"/>
              </a:rPr>
              <a:t>secretes</a:t>
            </a:r>
            <a:r>
              <a:rPr lang="en-US" sz="1000" dirty="0">
                <a:solidFill>
                  <a:srgbClr val="262B3A"/>
                </a:solidFill>
                <a:latin typeface="Calibri" pitchFamily="34" charset="0"/>
                <a:ea typeface="Calibri" pitchFamily="34" charset="-122"/>
                <a:cs typeface="Calibri" pitchFamily="34" charset="-120"/>
              </a:rPr>
              <a:t> it into the blood</a:t>
            </a:r>
            <a:endParaRPr lang="en-US" sz="1000" dirty="0"/>
          </a:p>
        </p:txBody>
      </p:sp>
      <p:sp>
        <p:nvSpPr>
          <p:cNvPr id="18" name="Shape 16"/>
          <p:cNvSpPr/>
          <p:nvPr/>
        </p:nvSpPr>
        <p:spPr>
          <a:xfrm>
            <a:off x="594360" y="3337560"/>
            <a:ext cx="5212080" cy="566928"/>
          </a:xfrm>
          <a:prstGeom prst="roundRect">
            <a:avLst>
              <a:gd name="adj" fmla="val 48387"/>
            </a:avLst>
          </a:prstGeom>
          <a:solidFill>
            <a:srgbClr val="F8D2D4"/>
          </a:solidFill>
          <a:ln w="19050">
            <a:solidFill>
              <a:srgbClr val="C8414C"/>
            </a:solidFill>
            <a:prstDash val="solid"/>
          </a:ln>
        </p:spPr>
      </p:sp>
      <p:sp>
        <p:nvSpPr>
          <p:cNvPr id="19" name="Shape 17"/>
          <p:cNvSpPr/>
          <p:nvPr/>
        </p:nvSpPr>
        <p:spPr>
          <a:xfrm>
            <a:off x="1737360" y="2514600"/>
            <a:ext cx="320040" cy="914400"/>
          </a:xfrm>
          <a:prstGeom prst="line">
            <a:avLst/>
          </a:prstGeom>
          <a:noFill/>
          <a:ln w="25400">
            <a:solidFill>
              <a:srgbClr val="9A5A0A"/>
            </a:solidFill>
            <a:prstDash val="solid"/>
            <a:tailEnd type="triangle"/>
          </a:ln>
        </p:spPr>
      </p:sp>
      <p:sp>
        <p:nvSpPr>
          <p:cNvPr id="20" name="Shape 18"/>
          <p:cNvSpPr/>
          <p:nvPr/>
        </p:nvSpPr>
        <p:spPr>
          <a:xfrm>
            <a:off x="1673352" y="3438144"/>
            <a:ext cx="128016" cy="115214"/>
          </a:xfrm>
          <a:prstGeom prst="triangle">
            <a:avLst/>
          </a:prstGeom>
          <a:solidFill>
            <a:srgbClr val="E08A1E"/>
          </a:solidFill>
          <a:ln w="9525">
            <a:solidFill>
              <a:srgbClr val="9A5A0A"/>
            </a:solidFill>
            <a:prstDash val="solid"/>
          </a:ln>
        </p:spPr>
      </p:sp>
      <p:sp>
        <p:nvSpPr>
          <p:cNvPr id="21" name="Shape 19"/>
          <p:cNvSpPr/>
          <p:nvPr/>
        </p:nvSpPr>
        <p:spPr>
          <a:xfrm>
            <a:off x="2313432" y="3657600"/>
            <a:ext cx="128016" cy="115214"/>
          </a:xfrm>
          <a:prstGeom prst="triangle">
            <a:avLst/>
          </a:prstGeom>
          <a:solidFill>
            <a:srgbClr val="E08A1E"/>
          </a:solidFill>
          <a:ln w="9525">
            <a:solidFill>
              <a:srgbClr val="9A5A0A"/>
            </a:solidFill>
            <a:prstDash val="solid"/>
          </a:ln>
        </p:spPr>
      </p:sp>
      <p:sp>
        <p:nvSpPr>
          <p:cNvPr id="22" name="Shape 20"/>
          <p:cNvSpPr/>
          <p:nvPr/>
        </p:nvSpPr>
        <p:spPr>
          <a:xfrm>
            <a:off x="2953512" y="3474720"/>
            <a:ext cx="128016" cy="115214"/>
          </a:xfrm>
          <a:prstGeom prst="triangle">
            <a:avLst/>
          </a:prstGeom>
          <a:solidFill>
            <a:srgbClr val="E08A1E"/>
          </a:solidFill>
          <a:ln w="9525">
            <a:solidFill>
              <a:srgbClr val="9A5A0A"/>
            </a:solidFill>
            <a:prstDash val="solid"/>
          </a:ln>
        </p:spPr>
      </p:sp>
      <p:sp>
        <p:nvSpPr>
          <p:cNvPr id="23" name="Shape 21"/>
          <p:cNvSpPr/>
          <p:nvPr/>
        </p:nvSpPr>
        <p:spPr>
          <a:xfrm>
            <a:off x="3685032" y="3685032"/>
            <a:ext cx="128016" cy="115214"/>
          </a:xfrm>
          <a:prstGeom prst="triangle">
            <a:avLst/>
          </a:prstGeom>
          <a:solidFill>
            <a:srgbClr val="E08A1E"/>
          </a:solidFill>
          <a:ln w="9525">
            <a:solidFill>
              <a:srgbClr val="9A5A0A"/>
            </a:solidFill>
            <a:prstDash val="solid"/>
          </a:ln>
        </p:spPr>
      </p:sp>
      <p:sp>
        <p:nvSpPr>
          <p:cNvPr id="24" name="Shape 22"/>
          <p:cNvSpPr/>
          <p:nvPr/>
        </p:nvSpPr>
        <p:spPr>
          <a:xfrm>
            <a:off x="4416552" y="3456432"/>
            <a:ext cx="128016" cy="115214"/>
          </a:xfrm>
          <a:prstGeom prst="triangle">
            <a:avLst/>
          </a:prstGeom>
          <a:solidFill>
            <a:srgbClr val="E08A1E"/>
          </a:solidFill>
          <a:ln w="9525">
            <a:solidFill>
              <a:srgbClr val="9A5A0A"/>
            </a:solidFill>
            <a:prstDash val="solid"/>
          </a:ln>
        </p:spPr>
      </p:sp>
      <p:sp>
        <p:nvSpPr>
          <p:cNvPr id="25" name="Shape 23"/>
          <p:cNvSpPr/>
          <p:nvPr/>
        </p:nvSpPr>
        <p:spPr>
          <a:xfrm>
            <a:off x="5148072" y="3639312"/>
            <a:ext cx="128016" cy="115214"/>
          </a:xfrm>
          <a:prstGeom prst="triangle">
            <a:avLst/>
          </a:prstGeom>
          <a:solidFill>
            <a:srgbClr val="E08A1E"/>
          </a:solidFill>
          <a:ln w="9525">
            <a:solidFill>
              <a:srgbClr val="9A5A0A"/>
            </a:solidFill>
            <a:prstDash val="solid"/>
          </a:ln>
        </p:spPr>
      </p:sp>
      <p:sp>
        <p:nvSpPr>
          <p:cNvPr id="26" name="Shape 24"/>
          <p:cNvSpPr/>
          <p:nvPr/>
        </p:nvSpPr>
        <p:spPr>
          <a:xfrm>
            <a:off x="1975104" y="3621024"/>
            <a:ext cx="164592" cy="164592"/>
          </a:xfrm>
          <a:prstGeom prst="ellipse">
            <a:avLst/>
          </a:prstGeom>
          <a:solidFill>
            <a:srgbClr val="D9534F"/>
          </a:solidFill>
          <a:ln w="9525">
            <a:solidFill>
              <a:srgbClr val="8E2A33"/>
            </a:solidFill>
            <a:prstDash val="solid"/>
          </a:ln>
        </p:spPr>
      </p:sp>
      <p:sp>
        <p:nvSpPr>
          <p:cNvPr id="27" name="Shape 25"/>
          <p:cNvSpPr/>
          <p:nvPr/>
        </p:nvSpPr>
        <p:spPr>
          <a:xfrm>
            <a:off x="3346704" y="3438144"/>
            <a:ext cx="164592" cy="164592"/>
          </a:xfrm>
          <a:prstGeom prst="ellipse">
            <a:avLst/>
          </a:prstGeom>
          <a:solidFill>
            <a:srgbClr val="D9534F"/>
          </a:solidFill>
          <a:ln w="9525">
            <a:solidFill>
              <a:srgbClr val="8E2A33"/>
            </a:solidFill>
            <a:prstDash val="solid"/>
          </a:ln>
        </p:spPr>
      </p:sp>
      <p:sp>
        <p:nvSpPr>
          <p:cNvPr id="28" name="Shape 26"/>
          <p:cNvSpPr/>
          <p:nvPr/>
        </p:nvSpPr>
        <p:spPr>
          <a:xfrm>
            <a:off x="4764024" y="3675888"/>
            <a:ext cx="164592" cy="164592"/>
          </a:xfrm>
          <a:prstGeom prst="ellipse">
            <a:avLst/>
          </a:prstGeom>
          <a:solidFill>
            <a:srgbClr val="D9534F"/>
          </a:solidFill>
          <a:ln w="9525">
            <a:solidFill>
              <a:srgbClr val="8E2A33"/>
            </a:solidFill>
            <a:prstDash val="solid"/>
          </a:ln>
        </p:spPr>
      </p:sp>
      <p:sp>
        <p:nvSpPr>
          <p:cNvPr id="29" name="Shape 27"/>
          <p:cNvSpPr/>
          <p:nvPr/>
        </p:nvSpPr>
        <p:spPr>
          <a:xfrm>
            <a:off x="2194560" y="4087368"/>
            <a:ext cx="1828800" cy="91"/>
          </a:xfrm>
          <a:prstGeom prst="line">
            <a:avLst/>
          </a:prstGeom>
          <a:noFill/>
          <a:ln w="22225">
            <a:solidFill>
              <a:srgbClr val="C8414C"/>
            </a:solidFill>
            <a:prstDash val="solid"/>
            <a:tailEnd type="triangle"/>
          </a:ln>
        </p:spPr>
      </p:sp>
      <p:sp>
        <p:nvSpPr>
          <p:cNvPr id="30" name="Text 28"/>
          <p:cNvSpPr/>
          <p:nvPr/>
        </p:nvSpPr>
        <p:spPr>
          <a:xfrm>
            <a:off x="640080" y="3977640"/>
            <a:ext cx="1554480" cy="256032"/>
          </a:xfrm>
          <a:prstGeom prst="rect">
            <a:avLst/>
          </a:prstGeom>
          <a:noFill/>
          <a:ln/>
        </p:spPr>
        <p:txBody>
          <a:bodyPr wrap="square" lIns="0" tIns="0" rIns="0" bIns="0" rtlCol="0" anchor="ctr"/>
          <a:lstStyle/>
          <a:p>
            <a:pPr algn="l" indent="0" marL="0">
              <a:buNone/>
            </a:pPr>
            <a:r>
              <a:rPr lang="en-US" sz="1050" dirty="0">
                <a:solidFill>
                  <a:srgbClr val="C8414C"/>
                </a:solidFill>
                <a:latin typeface="Calibri" pitchFamily="34" charset="0"/>
                <a:ea typeface="Calibri" pitchFamily="34" charset="-122"/>
                <a:cs typeface="Calibri" pitchFamily="34" charset="-120"/>
              </a:rPr>
              <a:t>2  carried in </a:t>
            </a:r>
            <a:r>
              <a:rPr lang="en-US" sz="1050" b="1" dirty="0">
                <a:solidFill>
                  <a:srgbClr val="C8414C"/>
                </a:solidFill>
                <a:latin typeface="Calibri" pitchFamily="34" charset="0"/>
                <a:ea typeface="Calibri" pitchFamily="34" charset="-122"/>
                <a:cs typeface="Calibri" pitchFamily="34" charset="-120"/>
              </a:rPr>
              <a:t>plasma</a:t>
            </a:r>
            <a:endParaRPr lang="en-US" sz="1050" dirty="0"/>
          </a:p>
        </p:txBody>
      </p:sp>
      <p:sp>
        <p:nvSpPr>
          <p:cNvPr id="31" name="Text 29"/>
          <p:cNvSpPr/>
          <p:nvPr/>
        </p:nvSpPr>
        <p:spPr>
          <a:xfrm>
            <a:off x="4069080" y="3977640"/>
            <a:ext cx="1783080" cy="256032"/>
          </a:xfrm>
          <a:prstGeom prst="rect">
            <a:avLst/>
          </a:prstGeom>
          <a:noFill/>
          <a:ln/>
        </p:spPr>
        <p:txBody>
          <a:bodyPr wrap="square" lIns="0" tIns="0" rIns="0" bIns="0" rtlCol="0" anchor="ctr"/>
          <a:lstStyle/>
          <a:p>
            <a:pPr algn="l" indent="0" marL="0">
              <a:buNone/>
            </a:pPr>
            <a:r>
              <a:rPr lang="en-US" sz="1050" dirty="0">
                <a:solidFill>
                  <a:srgbClr val="C8414C"/>
                </a:solidFill>
                <a:latin typeface="Calibri" pitchFamily="34" charset="0"/>
                <a:ea typeface="Calibri" pitchFamily="34" charset="-122"/>
                <a:cs typeface="Calibri" pitchFamily="34" charset="-120"/>
              </a:rPr>
              <a:t>to </a:t>
            </a:r>
            <a:r>
              <a:rPr lang="en-US" sz="1050" b="1" dirty="0">
                <a:solidFill>
                  <a:srgbClr val="C8414C"/>
                </a:solidFill>
                <a:latin typeface="Calibri" pitchFamily="34" charset="0"/>
                <a:ea typeface="Calibri" pitchFamily="34" charset="-122"/>
                <a:cs typeface="Calibri" pitchFamily="34" charset="-120"/>
              </a:rPr>
              <a:t>all</a:t>
            </a:r>
            <a:r>
              <a:rPr lang="en-US" sz="1050" dirty="0">
                <a:solidFill>
                  <a:srgbClr val="C8414C"/>
                </a:solidFill>
                <a:latin typeface="Calibri" pitchFamily="34" charset="0"/>
                <a:ea typeface="Calibri" pitchFamily="34" charset="-122"/>
                <a:cs typeface="Calibri" pitchFamily="34" charset="-120"/>
              </a:rPr>
              <a:t> parts of the body</a:t>
            </a:r>
            <a:endParaRPr lang="en-US" sz="1050" dirty="0"/>
          </a:p>
        </p:txBody>
      </p:sp>
      <p:sp>
        <p:nvSpPr>
          <p:cNvPr id="32" name="Shape 30"/>
          <p:cNvSpPr/>
          <p:nvPr/>
        </p:nvSpPr>
        <p:spPr>
          <a:xfrm>
            <a:off x="2514600" y="1645920"/>
            <a:ext cx="1508760" cy="1051560"/>
          </a:xfrm>
          <a:prstGeom prst="roundRect">
            <a:avLst>
              <a:gd name="adj" fmla="val 8696"/>
            </a:avLst>
          </a:prstGeom>
          <a:solidFill>
            <a:srgbClr val="FBF3DF"/>
          </a:solidFill>
          <a:ln w="19050">
            <a:solidFill>
              <a:srgbClr val="8A6D3B"/>
            </a:solidFill>
            <a:prstDash val="solid"/>
          </a:ln>
        </p:spPr>
      </p:sp>
      <p:sp>
        <p:nvSpPr>
          <p:cNvPr id="33" name="Shape 31"/>
          <p:cNvSpPr/>
          <p:nvPr/>
        </p:nvSpPr>
        <p:spPr>
          <a:xfrm>
            <a:off x="3081528" y="1901952"/>
            <a:ext cx="365760" cy="310896"/>
          </a:xfrm>
          <a:prstGeom prst="ellipse">
            <a:avLst/>
          </a:prstGeom>
          <a:solidFill>
            <a:srgbClr val="C9B6E4"/>
          </a:solidFill>
          <a:ln w="12700">
            <a:solidFill>
              <a:srgbClr val="6A4C93"/>
            </a:solidFill>
            <a:prstDash val="solid"/>
          </a:ln>
        </p:spPr>
      </p:sp>
      <p:sp>
        <p:nvSpPr>
          <p:cNvPr id="34" name="Shape 32"/>
          <p:cNvSpPr/>
          <p:nvPr/>
        </p:nvSpPr>
        <p:spPr>
          <a:xfrm>
            <a:off x="2724912" y="2551176"/>
            <a:ext cx="219456" cy="146304"/>
          </a:xfrm>
          <a:prstGeom prst="rect">
            <a:avLst/>
          </a:prstGeom>
          <a:solidFill>
            <a:srgbClr val="2E8B57"/>
          </a:solidFill>
          <a:ln w="9525">
            <a:solidFill>
              <a:srgbClr val="1E6B40"/>
            </a:solidFill>
            <a:prstDash val="solid"/>
          </a:ln>
        </p:spPr>
      </p:sp>
      <p:sp>
        <p:nvSpPr>
          <p:cNvPr id="35" name="Shape 33"/>
          <p:cNvSpPr/>
          <p:nvPr/>
        </p:nvSpPr>
        <p:spPr>
          <a:xfrm>
            <a:off x="2761488" y="2550262"/>
            <a:ext cx="146304" cy="119786"/>
          </a:xfrm>
          <a:custGeom>
            <a:avLst/>
            <a:gdLst/>
            <a:ahLst/>
            <a:cxnLst/>
            <a:rect l="l" t="t" r="r" b="b"/>
            <a:pathLst>
              <a:path w="146304" h="119786">
                <a:moveTo>
                  <a:pt x="0" y="0"/>
                </a:moveTo>
                <a:lnTo>
                  <a:pt x="146304" y="0"/>
                </a:lnTo>
                <a:lnTo>
                  <a:pt x="73152" y="119786"/>
                </a:lnTo>
                <a:close/>
              </a:path>
            </a:pathLst>
          </a:custGeom>
          <a:solidFill>
            <a:srgbClr val="FFFFFF"/>
          </a:solidFill>
          <a:ln w="6350">
            <a:solidFill>
              <a:srgbClr val="1E6B40"/>
            </a:solidFill>
            <a:prstDash val="solid"/>
          </a:ln>
        </p:spPr>
      </p:sp>
      <p:sp>
        <p:nvSpPr>
          <p:cNvPr id="36" name="Shape 34"/>
          <p:cNvSpPr/>
          <p:nvPr/>
        </p:nvSpPr>
        <p:spPr>
          <a:xfrm rot="10800000">
            <a:off x="2761488" y="2542032"/>
            <a:ext cx="146304" cy="128016"/>
          </a:xfrm>
          <a:prstGeom prst="triangle">
            <a:avLst/>
          </a:prstGeom>
          <a:solidFill>
            <a:srgbClr val="E08A1E"/>
          </a:solidFill>
          <a:ln w="9525">
            <a:solidFill>
              <a:srgbClr val="9A5A0A"/>
            </a:solidFill>
            <a:prstDash val="solid"/>
          </a:ln>
        </p:spPr>
      </p:sp>
      <p:sp>
        <p:nvSpPr>
          <p:cNvPr id="37" name="Shape 35"/>
          <p:cNvSpPr/>
          <p:nvPr/>
        </p:nvSpPr>
        <p:spPr>
          <a:xfrm>
            <a:off x="3456432" y="2551176"/>
            <a:ext cx="219456" cy="146304"/>
          </a:xfrm>
          <a:prstGeom prst="rect">
            <a:avLst/>
          </a:prstGeom>
          <a:solidFill>
            <a:srgbClr val="2E8B57"/>
          </a:solidFill>
          <a:ln w="9525">
            <a:solidFill>
              <a:srgbClr val="1E6B40"/>
            </a:solidFill>
            <a:prstDash val="solid"/>
          </a:ln>
        </p:spPr>
      </p:sp>
      <p:sp>
        <p:nvSpPr>
          <p:cNvPr id="38" name="Shape 36"/>
          <p:cNvSpPr/>
          <p:nvPr/>
        </p:nvSpPr>
        <p:spPr>
          <a:xfrm>
            <a:off x="3493008" y="2550262"/>
            <a:ext cx="146304" cy="119786"/>
          </a:xfrm>
          <a:custGeom>
            <a:avLst/>
            <a:gdLst/>
            <a:ahLst/>
            <a:cxnLst/>
            <a:rect l="l" t="t" r="r" b="b"/>
            <a:pathLst>
              <a:path w="146304" h="119786">
                <a:moveTo>
                  <a:pt x="0" y="0"/>
                </a:moveTo>
                <a:lnTo>
                  <a:pt x="146304" y="0"/>
                </a:lnTo>
                <a:lnTo>
                  <a:pt x="73152" y="119786"/>
                </a:lnTo>
                <a:close/>
              </a:path>
            </a:pathLst>
          </a:custGeom>
          <a:solidFill>
            <a:srgbClr val="FFFFFF"/>
          </a:solidFill>
          <a:ln w="6350">
            <a:solidFill>
              <a:srgbClr val="1E6B40"/>
            </a:solidFill>
            <a:prstDash val="solid"/>
          </a:ln>
        </p:spPr>
      </p:sp>
      <p:sp>
        <p:nvSpPr>
          <p:cNvPr id="39" name="Text 37"/>
          <p:cNvSpPr/>
          <p:nvPr/>
        </p:nvSpPr>
        <p:spPr>
          <a:xfrm>
            <a:off x="2468880" y="1325880"/>
            <a:ext cx="1600200" cy="256032"/>
          </a:xfrm>
          <a:prstGeom prst="rect">
            <a:avLst/>
          </a:prstGeom>
          <a:noFill/>
          <a:ln/>
        </p:spPr>
        <p:txBody>
          <a:bodyPr wrap="square" lIns="0" tIns="0" rIns="0" bIns="0" rtlCol="0" anchor="ctr"/>
          <a:lstStyle/>
          <a:p>
            <a:pPr algn="ctr" indent="0" marL="0">
              <a:buNone/>
            </a:pPr>
            <a:r>
              <a:rPr lang="en-US" sz="1100" dirty="0">
                <a:solidFill>
                  <a:srgbClr val="2E8B57"/>
                </a:solidFill>
                <a:latin typeface="Calibri" pitchFamily="34" charset="0"/>
                <a:ea typeface="Calibri" pitchFamily="34" charset="-122"/>
                <a:cs typeface="Calibri" pitchFamily="34" charset="-120"/>
              </a:rPr>
              <a:t>3  </a:t>
            </a:r>
            <a:r>
              <a:rPr lang="en-US" sz="1100" b="1" dirty="0">
                <a:solidFill>
                  <a:srgbClr val="2E8B57"/>
                </a:solidFill>
                <a:latin typeface="Calibri" pitchFamily="34" charset="0"/>
                <a:ea typeface="Calibri" pitchFamily="34" charset="-122"/>
                <a:cs typeface="Calibri" pitchFamily="34" charset="-120"/>
              </a:rPr>
              <a:t>Target</a:t>
            </a:r>
            <a:r>
              <a:rPr lang="en-US" sz="1100" dirty="0">
                <a:solidFill>
                  <a:srgbClr val="2E8B57"/>
                </a:solidFill>
                <a:latin typeface="Calibri" pitchFamily="34" charset="0"/>
                <a:ea typeface="Calibri" pitchFamily="34" charset="-122"/>
                <a:cs typeface="Calibri" pitchFamily="34" charset="-120"/>
              </a:rPr>
              <a:t> cell</a:t>
            </a:r>
            <a:endParaRPr lang="en-US" sz="1100" dirty="0"/>
          </a:p>
        </p:txBody>
      </p:sp>
      <p:sp>
        <p:nvSpPr>
          <p:cNvPr id="40" name="Shape 38"/>
          <p:cNvSpPr/>
          <p:nvPr/>
        </p:nvSpPr>
        <p:spPr>
          <a:xfrm flipV="1">
            <a:off x="3566160" y="2743200"/>
            <a:ext cx="91" cy="566928"/>
          </a:xfrm>
          <a:prstGeom prst="line">
            <a:avLst/>
          </a:prstGeom>
          <a:noFill/>
          <a:ln w="19050">
            <a:solidFill>
              <a:srgbClr val="E08A1E"/>
            </a:solidFill>
            <a:prstDash val="solid"/>
            <a:tailEnd type="triangle"/>
          </a:ln>
        </p:spPr>
      </p:sp>
      <p:sp>
        <p:nvSpPr>
          <p:cNvPr id="41" name="Shape 39"/>
          <p:cNvSpPr/>
          <p:nvPr/>
        </p:nvSpPr>
        <p:spPr>
          <a:xfrm>
            <a:off x="4251960" y="1645920"/>
            <a:ext cx="1508760" cy="1051560"/>
          </a:xfrm>
          <a:prstGeom prst="roundRect">
            <a:avLst>
              <a:gd name="adj" fmla="val 8696"/>
            </a:avLst>
          </a:prstGeom>
          <a:solidFill>
            <a:srgbClr val="FBF3DF"/>
          </a:solidFill>
          <a:ln w="19050">
            <a:solidFill>
              <a:srgbClr val="8A6D3B"/>
            </a:solidFill>
            <a:prstDash val="solid"/>
          </a:ln>
        </p:spPr>
      </p:sp>
      <p:sp>
        <p:nvSpPr>
          <p:cNvPr id="42" name="Shape 40"/>
          <p:cNvSpPr/>
          <p:nvPr/>
        </p:nvSpPr>
        <p:spPr>
          <a:xfrm>
            <a:off x="4818888" y="1901952"/>
            <a:ext cx="365760" cy="310896"/>
          </a:xfrm>
          <a:prstGeom prst="ellipse">
            <a:avLst/>
          </a:prstGeom>
          <a:solidFill>
            <a:srgbClr val="C9B6E4"/>
          </a:solidFill>
          <a:ln w="12700">
            <a:solidFill>
              <a:srgbClr val="6A4C93"/>
            </a:solidFill>
            <a:prstDash val="solid"/>
          </a:ln>
        </p:spPr>
      </p:sp>
      <p:sp>
        <p:nvSpPr>
          <p:cNvPr id="43" name="Shape 41"/>
          <p:cNvSpPr/>
          <p:nvPr/>
        </p:nvSpPr>
        <p:spPr>
          <a:xfrm>
            <a:off x="4434840" y="2551176"/>
            <a:ext cx="274320" cy="146304"/>
          </a:xfrm>
          <a:prstGeom prst="rect">
            <a:avLst/>
          </a:prstGeom>
          <a:solidFill>
            <a:srgbClr val="B8C0CD"/>
          </a:solidFill>
          <a:ln w="9525">
            <a:solidFill>
              <a:srgbClr val="6B7385"/>
            </a:solidFill>
            <a:prstDash val="solid"/>
          </a:ln>
        </p:spPr>
      </p:sp>
      <p:sp>
        <p:nvSpPr>
          <p:cNvPr id="44" name="Shape 42"/>
          <p:cNvSpPr/>
          <p:nvPr/>
        </p:nvSpPr>
        <p:spPr>
          <a:xfrm>
            <a:off x="5257800" y="2551176"/>
            <a:ext cx="274320" cy="146304"/>
          </a:xfrm>
          <a:prstGeom prst="rect">
            <a:avLst/>
          </a:prstGeom>
          <a:solidFill>
            <a:srgbClr val="B8C0CD"/>
          </a:solidFill>
          <a:ln w="9525">
            <a:solidFill>
              <a:srgbClr val="6B7385"/>
            </a:solidFill>
            <a:prstDash val="solid"/>
          </a:ln>
        </p:spPr>
      </p:sp>
      <p:sp>
        <p:nvSpPr>
          <p:cNvPr id="45" name="Text 43"/>
          <p:cNvSpPr/>
          <p:nvPr/>
        </p:nvSpPr>
        <p:spPr>
          <a:xfrm>
            <a:off x="4206240" y="1325880"/>
            <a:ext cx="1600200" cy="256032"/>
          </a:xfrm>
          <a:prstGeom prst="rect">
            <a:avLst/>
          </a:prstGeom>
          <a:noFill/>
          <a:ln/>
        </p:spPr>
        <p:txBody>
          <a:bodyPr wrap="square" lIns="0" tIns="0" rIns="0" bIns="0" rtlCol="0" anchor="ctr"/>
          <a:lstStyle/>
          <a:p>
            <a:pPr algn="ctr" indent="0" marL="0">
              <a:buNone/>
            </a:pPr>
            <a:r>
              <a:rPr lang="en-US" sz="1100" dirty="0">
                <a:solidFill>
                  <a:srgbClr val="6B7385"/>
                </a:solidFill>
                <a:latin typeface="Calibri" pitchFamily="34" charset="0"/>
                <a:ea typeface="Calibri" pitchFamily="34" charset="-122"/>
                <a:cs typeface="Calibri" pitchFamily="34" charset="-120"/>
              </a:rPr>
              <a:t>Other cell</a:t>
            </a:r>
            <a:endParaRPr lang="en-US" sz="1100" dirty="0"/>
          </a:p>
        </p:txBody>
      </p:sp>
      <p:sp>
        <p:nvSpPr>
          <p:cNvPr id="46" name="Text 44"/>
          <p:cNvSpPr/>
          <p:nvPr/>
        </p:nvSpPr>
        <p:spPr>
          <a:xfrm>
            <a:off x="2487168" y="2743200"/>
            <a:ext cx="1005840" cy="411480"/>
          </a:xfrm>
          <a:prstGeom prst="rect">
            <a:avLst/>
          </a:prstGeom>
          <a:noFill/>
          <a:ln/>
        </p:spPr>
        <p:txBody>
          <a:bodyPr wrap="square" lIns="0" tIns="0" rIns="0" bIns="0" rtlCol="0" anchor="t"/>
          <a:lstStyle/>
          <a:p>
            <a:pPr algn="l" indent="0" marL="0">
              <a:buNone/>
            </a:pPr>
            <a:r>
              <a:rPr lang="en-US" sz="1000" dirty="0">
                <a:solidFill>
                  <a:srgbClr val="2E8B57"/>
                </a:solidFill>
                <a:latin typeface="Calibri" pitchFamily="34" charset="0"/>
                <a:ea typeface="Calibri" pitchFamily="34" charset="-122"/>
                <a:cs typeface="Calibri" pitchFamily="34" charset="-120"/>
              </a:rPr>
              <a:t>matching receptors: </a:t>
            </a:r>
            <a:r>
              <a:rPr lang="en-US" sz="1000" b="1" dirty="0">
                <a:solidFill>
                  <a:srgbClr val="2E8B57"/>
                </a:solidFill>
                <a:latin typeface="Calibri" pitchFamily="34" charset="0"/>
                <a:ea typeface="Calibri" pitchFamily="34" charset="-122"/>
                <a:cs typeface="Calibri" pitchFamily="34" charset="-120"/>
              </a:rPr>
              <a:t>responds</a:t>
            </a:r>
            <a:endParaRPr lang="en-US" sz="1000" dirty="0"/>
          </a:p>
        </p:txBody>
      </p:sp>
      <p:sp>
        <p:nvSpPr>
          <p:cNvPr id="47" name="Text 45"/>
          <p:cNvSpPr/>
          <p:nvPr/>
        </p:nvSpPr>
        <p:spPr>
          <a:xfrm>
            <a:off x="4206240" y="2743200"/>
            <a:ext cx="1600200" cy="274320"/>
          </a:xfrm>
          <a:prstGeom prst="rect">
            <a:avLst/>
          </a:prstGeom>
          <a:noFill/>
          <a:ln/>
        </p:spPr>
        <p:txBody>
          <a:bodyPr wrap="square" lIns="0" tIns="0" rIns="0" bIns="0" rtlCol="0" anchor="ctr"/>
          <a:lstStyle/>
          <a:p>
            <a:pPr algn="ctr" indent="0" marL="0">
              <a:buNone/>
            </a:pPr>
            <a:r>
              <a:rPr lang="en-US" sz="1000" dirty="0">
                <a:solidFill>
                  <a:srgbClr val="6B7385"/>
                </a:solidFill>
                <a:latin typeface="Calibri" pitchFamily="34" charset="0"/>
                <a:ea typeface="Calibri" pitchFamily="34" charset="-122"/>
                <a:cs typeface="Calibri" pitchFamily="34" charset="-120"/>
              </a:rPr>
              <a:t>no matching receptor: no effect</a:t>
            </a:r>
            <a:endParaRPr lang="en-US" sz="1000" dirty="0"/>
          </a:p>
        </p:txBody>
      </p:sp>
      <p:sp>
        <p:nvSpPr>
          <p:cNvPr id="48" name="Text 46"/>
          <p:cNvSpPr/>
          <p:nvPr/>
        </p:nvSpPr>
        <p:spPr>
          <a:xfrm>
            <a:off x="640080" y="4526280"/>
            <a:ext cx="5120640" cy="457200"/>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4  The hormone </a:t>
            </a:r>
            <a:r>
              <a:rPr lang="en-US" sz="1050" b="1" dirty="0">
                <a:solidFill>
                  <a:srgbClr val="262B3A"/>
                </a:solidFill>
                <a:latin typeface="Calibri" pitchFamily="34" charset="0"/>
                <a:ea typeface="Calibri" pitchFamily="34" charset="-122"/>
                <a:cs typeface="Calibri" pitchFamily="34" charset="-120"/>
              </a:rPr>
              <a:t>binds</a:t>
            </a:r>
            <a:r>
              <a:rPr lang="en-US" sz="1050" dirty="0">
                <a:solidFill>
                  <a:srgbClr val="262B3A"/>
                </a:solidFill>
                <a:latin typeface="Calibri" pitchFamily="34" charset="0"/>
                <a:ea typeface="Calibri" pitchFamily="34" charset="-122"/>
                <a:cs typeface="Calibri" pitchFamily="34" charset="-120"/>
              </a:rPr>
              <a:t> to its receptor and the target organ </a:t>
            </a:r>
            <a:r>
              <a:rPr lang="en-US" sz="1050" b="1" dirty="0">
                <a:solidFill>
                  <a:srgbClr val="262B3A"/>
                </a:solidFill>
                <a:latin typeface="Calibri" pitchFamily="34" charset="0"/>
                <a:ea typeface="Calibri" pitchFamily="34" charset="-122"/>
                <a:cs typeface="Calibri" pitchFamily="34" charset="-120"/>
              </a:rPr>
              <a:t>responds</a:t>
            </a:r>
            <a:r>
              <a:rPr lang="en-US" sz="1050" dirty="0">
                <a:solidFill>
                  <a:srgbClr val="262B3A"/>
                </a:solidFill>
                <a:latin typeface="Calibri" pitchFamily="34" charset="0"/>
                <a:ea typeface="Calibri" pitchFamily="34" charset="-122"/>
                <a:cs typeface="Calibri" pitchFamily="34" charset="-120"/>
              </a:rPr>
              <a:t>. The response lasts as long as the hormone is in the blood.</a:t>
            </a:r>
            <a:endParaRPr lang="en-US" sz="1050" dirty="0"/>
          </a:p>
        </p:txBody>
      </p:sp>
      <p:sp>
        <p:nvSpPr>
          <p:cNvPr id="49" name="Shape 47"/>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50" name="Text 4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What is a hormone?</a:t>
            </a:r>
            <a:endParaRPr lang="en-US" sz="1300" dirty="0"/>
          </a:p>
        </p:txBody>
      </p:sp>
      <p:sp>
        <p:nvSpPr>
          <p:cNvPr id="51" name="Text 49"/>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a:t>
            </a:r>
            <a:r>
              <a:rPr lang="en-US" sz="1100" b="1" dirty="0">
                <a:solidFill>
                  <a:srgbClr val="262B3A"/>
                </a:solidFill>
                <a:latin typeface="Calibri" pitchFamily="34" charset="0"/>
                <a:ea typeface="Calibri" pitchFamily="34" charset="-122"/>
                <a:cs typeface="Calibri" pitchFamily="34" charset="-120"/>
              </a:rPr>
              <a:t>hormone</a:t>
            </a:r>
            <a:r>
              <a:rPr lang="en-US" sz="1100" dirty="0">
                <a:solidFill>
                  <a:srgbClr val="262B3A"/>
                </a:solidFill>
                <a:latin typeface="Calibri" pitchFamily="34" charset="0"/>
                <a:ea typeface="Calibri" pitchFamily="34" charset="-122"/>
                <a:cs typeface="Calibri" pitchFamily="34" charset="-120"/>
              </a:rPr>
              <a:t> is a </a:t>
            </a:r>
            <a:r>
              <a:rPr lang="en-US" sz="1100" b="1" dirty="0">
                <a:solidFill>
                  <a:srgbClr val="262B3A"/>
                </a:solidFill>
                <a:latin typeface="Calibri" pitchFamily="34" charset="0"/>
                <a:ea typeface="Calibri" pitchFamily="34" charset="-122"/>
                <a:cs typeface="Calibri" pitchFamily="34" charset="-120"/>
              </a:rPr>
              <a:t>chemical messenger</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It is made by an </a:t>
            </a:r>
            <a:r>
              <a:rPr lang="en-US" sz="1100" b="1" dirty="0">
                <a:solidFill>
                  <a:srgbClr val="262B3A"/>
                </a:solidFill>
                <a:latin typeface="Calibri" pitchFamily="34" charset="0"/>
                <a:ea typeface="Calibri" pitchFamily="34" charset="-122"/>
                <a:cs typeface="Calibri" pitchFamily="34" charset="-120"/>
              </a:rPr>
              <a:t>endocrine gland</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secreted</a:t>
            </a:r>
            <a:r>
              <a:rPr lang="en-US" sz="1100" dirty="0">
                <a:solidFill>
                  <a:srgbClr val="262B3A"/>
                </a:solidFill>
                <a:latin typeface="Calibri" pitchFamily="34" charset="0"/>
                <a:ea typeface="Calibri" pitchFamily="34" charset="-122"/>
                <a:cs typeface="Calibri" pitchFamily="34" charset="-120"/>
              </a:rPr>
              <a:t> (released) straight into the </a:t>
            </a:r>
            <a:r>
              <a:rPr lang="en-US" sz="1100" b="1" dirty="0">
                <a:solidFill>
                  <a:srgbClr val="262B3A"/>
                </a:solidFill>
                <a:latin typeface="Calibri" pitchFamily="34" charset="0"/>
                <a:ea typeface="Calibri" pitchFamily="34" charset="-122"/>
                <a:cs typeface="Calibri" pitchFamily="34" charset="-120"/>
              </a:rPr>
              <a:t>blood</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blood carries it to every part of the body.</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It only affects </a:t>
            </a:r>
            <a:r>
              <a:rPr lang="en-US" sz="1100" b="1" dirty="0">
                <a:solidFill>
                  <a:srgbClr val="262B3A"/>
                </a:solidFill>
                <a:latin typeface="Calibri" pitchFamily="34" charset="0"/>
                <a:ea typeface="Calibri" pitchFamily="34" charset="-122"/>
                <a:cs typeface="Calibri" pitchFamily="34" charset="-120"/>
              </a:rPr>
              <a:t>target organs</a:t>
            </a:r>
            <a:r>
              <a:rPr lang="en-US" sz="1100" dirty="0">
                <a:solidFill>
                  <a:srgbClr val="262B3A"/>
                </a:solidFill>
                <a:latin typeface="Calibri" pitchFamily="34" charset="0"/>
                <a:ea typeface="Calibri" pitchFamily="34" charset="-122"/>
                <a:cs typeface="Calibri" pitchFamily="34" charset="-120"/>
              </a:rPr>
              <a:t>: their cells have </a:t>
            </a:r>
            <a:r>
              <a:rPr lang="en-US" sz="1100" b="1" dirty="0">
                <a:solidFill>
                  <a:srgbClr val="262B3A"/>
                </a:solidFill>
                <a:latin typeface="Calibri" pitchFamily="34" charset="0"/>
                <a:ea typeface="Calibri" pitchFamily="34" charset="-122"/>
                <a:cs typeface="Calibri" pitchFamily="34" charset="-120"/>
              </a:rPr>
              <a:t>receptors</a:t>
            </a:r>
            <a:r>
              <a:rPr lang="en-US" sz="1100" dirty="0">
                <a:solidFill>
                  <a:srgbClr val="262B3A"/>
                </a:solidFill>
                <a:latin typeface="Calibri" pitchFamily="34" charset="0"/>
                <a:ea typeface="Calibri" pitchFamily="34" charset="-122"/>
                <a:cs typeface="Calibri" pitchFamily="34" charset="-120"/>
              </a:rPr>
              <a:t> that the hormone fits.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a:t>
            </a:r>
            <a:r>
              <a:rPr lang="en-US" sz="1100" b="1" dirty="0">
                <a:solidFill>
                  <a:srgbClr val="262B3A"/>
                </a:solidFill>
                <a:latin typeface="Calibri" pitchFamily="34" charset="0"/>
                <a:ea typeface="Calibri" pitchFamily="34" charset="-122"/>
                <a:cs typeface="Calibri" pitchFamily="34" charset="-120"/>
              </a:rPr>
              <a:t>endocrine system</a:t>
            </a:r>
            <a:r>
              <a:rPr lang="en-US" sz="1100" dirty="0">
                <a:solidFill>
                  <a:srgbClr val="262B3A"/>
                </a:solidFill>
                <a:latin typeface="Calibri" pitchFamily="34" charset="0"/>
                <a:ea typeface="Calibri" pitchFamily="34" charset="-122"/>
                <a:cs typeface="Calibri" pitchFamily="34" charset="-120"/>
              </a:rPr>
              <a:t> is all the glands that make hormones. It works with the </a:t>
            </a:r>
            <a:r>
              <a:rPr lang="en-US" sz="1100" b="1" dirty="0">
                <a:solidFill>
                  <a:srgbClr val="262B3A"/>
                </a:solidFill>
                <a:latin typeface="Calibri" pitchFamily="34" charset="0"/>
                <a:ea typeface="Calibri" pitchFamily="34" charset="-122"/>
                <a:cs typeface="Calibri" pitchFamily="34" charset="-120"/>
              </a:rPr>
              <a:t>nervous system</a:t>
            </a:r>
            <a:r>
              <a:rPr lang="en-US" sz="1100" dirty="0">
                <a:solidFill>
                  <a:srgbClr val="262B3A"/>
                </a:solidFill>
                <a:latin typeface="Calibri" pitchFamily="34" charset="0"/>
                <a:ea typeface="Calibri" pitchFamily="34" charset="-122"/>
                <a:cs typeface="Calibri" pitchFamily="34" charset="-120"/>
              </a:rPr>
              <a:t> to coordinate the body.</a:t>
            </a:r>
            <a:endParaRPr lang="en-US" sz="1100" dirty="0"/>
          </a:p>
        </p:txBody>
      </p:sp>
      <p:sp>
        <p:nvSpPr>
          <p:cNvPr id="52" name="Shape 50"/>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53" name="Text 51"/>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explain</a:t>
            </a:r>
            <a:endParaRPr lang="en-US" sz="1300" dirty="0"/>
          </a:p>
        </p:txBody>
      </p:sp>
      <p:sp>
        <p:nvSpPr>
          <p:cNvPr id="54" name="Text 52"/>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Adrenaline reaches every organ, but it does not affect the bones. Explain why.</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Travel   </a:t>
            </a:r>
            <a:r>
              <a:rPr lang="en-US" sz="1050" dirty="0">
                <a:solidFill>
                  <a:srgbClr val="262B3A"/>
                </a:solidFill>
                <a:latin typeface="Calibri" pitchFamily="34" charset="0"/>
                <a:ea typeface="Calibri" pitchFamily="34" charset="-122"/>
                <a:cs typeface="Calibri" pitchFamily="34" charset="-120"/>
              </a:rPr>
              <a:t>adrenaline is carried to all organs in the blood</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Receptors   </a:t>
            </a:r>
            <a:r>
              <a:rPr lang="en-US" sz="1050" dirty="0">
                <a:solidFill>
                  <a:srgbClr val="262B3A"/>
                </a:solidFill>
                <a:latin typeface="Calibri" pitchFamily="34" charset="0"/>
                <a:ea typeface="Calibri" pitchFamily="34" charset="-122"/>
                <a:cs typeface="Calibri" pitchFamily="34" charset="-120"/>
              </a:rPr>
              <a:t>only target cells have adrenaline receptors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Bone   </a:t>
            </a:r>
            <a:r>
              <a:rPr lang="en-US" sz="1050" dirty="0">
                <a:solidFill>
                  <a:srgbClr val="262B3A"/>
                </a:solidFill>
                <a:latin typeface="Calibri" pitchFamily="34" charset="0"/>
                <a:ea typeface="Calibri" pitchFamily="34" charset="-122"/>
                <a:cs typeface="Calibri" pitchFamily="34" charset="-120"/>
              </a:rPr>
              <a:t>bone cells have no receptors that adrenaline fits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so adrenaline cannot bind and bone does not respond</a:t>
            </a:r>
            <a:endParaRPr lang="en-US" sz="1050" dirty="0"/>
          </a:p>
        </p:txBody>
      </p:sp>
      <p:sp>
        <p:nvSpPr>
          <p:cNvPr id="55" name="Shape 53"/>
          <p:cNvSpPr/>
          <p:nvPr/>
        </p:nvSpPr>
        <p:spPr>
          <a:xfrm>
            <a:off x="411480" y="5833872"/>
            <a:ext cx="11368735" cy="530352"/>
          </a:xfrm>
          <a:prstGeom prst="rect">
            <a:avLst/>
          </a:prstGeom>
          <a:solidFill>
            <a:srgbClr val="FFF4E0"/>
          </a:solidFill>
          <a:ln w="6350">
            <a:solidFill>
              <a:srgbClr val="F1D9A8"/>
            </a:solidFill>
            <a:prstDash val="solid"/>
          </a:ln>
        </p:spPr>
      </p:sp>
      <p:sp>
        <p:nvSpPr>
          <p:cNvPr id="56" name="Shape 54"/>
          <p:cNvSpPr/>
          <p:nvPr/>
        </p:nvSpPr>
        <p:spPr>
          <a:xfrm>
            <a:off x="411480" y="5833872"/>
            <a:ext cx="82296" cy="530352"/>
          </a:xfrm>
          <a:prstGeom prst="rect">
            <a:avLst/>
          </a:prstGeom>
          <a:solidFill>
            <a:srgbClr val="E39A2F"/>
          </a:solidFill>
          <a:ln w="12700">
            <a:solidFill>
              <a:srgbClr val="E39A2F"/>
            </a:solidFill>
            <a:prstDash val="solid"/>
          </a:ln>
        </p:spPr>
      </p:sp>
      <p:sp>
        <p:nvSpPr>
          <p:cNvPr id="57" name="Text 5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hormone is made in a gland in your </a:t>
            </a:r>
            <a:r>
              <a:rPr lang="en-US" sz="1150" b="1" dirty="0">
                <a:solidFill>
                  <a:srgbClr val="262B3A"/>
                </a:solidFill>
                <a:latin typeface="Calibri" pitchFamily="34" charset="0"/>
                <a:ea typeface="Calibri" pitchFamily="34" charset="-122"/>
                <a:cs typeface="Calibri" pitchFamily="34" charset="-120"/>
              </a:rPr>
              <a:t>neck</a:t>
            </a:r>
            <a:r>
              <a:rPr lang="en-US" sz="1150" dirty="0">
                <a:solidFill>
                  <a:srgbClr val="262B3A"/>
                </a:solidFill>
                <a:latin typeface="Calibri" pitchFamily="34" charset="0"/>
                <a:ea typeface="Calibri" pitchFamily="34" charset="-122"/>
                <a:cs typeface="Calibri" pitchFamily="34" charset="-120"/>
              </a:rPr>
              <a:t> and acts on cells in your </a:t>
            </a:r>
            <a:r>
              <a:rPr lang="en-US" sz="1150" b="1" dirty="0">
                <a:solidFill>
                  <a:srgbClr val="262B3A"/>
                </a:solidFill>
                <a:latin typeface="Calibri" pitchFamily="34" charset="0"/>
                <a:ea typeface="Calibri" pitchFamily="34" charset="-122"/>
                <a:cs typeface="Calibri" pitchFamily="34" charset="-120"/>
              </a:rPr>
              <a:t>feet</a:t>
            </a:r>
            <a:r>
              <a:rPr lang="en-US" sz="1150" dirty="0">
                <a:solidFill>
                  <a:srgbClr val="262B3A"/>
                </a:solidFill>
                <a:latin typeface="Calibri" pitchFamily="34" charset="0"/>
                <a:ea typeface="Calibri" pitchFamily="34" charset="-122"/>
                <a:cs typeface="Calibri" pitchFamily="34" charset="-120"/>
              </a:rPr>
              <a:t>. Describe how it gets there.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The endocrine system</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B5.3.1 • where the main glands are, and the hormones they make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B5.3 How do hormones control responses in the human body?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B5.3.1  |  6</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front view; the glands are drawn larger than life</a:t>
            </a:r>
            <a:endParaRPr lang="en-US" sz="1000" dirty="0"/>
          </a:p>
        </p:txBody>
      </p:sp>
      <p:sp>
        <p:nvSpPr>
          <p:cNvPr id="10" name="Shape 8"/>
          <p:cNvSpPr/>
          <p:nvPr/>
        </p:nvSpPr>
        <p:spPr>
          <a:xfrm rot="420000">
            <a:off x="2136038" y="2194560"/>
            <a:ext cx="243230" cy="1607058"/>
          </a:xfrm>
          <a:prstGeom prst="roundRect">
            <a:avLst>
              <a:gd name="adj" fmla="val 45000"/>
            </a:avLst>
          </a:prstGeom>
          <a:solidFill>
            <a:srgbClr val="F6DDC8"/>
          </a:solidFill>
          <a:ln w="31750">
            <a:solidFill>
              <a:srgbClr val="B98E6E"/>
            </a:solidFill>
            <a:prstDash val="solid"/>
          </a:ln>
        </p:spPr>
      </p:sp>
      <p:sp>
        <p:nvSpPr>
          <p:cNvPr id="11" name="Shape 9"/>
          <p:cNvSpPr/>
          <p:nvPr/>
        </p:nvSpPr>
        <p:spPr>
          <a:xfrm rot="-420000">
            <a:off x="3838651" y="2194560"/>
            <a:ext cx="243230" cy="1607058"/>
          </a:xfrm>
          <a:prstGeom prst="roundRect">
            <a:avLst>
              <a:gd name="adj" fmla="val 45000"/>
            </a:avLst>
          </a:prstGeom>
          <a:solidFill>
            <a:srgbClr val="F6DDC8"/>
          </a:solidFill>
          <a:ln w="31750">
            <a:solidFill>
              <a:srgbClr val="B98E6E"/>
            </a:solidFill>
            <a:prstDash val="solid"/>
          </a:ln>
        </p:spPr>
      </p:sp>
      <p:sp>
        <p:nvSpPr>
          <p:cNvPr id="12" name="Shape 10"/>
          <p:cNvSpPr/>
          <p:nvPr/>
        </p:nvSpPr>
        <p:spPr>
          <a:xfrm>
            <a:off x="2553005" y="3584448"/>
            <a:ext cx="469087" cy="1693926"/>
          </a:xfrm>
          <a:prstGeom prst="roundRect">
            <a:avLst>
              <a:gd name="adj" fmla="val 45000"/>
            </a:avLst>
          </a:prstGeom>
          <a:solidFill>
            <a:srgbClr val="F6DDC8"/>
          </a:solidFill>
          <a:ln w="31750">
            <a:solidFill>
              <a:srgbClr val="B98E6E"/>
            </a:solidFill>
            <a:prstDash val="solid"/>
          </a:ln>
        </p:spPr>
      </p:sp>
      <p:sp>
        <p:nvSpPr>
          <p:cNvPr id="13" name="Shape 11"/>
          <p:cNvSpPr/>
          <p:nvPr/>
        </p:nvSpPr>
        <p:spPr>
          <a:xfrm>
            <a:off x="3195828" y="3584448"/>
            <a:ext cx="469087" cy="1693926"/>
          </a:xfrm>
          <a:prstGeom prst="roundRect">
            <a:avLst>
              <a:gd name="adj" fmla="val 45000"/>
            </a:avLst>
          </a:prstGeom>
          <a:solidFill>
            <a:srgbClr val="F6DDC8"/>
          </a:solidFill>
          <a:ln w="31750">
            <a:solidFill>
              <a:srgbClr val="B98E6E"/>
            </a:solidFill>
            <a:prstDash val="solid"/>
          </a:ln>
        </p:spPr>
      </p:sp>
      <p:sp>
        <p:nvSpPr>
          <p:cNvPr id="14" name="Shape 12"/>
          <p:cNvSpPr/>
          <p:nvPr/>
        </p:nvSpPr>
        <p:spPr>
          <a:xfrm>
            <a:off x="2414016" y="2125066"/>
            <a:ext cx="1389888" cy="1737360"/>
          </a:xfrm>
          <a:prstGeom prst="roundRect">
            <a:avLst>
              <a:gd name="adj" fmla="val 45000"/>
            </a:avLst>
          </a:prstGeom>
          <a:solidFill>
            <a:srgbClr val="F6DDC8"/>
          </a:solidFill>
          <a:ln w="31750">
            <a:solidFill>
              <a:srgbClr val="B98E6E"/>
            </a:solidFill>
            <a:prstDash val="solid"/>
          </a:ln>
        </p:spPr>
      </p:sp>
      <p:sp>
        <p:nvSpPr>
          <p:cNvPr id="15" name="Shape 13"/>
          <p:cNvSpPr/>
          <p:nvPr/>
        </p:nvSpPr>
        <p:spPr>
          <a:xfrm>
            <a:off x="2996032" y="1933956"/>
            <a:ext cx="225857" cy="260604"/>
          </a:xfrm>
          <a:prstGeom prst="rect">
            <a:avLst/>
          </a:prstGeom>
          <a:solidFill>
            <a:srgbClr val="F6DDC8"/>
          </a:solidFill>
          <a:ln w="31750">
            <a:solidFill>
              <a:srgbClr val="B98E6E"/>
            </a:solidFill>
            <a:prstDash val="solid"/>
          </a:ln>
        </p:spPr>
      </p:sp>
      <p:sp>
        <p:nvSpPr>
          <p:cNvPr id="16" name="Shape 14"/>
          <p:cNvSpPr/>
          <p:nvPr/>
        </p:nvSpPr>
        <p:spPr>
          <a:xfrm>
            <a:off x="2822296" y="1325880"/>
            <a:ext cx="573329" cy="694944"/>
          </a:xfrm>
          <a:prstGeom prst="ellipse">
            <a:avLst/>
          </a:prstGeom>
          <a:solidFill>
            <a:srgbClr val="F6DDC8"/>
          </a:solidFill>
          <a:ln w="31750">
            <a:solidFill>
              <a:srgbClr val="B98E6E"/>
            </a:solidFill>
            <a:prstDash val="solid"/>
          </a:ln>
        </p:spPr>
      </p:sp>
      <p:sp>
        <p:nvSpPr>
          <p:cNvPr id="17" name="Shape 15"/>
          <p:cNvSpPr/>
          <p:nvPr/>
        </p:nvSpPr>
        <p:spPr>
          <a:xfrm rot="420000">
            <a:off x="2136038" y="2194560"/>
            <a:ext cx="243230" cy="1607058"/>
          </a:xfrm>
          <a:prstGeom prst="roundRect">
            <a:avLst>
              <a:gd name="adj" fmla="val 45000"/>
            </a:avLst>
          </a:prstGeom>
          <a:solidFill>
            <a:srgbClr val="F6DDC8"/>
          </a:solidFill>
          <a:ln/>
        </p:spPr>
      </p:sp>
      <p:sp>
        <p:nvSpPr>
          <p:cNvPr id="18" name="Shape 16"/>
          <p:cNvSpPr/>
          <p:nvPr/>
        </p:nvSpPr>
        <p:spPr>
          <a:xfrm rot="-420000">
            <a:off x="3838651" y="2194560"/>
            <a:ext cx="243230" cy="1607058"/>
          </a:xfrm>
          <a:prstGeom prst="roundRect">
            <a:avLst>
              <a:gd name="adj" fmla="val 45000"/>
            </a:avLst>
          </a:prstGeom>
          <a:solidFill>
            <a:srgbClr val="F6DDC8"/>
          </a:solidFill>
          <a:ln/>
        </p:spPr>
      </p:sp>
      <p:sp>
        <p:nvSpPr>
          <p:cNvPr id="19" name="Shape 17"/>
          <p:cNvSpPr/>
          <p:nvPr/>
        </p:nvSpPr>
        <p:spPr>
          <a:xfrm>
            <a:off x="2553005" y="3584448"/>
            <a:ext cx="469087" cy="1693926"/>
          </a:xfrm>
          <a:prstGeom prst="roundRect">
            <a:avLst>
              <a:gd name="adj" fmla="val 45000"/>
            </a:avLst>
          </a:prstGeom>
          <a:solidFill>
            <a:srgbClr val="F6DDC8"/>
          </a:solidFill>
          <a:ln/>
        </p:spPr>
      </p:sp>
      <p:sp>
        <p:nvSpPr>
          <p:cNvPr id="20" name="Shape 18"/>
          <p:cNvSpPr/>
          <p:nvPr/>
        </p:nvSpPr>
        <p:spPr>
          <a:xfrm>
            <a:off x="3195828" y="3584448"/>
            <a:ext cx="469087" cy="1693926"/>
          </a:xfrm>
          <a:prstGeom prst="roundRect">
            <a:avLst>
              <a:gd name="adj" fmla="val 45000"/>
            </a:avLst>
          </a:prstGeom>
          <a:solidFill>
            <a:srgbClr val="F6DDC8"/>
          </a:solidFill>
          <a:ln/>
        </p:spPr>
      </p:sp>
      <p:sp>
        <p:nvSpPr>
          <p:cNvPr id="21" name="Shape 19"/>
          <p:cNvSpPr/>
          <p:nvPr/>
        </p:nvSpPr>
        <p:spPr>
          <a:xfrm>
            <a:off x="2414016" y="2125066"/>
            <a:ext cx="1389888" cy="1737360"/>
          </a:xfrm>
          <a:prstGeom prst="roundRect">
            <a:avLst>
              <a:gd name="adj" fmla="val 45000"/>
            </a:avLst>
          </a:prstGeom>
          <a:solidFill>
            <a:srgbClr val="F6DDC8"/>
          </a:solidFill>
          <a:ln/>
        </p:spPr>
      </p:sp>
      <p:sp>
        <p:nvSpPr>
          <p:cNvPr id="22" name="Shape 20"/>
          <p:cNvSpPr/>
          <p:nvPr/>
        </p:nvSpPr>
        <p:spPr>
          <a:xfrm>
            <a:off x="2996032" y="1933956"/>
            <a:ext cx="225857" cy="260604"/>
          </a:xfrm>
          <a:prstGeom prst="rect">
            <a:avLst/>
          </a:prstGeom>
          <a:solidFill>
            <a:srgbClr val="F6DDC8"/>
          </a:solidFill>
          <a:ln/>
        </p:spPr>
      </p:sp>
      <p:sp>
        <p:nvSpPr>
          <p:cNvPr id="23" name="Shape 21"/>
          <p:cNvSpPr/>
          <p:nvPr/>
        </p:nvSpPr>
        <p:spPr>
          <a:xfrm>
            <a:off x="2822296" y="1325880"/>
            <a:ext cx="573329" cy="694944"/>
          </a:xfrm>
          <a:prstGeom prst="ellipse">
            <a:avLst/>
          </a:prstGeom>
          <a:solidFill>
            <a:srgbClr val="F6DDC8"/>
          </a:solidFill>
          <a:ln/>
        </p:spPr>
      </p:sp>
      <p:sp>
        <p:nvSpPr>
          <p:cNvPr id="24" name="Shape 22"/>
          <p:cNvSpPr/>
          <p:nvPr/>
        </p:nvSpPr>
        <p:spPr>
          <a:xfrm>
            <a:off x="3108960" y="3888486"/>
            <a:ext cx="91" cy="1346454"/>
          </a:xfrm>
          <a:prstGeom prst="line">
            <a:avLst/>
          </a:prstGeom>
          <a:noFill/>
          <a:ln w="15875">
            <a:solidFill>
              <a:srgbClr val="B98E6E"/>
            </a:solidFill>
            <a:prstDash val="solid"/>
          </a:ln>
        </p:spPr>
      </p:sp>
      <p:sp>
        <p:nvSpPr>
          <p:cNvPr id="25" name="Shape 23"/>
          <p:cNvSpPr/>
          <p:nvPr/>
        </p:nvSpPr>
        <p:spPr>
          <a:xfrm>
            <a:off x="2883103" y="1430122"/>
            <a:ext cx="451714" cy="312725"/>
          </a:xfrm>
          <a:prstGeom prst="ellipse">
            <a:avLst/>
          </a:prstGeom>
          <a:solidFill>
            <a:srgbClr val="F4C7D0"/>
          </a:solidFill>
          <a:ln w="9525">
            <a:solidFill>
              <a:srgbClr val="C98393"/>
            </a:solidFill>
            <a:prstDash val="solid"/>
          </a:ln>
        </p:spPr>
      </p:sp>
      <p:sp>
        <p:nvSpPr>
          <p:cNvPr id="26" name="Shape 24"/>
          <p:cNvSpPr/>
          <p:nvPr/>
        </p:nvSpPr>
        <p:spPr>
          <a:xfrm>
            <a:off x="3061183" y="1738503"/>
            <a:ext cx="95555" cy="95555"/>
          </a:xfrm>
          <a:prstGeom prst="ellipse">
            <a:avLst/>
          </a:prstGeom>
          <a:solidFill>
            <a:srgbClr val="C8414C"/>
          </a:solidFill>
          <a:ln w="12700">
            <a:solidFill>
              <a:srgbClr val="8E2A33"/>
            </a:solidFill>
            <a:prstDash val="solid"/>
          </a:ln>
        </p:spPr>
      </p:sp>
      <p:sp>
        <p:nvSpPr>
          <p:cNvPr id="27" name="Shape 25"/>
          <p:cNvSpPr/>
          <p:nvPr/>
        </p:nvSpPr>
        <p:spPr>
          <a:xfrm>
            <a:off x="3000375" y="1999107"/>
            <a:ext cx="95555" cy="147676"/>
          </a:xfrm>
          <a:prstGeom prst="ellipse">
            <a:avLst/>
          </a:prstGeom>
          <a:solidFill>
            <a:srgbClr val="8E44AD"/>
          </a:solidFill>
          <a:ln w="12700">
            <a:solidFill>
              <a:srgbClr val="5E2D73"/>
            </a:solidFill>
            <a:prstDash val="solid"/>
          </a:ln>
        </p:spPr>
      </p:sp>
      <p:sp>
        <p:nvSpPr>
          <p:cNvPr id="28" name="Shape 26"/>
          <p:cNvSpPr/>
          <p:nvPr/>
        </p:nvSpPr>
        <p:spPr>
          <a:xfrm>
            <a:off x="3121990" y="1999107"/>
            <a:ext cx="95555" cy="147676"/>
          </a:xfrm>
          <a:prstGeom prst="ellipse">
            <a:avLst/>
          </a:prstGeom>
          <a:solidFill>
            <a:srgbClr val="8E44AD"/>
          </a:solidFill>
          <a:ln w="12700">
            <a:solidFill>
              <a:srgbClr val="5E2D73"/>
            </a:solidFill>
            <a:prstDash val="solid"/>
          </a:ln>
        </p:spPr>
      </p:sp>
      <p:sp>
        <p:nvSpPr>
          <p:cNvPr id="29" name="Shape 27"/>
          <p:cNvSpPr/>
          <p:nvPr/>
        </p:nvSpPr>
        <p:spPr>
          <a:xfrm>
            <a:off x="3065526" y="2055571"/>
            <a:ext cx="86868" cy="43434"/>
          </a:xfrm>
          <a:prstGeom prst="rect">
            <a:avLst/>
          </a:prstGeom>
          <a:solidFill>
            <a:srgbClr val="8E44AD"/>
          </a:solidFill>
          <a:ln/>
        </p:spPr>
      </p:sp>
      <p:sp>
        <p:nvSpPr>
          <p:cNvPr id="30" name="Shape 28"/>
          <p:cNvSpPr/>
          <p:nvPr/>
        </p:nvSpPr>
        <p:spPr>
          <a:xfrm>
            <a:off x="2735428" y="3028493"/>
            <a:ext cx="173736" cy="277978"/>
          </a:xfrm>
          <a:prstGeom prst="ellipse">
            <a:avLst/>
          </a:prstGeom>
          <a:solidFill>
            <a:srgbClr val="E3C3BE"/>
          </a:solidFill>
          <a:ln w="9525">
            <a:solidFill>
              <a:srgbClr val="B08A84"/>
            </a:solidFill>
            <a:prstDash val="solid"/>
          </a:ln>
        </p:spPr>
      </p:sp>
      <p:sp>
        <p:nvSpPr>
          <p:cNvPr id="31" name="Shape 29"/>
          <p:cNvSpPr/>
          <p:nvPr/>
        </p:nvSpPr>
        <p:spPr>
          <a:xfrm>
            <a:off x="2735428" y="2906878"/>
            <a:ext cx="173736" cy="130302"/>
          </a:xfrm>
          <a:custGeom>
            <a:avLst/>
            <a:gdLst/>
            <a:ahLst/>
            <a:cxnLst/>
            <a:rect l="l" t="t" r="r" b="b"/>
            <a:pathLst>
              <a:path w="173736" h="130302">
                <a:moveTo>
                  <a:pt x="0" y="130302"/>
                </a:moveTo>
                <a:lnTo>
                  <a:pt x="173736" y="130302"/>
                </a:lnTo>
                <a:lnTo>
                  <a:pt x="86868" y="0"/>
                </a:lnTo>
                <a:close/>
              </a:path>
            </a:pathLst>
          </a:custGeom>
          <a:solidFill>
            <a:srgbClr val="E08A1E"/>
          </a:solidFill>
          <a:ln w="12700">
            <a:solidFill>
              <a:srgbClr val="9A5A0A"/>
            </a:solidFill>
            <a:prstDash val="solid"/>
          </a:ln>
        </p:spPr>
      </p:sp>
      <p:sp>
        <p:nvSpPr>
          <p:cNvPr id="32" name="Shape 30"/>
          <p:cNvSpPr/>
          <p:nvPr/>
        </p:nvSpPr>
        <p:spPr>
          <a:xfrm>
            <a:off x="3308756" y="3028493"/>
            <a:ext cx="173736" cy="277978"/>
          </a:xfrm>
          <a:prstGeom prst="ellipse">
            <a:avLst/>
          </a:prstGeom>
          <a:solidFill>
            <a:srgbClr val="E3C3BE"/>
          </a:solidFill>
          <a:ln w="9525">
            <a:solidFill>
              <a:srgbClr val="B08A84"/>
            </a:solidFill>
            <a:prstDash val="solid"/>
          </a:ln>
        </p:spPr>
      </p:sp>
      <p:sp>
        <p:nvSpPr>
          <p:cNvPr id="33" name="Shape 31"/>
          <p:cNvSpPr/>
          <p:nvPr/>
        </p:nvSpPr>
        <p:spPr>
          <a:xfrm>
            <a:off x="3308756" y="2906878"/>
            <a:ext cx="173736" cy="130302"/>
          </a:xfrm>
          <a:custGeom>
            <a:avLst/>
            <a:gdLst/>
            <a:ahLst/>
            <a:cxnLst/>
            <a:rect l="l" t="t" r="r" b="b"/>
            <a:pathLst>
              <a:path w="173736" h="130302">
                <a:moveTo>
                  <a:pt x="0" y="130302"/>
                </a:moveTo>
                <a:lnTo>
                  <a:pt x="173736" y="130302"/>
                </a:lnTo>
                <a:lnTo>
                  <a:pt x="86868" y="0"/>
                </a:lnTo>
                <a:close/>
              </a:path>
            </a:pathLst>
          </a:custGeom>
          <a:solidFill>
            <a:srgbClr val="E08A1E"/>
          </a:solidFill>
          <a:ln w="12700">
            <a:solidFill>
              <a:srgbClr val="9A5A0A"/>
            </a:solidFill>
            <a:prstDash val="solid"/>
          </a:ln>
        </p:spPr>
      </p:sp>
      <p:sp>
        <p:nvSpPr>
          <p:cNvPr id="34" name="Shape 32"/>
          <p:cNvSpPr/>
          <p:nvPr/>
        </p:nvSpPr>
        <p:spPr>
          <a:xfrm rot="-600000">
            <a:off x="2926537" y="2702738"/>
            <a:ext cx="625450" cy="130302"/>
          </a:xfrm>
          <a:prstGeom prst="ellipse">
            <a:avLst/>
          </a:prstGeom>
          <a:solidFill>
            <a:srgbClr val="D4A017"/>
          </a:solidFill>
          <a:ln w="12700">
            <a:solidFill>
              <a:srgbClr val="8A6A0A"/>
            </a:solidFill>
            <a:prstDash val="solid"/>
          </a:ln>
        </p:spPr>
      </p:sp>
      <p:sp>
        <p:nvSpPr>
          <p:cNvPr id="35" name="Shape 33"/>
          <p:cNvSpPr/>
          <p:nvPr/>
        </p:nvSpPr>
        <p:spPr>
          <a:xfrm>
            <a:off x="2996032" y="3497580"/>
            <a:ext cx="225857" cy="243230"/>
          </a:xfrm>
          <a:custGeom>
            <a:avLst/>
            <a:gdLst/>
            <a:ahLst/>
            <a:cxnLst/>
            <a:rect l="l" t="t" r="r" b="b"/>
            <a:pathLst>
              <a:path w="225857" h="243230">
                <a:moveTo>
                  <a:pt x="0" y="0"/>
                </a:moveTo>
                <a:lnTo>
                  <a:pt x="225857" y="0"/>
                </a:lnTo>
                <a:lnTo>
                  <a:pt x="112928" y="243230"/>
                </a:lnTo>
                <a:close/>
              </a:path>
            </a:pathLst>
          </a:custGeom>
          <a:solidFill>
            <a:srgbClr val="F2B8C6"/>
          </a:solidFill>
          <a:ln w="9525">
            <a:solidFill>
              <a:srgbClr val="B5546E"/>
            </a:solidFill>
            <a:prstDash val="solid"/>
          </a:ln>
        </p:spPr>
      </p:sp>
      <p:sp>
        <p:nvSpPr>
          <p:cNvPr id="36" name="Shape 34"/>
          <p:cNvSpPr/>
          <p:nvPr/>
        </p:nvSpPr>
        <p:spPr>
          <a:xfrm flipH="1">
            <a:off x="2857043" y="3514954"/>
            <a:ext cx="147676" cy="34747"/>
          </a:xfrm>
          <a:prstGeom prst="line">
            <a:avLst/>
          </a:prstGeom>
          <a:noFill/>
          <a:ln w="12700">
            <a:solidFill>
              <a:srgbClr val="B5546E"/>
            </a:solidFill>
            <a:prstDash val="solid"/>
          </a:ln>
        </p:spPr>
      </p:sp>
      <p:sp>
        <p:nvSpPr>
          <p:cNvPr id="37" name="Shape 35"/>
          <p:cNvSpPr/>
          <p:nvPr/>
        </p:nvSpPr>
        <p:spPr>
          <a:xfrm>
            <a:off x="2757145" y="3541014"/>
            <a:ext cx="130302" cy="86868"/>
          </a:xfrm>
          <a:prstGeom prst="ellipse">
            <a:avLst/>
          </a:prstGeom>
          <a:solidFill>
            <a:srgbClr val="D45F9E"/>
          </a:solidFill>
          <a:ln w="12700">
            <a:solidFill>
              <a:srgbClr val="8E3466"/>
            </a:solidFill>
            <a:prstDash val="solid"/>
          </a:ln>
        </p:spPr>
      </p:sp>
      <p:sp>
        <p:nvSpPr>
          <p:cNvPr id="38" name="Shape 36"/>
          <p:cNvSpPr/>
          <p:nvPr/>
        </p:nvSpPr>
        <p:spPr>
          <a:xfrm>
            <a:off x="3213202" y="3514954"/>
            <a:ext cx="147676" cy="34747"/>
          </a:xfrm>
          <a:prstGeom prst="line">
            <a:avLst/>
          </a:prstGeom>
          <a:noFill/>
          <a:ln w="12700">
            <a:solidFill>
              <a:srgbClr val="B5546E"/>
            </a:solidFill>
            <a:prstDash val="solid"/>
          </a:ln>
        </p:spPr>
      </p:sp>
      <p:sp>
        <p:nvSpPr>
          <p:cNvPr id="39" name="Shape 37"/>
          <p:cNvSpPr/>
          <p:nvPr/>
        </p:nvSpPr>
        <p:spPr>
          <a:xfrm>
            <a:off x="3330473" y="3541014"/>
            <a:ext cx="130302" cy="86868"/>
          </a:xfrm>
          <a:prstGeom prst="ellipse">
            <a:avLst/>
          </a:prstGeom>
          <a:solidFill>
            <a:srgbClr val="D45F9E"/>
          </a:solidFill>
          <a:ln w="12700">
            <a:solidFill>
              <a:srgbClr val="8E3466"/>
            </a:solidFill>
            <a:prstDash val="solid"/>
          </a:ln>
        </p:spPr>
      </p:sp>
      <p:sp>
        <p:nvSpPr>
          <p:cNvPr id="40" name="Text 38"/>
          <p:cNvSpPr/>
          <p:nvPr/>
        </p:nvSpPr>
        <p:spPr>
          <a:xfrm>
            <a:off x="4224528" y="1463040"/>
            <a:ext cx="1645920" cy="274320"/>
          </a:xfrm>
          <a:prstGeom prst="rect">
            <a:avLst/>
          </a:prstGeom>
          <a:noFill/>
          <a:ln/>
        </p:spPr>
        <p:txBody>
          <a:bodyPr wrap="square" lIns="0" tIns="0" rIns="0" bIns="0" rtlCol="0" anchor="ctr"/>
          <a:lstStyle/>
          <a:p>
            <a:pPr algn="l" indent="0" marL="0">
              <a:buNone/>
            </a:pPr>
            <a:r>
              <a:rPr lang="en-US" sz="1100" b="1" dirty="0">
                <a:solidFill>
                  <a:srgbClr val="8E2A33"/>
                </a:solidFill>
                <a:latin typeface="Calibri" pitchFamily="34" charset="0"/>
                <a:ea typeface="Calibri" pitchFamily="34" charset="-122"/>
                <a:cs typeface="Calibri" pitchFamily="34" charset="-120"/>
              </a:rPr>
              <a:t>Pituitary gland</a:t>
            </a:r>
            <a:endParaRPr lang="en-US" sz="1100" dirty="0"/>
          </a:p>
        </p:txBody>
      </p:sp>
      <p:sp>
        <p:nvSpPr>
          <p:cNvPr id="41" name="Shape 39"/>
          <p:cNvSpPr/>
          <p:nvPr/>
        </p:nvSpPr>
        <p:spPr>
          <a:xfrm flipH="1">
            <a:off x="3163824" y="1600200"/>
            <a:ext cx="1024128" cy="186080"/>
          </a:xfrm>
          <a:prstGeom prst="line">
            <a:avLst/>
          </a:prstGeom>
          <a:noFill/>
          <a:ln w="12700">
            <a:solidFill>
              <a:srgbClr val="8E2A33"/>
            </a:solidFill>
            <a:prstDash val="solid"/>
          </a:ln>
        </p:spPr>
      </p:sp>
      <p:sp>
        <p:nvSpPr>
          <p:cNvPr id="42" name="Shape 40"/>
          <p:cNvSpPr/>
          <p:nvPr/>
        </p:nvSpPr>
        <p:spPr>
          <a:xfrm>
            <a:off x="3136392" y="1758848"/>
            <a:ext cx="54864" cy="54864"/>
          </a:xfrm>
          <a:prstGeom prst="ellipse">
            <a:avLst/>
          </a:prstGeom>
          <a:solidFill>
            <a:srgbClr val="8E2A33"/>
          </a:solidFill>
          <a:ln w="9525">
            <a:solidFill>
              <a:srgbClr val="8E2A33"/>
            </a:solidFill>
            <a:prstDash val="solid"/>
          </a:ln>
        </p:spPr>
      </p:sp>
      <p:sp>
        <p:nvSpPr>
          <p:cNvPr id="43" name="Text 41"/>
          <p:cNvSpPr/>
          <p:nvPr/>
        </p:nvSpPr>
        <p:spPr>
          <a:xfrm>
            <a:off x="502920" y="1947672"/>
            <a:ext cx="1371600" cy="274320"/>
          </a:xfrm>
          <a:prstGeom prst="rect">
            <a:avLst/>
          </a:prstGeom>
          <a:noFill/>
          <a:ln/>
        </p:spPr>
        <p:txBody>
          <a:bodyPr wrap="square" lIns="0" tIns="0" rIns="0" bIns="0" rtlCol="0" anchor="ctr"/>
          <a:lstStyle/>
          <a:p>
            <a:pPr algn="r" indent="0" marL="0">
              <a:buNone/>
            </a:pPr>
            <a:r>
              <a:rPr lang="en-US" sz="1100" b="1" dirty="0">
                <a:solidFill>
                  <a:srgbClr val="5E2D73"/>
                </a:solidFill>
                <a:latin typeface="Calibri" pitchFamily="34" charset="0"/>
                <a:ea typeface="Calibri" pitchFamily="34" charset="-122"/>
                <a:cs typeface="Calibri" pitchFamily="34" charset="-120"/>
              </a:rPr>
              <a:t>Thyroid gland</a:t>
            </a:r>
            <a:endParaRPr lang="en-US" sz="1100" dirty="0"/>
          </a:p>
        </p:txBody>
      </p:sp>
      <p:sp>
        <p:nvSpPr>
          <p:cNvPr id="44" name="Shape 42"/>
          <p:cNvSpPr/>
          <p:nvPr/>
        </p:nvSpPr>
        <p:spPr>
          <a:xfrm flipV="1">
            <a:off x="1911096" y="2072945"/>
            <a:ext cx="1078992" cy="11887"/>
          </a:xfrm>
          <a:prstGeom prst="line">
            <a:avLst/>
          </a:prstGeom>
          <a:noFill/>
          <a:ln w="12700">
            <a:solidFill>
              <a:srgbClr val="5E2D73"/>
            </a:solidFill>
            <a:prstDash val="solid"/>
          </a:ln>
        </p:spPr>
      </p:sp>
      <p:sp>
        <p:nvSpPr>
          <p:cNvPr id="45" name="Shape 43"/>
          <p:cNvSpPr/>
          <p:nvPr/>
        </p:nvSpPr>
        <p:spPr>
          <a:xfrm>
            <a:off x="2962656" y="2045513"/>
            <a:ext cx="54864" cy="54864"/>
          </a:xfrm>
          <a:prstGeom prst="ellipse">
            <a:avLst/>
          </a:prstGeom>
          <a:solidFill>
            <a:srgbClr val="5E2D73"/>
          </a:solidFill>
          <a:ln w="9525">
            <a:solidFill>
              <a:srgbClr val="5E2D73"/>
            </a:solidFill>
            <a:prstDash val="solid"/>
          </a:ln>
        </p:spPr>
      </p:sp>
      <p:sp>
        <p:nvSpPr>
          <p:cNvPr id="46" name="Text 44"/>
          <p:cNvSpPr/>
          <p:nvPr/>
        </p:nvSpPr>
        <p:spPr>
          <a:xfrm>
            <a:off x="502920" y="2651760"/>
            <a:ext cx="1371600" cy="274320"/>
          </a:xfrm>
          <a:prstGeom prst="rect">
            <a:avLst/>
          </a:prstGeom>
          <a:noFill/>
          <a:ln/>
        </p:spPr>
        <p:txBody>
          <a:bodyPr wrap="square" lIns="0" tIns="0" rIns="0" bIns="0" rtlCol="0" anchor="ctr"/>
          <a:lstStyle/>
          <a:p>
            <a:pPr algn="r" indent="0" marL="0">
              <a:buNone/>
            </a:pPr>
            <a:r>
              <a:rPr lang="en-US" sz="1100" b="1" dirty="0">
                <a:solidFill>
                  <a:srgbClr val="9A5A0A"/>
                </a:solidFill>
                <a:latin typeface="Calibri" pitchFamily="34" charset="0"/>
                <a:ea typeface="Calibri" pitchFamily="34" charset="-122"/>
                <a:cs typeface="Calibri" pitchFamily="34" charset="-120"/>
              </a:rPr>
              <a:t>Adrenal glands</a:t>
            </a:r>
            <a:endParaRPr lang="en-US" sz="1100" dirty="0"/>
          </a:p>
        </p:txBody>
      </p:sp>
      <p:sp>
        <p:nvSpPr>
          <p:cNvPr id="47" name="Shape 45"/>
          <p:cNvSpPr/>
          <p:nvPr/>
        </p:nvSpPr>
        <p:spPr>
          <a:xfrm>
            <a:off x="1911096" y="2788920"/>
            <a:ext cx="865480" cy="196139"/>
          </a:xfrm>
          <a:prstGeom prst="line">
            <a:avLst/>
          </a:prstGeom>
          <a:noFill/>
          <a:ln w="12700">
            <a:solidFill>
              <a:srgbClr val="9A5A0A"/>
            </a:solidFill>
            <a:prstDash val="solid"/>
          </a:ln>
        </p:spPr>
      </p:sp>
      <p:sp>
        <p:nvSpPr>
          <p:cNvPr id="48" name="Shape 46"/>
          <p:cNvSpPr/>
          <p:nvPr/>
        </p:nvSpPr>
        <p:spPr>
          <a:xfrm>
            <a:off x="2749144" y="2957627"/>
            <a:ext cx="54864" cy="54864"/>
          </a:xfrm>
          <a:prstGeom prst="ellipse">
            <a:avLst/>
          </a:prstGeom>
          <a:solidFill>
            <a:srgbClr val="9A5A0A"/>
          </a:solidFill>
          <a:ln w="9525">
            <a:solidFill>
              <a:srgbClr val="9A5A0A"/>
            </a:solidFill>
            <a:prstDash val="solid"/>
          </a:ln>
        </p:spPr>
      </p:sp>
      <p:sp>
        <p:nvSpPr>
          <p:cNvPr id="49" name="Shape 47"/>
          <p:cNvSpPr/>
          <p:nvPr/>
        </p:nvSpPr>
        <p:spPr>
          <a:xfrm>
            <a:off x="1911096" y="2788920"/>
            <a:ext cx="1484528" cy="214427"/>
          </a:xfrm>
          <a:prstGeom prst="line">
            <a:avLst/>
          </a:prstGeom>
          <a:noFill/>
          <a:ln w="9525">
            <a:solidFill>
              <a:srgbClr val="9A5A0A"/>
            </a:solidFill>
            <a:prstDash val="dash"/>
          </a:ln>
        </p:spPr>
      </p:sp>
      <p:sp>
        <p:nvSpPr>
          <p:cNvPr id="50" name="Text 48"/>
          <p:cNvSpPr/>
          <p:nvPr/>
        </p:nvSpPr>
        <p:spPr>
          <a:xfrm>
            <a:off x="4224528" y="2514600"/>
            <a:ext cx="1645920" cy="274320"/>
          </a:xfrm>
          <a:prstGeom prst="rect">
            <a:avLst/>
          </a:prstGeom>
          <a:noFill/>
          <a:ln/>
        </p:spPr>
        <p:txBody>
          <a:bodyPr wrap="square" lIns="0" tIns="0" rIns="0" bIns="0" rtlCol="0" anchor="ctr"/>
          <a:lstStyle/>
          <a:p>
            <a:pPr algn="l" indent="0" marL="0">
              <a:buNone/>
            </a:pPr>
            <a:r>
              <a:rPr lang="en-US" sz="1100" b="1" dirty="0">
                <a:solidFill>
                  <a:srgbClr val="8A6A0A"/>
                </a:solidFill>
                <a:latin typeface="Calibri" pitchFamily="34" charset="0"/>
                <a:ea typeface="Calibri" pitchFamily="34" charset="-122"/>
                <a:cs typeface="Calibri" pitchFamily="34" charset="-120"/>
              </a:rPr>
              <a:t>Pancreas</a:t>
            </a:r>
            <a:endParaRPr lang="en-US" sz="1100" dirty="0"/>
          </a:p>
        </p:txBody>
      </p:sp>
      <p:sp>
        <p:nvSpPr>
          <p:cNvPr id="51" name="Shape 49"/>
          <p:cNvSpPr/>
          <p:nvPr/>
        </p:nvSpPr>
        <p:spPr>
          <a:xfrm flipH="1">
            <a:off x="3513582" y="2651760"/>
            <a:ext cx="674370" cy="70409"/>
          </a:xfrm>
          <a:prstGeom prst="line">
            <a:avLst/>
          </a:prstGeom>
          <a:noFill/>
          <a:ln w="12700">
            <a:solidFill>
              <a:srgbClr val="8A6A0A"/>
            </a:solidFill>
            <a:prstDash val="solid"/>
          </a:ln>
        </p:spPr>
      </p:sp>
      <p:sp>
        <p:nvSpPr>
          <p:cNvPr id="52" name="Shape 50"/>
          <p:cNvSpPr/>
          <p:nvPr/>
        </p:nvSpPr>
        <p:spPr>
          <a:xfrm>
            <a:off x="3486150" y="2694737"/>
            <a:ext cx="54864" cy="54864"/>
          </a:xfrm>
          <a:prstGeom prst="ellipse">
            <a:avLst/>
          </a:prstGeom>
          <a:solidFill>
            <a:srgbClr val="8A6A0A"/>
          </a:solidFill>
          <a:ln w="9525">
            <a:solidFill>
              <a:srgbClr val="8A6A0A"/>
            </a:solidFill>
            <a:prstDash val="solid"/>
          </a:ln>
        </p:spPr>
      </p:sp>
      <p:sp>
        <p:nvSpPr>
          <p:cNvPr id="53" name="Text 51"/>
          <p:cNvSpPr/>
          <p:nvPr/>
        </p:nvSpPr>
        <p:spPr>
          <a:xfrm>
            <a:off x="502920" y="3447288"/>
            <a:ext cx="1371600" cy="274320"/>
          </a:xfrm>
          <a:prstGeom prst="rect">
            <a:avLst/>
          </a:prstGeom>
          <a:noFill/>
          <a:ln/>
        </p:spPr>
        <p:txBody>
          <a:bodyPr wrap="square" lIns="0" tIns="0" rIns="0" bIns="0" rtlCol="0" anchor="ctr"/>
          <a:lstStyle/>
          <a:p>
            <a:pPr algn="r" indent="0" marL="0">
              <a:buNone/>
            </a:pPr>
            <a:r>
              <a:rPr lang="en-US" sz="1100" b="1" dirty="0">
                <a:solidFill>
                  <a:srgbClr val="8E3466"/>
                </a:solidFill>
                <a:latin typeface="Calibri" pitchFamily="34" charset="0"/>
                <a:ea typeface="Calibri" pitchFamily="34" charset="-122"/>
                <a:cs typeface="Calibri" pitchFamily="34" charset="-120"/>
              </a:rPr>
              <a:t>Ovaries (female)</a:t>
            </a:r>
            <a:endParaRPr lang="en-US" sz="1100" dirty="0"/>
          </a:p>
        </p:txBody>
      </p:sp>
      <p:sp>
        <p:nvSpPr>
          <p:cNvPr id="54" name="Shape 52"/>
          <p:cNvSpPr/>
          <p:nvPr/>
        </p:nvSpPr>
        <p:spPr>
          <a:xfrm>
            <a:off x="1911096" y="3584448"/>
            <a:ext cx="838048" cy="91"/>
          </a:xfrm>
          <a:prstGeom prst="line">
            <a:avLst/>
          </a:prstGeom>
          <a:noFill/>
          <a:ln w="12700">
            <a:solidFill>
              <a:srgbClr val="8E3466"/>
            </a:solidFill>
            <a:prstDash val="solid"/>
          </a:ln>
        </p:spPr>
      </p:sp>
      <p:sp>
        <p:nvSpPr>
          <p:cNvPr id="55" name="Shape 53"/>
          <p:cNvSpPr/>
          <p:nvPr/>
        </p:nvSpPr>
        <p:spPr>
          <a:xfrm>
            <a:off x="2721712" y="3557016"/>
            <a:ext cx="54864" cy="54864"/>
          </a:xfrm>
          <a:prstGeom prst="ellipse">
            <a:avLst/>
          </a:prstGeom>
          <a:solidFill>
            <a:srgbClr val="8E3466"/>
          </a:solidFill>
          <a:ln w="9525">
            <a:solidFill>
              <a:srgbClr val="8E3466"/>
            </a:solidFill>
            <a:prstDash val="solid"/>
          </a:ln>
        </p:spPr>
      </p:sp>
      <p:sp>
        <p:nvSpPr>
          <p:cNvPr id="56" name="Shape 54"/>
          <p:cNvSpPr/>
          <p:nvPr/>
        </p:nvSpPr>
        <p:spPr>
          <a:xfrm>
            <a:off x="1911096" y="3584448"/>
            <a:ext cx="1484528" cy="18288"/>
          </a:xfrm>
          <a:prstGeom prst="line">
            <a:avLst/>
          </a:prstGeom>
          <a:noFill/>
          <a:ln w="9525">
            <a:solidFill>
              <a:srgbClr val="8E3466"/>
            </a:solidFill>
            <a:prstDash val="dash"/>
          </a:ln>
        </p:spPr>
      </p:sp>
      <p:sp>
        <p:nvSpPr>
          <p:cNvPr id="57" name="Text 55"/>
          <p:cNvSpPr/>
          <p:nvPr/>
        </p:nvSpPr>
        <p:spPr>
          <a:xfrm>
            <a:off x="4224528" y="3017520"/>
            <a:ext cx="1645920" cy="384048"/>
          </a:xfrm>
          <a:prstGeom prst="rect">
            <a:avLst/>
          </a:prstGeom>
          <a:noFill/>
          <a:ln/>
        </p:spPr>
        <p:txBody>
          <a:bodyPr wrap="square" lIns="0" tIns="0" rIns="0" bIns="0" rtlCol="0" anchor="t"/>
          <a:lstStyle/>
          <a:p>
            <a:pPr algn="l" indent="0" marL="0">
              <a:buNone/>
            </a:pPr>
            <a:r>
              <a:rPr lang="en-US" sz="1000" i="1" dirty="0">
                <a:solidFill>
                  <a:srgbClr val="6B7385"/>
                </a:solidFill>
                <a:latin typeface="Calibri" pitchFamily="34" charset="0"/>
                <a:ea typeface="Calibri" pitchFamily="34" charset="-122"/>
                <a:cs typeface="Calibri" pitchFamily="34" charset="-120"/>
              </a:rPr>
              <a:t>kidneys (not glands) under the adrenals</a:t>
            </a:r>
            <a:endParaRPr lang="en-US" sz="1000" dirty="0"/>
          </a:p>
        </p:txBody>
      </p:sp>
      <p:sp>
        <p:nvSpPr>
          <p:cNvPr id="58" name="Shape 56"/>
          <p:cNvSpPr/>
          <p:nvPr/>
        </p:nvSpPr>
        <p:spPr>
          <a:xfrm flipH="1">
            <a:off x="3487064" y="3108960"/>
            <a:ext cx="719176" cy="58522"/>
          </a:xfrm>
          <a:prstGeom prst="line">
            <a:avLst/>
          </a:prstGeom>
          <a:noFill/>
          <a:ln w="9525">
            <a:solidFill>
              <a:srgbClr val="6B7385"/>
            </a:solidFill>
            <a:prstDash val="solid"/>
          </a:ln>
        </p:spPr>
      </p:sp>
      <p:sp>
        <p:nvSpPr>
          <p:cNvPr id="59" name="Shape 57"/>
          <p:cNvSpPr/>
          <p:nvPr/>
        </p:nvSpPr>
        <p:spPr>
          <a:xfrm>
            <a:off x="4160520" y="3840480"/>
            <a:ext cx="1691640" cy="1463040"/>
          </a:xfrm>
          <a:prstGeom prst="roundRect">
            <a:avLst>
              <a:gd name="adj" fmla="val 3125"/>
            </a:avLst>
          </a:prstGeom>
          <a:solidFill>
            <a:srgbClr val="FFFFFF"/>
          </a:solidFill>
          <a:ln w="12700">
            <a:solidFill>
              <a:srgbClr val="CFE0DE"/>
            </a:solidFill>
            <a:prstDash val="solid"/>
          </a:ln>
        </p:spPr>
      </p:sp>
      <p:sp>
        <p:nvSpPr>
          <p:cNvPr id="60" name="Text 58"/>
          <p:cNvSpPr/>
          <p:nvPr/>
        </p:nvSpPr>
        <p:spPr>
          <a:xfrm>
            <a:off x="4206240" y="3877056"/>
            <a:ext cx="1600200" cy="256032"/>
          </a:xfrm>
          <a:prstGeom prst="rect">
            <a:avLst/>
          </a:prstGeom>
          <a:noFill/>
          <a:ln/>
        </p:spPr>
        <p:txBody>
          <a:bodyPr wrap="square" lIns="0" tIns="0" rIns="0" bIns="0" rtlCol="0" anchor="ctr"/>
          <a:lstStyle/>
          <a:p>
            <a:pPr algn="ctr" indent="0" marL="0">
              <a:buNone/>
            </a:pPr>
            <a:r>
              <a:rPr lang="en-US" sz="1100" dirty="0">
                <a:solidFill>
                  <a:srgbClr val="1F4E8C"/>
                </a:solidFill>
                <a:latin typeface="Calibri" pitchFamily="34" charset="0"/>
                <a:ea typeface="Calibri" pitchFamily="34" charset="-122"/>
                <a:cs typeface="Calibri" pitchFamily="34" charset="-120"/>
              </a:rPr>
              <a:t>Male: </a:t>
            </a:r>
            <a:r>
              <a:rPr lang="en-US" sz="1100" b="1" dirty="0">
                <a:solidFill>
                  <a:srgbClr val="1F4E8C"/>
                </a:solidFill>
                <a:latin typeface="Calibri" pitchFamily="34" charset="0"/>
                <a:ea typeface="Calibri" pitchFamily="34" charset="-122"/>
                <a:cs typeface="Calibri" pitchFamily="34" charset="-120"/>
              </a:rPr>
              <a:t>testes</a:t>
            </a:r>
            <a:endParaRPr lang="en-US" sz="1100" dirty="0"/>
          </a:p>
        </p:txBody>
      </p:sp>
      <p:sp>
        <p:nvSpPr>
          <p:cNvPr id="61" name="Shape 59"/>
          <p:cNvSpPr/>
          <p:nvPr/>
        </p:nvSpPr>
        <p:spPr>
          <a:xfrm>
            <a:off x="4480560" y="4160520"/>
            <a:ext cx="1051560" cy="365760"/>
          </a:xfrm>
          <a:prstGeom prst="roundRect">
            <a:avLst>
              <a:gd name="adj" fmla="val 30000"/>
            </a:avLst>
          </a:prstGeom>
          <a:solidFill>
            <a:srgbClr val="F6DDC8"/>
          </a:solidFill>
          <a:ln w="25400">
            <a:solidFill>
              <a:srgbClr val="B98E6E"/>
            </a:solidFill>
            <a:prstDash val="solid"/>
          </a:ln>
        </p:spPr>
      </p:sp>
      <p:sp>
        <p:nvSpPr>
          <p:cNvPr id="62" name="Shape 60"/>
          <p:cNvSpPr/>
          <p:nvPr/>
        </p:nvSpPr>
        <p:spPr>
          <a:xfrm>
            <a:off x="4480560" y="4297680"/>
            <a:ext cx="329184" cy="685800"/>
          </a:xfrm>
          <a:prstGeom prst="roundRect">
            <a:avLst>
              <a:gd name="adj" fmla="val 33333"/>
            </a:avLst>
          </a:prstGeom>
          <a:solidFill>
            <a:srgbClr val="F6DDC8"/>
          </a:solidFill>
          <a:ln w="25400">
            <a:solidFill>
              <a:srgbClr val="B98E6E"/>
            </a:solidFill>
            <a:prstDash val="solid"/>
          </a:ln>
        </p:spPr>
      </p:sp>
      <p:sp>
        <p:nvSpPr>
          <p:cNvPr id="63" name="Shape 61"/>
          <p:cNvSpPr/>
          <p:nvPr/>
        </p:nvSpPr>
        <p:spPr>
          <a:xfrm>
            <a:off x="5202936" y="4297680"/>
            <a:ext cx="329184" cy="685800"/>
          </a:xfrm>
          <a:prstGeom prst="roundRect">
            <a:avLst>
              <a:gd name="adj" fmla="val 33333"/>
            </a:avLst>
          </a:prstGeom>
          <a:solidFill>
            <a:srgbClr val="F6DDC8"/>
          </a:solidFill>
          <a:ln w="25400">
            <a:solidFill>
              <a:srgbClr val="B98E6E"/>
            </a:solidFill>
            <a:prstDash val="solid"/>
          </a:ln>
        </p:spPr>
      </p:sp>
      <p:sp>
        <p:nvSpPr>
          <p:cNvPr id="64" name="Shape 62"/>
          <p:cNvSpPr/>
          <p:nvPr/>
        </p:nvSpPr>
        <p:spPr>
          <a:xfrm>
            <a:off x="4480560" y="4160520"/>
            <a:ext cx="1051560" cy="365760"/>
          </a:xfrm>
          <a:prstGeom prst="roundRect">
            <a:avLst>
              <a:gd name="adj" fmla="val 30000"/>
            </a:avLst>
          </a:prstGeom>
          <a:solidFill>
            <a:srgbClr val="F6DDC8"/>
          </a:solidFill>
          <a:ln/>
        </p:spPr>
      </p:sp>
      <p:sp>
        <p:nvSpPr>
          <p:cNvPr id="65" name="Shape 63"/>
          <p:cNvSpPr/>
          <p:nvPr/>
        </p:nvSpPr>
        <p:spPr>
          <a:xfrm>
            <a:off x="4480560" y="4297680"/>
            <a:ext cx="329184" cy="685800"/>
          </a:xfrm>
          <a:prstGeom prst="roundRect">
            <a:avLst>
              <a:gd name="adj" fmla="val 33333"/>
            </a:avLst>
          </a:prstGeom>
          <a:solidFill>
            <a:srgbClr val="F6DDC8"/>
          </a:solidFill>
          <a:ln/>
        </p:spPr>
      </p:sp>
      <p:sp>
        <p:nvSpPr>
          <p:cNvPr id="66" name="Shape 64"/>
          <p:cNvSpPr/>
          <p:nvPr/>
        </p:nvSpPr>
        <p:spPr>
          <a:xfrm>
            <a:off x="5202936" y="4297680"/>
            <a:ext cx="329184" cy="685800"/>
          </a:xfrm>
          <a:prstGeom prst="roundRect">
            <a:avLst>
              <a:gd name="adj" fmla="val 33333"/>
            </a:avLst>
          </a:prstGeom>
          <a:solidFill>
            <a:srgbClr val="F6DDC8"/>
          </a:solidFill>
          <a:ln/>
        </p:spPr>
      </p:sp>
      <p:sp>
        <p:nvSpPr>
          <p:cNvPr id="67" name="Shape 65"/>
          <p:cNvSpPr/>
          <p:nvPr/>
        </p:nvSpPr>
        <p:spPr>
          <a:xfrm>
            <a:off x="4814316" y="4517136"/>
            <a:ext cx="384048" cy="329184"/>
          </a:xfrm>
          <a:prstGeom prst="ellipse">
            <a:avLst/>
          </a:prstGeom>
          <a:solidFill>
            <a:srgbClr val="F6DDC8"/>
          </a:solidFill>
          <a:ln w="19050">
            <a:solidFill>
              <a:srgbClr val="B98E6E"/>
            </a:solidFill>
            <a:prstDash val="solid"/>
          </a:ln>
        </p:spPr>
      </p:sp>
      <p:sp>
        <p:nvSpPr>
          <p:cNvPr id="68" name="Shape 66"/>
          <p:cNvSpPr/>
          <p:nvPr/>
        </p:nvSpPr>
        <p:spPr>
          <a:xfrm>
            <a:off x="4860036" y="4590288"/>
            <a:ext cx="137160" cy="201168"/>
          </a:xfrm>
          <a:prstGeom prst="ellipse">
            <a:avLst/>
          </a:prstGeom>
          <a:solidFill>
            <a:srgbClr val="3B7DD8"/>
          </a:solidFill>
          <a:ln w="12700">
            <a:solidFill>
              <a:srgbClr val="1F4E8C"/>
            </a:solidFill>
            <a:prstDash val="solid"/>
          </a:ln>
        </p:spPr>
      </p:sp>
      <p:sp>
        <p:nvSpPr>
          <p:cNvPr id="69" name="Shape 67"/>
          <p:cNvSpPr/>
          <p:nvPr/>
        </p:nvSpPr>
        <p:spPr>
          <a:xfrm>
            <a:off x="5015484" y="4590288"/>
            <a:ext cx="137160" cy="201168"/>
          </a:xfrm>
          <a:prstGeom prst="ellipse">
            <a:avLst/>
          </a:prstGeom>
          <a:solidFill>
            <a:srgbClr val="3B7DD8"/>
          </a:solidFill>
          <a:ln w="12700">
            <a:solidFill>
              <a:srgbClr val="1F4E8C"/>
            </a:solidFill>
            <a:prstDash val="solid"/>
          </a:ln>
        </p:spPr>
      </p:sp>
      <p:sp>
        <p:nvSpPr>
          <p:cNvPr id="70" name="Text 68"/>
          <p:cNvSpPr/>
          <p:nvPr/>
        </p:nvSpPr>
        <p:spPr>
          <a:xfrm>
            <a:off x="4206240" y="5010912"/>
            <a:ext cx="160020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in the scrotum</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691640"/>
                <a:gridCol w="1783080"/>
                <a:gridCol w="2084832"/>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Gland</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Hormone(s)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Main job</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457200">
                <a:tc>
                  <a:txBody>
                    <a:bodyPr/>
                    <a:lstStyle/>
                    <a:p>
                      <a:pPr indent="0" marL="0">
                        <a:buNone/>
                      </a:pPr>
                      <a:r>
                        <a:rPr lang="en-US" sz="1050" b="1" dirty="0">
                          <a:solidFill>
                            <a:srgbClr val="8E2A33"/>
                          </a:solidFill>
                          <a:latin typeface="Calibri" pitchFamily="34" charset="0"/>
                          <a:ea typeface="Calibri" pitchFamily="34" charset="-122"/>
                          <a:cs typeface="Calibri" pitchFamily="34" charset="-120"/>
                        </a:rPr>
                        <a:t>Pituitary (base of brain)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TSH, FSH, LH, growth hormone and others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"master gland": controls other glands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457200">
                <a:tc>
                  <a:txBody>
                    <a:bodyPr/>
                    <a:lstStyle/>
                    <a:p>
                      <a:pPr indent="0" marL="0">
                        <a:buNone/>
                      </a:pPr>
                      <a:r>
                        <a:rPr lang="en-US" sz="1050" b="1" dirty="0">
                          <a:solidFill>
                            <a:srgbClr val="5E2D73"/>
                          </a:solidFill>
                          <a:latin typeface="Calibri" pitchFamily="34" charset="0"/>
                          <a:ea typeface="Calibri" pitchFamily="34" charset="-122"/>
                          <a:cs typeface="Calibri" pitchFamily="34" charset="-120"/>
                        </a:rPr>
                        <a:t>Thyroid (neck)</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thyroxine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controls metabolic rate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9A5A0A"/>
                          </a:solidFill>
                          <a:latin typeface="Calibri" pitchFamily="34" charset="0"/>
                          <a:ea typeface="Calibri" pitchFamily="34" charset="-122"/>
                          <a:cs typeface="Calibri" pitchFamily="34" charset="-120"/>
                        </a:rPr>
                        <a:t>Adrenal (on the kidneys)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adrenaline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"fight or flight"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457200">
                <a:tc>
                  <a:txBody>
                    <a:bodyPr/>
                    <a:lstStyle/>
                    <a:p>
                      <a:pPr indent="0" marL="0">
                        <a:buNone/>
                      </a:pPr>
                      <a:r>
                        <a:rPr lang="en-US" sz="1050" b="1" dirty="0">
                          <a:solidFill>
                            <a:srgbClr val="8A6A0A"/>
                          </a:solidFill>
                          <a:latin typeface="Calibri" pitchFamily="34" charset="0"/>
                          <a:ea typeface="Calibri" pitchFamily="34" charset="-122"/>
                          <a:cs typeface="Calibri" pitchFamily="34" charset="-120"/>
                        </a:rPr>
                        <a:t>Pancreas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insulin (and glucagon)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controls blood glucose (B5.6)</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8E3466"/>
                          </a:solidFill>
                          <a:latin typeface="Calibri" pitchFamily="34" charset="0"/>
                          <a:ea typeface="Calibri" pitchFamily="34" charset="-122"/>
                          <a:cs typeface="Calibri" pitchFamily="34" charset="-120"/>
                        </a:rPr>
                        <a:t>Ovaries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oestrogen, progesterone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menstrual cycle; female characteristics (B5.5)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457200">
                <a:tc>
                  <a:txBody>
                    <a:bodyPr/>
                    <a:lstStyle/>
                    <a:p>
                      <a:pPr indent="0" marL="0">
                        <a:buNone/>
                      </a:pPr>
                      <a:r>
                        <a:rPr lang="en-US" sz="1050" b="1" dirty="0">
                          <a:solidFill>
                            <a:srgbClr val="1F4E8C"/>
                          </a:solidFill>
                          <a:latin typeface="Calibri" pitchFamily="34" charset="0"/>
                          <a:ea typeface="Calibri" pitchFamily="34" charset="-122"/>
                          <a:cs typeface="Calibri" pitchFamily="34" charset="-120"/>
                        </a:rPr>
                        <a:t>Testes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testosterone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sperm production; male characteristics (B5.5)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bl>
          </a:graphicData>
        </a:graphic>
      </p:graphicFrame>
      <p:sp>
        <p:nvSpPr>
          <p:cNvPr id="72" name="Shape 69"/>
          <p:cNvSpPr/>
          <p:nvPr/>
        </p:nvSpPr>
        <p:spPr>
          <a:xfrm>
            <a:off x="6217920" y="4526280"/>
            <a:ext cx="5559552" cy="1188720"/>
          </a:xfrm>
          <a:prstGeom prst="roundRect">
            <a:avLst>
              <a:gd name="adj" fmla="val 4615"/>
            </a:avLst>
          </a:prstGeom>
          <a:solidFill>
            <a:srgbClr val="F4FAF9"/>
          </a:solidFill>
          <a:ln w="9525">
            <a:solidFill>
              <a:srgbClr val="CFE0DE"/>
            </a:solidFill>
            <a:prstDash val="solid"/>
          </a:ln>
        </p:spPr>
      </p:sp>
      <p:sp>
        <p:nvSpPr>
          <p:cNvPr id="73" name="Text 70"/>
          <p:cNvSpPr/>
          <p:nvPr/>
        </p:nvSpPr>
        <p:spPr>
          <a:xfrm>
            <a:off x="6382512" y="4617720"/>
            <a:ext cx="523036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Learn the positions</a:t>
            </a:r>
            <a:endParaRPr lang="en-US" sz="1300" dirty="0"/>
          </a:p>
        </p:txBody>
      </p:sp>
      <p:sp>
        <p:nvSpPr>
          <p:cNvPr id="74" name="Text 71"/>
          <p:cNvSpPr/>
          <p:nvPr/>
        </p:nvSpPr>
        <p:spPr>
          <a:xfrm>
            <a:off x="6382512" y="4946904"/>
            <a:ext cx="5230368" cy="69494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Head → </a:t>
            </a:r>
            <a:r>
              <a:rPr lang="en-US" sz="1100" b="1" dirty="0">
                <a:solidFill>
                  <a:srgbClr val="262B3A"/>
                </a:solidFill>
                <a:latin typeface="Calibri" pitchFamily="34" charset="0"/>
                <a:ea typeface="Calibri" pitchFamily="34" charset="-122"/>
                <a:cs typeface="Calibri" pitchFamily="34" charset="-120"/>
              </a:rPr>
              <a:t>pituitary</a:t>
            </a:r>
            <a:r>
              <a:rPr lang="en-US" sz="1100" dirty="0">
                <a:solidFill>
                  <a:srgbClr val="262B3A"/>
                </a:solidFill>
                <a:latin typeface="Calibri" pitchFamily="34" charset="0"/>
                <a:ea typeface="Calibri" pitchFamily="34" charset="-122"/>
                <a:cs typeface="Calibri" pitchFamily="34" charset="-120"/>
              </a:rPr>
              <a:t>; neck → </a:t>
            </a:r>
            <a:r>
              <a:rPr lang="en-US" sz="1100" b="1" dirty="0">
                <a:solidFill>
                  <a:srgbClr val="262B3A"/>
                </a:solidFill>
                <a:latin typeface="Calibri" pitchFamily="34" charset="0"/>
                <a:ea typeface="Calibri" pitchFamily="34" charset="-122"/>
                <a:cs typeface="Calibri" pitchFamily="34" charset="-120"/>
              </a:rPr>
              <a:t>thyroid</a:t>
            </a:r>
            <a:r>
              <a:rPr lang="en-US" sz="1100" dirty="0">
                <a:solidFill>
                  <a:srgbClr val="262B3A"/>
                </a:solidFill>
                <a:latin typeface="Calibri" pitchFamily="34" charset="0"/>
                <a:ea typeface="Calibri" pitchFamily="34" charset="-122"/>
                <a:cs typeface="Calibri" pitchFamily="34" charset="-120"/>
              </a:rPr>
              <a:t>; on top of each kidney → </a:t>
            </a:r>
            <a:r>
              <a:rPr lang="en-US" sz="1100" b="1" dirty="0">
                <a:solidFill>
                  <a:srgbClr val="262B3A"/>
                </a:solidFill>
                <a:latin typeface="Calibri" pitchFamily="34" charset="0"/>
                <a:ea typeface="Calibri" pitchFamily="34" charset="-122"/>
                <a:cs typeface="Calibri" pitchFamily="34" charset="-120"/>
              </a:rPr>
              <a:t>adrenal</a:t>
            </a:r>
            <a:r>
              <a:rPr lang="en-US" sz="1100" dirty="0">
                <a:solidFill>
                  <a:srgbClr val="262B3A"/>
                </a:solidFill>
                <a:latin typeface="Calibri" pitchFamily="34" charset="0"/>
                <a:ea typeface="Calibri" pitchFamily="34" charset="-122"/>
                <a:cs typeface="Calibri" pitchFamily="34" charset="-120"/>
              </a:rPr>
              <a:t>; behind the stomach → </a:t>
            </a:r>
            <a:r>
              <a:rPr lang="en-US" sz="1100" b="1" dirty="0">
                <a:solidFill>
                  <a:srgbClr val="262B3A"/>
                </a:solidFill>
                <a:latin typeface="Calibri" pitchFamily="34" charset="0"/>
                <a:ea typeface="Calibri" pitchFamily="34" charset="-122"/>
                <a:cs typeface="Calibri" pitchFamily="34" charset="-120"/>
              </a:rPr>
              <a:t>pancreas</a:t>
            </a:r>
            <a:r>
              <a:rPr lang="en-US" sz="1100" dirty="0">
                <a:solidFill>
                  <a:srgbClr val="262B3A"/>
                </a:solidFill>
                <a:latin typeface="Calibri" pitchFamily="34" charset="0"/>
                <a:ea typeface="Calibri" pitchFamily="34" charset="-122"/>
                <a:cs typeface="Calibri" pitchFamily="34" charset="-120"/>
              </a:rPr>
              <a:t>; pelvis → </a:t>
            </a:r>
            <a:r>
              <a:rPr lang="en-US" sz="1100" b="1" dirty="0">
                <a:solidFill>
                  <a:srgbClr val="262B3A"/>
                </a:solidFill>
                <a:latin typeface="Calibri" pitchFamily="34" charset="0"/>
                <a:ea typeface="Calibri" pitchFamily="34" charset="-122"/>
                <a:cs typeface="Calibri" pitchFamily="34" charset="-120"/>
              </a:rPr>
              <a:t>ovaries</a:t>
            </a:r>
            <a:r>
              <a:rPr lang="en-US" sz="1100" dirty="0">
                <a:solidFill>
                  <a:srgbClr val="262B3A"/>
                </a:solidFill>
                <a:latin typeface="Calibri" pitchFamily="34" charset="0"/>
                <a:ea typeface="Calibri" pitchFamily="34" charset="-122"/>
                <a:cs typeface="Calibri" pitchFamily="34" charset="-120"/>
              </a:rPr>
              <a:t>; scrotum → </a:t>
            </a:r>
            <a:r>
              <a:rPr lang="en-US" sz="1100" b="1" dirty="0">
                <a:solidFill>
                  <a:srgbClr val="262B3A"/>
                </a:solidFill>
                <a:latin typeface="Calibri" pitchFamily="34" charset="0"/>
                <a:ea typeface="Calibri" pitchFamily="34" charset="-122"/>
                <a:cs typeface="Calibri" pitchFamily="34" charset="-120"/>
              </a:rPr>
              <a:t>testes</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75" name="Shape 72"/>
          <p:cNvSpPr/>
          <p:nvPr/>
        </p:nvSpPr>
        <p:spPr>
          <a:xfrm>
            <a:off x="411480" y="5833872"/>
            <a:ext cx="11368735" cy="530352"/>
          </a:xfrm>
          <a:prstGeom prst="rect">
            <a:avLst/>
          </a:prstGeom>
          <a:solidFill>
            <a:srgbClr val="FFF4E0"/>
          </a:solidFill>
          <a:ln w="6350">
            <a:solidFill>
              <a:srgbClr val="F1D9A8"/>
            </a:solidFill>
            <a:prstDash val="solid"/>
          </a:ln>
        </p:spPr>
      </p:sp>
      <p:sp>
        <p:nvSpPr>
          <p:cNvPr id="76" name="Shape 73"/>
          <p:cNvSpPr/>
          <p:nvPr/>
        </p:nvSpPr>
        <p:spPr>
          <a:xfrm>
            <a:off x="411480" y="5833872"/>
            <a:ext cx="82296" cy="530352"/>
          </a:xfrm>
          <a:prstGeom prst="rect">
            <a:avLst/>
          </a:prstGeom>
          <a:solidFill>
            <a:srgbClr val="E39A2F"/>
          </a:solidFill>
          <a:ln w="12700">
            <a:solidFill>
              <a:srgbClr val="E39A2F"/>
            </a:solidFill>
            <a:prstDash val="solid"/>
          </a:ln>
        </p:spPr>
      </p:sp>
      <p:sp>
        <p:nvSpPr>
          <p:cNvPr id="77" name="Text 7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Name the gland that sits on top of each </a:t>
            </a:r>
            <a:r>
              <a:rPr lang="en-US" sz="1150" b="1" dirty="0">
                <a:solidFill>
                  <a:srgbClr val="262B3A"/>
                </a:solidFill>
                <a:latin typeface="Calibri" pitchFamily="34" charset="0"/>
                <a:ea typeface="Calibri" pitchFamily="34" charset="-122"/>
                <a:cs typeface="Calibri" pitchFamily="34" charset="-120"/>
              </a:rPr>
              <a:t>kidney</a:t>
            </a:r>
            <a:r>
              <a:rPr lang="en-US" sz="1150" dirty="0">
                <a:solidFill>
                  <a:srgbClr val="262B3A"/>
                </a:solidFill>
                <a:latin typeface="Calibri" pitchFamily="34" charset="0"/>
                <a:ea typeface="Calibri" pitchFamily="34" charset="-122"/>
                <a:cs typeface="Calibri" pitchFamily="34" charset="-120"/>
              </a:rPr>
              <a:t> and the hormone it makes. Which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glands differ between males and females?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B5.3.1 • hormones and endocrine glands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B5.3 How do hormones control responses in the human body?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7</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a </a:t>
            </a:r>
            <a:r>
              <a:rPr lang="en-US" sz="1250" b="1" dirty="0">
                <a:solidFill>
                  <a:srgbClr val="262B3A"/>
                </a:solidFill>
                <a:latin typeface="Calibri" pitchFamily="34" charset="0"/>
                <a:ea typeface="Calibri" pitchFamily="34" charset="-122"/>
                <a:cs typeface="Calibri" pitchFamily="34" charset="-120"/>
              </a:rPr>
              <a:t>hormone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a:t>
            </a:r>
            <a:r>
              <a:rPr lang="en-US" sz="1250" b="1" dirty="0">
                <a:solidFill>
                  <a:srgbClr val="262B3A"/>
                </a:solidFill>
                <a:latin typeface="Calibri" pitchFamily="34" charset="0"/>
                <a:ea typeface="Calibri" pitchFamily="34" charset="-122"/>
                <a:cs typeface="Calibri" pitchFamily="34" charset="-120"/>
              </a:rPr>
              <a:t>gland in the neck</a:t>
            </a:r>
            <a:r>
              <a:rPr lang="en-US" sz="1250" dirty="0">
                <a:solidFill>
                  <a:srgbClr val="262B3A"/>
                </a:solidFill>
                <a:latin typeface="Calibri" pitchFamily="34" charset="0"/>
                <a:ea typeface="Calibri" pitchFamily="34" charset="-122"/>
                <a:cs typeface="Calibri" pitchFamily="34" charset="-120"/>
              </a:rPr>
              <a:t> and the hormone it makes.</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 hormone affects only its </a:t>
            </a:r>
            <a:r>
              <a:rPr lang="en-US" sz="1250" b="1" dirty="0">
                <a:solidFill>
                  <a:srgbClr val="262B3A"/>
                </a:solidFill>
                <a:latin typeface="Calibri" pitchFamily="34" charset="0"/>
                <a:ea typeface="Calibri" pitchFamily="34" charset="-122"/>
                <a:cs typeface="Calibri" pitchFamily="34" charset="-120"/>
              </a:rPr>
              <a:t>target organs</a:t>
            </a:r>
            <a:r>
              <a:rPr lang="en-US" sz="1250" dirty="0">
                <a:solidFill>
                  <a:srgbClr val="262B3A"/>
                </a:solidFill>
                <a:latin typeface="Calibri" pitchFamily="34" charset="0"/>
                <a:ea typeface="Calibri" pitchFamily="34" charset="-122"/>
                <a:cs typeface="Calibri" pitchFamily="34" charset="-120"/>
              </a:rPr>
              <a:t>, even though it travels all round the body.</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gland that produces (a) </a:t>
            </a:r>
            <a:r>
              <a:rPr lang="en-US" sz="1250" b="1" dirty="0">
                <a:solidFill>
                  <a:srgbClr val="262B3A"/>
                </a:solidFill>
                <a:latin typeface="Calibri" pitchFamily="34" charset="0"/>
                <a:ea typeface="Calibri" pitchFamily="34" charset="-122"/>
                <a:cs typeface="Calibri" pitchFamily="34" charset="-120"/>
              </a:rPr>
              <a:t>adrenaline</a:t>
            </a:r>
            <a:r>
              <a:rPr lang="en-US" sz="1250" dirty="0">
                <a:solidFill>
                  <a:srgbClr val="262B3A"/>
                </a:solidFill>
                <a:latin typeface="Calibri" pitchFamily="34" charset="0"/>
                <a:ea typeface="Calibri" pitchFamily="34" charset="-122"/>
                <a:cs typeface="Calibri" pitchFamily="34" charset="-120"/>
              </a:rPr>
              <a:t> (b) </a:t>
            </a:r>
            <a:r>
              <a:rPr lang="en-US" sz="1250" b="1" dirty="0">
                <a:solidFill>
                  <a:srgbClr val="262B3A"/>
                </a:solidFill>
                <a:latin typeface="Calibri" pitchFamily="34" charset="0"/>
                <a:ea typeface="Calibri" pitchFamily="34" charset="-122"/>
                <a:cs typeface="Calibri" pitchFamily="34" charset="-120"/>
              </a:rPr>
              <a:t>testosterone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The pituitary: the "master gland"</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B5.3.1 • pituitary hormones control other endocrine glands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B5.3 How do hormones control responses in the human body?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B5.3.1  |  8</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pituitary hormones (arrows) travel in the blood to other glands and organs</a:t>
            </a:r>
            <a:endParaRPr lang="en-US" sz="1000" dirty="0"/>
          </a:p>
        </p:txBody>
      </p:sp>
      <p:sp>
        <p:nvSpPr>
          <p:cNvPr id="10" name="Shape 8"/>
          <p:cNvSpPr/>
          <p:nvPr/>
        </p:nvSpPr>
        <p:spPr>
          <a:xfrm>
            <a:off x="2468880" y="1394460"/>
            <a:ext cx="1463040" cy="777240"/>
          </a:xfrm>
          <a:prstGeom prst="ellipse">
            <a:avLst/>
          </a:prstGeom>
          <a:solidFill>
            <a:srgbClr val="F4C7D0"/>
          </a:solidFill>
          <a:ln w="15875">
            <a:solidFill>
              <a:srgbClr val="C98393"/>
            </a:solidFill>
            <a:prstDash val="solid"/>
          </a:ln>
        </p:spPr>
      </p:sp>
      <p:sp>
        <p:nvSpPr>
          <p:cNvPr id="11" name="Text 9"/>
          <p:cNvSpPr/>
          <p:nvPr/>
        </p:nvSpPr>
        <p:spPr>
          <a:xfrm>
            <a:off x="2468880" y="1481328"/>
            <a:ext cx="1463040" cy="256032"/>
          </a:xfrm>
          <a:prstGeom prst="rect">
            <a:avLst/>
          </a:prstGeom>
          <a:noFill/>
          <a:ln/>
        </p:spPr>
        <p:txBody>
          <a:bodyPr wrap="square" lIns="0" tIns="0" rIns="0" bIns="0" rtlCol="0" anchor="ctr"/>
          <a:lstStyle/>
          <a:p>
            <a:pPr algn="ctr" indent="0" marL="0">
              <a:buNone/>
            </a:pPr>
            <a:r>
              <a:rPr lang="en-US" sz="1050" i="1" dirty="0">
                <a:solidFill>
                  <a:srgbClr val="8E4A5A"/>
                </a:solidFill>
                <a:latin typeface="Calibri" pitchFamily="34" charset="0"/>
                <a:ea typeface="Calibri" pitchFamily="34" charset="-122"/>
                <a:cs typeface="Calibri" pitchFamily="34" charset="-120"/>
              </a:rPr>
              <a:t>brain</a:t>
            </a:r>
            <a:endParaRPr lang="en-US" sz="1050" dirty="0"/>
          </a:p>
        </p:txBody>
      </p:sp>
      <p:sp>
        <p:nvSpPr>
          <p:cNvPr id="12" name="Shape 10"/>
          <p:cNvSpPr/>
          <p:nvPr/>
        </p:nvSpPr>
        <p:spPr>
          <a:xfrm>
            <a:off x="3200400" y="2103120"/>
            <a:ext cx="91" cy="182880"/>
          </a:xfrm>
          <a:prstGeom prst="line">
            <a:avLst/>
          </a:prstGeom>
          <a:noFill/>
          <a:ln w="38100">
            <a:solidFill>
              <a:srgbClr val="C98393"/>
            </a:solidFill>
            <a:prstDash val="solid"/>
          </a:ln>
        </p:spPr>
      </p:sp>
      <p:sp>
        <p:nvSpPr>
          <p:cNvPr id="13" name="Shape 11"/>
          <p:cNvSpPr/>
          <p:nvPr/>
        </p:nvSpPr>
        <p:spPr>
          <a:xfrm>
            <a:off x="3017520" y="2267712"/>
            <a:ext cx="365760" cy="365760"/>
          </a:xfrm>
          <a:prstGeom prst="ellipse">
            <a:avLst/>
          </a:prstGeom>
          <a:solidFill>
            <a:srgbClr val="C8414C"/>
          </a:solidFill>
          <a:ln w="19050">
            <a:solidFill>
              <a:srgbClr val="8E2A33"/>
            </a:solidFill>
            <a:prstDash val="solid"/>
          </a:ln>
        </p:spPr>
      </p:sp>
      <p:sp>
        <p:nvSpPr>
          <p:cNvPr id="14" name="Text 12"/>
          <p:cNvSpPr/>
          <p:nvPr/>
        </p:nvSpPr>
        <p:spPr>
          <a:xfrm>
            <a:off x="3474720" y="2331720"/>
            <a:ext cx="2194560" cy="256032"/>
          </a:xfrm>
          <a:prstGeom prst="rect">
            <a:avLst/>
          </a:prstGeom>
          <a:noFill/>
          <a:ln/>
        </p:spPr>
        <p:txBody>
          <a:bodyPr wrap="square" lIns="0" tIns="0" rIns="0" bIns="0" rtlCol="0" anchor="ctr"/>
          <a:lstStyle/>
          <a:p>
            <a:pPr algn="l" indent="0" marL="0">
              <a:buNone/>
            </a:pPr>
            <a:r>
              <a:rPr lang="en-US" sz="1200" b="1" dirty="0">
                <a:solidFill>
                  <a:srgbClr val="8E2A33"/>
                </a:solidFill>
                <a:latin typeface="Calibri" pitchFamily="34" charset="0"/>
                <a:ea typeface="Calibri" pitchFamily="34" charset="-122"/>
                <a:cs typeface="Calibri" pitchFamily="34" charset="-120"/>
              </a:rPr>
              <a:t>Pituitary gland</a:t>
            </a:r>
            <a:endParaRPr lang="en-US" sz="1200" dirty="0"/>
          </a:p>
        </p:txBody>
      </p:sp>
      <p:sp>
        <p:nvSpPr>
          <p:cNvPr id="15" name="Shape 13"/>
          <p:cNvSpPr/>
          <p:nvPr/>
        </p:nvSpPr>
        <p:spPr>
          <a:xfrm flipH="1">
            <a:off x="1234440" y="2651760"/>
            <a:ext cx="1730045" cy="960120"/>
          </a:xfrm>
          <a:prstGeom prst="line">
            <a:avLst/>
          </a:prstGeom>
          <a:noFill/>
          <a:ln w="25400">
            <a:solidFill>
              <a:srgbClr val="C8414C"/>
            </a:solidFill>
            <a:prstDash val="solid"/>
            <a:tailEnd type="triangle"/>
          </a:ln>
        </p:spPr>
      </p:sp>
      <p:sp>
        <p:nvSpPr>
          <p:cNvPr id="16" name="Text 14"/>
          <p:cNvSpPr/>
          <p:nvPr/>
        </p:nvSpPr>
        <p:spPr>
          <a:xfrm>
            <a:off x="1002182" y="2971800"/>
            <a:ext cx="960120" cy="256032"/>
          </a:xfrm>
          <a:prstGeom prst="rect">
            <a:avLst/>
          </a:prstGeom>
          <a:noFill/>
          <a:ln/>
        </p:spPr>
        <p:txBody>
          <a:bodyPr wrap="square" lIns="0" tIns="0" rIns="0" bIns="0" rtlCol="0" anchor="ctr"/>
          <a:lstStyle/>
          <a:p>
            <a:pPr algn="r" indent="0" marL="0">
              <a:buNone/>
            </a:pPr>
            <a:r>
              <a:rPr lang="en-US" sz="1050" b="1" dirty="0">
                <a:solidFill>
                  <a:srgbClr val="8E2A33"/>
                </a:solidFill>
                <a:latin typeface="Calibri" pitchFamily="34" charset="0"/>
                <a:ea typeface="Calibri" pitchFamily="34" charset="-122"/>
                <a:cs typeface="Calibri" pitchFamily="34" charset="-120"/>
              </a:rPr>
              <a:t>TSH</a:t>
            </a:r>
            <a:endParaRPr lang="en-US" sz="1050" dirty="0"/>
          </a:p>
        </p:txBody>
      </p:sp>
      <p:sp>
        <p:nvSpPr>
          <p:cNvPr id="17" name="Shape 15"/>
          <p:cNvSpPr/>
          <p:nvPr/>
        </p:nvSpPr>
        <p:spPr>
          <a:xfrm>
            <a:off x="484632" y="3657600"/>
            <a:ext cx="1499616" cy="566928"/>
          </a:xfrm>
          <a:prstGeom prst="roundRect">
            <a:avLst>
              <a:gd name="adj" fmla="val 9677"/>
            </a:avLst>
          </a:prstGeom>
          <a:solidFill>
            <a:srgbClr val="FFFFFF"/>
          </a:solidFill>
          <a:ln w="15875">
            <a:solidFill>
              <a:srgbClr val="5E2D73"/>
            </a:solidFill>
            <a:prstDash val="solid"/>
          </a:ln>
        </p:spPr>
      </p:sp>
      <p:sp>
        <p:nvSpPr>
          <p:cNvPr id="18" name="Text 16"/>
          <p:cNvSpPr/>
          <p:nvPr/>
        </p:nvSpPr>
        <p:spPr>
          <a:xfrm>
            <a:off x="539496" y="3657600"/>
            <a:ext cx="1389888" cy="566928"/>
          </a:xfrm>
          <a:prstGeom prst="rect">
            <a:avLst/>
          </a:prstGeom>
          <a:noFill/>
          <a:ln/>
        </p:spPr>
        <p:txBody>
          <a:bodyPr wrap="square" lIns="0" tIns="0" rIns="0" bIns="0" rtlCol="0" anchor="ctr"/>
          <a:lstStyle/>
          <a:p>
            <a:pPr algn="ctr" indent="0" marL="0">
              <a:buNone/>
            </a:pPr>
            <a:r>
              <a:rPr lang="en-US" sz="1100" b="1" dirty="0">
                <a:solidFill>
                  <a:srgbClr val="5E2D73"/>
                </a:solidFill>
                <a:latin typeface="Calibri" pitchFamily="34" charset="0"/>
                <a:ea typeface="Calibri" pitchFamily="34" charset="-122"/>
                <a:cs typeface="Calibri" pitchFamily="34" charset="-120"/>
              </a:rPr>
              <a:t>Thyroid</a:t>
            </a:r>
            <a:endParaRPr lang="en-US" sz="1100" dirty="0"/>
          </a:p>
        </p:txBody>
      </p:sp>
      <p:sp>
        <p:nvSpPr>
          <p:cNvPr id="19" name="Text 17"/>
          <p:cNvSpPr/>
          <p:nvPr/>
        </p:nvSpPr>
        <p:spPr>
          <a:xfrm>
            <a:off x="457200" y="4261104"/>
            <a:ext cx="1554480" cy="438912"/>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makes thyroxine</a:t>
            </a:r>
            <a:endParaRPr lang="en-US" sz="1000" dirty="0"/>
          </a:p>
        </p:txBody>
      </p:sp>
      <p:sp>
        <p:nvSpPr>
          <p:cNvPr id="20" name="Shape 18"/>
          <p:cNvSpPr/>
          <p:nvPr/>
        </p:nvSpPr>
        <p:spPr>
          <a:xfrm>
            <a:off x="3200400" y="2651760"/>
            <a:ext cx="91" cy="960120"/>
          </a:xfrm>
          <a:prstGeom prst="line">
            <a:avLst/>
          </a:prstGeom>
          <a:noFill/>
          <a:ln w="25400">
            <a:solidFill>
              <a:srgbClr val="C8414C"/>
            </a:solidFill>
            <a:prstDash val="solid"/>
            <a:tailEnd type="triangle"/>
          </a:ln>
        </p:spPr>
      </p:sp>
      <p:sp>
        <p:nvSpPr>
          <p:cNvPr id="21" name="Text 19"/>
          <p:cNvSpPr/>
          <p:nvPr/>
        </p:nvSpPr>
        <p:spPr>
          <a:xfrm>
            <a:off x="3310128" y="2971800"/>
            <a:ext cx="1371600" cy="256032"/>
          </a:xfrm>
          <a:prstGeom prst="rect">
            <a:avLst/>
          </a:prstGeom>
          <a:noFill/>
          <a:ln/>
        </p:spPr>
        <p:txBody>
          <a:bodyPr wrap="square" lIns="0" tIns="0" rIns="0" bIns="0" rtlCol="0" anchor="ctr"/>
          <a:lstStyle/>
          <a:p>
            <a:pPr algn="l" indent="0" marL="0">
              <a:buNone/>
            </a:pPr>
            <a:r>
              <a:rPr lang="en-US" sz="1050" b="1" dirty="0">
                <a:solidFill>
                  <a:srgbClr val="8E2A33"/>
                </a:solidFill>
                <a:latin typeface="Calibri" pitchFamily="34" charset="0"/>
                <a:ea typeface="Calibri" pitchFamily="34" charset="-122"/>
                <a:cs typeface="Calibri" pitchFamily="34" charset="-120"/>
              </a:rPr>
              <a:t>FSH, LH</a:t>
            </a:r>
            <a:endParaRPr lang="en-US" sz="1050" dirty="0"/>
          </a:p>
        </p:txBody>
      </p:sp>
      <p:sp>
        <p:nvSpPr>
          <p:cNvPr id="22" name="Shape 20"/>
          <p:cNvSpPr/>
          <p:nvPr/>
        </p:nvSpPr>
        <p:spPr>
          <a:xfrm>
            <a:off x="2450592" y="3657600"/>
            <a:ext cx="1499616" cy="566928"/>
          </a:xfrm>
          <a:prstGeom prst="roundRect">
            <a:avLst>
              <a:gd name="adj" fmla="val 9677"/>
            </a:avLst>
          </a:prstGeom>
          <a:solidFill>
            <a:srgbClr val="FFFFFF"/>
          </a:solidFill>
          <a:ln w="15875">
            <a:solidFill>
              <a:srgbClr val="8E3466"/>
            </a:solidFill>
            <a:prstDash val="solid"/>
          </a:ln>
        </p:spPr>
      </p:sp>
      <p:sp>
        <p:nvSpPr>
          <p:cNvPr id="23" name="Text 21"/>
          <p:cNvSpPr/>
          <p:nvPr/>
        </p:nvSpPr>
        <p:spPr>
          <a:xfrm>
            <a:off x="2505456" y="3657600"/>
            <a:ext cx="1389888" cy="566928"/>
          </a:xfrm>
          <a:prstGeom prst="rect">
            <a:avLst/>
          </a:prstGeom>
          <a:noFill/>
          <a:ln/>
        </p:spPr>
        <p:txBody>
          <a:bodyPr wrap="square" lIns="0" tIns="0" rIns="0" bIns="0" rtlCol="0" anchor="ctr"/>
          <a:lstStyle/>
          <a:p>
            <a:pPr algn="ctr" indent="0" marL="0">
              <a:buNone/>
            </a:pPr>
            <a:r>
              <a:rPr lang="en-US" sz="1100" b="1" dirty="0">
                <a:solidFill>
                  <a:srgbClr val="8E3466"/>
                </a:solidFill>
                <a:latin typeface="Calibri" pitchFamily="34" charset="0"/>
                <a:ea typeface="Calibri" pitchFamily="34" charset="-122"/>
                <a:cs typeface="Calibri" pitchFamily="34" charset="-120"/>
              </a:rPr>
              <a:t>Ovaries / testes</a:t>
            </a:r>
            <a:endParaRPr lang="en-US" sz="1100" dirty="0"/>
          </a:p>
        </p:txBody>
      </p:sp>
      <p:sp>
        <p:nvSpPr>
          <p:cNvPr id="24" name="Text 22"/>
          <p:cNvSpPr/>
          <p:nvPr/>
        </p:nvSpPr>
        <p:spPr>
          <a:xfrm>
            <a:off x="2423160" y="4261104"/>
            <a:ext cx="1554480" cy="438912"/>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make sex hormones; eggs, sperm (B5.5)</a:t>
            </a:r>
            <a:endParaRPr lang="en-US" sz="1000" dirty="0"/>
          </a:p>
        </p:txBody>
      </p:sp>
      <p:sp>
        <p:nvSpPr>
          <p:cNvPr id="25" name="Shape 23"/>
          <p:cNvSpPr/>
          <p:nvPr/>
        </p:nvSpPr>
        <p:spPr>
          <a:xfrm>
            <a:off x="3425342" y="2651760"/>
            <a:ext cx="1649578" cy="960120"/>
          </a:xfrm>
          <a:prstGeom prst="line">
            <a:avLst/>
          </a:prstGeom>
          <a:noFill/>
          <a:ln w="25400">
            <a:solidFill>
              <a:srgbClr val="C8414C"/>
            </a:solidFill>
            <a:prstDash val="solid"/>
            <a:tailEnd type="triangle"/>
          </a:ln>
        </p:spPr>
      </p:sp>
      <p:sp>
        <p:nvSpPr>
          <p:cNvPr id="26" name="Text 24"/>
          <p:cNvSpPr/>
          <p:nvPr/>
        </p:nvSpPr>
        <p:spPr>
          <a:xfrm>
            <a:off x="4359859" y="2971800"/>
            <a:ext cx="1371600" cy="256032"/>
          </a:xfrm>
          <a:prstGeom prst="rect">
            <a:avLst/>
          </a:prstGeom>
          <a:noFill/>
          <a:ln/>
        </p:spPr>
        <p:txBody>
          <a:bodyPr wrap="square" lIns="0" tIns="0" rIns="0" bIns="0" rtlCol="0" anchor="ctr"/>
          <a:lstStyle/>
          <a:p>
            <a:pPr algn="l" indent="0" marL="0">
              <a:buNone/>
            </a:pPr>
            <a:r>
              <a:rPr lang="en-US" sz="1050" b="1" dirty="0">
                <a:solidFill>
                  <a:srgbClr val="8E2A33"/>
                </a:solidFill>
                <a:latin typeface="Calibri" pitchFamily="34" charset="0"/>
                <a:ea typeface="Calibri" pitchFamily="34" charset="-122"/>
                <a:cs typeface="Calibri" pitchFamily="34" charset="-120"/>
              </a:rPr>
              <a:t>Growth hormone</a:t>
            </a:r>
            <a:endParaRPr lang="en-US" sz="1050" dirty="0"/>
          </a:p>
        </p:txBody>
      </p:sp>
      <p:sp>
        <p:nvSpPr>
          <p:cNvPr id="27" name="Shape 25"/>
          <p:cNvSpPr/>
          <p:nvPr/>
        </p:nvSpPr>
        <p:spPr>
          <a:xfrm>
            <a:off x="4325112" y="3657600"/>
            <a:ext cx="1499616" cy="566928"/>
          </a:xfrm>
          <a:prstGeom prst="roundRect">
            <a:avLst>
              <a:gd name="adj" fmla="val 9677"/>
            </a:avLst>
          </a:prstGeom>
          <a:solidFill>
            <a:srgbClr val="FFFFFF"/>
          </a:solidFill>
          <a:ln w="15875">
            <a:solidFill>
              <a:srgbClr val="4A5262"/>
            </a:solidFill>
            <a:prstDash val="solid"/>
          </a:ln>
        </p:spPr>
      </p:sp>
      <p:sp>
        <p:nvSpPr>
          <p:cNvPr id="28" name="Text 26"/>
          <p:cNvSpPr/>
          <p:nvPr/>
        </p:nvSpPr>
        <p:spPr>
          <a:xfrm>
            <a:off x="4379976" y="3657600"/>
            <a:ext cx="1389888" cy="566928"/>
          </a:xfrm>
          <a:prstGeom prst="rect">
            <a:avLst/>
          </a:prstGeom>
          <a:noFill/>
          <a:ln/>
        </p:spPr>
        <p:txBody>
          <a:bodyPr wrap="square" lIns="0" tIns="0" rIns="0" bIns="0" rtlCol="0" anchor="ctr"/>
          <a:lstStyle/>
          <a:p>
            <a:pPr algn="ctr" indent="0" marL="0">
              <a:buNone/>
            </a:pPr>
            <a:r>
              <a:rPr lang="en-US" sz="1100" b="1" dirty="0">
                <a:solidFill>
                  <a:srgbClr val="4A5262"/>
                </a:solidFill>
                <a:latin typeface="Calibri" pitchFamily="34" charset="0"/>
                <a:ea typeface="Calibri" pitchFamily="34" charset="-122"/>
                <a:cs typeface="Calibri" pitchFamily="34" charset="-120"/>
              </a:rPr>
              <a:t>Bones, muscles</a:t>
            </a:r>
            <a:endParaRPr lang="en-US" sz="1100" dirty="0"/>
          </a:p>
        </p:txBody>
      </p:sp>
      <p:sp>
        <p:nvSpPr>
          <p:cNvPr id="29" name="Text 27"/>
          <p:cNvSpPr/>
          <p:nvPr/>
        </p:nvSpPr>
        <p:spPr>
          <a:xfrm>
            <a:off x="4297680" y="4261104"/>
            <a:ext cx="1554480" cy="438912"/>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grow</a:t>
            </a:r>
            <a:endParaRPr lang="en-US" sz="1000" dirty="0"/>
          </a:p>
        </p:txBody>
      </p:sp>
      <p:sp>
        <p:nvSpPr>
          <p:cNvPr id="30" name="Shape 28"/>
          <p:cNvSpPr/>
          <p:nvPr/>
        </p:nvSpPr>
        <p:spPr>
          <a:xfrm>
            <a:off x="640080" y="4754880"/>
            <a:ext cx="5120640" cy="566928"/>
          </a:xfrm>
          <a:prstGeom prst="roundRect">
            <a:avLst>
              <a:gd name="adj" fmla="val 8065"/>
            </a:avLst>
          </a:prstGeom>
          <a:solidFill>
            <a:srgbClr val="FFFFFF"/>
          </a:solidFill>
          <a:ln w="12700">
            <a:solidFill>
              <a:srgbClr val="0D7877"/>
            </a:solidFill>
            <a:prstDash val="solid"/>
          </a:ln>
        </p:spPr>
      </p:sp>
      <p:sp>
        <p:nvSpPr>
          <p:cNvPr id="31" name="Text 29"/>
          <p:cNvSpPr/>
          <p:nvPr/>
        </p:nvSpPr>
        <p:spPr>
          <a:xfrm>
            <a:off x="731520" y="4754880"/>
            <a:ext cx="4937760" cy="566928"/>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A chain of control: </a:t>
            </a:r>
            <a:r>
              <a:rPr lang="en-US" sz="1100" b="1" dirty="0">
                <a:solidFill>
                  <a:srgbClr val="262B3A"/>
                </a:solidFill>
                <a:latin typeface="Calibri" pitchFamily="34" charset="0"/>
                <a:ea typeface="Calibri" pitchFamily="34" charset="-122"/>
                <a:cs typeface="Calibri" pitchFamily="34" charset="-120"/>
              </a:rPr>
              <a:t>brain → pituitary → other gland → target organ</a:t>
            </a:r>
            <a:endParaRPr lang="en-US" sz="1100" dirty="0"/>
          </a:p>
        </p:txBody>
      </p:sp>
      <p:sp>
        <p:nvSpPr>
          <p:cNvPr id="32" name="Shape 30"/>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33" name="Text 3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One gland that controls others</a:t>
            </a:r>
            <a:endParaRPr lang="en-US" sz="1300" dirty="0"/>
          </a:p>
        </p:txBody>
      </p:sp>
      <p:sp>
        <p:nvSpPr>
          <p:cNvPr id="34" name="Text 32"/>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a:t>
            </a:r>
            <a:r>
              <a:rPr lang="en-US" sz="1100" b="1" dirty="0">
                <a:solidFill>
                  <a:srgbClr val="262B3A"/>
                </a:solidFill>
                <a:latin typeface="Calibri" pitchFamily="34" charset="0"/>
                <a:ea typeface="Calibri" pitchFamily="34" charset="-122"/>
                <a:cs typeface="Calibri" pitchFamily="34" charset="-120"/>
              </a:rPr>
              <a:t>pituitary gland</a:t>
            </a:r>
            <a:r>
              <a:rPr lang="en-US" sz="1100" dirty="0">
                <a:solidFill>
                  <a:srgbClr val="262B3A"/>
                </a:solidFill>
                <a:latin typeface="Calibri" pitchFamily="34" charset="0"/>
                <a:ea typeface="Calibri" pitchFamily="34" charset="-122"/>
                <a:cs typeface="Calibri" pitchFamily="34" charset="-120"/>
              </a:rPr>
              <a:t> is a pea-sized gland at the base of the </a:t>
            </a:r>
            <a:r>
              <a:rPr lang="en-US" sz="1100" b="1" dirty="0">
                <a:solidFill>
                  <a:srgbClr val="262B3A"/>
                </a:solidFill>
                <a:latin typeface="Calibri" pitchFamily="34" charset="0"/>
                <a:ea typeface="Calibri" pitchFamily="34" charset="-122"/>
                <a:cs typeface="Calibri" pitchFamily="34" charset="-120"/>
              </a:rPr>
              <a:t>brain</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It is called the </a:t>
            </a:r>
            <a:r>
              <a:rPr lang="en-US" sz="1100" b="1" dirty="0">
                <a:solidFill>
                  <a:srgbClr val="262B3A"/>
                </a:solidFill>
                <a:latin typeface="Calibri" pitchFamily="34" charset="0"/>
                <a:ea typeface="Calibri" pitchFamily="34" charset="-122"/>
                <a:cs typeface="Calibri" pitchFamily="34" charset="-120"/>
              </a:rPr>
              <a:t>master gland</a:t>
            </a:r>
            <a:r>
              <a:rPr lang="en-US" sz="1100" dirty="0">
                <a:solidFill>
                  <a:srgbClr val="262B3A"/>
                </a:solidFill>
                <a:latin typeface="Calibri" pitchFamily="34" charset="0"/>
                <a:ea typeface="Calibri" pitchFamily="34" charset="-122"/>
                <a:cs typeface="Calibri" pitchFamily="34" charset="-120"/>
              </a:rPr>
              <a:t> because many of its hormones </a:t>
            </a:r>
            <a:r>
              <a:rPr lang="en-US" sz="1100" b="1" dirty="0">
                <a:solidFill>
                  <a:srgbClr val="262B3A"/>
                </a:solidFill>
                <a:latin typeface="Calibri" pitchFamily="34" charset="0"/>
                <a:ea typeface="Calibri" pitchFamily="34" charset="-122"/>
                <a:cs typeface="Calibri" pitchFamily="34" charset="-120"/>
              </a:rPr>
              <a:t>control other glands</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TSH</a:t>
            </a:r>
            <a:r>
              <a:rPr lang="en-US" sz="1100" dirty="0">
                <a:solidFill>
                  <a:srgbClr val="262B3A"/>
                </a:solidFill>
                <a:latin typeface="Calibri" pitchFamily="34" charset="0"/>
                <a:ea typeface="Calibri" pitchFamily="34" charset="-122"/>
                <a:cs typeface="Calibri" pitchFamily="34" charset="-120"/>
              </a:rPr>
              <a:t> (thyroid-stimulating hormone) makes the </a:t>
            </a:r>
            <a:r>
              <a:rPr lang="en-US" sz="1100" b="1" dirty="0">
                <a:solidFill>
                  <a:srgbClr val="262B3A"/>
                </a:solidFill>
                <a:latin typeface="Calibri" pitchFamily="34" charset="0"/>
                <a:ea typeface="Calibri" pitchFamily="34" charset="-122"/>
                <a:cs typeface="Calibri" pitchFamily="34" charset="-120"/>
              </a:rPr>
              <a:t>thyroid</a:t>
            </a:r>
            <a:r>
              <a:rPr lang="en-US" sz="1100" dirty="0">
                <a:solidFill>
                  <a:srgbClr val="262B3A"/>
                </a:solidFill>
                <a:latin typeface="Calibri" pitchFamily="34" charset="0"/>
                <a:ea typeface="Calibri" pitchFamily="34" charset="-122"/>
                <a:cs typeface="Calibri" pitchFamily="34" charset="-120"/>
              </a:rPr>
              <a:t> release </a:t>
            </a:r>
            <a:r>
              <a:rPr lang="en-US" sz="1100" b="1" dirty="0">
                <a:solidFill>
                  <a:srgbClr val="262B3A"/>
                </a:solidFill>
                <a:latin typeface="Calibri" pitchFamily="34" charset="0"/>
                <a:ea typeface="Calibri" pitchFamily="34" charset="-122"/>
                <a:cs typeface="Calibri" pitchFamily="34" charset="-120"/>
              </a:rPr>
              <a:t>thyroxine</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FSH</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LH</a:t>
            </a:r>
            <a:r>
              <a:rPr lang="en-US" sz="1100" dirty="0">
                <a:solidFill>
                  <a:srgbClr val="262B3A"/>
                </a:solidFill>
                <a:latin typeface="Calibri" pitchFamily="34" charset="0"/>
                <a:ea typeface="Calibri" pitchFamily="34" charset="-122"/>
                <a:cs typeface="Calibri" pitchFamily="34" charset="-120"/>
              </a:rPr>
              <a:t> act on the </a:t>
            </a:r>
            <a:r>
              <a:rPr lang="en-US" sz="1100" b="1" dirty="0">
                <a:solidFill>
                  <a:srgbClr val="262B3A"/>
                </a:solidFill>
                <a:latin typeface="Calibri" pitchFamily="34" charset="0"/>
                <a:ea typeface="Calibri" pitchFamily="34" charset="-122"/>
                <a:cs typeface="Calibri" pitchFamily="34" charset="-120"/>
              </a:rPr>
              <a:t>ovaries</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testes</a:t>
            </a:r>
            <a:r>
              <a:rPr lang="en-US" sz="1100" dirty="0">
                <a:solidFill>
                  <a:srgbClr val="262B3A"/>
                </a:solidFill>
                <a:latin typeface="Calibri" pitchFamily="34" charset="0"/>
                <a:ea typeface="Calibri" pitchFamily="34" charset="-122"/>
                <a:cs typeface="Calibri" pitchFamily="34" charset="-120"/>
              </a:rPr>
              <a:t> (you meet them again in B5.5).</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Its hormones travel in the </a:t>
            </a:r>
            <a:r>
              <a:rPr lang="en-US" sz="1100" b="1" dirty="0">
                <a:solidFill>
                  <a:srgbClr val="262B3A"/>
                </a:solidFill>
                <a:latin typeface="Calibri" pitchFamily="34" charset="0"/>
                <a:ea typeface="Calibri" pitchFamily="34" charset="-122"/>
                <a:cs typeface="Calibri" pitchFamily="34" charset="-120"/>
              </a:rPr>
              <a:t>blood</a:t>
            </a:r>
            <a:r>
              <a:rPr lang="en-US" sz="1100" dirty="0">
                <a:solidFill>
                  <a:srgbClr val="262B3A"/>
                </a:solidFill>
                <a:latin typeface="Calibri" pitchFamily="34" charset="0"/>
                <a:ea typeface="Calibri" pitchFamily="34" charset="-122"/>
                <a:cs typeface="Calibri" pitchFamily="34" charset="-120"/>
              </a:rPr>
              <a:t>, like all hormones.</a:t>
            </a:r>
            <a:endParaRPr lang="en-US" sz="1100" dirty="0"/>
          </a:p>
        </p:txBody>
      </p:sp>
      <p:sp>
        <p:nvSpPr>
          <p:cNvPr id="35" name="Shape 33"/>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6" name="Text 34"/>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follow the chain</a:t>
            </a:r>
            <a:endParaRPr lang="en-US" sz="1300" dirty="0"/>
          </a:p>
        </p:txBody>
      </p:sp>
      <p:sp>
        <p:nvSpPr>
          <p:cNvPr id="37" name="Text 35"/>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The pituitary stops making TSH. Predict what happens to the amount of thyroxine. Explain.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Signal   </a:t>
            </a:r>
            <a:r>
              <a:rPr lang="en-US" sz="1050" dirty="0">
                <a:solidFill>
                  <a:srgbClr val="262B3A"/>
                </a:solidFill>
                <a:latin typeface="Calibri" pitchFamily="34" charset="0"/>
                <a:ea typeface="Calibri" pitchFamily="34" charset="-122"/>
                <a:cs typeface="Calibri" pitchFamily="34" charset="-120"/>
              </a:rPr>
              <a:t>TSH is the signal that makes the thyroid work</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No TSH   </a:t>
            </a:r>
            <a:r>
              <a:rPr lang="en-US" sz="1050" dirty="0">
                <a:solidFill>
                  <a:srgbClr val="262B3A"/>
                </a:solidFill>
                <a:latin typeface="Calibri" pitchFamily="34" charset="0"/>
                <a:ea typeface="Calibri" pitchFamily="34" charset="-122"/>
                <a:cs typeface="Calibri" pitchFamily="34" charset="-120"/>
              </a:rPr>
              <a:t>the thyroid is no longer stimulated</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Effect   </a:t>
            </a:r>
            <a:r>
              <a:rPr lang="en-US" sz="1050" dirty="0">
                <a:solidFill>
                  <a:srgbClr val="262B3A"/>
                </a:solidFill>
                <a:latin typeface="Calibri" pitchFamily="34" charset="0"/>
                <a:ea typeface="Calibri" pitchFamily="34" charset="-122"/>
                <a:cs typeface="Calibri" pitchFamily="34" charset="-120"/>
              </a:rPr>
              <a:t>it releases less thyroxine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thyroxine level falls, because TSH controls the thyroid</a:t>
            </a:r>
            <a:endParaRPr lang="en-US" sz="1050" dirty="0"/>
          </a:p>
        </p:txBody>
      </p:sp>
      <p:sp>
        <p:nvSpPr>
          <p:cNvPr id="38" name="Shape 36"/>
          <p:cNvSpPr/>
          <p:nvPr/>
        </p:nvSpPr>
        <p:spPr>
          <a:xfrm>
            <a:off x="411480" y="5833872"/>
            <a:ext cx="11368735" cy="530352"/>
          </a:xfrm>
          <a:prstGeom prst="rect">
            <a:avLst/>
          </a:prstGeom>
          <a:solidFill>
            <a:srgbClr val="FFF4E0"/>
          </a:solidFill>
          <a:ln w="6350">
            <a:solidFill>
              <a:srgbClr val="F1D9A8"/>
            </a:solidFill>
            <a:prstDash val="solid"/>
          </a:ln>
        </p:spPr>
      </p:sp>
      <p:sp>
        <p:nvSpPr>
          <p:cNvPr id="39" name="Shape 37"/>
          <p:cNvSpPr/>
          <p:nvPr/>
        </p:nvSpPr>
        <p:spPr>
          <a:xfrm>
            <a:off x="411480" y="5833872"/>
            <a:ext cx="82296" cy="530352"/>
          </a:xfrm>
          <a:prstGeom prst="rect">
            <a:avLst/>
          </a:prstGeom>
          <a:solidFill>
            <a:srgbClr val="E39A2F"/>
          </a:solidFill>
          <a:ln w="12700">
            <a:solidFill>
              <a:srgbClr val="E39A2F"/>
            </a:solidFill>
            <a:prstDash val="solid"/>
          </a:ln>
        </p:spPr>
      </p:sp>
      <p:sp>
        <p:nvSpPr>
          <p:cNvPr id="40" name="Text 3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the pituitary is called the </a:t>
            </a:r>
            <a:r>
              <a:rPr lang="en-US" sz="1150" b="1" dirty="0">
                <a:solidFill>
                  <a:srgbClr val="262B3A"/>
                </a:solidFill>
                <a:latin typeface="Calibri" pitchFamily="34" charset="0"/>
                <a:ea typeface="Calibri" pitchFamily="34" charset="-122"/>
                <a:cs typeface="Calibri" pitchFamily="34" charset="-120"/>
              </a:rPr>
              <a:t>master gland</a:t>
            </a:r>
            <a:r>
              <a:rPr lang="en-US" sz="1150" dirty="0">
                <a:solidFill>
                  <a:srgbClr val="262B3A"/>
                </a:solidFill>
                <a:latin typeface="Calibri" pitchFamily="34" charset="0"/>
                <a:ea typeface="Calibri" pitchFamily="34" charset="-122"/>
                <a:cs typeface="Calibri" pitchFamily="34" charset="-120"/>
              </a:rPr>
              <a:t>. Name the hormone it uses to control the </a:t>
            </a:r>
            <a:r>
              <a:rPr lang="en-US" sz="1150" b="1" dirty="0">
                <a:solidFill>
                  <a:srgbClr val="262B3A"/>
                </a:solidFill>
                <a:latin typeface="Calibri" pitchFamily="34" charset="0"/>
                <a:ea typeface="Calibri" pitchFamily="34" charset="-122"/>
                <a:cs typeface="Calibri" pitchFamily="34" charset="-120"/>
              </a:rPr>
              <a:t>thyroid</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Nerves and hormones compared</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B5.3.1 • two ways to coordinate the body</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B5.3 How do hormones control responses in the human body?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B5.3.1  |  9</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nerve impulse (top) and a hormone in the blood (bottom); not to scale</a:t>
            </a:r>
            <a:endParaRPr lang="en-US" sz="1000" dirty="0"/>
          </a:p>
        </p:txBody>
      </p:sp>
      <p:sp>
        <p:nvSpPr>
          <p:cNvPr id="10" name="Text 8"/>
          <p:cNvSpPr/>
          <p:nvPr/>
        </p:nvSpPr>
        <p:spPr>
          <a:xfrm>
            <a:off x="594360" y="1298448"/>
            <a:ext cx="5212080" cy="256032"/>
          </a:xfrm>
          <a:prstGeom prst="rect">
            <a:avLst/>
          </a:prstGeom>
          <a:noFill/>
          <a:ln/>
        </p:spPr>
        <p:txBody>
          <a:bodyPr wrap="square" lIns="0" tIns="0" rIns="0" bIns="0" rtlCol="0" anchor="ctr"/>
          <a:lstStyle/>
          <a:p>
            <a:pPr algn="l" indent="0" marL="0">
              <a:buNone/>
            </a:pPr>
            <a:r>
              <a:rPr lang="en-US" sz="1100" b="1" dirty="0">
                <a:solidFill>
                  <a:srgbClr val="0D7877"/>
                </a:solidFill>
                <a:latin typeface="Calibri" pitchFamily="34" charset="0"/>
                <a:ea typeface="Calibri" pitchFamily="34" charset="-122"/>
                <a:cs typeface="Calibri" pitchFamily="34" charset="-120"/>
              </a:rPr>
              <a:t>Nervous system</a:t>
            </a:r>
            <a:r>
              <a:rPr lang="en-US" sz="1100" dirty="0">
                <a:solidFill>
                  <a:srgbClr val="0D7877"/>
                </a:solidFill>
                <a:latin typeface="Calibri" pitchFamily="34" charset="0"/>
                <a:ea typeface="Calibri" pitchFamily="34" charset="-122"/>
                <a:cs typeface="Calibri" pitchFamily="34" charset="-120"/>
              </a:rPr>
              <a:t>: electrical impulses along neurones</a:t>
            </a:r>
            <a:endParaRPr lang="en-US" sz="1100" dirty="0"/>
          </a:p>
        </p:txBody>
      </p:sp>
      <p:sp>
        <p:nvSpPr>
          <p:cNvPr id="11" name="Shape 9"/>
          <p:cNvSpPr/>
          <p:nvPr/>
        </p:nvSpPr>
        <p:spPr>
          <a:xfrm>
            <a:off x="722376" y="1865376"/>
            <a:ext cx="292608" cy="292608"/>
          </a:xfrm>
          <a:prstGeom prst="ellipse">
            <a:avLst/>
          </a:prstGeom>
          <a:solidFill>
            <a:srgbClr val="D8C8EC"/>
          </a:solidFill>
          <a:ln w="15875">
            <a:solidFill>
              <a:srgbClr val="6A4C93"/>
            </a:solidFill>
            <a:prstDash val="solid"/>
          </a:ln>
        </p:spPr>
      </p:sp>
      <p:sp>
        <p:nvSpPr>
          <p:cNvPr id="12" name="Shape 10"/>
          <p:cNvSpPr/>
          <p:nvPr/>
        </p:nvSpPr>
        <p:spPr>
          <a:xfrm>
            <a:off x="1014984" y="2011680"/>
            <a:ext cx="4059936" cy="91"/>
          </a:xfrm>
          <a:prstGeom prst="line">
            <a:avLst/>
          </a:prstGeom>
          <a:noFill/>
          <a:ln w="38100">
            <a:solidFill>
              <a:srgbClr val="6A4C93"/>
            </a:solidFill>
            <a:prstDash val="solid"/>
          </a:ln>
        </p:spPr>
      </p:sp>
      <p:sp>
        <p:nvSpPr>
          <p:cNvPr id="13" name="Shape 11"/>
          <p:cNvSpPr/>
          <p:nvPr/>
        </p:nvSpPr>
        <p:spPr>
          <a:xfrm flipV="1">
            <a:off x="5120640" y="1901952"/>
            <a:ext cx="91440" cy="109728"/>
          </a:xfrm>
          <a:prstGeom prst="line">
            <a:avLst/>
          </a:prstGeom>
          <a:noFill/>
          <a:ln w="19050">
            <a:solidFill>
              <a:srgbClr val="6A4C93"/>
            </a:solidFill>
            <a:prstDash val="solid"/>
          </a:ln>
        </p:spPr>
      </p:sp>
      <p:sp>
        <p:nvSpPr>
          <p:cNvPr id="14" name="Shape 12"/>
          <p:cNvSpPr/>
          <p:nvPr/>
        </p:nvSpPr>
        <p:spPr>
          <a:xfrm>
            <a:off x="5120640" y="2011680"/>
            <a:ext cx="137160" cy="91"/>
          </a:xfrm>
          <a:prstGeom prst="line">
            <a:avLst/>
          </a:prstGeom>
          <a:noFill/>
          <a:ln w="19050">
            <a:solidFill>
              <a:srgbClr val="6A4C93"/>
            </a:solidFill>
            <a:prstDash val="solid"/>
          </a:ln>
        </p:spPr>
      </p:sp>
      <p:sp>
        <p:nvSpPr>
          <p:cNvPr id="15" name="Shape 13"/>
          <p:cNvSpPr/>
          <p:nvPr/>
        </p:nvSpPr>
        <p:spPr>
          <a:xfrm>
            <a:off x="5120640" y="2011680"/>
            <a:ext cx="91440" cy="109728"/>
          </a:xfrm>
          <a:prstGeom prst="line">
            <a:avLst/>
          </a:prstGeom>
          <a:noFill/>
          <a:ln w="19050">
            <a:solidFill>
              <a:srgbClr val="6A4C93"/>
            </a:solidFill>
            <a:prstDash val="solid"/>
          </a:ln>
        </p:spPr>
      </p:sp>
      <p:sp>
        <p:nvSpPr>
          <p:cNvPr id="16" name="Shape 14"/>
          <p:cNvSpPr/>
          <p:nvPr/>
        </p:nvSpPr>
        <p:spPr>
          <a:xfrm>
            <a:off x="5340096" y="1934870"/>
            <a:ext cx="384048" cy="153619"/>
          </a:xfrm>
          <a:prstGeom prst="ellipse">
            <a:avLst/>
          </a:prstGeom>
          <a:solidFill>
            <a:srgbClr val="F4B6B9"/>
          </a:solidFill>
          <a:ln w="15875">
            <a:solidFill>
              <a:srgbClr val="A33E48"/>
            </a:solidFill>
            <a:prstDash val="solid"/>
          </a:ln>
        </p:spPr>
      </p:sp>
      <p:sp>
        <p:nvSpPr>
          <p:cNvPr id="17" name="Shape 15"/>
          <p:cNvSpPr/>
          <p:nvPr/>
        </p:nvSpPr>
        <p:spPr>
          <a:xfrm>
            <a:off x="5422392" y="1962302"/>
            <a:ext cx="91" cy="98755"/>
          </a:xfrm>
          <a:prstGeom prst="line">
            <a:avLst/>
          </a:prstGeom>
          <a:noFill/>
          <a:ln w="9525">
            <a:solidFill>
              <a:srgbClr val="C76A72"/>
            </a:solidFill>
            <a:prstDash val="solid"/>
          </a:ln>
        </p:spPr>
      </p:sp>
      <p:sp>
        <p:nvSpPr>
          <p:cNvPr id="18" name="Shape 16"/>
          <p:cNvSpPr/>
          <p:nvPr/>
        </p:nvSpPr>
        <p:spPr>
          <a:xfrm>
            <a:off x="5477256" y="1962302"/>
            <a:ext cx="91" cy="98755"/>
          </a:xfrm>
          <a:prstGeom prst="line">
            <a:avLst/>
          </a:prstGeom>
          <a:noFill/>
          <a:ln w="9525">
            <a:solidFill>
              <a:srgbClr val="C76A72"/>
            </a:solidFill>
            <a:prstDash val="solid"/>
          </a:ln>
        </p:spPr>
      </p:sp>
      <p:sp>
        <p:nvSpPr>
          <p:cNvPr id="19" name="Shape 17"/>
          <p:cNvSpPr/>
          <p:nvPr/>
        </p:nvSpPr>
        <p:spPr>
          <a:xfrm>
            <a:off x="5532120" y="1962302"/>
            <a:ext cx="91" cy="98755"/>
          </a:xfrm>
          <a:prstGeom prst="line">
            <a:avLst/>
          </a:prstGeom>
          <a:noFill/>
          <a:ln w="9525">
            <a:solidFill>
              <a:srgbClr val="C76A72"/>
            </a:solidFill>
            <a:prstDash val="solid"/>
          </a:ln>
        </p:spPr>
      </p:sp>
      <p:sp>
        <p:nvSpPr>
          <p:cNvPr id="20" name="Shape 18"/>
          <p:cNvSpPr/>
          <p:nvPr/>
        </p:nvSpPr>
        <p:spPr>
          <a:xfrm>
            <a:off x="5586984" y="1962302"/>
            <a:ext cx="91" cy="98755"/>
          </a:xfrm>
          <a:prstGeom prst="line">
            <a:avLst/>
          </a:prstGeom>
          <a:noFill/>
          <a:ln w="9525">
            <a:solidFill>
              <a:srgbClr val="C76A72"/>
            </a:solidFill>
            <a:prstDash val="solid"/>
          </a:ln>
        </p:spPr>
      </p:sp>
      <p:sp>
        <p:nvSpPr>
          <p:cNvPr id="21" name="Shape 19"/>
          <p:cNvSpPr/>
          <p:nvPr/>
        </p:nvSpPr>
        <p:spPr>
          <a:xfrm>
            <a:off x="5641848" y="1962302"/>
            <a:ext cx="91" cy="98755"/>
          </a:xfrm>
          <a:prstGeom prst="line">
            <a:avLst/>
          </a:prstGeom>
          <a:noFill/>
          <a:ln w="9525">
            <a:solidFill>
              <a:srgbClr val="C76A72"/>
            </a:solidFill>
            <a:prstDash val="solid"/>
          </a:ln>
        </p:spPr>
      </p:sp>
      <p:sp>
        <p:nvSpPr>
          <p:cNvPr id="22" name="Text 20"/>
          <p:cNvSpPr/>
          <p:nvPr/>
        </p:nvSpPr>
        <p:spPr>
          <a:xfrm>
            <a:off x="5212080" y="2148840"/>
            <a:ext cx="64008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muscle</a:t>
            </a:r>
            <a:endParaRPr lang="en-US" sz="1000" dirty="0"/>
          </a:p>
        </p:txBody>
      </p:sp>
      <p:sp>
        <p:nvSpPr>
          <p:cNvPr id="23" name="Shape 21"/>
          <p:cNvSpPr/>
          <p:nvPr/>
        </p:nvSpPr>
        <p:spPr>
          <a:xfrm>
            <a:off x="1463040" y="1947672"/>
            <a:ext cx="320040" cy="128016"/>
          </a:xfrm>
          <a:prstGeom prst="rect">
            <a:avLst/>
          </a:prstGeom>
          <a:solidFill>
            <a:srgbClr val="F5D76E"/>
          </a:solidFill>
          <a:ln w="9525">
            <a:solidFill>
              <a:srgbClr val="B8930A"/>
            </a:solidFill>
            <a:prstDash val="solid"/>
          </a:ln>
        </p:spPr>
      </p:sp>
      <p:sp>
        <p:nvSpPr>
          <p:cNvPr id="24" name="Shape 22"/>
          <p:cNvSpPr/>
          <p:nvPr/>
        </p:nvSpPr>
        <p:spPr>
          <a:xfrm>
            <a:off x="2377440" y="1947672"/>
            <a:ext cx="320040" cy="128016"/>
          </a:xfrm>
          <a:prstGeom prst="rect">
            <a:avLst/>
          </a:prstGeom>
          <a:solidFill>
            <a:srgbClr val="F5D76E"/>
          </a:solidFill>
          <a:ln w="9525">
            <a:solidFill>
              <a:srgbClr val="B8930A"/>
            </a:solidFill>
            <a:prstDash val="solid"/>
          </a:ln>
        </p:spPr>
      </p:sp>
      <p:sp>
        <p:nvSpPr>
          <p:cNvPr id="25" name="Shape 23"/>
          <p:cNvSpPr/>
          <p:nvPr/>
        </p:nvSpPr>
        <p:spPr>
          <a:xfrm>
            <a:off x="3291840" y="1947672"/>
            <a:ext cx="320040" cy="128016"/>
          </a:xfrm>
          <a:prstGeom prst="rect">
            <a:avLst/>
          </a:prstGeom>
          <a:solidFill>
            <a:srgbClr val="F5D76E"/>
          </a:solidFill>
          <a:ln w="9525">
            <a:solidFill>
              <a:srgbClr val="B8930A"/>
            </a:solidFill>
            <a:prstDash val="solid"/>
          </a:ln>
        </p:spPr>
      </p:sp>
      <p:sp>
        <p:nvSpPr>
          <p:cNvPr id="26" name="Shape 24"/>
          <p:cNvSpPr/>
          <p:nvPr/>
        </p:nvSpPr>
        <p:spPr>
          <a:xfrm>
            <a:off x="4206240" y="1947672"/>
            <a:ext cx="320040" cy="128016"/>
          </a:xfrm>
          <a:prstGeom prst="rect">
            <a:avLst/>
          </a:prstGeom>
          <a:solidFill>
            <a:srgbClr val="F5D76E"/>
          </a:solidFill>
          <a:ln w="9525">
            <a:solidFill>
              <a:srgbClr val="B8930A"/>
            </a:solidFill>
            <a:prstDash val="solid"/>
          </a:ln>
        </p:spPr>
      </p:sp>
      <p:sp>
        <p:nvSpPr>
          <p:cNvPr id="27" name="Shape 25"/>
          <p:cNvSpPr/>
          <p:nvPr/>
        </p:nvSpPr>
        <p:spPr>
          <a:xfrm>
            <a:off x="1828800" y="1737360"/>
            <a:ext cx="2560320" cy="91"/>
          </a:xfrm>
          <a:prstGeom prst="line">
            <a:avLst/>
          </a:prstGeom>
          <a:noFill/>
          <a:ln w="19050">
            <a:solidFill>
              <a:srgbClr val="6A4C93"/>
            </a:solidFill>
            <a:prstDash val="solid"/>
            <a:tailEnd type="triangle"/>
          </a:ln>
        </p:spPr>
      </p:sp>
      <p:sp>
        <p:nvSpPr>
          <p:cNvPr id="28" name="Text 26"/>
          <p:cNvSpPr/>
          <p:nvPr/>
        </p:nvSpPr>
        <p:spPr>
          <a:xfrm>
            <a:off x="594360" y="2377440"/>
            <a:ext cx="5212080" cy="256032"/>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fast • to </a:t>
            </a:r>
            <a:r>
              <a:rPr lang="en-US" sz="1050" b="1" dirty="0">
                <a:solidFill>
                  <a:srgbClr val="262B3A"/>
                </a:solidFill>
                <a:latin typeface="Calibri" pitchFamily="34" charset="0"/>
                <a:ea typeface="Calibri" pitchFamily="34" charset="-122"/>
                <a:cs typeface="Calibri" pitchFamily="34" charset="-120"/>
              </a:rPr>
              <a:t>one</a:t>
            </a:r>
            <a:r>
              <a:rPr lang="en-US" sz="1050" dirty="0">
                <a:solidFill>
                  <a:srgbClr val="262B3A"/>
                </a:solidFill>
                <a:latin typeface="Calibri" pitchFamily="34" charset="0"/>
                <a:ea typeface="Calibri" pitchFamily="34" charset="-122"/>
                <a:cs typeface="Calibri" pitchFamily="34" charset="-120"/>
              </a:rPr>
              <a:t> place (a muscle or gland) • short-lived</a:t>
            </a:r>
            <a:endParaRPr lang="en-US" sz="1050" dirty="0"/>
          </a:p>
        </p:txBody>
      </p:sp>
      <p:sp>
        <p:nvSpPr>
          <p:cNvPr id="29" name="Text 27"/>
          <p:cNvSpPr/>
          <p:nvPr/>
        </p:nvSpPr>
        <p:spPr>
          <a:xfrm>
            <a:off x="594360" y="2971800"/>
            <a:ext cx="5212080" cy="256032"/>
          </a:xfrm>
          <a:prstGeom prst="rect">
            <a:avLst/>
          </a:prstGeom>
          <a:noFill/>
          <a:ln/>
        </p:spPr>
        <p:txBody>
          <a:bodyPr wrap="square" lIns="0" tIns="0" rIns="0" bIns="0" rtlCol="0" anchor="ctr"/>
          <a:lstStyle/>
          <a:p>
            <a:pPr algn="l" indent="0" marL="0">
              <a:buNone/>
            </a:pPr>
            <a:r>
              <a:rPr lang="en-US" sz="1100" b="1" dirty="0">
                <a:solidFill>
                  <a:srgbClr val="9A5A0A"/>
                </a:solidFill>
                <a:latin typeface="Calibri" pitchFamily="34" charset="0"/>
                <a:ea typeface="Calibri" pitchFamily="34" charset="-122"/>
                <a:cs typeface="Calibri" pitchFamily="34" charset="-120"/>
              </a:rPr>
              <a:t>Endocrine system</a:t>
            </a:r>
            <a:r>
              <a:rPr lang="en-US" sz="1100" dirty="0">
                <a:solidFill>
                  <a:srgbClr val="9A5A0A"/>
                </a:solidFill>
                <a:latin typeface="Calibri" pitchFamily="34" charset="0"/>
                <a:ea typeface="Calibri" pitchFamily="34" charset="-122"/>
                <a:cs typeface="Calibri" pitchFamily="34" charset="-120"/>
              </a:rPr>
              <a:t>: hormones carried in the blood</a:t>
            </a:r>
            <a:endParaRPr lang="en-US" sz="1100" dirty="0"/>
          </a:p>
        </p:txBody>
      </p:sp>
      <p:sp>
        <p:nvSpPr>
          <p:cNvPr id="30" name="Shape 28"/>
          <p:cNvSpPr/>
          <p:nvPr/>
        </p:nvSpPr>
        <p:spPr>
          <a:xfrm>
            <a:off x="662940" y="3474720"/>
            <a:ext cx="411480" cy="365760"/>
          </a:xfrm>
          <a:prstGeom prst="ellipse">
            <a:avLst/>
          </a:prstGeom>
          <a:solidFill>
            <a:srgbClr val="F3D3A6"/>
          </a:solidFill>
          <a:ln w="15875">
            <a:solidFill>
              <a:srgbClr val="9A5A0A"/>
            </a:solidFill>
            <a:prstDash val="solid"/>
          </a:ln>
        </p:spPr>
      </p:sp>
      <p:sp>
        <p:nvSpPr>
          <p:cNvPr id="31" name="Shape 29"/>
          <p:cNvSpPr/>
          <p:nvPr/>
        </p:nvSpPr>
        <p:spPr>
          <a:xfrm>
            <a:off x="1097280" y="3456432"/>
            <a:ext cx="3931920" cy="402336"/>
          </a:xfrm>
          <a:prstGeom prst="roundRect">
            <a:avLst>
              <a:gd name="adj" fmla="val 45455"/>
            </a:avLst>
          </a:prstGeom>
          <a:solidFill>
            <a:srgbClr val="F8D2D4"/>
          </a:solidFill>
          <a:ln w="15875">
            <a:solidFill>
              <a:srgbClr val="C8414C"/>
            </a:solidFill>
            <a:prstDash val="solid"/>
          </a:ln>
        </p:spPr>
      </p:sp>
      <p:sp>
        <p:nvSpPr>
          <p:cNvPr id="32" name="Shape 30"/>
          <p:cNvSpPr/>
          <p:nvPr/>
        </p:nvSpPr>
        <p:spPr>
          <a:xfrm>
            <a:off x="1403604" y="3561588"/>
            <a:ext cx="118872" cy="106985"/>
          </a:xfrm>
          <a:prstGeom prst="triangle">
            <a:avLst/>
          </a:prstGeom>
          <a:solidFill>
            <a:srgbClr val="E08A1E"/>
          </a:solidFill>
          <a:ln w="9525">
            <a:solidFill>
              <a:srgbClr val="9A5A0A"/>
            </a:solidFill>
            <a:prstDash val="solid"/>
          </a:ln>
        </p:spPr>
      </p:sp>
      <p:sp>
        <p:nvSpPr>
          <p:cNvPr id="33" name="Shape 31"/>
          <p:cNvSpPr/>
          <p:nvPr/>
        </p:nvSpPr>
        <p:spPr>
          <a:xfrm>
            <a:off x="2135124" y="3643884"/>
            <a:ext cx="118872" cy="106985"/>
          </a:xfrm>
          <a:prstGeom prst="triangle">
            <a:avLst/>
          </a:prstGeom>
          <a:solidFill>
            <a:srgbClr val="E08A1E"/>
          </a:solidFill>
          <a:ln w="9525">
            <a:solidFill>
              <a:srgbClr val="9A5A0A"/>
            </a:solidFill>
            <a:prstDash val="solid"/>
          </a:ln>
        </p:spPr>
      </p:sp>
      <p:sp>
        <p:nvSpPr>
          <p:cNvPr id="34" name="Shape 32"/>
          <p:cNvSpPr/>
          <p:nvPr/>
        </p:nvSpPr>
        <p:spPr>
          <a:xfrm>
            <a:off x="2958084" y="3561588"/>
            <a:ext cx="118872" cy="106985"/>
          </a:xfrm>
          <a:prstGeom prst="triangle">
            <a:avLst/>
          </a:prstGeom>
          <a:solidFill>
            <a:srgbClr val="E08A1E"/>
          </a:solidFill>
          <a:ln w="9525">
            <a:solidFill>
              <a:srgbClr val="9A5A0A"/>
            </a:solidFill>
            <a:prstDash val="solid"/>
          </a:ln>
        </p:spPr>
      </p:sp>
      <p:sp>
        <p:nvSpPr>
          <p:cNvPr id="35" name="Shape 33"/>
          <p:cNvSpPr/>
          <p:nvPr/>
        </p:nvSpPr>
        <p:spPr>
          <a:xfrm>
            <a:off x="3781044" y="3643884"/>
            <a:ext cx="118872" cy="106985"/>
          </a:xfrm>
          <a:prstGeom prst="triangle">
            <a:avLst/>
          </a:prstGeom>
          <a:solidFill>
            <a:srgbClr val="E08A1E"/>
          </a:solidFill>
          <a:ln w="9525">
            <a:solidFill>
              <a:srgbClr val="9A5A0A"/>
            </a:solidFill>
            <a:prstDash val="solid"/>
          </a:ln>
        </p:spPr>
      </p:sp>
      <p:sp>
        <p:nvSpPr>
          <p:cNvPr id="36" name="Shape 34"/>
          <p:cNvSpPr/>
          <p:nvPr/>
        </p:nvSpPr>
        <p:spPr>
          <a:xfrm>
            <a:off x="4604004" y="3561588"/>
            <a:ext cx="118872" cy="106985"/>
          </a:xfrm>
          <a:prstGeom prst="triangle">
            <a:avLst/>
          </a:prstGeom>
          <a:solidFill>
            <a:srgbClr val="E08A1E"/>
          </a:solidFill>
          <a:ln w="9525">
            <a:solidFill>
              <a:srgbClr val="9A5A0A"/>
            </a:solidFill>
            <a:prstDash val="solid"/>
          </a:ln>
        </p:spPr>
      </p:sp>
      <p:sp>
        <p:nvSpPr>
          <p:cNvPr id="37" name="Shape 35"/>
          <p:cNvSpPr/>
          <p:nvPr/>
        </p:nvSpPr>
        <p:spPr>
          <a:xfrm>
            <a:off x="2743200" y="3858768"/>
            <a:ext cx="91" cy="210312"/>
          </a:xfrm>
          <a:prstGeom prst="line">
            <a:avLst/>
          </a:prstGeom>
          <a:noFill/>
          <a:ln w="19050">
            <a:solidFill>
              <a:srgbClr val="C8414C"/>
            </a:solidFill>
            <a:prstDash val="solid"/>
          </a:ln>
        </p:spPr>
      </p:sp>
      <p:sp>
        <p:nvSpPr>
          <p:cNvPr id="38" name="Shape 36"/>
          <p:cNvSpPr/>
          <p:nvPr/>
        </p:nvSpPr>
        <p:spPr>
          <a:xfrm>
            <a:off x="2450592" y="4069080"/>
            <a:ext cx="585216" cy="365760"/>
          </a:xfrm>
          <a:prstGeom prst="roundRect">
            <a:avLst>
              <a:gd name="adj" fmla="val 20000"/>
            </a:avLst>
          </a:prstGeom>
          <a:solidFill>
            <a:srgbClr val="FBF3DF"/>
          </a:solidFill>
          <a:ln w="12700">
            <a:solidFill>
              <a:srgbClr val="8A6D3B"/>
            </a:solidFill>
            <a:prstDash val="solid"/>
          </a:ln>
        </p:spPr>
      </p:sp>
      <p:sp>
        <p:nvSpPr>
          <p:cNvPr id="39" name="Shape 37"/>
          <p:cNvSpPr/>
          <p:nvPr/>
        </p:nvSpPr>
        <p:spPr>
          <a:xfrm>
            <a:off x="2651760" y="4069080"/>
            <a:ext cx="182880" cy="146304"/>
          </a:xfrm>
          <a:prstGeom prst="rect">
            <a:avLst/>
          </a:prstGeom>
          <a:solidFill>
            <a:srgbClr val="2E8B57"/>
          </a:solidFill>
          <a:ln w="9525">
            <a:solidFill>
              <a:srgbClr val="1E6B40"/>
            </a:solidFill>
            <a:prstDash val="solid"/>
          </a:ln>
        </p:spPr>
      </p:sp>
      <p:sp>
        <p:nvSpPr>
          <p:cNvPr id="40" name="Shape 38"/>
          <p:cNvSpPr/>
          <p:nvPr/>
        </p:nvSpPr>
        <p:spPr>
          <a:xfrm>
            <a:off x="2670048" y="4068166"/>
            <a:ext cx="146304" cy="119786"/>
          </a:xfrm>
          <a:custGeom>
            <a:avLst/>
            <a:gdLst/>
            <a:ahLst/>
            <a:cxnLst/>
            <a:rect l="l" t="t" r="r" b="b"/>
            <a:pathLst>
              <a:path w="146304" h="119786">
                <a:moveTo>
                  <a:pt x="0" y="0"/>
                </a:moveTo>
                <a:lnTo>
                  <a:pt x="146304" y="0"/>
                </a:lnTo>
                <a:lnTo>
                  <a:pt x="73152" y="119786"/>
                </a:lnTo>
                <a:close/>
              </a:path>
            </a:pathLst>
          </a:custGeom>
          <a:solidFill>
            <a:srgbClr val="FFFFFF"/>
          </a:solidFill>
          <a:ln w="6350">
            <a:solidFill>
              <a:srgbClr val="1E6B40"/>
            </a:solidFill>
            <a:prstDash val="solid"/>
          </a:ln>
        </p:spPr>
      </p:sp>
      <p:sp>
        <p:nvSpPr>
          <p:cNvPr id="41" name="Shape 39"/>
          <p:cNvSpPr/>
          <p:nvPr/>
        </p:nvSpPr>
        <p:spPr>
          <a:xfrm rot="10800000">
            <a:off x="2670048" y="4059936"/>
            <a:ext cx="146304" cy="128016"/>
          </a:xfrm>
          <a:prstGeom prst="triangle">
            <a:avLst/>
          </a:prstGeom>
          <a:solidFill>
            <a:srgbClr val="E08A1E"/>
          </a:solidFill>
          <a:ln w="9525">
            <a:solidFill>
              <a:srgbClr val="9A5A0A"/>
            </a:solidFill>
            <a:prstDash val="solid"/>
          </a:ln>
        </p:spPr>
      </p:sp>
      <p:sp>
        <p:nvSpPr>
          <p:cNvPr id="42" name="Shape 40"/>
          <p:cNvSpPr/>
          <p:nvPr/>
        </p:nvSpPr>
        <p:spPr>
          <a:xfrm>
            <a:off x="4206240" y="3858768"/>
            <a:ext cx="91" cy="210312"/>
          </a:xfrm>
          <a:prstGeom prst="line">
            <a:avLst/>
          </a:prstGeom>
          <a:noFill/>
          <a:ln w="19050">
            <a:solidFill>
              <a:srgbClr val="C8414C"/>
            </a:solidFill>
            <a:prstDash val="solid"/>
          </a:ln>
        </p:spPr>
      </p:sp>
      <p:sp>
        <p:nvSpPr>
          <p:cNvPr id="43" name="Shape 41"/>
          <p:cNvSpPr/>
          <p:nvPr/>
        </p:nvSpPr>
        <p:spPr>
          <a:xfrm>
            <a:off x="3913632" y="4069080"/>
            <a:ext cx="585216" cy="365760"/>
          </a:xfrm>
          <a:prstGeom prst="roundRect">
            <a:avLst>
              <a:gd name="adj" fmla="val 20000"/>
            </a:avLst>
          </a:prstGeom>
          <a:solidFill>
            <a:srgbClr val="FBF3DF"/>
          </a:solidFill>
          <a:ln w="12700">
            <a:solidFill>
              <a:srgbClr val="8A6D3B"/>
            </a:solidFill>
            <a:prstDash val="solid"/>
          </a:ln>
        </p:spPr>
      </p:sp>
      <p:sp>
        <p:nvSpPr>
          <p:cNvPr id="44" name="Shape 42"/>
          <p:cNvSpPr/>
          <p:nvPr/>
        </p:nvSpPr>
        <p:spPr>
          <a:xfrm>
            <a:off x="4114800" y="4069080"/>
            <a:ext cx="182880" cy="146304"/>
          </a:xfrm>
          <a:prstGeom prst="rect">
            <a:avLst/>
          </a:prstGeom>
          <a:solidFill>
            <a:srgbClr val="2E8B57"/>
          </a:solidFill>
          <a:ln w="9525">
            <a:solidFill>
              <a:srgbClr val="1E6B40"/>
            </a:solidFill>
            <a:prstDash val="solid"/>
          </a:ln>
        </p:spPr>
      </p:sp>
      <p:sp>
        <p:nvSpPr>
          <p:cNvPr id="45" name="Shape 43"/>
          <p:cNvSpPr/>
          <p:nvPr/>
        </p:nvSpPr>
        <p:spPr>
          <a:xfrm>
            <a:off x="4133088" y="4068166"/>
            <a:ext cx="146304" cy="119786"/>
          </a:xfrm>
          <a:custGeom>
            <a:avLst/>
            <a:gdLst/>
            <a:ahLst/>
            <a:cxnLst/>
            <a:rect l="l" t="t" r="r" b="b"/>
            <a:pathLst>
              <a:path w="146304" h="119786">
                <a:moveTo>
                  <a:pt x="0" y="0"/>
                </a:moveTo>
                <a:lnTo>
                  <a:pt x="146304" y="0"/>
                </a:lnTo>
                <a:lnTo>
                  <a:pt x="73152" y="119786"/>
                </a:lnTo>
                <a:close/>
              </a:path>
            </a:pathLst>
          </a:custGeom>
          <a:solidFill>
            <a:srgbClr val="FFFFFF"/>
          </a:solidFill>
          <a:ln w="6350">
            <a:solidFill>
              <a:srgbClr val="1E6B40"/>
            </a:solidFill>
            <a:prstDash val="solid"/>
          </a:ln>
        </p:spPr>
      </p:sp>
      <p:sp>
        <p:nvSpPr>
          <p:cNvPr id="46" name="Shape 44"/>
          <p:cNvSpPr/>
          <p:nvPr/>
        </p:nvSpPr>
        <p:spPr>
          <a:xfrm rot="10800000">
            <a:off x="4133088" y="4059936"/>
            <a:ext cx="146304" cy="128016"/>
          </a:xfrm>
          <a:prstGeom prst="triangle">
            <a:avLst/>
          </a:prstGeom>
          <a:solidFill>
            <a:srgbClr val="E08A1E"/>
          </a:solidFill>
          <a:ln w="9525">
            <a:solidFill>
              <a:srgbClr val="9A5A0A"/>
            </a:solidFill>
            <a:prstDash val="solid"/>
          </a:ln>
        </p:spPr>
      </p:sp>
      <p:sp>
        <p:nvSpPr>
          <p:cNvPr id="47" name="Shape 45"/>
          <p:cNvSpPr/>
          <p:nvPr/>
        </p:nvSpPr>
        <p:spPr>
          <a:xfrm>
            <a:off x="5239512" y="3474720"/>
            <a:ext cx="585216" cy="365760"/>
          </a:xfrm>
          <a:prstGeom prst="roundRect">
            <a:avLst>
              <a:gd name="adj" fmla="val 20000"/>
            </a:avLst>
          </a:prstGeom>
          <a:solidFill>
            <a:srgbClr val="FBF3DF"/>
          </a:solidFill>
          <a:ln w="12700">
            <a:solidFill>
              <a:srgbClr val="8A6D3B"/>
            </a:solidFill>
            <a:prstDash val="solid"/>
          </a:ln>
        </p:spPr>
      </p:sp>
      <p:sp>
        <p:nvSpPr>
          <p:cNvPr id="48" name="Shape 46"/>
          <p:cNvSpPr/>
          <p:nvPr/>
        </p:nvSpPr>
        <p:spPr>
          <a:xfrm>
            <a:off x="5440680" y="3474720"/>
            <a:ext cx="182880" cy="146304"/>
          </a:xfrm>
          <a:prstGeom prst="rect">
            <a:avLst/>
          </a:prstGeom>
          <a:solidFill>
            <a:srgbClr val="2E8B57"/>
          </a:solidFill>
          <a:ln w="9525">
            <a:solidFill>
              <a:srgbClr val="1E6B40"/>
            </a:solidFill>
            <a:prstDash val="solid"/>
          </a:ln>
        </p:spPr>
      </p:sp>
      <p:sp>
        <p:nvSpPr>
          <p:cNvPr id="49" name="Shape 47"/>
          <p:cNvSpPr/>
          <p:nvPr/>
        </p:nvSpPr>
        <p:spPr>
          <a:xfrm>
            <a:off x="5458968" y="3473806"/>
            <a:ext cx="146304" cy="119786"/>
          </a:xfrm>
          <a:custGeom>
            <a:avLst/>
            <a:gdLst/>
            <a:ahLst/>
            <a:cxnLst/>
            <a:rect l="l" t="t" r="r" b="b"/>
            <a:pathLst>
              <a:path w="146304" h="119786">
                <a:moveTo>
                  <a:pt x="0" y="0"/>
                </a:moveTo>
                <a:lnTo>
                  <a:pt x="146304" y="0"/>
                </a:lnTo>
                <a:lnTo>
                  <a:pt x="73152" y="119786"/>
                </a:lnTo>
                <a:close/>
              </a:path>
            </a:pathLst>
          </a:custGeom>
          <a:solidFill>
            <a:srgbClr val="FFFFFF"/>
          </a:solidFill>
          <a:ln w="6350">
            <a:solidFill>
              <a:srgbClr val="1E6B40"/>
            </a:solidFill>
            <a:prstDash val="solid"/>
          </a:ln>
        </p:spPr>
      </p:sp>
      <p:sp>
        <p:nvSpPr>
          <p:cNvPr id="50" name="Shape 48"/>
          <p:cNvSpPr/>
          <p:nvPr/>
        </p:nvSpPr>
        <p:spPr>
          <a:xfrm rot="10800000">
            <a:off x="5458968" y="3465576"/>
            <a:ext cx="146304" cy="128016"/>
          </a:xfrm>
          <a:prstGeom prst="triangle">
            <a:avLst/>
          </a:prstGeom>
          <a:solidFill>
            <a:srgbClr val="E08A1E"/>
          </a:solidFill>
          <a:ln w="9525">
            <a:solidFill>
              <a:srgbClr val="9A5A0A"/>
            </a:solidFill>
            <a:prstDash val="solid"/>
          </a:ln>
        </p:spPr>
      </p:sp>
      <p:sp>
        <p:nvSpPr>
          <p:cNvPr id="51" name="Text 49"/>
          <p:cNvSpPr/>
          <p:nvPr/>
        </p:nvSpPr>
        <p:spPr>
          <a:xfrm>
            <a:off x="594360" y="4526280"/>
            <a:ext cx="5212080" cy="256032"/>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slower • to </a:t>
            </a:r>
            <a:r>
              <a:rPr lang="en-US" sz="1050" b="1" dirty="0">
                <a:solidFill>
                  <a:srgbClr val="262B3A"/>
                </a:solidFill>
                <a:latin typeface="Calibri" pitchFamily="34" charset="0"/>
                <a:ea typeface="Calibri" pitchFamily="34" charset="-122"/>
                <a:cs typeface="Calibri" pitchFamily="34" charset="-120"/>
              </a:rPr>
              <a:t>many</a:t>
            </a:r>
            <a:r>
              <a:rPr lang="en-US" sz="1050" dirty="0">
                <a:solidFill>
                  <a:srgbClr val="262B3A"/>
                </a:solidFill>
                <a:latin typeface="Calibri" pitchFamily="34" charset="0"/>
                <a:ea typeface="Calibri" pitchFamily="34" charset="-122"/>
                <a:cs typeface="Calibri" pitchFamily="34" charset="-120"/>
              </a:rPr>
              <a:t> target organs • lasts longer</a:t>
            </a:r>
            <a:endParaRPr lang="en-US" sz="1050" dirty="0"/>
          </a:p>
        </p:txBody>
      </p:sp>
      <p:sp>
        <p:nvSpPr>
          <p:cNvPr id="52" name="Text 50"/>
          <p:cNvSpPr/>
          <p:nvPr/>
        </p:nvSpPr>
        <p:spPr>
          <a:xfrm>
            <a:off x="594360" y="4846320"/>
            <a:ext cx="5212080" cy="256032"/>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Nerve impulse to the foot: about </a:t>
            </a:r>
            <a:r>
              <a:rPr lang="en-US" sz="1050" b="1" dirty="0">
                <a:solidFill>
                  <a:srgbClr val="262B3A"/>
                </a:solidFill>
                <a:latin typeface="Calibri" pitchFamily="34" charset="0"/>
                <a:ea typeface="Calibri" pitchFamily="34" charset="-122"/>
                <a:cs typeface="Calibri" pitchFamily="34" charset="-120"/>
              </a:rPr>
              <a:t>15 ms</a:t>
            </a:r>
            <a:r>
              <a:rPr lang="en-US" sz="1050" dirty="0">
                <a:solidFill>
                  <a:srgbClr val="262B3A"/>
                </a:solidFill>
                <a:latin typeface="Calibri" pitchFamily="34" charset="0"/>
                <a:ea typeface="Calibri" pitchFamily="34" charset="-122"/>
                <a:cs typeface="Calibri" pitchFamily="34" charset="-120"/>
              </a:rPr>
              <a:t>. Blood round the body: about </a:t>
            </a:r>
            <a:r>
              <a:rPr lang="en-US" sz="1050" b="1" dirty="0">
                <a:solidFill>
                  <a:srgbClr val="262B3A"/>
                </a:solidFill>
                <a:latin typeface="Calibri" pitchFamily="34" charset="0"/>
                <a:ea typeface="Calibri" pitchFamily="34" charset="-122"/>
                <a:cs typeface="Calibri" pitchFamily="34" charset="-120"/>
              </a:rPr>
              <a:t>60 s</a:t>
            </a:r>
            <a:r>
              <a:rPr lang="en-US" sz="1050" dirty="0">
                <a:solidFill>
                  <a:srgbClr val="262B3A"/>
                </a:solidFill>
                <a:latin typeface="Calibri" pitchFamily="34" charset="0"/>
                <a:ea typeface="Calibri" pitchFamily="34" charset="-122"/>
                <a:cs typeface="Calibri" pitchFamily="34" charset="-120"/>
              </a:rPr>
              <a:t>.</a:t>
            </a:r>
            <a:endParaRPr lang="en-US" sz="10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143000"/>
                <a:gridCol w="2194560"/>
                <a:gridCol w="2221992"/>
              </a:tblGrid>
              <a:tr h="329184">
                <a:tc>
                  <a:txBody>
                    <a:bodyPr/>
                    <a:lstStyle/>
                    <a:p>
                      <a:pPr indent="0" marL="0">
                        <a:buNone/>
                      </a:pP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Nervous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Hormonal</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329184">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Signal</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electrical impulse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chemical (hormone)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329184">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Travels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along neurones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in the blood (plasma)</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Speed</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very fast (milliseconds)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slower (seconds to hours)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329184">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How long</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short-lived</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often long-lasting</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Where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one precise place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all target organs, widespread</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329184">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Example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reflex: hand off a hot plate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growth; thyroxine; puberty</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bl>
          </a:graphicData>
        </a:graphic>
      </p:graphicFrame>
      <p:sp>
        <p:nvSpPr>
          <p:cNvPr id="54" name="Shape 51"/>
          <p:cNvSpPr/>
          <p:nvPr/>
        </p:nvSpPr>
        <p:spPr>
          <a:xfrm>
            <a:off x="6217920" y="3703320"/>
            <a:ext cx="5559552" cy="2011680"/>
          </a:xfrm>
          <a:prstGeom prst="roundRect">
            <a:avLst>
              <a:gd name="adj" fmla="val 2727"/>
            </a:avLst>
          </a:prstGeom>
          <a:solidFill>
            <a:srgbClr val="FFF4E0"/>
          </a:solidFill>
          <a:ln w="9525">
            <a:solidFill>
              <a:srgbClr val="F1D9A8"/>
            </a:solidFill>
            <a:prstDash val="solid"/>
          </a:ln>
        </p:spPr>
      </p:sp>
      <p:sp>
        <p:nvSpPr>
          <p:cNvPr id="55" name="Text 52"/>
          <p:cNvSpPr/>
          <p:nvPr/>
        </p:nvSpPr>
        <p:spPr>
          <a:xfrm>
            <a:off x="6382512" y="377647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how much faster?</a:t>
            </a:r>
            <a:endParaRPr lang="en-US" sz="1300" dirty="0"/>
          </a:p>
        </p:txBody>
      </p:sp>
      <p:sp>
        <p:nvSpPr>
          <p:cNvPr id="56" name="Text 53"/>
          <p:cNvSpPr/>
          <p:nvPr/>
        </p:nvSpPr>
        <p:spPr>
          <a:xfrm>
            <a:off x="6382512" y="4087368"/>
            <a:ext cx="5230368" cy="15544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An impulse travels 1.5 m from the spinal cord to the foot at 100 m/s. Blood takes about 60 s to go round the body.</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Equation   </a:t>
            </a:r>
            <a:r>
              <a:rPr lang="en-US" sz="1050" dirty="0">
                <a:solidFill>
                  <a:srgbClr val="262B3A"/>
                </a:solidFill>
                <a:latin typeface="Calibri" pitchFamily="34" charset="0"/>
                <a:ea typeface="Calibri" pitchFamily="34" charset="-122"/>
                <a:cs typeface="Calibri" pitchFamily="34" charset="-120"/>
              </a:rPr>
              <a:t>time = distance ÷ speed</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Substitute   </a:t>
            </a:r>
            <a:r>
              <a:rPr lang="en-US" sz="1050" dirty="0">
                <a:solidFill>
                  <a:srgbClr val="262B3A"/>
                </a:solidFill>
                <a:latin typeface="Calibri" pitchFamily="34" charset="0"/>
                <a:ea typeface="Calibri" pitchFamily="34" charset="-122"/>
                <a:cs typeface="Calibri" pitchFamily="34" charset="-120"/>
              </a:rPr>
              <a:t>time = 1.5 ÷ 100 = 0.015 s (15 ms)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Compare   </a:t>
            </a:r>
            <a:r>
              <a:rPr lang="en-US" sz="1050" dirty="0">
                <a:solidFill>
                  <a:srgbClr val="262B3A"/>
                </a:solidFill>
                <a:latin typeface="Calibri" pitchFamily="34" charset="0"/>
                <a:ea typeface="Calibri" pitchFamily="34" charset="-122"/>
                <a:cs typeface="Calibri" pitchFamily="34" charset="-120"/>
              </a:rPr>
              <a:t>60 ÷ 0.015 = 4000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the nerve signal is about 4000 times faster</a:t>
            </a:r>
            <a:endParaRPr lang="en-US" sz="1050" dirty="0"/>
          </a:p>
        </p:txBody>
      </p:sp>
      <p:sp>
        <p:nvSpPr>
          <p:cNvPr id="57" name="Shape 54"/>
          <p:cNvSpPr/>
          <p:nvPr/>
        </p:nvSpPr>
        <p:spPr>
          <a:xfrm>
            <a:off x="411480" y="5833872"/>
            <a:ext cx="11368735" cy="530352"/>
          </a:xfrm>
          <a:prstGeom prst="rect">
            <a:avLst/>
          </a:prstGeom>
          <a:solidFill>
            <a:srgbClr val="FFF4E0"/>
          </a:solidFill>
          <a:ln w="6350">
            <a:solidFill>
              <a:srgbClr val="F1D9A8"/>
            </a:solidFill>
            <a:prstDash val="solid"/>
          </a:ln>
        </p:spPr>
      </p:sp>
      <p:sp>
        <p:nvSpPr>
          <p:cNvPr id="58" name="Shape 55"/>
          <p:cNvSpPr/>
          <p:nvPr/>
        </p:nvSpPr>
        <p:spPr>
          <a:xfrm>
            <a:off x="411480" y="5833872"/>
            <a:ext cx="82296" cy="530352"/>
          </a:xfrm>
          <a:prstGeom prst="rect">
            <a:avLst/>
          </a:prstGeom>
          <a:solidFill>
            <a:srgbClr val="E39A2F"/>
          </a:solidFill>
          <a:ln w="12700">
            <a:solidFill>
              <a:srgbClr val="E39A2F"/>
            </a:solidFill>
            <a:prstDash val="solid"/>
          </a:ln>
        </p:spPr>
      </p:sp>
      <p:sp>
        <p:nvSpPr>
          <p:cNvPr id="59" name="Text 5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Which system controls (a) blinking when dust hits your eye, (b) growing taller? Give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reason for each.</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B5.3.1 • the pituitary; nerves and hormones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B5.3 How do hormones control responses in the human body?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10</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the </a:t>
            </a:r>
            <a:r>
              <a:rPr lang="en-US" sz="1250" b="1" dirty="0">
                <a:solidFill>
                  <a:srgbClr val="262B3A"/>
                </a:solidFill>
                <a:latin typeface="Calibri" pitchFamily="34" charset="0"/>
                <a:ea typeface="Calibri" pitchFamily="34" charset="-122"/>
                <a:cs typeface="Calibri" pitchFamily="34" charset="-120"/>
              </a:rPr>
              <a:t>pituitary gland</a:t>
            </a:r>
            <a:r>
              <a:rPr lang="en-US" sz="1250" dirty="0">
                <a:solidFill>
                  <a:srgbClr val="262B3A"/>
                </a:solidFill>
                <a:latin typeface="Calibri" pitchFamily="34" charset="0"/>
                <a:ea typeface="Calibri" pitchFamily="34" charset="-122"/>
                <a:cs typeface="Calibri" pitchFamily="34" charset="-120"/>
              </a:rPr>
              <a:t> is called the "master gland".</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differences between the way the </a:t>
            </a:r>
            <a:r>
              <a:rPr lang="en-US" sz="1250" b="1" dirty="0">
                <a:solidFill>
                  <a:srgbClr val="262B3A"/>
                </a:solidFill>
                <a:latin typeface="Calibri" pitchFamily="34" charset="0"/>
                <a:ea typeface="Calibri" pitchFamily="34" charset="-122"/>
                <a:cs typeface="Calibri" pitchFamily="34" charset="-120"/>
              </a:rPr>
              <a:t>nervous system</a:t>
            </a:r>
            <a:r>
              <a:rPr lang="en-US" sz="1250" dirty="0">
                <a:solidFill>
                  <a:srgbClr val="262B3A"/>
                </a:solidFill>
                <a:latin typeface="Calibri" pitchFamily="34" charset="0"/>
                <a:ea typeface="Calibri" pitchFamily="34" charset="-122"/>
                <a:cs typeface="Calibri" pitchFamily="34" charset="-120"/>
              </a:rPr>
              <a:t> and the </a:t>
            </a:r>
            <a:r>
              <a:rPr lang="en-US" sz="1250" b="1" dirty="0">
                <a:solidFill>
                  <a:srgbClr val="262B3A"/>
                </a:solidFill>
                <a:latin typeface="Calibri" pitchFamily="34" charset="0"/>
                <a:ea typeface="Calibri" pitchFamily="34" charset="-122"/>
                <a:cs typeface="Calibri" pitchFamily="34" charset="-120"/>
              </a:rPr>
              <a:t>endocrine system</a:t>
            </a:r>
            <a:r>
              <a:rPr lang="en-US" sz="1250" dirty="0">
                <a:solidFill>
                  <a:srgbClr val="262B3A"/>
                </a:solidFill>
                <a:latin typeface="Calibri" pitchFamily="34" charset="0"/>
                <a:ea typeface="Calibri" pitchFamily="34" charset="-122"/>
                <a:cs typeface="Calibri" pitchFamily="34" charset="-120"/>
              </a:rPr>
              <a:t> send signals.</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An impulse travels </a:t>
            </a:r>
            <a:r>
              <a:rPr lang="en-US" sz="1250" b="1" dirty="0">
                <a:solidFill>
                  <a:srgbClr val="262B3A"/>
                </a:solidFill>
                <a:latin typeface="Calibri" pitchFamily="34" charset="0"/>
                <a:ea typeface="Calibri" pitchFamily="34" charset="-122"/>
                <a:cs typeface="Calibri" pitchFamily="34" charset="-120"/>
              </a:rPr>
              <a:t>1.2 m</a:t>
            </a:r>
            <a:r>
              <a:rPr lang="en-US" sz="1250" dirty="0">
                <a:solidFill>
                  <a:srgbClr val="262B3A"/>
                </a:solidFill>
                <a:latin typeface="Calibri" pitchFamily="34" charset="0"/>
                <a:ea typeface="Calibri" pitchFamily="34" charset="-122"/>
                <a:cs typeface="Calibri" pitchFamily="34" charset="-120"/>
              </a:rPr>
              <a:t> at </a:t>
            </a:r>
            <a:r>
              <a:rPr lang="en-US" sz="1250" b="1" dirty="0">
                <a:solidFill>
                  <a:srgbClr val="262B3A"/>
                </a:solidFill>
                <a:latin typeface="Calibri" pitchFamily="34" charset="0"/>
                <a:ea typeface="Calibri" pitchFamily="34" charset="-122"/>
                <a:cs typeface="Calibri" pitchFamily="34" charset="-120"/>
              </a:rPr>
              <a:t>60 m/s</a:t>
            </a:r>
            <a:r>
              <a:rPr lang="en-US" sz="1250" dirty="0">
                <a:solidFill>
                  <a:srgbClr val="262B3A"/>
                </a:solidFill>
                <a:latin typeface="Calibri" pitchFamily="34" charset="0"/>
                <a:ea typeface="Calibri" pitchFamily="34" charset="-122"/>
                <a:cs typeface="Calibri" pitchFamily="34" charset="-120"/>
              </a:rPr>
              <a:t>. Calculate the time taken.</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Suggest why </a:t>
            </a:r>
            <a:r>
              <a:rPr lang="en-US" sz="1250" b="1" dirty="0">
                <a:solidFill>
                  <a:srgbClr val="262B3A"/>
                </a:solidFill>
                <a:latin typeface="Calibri" pitchFamily="34" charset="0"/>
                <a:ea typeface="Calibri" pitchFamily="34" charset="-122"/>
                <a:cs typeface="Calibri" pitchFamily="34" charset="-120"/>
              </a:rPr>
              <a:t>growth</a:t>
            </a:r>
            <a:r>
              <a:rPr lang="en-US" sz="1250" dirty="0">
                <a:solidFill>
                  <a:srgbClr val="262B3A"/>
                </a:solidFill>
                <a:latin typeface="Calibri" pitchFamily="34" charset="0"/>
                <a:ea typeface="Calibri" pitchFamily="34" charset="-122"/>
                <a:cs typeface="Calibri" pitchFamily="34" charset="-120"/>
              </a:rPr>
              <a:t> is controlled by hormones rather than by nerves.</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Adrenaline: ready for "fight or flight"</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B5.3.2 • released by the adrenal glands when you are frightened, excited or stressed</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B5.3 How do hormones control responses in the human body?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B5.3.2  |  11</a:t>
            </a:r>
            <a:endParaRPr lang="en-US" sz="1000" dirty="0"/>
          </a:p>
        </p:txBody>
      </p:sp>
      <p:sp>
        <p:nvSpPr>
          <p:cNvPr id="10" name="Shape 8"/>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adrenaline from the adrenal glands acts on many target organs at once</a:t>
            </a:r>
            <a:endParaRPr lang="en-US" sz="1000" dirty="0"/>
          </a:p>
        </p:txBody>
      </p:sp>
      <p:sp>
        <p:nvSpPr>
          <p:cNvPr id="12" name="Shape 10"/>
          <p:cNvSpPr/>
          <p:nvPr/>
        </p:nvSpPr>
        <p:spPr>
          <a:xfrm>
            <a:off x="2948940" y="3086100"/>
            <a:ext cx="502920" cy="777240"/>
          </a:xfrm>
          <a:prstGeom prst="ellipse">
            <a:avLst/>
          </a:prstGeom>
          <a:solidFill>
            <a:srgbClr val="E3C3BE"/>
          </a:solidFill>
          <a:ln w="15875">
            <a:solidFill>
              <a:srgbClr val="B08A84"/>
            </a:solidFill>
            <a:prstDash val="solid"/>
          </a:ln>
        </p:spPr>
      </p:sp>
      <p:sp>
        <p:nvSpPr>
          <p:cNvPr id="13" name="Shape 11"/>
          <p:cNvSpPr/>
          <p:nvPr/>
        </p:nvSpPr>
        <p:spPr>
          <a:xfrm>
            <a:off x="2907792" y="2743200"/>
            <a:ext cx="585216" cy="393192"/>
          </a:xfrm>
          <a:custGeom>
            <a:avLst/>
            <a:gdLst/>
            <a:ahLst/>
            <a:cxnLst/>
            <a:rect l="l" t="t" r="r" b="b"/>
            <a:pathLst>
              <a:path w="585216" h="393192">
                <a:moveTo>
                  <a:pt x="0" y="393192"/>
                </a:moveTo>
                <a:lnTo>
                  <a:pt x="585216" y="393192"/>
                </a:lnTo>
                <a:lnTo>
                  <a:pt x="292608" y="0"/>
                </a:lnTo>
                <a:close/>
              </a:path>
            </a:pathLst>
          </a:custGeom>
          <a:solidFill>
            <a:srgbClr val="E08A1E"/>
          </a:solidFill>
          <a:ln w="15875">
            <a:solidFill>
              <a:srgbClr val="9A5A0A"/>
            </a:solidFill>
            <a:prstDash val="solid"/>
          </a:ln>
        </p:spPr>
      </p:sp>
      <p:sp>
        <p:nvSpPr>
          <p:cNvPr id="14" name="Text 12"/>
          <p:cNvSpPr/>
          <p:nvPr/>
        </p:nvSpPr>
        <p:spPr>
          <a:xfrm>
            <a:off x="2377440" y="3904488"/>
            <a:ext cx="16459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adrenal gland on a kidney</a:t>
            </a:r>
            <a:endParaRPr lang="en-US" sz="1000" dirty="0"/>
          </a:p>
        </p:txBody>
      </p:sp>
      <p:sp>
        <p:nvSpPr>
          <p:cNvPr id="15" name="Text 13"/>
          <p:cNvSpPr/>
          <p:nvPr/>
        </p:nvSpPr>
        <p:spPr>
          <a:xfrm>
            <a:off x="2377440" y="1298448"/>
            <a:ext cx="1645920" cy="256032"/>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a fright!</a:t>
            </a:r>
            <a:endParaRPr lang="en-US" sz="1100" dirty="0"/>
          </a:p>
        </p:txBody>
      </p:sp>
      <p:sp>
        <p:nvSpPr>
          <p:cNvPr id="16" name="Shape 14"/>
          <p:cNvSpPr/>
          <p:nvPr/>
        </p:nvSpPr>
        <p:spPr>
          <a:xfrm>
            <a:off x="3200400" y="1572768"/>
            <a:ext cx="91" cy="1124712"/>
          </a:xfrm>
          <a:prstGeom prst="line">
            <a:avLst/>
          </a:prstGeom>
          <a:noFill/>
          <a:ln w="22225">
            <a:solidFill>
              <a:srgbClr val="C8414C"/>
            </a:solidFill>
            <a:prstDash val="solid"/>
            <a:tailEnd type="triangle"/>
          </a:ln>
        </p:spPr>
      </p:sp>
      <p:sp>
        <p:nvSpPr>
          <p:cNvPr id="17" name="Text 15"/>
          <p:cNvSpPr/>
          <p:nvPr/>
        </p:nvSpPr>
        <p:spPr>
          <a:xfrm>
            <a:off x="3246120" y="1920240"/>
            <a:ext cx="1371600" cy="256032"/>
          </a:xfrm>
          <a:prstGeom prst="rect">
            <a:avLst/>
          </a:prstGeom>
          <a:noFill/>
          <a:ln/>
        </p:spPr>
        <p:txBody>
          <a:bodyPr wrap="square" lIns="0" tIns="0" rIns="0" bIns="0" rtlCol="0" anchor="ctr"/>
          <a:lstStyle/>
          <a:p>
            <a:pPr algn="l" indent="0" marL="0">
              <a:buNone/>
            </a:pPr>
            <a:r>
              <a:rPr lang="en-US" sz="1000" dirty="0">
                <a:solidFill>
                  <a:srgbClr val="C8414C"/>
                </a:solidFill>
                <a:latin typeface="Calibri" pitchFamily="34" charset="0"/>
                <a:ea typeface="Calibri" pitchFamily="34" charset="-122"/>
                <a:cs typeface="Calibri" pitchFamily="34" charset="-120"/>
              </a:rPr>
              <a:t>nerve impulse</a:t>
            </a:r>
            <a:endParaRPr lang="en-US" sz="1000" dirty="0"/>
          </a:p>
        </p:txBody>
      </p:sp>
      <p:sp>
        <p:nvSpPr>
          <p:cNvPr id="18" name="Shape 16"/>
          <p:cNvSpPr/>
          <p:nvPr/>
        </p:nvSpPr>
        <p:spPr>
          <a:xfrm>
            <a:off x="813816" y="1581912"/>
            <a:ext cx="256032" cy="256032"/>
          </a:xfrm>
          <a:prstGeom prst="ellipse">
            <a:avLst/>
          </a:prstGeom>
          <a:solidFill>
            <a:srgbClr val="D9534F"/>
          </a:solidFill>
          <a:ln w="12700">
            <a:solidFill>
              <a:srgbClr val="8E2A33"/>
            </a:solidFill>
            <a:prstDash val="solid"/>
          </a:ln>
        </p:spPr>
      </p:sp>
      <p:sp>
        <p:nvSpPr>
          <p:cNvPr id="19" name="Shape 17"/>
          <p:cNvSpPr/>
          <p:nvPr/>
        </p:nvSpPr>
        <p:spPr>
          <a:xfrm>
            <a:off x="1033272" y="1581912"/>
            <a:ext cx="256032" cy="256032"/>
          </a:xfrm>
          <a:prstGeom prst="ellipse">
            <a:avLst/>
          </a:prstGeom>
          <a:solidFill>
            <a:srgbClr val="D9534F"/>
          </a:solidFill>
          <a:ln w="12700">
            <a:solidFill>
              <a:srgbClr val="8E2A33"/>
            </a:solidFill>
            <a:prstDash val="solid"/>
          </a:ln>
        </p:spPr>
      </p:sp>
      <p:sp>
        <p:nvSpPr>
          <p:cNvPr id="20" name="Shape 18"/>
          <p:cNvSpPr/>
          <p:nvPr/>
        </p:nvSpPr>
        <p:spPr>
          <a:xfrm rot="10800000">
            <a:off x="818388" y="1728216"/>
            <a:ext cx="466344" cy="310896"/>
          </a:xfrm>
          <a:prstGeom prst="triangle">
            <a:avLst/>
          </a:prstGeom>
          <a:solidFill>
            <a:srgbClr val="D9534F"/>
          </a:solidFill>
          <a:ln w="6350">
            <a:solidFill>
              <a:srgbClr val="D9534F"/>
            </a:solidFill>
            <a:prstDash val="solid"/>
          </a:ln>
        </p:spPr>
      </p:sp>
      <p:sp>
        <p:nvSpPr>
          <p:cNvPr id="21" name="Text 19"/>
          <p:cNvSpPr/>
          <p:nvPr/>
        </p:nvSpPr>
        <p:spPr>
          <a:xfrm>
            <a:off x="502920" y="2039112"/>
            <a:ext cx="1097280" cy="219456"/>
          </a:xfrm>
          <a:prstGeom prst="rect">
            <a:avLst/>
          </a:prstGeom>
          <a:noFill/>
          <a:ln/>
        </p:spPr>
        <p:txBody>
          <a:bodyPr wrap="square" lIns="0" tIns="0" rIns="0" bIns="0" rtlCol="0" anchor="ctr"/>
          <a:lstStyle/>
          <a:p>
            <a:pPr algn="ctr" indent="0" marL="0">
              <a:buNone/>
            </a:pPr>
            <a:r>
              <a:rPr lang="en-US" sz="1050" b="1" dirty="0">
                <a:solidFill>
                  <a:srgbClr val="133536"/>
                </a:solidFill>
                <a:latin typeface="Calibri" pitchFamily="34" charset="0"/>
                <a:ea typeface="Calibri" pitchFamily="34" charset="-122"/>
                <a:cs typeface="Calibri" pitchFamily="34" charset="-120"/>
              </a:rPr>
              <a:t>heart</a:t>
            </a:r>
            <a:endParaRPr lang="en-US" sz="1050" dirty="0"/>
          </a:p>
        </p:txBody>
      </p:sp>
      <p:sp>
        <p:nvSpPr>
          <p:cNvPr id="22" name="Text 20"/>
          <p:cNvSpPr/>
          <p:nvPr/>
        </p:nvSpPr>
        <p:spPr>
          <a:xfrm>
            <a:off x="393192" y="2240280"/>
            <a:ext cx="1316736" cy="411480"/>
          </a:xfrm>
          <a:prstGeom prst="rect">
            <a:avLst/>
          </a:prstGeom>
          <a:noFill/>
          <a:ln/>
        </p:spPr>
        <p:txBody>
          <a:bodyPr wrap="square" lIns="0" tIns="0" rIns="0" bIns="0" rtlCol="0" anchor="t"/>
          <a:lstStyle/>
          <a:p>
            <a:pPr algn="ctr" indent="0" marL="0">
              <a:buNone/>
            </a:pPr>
            <a:r>
              <a:rPr lang="en-US" sz="1000" b="1" dirty="0">
                <a:solidFill>
                  <a:srgbClr val="262B3A"/>
                </a:solidFill>
                <a:latin typeface="Calibri" pitchFamily="34" charset="0"/>
                <a:ea typeface="Calibri" pitchFamily="34" charset="-122"/>
                <a:cs typeface="Calibri" pitchFamily="34" charset="-120"/>
              </a:rPr>
              <a:t>faster, stronger</a:t>
            </a:r>
            <a:r>
              <a:rPr lang="en-US" sz="1000" dirty="0">
                <a:solidFill>
                  <a:srgbClr val="262B3A"/>
                </a:solidFill>
                <a:latin typeface="Calibri" pitchFamily="34" charset="0"/>
                <a:ea typeface="Calibri" pitchFamily="34" charset="-122"/>
                <a:cs typeface="Calibri" pitchFamily="34" charset="-120"/>
              </a:rPr>
              <a:t> beat</a:t>
            </a:r>
            <a:endParaRPr lang="en-US" sz="1000" dirty="0"/>
          </a:p>
        </p:txBody>
      </p:sp>
      <p:sp>
        <p:nvSpPr>
          <p:cNvPr id="23" name="Shape 21"/>
          <p:cNvSpPr/>
          <p:nvPr/>
        </p:nvSpPr>
        <p:spPr>
          <a:xfrm flipH="1" flipV="1">
            <a:off x="1737360" y="1764792"/>
            <a:ext cx="1188720" cy="978408"/>
          </a:xfrm>
          <a:prstGeom prst="line">
            <a:avLst/>
          </a:prstGeom>
          <a:noFill/>
          <a:ln w="19050">
            <a:solidFill>
              <a:srgbClr val="E08A1E"/>
            </a:solidFill>
            <a:prstDash val="solid"/>
            <a:tailEnd type="triangle"/>
          </a:ln>
        </p:spPr>
      </p:sp>
      <p:sp>
        <p:nvSpPr>
          <p:cNvPr id="24" name="Shape 22"/>
          <p:cNvSpPr/>
          <p:nvPr/>
        </p:nvSpPr>
        <p:spPr>
          <a:xfrm>
            <a:off x="5349240" y="1472184"/>
            <a:ext cx="91" cy="219456"/>
          </a:xfrm>
          <a:prstGeom prst="line">
            <a:avLst/>
          </a:prstGeom>
          <a:noFill/>
          <a:ln w="38100">
            <a:solidFill>
              <a:srgbClr val="8C96A8"/>
            </a:solidFill>
            <a:prstDash val="solid"/>
          </a:ln>
        </p:spPr>
      </p:sp>
      <p:sp>
        <p:nvSpPr>
          <p:cNvPr id="25" name="Shape 23"/>
          <p:cNvSpPr/>
          <p:nvPr/>
        </p:nvSpPr>
        <p:spPr>
          <a:xfrm>
            <a:off x="5074920" y="1600200"/>
            <a:ext cx="237744" cy="438912"/>
          </a:xfrm>
          <a:prstGeom prst="ellipse">
            <a:avLst/>
          </a:prstGeom>
          <a:solidFill>
            <a:srgbClr val="F2A6B0"/>
          </a:solidFill>
          <a:ln w="12700">
            <a:solidFill>
              <a:srgbClr val="B5546E"/>
            </a:solidFill>
            <a:prstDash val="solid"/>
          </a:ln>
        </p:spPr>
      </p:sp>
      <p:sp>
        <p:nvSpPr>
          <p:cNvPr id="26" name="Shape 24"/>
          <p:cNvSpPr/>
          <p:nvPr/>
        </p:nvSpPr>
        <p:spPr>
          <a:xfrm>
            <a:off x="5385816" y="1600200"/>
            <a:ext cx="237744" cy="438912"/>
          </a:xfrm>
          <a:prstGeom prst="ellipse">
            <a:avLst/>
          </a:prstGeom>
          <a:solidFill>
            <a:srgbClr val="F2A6B0"/>
          </a:solidFill>
          <a:ln w="12700">
            <a:solidFill>
              <a:srgbClr val="B5546E"/>
            </a:solidFill>
            <a:prstDash val="solid"/>
          </a:ln>
        </p:spPr>
      </p:sp>
      <p:sp>
        <p:nvSpPr>
          <p:cNvPr id="27" name="Text 25"/>
          <p:cNvSpPr/>
          <p:nvPr/>
        </p:nvSpPr>
        <p:spPr>
          <a:xfrm>
            <a:off x="4800600" y="2039112"/>
            <a:ext cx="1097280" cy="219456"/>
          </a:xfrm>
          <a:prstGeom prst="rect">
            <a:avLst/>
          </a:prstGeom>
          <a:noFill/>
          <a:ln/>
        </p:spPr>
        <p:txBody>
          <a:bodyPr wrap="square" lIns="0" tIns="0" rIns="0" bIns="0" rtlCol="0" anchor="ctr"/>
          <a:lstStyle/>
          <a:p>
            <a:pPr algn="ctr" indent="0" marL="0">
              <a:buNone/>
            </a:pPr>
            <a:r>
              <a:rPr lang="en-US" sz="1050" b="1" dirty="0">
                <a:solidFill>
                  <a:srgbClr val="133536"/>
                </a:solidFill>
                <a:latin typeface="Calibri" pitchFamily="34" charset="0"/>
                <a:ea typeface="Calibri" pitchFamily="34" charset="-122"/>
                <a:cs typeface="Calibri" pitchFamily="34" charset="-120"/>
              </a:rPr>
              <a:t>lungs</a:t>
            </a:r>
            <a:endParaRPr lang="en-US" sz="1050" dirty="0"/>
          </a:p>
        </p:txBody>
      </p:sp>
      <p:sp>
        <p:nvSpPr>
          <p:cNvPr id="28" name="Text 26"/>
          <p:cNvSpPr/>
          <p:nvPr/>
        </p:nvSpPr>
        <p:spPr>
          <a:xfrm>
            <a:off x="4690872" y="2240280"/>
            <a:ext cx="1316736" cy="41148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breathing </a:t>
            </a:r>
            <a:r>
              <a:rPr lang="en-US" sz="1000" b="1" dirty="0">
                <a:solidFill>
                  <a:srgbClr val="262B3A"/>
                </a:solidFill>
                <a:latin typeface="Calibri" pitchFamily="34" charset="0"/>
                <a:ea typeface="Calibri" pitchFamily="34" charset="-122"/>
                <a:cs typeface="Calibri" pitchFamily="34" charset="-120"/>
              </a:rPr>
              <a:t>faster</a:t>
            </a:r>
            <a:r>
              <a:rPr lang="en-US" sz="1000" dirty="0">
                <a:solidFill>
                  <a:srgbClr val="262B3A"/>
                </a:solidFill>
                <a:latin typeface="Calibri" pitchFamily="34" charset="0"/>
                <a:ea typeface="Calibri" pitchFamily="34" charset="-122"/>
                <a:cs typeface="Calibri" pitchFamily="34" charset="-120"/>
              </a:rPr>
              <a:t>, airways widen</a:t>
            </a:r>
            <a:endParaRPr lang="en-US" sz="1000" dirty="0"/>
          </a:p>
        </p:txBody>
      </p:sp>
      <p:sp>
        <p:nvSpPr>
          <p:cNvPr id="29" name="Shape 27"/>
          <p:cNvSpPr/>
          <p:nvPr/>
        </p:nvSpPr>
        <p:spPr>
          <a:xfrm flipV="1">
            <a:off x="3474720" y="1764792"/>
            <a:ext cx="1188720" cy="978408"/>
          </a:xfrm>
          <a:prstGeom prst="line">
            <a:avLst/>
          </a:prstGeom>
          <a:noFill/>
          <a:ln w="19050">
            <a:solidFill>
              <a:srgbClr val="E08A1E"/>
            </a:solidFill>
            <a:prstDash val="solid"/>
            <a:tailEnd type="triangle"/>
          </a:ln>
        </p:spPr>
      </p:sp>
      <p:sp>
        <p:nvSpPr>
          <p:cNvPr id="30" name="Shape 28"/>
          <p:cNvSpPr/>
          <p:nvPr/>
        </p:nvSpPr>
        <p:spPr>
          <a:xfrm>
            <a:off x="731520" y="2953512"/>
            <a:ext cx="640080" cy="365760"/>
          </a:xfrm>
          <a:custGeom>
            <a:avLst/>
            <a:gdLst/>
            <a:ahLst/>
            <a:cxnLst/>
            <a:rect l="l" t="t" r="r" b="b"/>
            <a:pathLst>
              <a:path w="640080" h="365760">
                <a:moveTo>
                  <a:pt x="0" y="45720"/>
                </a:moveTo>
                <a:lnTo>
                  <a:pt x="640080" y="0"/>
                </a:lnTo>
                <a:lnTo>
                  <a:pt x="411480" y="365760"/>
                </a:lnTo>
                <a:lnTo>
                  <a:pt x="45720" y="292608"/>
                </a:lnTo>
                <a:close/>
              </a:path>
            </a:pathLst>
          </a:custGeom>
          <a:solidFill>
            <a:srgbClr val="A0522D"/>
          </a:solidFill>
          <a:ln w="12700">
            <a:solidFill>
              <a:srgbClr val="6B3318"/>
            </a:solidFill>
            <a:prstDash val="solid"/>
          </a:ln>
        </p:spPr>
      </p:sp>
      <p:sp>
        <p:nvSpPr>
          <p:cNvPr id="31" name="Text 29"/>
          <p:cNvSpPr/>
          <p:nvPr/>
        </p:nvSpPr>
        <p:spPr>
          <a:xfrm>
            <a:off x="502920" y="3410712"/>
            <a:ext cx="1097280" cy="219456"/>
          </a:xfrm>
          <a:prstGeom prst="rect">
            <a:avLst/>
          </a:prstGeom>
          <a:noFill/>
          <a:ln/>
        </p:spPr>
        <p:txBody>
          <a:bodyPr wrap="square" lIns="0" tIns="0" rIns="0" bIns="0" rtlCol="0" anchor="ctr"/>
          <a:lstStyle/>
          <a:p>
            <a:pPr algn="ctr" indent="0" marL="0">
              <a:buNone/>
            </a:pPr>
            <a:r>
              <a:rPr lang="en-US" sz="1050" b="1" dirty="0">
                <a:solidFill>
                  <a:srgbClr val="133536"/>
                </a:solidFill>
                <a:latin typeface="Calibri" pitchFamily="34" charset="0"/>
                <a:ea typeface="Calibri" pitchFamily="34" charset="-122"/>
                <a:cs typeface="Calibri" pitchFamily="34" charset="-120"/>
              </a:rPr>
              <a:t>liver</a:t>
            </a:r>
            <a:endParaRPr lang="en-US" sz="1050" dirty="0"/>
          </a:p>
        </p:txBody>
      </p:sp>
      <p:sp>
        <p:nvSpPr>
          <p:cNvPr id="32" name="Text 30"/>
          <p:cNvSpPr/>
          <p:nvPr/>
        </p:nvSpPr>
        <p:spPr>
          <a:xfrm>
            <a:off x="393192" y="3611880"/>
            <a:ext cx="1316736" cy="411480"/>
          </a:xfrm>
          <a:prstGeom prst="rect">
            <a:avLst/>
          </a:prstGeom>
          <a:noFill/>
          <a:ln/>
        </p:spPr>
        <p:txBody>
          <a:bodyPr wrap="square" lIns="0" tIns="0" rIns="0" bIns="0" rtlCol="0" anchor="t"/>
          <a:lstStyle/>
          <a:p>
            <a:pPr algn="ctr" indent="0" marL="0">
              <a:buNone/>
            </a:pPr>
            <a:r>
              <a:rPr lang="en-US" sz="1000" b="1" dirty="0">
                <a:solidFill>
                  <a:srgbClr val="262B3A"/>
                </a:solidFill>
                <a:latin typeface="Calibri" pitchFamily="34" charset="0"/>
                <a:ea typeface="Calibri" pitchFamily="34" charset="-122"/>
                <a:cs typeface="Calibri" pitchFamily="34" charset="-120"/>
              </a:rPr>
              <a:t>glycogen → glucose</a:t>
            </a:r>
            <a:r>
              <a:rPr lang="en-US" sz="1000" dirty="0">
                <a:solidFill>
                  <a:srgbClr val="262B3A"/>
                </a:solidFill>
                <a:latin typeface="Calibri" pitchFamily="34" charset="0"/>
                <a:ea typeface="Calibri" pitchFamily="34" charset="-122"/>
                <a:cs typeface="Calibri" pitchFamily="34" charset="-120"/>
              </a:rPr>
              <a:t> into the blood</a:t>
            </a:r>
            <a:endParaRPr lang="en-US" sz="1000" dirty="0"/>
          </a:p>
        </p:txBody>
      </p:sp>
      <p:sp>
        <p:nvSpPr>
          <p:cNvPr id="33" name="Shape 31"/>
          <p:cNvSpPr/>
          <p:nvPr/>
        </p:nvSpPr>
        <p:spPr>
          <a:xfrm flipH="1">
            <a:off x="1737360" y="3017520"/>
            <a:ext cx="1188720" cy="118872"/>
          </a:xfrm>
          <a:prstGeom prst="line">
            <a:avLst/>
          </a:prstGeom>
          <a:noFill/>
          <a:ln w="19050">
            <a:solidFill>
              <a:srgbClr val="E08A1E"/>
            </a:solidFill>
            <a:prstDash val="solid"/>
            <a:tailEnd type="triangle"/>
          </a:ln>
        </p:spPr>
      </p:sp>
      <p:sp>
        <p:nvSpPr>
          <p:cNvPr id="34" name="Shape 32"/>
          <p:cNvSpPr/>
          <p:nvPr/>
        </p:nvSpPr>
        <p:spPr>
          <a:xfrm>
            <a:off x="5029200" y="3008376"/>
            <a:ext cx="640080" cy="256032"/>
          </a:xfrm>
          <a:prstGeom prst="ellipse">
            <a:avLst/>
          </a:prstGeom>
          <a:solidFill>
            <a:srgbClr val="F4B6B9"/>
          </a:solidFill>
          <a:ln w="15875">
            <a:solidFill>
              <a:srgbClr val="A33E48"/>
            </a:solidFill>
            <a:prstDash val="solid"/>
          </a:ln>
        </p:spPr>
      </p:sp>
      <p:sp>
        <p:nvSpPr>
          <p:cNvPr id="35" name="Shape 33"/>
          <p:cNvSpPr/>
          <p:nvPr/>
        </p:nvSpPr>
        <p:spPr>
          <a:xfrm>
            <a:off x="5166360" y="3054096"/>
            <a:ext cx="91" cy="164592"/>
          </a:xfrm>
          <a:prstGeom prst="line">
            <a:avLst/>
          </a:prstGeom>
          <a:noFill/>
          <a:ln w="9525">
            <a:solidFill>
              <a:srgbClr val="C76A72"/>
            </a:solidFill>
            <a:prstDash val="solid"/>
          </a:ln>
        </p:spPr>
      </p:sp>
      <p:sp>
        <p:nvSpPr>
          <p:cNvPr id="36" name="Shape 34"/>
          <p:cNvSpPr/>
          <p:nvPr/>
        </p:nvSpPr>
        <p:spPr>
          <a:xfrm>
            <a:off x="5257800" y="3054096"/>
            <a:ext cx="91" cy="164592"/>
          </a:xfrm>
          <a:prstGeom prst="line">
            <a:avLst/>
          </a:prstGeom>
          <a:noFill/>
          <a:ln w="9525">
            <a:solidFill>
              <a:srgbClr val="C76A72"/>
            </a:solidFill>
            <a:prstDash val="solid"/>
          </a:ln>
        </p:spPr>
      </p:sp>
      <p:sp>
        <p:nvSpPr>
          <p:cNvPr id="37" name="Shape 35"/>
          <p:cNvSpPr/>
          <p:nvPr/>
        </p:nvSpPr>
        <p:spPr>
          <a:xfrm>
            <a:off x="5349240" y="3054096"/>
            <a:ext cx="91" cy="164592"/>
          </a:xfrm>
          <a:prstGeom prst="line">
            <a:avLst/>
          </a:prstGeom>
          <a:noFill/>
          <a:ln w="9525">
            <a:solidFill>
              <a:srgbClr val="C76A72"/>
            </a:solidFill>
            <a:prstDash val="solid"/>
          </a:ln>
        </p:spPr>
      </p:sp>
      <p:sp>
        <p:nvSpPr>
          <p:cNvPr id="38" name="Shape 36"/>
          <p:cNvSpPr/>
          <p:nvPr/>
        </p:nvSpPr>
        <p:spPr>
          <a:xfrm>
            <a:off x="5440680" y="3054096"/>
            <a:ext cx="91" cy="164592"/>
          </a:xfrm>
          <a:prstGeom prst="line">
            <a:avLst/>
          </a:prstGeom>
          <a:noFill/>
          <a:ln w="9525">
            <a:solidFill>
              <a:srgbClr val="C76A72"/>
            </a:solidFill>
            <a:prstDash val="solid"/>
          </a:ln>
        </p:spPr>
      </p:sp>
      <p:sp>
        <p:nvSpPr>
          <p:cNvPr id="39" name="Shape 37"/>
          <p:cNvSpPr/>
          <p:nvPr/>
        </p:nvSpPr>
        <p:spPr>
          <a:xfrm>
            <a:off x="5532120" y="3054096"/>
            <a:ext cx="91" cy="164592"/>
          </a:xfrm>
          <a:prstGeom prst="line">
            <a:avLst/>
          </a:prstGeom>
          <a:noFill/>
          <a:ln w="9525">
            <a:solidFill>
              <a:srgbClr val="C76A72"/>
            </a:solidFill>
            <a:prstDash val="solid"/>
          </a:ln>
        </p:spPr>
      </p:sp>
      <p:sp>
        <p:nvSpPr>
          <p:cNvPr id="40" name="Text 38"/>
          <p:cNvSpPr/>
          <p:nvPr/>
        </p:nvSpPr>
        <p:spPr>
          <a:xfrm>
            <a:off x="4800600" y="3410712"/>
            <a:ext cx="1097280" cy="219456"/>
          </a:xfrm>
          <a:prstGeom prst="rect">
            <a:avLst/>
          </a:prstGeom>
          <a:noFill/>
          <a:ln/>
        </p:spPr>
        <p:txBody>
          <a:bodyPr wrap="square" lIns="0" tIns="0" rIns="0" bIns="0" rtlCol="0" anchor="ctr"/>
          <a:lstStyle/>
          <a:p>
            <a:pPr algn="ctr" indent="0" marL="0">
              <a:buNone/>
            </a:pPr>
            <a:r>
              <a:rPr lang="en-US" sz="1050" b="1" dirty="0">
                <a:solidFill>
                  <a:srgbClr val="133536"/>
                </a:solidFill>
                <a:latin typeface="Calibri" pitchFamily="34" charset="0"/>
                <a:ea typeface="Calibri" pitchFamily="34" charset="-122"/>
                <a:cs typeface="Calibri" pitchFamily="34" charset="-120"/>
              </a:rPr>
              <a:t>muscles</a:t>
            </a:r>
            <a:endParaRPr lang="en-US" sz="1050" dirty="0"/>
          </a:p>
        </p:txBody>
      </p:sp>
      <p:sp>
        <p:nvSpPr>
          <p:cNvPr id="41" name="Text 39"/>
          <p:cNvSpPr/>
          <p:nvPr/>
        </p:nvSpPr>
        <p:spPr>
          <a:xfrm>
            <a:off x="4690872" y="3611880"/>
            <a:ext cx="1316736" cy="41148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more blood: more </a:t>
            </a:r>
            <a:r>
              <a:rPr lang="en-US" sz="1000" b="1" dirty="0">
                <a:solidFill>
                  <a:srgbClr val="262B3A"/>
                </a:solidFill>
                <a:latin typeface="Calibri" pitchFamily="34" charset="0"/>
                <a:ea typeface="Calibri" pitchFamily="34" charset="-122"/>
                <a:cs typeface="Calibri" pitchFamily="34" charset="-120"/>
              </a:rPr>
              <a:t>oxygen</a:t>
            </a:r>
            <a:r>
              <a:rPr lang="en-US" sz="1000" dirty="0">
                <a:solidFill>
                  <a:srgbClr val="262B3A"/>
                </a:solidFill>
                <a:latin typeface="Calibri" pitchFamily="34" charset="0"/>
                <a:ea typeface="Calibri" pitchFamily="34" charset="-122"/>
                <a:cs typeface="Calibri" pitchFamily="34" charset="-120"/>
              </a:rPr>
              <a:t> and </a:t>
            </a:r>
            <a:r>
              <a:rPr lang="en-US" sz="1000" b="1" dirty="0">
                <a:solidFill>
                  <a:srgbClr val="262B3A"/>
                </a:solidFill>
                <a:latin typeface="Calibri" pitchFamily="34" charset="0"/>
                <a:ea typeface="Calibri" pitchFamily="34" charset="-122"/>
                <a:cs typeface="Calibri" pitchFamily="34" charset="-120"/>
              </a:rPr>
              <a:t>glucose</a:t>
            </a:r>
            <a:endParaRPr lang="en-US" sz="1000" dirty="0"/>
          </a:p>
        </p:txBody>
      </p:sp>
      <p:sp>
        <p:nvSpPr>
          <p:cNvPr id="42" name="Shape 40"/>
          <p:cNvSpPr/>
          <p:nvPr/>
        </p:nvSpPr>
        <p:spPr>
          <a:xfrm>
            <a:off x="3474720" y="3017520"/>
            <a:ext cx="1188720" cy="118872"/>
          </a:xfrm>
          <a:prstGeom prst="line">
            <a:avLst/>
          </a:prstGeom>
          <a:noFill/>
          <a:ln w="19050">
            <a:solidFill>
              <a:srgbClr val="E08A1E"/>
            </a:solidFill>
            <a:prstDash val="solid"/>
            <a:tailEnd type="triangle"/>
          </a:ln>
        </p:spPr>
      </p:sp>
      <p:sp>
        <p:nvSpPr>
          <p:cNvPr id="43" name="Shape 41"/>
          <p:cNvSpPr/>
          <p:nvPr/>
        </p:nvSpPr>
        <p:spPr>
          <a:xfrm>
            <a:off x="795528" y="4370832"/>
            <a:ext cx="512064" cy="274320"/>
          </a:xfrm>
          <a:prstGeom prst="ellipse">
            <a:avLst/>
          </a:prstGeom>
          <a:solidFill>
            <a:srgbClr val="FFFFFF"/>
          </a:solidFill>
          <a:ln w="12700">
            <a:solidFill>
              <a:srgbClr val="133536"/>
            </a:solidFill>
            <a:prstDash val="solid"/>
          </a:ln>
        </p:spPr>
      </p:sp>
      <p:sp>
        <p:nvSpPr>
          <p:cNvPr id="44" name="Shape 42"/>
          <p:cNvSpPr/>
          <p:nvPr/>
        </p:nvSpPr>
        <p:spPr>
          <a:xfrm>
            <a:off x="941832" y="4398264"/>
            <a:ext cx="219456" cy="219456"/>
          </a:xfrm>
          <a:prstGeom prst="ellipse">
            <a:avLst/>
          </a:prstGeom>
          <a:solidFill>
            <a:srgbClr val="5B9BD5"/>
          </a:solidFill>
          <a:ln w="9525">
            <a:solidFill>
              <a:srgbClr val="2F5F8F"/>
            </a:solidFill>
            <a:prstDash val="solid"/>
          </a:ln>
        </p:spPr>
      </p:sp>
      <p:sp>
        <p:nvSpPr>
          <p:cNvPr id="45" name="Shape 43"/>
          <p:cNvSpPr/>
          <p:nvPr/>
        </p:nvSpPr>
        <p:spPr>
          <a:xfrm>
            <a:off x="973836" y="4430268"/>
            <a:ext cx="155448" cy="155448"/>
          </a:xfrm>
          <a:prstGeom prst="ellipse">
            <a:avLst/>
          </a:prstGeom>
          <a:solidFill>
            <a:srgbClr val="111111"/>
          </a:solidFill>
          <a:ln w="9525">
            <a:solidFill>
              <a:srgbClr val="111111"/>
            </a:solidFill>
            <a:prstDash val="solid"/>
          </a:ln>
        </p:spPr>
      </p:sp>
      <p:sp>
        <p:nvSpPr>
          <p:cNvPr id="46" name="Text 44"/>
          <p:cNvSpPr/>
          <p:nvPr/>
        </p:nvSpPr>
        <p:spPr>
          <a:xfrm>
            <a:off x="502920" y="4782312"/>
            <a:ext cx="1097280" cy="219456"/>
          </a:xfrm>
          <a:prstGeom prst="rect">
            <a:avLst/>
          </a:prstGeom>
          <a:noFill/>
          <a:ln/>
        </p:spPr>
        <p:txBody>
          <a:bodyPr wrap="square" lIns="0" tIns="0" rIns="0" bIns="0" rtlCol="0" anchor="ctr"/>
          <a:lstStyle/>
          <a:p>
            <a:pPr algn="ctr" indent="0" marL="0">
              <a:buNone/>
            </a:pPr>
            <a:r>
              <a:rPr lang="en-US" sz="1050" b="1" dirty="0">
                <a:solidFill>
                  <a:srgbClr val="133536"/>
                </a:solidFill>
                <a:latin typeface="Calibri" pitchFamily="34" charset="0"/>
                <a:ea typeface="Calibri" pitchFamily="34" charset="-122"/>
                <a:cs typeface="Calibri" pitchFamily="34" charset="-120"/>
              </a:rPr>
              <a:t>eyes</a:t>
            </a:r>
            <a:endParaRPr lang="en-US" sz="1050" dirty="0"/>
          </a:p>
        </p:txBody>
      </p:sp>
      <p:sp>
        <p:nvSpPr>
          <p:cNvPr id="47" name="Text 45"/>
          <p:cNvSpPr/>
          <p:nvPr/>
        </p:nvSpPr>
        <p:spPr>
          <a:xfrm>
            <a:off x="393192" y="4983480"/>
            <a:ext cx="1316736" cy="41148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pupils </a:t>
            </a:r>
            <a:r>
              <a:rPr lang="en-US" sz="1000" b="1" dirty="0">
                <a:solidFill>
                  <a:srgbClr val="262B3A"/>
                </a:solidFill>
                <a:latin typeface="Calibri" pitchFamily="34" charset="0"/>
                <a:ea typeface="Calibri" pitchFamily="34" charset="-122"/>
                <a:cs typeface="Calibri" pitchFamily="34" charset="-120"/>
              </a:rPr>
              <a:t>dilate</a:t>
            </a:r>
            <a:endParaRPr lang="en-US" sz="1000" dirty="0"/>
          </a:p>
        </p:txBody>
      </p:sp>
      <p:sp>
        <p:nvSpPr>
          <p:cNvPr id="48" name="Shape 46"/>
          <p:cNvSpPr/>
          <p:nvPr/>
        </p:nvSpPr>
        <p:spPr>
          <a:xfrm flipH="1">
            <a:off x="1737360" y="3291840"/>
            <a:ext cx="1188720" cy="1216152"/>
          </a:xfrm>
          <a:prstGeom prst="line">
            <a:avLst/>
          </a:prstGeom>
          <a:noFill/>
          <a:ln w="19050">
            <a:solidFill>
              <a:srgbClr val="E08A1E"/>
            </a:solidFill>
            <a:prstDash val="solid"/>
            <a:tailEnd type="triangle"/>
          </a:ln>
        </p:spPr>
      </p:sp>
      <p:sp>
        <p:nvSpPr>
          <p:cNvPr id="49" name="Shape 47"/>
          <p:cNvSpPr/>
          <p:nvPr/>
        </p:nvSpPr>
        <p:spPr>
          <a:xfrm>
            <a:off x="5074920" y="4507992"/>
            <a:ext cx="34290" cy="85226"/>
          </a:xfrm>
          <a:prstGeom prst="line">
            <a:avLst/>
          </a:prstGeom>
          <a:noFill/>
          <a:ln w="50800">
            <a:solidFill>
              <a:srgbClr val="C9A06A"/>
            </a:solidFill>
            <a:prstDash val="solid"/>
          </a:ln>
        </p:spPr>
      </p:sp>
      <p:sp>
        <p:nvSpPr>
          <p:cNvPr id="50" name="Shape 48"/>
          <p:cNvSpPr/>
          <p:nvPr/>
        </p:nvSpPr>
        <p:spPr>
          <a:xfrm flipV="1">
            <a:off x="5109210" y="4569756"/>
            <a:ext cx="34290" cy="23461"/>
          </a:xfrm>
          <a:prstGeom prst="line">
            <a:avLst/>
          </a:prstGeom>
          <a:noFill/>
          <a:ln w="50800">
            <a:solidFill>
              <a:srgbClr val="C9A06A"/>
            </a:solidFill>
            <a:prstDash val="solid"/>
          </a:ln>
        </p:spPr>
      </p:sp>
      <p:sp>
        <p:nvSpPr>
          <p:cNvPr id="51" name="Shape 49"/>
          <p:cNvSpPr/>
          <p:nvPr/>
        </p:nvSpPr>
        <p:spPr>
          <a:xfrm flipV="1">
            <a:off x="5143500" y="4467528"/>
            <a:ext cx="34290" cy="102228"/>
          </a:xfrm>
          <a:prstGeom prst="line">
            <a:avLst/>
          </a:prstGeom>
          <a:noFill/>
          <a:ln w="50800">
            <a:solidFill>
              <a:srgbClr val="C9A06A"/>
            </a:solidFill>
            <a:prstDash val="solid"/>
          </a:ln>
        </p:spPr>
      </p:sp>
      <p:sp>
        <p:nvSpPr>
          <p:cNvPr id="52" name="Shape 50"/>
          <p:cNvSpPr/>
          <p:nvPr/>
        </p:nvSpPr>
        <p:spPr>
          <a:xfrm flipV="1">
            <a:off x="5177790" y="4416903"/>
            <a:ext cx="34290" cy="50625"/>
          </a:xfrm>
          <a:prstGeom prst="line">
            <a:avLst/>
          </a:prstGeom>
          <a:noFill/>
          <a:ln w="50800">
            <a:solidFill>
              <a:srgbClr val="C9A06A"/>
            </a:solidFill>
            <a:prstDash val="solid"/>
          </a:ln>
        </p:spPr>
      </p:sp>
      <p:sp>
        <p:nvSpPr>
          <p:cNvPr id="53" name="Shape 51"/>
          <p:cNvSpPr/>
          <p:nvPr/>
        </p:nvSpPr>
        <p:spPr>
          <a:xfrm>
            <a:off x="5212080" y="4416903"/>
            <a:ext cx="34290" cy="65540"/>
          </a:xfrm>
          <a:prstGeom prst="line">
            <a:avLst/>
          </a:prstGeom>
          <a:noFill/>
          <a:ln w="50800">
            <a:solidFill>
              <a:srgbClr val="C9A06A"/>
            </a:solidFill>
            <a:prstDash val="solid"/>
          </a:ln>
        </p:spPr>
      </p:sp>
      <p:sp>
        <p:nvSpPr>
          <p:cNvPr id="54" name="Shape 52"/>
          <p:cNvSpPr/>
          <p:nvPr/>
        </p:nvSpPr>
        <p:spPr>
          <a:xfrm>
            <a:off x="5246370" y="4482442"/>
            <a:ext cx="34290" cy="98123"/>
          </a:xfrm>
          <a:prstGeom prst="line">
            <a:avLst/>
          </a:prstGeom>
          <a:noFill/>
          <a:ln w="50800">
            <a:solidFill>
              <a:srgbClr val="C9A06A"/>
            </a:solidFill>
            <a:prstDash val="solid"/>
          </a:ln>
        </p:spPr>
      </p:sp>
      <p:sp>
        <p:nvSpPr>
          <p:cNvPr id="55" name="Shape 53"/>
          <p:cNvSpPr/>
          <p:nvPr/>
        </p:nvSpPr>
        <p:spPr>
          <a:xfrm>
            <a:off x="5280660" y="4580565"/>
            <a:ext cx="34290" cy="5572"/>
          </a:xfrm>
          <a:prstGeom prst="line">
            <a:avLst/>
          </a:prstGeom>
          <a:noFill/>
          <a:ln w="50800">
            <a:solidFill>
              <a:srgbClr val="C9A06A"/>
            </a:solidFill>
            <a:prstDash val="solid"/>
          </a:ln>
        </p:spPr>
      </p:sp>
      <p:sp>
        <p:nvSpPr>
          <p:cNvPr id="56" name="Shape 54"/>
          <p:cNvSpPr/>
          <p:nvPr/>
        </p:nvSpPr>
        <p:spPr>
          <a:xfrm flipV="1">
            <a:off x="5314950" y="4492052"/>
            <a:ext cx="34290" cy="94085"/>
          </a:xfrm>
          <a:prstGeom prst="line">
            <a:avLst/>
          </a:prstGeom>
          <a:noFill/>
          <a:ln w="50800">
            <a:solidFill>
              <a:srgbClr val="C9A06A"/>
            </a:solidFill>
            <a:prstDash val="solid"/>
          </a:ln>
        </p:spPr>
      </p:sp>
      <p:sp>
        <p:nvSpPr>
          <p:cNvPr id="57" name="Shape 55"/>
          <p:cNvSpPr/>
          <p:nvPr/>
        </p:nvSpPr>
        <p:spPr>
          <a:xfrm flipV="1">
            <a:off x="5349240" y="4418295"/>
            <a:ext cx="34290" cy="73756"/>
          </a:xfrm>
          <a:prstGeom prst="line">
            <a:avLst/>
          </a:prstGeom>
          <a:noFill/>
          <a:ln w="50800">
            <a:solidFill>
              <a:srgbClr val="C9A06A"/>
            </a:solidFill>
            <a:prstDash val="solid"/>
          </a:ln>
        </p:spPr>
      </p:sp>
      <p:sp>
        <p:nvSpPr>
          <p:cNvPr id="58" name="Shape 56"/>
          <p:cNvSpPr/>
          <p:nvPr/>
        </p:nvSpPr>
        <p:spPr>
          <a:xfrm>
            <a:off x="5383530" y="4418295"/>
            <a:ext cx="34290" cy="40633"/>
          </a:xfrm>
          <a:prstGeom prst="line">
            <a:avLst/>
          </a:prstGeom>
          <a:noFill/>
          <a:ln w="50800">
            <a:solidFill>
              <a:srgbClr val="C9A06A"/>
            </a:solidFill>
            <a:prstDash val="solid"/>
          </a:ln>
        </p:spPr>
      </p:sp>
      <p:sp>
        <p:nvSpPr>
          <p:cNvPr id="59" name="Shape 57"/>
          <p:cNvSpPr/>
          <p:nvPr/>
        </p:nvSpPr>
        <p:spPr>
          <a:xfrm>
            <a:off x="5417820" y="4458928"/>
            <a:ext cx="34290" cy="103203"/>
          </a:xfrm>
          <a:prstGeom prst="line">
            <a:avLst/>
          </a:prstGeom>
          <a:noFill/>
          <a:ln w="50800">
            <a:solidFill>
              <a:srgbClr val="C9A06A"/>
            </a:solidFill>
            <a:prstDash val="solid"/>
          </a:ln>
        </p:spPr>
      </p:sp>
      <p:sp>
        <p:nvSpPr>
          <p:cNvPr id="60" name="Shape 58"/>
          <p:cNvSpPr/>
          <p:nvPr/>
        </p:nvSpPr>
        <p:spPr>
          <a:xfrm>
            <a:off x="5452110" y="4562131"/>
            <a:ext cx="34290" cy="34161"/>
          </a:xfrm>
          <a:prstGeom prst="line">
            <a:avLst/>
          </a:prstGeom>
          <a:noFill/>
          <a:ln w="50800">
            <a:solidFill>
              <a:srgbClr val="C9A06A"/>
            </a:solidFill>
            <a:prstDash val="solid"/>
          </a:ln>
        </p:spPr>
      </p:sp>
      <p:sp>
        <p:nvSpPr>
          <p:cNvPr id="61" name="Shape 59"/>
          <p:cNvSpPr/>
          <p:nvPr/>
        </p:nvSpPr>
        <p:spPr>
          <a:xfrm flipV="1">
            <a:off x="5486400" y="4517845"/>
            <a:ext cx="34290" cy="78447"/>
          </a:xfrm>
          <a:prstGeom prst="line">
            <a:avLst/>
          </a:prstGeom>
          <a:noFill/>
          <a:ln w="50800">
            <a:solidFill>
              <a:srgbClr val="C9A06A"/>
            </a:solidFill>
            <a:prstDash val="solid"/>
          </a:ln>
        </p:spPr>
      </p:sp>
      <p:sp>
        <p:nvSpPr>
          <p:cNvPr id="62" name="Shape 60"/>
          <p:cNvSpPr/>
          <p:nvPr/>
        </p:nvSpPr>
        <p:spPr>
          <a:xfrm flipV="1">
            <a:off x="5520690" y="4426833"/>
            <a:ext cx="34290" cy="91012"/>
          </a:xfrm>
          <a:prstGeom prst="line">
            <a:avLst/>
          </a:prstGeom>
          <a:noFill/>
          <a:ln w="50800">
            <a:solidFill>
              <a:srgbClr val="C9A06A"/>
            </a:solidFill>
            <a:prstDash val="solid"/>
          </a:ln>
        </p:spPr>
      </p:sp>
      <p:sp>
        <p:nvSpPr>
          <p:cNvPr id="63" name="Shape 61"/>
          <p:cNvSpPr/>
          <p:nvPr/>
        </p:nvSpPr>
        <p:spPr>
          <a:xfrm>
            <a:off x="5554980" y="4426833"/>
            <a:ext cx="34290" cy="12489"/>
          </a:xfrm>
          <a:prstGeom prst="line">
            <a:avLst/>
          </a:prstGeom>
          <a:noFill/>
          <a:ln w="50800">
            <a:solidFill>
              <a:srgbClr val="C9A06A"/>
            </a:solidFill>
            <a:prstDash val="solid"/>
          </a:ln>
        </p:spPr>
      </p:sp>
      <p:sp>
        <p:nvSpPr>
          <p:cNvPr id="64" name="Shape 62"/>
          <p:cNvSpPr/>
          <p:nvPr/>
        </p:nvSpPr>
        <p:spPr>
          <a:xfrm>
            <a:off x="5589270" y="4439322"/>
            <a:ext cx="34290" cy="100063"/>
          </a:xfrm>
          <a:prstGeom prst="line">
            <a:avLst/>
          </a:prstGeom>
          <a:noFill/>
          <a:ln w="50800">
            <a:solidFill>
              <a:srgbClr val="C9A06A"/>
            </a:solidFill>
            <a:prstDash val="solid"/>
          </a:ln>
        </p:spPr>
      </p:sp>
      <p:sp>
        <p:nvSpPr>
          <p:cNvPr id="65" name="Text 63"/>
          <p:cNvSpPr/>
          <p:nvPr/>
        </p:nvSpPr>
        <p:spPr>
          <a:xfrm>
            <a:off x="4800600" y="4782312"/>
            <a:ext cx="1097280" cy="219456"/>
          </a:xfrm>
          <a:prstGeom prst="rect">
            <a:avLst/>
          </a:prstGeom>
          <a:noFill/>
          <a:ln/>
        </p:spPr>
        <p:txBody>
          <a:bodyPr wrap="square" lIns="0" tIns="0" rIns="0" bIns="0" rtlCol="0" anchor="ctr"/>
          <a:lstStyle/>
          <a:p>
            <a:pPr algn="ctr" indent="0" marL="0">
              <a:buNone/>
            </a:pPr>
            <a:r>
              <a:rPr lang="en-US" sz="1050" b="1" dirty="0">
                <a:solidFill>
                  <a:srgbClr val="133536"/>
                </a:solidFill>
                <a:latin typeface="Calibri" pitchFamily="34" charset="0"/>
                <a:ea typeface="Calibri" pitchFamily="34" charset="-122"/>
                <a:cs typeface="Calibri" pitchFamily="34" charset="-120"/>
              </a:rPr>
              <a:t>gut, skin</a:t>
            </a:r>
            <a:endParaRPr lang="en-US" sz="1050" dirty="0"/>
          </a:p>
        </p:txBody>
      </p:sp>
      <p:sp>
        <p:nvSpPr>
          <p:cNvPr id="66" name="Text 64"/>
          <p:cNvSpPr/>
          <p:nvPr/>
        </p:nvSpPr>
        <p:spPr>
          <a:xfrm>
            <a:off x="4690872" y="4983480"/>
            <a:ext cx="1316736" cy="41148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blood </a:t>
            </a:r>
            <a:r>
              <a:rPr lang="en-US" sz="1000" b="1" dirty="0">
                <a:solidFill>
                  <a:srgbClr val="262B3A"/>
                </a:solidFill>
                <a:latin typeface="Calibri" pitchFamily="34" charset="0"/>
                <a:ea typeface="Calibri" pitchFamily="34" charset="-122"/>
                <a:cs typeface="Calibri" pitchFamily="34" charset="-120"/>
              </a:rPr>
              <a:t>diverted away</a:t>
            </a:r>
            <a:r>
              <a:rPr lang="en-US" sz="1000" dirty="0">
                <a:solidFill>
                  <a:srgbClr val="262B3A"/>
                </a:solidFill>
                <a:latin typeface="Calibri" pitchFamily="34" charset="0"/>
                <a:ea typeface="Calibri" pitchFamily="34" charset="-122"/>
                <a:cs typeface="Calibri" pitchFamily="34" charset="-120"/>
              </a:rPr>
              <a:t>; digestion slows</a:t>
            </a:r>
            <a:endParaRPr lang="en-US" sz="1000" dirty="0"/>
          </a:p>
        </p:txBody>
      </p:sp>
      <p:sp>
        <p:nvSpPr>
          <p:cNvPr id="67" name="Shape 65"/>
          <p:cNvSpPr/>
          <p:nvPr/>
        </p:nvSpPr>
        <p:spPr>
          <a:xfrm>
            <a:off x="3474720" y="3291840"/>
            <a:ext cx="1188720" cy="1216152"/>
          </a:xfrm>
          <a:prstGeom prst="line">
            <a:avLst/>
          </a:prstGeom>
          <a:noFill/>
          <a:ln w="19050">
            <a:solidFill>
              <a:srgbClr val="E08A1E"/>
            </a:solidFill>
            <a:prstDash val="solid"/>
            <a:tailEnd type="triangle"/>
          </a:ln>
        </p:spPr>
      </p:sp>
      <p:sp>
        <p:nvSpPr>
          <p:cNvPr id="68" name="Shape 66"/>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69" name="Text 6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What adrenaline does</a:t>
            </a:r>
            <a:endParaRPr lang="en-US" sz="1300" dirty="0"/>
          </a:p>
        </p:txBody>
      </p:sp>
      <p:sp>
        <p:nvSpPr>
          <p:cNvPr id="70" name="Text 68"/>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In danger or stress, nerve impulses make the </a:t>
            </a:r>
            <a:r>
              <a:rPr lang="en-US" sz="1100" b="1" dirty="0">
                <a:solidFill>
                  <a:srgbClr val="262B3A"/>
                </a:solidFill>
                <a:latin typeface="Calibri" pitchFamily="34" charset="0"/>
                <a:ea typeface="Calibri" pitchFamily="34" charset="-122"/>
                <a:cs typeface="Calibri" pitchFamily="34" charset="-120"/>
              </a:rPr>
              <a:t>adrenal glands</a:t>
            </a:r>
            <a:r>
              <a:rPr lang="en-US" sz="1100" dirty="0">
                <a:solidFill>
                  <a:srgbClr val="262B3A"/>
                </a:solidFill>
                <a:latin typeface="Calibri" pitchFamily="34" charset="0"/>
                <a:ea typeface="Calibri" pitchFamily="34" charset="-122"/>
                <a:cs typeface="Calibri" pitchFamily="34" charset="-120"/>
              </a:rPr>
              <a:t> release </a:t>
            </a:r>
            <a:r>
              <a:rPr lang="en-US" sz="1100" b="1" dirty="0">
                <a:solidFill>
                  <a:srgbClr val="262B3A"/>
                </a:solidFill>
                <a:latin typeface="Calibri" pitchFamily="34" charset="0"/>
                <a:ea typeface="Calibri" pitchFamily="34" charset="-122"/>
                <a:cs typeface="Calibri" pitchFamily="34" charset="-120"/>
              </a:rPr>
              <a:t>adrenaline</a:t>
            </a:r>
            <a:r>
              <a:rPr lang="en-US" sz="1100" dirty="0">
                <a:solidFill>
                  <a:srgbClr val="262B3A"/>
                </a:solidFill>
                <a:latin typeface="Calibri" pitchFamily="34" charset="0"/>
                <a:ea typeface="Calibri" pitchFamily="34" charset="-122"/>
                <a:cs typeface="Calibri" pitchFamily="34" charset="-120"/>
              </a:rPr>
              <a:t> into the blood.</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Within seconds it reaches many </a:t>
            </a:r>
            <a:r>
              <a:rPr lang="en-US" sz="1100" b="1" dirty="0">
                <a:solidFill>
                  <a:srgbClr val="262B3A"/>
                </a:solidFill>
                <a:latin typeface="Calibri" pitchFamily="34" charset="0"/>
                <a:ea typeface="Calibri" pitchFamily="34" charset="-122"/>
                <a:cs typeface="Calibri" pitchFamily="34" charset="-120"/>
              </a:rPr>
              <a:t>target organs</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Heart rate and breathing rate rise, and the liver releases </a:t>
            </a:r>
            <a:r>
              <a:rPr lang="en-US" sz="1100" b="1" dirty="0">
                <a:solidFill>
                  <a:srgbClr val="262B3A"/>
                </a:solidFill>
                <a:latin typeface="Calibri" pitchFamily="34" charset="0"/>
                <a:ea typeface="Calibri" pitchFamily="34" charset="-122"/>
                <a:cs typeface="Calibri" pitchFamily="34" charset="-120"/>
              </a:rPr>
              <a:t>glucose</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More </a:t>
            </a:r>
            <a:r>
              <a:rPr lang="en-US" sz="1100" b="1" dirty="0">
                <a:solidFill>
                  <a:srgbClr val="262B3A"/>
                </a:solidFill>
                <a:latin typeface="Calibri" pitchFamily="34" charset="0"/>
                <a:ea typeface="Calibri" pitchFamily="34" charset="-122"/>
                <a:cs typeface="Calibri" pitchFamily="34" charset="-120"/>
              </a:rPr>
              <a:t>oxygen</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glucose</a:t>
            </a:r>
            <a:r>
              <a:rPr lang="en-US" sz="1100" dirty="0">
                <a:solidFill>
                  <a:srgbClr val="262B3A"/>
                </a:solidFill>
                <a:latin typeface="Calibri" pitchFamily="34" charset="0"/>
                <a:ea typeface="Calibri" pitchFamily="34" charset="-122"/>
                <a:cs typeface="Calibri" pitchFamily="34" charset="-120"/>
              </a:rPr>
              <a:t> reach the muscles, for more </a:t>
            </a:r>
            <a:r>
              <a:rPr lang="en-US" sz="1100" b="1" dirty="0">
                <a:solidFill>
                  <a:srgbClr val="262B3A"/>
                </a:solidFill>
                <a:latin typeface="Calibri" pitchFamily="34" charset="0"/>
                <a:ea typeface="Calibri" pitchFamily="34" charset="-122"/>
                <a:cs typeface="Calibri" pitchFamily="34" charset="-120"/>
              </a:rPr>
              <a:t>respiration</a:t>
            </a:r>
            <a:r>
              <a:rPr lang="en-US" sz="1100" dirty="0">
                <a:solidFill>
                  <a:srgbClr val="262B3A"/>
                </a:solidFill>
                <a:latin typeface="Calibri" pitchFamily="34" charset="0"/>
                <a:ea typeface="Calibri" pitchFamily="34" charset="-122"/>
                <a:cs typeface="Calibri" pitchFamily="34" charset="-120"/>
              </a:rPr>
              <a:t>: more energy for </a:t>
            </a:r>
            <a:r>
              <a:rPr lang="en-US" sz="1100" b="1" dirty="0">
                <a:solidFill>
                  <a:srgbClr val="262B3A"/>
                </a:solidFill>
                <a:latin typeface="Calibri" pitchFamily="34" charset="0"/>
                <a:ea typeface="Calibri" pitchFamily="34" charset="-122"/>
                <a:cs typeface="Calibri" pitchFamily="34" charset="-120"/>
              </a:rPr>
              <a:t>fighting or running away</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effect is fast for a hormone and wears off in minutes.</a:t>
            </a:r>
            <a:endParaRPr lang="en-US" sz="1100" dirty="0"/>
          </a:p>
        </p:txBody>
      </p:sp>
      <p:sp>
        <p:nvSpPr>
          <p:cNvPr id="71" name="Shape 69"/>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72" name="Text 70"/>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link the effects</a:t>
            </a:r>
            <a:endParaRPr lang="en-US" sz="1300" dirty="0"/>
          </a:p>
        </p:txBody>
      </p:sp>
      <p:sp>
        <p:nvSpPr>
          <p:cNvPr id="73" name="Text 71"/>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Explain how a faster heart rate helps a sprinter escape danger.</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Blood   </a:t>
            </a:r>
            <a:r>
              <a:rPr lang="en-US" sz="1050" dirty="0">
                <a:solidFill>
                  <a:srgbClr val="262B3A"/>
                </a:solidFill>
                <a:latin typeface="Calibri" pitchFamily="34" charset="0"/>
                <a:ea typeface="Calibri" pitchFamily="34" charset="-122"/>
                <a:cs typeface="Calibri" pitchFamily="34" charset="-120"/>
              </a:rPr>
              <a:t>more blood is pumped to the muscles each minute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Delivery   </a:t>
            </a:r>
            <a:r>
              <a:rPr lang="en-US" sz="1050" dirty="0">
                <a:solidFill>
                  <a:srgbClr val="262B3A"/>
                </a:solidFill>
                <a:latin typeface="Calibri" pitchFamily="34" charset="0"/>
                <a:ea typeface="Calibri" pitchFamily="34" charset="-122"/>
                <a:cs typeface="Calibri" pitchFamily="34" charset="-120"/>
              </a:rPr>
              <a:t>more oxygen and glucose reach the muscle cells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Respiration   </a:t>
            </a:r>
            <a:r>
              <a:rPr lang="en-US" sz="1050" dirty="0">
                <a:solidFill>
                  <a:srgbClr val="262B3A"/>
                </a:solidFill>
                <a:latin typeface="Calibri" pitchFamily="34" charset="0"/>
                <a:ea typeface="Calibri" pitchFamily="34" charset="-122"/>
                <a:cs typeface="Calibri" pitchFamily="34" charset="-120"/>
              </a:rPr>
              <a:t>faster aerobic respiration releases more energy</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muscles can contract harder and for longer</a:t>
            </a:r>
            <a:endParaRPr lang="en-US" sz="1050" dirty="0"/>
          </a:p>
        </p:txBody>
      </p:sp>
      <p:sp>
        <p:nvSpPr>
          <p:cNvPr id="74" name="Shape 72"/>
          <p:cNvSpPr/>
          <p:nvPr/>
        </p:nvSpPr>
        <p:spPr>
          <a:xfrm>
            <a:off x="411480" y="5833872"/>
            <a:ext cx="11368735" cy="530352"/>
          </a:xfrm>
          <a:prstGeom prst="rect">
            <a:avLst/>
          </a:prstGeom>
          <a:solidFill>
            <a:srgbClr val="FFF4E0"/>
          </a:solidFill>
          <a:ln w="6350">
            <a:solidFill>
              <a:srgbClr val="F1D9A8"/>
            </a:solidFill>
            <a:prstDash val="solid"/>
          </a:ln>
        </p:spPr>
      </p:sp>
      <p:sp>
        <p:nvSpPr>
          <p:cNvPr id="75" name="Shape 73"/>
          <p:cNvSpPr/>
          <p:nvPr/>
        </p:nvSpPr>
        <p:spPr>
          <a:xfrm>
            <a:off x="411480" y="5833872"/>
            <a:ext cx="82296" cy="530352"/>
          </a:xfrm>
          <a:prstGeom prst="rect">
            <a:avLst/>
          </a:prstGeom>
          <a:solidFill>
            <a:srgbClr val="E39A2F"/>
          </a:solidFill>
          <a:ln w="12700">
            <a:solidFill>
              <a:srgbClr val="E39A2F"/>
            </a:solidFill>
            <a:prstDash val="solid"/>
          </a:ln>
        </p:spPr>
      </p:sp>
      <p:sp>
        <p:nvSpPr>
          <p:cNvPr id="76" name="Text 7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Adrenaline makes the liver turn </a:t>
            </a:r>
            <a:r>
              <a:rPr lang="en-US" sz="1150" b="1" dirty="0">
                <a:solidFill>
                  <a:srgbClr val="262B3A"/>
                </a:solidFill>
                <a:latin typeface="Calibri" pitchFamily="34" charset="0"/>
                <a:ea typeface="Calibri" pitchFamily="34" charset="-122"/>
                <a:cs typeface="Calibri" pitchFamily="34" charset="-120"/>
              </a:rPr>
              <a:t>glycogen into glucose</a:t>
            </a:r>
            <a:r>
              <a:rPr lang="en-US" sz="1150" dirty="0">
                <a:solidFill>
                  <a:srgbClr val="262B3A"/>
                </a:solidFill>
                <a:latin typeface="Calibri" pitchFamily="34" charset="0"/>
                <a:ea typeface="Calibri" pitchFamily="34" charset="-122"/>
                <a:cs typeface="Calibri" pitchFamily="34" charset="-120"/>
              </a:rPr>
              <a:t>. Explain why this helps in a "fight or flight" situation.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Data: heart rate after a fright</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B5.3.2 • suggested activity: interpret a graph • percentage change</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Shape 6"/>
          <p:cNvSpPr/>
          <p:nvPr/>
        </p:nvSpPr>
        <p:spPr>
          <a:xfrm>
            <a:off x="9475927" y="292608"/>
            <a:ext cx="1755648" cy="274320"/>
          </a:xfrm>
          <a:prstGeom prst="roundRect">
            <a:avLst>
              <a:gd name="adj" fmla="val 50000"/>
            </a:avLst>
          </a:prstGeom>
          <a:solidFill>
            <a:srgbClr val="B8730A"/>
          </a:solidFill>
          <a:ln w="12700">
            <a:solidFill>
              <a:srgbClr val="B8730A"/>
            </a:solidFill>
            <a:prstDash val="solid"/>
          </a:ln>
        </p:spPr>
      </p:sp>
      <p:sp>
        <p:nvSpPr>
          <p:cNvPr id="9" name="Text 7"/>
          <p:cNvSpPr/>
          <p:nvPr/>
        </p:nvSpPr>
        <p:spPr>
          <a:xfrm>
            <a:off x="9475927" y="292608"/>
            <a:ext cx="175564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ACTIVITY</a:t>
            </a:r>
            <a:endParaRPr lang="en-US" sz="1000" dirty="0"/>
          </a:p>
        </p:txBody>
      </p:sp>
      <p:sp>
        <p:nvSpPr>
          <p:cNvPr id="10" name="Text 8"/>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B5.3 How do hormones control responses in the human body? | Higher &amp; Foundation</a:t>
            </a:r>
            <a:endParaRPr lang="en-US" sz="1000" dirty="0"/>
          </a:p>
        </p:txBody>
      </p:sp>
      <p:sp>
        <p:nvSpPr>
          <p:cNvPr id="11" name="Text 9"/>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B5.3.2  |  12</a:t>
            </a:r>
            <a:endParaRPr lang="en-US" sz="1000" dirty="0"/>
          </a:p>
        </p:txBody>
      </p:sp>
      <p:sp>
        <p:nvSpPr>
          <p:cNvPr id="12" name="Shape 10"/>
          <p:cNvSpPr/>
          <p:nvPr/>
        </p:nvSpPr>
        <p:spPr>
          <a:xfrm>
            <a:off x="411480" y="1188720"/>
            <a:ext cx="5852160" cy="4526280"/>
          </a:xfrm>
          <a:prstGeom prst="roundRect">
            <a:avLst>
              <a:gd name="adj" fmla="val 1616"/>
            </a:avLst>
          </a:prstGeom>
          <a:solidFill>
            <a:srgbClr val="EEF5F4"/>
          </a:solidFill>
          <a:ln w="9525">
            <a:solidFill>
              <a:srgbClr val="D2E3E1"/>
            </a:solidFill>
            <a:prstDash val="solid"/>
          </a:ln>
        </p:spPr>
      </p:sp>
      <p:sp>
        <p:nvSpPr>
          <p:cNvPr id="13" name="Text 11"/>
          <p:cNvSpPr/>
          <p:nvPr/>
        </p:nvSpPr>
        <p:spPr>
          <a:xfrm>
            <a:off x="548640" y="5404104"/>
            <a:ext cx="557784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sample data for one student; the loud noise is at 2 min</a:t>
            </a:r>
            <a:endParaRPr lang="en-US" sz="1000" dirty="0"/>
          </a:p>
        </p:txBody>
      </p:sp>
      <p:sp>
        <p:nvSpPr>
          <p:cNvPr id="14" name="Shape 12"/>
          <p:cNvSpPr/>
          <p:nvPr/>
        </p:nvSpPr>
        <p:spPr>
          <a:xfrm>
            <a:off x="1325880" y="1417320"/>
            <a:ext cx="4617720" cy="3337560"/>
          </a:xfrm>
          <a:prstGeom prst="rect">
            <a:avLst/>
          </a:prstGeom>
          <a:solidFill>
            <a:srgbClr val="FFFFFF"/>
          </a:solidFill>
          <a:ln/>
        </p:spPr>
      </p:sp>
      <p:sp>
        <p:nvSpPr>
          <p:cNvPr id="15" name="Shape 13"/>
          <p:cNvSpPr/>
          <p:nvPr/>
        </p:nvSpPr>
        <p:spPr>
          <a:xfrm>
            <a:off x="1325880" y="1417320"/>
            <a:ext cx="91" cy="3337560"/>
          </a:xfrm>
          <a:prstGeom prst="line">
            <a:avLst/>
          </a:prstGeom>
          <a:noFill/>
          <a:ln w="6350">
            <a:solidFill>
              <a:srgbClr val="C5DCD9"/>
            </a:solidFill>
            <a:prstDash val="solid"/>
          </a:ln>
        </p:spPr>
      </p:sp>
      <p:sp>
        <p:nvSpPr>
          <p:cNvPr id="16" name="Shape 14"/>
          <p:cNvSpPr/>
          <p:nvPr/>
        </p:nvSpPr>
        <p:spPr>
          <a:xfrm>
            <a:off x="1556766" y="1417320"/>
            <a:ext cx="91" cy="3337560"/>
          </a:xfrm>
          <a:prstGeom prst="line">
            <a:avLst/>
          </a:prstGeom>
          <a:noFill/>
          <a:ln w="6350">
            <a:solidFill>
              <a:srgbClr val="E3EFED"/>
            </a:solidFill>
            <a:prstDash val="solid"/>
          </a:ln>
        </p:spPr>
      </p:sp>
      <p:sp>
        <p:nvSpPr>
          <p:cNvPr id="17" name="Shape 15"/>
          <p:cNvSpPr/>
          <p:nvPr/>
        </p:nvSpPr>
        <p:spPr>
          <a:xfrm>
            <a:off x="1787652" y="1417320"/>
            <a:ext cx="91" cy="3337560"/>
          </a:xfrm>
          <a:prstGeom prst="line">
            <a:avLst/>
          </a:prstGeom>
          <a:noFill/>
          <a:ln w="6350">
            <a:solidFill>
              <a:srgbClr val="C5DCD9"/>
            </a:solidFill>
            <a:prstDash val="solid"/>
          </a:ln>
        </p:spPr>
      </p:sp>
      <p:sp>
        <p:nvSpPr>
          <p:cNvPr id="18" name="Shape 16"/>
          <p:cNvSpPr/>
          <p:nvPr/>
        </p:nvSpPr>
        <p:spPr>
          <a:xfrm>
            <a:off x="2018538" y="1417320"/>
            <a:ext cx="91" cy="3337560"/>
          </a:xfrm>
          <a:prstGeom prst="line">
            <a:avLst/>
          </a:prstGeom>
          <a:noFill/>
          <a:ln w="6350">
            <a:solidFill>
              <a:srgbClr val="E3EFED"/>
            </a:solidFill>
            <a:prstDash val="solid"/>
          </a:ln>
        </p:spPr>
      </p:sp>
      <p:sp>
        <p:nvSpPr>
          <p:cNvPr id="19" name="Shape 17"/>
          <p:cNvSpPr/>
          <p:nvPr/>
        </p:nvSpPr>
        <p:spPr>
          <a:xfrm>
            <a:off x="2249424" y="1417320"/>
            <a:ext cx="91" cy="3337560"/>
          </a:xfrm>
          <a:prstGeom prst="line">
            <a:avLst/>
          </a:prstGeom>
          <a:noFill/>
          <a:ln w="6350">
            <a:solidFill>
              <a:srgbClr val="C5DCD9"/>
            </a:solidFill>
            <a:prstDash val="solid"/>
          </a:ln>
        </p:spPr>
      </p:sp>
      <p:sp>
        <p:nvSpPr>
          <p:cNvPr id="20" name="Shape 18"/>
          <p:cNvSpPr/>
          <p:nvPr/>
        </p:nvSpPr>
        <p:spPr>
          <a:xfrm>
            <a:off x="2480310" y="1417320"/>
            <a:ext cx="91" cy="3337560"/>
          </a:xfrm>
          <a:prstGeom prst="line">
            <a:avLst/>
          </a:prstGeom>
          <a:noFill/>
          <a:ln w="6350">
            <a:solidFill>
              <a:srgbClr val="E3EFED"/>
            </a:solidFill>
            <a:prstDash val="solid"/>
          </a:ln>
        </p:spPr>
      </p:sp>
      <p:sp>
        <p:nvSpPr>
          <p:cNvPr id="21" name="Shape 19"/>
          <p:cNvSpPr/>
          <p:nvPr/>
        </p:nvSpPr>
        <p:spPr>
          <a:xfrm>
            <a:off x="2711196" y="1417320"/>
            <a:ext cx="91" cy="3337560"/>
          </a:xfrm>
          <a:prstGeom prst="line">
            <a:avLst/>
          </a:prstGeom>
          <a:noFill/>
          <a:ln w="6350">
            <a:solidFill>
              <a:srgbClr val="C5DCD9"/>
            </a:solidFill>
            <a:prstDash val="solid"/>
          </a:ln>
        </p:spPr>
      </p:sp>
      <p:sp>
        <p:nvSpPr>
          <p:cNvPr id="22" name="Shape 20"/>
          <p:cNvSpPr/>
          <p:nvPr/>
        </p:nvSpPr>
        <p:spPr>
          <a:xfrm>
            <a:off x="2942082" y="1417320"/>
            <a:ext cx="91" cy="3337560"/>
          </a:xfrm>
          <a:prstGeom prst="line">
            <a:avLst/>
          </a:prstGeom>
          <a:noFill/>
          <a:ln w="6350">
            <a:solidFill>
              <a:srgbClr val="E3EFED"/>
            </a:solidFill>
            <a:prstDash val="solid"/>
          </a:ln>
        </p:spPr>
      </p:sp>
      <p:sp>
        <p:nvSpPr>
          <p:cNvPr id="23" name="Shape 21"/>
          <p:cNvSpPr/>
          <p:nvPr/>
        </p:nvSpPr>
        <p:spPr>
          <a:xfrm>
            <a:off x="3172968" y="1417320"/>
            <a:ext cx="91" cy="3337560"/>
          </a:xfrm>
          <a:prstGeom prst="line">
            <a:avLst/>
          </a:prstGeom>
          <a:noFill/>
          <a:ln w="6350">
            <a:solidFill>
              <a:srgbClr val="C5DCD9"/>
            </a:solidFill>
            <a:prstDash val="solid"/>
          </a:ln>
        </p:spPr>
      </p:sp>
      <p:sp>
        <p:nvSpPr>
          <p:cNvPr id="24" name="Shape 22"/>
          <p:cNvSpPr/>
          <p:nvPr/>
        </p:nvSpPr>
        <p:spPr>
          <a:xfrm>
            <a:off x="3403854" y="1417320"/>
            <a:ext cx="91" cy="3337560"/>
          </a:xfrm>
          <a:prstGeom prst="line">
            <a:avLst/>
          </a:prstGeom>
          <a:noFill/>
          <a:ln w="6350">
            <a:solidFill>
              <a:srgbClr val="E3EFED"/>
            </a:solidFill>
            <a:prstDash val="solid"/>
          </a:ln>
        </p:spPr>
      </p:sp>
      <p:sp>
        <p:nvSpPr>
          <p:cNvPr id="25" name="Shape 23"/>
          <p:cNvSpPr/>
          <p:nvPr/>
        </p:nvSpPr>
        <p:spPr>
          <a:xfrm>
            <a:off x="3634740" y="1417320"/>
            <a:ext cx="91" cy="3337560"/>
          </a:xfrm>
          <a:prstGeom prst="line">
            <a:avLst/>
          </a:prstGeom>
          <a:noFill/>
          <a:ln w="6350">
            <a:solidFill>
              <a:srgbClr val="C5DCD9"/>
            </a:solidFill>
            <a:prstDash val="solid"/>
          </a:ln>
        </p:spPr>
      </p:sp>
      <p:sp>
        <p:nvSpPr>
          <p:cNvPr id="26" name="Shape 24"/>
          <p:cNvSpPr/>
          <p:nvPr/>
        </p:nvSpPr>
        <p:spPr>
          <a:xfrm>
            <a:off x="3865626" y="1417320"/>
            <a:ext cx="91" cy="3337560"/>
          </a:xfrm>
          <a:prstGeom prst="line">
            <a:avLst/>
          </a:prstGeom>
          <a:noFill/>
          <a:ln w="6350">
            <a:solidFill>
              <a:srgbClr val="E3EFED"/>
            </a:solidFill>
            <a:prstDash val="solid"/>
          </a:ln>
        </p:spPr>
      </p:sp>
      <p:sp>
        <p:nvSpPr>
          <p:cNvPr id="27" name="Shape 25"/>
          <p:cNvSpPr/>
          <p:nvPr/>
        </p:nvSpPr>
        <p:spPr>
          <a:xfrm>
            <a:off x="4096512" y="1417320"/>
            <a:ext cx="91" cy="3337560"/>
          </a:xfrm>
          <a:prstGeom prst="line">
            <a:avLst/>
          </a:prstGeom>
          <a:noFill/>
          <a:ln w="6350">
            <a:solidFill>
              <a:srgbClr val="C5DCD9"/>
            </a:solidFill>
            <a:prstDash val="solid"/>
          </a:ln>
        </p:spPr>
      </p:sp>
      <p:sp>
        <p:nvSpPr>
          <p:cNvPr id="28" name="Shape 26"/>
          <p:cNvSpPr/>
          <p:nvPr/>
        </p:nvSpPr>
        <p:spPr>
          <a:xfrm>
            <a:off x="4327398" y="1417320"/>
            <a:ext cx="91" cy="3337560"/>
          </a:xfrm>
          <a:prstGeom prst="line">
            <a:avLst/>
          </a:prstGeom>
          <a:noFill/>
          <a:ln w="6350">
            <a:solidFill>
              <a:srgbClr val="E3EFED"/>
            </a:solidFill>
            <a:prstDash val="solid"/>
          </a:ln>
        </p:spPr>
      </p:sp>
      <p:sp>
        <p:nvSpPr>
          <p:cNvPr id="29" name="Shape 27"/>
          <p:cNvSpPr/>
          <p:nvPr/>
        </p:nvSpPr>
        <p:spPr>
          <a:xfrm>
            <a:off x="4558284" y="1417320"/>
            <a:ext cx="91" cy="3337560"/>
          </a:xfrm>
          <a:prstGeom prst="line">
            <a:avLst/>
          </a:prstGeom>
          <a:noFill/>
          <a:ln w="6350">
            <a:solidFill>
              <a:srgbClr val="C5DCD9"/>
            </a:solidFill>
            <a:prstDash val="solid"/>
          </a:ln>
        </p:spPr>
      </p:sp>
      <p:sp>
        <p:nvSpPr>
          <p:cNvPr id="30" name="Shape 28"/>
          <p:cNvSpPr/>
          <p:nvPr/>
        </p:nvSpPr>
        <p:spPr>
          <a:xfrm>
            <a:off x="4789170" y="1417320"/>
            <a:ext cx="91" cy="3337560"/>
          </a:xfrm>
          <a:prstGeom prst="line">
            <a:avLst/>
          </a:prstGeom>
          <a:noFill/>
          <a:ln w="6350">
            <a:solidFill>
              <a:srgbClr val="E3EFED"/>
            </a:solidFill>
            <a:prstDash val="solid"/>
          </a:ln>
        </p:spPr>
      </p:sp>
      <p:sp>
        <p:nvSpPr>
          <p:cNvPr id="31" name="Shape 29"/>
          <p:cNvSpPr/>
          <p:nvPr/>
        </p:nvSpPr>
        <p:spPr>
          <a:xfrm>
            <a:off x="5020056" y="1417320"/>
            <a:ext cx="91" cy="3337560"/>
          </a:xfrm>
          <a:prstGeom prst="line">
            <a:avLst/>
          </a:prstGeom>
          <a:noFill/>
          <a:ln w="6350">
            <a:solidFill>
              <a:srgbClr val="C5DCD9"/>
            </a:solidFill>
            <a:prstDash val="solid"/>
          </a:ln>
        </p:spPr>
      </p:sp>
      <p:sp>
        <p:nvSpPr>
          <p:cNvPr id="32" name="Shape 30"/>
          <p:cNvSpPr/>
          <p:nvPr/>
        </p:nvSpPr>
        <p:spPr>
          <a:xfrm>
            <a:off x="5250942" y="1417320"/>
            <a:ext cx="91" cy="3337560"/>
          </a:xfrm>
          <a:prstGeom prst="line">
            <a:avLst/>
          </a:prstGeom>
          <a:noFill/>
          <a:ln w="6350">
            <a:solidFill>
              <a:srgbClr val="E3EFED"/>
            </a:solidFill>
            <a:prstDash val="solid"/>
          </a:ln>
        </p:spPr>
      </p:sp>
      <p:sp>
        <p:nvSpPr>
          <p:cNvPr id="33" name="Shape 31"/>
          <p:cNvSpPr/>
          <p:nvPr/>
        </p:nvSpPr>
        <p:spPr>
          <a:xfrm>
            <a:off x="5481828" y="1417320"/>
            <a:ext cx="91" cy="3337560"/>
          </a:xfrm>
          <a:prstGeom prst="line">
            <a:avLst/>
          </a:prstGeom>
          <a:noFill/>
          <a:ln w="6350">
            <a:solidFill>
              <a:srgbClr val="C5DCD9"/>
            </a:solidFill>
            <a:prstDash val="solid"/>
          </a:ln>
        </p:spPr>
      </p:sp>
      <p:sp>
        <p:nvSpPr>
          <p:cNvPr id="34" name="Shape 32"/>
          <p:cNvSpPr/>
          <p:nvPr/>
        </p:nvSpPr>
        <p:spPr>
          <a:xfrm>
            <a:off x="5712714" y="1417320"/>
            <a:ext cx="91" cy="3337560"/>
          </a:xfrm>
          <a:prstGeom prst="line">
            <a:avLst/>
          </a:prstGeom>
          <a:noFill/>
          <a:ln w="6350">
            <a:solidFill>
              <a:srgbClr val="E3EFED"/>
            </a:solidFill>
            <a:prstDash val="solid"/>
          </a:ln>
        </p:spPr>
      </p:sp>
      <p:sp>
        <p:nvSpPr>
          <p:cNvPr id="35" name="Shape 33"/>
          <p:cNvSpPr/>
          <p:nvPr/>
        </p:nvSpPr>
        <p:spPr>
          <a:xfrm>
            <a:off x="5943600" y="1417320"/>
            <a:ext cx="91" cy="3337560"/>
          </a:xfrm>
          <a:prstGeom prst="line">
            <a:avLst/>
          </a:prstGeom>
          <a:noFill/>
          <a:ln w="6350">
            <a:solidFill>
              <a:srgbClr val="C5DCD9"/>
            </a:solidFill>
            <a:prstDash val="solid"/>
          </a:ln>
        </p:spPr>
      </p:sp>
      <p:sp>
        <p:nvSpPr>
          <p:cNvPr id="36" name="Shape 34"/>
          <p:cNvSpPr/>
          <p:nvPr/>
        </p:nvSpPr>
        <p:spPr>
          <a:xfrm>
            <a:off x="1325880" y="4754880"/>
            <a:ext cx="4617720" cy="91"/>
          </a:xfrm>
          <a:prstGeom prst="line">
            <a:avLst/>
          </a:prstGeom>
          <a:noFill/>
          <a:ln w="6350">
            <a:solidFill>
              <a:srgbClr val="C5DCD9"/>
            </a:solidFill>
            <a:prstDash val="solid"/>
          </a:ln>
        </p:spPr>
      </p:sp>
      <p:sp>
        <p:nvSpPr>
          <p:cNvPr id="37" name="Shape 35"/>
          <p:cNvSpPr/>
          <p:nvPr/>
        </p:nvSpPr>
        <p:spPr>
          <a:xfrm>
            <a:off x="1325880" y="4516483"/>
            <a:ext cx="4617720" cy="91"/>
          </a:xfrm>
          <a:prstGeom prst="line">
            <a:avLst/>
          </a:prstGeom>
          <a:noFill/>
          <a:ln w="6350">
            <a:solidFill>
              <a:srgbClr val="E3EFED"/>
            </a:solidFill>
            <a:prstDash val="solid"/>
          </a:ln>
        </p:spPr>
      </p:sp>
      <p:sp>
        <p:nvSpPr>
          <p:cNvPr id="38" name="Shape 36"/>
          <p:cNvSpPr/>
          <p:nvPr/>
        </p:nvSpPr>
        <p:spPr>
          <a:xfrm>
            <a:off x="1325880" y="4278086"/>
            <a:ext cx="4617720" cy="91"/>
          </a:xfrm>
          <a:prstGeom prst="line">
            <a:avLst/>
          </a:prstGeom>
          <a:noFill/>
          <a:ln w="6350">
            <a:solidFill>
              <a:srgbClr val="C5DCD9"/>
            </a:solidFill>
            <a:prstDash val="solid"/>
          </a:ln>
        </p:spPr>
      </p:sp>
      <p:sp>
        <p:nvSpPr>
          <p:cNvPr id="39" name="Shape 37"/>
          <p:cNvSpPr/>
          <p:nvPr/>
        </p:nvSpPr>
        <p:spPr>
          <a:xfrm>
            <a:off x="1325880" y="4039689"/>
            <a:ext cx="4617720" cy="91"/>
          </a:xfrm>
          <a:prstGeom prst="line">
            <a:avLst/>
          </a:prstGeom>
          <a:noFill/>
          <a:ln w="6350">
            <a:solidFill>
              <a:srgbClr val="E3EFED"/>
            </a:solidFill>
            <a:prstDash val="solid"/>
          </a:ln>
        </p:spPr>
      </p:sp>
      <p:sp>
        <p:nvSpPr>
          <p:cNvPr id="40" name="Shape 38"/>
          <p:cNvSpPr/>
          <p:nvPr/>
        </p:nvSpPr>
        <p:spPr>
          <a:xfrm>
            <a:off x="1325880" y="3801291"/>
            <a:ext cx="4617720" cy="91"/>
          </a:xfrm>
          <a:prstGeom prst="line">
            <a:avLst/>
          </a:prstGeom>
          <a:noFill/>
          <a:ln w="6350">
            <a:solidFill>
              <a:srgbClr val="C5DCD9"/>
            </a:solidFill>
            <a:prstDash val="solid"/>
          </a:ln>
        </p:spPr>
      </p:sp>
      <p:sp>
        <p:nvSpPr>
          <p:cNvPr id="41" name="Shape 39"/>
          <p:cNvSpPr/>
          <p:nvPr/>
        </p:nvSpPr>
        <p:spPr>
          <a:xfrm>
            <a:off x="1325880" y="3562894"/>
            <a:ext cx="4617720" cy="91"/>
          </a:xfrm>
          <a:prstGeom prst="line">
            <a:avLst/>
          </a:prstGeom>
          <a:noFill/>
          <a:ln w="6350">
            <a:solidFill>
              <a:srgbClr val="E3EFED"/>
            </a:solidFill>
            <a:prstDash val="solid"/>
          </a:ln>
        </p:spPr>
      </p:sp>
      <p:sp>
        <p:nvSpPr>
          <p:cNvPr id="42" name="Shape 40"/>
          <p:cNvSpPr/>
          <p:nvPr/>
        </p:nvSpPr>
        <p:spPr>
          <a:xfrm>
            <a:off x="1325880" y="3324497"/>
            <a:ext cx="4617720" cy="91"/>
          </a:xfrm>
          <a:prstGeom prst="line">
            <a:avLst/>
          </a:prstGeom>
          <a:noFill/>
          <a:ln w="6350">
            <a:solidFill>
              <a:srgbClr val="C5DCD9"/>
            </a:solidFill>
            <a:prstDash val="solid"/>
          </a:ln>
        </p:spPr>
      </p:sp>
      <p:sp>
        <p:nvSpPr>
          <p:cNvPr id="43" name="Shape 41"/>
          <p:cNvSpPr/>
          <p:nvPr/>
        </p:nvSpPr>
        <p:spPr>
          <a:xfrm>
            <a:off x="1325880" y="3086100"/>
            <a:ext cx="4617720" cy="91"/>
          </a:xfrm>
          <a:prstGeom prst="line">
            <a:avLst/>
          </a:prstGeom>
          <a:noFill/>
          <a:ln w="6350">
            <a:solidFill>
              <a:srgbClr val="E3EFED"/>
            </a:solidFill>
            <a:prstDash val="solid"/>
          </a:ln>
        </p:spPr>
      </p:sp>
      <p:sp>
        <p:nvSpPr>
          <p:cNvPr id="44" name="Shape 42"/>
          <p:cNvSpPr/>
          <p:nvPr/>
        </p:nvSpPr>
        <p:spPr>
          <a:xfrm>
            <a:off x="1325880" y="2847703"/>
            <a:ext cx="4617720" cy="91"/>
          </a:xfrm>
          <a:prstGeom prst="line">
            <a:avLst/>
          </a:prstGeom>
          <a:noFill/>
          <a:ln w="6350">
            <a:solidFill>
              <a:srgbClr val="C5DCD9"/>
            </a:solidFill>
            <a:prstDash val="solid"/>
          </a:ln>
        </p:spPr>
      </p:sp>
      <p:sp>
        <p:nvSpPr>
          <p:cNvPr id="45" name="Shape 43"/>
          <p:cNvSpPr/>
          <p:nvPr/>
        </p:nvSpPr>
        <p:spPr>
          <a:xfrm>
            <a:off x="1325880" y="2609306"/>
            <a:ext cx="4617720" cy="91"/>
          </a:xfrm>
          <a:prstGeom prst="line">
            <a:avLst/>
          </a:prstGeom>
          <a:noFill/>
          <a:ln w="6350">
            <a:solidFill>
              <a:srgbClr val="E3EFED"/>
            </a:solidFill>
            <a:prstDash val="solid"/>
          </a:ln>
        </p:spPr>
      </p:sp>
      <p:sp>
        <p:nvSpPr>
          <p:cNvPr id="46" name="Shape 44"/>
          <p:cNvSpPr/>
          <p:nvPr/>
        </p:nvSpPr>
        <p:spPr>
          <a:xfrm>
            <a:off x="1325880" y="2370909"/>
            <a:ext cx="4617720" cy="91"/>
          </a:xfrm>
          <a:prstGeom prst="line">
            <a:avLst/>
          </a:prstGeom>
          <a:noFill/>
          <a:ln w="6350">
            <a:solidFill>
              <a:srgbClr val="C5DCD9"/>
            </a:solidFill>
            <a:prstDash val="solid"/>
          </a:ln>
        </p:spPr>
      </p:sp>
      <p:sp>
        <p:nvSpPr>
          <p:cNvPr id="47" name="Shape 45"/>
          <p:cNvSpPr/>
          <p:nvPr/>
        </p:nvSpPr>
        <p:spPr>
          <a:xfrm>
            <a:off x="1325880" y="2132511"/>
            <a:ext cx="4617720" cy="91"/>
          </a:xfrm>
          <a:prstGeom prst="line">
            <a:avLst/>
          </a:prstGeom>
          <a:noFill/>
          <a:ln w="6350">
            <a:solidFill>
              <a:srgbClr val="E3EFED"/>
            </a:solidFill>
            <a:prstDash val="solid"/>
          </a:ln>
        </p:spPr>
      </p:sp>
      <p:sp>
        <p:nvSpPr>
          <p:cNvPr id="48" name="Shape 46"/>
          <p:cNvSpPr/>
          <p:nvPr/>
        </p:nvSpPr>
        <p:spPr>
          <a:xfrm>
            <a:off x="1325880" y="1894114"/>
            <a:ext cx="4617720" cy="91"/>
          </a:xfrm>
          <a:prstGeom prst="line">
            <a:avLst/>
          </a:prstGeom>
          <a:noFill/>
          <a:ln w="6350">
            <a:solidFill>
              <a:srgbClr val="C5DCD9"/>
            </a:solidFill>
            <a:prstDash val="solid"/>
          </a:ln>
        </p:spPr>
      </p:sp>
      <p:sp>
        <p:nvSpPr>
          <p:cNvPr id="49" name="Shape 47"/>
          <p:cNvSpPr/>
          <p:nvPr/>
        </p:nvSpPr>
        <p:spPr>
          <a:xfrm>
            <a:off x="1325880" y="1655717"/>
            <a:ext cx="4617720" cy="91"/>
          </a:xfrm>
          <a:prstGeom prst="line">
            <a:avLst/>
          </a:prstGeom>
          <a:noFill/>
          <a:ln w="6350">
            <a:solidFill>
              <a:srgbClr val="E3EFED"/>
            </a:solidFill>
            <a:prstDash val="solid"/>
          </a:ln>
        </p:spPr>
      </p:sp>
      <p:sp>
        <p:nvSpPr>
          <p:cNvPr id="50" name="Shape 48"/>
          <p:cNvSpPr/>
          <p:nvPr/>
        </p:nvSpPr>
        <p:spPr>
          <a:xfrm>
            <a:off x="1325880" y="1417320"/>
            <a:ext cx="4617720" cy="91"/>
          </a:xfrm>
          <a:prstGeom prst="line">
            <a:avLst/>
          </a:prstGeom>
          <a:noFill/>
          <a:ln w="6350">
            <a:solidFill>
              <a:srgbClr val="C5DCD9"/>
            </a:solidFill>
            <a:prstDash val="solid"/>
          </a:ln>
        </p:spPr>
      </p:sp>
      <p:sp>
        <p:nvSpPr>
          <p:cNvPr id="51" name="Shape 49"/>
          <p:cNvSpPr/>
          <p:nvPr/>
        </p:nvSpPr>
        <p:spPr>
          <a:xfrm>
            <a:off x="1325880" y="4754880"/>
            <a:ext cx="4617720" cy="91"/>
          </a:xfrm>
          <a:prstGeom prst="line">
            <a:avLst/>
          </a:prstGeom>
          <a:noFill/>
          <a:ln w="19050">
            <a:solidFill>
              <a:srgbClr val="133536"/>
            </a:solidFill>
            <a:prstDash val="solid"/>
          </a:ln>
        </p:spPr>
      </p:sp>
      <p:sp>
        <p:nvSpPr>
          <p:cNvPr id="52" name="Shape 50"/>
          <p:cNvSpPr/>
          <p:nvPr/>
        </p:nvSpPr>
        <p:spPr>
          <a:xfrm flipV="1">
            <a:off x="1325880" y="1417320"/>
            <a:ext cx="91" cy="3337560"/>
          </a:xfrm>
          <a:prstGeom prst="line">
            <a:avLst/>
          </a:prstGeom>
          <a:noFill/>
          <a:ln w="19050">
            <a:solidFill>
              <a:srgbClr val="133536"/>
            </a:solidFill>
            <a:prstDash val="solid"/>
          </a:ln>
        </p:spPr>
      </p:sp>
      <p:sp>
        <p:nvSpPr>
          <p:cNvPr id="53" name="Shape 51"/>
          <p:cNvSpPr/>
          <p:nvPr/>
        </p:nvSpPr>
        <p:spPr>
          <a:xfrm>
            <a:off x="1325880" y="4754880"/>
            <a:ext cx="91" cy="54864"/>
          </a:xfrm>
          <a:prstGeom prst="line">
            <a:avLst/>
          </a:prstGeom>
          <a:noFill/>
          <a:ln w="12700">
            <a:solidFill>
              <a:srgbClr val="133536"/>
            </a:solidFill>
            <a:prstDash val="solid"/>
          </a:ln>
        </p:spPr>
      </p:sp>
      <p:sp>
        <p:nvSpPr>
          <p:cNvPr id="54" name="Text 52"/>
          <p:cNvSpPr/>
          <p:nvPr/>
        </p:nvSpPr>
        <p:spPr>
          <a:xfrm>
            <a:off x="1051560"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5" name="Shape 53"/>
          <p:cNvSpPr/>
          <p:nvPr/>
        </p:nvSpPr>
        <p:spPr>
          <a:xfrm>
            <a:off x="1787652" y="4754880"/>
            <a:ext cx="91" cy="54864"/>
          </a:xfrm>
          <a:prstGeom prst="line">
            <a:avLst/>
          </a:prstGeom>
          <a:noFill/>
          <a:ln w="12700">
            <a:solidFill>
              <a:srgbClr val="133536"/>
            </a:solidFill>
            <a:prstDash val="solid"/>
          </a:ln>
        </p:spPr>
      </p:sp>
      <p:sp>
        <p:nvSpPr>
          <p:cNvPr id="56" name="Text 54"/>
          <p:cNvSpPr/>
          <p:nvPr/>
        </p:nvSpPr>
        <p:spPr>
          <a:xfrm>
            <a:off x="1513332"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a:t>
            </a:r>
            <a:endParaRPr lang="en-US" sz="1000" dirty="0"/>
          </a:p>
        </p:txBody>
      </p:sp>
      <p:sp>
        <p:nvSpPr>
          <p:cNvPr id="57" name="Shape 55"/>
          <p:cNvSpPr/>
          <p:nvPr/>
        </p:nvSpPr>
        <p:spPr>
          <a:xfrm>
            <a:off x="2249424" y="4754880"/>
            <a:ext cx="91" cy="54864"/>
          </a:xfrm>
          <a:prstGeom prst="line">
            <a:avLst/>
          </a:prstGeom>
          <a:noFill/>
          <a:ln w="12700">
            <a:solidFill>
              <a:srgbClr val="133536"/>
            </a:solidFill>
            <a:prstDash val="solid"/>
          </a:ln>
        </p:spPr>
      </p:sp>
      <p:sp>
        <p:nvSpPr>
          <p:cNvPr id="58" name="Text 56"/>
          <p:cNvSpPr/>
          <p:nvPr/>
        </p:nvSpPr>
        <p:spPr>
          <a:xfrm>
            <a:off x="1975104"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59" name="Shape 57"/>
          <p:cNvSpPr/>
          <p:nvPr/>
        </p:nvSpPr>
        <p:spPr>
          <a:xfrm>
            <a:off x="2711196" y="4754880"/>
            <a:ext cx="91" cy="54864"/>
          </a:xfrm>
          <a:prstGeom prst="line">
            <a:avLst/>
          </a:prstGeom>
          <a:noFill/>
          <a:ln w="12700">
            <a:solidFill>
              <a:srgbClr val="133536"/>
            </a:solidFill>
            <a:prstDash val="solid"/>
          </a:ln>
        </p:spPr>
      </p:sp>
      <p:sp>
        <p:nvSpPr>
          <p:cNvPr id="60" name="Text 58"/>
          <p:cNvSpPr/>
          <p:nvPr/>
        </p:nvSpPr>
        <p:spPr>
          <a:xfrm>
            <a:off x="2436876"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a:t>
            </a:r>
            <a:endParaRPr lang="en-US" sz="1000" dirty="0"/>
          </a:p>
        </p:txBody>
      </p:sp>
      <p:sp>
        <p:nvSpPr>
          <p:cNvPr id="61" name="Shape 59"/>
          <p:cNvSpPr/>
          <p:nvPr/>
        </p:nvSpPr>
        <p:spPr>
          <a:xfrm>
            <a:off x="3172968" y="4754880"/>
            <a:ext cx="91" cy="54864"/>
          </a:xfrm>
          <a:prstGeom prst="line">
            <a:avLst/>
          </a:prstGeom>
          <a:noFill/>
          <a:ln w="12700">
            <a:solidFill>
              <a:srgbClr val="133536"/>
            </a:solidFill>
            <a:prstDash val="solid"/>
          </a:ln>
        </p:spPr>
      </p:sp>
      <p:sp>
        <p:nvSpPr>
          <p:cNvPr id="62" name="Text 60"/>
          <p:cNvSpPr/>
          <p:nvPr/>
        </p:nvSpPr>
        <p:spPr>
          <a:xfrm>
            <a:off x="2898648"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63" name="Shape 61"/>
          <p:cNvSpPr/>
          <p:nvPr/>
        </p:nvSpPr>
        <p:spPr>
          <a:xfrm>
            <a:off x="3634740" y="4754880"/>
            <a:ext cx="91" cy="54864"/>
          </a:xfrm>
          <a:prstGeom prst="line">
            <a:avLst/>
          </a:prstGeom>
          <a:noFill/>
          <a:ln w="12700">
            <a:solidFill>
              <a:srgbClr val="133536"/>
            </a:solidFill>
            <a:prstDash val="solid"/>
          </a:ln>
        </p:spPr>
      </p:sp>
      <p:sp>
        <p:nvSpPr>
          <p:cNvPr id="64" name="Text 62"/>
          <p:cNvSpPr/>
          <p:nvPr/>
        </p:nvSpPr>
        <p:spPr>
          <a:xfrm>
            <a:off x="3360420"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65" name="Shape 63"/>
          <p:cNvSpPr/>
          <p:nvPr/>
        </p:nvSpPr>
        <p:spPr>
          <a:xfrm>
            <a:off x="4096512" y="4754880"/>
            <a:ext cx="91" cy="54864"/>
          </a:xfrm>
          <a:prstGeom prst="line">
            <a:avLst/>
          </a:prstGeom>
          <a:noFill/>
          <a:ln w="12700">
            <a:solidFill>
              <a:srgbClr val="133536"/>
            </a:solidFill>
            <a:prstDash val="solid"/>
          </a:ln>
        </p:spPr>
      </p:sp>
      <p:sp>
        <p:nvSpPr>
          <p:cNvPr id="66" name="Text 64"/>
          <p:cNvSpPr/>
          <p:nvPr/>
        </p:nvSpPr>
        <p:spPr>
          <a:xfrm>
            <a:off x="3822192"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67" name="Shape 65"/>
          <p:cNvSpPr/>
          <p:nvPr/>
        </p:nvSpPr>
        <p:spPr>
          <a:xfrm>
            <a:off x="4558284" y="4754880"/>
            <a:ext cx="91" cy="54864"/>
          </a:xfrm>
          <a:prstGeom prst="line">
            <a:avLst/>
          </a:prstGeom>
          <a:noFill/>
          <a:ln w="12700">
            <a:solidFill>
              <a:srgbClr val="133536"/>
            </a:solidFill>
            <a:prstDash val="solid"/>
          </a:ln>
        </p:spPr>
      </p:sp>
      <p:sp>
        <p:nvSpPr>
          <p:cNvPr id="68" name="Text 66"/>
          <p:cNvSpPr/>
          <p:nvPr/>
        </p:nvSpPr>
        <p:spPr>
          <a:xfrm>
            <a:off x="4283964"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7</a:t>
            </a:r>
            <a:endParaRPr lang="en-US" sz="1000" dirty="0"/>
          </a:p>
        </p:txBody>
      </p:sp>
      <p:sp>
        <p:nvSpPr>
          <p:cNvPr id="69" name="Shape 67"/>
          <p:cNvSpPr/>
          <p:nvPr/>
        </p:nvSpPr>
        <p:spPr>
          <a:xfrm>
            <a:off x="5020056" y="4754880"/>
            <a:ext cx="91" cy="54864"/>
          </a:xfrm>
          <a:prstGeom prst="line">
            <a:avLst/>
          </a:prstGeom>
          <a:noFill/>
          <a:ln w="12700">
            <a:solidFill>
              <a:srgbClr val="133536"/>
            </a:solidFill>
            <a:prstDash val="solid"/>
          </a:ln>
        </p:spPr>
      </p:sp>
      <p:sp>
        <p:nvSpPr>
          <p:cNvPr id="70" name="Text 68"/>
          <p:cNvSpPr/>
          <p:nvPr/>
        </p:nvSpPr>
        <p:spPr>
          <a:xfrm>
            <a:off x="4745736"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71" name="Shape 69"/>
          <p:cNvSpPr/>
          <p:nvPr/>
        </p:nvSpPr>
        <p:spPr>
          <a:xfrm>
            <a:off x="5481828" y="4754880"/>
            <a:ext cx="91" cy="54864"/>
          </a:xfrm>
          <a:prstGeom prst="line">
            <a:avLst/>
          </a:prstGeom>
          <a:noFill/>
          <a:ln w="12700">
            <a:solidFill>
              <a:srgbClr val="133536"/>
            </a:solidFill>
            <a:prstDash val="solid"/>
          </a:ln>
        </p:spPr>
      </p:sp>
      <p:sp>
        <p:nvSpPr>
          <p:cNvPr id="72" name="Text 70"/>
          <p:cNvSpPr/>
          <p:nvPr/>
        </p:nvSpPr>
        <p:spPr>
          <a:xfrm>
            <a:off x="5207508"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9</a:t>
            </a:r>
            <a:endParaRPr lang="en-US" sz="1000" dirty="0"/>
          </a:p>
        </p:txBody>
      </p:sp>
      <p:sp>
        <p:nvSpPr>
          <p:cNvPr id="73" name="Shape 71"/>
          <p:cNvSpPr/>
          <p:nvPr/>
        </p:nvSpPr>
        <p:spPr>
          <a:xfrm>
            <a:off x="5943600" y="4754880"/>
            <a:ext cx="91" cy="54864"/>
          </a:xfrm>
          <a:prstGeom prst="line">
            <a:avLst/>
          </a:prstGeom>
          <a:noFill/>
          <a:ln w="12700">
            <a:solidFill>
              <a:srgbClr val="133536"/>
            </a:solidFill>
            <a:prstDash val="solid"/>
          </a:ln>
        </p:spPr>
      </p:sp>
      <p:sp>
        <p:nvSpPr>
          <p:cNvPr id="74" name="Text 72"/>
          <p:cNvSpPr/>
          <p:nvPr/>
        </p:nvSpPr>
        <p:spPr>
          <a:xfrm>
            <a:off x="5669280" y="48097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75" name="Shape 73"/>
          <p:cNvSpPr/>
          <p:nvPr/>
        </p:nvSpPr>
        <p:spPr>
          <a:xfrm>
            <a:off x="1271016" y="4754880"/>
            <a:ext cx="54864" cy="91"/>
          </a:xfrm>
          <a:prstGeom prst="line">
            <a:avLst/>
          </a:prstGeom>
          <a:noFill/>
          <a:ln w="12700">
            <a:solidFill>
              <a:srgbClr val="133536"/>
            </a:solidFill>
            <a:prstDash val="solid"/>
          </a:ln>
        </p:spPr>
      </p:sp>
      <p:sp>
        <p:nvSpPr>
          <p:cNvPr id="76" name="Text 74"/>
          <p:cNvSpPr/>
          <p:nvPr/>
        </p:nvSpPr>
        <p:spPr>
          <a:xfrm>
            <a:off x="886968" y="46634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77" name="Shape 75"/>
          <p:cNvSpPr/>
          <p:nvPr/>
        </p:nvSpPr>
        <p:spPr>
          <a:xfrm>
            <a:off x="1271016" y="4278086"/>
            <a:ext cx="54864" cy="91"/>
          </a:xfrm>
          <a:prstGeom prst="line">
            <a:avLst/>
          </a:prstGeom>
          <a:noFill/>
          <a:ln w="12700">
            <a:solidFill>
              <a:srgbClr val="133536"/>
            </a:solidFill>
            <a:prstDash val="solid"/>
          </a:ln>
        </p:spPr>
      </p:sp>
      <p:sp>
        <p:nvSpPr>
          <p:cNvPr id="78" name="Text 76"/>
          <p:cNvSpPr/>
          <p:nvPr/>
        </p:nvSpPr>
        <p:spPr>
          <a:xfrm>
            <a:off x="886968" y="418664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70</a:t>
            </a:r>
            <a:endParaRPr lang="en-US" sz="1000" dirty="0"/>
          </a:p>
        </p:txBody>
      </p:sp>
      <p:sp>
        <p:nvSpPr>
          <p:cNvPr id="79" name="Shape 77"/>
          <p:cNvSpPr/>
          <p:nvPr/>
        </p:nvSpPr>
        <p:spPr>
          <a:xfrm>
            <a:off x="1271016" y="3801291"/>
            <a:ext cx="54864" cy="91"/>
          </a:xfrm>
          <a:prstGeom prst="line">
            <a:avLst/>
          </a:prstGeom>
          <a:noFill/>
          <a:ln w="12700">
            <a:solidFill>
              <a:srgbClr val="133536"/>
            </a:solidFill>
            <a:prstDash val="solid"/>
          </a:ln>
        </p:spPr>
      </p:sp>
      <p:sp>
        <p:nvSpPr>
          <p:cNvPr id="80" name="Text 78"/>
          <p:cNvSpPr/>
          <p:nvPr/>
        </p:nvSpPr>
        <p:spPr>
          <a:xfrm>
            <a:off x="886968" y="3709851"/>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p>
        </p:txBody>
      </p:sp>
      <p:sp>
        <p:nvSpPr>
          <p:cNvPr id="81" name="Shape 79"/>
          <p:cNvSpPr/>
          <p:nvPr/>
        </p:nvSpPr>
        <p:spPr>
          <a:xfrm>
            <a:off x="1271016" y="3324497"/>
            <a:ext cx="54864" cy="91"/>
          </a:xfrm>
          <a:prstGeom prst="line">
            <a:avLst/>
          </a:prstGeom>
          <a:noFill/>
          <a:ln w="12700">
            <a:solidFill>
              <a:srgbClr val="133536"/>
            </a:solidFill>
            <a:prstDash val="solid"/>
          </a:ln>
        </p:spPr>
      </p:sp>
      <p:sp>
        <p:nvSpPr>
          <p:cNvPr id="82" name="Text 80"/>
          <p:cNvSpPr/>
          <p:nvPr/>
        </p:nvSpPr>
        <p:spPr>
          <a:xfrm>
            <a:off x="886968" y="3233057"/>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90</a:t>
            </a:r>
            <a:endParaRPr lang="en-US" sz="1000" dirty="0"/>
          </a:p>
        </p:txBody>
      </p:sp>
      <p:sp>
        <p:nvSpPr>
          <p:cNvPr id="83" name="Shape 81"/>
          <p:cNvSpPr/>
          <p:nvPr/>
        </p:nvSpPr>
        <p:spPr>
          <a:xfrm>
            <a:off x="1271016" y="2847703"/>
            <a:ext cx="54864" cy="91"/>
          </a:xfrm>
          <a:prstGeom prst="line">
            <a:avLst/>
          </a:prstGeom>
          <a:noFill/>
          <a:ln w="12700">
            <a:solidFill>
              <a:srgbClr val="133536"/>
            </a:solidFill>
            <a:prstDash val="solid"/>
          </a:ln>
        </p:spPr>
      </p:sp>
      <p:sp>
        <p:nvSpPr>
          <p:cNvPr id="84" name="Text 82"/>
          <p:cNvSpPr/>
          <p:nvPr/>
        </p:nvSpPr>
        <p:spPr>
          <a:xfrm>
            <a:off x="886968" y="2756263"/>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85" name="Shape 83"/>
          <p:cNvSpPr/>
          <p:nvPr/>
        </p:nvSpPr>
        <p:spPr>
          <a:xfrm>
            <a:off x="1271016" y="2370909"/>
            <a:ext cx="54864" cy="91"/>
          </a:xfrm>
          <a:prstGeom prst="line">
            <a:avLst/>
          </a:prstGeom>
          <a:noFill/>
          <a:ln w="12700">
            <a:solidFill>
              <a:srgbClr val="133536"/>
            </a:solidFill>
            <a:prstDash val="solid"/>
          </a:ln>
        </p:spPr>
      </p:sp>
      <p:sp>
        <p:nvSpPr>
          <p:cNvPr id="86" name="Text 84"/>
          <p:cNvSpPr/>
          <p:nvPr/>
        </p:nvSpPr>
        <p:spPr>
          <a:xfrm>
            <a:off x="886968" y="2279469"/>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110</a:t>
            </a:r>
            <a:endParaRPr lang="en-US" sz="1000" dirty="0"/>
          </a:p>
        </p:txBody>
      </p:sp>
      <p:sp>
        <p:nvSpPr>
          <p:cNvPr id="87" name="Shape 85"/>
          <p:cNvSpPr/>
          <p:nvPr/>
        </p:nvSpPr>
        <p:spPr>
          <a:xfrm>
            <a:off x="1271016" y="1894114"/>
            <a:ext cx="54864" cy="91"/>
          </a:xfrm>
          <a:prstGeom prst="line">
            <a:avLst/>
          </a:prstGeom>
          <a:noFill/>
          <a:ln w="12700">
            <a:solidFill>
              <a:srgbClr val="133536"/>
            </a:solidFill>
            <a:prstDash val="solid"/>
          </a:ln>
        </p:spPr>
      </p:sp>
      <p:sp>
        <p:nvSpPr>
          <p:cNvPr id="88" name="Text 86"/>
          <p:cNvSpPr/>
          <p:nvPr/>
        </p:nvSpPr>
        <p:spPr>
          <a:xfrm>
            <a:off x="886968" y="180267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120</a:t>
            </a:r>
            <a:endParaRPr lang="en-US" sz="1000" dirty="0"/>
          </a:p>
        </p:txBody>
      </p:sp>
      <p:sp>
        <p:nvSpPr>
          <p:cNvPr id="89" name="Shape 87"/>
          <p:cNvSpPr/>
          <p:nvPr/>
        </p:nvSpPr>
        <p:spPr>
          <a:xfrm>
            <a:off x="1271016" y="1417320"/>
            <a:ext cx="54864" cy="91"/>
          </a:xfrm>
          <a:prstGeom prst="line">
            <a:avLst/>
          </a:prstGeom>
          <a:noFill/>
          <a:ln w="12700">
            <a:solidFill>
              <a:srgbClr val="133536"/>
            </a:solidFill>
            <a:prstDash val="solid"/>
          </a:ln>
        </p:spPr>
      </p:sp>
      <p:sp>
        <p:nvSpPr>
          <p:cNvPr id="90" name="Text 88"/>
          <p:cNvSpPr/>
          <p:nvPr/>
        </p:nvSpPr>
        <p:spPr>
          <a:xfrm>
            <a:off x="88696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130</a:t>
            </a:r>
            <a:endParaRPr lang="en-US" sz="1000" dirty="0"/>
          </a:p>
        </p:txBody>
      </p:sp>
      <p:sp>
        <p:nvSpPr>
          <p:cNvPr id="91" name="Text 89"/>
          <p:cNvSpPr/>
          <p:nvPr/>
        </p:nvSpPr>
        <p:spPr>
          <a:xfrm>
            <a:off x="1325880" y="5001768"/>
            <a:ext cx="46177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 min</a:t>
            </a:r>
            <a:endParaRPr lang="en-US" sz="1050" dirty="0"/>
          </a:p>
        </p:txBody>
      </p:sp>
      <p:sp>
        <p:nvSpPr>
          <p:cNvPr id="92" name="Text 90"/>
          <p:cNvSpPr/>
          <p:nvPr/>
        </p:nvSpPr>
        <p:spPr>
          <a:xfrm rot="16200000">
            <a:off x="-909828" y="2958084"/>
            <a:ext cx="33375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heart rate / beats per min</a:t>
            </a:r>
            <a:endParaRPr lang="en-US" sz="1050" dirty="0"/>
          </a:p>
        </p:txBody>
      </p:sp>
      <p:sp>
        <p:nvSpPr>
          <p:cNvPr id="93" name="Shape 91"/>
          <p:cNvSpPr/>
          <p:nvPr/>
        </p:nvSpPr>
        <p:spPr>
          <a:xfrm>
            <a:off x="1325880" y="4278086"/>
            <a:ext cx="461772" cy="91"/>
          </a:xfrm>
          <a:prstGeom prst="line">
            <a:avLst/>
          </a:prstGeom>
          <a:noFill/>
          <a:ln w="28575">
            <a:solidFill>
              <a:srgbClr val="C8414C"/>
            </a:solidFill>
            <a:prstDash val="solid"/>
          </a:ln>
        </p:spPr>
      </p:sp>
      <p:sp>
        <p:nvSpPr>
          <p:cNvPr id="94" name="Shape 92"/>
          <p:cNvSpPr/>
          <p:nvPr/>
        </p:nvSpPr>
        <p:spPr>
          <a:xfrm flipV="1">
            <a:off x="1787652" y="4230406"/>
            <a:ext cx="461772" cy="47679"/>
          </a:xfrm>
          <a:prstGeom prst="line">
            <a:avLst/>
          </a:prstGeom>
          <a:noFill/>
          <a:ln w="28575">
            <a:solidFill>
              <a:srgbClr val="C8414C"/>
            </a:solidFill>
            <a:prstDash val="solid"/>
          </a:ln>
        </p:spPr>
      </p:sp>
      <p:sp>
        <p:nvSpPr>
          <p:cNvPr id="95" name="Shape 93"/>
          <p:cNvSpPr/>
          <p:nvPr/>
        </p:nvSpPr>
        <p:spPr>
          <a:xfrm flipV="1">
            <a:off x="2249424" y="2275550"/>
            <a:ext cx="461772" cy="1954857"/>
          </a:xfrm>
          <a:prstGeom prst="line">
            <a:avLst/>
          </a:prstGeom>
          <a:noFill/>
          <a:ln w="28575">
            <a:solidFill>
              <a:srgbClr val="C8414C"/>
            </a:solidFill>
            <a:prstDash val="solid"/>
          </a:ln>
        </p:spPr>
      </p:sp>
      <p:sp>
        <p:nvSpPr>
          <p:cNvPr id="96" name="Shape 94"/>
          <p:cNvSpPr/>
          <p:nvPr/>
        </p:nvSpPr>
        <p:spPr>
          <a:xfrm flipV="1">
            <a:off x="2711196" y="1703397"/>
            <a:ext cx="461772" cy="572153"/>
          </a:xfrm>
          <a:prstGeom prst="line">
            <a:avLst/>
          </a:prstGeom>
          <a:noFill/>
          <a:ln w="28575">
            <a:solidFill>
              <a:srgbClr val="C8414C"/>
            </a:solidFill>
            <a:prstDash val="solid"/>
          </a:ln>
        </p:spPr>
      </p:sp>
      <p:sp>
        <p:nvSpPr>
          <p:cNvPr id="97" name="Shape 95"/>
          <p:cNvSpPr/>
          <p:nvPr/>
        </p:nvSpPr>
        <p:spPr>
          <a:xfrm>
            <a:off x="3172968" y="1703397"/>
            <a:ext cx="461772" cy="286077"/>
          </a:xfrm>
          <a:prstGeom prst="line">
            <a:avLst/>
          </a:prstGeom>
          <a:noFill/>
          <a:ln w="28575">
            <a:solidFill>
              <a:srgbClr val="C8414C"/>
            </a:solidFill>
            <a:prstDash val="solid"/>
          </a:ln>
        </p:spPr>
      </p:sp>
      <p:sp>
        <p:nvSpPr>
          <p:cNvPr id="98" name="Shape 96"/>
          <p:cNvSpPr/>
          <p:nvPr/>
        </p:nvSpPr>
        <p:spPr>
          <a:xfrm>
            <a:off x="3634740" y="1989473"/>
            <a:ext cx="461772" cy="667512"/>
          </a:xfrm>
          <a:prstGeom prst="line">
            <a:avLst/>
          </a:prstGeom>
          <a:noFill/>
          <a:ln w="28575">
            <a:solidFill>
              <a:srgbClr val="C8414C"/>
            </a:solidFill>
            <a:prstDash val="solid"/>
          </a:ln>
        </p:spPr>
      </p:sp>
      <p:sp>
        <p:nvSpPr>
          <p:cNvPr id="99" name="Shape 97"/>
          <p:cNvSpPr/>
          <p:nvPr/>
        </p:nvSpPr>
        <p:spPr>
          <a:xfrm>
            <a:off x="4096512" y="2656985"/>
            <a:ext cx="461772" cy="572153"/>
          </a:xfrm>
          <a:prstGeom prst="line">
            <a:avLst/>
          </a:prstGeom>
          <a:noFill/>
          <a:ln w="28575">
            <a:solidFill>
              <a:srgbClr val="C8414C"/>
            </a:solidFill>
            <a:prstDash val="solid"/>
          </a:ln>
        </p:spPr>
      </p:sp>
      <p:sp>
        <p:nvSpPr>
          <p:cNvPr id="100" name="Shape 98"/>
          <p:cNvSpPr/>
          <p:nvPr/>
        </p:nvSpPr>
        <p:spPr>
          <a:xfrm>
            <a:off x="4558284" y="3229138"/>
            <a:ext cx="461772" cy="429115"/>
          </a:xfrm>
          <a:prstGeom prst="line">
            <a:avLst/>
          </a:prstGeom>
          <a:noFill/>
          <a:ln w="28575">
            <a:solidFill>
              <a:srgbClr val="C8414C"/>
            </a:solidFill>
            <a:prstDash val="solid"/>
          </a:ln>
        </p:spPr>
      </p:sp>
      <p:sp>
        <p:nvSpPr>
          <p:cNvPr id="101" name="Shape 99"/>
          <p:cNvSpPr/>
          <p:nvPr/>
        </p:nvSpPr>
        <p:spPr>
          <a:xfrm>
            <a:off x="5020056" y="3658253"/>
            <a:ext cx="461772" cy="333756"/>
          </a:xfrm>
          <a:prstGeom prst="line">
            <a:avLst/>
          </a:prstGeom>
          <a:noFill/>
          <a:ln w="28575">
            <a:solidFill>
              <a:srgbClr val="C8414C"/>
            </a:solidFill>
            <a:prstDash val="solid"/>
          </a:ln>
        </p:spPr>
      </p:sp>
      <p:sp>
        <p:nvSpPr>
          <p:cNvPr id="102" name="Shape 100"/>
          <p:cNvSpPr/>
          <p:nvPr/>
        </p:nvSpPr>
        <p:spPr>
          <a:xfrm>
            <a:off x="5481828" y="3992009"/>
            <a:ext cx="461772" cy="190718"/>
          </a:xfrm>
          <a:prstGeom prst="line">
            <a:avLst/>
          </a:prstGeom>
          <a:noFill/>
          <a:ln w="28575">
            <a:solidFill>
              <a:srgbClr val="C8414C"/>
            </a:solidFill>
            <a:prstDash val="solid"/>
          </a:ln>
        </p:spPr>
      </p:sp>
      <p:sp>
        <p:nvSpPr>
          <p:cNvPr id="103" name="Shape 101"/>
          <p:cNvSpPr/>
          <p:nvPr/>
        </p:nvSpPr>
        <p:spPr>
          <a:xfrm>
            <a:off x="1280160" y="4232366"/>
            <a:ext cx="91440" cy="91440"/>
          </a:xfrm>
          <a:prstGeom prst="line">
            <a:avLst/>
          </a:prstGeom>
          <a:noFill/>
          <a:ln w="15875">
            <a:solidFill>
              <a:srgbClr val="133536"/>
            </a:solidFill>
            <a:prstDash val="solid"/>
          </a:ln>
        </p:spPr>
      </p:sp>
      <p:sp>
        <p:nvSpPr>
          <p:cNvPr id="104" name="Shape 102"/>
          <p:cNvSpPr/>
          <p:nvPr/>
        </p:nvSpPr>
        <p:spPr>
          <a:xfrm flipV="1">
            <a:off x="1280160" y="4232366"/>
            <a:ext cx="91440" cy="91440"/>
          </a:xfrm>
          <a:prstGeom prst="line">
            <a:avLst/>
          </a:prstGeom>
          <a:noFill/>
          <a:ln w="15875">
            <a:solidFill>
              <a:srgbClr val="133536"/>
            </a:solidFill>
            <a:prstDash val="solid"/>
          </a:ln>
        </p:spPr>
      </p:sp>
      <p:sp>
        <p:nvSpPr>
          <p:cNvPr id="105" name="Shape 103"/>
          <p:cNvSpPr/>
          <p:nvPr/>
        </p:nvSpPr>
        <p:spPr>
          <a:xfrm>
            <a:off x="1741932" y="4232366"/>
            <a:ext cx="91440" cy="91440"/>
          </a:xfrm>
          <a:prstGeom prst="line">
            <a:avLst/>
          </a:prstGeom>
          <a:noFill/>
          <a:ln w="15875">
            <a:solidFill>
              <a:srgbClr val="133536"/>
            </a:solidFill>
            <a:prstDash val="solid"/>
          </a:ln>
        </p:spPr>
      </p:sp>
      <p:sp>
        <p:nvSpPr>
          <p:cNvPr id="106" name="Shape 104"/>
          <p:cNvSpPr/>
          <p:nvPr/>
        </p:nvSpPr>
        <p:spPr>
          <a:xfrm flipV="1">
            <a:off x="1741932" y="4232366"/>
            <a:ext cx="91440" cy="91440"/>
          </a:xfrm>
          <a:prstGeom prst="line">
            <a:avLst/>
          </a:prstGeom>
          <a:noFill/>
          <a:ln w="15875">
            <a:solidFill>
              <a:srgbClr val="133536"/>
            </a:solidFill>
            <a:prstDash val="solid"/>
          </a:ln>
        </p:spPr>
      </p:sp>
      <p:sp>
        <p:nvSpPr>
          <p:cNvPr id="107" name="Shape 105"/>
          <p:cNvSpPr/>
          <p:nvPr/>
        </p:nvSpPr>
        <p:spPr>
          <a:xfrm>
            <a:off x="2203704" y="4184686"/>
            <a:ext cx="91440" cy="91440"/>
          </a:xfrm>
          <a:prstGeom prst="line">
            <a:avLst/>
          </a:prstGeom>
          <a:noFill/>
          <a:ln w="15875">
            <a:solidFill>
              <a:srgbClr val="133536"/>
            </a:solidFill>
            <a:prstDash val="solid"/>
          </a:ln>
        </p:spPr>
      </p:sp>
      <p:sp>
        <p:nvSpPr>
          <p:cNvPr id="108" name="Shape 106"/>
          <p:cNvSpPr/>
          <p:nvPr/>
        </p:nvSpPr>
        <p:spPr>
          <a:xfrm flipV="1">
            <a:off x="2203704" y="4184686"/>
            <a:ext cx="91440" cy="91440"/>
          </a:xfrm>
          <a:prstGeom prst="line">
            <a:avLst/>
          </a:prstGeom>
          <a:noFill/>
          <a:ln w="15875">
            <a:solidFill>
              <a:srgbClr val="133536"/>
            </a:solidFill>
            <a:prstDash val="solid"/>
          </a:ln>
        </p:spPr>
      </p:sp>
      <p:sp>
        <p:nvSpPr>
          <p:cNvPr id="109" name="Shape 107"/>
          <p:cNvSpPr/>
          <p:nvPr/>
        </p:nvSpPr>
        <p:spPr>
          <a:xfrm>
            <a:off x="2665476" y="2229830"/>
            <a:ext cx="91440" cy="91440"/>
          </a:xfrm>
          <a:prstGeom prst="line">
            <a:avLst/>
          </a:prstGeom>
          <a:noFill/>
          <a:ln w="15875">
            <a:solidFill>
              <a:srgbClr val="133536"/>
            </a:solidFill>
            <a:prstDash val="solid"/>
          </a:ln>
        </p:spPr>
      </p:sp>
      <p:sp>
        <p:nvSpPr>
          <p:cNvPr id="110" name="Shape 108"/>
          <p:cNvSpPr/>
          <p:nvPr/>
        </p:nvSpPr>
        <p:spPr>
          <a:xfrm flipV="1">
            <a:off x="2665476" y="2229830"/>
            <a:ext cx="91440" cy="91440"/>
          </a:xfrm>
          <a:prstGeom prst="line">
            <a:avLst/>
          </a:prstGeom>
          <a:noFill/>
          <a:ln w="15875">
            <a:solidFill>
              <a:srgbClr val="133536"/>
            </a:solidFill>
            <a:prstDash val="solid"/>
          </a:ln>
        </p:spPr>
      </p:sp>
      <p:sp>
        <p:nvSpPr>
          <p:cNvPr id="111" name="Shape 109"/>
          <p:cNvSpPr/>
          <p:nvPr/>
        </p:nvSpPr>
        <p:spPr>
          <a:xfrm>
            <a:off x="3127248" y="1657677"/>
            <a:ext cx="91440" cy="91440"/>
          </a:xfrm>
          <a:prstGeom prst="line">
            <a:avLst/>
          </a:prstGeom>
          <a:noFill/>
          <a:ln w="15875">
            <a:solidFill>
              <a:srgbClr val="133536"/>
            </a:solidFill>
            <a:prstDash val="solid"/>
          </a:ln>
        </p:spPr>
      </p:sp>
      <p:sp>
        <p:nvSpPr>
          <p:cNvPr id="112" name="Shape 110"/>
          <p:cNvSpPr/>
          <p:nvPr/>
        </p:nvSpPr>
        <p:spPr>
          <a:xfrm flipV="1">
            <a:off x="3127248" y="1657677"/>
            <a:ext cx="91440" cy="91440"/>
          </a:xfrm>
          <a:prstGeom prst="line">
            <a:avLst/>
          </a:prstGeom>
          <a:noFill/>
          <a:ln w="15875">
            <a:solidFill>
              <a:srgbClr val="133536"/>
            </a:solidFill>
            <a:prstDash val="solid"/>
          </a:ln>
        </p:spPr>
      </p:sp>
      <p:sp>
        <p:nvSpPr>
          <p:cNvPr id="113" name="Shape 111"/>
          <p:cNvSpPr/>
          <p:nvPr/>
        </p:nvSpPr>
        <p:spPr>
          <a:xfrm>
            <a:off x="3589020" y="1943753"/>
            <a:ext cx="91440" cy="91440"/>
          </a:xfrm>
          <a:prstGeom prst="line">
            <a:avLst/>
          </a:prstGeom>
          <a:noFill/>
          <a:ln w="15875">
            <a:solidFill>
              <a:srgbClr val="133536"/>
            </a:solidFill>
            <a:prstDash val="solid"/>
          </a:ln>
        </p:spPr>
      </p:sp>
      <p:sp>
        <p:nvSpPr>
          <p:cNvPr id="114" name="Shape 112"/>
          <p:cNvSpPr/>
          <p:nvPr/>
        </p:nvSpPr>
        <p:spPr>
          <a:xfrm flipV="1">
            <a:off x="3589020" y="1943753"/>
            <a:ext cx="91440" cy="91440"/>
          </a:xfrm>
          <a:prstGeom prst="line">
            <a:avLst/>
          </a:prstGeom>
          <a:noFill/>
          <a:ln w="15875">
            <a:solidFill>
              <a:srgbClr val="133536"/>
            </a:solidFill>
            <a:prstDash val="solid"/>
          </a:ln>
        </p:spPr>
      </p:sp>
      <p:sp>
        <p:nvSpPr>
          <p:cNvPr id="115" name="Shape 113"/>
          <p:cNvSpPr/>
          <p:nvPr/>
        </p:nvSpPr>
        <p:spPr>
          <a:xfrm>
            <a:off x="4050792" y="2611265"/>
            <a:ext cx="91440" cy="91440"/>
          </a:xfrm>
          <a:prstGeom prst="line">
            <a:avLst/>
          </a:prstGeom>
          <a:noFill/>
          <a:ln w="15875">
            <a:solidFill>
              <a:srgbClr val="133536"/>
            </a:solidFill>
            <a:prstDash val="solid"/>
          </a:ln>
        </p:spPr>
      </p:sp>
      <p:sp>
        <p:nvSpPr>
          <p:cNvPr id="116" name="Shape 114"/>
          <p:cNvSpPr/>
          <p:nvPr/>
        </p:nvSpPr>
        <p:spPr>
          <a:xfrm flipV="1">
            <a:off x="4050792" y="2611265"/>
            <a:ext cx="91440" cy="91440"/>
          </a:xfrm>
          <a:prstGeom prst="line">
            <a:avLst/>
          </a:prstGeom>
          <a:noFill/>
          <a:ln w="15875">
            <a:solidFill>
              <a:srgbClr val="133536"/>
            </a:solidFill>
            <a:prstDash val="solid"/>
          </a:ln>
        </p:spPr>
      </p:sp>
      <p:sp>
        <p:nvSpPr>
          <p:cNvPr id="117" name="Shape 115"/>
          <p:cNvSpPr/>
          <p:nvPr/>
        </p:nvSpPr>
        <p:spPr>
          <a:xfrm>
            <a:off x="4512564" y="3183418"/>
            <a:ext cx="91440" cy="91440"/>
          </a:xfrm>
          <a:prstGeom prst="line">
            <a:avLst/>
          </a:prstGeom>
          <a:noFill/>
          <a:ln w="15875">
            <a:solidFill>
              <a:srgbClr val="133536"/>
            </a:solidFill>
            <a:prstDash val="solid"/>
          </a:ln>
        </p:spPr>
      </p:sp>
      <p:sp>
        <p:nvSpPr>
          <p:cNvPr id="118" name="Shape 116"/>
          <p:cNvSpPr/>
          <p:nvPr/>
        </p:nvSpPr>
        <p:spPr>
          <a:xfrm flipV="1">
            <a:off x="4512564" y="3183418"/>
            <a:ext cx="91440" cy="91440"/>
          </a:xfrm>
          <a:prstGeom prst="line">
            <a:avLst/>
          </a:prstGeom>
          <a:noFill/>
          <a:ln w="15875">
            <a:solidFill>
              <a:srgbClr val="133536"/>
            </a:solidFill>
            <a:prstDash val="solid"/>
          </a:ln>
        </p:spPr>
      </p:sp>
      <p:sp>
        <p:nvSpPr>
          <p:cNvPr id="119" name="Shape 117"/>
          <p:cNvSpPr/>
          <p:nvPr/>
        </p:nvSpPr>
        <p:spPr>
          <a:xfrm>
            <a:off x="4974336" y="3612533"/>
            <a:ext cx="91440" cy="91440"/>
          </a:xfrm>
          <a:prstGeom prst="line">
            <a:avLst/>
          </a:prstGeom>
          <a:noFill/>
          <a:ln w="15875">
            <a:solidFill>
              <a:srgbClr val="133536"/>
            </a:solidFill>
            <a:prstDash val="solid"/>
          </a:ln>
        </p:spPr>
      </p:sp>
      <p:sp>
        <p:nvSpPr>
          <p:cNvPr id="120" name="Shape 118"/>
          <p:cNvSpPr/>
          <p:nvPr/>
        </p:nvSpPr>
        <p:spPr>
          <a:xfrm flipV="1">
            <a:off x="4974336" y="3612533"/>
            <a:ext cx="91440" cy="91440"/>
          </a:xfrm>
          <a:prstGeom prst="line">
            <a:avLst/>
          </a:prstGeom>
          <a:noFill/>
          <a:ln w="15875">
            <a:solidFill>
              <a:srgbClr val="133536"/>
            </a:solidFill>
            <a:prstDash val="solid"/>
          </a:ln>
        </p:spPr>
      </p:sp>
      <p:sp>
        <p:nvSpPr>
          <p:cNvPr id="121" name="Shape 119"/>
          <p:cNvSpPr/>
          <p:nvPr/>
        </p:nvSpPr>
        <p:spPr>
          <a:xfrm>
            <a:off x="5436108" y="3946289"/>
            <a:ext cx="91440" cy="91440"/>
          </a:xfrm>
          <a:prstGeom prst="line">
            <a:avLst/>
          </a:prstGeom>
          <a:noFill/>
          <a:ln w="15875">
            <a:solidFill>
              <a:srgbClr val="133536"/>
            </a:solidFill>
            <a:prstDash val="solid"/>
          </a:ln>
        </p:spPr>
      </p:sp>
      <p:sp>
        <p:nvSpPr>
          <p:cNvPr id="122" name="Shape 120"/>
          <p:cNvSpPr/>
          <p:nvPr/>
        </p:nvSpPr>
        <p:spPr>
          <a:xfrm flipV="1">
            <a:off x="5436108" y="3946289"/>
            <a:ext cx="91440" cy="91440"/>
          </a:xfrm>
          <a:prstGeom prst="line">
            <a:avLst/>
          </a:prstGeom>
          <a:noFill/>
          <a:ln w="15875">
            <a:solidFill>
              <a:srgbClr val="133536"/>
            </a:solidFill>
            <a:prstDash val="solid"/>
          </a:ln>
        </p:spPr>
      </p:sp>
      <p:sp>
        <p:nvSpPr>
          <p:cNvPr id="123" name="Shape 121"/>
          <p:cNvSpPr/>
          <p:nvPr/>
        </p:nvSpPr>
        <p:spPr>
          <a:xfrm>
            <a:off x="5897880" y="4137007"/>
            <a:ext cx="91440" cy="91440"/>
          </a:xfrm>
          <a:prstGeom prst="line">
            <a:avLst/>
          </a:prstGeom>
          <a:noFill/>
          <a:ln w="15875">
            <a:solidFill>
              <a:srgbClr val="133536"/>
            </a:solidFill>
            <a:prstDash val="solid"/>
          </a:ln>
        </p:spPr>
      </p:sp>
      <p:sp>
        <p:nvSpPr>
          <p:cNvPr id="124" name="Shape 122"/>
          <p:cNvSpPr/>
          <p:nvPr/>
        </p:nvSpPr>
        <p:spPr>
          <a:xfrm flipV="1">
            <a:off x="5897880" y="4137007"/>
            <a:ext cx="91440" cy="91440"/>
          </a:xfrm>
          <a:prstGeom prst="line">
            <a:avLst/>
          </a:prstGeom>
          <a:noFill/>
          <a:ln w="15875">
            <a:solidFill>
              <a:srgbClr val="133536"/>
            </a:solidFill>
            <a:prstDash val="solid"/>
          </a:ln>
        </p:spPr>
      </p:sp>
      <p:sp>
        <p:nvSpPr>
          <p:cNvPr id="125" name="Shape 123"/>
          <p:cNvSpPr/>
          <p:nvPr/>
        </p:nvSpPr>
        <p:spPr>
          <a:xfrm>
            <a:off x="2249424" y="1417320"/>
            <a:ext cx="91" cy="3337560"/>
          </a:xfrm>
          <a:prstGeom prst="line">
            <a:avLst/>
          </a:prstGeom>
          <a:noFill/>
          <a:ln w="15875">
            <a:solidFill>
              <a:srgbClr val="B8730A"/>
            </a:solidFill>
            <a:prstDash val="dash"/>
          </a:ln>
        </p:spPr>
      </p:sp>
      <p:sp>
        <p:nvSpPr>
          <p:cNvPr id="126" name="Text 124"/>
          <p:cNvSpPr/>
          <p:nvPr/>
        </p:nvSpPr>
        <p:spPr>
          <a:xfrm>
            <a:off x="2295144" y="1463040"/>
            <a:ext cx="1280160" cy="256032"/>
          </a:xfrm>
          <a:prstGeom prst="rect">
            <a:avLst/>
          </a:prstGeom>
          <a:noFill/>
          <a:ln/>
        </p:spPr>
        <p:txBody>
          <a:bodyPr wrap="square" lIns="0" tIns="0" rIns="0" bIns="0" rtlCol="0" anchor="ctr"/>
          <a:lstStyle/>
          <a:p>
            <a:pPr algn="l" indent="0" marL="0">
              <a:buNone/>
            </a:pPr>
            <a:r>
              <a:rPr lang="en-US" sz="1000" b="1" dirty="0">
                <a:solidFill>
                  <a:srgbClr val="B8730A"/>
                </a:solidFill>
                <a:latin typeface="Calibri" pitchFamily="34" charset="0"/>
                <a:ea typeface="Calibri" pitchFamily="34" charset="-122"/>
                <a:cs typeface="Calibri" pitchFamily="34" charset="-120"/>
              </a:rPr>
              <a:t>loud noise</a:t>
            </a:r>
            <a:endParaRPr lang="en-US" sz="1000" dirty="0"/>
          </a:p>
        </p:txBody>
      </p:sp>
      <p:sp>
        <p:nvSpPr>
          <p:cNvPr id="127" name="Shape 125"/>
          <p:cNvSpPr/>
          <p:nvPr/>
        </p:nvSpPr>
        <p:spPr>
          <a:xfrm>
            <a:off x="1325880" y="4278086"/>
            <a:ext cx="4617720" cy="91"/>
          </a:xfrm>
          <a:prstGeom prst="line">
            <a:avLst/>
          </a:prstGeom>
          <a:noFill/>
          <a:ln w="12700">
            <a:solidFill>
              <a:srgbClr val="0D7877"/>
            </a:solidFill>
            <a:prstDash val="dash"/>
          </a:ln>
        </p:spPr>
      </p:sp>
      <p:sp>
        <p:nvSpPr>
          <p:cNvPr id="128" name="Text 126"/>
          <p:cNvSpPr/>
          <p:nvPr/>
        </p:nvSpPr>
        <p:spPr>
          <a:xfrm>
            <a:off x="4696816" y="4003766"/>
            <a:ext cx="1371600" cy="256032"/>
          </a:xfrm>
          <a:prstGeom prst="rect">
            <a:avLst/>
          </a:prstGeom>
          <a:noFill/>
          <a:ln/>
        </p:spPr>
        <p:txBody>
          <a:bodyPr wrap="square" lIns="0" tIns="0" rIns="0" bIns="0" rtlCol="0" anchor="ctr"/>
          <a:lstStyle/>
          <a:p>
            <a:pPr algn="l" indent="0" marL="0">
              <a:buNone/>
            </a:pPr>
            <a:r>
              <a:rPr lang="en-US" sz="1000" dirty="0">
                <a:solidFill>
                  <a:srgbClr val="0D7877"/>
                </a:solidFill>
                <a:latin typeface="Calibri" pitchFamily="34" charset="0"/>
                <a:ea typeface="Calibri" pitchFamily="34" charset="-122"/>
                <a:cs typeface="Calibri" pitchFamily="34" charset="-120"/>
              </a:rPr>
              <a:t>resting 70</a:t>
            </a:r>
            <a:endParaRPr lang="en-US" sz="1000" dirty="0"/>
          </a:p>
        </p:txBody>
      </p:sp>
      <p:sp>
        <p:nvSpPr>
          <p:cNvPr id="129" name="Text 127"/>
          <p:cNvSpPr/>
          <p:nvPr/>
        </p:nvSpPr>
        <p:spPr>
          <a:xfrm>
            <a:off x="3374136" y="1520517"/>
            <a:ext cx="1097280" cy="256032"/>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peak 124</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92240" y="1188720"/>
          <a:ext cx="5285232" cy="914400"/>
        </p:xfrm>
        <a:graphic>
          <a:graphicData uri="http://schemas.openxmlformats.org/drawingml/2006/table">
            <a:tbl>
              <a:tblPr/>
              <a:tblGrid>
                <a:gridCol w="1069848"/>
                <a:gridCol w="383217"/>
                <a:gridCol w="383217"/>
                <a:gridCol w="383217"/>
                <a:gridCol w="383217"/>
                <a:gridCol w="383217"/>
                <a:gridCol w="383217"/>
                <a:gridCol w="383217"/>
                <a:gridCol w="383217"/>
                <a:gridCol w="383217"/>
                <a:gridCol w="383217"/>
                <a:gridCol w="383217"/>
              </a:tblGrid>
              <a:tr h="27432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Time / min</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274320">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Rate / bpm</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70</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70</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71</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112</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124</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118</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104</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92</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83</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76</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72</a:t>
                      </a:r>
                      <a:endParaRPr lang="en-US" sz="100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tcPr>
                </a:tc>
              </a:tr>
            </a:tbl>
          </a:graphicData>
        </a:graphic>
      </p:graphicFrame>
      <p:sp>
        <p:nvSpPr>
          <p:cNvPr id="131" name="Shape 128"/>
          <p:cNvSpPr/>
          <p:nvPr/>
        </p:nvSpPr>
        <p:spPr>
          <a:xfrm>
            <a:off x="6492240" y="1874520"/>
            <a:ext cx="5285232" cy="1874520"/>
          </a:xfrm>
          <a:prstGeom prst="roundRect">
            <a:avLst>
              <a:gd name="adj" fmla="val 2927"/>
            </a:avLst>
          </a:prstGeom>
          <a:solidFill>
            <a:srgbClr val="FFF4E0"/>
          </a:solidFill>
          <a:ln w="9525">
            <a:solidFill>
              <a:srgbClr val="F1D9A8"/>
            </a:solidFill>
            <a:prstDash val="solid"/>
          </a:ln>
        </p:spPr>
      </p:sp>
      <p:sp>
        <p:nvSpPr>
          <p:cNvPr id="132" name="Text 129"/>
          <p:cNvSpPr/>
          <p:nvPr/>
        </p:nvSpPr>
        <p:spPr>
          <a:xfrm>
            <a:off x="6656832" y="1947672"/>
            <a:ext cx="495604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percentage increase</a:t>
            </a:r>
            <a:endParaRPr lang="en-US" sz="1300" dirty="0"/>
          </a:p>
        </p:txBody>
      </p:sp>
      <p:sp>
        <p:nvSpPr>
          <p:cNvPr id="133" name="Text 130"/>
          <p:cNvSpPr/>
          <p:nvPr/>
        </p:nvSpPr>
        <p:spPr>
          <a:xfrm>
            <a:off x="6656832" y="2258568"/>
            <a:ext cx="4956048" cy="14173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Calculate the percentage increase from resting heart rate to the peak.</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Equation   </a:t>
            </a:r>
            <a:r>
              <a:rPr lang="en-US" sz="1050" dirty="0">
                <a:solidFill>
                  <a:srgbClr val="262B3A"/>
                </a:solidFill>
                <a:latin typeface="Calibri" pitchFamily="34" charset="0"/>
                <a:ea typeface="Calibri" pitchFamily="34" charset="-122"/>
                <a:cs typeface="Calibri" pitchFamily="34" charset="-120"/>
              </a:rPr>
              <a:t>% increase = (new − original) ÷ original × 100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Change   </a:t>
            </a:r>
            <a:r>
              <a:rPr lang="en-US" sz="1050" dirty="0">
                <a:solidFill>
                  <a:srgbClr val="262B3A"/>
                </a:solidFill>
                <a:latin typeface="Calibri" pitchFamily="34" charset="0"/>
                <a:ea typeface="Calibri" pitchFamily="34" charset="-122"/>
                <a:cs typeface="Calibri" pitchFamily="34" charset="-120"/>
              </a:rPr>
              <a:t>124 − 70 = 54 beats per min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Substitute   </a:t>
            </a:r>
            <a:r>
              <a:rPr lang="en-US" sz="1050" dirty="0">
                <a:solidFill>
                  <a:srgbClr val="262B3A"/>
                </a:solidFill>
                <a:latin typeface="Calibri" pitchFamily="34" charset="0"/>
                <a:ea typeface="Calibri" pitchFamily="34" charset="-122"/>
                <a:cs typeface="Calibri" pitchFamily="34" charset="-120"/>
              </a:rPr>
              <a:t>54 ÷ 70 × 100 = 77.14</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77.1% (3 s.f.)</a:t>
            </a:r>
            <a:endParaRPr lang="en-US" sz="1050" dirty="0"/>
          </a:p>
        </p:txBody>
      </p:sp>
      <p:sp>
        <p:nvSpPr>
          <p:cNvPr id="134" name="Shape 131"/>
          <p:cNvSpPr/>
          <p:nvPr/>
        </p:nvSpPr>
        <p:spPr>
          <a:xfrm>
            <a:off x="6492240" y="3858768"/>
            <a:ext cx="5285232" cy="1856232"/>
          </a:xfrm>
          <a:prstGeom prst="roundRect">
            <a:avLst>
              <a:gd name="adj" fmla="val 2956"/>
            </a:avLst>
          </a:prstGeom>
          <a:solidFill>
            <a:srgbClr val="F4FAF9"/>
          </a:solidFill>
          <a:ln w="9525">
            <a:solidFill>
              <a:srgbClr val="CFE0DE"/>
            </a:solidFill>
            <a:prstDash val="solid"/>
          </a:ln>
        </p:spPr>
      </p:sp>
      <p:sp>
        <p:nvSpPr>
          <p:cNvPr id="135" name="Text 132"/>
          <p:cNvSpPr/>
          <p:nvPr/>
        </p:nvSpPr>
        <p:spPr>
          <a:xfrm>
            <a:off x="6656832" y="3950208"/>
            <a:ext cx="495604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Describe and explain</a:t>
            </a:r>
            <a:endParaRPr lang="en-US" sz="1300" dirty="0"/>
          </a:p>
        </p:txBody>
      </p:sp>
      <p:sp>
        <p:nvSpPr>
          <p:cNvPr id="136" name="Text 133"/>
          <p:cNvSpPr/>
          <p:nvPr/>
        </p:nvSpPr>
        <p:spPr>
          <a:xfrm>
            <a:off x="6656832" y="4279392"/>
            <a:ext cx="4956048" cy="1362456"/>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Heart rate rises </a:t>
            </a:r>
            <a:r>
              <a:rPr lang="en-US" sz="1050" b="1" dirty="0">
                <a:solidFill>
                  <a:srgbClr val="262B3A"/>
                </a:solidFill>
                <a:latin typeface="Calibri" pitchFamily="34" charset="0"/>
                <a:ea typeface="Calibri" pitchFamily="34" charset="-122"/>
                <a:cs typeface="Calibri" pitchFamily="34" charset="-120"/>
              </a:rPr>
              <a:t>within 1 min</a:t>
            </a:r>
            <a:r>
              <a:rPr lang="en-US" sz="1050" dirty="0">
                <a:solidFill>
                  <a:srgbClr val="262B3A"/>
                </a:solidFill>
                <a:latin typeface="Calibri" pitchFamily="34" charset="0"/>
                <a:ea typeface="Calibri" pitchFamily="34" charset="-122"/>
                <a:cs typeface="Calibri" pitchFamily="34" charset="-120"/>
              </a:rPr>
              <a:t> of the noise: adrenaline is carried quickly in the blood.</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It peaks at </a:t>
            </a:r>
            <a:r>
              <a:rPr lang="en-US" sz="1050" b="1" dirty="0">
                <a:solidFill>
                  <a:srgbClr val="262B3A"/>
                </a:solidFill>
                <a:latin typeface="Calibri" pitchFamily="34" charset="0"/>
                <a:ea typeface="Calibri" pitchFamily="34" charset="-122"/>
                <a:cs typeface="Calibri" pitchFamily="34" charset="-120"/>
              </a:rPr>
              <a:t>4 min</a:t>
            </a:r>
            <a:r>
              <a:rPr lang="en-US" sz="1050" dirty="0">
                <a:solidFill>
                  <a:srgbClr val="262B3A"/>
                </a:solidFill>
                <a:latin typeface="Calibri" pitchFamily="34" charset="0"/>
                <a:ea typeface="Calibri" pitchFamily="34" charset="-122"/>
                <a:cs typeface="Calibri" pitchFamily="34" charset="-120"/>
              </a:rPr>
              <a:t>, then falls back to near resting by about </a:t>
            </a:r>
            <a:r>
              <a:rPr lang="en-US" sz="1050" b="1" dirty="0">
                <a:solidFill>
                  <a:srgbClr val="262B3A"/>
                </a:solidFill>
                <a:latin typeface="Calibri" pitchFamily="34" charset="0"/>
                <a:ea typeface="Calibri" pitchFamily="34" charset="-122"/>
                <a:cs typeface="Calibri" pitchFamily="34" charset="-120"/>
              </a:rPr>
              <a:t>10 min</a:t>
            </a:r>
            <a:r>
              <a:rPr lang="en-US" sz="1050" dirty="0">
                <a:solidFill>
                  <a:srgbClr val="262B3A"/>
                </a:solidFill>
                <a:latin typeface="Calibri" pitchFamily="34" charset="0"/>
                <a:ea typeface="Calibri" pitchFamily="34" charset="-122"/>
                <a:cs typeface="Calibri" pitchFamily="34" charset="-120"/>
              </a:rPr>
              <a:t>: adrenaline is broken down and no more is released.</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Fair comparisons: same person, sitting still, same noise.</a:t>
            </a:r>
            <a:endParaRPr lang="en-US" sz="1050" dirty="0"/>
          </a:p>
        </p:txBody>
      </p:sp>
      <p:sp>
        <p:nvSpPr>
          <p:cNvPr id="137" name="Shape 134"/>
          <p:cNvSpPr/>
          <p:nvPr/>
        </p:nvSpPr>
        <p:spPr>
          <a:xfrm>
            <a:off x="411480" y="5833872"/>
            <a:ext cx="11368735" cy="530352"/>
          </a:xfrm>
          <a:prstGeom prst="rect">
            <a:avLst/>
          </a:prstGeom>
          <a:solidFill>
            <a:srgbClr val="FFF4E0"/>
          </a:solidFill>
          <a:ln w="6350">
            <a:solidFill>
              <a:srgbClr val="F1D9A8"/>
            </a:solidFill>
            <a:prstDash val="solid"/>
          </a:ln>
        </p:spPr>
      </p:sp>
      <p:sp>
        <p:nvSpPr>
          <p:cNvPr id="138" name="Shape 135"/>
          <p:cNvSpPr/>
          <p:nvPr/>
        </p:nvSpPr>
        <p:spPr>
          <a:xfrm>
            <a:off x="411480" y="5833872"/>
            <a:ext cx="82296" cy="530352"/>
          </a:xfrm>
          <a:prstGeom prst="rect">
            <a:avLst/>
          </a:prstGeom>
          <a:solidFill>
            <a:srgbClr val="E39A2F"/>
          </a:solidFill>
          <a:ln w="12700">
            <a:solidFill>
              <a:srgbClr val="E39A2F"/>
            </a:solidFill>
            <a:prstDash val="solid"/>
          </a:ln>
        </p:spPr>
      </p:sp>
      <p:sp>
        <p:nvSpPr>
          <p:cNvPr id="139" name="Text 13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different student's heart rate rose from </a:t>
            </a:r>
            <a:r>
              <a:rPr lang="en-US" sz="1150" b="1" dirty="0">
                <a:solidFill>
                  <a:srgbClr val="262B3A"/>
                </a:solidFill>
                <a:latin typeface="Calibri" pitchFamily="34" charset="0"/>
                <a:ea typeface="Calibri" pitchFamily="34" charset="-122"/>
                <a:cs typeface="Calibri" pitchFamily="34" charset="-120"/>
              </a:rPr>
              <a:t>72</a:t>
            </a:r>
            <a:r>
              <a:rPr lang="en-US" sz="1150" dirty="0">
                <a:solidFill>
                  <a:srgbClr val="262B3A"/>
                </a:solidFill>
                <a:latin typeface="Calibri" pitchFamily="34" charset="0"/>
                <a:ea typeface="Calibri" pitchFamily="34" charset="-122"/>
                <a:cs typeface="Calibri" pitchFamily="34" charset="-120"/>
              </a:rPr>
              <a:t> to </a:t>
            </a:r>
            <a:r>
              <a:rPr lang="en-US" sz="1150" b="1" dirty="0">
                <a:solidFill>
                  <a:srgbClr val="262B3A"/>
                </a:solidFill>
                <a:latin typeface="Calibri" pitchFamily="34" charset="0"/>
                <a:ea typeface="Calibri" pitchFamily="34" charset="-122"/>
                <a:cs typeface="Calibri" pitchFamily="34" charset="-120"/>
              </a:rPr>
              <a:t>90</a:t>
            </a:r>
            <a:r>
              <a:rPr lang="en-US" sz="1150" dirty="0">
                <a:solidFill>
                  <a:srgbClr val="262B3A"/>
                </a:solidFill>
                <a:latin typeface="Calibri" pitchFamily="34" charset="0"/>
                <a:ea typeface="Calibri" pitchFamily="34" charset="-122"/>
                <a:cs typeface="Calibri" pitchFamily="34" charset="-120"/>
              </a:rPr>
              <a:t> beats per min. Calculate the percentage increase.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B5.3.2 • adrenaline</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B5.3 How do hormones control responses in the human body?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13</a:t>
            </a:r>
            <a:endParaRPr lang="en-US" sz="1000" dirty="0"/>
          </a:p>
        </p:txBody>
      </p:sp>
      <p:sp>
        <p:nvSpPr>
          <p:cNvPr id="10" name="Shape 8"/>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11" name="Shape 9"/>
          <p:cNvSpPr/>
          <p:nvPr/>
        </p:nvSpPr>
        <p:spPr>
          <a:xfrm>
            <a:off x="411480" y="1207008"/>
            <a:ext cx="2103120" cy="292608"/>
          </a:xfrm>
          <a:prstGeom prst="rect">
            <a:avLst/>
          </a:prstGeom>
          <a:solidFill>
            <a:srgbClr val="F5A742"/>
          </a:solidFill>
          <a:ln w="12700">
            <a:solidFill>
              <a:srgbClr val="F5A742"/>
            </a:solidFill>
            <a:prstDash val="solid"/>
          </a:ln>
        </p:spPr>
      </p:sp>
      <p:sp>
        <p:nvSpPr>
          <p:cNvPr id="12" name="Text 10"/>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3" name="Text 11"/>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gland that releases </a:t>
            </a:r>
            <a:r>
              <a:rPr lang="en-US" sz="1250" b="1" dirty="0">
                <a:solidFill>
                  <a:srgbClr val="262B3A"/>
                </a:solidFill>
                <a:latin typeface="Calibri" pitchFamily="34" charset="0"/>
                <a:ea typeface="Calibri" pitchFamily="34" charset="-122"/>
                <a:cs typeface="Calibri" pitchFamily="34" charset="-120"/>
              </a:rPr>
              <a:t>adrenaline</a:t>
            </a:r>
            <a:r>
              <a:rPr lang="en-US" sz="1250" dirty="0">
                <a:solidFill>
                  <a:srgbClr val="262B3A"/>
                </a:solidFill>
                <a:latin typeface="Calibri" pitchFamily="34" charset="0"/>
                <a:ea typeface="Calibri" pitchFamily="34" charset="-122"/>
                <a:cs typeface="Calibri" pitchFamily="34" charset="-120"/>
              </a:rPr>
              <a:t> and state where it is found.</a:t>
            </a:r>
            <a:endParaRPr lang="en-US" sz="1250" dirty="0"/>
          </a:p>
        </p:txBody>
      </p:sp>
      <p:sp>
        <p:nvSpPr>
          <p:cNvPr id="14" name="Text 12"/>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6" name="Shape 14"/>
          <p:cNvSpPr/>
          <p:nvPr/>
        </p:nvSpPr>
        <p:spPr>
          <a:xfrm>
            <a:off x="411480" y="2512314"/>
            <a:ext cx="2103120" cy="292608"/>
          </a:xfrm>
          <a:prstGeom prst="rect">
            <a:avLst/>
          </a:prstGeom>
          <a:solidFill>
            <a:srgbClr val="F5A742"/>
          </a:solidFill>
          <a:ln w="12700">
            <a:solidFill>
              <a:srgbClr val="F5A742"/>
            </a:solidFill>
            <a:prstDash val="solid"/>
          </a:ln>
        </p:spPr>
      </p:sp>
      <p:sp>
        <p:nvSpPr>
          <p:cNvPr id="17" name="Text 15"/>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8" name="Text 16"/>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a:t>
            </a:r>
            <a:r>
              <a:rPr lang="en-US" sz="1250" b="1" dirty="0">
                <a:solidFill>
                  <a:srgbClr val="262B3A"/>
                </a:solidFill>
                <a:latin typeface="Calibri" pitchFamily="34" charset="0"/>
                <a:ea typeface="Calibri" pitchFamily="34" charset="-122"/>
                <a:cs typeface="Calibri" pitchFamily="34" charset="-120"/>
              </a:rPr>
              <a:t>three</a:t>
            </a:r>
            <a:r>
              <a:rPr lang="en-US" sz="1250" dirty="0">
                <a:solidFill>
                  <a:srgbClr val="262B3A"/>
                </a:solidFill>
                <a:latin typeface="Calibri" pitchFamily="34" charset="0"/>
                <a:ea typeface="Calibri" pitchFamily="34" charset="-122"/>
                <a:cs typeface="Calibri" pitchFamily="34" charset="-120"/>
              </a:rPr>
              <a:t> effects of adrenaline on the body.</a:t>
            </a:r>
            <a:endParaRPr lang="en-US" sz="1250" dirty="0"/>
          </a:p>
        </p:txBody>
      </p:sp>
      <p:sp>
        <p:nvSpPr>
          <p:cNvPr id="19" name="Text 17"/>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0" name="Shape 18"/>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21" name="Shape 19"/>
          <p:cNvSpPr/>
          <p:nvPr/>
        </p:nvSpPr>
        <p:spPr>
          <a:xfrm>
            <a:off x="411480" y="3817620"/>
            <a:ext cx="2103120" cy="292608"/>
          </a:xfrm>
          <a:prstGeom prst="rect">
            <a:avLst/>
          </a:prstGeom>
          <a:solidFill>
            <a:srgbClr val="F5A742"/>
          </a:solidFill>
          <a:ln w="12700">
            <a:solidFill>
              <a:srgbClr val="F5A742"/>
            </a:solidFill>
            <a:prstDash val="solid"/>
          </a:ln>
        </p:spPr>
      </p:sp>
      <p:sp>
        <p:nvSpPr>
          <p:cNvPr id="22" name="Text 20"/>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3" name="Text 21"/>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student's heart rate rose from </a:t>
            </a:r>
            <a:r>
              <a:rPr lang="en-US" sz="1250" b="1" dirty="0">
                <a:solidFill>
                  <a:srgbClr val="262B3A"/>
                </a:solidFill>
                <a:latin typeface="Calibri" pitchFamily="34" charset="0"/>
                <a:ea typeface="Calibri" pitchFamily="34" charset="-122"/>
                <a:cs typeface="Calibri" pitchFamily="34" charset="-120"/>
              </a:rPr>
              <a:t>60</a:t>
            </a:r>
            <a:r>
              <a:rPr lang="en-US" sz="1250" dirty="0">
                <a:solidFill>
                  <a:srgbClr val="262B3A"/>
                </a:solidFill>
                <a:latin typeface="Calibri" pitchFamily="34" charset="0"/>
                <a:ea typeface="Calibri" pitchFamily="34" charset="-122"/>
                <a:cs typeface="Calibri" pitchFamily="34" charset="-120"/>
              </a:rPr>
              <a:t> to </a:t>
            </a:r>
            <a:r>
              <a:rPr lang="en-US" sz="1250" b="1" dirty="0">
                <a:solidFill>
                  <a:srgbClr val="262B3A"/>
                </a:solidFill>
                <a:latin typeface="Calibri" pitchFamily="34" charset="0"/>
                <a:ea typeface="Calibri" pitchFamily="34" charset="-122"/>
                <a:cs typeface="Calibri" pitchFamily="34" charset="-120"/>
              </a:rPr>
              <a:t>105</a:t>
            </a:r>
            <a:r>
              <a:rPr lang="en-US" sz="1250" dirty="0">
                <a:solidFill>
                  <a:srgbClr val="262B3A"/>
                </a:solidFill>
                <a:latin typeface="Calibri" pitchFamily="34" charset="0"/>
                <a:ea typeface="Calibri" pitchFamily="34" charset="-122"/>
                <a:cs typeface="Calibri" pitchFamily="34" charset="-120"/>
              </a:rPr>
              <a:t> beats per min. Calculate the percentage increase.</a:t>
            </a:r>
            <a:endParaRPr lang="en-US" sz="1250" dirty="0"/>
          </a:p>
        </p:txBody>
      </p:sp>
      <p:sp>
        <p:nvSpPr>
          <p:cNvPr id="24" name="Text 22"/>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5" name="Shape 23"/>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6" name="Shape 24"/>
          <p:cNvSpPr/>
          <p:nvPr/>
        </p:nvSpPr>
        <p:spPr>
          <a:xfrm>
            <a:off x="411480" y="5122926"/>
            <a:ext cx="2103120" cy="292608"/>
          </a:xfrm>
          <a:prstGeom prst="rect">
            <a:avLst/>
          </a:prstGeom>
          <a:solidFill>
            <a:srgbClr val="F5A742"/>
          </a:solidFill>
          <a:ln w="12700">
            <a:solidFill>
              <a:srgbClr val="F5A742"/>
            </a:solidFill>
            <a:prstDash val="solid"/>
          </a:ln>
        </p:spPr>
      </p:sp>
      <p:sp>
        <p:nvSpPr>
          <p:cNvPr id="27" name="Text 25"/>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8" name="Text 26"/>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blood is diverted away from the </a:t>
            </a:r>
            <a:r>
              <a:rPr lang="en-US" sz="1250" b="1" dirty="0">
                <a:solidFill>
                  <a:srgbClr val="262B3A"/>
                </a:solidFill>
                <a:latin typeface="Calibri" pitchFamily="34" charset="0"/>
                <a:ea typeface="Calibri" pitchFamily="34" charset="-122"/>
                <a:cs typeface="Calibri" pitchFamily="34" charset="-120"/>
              </a:rPr>
              <a:t>gut</a:t>
            </a:r>
            <a:r>
              <a:rPr lang="en-US" sz="1250" dirty="0">
                <a:solidFill>
                  <a:srgbClr val="262B3A"/>
                </a:solidFill>
                <a:latin typeface="Calibri" pitchFamily="34" charset="0"/>
                <a:ea typeface="Calibri" pitchFamily="34" charset="-122"/>
                <a:cs typeface="Calibri" pitchFamily="34" charset="-120"/>
              </a:rPr>
              <a:t> during "fight or flight".</a:t>
            </a:r>
            <a:endParaRPr lang="en-US" sz="1250" dirty="0"/>
          </a:p>
        </p:txBody>
      </p:sp>
      <p:sp>
        <p:nvSpPr>
          <p:cNvPr id="29" name="Text 27"/>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Negative feedback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B5.3.2 • a change triggers a response that reverses the change</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B5.3 How do hormones control responses in the human body?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B5.3.2  |  14</a:t>
            </a:r>
            <a:endParaRPr lang="en-US" sz="1000" dirty="0"/>
          </a:p>
        </p:txBody>
      </p:sp>
      <p:sp>
        <p:nvSpPr>
          <p:cNvPr id="10" name="Shape 8"/>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general pattern: the level is kept close to a set point</a:t>
            </a:r>
            <a:endParaRPr lang="en-US" sz="1000" dirty="0"/>
          </a:p>
        </p:txBody>
      </p:sp>
      <p:sp>
        <p:nvSpPr>
          <p:cNvPr id="12" name="Shape 10"/>
          <p:cNvSpPr/>
          <p:nvPr/>
        </p:nvSpPr>
        <p:spPr>
          <a:xfrm>
            <a:off x="2240280" y="3017520"/>
            <a:ext cx="1920240" cy="594360"/>
          </a:xfrm>
          <a:prstGeom prst="roundRect">
            <a:avLst>
              <a:gd name="adj" fmla="val 9231"/>
            </a:avLst>
          </a:prstGeom>
          <a:solidFill>
            <a:srgbClr val="E6F4EA"/>
          </a:solidFill>
          <a:ln w="15875">
            <a:solidFill>
              <a:srgbClr val="2E8B57"/>
            </a:solidFill>
            <a:prstDash val="solid"/>
          </a:ln>
        </p:spPr>
      </p:sp>
      <p:sp>
        <p:nvSpPr>
          <p:cNvPr id="13" name="Text 11"/>
          <p:cNvSpPr/>
          <p:nvPr/>
        </p:nvSpPr>
        <p:spPr>
          <a:xfrm>
            <a:off x="2295144" y="3017520"/>
            <a:ext cx="1810512" cy="594360"/>
          </a:xfrm>
          <a:prstGeom prst="rect">
            <a:avLst/>
          </a:prstGeom>
          <a:noFill/>
          <a:ln/>
        </p:spPr>
        <p:txBody>
          <a:bodyPr wrap="square" lIns="0" tIns="0" rIns="0" bIns="0" rtlCol="0" anchor="ctr"/>
          <a:lstStyle/>
          <a:p>
            <a:pPr algn="ctr" indent="0" marL="0">
              <a:buNone/>
            </a:pPr>
            <a:r>
              <a:rPr lang="en-US" sz="1100" b="1" dirty="0">
                <a:solidFill>
                  <a:srgbClr val="1E6B40"/>
                </a:solidFill>
                <a:latin typeface="Calibri" pitchFamily="34" charset="0"/>
                <a:ea typeface="Calibri" pitchFamily="34" charset="-122"/>
                <a:cs typeface="Calibri" pitchFamily="34" charset="-120"/>
              </a:rPr>
              <a:t>Normal level (set point)</a:t>
            </a:r>
            <a:endParaRPr lang="en-US" sz="1100" dirty="0"/>
          </a:p>
        </p:txBody>
      </p:sp>
      <p:sp>
        <p:nvSpPr>
          <p:cNvPr id="14" name="Shape 12"/>
          <p:cNvSpPr/>
          <p:nvPr/>
        </p:nvSpPr>
        <p:spPr>
          <a:xfrm>
            <a:off x="685800" y="1417320"/>
            <a:ext cx="1920240" cy="685800"/>
          </a:xfrm>
          <a:prstGeom prst="roundRect">
            <a:avLst>
              <a:gd name="adj" fmla="val 8000"/>
            </a:avLst>
          </a:prstGeom>
          <a:solidFill>
            <a:srgbClr val="FBECEC"/>
          </a:solidFill>
          <a:ln w="15875">
            <a:solidFill>
              <a:srgbClr val="C8414C"/>
            </a:solidFill>
            <a:prstDash val="solid"/>
          </a:ln>
        </p:spPr>
      </p:sp>
      <p:sp>
        <p:nvSpPr>
          <p:cNvPr id="15" name="Text 13"/>
          <p:cNvSpPr/>
          <p:nvPr/>
        </p:nvSpPr>
        <p:spPr>
          <a:xfrm>
            <a:off x="740664" y="1417320"/>
            <a:ext cx="1810512" cy="6858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Level rises</a:t>
            </a:r>
            <a:r>
              <a:rPr lang="en-US" sz="1050" dirty="0">
                <a:solidFill>
                  <a:srgbClr val="262B3A"/>
                </a:solidFill>
                <a:latin typeface="Calibri" pitchFamily="34" charset="0"/>
                <a:ea typeface="Calibri" pitchFamily="34" charset="-122"/>
                <a:cs typeface="Calibri" pitchFamily="34" charset="-120"/>
              </a:rPr>
              <a:t> above normal</a:t>
            </a:r>
            <a:endParaRPr lang="en-US" sz="1050" dirty="0"/>
          </a:p>
        </p:txBody>
      </p:sp>
      <p:sp>
        <p:nvSpPr>
          <p:cNvPr id="16" name="Shape 14"/>
          <p:cNvSpPr/>
          <p:nvPr/>
        </p:nvSpPr>
        <p:spPr>
          <a:xfrm>
            <a:off x="3794760" y="1417320"/>
            <a:ext cx="1920240" cy="685800"/>
          </a:xfrm>
          <a:prstGeom prst="roundRect">
            <a:avLst>
              <a:gd name="adj" fmla="val 8000"/>
            </a:avLst>
          </a:prstGeom>
          <a:solidFill>
            <a:srgbClr val="FFFFFF"/>
          </a:solidFill>
          <a:ln w="15875">
            <a:solidFill>
              <a:srgbClr val="0D7877"/>
            </a:solidFill>
            <a:prstDash val="solid"/>
          </a:ln>
        </p:spPr>
      </p:sp>
      <p:sp>
        <p:nvSpPr>
          <p:cNvPr id="17" name="Text 15"/>
          <p:cNvSpPr/>
          <p:nvPr/>
        </p:nvSpPr>
        <p:spPr>
          <a:xfrm>
            <a:off x="3849624" y="1417320"/>
            <a:ext cx="1810512" cy="68580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Detected → response </a:t>
            </a:r>
            <a:r>
              <a:rPr lang="en-US" sz="1050" b="1" dirty="0">
                <a:solidFill>
                  <a:srgbClr val="262B3A"/>
                </a:solidFill>
                <a:latin typeface="Calibri" pitchFamily="34" charset="0"/>
                <a:ea typeface="Calibri" pitchFamily="34" charset="-122"/>
                <a:cs typeface="Calibri" pitchFamily="34" charset="-120"/>
              </a:rPr>
              <a:t>lowers</a:t>
            </a:r>
            <a:r>
              <a:rPr lang="en-US" sz="1050" dirty="0">
                <a:solidFill>
                  <a:srgbClr val="262B3A"/>
                </a:solidFill>
                <a:latin typeface="Calibri" pitchFamily="34" charset="0"/>
                <a:ea typeface="Calibri" pitchFamily="34" charset="-122"/>
                <a:cs typeface="Calibri" pitchFamily="34" charset="-120"/>
              </a:rPr>
              <a:t> the level</a:t>
            </a:r>
            <a:endParaRPr lang="en-US" sz="1050" dirty="0"/>
          </a:p>
        </p:txBody>
      </p:sp>
      <p:sp>
        <p:nvSpPr>
          <p:cNvPr id="18" name="Shape 16"/>
          <p:cNvSpPr/>
          <p:nvPr/>
        </p:nvSpPr>
        <p:spPr>
          <a:xfrm>
            <a:off x="685800" y="4526280"/>
            <a:ext cx="1920240" cy="685800"/>
          </a:xfrm>
          <a:prstGeom prst="roundRect">
            <a:avLst>
              <a:gd name="adj" fmla="val 8000"/>
            </a:avLst>
          </a:prstGeom>
          <a:solidFill>
            <a:srgbClr val="E8F1FB"/>
          </a:solidFill>
          <a:ln w="15875">
            <a:solidFill>
              <a:srgbClr val="3B7DD8"/>
            </a:solidFill>
            <a:prstDash val="solid"/>
          </a:ln>
        </p:spPr>
      </p:sp>
      <p:sp>
        <p:nvSpPr>
          <p:cNvPr id="19" name="Text 17"/>
          <p:cNvSpPr/>
          <p:nvPr/>
        </p:nvSpPr>
        <p:spPr>
          <a:xfrm>
            <a:off x="740664" y="4526280"/>
            <a:ext cx="1810512" cy="6858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Level falls</a:t>
            </a:r>
            <a:r>
              <a:rPr lang="en-US" sz="1050" dirty="0">
                <a:solidFill>
                  <a:srgbClr val="262B3A"/>
                </a:solidFill>
                <a:latin typeface="Calibri" pitchFamily="34" charset="0"/>
                <a:ea typeface="Calibri" pitchFamily="34" charset="-122"/>
                <a:cs typeface="Calibri" pitchFamily="34" charset="-120"/>
              </a:rPr>
              <a:t> below normal</a:t>
            </a:r>
            <a:endParaRPr lang="en-US" sz="1050" dirty="0"/>
          </a:p>
        </p:txBody>
      </p:sp>
      <p:sp>
        <p:nvSpPr>
          <p:cNvPr id="20" name="Shape 18"/>
          <p:cNvSpPr/>
          <p:nvPr/>
        </p:nvSpPr>
        <p:spPr>
          <a:xfrm>
            <a:off x="3794760" y="4526280"/>
            <a:ext cx="1920240" cy="685800"/>
          </a:xfrm>
          <a:prstGeom prst="roundRect">
            <a:avLst>
              <a:gd name="adj" fmla="val 8000"/>
            </a:avLst>
          </a:prstGeom>
          <a:solidFill>
            <a:srgbClr val="FFFFFF"/>
          </a:solidFill>
          <a:ln w="15875">
            <a:solidFill>
              <a:srgbClr val="0D7877"/>
            </a:solidFill>
            <a:prstDash val="solid"/>
          </a:ln>
        </p:spPr>
      </p:sp>
      <p:sp>
        <p:nvSpPr>
          <p:cNvPr id="21" name="Text 19"/>
          <p:cNvSpPr/>
          <p:nvPr/>
        </p:nvSpPr>
        <p:spPr>
          <a:xfrm>
            <a:off x="3849624" y="4526280"/>
            <a:ext cx="1810512" cy="68580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Detected → response </a:t>
            </a:r>
            <a:r>
              <a:rPr lang="en-US" sz="1050" b="1" dirty="0">
                <a:solidFill>
                  <a:srgbClr val="262B3A"/>
                </a:solidFill>
                <a:latin typeface="Calibri" pitchFamily="34" charset="0"/>
                <a:ea typeface="Calibri" pitchFamily="34" charset="-122"/>
                <a:cs typeface="Calibri" pitchFamily="34" charset="-120"/>
              </a:rPr>
              <a:t>raises</a:t>
            </a:r>
            <a:r>
              <a:rPr lang="en-US" sz="1050" dirty="0">
                <a:solidFill>
                  <a:srgbClr val="262B3A"/>
                </a:solidFill>
                <a:latin typeface="Calibri" pitchFamily="34" charset="0"/>
                <a:ea typeface="Calibri" pitchFamily="34" charset="-122"/>
                <a:cs typeface="Calibri" pitchFamily="34" charset="-120"/>
              </a:rPr>
              <a:t> the level</a:t>
            </a:r>
            <a:endParaRPr lang="en-US" sz="1050" dirty="0"/>
          </a:p>
        </p:txBody>
      </p:sp>
      <p:sp>
        <p:nvSpPr>
          <p:cNvPr id="22" name="Shape 20"/>
          <p:cNvSpPr/>
          <p:nvPr/>
        </p:nvSpPr>
        <p:spPr>
          <a:xfrm flipH="1" flipV="1">
            <a:off x="1645920" y="2121408"/>
            <a:ext cx="914400" cy="896112"/>
          </a:xfrm>
          <a:prstGeom prst="line">
            <a:avLst/>
          </a:prstGeom>
          <a:noFill/>
          <a:ln w="25400">
            <a:solidFill>
              <a:srgbClr val="C8414C"/>
            </a:solidFill>
            <a:prstDash val="solid"/>
            <a:tailEnd type="triangle"/>
          </a:ln>
        </p:spPr>
      </p:sp>
      <p:sp>
        <p:nvSpPr>
          <p:cNvPr id="23" name="Shape 21"/>
          <p:cNvSpPr/>
          <p:nvPr/>
        </p:nvSpPr>
        <p:spPr>
          <a:xfrm>
            <a:off x="2624328" y="1755648"/>
            <a:ext cx="1152144" cy="91"/>
          </a:xfrm>
          <a:prstGeom prst="line">
            <a:avLst/>
          </a:prstGeom>
          <a:noFill/>
          <a:ln w="25400">
            <a:solidFill>
              <a:srgbClr val="133536"/>
            </a:solidFill>
            <a:prstDash val="solid"/>
            <a:tailEnd type="triangle"/>
          </a:ln>
        </p:spPr>
      </p:sp>
      <p:sp>
        <p:nvSpPr>
          <p:cNvPr id="24" name="Shape 22"/>
          <p:cNvSpPr/>
          <p:nvPr/>
        </p:nvSpPr>
        <p:spPr>
          <a:xfrm flipH="1">
            <a:off x="3840480" y="2121408"/>
            <a:ext cx="914400" cy="877824"/>
          </a:xfrm>
          <a:prstGeom prst="line">
            <a:avLst/>
          </a:prstGeom>
          <a:noFill/>
          <a:ln w="25400">
            <a:solidFill>
              <a:srgbClr val="2E8B57"/>
            </a:solidFill>
            <a:prstDash val="solid"/>
            <a:tailEnd type="triangle"/>
          </a:ln>
        </p:spPr>
      </p:sp>
      <p:sp>
        <p:nvSpPr>
          <p:cNvPr id="25" name="Shape 23"/>
          <p:cNvSpPr/>
          <p:nvPr/>
        </p:nvSpPr>
        <p:spPr>
          <a:xfrm flipH="1">
            <a:off x="1645920" y="3611880"/>
            <a:ext cx="914400" cy="896112"/>
          </a:xfrm>
          <a:prstGeom prst="line">
            <a:avLst/>
          </a:prstGeom>
          <a:noFill/>
          <a:ln w="25400">
            <a:solidFill>
              <a:srgbClr val="3B7DD8"/>
            </a:solidFill>
            <a:prstDash val="solid"/>
            <a:tailEnd type="triangle"/>
          </a:ln>
        </p:spPr>
      </p:sp>
      <p:sp>
        <p:nvSpPr>
          <p:cNvPr id="26" name="Shape 24"/>
          <p:cNvSpPr/>
          <p:nvPr/>
        </p:nvSpPr>
        <p:spPr>
          <a:xfrm>
            <a:off x="2624328" y="4864608"/>
            <a:ext cx="1152144" cy="91"/>
          </a:xfrm>
          <a:prstGeom prst="line">
            <a:avLst/>
          </a:prstGeom>
          <a:noFill/>
          <a:ln w="25400">
            <a:solidFill>
              <a:srgbClr val="133536"/>
            </a:solidFill>
            <a:prstDash val="solid"/>
            <a:tailEnd type="triangle"/>
          </a:ln>
        </p:spPr>
      </p:sp>
      <p:sp>
        <p:nvSpPr>
          <p:cNvPr id="27" name="Shape 25"/>
          <p:cNvSpPr/>
          <p:nvPr/>
        </p:nvSpPr>
        <p:spPr>
          <a:xfrm flipH="1" flipV="1">
            <a:off x="3840480" y="3630168"/>
            <a:ext cx="914400" cy="877824"/>
          </a:xfrm>
          <a:prstGeom prst="line">
            <a:avLst/>
          </a:prstGeom>
          <a:noFill/>
          <a:ln w="25400">
            <a:solidFill>
              <a:srgbClr val="2E8B57"/>
            </a:solidFill>
            <a:prstDash val="solid"/>
            <a:tailEnd type="triangle"/>
          </a:ln>
        </p:spPr>
      </p:sp>
      <p:sp>
        <p:nvSpPr>
          <p:cNvPr id="28" name="Text 26"/>
          <p:cNvSpPr/>
          <p:nvPr/>
        </p:nvSpPr>
        <p:spPr>
          <a:xfrm>
            <a:off x="640080" y="2377440"/>
            <a:ext cx="1600200" cy="256032"/>
          </a:xfrm>
          <a:prstGeom prst="rect">
            <a:avLst/>
          </a:prstGeom>
          <a:noFill/>
          <a:ln/>
        </p:spPr>
        <p:txBody>
          <a:bodyPr wrap="square" lIns="0" tIns="0" rIns="0" bIns="0" rtlCol="0" anchor="ctr"/>
          <a:lstStyle/>
          <a:p>
            <a:pPr algn="l" indent="0" marL="0">
              <a:buNone/>
            </a:pPr>
            <a:r>
              <a:rPr lang="en-US" sz="1050" i="1" dirty="0">
                <a:solidFill>
                  <a:srgbClr val="C8414C"/>
                </a:solidFill>
                <a:latin typeface="Calibri" pitchFamily="34" charset="0"/>
                <a:ea typeface="Calibri" pitchFamily="34" charset="-122"/>
                <a:cs typeface="Calibri" pitchFamily="34" charset="-120"/>
              </a:rPr>
              <a:t>a change…</a:t>
            </a:r>
            <a:endParaRPr lang="en-US" sz="1050" dirty="0"/>
          </a:p>
        </p:txBody>
      </p:sp>
      <p:sp>
        <p:nvSpPr>
          <p:cNvPr id="29" name="Text 27"/>
          <p:cNvSpPr/>
          <p:nvPr/>
        </p:nvSpPr>
        <p:spPr>
          <a:xfrm>
            <a:off x="4526280" y="2377440"/>
            <a:ext cx="1371600" cy="256032"/>
          </a:xfrm>
          <a:prstGeom prst="rect">
            <a:avLst/>
          </a:prstGeom>
          <a:noFill/>
          <a:ln/>
        </p:spPr>
        <p:txBody>
          <a:bodyPr wrap="square" lIns="0" tIns="0" rIns="0" bIns="0" rtlCol="0" anchor="ctr"/>
          <a:lstStyle/>
          <a:p>
            <a:pPr algn="r" indent="0" marL="0">
              <a:buNone/>
            </a:pPr>
            <a:r>
              <a:rPr lang="en-US" sz="1050" i="1" dirty="0">
                <a:solidFill>
                  <a:srgbClr val="2E8B57"/>
                </a:solidFill>
                <a:latin typeface="Calibri" pitchFamily="34" charset="0"/>
                <a:ea typeface="Calibri" pitchFamily="34" charset="-122"/>
                <a:cs typeface="Calibri" pitchFamily="34" charset="-120"/>
              </a:rPr>
              <a:t>…is reversed</a:t>
            </a:r>
            <a:endParaRPr lang="en-US" sz="1050" dirty="0"/>
          </a:p>
        </p:txBody>
      </p:sp>
      <p:sp>
        <p:nvSpPr>
          <p:cNvPr id="30" name="Text 28"/>
          <p:cNvSpPr/>
          <p:nvPr/>
        </p:nvSpPr>
        <p:spPr>
          <a:xfrm>
            <a:off x="640080" y="4005072"/>
            <a:ext cx="1600200" cy="256032"/>
          </a:xfrm>
          <a:prstGeom prst="rect">
            <a:avLst/>
          </a:prstGeom>
          <a:noFill/>
          <a:ln/>
        </p:spPr>
        <p:txBody>
          <a:bodyPr wrap="square" lIns="0" tIns="0" rIns="0" bIns="0" rtlCol="0" anchor="ctr"/>
          <a:lstStyle/>
          <a:p>
            <a:pPr algn="l" indent="0" marL="0">
              <a:buNone/>
            </a:pPr>
            <a:r>
              <a:rPr lang="en-US" sz="1050" i="1" dirty="0">
                <a:solidFill>
                  <a:srgbClr val="3B7DD8"/>
                </a:solidFill>
                <a:latin typeface="Calibri" pitchFamily="34" charset="0"/>
                <a:ea typeface="Calibri" pitchFamily="34" charset="-122"/>
                <a:cs typeface="Calibri" pitchFamily="34" charset="-120"/>
              </a:rPr>
              <a:t>a change…</a:t>
            </a:r>
            <a:endParaRPr lang="en-US" sz="1050" dirty="0"/>
          </a:p>
        </p:txBody>
      </p:sp>
      <p:sp>
        <p:nvSpPr>
          <p:cNvPr id="31" name="Text 29"/>
          <p:cNvSpPr/>
          <p:nvPr/>
        </p:nvSpPr>
        <p:spPr>
          <a:xfrm>
            <a:off x="4526280" y="4005072"/>
            <a:ext cx="1371600" cy="256032"/>
          </a:xfrm>
          <a:prstGeom prst="rect">
            <a:avLst/>
          </a:prstGeom>
          <a:noFill/>
          <a:ln/>
        </p:spPr>
        <p:txBody>
          <a:bodyPr wrap="square" lIns="0" tIns="0" rIns="0" bIns="0" rtlCol="0" anchor="ctr"/>
          <a:lstStyle/>
          <a:p>
            <a:pPr algn="r" indent="0" marL="0">
              <a:buNone/>
            </a:pPr>
            <a:r>
              <a:rPr lang="en-US" sz="1050" i="1" dirty="0">
                <a:solidFill>
                  <a:srgbClr val="2E8B57"/>
                </a:solidFill>
                <a:latin typeface="Calibri" pitchFamily="34" charset="0"/>
                <a:ea typeface="Calibri" pitchFamily="34" charset="-122"/>
                <a:cs typeface="Calibri" pitchFamily="34" charset="-120"/>
              </a:rPr>
              <a:t>…is reversed</a:t>
            </a:r>
            <a:endParaRPr lang="en-US" sz="1050" dirty="0"/>
          </a:p>
        </p:txBody>
      </p:sp>
      <p:sp>
        <p:nvSpPr>
          <p:cNvPr id="32" name="Shape 30"/>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33" name="Text 3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Keeping things steady</a:t>
            </a:r>
            <a:endParaRPr lang="en-US" sz="1300" dirty="0"/>
          </a:p>
        </p:txBody>
      </p:sp>
      <p:sp>
        <p:nvSpPr>
          <p:cNvPr id="34" name="Text 32"/>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Your cells work best when conditions stay </a:t>
            </a:r>
            <a:r>
              <a:rPr lang="en-US" sz="1100" b="1" dirty="0">
                <a:solidFill>
                  <a:srgbClr val="262B3A"/>
                </a:solidFill>
                <a:latin typeface="Calibri" pitchFamily="34" charset="0"/>
                <a:ea typeface="Calibri" pitchFamily="34" charset="-122"/>
                <a:cs typeface="Calibri" pitchFamily="34" charset="-120"/>
              </a:rPr>
              <a:t>steady</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Negative feedback</a:t>
            </a:r>
            <a:r>
              <a:rPr lang="en-US" sz="1100" dirty="0">
                <a:solidFill>
                  <a:srgbClr val="262B3A"/>
                </a:solidFill>
                <a:latin typeface="Calibri" pitchFamily="34" charset="0"/>
                <a:ea typeface="Calibri" pitchFamily="34" charset="-122"/>
                <a:cs typeface="Calibri" pitchFamily="34" charset="-120"/>
              </a:rPr>
              <a:t>: when a level </a:t>
            </a:r>
            <a:r>
              <a:rPr lang="en-US" sz="1100" b="1" dirty="0">
                <a:solidFill>
                  <a:srgbClr val="262B3A"/>
                </a:solidFill>
                <a:latin typeface="Calibri" pitchFamily="34" charset="0"/>
                <a:ea typeface="Calibri" pitchFamily="34" charset="-122"/>
                <a:cs typeface="Calibri" pitchFamily="34" charset="-120"/>
              </a:rPr>
              <a:t>changes</a:t>
            </a:r>
            <a:r>
              <a:rPr lang="en-US" sz="1100" dirty="0">
                <a:solidFill>
                  <a:srgbClr val="262B3A"/>
                </a:solidFill>
                <a:latin typeface="Calibri" pitchFamily="34" charset="0"/>
                <a:ea typeface="Calibri" pitchFamily="34" charset="-122"/>
                <a:cs typeface="Calibri" pitchFamily="34" charset="-120"/>
              </a:rPr>
              <a:t>, the body detects it and makes a response that </a:t>
            </a:r>
            <a:r>
              <a:rPr lang="en-US" sz="1100" b="1" dirty="0">
                <a:solidFill>
                  <a:srgbClr val="262B3A"/>
                </a:solidFill>
                <a:latin typeface="Calibri" pitchFamily="34" charset="0"/>
                <a:ea typeface="Calibri" pitchFamily="34" charset="-122"/>
                <a:cs typeface="Calibri" pitchFamily="34" charset="-120"/>
              </a:rPr>
              <a:t>reverses</a:t>
            </a:r>
            <a:r>
              <a:rPr lang="en-US" sz="1100" dirty="0">
                <a:solidFill>
                  <a:srgbClr val="262B3A"/>
                </a:solidFill>
                <a:latin typeface="Calibri" pitchFamily="34" charset="0"/>
                <a:ea typeface="Calibri" pitchFamily="34" charset="-122"/>
                <a:cs typeface="Calibri" pitchFamily="34" charset="-120"/>
              </a:rPr>
              <a:t> the change.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It works both ways: a </a:t>
            </a:r>
            <a:r>
              <a:rPr lang="en-US" sz="1100" b="1" dirty="0">
                <a:solidFill>
                  <a:srgbClr val="262B3A"/>
                </a:solidFill>
                <a:latin typeface="Calibri" pitchFamily="34" charset="0"/>
                <a:ea typeface="Calibri" pitchFamily="34" charset="-122"/>
                <a:cs typeface="Calibri" pitchFamily="34" charset="-120"/>
              </a:rPr>
              <a:t>rise</a:t>
            </a:r>
            <a:r>
              <a:rPr lang="en-US" sz="1100" dirty="0">
                <a:solidFill>
                  <a:srgbClr val="262B3A"/>
                </a:solidFill>
                <a:latin typeface="Calibri" pitchFamily="34" charset="0"/>
                <a:ea typeface="Calibri" pitchFamily="34" charset="-122"/>
                <a:cs typeface="Calibri" pitchFamily="34" charset="-120"/>
              </a:rPr>
              <a:t> is brought </a:t>
            </a:r>
            <a:r>
              <a:rPr lang="en-US" sz="1100" b="1" dirty="0">
                <a:solidFill>
                  <a:srgbClr val="262B3A"/>
                </a:solidFill>
                <a:latin typeface="Calibri" pitchFamily="34" charset="0"/>
                <a:ea typeface="Calibri" pitchFamily="34" charset="-122"/>
                <a:cs typeface="Calibri" pitchFamily="34" charset="-120"/>
              </a:rPr>
              <a:t>down</a:t>
            </a:r>
            <a:r>
              <a:rPr lang="en-US" sz="1100" dirty="0">
                <a:solidFill>
                  <a:srgbClr val="262B3A"/>
                </a:solidFill>
                <a:latin typeface="Calibri" pitchFamily="34" charset="0"/>
                <a:ea typeface="Calibri" pitchFamily="34" charset="-122"/>
                <a:cs typeface="Calibri" pitchFamily="34" charset="-120"/>
              </a:rPr>
              <a:t>; a </a:t>
            </a:r>
            <a:r>
              <a:rPr lang="en-US" sz="1100" b="1" dirty="0">
                <a:solidFill>
                  <a:srgbClr val="262B3A"/>
                </a:solidFill>
                <a:latin typeface="Calibri" pitchFamily="34" charset="0"/>
                <a:ea typeface="Calibri" pitchFamily="34" charset="-122"/>
                <a:cs typeface="Calibri" pitchFamily="34" charset="-120"/>
              </a:rPr>
              <a:t>fall</a:t>
            </a:r>
            <a:r>
              <a:rPr lang="en-US" sz="1100" dirty="0">
                <a:solidFill>
                  <a:srgbClr val="262B3A"/>
                </a:solidFill>
                <a:latin typeface="Calibri" pitchFamily="34" charset="0"/>
                <a:ea typeface="Calibri" pitchFamily="34" charset="-122"/>
                <a:cs typeface="Calibri" pitchFamily="34" charset="-120"/>
              </a:rPr>
              <a:t> is brought </a:t>
            </a:r>
            <a:r>
              <a:rPr lang="en-US" sz="1100" b="1" dirty="0">
                <a:solidFill>
                  <a:srgbClr val="262B3A"/>
                </a:solidFill>
                <a:latin typeface="Calibri" pitchFamily="34" charset="0"/>
                <a:ea typeface="Calibri" pitchFamily="34" charset="-122"/>
                <a:cs typeface="Calibri" pitchFamily="34" charset="-120"/>
              </a:rPr>
              <a:t>up</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So the level stays close to a normal value (the </a:t>
            </a:r>
            <a:r>
              <a:rPr lang="en-US" sz="1100" b="1" dirty="0">
                <a:solidFill>
                  <a:srgbClr val="262B3A"/>
                </a:solidFill>
                <a:latin typeface="Calibri" pitchFamily="34" charset="0"/>
                <a:ea typeface="Calibri" pitchFamily="34" charset="-122"/>
                <a:cs typeface="Calibri" pitchFamily="34" charset="-120"/>
              </a:rPr>
              <a:t>set point</a:t>
            </a:r>
            <a:r>
              <a:rPr lang="en-US" sz="1100" dirty="0">
                <a:solidFill>
                  <a:srgbClr val="262B3A"/>
                </a:solidFill>
                <a:latin typeface="Calibri" pitchFamily="34" charset="0"/>
                <a:ea typeface="Calibri" pitchFamily="34" charset="-122"/>
                <a:cs typeface="Calibri" pitchFamily="34" charset="-120"/>
              </a:rPr>
              <a:t>), going a little above and below.</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It is called </a:t>
            </a:r>
            <a:r>
              <a:rPr lang="en-US" sz="1100" b="1" dirty="0">
                <a:solidFill>
                  <a:srgbClr val="262B3A"/>
                </a:solidFill>
                <a:latin typeface="Calibri" pitchFamily="34" charset="0"/>
                <a:ea typeface="Calibri" pitchFamily="34" charset="-122"/>
                <a:cs typeface="Calibri" pitchFamily="34" charset="-120"/>
              </a:rPr>
              <a:t>negative</a:t>
            </a:r>
            <a:r>
              <a:rPr lang="en-US" sz="1100" dirty="0">
                <a:solidFill>
                  <a:srgbClr val="262B3A"/>
                </a:solidFill>
                <a:latin typeface="Calibri" pitchFamily="34" charset="0"/>
                <a:ea typeface="Calibri" pitchFamily="34" charset="-122"/>
                <a:cs typeface="Calibri" pitchFamily="34" charset="-120"/>
              </a:rPr>
              <a:t> because the response is the </a:t>
            </a:r>
            <a:r>
              <a:rPr lang="en-US" sz="1100" b="1" dirty="0">
                <a:solidFill>
                  <a:srgbClr val="262B3A"/>
                </a:solidFill>
                <a:latin typeface="Calibri" pitchFamily="34" charset="0"/>
                <a:ea typeface="Calibri" pitchFamily="34" charset="-122"/>
                <a:cs typeface="Calibri" pitchFamily="34" charset="-120"/>
              </a:rPr>
              <a:t>opposite</a:t>
            </a:r>
            <a:r>
              <a:rPr lang="en-US" sz="1100" dirty="0">
                <a:solidFill>
                  <a:srgbClr val="262B3A"/>
                </a:solidFill>
                <a:latin typeface="Calibri" pitchFamily="34" charset="0"/>
                <a:ea typeface="Calibri" pitchFamily="34" charset="-122"/>
                <a:cs typeface="Calibri" pitchFamily="34" charset="-120"/>
              </a:rPr>
              <a:t> of the change.</a:t>
            </a:r>
            <a:endParaRPr lang="en-US" sz="1100" dirty="0"/>
          </a:p>
        </p:txBody>
      </p:sp>
      <p:sp>
        <p:nvSpPr>
          <p:cNvPr id="35" name="Shape 33"/>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6" name="Text 34"/>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a thermostat</a:t>
            </a:r>
            <a:endParaRPr lang="en-US" sz="1300" dirty="0"/>
          </a:p>
        </p:txBody>
      </p:sp>
      <p:sp>
        <p:nvSpPr>
          <p:cNvPr id="37" name="Text 35"/>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room heater has a thermostat set to 20 °C. Explain how it uses negative feedback.</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Rise   </a:t>
            </a:r>
            <a:r>
              <a:rPr lang="en-US" sz="1050" dirty="0">
                <a:solidFill>
                  <a:srgbClr val="262B3A"/>
                </a:solidFill>
                <a:latin typeface="Calibri" pitchFamily="34" charset="0"/>
                <a:ea typeface="Calibri" pitchFamily="34" charset="-122"/>
                <a:cs typeface="Calibri" pitchFamily="34" charset="-120"/>
              </a:rPr>
              <a:t>room goes above 20 °C: the sensor detects it</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Response   </a:t>
            </a:r>
            <a:r>
              <a:rPr lang="en-US" sz="1050" dirty="0">
                <a:solidFill>
                  <a:srgbClr val="262B3A"/>
                </a:solidFill>
                <a:latin typeface="Calibri" pitchFamily="34" charset="0"/>
                <a:ea typeface="Calibri" pitchFamily="34" charset="-122"/>
                <a:cs typeface="Calibri" pitchFamily="34" charset="-120"/>
              </a:rPr>
              <a:t>the heater switches off, so the room cools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Fall   </a:t>
            </a:r>
            <a:r>
              <a:rPr lang="en-US" sz="1050" dirty="0">
                <a:solidFill>
                  <a:srgbClr val="262B3A"/>
                </a:solidFill>
                <a:latin typeface="Calibri" pitchFamily="34" charset="0"/>
                <a:ea typeface="Calibri" pitchFamily="34" charset="-122"/>
                <a:cs typeface="Calibri" pitchFamily="34" charset="-120"/>
              </a:rPr>
              <a:t>below 20 °C: the heater switches on, so it warms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each change is reversed: temperature stays near 20 °C</a:t>
            </a:r>
            <a:endParaRPr lang="en-US" sz="1050" dirty="0"/>
          </a:p>
        </p:txBody>
      </p:sp>
      <p:sp>
        <p:nvSpPr>
          <p:cNvPr id="38" name="Shape 36"/>
          <p:cNvSpPr/>
          <p:nvPr/>
        </p:nvSpPr>
        <p:spPr>
          <a:xfrm>
            <a:off x="411480" y="5833872"/>
            <a:ext cx="11368735" cy="530352"/>
          </a:xfrm>
          <a:prstGeom prst="rect">
            <a:avLst/>
          </a:prstGeom>
          <a:solidFill>
            <a:srgbClr val="FFF4E0"/>
          </a:solidFill>
          <a:ln w="6350">
            <a:solidFill>
              <a:srgbClr val="F1D9A8"/>
            </a:solidFill>
            <a:prstDash val="solid"/>
          </a:ln>
        </p:spPr>
      </p:sp>
      <p:sp>
        <p:nvSpPr>
          <p:cNvPr id="39" name="Shape 37"/>
          <p:cNvSpPr/>
          <p:nvPr/>
        </p:nvSpPr>
        <p:spPr>
          <a:xfrm>
            <a:off x="411480" y="5833872"/>
            <a:ext cx="82296" cy="530352"/>
          </a:xfrm>
          <a:prstGeom prst="rect">
            <a:avLst/>
          </a:prstGeom>
          <a:solidFill>
            <a:srgbClr val="E39A2F"/>
          </a:solidFill>
          <a:ln w="12700">
            <a:solidFill>
              <a:srgbClr val="E39A2F"/>
            </a:solidFill>
            <a:prstDash val="solid"/>
          </a:ln>
        </p:spPr>
      </p:sp>
      <p:sp>
        <p:nvSpPr>
          <p:cNvPr id="40" name="Text 3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this process is called </a:t>
            </a:r>
            <a:r>
              <a:rPr lang="en-US" sz="1150" b="1" dirty="0">
                <a:solidFill>
                  <a:srgbClr val="262B3A"/>
                </a:solidFill>
                <a:latin typeface="Calibri" pitchFamily="34" charset="0"/>
                <a:ea typeface="Calibri" pitchFamily="34" charset="-122"/>
                <a:cs typeface="Calibri" pitchFamily="34" charset="-120"/>
              </a:rPr>
              <a:t>negative</a:t>
            </a:r>
            <a:r>
              <a:rPr lang="en-US" sz="1150" dirty="0">
                <a:solidFill>
                  <a:srgbClr val="262B3A"/>
                </a:solidFill>
                <a:latin typeface="Calibri" pitchFamily="34" charset="0"/>
                <a:ea typeface="Calibri" pitchFamily="34" charset="-122"/>
                <a:cs typeface="Calibri" pitchFamily="34" charset="-120"/>
              </a:rPr>
              <a:t> feedback.</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Thyroxine: a negative feedback loop</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B5.3.2 • thyroxine controls metabolic rate; TSH from the pituitary controls thyroxine</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B5.3 How do hormones control responses in the human body?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B5.3.2  |  15</a:t>
            </a:r>
            <a:endParaRPr lang="en-US" sz="1000" dirty="0"/>
          </a:p>
        </p:txBody>
      </p:sp>
      <p:sp>
        <p:nvSpPr>
          <p:cNvPr id="10" name="Shape 8"/>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thyroxine level is kept steady by negative feedback on the pituitary</a:t>
            </a:r>
            <a:endParaRPr lang="en-US" sz="1000" dirty="0"/>
          </a:p>
        </p:txBody>
      </p:sp>
      <p:sp>
        <p:nvSpPr>
          <p:cNvPr id="12" name="Shape 10"/>
          <p:cNvSpPr/>
          <p:nvPr/>
        </p:nvSpPr>
        <p:spPr>
          <a:xfrm>
            <a:off x="1161288" y="1572768"/>
            <a:ext cx="512064" cy="512064"/>
          </a:xfrm>
          <a:prstGeom prst="ellipse">
            <a:avLst/>
          </a:prstGeom>
          <a:solidFill>
            <a:srgbClr val="C8414C"/>
          </a:solidFill>
          <a:ln w="19050">
            <a:solidFill>
              <a:srgbClr val="8E2A33"/>
            </a:solidFill>
            <a:prstDash val="solid"/>
          </a:ln>
        </p:spPr>
      </p:sp>
      <p:sp>
        <p:nvSpPr>
          <p:cNvPr id="13" name="Text 11"/>
          <p:cNvSpPr/>
          <p:nvPr/>
        </p:nvSpPr>
        <p:spPr>
          <a:xfrm>
            <a:off x="594360" y="2148840"/>
            <a:ext cx="1645920" cy="256032"/>
          </a:xfrm>
          <a:prstGeom prst="rect">
            <a:avLst/>
          </a:prstGeom>
          <a:noFill/>
          <a:ln/>
        </p:spPr>
        <p:txBody>
          <a:bodyPr wrap="square" lIns="0" tIns="0" rIns="0" bIns="0" rtlCol="0" anchor="ctr"/>
          <a:lstStyle/>
          <a:p>
            <a:pPr algn="ctr" indent="0" marL="0">
              <a:buNone/>
            </a:pPr>
            <a:r>
              <a:rPr lang="en-US" sz="1100" b="1" dirty="0">
                <a:solidFill>
                  <a:srgbClr val="8E2A33"/>
                </a:solidFill>
                <a:latin typeface="Calibri" pitchFamily="34" charset="0"/>
                <a:ea typeface="Calibri" pitchFamily="34" charset="-122"/>
                <a:cs typeface="Calibri" pitchFamily="34" charset="-120"/>
              </a:rPr>
              <a:t>Pituitary gland</a:t>
            </a:r>
            <a:endParaRPr lang="en-US" sz="1100" dirty="0"/>
          </a:p>
        </p:txBody>
      </p:sp>
      <p:sp>
        <p:nvSpPr>
          <p:cNvPr id="14" name="Shape 12"/>
          <p:cNvSpPr/>
          <p:nvPr/>
        </p:nvSpPr>
        <p:spPr>
          <a:xfrm>
            <a:off x="1069848" y="3977640"/>
            <a:ext cx="329184" cy="548640"/>
          </a:xfrm>
          <a:prstGeom prst="ellipse">
            <a:avLst/>
          </a:prstGeom>
          <a:solidFill>
            <a:srgbClr val="8E44AD"/>
          </a:solidFill>
          <a:ln w="15875">
            <a:solidFill>
              <a:srgbClr val="5E2D73"/>
            </a:solidFill>
            <a:prstDash val="solid"/>
          </a:ln>
        </p:spPr>
      </p:sp>
      <p:sp>
        <p:nvSpPr>
          <p:cNvPr id="15" name="Shape 13"/>
          <p:cNvSpPr/>
          <p:nvPr/>
        </p:nvSpPr>
        <p:spPr>
          <a:xfrm>
            <a:off x="1435608" y="3977640"/>
            <a:ext cx="329184" cy="548640"/>
          </a:xfrm>
          <a:prstGeom prst="ellipse">
            <a:avLst/>
          </a:prstGeom>
          <a:solidFill>
            <a:srgbClr val="8E44AD"/>
          </a:solidFill>
          <a:ln w="15875">
            <a:solidFill>
              <a:srgbClr val="5E2D73"/>
            </a:solidFill>
            <a:prstDash val="solid"/>
          </a:ln>
        </p:spPr>
      </p:sp>
      <p:sp>
        <p:nvSpPr>
          <p:cNvPr id="16" name="Shape 14"/>
          <p:cNvSpPr/>
          <p:nvPr/>
        </p:nvSpPr>
        <p:spPr>
          <a:xfrm>
            <a:off x="1325880" y="4206240"/>
            <a:ext cx="182880" cy="128016"/>
          </a:xfrm>
          <a:prstGeom prst="rect">
            <a:avLst/>
          </a:prstGeom>
          <a:solidFill>
            <a:srgbClr val="8E44AD"/>
          </a:solidFill>
          <a:ln/>
        </p:spPr>
      </p:sp>
      <p:sp>
        <p:nvSpPr>
          <p:cNvPr id="17" name="Text 15"/>
          <p:cNvSpPr/>
          <p:nvPr/>
        </p:nvSpPr>
        <p:spPr>
          <a:xfrm>
            <a:off x="594360" y="4572000"/>
            <a:ext cx="1645920" cy="256032"/>
          </a:xfrm>
          <a:prstGeom prst="rect">
            <a:avLst/>
          </a:prstGeom>
          <a:noFill/>
          <a:ln/>
        </p:spPr>
        <p:txBody>
          <a:bodyPr wrap="square" lIns="0" tIns="0" rIns="0" bIns="0" rtlCol="0" anchor="ctr"/>
          <a:lstStyle/>
          <a:p>
            <a:pPr algn="ctr" indent="0" marL="0">
              <a:buNone/>
            </a:pPr>
            <a:r>
              <a:rPr lang="en-US" sz="1100" b="1" dirty="0">
                <a:solidFill>
                  <a:srgbClr val="5E2D73"/>
                </a:solidFill>
                <a:latin typeface="Calibri" pitchFamily="34" charset="0"/>
                <a:ea typeface="Calibri" pitchFamily="34" charset="-122"/>
                <a:cs typeface="Calibri" pitchFamily="34" charset="-120"/>
              </a:rPr>
              <a:t>Thyroid gland</a:t>
            </a:r>
            <a:endParaRPr lang="en-US" sz="1100" dirty="0"/>
          </a:p>
        </p:txBody>
      </p:sp>
      <p:sp>
        <p:nvSpPr>
          <p:cNvPr id="18" name="Shape 16"/>
          <p:cNvSpPr/>
          <p:nvPr/>
        </p:nvSpPr>
        <p:spPr>
          <a:xfrm>
            <a:off x="1417320" y="2395728"/>
            <a:ext cx="91" cy="1536192"/>
          </a:xfrm>
          <a:prstGeom prst="line">
            <a:avLst/>
          </a:prstGeom>
          <a:noFill/>
          <a:ln w="31750">
            <a:solidFill>
              <a:srgbClr val="C8414C"/>
            </a:solidFill>
            <a:prstDash val="solid"/>
            <a:tailEnd type="triangle"/>
          </a:ln>
        </p:spPr>
      </p:sp>
      <p:sp>
        <p:nvSpPr>
          <p:cNvPr id="19" name="Text 17"/>
          <p:cNvSpPr/>
          <p:nvPr/>
        </p:nvSpPr>
        <p:spPr>
          <a:xfrm>
            <a:off x="1508760" y="2926080"/>
            <a:ext cx="1097280" cy="457200"/>
          </a:xfrm>
          <a:prstGeom prst="rect">
            <a:avLst/>
          </a:prstGeom>
          <a:noFill/>
          <a:ln/>
        </p:spPr>
        <p:txBody>
          <a:bodyPr wrap="square" lIns="0" tIns="0" rIns="0" bIns="0" rtlCol="0" anchor="ctr"/>
          <a:lstStyle/>
          <a:p>
            <a:pPr algn="l" indent="0" marL="0">
              <a:buNone/>
            </a:pPr>
            <a:r>
              <a:rPr lang="en-US" sz="1050" b="1" dirty="0">
                <a:solidFill>
                  <a:srgbClr val="8E2A33"/>
                </a:solidFill>
                <a:latin typeface="Calibri" pitchFamily="34" charset="0"/>
                <a:ea typeface="Calibri" pitchFamily="34" charset="-122"/>
                <a:cs typeface="Calibri" pitchFamily="34" charset="-120"/>
              </a:rPr>
              <a:t>TSH</a:t>
            </a:r>
            <a:endParaRPr lang="en-US" sz="1050" dirty="0"/>
          </a:p>
          <a:p>
            <a:pPr algn="l" indent="0" marL="0">
              <a:buNone/>
            </a:pPr>
            <a:r>
              <a:rPr lang="en-US" sz="1050" dirty="0">
                <a:solidFill>
                  <a:srgbClr val="8E2A33"/>
                </a:solidFill>
                <a:latin typeface="Calibri" pitchFamily="34" charset="0"/>
                <a:ea typeface="Calibri" pitchFamily="34" charset="-122"/>
                <a:cs typeface="Calibri" pitchFamily="34" charset="-120"/>
              </a:rPr>
              <a:t>in blood</a:t>
            </a:r>
            <a:endParaRPr lang="en-US" sz="1050" dirty="0"/>
          </a:p>
        </p:txBody>
      </p:sp>
      <p:sp>
        <p:nvSpPr>
          <p:cNvPr id="20" name="Shape 18"/>
          <p:cNvSpPr/>
          <p:nvPr/>
        </p:nvSpPr>
        <p:spPr>
          <a:xfrm>
            <a:off x="1828800" y="4251960"/>
            <a:ext cx="2240280" cy="91"/>
          </a:xfrm>
          <a:prstGeom prst="line">
            <a:avLst/>
          </a:prstGeom>
          <a:noFill/>
          <a:ln w="31750">
            <a:solidFill>
              <a:srgbClr val="8E44AD"/>
            </a:solidFill>
            <a:prstDash val="solid"/>
            <a:tailEnd type="triangle"/>
          </a:ln>
        </p:spPr>
      </p:sp>
      <p:sp>
        <p:nvSpPr>
          <p:cNvPr id="21" name="Text 19"/>
          <p:cNvSpPr/>
          <p:nvPr/>
        </p:nvSpPr>
        <p:spPr>
          <a:xfrm>
            <a:off x="2194560" y="3959352"/>
            <a:ext cx="1737360" cy="256032"/>
          </a:xfrm>
          <a:prstGeom prst="rect">
            <a:avLst/>
          </a:prstGeom>
          <a:noFill/>
          <a:ln/>
        </p:spPr>
        <p:txBody>
          <a:bodyPr wrap="square" lIns="0" tIns="0" rIns="0" bIns="0" rtlCol="0" anchor="ctr"/>
          <a:lstStyle/>
          <a:p>
            <a:pPr algn="ctr" indent="0" marL="0">
              <a:buNone/>
            </a:pPr>
            <a:r>
              <a:rPr lang="en-US" sz="1050" b="1" dirty="0">
                <a:solidFill>
                  <a:srgbClr val="5E2D73"/>
                </a:solidFill>
                <a:latin typeface="Calibri" pitchFamily="34" charset="0"/>
                <a:ea typeface="Calibri" pitchFamily="34" charset="-122"/>
                <a:cs typeface="Calibri" pitchFamily="34" charset="-120"/>
              </a:rPr>
              <a:t>thyroxine</a:t>
            </a:r>
            <a:r>
              <a:rPr lang="en-US" sz="1050" dirty="0">
                <a:solidFill>
                  <a:srgbClr val="5E2D73"/>
                </a:solidFill>
                <a:latin typeface="Calibri" pitchFamily="34" charset="0"/>
                <a:ea typeface="Calibri" pitchFamily="34" charset="-122"/>
                <a:cs typeface="Calibri" pitchFamily="34" charset="-120"/>
              </a:rPr>
              <a:t> in blood</a:t>
            </a:r>
            <a:endParaRPr lang="en-US" sz="1050" dirty="0"/>
          </a:p>
        </p:txBody>
      </p:sp>
      <p:sp>
        <p:nvSpPr>
          <p:cNvPr id="22" name="Shape 20"/>
          <p:cNvSpPr/>
          <p:nvPr/>
        </p:nvSpPr>
        <p:spPr>
          <a:xfrm>
            <a:off x="4114800" y="3794760"/>
            <a:ext cx="1691640" cy="914400"/>
          </a:xfrm>
          <a:prstGeom prst="roundRect">
            <a:avLst>
              <a:gd name="adj" fmla="val 10000"/>
            </a:avLst>
          </a:prstGeom>
          <a:solidFill>
            <a:srgbClr val="FBF3DF"/>
          </a:solidFill>
          <a:ln w="15875">
            <a:solidFill>
              <a:srgbClr val="8A6D3B"/>
            </a:solidFill>
            <a:prstDash val="solid"/>
          </a:ln>
        </p:spPr>
      </p:sp>
      <p:sp>
        <p:nvSpPr>
          <p:cNvPr id="23" name="Text 21"/>
          <p:cNvSpPr/>
          <p:nvPr/>
        </p:nvSpPr>
        <p:spPr>
          <a:xfrm>
            <a:off x="4160520" y="3794760"/>
            <a:ext cx="1600200" cy="91440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body cells: </a:t>
            </a:r>
            <a:r>
              <a:rPr lang="en-US" sz="1050" b="1" dirty="0">
                <a:solidFill>
                  <a:srgbClr val="262B3A"/>
                </a:solidFill>
                <a:latin typeface="Calibri" pitchFamily="34" charset="0"/>
                <a:ea typeface="Calibri" pitchFamily="34" charset="-122"/>
                <a:cs typeface="Calibri" pitchFamily="34" charset="-120"/>
              </a:rPr>
              <a:t>metabolic rate ↑</a:t>
            </a:r>
            <a:endParaRPr lang="en-US" sz="1050" dirty="0"/>
          </a:p>
        </p:txBody>
      </p:sp>
      <p:sp>
        <p:nvSpPr>
          <p:cNvPr id="24" name="Shape 22"/>
          <p:cNvSpPr/>
          <p:nvPr/>
        </p:nvSpPr>
        <p:spPr>
          <a:xfrm flipV="1">
            <a:off x="2926080" y="1828800"/>
            <a:ext cx="91" cy="2240280"/>
          </a:xfrm>
          <a:prstGeom prst="line">
            <a:avLst/>
          </a:prstGeom>
          <a:noFill/>
          <a:ln w="31750">
            <a:solidFill>
              <a:srgbClr val="C8414C"/>
            </a:solidFill>
            <a:prstDash val="dash"/>
          </a:ln>
        </p:spPr>
      </p:sp>
      <p:sp>
        <p:nvSpPr>
          <p:cNvPr id="25" name="Shape 23"/>
          <p:cNvSpPr/>
          <p:nvPr/>
        </p:nvSpPr>
        <p:spPr>
          <a:xfrm flipH="1">
            <a:off x="1719072" y="1828800"/>
            <a:ext cx="1207008" cy="91"/>
          </a:xfrm>
          <a:prstGeom prst="line">
            <a:avLst/>
          </a:prstGeom>
          <a:noFill/>
          <a:ln w="31750">
            <a:solidFill>
              <a:srgbClr val="C8414C"/>
            </a:solidFill>
            <a:prstDash val="dash"/>
            <a:tailEnd type="triangle"/>
          </a:ln>
        </p:spPr>
      </p:sp>
      <p:sp>
        <p:nvSpPr>
          <p:cNvPr id="26" name="Shape 24"/>
          <p:cNvSpPr/>
          <p:nvPr/>
        </p:nvSpPr>
        <p:spPr>
          <a:xfrm>
            <a:off x="3035808" y="2542032"/>
            <a:ext cx="365760" cy="365760"/>
          </a:xfrm>
          <a:prstGeom prst="ellipse">
            <a:avLst/>
          </a:prstGeom>
          <a:solidFill>
            <a:srgbClr val="C8414C"/>
          </a:solidFill>
          <a:ln w="12700">
            <a:solidFill>
              <a:srgbClr val="C8414C"/>
            </a:solidFill>
            <a:prstDash val="solid"/>
          </a:ln>
        </p:spPr>
      </p:sp>
      <p:sp>
        <p:nvSpPr>
          <p:cNvPr id="27" name="Text 25"/>
          <p:cNvSpPr/>
          <p:nvPr/>
        </p:nvSpPr>
        <p:spPr>
          <a:xfrm>
            <a:off x="3035808" y="2542032"/>
            <a:ext cx="3657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8" name="Text 26"/>
          <p:cNvSpPr/>
          <p:nvPr/>
        </p:nvSpPr>
        <p:spPr>
          <a:xfrm>
            <a:off x="3474720" y="2331720"/>
            <a:ext cx="2286000" cy="457200"/>
          </a:xfrm>
          <a:prstGeom prst="rect">
            <a:avLst/>
          </a:prstGeom>
          <a:noFill/>
          <a:ln/>
        </p:spPr>
        <p:txBody>
          <a:bodyPr wrap="square" lIns="0" tIns="0" rIns="0" bIns="0" rtlCol="0" anchor="t"/>
          <a:lstStyle/>
          <a:p>
            <a:pPr algn="l" indent="0" marL="0">
              <a:buNone/>
            </a:pPr>
            <a:r>
              <a:rPr lang="en-US" sz="1050" dirty="0">
                <a:solidFill>
                  <a:srgbClr val="C8414C"/>
                </a:solidFill>
                <a:latin typeface="Calibri" pitchFamily="34" charset="0"/>
                <a:ea typeface="Calibri" pitchFamily="34" charset="-122"/>
                <a:cs typeface="Calibri" pitchFamily="34" charset="-120"/>
              </a:rPr>
              <a:t>high thyroxine </a:t>
            </a:r>
            <a:r>
              <a:rPr lang="en-US" sz="1050" b="1" dirty="0">
                <a:solidFill>
                  <a:srgbClr val="C8414C"/>
                </a:solidFill>
                <a:latin typeface="Calibri" pitchFamily="34" charset="0"/>
                <a:ea typeface="Calibri" pitchFamily="34" charset="-122"/>
                <a:cs typeface="Calibri" pitchFamily="34" charset="-120"/>
              </a:rPr>
              <a:t>inhibits</a:t>
            </a:r>
            <a:r>
              <a:rPr lang="en-US" sz="1050" dirty="0">
                <a:solidFill>
                  <a:srgbClr val="C8414C"/>
                </a:solidFill>
                <a:latin typeface="Calibri" pitchFamily="34" charset="0"/>
                <a:ea typeface="Calibri" pitchFamily="34" charset="-122"/>
                <a:cs typeface="Calibri" pitchFamily="34" charset="-120"/>
              </a:rPr>
              <a:t> TSH release</a:t>
            </a:r>
            <a:endParaRPr lang="en-US" sz="1050" dirty="0"/>
          </a:p>
        </p:txBody>
      </p:sp>
      <p:sp>
        <p:nvSpPr>
          <p:cNvPr id="29" name="Text 27"/>
          <p:cNvSpPr/>
          <p:nvPr/>
        </p:nvSpPr>
        <p:spPr>
          <a:xfrm>
            <a:off x="3474720" y="2880360"/>
            <a:ext cx="2286000" cy="457200"/>
          </a:xfrm>
          <a:prstGeom prst="rect">
            <a:avLst/>
          </a:prstGeom>
          <a:noFill/>
          <a:ln/>
        </p:spPr>
        <p:txBody>
          <a:bodyPr wrap="square" lIns="0" tIns="0" rIns="0" bIns="0" rtlCol="0" anchor="t"/>
          <a:lstStyle/>
          <a:p>
            <a:pPr algn="l" indent="0" marL="0">
              <a:buNone/>
            </a:pPr>
            <a:r>
              <a:rPr lang="en-US" sz="1050" dirty="0">
                <a:solidFill>
                  <a:srgbClr val="3B7DD8"/>
                </a:solidFill>
                <a:latin typeface="Calibri" pitchFamily="34" charset="0"/>
                <a:ea typeface="Calibri" pitchFamily="34" charset="-122"/>
                <a:cs typeface="Calibri" pitchFamily="34" charset="-120"/>
              </a:rPr>
              <a:t>low thyroxine: </a:t>
            </a:r>
            <a:r>
              <a:rPr lang="en-US" sz="1050" b="1" dirty="0">
                <a:solidFill>
                  <a:srgbClr val="3B7DD8"/>
                </a:solidFill>
                <a:latin typeface="Calibri" pitchFamily="34" charset="0"/>
                <a:ea typeface="Calibri" pitchFamily="34" charset="-122"/>
                <a:cs typeface="Calibri" pitchFamily="34" charset="-120"/>
              </a:rPr>
              <a:t>more</a:t>
            </a:r>
            <a:r>
              <a:rPr lang="en-US" sz="1050" dirty="0">
                <a:solidFill>
                  <a:srgbClr val="3B7DD8"/>
                </a:solidFill>
                <a:latin typeface="Calibri" pitchFamily="34" charset="0"/>
                <a:ea typeface="Calibri" pitchFamily="34" charset="-122"/>
                <a:cs typeface="Calibri" pitchFamily="34" charset="-120"/>
              </a:rPr>
              <a:t> TSH is released</a:t>
            </a:r>
            <a:endParaRPr lang="en-US" sz="1050" dirty="0"/>
          </a:p>
        </p:txBody>
      </p:sp>
      <p:sp>
        <p:nvSpPr>
          <p:cNvPr id="30" name="Shape 28"/>
          <p:cNvSpPr/>
          <p:nvPr/>
        </p:nvSpPr>
        <p:spPr>
          <a:xfrm>
            <a:off x="6217920" y="1188720"/>
            <a:ext cx="5562295" cy="2514600"/>
          </a:xfrm>
          <a:prstGeom prst="roundRect">
            <a:avLst>
              <a:gd name="adj" fmla="val 2182"/>
            </a:avLst>
          </a:prstGeom>
          <a:solidFill>
            <a:srgbClr val="F4FAF9"/>
          </a:solidFill>
          <a:ln w="9525">
            <a:solidFill>
              <a:srgbClr val="CFE0DE"/>
            </a:solidFill>
            <a:prstDash val="solid"/>
          </a:ln>
        </p:spPr>
      </p:sp>
      <p:sp>
        <p:nvSpPr>
          <p:cNvPr id="31" name="Text 2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Controlling thyroxine</a:t>
            </a:r>
            <a:endParaRPr lang="en-US" sz="1300" dirty="0"/>
          </a:p>
        </p:txBody>
      </p:sp>
      <p:sp>
        <p:nvSpPr>
          <p:cNvPr id="32" name="Text 30"/>
          <p:cNvSpPr/>
          <p:nvPr/>
        </p:nvSpPr>
        <p:spPr>
          <a:xfrm>
            <a:off x="6382512" y="1609344"/>
            <a:ext cx="5233111" cy="2020824"/>
          </a:xfrm>
          <a:prstGeom prst="rect">
            <a:avLst/>
          </a:prstGeom>
          <a:noFill/>
          <a:ln/>
        </p:spPr>
        <p:txBody>
          <a:bodyPr wrap="square" lIns="0" tIns="0" rIns="0" bIns="0" rtlCol="0" anchor="t"/>
          <a:lstStyle/>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Thyroxine</a:t>
            </a:r>
            <a:r>
              <a:rPr lang="en-US" sz="1050" dirty="0">
                <a:solidFill>
                  <a:srgbClr val="262B3A"/>
                </a:solidFill>
                <a:latin typeface="Calibri" pitchFamily="34" charset="0"/>
                <a:ea typeface="Calibri" pitchFamily="34" charset="-122"/>
                <a:cs typeface="Calibri" pitchFamily="34" charset="-120"/>
              </a:rPr>
              <a:t> is made by the </a:t>
            </a:r>
            <a:r>
              <a:rPr lang="en-US" sz="1050" b="1" dirty="0">
                <a:solidFill>
                  <a:srgbClr val="262B3A"/>
                </a:solidFill>
                <a:latin typeface="Calibri" pitchFamily="34" charset="0"/>
                <a:ea typeface="Calibri" pitchFamily="34" charset="-122"/>
                <a:cs typeface="Calibri" pitchFamily="34" charset="-120"/>
              </a:rPr>
              <a:t>thyroid gland</a:t>
            </a:r>
            <a:r>
              <a:rPr lang="en-US" sz="1050" dirty="0">
                <a:solidFill>
                  <a:srgbClr val="262B3A"/>
                </a:solidFill>
                <a:latin typeface="Calibri" pitchFamily="34" charset="0"/>
                <a:ea typeface="Calibri" pitchFamily="34" charset="-122"/>
                <a:cs typeface="Calibri" pitchFamily="34" charset="-120"/>
              </a:rPr>
              <a:t> in the neck.</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It raises the </a:t>
            </a:r>
            <a:r>
              <a:rPr lang="en-US" sz="1050" b="1" dirty="0">
                <a:solidFill>
                  <a:srgbClr val="262B3A"/>
                </a:solidFill>
                <a:latin typeface="Calibri" pitchFamily="34" charset="0"/>
                <a:ea typeface="Calibri" pitchFamily="34" charset="-122"/>
                <a:cs typeface="Calibri" pitchFamily="34" charset="-120"/>
              </a:rPr>
              <a:t>metabolic rate</a:t>
            </a:r>
            <a:r>
              <a:rPr lang="en-US" sz="1050" dirty="0">
                <a:solidFill>
                  <a:srgbClr val="262B3A"/>
                </a:solidFill>
                <a:latin typeface="Calibri" pitchFamily="34" charset="0"/>
                <a:ea typeface="Calibri" pitchFamily="34" charset="-122"/>
                <a:cs typeface="Calibri" pitchFamily="34" charset="-120"/>
              </a:rPr>
              <a:t>: the rate of chemical reactions in cells, e.g. respiration. It is also needed for normal </a:t>
            </a:r>
            <a:r>
              <a:rPr lang="en-US" sz="1050" b="1" dirty="0">
                <a:solidFill>
                  <a:srgbClr val="262B3A"/>
                </a:solidFill>
                <a:latin typeface="Calibri" pitchFamily="34" charset="0"/>
                <a:ea typeface="Calibri" pitchFamily="34" charset="-122"/>
                <a:cs typeface="Calibri" pitchFamily="34" charset="-120"/>
              </a:rPr>
              <a:t>growth</a:t>
            </a:r>
            <a:r>
              <a:rPr lang="en-US" sz="1050" dirty="0">
                <a:solidFill>
                  <a:srgbClr val="262B3A"/>
                </a:solidFill>
                <a:latin typeface="Calibri" pitchFamily="34" charset="0"/>
                <a:ea typeface="Calibri" pitchFamily="34" charset="-122"/>
                <a:cs typeface="Calibri" pitchFamily="34" charset="-120"/>
              </a:rPr>
              <a:t> and development.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The pituitary releases </a:t>
            </a:r>
            <a:r>
              <a:rPr lang="en-US" sz="1050" b="1" dirty="0">
                <a:solidFill>
                  <a:srgbClr val="262B3A"/>
                </a:solidFill>
                <a:latin typeface="Calibri" pitchFamily="34" charset="0"/>
                <a:ea typeface="Calibri" pitchFamily="34" charset="-122"/>
                <a:cs typeface="Calibri" pitchFamily="34" charset="-120"/>
              </a:rPr>
              <a:t>TSH</a:t>
            </a:r>
            <a:r>
              <a:rPr lang="en-US" sz="1050" dirty="0">
                <a:solidFill>
                  <a:srgbClr val="262B3A"/>
                </a:solidFill>
                <a:latin typeface="Calibri" pitchFamily="34" charset="0"/>
                <a:ea typeface="Calibri" pitchFamily="34" charset="-122"/>
                <a:cs typeface="Calibri" pitchFamily="34" charset="-120"/>
              </a:rPr>
              <a:t>, which makes the thyroid release thyroxine.</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If thyroxine is </a:t>
            </a:r>
            <a:r>
              <a:rPr lang="en-US" sz="1050" b="1" dirty="0">
                <a:solidFill>
                  <a:srgbClr val="262B3A"/>
                </a:solidFill>
                <a:latin typeface="Calibri" pitchFamily="34" charset="0"/>
                <a:ea typeface="Calibri" pitchFamily="34" charset="-122"/>
                <a:cs typeface="Calibri" pitchFamily="34" charset="-120"/>
              </a:rPr>
              <a:t>too high</a:t>
            </a:r>
            <a:r>
              <a:rPr lang="en-US" sz="1050" dirty="0">
                <a:solidFill>
                  <a:srgbClr val="262B3A"/>
                </a:solidFill>
                <a:latin typeface="Calibri" pitchFamily="34" charset="0"/>
                <a:ea typeface="Calibri" pitchFamily="34" charset="-122"/>
                <a:cs typeface="Calibri" pitchFamily="34" charset="-120"/>
              </a:rPr>
              <a:t>, TSH release is </a:t>
            </a:r>
            <a:r>
              <a:rPr lang="en-US" sz="1050" b="1" dirty="0">
                <a:solidFill>
                  <a:srgbClr val="262B3A"/>
                </a:solidFill>
                <a:latin typeface="Calibri" pitchFamily="34" charset="0"/>
                <a:ea typeface="Calibri" pitchFamily="34" charset="-122"/>
                <a:cs typeface="Calibri" pitchFamily="34" charset="-120"/>
              </a:rPr>
              <a:t>inhibited</a:t>
            </a:r>
            <a:r>
              <a:rPr lang="en-US" sz="1050" dirty="0">
                <a:solidFill>
                  <a:srgbClr val="262B3A"/>
                </a:solidFill>
                <a:latin typeface="Calibri" pitchFamily="34" charset="0"/>
                <a:ea typeface="Calibri" pitchFamily="34" charset="-122"/>
                <a:cs typeface="Calibri" pitchFamily="34" charset="-120"/>
              </a:rPr>
              <a:t>, so less thyroxine is made.</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If thyroxine is </a:t>
            </a:r>
            <a:r>
              <a:rPr lang="en-US" sz="1050" b="1" dirty="0">
                <a:solidFill>
                  <a:srgbClr val="262B3A"/>
                </a:solidFill>
                <a:latin typeface="Calibri" pitchFamily="34" charset="0"/>
                <a:ea typeface="Calibri" pitchFamily="34" charset="-122"/>
                <a:cs typeface="Calibri" pitchFamily="34" charset="-120"/>
              </a:rPr>
              <a:t>too low</a:t>
            </a:r>
            <a:r>
              <a:rPr lang="en-US" sz="1050" dirty="0">
                <a:solidFill>
                  <a:srgbClr val="262B3A"/>
                </a:solidFill>
                <a:latin typeface="Calibri" pitchFamily="34" charset="0"/>
                <a:ea typeface="Calibri" pitchFamily="34" charset="-122"/>
                <a:cs typeface="Calibri" pitchFamily="34" charset="-120"/>
              </a:rPr>
              <a:t>, </a:t>
            </a:r>
            <a:r>
              <a:rPr lang="en-US" sz="1050" b="1" dirty="0">
                <a:solidFill>
                  <a:srgbClr val="262B3A"/>
                </a:solidFill>
                <a:latin typeface="Calibri" pitchFamily="34" charset="0"/>
                <a:ea typeface="Calibri" pitchFamily="34" charset="-122"/>
                <a:cs typeface="Calibri" pitchFamily="34" charset="-120"/>
              </a:rPr>
              <a:t>more</a:t>
            </a:r>
            <a:r>
              <a:rPr lang="en-US" sz="1050" dirty="0">
                <a:solidFill>
                  <a:srgbClr val="262B3A"/>
                </a:solidFill>
                <a:latin typeface="Calibri" pitchFamily="34" charset="0"/>
                <a:ea typeface="Calibri" pitchFamily="34" charset="-122"/>
                <a:cs typeface="Calibri" pitchFamily="34" charset="-120"/>
              </a:rPr>
              <a:t> TSH is released, so more thyroxine is made.</a:t>
            </a:r>
            <a:endParaRPr lang="en-US" sz="1050" dirty="0"/>
          </a:p>
        </p:txBody>
      </p:sp>
      <p:sp>
        <p:nvSpPr>
          <p:cNvPr id="33" name="Shape 31"/>
          <p:cNvSpPr/>
          <p:nvPr/>
        </p:nvSpPr>
        <p:spPr>
          <a:xfrm>
            <a:off x="6217920" y="3840480"/>
            <a:ext cx="5562295" cy="1874520"/>
          </a:xfrm>
          <a:prstGeom prst="roundRect">
            <a:avLst>
              <a:gd name="adj" fmla="val 2927"/>
            </a:avLst>
          </a:prstGeom>
          <a:solidFill>
            <a:srgbClr val="FFF4E0"/>
          </a:solidFill>
          <a:ln w="9525">
            <a:solidFill>
              <a:srgbClr val="F1D9A8"/>
            </a:solidFill>
            <a:prstDash val="solid"/>
          </a:ln>
        </p:spPr>
      </p:sp>
      <p:sp>
        <p:nvSpPr>
          <p:cNvPr id="34" name="Text 32"/>
          <p:cNvSpPr/>
          <p:nvPr/>
        </p:nvSpPr>
        <p:spPr>
          <a:xfrm>
            <a:off x="6382512" y="39136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too much thyroxine</a:t>
            </a:r>
            <a:endParaRPr lang="en-US" sz="1300" dirty="0"/>
          </a:p>
        </p:txBody>
      </p:sp>
      <p:sp>
        <p:nvSpPr>
          <p:cNvPr id="35" name="Text 33"/>
          <p:cNvSpPr/>
          <p:nvPr/>
        </p:nvSpPr>
        <p:spPr>
          <a:xfrm>
            <a:off x="6382512" y="4224528"/>
            <a:ext cx="5233111" cy="14173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Thyroxine in the blood rises above normal. Describe how it is returned to normal.</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Detect   </a:t>
            </a:r>
            <a:r>
              <a:rPr lang="en-US" sz="1050" dirty="0">
                <a:solidFill>
                  <a:srgbClr val="262B3A"/>
                </a:solidFill>
                <a:latin typeface="Calibri" pitchFamily="34" charset="0"/>
                <a:ea typeface="Calibri" pitchFamily="34" charset="-122"/>
                <a:cs typeface="Calibri" pitchFamily="34" charset="-120"/>
              </a:rPr>
              <a:t>the high thyroxine level is detected (pituitary)</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TSH   </a:t>
            </a:r>
            <a:r>
              <a:rPr lang="en-US" sz="1050" dirty="0">
                <a:solidFill>
                  <a:srgbClr val="262B3A"/>
                </a:solidFill>
                <a:latin typeface="Calibri" pitchFamily="34" charset="0"/>
                <a:ea typeface="Calibri" pitchFamily="34" charset="-122"/>
                <a:cs typeface="Calibri" pitchFamily="34" charset="-120"/>
              </a:rPr>
              <a:t>less TSH is released into the blood</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Thyroid   </a:t>
            </a:r>
            <a:r>
              <a:rPr lang="en-US" sz="1050" dirty="0">
                <a:solidFill>
                  <a:srgbClr val="262B3A"/>
                </a:solidFill>
                <a:latin typeface="Calibri" pitchFamily="34" charset="0"/>
                <a:ea typeface="Calibri" pitchFamily="34" charset="-122"/>
                <a:cs typeface="Calibri" pitchFamily="34" charset="-120"/>
              </a:rPr>
              <a:t>the thyroid is stimulated less, so releases less thyroxine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thyroxine falls back to normal: negative feedback</a:t>
            </a:r>
            <a:endParaRPr lang="en-US" sz="1050" dirty="0"/>
          </a:p>
        </p:txBody>
      </p:sp>
      <p:sp>
        <p:nvSpPr>
          <p:cNvPr id="36" name="Shape 34"/>
          <p:cNvSpPr/>
          <p:nvPr/>
        </p:nvSpPr>
        <p:spPr>
          <a:xfrm>
            <a:off x="411480" y="5833872"/>
            <a:ext cx="11368735" cy="530352"/>
          </a:xfrm>
          <a:prstGeom prst="rect">
            <a:avLst/>
          </a:prstGeom>
          <a:solidFill>
            <a:srgbClr val="FFF4E0"/>
          </a:solidFill>
          <a:ln w="6350">
            <a:solidFill>
              <a:srgbClr val="F1D9A8"/>
            </a:solidFill>
            <a:prstDash val="solid"/>
          </a:ln>
        </p:spPr>
      </p:sp>
      <p:sp>
        <p:nvSpPr>
          <p:cNvPr id="37" name="Shape 35"/>
          <p:cNvSpPr/>
          <p:nvPr/>
        </p:nvSpPr>
        <p:spPr>
          <a:xfrm>
            <a:off x="411480" y="5833872"/>
            <a:ext cx="82296" cy="530352"/>
          </a:xfrm>
          <a:prstGeom prst="rect">
            <a:avLst/>
          </a:prstGeom>
          <a:solidFill>
            <a:srgbClr val="E39A2F"/>
          </a:solidFill>
          <a:ln w="12700">
            <a:solidFill>
              <a:srgbClr val="E39A2F"/>
            </a:solidFill>
            <a:prstDash val="solid"/>
          </a:ln>
        </p:spPr>
      </p:sp>
      <p:sp>
        <p:nvSpPr>
          <p:cNvPr id="38" name="Text 3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Thyroxine falls </a:t>
            </a:r>
            <a:r>
              <a:rPr lang="en-US" sz="1150" b="1" dirty="0">
                <a:solidFill>
                  <a:srgbClr val="262B3A"/>
                </a:solidFill>
                <a:latin typeface="Calibri" pitchFamily="34" charset="0"/>
                <a:ea typeface="Calibri" pitchFamily="34" charset="-122"/>
                <a:cs typeface="Calibri" pitchFamily="34" charset="-120"/>
              </a:rPr>
              <a:t>below</a:t>
            </a:r>
            <a:r>
              <a:rPr lang="en-US" sz="1150" dirty="0">
                <a:solidFill>
                  <a:srgbClr val="262B3A"/>
                </a:solidFill>
                <a:latin typeface="Calibri" pitchFamily="34" charset="0"/>
                <a:ea typeface="Calibri" pitchFamily="34" charset="-122"/>
                <a:cs typeface="Calibri" pitchFamily="34" charset="-120"/>
              </a:rPr>
              <a:t> normal. Describe the changes in </a:t>
            </a:r>
            <a:r>
              <a:rPr lang="en-US" sz="1150" b="1" dirty="0">
                <a:solidFill>
                  <a:srgbClr val="262B3A"/>
                </a:solidFill>
                <a:latin typeface="Calibri" pitchFamily="34" charset="0"/>
                <a:ea typeface="Calibri" pitchFamily="34" charset="-122"/>
                <a:cs typeface="Calibri" pitchFamily="34" charset="-120"/>
              </a:rPr>
              <a:t>TSH</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thyroxine</a:t>
            </a:r>
            <a:r>
              <a:rPr lang="en-US" sz="1150" dirty="0">
                <a:solidFill>
                  <a:srgbClr val="262B3A"/>
                </a:solidFill>
                <a:latin typeface="Calibri" pitchFamily="34" charset="0"/>
                <a:ea typeface="Calibri" pitchFamily="34" charset="-122"/>
                <a:cs typeface="Calibri" pitchFamily="34" charset="-120"/>
              </a:rPr>
              <a:t> that follow.</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Thyroxine and TSH over time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B5.3.2 • reading a feedback graph; adrenaline and thyroxine compared</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B5.3 How do hormones control responses in the human body?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B5.3.2  |  16</a:t>
            </a:r>
            <a:endParaRPr lang="en-US" sz="1000" dirty="0"/>
          </a:p>
        </p:txBody>
      </p:sp>
      <p:sp>
        <p:nvSpPr>
          <p:cNvPr id="10" name="Shape 8"/>
          <p:cNvSpPr/>
          <p:nvPr/>
        </p:nvSpPr>
        <p:spPr>
          <a:xfrm>
            <a:off x="411480" y="1188720"/>
            <a:ext cx="585216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57784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model graph; arbitrary units; the TSH change follows the thyroxine change</a:t>
            </a:r>
            <a:endParaRPr lang="en-US" sz="1000" dirty="0"/>
          </a:p>
        </p:txBody>
      </p:sp>
      <p:sp>
        <p:nvSpPr>
          <p:cNvPr id="12" name="Shape 10"/>
          <p:cNvSpPr/>
          <p:nvPr/>
        </p:nvSpPr>
        <p:spPr>
          <a:xfrm>
            <a:off x="1280160" y="1463040"/>
            <a:ext cx="4709160" cy="3246120"/>
          </a:xfrm>
          <a:prstGeom prst="rect">
            <a:avLst/>
          </a:prstGeom>
          <a:solidFill>
            <a:srgbClr val="FFFFFF"/>
          </a:solidFill>
          <a:ln/>
        </p:spPr>
      </p:sp>
      <p:sp>
        <p:nvSpPr>
          <p:cNvPr id="13" name="Shape 11"/>
          <p:cNvSpPr/>
          <p:nvPr/>
        </p:nvSpPr>
        <p:spPr>
          <a:xfrm>
            <a:off x="1280160" y="1463040"/>
            <a:ext cx="91" cy="3246120"/>
          </a:xfrm>
          <a:prstGeom prst="line">
            <a:avLst/>
          </a:prstGeom>
          <a:noFill/>
          <a:ln w="6350">
            <a:solidFill>
              <a:srgbClr val="C5DCD9"/>
            </a:solidFill>
            <a:prstDash val="solid"/>
          </a:ln>
        </p:spPr>
      </p:sp>
      <p:sp>
        <p:nvSpPr>
          <p:cNvPr id="14" name="Shape 12"/>
          <p:cNvSpPr/>
          <p:nvPr/>
        </p:nvSpPr>
        <p:spPr>
          <a:xfrm>
            <a:off x="2065020" y="1463040"/>
            <a:ext cx="91" cy="3246120"/>
          </a:xfrm>
          <a:prstGeom prst="line">
            <a:avLst/>
          </a:prstGeom>
          <a:noFill/>
          <a:ln w="6350">
            <a:solidFill>
              <a:srgbClr val="C5DCD9"/>
            </a:solidFill>
            <a:prstDash val="solid"/>
          </a:ln>
        </p:spPr>
      </p:sp>
      <p:sp>
        <p:nvSpPr>
          <p:cNvPr id="15" name="Shape 13"/>
          <p:cNvSpPr/>
          <p:nvPr/>
        </p:nvSpPr>
        <p:spPr>
          <a:xfrm>
            <a:off x="2849880" y="1463040"/>
            <a:ext cx="91" cy="3246120"/>
          </a:xfrm>
          <a:prstGeom prst="line">
            <a:avLst/>
          </a:prstGeom>
          <a:noFill/>
          <a:ln w="6350">
            <a:solidFill>
              <a:srgbClr val="C5DCD9"/>
            </a:solidFill>
            <a:prstDash val="solid"/>
          </a:ln>
        </p:spPr>
      </p:sp>
      <p:sp>
        <p:nvSpPr>
          <p:cNvPr id="16" name="Shape 14"/>
          <p:cNvSpPr/>
          <p:nvPr/>
        </p:nvSpPr>
        <p:spPr>
          <a:xfrm>
            <a:off x="3634740" y="1463040"/>
            <a:ext cx="91" cy="3246120"/>
          </a:xfrm>
          <a:prstGeom prst="line">
            <a:avLst/>
          </a:prstGeom>
          <a:noFill/>
          <a:ln w="6350">
            <a:solidFill>
              <a:srgbClr val="C5DCD9"/>
            </a:solidFill>
            <a:prstDash val="solid"/>
          </a:ln>
        </p:spPr>
      </p:sp>
      <p:sp>
        <p:nvSpPr>
          <p:cNvPr id="17" name="Shape 15"/>
          <p:cNvSpPr/>
          <p:nvPr/>
        </p:nvSpPr>
        <p:spPr>
          <a:xfrm>
            <a:off x="4419600" y="1463040"/>
            <a:ext cx="91" cy="3246120"/>
          </a:xfrm>
          <a:prstGeom prst="line">
            <a:avLst/>
          </a:prstGeom>
          <a:noFill/>
          <a:ln w="6350">
            <a:solidFill>
              <a:srgbClr val="C5DCD9"/>
            </a:solidFill>
            <a:prstDash val="solid"/>
          </a:ln>
        </p:spPr>
      </p:sp>
      <p:sp>
        <p:nvSpPr>
          <p:cNvPr id="18" name="Shape 16"/>
          <p:cNvSpPr/>
          <p:nvPr/>
        </p:nvSpPr>
        <p:spPr>
          <a:xfrm>
            <a:off x="5204460" y="1463040"/>
            <a:ext cx="91" cy="3246120"/>
          </a:xfrm>
          <a:prstGeom prst="line">
            <a:avLst/>
          </a:prstGeom>
          <a:noFill/>
          <a:ln w="6350">
            <a:solidFill>
              <a:srgbClr val="C5DCD9"/>
            </a:solidFill>
            <a:prstDash val="solid"/>
          </a:ln>
        </p:spPr>
      </p:sp>
      <p:sp>
        <p:nvSpPr>
          <p:cNvPr id="19" name="Shape 17"/>
          <p:cNvSpPr/>
          <p:nvPr/>
        </p:nvSpPr>
        <p:spPr>
          <a:xfrm>
            <a:off x="5989320" y="1463040"/>
            <a:ext cx="91" cy="3246120"/>
          </a:xfrm>
          <a:prstGeom prst="line">
            <a:avLst/>
          </a:prstGeom>
          <a:noFill/>
          <a:ln w="6350">
            <a:solidFill>
              <a:srgbClr val="C5DCD9"/>
            </a:solidFill>
            <a:prstDash val="solid"/>
          </a:ln>
        </p:spPr>
      </p:sp>
      <p:sp>
        <p:nvSpPr>
          <p:cNvPr id="20" name="Shape 18"/>
          <p:cNvSpPr/>
          <p:nvPr/>
        </p:nvSpPr>
        <p:spPr>
          <a:xfrm>
            <a:off x="1280160" y="4709160"/>
            <a:ext cx="4709160" cy="91"/>
          </a:xfrm>
          <a:prstGeom prst="line">
            <a:avLst/>
          </a:prstGeom>
          <a:noFill/>
          <a:ln w="6350">
            <a:solidFill>
              <a:srgbClr val="C5DCD9"/>
            </a:solidFill>
            <a:prstDash val="solid"/>
          </a:ln>
        </p:spPr>
      </p:sp>
      <p:sp>
        <p:nvSpPr>
          <p:cNvPr id="21" name="Shape 19"/>
          <p:cNvSpPr/>
          <p:nvPr/>
        </p:nvSpPr>
        <p:spPr>
          <a:xfrm>
            <a:off x="1280160" y="4059936"/>
            <a:ext cx="4709160" cy="91"/>
          </a:xfrm>
          <a:prstGeom prst="line">
            <a:avLst/>
          </a:prstGeom>
          <a:noFill/>
          <a:ln w="6350">
            <a:solidFill>
              <a:srgbClr val="C5DCD9"/>
            </a:solidFill>
            <a:prstDash val="solid"/>
          </a:ln>
        </p:spPr>
      </p:sp>
      <p:sp>
        <p:nvSpPr>
          <p:cNvPr id="22" name="Shape 20"/>
          <p:cNvSpPr/>
          <p:nvPr/>
        </p:nvSpPr>
        <p:spPr>
          <a:xfrm>
            <a:off x="1280160" y="3410712"/>
            <a:ext cx="4709160" cy="91"/>
          </a:xfrm>
          <a:prstGeom prst="line">
            <a:avLst/>
          </a:prstGeom>
          <a:noFill/>
          <a:ln w="6350">
            <a:solidFill>
              <a:srgbClr val="C5DCD9"/>
            </a:solidFill>
            <a:prstDash val="solid"/>
          </a:ln>
        </p:spPr>
      </p:sp>
      <p:sp>
        <p:nvSpPr>
          <p:cNvPr id="23" name="Shape 21"/>
          <p:cNvSpPr/>
          <p:nvPr/>
        </p:nvSpPr>
        <p:spPr>
          <a:xfrm>
            <a:off x="1280160" y="2761488"/>
            <a:ext cx="4709160" cy="91"/>
          </a:xfrm>
          <a:prstGeom prst="line">
            <a:avLst/>
          </a:prstGeom>
          <a:noFill/>
          <a:ln w="6350">
            <a:solidFill>
              <a:srgbClr val="C5DCD9"/>
            </a:solidFill>
            <a:prstDash val="solid"/>
          </a:ln>
        </p:spPr>
      </p:sp>
      <p:sp>
        <p:nvSpPr>
          <p:cNvPr id="24" name="Shape 22"/>
          <p:cNvSpPr/>
          <p:nvPr/>
        </p:nvSpPr>
        <p:spPr>
          <a:xfrm>
            <a:off x="1280160" y="2112264"/>
            <a:ext cx="4709160" cy="91"/>
          </a:xfrm>
          <a:prstGeom prst="line">
            <a:avLst/>
          </a:prstGeom>
          <a:noFill/>
          <a:ln w="6350">
            <a:solidFill>
              <a:srgbClr val="C5DCD9"/>
            </a:solidFill>
            <a:prstDash val="solid"/>
          </a:ln>
        </p:spPr>
      </p:sp>
      <p:sp>
        <p:nvSpPr>
          <p:cNvPr id="25" name="Shape 23"/>
          <p:cNvSpPr/>
          <p:nvPr/>
        </p:nvSpPr>
        <p:spPr>
          <a:xfrm>
            <a:off x="1280160" y="1463040"/>
            <a:ext cx="4709160" cy="91"/>
          </a:xfrm>
          <a:prstGeom prst="line">
            <a:avLst/>
          </a:prstGeom>
          <a:noFill/>
          <a:ln w="6350">
            <a:solidFill>
              <a:srgbClr val="C5DCD9"/>
            </a:solidFill>
            <a:prstDash val="solid"/>
          </a:ln>
        </p:spPr>
      </p:sp>
      <p:sp>
        <p:nvSpPr>
          <p:cNvPr id="26" name="Shape 24"/>
          <p:cNvSpPr/>
          <p:nvPr/>
        </p:nvSpPr>
        <p:spPr>
          <a:xfrm>
            <a:off x="1280160" y="4709160"/>
            <a:ext cx="4709160" cy="91"/>
          </a:xfrm>
          <a:prstGeom prst="line">
            <a:avLst/>
          </a:prstGeom>
          <a:noFill/>
          <a:ln w="19050">
            <a:solidFill>
              <a:srgbClr val="133536"/>
            </a:solidFill>
            <a:prstDash val="solid"/>
          </a:ln>
        </p:spPr>
      </p:sp>
      <p:sp>
        <p:nvSpPr>
          <p:cNvPr id="27" name="Shape 25"/>
          <p:cNvSpPr/>
          <p:nvPr/>
        </p:nvSpPr>
        <p:spPr>
          <a:xfrm flipV="1">
            <a:off x="1280160" y="1463040"/>
            <a:ext cx="91" cy="3246120"/>
          </a:xfrm>
          <a:prstGeom prst="line">
            <a:avLst/>
          </a:prstGeom>
          <a:noFill/>
          <a:ln w="19050">
            <a:solidFill>
              <a:srgbClr val="133536"/>
            </a:solidFill>
            <a:prstDash val="solid"/>
          </a:ln>
        </p:spPr>
      </p:sp>
      <p:sp>
        <p:nvSpPr>
          <p:cNvPr id="28" name="Shape 26"/>
          <p:cNvSpPr/>
          <p:nvPr/>
        </p:nvSpPr>
        <p:spPr>
          <a:xfrm>
            <a:off x="1280160" y="4709160"/>
            <a:ext cx="91" cy="54864"/>
          </a:xfrm>
          <a:prstGeom prst="line">
            <a:avLst/>
          </a:prstGeom>
          <a:noFill/>
          <a:ln w="12700">
            <a:solidFill>
              <a:srgbClr val="133536"/>
            </a:solidFill>
            <a:prstDash val="solid"/>
          </a:ln>
        </p:spPr>
      </p:sp>
      <p:sp>
        <p:nvSpPr>
          <p:cNvPr id="29" name="Text 27"/>
          <p:cNvSpPr/>
          <p:nvPr/>
        </p:nvSpPr>
        <p:spPr>
          <a:xfrm>
            <a:off x="100584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30" name="Shape 28"/>
          <p:cNvSpPr/>
          <p:nvPr/>
        </p:nvSpPr>
        <p:spPr>
          <a:xfrm>
            <a:off x="2065020" y="4709160"/>
            <a:ext cx="91" cy="54864"/>
          </a:xfrm>
          <a:prstGeom prst="line">
            <a:avLst/>
          </a:prstGeom>
          <a:noFill/>
          <a:ln w="12700">
            <a:solidFill>
              <a:srgbClr val="133536"/>
            </a:solidFill>
            <a:prstDash val="solid"/>
          </a:ln>
        </p:spPr>
      </p:sp>
      <p:sp>
        <p:nvSpPr>
          <p:cNvPr id="31" name="Text 29"/>
          <p:cNvSpPr/>
          <p:nvPr/>
        </p:nvSpPr>
        <p:spPr>
          <a:xfrm>
            <a:off x="179070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32" name="Shape 30"/>
          <p:cNvSpPr/>
          <p:nvPr/>
        </p:nvSpPr>
        <p:spPr>
          <a:xfrm>
            <a:off x="2849880" y="4709160"/>
            <a:ext cx="91" cy="54864"/>
          </a:xfrm>
          <a:prstGeom prst="line">
            <a:avLst/>
          </a:prstGeom>
          <a:noFill/>
          <a:ln w="12700">
            <a:solidFill>
              <a:srgbClr val="133536"/>
            </a:solidFill>
            <a:prstDash val="solid"/>
          </a:ln>
        </p:spPr>
      </p:sp>
      <p:sp>
        <p:nvSpPr>
          <p:cNvPr id="33" name="Text 31"/>
          <p:cNvSpPr/>
          <p:nvPr/>
        </p:nvSpPr>
        <p:spPr>
          <a:xfrm>
            <a:off x="25755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34" name="Shape 32"/>
          <p:cNvSpPr/>
          <p:nvPr/>
        </p:nvSpPr>
        <p:spPr>
          <a:xfrm>
            <a:off x="3634740" y="4709160"/>
            <a:ext cx="91" cy="54864"/>
          </a:xfrm>
          <a:prstGeom prst="line">
            <a:avLst/>
          </a:prstGeom>
          <a:noFill/>
          <a:ln w="12700">
            <a:solidFill>
              <a:srgbClr val="133536"/>
            </a:solidFill>
            <a:prstDash val="solid"/>
          </a:ln>
        </p:spPr>
      </p:sp>
      <p:sp>
        <p:nvSpPr>
          <p:cNvPr id="35" name="Text 33"/>
          <p:cNvSpPr/>
          <p:nvPr/>
        </p:nvSpPr>
        <p:spPr>
          <a:xfrm>
            <a:off x="336042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36" name="Shape 34"/>
          <p:cNvSpPr/>
          <p:nvPr/>
        </p:nvSpPr>
        <p:spPr>
          <a:xfrm>
            <a:off x="4419600" y="4709160"/>
            <a:ext cx="91" cy="54864"/>
          </a:xfrm>
          <a:prstGeom prst="line">
            <a:avLst/>
          </a:prstGeom>
          <a:noFill/>
          <a:ln w="12700">
            <a:solidFill>
              <a:srgbClr val="133536"/>
            </a:solidFill>
            <a:prstDash val="solid"/>
          </a:ln>
        </p:spPr>
      </p:sp>
      <p:sp>
        <p:nvSpPr>
          <p:cNvPr id="37" name="Text 35"/>
          <p:cNvSpPr/>
          <p:nvPr/>
        </p:nvSpPr>
        <p:spPr>
          <a:xfrm>
            <a:off x="414528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16</a:t>
            </a:r>
            <a:endParaRPr lang="en-US" sz="1000" dirty="0"/>
          </a:p>
        </p:txBody>
      </p:sp>
      <p:sp>
        <p:nvSpPr>
          <p:cNvPr id="38" name="Shape 36"/>
          <p:cNvSpPr/>
          <p:nvPr/>
        </p:nvSpPr>
        <p:spPr>
          <a:xfrm>
            <a:off x="5204460" y="4709160"/>
            <a:ext cx="91" cy="54864"/>
          </a:xfrm>
          <a:prstGeom prst="line">
            <a:avLst/>
          </a:prstGeom>
          <a:noFill/>
          <a:ln w="12700">
            <a:solidFill>
              <a:srgbClr val="133536"/>
            </a:solidFill>
            <a:prstDash val="solid"/>
          </a:ln>
        </p:spPr>
      </p:sp>
      <p:sp>
        <p:nvSpPr>
          <p:cNvPr id="39" name="Text 37"/>
          <p:cNvSpPr/>
          <p:nvPr/>
        </p:nvSpPr>
        <p:spPr>
          <a:xfrm>
            <a:off x="493014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40" name="Shape 38"/>
          <p:cNvSpPr/>
          <p:nvPr/>
        </p:nvSpPr>
        <p:spPr>
          <a:xfrm>
            <a:off x="5989320" y="4709160"/>
            <a:ext cx="91" cy="54864"/>
          </a:xfrm>
          <a:prstGeom prst="line">
            <a:avLst/>
          </a:prstGeom>
          <a:noFill/>
          <a:ln w="12700">
            <a:solidFill>
              <a:srgbClr val="133536"/>
            </a:solidFill>
            <a:prstDash val="solid"/>
          </a:ln>
        </p:spPr>
      </p:sp>
      <p:sp>
        <p:nvSpPr>
          <p:cNvPr id="41" name="Text 39"/>
          <p:cNvSpPr/>
          <p:nvPr/>
        </p:nvSpPr>
        <p:spPr>
          <a:xfrm>
            <a:off x="571500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24</a:t>
            </a:r>
            <a:endParaRPr lang="en-US" sz="1000" dirty="0"/>
          </a:p>
        </p:txBody>
      </p:sp>
      <p:sp>
        <p:nvSpPr>
          <p:cNvPr id="42" name="Shape 40"/>
          <p:cNvSpPr/>
          <p:nvPr/>
        </p:nvSpPr>
        <p:spPr>
          <a:xfrm>
            <a:off x="1225296" y="4709160"/>
            <a:ext cx="54864" cy="91"/>
          </a:xfrm>
          <a:prstGeom prst="line">
            <a:avLst/>
          </a:prstGeom>
          <a:noFill/>
          <a:ln w="12700">
            <a:solidFill>
              <a:srgbClr val="133536"/>
            </a:solidFill>
            <a:prstDash val="solid"/>
          </a:ln>
        </p:spPr>
      </p:sp>
      <p:sp>
        <p:nvSpPr>
          <p:cNvPr id="43" name="Text 41"/>
          <p:cNvSpPr/>
          <p:nvPr/>
        </p:nvSpPr>
        <p:spPr>
          <a:xfrm>
            <a:off x="841248" y="46177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4" name="Shape 42"/>
          <p:cNvSpPr/>
          <p:nvPr/>
        </p:nvSpPr>
        <p:spPr>
          <a:xfrm>
            <a:off x="1225296" y="4059936"/>
            <a:ext cx="54864" cy="91"/>
          </a:xfrm>
          <a:prstGeom prst="line">
            <a:avLst/>
          </a:prstGeom>
          <a:noFill/>
          <a:ln w="12700">
            <a:solidFill>
              <a:srgbClr val="133536"/>
            </a:solidFill>
            <a:prstDash val="solid"/>
          </a:ln>
        </p:spPr>
      </p:sp>
      <p:sp>
        <p:nvSpPr>
          <p:cNvPr id="45" name="Text 43"/>
          <p:cNvSpPr/>
          <p:nvPr/>
        </p:nvSpPr>
        <p:spPr>
          <a:xfrm>
            <a:off x="841248" y="396849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46" name="Shape 44"/>
          <p:cNvSpPr/>
          <p:nvPr/>
        </p:nvSpPr>
        <p:spPr>
          <a:xfrm>
            <a:off x="1225296" y="3410712"/>
            <a:ext cx="54864" cy="91"/>
          </a:xfrm>
          <a:prstGeom prst="line">
            <a:avLst/>
          </a:prstGeom>
          <a:noFill/>
          <a:ln w="12700">
            <a:solidFill>
              <a:srgbClr val="133536"/>
            </a:solidFill>
            <a:prstDash val="solid"/>
          </a:ln>
        </p:spPr>
      </p:sp>
      <p:sp>
        <p:nvSpPr>
          <p:cNvPr id="47" name="Text 45"/>
          <p:cNvSpPr/>
          <p:nvPr/>
        </p:nvSpPr>
        <p:spPr>
          <a:xfrm>
            <a:off x="841248" y="331927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48" name="Shape 46"/>
          <p:cNvSpPr/>
          <p:nvPr/>
        </p:nvSpPr>
        <p:spPr>
          <a:xfrm>
            <a:off x="1225296" y="2761488"/>
            <a:ext cx="54864" cy="91"/>
          </a:xfrm>
          <a:prstGeom prst="line">
            <a:avLst/>
          </a:prstGeom>
          <a:noFill/>
          <a:ln w="12700">
            <a:solidFill>
              <a:srgbClr val="133536"/>
            </a:solidFill>
            <a:prstDash val="solid"/>
          </a:ln>
        </p:spPr>
      </p:sp>
      <p:sp>
        <p:nvSpPr>
          <p:cNvPr id="49" name="Text 47"/>
          <p:cNvSpPr/>
          <p:nvPr/>
        </p:nvSpPr>
        <p:spPr>
          <a:xfrm>
            <a:off x="841248" y="267004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50" name="Shape 48"/>
          <p:cNvSpPr/>
          <p:nvPr/>
        </p:nvSpPr>
        <p:spPr>
          <a:xfrm>
            <a:off x="1225296" y="2112264"/>
            <a:ext cx="54864" cy="91"/>
          </a:xfrm>
          <a:prstGeom prst="line">
            <a:avLst/>
          </a:prstGeom>
          <a:noFill/>
          <a:ln w="12700">
            <a:solidFill>
              <a:srgbClr val="133536"/>
            </a:solidFill>
            <a:prstDash val="solid"/>
          </a:ln>
        </p:spPr>
      </p:sp>
      <p:sp>
        <p:nvSpPr>
          <p:cNvPr id="51" name="Text 49"/>
          <p:cNvSpPr/>
          <p:nvPr/>
        </p:nvSpPr>
        <p:spPr>
          <a:xfrm>
            <a:off x="841248" y="202082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52" name="Shape 50"/>
          <p:cNvSpPr/>
          <p:nvPr/>
        </p:nvSpPr>
        <p:spPr>
          <a:xfrm>
            <a:off x="1225296" y="1463040"/>
            <a:ext cx="54864" cy="91"/>
          </a:xfrm>
          <a:prstGeom prst="line">
            <a:avLst/>
          </a:prstGeom>
          <a:noFill/>
          <a:ln w="12700">
            <a:solidFill>
              <a:srgbClr val="133536"/>
            </a:solidFill>
            <a:prstDash val="solid"/>
          </a:ln>
        </p:spPr>
      </p:sp>
      <p:sp>
        <p:nvSpPr>
          <p:cNvPr id="53" name="Text 51"/>
          <p:cNvSpPr/>
          <p:nvPr/>
        </p:nvSpPr>
        <p:spPr>
          <a:xfrm>
            <a:off x="841248" y="13716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54" name="Text 52"/>
          <p:cNvSpPr/>
          <p:nvPr/>
        </p:nvSpPr>
        <p:spPr>
          <a:xfrm>
            <a:off x="1280160" y="4956048"/>
            <a:ext cx="47091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 arbitrary units</a:t>
            </a:r>
            <a:endParaRPr lang="en-US" sz="1050" dirty="0"/>
          </a:p>
        </p:txBody>
      </p:sp>
      <p:sp>
        <p:nvSpPr>
          <p:cNvPr id="55" name="Text 53"/>
          <p:cNvSpPr/>
          <p:nvPr/>
        </p:nvSpPr>
        <p:spPr>
          <a:xfrm rot="16200000">
            <a:off x="-909828" y="2958084"/>
            <a:ext cx="3246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level / arbitrary units</a:t>
            </a:r>
            <a:endParaRPr lang="en-US" sz="1050" dirty="0"/>
          </a:p>
        </p:txBody>
      </p:sp>
      <p:sp>
        <p:nvSpPr>
          <p:cNvPr id="56" name="Shape 54"/>
          <p:cNvSpPr/>
          <p:nvPr/>
        </p:nvSpPr>
        <p:spPr>
          <a:xfrm>
            <a:off x="1280160" y="2761488"/>
            <a:ext cx="4709160" cy="649224"/>
          </a:xfrm>
          <a:prstGeom prst="rect">
            <a:avLst/>
          </a:prstGeom>
          <a:solidFill>
            <a:srgbClr val="2E8B57">
              <a:alpha val="18000"/>
            </a:srgbClr>
          </a:solidFill>
          <a:ln/>
        </p:spPr>
      </p:sp>
      <p:sp>
        <p:nvSpPr>
          <p:cNvPr id="57" name="Text 55"/>
          <p:cNvSpPr/>
          <p:nvPr/>
        </p:nvSpPr>
        <p:spPr>
          <a:xfrm>
            <a:off x="4851273" y="2514600"/>
            <a:ext cx="1280160" cy="256032"/>
          </a:xfrm>
          <a:prstGeom prst="rect">
            <a:avLst/>
          </a:prstGeom>
          <a:noFill/>
          <a:ln/>
        </p:spPr>
        <p:txBody>
          <a:bodyPr wrap="square" lIns="0" tIns="0" rIns="0" bIns="0" rtlCol="0" anchor="ctr"/>
          <a:lstStyle/>
          <a:p>
            <a:pPr algn="l" indent="0" marL="0">
              <a:buNone/>
            </a:pPr>
            <a:r>
              <a:rPr lang="en-US" sz="1000" b="1" dirty="0">
                <a:solidFill>
                  <a:srgbClr val="1E6B40"/>
                </a:solidFill>
                <a:latin typeface="Calibri" pitchFamily="34" charset="0"/>
                <a:ea typeface="Calibri" pitchFamily="34" charset="-122"/>
                <a:cs typeface="Calibri" pitchFamily="34" charset="-120"/>
              </a:rPr>
              <a:t>normal range</a:t>
            </a:r>
            <a:endParaRPr lang="en-US" sz="1000" dirty="0"/>
          </a:p>
        </p:txBody>
      </p:sp>
      <p:sp>
        <p:nvSpPr>
          <p:cNvPr id="58" name="Shape 56"/>
          <p:cNvSpPr/>
          <p:nvPr/>
        </p:nvSpPr>
        <p:spPr>
          <a:xfrm flipV="1">
            <a:off x="1280160" y="2933137"/>
            <a:ext cx="58865" cy="152963"/>
          </a:xfrm>
          <a:prstGeom prst="line">
            <a:avLst/>
          </a:prstGeom>
          <a:noFill/>
          <a:ln w="31750">
            <a:solidFill>
              <a:srgbClr val="8E44AD"/>
            </a:solidFill>
            <a:prstDash val="solid"/>
          </a:ln>
        </p:spPr>
      </p:sp>
      <p:sp>
        <p:nvSpPr>
          <p:cNvPr id="59" name="Shape 57"/>
          <p:cNvSpPr/>
          <p:nvPr/>
        </p:nvSpPr>
        <p:spPr>
          <a:xfrm flipV="1">
            <a:off x="1339025" y="2795444"/>
            <a:ext cx="58864" cy="137693"/>
          </a:xfrm>
          <a:prstGeom prst="line">
            <a:avLst/>
          </a:prstGeom>
          <a:noFill/>
          <a:ln w="31750">
            <a:solidFill>
              <a:srgbClr val="8E44AD"/>
            </a:solidFill>
            <a:prstDash val="solid"/>
          </a:ln>
        </p:spPr>
      </p:sp>
      <p:sp>
        <p:nvSpPr>
          <p:cNvPr id="60" name="Shape 58"/>
          <p:cNvSpPr/>
          <p:nvPr/>
        </p:nvSpPr>
        <p:spPr>
          <a:xfrm flipV="1">
            <a:off x="1397889" y="2676903"/>
            <a:ext cx="58865" cy="118541"/>
          </a:xfrm>
          <a:prstGeom prst="line">
            <a:avLst/>
          </a:prstGeom>
          <a:noFill/>
          <a:ln w="31750">
            <a:solidFill>
              <a:srgbClr val="8E44AD"/>
            </a:solidFill>
            <a:prstDash val="solid"/>
          </a:ln>
        </p:spPr>
      </p:sp>
      <p:sp>
        <p:nvSpPr>
          <p:cNvPr id="61" name="Shape 59"/>
          <p:cNvSpPr/>
          <p:nvPr/>
        </p:nvSpPr>
        <p:spPr>
          <a:xfrm flipV="1">
            <a:off x="1456754" y="2580467"/>
            <a:ext cx="58865" cy="96435"/>
          </a:xfrm>
          <a:prstGeom prst="line">
            <a:avLst/>
          </a:prstGeom>
          <a:noFill/>
          <a:ln w="31750">
            <a:solidFill>
              <a:srgbClr val="8E44AD"/>
            </a:solidFill>
            <a:prstDash val="solid"/>
          </a:ln>
        </p:spPr>
      </p:sp>
      <p:sp>
        <p:nvSpPr>
          <p:cNvPr id="62" name="Shape 60"/>
          <p:cNvSpPr/>
          <p:nvPr/>
        </p:nvSpPr>
        <p:spPr>
          <a:xfrm flipV="1">
            <a:off x="1515618" y="2508120"/>
            <a:ext cx="58864" cy="72348"/>
          </a:xfrm>
          <a:prstGeom prst="line">
            <a:avLst/>
          </a:prstGeom>
          <a:noFill/>
          <a:ln w="31750">
            <a:solidFill>
              <a:srgbClr val="8E44AD"/>
            </a:solidFill>
            <a:prstDash val="solid"/>
          </a:ln>
        </p:spPr>
      </p:sp>
      <p:sp>
        <p:nvSpPr>
          <p:cNvPr id="63" name="Shape 61"/>
          <p:cNvSpPr/>
          <p:nvPr/>
        </p:nvSpPr>
        <p:spPr>
          <a:xfrm flipV="1">
            <a:off x="1574482" y="2460863"/>
            <a:ext cx="58865" cy="47256"/>
          </a:xfrm>
          <a:prstGeom prst="line">
            <a:avLst/>
          </a:prstGeom>
          <a:noFill/>
          <a:ln w="31750">
            <a:solidFill>
              <a:srgbClr val="8E44AD"/>
            </a:solidFill>
            <a:prstDash val="solid"/>
          </a:ln>
        </p:spPr>
      </p:sp>
      <p:sp>
        <p:nvSpPr>
          <p:cNvPr id="64" name="Shape 62"/>
          <p:cNvSpPr/>
          <p:nvPr/>
        </p:nvSpPr>
        <p:spPr>
          <a:xfrm flipV="1">
            <a:off x="1633347" y="2438750"/>
            <a:ext cx="58865" cy="22114"/>
          </a:xfrm>
          <a:prstGeom prst="line">
            <a:avLst/>
          </a:prstGeom>
          <a:noFill/>
          <a:ln w="31750">
            <a:solidFill>
              <a:srgbClr val="8E44AD"/>
            </a:solidFill>
            <a:prstDash val="solid"/>
          </a:ln>
        </p:spPr>
      </p:sp>
      <p:sp>
        <p:nvSpPr>
          <p:cNvPr id="65" name="Shape 63"/>
          <p:cNvSpPr/>
          <p:nvPr/>
        </p:nvSpPr>
        <p:spPr>
          <a:xfrm>
            <a:off x="1692212" y="2438750"/>
            <a:ext cx="58865" cy="2189"/>
          </a:xfrm>
          <a:prstGeom prst="line">
            <a:avLst/>
          </a:prstGeom>
          <a:noFill/>
          <a:ln w="31750">
            <a:solidFill>
              <a:srgbClr val="8E44AD"/>
            </a:solidFill>
            <a:prstDash val="solid"/>
          </a:ln>
        </p:spPr>
      </p:sp>
      <p:sp>
        <p:nvSpPr>
          <p:cNvPr id="66" name="Shape 64"/>
          <p:cNvSpPr/>
          <p:nvPr/>
        </p:nvSpPr>
        <p:spPr>
          <a:xfrm>
            <a:off x="1751076" y="2440939"/>
            <a:ext cx="58865" cy="24847"/>
          </a:xfrm>
          <a:prstGeom prst="line">
            <a:avLst/>
          </a:prstGeom>
          <a:noFill/>
          <a:ln w="31750">
            <a:solidFill>
              <a:srgbClr val="8E44AD"/>
            </a:solidFill>
            <a:prstDash val="solid"/>
          </a:ln>
        </p:spPr>
      </p:sp>
      <p:sp>
        <p:nvSpPr>
          <p:cNvPr id="67" name="Shape 65"/>
          <p:cNvSpPr/>
          <p:nvPr/>
        </p:nvSpPr>
        <p:spPr>
          <a:xfrm>
            <a:off x="1809941" y="2465786"/>
            <a:ext cx="58865" cy="45166"/>
          </a:xfrm>
          <a:prstGeom prst="line">
            <a:avLst/>
          </a:prstGeom>
          <a:noFill/>
          <a:ln w="31750">
            <a:solidFill>
              <a:srgbClr val="8E44AD"/>
            </a:solidFill>
            <a:prstDash val="solid"/>
          </a:ln>
        </p:spPr>
      </p:sp>
      <p:sp>
        <p:nvSpPr>
          <p:cNvPr id="68" name="Shape 66"/>
          <p:cNvSpPr/>
          <p:nvPr/>
        </p:nvSpPr>
        <p:spPr>
          <a:xfrm>
            <a:off x="1868805" y="2510952"/>
            <a:ext cx="58864" cy="62578"/>
          </a:xfrm>
          <a:prstGeom prst="line">
            <a:avLst/>
          </a:prstGeom>
          <a:noFill/>
          <a:ln w="31750">
            <a:solidFill>
              <a:srgbClr val="8E44AD"/>
            </a:solidFill>
            <a:prstDash val="solid"/>
          </a:ln>
        </p:spPr>
      </p:sp>
      <p:sp>
        <p:nvSpPr>
          <p:cNvPr id="69" name="Shape 67"/>
          <p:cNvSpPr/>
          <p:nvPr/>
        </p:nvSpPr>
        <p:spPr>
          <a:xfrm>
            <a:off x="1927669" y="2573531"/>
            <a:ext cx="58865" cy="76656"/>
          </a:xfrm>
          <a:prstGeom prst="line">
            <a:avLst/>
          </a:prstGeom>
          <a:noFill/>
          <a:ln w="31750">
            <a:solidFill>
              <a:srgbClr val="8E44AD"/>
            </a:solidFill>
            <a:prstDash val="solid"/>
          </a:ln>
        </p:spPr>
      </p:sp>
      <p:sp>
        <p:nvSpPr>
          <p:cNvPr id="70" name="Shape 68"/>
          <p:cNvSpPr/>
          <p:nvPr/>
        </p:nvSpPr>
        <p:spPr>
          <a:xfrm>
            <a:off x="1986534" y="2650187"/>
            <a:ext cx="58865" cy="87117"/>
          </a:xfrm>
          <a:prstGeom prst="line">
            <a:avLst/>
          </a:prstGeom>
          <a:noFill/>
          <a:ln w="31750">
            <a:solidFill>
              <a:srgbClr val="8E44AD"/>
            </a:solidFill>
            <a:prstDash val="solid"/>
          </a:ln>
        </p:spPr>
      </p:sp>
      <p:sp>
        <p:nvSpPr>
          <p:cNvPr id="71" name="Shape 69"/>
          <p:cNvSpPr/>
          <p:nvPr/>
        </p:nvSpPr>
        <p:spPr>
          <a:xfrm>
            <a:off x="2045399" y="2737304"/>
            <a:ext cx="58865" cy="93825"/>
          </a:xfrm>
          <a:prstGeom prst="line">
            <a:avLst/>
          </a:prstGeom>
          <a:noFill/>
          <a:ln w="31750">
            <a:solidFill>
              <a:srgbClr val="8E44AD"/>
            </a:solidFill>
            <a:prstDash val="solid"/>
          </a:ln>
        </p:spPr>
      </p:sp>
      <p:sp>
        <p:nvSpPr>
          <p:cNvPr id="72" name="Shape 70"/>
          <p:cNvSpPr/>
          <p:nvPr/>
        </p:nvSpPr>
        <p:spPr>
          <a:xfrm>
            <a:off x="2104263" y="2831128"/>
            <a:ext cx="58865" cy="96784"/>
          </a:xfrm>
          <a:prstGeom prst="line">
            <a:avLst/>
          </a:prstGeom>
          <a:noFill/>
          <a:ln w="31750">
            <a:solidFill>
              <a:srgbClr val="8E44AD"/>
            </a:solidFill>
            <a:prstDash val="solid"/>
          </a:ln>
        </p:spPr>
      </p:sp>
      <p:sp>
        <p:nvSpPr>
          <p:cNvPr id="73" name="Shape 71"/>
          <p:cNvSpPr/>
          <p:nvPr/>
        </p:nvSpPr>
        <p:spPr>
          <a:xfrm>
            <a:off x="2163128" y="2927912"/>
            <a:ext cx="58864" cy="96132"/>
          </a:xfrm>
          <a:prstGeom prst="line">
            <a:avLst/>
          </a:prstGeom>
          <a:noFill/>
          <a:ln w="31750">
            <a:solidFill>
              <a:srgbClr val="8E44AD"/>
            </a:solidFill>
            <a:prstDash val="solid"/>
          </a:ln>
        </p:spPr>
      </p:sp>
      <p:sp>
        <p:nvSpPr>
          <p:cNvPr id="74" name="Shape 72"/>
          <p:cNvSpPr/>
          <p:nvPr/>
        </p:nvSpPr>
        <p:spPr>
          <a:xfrm>
            <a:off x="2221992" y="3024044"/>
            <a:ext cx="58865" cy="92125"/>
          </a:xfrm>
          <a:prstGeom prst="line">
            <a:avLst/>
          </a:prstGeom>
          <a:noFill/>
          <a:ln w="31750">
            <a:solidFill>
              <a:srgbClr val="8E44AD"/>
            </a:solidFill>
            <a:prstDash val="solid"/>
          </a:ln>
        </p:spPr>
      </p:sp>
      <p:sp>
        <p:nvSpPr>
          <p:cNvPr id="75" name="Shape 73"/>
          <p:cNvSpPr/>
          <p:nvPr/>
        </p:nvSpPr>
        <p:spPr>
          <a:xfrm>
            <a:off x="2280857" y="3116170"/>
            <a:ext cx="58865" cy="85121"/>
          </a:xfrm>
          <a:prstGeom prst="line">
            <a:avLst/>
          </a:prstGeom>
          <a:noFill/>
          <a:ln w="31750">
            <a:solidFill>
              <a:srgbClr val="8E44AD"/>
            </a:solidFill>
            <a:prstDash val="solid"/>
          </a:ln>
        </p:spPr>
      </p:sp>
      <p:sp>
        <p:nvSpPr>
          <p:cNvPr id="76" name="Shape 74"/>
          <p:cNvSpPr/>
          <p:nvPr/>
        </p:nvSpPr>
        <p:spPr>
          <a:xfrm>
            <a:off x="2339721" y="3201291"/>
            <a:ext cx="58865" cy="75561"/>
          </a:xfrm>
          <a:prstGeom prst="line">
            <a:avLst/>
          </a:prstGeom>
          <a:noFill/>
          <a:ln w="31750">
            <a:solidFill>
              <a:srgbClr val="8E44AD"/>
            </a:solidFill>
            <a:prstDash val="solid"/>
          </a:ln>
        </p:spPr>
      </p:sp>
      <p:sp>
        <p:nvSpPr>
          <p:cNvPr id="77" name="Shape 75"/>
          <p:cNvSpPr/>
          <p:nvPr/>
        </p:nvSpPr>
        <p:spPr>
          <a:xfrm>
            <a:off x="2398586" y="3276852"/>
            <a:ext cx="58865" cy="63947"/>
          </a:xfrm>
          <a:prstGeom prst="line">
            <a:avLst/>
          </a:prstGeom>
          <a:noFill/>
          <a:ln w="31750">
            <a:solidFill>
              <a:srgbClr val="8E44AD"/>
            </a:solidFill>
            <a:prstDash val="solid"/>
          </a:ln>
        </p:spPr>
      </p:sp>
      <p:sp>
        <p:nvSpPr>
          <p:cNvPr id="78" name="Shape 76"/>
          <p:cNvSpPr/>
          <p:nvPr/>
        </p:nvSpPr>
        <p:spPr>
          <a:xfrm>
            <a:off x="2457450" y="3340799"/>
            <a:ext cx="58865" cy="50822"/>
          </a:xfrm>
          <a:prstGeom prst="line">
            <a:avLst/>
          </a:prstGeom>
          <a:noFill/>
          <a:ln w="31750">
            <a:solidFill>
              <a:srgbClr val="8E44AD"/>
            </a:solidFill>
            <a:prstDash val="solid"/>
          </a:ln>
        </p:spPr>
      </p:sp>
      <p:sp>
        <p:nvSpPr>
          <p:cNvPr id="79" name="Shape 77"/>
          <p:cNvSpPr/>
          <p:nvPr/>
        </p:nvSpPr>
        <p:spPr>
          <a:xfrm>
            <a:off x="2516315" y="3391621"/>
            <a:ext cx="58865" cy="36747"/>
          </a:xfrm>
          <a:prstGeom prst="line">
            <a:avLst/>
          </a:prstGeom>
          <a:noFill/>
          <a:ln w="31750">
            <a:solidFill>
              <a:srgbClr val="8E44AD"/>
            </a:solidFill>
            <a:prstDash val="solid"/>
          </a:ln>
        </p:spPr>
      </p:sp>
      <p:sp>
        <p:nvSpPr>
          <p:cNvPr id="80" name="Shape 78"/>
          <p:cNvSpPr/>
          <p:nvPr/>
        </p:nvSpPr>
        <p:spPr>
          <a:xfrm>
            <a:off x="2575179" y="3428368"/>
            <a:ext cx="58865" cy="22282"/>
          </a:xfrm>
          <a:prstGeom prst="line">
            <a:avLst/>
          </a:prstGeom>
          <a:noFill/>
          <a:ln w="31750">
            <a:solidFill>
              <a:srgbClr val="8E44AD"/>
            </a:solidFill>
            <a:prstDash val="solid"/>
          </a:ln>
        </p:spPr>
      </p:sp>
      <p:sp>
        <p:nvSpPr>
          <p:cNvPr id="81" name="Shape 79"/>
          <p:cNvSpPr/>
          <p:nvPr/>
        </p:nvSpPr>
        <p:spPr>
          <a:xfrm>
            <a:off x="2634044" y="3450650"/>
            <a:ext cx="58865" cy="7962"/>
          </a:xfrm>
          <a:prstGeom prst="line">
            <a:avLst/>
          </a:prstGeom>
          <a:noFill/>
          <a:ln w="31750">
            <a:solidFill>
              <a:srgbClr val="8E44AD"/>
            </a:solidFill>
            <a:prstDash val="solid"/>
          </a:ln>
        </p:spPr>
      </p:sp>
      <p:sp>
        <p:nvSpPr>
          <p:cNvPr id="82" name="Shape 80"/>
          <p:cNvSpPr/>
          <p:nvPr/>
        </p:nvSpPr>
        <p:spPr>
          <a:xfrm flipV="1">
            <a:off x="2692908" y="3452897"/>
            <a:ext cx="58864" cy="5715"/>
          </a:xfrm>
          <a:prstGeom prst="line">
            <a:avLst/>
          </a:prstGeom>
          <a:noFill/>
          <a:ln w="31750">
            <a:solidFill>
              <a:srgbClr val="8E44AD"/>
            </a:solidFill>
            <a:prstDash val="solid"/>
          </a:ln>
        </p:spPr>
      </p:sp>
      <p:sp>
        <p:nvSpPr>
          <p:cNvPr id="83" name="Shape 81"/>
          <p:cNvSpPr/>
          <p:nvPr/>
        </p:nvSpPr>
        <p:spPr>
          <a:xfrm flipV="1">
            <a:off x="2751773" y="3434588"/>
            <a:ext cx="58865" cy="18309"/>
          </a:xfrm>
          <a:prstGeom prst="line">
            <a:avLst/>
          </a:prstGeom>
          <a:noFill/>
          <a:ln w="31750">
            <a:solidFill>
              <a:srgbClr val="8E44AD"/>
            </a:solidFill>
            <a:prstDash val="solid"/>
          </a:ln>
        </p:spPr>
      </p:sp>
      <p:sp>
        <p:nvSpPr>
          <p:cNvPr id="84" name="Shape 82"/>
          <p:cNvSpPr/>
          <p:nvPr/>
        </p:nvSpPr>
        <p:spPr>
          <a:xfrm flipV="1">
            <a:off x="2810637" y="3405145"/>
            <a:ext cx="58864" cy="29443"/>
          </a:xfrm>
          <a:prstGeom prst="line">
            <a:avLst/>
          </a:prstGeom>
          <a:noFill/>
          <a:ln w="31750">
            <a:solidFill>
              <a:srgbClr val="8E44AD"/>
            </a:solidFill>
            <a:prstDash val="solid"/>
          </a:ln>
        </p:spPr>
      </p:sp>
      <p:sp>
        <p:nvSpPr>
          <p:cNvPr id="85" name="Shape 83"/>
          <p:cNvSpPr/>
          <p:nvPr/>
        </p:nvSpPr>
        <p:spPr>
          <a:xfrm flipV="1">
            <a:off x="2869501" y="3366325"/>
            <a:ext cx="58865" cy="38819"/>
          </a:xfrm>
          <a:prstGeom prst="line">
            <a:avLst/>
          </a:prstGeom>
          <a:noFill/>
          <a:ln w="31750">
            <a:solidFill>
              <a:srgbClr val="8E44AD"/>
            </a:solidFill>
            <a:prstDash val="solid"/>
          </a:ln>
        </p:spPr>
      </p:sp>
      <p:sp>
        <p:nvSpPr>
          <p:cNvPr id="86" name="Shape 84"/>
          <p:cNvSpPr/>
          <p:nvPr/>
        </p:nvSpPr>
        <p:spPr>
          <a:xfrm flipV="1">
            <a:off x="2928366" y="3320107"/>
            <a:ext cx="58864" cy="46218"/>
          </a:xfrm>
          <a:prstGeom prst="line">
            <a:avLst/>
          </a:prstGeom>
          <a:noFill/>
          <a:ln w="31750">
            <a:solidFill>
              <a:srgbClr val="8E44AD"/>
            </a:solidFill>
            <a:prstDash val="solid"/>
          </a:ln>
        </p:spPr>
      </p:sp>
      <p:sp>
        <p:nvSpPr>
          <p:cNvPr id="87" name="Shape 85"/>
          <p:cNvSpPr/>
          <p:nvPr/>
        </p:nvSpPr>
        <p:spPr>
          <a:xfrm flipV="1">
            <a:off x="2987231" y="3268600"/>
            <a:ext cx="58865" cy="51507"/>
          </a:xfrm>
          <a:prstGeom prst="line">
            <a:avLst/>
          </a:prstGeom>
          <a:noFill/>
          <a:ln w="31750">
            <a:solidFill>
              <a:srgbClr val="8E44AD"/>
            </a:solidFill>
            <a:prstDash val="solid"/>
          </a:ln>
        </p:spPr>
      </p:sp>
      <p:sp>
        <p:nvSpPr>
          <p:cNvPr id="88" name="Shape 86"/>
          <p:cNvSpPr/>
          <p:nvPr/>
        </p:nvSpPr>
        <p:spPr>
          <a:xfrm flipV="1">
            <a:off x="3046095" y="3213965"/>
            <a:ext cx="58865" cy="54635"/>
          </a:xfrm>
          <a:prstGeom prst="line">
            <a:avLst/>
          </a:prstGeom>
          <a:noFill/>
          <a:ln w="31750">
            <a:solidFill>
              <a:srgbClr val="8E44AD"/>
            </a:solidFill>
            <a:prstDash val="solid"/>
          </a:ln>
        </p:spPr>
      </p:sp>
      <p:sp>
        <p:nvSpPr>
          <p:cNvPr id="89" name="Shape 87"/>
          <p:cNvSpPr/>
          <p:nvPr/>
        </p:nvSpPr>
        <p:spPr>
          <a:xfrm flipV="1">
            <a:off x="3104960" y="3158335"/>
            <a:ext cx="58865" cy="55630"/>
          </a:xfrm>
          <a:prstGeom prst="line">
            <a:avLst/>
          </a:prstGeom>
          <a:noFill/>
          <a:ln w="31750">
            <a:solidFill>
              <a:srgbClr val="8E44AD"/>
            </a:solidFill>
            <a:prstDash val="solid"/>
          </a:ln>
        </p:spPr>
      </p:sp>
      <p:sp>
        <p:nvSpPr>
          <p:cNvPr id="90" name="Shape 88"/>
          <p:cNvSpPr/>
          <p:nvPr/>
        </p:nvSpPr>
        <p:spPr>
          <a:xfrm flipV="1">
            <a:off x="3163824" y="3103740"/>
            <a:ext cx="58865" cy="54595"/>
          </a:xfrm>
          <a:prstGeom prst="line">
            <a:avLst/>
          </a:prstGeom>
          <a:noFill/>
          <a:ln w="31750">
            <a:solidFill>
              <a:srgbClr val="8E44AD"/>
            </a:solidFill>
            <a:prstDash val="solid"/>
          </a:ln>
        </p:spPr>
      </p:sp>
      <p:sp>
        <p:nvSpPr>
          <p:cNvPr id="91" name="Shape 89"/>
          <p:cNvSpPr/>
          <p:nvPr/>
        </p:nvSpPr>
        <p:spPr>
          <a:xfrm flipV="1">
            <a:off x="3222689" y="3052043"/>
            <a:ext cx="58865" cy="51697"/>
          </a:xfrm>
          <a:prstGeom prst="line">
            <a:avLst/>
          </a:prstGeom>
          <a:noFill/>
          <a:ln w="31750">
            <a:solidFill>
              <a:srgbClr val="8E44AD"/>
            </a:solidFill>
            <a:prstDash val="solid"/>
          </a:ln>
        </p:spPr>
      </p:sp>
      <p:sp>
        <p:nvSpPr>
          <p:cNvPr id="92" name="Shape 90"/>
          <p:cNvSpPr/>
          <p:nvPr/>
        </p:nvSpPr>
        <p:spPr>
          <a:xfrm flipV="1">
            <a:off x="3281553" y="3004884"/>
            <a:ext cx="58865" cy="47160"/>
          </a:xfrm>
          <a:prstGeom prst="line">
            <a:avLst/>
          </a:prstGeom>
          <a:noFill/>
          <a:ln w="31750">
            <a:solidFill>
              <a:srgbClr val="8E44AD"/>
            </a:solidFill>
            <a:prstDash val="solid"/>
          </a:ln>
        </p:spPr>
      </p:sp>
      <p:sp>
        <p:nvSpPr>
          <p:cNvPr id="93" name="Shape 91"/>
          <p:cNvSpPr/>
          <p:nvPr/>
        </p:nvSpPr>
        <p:spPr>
          <a:xfrm flipV="1">
            <a:off x="3340418" y="2963636"/>
            <a:ext cx="58865" cy="41248"/>
          </a:xfrm>
          <a:prstGeom prst="line">
            <a:avLst/>
          </a:prstGeom>
          <a:noFill/>
          <a:ln w="31750">
            <a:solidFill>
              <a:srgbClr val="8E44AD"/>
            </a:solidFill>
            <a:prstDash val="solid"/>
          </a:ln>
        </p:spPr>
      </p:sp>
      <p:sp>
        <p:nvSpPr>
          <p:cNvPr id="94" name="Shape 92"/>
          <p:cNvSpPr/>
          <p:nvPr/>
        </p:nvSpPr>
        <p:spPr>
          <a:xfrm flipV="1">
            <a:off x="3399282" y="2929376"/>
            <a:ext cx="58864" cy="34260"/>
          </a:xfrm>
          <a:prstGeom prst="line">
            <a:avLst/>
          </a:prstGeom>
          <a:noFill/>
          <a:ln w="31750">
            <a:solidFill>
              <a:srgbClr val="8E44AD"/>
            </a:solidFill>
            <a:prstDash val="solid"/>
          </a:ln>
        </p:spPr>
      </p:sp>
      <p:sp>
        <p:nvSpPr>
          <p:cNvPr id="95" name="Shape 93"/>
          <p:cNvSpPr/>
          <p:nvPr/>
        </p:nvSpPr>
        <p:spPr>
          <a:xfrm flipV="1">
            <a:off x="3458147" y="2902864"/>
            <a:ext cx="58865" cy="26512"/>
          </a:xfrm>
          <a:prstGeom prst="line">
            <a:avLst/>
          </a:prstGeom>
          <a:noFill/>
          <a:ln w="31750">
            <a:solidFill>
              <a:srgbClr val="8E44AD"/>
            </a:solidFill>
            <a:prstDash val="solid"/>
          </a:ln>
        </p:spPr>
      </p:sp>
      <p:sp>
        <p:nvSpPr>
          <p:cNvPr id="96" name="Shape 94"/>
          <p:cNvSpPr/>
          <p:nvPr/>
        </p:nvSpPr>
        <p:spPr>
          <a:xfrm flipV="1">
            <a:off x="3517011" y="2884537"/>
            <a:ext cx="58864" cy="18327"/>
          </a:xfrm>
          <a:prstGeom prst="line">
            <a:avLst/>
          </a:prstGeom>
          <a:noFill/>
          <a:ln w="31750">
            <a:solidFill>
              <a:srgbClr val="8E44AD"/>
            </a:solidFill>
            <a:prstDash val="solid"/>
          </a:ln>
        </p:spPr>
      </p:sp>
      <p:sp>
        <p:nvSpPr>
          <p:cNvPr id="97" name="Shape 95"/>
          <p:cNvSpPr/>
          <p:nvPr/>
        </p:nvSpPr>
        <p:spPr>
          <a:xfrm flipV="1">
            <a:off x="3575876" y="2874515"/>
            <a:ext cx="58865" cy="10022"/>
          </a:xfrm>
          <a:prstGeom prst="line">
            <a:avLst/>
          </a:prstGeom>
          <a:noFill/>
          <a:ln w="31750">
            <a:solidFill>
              <a:srgbClr val="8E44AD"/>
            </a:solidFill>
            <a:prstDash val="solid"/>
          </a:ln>
        </p:spPr>
      </p:sp>
      <p:sp>
        <p:nvSpPr>
          <p:cNvPr id="98" name="Shape 96"/>
          <p:cNvSpPr/>
          <p:nvPr/>
        </p:nvSpPr>
        <p:spPr>
          <a:xfrm flipV="1">
            <a:off x="3634740" y="2872617"/>
            <a:ext cx="58865" cy="1898"/>
          </a:xfrm>
          <a:prstGeom prst="line">
            <a:avLst/>
          </a:prstGeom>
          <a:noFill/>
          <a:ln w="31750">
            <a:solidFill>
              <a:srgbClr val="8E44AD"/>
            </a:solidFill>
            <a:prstDash val="solid"/>
          </a:ln>
        </p:spPr>
      </p:sp>
      <p:sp>
        <p:nvSpPr>
          <p:cNvPr id="99" name="Shape 97"/>
          <p:cNvSpPr/>
          <p:nvPr/>
        </p:nvSpPr>
        <p:spPr>
          <a:xfrm>
            <a:off x="3693605" y="2872617"/>
            <a:ext cx="58864" cy="5768"/>
          </a:xfrm>
          <a:prstGeom prst="line">
            <a:avLst/>
          </a:prstGeom>
          <a:noFill/>
          <a:ln w="31750">
            <a:solidFill>
              <a:srgbClr val="8E44AD"/>
            </a:solidFill>
            <a:prstDash val="solid"/>
          </a:ln>
        </p:spPr>
      </p:sp>
      <p:sp>
        <p:nvSpPr>
          <p:cNvPr id="100" name="Shape 98"/>
          <p:cNvSpPr/>
          <p:nvPr/>
        </p:nvSpPr>
        <p:spPr>
          <a:xfrm>
            <a:off x="3752469" y="2878385"/>
            <a:ext cx="58865" cy="12737"/>
          </a:xfrm>
          <a:prstGeom prst="line">
            <a:avLst/>
          </a:prstGeom>
          <a:noFill/>
          <a:ln w="31750">
            <a:solidFill>
              <a:srgbClr val="8E44AD"/>
            </a:solidFill>
            <a:prstDash val="solid"/>
          </a:ln>
        </p:spPr>
      </p:sp>
      <p:sp>
        <p:nvSpPr>
          <p:cNvPr id="101" name="Shape 99"/>
          <p:cNvSpPr/>
          <p:nvPr/>
        </p:nvSpPr>
        <p:spPr>
          <a:xfrm>
            <a:off x="3811334" y="2891122"/>
            <a:ext cx="58865" cy="18806"/>
          </a:xfrm>
          <a:prstGeom prst="line">
            <a:avLst/>
          </a:prstGeom>
          <a:noFill/>
          <a:ln w="31750">
            <a:solidFill>
              <a:srgbClr val="8E44AD"/>
            </a:solidFill>
            <a:prstDash val="solid"/>
          </a:ln>
        </p:spPr>
      </p:sp>
      <p:sp>
        <p:nvSpPr>
          <p:cNvPr id="102" name="Shape 100"/>
          <p:cNvSpPr/>
          <p:nvPr/>
        </p:nvSpPr>
        <p:spPr>
          <a:xfrm>
            <a:off x="3870198" y="2909927"/>
            <a:ext cx="58865" cy="23819"/>
          </a:xfrm>
          <a:prstGeom prst="line">
            <a:avLst/>
          </a:prstGeom>
          <a:noFill/>
          <a:ln w="31750">
            <a:solidFill>
              <a:srgbClr val="8E44AD"/>
            </a:solidFill>
            <a:prstDash val="solid"/>
          </a:ln>
        </p:spPr>
      </p:sp>
      <p:sp>
        <p:nvSpPr>
          <p:cNvPr id="103" name="Shape 101"/>
          <p:cNvSpPr/>
          <p:nvPr/>
        </p:nvSpPr>
        <p:spPr>
          <a:xfrm>
            <a:off x="3929063" y="2933746"/>
            <a:ext cx="58865" cy="27666"/>
          </a:xfrm>
          <a:prstGeom prst="line">
            <a:avLst/>
          </a:prstGeom>
          <a:noFill/>
          <a:ln w="31750">
            <a:solidFill>
              <a:srgbClr val="8E44AD"/>
            </a:solidFill>
            <a:prstDash val="solid"/>
          </a:ln>
        </p:spPr>
      </p:sp>
      <p:sp>
        <p:nvSpPr>
          <p:cNvPr id="104" name="Shape 102"/>
          <p:cNvSpPr/>
          <p:nvPr/>
        </p:nvSpPr>
        <p:spPr>
          <a:xfrm>
            <a:off x="3987927" y="2961412"/>
            <a:ext cx="58865" cy="30288"/>
          </a:xfrm>
          <a:prstGeom prst="line">
            <a:avLst/>
          </a:prstGeom>
          <a:noFill/>
          <a:ln w="31750">
            <a:solidFill>
              <a:srgbClr val="8E44AD"/>
            </a:solidFill>
            <a:prstDash val="solid"/>
          </a:ln>
        </p:spPr>
      </p:sp>
      <p:sp>
        <p:nvSpPr>
          <p:cNvPr id="105" name="Shape 103"/>
          <p:cNvSpPr/>
          <p:nvPr/>
        </p:nvSpPr>
        <p:spPr>
          <a:xfrm>
            <a:off x="4046792" y="2991701"/>
            <a:ext cx="58865" cy="31671"/>
          </a:xfrm>
          <a:prstGeom prst="line">
            <a:avLst/>
          </a:prstGeom>
          <a:noFill/>
          <a:ln w="31750">
            <a:solidFill>
              <a:srgbClr val="8E44AD"/>
            </a:solidFill>
            <a:prstDash val="solid"/>
          </a:ln>
        </p:spPr>
      </p:sp>
      <p:sp>
        <p:nvSpPr>
          <p:cNvPr id="106" name="Shape 104"/>
          <p:cNvSpPr/>
          <p:nvPr/>
        </p:nvSpPr>
        <p:spPr>
          <a:xfrm>
            <a:off x="4105656" y="3023372"/>
            <a:ext cx="58865" cy="31845"/>
          </a:xfrm>
          <a:prstGeom prst="line">
            <a:avLst/>
          </a:prstGeom>
          <a:noFill/>
          <a:ln w="31750">
            <a:solidFill>
              <a:srgbClr val="8E44AD"/>
            </a:solidFill>
            <a:prstDash val="solid"/>
          </a:ln>
        </p:spPr>
      </p:sp>
      <p:sp>
        <p:nvSpPr>
          <p:cNvPr id="107" name="Shape 105"/>
          <p:cNvSpPr/>
          <p:nvPr/>
        </p:nvSpPr>
        <p:spPr>
          <a:xfrm>
            <a:off x="4164521" y="3055217"/>
            <a:ext cx="58865" cy="30883"/>
          </a:xfrm>
          <a:prstGeom prst="line">
            <a:avLst/>
          </a:prstGeom>
          <a:noFill/>
          <a:ln w="31750">
            <a:solidFill>
              <a:srgbClr val="8E44AD"/>
            </a:solidFill>
            <a:prstDash val="solid"/>
          </a:ln>
        </p:spPr>
      </p:sp>
      <p:sp>
        <p:nvSpPr>
          <p:cNvPr id="108" name="Shape 106"/>
          <p:cNvSpPr/>
          <p:nvPr/>
        </p:nvSpPr>
        <p:spPr>
          <a:xfrm>
            <a:off x="4223385" y="3086100"/>
            <a:ext cx="58865" cy="28891"/>
          </a:xfrm>
          <a:prstGeom prst="line">
            <a:avLst/>
          </a:prstGeom>
          <a:noFill/>
          <a:ln w="31750">
            <a:solidFill>
              <a:srgbClr val="8E44AD"/>
            </a:solidFill>
            <a:prstDash val="solid"/>
          </a:ln>
        </p:spPr>
      </p:sp>
      <p:sp>
        <p:nvSpPr>
          <p:cNvPr id="109" name="Shape 107"/>
          <p:cNvSpPr/>
          <p:nvPr/>
        </p:nvSpPr>
        <p:spPr>
          <a:xfrm>
            <a:off x="4282250" y="3114991"/>
            <a:ext cx="58865" cy="26007"/>
          </a:xfrm>
          <a:prstGeom prst="line">
            <a:avLst/>
          </a:prstGeom>
          <a:noFill/>
          <a:ln w="31750">
            <a:solidFill>
              <a:srgbClr val="8E44AD"/>
            </a:solidFill>
            <a:prstDash val="solid"/>
          </a:ln>
        </p:spPr>
      </p:sp>
      <p:sp>
        <p:nvSpPr>
          <p:cNvPr id="110" name="Shape 108"/>
          <p:cNvSpPr/>
          <p:nvPr/>
        </p:nvSpPr>
        <p:spPr>
          <a:xfrm>
            <a:off x="4341114" y="3140998"/>
            <a:ext cx="58865" cy="22390"/>
          </a:xfrm>
          <a:prstGeom prst="line">
            <a:avLst/>
          </a:prstGeom>
          <a:noFill/>
          <a:ln w="31750">
            <a:solidFill>
              <a:srgbClr val="8E44AD"/>
            </a:solidFill>
            <a:prstDash val="solid"/>
          </a:ln>
        </p:spPr>
      </p:sp>
      <p:sp>
        <p:nvSpPr>
          <p:cNvPr id="111" name="Shape 109"/>
          <p:cNvSpPr/>
          <p:nvPr/>
        </p:nvSpPr>
        <p:spPr>
          <a:xfrm>
            <a:off x="4399979" y="3163387"/>
            <a:ext cx="58864" cy="18214"/>
          </a:xfrm>
          <a:prstGeom prst="line">
            <a:avLst/>
          </a:prstGeom>
          <a:noFill/>
          <a:ln w="31750">
            <a:solidFill>
              <a:srgbClr val="8E44AD"/>
            </a:solidFill>
            <a:prstDash val="solid"/>
          </a:ln>
        </p:spPr>
      </p:sp>
      <p:sp>
        <p:nvSpPr>
          <p:cNvPr id="112" name="Shape 110"/>
          <p:cNvSpPr/>
          <p:nvPr/>
        </p:nvSpPr>
        <p:spPr>
          <a:xfrm>
            <a:off x="4458843" y="3181602"/>
            <a:ext cx="58865" cy="13665"/>
          </a:xfrm>
          <a:prstGeom prst="line">
            <a:avLst/>
          </a:prstGeom>
          <a:noFill/>
          <a:ln w="31750">
            <a:solidFill>
              <a:srgbClr val="8E44AD"/>
            </a:solidFill>
            <a:prstDash val="solid"/>
          </a:ln>
        </p:spPr>
      </p:sp>
      <p:sp>
        <p:nvSpPr>
          <p:cNvPr id="113" name="Shape 111"/>
          <p:cNvSpPr/>
          <p:nvPr/>
        </p:nvSpPr>
        <p:spPr>
          <a:xfrm>
            <a:off x="4517708" y="3195266"/>
            <a:ext cx="58865" cy="8926"/>
          </a:xfrm>
          <a:prstGeom prst="line">
            <a:avLst/>
          </a:prstGeom>
          <a:noFill/>
          <a:ln w="31750">
            <a:solidFill>
              <a:srgbClr val="8E44AD"/>
            </a:solidFill>
            <a:prstDash val="solid"/>
          </a:ln>
        </p:spPr>
      </p:sp>
      <p:sp>
        <p:nvSpPr>
          <p:cNvPr id="114" name="Shape 112"/>
          <p:cNvSpPr/>
          <p:nvPr/>
        </p:nvSpPr>
        <p:spPr>
          <a:xfrm>
            <a:off x="4576572" y="3204192"/>
            <a:ext cx="58865" cy="4177"/>
          </a:xfrm>
          <a:prstGeom prst="line">
            <a:avLst/>
          </a:prstGeom>
          <a:noFill/>
          <a:ln w="31750">
            <a:solidFill>
              <a:srgbClr val="8E44AD"/>
            </a:solidFill>
            <a:prstDash val="solid"/>
          </a:ln>
        </p:spPr>
      </p:sp>
      <p:sp>
        <p:nvSpPr>
          <p:cNvPr id="115" name="Shape 113"/>
          <p:cNvSpPr/>
          <p:nvPr/>
        </p:nvSpPr>
        <p:spPr>
          <a:xfrm flipV="1">
            <a:off x="4635437" y="3207955"/>
            <a:ext cx="58864" cy="413"/>
          </a:xfrm>
          <a:prstGeom prst="line">
            <a:avLst/>
          </a:prstGeom>
          <a:noFill/>
          <a:ln w="31750">
            <a:solidFill>
              <a:srgbClr val="8E44AD"/>
            </a:solidFill>
            <a:prstDash val="solid"/>
          </a:ln>
        </p:spPr>
      </p:sp>
      <p:sp>
        <p:nvSpPr>
          <p:cNvPr id="116" name="Shape 114"/>
          <p:cNvSpPr/>
          <p:nvPr/>
        </p:nvSpPr>
        <p:spPr>
          <a:xfrm flipV="1">
            <a:off x="4694301" y="3203262"/>
            <a:ext cx="58864" cy="4693"/>
          </a:xfrm>
          <a:prstGeom prst="line">
            <a:avLst/>
          </a:prstGeom>
          <a:noFill/>
          <a:ln w="31750">
            <a:solidFill>
              <a:srgbClr val="8E44AD"/>
            </a:solidFill>
            <a:prstDash val="solid"/>
          </a:ln>
        </p:spPr>
      </p:sp>
      <p:sp>
        <p:nvSpPr>
          <p:cNvPr id="117" name="Shape 115"/>
          <p:cNvSpPr/>
          <p:nvPr/>
        </p:nvSpPr>
        <p:spPr>
          <a:xfrm flipV="1">
            <a:off x="4753165" y="3194731"/>
            <a:ext cx="58865" cy="8531"/>
          </a:xfrm>
          <a:prstGeom prst="line">
            <a:avLst/>
          </a:prstGeom>
          <a:noFill/>
          <a:ln w="31750">
            <a:solidFill>
              <a:srgbClr val="8E44AD"/>
            </a:solidFill>
            <a:prstDash val="solid"/>
          </a:ln>
        </p:spPr>
      </p:sp>
      <p:sp>
        <p:nvSpPr>
          <p:cNvPr id="118" name="Shape 116"/>
          <p:cNvSpPr/>
          <p:nvPr/>
        </p:nvSpPr>
        <p:spPr>
          <a:xfrm flipV="1">
            <a:off x="4812030" y="3182912"/>
            <a:ext cx="58865" cy="11820"/>
          </a:xfrm>
          <a:prstGeom prst="line">
            <a:avLst/>
          </a:prstGeom>
          <a:noFill/>
          <a:ln w="31750">
            <a:solidFill>
              <a:srgbClr val="8E44AD"/>
            </a:solidFill>
            <a:prstDash val="solid"/>
          </a:ln>
        </p:spPr>
      </p:sp>
      <p:sp>
        <p:nvSpPr>
          <p:cNvPr id="119" name="Shape 117"/>
          <p:cNvSpPr/>
          <p:nvPr/>
        </p:nvSpPr>
        <p:spPr>
          <a:xfrm flipV="1">
            <a:off x="4870895" y="3168433"/>
            <a:ext cx="58864" cy="14478"/>
          </a:xfrm>
          <a:prstGeom prst="line">
            <a:avLst/>
          </a:prstGeom>
          <a:noFill/>
          <a:ln w="31750">
            <a:solidFill>
              <a:srgbClr val="8E44AD"/>
            </a:solidFill>
            <a:prstDash val="solid"/>
          </a:ln>
        </p:spPr>
      </p:sp>
      <p:sp>
        <p:nvSpPr>
          <p:cNvPr id="120" name="Shape 118"/>
          <p:cNvSpPr/>
          <p:nvPr/>
        </p:nvSpPr>
        <p:spPr>
          <a:xfrm flipV="1">
            <a:off x="4929759" y="3151979"/>
            <a:ext cx="58864" cy="16454"/>
          </a:xfrm>
          <a:prstGeom prst="line">
            <a:avLst/>
          </a:prstGeom>
          <a:noFill/>
          <a:ln w="31750">
            <a:solidFill>
              <a:srgbClr val="8E44AD"/>
            </a:solidFill>
            <a:prstDash val="solid"/>
          </a:ln>
        </p:spPr>
      </p:sp>
      <p:sp>
        <p:nvSpPr>
          <p:cNvPr id="121" name="Shape 119"/>
          <p:cNvSpPr/>
          <p:nvPr/>
        </p:nvSpPr>
        <p:spPr>
          <a:xfrm flipV="1">
            <a:off x="4988624" y="3134258"/>
            <a:ext cx="58865" cy="17721"/>
          </a:xfrm>
          <a:prstGeom prst="line">
            <a:avLst/>
          </a:prstGeom>
          <a:noFill/>
          <a:ln w="31750">
            <a:solidFill>
              <a:srgbClr val="8E44AD"/>
            </a:solidFill>
            <a:prstDash val="solid"/>
          </a:ln>
        </p:spPr>
      </p:sp>
      <p:sp>
        <p:nvSpPr>
          <p:cNvPr id="122" name="Shape 120"/>
          <p:cNvSpPr/>
          <p:nvPr/>
        </p:nvSpPr>
        <p:spPr>
          <a:xfrm flipV="1">
            <a:off x="5047488" y="3115978"/>
            <a:ext cx="58865" cy="18280"/>
          </a:xfrm>
          <a:prstGeom prst="line">
            <a:avLst/>
          </a:prstGeom>
          <a:noFill/>
          <a:ln w="31750">
            <a:solidFill>
              <a:srgbClr val="8E44AD"/>
            </a:solidFill>
            <a:prstDash val="solid"/>
          </a:ln>
        </p:spPr>
      </p:sp>
      <p:sp>
        <p:nvSpPr>
          <p:cNvPr id="123" name="Shape 121"/>
          <p:cNvSpPr/>
          <p:nvPr/>
        </p:nvSpPr>
        <p:spPr>
          <a:xfrm flipV="1">
            <a:off x="5106353" y="3097821"/>
            <a:ext cx="58865" cy="18157"/>
          </a:xfrm>
          <a:prstGeom prst="line">
            <a:avLst/>
          </a:prstGeom>
          <a:noFill/>
          <a:ln w="31750">
            <a:solidFill>
              <a:srgbClr val="8E44AD"/>
            </a:solidFill>
            <a:prstDash val="solid"/>
          </a:ln>
        </p:spPr>
      </p:sp>
      <p:sp>
        <p:nvSpPr>
          <p:cNvPr id="124" name="Shape 122"/>
          <p:cNvSpPr/>
          <p:nvPr/>
        </p:nvSpPr>
        <p:spPr>
          <a:xfrm flipV="1">
            <a:off x="5165217" y="3080421"/>
            <a:ext cx="58865" cy="17400"/>
          </a:xfrm>
          <a:prstGeom prst="line">
            <a:avLst/>
          </a:prstGeom>
          <a:noFill/>
          <a:ln w="31750">
            <a:solidFill>
              <a:srgbClr val="8E44AD"/>
            </a:solidFill>
            <a:prstDash val="solid"/>
          </a:ln>
        </p:spPr>
      </p:sp>
      <p:sp>
        <p:nvSpPr>
          <p:cNvPr id="125" name="Shape 123"/>
          <p:cNvSpPr/>
          <p:nvPr/>
        </p:nvSpPr>
        <p:spPr>
          <a:xfrm flipV="1">
            <a:off x="5224082" y="3064343"/>
            <a:ext cx="58865" cy="16077"/>
          </a:xfrm>
          <a:prstGeom prst="line">
            <a:avLst/>
          </a:prstGeom>
          <a:noFill/>
          <a:ln w="31750">
            <a:solidFill>
              <a:srgbClr val="8E44AD"/>
            </a:solidFill>
            <a:prstDash val="solid"/>
          </a:ln>
        </p:spPr>
      </p:sp>
      <p:sp>
        <p:nvSpPr>
          <p:cNvPr id="126" name="Shape 124"/>
          <p:cNvSpPr/>
          <p:nvPr/>
        </p:nvSpPr>
        <p:spPr>
          <a:xfrm flipV="1">
            <a:off x="5282946" y="3050072"/>
            <a:ext cx="58865" cy="14272"/>
          </a:xfrm>
          <a:prstGeom prst="line">
            <a:avLst/>
          </a:prstGeom>
          <a:noFill/>
          <a:ln w="31750">
            <a:solidFill>
              <a:srgbClr val="8E44AD"/>
            </a:solidFill>
            <a:prstDash val="solid"/>
          </a:ln>
        </p:spPr>
      </p:sp>
      <p:sp>
        <p:nvSpPr>
          <p:cNvPr id="127" name="Shape 125"/>
          <p:cNvSpPr/>
          <p:nvPr/>
        </p:nvSpPr>
        <p:spPr>
          <a:xfrm flipV="1">
            <a:off x="5341811" y="3037994"/>
            <a:ext cx="58865" cy="12078"/>
          </a:xfrm>
          <a:prstGeom prst="line">
            <a:avLst/>
          </a:prstGeom>
          <a:noFill/>
          <a:ln w="31750">
            <a:solidFill>
              <a:srgbClr val="8E44AD"/>
            </a:solidFill>
            <a:prstDash val="solid"/>
          </a:ln>
        </p:spPr>
      </p:sp>
      <p:sp>
        <p:nvSpPr>
          <p:cNvPr id="128" name="Shape 126"/>
          <p:cNvSpPr/>
          <p:nvPr/>
        </p:nvSpPr>
        <p:spPr>
          <a:xfrm flipV="1">
            <a:off x="5400675" y="3028395"/>
            <a:ext cx="58865" cy="9599"/>
          </a:xfrm>
          <a:prstGeom prst="line">
            <a:avLst/>
          </a:prstGeom>
          <a:noFill/>
          <a:ln w="31750">
            <a:solidFill>
              <a:srgbClr val="8E44AD"/>
            </a:solidFill>
            <a:prstDash val="solid"/>
          </a:ln>
        </p:spPr>
      </p:sp>
      <p:sp>
        <p:nvSpPr>
          <p:cNvPr id="129" name="Shape 127"/>
          <p:cNvSpPr/>
          <p:nvPr/>
        </p:nvSpPr>
        <p:spPr>
          <a:xfrm flipV="1">
            <a:off x="5459540" y="3021454"/>
            <a:ext cx="58865" cy="6941"/>
          </a:xfrm>
          <a:prstGeom prst="line">
            <a:avLst/>
          </a:prstGeom>
          <a:noFill/>
          <a:ln w="31750">
            <a:solidFill>
              <a:srgbClr val="8E44AD"/>
            </a:solidFill>
            <a:prstDash val="solid"/>
          </a:ln>
        </p:spPr>
      </p:sp>
      <p:sp>
        <p:nvSpPr>
          <p:cNvPr id="130" name="Shape 128"/>
          <p:cNvSpPr/>
          <p:nvPr/>
        </p:nvSpPr>
        <p:spPr>
          <a:xfrm flipV="1">
            <a:off x="5518404" y="3017245"/>
            <a:ext cx="58865" cy="4209"/>
          </a:xfrm>
          <a:prstGeom prst="line">
            <a:avLst/>
          </a:prstGeom>
          <a:noFill/>
          <a:ln w="31750">
            <a:solidFill>
              <a:srgbClr val="8E44AD"/>
            </a:solidFill>
            <a:prstDash val="solid"/>
          </a:ln>
        </p:spPr>
      </p:sp>
      <p:sp>
        <p:nvSpPr>
          <p:cNvPr id="131" name="Shape 129"/>
          <p:cNvSpPr/>
          <p:nvPr/>
        </p:nvSpPr>
        <p:spPr>
          <a:xfrm flipV="1">
            <a:off x="5577269" y="3015741"/>
            <a:ext cx="58865" cy="1504"/>
          </a:xfrm>
          <a:prstGeom prst="line">
            <a:avLst/>
          </a:prstGeom>
          <a:noFill/>
          <a:ln w="31750">
            <a:solidFill>
              <a:srgbClr val="8E44AD"/>
            </a:solidFill>
            <a:prstDash val="solid"/>
          </a:ln>
        </p:spPr>
      </p:sp>
      <p:sp>
        <p:nvSpPr>
          <p:cNvPr id="132" name="Shape 130"/>
          <p:cNvSpPr/>
          <p:nvPr/>
        </p:nvSpPr>
        <p:spPr>
          <a:xfrm>
            <a:off x="5636133" y="3015741"/>
            <a:ext cx="58865" cy="1080"/>
          </a:xfrm>
          <a:prstGeom prst="line">
            <a:avLst/>
          </a:prstGeom>
          <a:noFill/>
          <a:ln w="31750">
            <a:solidFill>
              <a:srgbClr val="8E44AD"/>
            </a:solidFill>
            <a:prstDash val="solid"/>
          </a:ln>
        </p:spPr>
      </p:sp>
      <p:sp>
        <p:nvSpPr>
          <p:cNvPr id="133" name="Shape 131"/>
          <p:cNvSpPr/>
          <p:nvPr/>
        </p:nvSpPr>
        <p:spPr>
          <a:xfrm>
            <a:off x="5694998" y="3016821"/>
            <a:ext cx="58865" cy="3458"/>
          </a:xfrm>
          <a:prstGeom prst="line">
            <a:avLst/>
          </a:prstGeom>
          <a:noFill/>
          <a:ln w="31750">
            <a:solidFill>
              <a:srgbClr val="8E44AD"/>
            </a:solidFill>
            <a:prstDash val="solid"/>
          </a:ln>
        </p:spPr>
      </p:sp>
      <p:sp>
        <p:nvSpPr>
          <p:cNvPr id="134" name="Shape 132"/>
          <p:cNvSpPr/>
          <p:nvPr/>
        </p:nvSpPr>
        <p:spPr>
          <a:xfrm>
            <a:off x="5753862" y="3020279"/>
            <a:ext cx="58865" cy="5561"/>
          </a:xfrm>
          <a:prstGeom prst="line">
            <a:avLst/>
          </a:prstGeom>
          <a:noFill/>
          <a:ln w="31750">
            <a:solidFill>
              <a:srgbClr val="8E44AD"/>
            </a:solidFill>
            <a:prstDash val="solid"/>
          </a:ln>
        </p:spPr>
      </p:sp>
      <p:sp>
        <p:nvSpPr>
          <p:cNvPr id="135" name="Shape 133"/>
          <p:cNvSpPr/>
          <p:nvPr/>
        </p:nvSpPr>
        <p:spPr>
          <a:xfrm>
            <a:off x="5812727" y="3025840"/>
            <a:ext cx="58865" cy="7332"/>
          </a:xfrm>
          <a:prstGeom prst="line">
            <a:avLst/>
          </a:prstGeom>
          <a:noFill/>
          <a:ln w="31750">
            <a:solidFill>
              <a:srgbClr val="8E44AD"/>
            </a:solidFill>
            <a:prstDash val="solid"/>
          </a:ln>
        </p:spPr>
      </p:sp>
      <p:sp>
        <p:nvSpPr>
          <p:cNvPr id="136" name="Shape 134"/>
          <p:cNvSpPr/>
          <p:nvPr/>
        </p:nvSpPr>
        <p:spPr>
          <a:xfrm>
            <a:off x="5871591" y="3033172"/>
            <a:ext cx="58865" cy="8730"/>
          </a:xfrm>
          <a:prstGeom prst="line">
            <a:avLst/>
          </a:prstGeom>
          <a:noFill/>
          <a:ln w="31750">
            <a:solidFill>
              <a:srgbClr val="8E44AD"/>
            </a:solidFill>
            <a:prstDash val="solid"/>
          </a:ln>
        </p:spPr>
      </p:sp>
      <p:sp>
        <p:nvSpPr>
          <p:cNvPr id="137" name="Shape 135"/>
          <p:cNvSpPr/>
          <p:nvPr/>
        </p:nvSpPr>
        <p:spPr>
          <a:xfrm>
            <a:off x="5930456" y="3041902"/>
            <a:ext cx="58865" cy="9728"/>
          </a:xfrm>
          <a:prstGeom prst="line">
            <a:avLst/>
          </a:prstGeom>
          <a:noFill/>
          <a:ln w="31750">
            <a:solidFill>
              <a:srgbClr val="8E44AD"/>
            </a:solidFill>
            <a:prstDash val="solid"/>
          </a:ln>
        </p:spPr>
      </p:sp>
      <p:sp>
        <p:nvSpPr>
          <p:cNvPr id="138" name="Shape 136"/>
          <p:cNvSpPr/>
          <p:nvPr/>
        </p:nvSpPr>
        <p:spPr>
          <a:xfrm>
            <a:off x="1280160" y="2508343"/>
            <a:ext cx="58865" cy="104917"/>
          </a:xfrm>
          <a:prstGeom prst="line">
            <a:avLst/>
          </a:prstGeom>
          <a:noFill/>
          <a:ln w="31750">
            <a:solidFill>
              <a:srgbClr val="C8414C"/>
            </a:solidFill>
            <a:prstDash val="solid"/>
          </a:ln>
        </p:spPr>
      </p:sp>
      <p:sp>
        <p:nvSpPr>
          <p:cNvPr id="139" name="Shape 137"/>
          <p:cNvSpPr/>
          <p:nvPr/>
        </p:nvSpPr>
        <p:spPr>
          <a:xfrm>
            <a:off x="1339025" y="2613260"/>
            <a:ext cx="58864" cy="114860"/>
          </a:xfrm>
          <a:prstGeom prst="line">
            <a:avLst/>
          </a:prstGeom>
          <a:noFill/>
          <a:ln w="31750">
            <a:solidFill>
              <a:srgbClr val="C8414C"/>
            </a:solidFill>
            <a:prstDash val="solid"/>
          </a:ln>
        </p:spPr>
      </p:sp>
      <p:sp>
        <p:nvSpPr>
          <p:cNvPr id="140" name="Shape 138"/>
          <p:cNvSpPr/>
          <p:nvPr/>
        </p:nvSpPr>
        <p:spPr>
          <a:xfrm>
            <a:off x="1397889" y="2728120"/>
            <a:ext cx="58865" cy="120103"/>
          </a:xfrm>
          <a:prstGeom prst="line">
            <a:avLst/>
          </a:prstGeom>
          <a:noFill/>
          <a:ln w="31750">
            <a:solidFill>
              <a:srgbClr val="C8414C"/>
            </a:solidFill>
            <a:prstDash val="solid"/>
          </a:ln>
        </p:spPr>
      </p:sp>
      <p:sp>
        <p:nvSpPr>
          <p:cNvPr id="141" name="Shape 139"/>
          <p:cNvSpPr/>
          <p:nvPr/>
        </p:nvSpPr>
        <p:spPr>
          <a:xfrm>
            <a:off x="1456754" y="2848223"/>
            <a:ext cx="58865" cy="120763"/>
          </a:xfrm>
          <a:prstGeom prst="line">
            <a:avLst/>
          </a:prstGeom>
          <a:noFill/>
          <a:ln w="31750">
            <a:solidFill>
              <a:srgbClr val="C8414C"/>
            </a:solidFill>
            <a:prstDash val="solid"/>
          </a:ln>
        </p:spPr>
      </p:sp>
      <p:sp>
        <p:nvSpPr>
          <p:cNvPr id="142" name="Shape 140"/>
          <p:cNvSpPr/>
          <p:nvPr/>
        </p:nvSpPr>
        <p:spPr>
          <a:xfrm>
            <a:off x="1515618" y="2968986"/>
            <a:ext cx="58864" cy="117114"/>
          </a:xfrm>
          <a:prstGeom prst="line">
            <a:avLst/>
          </a:prstGeom>
          <a:noFill/>
          <a:ln w="31750">
            <a:solidFill>
              <a:srgbClr val="C8414C"/>
            </a:solidFill>
            <a:prstDash val="solid"/>
          </a:ln>
        </p:spPr>
      </p:sp>
      <p:sp>
        <p:nvSpPr>
          <p:cNvPr id="143" name="Shape 141"/>
          <p:cNvSpPr/>
          <p:nvPr/>
        </p:nvSpPr>
        <p:spPr>
          <a:xfrm>
            <a:off x="1574482" y="3086100"/>
            <a:ext cx="58865" cy="109561"/>
          </a:xfrm>
          <a:prstGeom prst="line">
            <a:avLst/>
          </a:prstGeom>
          <a:noFill/>
          <a:ln w="31750">
            <a:solidFill>
              <a:srgbClr val="C8414C"/>
            </a:solidFill>
            <a:prstDash val="solid"/>
          </a:ln>
        </p:spPr>
      </p:sp>
      <p:sp>
        <p:nvSpPr>
          <p:cNvPr id="144" name="Shape 142"/>
          <p:cNvSpPr/>
          <p:nvPr/>
        </p:nvSpPr>
        <p:spPr>
          <a:xfrm>
            <a:off x="1633347" y="3195661"/>
            <a:ext cx="58865" cy="98623"/>
          </a:xfrm>
          <a:prstGeom prst="line">
            <a:avLst/>
          </a:prstGeom>
          <a:noFill/>
          <a:ln w="31750">
            <a:solidFill>
              <a:srgbClr val="C8414C"/>
            </a:solidFill>
            <a:prstDash val="solid"/>
          </a:ln>
        </p:spPr>
      </p:sp>
      <p:sp>
        <p:nvSpPr>
          <p:cNvPr id="145" name="Shape 143"/>
          <p:cNvSpPr/>
          <p:nvPr/>
        </p:nvSpPr>
        <p:spPr>
          <a:xfrm>
            <a:off x="1692212" y="3294284"/>
            <a:ext cx="58865" cy="84906"/>
          </a:xfrm>
          <a:prstGeom prst="line">
            <a:avLst/>
          </a:prstGeom>
          <a:noFill/>
          <a:ln w="31750">
            <a:solidFill>
              <a:srgbClr val="C8414C"/>
            </a:solidFill>
            <a:prstDash val="solid"/>
          </a:ln>
        </p:spPr>
      </p:sp>
      <p:sp>
        <p:nvSpPr>
          <p:cNvPr id="146" name="Shape 144"/>
          <p:cNvSpPr/>
          <p:nvPr/>
        </p:nvSpPr>
        <p:spPr>
          <a:xfrm>
            <a:off x="1751076" y="3379189"/>
            <a:ext cx="58865" cy="69072"/>
          </a:xfrm>
          <a:prstGeom prst="line">
            <a:avLst/>
          </a:prstGeom>
          <a:noFill/>
          <a:ln w="31750">
            <a:solidFill>
              <a:srgbClr val="C8414C"/>
            </a:solidFill>
            <a:prstDash val="solid"/>
          </a:ln>
        </p:spPr>
      </p:sp>
      <p:sp>
        <p:nvSpPr>
          <p:cNvPr id="147" name="Shape 145"/>
          <p:cNvSpPr/>
          <p:nvPr/>
        </p:nvSpPr>
        <p:spPr>
          <a:xfrm>
            <a:off x="1809941" y="3448261"/>
            <a:ext cx="58865" cy="51819"/>
          </a:xfrm>
          <a:prstGeom prst="line">
            <a:avLst/>
          </a:prstGeom>
          <a:noFill/>
          <a:ln w="31750">
            <a:solidFill>
              <a:srgbClr val="C8414C"/>
            </a:solidFill>
            <a:prstDash val="solid"/>
          </a:ln>
        </p:spPr>
      </p:sp>
      <p:sp>
        <p:nvSpPr>
          <p:cNvPr id="148" name="Shape 146"/>
          <p:cNvSpPr/>
          <p:nvPr/>
        </p:nvSpPr>
        <p:spPr>
          <a:xfrm>
            <a:off x="1868805" y="3500081"/>
            <a:ext cx="58864" cy="33848"/>
          </a:xfrm>
          <a:prstGeom prst="line">
            <a:avLst/>
          </a:prstGeom>
          <a:noFill/>
          <a:ln w="31750">
            <a:solidFill>
              <a:srgbClr val="C8414C"/>
            </a:solidFill>
            <a:prstDash val="solid"/>
          </a:ln>
        </p:spPr>
      </p:sp>
      <p:sp>
        <p:nvSpPr>
          <p:cNvPr id="149" name="Shape 147"/>
          <p:cNvSpPr/>
          <p:nvPr/>
        </p:nvSpPr>
        <p:spPr>
          <a:xfrm>
            <a:off x="1927669" y="3533928"/>
            <a:ext cx="58865" cy="15839"/>
          </a:xfrm>
          <a:prstGeom prst="line">
            <a:avLst/>
          </a:prstGeom>
          <a:noFill/>
          <a:ln w="31750">
            <a:solidFill>
              <a:srgbClr val="C8414C"/>
            </a:solidFill>
            <a:prstDash val="solid"/>
          </a:ln>
        </p:spPr>
      </p:sp>
      <p:sp>
        <p:nvSpPr>
          <p:cNvPr id="150" name="Shape 148"/>
          <p:cNvSpPr/>
          <p:nvPr/>
        </p:nvSpPr>
        <p:spPr>
          <a:xfrm flipV="1">
            <a:off x="1986534" y="3548199"/>
            <a:ext cx="58865" cy="1568"/>
          </a:xfrm>
          <a:prstGeom prst="line">
            <a:avLst/>
          </a:prstGeom>
          <a:noFill/>
          <a:ln w="31750">
            <a:solidFill>
              <a:srgbClr val="C8414C"/>
            </a:solidFill>
            <a:prstDash val="solid"/>
          </a:ln>
        </p:spPr>
      </p:sp>
      <p:sp>
        <p:nvSpPr>
          <p:cNvPr id="151" name="Shape 149"/>
          <p:cNvSpPr/>
          <p:nvPr/>
        </p:nvSpPr>
        <p:spPr>
          <a:xfrm flipV="1">
            <a:off x="2045399" y="3530402"/>
            <a:ext cx="58865" cy="17797"/>
          </a:xfrm>
          <a:prstGeom prst="line">
            <a:avLst/>
          </a:prstGeom>
          <a:noFill/>
          <a:ln w="31750">
            <a:solidFill>
              <a:srgbClr val="C8414C"/>
            </a:solidFill>
            <a:prstDash val="solid"/>
          </a:ln>
        </p:spPr>
      </p:sp>
      <p:sp>
        <p:nvSpPr>
          <p:cNvPr id="152" name="Shape 150"/>
          <p:cNvSpPr/>
          <p:nvPr/>
        </p:nvSpPr>
        <p:spPr>
          <a:xfrm flipV="1">
            <a:off x="2104263" y="3498052"/>
            <a:ext cx="58865" cy="32350"/>
          </a:xfrm>
          <a:prstGeom prst="line">
            <a:avLst/>
          </a:prstGeom>
          <a:noFill/>
          <a:ln w="31750">
            <a:solidFill>
              <a:srgbClr val="C8414C"/>
            </a:solidFill>
            <a:prstDash val="solid"/>
          </a:ln>
        </p:spPr>
      </p:sp>
      <p:sp>
        <p:nvSpPr>
          <p:cNvPr id="153" name="Shape 151"/>
          <p:cNvSpPr/>
          <p:nvPr/>
        </p:nvSpPr>
        <p:spPr>
          <a:xfrm flipV="1">
            <a:off x="2163128" y="3453230"/>
            <a:ext cx="58864" cy="44822"/>
          </a:xfrm>
          <a:prstGeom prst="line">
            <a:avLst/>
          </a:prstGeom>
          <a:noFill/>
          <a:ln w="31750">
            <a:solidFill>
              <a:srgbClr val="C8414C"/>
            </a:solidFill>
            <a:prstDash val="solid"/>
          </a:ln>
        </p:spPr>
      </p:sp>
      <p:sp>
        <p:nvSpPr>
          <p:cNvPr id="154" name="Shape 152"/>
          <p:cNvSpPr/>
          <p:nvPr/>
        </p:nvSpPr>
        <p:spPr>
          <a:xfrm flipV="1">
            <a:off x="2221992" y="3398325"/>
            <a:ext cx="58865" cy="54905"/>
          </a:xfrm>
          <a:prstGeom prst="line">
            <a:avLst/>
          </a:prstGeom>
          <a:noFill/>
          <a:ln w="31750">
            <a:solidFill>
              <a:srgbClr val="C8414C"/>
            </a:solidFill>
            <a:prstDash val="solid"/>
          </a:ln>
        </p:spPr>
      </p:sp>
      <p:sp>
        <p:nvSpPr>
          <p:cNvPr id="155" name="Shape 153"/>
          <p:cNvSpPr/>
          <p:nvPr/>
        </p:nvSpPr>
        <p:spPr>
          <a:xfrm flipV="1">
            <a:off x="2280857" y="3335927"/>
            <a:ext cx="58865" cy="62398"/>
          </a:xfrm>
          <a:prstGeom prst="line">
            <a:avLst/>
          </a:prstGeom>
          <a:noFill/>
          <a:ln w="31750">
            <a:solidFill>
              <a:srgbClr val="C8414C"/>
            </a:solidFill>
            <a:prstDash val="solid"/>
          </a:ln>
        </p:spPr>
      </p:sp>
      <p:sp>
        <p:nvSpPr>
          <p:cNvPr id="156" name="Shape 154"/>
          <p:cNvSpPr/>
          <p:nvPr/>
        </p:nvSpPr>
        <p:spPr>
          <a:xfrm flipV="1">
            <a:off x="2339721" y="3268725"/>
            <a:ext cx="58865" cy="67202"/>
          </a:xfrm>
          <a:prstGeom prst="line">
            <a:avLst/>
          </a:prstGeom>
          <a:noFill/>
          <a:ln w="31750">
            <a:solidFill>
              <a:srgbClr val="C8414C"/>
            </a:solidFill>
            <a:prstDash val="solid"/>
          </a:ln>
        </p:spPr>
      </p:sp>
      <p:sp>
        <p:nvSpPr>
          <p:cNvPr id="157" name="Shape 155"/>
          <p:cNvSpPr/>
          <p:nvPr/>
        </p:nvSpPr>
        <p:spPr>
          <a:xfrm flipV="1">
            <a:off x="2398586" y="3199403"/>
            <a:ext cx="58865" cy="69322"/>
          </a:xfrm>
          <a:prstGeom prst="line">
            <a:avLst/>
          </a:prstGeom>
          <a:noFill/>
          <a:ln w="31750">
            <a:solidFill>
              <a:srgbClr val="C8414C"/>
            </a:solidFill>
            <a:prstDash val="solid"/>
          </a:ln>
        </p:spPr>
      </p:sp>
      <p:sp>
        <p:nvSpPr>
          <p:cNvPr id="158" name="Shape 156"/>
          <p:cNvSpPr/>
          <p:nvPr/>
        </p:nvSpPr>
        <p:spPr>
          <a:xfrm flipV="1">
            <a:off x="2457450" y="3130548"/>
            <a:ext cx="58865" cy="68855"/>
          </a:xfrm>
          <a:prstGeom prst="line">
            <a:avLst/>
          </a:prstGeom>
          <a:noFill/>
          <a:ln w="31750">
            <a:solidFill>
              <a:srgbClr val="C8414C"/>
            </a:solidFill>
            <a:prstDash val="solid"/>
          </a:ln>
        </p:spPr>
      </p:sp>
      <p:sp>
        <p:nvSpPr>
          <p:cNvPr id="159" name="Shape 157"/>
          <p:cNvSpPr/>
          <p:nvPr/>
        </p:nvSpPr>
        <p:spPr>
          <a:xfrm flipV="1">
            <a:off x="2516315" y="3064562"/>
            <a:ext cx="58865" cy="65985"/>
          </a:xfrm>
          <a:prstGeom prst="line">
            <a:avLst/>
          </a:prstGeom>
          <a:noFill/>
          <a:ln w="31750">
            <a:solidFill>
              <a:srgbClr val="C8414C"/>
            </a:solidFill>
            <a:prstDash val="solid"/>
          </a:ln>
        </p:spPr>
      </p:sp>
      <p:sp>
        <p:nvSpPr>
          <p:cNvPr id="160" name="Shape 158"/>
          <p:cNvSpPr/>
          <p:nvPr/>
        </p:nvSpPr>
        <p:spPr>
          <a:xfrm flipV="1">
            <a:off x="2575179" y="3003594"/>
            <a:ext cx="58865" cy="60968"/>
          </a:xfrm>
          <a:prstGeom prst="line">
            <a:avLst/>
          </a:prstGeom>
          <a:noFill/>
          <a:ln w="31750">
            <a:solidFill>
              <a:srgbClr val="C8414C"/>
            </a:solidFill>
            <a:prstDash val="solid"/>
          </a:ln>
        </p:spPr>
      </p:sp>
      <p:sp>
        <p:nvSpPr>
          <p:cNvPr id="161" name="Shape 159"/>
          <p:cNvSpPr/>
          <p:nvPr/>
        </p:nvSpPr>
        <p:spPr>
          <a:xfrm flipV="1">
            <a:off x="2634044" y="2949473"/>
            <a:ext cx="58865" cy="54121"/>
          </a:xfrm>
          <a:prstGeom prst="line">
            <a:avLst/>
          </a:prstGeom>
          <a:noFill/>
          <a:ln w="31750">
            <a:solidFill>
              <a:srgbClr val="C8414C"/>
            </a:solidFill>
            <a:prstDash val="solid"/>
          </a:ln>
        </p:spPr>
      </p:sp>
      <p:sp>
        <p:nvSpPr>
          <p:cNvPr id="162" name="Shape 160"/>
          <p:cNvSpPr/>
          <p:nvPr/>
        </p:nvSpPr>
        <p:spPr>
          <a:xfrm flipV="1">
            <a:off x="2692908" y="2903671"/>
            <a:ext cx="58864" cy="45802"/>
          </a:xfrm>
          <a:prstGeom prst="line">
            <a:avLst/>
          </a:prstGeom>
          <a:noFill/>
          <a:ln w="31750">
            <a:solidFill>
              <a:srgbClr val="C8414C"/>
            </a:solidFill>
            <a:prstDash val="solid"/>
          </a:ln>
        </p:spPr>
      </p:sp>
      <p:sp>
        <p:nvSpPr>
          <p:cNvPr id="163" name="Shape 161"/>
          <p:cNvSpPr/>
          <p:nvPr/>
        </p:nvSpPr>
        <p:spPr>
          <a:xfrm flipV="1">
            <a:off x="2751773" y="2867270"/>
            <a:ext cx="58865" cy="36401"/>
          </a:xfrm>
          <a:prstGeom prst="line">
            <a:avLst/>
          </a:prstGeom>
          <a:noFill/>
          <a:ln w="31750">
            <a:solidFill>
              <a:srgbClr val="C8414C"/>
            </a:solidFill>
            <a:prstDash val="solid"/>
          </a:ln>
        </p:spPr>
      </p:sp>
      <p:sp>
        <p:nvSpPr>
          <p:cNvPr id="164" name="Shape 162"/>
          <p:cNvSpPr/>
          <p:nvPr/>
        </p:nvSpPr>
        <p:spPr>
          <a:xfrm flipV="1">
            <a:off x="2810637" y="2840949"/>
            <a:ext cx="58864" cy="26320"/>
          </a:xfrm>
          <a:prstGeom prst="line">
            <a:avLst/>
          </a:prstGeom>
          <a:noFill/>
          <a:ln w="31750">
            <a:solidFill>
              <a:srgbClr val="C8414C"/>
            </a:solidFill>
            <a:prstDash val="solid"/>
          </a:ln>
        </p:spPr>
      </p:sp>
      <p:sp>
        <p:nvSpPr>
          <p:cNvPr id="165" name="Shape 163"/>
          <p:cNvSpPr/>
          <p:nvPr/>
        </p:nvSpPr>
        <p:spPr>
          <a:xfrm flipV="1">
            <a:off x="2869501" y="2824990"/>
            <a:ext cx="58865" cy="15960"/>
          </a:xfrm>
          <a:prstGeom prst="line">
            <a:avLst/>
          </a:prstGeom>
          <a:noFill/>
          <a:ln w="31750">
            <a:solidFill>
              <a:srgbClr val="C8414C"/>
            </a:solidFill>
            <a:prstDash val="solid"/>
          </a:ln>
        </p:spPr>
      </p:sp>
      <p:sp>
        <p:nvSpPr>
          <p:cNvPr id="166" name="Shape 164"/>
          <p:cNvSpPr/>
          <p:nvPr/>
        </p:nvSpPr>
        <p:spPr>
          <a:xfrm flipV="1">
            <a:off x="2928366" y="2819287"/>
            <a:ext cx="58864" cy="5703"/>
          </a:xfrm>
          <a:prstGeom prst="line">
            <a:avLst/>
          </a:prstGeom>
          <a:noFill/>
          <a:ln w="31750">
            <a:solidFill>
              <a:srgbClr val="C8414C"/>
            </a:solidFill>
            <a:prstDash val="solid"/>
          </a:ln>
        </p:spPr>
      </p:sp>
      <p:sp>
        <p:nvSpPr>
          <p:cNvPr id="167" name="Shape 165"/>
          <p:cNvSpPr/>
          <p:nvPr/>
        </p:nvSpPr>
        <p:spPr>
          <a:xfrm>
            <a:off x="2987231" y="2819287"/>
            <a:ext cx="58865" cy="4094"/>
          </a:xfrm>
          <a:prstGeom prst="line">
            <a:avLst/>
          </a:prstGeom>
          <a:noFill/>
          <a:ln w="31750">
            <a:solidFill>
              <a:srgbClr val="C8414C"/>
            </a:solidFill>
            <a:prstDash val="solid"/>
          </a:ln>
        </p:spPr>
      </p:sp>
      <p:sp>
        <p:nvSpPr>
          <p:cNvPr id="168" name="Shape 166"/>
          <p:cNvSpPr/>
          <p:nvPr/>
        </p:nvSpPr>
        <p:spPr>
          <a:xfrm>
            <a:off x="3046095" y="2823380"/>
            <a:ext cx="58865" cy="13114"/>
          </a:xfrm>
          <a:prstGeom prst="line">
            <a:avLst/>
          </a:prstGeom>
          <a:noFill/>
          <a:ln w="31750">
            <a:solidFill>
              <a:srgbClr val="C8414C"/>
            </a:solidFill>
            <a:prstDash val="solid"/>
          </a:ln>
        </p:spPr>
      </p:sp>
      <p:sp>
        <p:nvSpPr>
          <p:cNvPr id="169" name="Shape 167"/>
          <p:cNvSpPr/>
          <p:nvPr/>
        </p:nvSpPr>
        <p:spPr>
          <a:xfrm>
            <a:off x="3104960" y="2836494"/>
            <a:ext cx="58865" cy="21089"/>
          </a:xfrm>
          <a:prstGeom prst="line">
            <a:avLst/>
          </a:prstGeom>
          <a:noFill/>
          <a:ln w="31750">
            <a:solidFill>
              <a:srgbClr val="C8414C"/>
            </a:solidFill>
            <a:prstDash val="solid"/>
          </a:ln>
        </p:spPr>
      </p:sp>
      <p:sp>
        <p:nvSpPr>
          <p:cNvPr id="170" name="Shape 168"/>
          <p:cNvSpPr/>
          <p:nvPr/>
        </p:nvSpPr>
        <p:spPr>
          <a:xfrm>
            <a:off x="3163824" y="2857583"/>
            <a:ext cx="58865" cy="27804"/>
          </a:xfrm>
          <a:prstGeom prst="line">
            <a:avLst/>
          </a:prstGeom>
          <a:noFill/>
          <a:ln w="31750">
            <a:solidFill>
              <a:srgbClr val="C8414C"/>
            </a:solidFill>
            <a:prstDash val="solid"/>
          </a:ln>
        </p:spPr>
      </p:sp>
      <p:sp>
        <p:nvSpPr>
          <p:cNvPr id="171" name="Shape 169"/>
          <p:cNvSpPr/>
          <p:nvPr/>
        </p:nvSpPr>
        <p:spPr>
          <a:xfrm>
            <a:off x="3222689" y="2885387"/>
            <a:ext cx="58865" cy="33104"/>
          </a:xfrm>
          <a:prstGeom prst="line">
            <a:avLst/>
          </a:prstGeom>
          <a:noFill/>
          <a:ln w="31750">
            <a:solidFill>
              <a:srgbClr val="C8414C"/>
            </a:solidFill>
            <a:prstDash val="solid"/>
          </a:ln>
        </p:spPr>
      </p:sp>
      <p:sp>
        <p:nvSpPr>
          <p:cNvPr id="172" name="Shape 170"/>
          <p:cNvSpPr/>
          <p:nvPr/>
        </p:nvSpPr>
        <p:spPr>
          <a:xfrm>
            <a:off x="3281553" y="2918492"/>
            <a:ext cx="58865" cy="36892"/>
          </a:xfrm>
          <a:prstGeom prst="line">
            <a:avLst/>
          </a:prstGeom>
          <a:noFill/>
          <a:ln w="31750">
            <a:solidFill>
              <a:srgbClr val="C8414C"/>
            </a:solidFill>
            <a:prstDash val="solid"/>
          </a:ln>
        </p:spPr>
      </p:sp>
      <p:sp>
        <p:nvSpPr>
          <p:cNvPr id="173" name="Shape 171"/>
          <p:cNvSpPr/>
          <p:nvPr/>
        </p:nvSpPr>
        <p:spPr>
          <a:xfrm>
            <a:off x="3340418" y="2955384"/>
            <a:ext cx="58865" cy="39132"/>
          </a:xfrm>
          <a:prstGeom prst="line">
            <a:avLst/>
          </a:prstGeom>
          <a:noFill/>
          <a:ln w="31750">
            <a:solidFill>
              <a:srgbClr val="C8414C"/>
            </a:solidFill>
            <a:prstDash val="solid"/>
          </a:ln>
        </p:spPr>
      </p:sp>
      <p:sp>
        <p:nvSpPr>
          <p:cNvPr id="174" name="Shape 172"/>
          <p:cNvSpPr/>
          <p:nvPr/>
        </p:nvSpPr>
        <p:spPr>
          <a:xfrm>
            <a:off x="3399282" y="2994516"/>
            <a:ext cx="58864" cy="39845"/>
          </a:xfrm>
          <a:prstGeom prst="line">
            <a:avLst/>
          </a:prstGeom>
          <a:noFill/>
          <a:ln w="31750">
            <a:solidFill>
              <a:srgbClr val="C8414C"/>
            </a:solidFill>
            <a:prstDash val="solid"/>
          </a:ln>
        </p:spPr>
      </p:sp>
      <p:sp>
        <p:nvSpPr>
          <p:cNvPr id="175" name="Shape 173"/>
          <p:cNvSpPr/>
          <p:nvPr/>
        </p:nvSpPr>
        <p:spPr>
          <a:xfrm>
            <a:off x="3458147" y="3034361"/>
            <a:ext cx="58865" cy="39104"/>
          </a:xfrm>
          <a:prstGeom prst="line">
            <a:avLst/>
          </a:prstGeom>
          <a:noFill/>
          <a:ln w="31750">
            <a:solidFill>
              <a:srgbClr val="C8414C"/>
            </a:solidFill>
            <a:prstDash val="solid"/>
          </a:ln>
        </p:spPr>
      </p:sp>
      <p:sp>
        <p:nvSpPr>
          <p:cNvPr id="176" name="Shape 174"/>
          <p:cNvSpPr/>
          <p:nvPr/>
        </p:nvSpPr>
        <p:spPr>
          <a:xfrm>
            <a:off x="3517011" y="3073465"/>
            <a:ext cx="58864" cy="37028"/>
          </a:xfrm>
          <a:prstGeom prst="line">
            <a:avLst/>
          </a:prstGeom>
          <a:noFill/>
          <a:ln w="31750">
            <a:solidFill>
              <a:srgbClr val="C8414C"/>
            </a:solidFill>
            <a:prstDash val="solid"/>
          </a:ln>
        </p:spPr>
      </p:sp>
      <p:sp>
        <p:nvSpPr>
          <p:cNvPr id="177" name="Shape 175"/>
          <p:cNvSpPr/>
          <p:nvPr/>
        </p:nvSpPr>
        <p:spPr>
          <a:xfrm>
            <a:off x="3575876" y="3110493"/>
            <a:ext cx="58865" cy="33778"/>
          </a:xfrm>
          <a:prstGeom prst="line">
            <a:avLst/>
          </a:prstGeom>
          <a:noFill/>
          <a:ln w="31750">
            <a:solidFill>
              <a:srgbClr val="C8414C"/>
            </a:solidFill>
            <a:prstDash val="solid"/>
          </a:ln>
        </p:spPr>
      </p:sp>
      <p:sp>
        <p:nvSpPr>
          <p:cNvPr id="178" name="Shape 176"/>
          <p:cNvSpPr/>
          <p:nvPr/>
        </p:nvSpPr>
        <p:spPr>
          <a:xfrm>
            <a:off x="3634740" y="3144272"/>
            <a:ext cx="58865" cy="29544"/>
          </a:xfrm>
          <a:prstGeom prst="line">
            <a:avLst/>
          </a:prstGeom>
          <a:noFill/>
          <a:ln w="31750">
            <a:solidFill>
              <a:srgbClr val="C8414C"/>
            </a:solidFill>
            <a:prstDash val="solid"/>
          </a:ln>
        </p:spPr>
      </p:sp>
      <p:sp>
        <p:nvSpPr>
          <p:cNvPr id="179" name="Shape 177"/>
          <p:cNvSpPr/>
          <p:nvPr/>
        </p:nvSpPr>
        <p:spPr>
          <a:xfrm>
            <a:off x="3693605" y="3173816"/>
            <a:ext cx="58864" cy="24539"/>
          </a:xfrm>
          <a:prstGeom prst="line">
            <a:avLst/>
          </a:prstGeom>
          <a:noFill/>
          <a:ln w="31750">
            <a:solidFill>
              <a:srgbClr val="C8414C"/>
            </a:solidFill>
            <a:prstDash val="solid"/>
          </a:ln>
        </p:spPr>
      </p:sp>
      <p:sp>
        <p:nvSpPr>
          <p:cNvPr id="180" name="Shape 178"/>
          <p:cNvSpPr/>
          <p:nvPr/>
        </p:nvSpPr>
        <p:spPr>
          <a:xfrm>
            <a:off x="3752469" y="3198354"/>
            <a:ext cx="58865" cy="18989"/>
          </a:xfrm>
          <a:prstGeom prst="line">
            <a:avLst/>
          </a:prstGeom>
          <a:noFill/>
          <a:ln w="31750">
            <a:solidFill>
              <a:srgbClr val="C8414C"/>
            </a:solidFill>
            <a:prstDash val="solid"/>
          </a:ln>
        </p:spPr>
      </p:sp>
      <p:sp>
        <p:nvSpPr>
          <p:cNvPr id="181" name="Shape 179"/>
          <p:cNvSpPr/>
          <p:nvPr/>
        </p:nvSpPr>
        <p:spPr>
          <a:xfrm>
            <a:off x="3811334" y="3217344"/>
            <a:ext cx="58865" cy="13127"/>
          </a:xfrm>
          <a:prstGeom prst="line">
            <a:avLst/>
          </a:prstGeom>
          <a:noFill/>
          <a:ln w="31750">
            <a:solidFill>
              <a:srgbClr val="C8414C"/>
            </a:solidFill>
            <a:prstDash val="solid"/>
          </a:ln>
        </p:spPr>
      </p:sp>
      <p:sp>
        <p:nvSpPr>
          <p:cNvPr id="182" name="Shape 180"/>
          <p:cNvSpPr/>
          <p:nvPr/>
        </p:nvSpPr>
        <p:spPr>
          <a:xfrm>
            <a:off x="3870198" y="3230470"/>
            <a:ext cx="58865" cy="7178"/>
          </a:xfrm>
          <a:prstGeom prst="line">
            <a:avLst/>
          </a:prstGeom>
          <a:noFill/>
          <a:ln w="31750">
            <a:solidFill>
              <a:srgbClr val="C8414C"/>
            </a:solidFill>
            <a:prstDash val="solid"/>
          </a:ln>
        </p:spPr>
      </p:sp>
      <p:sp>
        <p:nvSpPr>
          <p:cNvPr id="183" name="Shape 181"/>
          <p:cNvSpPr/>
          <p:nvPr/>
        </p:nvSpPr>
        <p:spPr>
          <a:xfrm>
            <a:off x="3929063" y="3237649"/>
            <a:ext cx="58865" cy="1360"/>
          </a:xfrm>
          <a:prstGeom prst="line">
            <a:avLst/>
          </a:prstGeom>
          <a:noFill/>
          <a:ln w="31750">
            <a:solidFill>
              <a:srgbClr val="C8414C"/>
            </a:solidFill>
            <a:prstDash val="solid"/>
          </a:ln>
        </p:spPr>
      </p:sp>
      <p:sp>
        <p:nvSpPr>
          <p:cNvPr id="184" name="Shape 182"/>
          <p:cNvSpPr/>
          <p:nvPr/>
        </p:nvSpPr>
        <p:spPr>
          <a:xfrm flipV="1">
            <a:off x="3987927" y="3234877"/>
            <a:ext cx="58865" cy="4132"/>
          </a:xfrm>
          <a:prstGeom prst="line">
            <a:avLst/>
          </a:prstGeom>
          <a:noFill/>
          <a:ln w="31750">
            <a:solidFill>
              <a:srgbClr val="C8414C"/>
            </a:solidFill>
            <a:prstDash val="solid"/>
          </a:ln>
        </p:spPr>
      </p:sp>
      <p:sp>
        <p:nvSpPr>
          <p:cNvPr id="185" name="Shape 183"/>
          <p:cNvSpPr/>
          <p:nvPr/>
        </p:nvSpPr>
        <p:spPr>
          <a:xfrm flipV="1">
            <a:off x="4046792" y="3225754"/>
            <a:ext cx="58865" cy="9123"/>
          </a:xfrm>
          <a:prstGeom prst="line">
            <a:avLst/>
          </a:prstGeom>
          <a:noFill/>
          <a:ln w="31750">
            <a:solidFill>
              <a:srgbClr val="C8414C"/>
            </a:solidFill>
            <a:prstDash val="solid"/>
          </a:ln>
        </p:spPr>
      </p:sp>
      <p:sp>
        <p:nvSpPr>
          <p:cNvPr id="186" name="Shape 184"/>
          <p:cNvSpPr/>
          <p:nvPr/>
        </p:nvSpPr>
        <p:spPr>
          <a:xfrm flipV="1">
            <a:off x="4105656" y="3212284"/>
            <a:ext cx="58865" cy="13470"/>
          </a:xfrm>
          <a:prstGeom prst="line">
            <a:avLst/>
          </a:prstGeom>
          <a:noFill/>
          <a:ln w="31750">
            <a:solidFill>
              <a:srgbClr val="C8414C"/>
            </a:solidFill>
            <a:prstDash val="solid"/>
          </a:ln>
        </p:spPr>
      </p:sp>
      <p:sp>
        <p:nvSpPr>
          <p:cNvPr id="187" name="Shape 185"/>
          <p:cNvSpPr/>
          <p:nvPr/>
        </p:nvSpPr>
        <p:spPr>
          <a:xfrm flipV="1">
            <a:off x="4164521" y="3195224"/>
            <a:ext cx="58865" cy="17060"/>
          </a:xfrm>
          <a:prstGeom prst="line">
            <a:avLst/>
          </a:prstGeom>
          <a:noFill/>
          <a:ln w="31750">
            <a:solidFill>
              <a:srgbClr val="C8414C"/>
            </a:solidFill>
            <a:prstDash val="solid"/>
          </a:ln>
        </p:spPr>
      </p:sp>
      <p:sp>
        <p:nvSpPr>
          <p:cNvPr id="188" name="Shape 186"/>
          <p:cNvSpPr/>
          <p:nvPr/>
        </p:nvSpPr>
        <p:spPr>
          <a:xfrm flipV="1">
            <a:off x="4223385" y="3175408"/>
            <a:ext cx="58865" cy="19816"/>
          </a:xfrm>
          <a:prstGeom prst="line">
            <a:avLst/>
          </a:prstGeom>
          <a:noFill/>
          <a:ln w="31750">
            <a:solidFill>
              <a:srgbClr val="C8414C"/>
            </a:solidFill>
            <a:prstDash val="solid"/>
          </a:ln>
        </p:spPr>
      </p:sp>
      <p:sp>
        <p:nvSpPr>
          <p:cNvPr id="189" name="Shape 187"/>
          <p:cNvSpPr/>
          <p:nvPr/>
        </p:nvSpPr>
        <p:spPr>
          <a:xfrm flipV="1">
            <a:off x="4282250" y="3153714"/>
            <a:ext cx="58865" cy="21694"/>
          </a:xfrm>
          <a:prstGeom prst="line">
            <a:avLst/>
          </a:prstGeom>
          <a:noFill/>
          <a:ln w="31750">
            <a:solidFill>
              <a:srgbClr val="C8414C"/>
            </a:solidFill>
            <a:prstDash val="solid"/>
          </a:ln>
        </p:spPr>
      </p:sp>
      <p:sp>
        <p:nvSpPr>
          <p:cNvPr id="190" name="Shape 188"/>
          <p:cNvSpPr/>
          <p:nvPr/>
        </p:nvSpPr>
        <p:spPr>
          <a:xfrm flipV="1">
            <a:off x="4341114" y="3131029"/>
            <a:ext cx="58865" cy="22685"/>
          </a:xfrm>
          <a:prstGeom prst="line">
            <a:avLst/>
          </a:prstGeom>
          <a:noFill/>
          <a:ln w="31750">
            <a:solidFill>
              <a:srgbClr val="C8414C"/>
            </a:solidFill>
            <a:prstDash val="solid"/>
          </a:ln>
        </p:spPr>
      </p:sp>
      <p:sp>
        <p:nvSpPr>
          <p:cNvPr id="191" name="Shape 189"/>
          <p:cNvSpPr/>
          <p:nvPr/>
        </p:nvSpPr>
        <p:spPr>
          <a:xfrm flipV="1">
            <a:off x="4399979" y="3108220"/>
            <a:ext cx="58864" cy="22809"/>
          </a:xfrm>
          <a:prstGeom prst="line">
            <a:avLst/>
          </a:prstGeom>
          <a:noFill/>
          <a:ln w="31750">
            <a:solidFill>
              <a:srgbClr val="C8414C"/>
            </a:solidFill>
            <a:prstDash val="solid"/>
          </a:ln>
        </p:spPr>
      </p:sp>
      <p:sp>
        <p:nvSpPr>
          <p:cNvPr id="192" name="Shape 190"/>
          <p:cNvSpPr/>
          <p:nvPr/>
        </p:nvSpPr>
        <p:spPr>
          <a:xfrm flipV="1">
            <a:off x="4458843" y="3086100"/>
            <a:ext cx="58865" cy="22120"/>
          </a:xfrm>
          <a:prstGeom prst="line">
            <a:avLst/>
          </a:prstGeom>
          <a:noFill/>
          <a:ln w="31750">
            <a:solidFill>
              <a:srgbClr val="C8414C"/>
            </a:solidFill>
            <a:prstDash val="solid"/>
          </a:ln>
        </p:spPr>
      </p:sp>
      <p:sp>
        <p:nvSpPr>
          <p:cNvPr id="193" name="Shape 191"/>
          <p:cNvSpPr/>
          <p:nvPr/>
        </p:nvSpPr>
        <p:spPr>
          <a:xfrm flipV="1">
            <a:off x="4517708" y="3065407"/>
            <a:ext cx="58865" cy="20693"/>
          </a:xfrm>
          <a:prstGeom prst="line">
            <a:avLst/>
          </a:prstGeom>
          <a:noFill/>
          <a:ln w="31750">
            <a:solidFill>
              <a:srgbClr val="C8414C"/>
            </a:solidFill>
            <a:prstDash val="solid"/>
          </a:ln>
        </p:spPr>
      </p:sp>
      <p:sp>
        <p:nvSpPr>
          <p:cNvPr id="194" name="Shape 192"/>
          <p:cNvSpPr/>
          <p:nvPr/>
        </p:nvSpPr>
        <p:spPr>
          <a:xfrm flipV="1">
            <a:off x="4576572" y="3046779"/>
            <a:ext cx="58865" cy="18627"/>
          </a:xfrm>
          <a:prstGeom prst="line">
            <a:avLst/>
          </a:prstGeom>
          <a:noFill/>
          <a:ln w="31750">
            <a:solidFill>
              <a:srgbClr val="C8414C"/>
            </a:solidFill>
            <a:prstDash val="solid"/>
          </a:ln>
        </p:spPr>
      </p:sp>
      <p:sp>
        <p:nvSpPr>
          <p:cNvPr id="195" name="Shape 193"/>
          <p:cNvSpPr/>
          <p:nvPr/>
        </p:nvSpPr>
        <p:spPr>
          <a:xfrm flipV="1">
            <a:off x="4635437" y="3030743"/>
            <a:ext cx="58864" cy="16037"/>
          </a:xfrm>
          <a:prstGeom prst="line">
            <a:avLst/>
          </a:prstGeom>
          <a:noFill/>
          <a:ln w="31750">
            <a:solidFill>
              <a:srgbClr val="C8414C"/>
            </a:solidFill>
            <a:prstDash val="solid"/>
          </a:ln>
        </p:spPr>
      </p:sp>
      <p:sp>
        <p:nvSpPr>
          <p:cNvPr id="196" name="Shape 194"/>
          <p:cNvSpPr/>
          <p:nvPr/>
        </p:nvSpPr>
        <p:spPr>
          <a:xfrm flipV="1">
            <a:off x="4694301" y="3017697"/>
            <a:ext cx="58864" cy="13046"/>
          </a:xfrm>
          <a:prstGeom prst="line">
            <a:avLst/>
          </a:prstGeom>
          <a:noFill/>
          <a:ln w="31750">
            <a:solidFill>
              <a:srgbClr val="C8414C"/>
            </a:solidFill>
            <a:prstDash val="solid"/>
          </a:ln>
        </p:spPr>
      </p:sp>
      <p:sp>
        <p:nvSpPr>
          <p:cNvPr id="197" name="Shape 195"/>
          <p:cNvSpPr/>
          <p:nvPr/>
        </p:nvSpPr>
        <p:spPr>
          <a:xfrm flipV="1">
            <a:off x="4753165" y="3007909"/>
            <a:ext cx="58865" cy="9787"/>
          </a:xfrm>
          <a:prstGeom prst="line">
            <a:avLst/>
          </a:prstGeom>
          <a:noFill/>
          <a:ln w="31750">
            <a:solidFill>
              <a:srgbClr val="C8414C"/>
            </a:solidFill>
            <a:prstDash val="solid"/>
          </a:ln>
        </p:spPr>
      </p:sp>
      <p:sp>
        <p:nvSpPr>
          <p:cNvPr id="198" name="Shape 196"/>
          <p:cNvSpPr/>
          <p:nvPr/>
        </p:nvSpPr>
        <p:spPr>
          <a:xfrm flipV="1">
            <a:off x="4812030" y="3001516"/>
            <a:ext cx="58865" cy="6393"/>
          </a:xfrm>
          <a:prstGeom prst="line">
            <a:avLst/>
          </a:prstGeom>
          <a:noFill/>
          <a:ln w="31750">
            <a:solidFill>
              <a:srgbClr val="C8414C"/>
            </a:solidFill>
            <a:prstDash val="solid"/>
          </a:ln>
        </p:spPr>
      </p:sp>
      <p:sp>
        <p:nvSpPr>
          <p:cNvPr id="199" name="Shape 197"/>
          <p:cNvSpPr/>
          <p:nvPr/>
        </p:nvSpPr>
        <p:spPr>
          <a:xfrm flipV="1">
            <a:off x="4870895" y="2998525"/>
            <a:ext cx="58864" cy="2992"/>
          </a:xfrm>
          <a:prstGeom prst="line">
            <a:avLst/>
          </a:prstGeom>
          <a:noFill/>
          <a:ln w="31750">
            <a:solidFill>
              <a:srgbClr val="C8414C"/>
            </a:solidFill>
            <a:prstDash val="solid"/>
          </a:ln>
        </p:spPr>
      </p:sp>
      <p:sp>
        <p:nvSpPr>
          <p:cNvPr id="200" name="Shape 198"/>
          <p:cNvSpPr/>
          <p:nvPr/>
        </p:nvSpPr>
        <p:spPr>
          <a:xfrm>
            <a:off x="4929759" y="2998525"/>
            <a:ext cx="58864" cy="296"/>
          </a:xfrm>
          <a:prstGeom prst="line">
            <a:avLst/>
          </a:prstGeom>
          <a:noFill/>
          <a:ln w="31750">
            <a:solidFill>
              <a:srgbClr val="C8414C"/>
            </a:solidFill>
            <a:prstDash val="solid"/>
          </a:ln>
        </p:spPr>
      </p:sp>
      <p:sp>
        <p:nvSpPr>
          <p:cNvPr id="201" name="Shape 199"/>
          <p:cNvSpPr/>
          <p:nvPr/>
        </p:nvSpPr>
        <p:spPr>
          <a:xfrm>
            <a:off x="4988624" y="2998821"/>
            <a:ext cx="58865" cy="3361"/>
          </a:xfrm>
          <a:prstGeom prst="line">
            <a:avLst/>
          </a:prstGeom>
          <a:noFill/>
          <a:ln w="31750">
            <a:solidFill>
              <a:srgbClr val="C8414C"/>
            </a:solidFill>
            <a:prstDash val="solid"/>
          </a:ln>
        </p:spPr>
      </p:sp>
      <p:sp>
        <p:nvSpPr>
          <p:cNvPr id="202" name="Shape 200"/>
          <p:cNvSpPr/>
          <p:nvPr/>
        </p:nvSpPr>
        <p:spPr>
          <a:xfrm>
            <a:off x="5047488" y="3002182"/>
            <a:ext cx="58865" cy="6110"/>
          </a:xfrm>
          <a:prstGeom prst="line">
            <a:avLst/>
          </a:prstGeom>
          <a:noFill/>
          <a:ln w="31750">
            <a:solidFill>
              <a:srgbClr val="C8414C"/>
            </a:solidFill>
            <a:prstDash val="solid"/>
          </a:ln>
        </p:spPr>
      </p:sp>
      <p:sp>
        <p:nvSpPr>
          <p:cNvPr id="203" name="Shape 201"/>
          <p:cNvSpPr/>
          <p:nvPr/>
        </p:nvSpPr>
        <p:spPr>
          <a:xfrm>
            <a:off x="5106353" y="3008292"/>
            <a:ext cx="58865" cy="8466"/>
          </a:xfrm>
          <a:prstGeom prst="line">
            <a:avLst/>
          </a:prstGeom>
          <a:noFill/>
          <a:ln w="31750">
            <a:solidFill>
              <a:srgbClr val="C8414C"/>
            </a:solidFill>
            <a:prstDash val="solid"/>
          </a:ln>
        </p:spPr>
      </p:sp>
      <p:sp>
        <p:nvSpPr>
          <p:cNvPr id="204" name="Shape 202"/>
          <p:cNvSpPr/>
          <p:nvPr/>
        </p:nvSpPr>
        <p:spPr>
          <a:xfrm>
            <a:off x="5165217" y="3016758"/>
            <a:ext cx="58865" cy="10370"/>
          </a:xfrm>
          <a:prstGeom prst="line">
            <a:avLst/>
          </a:prstGeom>
          <a:noFill/>
          <a:ln w="31750">
            <a:solidFill>
              <a:srgbClr val="C8414C"/>
            </a:solidFill>
            <a:prstDash val="solid"/>
          </a:ln>
        </p:spPr>
      </p:sp>
      <p:sp>
        <p:nvSpPr>
          <p:cNvPr id="205" name="Shape 203"/>
          <p:cNvSpPr/>
          <p:nvPr/>
        </p:nvSpPr>
        <p:spPr>
          <a:xfrm>
            <a:off x="5224082" y="3027128"/>
            <a:ext cx="58865" cy="11785"/>
          </a:xfrm>
          <a:prstGeom prst="line">
            <a:avLst/>
          </a:prstGeom>
          <a:noFill/>
          <a:ln w="31750">
            <a:solidFill>
              <a:srgbClr val="C8414C"/>
            </a:solidFill>
            <a:prstDash val="solid"/>
          </a:ln>
        </p:spPr>
      </p:sp>
      <p:sp>
        <p:nvSpPr>
          <p:cNvPr id="206" name="Shape 204"/>
          <p:cNvSpPr/>
          <p:nvPr/>
        </p:nvSpPr>
        <p:spPr>
          <a:xfrm>
            <a:off x="5282946" y="3038914"/>
            <a:ext cx="58865" cy="12693"/>
          </a:xfrm>
          <a:prstGeom prst="line">
            <a:avLst/>
          </a:prstGeom>
          <a:noFill/>
          <a:ln w="31750">
            <a:solidFill>
              <a:srgbClr val="C8414C"/>
            </a:solidFill>
            <a:prstDash val="solid"/>
          </a:ln>
        </p:spPr>
      </p:sp>
      <p:sp>
        <p:nvSpPr>
          <p:cNvPr id="207" name="Shape 205"/>
          <p:cNvSpPr/>
          <p:nvPr/>
        </p:nvSpPr>
        <p:spPr>
          <a:xfrm>
            <a:off x="5341811" y="3051607"/>
            <a:ext cx="58865" cy="13093"/>
          </a:xfrm>
          <a:prstGeom prst="line">
            <a:avLst/>
          </a:prstGeom>
          <a:noFill/>
          <a:ln w="31750">
            <a:solidFill>
              <a:srgbClr val="C8414C"/>
            </a:solidFill>
            <a:prstDash val="solid"/>
          </a:ln>
        </p:spPr>
      </p:sp>
      <p:sp>
        <p:nvSpPr>
          <p:cNvPr id="208" name="Shape 206"/>
          <p:cNvSpPr/>
          <p:nvPr/>
        </p:nvSpPr>
        <p:spPr>
          <a:xfrm>
            <a:off x="5400675" y="3064700"/>
            <a:ext cx="58865" cy="13005"/>
          </a:xfrm>
          <a:prstGeom prst="line">
            <a:avLst/>
          </a:prstGeom>
          <a:noFill/>
          <a:ln w="31750">
            <a:solidFill>
              <a:srgbClr val="C8414C"/>
            </a:solidFill>
            <a:prstDash val="solid"/>
          </a:ln>
        </p:spPr>
      </p:sp>
      <p:sp>
        <p:nvSpPr>
          <p:cNvPr id="209" name="Shape 207"/>
          <p:cNvSpPr/>
          <p:nvPr/>
        </p:nvSpPr>
        <p:spPr>
          <a:xfrm>
            <a:off x="5459540" y="3077705"/>
            <a:ext cx="58865" cy="12463"/>
          </a:xfrm>
          <a:prstGeom prst="line">
            <a:avLst/>
          </a:prstGeom>
          <a:noFill/>
          <a:ln w="31750">
            <a:solidFill>
              <a:srgbClr val="C8414C"/>
            </a:solidFill>
            <a:prstDash val="solid"/>
          </a:ln>
        </p:spPr>
      </p:sp>
      <p:sp>
        <p:nvSpPr>
          <p:cNvPr id="210" name="Shape 208"/>
          <p:cNvSpPr/>
          <p:nvPr/>
        </p:nvSpPr>
        <p:spPr>
          <a:xfrm>
            <a:off x="5518404" y="3090168"/>
            <a:ext cx="58865" cy="11515"/>
          </a:xfrm>
          <a:prstGeom prst="line">
            <a:avLst/>
          </a:prstGeom>
          <a:noFill/>
          <a:ln w="31750">
            <a:solidFill>
              <a:srgbClr val="C8414C"/>
            </a:solidFill>
            <a:prstDash val="solid"/>
          </a:ln>
        </p:spPr>
      </p:sp>
      <p:sp>
        <p:nvSpPr>
          <p:cNvPr id="211" name="Shape 209"/>
          <p:cNvSpPr/>
          <p:nvPr/>
        </p:nvSpPr>
        <p:spPr>
          <a:xfrm>
            <a:off x="5577269" y="3101683"/>
            <a:ext cx="58865" cy="10222"/>
          </a:xfrm>
          <a:prstGeom prst="line">
            <a:avLst/>
          </a:prstGeom>
          <a:noFill/>
          <a:ln w="31750">
            <a:solidFill>
              <a:srgbClr val="C8414C"/>
            </a:solidFill>
            <a:prstDash val="solid"/>
          </a:ln>
        </p:spPr>
      </p:sp>
      <p:sp>
        <p:nvSpPr>
          <p:cNvPr id="212" name="Shape 210"/>
          <p:cNvSpPr/>
          <p:nvPr/>
        </p:nvSpPr>
        <p:spPr>
          <a:xfrm>
            <a:off x="5636133" y="3111905"/>
            <a:ext cx="58865" cy="8651"/>
          </a:xfrm>
          <a:prstGeom prst="line">
            <a:avLst/>
          </a:prstGeom>
          <a:noFill/>
          <a:ln w="31750">
            <a:solidFill>
              <a:srgbClr val="C8414C"/>
            </a:solidFill>
            <a:prstDash val="solid"/>
          </a:ln>
        </p:spPr>
      </p:sp>
      <p:sp>
        <p:nvSpPr>
          <p:cNvPr id="213" name="Shape 211"/>
          <p:cNvSpPr/>
          <p:nvPr/>
        </p:nvSpPr>
        <p:spPr>
          <a:xfrm>
            <a:off x="5694998" y="3120556"/>
            <a:ext cx="58865" cy="6875"/>
          </a:xfrm>
          <a:prstGeom prst="line">
            <a:avLst/>
          </a:prstGeom>
          <a:noFill/>
          <a:ln w="31750">
            <a:solidFill>
              <a:srgbClr val="C8414C"/>
            </a:solidFill>
            <a:prstDash val="solid"/>
          </a:ln>
        </p:spPr>
      </p:sp>
      <p:sp>
        <p:nvSpPr>
          <p:cNvPr id="214" name="Shape 212"/>
          <p:cNvSpPr/>
          <p:nvPr/>
        </p:nvSpPr>
        <p:spPr>
          <a:xfrm>
            <a:off x="5753862" y="3127432"/>
            <a:ext cx="58865" cy="4971"/>
          </a:xfrm>
          <a:prstGeom prst="line">
            <a:avLst/>
          </a:prstGeom>
          <a:noFill/>
          <a:ln w="31750">
            <a:solidFill>
              <a:srgbClr val="C8414C"/>
            </a:solidFill>
            <a:prstDash val="solid"/>
          </a:ln>
        </p:spPr>
      </p:sp>
      <p:sp>
        <p:nvSpPr>
          <p:cNvPr id="215" name="Shape 213"/>
          <p:cNvSpPr/>
          <p:nvPr/>
        </p:nvSpPr>
        <p:spPr>
          <a:xfrm>
            <a:off x="5812727" y="3132403"/>
            <a:ext cx="58865" cy="3014"/>
          </a:xfrm>
          <a:prstGeom prst="line">
            <a:avLst/>
          </a:prstGeom>
          <a:noFill/>
          <a:ln w="31750">
            <a:solidFill>
              <a:srgbClr val="C8414C"/>
            </a:solidFill>
            <a:prstDash val="solid"/>
          </a:ln>
        </p:spPr>
      </p:sp>
      <p:sp>
        <p:nvSpPr>
          <p:cNvPr id="216" name="Shape 214"/>
          <p:cNvSpPr/>
          <p:nvPr/>
        </p:nvSpPr>
        <p:spPr>
          <a:xfrm>
            <a:off x="5871591" y="3135417"/>
            <a:ext cx="58865" cy="1077"/>
          </a:xfrm>
          <a:prstGeom prst="line">
            <a:avLst/>
          </a:prstGeom>
          <a:noFill/>
          <a:ln w="31750">
            <a:solidFill>
              <a:srgbClr val="C8414C"/>
            </a:solidFill>
            <a:prstDash val="solid"/>
          </a:ln>
        </p:spPr>
      </p:sp>
      <p:sp>
        <p:nvSpPr>
          <p:cNvPr id="217" name="Shape 215"/>
          <p:cNvSpPr/>
          <p:nvPr/>
        </p:nvSpPr>
        <p:spPr>
          <a:xfrm flipV="1">
            <a:off x="5930456" y="3135721"/>
            <a:ext cx="58865" cy="773"/>
          </a:xfrm>
          <a:prstGeom prst="line">
            <a:avLst/>
          </a:prstGeom>
          <a:noFill/>
          <a:ln w="31750">
            <a:solidFill>
              <a:srgbClr val="C8414C"/>
            </a:solidFill>
            <a:prstDash val="solid"/>
          </a:ln>
        </p:spPr>
      </p:sp>
      <p:sp>
        <p:nvSpPr>
          <p:cNvPr id="218" name="Shape 216"/>
          <p:cNvSpPr/>
          <p:nvPr/>
        </p:nvSpPr>
        <p:spPr>
          <a:xfrm>
            <a:off x="1463040" y="5257800"/>
            <a:ext cx="320040" cy="91"/>
          </a:xfrm>
          <a:prstGeom prst="line">
            <a:avLst/>
          </a:prstGeom>
          <a:noFill/>
          <a:ln w="31750">
            <a:solidFill>
              <a:srgbClr val="8E44AD"/>
            </a:solidFill>
            <a:prstDash val="solid"/>
          </a:ln>
        </p:spPr>
      </p:sp>
      <p:sp>
        <p:nvSpPr>
          <p:cNvPr id="219" name="Text 217"/>
          <p:cNvSpPr/>
          <p:nvPr/>
        </p:nvSpPr>
        <p:spPr>
          <a:xfrm>
            <a:off x="1828800" y="5138928"/>
            <a:ext cx="1097280" cy="256032"/>
          </a:xfrm>
          <a:prstGeom prst="rect">
            <a:avLst/>
          </a:prstGeom>
          <a:noFill/>
          <a:ln/>
        </p:spPr>
        <p:txBody>
          <a:bodyPr wrap="square" lIns="0" tIns="0" rIns="0" bIns="0" rtlCol="0" anchor="ctr"/>
          <a:lstStyle/>
          <a:p>
            <a:pPr algn="l" indent="0" marL="0">
              <a:buNone/>
            </a:pPr>
            <a:r>
              <a:rPr lang="en-US" sz="1050" b="1" dirty="0">
                <a:solidFill>
                  <a:srgbClr val="5E2D73"/>
                </a:solidFill>
                <a:latin typeface="Calibri" pitchFamily="34" charset="0"/>
                <a:ea typeface="Calibri" pitchFamily="34" charset="-122"/>
                <a:cs typeface="Calibri" pitchFamily="34" charset="-120"/>
              </a:rPr>
              <a:t>thyroxine</a:t>
            </a:r>
            <a:endParaRPr lang="en-US" sz="1050" dirty="0"/>
          </a:p>
        </p:txBody>
      </p:sp>
      <p:sp>
        <p:nvSpPr>
          <p:cNvPr id="220" name="Shape 218"/>
          <p:cNvSpPr/>
          <p:nvPr/>
        </p:nvSpPr>
        <p:spPr>
          <a:xfrm>
            <a:off x="3017520" y="5257800"/>
            <a:ext cx="320040" cy="91"/>
          </a:xfrm>
          <a:prstGeom prst="line">
            <a:avLst/>
          </a:prstGeom>
          <a:noFill/>
          <a:ln w="31750">
            <a:solidFill>
              <a:srgbClr val="C8414C"/>
            </a:solidFill>
            <a:prstDash val="solid"/>
          </a:ln>
        </p:spPr>
      </p:sp>
      <p:sp>
        <p:nvSpPr>
          <p:cNvPr id="221" name="Text 219"/>
          <p:cNvSpPr/>
          <p:nvPr/>
        </p:nvSpPr>
        <p:spPr>
          <a:xfrm>
            <a:off x="3383280" y="5138928"/>
            <a:ext cx="1097280" cy="256032"/>
          </a:xfrm>
          <a:prstGeom prst="rect">
            <a:avLst/>
          </a:prstGeom>
          <a:noFill/>
          <a:ln/>
        </p:spPr>
        <p:txBody>
          <a:bodyPr wrap="square" lIns="0" tIns="0" rIns="0" bIns="0" rtlCol="0" anchor="ctr"/>
          <a:lstStyle/>
          <a:p>
            <a:pPr algn="l" indent="0" marL="0">
              <a:buNone/>
            </a:pPr>
            <a:r>
              <a:rPr lang="en-US" sz="1050" b="1" dirty="0">
                <a:solidFill>
                  <a:srgbClr val="8E2A33"/>
                </a:solidFill>
                <a:latin typeface="Calibri" pitchFamily="34" charset="0"/>
                <a:ea typeface="Calibri" pitchFamily="34" charset="-122"/>
                <a:cs typeface="Calibri" pitchFamily="34" charset="-120"/>
              </a:rPr>
              <a:t>TSH</a:t>
            </a:r>
            <a:endParaRPr lang="en-US" sz="1050" dirty="0"/>
          </a:p>
        </p:txBody>
      </p:sp>
      <p:sp>
        <p:nvSpPr>
          <p:cNvPr id="222" name="Text 220"/>
          <p:cNvSpPr/>
          <p:nvPr/>
        </p:nvSpPr>
        <p:spPr>
          <a:xfrm>
            <a:off x="1222058" y="2154198"/>
            <a:ext cx="1097280" cy="256032"/>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A</a:t>
            </a:r>
            <a:endParaRPr lang="en-US" sz="1100" dirty="0"/>
          </a:p>
        </p:txBody>
      </p:sp>
      <p:sp>
        <p:nvSpPr>
          <p:cNvPr id="223" name="Text 221"/>
          <p:cNvSpPr/>
          <p:nvPr/>
        </p:nvSpPr>
        <p:spPr>
          <a:xfrm>
            <a:off x="2203133" y="3507761"/>
            <a:ext cx="1097280" cy="256032"/>
          </a:xfrm>
          <a:prstGeom prst="rect">
            <a:avLst/>
          </a:prstGeom>
          <a:noFill/>
          <a:ln/>
        </p:spPr>
        <p:txBody>
          <a:bodyPr wrap="square" lIns="0" tIns="0" rIns="0" bIns="0" rtlCol="0" anchor="ctr"/>
          <a:lstStyle/>
          <a:p>
            <a:pPr algn="ctr" indent="0" marL="0">
              <a:buNone/>
            </a:pPr>
            <a:r>
              <a:rPr lang="en-US" sz="1100" b="1" dirty="0">
                <a:solidFill>
                  <a:srgbClr val="3B7DD8"/>
                </a:solidFill>
                <a:latin typeface="Calibri" pitchFamily="34" charset="0"/>
                <a:ea typeface="Calibri" pitchFamily="34" charset="-122"/>
                <a:cs typeface="Calibri" pitchFamily="34" charset="-120"/>
              </a:rPr>
              <a:t>B</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92240" y="1188720"/>
          <a:ext cx="5285232" cy="914400"/>
        </p:xfrm>
        <a:graphic>
          <a:graphicData uri="http://schemas.openxmlformats.org/drawingml/2006/table">
            <a:tbl>
              <a:tblPr/>
              <a:tblGrid>
                <a:gridCol w="1261872"/>
                <a:gridCol w="2011680"/>
                <a:gridCol w="2011680"/>
              </a:tblGrid>
              <a:tr h="347472">
                <a:tc>
                  <a:txBody>
                    <a:bodyPr/>
                    <a:lstStyle/>
                    <a:p>
                      <a:pPr indent="0" marL="0">
                        <a:buNone/>
                      </a:pP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Adrenaline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Thyroxine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347472">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Gland</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adrenal glands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thyroid gland</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347472">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Released when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fear, stress, excitement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all the time; controlled by TSH</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Main effect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prepares for fight or flight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sets the metabolic rate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347472">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Timescale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seconds to minutes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long term: days, weeks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Control</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nerve impulses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negative feedback</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bl>
          </a:graphicData>
        </a:graphic>
      </p:graphicFrame>
      <p:sp>
        <p:nvSpPr>
          <p:cNvPr id="225" name="Shape 222"/>
          <p:cNvSpPr/>
          <p:nvPr/>
        </p:nvSpPr>
        <p:spPr>
          <a:xfrm>
            <a:off x="6492240" y="3429000"/>
            <a:ext cx="5285232" cy="2286000"/>
          </a:xfrm>
          <a:prstGeom prst="roundRect">
            <a:avLst>
              <a:gd name="adj" fmla="val 2400"/>
            </a:avLst>
          </a:prstGeom>
          <a:solidFill>
            <a:srgbClr val="FFF4E0"/>
          </a:solidFill>
          <a:ln w="9525">
            <a:solidFill>
              <a:srgbClr val="F1D9A8"/>
            </a:solidFill>
            <a:prstDash val="solid"/>
          </a:ln>
        </p:spPr>
      </p:sp>
      <p:sp>
        <p:nvSpPr>
          <p:cNvPr id="226" name="Text 223"/>
          <p:cNvSpPr/>
          <p:nvPr/>
        </p:nvSpPr>
        <p:spPr>
          <a:xfrm>
            <a:off x="6656832" y="3502152"/>
            <a:ext cx="495604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explain the graph</a:t>
            </a:r>
            <a:endParaRPr lang="en-US" sz="1300" dirty="0"/>
          </a:p>
        </p:txBody>
      </p:sp>
      <p:sp>
        <p:nvSpPr>
          <p:cNvPr id="227" name="Text 224"/>
          <p:cNvSpPr/>
          <p:nvPr/>
        </p:nvSpPr>
        <p:spPr>
          <a:xfrm>
            <a:off x="6656832" y="3813048"/>
            <a:ext cx="4956048" cy="18288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At point A, thyroxine is above the normal range. Explain the shape of both lines after A.</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High   </a:t>
            </a:r>
            <a:r>
              <a:rPr lang="en-US" sz="1050" dirty="0">
                <a:solidFill>
                  <a:srgbClr val="262B3A"/>
                </a:solidFill>
                <a:latin typeface="Calibri" pitchFamily="34" charset="0"/>
                <a:ea typeface="Calibri" pitchFamily="34" charset="-122"/>
                <a:cs typeface="Calibri" pitchFamily="34" charset="-120"/>
              </a:rPr>
              <a:t>high thyroxine inhibits TSH release, so TSH falls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Less TSH   </a:t>
            </a:r>
            <a:r>
              <a:rPr lang="en-US" sz="1050" dirty="0">
                <a:solidFill>
                  <a:srgbClr val="262B3A"/>
                </a:solidFill>
                <a:latin typeface="Calibri" pitchFamily="34" charset="0"/>
                <a:ea typeface="Calibri" pitchFamily="34" charset="-122"/>
                <a:cs typeface="Calibri" pitchFamily="34" charset="-120"/>
              </a:rPr>
              <a:t>the thyroid is stimulated less: thyroxine falls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Low (B)   </a:t>
            </a:r>
            <a:r>
              <a:rPr lang="en-US" sz="1050" dirty="0">
                <a:solidFill>
                  <a:srgbClr val="262B3A"/>
                </a:solidFill>
                <a:latin typeface="Calibri" pitchFamily="34" charset="0"/>
                <a:ea typeface="Calibri" pitchFamily="34" charset="-122"/>
                <a:cs typeface="Calibri" pitchFamily="34" charset="-120"/>
              </a:rPr>
              <a:t>low thyroxine: more TSH is released; thyroxine rises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each change is reversed; swings get smaller and settle near normal</a:t>
            </a:r>
            <a:endParaRPr lang="en-US" sz="1050" dirty="0"/>
          </a:p>
        </p:txBody>
      </p:sp>
      <p:sp>
        <p:nvSpPr>
          <p:cNvPr id="228" name="Shape 225"/>
          <p:cNvSpPr/>
          <p:nvPr/>
        </p:nvSpPr>
        <p:spPr>
          <a:xfrm>
            <a:off x="411480" y="5833872"/>
            <a:ext cx="11368735" cy="530352"/>
          </a:xfrm>
          <a:prstGeom prst="rect">
            <a:avLst/>
          </a:prstGeom>
          <a:solidFill>
            <a:srgbClr val="FFF4E0"/>
          </a:solidFill>
          <a:ln w="6350">
            <a:solidFill>
              <a:srgbClr val="F1D9A8"/>
            </a:solidFill>
            <a:prstDash val="solid"/>
          </a:ln>
        </p:spPr>
      </p:sp>
      <p:sp>
        <p:nvSpPr>
          <p:cNvPr id="229" name="Shape 226"/>
          <p:cNvSpPr/>
          <p:nvPr/>
        </p:nvSpPr>
        <p:spPr>
          <a:xfrm>
            <a:off x="411480" y="5833872"/>
            <a:ext cx="82296" cy="530352"/>
          </a:xfrm>
          <a:prstGeom prst="rect">
            <a:avLst/>
          </a:prstGeom>
          <a:solidFill>
            <a:srgbClr val="E39A2F"/>
          </a:solidFill>
          <a:ln w="12700">
            <a:solidFill>
              <a:srgbClr val="E39A2F"/>
            </a:solidFill>
            <a:prstDash val="solid"/>
          </a:ln>
        </p:spPr>
      </p:sp>
      <p:sp>
        <p:nvSpPr>
          <p:cNvPr id="230" name="Text 22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On the graph, the </a:t>
            </a:r>
            <a:r>
              <a:rPr lang="en-US" sz="1150" b="1" dirty="0">
                <a:solidFill>
                  <a:srgbClr val="262B3A"/>
                </a:solidFill>
                <a:latin typeface="Calibri" pitchFamily="34" charset="0"/>
                <a:ea typeface="Calibri" pitchFamily="34" charset="-122"/>
                <a:cs typeface="Calibri" pitchFamily="34" charset="-120"/>
              </a:rPr>
              <a:t>TSH</a:t>
            </a:r>
            <a:r>
              <a:rPr lang="en-US" sz="1150" dirty="0">
                <a:solidFill>
                  <a:srgbClr val="262B3A"/>
                </a:solidFill>
                <a:latin typeface="Calibri" pitchFamily="34" charset="0"/>
                <a:ea typeface="Calibri" pitchFamily="34" charset="-122"/>
                <a:cs typeface="Calibri" pitchFamily="34" charset="-120"/>
              </a:rPr>
              <a:t> line is high when </a:t>
            </a:r>
            <a:r>
              <a:rPr lang="en-US" sz="1150" b="1" dirty="0">
                <a:solidFill>
                  <a:srgbClr val="262B3A"/>
                </a:solidFill>
                <a:latin typeface="Calibri" pitchFamily="34" charset="0"/>
                <a:ea typeface="Calibri" pitchFamily="34" charset="-122"/>
                <a:cs typeface="Calibri" pitchFamily="34" charset="-120"/>
              </a:rPr>
              <a:t>thyroxine</a:t>
            </a:r>
            <a:r>
              <a:rPr lang="en-US" sz="1150" dirty="0">
                <a:solidFill>
                  <a:srgbClr val="262B3A"/>
                </a:solidFill>
                <a:latin typeface="Calibri" pitchFamily="34" charset="0"/>
                <a:ea typeface="Calibri" pitchFamily="34" charset="-122"/>
                <a:cs typeface="Calibri" pitchFamily="34" charset="-120"/>
              </a:rPr>
              <a:t> is low. Explain why the two lines move in </a:t>
            </a:r>
            <a:r>
              <a:rPr lang="en-US" sz="1150" b="1" dirty="0">
                <a:solidFill>
                  <a:srgbClr val="262B3A"/>
                </a:solidFill>
                <a:latin typeface="Calibri" pitchFamily="34" charset="0"/>
                <a:ea typeface="Calibri" pitchFamily="34" charset="-122"/>
                <a:cs typeface="Calibri" pitchFamily="34" charset="-120"/>
              </a:rPr>
              <a:t>opposite</a:t>
            </a:r>
            <a:r>
              <a:rPr lang="en-US" sz="1150" dirty="0">
                <a:solidFill>
                  <a:srgbClr val="262B3A"/>
                </a:solidFill>
                <a:latin typeface="Calibri" pitchFamily="34" charset="0"/>
                <a:ea typeface="Calibri" pitchFamily="34" charset="-122"/>
                <a:cs typeface="Calibri" pitchFamily="34" charset="-120"/>
              </a:rPr>
              <a:t> directions.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B5.3.2 • thyroxine and negative feedback</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B5.3 How do hormones control responses in the human body?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17</a:t>
            </a:r>
            <a:endParaRPr lang="en-US" sz="1000" dirty="0"/>
          </a:p>
        </p:txBody>
      </p:sp>
      <p:sp>
        <p:nvSpPr>
          <p:cNvPr id="10" name="Shape 8"/>
          <p:cNvSpPr/>
          <p:nvPr/>
        </p:nvSpPr>
        <p:spPr>
          <a:xfrm>
            <a:off x="411480" y="1207008"/>
            <a:ext cx="11368735" cy="897941"/>
          </a:xfrm>
          <a:prstGeom prst="roundRect">
            <a:avLst>
              <a:gd name="adj" fmla="val 5092"/>
            </a:avLst>
          </a:prstGeom>
          <a:solidFill>
            <a:srgbClr val="FFFFFF"/>
          </a:solidFill>
          <a:ln w="12700">
            <a:solidFill>
              <a:srgbClr val="CFE0DE"/>
            </a:solidFill>
            <a:prstDash val="solid"/>
          </a:ln>
        </p:spPr>
      </p:sp>
      <p:sp>
        <p:nvSpPr>
          <p:cNvPr id="11" name="Shape 9"/>
          <p:cNvSpPr/>
          <p:nvPr/>
        </p:nvSpPr>
        <p:spPr>
          <a:xfrm>
            <a:off x="411480" y="1207008"/>
            <a:ext cx="2103120" cy="292608"/>
          </a:xfrm>
          <a:prstGeom prst="rect">
            <a:avLst/>
          </a:prstGeom>
          <a:solidFill>
            <a:srgbClr val="F5A742"/>
          </a:solidFill>
          <a:ln w="12700">
            <a:solidFill>
              <a:srgbClr val="F5A742"/>
            </a:solidFill>
            <a:prstDash val="solid"/>
          </a:ln>
        </p:spPr>
      </p:sp>
      <p:sp>
        <p:nvSpPr>
          <p:cNvPr id="12" name="Text 10"/>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3" name="Text 11"/>
          <p:cNvSpPr/>
          <p:nvPr/>
        </p:nvSpPr>
        <p:spPr>
          <a:xfrm>
            <a:off x="640080" y="1572768"/>
            <a:ext cx="9539935" cy="459029"/>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meant by </a:t>
            </a:r>
            <a:r>
              <a:rPr lang="en-US" sz="1250" b="1" dirty="0">
                <a:solidFill>
                  <a:srgbClr val="262B3A"/>
                </a:solidFill>
                <a:latin typeface="Calibri" pitchFamily="34" charset="0"/>
                <a:ea typeface="Calibri" pitchFamily="34" charset="-122"/>
                <a:cs typeface="Calibri" pitchFamily="34" charset="-120"/>
              </a:rPr>
              <a:t>negative feedback</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4" name="Text 12"/>
          <p:cNvSpPr/>
          <p:nvPr/>
        </p:nvSpPr>
        <p:spPr>
          <a:xfrm>
            <a:off x="10317175" y="1720901"/>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5" name="Shape 13"/>
          <p:cNvSpPr/>
          <p:nvPr/>
        </p:nvSpPr>
        <p:spPr>
          <a:xfrm>
            <a:off x="411480" y="2251253"/>
            <a:ext cx="11368735" cy="897941"/>
          </a:xfrm>
          <a:prstGeom prst="roundRect">
            <a:avLst>
              <a:gd name="adj" fmla="val 5092"/>
            </a:avLst>
          </a:prstGeom>
          <a:solidFill>
            <a:srgbClr val="FFFFFF"/>
          </a:solidFill>
          <a:ln w="12700">
            <a:solidFill>
              <a:srgbClr val="CFE0DE"/>
            </a:solidFill>
            <a:prstDash val="solid"/>
          </a:ln>
        </p:spPr>
      </p:sp>
      <p:sp>
        <p:nvSpPr>
          <p:cNvPr id="16" name="Shape 14"/>
          <p:cNvSpPr/>
          <p:nvPr/>
        </p:nvSpPr>
        <p:spPr>
          <a:xfrm>
            <a:off x="411480" y="2251253"/>
            <a:ext cx="2103120" cy="292608"/>
          </a:xfrm>
          <a:prstGeom prst="rect">
            <a:avLst/>
          </a:prstGeom>
          <a:solidFill>
            <a:srgbClr val="F5A742"/>
          </a:solidFill>
          <a:ln w="12700">
            <a:solidFill>
              <a:srgbClr val="F5A742"/>
            </a:solidFill>
            <a:prstDash val="solid"/>
          </a:ln>
        </p:spPr>
      </p:sp>
      <p:sp>
        <p:nvSpPr>
          <p:cNvPr id="17" name="Text 15"/>
          <p:cNvSpPr/>
          <p:nvPr/>
        </p:nvSpPr>
        <p:spPr>
          <a:xfrm>
            <a:off x="411480" y="2251253"/>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8" name="Text 16"/>
          <p:cNvSpPr/>
          <p:nvPr/>
        </p:nvSpPr>
        <p:spPr>
          <a:xfrm>
            <a:off x="640080" y="2617013"/>
            <a:ext cx="9539935" cy="459029"/>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State what </a:t>
            </a:r>
            <a:r>
              <a:rPr lang="en-US" sz="1250" b="1" dirty="0">
                <a:solidFill>
                  <a:srgbClr val="262B3A"/>
                </a:solidFill>
                <a:latin typeface="Calibri" pitchFamily="34" charset="0"/>
                <a:ea typeface="Calibri" pitchFamily="34" charset="-122"/>
                <a:cs typeface="Calibri" pitchFamily="34" charset="-120"/>
              </a:rPr>
              <a:t>thyroxine</a:t>
            </a:r>
            <a:r>
              <a:rPr lang="en-US" sz="1250" dirty="0">
                <a:solidFill>
                  <a:srgbClr val="262B3A"/>
                </a:solidFill>
                <a:latin typeface="Calibri" pitchFamily="34" charset="0"/>
                <a:ea typeface="Calibri" pitchFamily="34" charset="-122"/>
                <a:cs typeface="Calibri" pitchFamily="34" charset="-120"/>
              </a:rPr>
              <a:t> controls in the body.</a:t>
            </a:r>
            <a:endParaRPr lang="en-US" sz="1250" dirty="0"/>
          </a:p>
        </p:txBody>
      </p:sp>
      <p:sp>
        <p:nvSpPr>
          <p:cNvPr id="19" name="Text 17"/>
          <p:cNvSpPr/>
          <p:nvPr/>
        </p:nvSpPr>
        <p:spPr>
          <a:xfrm>
            <a:off x="10317175" y="2765146"/>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20" name="Shape 18"/>
          <p:cNvSpPr/>
          <p:nvPr/>
        </p:nvSpPr>
        <p:spPr>
          <a:xfrm>
            <a:off x="411480" y="3295498"/>
            <a:ext cx="11368735" cy="897941"/>
          </a:xfrm>
          <a:prstGeom prst="roundRect">
            <a:avLst>
              <a:gd name="adj" fmla="val 5092"/>
            </a:avLst>
          </a:prstGeom>
          <a:solidFill>
            <a:srgbClr val="FFFFFF"/>
          </a:solidFill>
          <a:ln w="12700">
            <a:solidFill>
              <a:srgbClr val="CFE0DE"/>
            </a:solidFill>
            <a:prstDash val="solid"/>
          </a:ln>
        </p:spPr>
      </p:sp>
      <p:sp>
        <p:nvSpPr>
          <p:cNvPr id="21" name="Shape 19"/>
          <p:cNvSpPr/>
          <p:nvPr/>
        </p:nvSpPr>
        <p:spPr>
          <a:xfrm>
            <a:off x="411480" y="3295498"/>
            <a:ext cx="2103120" cy="292608"/>
          </a:xfrm>
          <a:prstGeom prst="rect">
            <a:avLst/>
          </a:prstGeom>
          <a:solidFill>
            <a:srgbClr val="F5A742"/>
          </a:solidFill>
          <a:ln w="12700">
            <a:solidFill>
              <a:srgbClr val="F5A742"/>
            </a:solidFill>
            <a:prstDash val="solid"/>
          </a:ln>
        </p:spPr>
      </p:sp>
      <p:sp>
        <p:nvSpPr>
          <p:cNvPr id="22" name="Text 20"/>
          <p:cNvSpPr/>
          <p:nvPr/>
        </p:nvSpPr>
        <p:spPr>
          <a:xfrm>
            <a:off x="411480" y="329549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3" name="Text 21"/>
          <p:cNvSpPr/>
          <p:nvPr/>
        </p:nvSpPr>
        <p:spPr>
          <a:xfrm>
            <a:off x="640080" y="3661258"/>
            <a:ext cx="9539935" cy="459029"/>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hormone that stimulates the thyroid gland and the gland that releases it.</a:t>
            </a:r>
            <a:endParaRPr lang="en-US" sz="1250" dirty="0"/>
          </a:p>
        </p:txBody>
      </p:sp>
      <p:sp>
        <p:nvSpPr>
          <p:cNvPr id="24" name="Text 22"/>
          <p:cNvSpPr/>
          <p:nvPr/>
        </p:nvSpPr>
        <p:spPr>
          <a:xfrm>
            <a:off x="10317175" y="380939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5" name="Shape 23"/>
          <p:cNvSpPr/>
          <p:nvPr/>
        </p:nvSpPr>
        <p:spPr>
          <a:xfrm>
            <a:off x="411480" y="4339742"/>
            <a:ext cx="11368735" cy="897941"/>
          </a:xfrm>
          <a:prstGeom prst="roundRect">
            <a:avLst>
              <a:gd name="adj" fmla="val 5092"/>
            </a:avLst>
          </a:prstGeom>
          <a:solidFill>
            <a:srgbClr val="FFFFFF"/>
          </a:solidFill>
          <a:ln w="12700">
            <a:solidFill>
              <a:srgbClr val="CFE0DE"/>
            </a:solidFill>
            <a:prstDash val="solid"/>
          </a:ln>
        </p:spPr>
      </p:sp>
      <p:sp>
        <p:nvSpPr>
          <p:cNvPr id="26" name="Shape 24"/>
          <p:cNvSpPr/>
          <p:nvPr/>
        </p:nvSpPr>
        <p:spPr>
          <a:xfrm>
            <a:off x="411480" y="4339742"/>
            <a:ext cx="2103120" cy="292608"/>
          </a:xfrm>
          <a:prstGeom prst="rect">
            <a:avLst/>
          </a:prstGeom>
          <a:solidFill>
            <a:srgbClr val="F5A742"/>
          </a:solidFill>
          <a:ln w="12700">
            <a:solidFill>
              <a:srgbClr val="F5A742"/>
            </a:solidFill>
            <a:prstDash val="solid"/>
          </a:ln>
        </p:spPr>
      </p:sp>
      <p:sp>
        <p:nvSpPr>
          <p:cNvPr id="27" name="Text 25"/>
          <p:cNvSpPr/>
          <p:nvPr/>
        </p:nvSpPr>
        <p:spPr>
          <a:xfrm>
            <a:off x="411480" y="4339742"/>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8" name="Text 26"/>
          <p:cNvSpPr/>
          <p:nvPr/>
        </p:nvSpPr>
        <p:spPr>
          <a:xfrm>
            <a:off x="640080" y="4705502"/>
            <a:ext cx="9539935" cy="459029"/>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The level of thyroxine in the blood </a:t>
            </a:r>
            <a:r>
              <a:rPr lang="en-US" sz="1250" b="1" dirty="0">
                <a:solidFill>
                  <a:srgbClr val="262B3A"/>
                </a:solidFill>
                <a:latin typeface="Calibri" pitchFamily="34" charset="0"/>
                <a:ea typeface="Calibri" pitchFamily="34" charset="-122"/>
                <a:cs typeface="Calibri" pitchFamily="34" charset="-120"/>
              </a:rPr>
              <a:t>rises above normal</a:t>
            </a:r>
            <a:r>
              <a:rPr lang="en-US" sz="1250" dirty="0">
                <a:solidFill>
                  <a:srgbClr val="262B3A"/>
                </a:solidFill>
                <a:latin typeface="Calibri" pitchFamily="34" charset="0"/>
                <a:ea typeface="Calibri" pitchFamily="34" charset="-122"/>
                <a:cs typeface="Calibri" pitchFamily="34" charset="-120"/>
              </a:rPr>
              <a:t>. Explain how negative feedback returns it to normal.</a:t>
            </a:r>
            <a:endParaRPr lang="en-US" sz="1250" dirty="0"/>
          </a:p>
        </p:txBody>
      </p:sp>
      <p:sp>
        <p:nvSpPr>
          <p:cNvPr id="29" name="Text 27"/>
          <p:cNvSpPr/>
          <p:nvPr/>
        </p:nvSpPr>
        <p:spPr>
          <a:xfrm>
            <a:off x="10317175" y="4853635"/>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30" name="Shape 28"/>
          <p:cNvSpPr/>
          <p:nvPr/>
        </p:nvSpPr>
        <p:spPr>
          <a:xfrm>
            <a:off x="411480" y="5383987"/>
            <a:ext cx="11368735" cy="897941"/>
          </a:xfrm>
          <a:prstGeom prst="roundRect">
            <a:avLst>
              <a:gd name="adj" fmla="val 5092"/>
            </a:avLst>
          </a:prstGeom>
          <a:solidFill>
            <a:srgbClr val="FFFFFF"/>
          </a:solidFill>
          <a:ln w="12700">
            <a:solidFill>
              <a:srgbClr val="CFE0DE"/>
            </a:solidFill>
            <a:prstDash val="solid"/>
          </a:ln>
        </p:spPr>
      </p:sp>
      <p:sp>
        <p:nvSpPr>
          <p:cNvPr id="31" name="Shape 29"/>
          <p:cNvSpPr/>
          <p:nvPr/>
        </p:nvSpPr>
        <p:spPr>
          <a:xfrm>
            <a:off x="411480" y="5383987"/>
            <a:ext cx="2103120" cy="292608"/>
          </a:xfrm>
          <a:prstGeom prst="rect">
            <a:avLst/>
          </a:prstGeom>
          <a:solidFill>
            <a:srgbClr val="F5A742"/>
          </a:solidFill>
          <a:ln w="12700">
            <a:solidFill>
              <a:srgbClr val="F5A742"/>
            </a:solidFill>
            <a:prstDash val="solid"/>
          </a:ln>
        </p:spPr>
      </p:sp>
      <p:sp>
        <p:nvSpPr>
          <p:cNvPr id="32" name="Text 30"/>
          <p:cNvSpPr/>
          <p:nvPr/>
        </p:nvSpPr>
        <p:spPr>
          <a:xfrm>
            <a:off x="411480" y="5383987"/>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33" name="Text 31"/>
          <p:cNvSpPr/>
          <p:nvPr/>
        </p:nvSpPr>
        <p:spPr>
          <a:xfrm>
            <a:off x="640080" y="5749747"/>
            <a:ext cx="9539935" cy="459029"/>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difference between the effects of adrenaline and thyroxine.</a:t>
            </a:r>
            <a:endParaRPr lang="en-US" sz="1250" dirty="0"/>
          </a:p>
        </p:txBody>
      </p:sp>
      <p:sp>
        <p:nvSpPr>
          <p:cNvPr id="34" name="Text 32"/>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B5.3 How do hormones control responses in the human body? • learn these definitions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B5.3 How do hormones control responses in the human body?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18</a:t>
            </a:r>
            <a:endParaRPr lang="en-US" sz="1000" dirty="0"/>
          </a:p>
        </p:txBody>
      </p:sp>
      <p:sp>
        <p:nvSpPr>
          <p:cNvPr id="8" name="Shape 6"/>
          <p:cNvSpPr/>
          <p:nvPr/>
        </p:nvSpPr>
        <p:spPr>
          <a:xfrm>
            <a:off x="411480" y="1188720"/>
            <a:ext cx="2739314" cy="1143000"/>
          </a:xfrm>
          <a:prstGeom prst="rect">
            <a:avLst/>
          </a:prstGeom>
          <a:solidFill>
            <a:srgbClr val="F4FAF9"/>
          </a:solidFill>
          <a:ln w="9525">
            <a:solidFill>
              <a:srgbClr val="CFE0DE"/>
            </a:solidFill>
            <a:prstDash val="solid"/>
          </a:ln>
        </p:spPr>
      </p:sp>
      <p:sp>
        <p:nvSpPr>
          <p:cNvPr id="9" name="Shape 7"/>
          <p:cNvSpPr/>
          <p:nvPr/>
        </p:nvSpPr>
        <p:spPr>
          <a:xfrm>
            <a:off x="411480" y="1188720"/>
            <a:ext cx="73152" cy="1143000"/>
          </a:xfrm>
          <a:prstGeom prst="rect">
            <a:avLst/>
          </a:prstGeom>
          <a:solidFill>
            <a:srgbClr val="0D7877"/>
          </a:solidFill>
          <a:ln w="12700">
            <a:solidFill>
              <a:srgbClr val="0D7877"/>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Hormone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chemical messenger made by a gland and carried in the blood.</a:t>
            </a:r>
            <a:endParaRPr lang="en-US" sz="1200" dirty="0"/>
          </a:p>
        </p:txBody>
      </p:sp>
      <p:sp>
        <p:nvSpPr>
          <p:cNvPr id="11" name="Shape 9"/>
          <p:cNvSpPr/>
          <p:nvPr/>
        </p:nvSpPr>
        <p:spPr>
          <a:xfrm>
            <a:off x="3287954" y="1188720"/>
            <a:ext cx="2739314" cy="1143000"/>
          </a:xfrm>
          <a:prstGeom prst="rect">
            <a:avLst/>
          </a:prstGeom>
          <a:solidFill>
            <a:srgbClr val="F4FAF9"/>
          </a:solidFill>
          <a:ln w="9525">
            <a:solidFill>
              <a:srgbClr val="CFE0DE"/>
            </a:solidFill>
            <a:prstDash val="solid"/>
          </a:ln>
        </p:spPr>
      </p:sp>
      <p:sp>
        <p:nvSpPr>
          <p:cNvPr id="12" name="Shape 10"/>
          <p:cNvSpPr/>
          <p:nvPr/>
        </p:nvSpPr>
        <p:spPr>
          <a:xfrm>
            <a:off x="3287954" y="1188720"/>
            <a:ext cx="73152" cy="1143000"/>
          </a:xfrm>
          <a:prstGeom prst="rect">
            <a:avLst/>
          </a:prstGeom>
          <a:solidFill>
            <a:srgbClr val="0D7877"/>
          </a:solidFill>
          <a:ln w="12700">
            <a:solidFill>
              <a:srgbClr val="0D7877"/>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Endocrine gland</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gland that secretes hormones directly into the blood.</a:t>
            </a:r>
            <a:endParaRPr lang="en-US" sz="1200" dirty="0"/>
          </a:p>
        </p:txBody>
      </p:sp>
      <p:sp>
        <p:nvSpPr>
          <p:cNvPr id="14" name="Shape 12"/>
          <p:cNvSpPr/>
          <p:nvPr/>
        </p:nvSpPr>
        <p:spPr>
          <a:xfrm>
            <a:off x="6164428" y="1188720"/>
            <a:ext cx="2739314" cy="1143000"/>
          </a:xfrm>
          <a:prstGeom prst="rect">
            <a:avLst/>
          </a:prstGeom>
          <a:solidFill>
            <a:srgbClr val="F4FAF9"/>
          </a:solidFill>
          <a:ln w="9525">
            <a:solidFill>
              <a:srgbClr val="CFE0DE"/>
            </a:solidFill>
            <a:prstDash val="solid"/>
          </a:ln>
        </p:spPr>
      </p:sp>
      <p:sp>
        <p:nvSpPr>
          <p:cNvPr id="15" name="Shape 13"/>
          <p:cNvSpPr/>
          <p:nvPr/>
        </p:nvSpPr>
        <p:spPr>
          <a:xfrm>
            <a:off x="6164428" y="1188720"/>
            <a:ext cx="73152" cy="1143000"/>
          </a:xfrm>
          <a:prstGeom prst="rect">
            <a:avLst/>
          </a:prstGeom>
          <a:solidFill>
            <a:srgbClr val="0D7877"/>
          </a:solidFill>
          <a:ln w="12700">
            <a:solidFill>
              <a:srgbClr val="0D7877"/>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Endocrine system</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All the glands that make hormones; works with the nervous system.</a:t>
            </a:r>
            <a:endParaRPr lang="en-US" sz="1200" dirty="0"/>
          </a:p>
        </p:txBody>
      </p:sp>
      <p:sp>
        <p:nvSpPr>
          <p:cNvPr id="17" name="Shape 15"/>
          <p:cNvSpPr/>
          <p:nvPr/>
        </p:nvSpPr>
        <p:spPr>
          <a:xfrm>
            <a:off x="9040901" y="1188720"/>
            <a:ext cx="2739314" cy="1143000"/>
          </a:xfrm>
          <a:prstGeom prst="rect">
            <a:avLst/>
          </a:prstGeom>
          <a:solidFill>
            <a:srgbClr val="F4FAF9"/>
          </a:solidFill>
          <a:ln w="9525">
            <a:solidFill>
              <a:srgbClr val="CFE0DE"/>
            </a:solidFill>
            <a:prstDash val="solid"/>
          </a:ln>
        </p:spPr>
      </p:sp>
      <p:sp>
        <p:nvSpPr>
          <p:cNvPr id="18" name="Shape 16"/>
          <p:cNvSpPr/>
          <p:nvPr/>
        </p:nvSpPr>
        <p:spPr>
          <a:xfrm>
            <a:off x="9040901" y="1188720"/>
            <a:ext cx="73152" cy="1143000"/>
          </a:xfrm>
          <a:prstGeom prst="rect">
            <a:avLst/>
          </a:prstGeom>
          <a:solidFill>
            <a:srgbClr val="0D7877"/>
          </a:solidFill>
          <a:ln w="12700">
            <a:solidFill>
              <a:srgbClr val="0D7877"/>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Target organ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An organ whose cells have receptors for a hormone, so it responds.</a:t>
            </a:r>
            <a:endParaRPr lang="en-US" sz="1200" dirty="0"/>
          </a:p>
        </p:txBody>
      </p:sp>
      <p:sp>
        <p:nvSpPr>
          <p:cNvPr id="20" name="Shape 18"/>
          <p:cNvSpPr/>
          <p:nvPr/>
        </p:nvSpPr>
        <p:spPr>
          <a:xfrm>
            <a:off x="411480" y="2441448"/>
            <a:ext cx="2739314" cy="1143000"/>
          </a:xfrm>
          <a:prstGeom prst="rect">
            <a:avLst/>
          </a:prstGeom>
          <a:solidFill>
            <a:srgbClr val="F4FAF9"/>
          </a:solidFill>
          <a:ln w="9525">
            <a:solidFill>
              <a:srgbClr val="CFE0DE"/>
            </a:solidFill>
            <a:prstDash val="solid"/>
          </a:ln>
        </p:spPr>
      </p:sp>
      <p:sp>
        <p:nvSpPr>
          <p:cNvPr id="21" name="Shape 19"/>
          <p:cNvSpPr/>
          <p:nvPr/>
        </p:nvSpPr>
        <p:spPr>
          <a:xfrm>
            <a:off x="411480" y="2441448"/>
            <a:ext cx="73152" cy="1143000"/>
          </a:xfrm>
          <a:prstGeom prst="rect">
            <a:avLst/>
          </a:prstGeom>
          <a:solidFill>
            <a:srgbClr val="0D7877"/>
          </a:solidFill>
          <a:ln w="12700">
            <a:solidFill>
              <a:srgbClr val="0D7877"/>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Receptor (on a cell)</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molecule on a target cell that a particular hormone fits.</a:t>
            </a:r>
            <a:endParaRPr lang="en-US" sz="1200" dirty="0"/>
          </a:p>
        </p:txBody>
      </p:sp>
      <p:sp>
        <p:nvSpPr>
          <p:cNvPr id="23" name="Shape 21"/>
          <p:cNvSpPr/>
          <p:nvPr/>
        </p:nvSpPr>
        <p:spPr>
          <a:xfrm>
            <a:off x="3287954" y="2441448"/>
            <a:ext cx="2739314" cy="1143000"/>
          </a:xfrm>
          <a:prstGeom prst="rect">
            <a:avLst/>
          </a:prstGeom>
          <a:solidFill>
            <a:srgbClr val="F4FAF9"/>
          </a:solidFill>
          <a:ln w="9525">
            <a:solidFill>
              <a:srgbClr val="CFE0DE"/>
            </a:solidFill>
            <a:prstDash val="solid"/>
          </a:ln>
        </p:spPr>
      </p:sp>
      <p:sp>
        <p:nvSpPr>
          <p:cNvPr id="24" name="Shape 22"/>
          <p:cNvSpPr/>
          <p:nvPr/>
        </p:nvSpPr>
        <p:spPr>
          <a:xfrm>
            <a:off x="3287954" y="2441448"/>
            <a:ext cx="73152" cy="1143000"/>
          </a:xfrm>
          <a:prstGeom prst="rect">
            <a:avLst/>
          </a:prstGeom>
          <a:solidFill>
            <a:srgbClr val="0D7877"/>
          </a:solidFill>
          <a:ln w="12700">
            <a:solidFill>
              <a:srgbClr val="0D7877"/>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Pituitary gland</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"Master gland" at the base of the brain; controls other glands.</a:t>
            </a:r>
            <a:endParaRPr lang="en-US" sz="1200" dirty="0"/>
          </a:p>
        </p:txBody>
      </p:sp>
      <p:sp>
        <p:nvSpPr>
          <p:cNvPr id="26" name="Shape 24"/>
          <p:cNvSpPr/>
          <p:nvPr/>
        </p:nvSpPr>
        <p:spPr>
          <a:xfrm>
            <a:off x="6164428" y="2441448"/>
            <a:ext cx="2739314" cy="1143000"/>
          </a:xfrm>
          <a:prstGeom prst="rect">
            <a:avLst/>
          </a:prstGeom>
          <a:solidFill>
            <a:srgbClr val="F4FAF9"/>
          </a:solidFill>
          <a:ln w="9525">
            <a:solidFill>
              <a:srgbClr val="CFE0DE"/>
            </a:solidFill>
            <a:prstDash val="solid"/>
          </a:ln>
        </p:spPr>
      </p:sp>
      <p:sp>
        <p:nvSpPr>
          <p:cNvPr id="27" name="Shape 25"/>
          <p:cNvSpPr/>
          <p:nvPr/>
        </p:nvSpPr>
        <p:spPr>
          <a:xfrm>
            <a:off x="6164428" y="2441448"/>
            <a:ext cx="73152" cy="1143000"/>
          </a:xfrm>
          <a:prstGeom prst="rect">
            <a:avLst/>
          </a:prstGeom>
          <a:solidFill>
            <a:srgbClr val="0D7877"/>
          </a:solidFill>
          <a:ln w="12700">
            <a:solidFill>
              <a:srgbClr val="0D7877"/>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Thyroid gland</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Gland in the neck that makes thyroxine.</a:t>
            </a:r>
            <a:endParaRPr lang="en-US" sz="1200" dirty="0"/>
          </a:p>
        </p:txBody>
      </p:sp>
      <p:sp>
        <p:nvSpPr>
          <p:cNvPr id="29" name="Shape 27"/>
          <p:cNvSpPr/>
          <p:nvPr/>
        </p:nvSpPr>
        <p:spPr>
          <a:xfrm>
            <a:off x="9040901" y="2441448"/>
            <a:ext cx="2739314" cy="1143000"/>
          </a:xfrm>
          <a:prstGeom prst="rect">
            <a:avLst/>
          </a:prstGeom>
          <a:solidFill>
            <a:srgbClr val="F4FAF9"/>
          </a:solidFill>
          <a:ln w="9525">
            <a:solidFill>
              <a:srgbClr val="CFE0DE"/>
            </a:solidFill>
            <a:prstDash val="solid"/>
          </a:ln>
        </p:spPr>
      </p:sp>
      <p:sp>
        <p:nvSpPr>
          <p:cNvPr id="30" name="Shape 28"/>
          <p:cNvSpPr/>
          <p:nvPr/>
        </p:nvSpPr>
        <p:spPr>
          <a:xfrm>
            <a:off x="9040901" y="2441448"/>
            <a:ext cx="73152" cy="1143000"/>
          </a:xfrm>
          <a:prstGeom prst="rect">
            <a:avLst/>
          </a:prstGeom>
          <a:solidFill>
            <a:srgbClr val="0D7877"/>
          </a:solidFill>
          <a:ln w="12700">
            <a:solidFill>
              <a:srgbClr val="0D7877"/>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Adrenal glands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Glands on top of the kidneys that make adrenaline.</a:t>
            </a:r>
            <a:endParaRPr lang="en-US" sz="1200" dirty="0"/>
          </a:p>
        </p:txBody>
      </p:sp>
      <p:sp>
        <p:nvSpPr>
          <p:cNvPr id="32" name="Shape 30"/>
          <p:cNvSpPr/>
          <p:nvPr/>
        </p:nvSpPr>
        <p:spPr>
          <a:xfrm>
            <a:off x="411480" y="3694176"/>
            <a:ext cx="2739314" cy="1143000"/>
          </a:xfrm>
          <a:prstGeom prst="rect">
            <a:avLst/>
          </a:prstGeom>
          <a:solidFill>
            <a:srgbClr val="F4FAF9"/>
          </a:solidFill>
          <a:ln w="9525">
            <a:solidFill>
              <a:srgbClr val="CFE0DE"/>
            </a:solidFill>
            <a:prstDash val="solid"/>
          </a:ln>
        </p:spPr>
      </p:sp>
      <p:sp>
        <p:nvSpPr>
          <p:cNvPr id="33" name="Shape 31"/>
          <p:cNvSpPr/>
          <p:nvPr/>
        </p:nvSpPr>
        <p:spPr>
          <a:xfrm>
            <a:off x="411480" y="3694176"/>
            <a:ext cx="73152" cy="1143000"/>
          </a:xfrm>
          <a:prstGeom prst="rect">
            <a:avLst/>
          </a:prstGeom>
          <a:solidFill>
            <a:srgbClr val="0D7877"/>
          </a:solidFill>
          <a:ln w="12700">
            <a:solidFill>
              <a:srgbClr val="0D7877"/>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Adrenaline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Hormone that prepares the body for "fight or flight".</a:t>
            </a:r>
            <a:endParaRPr lang="en-US" sz="1200" dirty="0"/>
          </a:p>
        </p:txBody>
      </p:sp>
      <p:sp>
        <p:nvSpPr>
          <p:cNvPr id="35" name="Shape 33"/>
          <p:cNvSpPr/>
          <p:nvPr/>
        </p:nvSpPr>
        <p:spPr>
          <a:xfrm>
            <a:off x="3287954" y="3694176"/>
            <a:ext cx="2739314" cy="1143000"/>
          </a:xfrm>
          <a:prstGeom prst="rect">
            <a:avLst/>
          </a:prstGeom>
          <a:solidFill>
            <a:srgbClr val="F4FAF9"/>
          </a:solidFill>
          <a:ln w="9525">
            <a:solidFill>
              <a:srgbClr val="CFE0DE"/>
            </a:solidFill>
            <a:prstDash val="solid"/>
          </a:ln>
        </p:spPr>
      </p:sp>
      <p:sp>
        <p:nvSpPr>
          <p:cNvPr id="36" name="Shape 34"/>
          <p:cNvSpPr/>
          <p:nvPr/>
        </p:nvSpPr>
        <p:spPr>
          <a:xfrm>
            <a:off x="3287954" y="3694176"/>
            <a:ext cx="73152" cy="1143000"/>
          </a:xfrm>
          <a:prstGeom prst="rect">
            <a:avLst/>
          </a:prstGeom>
          <a:solidFill>
            <a:srgbClr val="0D7877"/>
          </a:solidFill>
          <a:ln w="12700">
            <a:solidFill>
              <a:srgbClr val="0D7877"/>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Thyroxine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Hormone from the thyroid that controls metabolic rate.</a:t>
            </a:r>
            <a:endParaRPr lang="en-US" sz="1200" dirty="0"/>
          </a:p>
        </p:txBody>
      </p:sp>
      <p:sp>
        <p:nvSpPr>
          <p:cNvPr id="38" name="Shape 36"/>
          <p:cNvSpPr/>
          <p:nvPr/>
        </p:nvSpPr>
        <p:spPr>
          <a:xfrm>
            <a:off x="6164428" y="3694176"/>
            <a:ext cx="2739314" cy="1143000"/>
          </a:xfrm>
          <a:prstGeom prst="rect">
            <a:avLst/>
          </a:prstGeom>
          <a:solidFill>
            <a:srgbClr val="F4FAF9"/>
          </a:solidFill>
          <a:ln w="9525">
            <a:solidFill>
              <a:srgbClr val="CFE0DE"/>
            </a:solidFill>
            <a:prstDash val="solid"/>
          </a:ln>
        </p:spPr>
      </p:sp>
      <p:sp>
        <p:nvSpPr>
          <p:cNvPr id="39" name="Shape 37"/>
          <p:cNvSpPr/>
          <p:nvPr/>
        </p:nvSpPr>
        <p:spPr>
          <a:xfrm>
            <a:off x="6164428" y="3694176"/>
            <a:ext cx="73152" cy="1143000"/>
          </a:xfrm>
          <a:prstGeom prst="rect">
            <a:avLst/>
          </a:prstGeom>
          <a:solidFill>
            <a:srgbClr val="0D7877"/>
          </a:solidFill>
          <a:ln w="12700">
            <a:solidFill>
              <a:srgbClr val="0D7877"/>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TSH</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Thyroid-stimulating hormone from the pituitary: makes the thyroid release thyroxine.</a:t>
            </a:r>
            <a:endParaRPr lang="en-US" sz="1200" dirty="0"/>
          </a:p>
        </p:txBody>
      </p:sp>
      <p:sp>
        <p:nvSpPr>
          <p:cNvPr id="41" name="Shape 39"/>
          <p:cNvSpPr/>
          <p:nvPr/>
        </p:nvSpPr>
        <p:spPr>
          <a:xfrm>
            <a:off x="9040901" y="3694176"/>
            <a:ext cx="2739314" cy="1143000"/>
          </a:xfrm>
          <a:prstGeom prst="rect">
            <a:avLst/>
          </a:prstGeom>
          <a:solidFill>
            <a:srgbClr val="F4FAF9"/>
          </a:solidFill>
          <a:ln w="9525">
            <a:solidFill>
              <a:srgbClr val="CFE0DE"/>
            </a:solidFill>
            <a:prstDash val="solid"/>
          </a:ln>
        </p:spPr>
      </p:sp>
      <p:sp>
        <p:nvSpPr>
          <p:cNvPr id="42" name="Shape 40"/>
          <p:cNvSpPr/>
          <p:nvPr/>
        </p:nvSpPr>
        <p:spPr>
          <a:xfrm>
            <a:off x="9040901" y="3694176"/>
            <a:ext cx="73152" cy="1143000"/>
          </a:xfrm>
          <a:prstGeom prst="rect">
            <a:avLst/>
          </a:prstGeom>
          <a:solidFill>
            <a:srgbClr val="0D7877"/>
          </a:solidFill>
          <a:ln w="12700">
            <a:solidFill>
              <a:srgbClr val="0D7877"/>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Metabolic rate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rate of all the chemical reactions in the body's cells.</a:t>
            </a:r>
            <a:endParaRPr lang="en-US" sz="1200" dirty="0"/>
          </a:p>
        </p:txBody>
      </p:sp>
      <p:sp>
        <p:nvSpPr>
          <p:cNvPr id="44" name="Shape 42"/>
          <p:cNvSpPr/>
          <p:nvPr/>
        </p:nvSpPr>
        <p:spPr>
          <a:xfrm>
            <a:off x="411480" y="4946904"/>
            <a:ext cx="2739314" cy="1143000"/>
          </a:xfrm>
          <a:prstGeom prst="rect">
            <a:avLst/>
          </a:prstGeom>
          <a:solidFill>
            <a:srgbClr val="F4FAF9"/>
          </a:solidFill>
          <a:ln w="9525">
            <a:solidFill>
              <a:srgbClr val="CFE0DE"/>
            </a:solidFill>
            <a:prstDash val="solid"/>
          </a:ln>
        </p:spPr>
      </p:sp>
      <p:sp>
        <p:nvSpPr>
          <p:cNvPr id="45" name="Shape 43"/>
          <p:cNvSpPr/>
          <p:nvPr/>
        </p:nvSpPr>
        <p:spPr>
          <a:xfrm>
            <a:off x="411480" y="4946904"/>
            <a:ext cx="73152" cy="1143000"/>
          </a:xfrm>
          <a:prstGeom prst="rect">
            <a:avLst/>
          </a:prstGeom>
          <a:solidFill>
            <a:srgbClr val="0D7877"/>
          </a:solidFill>
          <a:ln w="12700">
            <a:solidFill>
              <a:srgbClr val="0D7877"/>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Negative feedback</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change triggers a response that reverses the change.</a:t>
            </a:r>
            <a:endParaRPr lang="en-US" sz="1200" dirty="0"/>
          </a:p>
        </p:txBody>
      </p:sp>
      <p:sp>
        <p:nvSpPr>
          <p:cNvPr id="47" name="Shape 45"/>
          <p:cNvSpPr/>
          <p:nvPr/>
        </p:nvSpPr>
        <p:spPr>
          <a:xfrm>
            <a:off x="3287954" y="4946904"/>
            <a:ext cx="2739314" cy="1143000"/>
          </a:xfrm>
          <a:prstGeom prst="rect">
            <a:avLst/>
          </a:prstGeom>
          <a:solidFill>
            <a:srgbClr val="F4FAF9"/>
          </a:solidFill>
          <a:ln w="9525">
            <a:solidFill>
              <a:srgbClr val="CFE0DE"/>
            </a:solidFill>
            <a:prstDash val="solid"/>
          </a:ln>
        </p:spPr>
      </p:sp>
      <p:sp>
        <p:nvSpPr>
          <p:cNvPr id="48" name="Shape 46"/>
          <p:cNvSpPr/>
          <p:nvPr/>
        </p:nvSpPr>
        <p:spPr>
          <a:xfrm>
            <a:off x="3287954" y="4946904"/>
            <a:ext cx="73152" cy="1143000"/>
          </a:xfrm>
          <a:prstGeom prst="rect">
            <a:avLst/>
          </a:prstGeom>
          <a:solidFill>
            <a:srgbClr val="0D7877"/>
          </a:solidFill>
          <a:ln w="12700">
            <a:solidFill>
              <a:srgbClr val="0D7877"/>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Set point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normal level that negative feedback keeps a factor close to.</a:t>
            </a:r>
            <a:endParaRPr lang="en-US" sz="1200" dirty="0"/>
          </a:p>
        </p:txBody>
      </p:sp>
      <p:sp>
        <p:nvSpPr>
          <p:cNvPr id="50" name="Shape 48"/>
          <p:cNvSpPr/>
          <p:nvPr/>
        </p:nvSpPr>
        <p:spPr>
          <a:xfrm>
            <a:off x="6164428" y="4946904"/>
            <a:ext cx="2739314" cy="1143000"/>
          </a:xfrm>
          <a:prstGeom prst="rect">
            <a:avLst/>
          </a:prstGeom>
          <a:solidFill>
            <a:srgbClr val="F4FAF9"/>
          </a:solidFill>
          <a:ln w="9525">
            <a:solidFill>
              <a:srgbClr val="CFE0DE"/>
            </a:solidFill>
            <a:prstDash val="solid"/>
          </a:ln>
        </p:spPr>
      </p:sp>
      <p:sp>
        <p:nvSpPr>
          <p:cNvPr id="51" name="Shape 49"/>
          <p:cNvSpPr/>
          <p:nvPr/>
        </p:nvSpPr>
        <p:spPr>
          <a:xfrm>
            <a:off x="6164428" y="4946904"/>
            <a:ext cx="73152" cy="1143000"/>
          </a:xfrm>
          <a:prstGeom prst="rect">
            <a:avLst/>
          </a:prstGeom>
          <a:solidFill>
            <a:srgbClr val="0D7877"/>
          </a:solidFill>
          <a:ln w="12700">
            <a:solidFill>
              <a:srgbClr val="0D7877"/>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Pancreas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Gland that makes insulin (and glucagon) to control blood glucose (B5.6).</a:t>
            </a:r>
            <a:endParaRPr lang="en-US" sz="1200" dirty="0"/>
          </a:p>
        </p:txBody>
      </p:sp>
      <p:sp>
        <p:nvSpPr>
          <p:cNvPr id="53" name="Shape 51"/>
          <p:cNvSpPr/>
          <p:nvPr/>
        </p:nvSpPr>
        <p:spPr>
          <a:xfrm>
            <a:off x="9040901" y="4946904"/>
            <a:ext cx="2739314" cy="1143000"/>
          </a:xfrm>
          <a:prstGeom prst="rect">
            <a:avLst/>
          </a:prstGeom>
          <a:solidFill>
            <a:srgbClr val="F4FAF9"/>
          </a:solidFill>
          <a:ln w="9525">
            <a:solidFill>
              <a:srgbClr val="CFE0DE"/>
            </a:solidFill>
            <a:prstDash val="solid"/>
          </a:ln>
        </p:spPr>
      </p:sp>
      <p:sp>
        <p:nvSpPr>
          <p:cNvPr id="54" name="Shape 52"/>
          <p:cNvSpPr/>
          <p:nvPr/>
        </p:nvSpPr>
        <p:spPr>
          <a:xfrm>
            <a:off x="9040901" y="4946904"/>
            <a:ext cx="73152" cy="1143000"/>
          </a:xfrm>
          <a:prstGeom prst="rect">
            <a:avLst/>
          </a:prstGeom>
          <a:solidFill>
            <a:srgbClr val="0D7877"/>
          </a:solidFill>
          <a:ln w="12700">
            <a:solidFill>
              <a:srgbClr val="0D7877"/>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Ovaries / testes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Glands that make sex hormones: oestrogen, progesterone / testosterone.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B5.3.1–B5.3.2 • answer every part • 13 marks • (e) and (f) are Higher tier</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B5.3 How do hormones control responses in the human body?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19</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Hormones coordinate many responses in the body. A student is waiting to go on stage and feels nervous.</a:t>
            </a:r>
            <a:endParaRPr lang="en-US" sz="1200" dirty="0"/>
          </a:p>
        </p:txBody>
      </p:sp>
      <p:sp>
        <p:nvSpPr>
          <p:cNvPr id="9" name="Shape 7"/>
          <p:cNvSpPr/>
          <p:nvPr/>
        </p:nvSpPr>
        <p:spPr>
          <a:xfrm>
            <a:off x="411480" y="1719072"/>
            <a:ext cx="5570068" cy="1579009"/>
          </a:xfrm>
          <a:prstGeom prst="roundRect">
            <a:avLst>
              <a:gd name="adj" fmla="val 2895"/>
            </a:avLst>
          </a:prstGeom>
          <a:solidFill>
            <a:srgbClr val="F4FAF9"/>
          </a:solidFill>
          <a:ln w="9525">
            <a:solidFill>
              <a:srgbClr val="CFE0DE"/>
            </a:solidFill>
            <a:prstDash val="solid"/>
          </a:ln>
        </p:spPr>
      </p:sp>
      <p:sp>
        <p:nvSpPr>
          <p:cNvPr id="10" name="Text 8"/>
          <p:cNvSpPr/>
          <p:nvPr/>
        </p:nvSpPr>
        <p:spPr>
          <a:xfrm>
            <a:off x="548640" y="1792224"/>
            <a:ext cx="5295748" cy="1213249"/>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Name the gland that:</a:t>
            </a:r>
            <a:endParaRPr lang="en-US" sz="1200" dirty="0"/>
          </a:p>
          <a:p>
            <a:pPr indent="0" marL="0">
              <a:buNone/>
            </a:pPr>
            <a:r>
              <a:rPr lang="en-US" sz="1200" dirty="0">
                <a:solidFill>
                  <a:srgbClr val="262B3A"/>
                </a:solidFill>
                <a:latin typeface="Calibri" pitchFamily="34" charset="0"/>
                <a:ea typeface="Calibri" pitchFamily="34" charset="-122"/>
                <a:cs typeface="Calibri" pitchFamily="34" charset="-120"/>
              </a:rPr>
              <a:t>(i) releases adrenaline  (ii) is called the "master gland"  (iii) releases thyroxine</a:t>
            </a:r>
            <a:endParaRPr lang="en-US" sz="1200" dirty="0"/>
          </a:p>
        </p:txBody>
      </p:sp>
      <p:sp>
        <p:nvSpPr>
          <p:cNvPr id="11" name="Text 9"/>
          <p:cNvSpPr/>
          <p:nvPr/>
        </p:nvSpPr>
        <p:spPr>
          <a:xfrm>
            <a:off x="4518508" y="2987185"/>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2" name="Shape 10"/>
          <p:cNvSpPr/>
          <p:nvPr/>
        </p:nvSpPr>
        <p:spPr>
          <a:xfrm>
            <a:off x="411480" y="3407809"/>
            <a:ext cx="5570068" cy="1373051"/>
          </a:xfrm>
          <a:prstGeom prst="roundRect">
            <a:avLst>
              <a:gd name="adj" fmla="val 3330"/>
            </a:avLst>
          </a:prstGeom>
          <a:solidFill>
            <a:srgbClr val="FFFFFF"/>
          </a:solidFill>
          <a:ln w="9525">
            <a:solidFill>
              <a:srgbClr val="CFE0DE"/>
            </a:solidFill>
            <a:prstDash val="solid"/>
          </a:ln>
        </p:spPr>
      </p:sp>
      <p:sp>
        <p:nvSpPr>
          <p:cNvPr id="13" name="Text 11"/>
          <p:cNvSpPr/>
          <p:nvPr/>
        </p:nvSpPr>
        <p:spPr>
          <a:xfrm>
            <a:off x="548640" y="3480961"/>
            <a:ext cx="5295748" cy="1007291"/>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Adrenaline is carried all round the body, but only some organs respond. Explain why.</a:t>
            </a:r>
            <a:endParaRPr lang="en-US" sz="1200" dirty="0"/>
          </a:p>
        </p:txBody>
      </p:sp>
      <p:sp>
        <p:nvSpPr>
          <p:cNvPr id="14" name="Text 12"/>
          <p:cNvSpPr/>
          <p:nvPr/>
        </p:nvSpPr>
        <p:spPr>
          <a:xfrm>
            <a:off x="4518508" y="4469965"/>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4890589"/>
            <a:ext cx="5570068" cy="1373051"/>
          </a:xfrm>
          <a:prstGeom prst="roundRect">
            <a:avLst>
              <a:gd name="adj" fmla="val 3330"/>
            </a:avLst>
          </a:prstGeom>
          <a:solidFill>
            <a:srgbClr val="F4FAF9"/>
          </a:solidFill>
          <a:ln w="9525">
            <a:solidFill>
              <a:srgbClr val="CFE0DE"/>
            </a:solidFill>
            <a:prstDash val="solid"/>
          </a:ln>
        </p:spPr>
      </p:sp>
      <p:sp>
        <p:nvSpPr>
          <p:cNvPr id="16" name="Text 14"/>
          <p:cNvSpPr/>
          <p:nvPr/>
        </p:nvSpPr>
        <p:spPr>
          <a:xfrm>
            <a:off x="548640" y="4963741"/>
            <a:ext cx="5295748" cy="1007291"/>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Give </a:t>
            </a:r>
            <a:r>
              <a:rPr lang="en-US" sz="1200" b="1" dirty="0">
                <a:solidFill>
                  <a:srgbClr val="262B3A"/>
                </a:solidFill>
                <a:latin typeface="Calibri" pitchFamily="34" charset="0"/>
                <a:ea typeface="Calibri" pitchFamily="34" charset="-122"/>
                <a:cs typeface="Calibri" pitchFamily="34" charset="-120"/>
              </a:rPr>
              <a:t>two</a:t>
            </a:r>
            <a:r>
              <a:rPr lang="en-US" sz="1200" dirty="0">
                <a:solidFill>
                  <a:srgbClr val="262B3A"/>
                </a:solidFill>
                <a:latin typeface="Calibri" pitchFamily="34" charset="0"/>
                <a:ea typeface="Calibri" pitchFamily="34" charset="-122"/>
                <a:cs typeface="Calibri" pitchFamily="34" charset="-120"/>
              </a:rPr>
              <a:t> differences between hormonal control and nervous control.</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6210148" y="1719072"/>
            <a:ext cx="5570068" cy="1351597"/>
          </a:xfrm>
          <a:prstGeom prst="roundRect">
            <a:avLst>
              <a:gd name="adj" fmla="val 3383"/>
            </a:avLst>
          </a:prstGeom>
          <a:solidFill>
            <a:srgbClr val="F4FAF9"/>
          </a:solidFill>
          <a:ln w="9525">
            <a:solidFill>
              <a:srgbClr val="CFE0DE"/>
            </a:solidFill>
            <a:prstDash val="solid"/>
          </a:ln>
        </p:spPr>
      </p:sp>
      <p:sp>
        <p:nvSpPr>
          <p:cNvPr id="19" name="Text 17"/>
          <p:cNvSpPr/>
          <p:nvPr/>
        </p:nvSpPr>
        <p:spPr>
          <a:xfrm>
            <a:off x="6347308" y="1792224"/>
            <a:ext cx="5295748" cy="985837"/>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The student's heart rate rose from </a:t>
            </a:r>
            <a:r>
              <a:rPr lang="en-US" sz="1200" b="1" dirty="0">
                <a:solidFill>
                  <a:srgbClr val="262B3A"/>
                </a:solidFill>
                <a:latin typeface="Calibri" pitchFamily="34" charset="0"/>
                <a:ea typeface="Calibri" pitchFamily="34" charset="-122"/>
                <a:cs typeface="Calibri" pitchFamily="34" charset="-120"/>
              </a:rPr>
              <a:t>80</a:t>
            </a:r>
            <a:r>
              <a:rPr lang="en-US" sz="1200" dirty="0">
                <a:solidFill>
                  <a:srgbClr val="262B3A"/>
                </a:solidFill>
                <a:latin typeface="Calibri" pitchFamily="34" charset="0"/>
                <a:ea typeface="Calibri" pitchFamily="34" charset="-122"/>
                <a:cs typeface="Calibri" pitchFamily="34" charset="-120"/>
              </a:rPr>
              <a:t> to </a:t>
            </a:r>
            <a:r>
              <a:rPr lang="en-US" sz="1200" b="1" dirty="0">
                <a:solidFill>
                  <a:srgbClr val="262B3A"/>
                </a:solidFill>
                <a:latin typeface="Calibri" pitchFamily="34" charset="0"/>
                <a:ea typeface="Calibri" pitchFamily="34" charset="-122"/>
                <a:cs typeface="Calibri" pitchFamily="34" charset="-120"/>
              </a:rPr>
              <a:t>132</a:t>
            </a:r>
            <a:r>
              <a:rPr lang="en-US" sz="1200" dirty="0">
                <a:solidFill>
                  <a:srgbClr val="262B3A"/>
                </a:solidFill>
                <a:latin typeface="Calibri" pitchFamily="34" charset="0"/>
                <a:ea typeface="Calibri" pitchFamily="34" charset="-122"/>
                <a:cs typeface="Calibri" pitchFamily="34" charset="-120"/>
              </a:rPr>
              <a:t> beats per minute. Calculate the percentage increase.</a:t>
            </a:r>
            <a:endParaRPr lang="en-US" sz="1200" dirty="0"/>
          </a:p>
        </p:txBody>
      </p:sp>
      <p:sp>
        <p:nvSpPr>
          <p:cNvPr id="20" name="Text 18"/>
          <p:cNvSpPr/>
          <p:nvPr/>
        </p:nvSpPr>
        <p:spPr>
          <a:xfrm>
            <a:off x="10317175" y="2759773"/>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3180397"/>
            <a:ext cx="5570068" cy="1486757"/>
          </a:xfrm>
          <a:prstGeom prst="roundRect">
            <a:avLst>
              <a:gd name="adj" fmla="val 3075"/>
            </a:avLst>
          </a:prstGeom>
          <a:solidFill>
            <a:srgbClr val="FFFFFF"/>
          </a:solidFill>
          <a:ln w="9525">
            <a:solidFill>
              <a:srgbClr val="CFE0DE"/>
            </a:solidFill>
            <a:prstDash val="solid"/>
          </a:ln>
        </p:spPr>
      </p:sp>
      <p:sp>
        <p:nvSpPr>
          <p:cNvPr id="22" name="Text 20"/>
          <p:cNvSpPr/>
          <p:nvPr/>
        </p:nvSpPr>
        <p:spPr>
          <a:xfrm>
            <a:off x="6347308" y="3253549"/>
            <a:ext cx="4792828" cy="1120997"/>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Explain how </a:t>
            </a:r>
            <a:r>
              <a:rPr lang="en-US" sz="1200" b="1" dirty="0">
                <a:solidFill>
                  <a:srgbClr val="262B3A"/>
                </a:solidFill>
                <a:latin typeface="Calibri" pitchFamily="34" charset="0"/>
                <a:ea typeface="Calibri" pitchFamily="34" charset="-122"/>
                <a:cs typeface="Calibri" pitchFamily="34" charset="-120"/>
              </a:rPr>
              <a:t>two</a:t>
            </a:r>
            <a:r>
              <a:rPr lang="en-US" sz="1200" dirty="0">
                <a:solidFill>
                  <a:srgbClr val="262B3A"/>
                </a:solidFill>
                <a:latin typeface="Calibri" pitchFamily="34" charset="0"/>
                <a:ea typeface="Calibri" pitchFamily="34" charset="-122"/>
                <a:cs typeface="Calibri" pitchFamily="34" charset="-120"/>
              </a:rPr>
              <a:t> effects of adrenaline help the muscles in "fight or flight".</a:t>
            </a:r>
            <a:endParaRPr lang="en-US" sz="1200" dirty="0"/>
          </a:p>
        </p:txBody>
      </p:sp>
      <p:sp>
        <p:nvSpPr>
          <p:cNvPr id="23" name="Shape 21"/>
          <p:cNvSpPr/>
          <p:nvPr/>
        </p:nvSpPr>
        <p:spPr>
          <a:xfrm>
            <a:off x="11231575" y="3253549"/>
            <a:ext cx="411480" cy="274320"/>
          </a:xfrm>
          <a:prstGeom prst="roundRect">
            <a:avLst>
              <a:gd name="adj" fmla="val 50000"/>
            </a:avLst>
          </a:prstGeom>
          <a:solidFill>
            <a:srgbClr val="C8414C"/>
          </a:solidFill>
          <a:ln w="12700">
            <a:solidFill>
              <a:srgbClr val="C8414C"/>
            </a:solidFill>
            <a:prstDash val="solid"/>
          </a:ln>
        </p:spPr>
      </p:sp>
      <p:sp>
        <p:nvSpPr>
          <p:cNvPr id="24" name="Text 22"/>
          <p:cNvSpPr/>
          <p:nvPr/>
        </p:nvSpPr>
        <p:spPr>
          <a:xfrm>
            <a:off x="11231575" y="3253549"/>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5" name="Text 23"/>
          <p:cNvSpPr/>
          <p:nvPr/>
        </p:nvSpPr>
        <p:spPr>
          <a:xfrm>
            <a:off x="10317175" y="4356259"/>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6" name="Shape 24"/>
          <p:cNvSpPr/>
          <p:nvPr/>
        </p:nvSpPr>
        <p:spPr>
          <a:xfrm>
            <a:off x="6210148" y="4776883"/>
            <a:ext cx="5570068" cy="1486757"/>
          </a:xfrm>
          <a:prstGeom prst="roundRect">
            <a:avLst>
              <a:gd name="adj" fmla="val 3075"/>
            </a:avLst>
          </a:prstGeom>
          <a:solidFill>
            <a:srgbClr val="F4FAF9"/>
          </a:solidFill>
          <a:ln w="9525">
            <a:solidFill>
              <a:srgbClr val="CFE0DE"/>
            </a:solidFill>
            <a:prstDash val="solid"/>
          </a:ln>
        </p:spPr>
      </p:sp>
      <p:sp>
        <p:nvSpPr>
          <p:cNvPr id="27" name="Text 25"/>
          <p:cNvSpPr/>
          <p:nvPr/>
        </p:nvSpPr>
        <p:spPr>
          <a:xfrm>
            <a:off x="6347308" y="4850035"/>
            <a:ext cx="4792828" cy="1120997"/>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Explain how the level of </a:t>
            </a:r>
            <a:r>
              <a:rPr lang="en-US" sz="1200" b="1" dirty="0">
                <a:solidFill>
                  <a:srgbClr val="262B3A"/>
                </a:solidFill>
                <a:latin typeface="Calibri" pitchFamily="34" charset="0"/>
                <a:ea typeface="Calibri" pitchFamily="34" charset="-122"/>
                <a:cs typeface="Calibri" pitchFamily="34" charset="-120"/>
              </a:rPr>
              <a:t>thyroxine</a:t>
            </a:r>
            <a:r>
              <a:rPr lang="en-US" sz="1200" dirty="0">
                <a:solidFill>
                  <a:srgbClr val="262B3A"/>
                </a:solidFill>
                <a:latin typeface="Calibri" pitchFamily="34" charset="0"/>
                <a:ea typeface="Calibri" pitchFamily="34" charset="-122"/>
                <a:cs typeface="Calibri" pitchFamily="34" charset="-120"/>
              </a:rPr>
              <a:t> is kept constant by </a:t>
            </a:r>
            <a:r>
              <a:rPr lang="en-US" sz="1200" b="1" dirty="0">
                <a:solidFill>
                  <a:srgbClr val="262B3A"/>
                </a:solidFill>
                <a:latin typeface="Calibri" pitchFamily="34" charset="0"/>
                <a:ea typeface="Calibri" pitchFamily="34" charset="-122"/>
                <a:cs typeface="Calibri" pitchFamily="34" charset="-120"/>
              </a:rPr>
              <a:t>negative feedback</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28" name="Shape 26"/>
          <p:cNvSpPr/>
          <p:nvPr/>
        </p:nvSpPr>
        <p:spPr>
          <a:xfrm>
            <a:off x="11231575" y="4850035"/>
            <a:ext cx="411480" cy="274320"/>
          </a:xfrm>
          <a:prstGeom prst="roundRect">
            <a:avLst>
              <a:gd name="adj" fmla="val 50000"/>
            </a:avLst>
          </a:prstGeom>
          <a:solidFill>
            <a:srgbClr val="C8414C"/>
          </a:solidFill>
          <a:ln w="12700">
            <a:solidFill>
              <a:srgbClr val="C8414C"/>
            </a:solidFill>
            <a:prstDash val="solid"/>
          </a:ln>
        </p:spPr>
      </p:sp>
      <p:sp>
        <p:nvSpPr>
          <p:cNvPr id="29" name="Text 27"/>
          <p:cNvSpPr/>
          <p:nvPr/>
        </p:nvSpPr>
        <p:spPr>
          <a:xfrm>
            <a:off x="11231575" y="4850035"/>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0" name="Text 28"/>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31" name="Text 29"/>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6867"/>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0E7C7B"/>
          </a:solidFill>
          <a:ln w="12700">
            <a:solidFill>
              <a:srgbClr val="0E7C7B"/>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0C6867"/>
          </a:solidFill>
          <a:ln w="12700">
            <a:solidFill>
              <a:srgbClr val="0C6867"/>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1F2F0"/>
                </a:solidFill>
                <a:latin typeface="Calibri" pitchFamily="34" charset="0"/>
                <a:ea typeface="Calibri" pitchFamily="34" charset="-122"/>
                <a:cs typeface="Calibri" pitchFamily="34" charset="-120"/>
              </a:rPr>
              <a:t>B5.3 How do hormones control responses in the human body? • 17 marks • about 30 minutes</a:t>
            </a:r>
            <a:endParaRPr lang="en-US" sz="1800" dirty="0"/>
          </a:p>
        </p:txBody>
      </p:sp>
      <p:sp>
        <p:nvSpPr>
          <p:cNvPr id="9" name="Text 7"/>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CFE7E5"/>
                </a:solidFill>
                <a:latin typeface="Calibri" pitchFamily="34" charset="0"/>
                <a:ea typeface="Calibri" pitchFamily="34" charset="-122"/>
                <a:cs typeface="Calibri" pitchFamily="34" charset="-120"/>
              </a:rPr>
              <a:t>OCR GCSE Twenty First Century Science — Combined Science B (J260) | B5.3 How do hormones control responses in the human body?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CFE7E5"/>
                </a:solidFill>
                <a:latin typeface="Calibri" pitchFamily="34" charset="0"/>
                <a:ea typeface="Calibri" pitchFamily="34" charset="-122"/>
                <a:cs typeface="Calibri" pitchFamily="34" charset="-120"/>
              </a:rPr>
              <a:t>Homework  |  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B5.3 How do hormones control responses in the human body?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21</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all questions. Q5 and Q6 are Higher tier. Q7 is a 6-mark extended answer.</a:t>
            </a:r>
            <a:endParaRPr lang="en-US" sz="1150" dirty="0"/>
          </a:p>
        </p:txBody>
      </p:sp>
      <p:sp>
        <p:nvSpPr>
          <p:cNvPr id="9" name="Shape 7"/>
          <p:cNvSpPr/>
          <p:nvPr/>
        </p:nvSpPr>
        <p:spPr>
          <a:xfrm>
            <a:off x="411480" y="1517904"/>
            <a:ext cx="5570068" cy="1120140"/>
          </a:xfrm>
          <a:prstGeom prst="roundRect">
            <a:avLst>
              <a:gd name="adj" fmla="val 4082"/>
            </a:avLst>
          </a:prstGeom>
          <a:solidFill>
            <a:srgbClr val="F4FAF9"/>
          </a:solidFill>
          <a:ln w="9525">
            <a:solidFill>
              <a:srgbClr val="CFE0DE"/>
            </a:solidFill>
            <a:prstDash val="solid"/>
          </a:ln>
        </p:spPr>
      </p:sp>
      <p:sp>
        <p:nvSpPr>
          <p:cNvPr id="10" name="Text 8"/>
          <p:cNvSpPr/>
          <p:nvPr/>
        </p:nvSpPr>
        <p:spPr>
          <a:xfrm>
            <a:off x="548640" y="1591056"/>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What is an </a:t>
            </a:r>
            <a:r>
              <a:rPr lang="en-US" sz="1150" b="1" dirty="0">
                <a:solidFill>
                  <a:srgbClr val="262B3A"/>
                </a:solidFill>
                <a:latin typeface="Calibri" pitchFamily="34" charset="0"/>
                <a:ea typeface="Calibri" pitchFamily="34" charset="-122"/>
                <a:cs typeface="Calibri" pitchFamily="34" charset="-120"/>
              </a:rPr>
              <a:t>endocrine gland</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1" name="Text 9"/>
          <p:cNvSpPr/>
          <p:nvPr/>
        </p:nvSpPr>
        <p:spPr>
          <a:xfrm>
            <a:off x="4518508" y="234543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2747772"/>
            <a:ext cx="5570068" cy="1120140"/>
          </a:xfrm>
          <a:prstGeom prst="roundRect">
            <a:avLst>
              <a:gd name="adj" fmla="val 4082"/>
            </a:avLst>
          </a:prstGeom>
          <a:solidFill>
            <a:srgbClr val="F4FAF9"/>
          </a:solidFill>
          <a:ln w="9525">
            <a:solidFill>
              <a:srgbClr val="CFE0DE"/>
            </a:solidFill>
            <a:prstDash val="solid"/>
          </a:ln>
        </p:spPr>
      </p:sp>
      <p:sp>
        <p:nvSpPr>
          <p:cNvPr id="13" name="Text 11"/>
          <p:cNvSpPr/>
          <p:nvPr/>
        </p:nvSpPr>
        <p:spPr>
          <a:xfrm>
            <a:off x="548640" y="2820924"/>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Name the hormone made by the </a:t>
            </a:r>
            <a:r>
              <a:rPr lang="en-US" sz="1150" b="1" dirty="0">
                <a:solidFill>
                  <a:srgbClr val="262B3A"/>
                </a:solidFill>
                <a:latin typeface="Calibri" pitchFamily="34" charset="0"/>
                <a:ea typeface="Calibri" pitchFamily="34" charset="-122"/>
                <a:cs typeface="Calibri" pitchFamily="34" charset="-120"/>
              </a:rPr>
              <a:t>thyroid</a:t>
            </a:r>
            <a:r>
              <a:rPr lang="en-US" sz="1150" dirty="0">
                <a:solidFill>
                  <a:srgbClr val="262B3A"/>
                </a:solidFill>
                <a:latin typeface="Calibri" pitchFamily="34" charset="0"/>
                <a:ea typeface="Calibri" pitchFamily="34" charset="-122"/>
                <a:cs typeface="Calibri" pitchFamily="34" charset="-120"/>
              </a:rPr>
              <a:t> gland and state what it controls.</a:t>
            </a:r>
            <a:endParaRPr lang="en-US" sz="1150" dirty="0"/>
          </a:p>
        </p:txBody>
      </p:sp>
      <p:sp>
        <p:nvSpPr>
          <p:cNvPr id="14" name="Text 12"/>
          <p:cNvSpPr/>
          <p:nvPr/>
        </p:nvSpPr>
        <p:spPr>
          <a:xfrm>
            <a:off x="4518508" y="3575304"/>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3977640"/>
            <a:ext cx="5570068" cy="1120140"/>
          </a:xfrm>
          <a:prstGeom prst="roundRect">
            <a:avLst>
              <a:gd name="adj" fmla="val 4082"/>
            </a:avLst>
          </a:prstGeom>
          <a:solidFill>
            <a:srgbClr val="F4FAF9"/>
          </a:solidFill>
          <a:ln w="9525">
            <a:solidFill>
              <a:srgbClr val="CFE0DE"/>
            </a:solidFill>
            <a:prstDash val="solid"/>
          </a:ln>
        </p:spPr>
      </p:sp>
      <p:sp>
        <p:nvSpPr>
          <p:cNvPr id="16" name="Text 14"/>
          <p:cNvSpPr/>
          <p:nvPr/>
        </p:nvSpPr>
        <p:spPr>
          <a:xfrm>
            <a:off x="548640" y="4050792"/>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Explain how a hormone made in the </a:t>
            </a:r>
            <a:r>
              <a:rPr lang="en-US" sz="1150" b="1" dirty="0">
                <a:solidFill>
                  <a:srgbClr val="262B3A"/>
                </a:solidFill>
                <a:latin typeface="Calibri" pitchFamily="34" charset="0"/>
                <a:ea typeface="Calibri" pitchFamily="34" charset="-122"/>
                <a:cs typeface="Calibri" pitchFamily="34" charset="-120"/>
              </a:rPr>
              <a:t>pituitary gland</a:t>
            </a:r>
            <a:r>
              <a:rPr lang="en-US" sz="1150" dirty="0">
                <a:solidFill>
                  <a:srgbClr val="262B3A"/>
                </a:solidFill>
                <a:latin typeface="Calibri" pitchFamily="34" charset="0"/>
                <a:ea typeface="Calibri" pitchFamily="34" charset="-122"/>
                <a:cs typeface="Calibri" pitchFamily="34" charset="-120"/>
              </a:rPr>
              <a:t> reaches the </a:t>
            </a:r>
            <a:r>
              <a:rPr lang="en-US" sz="1150" b="1" dirty="0">
                <a:solidFill>
                  <a:srgbClr val="262B3A"/>
                </a:solidFill>
                <a:latin typeface="Calibri" pitchFamily="34" charset="0"/>
                <a:ea typeface="Calibri" pitchFamily="34" charset="-122"/>
                <a:cs typeface="Calibri" pitchFamily="34" charset="-120"/>
              </a:rPr>
              <a:t>thyroid</a:t>
            </a:r>
            <a:r>
              <a:rPr lang="en-US" sz="1150" dirty="0">
                <a:solidFill>
                  <a:srgbClr val="262B3A"/>
                </a:solidFill>
                <a:latin typeface="Calibri" pitchFamily="34" charset="0"/>
                <a:ea typeface="Calibri" pitchFamily="34" charset="-122"/>
                <a:cs typeface="Calibri" pitchFamily="34" charset="-120"/>
              </a:rPr>
              <a:t> and makes it respond.</a:t>
            </a:r>
            <a:endParaRPr lang="en-US" sz="1150" dirty="0"/>
          </a:p>
        </p:txBody>
      </p:sp>
      <p:sp>
        <p:nvSpPr>
          <p:cNvPr id="17" name="Text 15"/>
          <p:cNvSpPr/>
          <p:nvPr/>
        </p:nvSpPr>
        <p:spPr>
          <a:xfrm>
            <a:off x="4518508" y="480517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5207508"/>
            <a:ext cx="5570068" cy="1120140"/>
          </a:xfrm>
          <a:prstGeom prst="roundRect">
            <a:avLst>
              <a:gd name="adj" fmla="val 4082"/>
            </a:avLst>
          </a:prstGeom>
          <a:solidFill>
            <a:srgbClr val="F4FAF9"/>
          </a:solidFill>
          <a:ln w="9525">
            <a:solidFill>
              <a:srgbClr val="CFE0DE"/>
            </a:solidFill>
            <a:prstDash val="solid"/>
          </a:ln>
        </p:spPr>
      </p:sp>
      <p:sp>
        <p:nvSpPr>
          <p:cNvPr id="19" name="Text 17"/>
          <p:cNvSpPr/>
          <p:nvPr/>
        </p:nvSpPr>
        <p:spPr>
          <a:xfrm>
            <a:off x="548640" y="5280660"/>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A student's heart rate rose from </a:t>
            </a:r>
            <a:r>
              <a:rPr lang="en-US" sz="1150" b="1" dirty="0">
                <a:solidFill>
                  <a:srgbClr val="262B3A"/>
                </a:solidFill>
                <a:latin typeface="Calibri" pitchFamily="34" charset="0"/>
                <a:ea typeface="Calibri" pitchFamily="34" charset="-122"/>
                <a:cs typeface="Calibri" pitchFamily="34" charset="-120"/>
              </a:rPr>
              <a:t>64</a:t>
            </a:r>
            <a:r>
              <a:rPr lang="en-US" sz="1150" dirty="0">
                <a:solidFill>
                  <a:srgbClr val="262B3A"/>
                </a:solidFill>
                <a:latin typeface="Calibri" pitchFamily="34" charset="0"/>
                <a:ea typeface="Calibri" pitchFamily="34" charset="-122"/>
                <a:cs typeface="Calibri" pitchFamily="34" charset="-120"/>
              </a:rPr>
              <a:t> to </a:t>
            </a:r>
            <a:r>
              <a:rPr lang="en-US" sz="1150" b="1" dirty="0">
                <a:solidFill>
                  <a:srgbClr val="262B3A"/>
                </a:solidFill>
                <a:latin typeface="Calibri" pitchFamily="34" charset="0"/>
                <a:ea typeface="Calibri" pitchFamily="34" charset="-122"/>
                <a:cs typeface="Calibri" pitchFamily="34" charset="-120"/>
              </a:rPr>
              <a:t>112</a:t>
            </a:r>
            <a:r>
              <a:rPr lang="en-US" sz="1150" dirty="0">
                <a:solidFill>
                  <a:srgbClr val="262B3A"/>
                </a:solidFill>
                <a:latin typeface="Calibri" pitchFamily="34" charset="0"/>
                <a:ea typeface="Calibri" pitchFamily="34" charset="-122"/>
                <a:cs typeface="Calibri" pitchFamily="34" charset="-120"/>
              </a:rPr>
              <a:t> beats per minute after a fright. Calculate the percentage increase.</a:t>
            </a:r>
            <a:endParaRPr lang="en-US" sz="1150" dirty="0"/>
          </a:p>
        </p:txBody>
      </p:sp>
      <p:sp>
        <p:nvSpPr>
          <p:cNvPr id="20" name="Text 18"/>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1517904"/>
            <a:ext cx="5570068" cy="976657"/>
          </a:xfrm>
          <a:prstGeom prst="roundRect">
            <a:avLst>
              <a:gd name="adj" fmla="val 4681"/>
            </a:avLst>
          </a:prstGeom>
          <a:solidFill>
            <a:srgbClr val="F4FAF9"/>
          </a:solidFill>
          <a:ln w="9525">
            <a:solidFill>
              <a:srgbClr val="CFE0DE"/>
            </a:solidFill>
            <a:prstDash val="solid"/>
          </a:ln>
        </p:spPr>
      </p:sp>
      <p:sp>
        <p:nvSpPr>
          <p:cNvPr id="22" name="Text 20"/>
          <p:cNvSpPr/>
          <p:nvPr/>
        </p:nvSpPr>
        <p:spPr>
          <a:xfrm>
            <a:off x="6347308" y="1591056"/>
            <a:ext cx="4792828" cy="629185"/>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Describe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effects of </a:t>
            </a:r>
            <a:r>
              <a:rPr lang="en-US" sz="1150" b="1" dirty="0">
                <a:solidFill>
                  <a:srgbClr val="262B3A"/>
                </a:solidFill>
                <a:latin typeface="Calibri" pitchFamily="34" charset="0"/>
                <a:ea typeface="Calibri" pitchFamily="34" charset="-122"/>
                <a:cs typeface="Calibri" pitchFamily="34" charset="-120"/>
              </a:rPr>
              <a:t>adrenaline</a:t>
            </a:r>
            <a:r>
              <a:rPr lang="en-US" sz="1150" dirty="0">
                <a:solidFill>
                  <a:srgbClr val="262B3A"/>
                </a:solidFill>
                <a:latin typeface="Calibri" pitchFamily="34" charset="0"/>
                <a:ea typeface="Calibri" pitchFamily="34" charset="-122"/>
                <a:cs typeface="Calibri" pitchFamily="34" charset="-120"/>
              </a:rPr>
              <a:t> on the body.</a:t>
            </a:r>
            <a:endParaRPr lang="en-US" sz="1150" dirty="0"/>
          </a:p>
        </p:txBody>
      </p:sp>
      <p:sp>
        <p:nvSpPr>
          <p:cNvPr id="23" name="Shape 21"/>
          <p:cNvSpPr/>
          <p:nvPr/>
        </p:nvSpPr>
        <p:spPr>
          <a:xfrm>
            <a:off x="11231575" y="1591056"/>
            <a:ext cx="411480" cy="274320"/>
          </a:xfrm>
          <a:prstGeom prst="roundRect">
            <a:avLst>
              <a:gd name="adj" fmla="val 50000"/>
            </a:avLst>
          </a:prstGeom>
          <a:solidFill>
            <a:srgbClr val="C8414C"/>
          </a:solidFill>
          <a:ln w="12700">
            <a:solidFill>
              <a:srgbClr val="C8414C"/>
            </a:solidFill>
            <a:prstDash val="solid"/>
          </a:ln>
        </p:spPr>
      </p:sp>
      <p:sp>
        <p:nvSpPr>
          <p:cNvPr id="24" name="Text 22"/>
          <p:cNvSpPr/>
          <p:nvPr/>
        </p:nvSpPr>
        <p:spPr>
          <a:xfrm>
            <a:off x="11231575" y="1591056"/>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5" name="Text 23"/>
          <p:cNvSpPr/>
          <p:nvPr/>
        </p:nvSpPr>
        <p:spPr>
          <a:xfrm>
            <a:off x="10317175" y="2201953"/>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6" name="Shape 24"/>
          <p:cNvSpPr/>
          <p:nvPr/>
        </p:nvSpPr>
        <p:spPr>
          <a:xfrm>
            <a:off x="6210148" y="2604289"/>
            <a:ext cx="5570068" cy="1074323"/>
          </a:xfrm>
          <a:prstGeom prst="roundRect">
            <a:avLst>
              <a:gd name="adj" fmla="val 4256"/>
            </a:avLst>
          </a:prstGeom>
          <a:solidFill>
            <a:srgbClr val="F4FAF9"/>
          </a:solidFill>
          <a:ln w="9525">
            <a:solidFill>
              <a:srgbClr val="CFE0DE"/>
            </a:solidFill>
            <a:prstDash val="solid"/>
          </a:ln>
        </p:spPr>
      </p:sp>
      <p:sp>
        <p:nvSpPr>
          <p:cNvPr id="27" name="Text 25"/>
          <p:cNvSpPr/>
          <p:nvPr/>
        </p:nvSpPr>
        <p:spPr>
          <a:xfrm>
            <a:off x="6347308" y="2677441"/>
            <a:ext cx="4792828" cy="726851"/>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6  </a:t>
            </a:r>
            <a:r>
              <a:rPr lang="en-US" sz="1150" dirty="0">
                <a:solidFill>
                  <a:srgbClr val="262B3A"/>
                </a:solidFill>
                <a:latin typeface="Calibri" pitchFamily="34" charset="0"/>
                <a:ea typeface="Calibri" pitchFamily="34" charset="-122"/>
                <a:cs typeface="Calibri" pitchFamily="34" charset="-120"/>
              </a:rPr>
              <a:t>Thyroxine falls </a:t>
            </a:r>
            <a:r>
              <a:rPr lang="en-US" sz="1150" b="1" dirty="0">
                <a:solidFill>
                  <a:srgbClr val="262B3A"/>
                </a:solidFill>
                <a:latin typeface="Calibri" pitchFamily="34" charset="0"/>
                <a:ea typeface="Calibri" pitchFamily="34" charset="-122"/>
                <a:cs typeface="Calibri" pitchFamily="34" charset="-120"/>
              </a:rPr>
              <a:t>below</a:t>
            </a:r>
            <a:r>
              <a:rPr lang="en-US" sz="1150" dirty="0">
                <a:solidFill>
                  <a:srgbClr val="262B3A"/>
                </a:solidFill>
                <a:latin typeface="Calibri" pitchFamily="34" charset="0"/>
                <a:ea typeface="Calibri" pitchFamily="34" charset="-122"/>
                <a:cs typeface="Calibri" pitchFamily="34" charset="-120"/>
              </a:rPr>
              <a:t> normal. Explain how </a:t>
            </a:r>
            <a:r>
              <a:rPr lang="en-US" sz="1150" b="1" dirty="0">
                <a:solidFill>
                  <a:srgbClr val="262B3A"/>
                </a:solidFill>
                <a:latin typeface="Calibri" pitchFamily="34" charset="0"/>
                <a:ea typeface="Calibri" pitchFamily="34" charset="-122"/>
                <a:cs typeface="Calibri" pitchFamily="34" charset="-120"/>
              </a:rPr>
              <a:t>negative feedback</a:t>
            </a:r>
            <a:r>
              <a:rPr lang="en-US" sz="1150" dirty="0">
                <a:solidFill>
                  <a:srgbClr val="262B3A"/>
                </a:solidFill>
                <a:latin typeface="Calibri" pitchFamily="34" charset="0"/>
                <a:ea typeface="Calibri" pitchFamily="34" charset="-122"/>
                <a:cs typeface="Calibri" pitchFamily="34" charset="-120"/>
              </a:rPr>
              <a:t> brings it back to normal.</a:t>
            </a:r>
            <a:endParaRPr lang="en-US" sz="1150" dirty="0"/>
          </a:p>
        </p:txBody>
      </p:sp>
      <p:sp>
        <p:nvSpPr>
          <p:cNvPr id="28" name="Shape 26"/>
          <p:cNvSpPr/>
          <p:nvPr/>
        </p:nvSpPr>
        <p:spPr>
          <a:xfrm>
            <a:off x="11231575" y="2677441"/>
            <a:ext cx="411480" cy="274320"/>
          </a:xfrm>
          <a:prstGeom prst="roundRect">
            <a:avLst>
              <a:gd name="adj" fmla="val 50000"/>
            </a:avLst>
          </a:prstGeom>
          <a:solidFill>
            <a:srgbClr val="C8414C"/>
          </a:solidFill>
          <a:ln w="12700">
            <a:solidFill>
              <a:srgbClr val="C8414C"/>
            </a:solidFill>
            <a:prstDash val="solid"/>
          </a:ln>
        </p:spPr>
      </p:sp>
      <p:sp>
        <p:nvSpPr>
          <p:cNvPr id="29" name="Text 27"/>
          <p:cNvSpPr/>
          <p:nvPr/>
        </p:nvSpPr>
        <p:spPr>
          <a:xfrm>
            <a:off x="11231575" y="2677441"/>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0" name="Text 28"/>
          <p:cNvSpPr/>
          <p:nvPr/>
        </p:nvSpPr>
        <p:spPr>
          <a:xfrm>
            <a:off x="10317175" y="3386004"/>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31" name="Shape 29"/>
          <p:cNvSpPr/>
          <p:nvPr/>
        </p:nvSpPr>
        <p:spPr>
          <a:xfrm>
            <a:off x="6210148" y="3788340"/>
            <a:ext cx="5570068" cy="2539308"/>
          </a:xfrm>
          <a:prstGeom prst="roundRect">
            <a:avLst>
              <a:gd name="adj" fmla="val 1800"/>
            </a:avLst>
          </a:prstGeom>
          <a:solidFill>
            <a:srgbClr val="FFF4E0"/>
          </a:solidFill>
          <a:ln w="9525">
            <a:solidFill>
              <a:srgbClr val="F1D9A8"/>
            </a:solidFill>
            <a:prstDash val="solid"/>
          </a:ln>
        </p:spPr>
      </p:sp>
      <p:sp>
        <p:nvSpPr>
          <p:cNvPr id="32" name="Text 30"/>
          <p:cNvSpPr/>
          <p:nvPr/>
        </p:nvSpPr>
        <p:spPr>
          <a:xfrm>
            <a:off x="6347308" y="3861492"/>
            <a:ext cx="5295748" cy="2191836"/>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7  </a:t>
            </a:r>
            <a:r>
              <a:rPr lang="en-US" sz="1150" b="1" dirty="0">
                <a:solidFill>
                  <a:srgbClr val="262B3A"/>
                </a:solidFill>
                <a:latin typeface="Calibri" pitchFamily="34" charset="0"/>
                <a:ea typeface="Calibri" pitchFamily="34" charset="-122"/>
                <a:cs typeface="Calibri" pitchFamily="34" charset="-120"/>
              </a:rPr>
              <a:t>Compare</a:t>
            </a:r>
            <a:r>
              <a:rPr lang="en-US" sz="1150" dirty="0">
                <a:solidFill>
                  <a:srgbClr val="262B3A"/>
                </a:solidFill>
                <a:latin typeface="Calibri" pitchFamily="34" charset="0"/>
                <a:ea typeface="Calibri" pitchFamily="34" charset="-122"/>
                <a:cs typeface="Calibri" pitchFamily="34" charset="-120"/>
              </a:rPr>
              <a:t> how the </a:t>
            </a:r>
            <a:r>
              <a:rPr lang="en-US" sz="1150" b="1" dirty="0">
                <a:solidFill>
                  <a:srgbClr val="262B3A"/>
                </a:solidFill>
                <a:latin typeface="Calibri" pitchFamily="34" charset="0"/>
                <a:ea typeface="Calibri" pitchFamily="34" charset="-122"/>
                <a:cs typeface="Calibri" pitchFamily="34" charset="-120"/>
              </a:rPr>
              <a:t>nervous system</a:t>
            </a:r>
            <a:r>
              <a:rPr lang="en-US" sz="1150" dirty="0">
                <a:solidFill>
                  <a:srgbClr val="262B3A"/>
                </a:solidFill>
                <a:latin typeface="Calibri" pitchFamily="34" charset="0"/>
                <a:ea typeface="Calibri" pitchFamily="34" charset="-122"/>
                <a:cs typeface="Calibri" pitchFamily="34" charset="-120"/>
              </a:rPr>
              <a:t> and the </a:t>
            </a:r>
            <a:r>
              <a:rPr lang="en-US" sz="1150" b="1" dirty="0">
                <a:solidFill>
                  <a:srgbClr val="262B3A"/>
                </a:solidFill>
                <a:latin typeface="Calibri" pitchFamily="34" charset="0"/>
                <a:ea typeface="Calibri" pitchFamily="34" charset="-122"/>
                <a:cs typeface="Calibri" pitchFamily="34" charset="-120"/>
              </a:rPr>
              <a:t>endocrine system</a:t>
            </a:r>
            <a:r>
              <a:rPr lang="en-US" sz="1150" dirty="0">
                <a:solidFill>
                  <a:srgbClr val="262B3A"/>
                </a:solidFill>
                <a:latin typeface="Calibri" pitchFamily="34" charset="0"/>
                <a:ea typeface="Calibri" pitchFamily="34" charset="-122"/>
                <a:cs typeface="Calibri" pitchFamily="34" charset="-120"/>
              </a:rPr>
              <a:t> coordinate responses in the body. Use an example of each in your answer.</a:t>
            </a:r>
            <a:endParaRPr lang="en-US" sz="1150" dirty="0"/>
          </a:p>
        </p:txBody>
      </p:sp>
      <p:sp>
        <p:nvSpPr>
          <p:cNvPr id="33" name="Text 31"/>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J260 B5.3 How do hormones control responses in the human body?</dc:title>
  <dc:subject>PptxGenJS Presentation</dc:subject>
  <dc:creator>GCSE Biology</dc:creator>
  <cp:lastModifiedBy>GCSE Biology</cp:lastModifiedBy>
  <cp:revision>1</cp:revision>
  <dcterms:created xsi:type="dcterms:W3CDTF">2026-10-30T14:25:52Z</dcterms:created>
  <dcterms:modified xsi:type="dcterms:W3CDTF">2026-10-30T14:25:52Z</dcterms:modified>
</cp:coreProperties>
</file>