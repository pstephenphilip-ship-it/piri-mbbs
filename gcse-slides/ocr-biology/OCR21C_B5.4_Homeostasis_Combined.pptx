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B5.4 Why do we need to maintain a constant internal environment? is Part 4 of 6 in J260 Chapter B5 The human body – staying alive.
Scope check (see SPEC_B5_4.md): in Combined Science B (J260) this sub-topic has one assessable statement, B5.4.1 "explain the importance of maintaining a constant internal environment in response to internal and external change", with suggested activities comparing skin and core body temperature and modelling control with a single effector vs antagonistic effectors. The statements on the skin's role in temperature control (sweating, hair erection, blood flow), the response to temperature challenges (HT), osmotic change, the kidney and ADH are in Biology B (J257) only, so this deck does NOT teach them. Insulin, glucagon and diabetes are J260 B5.6.
Wording from search extracts (ocr.org.uk and the specification mirrors could not be fetched): confidence medium. If your copy of the J260 specification includes the skin or kidney statements, add them from the J257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 found (docbrown combined-science B5 page, search extract): "explain the importance of maintaining a constant internal environment in response to internal and external change". The J260 specification text (plutoniumscience copy, search extract) adds: cells, enzymes and life processes work only in certain conditions, and best within a narrow range; homeostasis depends on receptors, nerves, hormones and (often antagonistic) effectors to counteract changes. Suggested activities: compare skin temperature and core body temperature under different conditions; model the control of temperature by keeping a beaker of water at 40 °C with just a Bunsen burner (single effector) compared to a Bunsen burner and ice (antagonistic effectors).
No HT marker found for B5.4.1. The statement code B5.4.1 is from search extracts (medium confidence). See SPEC_B5_4.md.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B5 has six sub-topics (B5.1–B5.6), confirmed by the earlier decks in this series (see SPEC_B5_2.md, SPEC_B5_3.md).
B5.4 in J260 vs J257: J257 Biology B has B5.4.1 to about B5.4.8 (importance of a constant internal environment; the skin in temperature control and practical investigations; the HT response to temperature challenges with receptors, processing and negative feedback; osmotic change; the kidney and nephron; ADH). Search extracts of a revision guide spec map and of PMT's OCR B notes mark the temperature-control statements as "biology only", and Oak National Academy runs only 4 lessons in its OCR combined-science unit against 7–9 in its OCR biology unit. This deck therefore teaches B5.4.1 only, using temperature and water as examples of conditions, and does not teach the skin mechanisms, kidney or ADH (UNVERIFIED, medium confidence).
Overlap control: negative feedback was taught through thyroxine in B5.3 (recap only here). Blood glucose is named as a controlled condition but insulin, glucagon and diabetes are B5.6. Osmosis (B3) and tissue fluid / plasma (B5.1) are recapped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active site changes shape (the enzyme is denatured), so the substrate no longer fits and the reaction stops.
2. The diffusion (net movement) of water molecules from a dilute solution to a more concentrated solution through a partially permeable membrane.
3. Plasma. Any two: glucose, amino acids, carbon dioxide, urea, hormones, mineral ions, water (also accept antibodies, proteins).
4. Stimulus → receptor → CNS (coordinator) → effector → response.
5. A change in a level causes a response that reverses the change / brings it back to normal. Thyroxine (via TSH).
6. Carbon dioxide and water. Carbon dioxide is the waste (water can be used, but excess must also be lost).
Q1, Q2, Q4 and Q5 are the key ideas of this lesson: enzymes need the right conditions, water moves by osmosis, control systems have receptors and effectors, and negative feedback keeps levels steady.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fluid around the body cells (tissue fluid, from blood plasma). Any three: core body temperature, water content / concentration, ion / salt concentration, pH, blood glucose, carbon dioxide (also blood pressure, oxygen). 0.6 × 50 = 30 kg (30 litres).
B5.4.1 (search extract): "explain the importance of maintaining a constant internal environment in response to internal and external change". Blood glucose is named as a condition only: its control by insulin and glucagon is B5.6. Tissue fluid formation is not required in detail. Node: 0.6 × 70 = 42; 0.6 × 50 =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internal (more respiration in muscles releases heat, makes CO₂, more sweating); (b) external; (c) external (salt taken in); (d) internal (the body itself raises its temperature).
Node: in 2.5 L = out 2.5 L; extra sweat 1.5 − 0.5 = 1 L. Values are typical textbook daily figures (illustrative). How the kidneys change urine volume (ADH) is J257 only and is not taught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[1]: Keeping a constant internal environment / keeping conditions inside the body constant / within narrow limits (despite changes) (1).
Q2 [3]: Any three (1 each): core body temperature; water content / concentration; ion / salt concentration; pH; blood glucose; carbon dioxide level (also accept oxygen level, blood pressure).
Q3 [2]: Internal: exercise / more respiration in muscles / fever (1). External: hot weather / sunshine / hot room / hot drink or bath (1).
Q4 [2]: Muscles respire faster (to release more energy) (1); carbon dioxide is a product of respiration, so more is made and passes into the blood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100 − 60 = 40 percentage points (from 100% to 60%). Above the optimum, the enzyme's active site changes shape (bonds holding its shape break); the substrate no longer fits; the enzyme is denatured, so fewer enzyme–substrate complexes form.
Graph: illustrative data for a human enzyme, plotted to scale (asserted in node): 0 °C → 2%; 10 °C → 12%; 20 °C → 30%; 30 °C → 62%; 37 °C → 100%; 40 °C → 94%; 45 °C → 60%; 50 °C → 18%; 55 °C → 4%; 60 °C → 0%. The green band 35–40 °C is the normal range. Enzyme mechanism is taught earlier in J260 (B3);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plasma becomes more dilute than the inside of the red blood cells; water moves into the cells by osmosis; they swell and may burst (they have no cell wall). 1.5 ÷ 75 × 100 = 2%.
This slide shows WHY water and ion concentration must be kept constant (B5.4.1), using osmosis from B3 and red blood cells from B5.1 (recap). How the body controls water balance (kidneys, nephron, ADH) is J257 only and is not taught. Node: 1.8 ÷ 60 × 100 = 3.0000000000000004%; 2% of 75 = 1.5. Hospital drips are isotonic saline for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Enzymes are denatured / active site changes shape (1); reactions in cells stop / slow greatly, so cells / organs stop working (1).
Q2 [2]: Enzyme-controlled reactions are too slow / molecules have less kinetic energy, fewer collisions (1); so cells cannot release enough energy / carry out life processes fast enough (1).
Q3 [3]: Water leaves the cells (1); by osmosis, from the more dilute cytoplasm to the more concentrated solution (1); the cells shrink / crinkle (1).
Q4 [1]: 1.0 ÷ 50 × 100 = 2%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Muscles and glands. Receptors are needed to detect a change in the condition (stimulus); without them, the coordination centre could not know when (or which way) to switch on the effectors.
J260 specification text (search extract): "The maintenance of a constant internal environment is homeostasis, and depends on receptors, nerves, hormones and (often antagonistic) effectors to counteract changes." The control system was met in B5.2 (reflex arc) and B5.3 (endocrine). The temperature example names receptors, brain and sweat glands only: details of the thermoregulatory centre (hypothalamus), vasodilation/vasoconstriction and hair erection are J257 Biology B only. The hypothalamus can be named as a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response is opposite to (reverses / cancels) the change: a rise produces a fall and a fall produces a rise. The receptors only detect a change after it has happened, and the effectors take time to act, so the level overshoots a little each way: it fluctuates around the set point.
Graph: T = 37 + 0.3 sin(2πt/20), plotted to scale; max 37.3, min 36.7, range 0.6 °C (node). Real core temperature also varies by about 0.5 °C over a day. Negative feedback is taught in B5.3 (thyroxine, TSH);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sweating cools the body and shivering warms it, so they have opposite effects on the same condition. (b) is not a pair: breathing faster does not lower temperature in humans (it controls CO₂).
The J260 specification text (search extract) says homeostasis depends on "(often antagonistic) effectors" and suggests modelling one effector vs antagonistic effectors with a beaker of water (next slides). Sweating and shivering are named only as examples of effectors with opposite effects; how the skin controls heat loss (vasodilation, vasoconstriction, hair erection) is J257 only. Insulin and glucagon are another antagonistic pair: taught in B5.6.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Receptor, coordination centre, effector (2). All three in the correct order = 2; all three named but in the wrong order = 1.
Q2 [2]: Nerves / electrical impulses (1); hormones in the blood (1).
Q3 [2]: A change from the set point / normal level is detected (1); the response reverses the change / brings the level back to normal (1).
Q4 [2]: The effectors have opposite effects / one increases the level and one decreases it (1); so a change in either direction can be corrected quickly / the level stays closer to the set point / smaller fluctuations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Bunsen and the ice are the antagonistic effectors (e.g. shivering muscles warm, sweat glands cool). The thermometer is the receptor; the student reading it and deciding what to do is the coordination centre (brain). The model is a negative feedback system.
Suggested activity from the J260 specification text (search extract): "Model the control of temperature by trying to keep a beaker of water at 40 °C using just a Bunsen burner (single effector) compared to a Bunsen burner and ice (antagonistic effectors)." No PAG code was found for it, so the slide uses the "SUGGESTED PRACTICAL" pill. A 250 cm³ beaker with 150 cm³ water works well; an electric hot plate can replace the Bunsen. Data on the next slide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Run B: range 1.5 °C vs 3.5 °C; biggest difference from 40 °C 1 °C vs 3 °C; run A was above 41 °C for 6 of the 11 readings, run B for none. In run A the only way to cool is to turn off the Bunsen and wait for heat to be lost to the surroundings, which is slow; in run B ice can be added to cool quickly (antagonistic effector).
Node: A = 40, 41.5, 42.5, 43, 42.5, 42, 41.5, 41, 40.5, 40, 39.5; B = 40, 41, 40.5, 39.5, 40, 40.5, 40, 39.5, 40, 40.5, 40; ranges 3.5 and 1.5; max deviations 3 and 1; means 41.2727 and 40.1364. Data are illustrative class results. Link to the body: the body has antagonistic effectors (e.g. sweating vs shivering), so core temperature stays within about ±0.5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core contains the vital organs (brain, heart, liver, etc.) whose cells and enzymes must stay near 37 °C to work; the skin is at the surface and can cool or warm without serious harm (and changing skin temperature is how the body gains or loses heat). Homeostasis keeps the core constant.
Suggested activity from the J260 specification text (search extract): "Compare skin temperature and core body temperature under different conditions." No PAG code found: "SUGGESTED PRACTICAL" pill. Data illustrative (3 readings each; means asserted in node): Resting, room at 20 °C: core 37.0, skin 32.5; Hand in cold water, 5 min: core 36.9, skin 21.0; After 5 min exercise: core 37.4, skin 33.5; Outside at 5 °C, 10 min: core 36.8, skin 24.0. Core range 0.6000000000000014, skin range 12.5, ratio 20.83.
Ethics/safety: students volunteer and may opt out; no one with a heart condition or Raynaud's does the cold-water step. Why skin temperature changes (blood flow, vasoconstriction) is J257 only: do not develop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Thermometer: receptor (1). Ice: effector (a cooling / antagonistic effector) (1).
Q2 [1]: 37.2 − 36.8 = 0.4 °C (1).
Q3 [2]: Any two (1 each): volume of water; size / type of beaker; target temperature (40 °C); time between readings / total time; same thermometer; same Bunsen flame / heat source; size of ice cubes.
Q4 [3]: 34.0 − 25.5 = 8.5 °C (1); core temperature is kept constant by homeostasis / negative feedback (1); so that enzymes in the vital organs keep working at their optimum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7 ÷ 70 × 100 = 10% of body mass: severe dehydration; can be fatal; body fluids become too concentrated so cells lose water by osmosis and cannot work; needs urgent treatment.
Limits are approximate textbook values (illustrative): hypothermia below 35 °C; normal about 36.5–37.5 °C; fever from about 38 °C; heat stroke above about 40 °C. Dehydration bands are approximate. Node: 38.5 − 37.0 = 1.5; 40 − 38.5 = 1.5; 10% of 70 = 7.
Overlap: B5.6 covers what happens when organs and control systems stop working (diabetes); this slide only explains why the limits matter (B5.4.1).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External: heat from the sun / hot air. Internal: heat or CO₂ from respiration in muscles; water lost in sweat; glucose used up. Drinking replaces the water lost in sweat, so body fluids do not become too concentrated (cells would lose water by osmosis) and so sweating can continue to cool the body.
This slide pulls B5.4.1 together. Blood glucose control by insulin and glucagon is B5.6, so the response is given only as "hormones". CO₂ and pH: CO₂ dissolves to make the blood more acidic (stretch). Details of how sweating, blood flow and the kidneys work are J257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Enzymes work too slowly (below optimum) (1); so reactions in cells / respiration are too slow for cells / organs to work (hypothermia) (1).
Q2 [2]: 4.8 ÷ 60 × 100 (1); = 8% (1).
Q3 [2]: Internal: heat / CO₂ from respiration; water lost in sweat; glucose used (1). External: heat from the sun / hot air (1).
Q4 [2]: If body fluids are too concentrated / too dilute, water leaves / enters cells by osmosis (1); cells shrink / swell or burst and cannot work properly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 Osmosis and denatured are recap terms from 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[3]: Homeostasis (1); any two (1 each): core body temperature, water content, ion / salt concentration, pH, blood glucose, carbon dioxide level.
(b) [2]: Enzymes work best at / have an optimum of about 37 °C (1); too high: enzymes denature / too low: reactions too slow, so cells cannot work properly (1).
(c) [1]: 41.5 − 39 = 2.5 °C (1).
(d) [2]: Run B had antagonistic effectors / one to heat and one to cool (1); so temperature could be corrected quickly in either direction / in run A it could only cool slowly by losing heat (1).
(e) [2]: 2.4 ÷ 80 × 100 (1); = 3% (1).
(f) [3]: Body fluids / blood plasma become more concentrated (1); water leaves the cells by osmosis (1); cells shrink / cannot work properly (so performance falls)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Keeping a constant internal environment / keeping internal conditions within narrow limits (1).
2 [2]: Muscles and glands (1); receptor (1).
3 [2]: (36.9 + 37.1 + 37.0 + 37.2) ÷ 4 (1); = 37.05 °C (accept 37.1 °C) (1).
4 [2]: Water out = 1.4 + 0.9 + 0.4 + 0.1 = 2.8 L (1); 2.8 − 2.5 = 0.3 L more (1).
5 [2]: Two effectors with opposite effects on the same condition (1); e.g. sweating (cools) and shivering (warms) (1).
6 [2]: Core is kept constant by homeostasis / negative feedback (1); because the vital organs' cells / enzymes need about 37 °C, while the skin is at the surface and exposed to the surroundings (1).
7 [6]: OCR level-of-response mark scheme (6 marks). Read the whole answer, decide the level from the content descriptor, then the mark within the level from the quality of the line of reasoning. Use the indicative scientific points below.
Level 3 (5–6 marks): Explains WHY constant conditions are needed (enzymes AND/OR cells and water, with a reason) AND explains HOW they are kept constant (receptor, coordination centre, effector, negative feedback), with examples of internal or external change. There is a well-developed line of reasoning which is clear and logically structured. The information presented is relevant and substantiated.
Level 2 (3–4 marks): Explains why conditions must be constant with one reason, OR describes how they are controlled, with some detail and an example. There is a line of reasoning presented with some structure. The information presented is relevant and supported by some evidence.
Level 1 (1–2 marks): Simple statements, e.g. "the body needs to stay at 37 °C" or "sweating cools you down". There is an attempt at a logical structure with a line of reasoning. The information is in the most part relevant.
0 marks: no response or no response worthy of credit.
Indicative scientific points may include:
 • The internal environment is the tissue fluid / plasma around cells; homeostasis keeps it constant.
 • Conditions kept constant: core temperature (about 37 °C), water and ion concentration, pH, blood glucose, CO₂.
 • Internal changes, e.g. respiration releases heat and CO₂; sweating loses water. External changes, e.g. hot or cold weather, food and drink.
 • Enzymes have an optimum temperature and pH: too hot or wrong pH → active site changes shape, denatured; too cold → reactions too slow.
 • Water: if fluids too concentrated, cells lose water by osmosis and shrink; too dilute, cells gain water, swell and may burst.
 • Control: receptors detect the change; coordination centre (brain / gland); effectors (muscles / glands) respond; nerves and hormones carry signals.
 • Negative feedback reverses the change and returns the level to the set point; antagonistic effectors (e.g. sweating and shivering) give faster, finer control.
 • Consequence: if a condition leaves the safe range (e.g. heat stroke above about 40 °C, hypothermia below 35 °C, severe dehydration) cells and organs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B5.4  Homeostasis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Why do we need to maintain a constant internal environment?</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Homeostasis  •  Internal environment  •  Receptor  •  Effector  •  Negative feedback  •  Antagonistic effectors</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B5.4.1 • the importance of a constant internal environment • two suggested practicals</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statements in J260 B5.4 found • stretch marked</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Internal and external change • enzymes and cells • receptors, coordination, effectors • feedback</a:t>
            </a:r>
            <a:endParaRPr lang="en-US" sz="1400" dirty="0"/>
          </a:p>
        </p:txBody>
      </p:sp>
      <p:sp>
        <p:nvSpPr>
          <p:cNvPr id="19" name="Shape 17"/>
          <p:cNvSpPr/>
          <p:nvPr/>
        </p:nvSpPr>
        <p:spPr>
          <a:xfrm>
            <a:off x="731520" y="5769864"/>
            <a:ext cx="5408676"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5408676"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4 of 6 in Chapter B5: The human body – staying alive</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B5.4 Why do we need to maintain a constant internal environment?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B5.4.1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internal environment</a:t>
            </a:r>
            <a:r>
              <a:rPr lang="en-US" sz="1200" dirty="0">
                <a:solidFill>
                  <a:srgbClr val="262B3A"/>
                </a:solidFill>
                <a:latin typeface="Calibri" pitchFamily="34" charset="0"/>
                <a:ea typeface="Calibri" pitchFamily="34" charset="-122"/>
                <a:cs typeface="Calibri" pitchFamily="34" charset="-120"/>
              </a:rPr>
              <a:t> and the conditions the body keeps </a:t>
            </a:r>
            <a:r>
              <a:rPr lang="en-US" sz="1200" b="1" dirty="0">
                <a:solidFill>
                  <a:srgbClr val="262B3A"/>
                </a:solidFill>
                <a:latin typeface="Calibri" pitchFamily="34" charset="0"/>
                <a:ea typeface="Calibri" pitchFamily="34" charset="-122"/>
                <a:cs typeface="Calibri" pitchFamily="34" charset="-120"/>
              </a:rPr>
              <a:t>constant</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B5.4.1   </a:t>
            </a:r>
            <a:r>
              <a:rPr lang="en-US" sz="1200" dirty="0">
                <a:solidFill>
                  <a:srgbClr val="262B3A"/>
                </a:solidFill>
                <a:latin typeface="Calibri" pitchFamily="34" charset="0"/>
                <a:ea typeface="Calibri" pitchFamily="34" charset="-122"/>
                <a:cs typeface="Calibri" pitchFamily="34" charset="-120"/>
              </a:rPr>
              <a:t>Give examples of </a:t>
            </a:r>
            <a:r>
              <a:rPr lang="en-US" sz="1200" b="1" dirty="0">
                <a:solidFill>
                  <a:srgbClr val="262B3A"/>
                </a:solidFill>
                <a:latin typeface="Calibri" pitchFamily="34" charset="0"/>
                <a:ea typeface="Calibri" pitchFamily="34" charset="-122"/>
                <a:cs typeface="Calibri" pitchFamily="34" charset="-120"/>
              </a:rPr>
              <a:t>internal</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external</a:t>
            </a:r>
            <a:r>
              <a:rPr lang="en-US" sz="1200" dirty="0">
                <a:solidFill>
                  <a:srgbClr val="262B3A"/>
                </a:solidFill>
                <a:latin typeface="Calibri" pitchFamily="34" charset="0"/>
                <a:ea typeface="Calibri" pitchFamily="34" charset="-122"/>
                <a:cs typeface="Calibri" pitchFamily="34" charset="-120"/>
              </a:rPr>
              <a:t> changes that could alter these conditions.</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B5.4.1   </a:t>
            </a:r>
            <a:r>
              <a:rPr lang="en-US" sz="1200" dirty="0">
                <a:solidFill>
                  <a:srgbClr val="262B3A"/>
                </a:solidFill>
                <a:latin typeface="Calibri" pitchFamily="34" charset="0"/>
                <a:ea typeface="Calibri" pitchFamily="34" charset="-122"/>
                <a:cs typeface="Calibri" pitchFamily="34" charset="-120"/>
              </a:rPr>
              <a:t>Explain why </a:t>
            </a:r>
            <a:r>
              <a:rPr lang="en-US" sz="1200" b="1" dirty="0">
                <a:solidFill>
                  <a:srgbClr val="262B3A"/>
                </a:solidFill>
                <a:latin typeface="Calibri" pitchFamily="34" charset="0"/>
                <a:ea typeface="Calibri" pitchFamily="34" charset="-122"/>
                <a:cs typeface="Calibri" pitchFamily="34" charset="-120"/>
              </a:rPr>
              <a:t>enzymes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cells</a:t>
            </a:r>
            <a:r>
              <a:rPr lang="en-US" sz="1200" dirty="0">
                <a:solidFill>
                  <a:srgbClr val="262B3A"/>
                </a:solidFill>
                <a:latin typeface="Calibri" pitchFamily="34" charset="0"/>
                <a:ea typeface="Calibri" pitchFamily="34" charset="-122"/>
                <a:cs typeface="Calibri" pitchFamily="34" charset="-120"/>
              </a:rPr>
              <a:t> only work properly within a </a:t>
            </a:r>
            <a:r>
              <a:rPr lang="en-US" sz="1200" b="1" dirty="0">
                <a:solidFill>
                  <a:srgbClr val="262B3A"/>
                </a:solidFill>
                <a:latin typeface="Calibri" pitchFamily="34" charset="0"/>
                <a:ea typeface="Calibri" pitchFamily="34" charset="-122"/>
                <a:cs typeface="Calibri" pitchFamily="34" charset="-120"/>
              </a:rPr>
              <a:t>narrow range</a:t>
            </a:r>
            <a:r>
              <a:rPr lang="en-US" sz="1200" dirty="0">
                <a:solidFill>
                  <a:srgbClr val="262B3A"/>
                </a:solidFill>
                <a:latin typeface="Calibri" pitchFamily="34" charset="0"/>
                <a:ea typeface="Calibri" pitchFamily="34" charset="-122"/>
                <a:cs typeface="Calibri" pitchFamily="34" charset="-120"/>
              </a:rPr>
              <a:t> of conditions.</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B5.4.1   </a:t>
            </a:r>
            <a:r>
              <a:rPr lang="en-US" sz="1200" dirty="0">
                <a:solidFill>
                  <a:srgbClr val="262B3A"/>
                </a:solidFill>
                <a:latin typeface="Calibri" pitchFamily="34" charset="0"/>
                <a:ea typeface="Calibri" pitchFamily="34" charset="-122"/>
                <a:cs typeface="Calibri" pitchFamily="34" charset="-120"/>
              </a:rPr>
              <a:t>Define </a:t>
            </a:r>
            <a:r>
              <a:rPr lang="en-US" sz="1200" b="1" dirty="0">
                <a:solidFill>
                  <a:srgbClr val="262B3A"/>
                </a:solidFill>
                <a:latin typeface="Calibri" pitchFamily="34" charset="0"/>
                <a:ea typeface="Calibri" pitchFamily="34" charset="-122"/>
                <a:cs typeface="Calibri" pitchFamily="34" charset="-120"/>
              </a:rPr>
              <a:t>homeostasis</a:t>
            </a:r>
            <a:r>
              <a:rPr lang="en-US" sz="1200" dirty="0">
                <a:solidFill>
                  <a:srgbClr val="262B3A"/>
                </a:solidFill>
                <a:latin typeface="Calibri" pitchFamily="34" charset="0"/>
                <a:ea typeface="Calibri" pitchFamily="34" charset="-122"/>
                <a:cs typeface="Calibri" pitchFamily="34" charset="-120"/>
              </a:rPr>
              <a:t> and describe the roles of </a:t>
            </a:r>
            <a:r>
              <a:rPr lang="en-US" sz="1200" b="1" dirty="0">
                <a:solidFill>
                  <a:srgbClr val="262B3A"/>
                </a:solidFill>
                <a:latin typeface="Calibri" pitchFamily="34" charset="0"/>
                <a:ea typeface="Calibri" pitchFamily="34" charset="-122"/>
                <a:cs typeface="Calibri" pitchFamily="34" charset="-120"/>
              </a:rPr>
              <a:t>receptors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coordination centres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effectors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263640" y="1325880"/>
            <a:ext cx="457200" cy="457200"/>
          </a:xfrm>
          <a:prstGeom prst="ellipse">
            <a:avLst/>
          </a:prstGeom>
          <a:solidFill>
            <a:srgbClr val="0D7877"/>
          </a:solidFill>
          <a:ln w="12700">
            <a:solidFill>
              <a:srgbClr val="0D7877"/>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B5.4.1   </a:t>
            </a:r>
            <a:r>
              <a:rPr lang="en-US" sz="1200" dirty="0">
                <a:solidFill>
                  <a:srgbClr val="262B3A"/>
                </a:solidFill>
                <a:latin typeface="Calibri" pitchFamily="34" charset="0"/>
                <a:ea typeface="Calibri" pitchFamily="34" charset="-122"/>
                <a:cs typeface="Calibri" pitchFamily="34" charset="-120"/>
              </a:rPr>
              <a:t>Recall </a:t>
            </a:r>
            <a:r>
              <a:rPr lang="en-US" sz="1200" b="1" dirty="0">
                <a:solidFill>
                  <a:srgbClr val="262B3A"/>
                </a:solidFill>
                <a:latin typeface="Calibri" pitchFamily="34" charset="0"/>
                <a:ea typeface="Calibri" pitchFamily="34" charset="-122"/>
                <a:cs typeface="Calibri" pitchFamily="34" charset="-120"/>
              </a:rPr>
              <a:t>negative feedback</a:t>
            </a:r>
            <a:r>
              <a:rPr lang="en-US" sz="1200" dirty="0">
                <a:solidFill>
                  <a:srgbClr val="262B3A"/>
                </a:solidFill>
                <a:latin typeface="Calibri" pitchFamily="34" charset="0"/>
                <a:ea typeface="Calibri" pitchFamily="34" charset="-122"/>
                <a:cs typeface="Calibri" pitchFamily="34" charset="-120"/>
              </a:rPr>
              <a:t> (B5.3) and explain how </a:t>
            </a:r>
            <a:r>
              <a:rPr lang="en-US" sz="1200" b="1" dirty="0">
                <a:solidFill>
                  <a:srgbClr val="262B3A"/>
                </a:solidFill>
                <a:latin typeface="Calibri" pitchFamily="34" charset="0"/>
                <a:ea typeface="Calibri" pitchFamily="34" charset="-122"/>
                <a:cs typeface="Calibri" pitchFamily="34" charset="-120"/>
              </a:rPr>
              <a:t>antagonistic effectors</a:t>
            </a:r>
            <a:r>
              <a:rPr lang="en-US" sz="1200" dirty="0">
                <a:solidFill>
                  <a:srgbClr val="262B3A"/>
                </a:solidFill>
                <a:latin typeface="Calibri" pitchFamily="34" charset="0"/>
                <a:ea typeface="Calibri" pitchFamily="34" charset="-122"/>
                <a:cs typeface="Calibri" pitchFamily="34" charset="-120"/>
              </a:rPr>
              <a:t> give finer control.</a:t>
            </a:r>
            <a:endParaRPr lang="en-US" sz="1100" dirty="0"/>
          </a:p>
        </p:txBody>
      </p:sp>
      <p:sp>
        <p:nvSpPr>
          <p:cNvPr id="23" name="Shape 21"/>
          <p:cNvSpPr/>
          <p:nvPr/>
        </p:nvSpPr>
        <p:spPr>
          <a:xfrm>
            <a:off x="6263640" y="2194560"/>
            <a:ext cx="457200" cy="457200"/>
          </a:xfrm>
          <a:prstGeom prst="ellipse">
            <a:avLst/>
          </a:prstGeom>
          <a:solidFill>
            <a:srgbClr val="0D7877"/>
          </a:solidFill>
          <a:ln w="12700">
            <a:solidFill>
              <a:srgbClr val="0D7877"/>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Practical   </a:t>
            </a:r>
            <a:r>
              <a:rPr lang="en-US" sz="1200" dirty="0">
                <a:solidFill>
                  <a:srgbClr val="262B3A"/>
                </a:solidFill>
                <a:latin typeface="Calibri" pitchFamily="34" charset="0"/>
                <a:ea typeface="Calibri" pitchFamily="34" charset="-122"/>
                <a:cs typeface="Calibri" pitchFamily="34" charset="-120"/>
              </a:rPr>
              <a:t>Model control with </a:t>
            </a:r>
            <a:r>
              <a:rPr lang="en-US" sz="1200" b="1" dirty="0">
                <a:solidFill>
                  <a:srgbClr val="262B3A"/>
                </a:solidFill>
                <a:latin typeface="Calibri" pitchFamily="34" charset="0"/>
                <a:ea typeface="Calibri" pitchFamily="34" charset="-122"/>
                <a:cs typeface="Calibri" pitchFamily="34" charset="-120"/>
              </a:rPr>
              <a:t>one effector</a:t>
            </a:r>
            <a:r>
              <a:rPr lang="en-US" sz="1200" dirty="0">
                <a:solidFill>
                  <a:srgbClr val="262B3A"/>
                </a:solidFill>
                <a:latin typeface="Calibri" pitchFamily="34" charset="0"/>
                <a:ea typeface="Calibri" pitchFamily="34" charset="-122"/>
                <a:cs typeface="Calibri" pitchFamily="34" charset="-120"/>
              </a:rPr>
              <a:t> vs </a:t>
            </a:r>
            <a:r>
              <a:rPr lang="en-US" sz="1200" b="1" dirty="0">
                <a:solidFill>
                  <a:srgbClr val="262B3A"/>
                </a:solidFill>
                <a:latin typeface="Calibri" pitchFamily="34" charset="0"/>
                <a:ea typeface="Calibri" pitchFamily="34" charset="-122"/>
                <a:cs typeface="Calibri" pitchFamily="34" charset="-120"/>
              </a:rPr>
              <a:t>antagonistic effectors</a:t>
            </a:r>
            <a:r>
              <a:rPr lang="en-US" sz="1200" dirty="0">
                <a:solidFill>
                  <a:srgbClr val="262B3A"/>
                </a:solidFill>
                <a:latin typeface="Calibri" pitchFamily="34" charset="0"/>
                <a:ea typeface="Calibri" pitchFamily="34" charset="-122"/>
                <a:cs typeface="Calibri" pitchFamily="34" charset="-120"/>
              </a:rPr>
              <a:t> (beaker at 40 °C) and analyse the data.</a:t>
            </a:r>
            <a:endParaRPr lang="en-US" sz="1100" dirty="0"/>
          </a:p>
        </p:txBody>
      </p:sp>
      <p:sp>
        <p:nvSpPr>
          <p:cNvPr id="26" name="Shape 24"/>
          <p:cNvSpPr/>
          <p:nvPr/>
        </p:nvSpPr>
        <p:spPr>
          <a:xfrm>
            <a:off x="6263640" y="3063240"/>
            <a:ext cx="457200" cy="457200"/>
          </a:xfrm>
          <a:prstGeom prst="ellipse">
            <a:avLst/>
          </a:prstGeom>
          <a:solidFill>
            <a:srgbClr val="0D7877"/>
          </a:solidFill>
          <a:ln w="12700">
            <a:solidFill>
              <a:srgbClr val="0D7877"/>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Practical   </a:t>
            </a:r>
            <a:r>
              <a:rPr lang="en-US" sz="1200" dirty="0">
                <a:solidFill>
                  <a:srgbClr val="262B3A"/>
                </a:solidFill>
                <a:latin typeface="Calibri" pitchFamily="34" charset="0"/>
                <a:ea typeface="Calibri" pitchFamily="34" charset="-122"/>
                <a:cs typeface="Calibri" pitchFamily="34" charset="-120"/>
              </a:rPr>
              <a:t>Compare </a:t>
            </a:r>
            <a:r>
              <a:rPr lang="en-US" sz="1200" b="1" dirty="0">
                <a:solidFill>
                  <a:srgbClr val="262B3A"/>
                </a:solidFill>
                <a:latin typeface="Calibri" pitchFamily="34" charset="0"/>
                <a:ea typeface="Calibri" pitchFamily="34" charset="-122"/>
                <a:cs typeface="Calibri" pitchFamily="34" charset="-120"/>
              </a:rPr>
              <a:t>skin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core</a:t>
            </a:r>
            <a:r>
              <a:rPr lang="en-US" sz="1200" dirty="0">
                <a:solidFill>
                  <a:srgbClr val="262B3A"/>
                </a:solidFill>
                <a:latin typeface="Calibri" pitchFamily="34" charset="0"/>
                <a:ea typeface="Calibri" pitchFamily="34" charset="-122"/>
                <a:cs typeface="Calibri" pitchFamily="34" charset="-120"/>
              </a:rPr>
              <a:t> body temperature in different conditions; explain the difference.</a:t>
            </a:r>
            <a:endParaRPr lang="en-US" sz="1100" dirty="0"/>
          </a:p>
        </p:txBody>
      </p:sp>
      <p:sp>
        <p:nvSpPr>
          <p:cNvPr id="29" name="Shape 27"/>
          <p:cNvSpPr/>
          <p:nvPr/>
        </p:nvSpPr>
        <p:spPr>
          <a:xfrm>
            <a:off x="6263640" y="3931920"/>
            <a:ext cx="457200" cy="457200"/>
          </a:xfrm>
          <a:prstGeom prst="ellipse">
            <a:avLst/>
          </a:prstGeom>
          <a:solidFill>
            <a:srgbClr val="0D7877"/>
          </a:solidFill>
          <a:ln w="12700">
            <a:solidFill>
              <a:srgbClr val="0D7877"/>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B5.4.1   </a:t>
            </a:r>
            <a:r>
              <a:rPr lang="en-US" sz="1200" dirty="0">
                <a:solidFill>
                  <a:srgbClr val="262B3A"/>
                </a:solidFill>
                <a:latin typeface="Calibri" pitchFamily="34" charset="0"/>
                <a:ea typeface="Calibri" pitchFamily="34" charset="-122"/>
                <a:cs typeface="Calibri" pitchFamily="34" charset="-120"/>
              </a:rPr>
              <a:t>Explain what happens when conditions go </a:t>
            </a:r>
            <a:r>
              <a:rPr lang="en-US" sz="1200" b="1" dirty="0">
                <a:solidFill>
                  <a:srgbClr val="262B3A"/>
                </a:solidFill>
                <a:latin typeface="Calibri" pitchFamily="34" charset="0"/>
                <a:ea typeface="Calibri" pitchFamily="34" charset="-122"/>
                <a:cs typeface="Calibri" pitchFamily="34" charset="-120"/>
              </a:rPr>
              <a:t>outside</a:t>
            </a:r>
            <a:r>
              <a:rPr lang="en-US" sz="1200" dirty="0">
                <a:solidFill>
                  <a:srgbClr val="262B3A"/>
                </a:solidFill>
                <a:latin typeface="Calibri" pitchFamily="34" charset="0"/>
                <a:ea typeface="Calibri" pitchFamily="34" charset="-122"/>
                <a:cs typeface="Calibri" pitchFamily="34" charset="-120"/>
              </a:rPr>
              <a:t> the safe range (temperature, water).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B5 The human body – staying alive • B5.4 is Part 4 of 6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B5.4</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Why keep conditions constant?</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B5.4.1   </a:t>
            </a:r>
            <a:r>
              <a:rPr lang="en-US" sz="1100" dirty="0">
                <a:solidFill>
                  <a:srgbClr val="262B3A"/>
                </a:solidFill>
                <a:latin typeface="Calibri" pitchFamily="34" charset="0"/>
                <a:ea typeface="Calibri" pitchFamily="34" charset="-122"/>
                <a:cs typeface="Calibri" pitchFamily="34" charset="-120"/>
              </a:rPr>
              <a:t>The internal environment; internal and external change</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B5.4.1   </a:t>
            </a:r>
            <a:r>
              <a:rPr lang="en-US" sz="1100" dirty="0">
                <a:solidFill>
                  <a:srgbClr val="262B3A"/>
                </a:solidFill>
                <a:latin typeface="Calibri" pitchFamily="34" charset="0"/>
                <a:ea typeface="Calibri" pitchFamily="34" charset="-122"/>
                <a:cs typeface="Calibri" pitchFamily="34" charset="-120"/>
              </a:rPr>
              <a:t>Why constant? Enzymes, cells and water</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B5.4.1   </a:t>
            </a:r>
            <a:r>
              <a:rPr lang="en-US" sz="1100" dirty="0">
                <a:solidFill>
                  <a:srgbClr val="262B3A"/>
                </a:solidFill>
                <a:latin typeface="Calibri" pitchFamily="34" charset="0"/>
                <a:ea typeface="Calibri" pitchFamily="34" charset="-122"/>
                <a:cs typeface="Calibri" pitchFamily="34" charset="-120"/>
              </a:rPr>
              <a:t>Control systems, negative feedback, antagonistic effectors</a:t>
            </a:r>
            <a:endParaRPr lang="en-US" sz="1100" dirty="0"/>
          </a:p>
        </p:txBody>
      </p:sp>
      <p:sp>
        <p:nvSpPr>
          <p:cNvPr id="24" name="Shape 22"/>
          <p:cNvSpPr/>
          <p:nvPr/>
        </p:nvSpPr>
        <p:spPr>
          <a:xfrm>
            <a:off x="5257800" y="3566160"/>
            <a:ext cx="1097280" cy="274320"/>
          </a:xfrm>
          <a:prstGeom prst="roundRect">
            <a:avLst>
              <a:gd name="adj" fmla="val 50000"/>
            </a:avLst>
          </a:prstGeom>
          <a:solidFill>
            <a:srgbClr val="0D7877"/>
          </a:solidFill>
          <a:ln w="12700">
            <a:solidFill>
              <a:srgbClr val="0D7877"/>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Modelling control: a beaker kept at 40 °C</a:t>
            </a:r>
            <a:endParaRPr lang="en-US" sz="1100" dirty="0"/>
          </a:p>
        </p:txBody>
      </p:sp>
      <p:sp>
        <p:nvSpPr>
          <p:cNvPr id="29" name="Shape 27"/>
          <p:cNvSpPr/>
          <p:nvPr/>
        </p:nvSpPr>
        <p:spPr>
          <a:xfrm>
            <a:off x="5257800" y="4224528"/>
            <a:ext cx="1097280" cy="274320"/>
          </a:xfrm>
          <a:prstGeom prst="roundRect">
            <a:avLst>
              <a:gd name="adj" fmla="val 50000"/>
            </a:avLst>
          </a:prstGeom>
          <a:solidFill>
            <a:srgbClr val="B8730A"/>
          </a:solidFill>
          <a:ln w="12700">
            <a:solidFill>
              <a:srgbClr val="B8730A"/>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Skin temperature vs core temperature</a:t>
            </a:r>
            <a:endParaRPr lang="en-US" sz="1100" dirty="0"/>
          </a:p>
        </p:txBody>
      </p:sp>
      <p:sp>
        <p:nvSpPr>
          <p:cNvPr id="34" name="Shape 32"/>
          <p:cNvSpPr/>
          <p:nvPr/>
        </p:nvSpPr>
        <p:spPr>
          <a:xfrm>
            <a:off x="5257800" y="4882896"/>
            <a:ext cx="1097280" cy="274320"/>
          </a:xfrm>
          <a:prstGeom prst="roundRect">
            <a:avLst>
              <a:gd name="adj" fmla="val 50000"/>
            </a:avLst>
          </a:prstGeom>
          <a:solidFill>
            <a:srgbClr val="B8730A"/>
          </a:solidFill>
          <a:ln w="12700">
            <a:solidFill>
              <a:srgbClr val="B8730A"/>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B5.4.1   </a:t>
            </a:r>
            <a:r>
              <a:rPr lang="en-US" sz="1100" dirty="0">
                <a:solidFill>
                  <a:srgbClr val="262B3A"/>
                </a:solidFill>
                <a:latin typeface="Calibri" pitchFamily="34" charset="0"/>
                <a:ea typeface="Calibri" pitchFamily="34" charset="-122"/>
                <a:cs typeface="Calibri" pitchFamily="34" charset="-120"/>
              </a:rPr>
              <a:t>Outside the safe range; exercise on a hot day</a:t>
            </a:r>
            <a:endParaRPr lang="en-US" sz="1100" dirty="0"/>
          </a:p>
        </p:txBody>
      </p:sp>
      <p:sp>
        <p:nvSpPr>
          <p:cNvPr id="39" name="Shape 37"/>
          <p:cNvSpPr/>
          <p:nvPr/>
        </p:nvSpPr>
        <p:spPr>
          <a:xfrm>
            <a:off x="5257800" y="5541264"/>
            <a:ext cx="1097280" cy="274320"/>
          </a:xfrm>
          <a:prstGeom prst="roundRect">
            <a:avLst>
              <a:gd name="adj" fmla="val 50000"/>
            </a:avLst>
          </a:prstGeom>
          <a:solidFill>
            <a:srgbClr val="0D7877"/>
          </a:solidFill>
          <a:ln w="12700">
            <a:solidFill>
              <a:srgbClr val="0D7877"/>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B3 enzymes and osmosis • B5.1 blood and tissue fluid • B5.2 receptors, effectors • B5.3 negative feedback</a:t>
            </a:r>
            <a:endParaRPr lang="en-US" sz="1050" dirty="0"/>
          </a:p>
        </p:txBody>
      </p:sp>
      <p:sp>
        <p:nvSpPr>
          <p:cNvPr id="42" name="Shape 40"/>
          <p:cNvSpPr/>
          <p:nvPr/>
        </p:nvSpPr>
        <p:spPr>
          <a:xfrm>
            <a:off x="6720840" y="1234440"/>
            <a:ext cx="5056632" cy="2971800"/>
          </a:xfrm>
          <a:prstGeom prst="roundRect">
            <a:avLst>
              <a:gd name="adj" fmla="val 1846"/>
            </a:avLst>
          </a:prstGeom>
          <a:solidFill>
            <a:srgbClr val="0F3D3E"/>
          </a:solidFill>
          <a:ln/>
        </p:spPr>
      </p:sp>
      <p:sp>
        <p:nvSpPr>
          <p:cNvPr id="43" name="Text 41"/>
          <p:cNvSpPr/>
          <p:nvPr/>
        </p:nvSpPr>
        <p:spPr>
          <a:xfrm>
            <a:off x="6903720" y="1325880"/>
            <a:ext cx="4709160" cy="27889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B5 in J260</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B5.1 How do substances get into, out of and around our bodies?</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B5.2 How does the nervous system help us respond to changes?</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B5.3 How do hormones control responses in the human body?</a:t>
            </a:r>
            <a:endParaRPr lang="en-US" sz="1500" dirty="0"/>
          </a:p>
          <a:p>
            <a:pPr marL="152400" indent="-152400">
              <a:spcAft>
                <a:spcPts val="200"/>
              </a:spcAft>
              <a:buSzPct val="100000"/>
              <a:buChar char="▪"/>
            </a:pPr>
            <a:r>
              <a:rPr lang="en-US" sz="1100" b="1" dirty="0">
                <a:solidFill>
                  <a:srgbClr val="E3F2F0"/>
                </a:solidFill>
                <a:latin typeface="Calibri" pitchFamily="34" charset="0"/>
                <a:ea typeface="Calibri" pitchFamily="34" charset="-122"/>
                <a:cs typeface="Calibri" pitchFamily="34" charset="-120"/>
              </a:rPr>
              <a:t>B5.4 Why do we need to maintain a constant internal environment?</a:t>
            </a:r>
            <a:r>
              <a:rPr lang="en-US" sz="1100" dirty="0">
                <a:solidFill>
                  <a:srgbClr val="E3F2F0"/>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B5.5 What role do hormones play in human reproduction?</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B5.6 What can happen when organs and control systems stop working? (insulin, glucagon, diabetes)</a:t>
            </a:r>
            <a:endParaRPr lang="en-US" sz="1500" dirty="0"/>
          </a:p>
        </p:txBody>
      </p:sp>
      <p:sp>
        <p:nvSpPr>
          <p:cNvPr id="44" name="Shape 42"/>
          <p:cNvSpPr/>
          <p:nvPr/>
        </p:nvSpPr>
        <p:spPr>
          <a:xfrm>
            <a:off x="6720840" y="4343400"/>
            <a:ext cx="5056632" cy="1920240"/>
          </a:xfrm>
          <a:prstGeom prst="roundRect">
            <a:avLst>
              <a:gd name="adj" fmla="val 2857"/>
            </a:avLst>
          </a:prstGeom>
          <a:solidFill>
            <a:srgbClr val="FFF4E0"/>
          </a:solidFill>
          <a:ln w="12700">
            <a:solidFill>
              <a:srgbClr val="F1D9A8"/>
            </a:solidFill>
            <a:prstDash val="solid"/>
          </a:ln>
        </p:spPr>
      </p:sp>
      <p:sp>
        <p:nvSpPr>
          <p:cNvPr id="45" name="Text 43"/>
          <p:cNvSpPr/>
          <p:nvPr/>
        </p:nvSpPr>
        <p:spPr>
          <a:xfrm>
            <a:off x="6903720" y="4434840"/>
            <a:ext cx="4709160" cy="17373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Every slide is for both tiers: no B5.4 statement in J260 was found to be Higher only.</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 Combined Science you learn </a:t>
            </a:r>
            <a:r>
              <a:rPr lang="en-US" sz="1100" b="1" dirty="0">
                <a:solidFill>
                  <a:srgbClr val="262B3A"/>
                </a:solidFill>
                <a:latin typeface="Calibri" pitchFamily="34" charset="0"/>
                <a:ea typeface="Calibri" pitchFamily="34" charset="-122"/>
                <a:cs typeface="Calibri" pitchFamily="34" charset="-120"/>
              </a:rPr>
              <a:t>why</a:t>
            </a:r>
            <a:r>
              <a:rPr lang="en-US" sz="1100" dirty="0">
                <a:solidFill>
                  <a:srgbClr val="262B3A"/>
                </a:solidFill>
                <a:latin typeface="Calibri" pitchFamily="34" charset="0"/>
                <a:ea typeface="Calibri" pitchFamily="34" charset="-122"/>
                <a:cs typeface="Calibri" pitchFamily="34" charset="-120"/>
              </a:rPr>
              <a:t> conditions are kept constant. How the skin and the kidneys do it is in the separate Biology course.</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mean</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range</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percentages</a:t>
            </a:r>
            <a:r>
              <a:rPr lang="en-US" sz="1100" dirty="0">
                <a:solidFill>
                  <a:srgbClr val="262B3A"/>
                </a:solidFill>
                <a:latin typeface="Calibri" pitchFamily="34" charset="0"/>
                <a:ea typeface="Calibri" pitchFamily="34" charset="-122"/>
                <a:cs typeface="Calibri" pitchFamily="34" charset="-120"/>
              </a:rPr>
              <a:t>; plotting and reading </a:t>
            </a:r>
            <a:r>
              <a:rPr lang="en-US" sz="1100" b="1" dirty="0">
                <a:solidFill>
                  <a:srgbClr val="262B3A"/>
                </a:solidFill>
                <a:latin typeface="Calibri" pitchFamily="34" charset="0"/>
                <a:ea typeface="Calibri" pitchFamily="34" charset="-122"/>
                <a:cs typeface="Calibri" pitchFamily="34" charset="-120"/>
              </a:rPr>
              <a:t>graphs</a:t>
            </a:r>
            <a:r>
              <a:rPr lang="en-US" sz="1100" dirty="0">
                <a:solidFill>
                  <a:srgbClr val="262B3A"/>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B3, B4.1, B5.1, B5.2 and B5.3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 • enzymes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happens to the </a:t>
            </a:r>
            <a:r>
              <a:rPr lang="en-US" sz="1250" b="1" dirty="0">
                <a:solidFill>
                  <a:srgbClr val="262B3A"/>
                </a:solidFill>
                <a:latin typeface="Calibri" pitchFamily="34" charset="0"/>
                <a:ea typeface="Calibri" pitchFamily="34" charset="-122"/>
                <a:cs typeface="Calibri" pitchFamily="34" charset="-120"/>
              </a:rPr>
              <a:t>active site</a:t>
            </a:r>
            <a:r>
              <a:rPr lang="en-US" sz="1250" dirty="0">
                <a:solidFill>
                  <a:srgbClr val="262B3A"/>
                </a:solidFill>
                <a:latin typeface="Calibri" pitchFamily="34" charset="0"/>
                <a:ea typeface="Calibri" pitchFamily="34" charset="-122"/>
                <a:cs typeface="Calibri" pitchFamily="34" charset="-120"/>
              </a:rPr>
              <a:t> of an enzyme at a very </a:t>
            </a:r>
            <a:r>
              <a:rPr lang="en-US" sz="1250" b="1" dirty="0">
                <a:solidFill>
                  <a:srgbClr val="262B3A"/>
                </a:solidFill>
                <a:latin typeface="Calibri" pitchFamily="34" charset="0"/>
                <a:ea typeface="Calibri" pitchFamily="34" charset="-122"/>
                <a:cs typeface="Calibri" pitchFamily="34" charset="-120"/>
              </a:rPr>
              <a:t>high</a:t>
            </a:r>
            <a:r>
              <a:rPr lang="en-US" sz="1250" dirty="0">
                <a:solidFill>
                  <a:srgbClr val="262B3A"/>
                </a:solidFill>
                <a:latin typeface="Calibri" pitchFamily="34" charset="0"/>
                <a:ea typeface="Calibri" pitchFamily="34" charset="-122"/>
                <a:cs typeface="Calibri" pitchFamily="34" charset="-120"/>
              </a:rPr>
              <a:t> temperature? What is this called?</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 • osmosis</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osmosis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B5.1 • blood</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liquid part of the blood. 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substances it carries.</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B5.2 • nervous system</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Put in order: </a:t>
            </a:r>
            <a:r>
              <a:rPr lang="en-US" sz="1250" b="1" dirty="0">
                <a:solidFill>
                  <a:srgbClr val="262B3A"/>
                </a:solidFill>
                <a:latin typeface="Calibri" pitchFamily="34" charset="0"/>
                <a:ea typeface="Calibri" pitchFamily="34" charset="-122"/>
                <a:cs typeface="Calibri" pitchFamily="34" charset="-120"/>
              </a:rPr>
              <a:t>effector</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receptor</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CNS (coordinator)</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stimulus</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response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B5.3 • hormones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t>
            </a:r>
            <a:r>
              <a:rPr lang="en-US" sz="1250" b="1" dirty="0">
                <a:solidFill>
                  <a:srgbClr val="262B3A"/>
                </a:solidFill>
                <a:latin typeface="Calibri" pitchFamily="34" charset="0"/>
                <a:ea typeface="Calibri" pitchFamily="34" charset="-122"/>
                <a:cs typeface="Calibri" pitchFamily="34" charset="-120"/>
              </a:rPr>
              <a:t>negative feedback</a:t>
            </a:r>
            <a:r>
              <a:rPr lang="en-US" sz="1250" dirty="0">
                <a:solidFill>
                  <a:srgbClr val="262B3A"/>
                </a:solidFill>
                <a:latin typeface="Calibri" pitchFamily="34" charset="0"/>
                <a:ea typeface="Calibri" pitchFamily="34" charset="-122"/>
                <a:cs typeface="Calibri" pitchFamily="34" charset="-120"/>
              </a:rPr>
              <a:t>? Name the hormone in B5.3 that is controlled by it.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B4.1 • respiration</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Aerobic respiration releases energy. 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other products. Which of them is a </a:t>
            </a:r>
            <a:r>
              <a:rPr lang="en-US" sz="1250" b="1" dirty="0">
                <a:solidFill>
                  <a:srgbClr val="262B3A"/>
                </a:solidFill>
                <a:latin typeface="Calibri" pitchFamily="34" charset="0"/>
                <a:ea typeface="Calibri" pitchFamily="34" charset="-122"/>
                <a:cs typeface="Calibri" pitchFamily="34" charset="-120"/>
              </a:rPr>
              <a:t>waste</a:t>
            </a:r>
            <a:r>
              <a:rPr lang="en-US" sz="1250" dirty="0">
                <a:solidFill>
                  <a:srgbClr val="262B3A"/>
                </a:solidFill>
                <a:latin typeface="Calibri" pitchFamily="34" charset="0"/>
                <a:ea typeface="Calibri" pitchFamily="34" charset="-122"/>
                <a:cs typeface="Calibri" pitchFamily="34" charset="-120"/>
              </a:rPr>
              <a:t> the body must remove?</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internal environment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the fluid that surrounds your cells must stay the same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B5.4.1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body cells bathed in tissue fluid, with a capillary below; not to scale</a:t>
            </a:r>
            <a:endParaRPr lang="en-US" sz="1000" dirty="0"/>
          </a:p>
        </p:txBody>
      </p:sp>
      <p:sp>
        <p:nvSpPr>
          <p:cNvPr id="10" name="Shape 8"/>
          <p:cNvSpPr/>
          <p:nvPr/>
        </p:nvSpPr>
        <p:spPr>
          <a:xfrm>
            <a:off x="594360" y="1371600"/>
            <a:ext cx="5212080" cy="2743200"/>
          </a:xfrm>
          <a:prstGeom prst="roundRect">
            <a:avLst>
              <a:gd name="adj" fmla="val 2667"/>
            </a:avLst>
          </a:prstGeom>
          <a:solidFill>
            <a:srgbClr val="DDEFF7"/>
          </a:solidFill>
          <a:ln w="12700">
            <a:solidFill>
              <a:srgbClr val="7FA9C4"/>
            </a:solidFill>
            <a:prstDash val="solid"/>
          </a:ln>
        </p:spPr>
      </p:sp>
      <p:sp>
        <p:nvSpPr>
          <p:cNvPr id="11" name="Text 9"/>
          <p:cNvSpPr/>
          <p:nvPr/>
        </p:nvSpPr>
        <p:spPr>
          <a:xfrm>
            <a:off x="685800" y="1417320"/>
            <a:ext cx="5029200" cy="256032"/>
          </a:xfrm>
          <a:prstGeom prst="rect">
            <a:avLst/>
          </a:prstGeom>
          <a:noFill/>
          <a:ln/>
        </p:spPr>
        <p:txBody>
          <a:bodyPr wrap="square" lIns="0" tIns="0" rIns="0" bIns="0" rtlCol="0" anchor="ctr"/>
          <a:lstStyle/>
          <a:p>
            <a:pPr algn="l" indent="0" marL="0">
              <a:buNone/>
            </a:pPr>
            <a:r>
              <a:rPr lang="en-US" sz="1100" b="1" dirty="0">
                <a:solidFill>
                  <a:srgbClr val="2F5F8F"/>
                </a:solidFill>
                <a:latin typeface="Calibri" pitchFamily="34" charset="0"/>
                <a:ea typeface="Calibri" pitchFamily="34" charset="-122"/>
                <a:cs typeface="Calibri" pitchFamily="34" charset="-120"/>
              </a:rPr>
              <a:t>tissue fluid</a:t>
            </a:r>
            <a:r>
              <a:rPr lang="en-US" sz="1100" dirty="0">
                <a:solidFill>
                  <a:srgbClr val="2F5F8F"/>
                </a:solidFill>
                <a:latin typeface="Calibri" pitchFamily="34" charset="0"/>
                <a:ea typeface="Calibri" pitchFamily="34" charset="-122"/>
                <a:cs typeface="Calibri" pitchFamily="34" charset="-120"/>
              </a:rPr>
              <a:t>: the internal environment around every cell</a:t>
            </a:r>
            <a:endParaRPr lang="en-US" sz="1100" dirty="0"/>
          </a:p>
        </p:txBody>
      </p:sp>
      <p:sp>
        <p:nvSpPr>
          <p:cNvPr id="12" name="Shape 10"/>
          <p:cNvSpPr/>
          <p:nvPr/>
        </p:nvSpPr>
        <p:spPr>
          <a:xfrm>
            <a:off x="868680" y="1783080"/>
            <a:ext cx="1280160" cy="960120"/>
          </a:xfrm>
          <a:prstGeom prst="ellipse">
            <a:avLst/>
          </a:prstGeom>
          <a:solidFill>
            <a:srgbClr val="FBF3DF"/>
          </a:solidFill>
          <a:ln w="22225">
            <a:solidFill>
              <a:srgbClr val="8A6D3B"/>
            </a:solidFill>
            <a:prstDash val="solid"/>
          </a:ln>
        </p:spPr>
      </p:sp>
      <p:sp>
        <p:nvSpPr>
          <p:cNvPr id="13" name="Shape 11"/>
          <p:cNvSpPr/>
          <p:nvPr/>
        </p:nvSpPr>
        <p:spPr>
          <a:xfrm>
            <a:off x="1243127" y="2061515"/>
            <a:ext cx="403250" cy="403250"/>
          </a:xfrm>
          <a:prstGeom prst="ellipse">
            <a:avLst/>
          </a:prstGeom>
          <a:solidFill>
            <a:srgbClr val="C9B6E4"/>
          </a:solidFill>
          <a:ln w="15875">
            <a:solidFill>
              <a:srgbClr val="6A4C93"/>
            </a:solidFill>
            <a:prstDash val="solid"/>
          </a:ln>
        </p:spPr>
      </p:sp>
      <p:sp>
        <p:nvSpPr>
          <p:cNvPr id="14" name="Shape 12"/>
          <p:cNvSpPr/>
          <p:nvPr/>
        </p:nvSpPr>
        <p:spPr>
          <a:xfrm>
            <a:off x="1384264" y="2202652"/>
            <a:ext cx="120975" cy="120975"/>
          </a:xfrm>
          <a:prstGeom prst="ellipse">
            <a:avLst/>
          </a:prstGeom>
          <a:solidFill>
            <a:srgbClr val="6A4C93">
              <a:alpha val="60000"/>
            </a:srgbClr>
          </a:solidFill>
          <a:ln/>
        </p:spPr>
      </p:sp>
      <p:sp>
        <p:nvSpPr>
          <p:cNvPr id="15" name="Shape 13"/>
          <p:cNvSpPr/>
          <p:nvPr/>
        </p:nvSpPr>
        <p:spPr>
          <a:xfrm rot="1800000">
            <a:off x="1698955" y="2025396"/>
            <a:ext cx="182880" cy="91440"/>
          </a:xfrm>
          <a:prstGeom prst="ellipse">
            <a:avLst/>
          </a:prstGeom>
          <a:solidFill>
            <a:srgbClr val="F2B279"/>
          </a:solidFill>
          <a:ln w="15875">
            <a:solidFill>
              <a:srgbClr val="A4561C"/>
            </a:solidFill>
            <a:prstDash val="solid"/>
          </a:ln>
        </p:spPr>
      </p:sp>
      <p:sp>
        <p:nvSpPr>
          <p:cNvPr id="16" name="Shape 14"/>
          <p:cNvSpPr/>
          <p:nvPr/>
        </p:nvSpPr>
        <p:spPr>
          <a:xfrm flipH="1">
            <a:off x="1744438" y="2022605"/>
            <a:ext cx="2167" cy="45207"/>
          </a:xfrm>
          <a:prstGeom prst="line">
            <a:avLst/>
          </a:prstGeom>
          <a:noFill/>
          <a:ln w="9525">
            <a:solidFill>
              <a:srgbClr val="A4561C"/>
            </a:solidFill>
            <a:prstDash val="solid"/>
          </a:ln>
        </p:spPr>
      </p:sp>
      <p:sp>
        <p:nvSpPr>
          <p:cNvPr id="17" name="Shape 15"/>
          <p:cNvSpPr/>
          <p:nvPr/>
        </p:nvSpPr>
        <p:spPr>
          <a:xfrm flipV="1">
            <a:off x="1744438" y="2043331"/>
            <a:ext cx="38066" cy="24480"/>
          </a:xfrm>
          <a:prstGeom prst="line">
            <a:avLst/>
          </a:prstGeom>
          <a:noFill/>
          <a:ln w="9525">
            <a:solidFill>
              <a:srgbClr val="A4561C"/>
            </a:solidFill>
            <a:prstDash val="solid"/>
          </a:ln>
        </p:spPr>
      </p:sp>
      <p:sp>
        <p:nvSpPr>
          <p:cNvPr id="18" name="Shape 16"/>
          <p:cNvSpPr/>
          <p:nvPr/>
        </p:nvSpPr>
        <p:spPr>
          <a:xfrm flipH="1">
            <a:off x="1780337" y="2043331"/>
            <a:ext cx="2167" cy="45207"/>
          </a:xfrm>
          <a:prstGeom prst="line">
            <a:avLst/>
          </a:prstGeom>
          <a:noFill/>
          <a:ln w="9525">
            <a:solidFill>
              <a:srgbClr val="A4561C"/>
            </a:solidFill>
            <a:prstDash val="solid"/>
          </a:ln>
        </p:spPr>
      </p:sp>
      <p:sp>
        <p:nvSpPr>
          <p:cNvPr id="19" name="Shape 17"/>
          <p:cNvSpPr/>
          <p:nvPr/>
        </p:nvSpPr>
        <p:spPr>
          <a:xfrm flipV="1">
            <a:off x="1780337" y="2064058"/>
            <a:ext cx="38066" cy="24480"/>
          </a:xfrm>
          <a:prstGeom prst="line">
            <a:avLst/>
          </a:prstGeom>
          <a:noFill/>
          <a:ln w="9525">
            <a:solidFill>
              <a:srgbClr val="A4561C"/>
            </a:solidFill>
            <a:prstDash val="solid"/>
          </a:ln>
        </p:spPr>
      </p:sp>
      <p:sp>
        <p:nvSpPr>
          <p:cNvPr id="20" name="Shape 18"/>
          <p:cNvSpPr/>
          <p:nvPr/>
        </p:nvSpPr>
        <p:spPr>
          <a:xfrm flipH="1">
            <a:off x="1816236" y="2064058"/>
            <a:ext cx="2167" cy="45207"/>
          </a:xfrm>
          <a:prstGeom prst="line">
            <a:avLst/>
          </a:prstGeom>
          <a:noFill/>
          <a:ln w="9525">
            <a:solidFill>
              <a:srgbClr val="A4561C"/>
            </a:solidFill>
            <a:prstDash val="solid"/>
          </a:ln>
        </p:spPr>
      </p:sp>
      <p:sp>
        <p:nvSpPr>
          <p:cNvPr id="21" name="Shape 19"/>
          <p:cNvSpPr/>
          <p:nvPr/>
        </p:nvSpPr>
        <p:spPr>
          <a:xfrm flipV="1">
            <a:off x="1816236" y="2084784"/>
            <a:ext cx="38066" cy="24480"/>
          </a:xfrm>
          <a:prstGeom prst="line">
            <a:avLst/>
          </a:prstGeom>
          <a:noFill/>
          <a:ln w="9525">
            <a:solidFill>
              <a:srgbClr val="A4561C"/>
            </a:solidFill>
            <a:prstDash val="solid"/>
          </a:ln>
        </p:spPr>
      </p:sp>
      <p:sp>
        <p:nvSpPr>
          <p:cNvPr id="22" name="Shape 20"/>
          <p:cNvSpPr/>
          <p:nvPr/>
        </p:nvSpPr>
        <p:spPr>
          <a:xfrm rot="-1200000">
            <a:off x="1775765" y="2332634"/>
            <a:ext cx="182880" cy="91440"/>
          </a:xfrm>
          <a:prstGeom prst="ellipse">
            <a:avLst/>
          </a:prstGeom>
          <a:solidFill>
            <a:srgbClr val="F2B279"/>
          </a:solidFill>
          <a:ln w="15875">
            <a:solidFill>
              <a:srgbClr val="A4561C"/>
            </a:solidFill>
            <a:prstDash val="solid"/>
          </a:ln>
        </p:spPr>
      </p:sp>
      <p:sp>
        <p:nvSpPr>
          <p:cNvPr id="23" name="Shape 21"/>
          <p:cNvSpPr/>
          <p:nvPr/>
        </p:nvSpPr>
        <p:spPr>
          <a:xfrm>
            <a:off x="1801895" y="2380717"/>
            <a:ext cx="33237" cy="30718"/>
          </a:xfrm>
          <a:prstGeom prst="line">
            <a:avLst/>
          </a:prstGeom>
          <a:noFill/>
          <a:ln w="9525">
            <a:solidFill>
              <a:srgbClr val="A4561C"/>
            </a:solidFill>
            <a:prstDash val="solid"/>
          </a:ln>
        </p:spPr>
      </p:sp>
      <p:sp>
        <p:nvSpPr>
          <p:cNvPr id="24" name="Shape 22"/>
          <p:cNvSpPr/>
          <p:nvPr/>
        </p:nvSpPr>
        <p:spPr>
          <a:xfrm flipV="1">
            <a:off x="1835132" y="2366540"/>
            <a:ext cx="5716" cy="44896"/>
          </a:xfrm>
          <a:prstGeom prst="line">
            <a:avLst/>
          </a:prstGeom>
          <a:noFill/>
          <a:ln w="9525">
            <a:solidFill>
              <a:srgbClr val="A4561C"/>
            </a:solidFill>
            <a:prstDash val="solid"/>
          </a:ln>
        </p:spPr>
      </p:sp>
      <p:sp>
        <p:nvSpPr>
          <p:cNvPr id="25" name="Shape 23"/>
          <p:cNvSpPr/>
          <p:nvPr/>
        </p:nvSpPr>
        <p:spPr>
          <a:xfrm>
            <a:off x="1840848" y="2366540"/>
            <a:ext cx="33237" cy="30718"/>
          </a:xfrm>
          <a:prstGeom prst="line">
            <a:avLst/>
          </a:prstGeom>
          <a:noFill/>
          <a:ln w="9525">
            <a:solidFill>
              <a:srgbClr val="A4561C"/>
            </a:solidFill>
            <a:prstDash val="solid"/>
          </a:ln>
        </p:spPr>
      </p:sp>
      <p:sp>
        <p:nvSpPr>
          <p:cNvPr id="26" name="Shape 24"/>
          <p:cNvSpPr/>
          <p:nvPr/>
        </p:nvSpPr>
        <p:spPr>
          <a:xfrm flipV="1">
            <a:off x="1874085" y="2352362"/>
            <a:ext cx="5716" cy="44896"/>
          </a:xfrm>
          <a:prstGeom prst="line">
            <a:avLst/>
          </a:prstGeom>
          <a:noFill/>
          <a:ln w="9525">
            <a:solidFill>
              <a:srgbClr val="A4561C"/>
            </a:solidFill>
            <a:prstDash val="solid"/>
          </a:ln>
        </p:spPr>
      </p:sp>
      <p:sp>
        <p:nvSpPr>
          <p:cNvPr id="27" name="Shape 25"/>
          <p:cNvSpPr/>
          <p:nvPr/>
        </p:nvSpPr>
        <p:spPr>
          <a:xfrm>
            <a:off x="1879801" y="2352362"/>
            <a:ext cx="33237" cy="30718"/>
          </a:xfrm>
          <a:prstGeom prst="line">
            <a:avLst/>
          </a:prstGeom>
          <a:noFill/>
          <a:ln w="9525">
            <a:solidFill>
              <a:srgbClr val="A4561C"/>
            </a:solidFill>
            <a:prstDash val="solid"/>
          </a:ln>
        </p:spPr>
      </p:sp>
      <p:sp>
        <p:nvSpPr>
          <p:cNvPr id="28" name="Shape 26"/>
          <p:cNvSpPr/>
          <p:nvPr/>
        </p:nvSpPr>
        <p:spPr>
          <a:xfrm flipV="1">
            <a:off x="1913038" y="2338184"/>
            <a:ext cx="5716" cy="44896"/>
          </a:xfrm>
          <a:prstGeom prst="line">
            <a:avLst/>
          </a:prstGeom>
          <a:noFill/>
          <a:ln w="9525">
            <a:solidFill>
              <a:srgbClr val="A4561C"/>
            </a:solidFill>
            <a:prstDash val="solid"/>
          </a:ln>
        </p:spPr>
      </p:sp>
      <p:sp>
        <p:nvSpPr>
          <p:cNvPr id="29" name="Shape 27"/>
          <p:cNvSpPr/>
          <p:nvPr/>
        </p:nvSpPr>
        <p:spPr>
          <a:xfrm rot="600000">
            <a:off x="1417320" y="2524658"/>
            <a:ext cx="182880" cy="91440"/>
          </a:xfrm>
          <a:prstGeom prst="ellipse">
            <a:avLst/>
          </a:prstGeom>
          <a:solidFill>
            <a:srgbClr val="F2B279"/>
          </a:solidFill>
          <a:ln w="15875">
            <a:solidFill>
              <a:srgbClr val="A4561C"/>
            </a:solidFill>
            <a:prstDash val="solid"/>
          </a:ln>
        </p:spPr>
      </p:sp>
      <p:sp>
        <p:nvSpPr>
          <p:cNvPr id="30" name="Shape 28"/>
          <p:cNvSpPr/>
          <p:nvPr/>
        </p:nvSpPr>
        <p:spPr>
          <a:xfrm>
            <a:off x="1451019" y="2539770"/>
            <a:ext cx="13425" cy="43221"/>
          </a:xfrm>
          <a:prstGeom prst="line">
            <a:avLst/>
          </a:prstGeom>
          <a:noFill/>
          <a:ln w="9525">
            <a:solidFill>
              <a:srgbClr val="A4561C"/>
            </a:solidFill>
            <a:prstDash val="solid"/>
          </a:ln>
        </p:spPr>
      </p:sp>
      <p:sp>
        <p:nvSpPr>
          <p:cNvPr id="31" name="Shape 29"/>
          <p:cNvSpPr/>
          <p:nvPr/>
        </p:nvSpPr>
        <p:spPr>
          <a:xfrm flipV="1">
            <a:off x="1464444" y="2546968"/>
            <a:ext cx="27398" cy="36023"/>
          </a:xfrm>
          <a:prstGeom prst="line">
            <a:avLst/>
          </a:prstGeom>
          <a:noFill/>
          <a:ln w="9525">
            <a:solidFill>
              <a:srgbClr val="A4561C"/>
            </a:solidFill>
            <a:prstDash val="solid"/>
          </a:ln>
        </p:spPr>
      </p:sp>
      <p:sp>
        <p:nvSpPr>
          <p:cNvPr id="32" name="Shape 30"/>
          <p:cNvSpPr/>
          <p:nvPr/>
        </p:nvSpPr>
        <p:spPr>
          <a:xfrm>
            <a:off x="1491842" y="2546968"/>
            <a:ext cx="13425" cy="43221"/>
          </a:xfrm>
          <a:prstGeom prst="line">
            <a:avLst/>
          </a:prstGeom>
          <a:noFill/>
          <a:ln w="9525">
            <a:solidFill>
              <a:srgbClr val="A4561C"/>
            </a:solidFill>
            <a:prstDash val="solid"/>
          </a:ln>
        </p:spPr>
      </p:sp>
      <p:sp>
        <p:nvSpPr>
          <p:cNvPr id="33" name="Shape 31"/>
          <p:cNvSpPr/>
          <p:nvPr/>
        </p:nvSpPr>
        <p:spPr>
          <a:xfrm flipV="1">
            <a:off x="1505267" y="2554166"/>
            <a:ext cx="27398" cy="36023"/>
          </a:xfrm>
          <a:prstGeom prst="line">
            <a:avLst/>
          </a:prstGeom>
          <a:noFill/>
          <a:ln w="9525">
            <a:solidFill>
              <a:srgbClr val="A4561C"/>
            </a:solidFill>
            <a:prstDash val="solid"/>
          </a:ln>
        </p:spPr>
      </p:sp>
      <p:sp>
        <p:nvSpPr>
          <p:cNvPr id="34" name="Shape 32"/>
          <p:cNvSpPr/>
          <p:nvPr/>
        </p:nvSpPr>
        <p:spPr>
          <a:xfrm>
            <a:off x="1532665" y="2554166"/>
            <a:ext cx="13425" cy="43221"/>
          </a:xfrm>
          <a:prstGeom prst="line">
            <a:avLst/>
          </a:prstGeom>
          <a:noFill/>
          <a:ln w="9525">
            <a:solidFill>
              <a:srgbClr val="A4561C"/>
            </a:solidFill>
            <a:prstDash val="solid"/>
          </a:ln>
        </p:spPr>
      </p:sp>
      <p:sp>
        <p:nvSpPr>
          <p:cNvPr id="35" name="Shape 33"/>
          <p:cNvSpPr/>
          <p:nvPr/>
        </p:nvSpPr>
        <p:spPr>
          <a:xfrm flipV="1">
            <a:off x="1546090" y="2561365"/>
            <a:ext cx="27398" cy="36023"/>
          </a:xfrm>
          <a:prstGeom prst="line">
            <a:avLst/>
          </a:prstGeom>
          <a:noFill/>
          <a:ln w="9525">
            <a:solidFill>
              <a:srgbClr val="A4561C"/>
            </a:solidFill>
            <a:prstDash val="solid"/>
          </a:ln>
        </p:spPr>
      </p:sp>
      <p:sp>
        <p:nvSpPr>
          <p:cNvPr id="36" name="Shape 34"/>
          <p:cNvSpPr/>
          <p:nvPr/>
        </p:nvSpPr>
        <p:spPr>
          <a:xfrm rot="-2100000">
            <a:off x="1097280" y="1977390"/>
            <a:ext cx="182880" cy="91440"/>
          </a:xfrm>
          <a:prstGeom prst="ellipse">
            <a:avLst/>
          </a:prstGeom>
          <a:solidFill>
            <a:srgbClr val="F2B279"/>
          </a:solidFill>
          <a:ln w="15875">
            <a:solidFill>
              <a:srgbClr val="A4561C"/>
            </a:solidFill>
            <a:prstDash val="solid"/>
          </a:ln>
        </p:spPr>
      </p:sp>
      <p:sp>
        <p:nvSpPr>
          <p:cNvPr id="37" name="Shape 35"/>
          <p:cNvSpPr/>
          <p:nvPr/>
        </p:nvSpPr>
        <p:spPr>
          <a:xfrm>
            <a:off x="1126247" y="2042296"/>
            <a:ext cx="40055" cy="21069"/>
          </a:xfrm>
          <a:prstGeom prst="line">
            <a:avLst/>
          </a:prstGeom>
          <a:noFill/>
          <a:ln w="9525">
            <a:solidFill>
              <a:srgbClr val="A4561C"/>
            </a:solidFill>
            <a:prstDash val="solid"/>
          </a:ln>
        </p:spPr>
      </p:sp>
      <p:sp>
        <p:nvSpPr>
          <p:cNvPr id="38" name="Shape 36"/>
          <p:cNvSpPr/>
          <p:nvPr/>
        </p:nvSpPr>
        <p:spPr>
          <a:xfrm flipH="1" flipV="1">
            <a:off x="1160203" y="2018519"/>
            <a:ext cx="6099" cy="44846"/>
          </a:xfrm>
          <a:prstGeom prst="line">
            <a:avLst/>
          </a:prstGeom>
          <a:noFill/>
          <a:ln w="9525">
            <a:solidFill>
              <a:srgbClr val="A4561C"/>
            </a:solidFill>
            <a:prstDash val="solid"/>
          </a:ln>
        </p:spPr>
      </p:sp>
      <p:sp>
        <p:nvSpPr>
          <p:cNvPr id="39" name="Shape 37"/>
          <p:cNvSpPr/>
          <p:nvPr/>
        </p:nvSpPr>
        <p:spPr>
          <a:xfrm>
            <a:off x="1160203" y="2018519"/>
            <a:ext cx="40055" cy="21069"/>
          </a:xfrm>
          <a:prstGeom prst="line">
            <a:avLst/>
          </a:prstGeom>
          <a:noFill/>
          <a:ln w="9525">
            <a:solidFill>
              <a:srgbClr val="A4561C"/>
            </a:solidFill>
            <a:prstDash val="solid"/>
          </a:ln>
        </p:spPr>
      </p:sp>
      <p:sp>
        <p:nvSpPr>
          <p:cNvPr id="40" name="Shape 38"/>
          <p:cNvSpPr/>
          <p:nvPr/>
        </p:nvSpPr>
        <p:spPr>
          <a:xfrm flipH="1" flipV="1">
            <a:off x="1194160" y="1994743"/>
            <a:ext cx="6099" cy="44846"/>
          </a:xfrm>
          <a:prstGeom prst="line">
            <a:avLst/>
          </a:prstGeom>
          <a:noFill/>
          <a:ln w="9525">
            <a:solidFill>
              <a:srgbClr val="A4561C"/>
            </a:solidFill>
            <a:prstDash val="solid"/>
          </a:ln>
        </p:spPr>
      </p:sp>
      <p:sp>
        <p:nvSpPr>
          <p:cNvPr id="41" name="Shape 39"/>
          <p:cNvSpPr/>
          <p:nvPr/>
        </p:nvSpPr>
        <p:spPr>
          <a:xfrm>
            <a:off x="1194160" y="1994743"/>
            <a:ext cx="40055" cy="21069"/>
          </a:xfrm>
          <a:prstGeom prst="line">
            <a:avLst/>
          </a:prstGeom>
          <a:noFill/>
          <a:ln w="9525">
            <a:solidFill>
              <a:srgbClr val="A4561C"/>
            </a:solidFill>
            <a:prstDash val="solid"/>
          </a:ln>
        </p:spPr>
      </p:sp>
      <p:sp>
        <p:nvSpPr>
          <p:cNvPr id="42" name="Shape 40"/>
          <p:cNvSpPr/>
          <p:nvPr/>
        </p:nvSpPr>
        <p:spPr>
          <a:xfrm flipH="1" flipV="1">
            <a:off x="1228116" y="1970967"/>
            <a:ext cx="6099" cy="44846"/>
          </a:xfrm>
          <a:prstGeom prst="line">
            <a:avLst/>
          </a:prstGeom>
          <a:noFill/>
          <a:ln w="9525">
            <a:solidFill>
              <a:srgbClr val="A4561C"/>
            </a:solidFill>
            <a:prstDash val="solid"/>
          </a:ln>
        </p:spPr>
      </p:sp>
      <p:sp>
        <p:nvSpPr>
          <p:cNvPr id="43" name="Shape 41"/>
          <p:cNvSpPr/>
          <p:nvPr/>
        </p:nvSpPr>
        <p:spPr>
          <a:xfrm>
            <a:off x="2606040" y="1783080"/>
            <a:ext cx="1280160" cy="960120"/>
          </a:xfrm>
          <a:prstGeom prst="ellipse">
            <a:avLst/>
          </a:prstGeom>
          <a:solidFill>
            <a:srgbClr val="FBF3DF"/>
          </a:solidFill>
          <a:ln w="22225">
            <a:solidFill>
              <a:srgbClr val="8A6D3B"/>
            </a:solidFill>
            <a:prstDash val="solid"/>
          </a:ln>
        </p:spPr>
      </p:sp>
      <p:sp>
        <p:nvSpPr>
          <p:cNvPr id="44" name="Shape 42"/>
          <p:cNvSpPr/>
          <p:nvPr/>
        </p:nvSpPr>
        <p:spPr>
          <a:xfrm>
            <a:off x="2980487" y="2061515"/>
            <a:ext cx="403250" cy="403250"/>
          </a:xfrm>
          <a:prstGeom prst="ellipse">
            <a:avLst/>
          </a:prstGeom>
          <a:solidFill>
            <a:srgbClr val="C9B6E4"/>
          </a:solidFill>
          <a:ln w="15875">
            <a:solidFill>
              <a:srgbClr val="6A4C93"/>
            </a:solidFill>
            <a:prstDash val="solid"/>
          </a:ln>
        </p:spPr>
      </p:sp>
      <p:sp>
        <p:nvSpPr>
          <p:cNvPr id="45" name="Shape 43"/>
          <p:cNvSpPr/>
          <p:nvPr/>
        </p:nvSpPr>
        <p:spPr>
          <a:xfrm>
            <a:off x="3121624" y="2202652"/>
            <a:ext cx="120975" cy="120975"/>
          </a:xfrm>
          <a:prstGeom prst="ellipse">
            <a:avLst/>
          </a:prstGeom>
          <a:solidFill>
            <a:srgbClr val="6A4C93">
              <a:alpha val="60000"/>
            </a:srgbClr>
          </a:solidFill>
          <a:ln/>
        </p:spPr>
      </p:sp>
      <p:sp>
        <p:nvSpPr>
          <p:cNvPr id="46" name="Shape 44"/>
          <p:cNvSpPr/>
          <p:nvPr/>
        </p:nvSpPr>
        <p:spPr>
          <a:xfrm rot="1800000">
            <a:off x="3436315" y="2025396"/>
            <a:ext cx="182880" cy="91440"/>
          </a:xfrm>
          <a:prstGeom prst="ellipse">
            <a:avLst/>
          </a:prstGeom>
          <a:solidFill>
            <a:srgbClr val="F2B279"/>
          </a:solidFill>
          <a:ln w="15875">
            <a:solidFill>
              <a:srgbClr val="A4561C"/>
            </a:solidFill>
            <a:prstDash val="solid"/>
          </a:ln>
        </p:spPr>
      </p:sp>
      <p:sp>
        <p:nvSpPr>
          <p:cNvPr id="47" name="Shape 45"/>
          <p:cNvSpPr/>
          <p:nvPr/>
        </p:nvSpPr>
        <p:spPr>
          <a:xfrm flipH="1">
            <a:off x="3481798" y="2022605"/>
            <a:ext cx="2167" cy="45207"/>
          </a:xfrm>
          <a:prstGeom prst="line">
            <a:avLst/>
          </a:prstGeom>
          <a:noFill/>
          <a:ln w="9525">
            <a:solidFill>
              <a:srgbClr val="A4561C"/>
            </a:solidFill>
            <a:prstDash val="solid"/>
          </a:ln>
        </p:spPr>
      </p:sp>
      <p:sp>
        <p:nvSpPr>
          <p:cNvPr id="48" name="Shape 46"/>
          <p:cNvSpPr/>
          <p:nvPr/>
        </p:nvSpPr>
        <p:spPr>
          <a:xfrm flipV="1">
            <a:off x="3481798" y="2043331"/>
            <a:ext cx="38066" cy="24480"/>
          </a:xfrm>
          <a:prstGeom prst="line">
            <a:avLst/>
          </a:prstGeom>
          <a:noFill/>
          <a:ln w="9525">
            <a:solidFill>
              <a:srgbClr val="A4561C"/>
            </a:solidFill>
            <a:prstDash val="solid"/>
          </a:ln>
        </p:spPr>
      </p:sp>
      <p:sp>
        <p:nvSpPr>
          <p:cNvPr id="49" name="Shape 47"/>
          <p:cNvSpPr/>
          <p:nvPr/>
        </p:nvSpPr>
        <p:spPr>
          <a:xfrm flipH="1">
            <a:off x="3517697" y="2043331"/>
            <a:ext cx="2167" cy="45207"/>
          </a:xfrm>
          <a:prstGeom prst="line">
            <a:avLst/>
          </a:prstGeom>
          <a:noFill/>
          <a:ln w="9525">
            <a:solidFill>
              <a:srgbClr val="A4561C"/>
            </a:solidFill>
            <a:prstDash val="solid"/>
          </a:ln>
        </p:spPr>
      </p:sp>
      <p:sp>
        <p:nvSpPr>
          <p:cNvPr id="50" name="Shape 48"/>
          <p:cNvSpPr/>
          <p:nvPr/>
        </p:nvSpPr>
        <p:spPr>
          <a:xfrm flipV="1">
            <a:off x="3517697" y="2064058"/>
            <a:ext cx="38066" cy="24480"/>
          </a:xfrm>
          <a:prstGeom prst="line">
            <a:avLst/>
          </a:prstGeom>
          <a:noFill/>
          <a:ln w="9525">
            <a:solidFill>
              <a:srgbClr val="A4561C"/>
            </a:solidFill>
            <a:prstDash val="solid"/>
          </a:ln>
        </p:spPr>
      </p:sp>
      <p:sp>
        <p:nvSpPr>
          <p:cNvPr id="51" name="Shape 49"/>
          <p:cNvSpPr/>
          <p:nvPr/>
        </p:nvSpPr>
        <p:spPr>
          <a:xfrm flipH="1">
            <a:off x="3553596" y="2064058"/>
            <a:ext cx="2167" cy="45207"/>
          </a:xfrm>
          <a:prstGeom prst="line">
            <a:avLst/>
          </a:prstGeom>
          <a:noFill/>
          <a:ln w="9525">
            <a:solidFill>
              <a:srgbClr val="A4561C"/>
            </a:solidFill>
            <a:prstDash val="solid"/>
          </a:ln>
        </p:spPr>
      </p:sp>
      <p:sp>
        <p:nvSpPr>
          <p:cNvPr id="52" name="Shape 50"/>
          <p:cNvSpPr/>
          <p:nvPr/>
        </p:nvSpPr>
        <p:spPr>
          <a:xfrm flipV="1">
            <a:off x="3553596" y="2084784"/>
            <a:ext cx="38066" cy="24480"/>
          </a:xfrm>
          <a:prstGeom prst="line">
            <a:avLst/>
          </a:prstGeom>
          <a:noFill/>
          <a:ln w="9525">
            <a:solidFill>
              <a:srgbClr val="A4561C"/>
            </a:solidFill>
            <a:prstDash val="solid"/>
          </a:ln>
        </p:spPr>
      </p:sp>
      <p:sp>
        <p:nvSpPr>
          <p:cNvPr id="53" name="Shape 51"/>
          <p:cNvSpPr/>
          <p:nvPr/>
        </p:nvSpPr>
        <p:spPr>
          <a:xfrm rot="-1200000">
            <a:off x="3513125" y="2332634"/>
            <a:ext cx="182880" cy="91440"/>
          </a:xfrm>
          <a:prstGeom prst="ellipse">
            <a:avLst/>
          </a:prstGeom>
          <a:solidFill>
            <a:srgbClr val="F2B279"/>
          </a:solidFill>
          <a:ln w="15875">
            <a:solidFill>
              <a:srgbClr val="A4561C"/>
            </a:solidFill>
            <a:prstDash val="solid"/>
          </a:ln>
        </p:spPr>
      </p:sp>
      <p:sp>
        <p:nvSpPr>
          <p:cNvPr id="54" name="Shape 52"/>
          <p:cNvSpPr/>
          <p:nvPr/>
        </p:nvSpPr>
        <p:spPr>
          <a:xfrm>
            <a:off x="3539255" y="2380717"/>
            <a:ext cx="33237" cy="30718"/>
          </a:xfrm>
          <a:prstGeom prst="line">
            <a:avLst/>
          </a:prstGeom>
          <a:noFill/>
          <a:ln w="9525">
            <a:solidFill>
              <a:srgbClr val="A4561C"/>
            </a:solidFill>
            <a:prstDash val="solid"/>
          </a:ln>
        </p:spPr>
      </p:sp>
      <p:sp>
        <p:nvSpPr>
          <p:cNvPr id="55" name="Shape 53"/>
          <p:cNvSpPr/>
          <p:nvPr/>
        </p:nvSpPr>
        <p:spPr>
          <a:xfrm flipV="1">
            <a:off x="3572492" y="2366540"/>
            <a:ext cx="5716" cy="44896"/>
          </a:xfrm>
          <a:prstGeom prst="line">
            <a:avLst/>
          </a:prstGeom>
          <a:noFill/>
          <a:ln w="9525">
            <a:solidFill>
              <a:srgbClr val="A4561C"/>
            </a:solidFill>
            <a:prstDash val="solid"/>
          </a:ln>
        </p:spPr>
      </p:sp>
      <p:sp>
        <p:nvSpPr>
          <p:cNvPr id="56" name="Shape 54"/>
          <p:cNvSpPr/>
          <p:nvPr/>
        </p:nvSpPr>
        <p:spPr>
          <a:xfrm>
            <a:off x="3578208" y="2366540"/>
            <a:ext cx="33237" cy="30718"/>
          </a:xfrm>
          <a:prstGeom prst="line">
            <a:avLst/>
          </a:prstGeom>
          <a:noFill/>
          <a:ln w="9525">
            <a:solidFill>
              <a:srgbClr val="A4561C"/>
            </a:solidFill>
            <a:prstDash val="solid"/>
          </a:ln>
        </p:spPr>
      </p:sp>
      <p:sp>
        <p:nvSpPr>
          <p:cNvPr id="57" name="Shape 55"/>
          <p:cNvSpPr/>
          <p:nvPr/>
        </p:nvSpPr>
        <p:spPr>
          <a:xfrm flipV="1">
            <a:off x="3611445" y="2352362"/>
            <a:ext cx="5716" cy="44896"/>
          </a:xfrm>
          <a:prstGeom prst="line">
            <a:avLst/>
          </a:prstGeom>
          <a:noFill/>
          <a:ln w="9525">
            <a:solidFill>
              <a:srgbClr val="A4561C"/>
            </a:solidFill>
            <a:prstDash val="solid"/>
          </a:ln>
        </p:spPr>
      </p:sp>
      <p:sp>
        <p:nvSpPr>
          <p:cNvPr id="58" name="Shape 56"/>
          <p:cNvSpPr/>
          <p:nvPr/>
        </p:nvSpPr>
        <p:spPr>
          <a:xfrm>
            <a:off x="3617161" y="2352362"/>
            <a:ext cx="33237" cy="30718"/>
          </a:xfrm>
          <a:prstGeom prst="line">
            <a:avLst/>
          </a:prstGeom>
          <a:noFill/>
          <a:ln w="9525">
            <a:solidFill>
              <a:srgbClr val="A4561C"/>
            </a:solidFill>
            <a:prstDash val="solid"/>
          </a:ln>
        </p:spPr>
      </p:sp>
      <p:sp>
        <p:nvSpPr>
          <p:cNvPr id="59" name="Shape 57"/>
          <p:cNvSpPr/>
          <p:nvPr/>
        </p:nvSpPr>
        <p:spPr>
          <a:xfrm flipV="1">
            <a:off x="3650398" y="2338184"/>
            <a:ext cx="5716" cy="44896"/>
          </a:xfrm>
          <a:prstGeom prst="line">
            <a:avLst/>
          </a:prstGeom>
          <a:noFill/>
          <a:ln w="9525">
            <a:solidFill>
              <a:srgbClr val="A4561C"/>
            </a:solidFill>
            <a:prstDash val="solid"/>
          </a:ln>
        </p:spPr>
      </p:sp>
      <p:sp>
        <p:nvSpPr>
          <p:cNvPr id="60" name="Shape 58"/>
          <p:cNvSpPr/>
          <p:nvPr/>
        </p:nvSpPr>
        <p:spPr>
          <a:xfrm rot="600000">
            <a:off x="3154680" y="2524658"/>
            <a:ext cx="182880" cy="91440"/>
          </a:xfrm>
          <a:prstGeom prst="ellipse">
            <a:avLst/>
          </a:prstGeom>
          <a:solidFill>
            <a:srgbClr val="F2B279"/>
          </a:solidFill>
          <a:ln w="15875">
            <a:solidFill>
              <a:srgbClr val="A4561C"/>
            </a:solidFill>
            <a:prstDash val="solid"/>
          </a:ln>
        </p:spPr>
      </p:sp>
      <p:sp>
        <p:nvSpPr>
          <p:cNvPr id="61" name="Shape 59"/>
          <p:cNvSpPr/>
          <p:nvPr/>
        </p:nvSpPr>
        <p:spPr>
          <a:xfrm>
            <a:off x="3188379" y="2539770"/>
            <a:ext cx="13425" cy="43221"/>
          </a:xfrm>
          <a:prstGeom prst="line">
            <a:avLst/>
          </a:prstGeom>
          <a:noFill/>
          <a:ln w="9525">
            <a:solidFill>
              <a:srgbClr val="A4561C"/>
            </a:solidFill>
            <a:prstDash val="solid"/>
          </a:ln>
        </p:spPr>
      </p:sp>
      <p:sp>
        <p:nvSpPr>
          <p:cNvPr id="62" name="Shape 60"/>
          <p:cNvSpPr/>
          <p:nvPr/>
        </p:nvSpPr>
        <p:spPr>
          <a:xfrm flipV="1">
            <a:off x="3201804" y="2546968"/>
            <a:ext cx="27398" cy="36023"/>
          </a:xfrm>
          <a:prstGeom prst="line">
            <a:avLst/>
          </a:prstGeom>
          <a:noFill/>
          <a:ln w="9525">
            <a:solidFill>
              <a:srgbClr val="A4561C"/>
            </a:solidFill>
            <a:prstDash val="solid"/>
          </a:ln>
        </p:spPr>
      </p:sp>
      <p:sp>
        <p:nvSpPr>
          <p:cNvPr id="63" name="Shape 61"/>
          <p:cNvSpPr/>
          <p:nvPr/>
        </p:nvSpPr>
        <p:spPr>
          <a:xfrm>
            <a:off x="3229202" y="2546968"/>
            <a:ext cx="13425" cy="43221"/>
          </a:xfrm>
          <a:prstGeom prst="line">
            <a:avLst/>
          </a:prstGeom>
          <a:noFill/>
          <a:ln w="9525">
            <a:solidFill>
              <a:srgbClr val="A4561C"/>
            </a:solidFill>
            <a:prstDash val="solid"/>
          </a:ln>
        </p:spPr>
      </p:sp>
      <p:sp>
        <p:nvSpPr>
          <p:cNvPr id="64" name="Shape 62"/>
          <p:cNvSpPr/>
          <p:nvPr/>
        </p:nvSpPr>
        <p:spPr>
          <a:xfrm flipV="1">
            <a:off x="3242627" y="2554166"/>
            <a:ext cx="27398" cy="36023"/>
          </a:xfrm>
          <a:prstGeom prst="line">
            <a:avLst/>
          </a:prstGeom>
          <a:noFill/>
          <a:ln w="9525">
            <a:solidFill>
              <a:srgbClr val="A4561C"/>
            </a:solidFill>
            <a:prstDash val="solid"/>
          </a:ln>
        </p:spPr>
      </p:sp>
      <p:sp>
        <p:nvSpPr>
          <p:cNvPr id="65" name="Shape 63"/>
          <p:cNvSpPr/>
          <p:nvPr/>
        </p:nvSpPr>
        <p:spPr>
          <a:xfrm>
            <a:off x="3270025" y="2554166"/>
            <a:ext cx="13425" cy="43221"/>
          </a:xfrm>
          <a:prstGeom prst="line">
            <a:avLst/>
          </a:prstGeom>
          <a:noFill/>
          <a:ln w="9525">
            <a:solidFill>
              <a:srgbClr val="A4561C"/>
            </a:solidFill>
            <a:prstDash val="solid"/>
          </a:ln>
        </p:spPr>
      </p:sp>
      <p:sp>
        <p:nvSpPr>
          <p:cNvPr id="66" name="Shape 64"/>
          <p:cNvSpPr/>
          <p:nvPr/>
        </p:nvSpPr>
        <p:spPr>
          <a:xfrm flipV="1">
            <a:off x="3283450" y="2561365"/>
            <a:ext cx="27398" cy="36023"/>
          </a:xfrm>
          <a:prstGeom prst="line">
            <a:avLst/>
          </a:prstGeom>
          <a:noFill/>
          <a:ln w="9525">
            <a:solidFill>
              <a:srgbClr val="A4561C"/>
            </a:solidFill>
            <a:prstDash val="solid"/>
          </a:ln>
        </p:spPr>
      </p:sp>
      <p:sp>
        <p:nvSpPr>
          <p:cNvPr id="67" name="Shape 65"/>
          <p:cNvSpPr/>
          <p:nvPr/>
        </p:nvSpPr>
        <p:spPr>
          <a:xfrm rot="-2100000">
            <a:off x="2834640" y="1977390"/>
            <a:ext cx="182880" cy="91440"/>
          </a:xfrm>
          <a:prstGeom prst="ellipse">
            <a:avLst/>
          </a:prstGeom>
          <a:solidFill>
            <a:srgbClr val="F2B279"/>
          </a:solidFill>
          <a:ln w="15875">
            <a:solidFill>
              <a:srgbClr val="A4561C"/>
            </a:solidFill>
            <a:prstDash val="solid"/>
          </a:ln>
        </p:spPr>
      </p:sp>
      <p:sp>
        <p:nvSpPr>
          <p:cNvPr id="68" name="Shape 66"/>
          <p:cNvSpPr/>
          <p:nvPr/>
        </p:nvSpPr>
        <p:spPr>
          <a:xfrm>
            <a:off x="2863607" y="2042296"/>
            <a:ext cx="40055" cy="21069"/>
          </a:xfrm>
          <a:prstGeom prst="line">
            <a:avLst/>
          </a:prstGeom>
          <a:noFill/>
          <a:ln w="9525">
            <a:solidFill>
              <a:srgbClr val="A4561C"/>
            </a:solidFill>
            <a:prstDash val="solid"/>
          </a:ln>
        </p:spPr>
      </p:sp>
      <p:sp>
        <p:nvSpPr>
          <p:cNvPr id="69" name="Shape 67"/>
          <p:cNvSpPr/>
          <p:nvPr/>
        </p:nvSpPr>
        <p:spPr>
          <a:xfrm flipH="1" flipV="1">
            <a:off x="2897563" y="2018519"/>
            <a:ext cx="6099" cy="44846"/>
          </a:xfrm>
          <a:prstGeom prst="line">
            <a:avLst/>
          </a:prstGeom>
          <a:noFill/>
          <a:ln w="9525">
            <a:solidFill>
              <a:srgbClr val="A4561C"/>
            </a:solidFill>
            <a:prstDash val="solid"/>
          </a:ln>
        </p:spPr>
      </p:sp>
      <p:sp>
        <p:nvSpPr>
          <p:cNvPr id="70" name="Shape 68"/>
          <p:cNvSpPr/>
          <p:nvPr/>
        </p:nvSpPr>
        <p:spPr>
          <a:xfrm>
            <a:off x="2897563" y="2018519"/>
            <a:ext cx="40055" cy="21069"/>
          </a:xfrm>
          <a:prstGeom prst="line">
            <a:avLst/>
          </a:prstGeom>
          <a:noFill/>
          <a:ln w="9525">
            <a:solidFill>
              <a:srgbClr val="A4561C"/>
            </a:solidFill>
            <a:prstDash val="solid"/>
          </a:ln>
        </p:spPr>
      </p:sp>
      <p:sp>
        <p:nvSpPr>
          <p:cNvPr id="71" name="Shape 69"/>
          <p:cNvSpPr/>
          <p:nvPr/>
        </p:nvSpPr>
        <p:spPr>
          <a:xfrm flipH="1" flipV="1">
            <a:off x="2931520" y="1994743"/>
            <a:ext cx="6099" cy="44846"/>
          </a:xfrm>
          <a:prstGeom prst="line">
            <a:avLst/>
          </a:prstGeom>
          <a:noFill/>
          <a:ln w="9525">
            <a:solidFill>
              <a:srgbClr val="A4561C"/>
            </a:solidFill>
            <a:prstDash val="solid"/>
          </a:ln>
        </p:spPr>
      </p:sp>
      <p:sp>
        <p:nvSpPr>
          <p:cNvPr id="72" name="Shape 70"/>
          <p:cNvSpPr/>
          <p:nvPr/>
        </p:nvSpPr>
        <p:spPr>
          <a:xfrm>
            <a:off x="2931520" y="1994743"/>
            <a:ext cx="40055" cy="21069"/>
          </a:xfrm>
          <a:prstGeom prst="line">
            <a:avLst/>
          </a:prstGeom>
          <a:noFill/>
          <a:ln w="9525">
            <a:solidFill>
              <a:srgbClr val="A4561C"/>
            </a:solidFill>
            <a:prstDash val="solid"/>
          </a:ln>
        </p:spPr>
      </p:sp>
      <p:sp>
        <p:nvSpPr>
          <p:cNvPr id="73" name="Shape 71"/>
          <p:cNvSpPr/>
          <p:nvPr/>
        </p:nvSpPr>
        <p:spPr>
          <a:xfrm flipH="1" flipV="1">
            <a:off x="2965476" y="1970967"/>
            <a:ext cx="6099" cy="44846"/>
          </a:xfrm>
          <a:prstGeom prst="line">
            <a:avLst/>
          </a:prstGeom>
          <a:noFill/>
          <a:ln w="9525">
            <a:solidFill>
              <a:srgbClr val="A4561C"/>
            </a:solidFill>
            <a:prstDash val="solid"/>
          </a:ln>
        </p:spPr>
      </p:sp>
      <p:sp>
        <p:nvSpPr>
          <p:cNvPr id="74" name="Shape 72"/>
          <p:cNvSpPr/>
          <p:nvPr/>
        </p:nvSpPr>
        <p:spPr>
          <a:xfrm>
            <a:off x="4343400" y="1783080"/>
            <a:ext cx="1280160" cy="960120"/>
          </a:xfrm>
          <a:prstGeom prst="ellipse">
            <a:avLst/>
          </a:prstGeom>
          <a:solidFill>
            <a:srgbClr val="FBF3DF"/>
          </a:solidFill>
          <a:ln w="22225">
            <a:solidFill>
              <a:srgbClr val="8A6D3B"/>
            </a:solidFill>
            <a:prstDash val="solid"/>
          </a:ln>
        </p:spPr>
      </p:sp>
      <p:sp>
        <p:nvSpPr>
          <p:cNvPr id="75" name="Shape 73"/>
          <p:cNvSpPr/>
          <p:nvPr/>
        </p:nvSpPr>
        <p:spPr>
          <a:xfrm>
            <a:off x="4717847" y="2061515"/>
            <a:ext cx="403250" cy="403250"/>
          </a:xfrm>
          <a:prstGeom prst="ellipse">
            <a:avLst/>
          </a:prstGeom>
          <a:solidFill>
            <a:srgbClr val="C9B6E4"/>
          </a:solidFill>
          <a:ln w="15875">
            <a:solidFill>
              <a:srgbClr val="6A4C93"/>
            </a:solidFill>
            <a:prstDash val="solid"/>
          </a:ln>
        </p:spPr>
      </p:sp>
      <p:sp>
        <p:nvSpPr>
          <p:cNvPr id="76" name="Shape 74"/>
          <p:cNvSpPr/>
          <p:nvPr/>
        </p:nvSpPr>
        <p:spPr>
          <a:xfrm>
            <a:off x="4858984" y="2202652"/>
            <a:ext cx="120975" cy="120975"/>
          </a:xfrm>
          <a:prstGeom prst="ellipse">
            <a:avLst/>
          </a:prstGeom>
          <a:solidFill>
            <a:srgbClr val="6A4C93">
              <a:alpha val="60000"/>
            </a:srgbClr>
          </a:solidFill>
          <a:ln/>
        </p:spPr>
      </p:sp>
      <p:sp>
        <p:nvSpPr>
          <p:cNvPr id="77" name="Shape 75"/>
          <p:cNvSpPr/>
          <p:nvPr/>
        </p:nvSpPr>
        <p:spPr>
          <a:xfrm rot="1800000">
            <a:off x="5173675" y="2025396"/>
            <a:ext cx="182880" cy="91440"/>
          </a:xfrm>
          <a:prstGeom prst="ellipse">
            <a:avLst/>
          </a:prstGeom>
          <a:solidFill>
            <a:srgbClr val="F2B279"/>
          </a:solidFill>
          <a:ln w="15875">
            <a:solidFill>
              <a:srgbClr val="A4561C"/>
            </a:solidFill>
            <a:prstDash val="solid"/>
          </a:ln>
        </p:spPr>
      </p:sp>
      <p:sp>
        <p:nvSpPr>
          <p:cNvPr id="78" name="Shape 76"/>
          <p:cNvSpPr/>
          <p:nvPr/>
        </p:nvSpPr>
        <p:spPr>
          <a:xfrm flipH="1">
            <a:off x="5219158" y="2022605"/>
            <a:ext cx="2167" cy="45207"/>
          </a:xfrm>
          <a:prstGeom prst="line">
            <a:avLst/>
          </a:prstGeom>
          <a:noFill/>
          <a:ln w="9525">
            <a:solidFill>
              <a:srgbClr val="A4561C"/>
            </a:solidFill>
            <a:prstDash val="solid"/>
          </a:ln>
        </p:spPr>
      </p:sp>
      <p:sp>
        <p:nvSpPr>
          <p:cNvPr id="79" name="Shape 77"/>
          <p:cNvSpPr/>
          <p:nvPr/>
        </p:nvSpPr>
        <p:spPr>
          <a:xfrm flipV="1">
            <a:off x="5219158" y="2043331"/>
            <a:ext cx="38066" cy="24480"/>
          </a:xfrm>
          <a:prstGeom prst="line">
            <a:avLst/>
          </a:prstGeom>
          <a:noFill/>
          <a:ln w="9525">
            <a:solidFill>
              <a:srgbClr val="A4561C"/>
            </a:solidFill>
            <a:prstDash val="solid"/>
          </a:ln>
        </p:spPr>
      </p:sp>
      <p:sp>
        <p:nvSpPr>
          <p:cNvPr id="80" name="Shape 78"/>
          <p:cNvSpPr/>
          <p:nvPr/>
        </p:nvSpPr>
        <p:spPr>
          <a:xfrm flipH="1">
            <a:off x="5255057" y="2043331"/>
            <a:ext cx="2167" cy="45207"/>
          </a:xfrm>
          <a:prstGeom prst="line">
            <a:avLst/>
          </a:prstGeom>
          <a:noFill/>
          <a:ln w="9525">
            <a:solidFill>
              <a:srgbClr val="A4561C"/>
            </a:solidFill>
            <a:prstDash val="solid"/>
          </a:ln>
        </p:spPr>
      </p:sp>
      <p:sp>
        <p:nvSpPr>
          <p:cNvPr id="81" name="Shape 79"/>
          <p:cNvSpPr/>
          <p:nvPr/>
        </p:nvSpPr>
        <p:spPr>
          <a:xfrm flipV="1">
            <a:off x="5255057" y="2064058"/>
            <a:ext cx="38066" cy="24480"/>
          </a:xfrm>
          <a:prstGeom prst="line">
            <a:avLst/>
          </a:prstGeom>
          <a:noFill/>
          <a:ln w="9525">
            <a:solidFill>
              <a:srgbClr val="A4561C"/>
            </a:solidFill>
            <a:prstDash val="solid"/>
          </a:ln>
        </p:spPr>
      </p:sp>
      <p:sp>
        <p:nvSpPr>
          <p:cNvPr id="82" name="Shape 80"/>
          <p:cNvSpPr/>
          <p:nvPr/>
        </p:nvSpPr>
        <p:spPr>
          <a:xfrm flipH="1">
            <a:off x="5290956" y="2064058"/>
            <a:ext cx="2167" cy="45207"/>
          </a:xfrm>
          <a:prstGeom prst="line">
            <a:avLst/>
          </a:prstGeom>
          <a:noFill/>
          <a:ln w="9525">
            <a:solidFill>
              <a:srgbClr val="A4561C"/>
            </a:solidFill>
            <a:prstDash val="solid"/>
          </a:ln>
        </p:spPr>
      </p:sp>
      <p:sp>
        <p:nvSpPr>
          <p:cNvPr id="83" name="Shape 81"/>
          <p:cNvSpPr/>
          <p:nvPr/>
        </p:nvSpPr>
        <p:spPr>
          <a:xfrm flipV="1">
            <a:off x="5290956" y="2084784"/>
            <a:ext cx="38066" cy="24480"/>
          </a:xfrm>
          <a:prstGeom prst="line">
            <a:avLst/>
          </a:prstGeom>
          <a:noFill/>
          <a:ln w="9525">
            <a:solidFill>
              <a:srgbClr val="A4561C"/>
            </a:solidFill>
            <a:prstDash val="solid"/>
          </a:ln>
        </p:spPr>
      </p:sp>
      <p:sp>
        <p:nvSpPr>
          <p:cNvPr id="84" name="Shape 82"/>
          <p:cNvSpPr/>
          <p:nvPr/>
        </p:nvSpPr>
        <p:spPr>
          <a:xfrm rot="-1200000">
            <a:off x="5250485" y="2332634"/>
            <a:ext cx="182880" cy="91440"/>
          </a:xfrm>
          <a:prstGeom prst="ellipse">
            <a:avLst/>
          </a:prstGeom>
          <a:solidFill>
            <a:srgbClr val="F2B279"/>
          </a:solidFill>
          <a:ln w="15875">
            <a:solidFill>
              <a:srgbClr val="A4561C"/>
            </a:solidFill>
            <a:prstDash val="solid"/>
          </a:ln>
        </p:spPr>
      </p:sp>
      <p:sp>
        <p:nvSpPr>
          <p:cNvPr id="85" name="Shape 83"/>
          <p:cNvSpPr/>
          <p:nvPr/>
        </p:nvSpPr>
        <p:spPr>
          <a:xfrm>
            <a:off x="5276615" y="2380717"/>
            <a:ext cx="33237" cy="30718"/>
          </a:xfrm>
          <a:prstGeom prst="line">
            <a:avLst/>
          </a:prstGeom>
          <a:noFill/>
          <a:ln w="9525">
            <a:solidFill>
              <a:srgbClr val="A4561C"/>
            </a:solidFill>
            <a:prstDash val="solid"/>
          </a:ln>
        </p:spPr>
      </p:sp>
      <p:sp>
        <p:nvSpPr>
          <p:cNvPr id="86" name="Shape 84"/>
          <p:cNvSpPr/>
          <p:nvPr/>
        </p:nvSpPr>
        <p:spPr>
          <a:xfrm flipV="1">
            <a:off x="5309852" y="2366540"/>
            <a:ext cx="5716" cy="44896"/>
          </a:xfrm>
          <a:prstGeom prst="line">
            <a:avLst/>
          </a:prstGeom>
          <a:noFill/>
          <a:ln w="9525">
            <a:solidFill>
              <a:srgbClr val="A4561C"/>
            </a:solidFill>
            <a:prstDash val="solid"/>
          </a:ln>
        </p:spPr>
      </p:sp>
      <p:sp>
        <p:nvSpPr>
          <p:cNvPr id="87" name="Shape 85"/>
          <p:cNvSpPr/>
          <p:nvPr/>
        </p:nvSpPr>
        <p:spPr>
          <a:xfrm>
            <a:off x="5315568" y="2366540"/>
            <a:ext cx="33237" cy="30718"/>
          </a:xfrm>
          <a:prstGeom prst="line">
            <a:avLst/>
          </a:prstGeom>
          <a:noFill/>
          <a:ln w="9525">
            <a:solidFill>
              <a:srgbClr val="A4561C"/>
            </a:solidFill>
            <a:prstDash val="solid"/>
          </a:ln>
        </p:spPr>
      </p:sp>
      <p:sp>
        <p:nvSpPr>
          <p:cNvPr id="88" name="Shape 86"/>
          <p:cNvSpPr/>
          <p:nvPr/>
        </p:nvSpPr>
        <p:spPr>
          <a:xfrm flipV="1">
            <a:off x="5348805" y="2352362"/>
            <a:ext cx="5716" cy="44896"/>
          </a:xfrm>
          <a:prstGeom prst="line">
            <a:avLst/>
          </a:prstGeom>
          <a:noFill/>
          <a:ln w="9525">
            <a:solidFill>
              <a:srgbClr val="A4561C"/>
            </a:solidFill>
            <a:prstDash val="solid"/>
          </a:ln>
        </p:spPr>
      </p:sp>
      <p:sp>
        <p:nvSpPr>
          <p:cNvPr id="89" name="Shape 87"/>
          <p:cNvSpPr/>
          <p:nvPr/>
        </p:nvSpPr>
        <p:spPr>
          <a:xfrm>
            <a:off x="5354521" y="2352362"/>
            <a:ext cx="33237" cy="30718"/>
          </a:xfrm>
          <a:prstGeom prst="line">
            <a:avLst/>
          </a:prstGeom>
          <a:noFill/>
          <a:ln w="9525">
            <a:solidFill>
              <a:srgbClr val="A4561C"/>
            </a:solidFill>
            <a:prstDash val="solid"/>
          </a:ln>
        </p:spPr>
      </p:sp>
      <p:sp>
        <p:nvSpPr>
          <p:cNvPr id="90" name="Shape 88"/>
          <p:cNvSpPr/>
          <p:nvPr/>
        </p:nvSpPr>
        <p:spPr>
          <a:xfrm flipV="1">
            <a:off x="5387758" y="2338184"/>
            <a:ext cx="5716" cy="44896"/>
          </a:xfrm>
          <a:prstGeom prst="line">
            <a:avLst/>
          </a:prstGeom>
          <a:noFill/>
          <a:ln w="9525">
            <a:solidFill>
              <a:srgbClr val="A4561C"/>
            </a:solidFill>
            <a:prstDash val="solid"/>
          </a:ln>
        </p:spPr>
      </p:sp>
      <p:sp>
        <p:nvSpPr>
          <p:cNvPr id="91" name="Shape 89"/>
          <p:cNvSpPr/>
          <p:nvPr/>
        </p:nvSpPr>
        <p:spPr>
          <a:xfrm rot="600000">
            <a:off x="4892040" y="2524658"/>
            <a:ext cx="182880" cy="91440"/>
          </a:xfrm>
          <a:prstGeom prst="ellipse">
            <a:avLst/>
          </a:prstGeom>
          <a:solidFill>
            <a:srgbClr val="F2B279"/>
          </a:solidFill>
          <a:ln w="15875">
            <a:solidFill>
              <a:srgbClr val="A4561C"/>
            </a:solidFill>
            <a:prstDash val="solid"/>
          </a:ln>
        </p:spPr>
      </p:sp>
      <p:sp>
        <p:nvSpPr>
          <p:cNvPr id="92" name="Shape 90"/>
          <p:cNvSpPr/>
          <p:nvPr/>
        </p:nvSpPr>
        <p:spPr>
          <a:xfrm>
            <a:off x="4925739" y="2539770"/>
            <a:ext cx="13425" cy="43221"/>
          </a:xfrm>
          <a:prstGeom prst="line">
            <a:avLst/>
          </a:prstGeom>
          <a:noFill/>
          <a:ln w="9525">
            <a:solidFill>
              <a:srgbClr val="A4561C"/>
            </a:solidFill>
            <a:prstDash val="solid"/>
          </a:ln>
        </p:spPr>
      </p:sp>
      <p:sp>
        <p:nvSpPr>
          <p:cNvPr id="93" name="Shape 91"/>
          <p:cNvSpPr/>
          <p:nvPr/>
        </p:nvSpPr>
        <p:spPr>
          <a:xfrm flipV="1">
            <a:off x="4939164" y="2546968"/>
            <a:ext cx="27398" cy="36023"/>
          </a:xfrm>
          <a:prstGeom prst="line">
            <a:avLst/>
          </a:prstGeom>
          <a:noFill/>
          <a:ln w="9525">
            <a:solidFill>
              <a:srgbClr val="A4561C"/>
            </a:solidFill>
            <a:prstDash val="solid"/>
          </a:ln>
        </p:spPr>
      </p:sp>
      <p:sp>
        <p:nvSpPr>
          <p:cNvPr id="94" name="Shape 92"/>
          <p:cNvSpPr/>
          <p:nvPr/>
        </p:nvSpPr>
        <p:spPr>
          <a:xfrm>
            <a:off x="4966562" y="2546968"/>
            <a:ext cx="13425" cy="43221"/>
          </a:xfrm>
          <a:prstGeom prst="line">
            <a:avLst/>
          </a:prstGeom>
          <a:noFill/>
          <a:ln w="9525">
            <a:solidFill>
              <a:srgbClr val="A4561C"/>
            </a:solidFill>
            <a:prstDash val="solid"/>
          </a:ln>
        </p:spPr>
      </p:sp>
      <p:sp>
        <p:nvSpPr>
          <p:cNvPr id="95" name="Shape 93"/>
          <p:cNvSpPr/>
          <p:nvPr/>
        </p:nvSpPr>
        <p:spPr>
          <a:xfrm flipV="1">
            <a:off x="4979987" y="2554166"/>
            <a:ext cx="27398" cy="36023"/>
          </a:xfrm>
          <a:prstGeom prst="line">
            <a:avLst/>
          </a:prstGeom>
          <a:noFill/>
          <a:ln w="9525">
            <a:solidFill>
              <a:srgbClr val="A4561C"/>
            </a:solidFill>
            <a:prstDash val="solid"/>
          </a:ln>
        </p:spPr>
      </p:sp>
      <p:sp>
        <p:nvSpPr>
          <p:cNvPr id="96" name="Shape 94"/>
          <p:cNvSpPr/>
          <p:nvPr/>
        </p:nvSpPr>
        <p:spPr>
          <a:xfrm>
            <a:off x="5007385" y="2554166"/>
            <a:ext cx="13425" cy="43221"/>
          </a:xfrm>
          <a:prstGeom prst="line">
            <a:avLst/>
          </a:prstGeom>
          <a:noFill/>
          <a:ln w="9525">
            <a:solidFill>
              <a:srgbClr val="A4561C"/>
            </a:solidFill>
            <a:prstDash val="solid"/>
          </a:ln>
        </p:spPr>
      </p:sp>
      <p:sp>
        <p:nvSpPr>
          <p:cNvPr id="97" name="Shape 95"/>
          <p:cNvSpPr/>
          <p:nvPr/>
        </p:nvSpPr>
        <p:spPr>
          <a:xfrm flipV="1">
            <a:off x="5020810" y="2561365"/>
            <a:ext cx="27398" cy="36023"/>
          </a:xfrm>
          <a:prstGeom prst="line">
            <a:avLst/>
          </a:prstGeom>
          <a:noFill/>
          <a:ln w="9525">
            <a:solidFill>
              <a:srgbClr val="A4561C"/>
            </a:solidFill>
            <a:prstDash val="solid"/>
          </a:ln>
        </p:spPr>
      </p:sp>
      <p:sp>
        <p:nvSpPr>
          <p:cNvPr id="98" name="Shape 96"/>
          <p:cNvSpPr/>
          <p:nvPr/>
        </p:nvSpPr>
        <p:spPr>
          <a:xfrm rot="-2100000">
            <a:off x="4572000" y="1977390"/>
            <a:ext cx="182880" cy="91440"/>
          </a:xfrm>
          <a:prstGeom prst="ellipse">
            <a:avLst/>
          </a:prstGeom>
          <a:solidFill>
            <a:srgbClr val="F2B279"/>
          </a:solidFill>
          <a:ln w="15875">
            <a:solidFill>
              <a:srgbClr val="A4561C"/>
            </a:solidFill>
            <a:prstDash val="solid"/>
          </a:ln>
        </p:spPr>
      </p:sp>
      <p:sp>
        <p:nvSpPr>
          <p:cNvPr id="99" name="Shape 97"/>
          <p:cNvSpPr/>
          <p:nvPr/>
        </p:nvSpPr>
        <p:spPr>
          <a:xfrm>
            <a:off x="4600967" y="2042296"/>
            <a:ext cx="40055" cy="21069"/>
          </a:xfrm>
          <a:prstGeom prst="line">
            <a:avLst/>
          </a:prstGeom>
          <a:noFill/>
          <a:ln w="9525">
            <a:solidFill>
              <a:srgbClr val="A4561C"/>
            </a:solidFill>
            <a:prstDash val="solid"/>
          </a:ln>
        </p:spPr>
      </p:sp>
      <p:sp>
        <p:nvSpPr>
          <p:cNvPr id="100" name="Shape 98"/>
          <p:cNvSpPr/>
          <p:nvPr/>
        </p:nvSpPr>
        <p:spPr>
          <a:xfrm flipH="1" flipV="1">
            <a:off x="4634923" y="2018519"/>
            <a:ext cx="6099" cy="44846"/>
          </a:xfrm>
          <a:prstGeom prst="line">
            <a:avLst/>
          </a:prstGeom>
          <a:noFill/>
          <a:ln w="9525">
            <a:solidFill>
              <a:srgbClr val="A4561C"/>
            </a:solidFill>
            <a:prstDash val="solid"/>
          </a:ln>
        </p:spPr>
      </p:sp>
      <p:sp>
        <p:nvSpPr>
          <p:cNvPr id="101" name="Shape 99"/>
          <p:cNvSpPr/>
          <p:nvPr/>
        </p:nvSpPr>
        <p:spPr>
          <a:xfrm>
            <a:off x="4634923" y="2018519"/>
            <a:ext cx="40055" cy="21069"/>
          </a:xfrm>
          <a:prstGeom prst="line">
            <a:avLst/>
          </a:prstGeom>
          <a:noFill/>
          <a:ln w="9525">
            <a:solidFill>
              <a:srgbClr val="A4561C"/>
            </a:solidFill>
            <a:prstDash val="solid"/>
          </a:ln>
        </p:spPr>
      </p:sp>
      <p:sp>
        <p:nvSpPr>
          <p:cNvPr id="102" name="Shape 100"/>
          <p:cNvSpPr/>
          <p:nvPr/>
        </p:nvSpPr>
        <p:spPr>
          <a:xfrm flipH="1" flipV="1">
            <a:off x="4668880" y="1994743"/>
            <a:ext cx="6099" cy="44846"/>
          </a:xfrm>
          <a:prstGeom prst="line">
            <a:avLst/>
          </a:prstGeom>
          <a:noFill/>
          <a:ln w="9525">
            <a:solidFill>
              <a:srgbClr val="A4561C"/>
            </a:solidFill>
            <a:prstDash val="solid"/>
          </a:ln>
        </p:spPr>
      </p:sp>
      <p:sp>
        <p:nvSpPr>
          <p:cNvPr id="103" name="Shape 101"/>
          <p:cNvSpPr/>
          <p:nvPr/>
        </p:nvSpPr>
        <p:spPr>
          <a:xfrm>
            <a:off x="4668880" y="1994743"/>
            <a:ext cx="40055" cy="21069"/>
          </a:xfrm>
          <a:prstGeom prst="line">
            <a:avLst/>
          </a:prstGeom>
          <a:noFill/>
          <a:ln w="9525">
            <a:solidFill>
              <a:srgbClr val="A4561C"/>
            </a:solidFill>
            <a:prstDash val="solid"/>
          </a:ln>
        </p:spPr>
      </p:sp>
      <p:sp>
        <p:nvSpPr>
          <p:cNvPr id="104" name="Shape 102"/>
          <p:cNvSpPr/>
          <p:nvPr/>
        </p:nvSpPr>
        <p:spPr>
          <a:xfrm flipH="1" flipV="1">
            <a:off x="4702836" y="1970967"/>
            <a:ext cx="6099" cy="44846"/>
          </a:xfrm>
          <a:prstGeom prst="line">
            <a:avLst/>
          </a:prstGeom>
          <a:noFill/>
          <a:ln w="9525">
            <a:solidFill>
              <a:srgbClr val="A4561C"/>
            </a:solidFill>
            <a:prstDash val="solid"/>
          </a:ln>
        </p:spPr>
      </p:sp>
      <p:sp>
        <p:nvSpPr>
          <p:cNvPr id="105" name="Text 103"/>
          <p:cNvSpPr/>
          <p:nvPr/>
        </p:nvSpPr>
        <p:spPr>
          <a:xfrm>
            <a:off x="640080" y="2788920"/>
            <a:ext cx="777240" cy="256032"/>
          </a:xfrm>
          <a:prstGeom prst="rect">
            <a:avLst/>
          </a:prstGeom>
          <a:noFill/>
          <a:ln/>
        </p:spPr>
        <p:txBody>
          <a:bodyPr wrap="square" lIns="0" tIns="0" rIns="0" bIns="0" rtlCol="0" anchor="ctr"/>
          <a:lstStyle/>
          <a:p>
            <a:pPr algn="l" indent="0" marL="0">
              <a:buNone/>
            </a:pPr>
            <a:r>
              <a:rPr lang="en-US" sz="1000" dirty="0">
                <a:solidFill>
                  <a:srgbClr val="6B7385"/>
                </a:solidFill>
                <a:latin typeface="Calibri" pitchFamily="34" charset="0"/>
                <a:ea typeface="Calibri" pitchFamily="34" charset="-122"/>
                <a:cs typeface="Calibri" pitchFamily="34" charset="-120"/>
              </a:rPr>
              <a:t>body cell</a:t>
            </a:r>
            <a:endParaRPr lang="en-US" sz="1000" dirty="0"/>
          </a:p>
        </p:txBody>
      </p:sp>
      <p:sp>
        <p:nvSpPr>
          <p:cNvPr id="106" name="Shape 104"/>
          <p:cNvSpPr/>
          <p:nvPr/>
        </p:nvSpPr>
        <p:spPr>
          <a:xfrm>
            <a:off x="594360" y="4251960"/>
            <a:ext cx="5212080" cy="548640"/>
          </a:xfrm>
          <a:prstGeom prst="roundRect">
            <a:avLst>
              <a:gd name="adj" fmla="val 46667"/>
            </a:avLst>
          </a:prstGeom>
          <a:solidFill>
            <a:srgbClr val="F6C9CC"/>
          </a:solidFill>
          <a:ln w="19050">
            <a:solidFill>
              <a:srgbClr val="D9534F"/>
            </a:solidFill>
            <a:prstDash val="solid"/>
          </a:ln>
        </p:spPr>
      </p:sp>
      <p:sp>
        <p:nvSpPr>
          <p:cNvPr id="107" name="Shape 105"/>
          <p:cNvSpPr/>
          <p:nvPr/>
        </p:nvSpPr>
        <p:spPr>
          <a:xfrm>
            <a:off x="978408" y="4407408"/>
            <a:ext cx="237744" cy="237744"/>
          </a:xfrm>
          <a:prstGeom prst="ellipse">
            <a:avLst/>
          </a:prstGeom>
          <a:solidFill>
            <a:srgbClr val="D9534F"/>
          </a:solidFill>
          <a:ln w="9525">
            <a:solidFill>
              <a:srgbClr val="8E2A33"/>
            </a:solidFill>
            <a:prstDash val="solid"/>
          </a:ln>
        </p:spPr>
      </p:sp>
      <p:sp>
        <p:nvSpPr>
          <p:cNvPr id="108" name="Shape 106"/>
          <p:cNvSpPr/>
          <p:nvPr/>
        </p:nvSpPr>
        <p:spPr>
          <a:xfrm>
            <a:off x="1051560" y="4480560"/>
            <a:ext cx="91440" cy="91440"/>
          </a:xfrm>
          <a:prstGeom prst="ellipse">
            <a:avLst/>
          </a:prstGeom>
          <a:solidFill>
            <a:srgbClr val="EE8A8F"/>
          </a:solidFill>
          <a:ln w="9525">
            <a:solidFill>
              <a:srgbClr val="EE8A8F"/>
            </a:solidFill>
            <a:prstDash val="solid"/>
          </a:ln>
        </p:spPr>
      </p:sp>
      <p:sp>
        <p:nvSpPr>
          <p:cNvPr id="109" name="Shape 107"/>
          <p:cNvSpPr/>
          <p:nvPr/>
        </p:nvSpPr>
        <p:spPr>
          <a:xfrm>
            <a:off x="1709928" y="4407408"/>
            <a:ext cx="237744" cy="237744"/>
          </a:xfrm>
          <a:prstGeom prst="ellipse">
            <a:avLst/>
          </a:prstGeom>
          <a:solidFill>
            <a:srgbClr val="D9534F"/>
          </a:solidFill>
          <a:ln w="9525">
            <a:solidFill>
              <a:srgbClr val="8E2A33"/>
            </a:solidFill>
            <a:prstDash val="solid"/>
          </a:ln>
        </p:spPr>
      </p:sp>
      <p:sp>
        <p:nvSpPr>
          <p:cNvPr id="110" name="Shape 108"/>
          <p:cNvSpPr/>
          <p:nvPr/>
        </p:nvSpPr>
        <p:spPr>
          <a:xfrm>
            <a:off x="1783080" y="4480560"/>
            <a:ext cx="91440" cy="91440"/>
          </a:xfrm>
          <a:prstGeom prst="ellipse">
            <a:avLst/>
          </a:prstGeom>
          <a:solidFill>
            <a:srgbClr val="EE8A8F"/>
          </a:solidFill>
          <a:ln w="9525">
            <a:solidFill>
              <a:srgbClr val="EE8A8F"/>
            </a:solidFill>
            <a:prstDash val="solid"/>
          </a:ln>
        </p:spPr>
      </p:sp>
      <p:sp>
        <p:nvSpPr>
          <p:cNvPr id="111" name="Shape 109"/>
          <p:cNvSpPr/>
          <p:nvPr/>
        </p:nvSpPr>
        <p:spPr>
          <a:xfrm>
            <a:off x="2441448" y="4407408"/>
            <a:ext cx="237744" cy="237744"/>
          </a:xfrm>
          <a:prstGeom prst="ellipse">
            <a:avLst/>
          </a:prstGeom>
          <a:solidFill>
            <a:srgbClr val="D9534F"/>
          </a:solidFill>
          <a:ln w="9525">
            <a:solidFill>
              <a:srgbClr val="8E2A33"/>
            </a:solidFill>
            <a:prstDash val="solid"/>
          </a:ln>
        </p:spPr>
      </p:sp>
      <p:sp>
        <p:nvSpPr>
          <p:cNvPr id="112" name="Shape 110"/>
          <p:cNvSpPr/>
          <p:nvPr/>
        </p:nvSpPr>
        <p:spPr>
          <a:xfrm>
            <a:off x="2514600" y="4480560"/>
            <a:ext cx="91440" cy="91440"/>
          </a:xfrm>
          <a:prstGeom prst="ellipse">
            <a:avLst/>
          </a:prstGeom>
          <a:solidFill>
            <a:srgbClr val="EE8A8F"/>
          </a:solidFill>
          <a:ln w="9525">
            <a:solidFill>
              <a:srgbClr val="EE8A8F"/>
            </a:solidFill>
            <a:prstDash val="solid"/>
          </a:ln>
        </p:spPr>
      </p:sp>
      <p:sp>
        <p:nvSpPr>
          <p:cNvPr id="113" name="Shape 111"/>
          <p:cNvSpPr/>
          <p:nvPr/>
        </p:nvSpPr>
        <p:spPr>
          <a:xfrm>
            <a:off x="3264408" y="4407408"/>
            <a:ext cx="237744" cy="237744"/>
          </a:xfrm>
          <a:prstGeom prst="ellipse">
            <a:avLst/>
          </a:prstGeom>
          <a:solidFill>
            <a:srgbClr val="D9534F"/>
          </a:solidFill>
          <a:ln w="9525">
            <a:solidFill>
              <a:srgbClr val="8E2A33"/>
            </a:solidFill>
            <a:prstDash val="solid"/>
          </a:ln>
        </p:spPr>
      </p:sp>
      <p:sp>
        <p:nvSpPr>
          <p:cNvPr id="114" name="Shape 112"/>
          <p:cNvSpPr/>
          <p:nvPr/>
        </p:nvSpPr>
        <p:spPr>
          <a:xfrm>
            <a:off x="3337560" y="4480560"/>
            <a:ext cx="91440" cy="91440"/>
          </a:xfrm>
          <a:prstGeom prst="ellipse">
            <a:avLst/>
          </a:prstGeom>
          <a:solidFill>
            <a:srgbClr val="EE8A8F"/>
          </a:solidFill>
          <a:ln w="9525">
            <a:solidFill>
              <a:srgbClr val="EE8A8F"/>
            </a:solidFill>
            <a:prstDash val="solid"/>
          </a:ln>
        </p:spPr>
      </p:sp>
      <p:sp>
        <p:nvSpPr>
          <p:cNvPr id="115" name="Shape 113"/>
          <p:cNvSpPr/>
          <p:nvPr/>
        </p:nvSpPr>
        <p:spPr>
          <a:xfrm>
            <a:off x="4087368" y="4407408"/>
            <a:ext cx="237744" cy="237744"/>
          </a:xfrm>
          <a:prstGeom prst="ellipse">
            <a:avLst/>
          </a:prstGeom>
          <a:solidFill>
            <a:srgbClr val="D9534F"/>
          </a:solidFill>
          <a:ln w="9525">
            <a:solidFill>
              <a:srgbClr val="8E2A33"/>
            </a:solidFill>
            <a:prstDash val="solid"/>
          </a:ln>
        </p:spPr>
      </p:sp>
      <p:sp>
        <p:nvSpPr>
          <p:cNvPr id="116" name="Shape 114"/>
          <p:cNvSpPr/>
          <p:nvPr/>
        </p:nvSpPr>
        <p:spPr>
          <a:xfrm>
            <a:off x="4160520" y="4480560"/>
            <a:ext cx="91440" cy="91440"/>
          </a:xfrm>
          <a:prstGeom prst="ellipse">
            <a:avLst/>
          </a:prstGeom>
          <a:solidFill>
            <a:srgbClr val="EE8A8F"/>
          </a:solidFill>
          <a:ln w="9525">
            <a:solidFill>
              <a:srgbClr val="EE8A8F"/>
            </a:solidFill>
            <a:prstDash val="solid"/>
          </a:ln>
        </p:spPr>
      </p:sp>
      <p:sp>
        <p:nvSpPr>
          <p:cNvPr id="117" name="Shape 115"/>
          <p:cNvSpPr/>
          <p:nvPr/>
        </p:nvSpPr>
        <p:spPr>
          <a:xfrm>
            <a:off x="4910328" y="4407408"/>
            <a:ext cx="237744" cy="237744"/>
          </a:xfrm>
          <a:prstGeom prst="ellipse">
            <a:avLst/>
          </a:prstGeom>
          <a:solidFill>
            <a:srgbClr val="D9534F"/>
          </a:solidFill>
          <a:ln w="9525">
            <a:solidFill>
              <a:srgbClr val="8E2A33"/>
            </a:solidFill>
            <a:prstDash val="solid"/>
          </a:ln>
        </p:spPr>
      </p:sp>
      <p:sp>
        <p:nvSpPr>
          <p:cNvPr id="118" name="Shape 116"/>
          <p:cNvSpPr/>
          <p:nvPr/>
        </p:nvSpPr>
        <p:spPr>
          <a:xfrm>
            <a:off x="4983480" y="4480560"/>
            <a:ext cx="91440" cy="91440"/>
          </a:xfrm>
          <a:prstGeom prst="ellipse">
            <a:avLst/>
          </a:prstGeom>
          <a:solidFill>
            <a:srgbClr val="EE8A8F"/>
          </a:solidFill>
          <a:ln w="9525">
            <a:solidFill>
              <a:srgbClr val="EE8A8F"/>
            </a:solidFill>
            <a:prstDash val="solid"/>
          </a:ln>
        </p:spPr>
      </p:sp>
      <p:sp>
        <p:nvSpPr>
          <p:cNvPr id="119" name="Text 117"/>
          <p:cNvSpPr/>
          <p:nvPr/>
        </p:nvSpPr>
        <p:spPr>
          <a:xfrm>
            <a:off x="685800" y="4846320"/>
            <a:ext cx="2286000" cy="256032"/>
          </a:xfrm>
          <a:prstGeom prst="rect">
            <a:avLst/>
          </a:prstGeom>
          <a:noFill/>
          <a:ln/>
        </p:spPr>
        <p:txBody>
          <a:bodyPr wrap="square" lIns="0" tIns="0" rIns="0" bIns="0" rtlCol="0" anchor="ctr"/>
          <a:lstStyle/>
          <a:p>
            <a:pPr algn="l" indent="0" marL="0">
              <a:buNone/>
            </a:pPr>
            <a:r>
              <a:rPr lang="en-US" sz="1050" dirty="0">
                <a:solidFill>
                  <a:srgbClr val="C8414C"/>
                </a:solidFill>
                <a:latin typeface="Calibri" pitchFamily="34" charset="0"/>
                <a:ea typeface="Calibri" pitchFamily="34" charset="-122"/>
                <a:cs typeface="Calibri" pitchFamily="34" charset="-120"/>
              </a:rPr>
              <a:t>capillary: </a:t>
            </a:r>
            <a:r>
              <a:rPr lang="en-US" sz="1050" b="1" dirty="0">
                <a:solidFill>
                  <a:srgbClr val="C8414C"/>
                </a:solidFill>
                <a:latin typeface="Calibri" pitchFamily="34" charset="0"/>
                <a:ea typeface="Calibri" pitchFamily="34" charset="-122"/>
                <a:cs typeface="Calibri" pitchFamily="34" charset="-120"/>
              </a:rPr>
              <a:t>blood plasma</a:t>
            </a:r>
            <a:endParaRPr lang="en-US" sz="1050" dirty="0"/>
          </a:p>
        </p:txBody>
      </p:sp>
      <p:sp>
        <p:nvSpPr>
          <p:cNvPr id="120" name="Shape 118"/>
          <p:cNvSpPr/>
          <p:nvPr/>
        </p:nvSpPr>
        <p:spPr>
          <a:xfrm>
            <a:off x="5303520" y="4919472"/>
            <a:ext cx="411480" cy="91"/>
          </a:xfrm>
          <a:prstGeom prst="line">
            <a:avLst/>
          </a:prstGeom>
          <a:noFill/>
          <a:ln w="19050">
            <a:solidFill>
              <a:srgbClr val="C8414C"/>
            </a:solidFill>
            <a:prstDash val="solid"/>
            <a:tailEnd type="triangle"/>
          </a:ln>
        </p:spPr>
      </p:sp>
      <p:sp>
        <p:nvSpPr>
          <p:cNvPr id="121" name="Shape 119"/>
          <p:cNvSpPr/>
          <p:nvPr/>
        </p:nvSpPr>
        <p:spPr>
          <a:xfrm flipV="1">
            <a:off x="1508760" y="2834640"/>
            <a:ext cx="91" cy="1371600"/>
          </a:xfrm>
          <a:prstGeom prst="line">
            <a:avLst/>
          </a:prstGeom>
          <a:noFill/>
          <a:ln w="25400">
            <a:solidFill>
              <a:srgbClr val="2E8B57"/>
            </a:solidFill>
            <a:prstDash val="solid"/>
            <a:tailEnd type="triangle"/>
          </a:ln>
        </p:spPr>
      </p:sp>
      <p:sp>
        <p:nvSpPr>
          <p:cNvPr id="122" name="Text 120"/>
          <p:cNvSpPr/>
          <p:nvPr/>
        </p:nvSpPr>
        <p:spPr>
          <a:xfrm>
            <a:off x="1618488" y="3291840"/>
            <a:ext cx="914400" cy="384048"/>
          </a:xfrm>
          <a:prstGeom prst="rect">
            <a:avLst/>
          </a:prstGeom>
          <a:noFill/>
          <a:ln/>
        </p:spPr>
        <p:txBody>
          <a:bodyPr wrap="square" lIns="0" tIns="0" rIns="0" bIns="0" rtlCol="0" anchor="t"/>
          <a:lstStyle/>
          <a:p>
            <a:pPr algn="l" indent="0" marL="0">
              <a:buNone/>
            </a:pPr>
            <a:r>
              <a:rPr lang="en-US" sz="1000" b="1" dirty="0">
                <a:solidFill>
                  <a:srgbClr val="2E8B57"/>
                </a:solidFill>
                <a:latin typeface="Calibri" pitchFamily="34" charset="0"/>
                <a:ea typeface="Calibri" pitchFamily="34" charset="-122"/>
                <a:cs typeface="Calibri" pitchFamily="34" charset="-120"/>
              </a:rPr>
              <a:t>O₂, glucose</a:t>
            </a:r>
            <a:endParaRPr lang="en-US" sz="1000" dirty="0"/>
          </a:p>
        </p:txBody>
      </p:sp>
      <p:sp>
        <p:nvSpPr>
          <p:cNvPr id="123" name="Shape 121"/>
          <p:cNvSpPr/>
          <p:nvPr/>
        </p:nvSpPr>
        <p:spPr>
          <a:xfrm>
            <a:off x="3246120" y="2834640"/>
            <a:ext cx="91" cy="1371600"/>
          </a:xfrm>
          <a:prstGeom prst="line">
            <a:avLst/>
          </a:prstGeom>
          <a:noFill/>
          <a:ln w="25400">
            <a:solidFill>
              <a:srgbClr val="B8730A"/>
            </a:solidFill>
            <a:prstDash val="solid"/>
            <a:tailEnd type="triangle"/>
          </a:ln>
        </p:spPr>
      </p:sp>
      <p:sp>
        <p:nvSpPr>
          <p:cNvPr id="124" name="Text 122"/>
          <p:cNvSpPr/>
          <p:nvPr/>
        </p:nvSpPr>
        <p:spPr>
          <a:xfrm>
            <a:off x="3355848" y="3291840"/>
            <a:ext cx="914400" cy="384048"/>
          </a:xfrm>
          <a:prstGeom prst="rect">
            <a:avLst/>
          </a:prstGeom>
          <a:noFill/>
          <a:ln/>
        </p:spPr>
        <p:txBody>
          <a:bodyPr wrap="square" lIns="0" tIns="0" rIns="0" bIns="0" rtlCol="0" anchor="t"/>
          <a:lstStyle/>
          <a:p>
            <a:pPr algn="l" indent="0" marL="0">
              <a:buNone/>
            </a:pPr>
            <a:r>
              <a:rPr lang="en-US" sz="1000" b="1" dirty="0">
                <a:solidFill>
                  <a:srgbClr val="B8730A"/>
                </a:solidFill>
                <a:latin typeface="Calibri" pitchFamily="34" charset="0"/>
                <a:ea typeface="Calibri" pitchFamily="34" charset="-122"/>
                <a:cs typeface="Calibri" pitchFamily="34" charset="-120"/>
              </a:rPr>
              <a:t>CO₂, urea</a:t>
            </a:r>
            <a:endParaRPr lang="en-US" sz="1000" dirty="0"/>
          </a:p>
        </p:txBody>
      </p:sp>
      <p:sp>
        <p:nvSpPr>
          <p:cNvPr id="125" name="Shape 123"/>
          <p:cNvSpPr/>
          <p:nvPr/>
        </p:nvSpPr>
        <p:spPr>
          <a:xfrm flipV="1">
            <a:off x="4873752" y="2834640"/>
            <a:ext cx="91" cy="1371600"/>
          </a:xfrm>
          <a:prstGeom prst="line">
            <a:avLst/>
          </a:prstGeom>
          <a:noFill/>
          <a:ln w="25400">
            <a:solidFill>
              <a:srgbClr val="2F5F8F"/>
            </a:solidFill>
            <a:prstDash val="solid"/>
            <a:tailEnd type="triangle"/>
          </a:ln>
        </p:spPr>
      </p:sp>
      <p:sp>
        <p:nvSpPr>
          <p:cNvPr id="126" name="Shape 124"/>
          <p:cNvSpPr/>
          <p:nvPr/>
        </p:nvSpPr>
        <p:spPr>
          <a:xfrm>
            <a:off x="5093208" y="2834640"/>
            <a:ext cx="91" cy="1371600"/>
          </a:xfrm>
          <a:prstGeom prst="line">
            <a:avLst/>
          </a:prstGeom>
          <a:noFill/>
          <a:ln w="25400">
            <a:solidFill>
              <a:srgbClr val="2F5F8F"/>
            </a:solidFill>
            <a:prstDash val="solid"/>
            <a:tailEnd type="triangle"/>
          </a:ln>
        </p:spPr>
      </p:sp>
      <p:sp>
        <p:nvSpPr>
          <p:cNvPr id="127" name="Text 125"/>
          <p:cNvSpPr/>
          <p:nvPr/>
        </p:nvSpPr>
        <p:spPr>
          <a:xfrm>
            <a:off x="3794760" y="3291840"/>
            <a:ext cx="914400" cy="384048"/>
          </a:xfrm>
          <a:prstGeom prst="rect">
            <a:avLst/>
          </a:prstGeom>
          <a:noFill/>
          <a:ln/>
        </p:spPr>
        <p:txBody>
          <a:bodyPr wrap="square" lIns="0" tIns="0" rIns="0" bIns="0" rtlCol="0" anchor="t"/>
          <a:lstStyle/>
          <a:p>
            <a:pPr algn="r" indent="0" marL="0">
              <a:buNone/>
            </a:pPr>
            <a:r>
              <a:rPr lang="en-US" sz="1000" b="1" dirty="0">
                <a:solidFill>
                  <a:srgbClr val="2F5F8F"/>
                </a:solidFill>
                <a:latin typeface="Calibri" pitchFamily="34" charset="0"/>
                <a:ea typeface="Calibri" pitchFamily="34" charset="-122"/>
                <a:cs typeface="Calibri" pitchFamily="34" charset="-120"/>
              </a:rPr>
              <a:t>water, ions</a:t>
            </a:r>
            <a:endParaRPr lang="en-US" sz="1000" dirty="0"/>
          </a:p>
        </p:txBody>
      </p:sp>
      <p:sp>
        <p:nvSpPr>
          <p:cNvPr id="128" name="Shape 126"/>
          <p:cNvSpPr/>
          <p:nvPr/>
        </p:nvSpPr>
        <p:spPr>
          <a:xfrm>
            <a:off x="6217920" y="1188720"/>
            <a:ext cx="5562295" cy="2788920"/>
          </a:xfrm>
          <a:prstGeom prst="roundRect">
            <a:avLst>
              <a:gd name="adj" fmla="val 1967"/>
            </a:avLst>
          </a:prstGeom>
          <a:solidFill>
            <a:srgbClr val="F4FAF9"/>
          </a:solidFill>
          <a:ln w="9525">
            <a:solidFill>
              <a:srgbClr val="CFE0DE"/>
            </a:solidFill>
            <a:prstDash val="solid"/>
          </a:ln>
        </p:spPr>
      </p:sp>
      <p:sp>
        <p:nvSpPr>
          <p:cNvPr id="129" name="Text 12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Keeping conditions constant</a:t>
            </a:r>
            <a:endParaRPr lang="en-US" sz="1300" dirty="0"/>
          </a:p>
        </p:txBody>
      </p:sp>
      <p:sp>
        <p:nvSpPr>
          <p:cNvPr id="130" name="Text 128"/>
          <p:cNvSpPr/>
          <p:nvPr/>
        </p:nvSpPr>
        <p:spPr>
          <a:xfrm>
            <a:off x="6382512" y="1609344"/>
            <a:ext cx="5233111" cy="229514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Your cells are bathed in </a:t>
            </a:r>
            <a:r>
              <a:rPr lang="en-US" sz="1200" b="1" dirty="0">
                <a:solidFill>
                  <a:srgbClr val="262B3A"/>
                </a:solidFill>
                <a:latin typeface="Calibri" pitchFamily="34" charset="0"/>
                <a:ea typeface="Calibri" pitchFamily="34" charset="-122"/>
                <a:cs typeface="Calibri" pitchFamily="34" charset="-120"/>
              </a:rPr>
              <a:t>tissue fluid</a:t>
            </a:r>
            <a:r>
              <a:rPr lang="en-US" sz="1200" dirty="0">
                <a:solidFill>
                  <a:srgbClr val="262B3A"/>
                </a:solidFill>
                <a:latin typeface="Calibri" pitchFamily="34" charset="0"/>
                <a:ea typeface="Calibri" pitchFamily="34" charset="-122"/>
                <a:cs typeface="Calibri" pitchFamily="34" charset="-120"/>
              </a:rPr>
              <a:t>, which comes from blood </a:t>
            </a:r>
            <a:r>
              <a:rPr lang="en-US" sz="1200" b="1" dirty="0">
                <a:solidFill>
                  <a:srgbClr val="262B3A"/>
                </a:solidFill>
                <a:latin typeface="Calibri" pitchFamily="34" charset="0"/>
                <a:ea typeface="Calibri" pitchFamily="34" charset="-122"/>
                <a:cs typeface="Calibri" pitchFamily="34" charset="-120"/>
              </a:rPr>
              <a:t>plasma</a:t>
            </a:r>
            <a:r>
              <a:rPr lang="en-US" sz="1200" dirty="0">
                <a:solidFill>
                  <a:srgbClr val="262B3A"/>
                </a:solidFill>
                <a:latin typeface="Calibri" pitchFamily="34" charset="0"/>
                <a:ea typeface="Calibri" pitchFamily="34" charset="-122"/>
                <a:cs typeface="Calibri" pitchFamily="34" charset="-120"/>
              </a:rPr>
              <a:t>. This is the </a:t>
            </a:r>
            <a:r>
              <a:rPr lang="en-US" sz="1200" b="1" dirty="0">
                <a:solidFill>
                  <a:srgbClr val="262B3A"/>
                </a:solidFill>
                <a:latin typeface="Calibri" pitchFamily="34" charset="0"/>
                <a:ea typeface="Calibri" pitchFamily="34" charset="-122"/>
                <a:cs typeface="Calibri" pitchFamily="34" charset="-120"/>
              </a:rPr>
              <a:t>internal environment</a:t>
            </a:r>
            <a:r>
              <a:rPr lang="en-US" sz="1200" dirty="0">
                <a:solidFill>
                  <a:srgbClr val="262B3A"/>
                </a:solidFill>
                <a:latin typeface="Calibri" pitchFamily="34" charset="0"/>
                <a:ea typeface="Calibri" pitchFamily="34" charset="-122"/>
                <a:cs typeface="Calibri" pitchFamily="34" charset="-120"/>
              </a:rPr>
              <a:t>.</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Conditions kept within narrow limits include: </a:t>
            </a:r>
            <a:r>
              <a:rPr lang="en-US" sz="1200" b="1" dirty="0">
                <a:solidFill>
                  <a:srgbClr val="262B3A"/>
                </a:solidFill>
                <a:latin typeface="Calibri" pitchFamily="34" charset="0"/>
                <a:ea typeface="Calibri" pitchFamily="34" charset="-122"/>
                <a:cs typeface="Calibri" pitchFamily="34" charset="-120"/>
              </a:rPr>
              <a:t>core temperature</a:t>
            </a:r>
            <a:r>
              <a:rPr lang="en-US" sz="1200" dirty="0">
                <a:solidFill>
                  <a:srgbClr val="262B3A"/>
                </a:solidFill>
                <a:latin typeface="Calibri" pitchFamily="34" charset="0"/>
                <a:ea typeface="Calibri" pitchFamily="34" charset="-122"/>
                <a:cs typeface="Calibri" pitchFamily="34" charset="-120"/>
              </a:rPr>
              <a:t> (about </a:t>
            </a:r>
            <a:r>
              <a:rPr lang="en-US" sz="1200" b="1" dirty="0">
                <a:solidFill>
                  <a:srgbClr val="262B3A"/>
                </a:solidFill>
                <a:latin typeface="Calibri" pitchFamily="34" charset="0"/>
                <a:ea typeface="Calibri" pitchFamily="34" charset="-122"/>
                <a:cs typeface="Calibri" pitchFamily="34" charset="-120"/>
              </a:rPr>
              <a:t>37 °C</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water</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ion</a:t>
            </a:r>
            <a:r>
              <a:rPr lang="en-US" sz="1200" dirty="0">
                <a:solidFill>
                  <a:srgbClr val="262B3A"/>
                </a:solidFill>
                <a:latin typeface="Calibri" pitchFamily="34" charset="0"/>
                <a:ea typeface="Calibri" pitchFamily="34" charset="-122"/>
                <a:cs typeface="Calibri" pitchFamily="34" charset="-120"/>
              </a:rPr>
              <a:t> (salt) concentration, </a:t>
            </a:r>
            <a:r>
              <a:rPr lang="en-US" sz="1200" b="1" dirty="0">
                <a:solidFill>
                  <a:srgbClr val="262B3A"/>
                </a:solidFill>
                <a:latin typeface="Calibri" pitchFamily="34" charset="0"/>
                <a:ea typeface="Calibri" pitchFamily="34" charset="-122"/>
                <a:cs typeface="Calibri" pitchFamily="34" charset="-120"/>
              </a:rPr>
              <a:t>pH</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blood glucose</a:t>
            </a:r>
            <a:r>
              <a:rPr lang="en-US" sz="1200" dirty="0">
                <a:solidFill>
                  <a:srgbClr val="262B3A"/>
                </a:solidFill>
                <a:latin typeface="Calibri" pitchFamily="34" charset="0"/>
                <a:ea typeface="Calibri" pitchFamily="34" charset="-122"/>
                <a:cs typeface="Calibri" pitchFamily="34" charset="-120"/>
              </a:rPr>
              <a:t> (B5.6) and </a:t>
            </a:r>
            <a:r>
              <a:rPr lang="en-US" sz="1200" b="1" dirty="0">
                <a:solidFill>
                  <a:srgbClr val="262B3A"/>
                </a:solidFill>
                <a:latin typeface="Calibri" pitchFamily="34" charset="0"/>
                <a:ea typeface="Calibri" pitchFamily="34" charset="-122"/>
                <a:cs typeface="Calibri" pitchFamily="34" charset="-120"/>
              </a:rPr>
              <a:t>carbon dioxide</a:t>
            </a:r>
            <a:r>
              <a:rPr lang="en-US" sz="1200" dirty="0">
                <a:solidFill>
                  <a:srgbClr val="262B3A"/>
                </a:solidFill>
                <a:latin typeface="Calibri" pitchFamily="34" charset="0"/>
                <a:ea typeface="Calibri" pitchFamily="34" charset="-122"/>
                <a:cs typeface="Calibri" pitchFamily="34" charset="-120"/>
              </a:rPr>
              <a:t> level.</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Cells exchange substances with the tissue fluid all the time: </a:t>
            </a:r>
            <a:r>
              <a:rPr lang="en-US" sz="1200" b="1" dirty="0">
                <a:solidFill>
                  <a:srgbClr val="262B3A"/>
                </a:solidFill>
                <a:latin typeface="Calibri" pitchFamily="34" charset="0"/>
                <a:ea typeface="Calibri" pitchFamily="34" charset="-122"/>
                <a:cs typeface="Calibri" pitchFamily="34" charset="-120"/>
              </a:rPr>
              <a:t>oxygen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glucose</a:t>
            </a:r>
            <a:r>
              <a:rPr lang="en-US" sz="1200" dirty="0">
                <a:solidFill>
                  <a:srgbClr val="262B3A"/>
                </a:solidFill>
                <a:latin typeface="Calibri" pitchFamily="34" charset="0"/>
                <a:ea typeface="Calibri" pitchFamily="34" charset="-122"/>
                <a:cs typeface="Calibri" pitchFamily="34" charset="-120"/>
              </a:rPr>
              <a:t> in; </a:t>
            </a:r>
            <a:r>
              <a:rPr lang="en-US" sz="1200" b="1" dirty="0">
                <a:solidFill>
                  <a:srgbClr val="262B3A"/>
                </a:solidFill>
                <a:latin typeface="Calibri" pitchFamily="34" charset="0"/>
                <a:ea typeface="Calibri" pitchFamily="34" charset="-122"/>
                <a:cs typeface="Calibri" pitchFamily="34" charset="-120"/>
              </a:rPr>
              <a:t>carbon dioxide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urea</a:t>
            </a:r>
            <a:r>
              <a:rPr lang="en-US" sz="1200" dirty="0">
                <a:solidFill>
                  <a:srgbClr val="262B3A"/>
                </a:solidFill>
                <a:latin typeface="Calibri" pitchFamily="34" charset="0"/>
                <a:ea typeface="Calibri" pitchFamily="34" charset="-122"/>
                <a:cs typeface="Calibri" pitchFamily="34" charset="-120"/>
              </a:rPr>
              <a:t> out.</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Keeping a constant internal environment is called </a:t>
            </a:r>
            <a:r>
              <a:rPr lang="en-US" sz="1200" b="1" dirty="0">
                <a:solidFill>
                  <a:srgbClr val="262B3A"/>
                </a:solidFill>
                <a:latin typeface="Calibri" pitchFamily="34" charset="0"/>
                <a:ea typeface="Calibri" pitchFamily="34" charset="-122"/>
                <a:cs typeface="Calibri" pitchFamily="34" charset="-120"/>
              </a:rPr>
              <a:t>homeostasis</a:t>
            </a:r>
            <a:r>
              <a:rPr lang="en-US" sz="1200" dirty="0">
                <a:solidFill>
                  <a:srgbClr val="262B3A"/>
                </a:solidFill>
                <a:latin typeface="Calibri" pitchFamily="34" charset="0"/>
                <a:ea typeface="Calibri" pitchFamily="34" charset="-122"/>
                <a:cs typeface="Calibri" pitchFamily="34" charset="-120"/>
              </a:rPr>
              <a:t>. It keeps every cell working properly.</a:t>
            </a:r>
            <a:endParaRPr lang="en-US" sz="1200" dirty="0"/>
          </a:p>
        </p:txBody>
      </p:sp>
      <p:sp>
        <p:nvSpPr>
          <p:cNvPr id="131" name="Shape 129"/>
          <p:cNvSpPr/>
          <p:nvPr/>
        </p:nvSpPr>
        <p:spPr>
          <a:xfrm>
            <a:off x="6217920" y="4114800"/>
            <a:ext cx="5562295" cy="1600200"/>
          </a:xfrm>
          <a:prstGeom prst="roundRect">
            <a:avLst>
              <a:gd name="adj" fmla="val 3429"/>
            </a:avLst>
          </a:prstGeom>
          <a:solidFill>
            <a:srgbClr val="FFF4E0"/>
          </a:solidFill>
          <a:ln w="9525">
            <a:solidFill>
              <a:srgbClr val="F1D9A8"/>
            </a:solidFill>
            <a:prstDash val="solid"/>
          </a:ln>
        </p:spPr>
      </p:sp>
      <p:sp>
        <p:nvSpPr>
          <p:cNvPr id="132" name="Text 130"/>
          <p:cNvSpPr/>
          <p:nvPr/>
        </p:nvSpPr>
        <p:spPr>
          <a:xfrm>
            <a:off x="6382512" y="41879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body water</a:t>
            </a:r>
            <a:endParaRPr lang="en-US" sz="1300" dirty="0"/>
          </a:p>
        </p:txBody>
      </p:sp>
      <p:sp>
        <p:nvSpPr>
          <p:cNvPr id="133" name="Text 131"/>
          <p:cNvSpPr/>
          <p:nvPr/>
        </p:nvSpPr>
        <p:spPr>
          <a:xfrm>
            <a:off x="6382512" y="4498848"/>
            <a:ext cx="5233111"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About 60% of an adult's body mass is water. How much water is in a 70 kg adult?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Fraction   </a:t>
            </a:r>
            <a:r>
              <a:rPr lang="en-US" sz="1050" dirty="0">
                <a:solidFill>
                  <a:srgbClr val="262B3A"/>
                </a:solidFill>
                <a:latin typeface="Calibri" pitchFamily="34" charset="0"/>
                <a:ea typeface="Calibri" pitchFamily="34" charset="-122"/>
                <a:cs typeface="Calibri" pitchFamily="34" charset="-120"/>
              </a:rPr>
              <a:t>60% = 0.60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Substitute   </a:t>
            </a:r>
            <a:r>
              <a:rPr lang="en-US" sz="1050" dirty="0">
                <a:solidFill>
                  <a:srgbClr val="262B3A"/>
                </a:solidFill>
                <a:latin typeface="Calibri" pitchFamily="34" charset="0"/>
                <a:ea typeface="Calibri" pitchFamily="34" charset="-122"/>
                <a:cs typeface="Calibri" pitchFamily="34" charset="-120"/>
              </a:rPr>
              <a:t>0.60 × 70 kg</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42 kg of water (about 42 litres)</a:t>
            </a:r>
            <a:endParaRPr lang="en-US" sz="1050" dirty="0"/>
          </a:p>
        </p:txBody>
      </p:sp>
      <p:sp>
        <p:nvSpPr>
          <p:cNvPr id="134" name="Shape 132"/>
          <p:cNvSpPr/>
          <p:nvPr/>
        </p:nvSpPr>
        <p:spPr>
          <a:xfrm>
            <a:off x="411480" y="5833872"/>
            <a:ext cx="11368735" cy="530352"/>
          </a:xfrm>
          <a:prstGeom prst="rect">
            <a:avLst/>
          </a:prstGeom>
          <a:solidFill>
            <a:srgbClr val="FFF4E0"/>
          </a:solidFill>
          <a:ln w="6350">
            <a:solidFill>
              <a:srgbClr val="F1D9A8"/>
            </a:solidFill>
            <a:prstDash val="solid"/>
          </a:ln>
        </p:spPr>
      </p:sp>
      <p:sp>
        <p:nvSpPr>
          <p:cNvPr id="135" name="Shape 133"/>
          <p:cNvSpPr/>
          <p:nvPr/>
        </p:nvSpPr>
        <p:spPr>
          <a:xfrm>
            <a:off x="411480" y="5833872"/>
            <a:ext cx="82296" cy="530352"/>
          </a:xfrm>
          <a:prstGeom prst="rect">
            <a:avLst/>
          </a:prstGeom>
          <a:solidFill>
            <a:srgbClr val="E39A2F"/>
          </a:solidFill>
          <a:ln w="12700">
            <a:solidFill>
              <a:srgbClr val="E39A2F"/>
            </a:solidFill>
            <a:prstDash val="solid"/>
          </a:ln>
        </p:spPr>
      </p:sp>
      <p:sp>
        <p:nvSpPr>
          <p:cNvPr id="136" name="Text 13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What is the </a:t>
            </a:r>
            <a:r>
              <a:rPr lang="en-US" sz="1150" b="1" dirty="0">
                <a:solidFill>
                  <a:srgbClr val="262B3A"/>
                </a:solidFill>
                <a:latin typeface="Calibri" pitchFamily="34" charset="0"/>
                <a:ea typeface="Calibri" pitchFamily="34" charset="-122"/>
                <a:cs typeface="Calibri" pitchFamily="34" charset="-120"/>
              </a:rPr>
              <a:t>internal environment</a:t>
            </a:r>
            <a:r>
              <a:rPr lang="en-US" sz="1150" dirty="0">
                <a:solidFill>
                  <a:srgbClr val="262B3A"/>
                </a:solidFill>
                <a:latin typeface="Calibri" pitchFamily="34" charset="0"/>
                <a:ea typeface="Calibri" pitchFamily="34" charset="-122"/>
                <a:cs typeface="Calibri" pitchFamily="34" charset="-120"/>
              </a:rPr>
              <a:t>? Name </a:t>
            </a:r>
            <a:r>
              <a:rPr lang="en-US" sz="1150" b="1" dirty="0">
                <a:solidFill>
                  <a:srgbClr val="262B3A"/>
                </a:solidFill>
                <a:latin typeface="Calibri" pitchFamily="34" charset="0"/>
                <a:ea typeface="Calibri" pitchFamily="34" charset="-122"/>
                <a:cs typeface="Calibri" pitchFamily="34" charset="-120"/>
              </a:rPr>
              <a:t>three</a:t>
            </a:r>
            <a:r>
              <a:rPr lang="en-US" sz="1150" dirty="0">
                <a:solidFill>
                  <a:srgbClr val="262B3A"/>
                </a:solidFill>
                <a:latin typeface="Calibri" pitchFamily="34" charset="0"/>
                <a:ea typeface="Calibri" pitchFamily="34" charset="-122"/>
                <a:cs typeface="Calibri" pitchFamily="34" charset="-120"/>
              </a:rPr>
              <a:t> conditions in it that the body keeps constant. How much water is in a </a:t>
            </a:r>
            <a:r>
              <a:rPr lang="en-US" sz="1150" b="1" dirty="0">
                <a:solidFill>
                  <a:srgbClr val="262B3A"/>
                </a:solidFill>
                <a:latin typeface="Calibri" pitchFamily="34" charset="0"/>
                <a:ea typeface="Calibri" pitchFamily="34" charset="-122"/>
                <a:cs typeface="Calibri" pitchFamily="34" charset="-120"/>
              </a:rPr>
              <a:t>50 kg</a:t>
            </a:r>
            <a:r>
              <a:rPr lang="en-US" sz="1150" dirty="0">
                <a:solidFill>
                  <a:srgbClr val="262B3A"/>
                </a:solidFill>
                <a:latin typeface="Calibri" pitchFamily="34" charset="0"/>
                <a:ea typeface="Calibri" pitchFamily="34" charset="-122"/>
                <a:cs typeface="Calibri" pitchFamily="34" charset="-120"/>
              </a:rPr>
              <a:t> person (60%)?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Internal and external changes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conditions are changed all the time, by the outside world and by the body itself</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B5.4.1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changes that push conditions away from normal</a:t>
            </a:r>
            <a:endParaRPr lang="en-US" sz="1000" dirty="0"/>
          </a:p>
        </p:txBody>
      </p:sp>
      <p:sp>
        <p:nvSpPr>
          <p:cNvPr id="10" name="Shape 8"/>
          <p:cNvSpPr/>
          <p:nvPr/>
        </p:nvSpPr>
        <p:spPr>
          <a:xfrm rot="420000">
            <a:off x="2360615" y="2350008"/>
            <a:ext cx="209946" cy="1387145"/>
          </a:xfrm>
          <a:prstGeom prst="roundRect">
            <a:avLst>
              <a:gd name="adj" fmla="val 45000"/>
            </a:avLst>
          </a:prstGeom>
          <a:solidFill>
            <a:srgbClr val="F6DDC8"/>
          </a:solidFill>
          <a:ln w="31750">
            <a:solidFill>
              <a:srgbClr val="B98E6E"/>
            </a:solidFill>
            <a:prstDash val="solid"/>
          </a:ln>
        </p:spPr>
      </p:sp>
      <p:sp>
        <p:nvSpPr>
          <p:cNvPr id="11" name="Shape 9"/>
          <p:cNvSpPr/>
          <p:nvPr/>
        </p:nvSpPr>
        <p:spPr>
          <a:xfrm rot="-420000">
            <a:off x="3830239" y="2350008"/>
            <a:ext cx="209946" cy="1387145"/>
          </a:xfrm>
          <a:prstGeom prst="roundRect">
            <a:avLst>
              <a:gd name="adj" fmla="val 45000"/>
            </a:avLst>
          </a:prstGeom>
          <a:solidFill>
            <a:srgbClr val="F6DDC8"/>
          </a:solidFill>
          <a:ln w="31750">
            <a:solidFill>
              <a:srgbClr val="B98E6E"/>
            </a:solidFill>
            <a:prstDash val="solid"/>
          </a:ln>
        </p:spPr>
      </p:sp>
      <p:sp>
        <p:nvSpPr>
          <p:cNvPr id="12" name="Shape 10"/>
          <p:cNvSpPr/>
          <p:nvPr/>
        </p:nvSpPr>
        <p:spPr>
          <a:xfrm>
            <a:off x="2720523" y="3549701"/>
            <a:ext cx="404896" cy="1462126"/>
          </a:xfrm>
          <a:prstGeom prst="roundRect">
            <a:avLst>
              <a:gd name="adj" fmla="val 45000"/>
            </a:avLst>
          </a:prstGeom>
          <a:solidFill>
            <a:srgbClr val="F6DDC8"/>
          </a:solidFill>
          <a:ln w="31750">
            <a:solidFill>
              <a:srgbClr val="B98E6E"/>
            </a:solidFill>
            <a:prstDash val="solid"/>
          </a:ln>
        </p:spPr>
      </p:sp>
      <p:sp>
        <p:nvSpPr>
          <p:cNvPr id="13" name="Shape 11"/>
          <p:cNvSpPr/>
          <p:nvPr/>
        </p:nvSpPr>
        <p:spPr>
          <a:xfrm>
            <a:off x="3275381" y="3549701"/>
            <a:ext cx="404896" cy="1462126"/>
          </a:xfrm>
          <a:prstGeom prst="roundRect">
            <a:avLst>
              <a:gd name="adj" fmla="val 45000"/>
            </a:avLst>
          </a:prstGeom>
          <a:solidFill>
            <a:srgbClr val="F6DDC8"/>
          </a:solidFill>
          <a:ln w="31750">
            <a:solidFill>
              <a:srgbClr val="B98E6E"/>
            </a:solidFill>
            <a:prstDash val="solid"/>
          </a:ln>
        </p:spPr>
      </p:sp>
      <p:sp>
        <p:nvSpPr>
          <p:cNvPr id="14" name="Shape 12"/>
          <p:cNvSpPr/>
          <p:nvPr/>
        </p:nvSpPr>
        <p:spPr>
          <a:xfrm>
            <a:off x="2600554" y="2290023"/>
            <a:ext cx="1199693" cy="1499616"/>
          </a:xfrm>
          <a:prstGeom prst="roundRect">
            <a:avLst>
              <a:gd name="adj" fmla="val 45000"/>
            </a:avLst>
          </a:prstGeom>
          <a:solidFill>
            <a:srgbClr val="F6DDC8"/>
          </a:solidFill>
          <a:ln w="31750">
            <a:solidFill>
              <a:srgbClr val="B98E6E"/>
            </a:solidFill>
            <a:prstDash val="solid"/>
          </a:ln>
        </p:spPr>
      </p:sp>
      <p:sp>
        <p:nvSpPr>
          <p:cNvPr id="15" name="Shape 13"/>
          <p:cNvSpPr/>
          <p:nvPr/>
        </p:nvSpPr>
        <p:spPr>
          <a:xfrm>
            <a:off x="3102925" y="2125066"/>
            <a:ext cx="194950" cy="224942"/>
          </a:xfrm>
          <a:prstGeom prst="rect">
            <a:avLst/>
          </a:prstGeom>
          <a:solidFill>
            <a:srgbClr val="F6DDC8"/>
          </a:solidFill>
          <a:ln w="31750">
            <a:solidFill>
              <a:srgbClr val="B98E6E"/>
            </a:solidFill>
            <a:prstDash val="solid"/>
          </a:ln>
        </p:spPr>
      </p:sp>
      <p:sp>
        <p:nvSpPr>
          <p:cNvPr id="16" name="Shape 14"/>
          <p:cNvSpPr/>
          <p:nvPr/>
        </p:nvSpPr>
        <p:spPr>
          <a:xfrm>
            <a:off x="2952963" y="1600200"/>
            <a:ext cx="494873" cy="599846"/>
          </a:xfrm>
          <a:prstGeom prst="ellipse">
            <a:avLst/>
          </a:prstGeom>
          <a:solidFill>
            <a:srgbClr val="F6DDC8"/>
          </a:solidFill>
          <a:ln w="31750">
            <a:solidFill>
              <a:srgbClr val="B98E6E"/>
            </a:solidFill>
            <a:prstDash val="solid"/>
          </a:ln>
        </p:spPr>
      </p:sp>
      <p:sp>
        <p:nvSpPr>
          <p:cNvPr id="17" name="Shape 15"/>
          <p:cNvSpPr/>
          <p:nvPr/>
        </p:nvSpPr>
        <p:spPr>
          <a:xfrm rot="420000">
            <a:off x="2360615" y="2350008"/>
            <a:ext cx="209946" cy="1387145"/>
          </a:xfrm>
          <a:prstGeom prst="roundRect">
            <a:avLst>
              <a:gd name="adj" fmla="val 45000"/>
            </a:avLst>
          </a:prstGeom>
          <a:solidFill>
            <a:srgbClr val="F6DDC8"/>
          </a:solidFill>
          <a:ln/>
        </p:spPr>
      </p:sp>
      <p:sp>
        <p:nvSpPr>
          <p:cNvPr id="18" name="Shape 16"/>
          <p:cNvSpPr/>
          <p:nvPr/>
        </p:nvSpPr>
        <p:spPr>
          <a:xfrm rot="-420000">
            <a:off x="3830239" y="2350008"/>
            <a:ext cx="209946" cy="1387145"/>
          </a:xfrm>
          <a:prstGeom prst="roundRect">
            <a:avLst>
              <a:gd name="adj" fmla="val 45000"/>
            </a:avLst>
          </a:prstGeom>
          <a:solidFill>
            <a:srgbClr val="F6DDC8"/>
          </a:solidFill>
          <a:ln/>
        </p:spPr>
      </p:sp>
      <p:sp>
        <p:nvSpPr>
          <p:cNvPr id="19" name="Shape 17"/>
          <p:cNvSpPr/>
          <p:nvPr/>
        </p:nvSpPr>
        <p:spPr>
          <a:xfrm>
            <a:off x="2720523" y="3549701"/>
            <a:ext cx="404896" cy="1462126"/>
          </a:xfrm>
          <a:prstGeom prst="roundRect">
            <a:avLst>
              <a:gd name="adj" fmla="val 45000"/>
            </a:avLst>
          </a:prstGeom>
          <a:solidFill>
            <a:srgbClr val="F6DDC8"/>
          </a:solidFill>
          <a:ln/>
        </p:spPr>
      </p:sp>
      <p:sp>
        <p:nvSpPr>
          <p:cNvPr id="20" name="Shape 18"/>
          <p:cNvSpPr/>
          <p:nvPr/>
        </p:nvSpPr>
        <p:spPr>
          <a:xfrm>
            <a:off x="3275381" y="3549701"/>
            <a:ext cx="404896" cy="1462126"/>
          </a:xfrm>
          <a:prstGeom prst="roundRect">
            <a:avLst>
              <a:gd name="adj" fmla="val 45000"/>
            </a:avLst>
          </a:prstGeom>
          <a:solidFill>
            <a:srgbClr val="F6DDC8"/>
          </a:solidFill>
          <a:ln/>
        </p:spPr>
      </p:sp>
      <p:sp>
        <p:nvSpPr>
          <p:cNvPr id="21" name="Shape 19"/>
          <p:cNvSpPr/>
          <p:nvPr/>
        </p:nvSpPr>
        <p:spPr>
          <a:xfrm>
            <a:off x="2600554" y="2290023"/>
            <a:ext cx="1199693" cy="1499616"/>
          </a:xfrm>
          <a:prstGeom prst="roundRect">
            <a:avLst>
              <a:gd name="adj" fmla="val 45000"/>
            </a:avLst>
          </a:prstGeom>
          <a:solidFill>
            <a:srgbClr val="F6DDC8"/>
          </a:solidFill>
          <a:ln/>
        </p:spPr>
      </p:sp>
      <p:sp>
        <p:nvSpPr>
          <p:cNvPr id="22" name="Shape 20"/>
          <p:cNvSpPr/>
          <p:nvPr/>
        </p:nvSpPr>
        <p:spPr>
          <a:xfrm>
            <a:off x="3102925" y="2125066"/>
            <a:ext cx="194950" cy="224942"/>
          </a:xfrm>
          <a:prstGeom prst="rect">
            <a:avLst/>
          </a:prstGeom>
          <a:solidFill>
            <a:srgbClr val="F6DDC8"/>
          </a:solidFill>
          <a:ln/>
        </p:spPr>
      </p:sp>
      <p:sp>
        <p:nvSpPr>
          <p:cNvPr id="23" name="Shape 21"/>
          <p:cNvSpPr/>
          <p:nvPr/>
        </p:nvSpPr>
        <p:spPr>
          <a:xfrm>
            <a:off x="2952963" y="1600200"/>
            <a:ext cx="494873" cy="599846"/>
          </a:xfrm>
          <a:prstGeom prst="ellipse">
            <a:avLst/>
          </a:prstGeom>
          <a:solidFill>
            <a:srgbClr val="F6DDC8"/>
          </a:solidFill>
          <a:ln/>
        </p:spPr>
      </p:sp>
      <p:sp>
        <p:nvSpPr>
          <p:cNvPr id="24" name="Shape 22"/>
          <p:cNvSpPr/>
          <p:nvPr/>
        </p:nvSpPr>
        <p:spPr>
          <a:xfrm>
            <a:off x="3200400" y="3812134"/>
            <a:ext cx="91" cy="1162202"/>
          </a:xfrm>
          <a:prstGeom prst="line">
            <a:avLst/>
          </a:prstGeom>
          <a:noFill/>
          <a:ln w="15875">
            <a:solidFill>
              <a:srgbClr val="B98E6E"/>
            </a:solidFill>
            <a:prstDash val="solid"/>
          </a:ln>
        </p:spPr>
      </p:sp>
      <p:sp>
        <p:nvSpPr>
          <p:cNvPr id="25" name="Text 23"/>
          <p:cNvSpPr/>
          <p:nvPr/>
        </p:nvSpPr>
        <p:spPr>
          <a:xfrm>
            <a:off x="548640" y="1280160"/>
            <a:ext cx="1828800" cy="256032"/>
          </a:xfrm>
          <a:prstGeom prst="rect">
            <a:avLst/>
          </a:prstGeom>
          <a:noFill/>
          <a:ln/>
        </p:spPr>
        <p:txBody>
          <a:bodyPr wrap="square" lIns="0" tIns="0" rIns="0" bIns="0" rtlCol="0" anchor="ctr"/>
          <a:lstStyle/>
          <a:p>
            <a:pPr algn="l" indent="0" marL="0">
              <a:buNone/>
            </a:pPr>
            <a:r>
              <a:rPr lang="en-US" sz="1200" b="1" dirty="0">
                <a:solidFill>
                  <a:srgbClr val="3B7DD8"/>
                </a:solidFill>
                <a:latin typeface="Calibri" pitchFamily="34" charset="0"/>
                <a:ea typeface="Calibri" pitchFamily="34" charset="-122"/>
                <a:cs typeface="Calibri" pitchFamily="34" charset="-120"/>
              </a:rPr>
              <a:t>External changes</a:t>
            </a:r>
            <a:endParaRPr lang="en-US" sz="1200" dirty="0"/>
          </a:p>
        </p:txBody>
      </p:sp>
      <p:sp>
        <p:nvSpPr>
          <p:cNvPr id="26" name="Text 24"/>
          <p:cNvSpPr/>
          <p:nvPr/>
        </p:nvSpPr>
        <p:spPr>
          <a:xfrm>
            <a:off x="4069080" y="1280160"/>
            <a:ext cx="1828800" cy="256032"/>
          </a:xfrm>
          <a:prstGeom prst="rect">
            <a:avLst/>
          </a:prstGeom>
          <a:noFill/>
          <a:ln/>
        </p:spPr>
        <p:txBody>
          <a:bodyPr wrap="square" lIns="0" tIns="0" rIns="0" bIns="0" rtlCol="0" anchor="ctr"/>
          <a:lstStyle/>
          <a:p>
            <a:pPr algn="r" indent="0" marL="0">
              <a:buNone/>
            </a:pPr>
            <a:r>
              <a:rPr lang="en-US" sz="1200" b="1" dirty="0">
                <a:solidFill>
                  <a:srgbClr val="B8730A"/>
                </a:solidFill>
                <a:latin typeface="Calibri" pitchFamily="34" charset="0"/>
                <a:ea typeface="Calibri" pitchFamily="34" charset="-122"/>
                <a:cs typeface="Calibri" pitchFamily="34" charset="-120"/>
              </a:rPr>
              <a:t>Internal changes</a:t>
            </a:r>
            <a:endParaRPr lang="en-US" sz="1200" dirty="0"/>
          </a:p>
        </p:txBody>
      </p:sp>
      <p:sp>
        <p:nvSpPr>
          <p:cNvPr id="27" name="Shape 25"/>
          <p:cNvSpPr/>
          <p:nvPr/>
        </p:nvSpPr>
        <p:spPr>
          <a:xfrm>
            <a:off x="548640" y="1600200"/>
            <a:ext cx="1783080" cy="914400"/>
          </a:xfrm>
          <a:prstGeom prst="roundRect">
            <a:avLst>
              <a:gd name="adj" fmla="val 6000"/>
            </a:avLst>
          </a:prstGeom>
          <a:solidFill>
            <a:srgbClr val="FFFFFF"/>
          </a:solidFill>
          <a:ln w="12700">
            <a:solidFill>
              <a:srgbClr val="3B7DD8"/>
            </a:solidFill>
            <a:prstDash val="solid"/>
          </a:ln>
        </p:spPr>
      </p:sp>
      <p:sp>
        <p:nvSpPr>
          <p:cNvPr id="28" name="Shape 26"/>
          <p:cNvSpPr/>
          <p:nvPr/>
        </p:nvSpPr>
        <p:spPr>
          <a:xfrm>
            <a:off x="947318" y="1874520"/>
            <a:ext cx="54864" cy="91"/>
          </a:xfrm>
          <a:prstGeom prst="line">
            <a:avLst/>
          </a:prstGeom>
          <a:noFill/>
          <a:ln w="19050">
            <a:solidFill>
              <a:srgbClr val="E39A2F"/>
            </a:solidFill>
            <a:prstDash val="solid"/>
          </a:ln>
        </p:spPr>
      </p:sp>
      <p:sp>
        <p:nvSpPr>
          <p:cNvPr id="29" name="Shape 27"/>
          <p:cNvSpPr/>
          <p:nvPr/>
        </p:nvSpPr>
        <p:spPr>
          <a:xfrm>
            <a:off x="905538" y="1975386"/>
            <a:ext cx="38795" cy="38795"/>
          </a:xfrm>
          <a:prstGeom prst="line">
            <a:avLst/>
          </a:prstGeom>
          <a:noFill/>
          <a:ln w="19050">
            <a:solidFill>
              <a:srgbClr val="E39A2F"/>
            </a:solidFill>
            <a:prstDash val="solid"/>
          </a:ln>
        </p:spPr>
      </p:sp>
      <p:sp>
        <p:nvSpPr>
          <p:cNvPr id="30" name="Shape 28"/>
          <p:cNvSpPr/>
          <p:nvPr/>
        </p:nvSpPr>
        <p:spPr>
          <a:xfrm>
            <a:off x="804672" y="2017166"/>
            <a:ext cx="91" cy="54864"/>
          </a:xfrm>
          <a:prstGeom prst="line">
            <a:avLst/>
          </a:prstGeom>
          <a:noFill/>
          <a:ln w="19050">
            <a:solidFill>
              <a:srgbClr val="E39A2F"/>
            </a:solidFill>
            <a:prstDash val="solid"/>
          </a:ln>
        </p:spPr>
      </p:sp>
      <p:sp>
        <p:nvSpPr>
          <p:cNvPr id="31" name="Shape 29"/>
          <p:cNvSpPr/>
          <p:nvPr/>
        </p:nvSpPr>
        <p:spPr>
          <a:xfrm flipH="1">
            <a:off x="665011" y="1975386"/>
            <a:ext cx="38795" cy="38795"/>
          </a:xfrm>
          <a:prstGeom prst="line">
            <a:avLst/>
          </a:prstGeom>
          <a:noFill/>
          <a:ln w="19050">
            <a:solidFill>
              <a:srgbClr val="E39A2F"/>
            </a:solidFill>
            <a:prstDash val="solid"/>
          </a:ln>
        </p:spPr>
      </p:sp>
      <p:sp>
        <p:nvSpPr>
          <p:cNvPr id="32" name="Shape 30"/>
          <p:cNvSpPr/>
          <p:nvPr/>
        </p:nvSpPr>
        <p:spPr>
          <a:xfrm flipH="1">
            <a:off x="607162" y="1874520"/>
            <a:ext cx="54864" cy="91"/>
          </a:xfrm>
          <a:prstGeom prst="line">
            <a:avLst/>
          </a:prstGeom>
          <a:noFill/>
          <a:ln w="19050">
            <a:solidFill>
              <a:srgbClr val="E39A2F"/>
            </a:solidFill>
            <a:prstDash val="solid"/>
          </a:ln>
        </p:spPr>
      </p:sp>
      <p:sp>
        <p:nvSpPr>
          <p:cNvPr id="33" name="Shape 31"/>
          <p:cNvSpPr/>
          <p:nvPr/>
        </p:nvSpPr>
        <p:spPr>
          <a:xfrm flipH="1" flipV="1">
            <a:off x="665011" y="1734859"/>
            <a:ext cx="38795" cy="38795"/>
          </a:xfrm>
          <a:prstGeom prst="line">
            <a:avLst/>
          </a:prstGeom>
          <a:noFill/>
          <a:ln w="19050">
            <a:solidFill>
              <a:srgbClr val="E39A2F"/>
            </a:solidFill>
            <a:prstDash val="solid"/>
          </a:ln>
        </p:spPr>
      </p:sp>
      <p:sp>
        <p:nvSpPr>
          <p:cNvPr id="34" name="Shape 32"/>
          <p:cNvSpPr/>
          <p:nvPr/>
        </p:nvSpPr>
        <p:spPr>
          <a:xfrm flipV="1">
            <a:off x="804672" y="1677010"/>
            <a:ext cx="91" cy="54864"/>
          </a:xfrm>
          <a:prstGeom prst="line">
            <a:avLst/>
          </a:prstGeom>
          <a:noFill/>
          <a:ln w="19050">
            <a:solidFill>
              <a:srgbClr val="E39A2F"/>
            </a:solidFill>
            <a:prstDash val="solid"/>
          </a:ln>
        </p:spPr>
      </p:sp>
      <p:sp>
        <p:nvSpPr>
          <p:cNvPr id="35" name="Shape 33"/>
          <p:cNvSpPr/>
          <p:nvPr/>
        </p:nvSpPr>
        <p:spPr>
          <a:xfrm flipV="1">
            <a:off x="905538" y="1734859"/>
            <a:ext cx="38795" cy="38795"/>
          </a:xfrm>
          <a:prstGeom prst="line">
            <a:avLst/>
          </a:prstGeom>
          <a:noFill/>
          <a:ln w="19050">
            <a:solidFill>
              <a:srgbClr val="E39A2F"/>
            </a:solidFill>
            <a:prstDash val="solid"/>
          </a:ln>
        </p:spPr>
      </p:sp>
      <p:sp>
        <p:nvSpPr>
          <p:cNvPr id="36" name="Shape 34"/>
          <p:cNvSpPr/>
          <p:nvPr/>
        </p:nvSpPr>
        <p:spPr>
          <a:xfrm>
            <a:off x="694944" y="1764792"/>
            <a:ext cx="219456" cy="219456"/>
          </a:xfrm>
          <a:prstGeom prst="ellipse">
            <a:avLst/>
          </a:prstGeom>
          <a:solidFill>
            <a:srgbClr val="F5C342"/>
          </a:solidFill>
          <a:ln w="12700">
            <a:solidFill>
              <a:srgbClr val="D9822B"/>
            </a:solidFill>
            <a:prstDash val="solid"/>
          </a:ln>
        </p:spPr>
      </p:sp>
      <p:sp>
        <p:nvSpPr>
          <p:cNvPr id="37" name="Text 35"/>
          <p:cNvSpPr/>
          <p:nvPr/>
        </p:nvSpPr>
        <p:spPr>
          <a:xfrm>
            <a:off x="1024128" y="1645920"/>
            <a:ext cx="1261872" cy="82296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Hot day: body </a:t>
            </a:r>
            <a:r>
              <a:rPr lang="en-US" sz="1000" b="1" dirty="0">
                <a:solidFill>
                  <a:srgbClr val="262B3A"/>
                </a:solidFill>
                <a:latin typeface="Calibri" pitchFamily="34" charset="0"/>
                <a:ea typeface="Calibri" pitchFamily="34" charset="-122"/>
                <a:cs typeface="Calibri" pitchFamily="34" charset="-120"/>
              </a:rPr>
              <a:t>gains</a:t>
            </a:r>
            <a:r>
              <a:rPr lang="en-US" sz="1000" dirty="0">
                <a:solidFill>
                  <a:srgbClr val="262B3A"/>
                </a:solidFill>
                <a:latin typeface="Calibri" pitchFamily="34" charset="0"/>
                <a:ea typeface="Calibri" pitchFamily="34" charset="-122"/>
                <a:cs typeface="Calibri" pitchFamily="34" charset="-120"/>
              </a:rPr>
              <a:t> heat</a:t>
            </a:r>
            <a:endParaRPr lang="en-US" sz="1000" dirty="0"/>
          </a:p>
        </p:txBody>
      </p:sp>
      <p:sp>
        <p:nvSpPr>
          <p:cNvPr id="38" name="Shape 36"/>
          <p:cNvSpPr/>
          <p:nvPr/>
        </p:nvSpPr>
        <p:spPr>
          <a:xfrm>
            <a:off x="2359152" y="2057400"/>
            <a:ext cx="338328" cy="182880"/>
          </a:xfrm>
          <a:prstGeom prst="line">
            <a:avLst/>
          </a:prstGeom>
          <a:noFill/>
          <a:ln w="22225">
            <a:solidFill>
              <a:srgbClr val="3B7DD8"/>
            </a:solidFill>
            <a:prstDash val="solid"/>
            <a:tailEnd type="triangle"/>
          </a:ln>
        </p:spPr>
      </p:sp>
      <p:sp>
        <p:nvSpPr>
          <p:cNvPr id="39" name="Shape 37"/>
          <p:cNvSpPr/>
          <p:nvPr/>
        </p:nvSpPr>
        <p:spPr>
          <a:xfrm>
            <a:off x="548640" y="2697480"/>
            <a:ext cx="1783080" cy="914400"/>
          </a:xfrm>
          <a:prstGeom prst="roundRect">
            <a:avLst>
              <a:gd name="adj" fmla="val 6000"/>
            </a:avLst>
          </a:prstGeom>
          <a:solidFill>
            <a:srgbClr val="FFFFFF"/>
          </a:solidFill>
          <a:ln w="12700">
            <a:solidFill>
              <a:srgbClr val="3B7DD8"/>
            </a:solidFill>
            <a:prstDash val="solid"/>
          </a:ln>
        </p:spPr>
      </p:sp>
      <p:sp>
        <p:nvSpPr>
          <p:cNvPr id="40" name="Shape 38"/>
          <p:cNvSpPr/>
          <p:nvPr/>
        </p:nvSpPr>
        <p:spPr>
          <a:xfrm>
            <a:off x="658368" y="2971800"/>
            <a:ext cx="292608" cy="91"/>
          </a:xfrm>
          <a:prstGeom prst="line">
            <a:avLst/>
          </a:prstGeom>
          <a:noFill/>
          <a:ln w="25400">
            <a:solidFill>
              <a:srgbClr val="3B7DD8"/>
            </a:solidFill>
            <a:prstDash val="solid"/>
          </a:ln>
        </p:spPr>
      </p:sp>
      <p:sp>
        <p:nvSpPr>
          <p:cNvPr id="41" name="Shape 39"/>
          <p:cNvSpPr/>
          <p:nvPr/>
        </p:nvSpPr>
        <p:spPr>
          <a:xfrm>
            <a:off x="731520" y="2845097"/>
            <a:ext cx="146304" cy="253406"/>
          </a:xfrm>
          <a:prstGeom prst="line">
            <a:avLst/>
          </a:prstGeom>
          <a:noFill/>
          <a:ln w="25400">
            <a:solidFill>
              <a:srgbClr val="3B7DD8"/>
            </a:solidFill>
            <a:prstDash val="solid"/>
          </a:ln>
        </p:spPr>
      </p:sp>
      <p:sp>
        <p:nvSpPr>
          <p:cNvPr id="42" name="Shape 40"/>
          <p:cNvSpPr/>
          <p:nvPr/>
        </p:nvSpPr>
        <p:spPr>
          <a:xfrm flipH="1">
            <a:off x="731520" y="2845097"/>
            <a:ext cx="146304" cy="253406"/>
          </a:xfrm>
          <a:prstGeom prst="line">
            <a:avLst/>
          </a:prstGeom>
          <a:noFill/>
          <a:ln w="25400">
            <a:solidFill>
              <a:srgbClr val="3B7DD8"/>
            </a:solidFill>
            <a:prstDash val="solid"/>
          </a:ln>
        </p:spPr>
      </p:sp>
      <p:sp>
        <p:nvSpPr>
          <p:cNvPr id="43" name="Text 41"/>
          <p:cNvSpPr/>
          <p:nvPr/>
        </p:nvSpPr>
        <p:spPr>
          <a:xfrm>
            <a:off x="1024128" y="2743200"/>
            <a:ext cx="1261872" cy="82296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Cold day: body </a:t>
            </a:r>
            <a:r>
              <a:rPr lang="en-US" sz="1000" b="1" dirty="0">
                <a:solidFill>
                  <a:srgbClr val="262B3A"/>
                </a:solidFill>
                <a:latin typeface="Calibri" pitchFamily="34" charset="0"/>
                <a:ea typeface="Calibri" pitchFamily="34" charset="-122"/>
                <a:cs typeface="Calibri" pitchFamily="34" charset="-120"/>
              </a:rPr>
              <a:t>loses</a:t>
            </a:r>
            <a:r>
              <a:rPr lang="en-US" sz="1000" dirty="0">
                <a:solidFill>
                  <a:srgbClr val="262B3A"/>
                </a:solidFill>
                <a:latin typeface="Calibri" pitchFamily="34" charset="0"/>
                <a:ea typeface="Calibri" pitchFamily="34" charset="-122"/>
                <a:cs typeface="Calibri" pitchFamily="34" charset="-120"/>
              </a:rPr>
              <a:t> heat fast</a:t>
            </a:r>
            <a:endParaRPr lang="en-US" sz="1000" dirty="0"/>
          </a:p>
        </p:txBody>
      </p:sp>
      <p:sp>
        <p:nvSpPr>
          <p:cNvPr id="44" name="Shape 42"/>
          <p:cNvSpPr/>
          <p:nvPr/>
        </p:nvSpPr>
        <p:spPr>
          <a:xfrm>
            <a:off x="2359152" y="3154680"/>
            <a:ext cx="338328" cy="182880"/>
          </a:xfrm>
          <a:prstGeom prst="line">
            <a:avLst/>
          </a:prstGeom>
          <a:noFill/>
          <a:ln w="22225">
            <a:solidFill>
              <a:srgbClr val="3B7DD8"/>
            </a:solidFill>
            <a:prstDash val="solid"/>
            <a:tailEnd type="triangle"/>
          </a:ln>
        </p:spPr>
      </p:sp>
      <p:sp>
        <p:nvSpPr>
          <p:cNvPr id="45" name="Shape 43"/>
          <p:cNvSpPr/>
          <p:nvPr/>
        </p:nvSpPr>
        <p:spPr>
          <a:xfrm>
            <a:off x="548640" y="3794760"/>
            <a:ext cx="1783080" cy="914400"/>
          </a:xfrm>
          <a:prstGeom prst="roundRect">
            <a:avLst>
              <a:gd name="adj" fmla="val 6000"/>
            </a:avLst>
          </a:prstGeom>
          <a:solidFill>
            <a:srgbClr val="FFFFFF"/>
          </a:solidFill>
          <a:ln w="12700">
            <a:solidFill>
              <a:srgbClr val="3B7DD8"/>
            </a:solidFill>
            <a:prstDash val="solid"/>
          </a:ln>
        </p:spPr>
      </p:sp>
      <p:sp>
        <p:nvSpPr>
          <p:cNvPr id="46" name="Shape 44"/>
          <p:cNvSpPr/>
          <p:nvPr/>
        </p:nvSpPr>
        <p:spPr>
          <a:xfrm>
            <a:off x="738835" y="3977640"/>
            <a:ext cx="131674" cy="131674"/>
          </a:xfrm>
          <a:prstGeom prst="triangle">
            <a:avLst/>
          </a:prstGeom>
          <a:solidFill>
            <a:srgbClr val="5B9BD5"/>
          </a:solidFill>
          <a:ln w="6350">
            <a:solidFill>
              <a:srgbClr val="5B9BD5"/>
            </a:solidFill>
            <a:prstDash val="solid"/>
          </a:ln>
        </p:spPr>
      </p:sp>
      <p:sp>
        <p:nvSpPr>
          <p:cNvPr id="47" name="Shape 45"/>
          <p:cNvSpPr/>
          <p:nvPr/>
        </p:nvSpPr>
        <p:spPr>
          <a:xfrm>
            <a:off x="737189" y="4058290"/>
            <a:ext cx="134965" cy="134965"/>
          </a:xfrm>
          <a:prstGeom prst="ellipse">
            <a:avLst/>
          </a:prstGeom>
          <a:solidFill>
            <a:srgbClr val="5B9BD5"/>
          </a:solidFill>
          <a:ln w="9525">
            <a:solidFill>
              <a:srgbClr val="5B9BD5"/>
            </a:solidFill>
            <a:prstDash val="solid"/>
          </a:ln>
        </p:spPr>
      </p:sp>
      <p:sp>
        <p:nvSpPr>
          <p:cNvPr id="48" name="Text 46"/>
          <p:cNvSpPr/>
          <p:nvPr/>
        </p:nvSpPr>
        <p:spPr>
          <a:xfrm>
            <a:off x="1024128" y="3840480"/>
            <a:ext cx="1261872" cy="82296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Salty meal or a big </a:t>
            </a:r>
            <a:r>
              <a:rPr lang="en-US" sz="1000" b="1" dirty="0">
                <a:solidFill>
                  <a:srgbClr val="262B3A"/>
                </a:solidFill>
                <a:latin typeface="Calibri" pitchFamily="34" charset="0"/>
                <a:ea typeface="Calibri" pitchFamily="34" charset="-122"/>
                <a:cs typeface="Calibri" pitchFamily="34" charset="-120"/>
              </a:rPr>
              <a:t>drink</a:t>
            </a:r>
            <a:r>
              <a:rPr lang="en-US" sz="1000" dirty="0">
                <a:solidFill>
                  <a:srgbClr val="262B3A"/>
                </a:solidFill>
                <a:latin typeface="Calibri" pitchFamily="34" charset="0"/>
                <a:ea typeface="Calibri" pitchFamily="34" charset="-122"/>
                <a:cs typeface="Calibri" pitchFamily="34" charset="-120"/>
              </a:rPr>
              <a:t>: water and salt levels change</a:t>
            </a:r>
            <a:endParaRPr lang="en-US" sz="1000" dirty="0"/>
          </a:p>
        </p:txBody>
      </p:sp>
      <p:sp>
        <p:nvSpPr>
          <p:cNvPr id="49" name="Shape 47"/>
          <p:cNvSpPr/>
          <p:nvPr/>
        </p:nvSpPr>
        <p:spPr>
          <a:xfrm flipV="1">
            <a:off x="2359152" y="4160520"/>
            <a:ext cx="338328" cy="91440"/>
          </a:xfrm>
          <a:prstGeom prst="line">
            <a:avLst/>
          </a:prstGeom>
          <a:noFill/>
          <a:ln w="22225">
            <a:solidFill>
              <a:srgbClr val="3B7DD8"/>
            </a:solidFill>
            <a:prstDash val="solid"/>
            <a:tailEnd type="triangle"/>
          </a:ln>
        </p:spPr>
      </p:sp>
      <p:sp>
        <p:nvSpPr>
          <p:cNvPr id="50" name="Shape 48"/>
          <p:cNvSpPr/>
          <p:nvPr/>
        </p:nvSpPr>
        <p:spPr>
          <a:xfrm>
            <a:off x="4069080" y="1600200"/>
            <a:ext cx="1783080" cy="914400"/>
          </a:xfrm>
          <a:prstGeom prst="roundRect">
            <a:avLst>
              <a:gd name="adj" fmla="val 6000"/>
            </a:avLst>
          </a:prstGeom>
          <a:solidFill>
            <a:srgbClr val="FFFFFF"/>
          </a:solidFill>
          <a:ln w="12700">
            <a:solidFill>
              <a:srgbClr val="B8730A"/>
            </a:solidFill>
            <a:prstDash val="solid"/>
          </a:ln>
        </p:spPr>
      </p:sp>
      <p:sp>
        <p:nvSpPr>
          <p:cNvPr id="51" name="Shape 49"/>
          <p:cNvSpPr/>
          <p:nvPr/>
        </p:nvSpPr>
        <p:spPr>
          <a:xfrm>
            <a:off x="4208983" y="1820753"/>
            <a:ext cx="268834" cy="107533"/>
          </a:xfrm>
          <a:prstGeom prst="ellipse">
            <a:avLst/>
          </a:prstGeom>
          <a:solidFill>
            <a:srgbClr val="F4B6B9"/>
          </a:solidFill>
          <a:ln w="15875">
            <a:solidFill>
              <a:srgbClr val="A33E48"/>
            </a:solidFill>
            <a:prstDash val="solid"/>
          </a:ln>
        </p:spPr>
      </p:sp>
      <p:sp>
        <p:nvSpPr>
          <p:cNvPr id="52" name="Shape 50"/>
          <p:cNvSpPr/>
          <p:nvPr/>
        </p:nvSpPr>
        <p:spPr>
          <a:xfrm>
            <a:off x="4266590" y="1839956"/>
            <a:ext cx="91" cy="69129"/>
          </a:xfrm>
          <a:prstGeom prst="line">
            <a:avLst/>
          </a:prstGeom>
          <a:noFill/>
          <a:ln w="9525">
            <a:solidFill>
              <a:srgbClr val="C76A72"/>
            </a:solidFill>
            <a:prstDash val="solid"/>
          </a:ln>
        </p:spPr>
      </p:sp>
      <p:sp>
        <p:nvSpPr>
          <p:cNvPr id="53" name="Shape 51"/>
          <p:cNvSpPr/>
          <p:nvPr/>
        </p:nvSpPr>
        <p:spPr>
          <a:xfrm>
            <a:off x="4304995" y="1839956"/>
            <a:ext cx="91" cy="69129"/>
          </a:xfrm>
          <a:prstGeom prst="line">
            <a:avLst/>
          </a:prstGeom>
          <a:noFill/>
          <a:ln w="9525">
            <a:solidFill>
              <a:srgbClr val="C76A72"/>
            </a:solidFill>
            <a:prstDash val="solid"/>
          </a:ln>
        </p:spPr>
      </p:sp>
      <p:sp>
        <p:nvSpPr>
          <p:cNvPr id="54" name="Shape 52"/>
          <p:cNvSpPr/>
          <p:nvPr/>
        </p:nvSpPr>
        <p:spPr>
          <a:xfrm>
            <a:off x="4343400" y="1839956"/>
            <a:ext cx="91" cy="69129"/>
          </a:xfrm>
          <a:prstGeom prst="line">
            <a:avLst/>
          </a:prstGeom>
          <a:noFill/>
          <a:ln w="9525">
            <a:solidFill>
              <a:srgbClr val="C76A72"/>
            </a:solidFill>
            <a:prstDash val="solid"/>
          </a:ln>
        </p:spPr>
      </p:sp>
      <p:sp>
        <p:nvSpPr>
          <p:cNvPr id="55" name="Shape 53"/>
          <p:cNvSpPr/>
          <p:nvPr/>
        </p:nvSpPr>
        <p:spPr>
          <a:xfrm>
            <a:off x="4381805" y="1839956"/>
            <a:ext cx="91" cy="69129"/>
          </a:xfrm>
          <a:prstGeom prst="line">
            <a:avLst/>
          </a:prstGeom>
          <a:noFill/>
          <a:ln w="9525">
            <a:solidFill>
              <a:srgbClr val="C76A72"/>
            </a:solidFill>
            <a:prstDash val="solid"/>
          </a:ln>
        </p:spPr>
      </p:sp>
      <p:sp>
        <p:nvSpPr>
          <p:cNvPr id="56" name="Shape 54"/>
          <p:cNvSpPr/>
          <p:nvPr/>
        </p:nvSpPr>
        <p:spPr>
          <a:xfrm>
            <a:off x="4420210" y="1839956"/>
            <a:ext cx="91" cy="69129"/>
          </a:xfrm>
          <a:prstGeom prst="line">
            <a:avLst/>
          </a:prstGeom>
          <a:noFill/>
          <a:ln w="9525">
            <a:solidFill>
              <a:srgbClr val="C76A72"/>
            </a:solidFill>
            <a:prstDash val="solid"/>
          </a:ln>
        </p:spPr>
      </p:sp>
      <p:sp>
        <p:nvSpPr>
          <p:cNvPr id="57" name="Text 55"/>
          <p:cNvSpPr/>
          <p:nvPr/>
        </p:nvSpPr>
        <p:spPr>
          <a:xfrm>
            <a:off x="4572000" y="1645920"/>
            <a:ext cx="1243584" cy="82296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Exercise: </a:t>
            </a:r>
            <a:r>
              <a:rPr lang="en-US" sz="1000" b="1" dirty="0">
                <a:solidFill>
                  <a:srgbClr val="262B3A"/>
                </a:solidFill>
                <a:latin typeface="Calibri" pitchFamily="34" charset="0"/>
                <a:ea typeface="Calibri" pitchFamily="34" charset="-122"/>
                <a:cs typeface="Calibri" pitchFamily="34" charset="-120"/>
              </a:rPr>
              <a:t>respiration</a:t>
            </a:r>
            <a:r>
              <a:rPr lang="en-US" sz="1000" dirty="0">
                <a:solidFill>
                  <a:srgbClr val="262B3A"/>
                </a:solidFill>
                <a:latin typeface="Calibri" pitchFamily="34" charset="0"/>
                <a:ea typeface="Calibri" pitchFamily="34" charset="-122"/>
                <a:cs typeface="Calibri" pitchFamily="34" charset="-120"/>
              </a:rPr>
              <a:t> in muscles releases heat</a:t>
            </a:r>
            <a:endParaRPr lang="en-US" sz="1000" dirty="0"/>
          </a:p>
        </p:txBody>
      </p:sp>
      <p:sp>
        <p:nvSpPr>
          <p:cNvPr id="58" name="Shape 56"/>
          <p:cNvSpPr/>
          <p:nvPr/>
        </p:nvSpPr>
        <p:spPr>
          <a:xfrm flipH="1">
            <a:off x="3703320" y="2057400"/>
            <a:ext cx="338328" cy="182880"/>
          </a:xfrm>
          <a:prstGeom prst="line">
            <a:avLst/>
          </a:prstGeom>
          <a:noFill/>
          <a:ln w="22225">
            <a:solidFill>
              <a:srgbClr val="B8730A"/>
            </a:solidFill>
            <a:prstDash val="solid"/>
            <a:tailEnd type="triangle"/>
          </a:ln>
        </p:spPr>
      </p:sp>
      <p:sp>
        <p:nvSpPr>
          <p:cNvPr id="59" name="Shape 57"/>
          <p:cNvSpPr/>
          <p:nvPr/>
        </p:nvSpPr>
        <p:spPr>
          <a:xfrm>
            <a:off x="4069080" y="2697480"/>
            <a:ext cx="1783080" cy="914400"/>
          </a:xfrm>
          <a:prstGeom prst="roundRect">
            <a:avLst>
              <a:gd name="adj" fmla="val 6000"/>
            </a:avLst>
          </a:prstGeom>
          <a:solidFill>
            <a:srgbClr val="FFFFFF"/>
          </a:solidFill>
          <a:ln w="12700">
            <a:solidFill>
              <a:srgbClr val="B8730A"/>
            </a:solidFill>
            <a:prstDash val="solid"/>
          </a:ln>
        </p:spPr>
      </p:sp>
      <p:sp>
        <p:nvSpPr>
          <p:cNvPr id="60" name="Text 58"/>
          <p:cNvSpPr/>
          <p:nvPr/>
        </p:nvSpPr>
        <p:spPr>
          <a:xfrm>
            <a:off x="4133088" y="2834640"/>
            <a:ext cx="438912" cy="256032"/>
          </a:xfrm>
          <a:prstGeom prst="rect">
            <a:avLst/>
          </a:prstGeom>
          <a:noFill/>
          <a:ln/>
        </p:spPr>
        <p:txBody>
          <a:bodyPr wrap="square" lIns="0" tIns="0" rIns="0" bIns="0" rtlCol="0" anchor="ctr"/>
          <a:lstStyle/>
          <a:p>
            <a:pPr algn="ctr" indent="0" marL="0">
              <a:buNone/>
            </a:pPr>
            <a:r>
              <a:rPr lang="en-US" sz="1100" b="1" dirty="0">
                <a:solidFill>
                  <a:srgbClr val="B8730A"/>
                </a:solidFill>
                <a:latin typeface="Calibri" pitchFamily="34" charset="0"/>
                <a:ea typeface="Calibri" pitchFamily="34" charset="-122"/>
                <a:cs typeface="Calibri" pitchFamily="34" charset="-120"/>
              </a:rPr>
              <a:t>CO₂</a:t>
            </a:r>
            <a:endParaRPr lang="en-US" sz="1100" dirty="0"/>
          </a:p>
        </p:txBody>
      </p:sp>
      <p:sp>
        <p:nvSpPr>
          <p:cNvPr id="61" name="Text 59"/>
          <p:cNvSpPr/>
          <p:nvPr/>
        </p:nvSpPr>
        <p:spPr>
          <a:xfrm>
            <a:off x="4572000" y="2743200"/>
            <a:ext cx="1243584" cy="82296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Respiration makes </a:t>
            </a:r>
            <a:r>
              <a:rPr lang="en-US" sz="1000" b="1" dirty="0">
                <a:solidFill>
                  <a:srgbClr val="262B3A"/>
                </a:solidFill>
                <a:latin typeface="Calibri" pitchFamily="34" charset="0"/>
                <a:ea typeface="Calibri" pitchFamily="34" charset="-122"/>
                <a:cs typeface="Calibri" pitchFamily="34" charset="-120"/>
              </a:rPr>
              <a:t>CO₂</a:t>
            </a:r>
            <a:r>
              <a:rPr lang="en-US" sz="1000" dirty="0">
                <a:solidFill>
                  <a:srgbClr val="262B3A"/>
                </a:solidFill>
                <a:latin typeface="Calibri" pitchFamily="34" charset="0"/>
                <a:ea typeface="Calibri" pitchFamily="34" charset="-122"/>
                <a:cs typeface="Calibri" pitchFamily="34" charset="-120"/>
              </a:rPr>
              <a:t>; it builds up in the blood</a:t>
            </a:r>
            <a:endParaRPr lang="en-US" sz="1000" dirty="0"/>
          </a:p>
        </p:txBody>
      </p:sp>
      <p:sp>
        <p:nvSpPr>
          <p:cNvPr id="62" name="Shape 60"/>
          <p:cNvSpPr/>
          <p:nvPr/>
        </p:nvSpPr>
        <p:spPr>
          <a:xfrm flipH="1">
            <a:off x="3703320" y="3154680"/>
            <a:ext cx="338328" cy="182880"/>
          </a:xfrm>
          <a:prstGeom prst="line">
            <a:avLst/>
          </a:prstGeom>
          <a:noFill/>
          <a:ln w="22225">
            <a:solidFill>
              <a:srgbClr val="B8730A"/>
            </a:solidFill>
            <a:prstDash val="solid"/>
            <a:tailEnd type="triangle"/>
          </a:ln>
        </p:spPr>
      </p:sp>
      <p:sp>
        <p:nvSpPr>
          <p:cNvPr id="63" name="Shape 61"/>
          <p:cNvSpPr/>
          <p:nvPr/>
        </p:nvSpPr>
        <p:spPr>
          <a:xfrm>
            <a:off x="4069080" y="3794760"/>
            <a:ext cx="1783080" cy="914400"/>
          </a:xfrm>
          <a:prstGeom prst="roundRect">
            <a:avLst>
              <a:gd name="adj" fmla="val 6000"/>
            </a:avLst>
          </a:prstGeom>
          <a:solidFill>
            <a:srgbClr val="FFFFFF"/>
          </a:solidFill>
          <a:ln w="12700">
            <a:solidFill>
              <a:srgbClr val="B8730A"/>
            </a:solidFill>
            <a:prstDash val="solid"/>
          </a:ln>
        </p:spPr>
      </p:sp>
      <p:sp>
        <p:nvSpPr>
          <p:cNvPr id="64" name="Shape 62"/>
          <p:cNvSpPr/>
          <p:nvPr/>
        </p:nvSpPr>
        <p:spPr>
          <a:xfrm>
            <a:off x="4259275" y="3977640"/>
            <a:ext cx="131674" cy="131674"/>
          </a:xfrm>
          <a:prstGeom prst="triangle">
            <a:avLst/>
          </a:prstGeom>
          <a:solidFill>
            <a:srgbClr val="5B9BD5"/>
          </a:solidFill>
          <a:ln w="6350">
            <a:solidFill>
              <a:srgbClr val="5B9BD5"/>
            </a:solidFill>
            <a:prstDash val="solid"/>
          </a:ln>
        </p:spPr>
      </p:sp>
      <p:sp>
        <p:nvSpPr>
          <p:cNvPr id="65" name="Shape 63"/>
          <p:cNvSpPr/>
          <p:nvPr/>
        </p:nvSpPr>
        <p:spPr>
          <a:xfrm>
            <a:off x="4257629" y="4058290"/>
            <a:ext cx="134965" cy="134965"/>
          </a:xfrm>
          <a:prstGeom prst="ellipse">
            <a:avLst/>
          </a:prstGeom>
          <a:solidFill>
            <a:srgbClr val="5B9BD5"/>
          </a:solidFill>
          <a:ln w="9525">
            <a:solidFill>
              <a:srgbClr val="5B9BD5"/>
            </a:solidFill>
            <a:prstDash val="solid"/>
          </a:ln>
        </p:spPr>
      </p:sp>
      <p:sp>
        <p:nvSpPr>
          <p:cNvPr id="66" name="Text 64"/>
          <p:cNvSpPr/>
          <p:nvPr/>
        </p:nvSpPr>
        <p:spPr>
          <a:xfrm>
            <a:off x="4572000" y="3840480"/>
            <a:ext cx="1243584" cy="82296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Sweating</a:t>
            </a:r>
            <a:r>
              <a:rPr lang="en-US" sz="1000" dirty="0">
                <a:solidFill>
                  <a:srgbClr val="262B3A"/>
                </a:solidFill>
                <a:latin typeface="Calibri" pitchFamily="34" charset="0"/>
                <a:ea typeface="Calibri" pitchFamily="34" charset="-122"/>
                <a:cs typeface="Calibri" pitchFamily="34" charset="-120"/>
              </a:rPr>
              <a:t> and breathing out </a:t>
            </a:r>
            <a:r>
              <a:rPr lang="en-US" sz="1000" b="1" dirty="0">
                <a:solidFill>
                  <a:srgbClr val="262B3A"/>
                </a:solidFill>
                <a:latin typeface="Calibri" pitchFamily="34" charset="0"/>
                <a:ea typeface="Calibri" pitchFamily="34" charset="-122"/>
                <a:cs typeface="Calibri" pitchFamily="34" charset="-120"/>
              </a:rPr>
              <a:t>lose water</a:t>
            </a:r>
            <a:endParaRPr lang="en-US" sz="1000" dirty="0"/>
          </a:p>
        </p:txBody>
      </p:sp>
      <p:sp>
        <p:nvSpPr>
          <p:cNvPr id="67" name="Shape 65"/>
          <p:cNvSpPr/>
          <p:nvPr/>
        </p:nvSpPr>
        <p:spPr>
          <a:xfrm flipH="1" flipV="1">
            <a:off x="3703320" y="4160520"/>
            <a:ext cx="338328" cy="91440"/>
          </a:xfrm>
          <a:prstGeom prst="line">
            <a:avLst/>
          </a:prstGeom>
          <a:noFill/>
          <a:ln w="22225">
            <a:solidFill>
              <a:srgbClr val="B8730A"/>
            </a:solidFill>
            <a:prstDash val="solid"/>
            <a:tailEnd type="triangle"/>
          </a:ln>
        </p:spPr>
      </p:sp>
      <p:sp>
        <p:nvSpPr>
          <p:cNvPr id="68" name="Shape 66"/>
          <p:cNvSpPr/>
          <p:nvPr/>
        </p:nvSpPr>
        <p:spPr>
          <a:xfrm>
            <a:off x="548640" y="4892040"/>
            <a:ext cx="5303520" cy="438912"/>
          </a:xfrm>
          <a:prstGeom prst="roundRect">
            <a:avLst>
              <a:gd name="adj" fmla="val 12500"/>
            </a:avLst>
          </a:prstGeom>
          <a:solidFill>
            <a:srgbClr val="0F3D3E"/>
          </a:solidFill>
          <a:ln/>
        </p:spPr>
      </p:sp>
      <p:sp>
        <p:nvSpPr>
          <p:cNvPr id="69" name="Text 67"/>
          <p:cNvSpPr/>
          <p:nvPr/>
        </p:nvSpPr>
        <p:spPr>
          <a:xfrm>
            <a:off x="640080" y="4892040"/>
            <a:ext cx="5120640" cy="43891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Homeostasis </a:t>
            </a:r>
            <a:r>
              <a:rPr lang="en-US" sz="1100" b="1" dirty="0">
                <a:solidFill>
                  <a:srgbClr val="FFFFFF"/>
                </a:solidFill>
                <a:latin typeface="Calibri" pitchFamily="34" charset="0"/>
                <a:ea typeface="Calibri" pitchFamily="34" charset="-122"/>
                <a:cs typeface="Calibri" pitchFamily="34" charset="-120"/>
              </a:rPr>
              <a:t>counteracts</a:t>
            </a:r>
            <a:r>
              <a:rPr lang="en-US" sz="1100" dirty="0">
                <a:solidFill>
                  <a:srgbClr val="FFFFFF"/>
                </a:solidFill>
                <a:latin typeface="Calibri" pitchFamily="34" charset="0"/>
                <a:ea typeface="Calibri" pitchFamily="34" charset="-122"/>
                <a:cs typeface="Calibri" pitchFamily="34" charset="-120"/>
              </a:rPr>
              <a:t> these changes so conditions stay close to normal</a:t>
            </a:r>
            <a:endParaRPr lang="en-US" sz="1100" dirty="0"/>
          </a:p>
        </p:txBody>
      </p:sp>
      <p:sp>
        <p:nvSpPr>
          <p:cNvPr id="70" name="Shape 68"/>
          <p:cNvSpPr/>
          <p:nvPr/>
        </p:nvSpPr>
        <p:spPr>
          <a:xfrm>
            <a:off x="6217920" y="1188720"/>
            <a:ext cx="5562295" cy="2514600"/>
          </a:xfrm>
          <a:prstGeom prst="roundRect">
            <a:avLst>
              <a:gd name="adj" fmla="val 2182"/>
            </a:avLst>
          </a:prstGeom>
          <a:solidFill>
            <a:srgbClr val="F4FAF9"/>
          </a:solidFill>
          <a:ln w="9525">
            <a:solidFill>
              <a:srgbClr val="CFE0DE"/>
            </a:solidFill>
            <a:prstDash val="solid"/>
          </a:ln>
        </p:spPr>
      </p:sp>
      <p:sp>
        <p:nvSpPr>
          <p:cNvPr id="71" name="Text 6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What changes conditions?</a:t>
            </a:r>
            <a:endParaRPr lang="en-US" sz="1300" dirty="0"/>
          </a:p>
        </p:txBody>
      </p:sp>
      <p:sp>
        <p:nvSpPr>
          <p:cNvPr id="72" name="Text 70"/>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External</a:t>
            </a:r>
            <a:r>
              <a:rPr lang="en-US" sz="1200" dirty="0">
                <a:solidFill>
                  <a:srgbClr val="262B3A"/>
                </a:solidFill>
                <a:latin typeface="Calibri" pitchFamily="34" charset="0"/>
                <a:ea typeface="Calibri" pitchFamily="34" charset="-122"/>
                <a:cs typeface="Calibri" pitchFamily="34" charset="-120"/>
              </a:rPr>
              <a:t> changes come from the surroundings, e.g. air temperature, what you eat and drink.</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Internal</a:t>
            </a:r>
            <a:r>
              <a:rPr lang="en-US" sz="1200" dirty="0">
                <a:solidFill>
                  <a:srgbClr val="262B3A"/>
                </a:solidFill>
                <a:latin typeface="Calibri" pitchFamily="34" charset="0"/>
                <a:ea typeface="Calibri" pitchFamily="34" charset="-122"/>
                <a:cs typeface="Calibri" pitchFamily="34" charset="-120"/>
              </a:rPr>
              <a:t> changes come from the body's own activity, e.g. </a:t>
            </a:r>
            <a:r>
              <a:rPr lang="en-US" sz="1200" b="1" dirty="0">
                <a:solidFill>
                  <a:srgbClr val="262B3A"/>
                </a:solidFill>
                <a:latin typeface="Calibri" pitchFamily="34" charset="0"/>
                <a:ea typeface="Calibri" pitchFamily="34" charset="-122"/>
                <a:cs typeface="Calibri" pitchFamily="34" charset="-120"/>
              </a:rPr>
              <a:t>respiration</a:t>
            </a:r>
            <a:r>
              <a:rPr lang="en-US" sz="1200" dirty="0">
                <a:solidFill>
                  <a:srgbClr val="262B3A"/>
                </a:solidFill>
                <a:latin typeface="Calibri" pitchFamily="34" charset="0"/>
                <a:ea typeface="Calibri" pitchFamily="34" charset="-122"/>
                <a:cs typeface="Calibri" pitchFamily="34" charset="-120"/>
              </a:rPr>
              <a:t> releases heat and makes CO₂; water is lost in sweat, breath and urine.</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Many changes happen at once, e.g. during exercise on a hot day.</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The body must </a:t>
            </a:r>
            <a:r>
              <a:rPr lang="en-US" sz="1200" b="1" dirty="0">
                <a:solidFill>
                  <a:srgbClr val="262B3A"/>
                </a:solidFill>
                <a:latin typeface="Calibri" pitchFamily="34" charset="0"/>
                <a:ea typeface="Calibri" pitchFamily="34" charset="-122"/>
                <a:cs typeface="Calibri" pitchFamily="34" charset="-120"/>
              </a:rPr>
              <a:t>detect</a:t>
            </a:r>
            <a:r>
              <a:rPr lang="en-US" sz="1200" dirty="0">
                <a:solidFill>
                  <a:srgbClr val="262B3A"/>
                </a:solidFill>
                <a:latin typeface="Calibri" pitchFamily="34" charset="0"/>
                <a:ea typeface="Calibri" pitchFamily="34" charset="-122"/>
                <a:cs typeface="Calibri" pitchFamily="34" charset="-120"/>
              </a:rPr>
              <a:t> each change and </a:t>
            </a:r>
            <a:r>
              <a:rPr lang="en-US" sz="1200" b="1" dirty="0">
                <a:solidFill>
                  <a:srgbClr val="262B3A"/>
                </a:solidFill>
                <a:latin typeface="Calibri" pitchFamily="34" charset="0"/>
                <a:ea typeface="Calibri" pitchFamily="34" charset="-122"/>
                <a:cs typeface="Calibri" pitchFamily="34" charset="-120"/>
              </a:rPr>
              <a:t>respond</a:t>
            </a:r>
            <a:r>
              <a:rPr lang="en-US" sz="1200" dirty="0">
                <a:solidFill>
                  <a:srgbClr val="262B3A"/>
                </a:solidFill>
                <a:latin typeface="Calibri" pitchFamily="34" charset="0"/>
                <a:ea typeface="Calibri" pitchFamily="34" charset="-122"/>
                <a:cs typeface="Calibri" pitchFamily="34" charset="-120"/>
              </a:rPr>
              <a:t> to cancel it out.</a:t>
            </a:r>
            <a:endParaRPr lang="en-US" sz="1200" dirty="0"/>
          </a:p>
        </p:txBody>
      </p:sp>
      <p:sp>
        <p:nvSpPr>
          <p:cNvPr id="73" name="Shape 71"/>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74" name="Text 72"/>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water balance</a:t>
            </a:r>
            <a:endParaRPr lang="en-US" sz="1300" dirty="0"/>
          </a:p>
        </p:txBody>
      </p:sp>
      <p:sp>
        <p:nvSpPr>
          <p:cNvPr id="75" name="Text 73"/>
          <p:cNvSpPr/>
          <p:nvPr/>
        </p:nvSpPr>
        <p:spPr>
          <a:xfrm>
            <a:off x="6382512" y="4224528"/>
            <a:ext cx="5233111"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Each day water in = drinks 1.5 + food 0.7 + respiration 0.3 L; out = urine 1.5 + sweat 0.5 + breath 0.4 + faeces 0.1 L. On a hot day sweat rises to 1.5 L. How much more must be drunk?</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Normal   </a:t>
            </a:r>
            <a:r>
              <a:rPr lang="en-US" sz="1050" dirty="0">
                <a:solidFill>
                  <a:srgbClr val="262B3A"/>
                </a:solidFill>
                <a:latin typeface="Calibri" pitchFamily="34" charset="0"/>
                <a:ea typeface="Calibri" pitchFamily="34" charset="-122"/>
                <a:cs typeface="Calibri" pitchFamily="34" charset="-120"/>
              </a:rPr>
              <a:t>in 2.5 L = out 2.5 L: balanced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Change   </a:t>
            </a:r>
            <a:r>
              <a:rPr lang="en-US" sz="1050" dirty="0">
                <a:solidFill>
                  <a:srgbClr val="262B3A"/>
                </a:solidFill>
                <a:latin typeface="Calibri" pitchFamily="34" charset="0"/>
                <a:ea typeface="Calibri" pitchFamily="34" charset="-122"/>
                <a:cs typeface="Calibri" pitchFamily="34" charset="-120"/>
              </a:rPr>
              <a:t>sweat 1.5 − 0.5 = 1 L more lost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drink about 1 L more (if nothing else changes)</a:t>
            </a:r>
            <a:endParaRPr lang="en-US" sz="1050" dirty="0"/>
          </a:p>
        </p:txBody>
      </p:sp>
      <p:sp>
        <p:nvSpPr>
          <p:cNvPr id="76" name="Shape 74"/>
          <p:cNvSpPr/>
          <p:nvPr/>
        </p:nvSpPr>
        <p:spPr>
          <a:xfrm>
            <a:off x="411480" y="5833872"/>
            <a:ext cx="11368735" cy="530352"/>
          </a:xfrm>
          <a:prstGeom prst="rect">
            <a:avLst/>
          </a:prstGeom>
          <a:solidFill>
            <a:srgbClr val="FFF4E0"/>
          </a:solidFill>
          <a:ln w="6350">
            <a:solidFill>
              <a:srgbClr val="F1D9A8"/>
            </a:solidFill>
            <a:prstDash val="solid"/>
          </a:ln>
        </p:spPr>
      </p:sp>
      <p:sp>
        <p:nvSpPr>
          <p:cNvPr id="77" name="Shape 75"/>
          <p:cNvSpPr/>
          <p:nvPr/>
        </p:nvSpPr>
        <p:spPr>
          <a:xfrm>
            <a:off x="411480" y="5833872"/>
            <a:ext cx="82296" cy="530352"/>
          </a:xfrm>
          <a:prstGeom prst="rect">
            <a:avLst/>
          </a:prstGeom>
          <a:solidFill>
            <a:srgbClr val="E39A2F"/>
          </a:solidFill>
          <a:ln w="12700">
            <a:solidFill>
              <a:srgbClr val="E39A2F"/>
            </a:solidFill>
            <a:prstDash val="solid"/>
          </a:ln>
        </p:spPr>
      </p:sp>
      <p:sp>
        <p:nvSpPr>
          <p:cNvPr id="78" name="Text 7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Classify each as an </a:t>
            </a:r>
            <a:r>
              <a:rPr lang="en-US" sz="1150" b="1" dirty="0">
                <a:solidFill>
                  <a:srgbClr val="262B3A"/>
                </a:solidFill>
                <a:latin typeface="Calibri" pitchFamily="34" charset="0"/>
                <a:ea typeface="Calibri" pitchFamily="34" charset="-122"/>
                <a:cs typeface="Calibri" pitchFamily="34" charset="-120"/>
              </a:rPr>
              <a:t>internal</a:t>
            </a:r>
            <a:r>
              <a:rPr lang="en-US" sz="1150" dirty="0">
                <a:solidFill>
                  <a:srgbClr val="262B3A"/>
                </a:solidFill>
                <a:latin typeface="Calibri" pitchFamily="34" charset="0"/>
                <a:ea typeface="Calibri" pitchFamily="34" charset="-122"/>
                <a:cs typeface="Calibri" pitchFamily="34" charset="-120"/>
              </a:rPr>
              <a:t> or </a:t>
            </a:r>
            <a:r>
              <a:rPr lang="en-US" sz="1150" b="1" dirty="0">
                <a:solidFill>
                  <a:srgbClr val="262B3A"/>
                </a:solidFill>
                <a:latin typeface="Calibri" pitchFamily="34" charset="0"/>
                <a:ea typeface="Calibri" pitchFamily="34" charset="-122"/>
                <a:cs typeface="Calibri" pitchFamily="34" charset="-120"/>
              </a:rPr>
              <a:t>external</a:t>
            </a:r>
            <a:r>
              <a:rPr lang="en-US" sz="1150" dirty="0">
                <a:solidFill>
                  <a:srgbClr val="262B3A"/>
                </a:solidFill>
                <a:latin typeface="Calibri" pitchFamily="34" charset="0"/>
                <a:ea typeface="Calibri" pitchFamily="34" charset="-122"/>
                <a:cs typeface="Calibri" pitchFamily="34" charset="-120"/>
              </a:rPr>
              <a:t> change: (a) running a race (b) sitting in a cold wind (c) eating crisps (d) a fever caused by an infection.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the internal environment and changes to it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a:t>
            </a:r>
            <a:r>
              <a:rPr lang="en-US" sz="1250" b="1" dirty="0">
                <a:solidFill>
                  <a:srgbClr val="262B3A"/>
                </a:solidFill>
                <a:latin typeface="Calibri" pitchFamily="34" charset="0"/>
                <a:ea typeface="Calibri" pitchFamily="34" charset="-122"/>
                <a:cs typeface="Calibri" pitchFamily="34" charset="-120"/>
              </a:rPr>
              <a:t>homeostasis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three</a:t>
            </a:r>
            <a:r>
              <a:rPr lang="en-US" sz="1250" dirty="0">
                <a:solidFill>
                  <a:srgbClr val="262B3A"/>
                </a:solidFill>
                <a:latin typeface="Calibri" pitchFamily="34" charset="0"/>
                <a:ea typeface="Calibri" pitchFamily="34" charset="-122"/>
                <a:cs typeface="Calibri" pitchFamily="34" charset="-120"/>
              </a:rPr>
              <a:t> conditions in the internal environment that the body keeps constant.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internal change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external change that could raise body temperature.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exercise increases the amount of </a:t>
            </a:r>
            <a:r>
              <a:rPr lang="en-US" sz="1250" b="1" dirty="0">
                <a:solidFill>
                  <a:srgbClr val="262B3A"/>
                </a:solidFill>
                <a:latin typeface="Calibri" pitchFamily="34" charset="0"/>
                <a:ea typeface="Calibri" pitchFamily="34" charset="-122"/>
                <a:cs typeface="Calibri" pitchFamily="34" charset="-120"/>
              </a:rPr>
              <a:t>carbon dioxide</a:t>
            </a:r>
            <a:r>
              <a:rPr lang="en-US" sz="1250" dirty="0">
                <a:solidFill>
                  <a:srgbClr val="262B3A"/>
                </a:solidFill>
                <a:latin typeface="Calibri" pitchFamily="34" charset="0"/>
                <a:ea typeface="Calibri" pitchFamily="34" charset="-122"/>
                <a:cs typeface="Calibri" pitchFamily="34" charset="-120"/>
              </a:rPr>
              <a:t> in the blood.</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Why keep conditions constant? Enzymes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enzymes, and so cells, work best in a narrow range of conditions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B5.4.1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activity of a typical human enzyme; graph plotted to scale from the data points</a:t>
            </a:r>
            <a:endParaRPr lang="en-US" sz="1000" dirty="0"/>
          </a:p>
        </p:txBody>
      </p:sp>
      <p:sp>
        <p:nvSpPr>
          <p:cNvPr id="10" name="Shape 8"/>
          <p:cNvSpPr/>
          <p:nvPr/>
        </p:nvSpPr>
        <p:spPr>
          <a:xfrm>
            <a:off x="3821430" y="1508760"/>
            <a:ext cx="369570" cy="3154680"/>
          </a:xfrm>
          <a:prstGeom prst="rect">
            <a:avLst/>
          </a:prstGeom>
          <a:solidFill>
            <a:srgbClr val="D8F0E2"/>
          </a:solidFill>
          <a:ln/>
        </p:spPr>
      </p:sp>
      <p:sp>
        <p:nvSpPr>
          <p:cNvPr id="11" name="Shape 9"/>
          <p:cNvSpPr/>
          <p:nvPr/>
        </p:nvSpPr>
        <p:spPr>
          <a:xfrm>
            <a:off x="1234440" y="1508760"/>
            <a:ext cx="4434840" cy="3154680"/>
          </a:xfrm>
          <a:prstGeom prst="rect">
            <a:avLst/>
          </a:prstGeom>
          <a:solidFill>
            <a:srgbClr val="FFFFFF"/>
          </a:solidFill>
          <a:ln/>
        </p:spPr>
      </p:sp>
      <p:sp>
        <p:nvSpPr>
          <p:cNvPr id="12" name="Shape 10"/>
          <p:cNvSpPr/>
          <p:nvPr/>
        </p:nvSpPr>
        <p:spPr>
          <a:xfrm>
            <a:off x="1234440" y="1508760"/>
            <a:ext cx="91" cy="3154680"/>
          </a:xfrm>
          <a:prstGeom prst="line">
            <a:avLst/>
          </a:prstGeom>
          <a:noFill/>
          <a:ln w="6350">
            <a:solidFill>
              <a:srgbClr val="C5DCD9"/>
            </a:solidFill>
            <a:prstDash val="solid"/>
          </a:ln>
        </p:spPr>
      </p:sp>
      <p:sp>
        <p:nvSpPr>
          <p:cNvPr id="13" name="Shape 11"/>
          <p:cNvSpPr/>
          <p:nvPr/>
        </p:nvSpPr>
        <p:spPr>
          <a:xfrm>
            <a:off x="1604010" y="1508760"/>
            <a:ext cx="91" cy="3154680"/>
          </a:xfrm>
          <a:prstGeom prst="line">
            <a:avLst/>
          </a:prstGeom>
          <a:noFill/>
          <a:ln w="6350">
            <a:solidFill>
              <a:srgbClr val="E3EFED"/>
            </a:solidFill>
            <a:prstDash val="solid"/>
          </a:ln>
        </p:spPr>
      </p:sp>
      <p:sp>
        <p:nvSpPr>
          <p:cNvPr id="14" name="Shape 12"/>
          <p:cNvSpPr/>
          <p:nvPr/>
        </p:nvSpPr>
        <p:spPr>
          <a:xfrm>
            <a:off x="1973580" y="1508760"/>
            <a:ext cx="91" cy="3154680"/>
          </a:xfrm>
          <a:prstGeom prst="line">
            <a:avLst/>
          </a:prstGeom>
          <a:noFill/>
          <a:ln w="6350">
            <a:solidFill>
              <a:srgbClr val="C5DCD9"/>
            </a:solidFill>
            <a:prstDash val="solid"/>
          </a:ln>
        </p:spPr>
      </p:sp>
      <p:sp>
        <p:nvSpPr>
          <p:cNvPr id="15" name="Shape 13"/>
          <p:cNvSpPr/>
          <p:nvPr/>
        </p:nvSpPr>
        <p:spPr>
          <a:xfrm>
            <a:off x="2343150" y="1508760"/>
            <a:ext cx="91" cy="3154680"/>
          </a:xfrm>
          <a:prstGeom prst="line">
            <a:avLst/>
          </a:prstGeom>
          <a:noFill/>
          <a:ln w="6350">
            <a:solidFill>
              <a:srgbClr val="E3EFED"/>
            </a:solidFill>
            <a:prstDash val="solid"/>
          </a:ln>
        </p:spPr>
      </p:sp>
      <p:sp>
        <p:nvSpPr>
          <p:cNvPr id="16" name="Shape 14"/>
          <p:cNvSpPr/>
          <p:nvPr/>
        </p:nvSpPr>
        <p:spPr>
          <a:xfrm>
            <a:off x="2712720" y="1508760"/>
            <a:ext cx="91" cy="3154680"/>
          </a:xfrm>
          <a:prstGeom prst="line">
            <a:avLst/>
          </a:prstGeom>
          <a:noFill/>
          <a:ln w="6350">
            <a:solidFill>
              <a:srgbClr val="C5DCD9"/>
            </a:solidFill>
            <a:prstDash val="solid"/>
          </a:ln>
        </p:spPr>
      </p:sp>
      <p:sp>
        <p:nvSpPr>
          <p:cNvPr id="17" name="Shape 15"/>
          <p:cNvSpPr/>
          <p:nvPr/>
        </p:nvSpPr>
        <p:spPr>
          <a:xfrm>
            <a:off x="3082290" y="1508760"/>
            <a:ext cx="91" cy="3154680"/>
          </a:xfrm>
          <a:prstGeom prst="line">
            <a:avLst/>
          </a:prstGeom>
          <a:noFill/>
          <a:ln w="6350">
            <a:solidFill>
              <a:srgbClr val="E3EFED"/>
            </a:solidFill>
            <a:prstDash val="solid"/>
          </a:ln>
        </p:spPr>
      </p:sp>
      <p:sp>
        <p:nvSpPr>
          <p:cNvPr id="18" name="Shape 16"/>
          <p:cNvSpPr/>
          <p:nvPr/>
        </p:nvSpPr>
        <p:spPr>
          <a:xfrm>
            <a:off x="3451860" y="1508760"/>
            <a:ext cx="91" cy="3154680"/>
          </a:xfrm>
          <a:prstGeom prst="line">
            <a:avLst/>
          </a:prstGeom>
          <a:noFill/>
          <a:ln w="6350">
            <a:solidFill>
              <a:srgbClr val="C5DCD9"/>
            </a:solidFill>
            <a:prstDash val="solid"/>
          </a:ln>
        </p:spPr>
      </p:sp>
      <p:sp>
        <p:nvSpPr>
          <p:cNvPr id="19" name="Shape 17"/>
          <p:cNvSpPr/>
          <p:nvPr/>
        </p:nvSpPr>
        <p:spPr>
          <a:xfrm>
            <a:off x="3821430" y="1508760"/>
            <a:ext cx="91" cy="3154680"/>
          </a:xfrm>
          <a:prstGeom prst="line">
            <a:avLst/>
          </a:prstGeom>
          <a:noFill/>
          <a:ln w="6350">
            <a:solidFill>
              <a:srgbClr val="E3EFED"/>
            </a:solidFill>
            <a:prstDash val="solid"/>
          </a:ln>
        </p:spPr>
      </p:sp>
      <p:sp>
        <p:nvSpPr>
          <p:cNvPr id="20" name="Shape 18"/>
          <p:cNvSpPr/>
          <p:nvPr/>
        </p:nvSpPr>
        <p:spPr>
          <a:xfrm>
            <a:off x="4191000" y="1508760"/>
            <a:ext cx="91" cy="3154680"/>
          </a:xfrm>
          <a:prstGeom prst="line">
            <a:avLst/>
          </a:prstGeom>
          <a:noFill/>
          <a:ln w="6350">
            <a:solidFill>
              <a:srgbClr val="C5DCD9"/>
            </a:solidFill>
            <a:prstDash val="solid"/>
          </a:ln>
        </p:spPr>
      </p:sp>
      <p:sp>
        <p:nvSpPr>
          <p:cNvPr id="21" name="Shape 19"/>
          <p:cNvSpPr/>
          <p:nvPr/>
        </p:nvSpPr>
        <p:spPr>
          <a:xfrm>
            <a:off x="4560570" y="1508760"/>
            <a:ext cx="91" cy="3154680"/>
          </a:xfrm>
          <a:prstGeom prst="line">
            <a:avLst/>
          </a:prstGeom>
          <a:noFill/>
          <a:ln w="6350">
            <a:solidFill>
              <a:srgbClr val="E3EFED"/>
            </a:solidFill>
            <a:prstDash val="solid"/>
          </a:ln>
        </p:spPr>
      </p:sp>
      <p:sp>
        <p:nvSpPr>
          <p:cNvPr id="22" name="Shape 20"/>
          <p:cNvSpPr/>
          <p:nvPr/>
        </p:nvSpPr>
        <p:spPr>
          <a:xfrm>
            <a:off x="4930140" y="1508760"/>
            <a:ext cx="91" cy="3154680"/>
          </a:xfrm>
          <a:prstGeom prst="line">
            <a:avLst/>
          </a:prstGeom>
          <a:noFill/>
          <a:ln w="6350">
            <a:solidFill>
              <a:srgbClr val="C5DCD9"/>
            </a:solidFill>
            <a:prstDash val="solid"/>
          </a:ln>
        </p:spPr>
      </p:sp>
      <p:sp>
        <p:nvSpPr>
          <p:cNvPr id="23" name="Shape 21"/>
          <p:cNvSpPr/>
          <p:nvPr/>
        </p:nvSpPr>
        <p:spPr>
          <a:xfrm>
            <a:off x="5299710" y="1508760"/>
            <a:ext cx="91" cy="3154680"/>
          </a:xfrm>
          <a:prstGeom prst="line">
            <a:avLst/>
          </a:prstGeom>
          <a:noFill/>
          <a:ln w="6350">
            <a:solidFill>
              <a:srgbClr val="E3EFED"/>
            </a:solidFill>
            <a:prstDash val="solid"/>
          </a:ln>
        </p:spPr>
      </p:sp>
      <p:sp>
        <p:nvSpPr>
          <p:cNvPr id="24" name="Shape 22"/>
          <p:cNvSpPr/>
          <p:nvPr/>
        </p:nvSpPr>
        <p:spPr>
          <a:xfrm>
            <a:off x="5669280" y="1508760"/>
            <a:ext cx="91" cy="3154680"/>
          </a:xfrm>
          <a:prstGeom prst="line">
            <a:avLst/>
          </a:prstGeom>
          <a:noFill/>
          <a:ln w="6350">
            <a:solidFill>
              <a:srgbClr val="C5DCD9"/>
            </a:solidFill>
            <a:prstDash val="solid"/>
          </a:ln>
        </p:spPr>
      </p:sp>
      <p:sp>
        <p:nvSpPr>
          <p:cNvPr id="25" name="Shape 23"/>
          <p:cNvSpPr/>
          <p:nvPr/>
        </p:nvSpPr>
        <p:spPr>
          <a:xfrm>
            <a:off x="1234440" y="4663440"/>
            <a:ext cx="4434840" cy="91"/>
          </a:xfrm>
          <a:prstGeom prst="line">
            <a:avLst/>
          </a:prstGeom>
          <a:noFill/>
          <a:ln w="6350">
            <a:solidFill>
              <a:srgbClr val="C5DCD9"/>
            </a:solidFill>
            <a:prstDash val="solid"/>
          </a:ln>
        </p:spPr>
      </p:sp>
      <p:sp>
        <p:nvSpPr>
          <p:cNvPr id="26" name="Shape 24"/>
          <p:cNvSpPr/>
          <p:nvPr/>
        </p:nvSpPr>
        <p:spPr>
          <a:xfrm>
            <a:off x="1234440" y="4347972"/>
            <a:ext cx="4434840" cy="91"/>
          </a:xfrm>
          <a:prstGeom prst="line">
            <a:avLst/>
          </a:prstGeom>
          <a:noFill/>
          <a:ln w="6350">
            <a:solidFill>
              <a:srgbClr val="E3EFED"/>
            </a:solidFill>
            <a:prstDash val="solid"/>
          </a:ln>
        </p:spPr>
      </p:sp>
      <p:sp>
        <p:nvSpPr>
          <p:cNvPr id="27" name="Shape 25"/>
          <p:cNvSpPr/>
          <p:nvPr/>
        </p:nvSpPr>
        <p:spPr>
          <a:xfrm>
            <a:off x="1234440" y="4032504"/>
            <a:ext cx="4434840" cy="91"/>
          </a:xfrm>
          <a:prstGeom prst="line">
            <a:avLst/>
          </a:prstGeom>
          <a:noFill/>
          <a:ln w="6350">
            <a:solidFill>
              <a:srgbClr val="C5DCD9"/>
            </a:solidFill>
            <a:prstDash val="solid"/>
          </a:ln>
        </p:spPr>
      </p:sp>
      <p:sp>
        <p:nvSpPr>
          <p:cNvPr id="28" name="Shape 26"/>
          <p:cNvSpPr/>
          <p:nvPr/>
        </p:nvSpPr>
        <p:spPr>
          <a:xfrm>
            <a:off x="1234440" y="3717036"/>
            <a:ext cx="4434840" cy="91"/>
          </a:xfrm>
          <a:prstGeom prst="line">
            <a:avLst/>
          </a:prstGeom>
          <a:noFill/>
          <a:ln w="6350">
            <a:solidFill>
              <a:srgbClr val="E3EFED"/>
            </a:solidFill>
            <a:prstDash val="solid"/>
          </a:ln>
        </p:spPr>
      </p:sp>
      <p:sp>
        <p:nvSpPr>
          <p:cNvPr id="29" name="Shape 27"/>
          <p:cNvSpPr/>
          <p:nvPr/>
        </p:nvSpPr>
        <p:spPr>
          <a:xfrm>
            <a:off x="1234440" y="3401568"/>
            <a:ext cx="4434840" cy="91"/>
          </a:xfrm>
          <a:prstGeom prst="line">
            <a:avLst/>
          </a:prstGeom>
          <a:noFill/>
          <a:ln w="6350">
            <a:solidFill>
              <a:srgbClr val="C5DCD9"/>
            </a:solidFill>
            <a:prstDash val="solid"/>
          </a:ln>
        </p:spPr>
      </p:sp>
      <p:sp>
        <p:nvSpPr>
          <p:cNvPr id="30" name="Shape 28"/>
          <p:cNvSpPr/>
          <p:nvPr/>
        </p:nvSpPr>
        <p:spPr>
          <a:xfrm>
            <a:off x="1234440" y="3086100"/>
            <a:ext cx="4434840" cy="91"/>
          </a:xfrm>
          <a:prstGeom prst="line">
            <a:avLst/>
          </a:prstGeom>
          <a:noFill/>
          <a:ln w="6350">
            <a:solidFill>
              <a:srgbClr val="E3EFED"/>
            </a:solidFill>
            <a:prstDash val="solid"/>
          </a:ln>
        </p:spPr>
      </p:sp>
      <p:sp>
        <p:nvSpPr>
          <p:cNvPr id="31" name="Shape 29"/>
          <p:cNvSpPr/>
          <p:nvPr/>
        </p:nvSpPr>
        <p:spPr>
          <a:xfrm>
            <a:off x="1234440" y="2770632"/>
            <a:ext cx="4434840" cy="91"/>
          </a:xfrm>
          <a:prstGeom prst="line">
            <a:avLst/>
          </a:prstGeom>
          <a:noFill/>
          <a:ln w="6350">
            <a:solidFill>
              <a:srgbClr val="C5DCD9"/>
            </a:solidFill>
            <a:prstDash val="solid"/>
          </a:ln>
        </p:spPr>
      </p:sp>
      <p:sp>
        <p:nvSpPr>
          <p:cNvPr id="32" name="Shape 30"/>
          <p:cNvSpPr/>
          <p:nvPr/>
        </p:nvSpPr>
        <p:spPr>
          <a:xfrm>
            <a:off x="1234440" y="2455164"/>
            <a:ext cx="4434840" cy="91"/>
          </a:xfrm>
          <a:prstGeom prst="line">
            <a:avLst/>
          </a:prstGeom>
          <a:noFill/>
          <a:ln w="6350">
            <a:solidFill>
              <a:srgbClr val="E3EFED"/>
            </a:solidFill>
            <a:prstDash val="solid"/>
          </a:ln>
        </p:spPr>
      </p:sp>
      <p:sp>
        <p:nvSpPr>
          <p:cNvPr id="33" name="Shape 31"/>
          <p:cNvSpPr/>
          <p:nvPr/>
        </p:nvSpPr>
        <p:spPr>
          <a:xfrm>
            <a:off x="1234440" y="2139696"/>
            <a:ext cx="4434840" cy="91"/>
          </a:xfrm>
          <a:prstGeom prst="line">
            <a:avLst/>
          </a:prstGeom>
          <a:noFill/>
          <a:ln w="6350">
            <a:solidFill>
              <a:srgbClr val="C5DCD9"/>
            </a:solidFill>
            <a:prstDash val="solid"/>
          </a:ln>
        </p:spPr>
      </p:sp>
      <p:sp>
        <p:nvSpPr>
          <p:cNvPr id="34" name="Shape 32"/>
          <p:cNvSpPr/>
          <p:nvPr/>
        </p:nvSpPr>
        <p:spPr>
          <a:xfrm>
            <a:off x="1234440" y="1824228"/>
            <a:ext cx="4434840" cy="91"/>
          </a:xfrm>
          <a:prstGeom prst="line">
            <a:avLst/>
          </a:prstGeom>
          <a:noFill/>
          <a:ln w="6350">
            <a:solidFill>
              <a:srgbClr val="E3EFED"/>
            </a:solidFill>
            <a:prstDash val="solid"/>
          </a:ln>
        </p:spPr>
      </p:sp>
      <p:sp>
        <p:nvSpPr>
          <p:cNvPr id="35" name="Shape 33"/>
          <p:cNvSpPr/>
          <p:nvPr/>
        </p:nvSpPr>
        <p:spPr>
          <a:xfrm>
            <a:off x="1234440" y="1508760"/>
            <a:ext cx="4434840" cy="91"/>
          </a:xfrm>
          <a:prstGeom prst="line">
            <a:avLst/>
          </a:prstGeom>
          <a:noFill/>
          <a:ln w="6350">
            <a:solidFill>
              <a:srgbClr val="C5DCD9"/>
            </a:solidFill>
            <a:prstDash val="solid"/>
          </a:ln>
        </p:spPr>
      </p:sp>
      <p:sp>
        <p:nvSpPr>
          <p:cNvPr id="36" name="Shape 34"/>
          <p:cNvSpPr/>
          <p:nvPr/>
        </p:nvSpPr>
        <p:spPr>
          <a:xfrm>
            <a:off x="1234440" y="4663440"/>
            <a:ext cx="4434840" cy="91"/>
          </a:xfrm>
          <a:prstGeom prst="line">
            <a:avLst/>
          </a:prstGeom>
          <a:noFill/>
          <a:ln w="19050">
            <a:solidFill>
              <a:srgbClr val="133536"/>
            </a:solidFill>
            <a:prstDash val="solid"/>
          </a:ln>
        </p:spPr>
      </p:sp>
      <p:sp>
        <p:nvSpPr>
          <p:cNvPr id="37" name="Shape 35"/>
          <p:cNvSpPr/>
          <p:nvPr/>
        </p:nvSpPr>
        <p:spPr>
          <a:xfrm flipV="1">
            <a:off x="1234440" y="1508760"/>
            <a:ext cx="91" cy="3154680"/>
          </a:xfrm>
          <a:prstGeom prst="line">
            <a:avLst/>
          </a:prstGeom>
          <a:noFill/>
          <a:ln w="19050">
            <a:solidFill>
              <a:srgbClr val="133536"/>
            </a:solidFill>
            <a:prstDash val="solid"/>
          </a:ln>
        </p:spPr>
      </p:sp>
      <p:sp>
        <p:nvSpPr>
          <p:cNvPr id="38" name="Shape 36"/>
          <p:cNvSpPr/>
          <p:nvPr/>
        </p:nvSpPr>
        <p:spPr>
          <a:xfrm>
            <a:off x="1234440" y="4663440"/>
            <a:ext cx="91" cy="54864"/>
          </a:xfrm>
          <a:prstGeom prst="line">
            <a:avLst/>
          </a:prstGeom>
          <a:noFill/>
          <a:ln w="12700">
            <a:solidFill>
              <a:srgbClr val="133536"/>
            </a:solidFill>
            <a:prstDash val="solid"/>
          </a:ln>
        </p:spPr>
      </p:sp>
      <p:sp>
        <p:nvSpPr>
          <p:cNvPr id="39" name="Text 37"/>
          <p:cNvSpPr/>
          <p:nvPr/>
        </p:nvSpPr>
        <p:spPr>
          <a:xfrm>
            <a:off x="96012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0" name="Shape 38"/>
          <p:cNvSpPr/>
          <p:nvPr/>
        </p:nvSpPr>
        <p:spPr>
          <a:xfrm>
            <a:off x="1973580" y="4663440"/>
            <a:ext cx="91" cy="54864"/>
          </a:xfrm>
          <a:prstGeom prst="line">
            <a:avLst/>
          </a:prstGeom>
          <a:noFill/>
          <a:ln w="12700">
            <a:solidFill>
              <a:srgbClr val="133536"/>
            </a:solidFill>
            <a:prstDash val="solid"/>
          </a:ln>
        </p:spPr>
      </p:sp>
      <p:sp>
        <p:nvSpPr>
          <p:cNvPr id="41" name="Text 39"/>
          <p:cNvSpPr/>
          <p:nvPr/>
        </p:nvSpPr>
        <p:spPr>
          <a:xfrm>
            <a:off x="169926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2" name="Shape 40"/>
          <p:cNvSpPr/>
          <p:nvPr/>
        </p:nvSpPr>
        <p:spPr>
          <a:xfrm>
            <a:off x="2712720" y="4663440"/>
            <a:ext cx="91" cy="54864"/>
          </a:xfrm>
          <a:prstGeom prst="line">
            <a:avLst/>
          </a:prstGeom>
          <a:noFill/>
          <a:ln w="12700">
            <a:solidFill>
              <a:srgbClr val="133536"/>
            </a:solidFill>
            <a:prstDash val="solid"/>
          </a:ln>
        </p:spPr>
      </p:sp>
      <p:sp>
        <p:nvSpPr>
          <p:cNvPr id="43" name="Text 41"/>
          <p:cNvSpPr/>
          <p:nvPr/>
        </p:nvSpPr>
        <p:spPr>
          <a:xfrm>
            <a:off x="243840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4" name="Shape 42"/>
          <p:cNvSpPr/>
          <p:nvPr/>
        </p:nvSpPr>
        <p:spPr>
          <a:xfrm>
            <a:off x="3451860" y="4663440"/>
            <a:ext cx="91" cy="54864"/>
          </a:xfrm>
          <a:prstGeom prst="line">
            <a:avLst/>
          </a:prstGeom>
          <a:noFill/>
          <a:ln w="12700">
            <a:solidFill>
              <a:srgbClr val="133536"/>
            </a:solidFill>
            <a:prstDash val="solid"/>
          </a:ln>
        </p:spPr>
      </p:sp>
      <p:sp>
        <p:nvSpPr>
          <p:cNvPr id="45" name="Text 43"/>
          <p:cNvSpPr/>
          <p:nvPr/>
        </p:nvSpPr>
        <p:spPr>
          <a:xfrm>
            <a:off x="317754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6" name="Shape 44"/>
          <p:cNvSpPr/>
          <p:nvPr/>
        </p:nvSpPr>
        <p:spPr>
          <a:xfrm>
            <a:off x="4191000" y="4663440"/>
            <a:ext cx="91" cy="54864"/>
          </a:xfrm>
          <a:prstGeom prst="line">
            <a:avLst/>
          </a:prstGeom>
          <a:noFill/>
          <a:ln w="12700">
            <a:solidFill>
              <a:srgbClr val="133536"/>
            </a:solidFill>
            <a:prstDash val="solid"/>
          </a:ln>
        </p:spPr>
      </p:sp>
      <p:sp>
        <p:nvSpPr>
          <p:cNvPr id="47" name="Text 45"/>
          <p:cNvSpPr/>
          <p:nvPr/>
        </p:nvSpPr>
        <p:spPr>
          <a:xfrm>
            <a:off x="391668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8" name="Shape 46"/>
          <p:cNvSpPr/>
          <p:nvPr/>
        </p:nvSpPr>
        <p:spPr>
          <a:xfrm>
            <a:off x="4930140" y="4663440"/>
            <a:ext cx="91" cy="54864"/>
          </a:xfrm>
          <a:prstGeom prst="line">
            <a:avLst/>
          </a:prstGeom>
          <a:noFill/>
          <a:ln w="12700">
            <a:solidFill>
              <a:srgbClr val="133536"/>
            </a:solidFill>
            <a:prstDash val="solid"/>
          </a:ln>
        </p:spPr>
      </p:sp>
      <p:sp>
        <p:nvSpPr>
          <p:cNvPr id="49" name="Text 47"/>
          <p:cNvSpPr/>
          <p:nvPr/>
        </p:nvSpPr>
        <p:spPr>
          <a:xfrm>
            <a:off x="465582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0" name="Shape 48"/>
          <p:cNvSpPr/>
          <p:nvPr/>
        </p:nvSpPr>
        <p:spPr>
          <a:xfrm>
            <a:off x="5669280" y="4663440"/>
            <a:ext cx="91" cy="54864"/>
          </a:xfrm>
          <a:prstGeom prst="line">
            <a:avLst/>
          </a:prstGeom>
          <a:noFill/>
          <a:ln w="12700">
            <a:solidFill>
              <a:srgbClr val="133536"/>
            </a:solidFill>
            <a:prstDash val="solid"/>
          </a:ln>
        </p:spPr>
      </p:sp>
      <p:sp>
        <p:nvSpPr>
          <p:cNvPr id="51" name="Text 49"/>
          <p:cNvSpPr/>
          <p:nvPr/>
        </p:nvSpPr>
        <p:spPr>
          <a:xfrm>
            <a:off x="539496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52" name="Shape 50"/>
          <p:cNvSpPr/>
          <p:nvPr/>
        </p:nvSpPr>
        <p:spPr>
          <a:xfrm>
            <a:off x="1179576" y="4663440"/>
            <a:ext cx="54864" cy="91"/>
          </a:xfrm>
          <a:prstGeom prst="line">
            <a:avLst/>
          </a:prstGeom>
          <a:noFill/>
          <a:ln w="12700">
            <a:solidFill>
              <a:srgbClr val="133536"/>
            </a:solidFill>
            <a:prstDash val="solid"/>
          </a:ln>
        </p:spPr>
      </p:sp>
      <p:sp>
        <p:nvSpPr>
          <p:cNvPr id="53" name="Text 51"/>
          <p:cNvSpPr/>
          <p:nvPr/>
        </p:nvSpPr>
        <p:spPr>
          <a:xfrm>
            <a:off x="795528" y="4572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4" name="Shape 52"/>
          <p:cNvSpPr/>
          <p:nvPr/>
        </p:nvSpPr>
        <p:spPr>
          <a:xfrm>
            <a:off x="1179576" y="4032504"/>
            <a:ext cx="54864" cy="91"/>
          </a:xfrm>
          <a:prstGeom prst="line">
            <a:avLst/>
          </a:prstGeom>
          <a:noFill/>
          <a:ln w="12700">
            <a:solidFill>
              <a:srgbClr val="133536"/>
            </a:solidFill>
            <a:prstDash val="solid"/>
          </a:ln>
        </p:spPr>
      </p:sp>
      <p:sp>
        <p:nvSpPr>
          <p:cNvPr id="55" name="Text 53"/>
          <p:cNvSpPr/>
          <p:nvPr/>
        </p:nvSpPr>
        <p:spPr>
          <a:xfrm>
            <a:off x="795528" y="394106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6" name="Shape 54"/>
          <p:cNvSpPr/>
          <p:nvPr/>
        </p:nvSpPr>
        <p:spPr>
          <a:xfrm>
            <a:off x="1179576" y="3401568"/>
            <a:ext cx="54864" cy="91"/>
          </a:xfrm>
          <a:prstGeom prst="line">
            <a:avLst/>
          </a:prstGeom>
          <a:noFill/>
          <a:ln w="12700">
            <a:solidFill>
              <a:srgbClr val="133536"/>
            </a:solidFill>
            <a:prstDash val="solid"/>
          </a:ln>
        </p:spPr>
      </p:sp>
      <p:sp>
        <p:nvSpPr>
          <p:cNvPr id="57" name="Text 55"/>
          <p:cNvSpPr/>
          <p:nvPr/>
        </p:nvSpPr>
        <p:spPr>
          <a:xfrm>
            <a:off x="795528" y="331012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8" name="Shape 56"/>
          <p:cNvSpPr/>
          <p:nvPr/>
        </p:nvSpPr>
        <p:spPr>
          <a:xfrm>
            <a:off x="1179576" y="2770632"/>
            <a:ext cx="54864" cy="91"/>
          </a:xfrm>
          <a:prstGeom prst="line">
            <a:avLst/>
          </a:prstGeom>
          <a:noFill/>
          <a:ln w="12700">
            <a:solidFill>
              <a:srgbClr val="133536"/>
            </a:solidFill>
            <a:prstDash val="solid"/>
          </a:ln>
        </p:spPr>
      </p:sp>
      <p:sp>
        <p:nvSpPr>
          <p:cNvPr id="59" name="Text 57"/>
          <p:cNvSpPr/>
          <p:nvPr/>
        </p:nvSpPr>
        <p:spPr>
          <a:xfrm>
            <a:off x="795528" y="26791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0" name="Shape 58"/>
          <p:cNvSpPr/>
          <p:nvPr/>
        </p:nvSpPr>
        <p:spPr>
          <a:xfrm>
            <a:off x="1179576" y="2139696"/>
            <a:ext cx="54864" cy="91"/>
          </a:xfrm>
          <a:prstGeom prst="line">
            <a:avLst/>
          </a:prstGeom>
          <a:noFill/>
          <a:ln w="12700">
            <a:solidFill>
              <a:srgbClr val="133536"/>
            </a:solidFill>
            <a:prstDash val="solid"/>
          </a:ln>
        </p:spPr>
      </p:sp>
      <p:sp>
        <p:nvSpPr>
          <p:cNvPr id="61" name="Text 59"/>
          <p:cNvSpPr/>
          <p:nvPr/>
        </p:nvSpPr>
        <p:spPr>
          <a:xfrm>
            <a:off x="795528" y="204825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62" name="Shape 60"/>
          <p:cNvSpPr/>
          <p:nvPr/>
        </p:nvSpPr>
        <p:spPr>
          <a:xfrm>
            <a:off x="1179576" y="1508760"/>
            <a:ext cx="54864" cy="91"/>
          </a:xfrm>
          <a:prstGeom prst="line">
            <a:avLst/>
          </a:prstGeom>
          <a:noFill/>
          <a:ln w="12700">
            <a:solidFill>
              <a:srgbClr val="133536"/>
            </a:solidFill>
            <a:prstDash val="solid"/>
          </a:ln>
        </p:spPr>
      </p:sp>
      <p:sp>
        <p:nvSpPr>
          <p:cNvPr id="63" name="Text 61"/>
          <p:cNvSpPr/>
          <p:nvPr/>
        </p:nvSpPr>
        <p:spPr>
          <a:xfrm>
            <a:off x="795528" y="1417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64" name="Text 62"/>
          <p:cNvSpPr/>
          <p:nvPr/>
        </p:nvSpPr>
        <p:spPr>
          <a:xfrm>
            <a:off x="1234440" y="491032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65" name="Text 63"/>
          <p:cNvSpPr/>
          <p:nvPr/>
        </p:nvSpPr>
        <p:spPr>
          <a:xfrm rot="16200000">
            <a:off x="-909828" y="2958084"/>
            <a:ext cx="31546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Enzyme activity / % of maximum</a:t>
            </a:r>
            <a:endParaRPr lang="en-US" sz="1050" dirty="0"/>
          </a:p>
        </p:txBody>
      </p:sp>
      <p:sp>
        <p:nvSpPr>
          <p:cNvPr id="66" name="Shape 64"/>
          <p:cNvSpPr/>
          <p:nvPr/>
        </p:nvSpPr>
        <p:spPr>
          <a:xfrm>
            <a:off x="3821430" y="1508760"/>
            <a:ext cx="369570" cy="3154680"/>
          </a:xfrm>
          <a:prstGeom prst="rect">
            <a:avLst/>
          </a:prstGeom>
          <a:solidFill>
            <a:srgbClr val="D8F0E2">
              <a:alpha val="60000"/>
            </a:srgbClr>
          </a:solidFill>
          <a:ln/>
        </p:spPr>
      </p:sp>
      <p:sp>
        <p:nvSpPr>
          <p:cNvPr id="67" name="Shape 65"/>
          <p:cNvSpPr/>
          <p:nvPr/>
        </p:nvSpPr>
        <p:spPr>
          <a:xfrm flipV="1">
            <a:off x="1234440" y="4284878"/>
            <a:ext cx="739140" cy="315468"/>
          </a:xfrm>
          <a:prstGeom prst="line">
            <a:avLst/>
          </a:prstGeom>
          <a:noFill/>
          <a:ln w="31750">
            <a:solidFill>
              <a:srgbClr val="0D7877"/>
            </a:solidFill>
            <a:prstDash val="solid"/>
          </a:ln>
        </p:spPr>
      </p:sp>
      <p:sp>
        <p:nvSpPr>
          <p:cNvPr id="68" name="Shape 66"/>
          <p:cNvSpPr/>
          <p:nvPr/>
        </p:nvSpPr>
        <p:spPr>
          <a:xfrm flipV="1">
            <a:off x="1973580" y="3717036"/>
            <a:ext cx="739140" cy="567842"/>
          </a:xfrm>
          <a:prstGeom prst="line">
            <a:avLst/>
          </a:prstGeom>
          <a:noFill/>
          <a:ln w="31750">
            <a:solidFill>
              <a:srgbClr val="0D7877"/>
            </a:solidFill>
            <a:prstDash val="solid"/>
          </a:ln>
        </p:spPr>
      </p:sp>
      <p:sp>
        <p:nvSpPr>
          <p:cNvPr id="69" name="Shape 67"/>
          <p:cNvSpPr/>
          <p:nvPr/>
        </p:nvSpPr>
        <p:spPr>
          <a:xfrm flipV="1">
            <a:off x="2712720" y="2707538"/>
            <a:ext cx="739140" cy="1009498"/>
          </a:xfrm>
          <a:prstGeom prst="line">
            <a:avLst/>
          </a:prstGeom>
          <a:noFill/>
          <a:ln w="31750">
            <a:solidFill>
              <a:srgbClr val="0D7877"/>
            </a:solidFill>
            <a:prstDash val="solid"/>
          </a:ln>
        </p:spPr>
      </p:sp>
      <p:sp>
        <p:nvSpPr>
          <p:cNvPr id="70" name="Shape 68"/>
          <p:cNvSpPr/>
          <p:nvPr/>
        </p:nvSpPr>
        <p:spPr>
          <a:xfrm flipV="1">
            <a:off x="3451860" y="1508760"/>
            <a:ext cx="517398" cy="1198778"/>
          </a:xfrm>
          <a:prstGeom prst="line">
            <a:avLst/>
          </a:prstGeom>
          <a:noFill/>
          <a:ln w="31750">
            <a:solidFill>
              <a:srgbClr val="0D7877"/>
            </a:solidFill>
            <a:prstDash val="solid"/>
          </a:ln>
        </p:spPr>
      </p:sp>
      <p:sp>
        <p:nvSpPr>
          <p:cNvPr id="71" name="Shape 69"/>
          <p:cNvSpPr/>
          <p:nvPr/>
        </p:nvSpPr>
        <p:spPr>
          <a:xfrm>
            <a:off x="3969258" y="1508760"/>
            <a:ext cx="221742" cy="189281"/>
          </a:xfrm>
          <a:prstGeom prst="line">
            <a:avLst/>
          </a:prstGeom>
          <a:noFill/>
          <a:ln w="31750">
            <a:solidFill>
              <a:srgbClr val="0D7877"/>
            </a:solidFill>
            <a:prstDash val="solid"/>
          </a:ln>
        </p:spPr>
      </p:sp>
      <p:sp>
        <p:nvSpPr>
          <p:cNvPr id="72" name="Shape 70"/>
          <p:cNvSpPr/>
          <p:nvPr/>
        </p:nvSpPr>
        <p:spPr>
          <a:xfrm>
            <a:off x="4191000" y="1698041"/>
            <a:ext cx="369570" cy="1072591"/>
          </a:xfrm>
          <a:prstGeom prst="line">
            <a:avLst/>
          </a:prstGeom>
          <a:noFill/>
          <a:ln w="31750">
            <a:solidFill>
              <a:srgbClr val="0D7877"/>
            </a:solidFill>
            <a:prstDash val="solid"/>
          </a:ln>
        </p:spPr>
      </p:sp>
      <p:sp>
        <p:nvSpPr>
          <p:cNvPr id="73" name="Shape 71"/>
          <p:cNvSpPr/>
          <p:nvPr/>
        </p:nvSpPr>
        <p:spPr>
          <a:xfrm>
            <a:off x="4560570" y="2770632"/>
            <a:ext cx="369570" cy="1324966"/>
          </a:xfrm>
          <a:prstGeom prst="line">
            <a:avLst/>
          </a:prstGeom>
          <a:noFill/>
          <a:ln w="31750">
            <a:solidFill>
              <a:srgbClr val="0D7877"/>
            </a:solidFill>
            <a:prstDash val="solid"/>
          </a:ln>
        </p:spPr>
      </p:sp>
      <p:sp>
        <p:nvSpPr>
          <p:cNvPr id="74" name="Shape 72"/>
          <p:cNvSpPr/>
          <p:nvPr/>
        </p:nvSpPr>
        <p:spPr>
          <a:xfrm>
            <a:off x="4930140" y="4095598"/>
            <a:ext cx="369570" cy="441655"/>
          </a:xfrm>
          <a:prstGeom prst="line">
            <a:avLst/>
          </a:prstGeom>
          <a:noFill/>
          <a:ln w="31750">
            <a:solidFill>
              <a:srgbClr val="0D7877"/>
            </a:solidFill>
            <a:prstDash val="solid"/>
          </a:ln>
        </p:spPr>
      </p:sp>
      <p:sp>
        <p:nvSpPr>
          <p:cNvPr id="75" name="Shape 73"/>
          <p:cNvSpPr/>
          <p:nvPr/>
        </p:nvSpPr>
        <p:spPr>
          <a:xfrm>
            <a:off x="5299710" y="4537253"/>
            <a:ext cx="369570" cy="126187"/>
          </a:xfrm>
          <a:prstGeom prst="line">
            <a:avLst/>
          </a:prstGeom>
          <a:noFill/>
          <a:ln w="31750">
            <a:solidFill>
              <a:srgbClr val="0D7877"/>
            </a:solidFill>
            <a:prstDash val="solid"/>
          </a:ln>
        </p:spPr>
      </p:sp>
      <p:sp>
        <p:nvSpPr>
          <p:cNvPr id="76" name="Shape 74"/>
          <p:cNvSpPr/>
          <p:nvPr/>
        </p:nvSpPr>
        <p:spPr>
          <a:xfrm>
            <a:off x="1188720" y="4554626"/>
            <a:ext cx="91440" cy="91440"/>
          </a:xfrm>
          <a:prstGeom prst="line">
            <a:avLst/>
          </a:prstGeom>
          <a:noFill/>
          <a:ln w="15875">
            <a:solidFill>
              <a:srgbClr val="133536"/>
            </a:solidFill>
            <a:prstDash val="solid"/>
          </a:ln>
        </p:spPr>
      </p:sp>
      <p:sp>
        <p:nvSpPr>
          <p:cNvPr id="77" name="Shape 75"/>
          <p:cNvSpPr/>
          <p:nvPr/>
        </p:nvSpPr>
        <p:spPr>
          <a:xfrm flipV="1">
            <a:off x="1188720" y="4554626"/>
            <a:ext cx="91440" cy="91440"/>
          </a:xfrm>
          <a:prstGeom prst="line">
            <a:avLst/>
          </a:prstGeom>
          <a:noFill/>
          <a:ln w="15875">
            <a:solidFill>
              <a:srgbClr val="133536"/>
            </a:solidFill>
            <a:prstDash val="solid"/>
          </a:ln>
        </p:spPr>
      </p:sp>
      <p:sp>
        <p:nvSpPr>
          <p:cNvPr id="78" name="Shape 76"/>
          <p:cNvSpPr/>
          <p:nvPr/>
        </p:nvSpPr>
        <p:spPr>
          <a:xfrm>
            <a:off x="1927860" y="4239158"/>
            <a:ext cx="91440" cy="91440"/>
          </a:xfrm>
          <a:prstGeom prst="line">
            <a:avLst/>
          </a:prstGeom>
          <a:noFill/>
          <a:ln w="15875">
            <a:solidFill>
              <a:srgbClr val="133536"/>
            </a:solidFill>
            <a:prstDash val="solid"/>
          </a:ln>
        </p:spPr>
      </p:sp>
      <p:sp>
        <p:nvSpPr>
          <p:cNvPr id="79" name="Shape 77"/>
          <p:cNvSpPr/>
          <p:nvPr/>
        </p:nvSpPr>
        <p:spPr>
          <a:xfrm flipV="1">
            <a:off x="1927860" y="4239158"/>
            <a:ext cx="91440" cy="91440"/>
          </a:xfrm>
          <a:prstGeom prst="line">
            <a:avLst/>
          </a:prstGeom>
          <a:noFill/>
          <a:ln w="15875">
            <a:solidFill>
              <a:srgbClr val="133536"/>
            </a:solidFill>
            <a:prstDash val="solid"/>
          </a:ln>
        </p:spPr>
      </p:sp>
      <p:sp>
        <p:nvSpPr>
          <p:cNvPr id="80" name="Shape 78"/>
          <p:cNvSpPr/>
          <p:nvPr/>
        </p:nvSpPr>
        <p:spPr>
          <a:xfrm>
            <a:off x="2667000" y="3671316"/>
            <a:ext cx="91440" cy="91440"/>
          </a:xfrm>
          <a:prstGeom prst="line">
            <a:avLst/>
          </a:prstGeom>
          <a:noFill/>
          <a:ln w="15875">
            <a:solidFill>
              <a:srgbClr val="133536"/>
            </a:solidFill>
            <a:prstDash val="solid"/>
          </a:ln>
        </p:spPr>
      </p:sp>
      <p:sp>
        <p:nvSpPr>
          <p:cNvPr id="81" name="Shape 79"/>
          <p:cNvSpPr/>
          <p:nvPr/>
        </p:nvSpPr>
        <p:spPr>
          <a:xfrm flipV="1">
            <a:off x="2667000" y="3671316"/>
            <a:ext cx="91440" cy="91440"/>
          </a:xfrm>
          <a:prstGeom prst="line">
            <a:avLst/>
          </a:prstGeom>
          <a:noFill/>
          <a:ln w="15875">
            <a:solidFill>
              <a:srgbClr val="133536"/>
            </a:solidFill>
            <a:prstDash val="solid"/>
          </a:ln>
        </p:spPr>
      </p:sp>
      <p:sp>
        <p:nvSpPr>
          <p:cNvPr id="82" name="Shape 80"/>
          <p:cNvSpPr/>
          <p:nvPr/>
        </p:nvSpPr>
        <p:spPr>
          <a:xfrm>
            <a:off x="3406140" y="2661818"/>
            <a:ext cx="91440" cy="91440"/>
          </a:xfrm>
          <a:prstGeom prst="line">
            <a:avLst/>
          </a:prstGeom>
          <a:noFill/>
          <a:ln w="15875">
            <a:solidFill>
              <a:srgbClr val="133536"/>
            </a:solidFill>
            <a:prstDash val="solid"/>
          </a:ln>
        </p:spPr>
      </p:sp>
      <p:sp>
        <p:nvSpPr>
          <p:cNvPr id="83" name="Shape 81"/>
          <p:cNvSpPr/>
          <p:nvPr/>
        </p:nvSpPr>
        <p:spPr>
          <a:xfrm flipV="1">
            <a:off x="3406140" y="2661818"/>
            <a:ext cx="91440" cy="91440"/>
          </a:xfrm>
          <a:prstGeom prst="line">
            <a:avLst/>
          </a:prstGeom>
          <a:noFill/>
          <a:ln w="15875">
            <a:solidFill>
              <a:srgbClr val="133536"/>
            </a:solidFill>
            <a:prstDash val="solid"/>
          </a:ln>
        </p:spPr>
      </p:sp>
      <p:sp>
        <p:nvSpPr>
          <p:cNvPr id="84" name="Shape 82"/>
          <p:cNvSpPr/>
          <p:nvPr/>
        </p:nvSpPr>
        <p:spPr>
          <a:xfrm>
            <a:off x="3923538" y="1463040"/>
            <a:ext cx="91440" cy="91440"/>
          </a:xfrm>
          <a:prstGeom prst="line">
            <a:avLst/>
          </a:prstGeom>
          <a:noFill/>
          <a:ln w="15875">
            <a:solidFill>
              <a:srgbClr val="133536"/>
            </a:solidFill>
            <a:prstDash val="solid"/>
          </a:ln>
        </p:spPr>
      </p:sp>
      <p:sp>
        <p:nvSpPr>
          <p:cNvPr id="85" name="Shape 83"/>
          <p:cNvSpPr/>
          <p:nvPr/>
        </p:nvSpPr>
        <p:spPr>
          <a:xfrm flipV="1">
            <a:off x="3923538" y="1463040"/>
            <a:ext cx="91440" cy="91440"/>
          </a:xfrm>
          <a:prstGeom prst="line">
            <a:avLst/>
          </a:prstGeom>
          <a:noFill/>
          <a:ln w="15875">
            <a:solidFill>
              <a:srgbClr val="133536"/>
            </a:solidFill>
            <a:prstDash val="solid"/>
          </a:ln>
        </p:spPr>
      </p:sp>
      <p:sp>
        <p:nvSpPr>
          <p:cNvPr id="86" name="Shape 84"/>
          <p:cNvSpPr/>
          <p:nvPr/>
        </p:nvSpPr>
        <p:spPr>
          <a:xfrm>
            <a:off x="4145280" y="1652321"/>
            <a:ext cx="91440" cy="91440"/>
          </a:xfrm>
          <a:prstGeom prst="line">
            <a:avLst/>
          </a:prstGeom>
          <a:noFill/>
          <a:ln w="15875">
            <a:solidFill>
              <a:srgbClr val="133536"/>
            </a:solidFill>
            <a:prstDash val="solid"/>
          </a:ln>
        </p:spPr>
      </p:sp>
      <p:sp>
        <p:nvSpPr>
          <p:cNvPr id="87" name="Shape 85"/>
          <p:cNvSpPr/>
          <p:nvPr/>
        </p:nvSpPr>
        <p:spPr>
          <a:xfrm flipV="1">
            <a:off x="4145280" y="1652321"/>
            <a:ext cx="91440" cy="91440"/>
          </a:xfrm>
          <a:prstGeom prst="line">
            <a:avLst/>
          </a:prstGeom>
          <a:noFill/>
          <a:ln w="15875">
            <a:solidFill>
              <a:srgbClr val="133536"/>
            </a:solidFill>
            <a:prstDash val="solid"/>
          </a:ln>
        </p:spPr>
      </p:sp>
      <p:sp>
        <p:nvSpPr>
          <p:cNvPr id="88" name="Shape 86"/>
          <p:cNvSpPr/>
          <p:nvPr/>
        </p:nvSpPr>
        <p:spPr>
          <a:xfrm>
            <a:off x="4514850" y="2724912"/>
            <a:ext cx="91440" cy="91440"/>
          </a:xfrm>
          <a:prstGeom prst="line">
            <a:avLst/>
          </a:prstGeom>
          <a:noFill/>
          <a:ln w="15875">
            <a:solidFill>
              <a:srgbClr val="133536"/>
            </a:solidFill>
            <a:prstDash val="solid"/>
          </a:ln>
        </p:spPr>
      </p:sp>
      <p:sp>
        <p:nvSpPr>
          <p:cNvPr id="89" name="Shape 87"/>
          <p:cNvSpPr/>
          <p:nvPr/>
        </p:nvSpPr>
        <p:spPr>
          <a:xfrm flipV="1">
            <a:off x="4514850" y="2724912"/>
            <a:ext cx="91440" cy="91440"/>
          </a:xfrm>
          <a:prstGeom prst="line">
            <a:avLst/>
          </a:prstGeom>
          <a:noFill/>
          <a:ln w="15875">
            <a:solidFill>
              <a:srgbClr val="133536"/>
            </a:solidFill>
            <a:prstDash val="solid"/>
          </a:ln>
        </p:spPr>
      </p:sp>
      <p:sp>
        <p:nvSpPr>
          <p:cNvPr id="90" name="Shape 88"/>
          <p:cNvSpPr/>
          <p:nvPr/>
        </p:nvSpPr>
        <p:spPr>
          <a:xfrm>
            <a:off x="4884420" y="4049878"/>
            <a:ext cx="91440" cy="91440"/>
          </a:xfrm>
          <a:prstGeom prst="line">
            <a:avLst/>
          </a:prstGeom>
          <a:noFill/>
          <a:ln w="15875">
            <a:solidFill>
              <a:srgbClr val="133536"/>
            </a:solidFill>
            <a:prstDash val="solid"/>
          </a:ln>
        </p:spPr>
      </p:sp>
      <p:sp>
        <p:nvSpPr>
          <p:cNvPr id="91" name="Shape 89"/>
          <p:cNvSpPr/>
          <p:nvPr/>
        </p:nvSpPr>
        <p:spPr>
          <a:xfrm flipV="1">
            <a:off x="4884420" y="4049878"/>
            <a:ext cx="91440" cy="91440"/>
          </a:xfrm>
          <a:prstGeom prst="line">
            <a:avLst/>
          </a:prstGeom>
          <a:noFill/>
          <a:ln w="15875">
            <a:solidFill>
              <a:srgbClr val="133536"/>
            </a:solidFill>
            <a:prstDash val="solid"/>
          </a:ln>
        </p:spPr>
      </p:sp>
      <p:sp>
        <p:nvSpPr>
          <p:cNvPr id="92" name="Shape 90"/>
          <p:cNvSpPr/>
          <p:nvPr/>
        </p:nvSpPr>
        <p:spPr>
          <a:xfrm>
            <a:off x="5253990" y="4491533"/>
            <a:ext cx="91440" cy="91440"/>
          </a:xfrm>
          <a:prstGeom prst="line">
            <a:avLst/>
          </a:prstGeom>
          <a:noFill/>
          <a:ln w="15875">
            <a:solidFill>
              <a:srgbClr val="133536"/>
            </a:solidFill>
            <a:prstDash val="solid"/>
          </a:ln>
        </p:spPr>
      </p:sp>
      <p:sp>
        <p:nvSpPr>
          <p:cNvPr id="93" name="Shape 91"/>
          <p:cNvSpPr/>
          <p:nvPr/>
        </p:nvSpPr>
        <p:spPr>
          <a:xfrm flipV="1">
            <a:off x="5253990" y="4491533"/>
            <a:ext cx="91440" cy="91440"/>
          </a:xfrm>
          <a:prstGeom prst="line">
            <a:avLst/>
          </a:prstGeom>
          <a:noFill/>
          <a:ln w="15875">
            <a:solidFill>
              <a:srgbClr val="133536"/>
            </a:solidFill>
            <a:prstDash val="solid"/>
          </a:ln>
        </p:spPr>
      </p:sp>
      <p:sp>
        <p:nvSpPr>
          <p:cNvPr id="94" name="Shape 92"/>
          <p:cNvSpPr/>
          <p:nvPr/>
        </p:nvSpPr>
        <p:spPr>
          <a:xfrm>
            <a:off x="5623560" y="4617720"/>
            <a:ext cx="91440" cy="91440"/>
          </a:xfrm>
          <a:prstGeom prst="line">
            <a:avLst/>
          </a:prstGeom>
          <a:noFill/>
          <a:ln w="15875">
            <a:solidFill>
              <a:srgbClr val="133536"/>
            </a:solidFill>
            <a:prstDash val="solid"/>
          </a:ln>
        </p:spPr>
      </p:sp>
      <p:sp>
        <p:nvSpPr>
          <p:cNvPr id="95" name="Shape 93"/>
          <p:cNvSpPr/>
          <p:nvPr/>
        </p:nvSpPr>
        <p:spPr>
          <a:xfrm flipV="1">
            <a:off x="5623560" y="4617720"/>
            <a:ext cx="91440" cy="91440"/>
          </a:xfrm>
          <a:prstGeom prst="line">
            <a:avLst/>
          </a:prstGeom>
          <a:noFill/>
          <a:ln w="15875">
            <a:solidFill>
              <a:srgbClr val="133536"/>
            </a:solidFill>
            <a:prstDash val="solid"/>
          </a:ln>
        </p:spPr>
      </p:sp>
      <p:sp>
        <p:nvSpPr>
          <p:cNvPr id="96" name="Shape 94"/>
          <p:cNvSpPr/>
          <p:nvPr/>
        </p:nvSpPr>
        <p:spPr>
          <a:xfrm>
            <a:off x="3969258" y="1554480"/>
            <a:ext cx="91" cy="3108960"/>
          </a:xfrm>
          <a:prstGeom prst="line">
            <a:avLst/>
          </a:prstGeom>
          <a:noFill/>
          <a:ln w="19050">
            <a:solidFill>
              <a:srgbClr val="2E8B57"/>
            </a:solidFill>
            <a:prstDash val="dash"/>
          </a:ln>
        </p:spPr>
      </p:sp>
      <p:sp>
        <p:nvSpPr>
          <p:cNvPr id="97" name="Text 95"/>
          <p:cNvSpPr/>
          <p:nvPr/>
        </p:nvSpPr>
        <p:spPr>
          <a:xfrm>
            <a:off x="2643378" y="1463040"/>
            <a:ext cx="1280160" cy="228600"/>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optimum 37 °C</a:t>
            </a:r>
            <a:endParaRPr lang="en-US" sz="1000" dirty="0"/>
          </a:p>
        </p:txBody>
      </p:sp>
      <p:sp>
        <p:nvSpPr>
          <p:cNvPr id="98" name="Text 96"/>
          <p:cNvSpPr/>
          <p:nvPr/>
        </p:nvSpPr>
        <p:spPr>
          <a:xfrm>
            <a:off x="1530096" y="2707538"/>
            <a:ext cx="155448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too cold: molecules move slowly, </a:t>
            </a:r>
            <a:r>
              <a:rPr lang="en-US" sz="1000" b="1" dirty="0">
                <a:solidFill>
                  <a:srgbClr val="262B3A"/>
                </a:solidFill>
                <a:latin typeface="Calibri" pitchFamily="34" charset="0"/>
                <a:ea typeface="Calibri" pitchFamily="34" charset="-122"/>
                <a:cs typeface="Calibri" pitchFamily="34" charset="-120"/>
              </a:rPr>
              <a:t>fewer collisions</a:t>
            </a:r>
            <a:endParaRPr lang="en-US" sz="1000" dirty="0"/>
          </a:p>
        </p:txBody>
      </p:sp>
      <p:sp>
        <p:nvSpPr>
          <p:cNvPr id="99" name="Text 97"/>
          <p:cNvSpPr/>
          <p:nvPr/>
        </p:nvSpPr>
        <p:spPr>
          <a:xfrm>
            <a:off x="4634484" y="1761134"/>
            <a:ext cx="914400" cy="777240"/>
          </a:xfrm>
          <a:prstGeom prst="rect">
            <a:avLst/>
          </a:prstGeom>
          <a:noFill/>
          <a:ln/>
        </p:spPr>
        <p:txBody>
          <a:bodyPr wrap="square" lIns="0" tIns="0" rIns="0" bIns="0" rtlCol="0" anchor="t"/>
          <a:lstStyle/>
          <a:p>
            <a:pPr algn="l" indent="0" marL="0">
              <a:buNone/>
            </a:pPr>
            <a:r>
              <a:rPr lang="en-US" sz="1000" dirty="0">
                <a:solidFill>
                  <a:srgbClr val="C8414C"/>
                </a:solidFill>
                <a:latin typeface="Calibri" pitchFamily="34" charset="0"/>
                <a:ea typeface="Calibri" pitchFamily="34" charset="-122"/>
                <a:cs typeface="Calibri" pitchFamily="34" charset="-120"/>
              </a:rPr>
              <a:t>too hot: active site changes shape: </a:t>
            </a:r>
            <a:r>
              <a:rPr lang="en-US" sz="1000" b="1" dirty="0">
                <a:solidFill>
                  <a:srgbClr val="C8414C"/>
                </a:solidFill>
                <a:latin typeface="Calibri" pitchFamily="34" charset="0"/>
                <a:ea typeface="Calibri" pitchFamily="34" charset="-122"/>
                <a:cs typeface="Calibri" pitchFamily="34" charset="-120"/>
              </a:rPr>
              <a:t>denatured</a:t>
            </a:r>
            <a:endParaRPr lang="en-US" sz="1000" dirty="0"/>
          </a:p>
        </p:txBody>
      </p:sp>
      <p:sp>
        <p:nvSpPr>
          <p:cNvPr id="100" name="Shape 98"/>
          <p:cNvSpPr/>
          <p:nvPr/>
        </p:nvSpPr>
        <p:spPr>
          <a:xfrm>
            <a:off x="6217920" y="1188720"/>
            <a:ext cx="5562295" cy="2743200"/>
          </a:xfrm>
          <a:prstGeom prst="roundRect">
            <a:avLst>
              <a:gd name="adj" fmla="val 2000"/>
            </a:avLst>
          </a:prstGeom>
          <a:solidFill>
            <a:srgbClr val="F4FAF9"/>
          </a:solidFill>
          <a:ln w="9525">
            <a:solidFill>
              <a:srgbClr val="CFE0DE"/>
            </a:solidFill>
            <a:prstDash val="solid"/>
          </a:ln>
        </p:spPr>
      </p:sp>
      <p:sp>
        <p:nvSpPr>
          <p:cNvPr id="101" name="Text 9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Enzymes need the right conditions</a:t>
            </a:r>
            <a:endParaRPr lang="en-US" sz="1300" dirty="0"/>
          </a:p>
        </p:txBody>
      </p:sp>
      <p:sp>
        <p:nvSpPr>
          <p:cNvPr id="102" name="Text 100"/>
          <p:cNvSpPr/>
          <p:nvPr/>
        </p:nvSpPr>
        <p:spPr>
          <a:xfrm>
            <a:off x="6382512" y="1609344"/>
            <a:ext cx="5233111" cy="22494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Almost every reaction in a cell is controlled by an </a:t>
            </a:r>
            <a:r>
              <a:rPr lang="en-US" sz="1150" b="1" dirty="0">
                <a:solidFill>
                  <a:srgbClr val="262B3A"/>
                </a:solidFill>
                <a:latin typeface="Calibri" pitchFamily="34" charset="0"/>
                <a:ea typeface="Calibri" pitchFamily="34" charset="-122"/>
                <a:cs typeface="Calibri" pitchFamily="34" charset="-120"/>
              </a:rPr>
              <a:t>enzyme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Human enzymes work best near </a:t>
            </a:r>
            <a:r>
              <a:rPr lang="en-US" sz="1150" b="1" dirty="0">
                <a:solidFill>
                  <a:srgbClr val="262B3A"/>
                </a:solidFill>
                <a:latin typeface="Calibri" pitchFamily="34" charset="0"/>
                <a:ea typeface="Calibri" pitchFamily="34" charset="-122"/>
                <a:cs typeface="Calibri" pitchFamily="34" charset="-120"/>
              </a:rPr>
              <a:t>37 °C</a:t>
            </a:r>
            <a:r>
              <a:rPr lang="en-US" sz="1150" dirty="0">
                <a:solidFill>
                  <a:srgbClr val="262B3A"/>
                </a:solidFill>
                <a:latin typeface="Calibri" pitchFamily="34" charset="0"/>
                <a:ea typeface="Calibri" pitchFamily="34" charset="-122"/>
                <a:cs typeface="Calibri" pitchFamily="34" charset="-120"/>
              </a:rPr>
              <a:t> and at their </a:t>
            </a:r>
            <a:r>
              <a:rPr lang="en-US" sz="1150" b="1" dirty="0">
                <a:solidFill>
                  <a:srgbClr val="262B3A"/>
                </a:solidFill>
                <a:latin typeface="Calibri" pitchFamily="34" charset="0"/>
                <a:ea typeface="Calibri" pitchFamily="34" charset="-122"/>
                <a:cs typeface="Calibri" pitchFamily="34" charset="-120"/>
              </a:rPr>
              <a:t>optimum pH</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Too cold</a:t>
            </a:r>
            <a:r>
              <a:rPr lang="en-US" sz="1150" dirty="0">
                <a:solidFill>
                  <a:srgbClr val="262B3A"/>
                </a:solidFill>
                <a:latin typeface="Calibri" pitchFamily="34" charset="0"/>
                <a:ea typeface="Calibri" pitchFamily="34" charset="-122"/>
                <a:cs typeface="Calibri" pitchFamily="34" charset="-120"/>
              </a:rPr>
              <a:t>: reactions are too </a:t>
            </a:r>
            <a:r>
              <a:rPr lang="en-US" sz="1150" b="1" dirty="0">
                <a:solidFill>
                  <a:srgbClr val="262B3A"/>
                </a:solidFill>
                <a:latin typeface="Calibri" pitchFamily="34" charset="0"/>
                <a:ea typeface="Calibri" pitchFamily="34" charset="-122"/>
                <a:cs typeface="Calibri" pitchFamily="34" charset="-120"/>
              </a:rPr>
              <a:t>slow</a:t>
            </a:r>
            <a:r>
              <a:rPr lang="en-US" sz="1150" dirty="0">
                <a:solidFill>
                  <a:srgbClr val="262B3A"/>
                </a:solidFill>
                <a:latin typeface="Calibri" pitchFamily="34" charset="0"/>
                <a:ea typeface="Calibri" pitchFamily="34" charset="-122"/>
                <a:cs typeface="Calibri" pitchFamily="34" charset="-120"/>
              </a:rPr>
              <a:t> for the cell's needs.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Too hot</a:t>
            </a:r>
            <a:r>
              <a:rPr lang="en-US" sz="1150" dirty="0">
                <a:solidFill>
                  <a:srgbClr val="262B3A"/>
                </a:solidFill>
                <a:latin typeface="Calibri" pitchFamily="34" charset="0"/>
                <a:ea typeface="Calibri" pitchFamily="34" charset="-122"/>
                <a:cs typeface="Calibri" pitchFamily="34" charset="-120"/>
              </a:rPr>
              <a:t>, or the </a:t>
            </a:r>
            <a:r>
              <a:rPr lang="en-US" sz="1150" b="1" dirty="0">
                <a:solidFill>
                  <a:srgbClr val="262B3A"/>
                </a:solidFill>
                <a:latin typeface="Calibri" pitchFamily="34" charset="0"/>
                <a:ea typeface="Calibri" pitchFamily="34" charset="-122"/>
                <a:cs typeface="Calibri" pitchFamily="34" charset="-120"/>
              </a:rPr>
              <a:t>wrong pH</a:t>
            </a:r>
            <a:r>
              <a:rPr lang="en-US" sz="1150" dirty="0">
                <a:solidFill>
                  <a:srgbClr val="262B3A"/>
                </a:solidFill>
                <a:latin typeface="Calibri" pitchFamily="34" charset="0"/>
                <a:ea typeface="Calibri" pitchFamily="34" charset="-122"/>
                <a:cs typeface="Calibri" pitchFamily="34" charset="-120"/>
              </a:rPr>
              <a:t>: the active site changes shape and the enzyme is </a:t>
            </a:r>
            <a:r>
              <a:rPr lang="en-US" sz="1150" b="1" dirty="0">
                <a:solidFill>
                  <a:srgbClr val="262B3A"/>
                </a:solidFill>
                <a:latin typeface="Calibri" pitchFamily="34" charset="0"/>
                <a:ea typeface="Calibri" pitchFamily="34" charset="-122"/>
                <a:cs typeface="Calibri" pitchFamily="34" charset="-120"/>
              </a:rPr>
              <a:t>denatured</a:t>
            </a:r>
            <a:r>
              <a:rPr lang="en-US" sz="1150" dirty="0">
                <a:solidFill>
                  <a:srgbClr val="262B3A"/>
                </a:solidFill>
                <a:latin typeface="Calibri" pitchFamily="34" charset="0"/>
                <a:ea typeface="Calibri" pitchFamily="34" charset="-122"/>
                <a:cs typeface="Calibri" pitchFamily="34" charset="-120"/>
              </a:rPr>
              <a:t>. Reactions stop and cells die.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pH matters too: each enzyme has an </a:t>
            </a:r>
            <a:r>
              <a:rPr lang="en-US" sz="1150" b="1" dirty="0">
                <a:solidFill>
                  <a:srgbClr val="262B3A"/>
                </a:solidFill>
                <a:latin typeface="Calibri" pitchFamily="34" charset="0"/>
                <a:ea typeface="Calibri" pitchFamily="34" charset="-122"/>
                <a:cs typeface="Calibri" pitchFamily="34" charset="-120"/>
              </a:rPr>
              <a:t>optimum pH</a:t>
            </a:r>
            <a:r>
              <a:rPr lang="en-US" sz="1150" dirty="0">
                <a:solidFill>
                  <a:srgbClr val="262B3A"/>
                </a:solidFill>
                <a:latin typeface="Calibri" pitchFamily="34" charset="0"/>
                <a:ea typeface="Calibri" pitchFamily="34" charset="-122"/>
                <a:cs typeface="Calibri" pitchFamily="34" charset="-120"/>
              </a:rPr>
              <a:t> (most work near pH 7).</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 core temperature and pH must be kept within </a:t>
            </a:r>
            <a:r>
              <a:rPr lang="en-US" sz="1150" b="1" dirty="0">
                <a:solidFill>
                  <a:srgbClr val="262B3A"/>
                </a:solidFill>
                <a:latin typeface="Calibri" pitchFamily="34" charset="0"/>
                <a:ea typeface="Calibri" pitchFamily="34" charset="-122"/>
                <a:cs typeface="Calibri" pitchFamily="34" charset="-120"/>
              </a:rPr>
              <a:t>narrow limits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03" name="Shape 101"/>
          <p:cNvSpPr/>
          <p:nvPr/>
        </p:nvSpPr>
        <p:spPr>
          <a:xfrm>
            <a:off x="6217920" y="4069080"/>
            <a:ext cx="5562295" cy="1645920"/>
          </a:xfrm>
          <a:prstGeom prst="roundRect">
            <a:avLst>
              <a:gd name="adj" fmla="val 3333"/>
            </a:avLst>
          </a:prstGeom>
          <a:solidFill>
            <a:srgbClr val="FFF4E0"/>
          </a:solidFill>
          <a:ln w="9525">
            <a:solidFill>
              <a:srgbClr val="F1D9A8"/>
            </a:solidFill>
            <a:prstDash val="solid"/>
          </a:ln>
        </p:spPr>
      </p:sp>
      <p:sp>
        <p:nvSpPr>
          <p:cNvPr id="104" name="Text 102"/>
          <p:cNvSpPr/>
          <p:nvPr/>
        </p:nvSpPr>
        <p:spPr>
          <a:xfrm>
            <a:off x="6382512" y="41422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 the graph</a:t>
            </a:r>
            <a:endParaRPr lang="en-US" sz="1300" dirty="0"/>
          </a:p>
        </p:txBody>
      </p:sp>
      <p:sp>
        <p:nvSpPr>
          <p:cNvPr id="105" name="Text 103"/>
          <p:cNvSpPr/>
          <p:nvPr/>
        </p:nvSpPr>
        <p:spPr>
          <a:xfrm>
            <a:off x="6382512" y="4453128"/>
            <a:ext cx="5233111" cy="11887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Core temperature falls from 37 °C to 30 °C. What happens to the enzyme's activity?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Read   </a:t>
            </a:r>
            <a:r>
              <a:rPr lang="en-US" sz="1050" dirty="0">
                <a:solidFill>
                  <a:srgbClr val="262B3A"/>
                </a:solidFill>
                <a:latin typeface="Calibri" pitchFamily="34" charset="0"/>
                <a:ea typeface="Calibri" pitchFamily="34" charset="-122"/>
                <a:cs typeface="Calibri" pitchFamily="34" charset="-120"/>
              </a:rPr>
              <a:t>at 37 °C: 100%; at 30 °C: 62%</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Compare   </a:t>
            </a:r>
            <a:r>
              <a:rPr lang="en-US" sz="1050" dirty="0">
                <a:solidFill>
                  <a:srgbClr val="262B3A"/>
                </a:solidFill>
                <a:latin typeface="Calibri" pitchFamily="34" charset="0"/>
                <a:ea typeface="Calibri" pitchFamily="34" charset="-122"/>
                <a:cs typeface="Calibri" pitchFamily="34" charset="-120"/>
              </a:rPr>
              <a:t>62 ÷ 100 × 100 = 62% of the maximum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reactions run at about 60% of the rate: too slow</a:t>
            </a:r>
            <a:endParaRPr lang="en-US" sz="1050" dirty="0"/>
          </a:p>
        </p:txBody>
      </p:sp>
      <p:sp>
        <p:nvSpPr>
          <p:cNvPr id="106" name="Shape 104"/>
          <p:cNvSpPr/>
          <p:nvPr/>
        </p:nvSpPr>
        <p:spPr>
          <a:xfrm>
            <a:off x="411480" y="5833872"/>
            <a:ext cx="11368735" cy="530352"/>
          </a:xfrm>
          <a:prstGeom prst="rect">
            <a:avLst/>
          </a:prstGeom>
          <a:solidFill>
            <a:srgbClr val="FFF4E0"/>
          </a:solidFill>
          <a:ln w="6350">
            <a:solidFill>
              <a:srgbClr val="F1D9A8"/>
            </a:solidFill>
            <a:prstDash val="solid"/>
          </a:ln>
        </p:spPr>
      </p:sp>
      <p:sp>
        <p:nvSpPr>
          <p:cNvPr id="107" name="Shape 105"/>
          <p:cNvSpPr/>
          <p:nvPr/>
        </p:nvSpPr>
        <p:spPr>
          <a:xfrm>
            <a:off x="411480" y="5833872"/>
            <a:ext cx="82296" cy="530352"/>
          </a:xfrm>
          <a:prstGeom prst="rect">
            <a:avLst/>
          </a:prstGeom>
          <a:solidFill>
            <a:srgbClr val="E39A2F"/>
          </a:solidFill>
          <a:ln w="12700">
            <a:solidFill>
              <a:srgbClr val="E39A2F"/>
            </a:solidFill>
            <a:prstDash val="solid"/>
          </a:ln>
        </p:spPr>
      </p:sp>
      <p:sp>
        <p:nvSpPr>
          <p:cNvPr id="108" name="Text 10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by how many percentage points does activity fall between </a:t>
            </a:r>
            <a:r>
              <a:rPr lang="en-US" sz="1150" b="1" dirty="0">
                <a:solidFill>
                  <a:srgbClr val="262B3A"/>
                </a:solidFill>
                <a:latin typeface="Calibri" pitchFamily="34" charset="0"/>
                <a:ea typeface="Calibri" pitchFamily="34" charset="-122"/>
                <a:cs typeface="Calibri" pitchFamily="34" charset="-120"/>
              </a:rPr>
              <a:t>37 °C</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45 °C</a:t>
            </a:r>
            <a:r>
              <a:rPr lang="en-US" sz="1150" dirty="0">
                <a:solidFill>
                  <a:srgbClr val="262B3A"/>
                </a:solidFill>
                <a:latin typeface="Calibri" pitchFamily="34" charset="0"/>
                <a:ea typeface="Calibri" pitchFamily="34" charset="-122"/>
                <a:cs typeface="Calibri" pitchFamily="34" charset="-120"/>
              </a:rPr>
              <a:t>? Explain </a:t>
            </a:r>
            <a:r>
              <a:rPr lang="en-US" sz="1150" b="1" dirty="0">
                <a:solidFill>
                  <a:srgbClr val="262B3A"/>
                </a:solidFill>
                <a:latin typeface="Calibri" pitchFamily="34" charset="0"/>
                <a:ea typeface="Calibri" pitchFamily="34" charset="-122"/>
                <a:cs typeface="Calibri" pitchFamily="34" charset="-120"/>
              </a:rPr>
              <a:t>why</a:t>
            </a:r>
            <a:r>
              <a:rPr lang="en-US" sz="1150" dirty="0">
                <a:solidFill>
                  <a:srgbClr val="262B3A"/>
                </a:solidFill>
                <a:latin typeface="Calibri" pitchFamily="34" charset="0"/>
                <a:ea typeface="Calibri" pitchFamily="34" charset="-122"/>
                <a:cs typeface="Calibri" pitchFamily="34" charset="-120"/>
              </a:rPr>
              <a:t> it falls.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Why keep conditions constant? Water and cells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if the water concentration of body fluids changes, cells gain or lose water by osmosis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B5.4.1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red blood cells in three solutions; arrows: net water movement</a:t>
            </a:r>
            <a:endParaRPr lang="en-US" sz="1000" dirty="0"/>
          </a:p>
        </p:txBody>
      </p:sp>
      <p:sp>
        <p:nvSpPr>
          <p:cNvPr id="10" name="Text 8"/>
          <p:cNvSpPr/>
          <p:nvPr/>
        </p:nvSpPr>
        <p:spPr>
          <a:xfrm>
            <a:off x="457200" y="1325880"/>
            <a:ext cx="1737360" cy="411480"/>
          </a:xfrm>
          <a:prstGeom prst="rect">
            <a:avLst/>
          </a:prstGeom>
          <a:noFill/>
          <a:ln/>
        </p:spPr>
        <p:txBody>
          <a:bodyPr wrap="square" lIns="0" tIns="0" rIns="0" bIns="0" rtlCol="0" anchor="t"/>
          <a:lstStyle/>
          <a:p>
            <a:pPr algn="ctr" indent="0" marL="0">
              <a:buNone/>
            </a:pPr>
            <a:r>
              <a:rPr lang="en-US" sz="1050" b="1" dirty="0">
                <a:solidFill>
                  <a:srgbClr val="133536"/>
                </a:solidFill>
                <a:latin typeface="Calibri" pitchFamily="34" charset="0"/>
                <a:ea typeface="Calibri" pitchFamily="34" charset="-122"/>
                <a:cs typeface="Calibri" pitchFamily="34" charset="-120"/>
              </a:rPr>
              <a:t>More concentrated than the cell</a:t>
            </a:r>
            <a:endParaRPr lang="en-US" sz="1050" dirty="0"/>
          </a:p>
        </p:txBody>
      </p:sp>
      <p:sp>
        <p:nvSpPr>
          <p:cNvPr id="11" name="Shape 9"/>
          <p:cNvSpPr/>
          <p:nvPr/>
        </p:nvSpPr>
        <p:spPr>
          <a:xfrm>
            <a:off x="548640" y="2036826"/>
            <a:ext cx="1554480" cy="1437894"/>
          </a:xfrm>
          <a:prstGeom prst="rect">
            <a:avLst/>
          </a:prstGeom>
          <a:solidFill>
            <a:srgbClr val="D7E9F5"/>
          </a:solidFill>
          <a:ln/>
        </p:spPr>
      </p:sp>
      <p:sp>
        <p:nvSpPr>
          <p:cNvPr id="12" name="Shape 10"/>
          <p:cNvSpPr/>
          <p:nvPr/>
        </p:nvSpPr>
        <p:spPr>
          <a:xfrm>
            <a:off x="548640" y="1783080"/>
            <a:ext cx="91" cy="1691640"/>
          </a:xfrm>
          <a:prstGeom prst="line">
            <a:avLst/>
          </a:prstGeom>
          <a:noFill/>
          <a:ln w="25400">
            <a:solidFill>
              <a:srgbClr val="133536"/>
            </a:solidFill>
            <a:prstDash val="solid"/>
          </a:ln>
        </p:spPr>
      </p:sp>
      <p:sp>
        <p:nvSpPr>
          <p:cNvPr id="13" name="Shape 11"/>
          <p:cNvSpPr/>
          <p:nvPr/>
        </p:nvSpPr>
        <p:spPr>
          <a:xfrm>
            <a:off x="2103120" y="1783080"/>
            <a:ext cx="91" cy="1691640"/>
          </a:xfrm>
          <a:prstGeom prst="line">
            <a:avLst/>
          </a:prstGeom>
          <a:noFill/>
          <a:ln w="25400">
            <a:solidFill>
              <a:srgbClr val="133536"/>
            </a:solidFill>
            <a:prstDash val="solid"/>
          </a:ln>
        </p:spPr>
      </p:sp>
      <p:sp>
        <p:nvSpPr>
          <p:cNvPr id="14" name="Shape 12"/>
          <p:cNvSpPr/>
          <p:nvPr/>
        </p:nvSpPr>
        <p:spPr>
          <a:xfrm>
            <a:off x="548640" y="3474720"/>
            <a:ext cx="1554480" cy="91"/>
          </a:xfrm>
          <a:prstGeom prst="line">
            <a:avLst/>
          </a:prstGeom>
          <a:noFill/>
          <a:ln w="25400">
            <a:solidFill>
              <a:srgbClr val="133536"/>
            </a:solidFill>
            <a:prstDash val="solid"/>
          </a:ln>
        </p:spPr>
      </p:sp>
      <p:sp>
        <p:nvSpPr>
          <p:cNvPr id="15" name="Shape 13"/>
          <p:cNvSpPr/>
          <p:nvPr/>
        </p:nvSpPr>
        <p:spPr>
          <a:xfrm>
            <a:off x="548640" y="2036826"/>
            <a:ext cx="1554480" cy="91"/>
          </a:xfrm>
          <a:prstGeom prst="line">
            <a:avLst/>
          </a:prstGeom>
          <a:noFill/>
          <a:ln w="15875">
            <a:solidFill>
              <a:srgbClr val="5B9BD5"/>
            </a:solidFill>
            <a:prstDash val="solid"/>
          </a:ln>
        </p:spPr>
      </p:sp>
      <p:sp>
        <p:nvSpPr>
          <p:cNvPr id="16" name="Shape 14"/>
          <p:cNvSpPr/>
          <p:nvPr/>
        </p:nvSpPr>
        <p:spPr>
          <a:xfrm>
            <a:off x="1014984" y="2478024"/>
            <a:ext cx="621792" cy="621792"/>
          </a:xfrm>
          <a:custGeom>
            <a:avLst/>
            <a:gdLst/>
            <a:ahLst/>
            <a:cxnLst/>
            <a:rect l="l" t="t" r="r" b="b"/>
            <a:pathLst>
              <a:path w="621792" h="621792">
                <a:moveTo>
                  <a:pt x="621792" y="310896"/>
                </a:moveTo>
                <a:lnTo>
                  <a:pt x="549371" y="374795"/>
                </a:lnTo>
                <a:lnTo>
                  <a:pt x="580140" y="466344"/>
                </a:lnTo>
                <a:lnTo>
                  <a:pt x="485472" y="485472"/>
                </a:lnTo>
                <a:lnTo>
                  <a:pt x="466344" y="580140"/>
                </a:lnTo>
                <a:lnTo>
                  <a:pt x="374795" y="549371"/>
                </a:lnTo>
                <a:lnTo>
                  <a:pt x="310896" y="621792"/>
                </a:lnTo>
                <a:lnTo>
                  <a:pt x="246997" y="549371"/>
                </a:lnTo>
                <a:lnTo>
                  <a:pt x="155448" y="580140"/>
                </a:lnTo>
                <a:lnTo>
                  <a:pt x="136320" y="485472"/>
                </a:lnTo>
                <a:lnTo>
                  <a:pt x="41652" y="466344"/>
                </a:lnTo>
                <a:lnTo>
                  <a:pt x="72421" y="374795"/>
                </a:lnTo>
                <a:lnTo>
                  <a:pt x="0" y="310896"/>
                </a:lnTo>
                <a:lnTo>
                  <a:pt x="72421" y="246997"/>
                </a:lnTo>
                <a:lnTo>
                  <a:pt x="41652" y="155448"/>
                </a:lnTo>
                <a:lnTo>
                  <a:pt x="136320" y="136320"/>
                </a:lnTo>
                <a:lnTo>
                  <a:pt x="155448" y="41652"/>
                </a:lnTo>
                <a:lnTo>
                  <a:pt x="246997" y="72421"/>
                </a:lnTo>
                <a:lnTo>
                  <a:pt x="310896" y="0"/>
                </a:lnTo>
                <a:lnTo>
                  <a:pt x="374795" y="72421"/>
                </a:lnTo>
                <a:lnTo>
                  <a:pt x="466344" y="41652"/>
                </a:lnTo>
                <a:lnTo>
                  <a:pt x="485472" y="136320"/>
                </a:lnTo>
                <a:lnTo>
                  <a:pt x="580140" y="155448"/>
                </a:lnTo>
                <a:lnTo>
                  <a:pt x="549371" y="246997"/>
                </a:lnTo>
                <a:close/>
              </a:path>
            </a:pathLst>
          </a:custGeom>
          <a:solidFill>
            <a:srgbClr val="B83A40"/>
          </a:solidFill>
          <a:ln w="12700">
            <a:solidFill>
              <a:srgbClr val="6E1E23"/>
            </a:solidFill>
            <a:prstDash val="solid"/>
          </a:ln>
        </p:spPr>
      </p:sp>
      <p:sp>
        <p:nvSpPr>
          <p:cNvPr id="17" name="Shape 15"/>
          <p:cNvSpPr/>
          <p:nvPr/>
        </p:nvSpPr>
        <p:spPr>
          <a:xfrm flipH="1" flipV="1">
            <a:off x="758952" y="2331720"/>
            <a:ext cx="274320" cy="256032"/>
          </a:xfrm>
          <a:prstGeom prst="line">
            <a:avLst/>
          </a:prstGeom>
          <a:noFill/>
          <a:ln w="22225">
            <a:solidFill>
              <a:srgbClr val="2F5F8F"/>
            </a:solidFill>
            <a:prstDash val="solid"/>
            <a:tailEnd type="triangle"/>
          </a:ln>
        </p:spPr>
      </p:sp>
      <p:sp>
        <p:nvSpPr>
          <p:cNvPr id="18" name="Shape 16"/>
          <p:cNvSpPr/>
          <p:nvPr/>
        </p:nvSpPr>
        <p:spPr>
          <a:xfrm flipV="1">
            <a:off x="1618488" y="2331720"/>
            <a:ext cx="274320" cy="256032"/>
          </a:xfrm>
          <a:prstGeom prst="line">
            <a:avLst/>
          </a:prstGeom>
          <a:noFill/>
          <a:ln w="22225">
            <a:solidFill>
              <a:srgbClr val="2F5F8F"/>
            </a:solidFill>
            <a:prstDash val="solid"/>
            <a:tailEnd type="triangle"/>
          </a:ln>
        </p:spPr>
      </p:sp>
      <p:sp>
        <p:nvSpPr>
          <p:cNvPr id="19" name="Shape 17"/>
          <p:cNvSpPr/>
          <p:nvPr/>
        </p:nvSpPr>
        <p:spPr>
          <a:xfrm flipH="1">
            <a:off x="758952" y="2990088"/>
            <a:ext cx="274320" cy="256032"/>
          </a:xfrm>
          <a:prstGeom prst="line">
            <a:avLst/>
          </a:prstGeom>
          <a:noFill/>
          <a:ln w="22225">
            <a:solidFill>
              <a:srgbClr val="2F5F8F"/>
            </a:solidFill>
            <a:prstDash val="solid"/>
            <a:tailEnd type="triangle"/>
          </a:ln>
        </p:spPr>
      </p:sp>
      <p:sp>
        <p:nvSpPr>
          <p:cNvPr id="20" name="Shape 18"/>
          <p:cNvSpPr/>
          <p:nvPr/>
        </p:nvSpPr>
        <p:spPr>
          <a:xfrm>
            <a:off x="1618488" y="2990088"/>
            <a:ext cx="274320" cy="256032"/>
          </a:xfrm>
          <a:prstGeom prst="line">
            <a:avLst/>
          </a:prstGeom>
          <a:noFill/>
          <a:ln w="22225">
            <a:solidFill>
              <a:srgbClr val="2F5F8F"/>
            </a:solidFill>
            <a:prstDash val="solid"/>
            <a:tailEnd type="triangle"/>
          </a:ln>
        </p:spPr>
      </p:sp>
      <p:sp>
        <p:nvSpPr>
          <p:cNvPr id="21" name="Text 19"/>
          <p:cNvSpPr/>
          <p:nvPr/>
        </p:nvSpPr>
        <p:spPr>
          <a:xfrm>
            <a:off x="457200" y="3611880"/>
            <a:ext cx="1737360" cy="6858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water </a:t>
            </a:r>
            <a:r>
              <a:rPr lang="en-US" sz="1050" b="1" dirty="0">
                <a:solidFill>
                  <a:srgbClr val="262B3A"/>
                </a:solidFill>
                <a:latin typeface="Calibri" pitchFamily="34" charset="0"/>
                <a:ea typeface="Calibri" pitchFamily="34" charset="-122"/>
                <a:cs typeface="Calibri" pitchFamily="34" charset="-120"/>
              </a:rPr>
              <a:t>leaves</a:t>
            </a:r>
            <a:r>
              <a:rPr lang="en-US" sz="1050" dirty="0">
                <a:solidFill>
                  <a:srgbClr val="262B3A"/>
                </a:solidFill>
                <a:latin typeface="Calibri" pitchFamily="34" charset="0"/>
                <a:ea typeface="Calibri" pitchFamily="34" charset="-122"/>
                <a:cs typeface="Calibri" pitchFamily="34" charset="-120"/>
              </a:rPr>
              <a:t> the cell: it </a:t>
            </a:r>
            <a:r>
              <a:rPr lang="en-US" sz="1050" b="1" dirty="0">
                <a:solidFill>
                  <a:srgbClr val="262B3A"/>
                </a:solidFill>
                <a:latin typeface="Calibri" pitchFamily="34" charset="0"/>
                <a:ea typeface="Calibri" pitchFamily="34" charset="-122"/>
                <a:cs typeface="Calibri" pitchFamily="34" charset="-120"/>
              </a:rPr>
              <a:t>shrinks</a:t>
            </a:r>
            <a:r>
              <a:rPr lang="en-US" sz="1050" dirty="0">
                <a:solidFill>
                  <a:srgbClr val="262B3A"/>
                </a:solidFill>
                <a:latin typeface="Calibri" pitchFamily="34" charset="0"/>
                <a:ea typeface="Calibri" pitchFamily="34" charset="-122"/>
                <a:cs typeface="Calibri" pitchFamily="34" charset="-120"/>
              </a:rPr>
              <a:t> and crinkles</a:t>
            </a:r>
            <a:endParaRPr lang="en-US" sz="1050" dirty="0"/>
          </a:p>
        </p:txBody>
      </p:sp>
      <p:sp>
        <p:nvSpPr>
          <p:cNvPr id="22" name="Text 20"/>
          <p:cNvSpPr/>
          <p:nvPr/>
        </p:nvSpPr>
        <p:spPr>
          <a:xfrm>
            <a:off x="2331720" y="1325880"/>
            <a:ext cx="1737360" cy="411480"/>
          </a:xfrm>
          <a:prstGeom prst="rect">
            <a:avLst/>
          </a:prstGeom>
          <a:noFill/>
          <a:ln/>
        </p:spPr>
        <p:txBody>
          <a:bodyPr wrap="square" lIns="0" tIns="0" rIns="0" bIns="0" rtlCol="0" anchor="t"/>
          <a:lstStyle/>
          <a:p>
            <a:pPr algn="ctr" indent="0" marL="0">
              <a:buNone/>
            </a:pPr>
            <a:r>
              <a:rPr lang="en-US" sz="1050" b="1" dirty="0">
                <a:solidFill>
                  <a:srgbClr val="133536"/>
                </a:solidFill>
                <a:latin typeface="Calibri" pitchFamily="34" charset="0"/>
                <a:ea typeface="Calibri" pitchFamily="34" charset="-122"/>
                <a:cs typeface="Calibri" pitchFamily="34" charset="-120"/>
              </a:rPr>
              <a:t>Same concentration as the cell</a:t>
            </a:r>
            <a:endParaRPr lang="en-US" sz="1050" dirty="0"/>
          </a:p>
        </p:txBody>
      </p:sp>
      <p:sp>
        <p:nvSpPr>
          <p:cNvPr id="23" name="Shape 21"/>
          <p:cNvSpPr/>
          <p:nvPr/>
        </p:nvSpPr>
        <p:spPr>
          <a:xfrm>
            <a:off x="2423160" y="2036826"/>
            <a:ext cx="1554480" cy="1437894"/>
          </a:xfrm>
          <a:prstGeom prst="rect">
            <a:avLst/>
          </a:prstGeom>
          <a:solidFill>
            <a:srgbClr val="E8F3FA"/>
          </a:solidFill>
          <a:ln/>
        </p:spPr>
      </p:sp>
      <p:sp>
        <p:nvSpPr>
          <p:cNvPr id="24" name="Shape 22"/>
          <p:cNvSpPr/>
          <p:nvPr/>
        </p:nvSpPr>
        <p:spPr>
          <a:xfrm>
            <a:off x="2423160" y="1783080"/>
            <a:ext cx="91" cy="1691640"/>
          </a:xfrm>
          <a:prstGeom prst="line">
            <a:avLst/>
          </a:prstGeom>
          <a:noFill/>
          <a:ln w="25400">
            <a:solidFill>
              <a:srgbClr val="133536"/>
            </a:solidFill>
            <a:prstDash val="solid"/>
          </a:ln>
        </p:spPr>
      </p:sp>
      <p:sp>
        <p:nvSpPr>
          <p:cNvPr id="25" name="Shape 23"/>
          <p:cNvSpPr/>
          <p:nvPr/>
        </p:nvSpPr>
        <p:spPr>
          <a:xfrm>
            <a:off x="3977640" y="1783080"/>
            <a:ext cx="91" cy="1691640"/>
          </a:xfrm>
          <a:prstGeom prst="line">
            <a:avLst/>
          </a:prstGeom>
          <a:noFill/>
          <a:ln w="25400">
            <a:solidFill>
              <a:srgbClr val="133536"/>
            </a:solidFill>
            <a:prstDash val="solid"/>
          </a:ln>
        </p:spPr>
      </p:sp>
      <p:sp>
        <p:nvSpPr>
          <p:cNvPr id="26" name="Shape 24"/>
          <p:cNvSpPr/>
          <p:nvPr/>
        </p:nvSpPr>
        <p:spPr>
          <a:xfrm>
            <a:off x="2423160" y="3474720"/>
            <a:ext cx="1554480" cy="91"/>
          </a:xfrm>
          <a:prstGeom prst="line">
            <a:avLst/>
          </a:prstGeom>
          <a:noFill/>
          <a:ln w="25400">
            <a:solidFill>
              <a:srgbClr val="133536"/>
            </a:solidFill>
            <a:prstDash val="solid"/>
          </a:ln>
        </p:spPr>
      </p:sp>
      <p:sp>
        <p:nvSpPr>
          <p:cNvPr id="27" name="Shape 25"/>
          <p:cNvSpPr/>
          <p:nvPr/>
        </p:nvSpPr>
        <p:spPr>
          <a:xfrm>
            <a:off x="2423160" y="2036826"/>
            <a:ext cx="1554480" cy="91"/>
          </a:xfrm>
          <a:prstGeom prst="line">
            <a:avLst/>
          </a:prstGeom>
          <a:noFill/>
          <a:ln w="15875">
            <a:solidFill>
              <a:srgbClr val="5B9BD5"/>
            </a:solidFill>
            <a:prstDash val="solid"/>
          </a:ln>
        </p:spPr>
      </p:sp>
      <p:sp>
        <p:nvSpPr>
          <p:cNvPr id="28" name="Shape 26"/>
          <p:cNvSpPr/>
          <p:nvPr/>
        </p:nvSpPr>
        <p:spPr>
          <a:xfrm>
            <a:off x="2816352" y="2404872"/>
            <a:ext cx="768096" cy="768096"/>
          </a:xfrm>
          <a:prstGeom prst="ellipse">
            <a:avLst/>
          </a:prstGeom>
          <a:solidFill>
            <a:srgbClr val="D9534F"/>
          </a:solidFill>
          <a:ln w="15875">
            <a:solidFill>
              <a:srgbClr val="8E2A33"/>
            </a:solidFill>
            <a:prstDash val="solid"/>
          </a:ln>
        </p:spPr>
      </p:sp>
      <p:sp>
        <p:nvSpPr>
          <p:cNvPr id="29" name="Shape 27"/>
          <p:cNvSpPr/>
          <p:nvPr/>
        </p:nvSpPr>
        <p:spPr>
          <a:xfrm>
            <a:off x="3035808" y="2624328"/>
            <a:ext cx="329184" cy="329184"/>
          </a:xfrm>
          <a:prstGeom prst="ellipse">
            <a:avLst/>
          </a:prstGeom>
          <a:solidFill>
            <a:srgbClr val="EE8A8F"/>
          </a:solidFill>
          <a:ln w="9525">
            <a:solidFill>
              <a:srgbClr val="EE8A8F"/>
            </a:solidFill>
            <a:prstDash val="solid"/>
          </a:ln>
        </p:spPr>
      </p:sp>
      <p:sp>
        <p:nvSpPr>
          <p:cNvPr id="30" name="Shape 28"/>
          <p:cNvSpPr/>
          <p:nvPr/>
        </p:nvSpPr>
        <p:spPr>
          <a:xfrm>
            <a:off x="2560320" y="2423160"/>
            <a:ext cx="228600" cy="182880"/>
          </a:xfrm>
          <a:prstGeom prst="line">
            <a:avLst/>
          </a:prstGeom>
          <a:noFill/>
          <a:ln w="15875">
            <a:solidFill>
              <a:srgbClr val="2F5F8F"/>
            </a:solidFill>
            <a:prstDash val="solid"/>
            <a:tailEnd type="triangle"/>
          </a:ln>
        </p:spPr>
      </p:sp>
      <p:sp>
        <p:nvSpPr>
          <p:cNvPr id="31" name="Shape 29"/>
          <p:cNvSpPr/>
          <p:nvPr/>
        </p:nvSpPr>
        <p:spPr>
          <a:xfrm>
            <a:off x="3611880" y="2971800"/>
            <a:ext cx="228600" cy="182880"/>
          </a:xfrm>
          <a:prstGeom prst="line">
            <a:avLst/>
          </a:prstGeom>
          <a:noFill/>
          <a:ln w="15875">
            <a:solidFill>
              <a:srgbClr val="2F5F8F"/>
            </a:solidFill>
            <a:prstDash val="solid"/>
            <a:tailEnd type="triangle"/>
          </a:ln>
        </p:spPr>
      </p:sp>
      <p:sp>
        <p:nvSpPr>
          <p:cNvPr id="32" name="Text 30"/>
          <p:cNvSpPr/>
          <p:nvPr/>
        </p:nvSpPr>
        <p:spPr>
          <a:xfrm>
            <a:off x="2331720" y="3611880"/>
            <a:ext cx="1737360" cy="6858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no net movement: cell </a:t>
            </a:r>
            <a:r>
              <a:rPr lang="en-US" sz="1050" b="1" dirty="0">
                <a:solidFill>
                  <a:srgbClr val="262B3A"/>
                </a:solidFill>
                <a:latin typeface="Calibri" pitchFamily="34" charset="0"/>
                <a:ea typeface="Calibri" pitchFamily="34" charset="-122"/>
                <a:cs typeface="Calibri" pitchFamily="34" charset="-120"/>
              </a:rPr>
              <a:t>stays normal</a:t>
            </a:r>
            <a:endParaRPr lang="en-US" sz="1050" dirty="0"/>
          </a:p>
        </p:txBody>
      </p:sp>
      <p:sp>
        <p:nvSpPr>
          <p:cNvPr id="33" name="Text 31"/>
          <p:cNvSpPr/>
          <p:nvPr/>
        </p:nvSpPr>
        <p:spPr>
          <a:xfrm>
            <a:off x="4206240" y="1325880"/>
            <a:ext cx="1737360" cy="411480"/>
          </a:xfrm>
          <a:prstGeom prst="rect">
            <a:avLst/>
          </a:prstGeom>
          <a:noFill/>
          <a:ln/>
        </p:spPr>
        <p:txBody>
          <a:bodyPr wrap="square" lIns="0" tIns="0" rIns="0" bIns="0" rtlCol="0" anchor="t"/>
          <a:lstStyle/>
          <a:p>
            <a:pPr algn="ctr" indent="0" marL="0">
              <a:buNone/>
            </a:pPr>
            <a:r>
              <a:rPr lang="en-US" sz="1050" b="1" dirty="0">
                <a:solidFill>
                  <a:srgbClr val="133536"/>
                </a:solidFill>
                <a:latin typeface="Calibri" pitchFamily="34" charset="0"/>
                <a:ea typeface="Calibri" pitchFamily="34" charset="-122"/>
                <a:cs typeface="Calibri" pitchFamily="34" charset="-120"/>
              </a:rPr>
              <a:t>More dilute than the cell</a:t>
            </a:r>
            <a:endParaRPr lang="en-US" sz="1050" dirty="0"/>
          </a:p>
        </p:txBody>
      </p:sp>
      <p:sp>
        <p:nvSpPr>
          <p:cNvPr id="34" name="Shape 32"/>
          <p:cNvSpPr/>
          <p:nvPr/>
        </p:nvSpPr>
        <p:spPr>
          <a:xfrm>
            <a:off x="4297680" y="2036826"/>
            <a:ext cx="1554480" cy="1437894"/>
          </a:xfrm>
          <a:prstGeom prst="rect">
            <a:avLst/>
          </a:prstGeom>
          <a:solidFill>
            <a:srgbClr val="F3F9FD"/>
          </a:solidFill>
          <a:ln/>
        </p:spPr>
      </p:sp>
      <p:sp>
        <p:nvSpPr>
          <p:cNvPr id="35" name="Shape 33"/>
          <p:cNvSpPr/>
          <p:nvPr/>
        </p:nvSpPr>
        <p:spPr>
          <a:xfrm>
            <a:off x="4297680" y="1783080"/>
            <a:ext cx="91" cy="1691640"/>
          </a:xfrm>
          <a:prstGeom prst="line">
            <a:avLst/>
          </a:prstGeom>
          <a:noFill/>
          <a:ln w="25400">
            <a:solidFill>
              <a:srgbClr val="133536"/>
            </a:solidFill>
            <a:prstDash val="solid"/>
          </a:ln>
        </p:spPr>
      </p:sp>
      <p:sp>
        <p:nvSpPr>
          <p:cNvPr id="36" name="Shape 34"/>
          <p:cNvSpPr/>
          <p:nvPr/>
        </p:nvSpPr>
        <p:spPr>
          <a:xfrm>
            <a:off x="5852160" y="1783080"/>
            <a:ext cx="91" cy="1691640"/>
          </a:xfrm>
          <a:prstGeom prst="line">
            <a:avLst/>
          </a:prstGeom>
          <a:noFill/>
          <a:ln w="25400">
            <a:solidFill>
              <a:srgbClr val="133536"/>
            </a:solidFill>
            <a:prstDash val="solid"/>
          </a:ln>
        </p:spPr>
      </p:sp>
      <p:sp>
        <p:nvSpPr>
          <p:cNvPr id="37" name="Shape 35"/>
          <p:cNvSpPr/>
          <p:nvPr/>
        </p:nvSpPr>
        <p:spPr>
          <a:xfrm>
            <a:off x="4297680" y="3474720"/>
            <a:ext cx="1554480" cy="91"/>
          </a:xfrm>
          <a:prstGeom prst="line">
            <a:avLst/>
          </a:prstGeom>
          <a:noFill/>
          <a:ln w="25400">
            <a:solidFill>
              <a:srgbClr val="133536"/>
            </a:solidFill>
            <a:prstDash val="solid"/>
          </a:ln>
        </p:spPr>
      </p:sp>
      <p:sp>
        <p:nvSpPr>
          <p:cNvPr id="38" name="Shape 36"/>
          <p:cNvSpPr/>
          <p:nvPr/>
        </p:nvSpPr>
        <p:spPr>
          <a:xfrm>
            <a:off x="4297680" y="2036826"/>
            <a:ext cx="1554480" cy="91"/>
          </a:xfrm>
          <a:prstGeom prst="line">
            <a:avLst/>
          </a:prstGeom>
          <a:noFill/>
          <a:ln w="15875">
            <a:solidFill>
              <a:srgbClr val="5B9BD5"/>
            </a:solidFill>
            <a:prstDash val="solid"/>
          </a:ln>
        </p:spPr>
      </p:sp>
      <p:sp>
        <p:nvSpPr>
          <p:cNvPr id="39" name="Shape 37"/>
          <p:cNvSpPr/>
          <p:nvPr/>
        </p:nvSpPr>
        <p:spPr>
          <a:xfrm>
            <a:off x="4517136" y="2231136"/>
            <a:ext cx="1115568" cy="1115568"/>
          </a:xfrm>
          <a:prstGeom prst="ellipse">
            <a:avLst/>
          </a:prstGeom>
          <a:ln w="12700">
            <a:solidFill>
              <a:srgbClr val="8E2A33"/>
            </a:solidFill>
            <a:prstDash val="dash"/>
          </a:ln>
        </p:spPr>
      </p:sp>
      <p:sp>
        <p:nvSpPr>
          <p:cNvPr id="40" name="Shape 38"/>
          <p:cNvSpPr/>
          <p:nvPr/>
        </p:nvSpPr>
        <p:spPr>
          <a:xfrm>
            <a:off x="4599432" y="2313432"/>
            <a:ext cx="950976" cy="950976"/>
          </a:xfrm>
          <a:prstGeom prst="ellipse">
            <a:avLst/>
          </a:prstGeom>
          <a:solidFill>
            <a:srgbClr val="E86B6F"/>
          </a:solidFill>
          <a:ln w="15875">
            <a:solidFill>
              <a:srgbClr val="8E2A33"/>
            </a:solidFill>
            <a:prstDash val="solid"/>
          </a:ln>
        </p:spPr>
      </p:sp>
      <p:sp>
        <p:nvSpPr>
          <p:cNvPr id="41" name="Shape 39"/>
          <p:cNvSpPr/>
          <p:nvPr/>
        </p:nvSpPr>
        <p:spPr>
          <a:xfrm>
            <a:off x="4389120" y="2221992"/>
            <a:ext cx="274320" cy="219456"/>
          </a:xfrm>
          <a:prstGeom prst="line">
            <a:avLst/>
          </a:prstGeom>
          <a:noFill/>
          <a:ln w="22225">
            <a:solidFill>
              <a:srgbClr val="2F5F8F"/>
            </a:solidFill>
            <a:prstDash val="solid"/>
            <a:tailEnd type="triangle"/>
          </a:ln>
        </p:spPr>
      </p:sp>
      <p:sp>
        <p:nvSpPr>
          <p:cNvPr id="42" name="Shape 40"/>
          <p:cNvSpPr/>
          <p:nvPr/>
        </p:nvSpPr>
        <p:spPr>
          <a:xfrm flipH="1">
            <a:off x="5486400" y="2221992"/>
            <a:ext cx="274320" cy="219456"/>
          </a:xfrm>
          <a:prstGeom prst="line">
            <a:avLst/>
          </a:prstGeom>
          <a:noFill/>
          <a:ln w="22225">
            <a:solidFill>
              <a:srgbClr val="2F5F8F"/>
            </a:solidFill>
            <a:prstDash val="solid"/>
            <a:tailEnd type="triangle"/>
          </a:ln>
        </p:spPr>
      </p:sp>
      <p:sp>
        <p:nvSpPr>
          <p:cNvPr id="43" name="Shape 41"/>
          <p:cNvSpPr/>
          <p:nvPr/>
        </p:nvSpPr>
        <p:spPr>
          <a:xfrm flipV="1">
            <a:off x="4389120" y="3136392"/>
            <a:ext cx="274320" cy="219456"/>
          </a:xfrm>
          <a:prstGeom prst="line">
            <a:avLst/>
          </a:prstGeom>
          <a:noFill/>
          <a:ln w="22225">
            <a:solidFill>
              <a:srgbClr val="2F5F8F"/>
            </a:solidFill>
            <a:prstDash val="solid"/>
            <a:tailEnd type="triangle"/>
          </a:ln>
        </p:spPr>
      </p:sp>
      <p:sp>
        <p:nvSpPr>
          <p:cNvPr id="44" name="Shape 42"/>
          <p:cNvSpPr/>
          <p:nvPr/>
        </p:nvSpPr>
        <p:spPr>
          <a:xfrm flipH="1" flipV="1">
            <a:off x="5486400" y="3136392"/>
            <a:ext cx="274320" cy="219456"/>
          </a:xfrm>
          <a:prstGeom prst="line">
            <a:avLst/>
          </a:prstGeom>
          <a:noFill/>
          <a:ln w="22225">
            <a:solidFill>
              <a:srgbClr val="2F5F8F"/>
            </a:solidFill>
            <a:prstDash val="solid"/>
            <a:tailEnd type="triangle"/>
          </a:ln>
        </p:spPr>
      </p:sp>
      <p:sp>
        <p:nvSpPr>
          <p:cNvPr id="45" name="Text 43"/>
          <p:cNvSpPr/>
          <p:nvPr/>
        </p:nvSpPr>
        <p:spPr>
          <a:xfrm>
            <a:off x="4206240" y="3611880"/>
            <a:ext cx="1737360" cy="6858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water </a:t>
            </a:r>
            <a:r>
              <a:rPr lang="en-US" sz="1050" b="1" dirty="0">
                <a:solidFill>
                  <a:srgbClr val="262B3A"/>
                </a:solidFill>
                <a:latin typeface="Calibri" pitchFamily="34" charset="0"/>
                <a:ea typeface="Calibri" pitchFamily="34" charset="-122"/>
                <a:cs typeface="Calibri" pitchFamily="34" charset="-120"/>
              </a:rPr>
              <a:t>enters</a:t>
            </a:r>
            <a:r>
              <a:rPr lang="en-US" sz="1050" dirty="0">
                <a:solidFill>
                  <a:srgbClr val="262B3A"/>
                </a:solidFill>
                <a:latin typeface="Calibri" pitchFamily="34" charset="0"/>
                <a:ea typeface="Calibri" pitchFamily="34" charset="-122"/>
                <a:cs typeface="Calibri" pitchFamily="34" charset="-120"/>
              </a:rPr>
              <a:t> the cell: it </a:t>
            </a:r>
            <a:r>
              <a:rPr lang="en-US" sz="1050" b="1" dirty="0">
                <a:solidFill>
                  <a:srgbClr val="262B3A"/>
                </a:solidFill>
                <a:latin typeface="Calibri" pitchFamily="34" charset="0"/>
                <a:ea typeface="Calibri" pitchFamily="34" charset="-122"/>
                <a:cs typeface="Calibri" pitchFamily="34" charset="-120"/>
              </a:rPr>
              <a:t>swells</a:t>
            </a:r>
            <a:r>
              <a:rPr lang="en-US" sz="1050" dirty="0">
                <a:solidFill>
                  <a:srgbClr val="262B3A"/>
                </a:solidFill>
                <a:latin typeface="Calibri" pitchFamily="34" charset="0"/>
                <a:ea typeface="Calibri" pitchFamily="34" charset="-122"/>
                <a:cs typeface="Calibri" pitchFamily="34" charset="-120"/>
              </a:rPr>
              <a:t> and may </a:t>
            </a:r>
            <a:r>
              <a:rPr lang="en-US" sz="1050" b="1" dirty="0">
                <a:solidFill>
                  <a:srgbClr val="262B3A"/>
                </a:solidFill>
                <a:latin typeface="Calibri" pitchFamily="34" charset="0"/>
                <a:ea typeface="Calibri" pitchFamily="34" charset="-122"/>
                <a:cs typeface="Calibri" pitchFamily="34" charset="-120"/>
              </a:rPr>
              <a:t>burst</a:t>
            </a:r>
            <a:endParaRPr lang="en-US" sz="1050" dirty="0"/>
          </a:p>
        </p:txBody>
      </p:sp>
      <p:sp>
        <p:nvSpPr>
          <p:cNvPr id="46" name="Shape 44"/>
          <p:cNvSpPr/>
          <p:nvPr/>
        </p:nvSpPr>
        <p:spPr>
          <a:xfrm>
            <a:off x="594360" y="4389120"/>
            <a:ext cx="5212080" cy="914400"/>
          </a:xfrm>
          <a:prstGeom prst="roundRect">
            <a:avLst>
              <a:gd name="adj" fmla="val 6000"/>
            </a:avLst>
          </a:prstGeom>
          <a:solidFill>
            <a:srgbClr val="FFFFFF"/>
          </a:solidFill>
          <a:ln w="15875">
            <a:solidFill>
              <a:srgbClr val="C8414C"/>
            </a:solidFill>
            <a:prstDash val="solid"/>
          </a:ln>
        </p:spPr>
      </p:sp>
      <p:sp>
        <p:nvSpPr>
          <p:cNvPr id="47" name="Text 45"/>
          <p:cNvSpPr/>
          <p:nvPr/>
        </p:nvSpPr>
        <p:spPr>
          <a:xfrm>
            <a:off x="731520" y="4434840"/>
            <a:ext cx="4937760" cy="82296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Animal cells have no cell wall</a:t>
            </a:r>
            <a:r>
              <a:rPr lang="en-US" sz="1050" dirty="0">
                <a:solidFill>
                  <a:srgbClr val="262B3A"/>
                </a:solidFill>
                <a:latin typeface="Calibri" pitchFamily="34" charset="0"/>
                <a:ea typeface="Calibri" pitchFamily="34" charset="-122"/>
                <a:cs typeface="Calibri" pitchFamily="34" charset="-120"/>
              </a:rPr>
              <a:t>, so too much water in can burst them, and too little shrinks them. Either way the cell cannot work properly.</a:t>
            </a:r>
            <a:endParaRPr lang="en-US" sz="1050" dirty="0"/>
          </a:p>
        </p:txBody>
      </p:sp>
      <p:sp>
        <p:nvSpPr>
          <p:cNvPr id="48" name="Shape 46"/>
          <p:cNvSpPr/>
          <p:nvPr/>
        </p:nvSpPr>
        <p:spPr>
          <a:xfrm>
            <a:off x="6217920" y="1188720"/>
            <a:ext cx="5559552" cy="2331720"/>
          </a:xfrm>
          <a:prstGeom prst="roundRect">
            <a:avLst>
              <a:gd name="adj" fmla="val 2353"/>
            </a:avLst>
          </a:prstGeom>
          <a:solidFill>
            <a:srgbClr val="F4FAF9"/>
          </a:solidFill>
          <a:ln w="9525">
            <a:solidFill>
              <a:srgbClr val="CFE0DE"/>
            </a:solidFill>
            <a:prstDash val="solid"/>
          </a:ln>
        </p:spPr>
      </p:sp>
      <p:sp>
        <p:nvSpPr>
          <p:cNvPr id="49" name="Text 47"/>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Water and ion concentration</a:t>
            </a:r>
            <a:endParaRPr lang="en-US" sz="1300" dirty="0"/>
          </a:p>
        </p:txBody>
      </p:sp>
      <p:sp>
        <p:nvSpPr>
          <p:cNvPr id="50" name="Text 48"/>
          <p:cNvSpPr/>
          <p:nvPr/>
        </p:nvSpPr>
        <p:spPr>
          <a:xfrm>
            <a:off x="6382512" y="1609344"/>
            <a:ext cx="5230368" cy="18379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Water moves into and out of cells by </a:t>
            </a:r>
            <a:r>
              <a:rPr lang="en-US" sz="1100" b="1" dirty="0">
                <a:solidFill>
                  <a:srgbClr val="262B3A"/>
                </a:solidFill>
                <a:latin typeface="Calibri" pitchFamily="34" charset="0"/>
                <a:ea typeface="Calibri" pitchFamily="34" charset="-122"/>
                <a:cs typeface="Calibri" pitchFamily="34" charset="-120"/>
              </a:rPr>
              <a:t>osmosis</a:t>
            </a:r>
            <a:r>
              <a:rPr lang="en-US" sz="1100" dirty="0">
                <a:solidFill>
                  <a:srgbClr val="262B3A"/>
                </a:solidFill>
                <a:latin typeface="Calibri" pitchFamily="34" charset="0"/>
                <a:ea typeface="Calibri" pitchFamily="34" charset="-122"/>
                <a:cs typeface="Calibri" pitchFamily="34" charset="-120"/>
              </a:rPr>
              <a:t> (B3), from a dilute solution to a more concentrated one.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ion</a:t>
            </a:r>
            <a:r>
              <a:rPr lang="en-US" sz="1100" dirty="0">
                <a:solidFill>
                  <a:srgbClr val="262B3A"/>
                </a:solidFill>
                <a:latin typeface="Calibri" pitchFamily="34" charset="0"/>
                <a:ea typeface="Calibri" pitchFamily="34" charset="-122"/>
                <a:cs typeface="Calibri" pitchFamily="34" charset="-120"/>
              </a:rPr>
              <a:t> (salt) concentration of tissue fluid must stay the </a:t>
            </a:r>
            <a:r>
              <a:rPr lang="en-US" sz="1100" b="1" dirty="0">
                <a:solidFill>
                  <a:srgbClr val="262B3A"/>
                </a:solidFill>
                <a:latin typeface="Calibri" pitchFamily="34" charset="0"/>
                <a:ea typeface="Calibri" pitchFamily="34" charset="-122"/>
                <a:cs typeface="Calibri" pitchFamily="34" charset="-120"/>
              </a:rPr>
              <a:t>same</a:t>
            </a:r>
            <a:r>
              <a:rPr lang="en-US" sz="1100" dirty="0">
                <a:solidFill>
                  <a:srgbClr val="262B3A"/>
                </a:solidFill>
                <a:latin typeface="Calibri" pitchFamily="34" charset="0"/>
                <a:ea typeface="Calibri" pitchFamily="34" charset="-122"/>
                <a:cs typeface="Calibri" pitchFamily="34" charset="-120"/>
              </a:rPr>
              <a:t> as inside the cells.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If you lose water (sweating, not drinking) body fluids become </a:t>
            </a:r>
            <a:r>
              <a:rPr lang="en-US" sz="1100" b="1" dirty="0">
                <a:solidFill>
                  <a:srgbClr val="262B3A"/>
                </a:solidFill>
                <a:latin typeface="Calibri" pitchFamily="34" charset="0"/>
                <a:ea typeface="Calibri" pitchFamily="34" charset="-122"/>
                <a:cs typeface="Calibri" pitchFamily="34" charset="-120"/>
              </a:rPr>
              <a:t>too concentrated</a:t>
            </a:r>
            <a:r>
              <a:rPr lang="en-US" sz="1100" dirty="0">
                <a:solidFill>
                  <a:srgbClr val="262B3A"/>
                </a:solidFill>
                <a:latin typeface="Calibri" pitchFamily="34" charset="0"/>
                <a:ea typeface="Calibri" pitchFamily="34" charset="-122"/>
                <a:cs typeface="Calibri" pitchFamily="34" charset="-120"/>
              </a:rPr>
              <a:t>; drinking far too much makes them </a:t>
            </a:r>
            <a:r>
              <a:rPr lang="en-US" sz="1100" b="1" dirty="0">
                <a:solidFill>
                  <a:srgbClr val="262B3A"/>
                </a:solidFill>
                <a:latin typeface="Calibri" pitchFamily="34" charset="0"/>
                <a:ea typeface="Calibri" pitchFamily="34" charset="-122"/>
                <a:cs typeface="Calibri" pitchFamily="34" charset="-120"/>
              </a:rPr>
              <a:t>too dilute</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51" name="Shape 49"/>
          <p:cNvSpPr/>
          <p:nvPr/>
        </p:nvSpPr>
        <p:spPr>
          <a:xfrm>
            <a:off x="6217920" y="3657600"/>
            <a:ext cx="5559552" cy="2057400"/>
          </a:xfrm>
          <a:prstGeom prst="roundRect">
            <a:avLst>
              <a:gd name="adj" fmla="val 2667"/>
            </a:avLst>
          </a:prstGeom>
          <a:solidFill>
            <a:srgbClr val="FFF4E0"/>
          </a:solidFill>
          <a:ln w="9525">
            <a:solidFill>
              <a:srgbClr val="F1D9A8"/>
            </a:solidFill>
            <a:prstDash val="solid"/>
          </a:ln>
        </p:spPr>
      </p:sp>
      <p:sp>
        <p:nvSpPr>
          <p:cNvPr id="52" name="Text 50"/>
          <p:cNvSpPr/>
          <p:nvPr/>
        </p:nvSpPr>
        <p:spPr>
          <a:xfrm>
            <a:off x="6382512" y="373075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water lost in sweat</a:t>
            </a:r>
            <a:endParaRPr lang="en-US" sz="1300" dirty="0"/>
          </a:p>
        </p:txBody>
      </p:sp>
      <p:sp>
        <p:nvSpPr>
          <p:cNvPr id="53" name="Text 51"/>
          <p:cNvSpPr/>
          <p:nvPr/>
        </p:nvSpPr>
        <p:spPr>
          <a:xfrm>
            <a:off x="6382512" y="4041648"/>
            <a:ext cx="5230368" cy="16002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60 kg athlete loses 1.8 kg of water as sweat in a race. Calculate this as a percentage of body mass.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Formula   </a:t>
            </a:r>
            <a:r>
              <a:rPr lang="en-US" sz="1050" dirty="0">
                <a:solidFill>
                  <a:srgbClr val="262B3A"/>
                </a:solidFill>
                <a:latin typeface="Calibri" pitchFamily="34" charset="0"/>
                <a:ea typeface="Calibri" pitchFamily="34" charset="-122"/>
                <a:cs typeface="Calibri" pitchFamily="34" charset="-120"/>
              </a:rPr>
              <a:t>% = mass lost ÷ body mass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Substitute   </a:t>
            </a:r>
            <a:r>
              <a:rPr lang="en-US" sz="1050" dirty="0">
                <a:solidFill>
                  <a:srgbClr val="262B3A"/>
                </a:solidFill>
                <a:latin typeface="Calibri" pitchFamily="34" charset="0"/>
                <a:ea typeface="Calibri" pitchFamily="34" charset="-122"/>
                <a:cs typeface="Calibri" pitchFamily="34" charset="-120"/>
              </a:rPr>
              <a:t>1.8 ÷ 60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3% of body mass: enough to reduce performance</a:t>
            </a:r>
            <a:endParaRPr lang="en-US" sz="105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patient is given a drip of </a:t>
            </a:r>
            <a:r>
              <a:rPr lang="en-US" sz="1150" b="1" dirty="0">
                <a:solidFill>
                  <a:srgbClr val="262B3A"/>
                </a:solidFill>
                <a:latin typeface="Calibri" pitchFamily="34" charset="0"/>
                <a:ea typeface="Calibri" pitchFamily="34" charset="-122"/>
                <a:cs typeface="Calibri" pitchFamily="34" charset="-120"/>
              </a:rPr>
              <a:t>pure water</a:t>
            </a:r>
            <a:r>
              <a:rPr lang="en-US" sz="1150" dirty="0">
                <a:solidFill>
                  <a:srgbClr val="262B3A"/>
                </a:solidFill>
                <a:latin typeface="Calibri" pitchFamily="34" charset="0"/>
                <a:ea typeface="Calibri" pitchFamily="34" charset="-122"/>
                <a:cs typeface="Calibri" pitchFamily="34" charset="-120"/>
              </a:rPr>
              <a:t> straight into a vein. Explain what could happen to their red blood cells. What percentage of a </a:t>
            </a:r>
            <a:r>
              <a:rPr lang="en-US" sz="1150" b="1" dirty="0">
                <a:solidFill>
                  <a:srgbClr val="262B3A"/>
                </a:solidFill>
                <a:latin typeface="Calibri" pitchFamily="34" charset="0"/>
                <a:ea typeface="Calibri" pitchFamily="34" charset="-122"/>
                <a:cs typeface="Calibri" pitchFamily="34" charset="-120"/>
              </a:rPr>
              <a:t>75 kg</a:t>
            </a:r>
            <a:r>
              <a:rPr lang="en-US" sz="1150" dirty="0">
                <a:solidFill>
                  <a:srgbClr val="262B3A"/>
                </a:solidFill>
                <a:latin typeface="Calibri" pitchFamily="34" charset="0"/>
                <a:ea typeface="Calibri" pitchFamily="34" charset="-122"/>
                <a:cs typeface="Calibri" pitchFamily="34" charset="-120"/>
              </a:rPr>
              <a:t> person is </a:t>
            </a:r>
            <a:r>
              <a:rPr lang="en-US" sz="1150" b="1" dirty="0">
                <a:solidFill>
                  <a:srgbClr val="262B3A"/>
                </a:solidFill>
                <a:latin typeface="Calibri" pitchFamily="34" charset="0"/>
                <a:ea typeface="Calibri" pitchFamily="34" charset="-122"/>
                <a:cs typeface="Calibri" pitchFamily="34" charset="-120"/>
              </a:rPr>
              <a:t>1.5 kg</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why enzymes and cells need constant conditions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core body temperature of </a:t>
            </a:r>
            <a:r>
              <a:rPr lang="en-US" sz="1250" b="1" dirty="0">
                <a:solidFill>
                  <a:srgbClr val="262B3A"/>
                </a:solidFill>
                <a:latin typeface="Calibri" pitchFamily="34" charset="0"/>
                <a:ea typeface="Calibri" pitchFamily="34" charset="-122"/>
                <a:cs typeface="Calibri" pitchFamily="34" charset="-120"/>
              </a:rPr>
              <a:t>43 °C</a:t>
            </a:r>
            <a:r>
              <a:rPr lang="en-US" sz="1250" dirty="0">
                <a:solidFill>
                  <a:srgbClr val="262B3A"/>
                </a:solidFill>
                <a:latin typeface="Calibri" pitchFamily="34" charset="0"/>
                <a:ea typeface="Calibri" pitchFamily="34" charset="-122"/>
                <a:cs typeface="Calibri" pitchFamily="34" charset="-120"/>
              </a:rPr>
              <a:t> could kill a person.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body temperature that is </a:t>
            </a:r>
            <a:r>
              <a:rPr lang="en-US" sz="1250" b="1" dirty="0">
                <a:solidFill>
                  <a:srgbClr val="262B3A"/>
                </a:solidFill>
                <a:latin typeface="Calibri" pitchFamily="34" charset="0"/>
                <a:ea typeface="Calibri" pitchFamily="34" charset="-122"/>
                <a:cs typeface="Calibri" pitchFamily="34" charset="-120"/>
              </a:rPr>
              <a:t>too low</a:t>
            </a:r>
            <a:r>
              <a:rPr lang="en-US" sz="1250" dirty="0">
                <a:solidFill>
                  <a:srgbClr val="262B3A"/>
                </a:solidFill>
                <a:latin typeface="Calibri" pitchFamily="34" charset="0"/>
                <a:ea typeface="Calibri" pitchFamily="34" charset="-122"/>
                <a:cs typeface="Calibri" pitchFamily="34" charset="-120"/>
              </a:rPr>
              <a:t> is also dangerous.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Red blood cells are put in a </a:t>
            </a:r>
            <a:r>
              <a:rPr lang="en-US" sz="1250" b="1" dirty="0">
                <a:solidFill>
                  <a:srgbClr val="262B3A"/>
                </a:solidFill>
                <a:latin typeface="Calibri" pitchFamily="34" charset="0"/>
                <a:ea typeface="Calibri" pitchFamily="34" charset="-122"/>
                <a:cs typeface="Calibri" pitchFamily="34" charset="-120"/>
              </a:rPr>
              <a:t>very concentrated</a:t>
            </a:r>
            <a:r>
              <a:rPr lang="en-US" sz="1250" dirty="0">
                <a:solidFill>
                  <a:srgbClr val="262B3A"/>
                </a:solidFill>
                <a:latin typeface="Calibri" pitchFamily="34" charset="0"/>
                <a:ea typeface="Calibri" pitchFamily="34" charset="-122"/>
                <a:cs typeface="Calibri" pitchFamily="34" charset="-120"/>
              </a:rPr>
              <a:t> salt solution. Describe and explain what happens to them.</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50 kg runner loses </a:t>
            </a:r>
            <a:r>
              <a:rPr lang="en-US" sz="1250" b="1" dirty="0">
                <a:solidFill>
                  <a:srgbClr val="262B3A"/>
                </a:solidFill>
                <a:latin typeface="Calibri" pitchFamily="34" charset="0"/>
                <a:ea typeface="Calibri" pitchFamily="34" charset="-122"/>
                <a:cs typeface="Calibri" pitchFamily="34" charset="-120"/>
              </a:rPr>
              <a:t>1.0 kg</a:t>
            </a:r>
            <a:r>
              <a:rPr lang="en-US" sz="1250" dirty="0">
                <a:solidFill>
                  <a:srgbClr val="262B3A"/>
                </a:solidFill>
                <a:latin typeface="Calibri" pitchFamily="34" charset="0"/>
                <a:ea typeface="Calibri" pitchFamily="34" charset="-122"/>
                <a:cs typeface="Calibri" pitchFamily="34" charset="-120"/>
              </a:rPr>
              <a:t> of water. Calculate the percentage of body mass lost.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Control systems in homeostasis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homeostasis depends on receptors, nerves, hormones and effectors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B5.4.1  |  11</a:t>
            </a:r>
            <a:endParaRPr lang="en-US" sz="1000" dirty="0"/>
          </a:p>
        </p:txBody>
      </p:sp>
      <p:sp>
        <p:nvSpPr>
          <p:cNvPr id="8" name="Shape 6"/>
          <p:cNvSpPr/>
          <p:nvPr/>
        </p:nvSpPr>
        <p:spPr>
          <a:xfrm>
            <a:off x="411480" y="1188720"/>
            <a:ext cx="11365992" cy="2697480"/>
          </a:xfrm>
          <a:prstGeom prst="roundRect">
            <a:avLst>
              <a:gd name="adj" fmla="val 2712"/>
            </a:avLst>
          </a:prstGeom>
          <a:solidFill>
            <a:srgbClr val="EEF5F4"/>
          </a:solidFill>
          <a:ln w="9525">
            <a:solidFill>
              <a:srgbClr val="D2E3E1"/>
            </a:solidFill>
            <a:prstDash val="solid"/>
          </a:ln>
        </p:spPr>
      </p:sp>
      <p:sp>
        <p:nvSpPr>
          <p:cNvPr id="9" name="Text 7"/>
          <p:cNvSpPr/>
          <p:nvPr/>
        </p:nvSpPr>
        <p:spPr>
          <a:xfrm>
            <a:off x="548640" y="3575304"/>
            <a:ext cx="11091672"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general control system, with core temperature as the example</a:t>
            </a:r>
            <a:endParaRPr lang="en-US" sz="1000" dirty="0"/>
          </a:p>
        </p:txBody>
      </p:sp>
      <p:sp>
        <p:nvSpPr>
          <p:cNvPr id="10" name="Shape 8"/>
          <p:cNvSpPr/>
          <p:nvPr/>
        </p:nvSpPr>
        <p:spPr>
          <a:xfrm>
            <a:off x="594360" y="1325880"/>
            <a:ext cx="2011680" cy="411480"/>
          </a:xfrm>
          <a:prstGeom prst="roundRect">
            <a:avLst>
              <a:gd name="adj" fmla="val 13333"/>
            </a:avLst>
          </a:prstGeom>
          <a:solidFill>
            <a:srgbClr val="C8414C"/>
          </a:solidFill>
          <a:ln/>
        </p:spPr>
      </p:sp>
      <p:sp>
        <p:nvSpPr>
          <p:cNvPr id="11" name="Text 9"/>
          <p:cNvSpPr/>
          <p:nvPr/>
        </p:nvSpPr>
        <p:spPr>
          <a:xfrm>
            <a:off x="594360" y="1325880"/>
            <a:ext cx="20116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p>
        </p:txBody>
      </p:sp>
      <p:sp>
        <p:nvSpPr>
          <p:cNvPr id="12" name="Shape 10"/>
          <p:cNvSpPr/>
          <p:nvPr/>
        </p:nvSpPr>
        <p:spPr>
          <a:xfrm>
            <a:off x="594360" y="1783080"/>
            <a:ext cx="2011680" cy="1417320"/>
          </a:xfrm>
          <a:prstGeom prst="roundRect">
            <a:avLst>
              <a:gd name="adj" fmla="val 3871"/>
            </a:avLst>
          </a:prstGeom>
          <a:solidFill>
            <a:srgbClr val="FFFFFF"/>
          </a:solidFill>
          <a:ln w="15875">
            <a:solidFill>
              <a:srgbClr val="C8414C"/>
            </a:solidFill>
            <a:prstDash val="solid"/>
          </a:ln>
        </p:spPr>
      </p:sp>
      <p:sp>
        <p:nvSpPr>
          <p:cNvPr id="13" name="Shape 11"/>
          <p:cNvSpPr/>
          <p:nvPr/>
        </p:nvSpPr>
        <p:spPr>
          <a:xfrm>
            <a:off x="1289304" y="1828800"/>
            <a:ext cx="73152" cy="457200"/>
          </a:xfrm>
          <a:prstGeom prst="roundRect">
            <a:avLst>
              <a:gd name="adj" fmla="val 50000"/>
            </a:avLst>
          </a:prstGeom>
          <a:solidFill>
            <a:srgbClr val="F7FAFC"/>
          </a:solidFill>
          <a:ln w="12700">
            <a:solidFill>
              <a:srgbClr val="6B7385"/>
            </a:solidFill>
            <a:prstDash val="solid"/>
          </a:ln>
        </p:spPr>
      </p:sp>
      <p:sp>
        <p:nvSpPr>
          <p:cNvPr id="14" name="Shape 12"/>
          <p:cNvSpPr/>
          <p:nvPr/>
        </p:nvSpPr>
        <p:spPr>
          <a:xfrm>
            <a:off x="1309787" y="1916582"/>
            <a:ext cx="32187" cy="341986"/>
          </a:xfrm>
          <a:prstGeom prst="rect">
            <a:avLst/>
          </a:prstGeom>
          <a:solidFill>
            <a:srgbClr val="C8414C"/>
          </a:solidFill>
          <a:ln/>
        </p:spPr>
      </p:sp>
      <p:sp>
        <p:nvSpPr>
          <p:cNvPr id="15" name="Shape 13"/>
          <p:cNvSpPr/>
          <p:nvPr/>
        </p:nvSpPr>
        <p:spPr>
          <a:xfrm>
            <a:off x="1271016" y="2231136"/>
            <a:ext cx="109728" cy="109728"/>
          </a:xfrm>
          <a:prstGeom prst="ellipse">
            <a:avLst/>
          </a:prstGeom>
          <a:solidFill>
            <a:srgbClr val="C8414C"/>
          </a:solidFill>
          <a:ln w="12700">
            <a:solidFill>
              <a:srgbClr val="8E2A33"/>
            </a:solidFill>
            <a:prstDash val="solid"/>
          </a:ln>
        </p:spPr>
      </p:sp>
      <p:sp>
        <p:nvSpPr>
          <p:cNvPr id="16" name="Shape 14"/>
          <p:cNvSpPr/>
          <p:nvPr/>
        </p:nvSpPr>
        <p:spPr>
          <a:xfrm flipV="1">
            <a:off x="1645920" y="1874520"/>
            <a:ext cx="91" cy="411480"/>
          </a:xfrm>
          <a:prstGeom prst="line">
            <a:avLst/>
          </a:prstGeom>
          <a:noFill/>
          <a:ln w="25400">
            <a:solidFill>
              <a:srgbClr val="C8414C"/>
            </a:solidFill>
            <a:prstDash val="solid"/>
            <a:tailEnd type="triangle"/>
          </a:ln>
        </p:spPr>
      </p:sp>
      <p:sp>
        <p:nvSpPr>
          <p:cNvPr id="17" name="Text 15"/>
          <p:cNvSpPr/>
          <p:nvPr/>
        </p:nvSpPr>
        <p:spPr>
          <a:xfrm>
            <a:off x="667512" y="2468880"/>
            <a:ext cx="1865376" cy="6858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core temperature </a:t>
            </a:r>
            <a:r>
              <a:rPr lang="en-US" sz="1050" b="1" dirty="0">
                <a:solidFill>
                  <a:srgbClr val="262B3A"/>
                </a:solidFill>
                <a:latin typeface="Calibri" pitchFamily="34" charset="0"/>
                <a:ea typeface="Calibri" pitchFamily="34" charset="-122"/>
                <a:cs typeface="Calibri" pitchFamily="34" charset="-120"/>
              </a:rPr>
              <a:t>rises</a:t>
            </a:r>
            <a:r>
              <a:rPr lang="en-US" sz="1050" dirty="0">
                <a:solidFill>
                  <a:srgbClr val="262B3A"/>
                </a:solidFill>
                <a:latin typeface="Calibri" pitchFamily="34" charset="0"/>
                <a:ea typeface="Calibri" pitchFamily="34" charset="-122"/>
                <a:cs typeface="Calibri" pitchFamily="34" charset="-120"/>
              </a:rPr>
              <a:t> above 37 °C</a:t>
            </a:r>
            <a:endParaRPr lang="en-US" sz="1050" dirty="0"/>
          </a:p>
        </p:txBody>
      </p:sp>
      <p:sp>
        <p:nvSpPr>
          <p:cNvPr id="18" name="Shape 16"/>
          <p:cNvSpPr/>
          <p:nvPr/>
        </p:nvSpPr>
        <p:spPr>
          <a:xfrm>
            <a:off x="2624328" y="2377440"/>
            <a:ext cx="237744" cy="91"/>
          </a:xfrm>
          <a:prstGeom prst="line">
            <a:avLst/>
          </a:prstGeom>
          <a:noFill/>
          <a:ln w="25400">
            <a:solidFill>
              <a:srgbClr val="133536"/>
            </a:solidFill>
            <a:prstDash val="solid"/>
            <a:tailEnd type="triangle"/>
          </a:ln>
        </p:spPr>
      </p:sp>
      <p:sp>
        <p:nvSpPr>
          <p:cNvPr id="19" name="Shape 17"/>
          <p:cNvSpPr/>
          <p:nvPr/>
        </p:nvSpPr>
        <p:spPr>
          <a:xfrm>
            <a:off x="2880360" y="1325880"/>
            <a:ext cx="2011680" cy="411480"/>
          </a:xfrm>
          <a:prstGeom prst="roundRect">
            <a:avLst>
              <a:gd name="adj" fmla="val 13333"/>
            </a:avLst>
          </a:prstGeom>
          <a:solidFill>
            <a:srgbClr val="2E8B57"/>
          </a:solidFill>
          <a:ln/>
        </p:spPr>
      </p:sp>
      <p:sp>
        <p:nvSpPr>
          <p:cNvPr id="20" name="Text 18"/>
          <p:cNvSpPr/>
          <p:nvPr/>
        </p:nvSpPr>
        <p:spPr>
          <a:xfrm>
            <a:off x="2880360" y="1325880"/>
            <a:ext cx="20116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Receptor</a:t>
            </a:r>
            <a:endParaRPr lang="en-US" sz="1200" dirty="0"/>
          </a:p>
        </p:txBody>
      </p:sp>
      <p:sp>
        <p:nvSpPr>
          <p:cNvPr id="21" name="Shape 19"/>
          <p:cNvSpPr/>
          <p:nvPr/>
        </p:nvSpPr>
        <p:spPr>
          <a:xfrm>
            <a:off x="2880360" y="1783080"/>
            <a:ext cx="2011680" cy="1417320"/>
          </a:xfrm>
          <a:prstGeom prst="roundRect">
            <a:avLst>
              <a:gd name="adj" fmla="val 3871"/>
            </a:avLst>
          </a:prstGeom>
          <a:solidFill>
            <a:srgbClr val="FFFFFF"/>
          </a:solidFill>
          <a:ln w="15875">
            <a:solidFill>
              <a:srgbClr val="2E8B57"/>
            </a:solidFill>
            <a:prstDash val="solid"/>
          </a:ln>
        </p:spPr>
      </p:sp>
      <p:sp>
        <p:nvSpPr>
          <p:cNvPr id="22" name="Shape 20"/>
          <p:cNvSpPr/>
          <p:nvPr/>
        </p:nvSpPr>
        <p:spPr>
          <a:xfrm>
            <a:off x="3715207" y="1932127"/>
            <a:ext cx="341986" cy="341986"/>
          </a:xfrm>
          <a:prstGeom prst="ellipse">
            <a:avLst/>
          </a:prstGeom>
          <a:solidFill>
            <a:srgbClr val="D8F0E2"/>
          </a:solidFill>
          <a:ln w="19050">
            <a:solidFill>
              <a:srgbClr val="2E8B57"/>
            </a:solidFill>
            <a:prstDash val="solid"/>
          </a:ln>
        </p:spPr>
      </p:sp>
      <p:sp>
        <p:nvSpPr>
          <p:cNvPr id="23" name="Shape 21"/>
          <p:cNvSpPr/>
          <p:nvPr/>
        </p:nvSpPr>
        <p:spPr>
          <a:xfrm>
            <a:off x="3815791" y="2032711"/>
            <a:ext cx="140818" cy="140818"/>
          </a:xfrm>
          <a:prstGeom prst="ellipse">
            <a:avLst/>
          </a:prstGeom>
          <a:solidFill>
            <a:srgbClr val="2E8B57"/>
          </a:solidFill>
          <a:ln w="9525">
            <a:solidFill>
              <a:srgbClr val="2E8B57"/>
            </a:solidFill>
            <a:prstDash val="solid"/>
          </a:ln>
        </p:spPr>
      </p:sp>
      <p:sp>
        <p:nvSpPr>
          <p:cNvPr id="24" name="Text 22"/>
          <p:cNvSpPr/>
          <p:nvPr/>
        </p:nvSpPr>
        <p:spPr>
          <a:xfrm>
            <a:off x="2953512" y="2468880"/>
            <a:ext cx="1865376" cy="68580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receptors</a:t>
            </a:r>
            <a:r>
              <a:rPr lang="en-US" sz="1050" dirty="0">
                <a:solidFill>
                  <a:srgbClr val="262B3A"/>
                </a:solidFill>
                <a:latin typeface="Calibri" pitchFamily="34" charset="0"/>
                <a:ea typeface="Calibri" pitchFamily="34" charset="-122"/>
                <a:cs typeface="Calibri" pitchFamily="34" charset="-120"/>
              </a:rPr>
              <a:t> detect the change</a:t>
            </a:r>
            <a:endParaRPr lang="en-US" sz="1050" dirty="0"/>
          </a:p>
        </p:txBody>
      </p:sp>
      <p:sp>
        <p:nvSpPr>
          <p:cNvPr id="25" name="Shape 23"/>
          <p:cNvSpPr/>
          <p:nvPr/>
        </p:nvSpPr>
        <p:spPr>
          <a:xfrm>
            <a:off x="4910328" y="2377440"/>
            <a:ext cx="237744" cy="91"/>
          </a:xfrm>
          <a:prstGeom prst="line">
            <a:avLst/>
          </a:prstGeom>
          <a:noFill/>
          <a:ln w="25400">
            <a:solidFill>
              <a:srgbClr val="133536"/>
            </a:solidFill>
            <a:prstDash val="solid"/>
            <a:tailEnd type="triangle"/>
          </a:ln>
        </p:spPr>
      </p:sp>
      <p:sp>
        <p:nvSpPr>
          <p:cNvPr id="26" name="Shape 24"/>
          <p:cNvSpPr/>
          <p:nvPr/>
        </p:nvSpPr>
        <p:spPr>
          <a:xfrm>
            <a:off x="5166360" y="1325880"/>
            <a:ext cx="2011680" cy="411480"/>
          </a:xfrm>
          <a:prstGeom prst="roundRect">
            <a:avLst>
              <a:gd name="adj" fmla="val 13333"/>
            </a:avLst>
          </a:prstGeom>
          <a:solidFill>
            <a:srgbClr val="6A4C93"/>
          </a:solidFill>
          <a:ln/>
        </p:spPr>
      </p:sp>
      <p:sp>
        <p:nvSpPr>
          <p:cNvPr id="27" name="Text 25"/>
          <p:cNvSpPr/>
          <p:nvPr/>
        </p:nvSpPr>
        <p:spPr>
          <a:xfrm>
            <a:off x="5166360" y="1325880"/>
            <a:ext cx="20116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Coordination centre</a:t>
            </a:r>
            <a:endParaRPr lang="en-US" sz="1200" dirty="0"/>
          </a:p>
        </p:txBody>
      </p:sp>
      <p:sp>
        <p:nvSpPr>
          <p:cNvPr id="28" name="Shape 26"/>
          <p:cNvSpPr/>
          <p:nvPr/>
        </p:nvSpPr>
        <p:spPr>
          <a:xfrm>
            <a:off x="5166360" y="1783080"/>
            <a:ext cx="2011680" cy="1417320"/>
          </a:xfrm>
          <a:prstGeom prst="roundRect">
            <a:avLst>
              <a:gd name="adj" fmla="val 3871"/>
            </a:avLst>
          </a:prstGeom>
          <a:solidFill>
            <a:srgbClr val="FFFFFF"/>
          </a:solidFill>
          <a:ln w="15875">
            <a:solidFill>
              <a:srgbClr val="6A4C93"/>
            </a:solidFill>
            <a:prstDash val="solid"/>
          </a:ln>
        </p:spPr>
      </p:sp>
      <p:sp>
        <p:nvSpPr>
          <p:cNvPr id="29" name="Shape 27"/>
          <p:cNvSpPr/>
          <p:nvPr/>
        </p:nvSpPr>
        <p:spPr>
          <a:xfrm>
            <a:off x="5888736" y="1901952"/>
            <a:ext cx="566928" cy="402336"/>
          </a:xfrm>
          <a:prstGeom prst="ellipse">
            <a:avLst/>
          </a:prstGeom>
          <a:solidFill>
            <a:srgbClr val="F4C7D0"/>
          </a:solidFill>
          <a:ln w="15875">
            <a:solidFill>
              <a:srgbClr val="C98393"/>
            </a:solidFill>
            <a:prstDash val="solid"/>
          </a:ln>
        </p:spPr>
      </p:sp>
      <p:sp>
        <p:nvSpPr>
          <p:cNvPr id="30" name="Shape 28"/>
          <p:cNvSpPr/>
          <p:nvPr/>
        </p:nvSpPr>
        <p:spPr>
          <a:xfrm>
            <a:off x="6172200" y="1920240"/>
            <a:ext cx="91" cy="365760"/>
          </a:xfrm>
          <a:prstGeom prst="line">
            <a:avLst/>
          </a:prstGeom>
          <a:noFill/>
          <a:ln w="12700">
            <a:solidFill>
              <a:srgbClr val="C98393"/>
            </a:solidFill>
            <a:prstDash val="solid"/>
          </a:ln>
        </p:spPr>
      </p:sp>
      <p:sp>
        <p:nvSpPr>
          <p:cNvPr id="31" name="Shape 29"/>
          <p:cNvSpPr/>
          <p:nvPr/>
        </p:nvSpPr>
        <p:spPr>
          <a:xfrm>
            <a:off x="5952744" y="2011680"/>
            <a:ext cx="164592" cy="91440"/>
          </a:xfrm>
          <a:prstGeom prst="ellipse">
            <a:avLst/>
          </a:prstGeom>
          <a:ln w="9525">
            <a:solidFill>
              <a:srgbClr val="C98393"/>
            </a:solidFill>
            <a:prstDash val="solid"/>
          </a:ln>
        </p:spPr>
      </p:sp>
      <p:sp>
        <p:nvSpPr>
          <p:cNvPr id="32" name="Shape 30"/>
          <p:cNvSpPr/>
          <p:nvPr/>
        </p:nvSpPr>
        <p:spPr>
          <a:xfrm>
            <a:off x="6227064" y="2103120"/>
            <a:ext cx="164592" cy="91440"/>
          </a:xfrm>
          <a:prstGeom prst="ellipse">
            <a:avLst/>
          </a:prstGeom>
          <a:ln w="9525">
            <a:solidFill>
              <a:srgbClr val="C98393"/>
            </a:solidFill>
            <a:prstDash val="solid"/>
          </a:ln>
        </p:spPr>
      </p:sp>
      <p:sp>
        <p:nvSpPr>
          <p:cNvPr id="33" name="Text 31"/>
          <p:cNvSpPr/>
          <p:nvPr/>
        </p:nvSpPr>
        <p:spPr>
          <a:xfrm>
            <a:off x="5239512" y="2468880"/>
            <a:ext cx="1865376" cy="6858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the </a:t>
            </a:r>
            <a:r>
              <a:rPr lang="en-US" sz="1050" b="1" dirty="0">
                <a:solidFill>
                  <a:srgbClr val="262B3A"/>
                </a:solidFill>
                <a:latin typeface="Calibri" pitchFamily="34" charset="0"/>
                <a:ea typeface="Calibri" pitchFamily="34" charset="-122"/>
                <a:cs typeface="Calibri" pitchFamily="34" charset="-120"/>
              </a:rPr>
              <a:t>brain</a:t>
            </a:r>
            <a:r>
              <a:rPr lang="en-US" sz="1050" dirty="0">
                <a:solidFill>
                  <a:srgbClr val="262B3A"/>
                </a:solidFill>
                <a:latin typeface="Calibri" pitchFamily="34" charset="0"/>
                <a:ea typeface="Calibri" pitchFamily="34" charset="-122"/>
                <a:cs typeface="Calibri" pitchFamily="34" charset="-120"/>
              </a:rPr>
              <a:t> compares it with the set point</a:t>
            </a:r>
            <a:endParaRPr lang="en-US" sz="1050" dirty="0"/>
          </a:p>
        </p:txBody>
      </p:sp>
      <p:sp>
        <p:nvSpPr>
          <p:cNvPr id="34" name="Shape 32"/>
          <p:cNvSpPr/>
          <p:nvPr/>
        </p:nvSpPr>
        <p:spPr>
          <a:xfrm>
            <a:off x="7196328" y="2377440"/>
            <a:ext cx="237744" cy="91"/>
          </a:xfrm>
          <a:prstGeom prst="line">
            <a:avLst/>
          </a:prstGeom>
          <a:noFill/>
          <a:ln w="25400">
            <a:solidFill>
              <a:srgbClr val="133536"/>
            </a:solidFill>
            <a:prstDash val="solid"/>
            <a:tailEnd type="triangle"/>
          </a:ln>
        </p:spPr>
      </p:sp>
      <p:sp>
        <p:nvSpPr>
          <p:cNvPr id="35" name="Shape 33"/>
          <p:cNvSpPr/>
          <p:nvPr/>
        </p:nvSpPr>
        <p:spPr>
          <a:xfrm>
            <a:off x="7452360" y="1325880"/>
            <a:ext cx="2011680" cy="411480"/>
          </a:xfrm>
          <a:prstGeom prst="roundRect">
            <a:avLst>
              <a:gd name="adj" fmla="val 13333"/>
            </a:avLst>
          </a:prstGeom>
          <a:solidFill>
            <a:srgbClr val="B8730A"/>
          </a:solidFill>
          <a:ln/>
        </p:spPr>
      </p:sp>
      <p:sp>
        <p:nvSpPr>
          <p:cNvPr id="36" name="Text 34"/>
          <p:cNvSpPr/>
          <p:nvPr/>
        </p:nvSpPr>
        <p:spPr>
          <a:xfrm>
            <a:off x="7452360" y="1325880"/>
            <a:ext cx="20116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Effector</a:t>
            </a:r>
            <a:endParaRPr lang="en-US" sz="1200" dirty="0"/>
          </a:p>
        </p:txBody>
      </p:sp>
      <p:sp>
        <p:nvSpPr>
          <p:cNvPr id="37" name="Shape 35"/>
          <p:cNvSpPr/>
          <p:nvPr/>
        </p:nvSpPr>
        <p:spPr>
          <a:xfrm>
            <a:off x="7452360" y="1783080"/>
            <a:ext cx="2011680" cy="1417320"/>
          </a:xfrm>
          <a:prstGeom prst="roundRect">
            <a:avLst>
              <a:gd name="adj" fmla="val 3871"/>
            </a:avLst>
          </a:prstGeom>
          <a:solidFill>
            <a:srgbClr val="FFFFFF"/>
          </a:solidFill>
          <a:ln w="15875">
            <a:solidFill>
              <a:srgbClr val="B8730A"/>
            </a:solidFill>
            <a:prstDash val="solid"/>
          </a:ln>
        </p:spPr>
      </p:sp>
      <p:sp>
        <p:nvSpPr>
          <p:cNvPr id="38" name="Shape 36"/>
          <p:cNvSpPr/>
          <p:nvPr/>
        </p:nvSpPr>
        <p:spPr>
          <a:xfrm>
            <a:off x="7900416" y="2026310"/>
            <a:ext cx="384048" cy="153619"/>
          </a:xfrm>
          <a:prstGeom prst="ellipse">
            <a:avLst/>
          </a:prstGeom>
          <a:solidFill>
            <a:srgbClr val="F4B6B9"/>
          </a:solidFill>
          <a:ln w="15875">
            <a:solidFill>
              <a:srgbClr val="A33E48"/>
            </a:solidFill>
            <a:prstDash val="solid"/>
          </a:ln>
        </p:spPr>
      </p:sp>
      <p:sp>
        <p:nvSpPr>
          <p:cNvPr id="39" name="Shape 37"/>
          <p:cNvSpPr/>
          <p:nvPr/>
        </p:nvSpPr>
        <p:spPr>
          <a:xfrm>
            <a:off x="7982712" y="2053742"/>
            <a:ext cx="91" cy="98755"/>
          </a:xfrm>
          <a:prstGeom prst="line">
            <a:avLst/>
          </a:prstGeom>
          <a:noFill/>
          <a:ln w="9525">
            <a:solidFill>
              <a:srgbClr val="C76A72"/>
            </a:solidFill>
            <a:prstDash val="solid"/>
          </a:ln>
        </p:spPr>
      </p:sp>
      <p:sp>
        <p:nvSpPr>
          <p:cNvPr id="40" name="Shape 38"/>
          <p:cNvSpPr/>
          <p:nvPr/>
        </p:nvSpPr>
        <p:spPr>
          <a:xfrm>
            <a:off x="8037576" y="2053742"/>
            <a:ext cx="91" cy="98755"/>
          </a:xfrm>
          <a:prstGeom prst="line">
            <a:avLst/>
          </a:prstGeom>
          <a:noFill/>
          <a:ln w="9525">
            <a:solidFill>
              <a:srgbClr val="C76A72"/>
            </a:solidFill>
            <a:prstDash val="solid"/>
          </a:ln>
        </p:spPr>
      </p:sp>
      <p:sp>
        <p:nvSpPr>
          <p:cNvPr id="41" name="Shape 39"/>
          <p:cNvSpPr/>
          <p:nvPr/>
        </p:nvSpPr>
        <p:spPr>
          <a:xfrm>
            <a:off x="8092440" y="2053742"/>
            <a:ext cx="91" cy="98755"/>
          </a:xfrm>
          <a:prstGeom prst="line">
            <a:avLst/>
          </a:prstGeom>
          <a:noFill/>
          <a:ln w="9525">
            <a:solidFill>
              <a:srgbClr val="C76A72"/>
            </a:solidFill>
            <a:prstDash val="solid"/>
          </a:ln>
        </p:spPr>
      </p:sp>
      <p:sp>
        <p:nvSpPr>
          <p:cNvPr id="42" name="Shape 40"/>
          <p:cNvSpPr/>
          <p:nvPr/>
        </p:nvSpPr>
        <p:spPr>
          <a:xfrm>
            <a:off x="8147304" y="2053742"/>
            <a:ext cx="91" cy="98755"/>
          </a:xfrm>
          <a:prstGeom prst="line">
            <a:avLst/>
          </a:prstGeom>
          <a:noFill/>
          <a:ln w="9525">
            <a:solidFill>
              <a:srgbClr val="C76A72"/>
            </a:solidFill>
            <a:prstDash val="solid"/>
          </a:ln>
        </p:spPr>
      </p:sp>
      <p:sp>
        <p:nvSpPr>
          <p:cNvPr id="43" name="Shape 41"/>
          <p:cNvSpPr/>
          <p:nvPr/>
        </p:nvSpPr>
        <p:spPr>
          <a:xfrm>
            <a:off x="8202168" y="2053742"/>
            <a:ext cx="91" cy="98755"/>
          </a:xfrm>
          <a:prstGeom prst="line">
            <a:avLst/>
          </a:prstGeom>
          <a:noFill/>
          <a:ln w="9525">
            <a:solidFill>
              <a:srgbClr val="C76A72"/>
            </a:solidFill>
            <a:prstDash val="solid"/>
          </a:ln>
        </p:spPr>
      </p:sp>
      <p:sp>
        <p:nvSpPr>
          <p:cNvPr id="44" name="Shape 42"/>
          <p:cNvSpPr/>
          <p:nvPr/>
        </p:nvSpPr>
        <p:spPr>
          <a:xfrm>
            <a:off x="8651138" y="1979676"/>
            <a:ext cx="345643" cy="246888"/>
          </a:xfrm>
          <a:prstGeom prst="ellipse">
            <a:avLst/>
          </a:prstGeom>
          <a:solidFill>
            <a:srgbClr val="F3D3A0"/>
          </a:solidFill>
          <a:ln w="15875">
            <a:solidFill>
              <a:srgbClr val="B8730A"/>
            </a:solidFill>
            <a:prstDash val="solid"/>
          </a:ln>
        </p:spPr>
      </p:sp>
      <p:sp>
        <p:nvSpPr>
          <p:cNvPr id="45" name="Shape 43"/>
          <p:cNvSpPr/>
          <p:nvPr/>
        </p:nvSpPr>
        <p:spPr>
          <a:xfrm>
            <a:off x="9031346" y="2103120"/>
            <a:ext cx="79004" cy="79004"/>
          </a:xfrm>
          <a:prstGeom prst="triangle">
            <a:avLst/>
          </a:prstGeom>
          <a:solidFill>
            <a:srgbClr val="E08A1E"/>
          </a:solidFill>
          <a:ln w="6350">
            <a:solidFill>
              <a:srgbClr val="E08A1E"/>
            </a:solidFill>
            <a:prstDash val="solid"/>
          </a:ln>
        </p:spPr>
      </p:sp>
      <p:sp>
        <p:nvSpPr>
          <p:cNvPr id="46" name="Shape 44"/>
          <p:cNvSpPr/>
          <p:nvPr/>
        </p:nvSpPr>
        <p:spPr>
          <a:xfrm>
            <a:off x="9030358" y="2151510"/>
            <a:ext cx="80979" cy="80979"/>
          </a:xfrm>
          <a:prstGeom prst="ellipse">
            <a:avLst/>
          </a:prstGeom>
          <a:solidFill>
            <a:srgbClr val="E08A1E"/>
          </a:solidFill>
          <a:ln w="9525">
            <a:solidFill>
              <a:srgbClr val="E08A1E"/>
            </a:solidFill>
            <a:prstDash val="solid"/>
          </a:ln>
        </p:spPr>
      </p:sp>
      <p:sp>
        <p:nvSpPr>
          <p:cNvPr id="47" name="Text 45"/>
          <p:cNvSpPr/>
          <p:nvPr/>
        </p:nvSpPr>
        <p:spPr>
          <a:xfrm>
            <a:off x="7525512" y="2468880"/>
            <a:ext cx="1865376" cy="68580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muscles</a:t>
            </a:r>
            <a:r>
              <a:rPr lang="en-US" sz="1050" dirty="0">
                <a:solidFill>
                  <a:srgbClr val="262B3A"/>
                </a:solidFill>
                <a:latin typeface="Calibri" pitchFamily="34" charset="0"/>
                <a:ea typeface="Calibri" pitchFamily="34" charset="-122"/>
                <a:cs typeface="Calibri" pitchFamily="34" charset="-120"/>
              </a:rPr>
              <a:t> or </a:t>
            </a:r>
            <a:r>
              <a:rPr lang="en-US" sz="1050" b="1" dirty="0">
                <a:solidFill>
                  <a:srgbClr val="262B3A"/>
                </a:solidFill>
                <a:latin typeface="Calibri" pitchFamily="34" charset="0"/>
                <a:ea typeface="Calibri" pitchFamily="34" charset="-122"/>
                <a:cs typeface="Calibri" pitchFamily="34" charset="-120"/>
              </a:rPr>
              <a:t>glands</a:t>
            </a:r>
            <a:r>
              <a:rPr lang="en-US" sz="1050" dirty="0">
                <a:solidFill>
                  <a:srgbClr val="262B3A"/>
                </a:solidFill>
                <a:latin typeface="Calibri" pitchFamily="34" charset="0"/>
                <a:ea typeface="Calibri" pitchFamily="34" charset="-122"/>
                <a:cs typeface="Calibri" pitchFamily="34" charset="-120"/>
              </a:rPr>
              <a:t>, e.g. sweat glands</a:t>
            </a:r>
            <a:endParaRPr lang="en-US" sz="1050" dirty="0"/>
          </a:p>
        </p:txBody>
      </p:sp>
      <p:sp>
        <p:nvSpPr>
          <p:cNvPr id="48" name="Shape 46"/>
          <p:cNvSpPr/>
          <p:nvPr/>
        </p:nvSpPr>
        <p:spPr>
          <a:xfrm>
            <a:off x="9482328" y="2377440"/>
            <a:ext cx="237744" cy="91"/>
          </a:xfrm>
          <a:prstGeom prst="line">
            <a:avLst/>
          </a:prstGeom>
          <a:noFill/>
          <a:ln w="25400">
            <a:solidFill>
              <a:srgbClr val="133536"/>
            </a:solidFill>
            <a:prstDash val="solid"/>
            <a:tailEnd type="triangle"/>
          </a:ln>
        </p:spPr>
      </p:sp>
      <p:sp>
        <p:nvSpPr>
          <p:cNvPr id="49" name="Shape 47"/>
          <p:cNvSpPr/>
          <p:nvPr/>
        </p:nvSpPr>
        <p:spPr>
          <a:xfrm>
            <a:off x="9738360" y="1325880"/>
            <a:ext cx="2011680" cy="411480"/>
          </a:xfrm>
          <a:prstGeom prst="roundRect">
            <a:avLst>
              <a:gd name="adj" fmla="val 13333"/>
            </a:avLst>
          </a:prstGeom>
          <a:solidFill>
            <a:srgbClr val="0D7877"/>
          </a:solidFill>
          <a:ln/>
        </p:spPr>
      </p:sp>
      <p:sp>
        <p:nvSpPr>
          <p:cNvPr id="50" name="Text 48"/>
          <p:cNvSpPr/>
          <p:nvPr/>
        </p:nvSpPr>
        <p:spPr>
          <a:xfrm>
            <a:off x="9738360" y="1325880"/>
            <a:ext cx="20116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Response</a:t>
            </a:r>
            <a:endParaRPr lang="en-US" sz="1200" dirty="0"/>
          </a:p>
        </p:txBody>
      </p:sp>
      <p:sp>
        <p:nvSpPr>
          <p:cNvPr id="51" name="Shape 49"/>
          <p:cNvSpPr/>
          <p:nvPr/>
        </p:nvSpPr>
        <p:spPr>
          <a:xfrm>
            <a:off x="9738360" y="1783080"/>
            <a:ext cx="2011680" cy="1417320"/>
          </a:xfrm>
          <a:prstGeom prst="roundRect">
            <a:avLst>
              <a:gd name="adj" fmla="val 3871"/>
            </a:avLst>
          </a:prstGeom>
          <a:solidFill>
            <a:srgbClr val="FFFFFF"/>
          </a:solidFill>
          <a:ln w="15875">
            <a:solidFill>
              <a:srgbClr val="0D7877"/>
            </a:solidFill>
            <a:prstDash val="solid"/>
          </a:ln>
        </p:spPr>
      </p:sp>
      <p:sp>
        <p:nvSpPr>
          <p:cNvPr id="52" name="Shape 50"/>
          <p:cNvSpPr/>
          <p:nvPr/>
        </p:nvSpPr>
        <p:spPr>
          <a:xfrm>
            <a:off x="10433304" y="1828800"/>
            <a:ext cx="73152" cy="457200"/>
          </a:xfrm>
          <a:prstGeom prst="roundRect">
            <a:avLst>
              <a:gd name="adj" fmla="val 50000"/>
            </a:avLst>
          </a:prstGeom>
          <a:solidFill>
            <a:srgbClr val="F7FAFC"/>
          </a:solidFill>
          <a:ln w="12700">
            <a:solidFill>
              <a:srgbClr val="6B7385"/>
            </a:solidFill>
            <a:prstDash val="solid"/>
          </a:ln>
        </p:spPr>
      </p:sp>
      <p:sp>
        <p:nvSpPr>
          <p:cNvPr id="53" name="Shape 51"/>
          <p:cNvSpPr/>
          <p:nvPr/>
        </p:nvSpPr>
        <p:spPr>
          <a:xfrm>
            <a:off x="10453787" y="2077517"/>
            <a:ext cx="32187" cy="181051"/>
          </a:xfrm>
          <a:prstGeom prst="rect">
            <a:avLst/>
          </a:prstGeom>
          <a:solidFill>
            <a:srgbClr val="C8414C"/>
          </a:solidFill>
          <a:ln/>
        </p:spPr>
      </p:sp>
      <p:sp>
        <p:nvSpPr>
          <p:cNvPr id="54" name="Shape 52"/>
          <p:cNvSpPr/>
          <p:nvPr/>
        </p:nvSpPr>
        <p:spPr>
          <a:xfrm>
            <a:off x="10415016" y="2231136"/>
            <a:ext cx="109728" cy="109728"/>
          </a:xfrm>
          <a:prstGeom prst="ellipse">
            <a:avLst/>
          </a:prstGeom>
          <a:solidFill>
            <a:srgbClr val="C8414C"/>
          </a:solidFill>
          <a:ln w="12700">
            <a:solidFill>
              <a:srgbClr val="8E2A33"/>
            </a:solidFill>
            <a:prstDash val="solid"/>
          </a:ln>
        </p:spPr>
      </p:sp>
      <p:sp>
        <p:nvSpPr>
          <p:cNvPr id="55" name="Shape 53"/>
          <p:cNvSpPr/>
          <p:nvPr/>
        </p:nvSpPr>
        <p:spPr>
          <a:xfrm>
            <a:off x="10789920" y="1874520"/>
            <a:ext cx="91" cy="411480"/>
          </a:xfrm>
          <a:prstGeom prst="line">
            <a:avLst/>
          </a:prstGeom>
          <a:noFill/>
          <a:ln w="25400">
            <a:solidFill>
              <a:srgbClr val="3B7DD8"/>
            </a:solidFill>
            <a:prstDash val="solid"/>
            <a:tailEnd type="triangle"/>
          </a:ln>
        </p:spPr>
      </p:sp>
      <p:sp>
        <p:nvSpPr>
          <p:cNvPr id="56" name="Text 54"/>
          <p:cNvSpPr/>
          <p:nvPr/>
        </p:nvSpPr>
        <p:spPr>
          <a:xfrm>
            <a:off x="9811512" y="2468880"/>
            <a:ext cx="1865376" cy="6858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temperature </a:t>
            </a:r>
            <a:r>
              <a:rPr lang="en-US" sz="1050" b="1" dirty="0">
                <a:solidFill>
                  <a:srgbClr val="262B3A"/>
                </a:solidFill>
                <a:latin typeface="Calibri" pitchFamily="34" charset="0"/>
                <a:ea typeface="Calibri" pitchFamily="34" charset="-122"/>
                <a:cs typeface="Calibri" pitchFamily="34" charset="-120"/>
              </a:rPr>
              <a:t>falls</a:t>
            </a:r>
            <a:r>
              <a:rPr lang="en-US" sz="1050" dirty="0">
                <a:solidFill>
                  <a:srgbClr val="262B3A"/>
                </a:solidFill>
                <a:latin typeface="Calibri" pitchFamily="34" charset="0"/>
                <a:ea typeface="Calibri" pitchFamily="34" charset="-122"/>
                <a:cs typeface="Calibri" pitchFamily="34" charset="-120"/>
              </a:rPr>
              <a:t> back to normal</a:t>
            </a:r>
            <a:endParaRPr lang="en-US" sz="1050" dirty="0"/>
          </a:p>
        </p:txBody>
      </p:sp>
      <p:sp>
        <p:nvSpPr>
          <p:cNvPr id="57" name="Shape 55"/>
          <p:cNvSpPr/>
          <p:nvPr/>
        </p:nvSpPr>
        <p:spPr>
          <a:xfrm>
            <a:off x="10744200" y="3200400"/>
            <a:ext cx="91" cy="228600"/>
          </a:xfrm>
          <a:prstGeom prst="line">
            <a:avLst/>
          </a:prstGeom>
          <a:noFill/>
          <a:ln w="19050">
            <a:solidFill>
              <a:srgbClr val="C8414C"/>
            </a:solidFill>
            <a:prstDash val="dash"/>
          </a:ln>
        </p:spPr>
      </p:sp>
      <p:sp>
        <p:nvSpPr>
          <p:cNvPr id="58" name="Shape 56"/>
          <p:cNvSpPr/>
          <p:nvPr/>
        </p:nvSpPr>
        <p:spPr>
          <a:xfrm>
            <a:off x="1600200" y="3429000"/>
            <a:ext cx="9144000" cy="91"/>
          </a:xfrm>
          <a:prstGeom prst="line">
            <a:avLst/>
          </a:prstGeom>
          <a:noFill/>
          <a:ln w="19050">
            <a:solidFill>
              <a:srgbClr val="C8414C"/>
            </a:solidFill>
            <a:prstDash val="dash"/>
          </a:ln>
        </p:spPr>
      </p:sp>
      <p:sp>
        <p:nvSpPr>
          <p:cNvPr id="59" name="Shape 57"/>
          <p:cNvSpPr/>
          <p:nvPr/>
        </p:nvSpPr>
        <p:spPr>
          <a:xfrm flipV="1">
            <a:off x="1600200" y="3218688"/>
            <a:ext cx="91" cy="210312"/>
          </a:xfrm>
          <a:prstGeom prst="line">
            <a:avLst/>
          </a:prstGeom>
          <a:noFill/>
          <a:ln w="19050">
            <a:solidFill>
              <a:srgbClr val="C8414C"/>
            </a:solidFill>
            <a:prstDash val="solid"/>
            <a:tailEnd type="triangle"/>
          </a:ln>
        </p:spPr>
      </p:sp>
      <p:sp>
        <p:nvSpPr>
          <p:cNvPr id="60" name="Text 58"/>
          <p:cNvSpPr/>
          <p:nvPr/>
        </p:nvSpPr>
        <p:spPr>
          <a:xfrm>
            <a:off x="2926080" y="3447288"/>
            <a:ext cx="6309360" cy="219456"/>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negative feedback</a:t>
            </a:r>
            <a:r>
              <a:rPr lang="en-US" sz="1050" dirty="0">
                <a:solidFill>
                  <a:srgbClr val="C8414C"/>
                </a:solidFill>
                <a:latin typeface="Calibri" pitchFamily="34" charset="0"/>
                <a:ea typeface="Calibri" pitchFamily="34" charset="-122"/>
                <a:cs typeface="Calibri" pitchFamily="34" charset="-120"/>
              </a:rPr>
              <a:t>: the response cancels out the original change</a:t>
            </a:r>
            <a:endParaRPr lang="en-US" sz="1050" dirty="0"/>
          </a:p>
        </p:txBody>
      </p:sp>
      <p:sp>
        <p:nvSpPr>
          <p:cNvPr id="61" name="Shape 59"/>
          <p:cNvSpPr/>
          <p:nvPr/>
        </p:nvSpPr>
        <p:spPr>
          <a:xfrm>
            <a:off x="411480" y="4023360"/>
            <a:ext cx="5577840" cy="1691640"/>
          </a:xfrm>
          <a:prstGeom prst="roundRect">
            <a:avLst>
              <a:gd name="adj" fmla="val 3243"/>
            </a:avLst>
          </a:prstGeom>
          <a:solidFill>
            <a:srgbClr val="F4FAF9"/>
          </a:solidFill>
          <a:ln w="9525">
            <a:solidFill>
              <a:srgbClr val="CFE0DE"/>
            </a:solidFill>
            <a:prstDash val="solid"/>
          </a:ln>
        </p:spPr>
      </p:sp>
      <p:sp>
        <p:nvSpPr>
          <p:cNvPr id="62" name="Text 60"/>
          <p:cNvSpPr/>
          <p:nvPr/>
        </p:nvSpPr>
        <p:spPr>
          <a:xfrm>
            <a:off x="576072" y="4114800"/>
            <a:ext cx="524865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Parts of a control system</a:t>
            </a:r>
            <a:endParaRPr lang="en-US" sz="1300" dirty="0"/>
          </a:p>
        </p:txBody>
      </p:sp>
      <p:sp>
        <p:nvSpPr>
          <p:cNvPr id="63" name="Text 61"/>
          <p:cNvSpPr/>
          <p:nvPr/>
        </p:nvSpPr>
        <p:spPr>
          <a:xfrm>
            <a:off x="576072" y="4443984"/>
            <a:ext cx="5248656" cy="119786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Receptors</a:t>
            </a:r>
            <a:r>
              <a:rPr lang="en-US" sz="1050" dirty="0">
                <a:solidFill>
                  <a:srgbClr val="262B3A"/>
                </a:solidFill>
                <a:latin typeface="Calibri" pitchFamily="34" charset="0"/>
                <a:ea typeface="Calibri" pitchFamily="34" charset="-122"/>
                <a:cs typeface="Calibri" pitchFamily="34" charset="-120"/>
              </a:rPr>
              <a:t> detect a change (stimulus) inside or outside the body.</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a:t>
            </a:r>
            <a:r>
              <a:rPr lang="en-US" sz="1050" b="1" dirty="0">
                <a:solidFill>
                  <a:srgbClr val="262B3A"/>
                </a:solidFill>
                <a:latin typeface="Calibri" pitchFamily="34" charset="0"/>
                <a:ea typeface="Calibri" pitchFamily="34" charset="-122"/>
                <a:cs typeface="Calibri" pitchFamily="34" charset="-120"/>
              </a:rPr>
              <a:t>coordination centre</a:t>
            </a:r>
            <a:r>
              <a:rPr lang="en-US" sz="1050" dirty="0">
                <a:solidFill>
                  <a:srgbClr val="262B3A"/>
                </a:solidFill>
                <a:latin typeface="Calibri" pitchFamily="34" charset="0"/>
                <a:ea typeface="Calibri" pitchFamily="34" charset="-122"/>
                <a:cs typeface="Calibri" pitchFamily="34" charset="-120"/>
              </a:rPr>
              <a:t> (brain, spinal cord or a gland such as the pancreas) processes the information and sends signals.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Effectors</a:t>
            </a:r>
            <a:r>
              <a:rPr lang="en-US" sz="1050" dirty="0">
                <a:solidFill>
                  <a:srgbClr val="262B3A"/>
                </a:solidFill>
                <a:latin typeface="Calibri" pitchFamily="34" charset="0"/>
                <a:ea typeface="Calibri" pitchFamily="34" charset="-122"/>
                <a:cs typeface="Calibri" pitchFamily="34" charset="-120"/>
              </a:rPr>
              <a:t> (muscles or glands) bring conditions back. Signals travel by </a:t>
            </a:r>
            <a:r>
              <a:rPr lang="en-US" sz="1050" b="1" dirty="0">
                <a:solidFill>
                  <a:srgbClr val="262B3A"/>
                </a:solidFill>
                <a:latin typeface="Calibri" pitchFamily="34" charset="0"/>
                <a:ea typeface="Calibri" pitchFamily="34" charset="-122"/>
                <a:cs typeface="Calibri" pitchFamily="34" charset="-120"/>
              </a:rPr>
              <a:t>nerves</a:t>
            </a:r>
            <a:r>
              <a:rPr lang="en-US" sz="1050" dirty="0">
                <a:solidFill>
                  <a:srgbClr val="262B3A"/>
                </a:solidFill>
                <a:latin typeface="Calibri" pitchFamily="34" charset="0"/>
                <a:ea typeface="Calibri" pitchFamily="34" charset="-122"/>
                <a:cs typeface="Calibri" pitchFamily="34" charset="-120"/>
              </a:rPr>
              <a:t> (fast) or </a:t>
            </a:r>
            <a:r>
              <a:rPr lang="en-US" sz="1050" b="1" dirty="0">
                <a:solidFill>
                  <a:srgbClr val="262B3A"/>
                </a:solidFill>
                <a:latin typeface="Calibri" pitchFamily="34" charset="0"/>
                <a:ea typeface="Calibri" pitchFamily="34" charset="-122"/>
                <a:cs typeface="Calibri" pitchFamily="34" charset="-120"/>
              </a:rPr>
              <a:t>hormones</a:t>
            </a:r>
            <a:r>
              <a:rPr lang="en-US" sz="1050" dirty="0">
                <a:solidFill>
                  <a:srgbClr val="262B3A"/>
                </a:solidFill>
                <a:latin typeface="Calibri" pitchFamily="34" charset="0"/>
                <a:ea typeface="Calibri" pitchFamily="34" charset="-122"/>
                <a:cs typeface="Calibri" pitchFamily="34" charset="-120"/>
              </a:rPr>
              <a:t> (slower).</a:t>
            </a:r>
            <a:endParaRPr lang="en-US" sz="1050" dirty="0"/>
          </a:p>
        </p:txBody>
      </p:sp>
      <p:sp>
        <p:nvSpPr>
          <p:cNvPr id="64" name="Shape 62"/>
          <p:cNvSpPr/>
          <p:nvPr/>
        </p:nvSpPr>
        <p:spPr>
          <a:xfrm>
            <a:off x="6217920" y="4023360"/>
            <a:ext cx="5559552" cy="1691640"/>
          </a:xfrm>
          <a:prstGeom prst="roundRect">
            <a:avLst>
              <a:gd name="adj" fmla="val 3243"/>
            </a:avLst>
          </a:prstGeom>
          <a:solidFill>
            <a:srgbClr val="FFF4E0"/>
          </a:solidFill>
          <a:ln w="9525">
            <a:solidFill>
              <a:srgbClr val="F1D9A8"/>
            </a:solidFill>
            <a:prstDash val="solid"/>
          </a:ln>
        </p:spPr>
      </p:sp>
      <p:sp>
        <p:nvSpPr>
          <p:cNvPr id="65" name="Text 63"/>
          <p:cNvSpPr/>
          <p:nvPr/>
        </p:nvSpPr>
        <p:spPr>
          <a:xfrm>
            <a:off x="6382512" y="40965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name the parts</a:t>
            </a:r>
            <a:endParaRPr lang="en-US" sz="1300" dirty="0"/>
          </a:p>
        </p:txBody>
      </p:sp>
      <p:sp>
        <p:nvSpPr>
          <p:cNvPr id="66" name="Text 64"/>
          <p:cNvSpPr/>
          <p:nvPr/>
        </p:nvSpPr>
        <p:spPr>
          <a:xfrm>
            <a:off x="6382512" y="4407408"/>
            <a:ext cx="52303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During exercise the CO₂ level in the blood rises and you breathe faster.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Receptor   </a:t>
            </a:r>
            <a:r>
              <a:rPr lang="en-US" sz="1050" dirty="0">
                <a:solidFill>
                  <a:srgbClr val="262B3A"/>
                </a:solidFill>
                <a:latin typeface="Calibri" pitchFamily="34" charset="0"/>
                <a:ea typeface="Calibri" pitchFamily="34" charset="-122"/>
                <a:cs typeface="Calibri" pitchFamily="34" charset="-120"/>
              </a:rPr>
              <a:t>chemical receptors detect the rise in CO₂</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Coordination   </a:t>
            </a:r>
            <a:r>
              <a:rPr lang="en-US" sz="1050" dirty="0">
                <a:solidFill>
                  <a:srgbClr val="262B3A"/>
                </a:solidFill>
                <a:latin typeface="Calibri" pitchFamily="34" charset="0"/>
                <a:ea typeface="Calibri" pitchFamily="34" charset="-122"/>
                <a:cs typeface="Calibri" pitchFamily="34" charset="-120"/>
              </a:rPr>
              <a:t>the brain sends impulses along nerves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Effector   </a:t>
            </a:r>
            <a:r>
              <a:rPr lang="en-US" sz="1050" b="1" dirty="0">
                <a:solidFill>
                  <a:srgbClr val="C8414C"/>
                </a:solidFill>
                <a:latin typeface="Calibri" pitchFamily="34" charset="0"/>
                <a:ea typeface="Calibri" pitchFamily="34" charset="-122"/>
                <a:cs typeface="Calibri" pitchFamily="34" charset="-120"/>
              </a:rPr>
              <a:t>breathing muscles contract faster: more CO₂ is breathed out</a:t>
            </a:r>
            <a:endParaRPr lang="en-US" sz="1050" dirty="0"/>
          </a:p>
        </p:txBody>
      </p:sp>
      <p:sp>
        <p:nvSpPr>
          <p:cNvPr id="67" name="Shape 65"/>
          <p:cNvSpPr/>
          <p:nvPr/>
        </p:nvSpPr>
        <p:spPr>
          <a:xfrm>
            <a:off x="411480" y="5833872"/>
            <a:ext cx="11368735" cy="530352"/>
          </a:xfrm>
          <a:prstGeom prst="rect">
            <a:avLst/>
          </a:prstGeom>
          <a:solidFill>
            <a:srgbClr val="FFF4E0"/>
          </a:solidFill>
          <a:ln w="6350">
            <a:solidFill>
              <a:srgbClr val="F1D9A8"/>
            </a:solidFill>
            <a:prstDash val="solid"/>
          </a:ln>
        </p:spPr>
      </p:sp>
      <p:sp>
        <p:nvSpPr>
          <p:cNvPr id="68" name="Shape 66"/>
          <p:cNvSpPr/>
          <p:nvPr/>
        </p:nvSpPr>
        <p:spPr>
          <a:xfrm>
            <a:off x="411480" y="5833872"/>
            <a:ext cx="82296" cy="530352"/>
          </a:xfrm>
          <a:prstGeom prst="rect">
            <a:avLst/>
          </a:prstGeom>
          <a:solidFill>
            <a:srgbClr val="E39A2F"/>
          </a:solidFill>
          <a:ln w="12700">
            <a:solidFill>
              <a:srgbClr val="E39A2F"/>
            </a:solidFill>
            <a:prstDash val="solid"/>
          </a:ln>
        </p:spPr>
      </p:sp>
      <p:sp>
        <p:nvSpPr>
          <p:cNvPr id="69" name="Text 6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types of effector. Why does homeostasis need </a:t>
            </a:r>
            <a:r>
              <a:rPr lang="en-US" sz="1150" b="1" dirty="0">
                <a:solidFill>
                  <a:srgbClr val="262B3A"/>
                </a:solidFill>
                <a:latin typeface="Calibri" pitchFamily="34" charset="0"/>
                <a:ea typeface="Calibri" pitchFamily="34" charset="-122"/>
                <a:cs typeface="Calibri" pitchFamily="34" charset="-120"/>
              </a:rPr>
              <a:t>receptors</a:t>
            </a:r>
            <a:r>
              <a:rPr lang="en-US" sz="1150" dirty="0">
                <a:solidFill>
                  <a:srgbClr val="262B3A"/>
                </a:solidFill>
                <a:latin typeface="Calibri" pitchFamily="34" charset="0"/>
                <a:ea typeface="Calibri" pitchFamily="34" charset="-122"/>
                <a:cs typeface="Calibri" pitchFamily="34" charset="-120"/>
              </a:rPr>
              <a:t> as well as effectors?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Negative feedback and the set point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recap of B5.3: a change switches on a response that reverses it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B5.4.1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core temperature of a healthy person, plotted to scale; set point 37 °C</a:t>
            </a:r>
            <a:endParaRPr lang="en-US" sz="1000" dirty="0"/>
          </a:p>
        </p:txBody>
      </p:sp>
      <p:sp>
        <p:nvSpPr>
          <p:cNvPr id="10" name="Shape 8"/>
          <p:cNvSpPr/>
          <p:nvPr/>
        </p:nvSpPr>
        <p:spPr>
          <a:xfrm>
            <a:off x="1234440" y="1600200"/>
            <a:ext cx="4434840" cy="2926080"/>
          </a:xfrm>
          <a:prstGeom prst="rect">
            <a:avLst/>
          </a:prstGeom>
          <a:solidFill>
            <a:srgbClr val="FFFFFF"/>
          </a:solidFill>
          <a:ln/>
        </p:spPr>
      </p:sp>
      <p:sp>
        <p:nvSpPr>
          <p:cNvPr id="11" name="Shape 9"/>
          <p:cNvSpPr/>
          <p:nvPr/>
        </p:nvSpPr>
        <p:spPr>
          <a:xfrm>
            <a:off x="1234440" y="1600200"/>
            <a:ext cx="91" cy="2926080"/>
          </a:xfrm>
          <a:prstGeom prst="line">
            <a:avLst/>
          </a:prstGeom>
          <a:noFill/>
          <a:ln w="6350">
            <a:solidFill>
              <a:srgbClr val="C5DCD9"/>
            </a:solidFill>
            <a:prstDash val="solid"/>
          </a:ln>
        </p:spPr>
      </p:sp>
      <p:sp>
        <p:nvSpPr>
          <p:cNvPr id="12" name="Shape 10"/>
          <p:cNvSpPr/>
          <p:nvPr/>
        </p:nvSpPr>
        <p:spPr>
          <a:xfrm>
            <a:off x="1604010" y="1600200"/>
            <a:ext cx="91" cy="2926080"/>
          </a:xfrm>
          <a:prstGeom prst="line">
            <a:avLst/>
          </a:prstGeom>
          <a:noFill/>
          <a:ln w="6350">
            <a:solidFill>
              <a:srgbClr val="E3EFED"/>
            </a:solidFill>
            <a:prstDash val="solid"/>
          </a:ln>
        </p:spPr>
      </p:sp>
      <p:sp>
        <p:nvSpPr>
          <p:cNvPr id="13" name="Shape 11"/>
          <p:cNvSpPr/>
          <p:nvPr/>
        </p:nvSpPr>
        <p:spPr>
          <a:xfrm>
            <a:off x="1973580" y="1600200"/>
            <a:ext cx="91" cy="2926080"/>
          </a:xfrm>
          <a:prstGeom prst="line">
            <a:avLst/>
          </a:prstGeom>
          <a:noFill/>
          <a:ln w="6350">
            <a:solidFill>
              <a:srgbClr val="C5DCD9"/>
            </a:solidFill>
            <a:prstDash val="solid"/>
          </a:ln>
        </p:spPr>
      </p:sp>
      <p:sp>
        <p:nvSpPr>
          <p:cNvPr id="14" name="Shape 12"/>
          <p:cNvSpPr/>
          <p:nvPr/>
        </p:nvSpPr>
        <p:spPr>
          <a:xfrm>
            <a:off x="2343150" y="1600200"/>
            <a:ext cx="91" cy="2926080"/>
          </a:xfrm>
          <a:prstGeom prst="line">
            <a:avLst/>
          </a:prstGeom>
          <a:noFill/>
          <a:ln w="6350">
            <a:solidFill>
              <a:srgbClr val="E3EFED"/>
            </a:solidFill>
            <a:prstDash val="solid"/>
          </a:ln>
        </p:spPr>
      </p:sp>
      <p:sp>
        <p:nvSpPr>
          <p:cNvPr id="15" name="Shape 13"/>
          <p:cNvSpPr/>
          <p:nvPr/>
        </p:nvSpPr>
        <p:spPr>
          <a:xfrm>
            <a:off x="2712720" y="1600200"/>
            <a:ext cx="91" cy="2926080"/>
          </a:xfrm>
          <a:prstGeom prst="line">
            <a:avLst/>
          </a:prstGeom>
          <a:noFill/>
          <a:ln w="6350">
            <a:solidFill>
              <a:srgbClr val="C5DCD9"/>
            </a:solidFill>
            <a:prstDash val="solid"/>
          </a:ln>
        </p:spPr>
      </p:sp>
      <p:sp>
        <p:nvSpPr>
          <p:cNvPr id="16" name="Shape 14"/>
          <p:cNvSpPr/>
          <p:nvPr/>
        </p:nvSpPr>
        <p:spPr>
          <a:xfrm>
            <a:off x="3082290" y="1600200"/>
            <a:ext cx="91" cy="2926080"/>
          </a:xfrm>
          <a:prstGeom prst="line">
            <a:avLst/>
          </a:prstGeom>
          <a:noFill/>
          <a:ln w="6350">
            <a:solidFill>
              <a:srgbClr val="E3EFED"/>
            </a:solidFill>
            <a:prstDash val="solid"/>
          </a:ln>
        </p:spPr>
      </p:sp>
      <p:sp>
        <p:nvSpPr>
          <p:cNvPr id="17" name="Shape 15"/>
          <p:cNvSpPr/>
          <p:nvPr/>
        </p:nvSpPr>
        <p:spPr>
          <a:xfrm>
            <a:off x="3451860" y="1600200"/>
            <a:ext cx="91" cy="2926080"/>
          </a:xfrm>
          <a:prstGeom prst="line">
            <a:avLst/>
          </a:prstGeom>
          <a:noFill/>
          <a:ln w="6350">
            <a:solidFill>
              <a:srgbClr val="C5DCD9"/>
            </a:solidFill>
            <a:prstDash val="solid"/>
          </a:ln>
        </p:spPr>
      </p:sp>
      <p:sp>
        <p:nvSpPr>
          <p:cNvPr id="18" name="Shape 16"/>
          <p:cNvSpPr/>
          <p:nvPr/>
        </p:nvSpPr>
        <p:spPr>
          <a:xfrm>
            <a:off x="3821430" y="1600200"/>
            <a:ext cx="91" cy="2926080"/>
          </a:xfrm>
          <a:prstGeom prst="line">
            <a:avLst/>
          </a:prstGeom>
          <a:noFill/>
          <a:ln w="6350">
            <a:solidFill>
              <a:srgbClr val="E3EFED"/>
            </a:solidFill>
            <a:prstDash val="solid"/>
          </a:ln>
        </p:spPr>
      </p:sp>
      <p:sp>
        <p:nvSpPr>
          <p:cNvPr id="19" name="Shape 17"/>
          <p:cNvSpPr/>
          <p:nvPr/>
        </p:nvSpPr>
        <p:spPr>
          <a:xfrm>
            <a:off x="4191000" y="1600200"/>
            <a:ext cx="91" cy="2926080"/>
          </a:xfrm>
          <a:prstGeom prst="line">
            <a:avLst/>
          </a:prstGeom>
          <a:noFill/>
          <a:ln w="6350">
            <a:solidFill>
              <a:srgbClr val="C5DCD9"/>
            </a:solidFill>
            <a:prstDash val="solid"/>
          </a:ln>
        </p:spPr>
      </p:sp>
      <p:sp>
        <p:nvSpPr>
          <p:cNvPr id="20" name="Shape 18"/>
          <p:cNvSpPr/>
          <p:nvPr/>
        </p:nvSpPr>
        <p:spPr>
          <a:xfrm>
            <a:off x="4560570" y="1600200"/>
            <a:ext cx="91" cy="2926080"/>
          </a:xfrm>
          <a:prstGeom prst="line">
            <a:avLst/>
          </a:prstGeom>
          <a:noFill/>
          <a:ln w="6350">
            <a:solidFill>
              <a:srgbClr val="E3EFED"/>
            </a:solidFill>
            <a:prstDash val="solid"/>
          </a:ln>
        </p:spPr>
      </p:sp>
      <p:sp>
        <p:nvSpPr>
          <p:cNvPr id="21" name="Shape 19"/>
          <p:cNvSpPr/>
          <p:nvPr/>
        </p:nvSpPr>
        <p:spPr>
          <a:xfrm>
            <a:off x="4930140" y="1600200"/>
            <a:ext cx="91" cy="2926080"/>
          </a:xfrm>
          <a:prstGeom prst="line">
            <a:avLst/>
          </a:prstGeom>
          <a:noFill/>
          <a:ln w="6350">
            <a:solidFill>
              <a:srgbClr val="C5DCD9"/>
            </a:solidFill>
            <a:prstDash val="solid"/>
          </a:ln>
        </p:spPr>
      </p:sp>
      <p:sp>
        <p:nvSpPr>
          <p:cNvPr id="22" name="Shape 20"/>
          <p:cNvSpPr/>
          <p:nvPr/>
        </p:nvSpPr>
        <p:spPr>
          <a:xfrm>
            <a:off x="5299710" y="1600200"/>
            <a:ext cx="91" cy="2926080"/>
          </a:xfrm>
          <a:prstGeom prst="line">
            <a:avLst/>
          </a:prstGeom>
          <a:noFill/>
          <a:ln w="6350">
            <a:solidFill>
              <a:srgbClr val="E3EFED"/>
            </a:solidFill>
            <a:prstDash val="solid"/>
          </a:ln>
        </p:spPr>
      </p:sp>
      <p:sp>
        <p:nvSpPr>
          <p:cNvPr id="23" name="Shape 21"/>
          <p:cNvSpPr/>
          <p:nvPr/>
        </p:nvSpPr>
        <p:spPr>
          <a:xfrm>
            <a:off x="5669280" y="1600200"/>
            <a:ext cx="91" cy="2926080"/>
          </a:xfrm>
          <a:prstGeom prst="line">
            <a:avLst/>
          </a:prstGeom>
          <a:noFill/>
          <a:ln w="6350">
            <a:solidFill>
              <a:srgbClr val="C5DCD9"/>
            </a:solidFill>
            <a:prstDash val="solid"/>
          </a:ln>
        </p:spPr>
      </p:sp>
      <p:sp>
        <p:nvSpPr>
          <p:cNvPr id="24" name="Shape 22"/>
          <p:cNvSpPr/>
          <p:nvPr/>
        </p:nvSpPr>
        <p:spPr>
          <a:xfrm>
            <a:off x="1234440" y="4526280"/>
            <a:ext cx="4434840" cy="91"/>
          </a:xfrm>
          <a:prstGeom prst="line">
            <a:avLst/>
          </a:prstGeom>
          <a:noFill/>
          <a:ln w="6350">
            <a:solidFill>
              <a:srgbClr val="C5DCD9"/>
            </a:solidFill>
            <a:prstDash val="solid"/>
          </a:ln>
        </p:spPr>
      </p:sp>
      <p:sp>
        <p:nvSpPr>
          <p:cNvPr id="25" name="Shape 23"/>
          <p:cNvSpPr/>
          <p:nvPr/>
        </p:nvSpPr>
        <p:spPr>
          <a:xfrm>
            <a:off x="1234440" y="4160520"/>
            <a:ext cx="4434840" cy="91"/>
          </a:xfrm>
          <a:prstGeom prst="line">
            <a:avLst/>
          </a:prstGeom>
          <a:noFill/>
          <a:ln w="6350">
            <a:solidFill>
              <a:srgbClr val="E3EFED"/>
            </a:solidFill>
            <a:prstDash val="solid"/>
          </a:ln>
        </p:spPr>
      </p:sp>
      <p:sp>
        <p:nvSpPr>
          <p:cNvPr id="26" name="Shape 24"/>
          <p:cNvSpPr/>
          <p:nvPr/>
        </p:nvSpPr>
        <p:spPr>
          <a:xfrm>
            <a:off x="1234440" y="3794760"/>
            <a:ext cx="4434840" cy="91"/>
          </a:xfrm>
          <a:prstGeom prst="line">
            <a:avLst/>
          </a:prstGeom>
          <a:noFill/>
          <a:ln w="6350">
            <a:solidFill>
              <a:srgbClr val="C5DCD9"/>
            </a:solidFill>
            <a:prstDash val="solid"/>
          </a:ln>
        </p:spPr>
      </p:sp>
      <p:sp>
        <p:nvSpPr>
          <p:cNvPr id="27" name="Shape 25"/>
          <p:cNvSpPr/>
          <p:nvPr/>
        </p:nvSpPr>
        <p:spPr>
          <a:xfrm>
            <a:off x="1234440" y="3429000"/>
            <a:ext cx="4434840" cy="91"/>
          </a:xfrm>
          <a:prstGeom prst="line">
            <a:avLst/>
          </a:prstGeom>
          <a:noFill/>
          <a:ln w="6350">
            <a:solidFill>
              <a:srgbClr val="E3EFED"/>
            </a:solidFill>
            <a:prstDash val="solid"/>
          </a:ln>
        </p:spPr>
      </p:sp>
      <p:sp>
        <p:nvSpPr>
          <p:cNvPr id="28" name="Shape 26"/>
          <p:cNvSpPr/>
          <p:nvPr/>
        </p:nvSpPr>
        <p:spPr>
          <a:xfrm>
            <a:off x="1234440" y="3063240"/>
            <a:ext cx="4434840" cy="91"/>
          </a:xfrm>
          <a:prstGeom prst="line">
            <a:avLst/>
          </a:prstGeom>
          <a:noFill/>
          <a:ln w="6350">
            <a:solidFill>
              <a:srgbClr val="C5DCD9"/>
            </a:solidFill>
            <a:prstDash val="solid"/>
          </a:ln>
        </p:spPr>
      </p:sp>
      <p:sp>
        <p:nvSpPr>
          <p:cNvPr id="29" name="Shape 27"/>
          <p:cNvSpPr/>
          <p:nvPr/>
        </p:nvSpPr>
        <p:spPr>
          <a:xfrm>
            <a:off x="1234440" y="2697480"/>
            <a:ext cx="4434840" cy="91"/>
          </a:xfrm>
          <a:prstGeom prst="line">
            <a:avLst/>
          </a:prstGeom>
          <a:noFill/>
          <a:ln w="6350">
            <a:solidFill>
              <a:srgbClr val="E3EFED"/>
            </a:solidFill>
            <a:prstDash val="solid"/>
          </a:ln>
        </p:spPr>
      </p:sp>
      <p:sp>
        <p:nvSpPr>
          <p:cNvPr id="30" name="Shape 28"/>
          <p:cNvSpPr/>
          <p:nvPr/>
        </p:nvSpPr>
        <p:spPr>
          <a:xfrm>
            <a:off x="1234440" y="2331720"/>
            <a:ext cx="4434840" cy="91"/>
          </a:xfrm>
          <a:prstGeom prst="line">
            <a:avLst/>
          </a:prstGeom>
          <a:noFill/>
          <a:ln w="6350">
            <a:solidFill>
              <a:srgbClr val="C5DCD9"/>
            </a:solidFill>
            <a:prstDash val="solid"/>
          </a:ln>
        </p:spPr>
      </p:sp>
      <p:sp>
        <p:nvSpPr>
          <p:cNvPr id="31" name="Shape 29"/>
          <p:cNvSpPr/>
          <p:nvPr/>
        </p:nvSpPr>
        <p:spPr>
          <a:xfrm>
            <a:off x="1234440" y="1965960"/>
            <a:ext cx="4434840" cy="91"/>
          </a:xfrm>
          <a:prstGeom prst="line">
            <a:avLst/>
          </a:prstGeom>
          <a:noFill/>
          <a:ln w="6350">
            <a:solidFill>
              <a:srgbClr val="E3EFED"/>
            </a:solidFill>
            <a:prstDash val="solid"/>
          </a:ln>
        </p:spPr>
      </p:sp>
      <p:sp>
        <p:nvSpPr>
          <p:cNvPr id="32" name="Shape 30"/>
          <p:cNvSpPr/>
          <p:nvPr/>
        </p:nvSpPr>
        <p:spPr>
          <a:xfrm>
            <a:off x="1234440" y="1600200"/>
            <a:ext cx="4434840" cy="91"/>
          </a:xfrm>
          <a:prstGeom prst="line">
            <a:avLst/>
          </a:prstGeom>
          <a:noFill/>
          <a:ln w="6350">
            <a:solidFill>
              <a:srgbClr val="C5DCD9"/>
            </a:solidFill>
            <a:prstDash val="solid"/>
          </a:ln>
        </p:spPr>
      </p:sp>
      <p:sp>
        <p:nvSpPr>
          <p:cNvPr id="33" name="Shape 31"/>
          <p:cNvSpPr/>
          <p:nvPr/>
        </p:nvSpPr>
        <p:spPr>
          <a:xfrm>
            <a:off x="1234440" y="4526280"/>
            <a:ext cx="4434840" cy="91"/>
          </a:xfrm>
          <a:prstGeom prst="line">
            <a:avLst/>
          </a:prstGeom>
          <a:noFill/>
          <a:ln w="19050">
            <a:solidFill>
              <a:srgbClr val="133536"/>
            </a:solidFill>
            <a:prstDash val="solid"/>
          </a:ln>
        </p:spPr>
      </p:sp>
      <p:sp>
        <p:nvSpPr>
          <p:cNvPr id="34" name="Shape 32"/>
          <p:cNvSpPr/>
          <p:nvPr/>
        </p:nvSpPr>
        <p:spPr>
          <a:xfrm flipV="1">
            <a:off x="1234440" y="1600200"/>
            <a:ext cx="91" cy="2926080"/>
          </a:xfrm>
          <a:prstGeom prst="line">
            <a:avLst/>
          </a:prstGeom>
          <a:noFill/>
          <a:ln w="19050">
            <a:solidFill>
              <a:srgbClr val="133536"/>
            </a:solidFill>
            <a:prstDash val="solid"/>
          </a:ln>
        </p:spPr>
      </p:sp>
      <p:sp>
        <p:nvSpPr>
          <p:cNvPr id="35" name="Shape 33"/>
          <p:cNvSpPr/>
          <p:nvPr/>
        </p:nvSpPr>
        <p:spPr>
          <a:xfrm>
            <a:off x="1234440" y="4526280"/>
            <a:ext cx="91" cy="54864"/>
          </a:xfrm>
          <a:prstGeom prst="line">
            <a:avLst/>
          </a:prstGeom>
          <a:noFill/>
          <a:ln w="12700">
            <a:solidFill>
              <a:srgbClr val="133536"/>
            </a:solidFill>
            <a:prstDash val="solid"/>
          </a:ln>
        </p:spPr>
      </p:sp>
      <p:sp>
        <p:nvSpPr>
          <p:cNvPr id="36" name="Text 34"/>
          <p:cNvSpPr/>
          <p:nvPr/>
        </p:nvSpPr>
        <p:spPr>
          <a:xfrm>
            <a:off x="96012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7" name="Shape 35"/>
          <p:cNvSpPr/>
          <p:nvPr/>
        </p:nvSpPr>
        <p:spPr>
          <a:xfrm>
            <a:off x="1973580" y="4526280"/>
            <a:ext cx="91" cy="54864"/>
          </a:xfrm>
          <a:prstGeom prst="line">
            <a:avLst/>
          </a:prstGeom>
          <a:noFill/>
          <a:ln w="12700">
            <a:solidFill>
              <a:srgbClr val="133536"/>
            </a:solidFill>
            <a:prstDash val="solid"/>
          </a:ln>
        </p:spPr>
      </p:sp>
      <p:sp>
        <p:nvSpPr>
          <p:cNvPr id="38" name="Text 36"/>
          <p:cNvSpPr/>
          <p:nvPr/>
        </p:nvSpPr>
        <p:spPr>
          <a:xfrm>
            <a:off x="169926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39" name="Shape 37"/>
          <p:cNvSpPr/>
          <p:nvPr/>
        </p:nvSpPr>
        <p:spPr>
          <a:xfrm>
            <a:off x="2712720" y="4526280"/>
            <a:ext cx="91" cy="54864"/>
          </a:xfrm>
          <a:prstGeom prst="line">
            <a:avLst/>
          </a:prstGeom>
          <a:noFill/>
          <a:ln w="12700">
            <a:solidFill>
              <a:srgbClr val="133536"/>
            </a:solidFill>
            <a:prstDash val="solid"/>
          </a:ln>
        </p:spPr>
      </p:sp>
      <p:sp>
        <p:nvSpPr>
          <p:cNvPr id="40" name="Text 38"/>
          <p:cNvSpPr/>
          <p:nvPr/>
        </p:nvSpPr>
        <p:spPr>
          <a:xfrm>
            <a:off x="243840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1" name="Shape 39"/>
          <p:cNvSpPr/>
          <p:nvPr/>
        </p:nvSpPr>
        <p:spPr>
          <a:xfrm>
            <a:off x="3451860" y="4526280"/>
            <a:ext cx="91" cy="54864"/>
          </a:xfrm>
          <a:prstGeom prst="line">
            <a:avLst/>
          </a:prstGeom>
          <a:noFill/>
          <a:ln w="12700">
            <a:solidFill>
              <a:srgbClr val="133536"/>
            </a:solidFill>
            <a:prstDash val="solid"/>
          </a:ln>
        </p:spPr>
      </p:sp>
      <p:sp>
        <p:nvSpPr>
          <p:cNvPr id="42" name="Text 40"/>
          <p:cNvSpPr/>
          <p:nvPr/>
        </p:nvSpPr>
        <p:spPr>
          <a:xfrm>
            <a:off x="317754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3" name="Shape 41"/>
          <p:cNvSpPr/>
          <p:nvPr/>
        </p:nvSpPr>
        <p:spPr>
          <a:xfrm>
            <a:off x="4191000" y="4526280"/>
            <a:ext cx="91" cy="54864"/>
          </a:xfrm>
          <a:prstGeom prst="line">
            <a:avLst/>
          </a:prstGeom>
          <a:noFill/>
          <a:ln w="12700">
            <a:solidFill>
              <a:srgbClr val="133536"/>
            </a:solidFill>
            <a:prstDash val="solid"/>
          </a:ln>
        </p:spPr>
      </p:sp>
      <p:sp>
        <p:nvSpPr>
          <p:cNvPr id="44" name="Text 42"/>
          <p:cNvSpPr/>
          <p:nvPr/>
        </p:nvSpPr>
        <p:spPr>
          <a:xfrm>
            <a:off x="391668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5" name="Shape 43"/>
          <p:cNvSpPr/>
          <p:nvPr/>
        </p:nvSpPr>
        <p:spPr>
          <a:xfrm>
            <a:off x="4930140" y="4526280"/>
            <a:ext cx="91" cy="54864"/>
          </a:xfrm>
          <a:prstGeom prst="line">
            <a:avLst/>
          </a:prstGeom>
          <a:noFill/>
          <a:ln w="12700">
            <a:solidFill>
              <a:srgbClr val="133536"/>
            </a:solidFill>
            <a:prstDash val="solid"/>
          </a:ln>
        </p:spPr>
      </p:sp>
      <p:sp>
        <p:nvSpPr>
          <p:cNvPr id="46" name="Text 44"/>
          <p:cNvSpPr/>
          <p:nvPr/>
        </p:nvSpPr>
        <p:spPr>
          <a:xfrm>
            <a:off x="465582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47" name="Shape 45"/>
          <p:cNvSpPr/>
          <p:nvPr/>
        </p:nvSpPr>
        <p:spPr>
          <a:xfrm>
            <a:off x="5669280" y="4526280"/>
            <a:ext cx="91" cy="54864"/>
          </a:xfrm>
          <a:prstGeom prst="line">
            <a:avLst/>
          </a:prstGeom>
          <a:noFill/>
          <a:ln w="12700">
            <a:solidFill>
              <a:srgbClr val="133536"/>
            </a:solidFill>
            <a:prstDash val="solid"/>
          </a:ln>
        </p:spPr>
      </p:sp>
      <p:sp>
        <p:nvSpPr>
          <p:cNvPr id="48" name="Text 46"/>
          <p:cNvSpPr/>
          <p:nvPr/>
        </p:nvSpPr>
        <p:spPr>
          <a:xfrm>
            <a:off x="539496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49" name="Shape 47"/>
          <p:cNvSpPr/>
          <p:nvPr/>
        </p:nvSpPr>
        <p:spPr>
          <a:xfrm>
            <a:off x="1179576" y="4526280"/>
            <a:ext cx="54864" cy="91"/>
          </a:xfrm>
          <a:prstGeom prst="line">
            <a:avLst/>
          </a:prstGeom>
          <a:noFill/>
          <a:ln w="12700">
            <a:solidFill>
              <a:srgbClr val="133536"/>
            </a:solidFill>
            <a:prstDash val="solid"/>
          </a:ln>
        </p:spPr>
      </p:sp>
      <p:sp>
        <p:nvSpPr>
          <p:cNvPr id="50" name="Text 48"/>
          <p:cNvSpPr/>
          <p:nvPr/>
        </p:nvSpPr>
        <p:spPr>
          <a:xfrm>
            <a:off x="795528" y="4434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36.0</a:t>
            </a:r>
            <a:endParaRPr lang="en-US" sz="1000" dirty="0"/>
          </a:p>
        </p:txBody>
      </p:sp>
      <p:sp>
        <p:nvSpPr>
          <p:cNvPr id="51" name="Shape 49"/>
          <p:cNvSpPr/>
          <p:nvPr/>
        </p:nvSpPr>
        <p:spPr>
          <a:xfrm>
            <a:off x="1179576" y="3794760"/>
            <a:ext cx="54864" cy="91"/>
          </a:xfrm>
          <a:prstGeom prst="line">
            <a:avLst/>
          </a:prstGeom>
          <a:noFill/>
          <a:ln w="12700">
            <a:solidFill>
              <a:srgbClr val="133536"/>
            </a:solidFill>
            <a:prstDash val="solid"/>
          </a:ln>
        </p:spPr>
      </p:sp>
      <p:sp>
        <p:nvSpPr>
          <p:cNvPr id="52" name="Text 50"/>
          <p:cNvSpPr/>
          <p:nvPr/>
        </p:nvSpPr>
        <p:spPr>
          <a:xfrm>
            <a:off x="795528" y="3703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36.5</a:t>
            </a:r>
            <a:endParaRPr lang="en-US" sz="1000" dirty="0"/>
          </a:p>
        </p:txBody>
      </p:sp>
      <p:sp>
        <p:nvSpPr>
          <p:cNvPr id="53" name="Shape 51"/>
          <p:cNvSpPr/>
          <p:nvPr/>
        </p:nvSpPr>
        <p:spPr>
          <a:xfrm>
            <a:off x="1179576" y="3063240"/>
            <a:ext cx="54864" cy="91"/>
          </a:xfrm>
          <a:prstGeom prst="line">
            <a:avLst/>
          </a:prstGeom>
          <a:noFill/>
          <a:ln w="12700">
            <a:solidFill>
              <a:srgbClr val="133536"/>
            </a:solidFill>
            <a:prstDash val="solid"/>
          </a:ln>
        </p:spPr>
      </p:sp>
      <p:sp>
        <p:nvSpPr>
          <p:cNvPr id="54" name="Text 52"/>
          <p:cNvSpPr/>
          <p:nvPr/>
        </p:nvSpPr>
        <p:spPr>
          <a:xfrm>
            <a:off x="79552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37.0</a:t>
            </a:r>
            <a:endParaRPr lang="en-US" sz="1000" dirty="0"/>
          </a:p>
        </p:txBody>
      </p:sp>
      <p:sp>
        <p:nvSpPr>
          <p:cNvPr id="55" name="Shape 53"/>
          <p:cNvSpPr/>
          <p:nvPr/>
        </p:nvSpPr>
        <p:spPr>
          <a:xfrm>
            <a:off x="1179576" y="2331720"/>
            <a:ext cx="54864" cy="91"/>
          </a:xfrm>
          <a:prstGeom prst="line">
            <a:avLst/>
          </a:prstGeom>
          <a:noFill/>
          <a:ln w="12700">
            <a:solidFill>
              <a:srgbClr val="133536"/>
            </a:solidFill>
            <a:prstDash val="solid"/>
          </a:ln>
        </p:spPr>
      </p:sp>
      <p:sp>
        <p:nvSpPr>
          <p:cNvPr id="56" name="Text 54"/>
          <p:cNvSpPr/>
          <p:nvPr/>
        </p:nvSpPr>
        <p:spPr>
          <a:xfrm>
            <a:off x="795528" y="2240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37.5</a:t>
            </a:r>
            <a:endParaRPr lang="en-US" sz="1000" dirty="0"/>
          </a:p>
        </p:txBody>
      </p:sp>
      <p:sp>
        <p:nvSpPr>
          <p:cNvPr id="57" name="Shape 55"/>
          <p:cNvSpPr/>
          <p:nvPr/>
        </p:nvSpPr>
        <p:spPr>
          <a:xfrm>
            <a:off x="1179576" y="1600200"/>
            <a:ext cx="54864" cy="91"/>
          </a:xfrm>
          <a:prstGeom prst="line">
            <a:avLst/>
          </a:prstGeom>
          <a:noFill/>
          <a:ln w="12700">
            <a:solidFill>
              <a:srgbClr val="133536"/>
            </a:solidFill>
            <a:prstDash val="solid"/>
          </a:ln>
        </p:spPr>
      </p:sp>
      <p:sp>
        <p:nvSpPr>
          <p:cNvPr id="58" name="Text 56"/>
          <p:cNvSpPr/>
          <p:nvPr/>
        </p:nvSpPr>
        <p:spPr>
          <a:xfrm>
            <a:off x="795528" y="1508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38.0</a:t>
            </a:r>
            <a:endParaRPr lang="en-US" sz="1000" dirty="0"/>
          </a:p>
        </p:txBody>
      </p:sp>
      <p:sp>
        <p:nvSpPr>
          <p:cNvPr id="59" name="Text 57"/>
          <p:cNvSpPr/>
          <p:nvPr/>
        </p:nvSpPr>
        <p:spPr>
          <a:xfrm>
            <a:off x="1234440" y="477316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min</a:t>
            </a:r>
            <a:endParaRPr lang="en-US" sz="1050" dirty="0"/>
          </a:p>
        </p:txBody>
      </p:sp>
      <p:sp>
        <p:nvSpPr>
          <p:cNvPr id="60" name="Text 58"/>
          <p:cNvSpPr/>
          <p:nvPr/>
        </p:nvSpPr>
        <p:spPr>
          <a:xfrm rot="16200000">
            <a:off x="-795528" y="2935224"/>
            <a:ext cx="2926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Core temperature / °C</a:t>
            </a:r>
            <a:endParaRPr lang="en-US" sz="1050" dirty="0"/>
          </a:p>
        </p:txBody>
      </p:sp>
      <p:sp>
        <p:nvSpPr>
          <p:cNvPr id="61" name="Shape 59"/>
          <p:cNvSpPr/>
          <p:nvPr/>
        </p:nvSpPr>
        <p:spPr>
          <a:xfrm>
            <a:off x="1234440" y="2624328"/>
            <a:ext cx="4434840" cy="877824"/>
          </a:xfrm>
          <a:prstGeom prst="rect">
            <a:avLst/>
          </a:prstGeom>
          <a:solidFill>
            <a:srgbClr val="D8F0E2">
              <a:alpha val="55000"/>
            </a:srgbClr>
          </a:solidFill>
          <a:ln/>
        </p:spPr>
      </p:sp>
      <p:sp>
        <p:nvSpPr>
          <p:cNvPr id="62" name="Shape 60"/>
          <p:cNvSpPr/>
          <p:nvPr/>
        </p:nvSpPr>
        <p:spPr>
          <a:xfrm>
            <a:off x="1234440" y="3063240"/>
            <a:ext cx="4434840" cy="91"/>
          </a:xfrm>
          <a:prstGeom prst="line">
            <a:avLst/>
          </a:prstGeom>
          <a:noFill/>
          <a:ln w="19050">
            <a:solidFill>
              <a:srgbClr val="2E8B57"/>
            </a:solidFill>
            <a:prstDash val="dash"/>
          </a:ln>
        </p:spPr>
      </p:sp>
      <p:sp>
        <p:nvSpPr>
          <p:cNvPr id="63" name="Shape 61"/>
          <p:cNvSpPr/>
          <p:nvPr/>
        </p:nvSpPr>
        <p:spPr>
          <a:xfrm flipV="1">
            <a:off x="1234440" y="2994579"/>
            <a:ext cx="36957" cy="68661"/>
          </a:xfrm>
          <a:prstGeom prst="line">
            <a:avLst/>
          </a:prstGeom>
          <a:noFill/>
          <a:ln w="31750">
            <a:solidFill>
              <a:srgbClr val="C8414C"/>
            </a:solidFill>
            <a:prstDash val="solid"/>
          </a:ln>
        </p:spPr>
      </p:sp>
      <p:sp>
        <p:nvSpPr>
          <p:cNvPr id="64" name="Shape 62"/>
          <p:cNvSpPr/>
          <p:nvPr/>
        </p:nvSpPr>
        <p:spPr>
          <a:xfrm flipV="1">
            <a:off x="1271397" y="2927609"/>
            <a:ext cx="36957" cy="66970"/>
          </a:xfrm>
          <a:prstGeom prst="line">
            <a:avLst/>
          </a:prstGeom>
          <a:noFill/>
          <a:ln w="31750">
            <a:solidFill>
              <a:srgbClr val="C8414C"/>
            </a:solidFill>
            <a:prstDash val="solid"/>
          </a:ln>
        </p:spPr>
      </p:sp>
      <p:sp>
        <p:nvSpPr>
          <p:cNvPr id="65" name="Shape 63"/>
          <p:cNvSpPr/>
          <p:nvPr/>
        </p:nvSpPr>
        <p:spPr>
          <a:xfrm flipV="1">
            <a:off x="1308354" y="2863978"/>
            <a:ext cx="36957" cy="63631"/>
          </a:xfrm>
          <a:prstGeom prst="line">
            <a:avLst/>
          </a:prstGeom>
          <a:noFill/>
          <a:ln w="31750">
            <a:solidFill>
              <a:srgbClr val="C8414C"/>
            </a:solidFill>
            <a:prstDash val="solid"/>
          </a:ln>
        </p:spPr>
      </p:sp>
      <p:sp>
        <p:nvSpPr>
          <p:cNvPr id="66" name="Shape 64"/>
          <p:cNvSpPr/>
          <p:nvPr/>
        </p:nvSpPr>
        <p:spPr>
          <a:xfrm flipV="1">
            <a:off x="1345311" y="2805254"/>
            <a:ext cx="36957" cy="58724"/>
          </a:xfrm>
          <a:prstGeom prst="line">
            <a:avLst/>
          </a:prstGeom>
          <a:noFill/>
          <a:ln w="31750">
            <a:solidFill>
              <a:srgbClr val="C8414C"/>
            </a:solidFill>
            <a:prstDash val="solid"/>
          </a:ln>
        </p:spPr>
      </p:sp>
      <p:sp>
        <p:nvSpPr>
          <p:cNvPr id="67" name="Shape 65"/>
          <p:cNvSpPr/>
          <p:nvPr/>
        </p:nvSpPr>
        <p:spPr>
          <a:xfrm flipV="1">
            <a:off x="1382268" y="2752882"/>
            <a:ext cx="36957" cy="52372"/>
          </a:xfrm>
          <a:prstGeom prst="line">
            <a:avLst/>
          </a:prstGeom>
          <a:noFill/>
          <a:ln w="31750">
            <a:solidFill>
              <a:srgbClr val="C8414C"/>
            </a:solidFill>
            <a:prstDash val="solid"/>
          </a:ln>
        </p:spPr>
      </p:sp>
      <p:sp>
        <p:nvSpPr>
          <p:cNvPr id="68" name="Shape 66"/>
          <p:cNvSpPr/>
          <p:nvPr/>
        </p:nvSpPr>
        <p:spPr>
          <a:xfrm flipV="1">
            <a:off x="1419225" y="2708153"/>
            <a:ext cx="36957" cy="44730"/>
          </a:xfrm>
          <a:prstGeom prst="line">
            <a:avLst/>
          </a:prstGeom>
          <a:noFill/>
          <a:ln w="31750">
            <a:solidFill>
              <a:srgbClr val="C8414C"/>
            </a:solidFill>
            <a:prstDash val="solid"/>
          </a:ln>
        </p:spPr>
      </p:sp>
      <p:sp>
        <p:nvSpPr>
          <p:cNvPr id="69" name="Shape 67"/>
          <p:cNvSpPr/>
          <p:nvPr/>
        </p:nvSpPr>
        <p:spPr>
          <a:xfrm flipV="1">
            <a:off x="1456182" y="2672167"/>
            <a:ext cx="36957" cy="35986"/>
          </a:xfrm>
          <a:prstGeom prst="line">
            <a:avLst/>
          </a:prstGeom>
          <a:noFill/>
          <a:ln w="31750">
            <a:solidFill>
              <a:srgbClr val="C8414C"/>
            </a:solidFill>
            <a:prstDash val="solid"/>
          </a:ln>
        </p:spPr>
      </p:sp>
      <p:sp>
        <p:nvSpPr>
          <p:cNvPr id="70" name="Shape 68"/>
          <p:cNvSpPr/>
          <p:nvPr/>
        </p:nvSpPr>
        <p:spPr>
          <a:xfrm flipV="1">
            <a:off x="1493139" y="2645810"/>
            <a:ext cx="36957" cy="26357"/>
          </a:xfrm>
          <a:prstGeom prst="line">
            <a:avLst/>
          </a:prstGeom>
          <a:noFill/>
          <a:ln w="31750">
            <a:solidFill>
              <a:srgbClr val="C8414C"/>
            </a:solidFill>
            <a:prstDash val="solid"/>
          </a:ln>
        </p:spPr>
      </p:sp>
      <p:sp>
        <p:nvSpPr>
          <p:cNvPr id="71" name="Shape 69"/>
          <p:cNvSpPr/>
          <p:nvPr/>
        </p:nvSpPr>
        <p:spPr>
          <a:xfrm flipV="1">
            <a:off x="1530096" y="2629732"/>
            <a:ext cx="36957" cy="16078"/>
          </a:xfrm>
          <a:prstGeom prst="line">
            <a:avLst/>
          </a:prstGeom>
          <a:noFill/>
          <a:ln w="31750">
            <a:solidFill>
              <a:srgbClr val="C8414C"/>
            </a:solidFill>
            <a:prstDash val="solid"/>
          </a:ln>
        </p:spPr>
      </p:sp>
      <p:sp>
        <p:nvSpPr>
          <p:cNvPr id="72" name="Shape 70"/>
          <p:cNvSpPr/>
          <p:nvPr/>
        </p:nvSpPr>
        <p:spPr>
          <a:xfrm flipV="1">
            <a:off x="1567053" y="2624328"/>
            <a:ext cx="36957" cy="5404"/>
          </a:xfrm>
          <a:prstGeom prst="line">
            <a:avLst/>
          </a:prstGeom>
          <a:noFill/>
          <a:ln w="31750">
            <a:solidFill>
              <a:srgbClr val="C8414C"/>
            </a:solidFill>
            <a:prstDash val="solid"/>
          </a:ln>
        </p:spPr>
      </p:sp>
      <p:sp>
        <p:nvSpPr>
          <p:cNvPr id="73" name="Shape 71"/>
          <p:cNvSpPr/>
          <p:nvPr/>
        </p:nvSpPr>
        <p:spPr>
          <a:xfrm>
            <a:off x="1604010" y="2624328"/>
            <a:ext cx="36957" cy="5404"/>
          </a:xfrm>
          <a:prstGeom prst="line">
            <a:avLst/>
          </a:prstGeom>
          <a:noFill/>
          <a:ln w="31750">
            <a:solidFill>
              <a:srgbClr val="C8414C"/>
            </a:solidFill>
            <a:prstDash val="solid"/>
          </a:ln>
        </p:spPr>
      </p:sp>
      <p:sp>
        <p:nvSpPr>
          <p:cNvPr id="74" name="Shape 72"/>
          <p:cNvSpPr/>
          <p:nvPr/>
        </p:nvSpPr>
        <p:spPr>
          <a:xfrm>
            <a:off x="1640967" y="2629732"/>
            <a:ext cx="36957" cy="16078"/>
          </a:xfrm>
          <a:prstGeom prst="line">
            <a:avLst/>
          </a:prstGeom>
          <a:noFill/>
          <a:ln w="31750">
            <a:solidFill>
              <a:srgbClr val="C8414C"/>
            </a:solidFill>
            <a:prstDash val="solid"/>
          </a:ln>
        </p:spPr>
      </p:sp>
      <p:sp>
        <p:nvSpPr>
          <p:cNvPr id="75" name="Shape 73"/>
          <p:cNvSpPr/>
          <p:nvPr/>
        </p:nvSpPr>
        <p:spPr>
          <a:xfrm>
            <a:off x="1677924" y="2645810"/>
            <a:ext cx="36957" cy="26357"/>
          </a:xfrm>
          <a:prstGeom prst="line">
            <a:avLst/>
          </a:prstGeom>
          <a:noFill/>
          <a:ln w="31750">
            <a:solidFill>
              <a:srgbClr val="C8414C"/>
            </a:solidFill>
            <a:prstDash val="solid"/>
          </a:ln>
        </p:spPr>
      </p:sp>
      <p:sp>
        <p:nvSpPr>
          <p:cNvPr id="76" name="Shape 74"/>
          <p:cNvSpPr/>
          <p:nvPr/>
        </p:nvSpPr>
        <p:spPr>
          <a:xfrm>
            <a:off x="1714881" y="2672167"/>
            <a:ext cx="36957" cy="35986"/>
          </a:xfrm>
          <a:prstGeom prst="line">
            <a:avLst/>
          </a:prstGeom>
          <a:noFill/>
          <a:ln w="31750">
            <a:solidFill>
              <a:srgbClr val="C8414C"/>
            </a:solidFill>
            <a:prstDash val="solid"/>
          </a:ln>
        </p:spPr>
      </p:sp>
      <p:sp>
        <p:nvSpPr>
          <p:cNvPr id="77" name="Shape 75"/>
          <p:cNvSpPr/>
          <p:nvPr/>
        </p:nvSpPr>
        <p:spPr>
          <a:xfrm>
            <a:off x="1751838" y="2708153"/>
            <a:ext cx="36957" cy="44730"/>
          </a:xfrm>
          <a:prstGeom prst="line">
            <a:avLst/>
          </a:prstGeom>
          <a:noFill/>
          <a:ln w="31750">
            <a:solidFill>
              <a:srgbClr val="C8414C"/>
            </a:solidFill>
            <a:prstDash val="solid"/>
          </a:ln>
        </p:spPr>
      </p:sp>
      <p:sp>
        <p:nvSpPr>
          <p:cNvPr id="78" name="Shape 76"/>
          <p:cNvSpPr/>
          <p:nvPr/>
        </p:nvSpPr>
        <p:spPr>
          <a:xfrm>
            <a:off x="1788795" y="2752882"/>
            <a:ext cx="36957" cy="52372"/>
          </a:xfrm>
          <a:prstGeom prst="line">
            <a:avLst/>
          </a:prstGeom>
          <a:noFill/>
          <a:ln w="31750">
            <a:solidFill>
              <a:srgbClr val="C8414C"/>
            </a:solidFill>
            <a:prstDash val="solid"/>
          </a:ln>
        </p:spPr>
      </p:sp>
      <p:sp>
        <p:nvSpPr>
          <p:cNvPr id="79" name="Shape 77"/>
          <p:cNvSpPr/>
          <p:nvPr/>
        </p:nvSpPr>
        <p:spPr>
          <a:xfrm>
            <a:off x="1825752" y="2805254"/>
            <a:ext cx="36957" cy="58724"/>
          </a:xfrm>
          <a:prstGeom prst="line">
            <a:avLst/>
          </a:prstGeom>
          <a:noFill/>
          <a:ln w="31750">
            <a:solidFill>
              <a:srgbClr val="C8414C"/>
            </a:solidFill>
            <a:prstDash val="solid"/>
          </a:ln>
        </p:spPr>
      </p:sp>
      <p:sp>
        <p:nvSpPr>
          <p:cNvPr id="80" name="Shape 78"/>
          <p:cNvSpPr/>
          <p:nvPr/>
        </p:nvSpPr>
        <p:spPr>
          <a:xfrm>
            <a:off x="1862709" y="2863978"/>
            <a:ext cx="36957" cy="63631"/>
          </a:xfrm>
          <a:prstGeom prst="line">
            <a:avLst/>
          </a:prstGeom>
          <a:noFill/>
          <a:ln w="31750">
            <a:solidFill>
              <a:srgbClr val="C8414C"/>
            </a:solidFill>
            <a:prstDash val="solid"/>
          </a:ln>
        </p:spPr>
      </p:sp>
      <p:sp>
        <p:nvSpPr>
          <p:cNvPr id="81" name="Shape 79"/>
          <p:cNvSpPr/>
          <p:nvPr/>
        </p:nvSpPr>
        <p:spPr>
          <a:xfrm>
            <a:off x="1899666" y="2927609"/>
            <a:ext cx="36957" cy="66970"/>
          </a:xfrm>
          <a:prstGeom prst="line">
            <a:avLst/>
          </a:prstGeom>
          <a:noFill/>
          <a:ln w="31750">
            <a:solidFill>
              <a:srgbClr val="C8414C"/>
            </a:solidFill>
            <a:prstDash val="solid"/>
          </a:ln>
        </p:spPr>
      </p:sp>
      <p:sp>
        <p:nvSpPr>
          <p:cNvPr id="82" name="Shape 80"/>
          <p:cNvSpPr/>
          <p:nvPr/>
        </p:nvSpPr>
        <p:spPr>
          <a:xfrm>
            <a:off x="1936623" y="2994579"/>
            <a:ext cx="36957" cy="68661"/>
          </a:xfrm>
          <a:prstGeom prst="line">
            <a:avLst/>
          </a:prstGeom>
          <a:noFill/>
          <a:ln w="31750">
            <a:solidFill>
              <a:srgbClr val="C8414C"/>
            </a:solidFill>
            <a:prstDash val="solid"/>
          </a:ln>
        </p:spPr>
      </p:sp>
      <p:sp>
        <p:nvSpPr>
          <p:cNvPr id="83" name="Shape 81"/>
          <p:cNvSpPr/>
          <p:nvPr/>
        </p:nvSpPr>
        <p:spPr>
          <a:xfrm>
            <a:off x="1973580" y="3063240"/>
            <a:ext cx="36957" cy="68661"/>
          </a:xfrm>
          <a:prstGeom prst="line">
            <a:avLst/>
          </a:prstGeom>
          <a:noFill/>
          <a:ln w="31750">
            <a:solidFill>
              <a:srgbClr val="C8414C"/>
            </a:solidFill>
            <a:prstDash val="solid"/>
          </a:ln>
        </p:spPr>
      </p:sp>
      <p:sp>
        <p:nvSpPr>
          <p:cNvPr id="84" name="Shape 82"/>
          <p:cNvSpPr/>
          <p:nvPr/>
        </p:nvSpPr>
        <p:spPr>
          <a:xfrm>
            <a:off x="2010537" y="3131901"/>
            <a:ext cx="36957" cy="66970"/>
          </a:xfrm>
          <a:prstGeom prst="line">
            <a:avLst/>
          </a:prstGeom>
          <a:noFill/>
          <a:ln w="31750">
            <a:solidFill>
              <a:srgbClr val="C8414C"/>
            </a:solidFill>
            <a:prstDash val="solid"/>
          </a:ln>
        </p:spPr>
      </p:sp>
      <p:sp>
        <p:nvSpPr>
          <p:cNvPr id="85" name="Shape 83"/>
          <p:cNvSpPr/>
          <p:nvPr/>
        </p:nvSpPr>
        <p:spPr>
          <a:xfrm>
            <a:off x="2047494" y="3198871"/>
            <a:ext cx="36957" cy="63631"/>
          </a:xfrm>
          <a:prstGeom prst="line">
            <a:avLst/>
          </a:prstGeom>
          <a:noFill/>
          <a:ln w="31750">
            <a:solidFill>
              <a:srgbClr val="C8414C"/>
            </a:solidFill>
            <a:prstDash val="solid"/>
          </a:ln>
        </p:spPr>
      </p:sp>
      <p:sp>
        <p:nvSpPr>
          <p:cNvPr id="86" name="Shape 84"/>
          <p:cNvSpPr/>
          <p:nvPr/>
        </p:nvSpPr>
        <p:spPr>
          <a:xfrm>
            <a:off x="2084451" y="3262502"/>
            <a:ext cx="36957" cy="58724"/>
          </a:xfrm>
          <a:prstGeom prst="line">
            <a:avLst/>
          </a:prstGeom>
          <a:noFill/>
          <a:ln w="31750">
            <a:solidFill>
              <a:srgbClr val="C8414C"/>
            </a:solidFill>
            <a:prstDash val="solid"/>
          </a:ln>
        </p:spPr>
      </p:sp>
      <p:sp>
        <p:nvSpPr>
          <p:cNvPr id="87" name="Shape 85"/>
          <p:cNvSpPr/>
          <p:nvPr/>
        </p:nvSpPr>
        <p:spPr>
          <a:xfrm>
            <a:off x="2121408" y="3321226"/>
            <a:ext cx="36957" cy="52372"/>
          </a:xfrm>
          <a:prstGeom prst="line">
            <a:avLst/>
          </a:prstGeom>
          <a:noFill/>
          <a:ln w="31750">
            <a:solidFill>
              <a:srgbClr val="C8414C"/>
            </a:solidFill>
            <a:prstDash val="solid"/>
          </a:ln>
        </p:spPr>
      </p:sp>
      <p:sp>
        <p:nvSpPr>
          <p:cNvPr id="88" name="Shape 86"/>
          <p:cNvSpPr/>
          <p:nvPr/>
        </p:nvSpPr>
        <p:spPr>
          <a:xfrm>
            <a:off x="2158365" y="3373598"/>
            <a:ext cx="36957" cy="44730"/>
          </a:xfrm>
          <a:prstGeom prst="line">
            <a:avLst/>
          </a:prstGeom>
          <a:noFill/>
          <a:ln w="31750">
            <a:solidFill>
              <a:srgbClr val="C8414C"/>
            </a:solidFill>
            <a:prstDash val="solid"/>
          </a:ln>
        </p:spPr>
      </p:sp>
      <p:sp>
        <p:nvSpPr>
          <p:cNvPr id="89" name="Shape 87"/>
          <p:cNvSpPr/>
          <p:nvPr/>
        </p:nvSpPr>
        <p:spPr>
          <a:xfrm>
            <a:off x="2195322" y="3418327"/>
            <a:ext cx="36957" cy="35986"/>
          </a:xfrm>
          <a:prstGeom prst="line">
            <a:avLst/>
          </a:prstGeom>
          <a:noFill/>
          <a:ln w="31750">
            <a:solidFill>
              <a:srgbClr val="C8414C"/>
            </a:solidFill>
            <a:prstDash val="solid"/>
          </a:ln>
        </p:spPr>
      </p:sp>
      <p:sp>
        <p:nvSpPr>
          <p:cNvPr id="90" name="Shape 88"/>
          <p:cNvSpPr/>
          <p:nvPr/>
        </p:nvSpPr>
        <p:spPr>
          <a:xfrm>
            <a:off x="2232279" y="3454313"/>
            <a:ext cx="36957" cy="26357"/>
          </a:xfrm>
          <a:prstGeom prst="line">
            <a:avLst/>
          </a:prstGeom>
          <a:noFill/>
          <a:ln w="31750">
            <a:solidFill>
              <a:srgbClr val="C8414C"/>
            </a:solidFill>
            <a:prstDash val="solid"/>
          </a:ln>
        </p:spPr>
      </p:sp>
      <p:sp>
        <p:nvSpPr>
          <p:cNvPr id="91" name="Shape 89"/>
          <p:cNvSpPr/>
          <p:nvPr/>
        </p:nvSpPr>
        <p:spPr>
          <a:xfrm>
            <a:off x="2269236" y="3480670"/>
            <a:ext cx="36957" cy="16078"/>
          </a:xfrm>
          <a:prstGeom prst="line">
            <a:avLst/>
          </a:prstGeom>
          <a:noFill/>
          <a:ln w="31750">
            <a:solidFill>
              <a:srgbClr val="C8414C"/>
            </a:solidFill>
            <a:prstDash val="solid"/>
          </a:ln>
        </p:spPr>
      </p:sp>
      <p:sp>
        <p:nvSpPr>
          <p:cNvPr id="92" name="Shape 90"/>
          <p:cNvSpPr/>
          <p:nvPr/>
        </p:nvSpPr>
        <p:spPr>
          <a:xfrm>
            <a:off x="2306193" y="3496748"/>
            <a:ext cx="36957" cy="5404"/>
          </a:xfrm>
          <a:prstGeom prst="line">
            <a:avLst/>
          </a:prstGeom>
          <a:noFill/>
          <a:ln w="31750">
            <a:solidFill>
              <a:srgbClr val="C8414C"/>
            </a:solidFill>
            <a:prstDash val="solid"/>
          </a:ln>
        </p:spPr>
      </p:sp>
      <p:sp>
        <p:nvSpPr>
          <p:cNvPr id="93" name="Shape 91"/>
          <p:cNvSpPr/>
          <p:nvPr/>
        </p:nvSpPr>
        <p:spPr>
          <a:xfrm flipV="1">
            <a:off x="2343150" y="3496748"/>
            <a:ext cx="36957" cy="5404"/>
          </a:xfrm>
          <a:prstGeom prst="line">
            <a:avLst/>
          </a:prstGeom>
          <a:noFill/>
          <a:ln w="31750">
            <a:solidFill>
              <a:srgbClr val="C8414C"/>
            </a:solidFill>
            <a:prstDash val="solid"/>
          </a:ln>
        </p:spPr>
      </p:sp>
      <p:sp>
        <p:nvSpPr>
          <p:cNvPr id="94" name="Shape 92"/>
          <p:cNvSpPr/>
          <p:nvPr/>
        </p:nvSpPr>
        <p:spPr>
          <a:xfrm flipV="1">
            <a:off x="2380107" y="3480670"/>
            <a:ext cx="36957" cy="16078"/>
          </a:xfrm>
          <a:prstGeom prst="line">
            <a:avLst/>
          </a:prstGeom>
          <a:noFill/>
          <a:ln w="31750">
            <a:solidFill>
              <a:srgbClr val="C8414C"/>
            </a:solidFill>
            <a:prstDash val="solid"/>
          </a:ln>
        </p:spPr>
      </p:sp>
      <p:sp>
        <p:nvSpPr>
          <p:cNvPr id="95" name="Shape 93"/>
          <p:cNvSpPr/>
          <p:nvPr/>
        </p:nvSpPr>
        <p:spPr>
          <a:xfrm flipV="1">
            <a:off x="2417064" y="3454313"/>
            <a:ext cx="36957" cy="26357"/>
          </a:xfrm>
          <a:prstGeom prst="line">
            <a:avLst/>
          </a:prstGeom>
          <a:noFill/>
          <a:ln w="31750">
            <a:solidFill>
              <a:srgbClr val="C8414C"/>
            </a:solidFill>
            <a:prstDash val="solid"/>
          </a:ln>
        </p:spPr>
      </p:sp>
      <p:sp>
        <p:nvSpPr>
          <p:cNvPr id="96" name="Shape 94"/>
          <p:cNvSpPr/>
          <p:nvPr/>
        </p:nvSpPr>
        <p:spPr>
          <a:xfrm flipV="1">
            <a:off x="2454021" y="3418327"/>
            <a:ext cx="36957" cy="35986"/>
          </a:xfrm>
          <a:prstGeom prst="line">
            <a:avLst/>
          </a:prstGeom>
          <a:noFill/>
          <a:ln w="31750">
            <a:solidFill>
              <a:srgbClr val="C8414C"/>
            </a:solidFill>
            <a:prstDash val="solid"/>
          </a:ln>
        </p:spPr>
      </p:sp>
      <p:sp>
        <p:nvSpPr>
          <p:cNvPr id="97" name="Shape 95"/>
          <p:cNvSpPr/>
          <p:nvPr/>
        </p:nvSpPr>
        <p:spPr>
          <a:xfrm flipV="1">
            <a:off x="2490978" y="3373598"/>
            <a:ext cx="36957" cy="44730"/>
          </a:xfrm>
          <a:prstGeom prst="line">
            <a:avLst/>
          </a:prstGeom>
          <a:noFill/>
          <a:ln w="31750">
            <a:solidFill>
              <a:srgbClr val="C8414C"/>
            </a:solidFill>
            <a:prstDash val="solid"/>
          </a:ln>
        </p:spPr>
      </p:sp>
      <p:sp>
        <p:nvSpPr>
          <p:cNvPr id="98" name="Shape 96"/>
          <p:cNvSpPr/>
          <p:nvPr/>
        </p:nvSpPr>
        <p:spPr>
          <a:xfrm flipV="1">
            <a:off x="2527935" y="3321226"/>
            <a:ext cx="36957" cy="52372"/>
          </a:xfrm>
          <a:prstGeom prst="line">
            <a:avLst/>
          </a:prstGeom>
          <a:noFill/>
          <a:ln w="31750">
            <a:solidFill>
              <a:srgbClr val="C8414C"/>
            </a:solidFill>
            <a:prstDash val="solid"/>
          </a:ln>
        </p:spPr>
      </p:sp>
      <p:sp>
        <p:nvSpPr>
          <p:cNvPr id="99" name="Shape 97"/>
          <p:cNvSpPr/>
          <p:nvPr/>
        </p:nvSpPr>
        <p:spPr>
          <a:xfrm flipV="1">
            <a:off x="2564892" y="3262502"/>
            <a:ext cx="36957" cy="58724"/>
          </a:xfrm>
          <a:prstGeom prst="line">
            <a:avLst/>
          </a:prstGeom>
          <a:noFill/>
          <a:ln w="31750">
            <a:solidFill>
              <a:srgbClr val="C8414C"/>
            </a:solidFill>
            <a:prstDash val="solid"/>
          </a:ln>
        </p:spPr>
      </p:sp>
      <p:sp>
        <p:nvSpPr>
          <p:cNvPr id="100" name="Shape 98"/>
          <p:cNvSpPr/>
          <p:nvPr/>
        </p:nvSpPr>
        <p:spPr>
          <a:xfrm flipV="1">
            <a:off x="2601849" y="3198871"/>
            <a:ext cx="36957" cy="63631"/>
          </a:xfrm>
          <a:prstGeom prst="line">
            <a:avLst/>
          </a:prstGeom>
          <a:noFill/>
          <a:ln w="31750">
            <a:solidFill>
              <a:srgbClr val="C8414C"/>
            </a:solidFill>
            <a:prstDash val="solid"/>
          </a:ln>
        </p:spPr>
      </p:sp>
      <p:sp>
        <p:nvSpPr>
          <p:cNvPr id="101" name="Shape 99"/>
          <p:cNvSpPr/>
          <p:nvPr/>
        </p:nvSpPr>
        <p:spPr>
          <a:xfrm flipV="1">
            <a:off x="2638806" y="3131901"/>
            <a:ext cx="36957" cy="66970"/>
          </a:xfrm>
          <a:prstGeom prst="line">
            <a:avLst/>
          </a:prstGeom>
          <a:noFill/>
          <a:ln w="31750">
            <a:solidFill>
              <a:srgbClr val="C8414C"/>
            </a:solidFill>
            <a:prstDash val="solid"/>
          </a:ln>
        </p:spPr>
      </p:sp>
      <p:sp>
        <p:nvSpPr>
          <p:cNvPr id="102" name="Shape 100"/>
          <p:cNvSpPr/>
          <p:nvPr/>
        </p:nvSpPr>
        <p:spPr>
          <a:xfrm flipV="1">
            <a:off x="2675763" y="3063240"/>
            <a:ext cx="36957" cy="68661"/>
          </a:xfrm>
          <a:prstGeom prst="line">
            <a:avLst/>
          </a:prstGeom>
          <a:noFill/>
          <a:ln w="31750">
            <a:solidFill>
              <a:srgbClr val="C8414C"/>
            </a:solidFill>
            <a:prstDash val="solid"/>
          </a:ln>
        </p:spPr>
      </p:sp>
      <p:sp>
        <p:nvSpPr>
          <p:cNvPr id="103" name="Shape 101"/>
          <p:cNvSpPr/>
          <p:nvPr/>
        </p:nvSpPr>
        <p:spPr>
          <a:xfrm flipV="1">
            <a:off x="2712720" y="2994579"/>
            <a:ext cx="36957" cy="68661"/>
          </a:xfrm>
          <a:prstGeom prst="line">
            <a:avLst/>
          </a:prstGeom>
          <a:noFill/>
          <a:ln w="31750">
            <a:solidFill>
              <a:srgbClr val="C8414C"/>
            </a:solidFill>
            <a:prstDash val="solid"/>
          </a:ln>
        </p:spPr>
      </p:sp>
      <p:sp>
        <p:nvSpPr>
          <p:cNvPr id="104" name="Shape 102"/>
          <p:cNvSpPr/>
          <p:nvPr/>
        </p:nvSpPr>
        <p:spPr>
          <a:xfrm flipV="1">
            <a:off x="2749677" y="2927609"/>
            <a:ext cx="36957" cy="66970"/>
          </a:xfrm>
          <a:prstGeom prst="line">
            <a:avLst/>
          </a:prstGeom>
          <a:noFill/>
          <a:ln w="31750">
            <a:solidFill>
              <a:srgbClr val="C8414C"/>
            </a:solidFill>
            <a:prstDash val="solid"/>
          </a:ln>
        </p:spPr>
      </p:sp>
      <p:sp>
        <p:nvSpPr>
          <p:cNvPr id="105" name="Shape 103"/>
          <p:cNvSpPr/>
          <p:nvPr/>
        </p:nvSpPr>
        <p:spPr>
          <a:xfrm flipV="1">
            <a:off x="2786634" y="2863978"/>
            <a:ext cx="36957" cy="63631"/>
          </a:xfrm>
          <a:prstGeom prst="line">
            <a:avLst/>
          </a:prstGeom>
          <a:noFill/>
          <a:ln w="31750">
            <a:solidFill>
              <a:srgbClr val="C8414C"/>
            </a:solidFill>
            <a:prstDash val="solid"/>
          </a:ln>
        </p:spPr>
      </p:sp>
      <p:sp>
        <p:nvSpPr>
          <p:cNvPr id="106" name="Shape 104"/>
          <p:cNvSpPr/>
          <p:nvPr/>
        </p:nvSpPr>
        <p:spPr>
          <a:xfrm flipV="1">
            <a:off x="2823591" y="2805254"/>
            <a:ext cx="36957" cy="58724"/>
          </a:xfrm>
          <a:prstGeom prst="line">
            <a:avLst/>
          </a:prstGeom>
          <a:noFill/>
          <a:ln w="31750">
            <a:solidFill>
              <a:srgbClr val="C8414C"/>
            </a:solidFill>
            <a:prstDash val="solid"/>
          </a:ln>
        </p:spPr>
      </p:sp>
      <p:sp>
        <p:nvSpPr>
          <p:cNvPr id="107" name="Shape 105"/>
          <p:cNvSpPr/>
          <p:nvPr/>
        </p:nvSpPr>
        <p:spPr>
          <a:xfrm flipV="1">
            <a:off x="2860548" y="2752882"/>
            <a:ext cx="36957" cy="52372"/>
          </a:xfrm>
          <a:prstGeom prst="line">
            <a:avLst/>
          </a:prstGeom>
          <a:noFill/>
          <a:ln w="31750">
            <a:solidFill>
              <a:srgbClr val="C8414C"/>
            </a:solidFill>
            <a:prstDash val="solid"/>
          </a:ln>
        </p:spPr>
      </p:sp>
      <p:sp>
        <p:nvSpPr>
          <p:cNvPr id="108" name="Shape 106"/>
          <p:cNvSpPr/>
          <p:nvPr/>
        </p:nvSpPr>
        <p:spPr>
          <a:xfrm flipV="1">
            <a:off x="2897505" y="2708153"/>
            <a:ext cx="36957" cy="44730"/>
          </a:xfrm>
          <a:prstGeom prst="line">
            <a:avLst/>
          </a:prstGeom>
          <a:noFill/>
          <a:ln w="31750">
            <a:solidFill>
              <a:srgbClr val="C8414C"/>
            </a:solidFill>
            <a:prstDash val="solid"/>
          </a:ln>
        </p:spPr>
      </p:sp>
      <p:sp>
        <p:nvSpPr>
          <p:cNvPr id="109" name="Shape 107"/>
          <p:cNvSpPr/>
          <p:nvPr/>
        </p:nvSpPr>
        <p:spPr>
          <a:xfrm flipV="1">
            <a:off x="2934462" y="2672167"/>
            <a:ext cx="36957" cy="35986"/>
          </a:xfrm>
          <a:prstGeom prst="line">
            <a:avLst/>
          </a:prstGeom>
          <a:noFill/>
          <a:ln w="31750">
            <a:solidFill>
              <a:srgbClr val="C8414C"/>
            </a:solidFill>
            <a:prstDash val="solid"/>
          </a:ln>
        </p:spPr>
      </p:sp>
      <p:sp>
        <p:nvSpPr>
          <p:cNvPr id="110" name="Shape 108"/>
          <p:cNvSpPr/>
          <p:nvPr/>
        </p:nvSpPr>
        <p:spPr>
          <a:xfrm flipV="1">
            <a:off x="2971419" y="2645810"/>
            <a:ext cx="36957" cy="26357"/>
          </a:xfrm>
          <a:prstGeom prst="line">
            <a:avLst/>
          </a:prstGeom>
          <a:noFill/>
          <a:ln w="31750">
            <a:solidFill>
              <a:srgbClr val="C8414C"/>
            </a:solidFill>
            <a:prstDash val="solid"/>
          </a:ln>
        </p:spPr>
      </p:sp>
      <p:sp>
        <p:nvSpPr>
          <p:cNvPr id="111" name="Shape 109"/>
          <p:cNvSpPr/>
          <p:nvPr/>
        </p:nvSpPr>
        <p:spPr>
          <a:xfrm flipV="1">
            <a:off x="3008376" y="2629732"/>
            <a:ext cx="36957" cy="16078"/>
          </a:xfrm>
          <a:prstGeom prst="line">
            <a:avLst/>
          </a:prstGeom>
          <a:noFill/>
          <a:ln w="31750">
            <a:solidFill>
              <a:srgbClr val="C8414C"/>
            </a:solidFill>
            <a:prstDash val="solid"/>
          </a:ln>
        </p:spPr>
      </p:sp>
      <p:sp>
        <p:nvSpPr>
          <p:cNvPr id="112" name="Shape 110"/>
          <p:cNvSpPr/>
          <p:nvPr/>
        </p:nvSpPr>
        <p:spPr>
          <a:xfrm flipV="1">
            <a:off x="3045333" y="2624328"/>
            <a:ext cx="36957" cy="5404"/>
          </a:xfrm>
          <a:prstGeom prst="line">
            <a:avLst/>
          </a:prstGeom>
          <a:noFill/>
          <a:ln w="31750">
            <a:solidFill>
              <a:srgbClr val="C8414C"/>
            </a:solidFill>
            <a:prstDash val="solid"/>
          </a:ln>
        </p:spPr>
      </p:sp>
      <p:sp>
        <p:nvSpPr>
          <p:cNvPr id="113" name="Shape 111"/>
          <p:cNvSpPr/>
          <p:nvPr/>
        </p:nvSpPr>
        <p:spPr>
          <a:xfrm>
            <a:off x="3082290" y="2624328"/>
            <a:ext cx="36957" cy="5404"/>
          </a:xfrm>
          <a:prstGeom prst="line">
            <a:avLst/>
          </a:prstGeom>
          <a:noFill/>
          <a:ln w="31750">
            <a:solidFill>
              <a:srgbClr val="C8414C"/>
            </a:solidFill>
            <a:prstDash val="solid"/>
          </a:ln>
        </p:spPr>
      </p:sp>
      <p:sp>
        <p:nvSpPr>
          <p:cNvPr id="114" name="Shape 112"/>
          <p:cNvSpPr/>
          <p:nvPr/>
        </p:nvSpPr>
        <p:spPr>
          <a:xfrm>
            <a:off x="3119247" y="2629732"/>
            <a:ext cx="36957" cy="16078"/>
          </a:xfrm>
          <a:prstGeom prst="line">
            <a:avLst/>
          </a:prstGeom>
          <a:noFill/>
          <a:ln w="31750">
            <a:solidFill>
              <a:srgbClr val="C8414C"/>
            </a:solidFill>
            <a:prstDash val="solid"/>
          </a:ln>
        </p:spPr>
      </p:sp>
      <p:sp>
        <p:nvSpPr>
          <p:cNvPr id="115" name="Shape 113"/>
          <p:cNvSpPr/>
          <p:nvPr/>
        </p:nvSpPr>
        <p:spPr>
          <a:xfrm>
            <a:off x="3156204" y="2645810"/>
            <a:ext cx="36957" cy="26357"/>
          </a:xfrm>
          <a:prstGeom prst="line">
            <a:avLst/>
          </a:prstGeom>
          <a:noFill/>
          <a:ln w="31750">
            <a:solidFill>
              <a:srgbClr val="C8414C"/>
            </a:solidFill>
            <a:prstDash val="solid"/>
          </a:ln>
        </p:spPr>
      </p:sp>
      <p:sp>
        <p:nvSpPr>
          <p:cNvPr id="116" name="Shape 114"/>
          <p:cNvSpPr/>
          <p:nvPr/>
        </p:nvSpPr>
        <p:spPr>
          <a:xfrm>
            <a:off x="3193161" y="2672167"/>
            <a:ext cx="36957" cy="35986"/>
          </a:xfrm>
          <a:prstGeom prst="line">
            <a:avLst/>
          </a:prstGeom>
          <a:noFill/>
          <a:ln w="31750">
            <a:solidFill>
              <a:srgbClr val="C8414C"/>
            </a:solidFill>
            <a:prstDash val="solid"/>
          </a:ln>
        </p:spPr>
      </p:sp>
      <p:sp>
        <p:nvSpPr>
          <p:cNvPr id="117" name="Shape 115"/>
          <p:cNvSpPr/>
          <p:nvPr/>
        </p:nvSpPr>
        <p:spPr>
          <a:xfrm>
            <a:off x="3230118" y="2708153"/>
            <a:ext cx="36957" cy="44730"/>
          </a:xfrm>
          <a:prstGeom prst="line">
            <a:avLst/>
          </a:prstGeom>
          <a:noFill/>
          <a:ln w="31750">
            <a:solidFill>
              <a:srgbClr val="C8414C"/>
            </a:solidFill>
            <a:prstDash val="solid"/>
          </a:ln>
        </p:spPr>
      </p:sp>
      <p:sp>
        <p:nvSpPr>
          <p:cNvPr id="118" name="Shape 116"/>
          <p:cNvSpPr/>
          <p:nvPr/>
        </p:nvSpPr>
        <p:spPr>
          <a:xfrm>
            <a:off x="3267075" y="2752882"/>
            <a:ext cx="36957" cy="52372"/>
          </a:xfrm>
          <a:prstGeom prst="line">
            <a:avLst/>
          </a:prstGeom>
          <a:noFill/>
          <a:ln w="31750">
            <a:solidFill>
              <a:srgbClr val="C8414C"/>
            </a:solidFill>
            <a:prstDash val="solid"/>
          </a:ln>
        </p:spPr>
      </p:sp>
      <p:sp>
        <p:nvSpPr>
          <p:cNvPr id="119" name="Shape 117"/>
          <p:cNvSpPr/>
          <p:nvPr/>
        </p:nvSpPr>
        <p:spPr>
          <a:xfrm>
            <a:off x="3304032" y="2805254"/>
            <a:ext cx="36957" cy="58724"/>
          </a:xfrm>
          <a:prstGeom prst="line">
            <a:avLst/>
          </a:prstGeom>
          <a:noFill/>
          <a:ln w="31750">
            <a:solidFill>
              <a:srgbClr val="C8414C"/>
            </a:solidFill>
            <a:prstDash val="solid"/>
          </a:ln>
        </p:spPr>
      </p:sp>
      <p:sp>
        <p:nvSpPr>
          <p:cNvPr id="120" name="Shape 118"/>
          <p:cNvSpPr/>
          <p:nvPr/>
        </p:nvSpPr>
        <p:spPr>
          <a:xfrm>
            <a:off x="3340989" y="2863978"/>
            <a:ext cx="36957" cy="63631"/>
          </a:xfrm>
          <a:prstGeom prst="line">
            <a:avLst/>
          </a:prstGeom>
          <a:noFill/>
          <a:ln w="31750">
            <a:solidFill>
              <a:srgbClr val="C8414C"/>
            </a:solidFill>
            <a:prstDash val="solid"/>
          </a:ln>
        </p:spPr>
      </p:sp>
      <p:sp>
        <p:nvSpPr>
          <p:cNvPr id="121" name="Shape 119"/>
          <p:cNvSpPr/>
          <p:nvPr/>
        </p:nvSpPr>
        <p:spPr>
          <a:xfrm>
            <a:off x="3377946" y="2927609"/>
            <a:ext cx="36957" cy="66970"/>
          </a:xfrm>
          <a:prstGeom prst="line">
            <a:avLst/>
          </a:prstGeom>
          <a:noFill/>
          <a:ln w="31750">
            <a:solidFill>
              <a:srgbClr val="C8414C"/>
            </a:solidFill>
            <a:prstDash val="solid"/>
          </a:ln>
        </p:spPr>
      </p:sp>
      <p:sp>
        <p:nvSpPr>
          <p:cNvPr id="122" name="Shape 120"/>
          <p:cNvSpPr/>
          <p:nvPr/>
        </p:nvSpPr>
        <p:spPr>
          <a:xfrm>
            <a:off x="3414903" y="2994579"/>
            <a:ext cx="36957" cy="68661"/>
          </a:xfrm>
          <a:prstGeom prst="line">
            <a:avLst/>
          </a:prstGeom>
          <a:noFill/>
          <a:ln w="31750">
            <a:solidFill>
              <a:srgbClr val="C8414C"/>
            </a:solidFill>
            <a:prstDash val="solid"/>
          </a:ln>
        </p:spPr>
      </p:sp>
      <p:sp>
        <p:nvSpPr>
          <p:cNvPr id="123" name="Shape 121"/>
          <p:cNvSpPr/>
          <p:nvPr/>
        </p:nvSpPr>
        <p:spPr>
          <a:xfrm>
            <a:off x="3451860" y="3063240"/>
            <a:ext cx="36957" cy="68661"/>
          </a:xfrm>
          <a:prstGeom prst="line">
            <a:avLst/>
          </a:prstGeom>
          <a:noFill/>
          <a:ln w="31750">
            <a:solidFill>
              <a:srgbClr val="C8414C"/>
            </a:solidFill>
            <a:prstDash val="solid"/>
          </a:ln>
        </p:spPr>
      </p:sp>
      <p:sp>
        <p:nvSpPr>
          <p:cNvPr id="124" name="Shape 122"/>
          <p:cNvSpPr/>
          <p:nvPr/>
        </p:nvSpPr>
        <p:spPr>
          <a:xfrm>
            <a:off x="3488817" y="3131901"/>
            <a:ext cx="36957" cy="66970"/>
          </a:xfrm>
          <a:prstGeom prst="line">
            <a:avLst/>
          </a:prstGeom>
          <a:noFill/>
          <a:ln w="31750">
            <a:solidFill>
              <a:srgbClr val="C8414C"/>
            </a:solidFill>
            <a:prstDash val="solid"/>
          </a:ln>
        </p:spPr>
      </p:sp>
      <p:sp>
        <p:nvSpPr>
          <p:cNvPr id="125" name="Shape 123"/>
          <p:cNvSpPr/>
          <p:nvPr/>
        </p:nvSpPr>
        <p:spPr>
          <a:xfrm>
            <a:off x="3525774" y="3198871"/>
            <a:ext cx="36957" cy="63631"/>
          </a:xfrm>
          <a:prstGeom prst="line">
            <a:avLst/>
          </a:prstGeom>
          <a:noFill/>
          <a:ln w="31750">
            <a:solidFill>
              <a:srgbClr val="C8414C"/>
            </a:solidFill>
            <a:prstDash val="solid"/>
          </a:ln>
        </p:spPr>
      </p:sp>
      <p:sp>
        <p:nvSpPr>
          <p:cNvPr id="126" name="Shape 124"/>
          <p:cNvSpPr/>
          <p:nvPr/>
        </p:nvSpPr>
        <p:spPr>
          <a:xfrm>
            <a:off x="3562731" y="3262502"/>
            <a:ext cx="36957" cy="58724"/>
          </a:xfrm>
          <a:prstGeom prst="line">
            <a:avLst/>
          </a:prstGeom>
          <a:noFill/>
          <a:ln w="31750">
            <a:solidFill>
              <a:srgbClr val="C8414C"/>
            </a:solidFill>
            <a:prstDash val="solid"/>
          </a:ln>
        </p:spPr>
      </p:sp>
      <p:sp>
        <p:nvSpPr>
          <p:cNvPr id="127" name="Shape 125"/>
          <p:cNvSpPr/>
          <p:nvPr/>
        </p:nvSpPr>
        <p:spPr>
          <a:xfrm>
            <a:off x="3599688" y="3321226"/>
            <a:ext cx="36957" cy="52372"/>
          </a:xfrm>
          <a:prstGeom prst="line">
            <a:avLst/>
          </a:prstGeom>
          <a:noFill/>
          <a:ln w="31750">
            <a:solidFill>
              <a:srgbClr val="C8414C"/>
            </a:solidFill>
            <a:prstDash val="solid"/>
          </a:ln>
        </p:spPr>
      </p:sp>
      <p:sp>
        <p:nvSpPr>
          <p:cNvPr id="128" name="Shape 126"/>
          <p:cNvSpPr/>
          <p:nvPr/>
        </p:nvSpPr>
        <p:spPr>
          <a:xfrm>
            <a:off x="3636645" y="3373598"/>
            <a:ext cx="36957" cy="44730"/>
          </a:xfrm>
          <a:prstGeom prst="line">
            <a:avLst/>
          </a:prstGeom>
          <a:noFill/>
          <a:ln w="31750">
            <a:solidFill>
              <a:srgbClr val="C8414C"/>
            </a:solidFill>
            <a:prstDash val="solid"/>
          </a:ln>
        </p:spPr>
      </p:sp>
      <p:sp>
        <p:nvSpPr>
          <p:cNvPr id="129" name="Shape 127"/>
          <p:cNvSpPr/>
          <p:nvPr/>
        </p:nvSpPr>
        <p:spPr>
          <a:xfrm>
            <a:off x="3673602" y="3418327"/>
            <a:ext cx="36957" cy="35986"/>
          </a:xfrm>
          <a:prstGeom prst="line">
            <a:avLst/>
          </a:prstGeom>
          <a:noFill/>
          <a:ln w="31750">
            <a:solidFill>
              <a:srgbClr val="C8414C"/>
            </a:solidFill>
            <a:prstDash val="solid"/>
          </a:ln>
        </p:spPr>
      </p:sp>
      <p:sp>
        <p:nvSpPr>
          <p:cNvPr id="130" name="Shape 128"/>
          <p:cNvSpPr/>
          <p:nvPr/>
        </p:nvSpPr>
        <p:spPr>
          <a:xfrm>
            <a:off x="3710559" y="3454313"/>
            <a:ext cx="36957" cy="26357"/>
          </a:xfrm>
          <a:prstGeom prst="line">
            <a:avLst/>
          </a:prstGeom>
          <a:noFill/>
          <a:ln w="31750">
            <a:solidFill>
              <a:srgbClr val="C8414C"/>
            </a:solidFill>
            <a:prstDash val="solid"/>
          </a:ln>
        </p:spPr>
      </p:sp>
      <p:sp>
        <p:nvSpPr>
          <p:cNvPr id="131" name="Shape 129"/>
          <p:cNvSpPr/>
          <p:nvPr/>
        </p:nvSpPr>
        <p:spPr>
          <a:xfrm>
            <a:off x="3747516" y="3480670"/>
            <a:ext cx="36957" cy="16078"/>
          </a:xfrm>
          <a:prstGeom prst="line">
            <a:avLst/>
          </a:prstGeom>
          <a:noFill/>
          <a:ln w="31750">
            <a:solidFill>
              <a:srgbClr val="C8414C"/>
            </a:solidFill>
            <a:prstDash val="solid"/>
          </a:ln>
        </p:spPr>
      </p:sp>
      <p:sp>
        <p:nvSpPr>
          <p:cNvPr id="132" name="Shape 130"/>
          <p:cNvSpPr/>
          <p:nvPr/>
        </p:nvSpPr>
        <p:spPr>
          <a:xfrm>
            <a:off x="3784473" y="3496748"/>
            <a:ext cx="36957" cy="5404"/>
          </a:xfrm>
          <a:prstGeom prst="line">
            <a:avLst/>
          </a:prstGeom>
          <a:noFill/>
          <a:ln w="31750">
            <a:solidFill>
              <a:srgbClr val="C8414C"/>
            </a:solidFill>
            <a:prstDash val="solid"/>
          </a:ln>
        </p:spPr>
      </p:sp>
      <p:sp>
        <p:nvSpPr>
          <p:cNvPr id="133" name="Shape 131"/>
          <p:cNvSpPr/>
          <p:nvPr/>
        </p:nvSpPr>
        <p:spPr>
          <a:xfrm flipV="1">
            <a:off x="3821430" y="3496748"/>
            <a:ext cx="36957" cy="5404"/>
          </a:xfrm>
          <a:prstGeom prst="line">
            <a:avLst/>
          </a:prstGeom>
          <a:noFill/>
          <a:ln w="31750">
            <a:solidFill>
              <a:srgbClr val="C8414C"/>
            </a:solidFill>
            <a:prstDash val="solid"/>
          </a:ln>
        </p:spPr>
      </p:sp>
      <p:sp>
        <p:nvSpPr>
          <p:cNvPr id="134" name="Shape 132"/>
          <p:cNvSpPr/>
          <p:nvPr/>
        </p:nvSpPr>
        <p:spPr>
          <a:xfrm flipV="1">
            <a:off x="3858387" y="3480670"/>
            <a:ext cx="36957" cy="16078"/>
          </a:xfrm>
          <a:prstGeom prst="line">
            <a:avLst/>
          </a:prstGeom>
          <a:noFill/>
          <a:ln w="31750">
            <a:solidFill>
              <a:srgbClr val="C8414C"/>
            </a:solidFill>
            <a:prstDash val="solid"/>
          </a:ln>
        </p:spPr>
      </p:sp>
      <p:sp>
        <p:nvSpPr>
          <p:cNvPr id="135" name="Shape 133"/>
          <p:cNvSpPr/>
          <p:nvPr/>
        </p:nvSpPr>
        <p:spPr>
          <a:xfrm flipV="1">
            <a:off x="3895344" y="3454313"/>
            <a:ext cx="36957" cy="26357"/>
          </a:xfrm>
          <a:prstGeom prst="line">
            <a:avLst/>
          </a:prstGeom>
          <a:noFill/>
          <a:ln w="31750">
            <a:solidFill>
              <a:srgbClr val="C8414C"/>
            </a:solidFill>
            <a:prstDash val="solid"/>
          </a:ln>
        </p:spPr>
      </p:sp>
      <p:sp>
        <p:nvSpPr>
          <p:cNvPr id="136" name="Shape 134"/>
          <p:cNvSpPr/>
          <p:nvPr/>
        </p:nvSpPr>
        <p:spPr>
          <a:xfrm flipV="1">
            <a:off x="3932301" y="3418327"/>
            <a:ext cx="36957" cy="35986"/>
          </a:xfrm>
          <a:prstGeom prst="line">
            <a:avLst/>
          </a:prstGeom>
          <a:noFill/>
          <a:ln w="31750">
            <a:solidFill>
              <a:srgbClr val="C8414C"/>
            </a:solidFill>
            <a:prstDash val="solid"/>
          </a:ln>
        </p:spPr>
      </p:sp>
      <p:sp>
        <p:nvSpPr>
          <p:cNvPr id="137" name="Shape 135"/>
          <p:cNvSpPr/>
          <p:nvPr/>
        </p:nvSpPr>
        <p:spPr>
          <a:xfrm flipV="1">
            <a:off x="3969258" y="3373598"/>
            <a:ext cx="36957" cy="44730"/>
          </a:xfrm>
          <a:prstGeom prst="line">
            <a:avLst/>
          </a:prstGeom>
          <a:noFill/>
          <a:ln w="31750">
            <a:solidFill>
              <a:srgbClr val="C8414C"/>
            </a:solidFill>
            <a:prstDash val="solid"/>
          </a:ln>
        </p:spPr>
      </p:sp>
      <p:sp>
        <p:nvSpPr>
          <p:cNvPr id="138" name="Shape 136"/>
          <p:cNvSpPr/>
          <p:nvPr/>
        </p:nvSpPr>
        <p:spPr>
          <a:xfrm flipV="1">
            <a:off x="4006215" y="3321226"/>
            <a:ext cx="36957" cy="52372"/>
          </a:xfrm>
          <a:prstGeom prst="line">
            <a:avLst/>
          </a:prstGeom>
          <a:noFill/>
          <a:ln w="31750">
            <a:solidFill>
              <a:srgbClr val="C8414C"/>
            </a:solidFill>
            <a:prstDash val="solid"/>
          </a:ln>
        </p:spPr>
      </p:sp>
      <p:sp>
        <p:nvSpPr>
          <p:cNvPr id="139" name="Shape 137"/>
          <p:cNvSpPr/>
          <p:nvPr/>
        </p:nvSpPr>
        <p:spPr>
          <a:xfrm flipV="1">
            <a:off x="4043172" y="3262502"/>
            <a:ext cx="36957" cy="58724"/>
          </a:xfrm>
          <a:prstGeom prst="line">
            <a:avLst/>
          </a:prstGeom>
          <a:noFill/>
          <a:ln w="31750">
            <a:solidFill>
              <a:srgbClr val="C8414C"/>
            </a:solidFill>
            <a:prstDash val="solid"/>
          </a:ln>
        </p:spPr>
      </p:sp>
      <p:sp>
        <p:nvSpPr>
          <p:cNvPr id="140" name="Shape 138"/>
          <p:cNvSpPr/>
          <p:nvPr/>
        </p:nvSpPr>
        <p:spPr>
          <a:xfrm flipV="1">
            <a:off x="4080129" y="3198871"/>
            <a:ext cx="36957" cy="63631"/>
          </a:xfrm>
          <a:prstGeom prst="line">
            <a:avLst/>
          </a:prstGeom>
          <a:noFill/>
          <a:ln w="31750">
            <a:solidFill>
              <a:srgbClr val="C8414C"/>
            </a:solidFill>
            <a:prstDash val="solid"/>
          </a:ln>
        </p:spPr>
      </p:sp>
      <p:sp>
        <p:nvSpPr>
          <p:cNvPr id="141" name="Shape 139"/>
          <p:cNvSpPr/>
          <p:nvPr/>
        </p:nvSpPr>
        <p:spPr>
          <a:xfrm flipV="1">
            <a:off x="4117086" y="3131901"/>
            <a:ext cx="36957" cy="66970"/>
          </a:xfrm>
          <a:prstGeom prst="line">
            <a:avLst/>
          </a:prstGeom>
          <a:noFill/>
          <a:ln w="31750">
            <a:solidFill>
              <a:srgbClr val="C8414C"/>
            </a:solidFill>
            <a:prstDash val="solid"/>
          </a:ln>
        </p:spPr>
      </p:sp>
      <p:sp>
        <p:nvSpPr>
          <p:cNvPr id="142" name="Shape 140"/>
          <p:cNvSpPr/>
          <p:nvPr/>
        </p:nvSpPr>
        <p:spPr>
          <a:xfrm flipV="1">
            <a:off x="4154043" y="3063240"/>
            <a:ext cx="36957" cy="68661"/>
          </a:xfrm>
          <a:prstGeom prst="line">
            <a:avLst/>
          </a:prstGeom>
          <a:noFill/>
          <a:ln w="31750">
            <a:solidFill>
              <a:srgbClr val="C8414C"/>
            </a:solidFill>
            <a:prstDash val="solid"/>
          </a:ln>
        </p:spPr>
      </p:sp>
      <p:sp>
        <p:nvSpPr>
          <p:cNvPr id="143" name="Shape 141"/>
          <p:cNvSpPr/>
          <p:nvPr/>
        </p:nvSpPr>
        <p:spPr>
          <a:xfrm flipV="1">
            <a:off x="4191000" y="2994579"/>
            <a:ext cx="36957" cy="68661"/>
          </a:xfrm>
          <a:prstGeom prst="line">
            <a:avLst/>
          </a:prstGeom>
          <a:noFill/>
          <a:ln w="31750">
            <a:solidFill>
              <a:srgbClr val="C8414C"/>
            </a:solidFill>
            <a:prstDash val="solid"/>
          </a:ln>
        </p:spPr>
      </p:sp>
      <p:sp>
        <p:nvSpPr>
          <p:cNvPr id="144" name="Shape 142"/>
          <p:cNvSpPr/>
          <p:nvPr/>
        </p:nvSpPr>
        <p:spPr>
          <a:xfrm flipV="1">
            <a:off x="4227957" y="2927609"/>
            <a:ext cx="36957" cy="66970"/>
          </a:xfrm>
          <a:prstGeom prst="line">
            <a:avLst/>
          </a:prstGeom>
          <a:noFill/>
          <a:ln w="31750">
            <a:solidFill>
              <a:srgbClr val="C8414C"/>
            </a:solidFill>
            <a:prstDash val="solid"/>
          </a:ln>
        </p:spPr>
      </p:sp>
      <p:sp>
        <p:nvSpPr>
          <p:cNvPr id="145" name="Shape 143"/>
          <p:cNvSpPr/>
          <p:nvPr/>
        </p:nvSpPr>
        <p:spPr>
          <a:xfrm flipV="1">
            <a:off x="4264914" y="2863978"/>
            <a:ext cx="36957" cy="63631"/>
          </a:xfrm>
          <a:prstGeom prst="line">
            <a:avLst/>
          </a:prstGeom>
          <a:noFill/>
          <a:ln w="31750">
            <a:solidFill>
              <a:srgbClr val="C8414C"/>
            </a:solidFill>
            <a:prstDash val="solid"/>
          </a:ln>
        </p:spPr>
      </p:sp>
      <p:sp>
        <p:nvSpPr>
          <p:cNvPr id="146" name="Shape 144"/>
          <p:cNvSpPr/>
          <p:nvPr/>
        </p:nvSpPr>
        <p:spPr>
          <a:xfrm flipV="1">
            <a:off x="4301871" y="2805254"/>
            <a:ext cx="36957" cy="58724"/>
          </a:xfrm>
          <a:prstGeom prst="line">
            <a:avLst/>
          </a:prstGeom>
          <a:noFill/>
          <a:ln w="31750">
            <a:solidFill>
              <a:srgbClr val="C8414C"/>
            </a:solidFill>
            <a:prstDash val="solid"/>
          </a:ln>
        </p:spPr>
      </p:sp>
      <p:sp>
        <p:nvSpPr>
          <p:cNvPr id="147" name="Shape 145"/>
          <p:cNvSpPr/>
          <p:nvPr/>
        </p:nvSpPr>
        <p:spPr>
          <a:xfrm flipV="1">
            <a:off x="4338828" y="2752882"/>
            <a:ext cx="36957" cy="52372"/>
          </a:xfrm>
          <a:prstGeom prst="line">
            <a:avLst/>
          </a:prstGeom>
          <a:noFill/>
          <a:ln w="31750">
            <a:solidFill>
              <a:srgbClr val="C8414C"/>
            </a:solidFill>
            <a:prstDash val="solid"/>
          </a:ln>
        </p:spPr>
      </p:sp>
      <p:sp>
        <p:nvSpPr>
          <p:cNvPr id="148" name="Shape 146"/>
          <p:cNvSpPr/>
          <p:nvPr/>
        </p:nvSpPr>
        <p:spPr>
          <a:xfrm flipV="1">
            <a:off x="4375785" y="2708153"/>
            <a:ext cx="36957" cy="44730"/>
          </a:xfrm>
          <a:prstGeom prst="line">
            <a:avLst/>
          </a:prstGeom>
          <a:noFill/>
          <a:ln w="31750">
            <a:solidFill>
              <a:srgbClr val="C8414C"/>
            </a:solidFill>
            <a:prstDash val="solid"/>
          </a:ln>
        </p:spPr>
      </p:sp>
      <p:sp>
        <p:nvSpPr>
          <p:cNvPr id="149" name="Shape 147"/>
          <p:cNvSpPr/>
          <p:nvPr/>
        </p:nvSpPr>
        <p:spPr>
          <a:xfrm flipV="1">
            <a:off x="4412742" y="2672167"/>
            <a:ext cx="36957" cy="35986"/>
          </a:xfrm>
          <a:prstGeom prst="line">
            <a:avLst/>
          </a:prstGeom>
          <a:noFill/>
          <a:ln w="31750">
            <a:solidFill>
              <a:srgbClr val="C8414C"/>
            </a:solidFill>
            <a:prstDash val="solid"/>
          </a:ln>
        </p:spPr>
      </p:sp>
      <p:sp>
        <p:nvSpPr>
          <p:cNvPr id="150" name="Shape 148"/>
          <p:cNvSpPr/>
          <p:nvPr/>
        </p:nvSpPr>
        <p:spPr>
          <a:xfrm flipV="1">
            <a:off x="4449699" y="2645810"/>
            <a:ext cx="36957" cy="26357"/>
          </a:xfrm>
          <a:prstGeom prst="line">
            <a:avLst/>
          </a:prstGeom>
          <a:noFill/>
          <a:ln w="31750">
            <a:solidFill>
              <a:srgbClr val="C8414C"/>
            </a:solidFill>
            <a:prstDash val="solid"/>
          </a:ln>
        </p:spPr>
      </p:sp>
      <p:sp>
        <p:nvSpPr>
          <p:cNvPr id="151" name="Shape 149"/>
          <p:cNvSpPr/>
          <p:nvPr/>
        </p:nvSpPr>
        <p:spPr>
          <a:xfrm flipV="1">
            <a:off x="4486656" y="2629732"/>
            <a:ext cx="36957" cy="16078"/>
          </a:xfrm>
          <a:prstGeom prst="line">
            <a:avLst/>
          </a:prstGeom>
          <a:noFill/>
          <a:ln w="31750">
            <a:solidFill>
              <a:srgbClr val="C8414C"/>
            </a:solidFill>
            <a:prstDash val="solid"/>
          </a:ln>
        </p:spPr>
      </p:sp>
      <p:sp>
        <p:nvSpPr>
          <p:cNvPr id="152" name="Shape 150"/>
          <p:cNvSpPr/>
          <p:nvPr/>
        </p:nvSpPr>
        <p:spPr>
          <a:xfrm flipV="1">
            <a:off x="4523613" y="2624328"/>
            <a:ext cx="36957" cy="5404"/>
          </a:xfrm>
          <a:prstGeom prst="line">
            <a:avLst/>
          </a:prstGeom>
          <a:noFill/>
          <a:ln w="31750">
            <a:solidFill>
              <a:srgbClr val="C8414C"/>
            </a:solidFill>
            <a:prstDash val="solid"/>
          </a:ln>
        </p:spPr>
      </p:sp>
      <p:sp>
        <p:nvSpPr>
          <p:cNvPr id="153" name="Shape 151"/>
          <p:cNvSpPr/>
          <p:nvPr/>
        </p:nvSpPr>
        <p:spPr>
          <a:xfrm>
            <a:off x="4560570" y="2624328"/>
            <a:ext cx="36957" cy="5404"/>
          </a:xfrm>
          <a:prstGeom prst="line">
            <a:avLst/>
          </a:prstGeom>
          <a:noFill/>
          <a:ln w="31750">
            <a:solidFill>
              <a:srgbClr val="C8414C"/>
            </a:solidFill>
            <a:prstDash val="solid"/>
          </a:ln>
        </p:spPr>
      </p:sp>
      <p:sp>
        <p:nvSpPr>
          <p:cNvPr id="154" name="Shape 152"/>
          <p:cNvSpPr/>
          <p:nvPr/>
        </p:nvSpPr>
        <p:spPr>
          <a:xfrm>
            <a:off x="4597527" y="2629732"/>
            <a:ext cx="36957" cy="16078"/>
          </a:xfrm>
          <a:prstGeom prst="line">
            <a:avLst/>
          </a:prstGeom>
          <a:noFill/>
          <a:ln w="31750">
            <a:solidFill>
              <a:srgbClr val="C8414C"/>
            </a:solidFill>
            <a:prstDash val="solid"/>
          </a:ln>
        </p:spPr>
      </p:sp>
      <p:sp>
        <p:nvSpPr>
          <p:cNvPr id="155" name="Shape 153"/>
          <p:cNvSpPr/>
          <p:nvPr/>
        </p:nvSpPr>
        <p:spPr>
          <a:xfrm>
            <a:off x="4634484" y="2645810"/>
            <a:ext cx="36957" cy="26357"/>
          </a:xfrm>
          <a:prstGeom prst="line">
            <a:avLst/>
          </a:prstGeom>
          <a:noFill/>
          <a:ln w="31750">
            <a:solidFill>
              <a:srgbClr val="C8414C"/>
            </a:solidFill>
            <a:prstDash val="solid"/>
          </a:ln>
        </p:spPr>
      </p:sp>
      <p:sp>
        <p:nvSpPr>
          <p:cNvPr id="156" name="Shape 154"/>
          <p:cNvSpPr/>
          <p:nvPr/>
        </p:nvSpPr>
        <p:spPr>
          <a:xfrm>
            <a:off x="4671441" y="2672167"/>
            <a:ext cx="36957" cy="35986"/>
          </a:xfrm>
          <a:prstGeom prst="line">
            <a:avLst/>
          </a:prstGeom>
          <a:noFill/>
          <a:ln w="31750">
            <a:solidFill>
              <a:srgbClr val="C8414C"/>
            </a:solidFill>
            <a:prstDash val="solid"/>
          </a:ln>
        </p:spPr>
      </p:sp>
      <p:sp>
        <p:nvSpPr>
          <p:cNvPr id="157" name="Shape 155"/>
          <p:cNvSpPr/>
          <p:nvPr/>
        </p:nvSpPr>
        <p:spPr>
          <a:xfrm>
            <a:off x="4708398" y="2708153"/>
            <a:ext cx="36957" cy="44730"/>
          </a:xfrm>
          <a:prstGeom prst="line">
            <a:avLst/>
          </a:prstGeom>
          <a:noFill/>
          <a:ln w="31750">
            <a:solidFill>
              <a:srgbClr val="C8414C"/>
            </a:solidFill>
            <a:prstDash val="solid"/>
          </a:ln>
        </p:spPr>
      </p:sp>
      <p:sp>
        <p:nvSpPr>
          <p:cNvPr id="158" name="Shape 156"/>
          <p:cNvSpPr/>
          <p:nvPr/>
        </p:nvSpPr>
        <p:spPr>
          <a:xfrm>
            <a:off x="4745355" y="2752882"/>
            <a:ext cx="36957" cy="52372"/>
          </a:xfrm>
          <a:prstGeom prst="line">
            <a:avLst/>
          </a:prstGeom>
          <a:noFill/>
          <a:ln w="31750">
            <a:solidFill>
              <a:srgbClr val="C8414C"/>
            </a:solidFill>
            <a:prstDash val="solid"/>
          </a:ln>
        </p:spPr>
      </p:sp>
      <p:sp>
        <p:nvSpPr>
          <p:cNvPr id="159" name="Shape 157"/>
          <p:cNvSpPr/>
          <p:nvPr/>
        </p:nvSpPr>
        <p:spPr>
          <a:xfrm>
            <a:off x="4782312" y="2805254"/>
            <a:ext cx="36957" cy="58724"/>
          </a:xfrm>
          <a:prstGeom prst="line">
            <a:avLst/>
          </a:prstGeom>
          <a:noFill/>
          <a:ln w="31750">
            <a:solidFill>
              <a:srgbClr val="C8414C"/>
            </a:solidFill>
            <a:prstDash val="solid"/>
          </a:ln>
        </p:spPr>
      </p:sp>
      <p:sp>
        <p:nvSpPr>
          <p:cNvPr id="160" name="Shape 158"/>
          <p:cNvSpPr/>
          <p:nvPr/>
        </p:nvSpPr>
        <p:spPr>
          <a:xfrm>
            <a:off x="4819269" y="2863978"/>
            <a:ext cx="36957" cy="63631"/>
          </a:xfrm>
          <a:prstGeom prst="line">
            <a:avLst/>
          </a:prstGeom>
          <a:noFill/>
          <a:ln w="31750">
            <a:solidFill>
              <a:srgbClr val="C8414C"/>
            </a:solidFill>
            <a:prstDash val="solid"/>
          </a:ln>
        </p:spPr>
      </p:sp>
      <p:sp>
        <p:nvSpPr>
          <p:cNvPr id="161" name="Shape 159"/>
          <p:cNvSpPr/>
          <p:nvPr/>
        </p:nvSpPr>
        <p:spPr>
          <a:xfrm>
            <a:off x="4856226" y="2927609"/>
            <a:ext cx="36957" cy="66970"/>
          </a:xfrm>
          <a:prstGeom prst="line">
            <a:avLst/>
          </a:prstGeom>
          <a:noFill/>
          <a:ln w="31750">
            <a:solidFill>
              <a:srgbClr val="C8414C"/>
            </a:solidFill>
            <a:prstDash val="solid"/>
          </a:ln>
        </p:spPr>
      </p:sp>
      <p:sp>
        <p:nvSpPr>
          <p:cNvPr id="162" name="Shape 160"/>
          <p:cNvSpPr/>
          <p:nvPr/>
        </p:nvSpPr>
        <p:spPr>
          <a:xfrm>
            <a:off x="4893183" y="2994579"/>
            <a:ext cx="36957" cy="68661"/>
          </a:xfrm>
          <a:prstGeom prst="line">
            <a:avLst/>
          </a:prstGeom>
          <a:noFill/>
          <a:ln w="31750">
            <a:solidFill>
              <a:srgbClr val="C8414C"/>
            </a:solidFill>
            <a:prstDash val="solid"/>
          </a:ln>
        </p:spPr>
      </p:sp>
      <p:sp>
        <p:nvSpPr>
          <p:cNvPr id="163" name="Shape 161"/>
          <p:cNvSpPr/>
          <p:nvPr/>
        </p:nvSpPr>
        <p:spPr>
          <a:xfrm>
            <a:off x="4930140" y="3063240"/>
            <a:ext cx="36957" cy="68661"/>
          </a:xfrm>
          <a:prstGeom prst="line">
            <a:avLst/>
          </a:prstGeom>
          <a:noFill/>
          <a:ln w="31750">
            <a:solidFill>
              <a:srgbClr val="C8414C"/>
            </a:solidFill>
            <a:prstDash val="solid"/>
          </a:ln>
        </p:spPr>
      </p:sp>
      <p:sp>
        <p:nvSpPr>
          <p:cNvPr id="164" name="Shape 162"/>
          <p:cNvSpPr/>
          <p:nvPr/>
        </p:nvSpPr>
        <p:spPr>
          <a:xfrm>
            <a:off x="4967097" y="3131901"/>
            <a:ext cx="36957" cy="66970"/>
          </a:xfrm>
          <a:prstGeom prst="line">
            <a:avLst/>
          </a:prstGeom>
          <a:noFill/>
          <a:ln w="31750">
            <a:solidFill>
              <a:srgbClr val="C8414C"/>
            </a:solidFill>
            <a:prstDash val="solid"/>
          </a:ln>
        </p:spPr>
      </p:sp>
      <p:sp>
        <p:nvSpPr>
          <p:cNvPr id="165" name="Shape 163"/>
          <p:cNvSpPr/>
          <p:nvPr/>
        </p:nvSpPr>
        <p:spPr>
          <a:xfrm>
            <a:off x="5004054" y="3198871"/>
            <a:ext cx="36957" cy="63631"/>
          </a:xfrm>
          <a:prstGeom prst="line">
            <a:avLst/>
          </a:prstGeom>
          <a:noFill/>
          <a:ln w="31750">
            <a:solidFill>
              <a:srgbClr val="C8414C"/>
            </a:solidFill>
            <a:prstDash val="solid"/>
          </a:ln>
        </p:spPr>
      </p:sp>
      <p:sp>
        <p:nvSpPr>
          <p:cNvPr id="166" name="Shape 164"/>
          <p:cNvSpPr/>
          <p:nvPr/>
        </p:nvSpPr>
        <p:spPr>
          <a:xfrm>
            <a:off x="5041011" y="3262502"/>
            <a:ext cx="36957" cy="58724"/>
          </a:xfrm>
          <a:prstGeom prst="line">
            <a:avLst/>
          </a:prstGeom>
          <a:noFill/>
          <a:ln w="31750">
            <a:solidFill>
              <a:srgbClr val="C8414C"/>
            </a:solidFill>
            <a:prstDash val="solid"/>
          </a:ln>
        </p:spPr>
      </p:sp>
      <p:sp>
        <p:nvSpPr>
          <p:cNvPr id="167" name="Shape 165"/>
          <p:cNvSpPr/>
          <p:nvPr/>
        </p:nvSpPr>
        <p:spPr>
          <a:xfrm>
            <a:off x="5077968" y="3321226"/>
            <a:ext cx="36957" cy="52372"/>
          </a:xfrm>
          <a:prstGeom prst="line">
            <a:avLst/>
          </a:prstGeom>
          <a:noFill/>
          <a:ln w="31750">
            <a:solidFill>
              <a:srgbClr val="C8414C"/>
            </a:solidFill>
            <a:prstDash val="solid"/>
          </a:ln>
        </p:spPr>
      </p:sp>
      <p:sp>
        <p:nvSpPr>
          <p:cNvPr id="168" name="Shape 166"/>
          <p:cNvSpPr/>
          <p:nvPr/>
        </p:nvSpPr>
        <p:spPr>
          <a:xfrm>
            <a:off x="5114925" y="3373598"/>
            <a:ext cx="36957" cy="44730"/>
          </a:xfrm>
          <a:prstGeom prst="line">
            <a:avLst/>
          </a:prstGeom>
          <a:noFill/>
          <a:ln w="31750">
            <a:solidFill>
              <a:srgbClr val="C8414C"/>
            </a:solidFill>
            <a:prstDash val="solid"/>
          </a:ln>
        </p:spPr>
      </p:sp>
      <p:sp>
        <p:nvSpPr>
          <p:cNvPr id="169" name="Shape 167"/>
          <p:cNvSpPr/>
          <p:nvPr/>
        </p:nvSpPr>
        <p:spPr>
          <a:xfrm>
            <a:off x="5151882" y="3418327"/>
            <a:ext cx="36957" cy="35986"/>
          </a:xfrm>
          <a:prstGeom prst="line">
            <a:avLst/>
          </a:prstGeom>
          <a:noFill/>
          <a:ln w="31750">
            <a:solidFill>
              <a:srgbClr val="C8414C"/>
            </a:solidFill>
            <a:prstDash val="solid"/>
          </a:ln>
        </p:spPr>
      </p:sp>
      <p:sp>
        <p:nvSpPr>
          <p:cNvPr id="170" name="Shape 168"/>
          <p:cNvSpPr/>
          <p:nvPr/>
        </p:nvSpPr>
        <p:spPr>
          <a:xfrm>
            <a:off x="5188839" y="3454313"/>
            <a:ext cx="36957" cy="26357"/>
          </a:xfrm>
          <a:prstGeom prst="line">
            <a:avLst/>
          </a:prstGeom>
          <a:noFill/>
          <a:ln w="31750">
            <a:solidFill>
              <a:srgbClr val="C8414C"/>
            </a:solidFill>
            <a:prstDash val="solid"/>
          </a:ln>
        </p:spPr>
      </p:sp>
      <p:sp>
        <p:nvSpPr>
          <p:cNvPr id="171" name="Shape 169"/>
          <p:cNvSpPr/>
          <p:nvPr/>
        </p:nvSpPr>
        <p:spPr>
          <a:xfrm>
            <a:off x="5225796" y="3480670"/>
            <a:ext cx="36957" cy="16078"/>
          </a:xfrm>
          <a:prstGeom prst="line">
            <a:avLst/>
          </a:prstGeom>
          <a:noFill/>
          <a:ln w="31750">
            <a:solidFill>
              <a:srgbClr val="C8414C"/>
            </a:solidFill>
            <a:prstDash val="solid"/>
          </a:ln>
        </p:spPr>
      </p:sp>
      <p:sp>
        <p:nvSpPr>
          <p:cNvPr id="172" name="Shape 170"/>
          <p:cNvSpPr/>
          <p:nvPr/>
        </p:nvSpPr>
        <p:spPr>
          <a:xfrm>
            <a:off x="5262753" y="3496748"/>
            <a:ext cx="36957" cy="5404"/>
          </a:xfrm>
          <a:prstGeom prst="line">
            <a:avLst/>
          </a:prstGeom>
          <a:noFill/>
          <a:ln w="31750">
            <a:solidFill>
              <a:srgbClr val="C8414C"/>
            </a:solidFill>
            <a:prstDash val="solid"/>
          </a:ln>
        </p:spPr>
      </p:sp>
      <p:sp>
        <p:nvSpPr>
          <p:cNvPr id="173" name="Shape 171"/>
          <p:cNvSpPr/>
          <p:nvPr/>
        </p:nvSpPr>
        <p:spPr>
          <a:xfrm flipV="1">
            <a:off x="5299710" y="3496748"/>
            <a:ext cx="36957" cy="5404"/>
          </a:xfrm>
          <a:prstGeom prst="line">
            <a:avLst/>
          </a:prstGeom>
          <a:noFill/>
          <a:ln w="31750">
            <a:solidFill>
              <a:srgbClr val="C8414C"/>
            </a:solidFill>
            <a:prstDash val="solid"/>
          </a:ln>
        </p:spPr>
      </p:sp>
      <p:sp>
        <p:nvSpPr>
          <p:cNvPr id="174" name="Shape 172"/>
          <p:cNvSpPr/>
          <p:nvPr/>
        </p:nvSpPr>
        <p:spPr>
          <a:xfrm flipV="1">
            <a:off x="5336667" y="3480670"/>
            <a:ext cx="36957" cy="16078"/>
          </a:xfrm>
          <a:prstGeom prst="line">
            <a:avLst/>
          </a:prstGeom>
          <a:noFill/>
          <a:ln w="31750">
            <a:solidFill>
              <a:srgbClr val="C8414C"/>
            </a:solidFill>
            <a:prstDash val="solid"/>
          </a:ln>
        </p:spPr>
      </p:sp>
      <p:sp>
        <p:nvSpPr>
          <p:cNvPr id="175" name="Shape 173"/>
          <p:cNvSpPr/>
          <p:nvPr/>
        </p:nvSpPr>
        <p:spPr>
          <a:xfrm flipV="1">
            <a:off x="5373624" y="3454313"/>
            <a:ext cx="36957" cy="26357"/>
          </a:xfrm>
          <a:prstGeom prst="line">
            <a:avLst/>
          </a:prstGeom>
          <a:noFill/>
          <a:ln w="31750">
            <a:solidFill>
              <a:srgbClr val="C8414C"/>
            </a:solidFill>
            <a:prstDash val="solid"/>
          </a:ln>
        </p:spPr>
      </p:sp>
      <p:sp>
        <p:nvSpPr>
          <p:cNvPr id="176" name="Shape 174"/>
          <p:cNvSpPr/>
          <p:nvPr/>
        </p:nvSpPr>
        <p:spPr>
          <a:xfrm flipV="1">
            <a:off x="5410581" y="3418327"/>
            <a:ext cx="36957" cy="35986"/>
          </a:xfrm>
          <a:prstGeom prst="line">
            <a:avLst/>
          </a:prstGeom>
          <a:noFill/>
          <a:ln w="31750">
            <a:solidFill>
              <a:srgbClr val="C8414C"/>
            </a:solidFill>
            <a:prstDash val="solid"/>
          </a:ln>
        </p:spPr>
      </p:sp>
      <p:sp>
        <p:nvSpPr>
          <p:cNvPr id="177" name="Shape 175"/>
          <p:cNvSpPr/>
          <p:nvPr/>
        </p:nvSpPr>
        <p:spPr>
          <a:xfrm flipV="1">
            <a:off x="5447538" y="3373598"/>
            <a:ext cx="36957" cy="44730"/>
          </a:xfrm>
          <a:prstGeom prst="line">
            <a:avLst/>
          </a:prstGeom>
          <a:noFill/>
          <a:ln w="31750">
            <a:solidFill>
              <a:srgbClr val="C8414C"/>
            </a:solidFill>
            <a:prstDash val="solid"/>
          </a:ln>
        </p:spPr>
      </p:sp>
      <p:sp>
        <p:nvSpPr>
          <p:cNvPr id="178" name="Shape 176"/>
          <p:cNvSpPr/>
          <p:nvPr/>
        </p:nvSpPr>
        <p:spPr>
          <a:xfrm flipV="1">
            <a:off x="5484495" y="3321226"/>
            <a:ext cx="36957" cy="52372"/>
          </a:xfrm>
          <a:prstGeom prst="line">
            <a:avLst/>
          </a:prstGeom>
          <a:noFill/>
          <a:ln w="31750">
            <a:solidFill>
              <a:srgbClr val="C8414C"/>
            </a:solidFill>
            <a:prstDash val="solid"/>
          </a:ln>
        </p:spPr>
      </p:sp>
      <p:sp>
        <p:nvSpPr>
          <p:cNvPr id="179" name="Shape 177"/>
          <p:cNvSpPr/>
          <p:nvPr/>
        </p:nvSpPr>
        <p:spPr>
          <a:xfrm flipV="1">
            <a:off x="5521452" y="3262502"/>
            <a:ext cx="36957" cy="58724"/>
          </a:xfrm>
          <a:prstGeom prst="line">
            <a:avLst/>
          </a:prstGeom>
          <a:noFill/>
          <a:ln w="31750">
            <a:solidFill>
              <a:srgbClr val="C8414C"/>
            </a:solidFill>
            <a:prstDash val="solid"/>
          </a:ln>
        </p:spPr>
      </p:sp>
      <p:sp>
        <p:nvSpPr>
          <p:cNvPr id="180" name="Shape 178"/>
          <p:cNvSpPr/>
          <p:nvPr/>
        </p:nvSpPr>
        <p:spPr>
          <a:xfrm flipV="1">
            <a:off x="5558409" y="3198871"/>
            <a:ext cx="36957" cy="63631"/>
          </a:xfrm>
          <a:prstGeom prst="line">
            <a:avLst/>
          </a:prstGeom>
          <a:noFill/>
          <a:ln w="31750">
            <a:solidFill>
              <a:srgbClr val="C8414C"/>
            </a:solidFill>
            <a:prstDash val="solid"/>
          </a:ln>
        </p:spPr>
      </p:sp>
      <p:sp>
        <p:nvSpPr>
          <p:cNvPr id="181" name="Shape 179"/>
          <p:cNvSpPr/>
          <p:nvPr/>
        </p:nvSpPr>
        <p:spPr>
          <a:xfrm flipV="1">
            <a:off x="5595366" y="3131901"/>
            <a:ext cx="36957" cy="66970"/>
          </a:xfrm>
          <a:prstGeom prst="line">
            <a:avLst/>
          </a:prstGeom>
          <a:noFill/>
          <a:ln w="31750">
            <a:solidFill>
              <a:srgbClr val="C8414C"/>
            </a:solidFill>
            <a:prstDash val="solid"/>
          </a:ln>
        </p:spPr>
      </p:sp>
      <p:sp>
        <p:nvSpPr>
          <p:cNvPr id="182" name="Shape 180"/>
          <p:cNvSpPr/>
          <p:nvPr/>
        </p:nvSpPr>
        <p:spPr>
          <a:xfrm flipV="1">
            <a:off x="5632323" y="3063240"/>
            <a:ext cx="36957" cy="68661"/>
          </a:xfrm>
          <a:prstGeom prst="line">
            <a:avLst/>
          </a:prstGeom>
          <a:noFill/>
          <a:ln w="31750">
            <a:solidFill>
              <a:srgbClr val="C8414C"/>
            </a:solidFill>
            <a:prstDash val="solid"/>
          </a:ln>
        </p:spPr>
      </p:sp>
      <p:sp>
        <p:nvSpPr>
          <p:cNvPr id="183" name="Text 181"/>
          <p:cNvSpPr/>
          <p:nvPr/>
        </p:nvSpPr>
        <p:spPr>
          <a:xfrm>
            <a:off x="4526280" y="3017520"/>
            <a:ext cx="1143000" cy="219456"/>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set point</a:t>
            </a:r>
            <a:endParaRPr lang="en-US" sz="1000" dirty="0"/>
          </a:p>
        </p:txBody>
      </p:sp>
      <p:sp>
        <p:nvSpPr>
          <p:cNvPr id="184" name="Text 182"/>
          <p:cNvSpPr/>
          <p:nvPr/>
        </p:nvSpPr>
        <p:spPr>
          <a:xfrm>
            <a:off x="1271397" y="1673352"/>
            <a:ext cx="2286000" cy="384048"/>
          </a:xfrm>
          <a:prstGeom prst="rect">
            <a:avLst/>
          </a:prstGeom>
          <a:noFill/>
          <a:ln/>
        </p:spPr>
        <p:txBody>
          <a:bodyPr wrap="square" lIns="0" tIns="0" rIns="0" bIns="0" rtlCol="0" anchor="t"/>
          <a:lstStyle/>
          <a:p>
            <a:pPr algn="l" indent="0" marL="0">
              <a:buNone/>
            </a:pPr>
            <a:r>
              <a:rPr lang="en-US" sz="1000" dirty="0">
                <a:solidFill>
                  <a:srgbClr val="C8414C"/>
                </a:solidFill>
                <a:latin typeface="Calibri" pitchFamily="34" charset="0"/>
                <a:ea typeface="Calibri" pitchFamily="34" charset="-122"/>
                <a:cs typeface="Calibri" pitchFamily="34" charset="-120"/>
              </a:rPr>
              <a:t>above set point → effectors </a:t>
            </a:r>
            <a:r>
              <a:rPr lang="en-US" sz="1000" b="1" dirty="0">
                <a:solidFill>
                  <a:srgbClr val="C8414C"/>
                </a:solidFill>
                <a:latin typeface="Calibri" pitchFamily="34" charset="0"/>
                <a:ea typeface="Calibri" pitchFamily="34" charset="-122"/>
                <a:cs typeface="Calibri" pitchFamily="34" charset="-120"/>
              </a:rPr>
              <a:t>cool</a:t>
            </a:r>
            <a:r>
              <a:rPr lang="en-US" sz="1000" dirty="0">
                <a:solidFill>
                  <a:srgbClr val="C8414C"/>
                </a:solidFill>
                <a:latin typeface="Calibri" pitchFamily="34" charset="0"/>
                <a:ea typeface="Calibri" pitchFamily="34" charset="-122"/>
                <a:cs typeface="Calibri" pitchFamily="34" charset="-120"/>
              </a:rPr>
              <a:t> the body</a:t>
            </a:r>
            <a:endParaRPr lang="en-US" sz="1000" dirty="0"/>
          </a:p>
        </p:txBody>
      </p:sp>
      <p:sp>
        <p:nvSpPr>
          <p:cNvPr id="185" name="Shape 183"/>
          <p:cNvSpPr/>
          <p:nvPr/>
        </p:nvSpPr>
        <p:spPr>
          <a:xfrm>
            <a:off x="1604010" y="2156155"/>
            <a:ext cx="91" cy="351130"/>
          </a:xfrm>
          <a:prstGeom prst="line">
            <a:avLst/>
          </a:prstGeom>
          <a:noFill/>
          <a:ln w="15875">
            <a:solidFill>
              <a:srgbClr val="C8414C"/>
            </a:solidFill>
            <a:prstDash val="solid"/>
            <a:tailEnd type="triangle"/>
          </a:ln>
        </p:spPr>
      </p:sp>
      <p:sp>
        <p:nvSpPr>
          <p:cNvPr id="186" name="Text 184"/>
          <p:cNvSpPr/>
          <p:nvPr/>
        </p:nvSpPr>
        <p:spPr>
          <a:xfrm>
            <a:off x="2195322" y="4087368"/>
            <a:ext cx="2377440" cy="384048"/>
          </a:xfrm>
          <a:prstGeom prst="rect">
            <a:avLst/>
          </a:prstGeom>
          <a:noFill/>
          <a:ln/>
        </p:spPr>
        <p:txBody>
          <a:bodyPr wrap="square" lIns="0" tIns="0" rIns="0" bIns="0" rtlCol="0" anchor="t"/>
          <a:lstStyle/>
          <a:p>
            <a:pPr algn="l" indent="0" marL="0">
              <a:buNone/>
            </a:pPr>
            <a:r>
              <a:rPr lang="en-US" sz="1000" dirty="0">
                <a:solidFill>
                  <a:srgbClr val="3B7DD8"/>
                </a:solidFill>
                <a:latin typeface="Calibri" pitchFamily="34" charset="0"/>
                <a:ea typeface="Calibri" pitchFamily="34" charset="-122"/>
                <a:cs typeface="Calibri" pitchFamily="34" charset="-120"/>
              </a:rPr>
              <a:t>below set point → effectors </a:t>
            </a:r>
            <a:r>
              <a:rPr lang="en-US" sz="1000" b="1" dirty="0">
                <a:solidFill>
                  <a:srgbClr val="3B7DD8"/>
                </a:solidFill>
                <a:latin typeface="Calibri" pitchFamily="34" charset="0"/>
                <a:ea typeface="Calibri" pitchFamily="34" charset="-122"/>
                <a:cs typeface="Calibri" pitchFamily="34" charset="-120"/>
              </a:rPr>
              <a:t>warm</a:t>
            </a:r>
            <a:r>
              <a:rPr lang="en-US" sz="1000" dirty="0">
                <a:solidFill>
                  <a:srgbClr val="3B7DD8"/>
                </a:solidFill>
                <a:latin typeface="Calibri" pitchFamily="34" charset="0"/>
                <a:ea typeface="Calibri" pitchFamily="34" charset="-122"/>
                <a:cs typeface="Calibri" pitchFamily="34" charset="-120"/>
              </a:rPr>
              <a:t> the body</a:t>
            </a:r>
            <a:endParaRPr lang="en-US" sz="1000" dirty="0"/>
          </a:p>
        </p:txBody>
      </p:sp>
      <p:sp>
        <p:nvSpPr>
          <p:cNvPr id="187" name="Shape 185"/>
          <p:cNvSpPr/>
          <p:nvPr/>
        </p:nvSpPr>
        <p:spPr>
          <a:xfrm flipV="1">
            <a:off x="2343150" y="3619195"/>
            <a:ext cx="91" cy="351130"/>
          </a:xfrm>
          <a:prstGeom prst="line">
            <a:avLst/>
          </a:prstGeom>
          <a:noFill/>
          <a:ln w="15875">
            <a:solidFill>
              <a:srgbClr val="3B7DD8"/>
            </a:solidFill>
            <a:prstDash val="solid"/>
            <a:tailEnd type="triangle"/>
          </a:ln>
        </p:spPr>
      </p:sp>
      <p:sp>
        <p:nvSpPr>
          <p:cNvPr id="188" name="Shape 186"/>
          <p:cNvSpPr/>
          <p:nvPr/>
        </p:nvSpPr>
        <p:spPr>
          <a:xfrm>
            <a:off x="6217920" y="1188720"/>
            <a:ext cx="5562295" cy="2788920"/>
          </a:xfrm>
          <a:prstGeom prst="roundRect">
            <a:avLst>
              <a:gd name="adj" fmla="val 1967"/>
            </a:avLst>
          </a:prstGeom>
          <a:solidFill>
            <a:srgbClr val="F4FAF9"/>
          </a:solidFill>
          <a:ln w="9525">
            <a:solidFill>
              <a:srgbClr val="CFE0DE"/>
            </a:solidFill>
            <a:prstDash val="solid"/>
          </a:ln>
        </p:spPr>
      </p:sp>
      <p:sp>
        <p:nvSpPr>
          <p:cNvPr id="189" name="Text 18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Negative feedback</a:t>
            </a:r>
            <a:endParaRPr lang="en-US" sz="1300" dirty="0"/>
          </a:p>
        </p:txBody>
      </p:sp>
      <p:sp>
        <p:nvSpPr>
          <p:cNvPr id="190" name="Text 188"/>
          <p:cNvSpPr/>
          <p:nvPr/>
        </p:nvSpPr>
        <p:spPr>
          <a:xfrm>
            <a:off x="6382512" y="1609344"/>
            <a:ext cx="5233111" cy="22951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Each condition has a normal level, the </a:t>
            </a:r>
            <a:r>
              <a:rPr lang="en-US" sz="1100" b="1" dirty="0">
                <a:solidFill>
                  <a:srgbClr val="262B3A"/>
                </a:solidFill>
                <a:latin typeface="Calibri" pitchFamily="34" charset="0"/>
                <a:ea typeface="Calibri" pitchFamily="34" charset="-122"/>
                <a:cs typeface="Calibri" pitchFamily="34" charset="-120"/>
              </a:rPr>
              <a:t>set point</a:t>
            </a:r>
            <a:r>
              <a:rPr lang="en-US" sz="1100" dirty="0">
                <a:solidFill>
                  <a:srgbClr val="262B3A"/>
                </a:solidFill>
                <a:latin typeface="Calibri" pitchFamily="34" charset="0"/>
                <a:ea typeface="Calibri" pitchFamily="34" charset="-122"/>
                <a:cs typeface="Calibri" pitchFamily="34" charset="-120"/>
              </a:rPr>
              <a:t> (37 °C for core temperature).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If the level </a:t>
            </a:r>
            <a:r>
              <a:rPr lang="en-US" sz="1100" b="1" dirty="0">
                <a:solidFill>
                  <a:srgbClr val="262B3A"/>
                </a:solidFill>
                <a:latin typeface="Calibri" pitchFamily="34" charset="0"/>
                <a:ea typeface="Calibri" pitchFamily="34" charset="-122"/>
                <a:cs typeface="Calibri" pitchFamily="34" charset="-120"/>
              </a:rPr>
              <a:t>rises</a:t>
            </a:r>
            <a:r>
              <a:rPr lang="en-US" sz="1100" dirty="0">
                <a:solidFill>
                  <a:srgbClr val="262B3A"/>
                </a:solidFill>
                <a:latin typeface="Calibri" pitchFamily="34" charset="0"/>
                <a:ea typeface="Calibri" pitchFamily="34" charset="-122"/>
                <a:cs typeface="Calibri" pitchFamily="34" charset="-120"/>
              </a:rPr>
              <a:t>, the response makes it </a:t>
            </a:r>
            <a:r>
              <a:rPr lang="en-US" sz="1100" b="1" dirty="0">
                <a:solidFill>
                  <a:srgbClr val="262B3A"/>
                </a:solidFill>
                <a:latin typeface="Calibri" pitchFamily="34" charset="0"/>
                <a:ea typeface="Calibri" pitchFamily="34" charset="-122"/>
                <a:cs typeface="Calibri" pitchFamily="34" charset="-120"/>
              </a:rPr>
              <a:t>fall</a:t>
            </a:r>
            <a:r>
              <a:rPr lang="en-US" sz="1100" dirty="0">
                <a:solidFill>
                  <a:srgbClr val="262B3A"/>
                </a:solidFill>
                <a:latin typeface="Calibri" pitchFamily="34" charset="0"/>
                <a:ea typeface="Calibri" pitchFamily="34" charset="-122"/>
                <a:cs typeface="Calibri" pitchFamily="34" charset="-120"/>
              </a:rPr>
              <a:t>; if it </a:t>
            </a:r>
            <a:r>
              <a:rPr lang="en-US" sz="1100" b="1" dirty="0">
                <a:solidFill>
                  <a:srgbClr val="262B3A"/>
                </a:solidFill>
                <a:latin typeface="Calibri" pitchFamily="34" charset="0"/>
                <a:ea typeface="Calibri" pitchFamily="34" charset="-122"/>
                <a:cs typeface="Calibri" pitchFamily="34" charset="-120"/>
              </a:rPr>
              <a:t>falls</a:t>
            </a:r>
            <a:r>
              <a:rPr lang="en-US" sz="1100" dirty="0">
                <a:solidFill>
                  <a:srgbClr val="262B3A"/>
                </a:solidFill>
                <a:latin typeface="Calibri" pitchFamily="34" charset="0"/>
                <a:ea typeface="Calibri" pitchFamily="34" charset="-122"/>
                <a:cs typeface="Calibri" pitchFamily="34" charset="-120"/>
              </a:rPr>
              <a:t>, the response makes it </a:t>
            </a:r>
            <a:r>
              <a:rPr lang="en-US" sz="1100" b="1" dirty="0">
                <a:solidFill>
                  <a:srgbClr val="262B3A"/>
                </a:solidFill>
                <a:latin typeface="Calibri" pitchFamily="34" charset="0"/>
                <a:ea typeface="Calibri" pitchFamily="34" charset="-122"/>
                <a:cs typeface="Calibri" pitchFamily="34" charset="-120"/>
              </a:rPr>
              <a:t>rise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 the level goes up and down a little but stays </a:t>
            </a:r>
            <a:r>
              <a:rPr lang="en-US" sz="1100" b="1" dirty="0">
                <a:solidFill>
                  <a:srgbClr val="262B3A"/>
                </a:solidFill>
                <a:latin typeface="Calibri" pitchFamily="34" charset="0"/>
                <a:ea typeface="Calibri" pitchFamily="34" charset="-122"/>
                <a:cs typeface="Calibri" pitchFamily="34" charset="-120"/>
              </a:rPr>
              <a:t>close</a:t>
            </a:r>
            <a:r>
              <a:rPr lang="en-US" sz="1100" dirty="0">
                <a:solidFill>
                  <a:srgbClr val="262B3A"/>
                </a:solidFill>
                <a:latin typeface="Calibri" pitchFamily="34" charset="0"/>
                <a:ea typeface="Calibri" pitchFamily="34" charset="-122"/>
                <a:cs typeface="Calibri" pitchFamily="34" charset="-120"/>
              </a:rPr>
              <a:t> to the set point.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You met this with </a:t>
            </a:r>
            <a:r>
              <a:rPr lang="en-US" sz="1100" b="1" dirty="0">
                <a:solidFill>
                  <a:srgbClr val="262B3A"/>
                </a:solidFill>
                <a:latin typeface="Calibri" pitchFamily="34" charset="0"/>
                <a:ea typeface="Calibri" pitchFamily="34" charset="-122"/>
                <a:cs typeface="Calibri" pitchFamily="34" charset="-120"/>
              </a:rPr>
              <a:t>thyroxine</a:t>
            </a:r>
            <a:r>
              <a:rPr lang="en-US" sz="1100" dirty="0">
                <a:solidFill>
                  <a:srgbClr val="262B3A"/>
                </a:solidFill>
                <a:latin typeface="Calibri" pitchFamily="34" charset="0"/>
                <a:ea typeface="Calibri" pitchFamily="34" charset="-122"/>
                <a:cs typeface="Calibri" pitchFamily="34" charset="-120"/>
              </a:rPr>
              <a:t> in B5.3. Most homeostasis uses negative feedback.</a:t>
            </a:r>
            <a:endParaRPr lang="en-US" sz="1100" dirty="0"/>
          </a:p>
        </p:txBody>
      </p:sp>
      <p:sp>
        <p:nvSpPr>
          <p:cNvPr id="191" name="Shape 189"/>
          <p:cNvSpPr/>
          <p:nvPr/>
        </p:nvSpPr>
        <p:spPr>
          <a:xfrm>
            <a:off x="6217920" y="4114800"/>
            <a:ext cx="5562295" cy="1600200"/>
          </a:xfrm>
          <a:prstGeom prst="roundRect">
            <a:avLst>
              <a:gd name="adj" fmla="val 3429"/>
            </a:avLst>
          </a:prstGeom>
          <a:solidFill>
            <a:srgbClr val="FFF4E0"/>
          </a:solidFill>
          <a:ln w="9525">
            <a:solidFill>
              <a:srgbClr val="F1D9A8"/>
            </a:solidFill>
            <a:prstDash val="solid"/>
          </a:ln>
        </p:spPr>
      </p:sp>
      <p:sp>
        <p:nvSpPr>
          <p:cNvPr id="192" name="Text 190"/>
          <p:cNvSpPr/>
          <p:nvPr/>
        </p:nvSpPr>
        <p:spPr>
          <a:xfrm>
            <a:off x="6382512" y="41879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 the graph</a:t>
            </a:r>
            <a:endParaRPr lang="en-US" sz="1300" dirty="0"/>
          </a:p>
        </p:txBody>
      </p:sp>
      <p:sp>
        <p:nvSpPr>
          <p:cNvPr id="193" name="Text 191"/>
          <p:cNvSpPr/>
          <p:nvPr/>
        </p:nvSpPr>
        <p:spPr>
          <a:xfrm>
            <a:off x="6382512" y="4498848"/>
            <a:ext cx="5233111"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Find the highest and lowest core temperature on the graph, and the range.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Highest   </a:t>
            </a:r>
            <a:r>
              <a:rPr lang="en-US" sz="1050" dirty="0">
                <a:solidFill>
                  <a:srgbClr val="262B3A"/>
                </a:solidFill>
                <a:latin typeface="Calibri" pitchFamily="34" charset="0"/>
                <a:ea typeface="Calibri" pitchFamily="34" charset="-122"/>
                <a:cs typeface="Calibri" pitchFamily="34" charset="-120"/>
              </a:rPr>
              <a:t>37.3 °C (at 5 min)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Lowest   </a:t>
            </a:r>
            <a:r>
              <a:rPr lang="en-US" sz="1050" dirty="0">
                <a:solidFill>
                  <a:srgbClr val="262B3A"/>
                </a:solidFill>
                <a:latin typeface="Calibri" pitchFamily="34" charset="0"/>
                <a:ea typeface="Calibri" pitchFamily="34" charset="-122"/>
                <a:cs typeface="Calibri" pitchFamily="34" charset="-120"/>
              </a:rPr>
              <a:t>36.7 °C (at 15 min)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range = 37.3 − 36.7 = 0.6 °C</a:t>
            </a:r>
            <a:endParaRPr lang="en-US" sz="1050" dirty="0"/>
          </a:p>
        </p:txBody>
      </p:sp>
      <p:sp>
        <p:nvSpPr>
          <p:cNvPr id="194" name="Shape 192"/>
          <p:cNvSpPr/>
          <p:nvPr/>
        </p:nvSpPr>
        <p:spPr>
          <a:xfrm>
            <a:off x="411480" y="5833872"/>
            <a:ext cx="11368735" cy="530352"/>
          </a:xfrm>
          <a:prstGeom prst="rect">
            <a:avLst/>
          </a:prstGeom>
          <a:solidFill>
            <a:srgbClr val="FFF4E0"/>
          </a:solidFill>
          <a:ln w="6350">
            <a:solidFill>
              <a:srgbClr val="F1D9A8"/>
            </a:solidFill>
            <a:prstDash val="solid"/>
          </a:ln>
        </p:spPr>
      </p:sp>
      <p:sp>
        <p:nvSpPr>
          <p:cNvPr id="195" name="Shape 193"/>
          <p:cNvSpPr/>
          <p:nvPr/>
        </p:nvSpPr>
        <p:spPr>
          <a:xfrm>
            <a:off x="411480" y="5833872"/>
            <a:ext cx="82296" cy="530352"/>
          </a:xfrm>
          <a:prstGeom prst="rect">
            <a:avLst/>
          </a:prstGeom>
          <a:solidFill>
            <a:srgbClr val="E39A2F"/>
          </a:solidFill>
          <a:ln w="12700">
            <a:solidFill>
              <a:srgbClr val="E39A2F"/>
            </a:solidFill>
            <a:prstDash val="solid"/>
          </a:ln>
        </p:spPr>
      </p:sp>
      <p:sp>
        <p:nvSpPr>
          <p:cNvPr id="196" name="Text 19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it is called </a:t>
            </a:r>
            <a:r>
              <a:rPr lang="en-US" sz="1150" b="1" dirty="0">
                <a:solidFill>
                  <a:srgbClr val="262B3A"/>
                </a:solidFill>
                <a:latin typeface="Calibri" pitchFamily="34" charset="0"/>
                <a:ea typeface="Calibri" pitchFamily="34" charset="-122"/>
                <a:cs typeface="Calibri" pitchFamily="34" charset="-120"/>
              </a:rPr>
              <a:t>negative</a:t>
            </a:r>
            <a:r>
              <a:rPr lang="en-US" sz="1150" dirty="0">
                <a:solidFill>
                  <a:srgbClr val="262B3A"/>
                </a:solidFill>
                <a:latin typeface="Calibri" pitchFamily="34" charset="0"/>
                <a:ea typeface="Calibri" pitchFamily="34" charset="-122"/>
                <a:cs typeface="Calibri" pitchFamily="34" charset="-120"/>
              </a:rPr>
              <a:t> feedback. Why does the line never stay </a:t>
            </a:r>
            <a:r>
              <a:rPr lang="en-US" sz="1150" b="1" dirty="0">
                <a:solidFill>
                  <a:srgbClr val="262B3A"/>
                </a:solidFill>
                <a:latin typeface="Calibri" pitchFamily="34" charset="0"/>
                <a:ea typeface="Calibri" pitchFamily="34" charset="-122"/>
                <a:cs typeface="Calibri" pitchFamily="34" charset="-120"/>
              </a:rPr>
              <a:t>exactly</a:t>
            </a:r>
            <a:r>
              <a:rPr lang="en-US" sz="1150" dirty="0">
                <a:solidFill>
                  <a:srgbClr val="262B3A"/>
                </a:solidFill>
                <a:latin typeface="Calibri" pitchFamily="34" charset="0"/>
                <a:ea typeface="Calibri" pitchFamily="34" charset="-122"/>
                <a:cs typeface="Calibri" pitchFamily="34" charset="-120"/>
              </a:rPr>
              <a:t> on 37 °C?</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Antagonistic effectors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two effectors that push in opposite directions give faster, finer control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B5.4.1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one effector compared with a pair of antagonistic effectors</a:t>
            </a:r>
            <a:endParaRPr lang="en-US" sz="1000" dirty="0"/>
          </a:p>
        </p:txBody>
      </p:sp>
      <p:sp>
        <p:nvSpPr>
          <p:cNvPr id="10" name="Text 8"/>
          <p:cNvSpPr/>
          <p:nvPr/>
        </p:nvSpPr>
        <p:spPr>
          <a:xfrm>
            <a:off x="594360" y="1298448"/>
            <a:ext cx="2468880" cy="256032"/>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One effector only</a:t>
            </a:r>
            <a:endParaRPr lang="en-US" sz="1200" dirty="0"/>
          </a:p>
        </p:txBody>
      </p:sp>
      <p:sp>
        <p:nvSpPr>
          <p:cNvPr id="11" name="Shape 9"/>
          <p:cNvSpPr/>
          <p:nvPr/>
        </p:nvSpPr>
        <p:spPr>
          <a:xfrm>
            <a:off x="1124712" y="1783080"/>
            <a:ext cx="128016" cy="2377440"/>
          </a:xfrm>
          <a:prstGeom prst="roundRect">
            <a:avLst>
              <a:gd name="adj" fmla="val 50000"/>
            </a:avLst>
          </a:prstGeom>
          <a:solidFill>
            <a:srgbClr val="F7FAFC"/>
          </a:solidFill>
          <a:ln w="12700">
            <a:solidFill>
              <a:srgbClr val="6B7385"/>
            </a:solidFill>
            <a:prstDash val="solid"/>
          </a:ln>
        </p:spPr>
      </p:sp>
      <p:sp>
        <p:nvSpPr>
          <p:cNvPr id="12" name="Shape 10"/>
          <p:cNvSpPr/>
          <p:nvPr/>
        </p:nvSpPr>
        <p:spPr>
          <a:xfrm>
            <a:off x="960120" y="2971800"/>
            <a:ext cx="457200" cy="91"/>
          </a:xfrm>
          <a:prstGeom prst="line">
            <a:avLst/>
          </a:prstGeom>
          <a:noFill/>
          <a:ln w="25400">
            <a:solidFill>
              <a:srgbClr val="2E8B57"/>
            </a:solidFill>
            <a:prstDash val="dash"/>
          </a:ln>
        </p:spPr>
      </p:sp>
      <p:sp>
        <p:nvSpPr>
          <p:cNvPr id="13" name="Text 11"/>
          <p:cNvSpPr/>
          <p:nvPr/>
        </p:nvSpPr>
        <p:spPr>
          <a:xfrm>
            <a:off x="548640" y="2834640"/>
            <a:ext cx="411480" cy="274320"/>
          </a:xfrm>
          <a:prstGeom prst="rect">
            <a:avLst/>
          </a:prstGeom>
          <a:noFill/>
          <a:ln/>
        </p:spPr>
        <p:txBody>
          <a:bodyPr wrap="square" lIns="0" tIns="0" rIns="0" bIns="0" rtlCol="0" anchor="ctr"/>
          <a:lstStyle/>
          <a:p>
            <a:pPr algn="ctr" indent="0" marL="0">
              <a:buNone/>
            </a:pPr>
            <a:r>
              <a:rPr lang="en-US" sz="1000" dirty="0">
                <a:solidFill>
                  <a:srgbClr val="2E8B57"/>
                </a:solidFill>
                <a:latin typeface="Calibri" pitchFamily="34" charset="0"/>
                <a:ea typeface="Calibri" pitchFamily="34" charset="-122"/>
                <a:cs typeface="Calibri" pitchFamily="34" charset="-120"/>
              </a:rPr>
              <a:t>set</a:t>
            </a:r>
            <a:endParaRPr lang="en-US" sz="1000" dirty="0"/>
          </a:p>
        </p:txBody>
      </p:sp>
      <p:sp>
        <p:nvSpPr>
          <p:cNvPr id="14" name="Shape 12"/>
          <p:cNvSpPr/>
          <p:nvPr/>
        </p:nvSpPr>
        <p:spPr>
          <a:xfrm>
            <a:off x="1069848" y="2852928"/>
            <a:ext cx="237744" cy="237744"/>
          </a:xfrm>
          <a:prstGeom prst="ellipse">
            <a:avLst/>
          </a:prstGeom>
          <a:solidFill>
            <a:srgbClr val="133536"/>
          </a:solidFill>
          <a:ln w="9525">
            <a:solidFill>
              <a:srgbClr val="133536"/>
            </a:solidFill>
            <a:prstDash val="solid"/>
          </a:ln>
        </p:spPr>
      </p:sp>
      <p:sp>
        <p:nvSpPr>
          <p:cNvPr id="15" name="Shape 13"/>
          <p:cNvSpPr/>
          <p:nvPr/>
        </p:nvSpPr>
        <p:spPr>
          <a:xfrm flipV="1">
            <a:off x="1508760" y="3108960"/>
            <a:ext cx="91" cy="502920"/>
          </a:xfrm>
          <a:prstGeom prst="line">
            <a:avLst/>
          </a:prstGeom>
          <a:noFill/>
          <a:ln w="38100">
            <a:solidFill>
              <a:srgbClr val="D9534F"/>
            </a:solidFill>
            <a:prstDash val="solid"/>
            <a:tailEnd type="triangle"/>
          </a:ln>
        </p:spPr>
      </p:sp>
      <p:sp>
        <p:nvSpPr>
          <p:cNvPr id="16" name="Text 14"/>
          <p:cNvSpPr/>
          <p:nvPr/>
        </p:nvSpPr>
        <p:spPr>
          <a:xfrm>
            <a:off x="1645920" y="3291840"/>
            <a:ext cx="1463040" cy="274320"/>
          </a:xfrm>
          <a:prstGeom prst="rect">
            <a:avLst/>
          </a:prstGeom>
          <a:noFill/>
          <a:ln/>
        </p:spPr>
        <p:txBody>
          <a:bodyPr wrap="square" lIns="0" tIns="0" rIns="0" bIns="0" rtlCol="0" anchor="ctr"/>
          <a:lstStyle/>
          <a:p>
            <a:pPr algn="l" indent="0" marL="0">
              <a:buNone/>
            </a:pPr>
            <a:r>
              <a:rPr lang="en-US" sz="1050" b="1" dirty="0">
                <a:solidFill>
                  <a:srgbClr val="D9534F"/>
                </a:solidFill>
                <a:latin typeface="Calibri" pitchFamily="34" charset="0"/>
                <a:ea typeface="Calibri" pitchFamily="34" charset="-122"/>
                <a:cs typeface="Calibri" pitchFamily="34" charset="-120"/>
              </a:rPr>
              <a:t>heater</a:t>
            </a:r>
            <a:r>
              <a:rPr lang="en-US" sz="1050" dirty="0">
                <a:solidFill>
                  <a:srgbClr val="D9534F"/>
                </a:solidFill>
                <a:latin typeface="Calibri" pitchFamily="34" charset="0"/>
                <a:ea typeface="Calibri" pitchFamily="34" charset="-122"/>
                <a:cs typeface="Calibri" pitchFamily="34" charset="-120"/>
              </a:rPr>
              <a:t>: pushes up</a:t>
            </a:r>
            <a:endParaRPr lang="en-US" sz="1050" dirty="0"/>
          </a:p>
        </p:txBody>
      </p:sp>
      <p:sp>
        <p:nvSpPr>
          <p:cNvPr id="17" name="Shape 15"/>
          <p:cNvSpPr/>
          <p:nvPr/>
        </p:nvSpPr>
        <p:spPr>
          <a:xfrm>
            <a:off x="1508760" y="2331720"/>
            <a:ext cx="91" cy="457200"/>
          </a:xfrm>
          <a:prstGeom prst="line">
            <a:avLst/>
          </a:prstGeom>
          <a:noFill/>
          <a:ln w="19050">
            <a:solidFill>
              <a:srgbClr val="9AA3B0"/>
            </a:solidFill>
            <a:prstDash val="dash"/>
            <a:tailEnd type="triangle"/>
          </a:ln>
        </p:spPr>
      </p:sp>
      <p:sp>
        <p:nvSpPr>
          <p:cNvPr id="18" name="Text 16"/>
          <p:cNvSpPr/>
          <p:nvPr/>
        </p:nvSpPr>
        <p:spPr>
          <a:xfrm>
            <a:off x="1645920" y="2240280"/>
            <a:ext cx="1463040" cy="384048"/>
          </a:xfrm>
          <a:prstGeom prst="rect">
            <a:avLst/>
          </a:prstGeom>
          <a:noFill/>
          <a:ln/>
        </p:spPr>
        <p:txBody>
          <a:bodyPr wrap="square" lIns="0" tIns="0" rIns="0" bIns="0" rtlCol="0" anchor="t"/>
          <a:lstStyle/>
          <a:p>
            <a:pPr algn="l" indent="0" marL="0">
              <a:buNone/>
            </a:pPr>
            <a:r>
              <a:rPr lang="en-US" sz="1000" dirty="0">
                <a:solidFill>
                  <a:srgbClr val="6B7385"/>
                </a:solidFill>
                <a:latin typeface="Calibri" pitchFamily="34" charset="0"/>
                <a:ea typeface="Calibri" pitchFamily="34" charset="-122"/>
                <a:cs typeface="Calibri" pitchFamily="34" charset="-120"/>
              </a:rPr>
              <a:t>cooling: slow, just heat loss</a:t>
            </a:r>
            <a:endParaRPr lang="en-US" sz="1000" dirty="0"/>
          </a:p>
        </p:txBody>
      </p:sp>
      <p:sp>
        <p:nvSpPr>
          <p:cNvPr id="19" name="Text 17"/>
          <p:cNvSpPr/>
          <p:nvPr/>
        </p:nvSpPr>
        <p:spPr>
          <a:xfrm>
            <a:off x="3291840" y="1298448"/>
            <a:ext cx="2560320" cy="256032"/>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Antagonistic pair</a:t>
            </a:r>
            <a:endParaRPr lang="en-US" sz="1200" dirty="0"/>
          </a:p>
        </p:txBody>
      </p:sp>
      <p:sp>
        <p:nvSpPr>
          <p:cNvPr id="20" name="Shape 18"/>
          <p:cNvSpPr/>
          <p:nvPr/>
        </p:nvSpPr>
        <p:spPr>
          <a:xfrm>
            <a:off x="3776472" y="1783080"/>
            <a:ext cx="128016" cy="2377440"/>
          </a:xfrm>
          <a:prstGeom prst="roundRect">
            <a:avLst>
              <a:gd name="adj" fmla="val 50000"/>
            </a:avLst>
          </a:prstGeom>
          <a:solidFill>
            <a:srgbClr val="F7FAFC"/>
          </a:solidFill>
          <a:ln w="12700">
            <a:solidFill>
              <a:srgbClr val="6B7385"/>
            </a:solidFill>
            <a:prstDash val="solid"/>
          </a:ln>
        </p:spPr>
      </p:sp>
      <p:sp>
        <p:nvSpPr>
          <p:cNvPr id="21" name="Shape 19"/>
          <p:cNvSpPr/>
          <p:nvPr/>
        </p:nvSpPr>
        <p:spPr>
          <a:xfrm>
            <a:off x="3611880" y="2971800"/>
            <a:ext cx="457200" cy="91"/>
          </a:xfrm>
          <a:prstGeom prst="line">
            <a:avLst/>
          </a:prstGeom>
          <a:noFill/>
          <a:ln w="25400">
            <a:solidFill>
              <a:srgbClr val="2E8B57"/>
            </a:solidFill>
            <a:prstDash val="dash"/>
          </a:ln>
        </p:spPr>
      </p:sp>
      <p:sp>
        <p:nvSpPr>
          <p:cNvPr id="22" name="Text 20"/>
          <p:cNvSpPr/>
          <p:nvPr/>
        </p:nvSpPr>
        <p:spPr>
          <a:xfrm>
            <a:off x="3200400" y="2834640"/>
            <a:ext cx="411480" cy="274320"/>
          </a:xfrm>
          <a:prstGeom prst="rect">
            <a:avLst/>
          </a:prstGeom>
          <a:noFill/>
          <a:ln/>
        </p:spPr>
        <p:txBody>
          <a:bodyPr wrap="square" lIns="0" tIns="0" rIns="0" bIns="0" rtlCol="0" anchor="ctr"/>
          <a:lstStyle/>
          <a:p>
            <a:pPr algn="ctr" indent="0" marL="0">
              <a:buNone/>
            </a:pPr>
            <a:r>
              <a:rPr lang="en-US" sz="1000" dirty="0">
                <a:solidFill>
                  <a:srgbClr val="2E8B57"/>
                </a:solidFill>
                <a:latin typeface="Calibri" pitchFamily="34" charset="0"/>
                <a:ea typeface="Calibri" pitchFamily="34" charset="-122"/>
                <a:cs typeface="Calibri" pitchFamily="34" charset="-120"/>
              </a:rPr>
              <a:t>set</a:t>
            </a:r>
            <a:endParaRPr lang="en-US" sz="1000" dirty="0"/>
          </a:p>
        </p:txBody>
      </p:sp>
      <p:sp>
        <p:nvSpPr>
          <p:cNvPr id="23" name="Shape 21"/>
          <p:cNvSpPr/>
          <p:nvPr/>
        </p:nvSpPr>
        <p:spPr>
          <a:xfrm>
            <a:off x="3721608" y="2852928"/>
            <a:ext cx="237744" cy="237744"/>
          </a:xfrm>
          <a:prstGeom prst="ellipse">
            <a:avLst/>
          </a:prstGeom>
          <a:solidFill>
            <a:srgbClr val="133536"/>
          </a:solidFill>
          <a:ln w="9525">
            <a:solidFill>
              <a:srgbClr val="133536"/>
            </a:solidFill>
            <a:prstDash val="solid"/>
          </a:ln>
        </p:spPr>
      </p:sp>
      <p:sp>
        <p:nvSpPr>
          <p:cNvPr id="24" name="Shape 22"/>
          <p:cNvSpPr/>
          <p:nvPr/>
        </p:nvSpPr>
        <p:spPr>
          <a:xfrm flipV="1">
            <a:off x="4160520" y="3108960"/>
            <a:ext cx="91" cy="502920"/>
          </a:xfrm>
          <a:prstGeom prst="line">
            <a:avLst/>
          </a:prstGeom>
          <a:noFill/>
          <a:ln w="38100">
            <a:solidFill>
              <a:srgbClr val="D9534F"/>
            </a:solidFill>
            <a:prstDash val="solid"/>
            <a:tailEnd type="triangle"/>
          </a:ln>
        </p:spPr>
      </p:sp>
      <p:sp>
        <p:nvSpPr>
          <p:cNvPr id="25" name="Text 23"/>
          <p:cNvSpPr/>
          <p:nvPr/>
        </p:nvSpPr>
        <p:spPr>
          <a:xfrm>
            <a:off x="4297680" y="3291840"/>
            <a:ext cx="1554480" cy="274320"/>
          </a:xfrm>
          <a:prstGeom prst="rect">
            <a:avLst/>
          </a:prstGeom>
          <a:noFill/>
          <a:ln/>
        </p:spPr>
        <p:txBody>
          <a:bodyPr wrap="square" lIns="0" tIns="0" rIns="0" bIns="0" rtlCol="0" anchor="ctr"/>
          <a:lstStyle/>
          <a:p>
            <a:pPr algn="l" indent="0" marL="0">
              <a:buNone/>
            </a:pPr>
            <a:r>
              <a:rPr lang="en-US" sz="1050" b="1" dirty="0">
                <a:solidFill>
                  <a:srgbClr val="D9534F"/>
                </a:solidFill>
                <a:latin typeface="Calibri" pitchFamily="34" charset="0"/>
                <a:ea typeface="Calibri" pitchFamily="34" charset="-122"/>
                <a:cs typeface="Calibri" pitchFamily="34" charset="-120"/>
              </a:rPr>
              <a:t>warming</a:t>
            </a:r>
            <a:r>
              <a:rPr lang="en-US" sz="1050" dirty="0">
                <a:solidFill>
                  <a:srgbClr val="D9534F"/>
                </a:solidFill>
                <a:latin typeface="Calibri" pitchFamily="34" charset="0"/>
                <a:ea typeface="Calibri" pitchFamily="34" charset="-122"/>
                <a:cs typeface="Calibri" pitchFamily="34" charset="-120"/>
              </a:rPr>
              <a:t> effector</a:t>
            </a:r>
            <a:endParaRPr lang="en-US" sz="1050" dirty="0"/>
          </a:p>
        </p:txBody>
      </p:sp>
      <p:sp>
        <p:nvSpPr>
          <p:cNvPr id="26" name="Shape 24"/>
          <p:cNvSpPr/>
          <p:nvPr/>
        </p:nvSpPr>
        <p:spPr>
          <a:xfrm>
            <a:off x="4160520" y="2331720"/>
            <a:ext cx="91" cy="502920"/>
          </a:xfrm>
          <a:prstGeom prst="line">
            <a:avLst/>
          </a:prstGeom>
          <a:noFill/>
          <a:ln w="38100">
            <a:solidFill>
              <a:srgbClr val="3B7DD8"/>
            </a:solidFill>
            <a:prstDash val="solid"/>
            <a:tailEnd type="triangle"/>
          </a:ln>
        </p:spPr>
      </p:sp>
      <p:sp>
        <p:nvSpPr>
          <p:cNvPr id="27" name="Text 25"/>
          <p:cNvSpPr/>
          <p:nvPr/>
        </p:nvSpPr>
        <p:spPr>
          <a:xfrm>
            <a:off x="4297680" y="2286000"/>
            <a:ext cx="1554480" cy="274320"/>
          </a:xfrm>
          <a:prstGeom prst="rect">
            <a:avLst/>
          </a:prstGeom>
          <a:noFill/>
          <a:ln/>
        </p:spPr>
        <p:txBody>
          <a:bodyPr wrap="square" lIns="0" tIns="0" rIns="0" bIns="0" rtlCol="0" anchor="ctr"/>
          <a:lstStyle/>
          <a:p>
            <a:pPr algn="l" indent="0" marL="0">
              <a:buNone/>
            </a:pPr>
            <a:r>
              <a:rPr lang="en-US" sz="1050" b="1" dirty="0">
                <a:solidFill>
                  <a:srgbClr val="3B7DD8"/>
                </a:solidFill>
                <a:latin typeface="Calibri" pitchFamily="34" charset="0"/>
                <a:ea typeface="Calibri" pitchFamily="34" charset="-122"/>
                <a:cs typeface="Calibri" pitchFamily="34" charset="-120"/>
              </a:rPr>
              <a:t>cooling</a:t>
            </a:r>
            <a:r>
              <a:rPr lang="en-US" sz="1050" dirty="0">
                <a:solidFill>
                  <a:srgbClr val="3B7DD8"/>
                </a:solidFill>
                <a:latin typeface="Calibri" pitchFamily="34" charset="0"/>
                <a:ea typeface="Calibri" pitchFamily="34" charset="-122"/>
                <a:cs typeface="Calibri" pitchFamily="34" charset="-120"/>
              </a:rPr>
              <a:t> effector</a:t>
            </a:r>
            <a:endParaRPr lang="en-US" sz="1050" dirty="0"/>
          </a:p>
        </p:txBody>
      </p:sp>
      <p:sp>
        <p:nvSpPr>
          <p:cNvPr id="28" name="Shape 26"/>
          <p:cNvSpPr/>
          <p:nvPr/>
        </p:nvSpPr>
        <p:spPr>
          <a:xfrm>
            <a:off x="3154680" y="1691640"/>
            <a:ext cx="91" cy="2514600"/>
          </a:xfrm>
          <a:prstGeom prst="line">
            <a:avLst/>
          </a:prstGeom>
          <a:noFill/>
          <a:ln w="12700">
            <a:solidFill>
              <a:srgbClr val="CFE0DE"/>
            </a:solidFill>
            <a:prstDash val="dash"/>
          </a:ln>
        </p:spPr>
      </p:sp>
      <p:sp>
        <p:nvSpPr>
          <p:cNvPr id="29" name="Shape 27"/>
          <p:cNvSpPr/>
          <p:nvPr/>
        </p:nvSpPr>
        <p:spPr>
          <a:xfrm>
            <a:off x="594360" y="4343400"/>
            <a:ext cx="5212080" cy="960120"/>
          </a:xfrm>
          <a:prstGeom prst="roundRect">
            <a:avLst>
              <a:gd name="adj" fmla="val 5714"/>
            </a:avLst>
          </a:prstGeom>
          <a:solidFill>
            <a:srgbClr val="FFFFFF"/>
          </a:solidFill>
          <a:ln w="15875">
            <a:solidFill>
              <a:srgbClr val="B8730A"/>
            </a:solidFill>
            <a:prstDash val="solid"/>
          </a:ln>
        </p:spPr>
      </p:sp>
      <p:sp>
        <p:nvSpPr>
          <p:cNvPr id="30" name="Shape 28"/>
          <p:cNvSpPr/>
          <p:nvPr/>
        </p:nvSpPr>
        <p:spPr>
          <a:xfrm>
            <a:off x="813816" y="4568342"/>
            <a:ext cx="384048" cy="153619"/>
          </a:xfrm>
          <a:prstGeom prst="ellipse">
            <a:avLst/>
          </a:prstGeom>
          <a:solidFill>
            <a:srgbClr val="F4B6B9"/>
          </a:solidFill>
          <a:ln w="15875">
            <a:solidFill>
              <a:srgbClr val="A33E48"/>
            </a:solidFill>
            <a:prstDash val="solid"/>
          </a:ln>
        </p:spPr>
      </p:sp>
      <p:sp>
        <p:nvSpPr>
          <p:cNvPr id="31" name="Shape 29"/>
          <p:cNvSpPr/>
          <p:nvPr/>
        </p:nvSpPr>
        <p:spPr>
          <a:xfrm>
            <a:off x="896112" y="4595774"/>
            <a:ext cx="91" cy="98755"/>
          </a:xfrm>
          <a:prstGeom prst="line">
            <a:avLst/>
          </a:prstGeom>
          <a:noFill/>
          <a:ln w="9525">
            <a:solidFill>
              <a:srgbClr val="C76A72"/>
            </a:solidFill>
            <a:prstDash val="solid"/>
          </a:ln>
        </p:spPr>
      </p:sp>
      <p:sp>
        <p:nvSpPr>
          <p:cNvPr id="32" name="Shape 30"/>
          <p:cNvSpPr/>
          <p:nvPr/>
        </p:nvSpPr>
        <p:spPr>
          <a:xfrm>
            <a:off x="950976" y="4595774"/>
            <a:ext cx="91" cy="98755"/>
          </a:xfrm>
          <a:prstGeom prst="line">
            <a:avLst/>
          </a:prstGeom>
          <a:noFill/>
          <a:ln w="9525">
            <a:solidFill>
              <a:srgbClr val="C76A72"/>
            </a:solidFill>
            <a:prstDash val="solid"/>
          </a:ln>
        </p:spPr>
      </p:sp>
      <p:sp>
        <p:nvSpPr>
          <p:cNvPr id="33" name="Shape 31"/>
          <p:cNvSpPr/>
          <p:nvPr/>
        </p:nvSpPr>
        <p:spPr>
          <a:xfrm>
            <a:off x="1005840" y="4595774"/>
            <a:ext cx="91" cy="98755"/>
          </a:xfrm>
          <a:prstGeom prst="line">
            <a:avLst/>
          </a:prstGeom>
          <a:noFill/>
          <a:ln w="9525">
            <a:solidFill>
              <a:srgbClr val="C76A72"/>
            </a:solidFill>
            <a:prstDash val="solid"/>
          </a:ln>
        </p:spPr>
      </p:sp>
      <p:sp>
        <p:nvSpPr>
          <p:cNvPr id="34" name="Shape 32"/>
          <p:cNvSpPr/>
          <p:nvPr/>
        </p:nvSpPr>
        <p:spPr>
          <a:xfrm>
            <a:off x="1060704" y="4595774"/>
            <a:ext cx="91" cy="98755"/>
          </a:xfrm>
          <a:prstGeom prst="line">
            <a:avLst/>
          </a:prstGeom>
          <a:noFill/>
          <a:ln w="9525">
            <a:solidFill>
              <a:srgbClr val="C76A72"/>
            </a:solidFill>
            <a:prstDash val="solid"/>
          </a:ln>
        </p:spPr>
      </p:sp>
      <p:sp>
        <p:nvSpPr>
          <p:cNvPr id="35" name="Shape 33"/>
          <p:cNvSpPr/>
          <p:nvPr/>
        </p:nvSpPr>
        <p:spPr>
          <a:xfrm>
            <a:off x="1115568" y="4595774"/>
            <a:ext cx="91" cy="98755"/>
          </a:xfrm>
          <a:prstGeom prst="line">
            <a:avLst/>
          </a:prstGeom>
          <a:noFill/>
          <a:ln w="9525">
            <a:solidFill>
              <a:srgbClr val="C76A72"/>
            </a:solidFill>
            <a:prstDash val="solid"/>
          </a:ln>
        </p:spPr>
      </p:sp>
      <p:sp>
        <p:nvSpPr>
          <p:cNvPr id="36" name="Shape 34"/>
          <p:cNvSpPr/>
          <p:nvPr/>
        </p:nvSpPr>
        <p:spPr>
          <a:xfrm>
            <a:off x="3172968" y="4553712"/>
            <a:ext cx="146304" cy="146304"/>
          </a:xfrm>
          <a:prstGeom prst="triangle">
            <a:avLst/>
          </a:prstGeom>
          <a:solidFill>
            <a:srgbClr val="5B9BD5"/>
          </a:solidFill>
          <a:ln w="6350">
            <a:solidFill>
              <a:srgbClr val="5B9BD5"/>
            </a:solidFill>
            <a:prstDash val="solid"/>
          </a:ln>
        </p:spPr>
      </p:sp>
      <p:sp>
        <p:nvSpPr>
          <p:cNvPr id="37" name="Shape 35"/>
          <p:cNvSpPr/>
          <p:nvPr/>
        </p:nvSpPr>
        <p:spPr>
          <a:xfrm>
            <a:off x="3171139" y="4643323"/>
            <a:ext cx="149962" cy="149962"/>
          </a:xfrm>
          <a:prstGeom prst="ellipse">
            <a:avLst/>
          </a:prstGeom>
          <a:solidFill>
            <a:srgbClr val="5B9BD5"/>
          </a:solidFill>
          <a:ln w="9525">
            <a:solidFill>
              <a:srgbClr val="5B9BD5"/>
            </a:solidFill>
            <a:prstDash val="solid"/>
          </a:ln>
        </p:spPr>
      </p:sp>
      <p:sp>
        <p:nvSpPr>
          <p:cNvPr id="38" name="Text 36"/>
          <p:cNvSpPr/>
          <p:nvPr/>
        </p:nvSpPr>
        <p:spPr>
          <a:xfrm>
            <a:off x="1371600" y="4389120"/>
            <a:ext cx="1737360" cy="50292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Shivering</a:t>
            </a:r>
            <a:r>
              <a:rPr lang="en-US" sz="1000" dirty="0">
                <a:solidFill>
                  <a:srgbClr val="262B3A"/>
                </a:solidFill>
                <a:latin typeface="Calibri" pitchFamily="34" charset="0"/>
                <a:ea typeface="Calibri" pitchFamily="34" charset="-122"/>
                <a:cs typeface="Calibri" pitchFamily="34" charset="-120"/>
              </a:rPr>
              <a:t>: muscles contract, respiration releases heat</a:t>
            </a:r>
            <a:endParaRPr lang="en-US" sz="1000" dirty="0"/>
          </a:p>
        </p:txBody>
      </p:sp>
      <p:sp>
        <p:nvSpPr>
          <p:cNvPr id="39" name="Text 37"/>
          <p:cNvSpPr/>
          <p:nvPr/>
        </p:nvSpPr>
        <p:spPr>
          <a:xfrm>
            <a:off x="3429000" y="4389120"/>
            <a:ext cx="2286000" cy="50292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Sweating</a:t>
            </a:r>
            <a:r>
              <a:rPr lang="en-US" sz="1000" dirty="0">
                <a:solidFill>
                  <a:srgbClr val="262B3A"/>
                </a:solidFill>
                <a:latin typeface="Calibri" pitchFamily="34" charset="0"/>
                <a:ea typeface="Calibri" pitchFamily="34" charset="-122"/>
                <a:cs typeface="Calibri" pitchFamily="34" charset="-120"/>
              </a:rPr>
              <a:t>: sweat glands release sweat that cools the skin</a:t>
            </a:r>
            <a:endParaRPr lang="en-US" sz="1000" dirty="0"/>
          </a:p>
        </p:txBody>
      </p:sp>
      <p:sp>
        <p:nvSpPr>
          <p:cNvPr id="40" name="Text 38"/>
          <p:cNvSpPr/>
          <p:nvPr/>
        </p:nvSpPr>
        <p:spPr>
          <a:xfrm>
            <a:off x="685800" y="4965192"/>
            <a:ext cx="5029200" cy="274320"/>
          </a:xfrm>
          <a:prstGeom prst="rect">
            <a:avLst/>
          </a:prstGeom>
          <a:noFill/>
          <a:ln/>
        </p:spPr>
        <p:txBody>
          <a:bodyPr wrap="square" lIns="0" tIns="0" rIns="0" bIns="0" rtlCol="0" anchor="ctr"/>
          <a:lstStyle/>
          <a:p>
            <a:pPr algn="ctr" indent="0" marL="0">
              <a:buNone/>
            </a:pPr>
            <a:r>
              <a:rPr lang="en-US" sz="1000" i="1" dirty="0">
                <a:solidFill>
                  <a:srgbClr val="B8730A"/>
                </a:solidFill>
                <a:latin typeface="Calibri" pitchFamily="34" charset="0"/>
                <a:ea typeface="Calibri" pitchFamily="34" charset="-122"/>
                <a:cs typeface="Calibri" pitchFamily="34" charset="-120"/>
              </a:rPr>
              <a:t>Body example: one effector warms, the other cools</a:t>
            </a:r>
            <a:endParaRPr lang="en-US" sz="1000" dirty="0"/>
          </a:p>
        </p:txBody>
      </p:sp>
      <p:sp>
        <p:nvSpPr>
          <p:cNvPr id="41" name="Shape 39"/>
          <p:cNvSpPr/>
          <p:nvPr/>
        </p:nvSpPr>
        <p:spPr>
          <a:xfrm>
            <a:off x="6217920" y="1188720"/>
            <a:ext cx="5562295" cy="2697480"/>
          </a:xfrm>
          <a:prstGeom prst="roundRect">
            <a:avLst>
              <a:gd name="adj" fmla="val 2034"/>
            </a:avLst>
          </a:prstGeom>
          <a:solidFill>
            <a:srgbClr val="F4FAF9"/>
          </a:solidFill>
          <a:ln w="9525">
            <a:solidFill>
              <a:srgbClr val="CFE0DE"/>
            </a:solidFill>
            <a:prstDash val="solid"/>
          </a:ln>
        </p:spPr>
      </p:sp>
      <p:sp>
        <p:nvSpPr>
          <p:cNvPr id="42" name="Text 4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Two effectors, opposite effects</a:t>
            </a:r>
            <a:endParaRPr lang="en-US" sz="1300" dirty="0"/>
          </a:p>
        </p:txBody>
      </p:sp>
      <p:sp>
        <p:nvSpPr>
          <p:cNvPr id="43" name="Text 41"/>
          <p:cNvSpPr/>
          <p:nvPr/>
        </p:nvSpPr>
        <p:spPr>
          <a:xfrm>
            <a:off x="6382512" y="1609344"/>
            <a:ext cx="5233111" cy="2203704"/>
          </a:xfrm>
          <a:prstGeom prst="rect">
            <a:avLst/>
          </a:prstGeom>
          <a:noFill/>
          <a:ln/>
        </p:spPr>
        <p:txBody>
          <a:bodyPr wrap="square" lIns="0" tIns="0" rIns="0" bIns="0" rtlCol="0" anchor="t"/>
          <a:lstStyle/>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Antagonistic</a:t>
            </a:r>
            <a:r>
              <a:rPr lang="en-US" sz="1200" dirty="0">
                <a:solidFill>
                  <a:srgbClr val="262B3A"/>
                </a:solidFill>
                <a:latin typeface="Calibri" pitchFamily="34" charset="0"/>
                <a:ea typeface="Calibri" pitchFamily="34" charset="-122"/>
                <a:cs typeface="Calibri" pitchFamily="34" charset="-120"/>
              </a:rPr>
              <a:t> effectors have </a:t>
            </a:r>
            <a:r>
              <a:rPr lang="en-US" sz="1200" b="1" dirty="0">
                <a:solidFill>
                  <a:srgbClr val="262B3A"/>
                </a:solidFill>
                <a:latin typeface="Calibri" pitchFamily="34" charset="0"/>
                <a:ea typeface="Calibri" pitchFamily="34" charset="-122"/>
                <a:cs typeface="Calibri" pitchFamily="34" charset="-120"/>
              </a:rPr>
              <a:t>opposite</a:t>
            </a:r>
            <a:r>
              <a:rPr lang="en-US" sz="1200" dirty="0">
                <a:solidFill>
                  <a:srgbClr val="262B3A"/>
                </a:solidFill>
                <a:latin typeface="Calibri" pitchFamily="34" charset="0"/>
                <a:ea typeface="Calibri" pitchFamily="34" charset="-122"/>
                <a:cs typeface="Calibri" pitchFamily="34" charset="-120"/>
              </a:rPr>
              <a:t> effects on the same condition.</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With only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effector, the body can push the level one way; it must wait for it to drift back the other way.</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With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it can correct a change in </a:t>
            </a:r>
            <a:r>
              <a:rPr lang="en-US" sz="1200" b="1" dirty="0">
                <a:solidFill>
                  <a:srgbClr val="262B3A"/>
                </a:solidFill>
                <a:latin typeface="Calibri" pitchFamily="34" charset="0"/>
                <a:ea typeface="Calibri" pitchFamily="34" charset="-122"/>
                <a:cs typeface="Calibri" pitchFamily="34" charset="-120"/>
              </a:rPr>
              <a:t>either</a:t>
            </a:r>
            <a:r>
              <a:rPr lang="en-US" sz="1200" dirty="0">
                <a:solidFill>
                  <a:srgbClr val="262B3A"/>
                </a:solidFill>
                <a:latin typeface="Calibri" pitchFamily="34" charset="0"/>
                <a:ea typeface="Calibri" pitchFamily="34" charset="-122"/>
                <a:cs typeface="Calibri" pitchFamily="34" charset="-120"/>
              </a:rPr>
              <a:t> direction straight away, so the level stays </a:t>
            </a:r>
            <a:r>
              <a:rPr lang="en-US" sz="1200" b="1" dirty="0">
                <a:solidFill>
                  <a:srgbClr val="262B3A"/>
                </a:solidFill>
                <a:latin typeface="Calibri" pitchFamily="34" charset="0"/>
                <a:ea typeface="Calibri" pitchFamily="34" charset="-122"/>
                <a:cs typeface="Calibri" pitchFamily="34" charset="-120"/>
              </a:rPr>
              <a:t>closer</a:t>
            </a:r>
            <a:r>
              <a:rPr lang="en-US" sz="1200" dirty="0">
                <a:solidFill>
                  <a:srgbClr val="262B3A"/>
                </a:solidFill>
                <a:latin typeface="Calibri" pitchFamily="34" charset="0"/>
                <a:ea typeface="Calibri" pitchFamily="34" charset="-122"/>
                <a:cs typeface="Calibri" pitchFamily="34" charset="-120"/>
              </a:rPr>
              <a:t> to the set point.</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Like driving: an </a:t>
            </a:r>
            <a:r>
              <a:rPr lang="en-US" sz="1200" b="1" dirty="0">
                <a:solidFill>
                  <a:srgbClr val="262B3A"/>
                </a:solidFill>
                <a:latin typeface="Calibri" pitchFamily="34" charset="0"/>
                <a:ea typeface="Calibri" pitchFamily="34" charset="-122"/>
                <a:cs typeface="Calibri" pitchFamily="34" charset="-120"/>
              </a:rPr>
              <a:t>accelerator</a:t>
            </a:r>
            <a:r>
              <a:rPr lang="en-US" sz="1200" dirty="0">
                <a:solidFill>
                  <a:srgbClr val="262B3A"/>
                </a:solidFill>
                <a:latin typeface="Calibri" pitchFamily="34" charset="0"/>
                <a:ea typeface="Calibri" pitchFamily="34" charset="-122"/>
                <a:cs typeface="Calibri" pitchFamily="34" charset="-120"/>
              </a:rPr>
              <a:t> and a </a:t>
            </a:r>
            <a:r>
              <a:rPr lang="en-US" sz="1200" b="1" dirty="0">
                <a:solidFill>
                  <a:srgbClr val="262B3A"/>
                </a:solidFill>
                <a:latin typeface="Calibri" pitchFamily="34" charset="0"/>
                <a:ea typeface="Calibri" pitchFamily="34" charset="-122"/>
                <a:cs typeface="Calibri" pitchFamily="34" charset="-120"/>
              </a:rPr>
              <a:t>brake</a:t>
            </a:r>
            <a:r>
              <a:rPr lang="en-US" sz="1200" dirty="0">
                <a:solidFill>
                  <a:srgbClr val="262B3A"/>
                </a:solidFill>
                <a:latin typeface="Calibri" pitchFamily="34" charset="0"/>
                <a:ea typeface="Calibri" pitchFamily="34" charset="-122"/>
                <a:cs typeface="Calibri" pitchFamily="34" charset="-120"/>
              </a:rPr>
              <a:t> give better control of speed than an accelerator alone.</a:t>
            </a:r>
            <a:endParaRPr lang="en-US" sz="1200" dirty="0"/>
          </a:p>
        </p:txBody>
      </p:sp>
      <p:sp>
        <p:nvSpPr>
          <p:cNvPr id="44" name="Shape 42"/>
          <p:cNvSpPr/>
          <p:nvPr/>
        </p:nvSpPr>
        <p:spPr>
          <a:xfrm>
            <a:off x="6217920" y="4023360"/>
            <a:ext cx="5562295" cy="1691640"/>
          </a:xfrm>
          <a:prstGeom prst="roundRect">
            <a:avLst>
              <a:gd name="adj" fmla="val 3243"/>
            </a:avLst>
          </a:prstGeom>
          <a:solidFill>
            <a:srgbClr val="FFF4E0"/>
          </a:solidFill>
          <a:ln w="9525">
            <a:solidFill>
              <a:srgbClr val="F1D9A8"/>
            </a:solidFill>
            <a:prstDash val="solid"/>
          </a:ln>
        </p:spPr>
      </p:sp>
      <p:sp>
        <p:nvSpPr>
          <p:cNvPr id="45" name="Text 43"/>
          <p:cNvSpPr/>
          <p:nvPr/>
        </p:nvSpPr>
        <p:spPr>
          <a:xfrm>
            <a:off x="6382512" y="40965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46" name="Text 44"/>
          <p:cNvSpPr/>
          <p:nvPr/>
        </p:nvSpPr>
        <p:spPr>
          <a:xfrm>
            <a:off x="6382512" y="4407408"/>
            <a:ext cx="5233111"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why antagonistic effectors keep body temperature more constant than one effector.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One effector   </a:t>
            </a:r>
            <a:r>
              <a:rPr lang="en-US" sz="1050" dirty="0">
                <a:solidFill>
                  <a:srgbClr val="262B3A"/>
                </a:solidFill>
                <a:latin typeface="Calibri" pitchFamily="34" charset="0"/>
                <a:ea typeface="Calibri" pitchFamily="34" charset="-122"/>
                <a:cs typeface="Calibri" pitchFamily="34" charset="-120"/>
              </a:rPr>
              <a:t>can only push temperature one way; the other way is slow</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Two effectors   </a:t>
            </a:r>
            <a:r>
              <a:rPr lang="en-US" sz="1050" dirty="0">
                <a:solidFill>
                  <a:srgbClr val="262B3A"/>
                </a:solidFill>
                <a:latin typeface="Calibri" pitchFamily="34" charset="0"/>
                <a:ea typeface="Calibri" pitchFamily="34" charset="-122"/>
                <a:cs typeface="Calibri" pitchFamily="34" charset="-120"/>
              </a:rPr>
              <a:t>one raises it, the other lowers it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any change is corrected quickly: smaller ups and downs</a:t>
            </a:r>
            <a:endParaRPr lang="en-US" sz="1050" dirty="0"/>
          </a:p>
        </p:txBody>
      </p:sp>
      <p:sp>
        <p:nvSpPr>
          <p:cNvPr id="47" name="Shape 45"/>
          <p:cNvSpPr/>
          <p:nvPr/>
        </p:nvSpPr>
        <p:spPr>
          <a:xfrm>
            <a:off x="411480" y="5833872"/>
            <a:ext cx="11368735" cy="530352"/>
          </a:xfrm>
          <a:prstGeom prst="rect">
            <a:avLst/>
          </a:prstGeom>
          <a:solidFill>
            <a:srgbClr val="FFF4E0"/>
          </a:solidFill>
          <a:ln w="6350">
            <a:solidFill>
              <a:srgbClr val="F1D9A8"/>
            </a:solidFill>
            <a:prstDash val="solid"/>
          </a:ln>
        </p:spPr>
      </p:sp>
      <p:sp>
        <p:nvSpPr>
          <p:cNvPr id="48" name="Shape 46"/>
          <p:cNvSpPr/>
          <p:nvPr/>
        </p:nvSpPr>
        <p:spPr>
          <a:xfrm>
            <a:off x="411480" y="5833872"/>
            <a:ext cx="82296" cy="530352"/>
          </a:xfrm>
          <a:prstGeom prst="rect">
            <a:avLst/>
          </a:prstGeom>
          <a:solidFill>
            <a:srgbClr val="E39A2F"/>
          </a:solidFill>
          <a:ln w="12700">
            <a:solidFill>
              <a:srgbClr val="E39A2F"/>
            </a:solidFill>
            <a:prstDash val="solid"/>
          </a:ln>
        </p:spPr>
      </p:sp>
      <p:sp>
        <p:nvSpPr>
          <p:cNvPr id="49" name="Text 4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pair are antagonistic for body temperature: (a) sweating and shivering (b) shivering and breathing faster? Explain your choice.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control systems, negative feedback, antagonistic effectors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three</a:t>
            </a:r>
            <a:r>
              <a:rPr lang="en-US" sz="1250" dirty="0">
                <a:solidFill>
                  <a:srgbClr val="262B3A"/>
                </a:solidFill>
                <a:latin typeface="Calibri" pitchFamily="34" charset="0"/>
                <a:ea typeface="Calibri" pitchFamily="34" charset="-122"/>
                <a:cs typeface="Calibri" pitchFamily="34" charset="-120"/>
              </a:rPr>
              <a:t> main parts of a control system in homeostasis, in order.</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ways that information travels from the coordination centre to the effectors.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what is meant by </a:t>
            </a:r>
            <a:r>
              <a:rPr lang="en-US" sz="1250" b="1" dirty="0">
                <a:solidFill>
                  <a:srgbClr val="262B3A"/>
                </a:solidFill>
                <a:latin typeface="Calibri" pitchFamily="34" charset="0"/>
                <a:ea typeface="Calibri" pitchFamily="34" charset="-122"/>
                <a:cs typeface="Calibri" pitchFamily="34" charset="-120"/>
              </a:rPr>
              <a:t>negative feedback</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having </a:t>
            </a:r>
            <a:r>
              <a:rPr lang="en-US" sz="1250" b="1" dirty="0">
                <a:solidFill>
                  <a:srgbClr val="262B3A"/>
                </a:solidFill>
                <a:latin typeface="Calibri" pitchFamily="34" charset="0"/>
                <a:ea typeface="Calibri" pitchFamily="34" charset="-122"/>
                <a:cs typeface="Calibri" pitchFamily="34" charset="-120"/>
              </a:rPr>
              <a:t>antagonistic</a:t>
            </a:r>
            <a:r>
              <a:rPr lang="en-US" sz="1250" dirty="0">
                <a:solidFill>
                  <a:srgbClr val="262B3A"/>
                </a:solidFill>
                <a:latin typeface="Calibri" pitchFamily="34" charset="0"/>
                <a:ea typeface="Calibri" pitchFamily="34" charset="-122"/>
                <a:cs typeface="Calibri" pitchFamily="34" charset="-120"/>
              </a:rPr>
              <a:t> effectors gives better control than having one effector.</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Suggested practical: modelling control at 40 °C</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keep a beaker of water at 40 °C with one effector, then with antagonistic effectors</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run A: Bunsen burner only • run B: Bunsen burner and ice</a:t>
            </a:r>
            <a:endParaRPr lang="en-US" sz="1000" dirty="0"/>
          </a:p>
        </p:txBody>
      </p:sp>
      <p:sp>
        <p:nvSpPr>
          <p:cNvPr id="12" name="Text 10"/>
          <p:cNvSpPr/>
          <p:nvPr/>
        </p:nvSpPr>
        <p:spPr>
          <a:xfrm>
            <a:off x="548640" y="1298448"/>
            <a:ext cx="2651760" cy="256032"/>
          </a:xfrm>
          <a:prstGeom prst="rect">
            <a:avLst/>
          </a:prstGeom>
          <a:noFill/>
          <a:ln/>
        </p:spPr>
        <p:txBody>
          <a:bodyPr wrap="square" lIns="0" tIns="0" rIns="0" bIns="0" rtlCol="0" anchor="ctr"/>
          <a:lstStyle/>
          <a:p>
            <a:pPr algn="l" indent="0" marL="0">
              <a:buNone/>
            </a:pPr>
            <a:r>
              <a:rPr lang="en-US" sz="1150" b="1" dirty="0">
                <a:solidFill>
                  <a:srgbClr val="D9534F"/>
                </a:solidFill>
                <a:latin typeface="Calibri" pitchFamily="34" charset="0"/>
                <a:ea typeface="Calibri" pitchFamily="34" charset="-122"/>
                <a:cs typeface="Calibri" pitchFamily="34" charset="-120"/>
              </a:rPr>
              <a:t>Run A: one effector</a:t>
            </a:r>
            <a:endParaRPr lang="en-US" sz="1150" dirty="0"/>
          </a:p>
        </p:txBody>
      </p:sp>
      <p:sp>
        <p:nvSpPr>
          <p:cNvPr id="13" name="Text 11"/>
          <p:cNvSpPr/>
          <p:nvPr/>
        </p:nvSpPr>
        <p:spPr>
          <a:xfrm>
            <a:off x="3246120" y="1298448"/>
            <a:ext cx="2651760" cy="256032"/>
          </a:xfrm>
          <a:prstGeom prst="rect">
            <a:avLst/>
          </a:prstGeom>
          <a:noFill/>
          <a:ln/>
        </p:spPr>
        <p:txBody>
          <a:bodyPr wrap="square" lIns="0" tIns="0" rIns="0" bIns="0" rtlCol="0" anchor="ctr"/>
          <a:lstStyle/>
          <a:p>
            <a:pPr algn="l" indent="0" marL="0">
              <a:buNone/>
            </a:pPr>
            <a:r>
              <a:rPr lang="en-US" sz="1150" b="1" dirty="0">
                <a:solidFill>
                  <a:srgbClr val="3B7DD8"/>
                </a:solidFill>
                <a:latin typeface="Calibri" pitchFamily="34" charset="0"/>
                <a:ea typeface="Calibri" pitchFamily="34" charset="-122"/>
                <a:cs typeface="Calibri" pitchFamily="34" charset="-120"/>
              </a:rPr>
              <a:t>Run B: antagonistic effectors</a:t>
            </a:r>
            <a:endParaRPr lang="en-US" sz="1150" dirty="0"/>
          </a:p>
        </p:txBody>
      </p:sp>
      <p:sp>
        <p:nvSpPr>
          <p:cNvPr id="14" name="Shape 12"/>
          <p:cNvSpPr/>
          <p:nvPr/>
        </p:nvSpPr>
        <p:spPr>
          <a:xfrm>
            <a:off x="1733702" y="5005426"/>
            <a:ext cx="555955" cy="69494"/>
          </a:xfrm>
          <a:prstGeom prst="rect">
            <a:avLst/>
          </a:prstGeom>
          <a:solidFill>
            <a:srgbClr val="5A6275"/>
          </a:solidFill>
          <a:ln w="12700">
            <a:solidFill>
              <a:srgbClr val="4A5262"/>
            </a:solidFill>
            <a:prstDash val="solid"/>
          </a:ln>
        </p:spPr>
      </p:sp>
      <p:sp>
        <p:nvSpPr>
          <p:cNvPr id="15" name="Shape 13"/>
          <p:cNvSpPr/>
          <p:nvPr/>
        </p:nvSpPr>
        <p:spPr>
          <a:xfrm>
            <a:off x="1959559" y="4449470"/>
            <a:ext cx="104242" cy="555955"/>
          </a:xfrm>
          <a:prstGeom prst="rect">
            <a:avLst/>
          </a:prstGeom>
          <a:solidFill>
            <a:srgbClr val="8C96A8"/>
          </a:solidFill>
          <a:ln w="9525">
            <a:solidFill>
              <a:srgbClr val="5A6275"/>
            </a:solidFill>
            <a:prstDash val="solid"/>
          </a:ln>
        </p:spPr>
      </p:sp>
      <p:sp>
        <p:nvSpPr>
          <p:cNvPr id="16" name="Shape 14"/>
          <p:cNvSpPr/>
          <p:nvPr/>
        </p:nvSpPr>
        <p:spPr>
          <a:xfrm>
            <a:off x="1933499" y="4814316"/>
            <a:ext cx="156362" cy="86868"/>
          </a:xfrm>
          <a:prstGeom prst="rect">
            <a:avLst/>
          </a:prstGeom>
          <a:solidFill>
            <a:srgbClr val="6B7385"/>
          </a:solidFill>
          <a:ln w="12700">
            <a:solidFill>
              <a:srgbClr val="4A5262"/>
            </a:solidFill>
            <a:prstDash val="solid"/>
          </a:ln>
        </p:spPr>
      </p:sp>
      <p:sp>
        <p:nvSpPr>
          <p:cNvPr id="17" name="Shape 15"/>
          <p:cNvSpPr/>
          <p:nvPr/>
        </p:nvSpPr>
        <p:spPr>
          <a:xfrm flipH="1">
            <a:off x="1533906" y="5040173"/>
            <a:ext cx="199796" cy="91"/>
          </a:xfrm>
          <a:prstGeom prst="line">
            <a:avLst/>
          </a:prstGeom>
          <a:noFill/>
          <a:ln w="38100">
            <a:solidFill>
              <a:srgbClr val="D9822B"/>
            </a:solidFill>
            <a:prstDash val="solid"/>
          </a:ln>
        </p:spPr>
      </p:sp>
      <p:sp>
        <p:nvSpPr>
          <p:cNvPr id="18" name="Shape 16"/>
          <p:cNvSpPr/>
          <p:nvPr/>
        </p:nvSpPr>
        <p:spPr>
          <a:xfrm>
            <a:off x="1946529" y="4128059"/>
            <a:ext cx="130302" cy="330098"/>
          </a:xfrm>
          <a:prstGeom prst="ellipse">
            <a:avLst/>
          </a:prstGeom>
          <a:solidFill>
            <a:srgbClr val="7FA9E0">
              <a:alpha val="85000"/>
            </a:srgbClr>
          </a:solidFill>
          <a:ln w="9525">
            <a:solidFill>
              <a:srgbClr val="3B6FB6"/>
            </a:solidFill>
            <a:prstDash val="solid"/>
          </a:ln>
        </p:spPr>
      </p:sp>
      <p:sp>
        <p:nvSpPr>
          <p:cNvPr id="19" name="Shape 17"/>
          <p:cNvSpPr/>
          <p:nvPr/>
        </p:nvSpPr>
        <p:spPr>
          <a:xfrm>
            <a:off x="1981276" y="4284421"/>
            <a:ext cx="60808" cy="156362"/>
          </a:xfrm>
          <a:prstGeom prst="ellipse">
            <a:avLst/>
          </a:prstGeom>
          <a:solidFill>
            <a:srgbClr val="2F5FA8"/>
          </a:solidFill>
          <a:ln/>
        </p:spPr>
      </p:sp>
      <p:sp>
        <p:nvSpPr>
          <p:cNvPr id="20" name="Shape 18"/>
          <p:cNvSpPr/>
          <p:nvPr/>
        </p:nvSpPr>
        <p:spPr>
          <a:xfrm flipH="1">
            <a:off x="1371600" y="3931920"/>
            <a:ext cx="146304" cy="1143000"/>
          </a:xfrm>
          <a:prstGeom prst="line">
            <a:avLst/>
          </a:prstGeom>
          <a:noFill/>
          <a:ln w="31750">
            <a:solidFill>
              <a:srgbClr val="4A5262"/>
            </a:solidFill>
            <a:prstDash val="solid"/>
          </a:ln>
        </p:spPr>
      </p:sp>
      <p:sp>
        <p:nvSpPr>
          <p:cNvPr id="21" name="Shape 19"/>
          <p:cNvSpPr/>
          <p:nvPr/>
        </p:nvSpPr>
        <p:spPr>
          <a:xfrm>
            <a:off x="2505456" y="3931920"/>
            <a:ext cx="146304" cy="1143000"/>
          </a:xfrm>
          <a:prstGeom prst="line">
            <a:avLst/>
          </a:prstGeom>
          <a:noFill/>
          <a:ln w="31750">
            <a:solidFill>
              <a:srgbClr val="4A5262"/>
            </a:solidFill>
            <a:prstDash val="solid"/>
          </a:ln>
        </p:spPr>
      </p:sp>
      <p:sp>
        <p:nvSpPr>
          <p:cNvPr id="22" name="Shape 20"/>
          <p:cNvSpPr/>
          <p:nvPr/>
        </p:nvSpPr>
        <p:spPr>
          <a:xfrm>
            <a:off x="1444752" y="3904488"/>
            <a:ext cx="1133856" cy="54864"/>
          </a:xfrm>
          <a:prstGeom prst="rect">
            <a:avLst/>
          </a:prstGeom>
          <a:solidFill>
            <a:srgbClr val="4A5262"/>
          </a:solidFill>
          <a:ln/>
        </p:spPr>
      </p:sp>
      <p:sp>
        <p:nvSpPr>
          <p:cNvPr id="23" name="Shape 21"/>
          <p:cNvSpPr/>
          <p:nvPr/>
        </p:nvSpPr>
        <p:spPr>
          <a:xfrm>
            <a:off x="1490472" y="3867912"/>
            <a:ext cx="1042416" cy="36576"/>
          </a:xfrm>
          <a:prstGeom prst="rect">
            <a:avLst/>
          </a:prstGeom>
          <a:solidFill>
            <a:srgbClr val="B8C0CD"/>
          </a:solidFill>
          <a:ln w="6350">
            <a:solidFill>
              <a:srgbClr val="8C96A8"/>
            </a:solidFill>
            <a:prstDash val="solid"/>
          </a:ln>
        </p:spPr>
      </p:sp>
      <p:sp>
        <p:nvSpPr>
          <p:cNvPr id="24" name="Shape 22"/>
          <p:cNvSpPr/>
          <p:nvPr/>
        </p:nvSpPr>
        <p:spPr>
          <a:xfrm>
            <a:off x="1577340" y="3176626"/>
            <a:ext cx="868680" cy="691286"/>
          </a:xfrm>
          <a:prstGeom prst="rect">
            <a:avLst/>
          </a:prstGeom>
          <a:solidFill>
            <a:srgbClr val="BFD9F2"/>
          </a:solidFill>
          <a:ln/>
        </p:spPr>
      </p:sp>
      <p:sp>
        <p:nvSpPr>
          <p:cNvPr id="25" name="Shape 23"/>
          <p:cNvSpPr/>
          <p:nvPr/>
        </p:nvSpPr>
        <p:spPr>
          <a:xfrm>
            <a:off x="1577340" y="2907792"/>
            <a:ext cx="91" cy="960120"/>
          </a:xfrm>
          <a:prstGeom prst="line">
            <a:avLst/>
          </a:prstGeom>
          <a:noFill/>
          <a:ln w="25400">
            <a:solidFill>
              <a:srgbClr val="133536"/>
            </a:solidFill>
            <a:prstDash val="solid"/>
          </a:ln>
        </p:spPr>
      </p:sp>
      <p:sp>
        <p:nvSpPr>
          <p:cNvPr id="26" name="Shape 24"/>
          <p:cNvSpPr/>
          <p:nvPr/>
        </p:nvSpPr>
        <p:spPr>
          <a:xfrm>
            <a:off x="2446020" y="2907792"/>
            <a:ext cx="91" cy="960120"/>
          </a:xfrm>
          <a:prstGeom prst="line">
            <a:avLst/>
          </a:prstGeom>
          <a:noFill/>
          <a:ln w="25400">
            <a:solidFill>
              <a:srgbClr val="133536"/>
            </a:solidFill>
            <a:prstDash val="solid"/>
          </a:ln>
        </p:spPr>
      </p:sp>
      <p:sp>
        <p:nvSpPr>
          <p:cNvPr id="27" name="Shape 25"/>
          <p:cNvSpPr/>
          <p:nvPr/>
        </p:nvSpPr>
        <p:spPr>
          <a:xfrm>
            <a:off x="1577340" y="3867912"/>
            <a:ext cx="868680" cy="91"/>
          </a:xfrm>
          <a:prstGeom prst="line">
            <a:avLst/>
          </a:prstGeom>
          <a:noFill/>
          <a:ln w="25400">
            <a:solidFill>
              <a:srgbClr val="133536"/>
            </a:solidFill>
            <a:prstDash val="solid"/>
          </a:ln>
        </p:spPr>
      </p:sp>
      <p:sp>
        <p:nvSpPr>
          <p:cNvPr id="28" name="Shape 26"/>
          <p:cNvSpPr/>
          <p:nvPr/>
        </p:nvSpPr>
        <p:spPr>
          <a:xfrm>
            <a:off x="1577340" y="3176626"/>
            <a:ext cx="868680" cy="91"/>
          </a:xfrm>
          <a:prstGeom prst="line">
            <a:avLst/>
          </a:prstGeom>
          <a:noFill/>
          <a:ln w="15875">
            <a:solidFill>
              <a:srgbClr val="5B9BD5"/>
            </a:solidFill>
            <a:prstDash val="solid"/>
          </a:ln>
        </p:spPr>
      </p:sp>
      <p:sp>
        <p:nvSpPr>
          <p:cNvPr id="29" name="Shape 27"/>
          <p:cNvSpPr/>
          <p:nvPr/>
        </p:nvSpPr>
        <p:spPr>
          <a:xfrm>
            <a:off x="2130552" y="2221992"/>
            <a:ext cx="91440" cy="1463040"/>
          </a:xfrm>
          <a:prstGeom prst="roundRect">
            <a:avLst>
              <a:gd name="adj" fmla="val 50000"/>
            </a:avLst>
          </a:prstGeom>
          <a:solidFill>
            <a:srgbClr val="F7FAFC"/>
          </a:solidFill>
          <a:ln w="12700">
            <a:solidFill>
              <a:srgbClr val="6B7385"/>
            </a:solidFill>
            <a:prstDash val="solid"/>
          </a:ln>
        </p:spPr>
      </p:sp>
      <p:sp>
        <p:nvSpPr>
          <p:cNvPr id="30" name="Shape 28"/>
          <p:cNvSpPr/>
          <p:nvPr/>
        </p:nvSpPr>
        <p:spPr>
          <a:xfrm>
            <a:off x="2156155" y="2785628"/>
            <a:ext cx="40234" cy="867400"/>
          </a:xfrm>
          <a:prstGeom prst="rect">
            <a:avLst/>
          </a:prstGeom>
          <a:solidFill>
            <a:srgbClr val="C8414C"/>
          </a:solidFill>
          <a:ln/>
        </p:spPr>
      </p:sp>
      <p:sp>
        <p:nvSpPr>
          <p:cNvPr id="31" name="Shape 29"/>
          <p:cNvSpPr/>
          <p:nvPr/>
        </p:nvSpPr>
        <p:spPr>
          <a:xfrm>
            <a:off x="2112264" y="3621024"/>
            <a:ext cx="128016" cy="128016"/>
          </a:xfrm>
          <a:prstGeom prst="ellipse">
            <a:avLst/>
          </a:prstGeom>
          <a:solidFill>
            <a:srgbClr val="C8414C"/>
          </a:solidFill>
          <a:ln w="12700">
            <a:solidFill>
              <a:srgbClr val="8E2A33"/>
            </a:solidFill>
            <a:prstDash val="solid"/>
          </a:ln>
        </p:spPr>
      </p:sp>
      <p:sp>
        <p:nvSpPr>
          <p:cNvPr id="32" name="Shape 30"/>
          <p:cNvSpPr/>
          <p:nvPr/>
        </p:nvSpPr>
        <p:spPr>
          <a:xfrm>
            <a:off x="914400" y="5074920"/>
            <a:ext cx="2194560" cy="91"/>
          </a:xfrm>
          <a:prstGeom prst="line">
            <a:avLst/>
          </a:prstGeom>
          <a:noFill/>
          <a:ln w="25400">
            <a:solidFill>
              <a:srgbClr val="8B6B3E"/>
            </a:solidFill>
            <a:prstDash val="solid"/>
          </a:ln>
        </p:spPr>
      </p:sp>
      <p:sp>
        <p:nvSpPr>
          <p:cNvPr id="33" name="Shape 31"/>
          <p:cNvSpPr/>
          <p:nvPr/>
        </p:nvSpPr>
        <p:spPr>
          <a:xfrm>
            <a:off x="4065422" y="5005426"/>
            <a:ext cx="555955" cy="69494"/>
          </a:xfrm>
          <a:prstGeom prst="rect">
            <a:avLst/>
          </a:prstGeom>
          <a:solidFill>
            <a:srgbClr val="5A6275"/>
          </a:solidFill>
          <a:ln w="12700">
            <a:solidFill>
              <a:srgbClr val="4A5262"/>
            </a:solidFill>
            <a:prstDash val="solid"/>
          </a:ln>
        </p:spPr>
      </p:sp>
      <p:sp>
        <p:nvSpPr>
          <p:cNvPr id="34" name="Shape 32"/>
          <p:cNvSpPr/>
          <p:nvPr/>
        </p:nvSpPr>
        <p:spPr>
          <a:xfrm>
            <a:off x="4291279" y="4449470"/>
            <a:ext cx="104242" cy="555955"/>
          </a:xfrm>
          <a:prstGeom prst="rect">
            <a:avLst/>
          </a:prstGeom>
          <a:solidFill>
            <a:srgbClr val="8C96A8"/>
          </a:solidFill>
          <a:ln w="9525">
            <a:solidFill>
              <a:srgbClr val="5A6275"/>
            </a:solidFill>
            <a:prstDash val="solid"/>
          </a:ln>
        </p:spPr>
      </p:sp>
      <p:sp>
        <p:nvSpPr>
          <p:cNvPr id="35" name="Shape 33"/>
          <p:cNvSpPr/>
          <p:nvPr/>
        </p:nvSpPr>
        <p:spPr>
          <a:xfrm>
            <a:off x="4265219" y="4814316"/>
            <a:ext cx="156362" cy="86868"/>
          </a:xfrm>
          <a:prstGeom prst="rect">
            <a:avLst/>
          </a:prstGeom>
          <a:solidFill>
            <a:srgbClr val="6B7385"/>
          </a:solidFill>
          <a:ln w="12700">
            <a:solidFill>
              <a:srgbClr val="4A5262"/>
            </a:solidFill>
            <a:prstDash val="solid"/>
          </a:ln>
        </p:spPr>
      </p:sp>
      <p:sp>
        <p:nvSpPr>
          <p:cNvPr id="36" name="Shape 34"/>
          <p:cNvSpPr/>
          <p:nvPr/>
        </p:nvSpPr>
        <p:spPr>
          <a:xfrm flipH="1">
            <a:off x="3865626" y="5040173"/>
            <a:ext cx="199796" cy="91"/>
          </a:xfrm>
          <a:prstGeom prst="line">
            <a:avLst/>
          </a:prstGeom>
          <a:noFill/>
          <a:ln w="38100">
            <a:solidFill>
              <a:srgbClr val="D9822B"/>
            </a:solidFill>
            <a:prstDash val="solid"/>
          </a:ln>
        </p:spPr>
      </p:sp>
      <p:sp>
        <p:nvSpPr>
          <p:cNvPr id="37" name="Shape 35"/>
          <p:cNvSpPr/>
          <p:nvPr/>
        </p:nvSpPr>
        <p:spPr>
          <a:xfrm>
            <a:off x="4278249" y="4128059"/>
            <a:ext cx="130302" cy="330098"/>
          </a:xfrm>
          <a:prstGeom prst="ellipse">
            <a:avLst/>
          </a:prstGeom>
          <a:solidFill>
            <a:srgbClr val="7FA9E0">
              <a:alpha val="85000"/>
            </a:srgbClr>
          </a:solidFill>
          <a:ln w="9525">
            <a:solidFill>
              <a:srgbClr val="3B6FB6"/>
            </a:solidFill>
            <a:prstDash val="solid"/>
          </a:ln>
        </p:spPr>
      </p:sp>
      <p:sp>
        <p:nvSpPr>
          <p:cNvPr id="38" name="Shape 36"/>
          <p:cNvSpPr/>
          <p:nvPr/>
        </p:nvSpPr>
        <p:spPr>
          <a:xfrm>
            <a:off x="4312996" y="4284421"/>
            <a:ext cx="60808" cy="156362"/>
          </a:xfrm>
          <a:prstGeom prst="ellipse">
            <a:avLst/>
          </a:prstGeom>
          <a:solidFill>
            <a:srgbClr val="2F5FA8"/>
          </a:solidFill>
          <a:ln/>
        </p:spPr>
      </p:sp>
      <p:sp>
        <p:nvSpPr>
          <p:cNvPr id="39" name="Shape 37"/>
          <p:cNvSpPr/>
          <p:nvPr/>
        </p:nvSpPr>
        <p:spPr>
          <a:xfrm flipH="1">
            <a:off x="3703320" y="3931920"/>
            <a:ext cx="146304" cy="1143000"/>
          </a:xfrm>
          <a:prstGeom prst="line">
            <a:avLst/>
          </a:prstGeom>
          <a:noFill/>
          <a:ln w="31750">
            <a:solidFill>
              <a:srgbClr val="4A5262"/>
            </a:solidFill>
            <a:prstDash val="solid"/>
          </a:ln>
        </p:spPr>
      </p:sp>
      <p:sp>
        <p:nvSpPr>
          <p:cNvPr id="40" name="Shape 38"/>
          <p:cNvSpPr/>
          <p:nvPr/>
        </p:nvSpPr>
        <p:spPr>
          <a:xfrm>
            <a:off x="4837176" y="3931920"/>
            <a:ext cx="146304" cy="1143000"/>
          </a:xfrm>
          <a:prstGeom prst="line">
            <a:avLst/>
          </a:prstGeom>
          <a:noFill/>
          <a:ln w="31750">
            <a:solidFill>
              <a:srgbClr val="4A5262"/>
            </a:solidFill>
            <a:prstDash val="solid"/>
          </a:ln>
        </p:spPr>
      </p:sp>
      <p:sp>
        <p:nvSpPr>
          <p:cNvPr id="41" name="Shape 39"/>
          <p:cNvSpPr/>
          <p:nvPr/>
        </p:nvSpPr>
        <p:spPr>
          <a:xfrm>
            <a:off x="3776472" y="3904488"/>
            <a:ext cx="1133856" cy="54864"/>
          </a:xfrm>
          <a:prstGeom prst="rect">
            <a:avLst/>
          </a:prstGeom>
          <a:solidFill>
            <a:srgbClr val="4A5262"/>
          </a:solidFill>
          <a:ln/>
        </p:spPr>
      </p:sp>
      <p:sp>
        <p:nvSpPr>
          <p:cNvPr id="42" name="Shape 40"/>
          <p:cNvSpPr/>
          <p:nvPr/>
        </p:nvSpPr>
        <p:spPr>
          <a:xfrm>
            <a:off x="3822192" y="3867912"/>
            <a:ext cx="1042416" cy="36576"/>
          </a:xfrm>
          <a:prstGeom prst="rect">
            <a:avLst/>
          </a:prstGeom>
          <a:solidFill>
            <a:srgbClr val="B8C0CD"/>
          </a:solidFill>
          <a:ln w="6350">
            <a:solidFill>
              <a:srgbClr val="8C96A8"/>
            </a:solidFill>
            <a:prstDash val="solid"/>
          </a:ln>
        </p:spPr>
      </p:sp>
      <p:sp>
        <p:nvSpPr>
          <p:cNvPr id="43" name="Shape 41"/>
          <p:cNvSpPr/>
          <p:nvPr/>
        </p:nvSpPr>
        <p:spPr>
          <a:xfrm>
            <a:off x="3909060" y="3176626"/>
            <a:ext cx="868680" cy="691286"/>
          </a:xfrm>
          <a:prstGeom prst="rect">
            <a:avLst/>
          </a:prstGeom>
          <a:solidFill>
            <a:srgbClr val="BFD9F2"/>
          </a:solidFill>
          <a:ln/>
        </p:spPr>
      </p:sp>
      <p:sp>
        <p:nvSpPr>
          <p:cNvPr id="44" name="Shape 42"/>
          <p:cNvSpPr/>
          <p:nvPr/>
        </p:nvSpPr>
        <p:spPr>
          <a:xfrm>
            <a:off x="3909060" y="2907792"/>
            <a:ext cx="91" cy="960120"/>
          </a:xfrm>
          <a:prstGeom prst="line">
            <a:avLst/>
          </a:prstGeom>
          <a:noFill/>
          <a:ln w="25400">
            <a:solidFill>
              <a:srgbClr val="133536"/>
            </a:solidFill>
            <a:prstDash val="solid"/>
          </a:ln>
        </p:spPr>
      </p:sp>
      <p:sp>
        <p:nvSpPr>
          <p:cNvPr id="45" name="Shape 43"/>
          <p:cNvSpPr/>
          <p:nvPr/>
        </p:nvSpPr>
        <p:spPr>
          <a:xfrm>
            <a:off x="4777740" y="2907792"/>
            <a:ext cx="91" cy="960120"/>
          </a:xfrm>
          <a:prstGeom prst="line">
            <a:avLst/>
          </a:prstGeom>
          <a:noFill/>
          <a:ln w="25400">
            <a:solidFill>
              <a:srgbClr val="133536"/>
            </a:solidFill>
            <a:prstDash val="solid"/>
          </a:ln>
        </p:spPr>
      </p:sp>
      <p:sp>
        <p:nvSpPr>
          <p:cNvPr id="46" name="Shape 44"/>
          <p:cNvSpPr/>
          <p:nvPr/>
        </p:nvSpPr>
        <p:spPr>
          <a:xfrm>
            <a:off x="3909060" y="3867912"/>
            <a:ext cx="868680" cy="91"/>
          </a:xfrm>
          <a:prstGeom prst="line">
            <a:avLst/>
          </a:prstGeom>
          <a:noFill/>
          <a:ln w="25400">
            <a:solidFill>
              <a:srgbClr val="133536"/>
            </a:solidFill>
            <a:prstDash val="solid"/>
          </a:ln>
        </p:spPr>
      </p:sp>
      <p:sp>
        <p:nvSpPr>
          <p:cNvPr id="47" name="Shape 45"/>
          <p:cNvSpPr/>
          <p:nvPr/>
        </p:nvSpPr>
        <p:spPr>
          <a:xfrm>
            <a:off x="3909060" y="3176626"/>
            <a:ext cx="868680" cy="91"/>
          </a:xfrm>
          <a:prstGeom prst="line">
            <a:avLst/>
          </a:prstGeom>
          <a:noFill/>
          <a:ln w="15875">
            <a:solidFill>
              <a:srgbClr val="5B9BD5"/>
            </a:solidFill>
            <a:prstDash val="solid"/>
          </a:ln>
        </p:spPr>
      </p:sp>
      <p:sp>
        <p:nvSpPr>
          <p:cNvPr id="48" name="Shape 46"/>
          <p:cNvSpPr/>
          <p:nvPr/>
        </p:nvSpPr>
        <p:spPr>
          <a:xfrm>
            <a:off x="4462272" y="2221992"/>
            <a:ext cx="91440" cy="1463040"/>
          </a:xfrm>
          <a:prstGeom prst="roundRect">
            <a:avLst>
              <a:gd name="adj" fmla="val 50000"/>
            </a:avLst>
          </a:prstGeom>
          <a:solidFill>
            <a:srgbClr val="F7FAFC"/>
          </a:solidFill>
          <a:ln w="12700">
            <a:solidFill>
              <a:srgbClr val="6B7385"/>
            </a:solidFill>
            <a:prstDash val="solid"/>
          </a:ln>
        </p:spPr>
      </p:sp>
      <p:sp>
        <p:nvSpPr>
          <p:cNvPr id="49" name="Shape 47"/>
          <p:cNvSpPr/>
          <p:nvPr/>
        </p:nvSpPr>
        <p:spPr>
          <a:xfrm>
            <a:off x="4487875" y="2785628"/>
            <a:ext cx="40234" cy="867400"/>
          </a:xfrm>
          <a:prstGeom prst="rect">
            <a:avLst/>
          </a:prstGeom>
          <a:solidFill>
            <a:srgbClr val="C8414C"/>
          </a:solidFill>
          <a:ln/>
        </p:spPr>
      </p:sp>
      <p:sp>
        <p:nvSpPr>
          <p:cNvPr id="50" name="Shape 48"/>
          <p:cNvSpPr/>
          <p:nvPr/>
        </p:nvSpPr>
        <p:spPr>
          <a:xfrm>
            <a:off x="4443984" y="3621024"/>
            <a:ext cx="128016" cy="128016"/>
          </a:xfrm>
          <a:prstGeom prst="ellipse">
            <a:avLst/>
          </a:prstGeom>
          <a:solidFill>
            <a:srgbClr val="C8414C"/>
          </a:solidFill>
          <a:ln w="12700">
            <a:solidFill>
              <a:srgbClr val="8E2A33"/>
            </a:solidFill>
            <a:prstDash val="solid"/>
          </a:ln>
        </p:spPr>
      </p:sp>
      <p:sp>
        <p:nvSpPr>
          <p:cNvPr id="51" name="Shape 49"/>
          <p:cNvSpPr/>
          <p:nvPr/>
        </p:nvSpPr>
        <p:spPr>
          <a:xfrm>
            <a:off x="4018788" y="3194914"/>
            <a:ext cx="164592" cy="164592"/>
          </a:xfrm>
          <a:prstGeom prst="roundRect">
            <a:avLst>
              <a:gd name="adj" fmla="val 16667"/>
            </a:avLst>
          </a:prstGeom>
          <a:solidFill>
            <a:srgbClr val="E8F6FC"/>
          </a:solidFill>
          <a:ln w="12700">
            <a:solidFill>
              <a:srgbClr val="7FB8D8"/>
            </a:solidFill>
            <a:prstDash val="solid"/>
          </a:ln>
        </p:spPr>
      </p:sp>
      <p:sp>
        <p:nvSpPr>
          <p:cNvPr id="52" name="Shape 50"/>
          <p:cNvSpPr/>
          <p:nvPr/>
        </p:nvSpPr>
        <p:spPr>
          <a:xfrm>
            <a:off x="4051706" y="3236062"/>
            <a:ext cx="41148" cy="91"/>
          </a:xfrm>
          <a:prstGeom prst="line">
            <a:avLst/>
          </a:prstGeom>
          <a:noFill/>
          <a:ln w="19050">
            <a:solidFill>
              <a:srgbClr val="FFFFFF"/>
            </a:solidFill>
            <a:prstDash val="solid"/>
          </a:ln>
        </p:spPr>
      </p:sp>
      <p:sp>
        <p:nvSpPr>
          <p:cNvPr id="53" name="Shape 51"/>
          <p:cNvSpPr/>
          <p:nvPr/>
        </p:nvSpPr>
        <p:spPr>
          <a:xfrm>
            <a:off x="4238244" y="3231490"/>
            <a:ext cx="137160" cy="137160"/>
          </a:xfrm>
          <a:prstGeom prst="roundRect">
            <a:avLst>
              <a:gd name="adj" fmla="val 20000"/>
            </a:avLst>
          </a:prstGeom>
          <a:solidFill>
            <a:srgbClr val="E8F6FC"/>
          </a:solidFill>
          <a:ln w="12700">
            <a:solidFill>
              <a:srgbClr val="7FB8D8"/>
            </a:solidFill>
            <a:prstDash val="solid"/>
          </a:ln>
        </p:spPr>
      </p:sp>
      <p:sp>
        <p:nvSpPr>
          <p:cNvPr id="54" name="Shape 52"/>
          <p:cNvSpPr/>
          <p:nvPr/>
        </p:nvSpPr>
        <p:spPr>
          <a:xfrm>
            <a:off x="4265676" y="3265780"/>
            <a:ext cx="34290" cy="91"/>
          </a:xfrm>
          <a:prstGeom prst="line">
            <a:avLst/>
          </a:prstGeom>
          <a:noFill/>
          <a:ln w="19050">
            <a:solidFill>
              <a:srgbClr val="FFFFFF"/>
            </a:solidFill>
            <a:prstDash val="solid"/>
          </a:ln>
        </p:spPr>
      </p:sp>
      <p:sp>
        <p:nvSpPr>
          <p:cNvPr id="55" name="Shape 53"/>
          <p:cNvSpPr/>
          <p:nvPr/>
        </p:nvSpPr>
        <p:spPr>
          <a:xfrm>
            <a:off x="3246120" y="5074920"/>
            <a:ext cx="2194560" cy="91"/>
          </a:xfrm>
          <a:prstGeom prst="line">
            <a:avLst/>
          </a:prstGeom>
          <a:noFill/>
          <a:ln w="25400">
            <a:solidFill>
              <a:srgbClr val="8B6B3E"/>
            </a:solidFill>
            <a:prstDash val="solid"/>
          </a:ln>
        </p:spPr>
      </p:sp>
      <p:sp>
        <p:nvSpPr>
          <p:cNvPr id="56" name="Text 54"/>
          <p:cNvSpPr/>
          <p:nvPr/>
        </p:nvSpPr>
        <p:spPr>
          <a:xfrm>
            <a:off x="502920" y="2240280"/>
            <a:ext cx="914400" cy="274320"/>
          </a:xfrm>
          <a:prstGeom prst="rect">
            <a:avLst/>
          </a:prstGeom>
          <a:noFill/>
          <a:ln/>
        </p:spPr>
        <p:txBody>
          <a:bodyPr wrap="square" lIns="0" tIns="0" rIns="0" bIns="0" rtlCol="0" anchor="ctr"/>
          <a:lstStyle/>
          <a:p>
            <a:pPr algn="r" indent="0" marL="0">
              <a:buNone/>
            </a:pPr>
            <a:r>
              <a:rPr lang="en-US" sz="1000" b="1" dirty="0">
                <a:solidFill>
                  <a:srgbClr val="133536"/>
                </a:solidFill>
                <a:latin typeface="Calibri" pitchFamily="34" charset="0"/>
                <a:ea typeface="Calibri" pitchFamily="34" charset="-122"/>
                <a:cs typeface="Calibri" pitchFamily="34" charset="-120"/>
              </a:rPr>
              <a:t>thermometer</a:t>
            </a:r>
            <a:endParaRPr lang="en-US" sz="1000" dirty="0"/>
          </a:p>
        </p:txBody>
      </p:sp>
      <p:sp>
        <p:nvSpPr>
          <p:cNvPr id="57" name="Shape 55"/>
          <p:cNvSpPr/>
          <p:nvPr/>
        </p:nvSpPr>
        <p:spPr>
          <a:xfrm>
            <a:off x="1453896" y="2377440"/>
            <a:ext cx="722376" cy="91"/>
          </a:xfrm>
          <a:prstGeom prst="line">
            <a:avLst/>
          </a:prstGeom>
          <a:noFill/>
          <a:ln w="12700">
            <a:solidFill>
              <a:srgbClr val="133536"/>
            </a:solidFill>
            <a:prstDash val="solid"/>
          </a:ln>
        </p:spPr>
      </p:sp>
      <p:sp>
        <p:nvSpPr>
          <p:cNvPr id="58" name="Shape 56"/>
          <p:cNvSpPr/>
          <p:nvPr/>
        </p:nvSpPr>
        <p:spPr>
          <a:xfrm>
            <a:off x="2148840" y="2350008"/>
            <a:ext cx="54864" cy="54864"/>
          </a:xfrm>
          <a:prstGeom prst="ellipse">
            <a:avLst/>
          </a:prstGeom>
          <a:solidFill>
            <a:srgbClr val="133536"/>
          </a:solidFill>
          <a:ln w="9525">
            <a:solidFill>
              <a:srgbClr val="133536"/>
            </a:solidFill>
            <a:prstDash val="solid"/>
          </a:ln>
        </p:spPr>
      </p:sp>
      <p:sp>
        <p:nvSpPr>
          <p:cNvPr id="59" name="Text 57"/>
          <p:cNvSpPr/>
          <p:nvPr/>
        </p:nvSpPr>
        <p:spPr>
          <a:xfrm>
            <a:off x="502920" y="3291840"/>
            <a:ext cx="914400" cy="274320"/>
          </a:xfrm>
          <a:prstGeom prst="rect">
            <a:avLst/>
          </a:prstGeom>
          <a:noFill/>
          <a:ln/>
        </p:spPr>
        <p:txBody>
          <a:bodyPr wrap="square" lIns="0" tIns="0" rIns="0" bIns="0" rtlCol="0" anchor="ctr"/>
          <a:lstStyle/>
          <a:p>
            <a:pPr algn="r" indent="0" marL="0">
              <a:buNone/>
            </a:pPr>
            <a:r>
              <a:rPr lang="en-US" sz="1000" b="1" dirty="0">
                <a:solidFill>
                  <a:srgbClr val="2F5F8F"/>
                </a:solidFill>
                <a:latin typeface="Calibri" pitchFamily="34" charset="0"/>
                <a:ea typeface="Calibri" pitchFamily="34" charset="-122"/>
                <a:cs typeface="Calibri" pitchFamily="34" charset="-120"/>
              </a:rPr>
              <a:t>water</a:t>
            </a:r>
            <a:endParaRPr lang="en-US" sz="1000" dirty="0"/>
          </a:p>
        </p:txBody>
      </p:sp>
      <p:sp>
        <p:nvSpPr>
          <p:cNvPr id="60" name="Shape 58"/>
          <p:cNvSpPr/>
          <p:nvPr/>
        </p:nvSpPr>
        <p:spPr>
          <a:xfrm>
            <a:off x="1453896" y="3429000"/>
            <a:ext cx="214884" cy="91"/>
          </a:xfrm>
          <a:prstGeom prst="line">
            <a:avLst/>
          </a:prstGeom>
          <a:noFill/>
          <a:ln w="12700">
            <a:solidFill>
              <a:srgbClr val="2F5F8F"/>
            </a:solidFill>
            <a:prstDash val="solid"/>
          </a:ln>
        </p:spPr>
      </p:sp>
      <p:sp>
        <p:nvSpPr>
          <p:cNvPr id="61" name="Shape 59"/>
          <p:cNvSpPr/>
          <p:nvPr/>
        </p:nvSpPr>
        <p:spPr>
          <a:xfrm>
            <a:off x="1641348" y="3401568"/>
            <a:ext cx="54864" cy="54864"/>
          </a:xfrm>
          <a:prstGeom prst="ellipse">
            <a:avLst/>
          </a:prstGeom>
          <a:solidFill>
            <a:srgbClr val="2F5F8F"/>
          </a:solidFill>
          <a:ln w="9525">
            <a:solidFill>
              <a:srgbClr val="2F5F8F"/>
            </a:solidFill>
            <a:prstDash val="solid"/>
          </a:ln>
        </p:spPr>
      </p:sp>
      <p:sp>
        <p:nvSpPr>
          <p:cNvPr id="62" name="Text 60"/>
          <p:cNvSpPr/>
          <p:nvPr/>
        </p:nvSpPr>
        <p:spPr>
          <a:xfrm>
            <a:off x="502920" y="3749040"/>
            <a:ext cx="914400" cy="274320"/>
          </a:xfrm>
          <a:prstGeom prst="rect">
            <a:avLst/>
          </a:prstGeom>
          <a:noFill/>
          <a:ln/>
        </p:spPr>
        <p:txBody>
          <a:bodyPr wrap="square" lIns="0" tIns="0" rIns="0" bIns="0" rtlCol="0" anchor="ctr"/>
          <a:lstStyle/>
          <a:p>
            <a:pPr algn="r" indent="0" marL="0">
              <a:buNone/>
            </a:pPr>
            <a:r>
              <a:rPr lang="en-US" sz="1000" b="1" dirty="0">
                <a:solidFill>
                  <a:srgbClr val="133536"/>
                </a:solidFill>
                <a:latin typeface="Calibri" pitchFamily="34" charset="0"/>
                <a:ea typeface="Calibri" pitchFamily="34" charset="-122"/>
                <a:cs typeface="Calibri" pitchFamily="34" charset="-120"/>
              </a:rPr>
              <a:t>tripod, gauze</a:t>
            </a:r>
            <a:endParaRPr lang="en-US" sz="1000" dirty="0"/>
          </a:p>
        </p:txBody>
      </p:sp>
      <p:sp>
        <p:nvSpPr>
          <p:cNvPr id="63" name="Shape 61"/>
          <p:cNvSpPr/>
          <p:nvPr/>
        </p:nvSpPr>
        <p:spPr>
          <a:xfrm>
            <a:off x="1453896" y="3886200"/>
            <a:ext cx="27432" cy="91"/>
          </a:xfrm>
          <a:prstGeom prst="line">
            <a:avLst/>
          </a:prstGeom>
          <a:noFill/>
          <a:ln w="12700">
            <a:solidFill>
              <a:srgbClr val="133536"/>
            </a:solidFill>
            <a:prstDash val="solid"/>
          </a:ln>
        </p:spPr>
      </p:sp>
      <p:sp>
        <p:nvSpPr>
          <p:cNvPr id="64" name="Shape 62"/>
          <p:cNvSpPr/>
          <p:nvPr/>
        </p:nvSpPr>
        <p:spPr>
          <a:xfrm>
            <a:off x="1453896" y="3858768"/>
            <a:ext cx="54864" cy="54864"/>
          </a:xfrm>
          <a:prstGeom prst="ellipse">
            <a:avLst/>
          </a:prstGeom>
          <a:solidFill>
            <a:srgbClr val="133536"/>
          </a:solidFill>
          <a:ln w="9525">
            <a:solidFill>
              <a:srgbClr val="133536"/>
            </a:solidFill>
            <a:prstDash val="solid"/>
          </a:ln>
        </p:spPr>
      </p:sp>
      <p:sp>
        <p:nvSpPr>
          <p:cNvPr id="65" name="Text 63"/>
          <p:cNvSpPr/>
          <p:nvPr/>
        </p:nvSpPr>
        <p:spPr>
          <a:xfrm>
            <a:off x="502920" y="4389120"/>
            <a:ext cx="914400" cy="274320"/>
          </a:xfrm>
          <a:prstGeom prst="rect">
            <a:avLst/>
          </a:prstGeom>
          <a:noFill/>
          <a:ln/>
        </p:spPr>
        <p:txBody>
          <a:bodyPr wrap="square" lIns="0" tIns="0" rIns="0" bIns="0" rtlCol="0" anchor="ctr"/>
          <a:lstStyle/>
          <a:p>
            <a:pPr algn="r" indent="0" marL="0">
              <a:buNone/>
            </a:pPr>
            <a:r>
              <a:rPr lang="en-US" sz="1000" b="1" dirty="0">
                <a:solidFill>
                  <a:srgbClr val="D9534F"/>
                </a:solidFill>
                <a:latin typeface="Calibri" pitchFamily="34" charset="0"/>
                <a:ea typeface="Calibri" pitchFamily="34" charset="-122"/>
                <a:cs typeface="Calibri" pitchFamily="34" charset="-120"/>
              </a:rPr>
              <a:t>Bunsen: heats</a:t>
            </a:r>
            <a:endParaRPr lang="en-US" sz="1000" dirty="0"/>
          </a:p>
        </p:txBody>
      </p:sp>
      <p:sp>
        <p:nvSpPr>
          <p:cNvPr id="66" name="Shape 64"/>
          <p:cNvSpPr/>
          <p:nvPr/>
        </p:nvSpPr>
        <p:spPr>
          <a:xfrm>
            <a:off x="1453896" y="4526280"/>
            <a:ext cx="502920" cy="91"/>
          </a:xfrm>
          <a:prstGeom prst="line">
            <a:avLst/>
          </a:prstGeom>
          <a:noFill/>
          <a:ln w="12700">
            <a:solidFill>
              <a:srgbClr val="D9534F"/>
            </a:solidFill>
            <a:prstDash val="solid"/>
          </a:ln>
        </p:spPr>
      </p:sp>
      <p:sp>
        <p:nvSpPr>
          <p:cNvPr id="67" name="Shape 65"/>
          <p:cNvSpPr/>
          <p:nvPr/>
        </p:nvSpPr>
        <p:spPr>
          <a:xfrm>
            <a:off x="1929384" y="4498848"/>
            <a:ext cx="54864" cy="54864"/>
          </a:xfrm>
          <a:prstGeom prst="ellipse">
            <a:avLst/>
          </a:prstGeom>
          <a:solidFill>
            <a:srgbClr val="D9534F"/>
          </a:solidFill>
          <a:ln w="9525">
            <a:solidFill>
              <a:srgbClr val="D9534F"/>
            </a:solidFill>
            <a:prstDash val="solid"/>
          </a:ln>
        </p:spPr>
      </p:sp>
      <p:sp>
        <p:nvSpPr>
          <p:cNvPr id="68" name="Shape 66"/>
          <p:cNvSpPr/>
          <p:nvPr/>
        </p:nvSpPr>
        <p:spPr>
          <a:xfrm>
            <a:off x="5074920" y="2011680"/>
            <a:ext cx="685800" cy="384048"/>
          </a:xfrm>
          <a:prstGeom prst="roundRect">
            <a:avLst>
              <a:gd name="adj" fmla="val 19048"/>
            </a:avLst>
          </a:prstGeom>
          <a:solidFill>
            <a:srgbClr val="F7FBFD"/>
          </a:solidFill>
          <a:ln w="12700">
            <a:solidFill>
              <a:srgbClr val="7FA9C4"/>
            </a:solidFill>
            <a:prstDash val="solid"/>
          </a:ln>
        </p:spPr>
      </p:sp>
      <p:sp>
        <p:nvSpPr>
          <p:cNvPr id="69" name="Shape 67"/>
          <p:cNvSpPr/>
          <p:nvPr/>
        </p:nvSpPr>
        <p:spPr>
          <a:xfrm>
            <a:off x="5138928" y="2075688"/>
            <a:ext cx="164592" cy="164592"/>
          </a:xfrm>
          <a:prstGeom prst="roundRect">
            <a:avLst>
              <a:gd name="adj" fmla="val 16667"/>
            </a:avLst>
          </a:prstGeom>
          <a:solidFill>
            <a:srgbClr val="E8F6FC"/>
          </a:solidFill>
          <a:ln w="12700">
            <a:solidFill>
              <a:srgbClr val="7FB8D8"/>
            </a:solidFill>
            <a:prstDash val="solid"/>
          </a:ln>
        </p:spPr>
      </p:sp>
      <p:sp>
        <p:nvSpPr>
          <p:cNvPr id="70" name="Shape 68"/>
          <p:cNvSpPr/>
          <p:nvPr/>
        </p:nvSpPr>
        <p:spPr>
          <a:xfrm>
            <a:off x="5171846" y="2116836"/>
            <a:ext cx="41148" cy="91"/>
          </a:xfrm>
          <a:prstGeom prst="line">
            <a:avLst/>
          </a:prstGeom>
          <a:noFill/>
          <a:ln w="19050">
            <a:solidFill>
              <a:srgbClr val="FFFFFF"/>
            </a:solidFill>
            <a:prstDash val="solid"/>
          </a:ln>
        </p:spPr>
      </p:sp>
      <p:sp>
        <p:nvSpPr>
          <p:cNvPr id="71" name="Shape 69"/>
          <p:cNvSpPr/>
          <p:nvPr/>
        </p:nvSpPr>
        <p:spPr>
          <a:xfrm>
            <a:off x="5340096" y="2103120"/>
            <a:ext cx="146304" cy="146304"/>
          </a:xfrm>
          <a:prstGeom prst="roundRect">
            <a:avLst>
              <a:gd name="adj" fmla="val 18750"/>
            </a:avLst>
          </a:prstGeom>
          <a:solidFill>
            <a:srgbClr val="E8F6FC"/>
          </a:solidFill>
          <a:ln w="12700">
            <a:solidFill>
              <a:srgbClr val="7FB8D8"/>
            </a:solidFill>
            <a:prstDash val="solid"/>
          </a:ln>
        </p:spPr>
      </p:sp>
      <p:sp>
        <p:nvSpPr>
          <p:cNvPr id="72" name="Shape 70"/>
          <p:cNvSpPr/>
          <p:nvPr/>
        </p:nvSpPr>
        <p:spPr>
          <a:xfrm>
            <a:off x="5369357" y="2139696"/>
            <a:ext cx="36576" cy="91"/>
          </a:xfrm>
          <a:prstGeom prst="line">
            <a:avLst/>
          </a:prstGeom>
          <a:noFill/>
          <a:ln w="19050">
            <a:solidFill>
              <a:srgbClr val="FFFFFF"/>
            </a:solidFill>
            <a:prstDash val="solid"/>
          </a:ln>
        </p:spPr>
      </p:sp>
      <p:sp>
        <p:nvSpPr>
          <p:cNvPr id="73" name="Shape 71"/>
          <p:cNvSpPr/>
          <p:nvPr/>
        </p:nvSpPr>
        <p:spPr>
          <a:xfrm>
            <a:off x="5532120" y="2066544"/>
            <a:ext cx="155448" cy="155448"/>
          </a:xfrm>
          <a:prstGeom prst="roundRect">
            <a:avLst>
              <a:gd name="adj" fmla="val 17647"/>
            </a:avLst>
          </a:prstGeom>
          <a:solidFill>
            <a:srgbClr val="E8F6FC"/>
          </a:solidFill>
          <a:ln w="12700">
            <a:solidFill>
              <a:srgbClr val="7FB8D8"/>
            </a:solidFill>
            <a:prstDash val="solid"/>
          </a:ln>
        </p:spPr>
      </p:sp>
      <p:sp>
        <p:nvSpPr>
          <p:cNvPr id="74" name="Shape 72"/>
          <p:cNvSpPr/>
          <p:nvPr/>
        </p:nvSpPr>
        <p:spPr>
          <a:xfrm>
            <a:off x="5563210" y="2105406"/>
            <a:ext cx="38862" cy="91"/>
          </a:xfrm>
          <a:prstGeom prst="line">
            <a:avLst/>
          </a:prstGeom>
          <a:noFill/>
          <a:ln w="19050">
            <a:solidFill>
              <a:srgbClr val="FFFFFF"/>
            </a:solidFill>
            <a:prstDash val="solid"/>
          </a:ln>
        </p:spPr>
      </p:sp>
      <p:sp>
        <p:nvSpPr>
          <p:cNvPr id="75" name="Text 73"/>
          <p:cNvSpPr/>
          <p:nvPr/>
        </p:nvSpPr>
        <p:spPr>
          <a:xfrm>
            <a:off x="4937760" y="1691640"/>
            <a:ext cx="960120" cy="274320"/>
          </a:xfrm>
          <a:prstGeom prst="rect">
            <a:avLst/>
          </a:prstGeom>
          <a:noFill/>
          <a:ln/>
        </p:spPr>
        <p:txBody>
          <a:bodyPr wrap="square" lIns="0" tIns="0" rIns="0" bIns="0" rtlCol="0" anchor="ctr"/>
          <a:lstStyle/>
          <a:p>
            <a:pPr algn="ctr" indent="0" marL="0">
              <a:buNone/>
            </a:pPr>
            <a:r>
              <a:rPr lang="en-US" sz="1000" b="1" dirty="0">
                <a:solidFill>
                  <a:srgbClr val="3B7DD8"/>
                </a:solidFill>
                <a:latin typeface="Calibri" pitchFamily="34" charset="0"/>
                <a:ea typeface="Calibri" pitchFamily="34" charset="-122"/>
                <a:cs typeface="Calibri" pitchFamily="34" charset="-120"/>
              </a:rPr>
              <a:t>ice: cools</a:t>
            </a:r>
            <a:endParaRPr lang="en-US" sz="1000" dirty="0"/>
          </a:p>
        </p:txBody>
      </p:sp>
      <p:sp>
        <p:nvSpPr>
          <p:cNvPr id="76" name="Shape 74"/>
          <p:cNvSpPr/>
          <p:nvPr/>
        </p:nvSpPr>
        <p:spPr>
          <a:xfrm flipH="1">
            <a:off x="4594860" y="2423160"/>
            <a:ext cx="525780" cy="707746"/>
          </a:xfrm>
          <a:prstGeom prst="line">
            <a:avLst/>
          </a:prstGeom>
          <a:noFill/>
          <a:ln w="19050">
            <a:solidFill>
              <a:srgbClr val="3B7DD8"/>
            </a:solidFill>
            <a:prstDash val="solid"/>
            <a:tailEnd type="triangle"/>
          </a:ln>
        </p:spPr>
      </p:sp>
      <p:sp>
        <p:nvSpPr>
          <p:cNvPr id="77" name="Text 75"/>
          <p:cNvSpPr/>
          <p:nvPr/>
        </p:nvSpPr>
        <p:spPr>
          <a:xfrm>
            <a:off x="548640" y="5138928"/>
            <a:ext cx="530352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bench • heat-proof mat under each Bunsen</a:t>
            </a:r>
            <a:endParaRPr lang="en-US" sz="1000" dirty="0"/>
          </a:p>
        </p:txBody>
      </p:sp>
      <p:sp>
        <p:nvSpPr>
          <p:cNvPr id="78" name="Shape 76"/>
          <p:cNvSpPr/>
          <p:nvPr/>
        </p:nvSpPr>
        <p:spPr>
          <a:xfrm>
            <a:off x="6217920" y="1188720"/>
            <a:ext cx="5562295" cy="2514600"/>
          </a:xfrm>
          <a:prstGeom prst="roundRect">
            <a:avLst>
              <a:gd name="adj" fmla="val 2182"/>
            </a:avLst>
          </a:prstGeom>
          <a:solidFill>
            <a:srgbClr val="F4FAF9"/>
          </a:solidFill>
          <a:ln w="9525">
            <a:solidFill>
              <a:srgbClr val="CFE0DE"/>
            </a:solidFill>
            <a:prstDash val="solid"/>
          </a:ln>
        </p:spPr>
      </p:sp>
      <p:sp>
        <p:nvSpPr>
          <p:cNvPr id="79" name="Text 7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Method</a:t>
            </a:r>
            <a:endParaRPr lang="en-US" sz="1300" dirty="0"/>
          </a:p>
        </p:txBody>
      </p:sp>
      <p:sp>
        <p:nvSpPr>
          <p:cNvPr id="80" name="Text 78"/>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Heat water in a beaker to </a:t>
            </a:r>
            <a:r>
              <a:rPr lang="en-US" sz="1050" b="1" dirty="0">
                <a:solidFill>
                  <a:srgbClr val="262B3A"/>
                </a:solidFill>
                <a:latin typeface="Calibri" pitchFamily="34" charset="0"/>
                <a:ea typeface="Calibri" pitchFamily="34" charset="-122"/>
                <a:cs typeface="Calibri" pitchFamily="34" charset="-120"/>
              </a:rPr>
              <a:t>40 °C</a:t>
            </a:r>
            <a:r>
              <a:rPr lang="en-US" sz="1050" dirty="0">
                <a:solidFill>
                  <a:srgbClr val="262B3A"/>
                </a:solidFill>
                <a:latin typeface="Calibri" pitchFamily="34" charset="0"/>
                <a:ea typeface="Calibri" pitchFamily="34" charset="-122"/>
                <a:cs typeface="Calibri" pitchFamily="34" charset="-120"/>
              </a:rPr>
              <a:t>. Start the stop clock.</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Run A</a:t>
            </a:r>
            <a:r>
              <a:rPr lang="en-US" sz="1050" dirty="0">
                <a:solidFill>
                  <a:srgbClr val="262B3A"/>
                </a:solidFill>
                <a:latin typeface="Calibri" pitchFamily="34" charset="0"/>
                <a:ea typeface="Calibri" pitchFamily="34" charset="-122"/>
                <a:cs typeface="Calibri" pitchFamily="34" charset="-120"/>
              </a:rPr>
              <a:t>: you may only </a:t>
            </a:r>
            <a:r>
              <a:rPr lang="en-US" sz="1050" b="1" dirty="0">
                <a:solidFill>
                  <a:srgbClr val="262B3A"/>
                </a:solidFill>
                <a:latin typeface="Calibri" pitchFamily="34" charset="0"/>
                <a:ea typeface="Calibri" pitchFamily="34" charset="-122"/>
                <a:cs typeface="Calibri" pitchFamily="34" charset="-120"/>
              </a:rPr>
              <a:t>heat</a:t>
            </a:r>
            <a:r>
              <a:rPr lang="en-US" sz="1050" dirty="0">
                <a:solidFill>
                  <a:srgbClr val="262B3A"/>
                </a:solidFill>
                <a:latin typeface="Calibri" pitchFamily="34" charset="0"/>
                <a:ea typeface="Calibri" pitchFamily="34" charset="-122"/>
                <a:cs typeface="Calibri" pitchFamily="34" charset="-120"/>
              </a:rPr>
              <a:t> (Bunsen on or off, or move it). Read the temperature every </a:t>
            </a:r>
            <a:r>
              <a:rPr lang="en-US" sz="1050" b="1" dirty="0">
                <a:solidFill>
                  <a:srgbClr val="262B3A"/>
                </a:solidFill>
                <a:latin typeface="Calibri" pitchFamily="34" charset="0"/>
                <a:ea typeface="Calibri" pitchFamily="34" charset="-122"/>
                <a:cs typeface="Calibri" pitchFamily="34" charset="-120"/>
              </a:rPr>
              <a:t>minute</a:t>
            </a:r>
            <a:r>
              <a:rPr lang="en-US" sz="1050" dirty="0">
                <a:solidFill>
                  <a:srgbClr val="262B3A"/>
                </a:solidFill>
                <a:latin typeface="Calibri" pitchFamily="34" charset="0"/>
                <a:ea typeface="Calibri" pitchFamily="34" charset="-122"/>
                <a:cs typeface="Calibri" pitchFamily="34" charset="-120"/>
              </a:rPr>
              <a:t> for 10 min.</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Run B</a:t>
            </a:r>
            <a:r>
              <a:rPr lang="en-US" sz="1050" dirty="0">
                <a:solidFill>
                  <a:srgbClr val="262B3A"/>
                </a:solidFill>
                <a:latin typeface="Calibri" pitchFamily="34" charset="0"/>
                <a:ea typeface="Calibri" pitchFamily="34" charset="-122"/>
                <a:cs typeface="Calibri" pitchFamily="34" charset="-120"/>
              </a:rPr>
              <a:t>: you may </a:t>
            </a:r>
            <a:r>
              <a:rPr lang="en-US" sz="1050" b="1" dirty="0">
                <a:solidFill>
                  <a:srgbClr val="262B3A"/>
                </a:solidFill>
                <a:latin typeface="Calibri" pitchFamily="34" charset="0"/>
                <a:ea typeface="Calibri" pitchFamily="34" charset="-122"/>
                <a:cs typeface="Calibri" pitchFamily="34" charset="-120"/>
              </a:rPr>
              <a:t>heat</a:t>
            </a:r>
            <a:r>
              <a:rPr lang="en-US" sz="1050" dirty="0">
                <a:solidFill>
                  <a:srgbClr val="262B3A"/>
                </a:solidFill>
                <a:latin typeface="Calibri" pitchFamily="34" charset="0"/>
                <a:ea typeface="Calibri" pitchFamily="34" charset="-122"/>
                <a:cs typeface="Calibri" pitchFamily="34" charset="-120"/>
              </a:rPr>
              <a:t> with the Bunsen </a:t>
            </a:r>
            <a:r>
              <a:rPr lang="en-US" sz="1050" b="1" dirty="0">
                <a:solidFill>
                  <a:srgbClr val="262B3A"/>
                </a:solidFill>
                <a:latin typeface="Calibri" pitchFamily="34" charset="0"/>
                <a:ea typeface="Calibri" pitchFamily="34" charset="-122"/>
                <a:cs typeface="Calibri" pitchFamily="34" charset="-120"/>
              </a:rPr>
              <a:t>or cool</a:t>
            </a:r>
            <a:r>
              <a:rPr lang="en-US" sz="1050" dirty="0">
                <a:solidFill>
                  <a:srgbClr val="262B3A"/>
                </a:solidFill>
                <a:latin typeface="Calibri" pitchFamily="34" charset="0"/>
                <a:ea typeface="Calibri" pitchFamily="34" charset="-122"/>
                <a:cs typeface="Calibri" pitchFamily="34" charset="-120"/>
              </a:rPr>
              <a:t> by adding a small ice cube. Record every minute for 10 min.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Plot both runs on one graph and compare how close each stays to 40 °C.</a:t>
            </a:r>
            <a:endParaRPr lang="en-US" sz="1050" dirty="0"/>
          </a:p>
        </p:txBody>
      </p:sp>
      <p:sp>
        <p:nvSpPr>
          <p:cNvPr id="81" name="Shape 79"/>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82" name="Text 80"/>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83" name="Text 81"/>
          <p:cNvSpPr/>
          <p:nvPr/>
        </p:nvSpPr>
        <p:spPr>
          <a:xfrm>
            <a:off x="6382512" y="4224528"/>
            <a:ext cx="5233111" cy="141732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Independent   </a:t>
            </a:r>
            <a:r>
              <a:rPr lang="en-US" sz="1050" dirty="0">
                <a:solidFill>
                  <a:srgbClr val="262B3A"/>
                </a:solidFill>
                <a:latin typeface="Calibri" pitchFamily="34" charset="0"/>
                <a:ea typeface="Calibri" pitchFamily="34" charset="-122"/>
                <a:cs typeface="Calibri" pitchFamily="34" charset="-120"/>
              </a:rPr>
              <a:t>one effector (heat only) or two (heat and ice)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Dependent   </a:t>
            </a:r>
            <a:r>
              <a:rPr lang="en-US" sz="1050" dirty="0">
                <a:solidFill>
                  <a:srgbClr val="262B3A"/>
                </a:solidFill>
                <a:latin typeface="Calibri" pitchFamily="34" charset="0"/>
                <a:ea typeface="Calibri" pitchFamily="34" charset="-122"/>
                <a:cs typeface="Calibri" pitchFamily="34" charset="-120"/>
              </a:rPr>
              <a:t>water temperature every minute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same volume of water, beaker, target 40 °C, time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hot water and flame: goggles, tie hair back, do not move the hot beaker</a:t>
            </a:r>
            <a:endParaRPr lang="en-US" sz="1050" dirty="0"/>
          </a:p>
        </p:txBody>
      </p:sp>
      <p:sp>
        <p:nvSpPr>
          <p:cNvPr id="84" name="Shape 82"/>
          <p:cNvSpPr/>
          <p:nvPr/>
        </p:nvSpPr>
        <p:spPr>
          <a:xfrm>
            <a:off x="411480" y="5833872"/>
            <a:ext cx="11368735" cy="530352"/>
          </a:xfrm>
          <a:prstGeom prst="rect">
            <a:avLst/>
          </a:prstGeom>
          <a:solidFill>
            <a:srgbClr val="FFF4E0"/>
          </a:solidFill>
          <a:ln w="6350">
            <a:solidFill>
              <a:srgbClr val="F1D9A8"/>
            </a:solidFill>
            <a:prstDash val="solid"/>
          </a:ln>
        </p:spPr>
      </p:sp>
      <p:sp>
        <p:nvSpPr>
          <p:cNvPr id="85" name="Shape 83"/>
          <p:cNvSpPr/>
          <p:nvPr/>
        </p:nvSpPr>
        <p:spPr>
          <a:xfrm>
            <a:off x="411480" y="5833872"/>
            <a:ext cx="82296" cy="530352"/>
          </a:xfrm>
          <a:prstGeom prst="rect">
            <a:avLst/>
          </a:prstGeom>
          <a:solidFill>
            <a:srgbClr val="E39A2F"/>
          </a:solidFill>
          <a:ln w="12700">
            <a:solidFill>
              <a:srgbClr val="E39A2F"/>
            </a:solidFill>
            <a:prstDash val="solid"/>
          </a:ln>
        </p:spPr>
      </p:sp>
      <p:sp>
        <p:nvSpPr>
          <p:cNvPr id="86" name="Text 8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this model, what do the </a:t>
            </a:r>
            <a:r>
              <a:rPr lang="en-US" sz="1150" b="1" dirty="0">
                <a:solidFill>
                  <a:srgbClr val="262B3A"/>
                </a:solidFill>
                <a:latin typeface="Calibri" pitchFamily="34" charset="0"/>
                <a:ea typeface="Calibri" pitchFamily="34" charset="-122"/>
                <a:cs typeface="Calibri" pitchFamily="34" charset="-120"/>
              </a:rPr>
              <a:t>Bunsen burner</a:t>
            </a:r>
            <a:r>
              <a:rPr lang="en-US" sz="1150" dirty="0">
                <a:solidFill>
                  <a:srgbClr val="262B3A"/>
                </a:solidFill>
                <a:latin typeface="Calibri" pitchFamily="34" charset="0"/>
                <a:ea typeface="Calibri" pitchFamily="34" charset="-122"/>
                <a:cs typeface="Calibri" pitchFamily="34" charset="-120"/>
              </a:rPr>
              <a:t> and the </a:t>
            </a:r>
            <a:r>
              <a:rPr lang="en-US" sz="1150" b="1" dirty="0">
                <a:solidFill>
                  <a:srgbClr val="262B3A"/>
                </a:solidFill>
                <a:latin typeface="Calibri" pitchFamily="34" charset="0"/>
                <a:ea typeface="Calibri" pitchFamily="34" charset="-122"/>
                <a:cs typeface="Calibri" pitchFamily="34" charset="-120"/>
              </a:rPr>
              <a:t>ice</a:t>
            </a:r>
            <a:r>
              <a:rPr lang="en-US" sz="1150" dirty="0">
                <a:solidFill>
                  <a:srgbClr val="262B3A"/>
                </a:solidFill>
                <a:latin typeface="Calibri" pitchFamily="34" charset="0"/>
                <a:ea typeface="Calibri" pitchFamily="34" charset="-122"/>
                <a:cs typeface="Calibri" pitchFamily="34" charset="-120"/>
              </a:rPr>
              <a:t> represent in the body? What does the </a:t>
            </a:r>
            <a:r>
              <a:rPr lang="en-US" sz="1150" b="1" dirty="0">
                <a:solidFill>
                  <a:srgbClr val="262B3A"/>
                </a:solidFill>
                <a:latin typeface="Calibri" pitchFamily="34" charset="0"/>
                <a:ea typeface="Calibri" pitchFamily="34" charset="-122"/>
                <a:cs typeface="Calibri" pitchFamily="34" charset="-120"/>
              </a:rPr>
              <a:t>thermometer</a:t>
            </a:r>
            <a:r>
              <a:rPr lang="en-US" sz="1150" dirty="0">
                <a:solidFill>
                  <a:srgbClr val="262B3A"/>
                </a:solidFill>
                <a:latin typeface="Calibri" pitchFamily="34" charset="0"/>
                <a:ea typeface="Calibri" pitchFamily="34" charset="-122"/>
                <a:cs typeface="Calibri" pitchFamily="34" charset="-120"/>
              </a:rPr>
              <a:t> plus the </a:t>
            </a:r>
            <a:r>
              <a:rPr lang="en-US" sz="1150" b="1" dirty="0">
                <a:solidFill>
                  <a:srgbClr val="262B3A"/>
                </a:solidFill>
                <a:latin typeface="Calibri" pitchFamily="34" charset="0"/>
                <a:ea typeface="Calibri" pitchFamily="34" charset="-122"/>
                <a:cs typeface="Calibri" pitchFamily="34" charset="-120"/>
              </a:rPr>
              <a:t>student</a:t>
            </a:r>
            <a:r>
              <a:rPr lang="en-US" sz="1150" dirty="0">
                <a:solidFill>
                  <a:srgbClr val="262B3A"/>
                </a:solidFill>
                <a:latin typeface="Calibri" pitchFamily="34" charset="0"/>
                <a:ea typeface="Calibri" pitchFamily="34" charset="-122"/>
                <a:cs typeface="Calibri" pitchFamily="34" charset="-120"/>
              </a:rPr>
              <a:t> represent?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Modelling control: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sample class data: temperature every minute for 10 minutes</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both runs plotted to scale from the table; target 40 °C dashed</a:t>
            </a:r>
            <a:endParaRPr lang="en-US" sz="1000" dirty="0"/>
          </a:p>
        </p:txBody>
      </p:sp>
      <p:sp>
        <p:nvSpPr>
          <p:cNvPr id="12" name="Shape 10"/>
          <p:cNvSpPr/>
          <p:nvPr/>
        </p:nvSpPr>
        <p:spPr>
          <a:xfrm>
            <a:off x="1234440" y="1463040"/>
            <a:ext cx="4526280" cy="3291840"/>
          </a:xfrm>
          <a:prstGeom prst="rect">
            <a:avLst/>
          </a:prstGeom>
          <a:solidFill>
            <a:srgbClr val="FFFFFF"/>
          </a:solidFill>
          <a:ln/>
        </p:spPr>
      </p:sp>
      <p:sp>
        <p:nvSpPr>
          <p:cNvPr id="13" name="Shape 11"/>
          <p:cNvSpPr/>
          <p:nvPr/>
        </p:nvSpPr>
        <p:spPr>
          <a:xfrm>
            <a:off x="1234440" y="1463040"/>
            <a:ext cx="91" cy="3291840"/>
          </a:xfrm>
          <a:prstGeom prst="line">
            <a:avLst/>
          </a:prstGeom>
          <a:noFill/>
          <a:ln w="6350">
            <a:solidFill>
              <a:srgbClr val="C5DCD9"/>
            </a:solidFill>
            <a:prstDash val="solid"/>
          </a:ln>
        </p:spPr>
      </p:sp>
      <p:sp>
        <p:nvSpPr>
          <p:cNvPr id="14" name="Shape 12"/>
          <p:cNvSpPr/>
          <p:nvPr/>
        </p:nvSpPr>
        <p:spPr>
          <a:xfrm>
            <a:off x="1460754" y="1463040"/>
            <a:ext cx="91" cy="3291840"/>
          </a:xfrm>
          <a:prstGeom prst="line">
            <a:avLst/>
          </a:prstGeom>
          <a:noFill/>
          <a:ln w="6350">
            <a:solidFill>
              <a:srgbClr val="E3EFED"/>
            </a:solidFill>
            <a:prstDash val="solid"/>
          </a:ln>
        </p:spPr>
      </p:sp>
      <p:sp>
        <p:nvSpPr>
          <p:cNvPr id="15" name="Shape 13"/>
          <p:cNvSpPr/>
          <p:nvPr/>
        </p:nvSpPr>
        <p:spPr>
          <a:xfrm>
            <a:off x="1687068" y="1463040"/>
            <a:ext cx="91" cy="3291840"/>
          </a:xfrm>
          <a:prstGeom prst="line">
            <a:avLst/>
          </a:prstGeom>
          <a:noFill/>
          <a:ln w="6350">
            <a:solidFill>
              <a:srgbClr val="C5DCD9"/>
            </a:solidFill>
            <a:prstDash val="solid"/>
          </a:ln>
        </p:spPr>
      </p:sp>
      <p:sp>
        <p:nvSpPr>
          <p:cNvPr id="16" name="Shape 14"/>
          <p:cNvSpPr/>
          <p:nvPr/>
        </p:nvSpPr>
        <p:spPr>
          <a:xfrm>
            <a:off x="1913382" y="1463040"/>
            <a:ext cx="91" cy="3291840"/>
          </a:xfrm>
          <a:prstGeom prst="line">
            <a:avLst/>
          </a:prstGeom>
          <a:noFill/>
          <a:ln w="6350">
            <a:solidFill>
              <a:srgbClr val="E3EFED"/>
            </a:solidFill>
            <a:prstDash val="solid"/>
          </a:ln>
        </p:spPr>
      </p:sp>
      <p:sp>
        <p:nvSpPr>
          <p:cNvPr id="17" name="Shape 15"/>
          <p:cNvSpPr/>
          <p:nvPr/>
        </p:nvSpPr>
        <p:spPr>
          <a:xfrm>
            <a:off x="2139696" y="1463040"/>
            <a:ext cx="91" cy="3291840"/>
          </a:xfrm>
          <a:prstGeom prst="line">
            <a:avLst/>
          </a:prstGeom>
          <a:noFill/>
          <a:ln w="6350">
            <a:solidFill>
              <a:srgbClr val="C5DCD9"/>
            </a:solidFill>
            <a:prstDash val="solid"/>
          </a:ln>
        </p:spPr>
      </p:sp>
      <p:sp>
        <p:nvSpPr>
          <p:cNvPr id="18" name="Shape 16"/>
          <p:cNvSpPr/>
          <p:nvPr/>
        </p:nvSpPr>
        <p:spPr>
          <a:xfrm>
            <a:off x="2366010" y="1463040"/>
            <a:ext cx="91" cy="3291840"/>
          </a:xfrm>
          <a:prstGeom prst="line">
            <a:avLst/>
          </a:prstGeom>
          <a:noFill/>
          <a:ln w="6350">
            <a:solidFill>
              <a:srgbClr val="E3EFED"/>
            </a:solidFill>
            <a:prstDash val="solid"/>
          </a:ln>
        </p:spPr>
      </p:sp>
      <p:sp>
        <p:nvSpPr>
          <p:cNvPr id="19" name="Shape 17"/>
          <p:cNvSpPr/>
          <p:nvPr/>
        </p:nvSpPr>
        <p:spPr>
          <a:xfrm>
            <a:off x="2592324" y="1463040"/>
            <a:ext cx="91" cy="3291840"/>
          </a:xfrm>
          <a:prstGeom prst="line">
            <a:avLst/>
          </a:prstGeom>
          <a:noFill/>
          <a:ln w="6350">
            <a:solidFill>
              <a:srgbClr val="C5DCD9"/>
            </a:solidFill>
            <a:prstDash val="solid"/>
          </a:ln>
        </p:spPr>
      </p:sp>
      <p:sp>
        <p:nvSpPr>
          <p:cNvPr id="20" name="Shape 18"/>
          <p:cNvSpPr/>
          <p:nvPr/>
        </p:nvSpPr>
        <p:spPr>
          <a:xfrm>
            <a:off x="2818638" y="1463040"/>
            <a:ext cx="91" cy="3291840"/>
          </a:xfrm>
          <a:prstGeom prst="line">
            <a:avLst/>
          </a:prstGeom>
          <a:noFill/>
          <a:ln w="6350">
            <a:solidFill>
              <a:srgbClr val="E3EFED"/>
            </a:solidFill>
            <a:prstDash val="solid"/>
          </a:ln>
        </p:spPr>
      </p:sp>
      <p:sp>
        <p:nvSpPr>
          <p:cNvPr id="21" name="Shape 19"/>
          <p:cNvSpPr/>
          <p:nvPr/>
        </p:nvSpPr>
        <p:spPr>
          <a:xfrm>
            <a:off x="3044952" y="1463040"/>
            <a:ext cx="91" cy="3291840"/>
          </a:xfrm>
          <a:prstGeom prst="line">
            <a:avLst/>
          </a:prstGeom>
          <a:noFill/>
          <a:ln w="6350">
            <a:solidFill>
              <a:srgbClr val="C5DCD9"/>
            </a:solidFill>
            <a:prstDash val="solid"/>
          </a:ln>
        </p:spPr>
      </p:sp>
      <p:sp>
        <p:nvSpPr>
          <p:cNvPr id="22" name="Shape 20"/>
          <p:cNvSpPr/>
          <p:nvPr/>
        </p:nvSpPr>
        <p:spPr>
          <a:xfrm>
            <a:off x="3271266" y="1463040"/>
            <a:ext cx="91" cy="3291840"/>
          </a:xfrm>
          <a:prstGeom prst="line">
            <a:avLst/>
          </a:prstGeom>
          <a:noFill/>
          <a:ln w="6350">
            <a:solidFill>
              <a:srgbClr val="E3EFED"/>
            </a:solidFill>
            <a:prstDash val="solid"/>
          </a:ln>
        </p:spPr>
      </p:sp>
      <p:sp>
        <p:nvSpPr>
          <p:cNvPr id="23" name="Shape 21"/>
          <p:cNvSpPr/>
          <p:nvPr/>
        </p:nvSpPr>
        <p:spPr>
          <a:xfrm>
            <a:off x="3497580" y="1463040"/>
            <a:ext cx="91" cy="3291840"/>
          </a:xfrm>
          <a:prstGeom prst="line">
            <a:avLst/>
          </a:prstGeom>
          <a:noFill/>
          <a:ln w="6350">
            <a:solidFill>
              <a:srgbClr val="C5DCD9"/>
            </a:solidFill>
            <a:prstDash val="solid"/>
          </a:ln>
        </p:spPr>
      </p:sp>
      <p:sp>
        <p:nvSpPr>
          <p:cNvPr id="24" name="Shape 22"/>
          <p:cNvSpPr/>
          <p:nvPr/>
        </p:nvSpPr>
        <p:spPr>
          <a:xfrm>
            <a:off x="3723894" y="1463040"/>
            <a:ext cx="91" cy="3291840"/>
          </a:xfrm>
          <a:prstGeom prst="line">
            <a:avLst/>
          </a:prstGeom>
          <a:noFill/>
          <a:ln w="6350">
            <a:solidFill>
              <a:srgbClr val="E3EFED"/>
            </a:solidFill>
            <a:prstDash val="solid"/>
          </a:ln>
        </p:spPr>
      </p:sp>
      <p:sp>
        <p:nvSpPr>
          <p:cNvPr id="25" name="Shape 23"/>
          <p:cNvSpPr/>
          <p:nvPr/>
        </p:nvSpPr>
        <p:spPr>
          <a:xfrm>
            <a:off x="3950208" y="1463040"/>
            <a:ext cx="91" cy="3291840"/>
          </a:xfrm>
          <a:prstGeom prst="line">
            <a:avLst/>
          </a:prstGeom>
          <a:noFill/>
          <a:ln w="6350">
            <a:solidFill>
              <a:srgbClr val="C5DCD9"/>
            </a:solidFill>
            <a:prstDash val="solid"/>
          </a:ln>
        </p:spPr>
      </p:sp>
      <p:sp>
        <p:nvSpPr>
          <p:cNvPr id="26" name="Shape 24"/>
          <p:cNvSpPr/>
          <p:nvPr/>
        </p:nvSpPr>
        <p:spPr>
          <a:xfrm>
            <a:off x="4176522" y="1463040"/>
            <a:ext cx="91" cy="3291840"/>
          </a:xfrm>
          <a:prstGeom prst="line">
            <a:avLst/>
          </a:prstGeom>
          <a:noFill/>
          <a:ln w="6350">
            <a:solidFill>
              <a:srgbClr val="E3EFED"/>
            </a:solidFill>
            <a:prstDash val="solid"/>
          </a:ln>
        </p:spPr>
      </p:sp>
      <p:sp>
        <p:nvSpPr>
          <p:cNvPr id="27" name="Shape 25"/>
          <p:cNvSpPr/>
          <p:nvPr/>
        </p:nvSpPr>
        <p:spPr>
          <a:xfrm>
            <a:off x="4402836" y="1463040"/>
            <a:ext cx="91" cy="3291840"/>
          </a:xfrm>
          <a:prstGeom prst="line">
            <a:avLst/>
          </a:prstGeom>
          <a:noFill/>
          <a:ln w="6350">
            <a:solidFill>
              <a:srgbClr val="C5DCD9"/>
            </a:solidFill>
            <a:prstDash val="solid"/>
          </a:ln>
        </p:spPr>
      </p:sp>
      <p:sp>
        <p:nvSpPr>
          <p:cNvPr id="28" name="Shape 26"/>
          <p:cNvSpPr/>
          <p:nvPr/>
        </p:nvSpPr>
        <p:spPr>
          <a:xfrm>
            <a:off x="4629150" y="1463040"/>
            <a:ext cx="91" cy="3291840"/>
          </a:xfrm>
          <a:prstGeom prst="line">
            <a:avLst/>
          </a:prstGeom>
          <a:noFill/>
          <a:ln w="6350">
            <a:solidFill>
              <a:srgbClr val="E3EFED"/>
            </a:solidFill>
            <a:prstDash val="solid"/>
          </a:ln>
        </p:spPr>
      </p:sp>
      <p:sp>
        <p:nvSpPr>
          <p:cNvPr id="29" name="Shape 27"/>
          <p:cNvSpPr/>
          <p:nvPr/>
        </p:nvSpPr>
        <p:spPr>
          <a:xfrm>
            <a:off x="4855464" y="1463040"/>
            <a:ext cx="91" cy="3291840"/>
          </a:xfrm>
          <a:prstGeom prst="line">
            <a:avLst/>
          </a:prstGeom>
          <a:noFill/>
          <a:ln w="6350">
            <a:solidFill>
              <a:srgbClr val="C5DCD9"/>
            </a:solidFill>
            <a:prstDash val="solid"/>
          </a:ln>
        </p:spPr>
      </p:sp>
      <p:sp>
        <p:nvSpPr>
          <p:cNvPr id="30" name="Shape 28"/>
          <p:cNvSpPr/>
          <p:nvPr/>
        </p:nvSpPr>
        <p:spPr>
          <a:xfrm>
            <a:off x="5081778" y="1463040"/>
            <a:ext cx="91" cy="3291840"/>
          </a:xfrm>
          <a:prstGeom prst="line">
            <a:avLst/>
          </a:prstGeom>
          <a:noFill/>
          <a:ln w="6350">
            <a:solidFill>
              <a:srgbClr val="E3EFED"/>
            </a:solidFill>
            <a:prstDash val="solid"/>
          </a:ln>
        </p:spPr>
      </p:sp>
      <p:sp>
        <p:nvSpPr>
          <p:cNvPr id="31" name="Shape 29"/>
          <p:cNvSpPr/>
          <p:nvPr/>
        </p:nvSpPr>
        <p:spPr>
          <a:xfrm>
            <a:off x="5308092" y="1463040"/>
            <a:ext cx="91" cy="3291840"/>
          </a:xfrm>
          <a:prstGeom prst="line">
            <a:avLst/>
          </a:prstGeom>
          <a:noFill/>
          <a:ln w="6350">
            <a:solidFill>
              <a:srgbClr val="C5DCD9"/>
            </a:solidFill>
            <a:prstDash val="solid"/>
          </a:ln>
        </p:spPr>
      </p:sp>
      <p:sp>
        <p:nvSpPr>
          <p:cNvPr id="32" name="Shape 30"/>
          <p:cNvSpPr/>
          <p:nvPr/>
        </p:nvSpPr>
        <p:spPr>
          <a:xfrm>
            <a:off x="5534406" y="1463040"/>
            <a:ext cx="91" cy="3291840"/>
          </a:xfrm>
          <a:prstGeom prst="line">
            <a:avLst/>
          </a:prstGeom>
          <a:noFill/>
          <a:ln w="6350">
            <a:solidFill>
              <a:srgbClr val="E3EFED"/>
            </a:solidFill>
            <a:prstDash val="solid"/>
          </a:ln>
        </p:spPr>
      </p:sp>
      <p:sp>
        <p:nvSpPr>
          <p:cNvPr id="33" name="Shape 31"/>
          <p:cNvSpPr/>
          <p:nvPr/>
        </p:nvSpPr>
        <p:spPr>
          <a:xfrm>
            <a:off x="5760720" y="1463040"/>
            <a:ext cx="91" cy="3291840"/>
          </a:xfrm>
          <a:prstGeom prst="line">
            <a:avLst/>
          </a:prstGeom>
          <a:noFill/>
          <a:ln w="6350">
            <a:solidFill>
              <a:srgbClr val="C5DCD9"/>
            </a:solidFill>
            <a:prstDash val="solid"/>
          </a:ln>
        </p:spPr>
      </p:sp>
      <p:sp>
        <p:nvSpPr>
          <p:cNvPr id="34" name="Shape 32"/>
          <p:cNvSpPr/>
          <p:nvPr/>
        </p:nvSpPr>
        <p:spPr>
          <a:xfrm>
            <a:off x="1234440" y="4754880"/>
            <a:ext cx="4526280" cy="91"/>
          </a:xfrm>
          <a:prstGeom prst="line">
            <a:avLst/>
          </a:prstGeom>
          <a:noFill/>
          <a:ln w="6350">
            <a:solidFill>
              <a:srgbClr val="C5DCD9"/>
            </a:solidFill>
            <a:prstDash val="solid"/>
          </a:ln>
        </p:spPr>
      </p:sp>
      <p:sp>
        <p:nvSpPr>
          <p:cNvPr id="35" name="Shape 33"/>
          <p:cNvSpPr/>
          <p:nvPr/>
        </p:nvSpPr>
        <p:spPr>
          <a:xfrm>
            <a:off x="1234440" y="4480560"/>
            <a:ext cx="4526280" cy="91"/>
          </a:xfrm>
          <a:prstGeom prst="line">
            <a:avLst/>
          </a:prstGeom>
          <a:noFill/>
          <a:ln w="6350">
            <a:solidFill>
              <a:srgbClr val="E3EFED"/>
            </a:solidFill>
            <a:prstDash val="solid"/>
          </a:ln>
        </p:spPr>
      </p:sp>
      <p:sp>
        <p:nvSpPr>
          <p:cNvPr id="36" name="Shape 34"/>
          <p:cNvSpPr/>
          <p:nvPr/>
        </p:nvSpPr>
        <p:spPr>
          <a:xfrm>
            <a:off x="1234440" y="4206240"/>
            <a:ext cx="4526280" cy="91"/>
          </a:xfrm>
          <a:prstGeom prst="line">
            <a:avLst/>
          </a:prstGeom>
          <a:noFill/>
          <a:ln w="6350">
            <a:solidFill>
              <a:srgbClr val="C5DCD9"/>
            </a:solidFill>
            <a:prstDash val="solid"/>
          </a:ln>
        </p:spPr>
      </p:sp>
      <p:sp>
        <p:nvSpPr>
          <p:cNvPr id="37" name="Shape 35"/>
          <p:cNvSpPr/>
          <p:nvPr/>
        </p:nvSpPr>
        <p:spPr>
          <a:xfrm>
            <a:off x="1234440" y="3931920"/>
            <a:ext cx="4526280" cy="91"/>
          </a:xfrm>
          <a:prstGeom prst="line">
            <a:avLst/>
          </a:prstGeom>
          <a:noFill/>
          <a:ln w="6350">
            <a:solidFill>
              <a:srgbClr val="E3EFED"/>
            </a:solidFill>
            <a:prstDash val="solid"/>
          </a:ln>
        </p:spPr>
      </p:sp>
      <p:sp>
        <p:nvSpPr>
          <p:cNvPr id="38" name="Shape 36"/>
          <p:cNvSpPr/>
          <p:nvPr/>
        </p:nvSpPr>
        <p:spPr>
          <a:xfrm>
            <a:off x="1234440" y="3657600"/>
            <a:ext cx="4526280" cy="91"/>
          </a:xfrm>
          <a:prstGeom prst="line">
            <a:avLst/>
          </a:prstGeom>
          <a:noFill/>
          <a:ln w="6350">
            <a:solidFill>
              <a:srgbClr val="C5DCD9"/>
            </a:solidFill>
            <a:prstDash val="solid"/>
          </a:ln>
        </p:spPr>
      </p:sp>
      <p:sp>
        <p:nvSpPr>
          <p:cNvPr id="39" name="Shape 37"/>
          <p:cNvSpPr/>
          <p:nvPr/>
        </p:nvSpPr>
        <p:spPr>
          <a:xfrm>
            <a:off x="1234440" y="3383280"/>
            <a:ext cx="4526280" cy="91"/>
          </a:xfrm>
          <a:prstGeom prst="line">
            <a:avLst/>
          </a:prstGeom>
          <a:noFill/>
          <a:ln w="6350">
            <a:solidFill>
              <a:srgbClr val="E3EFED"/>
            </a:solidFill>
            <a:prstDash val="solid"/>
          </a:ln>
        </p:spPr>
      </p:sp>
      <p:sp>
        <p:nvSpPr>
          <p:cNvPr id="40" name="Shape 38"/>
          <p:cNvSpPr/>
          <p:nvPr/>
        </p:nvSpPr>
        <p:spPr>
          <a:xfrm>
            <a:off x="1234440" y="3108960"/>
            <a:ext cx="4526280" cy="91"/>
          </a:xfrm>
          <a:prstGeom prst="line">
            <a:avLst/>
          </a:prstGeom>
          <a:noFill/>
          <a:ln w="6350">
            <a:solidFill>
              <a:srgbClr val="C5DCD9"/>
            </a:solidFill>
            <a:prstDash val="solid"/>
          </a:ln>
        </p:spPr>
      </p:sp>
      <p:sp>
        <p:nvSpPr>
          <p:cNvPr id="41" name="Shape 39"/>
          <p:cNvSpPr/>
          <p:nvPr/>
        </p:nvSpPr>
        <p:spPr>
          <a:xfrm>
            <a:off x="1234440" y="2834640"/>
            <a:ext cx="4526280" cy="91"/>
          </a:xfrm>
          <a:prstGeom prst="line">
            <a:avLst/>
          </a:prstGeom>
          <a:noFill/>
          <a:ln w="6350">
            <a:solidFill>
              <a:srgbClr val="E3EFED"/>
            </a:solidFill>
            <a:prstDash val="solid"/>
          </a:ln>
        </p:spPr>
      </p:sp>
      <p:sp>
        <p:nvSpPr>
          <p:cNvPr id="42" name="Shape 40"/>
          <p:cNvSpPr/>
          <p:nvPr/>
        </p:nvSpPr>
        <p:spPr>
          <a:xfrm>
            <a:off x="1234440" y="2560320"/>
            <a:ext cx="4526280" cy="91"/>
          </a:xfrm>
          <a:prstGeom prst="line">
            <a:avLst/>
          </a:prstGeom>
          <a:noFill/>
          <a:ln w="6350">
            <a:solidFill>
              <a:srgbClr val="C5DCD9"/>
            </a:solidFill>
            <a:prstDash val="solid"/>
          </a:ln>
        </p:spPr>
      </p:sp>
      <p:sp>
        <p:nvSpPr>
          <p:cNvPr id="43" name="Shape 41"/>
          <p:cNvSpPr/>
          <p:nvPr/>
        </p:nvSpPr>
        <p:spPr>
          <a:xfrm>
            <a:off x="1234440" y="2286000"/>
            <a:ext cx="4526280" cy="91"/>
          </a:xfrm>
          <a:prstGeom prst="line">
            <a:avLst/>
          </a:prstGeom>
          <a:noFill/>
          <a:ln w="6350">
            <a:solidFill>
              <a:srgbClr val="E3EFED"/>
            </a:solidFill>
            <a:prstDash val="solid"/>
          </a:ln>
        </p:spPr>
      </p:sp>
      <p:sp>
        <p:nvSpPr>
          <p:cNvPr id="44" name="Shape 42"/>
          <p:cNvSpPr/>
          <p:nvPr/>
        </p:nvSpPr>
        <p:spPr>
          <a:xfrm>
            <a:off x="1234440" y="2011680"/>
            <a:ext cx="4526280" cy="91"/>
          </a:xfrm>
          <a:prstGeom prst="line">
            <a:avLst/>
          </a:prstGeom>
          <a:noFill/>
          <a:ln w="6350">
            <a:solidFill>
              <a:srgbClr val="C5DCD9"/>
            </a:solidFill>
            <a:prstDash val="solid"/>
          </a:ln>
        </p:spPr>
      </p:sp>
      <p:sp>
        <p:nvSpPr>
          <p:cNvPr id="45" name="Shape 43"/>
          <p:cNvSpPr/>
          <p:nvPr/>
        </p:nvSpPr>
        <p:spPr>
          <a:xfrm>
            <a:off x="1234440" y="1737360"/>
            <a:ext cx="4526280" cy="91"/>
          </a:xfrm>
          <a:prstGeom prst="line">
            <a:avLst/>
          </a:prstGeom>
          <a:noFill/>
          <a:ln w="6350">
            <a:solidFill>
              <a:srgbClr val="E3EFED"/>
            </a:solidFill>
            <a:prstDash val="solid"/>
          </a:ln>
        </p:spPr>
      </p:sp>
      <p:sp>
        <p:nvSpPr>
          <p:cNvPr id="46" name="Shape 44"/>
          <p:cNvSpPr/>
          <p:nvPr/>
        </p:nvSpPr>
        <p:spPr>
          <a:xfrm>
            <a:off x="1234440" y="1463040"/>
            <a:ext cx="4526280" cy="91"/>
          </a:xfrm>
          <a:prstGeom prst="line">
            <a:avLst/>
          </a:prstGeom>
          <a:noFill/>
          <a:ln w="6350">
            <a:solidFill>
              <a:srgbClr val="C5DCD9"/>
            </a:solidFill>
            <a:prstDash val="solid"/>
          </a:ln>
        </p:spPr>
      </p:sp>
      <p:sp>
        <p:nvSpPr>
          <p:cNvPr id="47" name="Shape 45"/>
          <p:cNvSpPr/>
          <p:nvPr/>
        </p:nvSpPr>
        <p:spPr>
          <a:xfrm>
            <a:off x="1234440" y="4754880"/>
            <a:ext cx="4526280" cy="91"/>
          </a:xfrm>
          <a:prstGeom prst="line">
            <a:avLst/>
          </a:prstGeom>
          <a:noFill/>
          <a:ln w="19050">
            <a:solidFill>
              <a:srgbClr val="133536"/>
            </a:solidFill>
            <a:prstDash val="solid"/>
          </a:ln>
        </p:spPr>
      </p:sp>
      <p:sp>
        <p:nvSpPr>
          <p:cNvPr id="48" name="Shape 46"/>
          <p:cNvSpPr/>
          <p:nvPr/>
        </p:nvSpPr>
        <p:spPr>
          <a:xfrm flipV="1">
            <a:off x="1234440" y="1463040"/>
            <a:ext cx="91" cy="3291840"/>
          </a:xfrm>
          <a:prstGeom prst="line">
            <a:avLst/>
          </a:prstGeom>
          <a:noFill/>
          <a:ln w="19050">
            <a:solidFill>
              <a:srgbClr val="133536"/>
            </a:solidFill>
            <a:prstDash val="solid"/>
          </a:ln>
        </p:spPr>
      </p:sp>
      <p:sp>
        <p:nvSpPr>
          <p:cNvPr id="49" name="Shape 47"/>
          <p:cNvSpPr/>
          <p:nvPr/>
        </p:nvSpPr>
        <p:spPr>
          <a:xfrm>
            <a:off x="1234440" y="4754880"/>
            <a:ext cx="91" cy="54864"/>
          </a:xfrm>
          <a:prstGeom prst="line">
            <a:avLst/>
          </a:prstGeom>
          <a:noFill/>
          <a:ln w="12700">
            <a:solidFill>
              <a:srgbClr val="133536"/>
            </a:solidFill>
            <a:prstDash val="solid"/>
          </a:ln>
        </p:spPr>
      </p:sp>
      <p:sp>
        <p:nvSpPr>
          <p:cNvPr id="50" name="Text 48"/>
          <p:cNvSpPr/>
          <p:nvPr/>
        </p:nvSpPr>
        <p:spPr>
          <a:xfrm>
            <a:off x="960120"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1" name="Shape 49"/>
          <p:cNvSpPr/>
          <p:nvPr/>
        </p:nvSpPr>
        <p:spPr>
          <a:xfrm>
            <a:off x="1687068" y="4754880"/>
            <a:ext cx="91" cy="54864"/>
          </a:xfrm>
          <a:prstGeom prst="line">
            <a:avLst/>
          </a:prstGeom>
          <a:noFill/>
          <a:ln w="12700">
            <a:solidFill>
              <a:srgbClr val="133536"/>
            </a:solidFill>
            <a:prstDash val="solid"/>
          </a:ln>
        </p:spPr>
      </p:sp>
      <p:sp>
        <p:nvSpPr>
          <p:cNvPr id="52" name="Text 50"/>
          <p:cNvSpPr/>
          <p:nvPr/>
        </p:nvSpPr>
        <p:spPr>
          <a:xfrm>
            <a:off x="1412748"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53" name="Shape 51"/>
          <p:cNvSpPr/>
          <p:nvPr/>
        </p:nvSpPr>
        <p:spPr>
          <a:xfrm>
            <a:off x="2139696" y="4754880"/>
            <a:ext cx="91" cy="54864"/>
          </a:xfrm>
          <a:prstGeom prst="line">
            <a:avLst/>
          </a:prstGeom>
          <a:noFill/>
          <a:ln w="12700">
            <a:solidFill>
              <a:srgbClr val="133536"/>
            </a:solidFill>
            <a:prstDash val="solid"/>
          </a:ln>
        </p:spPr>
      </p:sp>
      <p:sp>
        <p:nvSpPr>
          <p:cNvPr id="54" name="Text 52"/>
          <p:cNvSpPr/>
          <p:nvPr/>
        </p:nvSpPr>
        <p:spPr>
          <a:xfrm>
            <a:off x="1865376"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5" name="Shape 53"/>
          <p:cNvSpPr/>
          <p:nvPr/>
        </p:nvSpPr>
        <p:spPr>
          <a:xfrm>
            <a:off x="2592324" y="4754880"/>
            <a:ext cx="91" cy="54864"/>
          </a:xfrm>
          <a:prstGeom prst="line">
            <a:avLst/>
          </a:prstGeom>
          <a:noFill/>
          <a:ln w="12700">
            <a:solidFill>
              <a:srgbClr val="133536"/>
            </a:solidFill>
            <a:prstDash val="solid"/>
          </a:ln>
        </p:spPr>
      </p:sp>
      <p:sp>
        <p:nvSpPr>
          <p:cNvPr id="56" name="Text 54"/>
          <p:cNvSpPr/>
          <p:nvPr/>
        </p:nvSpPr>
        <p:spPr>
          <a:xfrm>
            <a:off x="2318004"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57" name="Shape 55"/>
          <p:cNvSpPr/>
          <p:nvPr/>
        </p:nvSpPr>
        <p:spPr>
          <a:xfrm>
            <a:off x="3044952" y="4754880"/>
            <a:ext cx="91" cy="54864"/>
          </a:xfrm>
          <a:prstGeom prst="line">
            <a:avLst/>
          </a:prstGeom>
          <a:noFill/>
          <a:ln w="12700">
            <a:solidFill>
              <a:srgbClr val="133536"/>
            </a:solidFill>
            <a:prstDash val="solid"/>
          </a:ln>
        </p:spPr>
      </p:sp>
      <p:sp>
        <p:nvSpPr>
          <p:cNvPr id="58" name="Text 56"/>
          <p:cNvSpPr/>
          <p:nvPr/>
        </p:nvSpPr>
        <p:spPr>
          <a:xfrm>
            <a:off x="2770632"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9" name="Shape 57"/>
          <p:cNvSpPr/>
          <p:nvPr/>
        </p:nvSpPr>
        <p:spPr>
          <a:xfrm>
            <a:off x="3497580" y="4754880"/>
            <a:ext cx="91" cy="54864"/>
          </a:xfrm>
          <a:prstGeom prst="line">
            <a:avLst/>
          </a:prstGeom>
          <a:noFill/>
          <a:ln w="12700">
            <a:solidFill>
              <a:srgbClr val="133536"/>
            </a:solidFill>
            <a:prstDash val="solid"/>
          </a:ln>
        </p:spPr>
      </p:sp>
      <p:sp>
        <p:nvSpPr>
          <p:cNvPr id="60" name="Text 58"/>
          <p:cNvSpPr/>
          <p:nvPr/>
        </p:nvSpPr>
        <p:spPr>
          <a:xfrm>
            <a:off x="3223260"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61" name="Shape 59"/>
          <p:cNvSpPr/>
          <p:nvPr/>
        </p:nvSpPr>
        <p:spPr>
          <a:xfrm>
            <a:off x="3950208" y="4754880"/>
            <a:ext cx="91" cy="54864"/>
          </a:xfrm>
          <a:prstGeom prst="line">
            <a:avLst/>
          </a:prstGeom>
          <a:noFill/>
          <a:ln w="12700">
            <a:solidFill>
              <a:srgbClr val="133536"/>
            </a:solidFill>
            <a:prstDash val="solid"/>
          </a:ln>
        </p:spPr>
      </p:sp>
      <p:sp>
        <p:nvSpPr>
          <p:cNvPr id="62" name="Text 60"/>
          <p:cNvSpPr/>
          <p:nvPr/>
        </p:nvSpPr>
        <p:spPr>
          <a:xfrm>
            <a:off x="3675888"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63" name="Shape 61"/>
          <p:cNvSpPr/>
          <p:nvPr/>
        </p:nvSpPr>
        <p:spPr>
          <a:xfrm>
            <a:off x="4402836" y="4754880"/>
            <a:ext cx="91" cy="54864"/>
          </a:xfrm>
          <a:prstGeom prst="line">
            <a:avLst/>
          </a:prstGeom>
          <a:noFill/>
          <a:ln w="12700">
            <a:solidFill>
              <a:srgbClr val="133536"/>
            </a:solidFill>
            <a:prstDash val="solid"/>
          </a:ln>
        </p:spPr>
      </p:sp>
      <p:sp>
        <p:nvSpPr>
          <p:cNvPr id="64" name="Text 62"/>
          <p:cNvSpPr/>
          <p:nvPr/>
        </p:nvSpPr>
        <p:spPr>
          <a:xfrm>
            <a:off x="4128516"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65" name="Shape 63"/>
          <p:cNvSpPr/>
          <p:nvPr/>
        </p:nvSpPr>
        <p:spPr>
          <a:xfrm>
            <a:off x="4855464" y="4754880"/>
            <a:ext cx="91" cy="54864"/>
          </a:xfrm>
          <a:prstGeom prst="line">
            <a:avLst/>
          </a:prstGeom>
          <a:noFill/>
          <a:ln w="12700">
            <a:solidFill>
              <a:srgbClr val="133536"/>
            </a:solidFill>
            <a:prstDash val="solid"/>
          </a:ln>
        </p:spPr>
      </p:sp>
      <p:sp>
        <p:nvSpPr>
          <p:cNvPr id="66" name="Text 64"/>
          <p:cNvSpPr/>
          <p:nvPr/>
        </p:nvSpPr>
        <p:spPr>
          <a:xfrm>
            <a:off x="4581144"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67" name="Shape 65"/>
          <p:cNvSpPr/>
          <p:nvPr/>
        </p:nvSpPr>
        <p:spPr>
          <a:xfrm>
            <a:off x="5308092" y="4754880"/>
            <a:ext cx="91" cy="54864"/>
          </a:xfrm>
          <a:prstGeom prst="line">
            <a:avLst/>
          </a:prstGeom>
          <a:noFill/>
          <a:ln w="12700">
            <a:solidFill>
              <a:srgbClr val="133536"/>
            </a:solidFill>
            <a:prstDash val="solid"/>
          </a:ln>
        </p:spPr>
      </p:sp>
      <p:sp>
        <p:nvSpPr>
          <p:cNvPr id="68" name="Text 66"/>
          <p:cNvSpPr/>
          <p:nvPr/>
        </p:nvSpPr>
        <p:spPr>
          <a:xfrm>
            <a:off x="5033772"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a:t>
            </a:r>
            <a:endParaRPr lang="en-US" sz="1000" dirty="0"/>
          </a:p>
        </p:txBody>
      </p:sp>
      <p:sp>
        <p:nvSpPr>
          <p:cNvPr id="69" name="Shape 67"/>
          <p:cNvSpPr/>
          <p:nvPr/>
        </p:nvSpPr>
        <p:spPr>
          <a:xfrm>
            <a:off x="5760720" y="4754880"/>
            <a:ext cx="91" cy="54864"/>
          </a:xfrm>
          <a:prstGeom prst="line">
            <a:avLst/>
          </a:prstGeom>
          <a:noFill/>
          <a:ln w="12700">
            <a:solidFill>
              <a:srgbClr val="133536"/>
            </a:solidFill>
            <a:prstDash val="solid"/>
          </a:ln>
        </p:spPr>
      </p:sp>
      <p:sp>
        <p:nvSpPr>
          <p:cNvPr id="70" name="Text 68"/>
          <p:cNvSpPr/>
          <p:nvPr/>
        </p:nvSpPr>
        <p:spPr>
          <a:xfrm>
            <a:off x="5486400"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71" name="Shape 69"/>
          <p:cNvSpPr/>
          <p:nvPr/>
        </p:nvSpPr>
        <p:spPr>
          <a:xfrm>
            <a:off x="1179576" y="4754880"/>
            <a:ext cx="54864" cy="91"/>
          </a:xfrm>
          <a:prstGeom prst="line">
            <a:avLst/>
          </a:prstGeom>
          <a:noFill/>
          <a:ln w="12700">
            <a:solidFill>
              <a:srgbClr val="133536"/>
            </a:solidFill>
            <a:prstDash val="solid"/>
          </a:ln>
        </p:spPr>
      </p:sp>
      <p:sp>
        <p:nvSpPr>
          <p:cNvPr id="72" name="Text 70"/>
          <p:cNvSpPr/>
          <p:nvPr/>
        </p:nvSpPr>
        <p:spPr>
          <a:xfrm>
            <a:off x="795528" y="46634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38</a:t>
            </a:r>
            <a:endParaRPr lang="en-US" sz="1000" dirty="0"/>
          </a:p>
        </p:txBody>
      </p:sp>
      <p:sp>
        <p:nvSpPr>
          <p:cNvPr id="73" name="Shape 71"/>
          <p:cNvSpPr/>
          <p:nvPr/>
        </p:nvSpPr>
        <p:spPr>
          <a:xfrm>
            <a:off x="1179576" y="4206240"/>
            <a:ext cx="54864" cy="91"/>
          </a:xfrm>
          <a:prstGeom prst="line">
            <a:avLst/>
          </a:prstGeom>
          <a:noFill/>
          <a:ln w="12700">
            <a:solidFill>
              <a:srgbClr val="133536"/>
            </a:solidFill>
            <a:prstDash val="solid"/>
          </a:ln>
        </p:spPr>
      </p:sp>
      <p:sp>
        <p:nvSpPr>
          <p:cNvPr id="74" name="Text 72"/>
          <p:cNvSpPr/>
          <p:nvPr/>
        </p:nvSpPr>
        <p:spPr>
          <a:xfrm>
            <a:off x="795528" y="4114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39</a:t>
            </a:r>
            <a:endParaRPr lang="en-US" sz="1000" dirty="0"/>
          </a:p>
        </p:txBody>
      </p:sp>
      <p:sp>
        <p:nvSpPr>
          <p:cNvPr id="75" name="Shape 73"/>
          <p:cNvSpPr/>
          <p:nvPr/>
        </p:nvSpPr>
        <p:spPr>
          <a:xfrm>
            <a:off x="1179576" y="3657600"/>
            <a:ext cx="54864" cy="91"/>
          </a:xfrm>
          <a:prstGeom prst="line">
            <a:avLst/>
          </a:prstGeom>
          <a:noFill/>
          <a:ln w="12700">
            <a:solidFill>
              <a:srgbClr val="133536"/>
            </a:solidFill>
            <a:prstDash val="solid"/>
          </a:ln>
        </p:spPr>
      </p:sp>
      <p:sp>
        <p:nvSpPr>
          <p:cNvPr id="76" name="Text 74"/>
          <p:cNvSpPr/>
          <p:nvPr/>
        </p:nvSpPr>
        <p:spPr>
          <a:xfrm>
            <a:off x="795528" y="3566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77" name="Shape 75"/>
          <p:cNvSpPr/>
          <p:nvPr/>
        </p:nvSpPr>
        <p:spPr>
          <a:xfrm>
            <a:off x="1179576" y="3108960"/>
            <a:ext cx="54864" cy="91"/>
          </a:xfrm>
          <a:prstGeom prst="line">
            <a:avLst/>
          </a:prstGeom>
          <a:noFill/>
          <a:ln w="12700">
            <a:solidFill>
              <a:srgbClr val="133536"/>
            </a:solidFill>
            <a:prstDash val="solid"/>
          </a:ln>
        </p:spPr>
      </p:sp>
      <p:sp>
        <p:nvSpPr>
          <p:cNvPr id="78" name="Text 76"/>
          <p:cNvSpPr/>
          <p:nvPr/>
        </p:nvSpPr>
        <p:spPr>
          <a:xfrm>
            <a:off x="795528" y="30175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41</a:t>
            </a:r>
            <a:endParaRPr lang="en-US" sz="1000" dirty="0"/>
          </a:p>
        </p:txBody>
      </p:sp>
      <p:sp>
        <p:nvSpPr>
          <p:cNvPr id="79" name="Shape 77"/>
          <p:cNvSpPr/>
          <p:nvPr/>
        </p:nvSpPr>
        <p:spPr>
          <a:xfrm>
            <a:off x="1179576" y="2560320"/>
            <a:ext cx="54864" cy="91"/>
          </a:xfrm>
          <a:prstGeom prst="line">
            <a:avLst/>
          </a:prstGeom>
          <a:noFill/>
          <a:ln w="12700">
            <a:solidFill>
              <a:srgbClr val="133536"/>
            </a:solidFill>
            <a:prstDash val="solid"/>
          </a:ln>
        </p:spPr>
      </p:sp>
      <p:sp>
        <p:nvSpPr>
          <p:cNvPr id="80" name="Text 78"/>
          <p:cNvSpPr/>
          <p:nvPr/>
        </p:nvSpPr>
        <p:spPr>
          <a:xfrm>
            <a:off x="795528" y="2468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42</a:t>
            </a:r>
            <a:endParaRPr lang="en-US" sz="1000" dirty="0"/>
          </a:p>
        </p:txBody>
      </p:sp>
      <p:sp>
        <p:nvSpPr>
          <p:cNvPr id="81" name="Shape 79"/>
          <p:cNvSpPr/>
          <p:nvPr/>
        </p:nvSpPr>
        <p:spPr>
          <a:xfrm>
            <a:off x="1179576" y="2011680"/>
            <a:ext cx="54864" cy="91"/>
          </a:xfrm>
          <a:prstGeom prst="line">
            <a:avLst/>
          </a:prstGeom>
          <a:noFill/>
          <a:ln w="12700">
            <a:solidFill>
              <a:srgbClr val="133536"/>
            </a:solidFill>
            <a:prstDash val="solid"/>
          </a:ln>
        </p:spPr>
      </p:sp>
      <p:sp>
        <p:nvSpPr>
          <p:cNvPr id="82" name="Text 80"/>
          <p:cNvSpPr/>
          <p:nvPr/>
        </p:nvSpPr>
        <p:spPr>
          <a:xfrm>
            <a:off x="795528" y="19202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43</a:t>
            </a:r>
            <a:endParaRPr lang="en-US" sz="1000" dirty="0"/>
          </a:p>
        </p:txBody>
      </p:sp>
      <p:sp>
        <p:nvSpPr>
          <p:cNvPr id="83" name="Shape 81"/>
          <p:cNvSpPr/>
          <p:nvPr/>
        </p:nvSpPr>
        <p:spPr>
          <a:xfrm>
            <a:off x="1179576" y="1463040"/>
            <a:ext cx="54864" cy="91"/>
          </a:xfrm>
          <a:prstGeom prst="line">
            <a:avLst/>
          </a:prstGeom>
          <a:noFill/>
          <a:ln w="12700">
            <a:solidFill>
              <a:srgbClr val="133536"/>
            </a:solidFill>
            <a:prstDash val="solid"/>
          </a:ln>
        </p:spPr>
      </p:sp>
      <p:sp>
        <p:nvSpPr>
          <p:cNvPr id="84" name="Text 82"/>
          <p:cNvSpPr/>
          <p:nvPr/>
        </p:nvSpPr>
        <p:spPr>
          <a:xfrm>
            <a:off x="79552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44</a:t>
            </a:r>
            <a:endParaRPr lang="en-US" sz="1000" dirty="0"/>
          </a:p>
        </p:txBody>
      </p:sp>
      <p:sp>
        <p:nvSpPr>
          <p:cNvPr id="85" name="Text 83"/>
          <p:cNvSpPr/>
          <p:nvPr/>
        </p:nvSpPr>
        <p:spPr>
          <a:xfrm>
            <a:off x="1234440" y="5001768"/>
            <a:ext cx="4526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min</a:t>
            </a:r>
            <a:endParaRPr lang="en-US" sz="1050" dirty="0"/>
          </a:p>
        </p:txBody>
      </p:sp>
      <p:sp>
        <p:nvSpPr>
          <p:cNvPr id="86" name="Text 84"/>
          <p:cNvSpPr/>
          <p:nvPr/>
        </p:nvSpPr>
        <p:spPr>
          <a:xfrm rot="16200000">
            <a:off x="-978408" y="298094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Water temperature / °C</a:t>
            </a:r>
            <a:endParaRPr lang="en-US" sz="1050" dirty="0"/>
          </a:p>
        </p:txBody>
      </p:sp>
      <p:sp>
        <p:nvSpPr>
          <p:cNvPr id="87" name="Shape 85"/>
          <p:cNvSpPr/>
          <p:nvPr/>
        </p:nvSpPr>
        <p:spPr>
          <a:xfrm>
            <a:off x="1234440" y="3657600"/>
            <a:ext cx="4526280" cy="91"/>
          </a:xfrm>
          <a:prstGeom prst="line">
            <a:avLst/>
          </a:prstGeom>
          <a:noFill/>
          <a:ln w="19050">
            <a:solidFill>
              <a:srgbClr val="2E8B57"/>
            </a:solidFill>
            <a:prstDash val="dash"/>
          </a:ln>
        </p:spPr>
      </p:sp>
      <p:sp>
        <p:nvSpPr>
          <p:cNvPr id="88" name="Shape 86"/>
          <p:cNvSpPr/>
          <p:nvPr/>
        </p:nvSpPr>
        <p:spPr>
          <a:xfrm flipV="1">
            <a:off x="1234440" y="2834640"/>
            <a:ext cx="452628" cy="822960"/>
          </a:xfrm>
          <a:prstGeom prst="line">
            <a:avLst/>
          </a:prstGeom>
          <a:noFill/>
          <a:ln w="28575">
            <a:solidFill>
              <a:srgbClr val="D9534F"/>
            </a:solidFill>
            <a:prstDash val="solid"/>
          </a:ln>
        </p:spPr>
      </p:sp>
      <p:sp>
        <p:nvSpPr>
          <p:cNvPr id="89" name="Shape 87"/>
          <p:cNvSpPr/>
          <p:nvPr/>
        </p:nvSpPr>
        <p:spPr>
          <a:xfrm flipV="1">
            <a:off x="1687068" y="2286000"/>
            <a:ext cx="452628" cy="548640"/>
          </a:xfrm>
          <a:prstGeom prst="line">
            <a:avLst/>
          </a:prstGeom>
          <a:noFill/>
          <a:ln w="28575">
            <a:solidFill>
              <a:srgbClr val="D9534F"/>
            </a:solidFill>
            <a:prstDash val="solid"/>
          </a:ln>
        </p:spPr>
      </p:sp>
      <p:sp>
        <p:nvSpPr>
          <p:cNvPr id="90" name="Shape 88"/>
          <p:cNvSpPr/>
          <p:nvPr/>
        </p:nvSpPr>
        <p:spPr>
          <a:xfrm flipV="1">
            <a:off x="2139696" y="2011680"/>
            <a:ext cx="452628" cy="274320"/>
          </a:xfrm>
          <a:prstGeom prst="line">
            <a:avLst/>
          </a:prstGeom>
          <a:noFill/>
          <a:ln w="28575">
            <a:solidFill>
              <a:srgbClr val="D9534F"/>
            </a:solidFill>
            <a:prstDash val="solid"/>
          </a:ln>
        </p:spPr>
      </p:sp>
      <p:sp>
        <p:nvSpPr>
          <p:cNvPr id="91" name="Shape 89"/>
          <p:cNvSpPr/>
          <p:nvPr/>
        </p:nvSpPr>
        <p:spPr>
          <a:xfrm>
            <a:off x="2592324" y="2011680"/>
            <a:ext cx="452628" cy="274320"/>
          </a:xfrm>
          <a:prstGeom prst="line">
            <a:avLst/>
          </a:prstGeom>
          <a:noFill/>
          <a:ln w="28575">
            <a:solidFill>
              <a:srgbClr val="D9534F"/>
            </a:solidFill>
            <a:prstDash val="solid"/>
          </a:ln>
        </p:spPr>
      </p:sp>
      <p:sp>
        <p:nvSpPr>
          <p:cNvPr id="92" name="Shape 90"/>
          <p:cNvSpPr/>
          <p:nvPr/>
        </p:nvSpPr>
        <p:spPr>
          <a:xfrm>
            <a:off x="3044952" y="2286000"/>
            <a:ext cx="452628" cy="274320"/>
          </a:xfrm>
          <a:prstGeom prst="line">
            <a:avLst/>
          </a:prstGeom>
          <a:noFill/>
          <a:ln w="28575">
            <a:solidFill>
              <a:srgbClr val="D9534F"/>
            </a:solidFill>
            <a:prstDash val="solid"/>
          </a:ln>
        </p:spPr>
      </p:sp>
      <p:sp>
        <p:nvSpPr>
          <p:cNvPr id="93" name="Shape 91"/>
          <p:cNvSpPr/>
          <p:nvPr/>
        </p:nvSpPr>
        <p:spPr>
          <a:xfrm>
            <a:off x="3497580" y="2560320"/>
            <a:ext cx="452628" cy="274320"/>
          </a:xfrm>
          <a:prstGeom prst="line">
            <a:avLst/>
          </a:prstGeom>
          <a:noFill/>
          <a:ln w="28575">
            <a:solidFill>
              <a:srgbClr val="D9534F"/>
            </a:solidFill>
            <a:prstDash val="solid"/>
          </a:ln>
        </p:spPr>
      </p:sp>
      <p:sp>
        <p:nvSpPr>
          <p:cNvPr id="94" name="Shape 92"/>
          <p:cNvSpPr/>
          <p:nvPr/>
        </p:nvSpPr>
        <p:spPr>
          <a:xfrm>
            <a:off x="3950208" y="2834640"/>
            <a:ext cx="452628" cy="274320"/>
          </a:xfrm>
          <a:prstGeom prst="line">
            <a:avLst/>
          </a:prstGeom>
          <a:noFill/>
          <a:ln w="28575">
            <a:solidFill>
              <a:srgbClr val="D9534F"/>
            </a:solidFill>
            <a:prstDash val="solid"/>
          </a:ln>
        </p:spPr>
      </p:sp>
      <p:sp>
        <p:nvSpPr>
          <p:cNvPr id="95" name="Shape 93"/>
          <p:cNvSpPr/>
          <p:nvPr/>
        </p:nvSpPr>
        <p:spPr>
          <a:xfrm>
            <a:off x="4402836" y="3108960"/>
            <a:ext cx="452628" cy="274320"/>
          </a:xfrm>
          <a:prstGeom prst="line">
            <a:avLst/>
          </a:prstGeom>
          <a:noFill/>
          <a:ln w="28575">
            <a:solidFill>
              <a:srgbClr val="D9534F"/>
            </a:solidFill>
            <a:prstDash val="solid"/>
          </a:ln>
        </p:spPr>
      </p:sp>
      <p:sp>
        <p:nvSpPr>
          <p:cNvPr id="96" name="Shape 94"/>
          <p:cNvSpPr/>
          <p:nvPr/>
        </p:nvSpPr>
        <p:spPr>
          <a:xfrm>
            <a:off x="4855464" y="3383280"/>
            <a:ext cx="452628" cy="274320"/>
          </a:xfrm>
          <a:prstGeom prst="line">
            <a:avLst/>
          </a:prstGeom>
          <a:noFill/>
          <a:ln w="28575">
            <a:solidFill>
              <a:srgbClr val="D9534F"/>
            </a:solidFill>
            <a:prstDash val="solid"/>
          </a:ln>
        </p:spPr>
      </p:sp>
      <p:sp>
        <p:nvSpPr>
          <p:cNvPr id="97" name="Shape 95"/>
          <p:cNvSpPr/>
          <p:nvPr/>
        </p:nvSpPr>
        <p:spPr>
          <a:xfrm>
            <a:off x="5308092" y="3657600"/>
            <a:ext cx="452628" cy="274320"/>
          </a:xfrm>
          <a:prstGeom prst="line">
            <a:avLst/>
          </a:prstGeom>
          <a:noFill/>
          <a:ln w="28575">
            <a:solidFill>
              <a:srgbClr val="D9534F"/>
            </a:solidFill>
            <a:prstDash val="solid"/>
          </a:ln>
        </p:spPr>
      </p:sp>
      <p:sp>
        <p:nvSpPr>
          <p:cNvPr id="98" name="Shape 96"/>
          <p:cNvSpPr/>
          <p:nvPr/>
        </p:nvSpPr>
        <p:spPr>
          <a:xfrm>
            <a:off x="1188720" y="3611880"/>
            <a:ext cx="91440" cy="91440"/>
          </a:xfrm>
          <a:prstGeom prst="line">
            <a:avLst/>
          </a:prstGeom>
          <a:noFill/>
          <a:ln w="15875">
            <a:solidFill>
              <a:srgbClr val="D9534F"/>
            </a:solidFill>
            <a:prstDash val="solid"/>
          </a:ln>
        </p:spPr>
      </p:sp>
      <p:sp>
        <p:nvSpPr>
          <p:cNvPr id="99" name="Shape 97"/>
          <p:cNvSpPr/>
          <p:nvPr/>
        </p:nvSpPr>
        <p:spPr>
          <a:xfrm flipV="1">
            <a:off x="1188720" y="3611880"/>
            <a:ext cx="91440" cy="91440"/>
          </a:xfrm>
          <a:prstGeom prst="line">
            <a:avLst/>
          </a:prstGeom>
          <a:noFill/>
          <a:ln w="15875">
            <a:solidFill>
              <a:srgbClr val="D9534F"/>
            </a:solidFill>
            <a:prstDash val="solid"/>
          </a:ln>
        </p:spPr>
      </p:sp>
      <p:sp>
        <p:nvSpPr>
          <p:cNvPr id="100" name="Shape 98"/>
          <p:cNvSpPr/>
          <p:nvPr/>
        </p:nvSpPr>
        <p:spPr>
          <a:xfrm>
            <a:off x="1641348" y="2788920"/>
            <a:ext cx="91440" cy="91440"/>
          </a:xfrm>
          <a:prstGeom prst="line">
            <a:avLst/>
          </a:prstGeom>
          <a:noFill/>
          <a:ln w="15875">
            <a:solidFill>
              <a:srgbClr val="D9534F"/>
            </a:solidFill>
            <a:prstDash val="solid"/>
          </a:ln>
        </p:spPr>
      </p:sp>
      <p:sp>
        <p:nvSpPr>
          <p:cNvPr id="101" name="Shape 99"/>
          <p:cNvSpPr/>
          <p:nvPr/>
        </p:nvSpPr>
        <p:spPr>
          <a:xfrm flipV="1">
            <a:off x="1641348" y="2788920"/>
            <a:ext cx="91440" cy="91440"/>
          </a:xfrm>
          <a:prstGeom prst="line">
            <a:avLst/>
          </a:prstGeom>
          <a:noFill/>
          <a:ln w="15875">
            <a:solidFill>
              <a:srgbClr val="D9534F"/>
            </a:solidFill>
            <a:prstDash val="solid"/>
          </a:ln>
        </p:spPr>
      </p:sp>
      <p:sp>
        <p:nvSpPr>
          <p:cNvPr id="102" name="Shape 100"/>
          <p:cNvSpPr/>
          <p:nvPr/>
        </p:nvSpPr>
        <p:spPr>
          <a:xfrm>
            <a:off x="2093976" y="2240280"/>
            <a:ext cx="91440" cy="91440"/>
          </a:xfrm>
          <a:prstGeom prst="line">
            <a:avLst/>
          </a:prstGeom>
          <a:noFill/>
          <a:ln w="15875">
            <a:solidFill>
              <a:srgbClr val="D9534F"/>
            </a:solidFill>
            <a:prstDash val="solid"/>
          </a:ln>
        </p:spPr>
      </p:sp>
      <p:sp>
        <p:nvSpPr>
          <p:cNvPr id="103" name="Shape 101"/>
          <p:cNvSpPr/>
          <p:nvPr/>
        </p:nvSpPr>
        <p:spPr>
          <a:xfrm flipV="1">
            <a:off x="2093976" y="2240280"/>
            <a:ext cx="91440" cy="91440"/>
          </a:xfrm>
          <a:prstGeom prst="line">
            <a:avLst/>
          </a:prstGeom>
          <a:noFill/>
          <a:ln w="15875">
            <a:solidFill>
              <a:srgbClr val="D9534F"/>
            </a:solidFill>
            <a:prstDash val="solid"/>
          </a:ln>
        </p:spPr>
      </p:sp>
      <p:sp>
        <p:nvSpPr>
          <p:cNvPr id="104" name="Shape 102"/>
          <p:cNvSpPr/>
          <p:nvPr/>
        </p:nvSpPr>
        <p:spPr>
          <a:xfrm>
            <a:off x="2546604" y="1965960"/>
            <a:ext cx="91440" cy="91440"/>
          </a:xfrm>
          <a:prstGeom prst="line">
            <a:avLst/>
          </a:prstGeom>
          <a:noFill/>
          <a:ln w="15875">
            <a:solidFill>
              <a:srgbClr val="D9534F"/>
            </a:solidFill>
            <a:prstDash val="solid"/>
          </a:ln>
        </p:spPr>
      </p:sp>
      <p:sp>
        <p:nvSpPr>
          <p:cNvPr id="105" name="Shape 103"/>
          <p:cNvSpPr/>
          <p:nvPr/>
        </p:nvSpPr>
        <p:spPr>
          <a:xfrm flipV="1">
            <a:off x="2546604" y="1965960"/>
            <a:ext cx="91440" cy="91440"/>
          </a:xfrm>
          <a:prstGeom prst="line">
            <a:avLst/>
          </a:prstGeom>
          <a:noFill/>
          <a:ln w="15875">
            <a:solidFill>
              <a:srgbClr val="D9534F"/>
            </a:solidFill>
            <a:prstDash val="solid"/>
          </a:ln>
        </p:spPr>
      </p:sp>
      <p:sp>
        <p:nvSpPr>
          <p:cNvPr id="106" name="Shape 104"/>
          <p:cNvSpPr/>
          <p:nvPr/>
        </p:nvSpPr>
        <p:spPr>
          <a:xfrm>
            <a:off x="2999232" y="2240280"/>
            <a:ext cx="91440" cy="91440"/>
          </a:xfrm>
          <a:prstGeom prst="line">
            <a:avLst/>
          </a:prstGeom>
          <a:noFill/>
          <a:ln w="15875">
            <a:solidFill>
              <a:srgbClr val="D9534F"/>
            </a:solidFill>
            <a:prstDash val="solid"/>
          </a:ln>
        </p:spPr>
      </p:sp>
      <p:sp>
        <p:nvSpPr>
          <p:cNvPr id="107" name="Shape 105"/>
          <p:cNvSpPr/>
          <p:nvPr/>
        </p:nvSpPr>
        <p:spPr>
          <a:xfrm flipV="1">
            <a:off x="2999232" y="2240280"/>
            <a:ext cx="91440" cy="91440"/>
          </a:xfrm>
          <a:prstGeom prst="line">
            <a:avLst/>
          </a:prstGeom>
          <a:noFill/>
          <a:ln w="15875">
            <a:solidFill>
              <a:srgbClr val="D9534F"/>
            </a:solidFill>
            <a:prstDash val="solid"/>
          </a:ln>
        </p:spPr>
      </p:sp>
      <p:sp>
        <p:nvSpPr>
          <p:cNvPr id="108" name="Shape 106"/>
          <p:cNvSpPr/>
          <p:nvPr/>
        </p:nvSpPr>
        <p:spPr>
          <a:xfrm>
            <a:off x="3451860" y="2514600"/>
            <a:ext cx="91440" cy="91440"/>
          </a:xfrm>
          <a:prstGeom prst="line">
            <a:avLst/>
          </a:prstGeom>
          <a:noFill/>
          <a:ln w="15875">
            <a:solidFill>
              <a:srgbClr val="D9534F"/>
            </a:solidFill>
            <a:prstDash val="solid"/>
          </a:ln>
        </p:spPr>
      </p:sp>
      <p:sp>
        <p:nvSpPr>
          <p:cNvPr id="109" name="Shape 107"/>
          <p:cNvSpPr/>
          <p:nvPr/>
        </p:nvSpPr>
        <p:spPr>
          <a:xfrm flipV="1">
            <a:off x="3451860" y="2514600"/>
            <a:ext cx="91440" cy="91440"/>
          </a:xfrm>
          <a:prstGeom prst="line">
            <a:avLst/>
          </a:prstGeom>
          <a:noFill/>
          <a:ln w="15875">
            <a:solidFill>
              <a:srgbClr val="D9534F"/>
            </a:solidFill>
            <a:prstDash val="solid"/>
          </a:ln>
        </p:spPr>
      </p:sp>
      <p:sp>
        <p:nvSpPr>
          <p:cNvPr id="110" name="Shape 108"/>
          <p:cNvSpPr/>
          <p:nvPr/>
        </p:nvSpPr>
        <p:spPr>
          <a:xfrm>
            <a:off x="3904488" y="2788920"/>
            <a:ext cx="91440" cy="91440"/>
          </a:xfrm>
          <a:prstGeom prst="line">
            <a:avLst/>
          </a:prstGeom>
          <a:noFill/>
          <a:ln w="15875">
            <a:solidFill>
              <a:srgbClr val="D9534F"/>
            </a:solidFill>
            <a:prstDash val="solid"/>
          </a:ln>
        </p:spPr>
      </p:sp>
      <p:sp>
        <p:nvSpPr>
          <p:cNvPr id="111" name="Shape 109"/>
          <p:cNvSpPr/>
          <p:nvPr/>
        </p:nvSpPr>
        <p:spPr>
          <a:xfrm flipV="1">
            <a:off x="3904488" y="2788920"/>
            <a:ext cx="91440" cy="91440"/>
          </a:xfrm>
          <a:prstGeom prst="line">
            <a:avLst/>
          </a:prstGeom>
          <a:noFill/>
          <a:ln w="15875">
            <a:solidFill>
              <a:srgbClr val="D9534F"/>
            </a:solidFill>
            <a:prstDash val="solid"/>
          </a:ln>
        </p:spPr>
      </p:sp>
      <p:sp>
        <p:nvSpPr>
          <p:cNvPr id="112" name="Shape 110"/>
          <p:cNvSpPr/>
          <p:nvPr/>
        </p:nvSpPr>
        <p:spPr>
          <a:xfrm>
            <a:off x="4357116" y="3063240"/>
            <a:ext cx="91440" cy="91440"/>
          </a:xfrm>
          <a:prstGeom prst="line">
            <a:avLst/>
          </a:prstGeom>
          <a:noFill/>
          <a:ln w="15875">
            <a:solidFill>
              <a:srgbClr val="D9534F"/>
            </a:solidFill>
            <a:prstDash val="solid"/>
          </a:ln>
        </p:spPr>
      </p:sp>
      <p:sp>
        <p:nvSpPr>
          <p:cNvPr id="113" name="Shape 111"/>
          <p:cNvSpPr/>
          <p:nvPr/>
        </p:nvSpPr>
        <p:spPr>
          <a:xfrm flipV="1">
            <a:off x="4357116" y="3063240"/>
            <a:ext cx="91440" cy="91440"/>
          </a:xfrm>
          <a:prstGeom prst="line">
            <a:avLst/>
          </a:prstGeom>
          <a:noFill/>
          <a:ln w="15875">
            <a:solidFill>
              <a:srgbClr val="D9534F"/>
            </a:solidFill>
            <a:prstDash val="solid"/>
          </a:ln>
        </p:spPr>
      </p:sp>
      <p:sp>
        <p:nvSpPr>
          <p:cNvPr id="114" name="Shape 112"/>
          <p:cNvSpPr/>
          <p:nvPr/>
        </p:nvSpPr>
        <p:spPr>
          <a:xfrm>
            <a:off x="4809744" y="3337560"/>
            <a:ext cx="91440" cy="91440"/>
          </a:xfrm>
          <a:prstGeom prst="line">
            <a:avLst/>
          </a:prstGeom>
          <a:noFill/>
          <a:ln w="15875">
            <a:solidFill>
              <a:srgbClr val="D9534F"/>
            </a:solidFill>
            <a:prstDash val="solid"/>
          </a:ln>
        </p:spPr>
      </p:sp>
      <p:sp>
        <p:nvSpPr>
          <p:cNvPr id="115" name="Shape 113"/>
          <p:cNvSpPr/>
          <p:nvPr/>
        </p:nvSpPr>
        <p:spPr>
          <a:xfrm flipV="1">
            <a:off x="4809744" y="3337560"/>
            <a:ext cx="91440" cy="91440"/>
          </a:xfrm>
          <a:prstGeom prst="line">
            <a:avLst/>
          </a:prstGeom>
          <a:noFill/>
          <a:ln w="15875">
            <a:solidFill>
              <a:srgbClr val="D9534F"/>
            </a:solidFill>
            <a:prstDash val="solid"/>
          </a:ln>
        </p:spPr>
      </p:sp>
      <p:sp>
        <p:nvSpPr>
          <p:cNvPr id="116" name="Shape 114"/>
          <p:cNvSpPr/>
          <p:nvPr/>
        </p:nvSpPr>
        <p:spPr>
          <a:xfrm>
            <a:off x="5262372" y="3611880"/>
            <a:ext cx="91440" cy="91440"/>
          </a:xfrm>
          <a:prstGeom prst="line">
            <a:avLst/>
          </a:prstGeom>
          <a:noFill/>
          <a:ln w="15875">
            <a:solidFill>
              <a:srgbClr val="D9534F"/>
            </a:solidFill>
            <a:prstDash val="solid"/>
          </a:ln>
        </p:spPr>
      </p:sp>
      <p:sp>
        <p:nvSpPr>
          <p:cNvPr id="117" name="Shape 115"/>
          <p:cNvSpPr/>
          <p:nvPr/>
        </p:nvSpPr>
        <p:spPr>
          <a:xfrm flipV="1">
            <a:off x="5262372" y="3611880"/>
            <a:ext cx="91440" cy="91440"/>
          </a:xfrm>
          <a:prstGeom prst="line">
            <a:avLst/>
          </a:prstGeom>
          <a:noFill/>
          <a:ln w="15875">
            <a:solidFill>
              <a:srgbClr val="D9534F"/>
            </a:solidFill>
            <a:prstDash val="solid"/>
          </a:ln>
        </p:spPr>
      </p:sp>
      <p:sp>
        <p:nvSpPr>
          <p:cNvPr id="118" name="Shape 116"/>
          <p:cNvSpPr/>
          <p:nvPr/>
        </p:nvSpPr>
        <p:spPr>
          <a:xfrm>
            <a:off x="5715000" y="3886200"/>
            <a:ext cx="91440" cy="91440"/>
          </a:xfrm>
          <a:prstGeom prst="line">
            <a:avLst/>
          </a:prstGeom>
          <a:noFill/>
          <a:ln w="15875">
            <a:solidFill>
              <a:srgbClr val="D9534F"/>
            </a:solidFill>
            <a:prstDash val="solid"/>
          </a:ln>
        </p:spPr>
      </p:sp>
      <p:sp>
        <p:nvSpPr>
          <p:cNvPr id="119" name="Shape 117"/>
          <p:cNvSpPr/>
          <p:nvPr/>
        </p:nvSpPr>
        <p:spPr>
          <a:xfrm flipV="1">
            <a:off x="5715000" y="3886200"/>
            <a:ext cx="91440" cy="91440"/>
          </a:xfrm>
          <a:prstGeom prst="line">
            <a:avLst/>
          </a:prstGeom>
          <a:noFill/>
          <a:ln w="15875">
            <a:solidFill>
              <a:srgbClr val="D9534F"/>
            </a:solidFill>
            <a:prstDash val="solid"/>
          </a:ln>
        </p:spPr>
      </p:sp>
      <p:sp>
        <p:nvSpPr>
          <p:cNvPr id="120" name="Shape 118"/>
          <p:cNvSpPr/>
          <p:nvPr/>
        </p:nvSpPr>
        <p:spPr>
          <a:xfrm flipV="1">
            <a:off x="1234440" y="3108960"/>
            <a:ext cx="452628" cy="548640"/>
          </a:xfrm>
          <a:prstGeom prst="line">
            <a:avLst/>
          </a:prstGeom>
          <a:noFill/>
          <a:ln w="28575">
            <a:solidFill>
              <a:srgbClr val="3B7DD8"/>
            </a:solidFill>
            <a:prstDash val="solid"/>
          </a:ln>
        </p:spPr>
      </p:sp>
      <p:sp>
        <p:nvSpPr>
          <p:cNvPr id="121" name="Shape 119"/>
          <p:cNvSpPr/>
          <p:nvPr/>
        </p:nvSpPr>
        <p:spPr>
          <a:xfrm>
            <a:off x="1687068" y="3108960"/>
            <a:ext cx="452628" cy="274320"/>
          </a:xfrm>
          <a:prstGeom prst="line">
            <a:avLst/>
          </a:prstGeom>
          <a:noFill/>
          <a:ln w="28575">
            <a:solidFill>
              <a:srgbClr val="3B7DD8"/>
            </a:solidFill>
            <a:prstDash val="solid"/>
          </a:ln>
        </p:spPr>
      </p:sp>
      <p:sp>
        <p:nvSpPr>
          <p:cNvPr id="122" name="Shape 120"/>
          <p:cNvSpPr/>
          <p:nvPr/>
        </p:nvSpPr>
        <p:spPr>
          <a:xfrm>
            <a:off x="2139696" y="3383280"/>
            <a:ext cx="452628" cy="548640"/>
          </a:xfrm>
          <a:prstGeom prst="line">
            <a:avLst/>
          </a:prstGeom>
          <a:noFill/>
          <a:ln w="28575">
            <a:solidFill>
              <a:srgbClr val="3B7DD8"/>
            </a:solidFill>
            <a:prstDash val="solid"/>
          </a:ln>
        </p:spPr>
      </p:sp>
      <p:sp>
        <p:nvSpPr>
          <p:cNvPr id="123" name="Shape 121"/>
          <p:cNvSpPr/>
          <p:nvPr/>
        </p:nvSpPr>
        <p:spPr>
          <a:xfrm flipV="1">
            <a:off x="2592324" y="3657600"/>
            <a:ext cx="452628" cy="274320"/>
          </a:xfrm>
          <a:prstGeom prst="line">
            <a:avLst/>
          </a:prstGeom>
          <a:noFill/>
          <a:ln w="28575">
            <a:solidFill>
              <a:srgbClr val="3B7DD8"/>
            </a:solidFill>
            <a:prstDash val="solid"/>
          </a:ln>
        </p:spPr>
      </p:sp>
      <p:sp>
        <p:nvSpPr>
          <p:cNvPr id="124" name="Shape 122"/>
          <p:cNvSpPr/>
          <p:nvPr/>
        </p:nvSpPr>
        <p:spPr>
          <a:xfrm flipV="1">
            <a:off x="3044952" y="3383280"/>
            <a:ext cx="452628" cy="274320"/>
          </a:xfrm>
          <a:prstGeom prst="line">
            <a:avLst/>
          </a:prstGeom>
          <a:noFill/>
          <a:ln w="28575">
            <a:solidFill>
              <a:srgbClr val="3B7DD8"/>
            </a:solidFill>
            <a:prstDash val="solid"/>
          </a:ln>
        </p:spPr>
      </p:sp>
      <p:sp>
        <p:nvSpPr>
          <p:cNvPr id="125" name="Shape 123"/>
          <p:cNvSpPr/>
          <p:nvPr/>
        </p:nvSpPr>
        <p:spPr>
          <a:xfrm>
            <a:off x="3497580" y="3383280"/>
            <a:ext cx="452628" cy="274320"/>
          </a:xfrm>
          <a:prstGeom prst="line">
            <a:avLst/>
          </a:prstGeom>
          <a:noFill/>
          <a:ln w="28575">
            <a:solidFill>
              <a:srgbClr val="3B7DD8"/>
            </a:solidFill>
            <a:prstDash val="solid"/>
          </a:ln>
        </p:spPr>
      </p:sp>
      <p:sp>
        <p:nvSpPr>
          <p:cNvPr id="126" name="Shape 124"/>
          <p:cNvSpPr/>
          <p:nvPr/>
        </p:nvSpPr>
        <p:spPr>
          <a:xfrm>
            <a:off x="3950208" y="3657600"/>
            <a:ext cx="452628" cy="274320"/>
          </a:xfrm>
          <a:prstGeom prst="line">
            <a:avLst/>
          </a:prstGeom>
          <a:noFill/>
          <a:ln w="28575">
            <a:solidFill>
              <a:srgbClr val="3B7DD8"/>
            </a:solidFill>
            <a:prstDash val="solid"/>
          </a:ln>
        </p:spPr>
      </p:sp>
      <p:sp>
        <p:nvSpPr>
          <p:cNvPr id="127" name="Shape 125"/>
          <p:cNvSpPr/>
          <p:nvPr/>
        </p:nvSpPr>
        <p:spPr>
          <a:xfrm flipV="1">
            <a:off x="4402836" y="3657600"/>
            <a:ext cx="452628" cy="274320"/>
          </a:xfrm>
          <a:prstGeom prst="line">
            <a:avLst/>
          </a:prstGeom>
          <a:noFill/>
          <a:ln w="28575">
            <a:solidFill>
              <a:srgbClr val="3B7DD8"/>
            </a:solidFill>
            <a:prstDash val="solid"/>
          </a:ln>
        </p:spPr>
      </p:sp>
      <p:sp>
        <p:nvSpPr>
          <p:cNvPr id="128" name="Shape 126"/>
          <p:cNvSpPr/>
          <p:nvPr/>
        </p:nvSpPr>
        <p:spPr>
          <a:xfrm flipV="1">
            <a:off x="4855464" y="3383280"/>
            <a:ext cx="452628" cy="274320"/>
          </a:xfrm>
          <a:prstGeom prst="line">
            <a:avLst/>
          </a:prstGeom>
          <a:noFill/>
          <a:ln w="28575">
            <a:solidFill>
              <a:srgbClr val="3B7DD8"/>
            </a:solidFill>
            <a:prstDash val="solid"/>
          </a:ln>
        </p:spPr>
      </p:sp>
      <p:sp>
        <p:nvSpPr>
          <p:cNvPr id="129" name="Shape 127"/>
          <p:cNvSpPr/>
          <p:nvPr/>
        </p:nvSpPr>
        <p:spPr>
          <a:xfrm>
            <a:off x="5308092" y="3383280"/>
            <a:ext cx="452628" cy="274320"/>
          </a:xfrm>
          <a:prstGeom prst="line">
            <a:avLst/>
          </a:prstGeom>
          <a:noFill/>
          <a:ln w="28575">
            <a:solidFill>
              <a:srgbClr val="3B7DD8"/>
            </a:solidFill>
            <a:prstDash val="solid"/>
          </a:ln>
        </p:spPr>
      </p:sp>
      <p:sp>
        <p:nvSpPr>
          <p:cNvPr id="130" name="Shape 128"/>
          <p:cNvSpPr/>
          <p:nvPr/>
        </p:nvSpPr>
        <p:spPr>
          <a:xfrm>
            <a:off x="1188720" y="3611880"/>
            <a:ext cx="91440" cy="91440"/>
          </a:xfrm>
          <a:prstGeom prst="line">
            <a:avLst/>
          </a:prstGeom>
          <a:noFill/>
          <a:ln w="15875">
            <a:solidFill>
              <a:srgbClr val="3B7DD8"/>
            </a:solidFill>
            <a:prstDash val="solid"/>
          </a:ln>
        </p:spPr>
      </p:sp>
      <p:sp>
        <p:nvSpPr>
          <p:cNvPr id="131" name="Shape 129"/>
          <p:cNvSpPr/>
          <p:nvPr/>
        </p:nvSpPr>
        <p:spPr>
          <a:xfrm flipV="1">
            <a:off x="1188720" y="3611880"/>
            <a:ext cx="91440" cy="91440"/>
          </a:xfrm>
          <a:prstGeom prst="line">
            <a:avLst/>
          </a:prstGeom>
          <a:noFill/>
          <a:ln w="15875">
            <a:solidFill>
              <a:srgbClr val="3B7DD8"/>
            </a:solidFill>
            <a:prstDash val="solid"/>
          </a:ln>
        </p:spPr>
      </p:sp>
      <p:sp>
        <p:nvSpPr>
          <p:cNvPr id="132" name="Shape 130"/>
          <p:cNvSpPr/>
          <p:nvPr/>
        </p:nvSpPr>
        <p:spPr>
          <a:xfrm>
            <a:off x="1641348" y="3063240"/>
            <a:ext cx="91440" cy="91440"/>
          </a:xfrm>
          <a:prstGeom prst="line">
            <a:avLst/>
          </a:prstGeom>
          <a:noFill/>
          <a:ln w="15875">
            <a:solidFill>
              <a:srgbClr val="3B7DD8"/>
            </a:solidFill>
            <a:prstDash val="solid"/>
          </a:ln>
        </p:spPr>
      </p:sp>
      <p:sp>
        <p:nvSpPr>
          <p:cNvPr id="133" name="Shape 131"/>
          <p:cNvSpPr/>
          <p:nvPr/>
        </p:nvSpPr>
        <p:spPr>
          <a:xfrm flipV="1">
            <a:off x="1641348" y="3063240"/>
            <a:ext cx="91440" cy="91440"/>
          </a:xfrm>
          <a:prstGeom prst="line">
            <a:avLst/>
          </a:prstGeom>
          <a:noFill/>
          <a:ln w="15875">
            <a:solidFill>
              <a:srgbClr val="3B7DD8"/>
            </a:solidFill>
            <a:prstDash val="solid"/>
          </a:ln>
        </p:spPr>
      </p:sp>
      <p:sp>
        <p:nvSpPr>
          <p:cNvPr id="134" name="Shape 132"/>
          <p:cNvSpPr/>
          <p:nvPr/>
        </p:nvSpPr>
        <p:spPr>
          <a:xfrm>
            <a:off x="2093976" y="3337560"/>
            <a:ext cx="91440" cy="91440"/>
          </a:xfrm>
          <a:prstGeom prst="line">
            <a:avLst/>
          </a:prstGeom>
          <a:noFill/>
          <a:ln w="15875">
            <a:solidFill>
              <a:srgbClr val="3B7DD8"/>
            </a:solidFill>
            <a:prstDash val="solid"/>
          </a:ln>
        </p:spPr>
      </p:sp>
      <p:sp>
        <p:nvSpPr>
          <p:cNvPr id="135" name="Shape 133"/>
          <p:cNvSpPr/>
          <p:nvPr/>
        </p:nvSpPr>
        <p:spPr>
          <a:xfrm flipV="1">
            <a:off x="2093976" y="3337560"/>
            <a:ext cx="91440" cy="91440"/>
          </a:xfrm>
          <a:prstGeom prst="line">
            <a:avLst/>
          </a:prstGeom>
          <a:noFill/>
          <a:ln w="15875">
            <a:solidFill>
              <a:srgbClr val="3B7DD8"/>
            </a:solidFill>
            <a:prstDash val="solid"/>
          </a:ln>
        </p:spPr>
      </p:sp>
      <p:sp>
        <p:nvSpPr>
          <p:cNvPr id="136" name="Shape 134"/>
          <p:cNvSpPr/>
          <p:nvPr/>
        </p:nvSpPr>
        <p:spPr>
          <a:xfrm>
            <a:off x="2546604" y="3886200"/>
            <a:ext cx="91440" cy="91440"/>
          </a:xfrm>
          <a:prstGeom prst="line">
            <a:avLst/>
          </a:prstGeom>
          <a:noFill/>
          <a:ln w="15875">
            <a:solidFill>
              <a:srgbClr val="3B7DD8"/>
            </a:solidFill>
            <a:prstDash val="solid"/>
          </a:ln>
        </p:spPr>
      </p:sp>
      <p:sp>
        <p:nvSpPr>
          <p:cNvPr id="137" name="Shape 135"/>
          <p:cNvSpPr/>
          <p:nvPr/>
        </p:nvSpPr>
        <p:spPr>
          <a:xfrm flipV="1">
            <a:off x="2546604" y="3886200"/>
            <a:ext cx="91440" cy="91440"/>
          </a:xfrm>
          <a:prstGeom prst="line">
            <a:avLst/>
          </a:prstGeom>
          <a:noFill/>
          <a:ln w="15875">
            <a:solidFill>
              <a:srgbClr val="3B7DD8"/>
            </a:solidFill>
            <a:prstDash val="solid"/>
          </a:ln>
        </p:spPr>
      </p:sp>
      <p:sp>
        <p:nvSpPr>
          <p:cNvPr id="138" name="Shape 136"/>
          <p:cNvSpPr/>
          <p:nvPr/>
        </p:nvSpPr>
        <p:spPr>
          <a:xfrm>
            <a:off x="2999232" y="3611880"/>
            <a:ext cx="91440" cy="91440"/>
          </a:xfrm>
          <a:prstGeom prst="line">
            <a:avLst/>
          </a:prstGeom>
          <a:noFill/>
          <a:ln w="15875">
            <a:solidFill>
              <a:srgbClr val="3B7DD8"/>
            </a:solidFill>
            <a:prstDash val="solid"/>
          </a:ln>
        </p:spPr>
      </p:sp>
      <p:sp>
        <p:nvSpPr>
          <p:cNvPr id="139" name="Shape 137"/>
          <p:cNvSpPr/>
          <p:nvPr/>
        </p:nvSpPr>
        <p:spPr>
          <a:xfrm flipV="1">
            <a:off x="2999232" y="3611880"/>
            <a:ext cx="91440" cy="91440"/>
          </a:xfrm>
          <a:prstGeom prst="line">
            <a:avLst/>
          </a:prstGeom>
          <a:noFill/>
          <a:ln w="15875">
            <a:solidFill>
              <a:srgbClr val="3B7DD8"/>
            </a:solidFill>
            <a:prstDash val="solid"/>
          </a:ln>
        </p:spPr>
      </p:sp>
      <p:sp>
        <p:nvSpPr>
          <p:cNvPr id="140" name="Shape 138"/>
          <p:cNvSpPr/>
          <p:nvPr/>
        </p:nvSpPr>
        <p:spPr>
          <a:xfrm>
            <a:off x="3451860" y="3337560"/>
            <a:ext cx="91440" cy="91440"/>
          </a:xfrm>
          <a:prstGeom prst="line">
            <a:avLst/>
          </a:prstGeom>
          <a:noFill/>
          <a:ln w="15875">
            <a:solidFill>
              <a:srgbClr val="3B7DD8"/>
            </a:solidFill>
            <a:prstDash val="solid"/>
          </a:ln>
        </p:spPr>
      </p:sp>
      <p:sp>
        <p:nvSpPr>
          <p:cNvPr id="141" name="Shape 139"/>
          <p:cNvSpPr/>
          <p:nvPr/>
        </p:nvSpPr>
        <p:spPr>
          <a:xfrm flipV="1">
            <a:off x="3451860" y="3337560"/>
            <a:ext cx="91440" cy="91440"/>
          </a:xfrm>
          <a:prstGeom prst="line">
            <a:avLst/>
          </a:prstGeom>
          <a:noFill/>
          <a:ln w="15875">
            <a:solidFill>
              <a:srgbClr val="3B7DD8"/>
            </a:solidFill>
            <a:prstDash val="solid"/>
          </a:ln>
        </p:spPr>
      </p:sp>
      <p:sp>
        <p:nvSpPr>
          <p:cNvPr id="142" name="Shape 140"/>
          <p:cNvSpPr/>
          <p:nvPr/>
        </p:nvSpPr>
        <p:spPr>
          <a:xfrm>
            <a:off x="3904488" y="3611880"/>
            <a:ext cx="91440" cy="91440"/>
          </a:xfrm>
          <a:prstGeom prst="line">
            <a:avLst/>
          </a:prstGeom>
          <a:noFill/>
          <a:ln w="15875">
            <a:solidFill>
              <a:srgbClr val="3B7DD8"/>
            </a:solidFill>
            <a:prstDash val="solid"/>
          </a:ln>
        </p:spPr>
      </p:sp>
      <p:sp>
        <p:nvSpPr>
          <p:cNvPr id="143" name="Shape 141"/>
          <p:cNvSpPr/>
          <p:nvPr/>
        </p:nvSpPr>
        <p:spPr>
          <a:xfrm flipV="1">
            <a:off x="3904488" y="3611880"/>
            <a:ext cx="91440" cy="91440"/>
          </a:xfrm>
          <a:prstGeom prst="line">
            <a:avLst/>
          </a:prstGeom>
          <a:noFill/>
          <a:ln w="15875">
            <a:solidFill>
              <a:srgbClr val="3B7DD8"/>
            </a:solidFill>
            <a:prstDash val="solid"/>
          </a:ln>
        </p:spPr>
      </p:sp>
      <p:sp>
        <p:nvSpPr>
          <p:cNvPr id="144" name="Shape 142"/>
          <p:cNvSpPr/>
          <p:nvPr/>
        </p:nvSpPr>
        <p:spPr>
          <a:xfrm>
            <a:off x="4357116" y="3886200"/>
            <a:ext cx="91440" cy="91440"/>
          </a:xfrm>
          <a:prstGeom prst="line">
            <a:avLst/>
          </a:prstGeom>
          <a:noFill/>
          <a:ln w="15875">
            <a:solidFill>
              <a:srgbClr val="3B7DD8"/>
            </a:solidFill>
            <a:prstDash val="solid"/>
          </a:ln>
        </p:spPr>
      </p:sp>
      <p:sp>
        <p:nvSpPr>
          <p:cNvPr id="145" name="Shape 143"/>
          <p:cNvSpPr/>
          <p:nvPr/>
        </p:nvSpPr>
        <p:spPr>
          <a:xfrm flipV="1">
            <a:off x="4357116" y="3886200"/>
            <a:ext cx="91440" cy="91440"/>
          </a:xfrm>
          <a:prstGeom prst="line">
            <a:avLst/>
          </a:prstGeom>
          <a:noFill/>
          <a:ln w="15875">
            <a:solidFill>
              <a:srgbClr val="3B7DD8"/>
            </a:solidFill>
            <a:prstDash val="solid"/>
          </a:ln>
        </p:spPr>
      </p:sp>
      <p:sp>
        <p:nvSpPr>
          <p:cNvPr id="146" name="Shape 144"/>
          <p:cNvSpPr/>
          <p:nvPr/>
        </p:nvSpPr>
        <p:spPr>
          <a:xfrm>
            <a:off x="4809744" y="3611880"/>
            <a:ext cx="91440" cy="91440"/>
          </a:xfrm>
          <a:prstGeom prst="line">
            <a:avLst/>
          </a:prstGeom>
          <a:noFill/>
          <a:ln w="15875">
            <a:solidFill>
              <a:srgbClr val="3B7DD8"/>
            </a:solidFill>
            <a:prstDash val="solid"/>
          </a:ln>
        </p:spPr>
      </p:sp>
      <p:sp>
        <p:nvSpPr>
          <p:cNvPr id="147" name="Shape 145"/>
          <p:cNvSpPr/>
          <p:nvPr/>
        </p:nvSpPr>
        <p:spPr>
          <a:xfrm flipV="1">
            <a:off x="4809744" y="3611880"/>
            <a:ext cx="91440" cy="91440"/>
          </a:xfrm>
          <a:prstGeom prst="line">
            <a:avLst/>
          </a:prstGeom>
          <a:noFill/>
          <a:ln w="15875">
            <a:solidFill>
              <a:srgbClr val="3B7DD8"/>
            </a:solidFill>
            <a:prstDash val="solid"/>
          </a:ln>
        </p:spPr>
      </p:sp>
      <p:sp>
        <p:nvSpPr>
          <p:cNvPr id="148" name="Shape 146"/>
          <p:cNvSpPr/>
          <p:nvPr/>
        </p:nvSpPr>
        <p:spPr>
          <a:xfrm>
            <a:off x="5262372" y="3337560"/>
            <a:ext cx="91440" cy="91440"/>
          </a:xfrm>
          <a:prstGeom prst="line">
            <a:avLst/>
          </a:prstGeom>
          <a:noFill/>
          <a:ln w="15875">
            <a:solidFill>
              <a:srgbClr val="3B7DD8"/>
            </a:solidFill>
            <a:prstDash val="solid"/>
          </a:ln>
        </p:spPr>
      </p:sp>
      <p:sp>
        <p:nvSpPr>
          <p:cNvPr id="149" name="Shape 147"/>
          <p:cNvSpPr/>
          <p:nvPr/>
        </p:nvSpPr>
        <p:spPr>
          <a:xfrm flipV="1">
            <a:off x="5262372" y="3337560"/>
            <a:ext cx="91440" cy="91440"/>
          </a:xfrm>
          <a:prstGeom prst="line">
            <a:avLst/>
          </a:prstGeom>
          <a:noFill/>
          <a:ln w="15875">
            <a:solidFill>
              <a:srgbClr val="3B7DD8"/>
            </a:solidFill>
            <a:prstDash val="solid"/>
          </a:ln>
        </p:spPr>
      </p:sp>
      <p:sp>
        <p:nvSpPr>
          <p:cNvPr id="150" name="Shape 148"/>
          <p:cNvSpPr/>
          <p:nvPr/>
        </p:nvSpPr>
        <p:spPr>
          <a:xfrm>
            <a:off x="5715000" y="3611880"/>
            <a:ext cx="91440" cy="91440"/>
          </a:xfrm>
          <a:prstGeom prst="line">
            <a:avLst/>
          </a:prstGeom>
          <a:noFill/>
          <a:ln w="15875">
            <a:solidFill>
              <a:srgbClr val="3B7DD8"/>
            </a:solidFill>
            <a:prstDash val="solid"/>
          </a:ln>
        </p:spPr>
      </p:sp>
      <p:sp>
        <p:nvSpPr>
          <p:cNvPr id="151" name="Shape 149"/>
          <p:cNvSpPr/>
          <p:nvPr/>
        </p:nvSpPr>
        <p:spPr>
          <a:xfrm flipV="1">
            <a:off x="5715000" y="3611880"/>
            <a:ext cx="91440" cy="91440"/>
          </a:xfrm>
          <a:prstGeom prst="line">
            <a:avLst/>
          </a:prstGeom>
          <a:noFill/>
          <a:ln w="15875">
            <a:solidFill>
              <a:srgbClr val="3B7DD8"/>
            </a:solidFill>
            <a:prstDash val="solid"/>
          </a:ln>
        </p:spPr>
      </p:sp>
      <p:sp>
        <p:nvSpPr>
          <p:cNvPr id="152" name="Text 150"/>
          <p:cNvSpPr/>
          <p:nvPr/>
        </p:nvSpPr>
        <p:spPr>
          <a:xfrm>
            <a:off x="2728112" y="1709928"/>
            <a:ext cx="2194560" cy="237744"/>
          </a:xfrm>
          <a:prstGeom prst="rect">
            <a:avLst/>
          </a:prstGeom>
          <a:noFill/>
          <a:ln/>
        </p:spPr>
        <p:txBody>
          <a:bodyPr wrap="square" lIns="0" tIns="0" rIns="0" bIns="0" rtlCol="0" anchor="ctr"/>
          <a:lstStyle/>
          <a:p>
            <a:pPr algn="l" indent="0" marL="0">
              <a:buNone/>
            </a:pPr>
            <a:r>
              <a:rPr lang="en-US" sz="1050" b="1" dirty="0">
                <a:solidFill>
                  <a:srgbClr val="D9534F"/>
                </a:solidFill>
                <a:latin typeface="Calibri" pitchFamily="34" charset="0"/>
                <a:ea typeface="Calibri" pitchFamily="34" charset="-122"/>
                <a:cs typeface="Calibri" pitchFamily="34" charset="-120"/>
              </a:rPr>
              <a:t>A: Bunsen only</a:t>
            </a:r>
            <a:endParaRPr lang="en-US" sz="1050" dirty="0"/>
          </a:p>
        </p:txBody>
      </p:sp>
      <p:sp>
        <p:nvSpPr>
          <p:cNvPr id="153" name="Text 151"/>
          <p:cNvSpPr/>
          <p:nvPr/>
        </p:nvSpPr>
        <p:spPr>
          <a:xfrm>
            <a:off x="3588106" y="3959352"/>
            <a:ext cx="2194560" cy="237744"/>
          </a:xfrm>
          <a:prstGeom prst="rect">
            <a:avLst/>
          </a:prstGeom>
          <a:noFill/>
          <a:ln/>
        </p:spPr>
        <p:txBody>
          <a:bodyPr wrap="square" lIns="0" tIns="0" rIns="0" bIns="0" rtlCol="0" anchor="ctr"/>
          <a:lstStyle/>
          <a:p>
            <a:pPr algn="l" indent="0" marL="0">
              <a:buNone/>
            </a:pPr>
            <a:r>
              <a:rPr lang="en-US" sz="1050" b="1" dirty="0">
                <a:solidFill>
                  <a:srgbClr val="3B7DD8"/>
                </a:solidFill>
                <a:latin typeface="Calibri" pitchFamily="34" charset="0"/>
                <a:ea typeface="Calibri" pitchFamily="34" charset="-122"/>
                <a:cs typeface="Calibri" pitchFamily="34" charset="-120"/>
              </a:rPr>
              <a:t>B: Bunsen and ice</a:t>
            </a:r>
            <a:endParaRPr lang="en-US" sz="1050" dirty="0"/>
          </a:p>
        </p:txBody>
      </p:sp>
      <p:sp>
        <p:nvSpPr>
          <p:cNvPr id="154" name="Text 152"/>
          <p:cNvSpPr/>
          <p:nvPr/>
        </p:nvSpPr>
        <p:spPr>
          <a:xfrm>
            <a:off x="4983480" y="3410712"/>
            <a:ext cx="777240" cy="219456"/>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40 °C</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804672"/>
                <a:gridCol w="432262"/>
                <a:gridCol w="432262"/>
                <a:gridCol w="432262"/>
                <a:gridCol w="432262"/>
                <a:gridCol w="432262"/>
                <a:gridCol w="432262"/>
                <a:gridCol w="432262"/>
                <a:gridCol w="432262"/>
                <a:gridCol w="432262"/>
                <a:gridCol w="432262"/>
                <a:gridCol w="432262"/>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Time / min</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74320">
                <a:tc>
                  <a:txBody>
                    <a:bodyPr/>
                    <a:lstStyle/>
                    <a:p>
                      <a:pPr algn="l" indent="0" marL="0">
                        <a:buNone/>
                      </a:pPr>
                      <a:r>
                        <a:rPr lang="en-US" sz="1000" b="1" dirty="0">
                          <a:solidFill>
                            <a:srgbClr val="D9534F"/>
                          </a:solidFill>
                          <a:latin typeface="Calibri" pitchFamily="34" charset="0"/>
                          <a:ea typeface="Calibri" pitchFamily="34" charset="-122"/>
                          <a:cs typeface="Calibri" pitchFamily="34" charset="-120"/>
                        </a:rPr>
                        <a:t>A / °C</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41.5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42.5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43</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42.5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41.5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39.5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l" indent="0" marL="0">
                        <a:buNone/>
                      </a:pPr>
                      <a:r>
                        <a:rPr lang="en-US" sz="1000" b="1" dirty="0">
                          <a:solidFill>
                            <a:srgbClr val="3B7DD8"/>
                          </a:solidFill>
                          <a:latin typeface="Calibri" pitchFamily="34" charset="0"/>
                          <a:ea typeface="Calibri" pitchFamily="34" charset="-122"/>
                          <a:cs typeface="Calibri" pitchFamily="34" charset="-120"/>
                        </a:rPr>
                        <a:t>B / °C</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39.5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39.5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217920" y="2148840"/>
          <a:ext cx="5559552" cy="914400"/>
        </p:xfrm>
        <a:graphic>
          <a:graphicData uri="http://schemas.openxmlformats.org/drawingml/2006/table">
            <a:tbl>
              <a:tblPr/>
              <a:tblGrid>
                <a:gridCol w="2816352"/>
                <a:gridCol w="1371600"/>
                <a:gridCol w="1371600"/>
              </a:tblGrid>
              <a:tr h="265176">
                <a:tc>
                  <a:txBody>
                    <a:bodyPr/>
                    <a:lstStyle/>
                    <a:p>
                      <a:pPr algn="ct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Run A</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Run B</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65176">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Range / °C</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65176">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Biggest difference from 40 °C</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65176">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Mean / °C (3 s.f.)</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41.3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40.1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157" name="Shape 153"/>
          <p:cNvSpPr/>
          <p:nvPr/>
        </p:nvSpPr>
        <p:spPr>
          <a:xfrm>
            <a:off x="6217920" y="3337560"/>
            <a:ext cx="5559552" cy="1234440"/>
          </a:xfrm>
          <a:prstGeom prst="roundRect">
            <a:avLst>
              <a:gd name="adj" fmla="val 4444"/>
            </a:avLst>
          </a:prstGeom>
          <a:solidFill>
            <a:srgbClr val="FFF4E0"/>
          </a:solidFill>
          <a:ln w="9525">
            <a:solidFill>
              <a:srgbClr val="F1D9A8"/>
            </a:solidFill>
            <a:prstDash val="solid"/>
          </a:ln>
        </p:spPr>
      </p:sp>
      <p:sp>
        <p:nvSpPr>
          <p:cNvPr id="158" name="Text 154"/>
          <p:cNvSpPr/>
          <p:nvPr/>
        </p:nvSpPr>
        <p:spPr>
          <a:xfrm>
            <a:off x="6382512" y="34107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range and mean for run B</a:t>
            </a:r>
            <a:endParaRPr lang="en-US" sz="1300" dirty="0"/>
          </a:p>
        </p:txBody>
      </p:sp>
      <p:sp>
        <p:nvSpPr>
          <p:cNvPr id="159" name="Text 155"/>
          <p:cNvSpPr/>
          <p:nvPr/>
        </p:nvSpPr>
        <p:spPr>
          <a:xfrm>
            <a:off x="6382512" y="3721608"/>
            <a:ext cx="5230368" cy="77724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Range   </a:t>
            </a:r>
            <a:r>
              <a:rPr lang="en-US" sz="1050" dirty="0">
                <a:solidFill>
                  <a:srgbClr val="262B3A"/>
                </a:solidFill>
                <a:latin typeface="Calibri" pitchFamily="34" charset="0"/>
                <a:ea typeface="Calibri" pitchFamily="34" charset="-122"/>
                <a:cs typeface="Calibri" pitchFamily="34" charset="-120"/>
              </a:rPr>
              <a:t>highest − lowest = 41 − 39.5 = 1.5 °C</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mean = sum ÷ 11 = 441.5 ÷ 11 = 40.1 °C (3 s.f.)</a:t>
            </a:r>
            <a:endParaRPr lang="en-US" sz="1050" dirty="0"/>
          </a:p>
        </p:txBody>
      </p:sp>
      <p:sp>
        <p:nvSpPr>
          <p:cNvPr id="160" name="Shape 156"/>
          <p:cNvSpPr/>
          <p:nvPr/>
        </p:nvSpPr>
        <p:spPr>
          <a:xfrm>
            <a:off x="6217920" y="4663440"/>
            <a:ext cx="5559552" cy="1051560"/>
          </a:xfrm>
          <a:prstGeom prst="roundRect">
            <a:avLst>
              <a:gd name="adj" fmla="val 5217"/>
            </a:avLst>
          </a:prstGeom>
          <a:solidFill>
            <a:srgbClr val="F4FAF9"/>
          </a:solidFill>
          <a:ln w="9525">
            <a:solidFill>
              <a:srgbClr val="CFE0DE"/>
            </a:solidFill>
            <a:prstDash val="solid"/>
          </a:ln>
        </p:spPr>
      </p:sp>
      <p:sp>
        <p:nvSpPr>
          <p:cNvPr id="161" name="Text 157"/>
          <p:cNvSpPr/>
          <p:nvPr/>
        </p:nvSpPr>
        <p:spPr>
          <a:xfrm>
            <a:off x="6382512" y="475488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Sources of error and improvements</a:t>
            </a:r>
            <a:endParaRPr lang="en-US" sz="1300" dirty="0"/>
          </a:p>
        </p:txBody>
      </p:sp>
      <p:sp>
        <p:nvSpPr>
          <p:cNvPr id="162" name="Text 158"/>
          <p:cNvSpPr/>
          <p:nvPr/>
        </p:nvSpPr>
        <p:spPr>
          <a:xfrm>
            <a:off x="6382512" y="5084064"/>
            <a:ext cx="5230368" cy="55778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Thermometer read late or at an angle → use a </a:t>
            </a:r>
            <a:r>
              <a:rPr lang="en-US" sz="1050" b="1" dirty="0">
                <a:solidFill>
                  <a:srgbClr val="262B3A"/>
                </a:solidFill>
                <a:latin typeface="Calibri" pitchFamily="34" charset="0"/>
                <a:ea typeface="Calibri" pitchFamily="34" charset="-122"/>
                <a:cs typeface="Calibri" pitchFamily="34" charset="-120"/>
              </a:rPr>
              <a:t>data logger</a:t>
            </a:r>
            <a:r>
              <a:rPr lang="en-US" sz="1050" dirty="0">
                <a:solidFill>
                  <a:srgbClr val="262B3A"/>
                </a:solidFill>
                <a:latin typeface="Calibri" pitchFamily="34" charset="0"/>
                <a:ea typeface="Calibri" pitchFamily="34" charset="-122"/>
                <a:cs typeface="Calibri" pitchFamily="34" charset="-120"/>
              </a:rPr>
              <a:t> and probe; read at eye level.</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Water not mixed: hot and cold patches → </a:t>
            </a:r>
            <a:r>
              <a:rPr lang="en-US" sz="1050" b="1" dirty="0">
                <a:solidFill>
                  <a:srgbClr val="262B3A"/>
                </a:solidFill>
                <a:latin typeface="Calibri" pitchFamily="34" charset="0"/>
                <a:ea typeface="Calibri" pitchFamily="34" charset="-122"/>
                <a:cs typeface="Calibri" pitchFamily="34" charset="-120"/>
              </a:rPr>
              <a:t>stir</a:t>
            </a:r>
            <a:r>
              <a:rPr lang="en-US" sz="1050" dirty="0">
                <a:solidFill>
                  <a:srgbClr val="262B3A"/>
                </a:solidFill>
                <a:latin typeface="Calibri" pitchFamily="34" charset="0"/>
                <a:ea typeface="Calibri" pitchFamily="34" charset="-122"/>
                <a:cs typeface="Calibri" pitchFamily="34" charset="-120"/>
              </a:rPr>
              <a:t> before each reading.</a:t>
            </a:r>
            <a:endParaRPr lang="en-US" sz="1050" dirty="0"/>
          </a:p>
        </p:txBody>
      </p:sp>
      <p:sp>
        <p:nvSpPr>
          <p:cNvPr id="163" name="Shape 159"/>
          <p:cNvSpPr/>
          <p:nvPr/>
        </p:nvSpPr>
        <p:spPr>
          <a:xfrm>
            <a:off x="411480" y="5833872"/>
            <a:ext cx="11368735" cy="530352"/>
          </a:xfrm>
          <a:prstGeom prst="rect">
            <a:avLst/>
          </a:prstGeom>
          <a:solidFill>
            <a:srgbClr val="FFF4E0"/>
          </a:solidFill>
          <a:ln w="6350">
            <a:solidFill>
              <a:srgbClr val="F1D9A8"/>
            </a:solidFill>
            <a:prstDash val="solid"/>
          </a:ln>
        </p:spPr>
      </p:sp>
      <p:sp>
        <p:nvSpPr>
          <p:cNvPr id="164" name="Shape 160"/>
          <p:cNvSpPr/>
          <p:nvPr/>
        </p:nvSpPr>
        <p:spPr>
          <a:xfrm>
            <a:off x="411480" y="5833872"/>
            <a:ext cx="82296" cy="530352"/>
          </a:xfrm>
          <a:prstGeom prst="rect">
            <a:avLst/>
          </a:prstGeom>
          <a:solidFill>
            <a:srgbClr val="E39A2F"/>
          </a:solidFill>
          <a:ln w="12700">
            <a:solidFill>
              <a:srgbClr val="E39A2F"/>
            </a:solidFill>
            <a:prstDash val="solid"/>
          </a:ln>
        </p:spPr>
      </p:sp>
      <p:sp>
        <p:nvSpPr>
          <p:cNvPr id="165" name="Text 16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run kept the temperature closer to 40 °C? Use the </a:t>
            </a:r>
            <a:r>
              <a:rPr lang="en-US" sz="1150" b="1" dirty="0">
                <a:solidFill>
                  <a:srgbClr val="262B3A"/>
                </a:solidFill>
                <a:latin typeface="Calibri" pitchFamily="34" charset="0"/>
                <a:ea typeface="Calibri" pitchFamily="34" charset="-122"/>
                <a:cs typeface="Calibri" pitchFamily="34" charset="-120"/>
              </a:rPr>
              <a:t>range</a:t>
            </a:r>
            <a:r>
              <a:rPr lang="en-US" sz="1150" dirty="0">
                <a:solidFill>
                  <a:srgbClr val="262B3A"/>
                </a:solidFill>
                <a:latin typeface="Calibri" pitchFamily="34" charset="0"/>
                <a:ea typeface="Calibri" pitchFamily="34" charset="-122"/>
                <a:cs typeface="Calibri" pitchFamily="34" charset="-120"/>
              </a:rPr>
              <a:t> and the </a:t>
            </a:r>
            <a:r>
              <a:rPr lang="en-US" sz="1150" b="1" dirty="0">
                <a:solidFill>
                  <a:srgbClr val="262B3A"/>
                </a:solidFill>
                <a:latin typeface="Calibri" pitchFamily="34" charset="0"/>
                <a:ea typeface="Calibri" pitchFamily="34" charset="-122"/>
                <a:cs typeface="Calibri" pitchFamily="34" charset="-120"/>
              </a:rPr>
              <a:t>biggest difference</a:t>
            </a:r>
            <a:r>
              <a:rPr lang="en-US" sz="1150" dirty="0">
                <a:solidFill>
                  <a:srgbClr val="262B3A"/>
                </a:solidFill>
                <a:latin typeface="Calibri" pitchFamily="34" charset="0"/>
                <a:ea typeface="Calibri" pitchFamily="34" charset="-122"/>
                <a:cs typeface="Calibri" pitchFamily="34" charset="-120"/>
              </a:rPr>
              <a:t> to explain. Why does run A take so long to come back down?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Suggested practical: skin and core temperature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compare skin temperature and core body temperature under different conditions</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17</a:t>
            </a:r>
            <a:endParaRPr lang="en-US" sz="1000" dirty="0"/>
          </a:p>
        </p:txBody>
      </p:sp>
      <p:sp>
        <p:nvSpPr>
          <p:cNvPr id="10" name="Shape 8"/>
          <p:cNvSpPr/>
          <p:nvPr/>
        </p:nvSpPr>
        <p:spPr>
          <a:xfrm>
            <a:off x="411480" y="1188720"/>
            <a:ext cx="3017520" cy="4526280"/>
          </a:xfrm>
          <a:prstGeom prst="roundRect">
            <a:avLst>
              <a:gd name="adj" fmla="val 2424"/>
            </a:avLst>
          </a:prstGeom>
          <a:solidFill>
            <a:srgbClr val="EEF5F4"/>
          </a:solidFill>
          <a:ln w="9525">
            <a:solidFill>
              <a:srgbClr val="D2E3E1"/>
            </a:solidFill>
            <a:prstDash val="solid"/>
          </a:ln>
        </p:spPr>
      </p:sp>
      <p:sp>
        <p:nvSpPr>
          <p:cNvPr id="11" name="Text 9"/>
          <p:cNvSpPr/>
          <p:nvPr/>
        </p:nvSpPr>
        <p:spPr>
          <a:xfrm>
            <a:off x="548640" y="5404104"/>
            <a:ext cx="27432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where to measure</a:t>
            </a:r>
            <a:endParaRPr lang="en-US" sz="1000" dirty="0"/>
          </a:p>
        </p:txBody>
      </p:sp>
      <p:sp>
        <p:nvSpPr>
          <p:cNvPr id="12" name="Shape 10"/>
          <p:cNvSpPr/>
          <p:nvPr/>
        </p:nvSpPr>
        <p:spPr>
          <a:xfrm rot="420000">
            <a:off x="1019007" y="2221992"/>
            <a:ext cx="225308" cy="1488643"/>
          </a:xfrm>
          <a:prstGeom prst="roundRect">
            <a:avLst>
              <a:gd name="adj" fmla="val 45000"/>
            </a:avLst>
          </a:prstGeom>
          <a:solidFill>
            <a:srgbClr val="F6DDC8"/>
          </a:solidFill>
          <a:ln w="31750">
            <a:solidFill>
              <a:srgbClr val="B98E6E"/>
            </a:solidFill>
            <a:prstDash val="solid"/>
          </a:ln>
        </p:spPr>
      </p:sp>
      <p:sp>
        <p:nvSpPr>
          <p:cNvPr id="13" name="Shape 11"/>
          <p:cNvSpPr/>
          <p:nvPr/>
        </p:nvSpPr>
        <p:spPr>
          <a:xfrm rot="-420000">
            <a:off x="2596164" y="2221992"/>
            <a:ext cx="225308" cy="1488643"/>
          </a:xfrm>
          <a:prstGeom prst="roundRect">
            <a:avLst>
              <a:gd name="adj" fmla="val 45000"/>
            </a:avLst>
          </a:prstGeom>
          <a:solidFill>
            <a:srgbClr val="F6DDC8"/>
          </a:solidFill>
          <a:ln w="31750">
            <a:solidFill>
              <a:srgbClr val="B98E6E"/>
            </a:solidFill>
            <a:prstDash val="solid"/>
          </a:ln>
        </p:spPr>
      </p:sp>
      <p:sp>
        <p:nvSpPr>
          <p:cNvPr id="14" name="Shape 12"/>
          <p:cNvSpPr/>
          <p:nvPr/>
        </p:nvSpPr>
        <p:spPr>
          <a:xfrm>
            <a:off x="1405250" y="3509467"/>
            <a:ext cx="434523" cy="1569110"/>
          </a:xfrm>
          <a:prstGeom prst="roundRect">
            <a:avLst>
              <a:gd name="adj" fmla="val 45000"/>
            </a:avLst>
          </a:prstGeom>
          <a:solidFill>
            <a:srgbClr val="F6DDC8"/>
          </a:solidFill>
          <a:ln w="31750">
            <a:solidFill>
              <a:srgbClr val="B98E6E"/>
            </a:solidFill>
            <a:prstDash val="solid"/>
          </a:ln>
        </p:spPr>
      </p:sp>
      <p:sp>
        <p:nvSpPr>
          <p:cNvPr id="15" name="Shape 13"/>
          <p:cNvSpPr/>
          <p:nvPr/>
        </p:nvSpPr>
        <p:spPr>
          <a:xfrm>
            <a:off x="2000707" y="3509467"/>
            <a:ext cx="434523" cy="1569110"/>
          </a:xfrm>
          <a:prstGeom prst="roundRect">
            <a:avLst>
              <a:gd name="adj" fmla="val 45000"/>
            </a:avLst>
          </a:prstGeom>
          <a:solidFill>
            <a:srgbClr val="F6DDC8"/>
          </a:solidFill>
          <a:ln w="31750">
            <a:solidFill>
              <a:srgbClr val="B98E6E"/>
            </a:solidFill>
            <a:prstDash val="solid"/>
          </a:ln>
        </p:spPr>
      </p:sp>
      <p:sp>
        <p:nvSpPr>
          <p:cNvPr id="16" name="Shape 14"/>
          <p:cNvSpPr/>
          <p:nvPr/>
        </p:nvSpPr>
        <p:spPr>
          <a:xfrm>
            <a:off x="1276502" y="2157618"/>
            <a:ext cx="1287475" cy="1609344"/>
          </a:xfrm>
          <a:prstGeom prst="roundRect">
            <a:avLst>
              <a:gd name="adj" fmla="val 45000"/>
            </a:avLst>
          </a:prstGeom>
          <a:solidFill>
            <a:srgbClr val="F6DDC8"/>
          </a:solidFill>
          <a:ln w="31750">
            <a:solidFill>
              <a:srgbClr val="B98E6E"/>
            </a:solidFill>
            <a:prstDash val="solid"/>
          </a:ln>
        </p:spPr>
      </p:sp>
      <p:sp>
        <p:nvSpPr>
          <p:cNvPr id="17" name="Shape 15"/>
          <p:cNvSpPr/>
          <p:nvPr/>
        </p:nvSpPr>
        <p:spPr>
          <a:xfrm>
            <a:off x="1815633" y="1980590"/>
            <a:ext cx="209215" cy="241402"/>
          </a:xfrm>
          <a:prstGeom prst="rect">
            <a:avLst/>
          </a:prstGeom>
          <a:solidFill>
            <a:srgbClr val="F6DDC8"/>
          </a:solidFill>
          <a:ln w="31750">
            <a:solidFill>
              <a:srgbClr val="B98E6E"/>
            </a:solidFill>
            <a:prstDash val="solid"/>
          </a:ln>
        </p:spPr>
      </p:sp>
      <p:sp>
        <p:nvSpPr>
          <p:cNvPr id="18" name="Shape 16"/>
          <p:cNvSpPr/>
          <p:nvPr/>
        </p:nvSpPr>
        <p:spPr>
          <a:xfrm>
            <a:off x="1654698" y="1417320"/>
            <a:ext cx="531084" cy="643738"/>
          </a:xfrm>
          <a:prstGeom prst="ellipse">
            <a:avLst/>
          </a:prstGeom>
          <a:solidFill>
            <a:srgbClr val="F6DDC8"/>
          </a:solidFill>
          <a:ln w="31750">
            <a:solidFill>
              <a:srgbClr val="B98E6E"/>
            </a:solidFill>
            <a:prstDash val="solid"/>
          </a:ln>
        </p:spPr>
      </p:sp>
      <p:sp>
        <p:nvSpPr>
          <p:cNvPr id="19" name="Shape 17"/>
          <p:cNvSpPr/>
          <p:nvPr/>
        </p:nvSpPr>
        <p:spPr>
          <a:xfrm rot="420000">
            <a:off x="1019007" y="2221992"/>
            <a:ext cx="225308" cy="1488643"/>
          </a:xfrm>
          <a:prstGeom prst="roundRect">
            <a:avLst>
              <a:gd name="adj" fmla="val 45000"/>
            </a:avLst>
          </a:prstGeom>
          <a:solidFill>
            <a:srgbClr val="F6DDC8"/>
          </a:solidFill>
          <a:ln/>
        </p:spPr>
      </p:sp>
      <p:sp>
        <p:nvSpPr>
          <p:cNvPr id="20" name="Shape 18"/>
          <p:cNvSpPr/>
          <p:nvPr/>
        </p:nvSpPr>
        <p:spPr>
          <a:xfrm rot="-420000">
            <a:off x="2596164" y="2221992"/>
            <a:ext cx="225308" cy="1488643"/>
          </a:xfrm>
          <a:prstGeom prst="roundRect">
            <a:avLst>
              <a:gd name="adj" fmla="val 45000"/>
            </a:avLst>
          </a:prstGeom>
          <a:solidFill>
            <a:srgbClr val="F6DDC8"/>
          </a:solidFill>
          <a:ln/>
        </p:spPr>
      </p:sp>
      <p:sp>
        <p:nvSpPr>
          <p:cNvPr id="21" name="Shape 19"/>
          <p:cNvSpPr/>
          <p:nvPr/>
        </p:nvSpPr>
        <p:spPr>
          <a:xfrm>
            <a:off x="1405250" y="3509467"/>
            <a:ext cx="434523" cy="1569110"/>
          </a:xfrm>
          <a:prstGeom prst="roundRect">
            <a:avLst>
              <a:gd name="adj" fmla="val 45000"/>
            </a:avLst>
          </a:prstGeom>
          <a:solidFill>
            <a:srgbClr val="F6DDC8"/>
          </a:solidFill>
          <a:ln/>
        </p:spPr>
      </p:sp>
      <p:sp>
        <p:nvSpPr>
          <p:cNvPr id="22" name="Shape 20"/>
          <p:cNvSpPr/>
          <p:nvPr/>
        </p:nvSpPr>
        <p:spPr>
          <a:xfrm>
            <a:off x="2000707" y="3509467"/>
            <a:ext cx="434523" cy="1569110"/>
          </a:xfrm>
          <a:prstGeom prst="roundRect">
            <a:avLst>
              <a:gd name="adj" fmla="val 45000"/>
            </a:avLst>
          </a:prstGeom>
          <a:solidFill>
            <a:srgbClr val="F6DDC8"/>
          </a:solidFill>
          <a:ln/>
        </p:spPr>
      </p:sp>
      <p:sp>
        <p:nvSpPr>
          <p:cNvPr id="23" name="Shape 21"/>
          <p:cNvSpPr/>
          <p:nvPr/>
        </p:nvSpPr>
        <p:spPr>
          <a:xfrm>
            <a:off x="1276502" y="2157618"/>
            <a:ext cx="1287475" cy="1609344"/>
          </a:xfrm>
          <a:prstGeom prst="roundRect">
            <a:avLst>
              <a:gd name="adj" fmla="val 45000"/>
            </a:avLst>
          </a:prstGeom>
          <a:solidFill>
            <a:srgbClr val="F6DDC8"/>
          </a:solidFill>
          <a:ln/>
        </p:spPr>
      </p:sp>
      <p:sp>
        <p:nvSpPr>
          <p:cNvPr id="24" name="Shape 22"/>
          <p:cNvSpPr/>
          <p:nvPr/>
        </p:nvSpPr>
        <p:spPr>
          <a:xfrm>
            <a:off x="1815633" y="1980590"/>
            <a:ext cx="209215" cy="241402"/>
          </a:xfrm>
          <a:prstGeom prst="rect">
            <a:avLst/>
          </a:prstGeom>
          <a:solidFill>
            <a:srgbClr val="F6DDC8"/>
          </a:solidFill>
          <a:ln/>
        </p:spPr>
      </p:sp>
      <p:sp>
        <p:nvSpPr>
          <p:cNvPr id="25" name="Shape 23"/>
          <p:cNvSpPr/>
          <p:nvPr/>
        </p:nvSpPr>
        <p:spPr>
          <a:xfrm>
            <a:off x="1654698" y="1417320"/>
            <a:ext cx="531084" cy="643738"/>
          </a:xfrm>
          <a:prstGeom prst="ellipse">
            <a:avLst/>
          </a:prstGeom>
          <a:solidFill>
            <a:srgbClr val="F6DDC8"/>
          </a:solidFill>
          <a:ln/>
        </p:spPr>
      </p:sp>
      <p:sp>
        <p:nvSpPr>
          <p:cNvPr id="26" name="Shape 24"/>
          <p:cNvSpPr/>
          <p:nvPr/>
        </p:nvSpPr>
        <p:spPr>
          <a:xfrm>
            <a:off x="1920240" y="3791102"/>
            <a:ext cx="91" cy="1247242"/>
          </a:xfrm>
          <a:prstGeom prst="line">
            <a:avLst/>
          </a:prstGeom>
          <a:noFill/>
          <a:ln w="15875">
            <a:solidFill>
              <a:srgbClr val="B98E6E"/>
            </a:solidFill>
            <a:prstDash val="solid"/>
          </a:ln>
        </p:spPr>
      </p:sp>
      <p:sp>
        <p:nvSpPr>
          <p:cNvPr id="27" name="Shape 25"/>
          <p:cNvSpPr/>
          <p:nvPr/>
        </p:nvSpPr>
        <p:spPr>
          <a:xfrm>
            <a:off x="566928" y="1417320"/>
            <a:ext cx="457200" cy="182880"/>
          </a:xfrm>
          <a:prstGeom prst="roundRect">
            <a:avLst>
              <a:gd name="adj" fmla="val 40000"/>
            </a:avLst>
          </a:prstGeom>
          <a:solidFill>
            <a:srgbClr val="8C96A8"/>
          </a:solidFill>
          <a:ln w="12700">
            <a:solidFill>
              <a:srgbClr val="5A6275"/>
            </a:solidFill>
            <a:prstDash val="solid"/>
          </a:ln>
        </p:spPr>
      </p:sp>
      <p:sp>
        <p:nvSpPr>
          <p:cNvPr id="28" name="Shape 26"/>
          <p:cNvSpPr/>
          <p:nvPr/>
        </p:nvSpPr>
        <p:spPr>
          <a:xfrm>
            <a:off x="1024128" y="1508760"/>
            <a:ext cx="648858" cy="246522"/>
          </a:xfrm>
          <a:prstGeom prst="line">
            <a:avLst/>
          </a:prstGeom>
          <a:noFill/>
          <a:ln w="25400">
            <a:solidFill>
              <a:srgbClr val="5A6275"/>
            </a:solidFill>
            <a:prstDash val="solid"/>
          </a:ln>
        </p:spPr>
      </p:sp>
      <p:sp>
        <p:nvSpPr>
          <p:cNvPr id="29" name="Text 27"/>
          <p:cNvSpPr/>
          <p:nvPr/>
        </p:nvSpPr>
        <p:spPr>
          <a:xfrm>
            <a:off x="502920" y="1645920"/>
            <a:ext cx="1143000" cy="566928"/>
          </a:xfrm>
          <a:prstGeom prst="rect">
            <a:avLst/>
          </a:prstGeom>
          <a:noFill/>
          <a:ln/>
        </p:spPr>
        <p:txBody>
          <a:bodyPr wrap="square" lIns="0" tIns="0" rIns="0" bIns="0" rtlCol="0" anchor="t"/>
          <a:lstStyle/>
          <a:p>
            <a:pPr algn="l" indent="0" marL="0">
              <a:buNone/>
            </a:pPr>
            <a:r>
              <a:rPr lang="en-US" sz="1000" b="1" dirty="0">
                <a:solidFill>
                  <a:srgbClr val="C8414C"/>
                </a:solidFill>
                <a:latin typeface="Calibri" pitchFamily="34" charset="0"/>
                <a:ea typeface="Calibri" pitchFamily="34" charset="-122"/>
                <a:cs typeface="Calibri" pitchFamily="34" charset="-120"/>
              </a:rPr>
              <a:t>core</a:t>
            </a:r>
            <a:r>
              <a:rPr lang="en-US" sz="1000" dirty="0">
                <a:solidFill>
                  <a:srgbClr val="C8414C"/>
                </a:solidFill>
                <a:latin typeface="Calibri" pitchFamily="34" charset="0"/>
                <a:ea typeface="Calibri" pitchFamily="34" charset="-122"/>
                <a:cs typeface="Calibri" pitchFamily="34" charset="-120"/>
              </a:rPr>
              <a:t>: ear (or under the tongue)</a:t>
            </a:r>
            <a:endParaRPr lang="en-US" sz="1000" dirty="0"/>
          </a:p>
        </p:txBody>
      </p:sp>
      <p:sp>
        <p:nvSpPr>
          <p:cNvPr id="30" name="Shape 28"/>
          <p:cNvSpPr/>
          <p:nvPr/>
        </p:nvSpPr>
        <p:spPr>
          <a:xfrm>
            <a:off x="2728570" y="3478378"/>
            <a:ext cx="109728" cy="109728"/>
          </a:xfrm>
          <a:prstGeom prst="ellipse">
            <a:avLst/>
          </a:prstGeom>
          <a:solidFill>
            <a:srgbClr val="133536"/>
          </a:solidFill>
          <a:ln w="9525">
            <a:solidFill>
              <a:srgbClr val="133536"/>
            </a:solidFill>
            <a:prstDash val="solid"/>
          </a:ln>
        </p:spPr>
      </p:sp>
      <p:sp>
        <p:nvSpPr>
          <p:cNvPr id="31" name="Shape 29"/>
          <p:cNvSpPr/>
          <p:nvPr/>
        </p:nvSpPr>
        <p:spPr>
          <a:xfrm>
            <a:off x="2783434" y="3533242"/>
            <a:ext cx="462686" cy="490118"/>
          </a:xfrm>
          <a:prstGeom prst="line">
            <a:avLst/>
          </a:prstGeom>
          <a:noFill/>
          <a:ln w="15875">
            <a:solidFill>
              <a:srgbClr val="133536"/>
            </a:solidFill>
            <a:prstDash val="solid"/>
          </a:ln>
        </p:spPr>
      </p:sp>
      <p:sp>
        <p:nvSpPr>
          <p:cNvPr id="32" name="Shape 30"/>
          <p:cNvSpPr/>
          <p:nvPr/>
        </p:nvSpPr>
        <p:spPr>
          <a:xfrm>
            <a:off x="2880360" y="4023360"/>
            <a:ext cx="457200" cy="329184"/>
          </a:xfrm>
          <a:prstGeom prst="roundRect">
            <a:avLst>
              <a:gd name="adj" fmla="val 13889"/>
            </a:avLst>
          </a:prstGeom>
          <a:solidFill>
            <a:srgbClr val="E6EBF2"/>
          </a:solidFill>
          <a:ln w="12700">
            <a:solidFill>
              <a:srgbClr val="5A6275"/>
            </a:solidFill>
            <a:prstDash val="solid"/>
          </a:ln>
        </p:spPr>
      </p:sp>
      <p:sp>
        <p:nvSpPr>
          <p:cNvPr id="33" name="Text 31"/>
          <p:cNvSpPr/>
          <p:nvPr/>
        </p:nvSpPr>
        <p:spPr>
          <a:xfrm>
            <a:off x="2880360" y="4023360"/>
            <a:ext cx="457200" cy="329184"/>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24.0</a:t>
            </a:r>
            <a:endParaRPr lang="en-US" sz="1000" dirty="0"/>
          </a:p>
        </p:txBody>
      </p:sp>
      <p:sp>
        <p:nvSpPr>
          <p:cNvPr id="34" name="Text 32"/>
          <p:cNvSpPr/>
          <p:nvPr/>
        </p:nvSpPr>
        <p:spPr>
          <a:xfrm>
            <a:off x="2286000" y="4389120"/>
            <a:ext cx="1097280" cy="566928"/>
          </a:xfrm>
          <a:prstGeom prst="rect">
            <a:avLst/>
          </a:prstGeom>
          <a:noFill/>
          <a:ln/>
        </p:spPr>
        <p:txBody>
          <a:bodyPr wrap="square" lIns="0" tIns="0" rIns="0" bIns="0" rtlCol="0" anchor="t"/>
          <a:lstStyle/>
          <a:p>
            <a:pPr algn="r" indent="0" marL="0">
              <a:buNone/>
            </a:pPr>
            <a:r>
              <a:rPr lang="en-US" sz="1000" b="1" dirty="0">
                <a:solidFill>
                  <a:srgbClr val="3B7DD8"/>
                </a:solidFill>
                <a:latin typeface="Calibri" pitchFamily="34" charset="0"/>
                <a:ea typeface="Calibri" pitchFamily="34" charset="-122"/>
                <a:cs typeface="Calibri" pitchFamily="34" charset="-120"/>
              </a:rPr>
              <a:t>skin</a:t>
            </a:r>
            <a:r>
              <a:rPr lang="en-US" sz="1000" dirty="0">
                <a:solidFill>
                  <a:srgbClr val="3B7DD8"/>
                </a:solidFill>
                <a:latin typeface="Calibri" pitchFamily="34" charset="0"/>
                <a:ea typeface="Calibri" pitchFamily="34" charset="-122"/>
                <a:cs typeface="Calibri" pitchFamily="34" charset="-120"/>
              </a:rPr>
              <a:t>: probe on back of hand</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11880" y="1188720"/>
          <a:ext cx="4297680" cy="914400"/>
        </p:xfrm>
        <a:graphic>
          <a:graphicData uri="http://schemas.openxmlformats.org/drawingml/2006/table">
            <a:tbl>
              <a:tblPr/>
              <a:tblGrid>
                <a:gridCol w="2286000"/>
                <a:gridCol w="1005840"/>
                <a:gridCol w="1005840"/>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Condition</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Core / °C</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Skin / °C</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74320">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Resting, room at 20 °C</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37.0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b="1" dirty="0">
                          <a:solidFill>
                            <a:srgbClr val="3B7DD8"/>
                          </a:solidFill>
                          <a:latin typeface="Calibri" pitchFamily="34" charset="0"/>
                          <a:ea typeface="Calibri" pitchFamily="34" charset="-122"/>
                          <a:cs typeface="Calibri" pitchFamily="34" charset="-120"/>
                        </a:rPr>
                        <a:t>32.5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Hand in cold water, 5 min</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36.9</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3B7DD8"/>
                          </a:solidFill>
                          <a:latin typeface="Calibri" pitchFamily="34" charset="0"/>
                          <a:ea typeface="Calibri" pitchFamily="34" charset="-122"/>
                          <a:cs typeface="Calibri" pitchFamily="34" charset="-120"/>
                        </a:rPr>
                        <a:t>21.0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After 5 min exercise</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37.4</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b="1" dirty="0">
                          <a:solidFill>
                            <a:srgbClr val="3B7DD8"/>
                          </a:solidFill>
                          <a:latin typeface="Calibri" pitchFamily="34" charset="0"/>
                          <a:ea typeface="Calibri" pitchFamily="34" charset="-122"/>
                          <a:cs typeface="Calibri" pitchFamily="34" charset="-120"/>
                        </a:rPr>
                        <a:t>33.5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Outside at 5 °C, 10 min</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36.8</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3B7DD8"/>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36" name="Text 33"/>
          <p:cNvSpPr/>
          <p:nvPr/>
        </p:nvSpPr>
        <p:spPr>
          <a:xfrm>
            <a:off x="3611880" y="2587752"/>
            <a:ext cx="429768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each value is the mean of 3 readings</a:t>
            </a:r>
            <a:endParaRPr lang="en-US" sz="1000" dirty="0"/>
          </a:p>
        </p:txBody>
      </p:sp>
      <p:sp>
        <p:nvSpPr>
          <p:cNvPr id="37" name="Shape 34"/>
          <p:cNvSpPr/>
          <p:nvPr/>
        </p:nvSpPr>
        <p:spPr>
          <a:xfrm>
            <a:off x="4114800" y="2926080"/>
            <a:ext cx="3657600" cy="2148840"/>
          </a:xfrm>
          <a:prstGeom prst="rect">
            <a:avLst/>
          </a:prstGeom>
          <a:solidFill>
            <a:srgbClr val="FFFFFF"/>
          </a:solidFill>
          <a:ln/>
        </p:spPr>
      </p:sp>
      <p:sp>
        <p:nvSpPr>
          <p:cNvPr id="38" name="Shape 35"/>
          <p:cNvSpPr/>
          <p:nvPr/>
        </p:nvSpPr>
        <p:spPr>
          <a:xfrm>
            <a:off x="4114800" y="5074920"/>
            <a:ext cx="3657600" cy="91"/>
          </a:xfrm>
          <a:prstGeom prst="line">
            <a:avLst/>
          </a:prstGeom>
          <a:noFill/>
          <a:ln w="6350">
            <a:solidFill>
              <a:srgbClr val="C5DCD9"/>
            </a:solidFill>
            <a:prstDash val="solid"/>
          </a:ln>
        </p:spPr>
      </p:sp>
      <p:sp>
        <p:nvSpPr>
          <p:cNvPr id="39" name="Shape 36"/>
          <p:cNvSpPr/>
          <p:nvPr/>
        </p:nvSpPr>
        <p:spPr>
          <a:xfrm>
            <a:off x="4114800" y="4806315"/>
            <a:ext cx="3657600" cy="91"/>
          </a:xfrm>
          <a:prstGeom prst="line">
            <a:avLst/>
          </a:prstGeom>
          <a:noFill/>
          <a:ln w="6350">
            <a:solidFill>
              <a:srgbClr val="E3EFED"/>
            </a:solidFill>
            <a:prstDash val="solid"/>
          </a:ln>
        </p:spPr>
      </p:sp>
      <p:sp>
        <p:nvSpPr>
          <p:cNvPr id="40" name="Shape 37"/>
          <p:cNvSpPr/>
          <p:nvPr/>
        </p:nvSpPr>
        <p:spPr>
          <a:xfrm>
            <a:off x="4114800" y="4537710"/>
            <a:ext cx="3657600" cy="91"/>
          </a:xfrm>
          <a:prstGeom prst="line">
            <a:avLst/>
          </a:prstGeom>
          <a:noFill/>
          <a:ln w="6350">
            <a:solidFill>
              <a:srgbClr val="C5DCD9"/>
            </a:solidFill>
            <a:prstDash val="solid"/>
          </a:ln>
        </p:spPr>
      </p:sp>
      <p:sp>
        <p:nvSpPr>
          <p:cNvPr id="41" name="Shape 38"/>
          <p:cNvSpPr/>
          <p:nvPr/>
        </p:nvSpPr>
        <p:spPr>
          <a:xfrm>
            <a:off x="4114800" y="4269105"/>
            <a:ext cx="3657600" cy="91"/>
          </a:xfrm>
          <a:prstGeom prst="line">
            <a:avLst/>
          </a:prstGeom>
          <a:noFill/>
          <a:ln w="6350">
            <a:solidFill>
              <a:srgbClr val="E3EFED"/>
            </a:solidFill>
            <a:prstDash val="solid"/>
          </a:ln>
        </p:spPr>
      </p:sp>
      <p:sp>
        <p:nvSpPr>
          <p:cNvPr id="42" name="Shape 39"/>
          <p:cNvSpPr/>
          <p:nvPr/>
        </p:nvSpPr>
        <p:spPr>
          <a:xfrm>
            <a:off x="4114800" y="4000500"/>
            <a:ext cx="3657600" cy="91"/>
          </a:xfrm>
          <a:prstGeom prst="line">
            <a:avLst/>
          </a:prstGeom>
          <a:noFill/>
          <a:ln w="6350">
            <a:solidFill>
              <a:srgbClr val="C5DCD9"/>
            </a:solidFill>
            <a:prstDash val="solid"/>
          </a:ln>
        </p:spPr>
      </p:sp>
      <p:sp>
        <p:nvSpPr>
          <p:cNvPr id="43" name="Shape 40"/>
          <p:cNvSpPr/>
          <p:nvPr/>
        </p:nvSpPr>
        <p:spPr>
          <a:xfrm>
            <a:off x="4114800" y="3731895"/>
            <a:ext cx="3657600" cy="91"/>
          </a:xfrm>
          <a:prstGeom prst="line">
            <a:avLst/>
          </a:prstGeom>
          <a:noFill/>
          <a:ln w="6350">
            <a:solidFill>
              <a:srgbClr val="E3EFED"/>
            </a:solidFill>
            <a:prstDash val="solid"/>
          </a:ln>
        </p:spPr>
      </p:sp>
      <p:sp>
        <p:nvSpPr>
          <p:cNvPr id="44" name="Shape 41"/>
          <p:cNvSpPr/>
          <p:nvPr/>
        </p:nvSpPr>
        <p:spPr>
          <a:xfrm>
            <a:off x="4114800" y="3463290"/>
            <a:ext cx="3657600" cy="91"/>
          </a:xfrm>
          <a:prstGeom prst="line">
            <a:avLst/>
          </a:prstGeom>
          <a:noFill/>
          <a:ln w="6350">
            <a:solidFill>
              <a:srgbClr val="C5DCD9"/>
            </a:solidFill>
            <a:prstDash val="solid"/>
          </a:ln>
        </p:spPr>
      </p:sp>
      <p:sp>
        <p:nvSpPr>
          <p:cNvPr id="45" name="Shape 42"/>
          <p:cNvSpPr/>
          <p:nvPr/>
        </p:nvSpPr>
        <p:spPr>
          <a:xfrm>
            <a:off x="4114800" y="3194685"/>
            <a:ext cx="3657600" cy="91"/>
          </a:xfrm>
          <a:prstGeom prst="line">
            <a:avLst/>
          </a:prstGeom>
          <a:noFill/>
          <a:ln w="6350">
            <a:solidFill>
              <a:srgbClr val="E3EFED"/>
            </a:solidFill>
            <a:prstDash val="solid"/>
          </a:ln>
        </p:spPr>
      </p:sp>
      <p:sp>
        <p:nvSpPr>
          <p:cNvPr id="46" name="Shape 43"/>
          <p:cNvSpPr/>
          <p:nvPr/>
        </p:nvSpPr>
        <p:spPr>
          <a:xfrm>
            <a:off x="4114800" y="2926080"/>
            <a:ext cx="3657600" cy="91"/>
          </a:xfrm>
          <a:prstGeom prst="line">
            <a:avLst/>
          </a:prstGeom>
          <a:noFill/>
          <a:ln w="6350">
            <a:solidFill>
              <a:srgbClr val="C5DCD9"/>
            </a:solidFill>
            <a:prstDash val="solid"/>
          </a:ln>
        </p:spPr>
      </p:sp>
      <p:sp>
        <p:nvSpPr>
          <p:cNvPr id="47" name="Shape 44"/>
          <p:cNvSpPr/>
          <p:nvPr/>
        </p:nvSpPr>
        <p:spPr>
          <a:xfrm>
            <a:off x="4114800" y="5074920"/>
            <a:ext cx="3657600" cy="91"/>
          </a:xfrm>
          <a:prstGeom prst="line">
            <a:avLst/>
          </a:prstGeom>
          <a:noFill/>
          <a:ln w="19050">
            <a:solidFill>
              <a:srgbClr val="133536"/>
            </a:solidFill>
            <a:prstDash val="solid"/>
          </a:ln>
        </p:spPr>
      </p:sp>
      <p:sp>
        <p:nvSpPr>
          <p:cNvPr id="48" name="Shape 45"/>
          <p:cNvSpPr/>
          <p:nvPr/>
        </p:nvSpPr>
        <p:spPr>
          <a:xfrm>
            <a:off x="4114800" y="2926080"/>
            <a:ext cx="91" cy="2148840"/>
          </a:xfrm>
          <a:prstGeom prst="line">
            <a:avLst/>
          </a:prstGeom>
          <a:noFill/>
          <a:ln w="19050">
            <a:solidFill>
              <a:srgbClr val="133536"/>
            </a:solidFill>
            <a:prstDash val="solid"/>
          </a:ln>
        </p:spPr>
      </p:sp>
      <p:sp>
        <p:nvSpPr>
          <p:cNvPr id="49" name="Shape 46"/>
          <p:cNvSpPr/>
          <p:nvPr/>
        </p:nvSpPr>
        <p:spPr>
          <a:xfrm>
            <a:off x="4059936" y="5074920"/>
            <a:ext cx="54864" cy="91"/>
          </a:xfrm>
          <a:prstGeom prst="line">
            <a:avLst/>
          </a:prstGeom>
          <a:noFill/>
          <a:ln w="12700">
            <a:solidFill>
              <a:srgbClr val="133536"/>
            </a:solidFill>
            <a:prstDash val="solid"/>
          </a:ln>
        </p:spPr>
      </p:sp>
      <p:sp>
        <p:nvSpPr>
          <p:cNvPr id="50" name="Text 47"/>
          <p:cNvSpPr/>
          <p:nvPr/>
        </p:nvSpPr>
        <p:spPr>
          <a:xfrm>
            <a:off x="3703320" y="4983480"/>
            <a:ext cx="347472"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1" name="Shape 48"/>
          <p:cNvSpPr/>
          <p:nvPr/>
        </p:nvSpPr>
        <p:spPr>
          <a:xfrm>
            <a:off x="4059936" y="4537710"/>
            <a:ext cx="54864" cy="91"/>
          </a:xfrm>
          <a:prstGeom prst="line">
            <a:avLst/>
          </a:prstGeom>
          <a:noFill/>
          <a:ln w="12700">
            <a:solidFill>
              <a:srgbClr val="133536"/>
            </a:solidFill>
            <a:prstDash val="solid"/>
          </a:ln>
        </p:spPr>
      </p:sp>
      <p:sp>
        <p:nvSpPr>
          <p:cNvPr id="52" name="Text 49"/>
          <p:cNvSpPr/>
          <p:nvPr/>
        </p:nvSpPr>
        <p:spPr>
          <a:xfrm>
            <a:off x="3703320" y="4446270"/>
            <a:ext cx="347472"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3" name="Shape 50"/>
          <p:cNvSpPr/>
          <p:nvPr/>
        </p:nvSpPr>
        <p:spPr>
          <a:xfrm>
            <a:off x="4059936" y="4000500"/>
            <a:ext cx="54864" cy="91"/>
          </a:xfrm>
          <a:prstGeom prst="line">
            <a:avLst/>
          </a:prstGeom>
          <a:noFill/>
          <a:ln w="12700">
            <a:solidFill>
              <a:srgbClr val="133536"/>
            </a:solidFill>
            <a:prstDash val="solid"/>
          </a:ln>
        </p:spPr>
      </p:sp>
      <p:sp>
        <p:nvSpPr>
          <p:cNvPr id="54" name="Text 51"/>
          <p:cNvSpPr/>
          <p:nvPr/>
        </p:nvSpPr>
        <p:spPr>
          <a:xfrm>
            <a:off x="3703320" y="3909060"/>
            <a:ext cx="347472"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5" name="Shape 52"/>
          <p:cNvSpPr/>
          <p:nvPr/>
        </p:nvSpPr>
        <p:spPr>
          <a:xfrm>
            <a:off x="4059936" y="3463290"/>
            <a:ext cx="54864" cy="91"/>
          </a:xfrm>
          <a:prstGeom prst="line">
            <a:avLst/>
          </a:prstGeom>
          <a:noFill/>
          <a:ln w="12700">
            <a:solidFill>
              <a:srgbClr val="133536"/>
            </a:solidFill>
            <a:prstDash val="solid"/>
          </a:ln>
        </p:spPr>
      </p:sp>
      <p:sp>
        <p:nvSpPr>
          <p:cNvPr id="56" name="Text 53"/>
          <p:cNvSpPr/>
          <p:nvPr/>
        </p:nvSpPr>
        <p:spPr>
          <a:xfrm>
            <a:off x="3703320" y="3371850"/>
            <a:ext cx="347472"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57" name="Shape 54"/>
          <p:cNvSpPr/>
          <p:nvPr/>
        </p:nvSpPr>
        <p:spPr>
          <a:xfrm>
            <a:off x="4059936" y="2926080"/>
            <a:ext cx="54864" cy="91"/>
          </a:xfrm>
          <a:prstGeom prst="line">
            <a:avLst/>
          </a:prstGeom>
          <a:noFill/>
          <a:ln w="12700">
            <a:solidFill>
              <a:srgbClr val="133536"/>
            </a:solidFill>
            <a:prstDash val="solid"/>
          </a:ln>
        </p:spPr>
      </p:sp>
      <p:sp>
        <p:nvSpPr>
          <p:cNvPr id="58" name="Text 55"/>
          <p:cNvSpPr/>
          <p:nvPr/>
        </p:nvSpPr>
        <p:spPr>
          <a:xfrm>
            <a:off x="3703320" y="2834640"/>
            <a:ext cx="347472"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9" name="Text 56"/>
          <p:cNvSpPr/>
          <p:nvPr/>
        </p:nvSpPr>
        <p:spPr>
          <a:xfrm rot="16200000">
            <a:off x="2491740" y="3872484"/>
            <a:ext cx="2148840" cy="25603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Temperature / °C</a:t>
            </a:r>
            <a:endParaRPr lang="en-US" sz="1000" dirty="0"/>
          </a:p>
        </p:txBody>
      </p:sp>
      <p:sp>
        <p:nvSpPr>
          <p:cNvPr id="60" name="Shape 57"/>
          <p:cNvSpPr/>
          <p:nvPr/>
        </p:nvSpPr>
        <p:spPr>
          <a:xfrm>
            <a:off x="4261104" y="3087243"/>
            <a:ext cx="292608" cy="1987677"/>
          </a:xfrm>
          <a:prstGeom prst="rect">
            <a:avLst/>
          </a:prstGeom>
          <a:solidFill>
            <a:srgbClr val="D9534F"/>
          </a:solidFill>
          <a:ln w="6350">
            <a:solidFill>
              <a:srgbClr val="8E2A33"/>
            </a:solidFill>
            <a:prstDash val="solid"/>
          </a:ln>
        </p:spPr>
      </p:sp>
      <p:sp>
        <p:nvSpPr>
          <p:cNvPr id="61" name="Shape 58"/>
          <p:cNvSpPr/>
          <p:nvPr/>
        </p:nvSpPr>
        <p:spPr>
          <a:xfrm>
            <a:off x="4590288" y="3328988"/>
            <a:ext cx="292608" cy="1745932"/>
          </a:xfrm>
          <a:prstGeom prst="rect">
            <a:avLst/>
          </a:prstGeom>
          <a:solidFill>
            <a:srgbClr val="3B7DD8"/>
          </a:solidFill>
          <a:ln w="6350">
            <a:solidFill>
              <a:srgbClr val="1F4E8C"/>
            </a:solidFill>
            <a:prstDash val="solid"/>
          </a:ln>
        </p:spPr>
      </p:sp>
      <p:sp>
        <p:nvSpPr>
          <p:cNvPr id="62" name="Text 59"/>
          <p:cNvSpPr/>
          <p:nvPr/>
        </p:nvSpPr>
        <p:spPr>
          <a:xfrm>
            <a:off x="4114800" y="5111496"/>
            <a:ext cx="9144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Rest</a:t>
            </a:r>
            <a:endParaRPr lang="en-US" sz="1000" dirty="0"/>
          </a:p>
        </p:txBody>
      </p:sp>
      <p:sp>
        <p:nvSpPr>
          <p:cNvPr id="63" name="Shape 60"/>
          <p:cNvSpPr/>
          <p:nvPr/>
        </p:nvSpPr>
        <p:spPr>
          <a:xfrm>
            <a:off x="5175504" y="3092615"/>
            <a:ext cx="292608" cy="1982305"/>
          </a:xfrm>
          <a:prstGeom prst="rect">
            <a:avLst/>
          </a:prstGeom>
          <a:solidFill>
            <a:srgbClr val="D9534F"/>
          </a:solidFill>
          <a:ln w="6350">
            <a:solidFill>
              <a:srgbClr val="8E2A33"/>
            </a:solidFill>
            <a:prstDash val="solid"/>
          </a:ln>
        </p:spPr>
      </p:sp>
      <p:sp>
        <p:nvSpPr>
          <p:cNvPr id="64" name="Shape 61"/>
          <p:cNvSpPr/>
          <p:nvPr/>
        </p:nvSpPr>
        <p:spPr>
          <a:xfrm>
            <a:off x="5504688" y="3946779"/>
            <a:ext cx="292608" cy="1128141"/>
          </a:xfrm>
          <a:prstGeom prst="rect">
            <a:avLst/>
          </a:prstGeom>
          <a:solidFill>
            <a:srgbClr val="3B7DD8"/>
          </a:solidFill>
          <a:ln w="6350">
            <a:solidFill>
              <a:srgbClr val="1F4E8C"/>
            </a:solidFill>
            <a:prstDash val="solid"/>
          </a:ln>
        </p:spPr>
      </p:sp>
      <p:sp>
        <p:nvSpPr>
          <p:cNvPr id="65" name="Text 62"/>
          <p:cNvSpPr/>
          <p:nvPr/>
        </p:nvSpPr>
        <p:spPr>
          <a:xfrm>
            <a:off x="5029200" y="5111496"/>
            <a:ext cx="9144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Cold water</a:t>
            </a:r>
            <a:endParaRPr lang="en-US" sz="1000" dirty="0"/>
          </a:p>
        </p:txBody>
      </p:sp>
      <p:sp>
        <p:nvSpPr>
          <p:cNvPr id="66" name="Shape 63"/>
          <p:cNvSpPr/>
          <p:nvPr/>
        </p:nvSpPr>
        <p:spPr>
          <a:xfrm>
            <a:off x="6089904" y="3065755"/>
            <a:ext cx="292608" cy="2009165"/>
          </a:xfrm>
          <a:prstGeom prst="rect">
            <a:avLst/>
          </a:prstGeom>
          <a:solidFill>
            <a:srgbClr val="D9534F"/>
          </a:solidFill>
          <a:ln w="6350">
            <a:solidFill>
              <a:srgbClr val="8E2A33"/>
            </a:solidFill>
            <a:prstDash val="solid"/>
          </a:ln>
        </p:spPr>
      </p:sp>
      <p:sp>
        <p:nvSpPr>
          <p:cNvPr id="67" name="Shape 64"/>
          <p:cNvSpPr/>
          <p:nvPr/>
        </p:nvSpPr>
        <p:spPr>
          <a:xfrm>
            <a:off x="6419088" y="3275267"/>
            <a:ext cx="292608" cy="1799654"/>
          </a:xfrm>
          <a:prstGeom prst="rect">
            <a:avLst/>
          </a:prstGeom>
          <a:solidFill>
            <a:srgbClr val="3B7DD8"/>
          </a:solidFill>
          <a:ln w="6350">
            <a:solidFill>
              <a:srgbClr val="1F4E8C"/>
            </a:solidFill>
            <a:prstDash val="solid"/>
          </a:ln>
        </p:spPr>
      </p:sp>
      <p:sp>
        <p:nvSpPr>
          <p:cNvPr id="68" name="Text 65"/>
          <p:cNvSpPr/>
          <p:nvPr/>
        </p:nvSpPr>
        <p:spPr>
          <a:xfrm>
            <a:off x="5943600" y="5111496"/>
            <a:ext cx="9144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Exercise</a:t>
            </a:r>
            <a:endParaRPr lang="en-US" sz="1000" dirty="0"/>
          </a:p>
        </p:txBody>
      </p:sp>
      <p:sp>
        <p:nvSpPr>
          <p:cNvPr id="69" name="Shape 66"/>
          <p:cNvSpPr/>
          <p:nvPr/>
        </p:nvSpPr>
        <p:spPr>
          <a:xfrm>
            <a:off x="7004304" y="3097987"/>
            <a:ext cx="292608" cy="1976933"/>
          </a:xfrm>
          <a:prstGeom prst="rect">
            <a:avLst/>
          </a:prstGeom>
          <a:solidFill>
            <a:srgbClr val="D9534F"/>
          </a:solidFill>
          <a:ln w="6350">
            <a:solidFill>
              <a:srgbClr val="8E2A33"/>
            </a:solidFill>
            <a:prstDash val="solid"/>
          </a:ln>
        </p:spPr>
      </p:sp>
      <p:sp>
        <p:nvSpPr>
          <p:cNvPr id="70" name="Shape 67"/>
          <p:cNvSpPr/>
          <p:nvPr/>
        </p:nvSpPr>
        <p:spPr>
          <a:xfrm>
            <a:off x="7333488" y="3785616"/>
            <a:ext cx="292608" cy="1289304"/>
          </a:xfrm>
          <a:prstGeom prst="rect">
            <a:avLst/>
          </a:prstGeom>
          <a:solidFill>
            <a:srgbClr val="3B7DD8"/>
          </a:solidFill>
          <a:ln w="6350">
            <a:solidFill>
              <a:srgbClr val="1F4E8C"/>
            </a:solidFill>
            <a:prstDash val="solid"/>
          </a:ln>
        </p:spPr>
      </p:sp>
      <p:sp>
        <p:nvSpPr>
          <p:cNvPr id="71" name="Text 68"/>
          <p:cNvSpPr/>
          <p:nvPr/>
        </p:nvSpPr>
        <p:spPr>
          <a:xfrm>
            <a:off x="6858000" y="5111496"/>
            <a:ext cx="9144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Outside 5 °C</a:t>
            </a:r>
            <a:endParaRPr lang="en-US" sz="1000" dirty="0"/>
          </a:p>
        </p:txBody>
      </p:sp>
      <p:sp>
        <p:nvSpPr>
          <p:cNvPr id="72" name="Shape 69"/>
          <p:cNvSpPr/>
          <p:nvPr/>
        </p:nvSpPr>
        <p:spPr>
          <a:xfrm>
            <a:off x="6355080" y="5458968"/>
            <a:ext cx="164592" cy="128016"/>
          </a:xfrm>
          <a:prstGeom prst="rect">
            <a:avLst/>
          </a:prstGeom>
          <a:solidFill>
            <a:srgbClr val="D9534F"/>
          </a:solidFill>
          <a:ln/>
        </p:spPr>
      </p:sp>
      <p:sp>
        <p:nvSpPr>
          <p:cNvPr id="73" name="Text 70"/>
          <p:cNvSpPr/>
          <p:nvPr/>
        </p:nvSpPr>
        <p:spPr>
          <a:xfrm>
            <a:off x="6556248" y="5413248"/>
            <a:ext cx="5486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core</a:t>
            </a:r>
            <a:endParaRPr lang="en-US" sz="1000" dirty="0"/>
          </a:p>
        </p:txBody>
      </p:sp>
      <p:sp>
        <p:nvSpPr>
          <p:cNvPr id="74" name="Shape 71"/>
          <p:cNvSpPr/>
          <p:nvPr/>
        </p:nvSpPr>
        <p:spPr>
          <a:xfrm>
            <a:off x="7086600" y="5458968"/>
            <a:ext cx="164592" cy="128016"/>
          </a:xfrm>
          <a:prstGeom prst="rect">
            <a:avLst/>
          </a:prstGeom>
          <a:solidFill>
            <a:srgbClr val="3B7DD8"/>
          </a:solidFill>
          <a:ln/>
        </p:spPr>
      </p:sp>
      <p:sp>
        <p:nvSpPr>
          <p:cNvPr id="75" name="Text 72"/>
          <p:cNvSpPr/>
          <p:nvPr/>
        </p:nvSpPr>
        <p:spPr>
          <a:xfrm>
            <a:off x="7287768" y="5413248"/>
            <a:ext cx="5486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skin</a:t>
            </a:r>
            <a:endParaRPr lang="en-US" sz="1000" dirty="0"/>
          </a:p>
        </p:txBody>
      </p:sp>
      <p:sp>
        <p:nvSpPr>
          <p:cNvPr id="76" name="Text 73"/>
          <p:cNvSpPr/>
          <p:nvPr/>
        </p:nvSpPr>
        <p:spPr>
          <a:xfrm>
            <a:off x="3611880" y="5413248"/>
            <a:ext cx="2697480" cy="219456"/>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bar chart to scale from the means</a:t>
            </a:r>
            <a:endParaRPr lang="en-US" sz="1000" dirty="0"/>
          </a:p>
        </p:txBody>
      </p:sp>
      <p:sp>
        <p:nvSpPr>
          <p:cNvPr id="77" name="Shape 74"/>
          <p:cNvSpPr/>
          <p:nvPr/>
        </p:nvSpPr>
        <p:spPr>
          <a:xfrm>
            <a:off x="8092440" y="1188720"/>
            <a:ext cx="3685032" cy="2606040"/>
          </a:xfrm>
          <a:prstGeom prst="roundRect">
            <a:avLst>
              <a:gd name="adj" fmla="val 2105"/>
            </a:avLst>
          </a:prstGeom>
          <a:solidFill>
            <a:srgbClr val="F4FAF9"/>
          </a:solidFill>
          <a:ln w="9525">
            <a:solidFill>
              <a:srgbClr val="CFE0DE"/>
            </a:solidFill>
            <a:prstDash val="solid"/>
          </a:ln>
        </p:spPr>
      </p:sp>
      <p:sp>
        <p:nvSpPr>
          <p:cNvPr id="78" name="Text 75"/>
          <p:cNvSpPr/>
          <p:nvPr/>
        </p:nvSpPr>
        <p:spPr>
          <a:xfrm>
            <a:off x="8257032" y="1280160"/>
            <a:ext cx="335584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Method and safety</a:t>
            </a:r>
            <a:endParaRPr lang="en-US" sz="1300" dirty="0"/>
          </a:p>
        </p:txBody>
      </p:sp>
      <p:sp>
        <p:nvSpPr>
          <p:cNvPr id="79" name="Text 76"/>
          <p:cNvSpPr/>
          <p:nvPr/>
        </p:nvSpPr>
        <p:spPr>
          <a:xfrm>
            <a:off x="8257032" y="1609344"/>
            <a:ext cx="3355848" cy="2112264"/>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262B3A"/>
                </a:solidFill>
                <a:latin typeface="Calibri" pitchFamily="34" charset="0"/>
                <a:ea typeface="Calibri" pitchFamily="34" charset="-122"/>
                <a:cs typeface="Calibri" pitchFamily="34" charset="-120"/>
              </a:rPr>
              <a:t>Measure </a:t>
            </a:r>
            <a:r>
              <a:rPr lang="en-US" sz="1000" b="1" dirty="0">
                <a:solidFill>
                  <a:srgbClr val="262B3A"/>
                </a:solidFill>
                <a:latin typeface="Calibri" pitchFamily="34" charset="0"/>
                <a:ea typeface="Calibri" pitchFamily="34" charset="-122"/>
                <a:cs typeface="Calibri" pitchFamily="34" charset="-120"/>
              </a:rPr>
              <a:t>core</a:t>
            </a:r>
            <a:r>
              <a:rPr lang="en-US" sz="1000" dirty="0">
                <a:solidFill>
                  <a:srgbClr val="262B3A"/>
                </a:solidFill>
                <a:latin typeface="Calibri" pitchFamily="34" charset="0"/>
                <a:ea typeface="Calibri" pitchFamily="34" charset="-122"/>
                <a:cs typeface="Calibri" pitchFamily="34" charset="-120"/>
              </a:rPr>
              <a:t> temperature with an ear (or digital oral) thermometer.</a:t>
            </a:r>
            <a:endParaRPr lang="en-US" sz="1000" dirty="0"/>
          </a:p>
          <a:p>
            <a:pPr marL="152400" indent="-152400">
              <a:spcAft>
                <a:spcPts val="300"/>
              </a:spcAft>
              <a:buSzPct val="100000"/>
              <a:buChar char="▪"/>
            </a:pPr>
            <a:r>
              <a:rPr lang="en-US" sz="1000" dirty="0">
                <a:solidFill>
                  <a:srgbClr val="262B3A"/>
                </a:solidFill>
                <a:latin typeface="Calibri" pitchFamily="34" charset="0"/>
                <a:ea typeface="Calibri" pitchFamily="34" charset="-122"/>
                <a:cs typeface="Calibri" pitchFamily="34" charset="-120"/>
              </a:rPr>
              <a:t>Measure </a:t>
            </a:r>
            <a:r>
              <a:rPr lang="en-US" sz="1000" b="1" dirty="0">
                <a:solidFill>
                  <a:srgbClr val="262B3A"/>
                </a:solidFill>
                <a:latin typeface="Calibri" pitchFamily="34" charset="0"/>
                <a:ea typeface="Calibri" pitchFamily="34" charset="-122"/>
                <a:cs typeface="Calibri" pitchFamily="34" charset="-120"/>
              </a:rPr>
              <a:t>skin</a:t>
            </a:r>
            <a:r>
              <a:rPr lang="en-US" sz="1000" dirty="0">
                <a:solidFill>
                  <a:srgbClr val="262B3A"/>
                </a:solidFill>
                <a:latin typeface="Calibri" pitchFamily="34" charset="0"/>
                <a:ea typeface="Calibri" pitchFamily="34" charset="-122"/>
                <a:cs typeface="Calibri" pitchFamily="34" charset="-120"/>
              </a:rPr>
              <a:t> temperature with a probe on the back of the hand.</a:t>
            </a:r>
            <a:endParaRPr lang="en-US" sz="1000" dirty="0"/>
          </a:p>
          <a:p>
            <a:pPr marL="152400" indent="-152400">
              <a:spcAft>
                <a:spcPts val="300"/>
              </a:spcAft>
              <a:buSzPct val="100000"/>
              <a:buChar char="▪"/>
            </a:pPr>
            <a:r>
              <a:rPr lang="en-US" sz="1000" dirty="0">
                <a:solidFill>
                  <a:srgbClr val="262B3A"/>
                </a:solidFill>
                <a:latin typeface="Calibri" pitchFamily="34" charset="0"/>
                <a:ea typeface="Calibri" pitchFamily="34" charset="-122"/>
                <a:cs typeface="Calibri" pitchFamily="34" charset="-120"/>
              </a:rPr>
              <a:t>Take 3 readings in each condition; find the </a:t>
            </a:r>
            <a:r>
              <a:rPr lang="en-US" sz="1000" b="1" dirty="0">
                <a:solidFill>
                  <a:srgbClr val="262B3A"/>
                </a:solidFill>
                <a:latin typeface="Calibri" pitchFamily="34" charset="0"/>
                <a:ea typeface="Calibri" pitchFamily="34" charset="-122"/>
                <a:cs typeface="Calibri" pitchFamily="34" charset="-120"/>
              </a:rPr>
              <a:t>mean</a:t>
            </a:r>
            <a:r>
              <a:rPr lang="en-US" sz="1000" dirty="0">
                <a:solidFill>
                  <a:srgbClr val="262B3A"/>
                </a:solidFill>
                <a:latin typeface="Calibri" pitchFamily="34" charset="0"/>
                <a:ea typeface="Calibri" pitchFamily="34" charset="-122"/>
                <a:cs typeface="Calibri" pitchFamily="34" charset="-120"/>
              </a:rPr>
              <a:t>.</a:t>
            </a:r>
            <a:endParaRPr lang="en-US" sz="1000" dirty="0"/>
          </a:p>
          <a:p>
            <a:pPr marL="152400" indent="-152400">
              <a:spcAft>
                <a:spcPts val="300"/>
              </a:spcAft>
              <a:buSzPct val="100000"/>
              <a:buChar char="▪"/>
            </a:pPr>
            <a:r>
              <a:rPr lang="en-US" sz="1000" dirty="0">
                <a:solidFill>
                  <a:srgbClr val="262B3A"/>
                </a:solidFill>
                <a:latin typeface="Calibri" pitchFamily="34" charset="0"/>
                <a:ea typeface="Calibri" pitchFamily="34" charset="-122"/>
                <a:cs typeface="Calibri" pitchFamily="34" charset="-120"/>
              </a:rPr>
              <a:t>Safety: cold water no colder than 10 °C, max 5 min; stop if it hurts; mild exercise only; clean the thermometer between uses.</a:t>
            </a:r>
            <a:endParaRPr lang="en-US" sz="1000" dirty="0"/>
          </a:p>
        </p:txBody>
      </p:sp>
      <p:sp>
        <p:nvSpPr>
          <p:cNvPr id="80" name="Shape 77"/>
          <p:cNvSpPr/>
          <p:nvPr/>
        </p:nvSpPr>
        <p:spPr>
          <a:xfrm>
            <a:off x="8092440" y="3886200"/>
            <a:ext cx="3685032" cy="1828800"/>
          </a:xfrm>
          <a:prstGeom prst="roundRect">
            <a:avLst>
              <a:gd name="adj" fmla="val 3000"/>
            </a:avLst>
          </a:prstGeom>
          <a:solidFill>
            <a:srgbClr val="FFF4E0"/>
          </a:solidFill>
          <a:ln w="9525">
            <a:solidFill>
              <a:srgbClr val="F1D9A8"/>
            </a:solidFill>
            <a:prstDash val="solid"/>
          </a:ln>
        </p:spPr>
      </p:sp>
      <p:sp>
        <p:nvSpPr>
          <p:cNvPr id="81" name="Text 78"/>
          <p:cNvSpPr/>
          <p:nvPr/>
        </p:nvSpPr>
        <p:spPr>
          <a:xfrm>
            <a:off x="8257032" y="3959352"/>
            <a:ext cx="335584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compare ranges</a:t>
            </a:r>
            <a:endParaRPr lang="en-US" sz="1300" dirty="0"/>
          </a:p>
        </p:txBody>
      </p:sp>
      <p:sp>
        <p:nvSpPr>
          <p:cNvPr id="82" name="Text 79"/>
          <p:cNvSpPr/>
          <p:nvPr/>
        </p:nvSpPr>
        <p:spPr>
          <a:xfrm>
            <a:off x="8257032" y="4270248"/>
            <a:ext cx="3355848" cy="137160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Core   </a:t>
            </a:r>
            <a:r>
              <a:rPr lang="en-US" sz="1050" dirty="0">
                <a:solidFill>
                  <a:srgbClr val="262B3A"/>
                </a:solidFill>
                <a:latin typeface="Calibri" pitchFamily="34" charset="0"/>
                <a:ea typeface="Calibri" pitchFamily="34" charset="-122"/>
                <a:cs typeface="Calibri" pitchFamily="34" charset="-120"/>
              </a:rPr>
              <a:t>37.4 − 36.8 = 0.6 °C</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Skin   </a:t>
            </a:r>
            <a:r>
              <a:rPr lang="en-US" sz="1050" dirty="0">
                <a:solidFill>
                  <a:srgbClr val="262B3A"/>
                </a:solidFill>
                <a:latin typeface="Calibri" pitchFamily="34" charset="0"/>
                <a:ea typeface="Calibri" pitchFamily="34" charset="-122"/>
                <a:cs typeface="Calibri" pitchFamily="34" charset="-120"/>
              </a:rPr>
              <a:t>33.5 − 21.0 = 12.5 °C</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skin varies about 21 times as much as core</a:t>
            </a:r>
            <a:endParaRPr lang="en-US" sz="1050" dirty="0"/>
          </a:p>
        </p:txBody>
      </p:sp>
      <p:sp>
        <p:nvSpPr>
          <p:cNvPr id="83" name="Shape 80"/>
          <p:cNvSpPr/>
          <p:nvPr/>
        </p:nvSpPr>
        <p:spPr>
          <a:xfrm>
            <a:off x="411480" y="5833872"/>
            <a:ext cx="11368735" cy="530352"/>
          </a:xfrm>
          <a:prstGeom prst="rect">
            <a:avLst/>
          </a:prstGeom>
          <a:solidFill>
            <a:srgbClr val="FFF4E0"/>
          </a:solidFill>
          <a:ln w="6350">
            <a:solidFill>
              <a:srgbClr val="F1D9A8"/>
            </a:solidFill>
            <a:prstDash val="solid"/>
          </a:ln>
        </p:spPr>
      </p:sp>
      <p:sp>
        <p:nvSpPr>
          <p:cNvPr id="84" name="Shape 81"/>
          <p:cNvSpPr/>
          <p:nvPr/>
        </p:nvSpPr>
        <p:spPr>
          <a:xfrm>
            <a:off x="411480" y="5833872"/>
            <a:ext cx="82296" cy="530352"/>
          </a:xfrm>
          <a:prstGeom prst="rect">
            <a:avLst/>
          </a:prstGeom>
          <a:solidFill>
            <a:srgbClr val="E39A2F"/>
          </a:solidFill>
          <a:ln w="12700">
            <a:solidFill>
              <a:srgbClr val="E39A2F"/>
            </a:solidFill>
            <a:prstDash val="solid"/>
          </a:ln>
        </p:spPr>
      </p:sp>
      <p:sp>
        <p:nvSpPr>
          <p:cNvPr id="85" name="Text 8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Skin temperature changed by over 12 °C but core temperature by less than 1 °C. Explain why it matters </a:t>
            </a:r>
            <a:r>
              <a:rPr lang="en-US" sz="1150" b="1" dirty="0">
                <a:solidFill>
                  <a:srgbClr val="262B3A"/>
                </a:solidFill>
                <a:latin typeface="Calibri" pitchFamily="34" charset="0"/>
                <a:ea typeface="Calibri" pitchFamily="34" charset="-122"/>
                <a:cs typeface="Calibri" pitchFamily="34" charset="-120"/>
              </a:rPr>
              <a:t>more</a:t>
            </a:r>
            <a:r>
              <a:rPr lang="en-US" sz="1150" dirty="0">
                <a:solidFill>
                  <a:srgbClr val="262B3A"/>
                </a:solidFill>
                <a:latin typeface="Calibri" pitchFamily="34" charset="0"/>
                <a:ea typeface="Calibri" pitchFamily="34" charset="-122"/>
                <a:cs typeface="Calibri" pitchFamily="34" charset="-120"/>
              </a:rPr>
              <a:t> to keep </a:t>
            </a:r>
            <a:r>
              <a:rPr lang="en-US" sz="1150" b="1" dirty="0">
                <a:solidFill>
                  <a:srgbClr val="262B3A"/>
                </a:solidFill>
                <a:latin typeface="Calibri" pitchFamily="34" charset="0"/>
                <a:ea typeface="Calibri" pitchFamily="34" charset="-122"/>
                <a:cs typeface="Calibri" pitchFamily="34" charset="-120"/>
              </a:rPr>
              <a:t>core</a:t>
            </a:r>
            <a:r>
              <a:rPr lang="en-US" sz="1150" dirty="0">
                <a:solidFill>
                  <a:srgbClr val="262B3A"/>
                </a:solidFill>
                <a:latin typeface="Calibri" pitchFamily="34" charset="0"/>
                <a:ea typeface="Calibri" pitchFamily="34" charset="-122"/>
                <a:cs typeface="Calibri" pitchFamily="34" charset="-120"/>
              </a:rPr>
              <a:t> temperature constant.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the two suggested practicals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beaker model, what part of a control system is the </a:t>
            </a:r>
            <a:r>
              <a:rPr lang="en-US" sz="1250" b="1" dirty="0">
                <a:solidFill>
                  <a:srgbClr val="262B3A"/>
                </a:solidFill>
                <a:latin typeface="Calibri" pitchFamily="34" charset="0"/>
                <a:ea typeface="Calibri" pitchFamily="34" charset="-122"/>
                <a:cs typeface="Calibri" pitchFamily="34" charset="-120"/>
              </a:rPr>
              <a:t>thermometer</a:t>
            </a:r>
            <a:r>
              <a:rPr lang="en-US" sz="1250" dirty="0">
                <a:solidFill>
                  <a:srgbClr val="262B3A"/>
                </a:solidFill>
                <a:latin typeface="Calibri" pitchFamily="34" charset="0"/>
                <a:ea typeface="Calibri" pitchFamily="34" charset="-122"/>
                <a:cs typeface="Calibri" pitchFamily="34" charset="-120"/>
              </a:rPr>
              <a:t>? What is the </a:t>
            </a:r>
            <a:r>
              <a:rPr lang="en-US" sz="1250" b="1" dirty="0">
                <a:solidFill>
                  <a:srgbClr val="262B3A"/>
                </a:solidFill>
                <a:latin typeface="Calibri" pitchFamily="34" charset="0"/>
                <a:ea typeface="Calibri" pitchFamily="34" charset="-122"/>
                <a:cs typeface="Calibri" pitchFamily="34" charset="-120"/>
              </a:rPr>
              <a:t>ice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kept a beaker between </a:t>
            </a:r>
            <a:r>
              <a:rPr lang="en-US" sz="1250" b="1" dirty="0">
                <a:solidFill>
                  <a:srgbClr val="262B3A"/>
                </a:solidFill>
                <a:latin typeface="Calibri" pitchFamily="34" charset="0"/>
                <a:ea typeface="Calibri" pitchFamily="34" charset="-122"/>
                <a:cs typeface="Calibri" pitchFamily="34" charset="-120"/>
              </a:rPr>
              <a:t>36.8 °C</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37.2 °C</a:t>
            </a:r>
            <a:r>
              <a:rPr lang="en-US" sz="1250" dirty="0">
                <a:solidFill>
                  <a:srgbClr val="262B3A"/>
                </a:solidFill>
                <a:latin typeface="Calibri" pitchFamily="34" charset="0"/>
                <a:ea typeface="Calibri" pitchFamily="34" charset="-122"/>
                <a:cs typeface="Calibri" pitchFamily="34" charset="-120"/>
              </a:rPr>
              <a:t>. Calculate the range.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variables that should be kept the same in both runs of the beaker model.</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student's skin temperature fell from </a:t>
            </a:r>
            <a:r>
              <a:rPr lang="en-US" sz="1250" b="1" dirty="0">
                <a:solidFill>
                  <a:srgbClr val="262B3A"/>
                </a:solidFill>
                <a:latin typeface="Calibri" pitchFamily="34" charset="0"/>
                <a:ea typeface="Calibri" pitchFamily="34" charset="-122"/>
                <a:cs typeface="Calibri" pitchFamily="34" charset="-120"/>
              </a:rPr>
              <a:t>34.0 °C</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25.5 °C</a:t>
            </a:r>
            <a:r>
              <a:rPr lang="en-US" sz="1250" dirty="0">
                <a:solidFill>
                  <a:srgbClr val="262B3A"/>
                </a:solidFill>
                <a:latin typeface="Calibri" pitchFamily="34" charset="0"/>
                <a:ea typeface="Calibri" pitchFamily="34" charset="-122"/>
                <a:cs typeface="Calibri" pitchFamily="34" charset="-120"/>
              </a:rPr>
              <a:t> outside, but core temperature stayed at </a:t>
            </a:r>
            <a:r>
              <a:rPr lang="en-US" sz="1250" b="1" dirty="0">
                <a:solidFill>
                  <a:srgbClr val="262B3A"/>
                </a:solidFill>
                <a:latin typeface="Calibri" pitchFamily="34" charset="0"/>
                <a:ea typeface="Calibri" pitchFamily="34" charset="-122"/>
                <a:cs typeface="Calibri" pitchFamily="34" charset="-120"/>
              </a:rPr>
              <a:t>37.0 °C</a:t>
            </a:r>
            <a:r>
              <a:rPr lang="en-US" sz="1250" dirty="0">
                <a:solidFill>
                  <a:srgbClr val="262B3A"/>
                </a:solidFill>
                <a:latin typeface="Calibri" pitchFamily="34" charset="0"/>
                <a:ea typeface="Calibri" pitchFamily="34" charset="-122"/>
                <a:cs typeface="Calibri" pitchFamily="34" charset="-120"/>
              </a:rPr>
              <a:t>. Calculate the fall in skin temperature and explain why the core stayed the same.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When conditions go outside the safe range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small changes are corrected; big changes can be fatal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B5.4.1  |  19</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core temperature and water loss: approximate limits for an adult</a:t>
            </a:r>
            <a:endParaRPr lang="en-US" sz="1000" dirty="0"/>
          </a:p>
        </p:txBody>
      </p:sp>
      <p:sp>
        <p:nvSpPr>
          <p:cNvPr id="10" name="Shape 8"/>
          <p:cNvSpPr/>
          <p:nvPr/>
        </p:nvSpPr>
        <p:spPr>
          <a:xfrm>
            <a:off x="1188720" y="3814354"/>
            <a:ext cx="502920" cy="1306286"/>
          </a:xfrm>
          <a:prstGeom prst="rect">
            <a:avLst/>
          </a:prstGeom>
          <a:solidFill>
            <a:srgbClr val="C9DDF5"/>
          </a:solidFill>
          <a:ln/>
        </p:spPr>
      </p:sp>
      <p:sp>
        <p:nvSpPr>
          <p:cNvPr id="11" name="Shape 9"/>
          <p:cNvSpPr/>
          <p:nvPr/>
        </p:nvSpPr>
        <p:spPr>
          <a:xfrm>
            <a:off x="1188720" y="3422469"/>
            <a:ext cx="502920" cy="391886"/>
          </a:xfrm>
          <a:prstGeom prst="rect">
            <a:avLst/>
          </a:prstGeom>
          <a:solidFill>
            <a:srgbClr val="E4EEF9"/>
          </a:solidFill>
          <a:ln/>
        </p:spPr>
      </p:sp>
      <p:sp>
        <p:nvSpPr>
          <p:cNvPr id="12" name="Shape 10"/>
          <p:cNvSpPr/>
          <p:nvPr/>
        </p:nvSpPr>
        <p:spPr>
          <a:xfrm>
            <a:off x="1188720" y="3161211"/>
            <a:ext cx="502920" cy="261257"/>
          </a:xfrm>
          <a:prstGeom prst="rect">
            <a:avLst/>
          </a:prstGeom>
          <a:solidFill>
            <a:srgbClr val="BFE6CF"/>
          </a:solidFill>
          <a:ln/>
        </p:spPr>
      </p:sp>
      <p:sp>
        <p:nvSpPr>
          <p:cNvPr id="13" name="Shape 11"/>
          <p:cNvSpPr/>
          <p:nvPr/>
        </p:nvSpPr>
        <p:spPr>
          <a:xfrm>
            <a:off x="1188720" y="2508069"/>
            <a:ext cx="502920" cy="653143"/>
          </a:xfrm>
          <a:prstGeom prst="rect">
            <a:avLst/>
          </a:prstGeom>
          <a:solidFill>
            <a:srgbClr val="FBE3C8"/>
          </a:solidFill>
          <a:ln/>
        </p:spPr>
      </p:sp>
      <p:sp>
        <p:nvSpPr>
          <p:cNvPr id="14" name="Shape 12"/>
          <p:cNvSpPr/>
          <p:nvPr/>
        </p:nvSpPr>
        <p:spPr>
          <a:xfrm>
            <a:off x="1188720" y="1463040"/>
            <a:ext cx="502920" cy="1045029"/>
          </a:xfrm>
          <a:prstGeom prst="rect">
            <a:avLst/>
          </a:prstGeom>
          <a:solidFill>
            <a:srgbClr val="F6C3C3"/>
          </a:solidFill>
          <a:ln/>
        </p:spPr>
      </p:sp>
      <p:sp>
        <p:nvSpPr>
          <p:cNvPr id="15" name="Shape 13"/>
          <p:cNvSpPr/>
          <p:nvPr/>
        </p:nvSpPr>
        <p:spPr>
          <a:xfrm>
            <a:off x="1188720" y="1463040"/>
            <a:ext cx="502920" cy="3657600"/>
          </a:xfrm>
          <a:prstGeom prst="rect">
            <a:avLst/>
          </a:prstGeom>
          <a:ln w="15875">
            <a:solidFill>
              <a:srgbClr val="6B7385"/>
            </a:solidFill>
            <a:prstDash val="solid"/>
          </a:ln>
        </p:spPr>
      </p:sp>
      <p:sp>
        <p:nvSpPr>
          <p:cNvPr id="16" name="Shape 14"/>
          <p:cNvSpPr/>
          <p:nvPr/>
        </p:nvSpPr>
        <p:spPr>
          <a:xfrm>
            <a:off x="1691640" y="5120640"/>
            <a:ext cx="137160" cy="91"/>
          </a:xfrm>
          <a:prstGeom prst="line">
            <a:avLst/>
          </a:prstGeom>
          <a:noFill/>
          <a:ln w="12700">
            <a:solidFill>
              <a:srgbClr val="133536"/>
            </a:solidFill>
            <a:prstDash val="solid"/>
          </a:ln>
        </p:spPr>
      </p:sp>
      <p:sp>
        <p:nvSpPr>
          <p:cNvPr id="17" name="Text 15"/>
          <p:cNvSpPr/>
          <p:nvPr/>
        </p:nvSpPr>
        <p:spPr>
          <a:xfrm>
            <a:off x="640080" y="5020056"/>
            <a:ext cx="502920" cy="201168"/>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 °C</a:t>
            </a:r>
            <a:endParaRPr lang="en-US" sz="1000" dirty="0"/>
          </a:p>
        </p:txBody>
      </p:sp>
      <p:sp>
        <p:nvSpPr>
          <p:cNvPr id="18" name="Shape 16"/>
          <p:cNvSpPr/>
          <p:nvPr/>
        </p:nvSpPr>
        <p:spPr>
          <a:xfrm>
            <a:off x="1691640" y="4598126"/>
            <a:ext cx="137160" cy="91"/>
          </a:xfrm>
          <a:prstGeom prst="line">
            <a:avLst/>
          </a:prstGeom>
          <a:noFill/>
          <a:ln w="12700">
            <a:solidFill>
              <a:srgbClr val="133536"/>
            </a:solidFill>
            <a:prstDash val="solid"/>
          </a:ln>
        </p:spPr>
      </p:sp>
      <p:sp>
        <p:nvSpPr>
          <p:cNvPr id="19" name="Text 17"/>
          <p:cNvSpPr/>
          <p:nvPr/>
        </p:nvSpPr>
        <p:spPr>
          <a:xfrm>
            <a:off x="640080" y="4497542"/>
            <a:ext cx="502920" cy="201168"/>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32 °C</a:t>
            </a:r>
            <a:endParaRPr lang="en-US" sz="1000" dirty="0"/>
          </a:p>
        </p:txBody>
      </p:sp>
      <p:sp>
        <p:nvSpPr>
          <p:cNvPr id="20" name="Shape 18"/>
          <p:cNvSpPr/>
          <p:nvPr/>
        </p:nvSpPr>
        <p:spPr>
          <a:xfrm>
            <a:off x="1691640" y="4075611"/>
            <a:ext cx="137160" cy="91"/>
          </a:xfrm>
          <a:prstGeom prst="line">
            <a:avLst/>
          </a:prstGeom>
          <a:noFill/>
          <a:ln w="12700">
            <a:solidFill>
              <a:srgbClr val="133536"/>
            </a:solidFill>
            <a:prstDash val="solid"/>
          </a:ln>
        </p:spPr>
      </p:sp>
      <p:sp>
        <p:nvSpPr>
          <p:cNvPr id="21" name="Text 19"/>
          <p:cNvSpPr/>
          <p:nvPr/>
        </p:nvSpPr>
        <p:spPr>
          <a:xfrm>
            <a:off x="640080" y="3975027"/>
            <a:ext cx="502920" cy="201168"/>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34 °C</a:t>
            </a:r>
            <a:endParaRPr lang="en-US" sz="1000" dirty="0"/>
          </a:p>
        </p:txBody>
      </p:sp>
      <p:sp>
        <p:nvSpPr>
          <p:cNvPr id="22" name="Shape 20"/>
          <p:cNvSpPr/>
          <p:nvPr/>
        </p:nvSpPr>
        <p:spPr>
          <a:xfrm>
            <a:off x="1691640" y="3553097"/>
            <a:ext cx="137160" cy="91"/>
          </a:xfrm>
          <a:prstGeom prst="line">
            <a:avLst/>
          </a:prstGeom>
          <a:noFill/>
          <a:ln w="12700">
            <a:solidFill>
              <a:srgbClr val="133536"/>
            </a:solidFill>
            <a:prstDash val="solid"/>
          </a:ln>
        </p:spPr>
      </p:sp>
      <p:sp>
        <p:nvSpPr>
          <p:cNvPr id="23" name="Text 21"/>
          <p:cNvSpPr/>
          <p:nvPr/>
        </p:nvSpPr>
        <p:spPr>
          <a:xfrm>
            <a:off x="640080" y="3452513"/>
            <a:ext cx="502920" cy="201168"/>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36 °C</a:t>
            </a:r>
            <a:endParaRPr lang="en-US" sz="1000" dirty="0"/>
          </a:p>
        </p:txBody>
      </p:sp>
      <p:sp>
        <p:nvSpPr>
          <p:cNvPr id="24" name="Shape 22"/>
          <p:cNvSpPr/>
          <p:nvPr/>
        </p:nvSpPr>
        <p:spPr>
          <a:xfrm>
            <a:off x="1691640" y="3030583"/>
            <a:ext cx="137160" cy="91"/>
          </a:xfrm>
          <a:prstGeom prst="line">
            <a:avLst/>
          </a:prstGeom>
          <a:noFill/>
          <a:ln w="12700">
            <a:solidFill>
              <a:srgbClr val="133536"/>
            </a:solidFill>
            <a:prstDash val="solid"/>
          </a:ln>
        </p:spPr>
      </p:sp>
      <p:sp>
        <p:nvSpPr>
          <p:cNvPr id="25" name="Text 23"/>
          <p:cNvSpPr/>
          <p:nvPr/>
        </p:nvSpPr>
        <p:spPr>
          <a:xfrm>
            <a:off x="640080" y="2929999"/>
            <a:ext cx="502920" cy="201168"/>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38 °C</a:t>
            </a:r>
            <a:endParaRPr lang="en-US" sz="1000" dirty="0"/>
          </a:p>
        </p:txBody>
      </p:sp>
      <p:sp>
        <p:nvSpPr>
          <p:cNvPr id="26" name="Shape 24"/>
          <p:cNvSpPr/>
          <p:nvPr/>
        </p:nvSpPr>
        <p:spPr>
          <a:xfrm>
            <a:off x="1691640" y="2508069"/>
            <a:ext cx="137160" cy="91"/>
          </a:xfrm>
          <a:prstGeom prst="line">
            <a:avLst/>
          </a:prstGeom>
          <a:noFill/>
          <a:ln w="12700">
            <a:solidFill>
              <a:srgbClr val="133536"/>
            </a:solidFill>
            <a:prstDash val="solid"/>
          </a:ln>
        </p:spPr>
      </p:sp>
      <p:sp>
        <p:nvSpPr>
          <p:cNvPr id="27" name="Text 25"/>
          <p:cNvSpPr/>
          <p:nvPr/>
        </p:nvSpPr>
        <p:spPr>
          <a:xfrm>
            <a:off x="640080" y="2407485"/>
            <a:ext cx="502920" cy="201168"/>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 °C</a:t>
            </a:r>
            <a:endParaRPr lang="en-US" sz="1000" dirty="0"/>
          </a:p>
        </p:txBody>
      </p:sp>
      <p:sp>
        <p:nvSpPr>
          <p:cNvPr id="28" name="Shape 26"/>
          <p:cNvSpPr/>
          <p:nvPr/>
        </p:nvSpPr>
        <p:spPr>
          <a:xfrm>
            <a:off x="1691640" y="1985554"/>
            <a:ext cx="137160" cy="91"/>
          </a:xfrm>
          <a:prstGeom prst="line">
            <a:avLst/>
          </a:prstGeom>
          <a:noFill/>
          <a:ln w="12700">
            <a:solidFill>
              <a:srgbClr val="133536"/>
            </a:solidFill>
            <a:prstDash val="solid"/>
          </a:ln>
        </p:spPr>
      </p:sp>
      <p:sp>
        <p:nvSpPr>
          <p:cNvPr id="29" name="Text 27"/>
          <p:cNvSpPr/>
          <p:nvPr/>
        </p:nvSpPr>
        <p:spPr>
          <a:xfrm>
            <a:off x="640080" y="1884970"/>
            <a:ext cx="502920" cy="201168"/>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42 °C</a:t>
            </a:r>
            <a:endParaRPr lang="en-US" sz="1000" dirty="0"/>
          </a:p>
        </p:txBody>
      </p:sp>
      <p:sp>
        <p:nvSpPr>
          <p:cNvPr id="30" name="Shape 28"/>
          <p:cNvSpPr/>
          <p:nvPr/>
        </p:nvSpPr>
        <p:spPr>
          <a:xfrm>
            <a:off x="1691640" y="1463040"/>
            <a:ext cx="137160" cy="91"/>
          </a:xfrm>
          <a:prstGeom prst="line">
            <a:avLst/>
          </a:prstGeom>
          <a:noFill/>
          <a:ln w="12700">
            <a:solidFill>
              <a:srgbClr val="133536"/>
            </a:solidFill>
            <a:prstDash val="solid"/>
          </a:ln>
        </p:spPr>
      </p:sp>
      <p:sp>
        <p:nvSpPr>
          <p:cNvPr id="31" name="Text 29"/>
          <p:cNvSpPr/>
          <p:nvPr/>
        </p:nvSpPr>
        <p:spPr>
          <a:xfrm>
            <a:off x="640080" y="1362456"/>
            <a:ext cx="502920" cy="201168"/>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44 °C</a:t>
            </a:r>
            <a:endParaRPr lang="en-US" sz="1000" dirty="0"/>
          </a:p>
        </p:txBody>
      </p:sp>
      <p:sp>
        <p:nvSpPr>
          <p:cNvPr id="32" name="Shape 30"/>
          <p:cNvSpPr/>
          <p:nvPr/>
        </p:nvSpPr>
        <p:spPr>
          <a:xfrm>
            <a:off x="1385316" y="1508760"/>
            <a:ext cx="109728" cy="3611880"/>
          </a:xfrm>
          <a:prstGeom prst="roundRect">
            <a:avLst>
              <a:gd name="adj" fmla="val 50000"/>
            </a:avLst>
          </a:prstGeom>
          <a:solidFill>
            <a:srgbClr val="F7FAFC"/>
          </a:solidFill>
          <a:ln w="12700">
            <a:solidFill>
              <a:srgbClr val="6B7385"/>
            </a:solidFill>
            <a:prstDash val="solid"/>
          </a:ln>
        </p:spPr>
      </p:sp>
      <p:sp>
        <p:nvSpPr>
          <p:cNvPr id="33" name="Shape 31"/>
          <p:cNvSpPr/>
          <p:nvPr/>
        </p:nvSpPr>
        <p:spPr>
          <a:xfrm>
            <a:off x="1416040" y="3314700"/>
            <a:ext cx="48280" cy="1755648"/>
          </a:xfrm>
          <a:prstGeom prst="rect">
            <a:avLst/>
          </a:prstGeom>
          <a:solidFill>
            <a:srgbClr val="C8414C"/>
          </a:solidFill>
          <a:ln/>
        </p:spPr>
      </p:sp>
      <p:sp>
        <p:nvSpPr>
          <p:cNvPr id="34" name="Shape 32"/>
          <p:cNvSpPr/>
          <p:nvPr/>
        </p:nvSpPr>
        <p:spPr>
          <a:xfrm>
            <a:off x="1339596" y="5020056"/>
            <a:ext cx="201168" cy="201168"/>
          </a:xfrm>
          <a:prstGeom prst="ellipse">
            <a:avLst/>
          </a:prstGeom>
          <a:solidFill>
            <a:srgbClr val="C8414C"/>
          </a:solidFill>
          <a:ln w="12700">
            <a:solidFill>
              <a:srgbClr val="8E2A33"/>
            </a:solidFill>
            <a:prstDash val="solid"/>
          </a:ln>
        </p:spPr>
      </p:sp>
      <p:sp>
        <p:nvSpPr>
          <p:cNvPr id="35" name="Shape 33"/>
          <p:cNvSpPr/>
          <p:nvPr/>
        </p:nvSpPr>
        <p:spPr>
          <a:xfrm>
            <a:off x="1828800" y="4467497"/>
            <a:ext cx="182880" cy="91"/>
          </a:xfrm>
          <a:prstGeom prst="line">
            <a:avLst/>
          </a:prstGeom>
          <a:noFill/>
          <a:ln w="15875">
            <a:solidFill>
              <a:srgbClr val="3B7DD8"/>
            </a:solidFill>
            <a:prstDash val="solid"/>
          </a:ln>
        </p:spPr>
      </p:sp>
      <p:sp>
        <p:nvSpPr>
          <p:cNvPr id="36" name="Text 34"/>
          <p:cNvSpPr/>
          <p:nvPr/>
        </p:nvSpPr>
        <p:spPr>
          <a:xfrm>
            <a:off x="2057400" y="4248041"/>
            <a:ext cx="1508760" cy="548640"/>
          </a:xfrm>
          <a:prstGeom prst="rect">
            <a:avLst/>
          </a:prstGeom>
          <a:noFill/>
          <a:ln/>
        </p:spPr>
        <p:txBody>
          <a:bodyPr wrap="square" lIns="0" tIns="0" rIns="0" bIns="0" rtlCol="0" anchor="ctr"/>
          <a:lstStyle/>
          <a:p>
            <a:pPr algn="l" indent="0" marL="0">
              <a:buNone/>
            </a:pPr>
            <a:r>
              <a:rPr lang="en-US" sz="1000" b="1" dirty="0">
                <a:solidFill>
                  <a:srgbClr val="3B7DD8"/>
                </a:solidFill>
                <a:latin typeface="Calibri" pitchFamily="34" charset="0"/>
                <a:ea typeface="Calibri" pitchFamily="34" charset="-122"/>
                <a:cs typeface="Calibri" pitchFamily="34" charset="-120"/>
              </a:rPr>
              <a:t>Hypothermia below 35 °C: enzymes too slow; confusion, heart stops</a:t>
            </a:r>
            <a:endParaRPr lang="en-US" sz="1000" dirty="0"/>
          </a:p>
        </p:txBody>
      </p:sp>
      <p:sp>
        <p:nvSpPr>
          <p:cNvPr id="37" name="Shape 35"/>
          <p:cNvSpPr/>
          <p:nvPr/>
        </p:nvSpPr>
        <p:spPr>
          <a:xfrm>
            <a:off x="1828800" y="3291840"/>
            <a:ext cx="182880" cy="91"/>
          </a:xfrm>
          <a:prstGeom prst="line">
            <a:avLst/>
          </a:prstGeom>
          <a:noFill/>
          <a:ln w="15875">
            <a:solidFill>
              <a:srgbClr val="2E8B57"/>
            </a:solidFill>
            <a:prstDash val="solid"/>
          </a:ln>
        </p:spPr>
      </p:sp>
      <p:sp>
        <p:nvSpPr>
          <p:cNvPr id="38" name="Text 36"/>
          <p:cNvSpPr/>
          <p:nvPr/>
        </p:nvSpPr>
        <p:spPr>
          <a:xfrm>
            <a:off x="2057400" y="3072384"/>
            <a:ext cx="1508760" cy="548640"/>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Normal 36.5–37.5 °C</a:t>
            </a:r>
            <a:endParaRPr lang="en-US" sz="1000" dirty="0"/>
          </a:p>
        </p:txBody>
      </p:sp>
      <p:sp>
        <p:nvSpPr>
          <p:cNvPr id="39" name="Shape 37"/>
          <p:cNvSpPr/>
          <p:nvPr/>
        </p:nvSpPr>
        <p:spPr>
          <a:xfrm>
            <a:off x="1828800" y="2821577"/>
            <a:ext cx="182880" cy="91"/>
          </a:xfrm>
          <a:prstGeom prst="line">
            <a:avLst/>
          </a:prstGeom>
          <a:noFill/>
          <a:ln w="15875">
            <a:solidFill>
              <a:srgbClr val="B8730A"/>
            </a:solidFill>
            <a:prstDash val="solid"/>
          </a:ln>
        </p:spPr>
      </p:sp>
      <p:sp>
        <p:nvSpPr>
          <p:cNvPr id="40" name="Text 38"/>
          <p:cNvSpPr/>
          <p:nvPr/>
        </p:nvSpPr>
        <p:spPr>
          <a:xfrm>
            <a:off x="2057400" y="2602121"/>
            <a:ext cx="1508760" cy="548640"/>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Fever 38 °C +</a:t>
            </a:r>
            <a:endParaRPr lang="en-US" sz="1000" dirty="0"/>
          </a:p>
        </p:txBody>
      </p:sp>
      <p:sp>
        <p:nvSpPr>
          <p:cNvPr id="41" name="Shape 39"/>
          <p:cNvSpPr/>
          <p:nvPr/>
        </p:nvSpPr>
        <p:spPr>
          <a:xfrm>
            <a:off x="1828800" y="1985554"/>
            <a:ext cx="182880" cy="91"/>
          </a:xfrm>
          <a:prstGeom prst="line">
            <a:avLst/>
          </a:prstGeom>
          <a:noFill/>
          <a:ln w="15875">
            <a:solidFill>
              <a:srgbClr val="C8414C"/>
            </a:solidFill>
            <a:prstDash val="solid"/>
          </a:ln>
        </p:spPr>
      </p:sp>
      <p:sp>
        <p:nvSpPr>
          <p:cNvPr id="42" name="Text 40"/>
          <p:cNvSpPr/>
          <p:nvPr/>
        </p:nvSpPr>
        <p:spPr>
          <a:xfrm>
            <a:off x="2057400" y="1766098"/>
            <a:ext cx="1508760" cy="548640"/>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Heat stroke above 40 °C: enzymes denature; organs fail</a:t>
            </a:r>
            <a:endParaRPr lang="en-US" sz="1000" dirty="0"/>
          </a:p>
        </p:txBody>
      </p:sp>
      <p:sp>
        <p:nvSpPr>
          <p:cNvPr id="43" name="Text 41"/>
          <p:cNvSpPr/>
          <p:nvPr/>
        </p:nvSpPr>
        <p:spPr>
          <a:xfrm>
            <a:off x="3657600" y="1325880"/>
            <a:ext cx="2194560" cy="256032"/>
          </a:xfrm>
          <a:prstGeom prst="rect">
            <a:avLst/>
          </a:prstGeom>
          <a:noFill/>
          <a:ln/>
        </p:spPr>
        <p:txBody>
          <a:bodyPr wrap="square" lIns="0" tIns="0" rIns="0" bIns="0" rtlCol="0" anchor="ctr"/>
          <a:lstStyle/>
          <a:p>
            <a:pPr algn="ctr" indent="0" marL="0">
              <a:buNone/>
            </a:pPr>
            <a:r>
              <a:rPr lang="en-US" sz="1050" b="1" dirty="0">
                <a:solidFill>
                  <a:srgbClr val="2F5F8F"/>
                </a:solidFill>
                <a:latin typeface="Calibri" pitchFamily="34" charset="0"/>
                <a:ea typeface="Calibri" pitchFamily="34" charset="-122"/>
                <a:cs typeface="Calibri" pitchFamily="34" charset="-120"/>
              </a:rPr>
              <a:t>Water lost, % of body mass</a:t>
            </a:r>
            <a:endParaRPr lang="en-US" sz="1050" dirty="0"/>
          </a:p>
        </p:txBody>
      </p:sp>
      <p:sp>
        <p:nvSpPr>
          <p:cNvPr id="44" name="Shape 42"/>
          <p:cNvSpPr/>
          <p:nvPr/>
        </p:nvSpPr>
        <p:spPr>
          <a:xfrm>
            <a:off x="3886200" y="1691640"/>
            <a:ext cx="384048" cy="571500"/>
          </a:xfrm>
          <a:prstGeom prst="rect">
            <a:avLst/>
          </a:prstGeom>
          <a:solidFill>
            <a:srgbClr val="D8EAF7"/>
          </a:solidFill>
          <a:ln w="6350">
            <a:solidFill>
              <a:srgbClr val="2F5F8F"/>
            </a:solidFill>
            <a:prstDash val="solid"/>
          </a:ln>
        </p:spPr>
      </p:sp>
      <p:sp>
        <p:nvSpPr>
          <p:cNvPr id="45" name="Text 43"/>
          <p:cNvSpPr/>
          <p:nvPr/>
        </p:nvSpPr>
        <p:spPr>
          <a:xfrm>
            <a:off x="4343400" y="1703070"/>
            <a:ext cx="1463040" cy="54864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1–2%: thirst</a:t>
            </a:r>
            <a:endParaRPr lang="en-US" sz="1000" dirty="0"/>
          </a:p>
        </p:txBody>
      </p:sp>
      <p:sp>
        <p:nvSpPr>
          <p:cNvPr id="46" name="Shape 44"/>
          <p:cNvSpPr/>
          <p:nvPr/>
        </p:nvSpPr>
        <p:spPr>
          <a:xfrm>
            <a:off x="3886200" y="2263140"/>
            <a:ext cx="384048" cy="857250"/>
          </a:xfrm>
          <a:prstGeom prst="rect">
            <a:avLst/>
          </a:prstGeom>
          <a:solidFill>
            <a:srgbClr val="A9CBEA"/>
          </a:solidFill>
          <a:ln w="6350">
            <a:solidFill>
              <a:srgbClr val="2F5F8F"/>
            </a:solidFill>
            <a:prstDash val="solid"/>
          </a:ln>
        </p:spPr>
      </p:sp>
      <p:sp>
        <p:nvSpPr>
          <p:cNvPr id="47" name="Text 45"/>
          <p:cNvSpPr/>
          <p:nvPr/>
        </p:nvSpPr>
        <p:spPr>
          <a:xfrm>
            <a:off x="4343400" y="2417445"/>
            <a:ext cx="1463040" cy="54864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3–5%: tired, headache, worse performance</a:t>
            </a:r>
            <a:endParaRPr lang="en-US" sz="1000" dirty="0"/>
          </a:p>
        </p:txBody>
      </p:sp>
      <p:sp>
        <p:nvSpPr>
          <p:cNvPr id="48" name="Shape 46"/>
          <p:cNvSpPr/>
          <p:nvPr/>
        </p:nvSpPr>
        <p:spPr>
          <a:xfrm>
            <a:off x="3886200" y="3120390"/>
            <a:ext cx="384048" cy="1428750"/>
          </a:xfrm>
          <a:prstGeom prst="rect">
            <a:avLst/>
          </a:prstGeom>
          <a:solidFill>
            <a:srgbClr val="6E9FD3"/>
          </a:solidFill>
          <a:ln w="6350">
            <a:solidFill>
              <a:srgbClr val="2F5F8F"/>
            </a:solidFill>
            <a:prstDash val="solid"/>
          </a:ln>
        </p:spPr>
      </p:sp>
      <p:sp>
        <p:nvSpPr>
          <p:cNvPr id="49" name="Text 47"/>
          <p:cNvSpPr/>
          <p:nvPr/>
        </p:nvSpPr>
        <p:spPr>
          <a:xfrm>
            <a:off x="4343400" y="3560445"/>
            <a:ext cx="1463040" cy="54864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6–10%: dizzy, confused; needs treatment</a:t>
            </a:r>
            <a:endParaRPr lang="en-US" sz="1000" dirty="0"/>
          </a:p>
        </p:txBody>
      </p:sp>
      <p:sp>
        <p:nvSpPr>
          <p:cNvPr id="50" name="Shape 48"/>
          <p:cNvSpPr/>
          <p:nvPr/>
        </p:nvSpPr>
        <p:spPr>
          <a:xfrm>
            <a:off x="3886200" y="4549140"/>
            <a:ext cx="384048" cy="571500"/>
          </a:xfrm>
          <a:prstGeom prst="rect">
            <a:avLst/>
          </a:prstGeom>
          <a:solidFill>
            <a:srgbClr val="2F5F8F"/>
          </a:solidFill>
          <a:ln w="6350">
            <a:solidFill>
              <a:srgbClr val="2F5F8F"/>
            </a:solidFill>
            <a:prstDash val="solid"/>
          </a:ln>
        </p:spPr>
      </p:sp>
      <p:sp>
        <p:nvSpPr>
          <p:cNvPr id="51" name="Text 49"/>
          <p:cNvSpPr/>
          <p:nvPr/>
        </p:nvSpPr>
        <p:spPr>
          <a:xfrm>
            <a:off x="4343400" y="4560570"/>
            <a:ext cx="1463040" cy="54864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10% +: can be fatal</a:t>
            </a:r>
            <a:endParaRPr lang="en-US" sz="1000" dirty="0"/>
          </a:p>
        </p:txBody>
      </p:sp>
      <p:sp>
        <p:nvSpPr>
          <p:cNvPr id="52" name="Text 50"/>
          <p:cNvSpPr/>
          <p:nvPr/>
        </p:nvSpPr>
        <p:spPr>
          <a:xfrm>
            <a:off x="3502152" y="1600200"/>
            <a:ext cx="347472"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3" name="Text 51"/>
          <p:cNvSpPr/>
          <p:nvPr/>
        </p:nvSpPr>
        <p:spPr>
          <a:xfrm>
            <a:off x="3502152" y="2171700"/>
            <a:ext cx="347472"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4" name="Text 52"/>
          <p:cNvSpPr/>
          <p:nvPr/>
        </p:nvSpPr>
        <p:spPr>
          <a:xfrm>
            <a:off x="3502152" y="3028950"/>
            <a:ext cx="347472"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55" name="Text 53"/>
          <p:cNvSpPr/>
          <p:nvPr/>
        </p:nvSpPr>
        <p:spPr>
          <a:xfrm>
            <a:off x="3502152" y="4457700"/>
            <a:ext cx="347472"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6" name="Shape 54"/>
          <p:cNvSpPr/>
          <p:nvPr/>
        </p:nvSpPr>
        <p:spPr>
          <a:xfrm>
            <a:off x="6217920" y="1188720"/>
            <a:ext cx="5559552" cy="2423160"/>
          </a:xfrm>
          <a:prstGeom prst="roundRect">
            <a:avLst>
              <a:gd name="adj" fmla="val 2264"/>
            </a:avLst>
          </a:prstGeom>
          <a:solidFill>
            <a:srgbClr val="F4FAF9"/>
          </a:solidFill>
          <a:ln w="9525">
            <a:solidFill>
              <a:srgbClr val="CFE0DE"/>
            </a:solidFill>
            <a:prstDash val="solid"/>
          </a:ln>
        </p:spPr>
      </p:sp>
      <p:sp>
        <p:nvSpPr>
          <p:cNvPr id="57" name="Text 55"/>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Why homeostasis matters</a:t>
            </a:r>
            <a:endParaRPr lang="en-US" sz="1300" dirty="0"/>
          </a:p>
        </p:txBody>
      </p:sp>
      <p:sp>
        <p:nvSpPr>
          <p:cNvPr id="58" name="Text 56"/>
          <p:cNvSpPr/>
          <p:nvPr/>
        </p:nvSpPr>
        <p:spPr>
          <a:xfrm>
            <a:off x="6382512" y="1609344"/>
            <a:ext cx="5230368"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Homeostasis copes with </a:t>
            </a:r>
            <a:r>
              <a:rPr lang="en-US" sz="1150" b="1" dirty="0">
                <a:solidFill>
                  <a:srgbClr val="262B3A"/>
                </a:solidFill>
                <a:latin typeface="Calibri" pitchFamily="34" charset="0"/>
                <a:ea typeface="Calibri" pitchFamily="34" charset="-122"/>
                <a:cs typeface="Calibri" pitchFamily="34" charset="-120"/>
              </a:rPr>
              <a:t>small</a:t>
            </a:r>
            <a:r>
              <a:rPr lang="en-US" sz="1150" dirty="0">
                <a:solidFill>
                  <a:srgbClr val="262B3A"/>
                </a:solidFill>
                <a:latin typeface="Calibri" pitchFamily="34" charset="0"/>
                <a:ea typeface="Calibri" pitchFamily="34" charset="-122"/>
                <a:cs typeface="Calibri" pitchFamily="34" charset="-120"/>
              </a:rPr>
              <a:t> changes all the time.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a change is </a:t>
            </a:r>
            <a:r>
              <a:rPr lang="en-US" sz="1150" b="1" dirty="0">
                <a:solidFill>
                  <a:srgbClr val="262B3A"/>
                </a:solidFill>
                <a:latin typeface="Calibri" pitchFamily="34" charset="0"/>
                <a:ea typeface="Calibri" pitchFamily="34" charset="-122"/>
                <a:cs typeface="Calibri" pitchFamily="34" charset="-120"/>
              </a:rPr>
              <a:t>too big</a:t>
            </a:r>
            <a:r>
              <a:rPr lang="en-US" sz="1150" dirty="0">
                <a:solidFill>
                  <a:srgbClr val="262B3A"/>
                </a:solidFill>
                <a:latin typeface="Calibri" pitchFamily="34" charset="0"/>
                <a:ea typeface="Calibri" pitchFamily="34" charset="-122"/>
                <a:cs typeface="Calibri" pitchFamily="34" charset="-120"/>
              </a:rPr>
              <a:t> or lasts </a:t>
            </a:r>
            <a:r>
              <a:rPr lang="en-US" sz="1150" b="1" dirty="0">
                <a:solidFill>
                  <a:srgbClr val="262B3A"/>
                </a:solidFill>
                <a:latin typeface="Calibri" pitchFamily="34" charset="0"/>
                <a:ea typeface="Calibri" pitchFamily="34" charset="-122"/>
                <a:cs typeface="Calibri" pitchFamily="34" charset="-120"/>
              </a:rPr>
              <a:t>too long</a:t>
            </a:r>
            <a:r>
              <a:rPr lang="en-US" sz="1150" dirty="0">
                <a:solidFill>
                  <a:srgbClr val="262B3A"/>
                </a:solidFill>
                <a:latin typeface="Calibri" pitchFamily="34" charset="0"/>
                <a:ea typeface="Calibri" pitchFamily="34" charset="-122"/>
                <a:cs typeface="Calibri" pitchFamily="34" charset="-120"/>
              </a:rPr>
              <a:t>, the body cannot correct it and conditions leave the safe range.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Cells and enzymes then stop working properly: </a:t>
            </a:r>
            <a:r>
              <a:rPr lang="en-US" sz="1150" b="1" dirty="0">
                <a:solidFill>
                  <a:srgbClr val="262B3A"/>
                </a:solidFill>
                <a:latin typeface="Calibri" pitchFamily="34" charset="0"/>
                <a:ea typeface="Calibri" pitchFamily="34" charset="-122"/>
                <a:cs typeface="Calibri" pitchFamily="34" charset="-120"/>
              </a:rPr>
              <a:t>organs fail</a:t>
            </a:r>
            <a:r>
              <a:rPr lang="en-US" sz="1150" dirty="0">
                <a:solidFill>
                  <a:srgbClr val="262B3A"/>
                </a:solidFill>
                <a:latin typeface="Calibri" pitchFamily="34" charset="0"/>
                <a:ea typeface="Calibri" pitchFamily="34" charset="-122"/>
                <a:cs typeface="Calibri" pitchFamily="34" charset="-120"/>
              </a:rPr>
              <a:t>. This is why core temperature and water content are kept within narrow limits.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People can help their bodies: warm clothes, shade, cool drinks, rest.</a:t>
            </a:r>
            <a:endParaRPr lang="en-US" sz="1150" dirty="0"/>
          </a:p>
        </p:txBody>
      </p:sp>
      <p:sp>
        <p:nvSpPr>
          <p:cNvPr id="59" name="Shape 57"/>
          <p:cNvSpPr/>
          <p:nvPr/>
        </p:nvSpPr>
        <p:spPr>
          <a:xfrm>
            <a:off x="6217920" y="3749040"/>
            <a:ext cx="5559552" cy="1965960"/>
          </a:xfrm>
          <a:prstGeom prst="roundRect">
            <a:avLst>
              <a:gd name="adj" fmla="val 2791"/>
            </a:avLst>
          </a:prstGeom>
          <a:solidFill>
            <a:srgbClr val="FFF4E0"/>
          </a:solidFill>
          <a:ln w="9525">
            <a:solidFill>
              <a:srgbClr val="F1D9A8"/>
            </a:solidFill>
            <a:prstDash val="solid"/>
          </a:ln>
        </p:spPr>
      </p:sp>
      <p:sp>
        <p:nvSpPr>
          <p:cNvPr id="60" name="Text 58"/>
          <p:cNvSpPr/>
          <p:nvPr/>
        </p:nvSpPr>
        <p:spPr>
          <a:xfrm>
            <a:off x="6382512" y="382219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close to danger?</a:t>
            </a:r>
            <a:endParaRPr lang="en-US" sz="1300" dirty="0"/>
          </a:p>
        </p:txBody>
      </p:sp>
      <p:sp>
        <p:nvSpPr>
          <p:cNvPr id="61" name="Text 59"/>
          <p:cNvSpPr/>
          <p:nvPr/>
        </p:nvSpPr>
        <p:spPr>
          <a:xfrm>
            <a:off x="6382512" y="4133088"/>
            <a:ext cx="5230368"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marathon runner's core temperature rises from 37.0 °C to 38.5 °C. How far is this from normal, and from heat stroke (40 °C)?</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Rise   </a:t>
            </a:r>
            <a:r>
              <a:rPr lang="en-US" sz="1050" dirty="0">
                <a:solidFill>
                  <a:srgbClr val="262B3A"/>
                </a:solidFill>
                <a:latin typeface="Calibri" pitchFamily="34" charset="0"/>
                <a:ea typeface="Calibri" pitchFamily="34" charset="-122"/>
                <a:cs typeface="Calibri" pitchFamily="34" charset="-120"/>
              </a:rPr>
              <a:t>38.5 − 37.0 = 1.5 °C above normal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Margin   </a:t>
            </a:r>
            <a:r>
              <a:rPr lang="en-US" sz="1050" dirty="0">
                <a:solidFill>
                  <a:srgbClr val="262B3A"/>
                </a:solidFill>
                <a:latin typeface="Calibri" pitchFamily="34" charset="0"/>
                <a:ea typeface="Calibri" pitchFamily="34" charset="-122"/>
                <a:cs typeface="Calibri" pitchFamily="34" charset="-120"/>
              </a:rPr>
              <a:t>40 − 38.5 = 1.5 °C below heat stroke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the runner should slow down, drink and cool off</a:t>
            </a:r>
            <a:endParaRPr lang="en-US" sz="1050" dirty="0"/>
          </a:p>
        </p:txBody>
      </p:sp>
      <p:sp>
        <p:nvSpPr>
          <p:cNvPr id="62" name="Shape 60"/>
          <p:cNvSpPr/>
          <p:nvPr/>
        </p:nvSpPr>
        <p:spPr>
          <a:xfrm>
            <a:off x="411480" y="5833872"/>
            <a:ext cx="11368735" cy="530352"/>
          </a:xfrm>
          <a:prstGeom prst="rect">
            <a:avLst/>
          </a:prstGeom>
          <a:solidFill>
            <a:srgbClr val="FFF4E0"/>
          </a:solidFill>
          <a:ln w="6350">
            <a:solidFill>
              <a:srgbClr val="F1D9A8"/>
            </a:solidFill>
            <a:prstDash val="solid"/>
          </a:ln>
        </p:spPr>
      </p:sp>
      <p:sp>
        <p:nvSpPr>
          <p:cNvPr id="63" name="Shape 61"/>
          <p:cNvSpPr/>
          <p:nvPr/>
        </p:nvSpPr>
        <p:spPr>
          <a:xfrm>
            <a:off x="411480" y="5833872"/>
            <a:ext cx="82296" cy="530352"/>
          </a:xfrm>
          <a:prstGeom prst="rect">
            <a:avLst/>
          </a:prstGeom>
          <a:solidFill>
            <a:srgbClr val="E39A2F"/>
          </a:solidFill>
          <a:ln w="12700">
            <a:solidFill>
              <a:srgbClr val="E39A2F"/>
            </a:solidFill>
            <a:prstDash val="solid"/>
          </a:ln>
        </p:spPr>
      </p:sp>
      <p:sp>
        <p:nvSpPr>
          <p:cNvPr id="64" name="Text 6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chart: a 70 kg walker loses </a:t>
            </a:r>
            <a:r>
              <a:rPr lang="en-US" sz="1150" b="1" dirty="0">
                <a:solidFill>
                  <a:srgbClr val="262B3A"/>
                </a:solidFill>
                <a:latin typeface="Calibri" pitchFamily="34" charset="0"/>
                <a:ea typeface="Calibri" pitchFamily="34" charset="-122"/>
                <a:cs typeface="Calibri" pitchFamily="34" charset="-120"/>
              </a:rPr>
              <a:t>7 kg</a:t>
            </a:r>
            <a:r>
              <a:rPr lang="en-US" sz="1150" dirty="0">
                <a:solidFill>
                  <a:srgbClr val="262B3A"/>
                </a:solidFill>
                <a:latin typeface="Calibri" pitchFamily="34" charset="0"/>
                <a:ea typeface="Calibri" pitchFamily="34" charset="-122"/>
                <a:cs typeface="Calibri" pitchFamily="34" charset="-120"/>
              </a:rPr>
              <a:t> of water in a desert. Calculate the % of body mass lost and describe the danger.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Putting it together: a run on a hot day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several conditions change at once; each is detected and counteracted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B5.4.1  |  20</a:t>
            </a:r>
            <a:endParaRPr lang="en-US" sz="1000" dirty="0"/>
          </a:p>
        </p:txBody>
      </p:sp>
      <p:sp>
        <p:nvSpPr>
          <p:cNvPr id="8" name="Shape 6"/>
          <p:cNvSpPr/>
          <p:nvPr/>
        </p:nvSpPr>
        <p:spPr>
          <a:xfrm>
            <a:off x="411480" y="1188720"/>
            <a:ext cx="3017520" cy="4526280"/>
          </a:xfrm>
          <a:prstGeom prst="roundRect">
            <a:avLst>
              <a:gd name="adj" fmla="val 2424"/>
            </a:avLst>
          </a:prstGeom>
          <a:solidFill>
            <a:srgbClr val="EEF5F4"/>
          </a:solidFill>
          <a:ln w="9525">
            <a:solidFill>
              <a:srgbClr val="D2E3E1"/>
            </a:solidFill>
            <a:prstDash val="solid"/>
          </a:ln>
        </p:spPr>
      </p:sp>
      <p:sp>
        <p:nvSpPr>
          <p:cNvPr id="9" name="Text 7"/>
          <p:cNvSpPr/>
          <p:nvPr/>
        </p:nvSpPr>
        <p:spPr>
          <a:xfrm>
            <a:off x="548640" y="5404104"/>
            <a:ext cx="27432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changes during a run</a:t>
            </a:r>
            <a:endParaRPr lang="en-US" sz="1000" dirty="0"/>
          </a:p>
        </p:txBody>
      </p:sp>
      <p:sp>
        <p:nvSpPr>
          <p:cNvPr id="10" name="Shape 8"/>
          <p:cNvSpPr/>
          <p:nvPr/>
        </p:nvSpPr>
        <p:spPr>
          <a:xfrm rot="420000">
            <a:off x="1080455" y="2350008"/>
            <a:ext cx="209946" cy="1387145"/>
          </a:xfrm>
          <a:prstGeom prst="roundRect">
            <a:avLst>
              <a:gd name="adj" fmla="val 45000"/>
            </a:avLst>
          </a:prstGeom>
          <a:solidFill>
            <a:srgbClr val="F6DDC8"/>
          </a:solidFill>
          <a:ln w="31750">
            <a:solidFill>
              <a:srgbClr val="B98E6E"/>
            </a:solidFill>
            <a:prstDash val="solid"/>
          </a:ln>
        </p:spPr>
      </p:sp>
      <p:sp>
        <p:nvSpPr>
          <p:cNvPr id="11" name="Shape 9"/>
          <p:cNvSpPr/>
          <p:nvPr/>
        </p:nvSpPr>
        <p:spPr>
          <a:xfrm rot="-420000">
            <a:off x="2550079" y="2350008"/>
            <a:ext cx="209946" cy="1387145"/>
          </a:xfrm>
          <a:prstGeom prst="roundRect">
            <a:avLst>
              <a:gd name="adj" fmla="val 45000"/>
            </a:avLst>
          </a:prstGeom>
          <a:solidFill>
            <a:srgbClr val="F6DDC8"/>
          </a:solidFill>
          <a:ln w="31750">
            <a:solidFill>
              <a:srgbClr val="B98E6E"/>
            </a:solidFill>
            <a:prstDash val="solid"/>
          </a:ln>
        </p:spPr>
      </p:sp>
      <p:sp>
        <p:nvSpPr>
          <p:cNvPr id="12" name="Shape 10"/>
          <p:cNvSpPr/>
          <p:nvPr/>
        </p:nvSpPr>
        <p:spPr>
          <a:xfrm>
            <a:off x="1440363" y="3549701"/>
            <a:ext cx="404896" cy="1462126"/>
          </a:xfrm>
          <a:prstGeom prst="roundRect">
            <a:avLst>
              <a:gd name="adj" fmla="val 45000"/>
            </a:avLst>
          </a:prstGeom>
          <a:solidFill>
            <a:srgbClr val="F6DDC8"/>
          </a:solidFill>
          <a:ln w="31750">
            <a:solidFill>
              <a:srgbClr val="B98E6E"/>
            </a:solidFill>
            <a:prstDash val="solid"/>
          </a:ln>
        </p:spPr>
      </p:sp>
      <p:sp>
        <p:nvSpPr>
          <p:cNvPr id="13" name="Shape 11"/>
          <p:cNvSpPr/>
          <p:nvPr/>
        </p:nvSpPr>
        <p:spPr>
          <a:xfrm>
            <a:off x="1995221" y="3549701"/>
            <a:ext cx="404896" cy="1462126"/>
          </a:xfrm>
          <a:prstGeom prst="roundRect">
            <a:avLst>
              <a:gd name="adj" fmla="val 45000"/>
            </a:avLst>
          </a:prstGeom>
          <a:solidFill>
            <a:srgbClr val="F6DDC8"/>
          </a:solidFill>
          <a:ln w="31750">
            <a:solidFill>
              <a:srgbClr val="B98E6E"/>
            </a:solidFill>
            <a:prstDash val="solid"/>
          </a:ln>
        </p:spPr>
      </p:sp>
      <p:sp>
        <p:nvSpPr>
          <p:cNvPr id="14" name="Shape 12"/>
          <p:cNvSpPr/>
          <p:nvPr/>
        </p:nvSpPr>
        <p:spPr>
          <a:xfrm>
            <a:off x="1320394" y="2290023"/>
            <a:ext cx="1199693" cy="1499616"/>
          </a:xfrm>
          <a:prstGeom prst="roundRect">
            <a:avLst>
              <a:gd name="adj" fmla="val 45000"/>
            </a:avLst>
          </a:prstGeom>
          <a:solidFill>
            <a:srgbClr val="F6DDC8"/>
          </a:solidFill>
          <a:ln w="31750">
            <a:solidFill>
              <a:srgbClr val="B98E6E"/>
            </a:solidFill>
            <a:prstDash val="solid"/>
          </a:ln>
        </p:spPr>
      </p:sp>
      <p:sp>
        <p:nvSpPr>
          <p:cNvPr id="15" name="Shape 13"/>
          <p:cNvSpPr/>
          <p:nvPr/>
        </p:nvSpPr>
        <p:spPr>
          <a:xfrm>
            <a:off x="1822765" y="2125066"/>
            <a:ext cx="194950" cy="224942"/>
          </a:xfrm>
          <a:prstGeom prst="rect">
            <a:avLst/>
          </a:prstGeom>
          <a:solidFill>
            <a:srgbClr val="F6DDC8"/>
          </a:solidFill>
          <a:ln w="31750">
            <a:solidFill>
              <a:srgbClr val="B98E6E"/>
            </a:solidFill>
            <a:prstDash val="solid"/>
          </a:ln>
        </p:spPr>
      </p:sp>
      <p:sp>
        <p:nvSpPr>
          <p:cNvPr id="16" name="Shape 14"/>
          <p:cNvSpPr/>
          <p:nvPr/>
        </p:nvSpPr>
        <p:spPr>
          <a:xfrm>
            <a:off x="1672803" y="1600200"/>
            <a:ext cx="494873" cy="599846"/>
          </a:xfrm>
          <a:prstGeom prst="ellipse">
            <a:avLst/>
          </a:prstGeom>
          <a:solidFill>
            <a:srgbClr val="F6DDC8"/>
          </a:solidFill>
          <a:ln w="31750">
            <a:solidFill>
              <a:srgbClr val="B98E6E"/>
            </a:solidFill>
            <a:prstDash val="solid"/>
          </a:ln>
        </p:spPr>
      </p:sp>
      <p:sp>
        <p:nvSpPr>
          <p:cNvPr id="17" name="Shape 15"/>
          <p:cNvSpPr/>
          <p:nvPr/>
        </p:nvSpPr>
        <p:spPr>
          <a:xfrm rot="420000">
            <a:off x="1080455" y="2350008"/>
            <a:ext cx="209946" cy="1387145"/>
          </a:xfrm>
          <a:prstGeom prst="roundRect">
            <a:avLst>
              <a:gd name="adj" fmla="val 45000"/>
            </a:avLst>
          </a:prstGeom>
          <a:solidFill>
            <a:srgbClr val="F6DDC8"/>
          </a:solidFill>
          <a:ln/>
        </p:spPr>
      </p:sp>
      <p:sp>
        <p:nvSpPr>
          <p:cNvPr id="18" name="Shape 16"/>
          <p:cNvSpPr/>
          <p:nvPr/>
        </p:nvSpPr>
        <p:spPr>
          <a:xfrm rot="-420000">
            <a:off x="2550079" y="2350008"/>
            <a:ext cx="209946" cy="1387145"/>
          </a:xfrm>
          <a:prstGeom prst="roundRect">
            <a:avLst>
              <a:gd name="adj" fmla="val 45000"/>
            </a:avLst>
          </a:prstGeom>
          <a:solidFill>
            <a:srgbClr val="F6DDC8"/>
          </a:solidFill>
          <a:ln/>
        </p:spPr>
      </p:sp>
      <p:sp>
        <p:nvSpPr>
          <p:cNvPr id="19" name="Shape 17"/>
          <p:cNvSpPr/>
          <p:nvPr/>
        </p:nvSpPr>
        <p:spPr>
          <a:xfrm>
            <a:off x="1440363" y="3549701"/>
            <a:ext cx="404896" cy="1462126"/>
          </a:xfrm>
          <a:prstGeom prst="roundRect">
            <a:avLst>
              <a:gd name="adj" fmla="val 45000"/>
            </a:avLst>
          </a:prstGeom>
          <a:solidFill>
            <a:srgbClr val="F6DDC8"/>
          </a:solidFill>
          <a:ln/>
        </p:spPr>
      </p:sp>
      <p:sp>
        <p:nvSpPr>
          <p:cNvPr id="20" name="Shape 18"/>
          <p:cNvSpPr/>
          <p:nvPr/>
        </p:nvSpPr>
        <p:spPr>
          <a:xfrm>
            <a:off x="1995221" y="3549701"/>
            <a:ext cx="404896" cy="1462126"/>
          </a:xfrm>
          <a:prstGeom prst="roundRect">
            <a:avLst>
              <a:gd name="adj" fmla="val 45000"/>
            </a:avLst>
          </a:prstGeom>
          <a:solidFill>
            <a:srgbClr val="F6DDC8"/>
          </a:solidFill>
          <a:ln/>
        </p:spPr>
      </p:sp>
      <p:sp>
        <p:nvSpPr>
          <p:cNvPr id="21" name="Shape 19"/>
          <p:cNvSpPr/>
          <p:nvPr/>
        </p:nvSpPr>
        <p:spPr>
          <a:xfrm>
            <a:off x="1320394" y="2290023"/>
            <a:ext cx="1199693" cy="1499616"/>
          </a:xfrm>
          <a:prstGeom prst="roundRect">
            <a:avLst>
              <a:gd name="adj" fmla="val 45000"/>
            </a:avLst>
          </a:prstGeom>
          <a:solidFill>
            <a:srgbClr val="F6DDC8"/>
          </a:solidFill>
          <a:ln/>
        </p:spPr>
      </p:sp>
      <p:sp>
        <p:nvSpPr>
          <p:cNvPr id="22" name="Shape 20"/>
          <p:cNvSpPr/>
          <p:nvPr/>
        </p:nvSpPr>
        <p:spPr>
          <a:xfrm>
            <a:off x="1822765" y="2125066"/>
            <a:ext cx="194950" cy="224942"/>
          </a:xfrm>
          <a:prstGeom prst="rect">
            <a:avLst/>
          </a:prstGeom>
          <a:solidFill>
            <a:srgbClr val="F6DDC8"/>
          </a:solidFill>
          <a:ln/>
        </p:spPr>
      </p:sp>
      <p:sp>
        <p:nvSpPr>
          <p:cNvPr id="23" name="Shape 21"/>
          <p:cNvSpPr/>
          <p:nvPr/>
        </p:nvSpPr>
        <p:spPr>
          <a:xfrm>
            <a:off x="1672803" y="1600200"/>
            <a:ext cx="494873" cy="599846"/>
          </a:xfrm>
          <a:prstGeom prst="ellipse">
            <a:avLst/>
          </a:prstGeom>
          <a:solidFill>
            <a:srgbClr val="F6DDC8"/>
          </a:solidFill>
          <a:ln/>
        </p:spPr>
      </p:sp>
      <p:sp>
        <p:nvSpPr>
          <p:cNvPr id="24" name="Shape 22"/>
          <p:cNvSpPr/>
          <p:nvPr/>
        </p:nvSpPr>
        <p:spPr>
          <a:xfrm>
            <a:off x="1920240" y="3812134"/>
            <a:ext cx="91" cy="1162202"/>
          </a:xfrm>
          <a:prstGeom prst="line">
            <a:avLst/>
          </a:prstGeom>
          <a:noFill/>
          <a:ln w="15875">
            <a:solidFill>
              <a:srgbClr val="B98E6E"/>
            </a:solidFill>
            <a:prstDash val="solid"/>
          </a:ln>
        </p:spPr>
      </p:sp>
      <p:sp>
        <p:nvSpPr>
          <p:cNvPr id="25" name="Shape 23"/>
          <p:cNvSpPr/>
          <p:nvPr/>
        </p:nvSpPr>
        <p:spPr>
          <a:xfrm>
            <a:off x="1082650" y="1600200"/>
            <a:ext cx="82296" cy="91"/>
          </a:xfrm>
          <a:prstGeom prst="line">
            <a:avLst/>
          </a:prstGeom>
          <a:noFill/>
          <a:ln w="19050">
            <a:solidFill>
              <a:srgbClr val="E39A2F"/>
            </a:solidFill>
            <a:prstDash val="solid"/>
          </a:ln>
        </p:spPr>
      </p:sp>
      <p:sp>
        <p:nvSpPr>
          <p:cNvPr id="26" name="Shape 24"/>
          <p:cNvSpPr/>
          <p:nvPr/>
        </p:nvSpPr>
        <p:spPr>
          <a:xfrm>
            <a:off x="1019979" y="1751499"/>
            <a:ext cx="58192" cy="58192"/>
          </a:xfrm>
          <a:prstGeom prst="line">
            <a:avLst/>
          </a:prstGeom>
          <a:noFill/>
          <a:ln w="19050">
            <a:solidFill>
              <a:srgbClr val="E39A2F"/>
            </a:solidFill>
            <a:prstDash val="solid"/>
          </a:ln>
        </p:spPr>
      </p:sp>
      <p:sp>
        <p:nvSpPr>
          <p:cNvPr id="27" name="Shape 25"/>
          <p:cNvSpPr/>
          <p:nvPr/>
        </p:nvSpPr>
        <p:spPr>
          <a:xfrm>
            <a:off x="868680" y="1814170"/>
            <a:ext cx="91" cy="82296"/>
          </a:xfrm>
          <a:prstGeom prst="line">
            <a:avLst/>
          </a:prstGeom>
          <a:noFill/>
          <a:ln w="19050">
            <a:solidFill>
              <a:srgbClr val="E39A2F"/>
            </a:solidFill>
            <a:prstDash val="solid"/>
          </a:ln>
        </p:spPr>
      </p:sp>
      <p:sp>
        <p:nvSpPr>
          <p:cNvPr id="28" name="Shape 26"/>
          <p:cNvSpPr/>
          <p:nvPr/>
        </p:nvSpPr>
        <p:spPr>
          <a:xfrm flipH="1">
            <a:off x="659189" y="1751499"/>
            <a:ext cx="58192" cy="58192"/>
          </a:xfrm>
          <a:prstGeom prst="line">
            <a:avLst/>
          </a:prstGeom>
          <a:noFill/>
          <a:ln w="19050">
            <a:solidFill>
              <a:srgbClr val="E39A2F"/>
            </a:solidFill>
            <a:prstDash val="solid"/>
          </a:ln>
        </p:spPr>
      </p:sp>
      <p:sp>
        <p:nvSpPr>
          <p:cNvPr id="29" name="Shape 27"/>
          <p:cNvSpPr/>
          <p:nvPr/>
        </p:nvSpPr>
        <p:spPr>
          <a:xfrm flipH="1">
            <a:off x="572414" y="1600200"/>
            <a:ext cx="82296" cy="91"/>
          </a:xfrm>
          <a:prstGeom prst="line">
            <a:avLst/>
          </a:prstGeom>
          <a:noFill/>
          <a:ln w="19050">
            <a:solidFill>
              <a:srgbClr val="E39A2F"/>
            </a:solidFill>
            <a:prstDash val="solid"/>
          </a:ln>
        </p:spPr>
      </p:sp>
      <p:sp>
        <p:nvSpPr>
          <p:cNvPr id="30" name="Shape 28"/>
          <p:cNvSpPr/>
          <p:nvPr/>
        </p:nvSpPr>
        <p:spPr>
          <a:xfrm flipH="1" flipV="1">
            <a:off x="659189" y="1390709"/>
            <a:ext cx="58192" cy="58192"/>
          </a:xfrm>
          <a:prstGeom prst="line">
            <a:avLst/>
          </a:prstGeom>
          <a:noFill/>
          <a:ln w="19050">
            <a:solidFill>
              <a:srgbClr val="E39A2F"/>
            </a:solidFill>
            <a:prstDash val="solid"/>
          </a:ln>
        </p:spPr>
      </p:sp>
      <p:sp>
        <p:nvSpPr>
          <p:cNvPr id="31" name="Shape 29"/>
          <p:cNvSpPr/>
          <p:nvPr/>
        </p:nvSpPr>
        <p:spPr>
          <a:xfrm flipH="1" flipV="1">
            <a:off x="868680" y="1303934"/>
            <a:ext cx="0" cy="82296"/>
          </a:xfrm>
          <a:prstGeom prst="line">
            <a:avLst/>
          </a:prstGeom>
          <a:noFill/>
          <a:ln w="19050">
            <a:solidFill>
              <a:srgbClr val="E39A2F"/>
            </a:solidFill>
            <a:prstDash val="solid"/>
          </a:ln>
        </p:spPr>
      </p:sp>
      <p:sp>
        <p:nvSpPr>
          <p:cNvPr id="32" name="Shape 30"/>
          <p:cNvSpPr/>
          <p:nvPr/>
        </p:nvSpPr>
        <p:spPr>
          <a:xfrm flipV="1">
            <a:off x="1019979" y="1390709"/>
            <a:ext cx="58192" cy="58192"/>
          </a:xfrm>
          <a:prstGeom prst="line">
            <a:avLst/>
          </a:prstGeom>
          <a:noFill/>
          <a:ln w="19050">
            <a:solidFill>
              <a:srgbClr val="E39A2F"/>
            </a:solidFill>
            <a:prstDash val="solid"/>
          </a:ln>
        </p:spPr>
      </p:sp>
      <p:sp>
        <p:nvSpPr>
          <p:cNvPr id="33" name="Shape 31"/>
          <p:cNvSpPr/>
          <p:nvPr/>
        </p:nvSpPr>
        <p:spPr>
          <a:xfrm>
            <a:off x="704088" y="1435608"/>
            <a:ext cx="329184" cy="329184"/>
          </a:xfrm>
          <a:prstGeom prst="ellipse">
            <a:avLst/>
          </a:prstGeom>
          <a:solidFill>
            <a:srgbClr val="F5C342"/>
          </a:solidFill>
          <a:ln w="12700">
            <a:solidFill>
              <a:srgbClr val="D9822B"/>
            </a:solidFill>
            <a:prstDash val="solid"/>
          </a:ln>
        </p:spPr>
      </p:sp>
      <p:sp>
        <p:nvSpPr>
          <p:cNvPr id="34" name="Text 32"/>
          <p:cNvSpPr/>
          <p:nvPr/>
        </p:nvSpPr>
        <p:spPr>
          <a:xfrm>
            <a:off x="502920" y="1874520"/>
            <a:ext cx="822960" cy="219456"/>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hot sun</a:t>
            </a:r>
            <a:endParaRPr lang="en-US" sz="1000" dirty="0"/>
          </a:p>
        </p:txBody>
      </p:sp>
      <p:sp>
        <p:nvSpPr>
          <p:cNvPr id="35" name="Shape 33"/>
          <p:cNvSpPr/>
          <p:nvPr/>
        </p:nvSpPr>
        <p:spPr>
          <a:xfrm>
            <a:off x="2326234" y="2798064"/>
            <a:ext cx="102413" cy="102413"/>
          </a:xfrm>
          <a:prstGeom prst="triangle">
            <a:avLst/>
          </a:prstGeom>
          <a:solidFill>
            <a:srgbClr val="5B9BD5"/>
          </a:solidFill>
          <a:ln w="6350">
            <a:solidFill>
              <a:srgbClr val="5B9BD5"/>
            </a:solidFill>
            <a:prstDash val="solid"/>
          </a:ln>
        </p:spPr>
      </p:sp>
      <p:sp>
        <p:nvSpPr>
          <p:cNvPr id="36" name="Shape 34"/>
          <p:cNvSpPr/>
          <p:nvPr/>
        </p:nvSpPr>
        <p:spPr>
          <a:xfrm>
            <a:off x="2324953" y="2860792"/>
            <a:ext cx="104973" cy="104973"/>
          </a:xfrm>
          <a:prstGeom prst="ellipse">
            <a:avLst/>
          </a:prstGeom>
          <a:solidFill>
            <a:srgbClr val="5B9BD5"/>
          </a:solidFill>
          <a:ln w="9525">
            <a:solidFill>
              <a:srgbClr val="5B9BD5"/>
            </a:solidFill>
            <a:prstDash val="solid"/>
          </a:ln>
        </p:spPr>
      </p:sp>
      <p:sp>
        <p:nvSpPr>
          <p:cNvPr id="37" name="Shape 35"/>
          <p:cNvSpPr/>
          <p:nvPr/>
        </p:nvSpPr>
        <p:spPr>
          <a:xfrm>
            <a:off x="1411834" y="3072384"/>
            <a:ext cx="102413" cy="102413"/>
          </a:xfrm>
          <a:prstGeom prst="triangle">
            <a:avLst/>
          </a:prstGeom>
          <a:solidFill>
            <a:srgbClr val="5B9BD5"/>
          </a:solidFill>
          <a:ln w="6350">
            <a:solidFill>
              <a:srgbClr val="5B9BD5"/>
            </a:solidFill>
            <a:prstDash val="solid"/>
          </a:ln>
        </p:spPr>
      </p:sp>
      <p:sp>
        <p:nvSpPr>
          <p:cNvPr id="38" name="Shape 36"/>
          <p:cNvSpPr/>
          <p:nvPr/>
        </p:nvSpPr>
        <p:spPr>
          <a:xfrm>
            <a:off x="1410553" y="3135112"/>
            <a:ext cx="104973" cy="104973"/>
          </a:xfrm>
          <a:prstGeom prst="ellipse">
            <a:avLst/>
          </a:prstGeom>
          <a:solidFill>
            <a:srgbClr val="5B9BD5"/>
          </a:solidFill>
          <a:ln w="9525">
            <a:solidFill>
              <a:srgbClr val="5B9BD5"/>
            </a:solidFill>
            <a:prstDash val="solid"/>
          </a:ln>
        </p:spPr>
      </p:sp>
      <p:sp>
        <p:nvSpPr>
          <p:cNvPr id="39" name="Shape 37"/>
          <p:cNvSpPr/>
          <p:nvPr/>
        </p:nvSpPr>
        <p:spPr>
          <a:xfrm>
            <a:off x="2143354" y="3575304"/>
            <a:ext cx="102413" cy="102413"/>
          </a:xfrm>
          <a:prstGeom prst="triangle">
            <a:avLst/>
          </a:prstGeom>
          <a:solidFill>
            <a:srgbClr val="5B9BD5"/>
          </a:solidFill>
          <a:ln w="6350">
            <a:solidFill>
              <a:srgbClr val="5B9BD5"/>
            </a:solidFill>
            <a:prstDash val="solid"/>
          </a:ln>
        </p:spPr>
      </p:sp>
      <p:sp>
        <p:nvSpPr>
          <p:cNvPr id="40" name="Shape 38"/>
          <p:cNvSpPr/>
          <p:nvPr/>
        </p:nvSpPr>
        <p:spPr>
          <a:xfrm>
            <a:off x="2142073" y="3638032"/>
            <a:ext cx="104973" cy="104973"/>
          </a:xfrm>
          <a:prstGeom prst="ellipse">
            <a:avLst/>
          </a:prstGeom>
          <a:solidFill>
            <a:srgbClr val="5B9BD5"/>
          </a:solidFill>
          <a:ln w="9525">
            <a:solidFill>
              <a:srgbClr val="5B9BD5"/>
            </a:solidFill>
            <a:prstDash val="solid"/>
          </a:ln>
        </p:spPr>
      </p:sp>
      <p:sp>
        <p:nvSpPr>
          <p:cNvPr id="41" name="Text 39"/>
          <p:cNvSpPr/>
          <p:nvPr/>
        </p:nvSpPr>
        <p:spPr>
          <a:xfrm>
            <a:off x="502920" y="5074920"/>
            <a:ext cx="2834640" cy="50292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muscles respire faster: </a:t>
            </a:r>
            <a:r>
              <a:rPr lang="en-US" sz="1000" b="1" dirty="0">
                <a:solidFill>
                  <a:srgbClr val="262B3A"/>
                </a:solidFill>
                <a:latin typeface="Calibri" pitchFamily="34" charset="0"/>
                <a:ea typeface="Calibri" pitchFamily="34" charset="-122"/>
                <a:cs typeface="Calibri" pitchFamily="34" charset="-120"/>
              </a:rPr>
              <a:t>heat</a:t>
            </a:r>
            <a:r>
              <a:rPr lang="en-US" sz="1000" dirty="0">
                <a:solidFill>
                  <a:srgbClr val="262B3A"/>
                </a:solidFill>
                <a:latin typeface="Calibri" pitchFamily="34" charset="0"/>
                <a:ea typeface="Calibri" pitchFamily="34" charset="-122"/>
                <a:cs typeface="Calibri" pitchFamily="34" charset="-120"/>
              </a:rPr>
              <a:t>, </a:t>
            </a:r>
            <a:r>
              <a:rPr lang="en-US" sz="1000" b="1" dirty="0">
                <a:solidFill>
                  <a:srgbClr val="262B3A"/>
                </a:solidFill>
                <a:latin typeface="Calibri" pitchFamily="34" charset="0"/>
                <a:ea typeface="Calibri" pitchFamily="34" charset="-122"/>
                <a:cs typeface="Calibri" pitchFamily="34" charset="-120"/>
              </a:rPr>
              <a:t>CO₂</a:t>
            </a:r>
            <a:r>
              <a:rPr lang="en-US" sz="1000" dirty="0">
                <a:solidFill>
                  <a:srgbClr val="262B3A"/>
                </a:solidFill>
                <a:latin typeface="Calibri" pitchFamily="34" charset="0"/>
                <a:ea typeface="Calibri" pitchFamily="34" charset="-122"/>
                <a:cs typeface="Calibri" pitchFamily="34" charset="-120"/>
              </a:rPr>
              <a:t>; water lost in </a:t>
            </a:r>
            <a:r>
              <a:rPr lang="en-US" sz="1000" b="1" dirty="0">
                <a:solidFill>
                  <a:srgbClr val="262B3A"/>
                </a:solidFill>
                <a:latin typeface="Calibri" pitchFamily="34" charset="0"/>
                <a:ea typeface="Calibri" pitchFamily="34" charset="-122"/>
                <a:cs typeface="Calibri" pitchFamily="34" charset="-120"/>
              </a:rPr>
              <a:t>sweat</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11880" y="1188720"/>
          <a:ext cx="8165592" cy="914400"/>
        </p:xfrm>
        <a:graphic>
          <a:graphicData uri="http://schemas.openxmlformats.org/drawingml/2006/table">
            <a:tbl>
              <a:tblPr/>
              <a:tblGrid>
                <a:gridCol w="1417320"/>
                <a:gridCol w="777240"/>
                <a:gridCol w="1874520"/>
                <a:gridCol w="2011680"/>
                <a:gridCol w="2084832"/>
              </a:tblGrid>
              <a:tr h="43891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Condition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Change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Internal / external?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it is a problem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Effector response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43891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Core temperature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rises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both: sun and respiration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enzymes may denature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sweat glands: sweating cools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Water content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falls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internal: sweating</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cells lose water by osmosis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thirst: drink more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43891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CO₂ level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rises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internal: respiration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lowers the pH of the blood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breathing muscles: faster, deeper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Blood glucose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falls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internal: used in respiration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too little for respiration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hormones (learn in B5.6)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43" name="Shape 40"/>
          <p:cNvSpPr/>
          <p:nvPr/>
        </p:nvSpPr>
        <p:spPr>
          <a:xfrm>
            <a:off x="3611880" y="3520440"/>
            <a:ext cx="3977640" cy="2194560"/>
          </a:xfrm>
          <a:prstGeom prst="roundRect">
            <a:avLst>
              <a:gd name="adj" fmla="val 2500"/>
            </a:avLst>
          </a:prstGeom>
          <a:solidFill>
            <a:srgbClr val="F4FAF9"/>
          </a:solidFill>
          <a:ln w="9525">
            <a:solidFill>
              <a:srgbClr val="CFE0DE"/>
            </a:solidFill>
            <a:prstDash val="solid"/>
          </a:ln>
        </p:spPr>
      </p:sp>
      <p:sp>
        <p:nvSpPr>
          <p:cNvPr id="44" name="Text 41"/>
          <p:cNvSpPr/>
          <p:nvPr/>
        </p:nvSpPr>
        <p:spPr>
          <a:xfrm>
            <a:off x="3776472" y="3611880"/>
            <a:ext cx="364845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Key idea</a:t>
            </a:r>
            <a:endParaRPr lang="en-US" sz="1300" dirty="0"/>
          </a:p>
        </p:txBody>
      </p:sp>
      <p:sp>
        <p:nvSpPr>
          <p:cNvPr id="45" name="Text 42"/>
          <p:cNvSpPr/>
          <p:nvPr/>
        </p:nvSpPr>
        <p:spPr>
          <a:xfrm>
            <a:off x="3776472" y="3941064"/>
            <a:ext cx="3648456" cy="170078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same control system works for each condition: </a:t>
            </a:r>
            <a:r>
              <a:rPr lang="en-US" sz="1050" b="1" dirty="0">
                <a:solidFill>
                  <a:srgbClr val="262B3A"/>
                </a:solidFill>
                <a:latin typeface="Calibri" pitchFamily="34" charset="0"/>
                <a:ea typeface="Calibri" pitchFamily="34" charset="-122"/>
                <a:cs typeface="Calibri" pitchFamily="34" charset="-120"/>
              </a:rPr>
              <a:t>receptor → coordination centre → effector</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Each uses </a:t>
            </a:r>
            <a:r>
              <a:rPr lang="en-US" sz="1050" b="1" dirty="0">
                <a:solidFill>
                  <a:srgbClr val="262B3A"/>
                </a:solidFill>
                <a:latin typeface="Calibri" pitchFamily="34" charset="0"/>
                <a:ea typeface="Calibri" pitchFamily="34" charset="-122"/>
                <a:cs typeface="Calibri" pitchFamily="34" charset="-120"/>
              </a:rPr>
              <a:t>negative feedback</a:t>
            </a:r>
            <a:r>
              <a:rPr lang="en-US" sz="1050" dirty="0">
                <a:solidFill>
                  <a:srgbClr val="262B3A"/>
                </a:solidFill>
                <a:latin typeface="Calibri" pitchFamily="34" charset="0"/>
                <a:ea typeface="Calibri" pitchFamily="34" charset="-122"/>
                <a:cs typeface="Calibri" pitchFamily="34" charset="-120"/>
              </a:rPr>
              <a:t>; many use </a:t>
            </a:r>
            <a:r>
              <a:rPr lang="en-US" sz="1050" b="1" dirty="0">
                <a:solidFill>
                  <a:srgbClr val="262B3A"/>
                </a:solidFill>
                <a:latin typeface="Calibri" pitchFamily="34" charset="0"/>
                <a:ea typeface="Calibri" pitchFamily="34" charset="-122"/>
                <a:cs typeface="Calibri" pitchFamily="34" charset="-120"/>
              </a:rPr>
              <a:t>antagonistic</a:t>
            </a:r>
            <a:r>
              <a:rPr lang="en-US" sz="1050" dirty="0">
                <a:solidFill>
                  <a:srgbClr val="262B3A"/>
                </a:solidFill>
                <a:latin typeface="Calibri" pitchFamily="34" charset="0"/>
                <a:ea typeface="Calibri" pitchFamily="34" charset="-122"/>
                <a:cs typeface="Calibri" pitchFamily="34" charset="-120"/>
              </a:rPr>
              <a:t> effectors.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Nerves give fast responses; hormones give slower, longer ones.</a:t>
            </a:r>
            <a:endParaRPr lang="en-US" sz="1050" dirty="0"/>
          </a:p>
        </p:txBody>
      </p:sp>
      <p:sp>
        <p:nvSpPr>
          <p:cNvPr id="46" name="Shape 43"/>
          <p:cNvSpPr/>
          <p:nvPr/>
        </p:nvSpPr>
        <p:spPr>
          <a:xfrm>
            <a:off x="7726680" y="3520440"/>
            <a:ext cx="4050792" cy="2194560"/>
          </a:xfrm>
          <a:prstGeom prst="roundRect">
            <a:avLst>
              <a:gd name="adj" fmla="val 2500"/>
            </a:avLst>
          </a:prstGeom>
          <a:solidFill>
            <a:srgbClr val="FFF4E0"/>
          </a:solidFill>
          <a:ln w="9525">
            <a:solidFill>
              <a:srgbClr val="F1D9A8"/>
            </a:solidFill>
            <a:prstDash val="solid"/>
          </a:ln>
        </p:spPr>
      </p:sp>
      <p:sp>
        <p:nvSpPr>
          <p:cNvPr id="47" name="Text 44"/>
          <p:cNvSpPr/>
          <p:nvPr/>
        </p:nvSpPr>
        <p:spPr>
          <a:xfrm>
            <a:off x="7891272" y="3593592"/>
            <a:ext cx="372160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link the ideas</a:t>
            </a:r>
            <a:endParaRPr lang="en-US" sz="1300" dirty="0"/>
          </a:p>
        </p:txBody>
      </p:sp>
      <p:sp>
        <p:nvSpPr>
          <p:cNvPr id="48" name="Text 45"/>
          <p:cNvSpPr/>
          <p:nvPr/>
        </p:nvSpPr>
        <p:spPr>
          <a:xfrm>
            <a:off x="7891272" y="3904488"/>
            <a:ext cx="3721608" cy="17373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why the runner's core temperature must not rise much.</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Change   </a:t>
            </a:r>
            <a:r>
              <a:rPr lang="en-US" sz="1050" dirty="0">
                <a:solidFill>
                  <a:srgbClr val="262B3A"/>
                </a:solidFill>
                <a:latin typeface="Calibri" pitchFamily="34" charset="0"/>
                <a:ea typeface="Calibri" pitchFamily="34" charset="-122"/>
                <a:cs typeface="Calibri" pitchFamily="34" charset="-120"/>
              </a:rPr>
              <a:t>respiration and the sun add heat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Problem   </a:t>
            </a:r>
            <a:r>
              <a:rPr lang="en-US" sz="1050" dirty="0">
                <a:solidFill>
                  <a:srgbClr val="262B3A"/>
                </a:solidFill>
                <a:latin typeface="Calibri" pitchFamily="34" charset="0"/>
                <a:ea typeface="Calibri" pitchFamily="34" charset="-122"/>
                <a:cs typeface="Calibri" pitchFamily="34" charset="-120"/>
              </a:rPr>
              <a:t>above about 40 °C enzymes denature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so sweating (an effector) cools the body by negative feedback</a:t>
            </a:r>
            <a:endParaRPr lang="en-US" sz="1050" dirty="0"/>
          </a:p>
        </p:txBody>
      </p:sp>
      <p:sp>
        <p:nvSpPr>
          <p:cNvPr id="49"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50"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1"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For the runner, name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change that is </a:t>
            </a:r>
            <a:r>
              <a:rPr lang="en-US" sz="1150" b="1" dirty="0">
                <a:solidFill>
                  <a:srgbClr val="262B3A"/>
                </a:solidFill>
                <a:latin typeface="Calibri" pitchFamily="34" charset="0"/>
                <a:ea typeface="Calibri" pitchFamily="34" charset="-122"/>
                <a:cs typeface="Calibri" pitchFamily="34" charset="-120"/>
              </a:rPr>
              <a:t>external</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that is </a:t>
            </a:r>
            <a:r>
              <a:rPr lang="en-US" sz="1150" b="1" dirty="0">
                <a:solidFill>
                  <a:srgbClr val="262B3A"/>
                </a:solidFill>
                <a:latin typeface="Calibri" pitchFamily="34" charset="0"/>
                <a:ea typeface="Calibri" pitchFamily="34" charset="-122"/>
                <a:cs typeface="Calibri" pitchFamily="34" charset="-120"/>
              </a:rPr>
              <a:t>internal</a:t>
            </a:r>
            <a:r>
              <a:rPr lang="en-US" sz="1150" dirty="0">
                <a:solidFill>
                  <a:srgbClr val="262B3A"/>
                </a:solidFill>
                <a:latin typeface="Calibri" pitchFamily="34" charset="0"/>
                <a:ea typeface="Calibri" pitchFamily="34" charset="-122"/>
                <a:cs typeface="Calibri" pitchFamily="34" charset="-120"/>
              </a:rPr>
              <a:t>. Suggest why the runner should drink water during the race.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limits, and why homeostasis matters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Normal core body temperature is about 37 °C. Explain why a core temperature of </a:t>
            </a:r>
            <a:r>
              <a:rPr lang="en-US" sz="1250" b="1" dirty="0">
                <a:solidFill>
                  <a:srgbClr val="262B3A"/>
                </a:solidFill>
                <a:latin typeface="Calibri" pitchFamily="34" charset="0"/>
                <a:ea typeface="Calibri" pitchFamily="34" charset="-122"/>
                <a:cs typeface="Calibri" pitchFamily="34" charset="-120"/>
              </a:rPr>
              <a:t>33 °C</a:t>
            </a:r>
            <a:r>
              <a:rPr lang="en-US" sz="1250" dirty="0">
                <a:solidFill>
                  <a:srgbClr val="262B3A"/>
                </a:solidFill>
                <a:latin typeface="Calibri" pitchFamily="34" charset="0"/>
                <a:ea typeface="Calibri" pitchFamily="34" charset="-122"/>
                <a:cs typeface="Calibri" pitchFamily="34" charset="-120"/>
              </a:rPr>
              <a:t> is dangerous.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60 kg hiker loses </a:t>
            </a:r>
            <a:r>
              <a:rPr lang="en-US" sz="1250" b="1" dirty="0">
                <a:solidFill>
                  <a:srgbClr val="262B3A"/>
                </a:solidFill>
                <a:latin typeface="Calibri" pitchFamily="34" charset="0"/>
                <a:ea typeface="Calibri" pitchFamily="34" charset="-122"/>
                <a:cs typeface="Calibri" pitchFamily="34" charset="-120"/>
              </a:rPr>
              <a:t>4.8 kg</a:t>
            </a:r>
            <a:r>
              <a:rPr lang="en-US" sz="1250" dirty="0">
                <a:solidFill>
                  <a:srgbClr val="262B3A"/>
                </a:solidFill>
                <a:latin typeface="Calibri" pitchFamily="34" charset="0"/>
                <a:ea typeface="Calibri" pitchFamily="34" charset="-122"/>
                <a:cs typeface="Calibri" pitchFamily="34" charset="-120"/>
              </a:rPr>
              <a:t> of water. Calculate the percentage of body mass lost.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internal change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external change during a run on a hot day.</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t>
            </a:r>
            <a:r>
              <a:rPr lang="en-US" sz="1250" b="1" dirty="0">
                <a:solidFill>
                  <a:srgbClr val="262B3A"/>
                </a:solidFill>
                <a:latin typeface="Calibri" pitchFamily="34" charset="0"/>
                <a:ea typeface="Calibri" pitchFamily="34" charset="-122"/>
                <a:cs typeface="Calibri" pitchFamily="34" charset="-120"/>
              </a:rPr>
              <a:t>water content</a:t>
            </a:r>
            <a:r>
              <a:rPr lang="en-US" sz="1250" dirty="0">
                <a:solidFill>
                  <a:srgbClr val="262B3A"/>
                </a:solidFill>
                <a:latin typeface="Calibri" pitchFamily="34" charset="0"/>
                <a:ea typeface="Calibri" pitchFamily="34" charset="-122"/>
                <a:cs typeface="Calibri" pitchFamily="34" charset="-120"/>
              </a:rPr>
              <a:t> of the body must be kept constant.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B5.4 Why do we need to maintain a constant internal environment?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22</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Homeostasis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Keeping a constant internal environment, despite internal and external changes.</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Internal environment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tissue fluid and blood plasma that surround the body's cells.</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Tissue fluid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Fluid from the plasma that bathes the cells; exchanges substances with them.</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Core temperature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Temperature inside the body (vital organs); kept close to 37 °C.</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Internal change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change caused by the body's own activity, e.g. heat from respiration.</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External change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change caused by the surroundings, e.g. a hot or cold day.</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Optimum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condition (e.g. temperature, pH) at which an enzyme works fastest.</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Denatured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An enzyme whose active site has changed shape, so it no longer works.</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Osmosis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Net movement of water through a partially permeable membrane, dilute → concentrated.</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Receptor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Cells that detect a change (stimulus) inside or outside the body.</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Coordination centre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Brain, spinal cord or gland that processes information and sends signals.</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Effector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muscle or gland that brings about a response.</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Negative feedback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change causes a response that reverses it, back to the set point.</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Set point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normal level of a condition, e.g. 37 °C for core temperature.</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Antagonistic effectors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Two effectors with opposite effects on the same condition.</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Dehydration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Losing too much water, so body fluids become too concentrated.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B5.4.1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23</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The human body keeps a </a:t>
            </a:r>
            <a:r>
              <a:rPr lang="en-US" sz="1200" b="1" i="1" dirty="0">
                <a:solidFill>
                  <a:srgbClr val="262B3A"/>
                </a:solidFill>
                <a:latin typeface="Calibri" pitchFamily="34" charset="0"/>
                <a:ea typeface="Calibri" pitchFamily="34" charset="-122"/>
                <a:cs typeface="Calibri" pitchFamily="34" charset="-120"/>
              </a:rPr>
              <a:t>constant internal environment</a:t>
            </a:r>
            <a:r>
              <a:rPr lang="en-US" sz="1200" i="1" dirty="0">
                <a:solidFill>
                  <a:srgbClr val="262B3A"/>
                </a:solidFill>
                <a:latin typeface="Calibri" pitchFamily="34" charset="0"/>
                <a:ea typeface="Calibri" pitchFamily="34" charset="-122"/>
                <a:cs typeface="Calibri" pitchFamily="34" charset="-120"/>
              </a:rPr>
              <a:t>. A class models the control of body temperature by keeping a beaker of water at </a:t>
            </a:r>
            <a:r>
              <a:rPr lang="en-US" sz="1200" b="1" i="1" dirty="0">
                <a:solidFill>
                  <a:srgbClr val="262B3A"/>
                </a:solidFill>
                <a:latin typeface="Calibri" pitchFamily="34" charset="0"/>
                <a:ea typeface="Calibri" pitchFamily="34" charset="-122"/>
                <a:cs typeface="Calibri" pitchFamily="34" charset="-120"/>
              </a:rPr>
              <a:t>40 °C</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11480" y="1719072"/>
            <a:ext cx="5570068" cy="1441704"/>
          </a:xfrm>
          <a:prstGeom prst="roundRect">
            <a:avLst>
              <a:gd name="adj" fmla="val 3171"/>
            </a:avLst>
          </a:prstGeom>
          <a:solidFill>
            <a:srgbClr val="F4FAF9"/>
          </a:solidFill>
          <a:ln w="9525">
            <a:solidFill>
              <a:srgbClr val="CFE0DE"/>
            </a:solidFill>
            <a:prstDash val="solid"/>
          </a:ln>
        </p:spPr>
      </p:sp>
      <p:sp>
        <p:nvSpPr>
          <p:cNvPr id="10" name="Text 8"/>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What is the name for keeping a constant internal environment? Name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conditions that are kept constant.</a:t>
            </a:r>
            <a:endParaRPr lang="en-US" sz="1200" dirty="0"/>
          </a:p>
        </p:txBody>
      </p:sp>
      <p:sp>
        <p:nvSpPr>
          <p:cNvPr id="11" name="Text 9"/>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2" name="Shape 10"/>
          <p:cNvSpPr/>
          <p:nvPr/>
        </p:nvSpPr>
        <p:spPr>
          <a:xfrm>
            <a:off x="411480" y="3270504"/>
            <a:ext cx="5570068" cy="1441704"/>
          </a:xfrm>
          <a:prstGeom prst="roundRect">
            <a:avLst>
              <a:gd name="adj" fmla="val 3171"/>
            </a:avLst>
          </a:prstGeom>
          <a:solidFill>
            <a:srgbClr val="FFFFFF"/>
          </a:solidFill>
          <a:ln w="9525">
            <a:solidFill>
              <a:srgbClr val="CFE0DE"/>
            </a:solidFill>
            <a:prstDash val="solid"/>
          </a:ln>
        </p:spPr>
      </p:sp>
      <p:sp>
        <p:nvSpPr>
          <p:cNvPr id="13" name="Text 11"/>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Explain why core body temperature must be kept close to </a:t>
            </a:r>
            <a:r>
              <a:rPr lang="en-US" sz="1200" b="1" dirty="0">
                <a:solidFill>
                  <a:srgbClr val="262B3A"/>
                </a:solidFill>
                <a:latin typeface="Calibri" pitchFamily="34" charset="0"/>
                <a:ea typeface="Calibri" pitchFamily="34" charset="-122"/>
                <a:cs typeface="Calibri" pitchFamily="34" charset="-120"/>
              </a:rPr>
              <a:t>37 °C</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21936"/>
            <a:ext cx="5570068" cy="1441704"/>
          </a:xfrm>
          <a:prstGeom prst="roundRect">
            <a:avLst>
              <a:gd name="adj" fmla="val 3171"/>
            </a:avLst>
          </a:prstGeom>
          <a:solidFill>
            <a:srgbClr val="F4FAF9"/>
          </a:solidFill>
          <a:ln w="9525">
            <a:solidFill>
              <a:srgbClr val="CFE0DE"/>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In run B the temperature stayed between </a:t>
            </a:r>
            <a:r>
              <a:rPr lang="en-US" sz="1200" b="1" dirty="0">
                <a:solidFill>
                  <a:srgbClr val="262B3A"/>
                </a:solidFill>
                <a:latin typeface="Calibri" pitchFamily="34" charset="0"/>
                <a:ea typeface="Calibri" pitchFamily="34" charset="-122"/>
                <a:cs typeface="Calibri" pitchFamily="34" charset="-120"/>
              </a:rPr>
              <a:t>39 °C</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41.5 °C</a:t>
            </a:r>
            <a:r>
              <a:rPr lang="en-US" sz="1200" dirty="0">
                <a:solidFill>
                  <a:srgbClr val="262B3A"/>
                </a:solidFill>
                <a:latin typeface="Calibri" pitchFamily="34" charset="0"/>
                <a:ea typeface="Calibri" pitchFamily="34" charset="-122"/>
                <a:cs typeface="Calibri" pitchFamily="34" charset="-120"/>
              </a:rPr>
              <a:t>. Calculate the range.</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6210148" y="1719072"/>
            <a:ext cx="5570068" cy="1507236"/>
          </a:xfrm>
          <a:prstGeom prst="roundRect">
            <a:avLst>
              <a:gd name="adj" fmla="val 3033"/>
            </a:avLst>
          </a:prstGeom>
          <a:solidFill>
            <a:srgbClr val="F4FAF9"/>
          </a:solidFill>
          <a:ln w="9525">
            <a:solidFill>
              <a:srgbClr val="CFE0DE"/>
            </a:solidFill>
            <a:prstDash val="solid"/>
          </a:ln>
        </p:spPr>
      </p:sp>
      <p:sp>
        <p:nvSpPr>
          <p:cNvPr id="19" name="Text 17"/>
          <p:cNvSpPr/>
          <p:nvPr/>
        </p:nvSpPr>
        <p:spPr>
          <a:xfrm>
            <a:off x="6347308" y="1792224"/>
            <a:ext cx="5295748" cy="1141476"/>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Run A used only a Bunsen. Run B used a Bunsen </a:t>
            </a:r>
            <a:r>
              <a:rPr lang="en-US" sz="1200" b="1" dirty="0">
                <a:solidFill>
                  <a:srgbClr val="262B3A"/>
                </a:solidFill>
                <a:latin typeface="Calibri" pitchFamily="34" charset="0"/>
                <a:ea typeface="Calibri" pitchFamily="34" charset="-122"/>
                <a:cs typeface="Calibri" pitchFamily="34" charset="-120"/>
              </a:rPr>
              <a:t>and</a:t>
            </a:r>
            <a:r>
              <a:rPr lang="en-US" sz="1200" dirty="0">
                <a:solidFill>
                  <a:srgbClr val="262B3A"/>
                </a:solidFill>
                <a:latin typeface="Calibri" pitchFamily="34" charset="0"/>
                <a:ea typeface="Calibri" pitchFamily="34" charset="-122"/>
                <a:cs typeface="Calibri" pitchFamily="34" charset="-120"/>
              </a:rPr>
              <a:t> ice. Explain why run B kept the temperature closer to 40 °C.</a:t>
            </a:r>
            <a:endParaRPr lang="en-US" sz="1200" dirty="0"/>
          </a:p>
        </p:txBody>
      </p:sp>
      <p:sp>
        <p:nvSpPr>
          <p:cNvPr id="20" name="Text 18"/>
          <p:cNvSpPr/>
          <p:nvPr/>
        </p:nvSpPr>
        <p:spPr>
          <a:xfrm>
            <a:off x="10317175" y="29154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336036"/>
            <a:ext cx="5570068" cy="1310640"/>
          </a:xfrm>
          <a:prstGeom prst="roundRect">
            <a:avLst>
              <a:gd name="adj" fmla="val 3488"/>
            </a:avLst>
          </a:prstGeom>
          <a:solidFill>
            <a:srgbClr val="FFFFFF"/>
          </a:solidFill>
          <a:ln w="9525">
            <a:solidFill>
              <a:srgbClr val="CFE0DE"/>
            </a:solidFill>
            <a:prstDash val="solid"/>
          </a:ln>
        </p:spPr>
      </p:sp>
      <p:sp>
        <p:nvSpPr>
          <p:cNvPr id="22" name="Text 20"/>
          <p:cNvSpPr/>
          <p:nvPr/>
        </p:nvSpPr>
        <p:spPr>
          <a:xfrm>
            <a:off x="6347308" y="3409188"/>
            <a:ext cx="5295748" cy="944880"/>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An </a:t>
            </a:r>
            <a:r>
              <a:rPr lang="en-US" sz="1200" b="1" dirty="0">
                <a:solidFill>
                  <a:srgbClr val="262B3A"/>
                </a:solidFill>
                <a:latin typeface="Calibri" pitchFamily="34" charset="0"/>
                <a:ea typeface="Calibri" pitchFamily="34" charset="-122"/>
                <a:cs typeface="Calibri" pitchFamily="34" charset="-120"/>
              </a:rPr>
              <a:t>80 kg</a:t>
            </a:r>
            <a:r>
              <a:rPr lang="en-US" sz="1200" dirty="0">
                <a:solidFill>
                  <a:srgbClr val="262B3A"/>
                </a:solidFill>
                <a:latin typeface="Calibri" pitchFamily="34" charset="0"/>
                <a:ea typeface="Calibri" pitchFamily="34" charset="-122"/>
                <a:cs typeface="Calibri" pitchFamily="34" charset="-120"/>
              </a:rPr>
              <a:t> footballer loses </a:t>
            </a:r>
            <a:r>
              <a:rPr lang="en-US" sz="1200" b="1" dirty="0">
                <a:solidFill>
                  <a:srgbClr val="262B3A"/>
                </a:solidFill>
                <a:latin typeface="Calibri" pitchFamily="34" charset="0"/>
                <a:ea typeface="Calibri" pitchFamily="34" charset="-122"/>
                <a:cs typeface="Calibri" pitchFamily="34" charset="-120"/>
              </a:rPr>
              <a:t>2.4 kg</a:t>
            </a:r>
            <a:r>
              <a:rPr lang="en-US" sz="1200" dirty="0">
                <a:solidFill>
                  <a:srgbClr val="262B3A"/>
                </a:solidFill>
                <a:latin typeface="Calibri" pitchFamily="34" charset="0"/>
                <a:ea typeface="Calibri" pitchFamily="34" charset="-122"/>
                <a:cs typeface="Calibri" pitchFamily="34" charset="-120"/>
              </a:rPr>
              <a:t> of water in a match. Calculate the percentage of body mass lost.</a:t>
            </a:r>
            <a:endParaRPr lang="en-US" sz="1200" dirty="0"/>
          </a:p>
        </p:txBody>
      </p:sp>
      <p:sp>
        <p:nvSpPr>
          <p:cNvPr id="23" name="Text 21"/>
          <p:cNvSpPr/>
          <p:nvPr/>
        </p:nvSpPr>
        <p:spPr>
          <a:xfrm>
            <a:off x="10317175" y="43357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756404"/>
            <a:ext cx="5570068" cy="1507236"/>
          </a:xfrm>
          <a:prstGeom prst="roundRect">
            <a:avLst>
              <a:gd name="adj" fmla="val 3033"/>
            </a:avLst>
          </a:prstGeom>
          <a:solidFill>
            <a:srgbClr val="F4FAF9"/>
          </a:solidFill>
          <a:ln w="9525">
            <a:solidFill>
              <a:srgbClr val="CFE0DE"/>
            </a:solidFill>
            <a:prstDash val="solid"/>
          </a:ln>
        </p:spPr>
      </p:sp>
      <p:sp>
        <p:nvSpPr>
          <p:cNvPr id="25" name="Text 23"/>
          <p:cNvSpPr/>
          <p:nvPr/>
        </p:nvSpPr>
        <p:spPr>
          <a:xfrm>
            <a:off x="6347308" y="4829556"/>
            <a:ext cx="5295748" cy="1141476"/>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Explain how losing this much water could affect the footballer's </a:t>
            </a:r>
            <a:r>
              <a:rPr lang="en-US" sz="1200" b="1" dirty="0">
                <a:solidFill>
                  <a:srgbClr val="262B3A"/>
                </a:solidFill>
                <a:latin typeface="Calibri" pitchFamily="34" charset="0"/>
                <a:ea typeface="Calibri" pitchFamily="34" charset="-122"/>
                <a:cs typeface="Calibri" pitchFamily="34" charset="-120"/>
              </a:rPr>
              <a:t>cells</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B5.4 Homeostasis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B5.4 Why do we need to maintain a constant internal environment?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25</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a:t>
            </a:r>
            <a:endParaRPr lang="en-US" sz="1150" dirty="0"/>
          </a:p>
        </p:txBody>
      </p:sp>
      <p:sp>
        <p:nvSpPr>
          <p:cNvPr id="9" name="Shape 7"/>
          <p:cNvSpPr/>
          <p:nvPr/>
        </p:nvSpPr>
        <p:spPr>
          <a:xfrm>
            <a:off x="411480" y="1517904"/>
            <a:ext cx="5570068" cy="1079653"/>
          </a:xfrm>
          <a:prstGeom prst="roundRect">
            <a:avLst>
              <a:gd name="adj" fmla="val 4235"/>
            </a:avLst>
          </a:prstGeom>
          <a:solidFill>
            <a:srgbClr val="F4FAF9"/>
          </a:solidFill>
          <a:ln w="9525">
            <a:solidFill>
              <a:srgbClr val="CFE0DE"/>
            </a:solidFill>
            <a:prstDash val="solid"/>
          </a:ln>
        </p:spPr>
      </p:sp>
      <p:sp>
        <p:nvSpPr>
          <p:cNvPr id="10" name="Text 8"/>
          <p:cNvSpPr/>
          <p:nvPr/>
        </p:nvSpPr>
        <p:spPr>
          <a:xfrm>
            <a:off x="548640" y="1591056"/>
            <a:ext cx="5295748" cy="732181"/>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Define </a:t>
            </a:r>
            <a:r>
              <a:rPr lang="en-US" sz="1150" b="1" dirty="0">
                <a:solidFill>
                  <a:srgbClr val="262B3A"/>
                </a:solidFill>
                <a:latin typeface="Calibri" pitchFamily="34" charset="0"/>
                <a:ea typeface="Calibri" pitchFamily="34" charset="-122"/>
                <a:cs typeface="Calibri" pitchFamily="34" charset="-120"/>
              </a:rPr>
              <a:t>homeostasis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304949"/>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07285"/>
            <a:ext cx="5570068" cy="1079653"/>
          </a:xfrm>
          <a:prstGeom prst="roundRect">
            <a:avLst>
              <a:gd name="adj" fmla="val 4235"/>
            </a:avLst>
          </a:prstGeom>
          <a:solidFill>
            <a:srgbClr val="F4FAF9"/>
          </a:solidFill>
          <a:ln w="9525">
            <a:solidFill>
              <a:srgbClr val="CFE0DE"/>
            </a:solidFill>
            <a:prstDash val="solid"/>
          </a:ln>
        </p:spPr>
      </p:sp>
      <p:sp>
        <p:nvSpPr>
          <p:cNvPr id="13" name="Text 11"/>
          <p:cNvSpPr/>
          <p:nvPr/>
        </p:nvSpPr>
        <p:spPr>
          <a:xfrm>
            <a:off x="548640" y="2780437"/>
            <a:ext cx="5295748" cy="732181"/>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types of effector, and the part of a control system that </a:t>
            </a:r>
            <a:r>
              <a:rPr lang="en-US" sz="1150" b="1" dirty="0">
                <a:solidFill>
                  <a:srgbClr val="262B3A"/>
                </a:solidFill>
                <a:latin typeface="Calibri" pitchFamily="34" charset="0"/>
                <a:ea typeface="Calibri" pitchFamily="34" charset="-122"/>
                <a:cs typeface="Calibri" pitchFamily="34" charset="-120"/>
              </a:rPr>
              <a:t>detects</a:t>
            </a:r>
            <a:r>
              <a:rPr lang="en-US" sz="1150" dirty="0">
                <a:solidFill>
                  <a:srgbClr val="262B3A"/>
                </a:solidFill>
                <a:latin typeface="Calibri" pitchFamily="34" charset="0"/>
                <a:ea typeface="Calibri" pitchFamily="34" charset="-122"/>
                <a:cs typeface="Calibri" pitchFamily="34" charset="-120"/>
              </a:rPr>
              <a:t> a change.</a:t>
            </a:r>
            <a:endParaRPr lang="en-US" sz="1150" dirty="0"/>
          </a:p>
        </p:txBody>
      </p:sp>
      <p:sp>
        <p:nvSpPr>
          <p:cNvPr id="14" name="Text 12"/>
          <p:cNvSpPr/>
          <p:nvPr/>
        </p:nvSpPr>
        <p:spPr>
          <a:xfrm>
            <a:off x="4518508" y="349433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896666"/>
            <a:ext cx="5570068" cy="1079653"/>
          </a:xfrm>
          <a:prstGeom prst="roundRect">
            <a:avLst>
              <a:gd name="adj" fmla="val 4235"/>
            </a:avLst>
          </a:prstGeom>
          <a:solidFill>
            <a:srgbClr val="F4FAF9"/>
          </a:solidFill>
          <a:ln w="9525">
            <a:solidFill>
              <a:srgbClr val="CFE0DE"/>
            </a:solidFill>
            <a:prstDash val="solid"/>
          </a:ln>
        </p:spPr>
      </p:sp>
      <p:sp>
        <p:nvSpPr>
          <p:cNvPr id="16" name="Text 14"/>
          <p:cNvSpPr/>
          <p:nvPr/>
        </p:nvSpPr>
        <p:spPr>
          <a:xfrm>
            <a:off x="548640" y="3969818"/>
            <a:ext cx="5295748" cy="732181"/>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Four readings of a student's core temperature were </a:t>
            </a:r>
            <a:r>
              <a:rPr lang="en-US" sz="1150" b="1" dirty="0">
                <a:solidFill>
                  <a:srgbClr val="262B3A"/>
                </a:solidFill>
                <a:latin typeface="Calibri" pitchFamily="34" charset="0"/>
                <a:ea typeface="Calibri" pitchFamily="34" charset="-122"/>
                <a:cs typeface="Calibri" pitchFamily="34" charset="-120"/>
              </a:rPr>
              <a:t>36.9</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37.1</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37.0</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37.2 °C</a:t>
            </a:r>
            <a:r>
              <a:rPr lang="en-US" sz="1150" dirty="0">
                <a:solidFill>
                  <a:srgbClr val="262B3A"/>
                </a:solidFill>
                <a:latin typeface="Calibri" pitchFamily="34" charset="0"/>
                <a:ea typeface="Calibri" pitchFamily="34" charset="-122"/>
                <a:cs typeface="Calibri" pitchFamily="34" charset="-120"/>
              </a:rPr>
              <a:t>. Calculate the mean.</a:t>
            </a:r>
            <a:endParaRPr lang="en-US" sz="1150" dirty="0"/>
          </a:p>
        </p:txBody>
      </p:sp>
      <p:sp>
        <p:nvSpPr>
          <p:cNvPr id="17" name="Text 15"/>
          <p:cNvSpPr/>
          <p:nvPr/>
        </p:nvSpPr>
        <p:spPr>
          <a:xfrm>
            <a:off x="4518508" y="468371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086047"/>
            <a:ext cx="5570068" cy="1241601"/>
          </a:xfrm>
          <a:prstGeom prst="roundRect">
            <a:avLst>
              <a:gd name="adj" fmla="val 3682"/>
            </a:avLst>
          </a:prstGeom>
          <a:solidFill>
            <a:srgbClr val="F4FAF9"/>
          </a:solidFill>
          <a:ln w="9525">
            <a:solidFill>
              <a:srgbClr val="CFE0DE"/>
            </a:solidFill>
            <a:prstDash val="solid"/>
          </a:ln>
        </p:spPr>
      </p:sp>
      <p:sp>
        <p:nvSpPr>
          <p:cNvPr id="19" name="Text 17"/>
          <p:cNvSpPr/>
          <p:nvPr/>
        </p:nvSpPr>
        <p:spPr>
          <a:xfrm>
            <a:off x="548640" y="5159199"/>
            <a:ext cx="5295748" cy="894129"/>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On a hot day a student loses </a:t>
            </a:r>
            <a:r>
              <a:rPr lang="en-US" sz="1150" b="1" dirty="0">
                <a:solidFill>
                  <a:srgbClr val="262B3A"/>
                </a:solidFill>
                <a:latin typeface="Calibri" pitchFamily="34" charset="0"/>
                <a:ea typeface="Calibri" pitchFamily="34" charset="-122"/>
                <a:cs typeface="Calibri" pitchFamily="34" charset="-120"/>
              </a:rPr>
              <a:t>1.4 L</a:t>
            </a:r>
            <a:r>
              <a:rPr lang="en-US" sz="1150" dirty="0">
                <a:solidFill>
                  <a:srgbClr val="262B3A"/>
                </a:solidFill>
                <a:latin typeface="Calibri" pitchFamily="34" charset="0"/>
                <a:ea typeface="Calibri" pitchFamily="34" charset="-122"/>
                <a:cs typeface="Calibri" pitchFamily="34" charset="-120"/>
              </a:rPr>
              <a:t> in urine, </a:t>
            </a:r>
            <a:r>
              <a:rPr lang="en-US" sz="1150" b="1" dirty="0">
                <a:solidFill>
                  <a:srgbClr val="262B3A"/>
                </a:solidFill>
                <a:latin typeface="Calibri" pitchFamily="34" charset="0"/>
                <a:ea typeface="Calibri" pitchFamily="34" charset="-122"/>
                <a:cs typeface="Calibri" pitchFamily="34" charset="-120"/>
              </a:rPr>
              <a:t>0.9 L</a:t>
            </a:r>
            <a:r>
              <a:rPr lang="en-US" sz="1150" dirty="0">
                <a:solidFill>
                  <a:srgbClr val="262B3A"/>
                </a:solidFill>
                <a:latin typeface="Calibri" pitchFamily="34" charset="0"/>
                <a:ea typeface="Calibri" pitchFamily="34" charset="-122"/>
                <a:cs typeface="Calibri" pitchFamily="34" charset="-120"/>
              </a:rPr>
              <a:t> in sweat, </a:t>
            </a:r>
            <a:r>
              <a:rPr lang="en-US" sz="1150" b="1" dirty="0">
                <a:solidFill>
                  <a:srgbClr val="262B3A"/>
                </a:solidFill>
                <a:latin typeface="Calibri" pitchFamily="34" charset="0"/>
                <a:ea typeface="Calibri" pitchFamily="34" charset="-122"/>
                <a:cs typeface="Calibri" pitchFamily="34" charset="-120"/>
              </a:rPr>
              <a:t>0.4 L</a:t>
            </a:r>
            <a:r>
              <a:rPr lang="en-US" sz="1150" dirty="0">
                <a:solidFill>
                  <a:srgbClr val="262B3A"/>
                </a:solidFill>
                <a:latin typeface="Calibri" pitchFamily="34" charset="0"/>
                <a:ea typeface="Calibri" pitchFamily="34" charset="-122"/>
                <a:cs typeface="Calibri" pitchFamily="34" charset="-120"/>
              </a:rPr>
              <a:t> in breath and </a:t>
            </a:r>
            <a:r>
              <a:rPr lang="en-US" sz="1150" b="1" dirty="0">
                <a:solidFill>
                  <a:srgbClr val="262B3A"/>
                </a:solidFill>
                <a:latin typeface="Calibri" pitchFamily="34" charset="0"/>
                <a:ea typeface="Calibri" pitchFamily="34" charset="-122"/>
                <a:cs typeface="Calibri" pitchFamily="34" charset="-120"/>
              </a:rPr>
              <a:t>0.1 L</a:t>
            </a:r>
            <a:r>
              <a:rPr lang="en-US" sz="1150" dirty="0">
                <a:solidFill>
                  <a:srgbClr val="262B3A"/>
                </a:solidFill>
                <a:latin typeface="Calibri" pitchFamily="34" charset="0"/>
                <a:ea typeface="Calibri" pitchFamily="34" charset="-122"/>
                <a:cs typeface="Calibri" pitchFamily="34" charset="-120"/>
              </a:rPr>
              <a:t> in faeces. Water in is </a:t>
            </a:r>
            <a:r>
              <a:rPr lang="en-US" sz="1150" b="1" dirty="0">
                <a:solidFill>
                  <a:srgbClr val="262B3A"/>
                </a:solidFill>
                <a:latin typeface="Calibri" pitchFamily="34" charset="0"/>
                <a:ea typeface="Calibri" pitchFamily="34" charset="-122"/>
                <a:cs typeface="Calibri" pitchFamily="34" charset="-120"/>
              </a:rPr>
              <a:t>2.5 L</a:t>
            </a:r>
            <a:r>
              <a:rPr lang="en-US" sz="1150" dirty="0">
                <a:solidFill>
                  <a:srgbClr val="262B3A"/>
                </a:solidFill>
                <a:latin typeface="Calibri" pitchFamily="34" charset="0"/>
                <a:ea typeface="Calibri" pitchFamily="34" charset="-122"/>
                <a:cs typeface="Calibri" pitchFamily="34" charset="-120"/>
              </a:rPr>
              <a:t>. How much more must they drink to balance?</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66376"/>
          </a:xfrm>
          <a:prstGeom prst="roundRect">
            <a:avLst>
              <a:gd name="adj" fmla="val 4731"/>
            </a:avLst>
          </a:prstGeom>
          <a:solidFill>
            <a:srgbClr val="F4FAF9"/>
          </a:solidFill>
          <a:ln w="9525">
            <a:solidFill>
              <a:srgbClr val="CFE0DE"/>
            </a:solidFill>
            <a:prstDash val="solid"/>
          </a:ln>
        </p:spPr>
      </p:sp>
      <p:sp>
        <p:nvSpPr>
          <p:cNvPr id="22" name="Text 20"/>
          <p:cNvSpPr/>
          <p:nvPr/>
        </p:nvSpPr>
        <p:spPr>
          <a:xfrm>
            <a:off x="6347308" y="1591056"/>
            <a:ext cx="5295748" cy="618904"/>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what is meant by </a:t>
            </a:r>
            <a:r>
              <a:rPr lang="en-US" sz="1150" b="1" dirty="0">
                <a:solidFill>
                  <a:srgbClr val="262B3A"/>
                </a:solidFill>
                <a:latin typeface="Calibri" pitchFamily="34" charset="0"/>
                <a:ea typeface="Calibri" pitchFamily="34" charset="-122"/>
                <a:cs typeface="Calibri" pitchFamily="34" charset="-120"/>
              </a:rPr>
              <a:t>antagonistic effectors</a:t>
            </a:r>
            <a:r>
              <a:rPr lang="en-US" sz="1150" dirty="0">
                <a:solidFill>
                  <a:srgbClr val="262B3A"/>
                </a:solidFill>
                <a:latin typeface="Calibri" pitchFamily="34" charset="0"/>
                <a:ea typeface="Calibri" pitchFamily="34" charset="-122"/>
                <a:cs typeface="Calibri" pitchFamily="34" charset="-120"/>
              </a:rPr>
              <a:t>, and give an example for body temperature.</a:t>
            </a:r>
            <a:endParaRPr lang="en-US" sz="1150" dirty="0"/>
          </a:p>
        </p:txBody>
      </p:sp>
      <p:sp>
        <p:nvSpPr>
          <p:cNvPr id="23" name="Text 21"/>
          <p:cNvSpPr/>
          <p:nvPr/>
        </p:nvSpPr>
        <p:spPr>
          <a:xfrm>
            <a:off x="10317175" y="21916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594008"/>
            <a:ext cx="5570068" cy="1111333"/>
          </a:xfrm>
          <a:prstGeom prst="roundRect">
            <a:avLst>
              <a:gd name="adj" fmla="val 4114"/>
            </a:avLst>
          </a:prstGeom>
          <a:solidFill>
            <a:srgbClr val="F4FAF9"/>
          </a:solidFill>
          <a:ln w="9525">
            <a:solidFill>
              <a:srgbClr val="CFE0DE"/>
            </a:solidFill>
            <a:prstDash val="solid"/>
          </a:ln>
        </p:spPr>
      </p:sp>
      <p:sp>
        <p:nvSpPr>
          <p:cNvPr id="25" name="Text 23"/>
          <p:cNvSpPr/>
          <p:nvPr/>
        </p:nvSpPr>
        <p:spPr>
          <a:xfrm>
            <a:off x="6347308" y="2667160"/>
            <a:ext cx="5295748" cy="763861"/>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Explain why </a:t>
            </a:r>
            <a:r>
              <a:rPr lang="en-US" sz="1150" b="1" dirty="0">
                <a:solidFill>
                  <a:srgbClr val="262B3A"/>
                </a:solidFill>
                <a:latin typeface="Calibri" pitchFamily="34" charset="0"/>
                <a:ea typeface="Calibri" pitchFamily="34" charset="-122"/>
                <a:cs typeface="Calibri" pitchFamily="34" charset="-120"/>
              </a:rPr>
              <a:t>skin</a:t>
            </a:r>
            <a:r>
              <a:rPr lang="en-US" sz="1150" dirty="0">
                <a:solidFill>
                  <a:srgbClr val="262B3A"/>
                </a:solidFill>
                <a:latin typeface="Calibri" pitchFamily="34" charset="0"/>
                <a:ea typeface="Calibri" pitchFamily="34" charset="-122"/>
                <a:cs typeface="Calibri" pitchFamily="34" charset="-120"/>
              </a:rPr>
              <a:t> temperature can change a lot but </a:t>
            </a:r>
            <a:r>
              <a:rPr lang="en-US" sz="1150" b="1" dirty="0">
                <a:solidFill>
                  <a:srgbClr val="262B3A"/>
                </a:solidFill>
                <a:latin typeface="Calibri" pitchFamily="34" charset="0"/>
                <a:ea typeface="Calibri" pitchFamily="34" charset="-122"/>
                <a:cs typeface="Calibri" pitchFamily="34" charset="-120"/>
              </a:rPr>
              <a:t>core</a:t>
            </a:r>
            <a:r>
              <a:rPr lang="en-US" sz="1150" dirty="0">
                <a:solidFill>
                  <a:srgbClr val="262B3A"/>
                </a:solidFill>
                <a:latin typeface="Calibri" pitchFamily="34" charset="0"/>
                <a:ea typeface="Calibri" pitchFamily="34" charset="-122"/>
                <a:cs typeface="Calibri" pitchFamily="34" charset="-120"/>
              </a:rPr>
              <a:t> temperature changes very little.</a:t>
            </a:r>
            <a:endParaRPr lang="en-US" sz="1150" dirty="0"/>
          </a:p>
        </p:txBody>
      </p:sp>
      <p:sp>
        <p:nvSpPr>
          <p:cNvPr id="26" name="Text 24"/>
          <p:cNvSpPr/>
          <p:nvPr/>
        </p:nvSpPr>
        <p:spPr>
          <a:xfrm>
            <a:off x="10317175" y="3412733"/>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815069"/>
            <a:ext cx="5570068" cy="2512579"/>
          </a:xfrm>
          <a:prstGeom prst="roundRect">
            <a:avLst>
              <a:gd name="adj" fmla="val 1820"/>
            </a:avLst>
          </a:prstGeom>
          <a:solidFill>
            <a:srgbClr val="FFF4E0"/>
          </a:solidFill>
          <a:ln w="9525">
            <a:solidFill>
              <a:srgbClr val="F1D9A8"/>
            </a:solidFill>
            <a:prstDash val="solid"/>
          </a:ln>
        </p:spPr>
      </p:sp>
      <p:sp>
        <p:nvSpPr>
          <p:cNvPr id="28" name="Text 26"/>
          <p:cNvSpPr/>
          <p:nvPr/>
        </p:nvSpPr>
        <p:spPr>
          <a:xfrm>
            <a:off x="6347308" y="3888221"/>
            <a:ext cx="5295748" cy="2165107"/>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b="1" dirty="0">
                <a:solidFill>
                  <a:srgbClr val="262B3A"/>
                </a:solidFill>
                <a:latin typeface="Calibri" pitchFamily="34" charset="0"/>
                <a:ea typeface="Calibri" pitchFamily="34" charset="-122"/>
                <a:cs typeface="Calibri" pitchFamily="34" charset="-120"/>
              </a:rPr>
              <a:t>Explain</a:t>
            </a:r>
            <a:r>
              <a:rPr lang="en-US" sz="1150" dirty="0">
                <a:solidFill>
                  <a:srgbClr val="262B3A"/>
                </a:solidFill>
                <a:latin typeface="Calibri" pitchFamily="34" charset="0"/>
                <a:ea typeface="Calibri" pitchFamily="34" charset="-122"/>
                <a:cs typeface="Calibri" pitchFamily="34" charset="-120"/>
              </a:rPr>
              <a:t> why the human body needs to maintain a </a:t>
            </a:r>
            <a:r>
              <a:rPr lang="en-US" sz="1150" b="1" dirty="0">
                <a:solidFill>
                  <a:srgbClr val="262B3A"/>
                </a:solidFill>
                <a:latin typeface="Calibri" pitchFamily="34" charset="0"/>
                <a:ea typeface="Calibri" pitchFamily="34" charset="-122"/>
                <a:cs typeface="Calibri" pitchFamily="34" charset="-120"/>
              </a:rPr>
              <a:t>constant internal environment</a:t>
            </a:r>
            <a:r>
              <a:rPr lang="en-US" sz="1150" dirty="0">
                <a:solidFill>
                  <a:srgbClr val="262B3A"/>
                </a:solidFill>
                <a:latin typeface="Calibri" pitchFamily="34" charset="0"/>
                <a:ea typeface="Calibri" pitchFamily="34" charset="-122"/>
                <a:cs typeface="Calibri" pitchFamily="34" charset="-120"/>
              </a:rPr>
              <a:t>, and describe how it does this. Use examples of internal and external changes.</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B5.4 Why do we need to maintain a constant internal environment?</dc:title>
  <dc:subject>PptxGenJS Presentation</dc:subject>
  <dc:creator>GCSE Biology</dc:creator>
  <cp:lastModifiedBy>GCSE Biology</cp:lastModifiedBy>
  <cp:revision>1</cp:revision>
  <dcterms:created xsi:type="dcterms:W3CDTF">2026-10-30T14:38:49Z</dcterms:created>
  <dcterms:modified xsi:type="dcterms:W3CDTF">2026-10-30T14:38:49Z</dcterms:modified>
</cp:coreProperties>
</file>