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B5.5 What role do hormones play in human reproduction? is Part 5 of 6 in J260 Chapter B5 The human body – staying alive.
Scope (see SPEC_B5_5.md): B5.5.1 roles of hormones in human reproduction including the menstrual cycle; B5.5.2 (HT) interactions of FSH, LH, oestrogen and progesterone; B5.5.3 hormones in contraception, evaluating hormonal and non-hormonal methods; B5.5.4 (HT) hormones in modern reproductive technologies to treat infertility.
The endocrine system, the pituitary and negative feedback are taught in B5.3 and are recalled here only. Statement wording comes from search extracts (ocr.org.uk could not be fetched); the HT markers are inferred (UNVERIFIED).
Sensitivity: this topic can be personal for some students (periods, contraception, infertility, IVF). Keep it factual, give advance notice, and follow your school RSE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Statement wording found in search extracts (J257 mirror on tutordex and revision-site copies; the same B5.5 section is in J260 Combined, see SPEC_B5_5.md):
B5.5.1 "describe the role of hormones in human reproduction, including the control of the menstrual cycle".
B5.5.2 "explain the interactions of FSH, LH, oestrogen and progesterone in the control of the menstrual cycle" (HT).
B5.5.3 "explain the use of hormones in contraception and evaluate hormonal and non-hormonal methods of contraception".
B5.5.4 "explain the use of hormones in modern reproductive technologies to treat infertility" (HT).
HT pills: inferred. Oak National Academy OCR Combined lists "Hormonal control of the menstrual cycle" and "Using hormones to treat infertility" in the Higher programme only, while "Hormones: puberty, the menstrual cycle and the menopause" and "Hormonal and non-hormonal methods of contraception" appear in Foundation too; BBC Bitesize (OCR 21C) titles the menstrual-cycle hormone page "Higher". If your specification shows B5.5.4 in normal type, teach slides 16–18 to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Sequence: slides 5–6 puberty and the cycle (both tiers), recap 1; slide 8 the four hormones (both tiers), slides 9–10 graph and interactions (HT), recap 2; slides 12–14 contraception (both tiers), recap 3; slides 16–17 infertility and IVF (HT), recap 4.
B5.4 (homeostasis, kidneys) and B5.6 (diabetes, failing organs) are not used here. Meiosis and gametes are B4.3: recall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A chemical messenger made by an endocrine gland; carried in the blood (plasma) to target organs.
2. At the base of the brain. Its hormones control other glands (e.g. TSH → thyroid; FSH and LH → ovaries / testes).
3. Meiosis. 46 ÷ 2 = 23 chromosomes.
4. A change triggers a response that reverses the change. Thyroxine / TSH (HT in B5.3).
5. Plasma.
6. (a) Ovary. (b) Uterus (womb).
Q2 and Q4 set up this lesson: FSH and LH come from the pituitary, and the cycle is controlled by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 testosterone (1) — e.g. sperm production / deeper voice / facial hair / muscle growth (1). (b) oestrogen (1) — e.g. breasts develop / hips widen / menstrual cycle starts / eggs mature (1).
B5.5.1 "describe the role of hormones in human reproduction". Puberty ages are typical ranges. Menopause is included because the Oak OCR Foundation lesson covers it (context, not a separate statement). The pituitary was taught in B5.3: FSH and LH are recalled here as its gonad-stimulating hormones. Hair, voice and muscle changes are examples of secondary sexual characteristics; primary sexual characteristics are the sex organs present from birth.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About day 14 (ovulation) (1). The lining builds up / thickens again (from about 1.5 mm to 9 mm on the graph, a rise of 7.5 mm) (1), ready to receive a fertilised egg.
Maths: menstruation is 5 of 28 days = 17.9% of the cycle (node: 17.857142857142858).
The lining graph is drawn to scale from typical textbook values (about 1–2 mm after a period, about 9–11 mm in the second half of the cycle; values UNVERIFIED and vary between people). Cycle length varies (about 21–35 days is common); 28 days is the textbook model. In the diagram the right ovary shows a mature follicle; fimbriae of each oviduct sit close to the ovary. The oviduct is also called the fallopian tube or egg tube.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1 (total 8 marks)
Q1 [2]: Testosterone (1); testes (1).
Q2 [2]: Any two (1 each): breasts develop; hips widen; pubic / body hair; menstrual cycle starts / eggs mature / are released.
Q3 [2]: Release of an egg from the ovary (1); about day 14 (1).
Q4 [2]: Lining breaks down / is shed in menstruation (days 0–5) (1); then builds up / thickens again and is maintained (ready for a fertilised egg)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FSH and LH (1). Oestrogen (1).
B5.5.1 asks for the roles of the hormones; how they control each other (feedback) is B5.5.2 (HT) on the next two slides. The empty follicle is the corpus luteum (name not needed at GCSE; given as stretch on slide 10). Oestrogen also repairs the lining after menstruation.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30 − 14 = day 16 (1); LH (the LH surge) (1). (Oestrogen also peaks just before the LH surge.)
Graph check (node): the curves are smooth Gaussian models repeated every 28 days, so day 0 joins day 28. Asserted: LH peak day 13.6, oestrogen peak day 12.3 (before LH), progesterone peak day 21; progesterone low before ovulation; FSH lower in the second half. Levels are relative (each hormone on its own arbitrary scale); real units differ between hormones. Mean cycle node: 168 ÷ 6 = 28; range 5 days.
The second half of the cycle (after ovulation) is about 14 days in most women, so variation in cycle length is mainly in the first half: this is why ovulation is counted back from the next period.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empty follicle (corpus luteum) breaks down, so progesterone level falls (1); progesterone is needed to maintain the lining, so the lining breaks down / is shed (menstruation) (1). [Stretch: the fall in progesterone also removes inhibition of FSH, so a new cycle begins.]
B5.5.2 "explain the interactions of FSH, LH, oestrogen and progesterone in the control of the menstrual cycle" (HT, inferred). Oestrogen feedback: at GCSE, rising oestrogen inhibits FSH and (high) oestrogen stimulates LH release; this is how examiners phrase it. Stretch: the empty follicle is the corpus luteum; in pregnancy the embryo keeps it (and progesterone) going. This links to negative feedback (B5.3): progesterone and oestrogen inhibiting FSH are negative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2 (total 8 marks)
Q1 [2]: Pituitary (gland) (1); makes an egg / follicle mature OR stimulates the ovary to make oestrogen (1).
Q2 [1]: Maintains / keeps the uterus lining thick (ready for pregnancy) (also accept: inhibits FSH and LH) (1).
Q3 [2]: Oestrogen inhibits FSH (release) (1); high oestrogen stimulates LH (release) / causes the LH surge (1).
Q4 [3]: LH surge / LH peaks just before day 14 (1) (after oestrogen peaks); LH causes ovulation (1); progesterone falls towards day 28 so the lining is no longer maintained / breaks down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hormones inhibit FSH (and LH) release from the pituitary (1); so no egg matures / no egg is released (no ovulation) (1); progesterone also thickens cervical mucus so sperm cannot reach an egg (1).
B5.5.3 "explain the use of hormones in contraception". This is the same negative feedback as in the natural cycle (slide 10): the pill keeps oestrogen and progesterone high all the time. Durations are typical NHS values (implant up to 3 years; injection every 8 or 13 weeks depending on type). Side-effect lists are simplified; use as context only. Myth to tackle: the pill does NOT protect against STIs.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Advantage (1): protects against STIs / no hormonal side effects / used only when needed / easy to get. Disadvantage (1): less effective in typical use (higher failure rate: 13% vs 7%) / can split or slip / must be used every time / interrupts sex.
B5.5.3 "evaluate hormonal and non-hormonal methods of contraception". The copper IUD is non-hormonal (the IUS / hormonal coil releases progesterone and is on slide 12). Diagram: the T-shaped copper IUD sits in the uterus cavity with threads through the cervix; the diaphragm (blue arc) covers the cervix from the vagina; black marks across the oviducts show female sterilisation. Natural methods rely on knowing when ovulation happens (slide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17 in 100 → 200 × 17 ÷ 100 = 34 women.
Data: approximate typical-use failure rates (percentage of women with an unintended pregnancy in the first year) from the US CDC contraceptive effectiveness chart: implant 0.1, copper IUD 0.8, injection 4, combined pill 7, male condom 13, diaphragm 17, spermicide 21, no method 85 (UNVERIFIED to the decimal; NHS figures are similar in pattern). "Typical use" includes mistakes such as missed pills; with perfect use the pill and condoms are much more effective (about 0.3 and 2). Node: 1000 × 13% = 130, implant 1, condom ÷ implant = 130 times.
The chart is to scale on the x axis (0–25). No PAG is linked to B5.5; this is a data-analysis activity.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3 (total 8 marks)
Q1 [2]: Oestrogen and progesterone inhibit FSH (and LH) (1); so no eggs mature / no ovulation (1). (Accept progesterone thickens cervical mucus for 1 mark.)
Q2 [2]: Condom (1); barrier that stops sperm (and pathogens) passing between partners / reaching the egg (1).
Q3 [2]: 500 × 7 ÷ 100 (1); = 35 (1).
Q4 [2]: Any two (1 each): more effective / lower failure rate; no need to remember daily; lasts about 3 years; progesterone only (if oestrogen unsuitable).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FSH stimulates eggs / follicles to mature (1); so several eggs mature and can be collected for fertilisation (1).
B5.5.4 "explain the use of hormones in modern reproductive technologies to treat infertility" (HT, inferred: Oak lists "Using hormones to treat infertility" in its OCR Combined Higher programme only). An OCR B mark scheme found in search extracts credits FSH for stimulating the ovaries in IVF. Step 6: the embryo is drawn as a small dot in the uterus cavity. Embryos are usually transferred at 2–5 days (ball of cells / blastocyst). Mitosis link: B4.3 (recap only). "In vitro" means "in glass", i.e. outside the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150 × 19 ÷ 100 = 28.5, so about 28–29 births (1). Transferring one embryo reduces the chance of multiple births (twins, triplets), which carry higher risks such as premature birth / low birth weight (1).
Data: approximate HFEA (UK) birth rates per embryo transferred, own fresh eggs, about 2019: under 35 32%, 35–37 25%, 38–39 19%, 40–42 11%, 43–44 5%, over 44 4% (values UNVERIFIED to the percent; the pattern of steep decline with age is well established). Node: 200 × 11% = 22; 200 × 32% = 64; ratio 2.909090909090909 ≈ 2.9.
B5.5.4 is "explain the use of hormones": the evaluation is context for 6-mark questions (IaS: weighing benefits, risks and ethics). Ovarian hyperstimulation syndrome is a possible hormone side effect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4 (total 8 marks)
Q1 [2]: FSH (1); LH (1).
Q2 [3]: Eggs collected from the ovaries (1); fertilised with sperm in a dish / in the lab (1); embryos (grow and) are placed / implanted in the uterus (1).
Q3 [2]: 200 × 25 ÷ 100 (1); = 50 (1).
Q4 [1]: Any one (1): multiple births (twins / triplets); side effects of hormones; low success rate / stress; expensive.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cover-and-recall activity. FSH/LH interactions (B5.5.2) and IVF (B5.5.4) are Higher tier (inferred).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full question (total 13 marks)
(a) [2]: (i) pituitary (gland) (1); (ii) ovary / ovaries (1).
(b) [2]: Oestrogen: makes the uterus lining build up / thicken / repair (1); LH: causes ovulation / release of an egg (1).
(c) [2]: About day 14 (1); the lining breaks down / is shed (menstruation / period) (1).
(d) [3]: Pill 400 × 7 ÷ 100 = 28 and condoms 400 × 13 ÷ 100 = 52 (1); difference = 24 (1); reason: protect against STIs / no hormonal side effects / only used when needed (1).
(e) [2]: Progesterone inhibits FSH and LH (release from the pituitary) (1); so no more eggs mature / no further ovulation (in that cycle) (1).
(f) [2]: FSH stimulates eggs / follicles to mature (1); so several eggs can be collected (and fertilised in the lab)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homework (total 17 marks)
1 [1]: The release of an egg from an ovary (1).
2 [2]: Testosterone (1); any one: sperm production / deeper voice / facial or body hair / muscle growth (1).
3 [2]: Maintains / keeps the uterus lining thick (1); when it falls the lining breaks down / menstruation starts (1).
4 [2]: Injection 12 and condoms 39 (1); 39 − 12 = 27 (1).
5 [2]: High oestrogen stimulates the pituitary to release LH / causes the LH surge (1); LH causes the egg to be released / ovulation (1).
6 [2]: Injections of FSH (and LH) (1); FSH makes eggs mature and LH causes ovulation, so she can become pregnant (1).
7 [6]: OCR level-of-response mark scheme (6 marks). Read the whole answer, decide the level from the content descriptor, then the mark within the level from the quality of the line of reasoning. Use the indicative scientific points below.
Level 3 (5–6 marks): Explains how at least one hormonal method works AND evaluates hormonal and non-hormonal methods using several criteria (e.g. effectiveness with data, STIs, side effects, convenience), reaching a justified conclusion. There is a well-developed line of reasoning which is clear and logically structured. The information presented is relevant and substantiated.
Level 2 (3–4 marks): Describes how a hormonal method works OR compares hormonal and non-hormonal methods on at least two criteria, with some evaluation. There is a line of reasoning presented with some structure. The information presented is relevant and supported by some evidence.
Level 1 (1–2 marks): Gives simple points about one or more methods, e.g. "condoms stop STIs" or "the pill has side effects". There is an attempt at a logical structure with a line of reasoning. The information is in the most part relevant.
0 marks: no response or no response worthy of credit.
Indicative scientific points may include:
 • Hormonal (combined pill, progesterone-only pill, implant, injection, IUS): oestrogen / progesterone inhibit FSH and LH so no egg matures and there is no ovulation; progesterone thickens cervical mucus.
 • Hormonal: very effective (implant about 0.1 in 100 per year; pill about 7 in 100 in typical use because pills are missed); implants and injections need no daily action.
 • Hormonal: possible side effects (headaches, mood changes, irregular bleeding, small risk of blood clots); no protection against STIs.
 • Non-hormonal barrier methods (condom, diaphragm): stop sperm reaching the egg; condoms protect against STIs; no hormonal side effects; used only when needed.
 • Non-hormonal: less effective in typical use (condom about 13, diaphragm about 17 in 100); must be used correctly every time; can split.
 • Other non-hormonal: copper IUD (very effective, lasts years); sterilisation (permanent, very effective); natural methods (no side effects but unreliable).
 • Conclusion: the best method depends on the person, e.g. a condom plus a hormonal method gives high effectiveness and STI protection.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D3E"/>
        </a:solidFill>
      </p:bgPr>
    </p:bg>
    <p:spTree>
      <p:nvGrpSpPr>
        <p:cNvPr id="1" name=""/>
        <p:cNvGrpSpPr/>
        <p:nvPr/>
      </p:nvGrpSpPr>
      <p:grpSpPr>
        <a:xfrm>
          <a:off x="0" y="0"/>
          <a:ext cx="0" cy="0"/>
          <a:chOff x="0" y="0"/>
          <a:chExt cx="0" cy="0"/>
        </a:xfrm>
      </p:grpSpPr>
      <p:sp>
        <p:nvSpPr>
          <p:cNvPr id="2" name="Shape 0"/>
          <p:cNvSpPr/>
          <p:nvPr/>
        </p:nvSpPr>
        <p:spPr>
          <a:xfrm>
            <a:off x="7589520" y="-1463040"/>
            <a:ext cx="6035040" cy="6035040"/>
          </a:xfrm>
          <a:prstGeom prst="ellipse">
            <a:avLst/>
          </a:prstGeom>
          <a:solidFill>
            <a:srgbClr val="0E7C7B"/>
          </a:solidFill>
          <a:ln w="12700">
            <a:solidFill>
              <a:srgbClr val="0E7C7B"/>
            </a:solidFill>
            <a:prstDash val="solid"/>
          </a:ln>
        </p:spPr>
      </p:sp>
      <p:sp>
        <p:nvSpPr>
          <p:cNvPr id="3" name="Shape 1"/>
          <p:cNvSpPr/>
          <p:nvPr/>
        </p:nvSpPr>
        <p:spPr>
          <a:xfrm>
            <a:off x="9326880" y="2377440"/>
            <a:ext cx="4937760" cy="4937760"/>
          </a:xfrm>
          <a:prstGeom prst="ellipse">
            <a:avLst/>
          </a:prstGeom>
          <a:solidFill>
            <a:srgbClr val="14A3A1">
              <a:alpha val="85000"/>
            </a:srgbClr>
          </a:solidFill>
          <a:ln w="12700">
            <a:solidFill>
              <a:srgbClr val="14A3A1"/>
            </a:solidFill>
            <a:prstDash val="solid"/>
          </a:ln>
        </p:spPr>
      </p:sp>
      <p:sp>
        <p:nvSpPr>
          <p:cNvPr id="4" name="Shape 2"/>
          <p:cNvSpPr/>
          <p:nvPr/>
        </p:nvSpPr>
        <p:spPr>
          <a:xfrm>
            <a:off x="0" y="0"/>
            <a:ext cx="164592" cy="6858000"/>
          </a:xfrm>
          <a:prstGeom prst="rect">
            <a:avLst/>
          </a:prstGeom>
          <a:solidFill>
            <a:srgbClr val="14A3A1"/>
          </a:solidFill>
          <a:ln w="12700">
            <a:solidFill>
              <a:srgbClr val="14A3A1"/>
            </a:solidFill>
            <a:prstDash val="solid"/>
          </a:ln>
        </p:spPr>
      </p:sp>
      <p:sp>
        <p:nvSpPr>
          <p:cNvPr id="5" name="Text 3"/>
          <p:cNvSpPr/>
          <p:nvPr/>
        </p:nvSpPr>
        <p:spPr>
          <a:xfrm>
            <a:off x="731520" y="822960"/>
            <a:ext cx="8686800" cy="320040"/>
          </a:xfrm>
          <a:prstGeom prst="rect">
            <a:avLst/>
          </a:prstGeom>
          <a:noFill/>
          <a:ln/>
        </p:spPr>
        <p:txBody>
          <a:bodyPr wrap="square" lIns="0" tIns="0" rIns="0" bIns="0" rtlCol="0" anchor="ctr"/>
          <a:lstStyle/>
          <a:p>
            <a:pPr indent="0" marL="0">
              <a:buNone/>
            </a:pPr>
            <a:r>
              <a:rPr lang="en-US" sz="1300" b="1" spc="400" kern="0" dirty="0">
                <a:solidFill>
                  <a:srgbClr val="8FD3CF"/>
                </a:solidFill>
                <a:latin typeface="Calibri" pitchFamily="34" charset="0"/>
                <a:ea typeface="Calibri" pitchFamily="34" charset="-122"/>
                <a:cs typeface="Calibri" pitchFamily="34" charset="-120"/>
              </a:rPr>
              <a:t>OCR GCSE COMBINED SCIENCE B (TWENTY FIRST CENTURY)</a:t>
            </a:r>
            <a:endParaRPr lang="en-US" sz="1300" dirty="0"/>
          </a:p>
        </p:txBody>
      </p:sp>
      <p:sp>
        <p:nvSpPr>
          <p:cNvPr id="6" name="Text 4"/>
          <p:cNvSpPr/>
          <p:nvPr/>
        </p:nvSpPr>
        <p:spPr>
          <a:xfrm>
            <a:off x="731520" y="1325880"/>
            <a:ext cx="9601200" cy="100584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B5.5  Reproductive hormones</a:t>
            </a:r>
            <a:endParaRPr lang="en-US" sz="4000" dirty="0"/>
          </a:p>
        </p:txBody>
      </p:sp>
      <p:sp>
        <p:nvSpPr>
          <p:cNvPr id="7" name="Text 5"/>
          <p:cNvSpPr/>
          <p:nvPr/>
        </p:nvSpPr>
        <p:spPr>
          <a:xfrm>
            <a:off x="731520" y="2377440"/>
            <a:ext cx="7863840" cy="457200"/>
          </a:xfrm>
          <a:prstGeom prst="rect">
            <a:avLst/>
          </a:prstGeom>
          <a:noFill/>
          <a:ln/>
        </p:spPr>
        <p:txBody>
          <a:bodyPr wrap="square" lIns="0" tIns="0" rIns="0" bIns="0" rtlCol="0" anchor="ctr"/>
          <a:lstStyle/>
          <a:p>
            <a:pPr indent="0" marL="0">
              <a:buNone/>
            </a:pPr>
            <a:r>
              <a:rPr lang="en-US" sz="1800" i="1" dirty="0">
                <a:solidFill>
                  <a:srgbClr val="C4E3E0"/>
                </a:solidFill>
                <a:latin typeface="Georgia" pitchFamily="34" charset="0"/>
                <a:ea typeface="Georgia" pitchFamily="34" charset="-122"/>
                <a:cs typeface="Georgia" pitchFamily="34" charset="-120"/>
              </a:rPr>
              <a:t>What role do hormones play in human reproduction?</a:t>
            </a:r>
            <a:endParaRPr lang="en-US" sz="1800" dirty="0"/>
          </a:p>
        </p:txBody>
      </p:sp>
      <p:sp>
        <p:nvSpPr>
          <p:cNvPr id="8" name="Shape 6"/>
          <p:cNvSpPr/>
          <p:nvPr/>
        </p:nvSpPr>
        <p:spPr>
          <a:xfrm>
            <a:off x="731520" y="3017520"/>
            <a:ext cx="2011680" cy="0"/>
          </a:xfrm>
          <a:prstGeom prst="line">
            <a:avLst/>
          </a:prstGeom>
          <a:noFill/>
          <a:ln w="31750">
            <a:solidFill>
              <a:srgbClr val="F5A742"/>
            </a:solidFill>
            <a:prstDash val="solid"/>
          </a:ln>
        </p:spPr>
      </p:sp>
      <p:sp>
        <p:nvSpPr>
          <p:cNvPr id="9" name="Text 7"/>
          <p:cNvSpPr/>
          <p:nvPr/>
        </p:nvSpPr>
        <p:spPr>
          <a:xfrm>
            <a:off x="731520" y="3154680"/>
            <a:ext cx="8046720" cy="365760"/>
          </a:xfrm>
          <a:prstGeom prst="rect">
            <a:avLst/>
          </a:prstGeom>
          <a:noFill/>
          <a:ln/>
        </p:spPr>
        <p:txBody>
          <a:bodyPr wrap="square" lIns="0" tIns="0" rIns="0" bIns="0" rtlCol="0" anchor="ctr"/>
          <a:lstStyle/>
          <a:p>
            <a:pPr indent="0" marL="0">
              <a:buNone/>
            </a:pPr>
            <a:r>
              <a:rPr lang="en-US" sz="1300" dirty="0">
                <a:solidFill>
                  <a:srgbClr val="D6ECEA"/>
                </a:solidFill>
                <a:latin typeface="Calibri" pitchFamily="34" charset="0"/>
                <a:ea typeface="Calibri" pitchFamily="34" charset="-122"/>
                <a:cs typeface="Calibri" pitchFamily="34" charset="-120"/>
              </a:rPr>
              <a:t>Oestrogen  •  Progesterone  •  Testosterone  •  FSH  •  LH  •  Menstrual cycle  •  Contraception  •  IVF</a:t>
            </a:r>
            <a:endParaRPr lang="en-US" sz="1300" dirty="0"/>
          </a:p>
        </p:txBody>
      </p:sp>
      <p:sp>
        <p:nvSpPr>
          <p:cNvPr id="10" name="Shape 8"/>
          <p:cNvSpPr/>
          <p:nvPr/>
        </p:nvSpPr>
        <p:spPr>
          <a:xfrm>
            <a:off x="731520" y="3886200"/>
            <a:ext cx="457200" cy="457200"/>
          </a:xfrm>
          <a:prstGeom prst="ellipse">
            <a:avLst/>
          </a:prstGeom>
          <a:solidFill>
            <a:srgbClr val="14A3A1"/>
          </a:solidFill>
          <a:ln w="12700">
            <a:solidFill>
              <a:srgbClr val="8FD3CF"/>
            </a:solidFill>
            <a:prstDash val="solid"/>
          </a:ln>
        </p:spPr>
      </p:sp>
      <p:sp>
        <p:nvSpPr>
          <p:cNvPr id="11" name="Text 9"/>
          <p:cNvSpPr/>
          <p:nvPr/>
        </p:nvSpPr>
        <p:spPr>
          <a:xfrm>
            <a:off x="731520" y="3886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371600" y="3886200"/>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Specification B5.5.1–B5.5.4 • sex hormones, the menstrual cycle, contraception, infertility</a:t>
            </a:r>
            <a:endParaRPr lang="en-US" sz="1400" dirty="0"/>
          </a:p>
        </p:txBody>
      </p:sp>
      <p:sp>
        <p:nvSpPr>
          <p:cNvPr id="13" name="Shape 11"/>
          <p:cNvSpPr/>
          <p:nvPr/>
        </p:nvSpPr>
        <p:spPr>
          <a:xfrm>
            <a:off x="731520" y="4507992"/>
            <a:ext cx="457200" cy="457200"/>
          </a:xfrm>
          <a:prstGeom prst="ellipse">
            <a:avLst/>
          </a:prstGeom>
          <a:solidFill>
            <a:srgbClr val="14A3A1"/>
          </a:solidFill>
          <a:ln w="12700">
            <a:solidFill>
              <a:srgbClr val="8FD3CF"/>
            </a:solidFill>
            <a:prstDash val="solid"/>
          </a:ln>
        </p:spPr>
      </p:sp>
      <p:sp>
        <p:nvSpPr>
          <p:cNvPr id="14" name="Text 12"/>
          <p:cNvSpPr/>
          <p:nvPr/>
        </p:nvSpPr>
        <p:spPr>
          <a:xfrm>
            <a:off x="731520" y="45079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t>
            </a:r>
            <a:endParaRPr lang="en-US" sz="1500" dirty="0"/>
          </a:p>
        </p:txBody>
      </p:sp>
      <p:sp>
        <p:nvSpPr>
          <p:cNvPr id="15" name="Text 13"/>
          <p:cNvSpPr/>
          <p:nvPr/>
        </p:nvSpPr>
        <p:spPr>
          <a:xfrm>
            <a:off x="1371600" y="4507992"/>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Higher &amp; Foundation in one deck • B5.5.2 (hormone interactions) and B5.5.4 (infertility, IVF) marked HT</a:t>
            </a:r>
            <a:endParaRPr lang="en-US" sz="1400" dirty="0"/>
          </a:p>
        </p:txBody>
      </p:sp>
      <p:sp>
        <p:nvSpPr>
          <p:cNvPr id="16" name="Shape 14"/>
          <p:cNvSpPr/>
          <p:nvPr/>
        </p:nvSpPr>
        <p:spPr>
          <a:xfrm>
            <a:off x="731520" y="5129784"/>
            <a:ext cx="457200" cy="457200"/>
          </a:xfrm>
          <a:prstGeom prst="ellipse">
            <a:avLst/>
          </a:prstGeom>
          <a:solidFill>
            <a:srgbClr val="14A3A1"/>
          </a:solidFill>
          <a:ln w="12700">
            <a:solidFill>
              <a:srgbClr val="8FD3CF"/>
            </a:solidFill>
            <a:prstDash val="solid"/>
          </a:ln>
        </p:spPr>
      </p:sp>
      <p:sp>
        <p:nvSpPr>
          <p:cNvPr id="17" name="Text 15"/>
          <p:cNvSpPr/>
          <p:nvPr/>
        </p:nvSpPr>
        <p:spPr>
          <a:xfrm>
            <a:off x="731520" y="51297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8" name="Text 16"/>
          <p:cNvSpPr/>
          <p:nvPr/>
        </p:nvSpPr>
        <p:spPr>
          <a:xfrm>
            <a:off x="1371600" y="5129784"/>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Puberty • FSH, LH, oestrogen, progesterone • 28-day hormone graphs • evaluating methods</a:t>
            </a:r>
            <a:endParaRPr lang="en-US" sz="1400" dirty="0"/>
          </a:p>
        </p:txBody>
      </p:sp>
      <p:sp>
        <p:nvSpPr>
          <p:cNvPr id="19" name="Shape 17"/>
          <p:cNvSpPr/>
          <p:nvPr/>
        </p:nvSpPr>
        <p:spPr>
          <a:xfrm>
            <a:off x="731520" y="5769864"/>
            <a:ext cx="5408676" cy="365760"/>
          </a:xfrm>
          <a:prstGeom prst="roundRect">
            <a:avLst>
              <a:gd name="adj" fmla="val 50000"/>
            </a:avLst>
          </a:prstGeom>
          <a:solidFill>
            <a:srgbClr val="0B2E2F"/>
          </a:solidFill>
          <a:ln w="15875">
            <a:solidFill>
              <a:srgbClr val="F5A742"/>
            </a:solidFill>
            <a:prstDash val="solid"/>
          </a:ln>
        </p:spPr>
      </p:sp>
      <p:sp>
        <p:nvSpPr>
          <p:cNvPr id="20" name="Text 18"/>
          <p:cNvSpPr/>
          <p:nvPr/>
        </p:nvSpPr>
        <p:spPr>
          <a:xfrm>
            <a:off x="731520" y="5769864"/>
            <a:ext cx="5408676" cy="365760"/>
          </a:xfrm>
          <a:prstGeom prst="rect">
            <a:avLst/>
          </a:prstGeom>
          <a:noFill/>
          <a:ln/>
        </p:spPr>
        <p:txBody>
          <a:bodyPr wrap="square" lIns="0" tIns="0" rIns="0" bIns="0" rtlCol="0" anchor="ctr"/>
          <a:lstStyle/>
          <a:p>
            <a:pPr algn="ctr" indent="0" marL="0">
              <a:buNone/>
            </a:pPr>
            <a:r>
              <a:rPr lang="en-US" sz="1200" b="1" dirty="0">
                <a:solidFill>
                  <a:srgbClr val="F5A742"/>
                </a:solidFill>
                <a:latin typeface="Calibri" pitchFamily="34" charset="0"/>
                <a:ea typeface="Calibri" pitchFamily="34" charset="-122"/>
                <a:cs typeface="Calibri" pitchFamily="34" charset="-120"/>
              </a:rPr>
              <a:t>Part 5 of 6 in Chapter B5: The human body – staying alive</a:t>
            </a:r>
            <a:endParaRPr lang="en-US" sz="1200" dirty="0"/>
          </a:p>
        </p:txBody>
      </p:sp>
      <p:sp>
        <p:nvSpPr>
          <p:cNvPr id="21" name="Text 19"/>
          <p:cNvSpPr/>
          <p:nvPr/>
        </p:nvSpPr>
        <p:spPr>
          <a:xfrm>
            <a:off x="731520" y="6172200"/>
            <a:ext cx="8229600" cy="274320"/>
          </a:xfrm>
          <a:prstGeom prst="rect">
            <a:avLst/>
          </a:prstGeom>
          <a:noFill/>
          <a:ln/>
        </p:spPr>
        <p:txBody>
          <a:bodyPr wrap="square" lIns="0" tIns="0" rIns="0" bIns="0" rtlCol="0" anchor="ctr"/>
          <a:lstStyle/>
          <a:p>
            <a:pPr indent="0" marL="0">
              <a:buNone/>
            </a:pPr>
            <a:r>
              <a:rPr lang="en-US" sz="1000" i="1" dirty="0">
                <a:solidFill>
                  <a:srgbClr val="CFE7E5"/>
                </a:solidFill>
                <a:latin typeface="Calibri" pitchFamily="34" charset="0"/>
                <a:ea typeface="Calibri" pitchFamily="34" charset="-122"/>
                <a:cs typeface="Calibri" pitchFamily="34" charset="-120"/>
              </a:rPr>
              <a:t>OCR J260 Combined Science B • B5.5 What role do hormones play in human reproduction? • teacher deck • mark schemes and answers in the speaker notes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Learning objectives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B5.5.1–B5.5.4 • by the end of this sub-topic you can…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B5.5 What role do hormones play in human reproduction?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Objectives  |  2</a:t>
            </a:r>
            <a:endParaRPr lang="en-US" sz="1000" dirty="0"/>
          </a:p>
        </p:txBody>
      </p:sp>
      <p:sp>
        <p:nvSpPr>
          <p:cNvPr id="8" name="Shape 6"/>
          <p:cNvSpPr/>
          <p:nvPr/>
        </p:nvSpPr>
        <p:spPr>
          <a:xfrm>
            <a:off x="502920" y="1325880"/>
            <a:ext cx="457200" cy="457200"/>
          </a:xfrm>
          <a:prstGeom prst="ellipse">
            <a:avLst/>
          </a:prstGeom>
          <a:solidFill>
            <a:srgbClr val="0D7877"/>
          </a:solidFill>
          <a:ln w="12700">
            <a:solidFill>
              <a:srgbClr val="0D7877"/>
            </a:solidFill>
            <a:prstDash val="solid"/>
          </a:ln>
        </p:spPr>
      </p:sp>
      <p:sp>
        <p:nvSpPr>
          <p:cNvPr id="9" name="Text 7"/>
          <p:cNvSpPr/>
          <p:nvPr/>
        </p:nvSpPr>
        <p:spPr>
          <a:xfrm>
            <a:off x="50292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0" name="Text 8"/>
          <p:cNvSpPr/>
          <p:nvPr/>
        </p:nvSpPr>
        <p:spPr>
          <a:xfrm>
            <a:off x="1097280" y="128016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B5.5.1   </a:t>
            </a:r>
            <a:r>
              <a:rPr lang="en-US" sz="1200" dirty="0">
                <a:solidFill>
                  <a:srgbClr val="262B3A"/>
                </a:solidFill>
                <a:latin typeface="Calibri" pitchFamily="34" charset="0"/>
                <a:ea typeface="Calibri" pitchFamily="34" charset="-122"/>
                <a:cs typeface="Calibri" pitchFamily="34" charset="-120"/>
              </a:rPr>
              <a:t>Name the </a:t>
            </a:r>
            <a:r>
              <a:rPr lang="en-US" sz="1200" b="1" dirty="0">
                <a:solidFill>
                  <a:srgbClr val="262B3A"/>
                </a:solidFill>
                <a:latin typeface="Calibri" pitchFamily="34" charset="0"/>
                <a:ea typeface="Calibri" pitchFamily="34" charset="-122"/>
                <a:cs typeface="Calibri" pitchFamily="34" charset="-120"/>
              </a:rPr>
              <a:t>sex hormones</a:t>
            </a:r>
            <a:r>
              <a:rPr lang="en-US" sz="1200" dirty="0">
                <a:solidFill>
                  <a:srgbClr val="262B3A"/>
                </a:solidFill>
                <a:latin typeface="Calibri" pitchFamily="34" charset="0"/>
                <a:ea typeface="Calibri" pitchFamily="34" charset="-122"/>
                <a:cs typeface="Calibri" pitchFamily="34" charset="-120"/>
              </a:rPr>
              <a:t> (oestrogen, progesterone, testosterone) and the glands that make them.</a:t>
            </a:r>
            <a:endParaRPr lang="en-US" sz="1100" dirty="0"/>
          </a:p>
        </p:txBody>
      </p:sp>
      <p:sp>
        <p:nvSpPr>
          <p:cNvPr id="11" name="Shape 9"/>
          <p:cNvSpPr/>
          <p:nvPr/>
        </p:nvSpPr>
        <p:spPr>
          <a:xfrm>
            <a:off x="502920" y="2194560"/>
            <a:ext cx="457200" cy="457200"/>
          </a:xfrm>
          <a:prstGeom prst="ellipse">
            <a:avLst/>
          </a:prstGeom>
          <a:solidFill>
            <a:srgbClr val="0D7877"/>
          </a:solidFill>
          <a:ln w="12700">
            <a:solidFill>
              <a:srgbClr val="0D7877"/>
            </a:solidFill>
            <a:prstDash val="solid"/>
          </a:ln>
        </p:spPr>
      </p:sp>
      <p:sp>
        <p:nvSpPr>
          <p:cNvPr id="12" name="Text 10"/>
          <p:cNvSpPr/>
          <p:nvPr/>
        </p:nvSpPr>
        <p:spPr>
          <a:xfrm>
            <a:off x="50292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1097280" y="214884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B5.5.1   </a:t>
            </a:r>
            <a:r>
              <a:rPr lang="en-US" sz="1200" dirty="0">
                <a:solidFill>
                  <a:srgbClr val="262B3A"/>
                </a:solidFill>
                <a:latin typeface="Calibri" pitchFamily="34" charset="0"/>
                <a:ea typeface="Calibri" pitchFamily="34" charset="-122"/>
                <a:cs typeface="Calibri" pitchFamily="34" charset="-120"/>
              </a:rPr>
              <a:t>Describe how sex hormones cause the changes at </a:t>
            </a:r>
            <a:r>
              <a:rPr lang="en-US" sz="1200" b="1" dirty="0">
                <a:solidFill>
                  <a:srgbClr val="262B3A"/>
                </a:solidFill>
                <a:latin typeface="Calibri" pitchFamily="34" charset="0"/>
                <a:ea typeface="Calibri" pitchFamily="34" charset="-122"/>
                <a:cs typeface="Calibri" pitchFamily="34" charset="-120"/>
              </a:rPr>
              <a:t>puberty</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14" name="Shape 12"/>
          <p:cNvSpPr/>
          <p:nvPr/>
        </p:nvSpPr>
        <p:spPr>
          <a:xfrm>
            <a:off x="502920" y="3063240"/>
            <a:ext cx="457200" cy="457200"/>
          </a:xfrm>
          <a:prstGeom prst="ellipse">
            <a:avLst/>
          </a:prstGeom>
          <a:solidFill>
            <a:srgbClr val="0D7877"/>
          </a:solidFill>
          <a:ln w="12700">
            <a:solidFill>
              <a:srgbClr val="0D7877"/>
            </a:solidFill>
            <a:prstDash val="solid"/>
          </a:ln>
        </p:spPr>
      </p:sp>
      <p:sp>
        <p:nvSpPr>
          <p:cNvPr id="15" name="Text 13"/>
          <p:cNvSpPr/>
          <p:nvPr/>
        </p:nvSpPr>
        <p:spPr>
          <a:xfrm>
            <a:off x="50292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6" name="Text 14"/>
          <p:cNvSpPr/>
          <p:nvPr/>
        </p:nvSpPr>
        <p:spPr>
          <a:xfrm>
            <a:off x="1097280" y="301752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B5.5.1   </a:t>
            </a:r>
            <a:r>
              <a:rPr lang="en-US" sz="1200" dirty="0">
                <a:solidFill>
                  <a:srgbClr val="262B3A"/>
                </a:solidFill>
                <a:latin typeface="Calibri" pitchFamily="34" charset="0"/>
                <a:ea typeface="Calibri" pitchFamily="34" charset="-122"/>
                <a:cs typeface="Calibri" pitchFamily="34" charset="-120"/>
              </a:rPr>
              <a:t>Describe the stages of the </a:t>
            </a:r>
            <a:r>
              <a:rPr lang="en-US" sz="1200" b="1" dirty="0">
                <a:solidFill>
                  <a:srgbClr val="262B3A"/>
                </a:solidFill>
                <a:latin typeface="Calibri" pitchFamily="34" charset="0"/>
                <a:ea typeface="Calibri" pitchFamily="34" charset="-122"/>
                <a:cs typeface="Calibri" pitchFamily="34" charset="-120"/>
              </a:rPr>
              <a:t>menstrual cycle</a:t>
            </a:r>
            <a:r>
              <a:rPr lang="en-US" sz="1200" dirty="0">
                <a:solidFill>
                  <a:srgbClr val="262B3A"/>
                </a:solidFill>
                <a:latin typeface="Calibri" pitchFamily="34" charset="0"/>
                <a:ea typeface="Calibri" pitchFamily="34" charset="-122"/>
                <a:cs typeface="Calibri" pitchFamily="34" charset="-120"/>
              </a:rPr>
              <a:t>: menstruation, the lining building up, </a:t>
            </a:r>
            <a:r>
              <a:rPr lang="en-US" sz="1200" b="1" dirty="0">
                <a:solidFill>
                  <a:srgbClr val="262B3A"/>
                </a:solidFill>
                <a:latin typeface="Calibri" pitchFamily="34" charset="0"/>
                <a:ea typeface="Calibri" pitchFamily="34" charset="-122"/>
                <a:cs typeface="Calibri" pitchFamily="34" charset="-120"/>
              </a:rPr>
              <a:t>ovulation</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17" name="Shape 15"/>
          <p:cNvSpPr/>
          <p:nvPr/>
        </p:nvSpPr>
        <p:spPr>
          <a:xfrm>
            <a:off x="502920" y="3931920"/>
            <a:ext cx="457200" cy="457200"/>
          </a:xfrm>
          <a:prstGeom prst="ellipse">
            <a:avLst/>
          </a:prstGeom>
          <a:solidFill>
            <a:srgbClr val="0D7877"/>
          </a:solidFill>
          <a:ln w="12700">
            <a:solidFill>
              <a:srgbClr val="0D7877"/>
            </a:solidFill>
            <a:prstDash val="solid"/>
          </a:ln>
        </p:spPr>
      </p:sp>
      <p:sp>
        <p:nvSpPr>
          <p:cNvPr id="18" name="Text 16"/>
          <p:cNvSpPr/>
          <p:nvPr/>
        </p:nvSpPr>
        <p:spPr>
          <a:xfrm>
            <a:off x="50292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19" name="Text 17"/>
          <p:cNvSpPr/>
          <p:nvPr/>
        </p:nvSpPr>
        <p:spPr>
          <a:xfrm>
            <a:off x="1097280" y="388620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B5.5.1   </a:t>
            </a:r>
            <a:r>
              <a:rPr lang="en-US" sz="1200" dirty="0">
                <a:solidFill>
                  <a:srgbClr val="262B3A"/>
                </a:solidFill>
                <a:latin typeface="Calibri" pitchFamily="34" charset="0"/>
                <a:ea typeface="Calibri" pitchFamily="34" charset="-122"/>
                <a:cs typeface="Calibri" pitchFamily="34" charset="-120"/>
              </a:rPr>
              <a:t>Describe the roles of </a:t>
            </a:r>
            <a:r>
              <a:rPr lang="en-US" sz="1200" b="1" dirty="0">
                <a:solidFill>
                  <a:srgbClr val="262B3A"/>
                </a:solidFill>
                <a:latin typeface="Calibri" pitchFamily="34" charset="0"/>
                <a:ea typeface="Calibri" pitchFamily="34" charset="-122"/>
                <a:cs typeface="Calibri" pitchFamily="34" charset="-120"/>
              </a:rPr>
              <a:t>FSH</a:t>
            </a:r>
            <a:r>
              <a:rPr lang="en-US" sz="1200" dirty="0">
                <a:solidFill>
                  <a:srgbClr val="262B3A"/>
                </a:solidFill>
                <a:latin typeface="Calibri" pitchFamily="34" charset="0"/>
                <a:ea typeface="Calibri" pitchFamily="34" charset="-122"/>
                <a:cs typeface="Calibri" pitchFamily="34" charset="-120"/>
              </a:rPr>
              <a:t>, </a:t>
            </a:r>
            <a:r>
              <a:rPr lang="en-US" sz="1200" b="1" dirty="0">
                <a:solidFill>
                  <a:srgbClr val="262B3A"/>
                </a:solidFill>
                <a:latin typeface="Calibri" pitchFamily="34" charset="0"/>
                <a:ea typeface="Calibri" pitchFamily="34" charset="-122"/>
                <a:cs typeface="Calibri" pitchFamily="34" charset="-120"/>
              </a:rPr>
              <a:t>LH</a:t>
            </a:r>
            <a:r>
              <a:rPr lang="en-US" sz="1200" dirty="0">
                <a:solidFill>
                  <a:srgbClr val="262B3A"/>
                </a:solidFill>
                <a:latin typeface="Calibri" pitchFamily="34" charset="0"/>
                <a:ea typeface="Calibri" pitchFamily="34" charset="-122"/>
                <a:cs typeface="Calibri" pitchFamily="34" charset="-120"/>
              </a:rPr>
              <a:t>, </a:t>
            </a:r>
            <a:r>
              <a:rPr lang="en-US" sz="1200" b="1" dirty="0">
                <a:solidFill>
                  <a:srgbClr val="262B3A"/>
                </a:solidFill>
                <a:latin typeface="Calibri" pitchFamily="34" charset="0"/>
                <a:ea typeface="Calibri" pitchFamily="34" charset="-122"/>
                <a:cs typeface="Calibri" pitchFamily="34" charset="-120"/>
              </a:rPr>
              <a:t>oestrogen</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progesterone</a:t>
            </a:r>
            <a:r>
              <a:rPr lang="en-US" sz="1200" dirty="0">
                <a:solidFill>
                  <a:srgbClr val="262B3A"/>
                </a:solidFill>
                <a:latin typeface="Calibri" pitchFamily="34" charset="0"/>
                <a:ea typeface="Calibri" pitchFamily="34" charset="-122"/>
                <a:cs typeface="Calibri" pitchFamily="34" charset="-120"/>
              </a:rPr>
              <a:t> in the menstrual cycle.</a:t>
            </a:r>
            <a:endParaRPr lang="en-US" sz="1100" dirty="0"/>
          </a:p>
        </p:txBody>
      </p:sp>
      <p:sp>
        <p:nvSpPr>
          <p:cNvPr id="20" name="Shape 18"/>
          <p:cNvSpPr/>
          <p:nvPr/>
        </p:nvSpPr>
        <p:spPr>
          <a:xfrm>
            <a:off x="6263640" y="1325880"/>
            <a:ext cx="457200" cy="457200"/>
          </a:xfrm>
          <a:prstGeom prst="ellipse">
            <a:avLst/>
          </a:prstGeom>
          <a:solidFill>
            <a:srgbClr val="0D7877"/>
          </a:solidFill>
          <a:ln w="12700">
            <a:solidFill>
              <a:srgbClr val="0D7877"/>
            </a:solidFill>
            <a:prstDash val="solid"/>
          </a:ln>
        </p:spPr>
      </p:sp>
      <p:sp>
        <p:nvSpPr>
          <p:cNvPr id="21" name="Text 19"/>
          <p:cNvSpPr/>
          <p:nvPr/>
        </p:nvSpPr>
        <p:spPr>
          <a:xfrm>
            <a:off x="626364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2" name="Text 20"/>
          <p:cNvSpPr/>
          <p:nvPr/>
        </p:nvSpPr>
        <p:spPr>
          <a:xfrm>
            <a:off x="6858000" y="128016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B5.5.2   </a:t>
            </a:r>
            <a:r>
              <a:rPr lang="en-US" sz="1200" dirty="0">
                <a:solidFill>
                  <a:srgbClr val="262B3A"/>
                </a:solidFill>
                <a:latin typeface="Calibri" pitchFamily="34" charset="0"/>
                <a:ea typeface="Calibri" pitchFamily="34" charset="-122"/>
                <a:cs typeface="Calibri" pitchFamily="34" charset="-120"/>
              </a:rPr>
              <a:t>Explain how the four hormones </a:t>
            </a:r>
            <a:r>
              <a:rPr lang="en-US" sz="1200" b="1" dirty="0">
                <a:solidFill>
                  <a:srgbClr val="262B3A"/>
                </a:solidFill>
                <a:latin typeface="Calibri" pitchFamily="34" charset="0"/>
                <a:ea typeface="Calibri" pitchFamily="34" charset="-122"/>
                <a:cs typeface="Calibri" pitchFamily="34" charset="-120"/>
              </a:rPr>
              <a:t>interact</a:t>
            </a:r>
            <a:r>
              <a:rPr lang="en-US" sz="1200" dirty="0">
                <a:solidFill>
                  <a:srgbClr val="262B3A"/>
                </a:solidFill>
                <a:latin typeface="Calibri" pitchFamily="34" charset="0"/>
                <a:ea typeface="Calibri" pitchFamily="34" charset="-122"/>
                <a:cs typeface="Calibri" pitchFamily="34" charset="-120"/>
              </a:rPr>
              <a:t>, and read a </a:t>
            </a:r>
            <a:r>
              <a:rPr lang="en-US" sz="1200" b="1" dirty="0">
                <a:solidFill>
                  <a:srgbClr val="262B3A"/>
                </a:solidFill>
                <a:latin typeface="Calibri" pitchFamily="34" charset="0"/>
                <a:ea typeface="Calibri" pitchFamily="34" charset="-122"/>
                <a:cs typeface="Calibri" pitchFamily="34" charset="-120"/>
              </a:rPr>
              <a:t>graph</a:t>
            </a:r>
            <a:r>
              <a:rPr lang="en-US" sz="1200" dirty="0">
                <a:solidFill>
                  <a:srgbClr val="262B3A"/>
                </a:solidFill>
                <a:latin typeface="Calibri" pitchFamily="34" charset="0"/>
                <a:ea typeface="Calibri" pitchFamily="34" charset="-122"/>
                <a:cs typeface="Calibri" pitchFamily="34" charset="-120"/>
              </a:rPr>
              <a:t> of hormone levels over 28 days.</a:t>
            </a:r>
            <a:endParaRPr lang="en-US" sz="1100" dirty="0"/>
          </a:p>
        </p:txBody>
      </p:sp>
      <p:sp>
        <p:nvSpPr>
          <p:cNvPr id="23" name="Shape 21"/>
          <p:cNvSpPr/>
          <p:nvPr/>
        </p:nvSpPr>
        <p:spPr>
          <a:xfrm>
            <a:off x="11018520" y="1764792"/>
            <a:ext cx="411480" cy="274320"/>
          </a:xfrm>
          <a:prstGeom prst="roundRect">
            <a:avLst>
              <a:gd name="adj" fmla="val 50000"/>
            </a:avLst>
          </a:prstGeom>
          <a:solidFill>
            <a:srgbClr val="C8414C"/>
          </a:solidFill>
          <a:ln w="12700">
            <a:solidFill>
              <a:srgbClr val="C8414C"/>
            </a:solidFill>
            <a:prstDash val="solid"/>
          </a:ln>
        </p:spPr>
      </p:sp>
      <p:sp>
        <p:nvSpPr>
          <p:cNvPr id="24" name="Text 22"/>
          <p:cNvSpPr/>
          <p:nvPr/>
        </p:nvSpPr>
        <p:spPr>
          <a:xfrm>
            <a:off x="11018520" y="176479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5" name="Shape 23"/>
          <p:cNvSpPr/>
          <p:nvPr/>
        </p:nvSpPr>
        <p:spPr>
          <a:xfrm>
            <a:off x="6263640" y="2194560"/>
            <a:ext cx="457200" cy="457200"/>
          </a:xfrm>
          <a:prstGeom prst="ellipse">
            <a:avLst/>
          </a:prstGeom>
          <a:solidFill>
            <a:srgbClr val="0D7877"/>
          </a:solidFill>
          <a:ln w="12700">
            <a:solidFill>
              <a:srgbClr val="0D7877"/>
            </a:solidFill>
            <a:prstDash val="solid"/>
          </a:ln>
        </p:spPr>
      </p:sp>
      <p:sp>
        <p:nvSpPr>
          <p:cNvPr id="26" name="Text 24"/>
          <p:cNvSpPr/>
          <p:nvPr/>
        </p:nvSpPr>
        <p:spPr>
          <a:xfrm>
            <a:off x="626364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27" name="Text 25"/>
          <p:cNvSpPr/>
          <p:nvPr/>
        </p:nvSpPr>
        <p:spPr>
          <a:xfrm>
            <a:off x="6858000" y="214884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B5.5.3   </a:t>
            </a:r>
            <a:r>
              <a:rPr lang="en-US" sz="1200" dirty="0">
                <a:solidFill>
                  <a:srgbClr val="262B3A"/>
                </a:solidFill>
                <a:latin typeface="Calibri" pitchFamily="34" charset="0"/>
                <a:ea typeface="Calibri" pitchFamily="34" charset="-122"/>
                <a:cs typeface="Calibri" pitchFamily="34" charset="-120"/>
              </a:rPr>
              <a:t>Explain how </a:t>
            </a:r>
            <a:r>
              <a:rPr lang="en-US" sz="1200" b="1" dirty="0">
                <a:solidFill>
                  <a:srgbClr val="262B3A"/>
                </a:solidFill>
                <a:latin typeface="Calibri" pitchFamily="34" charset="0"/>
                <a:ea typeface="Calibri" pitchFamily="34" charset="-122"/>
                <a:cs typeface="Calibri" pitchFamily="34" charset="-120"/>
              </a:rPr>
              <a:t>hormones</a:t>
            </a:r>
            <a:r>
              <a:rPr lang="en-US" sz="1200" dirty="0">
                <a:solidFill>
                  <a:srgbClr val="262B3A"/>
                </a:solidFill>
                <a:latin typeface="Calibri" pitchFamily="34" charset="0"/>
                <a:ea typeface="Calibri" pitchFamily="34" charset="-122"/>
                <a:cs typeface="Calibri" pitchFamily="34" charset="-120"/>
              </a:rPr>
              <a:t> are used in </a:t>
            </a:r>
            <a:r>
              <a:rPr lang="en-US" sz="1200" b="1" dirty="0">
                <a:solidFill>
                  <a:srgbClr val="262B3A"/>
                </a:solidFill>
                <a:latin typeface="Calibri" pitchFamily="34" charset="0"/>
                <a:ea typeface="Calibri" pitchFamily="34" charset="-122"/>
                <a:cs typeface="Calibri" pitchFamily="34" charset="-120"/>
              </a:rPr>
              <a:t>contraception</a:t>
            </a:r>
            <a:r>
              <a:rPr lang="en-US" sz="1200" dirty="0">
                <a:solidFill>
                  <a:srgbClr val="262B3A"/>
                </a:solidFill>
                <a:latin typeface="Calibri" pitchFamily="34" charset="0"/>
                <a:ea typeface="Calibri" pitchFamily="34" charset="-122"/>
                <a:cs typeface="Calibri" pitchFamily="34" charset="-120"/>
              </a:rPr>
              <a:t> (pill, implant, injection).</a:t>
            </a:r>
            <a:endParaRPr lang="en-US" sz="1100" dirty="0"/>
          </a:p>
        </p:txBody>
      </p:sp>
      <p:sp>
        <p:nvSpPr>
          <p:cNvPr id="28" name="Shape 26"/>
          <p:cNvSpPr/>
          <p:nvPr/>
        </p:nvSpPr>
        <p:spPr>
          <a:xfrm>
            <a:off x="6263640" y="3063240"/>
            <a:ext cx="457200" cy="457200"/>
          </a:xfrm>
          <a:prstGeom prst="ellipse">
            <a:avLst/>
          </a:prstGeom>
          <a:solidFill>
            <a:srgbClr val="0D7877"/>
          </a:solidFill>
          <a:ln w="12700">
            <a:solidFill>
              <a:srgbClr val="0D7877"/>
            </a:solidFill>
            <a:prstDash val="solid"/>
          </a:ln>
        </p:spPr>
      </p:sp>
      <p:sp>
        <p:nvSpPr>
          <p:cNvPr id="29" name="Text 27"/>
          <p:cNvSpPr/>
          <p:nvPr/>
        </p:nvSpPr>
        <p:spPr>
          <a:xfrm>
            <a:off x="626364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7</a:t>
            </a:r>
            <a:endParaRPr lang="en-US" sz="1600" dirty="0"/>
          </a:p>
        </p:txBody>
      </p:sp>
      <p:sp>
        <p:nvSpPr>
          <p:cNvPr id="30" name="Text 28"/>
          <p:cNvSpPr/>
          <p:nvPr/>
        </p:nvSpPr>
        <p:spPr>
          <a:xfrm>
            <a:off x="6858000" y="301752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B5.5.3   </a:t>
            </a:r>
            <a:r>
              <a:rPr lang="en-US" sz="1200" b="1" dirty="0">
                <a:solidFill>
                  <a:srgbClr val="262B3A"/>
                </a:solidFill>
                <a:latin typeface="Calibri" pitchFamily="34" charset="0"/>
                <a:ea typeface="Calibri" pitchFamily="34" charset="-122"/>
                <a:cs typeface="Calibri" pitchFamily="34" charset="-120"/>
              </a:rPr>
              <a:t>Evaluate</a:t>
            </a:r>
            <a:r>
              <a:rPr lang="en-US" sz="1200" dirty="0">
                <a:solidFill>
                  <a:srgbClr val="262B3A"/>
                </a:solidFill>
                <a:latin typeface="Calibri" pitchFamily="34" charset="0"/>
                <a:ea typeface="Calibri" pitchFamily="34" charset="-122"/>
                <a:cs typeface="Calibri" pitchFamily="34" charset="-120"/>
              </a:rPr>
              <a:t> hormonal and non-hormonal methods of contraception, using data.</a:t>
            </a:r>
            <a:endParaRPr lang="en-US" sz="1100" dirty="0"/>
          </a:p>
        </p:txBody>
      </p:sp>
      <p:sp>
        <p:nvSpPr>
          <p:cNvPr id="31" name="Shape 29"/>
          <p:cNvSpPr/>
          <p:nvPr/>
        </p:nvSpPr>
        <p:spPr>
          <a:xfrm>
            <a:off x="6263640" y="3931920"/>
            <a:ext cx="457200" cy="457200"/>
          </a:xfrm>
          <a:prstGeom prst="ellipse">
            <a:avLst/>
          </a:prstGeom>
          <a:solidFill>
            <a:srgbClr val="0D7877"/>
          </a:solidFill>
          <a:ln w="12700">
            <a:solidFill>
              <a:srgbClr val="0D7877"/>
            </a:solidFill>
            <a:prstDash val="solid"/>
          </a:ln>
        </p:spPr>
      </p:sp>
      <p:sp>
        <p:nvSpPr>
          <p:cNvPr id="32" name="Text 30"/>
          <p:cNvSpPr/>
          <p:nvPr/>
        </p:nvSpPr>
        <p:spPr>
          <a:xfrm>
            <a:off x="626364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8</a:t>
            </a:r>
            <a:endParaRPr lang="en-US" sz="1600" dirty="0"/>
          </a:p>
        </p:txBody>
      </p:sp>
      <p:sp>
        <p:nvSpPr>
          <p:cNvPr id="33" name="Text 31"/>
          <p:cNvSpPr/>
          <p:nvPr/>
        </p:nvSpPr>
        <p:spPr>
          <a:xfrm>
            <a:off x="6858000" y="388620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B5.5.4   </a:t>
            </a:r>
            <a:r>
              <a:rPr lang="en-US" sz="1200" dirty="0">
                <a:solidFill>
                  <a:srgbClr val="262B3A"/>
                </a:solidFill>
                <a:latin typeface="Calibri" pitchFamily="34" charset="0"/>
                <a:ea typeface="Calibri" pitchFamily="34" charset="-122"/>
                <a:cs typeface="Calibri" pitchFamily="34" charset="-120"/>
              </a:rPr>
              <a:t>Explain how </a:t>
            </a:r>
            <a:r>
              <a:rPr lang="en-US" sz="1200" b="1" dirty="0">
                <a:solidFill>
                  <a:srgbClr val="262B3A"/>
                </a:solidFill>
                <a:latin typeface="Calibri" pitchFamily="34" charset="0"/>
                <a:ea typeface="Calibri" pitchFamily="34" charset="-122"/>
                <a:cs typeface="Calibri" pitchFamily="34" charset="-120"/>
              </a:rPr>
              <a:t>FSH</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LH</a:t>
            </a:r>
            <a:r>
              <a:rPr lang="en-US" sz="1200" dirty="0">
                <a:solidFill>
                  <a:srgbClr val="262B3A"/>
                </a:solidFill>
                <a:latin typeface="Calibri" pitchFamily="34" charset="0"/>
                <a:ea typeface="Calibri" pitchFamily="34" charset="-122"/>
                <a:cs typeface="Calibri" pitchFamily="34" charset="-120"/>
              </a:rPr>
              <a:t> are used to treat </a:t>
            </a:r>
            <a:r>
              <a:rPr lang="en-US" sz="1200" b="1" dirty="0">
                <a:solidFill>
                  <a:srgbClr val="262B3A"/>
                </a:solidFill>
                <a:latin typeface="Calibri" pitchFamily="34" charset="0"/>
                <a:ea typeface="Calibri" pitchFamily="34" charset="-122"/>
                <a:cs typeface="Calibri" pitchFamily="34" charset="-120"/>
              </a:rPr>
              <a:t>infertility</a:t>
            </a:r>
            <a:r>
              <a:rPr lang="en-US" sz="1200" dirty="0">
                <a:solidFill>
                  <a:srgbClr val="262B3A"/>
                </a:solidFill>
                <a:latin typeface="Calibri" pitchFamily="34" charset="0"/>
                <a:ea typeface="Calibri" pitchFamily="34" charset="-122"/>
                <a:cs typeface="Calibri" pitchFamily="34" charset="-120"/>
              </a:rPr>
              <a:t>, including </a:t>
            </a:r>
            <a:r>
              <a:rPr lang="en-US" sz="1200" b="1" dirty="0">
                <a:solidFill>
                  <a:srgbClr val="262B3A"/>
                </a:solidFill>
                <a:latin typeface="Calibri" pitchFamily="34" charset="0"/>
                <a:ea typeface="Calibri" pitchFamily="34" charset="-122"/>
                <a:cs typeface="Calibri" pitchFamily="34" charset="-120"/>
              </a:rPr>
              <a:t>IVF</a:t>
            </a:r>
            <a:r>
              <a:rPr lang="en-US" sz="1200" dirty="0">
                <a:solidFill>
                  <a:srgbClr val="262B3A"/>
                </a:solidFill>
                <a:latin typeface="Calibri" pitchFamily="34" charset="0"/>
                <a:ea typeface="Calibri" pitchFamily="34" charset="-122"/>
                <a:cs typeface="Calibri" pitchFamily="34" charset="-120"/>
              </a:rPr>
              <a:t>, and evaluate IVF.</a:t>
            </a:r>
            <a:endParaRPr lang="en-US" sz="1100" dirty="0"/>
          </a:p>
        </p:txBody>
      </p:sp>
      <p:sp>
        <p:nvSpPr>
          <p:cNvPr id="34" name="Shape 32"/>
          <p:cNvSpPr/>
          <p:nvPr/>
        </p:nvSpPr>
        <p:spPr>
          <a:xfrm>
            <a:off x="11018520" y="4370832"/>
            <a:ext cx="411480" cy="274320"/>
          </a:xfrm>
          <a:prstGeom prst="roundRect">
            <a:avLst>
              <a:gd name="adj" fmla="val 50000"/>
            </a:avLst>
          </a:prstGeom>
          <a:solidFill>
            <a:srgbClr val="C8414C"/>
          </a:solidFill>
          <a:ln w="12700">
            <a:solidFill>
              <a:srgbClr val="C8414C"/>
            </a:solidFill>
            <a:prstDash val="solid"/>
          </a:ln>
        </p:spPr>
      </p:sp>
      <p:sp>
        <p:nvSpPr>
          <p:cNvPr id="35" name="Text 33"/>
          <p:cNvSpPr/>
          <p:nvPr/>
        </p:nvSpPr>
        <p:spPr>
          <a:xfrm>
            <a:off x="11018520" y="437083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Where this fits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Chapter B5 The human body – staying alive • B5.5 is Part 5 of 6 in Combined Science B</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B5.5 What role do hormones play in human reproduction?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Context  |  3</a:t>
            </a:r>
            <a:endParaRPr lang="en-US" sz="1000" dirty="0"/>
          </a:p>
        </p:txBody>
      </p:sp>
      <p:sp>
        <p:nvSpPr>
          <p:cNvPr id="8" name="Shape 6"/>
          <p:cNvSpPr/>
          <p:nvPr/>
        </p:nvSpPr>
        <p:spPr>
          <a:xfrm>
            <a:off x="411480" y="1234440"/>
            <a:ext cx="2103120" cy="685800"/>
          </a:xfrm>
          <a:prstGeom prst="roundRect">
            <a:avLst>
              <a:gd name="adj" fmla="val 8000"/>
            </a:avLst>
          </a:prstGeom>
          <a:solidFill>
            <a:srgbClr val="133536"/>
          </a:solidFill>
          <a:ln/>
        </p:spPr>
      </p:sp>
      <p:sp>
        <p:nvSpPr>
          <p:cNvPr id="9" name="Text 7"/>
          <p:cNvSpPr/>
          <p:nvPr/>
        </p:nvSpPr>
        <p:spPr>
          <a:xfrm>
            <a:off x="411480" y="1234440"/>
            <a:ext cx="210312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B5.5</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Hormones in reproduction</a:t>
            </a:r>
            <a:endParaRPr lang="en-US" sz="1100" dirty="0"/>
          </a:p>
        </p:txBody>
      </p:sp>
      <p:sp>
        <p:nvSpPr>
          <p:cNvPr id="10" name="Shape 8"/>
          <p:cNvSpPr/>
          <p:nvPr/>
        </p:nvSpPr>
        <p:spPr>
          <a:xfrm>
            <a:off x="914400" y="1920240"/>
            <a:ext cx="91" cy="3758184"/>
          </a:xfrm>
          <a:prstGeom prst="line">
            <a:avLst/>
          </a:prstGeom>
          <a:noFill/>
          <a:ln w="19050">
            <a:solidFill>
              <a:srgbClr val="0D7877"/>
            </a:solidFill>
            <a:prstDash val="solid"/>
          </a:ln>
        </p:spPr>
      </p:sp>
      <p:sp>
        <p:nvSpPr>
          <p:cNvPr id="11" name="Shape 9"/>
          <p:cNvSpPr/>
          <p:nvPr/>
        </p:nvSpPr>
        <p:spPr>
          <a:xfrm>
            <a:off x="914400" y="2386584"/>
            <a:ext cx="411480" cy="91"/>
          </a:xfrm>
          <a:prstGeom prst="line">
            <a:avLst/>
          </a:prstGeom>
          <a:noFill/>
          <a:ln w="19050">
            <a:solidFill>
              <a:srgbClr val="0D7877"/>
            </a:solidFill>
            <a:prstDash val="solid"/>
          </a:ln>
        </p:spPr>
      </p:sp>
      <p:sp>
        <p:nvSpPr>
          <p:cNvPr id="12" name="Shape 10"/>
          <p:cNvSpPr/>
          <p:nvPr/>
        </p:nvSpPr>
        <p:spPr>
          <a:xfrm>
            <a:off x="1325880" y="2103120"/>
            <a:ext cx="5120640" cy="566928"/>
          </a:xfrm>
          <a:prstGeom prst="roundRect">
            <a:avLst>
              <a:gd name="adj" fmla="val 8065"/>
            </a:avLst>
          </a:prstGeom>
          <a:solidFill>
            <a:srgbClr val="F4FAF9"/>
          </a:solidFill>
          <a:ln w="12700">
            <a:solidFill>
              <a:srgbClr val="CFE0DE"/>
            </a:solidFill>
            <a:prstDash val="solid"/>
          </a:ln>
        </p:spPr>
      </p:sp>
      <p:sp>
        <p:nvSpPr>
          <p:cNvPr id="13" name="Text 11"/>
          <p:cNvSpPr/>
          <p:nvPr/>
        </p:nvSpPr>
        <p:spPr>
          <a:xfrm>
            <a:off x="1463040" y="2103120"/>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B5.5.1   </a:t>
            </a:r>
            <a:r>
              <a:rPr lang="en-US" sz="1100" dirty="0">
                <a:solidFill>
                  <a:srgbClr val="262B3A"/>
                </a:solidFill>
                <a:latin typeface="Calibri" pitchFamily="34" charset="0"/>
                <a:ea typeface="Calibri" pitchFamily="34" charset="-122"/>
                <a:cs typeface="Calibri" pitchFamily="34" charset="-120"/>
              </a:rPr>
              <a:t>Sex hormones and puberty</a:t>
            </a:r>
            <a:endParaRPr lang="en-US" sz="1100" dirty="0"/>
          </a:p>
        </p:txBody>
      </p:sp>
      <p:sp>
        <p:nvSpPr>
          <p:cNvPr id="14" name="Shape 12"/>
          <p:cNvSpPr/>
          <p:nvPr/>
        </p:nvSpPr>
        <p:spPr>
          <a:xfrm>
            <a:off x="5257800" y="2249424"/>
            <a:ext cx="1097280" cy="274320"/>
          </a:xfrm>
          <a:prstGeom prst="roundRect">
            <a:avLst>
              <a:gd name="adj" fmla="val 50000"/>
            </a:avLst>
          </a:prstGeom>
          <a:solidFill>
            <a:srgbClr val="0D7877"/>
          </a:solidFill>
          <a:ln w="12700">
            <a:solidFill>
              <a:srgbClr val="0D7877"/>
            </a:solidFill>
            <a:prstDash val="solid"/>
          </a:ln>
        </p:spPr>
      </p:sp>
      <p:sp>
        <p:nvSpPr>
          <p:cNvPr id="15" name="Text 13"/>
          <p:cNvSpPr/>
          <p:nvPr/>
        </p:nvSpPr>
        <p:spPr>
          <a:xfrm>
            <a:off x="5257800" y="224942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16" name="Shape 14"/>
          <p:cNvSpPr/>
          <p:nvPr/>
        </p:nvSpPr>
        <p:spPr>
          <a:xfrm>
            <a:off x="914400" y="3044952"/>
            <a:ext cx="411480" cy="91"/>
          </a:xfrm>
          <a:prstGeom prst="line">
            <a:avLst/>
          </a:prstGeom>
          <a:noFill/>
          <a:ln w="19050">
            <a:solidFill>
              <a:srgbClr val="0D7877"/>
            </a:solidFill>
            <a:prstDash val="solid"/>
          </a:ln>
        </p:spPr>
      </p:sp>
      <p:sp>
        <p:nvSpPr>
          <p:cNvPr id="17" name="Shape 15"/>
          <p:cNvSpPr/>
          <p:nvPr/>
        </p:nvSpPr>
        <p:spPr>
          <a:xfrm>
            <a:off x="1325880" y="2761488"/>
            <a:ext cx="5120640" cy="566928"/>
          </a:xfrm>
          <a:prstGeom prst="roundRect">
            <a:avLst>
              <a:gd name="adj" fmla="val 8065"/>
            </a:avLst>
          </a:prstGeom>
          <a:solidFill>
            <a:srgbClr val="F4FAF9"/>
          </a:solidFill>
          <a:ln w="12700">
            <a:solidFill>
              <a:srgbClr val="CFE0DE"/>
            </a:solidFill>
            <a:prstDash val="solid"/>
          </a:ln>
        </p:spPr>
      </p:sp>
      <p:sp>
        <p:nvSpPr>
          <p:cNvPr id="18" name="Text 16"/>
          <p:cNvSpPr/>
          <p:nvPr/>
        </p:nvSpPr>
        <p:spPr>
          <a:xfrm>
            <a:off x="1463040" y="2761488"/>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B5.5.1   </a:t>
            </a:r>
            <a:r>
              <a:rPr lang="en-US" sz="1100" dirty="0">
                <a:solidFill>
                  <a:srgbClr val="262B3A"/>
                </a:solidFill>
                <a:latin typeface="Calibri" pitchFamily="34" charset="0"/>
                <a:ea typeface="Calibri" pitchFamily="34" charset="-122"/>
                <a:cs typeface="Calibri" pitchFamily="34" charset="-120"/>
              </a:rPr>
              <a:t>The menstrual cycle; the four hormones</a:t>
            </a:r>
            <a:endParaRPr lang="en-US" sz="1100" dirty="0"/>
          </a:p>
        </p:txBody>
      </p:sp>
      <p:sp>
        <p:nvSpPr>
          <p:cNvPr id="19" name="Shape 17"/>
          <p:cNvSpPr/>
          <p:nvPr/>
        </p:nvSpPr>
        <p:spPr>
          <a:xfrm>
            <a:off x="5257800" y="2907792"/>
            <a:ext cx="1097280" cy="274320"/>
          </a:xfrm>
          <a:prstGeom prst="roundRect">
            <a:avLst>
              <a:gd name="adj" fmla="val 50000"/>
            </a:avLst>
          </a:prstGeom>
          <a:solidFill>
            <a:srgbClr val="0D7877"/>
          </a:solidFill>
          <a:ln w="12700">
            <a:solidFill>
              <a:srgbClr val="0D7877"/>
            </a:solidFill>
            <a:prstDash val="solid"/>
          </a:ln>
        </p:spPr>
      </p:sp>
      <p:sp>
        <p:nvSpPr>
          <p:cNvPr id="20" name="Text 18"/>
          <p:cNvSpPr/>
          <p:nvPr/>
        </p:nvSpPr>
        <p:spPr>
          <a:xfrm>
            <a:off x="5257800" y="290779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1" name="Shape 19"/>
          <p:cNvSpPr/>
          <p:nvPr/>
        </p:nvSpPr>
        <p:spPr>
          <a:xfrm>
            <a:off x="914400" y="3703320"/>
            <a:ext cx="411480" cy="91"/>
          </a:xfrm>
          <a:prstGeom prst="line">
            <a:avLst/>
          </a:prstGeom>
          <a:noFill/>
          <a:ln w="19050">
            <a:solidFill>
              <a:srgbClr val="0D7877"/>
            </a:solidFill>
            <a:prstDash val="solid"/>
          </a:ln>
        </p:spPr>
      </p:sp>
      <p:sp>
        <p:nvSpPr>
          <p:cNvPr id="22" name="Shape 20"/>
          <p:cNvSpPr/>
          <p:nvPr/>
        </p:nvSpPr>
        <p:spPr>
          <a:xfrm>
            <a:off x="1325880" y="3419856"/>
            <a:ext cx="5120640" cy="566928"/>
          </a:xfrm>
          <a:prstGeom prst="roundRect">
            <a:avLst>
              <a:gd name="adj" fmla="val 8065"/>
            </a:avLst>
          </a:prstGeom>
          <a:solidFill>
            <a:srgbClr val="F4FAF9"/>
          </a:solidFill>
          <a:ln w="12700">
            <a:solidFill>
              <a:srgbClr val="CFE0DE"/>
            </a:solidFill>
            <a:prstDash val="solid"/>
          </a:ln>
        </p:spPr>
      </p:sp>
      <p:sp>
        <p:nvSpPr>
          <p:cNvPr id="23" name="Text 21"/>
          <p:cNvSpPr/>
          <p:nvPr/>
        </p:nvSpPr>
        <p:spPr>
          <a:xfrm>
            <a:off x="1463040" y="3419856"/>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B5.5.2   </a:t>
            </a:r>
            <a:r>
              <a:rPr lang="en-US" sz="1100" dirty="0">
                <a:solidFill>
                  <a:srgbClr val="262B3A"/>
                </a:solidFill>
                <a:latin typeface="Calibri" pitchFamily="34" charset="0"/>
                <a:ea typeface="Calibri" pitchFamily="34" charset="-122"/>
                <a:cs typeface="Calibri" pitchFamily="34" charset="-120"/>
              </a:rPr>
              <a:t>Hormone graphs and interactions</a:t>
            </a:r>
            <a:endParaRPr lang="en-US" sz="1100" dirty="0"/>
          </a:p>
        </p:txBody>
      </p:sp>
      <p:sp>
        <p:nvSpPr>
          <p:cNvPr id="24" name="Shape 22"/>
          <p:cNvSpPr/>
          <p:nvPr/>
        </p:nvSpPr>
        <p:spPr>
          <a:xfrm>
            <a:off x="5257800" y="3566160"/>
            <a:ext cx="1097280" cy="274320"/>
          </a:xfrm>
          <a:prstGeom prst="roundRect">
            <a:avLst>
              <a:gd name="adj" fmla="val 50000"/>
            </a:avLst>
          </a:prstGeom>
          <a:solidFill>
            <a:srgbClr val="C8414C"/>
          </a:solidFill>
          <a:ln w="12700">
            <a:solidFill>
              <a:srgbClr val="C8414C"/>
            </a:solidFill>
            <a:prstDash val="solid"/>
          </a:ln>
        </p:spPr>
      </p:sp>
      <p:sp>
        <p:nvSpPr>
          <p:cNvPr id="25" name="Text 23"/>
          <p:cNvSpPr/>
          <p:nvPr/>
        </p:nvSpPr>
        <p:spPr>
          <a:xfrm>
            <a:off x="5257800" y="356616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6" name="Shape 24"/>
          <p:cNvSpPr/>
          <p:nvPr/>
        </p:nvSpPr>
        <p:spPr>
          <a:xfrm>
            <a:off x="914400" y="4361688"/>
            <a:ext cx="411480" cy="91"/>
          </a:xfrm>
          <a:prstGeom prst="line">
            <a:avLst/>
          </a:prstGeom>
          <a:noFill/>
          <a:ln w="19050">
            <a:solidFill>
              <a:srgbClr val="0D7877"/>
            </a:solidFill>
            <a:prstDash val="solid"/>
          </a:ln>
        </p:spPr>
      </p:sp>
      <p:sp>
        <p:nvSpPr>
          <p:cNvPr id="27" name="Shape 25"/>
          <p:cNvSpPr/>
          <p:nvPr/>
        </p:nvSpPr>
        <p:spPr>
          <a:xfrm>
            <a:off x="1325880" y="4078224"/>
            <a:ext cx="5120640" cy="566928"/>
          </a:xfrm>
          <a:prstGeom prst="roundRect">
            <a:avLst>
              <a:gd name="adj" fmla="val 8065"/>
            </a:avLst>
          </a:prstGeom>
          <a:solidFill>
            <a:srgbClr val="F4FAF9"/>
          </a:solidFill>
          <a:ln w="12700">
            <a:solidFill>
              <a:srgbClr val="CFE0DE"/>
            </a:solidFill>
            <a:prstDash val="solid"/>
          </a:ln>
        </p:spPr>
      </p:sp>
      <p:sp>
        <p:nvSpPr>
          <p:cNvPr id="28" name="Text 26"/>
          <p:cNvSpPr/>
          <p:nvPr/>
        </p:nvSpPr>
        <p:spPr>
          <a:xfrm>
            <a:off x="1463040" y="4078224"/>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B5.5.3   </a:t>
            </a:r>
            <a:r>
              <a:rPr lang="en-US" sz="1100" dirty="0">
                <a:solidFill>
                  <a:srgbClr val="262B3A"/>
                </a:solidFill>
                <a:latin typeface="Calibri" pitchFamily="34" charset="0"/>
                <a:ea typeface="Calibri" pitchFamily="34" charset="-122"/>
                <a:cs typeface="Calibri" pitchFamily="34" charset="-120"/>
              </a:rPr>
              <a:t>Hormonal contraception</a:t>
            </a:r>
            <a:endParaRPr lang="en-US" sz="1100" dirty="0"/>
          </a:p>
        </p:txBody>
      </p:sp>
      <p:sp>
        <p:nvSpPr>
          <p:cNvPr id="29" name="Shape 27"/>
          <p:cNvSpPr/>
          <p:nvPr/>
        </p:nvSpPr>
        <p:spPr>
          <a:xfrm>
            <a:off x="5257800" y="4224528"/>
            <a:ext cx="1097280" cy="274320"/>
          </a:xfrm>
          <a:prstGeom prst="roundRect">
            <a:avLst>
              <a:gd name="adj" fmla="val 50000"/>
            </a:avLst>
          </a:prstGeom>
          <a:solidFill>
            <a:srgbClr val="0D7877"/>
          </a:solidFill>
          <a:ln w="12700">
            <a:solidFill>
              <a:srgbClr val="0D7877"/>
            </a:solidFill>
            <a:prstDash val="solid"/>
          </a:ln>
        </p:spPr>
      </p:sp>
      <p:sp>
        <p:nvSpPr>
          <p:cNvPr id="30" name="Text 28"/>
          <p:cNvSpPr/>
          <p:nvPr/>
        </p:nvSpPr>
        <p:spPr>
          <a:xfrm>
            <a:off x="5257800" y="422452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31" name="Shape 29"/>
          <p:cNvSpPr/>
          <p:nvPr/>
        </p:nvSpPr>
        <p:spPr>
          <a:xfrm>
            <a:off x="914400" y="5020056"/>
            <a:ext cx="411480" cy="91"/>
          </a:xfrm>
          <a:prstGeom prst="line">
            <a:avLst/>
          </a:prstGeom>
          <a:noFill/>
          <a:ln w="19050">
            <a:solidFill>
              <a:srgbClr val="0D7877"/>
            </a:solidFill>
            <a:prstDash val="solid"/>
          </a:ln>
        </p:spPr>
      </p:sp>
      <p:sp>
        <p:nvSpPr>
          <p:cNvPr id="32" name="Shape 30"/>
          <p:cNvSpPr/>
          <p:nvPr/>
        </p:nvSpPr>
        <p:spPr>
          <a:xfrm>
            <a:off x="1325880" y="4736592"/>
            <a:ext cx="5120640" cy="566928"/>
          </a:xfrm>
          <a:prstGeom prst="roundRect">
            <a:avLst>
              <a:gd name="adj" fmla="val 8065"/>
            </a:avLst>
          </a:prstGeom>
          <a:solidFill>
            <a:srgbClr val="F4FAF9"/>
          </a:solidFill>
          <a:ln w="12700">
            <a:solidFill>
              <a:srgbClr val="CFE0DE"/>
            </a:solidFill>
            <a:prstDash val="solid"/>
          </a:ln>
        </p:spPr>
      </p:sp>
      <p:sp>
        <p:nvSpPr>
          <p:cNvPr id="33" name="Text 31"/>
          <p:cNvSpPr/>
          <p:nvPr/>
        </p:nvSpPr>
        <p:spPr>
          <a:xfrm>
            <a:off x="1463040" y="4736592"/>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B5.5.3   </a:t>
            </a:r>
            <a:r>
              <a:rPr lang="en-US" sz="1100" dirty="0">
                <a:solidFill>
                  <a:srgbClr val="262B3A"/>
                </a:solidFill>
                <a:latin typeface="Calibri" pitchFamily="34" charset="0"/>
                <a:ea typeface="Calibri" pitchFamily="34" charset="-122"/>
                <a:cs typeface="Calibri" pitchFamily="34" charset="-120"/>
              </a:rPr>
              <a:t>Non-hormonal methods; evaluating with data</a:t>
            </a:r>
            <a:endParaRPr lang="en-US" sz="1100" dirty="0"/>
          </a:p>
        </p:txBody>
      </p:sp>
      <p:sp>
        <p:nvSpPr>
          <p:cNvPr id="34" name="Shape 32"/>
          <p:cNvSpPr/>
          <p:nvPr/>
        </p:nvSpPr>
        <p:spPr>
          <a:xfrm>
            <a:off x="5257800" y="4882896"/>
            <a:ext cx="1097280" cy="274320"/>
          </a:xfrm>
          <a:prstGeom prst="roundRect">
            <a:avLst>
              <a:gd name="adj" fmla="val 50000"/>
            </a:avLst>
          </a:prstGeom>
          <a:solidFill>
            <a:srgbClr val="0D7877"/>
          </a:solidFill>
          <a:ln w="12700">
            <a:solidFill>
              <a:srgbClr val="0D7877"/>
            </a:solidFill>
            <a:prstDash val="solid"/>
          </a:ln>
        </p:spPr>
      </p:sp>
      <p:sp>
        <p:nvSpPr>
          <p:cNvPr id="35" name="Text 33"/>
          <p:cNvSpPr/>
          <p:nvPr/>
        </p:nvSpPr>
        <p:spPr>
          <a:xfrm>
            <a:off x="5257800" y="488289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36" name="Shape 34"/>
          <p:cNvSpPr/>
          <p:nvPr/>
        </p:nvSpPr>
        <p:spPr>
          <a:xfrm>
            <a:off x="914400" y="5678424"/>
            <a:ext cx="411480" cy="91"/>
          </a:xfrm>
          <a:prstGeom prst="line">
            <a:avLst/>
          </a:prstGeom>
          <a:noFill/>
          <a:ln w="19050">
            <a:solidFill>
              <a:srgbClr val="0D7877"/>
            </a:solidFill>
            <a:prstDash val="solid"/>
          </a:ln>
        </p:spPr>
      </p:sp>
      <p:sp>
        <p:nvSpPr>
          <p:cNvPr id="37" name="Shape 35"/>
          <p:cNvSpPr/>
          <p:nvPr/>
        </p:nvSpPr>
        <p:spPr>
          <a:xfrm>
            <a:off x="1325880" y="5394960"/>
            <a:ext cx="5120640" cy="566928"/>
          </a:xfrm>
          <a:prstGeom prst="roundRect">
            <a:avLst>
              <a:gd name="adj" fmla="val 8065"/>
            </a:avLst>
          </a:prstGeom>
          <a:solidFill>
            <a:srgbClr val="F4FAF9"/>
          </a:solidFill>
          <a:ln w="12700">
            <a:solidFill>
              <a:srgbClr val="CFE0DE"/>
            </a:solidFill>
            <a:prstDash val="solid"/>
          </a:ln>
        </p:spPr>
      </p:sp>
      <p:sp>
        <p:nvSpPr>
          <p:cNvPr id="38" name="Text 36"/>
          <p:cNvSpPr/>
          <p:nvPr/>
        </p:nvSpPr>
        <p:spPr>
          <a:xfrm>
            <a:off x="1463040" y="5394960"/>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B5.5.4   </a:t>
            </a:r>
            <a:r>
              <a:rPr lang="en-US" sz="1100" dirty="0">
                <a:solidFill>
                  <a:srgbClr val="262B3A"/>
                </a:solidFill>
                <a:latin typeface="Calibri" pitchFamily="34" charset="0"/>
                <a:ea typeface="Calibri" pitchFamily="34" charset="-122"/>
                <a:cs typeface="Calibri" pitchFamily="34" charset="-120"/>
              </a:rPr>
              <a:t>Fertility drugs and IVF</a:t>
            </a:r>
            <a:endParaRPr lang="en-US" sz="1100" dirty="0"/>
          </a:p>
        </p:txBody>
      </p:sp>
      <p:sp>
        <p:nvSpPr>
          <p:cNvPr id="39" name="Shape 37"/>
          <p:cNvSpPr/>
          <p:nvPr/>
        </p:nvSpPr>
        <p:spPr>
          <a:xfrm>
            <a:off x="5257800" y="5541264"/>
            <a:ext cx="1097280" cy="274320"/>
          </a:xfrm>
          <a:prstGeom prst="roundRect">
            <a:avLst>
              <a:gd name="adj" fmla="val 50000"/>
            </a:avLst>
          </a:prstGeom>
          <a:solidFill>
            <a:srgbClr val="C8414C"/>
          </a:solidFill>
          <a:ln w="12700">
            <a:solidFill>
              <a:srgbClr val="C8414C"/>
            </a:solidFill>
            <a:prstDash val="solid"/>
          </a:ln>
        </p:spPr>
      </p:sp>
      <p:sp>
        <p:nvSpPr>
          <p:cNvPr id="40" name="Text 38"/>
          <p:cNvSpPr/>
          <p:nvPr/>
        </p:nvSpPr>
        <p:spPr>
          <a:xfrm>
            <a:off x="5257800" y="554126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41" name="Text 39"/>
          <p:cNvSpPr/>
          <p:nvPr/>
        </p:nvSpPr>
        <p:spPr>
          <a:xfrm>
            <a:off x="411480" y="6053328"/>
            <a:ext cx="603504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Earlier links: B5.3 endocrine system, pituitary, negative feedback • B4.3 meiosis and gametes • B5.1 blood plasma</a:t>
            </a:r>
            <a:endParaRPr lang="en-US" sz="1050" dirty="0"/>
          </a:p>
        </p:txBody>
      </p:sp>
      <p:sp>
        <p:nvSpPr>
          <p:cNvPr id="42" name="Shape 40"/>
          <p:cNvSpPr/>
          <p:nvPr/>
        </p:nvSpPr>
        <p:spPr>
          <a:xfrm>
            <a:off x="6720840" y="1234440"/>
            <a:ext cx="5056632" cy="2971800"/>
          </a:xfrm>
          <a:prstGeom prst="roundRect">
            <a:avLst>
              <a:gd name="adj" fmla="val 1846"/>
            </a:avLst>
          </a:prstGeom>
          <a:solidFill>
            <a:srgbClr val="0F3D3E"/>
          </a:solidFill>
          <a:ln/>
        </p:spPr>
      </p:sp>
      <p:sp>
        <p:nvSpPr>
          <p:cNvPr id="43" name="Text 41"/>
          <p:cNvSpPr/>
          <p:nvPr/>
        </p:nvSpPr>
        <p:spPr>
          <a:xfrm>
            <a:off x="6903720" y="1325880"/>
            <a:ext cx="4709160" cy="2788920"/>
          </a:xfrm>
          <a:prstGeom prst="rect">
            <a:avLst/>
          </a:prstGeom>
          <a:noFill/>
          <a:ln/>
        </p:spPr>
        <p:txBody>
          <a:bodyPr wrap="square" lIns="0" tIns="0" rIns="0" bIns="0" rtlCol="0" anchor="t"/>
          <a:lstStyle/>
          <a:p>
            <a:pPr indent="0" marL="0">
              <a:buNone/>
            </a:pPr>
            <a:r>
              <a:rPr lang="en-US" sz="1500" b="1" dirty="0">
                <a:solidFill>
                  <a:srgbClr val="FFFFFF"/>
                </a:solidFill>
                <a:latin typeface="Georgia" pitchFamily="34" charset="0"/>
                <a:ea typeface="Georgia" pitchFamily="34" charset="-122"/>
                <a:cs typeface="Georgia" pitchFamily="34" charset="-120"/>
              </a:rPr>
              <a:t>Chapter B5 in J260</a:t>
            </a:r>
            <a:endParaRPr lang="en-US" sz="1500" dirty="0"/>
          </a:p>
          <a:p>
            <a:pPr marL="152400" indent="-152400">
              <a:spcAft>
                <a:spcPts val="200"/>
              </a:spcAft>
              <a:buSzPct val="100000"/>
              <a:buChar char="▪"/>
            </a:pPr>
            <a:r>
              <a:rPr lang="en-US" sz="1100" dirty="0">
                <a:solidFill>
                  <a:srgbClr val="E3F2F0"/>
                </a:solidFill>
                <a:latin typeface="Calibri" pitchFamily="34" charset="0"/>
                <a:ea typeface="Calibri" pitchFamily="34" charset="-122"/>
                <a:cs typeface="Calibri" pitchFamily="34" charset="-120"/>
              </a:rPr>
              <a:t>B5.1 How do substances get into, out of and around our bodies?</a:t>
            </a:r>
            <a:endParaRPr lang="en-US" sz="1500" dirty="0"/>
          </a:p>
          <a:p>
            <a:pPr marL="152400" indent="-152400">
              <a:spcAft>
                <a:spcPts val="200"/>
              </a:spcAft>
              <a:buSzPct val="100000"/>
              <a:buChar char="▪"/>
            </a:pPr>
            <a:r>
              <a:rPr lang="en-US" sz="1100" dirty="0">
                <a:solidFill>
                  <a:srgbClr val="E3F2F0"/>
                </a:solidFill>
                <a:latin typeface="Calibri" pitchFamily="34" charset="0"/>
                <a:ea typeface="Calibri" pitchFamily="34" charset="-122"/>
                <a:cs typeface="Calibri" pitchFamily="34" charset="-120"/>
              </a:rPr>
              <a:t>B5.2 How does the nervous system help us respond to changes?</a:t>
            </a:r>
            <a:endParaRPr lang="en-US" sz="1500" dirty="0"/>
          </a:p>
          <a:p>
            <a:pPr marL="152400" indent="-152400">
              <a:spcAft>
                <a:spcPts val="200"/>
              </a:spcAft>
              <a:buSzPct val="100000"/>
              <a:buChar char="▪"/>
            </a:pPr>
            <a:r>
              <a:rPr lang="en-US" sz="1100" dirty="0">
                <a:solidFill>
                  <a:srgbClr val="E3F2F0"/>
                </a:solidFill>
                <a:latin typeface="Calibri" pitchFamily="34" charset="0"/>
                <a:ea typeface="Calibri" pitchFamily="34" charset="-122"/>
                <a:cs typeface="Calibri" pitchFamily="34" charset="-120"/>
              </a:rPr>
              <a:t>B5.3 How do hormones control responses in the human body?</a:t>
            </a:r>
            <a:endParaRPr lang="en-US" sz="1500" dirty="0"/>
          </a:p>
          <a:p>
            <a:pPr marL="152400" indent="-152400">
              <a:spcAft>
                <a:spcPts val="200"/>
              </a:spcAft>
              <a:buSzPct val="100000"/>
              <a:buChar char="▪"/>
            </a:pPr>
            <a:r>
              <a:rPr lang="en-US" sz="1100" dirty="0">
                <a:solidFill>
                  <a:srgbClr val="E3F2F0"/>
                </a:solidFill>
                <a:latin typeface="Calibri" pitchFamily="34" charset="0"/>
                <a:ea typeface="Calibri" pitchFamily="34" charset="-122"/>
                <a:cs typeface="Calibri" pitchFamily="34" charset="-120"/>
              </a:rPr>
              <a:t>B5.4 Why do we need to maintain a constant internal environment?</a:t>
            </a:r>
            <a:endParaRPr lang="en-US" sz="1500" dirty="0"/>
          </a:p>
          <a:p>
            <a:pPr marL="152400" indent="-152400">
              <a:spcAft>
                <a:spcPts val="200"/>
              </a:spcAft>
              <a:buSzPct val="100000"/>
              <a:buChar char="▪"/>
            </a:pPr>
            <a:r>
              <a:rPr lang="en-US" sz="1100" b="1" dirty="0">
                <a:solidFill>
                  <a:srgbClr val="E3F2F0"/>
                </a:solidFill>
                <a:latin typeface="Calibri" pitchFamily="34" charset="0"/>
                <a:ea typeface="Calibri" pitchFamily="34" charset="-122"/>
                <a:cs typeface="Calibri" pitchFamily="34" charset="-120"/>
              </a:rPr>
              <a:t>B5.5 What role do hormones play in human reproduction?</a:t>
            </a:r>
            <a:r>
              <a:rPr lang="en-US" sz="1100" dirty="0">
                <a:solidFill>
                  <a:srgbClr val="E3F2F0"/>
                </a:solidFill>
                <a:latin typeface="Calibri" pitchFamily="34" charset="0"/>
                <a:ea typeface="Calibri" pitchFamily="34" charset="-122"/>
                <a:cs typeface="Calibri" pitchFamily="34" charset="-120"/>
              </a:rPr>
              <a:t> (this deck)</a:t>
            </a:r>
            <a:endParaRPr lang="en-US" sz="1500" dirty="0"/>
          </a:p>
          <a:p>
            <a:pPr marL="152400" indent="-152400">
              <a:spcAft>
                <a:spcPts val="200"/>
              </a:spcAft>
              <a:buSzPct val="100000"/>
              <a:buChar char="▪"/>
            </a:pPr>
            <a:r>
              <a:rPr lang="en-US" sz="1100" dirty="0">
                <a:solidFill>
                  <a:srgbClr val="E3F2F0"/>
                </a:solidFill>
                <a:latin typeface="Calibri" pitchFamily="34" charset="0"/>
                <a:ea typeface="Calibri" pitchFamily="34" charset="-122"/>
                <a:cs typeface="Calibri" pitchFamily="34" charset="-120"/>
              </a:rPr>
              <a:t>B5.6 What can happen when organs and control systems stop working?</a:t>
            </a:r>
            <a:endParaRPr lang="en-US" sz="1500" dirty="0"/>
          </a:p>
        </p:txBody>
      </p:sp>
      <p:sp>
        <p:nvSpPr>
          <p:cNvPr id="44" name="Shape 42"/>
          <p:cNvSpPr/>
          <p:nvPr/>
        </p:nvSpPr>
        <p:spPr>
          <a:xfrm>
            <a:off x="6720840" y="4343400"/>
            <a:ext cx="5056632" cy="1920240"/>
          </a:xfrm>
          <a:prstGeom prst="roundRect">
            <a:avLst>
              <a:gd name="adj" fmla="val 2857"/>
            </a:avLst>
          </a:prstGeom>
          <a:solidFill>
            <a:srgbClr val="FFF4E0"/>
          </a:solidFill>
          <a:ln w="12700">
            <a:solidFill>
              <a:srgbClr val="F1D9A8"/>
            </a:solidFill>
            <a:prstDash val="solid"/>
          </a:ln>
        </p:spPr>
      </p:sp>
      <p:sp>
        <p:nvSpPr>
          <p:cNvPr id="45" name="Text 43"/>
          <p:cNvSpPr/>
          <p:nvPr/>
        </p:nvSpPr>
        <p:spPr>
          <a:xfrm>
            <a:off x="6903720" y="4434840"/>
            <a:ext cx="4709160" cy="1737360"/>
          </a:xfrm>
          <a:prstGeom prst="rect">
            <a:avLst/>
          </a:prstGeom>
          <a:noFill/>
          <a:ln/>
        </p:spPr>
        <p:txBody>
          <a:bodyPr wrap="square" lIns="0" tIns="0" rIns="0" bIns="0" rtlCol="0" anchor="t"/>
          <a:lstStyle/>
          <a:p>
            <a:pPr indent="0" marL="0">
              <a:buNone/>
            </a:pPr>
            <a:r>
              <a:rPr lang="en-US" sz="1500" b="1" dirty="0">
                <a:solidFill>
                  <a:srgbClr val="B8730A"/>
                </a:solidFill>
                <a:latin typeface="Georgia" pitchFamily="34" charset="0"/>
                <a:ea typeface="Georgia" pitchFamily="34" charset="-122"/>
                <a:cs typeface="Georgia" pitchFamily="34" charset="-120"/>
              </a:rPr>
              <a:t>One deck for both tiers</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Everyone learns the hormones, the cycle and contraception. Slides marked </a:t>
            </a:r>
            <a:r>
              <a:rPr lang="en-US" sz="1100" b="1" dirty="0">
                <a:solidFill>
                  <a:srgbClr val="262B3A"/>
                </a:solidFill>
                <a:latin typeface="Calibri" pitchFamily="34" charset="0"/>
                <a:ea typeface="Calibri" pitchFamily="34" charset="-122"/>
                <a:cs typeface="Calibri" pitchFamily="34" charset="-120"/>
              </a:rPr>
              <a:t>HT</a:t>
            </a:r>
            <a:r>
              <a:rPr lang="en-US" sz="1100" dirty="0">
                <a:solidFill>
                  <a:srgbClr val="262B3A"/>
                </a:solidFill>
                <a:latin typeface="Calibri" pitchFamily="34" charset="0"/>
                <a:ea typeface="Calibri" pitchFamily="34" charset="-122"/>
                <a:cs typeface="Calibri" pitchFamily="34" charset="-120"/>
              </a:rPr>
              <a:t> (interactions, IVF) are Higher tier.</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pituitary and negative feedback were taught in </a:t>
            </a:r>
            <a:r>
              <a:rPr lang="en-US" sz="1100" b="1" dirty="0">
                <a:solidFill>
                  <a:srgbClr val="262B3A"/>
                </a:solidFill>
                <a:latin typeface="Calibri" pitchFamily="34" charset="0"/>
                <a:ea typeface="Calibri" pitchFamily="34" charset="-122"/>
                <a:cs typeface="Calibri" pitchFamily="34" charset="-120"/>
              </a:rPr>
              <a:t>B5.3</a:t>
            </a:r>
            <a:r>
              <a:rPr lang="en-US" sz="1100" dirty="0">
                <a:solidFill>
                  <a:srgbClr val="262B3A"/>
                </a:solidFill>
                <a:latin typeface="Calibri" pitchFamily="34" charset="0"/>
                <a:ea typeface="Calibri" pitchFamily="34" charset="-122"/>
                <a:cs typeface="Calibri" pitchFamily="34" charset="-120"/>
              </a:rPr>
              <a:t>: here we use them.</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Maths: reading </a:t>
            </a:r>
            <a:r>
              <a:rPr lang="en-US" sz="1100" b="1" dirty="0">
                <a:solidFill>
                  <a:srgbClr val="262B3A"/>
                </a:solidFill>
                <a:latin typeface="Calibri" pitchFamily="34" charset="0"/>
                <a:ea typeface="Calibri" pitchFamily="34" charset="-122"/>
                <a:cs typeface="Calibri" pitchFamily="34" charset="-120"/>
              </a:rPr>
              <a:t>graphs</a:t>
            </a:r>
            <a:r>
              <a:rPr lang="en-US" sz="1100" dirty="0">
                <a:solidFill>
                  <a:srgbClr val="262B3A"/>
                </a:solidFill>
                <a:latin typeface="Calibri" pitchFamily="34" charset="0"/>
                <a:ea typeface="Calibri" pitchFamily="34" charset="-122"/>
                <a:cs typeface="Calibri" pitchFamily="34" charset="-120"/>
              </a:rPr>
              <a:t> drawn to scale, </a:t>
            </a:r>
            <a:r>
              <a:rPr lang="en-US" sz="1100" b="1" dirty="0">
                <a:solidFill>
                  <a:srgbClr val="262B3A"/>
                </a:solidFill>
                <a:latin typeface="Calibri" pitchFamily="34" charset="0"/>
                <a:ea typeface="Calibri" pitchFamily="34" charset="-122"/>
                <a:cs typeface="Calibri" pitchFamily="34" charset="-120"/>
              </a:rPr>
              <a:t>means</a:t>
            </a: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percentages</a:t>
            </a:r>
            <a:r>
              <a:rPr lang="en-US" sz="1100" dirty="0">
                <a:solidFill>
                  <a:srgbClr val="262B3A"/>
                </a:solidFill>
                <a:latin typeface="Calibri" pitchFamily="34" charset="0"/>
                <a:ea typeface="Calibri" pitchFamily="34" charset="-122"/>
                <a:cs typeface="Calibri" pitchFamily="34" charset="-120"/>
              </a:rPr>
              <a:t> of a group.</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Retrieval starter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Recall from B5.3, B4.3, B5.1 and KS3 • 6 minutes • no notes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B5.5 What role do hormones play in human reproduction?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Starter  |  4</a:t>
            </a:r>
            <a:endParaRPr lang="en-US" sz="1000" dirty="0"/>
          </a:p>
        </p:txBody>
      </p:sp>
      <p:sp>
        <p:nvSpPr>
          <p:cNvPr id="8" name="Shape 6"/>
          <p:cNvSpPr/>
          <p:nvPr/>
        </p:nvSpPr>
        <p:spPr>
          <a:xfrm>
            <a:off x="411480" y="1234440"/>
            <a:ext cx="3657600" cy="2011680"/>
          </a:xfrm>
          <a:prstGeom prst="roundRect">
            <a:avLst>
              <a:gd name="adj" fmla="val 2727"/>
            </a:avLst>
          </a:prstGeom>
          <a:solidFill>
            <a:srgbClr val="F4FAF9"/>
          </a:solidFill>
          <a:ln w="9525">
            <a:solidFill>
              <a:srgbClr val="CFE0DE"/>
            </a:solidFill>
            <a:prstDash val="solid"/>
          </a:ln>
        </p:spPr>
      </p:sp>
      <p:sp>
        <p:nvSpPr>
          <p:cNvPr id="9" name="Shape 7"/>
          <p:cNvSpPr/>
          <p:nvPr/>
        </p:nvSpPr>
        <p:spPr>
          <a:xfrm>
            <a:off x="548640" y="1371600"/>
            <a:ext cx="438912" cy="438912"/>
          </a:xfrm>
          <a:prstGeom prst="ellipse">
            <a:avLst/>
          </a:prstGeom>
          <a:solidFill>
            <a:srgbClr val="0D7877"/>
          </a:solidFill>
          <a:ln w="12700">
            <a:solidFill>
              <a:srgbClr val="0D7877"/>
            </a:solidFill>
            <a:prstDash val="solid"/>
          </a:ln>
        </p:spPr>
      </p:sp>
      <p:sp>
        <p:nvSpPr>
          <p:cNvPr id="10" name="Text 8"/>
          <p:cNvSpPr/>
          <p:nvPr/>
        </p:nvSpPr>
        <p:spPr>
          <a:xfrm>
            <a:off x="54864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1" name="Text 9"/>
          <p:cNvSpPr/>
          <p:nvPr/>
        </p:nvSpPr>
        <p:spPr>
          <a:xfrm>
            <a:off x="1097280" y="141732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B5.3 • hormones</a:t>
            </a:r>
            <a:endParaRPr lang="en-US" sz="1050" dirty="0"/>
          </a:p>
        </p:txBody>
      </p:sp>
      <p:sp>
        <p:nvSpPr>
          <p:cNvPr id="12" name="Text 10"/>
          <p:cNvSpPr/>
          <p:nvPr/>
        </p:nvSpPr>
        <p:spPr>
          <a:xfrm>
            <a:off x="59436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a </a:t>
            </a:r>
            <a:r>
              <a:rPr lang="en-US" sz="1250" b="1" dirty="0">
                <a:solidFill>
                  <a:srgbClr val="262B3A"/>
                </a:solidFill>
                <a:latin typeface="Calibri" pitchFamily="34" charset="0"/>
                <a:ea typeface="Calibri" pitchFamily="34" charset="-122"/>
                <a:cs typeface="Calibri" pitchFamily="34" charset="-120"/>
              </a:rPr>
              <a:t>hormone</a:t>
            </a:r>
            <a:r>
              <a:rPr lang="en-US" sz="1250" dirty="0">
                <a:solidFill>
                  <a:srgbClr val="262B3A"/>
                </a:solidFill>
                <a:latin typeface="Calibri" pitchFamily="34" charset="0"/>
                <a:ea typeface="Calibri" pitchFamily="34" charset="-122"/>
                <a:cs typeface="Calibri" pitchFamily="34" charset="-120"/>
              </a:rPr>
              <a:t>? How does it travel round the body?</a:t>
            </a:r>
            <a:endParaRPr lang="en-US" sz="1250" dirty="0"/>
          </a:p>
        </p:txBody>
      </p:sp>
      <p:sp>
        <p:nvSpPr>
          <p:cNvPr id="13" name="Shape 11"/>
          <p:cNvSpPr/>
          <p:nvPr/>
        </p:nvSpPr>
        <p:spPr>
          <a:xfrm>
            <a:off x="4251960" y="1234440"/>
            <a:ext cx="3657600" cy="2011680"/>
          </a:xfrm>
          <a:prstGeom prst="roundRect">
            <a:avLst>
              <a:gd name="adj" fmla="val 2727"/>
            </a:avLst>
          </a:prstGeom>
          <a:solidFill>
            <a:srgbClr val="F4FAF9"/>
          </a:solidFill>
          <a:ln w="9525">
            <a:solidFill>
              <a:srgbClr val="CFE0DE"/>
            </a:solidFill>
            <a:prstDash val="solid"/>
          </a:ln>
        </p:spPr>
      </p:sp>
      <p:sp>
        <p:nvSpPr>
          <p:cNvPr id="14" name="Shape 12"/>
          <p:cNvSpPr/>
          <p:nvPr/>
        </p:nvSpPr>
        <p:spPr>
          <a:xfrm>
            <a:off x="4389120" y="1371600"/>
            <a:ext cx="438912" cy="438912"/>
          </a:xfrm>
          <a:prstGeom prst="ellipse">
            <a:avLst/>
          </a:prstGeom>
          <a:solidFill>
            <a:srgbClr val="0D7877"/>
          </a:solidFill>
          <a:ln w="12700">
            <a:solidFill>
              <a:srgbClr val="0D7877"/>
            </a:solidFill>
            <a:prstDash val="solid"/>
          </a:ln>
        </p:spPr>
      </p:sp>
      <p:sp>
        <p:nvSpPr>
          <p:cNvPr id="15" name="Text 13"/>
          <p:cNvSpPr/>
          <p:nvPr/>
        </p:nvSpPr>
        <p:spPr>
          <a:xfrm>
            <a:off x="438912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6" name="Text 14"/>
          <p:cNvSpPr/>
          <p:nvPr/>
        </p:nvSpPr>
        <p:spPr>
          <a:xfrm>
            <a:off x="4937760" y="141732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B5.3 • pituitary</a:t>
            </a:r>
            <a:endParaRPr lang="en-US" sz="1050" dirty="0"/>
          </a:p>
        </p:txBody>
      </p:sp>
      <p:sp>
        <p:nvSpPr>
          <p:cNvPr id="17" name="Text 15"/>
          <p:cNvSpPr/>
          <p:nvPr/>
        </p:nvSpPr>
        <p:spPr>
          <a:xfrm>
            <a:off x="443484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Where is the </a:t>
            </a:r>
            <a:r>
              <a:rPr lang="en-US" sz="1250" b="1" dirty="0">
                <a:solidFill>
                  <a:srgbClr val="262B3A"/>
                </a:solidFill>
                <a:latin typeface="Calibri" pitchFamily="34" charset="0"/>
                <a:ea typeface="Calibri" pitchFamily="34" charset="-122"/>
                <a:cs typeface="Calibri" pitchFamily="34" charset="-120"/>
              </a:rPr>
              <a:t>pituitary gland</a:t>
            </a:r>
            <a:r>
              <a:rPr lang="en-US" sz="1250" dirty="0">
                <a:solidFill>
                  <a:srgbClr val="262B3A"/>
                </a:solidFill>
                <a:latin typeface="Calibri" pitchFamily="34" charset="0"/>
                <a:ea typeface="Calibri" pitchFamily="34" charset="-122"/>
                <a:cs typeface="Calibri" pitchFamily="34" charset="-120"/>
              </a:rPr>
              <a:t>? Why is it called the "</a:t>
            </a:r>
            <a:r>
              <a:rPr lang="en-US" sz="1250" b="1" dirty="0">
                <a:solidFill>
                  <a:srgbClr val="262B3A"/>
                </a:solidFill>
                <a:latin typeface="Calibri" pitchFamily="34" charset="0"/>
                <a:ea typeface="Calibri" pitchFamily="34" charset="-122"/>
                <a:cs typeface="Calibri" pitchFamily="34" charset="-120"/>
              </a:rPr>
              <a:t>master gland</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8" name="Shape 16"/>
          <p:cNvSpPr/>
          <p:nvPr/>
        </p:nvSpPr>
        <p:spPr>
          <a:xfrm>
            <a:off x="8092440" y="1234440"/>
            <a:ext cx="3657600" cy="2011680"/>
          </a:xfrm>
          <a:prstGeom prst="roundRect">
            <a:avLst>
              <a:gd name="adj" fmla="val 2727"/>
            </a:avLst>
          </a:prstGeom>
          <a:solidFill>
            <a:srgbClr val="F4FAF9"/>
          </a:solidFill>
          <a:ln w="9525">
            <a:solidFill>
              <a:srgbClr val="CFE0DE"/>
            </a:solidFill>
            <a:prstDash val="solid"/>
          </a:ln>
        </p:spPr>
      </p:sp>
      <p:sp>
        <p:nvSpPr>
          <p:cNvPr id="19" name="Shape 17"/>
          <p:cNvSpPr/>
          <p:nvPr/>
        </p:nvSpPr>
        <p:spPr>
          <a:xfrm>
            <a:off x="8229600" y="1371600"/>
            <a:ext cx="438912" cy="438912"/>
          </a:xfrm>
          <a:prstGeom prst="ellipse">
            <a:avLst/>
          </a:prstGeom>
          <a:solidFill>
            <a:srgbClr val="0D7877"/>
          </a:solidFill>
          <a:ln w="12700">
            <a:solidFill>
              <a:srgbClr val="0D7877"/>
            </a:solidFill>
            <a:prstDash val="solid"/>
          </a:ln>
        </p:spPr>
      </p:sp>
      <p:sp>
        <p:nvSpPr>
          <p:cNvPr id="20" name="Text 18"/>
          <p:cNvSpPr/>
          <p:nvPr/>
        </p:nvSpPr>
        <p:spPr>
          <a:xfrm>
            <a:off x="822960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1" name="Text 19"/>
          <p:cNvSpPr/>
          <p:nvPr/>
        </p:nvSpPr>
        <p:spPr>
          <a:xfrm>
            <a:off x="8778240" y="141732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B4.3 • meiosis</a:t>
            </a:r>
            <a:endParaRPr lang="en-US" sz="1050" dirty="0"/>
          </a:p>
        </p:txBody>
      </p:sp>
      <p:sp>
        <p:nvSpPr>
          <p:cNvPr id="22" name="Text 20"/>
          <p:cNvSpPr/>
          <p:nvPr/>
        </p:nvSpPr>
        <p:spPr>
          <a:xfrm>
            <a:off x="827532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Which type of cell division makes </a:t>
            </a:r>
            <a:r>
              <a:rPr lang="en-US" sz="1250" b="1" dirty="0">
                <a:solidFill>
                  <a:srgbClr val="262B3A"/>
                </a:solidFill>
                <a:latin typeface="Calibri" pitchFamily="34" charset="0"/>
                <a:ea typeface="Calibri" pitchFamily="34" charset="-122"/>
                <a:cs typeface="Calibri" pitchFamily="34" charset="-120"/>
              </a:rPr>
              <a:t>gametes</a:t>
            </a:r>
            <a:r>
              <a:rPr lang="en-US" sz="1250" dirty="0">
                <a:solidFill>
                  <a:srgbClr val="262B3A"/>
                </a:solidFill>
                <a:latin typeface="Calibri" pitchFamily="34" charset="0"/>
                <a:ea typeface="Calibri" pitchFamily="34" charset="-122"/>
                <a:cs typeface="Calibri" pitchFamily="34" charset="-120"/>
              </a:rPr>
              <a:t>? How many chromosomes are in a human </a:t>
            </a:r>
            <a:r>
              <a:rPr lang="en-US" sz="1250" b="1" dirty="0">
                <a:solidFill>
                  <a:srgbClr val="262B3A"/>
                </a:solidFill>
                <a:latin typeface="Calibri" pitchFamily="34" charset="0"/>
                <a:ea typeface="Calibri" pitchFamily="34" charset="-122"/>
                <a:cs typeface="Calibri" pitchFamily="34" charset="-120"/>
              </a:rPr>
              <a:t>egg</a:t>
            </a:r>
            <a:r>
              <a:rPr lang="en-US" sz="1250" dirty="0">
                <a:solidFill>
                  <a:srgbClr val="262B3A"/>
                </a:solidFill>
                <a:latin typeface="Calibri" pitchFamily="34" charset="0"/>
                <a:ea typeface="Calibri" pitchFamily="34" charset="-122"/>
                <a:cs typeface="Calibri" pitchFamily="34" charset="-120"/>
              </a:rPr>
              <a:t> cell?</a:t>
            </a:r>
            <a:endParaRPr lang="en-US" sz="1250" dirty="0"/>
          </a:p>
        </p:txBody>
      </p:sp>
      <p:sp>
        <p:nvSpPr>
          <p:cNvPr id="23" name="Shape 21"/>
          <p:cNvSpPr/>
          <p:nvPr/>
        </p:nvSpPr>
        <p:spPr>
          <a:xfrm>
            <a:off x="411480" y="3429000"/>
            <a:ext cx="3657600" cy="2011680"/>
          </a:xfrm>
          <a:prstGeom prst="roundRect">
            <a:avLst>
              <a:gd name="adj" fmla="val 2727"/>
            </a:avLst>
          </a:prstGeom>
          <a:solidFill>
            <a:srgbClr val="F4FAF9"/>
          </a:solidFill>
          <a:ln w="9525">
            <a:solidFill>
              <a:srgbClr val="CFE0DE"/>
            </a:solidFill>
            <a:prstDash val="solid"/>
          </a:ln>
        </p:spPr>
      </p:sp>
      <p:sp>
        <p:nvSpPr>
          <p:cNvPr id="24" name="Shape 22"/>
          <p:cNvSpPr/>
          <p:nvPr/>
        </p:nvSpPr>
        <p:spPr>
          <a:xfrm>
            <a:off x="548640" y="3566160"/>
            <a:ext cx="438912" cy="438912"/>
          </a:xfrm>
          <a:prstGeom prst="ellipse">
            <a:avLst/>
          </a:prstGeom>
          <a:solidFill>
            <a:srgbClr val="0D7877"/>
          </a:solidFill>
          <a:ln w="12700">
            <a:solidFill>
              <a:srgbClr val="0D7877"/>
            </a:solidFill>
            <a:prstDash val="solid"/>
          </a:ln>
        </p:spPr>
      </p:sp>
      <p:sp>
        <p:nvSpPr>
          <p:cNvPr id="25" name="Text 23"/>
          <p:cNvSpPr/>
          <p:nvPr/>
        </p:nvSpPr>
        <p:spPr>
          <a:xfrm>
            <a:off x="54864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6" name="Text 24"/>
          <p:cNvSpPr/>
          <p:nvPr/>
        </p:nvSpPr>
        <p:spPr>
          <a:xfrm>
            <a:off x="1097280" y="361188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B5.3 • feedback</a:t>
            </a:r>
            <a:endParaRPr lang="en-US" sz="1050" dirty="0"/>
          </a:p>
        </p:txBody>
      </p:sp>
      <p:sp>
        <p:nvSpPr>
          <p:cNvPr id="27" name="Text 25"/>
          <p:cNvSpPr/>
          <p:nvPr/>
        </p:nvSpPr>
        <p:spPr>
          <a:xfrm>
            <a:off x="59436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a:t>
            </a:r>
            <a:r>
              <a:rPr lang="en-US" sz="1250" b="1" dirty="0">
                <a:solidFill>
                  <a:srgbClr val="262B3A"/>
                </a:solidFill>
                <a:latin typeface="Calibri" pitchFamily="34" charset="0"/>
                <a:ea typeface="Calibri" pitchFamily="34" charset="-122"/>
                <a:cs typeface="Calibri" pitchFamily="34" charset="-120"/>
              </a:rPr>
              <a:t>negative feedback</a:t>
            </a:r>
            <a:r>
              <a:rPr lang="en-US" sz="1250" dirty="0">
                <a:solidFill>
                  <a:srgbClr val="262B3A"/>
                </a:solidFill>
                <a:latin typeface="Calibri" pitchFamily="34" charset="0"/>
                <a:ea typeface="Calibri" pitchFamily="34" charset="-122"/>
                <a:cs typeface="Calibri" pitchFamily="34" charset="-120"/>
              </a:rPr>
              <a:t>? Give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hormone example from B5.3.</a:t>
            </a:r>
            <a:endParaRPr lang="en-US" sz="1250" dirty="0"/>
          </a:p>
        </p:txBody>
      </p:sp>
      <p:sp>
        <p:nvSpPr>
          <p:cNvPr id="28" name="Shape 26"/>
          <p:cNvSpPr/>
          <p:nvPr/>
        </p:nvSpPr>
        <p:spPr>
          <a:xfrm>
            <a:off x="4251960" y="3429000"/>
            <a:ext cx="3657600" cy="2011680"/>
          </a:xfrm>
          <a:prstGeom prst="roundRect">
            <a:avLst>
              <a:gd name="adj" fmla="val 2727"/>
            </a:avLst>
          </a:prstGeom>
          <a:solidFill>
            <a:srgbClr val="F4FAF9"/>
          </a:solidFill>
          <a:ln w="9525">
            <a:solidFill>
              <a:srgbClr val="CFE0DE"/>
            </a:solidFill>
            <a:prstDash val="solid"/>
          </a:ln>
        </p:spPr>
      </p:sp>
      <p:sp>
        <p:nvSpPr>
          <p:cNvPr id="29" name="Shape 27"/>
          <p:cNvSpPr/>
          <p:nvPr/>
        </p:nvSpPr>
        <p:spPr>
          <a:xfrm>
            <a:off x="4389120" y="3566160"/>
            <a:ext cx="438912" cy="438912"/>
          </a:xfrm>
          <a:prstGeom prst="ellipse">
            <a:avLst/>
          </a:prstGeom>
          <a:solidFill>
            <a:srgbClr val="0D7877"/>
          </a:solidFill>
          <a:ln w="12700">
            <a:solidFill>
              <a:srgbClr val="0D7877"/>
            </a:solidFill>
            <a:prstDash val="solid"/>
          </a:ln>
        </p:spPr>
      </p:sp>
      <p:sp>
        <p:nvSpPr>
          <p:cNvPr id="30" name="Text 28"/>
          <p:cNvSpPr/>
          <p:nvPr/>
        </p:nvSpPr>
        <p:spPr>
          <a:xfrm>
            <a:off x="438912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31" name="Text 29"/>
          <p:cNvSpPr/>
          <p:nvPr/>
        </p:nvSpPr>
        <p:spPr>
          <a:xfrm>
            <a:off x="4937760" y="361188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B5.1 • blood</a:t>
            </a:r>
            <a:endParaRPr lang="en-US" sz="1050" dirty="0"/>
          </a:p>
        </p:txBody>
      </p:sp>
      <p:sp>
        <p:nvSpPr>
          <p:cNvPr id="32" name="Text 30"/>
          <p:cNvSpPr/>
          <p:nvPr/>
        </p:nvSpPr>
        <p:spPr>
          <a:xfrm>
            <a:off x="443484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part of the </a:t>
            </a:r>
            <a:r>
              <a:rPr lang="en-US" sz="1250" b="1" dirty="0">
                <a:solidFill>
                  <a:srgbClr val="262B3A"/>
                </a:solidFill>
                <a:latin typeface="Calibri" pitchFamily="34" charset="0"/>
                <a:ea typeface="Calibri" pitchFamily="34" charset="-122"/>
                <a:cs typeface="Calibri" pitchFamily="34" charset="-120"/>
              </a:rPr>
              <a:t>blood</a:t>
            </a:r>
            <a:r>
              <a:rPr lang="en-US" sz="1250" dirty="0">
                <a:solidFill>
                  <a:srgbClr val="262B3A"/>
                </a:solidFill>
                <a:latin typeface="Calibri" pitchFamily="34" charset="0"/>
                <a:ea typeface="Calibri" pitchFamily="34" charset="-122"/>
                <a:cs typeface="Calibri" pitchFamily="34" charset="-120"/>
              </a:rPr>
              <a:t> that carries hormones.</a:t>
            </a:r>
            <a:endParaRPr lang="en-US" sz="1250" dirty="0"/>
          </a:p>
        </p:txBody>
      </p:sp>
      <p:sp>
        <p:nvSpPr>
          <p:cNvPr id="33" name="Shape 31"/>
          <p:cNvSpPr/>
          <p:nvPr/>
        </p:nvSpPr>
        <p:spPr>
          <a:xfrm>
            <a:off x="8092440" y="3429000"/>
            <a:ext cx="3657600" cy="2011680"/>
          </a:xfrm>
          <a:prstGeom prst="roundRect">
            <a:avLst>
              <a:gd name="adj" fmla="val 2727"/>
            </a:avLst>
          </a:prstGeom>
          <a:solidFill>
            <a:srgbClr val="F4FAF9"/>
          </a:solidFill>
          <a:ln w="9525">
            <a:solidFill>
              <a:srgbClr val="CFE0DE"/>
            </a:solidFill>
            <a:prstDash val="solid"/>
          </a:ln>
        </p:spPr>
      </p:sp>
      <p:sp>
        <p:nvSpPr>
          <p:cNvPr id="34" name="Shape 32"/>
          <p:cNvSpPr/>
          <p:nvPr/>
        </p:nvSpPr>
        <p:spPr>
          <a:xfrm>
            <a:off x="8229600" y="3566160"/>
            <a:ext cx="438912" cy="438912"/>
          </a:xfrm>
          <a:prstGeom prst="ellipse">
            <a:avLst/>
          </a:prstGeom>
          <a:solidFill>
            <a:srgbClr val="0D7877"/>
          </a:solidFill>
          <a:ln w="12700">
            <a:solidFill>
              <a:srgbClr val="0D7877"/>
            </a:solidFill>
            <a:prstDash val="solid"/>
          </a:ln>
        </p:spPr>
      </p:sp>
      <p:sp>
        <p:nvSpPr>
          <p:cNvPr id="35" name="Text 33"/>
          <p:cNvSpPr/>
          <p:nvPr/>
        </p:nvSpPr>
        <p:spPr>
          <a:xfrm>
            <a:off x="822960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36" name="Text 34"/>
          <p:cNvSpPr/>
          <p:nvPr/>
        </p:nvSpPr>
        <p:spPr>
          <a:xfrm>
            <a:off x="8778240" y="361188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KS3 • reproduction</a:t>
            </a:r>
            <a:endParaRPr lang="en-US" sz="1050" dirty="0"/>
          </a:p>
        </p:txBody>
      </p:sp>
      <p:sp>
        <p:nvSpPr>
          <p:cNvPr id="37" name="Text 35"/>
          <p:cNvSpPr/>
          <p:nvPr/>
        </p:nvSpPr>
        <p:spPr>
          <a:xfrm>
            <a:off x="827532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organ where (a) </a:t>
            </a:r>
            <a:r>
              <a:rPr lang="en-US" sz="1250" b="1" dirty="0">
                <a:solidFill>
                  <a:srgbClr val="262B3A"/>
                </a:solidFill>
                <a:latin typeface="Calibri" pitchFamily="34" charset="0"/>
                <a:ea typeface="Calibri" pitchFamily="34" charset="-122"/>
                <a:cs typeface="Calibri" pitchFamily="34" charset="-120"/>
              </a:rPr>
              <a:t>eggs</a:t>
            </a:r>
            <a:r>
              <a:rPr lang="en-US" sz="1250" dirty="0">
                <a:solidFill>
                  <a:srgbClr val="262B3A"/>
                </a:solidFill>
                <a:latin typeface="Calibri" pitchFamily="34" charset="0"/>
                <a:ea typeface="Calibri" pitchFamily="34" charset="-122"/>
                <a:cs typeface="Calibri" pitchFamily="34" charset="-120"/>
              </a:rPr>
              <a:t> are made, (b) a fertilised egg grows into a </a:t>
            </a:r>
            <a:r>
              <a:rPr lang="en-US" sz="1250" b="1" dirty="0">
                <a:solidFill>
                  <a:srgbClr val="262B3A"/>
                </a:solidFill>
                <a:latin typeface="Calibri" pitchFamily="34" charset="0"/>
                <a:ea typeface="Calibri" pitchFamily="34" charset="-122"/>
                <a:cs typeface="Calibri" pitchFamily="34" charset="-120"/>
              </a:rPr>
              <a:t>baby</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38" name="Shape 36"/>
          <p:cNvSpPr/>
          <p:nvPr/>
        </p:nvSpPr>
        <p:spPr>
          <a:xfrm>
            <a:off x="411480" y="5715000"/>
            <a:ext cx="11368735" cy="548640"/>
          </a:xfrm>
          <a:prstGeom prst="rect">
            <a:avLst/>
          </a:prstGeom>
          <a:solidFill>
            <a:srgbClr val="E8F4F3"/>
          </a:solidFill>
          <a:ln w="12700">
            <a:solidFill>
              <a:srgbClr val="CFE0DE"/>
            </a:solidFill>
            <a:prstDash val="solid"/>
          </a:ln>
        </p:spPr>
      </p:sp>
      <p:sp>
        <p:nvSpPr>
          <p:cNvPr id="39" name="Text 37"/>
          <p:cNvSpPr/>
          <p:nvPr/>
        </p:nvSpPr>
        <p:spPr>
          <a:xfrm>
            <a:off x="640080" y="5715000"/>
            <a:ext cx="10911535" cy="548640"/>
          </a:xfrm>
          <a:prstGeom prst="rect">
            <a:avLst/>
          </a:prstGeom>
          <a:noFill/>
          <a:ln/>
        </p:spPr>
        <p:txBody>
          <a:bodyPr wrap="square" lIns="0" tIns="0" rIns="0" bIns="0" rtlCol="0" anchor="ctr"/>
          <a:lstStyle/>
          <a:p>
            <a:pPr indent="0" marL="0">
              <a:buNone/>
            </a:pPr>
            <a:r>
              <a:rPr lang="en-US" sz="1200" b="1" dirty="0">
                <a:solidFill>
                  <a:srgbClr val="0D7877"/>
                </a:solidFill>
                <a:latin typeface="Calibri" pitchFamily="34" charset="0"/>
                <a:ea typeface="Calibri" pitchFamily="34" charset="-122"/>
                <a:cs typeface="Calibri" pitchFamily="34" charset="-120"/>
              </a:rPr>
              <a:t>Self-mark   </a:t>
            </a:r>
            <a:r>
              <a:rPr lang="en-US" sz="1200" dirty="0">
                <a:solidFill>
                  <a:srgbClr val="262B3A"/>
                </a:solidFill>
                <a:latin typeface="Calibri" pitchFamily="34" charset="0"/>
                <a:ea typeface="Calibri" pitchFamily="34" charset="-122"/>
                <a:cs typeface="Calibri" pitchFamily="34" charset="-120"/>
              </a:rPr>
              <a:t>Swap and mark from the answers.  6/6 secure  •  4–5 nearly there  •  0–3 revisit the topic notes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Sex hormones and puberty</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B5.5.1 • testosterone and oestrogen cause the changes at puberty</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B5.5 What role do hormones play in human reproduction?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B5.5.1  |  5</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front view; pituitary (red), testes (blue) and ovaries (pink) drawn larger than life</a:t>
            </a:r>
            <a:endParaRPr lang="en-US" sz="1000" dirty="0"/>
          </a:p>
        </p:txBody>
      </p:sp>
      <p:sp>
        <p:nvSpPr>
          <p:cNvPr id="10" name="Shape 8"/>
          <p:cNvSpPr/>
          <p:nvPr/>
        </p:nvSpPr>
        <p:spPr>
          <a:xfrm rot="420000">
            <a:off x="979505" y="2276856"/>
            <a:ext cx="189464" cy="1251814"/>
          </a:xfrm>
          <a:prstGeom prst="roundRect">
            <a:avLst>
              <a:gd name="adj" fmla="val 45000"/>
            </a:avLst>
          </a:prstGeom>
          <a:solidFill>
            <a:srgbClr val="F6DDC8"/>
          </a:solidFill>
          <a:ln w="31750">
            <a:solidFill>
              <a:srgbClr val="B98E6E"/>
            </a:solidFill>
            <a:prstDash val="solid"/>
          </a:ln>
        </p:spPr>
      </p:sp>
      <p:sp>
        <p:nvSpPr>
          <p:cNvPr id="11" name="Shape 9"/>
          <p:cNvSpPr/>
          <p:nvPr/>
        </p:nvSpPr>
        <p:spPr>
          <a:xfrm rot="-420000">
            <a:off x="2305751" y="2276856"/>
            <a:ext cx="189464" cy="1251814"/>
          </a:xfrm>
          <a:prstGeom prst="roundRect">
            <a:avLst>
              <a:gd name="adj" fmla="val 45000"/>
            </a:avLst>
          </a:prstGeom>
          <a:solidFill>
            <a:srgbClr val="F6DDC8"/>
          </a:solidFill>
          <a:ln w="31750">
            <a:solidFill>
              <a:srgbClr val="B98E6E"/>
            </a:solidFill>
            <a:prstDash val="solid"/>
          </a:ln>
        </p:spPr>
      </p:sp>
      <p:sp>
        <p:nvSpPr>
          <p:cNvPr id="12" name="Shape 10"/>
          <p:cNvSpPr/>
          <p:nvPr/>
        </p:nvSpPr>
        <p:spPr>
          <a:xfrm>
            <a:off x="1304300" y="3359506"/>
            <a:ext cx="365394" cy="1319479"/>
          </a:xfrm>
          <a:prstGeom prst="roundRect">
            <a:avLst>
              <a:gd name="adj" fmla="val 45000"/>
            </a:avLst>
          </a:prstGeom>
          <a:solidFill>
            <a:srgbClr val="F6DDC8"/>
          </a:solidFill>
          <a:ln w="31750">
            <a:solidFill>
              <a:srgbClr val="B98E6E"/>
            </a:solidFill>
            <a:prstDash val="solid"/>
          </a:ln>
        </p:spPr>
      </p:sp>
      <p:sp>
        <p:nvSpPr>
          <p:cNvPr id="13" name="Shape 11"/>
          <p:cNvSpPr/>
          <p:nvPr/>
        </p:nvSpPr>
        <p:spPr>
          <a:xfrm>
            <a:off x="1805026" y="3359506"/>
            <a:ext cx="365394" cy="1319479"/>
          </a:xfrm>
          <a:prstGeom prst="roundRect">
            <a:avLst>
              <a:gd name="adj" fmla="val 45000"/>
            </a:avLst>
          </a:prstGeom>
          <a:solidFill>
            <a:srgbClr val="F6DDC8"/>
          </a:solidFill>
          <a:ln w="31750">
            <a:solidFill>
              <a:srgbClr val="B98E6E"/>
            </a:solidFill>
            <a:prstDash val="solid"/>
          </a:ln>
        </p:spPr>
      </p:sp>
      <p:sp>
        <p:nvSpPr>
          <p:cNvPr id="14" name="Shape 12"/>
          <p:cNvSpPr/>
          <p:nvPr/>
        </p:nvSpPr>
        <p:spPr>
          <a:xfrm>
            <a:off x="1196035" y="2222724"/>
            <a:ext cx="1082650" cy="1353312"/>
          </a:xfrm>
          <a:prstGeom prst="roundRect">
            <a:avLst>
              <a:gd name="adj" fmla="val 45000"/>
            </a:avLst>
          </a:prstGeom>
          <a:solidFill>
            <a:srgbClr val="F6DDC8"/>
          </a:solidFill>
          <a:ln w="31750">
            <a:solidFill>
              <a:srgbClr val="B98E6E"/>
            </a:solidFill>
            <a:prstDash val="solid"/>
          </a:ln>
        </p:spPr>
      </p:sp>
      <p:sp>
        <p:nvSpPr>
          <p:cNvPr id="15" name="Shape 13"/>
          <p:cNvSpPr/>
          <p:nvPr/>
        </p:nvSpPr>
        <p:spPr>
          <a:xfrm>
            <a:off x="1649395" y="2073859"/>
            <a:ext cx="175931" cy="202997"/>
          </a:xfrm>
          <a:prstGeom prst="rect">
            <a:avLst/>
          </a:prstGeom>
          <a:solidFill>
            <a:srgbClr val="F6DDC8"/>
          </a:solidFill>
          <a:ln w="31750">
            <a:solidFill>
              <a:srgbClr val="B98E6E"/>
            </a:solidFill>
            <a:prstDash val="solid"/>
          </a:ln>
        </p:spPr>
      </p:sp>
      <p:sp>
        <p:nvSpPr>
          <p:cNvPr id="16" name="Shape 14"/>
          <p:cNvSpPr/>
          <p:nvPr/>
        </p:nvSpPr>
        <p:spPr>
          <a:xfrm>
            <a:off x="1514064" y="1600200"/>
            <a:ext cx="446593" cy="541325"/>
          </a:xfrm>
          <a:prstGeom prst="ellipse">
            <a:avLst/>
          </a:prstGeom>
          <a:solidFill>
            <a:srgbClr val="F6DDC8"/>
          </a:solidFill>
          <a:ln w="31750">
            <a:solidFill>
              <a:srgbClr val="B98E6E"/>
            </a:solidFill>
            <a:prstDash val="solid"/>
          </a:ln>
        </p:spPr>
      </p:sp>
      <p:sp>
        <p:nvSpPr>
          <p:cNvPr id="17" name="Shape 15"/>
          <p:cNvSpPr/>
          <p:nvPr/>
        </p:nvSpPr>
        <p:spPr>
          <a:xfrm rot="420000">
            <a:off x="979505" y="2276856"/>
            <a:ext cx="189464" cy="1251814"/>
          </a:xfrm>
          <a:prstGeom prst="roundRect">
            <a:avLst>
              <a:gd name="adj" fmla="val 45000"/>
            </a:avLst>
          </a:prstGeom>
          <a:solidFill>
            <a:srgbClr val="F6DDC8"/>
          </a:solidFill>
          <a:ln/>
        </p:spPr>
      </p:sp>
      <p:sp>
        <p:nvSpPr>
          <p:cNvPr id="18" name="Shape 16"/>
          <p:cNvSpPr/>
          <p:nvPr/>
        </p:nvSpPr>
        <p:spPr>
          <a:xfrm rot="-420000">
            <a:off x="2305751" y="2276856"/>
            <a:ext cx="189464" cy="1251814"/>
          </a:xfrm>
          <a:prstGeom prst="roundRect">
            <a:avLst>
              <a:gd name="adj" fmla="val 45000"/>
            </a:avLst>
          </a:prstGeom>
          <a:solidFill>
            <a:srgbClr val="F6DDC8"/>
          </a:solidFill>
          <a:ln/>
        </p:spPr>
      </p:sp>
      <p:sp>
        <p:nvSpPr>
          <p:cNvPr id="19" name="Shape 17"/>
          <p:cNvSpPr/>
          <p:nvPr/>
        </p:nvSpPr>
        <p:spPr>
          <a:xfrm>
            <a:off x="1304300" y="3359506"/>
            <a:ext cx="365394" cy="1319479"/>
          </a:xfrm>
          <a:prstGeom prst="roundRect">
            <a:avLst>
              <a:gd name="adj" fmla="val 45000"/>
            </a:avLst>
          </a:prstGeom>
          <a:solidFill>
            <a:srgbClr val="F6DDC8"/>
          </a:solidFill>
          <a:ln/>
        </p:spPr>
      </p:sp>
      <p:sp>
        <p:nvSpPr>
          <p:cNvPr id="20" name="Shape 18"/>
          <p:cNvSpPr/>
          <p:nvPr/>
        </p:nvSpPr>
        <p:spPr>
          <a:xfrm>
            <a:off x="1805026" y="3359506"/>
            <a:ext cx="365394" cy="1319479"/>
          </a:xfrm>
          <a:prstGeom prst="roundRect">
            <a:avLst>
              <a:gd name="adj" fmla="val 45000"/>
            </a:avLst>
          </a:prstGeom>
          <a:solidFill>
            <a:srgbClr val="F6DDC8"/>
          </a:solidFill>
          <a:ln/>
        </p:spPr>
      </p:sp>
      <p:sp>
        <p:nvSpPr>
          <p:cNvPr id="21" name="Shape 19"/>
          <p:cNvSpPr/>
          <p:nvPr/>
        </p:nvSpPr>
        <p:spPr>
          <a:xfrm>
            <a:off x="1196035" y="2222724"/>
            <a:ext cx="1082650" cy="1353312"/>
          </a:xfrm>
          <a:prstGeom prst="roundRect">
            <a:avLst>
              <a:gd name="adj" fmla="val 45000"/>
            </a:avLst>
          </a:prstGeom>
          <a:solidFill>
            <a:srgbClr val="F6DDC8"/>
          </a:solidFill>
          <a:ln/>
        </p:spPr>
      </p:sp>
      <p:sp>
        <p:nvSpPr>
          <p:cNvPr id="22" name="Shape 20"/>
          <p:cNvSpPr/>
          <p:nvPr/>
        </p:nvSpPr>
        <p:spPr>
          <a:xfrm>
            <a:off x="1649395" y="2073859"/>
            <a:ext cx="175931" cy="202997"/>
          </a:xfrm>
          <a:prstGeom prst="rect">
            <a:avLst/>
          </a:prstGeom>
          <a:solidFill>
            <a:srgbClr val="F6DDC8"/>
          </a:solidFill>
          <a:ln/>
        </p:spPr>
      </p:sp>
      <p:sp>
        <p:nvSpPr>
          <p:cNvPr id="23" name="Shape 21"/>
          <p:cNvSpPr/>
          <p:nvPr/>
        </p:nvSpPr>
        <p:spPr>
          <a:xfrm>
            <a:off x="1514064" y="1600200"/>
            <a:ext cx="446593" cy="541325"/>
          </a:xfrm>
          <a:prstGeom prst="ellipse">
            <a:avLst/>
          </a:prstGeom>
          <a:solidFill>
            <a:srgbClr val="F6DDC8"/>
          </a:solidFill>
          <a:ln/>
        </p:spPr>
      </p:sp>
      <p:sp>
        <p:nvSpPr>
          <p:cNvPr id="24" name="Shape 22"/>
          <p:cNvSpPr/>
          <p:nvPr/>
        </p:nvSpPr>
        <p:spPr>
          <a:xfrm>
            <a:off x="1737360" y="3596335"/>
            <a:ext cx="91" cy="1048817"/>
          </a:xfrm>
          <a:prstGeom prst="line">
            <a:avLst/>
          </a:prstGeom>
          <a:noFill/>
          <a:ln w="15875">
            <a:solidFill>
              <a:srgbClr val="B98E6E"/>
            </a:solidFill>
            <a:prstDash val="solid"/>
          </a:ln>
        </p:spPr>
      </p:sp>
      <p:sp>
        <p:nvSpPr>
          <p:cNvPr id="25" name="Shape 23"/>
          <p:cNvSpPr/>
          <p:nvPr/>
        </p:nvSpPr>
        <p:spPr>
          <a:xfrm>
            <a:off x="1561429" y="1681399"/>
            <a:ext cx="351861" cy="243596"/>
          </a:xfrm>
          <a:prstGeom prst="ellipse">
            <a:avLst/>
          </a:prstGeom>
          <a:solidFill>
            <a:srgbClr val="F4C7D0"/>
          </a:solidFill>
          <a:ln w="9525">
            <a:solidFill>
              <a:srgbClr val="C98393"/>
            </a:solidFill>
            <a:prstDash val="solid"/>
          </a:ln>
        </p:spPr>
      </p:sp>
      <p:sp>
        <p:nvSpPr>
          <p:cNvPr id="26" name="Shape 24"/>
          <p:cNvSpPr/>
          <p:nvPr/>
        </p:nvSpPr>
        <p:spPr>
          <a:xfrm>
            <a:off x="1696761" y="1918228"/>
            <a:ext cx="81199" cy="81199"/>
          </a:xfrm>
          <a:prstGeom prst="ellipse">
            <a:avLst/>
          </a:prstGeom>
          <a:solidFill>
            <a:srgbClr val="C8414C"/>
          </a:solidFill>
          <a:ln w="12700">
            <a:solidFill>
              <a:srgbClr val="8E2A33"/>
            </a:solidFill>
            <a:prstDash val="solid"/>
          </a:ln>
        </p:spPr>
      </p:sp>
      <p:sp>
        <p:nvSpPr>
          <p:cNvPr id="27" name="Text 25"/>
          <p:cNvSpPr/>
          <p:nvPr/>
        </p:nvSpPr>
        <p:spPr>
          <a:xfrm>
            <a:off x="731520" y="1271016"/>
            <a:ext cx="2011680" cy="256032"/>
          </a:xfrm>
          <a:prstGeom prst="rect">
            <a:avLst/>
          </a:prstGeom>
          <a:noFill/>
          <a:ln/>
        </p:spPr>
        <p:txBody>
          <a:bodyPr wrap="square" lIns="0" tIns="0" rIns="0" bIns="0" rtlCol="0" anchor="ctr"/>
          <a:lstStyle/>
          <a:p>
            <a:pPr algn="ctr" indent="0" marL="0">
              <a:buNone/>
            </a:pPr>
            <a:r>
              <a:rPr lang="en-US" sz="1200" b="1" dirty="0">
                <a:solidFill>
                  <a:srgbClr val="8E3466"/>
                </a:solidFill>
                <a:latin typeface="Calibri" pitchFamily="34" charset="0"/>
                <a:ea typeface="Calibri" pitchFamily="34" charset="-122"/>
                <a:cs typeface="Calibri" pitchFamily="34" charset="-120"/>
              </a:rPr>
              <a:t>Female</a:t>
            </a:r>
            <a:endParaRPr lang="en-US" sz="1200" dirty="0"/>
          </a:p>
        </p:txBody>
      </p:sp>
      <p:sp>
        <p:nvSpPr>
          <p:cNvPr id="28" name="Shape 26"/>
          <p:cNvSpPr/>
          <p:nvPr/>
        </p:nvSpPr>
        <p:spPr>
          <a:xfrm>
            <a:off x="1456639" y="3275381"/>
            <a:ext cx="155448" cy="100584"/>
          </a:xfrm>
          <a:prstGeom prst="ellipse">
            <a:avLst/>
          </a:prstGeom>
          <a:solidFill>
            <a:srgbClr val="D4568F"/>
          </a:solidFill>
          <a:ln w="12700">
            <a:solidFill>
              <a:srgbClr val="8E3466"/>
            </a:solidFill>
            <a:prstDash val="solid"/>
          </a:ln>
        </p:spPr>
      </p:sp>
      <p:sp>
        <p:nvSpPr>
          <p:cNvPr id="29" name="Shape 27"/>
          <p:cNvSpPr/>
          <p:nvPr/>
        </p:nvSpPr>
        <p:spPr>
          <a:xfrm>
            <a:off x="1862633" y="3275381"/>
            <a:ext cx="155448" cy="100584"/>
          </a:xfrm>
          <a:prstGeom prst="ellipse">
            <a:avLst/>
          </a:prstGeom>
          <a:solidFill>
            <a:srgbClr val="D4568F"/>
          </a:solidFill>
          <a:ln w="12700">
            <a:solidFill>
              <a:srgbClr val="8E3466"/>
            </a:solidFill>
            <a:prstDash val="solid"/>
          </a:ln>
        </p:spPr>
      </p:sp>
      <p:sp>
        <p:nvSpPr>
          <p:cNvPr id="30" name="Shape 28"/>
          <p:cNvSpPr/>
          <p:nvPr/>
        </p:nvSpPr>
        <p:spPr>
          <a:xfrm>
            <a:off x="1783080" y="1958828"/>
            <a:ext cx="868680" cy="91"/>
          </a:xfrm>
          <a:prstGeom prst="line">
            <a:avLst/>
          </a:prstGeom>
          <a:noFill/>
          <a:ln w="22225">
            <a:solidFill>
              <a:srgbClr val="C8414C"/>
            </a:solidFill>
            <a:prstDash val="solid"/>
          </a:ln>
        </p:spPr>
      </p:sp>
      <p:sp>
        <p:nvSpPr>
          <p:cNvPr id="31" name="Shape 29"/>
          <p:cNvSpPr/>
          <p:nvPr/>
        </p:nvSpPr>
        <p:spPr>
          <a:xfrm>
            <a:off x="2651760" y="1958828"/>
            <a:ext cx="91" cy="1138245"/>
          </a:xfrm>
          <a:prstGeom prst="line">
            <a:avLst/>
          </a:prstGeom>
          <a:noFill/>
          <a:ln w="22225">
            <a:solidFill>
              <a:srgbClr val="C8414C"/>
            </a:solidFill>
            <a:prstDash val="solid"/>
            <a:tailEnd type="triangle"/>
          </a:ln>
        </p:spPr>
      </p:sp>
      <p:sp>
        <p:nvSpPr>
          <p:cNvPr id="32" name="Text 30"/>
          <p:cNvSpPr/>
          <p:nvPr/>
        </p:nvSpPr>
        <p:spPr>
          <a:xfrm>
            <a:off x="2697480" y="2187428"/>
            <a:ext cx="685800" cy="256032"/>
          </a:xfrm>
          <a:prstGeom prst="rect">
            <a:avLst/>
          </a:prstGeom>
          <a:noFill/>
          <a:ln/>
        </p:spPr>
        <p:txBody>
          <a:bodyPr wrap="square" lIns="0" tIns="0" rIns="0" bIns="0" rtlCol="0" anchor="ctr"/>
          <a:lstStyle/>
          <a:p>
            <a:pPr algn="l" indent="0" marL="0">
              <a:buNone/>
            </a:pPr>
            <a:r>
              <a:rPr lang="en-US" sz="1000" b="1" dirty="0">
                <a:solidFill>
                  <a:srgbClr val="8E2A33"/>
                </a:solidFill>
                <a:latin typeface="Calibri" pitchFamily="34" charset="0"/>
                <a:ea typeface="Calibri" pitchFamily="34" charset="-122"/>
                <a:cs typeface="Calibri" pitchFamily="34" charset="-120"/>
              </a:rPr>
              <a:t>FSH, LH</a:t>
            </a:r>
            <a:endParaRPr lang="en-US" sz="1000" dirty="0"/>
          </a:p>
        </p:txBody>
      </p:sp>
      <p:sp>
        <p:nvSpPr>
          <p:cNvPr id="33" name="Shape 31"/>
          <p:cNvSpPr/>
          <p:nvPr/>
        </p:nvSpPr>
        <p:spPr>
          <a:xfrm flipH="1">
            <a:off x="1986077" y="3097073"/>
            <a:ext cx="665683" cy="182880"/>
          </a:xfrm>
          <a:prstGeom prst="line">
            <a:avLst/>
          </a:prstGeom>
          <a:noFill/>
          <a:ln w="22225">
            <a:solidFill>
              <a:srgbClr val="C8414C"/>
            </a:solidFill>
            <a:prstDash val="solid"/>
          </a:ln>
        </p:spPr>
      </p:sp>
      <p:sp>
        <p:nvSpPr>
          <p:cNvPr id="34" name="Text 32"/>
          <p:cNvSpPr/>
          <p:nvPr/>
        </p:nvSpPr>
        <p:spPr>
          <a:xfrm>
            <a:off x="548640" y="4658685"/>
            <a:ext cx="2377440" cy="274320"/>
          </a:xfrm>
          <a:prstGeom prst="rect">
            <a:avLst/>
          </a:prstGeom>
          <a:noFill/>
          <a:ln/>
        </p:spPr>
        <p:txBody>
          <a:bodyPr wrap="square" lIns="0" tIns="0" rIns="0" bIns="0" rtlCol="0" anchor="ctr"/>
          <a:lstStyle/>
          <a:p>
            <a:pPr algn="ctr" indent="0" marL="0">
              <a:buNone/>
            </a:pPr>
            <a:r>
              <a:rPr lang="en-US" sz="1050" b="1" dirty="0">
                <a:solidFill>
                  <a:srgbClr val="8E3466"/>
                </a:solidFill>
                <a:latin typeface="Calibri" pitchFamily="34" charset="0"/>
                <a:ea typeface="Calibri" pitchFamily="34" charset="-122"/>
                <a:cs typeface="Calibri" pitchFamily="34" charset="-120"/>
              </a:rPr>
              <a:t>ovaries</a:t>
            </a:r>
            <a:r>
              <a:rPr lang="en-US" sz="1050" dirty="0">
                <a:solidFill>
                  <a:srgbClr val="8E3466"/>
                </a:solidFill>
                <a:latin typeface="Calibri" pitchFamily="34" charset="0"/>
                <a:ea typeface="Calibri" pitchFamily="34" charset="-122"/>
                <a:cs typeface="Calibri" pitchFamily="34" charset="-120"/>
              </a:rPr>
              <a:t> → </a:t>
            </a:r>
            <a:r>
              <a:rPr lang="en-US" sz="1050" b="1" dirty="0">
                <a:solidFill>
                  <a:srgbClr val="8E3466"/>
                </a:solidFill>
                <a:latin typeface="Calibri" pitchFamily="34" charset="0"/>
                <a:ea typeface="Calibri" pitchFamily="34" charset="-122"/>
                <a:cs typeface="Calibri" pitchFamily="34" charset="-120"/>
              </a:rPr>
              <a:t>oestrogen</a:t>
            </a:r>
            <a:endParaRPr lang="en-US" sz="1050" dirty="0"/>
          </a:p>
        </p:txBody>
      </p:sp>
      <p:sp>
        <p:nvSpPr>
          <p:cNvPr id="35" name="Shape 33"/>
          <p:cNvSpPr/>
          <p:nvPr/>
        </p:nvSpPr>
        <p:spPr>
          <a:xfrm rot="420000">
            <a:off x="3859865" y="2276856"/>
            <a:ext cx="189464" cy="1251814"/>
          </a:xfrm>
          <a:prstGeom prst="roundRect">
            <a:avLst>
              <a:gd name="adj" fmla="val 45000"/>
            </a:avLst>
          </a:prstGeom>
          <a:solidFill>
            <a:srgbClr val="F6DDC8"/>
          </a:solidFill>
          <a:ln w="31750">
            <a:solidFill>
              <a:srgbClr val="B98E6E"/>
            </a:solidFill>
            <a:prstDash val="solid"/>
          </a:ln>
        </p:spPr>
      </p:sp>
      <p:sp>
        <p:nvSpPr>
          <p:cNvPr id="36" name="Shape 34"/>
          <p:cNvSpPr/>
          <p:nvPr/>
        </p:nvSpPr>
        <p:spPr>
          <a:xfrm rot="-420000">
            <a:off x="5186111" y="2276856"/>
            <a:ext cx="189464" cy="1251814"/>
          </a:xfrm>
          <a:prstGeom prst="roundRect">
            <a:avLst>
              <a:gd name="adj" fmla="val 45000"/>
            </a:avLst>
          </a:prstGeom>
          <a:solidFill>
            <a:srgbClr val="F6DDC8"/>
          </a:solidFill>
          <a:ln w="31750">
            <a:solidFill>
              <a:srgbClr val="B98E6E"/>
            </a:solidFill>
            <a:prstDash val="solid"/>
          </a:ln>
        </p:spPr>
      </p:sp>
      <p:sp>
        <p:nvSpPr>
          <p:cNvPr id="37" name="Shape 35"/>
          <p:cNvSpPr/>
          <p:nvPr/>
        </p:nvSpPr>
        <p:spPr>
          <a:xfrm>
            <a:off x="4184660" y="3359506"/>
            <a:ext cx="365394" cy="1319479"/>
          </a:xfrm>
          <a:prstGeom prst="roundRect">
            <a:avLst>
              <a:gd name="adj" fmla="val 45000"/>
            </a:avLst>
          </a:prstGeom>
          <a:solidFill>
            <a:srgbClr val="F6DDC8"/>
          </a:solidFill>
          <a:ln w="31750">
            <a:solidFill>
              <a:srgbClr val="B98E6E"/>
            </a:solidFill>
            <a:prstDash val="solid"/>
          </a:ln>
        </p:spPr>
      </p:sp>
      <p:sp>
        <p:nvSpPr>
          <p:cNvPr id="38" name="Shape 36"/>
          <p:cNvSpPr/>
          <p:nvPr/>
        </p:nvSpPr>
        <p:spPr>
          <a:xfrm>
            <a:off x="4685386" y="3359506"/>
            <a:ext cx="365394" cy="1319479"/>
          </a:xfrm>
          <a:prstGeom prst="roundRect">
            <a:avLst>
              <a:gd name="adj" fmla="val 45000"/>
            </a:avLst>
          </a:prstGeom>
          <a:solidFill>
            <a:srgbClr val="F6DDC8"/>
          </a:solidFill>
          <a:ln w="31750">
            <a:solidFill>
              <a:srgbClr val="B98E6E"/>
            </a:solidFill>
            <a:prstDash val="solid"/>
          </a:ln>
        </p:spPr>
      </p:sp>
      <p:sp>
        <p:nvSpPr>
          <p:cNvPr id="39" name="Shape 37"/>
          <p:cNvSpPr/>
          <p:nvPr/>
        </p:nvSpPr>
        <p:spPr>
          <a:xfrm>
            <a:off x="4076395" y="2222724"/>
            <a:ext cx="1082650" cy="1353312"/>
          </a:xfrm>
          <a:prstGeom prst="roundRect">
            <a:avLst>
              <a:gd name="adj" fmla="val 45000"/>
            </a:avLst>
          </a:prstGeom>
          <a:solidFill>
            <a:srgbClr val="F6DDC8"/>
          </a:solidFill>
          <a:ln w="31750">
            <a:solidFill>
              <a:srgbClr val="B98E6E"/>
            </a:solidFill>
            <a:prstDash val="solid"/>
          </a:ln>
        </p:spPr>
      </p:sp>
      <p:sp>
        <p:nvSpPr>
          <p:cNvPr id="40" name="Shape 38"/>
          <p:cNvSpPr/>
          <p:nvPr/>
        </p:nvSpPr>
        <p:spPr>
          <a:xfrm>
            <a:off x="4529755" y="2073859"/>
            <a:ext cx="175931" cy="202997"/>
          </a:xfrm>
          <a:prstGeom prst="rect">
            <a:avLst/>
          </a:prstGeom>
          <a:solidFill>
            <a:srgbClr val="F6DDC8"/>
          </a:solidFill>
          <a:ln w="31750">
            <a:solidFill>
              <a:srgbClr val="B98E6E"/>
            </a:solidFill>
            <a:prstDash val="solid"/>
          </a:ln>
        </p:spPr>
      </p:sp>
      <p:sp>
        <p:nvSpPr>
          <p:cNvPr id="41" name="Shape 39"/>
          <p:cNvSpPr/>
          <p:nvPr/>
        </p:nvSpPr>
        <p:spPr>
          <a:xfrm>
            <a:off x="4394424" y="1600200"/>
            <a:ext cx="446593" cy="541325"/>
          </a:xfrm>
          <a:prstGeom prst="ellipse">
            <a:avLst/>
          </a:prstGeom>
          <a:solidFill>
            <a:srgbClr val="F6DDC8"/>
          </a:solidFill>
          <a:ln w="31750">
            <a:solidFill>
              <a:srgbClr val="B98E6E"/>
            </a:solidFill>
            <a:prstDash val="solid"/>
          </a:ln>
        </p:spPr>
      </p:sp>
      <p:sp>
        <p:nvSpPr>
          <p:cNvPr id="42" name="Shape 40"/>
          <p:cNvSpPr/>
          <p:nvPr/>
        </p:nvSpPr>
        <p:spPr>
          <a:xfrm rot="420000">
            <a:off x="3859865" y="2276856"/>
            <a:ext cx="189464" cy="1251814"/>
          </a:xfrm>
          <a:prstGeom prst="roundRect">
            <a:avLst>
              <a:gd name="adj" fmla="val 45000"/>
            </a:avLst>
          </a:prstGeom>
          <a:solidFill>
            <a:srgbClr val="F6DDC8"/>
          </a:solidFill>
          <a:ln/>
        </p:spPr>
      </p:sp>
      <p:sp>
        <p:nvSpPr>
          <p:cNvPr id="43" name="Shape 41"/>
          <p:cNvSpPr/>
          <p:nvPr/>
        </p:nvSpPr>
        <p:spPr>
          <a:xfrm rot="-420000">
            <a:off x="5186111" y="2276856"/>
            <a:ext cx="189464" cy="1251814"/>
          </a:xfrm>
          <a:prstGeom prst="roundRect">
            <a:avLst>
              <a:gd name="adj" fmla="val 45000"/>
            </a:avLst>
          </a:prstGeom>
          <a:solidFill>
            <a:srgbClr val="F6DDC8"/>
          </a:solidFill>
          <a:ln/>
        </p:spPr>
      </p:sp>
      <p:sp>
        <p:nvSpPr>
          <p:cNvPr id="44" name="Shape 42"/>
          <p:cNvSpPr/>
          <p:nvPr/>
        </p:nvSpPr>
        <p:spPr>
          <a:xfrm>
            <a:off x="4184660" y="3359506"/>
            <a:ext cx="365394" cy="1319479"/>
          </a:xfrm>
          <a:prstGeom prst="roundRect">
            <a:avLst>
              <a:gd name="adj" fmla="val 45000"/>
            </a:avLst>
          </a:prstGeom>
          <a:solidFill>
            <a:srgbClr val="F6DDC8"/>
          </a:solidFill>
          <a:ln/>
        </p:spPr>
      </p:sp>
      <p:sp>
        <p:nvSpPr>
          <p:cNvPr id="45" name="Shape 43"/>
          <p:cNvSpPr/>
          <p:nvPr/>
        </p:nvSpPr>
        <p:spPr>
          <a:xfrm>
            <a:off x="4685386" y="3359506"/>
            <a:ext cx="365394" cy="1319479"/>
          </a:xfrm>
          <a:prstGeom prst="roundRect">
            <a:avLst>
              <a:gd name="adj" fmla="val 45000"/>
            </a:avLst>
          </a:prstGeom>
          <a:solidFill>
            <a:srgbClr val="F6DDC8"/>
          </a:solidFill>
          <a:ln/>
        </p:spPr>
      </p:sp>
      <p:sp>
        <p:nvSpPr>
          <p:cNvPr id="46" name="Shape 44"/>
          <p:cNvSpPr/>
          <p:nvPr/>
        </p:nvSpPr>
        <p:spPr>
          <a:xfrm>
            <a:off x="4076395" y="2222724"/>
            <a:ext cx="1082650" cy="1353312"/>
          </a:xfrm>
          <a:prstGeom prst="roundRect">
            <a:avLst>
              <a:gd name="adj" fmla="val 45000"/>
            </a:avLst>
          </a:prstGeom>
          <a:solidFill>
            <a:srgbClr val="F6DDC8"/>
          </a:solidFill>
          <a:ln/>
        </p:spPr>
      </p:sp>
      <p:sp>
        <p:nvSpPr>
          <p:cNvPr id="47" name="Shape 45"/>
          <p:cNvSpPr/>
          <p:nvPr/>
        </p:nvSpPr>
        <p:spPr>
          <a:xfrm>
            <a:off x="4529755" y="2073859"/>
            <a:ext cx="175931" cy="202997"/>
          </a:xfrm>
          <a:prstGeom prst="rect">
            <a:avLst/>
          </a:prstGeom>
          <a:solidFill>
            <a:srgbClr val="F6DDC8"/>
          </a:solidFill>
          <a:ln/>
        </p:spPr>
      </p:sp>
      <p:sp>
        <p:nvSpPr>
          <p:cNvPr id="48" name="Shape 46"/>
          <p:cNvSpPr/>
          <p:nvPr/>
        </p:nvSpPr>
        <p:spPr>
          <a:xfrm>
            <a:off x="4394424" y="1600200"/>
            <a:ext cx="446593" cy="541325"/>
          </a:xfrm>
          <a:prstGeom prst="ellipse">
            <a:avLst/>
          </a:prstGeom>
          <a:solidFill>
            <a:srgbClr val="F6DDC8"/>
          </a:solidFill>
          <a:ln/>
        </p:spPr>
      </p:sp>
      <p:sp>
        <p:nvSpPr>
          <p:cNvPr id="49" name="Shape 47"/>
          <p:cNvSpPr/>
          <p:nvPr/>
        </p:nvSpPr>
        <p:spPr>
          <a:xfrm>
            <a:off x="4617720" y="3596335"/>
            <a:ext cx="91" cy="1048817"/>
          </a:xfrm>
          <a:prstGeom prst="line">
            <a:avLst/>
          </a:prstGeom>
          <a:noFill/>
          <a:ln w="15875">
            <a:solidFill>
              <a:srgbClr val="B98E6E"/>
            </a:solidFill>
            <a:prstDash val="solid"/>
          </a:ln>
        </p:spPr>
      </p:sp>
      <p:sp>
        <p:nvSpPr>
          <p:cNvPr id="50" name="Shape 48"/>
          <p:cNvSpPr/>
          <p:nvPr/>
        </p:nvSpPr>
        <p:spPr>
          <a:xfrm>
            <a:off x="4441789" y="1681399"/>
            <a:ext cx="351861" cy="243596"/>
          </a:xfrm>
          <a:prstGeom prst="ellipse">
            <a:avLst/>
          </a:prstGeom>
          <a:solidFill>
            <a:srgbClr val="F4C7D0"/>
          </a:solidFill>
          <a:ln w="9525">
            <a:solidFill>
              <a:srgbClr val="C98393"/>
            </a:solidFill>
            <a:prstDash val="solid"/>
          </a:ln>
        </p:spPr>
      </p:sp>
      <p:sp>
        <p:nvSpPr>
          <p:cNvPr id="51" name="Shape 49"/>
          <p:cNvSpPr/>
          <p:nvPr/>
        </p:nvSpPr>
        <p:spPr>
          <a:xfrm>
            <a:off x="4577121" y="1918228"/>
            <a:ext cx="81199" cy="81199"/>
          </a:xfrm>
          <a:prstGeom prst="ellipse">
            <a:avLst/>
          </a:prstGeom>
          <a:solidFill>
            <a:srgbClr val="C8414C"/>
          </a:solidFill>
          <a:ln w="12700">
            <a:solidFill>
              <a:srgbClr val="8E2A33"/>
            </a:solidFill>
            <a:prstDash val="solid"/>
          </a:ln>
        </p:spPr>
      </p:sp>
      <p:sp>
        <p:nvSpPr>
          <p:cNvPr id="52" name="Text 50"/>
          <p:cNvSpPr/>
          <p:nvPr/>
        </p:nvSpPr>
        <p:spPr>
          <a:xfrm>
            <a:off x="3611880" y="1271016"/>
            <a:ext cx="2011680" cy="256032"/>
          </a:xfrm>
          <a:prstGeom prst="rect">
            <a:avLst/>
          </a:prstGeom>
          <a:noFill/>
          <a:ln/>
        </p:spPr>
        <p:txBody>
          <a:bodyPr wrap="square" lIns="0" tIns="0" rIns="0" bIns="0" rtlCol="0" anchor="ctr"/>
          <a:lstStyle/>
          <a:p>
            <a:pPr algn="ctr" indent="0" marL="0">
              <a:buNone/>
            </a:pPr>
            <a:r>
              <a:rPr lang="en-US" sz="1200" b="1" dirty="0">
                <a:solidFill>
                  <a:srgbClr val="1F4E8C"/>
                </a:solidFill>
                <a:latin typeface="Calibri" pitchFamily="34" charset="0"/>
                <a:ea typeface="Calibri" pitchFamily="34" charset="-122"/>
                <a:cs typeface="Calibri" pitchFamily="34" charset="-120"/>
              </a:rPr>
              <a:t>Male</a:t>
            </a:r>
            <a:endParaRPr lang="en-US" sz="1200" dirty="0"/>
          </a:p>
        </p:txBody>
      </p:sp>
      <p:sp>
        <p:nvSpPr>
          <p:cNvPr id="53" name="Shape 51"/>
          <p:cNvSpPr/>
          <p:nvPr/>
        </p:nvSpPr>
        <p:spPr>
          <a:xfrm>
            <a:off x="4434840" y="3488619"/>
            <a:ext cx="365760" cy="256032"/>
          </a:xfrm>
          <a:prstGeom prst="ellipse">
            <a:avLst/>
          </a:prstGeom>
          <a:solidFill>
            <a:srgbClr val="F6DDC8"/>
          </a:solidFill>
          <a:ln w="15875">
            <a:solidFill>
              <a:srgbClr val="B98E6E"/>
            </a:solidFill>
            <a:prstDash val="solid"/>
          </a:ln>
        </p:spPr>
      </p:sp>
      <p:sp>
        <p:nvSpPr>
          <p:cNvPr id="54" name="Shape 52"/>
          <p:cNvSpPr/>
          <p:nvPr/>
        </p:nvSpPr>
        <p:spPr>
          <a:xfrm>
            <a:off x="4485132" y="3541105"/>
            <a:ext cx="118872" cy="164592"/>
          </a:xfrm>
          <a:prstGeom prst="ellipse">
            <a:avLst/>
          </a:prstGeom>
          <a:solidFill>
            <a:srgbClr val="3B7DD8"/>
          </a:solidFill>
          <a:ln w="12700">
            <a:solidFill>
              <a:srgbClr val="1F4E8C"/>
            </a:solidFill>
            <a:prstDash val="solid"/>
          </a:ln>
        </p:spPr>
      </p:sp>
      <p:sp>
        <p:nvSpPr>
          <p:cNvPr id="55" name="Shape 53"/>
          <p:cNvSpPr/>
          <p:nvPr/>
        </p:nvSpPr>
        <p:spPr>
          <a:xfrm>
            <a:off x="4631436" y="3541105"/>
            <a:ext cx="118872" cy="164592"/>
          </a:xfrm>
          <a:prstGeom prst="ellipse">
            <a:avLst/>
          </a:prstGeom>
          <a:solidFill>
            <a:srgbClr val="3B7DD8"/>
          </a:solidFill>
          <a:ln w="12700">
            <a:solidFill>
              <a:srgbClr val="1F4E8C"/>
            </a:solidFill>
            <a:prstDash val="solid"/>
          </a:ln>
        </p:spPr>
      </p:sp>
      <p:sp>
        <p:nvSpPr>
          <p:cNvPr id="56" name="Shape 54"/>
          <p:cNvSpPr/>
          <p:nvPr/>
        </p:nvSpPr>
        <p:spPr>
          <a:xfrm>
            <a:off x="4663440" y="1958828"/>
            <a:ext cx="868680" cy="91"/>
          </a:xfrm>
          <a:prstGeom prst="line">
            <a:avLst/>
          </a:prstGeom>
          <a:noFill/>
          <a:ln w="22225">
            <a:solidFill>
              <a:srgbClr val="C8414C"/>
            </a:solidFill>
            <a:prstDash val="solid"/>
          </a:ln>
        </p:spPr>
      </p:sp>
      <p:sp>
        <p:nvSpPr>
          <p:cNvPr id="57" name="Shape 55"/>
          <p:cNvSpPr/>
          <p:nvPr/>
        </p:nvSpPr>
        <p:spPr>
          <a:xfrm>
            <a:off x="5532120" y="1958828"/>
            <a:ext cx="91" cy="1435974"/>
          </a:xfrm>
          <a:prstGeom prst="line">
            <a:avLst/>
          </a:prstGeom>
          <a:noFill/>
          <a:ln w="22225">
            <a:solidFill>
              <a:srgbClr val="C8414C"/>
            </a:solidFill>
            <a:prstDash val="solid"/>
            <a:tailEnd type="triangle"/>
          </a:ln>
        </p:spPr>
      </p:sp>
      <p:sp>
        <p:nvSpPr>
          <p:cNvPr id="58" name="Text 56"/>
          <p:cNvSpPr/>
          <p:nvPr/>
        </p:nvSpPr>
        <p:spPr>
          <a:xfrm>
            <a:off x="5577840" y="2187428"/>
            <a:ext cx="685800" cy="256032"/>
          </a:xfrm>
          <a:prstGeom prst="rect">
            <a:avLst/>
          </a:prstGeom>
          <a:noFill/>
          <a:ln/>
        </p:spPr>
        <p:txBody>
          <a:bodyPr wrap="square" lIns="0" tIns="0" rIns="0" bIns="0" rtlCol="0" anchor="ctr"/>
          <a:lstStyle/>
          <a:p>
            <a:pPr algn="l" indent="0" marL="0">
              <a:buNone/>
            </a:pPr>
            <a:r>
              <a:rPr lang="en-US" sz="1000" b="1" dirty="0">
                <a:solidFill>
                  <a:srgbClr val="8E2A33"/>
                </a:solidFill>
                <a:latin typeface="Calibri" pitchFamily="34" charset="0"/>
                <a:ea typeface="Calibri" pitchFamily="34" charset="-122"/>
                <a:cs typeface="Calibri" pitchFamily="34" charset="-120"/>
              </a:rPr>
              <a:t>FSH, LH</a:t>
            </a:r>
            <a:endParaRPr lang="en-US" sz="1000" dirty="0"/>
          </a:p>
        </p:txBody>
      </p:sp>
      <p:sp>
        <p:nvSpPr>
          <p:cNvPr id="59" name="Shape 57"/>
          <p:cNvSpPr/>
          <p:nvPr/>
        </p:nvSpPr>
        <p:spPr>
          <a:xfrm flipH="1">
            <a:off x="4782312" y="3394801"/>
            <a:ext cx="749808" cy="182880"/>
          </a:xfrm>
          <a:prstGeom prst="line">
            <a:avLst/>
          </a:prstGeom>
          <a:noFill/>
          <a:ln w="22225">
            <a:solidFill>
              <a:srgbClr val="C8414C"/>
            </a:solidFill>
            <a:prstDash val="solid"/>
          </a:ln>
        </p:spPr>
      </p:sp>
      <p:sp>
        <p:nvSpPr>
          <p:cNvPr id="60" name="Text 58"/>
          <p:cNvSpPr/>
          <p:nvPr/>
        </p:nvSpPr>
        <p:spPr>
          <a:xfrm>
            <a:off x="3429000" y="4658685"/>
            <a:ext cx="2377440" cy="274320"/>
          </a:xfrm>
          <a:prstGeom prst="rect">
            <a:avLst/>
          </a:prstGeom>
          <a:noFill/>
          <a:ln/>
        </p:spPr>
        <p:txBody>
          <a:bodyPr wrap="square" lIns="0" tIns="0" rIns="0" bIns="0" rtlCol="0" anchor="ctr"/>
          <a:lstStyle/>
          <a:p>
            <a:pPr algn="ctr" indent="0" marL="0">
              <a:buNone/>
            </a:pPr>
            <a:r>
              <a:rPr lang="en-US" sz="1050" b="1" dirty="0">
                <a:solidFill>
                  <a:srgbClr val="1F4E8C"/>
                </a:solidFill>
                <a:latin typeface="Calibri" pitchFamily="34" charset="0"/>
                <a:ea typeface="Calibri" pitchFamily="34" charset="-122"/>
                <a:cs typeface="Calibri" pitchFamily="34" charset="-120"/>
              </a:rPr>
              <a:t>testes</a:t>
            </a:r>
            <a:r>
              <a:rPr lang="en-US" sz="1050" dirty="0">
                <a:solidFill>
                  <a:srgbClr val="1F4E8C"/>
                </a:solidFill>
                <a:latin typeface="Calibri" pitchFamily="34" charset="0"/>
                <a:ea typeface="Calibri" pitchFamily="34" charset="-122"/>
                <a:cs typeface="Calibri" pitchFamily="34" charset="-120"/>
              </a:rPr>
              <a:t> → </a:t>
            </a:r>
            <a:r>
              <a:rPr lang="en-US" sz="1050" b="1" dirty="0">
                <a:solidFill>
                  <a:srgbClr val="1F4E8C"/>
                </a:solidFill>
                <a:latin typeface="Calibri" pitchFamily="34" charset="0"/>
                <a:ea typeface="Calibri" pitchFamily="34" charset="-122"/>
                <a:cs typeface="Calibri" pitchFamily="34" charset="-120"/>
              </a:rPr>
              <a:t>testosterone</a:t>
            </a:r>
            <a:endParaRPr lang="en-US" sz="1050" dirty="0"/>
          </a:p>
        </p:txBody>
      </p:sp>
      <p:sp>
        <p:nvSpPr>
          <p:cNvPr id="61" name="Text 59"/>
          <p:cNvSpPr/>
          <p:nvPr/>
        </p:nvSpPr>
        <p:spPr>
          <a:xfrm>
            <a:off x="594360" y="5029200"/>
            <a:ext cx="5212080" cy="274320"/>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Pituitary </a:t>
            </a:r>
            <a:r>
              <a:rPr lang="en-US" sz="1050" b="1" dirty="0">
                <a:solidFill>
                  <a:srgbClr val="262B3A"/>
                </a:solidFill>
                <a:latin typeface="Calibri" pitchFamily="34" charset="0"/>
                <a:ea typeface="Calibri" pitchFamily="34" charset="-122"/>
                <a:cs typeface="Calibri" pitchFamily="34" charset="-120"/>
              </a:rPr>
              <a:t>FSH</a:t>
            </a:r>
            <a:r>
              <a:rPr lang="en-US" sz="1050" dirty="0">
                <a:solidFill>
                  <a:srgbClr val="262B3A"/>
                </a:solidFill>
                <a:latin typeface="Calibri" pitchFamily="34" charset="0"/>
                <a:ea typeface="Calibri" pitchFamily="34" charset="-122"/>
                <a:cs typeface="Calibri" pitchFamily="34" charset="-120"/>
              </a:rPr>
              <a:t> and </a:t>
            </a:r>
            <a:r>
              <a:rPr lang="en-US" sz="1050" b="1" dirty="0">
                <a:solidFill>
                  <a:srgbClr val="262B3A"/>
                </a:solidFill>
                <a:latin typeface="Calibri" pitchFamily="34" charset="0"/>
                <a:ea typeface="Calibri" pitchFamily="34" charset="-122"/>
                <a:cs typeface="Calibri" pitchFamily="34" charset="-120"/>
              </a:rPr>
              <a:t>LH</a:t>
            </a:r>
            <a:r>
              <a:rPr lang="en-US" sz="1050" dirty="0">
                <a:solidFill>
                  <a:srgbClr val="262B3A"/>
                </a:solidFill>
                <a:latin typeface="Calibri" pitchFamily="34" charset="0"/>
                <a:ea typeface="Calibri" pitchFamily="34" charset="-122"/>
                <a:cs typeface="Calibri" pitchFamily="34" charset="-120"/>
              </a:rPr>
              <a:t> → ovaries / testes → </a:t>
            </a:r>
            <a:r>
              <a:rPr lang="en-US" sz="1050" b="1" dirty="0">
                <a:solidFill>
                  <a:srgbClr val="262B3A"/>
                </a:solidFill>
                <a:latin typeface="Calibri" pitchFamily="34" charset="0"/>
                <a:ea typeface="Calibri" pitchFamily="34" charset="-122"/>
                <a:cs typeface="Calibri" pitchFamily="34" charset="-120"/>
              </a:rPr>
              <a:t>sex hormones</a:t>
            </a:r>
            <a:endParaRPr lang="en-US" sz="1050" dirty="0"/>
          </a:p>
        </p:txBody>
      </p:sp>
      <p:sp>
        <p:nvSpPr>
          <p:cNvPr id="62" name="Shape 60"/>
          <p:cNvSpPr/>
          <p:nvPr/>
        </p:nvSpPr>
        <p:spPr>
          <a:xfrm>
            <a:off x="6217920" y="1188720"/>
            <a:ext cx="5562295" cy="2606040"/>
          </a:xfrm>
          <a:prstGeom prst="roundRect">
            <a:avLst>
              <a:gd name="adj" fmla="val 2105"/>
            </a:avLst>
          </a:prstGeom>
          <a:solidFill>
            <a:srgbClr val="F4FAF9"/>
          </a:solidFill>
          <a:ln w="9525">
            <a:solidFill>
              <a:srgbClr val="CFE0DE"/>
            </a:solidFill>
            <a:prstDash val="solid"/>
          </a:ln>
        </p:spPr>
      </p:sp>
      <p:sp>
        <p:nvSpPr>
          <p:cNvPr id="63" name="Text 61"/>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What sex hormones do</a:t>
            </a:r>
            <a:endParaRPr lang="en-US" sz="1300" dirty="0"/>
          </a:p>
        </p:txBody>
      </p:sp>
      <p:sp>
        <p:nvSpPr>
          <p:cNvPr id="64" name="Text 62"/>
          <p:cNvSpPr/>
          <p:nvPr/>
        </p:nvSpPr>
        <p:spPr>
          <a:xfrm>
            <a:off x="6382512" y="1609344"/>
            <a:ext cx="5233111" cy="2112264"/>
          </a:xfrm>
          <a:prstGeom prst="rect">
            <a:avLst/>
          </a:prstGeom>
          <a:noFill/>
          <a:ln/>
        </p:spPr>
        <p:txBody>
          <a:bodyPr wrap="square" lIns="0" tIns="0" rIns="0" bIns="0" rtlCol="0" anchor="t"/>
          <a:lstStyle/>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Testosterone</a:t>
            </a:r>
            <a:r>
              <a:rPr lang="en-US" sz="1050" dirty="0">
                <a:solidFill>
                  <a:srgbClr val="262B3A"/>
                </a:solidFill>
                <a:latin typeface="Calibri" pitchFamily="34" charset="0"/>
                <a:ea typeface="Calibri" pitchFamily="34" charset="-122"/>
                <a:cs typeface="Calibri" pitchFamily="34" charset="-120"/>
              </a:rPr>
              <a:t> (made in the </a:t>
            </a:r>
            <a:r>
              <a:rPr lang="en-US" sz="1050" b="1" dirty="0">
                <a:solidFill>
                  <a:srgbClr val="262B3A"/>
                </a:solidFill>
                <a:latin typeface="Calibri" pitchFamily="34" charset="0"/>
                <a:ea typeface="Calibri" pitchFamily="34" charset="-122"/>
                <a:cs typeface="Calibri" pitchFamily="34" charset="-120"/>
              </a:rPr>
              <a:t>testes</a:t>
            </a:r>
            <a:r>
              <a:rPr lang="en-US" sz="1050" dirty="0">
                <a:solidFill>
                  <a:srgbClr val="262B3A"/>
                </a:solidFill>
                <a:latin typeface="Calibri" pitchFamily="34" charset="0"/>
                <a:ea typeface="Calibri" pitchFamily="34" charset="-122"/>
                <a:cs typeface="Calibri" pitchFamily="34" charset="-120"/>
              </a:rPr>
              <a:t>) is the main male hormone. It starts </a:t>
            </a:r>
            <a:r>
              <a:rPr lang="en-US" sz="1050" b="1" dirty="0">
                <a:solidFill>
                  <a:srgbClr val="262B3A"/>
                </a:solidFill>
                <a:latin typeface="Calibri" pitchFamily="34" charset="0"/>
                <a:ea typeface="Calibri" pitchFamily="34" charset="-122"/>
                <a:cs typeface="Calibri" pitchFamily="34" charset="-120"/>
              </a:rPr>
              <a:t>sperm production</a:t>
            </a:r>
            <a:r>
              <a:rPr lang="en-US" sz="1050" dirty="0">
                <a:solidFill>
                  <a:srgbClr val="262B3A"/>
                </a:solidFill>
                <a:latin typeface="Calibri" pitchFamily="34" charset="0"/>
                <a:ea typeface="Calibri" pitchFamily="34" charset="-122"/>
                <a:cs typeface="Calibri" pitchFamily="34" charset="-120"/>
              </a:rPr>
              <a:t> and causes male </a:t>
            </a:r>
            <a:r>
              <a:rPr lang="en-US" sz="1050" b="1" dirty="0">
                <a:solidFill>
                  <a:srgbClr val="262B3A"/>
                </a:solidFill>
                <a:latin typeface="Calibri" pitchFamily="34" charset="0"/>
                <a:ea typeface="Calibri" pitchFamily="34" charset="-122"/>
                <a:cs typeface="Calibri" pitchFamily="34" charset="-120"/>
              </a:rPr>
              <a:t>secondary sexual characteristics</a:t>
            </a:r>
            <a:r>
              <a:rPr lang="en-US" sz="1050" dirty="0">
                <a:solidFill>
                  <a:srgbClr val="262B3A"/>
                </a:solidFill>
                <a:latin typeface="Calibri" pitchFamily="34" charset="0"/>
                <a:ea typeface="Calibri" pitchFamily="34" charset="-122"/>
                <a:cs typeface="Calibri" pitchFamily="34" charset="-120"/>
              </a:rPr>
              <a:t>: deeper voice, facial and body hair, more muscle.</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Oestrogen</a:t>
            </a:r>
            <a:r>
              <a:rPr lang="en-US" sz="1050" dirty="0">
                <a:solidFill>
                  <a:srgbClr val="262B3A"/>
                </a:solidFill>
                <a:latin typeface="Calibri" pitchFamily="34" charset="0"/>
                <a:ea typeface="Calibri" pitchFamily="34" charset="-122"/>
                <a:cs typeface="Calibri" pitchFamily="34" charset="-120"/>
              </a:rPr>
              <a:t> (made in the </a:t>
            </a:r>
            <a:r>
              <a:rPr lang="en-US" sz="1050" b="1" dirty="0">
                <a:solidFill>
                  <a:srgbClr val="262B3A"/>
                </a:solidFill>
                <a:latin typeface="Calibri" pitchFamily="34" charset="0"/>
                <a:ea typeface="Calibri" pitchFamily="34" charset="-122"/>
                <a:cs typeface="Calibri" pitchFamily="34" charset="-120"/>
              </a:rPr>
              <a:t>ovaries</a:t>
            </a:r>
            <a:r>
              <a:rPr lang="en-US" sz="1050" dirty="0">
                <a:solidFill>
                  <a:srgbClr val="262B3A"/>
                </a:solidFill>
                <a:latin typeface="Calibri" pitchFamily="34" charset="0"/>
                <a:ea typeface="Calibri" pitchFamily="34" charset="-122"/>
                <a:cs typeface="Calibri" pitchFamily="34" charset="-120"/>
              </a:rPr>
              <a:t>) is the main female hormone. It causes breasts to develop, hips to widen, body hair, and starts the </a:t>
            </a:r>
            <a:r>
              <a:rPr lang="en-US" sz="1050" b="1" dirty="0">
                <a:solidFill>
                  <a:srgbClr val="262B3A"/>
                </a:solidFill>
                <a:latin typeface="Calibri" pitchFamily="34" charset="0"/>
                <a:ea typeface="Calibri" pitchFamily="34" charset="-122"/>
                <a:cs typeface="Calibri" pitchFamily="34" charset="-120"/>
              </a:rPr>
              <a:t>menstrual cycle</a:t>
            </a:r>
            <a:r>
              <a:rPr lang="en-US" sz="1050" dirty="0">
                <a:solidFill>
                  <a:srgbClr val="262B3A"/>
                </a:solidFill>
                <a:latin typeface="Calibri" pitchFamily="34" charset="0"/>
                <a:ea typeface="Calibri" pitchFamily="34" charset="-122"/>
                <a:cs typeface="Calibri" pitchFamily="34" charset="-120"/>
              </a:rPr>
              <a:t>: eggs mature and are released.</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Progesterone</a:t>
            </a:r>
            <a:r>
              <a:rPr lang="en-US" sz="1050" dirty="0">
                <a:solidFill>
                  <a:srgbClr val="262B3A"/>
                </a:solidFill>
                <a:latin typeface="Calibri" pitchFamily="34" charset="0"/>
                <a:ea typeface="Calibri" pitchFamily="34" charset="-122"/>
                <a:cs typeface="Calibri" pitchFamily="34" charset="-120"/>
              </a:rPr>
              <a:t> (ovaries) keeps the uterus lining ready for a pregnancy.</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Puberty is usually about age 10–16. At the </a:t>
            </a:r>
            <a:r>
              <a:rPr lang="en-US" sz="1050" b="1" dirty="0">
                <a:solidFill>
                  <a:srgbClr val="262B3A"/>
                </a:solidFill>
                <a:latin typeface="Calibri" pitchFamily="34" charset="0"/>
                <a:ea typeface="Calibri" pitchFamily="34" charset="-122"/>
                <a:cs typeface="Calibri" pitchFamily="34" charset="-120"/>
              </a:rPr>
              <a:t>menopause</a:t>
            </a:r>
            <a:r>
              <a:rPr lang="en-US" sz="1050" dirty="0">
                <a:solidFill>
                  <a:srgbClr val="262B3A"/>
                </a:solidFill>
                <a:latin typeface="Calibri" pitchFamily="34" charset="0"/>
                <a:ea typeface="Calibri" pitchFamily="34" charset="-122"/>
                <a:cs typeface="Calibri" pitchFamily="34" charset="-120"/>
              </a:rPr>
              <a:t> (about 50) the ovaries stop releasing eggs and oestrogen falls.</a:t>
            </a:r>
            <a:endParaRPr lang="en-US" sz="1050" dirty="0"/>
          </a:p>
        </p:txBody>
      </p:sp>
      <p:sp>
        <p:nvSpPr>
          <p:cNvPr id="65" name="Shape 63"/>
          <p:cNvSpPr/>
          <p:nvPr/>
        </p:nvSpPr>
        <p:spPr>
          <a:xfrm>
            <a:off x="6217920" y="3931920"/>
            <a:ext cx="5562295" cy="1783080"/>
          </a:xfrm>
          <a:prstGeom prst="roundRect">
            <a:avLst>
              <a:gd name="adj" fmla="val 3077"/>
            </a:avLst>
          </a:prstGeom>
          <a:solidFill>
            <a:srgbClr val="FFF4E0"/>
          </a:solidFill>
          <a:ln w="9525">
            <a:solidFill>
              <a:srgbClr val="F1D9A8"/>
            </a:solidFill>
            <a:prstDash val="solid"/>
          </a:ln>
        </p:spPr>
      </p:sp>
      <p:sp>
        <p:nvSpPr>
          <p:cNvPr id="66" name="Text 64"/>
          <p:cNvSpPr/>
          <p:nvPr/>
        </p:nvSpPr>
        <p:spPr>
          <a:xfrm>
            <a:off x="6382512" y="400507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explain</a:t>
            </a:r>
            <a:endParaRPr lang="en-US" sz="1300" dirty="0"/>
          </a:p>
        </p:txBody>
      </p:sp>
      <p:sp>
        <p:nvSpPr>
          <p:cNvPr id="67" name="Text 65"/>
          <p:cNvSpPr/>
          <p:nvPr/>
        </p:nvSpPr>
        <p:spPr>
          <a:xfrm>
            <a:off x="6382512" y="4315968"/>
            <a:ext cx="5233111" cy="132588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Explain how the pituitary gland causes a boy's voice to deepen at puberty.</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Signal   </a:t>
            </a:r>
            <a:r>
              <a:rPr lang="en-US" sz="1050" dirty="0">
                <a:solidFill>
                  <a:srgbClr val="262B3A"/>
                </a:solidFill>
                <a:latin typeface="Calibri" pitchFamily="34" charset="0"/>
                <a:ea typeface="Calibri" pitchFamily="34" charset="-122"/>
                <a:cs typeface="Calibri" pitchFamily="34" charset="-120"/>
              </a:rPr>
              <a:t>the pituitary releases FSH and LH into the blood</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Target   </a:t>
            </a:r>
            <a:r>
              <a:rPr lang="en-US" sz="1050" dirty="0">
                <a:solidFill>
                  <a:srgbClr val="262B3A"/>
                </a:solidFill>
                <a:latin typeface="Calibri" pitchFamily="34" charset="0"/>
                <a:ea typeface="Calibri" pitchFamily="34" charset="-122"/>
                <a:cs typeface="Calibri" pitchFamily="34" charset="-120"/>
              </a:rPr>
              <a:t>they reach the testes, which have receptors for them</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Hormone   </a:t>
            </a:r>
            <a:r>
              <a:rPr lang="en-US" sz="1050" dirty="0">
                <a:solidFill>
                  <a:srgbClr val="262B3A"/>
                </a:solidFill>
                <a:latin typeface="Calibri" pitchFamily="34" charset="0"/>
                <a:ea typeface="Calibri" pitchFamily="34" charset="-122"/>
                <a:cs typeface="Calibri" pitchFamily="34" charset="-120"/>
              </a:rPr>
              <a:t>the testes make more testosterone</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testosterone acts on the larynx: the voice deepens</a:t>
            </a:r>
            <a:endParaRPr lang="en-US" sz="1050" dirty="0"/>
          </a:p>
        </p:txBody>
      </p:sp>
      <p:sp>
        <p:nvSpPr>
          <p:cNvPr id="68" name="Shape 66"/>
          <p:cNvSpPr/>
          <p:nvPr/>
        </p:nvSpPr>
        <p:spPr>
          <a:xfrm>
            <a:off x="411480" y="5833872"/>
            <a:ext cx="11368735" cy="530352"/>
          </a:xfrm>
          <a:prstGeom prst="rect">
            <a:avLst/>
          </a:prstGeom>
          <a:solidFill>
            <a:srgbClr val="FFF4E0"/>
          </a:solidFill>
          <a:ln w="6350">
            <a:solidFill>
              <a:srgbClr val="F1D9A8"/>
            </a:solidFill>
            <a:prstDash val="solid"/>
          </a:ln>
        </p:spPr>
      </p:sp>
      <p:sp>
        <p:nvSpPr>
          <p:cNvPr id="69" name="Shape 67"/>
          <p:cNvSpPr/>
          <p:nvPr/>
        </p:nvSpPr>
        <p:spPr>
          <a:xfrm>
            <a:off x="411480" y="5833872"/>
            <a:ext cx="82296" cy="530352"/>
          </a:xfrm>
          <a:prstGeom prst="rect">
            <a:avLst/>
          </a:prstGeom>
          <a:solidFill>
            <a:srgbClr val="E39A2F"/>
          </a:solidFill>
          <a:ln w="12700">
            <a:solidFill>
              <a:srgbClr val="E39A2F"/>
            </a:solidFill>
            <a:prstDash val="solid"/>
          </a:ln>
        </p:spPr>
      </p:sp>
      <p:sp>
        <p:nvSpPr>
          <p:cNvPr id="70" name="Text 6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Name the sex hormone made by (a) the </a:t>
            </a:r>
            <a:r>
              <a:rPr lang="en-US" sz="1150" b="1" dirty="0">
                <a:solidFill>
                  <a:srgbClr val="262B3A"/>
                </a:solidFill>
                <a:latin typeface="Calibri" pitchFamily="34" charset="0"/>
                <a:ea typeface="Calibri" pitchFamily="34" charset="-122"/>
                <a:cs typeface="Calibri" pitchFamily="34" charset="-120"/>
              </a:rPr>
              <a:t>testes</a:t>
            </a:r>
            <a:r>
              <a:rPr lang="en-US" sz="1150" dirty="0">
                <a:solidFill>
                  <a:srgbClr val="262B3A"/>
                </a:solidFill>
                <a:latin typeface="Calibri" pitchFamily="34" charset="0"/>
                <a:ea typeface="Calibri" pitchFamily="34" charset="-122"/>
                <a:cs typeface="Calibri" pitchFamily="34" charset="-120"/>
              </a:rPr>
              <a:t> (b) the </a:t>
            </a:r>
            <a:r>
              <a:rPr lang="en-US" sz="1150" b="1" dirty="0">
                <a:solidFill>
                  <a:srgbClr val="262B3A"/>
                </a:solidFill>
                <a:latin typeface="Calibri" pitchFamily="34" charset="0"/>
                <a:ea typeface="Calibri" pitchFamily="34" charset="-122"/>
                <a:cs typeface="Calibri" pitchFamily="34" charset="-120"/>
              </a:rPr>
              <a:t>ovaries</a:t>
            </a:r>
            <a:r>
              <a:rPr lang="en-US" sz="1150" dirty="0">
                <a:solidFill>
                  <a:srgbClr val="262B3A"/>
                </a:solidFill>
                <a:latin typeface="Calibri" pitchFamily="34" charset="0"/>
                <a:ea typeface="Calibri" pitchFamily="34" charset="-122"/>
                <a:cs typeface="Calibri" pitchFamily="34" charset="-120"/>
              </a:rPr>
              <a:t>. Give </a:t>
            </a:r>
            <a:r>
              <a:rPr lang="en-US" sz="1150" b="1" dirty="0">
                <a:solidFill>
                  <a:srgbClr val="262B3A"/>
                </a:solidFill>
                <a:latin typeface="Calibri" pitchFamily="34" charset="0"/>
                <a:ea typeface="Calibri" pitchFamily="34" charset="-122"/>
                <a:cs typeface="Calibri" pitchFamily="34" charset="-120"/>
              </a:rPr>
              <a:t>one</a:t>
            </a:r>
            <a:r>
              <a:rPr lang="en-US" sz="1150" dirty="0">
                <a:solidFill>
                  <a:srgbClr val="262B3A"/>
                </a:solidFill>
                <a:latin typeface="Calibri" pitchFamily="34" charset="0"/>
                <a:ea typeface="Calibri" pitchFamily="34" charset="-122"/>
                <a:cs typeface="Calibri" pitchFamily="34" charset="-120"/>
              </a:rPr>
              <a:t> change each hormone causes at puberty.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The menstrual cycle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B5.5.1 • a cycle of about 28 days that releases an egg and prepares the uterus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B5.5 What role do hormones play in human reproduction?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B5.5.1  |  6</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female reproductive system, front view (uterus cut open)</a:t>
            </a:r>
            <a:endParaRPr lang="en-US" sz="1000" dirty="0"/>
          </a:p>
        </p:txBody>
      </p:sp>
      <p:sp>
        <p:nvSpPr>
          <p:cNvPr id="10" name="Shape 8"/>
          <p:cNvSpPr/>
          <p:nvPr/>
        </p:nvSpPr>
        <p:spPr>
          <a:xfrm flipH="1" flipV="1">
            <a:off x="1984248" y="1832092"/>
            <a:ext cx="351130" cy="245791"/>
          </a:xfrm>
          <a:prstGeom prst="line">
            <a:avLst/>
          </a:prstGeom>
          <a:noFill/>
          <a:ln w="113792">
            <a:solidFill>
              <a:srgbClr val="A33E48"/>
            </a:solidFill>
            <a:prstDash val="solid"/>
          </a:ln>
        </p:spPr>
      </p:sp>
      <p:sp>
        <p:nvSpPr>
          <p:cNvPr id="11" name="Shape 9"/>
          <p:cNvSpPr/>
          <p:nvPr/>
        </p:nvSpPr>
        <p:spPr>
          <a:xfrm flipH="1" flipV="1">
            <a:off x="1574597" y="1715049"/>
            <a:ext cx="409651" cy="117043"/>
          </a:xfrm>
          <a:prstGeom prst="line">
            <a:avLst/>
          </a:prstGeom>
          <a:noFill/>
          <a:ln w="113792">
            <a:solidFill>
              <a:srgbClr val="A33E48"/>
            </a:solidFill>
            <a:prstDash val="solid"/>
          </a:ln>
        </p:spPr>
      </p:sp>
      <p:sp>
        <p:nvSpPr>
          <p:cNvPr id="12" name="Shape 10"/>
          <p:cNvSpPr/>
          <p:nvPr/>
        </p:nvSpPr>
        <p:spPr>
          <a:xfrm flipH="1">
            <a:off x="1164946" y="1715049"/>
            <a:ext cx="409651" cy="187269"/>
          </a:xfrm>
          <a:prstGeom prst="line">
            <a:avLst/>
          </a:prstGeom>
          <a:noFill/>
          <a:ln w="113792">
            <a:solidFill>
              <a:srgbClr val="A33E48"/>
            </a:solidFill>
            <a:prstDash val="solid"/>
          </a:ln>
        </p:spPr>
      </p:sp>
      <p:sp>
        <p:nvSpPr>
          <p:cNvPr id="13" name="Shape 11"/>
          <p:cNvSpPr/>
          <p:nvPr/>
        </p:nvSpPr>
        <p:spPr>
          <a:xfrm flipH="1">
            <a:off x="954268" y="1902318"/>
            <a:ext cx="210678" cy="316017"/>
          </a:xfrm>
          <a:prstGeom prst="line">
            <a:avLst/>
          </a:prstGeom>
          <a:noFill/>
          <a:ln w="113792">
            <a:solidFill>
              <a:srgbClr val="A33E48"/>
            </a:solidFill>
            <a:prstDash val="solid"/>
          </a:ln>
        </p:spPr>
      </p:sp>
      <p:sp>
        <p:nvSpPr>
          <p:cNvPr id="14" name="Shape 12"/>
          <p:cNvSpPr/>
          <p:nvPr/>
        </p:nvSpPr>
        <p:spPr>
          <a:xfrm flipH="1" flipV="1">
            <a:off x="1984248" y="1832092"/>
            <a:ext cx="351130" cy="245791"/>
          </a:xfrm>
          <a:prstGeom prst="line">
            <a:avLst/>
          </a:prstGeom>
          <a:noFill/>
          <a:ln w="73152">
            <a:solidFill>
              <a:srgbClr val="EFB4B8"/>
            </a:solidFill>
            <a:prstDash val="solid"/>
          </a:ln>
        </p:spPr>
      </p:sp>
      <p:sp>
        <p:nvSpPr>
          <p:cNvPr id="15" name="Shape 13"/>
          <p:cNvSpPr/>
          <p:nvPr/>
        </p:nvSpPr>
        <p:spPr>
          <a:xfrm flipH="1" flipV="1">
            <a:off x="1574597" y="1715049"/>
            <a:ext cx="409651" cy="117043"/>
          </a:xfrm>
          <a:prstGeom prst="line">
            <a:avLst/>
          </a:prstGeom>
          <a:noFill/>
          <a:ln w="73152">
            <a:solidFill>
              <a:srgbClr val="EFB4B8"/>
            </a:solidFill>
            <a:prstDash val="solid"/>
          </a:ln>
        </p:spPr>
      </p:sp>
      <p:sp>
        <p:nvSpPr>
          <p:cNvPr id="16" name="Shape 14"/>
          <p:cNvSpPr/>
          <p:nvPr/>
        </p:nvSpPr>
        <p:spPr>
          <a:xfrm flipH="1">
            <a:off x="1164946" y="1715049"/>
            <a:ext cx="409651" cy="187269"/>
          </a:xfrm>
          <a:prstGeom prst="line">
            <a:avLst/>
          </a:prstGeom>
          <a:noFill/>
          <a:ln w="73152">
            <a:solidFill>
              <a:srgbClr val="EFB4B8"/>
            </a:solidFill>
            <a:prstDash val="solid"/>
          </a:ln>
        </p:spPr>
      </p:sp>
      <p:sp>
        <p:nvSpPr>
          <p:cNvPr id="17" name="Shape 15"/>
          <p:cNvSpPr/>
          <p:nvPr/>
        </p:nvSpPr>
        <p:spPr>
          <a:xfrm flipH="1">
            <a:off x="954268" y="1902318"/>
            <a:ext cx="210678" cy="316017"/>
          </a:xfrm>
          <a:prstGeom prst="line">
            <a:avLst/>
          </a:prstGeom>
          <a:noFill/>
          <a:ln w="73152">
            <a:solidFill>
              <a:srgbClr val="EFB4B8"/>
            </a:solidFill>
            <a:prstDash val="solid"/>
          </a:ln>
        </p:spPr>
      </p:sp>
      <p:sp>
        <p:nvSpPr>
          <p:cNvPr id="18" name="Shape 16"/>
          <p:cNvSpPr/>
          <p:nvPr/>
        </p:nvSpPr>
        <p:spPr>
          <a:xfrm flipH="1">
            <a:off x="788066" y="2218334"/>
            <a:ext cx="166201" cy="198973"/>
          </a:xfrm>
          <a:prstGeom prst="line">
            <a:avLst/>
          </a:prstGeom>
          <a:noFill/>
          <a:ln w="15875">
            <a:solidFill>
              <a:srgbClr val="A33E48"/>
            </a:solidFill>
            <a:prstDash val="solid"/>
          </a:ln>
        </p:spPr>
      </p:sp>
      <p:sp>
        <p:nvSpPr>
          <p:cNvPr id="19" name="Shape 17"/>
          <p:cNvSpPr/>
          <p:nvPr/>
        </p:nvSpPr>
        <p:spPr>
          <a:xfrm flipH="1">
            <a:off x="837225" y="2218334"/>
            <a:ext cx="117043" cy="198973"/>
          </a:xfrm>
          <a:prstGeom prst="line">
            <a:avLst/>
          </a:prstGeom>
          <a:noFill/>
          <a:ln w="15875">
            <a:solidFill>
              <a:srgbClr val="A33E48"/>
            </a:solidFill>
            <a:prstDash val="solid"/>
          </a:ln>
        </p:spPr>
      </p:sp>
      <p:sp>
        <p:nvSpPr>
          <p:cNvPr id="20" name="Shape 18"/>
          <p:cNvSpPr/>
          <p:nvPr/>
        </p:nvSpPr>
        <p:spPr>
          <a:xfrm flipH="1">
            <a:off x="886383" y="2218334"/>
            <a:ext cx="67885" cy="198973"/>
          </a:xfrm>
          <a:prstGeom prst="line">
            <a:avLst/>
          </a:prstGeom>
          <a:noFill/>
          <a:ln w="15875">
            <a:solidFill>
              <a:srgbClr val="A33E48"/>
            </a:solidFill>
            <a:prstDash val="solid"/>
          </a:ln>
        </p:spPr>
      </p:sp>
      <p:sp>
        <p:nvSpPr>
          <p:cNvPr id="21" name="Shape 19"/>
          <p:cNvSpPr/>
          <p:nvPr/>
        </p:nvSpPr>
        <p:spPr>
          <a:xfrm>
            <a:off x="1047902" y="2429012"/>
            <a:ext cx="702259" cy="444764"/>
          </a:xfrm>
          <a:prstGeom prst="ellipse">
            <a:avLst/>
          </a:prstGeom>
          <a:solidFill>
            <a:srgbClr val="F3D3A6"/>
          </a:solidFill>
          <a:ln w="15875">
            <a:solidFill>
              <a:srgbClr val="9A6A2A"/>
            </a:solidFill>
            <a:prstDash val="solid"/>
          </a:ln>
        </p:spPr>
      </p:sp>
      <p:sp>
        <p:nvSpPr>
          <p:cNvPr id="22" name="Shape 20"/>
          <p:cNvSpPr/>
          <p:nvPr/>
        </p:nvSpPr>
        <p:spPr>
          <a:xfrm>
            <a:off x="1138541" y="2534866"/>
            <a:ext cx="99627" cy="99627"/>
          </a:xfrm>
          <a:prstGeom prst="ellipse">
            <a:avLst/>
          </a:prstGeom>
          <a:solidFill>
            <a:srgbClr val="FFF6E8"/>
          </a:solidFill>
          <a:ln w="6350">
            <a:solidFill>
              <a:srgbClr val="9A6A2A"/>
            </a:solidFill>
            <a:prstDash val="solid"/>
          </a:ln>
        </p:spPr>
      </p:sp>
      <p:sp>
        <p:nvSpPr>
          <p:cNvPr id="23" name="Shape 21"/>
          <p:cNvSpPr/>
          <p:nvPr/>
        </p:nvSpPr>
        <p:spPr>
          <a:xfrm>
            <a:off x="1391448" y="2706545"/>
            <a:ext cx="85395" cy="85395"/>
          </a:xfrm>
          <a:prstGeom prst="ellipse">
            <a:avLst/>
          </a:prstGeom>
          <a:solidFill>
            <a:srgbClr val="FFF6E8"/>
          </a:solidFill>
          <a:ln w="6350">
            <a:solidFill>
              <a:srgbClr val="9A6A2A"/>
            </a:solidFill>
            <a:prstDash val="solid"/>
          </a:ln>
        </p:spPr>
      </p:sp>
      <p:sp>
        <p:nvSpPr>
          <p:cNvPr id="24" name="Shape 22"/>
          <p:cNvSpPr/>
          <p:nvPr/>
        </p:nvSpPr>
        <p:spPr>
          <a:xfrm>
            <a:off x="1293225" y="2669185"/>
            <a:ext cx="71162" cy="71162"/>
          </a:xfrm>
          <a:prstGeom prst="ellipse">
            <a:avLst/>
          </a:prstGeom>
          <a:solidFill>
            <a:srgbClr val="FFF6E8"/>
          </a:solidFill>
          <a:ln w="6350">
            <a:solidFill>
              <a:srgbClr val="9A6A2A"/>
            </a:solidFill>
            <a:prstDash val="solid"/>
          </a:ln>
        </p:spPr>
      </p:sp>
      <p:sp>
        <p:nvSpPr>
          <p:cNvPr id="25" name="Shape 23"/>
          <p:cNvSpPr/>
          <p:nvPr/>
        </p:nvSpPr>
        <p:spPr>
          <a:xfrm flipH="1">
            <a:off x="1750162" y="2311969"/>
            <a:ext cx="491581" cy="316017"/>
          </a:xfrm>
          <a:prstGeom prst="line">
            <a:avLst/>
          </a:prstGeom>
          <a:noFill/>
          <a:ln w="15875">
            <a:solidFill>
              <a:srgbClr val="9A6A2A"/>
            </a:solidFill>
            <a:prstDash val="solid"/>
          </a:ln>
        </p:spPr>
      </p:sp>
      <p:sp>
        <p:nvSpPr>
          <p:cNvPr id="26" name="Shape 24"/>
          <p:cNvSpPr/>
          <p:nvPr/>
        </p:nvSpPr>
        <p:spPr>
          <a:xfrm flipV="1">
            <a:off x="3973982" y="1832092"/>
            <a:ext cx="351130" cy="245791"/>
          </a:xfrm>
          <a:prstGeom prst="line">
            <a:avLst/>
          </a:prstGeom>
          <a:noFill/>
          <a:ln w="113792">
            <a:solidFill>
              <a:srgbClr val="A33E48"/>
            </a:solidFill>
            <a:prstDash val="solid"/>
          </a:ln>
        </p:spPr>
      </p:sp>
      <p:sp>
        <p:nvSpPr>
          <p:cNvPr id="27" name="Shape 25"/>
          <p:cNvSpPr/>
          <p:nvPr/>
        </p:nvSpPr>
        <p:spPr>
          <a:xfrm flipV="1">
            <a:off x="4325112" y="1715049"/>
            <a:ext cx="409651" cy="117043"/>
          </a:xfrm>
          <a:prstGeom prst="line">
            <a:avLst/>
          </a:prstGeom>
          <a:noFill/>
          <a:ln w="113792">
            <a:solidFill>
              <a:srgbClr val="A33E48"/>
            </a:solidFill>
            <a:prstDash val="solid"/>
          </a:ln>
        </p:spPr>
      </p:sp>
      <p:sp>
        <p:nvSpPr>
          <p:cNvPr id="28" name="Shape 26"/>
          <p:cNvSpPr/>
          <p:nvPr/>
        </p:nvSpPr>
        <p:spPr>
          <a:xfrm>
            <a:off x="4734763" y="1715049"/>
            <a:ext cx="409651" cy="187269"/>
          </a:xfrm>
          <a:prstGeom prst="line">
            <a:avLst/>
          </a:prstGeom>
          <a:noFill/>
          <a:ln w="113792">
            <a:solidFill>
              <a:srgbClr val="A33E48"/>
            </a:solidFill>
            <a:prstDash val="solid"/>
          </a:ln>
        </p:spPr>
      </p:sp>
      <p:sp>
        <p:nvSpPr>
          <p:cNvPr id="29" name="Shape 27"/>
          <p:cNvSpPr/>
          <p:nvPr/>
        </p:nvSpPr>
        <p:spPr>
          <a:xfrm>
            <a:off x="5144414" y="1902318"/>
            <a:ext cx="210678" cy="316017"/>
          </a:xfrm>
          <a:prstGeom prst="line">
            <a:avLst/>
          </a:prstGeom>
          <a:noFill/>
          <a:ln w="113792">
            <a:solidFill>
              <a:srgbClr val="A33E48"/>
            </a:solidFill>
            <a:prstDash val="solid"/>
          </a:ln>
        </p:spPr>
      </p:sp>
      <p:sp>
        <p:nvSpPr>
          <p:cNvPr id="30" name="Shape 28"/>
          <p:cNvSpPr/>
          <p:nvPr/>
        </p:nvSpPr>
        <p:spPr>
          <a:xfrm flipV="1">
            <a:off x="3973982" y="1832092"/>
            <a:ext cx="351130" cy="245791"/>
          </a:xfrm>
          <a:prstGeom prst="line">
            <a:avLst/>
          </a:prstGeom>
          <a:noFill/>
          <a:ln w="73152">
            <a:solidFill>
              <a:srgbClr val="EFB4B8"/>
            </a:solidFill>
            <a:prstDash val="solid"/>
          </a:ln>
        </p:spPr>
      </p:sp>
      <p:sp>
        <p:nvSpPr>
          <p:cNvPr id="31" name="Shape 29"/>
          <p:cNvSpPr/>
          <p:nvPr/>
        </p:nvSpPr>
        <p:spPr>
          <a:xfrm flipV="1">
            <a:off x="4325112" y="1715049"/>
            <a:ext cx="409651" cy="117043"/>
          </a:xfrm>
          <a:prstGeom prst="line">
            <a:avLst/>
          </a:prstGeom>
          <a:noFill/>
          <a:ln w="73152">
            <a:solidFill>
              <a:srgbClr val="EFB4B8"/>
            </a:solidFill>
            <a:prstDash val="solid"/>
          </a:ln>
        </p:spPr>
      </p:sp>
      <p:sp>
        <p:nvSpPr>
          <p:cNvPr id="32" name="Shape 30"/>
          <p:cNvSpPr/>
          <p:nvPr/>
        </p:nvSpPr>
        <p:spPr>
          <a:xfrm>
            <a:off x="4734763" y="1715049"/>
            <a:ext cx="409651" cy="187269"/>
          </a:xfrm>
          <a:prstGeom prst="line">
            <a:avLst/>
          </a:prstGeom>
          <a:noFill/>
          <a:ln w="73152">
            <a:solidFill>
              <a:srgbClr val="EFB4B8"/>
            </a:solidFill>
            <a:prstDash val="solid"/>
          </a:ln>
        </p:spPr>
      </p:sp>
      <p:sp>
        <p:nvSpPr>
          <p:cNvPr id="33" name="Shape 31"/>
          <p:cNvSpPr/>
          <p:nvPr/>
        </p:nvSpPr>
        <p:spPr>
          <a:xfrm>
            <a:off x="5144414" y="1902318"/>
            <a:ext cx="210678" cy="316017"/>
          </a:xfrm>
          <a:prstGeom prst="line">
            <a:avLst/>
          </a:prstGeom>
          <a:noFill/>
          <a:ln w="73152">
            <a:solidFill>
              <a:srgbClr val="EFB4B8"/>
            </a:solidFill>
            <a:prstDash val="solid"/>
          </a:ln>
        </p:spPr>
      </p:sp>
      <p:sp>
        <p:nvSpPr>
          <p:cNvPr id="34" name="Shape 32"/>
          <p:cNvSpPr/>
          <p:nvPr/>
        </p:nvSpPr>
        <p:spPr>
          <a:xfrm>
            <a:off x="5355092" y="2218334"/>
            <a:ext cx="67885" cy="198973"/>
          </a:xfrm>
          <a:prstGeom prst="line">
            <a:avLst/>
          </a:prstGeom>
          <a:noFill/>
          <a:ln w="15875">
            <a:solidFill>
              <a:srgbClr val="A33E48"/>
            </a:solidFill>
            <a:prstDash val="solid"/>
          </a:ln>
        </p:spPr>
      </p:sp>
      <p:sp>
        <p:nvSpPr>
          <p:cNvPr id="35" name="Shape 33"/>
          <p:cNvSpPr/>
          <p:nvPr/>
        </p:nvSpPr>
        <p:spPr>
          <a:xfrm>
            <a:off x="5355092" y="2218334"/>
            <a:ext cx="117043" cy="198973"/>
          </a:xfrm>
          <a:prstGeom prst="line">
            <a:avLst/>
          </a:prstGeom>
          <a:noFill/>
          <a:ln w="15875">
            <a:solidFill>
              <a:srgbClr val="A33E48"/>
            </a:solidFill>
            <a:prstDash val="solid"/>
          </a:ln>
        </p:spPr>
      </p:sp>
      <p:sp>
        <p:nvSpPr>
          <p:cNvPr id="36" name="Shape 34"/>
          <p:cNvSpPr/>
          <p:nvPr/>
        </p:nvSpPr>
        <p:spPr>
          <a:xfrm>
            <a:off x="5355092" y="2218334"/>
            <a:ext cx="166201" cy="198973"/>
          </a:xfrm>
          <a:prstGeom prst="line">
            <a:avLst/>
          </a:prstGeom>
          <a:noFill/>
          <a:ln w="15875">
            <a:solidFill>
              <a:srgbClr val="A33E48"/>
            </a:solidFill>
            <a:prstDash val="solid"/>
          </a:ln>
        </p:spPr>
      </p:sp>
      <p:sp>
        <p:nvSpPr>
          <p:cNvPr id="37" name="Shape 35"/>
          <p:cNvSpPr/>
          <p:nvPr/>
        </p:nvSpPr>
        <p:spPr>
          <a:xfrm>
            <a:off x="4559198" y="2429012"/>
            <a:ext cx="702259" cy="444764"/>
          </a:xfrm>
          <a:prstGeom prst="ellipse">
            <a:avLst/>
          </a:prstGeom>
          <a:solidFill>
            <a:srgbClr val="F3D3A6"/>
          </a:solidFill>
          <a:ln w="15875">
            <a:solidFill>
              <a:srgbClr val="9A6A2A"/>
            </a:solidFill>
            <a:prstDash val="solid"/>
          </a:ln>
        </p:spPr>
      </p:sp>
      <p:sp>
        <p:nvSpPr>
          <p:cNvPr id="38" name="Shape 36"/>
          <p:cNvSpPr/>
          <p:nvPr/>
        </p:nvSpPr>
        <p:spPr>
          <a:xfrm>
            <a:off x="4649837" y="2534866"/>
            <a:ext cx="99627" cy="99627"/>
          </a:xfrm>
          <a:prstGeom prst="ellipse">
            <a:avLst/>
          </a:prstGeom>
          <a:solidFill>
            <a:srgbClr val="FFF6E8"/>
          </a:solidFill>
          <a:ln w="6350">
            <a:solidFill>
              <a:srgbClr val="9A6A2A"/>
            </a:solidFill>
            <a:prstDash val="solid"/>
          </a:ln>
        </p:spPr>
      </p:sp>
      <p:sp>
        <p:nvSpPr>
          <p:cNvPr id="39" name="Shape 37"/>
          <p:cNvSpPr/>
          <p:nvPr/>
        </p:nvSpPr>
        <p:spPr>
          <a:xfrm>
            <a:off x="4902744" y="2706545"/>
            <a:ext cx="85395" cy="85395"/>
          </a:xfrm>
          <a:prstGeom prst="ellipse">
            <a:avLst/>
          </a:prstGeom>
          <a:solidFill>
            <a:srgbClr val="FFF6E8"/>
          </a:solidFill>
          <a:ln w="6350">
            <a:solidFill>
              <a:srgbClr val="9A6A2A"/>
            </a:solidFill>
            <a:prstDash val="solid"/>
          </a:ln>
        </p:spPr>
      </p:sp>
      <p:sp>
        <p:nvSpPr>
          <p:cNvPr id="40" name="Shape 38"/>
          <p:cNvSpPr/>
          <p:nvPr/>
        </p:nvSpPr>
        <p:spPr>
          <a:xfrm>
            <a:off x="4804521" y="2669185"/>
            <a:ext cx="71162" cy="71162"/>
          </a:xfrm>
          <a:prstGeom prst="ellipse">
            <a:avLst/>
          </a:prstGeom>
          <a:solidFill>
            <a:srgbClr val="FFF6E8"/>
          </a:solidFill>
          <a:ln w="6350">
            <a:solidFill>
              <a:srgbClr val="9A6A2A"/>
            </a:solidFill>
            <a:prstDash val="solid"/>
          </a:ln>
        </p:spPr>
      </p:sp>
      <p:sp>
        <p:nvSpPr>
          <p:cNvPr id="41" name="Shape 39"/>
          <p:cNvSpPr/>
          <p:nvPr/>
        </p:nvSpPr>
        <p:spPr>
          <a:xfrm>
            <a:off x="4975872" y="2526860"/>
            <a:ext cx="177906" cy="177906"/>
          </a:xfrm>
          <a:prstGeom prst="ellipse">
            <a:avLst/>
          </a:prstGeom>
          <a:solidFill>
            <a:srgbClr val="FFF6E8"/>
          </a:solidFill>
          <a:ln w="12700">
            <a:solidFill>
              <a:srgbClr val="9A6A2A"/>
            </a:solidFill>
            <a:prstDash val="solid"/>
          </a:ln>
        </p:spPr>
      </p:sp>
      <p:sp>
        <p:nvSpPr>
          <p:cNvPr id="42" name="Shape 40"/>
          <p:cNvSpPr/>
          <p:nvPr/>
        </p:nvSpPr>
        <p:spPr>
          <a:xfrm>
            <a:off x="5073252" y="2571337"/>
            <a:ext cx="53372" cy="53372"/>
          </a:xfrm>
          <a:prstGeom prst="ellipse">
            <a:avLst/>
          </a:prstGeom>
          <a:solidFill>
            <a:srgbClr val="F2B279"/>
          </a:solidFill>
          <a:ln w="9525">
            <a:solidFill>
              <a:srgbClr val="A4561C"/>
            </a:solidFill>
            <a:prstDash val="solid"/>
          </a:ln>
        </p:spPr>
      </p:sp>
      <p:sp>
        <p:nvSpPr>
          <p:cNvPr id="43" name="Shape 41"/>
          <p:cNvSpPr/>
          <p:nvPr/>
        </p:nvSpPr>
        <p:spPr>
          <a:xfrm>
            <a:off x="4067617" y="2311969"/>
            <a:ext cx="491581" cy="316017"/>
          </a:xfrm>
          <a:prstGeom prst="line">
            <a:avLst/>
          </a:prstGeom>
          <a:noFill/>
          <a:ln w="15875">
            <a:solidFill>
              <a:srgbClr val="9A6A2A"/>
            </a:solidFill>
            <a:prstDash val="solid"/>
          </a:ln>
        </p:spPr>
      </p:sp>
      <p:sp>
        <p:nvSpPr>
          <p:cNvPr id="44" name="Shape 42"/>
          <p:cNvSpPr/>
          <p:nvPr/>
        </p:nvSpPr>
        <p:spPr>
          <a:xfrm>
            <a:off x="2218334" y="1726753"/>
            <a:ext cx="1872691" cy="3125053"/>
          </a:xfrm>
          <a:custGeom>
            <a:avLst/>
            <a:gdLst/>
            <a:ahLst/>
            <a:cxnLst/>
            <a:rect l="l" t="t" r="r" b="b"/>
            <a:pathLst>
              <a:path w="1872691" h="3125053">
                <a:moveTo>
                  <a:pt x="0" y="491581"/>
                </a:moveTo>
                <a:lnTo>
                  <a:pt x="14225" y="406219"/>
                </a:lnTo>
                <a:lnTo>
                  <a:pt x="56469" y="323451"/>
                </a:lnTo>
                <a:lnTo>
                  <a:pt x="125447" y="245791"/>
                </a:lnTo>
                <a:lnTo>
                  <a:pt x="219063" y="175599"/>
                </a:lnTo>
                <a:lnTo>
                  <a:pt x="334474" y="115008"/>
                </a:lnTo>
                <a:lnTo>
                  <a:pt x="468173" y="65859"/>
                </a:lnTo>
                <a:lnTo>
                  <a:pt x="616097" y="29646"/>
                </a:lnTo>
                <a:lnTo>
                  <a:pt x="773751" y="7468"/>
                </a:lnTo>
                <a:lnTo>
                  <a:pt x="936346" y="0"/>
                </a:lnTo>
                <a:lnTo>
                  <a:pt x="1098940" y="7468"/>
                </a:lnTo>
                <a:lnTo>
                  <a:pt x="1256595" y="29646"/>
                </a:lnTo>
                <a:lnTo>
                  <a:pt x="1404518" y="65859"/>
                </a:lnTo>
                <a:lnTo>
                  <a:pt x="1538217" y="115008"/>
                </a:lnTo>
                <a:lnTo>
                  <a:pt x="1653628" y="175599"/>
                </a:lnTo>
                <a:lnTo>
                  <a:pt x="1747245" y="245791"/>
                </a:lnTo>
                <a:lnTo>
                  <a:pt x="1816223" y="323451"/>
                </a:lnTo>
                <a:lnTo>
                  <a:pt x="1858466" y="406219"/>
                </a:lnTo>
                <a:lnTo>
                  <a:pt x="1872691" y="491581"/>
                </a:lnTo>
                <a:lnTo>
                  <a:pt x="1802465" y="901233"/>
                </a:lnTo>
                <a:lnTo>
                  <a:pt x="1580083" y="1369405"/>
                </a:lnTo>
                <a:lnTo>
                  <a:pt x="1287475" y="1779057"/>
                </a:lnTo>
                <a:lnTo>
                  <a:pt x="1240658" y="2153595"/>
                </a:lnTo>
                <a:lnTo>
                  <a:pt x="1287475" y="2247229"/>
                </a:lnTo>
                <a:lnTo>
                  <a:pt x="1287475" y="3125053"/>
                </a:lnTo>
                <a:lnTo>
                  <a:pt x="585216" y="3125053"/>
                </a:lnTo>
                <a:lnTo>
                  <a:pt x="585216" y="2247229"/>
                </a:lnTo>
                <a:lnTo>
                  <a:pt x="632033" y="2153595"/>
                </a:lnTo>
                <a:lnTo>
                  <a:pt x="585216" y="1779057"/>
                </a:lnTo>
                <a:lnTo>
                  <a:pt x="292608" y="1369405"/>
                </a:lnTo>
                <a:lnTo>
                  <a:pt x="70226" y="901233"/>
                </a:lnTo>
                <a:close/>
              </a:path>
            </a:pathLst>
          </a:custGeom>
          <a:solidFill>
            <a:srgbClr val="EFB4B8"/>
          </a:solidFill>
          <a:ln w="22225">
            <a:solidFill>
              <a:srgbClr val="A33E48"/>
            </a:solidFill>
            <a:prstDash val="solid"/>
          </a:ln>
        </p:spPr>
      </p:sp>
      <p:sp>
        <p:nvSpPr>
          <p:cNvPr id="45" name="Shape 43"/>
          <p:cNvSpPr/>
          <p:nvPr/>
        </p:nvSpPr>
        <p:spPr>
          <a:xfrm>
            <a:off x="2393899" y="2007657"/>
            <a:ext cx="1521562" cy="1474744"/>
          </a:xfrm>
          <a:custGeom>
            <a:avLst/>
            <a:gdLst/>
            <a:ahLst/>
            <a:cxnLst/>
            <a:rect l="l" t="t" r="r" b="b"/>
            <a:pathLst>
              <a:path w="1521562" h="1474744">
                <a:moveTo>
                  <a:pt x="0" y="0"/>
                </a:moveTo>
                <a:lnTo>
                  <a:pt x="1521562" y="0"/>
                </a:lnTo>
                <a:lnTo>
                  <a:pt x="819302" y="1474744"/>
                </a:lnTo>
                <a:lnTo>
                  <a:pt x="702259" y="1474744"/>
                </a:lnTo>
                <a:close/>
              </a:path>
            </a:pathLst>
          </a:custGeom>
          <a:solidFill>
            <a:srgbClr val="C8414C"/>
          </a:solidFill>
          <a:ln w="9525">
            <a:solidFill>
              <a:srgbClr val="8E2A33"/>
            </a:solidFill>
            <a:prstDash val="solid"/>
          </a:ln>
        </p:spPr>
      </p:sp>
      <p:sp>
        <p:nvSpPr>
          <p:cNvPr id="46" name="Shape 44"/>
          <p:cNvSpPr/>
          <p:nvPr/>
        </p:nvSpPr>
        <p:spPr>
          <a:xfrm>
            <a:off x="2627986" y="2136404"/>
            <a:ext cx="1053389" cy="1193841"/>
          </a:xfrm>
          <a:custGeom>
            <a:avLst/>
            <a:gdLst/>
            <a:ahLst/>
            <a:cxnLst/>
            <a:rect l="l" t="t" r="r" b="b"/>
            <a:pathLst>
              <a:path w="1053389" h="1193841">
                <a:moveTo>
                  <a:pt x="0" y="0"/>
                </a:moveTo>
                <a:lnTo>
                  <a:pt x="1053389" y="0"/>
                </a:lnTo>
                <a:lnTo>
                  <a:pt x="561807" y="1193841"/>
                </a:lnTo>
                <a:lnTo>
                  <a:pt x="491581" y="1193841"/>
                </a:lnTo>
                <a:close/>
              </a:path>
            </a:pathLst>
          </a:custGeom>
          <a:solidFill>
            <a:srgbClr val="FBE3E5"/>
          </a:solidFill>
          <a:ln/>
        </p:spPr>
      </p:sp>
      <p:sp>
        <p:nvSpPr>
          <p:cNvPr id="47" name="Shape 45"/>
          <p:cNvSpPr/>
          <p:nvPr/>
        </p:nvSpPr>
        <p:spPr>
          <a:xfrm>
            <a:off x="3154680" y="3365358"/>
            <a:ext cx="91" cy="608625"/>
          </a:xfrm>
          <a:prstGeom prst="line">
            <a:avLst/>
          </a:prstGeom>
          <a:noFill/>
          <a:ln w="19050">
            <a:solidFill>
              <a:srgbClr val="8E2A33"/>
            </a:solidFill>
            <a:prstDash val="solid"/>
          </a:ln>
        </p:spPr>
      </p:sp>
      <p:sp>
        <p:nvSpPr>
          <p:cNvPr id="48" name="Shape 46"/>
          <p:cNvSpPr/>
          <p:nvPr/>
        </p:nvSpPr>
        <p:spPr>
          <a:xfrm>
            <a:off x="2955707" y="3973982"/>
            <a:ext cx="397947" cy="877824"/>
          </a:xfrm>
          <a:prstGeom prst="rect">
            <a:avLst/>
          </a:prstGeom>
          <a:solidFill>
            <a:srgbClr val="FBE3E5"/>
          </a:solidFill>
          <a:ln/>
        </p:spPr>
      </p:sp>
      <p:sp>
        <p:nvSpPr>
          <p:cNvPr id="49" name="Shape 47"/>
          <p:cNvSpPr/>
          <p:nvPr/>
        </p:nvSpPr>
        <p:spPr>
          <a:xfrm>
            <a:off x="2803550" y="3973982"/>
            <a:ext cx="702259" cy="91"/>
          </a:xfrm>
          <a:prstGeom prst="line">
            <a:avLst/>
          </a:prstGeom>
          <a:noFill/>
          <a:ln w="9525">
            <a:solidFill>
              <a:srgbClr val="A33E48"/>
            </a:solidFill>
            <a:prstDash val="dash"/>
          </a:ln>
        </p:spPr>
      </p:sp>
      <p:sp>
        <p:nvSpPr>
          <p:cNvPr id="50" name="Text 48"/>
          <p:cNvSpPr/>
          <p:nvPr/>
        </p:nvSpPr>
        <p:spPr>
          <a:xfrm>
            <a:off x="4983480" y="1344168"/>
            <a:ext cx="868680" cy="274320"/>
          </a:xfrm>
          <a:prstGeom prst="rect">
            <a:avLst/>
          </a:prstGeom>
          <a:noFill/>
          <a:ln/>
        </p:spPr>
        <p:txBody>
          <a:bodyPr wrap="square" lIns="0" tIns="0" rIns="0" bIns="0" rtlCol="0" anchor="ctr"/>
          <a:lstStyle/>
          <a:p>
            <a:pPr algn="l" indent="0" marL="0">
              <a:buNone/>
            </a:pPr>
            <a:r>
              <a:rPr lang="en-US" sz="1100" b="1" dirty="0">
                <a:solidFill>
                  <a:srgbClr val="A33E48"/>
                </a:solidFill>
                <a:latin typeface="Calibri" pitchFamily="34" charset="0"/>
                <a:ea typeface="Calibri" pitchFamily="34" charset="-122"/>
                <a:cs typeface="Calibri" pitchFamily="34" charset="-120"/>
              </a:rPr>
              <a:t>Oviduct</a:t>
            </a:r>
            <a:endParaRPr lang="en-US" sz="1100" dirty="0"/>
          </a:p>
        </p:txBody>
      </p:sp>
      <p:sp>
        <p:nvSpPr>
          <p:cNvPr id="51" name="Shape 49"/>
          <p:cNvSpPr/>
          <p:nvPr/>
        </p:nvSpPr>
        <p:spPr>
          <a:xfrm flipH="1">
            <a:off x="4780483" y="1481328"/>
            <a:ext cx="166421" cy="261153"/>
          </a:xfrm>
          <a:prstGeom prst="line">
            <a:avLst/>
          </a:prstGeom>
          <a:noFill/>
          <a:ln w="12700">
            <a:solidFill>
              <a:srgbClr val="A33E48"/>
            </a:solidFill>
            <a:prstDash val="solid"/>
          </a:ln>
        </p:spPr>
      </p:sp>
      <p:sp>
        <p:nvSpPr>
          <p:cNvPr id="52" name="Shape 50"/>
          <p:cNvSpPr/>
          <p:nvPr/>
        </p:nvSpPr>
        <p:spPr>
          <a:xfrm>
            <a:off x="4753051" y="1715049"/>
            <a:ext cx="54864" cy="54864"/>
          </a:xfrm>
          <a:prstGeom prst="ellipse">
            <a:avLst/>
          </a:prstGeom>
          <a:solidFill>
            <a:srgbClr val="A33E48"/>
          </a:solidFill>
          <a:ln w="9525">
            <a:solidFill>
              <a:srgbClr val="A33E48"/>
            </a:solidFill>
            <a:prstDash val="solid"/>
          </a:ln>
        </p:spPr>
      </p:sp>
      <p:sp>
        <p:nvSpPr>
          <p:cNvPr id="53" name="Text 51"/>
          <p:cNvSpPr/>
          <p:nvPr/>
        </p:nvSpPr>
        <p:spPr>
          <a:xfrm>
            <a:off x="4361688" y="2926080"/>
            <a:ext cx="1097280" cy="256032"/>
          </a:xfrm>
          <a:prstGeom prst="rect">
            <a:avLst/>
          </a:prstGeom>
          <a:noFill/>
          <a:ln/>
        </p:spPr>
        <p:txBody>
          <a:bodyPr wrap="square" lIns="0" tIns="0" rIns="0" bIns="0" rtlCol="0" anchor="ctr"/>
          <a:lstStyle/>
          <a:p>
            <a:pPr algn="ctr" indent="0" marL="0">
              <a:buNone/>
            </a:pPr>
            <a:r>
              <a:rPr lang="en-US" sz="1100" b="1" dirty="0">
                <a:solidFill>
                  <a:srgbClr val="9A6A2A"/>
                </a:solidFill>
                <a:latin typeface="Calibri" pitchFamily="34" charset="0"/>
                <a:ea typeface="Calibri" pitchFamily="34" charset="-122"/>
                <a:cs typeface="Calibri" pitchFamily="34" charset="-120"/>
              </a:rPr>
              <a:t>Ovary</a:t>
            </a:r>
            <a:endParaRPr lang="en-US" sz="1100" dirty="0"/>
          </a:p>
        </p:txBody>
      </p:sp>
      <p:sp>
        <p:nvSpPr>
          <p:cNvPr id="54" name="Text 52"/>
          <p:cNvSpPr/>
          <p:nvPr/>
        </p:nvSpPr>
        <p:spPr>
          <a:xfrm>
            <a:off x="4224528" y="3154680"/>
            <a:ext cx="1371600" cy="365760"/>
          </a:xfrm>
          <a:prstGeom prst="rect">
            <a:avLst/>
          </a:prstGeom>
          <a:noFill/>
          <a:ln/>
        </p:spPr>
        <p:txBody>
          <a:bodyPr wrap="square" lIns="0" tIns="0" rIns="0" bIns="0" rtlCol="0" anchor="t"/>
          <a:lstStyle/>
          <a:p>
            <a:pPr algn="ctr" indent="0" marL="0">
              <a:buNone/>
            </a:pPr>
            <a:r>
              <a:rPr lang="en-US" sz="1000" i="1" dirty="0">
                <a:solidFill>
                  <a:srgbClr val="6B7385"/>
                </a:solidFill>
                <a:latin typeface="Calibri" pitchFamily="34" charset="0"/>
                <a:ea typeface="Calibri" pitchFamily="34" charset="-122"/>
                <a:cs typeface="Calibri" pitchFamily="34" charset="-120"/>
              </a:rPr>
              <a:t>(an egg matures in a follicle)</a:t>
            </a:r>
            <a:endParaRPr lang="en-US" sz="1000" dirty="0"/>
          </a:p>
        </p:txBody>
      </p:sp>
      <p:sp>
        <p:nvSpPr>
          <p:cNvPr id="55" name="Text 53"/>
          <p:cNvSpPr/>
          <p:nvPr/>
        </p:nvSpPr>
        <p:spPr>
          <a:xfrm>
            <a:off x="548640" y="3063240"/>
            <a:ext cx="1234440" cy="274320"/>
          </a:xfrm>
          <a:prstGeom prst="rect">
            <a:avLst/>
          </a:prstGeom>
          <a:noFill/>
          <a:ln/>
        </p:spPr>
        <p:txBody>
          <a:bodyPr wrap="square" lIns="0" tIns="0" rIns="0" bIns="0" rtlCol="0" anchor="ctr"/>
          <a:lstStyle/>
          <a:p>
            <a:pPr algn="r" indent="0" marL="0">
              <a:buNone/>
            </a:pPr>
            <a:r>
              <a:rPr lang="en-US" sz="1100" b="1" dirty="0">
                <a:solidFill>
                  <a:srgbClr val="A33E48"/>
                </a:solidFill>
                <a:latin typeface="Calibri" pitchFamily="34" charset="0"/>
                <a:ea typeface="Calibri" pitchFamily="34" charset="-122"/>
                <a:cs typeface="Calibri" pitchFamily="34" charset="-120"/>
              </a:rPr>
              <a:t>Uterus (womb)</a:t>
            </a:r>
            <a:endParaRPr lang="en-US" sz="1100" dirty="0"/>
          </a:p>
        </p:txBody>
      </p:sp>
      <p:sp>
        <p:nvSpPr>
          <p:cNvPr id="56" name="Shape 54"/>
          <p:cNvSpPr/>
          <p:nvPr/>
        </p:nvSpPr>
        <p:spPr>
          <a:xfrm flipV="1">
            <a:off x="1819656" y="3017520"/>
            <a:ext cx="667512" cy="182880"/>
          </a:xfrm>
          <a:prstGeom prst="line">
            <a:avLst/>
          </a:prstGeom>
          <a:noFill/>
          <a:ln w="12700">
            <a:solidFill>
              <a:srgbClr val="A33E48"/>
            </a:solidFill>
            <a:prstDash val="solid"/>
          </a:ln>
        </p:spPr>
      </p:sp>
      <p:sp>
        <p:nvSpPr>
          <p:cNvPr id="57" name="Shape 55"/>
          <p:cNvSpPr/>
          <p:nvPr/>
        </p:nvSpPr>
        <p:spPr>
          <a:xfrm>
            <a:off x="2459736" y="2990088"/>
            <a:ext cx="54864" cy="54864"/>
          </a:xfrm>
          <a:prstGeom prst="ellipse">
            <a:avLst/>
          </a:prstGeom>
          <a:solidFill>
            <a:srgbClr val="A33E48"/>
          </a:solidFill>
          <a:ln w="9525">
            <a:solidFill>
              <a:srgbClr val="A33E48"/>
            </a:solidFill>
            <a:prstDash val="solid"/>
          </a:ln>
        </p:spPr>
      </p:sp>
      <p:sp>
        <p:nvSpPr>
          <p:cNvPr id="58" name="Text 56"/>
          <p:cNvSpPr/>
          <p:nvPr/>
        </p:nvSpPr>
        <p:spPr>
          <a:xfrm>
            <a:off x="548640" y="3611880"/>
            <a:ext cx="1097280" cy="274320"/>
          </a:xfrm>
          <a:prstGeom prst="rect">
            <a:avLst/>
          </a:prstGeom>
          <a:noFill/>
          <a:ln/>
        </p:spPr>
        <p:txBody>
          <a:bodyPr wrap="square" lIns="0" tIns="0" rIns="0" bIns="0" rtlCol="0" anchor="ctr"/>
          <a:lstStyle/>
          <a:p>
            <a:pPr algn="r" indent="0" marL="0">
              <a:buNone/>
            </a:pPr>
            <a:r>
              <a:rPr lang="en-US" sz="1100" b="1" dirty="0">
                <a:solidFill>
                  <a:srgbClr val="C8414C"/>
                </a:solidFill>
                <a:latin typeface="Calibri" pitchFamily="34" charset="0"/>
                <a:ea typeface="Calibri" pitchFamily="34" charset="-122"/>
                <a:cs typeface="Calibri" pitchFamily="34" charset="-120"/>
              </a:rPr>
              <a:t>Lining</a:t>
            </a:r>
            <a:endParaRPr lang="en-US" sz="1100" dirty="0"/>
          </a:p>
        </p:txBody>
      </p:sp>
      <p:sp>
        <p:nvSpPr>
          <p:cNvPr id="59" name="Shape 57"/>
          <p:cNvSpPr/>
          <p:nvPr/>
        </p:nvSpPr>
        <p:spPr>
          <a:xfrm flipV="1">
            <a:off x="1682496" y="2807208"/>
            <a:ext cx="1124712" cy="941832"/>
          </a:xfrm>
          <a:prstGeom prst="line">
            <a:avLst/>
          </a:prstGeom>
          <a:noFill/>
          <a:ln w="12700">
            <a:solidFill>
              <a:srgbClr val="C8414C"/>
            </a:solidFill>
            <a:prstDash val="solid"/>
          </a:ln>
        </p:spPr>
      </p:sp>
      <p:sp>
        <p:nvSpPr>
          <p:cNvPr id="60" name="Shape 58"/>
          <p:cNvSpPr/>
          <p:nvPr/>
        </p:nvSpPr>
        <p:spPr>
          <a:xfrm>
            <a:off x="2779776" y="2779776"/>
            <a:ext cx="54864" cy="54864"/>
          </a:xfrm>
          <a:prstGeom prst="ellipse">
            <a:avLst/>
          </a:prstGeom>
          <a:solidFill>
            <a:srgbClr val="C8414C"/>
          </a:solidFill>
          <a:ln w="9525">
            <a:solidFill>
              <a:srgbClr val="C8414C"/>
            </a:solidFill>
            <a:prstDash val="solid"/>
          </a:ln>
        </p:spPr>
      </p:sp>
      <p:sp>
        <p:nvSpPr>
          <p:cNvPr id="61" name="Text 59"/>
          <p:cNvSpPr/>
          <p:nvPr/>
        </p:nvSpPr>
        <p:spPr>
          <a:xfrm>
            <a:off x="3886200" y="3840480"/>
            <a:ext cx="1188720" cy="274320"/>
          </a:xfrm>
          <a:prstGeom prst="rect">
            <a:avLst/>
          </a:prstGeom>
          <a:noFill/>
          <a:ln/>
        </p:spPr>
        <p:txBody>
          <a:bodyPr wrap="square" lIns="0" tIns="0" rIns="0" bIns="0" rtlCol="0" anchor="ctr"/>
          <a:lstStyle/>
          <a:p>
            <a:pPr algn="l" indent="0" marL="0">
              <a:buNone/>
            </a:pPr>
            <a:r>
              <a:rPr lang="en-US" sz="1100" b="1" dirty="0">
                <a:solidFill>
                  <a:srgbClr val="A33E48"/>
                </a:solidFill>
                <a:latin typeface="Calibri" pitchFamily="34" charset="0"/>
                <a:ea typeface="Calibri" pitchFamily="34" charset="-122"/>
                <a:cs typeface="Calibri" pitchFamily="34" charset="-120"/>
              </a:rPr>
              <a:t>Cervix</a:t>
            </a:r>
            <a:endParaRPr lang="en-US" sz="1100" dirty="0"/>
          </a:p>
        </p:txBody>
      </p:sp>
      <p:sp>
        <p:nvSpPr>
          <p:cNvPr id="62" name="Shape 60"/>
          <p:cNvSpPr/>
          <p:nvPr/>
        </p:nvSpPr>
        <p:spPr>
          <a:xfrm flipH="1" flipV="1">
            <a:off x="3470697" y="3798418"/>
            <a:ext cx="378927" cy="179222"/>
          </a:xfrm>
          <a:prstGeom prst="line">
            <a:avLst/>
          </a:prstGeom>
          <a:noFill/>
          <a:ln w="12700">
            <a:solidFill>
              <a:srgbClr val="A33E48"/>
            </a:solidFill>
            <a:prstDash val="solid"/>
          </a:ln>
        </p:spPr>
      </p:sp>
      <p:sp>
        <p:nvSpPr>
          <p:cNvPr id="63" name="Shape 61"/>
          <p:cNvSpPr/>
          <p:nvPr/>
        </p:nvSpPr>
        <p:spPr>
          <a:xfrm>
            <a:off x="3443265" y="3770986"/>
            <a:ext cx="54864" cy="54864"/>
          </a:xfrm>
          <a:prstGeom prst="ellipse">
            <a:avLst/>
          </a:prstGeom>
          <a:solidFill>
            <a:srgbClr val="A33E48"/>
          </a:solidFill>
          <a:ln w="9525">
            <a:solidFill>
              <a:srgbClr val="A33E48"/>
            </a:solidFill>
            <a:prstDash val="solid"/>
          </a:ln>
        </p:spPr>
      </p:sp>
      <p:sp>
        <p:nvSpPr>
          <p:cNvPr id="64" name="Text 62"/>
          <p:cNvSpPr/>
          <p:nvPr/>
        </p:nvSpPr>
        <p:spPr>
          <a:xfrm>
            <a:off x="548640" y="4389120"/>
            <a:ext cx="1234440" cy="274320"/>
          </a:xfrm>
          <a:prstGeom prst="rect">
            <a:avLst/>
          </a:prstGeom>
          <a:noFill/>
          <a:ln/>
        </p:spPr>
        <p:txBody>
          <a:bodyPr wrap="square" lIns="0" tIns="0" rIns="0" bIns="0" rtlCol="0" anchor="ctr"/>
          <a:lstStyle/>
          <a:p>
            <a:pPr algn="r" indent="0" marL="0">
              <a:buNone/>
            </a:pPr>
            <a:r>
              <a:rPr lang="en-US" sz="1100" b="1" dirty="0">
                <a:solidFill>
                  <a:srgbClr val="A33E48"/>
                </a:solidFill>
                <a:latin typeface="Calibri" pitchFamily="34" charset="0"/>
                <a:ea typeface="Calibri" pitchFamily="34" charset="-122"/>
                <a:cs typeface="Calibri" pitchFamily="34" charset="-120"/>
              </a:rPr>
              <a:t>Vagina</a:t>
            </a:r>
            <a:endParaRPr lang="en-US" sz="1100" dirty="0"/>
          </a:p>
        </p:txBody>
      </p:sp>
      <p:sp>
        <p:nvSpPr>
          <p:cNvPr id="65" name="Shape 63"/>
          <p:cNvSpPr/>
          <p:nvPr/>
        </p:nvSpPr>
        <p:spPr>
          <a:xfrm flipV="1">
            <a:off x="1819656" y="4500677"/>
            <a:ext cx="983894" cy="25603"/>
          </a:xfrm>
          <a:prstGeom prst="line">
            <a:avLst/>
          </a:prstGeom>
          <a:noFill/>
          <a:ln w="12700">
            <a:solidFill>
              <a:srgbClr val="A33E48"/>
            </a:solidFill>
            <a:prstDash val="solid"/>
          </a:ln>
        </p:spPr>
      </p:sp>
      <p:sp>
        <p:nvSpPr>
          <p:cNvPr id="66" name="Shape 64"/>
          <p:cNvSpPr/>
          <p:nvPr/>
        </p:nvSpPr>
        <p:spPr>
          <a:xfrm>
            <a:off x="2776118" y="4473245"/>
            <a:ext cx="54864" cy="54864"/>
          </a:xfrm>
          <a:prstGeom prst="ellipse">
            <a:avLst/>
          </a:prstGeom>
          <a:solidFill>
            <a:srgbClr val="A33E48"/>
          </a:solidFill>
          <a:ln w="9525">
            <a:solidFill>
              <a:srgbClr val="A33E48"/>
            </a:solidFill>
            <a:prstDash val="solid"/>
          </a:ln>
        </p:spPr>
      </p:sp>
      <p:sp>
        <p:nvSpPr>
          <p:cNvPr id="67" name="Shape 65"/>
          <p:cNvSpPr/>
          <p:nvPr/>
        </p:nvSpPr>
        <p:spPr>
          <a:xfrm>
            <a:off x="6217920" y="1188720"/>
            <a:ext cx="5559552" cy="2103120"/>
          </a:xfrm>
          <a:prstGeom prst="roundRect">
            <a:avLst>
              <a:gd name="adj" fmla="val 2609"/>
            </a:avLst>
          </a:prstGeom>
          <a:solidFill>
            <a:srgbClr val="F4FAF9"/>
          </a:solidFill>
          <a:ln w="9525">
            <a:solidFill>
              <a:srgbClr val="CFE0DE"/>
            </a:solidFill>
            <a:prstDash val="solid"/>
          </a:ln>
        </p:spPr>
      </p:sp>
      <p:sp>
        <p:nvSpPr>
          <p:cNvPr id="68" name="Text 66"/>
          <p:cNvSpPr/>
          <p:nvPr/>
        </p:nvSpPr>
        <p:spPr>
          <a:xfrm>
            <a:off x="6382512" y="1280160"/>
            <a:ext cx="5230368"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Four stages (day 0 = first day of a period)</a:t>
            </a:r>
            <a:endParaRPr lang="en-US" sz="1300" dirty="0"/>
          </a:p>
        </p:txBody>
      </p:sp>
      <p:sp>
        <p:nvSpPr>
          <p:cNvPr id="69" name="Text 67"/>
          <p:cNvSpPr/>
          <p:nvPr/>
        </p:nvSpPr>
        <p:spPr>
          <a:xfrm>
            <a:off x="6382512" y="1609344"/>
            <a:ext cx="5230368" cy="1609344"/>
          </a:xfrm>
          <a:prstGeom prst="rect">
            <a:avLst/>
          </a:prstGeom>
          <a:noFill/>
          <a:ln/>
        </p:spPr>
        <p:txBody>
          <a:bodyPr wrap="square" lIns="0" tIns="0" rIns="0" bIns="0" rtlCol="0" anchor="t"/>
          <a:lstStyle/>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Days 0–5 menstruation</a:t>
            </a:r>
            <a:r>
              <a:rPr lang="en-US" sz="1050" dirty="0">
                <a:solidFill>
                  <a:srgbClr val="262B3A"/>
                </a:solidFill>
                <a:latin typeface="Calibri" pitchFamily="34" charset="0"/>
                <a:ea typeface="Calibri" pitchFamily="34" charset="-122"/>
                <a:cs typeface="Calibri" pitchFamily="34" charset="-120"/>
              </a:rPr>
              <a:t>: the uterus lining breaks down and leaves the body (a period).</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Days 5–14</a:t>
            </a:r>
            <a:r>
              <a:rPr lang="en-US" sz="1050" dirty="0">
                <a:solidFill>
                  <a:srgbClr val="262B3A"/>
                </a:solidFill>
                <a:latin typeface="Calibri" pitchFamily="34" charset="0"/>
                <a:ea typeface="Calibri" pitchFamily="34" charset="-122"/>
                <a:cs typeface="Calibri" pitchFamily="34" charset="-120"/>
              </a:rPr>
              <a:t>: an egg matures in the ovary; the lining </a:t>
            </a:r>
            <a:r>
              <a:rPr lang="en-US" sz="1050" b="1" dirty="0">
                <a:solidFill>
                  <a:srgbClr val="262B3A"/>
                </a:solidFill>
                <a:latin typeface="Calibri" pitchFamily="34" charset="0"/>
                <a:ea typeface="Calibri" pitchFamily="34" charset="-122"/>
                <a:cs typeface="Calibri" pitchFamily="34" charset="-120"/>
              </a:rPr>
              <a:t>builds up</a:t>
            </a:r>
            <a:r>
              <a:rPr lang="en-US" sz="1050" dirty="0">
                <a:solidFill>
                  <a:srgbClr val="262B3A"/>
                </a:solidFill>
                <a:latin typeface="Calibri" pitchFamily="34" charset="0"/>
                <a:ea typeface="Calibri" pitchFamily="34" charset="-122"/>
                <a:cs typeface="Calibri" pitchFamily="34" charset="-120"/>
              </a:rPr>
              <a:t> again.</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About day 14 ovulation</a:t>
            </a:r>
            <a:r>
              <a:rPr lang="en-US" sz="1050" dirty="0">
                <a:solidFill>
                  <a:srgbClr val="262B3A"/>
                </a:solidFill>
                <a:latin typeface="Calibri" pitchFamily="34" charset="0"/>
                <a:ea typeface="Calibri" pitchFamily="34" charset="-122"/>
                <a:cs typeface="Calibri" pitchFamily="34" charset="-120"/>
              </a:rPr>
              <a:t>: the egg is </a:t>
            </a:r>
            <a:r>
              <a:rPr lang="en-US" sz="1050" b="1" dirty="0">
                <a:solidFill>
                  <a:srgbClr val="262B3A"/>
                </a:solidFill>
                <a:latin typeface="Calibri" pitchFamily="34" charset="0"/>
                <a:ea typeface="Calibri" pitchFamily="34" charset="-122"/>
                <a:cs typeface="Calibri" pitchFamily="34" charset="-120"/>
              </a:rPr>
              <a:t>released</a:t>
            </a:r>
            <a:r>
              <a:rPr lang="en-US" sz="1050" dirty="0">
                <a:solidFill>
                  <a:srgbClr val="262B3A"/>
                </a:solidFill>
                <a:latin typeface="Calibri" pitchFamily="34" charset="0"/>
                <a:ea typeface="Calibri" pitchFamily="34" charset="-122"/>
                <a:cs typeface="Calibri" pitchFamily="34" charset="-120"/>
              </a:rPr>
              <a:t> from the ovary into the oviduct.</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Days 14–28</a:t>
            </a:r>
            <a:r>
              <a:rPr lang="en-US" sz="1050" dirty="0">
                <a:solidFill>
                  <a:srgbClr val="262B3A"/>
                </a:solidFill>
                <a:latin typeface="Calibri" pitchFamily="34" charset="0"/>
                <a:ea typeface="Calibri" pitchFamily="34" charset="-122"/>
                <a:cs typeface="Calibri" pitchFamily="34" charset="-120"/>
              </a:rPr>
              <a:t>: the lining is </a:t>
            </a:r>
            <a:r>
              <a:rPr lang="en-US" sz="1050" b="1" dirty="0">
                <a:solidFill>
                  <a:srgbClr val="262B3A"/>
                </a:solidFill>
                <a:latin typeface="Calibri" pitchFamily="34" charset="0"/>
                <a:ea typeface="Calibri" pitchFamily="34" charset="-122"/>
                <a:cs typeface="Calibri" pitchFamily="34" charset="-120"/>
              </a:rPr>
              <a:t>kept</a:t>
            </a:r>
            <a:r>
              <a:rPr lang="en-US" sz="1050" dirty="0">
                <a:solidFill>
                  <a:srgbClr val="262B3A"/>
                </a:solidFill>
                <a:latin typeface="Calibri" pitchFamily="34" charset="0"/>
                <a:ea typeface="Calibri" pitchFamily="34" charset="-122"/>
                <a:cs typeface="Calibri" pitchFamily="34" charset="-120"/>
              </a:rPr>
              <a:t> thick. If the egg is not fertilised, the cycle repeats.</a:t>
            </a:r>
            <a:endParaRPr lang="en-US" sz="1050" dirty="0"/>
          </a:p>
        </p:txBody>
      </p:sp>
      <p:sp>
        <p:nvSpPr>
          <p:cNvPr id="70" name="Shape 68"/>
          <p:cNvSpPr/>
          <p:nvPr/>
        </p:nvSpPr>
        <p:spPr>
          <a:xfrm>
            <a:off x="6217920" y="3401568"/>
            <a:ext cx="5559552" cy="2313432"/>
          </a:xfrm>
          <a:prstGeom prst="roundRect">
            <a:avLst>
              <a:gd name="adj" fmla="val 1976"/>
            </a:avLst>
          </a:prstGeom>
          <a:solidFill>
            <a:srgbClr val="FFFFFF"/>
          </a:solidFill>
          <a:ln w="12700">
            <a:solidFill>
              <a:srgbClr val="CFE0DE"/>
            </a:solidFill>
            <a:prstDash val="solid"/>
          </a:ln>
        </p:spPr>
      </p:sp>
      <p:sp>
        <p:nvSpPr>
          <p:cNvPr id="71" name="Shape 69"/>
          <p:cNvSpPr/>
          <p:nvPr/>
        </p:nvSpPr>
        <p:spPr>
          <a:xfrm>
            <a:off x="6903720" y="3547872"/>
            <a:ext cx="4663440" cy="1554480"/>
          </a:xfrm>
          <a:prstGeom prst="rect">
            <a:avLst/>
          </a:prstGeom>
          <a:solidFill>
            <a:srgbClr val="FFFFFF"/>
          </a:solidFill>
          <a:ln/>
        </p:spPr>
      </p:sp>
      <p:sp>
        <p:nvSpPr>
          <p:cNvPr id="72" name="Shape 70"/>
          <p:cNvSpPr/>
          <p:nvPr/>
        </p:nvSpPr>
        <p:spPr>
          <a:xfrm>
            <a:off x="6903720" y="3547872"/>
            <a:ext cx="91" cy="1554480"/>
          </a:xfrm>
          <a:prstGeom prst="line">
            <a:avLst/>
          </a:prstGeom>
          <a:noFill/>
          <a:ln w="6350">
            <a:solidFill>
              <a:srgbClr val="C5DCD9"/>
            </a:solidFill>
            <a:prstDash val="solid"/>
          </a:ln>
        </p:spPr>
      </p:sp>
      <p:sp>
        <p:nvSpPr>
          <p:cNvPr id="73" name="Shape 71"/>
          <p:cNvSpPr/>
          <p:nvPr/>
        </p:nvSpPr>
        <p:spPr>
          <a:xfrm>
            <a:off x="7070271" y="3547872"/>
            <a:ext cx="91" cy="1554480"/>
          </a:xfrm>
          <a:prstGeom prst="line">
            <a:avLst/>
          </a:prstGeom>
          <a:noFill/>
          <a:ln w="6350">
            <a:solidFill>
              <a:srgbClr val="E3EFED"/>
            </a:solidFill>
            <a:prstDash val="solid"/>
          </a:ln>
        </p:spPr>
      </p:sp>
      <p:sp>
        <p:nvSpPr>
          <p:cNvPr id="74" name="Shape 72"/>
          <p:cNvSpPr/>
          <p:nvPr/>
        </p:nvSpPr>
        <p:spPr>
          <a:xfrm>
            <a:off x="7236823" y="3547872"/>
            <a:ext cx="91" cy="1554480"/>
          </a:xfrm>
          <a:prstGeom prst="line">
            <a:avLst/>
          </a:prstGeom>
          <a:noFill/>
          <a:ln w="6350">
            <a:solidFill>
              <a:srgbClr val="C5DCD9"/>
            </a:solidFill>
            <a:prstDash val="solid"/>
          </a:ln>
        </p:spPr>
      </p:sp>
      <p:sp>
        <p:nvSpPr>
          <p:cNvPr id="75" name="Shape 73"/>
          <p:cNvSpPr/>
          <p:nvPr/>
        </p:nvSpPr>
        <p:spPr>
          <a:xfrm>
            <a:off x="7403374" y="3547872"/>
            <a:ext cx="91" cy="1554480"/>
          </a:xfrm>
          <a:prstGeom prst="line">
            <a:avLst/>
          </a:prstGeom>
          <a:noFill/>
          <a:ln w="6350">
            <a:solidFill>
              <a:srgbClr val="E3EFED"/>
            </a:solidFill>
            <a:prstDash val="solid"/>
          </a:ln>
        </p:spPr>
      </p:sp>
      <p:sp>
        <p:nvSpPr>
          <p:cNvPr id="76" name="Shape 74"/>
          <p:cNvSpPr/>
          <p:nvPr/>
        </p:nvSpPr>
        <p:spPr>
          <a:xfrm>
            <a:off x="7569926" y="3547872"/>
            <a:ext cx="91" cy="1554480"/>
          </a:xfrm>
          <a:prstGeom prst="line">
            <a:avLst/>
          </a:prstGeom>
          <a:noFill/>
          <a:ln w="6350">
            <a:solidFill>
              <a:srgbClr val="C5DCD9"/>
            </a:solidFill>
            <a:prstDash val="solid"/>
          </a:ln>
        </p:spPr>
      </p:sp>
      <p:sp>
        <p:nvSpPr>
          <p:cNvPr id="77" name="Shape 75"/>
          <p:cNvSpPr/>
          <p:nvPr/>
        </p:nvSpPr>
        <p:spPr>
          <a:xfrm>
            <a:off x="7736477" y="3547872"/>
            <a:ext cx="91" cy="1554480"/>
          </a:xfrm>
          <a:prstGeom prst="line">
            <a:avLst/>
          </a:prstGeom>
          <a:noFill/>
          <a:ln w="6350">
            <a:solidFill>
              <a:srgbClr val="E3EFED"/>
            </a:solidFill>
            <a:prstDash val="solid"/>
          </a:ln>
        </p:spPr>
      </p:sp>
      <p:sp>
        <p:nvSpPr>
          <p:cNvPr id="78" name="Shape 76"/>
          <p:cNvSpPr/>
          <p:nvPr/>
        </p:nvSpPr>
        <p:spPr>
          <a:xfrm>
            <a:off x="7903029" y="3547872"/>
            <a:ext cx="91" cy="1554480"/>
          </a:xfrm>
          <a:prstGeom prst="line">
            <a:avLst/>
          </a:prstGeom>
          <a:noFill/>
          <a:ln w="6350">
            <a:solidFill>
              <a:srgbClr val="C5DCD9"/>
            </a:solidFill>
            <a:prstDash val="solid"/>
          </a:ln>
        </p:spPr>
      </p:sp>
      <p:sp>
        <p:nvSpPr>
          <p:cNvPr id="79" name="Shape 77"/>
          <p:cNvSpPr/>
          <p:nvPr/>
        </p:nvSpPr>
        <p:spPr>
          <a:xfrm>
            <a:off x="8069580" y="3547872"/>
            <a:ext cx="91" cy="1554480"/>
          </a:xfrm>
          <a:prstGeom prst="line">
            <a:avLst/>
          </a:prstGeom>
          <a:noFill/>
          <a:ln w="6350">
            <a:solidFill>
              <a:srgbClr val="E3EFED"/>
            </a:solidFill>
            <a:prstDash val="solid"/>
          </a:ln>
        </p:spPr>
      </p:sp>
      <p:sp>
        <p:nvSpPr>
          <p:cNvPr id="80" name="Shape 78"/>
          <p:cNvSpPr/>
          <p:nvPr/>
        </p:nvSpPr>
        <p:spPr>
          <a:xfrm>
            <a:off x="8236131" y="3547872"/>
            <a:ext cx="91" cy="1554480"/>
          </a:xfrm>
          <a:prstGeom prst="line">
            <a:avLst/>
          </a:prstGeom>
          <a:noFill/>
          <a:ln w="6350">
            <a:solidFill>
              <a:srgbClr val="C5DCD9"/>
            </a:solidFill>
            <a:prstDash val="solid"/>
          </a:ln>
        </p:spPr>
      </p:sp>
      <p:sp>
        <p:nvSpPr>
          <p:cNvPr id="81" name="Shape 79"/>
          <p:cNvSpPr/>
          <p:nvPr/>
        </p:nvSpPr>
        <p:spPr>
          <a:xfrm>
            <a:off x="8402683" y="3547872"/>
            <a:ext cx="91" cy="1554480"/>
          </a:xfrm>
          <a:prstGeom prst="line">
            <a:avLst/>
          </a:prstGeom>
          <a:noFill/>
          <a:ln w="6350">
            <a:solidFill>
              <a:srgbClr val="E3EFED"/>
            </a:solidFill>
            <a:prstDash val="solid"/>
          </a:ln>
        </p:spPr>
      </p:sp>
      <p:sp>
        <p:nvSpPr>
          <p:cNvPr id="82" name="Shape 80"/>
          <p:cNvSpPr/>
          <p:nvPr/>
        </p:nvSpPr>
        <p:spPr>
          <a:xfrm>
            <a:off x="8569234" y="3547872"/>
            <a:ext cx="91" cy="1554480"/>
          </a:xfrm>
          <a:prstGeom prst="line">
            <a:avLst/>
          </a:prstGeom>
          <a:noFill/>
          <a:ln w="6350">
            <a:solidFill>
              <a:srgbClr val="C5DCD9"/>
            </a:solidFill>
            <a:prstDash val="solid"/>
          </a:ln>
        </p:spPr>
      </p:sp>
      <p:sp>
        <p:nvSpPr>
          <p:cNvPr id="83" name="Shape 81"/>
          <p:cNvSpPr/>
          <p:nvPr/>
        </p:nvSpPr>
        <p:spPr>
          <a:xfrm>
            <a:off x="8735786" y="3547872"/>
            <a:ext cx="91" cy="1554480"/>
          </a:xfrm>
          <a:prstGeom prst="line">
            <a:avLst/>
          </a:prstGeom>
          <a:noFill/>
          <a:ln w="6350">
            <a:solidFill>
              <a:srgbClr val="E3EFED"/>
            </a:solidFill>
            <a:prstDash val="solid"/>
          </a:ln>
        </p:spPr>
      </p:sp>
      <p:sp>
        <p:nvSpPr>
          <p:cNvPr id="84" name="Shape 82"/>
          <p:cNvSpPr/>
          <p:nvPr/>
        </p:nvSpPr>
        <p:spPr>
          <a:xfrm>
            <a:off x="8902337" y="3547872"/>
            <a:ext cx="91" cy="1554480"/>
          </a:xfrm>
          <a:prstGeom prst="line">
            <a:avLst/>
          </a:prstGeom>
          <a:noFill/>
          <a:ln w="6350">
            <a:solidFill>
              <a:srgbClr val="C5DCD9"/>
            </a:solidFill>
            <a:prstDash val="solid"/>
          </a:ln>
        </p:spPr>
      </p:sp>
      <p:sp>
        <p:nvSpPr>
          <p:cNvPr id="85" name="Shape 83"/>
          <p:cNvSpPr/>
          <p:nvPr/>
        </p:nvSpPr>
        <p:spPr>
          <a:xfrm>
            <a:off x="9068889" y="3547872"/>
            <a:ext cx="91" cy="1554480"/>
          </a:xfrm>
          <a:prstGeom prst="line">
            <a:avLst/>
          </a:prstGeom>
          <a:noFill/>
          <a:ln w="6350">
            <a:solidFill>
              <a:srgbClr val="E3EFED"/>
            </a:solidFill>
            <a:prstDash val="solid"/>
          </a:ln>
        </p:spPr>
      </p:sp>
      <p:sp>
        <p:nvSpPr>
          <p:cNvPr id="86" name="Shape 84"/>
          <p:cNvSpPr/>
          <p:nvPr/>
        </p:nvSpPr>
        <p:spPr>
          <a:xfrm>
            <a:off x="9235440" y="3547872"/>
            <a:ext cx="91" cy="1554480"/>
          </a:xfrm>
          <a:prstGeom prst="line">
            <a:avLst/>
          </a:prstGeom>
          <a:noFill/>
          <a:ln w="6350">
            <a:solidFill>
              <a:srgbClr val="C5DCD9"/>
            </a:solidFill>
            <a:prstDash val="solid"/>
          </a:ln>
        </p:spPr>
      </p:sp>
      <p:sp>
        <p:nvSpPr>
          <p:cNvPr id="87" name="Shape 85"/>
          <p:cNvSpPr/>
          <p:nvPr/>
        </p:nvSpPr>
        <p:spPr>
          <a:xfrm>
            <a:off x="9401991" y="3547872"/>
            <a:ext cx="91" cy="1554480"/>
          </a:xfrm>
          <a:prstGeom prst="line">
            <a:avLst/>
          </a:prstGeom>
          <a:noFill/>
          <a:ln w="6350">
            <a:solidFill>
              <a:srgbClr val="E3EFED"/>
            </a:solidFill>
            <a:prstDash val="solid"/>
          </a:ln>
        </p:spPr>
      </p:sp>
      <p:sp>
        <p:nvSpPr>
          <p:cNvPr id="88" name="Shape 86"/>
          <p:cNvSpPr/>
          <p:nvPr/>
        </p:nvSpPr>
        <p:spPr>
          <a:xfrm>
            <a:off x="9568543" y="3547872"/>
            <a:ext cx="91" cy="1554480"/>
          </a:xfrm>
          <a:prstGeom prst="line">
            <a:avLst/>
          </a:prstGeom>
          <a:noFill/>
          <a:ln w="6350">
            <a:solidFill>
              <a:srgbClr val="C5DCD9"/>
            </a:solidFill>
            <a:prstDash val="solid"/>
          </a:ln>
        </p:spPr>
      </p:sp>
      <p:sp>
        <p:nvSpPr>
          <p:cNvPr id="89" name="Shape 87"/>
          <p:cNvSpPr/>
          <p:nvPr/>
        </p:nvSpPr>
        <p:spPr>
          <a:xfrm>
            <a:off x="9735094" y="3547872"/>
            <a:ext cx="91" cy="1554480"/>
          </a:xfrm>
          <a:prstGeom prst="line">
            <a:avLst/>
          </a:prstGeom>
          <a:noFill/>
          <a:ln w="6350">
            <a:solidFill>
              <a:srgbClr val="E3EFED"/>
            </a:solidFill>
            <a:prstDash val="solid"/>
          </a:ln>
        </p:spPr>
      </p:sp>
      <p:sp>
        <p:nvSpPr>
          <p:cNvPr id="90" name="Shape 88"/>
          <p:cNvSpPr/>
          <p:nvPr/>
        </p:nvSpPr>
        <p:spPr>
          <a:xfrm>
            <a:off x="9901646" y="3547872"/>
            <a:ext cx="91" cy="1554480"/>
          </a:xfrm>
          <a:prstGeom prst="line">
            <a:avLst/>
          </a:prstGeom>
          <a:noFill/>
          <a:ln w="6350">
            <a:solidFill>
              <a:srgbClr val="C5DCD9"/>
            </a:solidFill>
            <a:prstDash val="solid"/>
          </a:ln>
        </p:spPr>
      </p:sp>
      <p:sp>
        <p:nvSpPr>
          <p:cNvPr id="91" name="Shape 89"/>
          <p:cNvSpPr/>
          <p:nvPr/>
        </p:nvSpPr>
        <p:spPr>
          <a:xfrm>
            <a:off x="10068197" y="3547872"/>
            <a:ext cx="91" cy="1554480"/>
          </a:xfrm>
          <a:prstGeom prst="line">
            <a:avLst/>
          </a:prstGeom>
          <a:noFill/>
          <a:ln w="6350">
            <a:solidFill>
              <a:srgbClr val="E3EFED"/>
            </a:solidFill>
            <a:prstDash val="solid"/>
          </a:ln>
        </p:spPr>
      </p:sp>
      <p:sp>
        <p:nvSpPr>
          <p:cNvPr id="92" name="Shape 90"/>
          <p:cNvSpPr/>
          <p:nvPr/>
        </p:nvSpPr>
        <p:spPr>
          <a:xfrm>
            <a:off x="10234749" y="3547872"/>
            <a:ext cx="91" cy="1554480"/>
          </a:xfrm>
          <a:prstGeom prst="line">
            <a:avLst/>
          </a:prstGeom>
          <a:noFill/>
          <a:ln w="6350">
            <a:solidFill>
              <a:srgbClr val="C5DCD9"/>
            </a:solidFill>
            <a:prstDash val="solid"/>
          </a:ln>
        </p:spPr>
      </p:sp>
      <p:sp>
        <p:nvSpPr>
          <p:cNvPr id="93" name="Shape 91"/>
          <p:cNvSpPr/>
          <p:nvPr/>
        </p:nvSpPr>
        <p:spPr>
          <a:xfrm>
            <a:off x="10401300" y="3547872"/>
            <a:ext cx="91" cy="1554480"/>
          </a:xfrm>
          <a:prstGeom prst="line">
            <a:avLst/>
          </a:prstGeom>
          <a:noFill/>
          <a:ln w="6350">
            <a:solidFill>
              <a:srgbClr val="E3EFED"/>
            </a:solidFill>
            <a:prstDash val="solid"/>
          </a:ln>
        </p:spPr>
      </p:sp>
      <p:sp>
        <p:nvSpPr>
          <p:cNvPr id="94" name="Shape 92"/>
          <p:cNvSpPr/>
          <p:nvPr/>
        </p:nvSpPr>
        <p:spPr>
          <a:xfrm>
            <a:off x="10567851" y="3547872"/>
            <a:ext cx="91" cy="1554480"/>
          </a:xfrm>
          <a:prstGeom prst="line">
            <a:avLst/>
          </a:prstGeom>
          <a:noFill/>
          <a:ln w="6350">
            <a:solidFill>
              <a:srgbClr val="C5DCD9"/>
            </a:solidFill>
            <a:prstDash val="solid"/>
          </a:ln>
        </p:spPr>
      </p:sp>
      <p:sp>
        <p:nvSpPr>
          <p:cNvPr id="95" name="Shape 93"/>
          <p:cNvSpPr/>
          <p:nvPr/>
        </p:nvSpPr>
        <p:spPr>
          <a:xfrm>
            <a:off x="10734403" y="3547872"/>
            <a:ext cx="91" cy="1554480"/>
          </a:xfrm>
          <a:prstGeom prst="line">
            <a:avLst/>
          </a:prstGeom>
          <a:noFill/>
          <a:ln w="6350">
            <a:solidFill>
              <a:srgbClr val="E3EFED"/>
            </a:solidFill>
            <a:prstDash val="solid"/>
          </a:ln>
        </p:spPr>
      </p:sp>
      <p:sp>
        <p:nvSpPr>
          <p:cNvPr id="96" name="Shape 94"/>
          <p:cNvSpPr/>
          <p:nvPr/>
        </p:nvSpPr>
        <p:spPr>
          <a:xfrm>
            <a:off x="10900954" y="3547872"/>
            <a:ext cx="91" cy="1554480"/>
          </a:xfrm>
          <a:prstGeom prst="line">
            <a:avLst/>
          </a:prstGeom>
          <a:noFill/>
          <a:ln w="6350">
            <a:solidFill>
              <a:srgbClr val="C5DCD9"/>
            </a:solidFill>
            <a:prstDash val="solid"/>
          </a:ln>
        </p:spPr>
      </p:sp>
      <p:sp>
        <p:nvSpPr>
          <p:cNvPr id="97" name="Shape 95"/>
          <p:cNvSpPr/>
          <p:nvPr/>
        </p:nvSpPr>
        <p:spPr>
          <a:xfrm>
            <a:off x="11067506" y="3547872"/>
            <a:ext cx="91" cy="1554480"/>
          </a:xfrm>
          <a:prstGeom prst="line">
            <a:avLst/>
          </a:prstGeom>
          <a:noFill/>
          <a:ln w="6350">
            <a:solidFill>
              <a:srgbClr val="E3EFED"/>
            </a:solidFill>
            <a:prstDash val="solid"/>
          </a:ln>
        </p:spPr>
      </p:sp>
      <p:sp>
        <p:nvSpPr>
          <p:cNvPr id="98" name="Shape 96"/>
          <p:cNvSpPr/>
          <p:nvPr/>
        </p:nvSpPr>
        <p:spPr>
          <a:xfrm>
            <a:off x="11234057" y="3547872"/>
            <a:ext cx="91" cy="1554480"/>
          </a:xfrm>
          <a:prstGeom prst="line">
            <a:avLst/>
          </a:prstGeom>
          <a:noFill/>
          <a:ln w="6350">
            <a:solidFill>
              <a:srgbClr val="C5DCD9"/>
            </a:solidFill>
            <a:prstDash val="solid"/>
          </a:ln>
        </p:spPr>
      </p:sp>
      <p:sp>
        <p:nvSpPr>
          <p:cNvPr id="99" name="Shape 97"/>
          <p:cNvSpPr/>
          <p:nvPr/>
        </p:nvSpPr>
        <p:spPr>
          <a:xfrm>
            <a:off x="11400609" y="3547872"/>
            <a:ext cx="91" cy="1554480"/>
          </a:xfrm>
          <a:prstGeom prst="line">
            <a:avLst/>
          </a:prstGeom>
          <a:noFill/>
          <a:ln w="6350">
            <a:solidFill>
              <a:srgbClr val="E3EFED"/>
            </a:solidFill>
            <a:prstDash val="solid"/>
          </a:ln>
        </p:spPr>
      </p:sp>
      <p:sp>
        <p:nvSpPr>
          <p:cNvPr id="100" name="Shape 98"/>
          <p:cNvSpPr/>
          <p:nvPr/>
        </p:nvSpPr>
        <p:spPr>
          <a:xfrm>
            <a:off x="11567160" y="3547872"/>
            <a:ext cx="91" cy="1554480"/>
          </a:xfrm>
          <a:prstGeom prst="line">
            <a:avLst/>
          </a:prstGeom>
          <a:noFill/>
          <a:ln w="6350">
            <a:solidFill>
              <a:srgbClr val="C5DCD9"/>
            </a:solidFill>
            <a:prstDash val="solid"/>
          </a:ln>
        </p:spPr>
      </p:sp>
      <p:sp>
        <p:nvSpPr>
          <p:cNvPr id="101" name="Shape 99"/>
          <p:cNvSpPr/>
          <p:nvPr/>
        </p:nvSpPr>
        <p:spPr>
          <a:xfrm>
            <a:off x="6903720" y="5102352"/>
            <a:ext cx="4663440" cy="91"/>
          </a:xfrm>
          <a:prstGeom prst="line">
            <a:avLst/>
          </a:prstGeom>
          <a:noFill/>
          <a:ln w="6350">
            <a:solidFill>
              <a:srgbClr val="C5DCD9"/>
            </a:solidFill>
            <a:prstDash val="solid"/>
          </a:ln>
        </p:spPr>
      </p:sp>
      <p:sp>
        <p:nvSpPr>
          <p:cNvPr id="102" name="Shape 100"/>
          <p:cNvSpPr/>
          <p:nvPr/>
        </p:nvSpPr>
        <p:spPr>
          <a:xfrm>
            <a:off x="6903720" y="4843272"/>
            <a:ext cx="4663440" cy="91"/>
          </a:xfrm>
          <a:prstGeom prst="line">
            <a:avLst/>
          </a:prstGeom>
          <a:noFill/>
          <a:ln w="6350">
            <a:solidFill>
              <a:srgbClr val="E3EFED"/>
            </a:solidFill>
            <a:prstDash val="solid"/>
          </a:ln>
        </p:spPr>
      </p:sp>
      <p:sp>
        <p:nvSpPr>
          <p:cNvPr id="103" name="Shape 101"/>
          <p:cNvSpPr/>
          <p:nvPr/>
        </p:nvSpPr>
        <p:spPr>
          <a:xfrm>
            <a:off x="6903720" y="4584192"/>
            <a:ext cx="4663440" cy="91"/>
          </a:xfrm>
          <a:prstGeom prst="line">
            <a:avLst/>
          </a:prstGeom>
          <a:noFill/>
          <a:ln w="6350">
            <a:solidFill>
              <a:srgbClr val="C5DCD9"/>
            </a:solidFill>
            <a:prstDash val="solid"/>
          </a:ln>
        </p:spPr>
      </p:sp>
      <p:sp>
        <p:nvSpPr>
          <p:cNvPr id="104" name="Shape 102"/>
          <p:cNvSpPr/>
          <p:nvPr/>
        </p:nvSpPr>
        <p:spPr>
          <a:xfrm>
            <a:off x="6903720" y="4325112"/>
            <a:ext cx="4663440" cy="91"/>
          </a:xfrm>
          <a:prstGeom prst="line">
            <a:avLst/>
          </a:prstGeom>
          <a:noFill/>
          <a:ln w="6350">
            <a:solidFill>
              <a:srgbClr val="E3EFED"/>
            </a:solidFill>
            <a:prstDash val="solid"/>
          </a:ln>
        </p:spPr>
      </p:sp>
      <p:sp>
        <p:nvSpPr>
          <p:cNvPr id="105" name="Shape 103"/>
          <p:cNvSpPr/>
          <p:nvPr/>
        </p:nvSpPr>
        <p:spPr>
          <a:xfrm>
            <a:off x="6903720" y="4066032"/>
            <a:ext cx="4663440" cy="91"/>
          </a:xfrm>
          <a:prstGeom prst="line">
            <a:avLst/>
          </a:prstGeom>
          <a:noFill/>
          <a:ln w="6350">
            <a:solidFill>
              <a:srgbClr val="C5DCD9"/>
            </a:solidFill>
            <a:prstDash val="solid"/>
          </a:ln>
        </p:spPr>
      </p:sp>
      <p:sp>
        <p:nvSpPr>
          <p:cNvPr id="106" name="Shape 104"/>
          <p:cNvSpPr/>
          <p:nvPr/>
        </p:nvSpPr>
        <p:spPr>
          <a:xfrm>
            <a:off x="6903720" y="3806952"/>
            <a:ext cx="4663440" cy="91"/>
          </a:xfrm>
          <a:prstGeom prst="line">
            <a:avLst/>
          </a:prstGeom>
          <a:noFill/>
          <a:ln w="6350">
            <a:solidFill>
              <a:srgbClr val="E3EFED"/>
            </a:solidFill>
            <a:prstDash val="solid"/>
          </a:ln>
        </p:spPr>
      </p:sp>
      <p:sp>
        <p:nvSpPr>
          <p:cNvPr id="107" name="Shape 105"/>
          <p:cNvSpPr/>
          <p:nvPr/>
        </p:nvSpPr>
        <p:spPr>
          <a:xfrm>
            <a:off x="6903720" y="3547872"/>
            <a:ext cx="4663440" cy="91"/>
          </a:xfrm>
          <a:prstGeom prst="line">
            <a:avLst/>
          </a:prstGeom>
          <a:noFill/>
          <a:ln w="6350">
            <a:solidFill>
              <a:srgbClr val="C5DCD9"/>
            </a:solidFill>
            <a:prstDash val="solid"/>
          </a:ln>
        </p:spPr>
      </p:sp>
      <p:sp>
        <p:nvSpPr>
          <p:cNvPr id="108" name="Shape 106"/>
          <p:cNvSpPr/>
          <p:nvPr/>
        </p:nvSpPr>
        <p:spPr>
          <a:xfrm>
            <a:off x="6903720" y="5102352"/>
            <a:ext cx="4663440" cy="91"/>
          </a:xfrm>
          <a:prstGeom prst="line">
            <a:avLst/>
          </a:prstGeom>
          <a:noFill/>
          <a:ln w="19050">
            <a:solidFill>
              <a:srgbClr val="133536"/>
            </a:solidFill>
            <a:prstDash val="solid"/>
          </a:ln>
        </p:spPr>
      </p:sp>
      <p:sp>
        <p:nvSpPr>
          <p:cNvPr id="109" name="Shape 107"/>
          <p:cNvSpPr/>
          <p:nvPr/>
        </p:nvSpPr>
        <p:spPr>
          <a:xfrm flipV="1">
            <a:off x="6903720" y="3547872"/>
            <a:ext cx="91" cy="1554480"/>
          </a:xfrm>
          <a:prstGeom prst="line">
            <a:avLst/>
          </a:prstGeom>
          <a:noFill/>
          <a:ln w="19050">
            <a:solidFill>
              <a:srgbClr val="133536"/>
            </a:solidFill>
            <a:prstDash val="solid"/>
          </a:ln>
        </p:spPr>
      </p:sp>
      <p:sp>
        <p:nvSpPr>
          <p:cNvPr id="110" name="Shape 108"/>
          <p:cNvSpPr/>
          <p:nvPr/>
        </p:nvSpPr>
        <p:spPr>
          <a:xfrm>
            <a:off x="6903720" y="5102352"/>
            <a:ext cx="91" cy="54864"/>
          </a:xfrm>
          <a:prstGeom prst="line">
            <a:avLst/>
          </a:prstGeom>
          <a:noFill/>
          <a:ln w="12700">
            <a:solidFill>
              <a:srgbClr val="133536"/>
            </a:solidFill>
            <a:prstDash val="solid"/>
          </a:ln>
        </p:spPr>
      </p:sp>
      <p:sp>
        <p:nvSpPr>
          <p:cNvPr id="111" name="Text 109"/>
          <p:cNvSpPr/>
          <p:nvPr/>
        </p:nvSpPr>
        <p:spPr>
          <a:xfrm>
            <a:off x="6629400" y="515721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112" name="Shape 110"/>
          <p:cNvSpPr/>
          <p:nvPr/>
        </p:nvSpPr>
        <p:spPr>
          <a:xfrm>
            <a:off x="7236823" y="5102352"/>
            <a:ext cx="91" cy="54864"/>
          </a:xfrm>
          <a:prstGeom prst="line">
            <a:avLst/>
          </a:prstGeom>
          <a:noFill/>
          <a:ln w="12700">
            <a:solidFill>
              <a:srgbClr val="133536"/>
            </a:solidFill>
            <a:prstDash val="solid"/>
          </a:ln>
        </p:spPr>
      </p:sp>
      <p:sp>
        <p:nvSpPr>
          <p:cNvPr id="113" name="Text 111"/>
          <p:cNvSpPr/>
          <p:nvPr/>
        </p:nvSpPr>
        <p:spPr>
          <a:xfrm>
            <a:off x="6962503" y="515721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114" name="Shape 112"/>
          <p:cNvSpPr/>
          <p:nvPr/>
        </p:nvSpPr>
        <p:spPr>
          <a:xfrm>
            <a:off x="7569926" y="5102352"/>
            <a:ext cx="91" cy="54864"/>
          </a:xfrm>
          <a:prstGeom prst="line">
            <a:avLst/>
          </a:prstGeom>
          <a:noFill/>
          <a:ln w="12700">
            <a:solidFill>
              <a:srgbClr val="133536"/>
            </a:solidFill>
            <a:prstDash val="solid"/>
          </a:ln>
        </p:spPr>
      </p:sp>
      <p:sp>
        <p:nvSpPr>
          <p:cNvPr id="115" name="Text 113"/>
          <p:cNvSpPr/>
          <p:nvPr/>
        </p:nvSpPr>
        <p:spPr>
          <a:xfrm>
            <a:off x="7295606" y="515721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116" name="Shape 114"/>
          <p:cNvSpPr/>
          <p:nvPr/>
        </p:nvSpPr>
        <p:spPr>
          <a:xfrm>
            <a:off x="7903029" y="5102352"/>
            <a:ext cx="91" cy="54864"/>
          </a:xfrm>
          <a:prstGeom prst="line">
            <a:avLst/>
          </a:prstGeom>
          <a:noFill/>
          <a:ln w="12700">
            <a:solidFill>
              <a:srgbClr val="133536"/>
            </a:solidFill>
            <a:prstDash val="solid"/>
          </a:ln>
        </p:spPr>
      </p:sp>
      <p:sp>
        <p:nvSpPr>
          <p:cNvPr id="117" name="Text 115"/>
          <p:cNvSpPr/>
          <p:nvPr/>
        </p:nvSpPr>
        <p:spPr>
          <a:xfrm>
            <a:off x="7628709" y="515721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118" name="Shape 116"/>
          <p:cNvSpPr/>
          <p:nvPr/>
        </p:nvSpPr>
        <p:spPr>
          <a:xfrm>
            <a:off x="8236131" y="5102352"/>
            <a:ext cx="91" cy="54864"/>
          </a:xfrm>
          <a:prstGeom prst="line">
            <a:avLst/>
          </a:prstGeom>
          <a:noFill/>
          <a:ln w="12700">
            <a:solidFill>
              <a:srgbClr val="133536"/>
            </a:solidFill>
            <a:prstDash val="solid"/>
          </a:ln>
        </p:spPr>
      </p:sp>
      <p:sp>
        <p:nvSpPr>
          <p:cNvPr id="119" name="Text 117"/>
          <p:cNvSpPr/>
          <p:nvPr/>
        </p:nvSpPr>
        <p:spPr>
          <a:xfrm>
            <a:off x="7961811" y="515721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120" name="Shape 118"/>
          <p:cNvSpPr/>
          <p:nvPr/>
        </p:nvSpPr>
        <p:spPr>
          <a:xfrm>
            <a:off x="8569234" y="5102352"/>
            <a:ext cx="91" cy="54864"/>
          </a:xfrm>
          <a:prstGeom prst="line">
            <a:avLst/>
          </a:prstGeom>
          <a:noFill/>
          <a:ln w="12700">
            <a:solidFill>
              <a:srgbClr val="133536"/>
            </a:solidFill>
            <a:prstDash val="solid"/>
          </a:ln>
        </p:spPr>
      </p:sp>
      <p:sp>
        <p:nvSpPr>
          <p:cNvPr id="121" name="Text 119"/>
          <p:cNvSpPr/>
          <p:nvPr/>
        </p:nvSpPr>
        <p:spPr>
          <a:xfrm>
            <a:off x="8294914" y="515721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122" name="Shape 120"/>
          <p:cNvSpPr/>
          <p:nvPr/>
        </p:nvSpPr>
        <p:spPr>
          <a:xfrm>
            <a:off x="8902337" y="5102352"/>
            <a:ext cx="91" cy="54864"/>
          </a:xfrm>
          <a:prstGeom prst="line">
            <a:avLst/>
          </a:prstGeom>
          <a:noFill/>
          <a:ln w="12700">
            <a:solidFill>
              <a:srgbClr val="133536"/>
            </a:solidFill>
            <a:prstDash val="solid"/>
          </a:ln>
        </p:spPr>
      </p:sp>
      <p:sp>
        <p:nvSpPr>
          <p:cNvPr id="123" name="Text 121"/>
          <p:cNvSpPr/>
          <p:nvPr/>
        </p:nvSpPr>
        <p:spPr>
          <a:xfrm>
            <a:off x="8628017" y="515721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12</a:t>
            </a:r>
            <a:endParaRPr lang="en-US" sz="1000" dirty="0"/>
          </a:p>
        </p:txBody>
      </p:sp>
      <p:sp>
        <p:nvSpPr>
          <p:cNvPr id="124" name="Shape 122"/>
          <p:cNvSpPr/>
          <p:nvPr/>
        </p:nvSpPr>
        <p:spPr>
          <a:xfrm>
            <a:off x="9235440" y="5102352"/>
            <a:ext cx="91" cy="54864"/>
          </a:xfrm>
          <a:prstGeom prst="line">
            <a:avLst/>
          </a:prstGeom>
          <a:noFill/>
          <a:ln w="12700">
            <a:solidFill>
              <a:srgbClr val="133536"/>
            </a:solidFill>
            <a:prstDash val="solid"/>
          </a:ln>
        </p:spPr>
      </p:sp>
      <p:sp>
        <p:nvSpPr>
          <p:cNvPr id="125" name="Text 123"/>
          <p:cNvSpPr/>
          <p:nvPr/>
        </p:nvSpPr>
        <p:spPr>
          <a:xfrm>
            <a:off x="8961120" y="515721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14</a:t>
            </a:r>
            <a:endParaRPr lang="en-US" sz="1000" dirty="0"/>
          </a:p>
        </p:txBody>
      </p:sp>
      <p:sp>
        <p:nvSpPr>
          <p:cNvPr id="126" name="Shape 124"/>
          <p:cNvSpPr/>
          <p:nvPr/>
        </p:nvSpPr>
        <p:spPr>
          <a:xfrm>
            <a:off x="9568543" y="5102352"/>
            <a:ext cx="91" cy="54864"/>
          </a:xfrm>
          <a:prstGeom prst="line">
            <a:avLst/>
          </a:prstGeom>
          <a:noFill/>
          <a:ln w="12700">
            <a:solidFill>
              <a:srgbClr val="133536"/>
            </a:solidFill>
            <a:prstDash val="solid"/>
          </a:ln>
        </p:spPr>
      </p:sp>
      <p:sp>
        <p:nvSpPr>
          <p:cNvPr id="127" name="Text 125"/>
          <p:cNvSpPr/>
          <p:nvPr/>
        </p:nvSpPr>
        <p:spPr>
          <a:xfrm>
            <a:off x="9294223" y="515721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16</a:t>
            </a:r>
            <a:endParaRPr lang="en-US" sz="1000" dirty="0"/>
          </a:p>
        </p:txBody>
      </p:sp>
      <p:sp>
        <p:nvSpPr>
          <p:cNvPr id="128" name="Shape 126"/>
          <p:cNvSpPr/>
          <p:nvPr/>
        </p:nvSpPr>
        <p:spPr>
          <a:xfrm>
            <a:off x="9901646" y="5102352"/>
            <a:ext cx="91" cy="54864"/>
          </a:xfrm>
          <a:prstGeom prst="line">
            <a:avLst/>
          </a:prstGeom>
          <a:noFill/>
          <a:ln w="12700">
            <a:solidFill>
              <a:srgbClr val="133536"/>
            </a:solidFill>
            <a:prstDash val="solid"/>
          </a:ln>
        </p:spPr>
      </p:sp>
      <p:sp>
        <p:nvSpPr>
          <p:cNvPr id="129" name="Text 127"/>
          <p:cNvSpPr/>
          <p:nvPr/>
        </p:nvSpPr>
        <p:spPr>
          <a:xfrm>
            <a:off x="9627326" y="515721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18</a:t>
            </a:r>
            <a:endParaRPr lang="en-US" sz="1000" dirty="0"/>
          </a:p>
        </p:txBody>
      </p:sp>
      <p:sp>
        <p:nvSpPr>
          <p:cNvPr id="130" name="Shape 128"/>
          <p:cNvSpPr/>
          <p:nvPr/>
        </p:nvSpPr>
        <p:spPr>
          <a:xfrm>
            <a:off x="10234749" y="5102352"/>
            <a:ext cx="91" cy="54864"/>
          </a:xfrm>
          <a:prstGeom prst="line">
            <a:avLst/>
          </a:prstGeom>
          <a:noFill/>
          <a:ln w="12700">
            <a:solidFill>
              <a:srgbClr val="133536"/>
            </a:solidFill>
            <a:prstDash val="solid"/>
          </a:ln>
        </p:spPr>
      </p:sp>
      <p:sp>
        <p:nvSpPr>
          <p:cNvPr id="131" name="Text 129"/>
          <p:cNvSpPr/>
          <p:nvPr/>
        </p:nvSpPr>
        <p:spPr>
          <a:xfrm>
            <a:off x="9960429" y="515721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132" name="Shape 130"/>
          <p:cNvSpPr/>
          <p:nvPr/>
        </p:nvSpPr>
        <p:spPr>
          <a:xfrm>
            <a:off x="10567851" y="5102352"/>
            <a:ext cx="91" cy="54864"/>
          </a:xfrm>
          <a:prstGeom prst="line">
            <a:avLst/>
          </a:prstGeom>
          <a:noFill/>
          <a:ln w="12700">
            <a:solidFill>
              <a:srgbClr val="133536"/>
            </a:solidFill>
            <a:prstDash val="solid"/>
          </a:ln>
        </p:spPr>
      </p:sp>
      <p:sp>
        <p:nvSpPr>
          <p:cNvPr id="133" name="Text 131"/>
          <p:cNvSpPr/>
          <p:nvPr/>
        </p:nvSpPr>
        <p:spPr>
          <a:xfrm>
            <a:off x="10293531" y="515721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22</a:t>
            </a:r>
            <a:endParaRPr lang="en-US" sz="1000" dirty="0"/>
          </a:p>
        </p:txBody>
      </p:sp>
      <p:sp>
        <p:nvSpPr>
          <p:cNvPr id="134" name="Shape 132"/>
          <p:cNvSpPr/>
          <p:nvPr/>
        </p:nvSpPr>
        <p:spPr>
          <a:xfrm>
            <a:off x="10900954" y="5102352"/>
            <a:ext cx="91" cy="54864"/>
          </a:xfrm>
          <a:prstGeom prst="line">
            <a:avLst/>
          </a:prstGeom>
          <a:noFill/>
          <a:ln w="12700">
            <a:solidFill>
              <a:srgbClr val="133536"/>
            </a:solidFill>
            <a:prstDash val="solid"/>
          </a:ln>
        </p:spPr>
      </p:sp>
      <p:sp>
        <p:nvSpPr>
          <p:cNvPr id="135" name="Text 133"/>
          <p:cNvSpPr/>
          <p:nvPr/>
        </p:nvSpPr>
        <p:spPr>
          <a:xfrm>
            <a:off x="10626634" y="515721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24</a:t>
            </a:r>
            <a:endParaRPr lang="en-US" sz="1000" dirty="0"/>
          </a:p>
        </p:txBody>
      </p:sp>
      <p:sp>
        <p:nvSpPr>
          <p:cNvPr id="136" name="Shape 134"/>
          <p:cNvSpPr/>
          <p:nvPr/>
        </p:nvSpPr>
        <p:spPr>
          <a:xfrm>
            <a:off x="11234057" y="5102352"/>
            <a:ext cx="91" cy="54864"/>
          </a:xfrm>
          <a:prstGeom prst="line">
            <a:avLst/>
          </a:prstGeom>
          <a:noFill/>
          <a:ln w="12700">
            <a:solidFill>
              <a:srgbClr val="133536"/>
            </a:solidFill>
            <a:prstDash val="solid"/>
          </a:ln>
        </p:spPr>
      </p:sp>
      <p:sp>
        <p:nvSpPr>
          <p:cNvPr id="137" name="Text 135"/>
          <p:cNvSpPr/>
          <p:nvPr/>
        </p:nvSpPr>
        <p:spPr>
          <a:xfrm>
            <a:off x="10959737" y="515721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26</a:t>
            </a:r>
            <a:endParaRPr lang="en-US" sz="1000" dirty="0"/>
          </a:p>
        </p:txBody>
      </p:sp>
      <p:sp>
        <p:nvSpPr>
          <p:cNvPr id="138" name="Shape 136"/>
          <p:cNvSpPr/>
          <p:nvPr/>
        </p:nvSpPr>
        <p:spPr>
          <a:xfrm>
            <a:off x="11567160" y="5102352"/>
            <a:ext cx="91" cy="54864"/>
          </a:xfrm>
          <a:prstGeom prst="line">
            <a:avLst/>
          </a:prstGeom>
          <a:noFill/>
          <a:ln w="12700">
            <a:solidFill>
              <a:srgbClr val="133536"/>
            </a:solidFill>
            <a:prstDash val="solid"/>
          </a:ln>
        </p:spPr>
      </p:sp>
      <p:sp>
        <p:nvSpPr>
          <p:cNvPr id="139" name="Text 137"/>
          <p:cNvSpPr/>
          <p:nvPr/>
        </p:nvSpPr>
        <p:spPr>
          <a:xfrm>
            <a:off x="11292840" y="515721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28</a:t>
            </a:r>
            <a:endParaRPr lang="en-US" sz="1000" dirty="0"/>
          </a:p>
        </p:txBody>
      </p:sp>
      <p:sp>
        <p:nvSpPr>
          <p:cNvPr id="140" name="Shape 138"/>
          <p:cNvSpPr/>
          <p:nvPr/>
        </p:nvSpPr>
        <p:spPr>
          <a:xfrm>
            <a:off x="6848856" y="5102352"/>
            <a:ext cx="54864" cy="91"/>
          </a:xfrm>
          <a:prstGeom prst="line">
            <a:avLst/>
          </a:prstGeom>
          <a:noFill/>
          <a:ln w="12700">
            <a:solidFill>
              <a:srgbClr val="133536"/>
            </a:solidFill>
            <a:prstDash val="solid"/>
          </a:ln>
        </p:spPr>
      </p:sp>
      <p:sp>
        <p:nvSpPr>
          <p:cNvPr id="141" name="Text 139"/>
          <p:cNvSpPr/>
          <p:nvPr/>
        </p:nvSpPr>
        <p:spPr>
          <a:xfrm>
            <a:off x="6464808" y="501091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142" name="Shape 140"/>
          <p:cNvSpPr/>
          <p:nvPr/>
        </p:nvSpPr>
        <p:spPr>
          <a:xfrm>
            <a:off x="6848856" y="4584192"/>
            <a:ext cx="54864" cy="91"/>
          </a:xfrm>
          <a:prstGeom prst="line">
            <a:avLst/>
          </a:prstGeom>
          <a:noFill/>
          <a:ln w="12700">
            <a:solidFill>
              <a:srgbClr val="133536"/>
            </a:solidFill>
            <a:prstDash val="solid"/>
          </a:ln>
        </p:spPr>
      </p:sp>
      <p:sp>
        <p:nvSpPr>
          <p:cNvPr id="143" name="Text 141"/>
          <p:cNvSpPr/>
          <p:nvPr/>
        </p:nvSpPr>
        <p:spPr>
          <a:xfrm>
            <a:off x="6464808" y="449275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144" name="Shape 142"/>
          <p:cNvSpPr/>
          <p:nvPr/>
        </p:nvSpPr>
        <p:spPr>
          <a:xfrm>
            <a:off x="6848856" y="4066032"/>
            <a:ext cx="54864" cy="91"/>
          </a:xfrm>
          <a:prstGeom prst="line">
            <a:avLst/>
          </a:prstGeom>
          <a:noFill/>
          <a:ln w="12700">
            <a:solidFill>
              <a:srgbClr val="133536"/>
            </a:solidFill>
            <a:prstDash val="solid"/>
          </a:ln>
        </p:spPr>
      </p:sp>
      <p:sp>
        <p:nvSpPr>
          <p:cNvPr id="145" name="Text 143"/>
          <p:cNvSpPr/>
          <p:nvPr/>
        </p:nvSpPr>
        <p:spPr>
          <a:xfrm>
            <a:off x="6464808" y="397459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146" name="Shape 144"/>
          <p:cNvSpPr/>
          <p:nvPr/>
        </p:nvSpPr>
        <p:spPr>
          <a:xfrm>
            <a:off x="6848856" y="3547872"/>
            <a:ext cx="54864" cy="91"/>
          </a:xfrm>
          <a:prstGeom prst="line">
            <a:avLst/>
          </a:prstGeom>
          <a:noFill/>
          <a:ln w="12700">
            <a:solidFill>
              <a:srgbClr val="133536"/>
            </a:solidFill>
            <a:prstDash val="solid"/>
          </a:ln>
        </p:spPr>
      </p:sp>
      <p:sp>
        <p:nvSpPr>
          <p:cNvPr id="147" name="Text 145"/>
          <p:cNvSpPr/>
          <p:nvPr/>
        </p:nvSpPr>
        <p:spPr>
          <a:xfrm>
            <a:off x="6464808" y="345643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12</a:t>
            </a:r>
            <a:endParaRPr lang="en-US" sz="1000" dirty="0"/>
          </a:p>
        </p:txBody>
      </p:sp>
      <p:sp>
        <p:nvSpPr>
          <p:cNvPr id="148" name="Text 146"/>
          <p:cNvSpPr/>
          <p:nvPr/>
        </p:nvSpPr>
        <p:spPr>
          <a:xfrm>
            <a:off x="6903720" y="5349240"/>
            <a:ext cx="46634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day of cycle</a:t>
            </a:r>
            <a:endParaRPr lang="en-US" sz="1050" dirty="0"/>
          </a:p>
        </p:txBody>
      </p:sp>
      <p:sp>
        <p:nvSpPr>
          <p:cNvPr id="149" name="Text 147"/>
          <p:cNvSpPr/>
          <p:nvPr/>
        </p:nvSpPr>
        <p:spPr>
          <a:xfrm rot="16200000">
            <a:off x="5559552" y="4197096"/>
            <a:ext cx="15544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lining / mm</a:t>
            </a:r>
            <a:endParaRPr lang="en-US" sz="1050" dirty="0"/>
          </a:p>
        </p:txBody>
      </p:sp>
      <p:sp>
        <p:nvSpPr>
          <p:cNvPr id="150" name="Shape 148"/>
          <p:cNvSpPr/>
          <p:nvPr/>
        </p:nvSpPr>
        <p:spPr>
          <a:xfrm>
            <a:off x="6903720" y="3547872"/>
            <a:ext cx="832757" cy="1554480"/>
          </a:xfrm>
          <a:prstGeom prst="rect">
            <a:avLst/>
          </a:prstGeom>
          <a:solidFill>
            <a:srgbClr val="C8414C">
              <a:alpha val="15000"/>
            </a:srgbClr>
          </a:solidFill>
          <a:ln/>
        </p:spPr>
      </p:sp>
      <p:sp>
        <p:nvSpPr>
          <p:cNvPr id="151" name="Shape 149"/>
          <p:cNvSpPr/>
          <p:nvPr/>
        </p:nvSpPr>
        <p:spPr>
          <a:xfrm>
            <a:off x="6903720" y="3677412"/>
            <a:ext cx="4663440" cy="1424940"/>
          </a:xfrm>
          <a:custGeom>
            <a:avLst/>
            <a:gdLst/>
            <a:ahLst/>
            <a:cxnLst/>
            <a:rect l="l" t="t" r="r" b="b"/>
            <a:pathLst>
              <a:path w="4663440" h="1424940">
                <a:moveTo>
                  <a:pt x="0" y="1424940"/>
                </a:moveTo>
                <a:lnTo>
                  <a:pt x="0" y="129540"/>
                </a:lnTo>
                <a:lnTo>
                  <a:pt x="83276" y="239649"/>
                </a:lnTo>
                <a:lnTo>
                  <a:pt x="166551" y="349758"/>
                </a:lnTo>
                <a:lnTo>
                  <a:pt x="249827" y="459867"/>
                </a:lnTo>
                <a:lnTo>
                  <a:pt x="333103" y="569976"/>
                </a:lnTo>
                <a:lnTo>
                  <a:pt x="416379" y="680085"/>
                </a:lnTo>
                <a:lnTo>
                  <a:pt x="499654" y="790194"/>
                </a:lnTo>
                <a:lnTo>
                  <a:pt x="582930" y="900303"/>
                </a:lnTo>
                <a:lnTo>
                  <a:pt x="666206" y="1010412"/>
                </a:lnTo>
                <a:lnTo>
                  <a:pt x="749481" y="1120521"/>
                </a:lnTo>
                <a:lnTo>
                  <a:pt x="832757" y="1230630"/>
                </a:lnTo>
                <a:lnTo>
                  <a:pt x="916033" y="1176655"/>
                </a:lnTo>
                <a:lnTo>
                  <a:pt x="999309" y="1122680"/>
                </a:lnTo>
                <a:lnTo>
                  <a:pt x="1082584" y="1068705"/>
                </a:lnTo>
                <a:lnTo>
                  <a:pt x="1165860" y="1014730"/>
                </a:lnTo>
                <a:lnTo>
                  <a:pt x="1249136" y="960755"/>
                </a:lnTo>
                <a:lnTo>
                  <a:pt x="1332411" y="906780"/>
                </a:lnTo>
                <a:lnTo>
                  <a:pt x="1415687" y="852805"/>
                </a:lnTo>
                <a:lnTo>
                  <a:pt x="1498963" y="798830"/>
                </a:lnTo>
                <a:lnTo>
                  <a:pt x="1582239" y="744855"/>
                </a:lnTo>
                <a:lnTo>
                  <a:pt x="1665514" y="690880"/>
                </a:lnTo>
                <a:lnTo>
                  <a:pt x="1748790" y="636905"/>
                </a:lnTo>
                <a:lnTo>
                  <a:pt x="1832066" y="582930"/>
                </a:lnTo>
                <a:lnTo>
                  <a:pt x="1915341" y="528955"/>
                </a:lnTo>
                <a:lnTo>
                  <a:pt x="1998617" y="474980"/>
                </a:lnTo>
                <a:lnTo>
                  <a:pt x="2081893" y="421005"/>
                </a:lnTo>
                <a:lnTo>
                  <a:pt x="2165169" y="367030"/>
                </a:lnTo>
                <a:lnTo>
                  <a:pt x="2248444" y="313055"/>
                </a:lnTo>
                <a:lnTo>
                  <a:pt x="2331720" y="259080"/>
                </a:lnTo>
                <a:lnTo>
                  <a:pt x="2414996" y="240574"/>
                </a:lnTo>
                <a:lnTo>
                  <a:pt x="2498271" y="222069"/>
                </a:lnTo>
                <a:lnTo>
                  <a:pt x="2581547" y="203563"/>
                </a:lnTo>
                <a:lnTo>
                  <a:pt x="2664823" y="185057"/>
                </a:lnTo>
                <a:lnTo>
                  <a:pt x="2748099" y="166551"/>
                </a:lnTo>
                <a:lnTo>
                  <a:pt x="2831374" y="148046"/>
                </a:lnTo>
                <a:lnTo>
                  <a:pt x="2914650" y="129540"/>
                </a:lnTo>
                <a:lnTo>
                  <a:pt x="2997926" y="111034"/>
                </a:lnTo>
                <a:lnTo>
                  <a:pt x="3081201" y="92529"/>
                </a:lnTo>
                <a:lnTo>
                  <a:pt x="3164477" y="74023"/>
                </a:lnTo>
                <a:lnTo>
                  <a:pt x="3247753" y="55517"/>
                </a:lnTo>
                <a:lnTo>
                  <a:pt x="3331029" y="37011"/>
                </a:lnTo>
                <a:lnTo>
                  <a:pt x="3414304" y="18506"/>
                </a:lnTo>
                <a:lnTo>
                  <a:pt x="3497580" y="0"/>
                </a:lnTo>
                <a:lnTo>
                  <a:pt x="3580856" y="0"/>
                </a:lnTo>
                <a:lnTo>
                  <a:pt x="3664131" y="0"/>
                </a:lnTo>
                <a:lnTo>
                  <a:pt x="3747407" y="0"/>
                </a:lnTo>
                <a:lnTo>
                  <a:pt x="3830683" y="0"/>
                </a:lnTo>
                <a:lnTo>
                  <a:pt x="3913959" y="0"/>
                </a:lnTo>
                <a:lnTo>
                  <a:pt x="3997234" y="0"/>
                </a:lnTo>
                <a:lnTo>
                  <a:pt x="4080510" y="0"/>
                </a:lnTo>
                <a:lnTo>
                  <a:pt x="4163786" y="0"/>
                </a:lnTo>
                <a:lnTo>
                  <a:pt x="4247061" y="0"/>
                </a:lnTo>
                <a:lnTo>
                  <a:pt x="4330337" y="0"/>
                </a:lnTo>
                <a:lnTo>
                  <a:pt x="4413613" y="0"/>
                </a:lnTo>
                <a:lnTo>
                  <a:pt x="4496889" y="0"/>
                </a:lnTo>
                <a:lnTo>
                  <a:pt x="4580164" y="64770"/>
                </a:lnTo>
                <a:lnTo>
                  <a:pt x="4663440" y="129540"/>
                </a:lnTo>
                <a:lnTo>
                  <a:pt x="4663440" y="1424940"/>
                </a:lnTo>
                <a:close/>
              </a:path>
            </a:pathLst>
          </a:custGeom>
          <a:solidFill>
            <a:srgbClr val="C8414C">
              <a:alpha val="85000"/>
            </a:srgbClr>
          </a:solidFill>
          <a:ln w="9525">
            <a:solidFill>
              <a:srgbClr val="8E2A33"/>
            </a:solidFill>
            <a:prstDash val="solid"/>
          </a:ln>
        </p:spPr>
      </p:sp>
      <p:sp>
        <p:nvSpPr>
          <p:cNvPr id="152" name="Shape 150"/>
          <p:cNvSpPr/>
          <p:nvPr/>
        </p:nvSpPr>
        <p:spPr>
          <a:xfrm>
            <a:off x="9235440" y="3547872"/>
            <a:ext cx="91" cy="1554480"/>
          </a:xfrm>
          <a:prstGeom prst="line">
            <a:avLst/>
          </a:prstGeom>
          <a:noFill/>
          <a:ln w="19050">
            <a:solidFill>
              <a:srgbClr val="B8730A"/>
            </a:solidFill>
            <a:prstDash val="dash"/>
          </a:ln>
        </p:spPr>
      </p:sp>
      <p:sp>
        <p:nvSpPr>
          <p:cNvPr id="153" name="Text 151"/>
          <p:cNvSpPr/>
          <p:nvPr/>
        </p:nvSpPr>
        <p:spPr>
          <a:xfrm>
            <a:off x="7818120" y="3566160"/>
            <a:ext cx="1371600" cy="256032"/>
          </a:xfrm>
          <a:prstGeom prst="rect">
            <a:avLst/>
          </a:prstGeom>
          <a:noFill/>
          <a:ln/>
        </p:spPr>
        <p:txBody>
          <a:bodyPr wrap="square" lIns="0" tIns="0" rIns="0" bIns="0" rtlCol="0" anchor="ctr"/>
          <a:lstStyle/>
          <a:p>
            <a:pPr algn="r" indent="0" marL="0">
              <a:buNone/>
            </a:pPr>
            <a:r>
              <a:rPr lang="en-US" sz="1000" b="1" dirty="0">
                <a:solidFill>
                  <a:srgbClr val="B8730A"/>
                </a:solidFill>
                <a:latin typeface="Calibri" pitchFamily="34" charset="0"/>
                <a:ea typeface="Calibri" pitchFamily="34" charset="-122"/>
                <a:cs typeface="Calibri" pitchFamily="34" charset="-120"/>
              </a:rPr>
              <a:t>ovulation</a:t>
            </a:r>
            <a:endParaRPr lang="en-US" sz="1000" dirty="0"/>
          </a:p>
        </p:txBody>
      </p:sp>
      <p:sp>
        <p:nvSpPr>
          <p:cNvPr id="154" name="Text 152"/>
          <p:cNvSpPr/>
          <p:nvPr/>
        </p:nvSpPr>
        <p:spPr>
          <a:xfrm>
            <a:off x="6922008" y="3566160"/>
            <a:ext cx="822960" cy="256032"/>
          </a:xfrm>
          <a:prstGeom prst="rect">
            <a:avLst/>
          </a:prstGeom>
          <a:noFill/>
          <a:ln/>
        </p:spPr>
        <p:txBody>
          <a:bodyPr wrap="square" lIns="0" tIns="0" rIns="0" bIns="0" rtlCol="0" anchor="ctr"/>
          <a:lstStyle/>
          <a:p>
            <a:pPr algn="l" indent="0" marL="0">
              <a:buNone/>
            </a:pPr>
            <a:r>
              <a:rPr lang="en-US" sz="1000" b="1" dirty="0">
                <a:solidFill>
                  <a:srgbClr val="C8414C"/>
                </a:solidFill>
                <a:latin typeface="Calibri" pitchFamily="34" charset="0"/>
                <a:ea typeface="Calibri" pitchFamily="34" charset="-122"/>
                <a:cs typeface="Calibri" pitchFamily="34" charset="-120"/>
              </a:rPr>
              <a:t>period</a:t>
            </a:r>
            <a:endParaRPr lang="en-US" sz="1000" dirty="0"/>
          </a:p>
        </p:txBody>
      </p:sp>
      <p:sp>
        <p:nvSpPr>
          <p:cNvPr id="155" name="Shape 153"/>
          <p:cNvSpPr/>
          <p:nvPr/>
        </p:nvSpPr>
        <p:spPr>
          <a:xfrm>
            <a:off x="411480" y="5833872"/>
            <a:ext cx="11368735" cy="530352"/>
          </a:xfrm>
          <a:prstGeom prst="rect">
            <a:avLst/>
          </a:prstGeom>
          <a:solidFill>
            <a:srgbClr val="FFF4E0"/>
          </a:solidFill>
          <a:ln w="6350">
            <a:solidFill>
              <a:srgbClr val="F1D9A8"/>
            </a:solidFill>
            <a:prstDash val="solid"/>
          </a:ln>
        </p:spPr>
      </p:sp>
      <p:sp>
        <p:nvSpPr>
          <p:cNvPr id="156" name="Shape 154"/>
          <p:cNvSpPr/>
          <p:nvPr/>
        </p:nvSpPr>
        <p:spPr>
          <a:xfrm>
            <a:off x="411480" y="5833872"/>
            <a:ext cx="82296" cy="530352"/>
          </a:xfrm>
          <a:prstGeom prst="rect">
            <a:avLst/>
          </a:prstGeom>
          <a:solidFill>
            <a:srgbClr val="E39A2F"/>
          </a:solidFill>
          <a:ln w="12700">
            <a:solidFill>
              <a:srgbClr val="E39A2F"/>
            </a:solidFill>
            <a:prstDash val="solid"/>
          </a:ln>
        </p:spPr>
      </p:sp>
      <p:sp>
        <p:nvSpPr>
          <p:cNvPr id="157" name="Text 15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On what day is the egg usually released? What happens to the uterus </a:t>
            </a:r>
            <a:r>
              <a:rPr lang="en-US" sz="1150" b="1" dirty="0">
                <a:solidFill>
                  <a:srgbClr val="262B3A"/>
                </a:solidFill>
                <a:latin typeface="Calibri" pitchFamily="34" charset="0"/>
                <a:ea typeface="Calibri" pitchFamily="34" charset="-122"/>
                <a:cs typeface="Calibri" pitchFamily="34" charset="-120"/>
              </a:rPr>
              <a:t>lining</a:t>
            </a:r>
            <a:r>
              <a:rPr lang="en-US" sz="1150" dirty="0">
                <a:solidFill>
                  <a:srgbClr val="262B3A"/>
                </a:solidFill>
                <a:latin typeface="Calibri" pitchFamily="34" charset="0"/>
                <a:ea typeface="Calibri" pitchFamily="34" charset="-122"/>
                <a:cs typeface="Calibri" pitchFamily="34" charset="-120"/>
              </a:rPr>
              <a:t> between day </a:t>
            </a:r>
            <a:r>
              <a:rPr lang="en-US" sz="1150" b="1" dirty="0">
                <a:solidFill>
                  <a:srgbClr val="262B3A"/>
                </a:solidFill>
                <a:latin typeface="Calibri" pitchFamily="34" charset="0"/>
                <a:ea typeface="Calibri" pitchFamily="34" charset="-122"/>
                <a:cs typeface="Calibri" pitchFamily="34" charset="-120"/>
              </a:rPr>
              <a:t>5</a:t>
            </a:r>
            <a:r>
              <a:rPr lang="en-US" sz="1150" dirty="0">
                <a:solidFill>
                  <a:srgbClr val="262B3A"/>
                </a:solidFill>
                <a:latin typeface="Calibri" pitchFamily="34" charset="0"/>
                <a:ea typeface="Calibri" pitchFamily="34" charset="-122"/>
                <a:cs typeface="Calibri" pitchFamily="34" charset="-120"/>
              </a:rPr>
              <a:t> and day </a:t>
            </a:r>
            <a:r>
              <a:rPr lang="en-US" sz="1150" b="1" dirty="0">
                <a:solidFill>
                  <a:srgbClr val="262B3A"/>
                </a:solidFill>
                <a:latin typeface="Calibri" pitchFamily="34" charset="0"/>
                <a:ea typeface="Calibri" pitchFamily="34" charset="-122"/>
                <a:cs typeface="Calibri" pitchFamily="34" charset="-120"/>
              </a:rPr>
              <a:t>14</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1</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B5.5.1 • sex hormones, puberty and the menstrual cycle</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B5.5 What role do hormones play in human reproduction?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1  |  7</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main male sex hormone and the organ that makes it.</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changes caused by </a:t>
            </a:r>
            <a:r>
              <a:rPr lang="en-US" sz="1250" b="1" dirty="0">
                <a:solidFill>
                  <a:srgbClr val="262B3A"/>
                </a:solidFill>
                <a:latin typeface="Calibri" pitchFamily="34" charset="0"/>
                <a:ea typeface="Calibri" pitchFamily="34" charset="-122"/>
                <a:cs typeface="Calibri" pitchFamily="34" charset="-120"/>
              </a:rPr>
              <a:t>oestrogen</a:t>
            </a:r>
            <a:r>
              <a:rPr lang="en-US" sz="1250" dirty="0">
                <a:solidFill>
                  <a:srgbClr val="262B3A"/>
                </a:solidFill>
                <a:latin typeface="Calibri" pitchFamily="34" charset="0"/>
                <a:ea typeface="Calibri" pitchFamily="34" charset="-122"/>
                <a:cs typeface="Calibri" pitchFamily="34" charset="-120"/>
              </a:rPr>
              <a:t> at puberty.</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a:t>
            </a:r>
            <a:r>
              <a:rPr lang="en-US" sz="1250" b="1" dirty="0">
                <a:solidFill>
                  <a:srgbClr val="262B3A"/>
                </a:solidFill>
                <a:latin typeface="Calibri" pitchFamily="34" charset="0"/>
                <a:ea typeface="Calibri" pitchFamily="34" charset="-122"/>
                <a:cs typeface="Calibri" pitchFamily="34" charset="-120"/>
              </a:rPr>
              <a:t>ovulation</a:t>
            </a:r>
            <a:r>
              <a:rPr lang="en-US" sz="1250" dirty="0">
                <a:solidFill>
                  <a:srgbClr val="262B3A"/>
                </a:solidFill>
                <a:latin typeface="Calibri" pitchFamily="34" charset="0"/>
                <a:ea typeface="Calibri" pitchFamily="34" charset="-122"/>
                <a:cs typeface="Calibri" pitchFamily="34" charset="-120"/>
              </a:rPr>
              <a:t>, and on about which day of a 28-day cycle does it happen?</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what happens to the </a:t>
            </a:r>
            <a:r>
              <a:rPr lang="en-US" sz="1250" b="1" dirty="0">
                <a:solidFill>
                  <a:srgbClr val="262B3A"/>
                </a:solidFill>
                <a:latin typeface="Calibri" pitchFamily="34" charset="0"/>
                <a:ea typeface="Calibri" pitchFamily="34" charset="-122"/>
                <a:cs typeface="Calibri" pitchFamily="34" charset="-120"/>
              </a:rPr>
              <a:t>uterus lining</a:t>
            </a:r>
            <a:r>
              <a:rPr lang="en-US" sz="1250" dirty="0">
                <a:solidFill>
                  <a:srgbClr val="262B3A"/>
                </a:solidFill>
                <a:latin typeface="Calibri" pitchFamily="34" charset="0"/>
                <a:ea typeface="Calibri" pitchFamily="34" charset="-122"/>
                <a:cs typeface="Calibri" pitchFamily="34" charset="-120"/>
              </a:rPr>
              <a:t> during the menstrual cycle.</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Four hormones control the cycle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B5.5.1 • FSH and LH from the pituitary; oestrogen and progesterone from the ovaries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B5.5 What role do hormones play in human reproduction?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B5.5.1  |  8</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where each hormone is made and what it acts on (simplified)</a:t>
            </a:r>
            <a:endParaRPr lang="en-US" sz="1000" dirty="0"/>
          </a:p>
        </p:txBody>
      </p:sp>
      <p:sp>
        <p:nvSpPr>
          <p:cNvPr id="10" name="Shape 8"/>
          <p:cNvSpPr/>
          <p:nvPr/>
        </p:nvSpPr>
        <p:spPr>
          <a:xfrm>
            <a:off x="1060704" y="1563624"/>
            <a:ext cx="438912" cy="438912"/>
          </a:xfrm>
          <a:prstGeom prst="ellipse">
            <a:avLst/>
          </a:prstGeom>
          <a:solidFill>
            <a:srgbClr val="C8414C"/>
          </a:solidFill>
          <a:ln w="19050">
            <a:solidFill>
              <a:srgbClr val="8E2A33"/>
            </a:solidFill>
            <a:prstDash val="solid"/>
          </a:ln>
        </p:spPr>
      </p:sp>
      <p:sp>
        <p:nvSpPr>
          <p:cNvPr id="11" name="Text 9"/>
          <p:cNvSpPr/>
          <p:nvPr/>
        </p:nvSpPr>
        <p:spPr>
          <a:xfrm>
            <a:off x="548640" y="2057400"/>
            <a:ext cx="1463040" cy="256032"/>
          </a:xfrm>
          <a:prstGeom prst="rect">
            <a:avLst/>
          </a:prstGeom>
          <a:noFill/>
          <a:ln/>
        </p:spPr>
        <p:txBody>
          <a:bodyPr wrap="square" lIns="0" tIns="0" rIns="0" bIns="0" rtlCol="0" anchor="ctr"/>
          <a:lstStyle/>
          <a:p>
            <a:pPr algn="ctr" indent="0" marL="0">
              <a:buNone/>
            </a:pPr>
            <a:r>
              <a:rPr lang="en-US" sz="1100" b="1" dirty="0">
                <a:solidFill>
                  <a:srgbClr val="8E2A33"/>
                </a:solidFill>
                <a:latin typeface="Calibri" pitchFamily="34" charset="0"/>
                <a:ea typeface="Calibri" pitchFamily="34" charset="-122"/>
                <a:cs typeface="Calibri" pitchFamily="34" charset="-120"/>
              </a:rPr>
              <a:t>Pituitary gland</a:t>
            </a:r>
            <a:endParaRPr lang="en-US" sz="1100" dirty="0"/>
          </a:p>
        </p:txBody>
      </p:sp>
      <p:sp>
        <p:nvSpPr>
          <p:cNvPr id="12" name="Shape 10"/>
          <p:cNvSpPr/>
          <p:nvPr/>
        </p:nvSpPr>
        <p:spPr>
          <a:xfrm>
            <a:off x="685800" y="3497580"/>
            <a:ext cx="1188720" cy="777240"/>
          </a:xfrm>
          <a:prstGeom prst="ellipse">
            <a:avLst/>
          </a:prstGeom>
          <a:solidFill>
            <a:srgbClr val="F3D3A6"/>
          </a:solidFill>
          <a:ln w="15875">
            <a:solidFill>
              <a:srgbClr val="9A6A2A"/>
            </a:solidFill>
            <a:prstDash val="solid"/>
          </a:ln>
        </p:spPr>
      </p:sp>
      <p:sp>
        <p:nvSpPr>
          <p:cNvPr id="13" name="Shape 11"/>
          <p:cNvSpPr/>
          <p:nvPr/>
        </p:nvSpPr>
        <p:spPr>
          <a:xfrm>
            <a:off x="836493" y="3682563"/>
            <a:ext cx="174102" cy="174102"/>
          </a:xfrm>
          <a:prstGeom prst="ellipse">
            <a:avLst/>
          </a:prstGeom>
          <a:solidFill>
            <a:srgbClr val="FFF6E8"/>
          </a:solidFill>
          <a:ln w="6350">
            <a:solidFill>
              <a:srgbClr val="9A6A2A"/>
            </a:solidFill>
            <a:prstDash val="solid"/>
          </a:ln>
        </p:spPr>
      </p:sp>
      <p:sp>
        <p:nvSpPr>
          <p:cNvPr id="14" name="Shape 12"/>
          <p:cNvSpPr/>
          <p:nvPr/>
        </p:nvSpPr>
        <p:spPr>
          <a:xfrm>
            <a:off x="1264981" y="3982578"/>
            <a:ext cx="149230" cy="149230"/>
          </a:xfrm>
          <a:prstGeom prst="ellipse">
            <a:avLst/>
          </a:prstGeom>
          <a:solidFill>
            <a:srgbClr val="FFF6E8"/>
          </a:solidFill>
          <a:ln w="6350">
            <a:solidFill>
              <a:srgbClr val="9A6A2A"/>
            </a:solidFill>
            <a:prstDash val="solid"/>
          </a:ln>
        </p:spPr>
      </p:sp>
      <p:sp>
        <p:nvSpPr>
          <p:cNvPr id="15" name="Shape 13"/>
          <p:cNvSpPr/>
          <p:nvPr/>
        </p:nvSpPr>
        <p:spPr>
          <a:xfrm>
            <a:off x="1099109" y="3917290"/>
            <a:ext cx="124358" cy="124358"/>
          </a:xfrm>
          <a:prstGeom prst="ellipse">
            <a:avLst/>
          </a:prstGeom>
          <a:solidFill>
            <a:srgbClr val="FFF6E8"/>
          </a:solidFill>
          <a:ln w="6350">
            <a:solidFill>
              <a:srgbClr val="9A6A2A"/>
            </a:solidFill>
            <a:prstDash val="solid"/>
          </a:ln>
        </p:spPr>
      </p:sp>
      <p:sp>
        <p:nvSpPr>
          <p:cNvPr id="16" name="Shape 14"/>
          <p:cNvSpPr/>
          <p:nvPr/>
        </p:nvSpPr>
        <p:spPr>
          <a:xfrm>
            <a:off x="1386230" y="3668573"/>
            <a:ext cx="310896" cy="310896"/>
          </a:xfrm>
          <a:prstGeom prst="ellipse">
            <a:avLst/>
          </a:prstGeom>
          <a:solidFill>
            <a:srgbClr val="FFF6E8"/>
          </a:solidFill>
          <a:ln w="12700">
            <a:solidFill>
              <a:srgbClr val="9A6A2A"/>
            </a:solidFill>
            <a:prstDash val="solid"/>
          </a:ln>
        </p:spPr>
      </p:sp>
      <p:sp>
        <p:nvSpPr>
          <p:cNvPr id="17" name="Shape 15"/>
          <p:cNvSpPr/>
          <p:nvPr/>
        </p:nvSpPr>
        <p:spPr>
          <a:xfrm>
            <a:off x="1554480" y="3746297"/>
            <a:ext cx="93269" cy="93269"/>
          </a:xfrm>
          <a:prstGeom prst="ellipse">
            <a:avLst/>
          </a:prstGeom>
          <a:solidFill>
            <a:srgbClr val="F2B279"/>
          </a:solidFill>
          <a:ln w="9525">
            <a:solidFill>
              <a:srgbClr val="A4561C"/>
            </a:solidFill>
            <a:prstDash val="solid"/>
          </a:ln>
        </p:spPr>
      </p:sp>
      <p:sp>
        <p:nvSpPr>
          <p:cNvPr id="18" name="Text 16"/>
          <p:cNvSpPr/>
          <p:nvPr/>
        </p:nvSpPr>
        <p:spPr>
          <a:xfrm>
            <a:off x="548640" y="4343400"/>
            <a:ext cx="1463040" cy="256032"/>
          </a:xfrm>
          <a:prstGeom prst="rect">
            <a:avLst/>
          </a:prstGeom>
          <a:noFill/>
          <a:ln/>
        </p:spPr>
        <p:txBody>
          <a:bodyPr wrap="square" lIns="0" tIns="0" rIns="0" bIns="0" rtlCol="0" anchor="ctr"/>
          <a:lstStyle/>
          <a:p>
            <a:pPr algn="ctr" indent="0" marL="0">
              <a:buNone/>
            </a:pPr>
            <a:r>
              <a:rPr lang="en-US" sz="1100" b="1" dirty="0">
                <a:solidFill>
                  <a:srgbClr val="9A6A2A"/>
                </a:solidFill>
                <a:latin typeface="Calibri" pitchFamily="34" charset="0"/>
                <a:ea typeface="Calibri" pitchFamily="34" charset="-122"/>
                <a:cs typeface="Calibri" pitchFamily="34" charset="-120"/>
              </a:rPr>
              <a:t>Ovary</a:t>
            </a:r>
            <a:endParaRPr lang="en-US" sz="1100" dirty="0"/>
          </a:p>
        </p:txBody>
      </p:sp>
      <p:sp>
        <p:nvSpPr>
          <p:cNvPr id="19" name="Shape 17"/>
          <p:cNvSpPr/>
          <p:nvPr/>
        </p:nvSpPr>
        <p:spPr>
          <a:xfrm>
            <a:off x="1051560" y="2331720"/>
            <a:ext cx="91" cy="1143000"/>
          </a:xfrm>
          <a:prstGeom prst="line">
            <a:avLst/>
          </a:prstGeom>
          <a:noFill/>
          <a:ln w="31750">
            <a:solidFill>
              <a:srgbClr val="2F6DB5"/>
            </a:solidFill>
            <a:prstDash val="solid"/>
            <a:tailEnd type="triangle"/>
          </a:ln>
        </p:spPr>
      </p:sp>
      <p:sp>
        <p:nvSpPr>
          <p:cNvPr id="20" name="Shape 18"/>
          <p:cNvSpPr/>
          <p:nvPr/>
        </p:nvSpPr>
        <p:spPr>
          <a:xfrm>
            <a:off x="1508760" y="2331720"/>
            <a:ext cx="91" cy="1143000"/>
          </a:xfrm>
          <a:prstGeom prst="line">
            <a:avLst/>
          </a:prstGeom>
          <a:noFill/>
          <a:ln w="31750">
            <a:solidFill>
              <a:srgbClr val="7B3FA0"/>
            </a:solidFill>
            <a:prstDash val="solid"/>
            <a:tailEnd type="triangle"/>
          </a:ln>
        </p:spPr>
      </p:sp>
      <p:sp>
        <p:nvSpPr>
          <p:cNvPr id="21" name="Text 19"/>
          <p:cNvSpPr/>
          <p:nvPr/>
        </p:nvSpPr>
        <p:spPr>
          <a:xfrm>
            <a:off x="411480" y="2697480"/>
            <a:ext cx="594360" cy="256032"/>
          </a:xfrm>
          <a:prstGeom prst="rect">
            <a:avLst/>
          </a:prstGeom>
          <a:noFill/>
          <a:ln/>
        </p:spPr>
        <p:txBody>
          <a:bodyPr wrap="square" lIns="0" tIns="0" rIns="0" bIns="0" rtlCol="0" anchor="ctr"/>
          <a:lstStyle/>
          <a:p>
            <a:pPr algn="r" indent="0" marL="0">
              <a:buNone/>
            </a:pPr>
            <a:r>
              <a:rPr lang="en-US" sz="1100" b="1" dirty="0">
                <a:solidFill>
                  <a:srgbClr val="1F4E8C"/>
                </a:solidFill>
                <a:latin typeface="Calibri" pitchFamily="34" charset="0"/>
                <a:ea typeface="Calibri" pitchFamily="34" charset="-122"/>
                <a:cs typeface="Calibri" pitchFamily="34" charset="-120"/>
              </a:rPr>
              <a:t>FSH</a:t>
            </a:r>
            <a:endParaRPr lang="en-US" sz="1100" dirty="0"/>
          </a:p>
        </p:txBody>
      </p:sp>
      <p:sp>
        <p:nvSpPr>
          <p:cNvPr id="22" name="Text 20"/>
          <p:cNvSpPr/>
          <p:nvPr/>
        </p:nvSpPr>
        <p:spPr>
          <a:xfrm>
            <a:off x="1572768" y="2697480"/>
            <a:ext cx="548640" cy="256032"/>
          </a:xfrm>
          <a:prstGeom prst="rect">
            <a:avLst/>
          </a:prstGeom>
          <a:noFill/>
          <a:ln/>
        </p:spPr>
        <p:txBody>
          <a:bodyPr wrap="square" lIns="0" tIns="0" rIns="0" bIns="0" rtlCol="0" anchor="ctr"/>
          <a:lstStyle/>
          <a:p>
            <a:pPr algn="l" indent="0" marL="0">
              <a:buNone/>
            </a:pPr>
            <a:r>
              <a:rPr lang="en-US" sz="1100" b="1" dirty="0">
                <a:solidFill>
                  <a:srgbClr val="5E2D73"/>
                </a:solidFill>
                <a:latin typeface="Calibri" pitchFamily="34" charset="0"/>
                <a:ea typeface="Calibri" pitchFamily="34" charset="-122"/>
                <a:cs typeface="Calibri" pitchFamily="34" charset="-120"/>
              </a:rPr>
              <a:t>LH</a:t>
            </a:r>
            <a:endParaRPr lang="en-US" sz="1100" dirty="0"/>
          </a:p>
        </p:txBody>
      </p:sp>
      <p:sp>
        <p:nvSpPr>
          <p:cNvPr id="23" name="Shape 21"/>
          <p:cNvSpPr/>
          <p:nvPr/>
        </p:nvSpPr>
        <p:spPr>
          <a:xfrm>
            <a:off x="2240280" y="1417320"/>
            <a:ext cx="3566160" cy="685800"/>
          </a:xfrm>
          <a:prstGeom prst="roundRect">
            <a:avLst>
              <a:gd name="adj" fmla="val 8000"/>
            </a:avLst>
          </a:prstGeom>
          <a:solidFill>
            <a:srgbClr val="FFFFFF"/>
          </a:solidFill>
          <a:ln w="15875">
            <a:solidFill>
              <a:srgbClr val="2F6DB5"/>
            </a:solidFill>
            <a:prstDash val="solid"/>
          </a:ln>
        </p:spPr>
      </p:sp>
      <p:sp>
        <p:nvSpPr>
          <p:cNvPr id="24" name="Text 22"/>
          <p:cNvSpPr/>
          <p:nvPr/>
        </p:nvSpPr>
        <p:spPr>
          <a:xfrm>
            <a:off x="2295144" y="1417320"/>
            <a:ext cx="3456432" cy="68580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FSH</a:t>
            </a:r>
            <a:r>
              <a:rPr lang="en-US" sz="1050" dirty="0">
                <a:solidFill>
                  <a:srgbClr val="262B3A"/>
                </a:solidFill>
                <a:latin typeface="Calibri" pitchFamily="34" charset="0"/>
                <a:ea typeface="Calibri" pitchFamily="34" charset="-122"/>
                <a:cs typeface="Calibri" pitchFamily="34" charset="-120"/>
              </a:rPr>
              <a:t>: makes an </a:t>
            </a:r>
            <a:r>
              <a:rPr lang="en-US" sz="1050" b="1" dirty="0">
                <a:solidFill>
                  <a:srgbClr val="262B3A"/>
                </a:solidFill>
                <a:latin typeface="Calibri" pitchFamily="34" charset="0"/>
                <a:ea typeface="Calibri" pitchFamily="34" charset="-122"/>
                <a:cs typeface="Calibri" pitchFamily="34" charset="-120"/>
              </a:rPr>
              <a:t>egg mature</a:t>
            </a:r>
            <a:r>
              <a:rPr lang="en-US" sz="1050" dirty="0">
                <a:solidFill>
                  <a:srgbClr val="262B3A"/>
                </a:solidFill>
                <a:latin typeface="Calibri" pitchFamily="34" charset="0"/>
                <a:ea typeface="Calibri" pitchFamily="34" charset="-122"/>
                <a:cs typeface="Calibri" pitchFamily="34" charset="-120"/>
              </a:rPr>
              <a:t> in a follicle; makes the ovary release </a:t>
            </a:r>
            <a:r>
              <a:rPr lang="en-US" sz="1050" b="1" dirty="0">
                <a:solidFill>
                  <a:srgbClr val="262B3A"/>
                </a:solidFill>
                <a:latin typeface="Calibri" pitchFamily="34" charset="0"/>
                <a:ea typeface="Calibri" pitchFamily="34" charset="-122"/>
                <a:cs typeface="Calibri" pitchFamily="34" charset="-120"/>
              </a:rPr>
              <a:t>oestrogen</a:t>
            </a:r>
            <a:endParaRPr lang="en-US" sz="1050" dirty="0"/>
          </a:p>
        </p:txBody>
      </p:sp>
      <p:sp>
        <p:nvSpPr>
          <p:cNvPr id="25" name="Shape 23"/>
          <p:cNvSpPr/>
          <p:nvPr/>
        </p:nvSpPr>
        <p:spPr>
          <a:xfrm>
            <a:off x="2240280" y="2240280"/>
            <a:ext cx="3566160" cy="685800"/>
          </a:xfrm>
          <a:prstGeom prst="roundRect">
            <a:avLst>
              <a:gd name="adj" fmla="val 8000"/>
            </a:avLst>
          </a:prstGeom>
          <a:solidFill>
            <a:srgbClr val="FFFFFF"/>
          </a:solidFill>
          <a:ln w="15875">
            <a:solidFill>
              <a:srgbClr val="7B3FA0"/>
            </a:solidFill>
            <a:prstDash val="solid"/>
          </a:ln>
        </p:spPr>
      </p:sp>
      <p:sp>
        <p:nvSpPr>
          <p:cNvPr id="26" name="Text 24"/>
          <p:cNvSpPr/>
          <p:nvPr/>
        </p:nvSpPr>
        <p:spPr>
          <a:xfrm>
            <a:off x="2295144" y="2240280"/>
            <a:ext cx="3456432" cy="68580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LH</a:t>
            </a:r>
            <a:r>
              <a:rPr lang="en-US" sz="1050" dirty="0">
                <a:solidFill>
                  <a:srgbClr val="262B3A"/>
                </a:solidFill>
                <a:latin typeface="Calibri" pitchFamily="34" charset="0"/>
                <a:ea typeface="Calibri" pitchFamily="34" charset="-122"/>
                <a:cs typeface="Calibri" pitchFamily="34" charset="-120"/>
              </a:rPr>
              <a:t>: causes </a:t>
            </a:r>
            <a:r>
              <a:rPr lang="en-US" sz="1050" b="1" dirty="0">
                <a:solidFill>
                  <a:srgbClr val="262B3A"/>
                </a:solidFill>
                <a:latin typeface="Calibri" pitchFamily="34" charset="0"/>
                <a:ea typeface="Calibri" pitchFamily="34" charset="-122"/>
                <a:cs typeface="Calibri" pitchFamily="34" charset="-120"/>
              </a:rPr>
              <a:t>ovulation</a:t>
            </a:r>
            <a:r>
              <a:rPr lang="en-US" sz="1050" dirty="0">
                <a:solidFill>
                  <a:srgbClr val="262B3A"/>
                </a:solidFill>
                <a:latin typeface="Calibri" pitchFamily="34" charset="0"/>
                <a:ea typeface="Calibri" pitchFamily="34" charset="-122"/>
                <a:cs typeface="Calibri" pitchFamily="34" charset="-120"/>
              </a:rPr>
              <a:t> (egg released, about day 14)</a:t>
            </a:r>
            <a:endParaRPr lang="en-US" sz="1050" dirty="0"/>
          </a:p>
        </p:txBody>
      </p:sp>
      <p:sp>
        <p:nvSpPr>
          <p:cNvPr id="27" name="Shape 25"/>
          <p:cNvSpPr/>
          <p:nvPr/>
        </p:nvSpPr>
        <p:spPr>
          <a:xfrm>
            <a:off x="4251960" y="3429000"/>
            <a:ext cx="1005840" cy="1051560"/>
          </a:xfrm>
          <a:custGeom>
            <a:avLst/>
            <a:gdLst/>
            <a:ahLst/>
            <a:cxnLst/>
            <a:rect l="l" t="t" r="r" b="b"/>
            <a:pathLst>
              <a:path w="1005840" h="1051560">
                <a:moveTo>
                  <a:pt x="0" y="274320"/>
                </a:moveTo>
                <a:lnTo>
                  <a:pt x="17137" y="203321"/>
                </a:lnTo>
                <a:lnTo>
                  <a:pt x="67379" y="137160"/>
                </a:lnTo>
                <a:lnTo>
                  <a:pt x="147302" y="80346"/>
                </a:lnTo>
                <a:lnTo>
                  <a:pt x="251460" y="36752"/>
                </a:lnTo>
                <a:lnTo>
                  <a:pt x="372755" y="9347"/>
                </a:lnTo>
                <a:lnTo>
                  <a:pt x="502920" y="0"/>
                </a:lnTo>
                <a:lnTo>
                  <a:pt x="633085" y="9347"/>
                </a:lnTo>
                <a:lnTo>
                  <a:pt x="754380" y="36752"/>
                </a:lnTo>
                <a:lnTo>
                  <a:pt x="858538" y="80346"/>
                </a:lnTo>
                <a:lnTo>
                  <a:pt x="938461" y="137160"/>
                </a:lnTo>
                <a:lnTo>
                  <a:pt x="988703" y="203321"/>
                </a:lnTo>
                <a:lnTo>
                  <a:pt x="1005840" y="274320"/>
                </a:lnTo>
                <a:lnTo>
                  <a:pt x="685800" y="1051560"/>
                </a:lnTo>
                <a:lnTo>
                  <a:pt x="320040" y="1051560"/>
                </a:lnTo>
                <a:close/>
              </a:path>
            </a:pathLst>
          </a:custGeom>
          <a:solidFill>
            <a:srgbClr val="EFB4B8"/>
          </a:solidFill>
          <a:ln w="19050">
            <a:solidFill>
              <a:srgbClr val="A33E48"/>
            </a:solidFill>
            <a:prstDash val="solid"/>
          </a:ln>
        </p:spPr>
      </p:sp>
      <p:sp>
        <p:nvSpPr>
          <p:cNvPr id="28" name="Shape 26"/>
          <p:cNvSpPr/>
          <p:nvPr/>
        </p:nvSpPr>
        <p:spPr>
          <a:xfrm>
            <a:off x="4407408" y="3657600"/>
            <a:ext cx="694944" cy="640080"/>
          </a:xfrm>
          <a:custGeom>
            <a:avLst/>
            <a:gdLst/>
            <a:ahLst/>
            <a:cxnLst/>
            <a:rect l="l" t="t" r="r" b="b"/>
            <a:pathLst>
              <a:path w="694944" h="640080">
                <a:moveTo>
                  <a:pt x="0" y="0"/>
                </a:moveTo>
                <a:lnTo>
                  <a:pt x="694944" y="0"/>
                </a:lnTo>
                <a:lnTo>
                  <a:pt x="347472" y="640080"/>
                </a:lnTo>
                <a:close/>
              </a:path>
            </a:pathLst>
          </a:custGeom>
          <a:solidFill>
            <a:srgbClr val="C8414C"/>
          </a:solidFill>
          <a:ln w="9525">
            <a:solidFill>
              <a:srgbClr val="8E2A33"/>
            </a:solidFill>
            <a:prstDash val="solid"/>
          </a:ln>
        </p:spPr>
      </p:sp>
      <p:sp>
        <p:nvSpPr>
          <p:cNvPr id="29" name="Shape 27"/>
          <p:cNvSpPr/>
          <p:nvPr/>
        </p:nvSpPr>
        <p:spPr>
          <a:xfrm>
            <a:off x="4517136" y="3703320"/>
            <a:ext cx="475488" cy="457200"/>
          </a:xfrm>
          <a:custGeom>
            <a:avLst/>
            <a:gdLst/>
            <a:ahLst/>
            <a:cxnLst/>
            <a:rect l="l" t="t" r="r" b="b"/>
            <a:pathLst>
              <a:path w="475488" h="457200">
                <a:moveTo>
                  <a:pt x="0" y="0"/>
                </a:moveTo>
                <a:lnTo>
                  <a:pt x="475488" y="0"/>
                </a:lnTo>
                <a:lnTo>
                  <a:pt x="237744" y="457200"/>
                </a:lnTo>
                <a:close/>
              </a:path>
            </a:pathLst>
          </a:custGeom>
          <a:solidFill>
            <a:srgbClr val="FBE3E5"/>
          </a:solidFill>
          <a:ln/>
        </p:spPr>
      </p:sp>
      <p:sp>
        <p:nvSpPr>
          <p:cNvPr id="30" name="Shape 28"/>
          <p:cNvSpPr/>
          <p:nvPr/>
        </p:nvSpPr>
        <p:spPr>
          <a:xfrm>
            <a:off x="4645152" y="4480560"/>
            <a:ext cx="219456" cy="201168"/>
          </a:xfrm>
          <a:prstGeom prst="rect">
            <a:avLst/>
          </a:prstGeom>
          <a:solidFill>
            <a:srgbClr val="EFB4B8"/>
          </a:solidFill>
          <a:ln w="15875">
            <a:solidFill>
              <a:srgbClr val="A33E48"/>
            </a:solidFill>
            <a:prstDash val="solid"/>
          </a:ln>
        </p:spPr>
      </p:sp>
      <p:sp>
        <p:nvSpPr>
          <p:cNvPr id="31" name="Text 29"/>
          <p:cNvSpPr/>
          <p:nvPr/>
        </p:nvSpPr>
        <p:spPr>
          <a:xfrm>
            <a:off x="4023360" y="4709160"/>
            <a:ext cx="1463040" cy="256032"/>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Uterus lining</a:t>
            </a:r>
            <a:endParaRPr lang="en-US" sz="1100" dirty="0"/>
          </a:p>
        </p:txBody>
      </p:sp>
      <p:sp>
        <p:nvSpPr>
          <p:cNvPr id="32" name="Shape 30"/>
          <p:cNvSpPr/>
          <p:nvPr/>
        </p:nvSpPr>
        <p:spPr>
          <a:xfrm flipV="1">
            <a:off x="1920240" y="3657600"/>
            <a:ext cx="2240280" cy="45720"/>
          </a:xfrm>
          <a:prstGeom prst="line">
            <a:avLst/>
          </a:prstGeom>
          <a:noFill/>
          <a:ln w="31750">
            <a:solidFill>
              <a:srgbClr val="D4568F"/>
            </a:solidFill>
            <a:prstDash val="solid"/>
            <a:tailEnd type="triangle"/>
          </a:ln>
        </p:spPr>
      </p:sp>
      <p:sp>
        <p:nvSpPr>
          <p:cNvPr id="33" name="Shape 31"/>
          <p:cNvSpPr/>
          <p:nvPr/>
        </p:nvSpPr>
        <p:spPr>
          <a:xfrm>
            <a:off x="1920240" y="4069080"/>
            <a:ext cx="2423160" cy="91"/>
          </a:xfrm>
          <a:prstGeom prst="line">
            <a:avLst/>
          </a:prstGeom>
          <a:noFill/>
          <a:ln w="31750">
            <a:solidFill>
              <a:srgbClr val="D98A1E"/>
            </a:solidFill>
            <a:prstDash val="solid"/>
            <a:tailEnd type="triangle"/>
          </a:ln>
        </p:spPr>
      </p:sp>
      <p:sp>
        <p:nvSpPr>
          <p:cNvPr id="34" name="Text 32"/>
          <p:cNvSpPr/>
          <p:nvPr/>
        </p:nvSpPr>
        <p:spPr>
          <a:xfrm>
            <a:off x="2011680" y="3310128"/>
            <a:ext cx="2103120" cy="256032"/>
          </a:xfrm>
          <a:prstGeom prst="rect">
            <a:avLst/>
          </a:prstGeom>
          <a:noFill/>
          <a:ln/>
        </p:spPr>
        <p:txBody>
          <a:bodyPr wrap="square" lIns="0" tIns="0" rIns="0" bIns="0" rtlCol="0" anchor="ctr"/>
          <a:lstStyle/>
          <a:p>
            <a:pPr algn="l" indent="0" marL="0">
              <a:buNone/>
            </a:pPr>
            <a:r>
              <a:rPr lang="en-US" sz="1050" b="1" dirty="0">
                <a:solidFill>
                  <a:srgbClr val="8E3466"/>
                </a:solidFill>
                <a:latin typeface="Calibri" pitchFamily="34" charset="0"/>
                <a:ea typeface="Calibri" pitchFamily="34" charset="-122"/>
                <a:cs typeface="Calibri" pitchFamily="34" charset="-120"/>
              </a:rPr>
              <a:t>oestrogen</a:t>
            </a:r>
            <a:r>
              <a:rPr lang="en-US" sz="1050" dirty="0">
                <a:solidFill>
                  <a:srgbClr val="8E3466"/>
                </a:solidFill>
                <a:latin typeface="Calibri" pitchFamily="34" charset="0"/>
                <a:ea typeface="Calibri" pitchFamily="34" charset="-122"/>
                <a:cs typeface="Calibri" pitchFamily="34" charset="-120"/>
              </a:rPr>
              <a:t>: lining </a:t>
            </a:r>
            <a:r>
              <a:rPr lang="en-US" sz="1050" b="1" dirty="0">
                <a:solidFill>
                  <a:srgbClr val="8E3466"/>
                </a:solidFill>
                <a:latin typeface="Calibri" pitchFamily="34" charset="0"/>
                <a:ea typeface="Calibri" pitchFamily="34" charset="-122"/>
                <a:cs typeface="Calibri" pitchFamily="34" charset="-120"/>
              </a:rPr>
              <a:t>builds up</a:t>
            </a:r>
            <a:endParaRPr lang="en-US" sz="1050" dirty="0"/>
          </a:p>
        </p:txBody>
      </p:sp>
      <p:sp>
        <p:nvSpPr>
          <p:cNvPr id="35" name="Text 33"/>
          <p:cNvSpPr/>
          <p:nvPr/>
        </p:nvSpPr>
        <p:spPr>
          <a:xfrm>
            <a:off x="2011680" y="4160520"/>
            <a:ext cx="2194560" cy="256032"/>
          </a:xfrm>
          <a:prstGeom prst="rect">
            <a:avLst/>
          </a:prstGeom>
          <a:noFill/>
          <a:ln/>
        </p:spPr>
        <p:txBody>
          <a:bodyPr wrap="square" lIns="0" tIns="0" rIns="0" bIns="0" rtlCol="0" anchor="ctr"/>
          <a:lstStyle/>
          <a:p>
            <a:pPr algn="l" indent="0" marL="0">
              <a:buNone/>
            </a:pPr>
            <a:r>
              <a:rPr lang="en-US" sz="1050" b="1" dirty="0">
                <a:solidFill>
                  <a:srgbClr val="8A560A"/>
                </a:solidFill>
                <a:latin typeface="Calibri" pitchFamily="34" charset="0"/>
                <a:ea typeface="Calibri" pitchFamily="34" charset="-122"/>
                <a:cs typeface="Calibri" pitchFamily="34" charset="-120"/>
              </a:rPr>
              <a:t>progesterone</a:t>
            </a:r>
            <a:r>
              <a:rPr lang="en-US" sz="1050" dirty="0">
                <a:solidFill>
                  <a:srgbClr val="8A560A"/>
                </a:solidFill>
                <a:latin typeface="Calibri" pitchFamily="34" charset="0"/>
                <a:ea typeface="Calibri" pitchFamily="34" charset="-122"/>
                <a:cs typeface="Calibri" pitchFamily="34" charset="-120"/>
              </a:rPr>
              <a:t>: lining </a:t>
            </a:r>
            <a:r>
              <a:rPr lang="en-US" sz="1050" b="1" dirty="0">
                <a:solidFill>
                  <a:srgbClr val="8A560A"/>
                </a:solidFill>
                <a:latin typeface="Calibri" pitchFamily="34" charset="0"/>
                <a:ea typeface="Calibri" pitchFamily="34" charset="-122"/>
                <a:cs typeface="Calibri" pitchFamily="34" charset="-120"/>
              </a:rPr>
              <a:t>kept</a:t>
            </a:r>
            <a:r>
              <a:rPr lang="en-US" sz="1050" dirty="0">
                <a:solidFill>
                  <a:srgbClr val="8A560A"/>
                </a:solidFill>
                <a:latin typeface="Calibri" pitchFamily="34" charset="0"/>
                <a:ea typeface="Calibri" pitchFamily="34" charset="-122"/>
                <a:cs typeface="Calibri" pitchFamily="34" charset="-120"/>
              </a:rPr>
              <a:t> thick</a:t>
            </a:r>
            <a:endParaRPr lang="en-US" sz="1050" dirty="0"/>
          </a:p>
        </p:txBody>
      </p:sp>
      <p:sp>
        <p:nvSpPr>
          <p:cNvPr id="36" name="Text 34"/>
          <p:cNvSpPr/>
          <p:nvPr/>
        </p:nvSpPr>
        <p:spPr>
          <a:xfrm>
            <a:off x="594360" y="4892040"/>
            <a:ext cx="5212080" cy="274320"/>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Progesterone is made by the </a:t>
            </a:r>
            <a:r>
              <a:rPr lang="en-US" sz="1050" b="1" i="1" dirty="0">
                <a:solidFill>
                  <a:srgbClr val="6B7385"/>
                </a:solidFill>
                <a:latin typeface="Calibri" pitchFamily="34" charset="0"/>
                <a:ea typeface="Calibri" pitchFamily="34" charset="-122"/>
                <a:cs typeface="Calibri" pitchFamily="34" charset="-120"/>
              </a:rPr>
              <a:t>empty follicle</a:t>
            </a:r>
            <a:r>
              <a:rPr lang="en-US" sz="1050" i="1" dirty="0">
                <a:solidFill>
                  <a:srgbClr val="6B7385"/>
                </a:solidFill>
                <a:latin typeface="Calibri" pitchFamily="34" charset="0"/>
                <a:ea typeface="Calibri" pitchFamily="34" charset="-122"/>
                <a:cs typeface="Calibri" pitchFamily="34" charset="-120"/>
              </a:rPr>
              <a:t> after ovulation.</a:t>
            </a:r>
            <a:endParaRPr lang="en-US" sz="10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217920" y="1188720"/>
          <a:ext cx="5559552" cy="914400"/>
        </p:xfrm>
        <a:graphic>
          <a:graphicData uri="http://schemas.openxmlformats.org/drawingml/2006/table">
            <a:tbl>
              <a:tblPr/>
              <a:tblGrid>
                <a:gridCol w="1783080"/>
                <a:gridCol w="1280160"/>
                <a:gridCol w="2496312"/>
              </a:tblGrid>
              <a:tr h="51206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Hormone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Made in</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Main role in the cycle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r>
              <a:tr h="512064">
                <a:tc>
                  <a:txBody>
                    <a:bodyPr/>
                    <a:lstStyle/>
                    <a:p>
                      <a:pPr indent="0" marL="0">
                        <a:buNone/>
                      </a:pPr>
                      <a:r>
                        <a:rPr lang="en-US" sz="1050" b="1" dirty="0">
                          <a:solidFill>
                            <a:srgbClr val="1F4E8C"/>
                          </a:solidFill>
                          <a:latin typeface="Calibri" pitchFamily="34" charset="0"/>
                          <a:ea typeface="Calibri" pitchFamily="34" charset="-122"/>
                          <a:cs typeface="Calibri" pitchFamily="34" charset="-120"/>
                        </a:rPr>
                        <a:t>FSH (follicle-stimulating hormone)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pituitary</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an egg matures in a follicle; ovary makes oestrogen</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512064">
                <a:tc>
                  <a:txBody>
                    <a:bodyPr/>
                    <a:lstStyle/>
                    <a:p>
                      <a:pPr indent="0" marL="0">
                        <a:buNone/>
                      </a:pPr>
                      <a:r>
                        <a:rPr lang="en-US" sz="1050" b="1" dirty="0">
                          <a:solidFill>
                            <a:srgbClr val="5E2D73"/>
                          </a:solidFill>
                          <a:latin typeface="Calibri" pitchFamily="34" charset="0"/>
                          <a:ea typeface="Calibri" pitchFamily="34" charset="-122"/>
                          <a:cs typeface="Calibri" pitchFamily="34" charset="-120"/>
                        </a:rPr>
                        <a:t>LH (luteinising hormone)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pituitary</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triggers ovulation: the egg is released</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512064">
                <a:tc>
                  <a:txBody>
                    <a:bodyPr/>
                    <a:lstStyle/>
                    <a:p>
                      <a:pPr indent="0" marL="0">
                        <a:buNone/>
                      </a:pPr>
                      <a:r>
                        <a:rPr lang="en-US" sz="1050" b="1" dirty="0">
                          <a:solidFill>
                            <a:srgbClr val="8E3466"/>
                          </a:solidFill>
                          <a:latin typeface="Calibri" pitchFamily="34" charset="0"/>
                          <a:ea typeface="Calibri" pitchFamily="34" charset="-122"/>
                          <a:cs typeface="Calibri" pitchFamily="34" charset="-120"/>
                        </a:rPr>
                        <a:t>Oestrogen</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ovaries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uterus lining builds up (repairs)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512064">
                <a:tc>
                  <a:txBody>
                    <a:bodyPr/>
                    <a:lstStyle/>
                    <a:p>
                      <a:pPr indent="0" marL="0">
                        <a:buNone/>
                      </a:pPr>
                      <a:r>
                        <a:rPr lang="en-US" sz="1050" b="1" dirty="0">
                          <a:solidFill>
                            <a:srgbClr val="8A560A"/>
                          </a:solidFill>
                          <a:latin typeface="Calibri" pitchFamily="34" charset="0"/>
                          <a:ea typeface="Calibri" pitchFamily="34" charset="-122"/>
                          <a:cs typeface="Calibri" pitchFamily="34" charset="-120"/>
                        </a:rPr>
                        <a:t>Progesterone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ovaries (empty follicle)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keeps the lining thick, ready for pregnancy</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bl>
          </a:graphicData>
        </a:graphic>
      </p:graphicFrame>
      <p:sp>
        <p:nvSpPr>
          <p:cNvPr id="38" name="Shape 35"/>
          <p:cNvSpPr/>
          <p:nvPr/>
        </p:nvSpPr>
        <p:spPr>
          <a:xfrm>
            <a:off x="6217920" y="3886200"/>
            <a:ext cx="5559552" cy="1828800"/>
          </a:xfrm>
          <a:prstGeom prst="roundRect">
            <a:avLst>
              <a:gd name="adj" fmla="val 3000"/>
            </a:avLst>
          </a:prstGeom>
          <a:solidFill>
            <a:srgbClr val="FFF4E0"/>
          </a:solidFill>
          <a:ln w="9525">
            <a:solidFill>
              <a:srgbClr val="F1D9A8"/>
            </a:solidFill>
            <a:prstDash val="solid"/>
          </a:ln>
        </p:spPr>
      </p:sp>
      <p:sp>
        <p:nvSpPr>
          <p:cNvPr id="39" name="Text 36"/>
          <p:cNvSpPr/>
          <p:nvPr/>
        </p:nvSpPr>
        <p:spPr>
          <a:xfrm>
            <a:off x="6382512" y="395935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predict</a:t>
            </a:r>
            <a:endParaRPr lang="en-US" sz="1300" dirty="0"/>
          </a:p>
        </p:txBody>
      </p:sp>
      <p:sp>
        <p:nvSpPr>
          <p:cNvPr id="40" name="Text 37"/>
          <p:cNvSpPr/>
          <p:nvPr/>
        </p:nvSpPr>
        <p:spPr>
          <a:xfrm>
            <a:off x="6382512" y="4270248"/>
            <a:ext cx="5230368" cy="137160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woman's pituitary makes very little LH. Predict the effect on her cycle. Explain.</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Role   </a:t>
            </a:r>
            <a:r>
              <a:rPr lang="en-US" sz="1050" dirty="0">
                <a:solidFill>
                  <a:srgbClr val="262B3A"/>
                </a:solidFill>
                <a:latin typeface="Calibri" pitchFamily="34" charset="0"/>
                <a:ea typeface="Calibri" pitchFamily="34" charset="-122"/>
                <a:cs typeface="Calibri" pitchFamily="34" charset="-120"/>
              </a:rPr>
              <a:t>LH is the hormone that triggers ovulation</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Effect   </a:t>
            </a:r>
            <a:r>
              <a:rPr lang="en-US" sz="1050" dirty="0">
                <a:solidFill>
                  <a:srgbClr val="262B3A"/>
                </a:solidFill>
                <a:latin typeface="Calibri" pitchFamily="34" charset="0"/>
                <a:ea typeface="Calibri" pitchFamily="34" charset="-122"/>
                <a:cs typeface="Calibri" pitchFamily="34" charset="-120"/>
              </a:rPr>
              <a:t>without enough LH the mature egg is not released</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no ovulation, so she cannot become pregnant naturally</a:t>
            </a:r>
            <a:endParaRPr lang="en-US" sz="1050" dirty="0"/>
          </a:p>
        </p:txBody>
      </p:sp>
      <p:sp>
        <p:nvSpPr>
          <p:cNvPr id="41" name="Shape 38"/>
          <p:cNvSpPr/>
          <p:nvPr/>
        </p:nvSpPr>
        <p:spPr>
          <a:xfrm>
            <a:off x="411480" y="5833872"/>
            <a:ext cx="11368735" cy="530352"/>
          </a:xfrm>
          <a:prstGeom prst="rect">
            <a:avLst/>
          </a:prstGeom>
          <a:solidFill>
            <a:srgbClr val="FFF4E0"/>
          </a:solidFill>
          <a:ln w="6350">
            <a:solidFill>
              <a:srgbClr val="F1D9A8"/>
            </a:solidFill>
            <a:prstDash val="solid"/>
          </a:ln>
        </p:spPr>
      </p:sp>
      <p:sp>
        <p:nvSpPr>
          <p:cNvPr id="42" name="Shape 39"/>
          <p:cNvSpPr/>
          <p:nvPr/>
        </p:nvSpPr>
        <p:spPr>
          <a:xfrm>
            <a:off x="411480" y="5833872"/>
            <a:ext cx="82296" cy="530352"/>
          </a:xfrm>
          <a:prstGeom prst="rect">
            <a:avLst/>
          </a:prstGeom>
          <a:solidFill>
            <a:srgbClr val="E39A2F"/>
          </a:solidFill>
          <a:ln w="12700">
            <a:solidFill>
              <a:srgbClr val="E39A2F"/>
            </a:solidFill>
            <a:prstDash val="solid"/>
          </a:ln>
        </p:spPr>
      </p:sp>
      <p:sp>
        <p:nvSpPr>
          <p:cNvPr id="43" name="Text 4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Which </a:t>
            </a:r>
            <a:r>
              <a:rPr lang="en-US" sz="1150" b="1" dirty="0">
                <a:solidFill>
                  <a:srgbClr val="262B3A"/>
                </a:solidFill>
                <a:latin typeface="Calibri" pitchFamily="34" charset="0"/>
                <a:ea typeface="Calibri" pitchFamily="34" charset="-122"/>
                <a:cs typeface="Calibri" pitchFamily="34" charset="-120"/>
              </a:rPr>
              <a:t>two</a:t>
            </a:r>
            <a:r>
              <a:rPr lang="en-US" sz="1150" dirty="0">
                <a:solidFill>
                  <a:srgbClr val="262B3A"/>
                </a:solidFill>
                <a:latin typeface="Calibri" pitchFamily="34" charset="0"/>
                <a:ea typeface="Calibri" pitchFamily="34" charset="-122"/>
                <a:cs typeface="Calibri" pitchFamily="34" charset="-120"/>
              </a:rPr>
              <a:t> hormones are made by the </a:t>
            </a:r>
            <a:r>
              <a:rPr lang="en-US" sz="1150" b="1" dirty="0">
                <a:solidFill>
                  <a:srgbClr val="262B3A"/>
                </a:solidFill>
                <a:latin typeface="Calibri" pitchFamily="34" charset="0"/>
                <a:ea typeface="Calibri" pitchFamily="34" charset="-122"/>
                <a:cs typeface="Calibri" pitchFamily="34" charset="-120"/>
              </a:rPr>
              <a:t>pituitary</a:t>
            </a:r>
            <a:r>
              <a:rPr lang="en-US" sz="1150" dirty="0">
                <a:solidFill>
                  <a:srgbClr val="262B3A"/>
                </a:solidFill>
                <a:latin typeface="Calibri" pitchFamily="34" charset="0"/>
                <a:ea typeface="Calibri" pitchFamily="34" charset="-122"/>
                <a:cs typeface="Calibri" pitchFamily="34" charset="-120"/>
              </a:rPr>
              <a:t>? Which hormone makes the uterus lining </a:t>
            </a:r>
            <a:r>
              <a:rPr lang="en-US" sz="1150" b="1" dirty="0">
                <a:solidFill>
                  <a:srgbClr val="262B3A"/>
                </a:solidFill>
                <a:latin typeface="Calibri" pitchFamily="34" charset="0"/>
                <a:ea typeface="Calibri" pitchFamily="34" charset="-122"/>
                <a:cs typeface="Calibri" pitchFamily="34" charset="-120"/>
              </a:rPr>
              <a:t>build up</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Hormone levels over 28 days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B5.5.2 • reading the hormone graph: each peak causes the next event</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B5.5 What role do hormones play in human reproduction?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B5.5.2  |  9</a:t>
            </a:r>
            <a:endParaRPr lang="en-US" sz="1000" dirty="0"/>
          </a:p>
        </p:txBody>
      </p:sp>
      <p:sp>
        <p:nvSpPr>
          <p:cNvPr id="10" name="Shape 8"/>
          <p:cNvSpPr/>
          <p:nvPr/>
        </p:nvSpPr>
        <p:spPr>
          <a:xfrm>
            <a:off x="411480" y="1188720"/>
            <a:ext cx="6675120" cy="4526280"/>
          </a:xfrm>
          <a:prstGeom prst="roundRect">
            <a:avLst>
              <a:gd name="adj" fmla="val 1616"/>
            </a:avLst>
          </a:prstGeom>
          <a:solidFill>
            <a:srgbClr val="EEF5F4"/>
          </a:solidFill>
          <a:ln w="9525">
            <a:solidFill>
              <a:srgbClr val="D2E3E1"/>
            </a:solidFill>
            <a:prstDash val="solid"/>
          </a:ln>
        </p:spPr>
      </p:sp>
      <p:sp>
        <p:nvSpPr>
          <p:cNvPr id="11" name="Text 9"/>
          <p:cNvSpPr/>
          <p:nvPr/>
        </p:nvSpPr>
        <p:spPr>
          <a:xfrm>
            <a:off x="548640" y="5404104"/>
            <a:ext cx="640080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model data drawn to scale; relative levels (arbitrary units); day 0 = start of a period</a:t>
            </a:r>
            <a:endParaRPr lang="en-US" sz="1000" dirty="0"/>
          </a:p>
        </p:txBody>
      </p:sp>
      <p:sp>
        <p:nvSpPr>
          <p:cNvPr id="12" name="Shape 10"/>
          <p:cNvSpPr/>
          <p:nvPr/>
        </p:nvSpPr>
        <p:spPr>
          <a:xfrm>
            <a:off x="1234440" y="1371600"/>
            <a:ext cx="5394960" cy="1143000"/>
          </a:xfrm>
          <a:prstGeom prst="rect">
            <a:avLst/>
          </a:prstGeom>
          <a:solidFill>
            <a:srgbClr val="FFFFFF"/>
          </a:solidFill>
          <a:ln/>
        </p:spPr>
      </p:sp>
      <p:sp>
        <p:nvSpPr>
          <p:cNvPr id="13" name="Shape 11"/>
          <p:cNvSpPr/>
          <p:nvPr/>
        </p:nvSpPr>
        <p:spPr>
          <a:xfrm>
            <a:off x="1234440" y="1371600"/>
            <a:ext cx="91" cy="1143000"/>
          </a:xfrm>
          <a:prstGeom prst="line">
            <a:avLst/>
          </a:prstGeom>
          <a:noFill/>
          <a:ln w="6350">
            <a:solidFill>
              <a:srgbClr val="C5DCD9"/>
            </a:solidFill>
            <a:prstDash val="solid"/>
          </a:ln>
        </p:spPr>
      </p:sp>
      <p:sp>
        <p:nvSpPr>
          <p:cNvPr id="14" name="Shape 12"/>
          <p:cNvSpPr/>
          <p:nvPr/>
        </p:nvSpPr>
        <p:spPr>
          <a:xfrm>
            <a:off x="1427117" y="1371600"/>
            <a:ext cx="91" cy="1143000"/>
          </a:xfrm>
          <a:prstGeom prst="line">
            <a:avLst/>
          </a:prstGeom>
          <a:noFill/>
          <a:ln w="6350">
            <a:solidFill>
              <a:srgbClr val="E3EFED"/>
            </a:solidFill>
            <a:prstDash val="solid"/>
          </a:ln>
        </p:spPr>
      </p:sp>
      <p:sp>
        <p:nvSpPr>
          <p:cNvPr id="15" name="Shape 13"/>
          <p:cNvSpPr/>
          <p:nvPr/>
        </p:nvSpPr>
        <p:spPr>
          <a:xfrm>
            <a:off x="1619794" y="1371600"/>
            <a:ext cx="91" cy="1143000"/>
          </a:xfrm>
          <a:prstGeom prst="line">
            <a:avLst/>
          </a:prstGeom>
          <a:noFill/>
          <a:ln w="6350">
            <a:solidFill>
              <a:srgbClr val="C5DCD9"/>
            </a:solidFill>
            <a:prstDash val="solid"/>
          </a:ln>
        </p:spPr>
      </p:sp>
      <p:sp>
        <p:nvSpPr>
          <p:cNvPr id="16" name="Shape 14"/>
          <p:cNvSpPr/>
          <p:nvPr/>
        </p:nvSpPr>
        <p:spPr>
          <a:xfrm>
            <a:off x="1812471" y="1371600"/>
            <a:ext cx="91" cy="1143000"/>
          </a:xfrm>
          <a:prstGeom prst="line">
            <a:avLst/>
          </a:prstGeom>
          <a:noFill/>
          <a:ln w="6350">
            <a:solidFill>
              <a:srgbClr val="E3EFED"/>
            </a:solidFill>
            <a:prstDash val="solid"/>
          </a:ln>
        </p:spPr>
      </p:sp>
      <p:sp>
        <p:nvSpPr>
          <p:cNvPr id="17" name="Shape 15"/>
          <p:cNvSpPr/>
          <p:nvPr/>
        </p:nvSpPr>
        <p:spPr>
          <a:xfrm>
            <a:off x="2005149" y="1371600"/>
            <a:ext cx="91" cy="1143000"/>
          </a:xfrm>
          <a:prstGeom prst="line">
            <a:avLst/>
          </a:prstGeom>
          <a:noFill/>
          <a:ln w="6350">
            <a:solidFill>
              <a:srgbClr val="C5DCD9"/>
            </a:solidFill>
            <a:prstDash val="solid"/>
          </a:ln>
        </p:spPr>
      </p:sp>
      <p:sp>
        <p:nvSpPr>
          <p:cNvPr id="18" name="Shape 16"/>
          <p:cNvSpPr/>
          <p:nvPr/>
        </p:nvSpPr>
        <p:spPr>
          <a:xfrm>
            <a:off x="2197826" y="1371600"/>
            <a:ext cx="91" cy="1143000"/>
          </a:xfrm>
          <a:prstGeom prst="line">
            <a:avLst/>
          </a:prstGeom>
          <a:noFill/>
          <a:ln w="6350">
            <a:solidFill>
              <a:srgbClr val="E3EFED"/>
            </a:solidFill>
            <a:prstDash val="solid"/>
          </a:ln>
        </p:spPr>
      </p:sp>
      <p:sp>
        <p:nvSpPr>
          <p:cNvPr id="19" name="Shape 17"/>
          <p:cNvSpPr/>
          <p:nvPr/>
        </p:nvSpPr>
        <p:spPr>
          <a:xfrm>
            <a:off x="2390503" y="1371600"/>
            <a:ext cx="91" cy="1143000"/>
          </a:xfrm>
          <a:prstGeom prst="line">
            <a:avLst/>
          </a:prstGeom>
          <a:noFill/>
          <a:ln w="6350">
            <a:solidFill>
              <a:srgbClr val="C5DCD9"/>
            </a:solidFill>
            <a:prstDash val="solid"/>
          </a:ln>
        </p:spPr>
      </p:sp>
      <p:sp>
        <p:nvSpPr>
          <p:cNvPr id="20" name="Shape 18"/>
          <p:cNvSpPr/>
          <p:nvPr/>
        </p:nvSpPr>
        <p:spPr>
          <a:xfrm>
            <a:off x="2583180" y="1371600"/>
            <a:ext cx="91" cy="1143000"/>
          </a:xfrm>
          <a:prstGeom prst="line">
            <a:avLst/>
          </a:prstGeom>
          <a:noFill/>
          <a:ln w="6350">
            <a:solidFill>
              <a:srgbClr val="E3EFED"/>
            </a:solidFill>
            <a:prstDash val="solid"/>
          </a:ln>
        </p:spPr>
      </p:sp>
      <p:sp>
        <p:nvSpPr>
          <p:cNvPr id="21" name="Shape 19"/>
          <p:cNvSpPr/>
          <p:nvPr/>
        </p:nvSpPr>
        <p:spPr>
          <a:xfrm>
            <a:off x="2775857" y="1371600"/>
            <a:ext cx="91" cy="1143000"/>
          </a:xfrm>
          <a:prstGeom prst="line">
            <a:avLst/>
          </a:prstGeom>
          <a:noFill/>
          <a:ln w="6350">
            <a:solidFill>
              <a:srgbClr val="C5DCD9"/>
            </a:solidFill>
            <a:prstDash val="solid"/>
          </a:ln>
        </p:spPr>
      </p:sp>
      <p:sp>
        <p:nvSpPr>
          <p:cNvPr id="22" name="Shape 20"/>
          <p:cNvSpPr/>
          <p:nvPr/>
        </p:nvSpPr>
        <p:spPr>
          <a:xfrm>
            <a:off x="2968534" y="1371600"/>
            <a:ext cx="91" cy="1143000"/>
          </a:xfrm>
          <a:prstGeom prst="line">
            <a:avLst/>
          </a:prstGeom>
          <a:noFill/>
          <a:ln w="6350">
            <a:solidFill>
              <a:srgbClr val="E3EFED"/>
            </a:solidFill>
            <a:prstDash val="solid"/>
          </a:ln>
        </p:spPr>
      </p:sp>
      <p:sp>
        <p:nvSpPr>
          <p:cNvPr id="23" name="Shape 21"/>
          <p:cNvSpPr/>
          <p:nvPr/>
        </p:nvSpPr>
        <p:spPr>
          <a:xfrm>
            <a:off x="3161211" y="1371600"/>
            <a:ext cx="91" cy="1143000"/>
          </a:xfrm>
          <a:prstGeom prst="line">
            <a:avLst/>
          </a:prstGeom>
          <a:noFill/>
          <a:ln w="6350">
            <a:solidFill>
              <a:srgbClr val="C5DCD9"/>
            </a:solidFill>
            <a:prstDash val="solid"/>
          </a:ln>
        </p:spPr>
      </p:sp>
      <p:sp>
        <p:nvSpPr>
          <p:cNvPr id="24" name="Shape 22"/>
          <p:cNvSpPr/>
          <p:nvPr/>
        </p:nvSpPr>
        <p:spPr>
          <a:xfrm>
            <a:off x="3353889" y="1371600"/>
            <a:ext cx="91" cy="1143000"/>
          </a:xfrm>
          <a:prstGeom prst="line">
            <a:avLst/>
          </a:prstGeom>
          <a:noFill/>
          <a:ln w="6350">
            <a:solidFill>
              <a:srgbClr val="E3EFED"/>
            </a:solidFill>
            <a:prstDash val="solid"/>
          </a:ln>
        </p:spPr>
      </p:sp>
      <p:sp>
        <p:nvSpPr>
          <p:cNvPr id="25" name="Shape 23"/>
          <p:cNvSpPr/>
          <p:nvPr/>
        </p:nvSpPr>
        <p:spPr>
          <a:xfrm>
            <a:off x="3546566" y="1371600"/>
            <a:ext cx="91" cy="1143000"/>
          </a:xfrm>
          <a:prstGeom prst="line">
            <a:avLst/>
          </a:prstGeom>
          <a:noFill/>
          <a:ln w="6350">
            <a:solidFill>
              <a:srgbClr val="C5DCD9"/>
            </a:solidFill>
            <a:prstDash val="solid"/>
          </a:ln>
        </p:spPr>
      </p:sp>
      <p:sp>
        <p:nvSpPr>
          <p:cNvPr id="26" name="Shape 24"/>
          <p:cNvSpPr/>
          <p:nvPr/>
        </p:nvSpPr>
        <p:spPr>
          <a:xfrm>
            <a:off x="3739243" y="1371600"/>
            <a:ext cx="91" cy="1143000"/>
          </a:xfrm>
          <a:prstGeom prst="line">
            <a:avLst/>
          </a:prstGeom>
          <a:noFill/>
          <a:ln w="6350">
            <a:solidFill>
              <a:srgbClr val="E3EFED"/>
            </a:solidFill>
            <a:prstDash val="solid"/>
          </a:ln>
        </p:spPr>
      </p:sp>
      <p:sp>
        <p:nvSpPr>
          <p:cNvPr id="27" name="Shape 25"/>
          <p:cNvSpPr/>
          <p:nvPr/>
        </p:nvSpPr>
        <p:spPr>
          <a:xfrm>
            <a:off x="3931920" y="1371600"/>
            <a:ext cx="91" cy="1143000"/>
          </a:xfrm>
          <a:prstGeom prst="line">
            <a:avLst/>
          </a:prstGeom>
          <a:noFill/>
          <a:ln w="6350">
            <a:solidFill>
              <a:srgbClr val="C5DCD9"/>
            </a:solidFill>
            <a:prstDash val="solid"/>
          </a:ln>
        </p:spPr>
      </p:sp>
      <p:sp>
        <p:nvSpPr>
          <p:cNvPr id="28" name="Shape 26"/>
          <p:cNvSpPr/>
          <p:nvPr/>
        </p:nvSpPr>
        <p:spPr>
          <a:xfrm>
            <a:off x="4124597" y="1371600"/>
            <a:ext cx="91" cy="1143000"/>
          </a:xfrm>
          <a:prstGeom prst="line">
            <a:avLst/>
          </a:prstGeom>
          <a:noFill/>
          <a:ln w="6350">
            <a:solidFill>
              <a:srgbClr val="E3EFED"/>
            </a:solidFill>
            <a:prstDash val="solid"/>
          </a:ln>
        </p:spPr>
      </p:sp>
      <p:sp>
        <p:nvSpPr>
          <p:cNvPr id="29" name="Shape 27"/>
          <p:cNvSpPr/>
          <p:nvPr/>
        </p:nvSpPr>
        <p:spPr>
          <a:xfrm>
            <a:off x="4317274" y="1371600"/>
            <a:ext cx="91" cy="1143000"/>
          </a:xfrm>
          <a:prstGeom prst="line">
            <a:avLst/>
          </a:prstGeom>
          <a:noFill/>
          <a:ln w="6350">
            <a:solidFill>
              <a:srgbClr val="C5DCD9"/>
            </a:solidFill>
            <a:prstDash val="solid"/>
          </a:ln>
        </p:spPr>
      </p:sp>
      <p:sp>
        <p:nvSpPr>
          <p:cNvPr id="30" name="Shape 28"/>
          <p:cNvSpPr/>
          <p:nvPr/>
        </p:nvSpPr>
        <p:spPr>
          <a:xfrm>
            <a:off x="4509951" y="1371600"/>
            <a:ext cx="91" cy="1143000"/>
          </a:xfrm>
          <a:prstGeom prst="line">
            <a:avLst/>
          </a:prstGeom>
          <a:noFill/>
          <a:ln w="6350">
            <a:solidFill>
              <a:srgbClr val="E3EFED"/>
            </a:solidFill>
            <a:prstDash val="solid"/>
          </a:ln>
        </p:spPr>
      </p:sp>
      <p:sp>
        <p:nvSpPr>
          <p:cNvPr id="31" name="Shape 29"/>
          <p:cNvSpPr/>
          <p:nvPr/>
        </p:nvSpPr>
        <p:spPr>
          <a:xfrm>
            <a:off x="4702629" y="1371600"/>
            <a:ext cx="91" cy="1143000"/>
          </a:xfrm>
          <a:prstGeom prst="line">
            <a:avLst/>
          </a:prstGeom>
          <a:noFill/>
          <a:ln w="6350">
            <a:solidFill>
              <a:srgbClr val="C5DCD9"/>
            </a:solidFill>
            <a:prstDash val="solid"/>
          </a:ln>
        </p:spPr>
      </p:sp>
      <p:sp>
        <p:nvSpPr>
          <p:cNvPr id="32" name="Shape 30"/>
          <p:cNvSpPr/>
          <p:nvPr/>
        </p:nvSpPr>
        <p:spPr>
          <a:xfrm>
            <a:off x="4895306" y="1371600"/>
            <a:ext cx="91" cy="1143000"/>
          </a:xfrm>
          <a:prstGeom prst="line">
            <a:avLst/>
          </a:prstGeom>
          <a:noFill/>
          <a:ln w="6350">
            <a:solidFill>
              <a:srgbClr val="E3EFED"/>
            </a:solidFill>
            <a:prstDash val="solid"/>
          </a:ln>
        </p:spPr>
      </p:sp>
      <p:sp>
        <p:nvSpPr>
          <p:cNvPr id="33" name="Shape 31"/>
          <p:cNvSpPr/>
          <p:nvPr/>
        </p:nvSpPr>
        <p:spPr>
          <a:xfrm>
            <a:off x="5087983" y="1371600"/>
            <a:ext cx="91" cy="1143000"/>
          </a:xfrm>
          <a:prstGeom prst="line">
            <a:avLst/>
          </a:prstGeom>
          <a:noFill/>
          <a:ln w="6350">
            <a:solidFill>
              <a:srgbClr val="C5DCD9"/>
            </a:solidFill>
            <a:prstDash val="solid"/>
          </a:ln>
        </p:spPr>
      </p:sp>
      <p:sp>
        <p:nvSpPr>
          <p:cNvPr id="34" name="Shape 32"/>
          <p:cNvSpPr/>
          <p:nvPr/>
        </p:nvSpPr>
        <p:spPr>
          <a:xfrm>
            <a:off x="5280660" y="1371600"/>
            <a:ext cx="91" cy="1143000"/>
          </a:xfrm>
          <a:prstGeom prst="line">
            <a:avLst/>
          </a:prstGeom>
          <a:noFill/>
          <a:ln w="6350">
            <a:solidFill>
              <a:srgbClr val="E3EFED"/>
            </a:solidFill>
            <a:prstDash val="solid"/>
          </a:ln>
        </p:spPr>
      </p:sp>
      <p:sp>
        <p:nvSpPr>
          <p:cNvPr id="35" name="Shape 33"/>
          <p:cNvSpPr/>
          <p:nvPr/>
        </p:nvSpPr>
        <p:spPr>
          <a:xfrm>
            <a:off x="5473337" y="1371600"/>
            <a:ext cx="91" cy="1143000"/>
          </a:xfrm>
          <a:prstGeom prst="line">
            <a:avLst/>
          </a:prstGeom>
          <a:noFill/>
          <a:ln w="6350">
            <a:solidFill>
              <a:srgbClr val="C5DCD9"/>
            </a:solidFill>
            <a:prstDash val="solid"/>
          </a:ln>
        </p:spPr>
      </p:sp>
      <p:sp>
        <p:nvSpPr>
          <p:cNvPr id="36" name="Shape 34"/>
          <p:cNvSpPr/>
          <p:nvPr/>
        </p:nvSpPr>
        <p:spPr>
          <a:xfrm>
            <a:off x="5666014" y="1371600"/>
            <a:ext cx="91" cy="1143000"/>
          </a:xfrm>
          <a:prstGeom prst="line">
            <a:avLst/>
          </a:prstGeom>
          <a:noFill/>
          <a:ln w="6350">
            <a:solidFill>
              <a:srgbClr val="E3EFED"/>
            </a:solidFill>
            <a:prstDash val="solid"/>
          </a:ln>
        </p:spPr>
      </p:sp>
      <p:sp>
        <p:nvSpPr>
          <p:cNvPr id="37" name="Shape 35"/>
          <p:cNvSpPr/>
          <p:nvPr/>
        </p:nvSpPr>
        <p:spPr>
          <a:xfrm>
            <a:off x="5858691" y="1371600"/>
            <a:ext cx="91" cy="1143000"/>
          </a:xfrm>
          <a:prstGeom prst="line">
            <a:avLst/>
          </a:prstGeom>
          <a:noFill/>
          <a:ln w="6350">
            <a:solidFill>
              <a:srgbClr val="C5DCD9"/>
            </a:solidFill>
            <a:prstDash val="solid"/>
          </a:ln>
        </p:spPr>
      </p:sp>
      <p:sp>
        <p:nvSpPr>
          <p:cNvPr id="38" name="Shape 36"/>
          <p:cNvSpPr/>
          <p:nvPr/>
        </p:nvSpPr>
        <p:spPr>
          <a:xfrm>
            <a:off x="6051369" y="1371600"/>
            <a:ext cx="91" cy="1143000"/>
          </a:xfrm>
          <a:prstGeom prst="line">
            <a:avLst/>
          </a:prstGeom>
          <a:noFill/>
          <a:ln w="6350">
            <a:solidFill>
              <a:srgbClr val="E3EFED"/>
            </a:solidFill>
            <a:prstDash val="solid"/>
          </a:ln>
        </p:spPr>
      </p:sp>
      <p:sp>
        <p:nvSpPr>
          <p:cNvPr id="39" name="Shape 37"/>
          <p:cNvSpPr/>
          <p:nvPr/>
        </p:nvSpPr>
        <p:spPr>
          <a:xfrm>
            <a:off x="6244046" y="1371600"/>
            <a:ext cx="91" cy="1143000"/>
          </a:xfrm>
          <a:prstGeom prst="line">
            <a:avLst/>
          </a:prstGeom>
          <a:noFill/>
          <a:ln w="6350">
            <a:solidFill>
              <a:srgbClr val="C5DCD9"/>
            </a:solidFill>
            <a:prstDash val="solid"/>
          </a:ln>
        </p:spPr>
      </p:sp>
      <p:sp>
        <p:nvSpPr>
          <p:cNvPr id="40" name="Shape 38"/>
          <p:cNvSpPr/>
          <p:nvPr/>
        </p:nvSpPr>
        <p:spPr>
          <a:xfrm>
            <a:off x="6436723" y="1371600"/>
            <a:ext cx="91" cy="1143000"/>
          </a:xfrm>
          <a:prstGeom prst="line">
            <a:avLst/>
          </a:prstGeom>
          <a:noFill/>
          <a:ln w="6350">
            <a:solidFill>
              <a:srgbClr val="E3EFED"/>
            </a:solidFill>
            <a:prstDash val="solid"/>
          </a:ln>
        </p:spPr>
      </p:sp>
      <p:sp>
        <p:nvSpPr>
          <p:cNvPr id="41" name="Shape 39"/>
          <p:cNvSpPr/>
          <p:nvPr/>
        </p:nvSpPr>
        <p:spPr>
          <a:xfrm>
            <a:off x="6629400" y="1371600"/>
            <a:ext cx="91" cy="1143000"/>
          </a:xfrm>
          <a:prstGeom prst="line">
            <a:avLst/>
          </a:prstGeom>
          <a:noFill/>
          <a:ln w="6350">
            <a:solidFill>
              <a:srgbClr val="C5DCD9"/>
            </a:solidFill>
            <a:prstDash val="solid"/>
          </a:ln>
        </p:spPr>
      </p:sp>
      <p:sp>
        <p:nvSpPr>
          <p:cNvPr id="42" name="Shape 40"/>
          <p:cNvSpPr/>
          <p:nvPr/>
        </p:nvSpPr>
        <p:spPr>
          <a:xfrm>
            <a:off x="1234440" y="2514600"/>
            <a:ext cx="5394960" cy="91"/>
          </a:xfrm>
          <a:prstGeom prst="line">
            <a:avLst/>
          </a:prstGeom>
          <a:noFill/>
          <a:ln w="6350">
            <a:solidFill>
              <a:srgbClr val="C5DCD9"/>
            </a:solidFill>
            <a:prstDash val="solid"/>
          </a:ln>
        </p:spPr>
      </p:sp>
      <p:sp>
        <p:nvSpPr>
          <p:cNvPr id="43" name="Shape 41"/>
          <p:cNvSpPr/>
          <p:nvPr/>
        </p:nvSpPr>
        <p:spPr>
          <a:xfrm>
            <a:off x="1234440" y="2228850"/>
            <a:ext cx="5394960" cy="91"/>
          </a:xfrm>
          <a:prstGeom prst="line">
            <a:avLst/>
          </a:prstGeom>
          <a:noFill/>
          <a:ln w="6350">
            <a:solidFill>
              <a:srgbClr val="E3EFED"/>
            </a:solidFill>
            <a:prstDash val="solid"/>
          </a:ln>
        </p:spPr>
      </p:sp>
      <p:sp>
        <p:nvSpPr>
          <p:cNvPr id="44" name="Shape 42"/>
          <p:cNvSpPr/>
          <p:nvPr/>
        </p:nvSpPr>
        <p:spPr>
          <a:xfrm>
            <a:off x="1234440" y="1943100"/>
            <a:ext cx="5394960" cy="91"/>
          </a:xfrm>
          <a:prstGeom prst="line">
            <a:avLst/>
          </a:prstGeom>
          <a:noFill/>
          <a:ln w="6350">
            <a:solidFill>
              <a:srgbClr val="C5DCD9"/>
            </a:solidFill>
            <a:prstDash val="solid"/>
          </a:ln>
        </p:spPr>
      </p:sp>
      <p:sp>
        <p:nvSpPr>
          <p:cNvPr id="45" name="Shape 43"/>
          <p:cNvSpPr/>
          <p:nvPr/>
        </p:nvSpPr>
        <p:spPr>
          <a:xfrm>
            <a:off x="1234440" y="1657350"/>
            <a:ext cx="5394960" cy="91"/>
          </a:xfrm>
          <a:prstGeom prst="line">
            <a:avLst/>
          </a:prstGeom>
          <a:noFill/>
          <a:ln w="6350">
            <a:solidFill>
              <a:srgbClr val="E3EFED"/>
            </a:solidFill>
            <a:prstDash val="solid"/>
          </a:ln>
        </p:spPr>
      </p:sp>
      <p:sp>
        <p:nvSpPr>
          <p:cNvPr id="46" name="Shape 44"/>
          <p:cNvSpPr/>
          <p:nvPr/>
        </p:nvSpPr>
        <p:spPr>
          <a:xfrm>
            <a:off x="1234440" y="1371600"/>
            <a:ext cx="5394960" cy="91"/>
          </a:xfrm>
          <a:prstGeom prst="line">
            <a:avLst/>
          </a:prstGeom>
          <a:noFill/>
          <a:ln w="6350">
            <a:solidFill>
              <a:srgbClr val="C5DCD9"/>
            </a:solidFill>
            <a:prstDash val="solid"/>
          </a:ln>
        </p:spPr>
      </p:sp>
      <p:sp>
        <p:nvSpPr>
          <p:cNvPr id="47" name="Shape 45"/>
          <p:cNvSpPr/>
          <p:nvPr/>
        </p:nvSpPr>
        <p:spPr>
          <a:xfrm>
            <a:off x="1234440" y="2514600"/>
            <a:ext cx="5394960" cy="91"/>
          </a:xfrm>
          <a:prstGeom prst="line">
            <a:avLst/>
          </a:prstGeom>
          <a:noFill/>
          <a:ln w="19050">
            <a:solidFill>
              <a:srgbClr val="133536"/>
            </a:solidFill>
            <a:prstDash val="solid"/>
          </a:ln>
        </p:spPr>
      </p:sp>
      <p:sp>
        <p:nvSpPr>
          <p:cNvPr id="48" name="Shape 46"/>
          <p:cNvSpPr/>
          <p:nvPr/>
        </p:nvSpPr>
        <p:spPr>
          <a:xfrm flipV="1">
            <a:off x="1234440" y="1371600"/>
            <a:ext cx="91" cy="1143000"/>
          </a:xfrm>
          <a:prstGeom prst="line">
            <a:avLst/>
          </a:prstGeom>
          <a:noFill/>
          <a:ln w="19050">
            <a:solidFill>
              <a:srgbClr val="133536"/>
            </a:solidFill>
            <a:prstDash val="solid"/>
          </a:ln>
        </p:spPr>
      </p:sp>
      <p:sp>
        <p:nvSpPr>
          <p:cNvPr id="49" name="Shape 47"/>
          <p:cNvSpPr/>
          <p:nvPr/>
        </p:nvSpPr>
        <p:spPr>
          <a:xfrm>
            <a:off x="1234440" y="2514600"/>
            <a:ext cx="91" cy="54864"/>
          </a:xfrm>
          <a:prstGeom prst="line">
            <a:avLst/>
          </a:prstGeom>
          <a:noFill/>
          <a:ln w="12700">
            <a:solidFill>
              <a:srgbClr val="133536"/>
            </a:solidFill>
            <a:prstDash val="solid"/>
          </a:ln>
        </p:spPr>
      </p:sp>
      <p:sp>
        <p:nvSpPr>
          <p:cNvPr id="50" name="Text 48"/>
          <p:cNvSpPr/>
          <p:nvPr/>
        </p:nvSpPr>
        <p:spPr>
          <a:xfrm>
            <a:off x="960120" y="2569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51" name="Shape 49"/>
          <p:cNvSpPr/>
          <p:nvPr/>
        </p:nvSpPr>
        <p:spPr>
          <a:xfrm>
            <a:off x="1619794" y="2514600"/>
            <a:ext cx="91" cy="54864"/>
          </a:xfrm>
          <a:prstGeom prst="line">
            <a:avLst/>
          </a:prstGeom>
          <a:noFill/>
          <a:ln w="12700">
            <a:solidFill>
              <a:srgbClr val="133536"/>
            </a:solidFill>
            <a:prstDash val="solid"/>
          </a:ln>
        </p:spPr>
      </p:sp>
      <p:sp>
        <p:nvSpPr>
          <p:cNvPr id="52" name="Text 50"/>
          <p:cNvSpPr/>
          <p:nvPr/>
        </p:nvSpPr>
        <p:spPr>
          <a:xfrm>
            <a:off x="1345474" y="2569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53" name="Shape 51"/>
          <p:cNvSpPr/>
          <p:nvPr/>
        </p:nvSpPr>
        <p:spPr>
          <a:xfrm>
            <a:off x="2005149" y="2514600"/>
            <a:ext cx="91" cy="54864"/>
          </a:xfrm>
          <a:prstGeom prst="line">
            <a:avLst/>
          </a:prstGeom>
          <a:noFill/>
          <a:ln w="12700">
            <a:solidFill>
              <a:srgbClr val="133536"/>
            </a:solidFill>
            <a:prstDash val="solid"/>
          </a:ln>
        </p:spPr>
      </p:sp>
      <p:sp>
        <p:nvSpPr>
          <p:cNvPr id="54" name="Text 52"/>
          <p:cNvSpPr/>
          <p:nvPr/>
        </p:nvSpPr>
        <p:spPr>
          <a:xfrm>
            <a:off x="1730829" y="2569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55" name="Shape 53"/>
          <p:cNvSpPr/>
          <p:nvPr/>
        </p:nvSpPr>
        <p:spPr>
          <a:xfrm>
            <a:off x="2390503" y="2514600"/>
            <a:ext cx="91" cy="54864"/>
          </a:xfrm>
          <a:prstGeom prst="line">
            <a:avLst/>
          </a:prstGeom>
          <a:noFill/>
          <a:ln w="12700">
            <a:solidFill>
              <a:srgbClr val="133536"/>
            </a:solidFill>
            <a:prstDash val="solid"/>
          </a:ln>
        </p:spPr>
      </p:sp>
      <p:sp>
        <p:nvSpPr>
          <p:cNvPr id="56" name="Text 54"/>
          <p:cNvSpPr/>
          <p:nvPr/>
        </p:nvSpPr>
        <p:spPr>
          <a:xfrm>
            <a:off x="2116183" y="2569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57" name="Shape 55"/>
          <p:cNvSpPr/>
          <p:nvPr/>
        </p:nvSpPr>
        <p:spPr>
          <a:xfrm>
            <a:off x="2775857" y="2514600"/>
            <a:ext cx="91" cy="54864"/>
          </a:xfrm>
          <a:prstGeom prst="line">
            <a:avLst/>
          </a:prstGeom>
          <a:noFill/>
          <a:ln w="12700">
            <a:solidFill>
              <a:srgbClr val="133536"/>
            </a:solidFill>
            <a:prstDash val="solid"/>
          </a:ln>
        </p:spPr>
      </p:sp>
      <p:sp>
        <p:nvSpPr>
          <p:cNvPr id="58" name="Text 56"/>
          <p:cNvSpPr/>
          <p:nvPr/>
        </p:nvSpPr>
        <p:spPr>
          <a:xfrm>
            <a:off x="2501537" y="2569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59" name="Shape 57"/>
          <p:cNvSpPr/>
          <p:nvPr/>
        </p:nvSpPr>
        <p:spPr>
          <a:xfrm>
            <a:off x="3161211" y="2514600"/>
            <a:ext cx="91" cy="54864"/>
          </a:xfrm>
          <a:prstGeom prst="line">
            <a:avLst/>
          </a:prstGeom>
          <a:noFill/>
          <a:ln w="12700">
            <a:solidFill>
              <a:srgbClr val="133536"/>
            </a:solidFill>
            <a:prstDash val="solid"/>
          </a:ln>
        </p:spPr>
      </p:sp>
      <p:sp>
        <p:nvSpPr>
          <p:cNvPr id="60" name="Text 58"/>
          <p:cNvSpPr/>
          <p:nvPr/>
        </p:nvSpPr>
        <p:spPr>
          <a:xfrm>
            <a:off x="2886891" y="2569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61" name="Shape 59"/>
          <p:cNvSpPr/>
          <p:nvPr/>
        </p:nvSpPr>
        <p:spPr>
          <a:xfrm>
            <a:off x="3546566" y="2514600"/>
            <a:ext cx="91" cy="54864"/>
          </a:xfrm>
          <a:prstGeom prst="line">
            <a:avLst/>
          </a:prstGeom>
          <a:noFill/>
          <a:ln w="12700">
            <a:solidFill>
              <a:srgbClr val="133536"/>
            </a:solidFill>
            <a:prstDash val="solid"/>
          </a:ln>
        </p:spPr>
      </p:sp>
      <p:sp>
        <p:nvSpPr>
          <p:cNvPr id="62" name="Text 60"/>
          <p:cNvSpPr/>
          <p:nvPr/>
        </p:nvSpPr>
        <p:spPr>
          <a:xfrm>
            <a:off x="3272246" y="2569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12</a:t>
            </a:r>
            <a:endParaRPr lang="en-US" sz="1000" dirty="0"/>
          </a:p>
        </p:txBody>
      </p:sp>
      <p:sp>
        <p:nvSpPr>
          <p:cNvPr id="63" name="Shape 61"/>
          <p:cNvSpPr/>
          <p:nvPr/>
        </p:nvSpPr>
        <p:spPr>
          <a:xfrm>
            <a:off x="3931920" y="2514600"/>
            <a:ext cx="91" cy="54864"/>
          </a:xfrm>
          <a:prstGeom prst="line">
            <a:avLst/>
          </a:prstGeom>
          <a:noFill/>
          <a:ln w="12700">
            <a:solidFill>
              <a:srgbClr val="133536"/>
            </a:solidFill>
            <a:prstDash val="solid"/>
          </a:ln>
        </p:spPr>
      </p:sp>
      <p:sp>
        <p:nvSpPr>
          <p:cNvPr id="64" name="Text 62"/>
          <p:cNvSpPr/>
          <p:nvPr/>
        </p:nvSpPr>
        <p:spPr>
          <a:xfrm>
            <a:off x="3657600" y="2569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14</a:t>
            </a:r>
            <a:endParaRPr lang="en-US" sz="1000" dirty="0"/>
          </a:p>
        </p:txBody>
      </p:sp>
      <p:sp>
        <p:nvSpPr>
          <p:cNvPr id="65" name="Shape 63"/>
          <p:cNvSpPr/>
          <p:nvPr/>
        </p:nvSpPr>
        <p:spPr>
          <a:xfrm>
            <a:off x="4317274" y="2514600"/>
            <a:ext cx="91" cy="54864"/>
          </a:xfrm>
          <a:prstGeom prst="line">
            <a:avLst/>
          </a:prstGeom>
          <a:noFill/>
          <a:ln w="12700">
            <a:solidFill>
              <a:srgbClr val="133536"/>
            </a:solidFill>
            <a:prstDash val="solid"/>
          </a:ln>
        </p:spPr>
      </p:sp>
      <p:sp>
        <p:nvSpPr>
          <p:cNvPr id="66" name="Text 64"/>
          <p:cNvSpPr/>
          <p:nvPr/>
        </p:nvSpPr>
        <p:spPr>
          <a:xfrm>
            <a:off x="4042954" y="2569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16</a:t>
            </a:r>
            <a:endParaRPr lang="en-US" sz="1000" dirty="0"/>
          </a:p>
        </p:txBody>
      </p:sp>
      <p:sp>
        <p:nvSpPr>
          <p:cNvPr id="67" name="Shape 65"/>
          <p:cNvSpPr/>
          <p:nvPr/>
        </p:nvSpPr>
        <p:spPr>
          <a:xfrm>
            <a:off x="4702629" y="2514600"/>
            <a:ext cx="91" cy="54864"/>
          </a:xfrm>
          <a:prstGeom prst="line">
            <a:avLst/>
          </a:prstGeom>
          <a:noFill/>
          <a:ln w="12700">
            <a:solidFill>
              <a:srgbClr val="133536"/>
            </a:solidFill>
            <a:prstDash val="solid"/>
          </a:ln>
        </p:spPr>
      </p:sp>
      <p:sp>
        <p:nvSpPr>
          <p:cNvPr id="68" name="Text 66"/>
          <p:cNvSpPr/>
          <p:nvPr/>
        </p:nvSpPr>
        <p:spPr>
          <a:xfrm>
            <a:off x="4428309" y="2569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18</a:t>
            </a:r>
            <a:endParaRPr lang="en-US" sz="1000" dirty="0"/>
          </a:p>
        </p:txBody>
      </p:sp>
      <p:sp>
        <p:nvSpPr>
          <p:cNvPr id="69" name="Shape 67"/>
          <p:cNvSpPr/>
          <p:nvPr/>
        </p:nvSpPr>
        <p:spPr>
          <a:xfrm>
            <a:off x="5087983" y="2514600"/>
            <a:ext cx="91" cy="54864"/>
          </a:xfrm>
          <a:prstGeom prst="line">
            <a:avLst/>
          </a:prstGeom>
          <a:noFill/>
          <a:ln w="12700">
            <a:solidFill>
              <a:srgbClr val="133536"/>
            </a:solidFill>
            <a:prstDash val="solid"/>
          </a:ln>
        </p:spPr>
      </p:sp>
      <p:sp>
        <p:nvSpPr>
          <p:cNvPr id="70" name="Text 68"/>
          <p:cNvSpPr/>
          <p:nvPr/>
        </p:nvSpPr>
        <p:spPr>
          <a:xfrm>
            <a:off x="4813663" y="2569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71" name="Shape 69"/>
          <p:cNvSpPr/>
          <p:nvPr/>
        </p:nvSpPr>
        <p:spPr>
          <a:xfrm>
            <a:off x="5473337" y="2514600"/>
            <a:ext cx="91" cy="54864"/>
          </a:xfrm>
          <a:prstGeom prst="line">
            <a:avLst/>
          </a:prstGeom>
          <a:noFill/>
          <a:ln w="12700">
            <a:solidFill>
              <a:srgbClr val="133536"/>
            </a:solidFill>
            <a:prstDash val="solid"/>
          </a:ln>
        </p:spPr>
      </p:sp>
      <p:sp>
        <p:nvSpPr>
          <p:cNvPr id="72" name="Text 70"/>
          <p:cNvSpPr/>
          <p:nvPr/>
        </p:nvSpPr>
        <p:spPr>
          <a:xfrm>
            <a:off x="5199017" y="2569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22</a:t>
            </a:r>
            <a:endParaRPr lang="en-US" sz="1000" dirty="0"/>
          </a:p>
        </p:txBody>
      </p:sp>
      <p:sp>
        <p:nvSpPr>
          <p:cNvPr id="73" name="Shape 71"/>
          <p:cNvSpPr/>
          <p:nvPr/>
        </p:nvSpPr>
        <p:spPr>
          <a:xfrm>
            <a:off x="5858691" y="2514600"/>
            <a:ext cx="91" cy="54864"/>
          </a:xfrm>
          <a:prstGeom prst="line">
            <a:avLst/>
          </a:prstGeom>
          <a:noFill/>
          <a:ln w="12700">
            <a:solidFill>
              <a:srgbClr val="133536"/>
            </a:solidFill>
            <a:prstDash val="solid"/>
          </a:ln>
        </p:spPr>
      </p:sp>
      <p:sp>
        <p:nvSpPr>
          <p:cNvPr id="74" name="Text 72"/>
          <p:cNvSpPr/>
          <p:nvPr/>
        </p:nvSpPr>
        <p:spPr>
          <a:xfrm>
            <a:off x="5584371" y="2569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24</a:t>
            </a:r>
            <a:endParaRPr lang="en-US" sz="1000" dirty="0"/>
          </a:p>
        </p:txBody>
      </p:sp>
      <p:sp>
        <p:nvSpPr>
          <p:cNvPr id="75" name="Shape 73"/>
          <p:cNvSpPr/>
          <p:nvPr/>
        </p:nvSpPr>
        <p:spPr>
          <a:xfrm>
            <a:off x="6244046" y="2514600"/>
            <a:ext cx="91" cy="54864"/>
          </a:xfrm>
          <a:prstGeom prst="line">
            <a:avLst/>
          </a:prstGeom>
          <a:noFill/>
          <a:ln w="12700">
            <a:solidFill>
              <a:srgbClr val="133536"/>
            </a:solidFill>
            <a:prstDash val="solid"/>
          </a:ln>
        </p:spPr>
      </p:sp>
      <p:sp>
        <p:nvSpPr>
          <p:cNvPr id="76" name="Text 74"/>
          <p:cNvSpPr/>
          <p:nvPr/>
        </p:nvSpPr>
        <p:spPr>
          <a:xfrm>
            <a:off x="5969726" y="2569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26</a:t>
            </a:r>
            <a:endParaRPr lang="en-US" sz="1000" dirty="0"/>
          </a:p>
        </p:txBody>
      </p:sp>
      <p:sp>
        <p:nvSpPr>
          <p:cNvPr id="77" name="Shape 75"/>
          <p:cNvSpPr/>
          <p:nvPr/>
        </p:nvSpPr>
        <p:spPr>
          <a:xfrm>
            <a:off x="6629400" y="2514600"/>
            <a:ext cx="91" cy="54864"/>
          </a:xfrm>
          <a:prstGeom prst="line">
            <a:avLst/>
          </a:prstGeom>
          <a:noFill/>
          <a:ln w="12700">
            <a:solidFill>
              <a:srgbClr val="133536"/>
            </a:solidFill>
            <a:prstDash val="solid"/>
          </a:ln>
        </p:spPr>
      </p:sp>
      <p:sp>
        <p:nvSpPr>
          <p:cNvPr id="78" name="Text 76"/>
          <p:cNvSpPr/>
          <p:nvPr/>
        </p:nvSpPr>
        <p:spPr>
          <a:xfrm>
            <a:off x="6355080" y="256946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28</a:t>
            </a:r>
            <a:endParaRPr lang="en-US" sz="1000" dirty="0"/>
          </a:p>
        </p:txBody>
      </p:sp>
      <p:sp>
        <p:nvSpPr>
          <p:cNvPr id="79" name="Shape 77"/>
          <p:cNvSpPr/>
          <p:nvPr/>
        </p:nvSpPr>
        <p:spPr>
          <a:xfrm>
            <a:off x="1179576" y="2514600"/>
            <a:ext cx="54864" cy="91"/>
          </a:xfrm>
          <a:prstGeom prst="line">
            <a:avLst/>
          </a:prstGeom>
          <a:noFill/>
          <a:ln w="12700">
            <a:solidFill>
              <a:srgbClr val="133536"/>
            </a:solidFill>
            <a:prstDash val="solid"/>
          </a:ln>
        </p:spPr>
      </p:sp>
      <p:sp>
        <p:nvSpPr>
          <p:cNvPr id="80" name="Text 78"/>
          <p:cNvSpPr/>
          <p:nvPr/>
        </p:nvSpPr>
        <p:spPr>
          <a:xfrm>
            <a:off x="795528" y="24231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81" name="Shape 79"/>
          <p:cNvSpPr/>
          <p:nvPr/>
        </p:nvSpPr>
        <p:spPr>
          <a:xfrm>
            <a:off x="1179576" y="1943100"/>
            <a:ext cx="54864" cy="91"/>
          </a:xfrm>
          <a:prstGeom prst="line">
            <a:avLst/>
          </a:prstGeom>
          <a:noFill/>
          <a:ln w="12700">
            <a:solidFill>
              <a:srgbClr val="133536"/>
            </a:solidFill>
            <a:prstDash val="solid"/>
          </a:ln>
        </p:spPr>
      </p:sp>
      <p:sp>
        <p:nvSpPr>
          <p:cNvPr id="82" name="Text 80"/>
          <p:cNvSpPr/>
          <p:nvPr/>
        </p:nvSpPr>
        <p:spPr>
          <a:xfrm>
            <a:off x="795528" y="18516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50</a:t>
            </a:r>
            <a:endParaRPr lang="en-US" sz="1000" dirty="0"/>
          </a:p>
        </p:txBody>
      </p:sp>
      <p:sp>
        <p:nvSpPr>
          <p:cNvPr id="83" name="Shape 81"/>
          <p:cNvSpPr/>
          <p:nvPr/>
        </p:nvSpPr>
        <p:spPr>
          <a:xfrm>
            <a:off x="1179576" y="1371600"/>
            <a:ext cx="54864" cy="91"/>
          </a:xfrm>
          <a:prstGeom prst="line">
            <a:avLst/>
          </a:prstGeom>
          <a:noFill/>
          <a:ln w="12700">
            <a:solidFill>
              <a:srgbClr val="133536"/>
            </a:solidFill>
            <a:prstDash val="solid"/>
          </a:ln>
        </p:spPr>
      </p:sp>
      <p:sp>
        <p:nvSpPr>
          <p:cNvPr id="84" name="Text 82"/>
          <p:cNvSpPr/>
          <p:nvPr/>
        </p:nvSpPr>
        <p:spPr>
          <a:xfrm>
            <a:off x="795528" y="12801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85" name="Text 83"/>
          <p:cNvSpPr/>
          <p:nvPr/>
        </p:nvSpPr>
        <p:spPr>
          <a:xfrm rot="16200000">
            <a:off x="96012" y="1815084"/>
            <a:ext cx="114300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level / a.u.</a:t>
            </a:r>
            <a:endParaRPr lang="en-US" sz="1050" dirty="0"/>
          </a:p>
        </p:txBody>
      </p:sp>
      <p:sp>
        <p:nvSpPr>
          <p:cNvPr id="86" name="Shape 84"/>
          <p:cNvSpPr/>
          <p:nvPr/>
        </p:nvSpPr>
        <p:spPr>
          <a:xfrm>
            <a:off x="3931920" y="1371600"/>
            <a:ext cx="91" cy="1143000"/>
          </a:xfrm>
          <a:prstGeom prst="line">
            <a:avLst/>
          </a:prstGeom>
          <a:noFill/>
          <a:ln w="15875">
            <a:solidFill>
              <a:srgbClr val="B8730A"/>
            </a:solidFill>
            <a:prstDash val="dash"/>
          </a:ln>
        </p:spPr>
      </p:sp>
      <p:sp>
        <p:nvSpPr>
          <p:cNvPr id="87" name="Shape 85"/>
          <p:cNvSpPr/>
          <p:nvPr/>
        </p:nvSpPr>
        <p:spPr>
          <a:xfrm>
            <a:off x="1234440" y="2834640"/>
            <a:ext cx="5394960" cy="1143000"/>
          </a:xfrm>
          <a:prstGeom prst="rect">
            <a:avLst/>
          </a:prstGeom>
          <a:solidFill>
            <a:srgbClr val="FFFFFF"/>
          </a:solidFill>
          <a:ln/>
        </p:spPr>
      </p:sp>
      <p:sp>
        <p:nvSpPr>
          <p:cNvPr id="88" name="Shape 86"/>
          <p:cNvSpPr/>
          <p:nvPr/>
        </p:nvSpPr>
        <p:spPr>
          <a:xfrm>
            <a:off x="1234440" y="2834640"/>
            <a:ext cx="91" cy="1143000"/>
          </a:xfrm>
          <a:prstGeom prst="line">
            <a:avLst/>
          </a:prstGeom>
          <a:noFill/>
          <a:ln w="6350">
            <a:solidFill>
              <a:srgbClr val="C5DCD9"/>
            </a:solidFill>
            <a:prstDash val="solid"/>
          </a:ln>
        </p:spPr>
      </p:sp>
      <p:sp>
        <p:nvSpPr>
          <p:cNvPr id="89" name="Shape 87"/>
          <p:cNvSpPr/>
          <p:nvPr/>
        </p:nvSpPr>
        <p:spPr>
          <a:xfrm>
            <a:off x="1427117" y="2834640"/>
            <a:ext cx="91" cy="1143000"/>
          </a:xfrm>
          <a:prstGeom prst="line">
            <a:avLst/>
          </a:prstGeom>
          <a:noFill/>
          <a:ln w="6350">
            <a:solidFill>
              <a:srgbClr val="E3EFED"/>
            </a:solidFill>
            <a:prstDash val="solid"/>
          </a:ln>
        </p:spPr>
      </p:sp>
      <p:sp>
        <p:nvSpPr>
          <p:cNvPr id="90" name="Shape 88"/>
          <p:cNvSpPr/>
          <p:nvPr/>
        </p:nvSpPr>
        <p:spPr>
          <a:xfrm>
            <a:off x="1619794" y="2834640"/>
            <a:ext cx="91" cy="1143000"/>
          </a:xfrm>
          <a:prstGeom prst="line">
            <a:avLst/>
          </a:prstGeom>
          <a:noFill/>
          <a:ln w="6350">
            <a:solidFill>
              <a:srgbClr val="C5DCD9"/>
            </a:solidFill>
            <a:prstDash val="solid"/>
          </a:ln>
        </p:spPr>
      </p:sp>
      <p:sp>
        <p:nvSpPr>
          <p:cNvPr id="91" name="Shape 89"/>
          <p:cNvSpPr/>
          <p:nvPr/>
        </p:nvSpPr>
        <p:spPr>
          <a:xfrm>
            <a:off x="1812471" y="2834640"/>
            <a:ext cx="91" cy="1143000"/>
          </a:xfrm>
          <a:prstGeom prst="line">
            <a:avLst/>
          </a:prstGeom>
          <a:noFill/>
          <a:ln w="6350">
            <a:solidFill>
              <a:srgbClr val="E3EFED"/>
            </a:solidFill>
            <a:prstDash val="solid"/>
          </a:ln>
        </p:spPr>
      </p:sp>
      <p:sp>
        <p:nvSpPr>
          <p:cNvPr id="92" name="Shape 90"/>
          <p:cNvSpPr/>
          <p:nvPr/>
        </p:nvSpPr>
        <p:spPr>
          <a:xfrm>
            <a:off x="2005149" y="2834640"/>
            <a:ext cx="91" cy="1143000"/>
          </a:xfrm>
          <a:prstGeom prst="line">
            <a:avLst/>
          </a:prstGeom>
          <a:noFill/>
          <a:ln w="6350">
            <a:solidFill>
              <a:srgbClr val="C5DCD9"/>
            </a:solidFill>
            <a:prstDash val="solid"/>
          </a:ln>
        </p:spPr>
      </p:sp>
      <p:sp>
        <p:nvSpPr>
          <p:cNvPr id="93" name="Shape 91"/>
          <p:cNvSpPr/>
          <p:nvPr/>
        </p:nvSpPr>
        <p:spPr>
          <a:xfrm>
            <a:off x="2197826" y="2834640"/>
            <a:ext cx="91" cy="1143000"/>
          </a:xfrm>
          <a:prstGeom prst="line">
            <a:avLst/>
          </a:prstGeom>
          <a:noFill/>
          <a:ln w="6350">
            <a:solidFill>
              <a:srgbClr val="E3EFED"/>
            </a:solidFill>
            <a:prstDash val="solid"/>
          </a:ln>
        </p:spPr>
      </p:sp>
      <p:sp>
        <p:nvSpPr>
          <p:cNvPr id="94" name="Shape 92"/>
          <p:cNvSpPr/>
          <p:nvPr/>
        </p:nvSpPr>
        <p:spPr>
          <a:xfrm>
            <a:off x="2390503" y="2834640"/>
            <a:ext cx="91" cy="1143000"/>
          </a:xfrm>
          <a:prstGeom prst="line">
            <a:avLst/>
          </a:prstGeom>
          <a:noFill/>
          <a:ln w="6350">
            <a:solidFill>
              <a:srgbClr val="C5DCD9"/>
            </a:solidFill>
            <a:prstDash val="solid"/>
          </a:ln>
        </p:spPr>
      </p:sp>
      <p:sp>
        <p:nvSpPr>
          <p:cNvPr id="95" name="Shape 93"/>
          <p:cNvSpPr/>
          <p:nvPr/>
        </p:nvSpPr>
        <p:spPr>
          <a:xfrm>
            <a:off x="2583180" y="2834640"/>
            <a:ext cx="91" cy="1143000"/>
          </a:xfrm>
          <a:prstGeom prst="line">
            <a:avLst/>
          </a:prstGeom>
          <a:noFill/>
          <a:ln w="6350">
            <a:solidFill>
              <a:srgbClr val="E3EFED"/>
            </a:solidFill>
            <a:prstDash val="solid"/>
          </a:ln>
        </p:spPr>
      </p:sp>
      <p:sp>
        <p:nvSpPr>
          <p:cNvPr id="96" name="Shape 94"/>
          <p:cNvSpPr/>
          <p:nvPr/>
        </p:nvSpPr>
        <p:spPr>
          <a:xfrm>
            <a:off x="2775857" y="2834640"/>
            <a:ext cx="91" cy="1143000"/>
          </a:xfrm>
          <a:prstGeom prst="line">
            <a:avLst/>
          </a:prstGeom>
          <a:noFill/>
          <a:ln w="6350">
            <a:solidFill>
              <a:srgbClr val="C5DCD9"/>
            </a:solidFill>
            <a:prstDash val="solid"/>
          </a:ln>
        </p:spPr>
      </p:sp>
      <p:sp>
        <p:nvSpPr>
          <p:cNvPr id="97" name="Shape 95"/>
          <p:cNvSpPr/>
          <p:nvPr/>
        </p:nvSpPr>
        <p:spPr>
          <a:xfrm>
            <a:off x="2968534" y="2834640"/>
            <a:ext cx="91" cy="1143000"/>
          </a:xfrm>
          <a:prstGeom prst="line">
            <a:avLst/>
          </a:prstGeom>
          <a:noFill/>
          <a:ln w="6350">
            <a:solidFill>
              <a:srgbClr val="E3EFED"/>
            </a:solidFill>
            <a:prstDash val="solid"/>
          </a:ln>
        </p:spPr>
      </p:sp>
      <p:sp>
        <p:nvSpPr>
          <p:cNvPr id="98" name="Shape 96"/>
          <p:cNvSpPr/>
          <p:nvPr/>
        </p:nvSpPr>
        <p:spPr>
          <a:xfrm>
            <a:off x="3161211" y="2834640"/>
            <a:ext cx="91" cy="1143000"/>
          </a:xfrm>
          <a:prstGeom prst="line">
            <a:avLst/>
          </a:prstGeom>
          <a:noFill/>
          <a:ln w="6350">
            <a:solidFill>
              <a:srgbClr val="C5DCD9"/>
            </a:solidFill>
            <a:prstDash val="solid"/>
          </a:ln>
        </p:spPr>
      </p:sp>
      <p:sp>
        <p:nvSpPr>
          <p:cNvPr id="99" name="Shape 97"/>
          <p:cNvSpPr/>
          <p:nvPr/>
        </p:nvSpPr>
        <p:spPr>
          <a:xfrm>
            <a:off x="3353889" y="2834640"/>
            <a:ext cx="91" cy="1143000"/>
          </a:xfrm>
          <a:prstGeom prst="line">
            <a:avLst/>
          </a:prstGeom>
          <a:noFill/>
          <a:ln w="6350">
            <a:solidFill>
              <a:srgbClr val="E3EFED"/>
            </a:solidFill>
            <a:prstDash val="solid"/>
          </a:ln>
        </p:spPr>
      </p:sp>
      <p:sp>
        <p:nvSpPr>
          <p:cNvPr id="100" name="Shape 98"/>
          <p:cNvSpPr/>
          <p:nvPr/>
        </p:nvSpPr>
        <p:spPr>
          <a:xfrm>
            <a:off x="3546566" y="2834640"/>
            <a:ext cx="91" cy="1143000"/>
          </a:xfrm>
          <a:prstGeom prst="line">
            <a:avLst/>
          </a:prstGeom>
          <a:noFill/>
          <a:ln w="6350">
            <a:solidFill>
              <a:srgbClr val="C5DCD9"/>
            </a:solidFill>
            <a:prstDash val="solid"/>
          </a:ln>
        </p:spPr>
      </p:sp>
      <p:sp>
        <p:nvSpPr>
          <p:cNvPr id="101" name="Shape 99"/>
          <p:cNvSpPr/>
          <p:nvPr/>
        </p:nvSpPr>
        <p:spPr>
          <a:xfrm>
            <a:off x="3739243" y="2834640"/>
            <a:ext cx="91" cy="1143000"/>
          </a:xfrm>
          <a:prstGeom prst="line">
            <a:avLst/>
          </a:prstGeom>
          <a:noFill/>
          <a:ln w="6350">
            <a:solidFill>
              <a:srgbClr val="E3EFED"/>
            </a:solidFill>
            <a:prstDash val="solid"/>
          </a:ln>
        </p:spPr>
      </p:sp>
      <p:sp>
        <p:nvSpPr>
          <p:cNvPr id="102" name="Shape 100"/>
          <p:cNvSpPr/>
          <p:nvPr/>
        </p:nvSpPr>
        <p:spPr>
          <a:xfrm>
            <a:off x="3931920" y="2834640"/>
            <a:ext cx="91" cy="1143000"/>
          </a:xfrm>
          <a:prstGeom prst="line">
            <a:avLst/>
          </a:prstGeom>
          <a:noFill/>
          <a:ln w="6350">
            <a:solidFill>
              <a:srgbClr val="C5DCD9"/>
            </a:solidFill>
            <a:prstDash val="solid"/>
          </a:ln>
        </p:spPr>
      </p:sp>
      <p:sp>
        <p:nvSpPr>
          <p:cNvPr id="103" name="Shape 101"/>
          <p:cNvSpPr/>
          <p:nvPr/>
        </p:nvSpPr>
        <p:spPr>
          <a:xfrm>
            <a:off x="4124597" y="2834640"/>
            <a:ext cx="91" cy="1143000"/>
          </a:xfrm>
          <a:prstGeom prst="line">
            <a:avLst/>
          </a:prstGeom>
          <a:noFill/>
          <a:ln w="6350">
            <a:solidFill>
              <a:srgbClr val="E3EFED"/>
            </a:solidFill>
            <a:prstDash val="solid"/>
          </a:ln>
        </p:spPr>
      </p:sp>
      <p:sp>
        <p:nvSpPr>
          <p:cNvPr id="104" name="Shape 102"/>
          <p:cNvSpPr/>
          <p:nvPr/>
        </p:nvSpPr>
        <p:spPr>
          <a:xfrm>
            <a:off x="4317274" y="2834640"/>
            <a:ext cx="91" cy="1143000"/>
          </a:xfrm>
          <a:prstGeom prst="line">
            <a:avLst/>
          </a:prstGeom>
          <a:noFill/>
          <a:ln w="6350">
            <a:solidFill>
              <a:srgbClr val="C5DCD9"/>
            </a:solidFill>
            <a:prstDash val="solid"/>
          </a:ln>
        </p:spPr>
      </p:sp>
      <p:sp>
        <p:nvSpPr>
          <p:cNvPr id="105" name="Shape 103"/>
          <p:cNvSpPr/>
          <p:nvPr/>
        </p:nvSpPr>
        <p:spPr>
          <a:xfrm>
            <a:off x="4509951" y="2834640"/>
            <a:ext cx="91" cy="1143000"/>
          </a:xfrm>
          <a:prstGeom prst="line">
            <a:avLst/>
          </a:prstGeom>
          <a:noFill/>
          <a:ln w="6350">
            <a:solidFill>
              <a:srgbClr val="E3EFED"/>
            </a:solidFill>
            <a:prstDash val="solid"/>
          </a:ln>
        </p:spPr>
      </p:sp>
      <p:sp>
        <p:nvSpPr>
          <p:cNvPr id="106" name="Shape 104"/>
          <p:cNvSpPr/>
          <p:nvPr/>
        </p:nvSpPr>
        <p:spPr>
          <a:xfrm>
            <a:off x="4702629" y="2834640"/>
            <a:ext cx="91" cy="1143000"/>
          </a:xfrm>
          <a:prstGeom prst="line">
            <a:avLst/>
          </a:prstGeom>
          <a:noFill/>
          <a:ln w="6350">
            <a:solidFill>
              <a:srgbClr val="C5DCD9"/>
            </a:solidFill>
            <a:prstDash val="solid"/>
          </a:ln>
        </p:spPr>
      </p:sp>
      <p:sp>
        <p:nvSpPr>
          <p:cNvPr id="107" name="Shape 105"/>
          <p:cNvSpPr/>
          <p:nvPr/>
        </p:nvSpPr>
        <p:spPr>
          <a:xfrm>
            <a:off x="4895306" y="2834640"/>
            <a:ext cx="91" cy="1143000"/>
          </a:xfrm>
          <a:prstGeom prst="line">
            <a:avLst/>
          </a:prstGeom>
          <a:noFill/>
          <a:ln w="6350">
            <a:solidFill>
              <a:srgbClr val="E3EFED"/>
            </a:solidFill>
            <a:prstDash val="solid"/>
          </a:ln>
        </p:spPr>
      </p:sp>
      <p:sp>
        <p:nvSpPr>
          <p:cNvPr id="108" name="Shape 106"/>
          <p:cNvSpPr/>
          <p:nvPr/>
        </p:nvSpPr>
        <p:spPr>
          <a:xfrm>
            <a:off x="5087983" y="2834640"/>
            <a:ext cx="91" cy="1143000"/>
          </a:xfrm>
          <a:prstGeom prst="line">
            <a:avLst/>
          </a:prstGeom>
          <a:noFill/>
          <a:ln w="6350">
            <a:solidFill>
              <a:srgbClr val="C5DCD9"/>
            </a:solidFill>
            <a:prstDash val="solid"/>
          </a:ln>
        </p:spPr>
      </p:sp>
      <p:sp>
        <p:nvSpPr>
          <p:cNvPr id="109" name="Shape 107"/>
          <p:cNvSpPr/>
          <p:nvPr/>
        </p:nvSpPr>
        <p:spPr>
          <a:xfrm>
            <a:off x="5280660" y="2834640"/>
            <a:ext cx="91" cy="1143000"/>
          </a:xfrm>
          <a:prstGeom prst="line">
            <a:avLst/>
          </a:prstGeom>
          <a:noFill/>
          <a:ln w="6350">
            <a:solidFill>
              <a:srgbClr val="E3EFED"/>
            </a:solidFill>
            <a:prstDash val="solid"/>
          </a:ln>
        </p:spPr>
      </p:sp>
      <p:sp>
        <p:nvSpPr>
          <p:cNvPr id="110" name="Shape 108"/>
          <p:cNvSpPr/>
          <p:nvPr/>
        </p:nvSpPr>
        <p:spPr>
          <a:xfrm>
            <a:off x="5473337" y="2834640"/>
            <a:ext cx="91" cy="1143000"/>
          </a:xfrm>
          <a:prstGeom prst="line">
            <a:avLst/>
          </a:prstGeom>
          <a:noFill/>
          <a:ln w="6350">
            <a:solidFill>
              <a:srgbClr val="C5DCD9"/>
            </a:solidFill>
            <a:prstDash val="solid"/>
          </a:ln>
        </p:spPr>
      </p:sp>
      <p:sp>
        <p:nvSpPr>
          <p:cNvPr id="111" name="Shape 109"/>
          <p:cNvSpPr/>
          <p:nvPr/>
        </p:nvSpPr>
        <p:spPr>
          <a:xfrm>
            <a:off x="5666014" y="2834640"/>
            <a:ext cx="91" cy="1143000"/>
          </a:xfrm>
          <a:prstGeom prst="line">
            <a:avLst/>
          </a:prstGeom>
          <a:noFill/>
          <a:ln w="6350">
            <a:solidFill>
              <a:srgbClr val="E3EFED"/>
            </a:solidFill>
            <a:prstDash val="solid"/>
          </a:ln>
        </p:spPr>
      </p:sp>
      <p:sp>
        <p:nvSpPr>
          <p:cNvPr id="112" name="Shape 110"/>
          <p:cNvSpPr/>
          <p:nvPr/>
        </p:nvSpPr>
        <p:spPr>
          <a:xfrm>
            <a:off x="5858691" y="2834640"/>
            <a:ext cx="91" cy="1143000"/>
          </a:xfrm>
          <a:prstGeom prst="line">
            <a:avLst/>
          </a:prstGeom>
          <a:noFill/>
          <a:ln w="6350">
            <a:solidFill>
              <a:srgbClr val="C5DCD9"/>
            </a:solidFill>
            <a:prstDash val="solid"/>
          </a:ln>
        </p:spPr>
      </p:sp>
      <p:sp>
        <p:nvSpPr>
          <p:cNvPr id="113" name="Shape 111"/>
          <p:cNvSpPr/>
          <p:nvPr/>
        </p:nvSpPr>
        <p:spPr>
          <a:xfrm>
            <a:off x="6051369" y="2834640"/>
            <a:ext cx="91" cy="1143000"/>
          </a:xfrm>
          <a:prstGeom prst="line">
            <a:avLst/>
          </a:prstGeom>
          <a:noFill/>
          <a:ln w="6350">
            <a:solidFill>
              <a:srgbClr val="E3EFED"/>
            </a:solidFill>
            <a:prstDash val="solid"/>
          </a:ln>
        </p:spPr>
      </p:sp>
      <p:sp>
        <p:nvSpPr>
          <p:cNvPr id="114" name="Shape 112"/>
          <p:cNvSpPr/>
          <p:nvPr/>
        </p:nvSpPr>
        <p:spPr>
          <a:xfrm>
            <a:off x="6244046" y="2834640"/>
            <a:ext cx="91" cy="1143000"/>
          </a:xfrm>
          <a:prstGeom prst="line">
            <a:avLst/>
          </a:prstGeom>
          <a:noFill/>
          <a:ln w="6350">
            <a:solidFill>
              <a:srgbClr val="C5DCD9"/>
            </a:solidFill>
            <a:prstDash val="solid"/>
          </a:ln>
        </p:spPr>
      </p:sp>
      <p:sp>
        <p:nvSpPr>
          <p:cNvPr id="115" name="Shape 113"/>
          <p:cNvSpPr/>
          <p:nvPr/>
        </p:nvSpPr>
        <p:spPr>
          <a:xfrm>
            <a:off x="6436723" y="2834640"/>
            <a:ext cx="91" cy="1143000"/>
          </a:xfrm>
          <a:prstGeom prst="line">
            <a:avLst/>
          </a:prstGeom>
          <a:noFill/>
          <a:ln w="6350">
            <a:solidFill>
              <a:srgbClr val="E3EFED"/>
            </a:solidFill>
            <a:prstDash val="solid"/>
          </a:ln>
        </p:spPr>
      </p:sp>
      <p:sp>
        <p:nvSpPr>
          <p:cNvPr id="116" name="Shape 114"/>
          <p:cNvSpPr/>
          <p:nvPr/>
        </p:nvSpPr>
        <p:spPr>
          <a:xfrm>
            <a:off x="6629400" y="2834640"/>
            <a:ext cx="91" cy="1143000"/>
          </a:xfrm>
          <a:prstGeom prst="line">
            <a:avLst/>
          </a:prstGeom>
          <a:noFill/>
          <a:ln w="6350">
            <a:solidFill>
              <a:srgbClr val="C5DCD9"/>
            </a:solidFill>
            <a:prstDash val="solid"/>
          </a:ln>
        </p:spPr>
      </p:sp>
      <p:sp>
        <p:nvSpPr>
          <p:cNvPr id="117" name="Shape 115"/>
          <p:cNvSpPr/>
          <p:nvPr/>
        </p:nvSpPr>
        <p:spPr>
          <a:xfrm>
            <a:off x="1234440" y="3977640"/>
            <a:ext cx="5394960" cy="91"/>
          </a:xfrm>
          <a:prstGeom prst="line">
            <a:avLst/>
          </a:prstGeom>
          <a:noFill/>
          <a:ln w="6350">
            <a:solidFill>
              <a:srgbClr val="C5DCD9"/>
            </a:solidFill>
            <a:prstDash val="solid"/>
          </a:ln>
        </p:spPr>
      </p:sp>
      <p:sp>
        <p:nvSpPr>
          <p:cNvPr id="118" name="Shape 116"/>
          <p:cNvSpPr/>
          <p:nvPr/>
        </p:nvSpPr>
        <p:spPr>
          <a:xfrm>
            <a:off x="1234440" y="3691890"/>
            <a:ext cx="5394960" cy="91"/>
          </a:xfrm>
          <a:prstGeom prst="line">
            <a:avLst/>
          </a:prstGeom>
          <a:noFill/>
          <a:ln w="6350">
            <a:solidFill>
              <a:srgbClr val="E3EFED"/>
            </a:solidFill>
            <a:prstDash val="solid"/>
          </a:ln>
        </p:spPr>
      </p:sp>
      <p:sp>
        <p:nvSpPr>
          <p:cNvPr id="119" name="Shape 117"/>
          <p:cNvSpPr/>
          <p:nvPr/>
        </p:nvSpPr>
        <p:spPr>
          <a:xfrm>
            <a:off x="1234440" y="3406140"/>
            <a:ext cx="5394960" cy="91"/>
          </a:xfrm>
          <a:prstGeom prst="line">
            <a:avLst/>
          </a:prstGeom>
          <a:noFill/>
          <a:ln w="6350">
            <a:solidFill>
              <a:srgbClr val="C5DCD9"/>
            </a:solidFill>
            <a:prstDash val="solid"/>
          </a:ln>
        </p:spPr>
      </p:sp>
      <p:sp>
        <p:nvSpPr>
          <p:cNvPr id="120" name="Shape 118"/>
          <p:cNvSpPr/>
          <p:nvPr/>
        </p:nvSpPr>
        <p:spPr>
          <a:xfrm>
            <a:off x="1234440" y="3120390"/>
            <a:ext cx="5394960" cy="91"/>
          </a:xfrm>
          <a:prstGeom prst="line">
            <a:avLst/>
          </a:prstGeom>
          <a:noFill/>
          <a:ln w="6350">
            <a:solidFill>
              <a:srgbClr val="E3EFED"/>
            </a:solidFill>
            <a:prstDash val="solid"/>
          </a:ln>
        </p:spPr>
      </p:sp>
      <p:sp>
        <p:nvSpPr>
          <p:cNvPr id="121" name="Shape 119"/>
          <p:cNvSpPr/>
          <p:nvPr/>
        </p:nvSpPr>
        <p:spPr>
          <a:xfrm>
            <a:off x="1234440" y="2834640"/>
            <a:ext cx="5394960" cy="91"/>
          </a:xfrm>
          <a:prstGeom prst="line">
            <a:avLst/>
          </a:prstGeom>
          <a:noFill/>
          <a:ln w="6350">
            <a:solidFill>
              <a:srgbClr val="C5DCD9"/>
            </a:solidFill>
            <a:prstDash val="solid"/>
          </a:ln>
        </p:spPr>
      </p:sp>
      <p:sp>
        <p:nvSpPr>
          <p:cNvPr id="122" name="Shape 120"/>
          <p:cNvSpPr/>
          <p:nvPr/>
        </p:nvSpPr>
        <p:spPr>
          <a:xfrm>
            <a:off x="1234440" y="3977640"/>
            <a:ext cx="5394960" cy="91"/>
          </a:xfrm>
          <a:prstGeom prst="line">
            <a:avLst/>
          </a:prstGeom>
          <a:noFill/>
          <a:ln w="19050">
            <a:solidFill>
              <a:srgbClr val="133536"/>
            </a:solidFill>
            <a:prstDash val="solid"/>
          </a:ln>
        </p:spPr>
      </p:sp>
      <p:sp>
        <p:nvSpPr>
          <p:cNvPr id="123" name="Shape 121"/>
          <p:cNvSpPr/>
          <p:nvPr/>
        </p:nvSpPr>
        <p:spPr>
          <a:xfrm flipV="1">
            <a:off x="1234440" y="2834640"/>
            <a:ext cx="91" cy="1143000"/>
          </a:xfrm>
          <a:prstGeom prst="line">
            <a:avLst/>
          </a:prstGeom>
          <a:noFill/>
          <a:ln w="19050">
            <a:solidFill>
              <a:srgbClr val="133536"/>
            </a:solidFill>
            <a:prstDash val="solid"/>
          </a:ln>
        </p:spPr>
      </p:sp>
      <p:sp>
        <p:nvSpPr>
          <p:cNvPr id="124" name="Shape 122"/>
          <p:cNvSpPr/>
          <p:nvPr/>
        </p:nvSpPr>
        <p:spPr>
          <a:xfrm>
            <a:off x="1234440" y="3977640"/>
            <a:ext cx="91" cy="54864"/>
          </a:xfrm>
          <a:prstGeom prst="line">
            <a:avLst/>
          </a:prstGeom>
          <a:noFill/>
          <a:ln w="12700">
            <a:solidFill>
              <a:srgbClr val="133536"/>
            </a:solidFill>
            <a:prstDash val="solid"/>
          </a:ln>
        </p:spPr>
      </p:sp>
      <p:sp>
        <p:nvSpPr>
          <p:cNvPr id="125" name="Text 123"/>
          <p:cNvSpPr/>
          <p:nvPr/>
        </p:nvSpPr>
        <p:spPr>
          <a:xfrm>
            <a:off x="960120" y="40325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126" name="Shape 124"/>
          <p:cNvSpPr/>
          <p:nvPr/>
        </p:nvSpPr>
        <p:spPr>
          <a:xfrm>
            <a:off x="1619794" y="3977640"/>
            <a:ext cx="91" cy="54864"/>
          </a:xfrm>
          <a:prstGeom prst="line">
            <a:avLst/>
          </a:prstGeom>
          <a:noFill/>
          <a:ln w="12700">
            <a:solidFill>
              <a:srgbClr val="133536"/>
            </a:solidFill>
            <a:prstDash val="solid"/>
          </a:ln>
        </p:spPr>
      </p:sp>
      <p:sp>
        <p:nvSpPr>
          <p:cNvPr id="127" name="Text 125"/>
          <p:cNvSpPr/>
          <p:nvPr/>
        </p:nvSpPr>
        <p:spPr>
          <a:xfrm>
            <a:off x="1345474" y="40325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128" name="Shape 126"/>
          <p:cNvSpPr/>
          <p:nvPr/>
        </p:nvSpPr>
        <p:spPr>
          <a:xfrm>
            <a:off x="2005149" y="3977640"/>
            <a:ext cx="91" cy="54864"/>
          </a:xfrm>
          <a:prstGeom prst="line">
            <a:avLst/>
          </a:prstGeom>
          <a:noFill/>
          <a:ln w="12700">
            <a:solidFill>
              <a:srgbClr val="133536"/>
            </a:solidFill>
            <a:prstDash val="solid"/>
          </a:ln>
        </p:spPr>
      </p:sp>
      <p:sp>
        <p:nvSpPr>
          <p:cNvPr id="129" name="Text 127"/>
          <p:cNvSpPr/>
          <p:nvPr/>
        </p:nvSpPr>
        <p:spPr>
          <a:xfrm>
            <a:off x="1730829" y="40325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130" name="Shape 128"/>
          <p:cNvSpPr/>
          <p:nvPr/>
        </p:nvSpPr>
        <p:spPr>
          <a:xfrm>
            <a:off x="2390503" y="3977640"/>
            <a:ext cx="91" cy="54864"/>
          </a:xfrm>
          <a:prstGeom prst="line">
            <a:avLst/>
          </a:prstGeom>
          <a:noFill/>
          <a:ln w="12700">
            <a:solidFill>
              <a:srgbClr val="133536"/>
            </a:solidFill>
            <a:prstDash val="solid"/>
          </a:ln>
        </p:spPr>
      </p:sp>
      <p:sp>
        <p:nvSpPr>
          <p:cNvPr id="131" name="Text 129"/>
          <p:cNvSpPr/>
          <p:nvPr/>
        </p:nvSpPr>
        <p:spPr>
          <a:xfrm>
            <a:off x="2116183" y="40325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132" name="Shape 130"/>
          <p:cNvSpPr/>
          <p:nvPr/>
        </p:nvSpPr>
        <p:spPr>
          <a:xfrm>
            <a:off x="2775857" y="3977640"/>
            <a:ext cx="91" cy="54864"/>
          </a:xfrm>
          <a:prstGeom prst="line">
            <a:avLst/>
          </a:prstGeom>
          <a:noFill/>
          <a:ln w="12700">
            <a:solidFill>
              <a:srgbClr val="133536"/>
            </a:solidFill>
            <a:prstDash val="solid"/>
          </a:ln>
        </p:spPr>
      </p:sp>
      <p:sp>
        <p:nvSpPr>
          <p:cNvPr id="133" name="Text 131"/>
          <p:cNvSpPr/>
          <p:nvPr/>
        </p:nvSpPr>
        <p:spPr>
          <a:xfrm>
            <a:off x="2501537" y="40325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134" name="Shape 132"/>
          <p:cNvSpPr/>
          <p:nvPr/>
        </p:nvSpPr>
        <p:spPr>
          <a:xfrm>
            <a:off x="3161211" y="3977640"/>
            <a:ext cx="91" cy="54864"/>
          </a:xfrm>
          <a:prstGeom prst="line">
            <a:avLst/>
          </a:prstGeom>
          <a:noFill/>
          <a:ln w="12700">
            <a:solidFill>
              <a:srgbClr val="133536"/>
            </a:solidFill>
            <a:prstDash val="solid"/>
          </a:ln>
        </p:spPr>
      </p:sp>
      <p:sp>
        <p:nvSpPr>
          <p:cNvPr id="135" name="Text 133"/>
          <p:cNvSpPr/>
          <p:nvPr/>
        </p:nvSpPr>
        <p:spPr>
          <a:xfrm>
            <a:off x="2886891" y="40325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136" name="Shape 134"/>
          <p:cNvSpPr/>
          <p:nvPr/>
        </p:nvSpPr>
        <p:spPr>
          <a:xfrm>
            <a:off x="3546566" y="3977640"/>
            <a:ext cx="91" cy="54864"/>
          </a:xfrm>
          <a:prstGeom prst="line">
            <a:avLst/>
          </a:prstGeom>
          <a:noFill/>
          <a:ln w="12700">
            <a:solidFill>
              <a:srgbClr val="133536"/>
            </a:solidFill>
            <a:prstDash val="solid"/>
          </a:ln>
        </p:spPr>
      </p:sp>
      <p:sp>
        <p:nvSpPr>
          <p:cNvPr id="137" name="Text 135"/>
          <p:cNvSpPr/>
          <p:nvPr/>
        </p:nvSpPr>
        <p:spPr>
          <a:xfrm>
            <a:off x="3272246" y="40325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12</a:t>
            </a:r>
            <a:endParaRPr lang="en-US" sz="1000" dirty="0"/>
          </a:p>
        </p:txBody>
      </p:sp>
      <p:sp>
        <p:nvSpPr>
          <p:cNvPr id="138" name="Shape 136"/>
          <p:cNvSpPr/>
          <p:nvPr/>
        </p:nvSpPr>
        <p:spPr>
          <a:xfrm>
            <a:off x="3931920" y="3977640"/>
            <a:ext cx="91" cy="54864"/>
          </a:xfrm>
          <a:prstGeom prst="line">
            <a:avLst/>
          </a:prstGeom>
          <a:noFill/>
          <a:ln w="12700">
            <a:solidFill>
              <a:srgbClr val="133536"/>
            </a:solidFill>
            <a:prstDash val="solid"/>
          </a:ln>
        </p:spPr>
      </p:sp>
      <p:sp>
        <p:nvSpPr>
          <p:cNvPr id="139" name="Text 137"/>
          <p:cNvSpPr/>
          <p:nvPr/>
        </p:nvSpPr>
        <p:spPr>
          <a:xfrm>
            <a:off x="3657600" y="40325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14</a:t>
            </a:r>
            <a:endParaRPr lang="en-US" sz="1000" dirty="0"/>
          </a:p>
        </p:txBody>
      </p:sp>
      <p:sp>
        <p:nvSpPr>
          <p:cNvPr id="140" name="Shape 138"/>
          <p:cNvSpPr/>
          <p:nvPr/>
        </p:nvSpPr>
        <p:spPr>
          <a:xfrm>
            <a:off x="4317274" y="3977640"/>
            <a:ext cx="91" cy="54864"/>
          </a:xfrm>
          <a:prstGeom prst="line">
            <a:avLst/>
          </a:prstGeom>
          <a:noFill/>
          <a:ln w="12700">
            <a:solidFill>
              <a:srgbClr val="133536"/>
            </a:solidFill>
            <a:prstDash val="solid"/>
          </a:ln>
        </p:spPr>
      </p:sp>
      <p:sp>
        <p:nvSpPr>
          <p:cNvPr id="141" name="Text 139"/>
          <p:cNvSpPr/>
          <p:nvPr/>
        </p:nvSpPr>
        <p:spPr>
          <a:xfrm>
            <a:off x="4042954" y="40325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16</a:t>
            </a:r>
            <a:endParaRPr lang="en-US" sz="1000" dirty="0"/>
          </a:p>
        </p:txBody>
      </p:sp>
      <p:sp>
        <p:nvSpPr>
          <p:cNvPr id="142" name="Shape 140"/>
          <p:cNvSpPr/>
          <p:nvPr/>
        </p:nvSpPr>
        <p:spPr>
          <a:xfrm>
            <a:off x="4702629" y="3977640"/>
            <a:ext cx="91" cy="54864"/>
          </a:xfrm>
          <a:prstGeom prst="line">
            <a:avLst/>
          </a:prstGeom>
          <a:noFill/>
          <a:ln w="12700">
            <a:solidFill>
              <a:srgbClr val="133536"/>
            </a:solidFill>
            <a:prstDash val="solid"/>
          </a:ln>
        </p:spPr>
      </p:sp>
      <p:sp>
        <p:nvSpPr>
          <p:cNvPr id="143" name="Text 141"/>
          <p:cNvSpPr/>
          <p:nvPr/>
        </p:nvSpPr>
        <p:spPr>
          <a:xfrm>
            <a:off x="4428309" y="40325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18</a:t>
            </a:r>
            <a:endParaRPr lang="en-US" sz="1000" dirty="0"/>
          </a:p>
        </p:txBody>
      </p:sp>
      <p:sp>
        <p:nvSpPr>
          <p:cNvPr id="144" name="Shape 142"/>
          <p:cNvSpPr/>
          <p:nvPr/>
        </p:nvSpPr>
        <p:spPr>
          <a:xfrm>
            <a:off x="5087983" y="3977640"/>
            <a:ext cx="91" cy="54864"/>
          </a:xfrm>
          <a:prstGeom prst="line">
            <a:avLst/>
          </a:prstGeom>
          <a:noFill/>
          <a:ln w="12700">
            <a:solidFill>
              <a:srgbClr val="133536"/>
            </a:solidFill>
            <a:prstDash val="solid"/>
          </a:ln>
        </p:spPr>
      </p:sp>
      <p:sp>
        <p:nvSpPr>
          <p:cNvPr id="145" name="Text 143"/>
          <p:cNvSpPr/>
          <p:nvPr/>
        </p:nvSpPr>
        <p:spPr>
          <a:xfrm>
            <a:off x="4813663" y="40325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146" name="Shape 144"/>
          <p:cNvSpPr/>
          <p:nvPr/>
        </p:nvSpPr>
        <p:spPr>
          <a:xfrm>
            <a:off x="5473337" y="3977640"/>
            <a:ext cx="91" cy="54864"/>
          </a:xfrm>
          <a:prstGeom prst="line">
            <a:avLst/>
          </a:prstGeom>
          <a:noFill/>
          <a:ln w="12700">
            <a:solidFill>
              <a:srgbClr val="133536"/>
            </a:solidFill>
            <a:prstDash val="solid"/>
          </a:ln>
        </p:spPr>
      </p:sp>
      <p:sp>
        <p:nvSpPr>
          <p:cNvPr id="147" name="Text 145"/>
          <p:cNvSpPr/>
          <p:nvPr/>
        </p:nvSpPr>
        <p:spPr>
          <a:xfrm>
            <a:off x="5199017" y="40325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22</a:t>
            </a:r>
            <a:endParaRPr lang="en-US" sz="1000" dirty="0"/>
          </a:p>
        </p:txBody>
      </p:sp>
      <p:sp>
        <p:nvSpPr>
          <p:cNvPr id="148" name="Shape 146"/>
          <p:cNvSpPr/>
          <p:nvPr/>
        </p:nvSpPr>
        <p:spPr>
          <a:xfrm>
            <a:off x="5858691" y="3977640"/>
            <a:ext cx="91" cy="54864"/>
          </a:xfrm>
          <a:prstGeom prst="line">
            <a:avLst/>
          </a:prstGeom>
          <a:noFill/>
          <a:ln w="12700">
            <a:solidFill>
              <a:srgbClr val="133536"/>
            </a:solidFill>
            <a:prstDash val="solid"/>
          </a:ln>
        </p:spPr>
      </p:sp>
      <p:sp>
        <p:nvSpPr>
          <p:cNvPr id="149" name="Text 147"/>
          <p:cNvSpPr/>
          <p:nvPr/>
        </p:nvSpPr>
        <p:spPr>
          <a:xfrm>
            <a:off x="5584371" y="40325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24</a:t>
            </a:r>
            <a:endParaRPr lang="en-US" sz="1000" dirty="0"/>
          </a:p>
        </p:txBody>
      </p:sp>
      <p:sp>
        <p:nvSpPr>
          <p:cNvPr id="150" name="Shape 148"/>
          <p:cNvSpPr/>
          <p:nvPr/>
        </p:nvSpPr>
        <p:spPr>
          <a:xfrm>
            <a:off x="6244046" y="3977640"/>
            <a:ext cx="91" cy="54864"/>
          </a:xfrm>
          <a:prstGeom prst="line">
            <a:avLst/>
          </a:prstGeom>
          <a:noFill/>
          <a:ln w="12700">
            <a:solidFill>
              <a:srgbClr val="133536"/>
            </a:solidFill>
            <a:prstDash val="solid"/>
          </a:ln>
        </p:spPr>
      </p:sp>
      <p:sp>
        <p:nvSpPr>
          <p:cNvPr id="151" name="Text 149"/>
          <p:cNvSpPr/>
          <p:nvPr/>
        </p:nvSpPr>
        <p:spPr>
          <a:xfrm>
            <a:off x="5969726" y="40325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26</a:t>
            </a:r>
            <a:endParaRPr lang="en-US" sz="1000" dirty="0"/>
          </a:p>
        </p:txBody>
      </p:sp>
      <p:sp>
        <p:nvSpPr>
          <p:cNvPr id="152" name="Shape 150"/>
          <p:cNvSpPr/>
          <p:nvPr/>
        </p:nvSpPr>
        <p:spPr>
          <a:xfrm>
            <a:off x="6629400" y="3977640"/>
            <a:ext cx="91" cy="54864"/>
          </a:xfrm>
          <a:prstGeom prst="line">
            <a:avLst/>
          </a:prstGeom>
          <a:noFill/>
          <a:ln w="12700">
            <a:solidFill>
              <a:srgbClr val="133536"/>
            </a:solidFill>
            <a:prstDash val="solid"/>
          </a:ln>
        </p:spPr>
      </p:sp>
      <p:sp>
        <p:nvSpPr>
          <p:cNvPr id="153" name="Text 151"/>
          <p:cNvSpPr/>
          <p:nvPr/>
        </p:nvSpPr>
        <p:spPr>
          <a:xfrm>
            <a:off x="6355080" y="40325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28</a:t>
            </a:r>
            <a:endParaRPr lang="en-US" sz="1000" dirty="0"/>
          </a:p>
        </p:txBody>
      </p:sp>
      <p:sp>
        <p:nvSpPr>
          <p:cNvPr id="154" name="Shape 152"/>
          <p:cNvSpPr/>
          <p:nvPr/>
        </p:nvSpPr>
        <p:spPr>
          <a:xfrm>
            <a:off x="1179576" y="3977640"/>
            <a:ext cx="54864" cy="91"/>
          </a:xfrm>
          <a:prstGeom prst="line">
            <a:avLst/>
          </a:prstGeom>
          <a:noFill/>
          <a:ln w="12700">
            <a:solidFill>
              <a:srgbClr val="133536"/>
            </a:solidFill>
            <a:prstDash val="solid"/>
          </a:ln>
        </p:spPr>
      </p:sp>
      <p:sp>
        <p:nvSpPr>
          <p:cNvPr id="155" name="Text 153"/>
          <p:cNvSpPr/>
          <p:nvPr/>
        </p:nvSpPr>
        <p:spPr>
          <a:xfrm>
            <a:off x="795528" y="38862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156" name="Shape 154"/>
          <p:cNvSpPr/>
          <p:nvPr/>
        </p:nvSpPr>
        <p:spPr>
          <a:xfrm>
            <a:off x="1179576" y="3406140"/>
            <a:ext cx="54864" cy="91"/>
          </a:xfrm>
          <a:prstGeom prst="line">
            <a:avLst/>
          </a:prstGeom>
          <a:noFill/>
          <a:ln w="12700">
            <a:solidFill>
              <a:srgbClr val="133536"/>
            </a:solidFill>
            <a:prstDash val="solid"/>
          </a:ln>
        </p:spPr>
      </p:sp>
      <p:sp>
        <p:nvSpPr>
          <p:cNvPr id="157" name="Text 155"/>
          <p:cNvSpPr/>
          <p:nvPr/>
        </p:nvSpPr>
        <p:spPr>
          <a:xfrm>
            <a:off x="795528" y="33147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50</a:t>
            </a:r>
            <a:endParaRPr lang="en-US" sz="1000" dirty="0"/>
          </a:p>
        </p:txBody>
      </p:sp>
      <p:sp>
        <p:nvSpPr>
          <p:cNvPr id="158" name="Shape 156"/>
          <p:cNvSpPr/>
          <p:nvPr/>
        </p:nvSpPr>
        <p:spPr>
          <a:xfrm>
            <a:off x="1179576" y="2834640"/>
            <a:ext cx="54864" cy="91"/>
          </a:xfrm>
          <a:prstGeom prst="line">
            <a:avLst/>
          </a:prstGeom>
          <a:noFill/>
          <a:ln w="12700">
            <a:solidFill>
              <a:srgbClr val="133536"/>
            </a:solidFill>
            <a:prstDash val="solid"/>
          </a:ln>
        </p:spPr>
      </p:sp>
      <p:sp>
        <p:nvSpPr>
          <p:cNvPr id="159" name="Text 157"/>
          <p:cNvSpPr/>
          <p:nvPr/>
        </p:nvSpPr>
        <p:spPr>
          <a:xfrm>
            <a:off x="795528" y="27432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160" name="Text 158"/>
          <p:cNvSpPr/>
          <p:nvPr/>
        </p:nvSpPr>
        <p:spPr>
          <a:xfrm rot="16200000">
            <a:off x="96012" y="3278124"/>
            <a:ext cx="114300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level / a.u.</a:t>
            </a:r>
            <a:endParaRPr lang="en-US" sz="1050" dirty="0"/>
          </a:p>
        </p:txBody>
      </p:sp>
      <p:sp>
        <p:nvSpPr>
          <p:cNvPr id="161" name="Shape 159"/>
          <p:cNvSpPr/>
          <p:nvPr/>
        </p:nvSpPr>
        <p:spPr>
          <a:xfrm>
            <a:off x="3931920" y="2834640"/>
            <a:ext cx="91" cy="1143000"/>
          </a:xfrm>
          <a:prstGeom prst="line">
            <a:avLst/>
          </a:prstGeom>
          <a:noFill/>
          <a:ln w="15875">
            <a:solidFill>
              <a:srgbClr val="B8730A"/>
            </a:solidFill>
            <a:prstDash val="dash"/>
          </a:ln>
        </p:spPr>
      </p:sp>
      <p:sp>
        <p:nvSpPr>
          <p:cNvPr id="162" name="Shape 160"/>
          <p:cNvSpPr/>
          <p:nvPr/>
        </p:nvSpPr>
        <p:spPr>
          <a:xfrm>
            <a:off x="1234440" y="4279392"/>
            <a:ext cx="5394960" cy="731520"/>
          </a:xfrm>
          <a:prstGeom prst="rect">
            <a:avLst/>
          </a:prstGeom>
          <a:solidFill>
            <a:srgbClr val="FFFFFF"/>
          </a:solidFill>
          <a:ln/>
        </p:spPr>
      </p:sp>
      <p:sp>
        <p:nvSpPr>
          <p:cNvPr id="163" name="Shape 161"/>
          <p:cNvSpPr/>
          <p:nvPr/>
        </p:nvSpPr>
        <p:spPr>
          <a:xfrm>
            <a:off x="1234440" y="4279392"/>
            <a:ext cx="91" cy="731520"/>
          </a:xfrm>
          <a:prstGeom prst="line">
            <a:avLst/>
          </a:prstGeom>
          <a:noFill/>
          <a:ln w="6350">
            <a:solidFill>
              <a:srgbClr val="C5DCD9"/>
            </a:solidFill>
            <a:prstDash val="solid"/>
          </a:ln>
        </p:spPr>
      </p:sp>
      <p:sp>
        <p:nvSpPr>
          <p:cNvPr id="164" name="Shape 162"/>
          <p:cNvSpPr/>
          <p:nvPr/>
        </p:nvSpPr>
        <p:spPr>
          <a:xfrm>
            <a:off x="1619794" y="4279392"/>
            <a:ext cx="91" cy="731520"/>
          </a:xfrm>
          <a:prstGeom prst="line">
            <a:avLst/>
          </a:prstGeom>
          <a:noFill/>
          <a:ln w="6350">
            <a:solidFill>
              <a:srgbClr val="C5DCD9"/>
            </a:solidFill>
            <a:prstDash val="solid"/>
          </a:ln>
        </p:spPr>
      </p:sp>
      <p:sp>
        <p:nvSpPr>
          <p:cNvPr id="165" name="Shape 163"/>
          <p:cNvSpPr/>
          <p:nvPr/>
        </p:nvSpPr>
        <p:spPr>
          <a:xfrm>
            <a:off x="2005149" y="4279392"/>
            <a:ext cx="91" cy="731520"/>
          </a:xfrm>
          <a:prstGeom prst="line">
            <a:avLst/>
          </a:prstGeom>
          <a:noFill/>
          <a:ln w="6350">
            <a:solidFill>
              <a:srgbClr val="C5DCD9"/>
            </a:solidFill>
            <a:prstDash val="solid"/>
          </a:ln>
        </p:spPr>
      </p:sp>
      <p:sp>
        <p:nvSpPr>
          <p:cNvPr id="166" name="Shape 164"/>
          <p:cNvSpPr/>
          <p:nvPr/>
        </p:nvSpPr>
        <p:spPr>
          <a:xfrm>
            <a:off x="2390503" y="4279392"/>
            <a:ext cx="91" cy="731520"/>
          </a:xfrm>
          <a:prstGeom prst="line">
            <a:avLst/>
          </a:prstGeom>
          <a:noFill/>
          <a:ln w="6350">
            <a:solidFill>
              <a:srgbClr val="C5DCD9"/>
            </a:solidFill>
            <a:prstDash val="solid"/>
          </a:ln>
        </p:spPr>
      </p:sp>
      <p:sp>
        <p:nvSpPr>
          <p:cNvPr id="167" name="Shape 165"/>
          <p:cNvSpPr/>
          <p:nvPr/>
        </p:nvSpPr>
        <p:spPr>
          <a:xfrm>
            <a:off x="2775857" y="4279392"/>
            <a:ext cx="91" cy="731520"/>
          </a:xfrm>
          <a:prstGeom prst="line">
            <a:avLst/>
          </a:prstGeom>
          <a:noFill/>
          <a:ln w="6350">
            <a:solidFill>
              <a:srgbClr val="C5DCD9"/>
            </a:solidFill>
            <a:prstDash val="solid"/>
          </a:ln>
        </p:spPr>
      </p:sp>
      <p:sp>
        <p:nvSpPr>
          <p:cNvPr id="168" name="Shape 166"/>
          <p:cNvSpPr/>
          <p:nvPr/>
        </p:nvSpPr>
        <p:spPr>
          <a:xfrm>
            <a:off x="3161211" y="4279392"/>
            <a:ext cx="91" cy="731520"/>
          </a:xfrm>
          <a:prstGeom prst="line">
            <a:avLst/>
          </a:prstGeom>
          <a:noFill/>
          <a:ln w="6350">
            <a:solidFill>
              <a:srgbClr val="C5DCD9"/>
            </a:solidFill>
            <a:prstDash val="solid"/>
          </a:ln>
        </p:spPr>
      </p:sp>
      <p:sp>
        <p:nvSpPr>
          <p:cNvPr id="169" name="Shape 167"/>
          <p:cNvSpPr/>
          <p:nvPr/>
        </p:nvSpPr>
        <p:spPr>
          <a:xfrm>
            <a:off x="3546566" y="4279392"/>
            <a:ext cx="91" cy="731520"/>
          </a:xfrm>
          <a:prstGeom prst="line">
            <a:avLst/>
          </a:prstGeom>
          <a:noFill/>
          <a:ln w="6350">
            <a:solidFill>
              <a:srgbClr val="C5DCD9"/>
            </a:solidFill>
            <a:prstDash val="solid"/>
          </a:ln>
        </p:spPr>
      </p:sp>
      <p:sp>
        <p:nvSpPr>
          <p:cNvPr id="170" name="Shape 168"/>
          <p:cNvSpPr/>
          <p:nvPr/>
        </p:nvSpPr>
        <p:spPr>
          <a:xfrm>
            <a:off x="3931920" y="4279392"/>
            <a:ext cx="91" cy="731520"/>
          </a:xfrm>
          <a:prstGeom prst="line">
            <a:avLst/>
          </a:prstGeom>
          <a:noFill/>
          <a:ln w="6350">
            <a:solidFill>
              <a:srgbClr val="C5DCD9"/>
            </a:solidFill>
            <a:prstDash val="solid"/>
          </a:ln>
        </p:spPr>
      </p:sp>
      <p:sp>
        <p:nvSpPr>
          <p:cNvPr id="171" name="Shape 169"/>
          <p:cNvSpPr/>
          <p:nvPr/>
        </p:nvSpPr>
        <p:spPr>
          <a:xfrm>
            <a:off x="4317274" y="4279392"/>
            <a:ext cx="91" cy="731520"/>
          </a:xfrm>
          <a:prstGeom prst="line">
            <a:avLst/>
          </a:prstGeom>
          <a:noFill/>
          <a:ln w="6350">
            <a:solidFill>
              <a:srgbClr val="C5DCD9"/>
            </a:solidFill>
            <a:prstDash val="solid"/>
          </a:ln>
        </p:spPr>
      </p:sp>
      <p:sp>
        <p:nvSpPr>
          <p:cNvPr id="172" name="Shape 170"/>
          <p:cNvSpPr/>
          <p:nvPr/>
        </p:nvSpPr>
        <p:spPr>
          <a:xfrm>
            <a:off x="4702629" y="4279392"/>
            <a:ext cx="91" cy="731520"/>
          </a:xfrm>
          <a:prstGeom prst="line">
            <a:avLst/>
          </a:prstGeom>
          <a:noFill/>
          <a:ln w="6350">
            <a:solidFill>
              <a:srgbClr val="C5DCD9"/>
            </a:solidFill>
            <a:prstDash val="solid"/>
          </a:ln>
        </p:spPr>
      </p:sp>
      <p:sp>
        <p:nvSpPr>
          <p:cNvPr id="173" name="Shape 171"/>
          <p:cNvSpPr/>
          <p:nvPr/>
        </p:nvSpPr>
        <p:spPr>
          <a:xfrm>
            <a:off x="5087983" y="4279392"/>
            <a:ext cx="91" cy="731520"/>
          </a:xfrm>
          <a:prstGeom prst="line">
            <a:avLst/>
          </a:prstGeom>
          <a:noFill/>
          <a:ln w="6350">
            <a:solidFill>
              <a:srgbClr val="C5DCD9"/>
            </a:solidFill>
            <a:prstDash val="solid"/>
          </a:ln>
        </p:spPr>
      </p:sp>
      <p:sp>
        <p:nvSpPr>
          <p:cNvPr id="174" name="Shape 172"/>
          <p:cNvSpPr/>
          <p:nvPr/>
        </p:nvSpPr>
        <p:spPr>
          <a:xfrm>
            <a:off x="5473337" y="4279392"/>
            <a:ext cx="91" cy="731520"/>
          </a:xfrm>
          <a:prstGeom prst="line">
            <a:avLst/>
          </a:prstGeom>
          <a:noFill/>
          <a:ln w="6350">
            <a:solidFill>
              <a:srgbClr val="C5DCD9"/>
            </a:solidFill>
            <a:prstDash val="solid"/>
          </a:ln>
        </p:spPr>
      </p:sp>
      <p:sp>
        <p:nvSpPr>
          <p:cNvPr id="175" name="Shape 173"/>
          <p:cNvSpPr/>
          <p:nvPr/>
        </p:nvSpPr>
        <p:spPr>
          <a:xfrm>
            <a:off x="5858691" y="4279392"/>
            <a:ext cx="91" cy="731520"/>
          </a:xfrm>
          <a:prstGeom prst="line">
            <a:avLst/>
          </a:prstGeom>
          <a:noFill/>
          <a:ln w="6350">
            <a:solidFill>
              <a:srgbClr val="C5DCD9"/>
            </a:solidFill>
            <a:prstDash val="solid"/>
          </a:ln>
        </p:spPr>
      </p:sp>
      <p:sp>
        <p:nvSpPr>
          <p:cNvPr id="176" name="Shape 174"/>
          <p:cNvSpPr/>
          <p:nvPr/>
        </p:nvSpPr>
        <p:spPr>
          <a:xfrm>
            <a:off x="6244046" y="4279392"/>
            <a:ext cx="91" cy="731520"/>
          </a:xfrm>
          <a:prstGeom prst="line">
            <a:avLst/>
          </a:prstGeom>
          <a:noFill/>
          <a:ln w="6350">
            <a:solidFill>
              <a:srgbClr val="C5DCD9"/>
            </a:solidFill>
            <a:prstDash val="solid"/>
          </a:ln>
        </p:spPr>
      </p:sp>
      <p:sp>
        <p:nvSpPr>
          <p:cNvPr id="177" name="Shape 175"/>
          <p:cNvSpPr/>
          <p:nvPr/>
        </p:nvSpPr>
        <p:spPr>
          <a:xfrm>
            <a:off x="6629400" y="4279392"/>
            <a:ext cx="91" cy="731520"/>
          </a:xfrm>
          <a:prstGeom prst="line">
            <a:avLst/>
          </a:prstGeom>
          <a:noFill/>
          <a:ln w="6350">
            <a:solidFill>
              <a:srgbClr val="C5DCD9"/>
            </a:solidFill>
            <a:prstDash val="solid"/>
          </a:ln>
        </p:spPr>
      </p:sp>
      <p:sp>
        <p:nvSpPr>
          <p:cNvPr id="178" name="Shape 176"/>
          <p:cNvSpPr/>
          <p:nvPr/>
        </p:nvSpPr>
        <p:spPr>
          <a:xfrm>
            <a:off x="1234440" y="5010912"/>
            <a:ext cx="5394960" cy="91"/>
          </a:xfrm>
          <a:prstGeom prst="line">
            <a:avLst/>
          </a:prstGeom>
          <a:noFill/>
          <a:ln w="6350">
            <a:solidFill>
              <a:srgbClr val="C5DCD9"/>
            </a:solidFill>
            <a:prstDash val="solid"/>
          </a:ln>
        </p:spPr>
      </p:sp>
      <p:sp>
        <p:nvSpPr>
          <p:cNvPr id="179" name="Shape 177"/>
          <p:cNvSpPr/>
          <p:nvPr/>
        </p:nvSpPr>
        <p:spPr>
          <a:xfrm>
            <a:off x="1234440" y="4279392"/>
            <a:ext cx="5394960" cy="91"/>
          </a:xfrm>
          <a:prstGeom prst="line">
            <a:avLst/>
          </a:prstGeom>
          <a:noFill/>
          <a:ln w="6350">
            <a:solidFill>
              <a:srgbClr val="C5DCD9"/>
            </a:solidFill>
            <a:prstDash val="solid"/>
          </a:ln>
        </p:spPr>
      </p:sp>
      <p:sp>
        <p:nvSpPr>
          <p:cNvPr id="180" name="Shape 178"/>
          <p:cNvSpPr/>
          <p:nvPr/>
        </p:nvSpPr>
        <p:spPr>
          <a:xfrm>
            <a:off x="1234440" y="5010912"/>
            <a:ext cx="5394960" cy="91"/>
          </a:xfrm>
          <a:prstGeom prst="line">
            <a:avLst/>
          </a:prstGeom>
          <a:noFill/>
          <a:ln w="19050">
            <a:solidFill>
              <a:srgbClr val="133536"/>
            </a:solidFill>
            <a:prstDash val="solid"/>
          </a:ln>
        </p:spPr>
      </p:sp>
      <p:sp>
        <p:nvSpPr>
          <p:cNvPr id="181" name="Shape 179"/>
          <p:cNvSpPr/>
          <p:nvPr/>
        </p:nvSpPr>
        <p:spPr>
          <a:xfrm flipV="1">
            <a:off x="1234440" y="4279392"/>
            <a:ext cx="91" cy="731520"/>
          </a:xfrm>
          <a:prstGeom prst="line">
            <a:avLst/>
          </a:prstGeom>
          <a:noFill/>
          <a:ln w="19050">
            <a:solidFill>
              <a:srgbClr val="133536"/>
            </a:solidFill>
            <a:prstDash val="solid"/>
          </a:ln>
        </p:spPr>
      </p:sp>
      <p:sp>
        <p:nvSpPr>
          <p:cNvPr id="182" name="Shape 180"/>
          <p:cNvSpPr/>
          <p:nvPr/>
        </p:nvSpPr>
        <p:spPr>
          <a:xfrm>
            <a:off x="1234440" y="5010912"/>
            <a:ext cx="91" cy="54864"/>
          </a:xfrm>
          <a:prstGeom prst="line">
            <a:avLst/>
          </a:prstGeom>
          <a:noFill/>
          <a:ln w="12700">
            <a:solidFill>
              <a:srgbClr val="133536"/>
            </a:solidFill>
            <a:prstDash val="solid"/>
          </a:ln>
        </p:spPr>
      </p:sp>
      <p:sp>
        <p:nvSpPr>
          <p:cNvPr id="183" name="Text 181"/>
          <p:cNvSpPr/>
          <p:nvPr/>
        </p:nvSpPr>
        <p:spPr>
          <a:xfrm>
            <a:off x="960120" y="506577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184" name="Shape 182"/>
          <p:cNvSpPr/>
          <p:nvPr/>
        </p:nvSpPr>
        <p:spPr>
          <a:xfrm>
            <a:off x="1619794" y="5010912"/>
            <a:ext cx="91" cy="54864"/>
          </a:xfrm>
          <a:prstGeom prst="line">
            <a:avLst/>
          </a:prstGeom>
          <a:noFill/>
          <a:ln w="12700">
            <a:solidFill>
              <a:srgbClr val="133536"/>
            </a:solidFill>
            <a:prstDash val="solid"/>
          </a:ln>
        </p:spPr>
      </p:sp>
      <p:sp>
        <p:nvSpPr>
          <p:cNvPr id="185" name="Text 183"/>
          <p:cNvSpPr/>
          <p:nvPr/>
        </p:nvSpPr>
        <p:spPr>
          <a:xfrm>
            <a:off x="1345474" y="506577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186" name="Shape 184"/>
          <p:cNvSpPr/>
          <p:nvPr/>
        </p:nvSpPr>
        <p:spPr>
          <a:xfrm>
            <a:off x="2005149" y="5010912"/>
            <a:ext cx="91" cy="54864"/>
          </a:xfrm>
          <a:prstGeom prst="line">
            <a:avLst/>
          </a:prstGeom>
          <a:noFill/>
          <a:ln w="12700">
            <a:solidFill>
              <a:srgbClr val="133536"/>
            </a:solidFill>
            <a:prstDash val="solid"/>
          </a:ln>
        </p:spPr>
      </p:sp>
      <p:sp>
        <p:nvSpPr>
          <p:cNvPr id="187" name="Text 185"/>
          <p:cNvSpPr/>
          <p:nvPr/>
        </p:nvSpPr>
        <p:spPr>
          <a:xfrm>
            <a:off x="1730829" y="506577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188" name="Shape 186"/>
          <p:cNvSpPr/>
          <p:nvPr/>
        </p:nvSpPr>
        <p:spPr>
          <a:xfrm>
            <a:off x="2390503" y="5010912"/>
            <a:ext cx="91" cy="54864"/>
          </a:xfrm>
          <a:prstGeom prst="line">
            <a:avLst/>
          </a:prstGeom>
          <a:noFill/>
          <a:ln w="12700">
            <a:solidFill>
              <a:srgbClr val="133536"/>
            </a:solidFill>
            <a:prstDash val="solid"/>
          </a:ln>
        </p:spPr>
      </p:sp>
      <p:sp>
        <p:nvSpPr>
          <p:cNvPr id="189" name="Text 187"/>
          <p:cNvSpPr/>
          <p:nvPr/>
        </p:nvSpPr>
        <p:spPr>
          <a:xfrm>
            <a:off x="2116183" y="506577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190" name="Shape 188"/>
          <p:cNvSpPr/>
          <p:nvPr/>
        </p:nvSpPr>
        <p:spPr>
          <a:xfrm>
            <a:off x="2775857" y="5010912"/>
            <a:ext cx="91" cy="54864"/>
          </a:xfrm>
          <a:prstGeom prst="line">
            <a:avLst/>
          </a:prstGeom>
          <a:noFill/>
          <a:ln w="12700">
            <a:solidFill>
              <a:srgbClr val="133536"/>
            </a:solidFill>
            <a:prstDash val="solid"/>
          </a:ln>
        </p:spPr>
      </p:sp>
      <p:sp>
        <p:nvSpPr>
          <p:cNvPr id="191" name="Text 189"/>
          <p:cNvSpPr/>
          <p:nvPr/>
        </p:nvSpPr>
        <p:spPr>
          <a:xfrm>
            <a:off x="2501537" y="506577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192" name="Shape 190"/>
          <p:cNvSpPr/>
          <p:nvPr/>
        </p:nvSpPr>
        <p:spPr>
          <a:xfrm>
            <a:off x="3161211" y="5010912"/>
            <a:ext cx="91" cy="54864"/>
          </a:xfrm>
          <a:prstGeom prst="line">
            <a:avLst/>
          </a:prstGeom>
          <a:noFill/>
          <a:ln w="12700">
            <a:solidFill>
              <a:srgbClr val="133536"/>
            </a:solidFill>
            <a:prstDash val="solid"/>
          </a:ln>
        </p:spPr>
      </p:sp>
      <p:sp>
        <p:nvSpPr>
          <p:cNvPr id="193" name="Text 191"/>
          <p:cNvSpPr/>
          <p:nvPr/>
        </p:nvSpPr>
        <p:spPr>
          <a:xfrm>
            <a:off x="2886891" y="506577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194" name="Shape 192"/>
          <p:cNvSpPr/>
          <p:nvPr/>
        </p:nvSpPr>
        <p:spPr>
          <a:xfrm>
            <a:off x="3546566" y="5010912"/>
            <a:ext cx="91" cy="54864"/>
          </a:xfrm>
          <a:prstGeom prst="line">
            <a:avLst/>
          </a:prstGeom>
          <a:noFill/>
          <a:ln w="12700">
            <a:solidFill>
              <a:srgbClr val="133536"/>
            </a:solidFill>
            <a:prstDash val="solid"/>
          </a:ln>
        </p:spPr>
      </p:sp>
      <p:sp>
        <p:nvSpPr>
          <p:cNvPr id="195" name="Text 193"/>
          <p:cNvSpPr/>
          <p:nvPr/>
        </p:nvSpPr>
        <p:spPr>
          <a:xfrm>
            <a:off x="3272246" y="506577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12</a:t>
            </a:r>
            <a:endParaRPr lang="en-US" sz="1000" dirty="0"/>
          </a:p>
        </p:txBody>
      </p:sp>
      <p:sp>
        <p:nvSpPr>
          <p:cNvPr id="196" name="Shape 194"/>
          <p:cNvSpPr/>
          <p:nvPr/>
        </p:nvSpPr>
        <p:spPr>
          <a:xfrm>
            <a:off x="3931920" y="5010912"/>
            <a:ext cx="91" cy="54864"/>
          </a:xfrm>
          <a:prstGeom prst="line">
            <a:avLst/>
          </a:prstGeom>
          <a:noFill/>
          <a:ln w="12700">
            <a:solidFill>
              <a:srgbClr val="133536"/>
            </a:solidFill>
            <a:prstDash val="solid"/>
          </a:ln>
        </p:spPr>
      </p:sp>
      <p:sp>
        <p:nvSpPr>
          <p:cNvPr id="197" name="Text 195"/>
          <p:cNvSpPr/>
          <p:nvPr/>
        </p:nvSpPr>
        <p:spPr>
          <a:xfrm>
            <a:off x="3657600" y="506577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14</a:t>
            </a:r>
            <a:endParaRPr lang="en-US" sz="1000" dirty="0"/>
          </a:p>
        </p:txBody>
      </p:sp>
      <p:sp>
        <p:nvSpPr>
          <p:cNvPr id="198" name="Shape 196"/>
          <p:cNvSpPr/>
          <p:nvPr/>
        </p:nvSpPr>
        <p:spPr>
          <a:xfrm>
            <a:off x="4317274" y="5010912"/>
            <a:ext cx="91" cy="54864"/>
          </a:xfrm>
          <a:prstGeom prst="line">
            <a:avLst/>
          </a:prstGeom>
          <a:noFill/>
          <a:ln w="12700">
            <a:solidFill>
              <a:srgbClr val="133536"/>
            </a:solidFill>
            <a:prstDash val="solid"/>
          </a:ln>
        </p:spPr>
      </p:sp>
      <p:sp>
        <p:nvSpPr>
          <p:cNvPr id="199" name="Text 197"/>
          <p:cNvSpPr/>
          <p:nvPr/>
        </p:nvSpPr>
        <p:spPr>
          <a:xfrm>
            <a:off x="4042954" y="506577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16</a:t>
            </a:r>
            <a:endParaRPr lang="en-US" sz="1000" dirty="0"/>
          </a:p>
        </p:txBody>
      </p:sp>
      <p:sp>
        <p:nvSpPr>
          <p:cNvPr id="200" name="Shape 198"/>
          <p:cNvSpPr/>
          <p:nvPr/>
        </p:nvSpPr>
        <p:spPr>
          <a:xfrm>
            <a:off x="4702629" y="5010912"/>
            <a:ext cx="91" cy="54864"/>
          </a:xfrm>
          <a:prstGeom prst="line">
            <a:avLst/>
          </a:prstGeom>
          <a:noFill/>
          <a:ln w="12700">
            <a:solidFill>
              <a:srgbClr val="133536"/>
            </a:solidFill>
            <a:prstDash val="solid"/>
          </a:ln>
        </p:spPr>
      </p:sp>
      <p:sp>
        <p:nvSpPr>
          <p:cNvPr id="201" name="Text 199"/>
          <p:cNvSpPr/>
          <p:nvPr/>
        </p:nvSpPr>
        <p:spPr>
          <a:xfrm>
            <a:off x="4428309" y="506577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18</a:t>
            </a:r>
            <a:endParaRPr lang="en-US" sz="1000" dirty="0"/>
          </a:p>
        </p:txBody>
      </p:sp>
      <p:sp>
        <p:nvSpPr>
          <p:cNvPr id="202" name="Shape 200"/>
          <p:cNvSpPr/>
          <p:nvPr/>
        </p:nvSpPr>
        <p:spPr>
          <a:xfrm>
            <a:off x="5087983" y="5010912"/>
            <a:ext cx="91" cy="54864"/>
          </a:xfrm>
          <a:prstGeom prst="line">
            <a:avLst/>
          </a:prstGeom>
          <a:noFill/>
          <a:ln w="12700">
            <a:solidFill>
              <a:srgbClr val="133536"/>
            </a:solidFill>
            <a:prstDash val="solid"/>
          </a:ln>
        </p:spPr>
      </p:sp>
      <p:sp>
        <p:nvSpPr>
          <p:cNvPr id="203" name="Text 201"/>
          <p:cNvSpPr/>
          <p:nvPr/>
        </p:nvSpPr>
        <p:spPr>
          <a:xfrm>
            <a:off x="4813663" y="506577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204" name="Shape 202"/>
          <p:cNvSpPr/>
          <p:nvPr/>
        </p:nvSpPr>
        <p:spPr>
          <a:xfrm>
            <a:off x="5473337" y="5010912"/>
            <a:ext cx="91" cy="54864"/>
          </a:xfrm>
          <a:prstGeom prst="line">
            <a:avLst/>
          </a:prstGeom>
          <a:noFill/>
          <a:ln w="12700">
            <a:solidFill>
              <a:srgbClr val="133536"/>
            </a:solidFill>
            <a:prstDash val="solid"/>
          </a:ln>
        </p:spPr>
      </p:sp>
      <p:sp>
        <p:nvSpPr>
          <p:cNvPr id="205" name="Text 203"/>
          <p:cNvSpPr/>
          <p:nvPr/>
        </p:nvSpPr>
        <p:spPr>
          <a:xfrm>
            <a:off x="5199017" y="506577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22</a:t>
            </a:r>
            <a:endParaRPr lang="en-US" sz="1000" dirty="0"/>
          </a:p>
        </p:txBody>
      </p:sp>
      <p:sp>
        <p:nvSpPr>
          <p:cNvPr id="206" name="Shape 204"/>
          <p:cNvSpPr/>
          <p:nvPr/>
        </p:nvSpPr>
        <p:spPr>
          <a:xfrm>
            <a:off x="5858691" y="5010912"/>
            <a:ext cx="91" cy="54864"/>
          </a:xfrm>
          <a:prstGeom prst="line">
            <a:avLst/>
          </a:prstGeom>
          <a:noFill/>
          <a:ln w="12700">
            <a:solidFill>
              <a:srgbClr val="133536"/>
            </a:solidFill>
            <a:prstDash val="solid"/>
          </a:ln>
        </p:spPr>
      </p:sp>
      <p:sp>
        <p:nvSpPr>
          <p:cNvPr id="207" name="Text 205"/>
          <p:cNvSpPr/>
          <p:nvPr/>
        </p:nvSpPr>
        <p:spPr>
          <a:xfrm>
            <a:off x="5584371" y="506577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24</a:t>
            </a:r>
            <a:endParaRPr lang="en-US" sz="1000" dirty="0"/>
          </a:p>
        </p:txBody>
      </p:sp>
      <p:sp>
        <p:nvSpPr>
          <p:cNvPr id="208" name="Shape 206"/>
          <p:cNvSpPr/>
          <p:nvPr/>
        </p:nvSpPr>
        <p:spPr>
          <a:xfrm>
            <a:off x="6244046" y="5010912"/>
            <a:ext cx="91" cy="54864"/>
          </a:xfrm>
          <a:prstGeom prst="line">
            <a:avLst/>
          </a:prstGeom>
          <a:noFill/>
          <a:ln w="12700">
            <a:solidFill>
              <a:srgbClr val="133536"/>
            </a:solidFill>
            <a:prstDash val="solid"/>
          </a:ln>
        </p:spPr>
      </p:sp>
      <p:sp>
        <p:nvSpPr>
          <p:cNvPr id="209" name="Text 207"/>
          <p:cNvSpPr/>
          <p:nvPr/>
        </p:nvSpPr>
        <p:spPr>
          <a:xfrm>
            <a:off x="5969726" y="506577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26</a:t>
            </a:r>
            <a:endParaRPr lang="en-US" sz="1000" dirty="0"/>
          </a:p>
        </p:txBody>
      </p:sp>
      <p:sp>
        <p:nvSpPr>
          <p:cNvPr id="210" name="Shape 208"/>
          <p:cNvSpPr/>
          <p:nvPr/>
        </p:nvSpPr>
        <p:spPr>
          <a:xfrm>
            <a:off x="6629400" y="5010912"/>
            <a:ext cx="91" cy="54864"/>
          </a:xfrm>
          <a:prstGeom prst="line">
            <a:avLst/>
          </a:prstGeom>
          <a:noFill/>
          <a:ln w="12700">
            <a:solidFill>
              <a:srgbClr val="133536"/>
            </a:solidFill>
            <a:prstDash val="solid"/>
          </a:ln>
        </p:spPr>
      </p:sp>
      <p:sp>
        <p:nvSpPr>
          <p:cNvPr id="211" name="Text 209"/>
          <p:cNvSpPr/>
          <p:nvPr/>
        </p:nvSpPr>
        <p:spPr>
          <a:xfrm>
            <a:off x="6355080" y="5065776"/>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28</a:t>
            </a:r>
            <a:endParaRPr lang="en-US" sz="1000" dirty="0"/>
          </a:p>
        </p:txBody>
      </p:sp>
      <p:sp>
        <p:nvSpPr>
          <p:cNvPr id="212" name="Shape 210"/>
          <p:cNvSpPr/>
          <p:nvPr/>
        </p:nvSpPr>
        <p:spPr>
          <a:xfrm>
            <a:off x="1179576" y="5010912"/>
            <a:ext cx="54864" cy="91"/>
          </a:xfrm>
          <a:prstGeom prst="line">
            <a:avLst/>
          </a:prstGeom>
          <a:noFill/>
          <a:ln w="12700">
            <a:solidFill>
              <a:srgbClr val="133536"/>
            </a:solidFill>
            <a:prstDash val="solid"/>
          </a:ln>
        </p:spPr>
      </p:sp>
      <p:sp>
        <p:nvSpPr>
          <p:cNvPr id="213" name="Text 211"/>
          <p:cNvSpPr/>
          <p:nvPr/>
        </p:nvSpPr>
        <p:spPr>
          <a:xfrm>
            <a:off x="795528" y="491947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214" name="Shape 212"/>
          <p:cNvSpPr/>
          <p:nvPr/>
        </p:nvSpPr>
        <p:spPr>
          <a:xfrm>
            <a:off x="1179576" y="4279392"/>
            <a:ext cx="54864" cy="91"/>
          </a:xfrm>
          <a:prstGeom prst="line">
            <a:avLst/>
          </a:prstGeom>
          <a:noFill/>
          <a:ln w="12700">
            <a:solidFill>
              <a:srgbClr val="133536"/>
            </a:solidFill>
            <a:prstDash val="solid"/>
          </a:ln>
        </p:spPr>
      </p:sp>
      <p:sp>
        <p:nvSpPr>
          <p:cNvPr id="215" name="Text 213"/>
          <p:cNvSpPr/>
          <p:nvPr/>
        </p:nvSpPr>
        <p:spPr>
          <a:xfrm>
            <a:off x="795528" y="418795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12</a:t>
            </a:r>
            <a:endParaRPr lang="en-US" sz="1000" dirty="0"/>
          </a:p>
        </p:txBody>
      </p:sp>
      <p:sp>
        <p:nvSpPr>
          <p:cNvPr id="216" name="Text 214"/>
          <p:cNvSpPr/>
          <p:nvPr/>
        </p:nvSpPr>
        <p:spPr>
          <a:xfrm>
            <a:off x="1234440" y="5257800"/>
            <a:ext cx="539496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day of cycle</a:t>
            </a:r>
            <a:endParaRPr lang="en-US" sz="1050" dirty="0"/>
          </a:p>
        </p:txBody>
      </p:sp>
      <p:sp>
        <p:nvSpPr>
          <p:cNvPr id="217" name="Text 215"/>
          <p:cNvSpPr/>
          <p:nvPr/>
        </p:nvSpPr>
        <p:spPr>
          <a:xfrm rot="16200000">
            <a:off x="301752" y="4517136"/>
            <a:ext cx="7315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lining / mm</a:t>
            </a:r>
            <a:endParaRPr lang="en-US" sz="1050" dirty="0"/>
          </a:p>
        </p:txBody>
      </p:sp>
      <p:sp>
        <p:nvSpPr>
          <p:cNvPr id="218" name="Shape 216"/>
          <p:cNvSpPr/>
          <p:nvPr/>
        </p:nvSpPr>
        <p:spPr>
          <a:xfrm>
            <a:off x="3931920" y="4279392"/>
            <a:ext cx="91" cy="731520"/>
          </a:xfrm>
          <a:prstGeom prst="line">
            <a:avLst/>
          </a:prstGeom>
          <a:noFill/>
          <a:ln w="15875">
            <a:solidFill>
              <a:srgbClr val="B8730A"/>
            </a:solidFill>
            <a:prstDash val="dash"/>
          </a:ln>
        </p:spPr>
      </p:sp>
      <p:sp>
        <p:nvSpPr>
          <p:cNvPr id="219" name="Shape 217"/>
          <p:cNvSpPr/>
          <p:nvPr/>
        </p:nvSpPr>
        <p:spPr>
          <a:xfrm flipV="1">
            <a:off x="1234440" y="2136325"/>
            <a:ext cx="48169" cy="12437"/>
          </a:xfrm>
          <a:prstGeom prst="line">
            <a:avLst/>
          </a:prstGeom>
          <a:noFill/>
          <a:ln w="31750">
            <a:solidFill>
              <a:srgbClr val="2F6DB5"/>
            </a:solidFill>
            <a:prstDash val="solid"/>
          </a:ln>
        </p:spPr>
      </p:sp>
      <p:sp>
        <p:nvSpPr>
          <p:cNvPr id="220" name="Shape 218"/>
          <p:cNvSpPr/>
          <p:nvPr/>
        </p:nvSpPr>
        <p:spPr>
          <a:xfrm flipV="1">
            <a:off x="1282609" y="2124314"/>
            <a:ext cx="48169" cy="12011"/>
          </a:xfrm>
          <a:prstGeom prst="line">
            <a:avLst/>
          </a:prstGeom>
          <a:noFill/>
          <a:ln w="31750">
            <a:solidFill>
              <a:srgbClr val="2F6DB5"/>
            </a:solidFill>
            <a:prstDash val="solid"/>
          </a:ln>
        </p:spPr>
      </p:sp>
      <p:sp>
        <p:nvSpPr>
          <p:cNvPr id="221" name="Shape 219"/>
          <p:cNvSpPr/>
          <p:nvPr/>
        </p:nvSpPr>
        <p:spPr>
          <a:xfrm flipV="1">
            <a:off x="1330779" y="2112878"/>
            <a:ext cx="48169" cy="11436"/>
          </a:xfrm>
          <a:prstGeom prst="line">
            <a:avLst/>
          </a:prstGeom>
          <a:noFill/>
          <a:ln w="31750">
            <a:solidFill>
              <a:srgbClr val="2F6DB5"/>
            </a:solidFill>
            <a:prstDash val="solid"/>
          </a:ln>
        </p:spPr>
      </p:sp>
      <p:sp>
        <p:nvSpPr>
          <p:cNvPr id="222" name="Shape 220"/>
          <p:cNvSpPr/>
          <p:nvPr/>
        </p:nvSpPr>
        <p:spPr>
          <a:xfrm flipV="1">
            <a:off x="1378948" y="2102165"/>
            <a:ext cx="48169" cy="10713"/>
          </a:xfrm>
          <a:prstGeom prst="line">
            <a:avLst/>
          </a:prstGeom>
          <a:noFill/>
          <a:ln w="31750">
            <a:solidFill>
              <a:srgbClr val="2F6DB5"/>
            </a:solidFill>
            <a:prstDash val="solid"/>
          </a:ln>
        </p:spPr>
      </p:sp>
      <p:sp>
        <p:nvSpPr>
          <p:cNvPr id="223" name="Shape 221"/>
          <p:cNvSpPr/>
          <p:nvPr/>
        </p:nvSpPr>
        <p:spPr>
          <a:xfrm flipV="1">
            <a:off x="1427117" y="2092320"/>
            <a:ext cx="48169" cy="9846"/>
          </a:xfrm>
          <a:prstGeom prst="line">
            <a:avLst/>
          </a:prstGeom>
          <a:noFill/>
          <a:ln w="31750">
            <a:solidFill>
              <a:srgbClr val="2F6DB5"/>
            </a:solidFill>
            <a:prstDash val="solid"/>
          </a:ln>
        </p:spPr>
      </p:sp>
      <p:sp>
        <p:nvSpPr>
          <p:cNvPr id="224" name="Shape 222"/>
          <p:cNvSpPr/>
          <p:nvPr/>
        </p:nvSpPr>
        <p:spPr>
          <a:xfrm flipV="1">
            <a:off x="1475286" y="2083476"/>
            <a:ext cx="48169" cy="8843"/>
          </a:xfrm>
          <a:prstGeom prst="line">
            <a:avLst/>
          </a:prstGeom>
          <a:noFill/>
          <a:ln w="31750">
            <a:solidFill>
              <a:srgbClr val="2F6DB5"/>
            </a:solidFill>
            <a:prstDash val="solid"/>
          </a:ln>
        </p:spPr>
      </p:sp>
      <p:sp>
        <p:nvSpPr>
          <p:cNvPr id="225" name="Shape 223"/>
          <p:cNvSpPr/>
          <p:nvPr/>
        </p:nvSpPr>
        <p:spPr>
          <a:xfrm flipV="1">
            <a:off x="1523456" y="2075761"/>
            <a:ext cx="48169" cy="7715"/>
          </a:xfrm>
          <a:prstGeom prst="line">
            <a:avLst/>
          </a:prstGeom>
          <a:noFill/>
          <a:ln w="31750">
            <a:solidFill>
              <a:srgbClr val="2F6DB5"/>
            </a:solidFill>
            <a:prstDash val="solid"/>
          </a:ln>
        </p:spPr>
      </p:sp>
      <p:sp>
        <p:nvSpPr>
          <p:cNvPr id="226" name="Shape 224"/>
          <p:cNvSpPr/>
          <p:nvPr/>
        </p:nvSpPr>
        <p:spPr>
          <a:xfrm flipV="1">
            <a:off x="1571625" y="2069286"/>
            <a:ext cx="48169" cy="6476"/>
          </a:xfrm>
          <a:prstGeom prst="line">
            <a:avLst/>
          </a:prstGeom>
          <a:noFill/>
          <a:ln w="31750">
            <a:solidFill>
              <a:srgbClr val="2F6DB5"/>
            </a:solidFill>
            <a:prstDash val="solid"/>
          </a:ln>
        </p:spPr>
      </p:sp>
      <p:sp>
        <p:nvSpPr>
          <p:cNvPr id="227" name="Shape 225"/>
          <p:cNvSpPr/>
          <p:nvPr/>
        </p:nvSpPr>
        <p:spPr>
          <a:xfrm flipV="1">
            <a:off x="1619794" y="2064145"/>
            <a:ext cx="48169" cy="5140"/>
          </a:xfrm>
          <a:prstGeom prst="line">
            <a:avLst/>
          </a:prstGeom>
          <a:noFill/>
          <a:ln w="31750">
            <a:solidFill>
              <a:srgbClr val="2F6DB5"/>
            </a:solidFill>
            <a:prstDash val="solid"/>
          </a:ln>
        </p:spPr>
      </p:sp>
      <p:sp>
        <p:nvSpPr>
          <p:cNvPr id="228" name="Shape 226"/>
          <p:cNvSpPr/>
          <p:nvPr/>
        </p:nvSpPr>
        <p:spPr>
          <a:xfrm flipV="1">
            <a:off x="1667964" y="2060417"/>
            <a:ext cx="48169" cy="3728"/>
          </a:xfrm>
          <a:prstGeom prst="line">
            <a:avLst/>
          </a:prstGeom>
          <a:noFill/>
          <a:ln w="31750">
            <a:solidFill>
              <a:srgbClr val="2F6DB5"/>
            </a:solidFill>
            <a:prstDash val="solid"/>
          </a:ln>
        </p:spPr>
      </p:sp>
      <p:sp>
        <p:nvSpPr>
          <p:cNvPr id="229" name="Shape 227"/>
          <p:cNvSpPr/>
          <p:nvPr/>
        </p:nvSpPr>
        <p:spPr>
          <a:xfrm flipV="1">
            <a:off x="1716133" y="2058157"/>
            <a:ext cx="48169" cy="2260"/>
          </a:xfrm>
          <a:prstGeom prst="line">
            <a:avLst/>
          </a:prstGeom>
          <a:noFill/>
          <a:ln w="31750">
            <a:solidFill>
              <a:srgbClr val="2F6DB5"/>
            </a:solidFill>
            <a:prstDash val="solid"/>
          </a:ln>
        </p:spPr>
      </p:sp>
      <p:sp>
        <p:nvSpPr>
          <p:cNvPr id="230" name="Shape 228"/>
          <p:cNvSpPr/>
          <p:nvPr/>
        </p:nvSpPr>
        <p:spPr>
          <a:xfrm flipV="1">
            <a:off x="1764302" y="2057400"/>
            <a:ext cx="48169" cy="757"/>
          </a:xfrm>
          <a:prstGeom prst="line">
            <a:avLst/>
          </a:prstGeom>
          <a:noFill/>
          <a:ln w="31750">
            <a:solidFill>
              <a:srgbClr val="2F6DB5"/>
            </a:solidFill>
            <a:prstDash val="solid"/>
          </a:ln>
        </p:spPr>
      </p:sp>
      <p:sp>
        <p:nvSpPr>
          <p:cNvPr id="231" name="Shape 229"/>
          <p:cNvSpPr/>
          <p:nvPr/>
        </p:nvSpPr>
        <p:spPr>
          <a:xfrm>
            <a:off x="1812471" y="2057400"/>
            <a:ext cx="48169" cy="757"/>
          </a:xfrm>
          <a:prstGeom prst="line">
            <a:avLst/>
          </a:prstGeom>
          <a:noFill/>
          <a:ln w="31750">
            <a:solidFill>
              <a:srgbClr val="2F6DB5"/>
            </a:solidFill>
            <a:prstDash val="solid"/>
          </a:ln>
        </p:spPr>
      </p:sp>
      <p:sp>
        <p:nvSpPr>
          <p:cNvPr id="232" name="Shape 230"/>
          <p:cNvSpPr/>
          <p:nvPr/>
        </p:nvSpPr>
        <p:spPr>
          <a:xfrm>
            <a:off x="1860641" y="2058157"/>
            <a:ext cx="48169" cy="2260"/>
          </a:xfrm>
          <a:prstGeom prst="line">
            <a:avLst/>
          </a:prstGeom>
          <a:noFill/>
          <a:ln w="31750">
            <a:solidFill>
              <a:srgbClr val="2F6DB5"/>
            </a:solidFill>
            <a:prstDash val="solid"/>
          </a:ln>
        </p:spPr>
      </p:sp>
      <p:sp>
        <p:nvSpPr>
          <p:cNvPr id="233" name="Shape 231"/>
          <p:cNvSpPr/>
          <p:nvPr/>
        </p:nvSpPr>
        <p:spPr>
          <a:xfrm>
            <a:off x="1908810" y="2060417"/>
            <a:ext cx="48169" cy="3728"/>
          </a:xfrm>
          <a:prstGeom prst="line">
            <a:avLst/>
          </a:prstGeom>
          <a:noFill/>
          <a:ln w="31750">
            <a:solidFill>
              <a:srgbClr val="2F6DB5"/>
            </a:solidFill>
            <a:prstDash val="solid"/>
          </a:ln>
        </p:spPr>
      </p:sp>
      <p:sp>
        <p:nvSpPr>
          <p:cNvPr id="234" name="Shape 232"/>
          <p:cNvSpPr/>
          <p:nvPr/>
        </p:nvSpPr>
        <p:spPr>
          <a:xfrm>
            <a:off x="1956979" y="2064145"/>
            <a:ext cx="48169" cy="5140"/>
          </a:xfrm>
          <a:prstGeom prst="line">
            <a:avLst/>
          </a:prstGeom>
          <a:noFill/>
          <a:ln w="31750">
            <a:solidFill>
              <a:srgbClr val="2F6DB5"/>
            </a:solidFill>
            <a:prstDash val="solid"/>
          </a:ln>
        </p:spPr>
      </p:sp>
      <p:sp>
        <p:nvSpPr>
          <p:cNvPr id="235" name="Shape 233"/>
          <p:cNvSpPr/>
          <p:nvPr/>
        </p:nvSpPr>
        <p:spPr>
          <a:xfrm>
            <a:off x="2005149" y="2069286"/>
            <a:ext cx="48169" cy="6476"/>
          </a:xfrm>
          <a:prstGeom prst="line">
            <a:avLst/>
          </a:prstGeom>
          <a:noFill/>
          <a:ln w="31750">
            <a:solidFill>
              <a:srgbClr val="2F6DB5"/>
            </a:solidFill>
            <a:prstDash val="solid"/>
          </a:ln>
        </p:spPr>
      </p:sp>
      <p:sp>
        <p:nvSpPr>
          <p:cNvPr id="236" name="Shape 234"/>
          <p:cNvSpPr/>
          <p:nvPr/>
        </p:nvSpPr>
        <p:spPr>
          <a:xfrm>
            <a:off x="2053318" y="2075761"/>
            <a:ext cx="48169" cy="7715"/>
          </a:xfrm>
          <a:prstGeom prst="line">
            <a:avLst/>
          </a:prstGeom>
          <a:noFill/>
          <a:ln w="31750">
            <a:solidFill>
              <a:srgbClr val="2F6DB5"/>
            </a:solidFill>
            <a:prstDash val="solid"/>
          </a:ln>
        </p:spPr>
      </p:sp>
      <p:sp>
        <p:nvSpPr>
          <p:cNvPr id="237" name="Shape 235"/>
          <p:cNvSpPr/>
          <p:nvPr/>
        </p:nvSpPr>
        <p:spPr>
          <a:xfrm>
            <a:off x="2101487" y="2083476"/>
            <a:ext cx="48169" cy="8843"/>
          </a:xfrm>
          <a:prstGeom prst="line">
            <a:avLst/>
          </a:prstGeom>
          <a:noFill/>
          <a:ln w="31750">
            <a:solidFill>
              <a:srgbClr val="2F6DB5"/>
            </a:solidFill>
            <a:prstDash val="solid"/>
          </a:ln>
        </p:spPr>
      </p:sp>
      <p:sp>
        <p:nvSpPr>
          <p:cNvPr id="238" name="Shape 236"/>
          <p:cNvSpPr/>
          <p:nvPr/>
        </p:nvSpPr>
        <p:spPr>
          <a:xfrm>
            <a:off x="2149656" y="2092320"/>
            <a:ext cx="48169" cy="9846"/>
          </a:xfrm>
          <a:prstGeom prst="line">
            <a:avLst/>
          </a:prstGeom>
          <a:noFill/>
          <a:ln w="31750">
            <a:solidFill>
              <a:srgbClr val="2F6DB5"/>
            </a:solidFill>
            <a:prstDash val="solid"/>
          </a:ln>
        </p:spPr>
      </p:sp>
      <p:sp>
        <p:nvSpPr>
          <p:cNvPr id="239" name="Shape 237"/>
          <p:cNvSpPr/>
          <p:nvPr/>
        </p:nvSpPr>
        <p:spPr>
          <a:xfrm>
            <a:off x="2197826" y="2102165"/>
            <a:ext cx="48169" cy="10713"/>
          </a:xfrm>
          <a:prstGeom prst="line">
            <a:avLst/>
          </a:prstGeom>
          <a:noFill/>
          <a:ln w="31750">
            <a:solidFill>
              <a:srgbClr val="2F6DB5"/>
            </a:solidFill>
            <a:prstDash val="solid"/>
          </a:ln>
        </p:spPr>
      </p:sp>
      <p:sp>
        <p:nvSpPr>
          <p:cNvPr id="240" name="Shape 238"/>
          <p:cNvSpPr/>
          <p:nvPr/>
        </p:nvSpPr>
        <p:spPr>
          <a:xfrm>
            <a:off x="2245995" y="2112878"/>
            <a:ext cx="48169" cy="11436"/>
          </a:xfrm>
          <a:prstGeom prst="line">
            <a:avLst/>
          </a:prstGeom>
          <a:noFill/>
          <a:ln w="31750">
            <a:solidFill>
              <a:srgbClr val="2F6DB5"/>
            </a:solidFill>
            <a:prstDash val="solid"/>
          </a:ln>
        </p:spPr>
      </p:sp>
      <p:sp>
        <p:nvSpPr>
          <p:cNvPr id="241" name="Shape 239"/>
          <p:cNvSpPr/>
          <p:nvPr/>
        </p:nvSpPr>
        <p:spPr>
          <a:xfrm>
            <a:off x="2294164" y="2124314"/>
            <a:ext cx="48169" cy="12011"/>
          </a:xfrm>
          <a:prstGeom prst="line">
            <a:avLst/>
          </a:prstGeom>
          <a:noFill/>
          <a:ln w="31750">
            <a:solidFill>
              <a:srgbClr val="2F6DB5"/>
            </a:solidFill>
            <a:prstDash val="solid"/>
          </a:ln>
        </p:spPr>
      </p:sp>
      <p:sp>
        <p:nvSpPr>
          <p:cNvPr id="242" name="Shape 240"/>
          <p:cNvSpPr/>
          <p:nvPr/>
        </p:nvSpPr>
        <p:spPr>
          <a:xfrm>
            <a:off x="2342334" y="2136325"/>
            <a:ext cx="48169" cy="12437"/>
          </a:xfrm>
          <a:prstGeom prst="line">
            <a:avLst/>
          </a:prstGeom>
          <a:noFill/>
          <a:ln w="31750">
            <a:solidFill>
              <a:srgbClr val="2F6DB5"/>
            </a:solidFill>
            <a:prstDash val="solid"/>
          </a:ln>
        </p:spPr>
      </p:sp>
      <p:sp>
        <p:nvSpPr>
          <p:cNvPr id="243" name="Shape 241"/>
          <p:cNvSpPr/>
          <p:nvPr/>
        </p:nvSpPr>
        <p:spPr>
          <a:xfrm>
            <a:off x="2390503" y="2148762"/>
            <a:ext cx="48169" cy="12716"/>
          </a:xfrm>
          <a:prstGeom prst="line">
            <a:avLst/>
          </a:prstGeom>
          <a:noFill/>
          <a:ln w="31750">
            <a:solidFill>
              <a:srgbClr val="2F6DB5"/>
            </a:solidFill>
            <a:prstDash val="solid"/>
          </a:ln>
        </p:spPr>
      </p:sp>
      <p:sp>
        <p:nvSpPr>
          <p:cNvPr id="244" name="Shape 242"/>
          <p:cNvSpPr/>
          <p:nvPr/>
        </p:nvSpPr>
        <p:spPr>
          <a:xfrm>
            <a:off x="2438672" y="2161479"/>
            <a:ext cx="48169" cy="12853"/>
          </a:xfrm>
          <a:prstGeom prst="line">
            <a:avLst/>
          </a:prstGeom>
          <a:noFill/>
          <a:ln w="31750">
            <a:solidFill>
              <a:srgbClr val="2F6DB5"/>
            </a:solidFill>
            <a:prstDash val="solid"/>
          </a:ln>
        </p:spPr>
      </p:sp>
      <p:sp>
        <p:nvSpPr>
          <p:cNvPr id="245" name="Shape 243"/>
          <p:cNvSpPr/>
          <p:nvPr/>
        </p:nvSpPr>
        <p:spPr>
          <a:xfrm>
            <a:off x="2486841" y="2174331"/>
            <a:ext cx="48169" cy="12853"/>
          </a:xfrm>
          <a:prstGeom prst="line">
            <a:avLst/>
          </a:prstGeom>
          <a:noFill/>
          <a:ln w="31750">
            <a:solidFill>
              <a:srgbClr val="2F6DB5"/>
            </a:solidFill>
            <a:prstDash val="solid"/>
          </a:ln>
        </p:spPr>
      </p:sp>
      <p:sp>
        <p:nvSpPr>
          <p:cNvPr id="246" name="Shape 244"/>
          <p:cNvSpPr/>
          <p:nvPr/>
        </p:nvSpPr>
        <p:spPr>
          <a:xfrm>
            <a:off x="2535011" y="2187185"/>
            <a:ext cx="48169" cy="12728"/>
          </a:xfrm>
          <a:prstGeom prst="line">
            <a:avLst/>
          </a:prstGeom>
          <a:noFill/>
          <a:ln w="31750">
            <a:solidFill>
              <a:srgbClr val="2F6DB5"/>
            </a:solidFill>
            <a:prstDash val="solid"/>
          </a:ln>
        </p:spPr>
      </p:sp>
      <p:sp>
        <p:nvSpPr>
          <p:cNvPr id="247" name="Shape 245"/>
          <p:cNvSpPr/>
          <p:nvPr/>
        </p:nvSpPr>
        <p:spPr>
          <a:xfrm>
            <a:off x="2583180" y="2199913"/>
            <a:ext cx="48169" cy="12487"/>
          </a:xfrm>
          <a:prstGeom prst="line">
            <a:avLst/>
          </a:prstGeom>
          <a:noFill/>
          <a:ln w="31750">
            <a:solidFill>
              <a:srgbClr val="2F6DB5"/>
            </a:solidFill>
            <a:prstDash val="solid"/>
          </a:ln>
        </p:spPr>
      </p:sp>
      <p:sp>
        <p:nvSpPr>
          <p:cNvPr id="248" name="Shape 246"/>
          <p:cNvSpPr/>
          <p:nvPr/>
        </p:nvSpPr>
        <p:spPr>
          <a:xfrm>
            <a:off x="2631349" y="2212400"/>
            <a:ext cx="48169" cy="12144"/>
          </a:xfrm>
          <a:prstGeom prst="line">
            <a:avLst/>
          </a:prstGeom>
          <a:noFill/>
          <a:ln w="31750">
            <a:solidFill>
              <a:srgbClr val="2F6DB5"/>
            </a:solidFill>
            <a:prstDash val="solid"/>
          </a:ln>
        </p:spPr>
      </p:sp>
      <p:sp>
        <p:nvSpPr>
          <p:cNvPr id="249" name="Shape 247"/>
          <p:cNvSpPr/>
          <p:nvPr/>
        </p:nvSpPr>
        <p:spPr>
          <a:xfrm>
            <a:off x="2679519" y="2224545"/>
            <a:ext cx="48169" cy="11712"/>
          </a:xfrm>
          <a:prstGeom prst="line">
            <a:avLst/>
          </a:prstGeom>
          <a:noFill/>
          <a:ln w="31750">
            <a:solidFill>
              <a:srgbClr val="2F6DB5"/>
            </a:solidFill>
            <a:prstDash val="solid"/>
          </a:ln>
        </p:spPr>
      </p:sp>
      <p:sp>
        <p:nvSpPr>
          <p:cNvPr id="250" name="Shape 248"/>
          <p:cNvSpPr/>
          <p:nvPr/>
        </p:nvSpPr>
        <p:spPr>
          <a:xfrm>
            <a:off x="2727688" y="2236257"/>
            <a:ext cx="48169" cy="11205"/>
          </a:xfrm>
          <a:prstGeom prst="line">
            <a:avLst/>
          </a:prstGeom>
          <a:noFill/>
          <a:ln w="31750">
            <a:solidFill>
              <a:srgbClr val="2F6DB5"/>
            </a:solidFill>
            <a:prstDash val="solid"/>
          </a:ln>
        </p:spPr>
      </p:sp>
      <p:sp>
        <p:nvSpPr>
          <p:cNvPr id="251" name="Shape 249"/>
          <p:cNvSpPr/>
          <p:nvPr/>
        </p:nvSpPr>
        <p:spPr>
          <a:xfrm>
            <a:off x="2775857" y="2247462"/>
            <a:ext cx="48169" cy="10637"/>
          </a:xfrm>
          <a:prstGeom prst="line">
            <a:avLst/>
          </a:prstGeom>
          <a:noFill/>
          <a:ln w="31750">
            <a:solidFill>
              <a:srgbClr val="2F6DB5"/>
            </a:solidFill>
            <a:prstDash val="solid"/>
          </a:ln>
        </p:spPr>
      </p:sp>
      <p:sp>
        <p:nvSpPr>
          <p:cNvPr id="252" name="Shape 250"/>
          <p:cNvSpPr/>
          <p:nvPr/>
        </p:nvSpPr>
        <p:spPr>
          <a:xfrm>
            <a:off x="2824026" y="2258100"/>
            <a:ext cx="48169" cy="10023"/>
          </a:xfrm>
          <a:prstGeom prst="line">
            <a:avLst/>
          </a:prstGeom>
          <a:noFill/>
          <a:ln w="31750">
            <a:solidFill>
              <a:srgbClr val="2F6DB5"/>
            </a:solidFill>
            <a:prstDash val="solid"/>
          </a:ln>
        </p:spPr>
      </p:sp>
      <p:sp>
        <p:nvSpPr>
          <p:cNvPr id="253" name="Shape 251"/>
          <p:cNvSpPr/>
          <p:nvPr/>
        </p:nvSpPr>
        <p:spPr>
          <a:xfrm>
            <a:off x="2872196" y="2268122"/>
            <a:ext cx="48169" cy="9374"/>
          </a:xfrm>
          <a:prstGeom prst="line">
            <a:avLst/>
          </a:prstGeom>
          <a:noFill/>
          <a:ln w="31750">
            <a:solidFill>
              <a:srgbClr val="2F6DB5"/>
            </a:solidFill>
            <a:prstDash val="solid"/>
          </a:ln>
        </p:spPr>
      </p:sp>
      <p:sp>
        <p:nvSpPr>
          <p:cNvPr id="254" name="Shape 252"/>
          <p:cNvSpPr/>
          <p:nvPr/>
        </p:nvSpPr>
        <p:spPr>
          <a:xfrm>
            <a:off x="2920365" y="2277497"/>
            <a:ext cx="48169" cy="8702"/>
          </a:xfrm>
          <a:prstGeom prst="line">
            <a:avLst/>
          </a:prstGeom>
          <a:noFill/>
          <a:ln w="31750">
            <a:solidFill>
              <a:srgbClr val="2F6DB5"/>
            </a:solidFill>
            <a:prstDash val="solid"/>
          </a:ln>
        </p:spPr>
      </p:sp>
      <p:sp>
        <p:nvSpPr>
          <p:cNvPr id="255" name="Shape 253"/>
          <p:cNvSpPr/>
          <p:nvPr/>
        </p:nvSpPr>
        <p:spPr>
          <a:xfrm>
            <a:off x="2968534" y="2286199"/>
            <a:ext cx="48169" cy="8013"/>
          </a:xfrm>
          <a:prstGeom prst="line">
            <a:avLst/>
          </a:prstGeom>
          <a:noFill/>
          <a:ln w="31750">
            <a:solidFill>
              <a:srgbClr val="2F6DB5"/>
            </a:solidFill>
            <a:prstDash val="solid"/>
          </a:ln>
        </p:spPr>
      </p:sp>
      <p:sp>
        <p:nvSpPr>
          <p:cNvPr id="256" name="Shape 254"/>
          <p:cNvSpPr/>
          <p:nvPr/>
        </p:nvSpPr>
        <p:spPr>
          <a:xfrm>
            <a:off x="3016704" y="2294212"/>
            <a:ext cx="48169" cy="7304"/>
          </a:xfrm>
          <a:prstGeom prst="line">
            <a:avLst/>
          </a:prstGeom>
          <a:noFill/>
          <a:ln w="31750">
            <a:solidFill>
              <a:srgbClr val="2F6DB5"/>
            </a:solidFill>
            <a:prstDash val="solid"/>
          </a:ln>
        </p:spPr>
      </p:sp>
      <p:sp>
        <p:nvSpPr>
          <p:cNvPr id="257" name="Shape 255"/>
          <p:cNvSpPr/>
          <p:nvPr/>
        </p:nvSpPr>
        <p:spPr>
          <a:xfrm>
            <a:off x="3064873" y="2301517"/>
            <a:ext cx="48169" cy="6552"/>
          </a:xfrm>
          <a:prstGeom prst="line">
            <a:avLst/>
          </a:prstGeom>
          <a:noFill/>
          <a:ln w="31750">
            <a:solidFill>
              <a:srgbClr val="2F6DB5"/>
            </a:solidFill>
            <a:prstDash val="solid"/>
          </a:ln>
        </p:spPr>
      </p:sp>
      <p:sp>
        <p:nvSpPr>
          <p:cNvPr id="258" name="Shape 256"/>
          <p:cNvSpPr/>
          <p:nvPr/>
        </p:nvSpPr>
        <p:spPr>
          <a:xfrm>
            <a:off x="3113042" y="2308068"/>
            <a:ext cx="48169" cy="5697"/>
          </a:xfrm>
          <a:prstGeom prst="line">
            <a:avLst/>
          </a:prstGeom>
          <a:noFill/>
          <a:ln w="31750">
            <a:solidFill>
              <a:srgbClr val="2F6DB5"/>
            </a:solidFill>
            <a:prstDash val="solid"/>
          </a:ln>
        </p:spPr>
      </p:sp>
      <p:sp>
        <p:nvSpPr>
          <p:cNvPr id="259" name="Shape 257"/>
          <p:cNvSpPr/>
          <p:nvPr/>
        </p:nvSpPr>
        <p:spPr>
          <a:xfrm>
            <a:off x="3161211" y="2313765"/>
            <a:ext cx="48169" cy="4618"/>
          </a:xfrm>
          <a:prstGeom prst="line">
            <a:avLst/>
          </a:prstGeom>
          <a:noFill/>
          <a:ln w="31750">
            <a:solidFill>
              <a:srgbClr val="2F6DB5"/>
            </a:solidFill>
            <a:prstDash val="solid"/>
          </a:ln>
        </p:spPr>
      </p:sp>
      <p:sp>
        <p:nvSpPr>
          <p:cNvPr id="260" name="Shape 258"/>
          <p:cNvSpPr/>
          <p:nvPr/>
        </p:nvSpPr>
        <p:spPr>
          <a:xfrm>
            <a:off x="3209381" y="2318383"/>
            <a:ext cx="48169" cy="3098"/>
          </a:xfrm>
          <a:prstGeom prst="line">
            <a:avLst/>
          </a:prstGeom>
          <a:noFill/>
          <a:ln w="31750">
            <a:solidFill>
              <a:srgbClr val="2F6DB5"/>
            </a:solidFill>
            <a:prstDash val="solid"/>
          </a:ln>
        </p:spPr>
      </p:sp>
      <p:sp>
        <p:nvSpPr>
          <p:cNvPr id="261" name="Shape 259"/>
          <p:cNvSpPr/>
          <p:nvPr/>
        </p:nvSpPr>
        <p:spPr>
          <a:xfrm>
            <a:off x="3257550" y="2321481"/>
            <a:ext cx="48169" cy="799"/>
          </a:xfrm>
          <a:prstGeom prst="line">
            <a:avLst/>
          </a:prstGeom>
          <a:noFill/>
          <a:ln w="31750">
            <a:solidFill>
              <a:srgbClr val="2F6DB5"/>
            </a:solidFill>
            <a:prstDash val="solid"/>
          </a:ln>
        </p:spPr>
      </p:sp>
      <p:sp>
        <p:nvSpPr>
          <p:cNvPr id="262" name="Shape 260"/>
          <p:cNvSpPr/>
          <p:nvPr/>
        </p:nvSpPr>
        <p:spPr>
          <a:xfrm flipV="1">
            <a:off x="3305719" y="2319544"/>
            <a:ext cx="48169" cy="2735"/>
          </a:xfrm>
          <a:prstGeom prst="line">
            <a:avLst/>
          </a:prstGeom>
          <a:noFill/>
          <a:ln w="31750">
            <a:solidFill>
              <a:srgbClr val="2F6DB5"/>
            </a:solidFill>
            <a:prstDash val="solid"/>
          </a:ln>
        </p:spPr>
      </p:sp>
      <p:sp>
        <p:nvSpPr>
          <p:cNvPr id="263" name="Shape 261"/>
          <p:cNvSpPr/>
          <p:nvPr/>
        </p:nvSpPr>
        <p:spPr>
          <a:xfrm flipV="1">
            <a:off x="3353889" y="2311542"/>
            <a:ext cx="48169" cy="8003"/>
          </a:xfrm>
          <a:prstGeom prst="line">
            <a:avLst/>
          </a:prstGeom>
          <a:noFill/>
          <a:ln w="31750">
            <a:solidFill>
              <a:srgbClr val="2F6DB5"/>
            </a:solidFill>
            <a:prstDash val="solid"/>
          </a:ln>
        </p:spPr>
      </p:sp>
      <p:sp>
        <p:nvSpPr>
          <p:cNvPr id="264" name="Shape 262"/>
          <p:cNvSpPr/>
          <p:nvPr/>
        </p:nvSpPr>
        <p:spPr>
          <a:xfrm flipV="1">
            <a:off x="3402058" y="2296164"/>
            <a:ext cx="48169" cy="15378"/>
          </a:xfrm>
          <a:prstGeom prst="line">
            <a:avLst/>
          </a:prstGeom>
          <a:noFill/>
          <a:ln w="31750">
            <a:solidFill>
              <a:srgbClr val="2F6DB5"/>
            </a:solidFill>
            <a:prstDash val="solid"/>
          </a:ln>
        </p:spPr>
      </p:sp>
      <p:sp>
        <p:nvSpPr>
          <p:cNvPr id="265" name="Shape 263"/>
          <p:cNvSpPr/>
          <p:nvPr/>
        </p:nvSpPr>
        <p:spPr>
          <a:xfrm flipV="1">
            <a:off x="3450227" y="2271322"/>
            <a:ext cx="48169" cy="24842"/>
          </a:xfrm>
          <a:prstGeom prst="line">
            <a:avLst/>
          </a:prstGeom>
          <a:noFill/>
          <a:ln w="31750">
            <a:solidFill>
              <a:srgbClr val="2F6DB5"/>
            </a:solidFill>
            <a:prstDash val="solid"/>
          </a:ln>
        </p:spPr>
      </p:sp>
      <p:sp>
        <p:nvSpPr>
          <p:cNvPr id="266" name="Shape 264"/>
          <p:cNvSpPr/>
          <p:nvPr/>
        </p:nvSpPr>
        <p:spPr>
          <a:xfrm flipV="1">
            <a:off x="3498396" y="2235635"/>
            <a:ext cx="48169" cy="35687"/>
          </a:xfrm>
          <a:prstGeom prst="line">
            <a:avLst/>
          </a:prstGeom>
          <a:noFill/>
          <a:ln w="31750">
            <a:solidFill>
              <a:srgbClr val="2F6DB5"/>
            </a:solidFill>
            <a:prstDash val="solid"/>
          </a:ln>
        </p:spPr>
      </p:sp>
      <p:sp>
        <p:nvSpPr>
          <p:cNvPr id="267" name="Shape 265"/>
          <p:cNvSpPr/>
          <p:nvPr/>
        </p:nvSpPr>
        <p:spPr>
          <a:xfrm flipV="1">
            <a:off x="3546566" y="2189303"/>
            <a:ext cx="48169" cy="46332"/>
          </a:xfrm>
          <a:prstGeom prst="line">
            <a:avLst/>
          </a:prstGeom>
          <a:noFill/>
          <a:ln w="31750">
            <a:solidFill>
              <a:srgbClr val="2F6DB5"/>
            </a:solidFill>
            <a:prstDash val="solid"/>
          </a:ln>
        </p:spPr>
      </p:sp>
      <p:sp>
        <p:nvSpPr>
          <p:cNvPr id="268" name="Shape 266"/>
          <p:cNvSpPr/>
          <p:nvPr/>
        </p:nvSpPr>
        <p:spPr>
          <a:xfrm flipV="1">
            <a:off x="3594735" y="2134896"/>
            <a:ext cx="48169" cy="54407"/>
          </a:xfrm>
          <a:prstGeom prst="line">
            <a:avLst/>
          </a:prstGeom>
          <a:noFill/>
          <a:ln w="31750">
            <a:solidFill>
              <a:srgbClr val="2F6DB5"/>
            </a:solidFill>
            <a:prstDash val="solid"/>
          </a:ln>
        </p:spPr>
      </p:sp>
      <p:sp>
        <p:nvSpPr>
          <p:cNvPr id="269" name="Shape 267"/>
          <p:cNvSpPr/>
          <p:nvPr/>
        </p:nvSpPr>
        <p:spPr>
          <a:xfrm flipV="1">
            <a:off x="3642904" y="2077651"/>
            <a:ext cx="48169" cy="57245"/>
          </a:xfrm>
          <a:prstGeom prst="line">
            <a:avLst/>
          </a:prstGeom>
          <a:noFill/>
          <a:ln w="31750">
            <a:solidFill>
              <a:srgbClr val="2F6DB5"/>
            </a:solidFill>
            <a:prstDash val="solid"/>
          </a:ln>
        </p:spPr>
      </p:sp>
      <p:sp>
        <p:nvSpPr>
          <p:cNvPr id="270" name="Shape 268"/>
          <p:cNvSpPr/>
          <p:nvPr/>
        </p:nvSpPr>
        <p:spPr>
          <a:xfrm flipV="1">
            <a:off x="3691074" y="2024960"/>
            <a:ext cx="48169" cy="52691"/>
          </a:xfrm>
          <a:prstGeom prst="line">
            <a:avLst/>
          </a:prstGeom>
          <a:noFill/>
          <a:ln w="31750">
            <a:solidFill>
              <a:srgbClr val="2F6DB5"/>
            </a:solidFill>
            <a:prstDash val="solid"/>
          </a:ln>
        </p:spPr>
      </p:sp>
      <p:sp>
        <p:nvSpPr>
          <p:cNvPr id="271" name="Shape 269"/>
          <p:cNvSpPr/>
          <p:nvPr/>
        </p:nvSpPr>
        <p:spPr>
          <a:xfrm flipV="1">
            <a:off x="3739243" y="1984968"/>
            <a:ext cx="48169" cy="39992"/>
          </a:xfrm>
          <a:prstGeom prst="line">
            <a:avLst/>
          </a:prstGeom>
          <a:noFill/>
          <a:ln w="31750">
            <a:solidFill>
              <a:srgbClr val="2F6DB5"/>
            </a:solidFill>
            <a:prstDash val="solid"/>
          </a:ln>
        </p:spPr>
      </p:sp>
      <p:sp>
        <p:nvSpPr>
          <p:cNvPr id="272" name="Shape 270"/>
          <p:cNvSpPr/>
          <p:nvPr/>
        </p:nvSpPr>
        <p:spPr>
          <a:xfrm flipV="1">
            <a:off x="3787412" y="1964596"/>
            <a:ext cx="48169" cy="20372"/>
          </a:xfrm>
          <a:prstGeom prst="line">
            <a:avLst/>
          </a:prstGeom>
          <a:noFill/>
          <a:ln w="31750">
            <a:solidFill>
              <a:srgbClr val="2F6DB5"/>
            </a:solidFill>
            <a:prstDash val="solid"/>
          </a:ln>
        </p:spPr>
      </p:sp>
      <p:sp>
        <p:nvSpPr>
          <p:cNvPr id="273" name="Shape 271"/>
          <p:cNvSpPr/>
          <p:nvPr/>
        </p:nvSpPr>
        <p:spPr>
          <a:xfrm>
            <a:off x="3835581" y="1964596"/>
            <a:ext cx="48169" cy="3052"/>
          </a:xfrm>
          <a:prstGeom prst="line">
            <a:avLst/>
          </a:prstGeom>
          <a:noFill/>
          <a:ln w="31750">
            <a:solidFill>
              <a:srgbClr val="2F6DB5"/>
            </a:solidFill>
            <a:prstDash val="solid"/>
          </a:ln>
        </p:spPr>
      </p:sp>
      <p:sp>
        <p:nvSpPr>
          <p:cNvPr id="274" name="Shape 272"/>
          <p:cNvSpPr/>
          <p:nvPr/>
        </p:nvSpPr>
        <p:spPr>
          <a:xfrm>
            <a:off x="3883751" y="1967648"/>
            <a:ext cx="48169" cy="26059"/>
          </a:xfrm>
          <a:prstGeom prst="line">
            <a:avLst/>
          </a:prstGeom>
          <a:noFill/>
          <a:ln w="31750">
            <a:solidFill>
              <a:srgbClr val="2F6DB5"/>
            </a:solidFill>
            <a:prstDash val="solid"/>
          </a:ln>
        </p:spPr>
      </p:sp>
      <p:sp>
        <p:nvSpPr>
          <p:cNvPr id="275" name="Shape 273"/>
          <p:cNvSpPr/>
          <p:nvPr/>
        </p:nvSpPr>
        <p:spPr>
          <a:xfrm>
            <a:off x="3931920" y="1993707"/>
            <a:ext cx="48169" cy="44557"/>
          </a:xfrm>
          <a:prstGeom prst="line">
            <a:avLst/>
          </a:prstGeom>
          <a:noFill/>
          <a:ln w="31750">
            <a:solidFill>
              <a:srgbClr val="2F6DB5"/>
            </a:solidFill>
            <a:prstDash val="solid"/>
          </a:ln>
        </p:spPr>
      </p:sp>
      <p:sp>
        <p:nvSpPr>
          <p:cNvPr id="276" name="Shape 274"/>
          <p:cNvSpPr/>
          <p:nvPr/>
        </p:nvSpPr>
        <p:spPr>
          <a:xfrm>
            <a:off x="3980089" y="2038265"/>
            <a:ext cx="48169" cy="55765"/>
          </a:xfrm>
          <a:prstGeom prst="line">
            <a:avLst/>
          </a:prstGeom>
          <a:noFill/>
          <a:ln w="31750">
            <a:solidFill>
              <a:srgbClr val="2F6DB5"/>
            </a:solidFill>
            <a:prstDash val="solid"/>
          </a:ln>
        </p:spPr>
      </p:sp>
      <p:sp>
        <p:nvSpPr>
          <p:cNvPr id="277" name="Shape 275"/>
          <p:cNvSpPr/>
          <p:nvPr/>
        </p:nvSpPr>
        <p:spPr>
          <a:xfrm>
            <a:off x="4028259" y="2094030"/>
            <a:ext cx="48169" cy="58875"/>
          </a:xfrm>
          <a:prstGeom prst="line">
            <a:avLst/>
          </a:prstGeom>
          <a:noFill/>
          <a:ln w="31750">
            <a:solidFill>
              <a:srgbClr val="2F6DB5"/>
            </a:solidFill>
            <a:prstDash val="solid"/>
          </a:ln>
        </p:spPr>
      </p:sp>
      <p:sp>
        <p:nvSpPr>
          <p:cNvPr id="278" name="Shape 276"/>
          <p:cNvSpPr/>
          <p:nvPr/>
        </p:nvSpPr>
        <p:spPr>
          <a:xfrm>
            <a:off x="4076428" y="2152905"/>
            <a:ext cx="48169" cy="54980"/>
          </a:xfrm>
          <a:prstGeom prst="line">
            <a:avLst/>
          </a:prstGeom>
          <a:noFill/>
          <a:ln w="31750">
            <a:solidFill>
              <a:srgbClr val="2F6DB5"/>
            </a:solidFill>
            <a:prstDash val="solid"/>
          </a:ln>
        </p:spPr>
      </p:sp>
      <p:sp>
        <p:nvSpPr>
          <p:cNvPr id="279" name="Shape 277"/>
          <p:cNvSpPr/>
          <p:nvPr/>
        </p:nvSpPr>
        <p:spPr>
          <a:xfrm>
            <a:off x="4124597" y="2207885"/>
            <a:ext cx="48169" cy="46414"/>
          </a:xfrm>
          <a:prstGeom prst="line">
            <a:avLst/>
          </a:prstGeom>
          <a:noFill/>
          <a:ln w="31750">
            <a:solidFill>
              <a:srgbClr val="2F6DB5"/>
            </a:solidFill>
            <a:prstDash val="solid"/>
          </a:ln>
        </p:spPr>
      </p:sp>
      <p:sp>
        <p:nvSpPr>
          <p:cNvPr id="280" name="Shape 278"/>
          <p:cNvSpPr/>
          <p:nvPr/>
        </p:nvSpPr>
        <p:spPr>
          <a:xfrm>
            <a:off x="4172766" y="2254299"/>
            <a:ext cx="48169" cy="35841"/>
          </a:xfrm>
          <a:prstGeom prst="line">
            <a:avLst/>
          </a:prstGeom>
          <a:noFill/>
          <a:ln w="31750">
            <a:solidFill>
              <a:srgbClr val="2F6DB5"/>
            </a:solidFill>
            <a:prstDash val="solid"/>
          </a:ln>
        </p:spPr>
      </p:sp>
      <p:sp>
        <p:nvSpPr>
          <p:cNvPr id="281" name="Shape 279"/>
          <p:cNvSpPr/>
          <p:nvPr/>
        </p:nvSpPr>
        <p:spPr>
          <a:xfrm>
            <a:off x="4220936" y="2290141"/>
            <a:ext cx="48169" cy="25500"/>
          </a:xfrm>
          <a:prstGeom prst="line">
            <a:avLst/>
          </a:prstGeom>
          <a:noFill/>
          <a:ln w="31750">
            <a:solidFill>
              <a:srgbClr val="2F6DB5"/>
            </a:solidFill>
            <a:prstDash val="solid"/>
          </a:ln>
        </p:spPr>
      </p:sp>
      <p:sp>
        <p:nvSpPr>
          <p:cNvPr id="282" name="Shape 280"/>
          <p:cNvSpPr/>
          <p:nvPr/>
        </p:nvSpPr>
        <p:spPr>
          <a:xfrm>
            <a:off x="4269105" y="2315641"/>
            <a:ext cx="48169" cy="16794"/>
          </a:xfrm>
          <a:prstGeom prst="line">
            <a:avLst/>
          </a:prstGeom>
          <a:noFill/>
          <a:ln w="31750">
            <a:solidFill>
              <a:srgbClr val="2F6DB5"/>
            </a:solidFill>
            <a:prstDash val="solid"/>
          </a:ln>
        </p:spPr>
      </p:sp>
      <p:sp>
        <p:nvSpPr>
          <p:cNvPr id="283" name="Shape 281"/>
          <p:cNvSpPr/>
          <p:nvPr/>
        </p:nvSpPr>
        <p:spPr>
          <a:xfrm>
            <a:off x="4317274" y="2332434"/>
            <a:ext cx="48169" cy="10271"/>
          </a:xfrm>
          <a:prstGeom prst="line">
            <a:avLst/>
          </a:prstGeom>
          <a:noFill/>
          <a:ln w="31750">
            <a:solidFill>
              <a:srgbClr val="2F6DB5"/>
            </a:solidFill>
            <a:prstDash val="solid"/>
          </a:ln>
        </p:spPr>
      </p:sp>
      <p:sp>
        <p:nvSpPr>
          <p:cNvPr id="284" name="Shape 282"/>
          <p:cNvSpPr/>
          <p:nvPr/>
        </p:nvSpPr>
        <p:spPr>
          <a:xfrm>
            <a:off x="4365444" y="2342705"/>
            <a:ext cx="48169" cy="5846"/>
          </a:xfrm>
          <a:prstGeom prst="line">
            <a:avLst/>
          </a:prstGeom>
          <a:noFill/>
          <a:ln w="31750">
            <a:solidFill>
              <a:srgbClr val="2F6DB5"/>
            </a:solidFill>
            <a:prstDash val="solid"/>
          </a:ln>
        </p:spPr>
      </p:sp>
      <p:sp>
        <p:nvSpPr>
          <p:cNvPr id="285" name="Shape 283"/>
          <p:cNvSpPr/>
          <p:nvPr/>
        </p:nvSpPr>
        <p:spPr>
          <a:xfrm>
            <a:off x="4413613" y="2348551"/>
            <a:ext cx="48169" cy="3100"/>
          </a:xfrm>
          <a:prstGeom prst="line">
            <a:avLst/>
          </a:prstGeom>
          <a:noFill/>
          <a:ln w="31750">
            <a:solidFill>
              <a:srgbClr val="2F6DB5"/>
            </a:solidFill>
            <a:prstDash val="solid"/>
          </a:ln>
        </p:spPr>
      </p:sp>
      <p:sp>
        <p:nvSpPr>
          <p:cNvPr id="286" name="Shape 284"/>
          <p:cNvSpPr/>
          <p:nvPr/>
        </p:nvSpPr>
        <p:spPr>
          <a:xfrm>
            <a:off x="4461782" y="2351651"/>
            <a:ext cx="48169" cy="1529"/>
          </a:xfrm>
          <a:prstGeom prst="line">
            <a:avLst/>
          </a:prstGeom>
          <a:noFill/>
          <a:ln w="31750">
            <a:solidFill>
              <a:srgbClr val="2F6DB5"/>
            </a:solidFill>
            <a:prstDash val="solid"/>
          </a:ln>
        </p:spPr>
      </p:sp>
      <p:sp>
        <p:nvSpPr>
          <p:cNvPr id="287" name="Shape 285"/>
          <p:cNvSpPr/>
          <p:nvPr/>
        </p:nvSpPr>
        <p:spPr>
          <a:xfrm>
            <a:off x="4509951" y="2353180"/>
            <a:ext cx="48169" cy="695"/>
          </a:xfrm>
          <a:prstGeom prst="line">
            <a:avLst/>
          </a:prstGeom>
          <a:noFill/>
          <a:ln w="31750">
            <a:solidFill>
              <a:srgbClr val="2F6DB5"/>
            </a:solidFill>
            <a:prstDash val="solid"/>
          </a:ln>
        </p:spPr>
      </p:sp>
      <p:sp>
        <p:nvSpPr>
          <p:cNvPr id="288" name="Shape 286"/>
          <p:cNvSpPr/>
          <p:nvPr/>
        </p:nvSpPr>
        <p:spPr>
          <a:xfrm>
            <a:off x="4558121" y="2353876"/>
            <a:ext cx="48169" cy="280"/>
          </a:xfrm>
          <a:prstGeom prst="line">
            <a:avLst/>
          </a:prstGeom>
          <a:noFill/>
          <a:ln w="31750">
            <a:solidFill>
              <a:srgbClr val="2F6DB5"/>
            </a:solidFill>
            <a:prstDash val="solid"/>
          </a:ln>
        </p:spPr>
      </p:sp>
      <p:sp>
        <p:nvSpPr>
          <p:cNvPr id="289" name="Shape 287"/>
          <p:cNvSpPr/>
          <p:nvPr/>
        </p:nvSpPr>
        <p:spPr>
          <a:xfrm>
            <a:off x="4606290" y="2354156"/>
            <a:ext cx="48169" cy="82"/>
          </a:xfrm>
          <a:prstGeom prst="line">
            <a:avLst/>
          </a:prstGeom>
          <a:noFill/>
          <a:ln w="31750">
            <a:solidFill>
              <a:srgbClr val="2F6DB5"/>
            </a:solidFill>
            <a:prstDash val="solid"/>
          </a:ln>
        </p:spPr>
      </p:sp>
      <p:sp>
        <p:nvSpPr>
          <p:cNvPr id="290" name="Shape 288"/>
          <p:cNvSpPr/>
          <p:nvPr/>
        </p:nvSpPr>
        <p:spPr>
          <a:xfrm flipV="1">
            <a:off x="4654459" y="2354225"/>
            <a:ext cx="48169" cy="13"/>
          </a:xfrm>
          <a:prstGeom prst="line">
            <a:avLst/>
          </a:prstGeom>
          <a:noFill/>
          <a:ln w="31750">
            <a:solidFill>
              <a:srgbClr val="2F6DB5"/>
            </a:solidFill>
            <a:prstDash val="solid"/>
          </a:ln>
        </p:spPr>
      </p:sp>
      <p:sp>
        <p:nvSpPr>
          <p:cNvPr id="291" name="Shape 289"/>
          <p:cNvSpPr/>
          <p:nvPr/>
        </p:nvSpPr>
        <p:spPr>
          <a:xfrm flipV="1">
            <a:off x="4702629" y="2354159"/>
            <a:ext cx="48169" cy="66"/>
          </a:xfrm>
          <a:prstGeom prst="line">
            <a:avLst/>
          </a:prstGeom>
          <a:noFill/>
          <a:ln w="31750">
            <a:solidFill>
              <a:srgbClr val="2F6DB5"/>
            </a:solidFill>
            <a:prstDash val="solid"/>
          </a:ln>
        </p:spPr>
      </p:sp>
      <p:sp>
        <p:nvSpPr>
          <p:cNvPr id="292" name="Shape 290"/>
          <p:cNvSpPr/>
          <p:nvPr/>
        </p:nvSpPr>
        <p:spPr>
          <a:xfrm flipV="1">
            <a:off x="4750798" y="2354056"/>
            <a:ext cx="48169" cy="103"/>
          </a:xfrm>
          <a:prstGeom prst="line">
            <a:avLst/>
          </a:prstGeom>
          <a:noFill/>
          <a:ln w="31750">
            <a:solidFill>
              <a:srgbClr val="2F6DB5"/>
            </a:solidFill>
            <a:prstDash val="solid"/>
          </a:ln>
        </p:spPr>
      </p:sp>
      <p:sp>
        <p:nvSpPr>
          <p:cNvPr id="293" name="Shape 291"/>
          <p:cNvSpPr/>
          <p:nvPr/>
        </p:nvSpPr>
        <p:spPr>
          <a:xfrm flipV="1">
            <a:off x="4798967" y="2353917"/>
            <a:ext cx="48169" cy="139"/>
          </a:xfrm>
          <a:prstGeom prst="line">
            <a:avLst/>
          </a:prstGeom>
          <a:noFill/>
          <a:ln w="31750">
            <a:solidFill>
              <a:srgbClr val="2F6DB5"/>
            </a:solidFill>
            <a:prstDash val="solid"/>
          </a:ln>
        </p:spPr>
      </p:sp>
      <p:sp>
        <p:nvSpPr>
          <p:cNvPr id="294" name="Shape 292"/>
          <p:cNvSpPr/>
          <p:nvPr/>
        </p:nvSpPr>
        <p:spPr>
          <a:xfrm flipV="1">
            <a:off x="4847136" y="2353739"/>
            <a:ext cx="48169" cy="179"/>
          </a:xfrm>
          <a:prstGeom prst="line">
            <a:avLst/>
          </a:prstGeom>
          <a:noFill/>
          <a:ln w="31750">
            <a:solidFill>
              <a:srgbClr val="2F6DB5"/>
            </a:solidFill>
            <a:prstDash val="solid"/>
          </a:ln>
        </p:spPr>
      </p:sp>
      <p:sp>
        <p:nvSpPr>
          <p:cNvPr id="295" name="Shape 293"/>
          <p:cNvSpPr/>
          <p:nvPr/>
        </p:nvSpPr>
        <p:spPr>
          <a:xfrm flipV="1">
            <a:off x="4895306" y="2353513"/>
            <a:ext cx="48169" cy="226"/>
          </a:xfrm>
          <a:prstGeom prst="line">
            <a:avLst/>
          </a:prstGeom>
          <a:noFill/>
          <a:ln w="31750">
            <a:solidFill>
              <a:srgbClr val="2F6DB5"/>
            </a:solidFill>
            <a:prstDash val="solid"/>
          </a:ln>
        </p:spPr>
      </p:sp>
      <p:sp>
        <p:nvSpPr>
          <p:cNvPr id="296" name="Shape 294"/>
          <p:cNvSpPr/>
          <p:nvPr/>
        </p:nvSpPr>
        <p:spPr>
          <a:xfrm flipV="1">
            <a:off x="4943475" y="2353231"/>
            <a:ext cx="48169" cy="282"/>
          </a:xfrm>
          <a:prstGeom prst="line">
            <a:avLst/>
          </a:prstGeom>
          <a:noFill/>
          <a:ln w="31750">
            <a:solidFill>
              <a:srgbClr val="2F6DB5"/>
            </a:solidFill>
            <a:prstDash val="solid"/>
          </a:ln>
        </p:spPr>
      </p:sp>
      <p:sp>
        <p:nvSpPr>
          <p:cNvPr id="297" name="Shape 295"/>
          <p:cNvSpPr/>
          <p:nvPr/>
        </p:nvSpPr>
        <p:spPr>
          <a:xfrm flipV="1">
            <a:off x="4991644" y="2352880"/>
            <a:ext cx="48169" cy="350"/>
          </a:xfrm>
          <a:prstGeom prst="line">
            <a:avLst/>
          </a:prstGeom>
          <a:noFill/>
          <a:ln w="31750">
            <a:solidFill>
              <a:srgbClr val="2F6DB5"/>
            </a:solidFill>
            <a:prstDash val="solid"/>
          </a:ln>
        </p:spPr>
      </p:sp>
      <p:sp>
        <p:nvSpPr>
          <p:cNvPr id="298" name="Shape 296"/>
          <p:cNvSpPr/>
          <p:nvPr/>
        </p:nvSpPr>
        <p:spPr>
          <a:xfrm flipV="1">
            <a:off x="5039814" y="2352449"/>
            <a:ext cx="48169" cy="431"/>
          </a:xfrm>
          <a:prstGeom prst="line">
            <a:avLst/>
          </a:prstGeom>
          <a:noFill/>
          <a:ln w="31750">
            <a:solidFill>
              <a:srgbClr val="2F6DB5"/>
            </a:solidFill>
            <a:prstDash val="solid"/>
          </a:ln>
        </p:spPr>
      </p:sp>
      <p:sp>
        <p:nvSpPr>
          <p:cNvPr id="299" name="Shape 297"/>
          <p:cNvSpPr/>
          <p:nvPr/>
        </p:nvSpPr>
        <p:spPr>
          <a:xfrm flipV="1">
            <a:off x="5087983" y="2351921"/>
            <a:ext cx="48169" cy="528"/>
          </a:xfrm>
          <a:prstGeom prst="line">
            <a:avLst/>
          </a:prstGeom>
          <a:noFill/>
          <a:ln w="31750">
            <a:solidFill>
              <a:srgbClr val="2F6DB5"/>
            </a:solidFill>
            <a:prstDash val="solid"/>
          </a:ln>
        </p:spPr>
      </p:sp>
      <p:sp>
        <p:nvSpPr>
          <p:cNvPr id="300" name="Shape 298"/>
          <p:cNvSpPr/>
          <p:nvPr/>
        </p:nvSpPr>
        <p:spPr>
          <a:xfrm flipV="1">
            <a:off x="5136152" y="2351278"/>
            <a:ext cx="48169" cy="643"/>
          </a:xfrm>
          <a:prstGeom prst="line">
            <a:avLst/>
          </a:prstGeom>
          <a:noFill/>
          <a:ln w="31750">
            <a:solidFill>
              <a:srgbClr val="2F6DB5"/>
            </a:solidFill>
            <a:prstDash val="solid"/>
          </a:ln>
        </p:spPr>
      </p:sp>
      <p:sp>
        <p:nvSpPr>
          <p:cNvPr id="301" name="Shape 299"/>
          <p:cNvSpPr/>
          <p:nvPr/>
        </p:nvSpPr>
        <p:spPr>
          <a:xfrm flipV="1">
            <a:off x="5184321" y="2350499"/>
            <a:ext cx="48169" cy="778"/>
          </a:xfrm>
          <a:prstGeom prst="line">
            <a:avLst/>
          </a:prstGeom>
          <a:noFill/>
          <a:ln w="31750">
            <a:solidFill>
              <a:srgbClr val="2F6DB5"/>
            </a:solidFill>
            <a:prstDash val="solid"/>
          </a:ln>
        </p:spPr>
      </p:sp>
      <p:sp>
        <p:nvSpPr>
          <p:cNvPr id="302" name="Shape 300"/>
          <p:cNvSpPr/>
          <p:nvPr/>
        </p:nvSpPr>
        <p:spPr>
          <a:xfrm flipV="1">
            <a:off x="5232491" y="2349563"/>
            <a:ext cx="48169" cy="936"/>
          </a:xfrm>
          <a:prstGeom prst="line">
            <a:avLst/>
          </a:prstGeom>
          <a:noFill/>
          <a:ln w="31750">
            <a:solidFill>
              <a:srgbClr val="2F6DB5"/>
            </a:solidFill>
            <a:prstDash val="solid"/>
          </a:ln>
        </p:spPr>
      </p:sp>
      <p:sp>
        <p:nvSpPr>
          <p:cNvPr id="303" name="Shape 301"/>
          <p:cNvSpPr/>
          <p:nvPr/>
        </p:nvSpPr>
        <p:spPr>
          <a:xfrm flipV="1">
            <a:off x="5280660" y="2348443"/>
            <a:ext cx="48169" cy="1120"/>
          </a:xfrm>
          <a:prstGeom prst="line">
            <a:avLst/>
          </a:prstGeom>
          <a:noFill/>
          <a:ln w="31750">
            <a:solidFill>
              <a:srgbClr val="2F6DB5"/>
            </a:solidFill>
            <a:prstDash val="solid"/>
          </a:ln>
        </p:spPr>
      </p:sp>
      <p:sp>
        <p:nvSpPr>
          <p:cNvPr id="304" name="Shape 302"/>
          <p:cNvSpPr/>
          <p:nvPr/>
        </p:nvSpPr>
        <p:spPr>
          <a:xfrm flipV="1">
            <a:off x="5328829" y="2347111"/>
            <a:ext cx="48169" cy="1332"/>
          </a:xfrm>
          <a:prstGeom prst="line">
            <a:avLst/>
          </a:prstGeom>
          <a:noFill/>
          <a:ln w="31750">
            <a:solidFill>
              <a:srgbClr val="2F6DB5"/>
            </a:solidFill>
            <a:prstDash val="solid"/>
          </a:ln>
        </p:spPr>
      </p:sp>
      <p:sp>
        <p:nvSpPr>
          <p:cNvPr id="305" name="Shape 303"/>
          <p:cNvSpPr/>
          <p:nvPr/>
        </p:nvSpPr>
        <p:spPr>
          <a:xfrm flipV="1">
            <a:off x="5376999" y="2345537"/>
            <a:ext cx="48169" cy="1575"/>
          </a:xfrm>
          <a:prstGeom prst="line">
            <a:avLst/>
          </a:prstGeom>
          <a:noFill/>
          <a:ln w="31750">
            <a:solidFill>
              <a:srgbClr val="2F6DB5"/>
            </a:solidFill>
            <a:prstDash val="solid"/>
          </a:ln>
        </p:spPr>
      </p:sp>
      <p:sp>
        <p:nvSpPr>
          <p:cNvPr id="306" name="Shape 304"/>
          <p:cNvSpPr/>
          <p:nvPr/>
        </p:nvSpPr>
        <p:spPr>
          <a:xfrm flipV="1">
            <a:off x="5425168" y="2343686"/>
            <a:ext cx="48169" cy="1851"/>
          </a:xfrm>
          <a:prstGeom prst="line">
            <a:avLst/>
          </a:prstGeom>
          <a:noFill/>
          <a:ln w="31750">
            <a:solidFill>
              <a:srgbClr val="2F6DB5"/>
            </a:solidFill>
            <a:prstDash val="solid"/>
          </a:ln>
        </p:spPr>
      </p:sp>
      <p:sp>
        <p:nvSpPr>
          <p:cNvPr id="307" name="Shape 305"/>
          <p:cNvSpPr/>
          <p:nvPr/>
        </p:nvSpPr>
        <p:spPr>
          <a:xfrm flipV="1">
            <a:off x="5473337" y="2341523"/>
            <a:ext cx="48169" cy="2163"/>
          </a:xfrm>
          <a:prstGeom prst="line">
            <a:avLst/>
          </a:prstGeom>
          <a:noFill/>
          <a:ln w="31750">
            <a:solidFill>
              <a:srgbClr val="2F6DB5"/>
            </a:solidFill>
            <a:prstDash val="solid"/>
          </a:ln>
        </p:spPr>
      </p:sp>
      <p:sp>
        <p:nvSpPr>
          <p:cNvPr id="308" name="Shape 306"/>
          <p:cNvSpPr/>
          <p:nvPr/>
        </p:nvSpPr>
        <p:spPr>
          <a:xfrm flipV="1">
            <a:off x="5521506" y="2339010"/>
            <a:ext cx="48169" cy="2513"/>
          </a:xfrm>
          <a:prstGeom prst="line">
            <a:avLst/>
          </a:prstGeom>
          <a:noFill/>
          <a:ln w="31750">
            <a:solidFill>
              <a:srgbClr val="2F6DB5"/>
            </a:solidFill>
            <a:prstDash val="solid"/>
          </a:ln>
        </p:spPr>
      </p:sp>
      <p:sp>
        <p:nvSpPr>
          <p:cNvPr id="309" name="Shape 307"/>
          <p:cNvSpPr/>
          <p:nvPr/>
        </p:nvSpPr>
        <p:spPr>
          <a:xfrm flipV="1">
            <a:off x="5569676" y="2336108"/>
            <a:ext cx="48169" cy="2902"/>
          </a:xfrm>
          <a:prstGeom prst="line">
            <a:avLst/>
          </a:prstGeom>
          <a:noFill/>
          <a:ln w="31750">
            <a:solidFill>
              <a:srgbClr val="2F6DB5"/>
            </a:solidFill>
            <a:prstDash val="solid"/>
          </a:ln>
        </p:spPr>
      </p:sp>
      <p:sp>
        <p:nvSpPr>
          <p:cNvPr id="310" name="Shape 308"/>
          <p:cNvSpPr/>
          <p:nvPr/>
        </p:nvSpPr>
        <p:spPr>
          <a:xfrm flipV="1">
            <a:off x="5617845" y="2332776"/>
            <a:ext cx="48169" cy="3332"/>
          </a:xfrm>
          <a:prstGeom prst="line">
            <a:avLst/>
          </a:prstGeom>
          <a:noFill/>
          <a:ln w="31750">
            <a:solidFill>
              <a:srgbClr val="2F6DB5"/>
            </a:solidFill>
            <a:prstDash val="solid"/>
          </a:ln>
        </p:spPr>
      </p:sp>
      <p:sp>
        <p:nvSpPr>
          <p:cNvPr id="311" name="Shape 309"/>
          <p:cNvSpPr/>
          <p:nvPr/>
        </p:nvSpPr>
        <p:spPr>
          <a:xfrm flipV="1">
            <a:off x="5666014" y="2328974"/>
            <a:ext cx="48169" cy="3802"/>
          </a:xfrm>
          <a:prstGeom prst="line">
            <a:avLst/>
          </a:prstGeom>
          <a:noFill/>
          <a:ln w="31750">
            <a:solidFill>
              <a:srgbClr val="2F6DB5"/>
            </a:solidFill>
            <a:prstDash val="solid"/>
          </a:ln>
        </p:spPr>
      </p:sp>
      <p:sp>
        <p:nvSpPr>
          <p:cNvPr id="312" name="Shape 310"/>
          <p:cNvSpPr/>
          <p:nvPr/>
        </p:nvSpPr>
        <p:spPr>
          <a:xfrm flipV="1">
            <a:off x="5714184" y="2324663"/>
            <a:ext cx="48169" cy="4311"/>
          </a:xfrm>
          <a:prstGeom prst="line">
            <a:avLst/>
          </a:prstGeom>
          <a:noFill/>
          <a:ln w="31750">
            <a:solidFill>
              <a:srgbClr val="2F6DB5"/>
            </a:solidFill>
            <a:prstDash val="solid"/>
          </a:ln>
        </p:spPr>
      </p:sp>
      <p:sp>
        <p:nvSpPr>
          <p:cNvPr id="313" name="Shape 311"/>
          <p:cNvSpPr/>
          <p:nvPr/>
        </p:nvSpPr>
        <p:spPr>
          <a:xfrm flipV="1">
            <a:off x="5762353" y="2319804"/>
            <a:ext cx="48169" cy="4859"/>
          </a:xfrm>
          <a:prstGeom prst="line">
            <a:avLst/>
          </a:prstGeom>
          <a:noFill/>
          <a:ln w="31750">
            <a:solidFill>
              <a:srgbClr val="2F6DB5"/>
            </a:solidFill>
            <a:prstDash val="solid"/>
          </a:ln>
        </p:spPr>
      </p:sp>
      <p:sp>
        <p:nvSpPr>
          <p:cNvPr id="314" name="Shape 312"/>
          <p:cNvSpPr/>
          <p:nvPr/>
        </p:nvSpPr>
        <p:spPr>
          <a:xfrm flipV="1">
            <a:off x="5810522" y="2314361"/>
            <a:ext cx="48169" cy="5443"/>
          </a:xfrm>
          <a:prstGeom prst="line">
            <a:avLst/>
          </a:prstGeom>
          <a:noFill/>
          <a:ln w="31750">
            <a:solidFill>
              <a:srgbClr val="2F6DB5"/>
            </a:solidFill>
            <a:prstDash val="solid"/>
          </a:ln>
        </p:spPr>
      </p:sp>
      <p:sp>
        <p:nvSpPr>
          <p:cNvPr id="315" name="Shape 313"/>
          <p:cNvSpPr/>
          <p:nvPr/>
        </p:nvSpPr>
        <p:spPr>
          <a:xfrm flipV="1">
            <a:off x="5858691" y="2308303"/>
            <a:ext cx="48169" cy="6058"/>
          </a:xfrm>
          <a:prstGeom prst="line">
            <a:avLst/>
          </a:prstGeom>
          <a:noFill/>
          <a:ln w="31750">
            <a:solidFill>
              <a:srgbClr val="2F6DB5"/>
            </a:solidFill>
            <a:prstDash val="solid"/>
          </a:ln>
        </p:spPr>
      </p:sp>
      <p:sp>
        <p:nvSpPr>
          <p:cNvPr id="316" name="Shape 314"/>
          <p:cNvSpPr/>
          <p:nvPr/>
        </p:nvSpPr>
        <p:spPr>
          <a:xfrm flipV="1">
            <a:off x="5906861" y="2301604"/>
            <a:ext cx="48169" cy="6700"/>
          </a:xfrm>
          <a:prstGeom prst="line">
            <a:avLst/>
          </a:prstGeom>
          <a:noFill/>
          <a:ln w="31750">
            <a:solidFill>
              <a:srgbClr val="2F6DB5"/>
            </a:solidFill>
            <a:prstDash val="solid"/>
          </a:ln>
        </p:spPr>
      </p:sp>
      <p:sp>
        <p:nvSpPr>
          <p:cNvPr id="317" name="Shape 315"/>
          <p:cNvSpPr/>
          <p:nvPr/>
        </p:nvSpPr>
        <p:spPr>
          <a:xfrm flipV="1">
            <a:off x="5955030" y="2294243"/>
            <a:ext cx="48169" cy="7361"/>
          </a:xfrm>
          <a:prstGeom prst="line">
            <a:avLst/>
          </a:prstGeom>
          <a:noFill/>
          <a:ln w="31750">
            <a:solidFill>
              <a:srgbClr val="2F6DB5"/>
            </a:solidFill>
            <a:prstDash val="solid"/>
          </a:ln>
        </p:spPr>
      </p:sp>
      <p:sp>
        <p:nvSpPr>
          <p:cNvPr id="318" name="Shape 316"/>
          <p:cNvSpPr/>
          <p:nvPr/>
        </p:nvSpPr>
        <p:spPr>
          <a:xfrm flipV="1">
            <a:off x="6003199" y="2286209"/>
            <a:ext cx="48169" cy="8034"/>
          </a:xfrm>
          <a:prstGeom prst="line">
            <a:avLst/>
          </a:prstGeom>
          <a:noFill/>
          <a:ln w="31750">
            <a:solidFill>
              <a:srgbClr val="2F6DB5"/>
            </a:solidFill>
            <a:prstDash val="solid"/>
          </a:ln>
        </p:spPr>
      </p:sp>
      <p:sp>
        <p:nvSpPr>
          <p:cNvPr id="319" name="Shape 317"/>
          <p:cNvSpPr/>
          <p:nvPr/>
        </p:nvSpPr>
        <p:spPr>
          <a:xfrm flipV="1">
            <a:off x="6051369" y="2277500"/>
            <a:ext cx="48169" cy="8709"/>
          </a:xfrm>
          <a:prstGeom prst="line">
            <a:avLst/>
          </a:prstGeom>
          <a:noFill/>
          <a:ln w="31750">
            <a:solidFill>
              <a:srgbClr val="2F6DB5"/>
            </a:solidFill>
            <a:prstDash val="solid"/>
          </a:ln>
        </p:spPr>
      </p:sp>
      <p:sp>
        <p:nvSpPr>
          <p:cNvPr id="320" name="Shape 318"/>
          <p:cNvSpPr/>
          <p:nvPr/>
        </p:nvSpPr>
        <p:spPr>
          <a:xfrm flipV="1">
            <a:off x="6099538" y="2268123"/>
            <a:ext cx="48169" cy="9376"/>
          </a:xfrm>
          <a:prstGeom prst="line">
            <a:avLst/>
          </a:prstGeom>
          <a:noFill/>
          <a:ln w="31750">
            <a:solidFill>
              <a:srgbClr val="2F6DB5"/>
            </a:solidFill>
            <a:prstDash val="solid"/>
          </a:ln>
        </p:spPr>
      </p:sp>
      <p:sp>
        <p:nvSpPr>
          <p:cNvPr id="321" name="Shape 319"/>
          <p:cNvSpPr/>
          <p:nvPr/>
        </p:nvSpPr>
        <p:spPr>
          <a:xfrm flipV="1">
            <a:off x="6147707" y="2258100"/>
            <a:ext cx="48169" cy="10023"/>
          </a:xfrm>
          <a:prstGeom prst="line">
            <a:avLst/>
          </a:prstGeom>
          <a:noFill/>
          <a:ln w="31750">
            <a:solidFill>
              <a:srgbClr val="2F6DB5"/>
            </a:solidFill>
            <a:prstDash val="solid"/>
          </a:ln>
        </p:spPr>
      </p:sp>
      <p:sp>
        <p:nvSpPr>
          <p:cNvPr id="322" name="Shape 320"/>
          <p:cNvSpPr/>
          <p:nvPr/>
        </p:nvSpPr>
        <p:spPr>
          <a:xfrm flipV="1">
            <a:off x="6195876" y="2247462"/>
            <a:ext cx="48169" cy="10638"/>
          </a:xfrm>
          <a:prstGeom prst="line">
            <a:avLst/>
          </a:prstGeom>
          <a:noFill/>
          <a:ln w="31750">
            <a:solidFill>
              <a:srgbClr val="2F6DB5"/>
            </a:solidFill>
            <a:prstDash val="solid"/>
          </a:ln>
        </p:spPr>
      </p:sp>
      <p:sp>
        <p:nvSpPr>
          <p:cNvPr id="323" name="Shape 321"/>
          <p:cNvSpPr/>
          <p:nvPr/>
        </p:nvSpPr>
        <p:spPr>
          <a:xfrm flipV="1">
            <a:off x="6244046" y="2236257"/>
            <a:ext cx="48169" cy="11205"/>
          </a:xfrm>
          <a:prstGeom prst="line">
            <a:avLst/>
          </a:prstGeom>
          <a:noFill/>
          <a:ln w="31750">
            <a:solidFill>
              <a:srgbClr val="2F6DB5"/>
            </a:solidFill>
            <a:prstDash val="solid"/>
          </a:ln>
        </p:spPr>
      </p:sp>
      <p:sp>
        <p:nvSpPr>
          <p:cNvPr id="324" name="Shape 322"/>
          <p:cNvSpPr/>
          <p:nvPr/>
        </p:nvSpPr>
        <p:spPr>
          <a:xfrm flipV="1">
            <a:off x="6292215" y="2224545"/>
            <a:ext cx="48169" cy="11712"/>
          </a:xfrm>
          <a:prstGeom prst="line">
            <a:avLst/>
          </a:prstGeom>
          <a:noFill/>
          <a:ln w="31750">
            <a:solidFill>
              <a:srgbClr val="2F6DB5"/>
            </a:solidFill>
            <a:prstDash val="solid"/>
          </a:ln>
        </p:spPr>
      </p:sp>
      <p:sp>
        <p:nvSpPr>
          <p:cNvPr id="325" name="Shape 323"/>
          <p:cNvSpPr/>
          <p:nvPr/>
        </p:nvSpPr>
        <p:spPr>
          <a:xfrm flipV="1">
            <a:off x="6340384" y="2212400"/>
            <a:ext cx="48169" cy="12144"/>
          </a:xfrm>
          <a:prstGeom prst="line">
            <a:avLst/>
          </a:prstGeom>
          <a:noFill/>
          <a:ln w="31750">
            <a:solidFill>
              <a:srgbClr val="2F6DB5"/>
            </a:solidFill>
            <a:prstDash val="solid"/>
          </a:ln>
        </p:spPr>
      </p:sp>
      <p:sp>
        <p:nvSpPr>
          <p:cNvPr id="326" name="Shape 324"/>
          <p:cNvSpPr/>
          <p:nvPr/>
        </p:nvSpPr>
        <p:spPr>
          <a:xfrm flipV="1">
            <a:off x="6388554" y="2199913"/>
            <a:ext cx="48169" cy="12487"/>
          </a:xfrm>
          <a:prstGeom prst="line">
            <a:avLst/>
          </a:prstGeom>
          <a:noFill/>
          <a:ln w="31750">
            <a:solidFill>
              <a:srgbClr val="2F6DB5"/>
            </a:solidFill>
            <a:prstDash val="solid"/>
          </a:ln>
        </p:spPr>
      </p:sp>
      <p:sp>
        <p:nvSpPr>
          <p:cNvPr id="327" name="Shape 325"/>
          <p:cNvSpPr/>
          <p:nvPr/>
        </p:nvSpPr>
        <p:spPr>
          <a:xfrm flipV="1">
            <a:off x="6436723" y="2187185"/>
            <a:ext cx="48169" cy="12728"/>
          </a:xfrm>
          <a:prstGeom prst="line">
            <a:avLst/>
          </a:prstGeom>
          <a:noFill/>
          <a:ln w="31750">
            <a:solidFill>
              <a:srgbClr val="2F6DB5"/>
            </a:solidFill>
            <a:prstDash val="solid"/>
          </a:ln>
        </p:spPr>
      </p:sp>
      <p:sp>
        <p:nvSpPr>
          <p:cNvPr id="328" name="Shape 326"/>
          <p:cNvSpPr/>
          <p:nvPr/>
        </p:nvSpPr>
        <p:spPr>
          <a:xfrm flipV="1">
            <a:off x="6484892" y="2174331"/>
            <a:ext cx="48169" cy="12853"/>
          </a:xfrm>
          <a:prstGeom prst="line">
            <a:avLst/>
          </a:prstGeom>
          <a:noFill/>
          <a:ln w="31750">
            <a:solidFill>
              <a:srgbClr val="2F6DB5"/>
            </a:solidFill>
            <a:prstDash val="solid"/>
          </a:ln>
        </p:spPr>
      </p:sp>
      <p:sp>
        <p:nvSpPr>
          <p:cNvPr id="329" name="Shape 327"/>
          <p:cNvSpPr/>
          <p:nvPr/>
        </p:nvSpPr>
        <p:spPr>
          <a:xfrm flipV="1">
            <a:off x="6533061" y="2161479"/>
            <a:ext cx="48169" cy="12853"/>
          </a:xfrm>
          <a:prstGeom prst="line">
            <a:avLst/>
          </a:prstGeom>
          <a:noFill/>
          <a:ln w="31750">
            <a:solidFill>
              <a:srgbClr val="2F6DB5"/>
            </a:solidFill>
            <a:prstDash val="solid"/>
          </a:ln>
        </p:spPr>
      </p:sp>
      <p:sp>
        <p:nvSpPr>
          <p:cNvPr id="330" name="Shape 328"/>
          <p:cNvSpPr/>
          <p:nvPr/>
        </p:nvSpPr>
        <p:spPr>
          <a:xfrm flipV="1">
            <a:off x="6581231" y="2148762"/>
            <a:ext cx="48169" cy="12716"/>
          </a:xfrm>
          <a:prstGeom prst="line">
            <a:avLst/>
          </a:prstGeom>
          <a:noFill/>
          <a:ln w="31750">
            <a:solidFill>
              <a:srgbClr val="2F6DB5"/>
            </a:solidFill>
            <a:prstDash val="solid"/>
          </a:ln>
        </p:spPr>
      </p:sp>
      <p:sp>
        <p:nvSpPr>
          <p:cNvPr id="331" name="Shape 329"/>
          <p:cNvSpPr/>
          <p:nvPr/>
        </p:nvSpPr>
        <p:spPr>
          <a:xfrm>
            <a:off x="1234440" y="2391018"/>
            <a:ext cx="48169" cy="1106"/>
          </a:xfrm>
          <a:prstGeom prst="line">
            <a:avLst/>
          </a:prstGeom>
          <a:noFill/>
          <a:ln w="31750">
            <a:solidFill>
              <a:srgbClr val="7B3FA0"/>
            </a:solidFill>
            <a:prstDash val="solid"/>
          </a:ln>
        </p:spPr>
      </p:sp>
      <p:sp>
        <p:nvSpPr>
          <p:cNvPr id="332" name="Shape 330"/>
          <p:cNvSpPr/>
          <p:nvPr/>
        </p:nvSpPr>
        <p:spPr>
          <a:xfrm>
            <a:off x="1282609" y="2392125"/>
            <a:ext cx="48169" cy="1003"/>
          </a:xfrm>
          <a:prstGeom prst="line">
            <a:avLst/>
          </a:prstGeom>
          <a:noFill/>
          <a:ln w="31750">
            <a:solidFill>
              <a:srgbClr val="7B3FA0"/>
            </a:solidFill>
            <a:prstDash val="solid"/>
          </a:ln>
        </p:spPr>
      </p:sp>
      <p:sp>
        <p:nvSpPr>
          <p:cNvPr id="333" name="Shape 331"/>
          <p:cNvSpPr/>
          <p:nvPr/>
        </p:nvSpPr>
        <p:spPr>
          <a:xfrm>
            <a:off x="1330779" y="2393127"/>
            <a:ext cx="48169" cy="904"/>
          </a:xfrm>
          <a:prstGeom prst="line">
            <a:avLst/>
          </a:prstGeom>
          <a:noFill/>
          <a:ln w="31750">
            <a:solidFill>
              <a:srgbClr val="7B3FA0"/>
            </a:solidFill>
            <a:prstDash val="solid"/>
          </a:ln>
        </p:spPr>
      </p:sp>
      <p:sp>
        <p:nvSpPr>
          <p:cNvPr id="334" name="Shape 332"/>
          <p:cNvSpPr/>
          <p:nvPr/>
        </p:nvSpPr>
        <p:spPr>
          <a:xfrm>
            <a:off x="1378948" y="2394032"/>
            <a:ext cx="48169" cy="811"/>
          </a:xfrm>
          <a:prstGeom prst="line">
            <a:avLst/>
          </a:prstGeom>
          <a:noFill/>
          <a:ln w="31750">
            <a:solidFill>
              <a:srgbClr val="7B3FA0"/>
            </a:solidFill>
            <a:prstDash val="solid"/>
          </a:ln>
        </p:spPr>
      </p:sp>
      <p:sp>
        <p:nvSpPr>
          <p:cNvPr id="335" name="Shape 333"/>
          <p:cNvSpPr/>
          <p:nvPr/>
        </p:nvSpPr>
        <p:spPr>
          <a:xfrm>
            <a:off x="1427117" y="2394843"/>
            <a:ext cx="48169" cy="725"/>
          </a:xfrm>
          <a:prstGeom prst="line">
            <a:avLst/>
          </a:prstGeom>
          <a:noFill/>
          <a:ln w="31750">
            <a:solidFill>
              <a:srgbClr val="7B3FA0"/>
            </a:solidFill>
            <a:prstDash val="solid"/>
          </a:ln>
        </p:spPr>
      </p:sp>
      <p:sp>
        <p:nvSpPr>
          <p:cNvPr id="336" name="Shape 334"/>
          <p:cNvSpPr/>
          <p:nvPr/>
        </p:nvSpPr>
        <p:spPr>
          <a:xfrm>
            <a:off x="1475286" y="2395568"/>
            <a:ext cx="48169" cy="644"/>
          </a:xfrm>
          <a:prstGeom prst="line">
            <a:avLst/>
          </a:prstGeom>
          <a:noFill/>
          <a:ln w="31750">
            <a:solidFill>
              <a:srgbClr val="7B3FA0"/>
            </a:solidFill>
            <a:prstDash val="solid"/>
          </a:ln>
        </p:spPr>
      </p:sp>
      <p:sp>
        <p:nvSpPr>
          <p:cNvPr id="337" name="Shape 335"/>
          <p:cNvSpPr/>
          <p:nvPr/>
        </p:nvSpPr>
        <p:spPr>
          <a:xfrm>
            <a:off x="1523456" y="2396212"/>
            <a:ext cx="48169" cy="570"/>
          </a:xfrm>
          <a:prstGeom prst="line">
            <a:avLst/>
          </a:prstGeom>
          <a:noFill/>
          <a:ln w="31750">
            <a:solidFill>
              <a:srgbClr val="7B3FA0"/>
            </a:solidFill>
            <a:prstDash val="solid"/>
          </a:ln>
        </p:spPr>
      </p:sp>
      <p:sp>
        <p:nvSpPr>
          <p:cNvPr id="338" name="Shape 336"/>
          <p:cNvSpPr/>
          <p:nvPr/>
        </p:nvSpPr>
        <p:spPr>
          <a:xfrm>
            <a:off x="1571625" y="2396782"/>
            <a:ext cx="48169" cy="502"/>
          </a:xfrm>
          <a:prstGeom prst="line">
            <a:avLst/>
          </a:prstGeom>
          <a:noFill/>
          <a:ln w="31750">
            <a:solidFill>
              <a:srgbClr val="7B3FA0"/>
            </a:solidFill>
            <a:prstDash val="solid"/>
          </a:ln>
        </p:spPr>
      </p:sp>
      <p:sp>
        <p:nvSpPr>
          <p:cNvPr id="339" name="Shape 337"/>
          <p:cNvSpPr/>
          <p:nvPr/>
        </p:nvSpPr>
        <p:spPr>
          <a:xfrm>
            <a:off x="1619794" y="2397284"/>
            <a:ext cx="48169" cy="440"/>
          </a:xfrm>
          <a:prstGeom prst="line">
            <a:avLst/>
          </a:prstGeom>
          <a:noFill/>
          <a:ln w="31750">
            <a:solidFill>
              <a:srgbClr val="7B3FA0"/>
            </a:solidFill>
            <a:prstDash val="solid"/>
          </a:ln>
        </p:spPr>
      </p:sp>
      <p:sp>
        <p:nvSpPr>
          <p:cNvPr id="340" name="Shape 338"/>
          <p:cNvSpPr/>
          <p:nvPr/>
        </p:nvSpPr>
        <p:spPr>
          <a:xfrm>
            <a:off x="1667964" y="2397724"/>
            <a:ext cx="48169" cy="384"/>
          </a:xfrm>
          <a:prstGeom prst="line">
            <a:avLst/>
          </a:prstGeom>
          <a:noFill/>
          <a:ln w="31750">
            <a:solidFill>
              <a:srgbClr val="7B3FA0"/>
            </a:solidFill>
            <a:prstDash val="solid"/>
          </a:ln>
        </p:spPr>
      </p:sp>
      <p:sp>
        <p:nvSpPr>
          <p:cNvPr id="341" name="Shape 339"/>
          <p:cNvSpPr/>
          <p:nvPr/>
        </p:nvSpPr>
        <p:spPr>
          <a:xfrm>
            <a:off x="1716133" y="2398108"/>
            <a:ext cx="48169" cy="333"/>
          </a:xfrm>
          <a:prstGeom prst="line">
            <a:avLst/>
          </a:prstGeom>
          <a:noFill/>
          <a:ln w="31750">
            <a:solidFill>
              <a:srgbClr val="7B3FA0"/>
            </a:solidFill>
            <a:prstDash val="solid"/>
          </a:ln>
        </p:spPr>
      </p:sp>
      <p:sp>
        <p:nvSpPr>
          <p:cNvPr id="342" name="Shape 340"/>
          <p:cNvSpPr/>
          <p:nvPr/>
        </p:nvSpPr>
        <p:spPr>
          <a:xfrm>
            <a:off x="1764302" y="2398441"/>
            <a:ext cx="48169" cy="288"/>
          </a:xfrm>
          <a:prstGeom prst="line">
            <a:avLst/>
          </a:prstGeom>
          <a:noFill/>
          <a:ln w="31750">
            <a:solidFill>
              <a:srgbClr val="7B3FA0"/>
            </a:solidFill>
            <a:prstDash val="solid"/>
          </a:ln>
        </p:spPr>
      </p:sp>
      <p:sp>
        <p:nvSpPr>
          <p:cNvPr id="343" name="Shape 341"/>
          <p:cNvSpPr/>
          <p:nvPr/>
        </p:nvSpPr>
        <p:spPr>
          <a:xfrm>
            <a:off x="1812471" y="2398729"/>
            <a:ext cx="48169" cy="247"/>
          </a:xfrm>
          <a:prstGeom prst="line">
            <a:avLst/>
          </a:prstGeom>
          <a:noFill/>
          <a:ln w="31750">
            <a:solidFill>
              <a:srgbClr val="7B3FA0"/>
            </a:solidFill>
            <a:prstDash val="solid"/>
          </a:ln>
        </p:spPr>
      </p:sp>
      <p:sp>
        <p:nvSpPr>
          <p:cNvPr id="344" name="Shape 342"/>
          <p:cNvSpPr/>
          <p:nvPr/>
        </p:nvSpPr>
        <p:spPr>
          <a:xfrm>
            <a:off x="1860641" y="2398976"/>
            <a:ext cx="48169" cy="211"/>
          </a:xfrm>
          <a:prstGeom prst="line">
            <a:avLst/>
          </a:prstGeom>
          <a:noFill/>
          <a:ln w="31750">
            <a:solidFill>
              <a:srgbClr val="7B3FA0"/>
            </a:solidFill>
            <a:prstDash val="solid"/>
          </a:ln>
        </p:spPr>
      </p:sp>
      <p:sp>
        <p:nvSpPr>
          <p:cNvPr id="345" name="Shape 343"/>
          <p:cNvSpPr/>
          <p:nvPr/>
        </p:nvSpPr>
        <p:spPr>
          <a:xfrm>
            <a:off x="1908810" y="2399186"/>
            <a:ext cx="48169" cy="179"/>
          </a:xfrm>
          <a:prstGeom prst="line">
            <a:avLst/>
          </a:prstGeom>
          <a:noFill/>
          <a:ln w="31750">
            <a:solidFill>
              <a:srgbClr val="7B3FA0"/>
            </a:solidFill>
            <a:prstDash val="solid"/>
          </a:ln>
        </p:spPr>
      </p:sp>
      <p:sp>
        <p:nvSpPr>
          <p:cNvPr id="346" name="Shape 344"/>
          <p:cNvSpPr/>
          <p:nvPr/>
        </p:nvSpPr>
        <p:spPr>
          <a:xfrm>
            <a:off x="1956979" y="2399365"/>
            <a:ext cx="48169" cy="150"/>
          </a:xfrm>
          <a:prstGeom prst="line">
            <a:avLst/>
          </a:prstGeom>
          <a:noFill/>
          <a:ln w="31750">
            <a:solidFill>
              <a:srgbClr val="7B3FA0"/>
            </a:solidFill>
            <a:prstDash val="solid"/>
          </a:ln>
        </p:spPr>
      </p:sp>
      <p:sp>
        <p:nvSpPr>
          <p:cNvPr id="347" name="Shape 345"/>
          <p:cNvSpPr/>
          <p:nvPr/>
        </p:nvSpPr>
        <p:spPr>
          <a:xfrm>
            <a:off x="2005149" y="2399515"/>
            <a:ext cx="48169" cy="125"/>
          </a:xfrm>
          <a:prstGeom prst="line">
            <a:avLst/>
          </a:prstGeom>
          <a:noFill/>
          <a:ln w="31750">
            <a:solidFill>
              <a:srgbClr val="7B3FA0"/>
            </a:solidFill>
            <a:prstDash val="solid"/>
          </a:ln>
        </p:spPr>
      </p:sp>
      <p:sp>
        <p:nvSpPr>
          <p:cNvPr id="348" name="Shape 346"/>
          <p:cNvSpPr/>
          <p:nvPr/>
        </p:nvSpPr>
        <p:spPr>
          <a:xfrm>
            <a:off x="2053318" y="2399640"/>
            <a:ext cx="48169" cy="103"/>
          </a:xfrm>
          <a:prstGeom prst="line">
            <a:avLst/>
          </a:prstGeom>
          <a:noFill/>
          <a:ln w="31750">
            <a:solidFill>
              <a:srgbClr val="7B3FA0"/>
            </a:solidFill>
            <a:prstDash val="solid"/>
          </a:ln>
        </p:spPr>
      </p:sp>
      <p:sp>
        <p:nvSpPr>
          <p:cNvPr id="349" name="Shape 347"/>
          <p:cNvSpPr/>
          <p:nvPr/>
        </p:nvSpPr>
        <p:spPr>
          <a:xfrm>
            <a:off x="2101487" y="2399743"/>
            <a:ext cx="48169" cy="83"/>
          </a:xfrm>
          <a:prstGeom prst="line">
            <a:avLst/>
          </a:prstGeom>
          <a:noFill/>
          <a:ln w="31750">
            <a:solidFill>
              <a:srgbClr val="7B3FA0"/>
            </a:solidFill>
            <a:prstDash val="solid"/>
          </a:ln>
        </p:spPr>
      </p:sp>
      <p:sp>
        <p:nvSpPr>
          <p:cNvPr id="350" name="Shape 348"/>
          <p:cNvSpPr/>
          <p:nvPr/>
        </p:nvSpPr>
        <p:spPr>
          <a:xfrm>
            <a:off x="2149656" y="2399826"/>
            <a:ext cx="48169" cy="65"/>
          </a:xfrm>
          <a:prstGeom prst="line">
            <a:avLst/>
          </a:prstGeom>
          <a:noFill/>
          <a:ln w="31750">
            <a:solidFill>
              <a:srgbClr val="7B3FA0"/>
            </a:solidFill>
            <a:prstDash val="solid"/>
          </a:ln>
        </p:spPr>
      </p:sp>
      <p:sp>
        <p:nvSpPr>
          <p:cNvPr id="351" name="Shape 349"/>
          <p:cNvSpPr/>
          <p:nvPr/>
        </p:nvSpPr>
        <p:spPr>
          <a:xfrm>
            <a:off x="2197826" y="2399891"/>
            <a:ext cx="48169" cy="49"/>
          </a:xfrm>
          <a:prstGeom prst="line">
            <a:avLst/>
          </a:prstGeom>
          <a:noFill/>
          <a:ln w="31750">
            <a:solidFill>
              <a:srgbClr val="7B3FA0"/>
            </a:solidFill>
            <a:prstDash val="solid"/>
          </a:ln>
        </p:spPr>
      </p:sp>
      <p:sp>
        <p:nvSpPr>
          <p:cNvPr id="352" name="Shape 350"/>
          <p:cNvSpPr/>
          <p:nvPr/>
        </p:nvSpPr>
        <p:spPr>
          <a:xfrm>
            <a:off x="2245995" y="2399939"/>
            <a:ext cx="48169" cy="34"/>
          </a:xfrm>
          <a:prstGeom prst="line">
            <a:avLst/>
          </a:prstGeom>
          <a:noFill/>
          <a:ln w="31750">
            <a:solidFill>
              <a:srgbClr val="7B3FA0"/>
            </a:solidFill>
            <a:prstDash val="solid"/>
          </a:ln>
        </p:spPr>
      </p:sp>
      <p:sp>
        <p:nvSpPr>
          <p:cNvPr id="353" name="Shape 351"/>
          <p:cNvSpPr/>
          <p:nvPr/>
        </p:nvSpPr>
        <p:spPr>
          <a:xfrm>
            <a:off x="2294164" y="2399973"/>
            <a:ext cx="48169" cy="20"/>
          </a:xfrm>
          <a:prstGeom prst="line">
            <a:avLst/>
          </a:prstGeom>
          <a:noFill/>
          <a:ln w="31750">
            <a:solidFill>
              <a:srgbClr val="7B3FA0"/>
            </a:solidFill>
            <a:prstDash val="solid"/>
          </a:ln>
        </p:spPr>
      </p:sp>
      <p:sp>
        <p:nvSpPr>
          <p:cNvPr id="354" name="Shape 352"/>
          <p:cNvSpPr/>
          <p:nvPr/>
        </p:nvSpPr>
        <p:spPr>
          <a:xfrm>
            <a:off x="2342334" y="2399993"/>
            <a:ext cx="48169" cy="7"/>
          </a:xfrm>
          <a:prstGeom prst="line">
            <a:avLst/>
          </a:prstGeom>
          <a:noFill/>
          <a:ln w="31750">
            <a:solidFill>
              <a:srgbClr val="7B3FA0"/>
            </a:solidFill>
            <a:prstDash val="solid"/>
          </a:ln>
        </p:spPr>
      </p:sp>
      <p:sp>
        <p:nvSpPr>
          <p:cNvPr id="355" name="Shape 353"/>
          <p:cNvSpPr/>
          <p:nvPr/>
        </p:nvSpPr>
        <p:spPr>
          <a:xfrm flipV="1">
            <a:off x="2390503" y="2399993"/>
            <a:ext cx="48169" cy="7"/>
          </a:xfrm>
          <a:prstGeom prst="line">
            <a:avLst/>
          </a:prstGeom>
          <a:noFill/>
          <a:ln w="31750">
            <a:solidFill>
              <a:srgbClr val="7B3FA0"/>
            </a:solidFill>
            <a:prstDash val="solid"/>
          </a:ln>
        </p:spPr>
      </p:sp>
      <p:sp>
        <p:nvSpPr>
          <p:cNvPr id="356" name="Shape 354"/>
          <p:cNvSpPr/>
          <p:nvPr/>
        </p:nvSpPr>
        <p:spPr>
          <a:xfrm flipV="1">
            <a:off x="2438672" y="2399973"/>
            <a:ext cx="48169" cy="20"/>
          </a:xfrm>
          <a:prstGeom prst="line">
            <a:avLst/>
          </a:prstGeom>
          <a:noFill/>
          <a:ln w="31750">
            <a:solidFill>
              <a:srgbClr val="7B3FA0"/>
            </a:solidFill>
            <a:prstDash val="solid"/>
          </a:ln>
        </p:spPr>
      </p:sp>
      <p:sp>
        <p:nvSpPr>
          <p:cNvPr id="357" name="Shape 355"/>
          <p:cNvSpPr/>
          <p:nvPr/>
        </p:nvSpPr>
        <p:spPr>
          <a:xfrm flipV="1">
            <a:off x="2486841" y="2399939"/>
            <a:ext cx="48169" cy="34"/>
          </a:xfrm>
          <a:prstGeom prst="line">
            <a:avLst/>
          </a:prstGeom>
          <a:noFill/>
          <a:ln w="31750">
            <a:solidFill>
              <a:srgbClr val="7B3FA0"/>
            </a:solidFill>
            <a:prstDash val="solid"/>
          </a:ln>
        </p:spPr>
      </p:sp>
      <p:sp>
        <p:nvSpPr>
          <p:cNvPr id="358" name="Shape 356"/>
          <p:cNvSpPr/>
          <p:nvPr/>
        </p:nvSpPr>
        <p:spPr>
          <a:xfrm flipV="1">
            <a:off x="2535011" y="2399891"/>
            <a:ext cx="48169" cy="49"/>
          </a:xfrm>
          <a:prstGeom prst="line">
            <a:avLst/>
          </a:prstGeom>
          <a:noFill/>
          <a:ln w="31750">
            <a:solidFill>
              <a:srgbClr val="7B3FA0"/>
            </a:solidFill>
            <a:prstDash val="solid"/>
          </a:ln>
        </p:spPr>
      </p:sp>
      <p:sp>
        <p:nvSpPr>
          <p:cNvPr id="359" name="Shape 357"/>
          <p:cNvSpPr/>
          <p:nvPr/>
        </p:nvSpPr>
        <p:spPr>
          <a:xfrm flipV="1">
            <a:off x="2583180" y="2399826"/>
            <a:ext cx="48169" cy="65"/>
          </a:xfrm>
          <a:prstGeom prst="line">
            <a:avLst/>
          </a:prstGeom>
          <a:noFill/>
          <a:ln w="31750">
            <a:solidFill>
              <a:srgbClr val="7B3FA0"/>
            </a:solidFill>
            <a:prstDash val="solid"/>
          </a:ln>
        </p:spPr>
      </p:sp>
      <p:sp>
        <p:nvSpPr>
          <p:cNvPr id="360" name="Shape 358"/>
          <p:cNvSpPr/>
          <p:nvPr/>
        </p:nvSpPr>
        <p:spPr>
          <a:xfrm flipV="1">
            <a:off x="2631349" y="2399743"/>
            <a:ext cx="48169" cy="83"/>
          </a:xfrm>
          <a:prstGeom prst="line">
            <a:avLst/>
          </a:prstGeom>
          <a:noFill/>
          <a:ln w="31750">
            <a:solidFill>
              <a:srgbClr val="7B3FA0"/>
            </a:solidFill>
            <a:prstDash val="solid"/>
          </a:ln>
        </p:spPr>
      </p:sp>
      <p:sp>
        <p:nvSpPr>
          <p:cNvPr id="361" name="Shape 359"/>
          <p:cNvSpPr/>
          <p:nvPr/>
        </p:nvSpPr>
        <p:spPr>
          <a:xfrm flipV="1">
            <a:off x="2679519" y="2399640"/>
            <a:ext cx="48169" cy="103"/>
          </a:xfrm>
          <a:prstGeom prst="line">
            <a:avLst/>
          </a:prstGeom>
          <a:noFill/>
          <a:ln w="31750">
            <a:solidFill>
              <a:srgbClr val="7B3FA0"/>
            </a:solidFill>
            <a:prstDash val="solid"/>
          </a:ln>
        </p:spPr>
      </p:sp>
      <p:sp>
        <p:nvSpPr>
          <p:cNvPr id="362" name="Shape 360"/>
          <p:cNvSpPr/>
          <p:nvPr/>
        </p:nvSpPr>
        <p:spPr>
          <a:xfrm flipV="1">
            <a:off x="2727688" y="2399515"/>
            <a:ext cx="48169" cy="125"/>
          </a:xfrm>
          <a:prstGeom prst="line">
            <a:avLst/>
          </a:prstGeom>
          <a:noFill/>
          <a:ln w="31750">
            <a:solidFill>
              <a:srgbClr val="7B3FA0"/>
            </a:solidFill>
            <a:prstDash val="solid"/>
          </a:ln>
        </p:spPr>
      </p:sp>
      <p:sp>
        <p:nvSpPr>
          <p:cNvPr id="363" name="Shape 361"/>
          <p:cNvSpPr/>
          <p:nvPr/>
        </p:nvSpPr>
        <p:spPr>
          <a:xfrm flipV="1">
            <a:off x="2775857" y="2399365"/>
            <a:ext cx="48169" cy="150"/>
          </a:xfrm>
          <a:prstGeom prst="line">
            <a:avLst/>
          </a:prstGeom>
          <a:noFill/>
          <a:ln w="31750">
            <a:solidFill>
              <a:srgbClr val="7B3FA0"/>
            </a:solidFill>
            <a:prstDash val="solid"/>
          </a:ln>
        </p:spPr>
      </p:sp>
      <p:sp>
        <p:nvSpPr>
          <p:cNvPr id="364" name="Shape 362"/>
          <p:cNvSpPr/>
          <p:nvPr/>
        </p:nvSpPr>
        <p:spPr>
          <a:xfrm flipV="1">
            <a:off x="2824026" y="2399186"/>
            <a:ext cx="48169" cy="179"/>
          </a:xfrm>
          <a:prstGeom prst="line">
            <a:avLst/>
          </a:prstGeom>
          <a:noFill/>
          <a:ln w="31750">
            <a:solidFill>
              <a:srgbClr val="7B3FA0"/>
            </a:solidFill>
            <a:prstDash val="solid"/>
          </a:ln>
        </p:spPr>
      </p:sp>
      <p:sp>
        <p:nvSpPr>
          <p:cNvPr id="365" name="Shape 363"/>
          <p:cNvSpPr/>
          <p:nvPr/>
        </p:nvSpPr>
        <p:spPr>
          <a:xfrm flipV="1">
            <a:off x="2872196" y="2398975"/>
            <a:ext cx="48169" cy="211"/>
          </a:xfrm>
          <a:prstGeom prst="line">
            <a:avLst/>
          </a:prstGeom>
          <a:noFill/>
          <a:ln w="31750">
            <a:solidFill>
              <a:srgbClr val="7B3FA0"/>
            </a:solidFill>
            <a:prstDash val="solid"/>
          </a:ln>
        </p:spPr>
      </p:sp>
      <p:sp>
        <p:nvSpPr>
          <p:cNvPr id="366" name="Shape 364"/>
          <p:cNvSpPr/>
          <p:nvPr/>
        </p:nvSpPr>
        <p:spPr>
          <a:xfrm flipV="1">
            <a:off x="2920365" y="2398726"/>
            <a:ext cx="48169" cy="249"/>
          </a:xfrm>
          <a:prstGeom prst="line">
            <a:avLst/>
          </a:prstGeom>
          <a:noFill/>
          <a:ln w="31750">
            <a:solidFill>
              <a:srgbClr val="7B3FA0"/>
            </a:solidFill>
            <a:prstDash val="solid"/>
          </a:ln>
        </p:spPr>
      </p:sp>
      <p:sp>
        <p:nvSpPr>
          <p:cNvPr id="367" name="Shape 365"/>
          <p:cNvSpPr/>
          <p:nvPr/>
        </p:nvSpPr>
        <p:spPr>
          <a:xfrm flipV="1">
            <a:off x="2968534" y="2398433"/>
            <a:ext cx="48169" cy="294"/>
          </a:xfrm>
          <a:prstGeom prst="line">
            <a:avLst/>
          </a:prstGeom>
          <a:noFill/>
          <a:ln w="31750">
            <a:solidFill>
              <a:srgbClr val="7B3FA0"/>
            </a:solidFill>
            <a:prstDash val="solid"/>
          </a:ln>
        </p:spPr>
      </p:sp>
      <p:sp>
        <p:nvSpPr>
          <p:cNvPr id="368" name="Shape 366"/>
          <p:cNvSpPr/>
          <p:nvPr/>
        </p:nvSpPr>
        <p:spPr>
          <a:xfrm flipV="1">
            <a:off x="3016704" y="2398077"/>
            <a:ext cx="48169" cy="355"/>
          </a:xfrm>
          <a:prstGeom prst="line">
            <a:avLst/>
          </a:prstGeom>
          <a:noFill/>
          <a:ln w="31750">
            <a:solidFill>
              <a:srgbClr val="7B3FA0"/>
            </a:solidFill>
            <a:prstDash val="solid"/>
          </a:ln>
        </p:spPr>
      </p:sp>
      <p:sp>
        <p:nvSpPr>
          <p:cNvPr id="369" name="Shape 367"/>
          <p:cNvSpPr/>
          <p:nvPr/>
        </p:nvSpPr>
        <p:spPr>
          <a:xfrm flipV="1">
            <a:off x="3064873" y="2397620"/>
            <a:ext cx="48169" cy="458"/>
          </a:xfrm>
          <a:prstGeom prst="line">
            <a:avLst/>
          </a:prstGeom>
          <a:noFill/>
          <a:ln w="31750">
            <a:solidFill>
              <a:srgbClr val="7B3FA0"/>
            </a:solidFill>
            <a:prstDash val="solid"/>
          </a:ln>
        </p:spPr>
      </p:sp>
      <p:sp>
        <p:nvSpPr>
          <p:cNvPr id="370" name="Shape 368"/>
          <p:cNvSpPr/>
          <p:nvPr/>
        </p:nvSpPr>
        <p:spPr>
          <a:xfrm flipV="1">
            <a:off x="3113042" y="2396954"/>
            <a:ext cx="48169" cy="665"/>
          </a:xfrm>
          <a:prstGeom prst="line">
            <a:avLst/>
          </a:prstGeom>
          <a:noFill/>
          <a:ln w="31750">
            <a:solidFill>
              <a:srgbClr val="7B3FA0"/>
            </a:solidFill>
            <a:prstDash val="solid"/>
          </a:ln>
        </p:spPr>
      </p:sp>
      <p:sp>
        <p:nvSpPr>
          <p:cNvPr id="371" name="Shape 369"/>
          <p:cNvSpPr/>
          <p:nvPr/>
        </p:nvSpPr>
        <p:spPr>
          <a:xfrm flipV="1">
            <a:off x="3161211" y="2395818"/>
            <a:ext cx="48169" cy="1136"/>
          </a:xfrm>
          <a:prstGeom prst="line">
            <a:avLst/>
          </a:prstGeom>
          <a:noFill/>
          <a:ln w="31750">
            <a:solidFill>
              <a:srgbClr val="7B3FA0"/>
            </a:solidFill>
            <a:prstDash val="solid"/>
          </a:ln>
        </p:spPr>
      </p:sp>
      <p:sp>
        <p:nvSpPr>
          <p:cNvPr id="372" name="Shape 370"/>
          <p:cNvSpPr/>
          <p:nvPr/>
        </p:nvSpPr>
        <p:spPr>
          <a:xfrm flipV="1">
            <a:off x="3209381" y="2393604"/>
            <a:ext cx="48169" cy="2214"/>
          </a:xfrm>
          <a:prstGeom prst="line">
            <a:avLst/>
          </a:prstGeom>
          <a:noFill/>
          <a:ln w="31750">
            <a:solidFill>
              <a:srgbClr val="7B3FA0"/>
            </a:solidFill>
            <a:prstDash val="solid"/>
          </a:ln>
        </p:spPr>
      </p:sp>
      <p:sp>
        <p:nvSpPr>
          <p:cNvPr id="373" name="Shape 371"/>
          <p:cNvSpPr/>
          <p:nvPr/>
        </p:nvSpPr>
        <p:spPr>
          <a:xfrm flipV="1">
            <a:off x="3257550" y="2389036"/>
            <a:ext cx="48169" cy="4568"/>
          </a:xfrm>
          <a:prstGeom prst="line">
            <a:avLst/>
          </a:prstGeom>
          <a:noFill/>
          <a:ln w="31750">
            <a:solidFill>
              <a:srgbClr val="7B3FA0"/>
            </a:solidFill>
            <a:prstDash val="solid"/>
          </a:ln>
        </p:spPr>
      </p:sp>
      <p:sp>
        <p:nvSpPr>
          <p:cNvPr id="374" name="Shape 372"/>
          <p:cNvSpPr/>
          <p:nvPr/>
        </p:nvSpPr>
        <p:spPr>
          <a:xfrm flipV="1">
            <a:off x="3305719" y="2379697"/>
            <a:ext cx="48169" cy="9339"/>
          </a:xfrm>
          <a:prstGeom prst="line">
            <a:avLst/>
          </a:prstGeom>
          <a:noFill/>
          <a:ln w="31750">
            <a:solidFill>
              <a:srgbClr val="7B3FA0"/>
            </a:solidFill>
            <a:prstDash val="solid"/>
          </a:ln>
        </p:spPr>
      </p:sp>
      <p:sp>
        <p:nvSpPr>
          <p:cNvPr id="375" name="Shape 373"/>
          <p:cNvSpPr/>
          <p:nvPr/>
        </p:nvSpPr>
        <p:spPr>
          <a:xfrm flipV="1">
            <a:off x="3353889" y="2361519"/>
            <a:ext cx="48169" cy="18178"/>
          </a:xfrm>
          <a:prstGeom prst="line">
            <a:avLst/>
          </a:prstGeom>
          <a:noFill/>
          <a:ln w="31750">
            <a:solidFill>
              <a:srgbClr val="7B3FA0"/>
            </a:solidFill>
            <a:prstDash val="solid"/>
          </a:ln>
        </p:spPr>
      </p:sp>
      <p:sp>
        <p:nvSpPr>
          <p:cNvPr id="376" name="Shape 374"/>
          <p:cNvSpPr/>
          <p:nvPr/>
        </p:nvSpPr>
        <p:spPr>
          <a:xfrm flipV="1">
            <a:off x="3402058" y="2328518"/>
            <a:ext cx="48169" cy="33001"/>
          </a:xfrm>
          <a:prstGeom prst="line">
            <a:avLst/>
          </a:prstGeom>
          <a:noFill/>
          <a:ln w="31750">
            <a:solidFill>
              <a:srgbClr val="7B3FA0"/>
            </a:solidFill>
            <a:prstDash val="solid"/>
          </a:ln>
        </p:spPr>
      </p:sp>
      <p:sp>
        <p:nvSpPr>
          <p:cNvPr id="377" name="Shape 375"/>
          <p:cNvSpPr/>
          <p:nvPr/>
        </p:nvSpPr>
        <p:spPr>
          <a:xfrm flipV="1">
            <a:off x="3450227" y="2273266"/>
            <a:ext cx="48169" cy="55251"/>
          </a:xfrm>
          <a:prstGeom prst="line">
            <a:avLst/>
          </a:prstGeom>
          <a:noFill/>
          <a:ln w="31750">
            <a:solidFill>
              <a:srgbClr val="7B3FA0"/>
            </a:solidFill>
            <a:prstDash val="solid"/>
          </a:ln>
        </p:spPr>
      </p:sp>
      <p:sp>
        <p:nvSpPr>
          <p:cNvPr id="378" name="Shape 376"/>
          <p:cNvSpPr/>
          <p:nvPr/>
        </p:nvSpPr>
        <p:spPr>
          <a:xfrm flipV="1">
            <a:off x="3498396" y="2188599"/>
            <a:ext cx="48169" cy="84667"/>
          </a:xfrm>
          <a:prstGeom prst="line">
            <a:avLst/>
          </a:prstGeom>
          <a:noFill/>
          <a:ln w="31750">
            <a:solidFill>
              <a:srgbClr val="7B3FA0"/>
            </a:solidFill>
            <a:prstDash val="solid"/>
          </a:ln>
        </p:spPr>
      </p:sp>
      <p:sp>
        <p:nvSpPr>
          <p:cNvPr id="379" name="Shape 377"/>
          <p:cNvSpPr/>
          <p:nvPr/>
        </p:nvSpPr>
        <p:spPr>
          <a:xfrm flipV="1">
            <a:off x="3546566" y="2070676"/>
            <a:ext cx="48169" cy="117923"/>
          </a:xfrm>
          <a:prstGeom prst="line">
            <a:avLst/>
          </a:prstGeom>
          <a:noFill/>
          <a:ln w="31750">
            <a:solidFill>
              <a:srgbClr val="7B3FA0"/>
            </a:solidFill>
            <a:prstDash val="solid"/>
          </a:ln>
        </p:spPr>
      </p:sp>
      <p:sp>
        <p:nvSpPr>
          <p:cNvPr id="380" name="Shape 378"/>
          <p:cNvSpPr/>
          <p:nvPr/>
        </p:nvSpPr>
        <p:spPr>
          <a:xfrm flipV="1">
            <a:off x="3594735" y="1922713"/>
            <a:ext cx="48169" cy="147963"/>
          </a:xfrm>
          <a:prstGeom prst="line">
            <a:avLst/>
          </a:prstGeom>
          <a:noFill/>
          <a:ln w="31750">
            <a:solidFill>
              <a:srgbClr val="7B3FA0"/>
            </a:solidFill>
            <a:prstDash val="solid"/>
          </a:ln>
        </p:spPr>
      </p:sp>
      <p:sp>
        <p:nvSpPr>
          <p:cNvPr id="381" name="Shape 379"/>
          <p:cNvSpPr/>
          <p:nvPr/>
        </p:nvSpPr>
        <p:spPr>
          <a:xfrm flipV="1">
            <a:off x="3642904" y="1757735"/>
            <a:ext cx="48169" cy="164978"/>
          </a:xfrm>
          <a:prstGeom prst="line">
            <a:avLst/>
          </a:prstGeom>
          <a:noFill/>
          <a:ln w="31750">
            <a:solidFill>
              <a:srgbClr val="7B3FA0"/>
            </a:solidFill>
            <a:prstDash val="solid"/>
          </a:ln>
        </p:spPr>
      </p:sp>
      <p:sp>
        <p:nvSpPr>
          <p:cNvPr id="382" name="Shape 380"/>
          <p:cNvSpPr/>
          <p:nvPr/>
        </p:nvSpPr>
        <p:spPr>
          <a:xfrm flipV="1">
            <a:off x="3691074" y="1598360"/>
            <a:ext cx="48169" cy="159376"/>
          </a:xfrm>
          <a:prstGeom prst="line">
            <a:avLst/>
          </a:prstGeom>
          <a:noFill/>
          <a:ln w="31750">
            <a:solidFill>
              <a:srgbClr val="7B3FA0"/>
            </a:solidFill>
            <a:prstDash val="solid"/>
          </a:ln>
        </p:spPr>
      </p:sp>
      <p:sp>
        <p:nvSpPr>
          <p:cNvPr id="383" name="Shape 381"/>
          <p:cNvSpPr/>
          <p:nvPr/>
        </p:nvSpPr>
        <p:spPr>
          <a:xfrm flipV="1">
            <a:off x="3739243" y="1472396"/>
            <a:ext cx="48169" cy="125964"/>
          </a:xfrm>
          <a:prstGeom prst="line">
            <a:avLst/>
          </a:prstGeom>
          <a:noFill/>
          <a:ln w="31750">
            <a:solidFill>
              <a:srgbClr val="7B3FA0"/>
            </a:solidFill>
            <a:prstDash val="solid"/>
          </a:ln>
        </p:spPr>
      </p:sp>
      <p:sp>
        <p:nvSpPr>
          <p:cNvPr id="384" name="Shape 382"/>
          <p:cNvSpPr/>
          <p:nvPr/>
        </p:nvSpPr>
        <p:spPr>
          <a:xfrm flipV="1">
            <a:off x="3787412" y="1405055"/>
            <a:ext cx="48169" cy="67341"/>
          </a:xfrm>
          <a:prstGeom prst="line">
            <a:avLst/>
          </a:prstGeom>
          <a:noFill/>
          <a:ln w="31750">
            <a:solidFill>
              <a:srgbClr val="7B3FA0"/>
            </a:solidFill>
            <a:prstDash val="solid"/>
          </a:ln>
        </p:spPr>
      </p:sp>
      <p:sp>
        <p:nvSpPr>
          <p:cNvPr id="385" name="Shape 383"/>
          <p:cNvSpPr/>
          <p:nvPr/>
        </p:nvSpPr>
        <p:spPr>
          <a:xfrm>
            <a:off x="3835581" y="1405055"/>
            <a:ext cx="48169" cy="5591"/>
          </a:xfrm>
          <a:prstGeom prst="line">
            <a:avLst/>
          </a:prstGeom>
          <a:noFill/>
          <a:ln w="31750">
            <a:solidFill>
              <a:srgbClr val="7B3FA0"/>
            </a:solidFill>
            <a:prstDash val="solid"/>
          </a:ln>
        </p:spPr>
      </p:sp>
      <p:sp>
        <p:nvSpPr>
          <p:cNvPr id="386" name="Shape 384"/>
          <p:cNvSpPr/>
          <p:nvPr/>
        </p:nvSpPr>
        <p:spPr>
          <a:xfrm>
            <a:off x="3883751" y="1410645"/>
            <a:ext cx="48169" cy="76854"/>
          </a:xfrm>
          <a:prstGeom prst="line">
            <a:avLst/>
          </a:prstGeom>
          <a:noFill/>
          <a:ln w="31750">
            <a:solidFill>
              <a:srgbClr val="7B3FA0"/>
            </a:solidFill>
            <a:prstDash val="solid"/>
          </a:ln>
        </p:spPr>
      </p:sp>
      <p:sp>
        <p:nvSpPr>
          <p:cNvPr id="387" name="Shape 385"/>
          <p:cNvSpPr/>
          <p:nvPr/>
        </p:nvSpPr>
        <p:spPr>
          <a:xfrm>
            <a:off x="3931920" y="1487499"/>
            <a:ext cx="48169" cy="131075"/>
          </a:xfrm>
          <a:prstGeom prst="line">
            <a:avLst/>
          </a:prstGeom>
          <a:noFill/>
          <a:ln w="31750">
            <a:solidFill>
              <a:srgbClr val="7B3FA0"/>
            </a:solidFill>
            <a:prstDash val="solid"/>
          </a:ln>
        </p:spPr>
      </p:sp>
      <p:sp>
        <p:nvSpPr>
          <p:cNvPr id="388" name="Shape 386"/>
          <p:cNvSpPr/>
          <p:nvPr/>
        </p:nvSpPr>
        <p:spPr>
          <a:xfrm>
            <a:off x="3980089" y="1618574"/>
            <a:ext cx="48169" cy="158871"/>
          </a:xfrm>
          <a:prstGeom prst="line">
            <a:avLst/>
          </a:prstGeom>
          <a:noFill/>
          <a:ln w="31750">
            <a:solidFill>
              <a:srgbClr val="7B3FA0"/>
            </a:solidFill>
            <a:prstDash val="solid"/>
          </a:ln>
        </p:spPr>
      </p:sp>
      <p:sp>
        <p:nvSpPr>
          <p:cNvPr id="389" name="Shape 387"/>
          <p:cNvSpPr/>
          <p:nvPr/>
        </p:nvSpPr>
        <p:spPr>
          <a:xfrm>
            <a:off x="4028259" y="1777445"/>
            <a:ext cx="48169" cy="159358"/>
          </a:xfrm>
          <a:prstGeom prst="line">
            <a:avLst/>
          </a:prstGeom>
          <a:noFill/>
          <a:ln w="31750">
            <a:solidFill>
              <a:srgbClr val="7B3FA0"/>
            </a:solidFill>
            <a:prstDash val="solid"/>
          </a:ln>
        </p:spPr>
      </p:sp>
      <p:sp>
        <p:nvSpPr>
          <p:cNvPr id="390" name="Shape 388"/>
          <p:cNvSpPr/>
          <p:nvPr/>
        </p:nvSpPr>
        <p:spPr>
          <a:xfrm>
            <a:off x="4076428" y="1936803"/>
            <a:ext cx="48169" cy="138941"/>
          </a:xfrm>
          <a:prstGeom prst="line">
            <a:avLst/>
          </a:prstGeom>
          <a:noFill/>
          <a:ln w="31750">
            <a:solidFill>
              <a:srgbClr val="7B3FA0"/>
            </a:solidFill>
            <a:prstDash val="solid"/>
          </a:ln>
        </p:spPr>
      </p:sp>
      <p:sp>
        <p:nvSpPr>
          <p:cNvPr id="391" name="Shape 389"/>
          <p:cNvSpPr/>
          <p:nvPr/>
        </p:nvSpPr>
        <p:spPr>
          <a:xfrm>
            <a:off x="4124597" y="2075744"/>
            <a:ext cx="48169" cy="107573"/>
          </a:xfrm>
          <a:prstGeom prst="line">
            <a:avLst/>
          </a:prstGeom>
          <a:noFill/>
          <a:ln w="31750">
            <a:solidFill>
              <a:srgbClr val="7B3FA0"/>
            </a:solidFill>
            <a:prstDash val="solid"/>
          </a:ln>
        </p:spPr>
      </p:sp>
      <p:sp>
        <p:nvSpPr>
          <p:cNvPr id="392" name="Shape 390"/>
          <p:cNvSpPr/>
          <p:nvPr/>
        </p:nvSpPr>
        <p:spPr>
          <a:xfrm>
            <a:off x="4172766" y="2183317"/>
            <a:ext cx="48169" cy="74693"/>
          </a:xfrm>
          <a:prstGeom prst="line">
            <a:avLst/>
          </a:prstGeom>
          <a:noFill/>
          <a:ln w="31750">
            <a:solidFill>
              <a:srgbClr val="7B3FA0"/>
            </a:solidFill>
            <a:prstDash val="solid"/>
          </a:ln>
        </p:spPr>
      </p:sp>
      <p:sp>
        <p:nvSpPr>
          <p:cNvPr id="393" name="Shape 391"/>
          <p:cNvSpPr/>
          <p:nvPr/>
        </p:nvSpPr>
        <p:spPr>
          <a:xfrm>
            <a:off x="4220936" y="2258009"/>
            <a:ext cx="48169" cy="46624"/>
          </a:xfrm>
          <a:prstGeom prst="line">
            <a:avLst/>
          </a:prstGeom>
          <a:noFill/>
          <a:ln w="31750">
            <a:solidFill>
              <a:srgbClr val="7B3FA0"/>
            </a:solidFill>
            <a:prstDash val="solid"/>
          </a:ln>
        </p:spPr>
      </p:sp>
      <p:sp>
        <p:nvSpPr>
          <p:cNvPr id="394" name="Shape 392"/>
          <p:cNvSpPr/>
          <p:nvPr/>
        </p:nvSpPr>
        <p:spPr>
          <a:xfrm>
            <a:off x="4269105" y="2304633"/>
            <a:ext cx="48169" cy="25991"/>
          </a:xfrm>
          <a:prstGeom prst="line">
            <a:avLst/>
          </a:prstGeom>
          <a:noFill/>
          <a:ln w="31750">
            <a:solidFill>
              <a:srgbClr val="7B3FA0"/>
            </a:solidFill>
            <a:prstDash val="solid"/>
          </a:ln>
        </p:spPr>
      </p:sp>
      <p:sp>
        <p:nvSpPr>
          <p:cNvPr id="395" name="Shape 393"/>
          <p:cNvSpPr/>
          <p:nvPr/>
        </p:nvSpPr>
        <p:spPr>
          <a:xfrm>
            <a:off x="4317274" y="2330625"/>
            <a:ext cx="48169" cy="12603"/>
          </a:xfrm>
          <a:prstGeom prst="line">
            <a:avLst/>
          </a:prstGeom>
          <a:noFill/>
          <a:ln w="31750">
            <a:solidFill>
              <a:srgbClr val="7B3FA0"/>
            </a:solidFill>
            <a:prstDash val="solid"/>
          </a:ln>
        </p:spPr>
      </p:sp>
      <p:sp>
        <p:nvSpPr>
          <p:cNvPr id="396" name="Shape 394"/>
          <p:cNvSpPr/>
          <p:nvPr/>
        </p:nvSpPr>
        <p:spPr>
          <a:xfrm>
            <a:off x="4365444" y="2343227"/>
            <a:ext cx="48169" cy="4835"/>
          </a:xfrm>
          <a:prstGeom prst="line">
            <a:avLst/>
          </a:prstGeom>
          <a:noFill/>
          <a:ln w="31750">
            <a:solidFill>
              <a:srgbClr val="7B3FA0"/>
            </a:solidFill>
            <a:prstDash val="solid"/>
          </a:ln>
        </p:spPr>
      </p:sp>
      <p:sp>
        <p:nvSpPr>
          <p:cNvPr id="397" name="Shape 395"/>
          <p:cNvSpPr/>
          <p:nvPr/>
        </p:nvSpPr>
        <p:spPr>
          <a:xfrm>
            <a:off x="4413613" y="2348063"/>
            <a:ext cx="48169" cy="787"/>
          </a:xfrm>
          <a:prstGeom prst="line">
            <a:avLst/>
          </a:prstGeom>
          <a:noFill/>
          <a:ln w="31750">
            <a:solidFill>
              <a:srgbClr val="7B3FA0"/>
            </a:solidFill>
            <a:prstDash val="solid"/>
          </a:ln>
        </p:spPr>
      </p:sp>
      <p:sp>
        <p:nvSpPr>
          <p:cNvPr id="398" name="Shape 396"/>
          <p:cNvSpPr/>
          <p:nvPr/>
        </p:nvSpPr>
        <p:spPr>
          <a:xfrm flipV="1">
            <a:off x="4461782" y="2347751"/>
            <a:ext cx="48169" cy="1099"/>
          </a:xfrm>
          <a:prstGeom prst="line">
            <a:avLst/>
          </a:prstGeom>
          <a:noFill/>
          <a:ln w="31750">
            <a:solidFill>
              <a:srgbClr val="7B3FA0"/>
            </a:solidFill>
            <a:prstDash val="solid"/>
          </a:ln>
        </p:spPr>
      </p:sp>
      <p:sp>
        <p:nvSpPr>
          <p:cNvPr id="399" name="Shape 397"/>
          <p:cNvSpPr/>
          <p:nvPr/>
        </p:nvSpPr>
        <p:spPr>
          <a:xfrm flipV="1">
            <a:off x="4509951" y="2345891"/>
            <a:ext cx="48169" cy="1860"/>
          </a:xfrm>
          <a:prstGeom prst="line">
            <a:avLst/>
          </a:prstGeom>
          <a:noFill/>
          <a:ln w="31750">
            <a:solidFill>
              <a:srgbClr val="7B3FA0"/>
            </a:solidFill>
            <a:prstDash val="solid"/>
          </a:ln>
        </p:spPr>
      </p:sp>
      <p:sp>
        <p:nvSpPr>
          <p:cNvPr id="400" name="Shape 398"/>
          <p:cNvSpPr/>
          <p:nvPr/>
        </p:nvSpPr>
        <p:spPr>
          <a:xfrm flipV="1">
            <a:off x="4558121" y="2343805"/>
            <a:ext cx="48169" cy="2086"/>
          </a:xfrm>
          <a:prstGeom prst="line">
            <a:avLst/>
          </a:prstGeom>
          <a:noFill/>
          <a:ln w="31750">
            <a:solidFill>
              <a:srgbClr val="7B3FA0"/>
            </a:solidFill>
            <a:prstDash val="solid"/>
          </a:ln>
        </p:spPr>
      </p:sp>
      <p:sp>
        <p:nvSpPr>
          <p:cNvPr id="401" name="Shape 399"/>
          <p:cNvSpPr/>
          <p:nvPr/>
        </p:nvSpPr>
        <p:spPr>
          <a:xfrm flipV="1">
            <a:off x="4606290" y="2341731"/>
            <a:ext cx="48169" cy="2074"/>
          </a:xfrm>
          <a:prstGeom prst="line">
            <a:avLst/>
          </a:prstGeom>
          <a:noFill/>
          <a:ln w="31750">
            <a:solidFill>
              <a:srgbClr val="7B3FA0"/>
            </a:solidFill>
            <a:prstDash val="solid"/>
          </a:ln>
        </p:spPr>
      </p:sp>
      <p:sp>
        <p:nvSpPr>
          <p:cNvPr id="402" name="Shape 400"/>
          <p:cNvSpPr/>
          <p:nvPr/>
        </p:nvSpPr>
        <p:spPr>
          <a:xfrm flipV="1">
            <a:off x="4654459" y="2339772"/>
            <a:ext cx="48169" cy="1959"/>
          </a:xfrm>
          <a:prstGeom prst="line">
            <a:avLst/>
          </a:prstGeom>
          <a:noFill/>
          <a:ln w="31750">
            <a:solidFill>
              <a:srgbClr val="7B3FA0"/>
            </a:solidFill>
            <a:prstDash val="solid"/>
          </a:ln>
        </p:spPr>
      </p:sp>
      <p:sp>
        <p:nvSpPr>
          <p:cNvPr id="403" name="Shape 401"/>
          <p:cNvSpPr/>
          <p:nvPr/>
        </p:nvSpPr>
        <p:spPr>
          <a:xfrm flipV="1">
            <a:off x="4702629" y="2337977"/>
            <a:ext cx="48169" cy="1795"/>
          </a:xfrm>
          <a:prstGeom prst="line">
            <a:avLst/>
          </a:prstGeom>
          <a:noFill/>
          <a:ln w="31750">
            <a:solidFill>
              <a:srgbClr val="7B3FA0"/>
            </a:solidFill>
            <a:prstDash val="solid"/>
          </a:ln>
        </p:spPr>
      </p:sp>
      <p:sp>
        <p:nvSpPr>
          <p:cNvPr id="404" name="Shape 402"/>
          <p:cNvSpPr/>
          <p:nvPr/>
        </p:nvSpPr>
        <p:spPr>
          <a:xfrm flipV="1">
            <a:off x="4750798" y="2336376"/>
            <a:ext cx="48169" cy="1601"/>
          </a:xfrm>
          <a:prstGeom prst="line">
            <a:avLst/>
          </a:prstGeom>
          <a:noFill/>
          <a:ln w="31750">
            <a:solidFill>
              <a:srgbClr val="7B3FA0"/>
            </a:solidFill>
            <a:prstDash val="solid"/>
          </a:ln>
        </p:spPr>
      </p:sp>
      <p:sp>
        <p:nvSpPr>
          <p:cNvPr id="405" name="Shape 403"/>
          <p:cNvSpPr/>
          <p:nvPr/>
        </p:nvSpPr>
        <p:spPr>
          <a:xfrm flipV="1">
            <a:off x="4798967" y="2334988"/>
            <a:ext cx="48169" cy="1388"/>
          </a:xfrm>
          <a:prstGeom prst="line">
            <a:avLst/>
          </a:prstGeom>
          <a:noFill/>
          <a:ln w="31750">
            <a:solidFill>
              <a:srgbClr val="7B3FA0"/>
            </a:solidFill>
            <a:prstDash val="solid"/>
          </a:ln>
        </p:spPr>
      </p:sp>
      <p:sp>
        <p:nvSpPr>
          <p:cNvPr id="406" name="Shape 404"/>
          <p:cNvSpPr/>
          <p:nvPr/>
        </p:nvSpPr>
        <p:spPr>
          <a:xfrm flipV="1">
            <a:off x="4847136" y="2333830"/>
            <a:ext cx="48169" cy="1158"/>
          </a:xfrm>
          <a:prstGeom prst="line">
            <a:avLst/>
          </a:prstGeom>
          <a:noFill/>
          <a:ln w="31750">
            <a:solidFill>
              <a:srgbClr val="7B3FA0"/>
            </a:solidFill>
            <a:prstDash val="solid"/>
          </a:ln>
        </p:spPr>
      </p:sp>
      <p:sp>
        <p:nvSpPr>
          <p:cNvPr id="407" name="Shape 405"/>
          <p:cNvSpPr/>
          <p:nvPr/>
        </p:nvSpPr>
        <p:spPr>
          <a:xfrm flipV="1">
            <a:off x="4895306" y="2332915"/>
            <a:ext cx="48169" cy="915"/>
          </a:xfrm>
          <a:prstGeom prst="line">
            <a:avLst/>
          </a:prstGeom>
          <a:noFill/>
          <a:ln w="31750">
            <a:solidFill>
              <a:srgbClr val="7B3FA0"/>
            </a:solidFill>
            <a:prstDash val="solid"/>
          </a:ln>
        </p:spPr>
      </p:sp>
      <p:sp>
        <p:nvSpPr>
          <p:cNvPr id="408" name="Shape 406"/>
          <p:cNvSpPr/>
          <p:nvPr/>
        </p:nvSpPr>
        <p:spPr>
          <a:xfrm flipV="1">
            <a:off x="4943475" y="2332254"/>
            <a:ext cx="48169" cy="661"/>
          </a:xfrm>
          <a:prstGeom prst="line">
            <a:avLst/>
          </a:prstGeom>
          <a:noFill/>
          <a:ln w="31750">
            <a:solidFill>
              <a:srgbClr val="7B3FA0"/>
            </a:solidFill>
            <a:prstDash val="solid"/>
          </a:ln>
        </p:spPr>
      </p:sp>
      <p:sp>
        <p:nvSpPr>
          <p:cNvPr id="409" name="Shape 407"/>
          <p:cNvSpPr/>
          <p:nvPr/>
        </p:nvSpPr>
        <p:spPr>
          <a:xfrm flipV="1">
            <a:off x="4991644" y="2331854"/>
            <a:ext cx="48169" cy="400"/>
          </a:xfrm>
          <a:prstGeom prst="line">
            <a:avLst/>
          </a:prstGeom>
          <a:noFill/>
          <a:ln w="31750">
            <a:solidFill>
              <a:srgbClr val="7B3FA0"/>
            </a:solidFill>
            <a:prstDash val="solid"/>
          </a:ln>
        </p:spPr>
      </p:sp>
      <p:sp>
        <p:nvSpPr>
          <p:cNvPr id="410" name="Shape 408"/>
          <p:cNvSpPr/>
          <p:nvPr/>
        </p:nvSpPr>
        <p:spPr>
          <a:xfrm flipV="1">
            <a:off x="5039814" y="2331720"/>
            <a:ext cx="48169" cy="134"/>
          </a:xfrm>
          <a:prstGeom prst="line">
            <a:avLst/>
          </a:prstGeom>
          <a:noFill/>
          <a:ln w="31750">
            <a:solidFill>
              <a:srgbClr val="7B3FA0"/>
            </a:solidFill>
            <a:prstDash val="solid"/>
          </a:ln>
        </p:spPr>
      </p:sp>
      <p:sp>
        <p:nvSpPr>
          <p:cNvPr id="411" name="Shape 409"/>
          <p:cNvSpPr/>
          <p:nvPr/>
        </p:nvSpPr>
        <p:spPr>
          <a:xfrm>
            <a:off x="5087983" y="2331720"/>
            <a:ext cx="48169" cy="134"/>
          </a:xfrm>
          <a:prstGeom prst="line">
            <a:avLst/>
          </a:prstGeom>
          <a:noFill/>
          <a:ln w="31750">
            <a:solidFill>
              <a:srgbClr val="7B3FA0"/>
            </a:solidFill>
            <a:prstDash val="solid"/>
          </a:ln>
        </p:spPr>
      </p:sp>
      <p:sp>
        <p:nvSpPr>
          <p:cNvPr id="412" name="Shape 410"/>
          <p:cNvSpPr/>
          <p:nvPr/>
        </p:nvSpPr>
        <p:spPr>
          <a:xfrm>
            <a:off x="5136152" y="2331854"/>
            <a:ext cx="48169" cy="400"/>
          </a:xfrm>
          <a:prstGeom prst="line">
            <a:avLst/>
          </a:prstGeom>
          <a:noFill/>
          <a:ln w="31750">
            <a:solidFill>
              <a:srgbClr val="7B3FA0"/>
            </a:solidFill>
            <a:prstDash val="solid"/>
          </a:ln>
        </p:spPr>
      </p:sp>
      <p:sp>
        <p:nvSpPr>
          <p:cNvPr id="413" name="Shape 411"/>
          <p:cNvSpPr/>
          <p:nvPr/>
        </p:nvSpPr>
        <p:spPr>
          <a:xfrm>
            <a:off x="5184321" y="2332254"/>
            <a:ext cx="48169" cy="661"/>
          </a:xfrm>
          <a:prstGeom prst="line">
            <a:avLst/>
          </a:prstGeom>
          <a:noFill/>
          <a:ln w="31750">
            <a:solidFill>
              <a:srgbClr val="7B3FA0"/>
            </a:solidFill>
            <a:prstDash val="solid"/>
          </a:ln>
        </p:spPr>
      </p:sp>
      <p:sp>
        <p:nvSpPr>
          <p:cNvPr id="414" name="Shape 412"/>
          <p:cNvSpPr/>
          <p:nvPr/>
        </p:nvSpPr>
        <p:spPr>
          <a:xfrm>
            <a:off x="5232491" y="2332915"/>
            <a:ext cx="48169" cy="915"/>
          </a:xfrm>
          <a:prstGeom prst="line">
            <a:avLst/>
          </a:prstGeom>
          <a:noFill/>
          <a:ln w="31750">
            <a:solidFill>
              <a:srgbClr val="7B3FA0"/>
            </a:solidFill>
            <a:prstDash val="solid"/>
          </a:ln>
        </p:spPr>
      </p:sp>
      <p:sp>
        <p:nvSpPr>
          <p:cNvPr id="415" name="Shape 413"/>
          <p:cNvSpPr/>
          <p:nvPr/>
        </p:nvSpPr>
        <p:spPr>
          <a:xfrm>
            <a:off x="5280660" y="2333830"/>
            <a:ext cx="48169" cy="1158"/>
          </a:xfrm>
          <a:prstGeom prst="line">
            <a:avLst/>
          </a:prstGeom>
          <a:noFill/>
          <a:ln w="31750">
            <a:solidFill>
              <a:srgbClr val="7B3FA0"/>
            </a:solidFill>
            <a:prstDash val="solid"/>
          </a:ln>
        </p:spPr>
      </p:sp>
      <p:sp>
        <p:nvSpPr>
          <p:cNvPr id="416" name="Shape 414"/>
          <p:cNvSpPr/>
          <p:nvPr/>
        </p:nvSpPr>
        <p:spPr>
          <a:xfrm>
            <a:off x="5328829" y="2334988"/>
            <a:ext cx="48169" cy="1388"/>
          </a:xfrm>
          <a:prstGeom prst="line">
            <a:avLst/>
          </a:prstGeom>
          <a:noFill/>
          <a:ln w="31750">
            <a:solidFill>
              <a:srgbClr val="7B3FA0"/>
            </a:solidFill>
            <a:prstDash val="solid"/>
          </a:ln>
        </p:spPr>
      </p:sp>
      <p:sp>
        <p:nvSpPr>
          <p:cNvPr id="417" name="Shape 415"/>
          <p:cNvSpPr/>
          <p:nvPr/>
        </p:nvSpPr>
        <p:spPr>
          <a:xfrm>
            <a:off x="5376999" y="2336376"/>
            <a:ext cx="48169" cy="1603"/>
          </a:xfrm>
          <a:prstGeom prst="line">
            <a:avLst/>
          </a:prstGeom>
          <a:noFill/>
          <a:ln w="31750">
            <a:solidFill>
              <a:srgbClr val="7B3FA0"/>
            </a:solidFill>
            <a:prstDash val="solid"/>
          </a:ln>
        </p:spPr>
      </p:sp>
      <p:sp>
        <p:nvSpPr>
          <p:cNvPr id="418" name="Shape 416"/>
          <p:cNvSpPr/>
          <p:nvPr/>
        </p:nvSpPr>
        <p:spPr>
          <a:xfrm>
            <a:off x="5425168" y="2337979"/>
            <a:ext cx="48169" cy="1799"/>
          </a:xfrm>
          <a:prstGeom prst="line">
            <a:avLst/>
          </a:prstGeom>
          <a:noFill/>
          <a:ln w="31750">
            <a:solidFill>
              <a:srgbClr val="7B3FA0"/>
            </a:solidFill>
            <a:prstDash val="solid"/>
          </a:ln>
        </p:spPr>
      </p:sp>
      <p:sp>
        <p:nvSpPr>
          <p:cNvPr id="419" name="Shape 417"/>
          <p:cNvSpPr/>
          <p:nvPr/>
        </p:nvSpPr>
        <p:spPr>
          <a:xfrm>
            <a:off x="5473337" y="2339778"/>
            <a:ext cx="48169" cy="1977"/>
          </a:xfrm>
          <a:prstGeom prst="line">
            <a:avLst/>
          </a:prstGeom>
          <a:noFill/>
          <a:ln w="31750">
            <a:solidFill>
              <a:srgbClr val="7B3FA0"/>
            </a:solidFill>
            <a:prstDash val="solid"/>
          </a:ln>
        </p:spPr>
      </p:sp>
      <p:sp>
        <p:nvSpPr>
          <p:cNvPr id="420" name="Shape 418"/>
          <p:cNvSpPr/>
          <p:nvPr/>
        </p:nvSpPr>
        <p:spPr>
          <a:xfrm>
            <a:off x="5521506" y="2341755"/>
            <a:ext cx="48169" cy="2133"/>
          </a:xfrm>
          <a:prstGeom prst="line">
            <a:avLst/>
          </a:prstGeom>
          <a:noFill/>
          <a:ln w="31750">
            <a:solidFill>
              <a:srgbClr val="7B3FA0"/>
            </a:solidFill>
            <a:prstDash val="solid"/>
          </a:ln>
        </p:spPr>
      </p:sp>
      <p:sp>
        <p:nvSpPr>
          <p:cNvPr id="421" name="Shape 419"/>
          <p:cNvSpPr/>
          <p:nvPr/>
        </p:nvSpPr>
        <p:spPr>
          <a:xfrm>
            <a:off x="5569676" y="2343888"/>
            <a:ext cx="48169" cy="2267"/>
          </a:xfrm>
          <a:prstGeom prst="line">
            <a:avLst/>
          </a:prstGeom>
          <a:noFill/>
          <a:ln w="31750">
            <a:solidFill>
              <a:srgbClr val="7B3FA0"/>
            </a:solidFill>
            <a:prstDash val="solid"/>
          </a:ln>
        </p:spPr>
      </p:sp>
      <p:sp>
        <p:nvSpPr>
          <p:cNvPr id="422" name="Shape 420"/>
          <p:cNvSpPr/>
          <p:nvPr/>
        </p:nvSpPr>
        <p:spPr>
          <a:xfrm>
            <a:off x="5617845" y="2346155"/>
            <a:ext cx="48169" cy="2378"/>
          </a:xfrm>
          <a:prstGeom prst="line">
            <a:avLst/>
          </a:prstGeom>
          <a:noFill/>
          <a:ln w="31750">
            <a:solidFill>
              <a:srgbClr val="7B3FA0"/>
            </a:solidFill>
            <a:prstDash val="solid"/>
          </a:ln>
        </p:spPr>
      </p:sp>
      <p:sp>
        <p:nvSpPr>
          <p:cNvPr id="423" name="Shape 421"/>
          <p:cNvSpPr/>
          <p:nvPr/>
        </p:nvSpPr>
        <p:spPr>
          <a:xfrm>
            <a:off x="5666014" y="2348533"/>
            <a:ext cx="48169" cy="2467"/>
          </a:xfrm>
          <a:prstGeom prst="line">
            <a:avLst/>
          </a:prstGeom>
          <a:noFill/>
          <a:ln w="31750">
            <a:solidFill>
              <a:srgbClr val="7B3FA0"/>
            </a:solidFill>
            <a:prstDash val="solid"/>
          </a:ln>
        </p:spPr>
      </p:sp>
      <p:sp>
        <p:nvSpPr>
          <p:cNvPr id="424" name="Shape 422"/>
          <p:cNvSpPr/>
          <p:nvPr/>
        </p:nvSpPr>
        <p:spPr>
          <a:xfrm>
            <a:off x="5714184" y="2351000"/>
            <a:ext cx="48169" cy="2532"/>
          </a:xfrm>
          <a:prstGeom prst="line">
            <a:avLst/>
          </a:prstGeom>
          <a:noFill/>
          <a:ln w="31750">
            <a:solidFill>
              <a:srgbClr val="7B3FA0"/>
            </a:solidFill>
            <a:prstDash val="solid"/>
          </a:ln>
        </p:spPr>
      </p:sp>
      <p:sp>
        <p:nvSpPr>
          <p:cNvPr id="425" name="Shape 423"/>
          <p:cNvSpPr/>
          <p:nvPr/>
        </p:nvSpPr>
        <p:spPr>
          <a:xfrm>
            <a:off x="5762353" y="2353533"/>
            <a:ext cx="48169" cy="2575"/>
          </a:xfrm>
          <a:prstGeom prst="line">
            <a:avLst/>
          </a:prstGeom>
          <a:noFill/>
          <a:ln w="31750">
            <a:solidFill>
              <a:srgbClr val="7B3FA0"/>
            </a:solidFill>
            <a:prstDash val="solid"/>
          </a:ln>
        </p:spPr>
      </p:sp>
      <p:sp>
        <p:nvSpPr>
          <p:cNvPr id="426" name="Shape 424"/>
          <p:cNvSpPr/>
          <p:nvPr/>
        </p:nvSpPr>
        <p:spPr>
          <a:xfrm>
            <a:off x="5810522" y="2356108"/>
            <a:ext cx="48169" cy="2596"/>
          </a:xfrm>
          <a:prstGeom prst="line">
            <a:avLst/>
          </a:prstGeom>
          <a:noFill/>
          <a:ln w="31750">
            <a:solidFill>
              <a:srgbClr val="7B3FA0"/>
            </a:solidFill>
            <a:prstDash val="solid"/>
          </a:ln>
        </p:spPr>
      </p:sp>
      <p:sp>
        <p:nvSpPr>
          <p:cNvPr id="427" name="Shape 425"/>
          <p:cNvSpPr/>
          <p:nvPr/>
        </p:nvSpPr>
        <p:spPr>
          <a:xfrm>
            <a:off x="5858691" y="2358704"/>
            <a:ext cx="48169" cy="2596"/>
          </a:xfrm>
          <a:prstGeom prst="line">
            <a:avLst/>
          </a:prstGeom>
          <a:noFill/>
          <a:ln w="31750">
            <a:solidFill>
              <a:srgbClr val="7B3FA0"/>
            </a:solidFill>
            <a:prstDash val="solid"/>
          </a:ln>
        </p:spPr>
      </p:sp>
      <p:sp>
        <p:nvSpPr>
          <p:cNvPr id="428" name="Shape 426"/>
          <p:cNvSpPr/>
          <p:nvPr/>
        </p:nvSpPr>
        <p:spPr>
          <a:xfrm>
            <a:off x="5906861" y="2361301"/>
            <a:ext cx="48169" cy="2577"/>
          </a:xfrm>
          <a:prstGeom prst="line">
            <a:avLst/>
          </a:prstGeom>
          <a:noFill/>
          <a:ln w="31750">
            <a:solidFill>
              <a:srgbClr val="7B3FA0"/>
            </a:solidFill>
            <a:prstDash val="solid"/>
          </a:ln>
        </p:spPr>
      </p:sp>
      <p:sp>
        <p:nvSpPr>
          <p:cNvPr id="429" name="Shape 427"/>
          <p:cNvSpPr/>
          <p:nvPr/>
        </p:nvSpPr>
        <p:spPr>
          <a:xfrm>
            <a:off x="5955030" y="2363877"/>
            <a:ext cx="48169" cy="2539"/>
          </a:xfrm>
          <a:prstGeom prst="line">
            <a:avLst/>
          </a:prstGeom>
          <a:noFill/>
          <a:ln w="31750">
            <a:solidFill>
              <a:srgbClr val="7B3FA0"/>
            </a:solidFill>
            <a:prstDash val="solid"/>
          </a:ln>
        </p:spPr>
      </p:sp>
      <p:sp>
        <p:nvSpPr>
          <p:cNvPr id="430" name="Shape 428"/>
          <p:cNvSpPr/>
          <p:nvPr/>
        </p:nvSpPr>
        <p:spPr>
          <a:xfrm>
            <a:off x="6003199" y="2366417"/>
            <a:ext cx="48169" cy="2485"/>
          </a:xfrm>
          <a:prstGeom prst="line">
            <a:avLst/>
          </a:prstGeom>
          <a:noFill/>
          <a:ln w="31750">
            <a:solidFill>
              <a:srgbClr val="7B3FA0"/>
            </a:solidFill>
            <a:prstDash val="solid"/>
          </a:ln>
        </p:spPr>
      </p:sp>
      <p:sp>
        <p:nvSpPr>
          <p:cNvPr id="431" name="Shape 429"/>
          <p:cNvSpPr/>
          <p:nvPr/>
        </p:nvSpPr>
        <p:spPr>
          <a:xfrm>
            <a:off x="6051369" y="2368902"/>
            <a:ext cx="48169" cy="2416"/>
          </a:xfrm>
          <a:prstGeom prst="line">
            <a:avLst/>
          </a:prstGeom>
          <a:noFill/>
          <a:ln w="31750">
            <a:solidFill>
              <a:srgbClr val="7B3FA0"/>
            </a:solidFill>
            <a:prstDash val="solid"/>
          </a:ln>
        </p:spPr>
      </p:sp>
      <p:sp>
        <p:nvSpPr>
          <p:cNvPr id="432" name="Shape 430"/>
          <p:cNvSpPr/>
          <p:nvPr/>
        </p:nvSpPr>
        <p:spPr>
          <a:xfrm>
            <a:off x="6099538" y="2371318"/>
            <a:ext cx="48169" cy="2335"/>
          </a:xfrm>
          <a:prstGeom prst="line">
            <a:avLst/>
          </a:prstGeom>
          <a:noFill/>
          <a:ln w="31750">
            <a:solidFill>
              <a:srgbClr val="7B3FA0"/>
            </a:solidFill>
            <a:prstDash val="solid"/>
          </a:ln>
        </p:spPr>
      </p:sp>
      <p:sp>
        <p:nvSpPr>
          <p:cNvPr id="433" name="Shape 431"/>
          <p:cNvSpPr/>
          <p:nvPr/>
        </p:nvSpPr>
        <p:spPr>
          <a:xfrm>
            <a:off x="6147707" y="2373653"/>
            <a:ext cx="48169" cy="2242"/>
          </a:xfrm>
          <a:prstGeom prst="line">
            <a:avLst/>
          </a:prstGeom>
          <a:noFill/>
          <a:ln w="31750">
            <a:solidFill>
              <a:srgbClr val="7B3FA0"/>
            </a:solidFill>
            <a:prstDash val="solid"/>
          </a:ln>
        </p:spPr>
      </p:sp>
      <p:sp>
        <p:nvSpPr>
          <p:cNvPr id="434" name="Shape 432"/>
          <p:cNvSpPr/>
          <p:nvPr/>
        </p:nvSpPr>
        <p:spPr>
          <a:xfrm>
            <a:off x="6195876" y="2375895"/>
            <a:ext cx="48169" cy="2141"/>
          </a:xfrm>
          <a:prstGeom prst="line">
            <a:avLst/>
          </a:prstGeom>
          <a:noFill/>
          <a:ln w="31750">
            <a:solidFill>
              <a:srgbClr val="7B3FA0"/>
            </a:solidFill>
            <a:prstDash val="solid"/>
          </a:ln>
        </p:spPr>
      </p:sp>
      <p:sp>
        <p:nvSpPr>
          <p:cNvPr id="435" name="Shape 433"/>
          <p:cNvSpPr/>
          <p:nvPr/>
        </p:nvSpPr>
        <p:spPr>
          <a:xfrm>
            <a:off x="6244046" y="2378035"/>
            <a:ext cx="48169" cy="2032"/>
          </a:xfrm>
          <a:prstGeom prst="line">
            <a:avLst/>
          </a:prstGeom>
          <a:noFill/>
          <a:ln w="31750">
            <a:solidFill>
              <a:srgbClr val="7B3FA0"/>
            </a:solidFill>
            <a:prstDash val="solid"/>
          </a:ln>
        </p:spPr>
      </p:sp>
      <p:sp>
        <p:nvSpPr>
          <p:cNvPr id="436" name="Shape 434"/>
          <p:cNvSpPr/>
          <p:nvPr/>
        </p:nvSpPr>
        <p:spPr>
          <a:xfrm>
            <a:off x="6292215" y="2380067"/>
            <a:ext cx="48169" cy="1918"/>
          </a:xfrm>
          <a:prstGeom prst="line">
            <a:avLst/>
          </a:prstGeom>
          <a:noFill/>
          <a:ln w="31750">
            <a:solidFill>
              <a:srgbClr val="7B3FA0"/>
            </a:solidFill>
            <a:prstDash val="solid"/>
          </a:ln>
        </p:spPr>
      </p:sp>
      <p:sp>
        <p:nvSpPr>
          <p:cNvPr id="437" name="Shape 435"/>
          <p:cNvSpPr/>
          <p:nvPr/>
        </p:nvSpPr>
        <p:spPr>
          <a:xfrm>
            <a:off x="6340384" y="2381986"/>
            <a:ext cx="48169" cy="1801"/>
          </a:xfrm>
          <a:prstGeom prst="line">
            <a:avLst/>
          </a:prstGeom>
          <a:noFill/>
          <a:ln w="31750">
            <a:solidFill>
              <a:srgbClr val="7B3FA0"/>
            </a:solidFill>
            <a:prstDash val="solid"/>
          </a:ln>
        </p:spPr>
      </p:sp>
      <p:sp>
        <p:nvSpPr>
          <p:cNvPr id="438" name="Shape 436"/>
          <p:cNvSpPr/>
          <p:nvPr/>
        </p:nvSpPr>
        <p:spPr>
          <a:xfrm>
            <a:off x="6388554" y="2383787"/>
            <a:ext cx="48169" cy="1682"/>
          </a:xfrm>
          <a:prstGeom prst="line">
            <a:avLst/>
          </a:prstGeom>
          <a:noFill/>
          <a:ln w="31750">
            <a:solidFill>
              <a:srgbClr val="7B3FA0"/>
            </a:solidFill>
            <a:prstDash val="solid"/>
          </a:ln>
        </p:spPr>
      </p:sp>
      <p:sp>
        <p:nvSpPr>
          <p:cNvPr id="439" name="Shape 437"/>
          <p:cNvSpPr/>
          <p:nvPr/>
        </p:nvSpPr>
        <p:spPr>
          <a:xfrm>
            <a:off x="6436723" y="2385468"/>
            <a:ext cx="48169" cy="1563"/>
          </a:xfrm>
          <a:prstGeom prst="line">
            <a:avLst/>
          </a:prstGeom>
          <a:noFill/>
          <a:ln w="31750">
            <a:solidFill>
              <a:srgbClr val="7B3FA0"/>
            </a:solidFill>
            <a:prstDash val="solid"/>
          </a:ln>
        </p:spPr>
      </p:sp>
      <p:sp>
        <p:nvSpPr>
          <p:cNvPr id="440" name="Shape 438"/>
          <p:cNvSpPr/>
          <p:nvPr/>
        </p:nvSpPr>
        <p:spPr>
          <a:xfrm>
            <a:off x="6484892" y="2387031"/>
            <a:ext cx="48169" cy="1444"/>
          </a:xfrm>
          <a:prstGeom prst="line">
            <a:avLst/>
          </a:prstGeom>
          <a:noFill/>
          <a:ln w="31750">
            <a:solidFill>
              <a:srgbClr val="7B3FA0"/>
            </a:solidFill>
            <a:prstDash val="solid"/>
          </a:ln>
        </p:spPr>
      </p:sp>
      <p:sp>
        <p:nvSpPr>
          <p:cNvPr id="441" name="Shape 439"/>
          <p:cNvSpPr/>
          <p:nvPr/>
        </p:nvSpPr>
        <p:spPr>
          <a:xfrm>
            <a:off x="6533061" y="2388475"/>
            <a:ext cx="48169" cy="1328"/>
          </a:xfrm>
          <a:prstGeom prst="line">
            <a:avLst/>
          </a:prstGeom>
          <a:noFill/>
          <a:ln w="31750">
            <a:solidFill>
              <a:srgbClr val="7B3FA0"/>
            </a:solidFill>
            <a:prstDash val="solid"/>
          </a:ln>
        </p:spPr>
      </p:sp>
      <p:sp>
        <p:nvSpPr>
          <p:cNvPr id="442" name="Shape 440"/>
          <p:cNvSpPr/>
          <p:nvPr/>
        </p:nvSpPr>
        <p:spPr>
          <a:xfrm>
            <a:off x="6581231" y="2389803"/>
            <a:ext cx="48169" cy="1215"/>
          </a:xfrm>
          <a:prstGeom prst="line">
            <a:avLst/>
          </a:prstGeom>
          <a:noFill/>
          <a:ln w="31750">
            <a:solidFill>
              <a:srgbClr val="7B3FA0"/>
            </a:solidFill>
            <a:prstDash val="solid"/>
          </a:ln>
        </p:spPr>
      </p:sp>
      <p:sp>
        <p:nvSpPr>
          <p:cNvPr id="443" name="Shape 441"/>
          <p:cNvSpPr/>
          <p:nvPr/>
        </p:nvSpPr>
        <p:spPr>
          <a:xfrm>
            <a:off x="1234440" y="3850050"/>
            <a:ext cx="48169" cy="5455"/>
          </a:xfrm>
          <a:prstGeom prst="line">
            <a:avLst/>
          </a:prstGeom>
          <a:noFill/>
          <a:ln w="31750">
            <a:solidFill>
              <a:srgbClr val="D4568F"/>
            </a:solidFill>
            <a:prstDash val="solid"/>
          </a:ln>
        </p:spPr>
      </p:sp>
      <p:sp>
        <p:nvSpPr>
          <p:cNvPr id="444" name="Shape 442"/>
          <p:cNvSpPr/>
          <p:nvPr/>
        </p:nvSpPr>
        <p:spPr>
          <a:xfrm>
            <a:off x="1282609" y="3855505"/>
            <a:ext cx="48169" cy="4781"/>
          </a:xfrm>
          <a:prstGeom prst="line">
            <a:avLst/>
          </a:prstGeom>
          <a:noFill/>
          <a:ln w="31750">
            <a:solidFill>
              <a:srgbClr val="D4568F"/>
            </a:solidFill>
            <a:prstDash val="solid"/>
          </a:ln>
        </p:spPr>
      </p:sp>
      <p:sp>
        <p:nvSpPr>
          <p:cNvPr id="445" name="Shape 443"/>
          <p:cNvSpPr/>
          <p:nvPr/>
        </p:nvSpPr>
        <p:spPr>
          <a:xfrm>
            <a:off x="1330779" y="3860286"/>
            <a:ext cx="48169" cy="4161"/>
          </a:xfrm>
          <a:prstGeom prst="line">
            <a:avLst/>
          </a:prstGeom>
          <a:noFill/>
          <a:ln w="31750">
            <a:solidFill>
              <a:srgbClr val="D4568F"/>
            </a:solidFill>
            <a:prstDash val="solid"/>
          </a:ln>
        </p:spPr>
      </p:sp>
      <p:sp>
        <p:nvSpPr>
          <p:cNvPr id="446" name="Shape 444"/>
          <p:cNvSpPr/>
          <p:nvPr/>
        </p:nvSpPr>
        <p:spPr>
          <a:xfrm>
            <a:off x="1378948" y="3864447"/>
            <a:ext cx="48169" cy="3598"/>
          </a:xfrm>
          <a:prstGeom prst="line">
            <a:avLst/>
          </a:prstGeom>
          <a:noFill/>
          <a:ln w="31750">
            <a:solidFill>
              <a:srgbClr val="D4568F"/>
            </a:solidFill>
            <a:prstDash val="solid"/>
          </a:ln>
        </p:spPr>
      </p:sp>
      <p:sp>
        <p:nvSpPr>
          <p:cNvPr id="447" name="Shape 445"/>
          <p:cNvSpPr/>
          <p:nvPr/>
        </p:nvSpPr>
        <p:spPr>
          <a:xfrm>
            <a:off x="1427117" y="3868045"/>
            <a:ext cx="48169" cy="3089"/>
          </a:xfrm>
          <a:prstGeom prst="line">
            <a:avLst/>
          </a:prstGeom>
          <a:noFill/>
          <a:ln w="31750">
            <a:solidFill>
              <a:srgbClr val="D4568F"/>
            </a:solidFill>
            <a:prstDash val="solid"/>
          </a:ln>
        </p:spPr>
      </p:sp>
      <p:sp>
        <p:nvSpPr>
          <p:cNvPr id="448" name="Shape 446"/>
          <p:cNvSpPr/>
          <p:nvPr/>
        </p:nvSpPr>
        <p:spPr>
          <a:xfrm>
            <a:off x="1475286" y="3871134"/>
            <a:ext cx="48169" cy="2635"/>
          </a:xfrm>
          <a:prstGeom prst="line">
            <a:avLst/>
          </a:prstGeom>
          <a:noFill/>
          <a:ln w="31750">
            <a:solidFill>
              <a:srgbClr val="D4568F"/>
            </a:solidFill>
            <a:prstDash val="solid"/>
          </a:ln>
        </p:spPr>
      </p:sp>
      <p:sp>
        <p:nvSpPr>
          <p:cNvPr id="449" name="Shape 447"/>
          <p:cNvSpPr/>
          <p:nvPr/>
        </p:nvSpPr>
        <p:spPr>
          <a:xfrm>
            <a:off x="1523456" y="3873769"/>
            <a:ext cx="48169" cy="2233"/>
          </a:xfrm>
          <a:prstGeom prst="line">
            <a:avLst/>
          </a:prstGeom>
          <a:noFill/>
          <a:ln w="31750">
            <a:solidFill>
              <a:srgbClr val="D4568F"/>
            </a:solidFill>
            <a:prstDash val="solid"/>
          </a:ln>
        </p:spPr>
      </p:sp>
      <p:sp>
        <p:nvSpPr>
          <p:cNvPr id="450" name="Shape 448"/>
          <p:cNvSpPr/>
          <p:nvPr/>
        </p:nvSpPr>
        <p:spPr>
          <a:xfrm>
            <a:off x="1571625" y="3876001"/>
            <a:ext cx="48169" cy="1879"/>
          </a:xfrm>
          <a:prstGeom prst="line">
            <a:avLst/>
          </a:prstGeom>
          <a:noFill/>
          <a:ln w="31750">
            <a:solidFill>
              <a:srgbClr val="D4568F"/>
            </a:solidFill>
            <a:prstDash val="solid"/>
          </a:ln>
        </p:spPr>
      </p:sp>
      <p:sp>
        <p:nvSpPr>
          <p:cNvPr id="451" name="Shape 449"/>
          <p:cNvSpPr/>
          <p:nvPr/>
        </p:nvSpPr>
        <p:spPr>
          <a:xfrm>
            <a:off x="1619794" y="3877881"/>
            <a:ext cx="48169" cy="1571"/>
          </a:xfrm>
          <a:prstGeom prst="line">
            <a:avLst/>
          </a:prstGeom>
          <a:noFill/>
          <a:ln w="31750">
            <a:solidFill>
              <a:srgbClr val="D4568F"/>
            </a:solidFill>
            <a:prstDash val="solid"/>
          </a:ln>
        </p:spPr>
      </p:sp>
      <p:sp>
        <p:nvSpPr>
          <p:cNvPr id="452" name="Shape 450"/>
          <p:cNvSpPr/>
          <p:nvPr/>
        </p:nvSpPr>
        <p:spPr>
          <a:xfrm>
            <a:off x="1667964" y="3879451"/>
            <a:ext cx="48169" cy="1304"/>
          </a:xfrm>
          <a:prstGeom prst="line">
            <a:avLst/>
          </a:prstGeom>
          <a:noFill/>
          <a:ln w="31750">
            <a:solidFill>
              <a:srgbClr val="D4568F"/>
            </a:solidFill>
            <a:prstDash val="solid"/>
          </a:ln>
        </p:spPr>
      </p:sp>
      <p:sp>
        <p:nvSpPr>
          <p:cNvPr id="453" name="Shape 451"/>
          <p:cNvSpPr/>
          <p:nvPr/>
        </p:nvSpPr>
        <p:spPr>
          <a:xfrm>
            <a:off x="1716133" y="3880755"/>
            <a:ext cx="48169" cy="1074"/>
          </a:xfrm>
          <a:prstGeom prst="line">
            <a:avLst/>
          </a:prstGeom>
          <a:noFill/>
          <a:ln w="31750">
            <a:solidFill>
              <a:srgbClr val="D4568F"/>
            </a:solidFill>
            <a:prstDash val="solid"/>
          </a:ln>
        </p:spPr>
      </p:sp>
      <p:sp>
        <p:nvSpPr>
          <p:cNvPr id="454" name="Shape 452"/>
          <p:cNvSpPr/>
          <p:nvPr/>
        </p:nvSpPr>
        <p:spPr>
          <a:xfrm>
            <a:off x="1764302" y="3881830"/>
            <a:ext cx="48169" cy="878"/>
          </a:xfrm>
          <a:prstGeom prst="line">
            <a:avLst/>
          </a:prstGeom>
          <a:noFill/>
          <a:ln w="31750">
            <a:solidFill>
              <a:srgbClr val="D4568F"/>
            </a:solidFill>
            <a:prstDash val="solid"/>
          </a:ln>
        </p:spPr>
      </p:sp>
      <p:sp>
        <p:nvSpPr>
          <p:cNvPr id="455" name="Shape 453"/>
          <p:cNvSpPr/>
          <p:nvPr/>
        </p:nvSpPr>
        <p:spPr>
          <a:xfrm>
            <a:off x="1812471" y="3882708"/>
            <a:ext cx="48169" cy="709"/>
          </a:xfrm>
          <a:prstGeom prst="line">
            <a:avLst/>
          </a:prstGeom>
          <a:noFill/>
          <a:ln w="31750">
            <a:solidFill>
              <a:srgbClr val="D4568F"/>
            </a:solidFill>
            <a:prstDash val="solid"/>
          </a:ln>
        </p:spPr>
      </p:sp>
      <p:sp>
        <p:nvSpPr>
          <p:cNvPr id="456" name="Shape 454"/>
          <p:cNvSpPr/>
          <p:nvPr/>
        </p:nvSpPr>
        <p:spPr>
          <a:xfrm>
            <a:off x="1860641" y="3883416"/>
            <a:ext cx="48169" cy="563"/>
          </a:xfrm>
          <a:prstGeom prst="line">
            <a:avLst/>
          </a:prstGeom>
          <a:noFill/>
          <a:ln w="31750">
            <a:solidFill>
              <a:srgbClr val="D4568F"/>
            </a:solidFill>
            <a:prstDash val="solid"/>
          </a:ln>
        </p:spPr>
      </p:sp>
      <p:sp>
        <p:nvSpPr>
          <p:cNvPr id="457" name="Shape 455"/>
          <p:cNvSpPr/>
          <p:nvPr/>
        </p:nvSpPr>
        <p:spPr>
          <a:xfrm>
            <a:off x="1908810" y="3883980"/>
            <a:ext cx="48169" cy="435"/>
          </a:xfrm>
          <a:prstGeom prst="line">
            <a:avLst/>
          </a:prstGeom>
          <a:noFill/>
          <a:ln w="31750">
            <a:solidFill>
              <a:srgbClr val="D4568F"/>
            </a:solidFill>
            <a:prstDash val="solid"/>
          </a:ln>
        </p:spPr>
      </p:sp>
      <p:sp>
        <p:nvSpPr>
          <p:cNvPr id="458" name="Shape 456"/>
          <p:cNvSpPr/>
          <p:nvPr/>
        </p:nvSpPr>
        <p:spPr>
          <a:xfrm>
            <a:off x="1956979" y="3884414"/>
            <a:ext cx="48169" cy="318"/>
          </a:xfrm>
          <a:prstGeom prst="line">
            <a:avLst/>
          </a:prstGeom>
          <a:noFill/>
          <a:ln w="31750">
            <a:solidFill>
              <a:srgbClr val="D4568F"/>
            </a:solidFill>
            <a:prstDash val="solid"/>
          </a:ln>
        </p:spPr>
      </p:sp>
      <p:sp>
        <p:nvSpPr>
          <p:cNvPr id="459" name="Shape 457"/>
          <p:cNvSpPr/>
          <p:nvPr/>
        </p:nvSpPr>
        <p:spPr>
          <a:xfrm>
            <a:off x="2005149" y="3884732"/>
            <a:ext cx="48169" cy="204"/>
          </a:xfrm>
          <a:prstGeom prst="line">
            <a:avLst/>
          </a:prstGeom>
          <a:noFill/>
          <a:ln w="31750">
            <a:solidFill>
              <a:srgbClr val="D4568F"/>
            </a:solidFill>
            <a:prstDash val="solid"/>
          </a:ln>
        </p:spPr>
      </p:sp>
      <p:sp>
        <p:nvSpPr>
          <p:cNvPr id="460" name="Shape 458"/>
          <p:cNvSpPr/>
          <p:nvPr/>
        </p:nvSpPr>
        <p:spPr>
          <a:xfrm>
            <a:off x="2053318" y="3884936"/>
            <a:ext cx="48169" cy="84"/>
          </a:xfrm>
          <a:prstGeom prst="line">
            <a:avLst/>
          </a:prstGeom>
          <a:noFill/>
          <a:ln w="31750">
            <a:solidFill>
              <a:srgbClr val="D4568F"/>
            </a:solidFill>
            <a:prstDash val="solid"/>
          </a:ln>
        </p:spPr>
      </p:sp>
      <p:sp>
        <p:nvSpPr>
          <p:cNvPr id="461" name="Shape 459"/>
          <p:cNvSpPr/>
          <p:nvPr/>
        </p:nvSpPr>
        <p:spPr>
          <a:xfrm flipV="1">
            <a:off x="2101487" y="3884967"/>
            <a:ext cx="48169" cy="54"/>
          </a:xfrm>
          <a:prstGeom prst="line">
            <a:avLst/>
          </a:prstGeom>
          <a:noFill/>
          <a:ln w="31750">
            <a:solidFill>
              <a:srgbClr val="D4568F"/>
            </a:solidFill>
            <a:prstDash val="solid"/>
          </a:ln>
        </p:spPr>
      </p:sp>
      <p:sp>
        <p:nvSpPr>
          <p:cNvPr id="462" name="Shape 460"/>
          <p:cNvSpPr/>
          <p:nvPr/>
        </p:nvSpPr>
        <p:spPr>
          <a:xfrm flipV="1">
            <a:off x="2149656" y="3884742"/>
            <a:ext cx="48169" cy="226"/>
          </a:xfrm>
          <a:prstGeom prst="line">
            <a:avLst/>
          </a:prstGeom>
          <a:noFill/>
          <a:ln w="31750">
            <a:solidFill>
              <a:srgbClr val="D4568F"/>
            </a:solidFill>
            <a:prstDash val="solid"/>
          </a:ln>
        </p:spPr>
      </p:sp>
      <p:sp>
        <p:nvSpPr>
          <p:cNvPr id="463" name="Shape 461"/>
          <p:cNvSpPr/>
          <p:nvPr/>
        </p:nvSpPr>
        <p:spPr>
          <a:xfrm flipV="1">
            <a:off x="2197826" y="3884290"/>
            <a:ext cx="48169" cy="452"/>
          </a:xfrm>
          <a:prstGeom prst="line">
            <a:avLst/>
          </a:prstGeom>
          <a:noFill/>
          <a:ln w="31750">
            <a:solidFill>
              <a:srgbClr val="D4568F"/>
            </a:solidFill>
            <a:prstDash val="solid"/>
          </a:ln>
        </p:spPr>
      </p:sp>
      <p:sp>
        <p:nvSpPr>
          <p:cNvPr id="464" name="Shape 462"/>
          <p:cNvSpPr/>
          <p:nvPr/>
        </p:nvSpPr>
        <p:spPr>
          <a:xfrm flipV="1">
            <a:off x="2245995" y="3883531"/>
            <a:ext cx="48169" cy="759"/>
          </a:xfrm>
          <a:prstGeom prst="line">
            <a:avLst/>
          </a:prstGeom>
          <a:noFill/>
          <a:ln w="31750">
            <a:solidFill>
              <a:srgbClr val="D4568F"/>
            </a:solidFill>
            <a:prstDash val="solid"/>
          </a:ln>
        </p:spPr>
      </p:sp>
      <p:sp>
        <p:nvSpPr>
          <p:cNvPr id="465" name="Shape 463"/>
          <p:cNvSpPr/>
          <p:nvPr/>
        </p:nvSpPr>
        <p:spPr>
          <a:xfrm flipV="1">
            <a:off x="2294164" y="3882352"/>
            <a:ext cx="48169" cy="1179"/>
          </a:xfrm>
          <a:prstGeom prst="line">
            <a:avLst/>
          </a:prstGeom>
          <a:noFill/>
          <a:ln w="31750">
            <a:solidFill>
              <a:srgbClr val="D4568F"/>
            </a:solidFill>
            <a:prstDash val="solid"/>
          </a:ln>
        </p:spPr>
      </p:sp>
      <p:sp>
        <p:nvSpPr>
          <p:cNvPr id="466" name="Shape 464"/>
          <p:cNvSpPr/>
          <p:nvPr/>
        </p:nvSpPr>
        <p:spPr>
          <a:xfrm flipV="1">
            <a:off x="2342334" y="3880599"/>
            <a:ext cx="48169" cy="1753"/>
          </a:xfrm>
          <a:prstGeom prst="line">
            <a:avLst/>
          </a:prstGeom>
          <a:noFill/>
          <a:ln w="31750">
            <a:solidFill>
              <a:srgbClr val="D4568F"/>
            </a:solidFill>
            <a:prstDash val="solid"/>
          </a:ln>
        </p:spPr>
      </p:sp>
      <p:sp>
        <p:nvSpPr>
          <p:cNvPr id="467" name="Shape 465"/>
          <p:cNvSpPr/>
          <p:nvPr/>
        </p:nvSpPr>
        <p:spPr>
          <a:xfrm flipV="1">
            <a:off x="2390503" y="3878068"/>
            <a:ext cx="48169" cy="2531"/>
          </a:xfrm>
          <a:prstGeom prst="line">
            <a:avLst/>
          </a:prstGeom>
          <a:noFill/>
          <a:ln w="31750">
            <a:solidFill>
              <a:srgbClr val="D4568F"/>
            </a:solidFill>
            <a:prstDash val="solid"/>
          </a:ln>
        </p:spPr>
      </p:sp>
      <p:sp>
        <p:nvSpPr>
          <p:cNvPr id="468" name="Shape 466"/>
          <p:cNvSpPr/>
          <p:nvPr/>
        </p:nvSpPr>
        <p:spPr>
          <a:xfrm flipV="1">
            <a:off x="2438672" y="3874501"/>
            <a:ext cx="48169" cy="3567"/>
          </a:xfrm>
          <a:prstGeom prst="line">
            <a:avLst/>
          </a:prstGeom>
          <a:noFill/>
          <a:ln w="31750">
            <a:solidFill>
              <a:srgbClr val="D4568F"/>
            </a:solidFill>
            <a:prstDash val="solid"/>
          </a:ln>
        </p:spPr>
      </p:sp>
      <p:sp>
        <p:nvSpPr>
          <p:cNvPr id="469" name="Shape 467"/>
          <p:cNvSpPr/>
          <p:nvPr/>
        </p:nvSpPr>
        <p:spPr>
          <a:xfrm flipV="1">
            <a:off x="2486841" y="3869577"/>
            <a:ext cx="48169" cy="4924"/>
          </a:xfrm>
          <a:prstGeom prst="line">
            <a:avLst/>
          </a:prstGeom>
          <a:noFill/>
          <a:ln w="31750">
            <a:solidFill>
              <a:srgbClr val="D4568F"/>
            </a:solidFill>
            <a:prstDash val="solid"/>
          </a:ln>
        </p:spPr>
      </p:sp>
      <p:sp>
        <p:nvSpPr>
          <p:cNvPr id="470" name="Shape 468"/>
          <p:cNvSpPr/>
          <p:nvPr/>
        </p:nvSpPr>
        <p:spPr>
          <a:xfrm flipV="1">
            <a:off x="2535011" y="3862907"/>
            <a:ext cx="48169" cy="6670"/>
          </a:xfrm>
          <a:prstGeom prst="line">
            <a:avLst/>
          </a:prstGeom>
          <a:noFill/>
          <a:ln w="31750">
            <a:solidFill>
              <a:srgbClr val="D4568F"/>
            </a:solidFill>
            <a:prstDash val="solid"/>
          </a:ln>
        </p:spPr>
      </p:sp>
      <p:sp>
        <p:nvSpPr>
          <p:cNvPr id="471" name="Shape 469"/>
          <p:cNvSpPr/>
          <p:nvPr/>
        </p:nvSpPr>
        <p:spPr>
          <a:xfrm flipV="1">
            <a:off x="2583180" y="3854041"/>
            <a:ext cx="48169" cy="8867"/>
          </a:xfrm>
          <a:prstGeom prst="line">
            <a:avLst/>
          </a:prstGeom>
          <a:noFill/>
          <a:ln w="31750">
            <a:solidFill>
              <a:srgbClr val="D4568F"/>
            </a:solidFill>
            <a:prstDash val="solid"/>
          </a:ln>
        </p:spPr>
      </p:sp>
      <p:sp>
        <p:nvSpPr>
          <p:cNvPr id="472" name="Shape 470"/>
          <p:cNvSpPr/>
          <p:nvPr/>
        </p:nvSpPr>
        <p:spPr>
          <a:xfrm flipV="1">
            <a:off x="2631349" y="3842468"/>
            <a:ext cx="48169" cy="11572"/>
          </a:xfrm>
          <a:prstGeom prst="line">
            <a:avLst/>
          </a:prstGeom>
          <a:noFill/>
          <a:ln w="31750">
            <a:solidFill>
              <a:srgbClr val="D4568F"/>
            </a:solidFill>
            <a:prstDash val="solid"/>
          </a:ln>
        </p:spPr>
      </p:sp>
      <p:sp>
        <p:nvSpPr>
          <p:cNvPr id="473" name="Shape 471"/>
          <p:cNvSpPr/>
          <p:nvPr/>
        </p:nvSpPr>
        <p:spPr>
          <a:xfrm flipV="1">
            <a:off x="2679519" y="3827640"/>
            <a:ext cx="48169" cy="14828"/>
          </a:xfrm>
          <a:prstGeom prst="line">
            <a:avLst/>
          </a:prstGeom>
          <a:noFill/>
          <a:ln w="31750">
            <a:solidFill>
              <a:srgbClr val="D4568F"/>
            </a:solidFill>
            <a:prstDash val="solid"/>
          </a:ln>
        </p:spPr>
      </p:sp>
      <p:sp>
        <p:nvSpPr>
          <p:cNvPr id="474" name="Shape 472"/>
          <p:cNvSpPr/>
          <p:nvPr/>
        </p:nvSpPr>
        <p:spPr>
          <a:xfrm flipV="1">
            <a:off x="2727688" y="3808989"/>
            <a:ext cx="48169" cy="18651"/>
          </a:xfrm>
          <a:prstGeom prst="line">
            <a:avLst/>
          </a:prstGeom>
          <a:noFill/>
          <a:ln w="31750">
            <a:solidFill>
              <a:srgbClr val="D4568F"/>
            </a:solidFill>
            <a:prstDash val="solid"/>
          </a:ln>
        </p:spPr>
      </p:sp>
      <p:sp>
        <p:nvSpPr>
          <p:cNvPr id="475" name="Shape 473"/>
          <p:cNvSpPr/>
          <p:nvPr/>
        </p:nvSpPr>
        <p:spPr>
          <a:xfrm flipV="1">
            <a:off x="2775857" y="3785969"/>
            <a:ext cx="48169" cy="23020"/>
          </a:xfrm>
          <a:prstGeom prst="line">
            <a:avLst/>
          </a:prstGeom>
          <a:noFill/>
          <a:ln w="31750">
            <a:solidFill>
              <a:srgbClr val="D4568F"/>
            </a:solidFill>
            <a:prstDash val="solid"/>
          </a:ln>
        </p:spPr>
      </p:sp>
      <p:sp>
        <p:nvSpPr>
          <p:cNvPr id="476" name="Shape 474"/>
          <p:cNvSpPr/>
          <p:nvPr/>
        </p:nvSpPr>
        <p:spPr>
          <a:xfrm flipV="1">
            <a:off x="2824026" y="3758096"/>
            <a:ext cx="48169" cy="27873"/>
          </a:xfrm>
          <a:prstGeom prst="line">
            <a:avLst/>
          </a:prstGeom>
          <a:noFill/>
          <a:ln w="31750">
            <a:solidFill>
              <a:srgbClr val="D4568F"/>
            </a:solidFill>
            <a:prstDash val="solid"/>
          </a:ln>
        </p:spPr>
      </p:sp>
      <p:sp>
        <p:nvSpPr>
          <p:cNvPr id="477" name="Shape 475"/>
          <p:cNvSpPr/>
          <p:nvPr/>
        </p:nvSpPr>
        <p:spPr>
          <a:xfrm flipV="1">
            <a:off x="2872196" y="3725003"/>
            <a:ext cx="48169" cy="33093"/>
          </a:xfrm>
          <a:prstGeom prst="line">
            <a:avLst/>
          </a:prstGeom>
          <a:noFill/>
          <a:ln w="31750">
            <a:solidFill>
              <a:srgbClr val="D4568F"/>
            </a:solidFill>
            <a:prstDash val="solid"/>
          </a:ln>
        </p:spPr>
      </p:sp>
      <p:sp>
        <p:nvSpPr>
          <p:cNvPr id="478" name="Shape 476"/>
          <p:cNvSpPr/>
          <p:nvPr/>
        </p:nvSpPr>
        <p:spPr>
          <a:xfrm flipV="1">
            <a:off x="2920365" y="3686498"/>
            <a:ext cx="48169" cy="38504"/>
          </a:xfrm>
          <a:prstGeom prst="line">
            <a:avLst/>
          </a:prstGeom>
          <a:noFill/>
          <a:ln w="31750">
            <a:solidFill>
              <a:srgbClr val="D4568F"/>
            </a:solidFill>
            <a:prstDash val="solid"/>
          </a:ln>
        </p:spPr>
      </p:sp>
      <p:sp>
        <p:nvSpPr>
          <p:cNvPr id="479" name="Shape 477"/>
          <p:cNvSpPr/>
          <p:nvPr/>
        </p:nvSpPr>
        <p:spPr>
          <a:xfrm flipV="1">
            <a:off x="2968534" y="3642623"/>
            <a:ext cx="48169" cy="43876"/>
          </a:xfrm>
          <a:prstGeom prst="line">
            <a:avLst/>
          </a:prstGeom>
          <a:noFill/>
          <a:ln w="31750">
            <a:solidFill>
              <a:srgbClr val="D4568F"/>
            </a:solidFill>
            <a:prstDash val="solid"/>
          </a:ln>
        </p:spPr>
      </p:sp>
      <p:sp>
        <p:nvSpPr>
          <p:cNvPr id="480" name="Shape 478"/>
          <p:cNvSpPr/>
          <p:nvPr/>
        </p:nvSpPr>
        <p:spPr>
          <a:xfrm flipV="1">
            <a:off x="3016704" y="3593701"/>
            <a:ext cx="48169" cy="48922"/>
          </a:xfrm>
          <a:prstGeom prst="line">
            <a:avLst/>
          </a:prstGeom>
          <a:noFill/>
          <a:ln w="31750">
            <a:solidFill>
              <a:srgbClr val="D4568F"/>
            </a:solidFill>
            <a:prstDash val="solid"/>
          </a:ln>
        </p:spPr>
      </p:sp>
      <p:sp>
        <p:nvSpPr>
          <p:cNvPr id="481" name="Shape 479"/>
          <p:cNvSpPr/>
          <p:nvPr/>
        </p:nvSpPr>
        <p:spPr>
          <a:xfrm flipV="1">
            <a:off x="3064873" y="3540382"/>
            <a:ext cx="48169" cy="53319"/>
          </a:xfrm>
          <a:prstGeom prst="line">
            <a:avLst/>
          </a:prstGeom>
          <a:noFill/>
          <a:ln w="31750">
            <a:solidFill>
              <a:srgbClr val="D4568F"/>
            </a:solidFill>
            <a:prstDash val="solid"/>
          </a:ln>
        </p:spPr>
      </p:sp>
      <p:sp>
        <p:nvSpPr>
          <p:cNvPr id="482" name="Shape 480"/>
          <p:cNvSpPr/>
          <p:nvPr/>
        </p:nvSpPr>
        <p:spPr>
          <a:xfrm flipV="1">
            <a:off x="3113042" y="3483658"/>
            <a:ext cx="48169" cy="56724"/>
          </a:xfrm>
          <a:prstGeom prst="line">
            <a:avLst/>
          </a:prstGeom>
          <a:noFill/>
          <a:ln w="31750">
            <a:solidFill>
              <a:srgbClr val="D4568F"/>
            </a:solidFill>
            <a:prstDash val="solid"/>
          </a:ln>
        </p:spPr>
      </p:sp>
      <p:sp>
        <p:nvSpPr>
          <p:cNvPr id="483" name="Shape 481"/>
          <p:cNvSpPr/>
          <p:nvPr/>
        </p:nvSpPr>
        <p:spPr>
          <a:xfrm flipV="1">
            <a:off x="3161211" y="3424861"/>
            <a:ext cx="48169" cy="58797"/>
          </a:xfrm>
          <a:prstGeom prst="line">
            <a:avLst/>
          </a:prstGeom>
          <a:noFill/>
          <a:ln w="31750">
            <a:solidFill>
              <a:srgbClr val="D4568F"/>
            </a:solidFill>
            <a:prstDash val="solid"/>
          </a:ln>
        </p:spPr>
      </p:sp>
      <p:sp>
        <p:nvSpPr>
          <p:cNvPr id="484" name="Shape 482"/>
          <p:cNvSpPr/>
          <p:nvPr/>
        </p:nvSpPr>
        <p:spPr>
          <a:xfrm flipV="1">
            <a:off x="3209381" y="3365627"/>
            <a:ext cx="48169" cy="59234"/>
          </a:xfrm>
          <a:prstGeom prst="line">
            <a:avLst/>
          </a:prstGeom>
          <a:noFill/>
          <a:ln w="31750">
            <a:solidFill>
              <a:srgbClr val="D4568F"/>
            </a:solidFill>
            <a:prstDash val="solid"/>
          </a:ln>
        </p:spPr>
      </p:sp>
      <p:sp>
        <p:nvSpPr>
          <p:cNvPr id="485" name="Shape 483"/>
          <p:cNvSpPr/>
          <p:nvPr/>
        </p:nvSpPr>
        <p:spPr>
          <a:xfrm flipV="1">
            <a:off x="3257550" y="3307831"/>
            <a:ext cx="48169" cy="57797"/>
          </a:xfrm>
          <a:prstGeom prst="line">
            <a:avLst/>
          </a:prstGeom>
          <a:noFill/>
          <a:ln w="31750">
            <a:solidFill>
              <a:srgbClr val="D4568F"/>
            </a:solidFill>
            <a:prstDash val="solid"/>
          </a:ln>
        </p:spPr>
      </p:sp>
      <p:sp>
        <p:nvSpPr>
          <p:cNvPr id="486" name="Shape 484"/>
          <p:cNvSpPr/>
          <p:nvPr/>
        </p:nvSpPr>
        <p:spPr>
          <a:xfrm flipV="1">
            <a:off x="3305719" y="3253492"/>
            <a:ext cx="48169" cy="54339"/>
          </a:xfrm>
          <a:prstGeom prst="line">
            <a:avLst/>
          </a:prstGeom>
          <a:noFill/>
          <a:ln w="31750">
            <a:solidFill>
              <a:srgbClr val="D4568F"/>
            </a:solidFill>
            <a:prstDash val="solid"/>
          </a:ln>
        </p:spPr>
      </p:sp>
      <p:sp>
        <p:nvSpPr>
          <p:cNvPr id="487" name="Shape 485"/>
          <p:cNvSpPr/>
          <p:nvPr/>
        </p:nvSpPr>
        <p:spPr>
          <a:xfrm flipV="1">
            <a:off x="3353889" y="3204659"/>
            <a:ext cx="48169" cy="48833"/>
          </a:xfrm>
          <a:prstGeom prst="line">
            <a:avLst/>
          </a:prstGeom>
          <a:noFill/>
          <a:ln w="31750">
            <a:solidFill>
              <a:srgbClr val="D4568F"/>
            </a:solidFill>
            <a:prstDash val="solid"/>
          </a:ln>
        </p:spPr>
      </p:sp>
      <p:sp>
        <p:nvSpPr>
          <p:cNvPr id="488" name="Shape 486"/>
          <p:cNvSpPr/>
          <p:nvPr/>
        </p:nvSpPr>
        <p:spPr>
          <a:xfrm flipV="1">
            <a:off x="3402058" y="3163277"/>
            <a:ext cx="48169" cy="41382"/>
          </a:xfrm>
          <a:prstGeom prst="line">
            <a:avLst/>
          </a:prstGeom>
          <a:noFill/>
          <a:ln w="31750">
            <a:solidFill>
              <a:srgbClr val="D4568F"/>
            </a:solidFill>
            <a:prstDash val="solid"/>
          </a:ln>
        </p:spPr>
      </p:sp>
      <p:sp>
        <p:nvSpPr>
          <p:cNvPr id="489" name="Shape 487"/>
          <p:cNvSpPr/>
          <p:nvPr/>
        </p:nvSpPr>
        <p:spPr>
          <a:xfrm flipV="1">
            <a:off x="3450227" y="3131055"/>
            <a:ext cx="48169" cy="32223"/>
          </a:xfrm>
          <a:prstGeom prst="line">
            <a:avLst/>
          </a:prstGeom>
          <a:noFill/>
          <a:ln w="31750">
            <a:solidFill>
              <a:srgbClr val="D4568F"/>
            </a:solidFill>
            <a:prstDash val="solid"/>
          </a:ln>
        </p:spPr>
      </p:sp>
      <p:sp>
        <p:nvSpPr>
          <p:cNvPr id="490" name="Shape 488"/>
          <p:cNvSpPr/>
          <p:nvPr/>
        </p:nvSpPr>
        <p:spPr>
          <a:xfrm flipV="1">
            <a:off x="3498396" y="3109337"/>
            <a:ext cx="48169" cy="21718"/>
          </a:xfrm>
          <a:prstGeom prst="line">
            <a:avLst/>
          </a:prstGeom>
          <a:noFill/>
          <a:ln w="31750">
            <a:solidFill>
              <a:srgbClr val="D4568F"/>
            </a:solidFill>
            <a:prstDash val="solid"/>
          </a:ln>
        </p:spPr>
      </p:sp>
      <p:sp>
        <p:nvSpPr>
          <p:cNvPr id="491" name="Shape 489"/>
          <p:cNvSpPr/>
          <p:nvPr/>
        </p:nvSpPr>
        <p:spPr>
          <a:xfrm flipV="1">
            <a:off x="3546566" y="3099005"/>
            <a:ext cx="48169" cy="10332"/>
          </a:xfrm>
          <a:prstGeom prst="line">
            <a:avLst/>
          </a:prstGeom>
          <a:noFill/>
          <a:ln w="31750">
            <a:solidFill>
              <a:srgbClr val="D4568F"/>
            </a:solidFill>
            <a:prstDash val="solid"/>
          </a:ln>
        </p:spPr>
      </p:sp>
      <p:sp>
        <p:nvSpPr>
          <p:cNvPr id="492" name="Shape 490"/>
          <p:cNvSpPr/>
          <p:nvPr/>
        </p:nvSpPr>
        <p:spPr>
          <a:xfrm>
            <a:off x="3594735" y="3099005"/>
            <a:ext cx="48169" cy="1401"/>
          </a:xfrm>
          <a:prstGeom prst="line">
            <a:avLst/>
          </a:prstGeom>
          <a:noFill/>
          <a:ln w="31750">
            <a:solidFill>
              <a:srgbClr val="D4568F"/>
            </a:solidFill>
            <a:prstDash val="solid"/>
          </a:ln>
        </p:spPr>
      </p:sp>
      <p:sp>
        <p:nvSpPr>
          <p:cNvPr id="493" name="Shape 491"/>
          <p:cNvSpPr/>
          <p:nvPr/>
        </p:nvSpPr>
        <p:spPr>
          <a:xfrm>
            <a:off x="3642904" y="3100406"/>
            <a:ext cx="48169" cy="12915"/>
          </a:xfrm>
          <a:prstGeom prst="line">
            <a:avLst/>
          </a:prstGeom>
          <a:noFill/>
          <a:ln w="31750">
            <a:solidFill>
              <a:srgbClr val="D4568F"/>
            </a:solidFill>
            <a:prstDash val="solid"/>
          </a:ln>
        </p:spPr>
      </p:sp>
      <p:sp>
        <p:nvSpPr>
          <p:cNvPr id="494" name="Shape 492"/>
          <p:cNvSpPr/>
          <p:nvPr/>
        </p:nvSpPr>
        <p:spPr>
          <a:xfrm>
            <a:off x="3691074" y="3113321"/>
            <a:ext cx="48169" cy="23661"/>
          </a:xfrm>
          <a:prstGeom prst="line">
            <a:avLst/>
          </a:prstGeom>
          <a:noFill/>
          <a:ln w="31750">
            <a:solidFill>
              <a:srgbClr val="D4568F"/>
            </a:solidFill>
            <a:prstDash val="solid"/>
          </a:ln>
        </p:spPr>
      </p:sp>
      <p:sp>
        <p:nvSpPr>
          <p:cNvPr id="495" name="Shape 493"/>
          <p:cNvSpPr/>
          <p:nvPr/>
        </p:nvSpPr>
        <p:spPr>
          <a:xfrm>
            <a:off x="3739243" y="3136982"/>
            <a:ext cx="48169" cy="33142"/>
          </a:xfrm>
          <a:prstGeom prst="line">
            <a:avLst/>
          </a:prstGeom>
          <a:noFill/>
          <a:ln w="31750">
            <a:solidFill>
              <a:srgbClr val="D4568F"/>
            </a:solidFill>
            <a:prstDash val="solid"/>
          </a:ln>
        </p:spPr>
      </p:sp>
      <p:sp>
        <p:nvSpPr>
          <p:cNvPr id="496" name="Shape 494"/>
          <p:cNvSpPr/>
          <p:nvPr/>
        </p:nvSpPr>
        <p:spPr>
          <a:xfrm>
            <a:off x="3787412" y="3170124"/>
            <a:ext cx="48169" cy="40956"/>
          </a:xfrm>
          <a:prstGeom prst="line">
            <a:avLst/>
          </a:prstGeom>
          <a:noFill/>
          <a:ln w="31750">
            <a:solidFill>
              <a:srgbClr val="D4568F"/>
            </a:solidFill>
            <a:prstDash val="solid"/>
          </a:ln>
        </p:spPr>
      </p:sp>
      <p:sp>
        <p:nvSpPr>
          <p:cNvPr id="497" name="Shape 495"/>
          <p:cNvSpPr/>
          <p:nvPr/>
        </p:nvSpPr>
        <p:spPr>
          <a:xfrm>
            <a:off x="3835581" y="3211080"/>
            <a:ext cx="48169" cy="46816"/>
          </a:xfrm>
          <a:prstGeom prst="line">
            <a:avLst/>
          </a:prstGeom>
          <a:noFill/>
          <a:ln w="31750">
            <a:solidFill>
              <a:srgbClr val="D4568F"/>
            </a:solidFill>
            <a:prstDash val="solid"/>
          </a:ln>
        </p:spPr>
      </p:sp>
      <p:sp>
        <p:nvSpPr>
          <p:cNvPr id="498" name="Shape 496"/>
          <p:cNvSpPr/>
          <p:nvPr/>
        </p:nvSpPr>
        <p:spPr>
          <a:xfrm>
            <a:off x="3883751" y="3257896"/>
            <a:ext cx="48169" cy="50570"/>
          </a:xfrm>
          <a:prstGeom prst="line">
            <a:avLst/>
          </a:prstGeom>
          <a:noFill/>
          <a:ln w="31750">
            <a:solidFill>
              <a:srgbClr val="D4568F"/>
            </a:solidFill>
            <a:prstDash val="solid"/>
          </a:ln>
        </p:spPr>
      </p:sp>
      <p:sp>
        <p:nvSpPr>
          <p:cNvPr id="499" name="Shape 497"/>
          <p:cNvSpPr/>
          <p:nvPr/>
        </p:nvSpPr>
        <p:spPr>
          <a:xfrm>
            <a:off x="3931920" y="3308466"/>
            <a:ext cx="48169" cy="52201"/>
          </a:xfrm>
          <a:prstGeom prst="line">
            <a:avLst/>
          </a:prstGeom>
          <a:noFill/>
          <a:ln w="31750">
            <a:solidFill>
              <a:srgbClr val="D4568F"/>
            </a:solidFill>
            <a:prstDash val="solid"/>
          </a:ln>
        </p:spPr>
      </p:sp>
      <p:sp>
        <p:nvSpPr>
          <p:cNvPr id="500" name="Shape 498"/>
          <p:cNvSpPr/>
          <p:nvPr/>
        </p:nvSpPr>
        <p:spPr>
          <a:xfrm>
            <a:off x="3980089" y="3360667"/>
            <a:ext cx="48169" cy="51819"/>
          </a:xfrm>
          <a:prstGeom prst="line">
            <a:avLst/>
          </a:prstGeom>
          <a:noFill/>
          <a:ln w="31750">
            <a:solidFill>
              <a:srgbClr val="D4568F"/>
            </a:solidFill>
            <a:prstDash val="solid"/>
          </a:ln>
        </p:spPr>
      </p:sp>
      <p:sp>
        <p:nvSpPr>
          <p:cNvPr id="501" name="Shape 499"/>
          <p:cNvSpPr/>
          <p:nvPr/>
        </p:nvSpPr>
        <p:spPr>
          <a:xfrm>
            <a:off x="4028259" y="3412486"/>
            <a:ext cx="48169" cy="49636"/>
          </a:xfrm>
          <a:prstGeom prst="line">
            <a:avLst/>
          </a:prstGeom>
          <a:noFill/>
          <a:ln w="31750">
            <a:solidFill>
              <a:srgbClr val="D4568F"/>
            </a:solidFill>
            <a:prstDash val="solid"/>
          </a:ln>
        </p:spPr>
      </p:sp>
      <p:sp>
        <p:nvSpPr>
          <p:cNvPr id="502" name="Shape 500"/>
          <p:cNvSpPr/>
          <p:nvPr/>
        </p:nvSpPr>
        <p:spPr>
          <a:xfrm>
            <a:off x="4076428" y="3462122"/>
            <a:ext cx="48169" cy="45947"/>
          </a:xfrm>
          <a:prstGeom prst="line">
            <a:avLst/>
          </a:prstGeom>
          <a:noFill/>
          <a:ln w="31750">
            <a:solidFill>
              <a:srgbClr val="D4568F"/>
            </a:solidFill>
            <a:prstDash val="solid"/>
          </a:ln>
        </p:spPr>
      </p:sp>
      <p:sp>
        <p:nvSpPr>
          <p:cNvPr id="503" name="Shape 501"/>
          <p:cNvSpPr/>
          <p:nvPr/>
        </p:nvSpPr>
        <p:spPr>
          <a:xfrm>
            <a:off x="4124597" y="3508069"/>
            <a:ext cx="48169" cy="41093"/>
          </a:xfrm>
          <a:prstGeom prst="line">
            <a:avLst/>
          </a:prstGeom>
          <a:noFill/>
          <a:ln w="31750">
            <a:solidFill>
              <a:srgbClr val="D4568F"/>
            </a:solidFill>
            <a:prstDash val="solid"/>
          </a:ln>
        </p:spPr>
      </p:sp>
      <p:sp>
        <p:nvSpPr>
          <p:cNvPr id="504" name="Shape 502"/>
          <p:cNvSpPr/>
          <p:nvPr/>
        </p:nvSpPr>
        <p:spPr>
          <a:xfrm>
            <a:off x="4172766" y="3549162"/>
            <a:ext cx="48169" cy="35433"/>
          </a:xfrm>
          <a:prstGeom prst="line">
            <a:avLst/>
          </a:prstGeom>
          <a:noFill/>
          <a:ln w="31750">
            <a:solidFill>
              <a:srgbClr val="D4568F"/>
            </a:solidFill>
            <a:prstDash val="solid"/>
          </a:ln>
        </p:spPr>
      </p:sp>
      <p:sp>
        <p:nvSpPr>
          <p:cNvPr id="505" name="Shape 503"/>
          <p:cNvSpPr/>
          <p:nvPr/>
        </p:nvSpPr>
        <p:spPr>
          <a:xfrm>
            <a:off x="4220936" y="3584595"/>
            <a:ext cx="48169" cy="29320"/>
          </a:xfrm>
          <a:prstGeom prst="line">
            <a:avLst/>
          </a:prstGeom>
          <a:noFill/>
          <a:ln w="31750">
            <a:solidFill>
              <a:srgbClr val="D4568F"/>
            </a:solidFill>
            <a:prstDash val="solid"/>
          </a:ln>
        </p:spPr>
      </p:sp>
      <p:sp>
        <p:nvSpPr>
          <p:cNvPr id="506" name="Shape 504"/>
          <p:cNvSpPr/>
          <p:nvPr/>
        </p:nvSpPr>
        <p:spPr>
          <a:xfrm>
            <a:off x="4269105" y="3613916"/>
            <a:ext cx="48169" cy="23074"/>
          </a:xfrm>
          <a:prstGeom prst="line">
            <a:avLst/>
          </a:prstGeom>
          <a:noFill/>
          <a:ln w="31750">
            <a:solidFill>
              <a:srgbClr val="D4568F"/>
            </a:solidFill>
            <a:prstDash val="solid"/>
          </a:ln>
        </p:spPr>
      </p:sp>
      <p:sp>
        <p:nvSpPr>
          <p:cNvPr id="507" name="Shape 505"/>
          <p:cNvSpPr/>
          <p:nvPr/>
        </p:nvSpPr>
        <p:spPr>
          <a:xfrm>
            <a:off x="4317274" y="3636990"/>
            <a:ext cx="48169" cy="16969"/>
          </a:xfrm>
          <a:prstGeom prst="line">
            <a:avLst/>
          </a:prstGeom>
          <a:noFill/>
          <a:ln w="31750">
            <a:solidFill>
              <a:srgbClr val="D4568F"/>
            </a:solidFill>
            <a:prstDash val="solid"/>
          </a:ln>
        </p:spPr>
      </p:sp>
      <p:sp>
        <p:nvSpPr>
          <p:cNvPr id="508" name="Shape 506"/>
          <p:cNvSpPr/>
          <p:nvPr/>
        </p:nvSpPr>
        <p:spPr>
          <a:xfrm>
            <a:off x="4365444" y="3653959"/>
            <a:ext cx="48169" cy="11224"/>
          </a:xfrm>
          <a:prstGeom prst="line">
            <a:avLst/>
          </a:prstGeom>
          <a:noFill/>
          <a:ln w="31750">
            <a:solidFill>
              <a:srgbClr val="D4568F"/>
            </a:solidFill>
            <a:prstDash val="solid"/>
          </a:ln>
        </p:spPr>
      </p:sp>
      <p:sp>
        <p:nvSpPr>
          <p:cNvPr id="509" name="Shape 507"/>
          <p:cNvSpPr/>
          <p:nvPr/>
        </p:nvSpPr>
        <p:spPr>
          <a:xfrm>
            <a:off x="4413613" y="3665183"/>
            <a:ext cx="48169" cy="5999"/>
          </a:xfrm>
          <a:prstGeom prst="line">
            <a:avLst/>
          </a:prstGeom>
          <a:noFill/>
          <a:ln w="31750">
            <a:solidFill>
              <a:srgbClr val="D4568F"/>
            </a:solidFill>
            <a:prstDash val="solid"/>
          </a:ln>
        </p:spPr>
      </p:sp>
      <p:sp>
        <p:nvSpPr>
          <p:cNvPr id="510" name="Shape 508"/>
          <p:cNvSpPr/>
          <p:nvPr/>
        </p:nvSpPr>
        <p:spPr>
          <a:xfrm>
            <a:off x="4461782" y="3671182"/>
            <a:ext cx="48169" cy="1401"/>
          </a:xfrm>
          <a:prstGeom prst="line">
            <a:avLst/>
          </a:prstGeom>
          <a:noFill/>
          <a:ln w="31750">
            <a:solidFill>
              <a:srgbClr val="D4568F"/>
            </a:solidFill>
            <a:prstDash val="solid"/>
          </a:ln>
        </p:spPr>
      </p:sp>
      <p:sp>
        <p:nvSpPr>
          <p:cNvPr id="511" name="Shape 509"/>
          <p:cNvSpPr/>
          <p:nvPr/>
        </p:nvSpPr>
        <p:spPr>
          <a:xfrm flipV="1">
            <a:off x="4509951" y="3670071"/>
            <a:ext cx="48169" cy="2512"/>
          </a:xfrm>
          <a:prstGeom prst="line">
            <a:avLst/>
          </a:prstGeom>
          <a:noFill/>
          <a:ln w="31750">
            <a:solidFill>
              <a:srgbClr val="D4568F"/>
            </a:solidFill>
            <a:prstDash val="solid"/>
          </a:ln>
        </p:spPr>
      </p:sp>
      <p:sp>
        <p:nvSpPr>
          <p:cNvPr id="512" name="Shape 510"/>
          <p:cNvSpPr/>
          <p:nvPr/>
        </p:nvSpPr>
        <p:spPr>
          <a:xfrm flipV="1">
            <a:off x="4558121" y="3664347"/>
            <a:ext cx="48169" cy="5724"/>
          </a:xfrm>
          <a:prstGeom prst="line">
            <a:avLst/>
          </a:prstGeom>
          <a:noFill/>
          <a:ln w="31750">
            <a:solidFill>
              <a:srgbClr val="D4568F"/>
            </a:solidFill>
            <a:prstDash val="solid"/>
          </a:ln>
        </p:spPr>
      </p:sp>
      <p:sp>
        <p:nvSpPr>
          <p:cNvPr id="513" name="Shape 511"/>
          <p:cNvSpPr/>
          <p:nvPr/>
        </p:nvSpPr>
        <p:spPr>
          <a:xfrm flipV="1">
            <a:off x="4606290" y="3656098"/>
            <a:ext cx="48169" cy="8249"/>
          </a:xfrm>
          <a:prstGeom prst="line">
            <a:avLst/>
          </a:prstGeom>
          <a:noFill/>
          <a:ln w="31750">
            <a:solidFill>
              <a:srgbClr val="D4568F"/>
            </a:solidFill>
            <a:prstDash val="solid"/>
          </a:ln>
        </p:spPr>
      </p:sp>
      <p:sp>
        <p:nvSpPr>
          <p:cNvPr id="514" name="Shape 512"/>
          <p:cNvSpPr/>
          <p:nvPr/>
        </p:nvSpPr>
        <p:spPr>
          <a:xfrm flipV="1">
            <a:off x="4654459" y="3645977"/>
            <a:ext cx="48169" cy="10121"/>
          </a:xfrm>
          <a:prstGeom prst="line">
            <a:avLst/>
          </a:prstGeom>
          <a:noFill/>
          <a:ln w="31750">
            <a:solidFill>
              <a:srgbClr val="D4568F"/>
            </a:solidFill>
            <a:prstDash val="solid"/>
          </a:ln>
        </p:spPr>
      </p:sp>
      <p:sp>
        <p:nvSpPr>
          <p:cNvPr id="515" name="Shape 513"/>
          <p:cNvSpPr/>
          <p:nvPr/>
        </p:nvSpPr>
        <p:spPr>
          <a:xfrm flipV="1">
            <a:off x="4702629" y="3634586"/>
            <a:ext cx="48169" cy="11390"/>
          </a:xfrm>
          <a:prstGeom prst="line">
            <a:avLst/>
          </a:prstGeom>
          <a:noFill/>
          <a:ln w="31750">
            <a:solidFill>
              <a:srgbClr val="D4568F"/>
            </a:solidFill>
            <a:prstDash val="solid"/>
          </a:ln>
        </p:spPr>
      </p:sp>
      <p:sp>
        <p:nvSpPr>
          <p:cNvPr id="516" name="Shape 514"/>
          <p:cNvSpPr/>
          <p:nvPr/>
        </p:nvSpPr>
        <p:spPr>
          <a:xfrm flipV="1">
            <a:off x="4750798" y="3622475"/>
            <a:ext cx="48169" cy="12112"/>
          </a:xfrm>
          <a:prstGeom prst="line">
            <a:avLst/>
          </a:prstGeom>
          <a:noFill/>
          <a:ln w="31750">
            <a:solidFill>
              <a:srgbClr val="D4568F"/>
            </a:solidFill>
            <a:prstDash val="solid"/>
          </a:ln>
        </p:spPr>
      </p:sp>
      <p:sp>
        <p:nvSpPr>
          <p:cNvPr id="517" name="Shape 515"/>
          <p:cNvSpPr/>
          <p:nvPr/>
        </p:nvSpPr>
        <p:spPr>
          <a:xfrm flipV="1">
            <a:off x="4798967" y="3610131"/>
            <a:ext cx="48169" cy="12343"/>
          </a:xfrm>
          <a:prstGeom prst="line">
            <a:avLst/>
          </a:prstGeom>
          <a:noFill/>
          <a:ln w="31750">
            <a:solidFill>
              <a:srgbClr val="D4568F"/>
            </a:solidFill>
            <a:prstDash val="solid"/>
          </a:ln>
        </p:spPr>
      </p:sp>
      <p:sp>
        <p:nvSpPr>
          <p:cNvPr id="518" name="Shape 516"/>
          <p:cNvSpPr/>
          <p:nvPr/>
        </p:nvSpPr>
        <p:spPr>
          <a:xfrm flipV="1">
            <a:off x="4847136" y="3597989"/>
            <a:ext cx="48169" cy="12143"/>
          </a:xfrm>
          <a:prstGeom prst="line">
            <a:avLst/>
          </a:prstGeom>
          <a:noFill/>
          <a:ln w="31750">
            <a:solidFill>
              <a:srgbClr val="D4568F"/>
            </a:solidFill>
            <a:prstDash val="solid"/>
          </a:ln>
        </p:spPr>
      </p:sp>
      <p:sp>
        <p:nvSpPr>
          <p:cNvPr id="519" name="Shape 517"/>
          <p:cNvSpPr/>
          <p:nvPr/>
        </p:nvSpPr>
        <p:spPr>
          <a:xfrm flipV="1">
            <a:off x="4895306" y="3586424"/>
            <a:ext cx="48169" cy="11565"/>
          </a:xfrm>
          <a:prstGeom prst="line">
            <a:avLst/>
          </a:prstGeom>
          <a:noFill/>
          <a:ln w="31750">
            <a:solidFill>
              <a:srgbClr val="D4568F"/>
            </a:solidFill>
            <a:prstDash val="solid"/>
          </a:ln>
        </p:spPr>
      </p:sp>
      <p:sp>
        <p:nvSpPr>
          <p:cNvPr id="520" name="Shape 518"/>
          <p:cNvSpPr/>
          <p:nvPr/>
        </p:nvSpPr>
        <p:spPr>
          <a:xfrm flipV="1">
            <a:off x="4943475" y="3575763"/>
            <a:ext cx="48169" cy="10661"/>
          </a:xfrm>
          <a:prstGeom prst="line">
            <a:avLst/>
          </a:prstGeom>
          <a:noFill/>
          <a:ln w="31750">
            <a:solidFill>
              <a:srgbClr val="D4568F"/>
            </a:solidFill>
            <a:prstDash val="solid"/>
          </a:ln>
        </p:spPr>
      </p:sp>
      <p:sp>
        <p:nvSpPr>
          <p:cNvPr id="521" name="Shape 519"/>
          <p:cNvSpPr/>
          <p:nvPr/>
        </p:nvSpPr>
        <p:spPr>
          <a:xfrm flipV="1">
            <a:off x="4991644" y="3566284"/>
            <a:ext cx="48169" cy="9479"/>
          </a:xfrm>
          <a:prstGeom prst="line">
            <a:avLst/>
          </a:prstGeom>
          <a:noFill/>
          <a:ln w="31750">
            <a:solidFill>
              <a:srgbClr val="D4568F"/>
            </a:solidFill>
            <a:prstDash val="solid"/>
          </a:ln>
        </p:spPr>
      </p:sp>
      <p:sp>
        <p:nvSpPr>
          <p:cNvPr id="522" name="Shape 520"/>
          <p:cNvSpPr/>
          <p:nvPr/>
        </p:nvSpPr>
        <p:spPr>
          <a:xfrm flipV="1">
            <a:off x="5039814" y="3558218"/>
            <a:ext cx="48169" cy="8066"/>
          </a:xfrm>
          <a:prstGeom prst="line">
            <a:avLst/>
          </a:prstGeom>
          <a:noFill/>
          <a:ln w="31750">
            <a:solidFill>
              <a:srgbClr val="D4568F"/>
            </a:solidFill>
            <a:prstDash val="solid"/>
          </a:ln>
        </p:spPr>
      </p:sp>
      <p:sp>
        <p:nvSpPr>
          <p:cNvPr id="523" name="Shape 521"/>
          <p:cNvSpPr/>
          <p:nvPr/>
        </p:nvSpPr>
        <p:spPr>
          <a:xfrm flipV="1">
            <a:off x="5087983" y="3551754"/>
            <a:ext cx="48169" cy="6464"/>
          </a:xfrm>
          <a:prstGeom prst="line">
            <a:avLst/>
          </a:prstGeom>
          <a:noFill/>
          <a:ln w="31750">
            <a:solidFill>
              <a:srgbClr val="D4568F"/>
            </a:solidFill>
            <a:prstDash val="solid"/>
          </a:ln>
        </p:spPr>
      </p:sp>
      <p:sp>
        <p:nvSpPr>
          <p:cNvPr id="524" name="Shape 522"/>
          <p:cNvSpPr/>
          <p:nvPr/>
        </p:nvSpPr>
        <p:spPr>
          <a:xfrm flipV="1">
            <a:off x="5136152" y="3547040"/>
            <a:ext cx="48169" cy="4715"/>
          </a:xfrm>
          <a:prstGeom prst="line">
            <a:avLst/>
          </a:prstGeom>
          <a:noFill/>
          <a:ln w="31750">
            <a:solidFill>
              <a:srgbClr val="D4568F"/>
            </a:solidFill>
            <a:prstDash val="solid"/>
          </a:ln>
        </p:spPr>
      </p:sp>
      <p:sp>
        <p:nvSpPr>
          <p:cNvPr id="525" name="Shape 523"/>
          <p:cNvSpPr/>
          <p:nvPr/>
        </p:nvSpPr>
        <p:spPr>
          <a:xfrm flipV="1">
            <a:off x="5184321" y="3544179"/>
            <a:ext cx="48169" cy="2860"/>
          </a:xfrm>
          <a:prstGeom prst="line">
            <a:avLst/>
          </a:prstGeom>
          <a:noFill/>
          <a:ln w="31750">
            <a:solidFill>
              <a:srgbClr val="D4568F"/>
            </a:solidFill>
            <a:prstDash val="solid"/>
          </a:ln>
        </p:spPr>
      </p:sp>
      <p:sp>
        <p:nvSpPr>
          <p:cNvPr id="526" name="Shape 524"/>
          <p:cNvSpPr/>
          <p:nvPr/>
        </p:nvSpPr>
        <p:spPr>
          <a:xfrm flipV="1">
            <a:off x="5232491" y="3543240"/>
            <a:ext cx="48169" cy="940"/>
          </a:xfrm>
          <a:prstGeom prst="line">
            <a:avLst/>
          </a:prstGeom>
          <a:noFill/>
          <a:ln w="31750">
            <a:solidFill>
              <a:srgbClr val="D4568F"/>
            </a:solidFill>
            <a:prstDash val="solid"/>
          </a:ln>
        </p:spPr>
      </p:sp>
      <p:sp>
        <p:nvSpPr>
          <p:cNvPr id="527" name="Shape 525"/>
          <p:cNvSpPr/>
          <p:nvPr/>
        </p:nvSpPr>
        <p:spPr>
          <a:xfrm>
            <a:off x="5280660" y="3543240"/>
            <a:ext cx="48169" cy="1008"/>
          </a:xfrm>
          <a:prstGeom prst="line">
            <a:avLst/>
          </a:prstGeom>
          <a:noFill/>
          <a:ln w="31750">
            <a:solidFill>
              <a:srgbClr val="D4568F"/>
            </a:solidFill>
            <a:prstDash val="solid"/>
          </a:ln>
        </p:spPr>
      </p:sp>
      <p:sp>
        <p:nvSpPr>
          <p:cNvPr id="528" name="Shape 526"/>
          <p:cNvSpPr/>
          <p:nvPr/>
        </p:nvSpPr>
        <p:spPr>
          <a:xfrm>
            <a:off x="5328829" y="3544248"/>
            <a:ext cx="48169" cy="2946"/>
          </a:xfrm>
          <a:prstGeom prst="line">
            <a:avLst/>
          </a:prstGeom>
          <a:noFill/>
          <a:ln w="31750">
            <a:solidFill>
              <a:srgbClr val="D4568F"/>
            </a:solidFill>
            <a:prstDash val="solid"/>
          </a:ln>
        </p:spPr>
      </p:sp>
      <p:sp>
        <p:nvSpPr>
          <p:cNvPr id="529" name="Shape 527"/>
          <p:cNvSpPr/>
          <p:nvPr/>
        </p:nvSpPr>
        <p:spPr>
          <a:xfrm>
            <a:off x="5376999" y="3547194"/>
            <a:ext cx="48169" cy="4838"/>
          </a:xfrm>
          <a:prstGeom prst="line">
            <a:avLst/>
          </a:prstGeom>
          <a:noFill/>
          <a:ln w="31750">
            <a:solidFill>
              <a:srgbClr val="D4568F"/>
            </a:solidFill>
            <a:prstDash val="solid"/>
          </a:ln>
        </p:spPr>
      </p:sp>
      <p:sp>
        <p:nvSpPr>
          <p:cNvPr id="530" name="Shape 528"/>
          <p:cNvSpPr/>
          <p:nvPr/>
        </p:nvSpPr>
        <p:spPr>
          <a:xfrm>
            <a:off x="5425168" y="3552031"/>
            <a:ext cx="48169" cy="6650"/>
          </a:xfrm>
          <a:prstGeom prst="line">
            <a:avLst/>
          </a:prstGeom>
          <a:noFill/>
          <a:ln w="31750">
            <a:solidFill>
              <a:srgbClr val="D4568F"/>
            </a:solidFill>
            <a:prstDash val="solid"/>
          </a:ln>
        </p:spPr>
      </p:sp>
      <p:sp>
        <p:nvSpPr>
          <p:cNvPr id="531" name="Shape 529"/>
          <p:cNvSpPr/>
          <p:nvPr/>
        </p:nvSpPr>
        <p:spPr>
          <a:xfrm>
            <a:off x="5473337" y="3558682"/>
            <a:ext cx="48169" cy="8353"/>
          </a:xfrm>
          <a:prstGeom prst="line">
            <a:avLst/>
          </a:prstGeom>
          <a:noFill/>
          <a:ln w="31750">
            <a:solidFill>
              <a:srgbClr val="D4568F"/>
            </a:solidFill>
            <a:prstDash val="solid"/>
          </a:ln>
        </p:spPr>
      </p:sp>
      <p:sp>
        <p:nvSpPr>
          <p:cNvPr id="532" name="Shape 530"/>
          <p:cNvSpPr/>
          <p:nvPr/>
        </p:nvSpPr>
        <p:spPr>
          <a:xfrm>
            <a:off x="5521506" y="3567035"/>
            <a:ext cx="48169" cy="9919"/>
          </a:xfrm>
          <a:prstGeom prst="line">
            <a:avLst/>
          </a:prstGeom>
          <a:noFill/>
          <a:ln w="31750">
            <a:solidFill>
              <a:srgbClr val="D4568F"/>
            </a:solidFill>
            <a:prstDash val="solid"/>
          </a:ln>
        </p:spPr>
      </p:sp>
      <p:sp>
        <p:nvSpPr>
          <p:cNvPr id="533" name="Shape 531"/>
          <p:cNvSpPr/>
          <p:nvPr/>
        </p:nvSpPr>
        <p:spPr>
          <a:xfrm>
            <a:off x="5569676" y="3576953"/>
            <a:ext cx="48169" cy="11325"/>
          </a:xfrm>
          <a:prstGeom prst="line">
            <a:avLst/>
          </a:prstGeom>
          <a:noFill/>
          <a:ln w="31750">
            <a:solidFill>
              <a:srgbClr val="D4568F"/>
            </a:solidFill>
            <a:prstDash val="solid"/>
          </a:ln>
        </p:spPr>
      </p:sp>
      <p:sp>
        <p:nvSpPr>
          <p:cNvPr id="534" name="Shape 532"/>
          <p:cNvSpPr/>
          <p:nvPr/>
        </p:nvSpPr>
        <p:spPr>
          <a:xfrm>
            <a:off x="5617845" y="3588278"/>
            <a:ext cx="48169" cy="12552"/>
          </a:xfrm>
          <a:prstGeom prst="line">
            <a:avLst/>
          </a:prstGeom>
          <a:noFill/>
          <a:ln w="31750">
            <a:solidFill>
              <a:srgbClr val="D4568F"/>
            </a:solidFill>
            <a:prstDash val="solid"/>
          </a:ln>
        </p:spPr>
      </p:sp>
      <p:sp>
        <p:nvSpPr>
          <p:cNvPr id="535" name="Shape 533"/>
          <p:cNvSpPr/>
          <p:nvPr/>
        </p:nvSpPr>
        <p:spPr>
          <a:xfrm>
            <a:off x="5666014" y="3600830"/>
            <a:ext cx="48169" cy="13587"/>
          </a:xfrm>
          <a:prstGeom prst="line">
            <a:avLst/>
          </a:prstGeom>
          <a:noFill/>
          <a:ln w="31750">
            <a:solidFill>
              <a:srgbClr val="D4568F"/>
            </a:solidFill>
            <a:prstDash val="solid"/>
          </a:ln>
        </p:spPr>
      </p:sp>
      <p:sp>
        <p:nvSpPr>
          <p:cNvPr id="536" name="Shape 534"/>
          <p:cNvSpPr/>
          <p:nvPr/>
        </p:nvSpPr>
        <p:spPr>
          <a:xfrm>
            <a:off x="5714184" y="3614418"/>
            <a:ext cx="48169" cy="14422"/>
          </a:xfrm>
          <a:prstGeom prst="line">
            <a:avLst/>
          </a:prstGeom>
          <a:noFill/>
          <a:ln w="31750">
            <a:solidFill>
              <a:srgbClr val="D4568F"/>
            </a:solidFill>
            <a:prstDash val="solid"/>
          </a:ln>
        </p:spPr>
      </p:sp>
      <p:sp>
        <p:nvSpPr>
          <p:cNvPr id="537" name="Shape 535"/>
          <p:cNvSpPr/>
          <p:nvPr/>
        </p:nvSpPr>
        <p:spPr>
          <a:xfrm>
            <a:off x="5762353" y="3628839"/>
            <a:ext cx="48169" cy="15051"/>
          </a:xfrm>
          <a:prstGeom prst="line">
            <a:avLst/>
          </a:prstGeom>
          <a:noFill/>
          <a:ln w="31750">
            <a:solidFill>
              <a:srgbClr val="D4568F"/>
            </a:solidFill>
            <a:prstDash val="solid"/>
          </a:ln>
        </p:spPr>
      </p:sp>
      <p:sp>
        <p:nvSpPr>
          <p:cNvPr id="538" name="Shape 536"/>
          <p:cNvSpPr/>
          <p:nvPr/>
        </p:nvSpPr>
        <p:spPr>
          <a:xfrm>
            <a:off x="5810522" y="3643890"/>
            <a:ext cx="48169" cy="15476"/>
          </a:xfrm>
          <a:prstGeom prst="line">
            <a:avLst/>
          </a:prstGeom>
          <a:noFill/>
          <a:ln w="31750">
            <a:solidFill>
              <a:srgbClr val="D4568F"/>
            </a:solidFill>
            <a:prstDash val="solid"/>
          </a:ln>
        </p:spPr>
      </p:sp>
      <p:sp>
        <p:nvSpPr>
          <p:cNvPr id="539" name="Shape 537"/>
          <p:cNvSpPr/>
          <p:nvPr/>
        </p:nvSpPr>
        <p:spPr>
          <a:xfrm>
            <a:off x="5858691" y="3659367"/>
            <a:ext cx="48169" cy="15703"/>
          </a:xfrm>
          <a:prstGeom prst="line">
            <a:avLst/>
          </a:prstGeom>
          <a:noFill/>
          <a:ln w="31750">
            <a:solidFill>
              <a:srgbClr val="D4568F"/>
            </a:solidFill>
            <a:prstDash val="solid"/>
          </a:ln>
        </p:spPr>
      </p:sp>
      <p:sp>
        <p:nvSpPr>
          <p:cNvPr id="540" name="Shape 538"/>
          <p:cNvSpPr/>
          <p:nvPr/>
        </p:nvSpPr>
        <p:spPr>
          <a:xfrm>
            <a:off x="5906861" y="3675070"/>
            <a:ext cx="48169" cy="15741"/>
          </a:xfrm>
          <a:prstGeom prst="line">
            <a:avLst/>
          </a:prstGeom>
          <a:noFill/>
          <a:ln w="31750">
            <a:solidFill>
              <a:srgbClr val="D4568F"/>
            </a:solidFill>
            <a:prstDash val="solid"/>
          </a:ln>
        </p:spPr>
      </p:sp>
      <p:sp>
        <p:nvSpPr>
          <p:cNvPr id="541" name="Shape 539"/>
          <p:cNvSpPr/>
          <p:nvPr/>
        </p:nvSpPr>
        <p:spPr>
          <a:xfrm>
            <a:off x="5955030" y="3690810"/>
            <a:ext cx="48169" cy="15602"/>
          </a:xfrm>
          <a:prstGeom prst="line">
            <a:avLst/>
          </a:prstGeom>
          <a:noFill/>
          <a:ln w="31750">
            <a:solidFill>
              <a:srgbClr val="D4568F"/>
            </a:solidFill>
            <a:prstDash val="solid"/>
          </a:ln>
        </p:spPr>
      </p:sp>
      <p:sp>
        <p:nvSpPr>
          <p:cNvPr id="542" name="Shape 540"/>
          <p:cNvSpPr/>
          <p:nvPr/>
        </p:nvSpPr>
        <p:spPr>
          <a:xfrm>
            <a:off x="6003199" y="3706412"/>
            <a:ext cx="48169" cy="15303"/>
          </a:xfrm>
          <a:prstGeom prst="line">
            <a:avLst/>
          </a:prstGeom>
          <a:noFill/>
          <a:ln w="31750">
            <a:solidFill>
              <a:srgbClr val="D4568F"/>
            </a:solidFill>
            <a:prstDash val="solid"/>
          </a:ln>
        </p:spPr>
      </p:sp>
      <p:sp>
        <p:nvSpPr>
          <p:cNvPr id="543" name="Shape 541"/>
          <p:cNvSpPr/>
          <p:nvPr/>
        </p:nvSpPr>
        <p:spPr>
          <a:xfrm>
            <a:off x="6051369" y="3721715"/>
            <a:ext cx="48169" cy="14861"/>
          </a:xfrm>
          <a:prstGeom prst="line">
            <a:avLst/>
          </a:prstGeom>
          <a:noFill/>
          <a:ln w="31750">
            <a:solidFill>
              <a:srgbClr val="D4568F"/>
            </a:solidFill>
            <a:prstDash val="solid"/>
          </a:ln>
        </p:spPr>
      </p:sp>
      <p:sp>
        <p:nvSpPr>
          <p:cNvPr id="544" name="Shape 542"/>
          <p:cNvSpPr/>
          <p:nvPr/>
        </p:nvSpPr>
        <p:spPr>
          <a:xfrm>
            <a:off x="6099538" y="3736576"/>
            <a:ext cx="48169" cy="14298"/>
          </a:xfrm>
          <a:prstGeom prst="line">
            <a:avLst/>
          </a:prstGeom>
          <a:noFill/>
          <a:ln w="31750">
            <a:solidFill>
              <a:srgbClr val="D4568F"/>
            </a:solidFill>
            <a:prstDash val="solid"/>
          </a:ln>
        </p:spPr>
      </p:sp>
      <p:sp>
        <p:nvSpPr>
          <p:cNvPr id="545" name="Shape 543"/>
          <p:cNvSpPr/>
          <p:nvPr/>
        </p:nvSpPr>
        <p:spPr>
          <a:xfrm>
            <a:off x="6147707" y="3750874"/>
            <a:ext cx="48169" cy="13632"/>
          </a:xfrm>
          <a:prstGeom prst="line">
            <a:avLst/>
          </a:prstGeom>
          <a:noFill/>
          <a:ln w="31750">
            <a:solidFill>
              <a:srgbClr val="D4568F"/>
            </a:solidFill>
            <a:prstDash val="solid"/>
          </a:ln>
        </p:spPr>
      </p:sp>
      <p:sp>
        <p:nvSpPr>
          <p:cNvPr id="546" name="Shape 544"/>
          <p:cNvSpPr/>
          <p:nvPr/>
        </p:nvSpPr>
        <p:spPr>
          <a:xfrm>
            <a:off x="6195876" y="3764506"/>
            <a:ext cx="48169" cy="12885"/>
          </a:xfrm>
          <a:prstGeom prst="line">
            <a:avLst/>
          </a:prstGeom>
          <a:noFill/>
          <a:ln w="31750">
            <a:solidFill>
              <a:srgbClr val="D4568F"/>
            </a:solidFill>
            <a:prstDash val="solid"/>
          </a:ln>
        </p:spPr>
      </p:sp>
      <p:sp>
        <p:nvSpPr>
          <p:cNvPr id="547" name="Shape 545"/>
          <p:cNvSpPr/>
          <p:nvPr/>
        </p:nvSpPr>
        <p:spPr>
          <a:xfrm>
            <a:off x="6244046" y="3777391"/>
            <a:ext cx="48169" cy="12077"/>
          </a:xfrm>
          <a:prstGeom prst="line">
            <a:avLst/>
          </a:prstGeom>
          <a:noFill/>
          <a:ln w="31750">
            <a:solidFill>
              <a:srgbClr val="D4568F"/>
            </a:solidFill>
            <a:prstDash val="solid"/>
          </a:ln>
        </p:spPr>
      </p:sp>
      <p:sp>
        <p:nvSpPr>
          <p:cNvPr id="548" name="Shape 546"/>
          <p:cNvSpPr/>
          <p:nvPr/>
        </p:nvSpPr>
        <p:spPr>
          <a:xfrm>
            <a:off x="6292215" y="3789468"/>
            <a:ext cx="48169" cy="11229"/>
          </a:xfrm>
          <a:prstGeom prst="line">
            <a:avLst/>
          </a:prstGeom>
          <a:noFill/>
          <a:ln w="31750">
            <a:solidFill>
              <a:srgbClr val="D4568F"/>
            </a:solidFill>
            <a:prstDash val="solid"/>
          </a:ln>
        </p:spPr>
      </p:sp>
      <p:sp>
        <p:nvSpPr>
          <p:cNvPr id="549" name="Shape 547"/>
          <p:cNvSpPr/>
          <p:nvPr/>
        </p:nvSpPr>
        <p:spPr>
          <a:xfrm>
            <a:off x="6340384" y="3800697"/>
            <a:ext cx="48169" cy="10358"/>
          </a:xfrm>
          <a:prstGeom prst="line">
            <a:avLst/>
          </a:prstGeom>
          <a:noFill/>
          <a:ln w="31750">
            <a:solidFill>
              <a:srgbClr val="D4568F"/>
            </a:solidFill>
            <a:prstDash val="solid"/>
          </a:ln>
        </p:spPr>
      </p:sp>
      <p:sp>
        <p:nvSpPr>
          <p:cNvPr id="550" name="Shape 548"/>
          <p:cNvSpPr/>
          <p:nvPr/>
        </p:nvSpPr>
        <p:spPr>
          <a:xfrm>
            <a:off x="6388554" y="3811055"/>
            <a:ext cx="48169" cy="9481"/>
          </a:xfrm>
          <a:prstGeom prst="line">
            <a:avLst/>
          </a:prstGeom>
          <a:noFill/>
          <a:ln w="31750">
            <a:solidFill>
              <a:srgbClr val="D4568F"/>
            </a:solidFill>
            <a:prstDash val="solid"/>
          </a:ln>
        </p:spPr>
      </p:sp>
      <p:sp>
        <p:nvSpPr>
          <p:cNvPr id="551" name="Shape 549"/>
          <p:cNvSpPr/>
          <p:nvPr/>
        </p:nvSpPr>
        <p:spPr>
          <a:xfrm>
            <a:off x="6436723" y="3820536"/>
            <a:ext cx="48169" cy="8613"/>
          </a:xfrm>
          <a:prstGeom prst="line">
            <a:avLst/>
          </a:prstGeom>
          <a:noFill/>
          <a:ln w="31750">
            <a:solidFill>
              <a:srgbClr val="D4568F"/>
            </a:solidFill>
            <a:prstDash val="solid"/>
          </a:ln>
        </p:spPr>
      </p:sp>
      <p:sp>
        <p:nvSpPr>
          <p:cNvPr id="552" name="Shape 550"/>
          <p:cNvSpPr/>
          <p:nvPr/>
        </p:nvSpPr>
        <p:spPr>
          <a:xfrm>
            <a:off x="6484892" y="3829150"/>
            <a:ext cx="48169" cy="7767"/>
          </a:xfrm>
          <a:prstGeom prst="line">
            <a:avLst/>
          </a:prstGeom>
          <a:noFill/>
          <a:ln w="31750">
            <a:solidFill>
              <a:srgbClr val="D4568F"/>
            </a:solidFill>
            <a:prstDash val="solid"/>
          </a:ln>
        </p:spPr>
      </p:sp>
      <p:sp>
        <p:nvSpPr>
          <p:cNvPr id="553" name="Shape 551"/>
          <p:cNvSpPr/>
          <p:nvPr/>
        </p:nvSpPr>
        <p:spPr>
          <a:xfrm>
            <a:off x="6533061" y="3836917"/>
            <a:ext cx="48169" cy="6953"/>
          </a:xfrm>
          <a:prstGeom prst="line">
            <a:avLst/>
          </a:prstGeom>
          <a:noFill/>
          <a:ln w="31750">
            <a:solidFill>
              <a:srgbClr val="D4568F"/>
            </a:solidFill>
            <a:prstDash val="solid"/>
          </a:ln>
        </p:spPr>
      </p:sp>
      <p:sp>
        <p:nvSpPr>
          <p:cNvPr id="554" name="Shape 552"/>
          <p:cNvSpPr/>
          <p:nvPr/>
        </p:nvSpPr>
        <p:spPr>
          <a:xfrm>
            <a:off x="6581231" y="3843870"/>
            <a:ext cx="48169" cy="6180"/>
          </a:xfrm>
          <a:prstGeom prst="line">
            <a:avLst/>
          </a:prstGeom>
          <a:noFill/>
          <a:ln w="31750">
            <a:solidFill>
              <a:srgbClr val="D4568F"/>
            </a:solidFill>
            <a:prstDash val="solid"/>
          </a:ln>
        </p:spPr>
      </p:sp>
      <p:sp>
        <p:nvSpPr>
          <p:cNvPr id="555" name="Shape 553"/>
          <p:cNvSpPr/>
          <p:nvPr/>
        </p:nvSpPr>
        <p:spPr>
          <a:xfrm>
            <a:off x="1234440" y="3860388"/>
            <a:ext cx="48169" cy="10792"/>
          </a:xfrm>
          <a:prstGeom prst="line">
            <a:avLst/>
          </a:prstGeom>
          <a:noFill/>
          <a:ln w="31750">
            <a:solidFill>
              <a:srgbClr val="D98A1E"/>
            </a:solidFill>
            <a:prstDash val="solid"/>
          </a:ln>
        </p:spPr>
      </p:sp>
      <p:sp>
        <p:nvSpPr>
          <p:cNvPr id="556" name="Shape 554"/>
          <p:cNvSpPr/>
          <p:nvPr/>
        </p:nvSpPr>
        <p:spPr>
          <a:xfrm>
            <a:off x="1282609" y="3871180"/>
            <a:ext cx="48169" cy="9134"/>
          </a:xfrm>
          <a:prstGeom prst="line">
            <a:avLst/>
          </a:prstGeom>
          <a:noFill/>
          <a:ln w="31750">
            <a:solidFill>
              <a:srgbClr val="D98A1E"/>
            </a:solidFill>
            <a:prstDash val="solid"/>
          </a:ln>
        </p:spPr>
      </p:sp>
      <p:sp>
        <p:nvSpPr>
          <p:cNvPr id="557" name="Shape 555"/>
          <p:cNvSpPr/>
          <p:nvPr/>
        </p:nvSpPr>
        <p:spPr>
          <a:xfrm>
            <a:off x="1330779" y="3880314"/>
            <a:ext cx="48169" cy="7669"/>
          </a:xfrm>
          <a:prstGeom prst="line">
            <a:avLst/>
          </a:prstGeom>
          <a:noFill/>
          <a:ln w="31750">
            <a:solidFill>
              <a:srgbClr val="D98A1E"/>
            </a:solidFill>
            <a:prstDash val="solid"/>
          </a:ln>
        </p:spPr>
      </p:sp>
      <p:sp>
        <p:nvSpPr>
          <p:cNvPr id="558" name="Shape 556"/>
          <p:cNvSpPr/>
          <p:nvPr/>
        </p:nvSpPr>
        <p:spPr>
          <a:xfrm>
            <a:off x="1378948" y="3887983"/>
            <a:ext cx="48169" cy="6387"/>
          </a:xfrm>
          <a:prstGeom prst="line">
            <a:avLst/>
          </a:prstGeom>
          <a:noFill/>
          <a:ln w="31750">
            <a:solidFill>
              <a:srgbClr val="D98A1E"/>
            </a:solidFill>
            <a:prstDash val="solid"/>
          </a:ln>
        </p:spPr>
      </p:sp>
      <p:sp>
        <p:nvSpPr>
          <p:cNvPr id="559" name="Shape 557"/>
          <p:cNvSpPr/>
          <p:nvPr/>
        </p:nvSpPr>
        <p:spPr>
          <a:xfrm>
            <a:off x="1427117" y="3894370"/>
            <a:ext cx="48169" cy="5277"/>
          </a:xfrm>
          <a:prstGeom prst="line">
            <a:avLst/>
          </a:prstGeom>
          <a:noFill/>
          <a:ln w="31750">
            <a:solidFill>
              <a:srgbClr val="D98A1E"/>
            </a:solidFill>
            <a:prstDash val="solid"/>
          </a:ln>
        </p:spPr>
      </p:sp>
      <p:sp>
        <p:nvSpPr>
          <p:cNvPr id="560" name="Shape 558"/>
          <p:cNvSpPr/>
          <p:nvPr/>
        </p:nvSpPr>
        <p:spPr>
          <a:xfrm>
            <a:off x="1475286" y="3899647"/>
            <a:ext cx="48169" cy="4326"/>
          </a:xfrm>
          <a:prstGeom prst="line">
            <a:avLst/>
          </a:prstGeom>
          <a:noFill/>
          <a:ln w="31750">
            <a:solidFill>
              <a:srgbClr val="D98A1E"/>
            </a:solidFill>
            <a:prstDash val="solid"/>
          </a:ln>
        </p:spPr>
      </p:sp>
      <p:sp>
        <p:nvSpPr>
          <p:cNvPr id="561" name="Shape 559"/>
          <p:cNvSpPr/>
          <p:nvPr/>
        </p:nvSpPr>
        <p:spPr>
          <a:xfrm>
            <a:off x="1523456" y="3903973"/>
            <a:ext cx="48169" cy="3519"/>
          </a:xfrm>
          <a:prstGeom prst="line">
            <a:avLst/>
          </a:prstGeom>
          <a:noFill/>
          <a:ln w="31750">
            <a:solidFill>
              <a:srgbClr val="D98A1E"/>
            </a:solidFill>
            <a:prstDash val="solid"/>
          </a:ln>
        </p:spPr>
      </p:sp>
      <p:sp>
        <p:nvSpPr>
          <p:cNvPr id="562" name="Shape 560"/>
          <p:cNvSpPr/>
          <p:nvPr/>
        </p:nvSpPr>
        <p:spPr>
          <a:xfrm>
            <a:off x="1571625" y="3907492"/>
            <a:ext cx="48169" cy="2840"/>
          </a:xfrm>
          <a:prstGeom prst="line">
            <a:avLst/>
          </a:prstGeom>
          <a:noFill/>
          <a:ln w="31750">
            <a:solidFill>
              <a:srgbClr val="D98A1E"/>
            </a:solidFill>
            <a:prstDash val="solid"/>
          </a:ln>
        </p:spPr>
      </p:sp>
      <p:sp>
        <p:nvSpPr>
          <p:cNvPr id="563" name="Shape 561"/>
          <p:cNvSpPr/>
          <p:nvPr/>
        </p:nvSpPr>
        <p:spPr>
          <a:xfrm>
            <a:off x="1619794" y="3910332"/>
            <a:ext cx="48169" cy="2274"/>
          </a:xfrm>
          <a:prstGeom prst="line">
            <a:avLst/>
          </a:prstGeom>
          <a:noFill/>
          <a:ln w="31750">
            <a:solidFill>
              <a:srgbClr val="D98A1E"/>
            </a:solidFill>
            <a:prstDash val="solid"/>
          </a:ln>
        </p:spPr>
      </p:sp>
      <p:sp>
        <p:nvSpPr>
          <p:cNvPr id="564" name="Shape 562"/>
          <p:cNvSpPr/>
          <p:nvPr/>
        </p:nvSpPr>
        <p:spPr>
          <a:xfrm>
            <a:off x="1667964" y="3912606"/>
            <a:ext cx="48169" cy="1807"/>
          </a:xfrm>
          <a:prstGeom prst="line">
            <a:avLst/>
          </a:prstGeom>
          <a:noFill/>
          <a:ln w="31750">
            <a:solidFill>
              <a:srgbClr val="D98A1E"/>
            </a:solidFill>
            <a:prstDash val="solid"/>
          </a:ln>
        </p:spPr>
      </p:sp>
      <p:sp>
        <p:nvSpPr>
          <p:cNvPr id="565" name="Shape 563"/>
          <p:cNvSpPr/>
          <p:nvPr/>
        </p:nvSpPr>
        <p:spPr>
          <a:xfrm>
            <a:off x="1716133" y="3914414"/>
            <a:ext cx="48169" cy="1425"/>
          </a:xfrm>
          <a:prstGeom prst="line">
            <a:avLst/>
          </a:prstGeom>
          <a:noFill/>
          <a:ln w="31750">
            <a:solidFill>
              <a:srgbClr val="D98A1E"/>
            </a:solidFill>
            <a:prstDash val="solid"/>
          </a:ln>
        </p:spPr>
      </p:sp>
      <p:sp>
        <p:nvSpPr>
          <p:cNvPr id="566" name="Shape 564"/>
          <p:cNvSpPr/>
          <p:nvPr/>
        </p:nvSpPr>
        <p:spPr>
          <a:xfrm>
            <a:off x="1764302" y="3915839"/>
            <a:ext cx="48169" cy="1116"/>
          </a:xfrm>
          <a:prstGeom prst="line">
            <a:avLst/>
          </a:prstGeom>
          <a:noFill/>
          <a:ln w="31750">
            <a:solidFill>
              <a:srgbClr val="D98A1E"/>
            </a:solidFill>
            <a:prstDash val="solid"/>
          </a:ln>
        </p:spPr>
      </p:sp>
      <p:sp>
        <p:nvSpPr>
          <p:cNvPr id="567" name="Shape 565"/>
          <p:cNvSpPr/>
          <p:nvPr/>
        </p:nvSpPr>
        <p:spPr>
          <a:xfrm>
            <a:off x="1812471" y="3916955"/>
            <a:ext cx="48169" cy="867"/>
          </a:xfrm>
          <a:prstGeom prst="line">
            <a:avLst/>
          </a:prstGeom>
          <a:noFill/>
          <a:ln w="31750">
            <a:solidFill>
              <a:srgbClr val="D98A1E"/>
            </a:solidFill>
            <a:prstDash val="solid"/>
          </a:ln>
        </p:spPr>
      </p:sp>
      <p:sp>
        <p:nvSpPr>
          <p:cNvPr id="568" name="Shape 566"/>
          <p:cNvSpPr/>
          <p:nvPr/>
        </p:nvSpPr>
        <p:spPr>
          <a:xfrm>
            <a:off x="1860641" y="3917822"/>
            <a:ext cx="48169" cy="668"/>
          </a:xfrm>
          <a:prstGeom prst="line">
            <a:avLst/>
          </a:prstGeom>
          <a:noFill/>
          <a:ln w="31750">
            <a:solidFill>
              <a:srgbClr val="D98A1E"/>
            </a:solidFill>
            <a:prstDash val="solid"/>
          </a:ln>
        </p:spPr>
      </p:sp>
      <p:sp>
        <p:nvSpPr>
          <p:cNvPr id="569" name="Shape 567"/>
          <p:cNvSpPr/>
          <p:nvPr/>
        </p:nvSpPr>
        <p:spPr>
          <a:xfrm>
            <a:off x="1908810" y="3918490"/>
            <a:ext cx="48169" cy="511"/>
          </a:xfrm>
          <a:prstGeom prst="line">
            <a:avLst/>
          </a:prstGeom>
          <a:noFill/>
          <a:ln w="31750">
            <a:solidFill>
              <a:srgbClr val="D98A1E"/>
            </a:solidFill>
            <a:prstDash val="solid"/>
          </a:ln>
        </p:spPr>
      </p:sp>
      <p:sp>
        <p:nvSpPr>
          <p:cNvPr id="570" name="Shape 568"/>
          <p:cNvSpPr/>
          <p:nvPr/>
        </p:nvSpPr>
        <p:spPr>
          <a:xfrm>
            <a:off x="1956979" y="3919001"/>
            <a:ext cx="48169" cy="388"/>
          </a:xfrm>
          <a:prstGeom prst="line">
            <a:avLst/>
          </a:prstGeom>
          <a:noFill/>
          <a:ln w="31750">
            <a:solidFill>
              <a:srgbClr val="D98A1E"/>
            </a:solidFill>
            <a:prstDash val="solid"/>
          </a:ln>
        </p:spPr>
      </p:sp>
      <p:sp>
        <p:nvSpPr>
          <p:cNvPr id="571" name="Shape 569"/>
          <p:cNvSpPr/>
          <p:nvPr/>
        </p:nvSpPr>
        <p:spPr>
          <a:xfrm>
            <a:off x="2005149" y="3919389"/>
            <a:ext cx="48169" cy="293"/>
          </a:xfrm>
          <a:prstGeom prst="line">
            <a:avLst/>
          </a:prstGeom>
          <a:noFill/>
          <a:ln w="31750">
            <a:solidFill>
              <a:srgbClr val="D98A1E"/>
            </a:solidFill>
            <a:prstDash val="solid"/>
          </a:ln>
        </p:spPr>
      </p:sp>
      <p:sp>
        <p:nvSpPr>
          <p:cNvPr id="572" name="Shape 570"/>
          <p:cNvSpPr/>
          <p:nvPr/>
        </p:nvSpPr>
        <p:spPr>
          <a:xfrm>
            <a:off x="2053318" y="3919682"/>
            <a:ext cx="48169" cy="219"/>
          </a:xfrm>
          <a:prstGeom prst="line">
            <a:avLst/>
          </a:prstGeom>
          <a:noFill/>
          <a:ln w="31750">
            <a:solidFill>
              <a:srgbClr val="D98A1E"/>
            </a:solidFill>
            <a:prstDash val="solid"/>
          </a:ln>
        </p:spPr>
      </p:sp>
      <p:sp>
        <p:nvSpPr>
          <p:cNvPr id="573" name="Shape 571"/>
          <p:cNvSpPr/>
          <p:nvPr/>
        </p:nvSpPr>
        <p:spPr>
          <a:xfrm>
            <a:off x="2101487" y="3919901"/>
            <a:ext cx="48169" cy="162"/>
          </a:xfrm>
          <a:prstGeom prst="line">
            <a:avLst/>
          </a:prstGeom>
          <a:noFill/>
          <a:ln w="31750">
            <a:solidFill>
              <a:srgbClr val="D98A1E"/>
            </a:solidFill>
            <a:prstDash val="solid"/>
          </a:ln>
        </p:spPr>
      </p:sp>
      <p:sp>
        <p:nvSpPr>
          <p:cNvPr id="574" name="Shape 572"/>
          <p:cNvSpPr/>
          <p:nvPr/>
        </p:nvSpPr>
        <p:spPr>
          <a:xfrm>
            <a:off x="2149656" y="3920063"/>
            <a:ext cx="48169" cy="120"/>
          </a:xfrm>
          <a:prstGeom prst="line">
            <a:avLst/>
          </a:prstGeom>
          <a:noFill/>
          <a:ln w="31750">
            <a:solidFill>
              <a:srgbClr val="D98A1E"/>
            </a:solidFill>
            <a:prstDash val="solid"/>
          </a:ln>
        </p:spPr>
      </p:sp>
      <p:sp>
        <p:nvSpPr>
          <p:cNvPr id="575" name="Shape 573"/>
          <p:cNvSpPr/>
          <p:nvPr/>
        </p:nvSpPr>
        <p:spPr>
          <a:xfrm>
            <a:off x="2197826" y="3920183"/>
            <a:ext cx="48169" cy="87"/>
          </a:xfrm>
          <a:prstGeom prst="line">
            <a:avLst/>
          </a:prstGeom>
          <a:noFill/>
          <a:ln w="31750">
            <a:solidFill>
              <a:srgbClr val="D98A1E"/>
            </a:solidFill>
            <a:prstDash val="solid"/>
          </a:ln>
        </p:spPr>
      </p:sp>
      <p:sp>
        <p:nvSpPr>
          <p:cNvPr id="576" name="Shape 574"/>
          <p:cNvSpPr/>
          <p:nvPr/>
        </p:nvSpPr>
        <p:spPr>
          <a:xfrm>
            <a:off x="2245995" y="3920270"/>
            <a:ext cx="48169" cy="63"/>
          </a:xfrm>
          <a:prstGeom prst="line">
            <a:avLst/>
          </a:prstGeom>
          <a:noFill/>
          <a:ln w="31750">
            <a:solidFill>
              <a:srgbClr val="D98A1E"/>
            </a:solidFill>
            <a:prstDash val="solid"/>
          </a:ln>
        </p:spPr>
      </p:sp>
      <p:sp>
        <p:nvSpPr>
          <p:cNvPr id="577" name="Shape 575"/>
          <p:cNvSpPr/>
          <p:nvPr/>
        </p:nvSpPr>
        <p:spPr>
          <a:xfrm>
            <a:off x="2294164" y="3920333"/>
            <a:ext cx="48169" cy="45"/>
          </a:xfrm>
          <a:prstGeom prst="line">
            <a:avLst/>
          </a:prstGeom>
          <a:noFill/>
          <a:ln w="31750">
            <a:solidFill>
              <a:srgbClr val="D98A1E"/>
            </a:solidFill>
            <a:prstDash val="solid"/>
          </a:ln>
        </p:spPr>
      </p:sp>
      <p:sp>
        <p:nvSpPr>
          <p:cNvPr id="578" name="Shape 576"/>
          <p:cNvSpPr/>
          <p:nvPr/>
        </p:nvSpPr>
        <p:spPr>
          <a:xfrm>
            <a:off x="2342334" y="3920378"/>
            <a:ext cx="48169" cy="32"/>
          </a:xfrm>
          <a:prstGeom prst="line">
            <a:avLst/>
          </a:prstGeom>
          <a:noFill/>
          <a:ln w="31750">
            <a:solidFill>
              <a:srgbClr val="D98A1E"/>
            </a:solidFill>
            <a:prstDash val="solid"/>
          </a:ln>
        </p:spPr>
      </p:sp>
      <p:sp>
        <p:nvSpPr>
          <p:cNvPr id="579" name="Shape 577"/>
          <p:cNvSpPr/>
          <p:nvPr/>
        </p:nvSpPr>
        <p:spPr>
          <a:xfrm>
            <a:off x="2390503" y="3920410"/>
            <a:ext cx="48169" cy="22"/>
          </a:xfrm>
          <a:prstGeom prst="line">
            <a:avLst/>
          </a:prstGeom>
          <a:noFill/>
          <a:ln w="31750">
            <a:solidFill>
              <a:srgbClr val="D98A1E"/>
            </a:solidFill>
            <a:prstDash val="solid"/>
          </a:ln>
        </p:spPr>
      </p:sp>
      <p:sp>
        <p:nvSpPr>
          <p:cNvPr id="580" name="Shape 578"/>
          <p:cNvSpPr/>
          <p:nvPr/>
        </p:nvSpPr>
        <p:spPr>
          <a:xfrm>
            <a:off x="2438672" y="3920432"/>
            <a:ext cx="48169" cy="14"/>
          </a:xfrm>
          <a:prstGeom prst="line">
            <a:avLst/>
          </a:prstGeom>
          <a:noFill/>
          <a:ln w="31750">
            <a:solidFill>
              <a:srgbClr val="D98A1E"/>
            </a:solidFill>
            <a:prstDash val="solid"/>
          </a:ln>
        </p:spPr>
      </p:sp>
      <p:sp>
        <p:nvSpPr>
          <p:cNvPr id="581" name="Shape 579"/>
          <p:cNvSpPr/>
          <p:nvPr/>
        </p:nvSpPr>
        <p:spPr>
          <a:xfrm>
            <a:off x="2486841" y="3920446"/>
            <a:ext cx="48169" cy="8"/>
          </a:xfrm>
          <a:prstGeom prst="line">
            <a:avLst/>
          </a:prstGeom>
          <a:noFill/>
          <a:ln w="31750">
            <a:solidFill>
              <a:srgbClr val="D98A1E"/>
            </a:solidFill>
            <a:prstDash val="solid"/>
          </a:ln>
        </p:spPr>
      </p:sp>
      <p:sp>
        <p:nvSpPr>
          <p:cNvPr id="582" name="Shape 580"/>
          <p:cNvSpPr/>
          <p:nvPr/>
        </p:nvSpPr>
        <p:spPr>
          <a:xfrm>
            <a:off x="2535011" y="3920453"/>
            <a:ext cx="48169" cy="2"/>
          </a:xfrm>
          <a:prstGeom prst="line">
            <a:avLst/>
          </a:prstGeom>
          <a:noFill/>
          <a:ln w="31750">
            <a:solidFill>
              <a:srgbClr val="D98A1E"/>
            </a:solidFill>
            <a:prstDash val="solid"/>
          </a:ln>
        </p:spPr>
      </p:sp>
      <p:sp>
        <p:nvSpPr>
          <p:cNvPr id="583" name="Shape 581"/>
          <p:cNvSpPr/>
          <p:nvPr/>
        </p:nvSpPr>
        <p:spPr>
          <a:xfrm flipV="1">
            <a:off x="2583180" y="3920453"/>
            <a:ext cx="48169" cy="2"/>
          </a:xfrm>
          <a:prstGeom prst="line">
            <a:avLst/>
          </a:prstGeom>
          <a:noFill/>
          <a:ln w="31750">
            <a:solidFill>
              <a:srgbClr val="D98A1E"/>
            </a:solidFill>
            <a:prstDash val="solid"/>
          </a:ln>
        </p:spPr>
      </p:sp>
      <p:sp>
        <p:nvSpPr>
          <p:cNvPr id="584" name="Shape 582"/>
          <p:cNvSpPr/>
          <p:nvPr/>
        </p:nvSpPr>
        <p:spPr>
          <a:xfrm flipV="1">
            <a:off x="2631349" y="3920446"/>
            <a:ext cx="48169" cy="8"/>
          </a:xfrm>
          <a:prstGeom prst="line">
            <a:avLst/>
          </a:prstGeom>
          <a:noFill/>
          <a:ln w="31750">
            <a:solidFill>
              <a:srgbClr val="D98A1E"/>
            </a:solidFill>
            <a:prstDash val="solid"/>
          </a:ln>
        </p:spPr>
      </p:sp>
      <p:sp>
        <p:nvSpPr>
          <p:cNvPr id="585" name="Shape 583"/>
          <p:cNvSpPr/>
          <p:nvPr/>
        </p:nvSpPr>
        <p:spPr>
          <a:xfrm flipV="1">
            <a:off x="2679519" y="3920432"/>
            <a:ext cx="48169" cy="14"/>
          </a:xfrm>
          <a:prstGeom prst="line">
            <a:avLst/>
          </a:prstGeom>
          <a:noFill/>
          <a:ln w="31750">
            <a:solidFill>
              <a:srgbClr val="D98A1E"/>
            </a:solidFill>
            <a:prstDash val="solid"/>
          </a:ln>
        </p:spPr>
      </p:sp>
      <p:sp>
        <p:nvSpPr>
          <p:cNvPr id="586" name="Shape 584"/>
          <p:cNvSpPr/>
          <p:nvPr/>
        </p:nvSpPr>
        <p:spPr>
          <a:xfrm flipV="1">
            <a:off x="2727688" y="3920410"/>
            <a:ext cx="48169" cy="22"/>
          </a:xfrm>
          <a:prstGeom prst="line">
            <a:avLst/>
          </a:prstGeom>
          <a:noFill/>
          <a:ln w="31750">
            <a:solidFill>
              <a:srgbClr val="D98A1E"/>
            </a:solidFill>
            <a:prstDash val="solid"/>
          </a:ln>
        </p:spPr>
      </p:sp>
      <p:sp>
        <p:nvSpPr>
          <p:cNvPr id="587" name="Shape 585"/>
          <p:cNvSpPr/>
          <p:nvPr/>
        </p:nvSpPr>
        <p:spPr>
          <a:xfrm flipV="1">
            <a:off x="2775857" y="3920378"/>
            <a:ext cx="48169" cy="32"/>
          </a:xfrm>
          <a:prstGeom prst="line">
            <a:avLst/>
          </a:prstGeom>
          <a:noFill/>
          <a:ln w="31750">
            <a:solidFill>
              <a:srgbClr val="D98A1E"/>
            </a:solidFill>
            <a:prstDash val="solid"/>
          </a:ln>
        </p:spPr>
      </p:sp>
      <p:sp>
        <p:nvSpPr>
          <p:cNvPr id="588" name="Shape 586"/>
          <p:cNvSpPr/>
          <p:nvPr/>
        </p:nvSpPr>
        <p:spPr>
          <a:xfrm flipV="1">
            <a:off x="2824026" y="3920333"/>
            <a:ext cx="48169" cy="45"/>
          </a:xfrm>
          <a:prstGeom prst="line">
            <a:avLst/>
          </a:prstGeom>
          <a:noFill/>
          <a:ln w="31750">
            <a:solidFill>
              <a:srgbClr val="D98A1E"/>
            </a:solidFill>
            <a:prstDash val="solid"/>
          </a:ln>
        </p:spPr>
      </p:sp>
      <p:sp>
        <p:nvSpPr>
          <p:cNvPr id="589" name="Shape 587"/>
          <p:cNvSpPr/>
          <p:nvPr/>
        </p:nvSpPr>
        <p:spPr>
          <a:xfrm flipV="1">
            <a:off x="2872196" y="3920270"/>
            <a:ext cx="48169" cy="63"/>
          </a:xfrm>
          <a:prstGeom prst="line">
            <a:avLst/>
          </a:prstGeom>
          <a:noFill/>
          <a:ln w="31750">
            <a:solidFill>
              <a:srgbClr val="D98A1E"/>
            </a:solidFill>
            <a:prstDash val="solid"/>
          </a:ln>
        </p:spPr>
      </p:sp>
      <p:sp>
        <p:nvSpPr>
          <p:cNvPr id="590" name="Shape 588"/>
          <p:cNvSpPr/>
          <p:nvPr/>
        </p:nvSpPr>
        <p:spPr>
          <a:xfrm flipV="1">
            <a:off x="2920365" y="3920183"/>
            <a:ext cx="48169" cy="87"/>
          </a:xfrm>
          <a:prstGeom prst="line">
            <a:avLst/>
          </a:prstGeom>
          <a:noFill/>
          <a:ln w="31750">
            <a:solidFill>
              <a:srgbClr val="D98A1E"/>
            </a:solidFill>
            <a:prstDash val="solid"/>
          </a:ln>
        </p:spPr>
      </p:sp>
      <p:sp>
        <p:nvSpPr>
          <p:cNvPr id="591" name="Shape 589"/>
          <p:cNvSpPr/>
          <p:nvPr/>
        </p:nvSpPr>
        <p:spPr>
          <a:xfrm flipV="1">
            <a:off x="2968534" y="3920063"/>
            <a:ext cx="48169" cy="120"/>
          </a:xfrm>
          <a:prstGeom prst="line">
            <a:avLst/>
          </a:prstGeom>
          <a:noFill/>
          <a:ln w="31750">
            <a:solidFill>
              <a:srgbClr val="D98A1E"/>
            </a:solidFill>
            <a:prstDash val="solid"/>
          </a:ln>
        </p:spPr>
      </p:sp>
      <p:sp>
        <p:nvSpPr>
          <p:cNvPr id="592" name="Shape 590"/>
          <p:cNvSpPr/>
          <p:nvPr/>
        </p:nvSpPr>
        <p:spPr>
          <a:xfrm flipV="1">
            <a:off x="3016704" y="3919901"/>
            <a:ext cx="48169" cy="162"/>
          </a:xfrm>
          <a:prstGeom prst="line">
            <a:avLst/>
          </a:prstGeom>
          <a:noFill/>
          <a:ln w="31750">
            <a:solidFill>
              <a:srgbClr val="D98A1E"/>
            </a:solidFill>
            <a:prstDash val="solid"/>
          </a:ln>
        </p:spPr>
      </p:sp>
      <p:sp>
        <p:nvSpPr>
          <p:cNvPr id="593" name="Shape 591"/>
          <p:cNvSpPr/>
          <p:nvPr/>
        </p:nvSpPr>
        <p:spPr>
          <a:xfrm flipV="1">
            <a:off x="3064873" y="3919682"/>
            <a:ext cx="48169" cy="219"/>
          </a:xfrm>
          <a:prstGeom prst="line">
            <a:avLst/>
          </a:prstGeom>
          <a:noFill/>
          <a:ln w="31750">
            <a:solidFill>
              <a:srgbClr val="D98A1E"/>
            </a:solidFill>
            <a:prstDash val="solid"/>
          </a:ln>
        </p:spPr>
      </p:sp>
      <p:sp>
        <p:nvSpPr>
          <p:cNvPr id="594" name="Shape 592"/>
          <p:cNvSpPr/>
          <p:nvPr/>
        </p:nvSpPr>
        <p:spPr>
          <a:xfrm flipV="1">
            <a:off x="3113042" y="3919389"/>
            <a:ext cx="48169" cy="293"/>
          </a:xfrm>
          <a:prstGeom prst="line">
            <a:avLst/>
          </a:prstGeom>
          <a:noFill/>
          <a:ln w="31750">
            <a:solidFill>
              <a:srgbClr val="D98A1E"/>
            </a:solidFill>
            <a:prstDash val="solid"/>
          </a:ln>
        </p:spPr>
      </p:sp>
      <p:sp>
        <p:nvSpPr>
          <p:cNvPr id="595" name="Shape 593"/>
          <p:cNvSpPr/>
          <p:nvPr/>
        </p:nvSpPr>
        <p:spPr>
          <a:xfrm flipV="1">
            <a:off x="3161211" y="3919001"/>
            <a:ext cx="48169" cy="388"/>
          </a:xfrm>
          <a:prstGeom prst="line">
            <a:avLst/>
          </a:prstGeom>
          <a:noFill/>
          <a:ln w="31750">
            <a:solidFill>
              <a:srgbClr val="D98A1E"/>
            </a:solidFill>
            <a:prstDash val="solid"/>
          </a:ln>
        </p:spPr>
      </p:sp>
      <p:sp>
        <p:nvSpPr>
          <p:cNvPr id="596" name="Shape 594"/>
          <p:cNvSpPr/>
          <p:nvPr/>
        </p:nvSpPr>
        <p:spPr>
          <a:xfrm flipV="1">
            <a:off x="3209381" y="3918490"/>
            <a:ext cx="48169" cy="511"/>
          </a:xfrm>
          <a:prstGeom prst="line">
            <a:avLst/>
          </a:prstGeom>
          <a:noFill/>
          <a:ln w="31750">
            <a:solidFill>
              <a:srgbClr val="D98A1E"/>
            </a:solidFill>
            <a:prstDash val="solid"/>
          </a:ln>
        </p:spPr>
      </p:sp>
      <p:sp>
        <p:nvSpPr>
          <p:cNvPr id="597" name="Shape 595"/>
          <p:cNvSpPr/>
          <p:nvPr/>
        </p:nvSpPr>
        <p:spPr>
          <a:xfrm flipV="1">
            <a:off x="3257550" y="3917822"/>
            <a:ext cx="48169" cy="668"/>
          </a:xfrm>
          <a:prstGeom prst="line">
            <a:avLst/>
          </a:prstGeom>
          <a:noFill/>
          <a:ln w="31750">
            <a:solidFill>
              <a:srgbClr val="D98A1E"/>
            </a:solidFill>
            <a:prstDash val="solid"/>
          </a:ln>
        </p:spPr>
      </p:sp>
      <p:sp>
        <p:nvSpPr>
          <p:cNvPr id="598" name="Shape 596"/>
          <p:cNvSpPr/>
          <p:nvPr/>
        </p:nvSpPr>
        <p:spPr>
          <a:xfrm flipV="1">
            <a:off x="3305719" y="3916955"/>
            <a:ext cx="48169" cy="867"/>
          </a:xfrm>
          <a:prstGeom prst="line">
            <a:avLst/>
          </a:prstGeom>
          <a:noFill/>
          <a:ln w="31750">
            <a:solidFill>
              <a:srgbClr val="D98A1E"/>
            </a:solidFill>
            <a:prstDash val="solid"/>
          </a:ln>
        </p:spPr>
      </p:sp>
      <p:sp>
        <p:nvSpPr>
          <p:cNvPr id="599" name="Shape 597"/>
          <p:cNvSpPr/>
          <p:nvPr/>
        </p:nvSpPr>
        <p:spPr>
          <a:xfrm flipV="1">
            <a:off x="3353889" y="3915839"/>
            <a:ext cx="48169" cy="1116"/>
          </a:xfrm>
          <a:prstGeom prst="line">
            <a:avLst/>
          </a:prstGeom>
          <a:noFill/>
          <a:ln w="31750">
            <a:solidFill>
              <a:srgbClr val="D98A1E"/>
            </a:solidFill>
            <a:prstDash val="solid"/>
          </a:ln>
        </p:spPr>
      </p:sp>
      <p:sp>
        <p:nvSpPr>
          <p:cNvPr id="600" name="Shape 598"/>
          <p:cNvSpPr/>
          <p:nvPr/>
        </p:nvSpPr>
        <p:spPr>
          <a:xfrm flipV="1">
            <a:off x="3402058" y="3914414"/>
            <a:ext cx="48169" cy="1425"/>
          </a:xfrm>
          <a:prstGeom prst="line">
            <a:avLst/>
          </a:prstGeom>
          <a:noFill/>
          <a:ln w="31750">
            <a:solidFill>
              <a:srgbClr val="D98A1E"/>
            </a:solidFill>
            <a:prstDash val="solid"/>
          </a:ln>
        </p:spPr>
      </p:sp>
      <p:sp>
        <p:nvSpPr>
          <p:cNvPr id="601" name="Shape 599"/>
          <p:cNvSpPr/>
          <p:nvPr/>
        </p:nvSpPr>
        <p:spPr>
          <a:xfrm flipV="1">
            <a:off x="3450227" y="3912606"/>
            <a:ext cx="48169" cy="1807"/>
          </a:xfrm>
          <a:prstGeom prst="line">
            <a:avLst/>
          </a:prstGeom>
          <a:noFill/>
          <a:ln w="31750">
            <a:solidFill>
              <a:srgbClr val="D98A1E"/>
            </a:solidFill>
            <a:prstDash val="solid"/>
          </a:ln>
        </p:spPr>
      </p:sp>
      <p:sp>
        <p:nvSpPr>
          <p:cNvPr id="602" name="Shape 600"/>
          <p:cNvSpPr/>
          <p:nvPr/>
        </p:nvSpPr>
        <p:spPr>
          <a:xfrm flipV="1">
            <a:off x="3498396" y="3910332"/>
            <a:ext cx="48169" cy="2274"/>
          </a:xfrm>
          <a:prstGeom prst="line">
            <a:avLst/>
          </a:prstGeom>
          <a:noFill/>
          <a:ln w="31750">
            <a:solidFill>
              <a:srgbClr val="D98A1E"/>
            </a:solidFill>
            <a:prstDash val="solid"/>
          </a:ln>
        </p:spPr>
      </p:sp>
      <p:sp>
        <p:nvSpPr>
          <p:cNvPr id="603" name="Shape 601"/>
          <p:cNvSpPr/>
          <p:nvPr/>
        </p:nvSpPr>
        <p:spPr>
          <a:xfrm flipV="1">
            <a:off x="3546566" y="3907492"/>
            <a:ext cx="48169" cy="2840"/>
          </a:xfrm>
          <a:prstGeom prst="line">
            <a:avLst/>
          </a:prstGeom>
          <a:noFill/>
          <a:ln w="31750">
            <a:solidFill>
              <a:srgbClr val="D98A1E"/>
            </a:solidFill>
            <a:prstDash val="solid"/>
          </a:ln>
        </p:spPr>
      </p:sp>
      <p:sp>
        <p:nvSpPr>
          <p:cNvPr id="604" name="Shape 602"/>
          <p:cNvSpPr/>
          <p:nvPr/>
        </p:nvSpPr>
        <p:spPr>
          <a:xfrm flipV="1">
            <a:off x="3594735" y="3903973"/>
            <a:ext cx="48169" cy="3519"/>
          </a:xfrm>
          <a:prstGeom prst="line">
            <a:avLst/>
          </a:prstGeom>
          <a:noFill/>
          <a:ln w="31750">
            <a:solidFill>
              <a:srgbClr val="D98A1E"/>
            </a:solidFill>
            <a:prstDash val="solid"/>
          </a:ln>
        </p:spPr>
      </p:sp>
      <p:sp>
        <p:nvSpPr>
          <p:cNvPr id="605" name="Shape 603"/>
          <p:cNvSpPr/>
          <p:nvPr/>
        </p:nvSpPr>
        <p:spPr>
          <a:xfrm flipV="1">
            <a:off x="3642904" y="3899647"/>
            <a:ext cx="48169" cy="4326"/>
          </a:xfrm>
          <a:prstGeom prst="line">
            <a:avLst/>
          </a:prstGeom>
          <a:noFill/>
          <a:ln w="31750">
            <a:solidFill>
              <a:srgbClr val="D98A1E"/>
            </a:solidFill>
            <a:prstDash val="solid"/>
          </a:ln>
        </p:spPr>
      </p:sp>
      <p:sp>
        <p:nvSpPr>
          <p:cNvPr id="606" name="Shape 604"/>
          <p:cNvSpPr/>
          <p:nvPr/>
        </p:nvSpPr>
        <p:spPr>
          <a:xfrm flipV="1">
            <a:off x="3691074" y="3894370"/>
            <a:ext cx="48169" cy="5277"/>
          </a:xfrm>
          <a:prstGeom prst="line">
            <a:avLst/>
          </a:prstGeom>
          <a:noFill/>
          <a:ln w="31750">
            <a:solidFill>
              <a:srgbClr val="D98A1E"/>
            </a:solidFill>
            <a:prstDash val="solid"/>
          </a:ln>
        </p:spPr>
      </p:sp>
      <p:sp>
        <p:nvSpPr>
          <p:cNvPr id="607" name="Shape 605"/>
          <p:cNvSpPr/>
          <p:nvPr/>
        </p:nvSpPr>
        <p:spPr>
          <a:xfrm flipV="1">
            <a:off x="3739243" y="3887983"/>
            <a:ext cx="48169" cy="6387"/>
          </a:xfrm>
          <a:prstGeom prst="line">
            <a:avLst/>
          </a:prstGeom>
          <a:noFill/>
          <a:ln w="31750">
            <a:solidFill>
              <a:srgbClr val="D98A1E"/>
            </a:solidFill>
            <a:prstDash val="solid"/>
          </a:ln>
        </p:spPr>
      </p:sp>
      <p:sp>
        <p:nvSpPr>
          <p:cNvPr id="608" name="Shape 606"/>
          <p:cNvSpPr/>
          <p:nvPr/>
        </p:nvSpPr>
        <p:spPr>
          <a:xfrm flipV="1">
            <a:off x="3787412" y="3880314"/>
            <a:ext cx="48169" cy="7669"/>
          </a:xfrm>
          <a:prstGeom prst="line">
            <a:avLst/>
          </a:prstGeom>
          <a:noFill/>
          <a:ln w="31750">
            <a:solidFill>
              <a:srgbClr val="D98A1E"/>
            </a:solidFill>
            <a:prstDash val="solid"/>
          </a:ln>
        </p:spPr>
      </p:sp>
      <p:sp>
        <p:nvSpPr>
          <p:cNvPr id="609" name="Shape 607"/>
          <p:cNvSpPr/>
          <p:nvPr/>
        </p:nvSpPr>
        <p:spPr>
          <a:xfrm flipV="1">
            <a:off x="3835581" y="3871180"/>
            <a:ext cx="48169" cy="9134"/>
          </a:xfrm>
          <a:prstGeom prst="line">
            <a:avLst/>
          </a:prstGeom>
          <a:noFill/>
          <a:ln w="31750">
            <a:solidFill>
              <a:srgbClr val="D98A1E"/>
            </a:solidFill>
            <a:prstDash val="solid"/>
          </a:ln>
        </p:spPr>
      </p:sp>
      <p:sp>
        <p:nvSpPr>
          <p:cNvPr id="610" name="Shape 608"/>
          <p:cNvSpPr/>
          <p:nvPr/>
        </p:nvSpPr>
        <p:spPr>
          <a:xfrm flipV="1">
            <a:off x="3883751" y="3860388"/>
            <a:ext cx="48169" cy="10792"/>
          </a:xfrm>
          <a:prstGeom prst="line">
            <a:avLst/>
          </a:prstGeom>
          <a:noFill/>
          <a:ln w="31750">
            <a:solidFill>
              <a:srgbClr val="D98A1E"/>
            </a:solidFill>
            <a:prstDash val="solid"/>
          </a:ln>
        </p:spPr>
      </p:sp>
      <p:sp>
        <p:nvSpPr>
          <p:cNvPr id="611" name="Shape 609"/>
          <p:cNvSpPr/>
          <p:nvPr/>
        </p:nvSpPr>
        <p:spPr>
          <a:xfrm flipV="1">
            <a:off x="3931920" y="3847741"/>
            <a:ext cx="48169" cy="12647"/>
          </a:xfrm>
          <a:prstGeom prst="line">
            <a:avLst/>
          </a:prstGeom>
          <a:noFill/>
          <a:ln w="31750">
            <a:solidFill>
              <a:srgbClr val="D98A1E"/>
            </a:solidFill>
            <a:prstDash val="solid"/>
          </a:ln>
        </p:spPr>
      </p:sp>
      <p:sp>
        <p:nvSpPr>
          <p:cNvPr id="612" name="Shape 610"/>
          <p:cNvSpPr/>
          <p:nvPr/>
        </p:nvSpPr>
        <p:spPr>
          <a:xfrm flipV="1">
            <a:off x="3980089" y="3833042"/>
            <a:ext cx="48169" cy="14699"/>
          </a:xfrm>
          <a:prstGeom prst="line">
            <a:avLst/>
          </a:prstGeom>
          <a:noFill/>
          <a:ln w="31750">
            <a:solidFill>
              <a:srgbClr val="D98A1E"/>
            </a:solidFill>
            <a:prstDash val="solid"/>
          </a:ln>
        </p:spPr>
      </p:sp>
      <p:sp>
        <p:nvSpPr>
          <p:cNvPr id="613" name="Shape 611"/>
          <p:cNvSpPr/>
          <p:nvPr/>
        </p:nvSpPr>
        <p:spPr>
          <a:xfrm flipV="1">
            <a:off x="4028259" y="3816100"/>
            <a:ext cx="48169" cy="16941"/>
          </a:xfrm>
          <a:prstGeom prst="line">
            <a:avLst/>
          </a:prstGeom>
          <a:noFill/>
          <a:ln w="31750">
            <a:solidFill>
              <a:srgbClr val="D98A1E"/>
            </a:solidFill>
            <a:prstDash val="solid"/>
          </a:ln>
        </p:spPr>
      </p:sp>
      <p:sp>
        <p:nvSpPr>
          <p:cNvPr id="614" name="Shape 612"/>
          <p:cNvSpPr/>
          <p:nvPr/>
        </p:nvSpPr>
        <p:spPr>
          <a:xfrm flipV="1">
            <a:off x="4076428" y="3796739"/>
            <a:ext cx="48169" cy="19361"/>
          </a:xfrm>
          <a:prstGeom prst="line">
            <a:avLst/>
          </a:prstGeom>
          <a:noFill/>
          <a:ln w="31750">
            <a:solidFill>
              <a:srgbClr val="D98A1E"/>
            </a:solidFill>
            <a:prstDash val="solid"/>
          </a:ln>
        </p:spPr>
      </p:sp>
      <p:sp>
        <p:nvSpPr>
          <p:cNvPr id="615" name="Shape 613"/>
          <p:cNvSpPr/>
          <p:nvPr/>
        </p:nvSpPr>
        <p:spPr>
          <a:xfrm flipV="1">
            <a:off x="4124597" y="3774803"/>
            <a:ext cx="48169" cy="21937"/>
          </a:xfrm>
          <a:prstGeom prst="line">
            <a:avLst/>
          </a:prstGeom>
          <a:noFill/>
          <a:ln w="31750">
            <a:solidFill>
              <a:srgbClr val="D98A1E"/>
            </a:solidFill>
            <a:prstDash val="solid"/>
          </a:ln>
        </p:spPr>
      </p:sp>
      <p:sp>
        <p:nvSpPr>
          <p:cNvPr id="616" name="Shape 614"/>
          <p:cNvSpPr/>
          <p:nvPr/>
        </p:nvSpPr>
        <p:spPr>
          <a:xfrm flipV="1">
            <a:off x="4172766" y="3750164"/>
            <a:ext cx="48169" cy="24638"/>
          </a:xfrm>
          <a:prstGeom prst="line">
            <a:avLst/>
          </a:prstGeom>
          <a:noFill/>
          <a:ln w="31750">
            <a:solidFill>
              <a:srgbClr val="D98A1E"/>
            </a:solidFill>
            <a:prstDash val="solid"/>
          </a:ln>
        </p:spPr>
      </p:sp>
      <p:sp>
        <p:nvSpPr>
          <p:cNvPr id="617" name="Shape 615"/>
          <p:cNvSpPr/>
          <p:nvPr/>
        </p:nvSpPr>
        <p:spPr>
          <a:xfrm flipV="1">
            <a:off x="4220936" y="3722737"/>
            <a:ext cx="48169" cy="27427"/>
          </a:xfrm>
          <a:prstGeom prst="line">
            <a:avLst/>
          </a:prstGeom>
          <a:noFill/>
          <a:ln w="31750">
            <a:solidFill>
              <a:srgbClr val="D98A1E"/>
            </a:solidFill>
            <a:prstDash val="solid"/>
          </a:ln>
        </p:spPr>
      </p:sp>
      <p:sp>
        <p:nvSpPr>
          <p:cNvPr id="618" name="Shape 616"/>
          <p:cNvSpPr/>
          <p:nvPr/>
        </p:nvSpPr>
        <p:spPr>
          <a:xfrm flipV="1">
            <a:off x="4269105" y="3692482"/>
            <a:ext cx="48169" cy="30255"/>
          </a:xfrm>
          <a:prstGeom prst="line">
            <a:avLst/>
          </a:prstGeom>
          <a:noFill/>
          <a:ln w="31750">
            <a:solidFill>
              <a:srgbClr val="D98A1E"/>
            </a:solidFill>
            <a:prstDash val="solid"/>
          </a:ln>
        </p:spPr>
      </p:sp>
      <p:sp>
        <p:nvSpPr>
          <p:cNvPr id="619" name="Shape 617"/>
          <p:cNvSpPr/>
          <p:nvPr/>
        </p:nvSpPr>
        <p:spPr>
          <a:xfrm flipV="1">
            <a:off x="4317274" y="3659418"/>
            <a:ext cx="48169" cy="33064"/>
          </a:xfrm>
          <a:prstGeom prst="line">
            <a:avLst/>
          </a:prstGeom>
          <a:noFill/>
          <a:ln w="31750">
            <a:solidFill>
              <a:srgbClr val="D98A1E"/>
            </a:solidFill>
            <a:prstDash val="solid"/>
          </a:ln>
        </p:spPr>
      </p:sp>
      <p:sp>
        <p:nvSpPr>
          <p:cNvPr id="620" name="Shape 618"/>
          <p:cNvSpPr/>
          <p:nvPr/>
        </p:nvSpPr>
        <p:spPr>
          <a:xfrm flipV="1">
            <a:off x="4365444" y="3623628"/>
            <a:ext cx="48169" cy="35790"/>
          </a:xfrm>
          <a:prstGeom prst="line">
            <a:avLst/>
          </a:prstGeom>
          <a:noFill/>
          <a:ln w="31750">
            <a:solidFill>
              <a:srgbClr val="D98A1E"/>
            </a:solidFill>
            <a:prstDash val="solid"/>
          </a:ln>
        </p:spPr>
      </p:sp>
      <p:sp>
        <p:nvSpPr>
          <p:cNvPr id="621" name="Shape 619"/>
          <p:cNvSpPr/>
          <p:nvPr/>
        </p:nvSpPr>
        <p:spPr>
          <a:xfrm flipV="1">
            <a:off x="4413613" y="3585267"/>
            <a:ext cx="48169" cy="38361"/>
          </a:xfrm>
          <a:prstGeom prst="line">
            <a:avLst/>
          </a:prstGeom>
          <a:noFill/>
          <a:ln w="31750">
            <a:solidFill>
              <a:srgbClr val="D98A1E"/>
            </a:solidFill>
            <a:prstDash val="solid"/>
          </a:ln>
        </p:spPr>
      </p:sp>
      <p:sp>
        <p:nvSpPr>
          <p:cNvPr id="622" name="Shape 620"/>
          <p:cNvSpPr/>
          <p:nvPr/>
        </p:nvSpPr>
        <p:spPr>
          <a:xfrm flipV="1">
            <a:off x="4461782" y="3544569"/>
            <a:ext cx="48169" cy="40698"/>
          </a:xfrm>
          <a:prstGeom prst="line">
            <a:avLst/>
          </a:prstGeom>
          <a:noFill/>
          <a:ln w="31750">
            <a:solidFill>
              <a:srgbClr val="D98A1E"/>
            </a:solidFill>
            <a:prstDash val="solid"/>
          </a:ln>
        </p:spPr>
      </p:sp>
      <p:sp>
        <p:nvSpPr>
          <p:cNvPr id="623" name="Shape 621"/>
          <p:cNvSpPr/>
          <p:nvPr/>
        </p:nvSpPr>
        <p:spPr>
          <a:xfrm flipV="1">
            <a:off x="4509951" y="3501847"/>
            <a:ext cx="48169" cy="42722"/>
          </a:xfrm>
          <a:prstGeom prst="line">
            <a:avLst/>
          </a:prstGeom>
          <a:noFill/>
          <a:ln w="31750">
            <a:solidFill>
              <a:srgbClr val="D98A1E"/>
            </a:solidFill>
            <a:prstDash val="solid"/>
          </a:ln>
        </p:spPr>
      </p:sp>
      <p:sp>
        <p:nvSpPr>
          <p:cNvPr id="624" name="Shape 622"/>
          <p:cNvSpPr/>
          <p:nvPr/>
        </p:nvSpPr>
        <p:spPr>
          <a:xfrm flipV="1">
            <a:off x="4558121" y="3457497"/>
            <a:ext cx="48169" cy="44350"/>
          </a:xfrm>
          <a:prstGeom prst="line">
            <a:avLst/>
          </a:prstGeom>
          <a:noFill/>
          <a:ln w="31750">
            <a:solidFill>
              <a:srgbClr val="D98A1E"/>
            </a:solidFill>
            <a:prstDash val="solid"/>
          </a:ln>
        </p:spPr>
      </p:sp>
      <p:sp>
        <p:nvSpPr>
          <p:cNvPr id="625" name="Shape 623"/>
          <p:cNvSpPr/>
          <p:nvPr/>
        </p:nvSpPr>
        <p:spPr>
          <a:xfrm flipV="1">
            <a:off x="4606290" y="3411991"/>
            <a:ext cx="48169" cy="45505"/>
          </a:xfrm>
          <a:prstGeom prst="line">
            <a:avLst/>
          </a:prstGeom>
          <a:noFill/>
          <a:ln w="31750">
            <a:solidFill>
              <a:srgbClr val="D98A1E"/>
            </a:solidFill>
            <a:prstDash val="solid"/>
          </a:ln>
        </p:spPr>
      </p:sp>
      <p:sp>
        <p:nvSpPr>
          <p:cNvPr id="626" name="Shape 624"/>
          <p:cNvSpPr/>
          <p:nvPr/>
        </p:nvSpPr>
        <p:spPr>
          <a:xfrm flipV="1">
            <a:off x="4654459" y="3365878"/>
            <a:ext cx="48169" cy="46113"/>
          </a:xfrm>
          <a:prstGeom prst="line">
            <a:avLst/>
          </a:prstGeom>
          <a:noFill/>
          <a:ln w="31750">
            <a:solidFill>
              <a:srgbClr val="D98A1E"/>
            </a:solidFill>
            <a:prstDash val="solid"/>
          </a:ln>
        </p:spPr>
      </p:sp>
      <p:sp>
        <p:nvSpPr>
          <p:cNvPr id="627" name="Shape 625"/>
          <p:cNvSpPr/>
          <p:nvPr/>
        </p:nvSpPr>
        <p:spPr>
          <a:xfrm flipV="1">
            <a:off x="4702629" y="3319770"/>
            <a:ext cx="48169" cy="46109"/>
          </a:xfrm>
          <a:prstGeom prst="line">
            <a:avLst/>
          </a:prstGeom>
          <a:noFill/>
          <a:ln w="31750">
            <a:solidFill>
              <a:srgbClr val="D98A1E"/>
            </a:solidFill>
            <a:prstDash val="solid"/>
          </a:ln>
        </p:spPr>
      </p:sp>
      <p:sp>
        <p:nvSpPr>
          <p:cNvPr id="628" name="Shape 626"/>
          <p:cNvSpPr/>
          <p:nvPr/>
        </p:nvSpPr>
        <p:spPr>
          <a:xfrm flipV="1">
            <a:off x="4750798" y="3274331"/>
            <a:ext cx="48169" cy="45439"/>
          </a:xfrm>
          <a:prstGeom prst="line">
            <a:avLst/>
          </a:prstGeom>
          <a:noFill/>
          <a:ln w="31750">
            <a:solidFill>
              <a:srgbClr val="D98A1E"/>
            </a:solidFill>
            <a:prstDash val="solid"/>
          </a:ln>
        </p:spPr>
      </p:sp>
      <p:sp>
        <p:nvSpPr>
          <p:cNvPr id="629" name="Shape 627"/>
          <p:cNvSpPr/>
          <p:nvPr/>
        </p:nvSpPr>
        <p:spPr>
          <a:xfrm flipV="1">
            <a:off x="4798967" y="3230265"/>
            <a:ext cx="48169" cy="44066"/>
          </a:xfrm>
          <a:prstGeom prst="line">
            <a:avLst/>
          </a:prstGeom>
          <a:noFill/>
          <a:ln w="31750">
            <a:solidFill>
              <a:srgbClr val="D98A1E"/>
            </a:solidFill>
            <a:prstDash val="solid"/>
          </a:ln>
        </p:spPr>
      </p:sp>
      <p:sp>
        <p:nvSpPr>
          <p:cNvPr id="630" name="Shape 628"/>
          <p:cNvSpPr/>
          <p:nvPr/>
        </p:nvSpPr>
        <p:spPr>
          <a:xfrm flipV="1">
            <a:off x="4847136" y="3188296"/>
            <a:ext cx="48169" cy="41969"/>
          </a:xfrm>
          <a:prstGeom prst="line">
            <a:avLst/>
          </a:prstGeom>
          <a:noFill/>
          <a:ln w="31750">
            <a:solidFill>
              <a:srgbClr val="D98A1E"/>
            </a:solidFill>
            <a:prstDash val="solid"/>
          </a:ln>
        </p:spPr>
      </p:sp>
      <p:sp>
        <p:nvSpPr>
          <p:cNvPr id="631" name="Shape 629"/>
          <p:cNvSpPr/>
          <p:nvPr/>
        </p:nvSpPr>
        <p:spPr>
          <a:xfrm flipV="1">
            <a:off x="4895306" y="3149150"/>
            <a:ext cx="48169" cy="39146"/>
          </a:xfrm>
          <a:prstGeom prst="line">
            <a:avLst/>
          </a:prstGeom>
          <a:noFill/>
          <a:ln w="31750">
            <a:solidFill>
              <a:srgbClr val="D98A1E"/>
            </a:solidFill>
            <a:prstDash val="solid"/>
          </a:ln>
        </p:spPr>
      </p:sp>
      <p:sp>
        <p:nvSpPr>
          <p:cNvPr id="632" name="Shape 630"/>
          <p:cNvSpPr/>
          <p:nvPr/>
        </p:nvSpPr>
        <p:spPr>
          <a:xfrm flipV="1">
            <a:off x="4943475" y="3113535"/>
            <a:ext cx="48169" cy="35615"/>
          </a:xfrm>
          <a:prstGeom prst="line">
            <a:avLst/>
          </a:prstGeom>
          <a:noFill/>
          <a:ln w="31750">
            <a:solidFill>
              <a:srgbClr val="D98A1E"/>
            </a:solidFill>
            <a:prstDash val="solid"/>
          </a:ln>
        </p:spPr>
      </p:sp>
      <p:sp>
        <p:nvSpPr>
          <p:cNvPr id="633" name="Shape 631"/>
          <p:cNvSpPr/>
          <p:nvPr/>
        </p:nvSpPr>
        <p:spPr>
          <a:xfrm flipV="1">
            <a:off x="4991644" y="3082117"/>
            <a:ext cx="48169" cy="31417"/>
          </a:xfrm>
          <a:prstGeom prst="line">
            <a:avLst/>
          </a:prstGeom>
          <a:noFill/>
          <a:ln w="31750">
            <a:solidFill>
              <a:srgbClr val="D98A1E"/>
            </a:solidFill>
            <a:prstDash val="solid"/>
          </a:ln>
        </p:spPr>
      </p:sp>
      <p:sp>
        <p:nvSpPr>
          <p:cNvPr id="634" name="Shape 632"/>
          <p:cNvSpPr/>
          <p:nvPr/>
        </p:nvSpPr>
        <p:spPr>
          <a:xfrm flipV="1">
            <a:off x="5039814" y="3055505"/>
            <a:ext cx="48169" cy="26613"/>
          </a:xfrm>
          <a:prstGeom prst="line">
            <a:avLst/>
          </a:prstGeom>
          <a:noFill/>
          <a:ln w="31750">
            <a:solidFill>
              <a:srgbClr val="D98A1E"/>
            </a:solidFill>
            <a:prstDash val="solid"/>
          </a:ln>
        </p:spPr>
      </p:sp>
      <p:sp>
        <p:nvSpPr>
          <p:cNvPr id="635" name="Shape 633"/>
          <p:cNvSpPr/>
          <p:nvPr/>
        </p:nvSpPr>
        <p:spPr>
          <a:xfrm flipV="1">
            <a:off x="5087983" y="3034223"/>
            <a:ext cx="48169" cy="21282"/>
          </a:xfrm>
          <a:prstGeom prst="line">
            <a:avLst/>
          </a:prstGeom>
          <a:noFill/>
          <a:ln w="31750">
            <a:solidFill>
              <a:srgbClr val="D98A1E"/>
            </a:solidFill>
            <a:prstDash val="solid"/>
          </a:ln>
        </p:spPr>
      </p:sp>
      <p:sp>
        <p:nvSpPr>
          <p:cNvPr id="636" name="Shape 634"/>
          <p:cNvSpPr/>
          <p:nvPr/>
        </p:nvSpPr>
        <p:spPr>
          <a:xfrm flipV="1">
            <a:off x="5136152" y="3018702"/>
            <a:ext cx="48169" cy="15521"/>
          </a:xfrm>
          <a:prstGeom prst="line">
            <a:avLst/>
          </a:prstGeom>
          <a:noFill/>
          <a:ln w="31750">
            <a:solidFill>
              <a:srgbClr val="D98A1E"/>
            </a:solidFill>
            <a:prstDash val="solid"/>
          </a:ln>
        </p:spPr>
      </p:sp>
      <p:sp>
        <p:nvSpPr>
          <p:cNvPr id="637" name="Shape 635"/>
          <p:cNvSpPr/>
          <p:nvPr/>
        </p:nvSpPr>
        <p:spPr>
          <a:xfrm flipV="1">
            <a:off x="5184321" y="3009259"/>
            <a:ext cx="48169" cy="9443"/>
          </a:xfrm>
          <a:prstGeom prst="line">
            <a:avLst/>
          </a:prstGeom>
          <a:noFill/>
          <a:ln w="31750">
            <a:solidFill>
              <a:srgbClr val="D98A1E"/>
            </a:solidFill>
            <a:prstDash val="solid"/>
          </a:ln>
        </p:spPr>
      </p:sp>
      <p:sp>
        <p:nvSpPr>
          <p:cNvPr id="638" name="Shape 636"/>
          <p:cNvSpPr/>
          <p:nvPr/>
        </p:nvSpPr>
        <p:spPr>
          <a:xfrm flipV="1">
            <a:off x="5232491" y="3006090"/>
            <a:ext cx="48169" cy="3169"/>
          </a:xfrm>
          <a:prstGeom prst="line">
            <a:avLst/>
          </a:prstGeom>
          <a:noFill/>
          <a:ln w="31750">
            <a:solidFill>
              <a:srgbClr val="D98A1E"/>
            </a:solidFill>
            <a:prstDash val="solid"/>
          </a:ln>
        </p:spPr>
      </p:sp>
      <p:sp>
        <p:nvSpPr>
          <p:cNvPr id="639" name="Shape 637"/>
          <p:cNvSpPr/>
          <p:nvPr/>
        </p:nvSpPr>
        <p:spPr>
          <a:xfrm>
            <a:off x="5280660" y="3006090"/>
            <a:ext cx="48169" cy="3169"/>
          </a:xfrm>
          <a:prstGeom prst="line">
            <a:avLst/>
          </a:prstGeom>
          <a:noFill/>
          <a:ln w="31750">
            <a:solidFill>
              <a:srgbClr val="D98A1E"/>
            </a:solidFill>
            <a:prstDash val="solid"/>
          </a:ln>
        </p:spPr>
      </p:sp>
      <p:sp>
        <p:nvSpPr>
          <p:cNvPr id="640" name="Shape 638"/>
          <p:cNvSpPr/>
          <p:nvPr/>
        </p:nvSpPr>
        <p:spPr>
          <a:xfrm>
            <a:off x="5328829" y="3009259"/>
            <a:ext cx="48169" cy="9443"/>
          </a:xfrm>
          <a:prstGeom prst="line">
            <a:avLst/>
          </a:prstGeom>
          <a:noFill/>
          <a:ln w="31750">
            <a:solidFill>
              <a:srgbClr val="D98A1E"/>
            </a:solidFill>
            <a:prstDash val="solid"/>
          </a:ln>
        </p:spPr>
      </p:sp>
      <p:sp>
        <p:nvSpPr>
          <p:cNvPr id="641" name="Shape 639"/>
          <p:cNvSpPr/>
          <p:nvPr/>
        </p:nvSpPr>
        <p:spPr>
          <a:xfrm>
            <a:off x="5376999" y="3018702"/>
            <a:ext cx="48169" cy="15521"/>
          </a:xfrm>
          <a:prstGeom prst="line">
            <a:avLst/>
          </a:prstGeom>
          <a:noFill/>
          <a:ln w="31750">
            <a:solidFill>
              <a:srgbClr val="D98A1E"/>
            </a:solidFill>
            <a:prstDash val="solid"/>
          </a:ln>
        </p:spPr>
      </p:sp>
      <p:sp>
        <p:nvSpPr>
          <p:cNvPr id="642" name="Shape 640"/>
          <p:cNvSpPr/>
          <p:nvPr/>
        </p:nvSpPr>
        <p:spPr>
          <a:xfrm>
            <a:off x="5425168" y="3034223"/>
            <a:ext cx="48169" cy="21282"/>
          </a:xfrm>
          <a:prstGeom prst="line">
            <a:avLst/>
          </a:prstGeom>
          <a:noFill/>
          <a:ln w="31750">
            <a:solidFill>
              <a:srgbClr val="D98A1E"/>
            </a:solidFill>
            <a:prstDash val="solid"/>
          </a:ln>
        </p:spPr>
      </p:sp>
      <p:sp>
        <p:nvSpPr>
          <p:cNvPr id="643" name="Shape 641"/>
          <p:cNvSpPr/>
          <p:nvPr/>
        </p:nvSpPr>
        <p:spPr>
          <a:xfrm>
            <a:off x="5473337" y="3055505"/>
            <a:ext cx="48169" cy="26613"/>
          </a:xfrm>
          <a:prstGeom prst="line">
            <a:avLst/>
          </a:prstGeom>
          <a:noFill/>
          <a:ln w="31750">
            <a:solidFill>
              <a:srgbClr val="D98A1E"/>
            </a:solidFill>
            <a:prstDash val="solid"/>
          </a:ln>
        </p:spPr>
      </p:sp>
      <p:sp>
        <p:nvSpPr>
          <p:cNvPr id="644" name="Shape 642"/>
          <p:cNvSpPr/>
          <p:nvPr/>
        </p:nvSpPr>
        <p:spPr>
          <a:xfrm>
            <a:off x="5521506" y="3082117"/>
            <a:ext cx="48169" cy="31417"/>
          </a:xfrm>
          <a:prstGeom prst="line">
            <a:avLst/>
          </a:prstGeom>
          <a:noFill/>
          <a:ln w="31750">
            <a:solidFill>
              <a:srgbClr val="D98A1E"/>
            </a:solidFill>
            <a:prstDash val="solid"/>
          </a:ln>
        </p:spPr>
      </p:sp>
      <p:sp>
        <p:nvSpPr>
          <p:cNvPr id="645" name="Shape 643"/>
          <p:cNvSpPr/>
          <p:nvPr/>
        </p:nvSpPr>
        <p:spPr>
          <a:xfrm>
            <a:off x="5569676" y="3113535"/>
            <a:ext cx="48169" cy="35615"/>
          </a:xfrm>
          <a:prstGeom prst="line">
            <a:avLst/>
          </a:prstGeom>
          <a:noFill/>
          <a:ln w="31750">
            <a:solidFill>
              <a:srgbClr val="D98A1E"/>
            </a:solidFill>
            <a:prstDash val="solid"/>
          </a:ln>
        </p:spPr>
      </p:sp>
      <p:sp>
        <p:nvSpPr>
          <p:cNvPr id="646" name="Shape 644"/>
          <p:cNvSpPr/>
          <p:nvPr/>
        </p:nvSpPr>
        <p:spPr>
          <a:xfrm>
            <a:off x="5617845" y="3149150"/>
            <a:ext cx="48169" cy="39146"/>
          </a:xfrm>
          <a:prstGeom prst="line">
            <a:avLst/>
          </a:prstGeom>
          <a:noFill/>
          <a:ln w="31750">
            <a:solidFill>
              <a:srgbClr val="D98A1E"/>
            </a:solidFill>
            <a:prstDash val="solid"/>
          </a:ln>
        </p:spPr>
      </p:sp>
      <p:sp>
        <p:nvSpPr>
          <p:cNvPr id="647" name="Shape 645"/>
          <p:cNvSpPr/>
          <p:nvPr/>
        </p:nvSpPr>
        <p:spPr>
          <a:xfrm>
            <a:off x="5666014" y="3188296"/>
            <a:ext cx="48169" cy="41969"/>
          </a:xfrm>
          <a:prstGeom prst="line">
            <a:avLst/>
          </a:prstGeom>
          <a:noFill/>
          <a:ln w="31750">
            <a:solidFill>
              <a:srgbClr val="D98A1E"/>
            </a:solidFill>
            <a:prstDash val="solid"/>
          </a:ln>
        </p:spPr>
      </p:sp>
      <p:sp>
        <p:nvSpPr>
          <p:cNvPr id="648" name="Shape 646"/>
          <p:cNvSpPr/>
          <p:nvPr/>
        </p:nvSpPr>
        <p:spPr>
          <a:xfrm>
            <a:off x="5714184" y="3230265"/>
            <a:ext cx="48169" cy="44066"/>
          </a:xfrm>
          <a:prstGeom prst="line">
            <a:avLst/>
          </a:prstGeom>
          <a:noFill/>
          <a:ln w="31750">
            <a:solidFill>
              <a:srgbClr val="D98A1E"/>
            </a:solidFill>
            <a:prstDash val="solid"/>
          </a:ln>
        </p:spPr>
      </p:sp>
      <p:sp>
        <p:nvSpPr>
          <p:cNvPr id="649" name="Shape 647"/>
          <p:cNvSpPr/>
          <p:nvPr/>
        </p:nvSpPr>
        <p:spPr>
          <a:xfrm>
            <a:off x="5762353" y="3274331"/>
            <a:ext cx="48169" cy="45439"/>
          </a:xfrm>
          <a:prstGeom prst="line">
            <a:avLst/>
          </a:prstGeom>
          <a:noFill/>
          <a:ln w="31750">
            <a:solidFill>
              <a:srgbClr val="D98A1E"/>
            </a:solidFill>
            <a:prstDash val="solid"/>
          </a:ln>
        </p:spPr>
      </p:sp>
      <p:sp>
        <p:nvSpPr>
          <p:cNvPr id="650" name="Shape 648"/>
          <p:cNvSpPr/>
          <p:nvPr/>
        </p:nvSpPr>
        <p:spPr>
          <a:xfrm>
            <a:off x="5810522" y="3319770"/>
            <a:ext cx="48169" cy="46109"/>
          </a:xfrm>
          <a:prstGeom prst="line">
            <a:avLst/>
          </a:prstGeom>
          <a:noFill/>
          <a:ln w="31750">
            <a:solidFill>
              <a:srgbClr val="D98A1E"/>
            </a:solidFill>
            <a:prstDash val="solid"/>
          </a:ln>
        </p:spPr>
      </p:sp>
      <p:sp>
        <p:nvSpPr>
          <p:cNvPr id="651" name="Shape 649"/>
          <p:cNvSpPr/>
          <p:nvPr/>
        </p:nvSpPr>
        <p:spPr>
          <a:xfrm>
            <a:off x="5858691" y="3365878"/>
            <a:ext cx="48169" cy="46113"/>
          </a:xfrm>
          <a:prstGeom prst="line">
            <a:avLst/>
          </a:prstGeom>
          <a:noFill/>
          <a:ln w="31750">
            <a:solidFill>
              <a:srgbClr val="D98A1E"/>
            </a:solidFill>
            <a:prstDash val="solid"/>
          </a:ln>
        </p:spPr>
      </p:sp>
      <p:sp>
        <p:nvSpPr>
          <p:cNvPr id="652" name="Shape 650"/>
          <p:cNvSpPr/>
          <p:nvPr/>
        </p:nvSpPr>
        <p:spPr>
          <a:xfrm>
            <a:off x="5906861" y="3411991"/>
            <a:ext cx="48169" cy="45505"/>
          </a:xfrm>
          <a:prstGeom prst="line">
            <a:avLst/>
          </a:prstGeom>
          <a:noFill/>
          <a:ln w="31750">
            <a:solidFill>
              <a:srgbClr val="D98A1E"/>
            </a:solidFill>
            <a:prstDash val="solid"/>
          </a:ln>
        </p:spPr>
      </p:sp>
      <p:sp>
        <p:nvSpPr>
          <p:cNvPr id="653" name="Shape 651"/>
          <p:cNvSpPr/>
          <p:nvPr/>
        </p:nvSpPr>
        <p:spPr>
          <a:xfrm>
            <a:off x="5955030" y="3457497"/>
            <a:ext cx="48169" cy="44350"/>
          </a:xfrm>
          <a:prstGeom prst="line">
            <a:avLst/>
          </a:prstGeom>
          <a:noFill/>
          <a:ln w="31750">
            <a:solidFill>
              <a:srgbClr val="D98A1E"/>
            </a:solidFill>
            <a:prstDash val="solid"/>
          </a:ln>
        </p:spPr>
      </p:sp>
      <p:sp>
        <p:nvSpPr>
          <p:cNvPr id="654" name="Shape 652"/>
          <p:cNvSpPr/>
          <p:nvPr/>
        </p:nvSpPr>
        <p:spPr>
          <a:xfrm>
            <a:off x="6003199" y="3501847"/>
            <a:ext cx="48169" cy="42722"/>
          </a:xfrm>
          <a:prstGeom prst="line">
            <a:avLst/>
          </a:prstGeom>
          <a:noFill/>
          <a:ln w="31750">
            <a:solidFill>
              <a:srgbClr val="D98A1E"/>
            </a:solidFill>
            <a:prstDash val="solid"/>
          </a:ln>
        </p:spPr>
      </p:sp>
      <p:sp>
        <p:nvSpPr>
          <p:cNvPr id="655" name="Shape 653"/>
          <p:cNvSpPr/>
          <p:nvPr/>
        </p:nvSpPr>
        <p:spPr>
          <a:xfrm>
            <a:off x="6051369" y="3544569"/>
            <a:ext cx="48169" cy="40698"/>
          </a:xfrm>
          <a:prstGeom prst="line">
            <a:avLst/>
          </a:prstGeom>
          <a:noFill/>
          <a:ln w="31750">
            <a:solidFill>
              <a:srgbClr val="D98A1E"/>
            </a:solidFill>
            <a:prstDash val="solid"/>
          </a:ln>
        </p:spPr>
      </p:sp>
      <p:sp>
        <p:nvSpPr>
          <p:cNvPr id="656" name="Shape 654"/>
          <p:cNvSpPr/>
          <p:nvPr/>
        </p:nvSpPr>
        <p:spPr>
          <a:xfrm>
            <a:off x="6099538" y="3585267"/>
            <a:ext cx="48169" cy="38361"/>
          </a:xfrm>
          <a:prstGeom prst="line">
            <a:avLst/>
          </a:prstGeom>
          <a:noFill/>
          <a:ln w="31750">
            <a:solidFill>
              <a:srgbClr val="D98A1E"/>
            </a:solidFill>
            <a:prstDash val="solid"/>
          </a:ln>
        </p:spPr>
      </p:sp>
      <p:sp>
        <p:nvSpPr>
          <p:cNvPr id="657" name="Shape 655"/>
          <p:cNvSpPr/>
          <p:nvPr/>
        </p:nvSpPr>
        <p:spPr>
          <a:xfrm>
            <a:off x="6147707" y="3623628"/>
            <a:ext cx="48169" cy="35790"/>
          </a:xfrm>
          <a:prstGeom prst="line">
            <a:avLst/>
          </a:prstGeom>
          <a:noFill/>
          <a:ln w="31750">
            <a:solidFill>
              <a:srgbClr val="D98A1E"/>
            </a:solidFill>
            <a:prstDash val="solid"/>
          </a:ln>
        </p:spPr>
      </p:sp>
      <p:sp>
        <p:nvSpPr>
          <p:cNvPr id="658" name="Shape 656"/>
          <p:cNvSpPr/>
          <p:nvPr/>
        </p:nvSpPr>
        <p:spPr>
          <a:xfrm>
            <a:off x="6195876" y="3659418"/>
            <a:ext cx="48169" cy="33064"/>
          </a:xfrm>
          <a:prstGeom prst="line">
            <a:avLst/>
          </a:prstGeom>
          <a:noFill/>
          <a:ln w="31750">
            <a:solidFill>
              <a:srgbClr val="D98A1E"/>
            </a:solidFill>
            <a:prstDash val="solid"/>
          </a:ln>
        </p:spPr>
      </p:sp>
      <p:sp>
        <p:nvSpPr>
          <p:cNvPr id="659" name="Shape 657"/>
          <p:cNvSpPr/>
          <p:nvPr/>
        </p:nvSpPr>
        <p:spPr>
          <a:xfrm>
            <a:off x="6244046" y="3692482"/>
            <a:ext cx="48169" cy="30255"/>
          </a:xfrm>
          <a:prstGeom prst="line">
            <a:avLst/>
          </a:prstGeom>
          <a:noFill/>
          <a:ln w="31750">
            <a:solidFill>
              <a:srgbClr val="D98A1E"/>
            </a:solidFill>
            <a:prstDash val="solid"/>
          </a:ln>
        </p:spPr>
      </p:sp>
      <p:sp>
        <p:nvSpPr>
          <p:cNvPr id="660" name="Shape 658"/>
          <p:cNvSpPr/>
          <p:nvPr/>
        </p:nvSpPr>
        <p:spPr>
          <a:xfrm>
            <a:off x="6292215" y="3722737"/>
            <a:ext cx="48169" cy="27427"/>
          </a:xfrm>
          <a:prstGeom prst="line">
            <a:avLst/>
          </a:prstGeom>
          <a:noFill/>
          <a:ln w="31750">
            <a:solidFill>
              <a:srgbClr val="D98A1E"/>
            </a:solidFill>
            <a:prstDash val="solid"/>
          </a:ln>
        </p:spPr>
      </p:sp>
      <p:sp>
        <p:nvSpPr>
          <p:cNvPr id="661" name="Shape 659"/>
          <p:cNvSpPr/>
          <p:nvPr/>
        </p:nvSpPr>
        <p:spPr>
          <a:xfrm>
            <a:off x="6340384" y="3750164"/>
            <a:ext cx="48169" cy="24638"/>
          </a:xfrm>
          <a:prstGeom prst="line">
            <a:avLst/>
          </a:prstGeom>
          <a:noFill/>
          <a:ln w="31750">
            <a:solidFill>
              <a:srgbClr val="D98A1E"/>
            </a:solidFill>
            <a:prstDash val="solid"/>
          </a:ln>
        </p:spPr>
      </p:sp>
      <p:sp>
        <p:nvSpPr>
          <p:cNvPr id="662" name="Shape 660"/>
          <p:cNvSpPr/>
          <p:nvPr/>
        </p:nvSpPr>
        <p:spPr>
          <a:xfrm>
            <a:off x="6388554" y="3774803"/>
            <a:ext cx="48169" cy="21937"/>
          </a:xfrm>
          <a:prstGeom prst="line">
            <a:avLst/>
          </a:prstGeom>
          <a:noFill/>
          <a:ln w="31750">
            <a:solidFill>
              <a:srgbClr val="D98A1E"/>
            </a:solidFill>
            <a:prstDash val="solid"/>
          </a:ln>
        </p:spPr>
      </p:sp>
      <p:sp>
        <p:nvSpPr>
          <p:cNvPr id="663" name="Shape 661"/>
          <p:cNvSpPr/>
          <p:nvPr/>
        </p:nvSpPr>
        <p:spPr>
          <a:xfrm>
            <a:off x="6436723" y="3796739"/>
            <a:ext cx="48169" cy="19361"/>
          </a:xfrm>
          <a:prstGeom prst="line">
            <a:avLst/>
          </a:prstGeom>
          <a:noFill/>
          <a:ln w="31750">
            <a:solidFill>
              <a:srgbClr val="D98A1E"/>
            </a:solidFill>
            <a:prstDash val="solid"/>
          </a:ln>
        </p:spPr>
      </p:sp>
      <p:sp>
        <p:nvSpPr>
          <p:cNvPr id="664" name="Shape 662"/>
          <p:cNvSpPr/>
          <p:nvPr/>
        </p:nvSpPr>
        <p:spPr>
          <a:xfrm>
            <a:off x="6484892" y="3816100"/>
            <a:ext cx="48169" cy="16941"/>
          </a:xfrm>
          <a:prstGeom prst="line">
            <a:avLst/>
          </a:prstGeom>
          <a:noFill/>
          <a:ln w="31750">
            <a:solidFill>
              <a:srgbClr val="D98A1E"/>
            </a:solidFill>
            <a:prstDash val="solid"/>
          </a:ln>
        </p:spPr>
      </p:sp>
      <p:sp>
        <p:nvSpPr>
          <p:cNvPr id="665" name="Shape 663"/>
          <p:cNvSpPr/>
          <p:nvPr/>
        </p:nvSpPr>
        <p:spPr>
          <a:xfrm>
            <a:off x="6533061" y="3833042"/>
            <a:ext cx="48169" cy="14699"/>
          </a:xfrm>
          <a:prstGeom prst="line">
            <a:avLst/>
          </a:prstGeom>
          <a:noFill/>
          <a:ln w="31750">
            <a:solidFill>
              <a:srgbClr val="D98A1E"/>
            </a:solidFill>
            <a:prstDash val="solid"/>
          </a:ln>
        </p:spPr>
      </p:sp>
      <p:sp>
        <p:nvSpPr>
          <p:cNvPr id="666" name="Shape 664"/>
          <p:cNvSpPr/>
          <p:nvPr/>
        </p:nvSpPr>
        <p:spPr>
          <a:xfrm>
            <a:off x="6581231" y="3847741"/>
            <a:ext cx="48169" cy="12647"/>
          </a:xfrm>
          <a:prstGeom prst="line">
            <a:avLst/>
          </a:prstGeom>
          <a:noFill/>
          <a:ln w="31750">
            <a:solidFill>
              <a:srgbClr val="D98A1E"/>
            </a:solidFill>
            <a:prstDash val="solid"/>
          </a:ln>
        </p:spPr>
      </p:sp>
      <p:sp>
        <p:nvSpPr>
          <p:cNvPr id="667" name="Shape 665"/>
          <p:cNvSpPr/>
          <p:nvPr/>
        </p:nvSpPr>
        <p:spPr>
          <a:xfrm>
            <a:off x="1234440" y="4340352"/>
            <a:ext cx="5394960" cy="670560"/>
          </a:xfrm>
          <a:custGeom>
            <a:avLst/>
            <a:gdLst/>
            <a:ahLst/>
            <a:cxnLst/>
            <a:rect l="l" t="t" r="r" b="b"/>
            <a:pathLst>
              <a:path w="5394960" h="670560">
                <a:moveTo>
                  <a:pt x="0" y="670560"/>
                </a:moveTo>
                <a:lnTo>
                  <a:pt x="0" y="60960"/>
                </a:lnTo>
                <a:lnTo>
                  <a:pt x="96339" y="112776"/>
                </a:lnTo>
                <a:lnTo>
                  <a:pt x="192677" y="164592"/>
                </a:lnTo>
                <a:lnTo>
                  <a:pt x="289016" y="216408"/>
                </a:lnTo>
                <a:lnTo>
                  <a:pt x="385354" y="268224"/>
                </a:lnTo>
                <a:lnTo>
                  <a:pt x="481693" y="320040"/>
                </a:lnTo>
                <a:lnTo>
                  <a:pt x="578031" y="371856"/>
                </a:lnTo>
                <a:lnTo>
                  <a:pt x="674370" y="423672"/>
                </a:lnTo>
                <a:lnTo>
                  <a:pt x="770709" y="475488"/>
                </a:lnTo>
                <a:lnTo>
                  <a:pt x="867047" y="527304"/>
                </a:lnTo>
                <a:lnTo>
                  <a:pt x="963386" y="579120"/>
                </a:lnTo>
                <a:lnTo>
                  <a:pt x="1059724" y="553720"/>
                </a:lnTo>
                <a:lnTo>
                  <a:pt x="1156063" y="528320"/>
                </a:lnTo>
                <a:lnTo>
                  <a:pt x="1252401" y="502920"/>
                </a:lnTo>
                <a:lnTo>
                  <a:pt x="1348740" y="477520"/>
                </a:lnTo>
                <a:lnTo>
                  <a:pt x="1445079" y="452120"/>
                </a:lnTo>
                <a:lnTo>
                  <a:pt x="1541417" y="426720"/>
                </a:lnTo>
                <a:lnTo>
                  <a:pt x="1637756" y="401320"/>
                </a:lnTo>
                <a:lnTo>
                  <a:pt x="1734094" y="375920"/>
                </a:lnTo>
                <a:lnTo>
                  <a:pt x="1830433" y="350520"/>
                </a:lnTo>
                <a:lnTo>
                  <a:pt x="1926771" y="325120"/>
                </a:lnTo>
                <a:lnTo>
                  <a:pt x="2023110" y="299720"/>
                </a:lnTo>
                <a:lnTo>
                  <a:pt x="2119449" y="274320"/>
                </a:lnTo>
                <a:lnTo>
                  <a:pt x="2215787" y="248920"/>
                </a:lnTo>
                <a:lnTo>
                  <a:pt x="2312126" y="223520"/>
                </a:lnTo>
                <a:lnTo>
                  <a:pt x="2408464" y="198120"/>
                </a:lnTo>
                <a:lnTo>
                  <a:pt x="2504803" y="172720"/>
                </a:lnTo>
                <a:lnTo>
                  <a:pt x="2601141" y="147320"/>
                </a:lnTo>
                <a:lnTo>
                  <a:pt x="2697480" y="121920"/>
                </a:lnTo>
                <a:lnTo>
                  <a:pt x="2793819" y="113211"/>
                </a:lnTo>
                <a:lnTo>
                  <a:pt x="2890157" y="104503"/>
                </a:lnTo>
                <a:lnTo>
                  <a:pt x="2986496" y="95794"/>
                </a:lnTo>
                <a:lnTo>
                  <a:pt x="3082834" y="87086"/>
                </a:lnTo>
                <a:lnTo>
                  <a:pt x="3179173" y="78377"/>
                </a:lnTo>
                <a:lnTo>
                  <a:pt x="3275511" y="69669"/>
                </a:lnTo>
                <a:lnTo>
                  <a:pt x="3371850" y="60960"/>
                </a:lnTo>
                <a:lnTo>
                  <a:pt x="3468189" y="52251"/>
                </a:lnTo>
                <a:lnTo>
                  <a:pt x="3564527" y="43543"/>
                </a:lnTo>
                <a:lnTo>
                  <a:pt x="3660866" y="34834"/>
                </a:lnTo>
                <a:lnTo>
                  <a:pt x="3757204" y="26126"/>
                </a:lnTo>
                <a:lnTo>
                  <a:pt x="3853543" y="17417"/>
                </a:lnTo>
                <a:lnTo>
                  <a:pt x="3949881" y="8709"/>
                </a:lnTo>
                <a:lnTo>
                  <a:pt x="4046220" y="0"/>
                </a:lnTo>
                <a:lnTo>
                  <a:pt x="4142559" y="0"/>
                </a:lnTo>
                <a:lnTo>
                  <a:pt x="4238897" y="0"/>
                </a:lnTo>
                <a:lnTo>
                  <a:pt x="4335236" y="0"/>
                </a:lnTo>
                <a:lnTo>
                  <a:pt x="4431574" y="0"/>
                </a:lnTo>
                <a:lnTo>
                  <a:pt x="4527913" y="0"/>
                </a:lnTo>
                <a:lnTo>
                  <a:pt x="4624251" y="0"/>
                </a:lnTo>
                <a:lnTo>
                  <a:pt x="4720590" y="0"/>
                </a:lnTo>
                <a:lnTo>
                  <a:pt x="4816929" y="0"/>
                </a:lnTo>
                <a:lnTo>
                  <a:pt x="4913267" y="0"/>
                </a:lnTo>
                <a:lnTo>
                  <a:pt x="5009606" y="0"/>
                </a:lnTo>
                <a:lnTo>
                  <a:pt x="5105944" y="0"/>
                </a:lnTo>
                <a:lnTo>
                  <a:pt x="5202283" y="0"/>
                </a:lnTo>
                <a:lnTo>
                  <a:pt x="5298621" y="30480"/>
                </a:lnTo>
                <a:lnTo>
                  <a:pt x="5394960" y="60960"/>
                </a:lnTo>
                <a:lnTo>
                  <a:pt x="5394960" y="670560"/>
                </a:lnTo>
                <a:close/>
              </a:path>
            </a:pathLst>
          </a:custGeom>
          <a:solidFill>
            <a:srgbClr val="C8414C">
              <a:alpha val="85000"/>
            </a:srgbClr>
          </a:solidFill>
          <a:ln w="9525">
            <a:solidFill>
              <a:srgbClr val="8E2A33"/>
            </a:solidFill>
            <a:prstDash val="solid"/>
          </a:ln>
        </p:spPr>
      </p:sp>
      <p:sp>
        <p:nvSpPr>
          <p:cNvPr id="668" name="Shape 666"/>
          <p:cNvSpPr/>
          <p:nvPr/>
        </p:nvSpPr>
        <p:spPr>
          <a:xfrm>
            <a:off x="4702629" y="1545336"/>
            <a:ext cx="274320" cy="91"/>
          </a:xfrm>
          <a:prstGeom prst="line">
            <a:avLst/>
          </a:prstGeom>
          <a:noFill/>
          <a:ln w="38100">
            <a:solidFill>
              <a:srgbClr val="2F6DB5"/>
            </a:solidFill>
            <a:prstDash val="solid"/>
          </a:ln>
        </p:spPr>
      </p:sp>
      <p:sp>
        <p:nvSpPr>
          <p:cNvPr id="669" name="Text 667"/>
          <p:cNvSpPr/>
          <p:nvPr/>
        </p:nvSpPr>
        <p:spPr>
          <a:xfrm>
            <a:off x="5022669" y="1417320"/>
            <a:ext cx="548640" cy="256032"/>
          </a:xfrm>
          <a:prstGeom prst="rect">
            <a:avLst/>
          </a:prstGeom>
          <a:noFill/>
          <a:ln/>
        </p:spPr>
        <p:txBody>
          <a:bodyPr wrap="square" lIns="0" tIns="0" rIns="0" bIns="0" rtlCol="0" anchor="ctr"/>
          <a:lstStyle/>
          <a:p>
            <a:pPr algn="l" indent="0" marL="0">
              <a:buNone/>
            </a:pPr>
            <a:r>
              <a:rPr lang="en-US" sz="1050" b="1" dirty="0">
                <a:solidFill>
                  <a:srgbClr val="2F6DB5"/>
                </a:solidFill>
                <a:latin typeface="Calibri" pitchFamily="34" charset="0"/>
                <a:ea typeface="Calibri" pitchFamily="34" charset="-122"/>
                <a:cs typeface="Calibri" pitchFamily="34" charset="-120"/>
              </a:rPr>
              <a:t>FSH</a:t>
            </a:r>
            <a:endParaRPr lang="en-US" sz="1050" dirty="0"/>
          </a:p>
        </p:txBody>
      </p:sp>
      <p:sp>
        <p:nvSpPr>
          <p:cNvPr id="670" name="Shape 668"/>
          <p:cNvSpPr/>
          <p:nvPr/>
        </p:nvSpPr>
        <p:spPr>
          <a:xfrm>
            <a:off x="5569676" y="1545336"/>
            <a:ext cx="274320" cy="91"/>
          </a:xfrm>
          <a:prstGeom prst="line">
            <a:avLst/>
          </a:prstGeom>
          <a:noFill/>
          <a:ln w="38100">
            <a:solidFill>
              <a:srgbClr val="7B3FA0"/>
            </a:solidFill>
            <a:prstDash val="solid"/>
          </a:ln>
        </p:spPr>
      </p:sp>
      <p:sp>
        <p:nvSpPr>
          <p:cNvPr id="671" name="Text 669"/>
          <p:cNvSpPr/>
          <p:nvPr/>
        </p:nvSpPr>
        <p:spPr>
          <a:xfrm>
            <a:off x="5889716" y="1417320"/>
            <a:ext cx="548640" cy="256032"/>
          </a:xfrm>
          <a:prstGeom prst="rect">
            <a:avLst/>
          </a:prstGeom>
          <a:noFill/>
          <a:ln/>
        </p:spPr>
        <p:txBody>
          <a:bodyPr wrap="square" lIns="0" tIns="0" rIns="0" bIns="0" rtlCol="0" anchor="ctr"/>
          <a:lstStyle/>
          <a:p>
            <a:pPr algn="l" indent="0" marL="0">
              <a:buNone/>
            </a:pPr>
            <a:r>
              <a:rPr lang="en-US" sz="1050" b="1" dirty="0">
                <a:solidFill>
                  <a:srgbClr val="7B3FA0"/>
                </a:solidFill>
                <a:latin typeface="Calibri" pitchFamily="34" charset="0"/>
                <a:ea typeface="Calibri" pitchFamily="34" charset="-122"/>
                <a:cs typeface="Calibri" pitchFamily="34" charset="-120"/>
              </a:rPr>
              <a:t>LH</a:t>
            </a:r>
            <a:endParaRPr lang="en-US" sz="1050" dirty="0"/>
          </a:p>
        </p:txBody>
      </p:sp>
      <p:sp>
        <p:nvSpPr>
          <p:cNvPr id="672" name="Shape 670"/>
          <p:cNvSpPr/>
          <p:nvPr/>
        </p:nvSpPr>
        <p:spPr>
          <a:xfrm>
            <a:off x="1427117" y="2980944"/>
            <a:ext cx="274320" cy="91"/>
          </a:xfrm>
          <a:prstGeom prst="line">
            <a:avLst/>
          </a:prstGeom>
          <a:noFill/>
          <a:ln w="38100">
            <a:solidFill>
              <a:srgbClr val="D4568F"/>
            </a:solidFill>
            <a:prstDash val="solid"/>
          </a:ln>
        </p:spPr>
      </p:sp>
      <p:sp>
        <p:nvSpPr>
          <p:cNvPr id="673" name="Text 671"/>
          <p:cNvSpPr/>
          <p:nvPr/>
        </p:nvSpPr>
        <p:spPr>
          <a:xfrm>
            <a:off x="1747157" y="2852928"/>
            <a:ext cx="914400" cy="256032"/>
          </a:xfrm>
          <a:prstGeom prst="rect">
            <a:avLst/>
          </a:prstGeom>
          <a:noFill/>
          <a:ln/>
        </p:spPr>
        <p:txBody>
          <a:bodyPr wrap="square" lIns="0" tIns="0" rIns="0" bIns="0" rtlCol="0" anchor="ctr"/>
          <a:lstStyle/>
          <a:p>
            <a:pPr algn="l" indent="0" marL="0">
              <a:buNone/>
            </a:pPr>
            <a:r>
              <a:rPr lang="en-US" sz="1050" b="1" dirty="0">
                <a:solidFill>
                  <a:srgbClr val="D4568F"/>
                </a:solidFill>
                <a:latin typeface="Calibri" pitchFamily="34" charset="0"/>
                <a:ea typeface="Calibri" pitchFamily="34" charset="-122"/>
                <a:cs typeface="Calibri" pitchFamily="34" charset="-120"/>
              </a:rPr>
              <a:t>oestrogen</a:t>
            </a:r>
            <a:endParaRPr lang="en-US" sz="1050" dirty="0"/>
          </a:p>
        </p:txBody>
      </p:sp>
      <p:sp>
        <p:nvSpPr>
          <p:cNvPr id="674" name="Shape 672"/>
          <p:cNvSpPr/>
          <p:nvPr/>
        </p:nvSpPr>
        <p:spPr>
          <a:xfrm>
            <a:off x="5723817" y="2980944"/>
            <a:ext cx="274320" cy="91"/>
          </a:xfrm>
          <a:prstGeom prst="line">
            <a:avLst/>
          </a:prstGeom>
          <a:noFill/>
          <a:ln w="38100">
            <a:solidFill>
              <a:srgbClr val="D98A1E"/>
            </a:solidFill>
            <a:prstDash val="solid"/>
          </a:ln>
        </p:spPr>
      </p:sp>
      <p:sp>
        <p:nvSpPr>
          <p:cNvPr id="675" name="Text 673"/>
          <p:cNvSpPr/>
          <p:nvPr/>
        </p:nvSpPr>
        <p:spPr>
          <a:xfrm>
            <a:off x="6043857" y="2852928"/>
            <a:ext cx="1097280" cy="256032"/>
          </a:xfrm>
          <a:prstGeom prst="rect">
            <a:avLst/>
          </a:prstGeom>
          <a:noFill/>
          <a:ln/>
        </p:spPr>
        <p:txBody>
          <a:bodyPr wrap="square" lIns="0" tIns="0" rIns="0" bIns="0" rtlCol="0" anchor="ctr"/>
          <a:lstStyle/>
          <a:p>
            <a:pPr algn="l" indent="0" marL="0">
              <a:buNone/>
            </a:pPr>
            <a:r>
              <a:rPr lang="en-US" sz="1050" b="1" dirty="0">
                <a:solidFill>
                  <a:srgbClr val="D98A1E"/>
                </a:solidFill>
                <a:latin typeface="Calibri" pitchFamily="34" charset="0"/>
                <a:ea typeface="Calibri" pitchFamily="34" charset="-122"/>
                <a:cs typeface="Calibri" pitchFamily="34" charset="-120"/>
              </a:rPr>
              <a:t>progesterone</a:t>
            </a:r>
            <a:endParaRPr lang="en-US" sz="1050" dirty="0"/>
          </a:p>
        </p:txBody>
      </p:sp>
      <p:sp>
        <p:nvSpPr>
          <p:cNvPr id="676" name="Text 674"/>
          <p:cNvSpPr/>
          <p:nvPr/>
        </p:nvSpPr>
        <p:spPr>
          <a:xfrm>
            <a:off x="2940449" y="1416540"/>
            <a:ext cx="804672" cy="256032"/>
          </a:xfrm>
          <a:prstGeom prst="rect">
            <a:avLst/>
          </a:prstGeom>
          <a:noFill/>
          <a:ln/>
        </p:spPr>
        <p:txBody>
          <a:bodyPr wrap="square" lIns="0" tIns="0" rIns="0" bIns="0" rtlCol="0" anchor="ctr"/>
          <a:lstStyle/>
          <a:p>
            <a:pPr algn="r" indent="0" marL="0">
              <a:buNone/>
            </a:pPr>
            <a:r>
              <a:rPr lang="en-US" sz="1000" b="1" dirty="0">
                <a:solidFill>
                  <a:srgbClr val="5E2D73"/>
                </a:solidFill>
                <a:latin typeface="Calibri" pitchFamily="34" charset="0"/>
                <a:ea typeface="Calibri" pitchFamily="34" charset="-122"/>
                <a:cs typeface="Calibri" pitchFamily="34" charset="-120"/>
              </a:rPr>
              <a:t>LH surge</a:t>
            </a:r>
            <a:endParaRPr lang="en-US" sz="1000" dirty="0"/>
          </a:p>
        </p:txBody>
      </p:sp>
      <p:sp>
        <p:nvSpPr>
          <p:cNvPr id="677" name="Text 675"/>
          <p:cNvSpPr/>
          <p:nvPr/>
        </p:nvSpPr>
        <p:spPr>
          <a:xfrm>
            <a:off x="3986784" y="2862072"/>
            <a:ext cx="914400" cy="256032"/>
          </a:xfrm>
          <a:prstGeom prst="rect">
            <a:avLst/>
          </a:prstGeom>
          <a:noFill/>
          <a:ln/>
        </p:spPr>
        <p:txBody>
          <a:bodyPr wrap="square" lIns="0" tIns="0" rIns="0" bIns="0" rtlCol="0" anchor="ctr"/>
          <a:lstStyle/>
          <a:p>
            <a:pPr algn="l" indent="0" marL="0">
              <a:buNone/>
            </a:pPr>
            <a:r>
              <a:rPr lang="en-US" sz="1000" b="1" dirty="0">
                <a:solidFill>
                  <a:srgbClr val="B8730A"/>
                </a:solidFill>
                <a:latin typeface="Calibri" pitchFamily="34" charset="0"/>
                <a:ea typeface="Calibri" pitchFamily="34" charset="-122"/>
                <a:cs typeface="Calibri" pitchFamily="34" charset="-120"/>
              </a:rPr>
              <a:t>ovulation</a:t>
            </a:r>
            <a:endParaRPr lang="en-US" sz="1000" dirty="0"/>
          </a:p>
        </p:txBody>
      </p:sp>
      <p:sp>
        <p:nvSpPr>
          <p:cNvPr id="678" name="Shape 676"/>
          <p:cNvSpPr/>
          <p:nvPr/>
        </p:nvSpPr>
        <p:spPr>
          <a:xfrm>
            <a:off x="7315200" y="1188720"/>
            <a:ext cx="4465015" cy="2514600"/>
          </a:xfrm>
          <a:prstGeom prst="roundRect">
            <a:avLst>
              <a:gd name="adj" fmla="val 2182"/>
            </a:avLst>
          </a:prstGeom>
          <a:solidFill>
            <a:srgbClr val="F4FAF9"/>
          </a:solidFill>
          <a:ln w="9525">
            <a:solidFill>
              <a:srgbClr val="CFE0DE"/>
            </a:solidFill>
            <a:prstDash val="solid"/>
          </a:ln>
        </p:spPr>
      </p:sp>
      <p:sp>
        <p:nvSpPr>
          <p:cNvPr id="679" name="Text 677"/>
          <p:cNvSpPr/>
          <p:nvPr/>
        </p:nvSpPr>
        <p:spPr>
          <a:xfrm>
            <a:off x="7479792" y="1280160"/>
            <a:ext cx="413583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Read the graph left to right</a:t>
            </a:r>
            <a:endParaRPr lang="en-US" sz="1300" dirty="0"/>
          </a:p>
        </p:txBody>
      </p:sp>
      <p:sp>
        <p:nvSpPr>
          <p:cNvPr id="680" name="Text 678"/>
          <p:cNvSpPr/>
          <p:nvPr/>
        </p:nvSpPr>
        <p:spPr>
          <a:xfrm>
            <a:off x="7479792" y="1609344"/>
            <a:ext cx="4135831" cy="2020824"/>
          </a:xfrm>
          <a:prstGeom prst="rect">
            <a:avLst/>
          </a:prstGeom>
          <a:noFill/>
          <a:ln/>
        </p:spPr>
        <p:txBody>
          <a:bodyPr wrap="square" lIns="0" tIns="0" rIns="0" bIns="0" rtlCol="0" anchor="t"/>
          <a:lstStyle/>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FSH</a:t>
            </a:r>
            <a:r>
              <a:rPr lang="en-US" sz="1050" dirty="0">
                <a:solidFill>
                  <a:srgbClr val="262B3A"/>
                </a:solidFill>
                <a:latin typeface="Calibri" pitchFamily="34" charset="0"/>
                <a:ea typeface="Calibri" pitchFamily="34" charset="-122"/>
                <a:cs typeface="Calibri" pitchFamily="34" charset="-120"/>
              </a:rPr>
              <a:t> rises early: a follicle and egg mature, and the ovary makes </a:t>
            </a:r>
            <a:r>
              <a:rPr lang="en-US" sz="1050" b="1" dirty="0">
                <a:solidFill>
                  <a:srgbClr val="262B3A"/>
                </a:solidFill>
                <a:latin typeface="Calibri" pitchFamily="34" charset="0"/>
                <a:ea typeface="Calibri" pitchFamily="34" charset="-122"/>
                <a:cs typeface="Calibri" pitchFamily="34" charset="-120"/>
              </a:rPr>
              <a:t>oestrogen</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Oestrogen</a:t>
            </a:r>
            <a:r>
              <a:rPr lang="en-US" sz="1050" dirty="0">
                <a:solidFill>
                  <a:srgbClr val="262B3A"/>
                </a:solidFill>
                <a:latin typeface="Calibri" pitchFamily="34" charset="0"/>
                <a:ea typeface="Calibri" pitchFamily="34" charset="-122"/>
                <a:cs typeface="Calibri" pitchFamily="34" charset="-120"/>
              </a:rPr>
              <a:t> peaks </a:t>
            </a:r>
            <a:r>
              <a:rPr lang="en-US" sz="1050" b="1" dirty="0">
                <a:solidFill>
                  <a:srgbClr val="262B3A"/>
                </a:solidFill>
                <a:latin typeface="Calibri" pitchFamily="34" charset="0"/>
                <a:ea typeface="Calibri" pitchFamily="34" charset="-122"/>
                <a:cs typeface="Calibri" pitchFamily="34" charset="-120"/>
              </a:rPr>
              <a:t>just before</a:t>
            </a:r>
            <a:r>
              <a:rPr lang="en-US" sz="1050" dirty="0">
                <a:solidFill>
                  <a:srgbClr val="262B3A"/>
                </a:solidFill>
                <a:latin typeface="Calibri" pitchFamily="34" charset="0"/>
                <a:ea typeface="Calibri" pitchFamily="34" charset="-122"/>
                <a:cs typeface="Calibri" pitchFamily="34" charset="-120"/>
              </a:rPr>
              <a:t> day 14 and the lining builds up.</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High oestrogen triggers the </a:t>
            </a:r>
            <a:r>
              <a:rPr lang="en-US" sz="1050" b="1" dirty="0">
                <a:solidFill>
                  <a:srgbClr val="262B3A"/>
                </a:solidFill>
                <a:latin typeface="Calibri" pitchFamily="34" charset="0"/>
                <a:ea typeface="Calibri" pitchFamily="34" charset="-122"/>
                <a:cs typeface="Calibri" pitchFamily="34" charset="-120"/>
              </a:rPr>
              <a:t>LH surge</a:t>
            </a:r>
            <a:r>
              <a:rPr lang="en-US" sz="1050" dirty="0">
                <a:solidFill>
                  <a:srgbClr val="262B3A"/>
                </a:solidFill>
                <a:latin typeface="Calibri" pitchFamily="34" charset="0"/>
                <a:ea typeface="Calibri" pitchFamily="34" charset="-122"/>
                <a:cs typeface="Calibri" pitchFamily="34" charset="-120"/>
              </a:rPr>
              <a:t>, which causes </a:t>
            </a:r>
            <a:r>
              <a:rPr lang="en-US" sz="1050" b="1" dirty="0">
                <a:solidFill>
                  <a:srgbClr val="262B3A"/>
                </a:solidFill>
                <a:latin typeface="Calibri" pitchFamily="34" charset="0"/>
                <a:ea typeface="Calibri" pitchFamily="34" charset="-122"/>
                <a:cs typeface="Calibri" pitchFamily="34" charset="-120"/>
              </a:rPr>
              <a:t>ovulation</a:t>
            </a:r>
            <a:r>
              <a:rPr lang="en-US" sz="1050" dirty="0">
                <a:solidFill>
                  <a:srgbClr val="262B3A"/>
                </a:solidFill>
                <a:latin typeface="Calibri" pitchFamily="34" charset="0"/>
                <a:ea typeface="Calibri" pitchFamily="34" charset="-122"/>
                <a:cs typeface="Calibri" pitchFamily="34" charset="-120"/>
              </a:rPr>
              <a:t> at about day 14.</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Progesterone</a:t>
            </a:r>
            <a:r>
              <a:rPr lang="en-US" sz="1050" dirty="0">
                <a:solidFill>
                  <a:srgbClr val="262B3A"/>
                </a:solidFill>
                <a:latin typeface="Calibri" pitchFamily="34" charset="0"/>
                <a:ea typeface="Calibri" pitchFamily="34" charset="-122"/>
                <a:cs typeface="Calibri" pitchFamily="34" charset="-120"/>
              </a:rPr>
              <a:t> rises after ovulation (peak about day 21) and keeps the lining thick.</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No pregnancy: progesterone </a:t>
            </a:r>
            <a:r>
              <a:rPr lang="en-US" sz="1050" b="1" dirty="0">
                <a:solidFill>
                  <a:srgbClr val="262B3A"/>
                </a:solidFill>
                <a:latin typeface="Calibri" pitchFamily="34" charset="0"/>
                <a:ea typeface="Calibri" pitchFamily="34" charset="-122"/>
                <a:cs typeface="Calibri" pitchFamily="34" charset="-120"/>
              </a:rPr>
              <a:t>falls</a:t>
            </a:r>
            <a:r>
              <a:rPr lang="en-US" sz="1050" dirty="0">
                <a:solidFill>
                  <a:srgbClr val="262B3A"/>
                </a:solidFill>
                <a:latin typeface="Calibri" pitchFamily="34" charset="0"/>
                <a:ea typeface="Calibri" pitchFamily="34" charset="-122"/>
                <a:cs typeface="Calibri" pitchFamily="34" charset="-120"/>
              </a:rPr>
              <a:t>, the lining breaks down, and FSH rises again.</a:t>
            </a:r>
            <a:endParaRPr lang="en-US" sz="1050" dirty="0"/>
          </a:p>
        </p:txBody>
      </p:sp>
      <p:sp>
        <p:nvSpPr>
          <p:cNvPr id="681" name="Shape 679"/>
          <p:cNvSpPr/>
          <p:nvPr/>
        </p:nvSpPr>
        <p:spPr>
          <a:xfrm>
            <a:off x="7315200" y="3840480"/>
            <a:ext cx="4465015" cy="1874520"/>
          </a:xfrm>
          <a:prstGeom prst="roundRect">
            <a:avLst>
              <a:gd name="adj" fmla="val 2927"/>
            </a:avLst>
          </a:prstGeom>
          <a:solidFill>
            <a:srgbClr val="FFF4E0"/>
          </a:solidFill>
          <a:ln w="9525">
            <a:solidFill>
              <a:srgbClr val="F1D9A8"/>
            </a:solidFill>
            <a:prstDash val="solid"/>
          </a:ln>
        </p:spPr>
      </p:sp>
      <p:sp>
        <p:nvSpPr>
          <p:cNvPr id="682" name="Text 680"/>
          <p:cNvSpPr/>
          <p:nvPr/>
        </p:nvSpPr>
        <p:spPr>
          <a:xfrm>
            <a:off x="7479792" y="3913632"/>
            <a:ext cx="413583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mean cycle length</a:t>
            </a:r>
            <a:endParaRPr lang="en-US" sz="1300" dirty="0"/>
          </a:p>
        </p:txBody>
      </p:sp>
      <p:sp>
        <p:nvSpPr>
          <p:cNvPr id="683" name="Text 681"/>
          <p:cNvSpPr/>
          <p:nvPr/>
        </p:nvSpPr>
        <p:spPr>
          <a:xfrm>
            <a:off x="7479792" y="4224528"/>
            <a:ext cx="4135831" cy="14173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One woman's last six cycles lasted 26, 29, 28, 31, 27, 27 days. Find the mean, and the ovulation day in a 32-day cycle.</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Add   </a:t>
            </a:r>
            <a:r>
              <a:rPr lang="en-US" sz="1050" dirty="0">
                <a:solidFill>
                  <a:srgbClr val="262B3A"/>
                </a:solidFill>
                <a:latin typeface="Calibri" pitchFamily="34" charset="0"/>
                <a:ea typeface="Calibri" pitchFamily="34" charset="-122"/>
                <a:cs typeface="Calibri" pitchFamily="34" charset="-120"/>
              </a:rPr>
              <a:t>26 + 29 + 28 + 31 + 27 + 27 = 168</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Mean   </a:t>
            </a:r>
            <a:r>
              <a:rPr lang="en-US" sz="1050" dirty="0">
                <a:solidFill>
                  <a:srgbClr val="262B3A"/>
                </a:solidFill>
                <a:latin typeface="Calibri" pitchFamily="34" charset="0"/>
                <a:ea typeface="Calibri" pitchFamily="34" charset="-122"/>
                <a:cs typeface="Calibri" pitchFamily="34" charset="-120"/>
              </a:rPr>
              <a:t>168 ÷ 6 = 28 days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Ovulation   </a:t>
            </a:r>
            <a:r>
              <a:rPr lang="en-US" sz="1050" dirty="0">
                <a:solidFill>
                  <a:srgbClr val="262B3A"/>
                </a:solidFill>
                <a:latin typeface="Calibri" pitchFamily="34" charset="0"/>
                <a:ea typeface="Calibri" pitchFamily="34" charset="-122"/>
                <a:cs typeface="Calibri" pitchFamily="34" charset="-120"/>
              </a:rPr>
              <a:t>about 14 days before the next period</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mean 28 days; 32-day cycle: day 32 − 14 = 18</a:t>
            </a:r>
            <a:endParaRPr lang="en-US" sz="1050" dirty="0"/>
          </a:p>
        </p:txBody>
      </p:sp>
      <p:sp>
        <p:nvSpPr>
          <p:cNvPr id="684" name="Shape 682"/>
          <p:cNvSpPr/>
          <p:nvPr/>
        </p:nvSpPr>
        <p:spPr>
          <a:xfrm>
            <a:off x="411480" y="5833872"/>
            <a:ext cx="11368735" cy="530352"/>
          </a:xfrm>
          <a:prstGeom prst="rect">
            <a:avLst/>
          </a:prstGeom>
          <a:solidFill>
            <a:srgbClr val="FFF4E0"/>
          </a:solidFill>
          <a:ln w="6350">
            <a:solidFill>
              <a:srgbClr val="F1D9A8"/>
            </a:solidFill>
            <a:prstDash val="solid"/>
          </a:ln>
        </p:spPr>
      </p:sp>
      <p:sp>
        <p:nvSpPr>
          <p:cNvPr id="685" name="Shape 683"/>
          <p:cNvSpPr/>
          <p:nvPr/>
        </p:nvSpPr>
        <p:spPr>
          <a:xfrm>
            <a:off x="411480" y="5833872"/>
            <a:ext cx="82296" cy="530352"/>
          </a:xfrm>
          <a:prstGeom prst="rect">
            <a:avLst/>
          </a:prstGeom>
          <a:solidFill>
            <a:srgbClr val="E39A2F"/>
          </a:solidFill>
          <a:ln w="12700">
            <a:solidFill>
              <a:srgbClr val="E39A2F"/>
            </a:solidFill>
            <a:prstDash val="solid"/>
          </a:ln>
        </p:spPr>
      </p:sp>
      <p:sp>
        <p:nvSpPr>
          <p:cNvPr id="686" name="Text 68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A woman has a </a:t>
            </a:r>
            <a:r>
              <a:rPr lang="en-US" sz="1150" b="1" dirty="0">
                <a:solidFill>
                  <a:srgbClr val="262B3A"/>
                </a:solidFill>
                <a:latin typeface="Calibri" pitchFamily="34" charset="0"/>
                <a:ea typeface="Calibri" pitchFamily="34" charset="-122"/>
                <a:cs typeface="Calibri" pitchFamily="34" charset="-120"/>
              </a:rPr>
              <a:t>30-day</a:t>
            </a:r>
            <a:r>
              <a:rPr lang="en-US" sz="1150" dirty="0">
                <a:solidFill>
                  <a:srgbClr val="262B3A"/>
                </a:solidFill>
                <a:latin typeface="Calibri" pitchFamily="34" charset="0"/>
                <a:ea typeface="Calibri" pitchFamily="34" charset="-122"/>
                <a:cs typeface="Calibri" pitchFamily="34" charset="-120"/>
              </a:rPr>
              <a:t> cycle. On about which day does she ovulate? Which hormone peaks just before?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How the four hormones interact</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B5.5.2 • each hormone switches others on (+) or off (−)</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B5.5 What role do hormones play in human reproduction?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B5.5.2  |  10</a:t>
            </a:r>
            <a:endParaRPr lang="en-US" sz="1000" dirty="0"/>
          </a:p>
        </p:txBody>
      </p:sp>
      <p:sp>
        <p:nvSpPr>
          <p:cNvPr id="10" name="Shape 8"/>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 stimulates (solid arrow); − inhibits (dashed line with a bar)</a:t>
            </a:r>
            <a:endParaRPr lang="en-US" sz="1000" dirty="0"/>
          </a:p>
        </p:txBody>
      </p:sp>
      <p:sp>
        <p:nvSpPr>
          <p:cNvPr id="12" name="Shape 10"/>
          <p:cNvSpPr/>
          <p:nvPr/>
        </p:nvSpPr>
        <p:spPr>
          <a:xfrm>
            <a:off x="2148840" y="1371600"/>
            <a:ext cx="2103120" cy="548640"/>
          </a:xfrm>
          <a:prstGeom prst="roundRect">
            <a:avLst>
              <a:gd name="adj" fmla="val 10000"/>
            </a:avLst>
          </a:prstGeom>
          <a:solidFill>
            <a:srgbClr val="FBECEC"/>
          </a:solidFill>
          <a:ln w="15875">
            <a:solidFill>
              <a:srgbClr val="C8414C"/>
            </a:solidFill>
            <a:prstDash val="solid"/>
          </a:ln>
        </p:spPr>
      </p:sp>
      <p:sp>
        <p:nvSpPr>
          <p:cNvPr id="13" name="Text 11"/>
          <p:cNvSpPr/>
          <p:nvPr/>
        </p:nvSpPr>
        <p:spPr>
          <a:xfrm>
            <a:off x="2203704" y="1371600"/>
            <a:ext cx="1993392" cy="548640"/>
          </a:xfrm>
          <a:prstGeom prst="rect">
            <a:avLst/>
          </a:prstGeom>
          <a:noFill/>
          <a:ln/>
        </p:spPr>
        <p:txBody>
          <a:bodyPr wrap="square" lIns="0" tIns="0" rIns="0" bIns="0" rtlCol="0" anchor="ctr"/>
          <a:lstStyle/>
          <a:p>
            <a:pPr algn="ctr" indent="0" marL="0">
              <a:buNone/>
            </a:pPr>
            <a:r>
              <a:rPr lang="en-US" sz="1100" b="1" dirty="0">
                <a:solidFill>
                  <a:srgbClr val="8E2A33"/>
                </a:solidFill>
                <a:latin typeface="Calibri" pitchFamily="34" charset="0"/>
                <a:ea typeface="Calibri" pitchFamily="34" charset="-122"/>
                <a:cs typeface="Calibri" pitchFamily="34" charset="-120"/>
              </a:rPr>
              <a:t>Pituitary gland</a:t>
            </a:r>
            <a:endParaRPr lang="en-US" sz="1100" dirty="0"/>
          </a:p>
        </p:txBody>
      </p:sp>
      <p:sp>
        <p:nvSpPr>
          <p:cNvPr id="14" name="Shape 12"/>
          <p:cNvSpPr/>
          <p:nvPr/>
        </p:nvSpPr>
        <p:spPr>
          <a:xfrm>
            <a:off x="594360" y="3246120"/>
            <a:ext cx="1965960" cy="868680"/>
          </a:xfrm>
          <a:prstGeom prst="roundRect">
            <a:avLst>
              <a:gd name="adj" fmla="val 8421"/>
            </a:avLst>
          </a:prstGeom>
          <a:solidFill>
            <a:srgbClr val="FFF6E8"/>
          </a:solidFill>
          <a:ln w="15875">
            <a:solidFill>
              <a:srgbClr val="9A6A2A"/>
            </a:solidFill>
            <a:prstDash val="solid"/>
          </a:ln>
        </p:spPr>
      </p:sp>
      <p:sp>
        <p:nvSpPr>
          <p:cNvPr id="15" name="Shape 13"/>
          <p:cNvSpPr/>
          <p:nvPr/>
        </p:nvSpPr>
        <p:spPr>
          <a:xfrm>
            <a:off x="694944" y="3456432"/>
            <a:ext cx="438912" cy="438912"/>
          </a:xfrm>
          <a:prstGeom prst="ellipse">
            <a:avLst/>
          </a:prstGeom>
          <a:solidFill>
            <a:srgbClr val="FFF6E8"/>
          </a:solidFill>
          <a:ln w="12700">
            <a:solidFill>
              <a:srgbClr val="9A6A2A"/>
            </a:solidFill>
            <a:prstDash val="solid"/>
          </a:ln>
        </p:spPr>
      </p:sp>
      <p:sp>
        <p:nvSpPr>
          <p:cNvPr id="16" name="Shape 14"/>
          <p:cNvSpPr/>
          <p:nvPr/>
        </p:nvSpPr>
        <p:spPr>
          <a:xfrm>
            <a:off x="877824" y="3566160"/>
            <a:ext cx="146304" cy="146304"/>
          </a:xfrm>
          <a:prstGeom prst="ellipse">
            <a:avLst/>
          </a:prstGeom>
          <a:solidFill>
            <a:srgbClr val="F2B279"/>
          </a:solidFill>
          <a:ln w="9525">
            <a:solidFill>
              <a:srgbClr val="A4561C"/>
            </a:solidFill>
            <a:prstDash val="solid"/>
          </a:ln>
        </p:spPr>
      </p:sp>
      <p:sp>
        <p:nvSpPr>
          <p:cNvPr id="17" name="Text 15"/>
          <p:cNvSpPr/>
          <p:nvPr/>
        </p:nvSpPr>
        <p:spPr>
          <a:xfrm>
            <a:off x="1188720" y="3246120"/>
            <a:ext cx="1325880" cy="868680"/>
          </a:xfrm>
          <a:prstGeom prst="rect">
            <a:avLst/>
          </a:prstGeom>
          <a:noFill/>
          <a:ln/>
        </p:spPr>
        <p:txBody>
          <a:bodyPr wrap="square" lIns="0" tIns="0" rIns="0" bIns="0" rtlCol="0" anchor="ctr"/>
          <a:lstStyle/>
          <a:p>
            <a:pPr algn="ctr" indent="0" marL="0">
              <a:buNone/>
            </a:pPr>
            <a:r>
              <a:rPr lang="en-US" sz="1000" b="1" dirty="0">
                <a:solidFill>
                  <a:srgbClr val="9A6A2A"/>
                </a:solidFill>
                <a:latin typeface="Calibri" pitchFamily="34" charset="0"/>
                <a:ea typeface="Calibri" pitchFamily="34" charset="-122"/>
                <a:cs typeface="Calibri" pitchFamily="34" charset="-120"/>
              </a:rPr>
              <a:t>Follicle</a:t>
            </a:r>
            <a:r>
              <a:rPr lang="en-US" sz="1000" dirty="0">
                <a:solidFill>
                  <a:srgbClr val="9A6A2A"/>
                </a:solidFill>
                <a:latin typeface="Calibri" pitchFamily="34" charset="0"/>
                <a:ea typeface="Calibri" pitchFamily="34" charset="-122"/>
                <a:cs typeface="Calibri" pitchFamily="34" charset="-120"/>
              </a:rPr>
              <a:t> with egg</a:t>
            </a:r>
            <a:endParaRPr lang="en-US" sz="1000" dirty="0"/>
          </a:p>
          <a:p>
            <a:pPr algn="ctr" indent="0" marL="0">
              <a:buNone/>
            </a:pPr>
            <a:r>
              <a:rPr lang="en-US" sz="1000" dirty="0">
                <a:solidFill>
                  <a:srgbClr val="9A6A2A"/>
                </a:solidFill>
                <a:latin typeface="Calibri" pitchFamily="34" charset="0"/>
                <a:ea typeface="Calibri" pitchFamily="34" charset="-122"/>
                <a:cs typeface="Calibri" pitchFamily="34" charset="-120"/>
              </a:rPr>
              <a:t>(ovary, days 1–14)</a:t>
            </a:r>
            <a:endParaRPr lang="en-US" sz="1000" dirty="0"/>
          </a:p>
        </p:txBody>
      </p:sp>
      <p:sp>
        <p:nvSpPr>
          <p:cNvPr id="18" name="Shape 16"/>
          <p:cNvSpPr/>
          <p:nvPr/>
        </p:nvSpPr>
        <p:spPr>
          <a:xfrm>
            <a:off x="3840480" y="3246120"/>
            <a:ext cx="1965960" cy="868680"/>
          </a:xfrm>
          <a:prstGeom prst="roundRect">
            <a:avLst>
              <a:gd name="adj" fmla="val 8421"/>
            </a:avLst>
          </a:prstGeom>
          <a:solidFill>
            <a:srgbClr val="FFF6E8"/>
          </a:solidFill>
          <a:ln w="15875">
            <a:solidFill>
              <a:srgbClr val="9A6A2A"/>
            </a:solidFill>
            <a:prstDash val="solid"/>
          </a:ln>
        </p:spPr>
      </p:sp>
      <p:sp>
        <p:nvSpPr>
          <p:cNvPr id="19" name="Shape 17"/>
          <p:cNvSpPr/>
          <p:nvPr/>
        </p:nvSpPr>
        <p:spPr>
          <a:xfrm>
            <a:off x="3959352" y="3474720"/>
            <a:ext cx="402336" cy="402336"/>
          </a:xfrm>
          <a:prstGeom prst="ellipse">
            <a:avLst/>
          </a:prstGeom>
          <a:solidFill>
            <a:srgbClr val="F5D76E"/>
          </a:solidFill>
          <a:ln w="12700">
            <a:solidFill>
              <a:srgbClr val="B8930A"/>
            </a:solidFill>
            <a:prstDash val="solid"/>
          </a:ln>
        </p:spPr>
      </p:sp>
      <p:sp>
        <p:nvSpPr>
          <p:cNvPr id="20" name="Text 18"/>
          <p:cNvSpPr/>
          <p:nvPr/>
        </p:nvSpPr>
        <p:spPr>
          <a:xfrm>
            <a:off x="4407408" y="3246120"/>
            <a:ext cx="1353312" cy="868680"/>
          </a:xfrm>
          <a:prstGeom prst="rect">
            <a:avLst/>
          </a:prstGeom>
          <a:noFill/>
          <a:ln/>
        </p:spPr>
        <p:txBody>
          <a:bodyPr wrap="square" lIns="0" tIns="0" rIns="0" bIns="0" rtlCol="0" anchor="ctr"/>
          <a:lstStyle/>
          <a:p>
            <a:pPr algn="ctr" indent="0" marL="0">
              <a:buNone/>
            </a:pPr>
            <a:r>
              <a:rPr lang="en-US" sz="1000" b="1" dirty="0">
                <a:solidFill>
                  <a:srgbClr val="9A6A2A"/>
                </a:solidFill>
                <a:latin typeface="Calibri" pitchFamily="34" charset="0"/>
                <a:ea typeface="Calibri" pitchFamily="34" charset="-122"/>
                <a:cs typeface="Calibri" pitchFamily="34" charset="-120"/>
              </a:rPr>
              <a:t>Empty follicle</a:t>
            </a:r>
            <a:endParaRPr lang="en-US" sz="1000" dirty="0"/>
          </a:p>
          <a:p>
            <a:pPr algn="ctr" indent="0" marL="0">
              <a:buNone/>
            </a:pPr>
            <a:r>
              <a:rPr lang="en-US" sz="1000" dirty="0">
                <a:solidFill>
                  <a:srgbClr val="9A6A2A"/>
                </a:solidFill>
                <a:latin typeface="Calibri" pitchFamily="34" charset="0"/>
                <a:ea typeface="Calibri" pitchFamily="34" charset="-122"/>
                <a:cs typeface="Calibri" pitchFamily="34" charset="-120"/>
              </a:rPr>
              <a:t>(after ovulation)</a:t>
            </a:r>
            <a:endParaRPr lang="en-US" sz="1000" dirty="0"/>
          </a:p>
        </p:txBody>
      </p:sp>
      <p:sp>
        <p:nvSpPr>
          <p:cNvPr id="21" name="Shape 19"/>
          <p:cNvSpPr/>
          <p:nvPr/>
        </p:nvSpPr>
        <p:spPr>
          <a:xfrm>
            <a:off x="2148840" y="4709160"/>
            <a:ext cx="2103120" cy="548640"/>
          </a:xfrm>
          <a:prstGeom prst="roundRect">
            <a:avLst>
              <a:gd name="adj" fmla="val 10000"/>
            </a:avLst>
          </a:prstGeom>
          <a:solidFill>
            <a:srgbClr val="FBE3E5"/>
          </a:solidFill>
          <a:ln w="15875">
            <a:solidFill>
              <a:srgbClr val="C8414C"/>
            </a:solidFill>
            <a:prstDash val="solid"/>
          </a:ln>
        </p:spPr>
      </p:sp>
      <p:sp>
        <p:nvSpPr>
          <p:cNvPr id="22" name="Text 20"/>
          <p:cNvSpPr/>
          <p:nvPr/>
        </p:nvSpPr>
        <p:spPr>
          <a:xfrm>
            <a:off x="2203704" y="4709160"/>
            <a:ext cx="1993392" cy="548640"/>
          </a:xfrm>
          <a:prstGeom prst="rect">
            <a:avLst/>
          </a:prstGeom>
          <a:noFill/>
          <a:ln/>
        </p:spPr>
        <p:txBody>
          <a:bodyPr wrap="square" lIns="0" tIns="0" rIns="0" bIns="0" rtlCol="0" anchor="ctr"/>
          <a:lstStyle/>
          <a:p>
            <a:pPr algn="ctr" indent="0" marL="0">
              <a:buNone/>
            </a:pPr>
            <a:r>
              <a:rPr lang="en-US" sz="1100" b="1" dirty="0">
                <a:solidFill>
                  <a:srgbClr val="8E2A33"/>
                </a:solidFill>
                <a:latin typeface="Calibri" pitchFamily="34" charset="0"/>
                <a:ea typeface="Calibri" pitchFamily="34" charset="-122"/>
                <a:cs typeface="Calibri" pitchFamily="34" charset="-120"/>
              </a:rPr>
              <a:t>Uterus lining</a:t>
            </a:r>
            <a:endParaRPr lang="en-US" sz="1100" dirty="0"/>
          </a:p>
        </p:txBody>
      </p:sp>
      <p:sp>
        <p:nvSpPr>
          <p:cNvPr id="23" name="Shape 21"/>
          <p:cNvSpPr/>
          <p:nvPr/>
        </p:nvSpPr>
        <p:spPr>
          <a:xfrm flipH="1">
            <a:off x="1143000" y="1920240"/>
            <a:ext cx="1188720" cy="1325880"/>
          </a:xfrm>
          <a:prstGeom prst="line">
            <a:avLst/>
          </a:prstGeom>
          <a:noFill/>
          <a:ln w="31750">
            <a:solidFill>
              <a:srgbClr val="2F6DB5"/>
            </a:solidFill>
            <a:prstDash val="solid"/>
            <a:tailEnd type="triangle"/>
          </a:ln>
        </p:spPr>
      </p:sp>
      <p:sp>
        <p:nvSpPr>
          <p:cNvPr id="24" name="Shape 22"/>
          <p:cNvSpPr/>
          <p:nvPr/>
        </p:nvSpPr>
        <p:spPr>
          <a:xfrm>
            <a:off x="960120" y="2322576"/>
            <a:ext cx="914400" cy="384048"/>
          </a:xfrm>
          <a:prstGeom prst="roundRect">
            <a:avLst>
              <a:gd name="adj" fmla="val 11905"/>
            </a:avLst>
          </a:prstGeom>
          <a:solidFill>
            <a:srgbClr val="FFFFFF"/>
          </a:solidFill>
          <a:ln w="12700">
            <a:solidFill>
              <a:srgbClr val="1F4E8C"/>
            </a:solidFill>
            <a:prstDash val="solid"/>
          </a:ln>
        </p:spPr>
      </p:sp>
      <p:sp>
        <p:nvSpPr>
          <p:cNvPr id="25" name="Text 23"/>
          <p:cNvSpPr/>
          <p:nvPr/>
        </p:nvSpPr>
        <p:spPr>
          <a:xfrm>
            <a:off x="987552" y="2322576"/>
            <a:ext cx="859536" cy="384048"/>
          </a:xfrm>
          <a:prstGeom prst="rect">
            <a:avLst/>
          </a:prstGeom>
          <a:noFill/>
          <a:ln/>
        </p:spPr>
        <p:txBody>
          <a:bodyPr wrap="square" lIns="0" tIns="0" rIns="0" bIns="0" rtlCol="0" anchor="ctr"/>
          <a:lstStyle/>
          <a:p>
            <a:pPr algn="ctr" indent="0" marL="0">
              <a:buNone/>
            </a:pPr>
            <a:r>
              <a:rPr lang="en-US" sz="1000" b="1" dirty="0">
                <a:solidFill>
                  <a:srgbClr val="1F4E8C"/>
                </a:solidFill>
                <a:latin typeface="Calibri" pitchFamily="34" charset="0"/>
                <a:ea typeface="Calibri" pitchFamily="34" charset="-122"/>
                <a:cs typeface="Calibri" pitchFamily="34" charset="-120"/>
              </a:rPr>
              <a:t>FSH</a:t>
            </a:r>
            <a:r>
              <a:rPr lang="en-US" sz="1000" dirty="0">
                <a:solidFill>
                  <a:srgbClr val="1F4E8C"/>
                </a:solidFill>
                <a:latin typeface="Calibri" pitchFamily="34" charset="0"/>
                <a:ea typeface="Calibri" pitchFamily="34" charset="-122"/>
                <a:cs typeface="Calibri" pitchFamily="34" charset="-120"/>
              </a:rPr>
              <a:t> +</a:t>
            </a:r>
            <a:endParaRPr lang="en-US" sz="1000" dirty="0"/>
          </a:p>
          <a:p>
            <a:pPr algn="ctr" indent="0" marL="0">
              <a:buNone/>
            </a:pPr>
            <a:r>
              <a:rPr lang="en-US" sz="1000" dirty="0">
                <a:solidFill>
                  <a:srgbClr val="1F4E8C"/>
                </a:solidFill>
                <a:latin typeface="Calibri" pitchFamily="34" charset="0"/>
                <a:ea typeface="Calibri" pitchFamily="34" charset="-122"/>
                <a:cs typeface="Calibri" pitchFamily="34" charset="-120"/>
              </a:rPr>
              <a:t>egg matures</a:t>
            </a:r>
            <a:endParaRPr lang="en-US" sz="1000" dirty="0"/>
          </a:p>
        </p:txBody>
      </p:sp>
      <p:sp>
        <p:nvSpPr>
          <p:cNvPr id="26" name="Shape 24"/>
          <p:cNvSpPr/>
          <p:nvPr/>
        </p:nvSpPr>
        <p:spPr>
          <a:xfrm flipV="1">
            <a:off x="2194560" y="1920240"/>
            <a:ext cx="594360" cy="1325880"/>
          </a:xfrm>
          <a:prstGeom prst="line">
            <a:avLst/>
          </a:prstGeom>
          <a:noFill/>
          <a:ln w="31750">
            <a:solidFill>
              <a:srgbClr val="D4568F"/>
            </a:solidFill>
            <a:prstDash val="solid"/>
            <a:tailEnd type="triangle"/>
          </a:ln>
        </p:spPr>
      </p:sp>
      <p:sp>
        <p:nvSpPr>
          <p:cNvPr id="27" name="Shape 25"/>
          <p:cNvSpPr/>
          <p:nvPr/>
        </p:nvSpPr>
        <p:spPr>
          <a:xfrm>
            <a:off x="2217420" y="2551176"/>
            <a:ext cx="1051560" cy="384048"/>
          </a:xfrm>
          <a:prstGeom prst="roundRect">
            <a:avLst>
              <a:gd name="adj" fmla="val 11905"/>
            </a:avLst>
          </a:prstGeom>
          <a:solidFill>
            <a:srgbClr val="FFFFFF"/>
          </a:solidFill>
          <a:ln w="12700">
            <a:solidFill>
              <a:srgbClr val="8E3466"/>
            </a:solidFill>
            <a:prstDash val="solid"/>
          </a:ln>
        </p:spPr>
      </p:sp>
      <p:sp>
        <p:nvSpPr>
          <p:cNvPr id="28" name="Text 26"/>
          <p:cNvSpPr/>
          <p:nvPr/>
        </p:nvSpPr>
        <p:spPr>
          <a:xfrm>
            <a:off x="2244852" y="2551176"/>
            <a:ext cx="996696" cy="384048"/>
          </a:xfrm>
          <a:prstGeom prst="rect">
            <a:avLst/>
          </a:prstGeom>
          <a:noFill/>
          <a:ln/>
        </p:spPr>
        <p:txBody>
          <a:bodyPr wrap="square" lIns="0" tIns="0" rIns="0" bIns="0" rtlCol="0" anchor="ctr"/>
          <a:lstStyle/>
          <a:p>
            <a:pPr algn="ctr" indent="0" marL="0">
              <a:buNone/>
            </a:pPr>
            <a:r>
              <a:rPr lang="en-US" sz="1000" b="1" dirty="0">
                <a:solidFill>
                  <a:srgbClr val="8E3466"/>
                </a:solidFill>
                <a:latin typeface="Calibri" pitchFamily="34" charset="0"/>
                <a:ea typeface="Calibri" pitchFamily="34" charset="-122"/>
                <a:cs typeface="Calibri" pitchFamily="34" charset="-120"/>
              </a:rPr>
              <a:t>oestrogen</a:t>
            </a:r>
            <a:endParaRPr lang="en-US" sz="1000" dirty="0"/>
          </a:p>
          <a:p>
            <a:pPr algn="ctr" indent="0" marL="0">
              <a:buNone/>
            </a:pPr>
            <a:r>
              <a:rPr lang="en-US" sz="1000" dirty="0">
                <a:solidFill>
                  <a:srgbClr val="8E3466"/>
                </a:solidFill>
                <a:latin typeface="Calibri" pitchFamily="34" charset="0"/>
                <a:ea typeface="Calibri" pitchFamily="34" charset="-122"/>
                <a:cs typeface="Calibri" pitchFamily="34" charset="-120"/>
              </a:rPr>
              <a:t>− FSH  + LH</a:t>
            </a:r>
            <a:endParaRPr lang="en-US" sz="1000" dirty="0"/>
          </a:p>
        </p:txBody>
      </p:sp>
      <p:sp>
        <p:nvSpPr>
          <p:cNvPr id="29" name="Shape 27"/>
          <p:cNvSpPr/>
          <p:nvPr/>
        </p:nvSpPr>
        <p:spPr>
          <a:xfrm>
            <a:off x="3611880" y="1920240"/>
            <a:ext cx="731520" cy="1325880"/>
          </a:xfrm>
          <a:prstGeom prst="line">
            <a:avLst/>
          </a:prstGeom>
          <a:noFill/>
          <a:ln w="31750">
            <a:solidFill>
              <a:srgbClr val="7B3FA0"/>
            </a:solidFill>
            <a:prstDash val="solid"/>
            <a:tailEnd type="triangle"/>
          </a:ln>
        </p:spPr>
      </p:sp>
      <p:sp>
        <p:nvSpPr>
          <p:cNvPr id="30" name="Shape 28"/>
          <p:cNvSpPr/>
          <p:nvPr/>
        </p:nvSpPr>
        <p:spPr>
          <a:xfrm>
            <a:off x="3451860" y="2203704"/>
            <a:ext cx="868680" cy="384048"/>
          </a:xfrm>
          <a:prstGeom prst="roundRect">
            <a:avLst>
              <a:gd name="adj" fmla="val 11905"/>
            </a:avLst>
          </a:prstGeom>
          <a:solidFill>
            <a:srgbClr val="FFFFFF"/>
          </a:solidFill>
          <a:ln w="12700">
            <a:solidFill>
              <a:srgbClr val="5E2D73"/>
            </a:solidFill>
            <a:prstDash val="solid"/>
          </a:ln>
        </p:spPr>
      </p:sp>
      <p:sp>
        <p:nvSpPr>
          <p:cNvPr id="31" name="Text 29"/>
          <p:cNvSpPr/>
          <p:nvPr/>
        </p:nvSpPr>
        <p:spPr>
          <a:xfrm>
            <a:off x="3479292" y="2203704"/>
            <a:ext cx="813816" cy="384048"/>
          </a:xfrm>
          <a:prstGeom prst="rect">
            <a:avLst/>
          </a:prstGeom>
          <a:noFill/>
          <a:ln/>
        </p:spPr>
        <p:txBody>
          <a:bodyPr wrap="square" lIns="0" tIns="0" rIns="0" bIns="0" rtlCol="0" anchor="ctr"/>
          <a:lstStyle/>
          <a:p>
            <a:pPr algn="ctr" indent="0" marL="0">
              <a:buNone/>
            </a:pPr>
            <a:r>
              <a:rPr lang="en-US" sz="1000" b="1" dirty="0">
                <a:solidFill>
                  <a:srgbClr val="5E2D73"/>
                </a:solidFill>
                <a:latin typeface="Calibri" pitchFamily="34" charset="0"/>
                <a:ea typeface="Calibri" pitchFamily="34" charset="-122"/>
                <a:cs typeface="Calibri" pitchFamily="34" charset="-120"/>
              </a:rPr>
              <a:t>LH</a:t>
            </a:r>
            <a:r>
              <a:rPr lang="en-US" sz="1000" dirty="0">
                <a:solidFill>
                  <a:srgbClr val="5E2D73"/>
                </a:solidFill>
                <a:latin typeface="Calibri" pitchFamily="34" charset="0"/>
                <a:ea typeface="Calibri" pitchFamily="34" charset="-122"/>
                <a:cs typeface="Calibri" pitchFamily="34" charset="-120"/>
              </a:rPr>
              <a:t> +</a:t>
            </a:r>
            <a:endParaRPr lang="en-US" sz="1000" dirty="0"/>
          </a:p>
          <a:p>
            <a:pPr algn="ctr" indent="0" marL="0">
              <a:buNone/>
            </a:pPr>
            <a:r>
              <a:rPr lang="en-US" sz="1000" dirty="0">
                <a:solidFill>
                  <a:srgbClr val="5E2D73"/>
                </a:solidFill>
                <a:latin typeface="Calibri" pitchFamily="34" charset="0"/>
                <a:ea typeface="Calibri" pitchFamily="34" charset="-122"/>
                <a:cs typeface="Calibri" pitchFamily="34" charset="-120"/>
              </a:rPr>
              <a:t>ovulation</a:t>
            </a:r>
            <a:endParaRPr lang="en-US" sz="1000" dirty="0"/>
          </a:p>
        </p:txBody>
      </p:sp>
      <p:sp>
        <p:nvSpPr>
          <p:cNvPr id="32" name="Shape 30"/>
          <p:cNvSpPr/>
          <p:nvPr/>
        </p:nvSpPr>
        <p:spPr>
          <a:xfrm flipH="1" flipV="1">
            <a:off x="4160520" y="2029968"/>
            <a:ext cx="1097280" cy="1216152"/>
          </a:xfrm>
          <a:prstGeom prst="line">
            <a:avLst/>
          </a:prstGeom>
          <a:noFill/>
          <a:ln w="31750">
            <a:solidFill>
              <a:srgbClr val="D98A1E"/>
            </a:solidFill>
            <a:prstDash val="dash"/>
          </a:ln>
        </p:spPr>
      </p:sp>
      <p:sp>
        <p:nvSpPr>
          <p:cNvPr id="33" name="Shape 31"/>
          <p:cNvSpPr/>
          <p:nvPr/>
        </p:nvSpPr>
        <p:spPr>
          <a:xfrm flipV="1">
            <a:off x="4072262" y="1950337"/>
            <a:ext cx="176516" cy="159262"/>
          </a:xfrm>
          <a:prstGeom prst="line">
            <a:avLst/>
          </a:prstGeom>
          <a:noFill/>
          <a:ln w="38100">
            <a:solidFill>
              <a:srgbClr val="D98A1E"/>
            </a:solidFill>
            <a:prstDash val="solid"/>
          </a:ln>
        </p:spPr>
      </p:sp>
      <p:sp>
        <p:nvSpPr>
          <p:cNvPr id="34" name="Shape 32"/>
          <p:cNvSpPr/>
          <p:nvPr/>
        </p:nvSpPr>
        <p:spPr>
          <a:xfrm>
            <a:off x="4594860" y="2322576"/>
            <a:ext cx="1143000" cy="384048"/>
          </a:xfrm>
          <a:prstGeom prst="roundRect">
            <a:avLst>
              <a:gd name="adj" fmla="val 11905"/>
            </a:avLst>
          </a:prstGeom>
          <a:solidFill>
            <a:srgbClr val="FFFFFF"/>
          </a:solidFill>
          <a:ln w="12700">
            <a:solidFill>
              <a:srgbClr val="8A560A"/>
            </a:solidFill>
            <a:prstDash val="solid"/>
          </a:ln>
        </p:spPr>
      </p:sp>
      <p:sp>
        <p:nvSpPr>
          <p:cNvPr id="35" name="Text 33"/>
          <p:cNvSpPr/>
          <p:nvPr/>
        </p:nvSpPr>
        <p:spPr>
          <a:xfrm>
            <a:off x="4622292" y="2322576"/>
            <a:ext cx="1088136" cy="384048"/>
          </a:xfrm>
          <a:prstGeom prst="rect">
            <a:avLst/>
          </a:prstGeom>
          <a:noFill/>
          <a:ln/>
        </p:spPr>
        <p:txBody>
          <a:bodyPr wrap="square" lIns="0" tIns="0" rIns="0" bIns="0" rtlCol="0" anchor="ctr"/>
          <a:lstStyle/>
          <a:p>
            <a:pPr algn="ctr" indent="0" marL="0">
              <a:buNone/>
            </a:pPr>
            <a:r>
              <a:rPr lang="en-US" sz="1000" b="1" dirty="0">
                <a:solidFill>
                  <a:srgbClr val="8A560A"/>
                </a:solidFill>
                <a:latin typeface="Calibri" pitchFamily="34" charset="0"/>
                <a:ea typeface="Calibri" pitchFamily="34" charset="-122"/>
                <a:cs typeface="Calibri" pitchFamily="34" charset="-120"/>
              </a:rPr>
              <a:t>progesterone</a:t>
            </a:r>
            <a:endParaRPr lang="en-US" sz="1000" dirty="0"/>
          </a:p>
          <a:p>
            <a:pPr algn="ctr" indent="0" marL="0">
              <a:buNone/>
            </a:pPr>
            <a:r>
              <a:rPr lang="en-US" sz="1000" dirty="0">
                <a:solidFill>
                  <a:srgbClr val="8A560A"/>
                </a:solidFill>
                <a:latin typeface="Calibri" pitchFamily="34" charset="0"/>
                <a:ea typeface="Calibri" pitchFamily="34" charset="-122"/>
                <a:cs typeface="Calibri" pitchFamily="34" charset="-120"/>
              </a:rPr>
              <a:t>− FSH and LH</a:t>
            </a:r>
            <a:endParaRPr lang="en-US" sz="1000" dirty="0"/>
          </a:p>
        </p:txBody>
      </p:sp>
      <p:sp>
        <p:nvSpPr>
          <p:cNvPr id="36" name="Shape 34"/>
          <p:cNvSpPr/>
          <p:nvPr/>
        </p:nvSpPr>
        <p:spPr>
          <a:xfrm>
            <a:off x="2578608" y="3675888"/>
            <a:ext cx="1243584" cy="91"/>
          </a:xfrm>
          <a:prstGeom prst="line">
            <a:avLst/>
          </a:prstGeom>
          <a:noFill/>
          <a:ln w="25400">
            <a:solidFill>
              <a:srgbClr val="9A6A2A"/>
            </a:solidFill>
            <a:prstDash val="solid"/>
            <a:tailEnd type="triangle"/>
          </a:ln>
        </p:spPr>
      </p:sp>
      <p:sp>
        <p:nvSpPr>
          <p:cNvPr id="37" name="Text 35"/>
          <p:cNvSpPr/>
          <p:nvPr/>
        </p:nvSpPr>
        <p:spPr>
          <a:xfrm>
            <a:off x="2606040" y="3730752"/>
            <a:ext cx="1188720" cy="256032"/>
          </a:xfrm>
          <a:prstGeom prst="rect">
            <a:avLst/>
          </a:prstGeom>
          <a:noFill/>
          <a:ln/>
        </p:spPr>
        <p:txBody>
          <a:bodyPr wrap="square" lIns="0" tIns="0" rIns="0" bIns="0" rtlCol="0" anchor="ctr"/>
          <a:lstStyle/>
          <a:p>
            <a:pPr algn="ctr" indent="0" marL="0">
              <a:buNone/>
            </a:pPr>
            <a:r>
              <a:rPr lang="en-US" sz="1000" i="1" dirty="0">
                <a:solidFill>
                  <a:srgbClr val="9A6A2A"/>
                </a:solidFill>
                <a:latin typeface="Calibri" pitchFamily="34" charset="0"/>
                <a:ea typeface="Calibri" pitchFamily="34" charset="-122"/>
                <a:cs typeface="Calibri" pitchFamily="34" charset="-120"/>
              </a:rPr>
              <a:t>egg released</a:t>
            </a:r>
            <a:endParaRPr lang="en-US" sz="1000" dirty="0"/>
          </a:p>
        </p:txBody>
      </p:sp>
      <p:sp>
        <p:nvSpPr>
          <p:cNvPr id="38" name="Shape 36"/>
          <p:cNvSpPr/>
          <p:nvPr/>
        </p:nvSpPr>
        <p:spPr>
          <a:xfrm>
            <a:off x="1554480" y="4114800"/>
            <a:ext cx="685800" cy="594360"/>
          </a:xfrm>
          <a:prstGeom prst="line">
            <a:avLst/>
          </a:prstGeom>
          <a:noFill/>
          <a:ln w="25400">
            <a:solidFill>
              <a:srgbClr val="D4568F"/>
            </a:solidFill>
            <a:prstDash val="solid"/>
            <a:tailEnd type="triangle"/>
          </a:ln>
        </p:spPr>
      </p:sp>
      <p:sp>
        <p:nvSpPr>
          <p:cNvPr id="39" name="Text 37"/>
          <p:cNvSpPr/>
          <p:nvPr/>
        </p:nvSpPr>
        <p:spPr>
          <a:xfrm>
            <a:off x="502920" y="4434840"/>
            <a:ext cx="1371600" cy="256032"/>
          </a:xfrm>
          <a:prstGeom prst="rect">
            <a:avLst/>
          </a:prstGeom>
          <a:noFill/>
          <a:ln/>
        </p:spPr>
        <p:txBody>
          <a:bodyPr wrap="square" lIns="0" tIns="0" rIns="0" bIns="0" rtlCol="0" anchor="ctr"/>
          <a:lstStyle/>
          <a:p>
            <a:pPr algn="l" indent="0" marL="0">
              <a:buNone/>
            </a:pPr>
            <a:r>
              <a:rPr lang="en-US" sz="1000" b="1" dirty="0">
                <a:solidFill>
                  <a:srgbClr val="8E3466"/>
                </a:solidFill>
                <a:latin typeface="Calibri" pitchFamily="34" charset="0"/>
                <a:ea typeface="Calibri" pitchFamily="34" charset="-122"/>
                <a:cs typeface="Calibri" pitchFamily="34" charset="-120"/>
              </a:rPr>
              <a:t>oestrogen</a:t>
            </a:r>
            <a:r>
              <a:rPr lang="en-US" sz="1000" dirty="0">
                <a:solidFill>
                  <a:srgbClr val="8E3466"/>
                </a:solidFill>
                <a:latin typeface="Calibri" pitchFamily="34" charset="0"/>
                <a:ea typeface="Calibri" pitchFamily="34" charset="-122"/>
                <a:cs typeface="Calibri" pitchFamily="34" charset="-120"/>
              </a:rPr>
              <a:t>: builds</a:t>
            </a:r>
            <a:endParaRPr lang="en-US" sz="1000" dirty="0"/>
          </a:p>
        </p:txBody>
      </p:sp>
      <p:sp>
        <p:nvSpPr>
          <p:cNvPr id="40" name="Shape 38"/>
          <p:cNvSpPr/>
          <p:nvPr/>
        </p:nvSpPr>
        <p:spPr>
          <a:xfrm flipH="1">
            <a:off x="4160520" y="4114800"/>
            <a:ext cx="640080" cy="594360"/>
          </a:xfrm>
          <a:prstGeom prst="line">
            <a:avLst/>
          </a:prstGeom>
          <a:noFill/>
          <a:ln w="25400">
            <a:solidFill>
              <a:srgbClr val="D98A1E"/>
            </a:solidFill>
            <a:prstDash val="solid"/>
            <a:tailEnd type="triangle"/>
          </a:ln>
        </p:spPr>
      </p:sp>
      <p:sp>
        <p:nvSpPr>
          <p:cNvPr id="41" name="Text 39"/>
          <p:cNvSpPr/>
          <p:nvPr/>
        </p:nvSpPr>
        <p:spPr>
          <a:xfrm>
            <a:off x="4480560" y="4434840"/>
            <a:ext cx="1417320" cy="256032"/>
          </a:xfrm>
          <a:prstGeom prst="rect">
            <a:avLst/>
          </a:prstGeom>
          <a:noFill/>
          <a:ln/>
        </p:spPr>
        <p:txBody>
          <a:bodyPr wrap="square" lIns="0" tIns="0" rIns="0" bIns="0" rtlCol="0" anchor="ctr"/>
          <a:lstStyle/>
          <a:p>
            <a:pPr algn="r" indent="0" marL="0">
              <a:buNone/>
            </a:pPr>
            <a:r>
              <a:rPr lang="en-US" sz="1000" b="1" dirty="0">
                <a:solidFill>
                  <a:srgbClr val="8A560A"/>
                </a:solidFill>
                <a:latin typeface="Calibri" pitchFamily="34" charset="0"/>
                <a:ea typeface="Calibri" pitchFamily="34" charset="-122"/>
                <a:cs typeface="Calibri" pitchFamily="34" charset="-120"/>
              </a:rPr>
              <a:t>progesterone</a:t>
            </a:r>
            <a:r>
              <a:rPr lang="en-US" sz="1000" dirty="0">
                <a:solidFill>
                  <a:srgbClr val="8A560A"/>
                </a:solidFill>
                <a:latin typeface="Calibri" pitchFamily="34" charset="0"/>
                <a:ea typeface="Calibri" pitchFamily="34" charset="-122"/>
                <a:cs typeface="Calibri" pitchFamily="34" charset="-120"/>
              </a:rPr>
              <a:t>: maintains</a:t>
            </a:r>
            <a:endParaRPr lang="en-US" sz="1000" dirty="0"/>
          </a:p>
        </p:txBody>
      </p:sp>
      <p:sp>
        <p:nvSpPr>
          <p:cNvPr id="42" name="Shape 40"/>
          <p:cNvSpPr/>
          <p:nvPr/>
        </p:nvSpPr>
        <p:spPr>
          <a:xfrm>
            <a:off x="6217920" y="1188720"/>
            <a:ext cx="5562295" cy="2606040"/>
          </a:xfrm>
          <a:prstGeom prst="roundRect">
            <a:avLst>
              <a:gd name="adj" fmla="val 2105"/>
            </a:avLst>
          </a:prstGeom>
          <a:solidFill>
            <a:srgbClr val="F4FAF9"/>
          </a:solidFill>
          <a:ln w="9525">
            <a:solidFill>
              <a:srgbClr val="CFE0DE"/>
            </a:solidFill>
            <a:prstDash val="solid"/>
          </a:ln>
        </p:spPr>
      </p:sp>
      <p:sp>
        <p:nvSpPr>
          <p:cNvPr id="43" name="Text 41"/>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The sequence of control</a:t>
            </a:r>
            <a:endParaRPr lang="en-US" sz="1300" dirty="0"/>
          </a:p>
        </p:txBody>
      </p:sp>
      <p:sp>
        <p:nvSpPr>
          <p:cNvPr id="44" name="Text 42"/>
          <p:cNvSpPr/>
          <p:nvPr/>
        </p:nvSpPr>
        <p:spPr>
          <a:xfrm>
            <a:off x="6382512" y="1609344"/>
            <a:ext cx="5233111" cy="211226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Pituitary releases </a:t>
            </a:r>
            <a:r>
              <a:rPr lang="en-US" sz="1050" b="1" dirty="0">
                <a:solidFill>
                  <a:srgbClr val="262B3A"/>
                </a:solidFill>
                <a:latin typeface="Calibri" pitchFamily="34" charset="0"/>
                <a:ea typeface="Calibri" pitchFamily="34" charset="-122"/>
                <a:cs typeface="Calibri" pitchFamily="34" charset="-120"/>
              </a:rPr>
              <a:t>FSH</a:t>
            </a:r>
            <a:r>
              <a:rPr lang="en-US" sz="1050" dirty="0">
                <a:solidFill>
                  <a:srgbClr val="262B3A"/>
                </a:solidFill>
                <a:latin typeface="Calibri" pitchFamily="34" charset="0"/>
                <a:ea typeface="Calibri" pitchFamily="34" charset="-122"/>
                <a:cs typeface="Calibri" pitchFamily="34" charset="-120"/>
              </a:rPr>
              <a:t> → a follicle and egg </a:t>
            </a:r>
            <a:r>
              <a:rPr lang="en-US" sz="1050" b="1" dirty="0">
                <a:solidFill>
                  <a:srgbClr val="262B3A"/>
                </a:solidFill>
                <a:latin typeface="Calibri" pitchFamily="34" charset="0"/>
                <a:ea typeface="Calibri" pitchFamily="34" charset="-122"/>
                <a:cs typeface="Calibri" pitchFamily="34" charset="-120"/>
              </a:rPr>
              <a:t>mature</a:t>
            </a:r>
            <a:r>
              <a:rPr lang="en-US" sz="1050" dirty="0">
                <a:solidFill>
                  <a:srgbClr val="262B3A"/>
                </a:solidFill>
                <a:latin typeface="Calibri" pitchFamily="34" charset="0"/>
                <a:ea typeface="Calibri" pitchFamily="34" charset="-122"/>
                <a:cs typeface="Calibri" pitchFamily="34" charset="-120"/>
              </a:rPr>
              <a:t>; the follicle makes </a:t>
            </a:r>
            <a:r>
              <a:rPr lang="en-US" sz="1050" b="1" dirty="0">
                <a:solidFill>
                  <a:srgbClr val="262B3A"/>
                </a:solidFill>
                <a:latin typeface="Calibri" pitchFamily="34" charset="0"/>
                <a:ea typeface="Calibri" pitchFamily="34" charset="-122"/>
                <a:cs typeface="Calibri" pitchFamily="34" charset="-120"/>
              </a:rPr>
              <a:t>oestrogen</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Rising </a:t>
            </a:r>
            <a:r>
              <a:rPr lang="en-US" sz="1050" b="1" dirty="0">
                <a:solidFill>
                  <a:srgbClr val="262B3A"/>
                </a:solidFill>
                <a:latin typeface="Calibri" pitchFamily="34" charset="0"/>
                <a:ea typeface="Calibri" pitchFamily="34" charset="-122"/>
                <a:cs typeface="Calibri" pitchFamily="34" charset="-120"/>
              </a:rPr>
              <a:t>oestrogen</a:t>
            </a:r>
            <a:r>
              <a:rPr lang="en-US" sz="1050" dirty="0">
                <a:solidFill>
                  <a:srgbClr val="262B3A"/>
                </a:solidFill>
                <a:latin typeface="Calibri" pitchFamily="34" charset="0"/>
                <a:ea typeface="Calibri" pitchFamily="34" charset="-122"/>
                <a:cs typeface="Calibri" pitchFamily="34" charset="-120"/>
              </a:rPr>
              <a:t> </a:t>
            </a:r>
            <a:r>
              <a:rPr lang="en-US" sz="1050" b="1" dirty="0">
                <a:solidFill>
                  <a:srgbClr val="262B3A"/>
                </a:solidFill>
                <a:latin typeface="Calibri" pitchFamily="34" charset="0"/>
                <a:ea typeface="Calibri" pitchFamily="34" charset="-122"/>
                <a:cs typeface="Calibri" pitchFamily="34" charset="-120"/>
              </a:rPr>
              <a:t>inhibits FSH</a:t>
            </a:r>
            <a:r>
              <a:rPr lang="en-US" sz="1050" dirty="0">
                <a:solidFill>
                  <a:srgbClr val="262B3A"/>
                </a:solidFill>
                <a:latin typeface="Calibri" pitchFamily="34" charset="0"/>
                <a:ea typeface="Calibri" pitchFamily="34" charset="-122"/>
                <a:cs typeface="Calibri" pitchFamily="34" charset="-120"/>
              </a:rPr>
              <a:t> (so only one egg matures) and high oestrogen </a:t>
            </a:r>
            <a:r>
              <a:rPr lang="en-US" sz="1050" b="1" dirty="0">
                <a:solidFill>
                  <a:srgbClr val="262B3A"/>
                </a:solidFill>
                <a:latin typeface="Calibri" pitchFamily="34" charset="0"/>
                <a:ea typeface="Calibri" pitchFamily="34" charset="-122"/>
                <a:cs typeface="Calibri" pitchFamily="34" charset="-120"/>
              </a:rPr>
              <a:t>stimulates LH</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The </a:t>
            </a:r>
            <a:r>
              <a:rPr lang="en-US" sz="1050" b="1" dirty="0">
                <a:solidFill>
                  <a:srgbClr val="262B3A"/>
                </a:solidFill>
                <a:latin typeface="Calibri" pitchFamily="34" charset="0"/>
                <a:ea typeface="Calibri" pitchFamily="34" charset="-122"/>
                <a:cs typeface="Calibri" pitchFamily="34" charset="-120"/>
              </a:rPr>
              <a:t>LH surge</a:t>
            </a:r>
            <a:r>
              <a:rPr lang="en-US" sz="1050" dirty="0">
                <a:solidFill>
                  <a:srgbClr val="262B3A"/>
                </a:solidFill>
                <a:latin typeface="Calibri" pitchFamily="34" charset="0"/>
                <a:ea typeface="Calibri" pitchFamily="34" charset="-122"/>
                <a:cs typeface="Calibri" pitchFamily="34" charset="-120"/>
              </a:rPr>
              <a:t> causes </a:t>
            </a:r>
            <a:r>
              <a:rPr lang="en-US" sz="1050" b="1" dirty="0">
                <a:solidFill>
                  <a:srgbClr val="262B3A"/>
                </a:solidFill>
                <a:latin typeface="Calibri" pitchFamily="34" charset="0"/>
                <a:ea typeface="Calibri" pitchFamily="34" charset="-122"/>
                <a:cs typeface="Calibri" pitchFamily="34" charset="-120"/>
              </a:rPr>
              <a:t>ovulation</a:t>
            </a:r>
            <a:r>
              <a:rPr lang="en-US" sz="1050" dirty="0">
                <a:solidFill>
                  <a:srgbClr val="262B3A"/>
                </a:solidFill>
                <a:latin typeface="Calibri" pitchFamily="34" charset="0"/>
                <a:ea typeface="Calibri" pitchFamily="34" charset="-122"/>
                <a:cs typeface="Calibri" pitchFamily="34" charset="-120"/>
              </a:rPr>
              <a:t>; the empty follicle then makes </a:t>
            </a:r>
            <a:r>
              <a:rPr lang="en-US" sz="1050" b="1" dirty="0">
                <a:solidFill>
                  <a:srgbClr val="262B3A"/>
                </a:solidFill>
                <a:latin typeface="Calibri" pitchFamily="34" charset="0"/>
                <a:ea typeface="Calibri" pitchFamily="34" charset="-122"/>
                <a:cs typeface="Calibri" pitchFamily="34" charset="-120"/>
              </a:rPr>
              <a:t>progesterone</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Progesterone</a:t>
            </a:r>
            <a:r>
              <a:rPr lang="en-US" sz="1050" dirty="0">
                <a:solidFill>
                  <a:srgbClr val="262B3A"/>
                </a:solidFill>
                <a:latin typeface="Calibri" pitchFamily="34" charset="0"/>
                <a:ea typeface="Calibri" pitchFamily="34" charset="-122"/>
                <a:cs typeface="Calibri" pitchFamily="34" charset="-120"/>
              </a:rPr>
              <a:t> </a:t>
            </a:r>
            <a:r>
              <a:rPr lang="en-US" sz="1050" b="1" dirty="0">
                <a:solidFill>
                  <a:srgbClr val="262B3A"/>
                </a:solidFill>
                <a:latin typeface="Calibri" pitchFamily="34" charset="0"/>
                <a:ea typeface="Calibri" pitchFamily="34" charset="-122"/>
                <a:cs typeface="Calibri" pitchFamily="34" charset="-120"/>
              </a:rPr>
              <a:t>inhibits FSH and LH</a:t>
            </a:r>
            <a:r>
              <a:rPr lang="en-US" sz="1050" dirty="0">
                <a:solidFill>
                  <a:srgbClr val="262B3A"/>
                </a:solidFill>
                <a:latin typeface="Calibri" pitchFamily="34" charset="0"/>
                <a:ea typeface="Calibri" pitchFamily="34" charset="-122"/>
                <a:cs typeface="Calibri" pitchFamily="34" charset="-120"/>
              </a:rPr>
              <a:t>, so no more eggs mature, and it keeps the lining thick.</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No pregnancy: the empty follicle breaks down, progesterone falls, FSH is no longer inhibited and the cycle restarts.</a:t>
            </a:r>
            <a:endParaRPr lang="en-US" sz="1050" dirty="0"/>
          </a:p>
        </p:txBody>
      </p:sp>
      <p:sp>
        <p:nvSpPr>
          <p:cNvPr id="45" name="Shape 43"/>
          <p:cNvSpPr/>
          <p:nvPr/>
        </p:nvSpPr>
        <p:spPr>
          <a:xfrm>
            <a:off x="6217920" y="3931920"/>
            <a:ext cx="5562295" cy="1783080"/>
          </a:xfrm>
          <a:prstGeom prst="roundRect">
            <a:avLst>
              <a:gd name="adj" fmla="val 3077"/>
            </a:avLst>
          </a:prstGeom>
          <a:solidFill>
            <a:srgbClr val="FFF4E0"/>
          </a:solidFill>
          <a:ln w="9525">
            <a:solidFill>
              <a:srgbClr val="F1D9A8"/>
            </a:solidFill>
            <a:prstDash val="solid"/>
          </a:ln>
        </p:spPr>
      </p:sp>
      <p:sp>
        <p:nvSpPr>
          <p:cNvPr id="46" name="Text 44"/>
          <p:cNvSpPr/>
          <p:nvPr/>
        </p:nvSpPr>
        <p:spPr>
          <a:xfrm>
            <a:off x="6382512" y="400507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explain</a:t>
            </a:r>
            <a:endParaRPr lang="en-US" sz="1300" dirty="0"/>
          </a:p>
        </p:txBody>
      </p:sp>
      <p:sp>
        <p:nvSpPr>
          <p:cNvPr id="47" name="Text 45"/>
          <p:cNvSpPr/>
          <p:nvPr/>
        </p:nvSpPr>
        <p:spPr>
          <a:xfrm>
            <a:off x="6382512" y="4315968"/>
            <a:ext cx="5233111" cy="132588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Explain why only one egg is usually released in each cycle.</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FSH   </a:t>
            </a:r>
            <a:r>
              <a:rPr lang="en-US" sz="1050" dirty="0">
                <a:solidFill>
                  <a:srgbClr val="262B3A"/>
                </a:solidFill>
                <a:latin typeface="Calibri" pitchFamily="34" charset="0"/>
                <a:ea typeface="Calibri" pitchFamily="34" charset="-122"/>
                <a:cs typeface="Calibri" pitchFamily="34" charset="-120"/>
              </a:rPr>
              <a:t>FSH makes a follicle mature and release oestrogen</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Feedback   </a:t>
            </a:r>
            <a:r>
              <a:rPr lang="en-US" sz="1050" dirty="0">
                <a:solidFill>
                  <a:srgbClr val="262B3A"/>
                </a:solidFill>
                <a:latin typeface="Calibri" pitchFamily="34" charset="0"/>
                <a:ea typeface="Calibri" pitchFamily="34" charset="-122"/>
                <a:cs typeface="Calibri" pitchFamily="34" charset="-120"/>
              </a:rPr>
              <a:t>rising oestrogen inhibits FSH from the pituitary</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Then   </a:t>
            </a:r>
            <a:r>
              <a:rPr lang="en-US" sz="1050" dirty="0">
                <a:solidFill>
                  <a:srgbClr val="262B3A"/>
                </a:solidFill>
                <a:latin typeface="Calibri" pitchFamily="34" charset="0"/>
                <a:ea typeface="Calibri" pitchFamily="34" charset="-122"/>
                <a:cs typeface="Calibri" pitchFamily="34" charset="-120"/>
              </a:rPr>
              <a:t>after ovulation, progesterone also inhibits FSH and LH</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low FSH stops other follicles maturing</a:t>
            </a:r>
            <a:endParaRPr lang="en-US" sz="1050" dirty="0"/>
          </a:p>
        </p:txBody>
      </p:sp>
      <p:sp>
        <p:nvSpPr>
          <p:cNvPr id="48" name="Shape 46"/>
          <p:cNvSpPr/>
          <p:nvPr/>
        </p:nvSpPr>
        <p:spPr>
          <a:xfrm>
            <a:off x="411480" y="5833872"/>
            <a:ext cx="11368735" cy="530352"/>
          </a:xfrm>
          <a:prstGeom prst="rect">
            <a:avLst/>
          </a:prstGeom>
          <a:solidFill>
            <a:srgbClr val="FFF4E0"/>
          </a:solidFill>
          <a:ln w="6350">
            <a:solidFill>
              <a:srgbClr val="F1D9A8"/>
            </a:solidFill>
            <a:prstDash val="solid"/>
          </a:ln>
        </p:spPr>
      </p:sp>
      <p:sp>
        <p:nvSpPr>
          <p:cNvPr id="49" name="Shape 47"/>
          <p:cNvSpPr/>
          <p:nvPr/>
        </p:nvSpPr>
        <p:spPr>
          <a:xfrm>
            <a:off x="411480" y="5833872"/>
            <a:ext cx="82296" cy="530352"/>
          </a:xfrm>
          <a:prstGeom prst="rect">
            <a:avLst/>
          </a:prstGeom>
          <a:solidFill>
            <a:srgbClr val="E39A2F"/>
          </a:solidFill>
          <a:ln w="12700">
            <a:solidFill>
              <a:srgbClr val="E39A2F"/>
            </a:solidFill>
            <a:prstDash val="solid"/>
          </a:ln>
        </p:spPr>
      </p:sp>
      <p:sp>
        <p:nvSpPr>
          <p:cNvPr id="50" name="Text 4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Explain why the </a:t>
            </a:r>
            <a:r>
              <a:rPr lang="en-US" sz="1150" b="1" dirty="0">
                <a:solidFill>
                  <a:srgbClr val="262B3A"/>
                </a:solidFill>
                <a:latin typeface="Calibri" pitchFamily="34" charset="0"/>
                <a:ea typeface="Calibri" pitchFamily="34" charset="-122"/>
                <a:cs typeface="Calibri" pitchFamily="34" charset="-120"/>
              </a:rPr>
              <a:t>uterus lining breaks down</a:t>
            </a:r>
            <a:r>
              <a:rPr lang="en-US" sz="1150" dirty="0">
                <a:solidFill>
                  <a:srgbClr val="262B3A"/>
                </a:solidFill>
                <a:latin typeface="Calibri" pitchFamily="34" charset="0"/>
                <a:ea typeface="Calibri" pitchFamily="34" charset="-122"/>
                <a:cs typeface="Calibri" pitchFamily="34" charset="-120"/>
              </a:rPr>
              <a:t> at the end of the cycle if the egg is </a:t>
            </a:r>
            <a:r>
              <a:rPr lang="en-US" sz="1150" b="1" dirty="0">
                <a:solidFill>
                  <a:srgbClr val="262B3A"/>
                </a:solidFill>
                <a:latin typeface="Calibri" pitchFamily="34" charset="0"/>
                <a:ea typeface="Calibri" pitchFamily="34" charset="-122"/>
                <a:cs typeface="Calibri" pitchFamily="34" charset="-120"/>
              </a:rPr>
              <a:t>not fertilised</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2</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B5.5.1–B5.5.2 • the four hormones; graphs and interactions (HT)</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B5.5 What role do hormones play in human reproduction?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2  |  11</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gland that makes </a:t>
            </a:r>
            <a:r>
              <a:rPr lang="en-US" sz="1250" b="1" dirty="0">
                <a:solidFill>
                  <a:srgbClr val="262B3A"/>
                </a:solidFill>
                <a:latin typeface="Calibri" pitchFamily="34" charset="0"/>
                <a:ea typeface="Calibri" pitchFamily="34" charset="-122"/>
                <a:cs typeface="Calibri" pitchFamily="34" charset="-120"/>
              </a:rPr>
              <a:t>FSH</a:t>
            </a:r>
            <a:r>
              <a:rPr lang="en-US" sz="1250" dirty="0">
                <a:solidFill>
                  <a:srgbClr val="262B3A"/>
                </a:solidFill>
                <a:latin typeface="Calibri" pitchFamily="34" charset="0"/>
                <a:ea typeface="Calibri" pitchFamily="34" charset="-122"/>
                <a:cs typeface="Calibri" pitchFamily="34" charset="-120"/>
              </a:rPr>
              <a:t>, and state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effect of FSH on the ovary.</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State the role of </a:t>
            </a:r>
            <a:r>
              <a:rPr lang="en-US" sz="1250" b="1" dirty="0">
                <a:solidFill>
                  <a:srgbClr val="262B3A"/>
                </a:solidFill>
                <a:latin typeface="Calibri" pitchFamily="34" charset="0"/>
                <a:ea typeface="Calibri" pitchFamily="34" charset="-122"/>
                <a:cs typeface="Calibri" pitchFamily="34" charset="-120"/>
              </a:rPr>
              <a:t>progesterone</a:t>
            </a:r>
            <a:r>
              <a:rPr lang="en-US" sz="1250" dirty="0">
                <a:solidFill>
                  <a:srgbClr val="262B3A"/>
                </a:solidFill>
                <a:latin typeface="Calibri" pitchFamily="34" charset="0"/>
                <a:ea typeface="Calibri" pitchFamily="34" charset="-122"/>
                <a:cs typeface="Calibri" pitchFamily="34" charset="-120"/>
              </a:rPr>
              <a:t> in the menstrual cycle.</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Shape 19"/>
          <p:cNvSpPr/>
          <p:nvPr/>
        </p:nvSpPr>
        <p:spPr>
          <a:xfrm>
            <a:off x="2606040" y="3826764"/>
            <a:ext cx="411480" cy="274320"/>
          </a:xfrm>
          <a:prstGeom prst="roundRect">
            <a:avLst>
              <a:gd name="adj" fmla="val 50000"/>
            </a:avLst>
          </a:prstGeom>
          <a:solidFill>
            <a:srgbClr val="C8414C"/>
          </a:solidFill>
          <a:ln w="12700">
            <a:solidFill>
              <a:srgbClr val="C8414C"/>
            </a:solidFill>
            <a:prstDash val="solid"/>
          </a:ln>
        </p:spPr>
      </p:sp>
      <p:sp>
        <p:nvSpPr>
          <p:cNvPr id="22" name="Text 20"/>
          <p:cNvSpPr/>
          <p:nvPr/>
        </p:nvSpPr>
        <p:spPr>
          <a:xfrm>
            <a:off x="2606040" y="3826764"/>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3" name="Text 21"/>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how </a:t>
            </a:r>
            <a:r>
              <a:rPr lang="en-US" sz="1250" b="1" dirty="0">
                <a:solidFill>
                  <a:srgbClr val="262B3A"/>
                </a:solidFill>
                <a:latin typeface="Calibri" pitchFamily="34" charset="0"/>
                <a:ea typeface="Calibri" pitchFamily="34" charset="-122"/>
                <a:cs typeface="Calibri" pitchFamily="34" charset="-120"/>
              </a:rPr>
              <a:t>oestrogen</a:t>
            </a:r>
            <a:r>
              <a:rPr lang="en-US" sz="1250" dirty="0">
                <a:solidFill>
                  <a:srgbClr val="262B3A"/>
                </a:solidFill>
                <a:latin typeface="Calibri" pitchFamily="34" charset="0"/>
                <a:ea typeface="Calibri" pitchFamily="34" charset="-122"/>
                <a:cs typeface="Calibri" pitchFamily="34" charset="-120"/>
              </a:rPr>
              <a:t> affects the release of FSH and LH.</a:t>
            </a:r>
            <a:endParaRPr lang="en-US" sz="1250" dirty="0"/>
          </a:p>
        </p:txBody>
      </p:sp>
      <p:sp>
        <p:nvSpPr>
          <p:cNvPr id="24" name="Text 22"/>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5" name="Shape 23"/>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6" name="Shape 24"/>
          <p:cNvSpPr/>
          <p:nvPr/>
        </p:nvSpPr>
        <p:spPr>
          <a:xfrm>
            <a:off x="411480" y="5122926"/>
            <a:ext cx="2103120" cy="292608"/>
          </a:xfrm>
          <a:prstGeom prst="rect">
            <a:avLst/>
          </a:prstGeom>
          <a:solidFill>
            <a:srgbClr val="F5A742"/>
          </a:solidFill>
          <a:ln w="12700">
            <a:solidFill>
              <a:srgbClr val="F5A742"/>
            </a:solidFill>
            <a:prstDash val="solid"/>
          </a:ln>
        </p:spPr>
      </p:sp>
      <p:sp>
        <p:nvSpPr>
          <p:cNvPr id="27" name="Text 25"/>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8" name="Shape 26"/>
          <p:cNvSpPr/>
          <p:nvPr/>
        </p:nvSpPr>
        <p:spPr>
          <a:xfrm>
            <a:off x="2606040" y="5132070"/>
            <a:ext cx="411480" cy="274320"/>
          </a:xfrm>
          <a:prstGeom prst="roundRect">
            <a:avLst>
              <a:gd name="adj" fmla="val 50000"/>
            </a:avLst>
          </a:prstGeom>
          <a:solidFill>
            <a:srgbClr val="C8414C"/>
          </a:solidFill>
          <a:ln w="12700">
            <a:solidFill>
              <a:srgbClr val="C8414C"/>
            </a:solidFill>
            <a:prstDash val="solid"/>
          </a:ln>
        </p:spPr>
      </p:sp>
      <p:sp>
        <p:nvSpPr>
          <p:cNvPr id="29" name="Text 27"/>
          <p:cNvSpPr/>
          <p:nvPr/>
        </p:nvSpPr>
        <p:spPr>
          <a:xfrm>
            <a:off x="2606040" y="5132070"/>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30" name="Text 28"/>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Use the hormone graph to explain why ovulation happens at about day 14 and why the lining is shed after day 28.</a:t>
            </a:r>
            <a:endParaRPr lang="en-US" sz="1250" dirty="0"/>
          </a:p>
        </p:txBody>
      </p:sp>
      <p:sp>
        <p:nvSpPr>
          <p:cNvPr id="31" name="Text 29"/>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Hormonal contraception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B5.5.3 • extra oestrogen and progesterone switch off FSH and LH</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B5.5 What role do hormones play in human reproduction?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B5.5.3  |  12</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how the combined pill works; other hormonal methods in the bottom row</a:t>
            </a:r>
            <a:endParaRPr lang="en-US" sz="1000" dirty="0"/>
          </a:p>
        </p:txBody>
      </p:sp>
      <p:sp>
        <p:nvSpPr>
          <p:cNvPr id="10" name="Shape 8"/>
          <p:cNvSpPr/>
          <p:nvPr/>
        </p:nvSpPr>
        <p:spPr>
          <a:xfrm>
            <a:off x="640080" y="1371600"/>
            <a:ext cx="1463040" cy="777240"/>
          </a:xfrm>
          <a:prstGeom prst="roundRect">
            <a:avLst>
              <a:gd name="adj" fmla="val 7059"/>
            </a:avLst>
          </a:prstGeom>
          <a:solidFill>
            <a:srgbClr val="E9EEF5"/>
          </a:solidFill>
          <a:ln w="15875">
            <a:solidFill>
              <a:srgbClr val="8C96A8"/>
            </a:solidFill>
            <a:prstDash val="solid"/>
          </a:ln>
        </p:spPr>
      </p:sp>
      <p:sp>
        <p:nvSpPr>
          <p:cNvPr id="11" name="Shape 9"/>
          <p:cNvSpPr/>
          <p:nvPr/>
        </p:nvSpPr>
        <p:spPr>
          <a:xfrm>
            <a:off x="727862" y="1485798"/>
            <a:ext cx="117043" cy="117043"/>
          </a:xfrm>
          <a:prstGeom prst="ellipse">
            <a:avLst/>
          </a:prstGeom>
          <a:solidFill>
            <a:srgbClr val="F7C5D6"/>
          </a:solidFill>
          <a:ln w="6350">
            <a:solidFill>
              <a:srgbClr val="B5546E"/>
            </a:solidFill>
            <a:prstDash val="solid"/>
          </a:ln>
        </p:spPr>
      </p:sp>
      <p:sp>
        <p:nvSpPr>
          <p:cNvPr id="12" name="Shape 10"/>
          <p:cNvSpPr/>
          <p:nvPr/>
        </p:nvSpPr>
        <p:spPr>
          <a:xfrm>
            <a:off x="922934" y="1485798"/>
            <a:ext cx="117043" cy="117043"/>
          </a:xfrm>
          <a:prstGeom prst="ellipse">
            <a:avLst/>
          </a:prstGeom>
          <a:solidFill>
            <a:srgbClr val="F7C5D6"/>
          </a:solidFill>
          <a:ln w="6350">
            <a:solidFill>
              <a:srgbClr val="B5546E"/>
            </a:solidFill>
            <a:prstDash val="solid"/>
          </a:ln>
        </p:spPr>
      </p:sp>
      <p:sp>
        <p:nvSpPr>
          <p:cNvPr id="13" name="Shape 11"/>
          <p:cNvSpPr/>
          <p:nvPr/>
        </p:nvSpPr>
        <p:spPr>
          <a:xfrm>
            <a:off x="1118006" y="1485798"/>
            <a:ext cx="117043" cy="117043"/>
          </a:xfrm>
          <a:prstGeom prst="ellipse">
            <a:avLst/>
          </a:prstGeom>
          <a:solidFill>
            <a:srgbClr val="F7C5D6"/>
          </a:solidFill>
          <a:ln w="6350">
            <a:solidFill>
              <a:srgbClr val="B5546E"/>
            </a:solidFill>
            <a:prstDash val="solid"/>
          </a:ln>
        </p:spPr>
      </p:sp>
      <p:sp>
        <p:nvSpPr>
          <p:cNvPr id="14" name="Shape 12"/>
          <p:cNvSpPr/>
          <p:nvPr/>
        </p:nvSpPr>
        <p:spPr>
          <a:xfrm>
            <a:off x="1313078" y="1485798"/>
            <a:ext cx="117043" cy="117043"/>
          </a:xfrm>
          <a:prstGeom prst="ellipse">
            <a:avLst/>
          </a:prstGeom>
          <a:solidFill>
            <a:srgbClr val="F7C5D6"/>
          </a:solidFill>
          <a:ln w="6350">
            <a:solidFill>
              <a:srgbClr val="B5546E"/>
            </a:solidFill>
            <a:prstDash val="solid"/>
          </a:ln>
        </p:spPr>
      </p:sp>
      <p:sp>
        <p:nvSpPr>
          <p:cNvPr id="15" name="Shape 13"/>
          <p:cNvSpPr/>
          <p:nvPr/>
        </p:nvSpPr>
        <p:spPr>
          <a:xfrm>
            <a:off x="1508150" y="1485798"/>
            <a:ext cx="117043" cy="117043"/>
          </a:xfrm>
          <a:prstGeom prst="ellipse">
            <a:avLst/>
          </a:prstGeom>
          <a:solidFill>
            <a:srgbClr val="F7C5D6"/>
          </a:solidFill>
          <a:ln w="6350">
            <a:solidFill>
              <a:srgbClr val="B5546E"/>
            </a:solidFill>
            <a:prstDash val="solid"/>
          </a:ln>
        </p:spPr>
      </p:sp>
      <p:sp>
        <p:nvSpPr>
          <p:cNvPr id="16" name="Shape 14"/>
          <p:cNvSpPr/>
          <p:nvPr/>
        </p:nvSpPr>
        <p:spPr>
          <a:xfrm>
            <a:off x="1703222" y="1485798"/>
            <a:ext cx="117043" cy="117043"/>
          </a:xfrm>
          <a:prstGeom prst="ellipse">
            <a:avLst/>
          </a:prstGeom>
          <a:solidFill>
            <a:srgbClr val="F7C5D6"/>
          </a:solidFill>
          <a:ln w="6350">
            <a:solidFill>
              <a:srgbClr val="B5546E"/>
            </a:solidFill>
            <a:prstDash val="solid"/>
          </a:ln>
        </p:spPr>
      </p:sp>
      <p:sp>
        <p:nvSpPr>
          <p:cNvPr id="17" name="Shape 15"/>
          <p:cNvSpPr/>
          <p:nvPr/>
        </p:nvSpPr>
        <p:spPr>
          <a:xfrm>
            <a:off x="1898294" y="1485798"/>
            <a:ext cx="117043" cy="117043"/>
          </a:xfrm>
          <a:prstGeom prst="ellipse">
            <a:avLst/>
          </a:prstGeom>
          <a:solidFill>
            <a:srgbClr val="F7C5D6"/>
          </a:solidFill>
          <a:ln w="6350">
            <a:solidFill>
              <a:srgbClr val="B5546E"/>
            </a:solidFill>
            <a:prstDash val="solid"/>
          </a:ln>
        </p:spPr>
      </p:sp>
      <p:sp>
        <p:nvSpPr>
          <p:cNvPr id="18" name="Shape 16"/>
          <p:cNvSpPr/>
          <p:nvPr/>
        </p:nvSpPr>
        <p:spPr>
          <a:xfrm>
            <a:off x="727862" y="1701698"/>
            <a:ext cx="117043" cy="117043"/>
          </a:xfrm>
          <a:prstGeom prst="ellipse">
            <a:avLst/>
          </a:prstGeom>
          <a:solidFill>
            <a:srgbClr val="F7C5D6"/>
          </a:solidFill>
          <a:ln w="6350">
            <a:solidFill>
              <a:srgbClr val="B5546E"/>
            </a:solidFill>
            <a:prstDash val="solid"/>
          </a:ln>
        </p:spPr>
      </p:sp>
      <p:sp>
        <p:nvSpPr>
          <p:cNvPr id="19" name="Shape 17"/>
          <p:cNvSpPr/>
          <p:nvPr/>
        </p:nvSpPr>
        <p:spPr>
          <a:xfrm>
            <a:off x="922934" y="1701698"/>
            <a:ext cx="117043" cy="117043"/>
          </a:xfrm>
          <a:prstGeom prst="ellipse">
            <a:avLst/>
          </a:prstGeom>
          <a:solidFill>
            <a:srgbClr val="F7C5D6"/>
          </a:solidFill>
          <a:ln w="6350">
            <a:solidFill>
              <a:srgbClr val="B5546E"/>
            </a:solidFill>
            <a:prstDash val="solid"/>
          </a:ln>
        </p:spPr>
      </p:sp>
      <p:sp>
        <p:nvSpPr>
          <p:cNvPr id="20" name="Shape 18"/>
          <p:cNvSpPr/>
          <p:nvPr/>
        </p:nvSpPr>
        <p:spPr>
          <a:xfrm>
            <a:off x="1118006" y="1701698"/>
            <a:ext cx="117043" cy="117043"/>
          </a:xfrm>
          <a:prstGeom prst="ellipse">
            <a:avLst/>
          </a:prstGeom>
          <a:solidFill>
            <a:srgbClr val="F7C5D6"/>
          </a:solidFill>
          <a:ln w="6350">
            <a:solidFill>
              <a:srgbClr val="B5546E"/>
            </a:solidFill>
            <a:prstDash val="solid"/>
          </a:ln>
        </p:spPr>
      </p:sp>
      <p:sp>
        <p:nvSpPr>
          <p:cNvPr id="21" name="Shape 19"/>
          <p:cNvSpPr/>
          <p:nvPr/>
        </p:nvSpPr>
        <p:spPr>
          <a:xfrm>
            <a:off x="1313078" y="1701698"/>
            <a:ext cx="117043" cy="117043"/>
          </a:xfrm>
          <a:prstGeom prst="ellipse">
            <a:avLst/>
          </a:prstGeom>
          <a:solidFill>
            <a:srgbClr val="F7C5D6"/>
          </a:solidFill>
          <a:ln w="6350">
            <a:solidFill>
              <a:srgbClr val="B5546E"/>
            </a:solidFill>
            <a:prstDash val="solid"/>
          </a:ln>
        </p:spPr>
      </p:sp>
      <p:sp>
        <p:nvSpPr>
          <p:cNvPr id="22" name="Shape 20"/>
          <p:cNvSpPr/>
          <p:nvPr/>
        </p:nvSpPr>
        <p:spPr>
          <a:xfrm>
            <a:off x="1508150" y="1701698"/>
            <a:ext cx="117043" cy="117043"/>
          </a:xfrm>
          <a:prstGeom prst="ellipse">
            <a:avLst/>
          </a:prstGeom>
          <a:solidFill>
            <a:srgbClr val="F7C5D6"/>
          </a:solidFill>
          <a:ln w="6350">
            <a:solidFill>
              <a:srgbClr val="B5546E"/>
            </a:solidFill>
            <a:prstDash val="solid"/>
          </a:ln>
        </p:spPr>
      </p:sp>
      <p:sp>
        <p:nvSpPr>
          <p:cNvPr id="23" name="Shape 21"/>
          <p:cNvSpPr/>
          <p:nvPr/>
        </p:nvSpPr>
        <p:spPr>
          <a:xfrm>
            <a:off x="1703222" y="1701698"/>
            <a:ext cx="117043" cy="117043"/>
          </a:xfrm>
          <a:prstGeom prst="ellipse">
            <a:avLst/>
          </a:prstGeom>
          <a:solidFill>
            <a:srgbClr val="F7C5D6"/>
          </a:solidFill>
          <a:ln w="6350">
            <a:solidFill>
              <a:srgbClr val="B5546E"/>
            </a:solidFill>
            <a:prstDash val="solid"/>
          </a:ln>
        </p:spPr>
      </p:sp>
      <p:sp>
        <p:nvSpPr>
          <p:cNvPr id="24" name="Shape 22"/>
          <p:cNvSpPr/>
          <p:nvPr/>
        </p:nvSpPr>
        <p:spPr>
          <a:xfrm>
            <a:off x="1898294" y="1701698"/>
            <a:ext cx="117043" cy="117043"/>
          </a:xfrm>
          <a:prstGeom prst="ellipse">
            <a:avLst/>
          </a:prstGeom>
          <a:solidFill>
            <a:srgbClr val="F7C5D6"/>
          </a:solidFill>
          <a:ln w="6350">
            <a:solidFill>
              <a:srgbClr val="B5546E"/>
            </a:solidFill>
            <a:prstDash val="solid"/>
          </a:ln>
        </p:spPr>
      </p:sp>
      <p:sp>
        <p:nvSpPr>
          <p:cNvPr id="25" name="Shape 23"/>
          <p:cNvSpPr/>
          <p:nvPr/>
        </p:nvSpPr>
        <p:spPr>
          <a:xfrm>
            <a:off x="727862" y="1917598"/>
            <a:ext cx="117043" cy="117043"/>
          </a:xfrm>
          <a:prstGeom prst="ellipse">
            <a:avLst/>
          </a:prstGeom>
          <a:solidFill>
            <a:srgbClr val="F7C5D6"/>
          </a:solidFill>
          <a:ln w="6350">
            <a:solidFill>
              <a:srgbClr val="B5546E"/>
            </a:solidFill>
            <a:prstDash val="solid"/>
          </a:ln>
        </p:spPr>
      </p:sp>
      <p:sp>
        <p:nvSpPr>
          <p:cNvPr id="26" name="Shape 24"/>
          <p:cNvSpPr/>
          <p:nvPr/>
        </p:nvSpPr>
        <p:spPr>
          <a:xfrm>
            <a:off x="922934" y="1917598"/>
            <a:ext cx="117043" cy="117043"/>
          </a:xfrm>
          <a:prstGeom prst="ellipse">
            <a:avLst/>
          </a:prstGeom>
          <a:solidFill>
            <a:srgbClr val="F7C5D6"/>
          </a:solidFill>
          <a:ln w="6350">
            <a:solidFill>
              <a:srgbClr val="B5546E"/>
            </a:solidFill>
            <a:prstDash val="solid"/>
          </a:ln>
        </p:spPr>
      </p:sp>
      <p:sp>
        <p:nvSpPr>
          <p:cNvPr id="27" name="Shape 25"/>
          <p:cNvSpPr/>
          <p:nvPr/>
        </p:nvSpPr>
        <p:spPr>
          <a:xfrm>
            <a:off x="1118006" y="1917598"/>
            <a:ext cx="117043" cy="117043"/>
          </a:xfrm>
          <a:prstGeom prst="ellipse">
            <a:avLst/>
          </a:prstGeom>
          <a:solidFill>
            <a:srgbClr val="F7C5D6"/>
          </a:solidFill>
          <a:ln w="6350">
            <a:solidFill>
              <a:srgbClr val="B5546E"/>
            </a:solidFill>
            <a:prstDash val="solid"/>
          </a:ln>
        </p:spPr>
      </p:sp>
      <p:sp>
        <p:nvSpPr>
          <p:cNvPr id="28" name="Shape 26"/>
          <p:cNvSpPr/>
          <p:nvPr/>
        </p:nvSpPr>
        <p:spPr>
          <a:xfrm>
            <a:off x="1313078" y="1917598"/>
            <a:ext cx="117043" cy="117043"/>
          </a:xfrm>
          <a:prstGeom prst="ellipse">
            <a:avLst/>
          </a:prstGeom>
          <a:solidFill>
            <a:srgbClr val="F7C5D6"/>
          </a:solidFill>
          <a:ln w="6350">
            <a:solidFill>
              <a:srgbClr val="B5546E"/>
            </a:solidFill>
            <a:prstDash val="solid"/>
          </a:ln>
        </p:spPr>
      </p:sp>
      <p:sp>
        <p:nvSpPr>
          <p:cNvPr id="29" name="Shape 27"/>
          <p:cNvSpPr/>
          <p:nvPr/>
        </p:nvSpPr>
        <p:spPr>
          <a:xfrm>
            <a:off x="1508150" y="1917598"/>
            <a:ext cx="117043" cy="117043"/>
          </a:xfrm>
          <a:prstGeom prst="ellipse">
            <a:avLst/>
          </a:prstGeom>
          <a:solidFill>
            <a:srgbClr val="F7C5D6"/>
          </a:solidFill>
          <a:ln w="6350">
            <a:solidFill>
              <a:srgbClr val="B5546E"/>
            </a:solidFill>
            <a:prstDash val="solid"/>
          </a:ln>
        </p:spPr>
      </p:sp>
      <p:sp>
        <p:nvSpPr>
          <p:cNvPr id="30" name="Shape 28"/>
          <p:cNvSpPr/>
          <p:nvPr/>
        </p:nvSpPr>
        <p:spPr>
          <a:xfrm>
            <a:off x="1703222" y="1917598"/>
            <a:ext cx="117043" cy="117043"/>
          </a:xfrm>
          <a:prstGeom prst="ellipse">
            <a:avLst/>
          </a:prstGeom>
          <a:solidFill>
            <a:srgbClr val="F7C5D6"/>
          </a:solidFill>
          <a:ln w="6350">
            <a:solidFill>
              <a:srgbClr val="B5546E"/>
            </a:solidFill>
            <a:prstDash val="solid"/>
          </a:ln>
        </p:spPr>
      </p:sp>
      <p:sp>
        <p:nvSpPr>
          <p:cNvPr id="31" name="Shape 29"/>
          <p:cNvSpPr/>
          <p:nvPr/>
        </p:nvSpPr>
        <p:spPr>
          <a:xfrm>
            <a:off x="1898294" y="1917598"/>
            <a:ext cx="117043" cy="117043"/>
          </a:xfrm>
          <a:prstGeom prst="ellipse">
            <a:avLst/>
          </a:prstGeom>
          <a:solidFill>
            <a:srgbClr val="F7C5D6"/>
          </a:solidFill>
          <a:ln w="6350">
            <a:solidFill>
              <a:srgbClr val="B5546E"/>
            </a:solidFill>
            <a:prstDash val="solid"/>
          </a:ln>
        </p:spPr>
      </p:sp>
      <p:sp>
        <p:nvSpPr>
          <p:cNvPr id="32" name="Text 30"/>
          <p:cNvSpPr/>
          <p:nvPr/>
        </p:nvSpPr>
        <p:spPr>
          <a:xfrm>
            <a:off x="594360" y="2176272"/>
            <a:ext cx="155448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pill taken daily</a:t>
            </a:r>
            <a:endParaRPr lang="en-US" sz="1000" dirty="0"/>
          </a:p>
        </p:txBody>
      </p:sp>
      <p:sp>
        <p:nvSpPr>
          <p:cNvPr id="33" name="Shape 31"/>
          <p:cNvSpPr/>
          <p:nvPr/>
        </p:nvSpPr>
        <p:spPr>
          <a:xfrm>
            <a:off x="2148840" y="1755648"/>
            <a:ext cx="594360" cy="91"/>
          </a:xfrm>
          <a:prstGeom prst="line">
            <a:avLst/>
          </a:prstGeom>
          <a:noFill/>
          <a:ln w="31750">
            <a:solidFill>
              <a:srgbClr val="D4568F"/>
            </a:solidFill>
            <a:prstDash val="solid"/>
            <a:tailEnd type="triangle"/>
          </a:ln>
        </p:spPr>
      </p:sp>
      <p:sp>
        <p:nvSpPr>
          <p:cNvPr id="34" name="Shape 32"/>
          <p:cNvSpPr/>
          <p:nvPr/>
        </p:nvSpPr>
        <p:spPr>
          <a:xfrm>
            <a:off x="2788920" y="1417320"/>
            <a:ext cx="3017520" cy="685800"/>
          </a:xfrm>
          <a:prstGeom prst="roundRect">
            <a:avLst>
              <a:gd name="adj" fmla="val 8000"/>
            </a:avLst>
          </a:prstGeom>
          <a:solidFill>
            <a:srgbClr val="FDEFF5"/>
          </a:solidFill>
          <a:ln w="15875">
            <a:solidFill>
              <a:srgbClr val="D4568F"/>
            </a:solidFill>
            <a:prstDash val="solid"/>
          </a:ln>
        </p:spPr>
      </p:sp>
      <p:sp>
        <p:nvSpPr>
          <p:cNvPr id="35" name="Text 33"/>
          <p:cNvSpPr/>
          <p:nvPr/>
        </p:nvSpPr>
        <p:spPr>
          <a:xfrm>
            <a:off x="2843784" y="1417320"/>
            <a:ext cx="2907792" cy="68580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oestrogen + progesterone</a:t>
            </a:r>
            <a:r>
              <a:rPr lang="en-US" sz="1050" dirty="0">
                <a:solidFill>
                  <a:srgbClr val="262B3A"/>
                </a:solidFill>
                <a:latin typeface="Calibri" pitchFamily="34" charset="0"/>
                <a:ea typeface="Calibri" pitchFamily="34" charset="-122"/>
                <a:cs typeface="Calibri" pitchFamily="34" charset="-120"/>
              </a:rPr>
              <a:t> in the blood stay </a:t>
            </a:r>
            <a:r>
              <a:rPr lang="en-US" sz="1050" b="1" dirty="0">
                <a:solidFill>
                  <a:srgbClr val="262B3A"/>
                </a:solidFill>
                <a:latin typeface="Calibri" pitchFamily="34" charset="0"/>
                <a:ea typeface="Calibri" pitchFamily="34" charset="-122"/>
                <a:cs typeface="Calibri" pitchFamily="34" charset="-120"/>
              </a:rPr>
              <a:t>high</a:t>
            </a:r>
            <a:endParaRPr lang="en-US" sz="1050" dirty="0"/>
          </a:p>
        </p:txBody>
      </p:sp>
      <p:sp>
        <p:nvSpPr>
          <p:cNvPr id="36" name="Shape 34"/>
          <p:cNvSpPr/>
          <p:nvPr/>
        </p:nvSpPr>
        <p:spPr>
          <a:xfrm>
            <a:off x="3108960" y="2697480"/>
            <a:ext cx="2377440" cy="548640"/>
          </a:xfrm>
          <a:prstGeom prst="roundRect">
            <a:avLst>
              <a:gd name="adj" fmla="val 10000"/>
            </a:avLst>
          </a:prstGeom>
          <a:solidFill>
            <a:srgbClr val="FBECEC"/>
          </a:solidFill>
          <a:ln w="15875">
            <a:solidFill>
              <a:srgbClr val="C8414C"/>
            </a:solidFill>
            <a:prstDash val="solid"/>
          </a:ln>
        </p:spPr>
      </p:sp>
      <p:sp>
        <p:nvSpPr>
          <p:cNvPr id="37" name="Text 35"/>
          <p:cNvSpPr/>
          <p:nvPr/>
        </p:nvSpPr>
        <p:spPr>
          <a:xfrm>
            <a:off x="3163824" y="2697480"/>
            <a:ext cx="2267712" cy="548640"/>
          </a:xfrm>
          <a:prstGeom prst="rect">
            <a:avLst/>
          </a:prstGeom>
          <a:noFill/>
          <a:ln/>
        </p:spPr>
        <p:txBody>
          <a:bodyPr wrap="square" lIns="0" tIns="0" rIns="0" bIns="0" rtlCol="0" anchor="ctr"/>
          <a:lstStyle/>
          <a:p>
            <a:pPr algn="ctr" indent="0" marL="0">
              <a:buNone/>
            </a:pPr>
            <a:r>
              <a:rPr lang="en-US" sz="1100" b="1" dirty="0">
                <a:solidFill>
                  <a:srgbClr val="8E2A33"/>
                </a:solidFill>
                <a:latin typeface="Calibri" pitchFamily="34" charset="0"/>
                <a:ea typeface="Calibri" pitchFamily="34" charset="-122"/>
                <a:cs typeface="Calibri" pitchFamily="34" charset="-120"/>
              </a:rPr>
              <a:t>Pituitary gland</a:t>
            </a:r>
            <a:endParaRPr lang="en-US" sz="1100" dirty="0"/>
          </a:p>
        </p:txBody>
      </p:sp>
      <p:sp>
        <p:nvSpPr>
          <p:cNvPr id="38" name="Shape 36"/>
          <p:cNvSpPr/>
          <p:nvPr/>
        </p:nvSpPr>
        <p:spPr>
          <a:xfrm>
            <a:off x="4297680" y="2121408"/>
            <a:ext cx="91" cy="557784"/>
          </a:xfrm>
          <a:prstGeom prst="line">
            <a:avLst/>
          </a:prstGeom>
          <a:noFill/>
          <a:ln w="31750">
            <a:solidFill>
              <a:srgbClr val="C8414C"/>
            </a:solidFill>
            <a:prstDash val="dash"/>
          </a:ln>
        </p:spPr>
      </p:sp>
      <p:sp>
        <p:nvSpPr>
          <p:cNvPr id="39" name="Shape 37"/>
          <p:cNvSpPr/>
          <p:nvPr/>
        </p:nvSpPr>
        <p:spPr>
          <a:xfrm flipH="1">
            <a:off x="4178808" y="2679192"/>
            <a:ext cx="237744" cy="91"/>
          </a:xfrm>
          <a:prstGeom prst="line">
            <a:avLst/>
          </a:prstGeom>
          <a:noFill/>
          <a:ln w="38100">
            <a:solidFill>
              <a:srgbClr val="C8414C"/>
            </a:solidFill>
            <a:prstDash val="solid"/>
          </a:ln>
        </p:spPr>
      </p:sp>
      <p:sp>
        <p:nvSpPr>
          <p:cNvPr id="40" name="Text 38"/>
          <p:cNvSpPr/>
          <p:nvPr/>
        </p:nvSpPr>
        <p:spPr>
          <a:xfrm>
            <a:off x="4389120" y="2240280"/>
            <a:ext cx="1371600" cy="256032"/>
          </a:xfrm>
          <a:prstGeom prst="rect">
            <a:avLst/>
          </a:prstGeom>
          <a:noFill/>
          <a:ln/>
        </p:spPr>
        <p:txBody>
          <a:bodyPr wrap="square" lIns="0" tIns="0" rIns="0" bIns="0" rtlCol="0" anchor="ctr"/>
          <a:lstStyle/>
          <a:p>
            <a:pPr algn="l" indent="0" marL="0">
              <a:buNone/>
            </a:pPr>
            <a:r>
              <a:rPr lang="en-US" sz="1050" b="1" dirty="0">
                <a:solidFill>
                  <a:srgbClr val="C8414C"/>
                </a:solidFill>
                <a:latin typeface="Calibri" pitchFamily="34" charset="0"/>
                <a:ea typeface="Calibri" pitchFamily="34" charset="-122"/>
                <a:cs typeface="Calibri" pitchFamily="34" charset="-120"/>
              </a:rPr>
              <a:t>− inhibits</a:t>
            </a:r>
            <a:endParaRPr lang="en-US" sz="1050" dirty="0"/>
          </a:p>
        </p:txBody>
      </p:sp>
      <p:sp>
        <p:nvSpPr>
          <p:cNvPr id="41" name="Shape 39"/>
          <p:cNvSpPr/>
          <p:nvPr/>
        </p:nvSpPr>
        <p:spPr>
          <a:xfrm>
            <a:off x="3657600" y="3264408"/>
            <a:ext cx="91" cy="612648"/>
          </a:xfrm>
          <a:prstGeom prst="line">
            <a:avLst/>
          </a:prstGeom>
          <a:noFill/>
          <a:ln w="31750">
            <a:solidFill>
              <a:srgbClr val="2F6DB5"/>
            </a:solidFill>
            <a:prstDash val="dash"/>
          </a:ln>
        </p:spPr>
      </p:sp>
      <p:sp>
        <p:nvSpPr>
          <p:cNvPr id="42" name="Shape 40"/>
          <p:cNvSpPr/>
          <p:nvPr/>
        </p:nvSpPr>
        <p:spPr>
          <a:xfrm>
            <a:off x="4937760" y="3264408"/>
            <a:ext cx="91" cy="612648"/>
          </a:xfrm>
          <a:prstGeom prst="line">
            <a:avLst/>
          </a:prstGeom>
          <a:noFill/>
          <a:ln w="31750">
            <a:solidFill>
              <a:srgbClr val="7B3FA0"/>
            </a:solidFill>
            <a:prstDash val="dash"/>
          </a:ln>
        </p:spPr>
      </p:sp>
      <p:sp>
        <p:nvSpPr>
          <p:cNvPr id="43" name="Shape 41"/>
          <p:cNvSpPr/>
          <p:nvPr/>
        </p:nvSpPr>
        <p:spPr>
          <a:xfrm>
            <a:off x="3538728" y="3474720"/>
            <a:ext cx="237744" cy="237744"/>
          </a:xfrm>
          <a:prstGeom prst="line">
            <a:avLst/>
          </a:prstGeom>
          <a:noFill/>
          <a:ln w="38100">
            <a:solidFill>
              <a:srgbClr val="C8414C"/>
            </a:solidFill>
            <a:prstDash val="solid"/>
          </a:ln>
        </p:spPr>
      </p:sp>
      <p:sp>
        <p:nvSpPr>
          <p:cNvPr id="44" name="Shape 42"/>
          <p:cNvSpPr/>
          <p:nvPr/>
        </p:nvSpPr>
        <p:spPr>
          <a:xfrm flipV="1">
            <a:off x="3538728" y="3474720"/>
            <a:ext cx="237744" cy="237744"/>
          </a:xfrm>
          <a:prstGeom prst="line">
            <a:avLst/>
          </a:prstGeom>
          <a:noFill/>
          <a:ln w="38100">
            <a:solidFill>
              <a:srgbClr val="C8414C"/>
            </a:solidFill>
            <a:prstDash val="solid"/>
          </a:ln>
        </p:spPr>
      </p:sp>
      <p:sp>
        <p:nvSpPr>
          <p:cNvPr id="45" name="Shape 43"/>
          <p:cNvSpPr/>
          <p:nvPr/>
        </p:nvSpPr>
        <p:spPr>
          <a:xfrm>
            <a:off x="4818888" y="3474720"/>
            <a:ext cx="237744" cy="237744"/>
          </a:xfrm>
          <a:prstGeom prst="line">
            <a:avLst/>
          </a:prstGeom>
          <a:noFill/>
          <a:ln w="38100">
            <a:solidFill>
              <a:srgbClr val="C8414C"/>
            </a:solidFill>
            <a:prstDash val="solid"/>
          </a:ln>
        </p:spPr>
      </p:sp>
      <p:sp>
        <p:nvSpPr>
          <p:cNvPr id="46" name="Shape 44"/>
          <p:cNvSpPr/>
          <p:nvPr/>
        </p:nvSpPr>
        <p:spPr>
          <a:xfrm flipV="1">
            <a:off x="4818888" y="3474720"/>
            <a:ext cx="237744" cy="237744"/>
          </a:xfrm>
          <a:prstGeom prst="line">
            <a:avLst/>
          </a:prstGeom>
          <a:noFill/>
          <a:ln w="38100">
            <a:solidFill>
              <a:srgbClr val="C8414C"/>
            </a:solidFill>
            <a:prstDash val="solid"/>
          </a:ln>
        </p:spPr>
      </p:sp>
      <p:sp>
        <p:nvSpPr>
          <p:cNvPr id="47" name="Text 45"/>
          <p:cNvSpPr/>
          <p:nvPr/>
        </p:nvSpPr>
        <p:spPr>
          <a:xfrm>
            <a:off x="2743200" y="3456432"/>
            <a:ext cx="777240" cy="256032"/>
          </a:xfrm>
          <a:prstGeom prst="rect">
            <a:avLst/>
          </a:prstGeom>
          <a:noFill/>
          <a:ln/>
        </p:spPr>
        <p:txBody>
          <a:bodyPr wrap="square" lIns="0" tIns="0" rIns="0" bIns="0" rtlCol="0" anchor="ctr"/>
          <a:lstStyle/>
          <a:p>
            <a:pPr algn="r" indent="0" marL="0">
              <a:buNone/>
            </a:pPr>
            <a:r>
              <a:rPr lang="en-US" sz="1050" b="1" dirty="0">
                <a:solidFill>
                  <a:srgbClr val="1F4E8C"/>
                </a:solidFill>
                <a:latin typeface="Calibri" pitchFamily="34" charset="0"/>
                <a:ea typeface="Calibri" pitchFamily="34" charset="-122"/>
                <a:cs typeface="Calibri" pitchFamily="34" charset="-120"/>
              </a:rPr>
              <a:t>no FSH</a:t>
            </a:r>
            <a:endParaRPr lang="en-US" sz="1050" dirty="0"/>
          </a:p>
        </p:txBody>
      </p:sp>
      <p:sp>
        <p:nvSpPr>
          <p:cNvPr id="48" name="Text 46"/>
          <p:cNvSpPr/>
          <p:nvPr/>
        </p:nvSpPr>
        <p:spPr>
          <a:xfrm>
            <a:off x="5074920" y="3456432"/>
            <a:ext cx="777240" cy="256032"/>
          </a:xfrm>
          <a:prstGeom prst="rect">
            <a:avLst/>
          </a:prstGeom>
          <a:noFill/>
          <a:ln/>
        </p:spPr>
        <p:txBody>
          <a:bodyPr wrap="square" lIns="0" tIns="0" rIns="0" bIns="0" rtlCol="0" anchor="ctr"/>
          <a:lstStyle/>
          <a:p>
            <a:pPr algn="l" indent="0" marL="0">
              <a:buNone/>
            </a:pPr>
            <a:r>
              <a:rPr lang="en-US" sz="1050" b="1" dirty="0">
                <a:solidFill>
                  <a:srgbClr val="5E2D73"/>
                </a:solidFill>
                <a:latin typeface="Calibri" pitchFamily="34" charset="0"/>
                <a:ea typeface="Calibri" pitchFamily="34" charset="-122"/>
                <a:cs typeface="Calibri" pitchFamily="34" charset="-120"/>
              </a:rPr>
              <a:t>no LH</a:t>
            </a:r>
            <a:endParaRPr lang="en-US" sz="1050" dirty="0"/>
          </a:p>
        </p:txBody>
      </p:sp>
      <p:sp>
        <p:nvSpPr>
          <p:cNvPr id="49" name="Shape 47"/>
          <p:cNvSpPr/>
          <p:nvPr/>
        </p:nvSpPr>
        <p:spPr>
          <a:xfrm>
            <a:off x="3703320" y="3904488"/>
            <a:ext cx="1188720" cy="640080"/>
          </a:xfrm>
          <a:prstGeom prst="ellipse">
            <a:avLst/>
          </a:prstGeom>
          <a:solidFill>
            <a:srgbClr val="F3D3A6"/>
          </a:solidFill>
          <a:ln w="15875">
            <a:solidFill>
              <a:srgbClr val="9A6A2A"/>
            </a:solidFill>
            <a:prstDash val="solid"/>
          </a:ln>
        </p:spPr>
      </p:sp>
      <p:sp>
        <p:nvSpPr>
          <p:cNvPr id="50" name="Shape 48"/>
          <p:cNvSpPr/>
          <p:nvPr/>
        </p:nvSpPr>
        <p:spPr>
          <a:xfrm>
            <a:off x="3869375" y="4056827"/>
            <a:ext cx="143378" cy="143378"/>
          </a:xfrm>
          <a:prstGeom prst="ellipse">
            <a:avLst/>
          </a:prstGeom>
          <a:solidFill>
            <a:srgbClr val="FFF6E8"/>
          </a:solidFill>
          <a:ln w="6350">
            <a:solidFill>
              <a:srgbClr val="9A6A2A"/>
            </a:solidFill>
            <a:prstDash val="solid"/>
          </a:ln>
        </p:spPr>
      </p:sp>
      <p:sp>
        <p:nvSpPr>
          <p:cNvPr id="51" name="Shape 49"/>
          <p:cNvSpPr/>
          <p:nvPr/>
        </p:nvSpPr>
        <p:spPr>
          <a:xfrm>
            <a:off x="4295668" y="4303898"/>
            <a:ext cx="122895" cy="122895"/>
          </a:xfrm>
          <a:prstGeom prst="ellipse">
            <a:avLst/>
          </a:prstGeom>
          <a:solidFill>
            <a:srgbClr val="FFF6E8"/>
          </a:solidFill>
          <a:ln w="6350">
            <a:solidFill>
              <a:srgbClr val="9A6A2A"/>
            </a:solidFill>
            <a:prstDash val="solid"/>
          </a:ln>
        </p:spPr>
      </p:sp>
      <p:sp>
        <p:nvSpPr>
          <p:cNvPr id="52" name="Shape 50"/>
          <p:cNvSpPr/>
          <p:nvPr/>
        </p:nvSpPr>
        <p:spPr>
          <a:xfrm>
            <a:off x="4127602" y="4250131"/>
            <a:ext cx="102413" cy="102413"/>
          </a:xfrm>
          <a:prstGeom prst="ellipse">
            <a:avLst/>
          </a:prstGeom>
          <a:solidFill>
            <a:srgbClr val="FFF6E8"/>
          </a:solidFill>
          <a:ln w="6350">
            <a:solidFill>
              <a:srgbClr val="9A6A2A"/>
            </a:solidFill>
            <a:prstDash val="solid"/>
          </a:ln>
        </p:spPr>
      </p:sp>
      <p:sp>
        <p:nvSpPr>
          <p:cNvPr id="53" name="Text 51"/>
          <p:cNvSpPr/>
          <p:nvPr/>
        </p:nvSpPr>
        <p:spPr>
          <a:xfrm>
            <a:off x="3017520" y="4572000"/>
            <a:ext cx="2560320" cy="256032"/>
          </a:xfrm>
          <a:prstGeom prst="rect">
            <a:avLst/>
          </a:prstGeom>
          <a:noFill/>
          <a:ln/>
        </p:spPr>
        <p:txBody>
          <a:bodyPr wrap="square" lIns="0" tIns="0" rIns="0" bIns="0" rtlCol="0" anchor="ctr"/>
          <a:lstStyle/>
          <a:p>
            <a:pPr algn="ctr" indent="0" marL="0">
              <a:buNone/>
            </a:pPr>
            <a:r>
              <a:rPr lang="en-US" sz="1050" b="1" dirty="0">
                <a:solidFill>
                  <a:srgbClr val="C8414C"/>
                </a:solidFill>
                <a:latin typeface="Calibri" pitchFamily="34" charset="0"/>
                <a:ea typeface="Calibri" pitchFamily="34" charset="-122"/>
                <a:cs typeface="Calibri" pitchFamily="34" charset="-120"/>
              </a:rPr>
              <a:t>no egg matures</a:t>
            </a:r>
            <a:r>
              <a:rPr lang="en-US" sz="1050" dirty="0">
                <a:solidFill>
                  <a:srgbClr val="C8414C"/>
                </a:solidFill>
                <a:latin typeface="Calibri" pitchFamily="34" charset="0"/>
                <a:ea typeface="Calibri" pitchFamily="34" charset="-122"/>
                <a:cs typeface="Calibri" pitchFamily="34" charset="-120"/>
              </a:rPr>
              <a:t>, </a:t>
            </a:r>
            <a:r>
              <a:rPr lang="en-US" sz="1050" b="1" dirty="0">
                <a:solidFill>
                  <a:srgbClr val="C8414C"/>
                </a:solidFill>
                <a:latin typeface="Calibri" pitchFamily="34" charset="0"/>
                <a:ea typeface="Calibri" pitchFamily="34" charset="-122"/>
                <a:cs typeface="Calibri" pitchFamily="34" charset="-120"/>
              </a:rPr>
              <a:t>no ovulation</a:t>
            </a:r>
            <a:endParaRPr lang="en-US" sz="1050" dirty="0"/>
          </a:p>
        </p:txBody>
      </p:sp>
      <p:sp>
        <p:nvSpPr>
          <p:cNvPr id="54" name="Shape 52"/>
          <p:cNvSpPr/>
          <p:nvPr/>
        </p:nvSpPr>
        <p:spPr>
          <a:xfrm>
            <a:off x="640080" y="2697480"/>
            <a:ext cx="2103120" cy="2148840"/>
          </a:xfrm>
          <a:prstGeom prst="roundRect">
            <a:avLst>
              <a:gd name="adj" fmla="val 2174"/>
            </a:avLst>
          </a:prstGeom>
          <a:solidFill>
            <a:srgbClr val="FFFFFF"/>
          </a:solidFill>
          <a:ln w="12700">
            <a:solidFill>
              <a:srgbClr val="CFE0DE"/>
            </a:solidFill>
            <a:prstDash val="solid"/>
          </a:ln>
        </p:spPr>
      </p:sp>
      <p:sp>
        <p:nvSpPr>
          <p:cNvPr id="55" name="Shape 53"/>
          <p:cNvSpPr/>
          <p:nvPr/>
        </p:nvSpPr>
        <p:spPr>
          <a:xfrm>
            <a:off x="1051560" y="2834640"/>
            <a:ext cx="1097280" cy="594360"/>
          </a:xfrm>
          <a:custGeom>
            <a:avLst/>
            <a:gdLst/>
            <a:ahLst/>
            <a:cxnLst/>
            <a:rect l="l" t="t" r="r" b="b"/>
            <a:pathLst>
              <a:path w="1097280" h="594360">
                <a:moveTo>
                  <a:pt x="0" y="0"/>
                </a:moveTo>
                <a:lnTo>
                  <a:pt x="1097280" y="0"/>
                </a:lnTo>
                <a:lnTo>
                  <a:pt x="822960" y="594360"/>
                </a:lnTo>
                <a:lnTo>
                  <a:pt x="274320" y="594360"/>
                </a:lnTo>
                <a:close/>
              </a:path>
            </a:pathLst>
          </a:custGeom>
          <a:solidFill>
            <a:srgbClr val="EFB4B8"/>
          </a:solidFill>
          <a:ln w="15875">
            <a:solidFill>
              <a:srgbClr val="A33E48"/>
            </a:solidFill>
            <a:prstDash val="solid"/>
          </a:ln>
        </p:spPr>
      </p:sp>
      <p:sp>
        <p:nvSpPr>
          <p:cNvPr id="56" name="Text 54"/>
          <p:cNvSpPr/>
          <p:nvPr/>
        </p:nvSpPr>
        <p:spPr>
          <a:xfrm>
            <a:off x="1051560" y="2926080"/>
            <a:ext cx="1097280" cy="256032"/>
          </a:xfrm>
          <a:prstGeom prst="rect">
            <a:avLst/>
          </a:prstGeom>
          <a:noFill/>
          <a:ln/>
        </p:spPr>
        <p:txBody>
          <a:bodyPr wrap="square" lIns="0" tIns="0" rIns="0" bIns="0" rtlCol="0" anchor="ctr"/>
          <a:lstStyle/>
          <a:p>
            <a:pPr algn="ctr" indent="0" marL="0">
              <a:buNone/>
            </a:pPr>
            <a:r>
              <a:rPr lang="en-US" sz="1000" i="1" dirty="0">
                <a:solidFill>
                  <a:srgbClr val="8E2A33"/>
                </a:solidFill>
                <a:latin typeface="Calibri" pitchFamily="34" charset="0"/>
                <a:ea typeface="Calibri" pitchFamily="34" charset="-122"/>
                <a:cs typeface="Calibri" pitchFamily="34" charset="-120"/>
              </a:rPr>
              <a:t>uterus</a:t>
            </a:r>
            <a:endParaRPr lang="en-US" sz="1000" dirty="0"/>
          </a:p>
        </p:txBody>
      </p:sp>
      <p:sp>
        <p:nvSpPr>
          <p:cNvPr id="57" name="Shape 55"/>
          <p:cNvSpPr/>
          <p:nvPr/>
        </p:nvSpPr>
        <p:spPr>
          <a:xfrm>
            <a:off x="1417320" y="3429000"/>
            <a:ext cx="365760" cy="457200"/>
          </a:xfrm>
          <a:prstGeom prst="rect">
            <a:avLst/>
          </a:prstGeom>
          <a:solidFill>
            <a:srgbClr val="EFB4B8"/>
          </a:solidFill>
          <a:ln w="15875">
            <a:solidFill>
              <a:srgbClr val="A33E48"/>
            </a:solidFill>
            <a:prstDash val="solid"/>
          </a:ln>
        </p:spPr>
      </p:sp>
      <p:sp>
        <p:nvSpPr>
          <p:cNvPr id="58" name="Shape 56"/>
          <p:cNvSpPr/>
          <p:nvPr/>
        </p:nvSpPr>
        <p:spPr>
          <a:xfrm>
            <a:off x="1517904" y="3429000"/>
            <a:ext cx="164592" cy="457200"/>
          </a:xfrm>
          <a:prstGeom prst="rect">
            <a:avLst/>
          </a:prstGeom>
          <a:solidFill>
            <a:srgbClr val="EFE3A0"/>
          </a:solidFill>
          <a:ln w="9525">
            <a:solidFill>
              <a:srgbClr val="B8A858"/>
            </a:solidFill>
            <a:prstDash val="solid"/>
          </a:ln>
        </p:spPr>
      </p:sp>
      <p:sp>
        <p:nvSpPr>
          <p:cNvPr id="59" name="Shape 57"/>
          <p:cNvSpPr/>
          <p:nvPr/>
        </p:nvSpPr>
        <p:spPr>
          <a:xfrm>
            <a:off x="1371600" y="3886200"/>
            <a:ext cx="457200" cy="384048"/>
          </a:xfrm>
          <a:prstGeom prst="rect">
            <a:avLst/>
          </a:prstGeom>
          <a:solidFill>
            <a:srgbClr val="FBE3E5"/>
          </a:solidFill>
          <a:ln w="12700">
            <a:solidFill>
              <a:srgbClr val="A33E48"/>
            </a:solidFill>
            <a:prstDash val="solid"/>
          </a:ln>
        </p:spPr>
      </p:sp>
      <p:sp>
        <p:nvSpPr>
          <p:cNvPr id="60" name="Shape 58"/>
          <p:cNvSpPr/>
          <p:nvPr/>
        </p:nvSpPr>
        <p:spPr>
          <a:xfrm>
            <a:off x="1481328" y="4018788"/>
            <a:ext cx="73152" cy="45720"/>
          </a:xfrm>
          <a:prstGeom prst="ellipse">
            <a:avLst/>
          </a:prstGeom>
          <a:solidFill>
            <a:srgbClr val="3B5B8C"/>
          </a:solidFill>
          <a:ln w="12700">
            <a:solidFill>
              <a:srgbClr val="3B5B8C"/>
            </a:solidFill>
            <a:prstDash val="solid"/>
          </a:ln>
        </p:spPr>
      </p:sp>
      <p:sp>
        <p:nvSpPr>
          <p:cNvPr id="61" name="Shape 59"/>
          <p:cNvSpPr/>
          <p:nvPr/>
        </p:nvSpPr>
        <p:spPr>
          <a:xfrm>
            <a:off x="1554480" y="4041648"/>
            <a:ext cx="82296" cy="22860"/>
          </a:xfrm>
          <a:prstGeom prst="line">
            <a:avLst/>
          </a:prstGeom>
          <a:noFill/>
          <a:ln w="9525">
            <a:solidFill>
              <a:srgbClr val="3B5B8C"/>
            </a:solidFill>
            <a:prstDash val="solid"/>
          </a:ln>
        </p:spPr>
      </p:sp>
      <p:sp>
        <p:nvSpPr>
          <p:cNvPr id="62" name="Shape 60"/>
          <p:cNvSpPr/>
          <p:nvPr/>
        </p:nvSpPr>
        <p:spPr>
          <a:xfrm flipV="1">
            <a:off x="1636776" y="4032504"/>
            <a:ext cx="82296" cy="32004"/>
          </a:xfrm>
          <a:prstGeom prst="line">
            <a:avLst/>
          </a:prstGeom>
          <a:noFill/>
          <a:ln w="9525">
            <a:solidFill>
              <a:srgbClr val="3B5B8C"/>
            </a:solidFill>
            <a:prstDash val="solid"/>
          </a:ln>
        </p:spPr>
      </p:sp>
      <p:sp>
        <p:nvSpPr>
          <p:cNvPr id="63" name="Shape 61"/>
          <p:cNvSpPr/>
          <p:nvPr/>
        </p:nvSpPr>
        <p:spPr>
          <a:xfrm>
            <a:off x="1609344" y="4137660"/>
            <a:ext cx="73152" cy="45720"/>
          </a:xfrm>
          <a:prstGeom prst="ellipse">
            <a:avLst/>
          </a:prstGeom>
          <a:solidFill>
            <a:srgbClr val="3B5B8C"/>
          </a:solidFill>
          <a:ln w="12700">
            <a:solidFill>
              <a:srgbClr val="3B5B8C"/>
            </a:solidFill>
            <a:prstDash val="solid"/>
          </a:ln>
        </p:spPr>
      </p:sp>
      <p:sp>
        <p:nvSpPr>
          <p:cNvPr id="64" name="Shape 62"/>
          <p:cNvSpPr/>
          <p:nvPr/>
        </p:nvSpPr>
        <p:spPr>
          <a:xfrm>
            <a:off x="1682496" y="4160520"/>
            <a:ext cx="82296" cy="22860"/>
          </a:xfrm>
          <a:prstGeom prst="line">
            <a:avLst/>
          </a:prstGeom>
          <a:noFill/>
          <a:ln w="9525">
            <a:solidFill>
              <a:srgbClr val="3B5B8C"/>
            </a:solidFill>
            <a:prstDash val="solid"/>
          </a:ln>
        </p:spPr>
      </p:sp>
      <p:sp>
        <p:nvSpPr>
          <p:cNvPr id="65" name="Shape 63"/>
          <p:cNvSpPr/>
          <p:nvPr/>
        </p:nvSpPr>
        <p:spPr>
          <a:xfrm flipV="1">
            <a:off x="1764792" y="4151376"/>
            <a:ext cx="82296" cy="32004"/>
          </a:xfrm>
          <a:prstGeom prst="line">
            <a:avLst/>
          </a:prstGeom>
          <a:noFill/>
          <a:ln w="9525">
            <a:solidFill>
              <a:srgbClr val="3B5B8C"/>
            </a:solidFill>
            <a:prstDash val="solid"/>
          </a:ln>
        </p:spPr>
      </p:sp>
      <p:sp>
        <p:nvSpPr>
          <p:cNvPr id="66" name="Text 64"/>
          <p:cNvSpPr/>
          <p:nvPr/>
        </p:nvSpPr>
        <p:spPr>
          <a:xfrm>
            <a:off x="1847088" y="3429000"/>
            <a:ext cx="868680" cy="411480"/>
          </a:xfrm>
          <a:prstGeom prst="rect">
            <a:avLst/>
          </a:prstGeom>
          <a:noFill/>
          <a:ln/>
        </p:spPr>
        <p:txBody>
          <a:bodyPr wrap="square" lIns="0" tIns="0" rIns="0" bIns="0" rtlCol="0" anchor="t"/>
          <a:lstStyle/>
          <a:p>
            <a:pPr algn="l" indent="0" marL="0">
              <a:buNone/>
            </a:pPr>
            <a:r>
              <a:rPr lang="en-US" sz="1000" b="1" dirty="0">
                <a:solidFill>
                  <a:srgbClr val="8A560A"/>
                </a:solidFill>
                <a:latin typeface="Calibri" pitchFamily="34" charset="0"/>
                <a:ea typeface="Calibri" pitchFamily="34" charset="-122"/>
                <a:cs typeface="Calibri" pitchFamily="34" charset="-120"/>
              </a:rPr>
              <a:t>cervix</a:t>
            </a:r>
            <a:r>
              <a:rPr lang="en-US" sz="1000" dirty="0">
                <a:solidFill>
                  <a:srgbClr val="8A560A"/>
                </a:solidFill>
                <a:latin typeface="Calibri" pitchFamily="34" charset="0"/>
                <a:ea typeface="Calibri" pitchFamily="34" charset="-122"/>
                <a:cs typeface="Calibri" pitchFamily="34" charset="-120"/>
              </a:rPr>
              <a:t>: thick mucus</a:t>
            </a:r>
            <a:endParaRPr lang="en-US" sz="1000" dirty="0"/>
          </a:p>
        </p:txBody>
      </p:sp>
      <p:sp>
        <p:nvSpPr>
          <p:cNvPr id="67" name="Text 65"/>
          <p:cNvSpPr/>
          <p:nvPr/>
        </p:nvSpPr>
        <p:spPr>
          <a:xfrm>
            <a:off x="1874520" y="3977640"/>
            <a:ext cx="822960" cy="365760"/>
          </a:xfrm>
          <a:prstGeom prst="rect">
            <a:avLst/>
          </a:prstGeom>
          <a:noFill/>
          <a:ln/>
        </p:spPr>
        <p:txBody>
          <a:bodyPr wrap="square" lIns="0" tIns="0" rIns="0" bIns="0" rtlCol="0" anchor="t"/>
          <a:lstStyle/>
          <a:p>
            <a:pPr algn="l" indent="0" marL="0">
              <a:buNone/>
            </a:pPr>
            <a:r>
              <a:rPr lang="en-US" sz="1000" i="1" dirty="0">
                <a:solidFill>
                  <a:srgbClr val="6B7385"/>
                </a:solidFill>
                <a:latin typeface="Calibri" pitchFamily="34" charset="0"/>
                <a:ea typeface="Calibri" pitchFamily="34" charset="-122"/>
                <a:cs typeface="Calibri" pitchFamily="34" charset="-120"/>
              </a:rPr>
              <a:t>sperm blocked</a:t>
            </a:r>
            <a:endParaRPr lang="en-US" sz="1000" dirty="0"/>
          </a:p>
        </p:txBody>
      </p:sp>
      <p:sp>
        <p:nvSpPr>
          <p:cNvPr id="68" name="Text 66"/>
          <p:cNvSpPr/>
          <p:nvPr/>
        </p:nvSpPr>
        <p:spPr>
          <a:xfrm>
            <a:off x="685800" y="4343400"/>
            <a:ext cx="2011680" cy="384048"/>
          </a:xfrm>
          <a:prstGeom prst="rect">
            <a:avLst/>
          </a:prstGeom>
          <a:noFill/>
          <a:ln/>
        </p:spPr>
        <p:txBody>
          <a:bodyPr wrap="square" lIns="0" tIns="0" rIns="0" bIns="0" rtlCol="0" anchor="t"/>
          <a:lstStyle/>
          <a:p>
            <a:pPr algn="ctr" indent="0" marL="0">
              <a:buNone/>
            </a:pPr>
            <a:r>
              <a:rPr lang="en-US" sz="1000" dirty="0">
                <a:solidFill>
                  <a:srgbClr val="8A560A"/>
                </a:solidFill>
                <a:latin typeface="Calibri" pitchFamily="34" charset="0"/>
                <a:ea typeface="Calibri" pitchFamily="34" charset="-122"/>
                <a:cs typeface="Calibri" pitchFamily="34" charset="-120"/>
              </a:rPr>
              <a:t>progesterone makes the </a:t>
            </a:r>
            <a:r>
              <a:rPr lang="en-US" sz="1000" b="1" dirty="0">
                <a:solidFill>
                  <a:srgbClr val="8A560A"/>
                </a:solidFill>
                <a:latin typeface="Calibri" pitchFamily="34" charset="0"/>
                <a:ea typeface="Calibri" pitchFamily="34" charset="-122"/>
                <a:cs typeface="Calibri" pitchFamily="34" charset="-120"/>
              </a:rPr>
              <a:t>mucus thick</a:t>
            </a:r>
            <a:endParaRPr lang="en-US" sz="1000" dirty="0"/>
          </a:p>
        </p:txBody>
      </p:sp>
      <p:sp>
        <p:nvSpPr>
          <p:cNvPr id="69" name="Text 67"/>
          <p:cNvSpPr/>
          <p:nvPr/>
        </p:nvSpPr>
        <p:spPr>
          <a:xfrm>
            <a:off x="640080" y="4956048"/>
            <a:ext cx="1005840" cy="256032"/>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Also:</a:t>
            </a:r>
            <a:endParaRPr lang="en-US" sz="1050" dirty="0"/>
          </a:p>
        </p:txBody>
      </p:sp>
      <p:sp>
        <p:nvSpPr>
          <p:cNvPr id="70" name="Shape 68"/>
          <p:cNvSpPr/>
          <p:nvPr/>
        </p:nvSpPr>
        <p:spPr>
          <a:xfrm>
            <a:off x="1234440" y="5047488"/>
            <a:ext cx="274320" cy="64008"/>
          </a:xfrm>
          <a:prstGeom prst="rect">
            <a:avLst/>
          </a:prstGeom>
          <a:solidFill>
            <a:srgbClr val="D9C6A8"/>
          </a:solidFill>
          <a:ln w="9525">
            <a:solidFill>
              <a:srgbClr val="8A6A3A"/>
            </a:solidFill>
            <a:prstDash val="solid"/>
          </a:ln>
        </p:spPr>
      </p:sp>
      <p:sp>
        <p:nvSpPr>
          <p:cNvPr id="71" name="Text 69"/>
          <p:cNvSpPr/>
          <p:nvPr/>
        </p:nvSpPr>
        <p:spPr>
          <a:xfrm>
            <a:off x="1554480" y="4956048"/>
            <a:ext cx="822960" cy="256032"/>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implant</a:t>
            </a:r>
            <a:endParaRPr lang="en-US" sz="1000" dirty="0"/>
          </a:p>
        </p:txBody>
      </p:sp>
      <p:sp>
        <p:nvSpPr>
          <p:cNvPr id="72" name="Shape 70"/>
          <p:cNvSpPr/>
          <p:nvPr/>
        </p:nvSpPr>
        <p:spPr>
          <a:xfrm>
            <a:off x="2451506" y="5046574"/>
            <a:ext cx="226314" cy="65837"/>
          </a:xfrm>
          <a:prstGeom prst="rect">
            <a:avLst/>
          </a:prstGeom>
          <a:solidFill>
            <a:srgbClr val="DDE9F7"/>
          </a:solidFill>
          <a:ln w="12700">
            <a:solidFill>
              <a:srgbClr val="4A5262"/>
            </a:solidFill>
            <a:prstDash val="solid"/>
          </a:ln>
        </p:spPr>
      </p:sp>
      <p:sp>
        <p:nvSpPr>
          <p:cNvPr id="73" name="Shape 71"/>
          <p:cNvSpPr/>
          <p:nvPr/>
        </p:nvSpPr>
        <p:spPr>
          <a:xfrm>
            <a:off x="2459736" y="5054803"/>
            <a:ext cx="123444" cy="49378"/>
          </a:xfrm>
          <a:prstGeom prst="rect">
            <a:avLst/>
          </a:prstGeom>
          <a:solidFill>
            <a:srgbClr val="D98A1E">
              <a:alpha val="70000"/>
            </a:srgbClr>
          </a:solidFill>
          <a:ln/>
        </p:spPr>
      </p:sp>
      <p:sp>
        <p:nvSpPr>
          <p:cNvPr id="74" name="Shape 72"/>
          <p:cNvSpPr/>
          <p:nvPr/>
        </p:nvSpPr>
        <p:spPr>
          <a:xfrm>
            <a:off x="2377440" y="5079492"/>
            <a:ext cx="74066" cy="91"/>
          </a:xfrm>
          <a:prstGeom prst="line">
            <a:avLst/>
          </a:prstGeom>
          <a:noFill/>
          <a:ln w="31750">
            <a:solidFill>
              <a:srgbClr val="4A5262"/>
            </a:solidFill>
            <a:prstDash val="solid"/>
          </a:ln>
        </p:spPr>
      </p:sp>
      <p:sp>
        <p:nvSpPr>
          <p:cNvPr id="75" name="Shape 73"/>
          <p:cNvSpPr/>
          <p:nvPr/>
        </p:nvSpPr>
        <p:spPr>
          <a:xfrm>
            <a:off x="2677820" y="5079492"/>
            <a:ext cx="90526" cy="91"/>
          </a:xfrm>
          <a:prstGeom prst="line">
            <a:avLst/>
          </a:prstGeom>
          <a:noFill/>
          <a:ln w="25400">
            <a:solidFill>
              <a:srgbClr val="4A5262"/>
            </a:solidFill>
            <a:prstDash val="solid"/>
          </a:ln>
        </p:spPr>
      </p:sp>
      <p:sp>
        <p:nvSpPr>
          <p:cNvPr id="76" name="Shape 74"/>
          <p:cNvSpPr/>
          <p:nvPr/>
        </p:nvSpPr>
        <p:spPr>
          <a:xfrm>
            <a:off x="2768346" y="5038344"/>
            <a:ext cx="91" cy="82296"/>
          </a:xfrm>
          <a:prstGeom prst="line">
            <a:avLst/>
          </a:prstGeom>
          <a:noFill/>
          <a:ln w="31750">
            <a:solidFill>
              <a:srgbClr val="4A5262"/>
            </a:solidFill>
            <a:prstDash val="solid"/>
          </a:ln>
        </p:spPr>
      </p:sp>
      <p:sp>
        <p:nvSpPr>
          <p:cNvPr id="77" name="Shape 75"/>
          <p:cNvSpPr/>
          <p:nvPr/>
        </p:nvSpPr>
        <p:spPr>
          <a:xfrm>
            <a:off x="2303374" y="5079492"/>
            <a:ext cx="74066" cy="91"/>
          </a:xfrm>
          <a:prstGeom prst="line">
            <a:avLst/>
          </a:prstGeom>
          <a:noFill/>
          <a:ln w="12700">
            <a:solidFill>
              <a:srgbClr val="8C96A8"/>
            </a:solidFill>
            <a:prstDash val="solid"/>
          </a:ln>
        </p:spPr>
      </p:sp>
      <p:sp>
        <p:nvSpPr>
          <p:cNvPr id="78" name="Text 76"/>
          <p:cNvSpPr/>
          <p:nvPr/>
        </p:nvSpPr>
        <p:spPr>
          <a:xfrm>
            <a:off x="2834640" y="4956048"/>
            <a:ext cx="822960" cy="256032"/>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injection</a:t>
            </a:r>
            <a:endParaRPr lang="en-US" sz="1000" dirty="0"/>
          </a:p>
        </p:txBody>
      </p:sp>
      <p:sp>
        <p:nvSpPr>
          <p:cNvPr id="79" name="Shape 77"/>
          <p:cNvSpPr/>
          <p:nvPr/>
        </p:nvSpPr>
        <p:spPr>
          <a:xfrm>
            <a:off x="3611880" y="4992624"/>
            <a:ext cx="182880" cy="182880"/>
          </a:xfrm>
          <a:prstGeom prst="rect">
            <a:avLst/>
          </a:prstGeom>
          <a:solidFill>
            <a:srgbClr val="F3D9B8"/>
          </a:solidFill>
          <a:ln w="9525">
            <a:solidFill>
              <a:srgbClr val="8A6A3A"/>
            </a:solidFill>
            <a:prstDash val="solid"/>
          </a:ln>
        </p:spPr>
      </p:sp>
      <p:sp>
        <p:nvSpPr>
          <p:cNvPr id="80" name="Text 78"/>
          <p:cNvSpPr/>
          <p:nvPr/>
        </p:nvSpPr>
        <p:spPr>
          <a:xfrm>
            <a:off x="3840480" y="4956048"/>
            <a:ext cx="548640" cy="256032"/>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patch</a:t>
            </a:r>
            <a:endParaRPr lang="en-US" sz="1000" dirty="0"/>
          </a:p>
        </p:txBody>
      </p:sp>
      <p:sp>
        <p:nvSpPr>
          <p:cNvPr id="81" name="Shape 79"/>
          <p:cNvSpPr/>
          <p:nvPr/>
        </p:nvSpPr>
        <p:spPr>
          <a:xfrm>
            <a:off x="4434840" y="5010912"/>
            <a:ext cx="274320" cy="91"/>
          </a:xfrm>
          <a:prstGeom prst="line">
            <a:avLst/>
          </a:prstGeom>
          <a:noFill/>
          <a:ln w="31750">
            <a:solidFill>
              <a:srgbClr val="D98A1E"/>
            </a:solidFill>
            <a:prstDash val="solid"/>
          </a:ln>
        </p:spPr>
      </p:sp>
      <p:sp>
        <p:nvSpPr>
          <p:cNvPr id="82" name="Shape 80"/>
          <p:cNvSpPr/>
          <p:nvPr/>
        </p:nvSpPr>
        <p:spPr>
          <a:xfrm>
            <a:off x="4572000" y="5010912"/>
            <a:ext cx="91" cy="182880"/>
          </a:xfrm>
          <a:prstGeom prst="line">
            <a:avLst/>
          </a:prstGeom>
          <a:noFill/>
          <a:ln w="31750">
            <a:solidFill>
              <a:srgbClr val="D98A1E"/>
            </a:solidFill>
            <a:prstDash val="solid"/>
          </a:ln>
        </p:spPr>
      </p:sp>
      <p:sp>
        <p:nvSpPr>
          <p:cNvPr id="83" name="Text 81"/>
          <p:cNvSpPr/>
          <p:nvPr/>
        </p:nvSpPr>
        <p:spPr>
          <a:xfrm>
            <a:off x="4754880" y="4956048"/>
            <a:ext cx="1188720" cy="256032"/>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hormonal coil (IUS)</a:t>
            </a:r>
            <a:endParaRPr lang="en-US" sz="1000" dirty="0"/>
          </a:p>
        </p:txBody>
      </p:sp>
      <p:sp>
        <p:nvSpPr>
          <p:cNvPr id="84" name="Shape 82"/>
          <p:cNvSpPr/>
          <p:nvPr/>
        </p:nvSpPr>
        <p:spPr>
          <a:xfrm>
            <a:off x="6217920" y="1188720"/>
            <a:ext cx="5562295" cy="2788920"/>
          </a:xfrm>
          <a:prstGeom prst="roundRect">
            <a:avLst>
              <a:gd name="adj" fmla="val 1967"/>
            </a:avLst>
          </a:prstGeom>
          <a:solidFill>
            <a:srgbClr val="F4FAF9"/>
          </a:solidFill>
          <a:ln w="9525">
            <a:solidFill>
              <a:srgbClr val="CFE0DE"/>
            </a:solidFill>
            <a:prstDash val="solid"/>
          </a:ln>
        </p:spPr>
      </p:sp>
      <p:sp>
        <p:nvSpPr>
          <p:cNvPr id="85" name="Text 8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Using hormones to prevent pregnancy</a:t>
            </a:r>
            <a:endParaRPr lang="en-US" sz="1300" dirty="0"/>
          </a:p>
        </p:txBody>
      </p:sp>
      <p:sp>
        <p:nvSpPr>
          <p:cNvPr id="86" name="Text 84"/>
          <p:cNvSpPr/>
          <p:nvPr/>
        </p:nvSpPr>
        <p:spPr>
          <a:xfrm>
            <a:off x="6382512" y="1609344"/>
            <a:ext cx="5233111" cy="2295144"/>
          </a:xfrm>
          <a:prstGeom prst="rect">
            <a:avLst/>
          </a:prstGeom>
          <a:noFill/>
          <a:ln/>
        </p:spPr>
        <p:txBody>
          <a:bodyPr wrap="square" lIns="0" tIns="0" rIns="0" bIns="0" rtlCol="0" anchor="t"/>
          <a:lstStyle/>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Combined pill</a:t>
            </a:r>
            <a:r>
              <a:rPr lang="en-US" sz="1050" dirty="0">
                <a:solidFill>
                  <a:srgbClr val="262B3A"/>
                </a:solidFill>
                <a:latin typeface="Calibri" pitchFamily="34" charset="0"/>
                <a:ea typeface="Calibri" pitchFamily="34" charset="-122"/>
                <a:cs typeface="Calibri" pitchFamily="34" charset="-120"/>
              </a:rPr>
              <a:t>: oestrogen + progesterone, taken daily. They </a:t>
            </a:r>
            <a:r>
              <a:rPr lang="en-US" sz="1050" b="1" dirty="0">
                <a:solidFill>
                  <a:srgbClr val="262B3A"/>
                </a:solidFill>
                <a:latin typeface="Calibri" pitchFamily="34" charset="0"/>
                <a:ea typeface="Calibri" pitchFamily="34" charset="-122"/>
                <a:cs typeface="Calibri" pitchFamily="34" charset="-120"/>
              </a:rPr>
              <a:t>inhibit FSH and LH</a:t>
            </a:r>
            <a:r>
              <a:rPr lang="en-US" sz="1050" dirty="0">
                <a:solidFill>
                  <a:srgbClr val="262B3A"/>
                </a:solidFill>
                <a:latin typeface="Calibri" pitchFamily="34" charset="0"/>
                <a:ea typeface="Calibri" pitchFamily="34" charset="-122"/>
                <a:cs typeface="Calibri" pitchFamily="34" charset="-120"/>
              </a:rPr>
              <a:t>, so </a:t>
            </a:r>
            <a:r>
              <a:rPr lang="en-US" sz="1050" b="1" dirty="0">
                <a:solidFill>
                  <a:srgbClr val="262B3A"/>
                </a:solidFill>
                <a:latin typeface="Calibri" pitchFamily="34" charset="0"/>
                <a:ea typeface="Calibri" pitchFamily="34" charset="-122"/>
                <a:cs typeface="Calibri" pitchFamily="34" charset="-120"/>
              </a:rPr>
              <a:t>no egg matures</a:t>
            </a:r>
            <a:r>
              <a:rPr lang="en-US" sz="1050" dirty="0">
                <a:solidFill>
                  <a:srgbClr val="262B3A"/>
                </a:solidFill>
                <a:latin typeface="Calibri" pitchFamily="34" charset="0"/>
                <a:ea typeface="Calibri" pitchFamily="34" charset="-122"/>
                <a:cs typeface="Calibri" pitchFamily="34" charset="-120"/>
              </a:rPr>
              <a:t> and there is </a:t>
            </a:r>
            <a:r>
              <a:rPr lang="en-US" sz="1050" b="1" dirty="0">
                <a:solidFill>
                  <a:srgbClr val="262B3A"/>
                </a:solidFill>
                <a:latin typeface="Calibri" pitchFamily="34" charset="0"/>
                <a:ea typeface="Calibri" pitchFamily="34" charset="-122"/>
                <a:cs typeface="Calibri" pitchFamily="34" charset="-120"/>
              </a:rPr>
              <a:t>no ovulation</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Progesterone also makes </a:t>
            </a:r>
            <a:r>
              <a:rPr lang="en-US" sz="1050" b="1" dirty="0">
                <a:solidFill>
                  <a:srgbClr val="262B3A"/>
                </a:solidFill>
                <a:latin typeface="Calibri" pitchFamily="34" charset="0"/>
                <a:ea typeface="Calibri" pitchFamily="34" charset="-122"/>
                <a:cs typeface="Calibri" pitchFamily="34" charset="-120"/>
              </a:rPr>
              <a:t>cervical mucus thick</a:t>
            </a:r>
            <a:r>
              <a:rPr lang="en-US" sz="1050" dirty="0">
                <a:solidFill>
                  <a:srgbClr val="262B3A"/>
                </a:solidFill>
                <a:latin typeface="Calibri" pitchFamily="34" charset="0"/>
                <a:ea typeface="Calibri" pitchFamily="34" charset="-122"/>
                <a:cs typeface="Calibri" pitchFamily="34" charset="-120"/>
              </a:rPr>
              <a:t>, so sperm cannot get through.</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Progesterone-only</a:t>
            </a:r>
            <a:r>
              <a:rPr lang="en-US" sz="1050" dirty="0">
                <a:solidFill>
                  <a:srgbClr val="262B3A"/>
                </a:solidFill>
                <a:latin typeface="Calibri" pitchFamily="34" charset="0"/>
                <a:ea typeface="Calibri" pitchFamily="34" charset="-122"/>
                <a:cs typeface="Calibri" pitchFamily="34" charset="-120"/>
              </a:rPr>
              <a:t> methods: mini-pill, </a:t>
            </a:r>
            <a:r>
              <a:rPr lang="en-US" sz="1050" b="1" dirty="0">
                <a:solidFill>
                  <a:srgbClr val="262B3A"/>
                </a:solidFill>
                <a:latin typeface="Calibri" pitchFamily="34" charset="0"/>
                <a:ea typeface="Calibri" pitchFamily="34" charset="-122"/>
                <a:cs typeface="Calibri" pitchFamily="34" charset="-120"/>
              </a:rPr>
              <a:t>implant</a:t>
            </a:r>
            <a:r>
              <a:rPr lang="en-US" sz="1050" dirty="0">
                <a:solidFill>
                  <a:srgbClr val="262B3A"/>
                </a:solidFill>
                <a:latin typeface="Calibri" pitchFamily="34" charset="0"/>
                <a:ea typeface="Calibri" pitchFamily="34" charset="-122"/>
                <a:cs typeface="Calibri" pitchFamily="34" charset="-120"/>
              </a:rPr>
              <a:t> in the arm (about 3 years), </a:t>
            </a:r>
            <a:r>
              <a:rPr lang="en-US" sz="1050" b="1" dirty="0">
                <a:solidFill>
                  <a:srgbClr val="262B3A"/>
                </a:solidFill>
                <a:latin typeface="Calibri" pitchFamily="34" charset="0"/>
                <a:ea typeface="Calibri" pitchFamily="34" charset="-122"/>
                <a:cs typeface="Calibri" pitchFamily="34" charset="-120"/>
              </a:rPr>
              <a:t>injection</a:t>
            </a:r>
            <a:r>
              <a:rPr lang="en-US" sz="1050" dirty="0">
                <a:solidFill>
                  <a:srgbClr val="262B3A"/>
                </a:solidFill>
                <a:latin typeface="Calibri" pitchFamily="34" charset="0"/>
                <a:ea typeface="Calibri" pitchFamily="34" charset="-122"/>
                <a:cs typeface="Calibri" pitchFamily="34" charset="-120"/>
              </a:rPr>
              <a:t> (every 8–13 weeks), hormonal coil (IUS).</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Very effective if used correctly, but they give </a:t>
            </a:r>
            <a:r>
              <a:rPr lang="en-US" sz="1050" b="1" dirty="0">
                <a:solidFill>
                  <a:srgbClr val="262B3A"/>
                </a:solidFill>
                <a:latin typeface="Calibri" pitchFamily="34" charset="0"/>
                <a:ea typeface="Calibri" pitchFamily="34" charset="-122"/>
                <a:cs typeface="Calibri" pitchFamily="34" charset="-120"/>
              </a:rPr>
              <a:t>no protection</a:t>
            </a:r>
            <a:r>
              <a:rPr lang="en-US" sz="1050" dirty="0">
                <a:solidFill>
                  <a:srgbClr val="262B3A"/>
                </a:solidFill>
                <a:latin typeface="Calibri" pitchFamily="34" charset="0"/>
                <a:ea typeface="Calibri" pitchFamily="34" charset="-122"/>
                <a:cs typeface="Calibri" pitchFamily="34" charset="-120"/>
              </a:rPr>
              <a:t> from sexually transmitted infections (</a:t>
            </a:r>
            <a:r>
              <a:rPr lang="en-US" sz="1050" b="1" dirty="0">
                <a:solidFill>
                  <a:srgbClr val="262B3A"/>
                </a:solidFill>
                <a:latin typeface="Calibri" pitchFamily="34" charset="0"/>
                <a:ea typeface="Calibri" pitchFamily="34" charset="-122"/>
                <a:cs typeface="Calibri" pitchFamily="34" charset="-120"/>
              </a:rPr>
              <a:t>STIs</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Possible side effects: headaches, mood changes, irregular bleeding; a small increased risk of blood clots with oestrogen.</a:t>
            </a:r>
            <a:endParaRPr lang="en-US" sz="1050" dirty="0"/>
          </a:p>
        </p:txBody>
      </p:sp>
      <p:sp>
        <p:nvSpPr>
          <p:cNvPr id="87" name="Shape 85"/>
          <p:cNvSpPr/>
          <p:nvPr/>
        </p:nvSpPr>
        <p:spPr>
          <a:xfrm>
            <a:off x="6217920" y="4114800"/>
            <a:ext cx="5562295" cy="1600200"/>
          </a:xfrm>
          <a:prstGeom prst="roundRect">
            <a:avLst>
              <a:gd name="adj" fmla="val 3429"/>
            </a:avLst>
          </a:prstGeom>
          <a:solidFill>
            <a:srgbClr val="FFF4E0"/>
          </a:solidFill>
          <a:ln w="9525">
            <a:solidFill>
              <a:srgbClr val="F1D9A8"/>
            </a:solidFill>
            <a:prstDash val="solid"/>
          </a:ln>
        </p:spPr>
      </p:sp>
      <p:sp>
        <p:nvSpPr>
          <p:cNvPr id="88" name="Text 86"/>
          <p:cNvSpPr/>
          <p:nvPr/>
        </p:nvSpPr>
        <p:spPr>
          <a:xfrm>
            <a:off x="6382512" y="41879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evaluate</a:t>
            </a:r>
            <a:endParaRPr lang="en-US" sz="1300" dirty="0"/>
          </a:p>
        </p:txBody>
      </p:sp>
      <p:sp>
        <p:nvSpPr>
          <p:cNvPr id="89" name="Text 87"/>
          <p:cNvSpPr/>
          <p:nvPr/>
        </p:nvSpPr>
        <p:spPr>
          <a:xfrm>
            <a:off x="6382512" y="4498848"/>
            <a:ext cx="5233111" cy="114300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In typical use the implant fails for 0.1 in 100 women a year, the pill for 7 in 100. Suggest why.</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Pill   </a:t>
            </a:r>
            <a:r>
              <a:rPr lang="en-US" sz="1050" dirty="0">
                <a:solidFill>
                  <a:srgbClr val="262B3A"/>
                </a:solidFill>
                <a:latin typeface="Calibri" pitchFamily="34" charset="0"/>
                <a:ea typeface="Calibri" pitchFamily="34" charset="-122"/>
                <a:cs typeface="Calibri" pitchFamily="34" charset="-120"/>
              </a:rPr>
              <a:t>must be taken every day; missed pills let FSH rise</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Implant   </a:t>
            </a:r>
            <a:r>
              <a:rPr lang="en-US" sz="1050" dirty="0">
                <a:solidFill>
                  <a:srgbClr val="262B3A"/>
                </a:solidFill>
                <a:latin typeface="Calibri" pitchFamily="34" charset="0"/>
                <a:ea typeface="Calibri" pitchFamily="34" charset="-122"/>
                <a:cs typeface="Calibri" pitchFamily="34" charset="-120"/>
              </a:rPr>
              <a:t>releases progesterone all the time for about 3 years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the implant does not rely on remembering, so fewer mistakes</a:t>
            </a:r>
            <a:endParaRPr lang="en-US" sz="1050" dirty="0"/>
          </a:p>
        </p:txBody>
      </p:sp>
      <p:sp>
        <p:nvSpPr>
          <p:cNvPr id="90" name="Shape 88"/>
          <p:cNvSpPr/>
          <p:nvPr/>
        </p:nvSpPr>
        <p:spPr>
          <a:xfrm>
            <a:off x="411480" y="5833872"/>
            <a:ext cx="11368735" cy="530352"/>
          </a:xfrm>
          <a:prstGeom prst="rect">
            <a:avLst/>
          </a:prstGeom>
          <a:solidFill>
            <a:srgbClr val="FFF4E0"/>
          </a:solidFill>
          <a:ln w="6350">
            <a:solidFill>
              <a:srgbClr val="F1D9A8"/>
            </a:solidFill>
            <a:prstDash val="solid"/>
          </a:ln>
        </p:spPr>
      </p:sp>
      <p:sp>
        <p:nvSpPr>
          <p:cNvPr id="91" name="Shape 89"/>
          <p:cNvSpPr/>
          <p:nvPr/>
        </p:nvSpPr>
        <p:spPr>
          <a:xfrm>
            <a:off x="411480" y="5833872"/>
            <a:ext cx="82296" cy="530352"/>
          </a:xfrm>
          <a:prstGeom prst="rect">
            <a:avLst/>
          </a:prstGeom>
          <a:solidFill>
            <a:srgbClr val="E39A2F"/>
          </a:solidFill>
          <a:ln w="12700">
            <a:solidFill>
              <a:srgbClr val="E39A2F"/>
            </a:solidFill>
            <a:prstDash val="solid"/>
          </a:ln>
        </p:spPr>
      </p:sp>
      <p:sp>
        <p:nvSpPr>
          <p:cNvPr id="92" name="Text 9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Explain how taking </a:t>
            </a:r>
            <a:r>
              <a:rPr lang="en-US" sz="1150" b="1" dirty="0">
                <a:solidFill>
                  <a:srgbClr val="262B3A"/>
                </a:solidFill>
                <a:latin typeface="Calibri" pitchFamily="34" charset="0"/>
                <a:ea typeface="Calibri" pitchFamily="34" charset="-122"/>
                <a:cs typeface="Calibri" pitchFamily="34" charset="-120"/>
              </a:rPr>
              <a:t>oestrogen</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progesterone</a:t>
            </a:r>
            <a:r>
              <a:rPr lang="en-US" sz="1150" dirty="0">
                <a:solidFill>
                  <a:srgbClr val="262B3A"/>
                </a:solidFill>
                <a:latin typeface="Calibri" pitchFamily="34" charset="0"/>
                <a:ea typeface="Calibri" pitchFamily="34" charset="-122"/>
                <a:cs typeface="Calibri" pitchFamily="34" charset="-120"/>
              </a:rPr>
              <a:t> each day stops a woman from becoming pregnant.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Non-hormonal contraception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B5.5.3 • stop sperm reaching an egg, or stop an embryo implanting</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B5.5 What role do hormones play in human reproduction?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B5.5.3  |  13</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where each method works (female system, front view)</a:t>
            </a:r>
            <a:endParaRPr lang="en-US" sz="1000" dirty="0"/>
          </a:p>
        </p:txBody>
      </p:sp>
      <p:sp>
        <p:nvSpPr>
          <p:cNvPr id="10" name="Shape 8"/>
          <p:cNvSpPr/>
          <p:nvPr/>
        </p:nvSpPr>
        <p:spPr>
          <a:xfrm flipH="1" flipV="1">
            <a:off x="1984248" y="1923532"/>
            <a:ext cx="351130" cy="245791"/>
          </a:xfrm>
          <a:prstGeom prst="line">
            <a:avLst/>
          </a:prstGeom>
          <a:noFill/>
          <a:ln w="113792">
            <a:solidFill>
              <a:srgbClr val="A33E48"/>
            </a:solidFill>
            <a:prstDash val="solid"/>
          </a:ln>
        </p:spPr>
      </p:sp>
      <p:sp>
        <p:nvSpPr>
          <p:cNvPr id="11" name="Shape 9"/>
          <p:cNvSpPr/>
          <p:nvPr/>
        </p:nvSpPr>
        <p:spPr>
          <a:xfrm flipH="1" flipV="1">
            <a:off x="1574597" y="1806489"/>
            <a:ext cx="409651" cy="117043"/>
          </a:xfrm>
          <a:prstGeom prst="line">
            <a:avLst/>
          </a:prstGeom>
          <a:noFill/>
          <a:ln w="113792">
            <a:solidFill>
              <a:srgbClr val="A33E48"/>
            </a:solidFill>
            <a:prstDash val="solid"/>
          </a:ln>
        </p:spPr>
      </p:sp>
      <p:sp>
        <p:nvSpPr>
          <p:cNvPr id="12" name="Shape 10"/>
          <p:cNvSpPr/>
          <p:nvPr/>
        </p:nvSpPr>
        <p:spPr>
          <a:xfrm flipH="1">
            <a:off x="1164946" y="1806489"/>
            <a:ext cx="409651" cy="187269"/>
          </a:xfrm>
          <a:prstGeom prst="line">
            <a:avLst/>
          </a:prstGeom>
          <a:noFill/>
          <a:ln w="113792">
            <a:solidFill>
              <a:srgbClr val="A33E48"/>
            </a:solidFill>
            <a:prstDash val="solid"/>
          </a:ln>
        </p:spPr>
      </p:sp>
      <p:sp>
        <p:nvSpPr>
          <p:cNvPr id="13" name="Shape 11"/>
          <p:cNvSpPr/>
          <p:nvPr/>
        </p:nvSpPr>
        <p:spPr>
          <a:xfrm flipH="1">
            <a:off x="954268" y="1993758"/>
            <a:ext cx="210678" cy="316017"/>
          </a:xfrm>
          <a:prstGeom prst="line">
            <a:avLst/>
          </a:prstGeom>
          <a:noFill/>
          <a:ln w="113792">
            <a:solidFill>
              <a:srgbClr val="A33E48"/>
            </a:solidFill>
            <a:prstDash val="solid"/>
          </a:ln>
        </p:spPr>
      </p:sp>
      <p:sp>
        <p:nvSpPr>
          <p:cNvPr id="14" name="Shape 12"/>
          <p:cNvSpPr/>
          <p:nvPr/>
        </p:nvSpPr>
        <p:spPr>
          <a:xfrm flipH="1" flipV="1">
            <a:off x="1984248" y="1923532"/>
            <a:ext cx="351130" cy="245791"/>
          </a:xfrm>
          <a:prstGeom prst="line">
            <a:avLst/>
          </a:prstGeom>
          <a:noFill/>
          <a:ln w="73152">
            <a:solidFill>
              <a:srgbClr val="EFB4B8"/>
            </a:solidFill>
            <a:prstDash val="solid"/>
          </a:ln>
        </p:spPr>
      </p:sp>
      <p:sp>
        <p:nvSpPr>
          <p:cNvPr id="15" name="Shape 13"/>
          <p:cNvSpPr/>
          <p:nvPr/>
        </p:nvSpPr>
        <p:spPr>
          <a:xfrm flipH="1" flipV="1">
            <a:off x="1574597" y="1806489"/>
            <a:ext cx="409651" cy="117043"/>
          </a:xfrm>
          <a:prstGeom prst="line">
            <a:avLst/>
          </a:prstGeom>
          <a:noFill/>
          <a:ln w="73152">
            <a:solidFill>
              <a:srgbClr val="EFB4B8"/>
            </a:solidFill>
            <a:prstDash val="solid"/>
          </a:ln>
        </p:spPr>
      </p:sp>
      <p:sp>
        <p:nvSpPr>
          <p:cNvPr id="16" name="Shape 14"/>
          <p:cNvSpPr/>
          <p:nvPr/>
        </p:nvSpPr>
        <p:spPr>
          <a:xfrm flipH="1">
            <a:off x="1164946" y="1806489"/>
            <a:ext cx="409651" cy="187269"/>
          </a:xfrm>
          <a:prstGeom prst="line">
            <a:avLst/>
          </a:prstGeom>
          <a:noFill/>
          <a:ln w="73152">
            <a:solidFill>
              <a:srgbClr val="EFB4B8"/>
            </a:solidFill>
            <a:prstDash val="solid"/>
          </a:ln>
        </p:spPr>
      </p:sp>
      <p:sp>
        <p:nvSpPr>
          <p:cNvPr id="17" name="Shape 15"/>
          <p:cNvSpPr/>
          <p:nvPr/>
        </p:nvSpPr>
        <p:spPr>
          <a:xfrm flipH="1">
            <a:off x="954268" y="1993758"/>
            <a:ext cx="210678" cy="316017"/>
          </a:xfrm>
          <a:prstGeom prst="line">
            <a:avLst/>
          </a:prstGeom>
          <a:noFill/>
          <a:ln w="73152">
            <a:solidFill>
              <a:srgbClr val="EFB4B8"/>
            </a:solidFill>
            <a:prstDash val="solid"/>
          </a:ln>
        </p:spPr>
      </p:sp>
      <p:sp>
        <p:nvSpPr>
          <p:cNvPr id="18" name="Shape 16"/>
          <p:cNvSpPr/>
          <p:nvPr/>
        </p:nvSpPr>
        <p:spPr>
          <a:xfrm flipH="1">
            <a:off x="788066" y="2309774"/>
            <a:ext cx="166201" cy="198973"/>
          </a:xfrm>
          <a:prstGeom prst="line">
            <a:avLst/>
          </a:prstGeom>
          <a:noFill/>
          <a:ln w="15875">
            <a:solidFill>
              <a:srgbClr val="A33E48"/>
            </a:solidFill>
            <a:prstDash val="solid"/>
          </a:ln>
        </p:spPr>
      </p:sp>
      <p:sp>
        <p:nvSpPr>
          <p:cNvPr id="19" name="Shape 17"/>
          <p:cNvSpPr/>
          <p:nvPr/>
        </p:nvSpPr>
        <p:spPr>
          <a:xfrm flipH="1">
            <a:off x="837225" y="2309774"/>
            <a:ext cx="117043" cy="198973"/>
          </a:xfrm>
          <a:prstGeom prst="line">
            <a:avLst/>
          </a:prstGeom>
          <a:noFill/>
          <a:ln w="15875">
            <a:solidFill>
              <a:srgbClr val="A33E48"/>
            </a:solidFill>
            <a:prstDash val="solid"/>
          </a:ln>
        </p:spPr>
      </p:sp>
      <p:sp>
        <p:nvSpPr>
          <p:cNvPr id="20" name="Shape 18"/>
          <p:cNvSpPr/>
          <p:nvPr/>
        </p:nvSpPr>
        <p:spPr>
          <a:xfrm flipH="1">
            <a:off x="886383" y="2309774"/>
            <a:ext cx="67885" cy="198973"/>
          </a:xfrm>
          <a:prstGeom prst="line">
            <a:avLst/>
          </a:prstGeom>
          <a:noFill/>
          <a:ln w="15875">
            <a:solidFill>
              <a:srgbClr val="A33E48"/>
            </a:solidFill>
            <a:prstDash val="solid"/>
          </a:ln>
        </p:spPr>
      </p:sp>
      <p:sp>
        <p:nvSpPr>
          <p:cNvPr id="21" name="Shape 19"/>
          <p:cNvSpPr/>
          <p:nvPr/>
        </p:nvSpPr>
        <p:spPr>
          <a:xfrm>
            <a:off x="1047902" y="2520452"/>
            <a:ext cx="702259" cy="444764"/>
          </a:xfrm>
          <a:prstGeom prst="ellipse">
            <a:avLst/>
          </a:prstGeom>
          <a:solidFill>
            <a:srgbClr val="F3D3A6"/>
          </a:solidFill>
          <a:ln w="15875">
            <a:solidFill>
              <a:srgbClr val="9A6A2A"/>
            </a:solidFill>
            <a:prstDash val="solid"/>
          </a:ln>
        </p:spPr>
      </p:sp>
      <p:sp>
        <p:nvSpPr>
          <p:cNvPr id="22" name="Shape 20"/>
          <p:cNvSpPr/>
          <p:nvPr/>
        </p:nvSpPr>
        <p:spPr>
          <a:xfrm>
            <a:off x="1138541" y="2626306"/>
            <a:ext cx="99627" cy="99627"/>
          </a:xfrm>
          <a:prstGeom prst="ellipse">
            <a:avLst/>
          </a:prstGeom>
          <a:solidFill>
            <a:srgbClr val="FFF6E8"/>
          </a:solidFill>
          <a:ln w="6350">
            <a:solidFill>
              <a:srgbClr val="9A6A2A"/>
            </a:solidFill>
            <a:prstDash val="solid"/>
          </a:ln>
        </p:spPr>
      </p:sp>
      <p:sp>
        <p:nvSpPr>
          <p:cNvPr id="23" name="Shape 21"/>
          <p:cNvSpPr/>
          <p:nvPr/>
        </p:nvSpPr>
        <p:spPr>
          <a:xfrm>
            <a:off x="1391448" y="2797985"/>
            <a:ext cx="85395" cy="85395"/>
          </a:xfrm>
          <a:prstGeom prst="ellipse">
            <a:avLst/>
          </a:prstGeom>
          <a:solidFill>
            <a:srgbClr val="FFF6E8"/>
          </a:solidFill>
          <a:ln w="6350">
            <a:solidFill>
              <a:srgbClr val="9A6A2A"/>
            </a:solidFill>
            <a:prstDash val="solid"/>
          </a:ln>
        </p:spPr>
      </p:sp>
      <p:sp>
        <p:nvSpPr>
          <p:cNvPr id="24" name="Shape 22"/>
          <p:cNvSpPr/>
          <p:nvPr/>
        </p:nvSpPr>
        <p:spPr>
          <a:xfrm>
            <a:off x="1293225" y="2760625"/>
            <a:ext cx="71162" cy="71162"/>
          </a:xfrm>
          <a:prstGeom prst="ellipse">
            <a:avLst/>
          </a:prstGeom>
          <a:solidFill>
            <a:srgbClr val="FFF6E8"/>
          </a:solidFill>
          <a:ln w="6350">
            <a:solidFill>
              <a:srgbClr val="9A6A2A"/>
            </a:solidFill>
            <a:prstDash val="solid"/>
          </a:ln>
        </p:spPr>
      </p:sp>
      <p:sp>
        <p:nvSpPr>
          <p:cNvPr id="25" name="Shape 23"/>
          <p:cNvSpPr/>
          <p:nvPr/>
        </p:nvSpPr>
        <p:spPr>
          <a:xfrm flipH="1">
            <a:off x="1750162" y="2403409"/>
            <a:ext cx="491581" cy="316017"/>
          </a:xfrm>
          <a:prstGeom prst="line">
            <a:avLst/>
          </a:prstGeom>
          <a:noFill/>
          <a:ln w="15875">
            <a:solidFill>
              <a:srgbClr val="9A6A2A"/>
            </a:solidFill>
            <a:prstDash val="solid"/>
          </a:ln>
        </p:spPr>
      </p:sp>
      <p:sp>
        <p:nvSpPr>
          <p:cNvPr id="26" name="Shape 24"/>
          <p:cNvSpPr/>
          <p:nvPr/>
        </p:nvSpPr>
        <p:spPr>
          <a:xfrm>
            <a:off x="1779788" y="1737360"/>
            <a:ext cx="128016" cy="285293"/>
          </a:xfrm>
          <a:prstGeom prst="line">
            <a:avLst/>
          </a:prstGeom>
          <a:noFill/>
          <a:ln w="31750">
            <a:solidFill>
              <a:srgbClr val="133536"/>
            </a:solidFill>
            <a:prstDash val="solid"/>
          </a:ln>
        </p:spPr>
      </p:sp>
      <p:sp>
        <p:nvSpPr>
          <p:cNvPr id="27" name="Shape 25"/>
          <p:cNvSpPr/>
          <p:nvPr/>
        </p:nvSpPr>
        <p:spPr>
          <a:xfrm flipV="1">
            <a:off x="3973982" y="1923532"/>
            <a:ext cx="351130" cy="245791"/>
          </a:xfrm>
          <a:prstGeom prst="line">
            <a:avLst/>
          </a:prstGeom>
          <a:noFill/>
          <a:ln w="113792">
            <a:solidFill>
              <a:srgbClr val="A33E48"/>
            </a:solidFill>
            <a:prstDash val="solid"/>
          </a:ln>
        </p:spPr>
      </p:sp>
      <p:sp>
        <p:nvSpPr>
          <p:cNvPr id="28" name="Shape 26"/>
          <p:cNvSpPr/>
          <p:nvPr/>
        </p:nvSpPr>
        <p:spPr>
          <a:xfrm flipV="1">
            <a:off x="4325112" y="1806489"/>
            <a:ext cx="409651" cy="117043"/>
          </a:xfrm>
          <a:prstGeom prst="line">
            <a:avLst/>
          </a:prstGeom>
          <a:noFill/>
          <a:ln w="113792">
            <a:solidFill>
              <a:srgbClr val="A33E48"/>
            </a:solidFill>
            <a:prstDash val="solid"/>
          </a:ln>
        </p:spPr>
      </p:sp>
      <p:sp>
        <p:nvSpPr>
          <p:cNvPr id="29" name="Shape 27"/>
          <p:cNvSpPr/>
          <p:nvPr/>
        </p:nvSpPr>
        <p:spPr>
          <a:xfrm>
            <a:off x="4734763" y="1806489"/>
            <a:ext cx="409651" cy="187269"/>
          </a:xfrm>
          <a:prstGeom prst="line">
            <a:avLst/>
          </a:prstGeom>
          <a:noFill/>
          <a:ln w="113792">
            <a:solidFill>
              <a:srgbClr val="A33E48"/>
            </a:solidFill>
            <a:prstDash val="solid"/>
          </a:ln>
        </p:spPr>
      </p:sp>
      <p:sp>
        <p:nvSpPr>
          <p:cNvPr id="30" name="Shape 28"/>
          <p:cNvSpPr/>
          <p:nvPr/>
        </p:nvSpPr>
        <p:spPr>
          <a:xfrm>
            <a:off x="5144414" y="1993758"/>
            <a:ext cx="210678" cy="316017"/>
          </a:xfrm>
          <a:prstGeom prst="line">
            <a:avLst/>
          </a:prstGeom>
          <a:noFill/>
          <a:ln w="113792">
            <a:solidFill>
              <a:srgbClr val="A33E48"/>
            </a:solidFill>
            <a:prstDash val="solid"/>
          </a:ln>
        </p:spPr>
      </p:sp>
      <p:sp>
        <p:nvSpPr>
          <p:cNvPr id="31" name="Shape 29"/>
          <p:cNvSpPr/>
          <p:nvPr/>
        </p:nvSpPr>
        <p:spPr>
          <a:xfrm flipV="1">
            <a:off x="3973982" y="1923532"/>
            <a:ext cx="351130" cy="245791"/>
          </a:xfrm>
          <a:prstGeom prst="line">
            <a:avLst/>
          </a:prstGeom>
          <a:noFill/>
          <a:ln w="73152">
            <a:solidFill>
              <a:srgbClr val="EFB4B8"/>
            </a:solidFill>
            <a:prstDash val="solid"/>
          </a:ln>
        </p:spPr>
      </p:sp>
      <p:sp>
        <p:nvSpPr>
          <p:cNvPr id="32" name="Shape 30"/>
          <p:cNvSpPr/>
          <p:nvPr/>
        </p:nvSpPr>
        <p:spPr>
          <a:xfrm flipV="1">
            <a:off x="4325112" y="1806489"/>
            <a:ext cx="409651" cy="117043"/>
          </a:xfrm>
          <a:prstGeom prst="line">
            <a:avLst/>
          </a:prstGeom>
          <a:noFill/>
          <a:ln w="73152">
            <a:solidFill>
              <a:srgbClr val="EFB4B8"/>
            </a:solidFill>
            <a:prstDash val="solid"/>
          </a:ln>
        </p:spPr>
      </p:sp>
      <p:sp>
        <p:nvSpPr>
          <p:cNvPr id="33" name="Shape 31"/>
          <p:cNvSpPr/>
          <p:nvPr/>
        </p:nvSpPr>
        <p:spPr>
          <a:xfrm>
            <a:off x="4734763" y="1806489"/>
            <a:ext cx="409651" cy="187269"/>
          </a:xfrm>
          <a:prstGeom prst="line">
            <a:avLst/>
          </a:prstGeom>
          <a:noFill/>
          <a:ln w="73152">
            <a:solidFill>
              <a:srgbClr val="EFB4B8"/>
            </a:solidFill>
            <a:prstDash val="solid"/>
          </a:ln>
        </p:spPr>
      </p:sp>
      <p:sp>
        <p:nvSpPr>
          <p:cNvPr id="34" name="Shape 32"/>
          <p:cNvSpPr/>
          <p:nvPr/>
        </p:nvSpPr>
        <p:spPr>
          <a:xfrm>
            <a:off x="5144414" y="1993758"/>
            <a:ext cx="210678" cy="316017"/>
          </a:xfrm>
          <a:prstGeom prst="line">
            <a:avLst/>
          </a:prstGeom>
          <a:noFill/>
          <a:ln w="73152">
            <a:solidFill>
              <a:srgbClr val="EFB4B8"/>
            </a:solidFill>
            <a:prstDash val="solid"/>
          </a:ln>
        </p:spPr>
      </p:sp>
      <p:sp>
        <p:nvSpPr>
          <p:cNvPr id="35" name="Shape 33"/>
          <p:cNvSpPr/>
          <p:nvPr/>
        </p:nvSpPr>
        <p:spPr>
          <a:xfrm>
            <a:off x="5355092" y="2309774"/>
            <a:ext cx="67885" cy="198973"/>
          </a:xfrm>
          <a:prstGeom prst="line">
            <a:avLst/>
          </a:prstGeom>
          <a:noFill/>
          <a:ln w="15875">
            <a:solidFill>
              <a:srgbClr val="A33E48"/>
            </a:solidFill>
            <a:prstDash val="solid"/>
          </a:ln>
        </p:spPr>
      </p:sp>
      <p:sp>
        <p:nvSpPr>
          <p:cNvPr id="36" name="Shape 34"/>
          <p:cNvSpPr/>
          <p:nvPr/>
        </p:nvSpPr>
        <p:spPr>
          <a:xfrm>
            <a:off x="5355092" y="2309774"/>
            <a:ext cx="117043" cy="198973"/>
          </a:xfrm>
          <a:prstGeom prst="line">
            <a:avLst/>
          </a:prstGeom>
          <a:noFill/>
          <a:ln w="15875">
            <a:solidFill>
              <a:srgbClr val="A33E48"/>
            </a:solidFill>
            <a:prstDash val="solid"/>
          </a:ln>
        </p:spPr>
      </p:sp>
      <p:sp>
        <p:nvSpPr>
          <p:cNvPr id="37" name="Shape 35"/>
          <p:cNvSpPr/>
          <p:nvPr/>
        </p:nvSpPr>
        <p:spPr>
          <a:xfrm>
            <a:off x="5355092" y="2309774"/>
            <a:ext cx="166201" cy="198973"/>
          </a:xfrm>
          <a:prstGeom prst="line">
            <a:avLst/>
          </a:prstGeom>
          <a:noFill/>
          <a:ln w="15875">
            <a:solidFill>
              <a:srgbClr val="A33E48"/>
            </a:solidFill>
            <a:prstDash val="solid"/>
          </a:ln>
        </p:spPr>
      </p:sp>
      <p:sp>
        <p:nvSpPr>
          <p:cNvPr id="38" name="Shape 36"/>
          <p:cNvSpPr/>
          <p:nvPr/>
        </p:nvSpPr>
        <p:spPr>
          <a:xfrm>
            <a:off x="4559198" y="2520452"/>
            <a:ext cx="702259" cy="444764"/>
          </a:xfrm>
          <a:prstGeom prst="ellipse">
            <a:avLst/>
          </a:prstGeom>
          <a:solidFill>
            <a:srgbClr val="F3D3A6"/>
          </a:solidFill>
          <a:ln w="15875">
            <a:solidFill>
              <a:srgbClr val="9A6A2A"/>
            </a:solidFill>
            <a:prstDash val="solid"/>
          </a:ln>
        </p:spPr>
      </p:sp>
      <p:sp>
        <p:nvSpPr>
          <p:cNvPr id="39" name="Shape 37"/>
          <p:cNvSpPr/>
          <p:nvPr/>
        </p:nvSpPr>
        <p:spPr>
          <a:xfrm>
            <a:off x="4649837" y="2626306"/>
            <a:ext cx="99627" cy="99627"/>
          </a:xfrm>
          <a:prstGeom prst="ellipse">
            <a:avLst/>
          </a:prstGeom>
          <a:solidFill>
            <a:srgbClr val="FFF6E8"/>
          </a:solidFill>
          <a:ln w="6350">
            <a:solidFill>
              <a:srgbClr val="9A6A2A"/>
            </a:solidFill>
            <a:prstDash val="solid"/>
          </a:ln>
        </p:spPr>
      </p:sp>
      <p:sp>
        <p:nvSpPr>
          <p:cNvPr id="40" name="Shape 38"/>
          <p:cNvSpPr/>
          <p:nvPr/>
        </p:nvSpPr>
        <p:spPr>
          <a:xfrm>
            <a:off x="4902744" y="2797985"/>
            <a:ext cx="85395" cy="85395"/>
          </a:xfrm>
          <a:prstGeom prst="ellipse">
            <a:avLst/>
          </a:prstGeom>
          <a:solidFill>
            <a:srgbClr val="FFF6E8"/>
          </a:solidFill>
          <a:ln w="6350">
            <a:solidFill>
              <a:srgbClr val="9A6A2A"/>
            </a:solidFill>
            <a:prstDash val="solid"/>
          </a:ln>
        </p:spPr>
      </p:sp>
      <p:sp>
        <p:nvSpPr>
          <p:cNvPr id="41" name="Shape 39"/>
          <p:cNvSpPr/>
          <p:nvPr/>
        </p:nvSpPr>
        <p:spPr>
          <a:xfrm>
            <a:off x="4804521" y="2760625"/>
            <a:ext cx="71162" cy="71162"/>
          </a:xfrm>
          <a:prstGeom prst="ellipse">
            <a:avLst/>
          </a:prstGeom>
          <a:solidFill>
            <a:srgbClr val="FFF6E8"/>
          </a:solidFill>
          <a:ln w="6350">
            <a:solidFill>
              <a:srgbClr val="9A6A2A"/>
            </a:solidFill>
            <a:prstDash val="solid"/>
          </a:ln>
        </p:spPr>
      </p:sp>
      <p:sp>
        <p:nvSpPr>
          <p:cNvPr id="42" name="Shape 40"/>
          <p:cNvSpPr/>
          <p:nvPr/>
        </p:nvSpPr>
        <p:spPr>
          <a:xfrm>
            <a:off x="4067617" y="2403409"/>
            <a:ext cx="491581" cy="316017"/>
          </a:xfrm>
          <a:prstGeom prst="line">
            <a:avLst/>
          </a:prstGeom>
          <a:noFill/>
          <a:ln w="15875">
            <a:solidFill>
              <a:srgbClr val="9A6A2A"/>
            </a:solidFill>
            <a:prstDash val="solid"/>
          </a:ln>
        </p:spPr>
      </p:sp>
      <p:sp>
        <p:nvSpPr>
          <p:cNvPr id="43" name="Shape 41"/>
          <p:cNvSpPr/>
          <p:nvPr/>
        </p:nvSpPr>
        <p:spPr>
          <a:xfrm>
            <a:off x="4401556" y="1737360"/>
            <a:ext cx="128016" cy="285293"/>
          </a:xfrm>
          <a:prstGeom prst="line">
            <a:avLst/>
          </a:prstGeom>
          <a:noFill/>
          <a:ln w="31750">
            <a:solidFill>
              <a:srgbClr val="133536"/>
            </a:solidFill>
            <a:prstDash val="solid"/>
          </a:ln>
        </p:spPr>
      </p:sp>
      <p:sp>
        <p:nvSpPr>
          <p:cNvPr id="44" name="Shape 42"/>
          <p:cNvSpPr/>
          <p:nvPr/>
        </p:nvSpPr>
        <p:spPr>
          <a:xfrm>
            <a:off x="2218334" y="1818193"/>
            <a:ext cx="1872691" cy="3125053"/>
          </a:xfrm>
          <a:custGeom>
            <a:avLst/>
            <a:gdLst/>
            <a:ahLst/>
            <a:cxnLst/>
            <a:rect l="l" t="t" r="r" b="b"/>
            <a:pathLst>
              <a:path w="1872691" h="3125053">
                <a:moveTo>
                  <a:pt x="0" y="491581"/>
                </a:moveTo>
                <a:lnTo>
                  <a:pt x="14225" y="406219"/>
                </a:lnTo>
                <a:lnTo>
                  <a:pt x="56469" y="323451"/>
                </a:lnTo>
                <a:lnTo>
                  <a:pt x="125447" y="245791"/>
                </a:lnTo>
                <a:lnTo>
                  <a:pt x="219063" y="175599"/>
                </a:lnTo>
                <a:lnTo>
                  <a:pt x="334474" y="115008"/>
                </a:lnTo>
                <a:lnTo>
                  <a:pt x="468173" y="65859"/>
                </a:lnTo>
                <a:lnTo>
                  <a:pt x="616097" y="29646"/>
                </a:lnTo>
                <a:lnTo>
                  <a:pt x="773751" y="7468"/>
                </a:lnTo>
                <a:lnTo>
                  <a:pt x="936346" y="0"/>
                </a:lnTo>
                <a:lnTo>
                  <a:pt x="1098940" y="7468"/>
                </a:lnTo>
                <a:lnTo>
                  <a:pt x="1256595" y="29646"/>
                </a:lnTo>
                <a:lnTo>
                  <a:pt x="1404518" y="65859"/>
                </a:lnTo>
                <a:lnTo>
                  <a:pt x="1538217" y="115008"/>
                </a:lnTo>
                <a:lnTo>
                  <a:pt x="1653628" y="175599"/>
                </a:lnTo>
                <a:lnTo>
                  <a:pt x="1747245" y="245791"/>
                </a:lnTo>
                <a:lnTo>
                  <a:pt x="1816223" y="323451"/>
                </a:lnTo>
                <a:lnTo>
                  <a:pt x="1858466" y="406219"/>
                </a:lnTo>
                <a:lnTo>
                  <a:pt x="1872691" y="491581"/>
                </a:lnTo>
                <a:lnTo>
                  <a:pt x="1802465" y="901233"/>
                </a:lnTo>
                <a:lnTo>
                  <a:pt x="1580083" y="1369405"/>
                </a:lnTo>
                <a:lnTo>
                  <a:pt x="1287475" y="1779057"/>
                </a:lnTo>
                <a:lnTo>
                  <a:pt x="1240658" y="2153595"/>
                </a:lnTo>
                <a:lnTo>
                  <a:pt x="1287475" y="2247229"/>
                </a:lnTo>
                <a:lnTo>
                  <a:pt x="1287475" y="3125053"/>
                </a:lnTo>
                <a:lnTo>
                  <a:pt x="585216" y="3125053"/>
                </a:lnTo>
                <a:lnTo>
                  <a:pt x="585216" y="2247229"/>
                </a:lnTo>
                <a:lnTo>
                  <a:pt x="632033" y="2153595"/>
                </a:lnTo>
                <a:lnTo>
                  <a:pt x="585216" y="1779057"/>
                </a:lnTo>
                <a:lnTo>
                  <a:pt x="292608" y="1369405"/>
                </a:lnTo>
                <a:lnTo>
                  <a:pt x="70226" y="901233"/>
                </a:lnTo>
                <a:close/>
              </a:path>
            </a:pathLst>
          </a:custGeom>
          <a:solidFill>
            <a:srgbClr val="EFB4B8"/>
          </a:solidFill>
          <a:ln w="22225">
            <a:solidFill>
              <a:srgbClr val="A33E48"/>
            </a:solidFill>
            <a:prstDash val="solid"/>
          </a:ln>
        </p:spPr>
      </p:sp>
      <p:sp>
        <p:nvSpPr>
          <p:cNvPr id="45" name="Shape 43"/>
          <p:cNvSpPr/>
          <p:nvPr/>
        </p:nvSpPr>
        <p:spPr>
          <a:xfrm>
            <a:off x="2393899" y="2099097"/>
            <a:ext cx="1521562" cy="1474744"/>
          </a:xfrm>
          <a:custGeom>
            <a:avLst/>
            <a:gdLst/>
            <a:ahLst/>
            <a:cxnLst/>
            <a:rect l="l" t="t" r="r" b="b"/>
            <a:pathLst>
              <a:path w="1521562" h="1474744">
                <a:moveTo>
                  <a:pt x="0" y="0"/>
                </a:moveTo>
                <a:lnTo>
                  <a:pt x="1521562" y="0"/>
                </a:lnTo>
                <a:lnTo>
                  <a:pt x="819302" y="1474744"/>
                </a:lnTo>
                <a:lnTo>
                  <a:pt x="702259" y="1474744"/>
                </a:lnTo>
                <a:close/>
              </a:path>
            </a:pathLst>
          </a:custGeom>
          <a:solidFill>
            <a:srgbClr val="C8414C"/>
          </a:solidFill>
          <a:ln w="9525">
            <a:solidFill>
              <a:srgbClr val="8E2A33"/>
            </a:solidFill>
            <a:prstDash val="solid"/>
          </a:ln>
        </p:spPr>
      </p:sp>
      <p:sp>
        <p:nvSpPr>
          <p:cNvPr id="46" name="Shape 44"/>
          <p:cNvSpPr/>
          <p:nvPr/>
        </p:nvSpPr>
        <p:spPr>
          <a:xfrm>
            <a:off x="2627986" y="2227844"/>
            <a:ext cx="1053389" cy="1193841"/>
          </a:xfrm>
          <a:custGeom>
            <a:avLst/>
            <a:gdLst/>
            <a:ahLst/>
            <a:cxnLst/>
            <a:rect l="l" t="t" r="r" b="b"/>
            <a:pathLst>
              <a:path w="1053389" h="1193841">
                <a:moveTo>
                  <a:pt x="0" y="0"/>
                </a:moveTo>
                <a:lnTo>
                  <a:pt x="1053389" y="0"/>
                </a:lnTo>
                <a:lnTo>
                  <a:pt x="561807" y="1193841"/>
                </a:lnTo>
                <a:lnTo>
                  <a:pt x="491581" y="1193841"/>
                </a:lnTo>
                <a:close/>
              </a:path>
            </a:pathLst>
          </a:custGeom>
          <a:solidFill>
            <a:srgbClr val="FBE3E5"/>
          </a:solidFill>
          <a:ln/>
        </p:spPr>
      </p:sp>
      <p:sp>
        <p:nvSpPr>
          <p:cNvPr id="47" name="Shape 45"/>
          <p:cNvSpPr/>
          <p:nvPr/>
        </p:nvSpPr>
        <p:spPr>
          <a:xfrm>
            <a:off x="3154680" y="3456798"/>
            <a:ext cx="91" cy="608625"/>
          </a:xfrm>
          <a:prstGeom prst="line">
            <a:avLst/>
          </a:prstGeom>
          <a:noFill/>
          <a:ln w="19050">
            <a:solidFill>
              <a:srgbClr val="8E2A33"/>
            </a:solidFill>
            <a:prstDash val="solid"/>
          </a:ln>
        </p:spPr>
      </p:sp>
      <p:sp>
        <p:nvSpPr>
          <p:cNvPr id="48" name="Shape 46"/>
          <p:cNvSpPr/>
          <p:nvPr/>
        </p:nvSpPr>
        <p:spPr>
          <a:xfrm>
            <a:off x="2955707" y="4065422"/>
            <a:ext cx="397947" cy="877824"/>
          </a:xfrm>
          <a:prstGeom prst="rect">
            <a:avLst/>
          </a:prstGeom>
          <a:solidFill>
            <a:srgbClr val="FBE3E5"/>
          </a:solidFill>
          <a:ln/>
        </p:spPr>
      </p:sp>
      <p:sp>
        <p:nvSpPr>
          <p:cNvPr id="49" name="Shape 47"/>
          <p:cNvSpPr/>
          <p:nvPr/>
        </p:nvSpPr>
        <p:spPr>
          <a:xfrm>
            <a:off x="2803550" y="4065422"/>
            <a:ext cx="702259" cy="91"/>
          </a:xfrm>
          <a:prstGeom prst="line">
            <a:avLst/>
          </a:prstGeom>
          <a:noFill/>
          <a:ln w="9525">
            <a:solidFill>
              <a:srgbClr val="A33E48"/>
            </a:solidFill>
            <a:prstDash val="dash"/>
          </a:ln>
        </p:spPr>
      </p:sp>
      <p:sp>
        <p:nvSpPr>
          <p:cNvPr id="50" name="Shape 48"/>
          <p:cNvSpPr/>
          <p:nvPr/>
        </p:nvSpPr>
        <p:spPr>
          <a:xfrm>
            <a:off x="2770632" y="2328062"/>
            <a:ext cx="768096" cy="91"/>
          </a:xfrm>
          <a:prstGeom prst="line">
            <a:avLst/>
          </a:prstGeom>
          <a:noFill/>
          <a:ln w="44450">
            <a:solidFill>
              <a:srgbClr val="B87333"/>
            </a:solidFill>
            <a:prstDash val="solid"/>
          </a:ln>
        </p:spPr>
      </p:sp>
      <p:sp>
        <p:nvSpPr>
          <p:cNvPr id="51" name="Shape 49"/>
          <p:cNvSpPr/>
          <p:nvPr/>
        </p:nvSpPr>
        <p:spPr>
          <a:xfrm>
            <a:off x="3154680" y="2328062"/>
            <a:ext cx="91" cy="896112"/>
          </a:xfrm>
          <a:prstGeom prst="line">
            <a:avLst/>
          </a:prstGeom>
          <a:noFill/>
          <a:ln w="44450">
            <a:solidFill>
              <a:srgbClr val="B87333"/>
            </a:solidFill>
            <a:prstDash val="solid"/>
          </a:ln>
        </p:spPr>
      </p:sp>
      <p:sp>
        <p:nvSpPr>
          <p:cNvPr id="52" name="Shape 50"/>
          <p:cNvSpPr/>
          <p:nvPr/>
        </p:nvSpPr>
        <p:spPr>
          <a:xfrm>
            <a:off x="3099816" y="2492654"/>
            <a:ext cx="109728" cy="45720"/>
          </a:xfrm>
          <a:prstGeom prst="line">
            <a:avLst/>
          </a:prstGeom>
          <a:noFill/>
          <a:ln w="15875">
            <a:solidFill>
              <a:srgbClr val="7A4A1A"/>
            </a:solidFill>
            <a:prstDash val="solid"/>
          </a:ln>
        </p:spPr>
      </p:sp>
      <p:sp>
        <p:nvSpPr>
          <p:cNvPr id="53" name="Shape 51"/>
          <p:cNvSpPr/>
          <p:nvPr/>
        </p:nvSpPr>
        <p:spPr>
          <a:xfrm>
            <a:off x="3099816" y="2611526"/>
            <a:ext cx="109728" cy="45720"/>
          </a:xfrm>
          <a:prstGeom prst="line">
            <a:avLst/>
          </a:prstGeom>
          <a:noFill/>
          <a:ln w="15875">
            <a:solidFill>
              <a:srgbClr val="7A4A1A"/>
            </a:solidFill>
            <a:prstDash val="solid"/>
          </a:ln>
        </p:spPr>
      </p:sp>
      <p:sp>
        <p:nvSpPr>
          <p:cNvPr id="54" name="Shape 52"/>
          <p:cNvSpPr/>
          <p:nvPr/>
        </p:nvSpPr>
        <p:spPr>
          <a:xfrm>
            <a:off x="3099816" y="2730398"/>
            <a:ext cx="109728" cy="45720"/>
          </a:xfrm>
          <a:prstGeom prst="line">
            <a:avLst/>
          </a:prstGeom>
          <a:noFill/>
          <a:ln w="15875">
            <a:solidFill>
              <a:srgbClr val="7A4A1A"/>
            </a:solidFill>
            <a:prstDash val="solid"/>
          </a:ln>
        </p:spPr>
      </p:sp>
      <p:sp>
        <p:nvSpPr>
          <p:cNvPr id="55" name="Shape 53"/>
          <p:cNvSpPr/>
          <p:nvPr/>
        </p:nvSpPr>
        <p:spPr>
          <a:xfrm>
            <a:off x="3099816" y="2849270"/>
            <a:ext cx="109728" cy="45720"/>
          </a:xfrm>
          <a:prstGeom prst="line">
            <a:avLst/>
          </a:prstGeom>
          <a:noFill/>
          <a:ln w="15875">
            <a:solidFill>
              <a:srgbClr val="7A4A1A"/>
            </a:solidFill>
            <a:prstDash val="solid"/>
          </a:ln>
        </p:spPr>
      </p:sp>
      <p:sp>
        <p:nvSpPr>
          <p:cNvPr id="56" name="Shape 54"/>
          <p:cNvSpPr/>
          <p:nvPr/>
        </p:nvSpPr>
        <p:spPr>
          <a:xfrm>
            <a:off x="3099816" y="2968142"/>
            <a:ext cx="109728" cy="45720"/>
          </a:xfrm>
          <a:prstGeom prst="line">
            <a:avLst/>
          </a:prstGeom>
          <a:noFill/>
          <a:ln w="15875">
            <a:solidFill>
              <a:srgbClr val="7A4A1A"/>
            </a:solidFill>
            <a:prstDash val="solid"/>
          </a:ln>
        </p:spPr>
      </p:sp>
      <p:sp>
        <p:nvSpPr>
          <p:cNvPr id="57" name="Shape 55"/>
          <p:cNvSpPr/>
          <p:nvPr/>
        </p:nvSpPr>
        <p:spPr>
          <a:xfrm>
            <a:off x="3154680" y="3224174"/>
            <a:ext cx="45720" cy="685800"/>
          </a:xfrm>
          <a:prstGeom prst="line">
            <a:avLst/>
          </a:prstGeom>
          <a:noFill/>
          <a:ln w="9525">
            <a:solidFill>
              <a:srgbClr val="6B7385"/>
            </a:solidFill>
            <a:prstDash val="solid"/>
          </a:ln>
        </p:spPr>
      </p:sp>
      <p:sp>
        <p:nvSpPr>
          <p:cNvPr id="58" name="Shape 56"/>
          <p:cNvSpPr/>
          <p:nvPr/>
        </p:nvSpPr>
        <p:spPr>
          <a:xfrm>
            <a:off x="2770632" y="3663086"/>
            <a:ext cx="768096" cy="457200"/>
          </a:xfrm>
          <a:prstGeom prst="arc">
            <a:avLst>
              <a:gd name="adj1" fmla="val 10800000"/>
              <a:gd name="adj2" fmla="val 21600000"/>
            </a:avLst>
          </a:prstGeom>
          <a:noFill/>
          <a:ln w="38100">
            <a:solidFill>
              <a:srgbClr val="2F6DB5"/>
            </a:solidFill>
            <a:prstDash val="solid"/>
          </a:ln>
        </p:spPr>
      </p:sp>
      <p:sp>
        <p:nvSpPr>
          <p:cNvPr id="59" name="Text 57"/>
          <p:cNvSpPr/>
          <p:nvPr/>
        </p:nvSpPr>
        <p:spPr>
          <a:xfrm>
            <a:off x="4800600" y="1325880"/>
            <a:ext cx="1097280" cy="411480"/>
          </a:xfrm>
          <a:prstGeom prst="rect">
            <a:avLst/>
          </a:prstGeom>
          <a:noFill/>
          <a:ln/>
        </p:spPr>
        <p:txBody>
          <a:bodyPr wrap="square" lIns="0" tIns="0" rIns="0" bIns="0" rtlCol="0" anchor="ctr"/>
          <a:lstStyle/>
          <a:p>
            <a:pPr algn="l" indent="0" marL="0">
              <a:buNone/>
            </a:pPr>
            <a:r>
              <a:rPr lang="en-US" sz="1000" b="1" dirty="0">
                <a:solidFill>
                  <a:srgbClr val="133536"/>
                </a:solidFill>
                <a:latin typeface="Calibri" pitchFamily="34" charset="0"/>
                <a:ea typeface="Calibri" pitchFamily="34" charset="-122"/>
                <a:cs typeface="Calibri" pitchFamily="34" charset="-120"/>
              </a:rPr>
              <a:t>Sterilisation: oviducts cut</a:t>
            </a:r>
            <a:endParaRPr lang="en-US" sz="1000" dirty="0"/>
          </a:p>
        </p:txBody>
      </p:sp>
      <p:sp>
        <p:nvSpPr>
          <p:cNvPr id="60" name="Shape 58"/>
          <p:cNvSpPr/>
          <p:nvPr/>
        </p:nvSpPr>
        <p:spPr>
          <a:xfrm flipH="1">
            <a:off x="4462272" y="1463040"/>
            <a:ext cx="301752" cy="393192"/>
          </a:xfrm>
          <a:prstGeom prst="line">
            <a:avLst/>
          </a:prstGeom>
          <a:noFill/>
          <a:ln w="12700">
            <a:solidFill>
              <a:srgbClr val="133536"/>
            </a:solidFill>
            <a:prstDash val="solid"/>
          </a:ln>
        </p:spPr>
      </p:sp>
      <p:sp>
        <p:nvSpPr>
          <p:cNvPr id="61" name="Shape 59"/>
          <p:cNvSpPr/>
          <p:nvPr/>
        </p:nvSpPr>
        <p:spPr>
          <a:xfrm>
            <a:off x="4434840" y="1828800"/>
            <a:ext cx="54864" cy="54864"/>
          </a:xfrm>
          <a:prstGeom prst="ellipse">
            <a:avLst/>
          </a:prstGeom>
          <a:solidFill>
            <a:srgbClr val="133536"/>
          </a:solidFill>
          <a:ln w="9525">
            <a:solidFill>
              <a:srgbClr val="133536"/>
            </a:solidFill>
            <a:prstDash val="solid"/>
          </a:ln>
        </p:spPr>
      </p:sp>
      <p:sp>
        <p:nvSpPr>
          <p:cNvPr id="62" name="Text 60"/>
          <p:cNvSpPr/>
          <p:nvPr/>
        </p:nvSpPr>
        <p:spPr>
          <a:xfrm>
            <a:off x="502920" y="3200400"/>
            <a:ext cx="1325880" cy="274320"/>
          </a:xfrm>
          <a:prstGeom prst="rect">
            <a:avLst/>
          </a:prstGeom>
          <a:noFill/>
          <a:ln/>
        </p:spPr>
        <p:txBody>
          <a:bodyPr wrap="square" lIns="0" tIns="0" rIns="0" bIns="0" rtlCol="0" anchor="ctr"/>
          <a:lstStyle/>
          <a:p>
            <a:pPr algn="r" indent="0" marL="0">
              <a:buNone/>
            </a:pPr>
            <a:r>
              <a:rPr lang="en-US" sz="1050" b="1" dirty="0">
                <a:solidFill>
                  <a:srgbClr val="B87333"/>
                </a:solidFill>
                <a:latin typeface="Calibri" pitchFamily="34" charset="0"/>
                <a:ea typeface="Calibri" pitchFamily="34" charset="-122"/>
                <a:cs typeface="Calibri" pitchFamily="34" charset="-120"/>
              </a:rPr>
              <a:t>Copper IUD (coil)</a:t>
            </a:r>
            <a:endParaRPr lang="en-US" sz="1050" dirty="0"/>
          </a:p>
        </p:txBody>
      </p:sp>
      <p:sp>
        <p:nvSpPr>
          <p:cNvPr id="63" name="Shape 61"/>
          <p:cNvSpPr/>
          <p:nvPr/>
        </p:nvSpPr>
        <p:spPr>
          <a:xfrm flipV="1">
            <a:off x="1865376" y="2812694"/>
            <a:ext cx="1289304" cy="524866"/>
          </a:xfrm>
          <a:prstGeom prst="line">
            <a:avLst/>
          </a:prstGeom>
          <a:noFill/>
          <a:ln w="12700">
            <a:solidFill>
              <a:srgbClr val="B87333"/>
            </a:solidFill>
            <a:prstDash val="solid"/>
          </a:ln>
        </p:spPr>
      </p:sp>
      <p:sp>
        <p:nvSpPr>
          <p:cNvPr id="64" name="Shape 62"/>
          <p:cNvSpPr/>
          <p:nvPr/>
        </p:nvSpPr>
        <p:spPr>
          <a:xfrm>
            <a:off x="3127248" y="2785262"/>
            <a:ext cx="54864" cy="54864"/>
          </a:xfrm>
          <a:prstGeom prst="ellipse">
            <a:avLst/>
          </a:prstGeom>
          <a:solidFill>
            <a:srgbClr val="B87333"/>
          </a:solidFill>
          <a:ln w="9525">
            <a:solidFill>
              <a:srgbClr val="B87333"/>
            </a:solidFill>
            <a:prstDash val="solid"/>
          </a:ln>
        </p:spPr>
      </p:sp>
      <p:sp>
        <p:nvSpPr>
          <p:cNvPr id="65" name="Text 63"/>
          <p:cNvSpPr/>
          <p:nvPr/>
        </p:nvSpPr>
        <p:spPr>
          <a:xfrm>
            <a:off x="4160520" y="3520440"/>
            <a:ext cx="1691640" cy="411480"/>
          </a:xfrm>
          <a:prstGeom prst="rect">
            <a:avLst/>
          </a:prstGeom>
          <a:noFill/>
          <a:ln/>
        </p:spPr>
        <p:txBody>
          <a:bodyPr wrap="square" lIns="0" tIns="0" rIns="0" bIns="0" rtlCol="0" anchor="ctr"/>
          <a:lstStyle/>
          <a:p>
            <a:pPr algn="l" indent="0" marL="0">
              <a:buNone/>
            </a:pPr>
            <a:r>
              <a:rPr lang="en-US" sz="1000" b="1" dirty="0">
                <a:solidFill>
                  <a:srgbClr val="2F6DB5"/>
                </a:solidFill>
                <a:latin typeface="Calibri" pitchFamily="34" charset="0"/>
                <a:ea typeface="Calibri" pitchFamily="34" charset="-122"/>
                <a:cs typeface="Calibri" pitchFamily="34" charset="-120"/>
              </a:rPr>
              <a:t>Diaphragm / cap over the cervix</a:t>
            </a:r>
            <a:endParaRPr lang="en-US" sz="1000" dirty="0"/>
          </a:p>
        </p:txBody>
      </p:sp>
      <p:sp>
        <p:nvSpPr>
          <p:cNvPr id="66" name="Shape 64"/>
          <p:cNvSpPr/>
          <p:nvPr/>
        </p:nvSpPr>
        <p:spPr>
          <a:xfrm flipH="1">
            <a:off x="3520440" y="3657600"/>
            <a:ext cx="603504" cy="115214"/>
          </a:xfrm>
          <a:prstGeom prst="line">
            <a:avLst/>
          </a:prstGeom>
          <a:noFill/>
          <a:ln w="12700">
            <a:solidFill>
              <a:srgbClr val="2F6DB5"/>
            </a:solidFill>
            <a:prstDash val="solid"/>
          </a:ln>
        </p:spPr>
      </p:sp>
      <p:sp>
        <p:nvSpPr>
          <p:cNvPr id="67" name="Shape 65"/>
          <p:cNvSpPr/>
          <p:nvPr/>
        </p:nvSpPr>
        <p:spPr>
          <a:xfrm>
            <a:off x="3493008" y="3745382"/>
            <a:ext cx="54864" cy="54864"/>
          </a:xfrm>
          <a:prstGeom prst="ellipse">
            <a:avLst/>
          </a:prstGeom>
          <a:solidFill>
            <a:srgbClr val="2F6DB5"/>
          </a:solidFill>
          <a:ln w="9525">
            <a:solidFill>
              <a:srgbClr val="2F6DB5"/>
            </a:solidFill>
            <a:prstDash val="solid"/>
          </a:ln>
        </p:spPr>
      </p:sp>
      <p:sp>
        <p:nvSpPr>
          <p:cNvPr id="68" name="Text 66"/>
          <p:cNvSpPr/>
          <p:nvPr/>
        </p:nvSpPr>
        <p:spPr>
          <a:xfrm>
            <a:off x="502920" y="4023360"/>
            <a:ext cx="1325880" cy="411480"/>
          </a:xfrm>
          <a:prstGeom prst="rect">
            <a:avLst/>
          </a:prstGeom>
          <a:noFill/>
          <a:ln/>
        </p:spPr>
        <p:txBody>
          <a:bodyPr wrap="square" lIns="0" tIns="0" rIns="0" bIns="0" rtlCol="0" anchor="ctr"/>
          <a:lstStyle/>
          <a:p>
            <a:pPr algn="r" indent="0" marL="0">
              <a:buNone/>
            </a:pPr>
            <a:r>
              <a:rPr lang="en-US" sz="1000" b="1" dirty="0">
                <a:solidFill>
                  <a:srgbClr val="2E8B57"/>
                </a:solidFill>
                <a:latin typeface="Calibri" pitchFamily="34" charset="0"/>
                <a:ea typeface="Calibri" pitchFamily="34" charset="-122"/>
                <a:cs typeface="Calibri" pitchFamily="34" charset="-120"/>
              </a:rPr>
              <a:t>Female condom (lines the vagina)</a:t>
            </a:r>
            <a:endParaRPr lang="en-US" sz="1000" dirty="0"/>
          </a:p>
        </p:txBody>
      </p:sp>
      <p:sp>
        <p:nvSpPr>
          <p:cNvPr id="69" name="Shape 67"/>
          <p:cNvSpPr/>
          <p:nvPr/>
        </p:nvSpPr>
        <p:spPr>
          <a:xfrm>
            <a:off x="1865376" y="4160520"/>
            <a:ext cx="1014984" cy="69494"/>
          </a:xfrm>
          <a:prstGeom prst="line">
            <a:avLst/>
          </a:prstGeom>
          <a:noFill/>
          <a:ln w="12700">
            <a:solidFill>
              <a:srgbClr val="2E8B57"/>
            </a:solidFill>
            <a:prstDash val="solid"/>
          </a:ln>
        </p:spPr>
      </p:sp>
      <p:sp>
        <p:nvSpPr>
          <p:cNvPr id="70" name="Shape 68"/>
          <p:cNvSpPr/>
          <p:nvPr/>
        </p:nvSpPr>
        <p:spPr>
          <a:xfrm>
            <a:off x="2852928" y="4202582"/>
            <a:ext cx="54864" cy="54864"/>
          </a:xfrm>
          <a:prstGeom prst="ellipse">
            <a:avLst/>
          </a:prstGeom>
          <a:solidFill>
            <a:srgbClr val="2E8B57"/>
          </a:solidFill>
          <a:ln w="9525">
            <a:solidFill>
              <a:srgbClr val="2E8B57"/>
            </a:solidFill>
            <a:prstDash val="solid"/>
          </a:ln>
        </p:spPr>
      </p:sp>
      <p:sp>
        <p:nvSpPr>
          <p:cNvPr id="71" name="Text 69"/>
          <p:cNvSpPr/>
          <p:nvPr/>
        </p:nvSpPr>
        <p:spPr>
          <a:xfrm>
            <a:off x="548640" y="5029200"/>
            <a:ext cx="5303520" cy="365760"/>
          </a:xfrm>
          <a:prstGeom prst="rect">
            <a:avLst/>
          </a:prstGeom>
          <a:noFill/>
          <a:ln/>
        </p:spPr>
        <p:txBody>
          <a:bodyPr wrap="square" lIns="0" tIns="0" rIns="0" bIns="0" rtlCol="0" anchor="t"/>
          <a:lstStyle/>
          <a:p>
            <a:pPr algn="ctr" indent="0" marL="0">
              <a:buNone/>
            </a:pPr>
            <a:r>
              <a:rPr lang="en-US" sz="1000" i="1" dirty="0">
                <a:solidFill>
                  <a:srgbClr val="6B7385"/>
                </a:solidFill>
                <a:latin typeface="Calibri" pitchFamily="34" charset="0"/>
                <a:ea typeface="Calibri" pitchFamily="34" charset="-122"/>
                <a:cs typeface="Calibri" pitchFamily="34" charset="-120"/>
              </a:rPr>
              <a:t>Not drawn: </a:t>
            </a:r>
            <a:r>
              <a:rPr lang="en-US" sz="1000" b="1" i="1" dirty="0">
                <a:solidFill>
                  <a:srgbClr val="6B7385"/>
                </a:solidFill>
                <a:latin typeface="Calibri" pitchFamily="34" charset="0"/>
                <a:ea typeface="Calibri" pitchFamily="34" charset="-122"/>
                <a:cs typeface="Calibri" pitchFamily="34" charset="-120"/>
              </a:rPr>
              <a:t>condom</a:t>
            </a:r>
            <a:r>
              <a:rPr lang="en-US" sz="1000" i="1" dirty="0">
                <a:solidFill>
                  <a:srgbClr val="6B7385"/>
                </a:solidFill>
                <a:latin typeface="Calibri" pitchFamily="34" charset="0"/>
                <a:ea typeface="Calibri" pitchFamily="34" charset="-122"/>
                <a:cs typeface="Calibri" pitchFamily="34" charset="-120"/>
              </a:rPr>
              <a:t> on the penis; </a:t>
            </a:r>
            <a:r>
              <a:rPr lang="en-US" sz="1000" b="1" i="1" dirty="0">
                <a:solidFill>
                  <a:srgbClr val="6B7385"/>
                </a:solidFill>
                <a:latin typeface="Calibri" pitchFamily="34" charset="0"/>
                <a:ea typeface="Calibri" pitchFamily="34" charset="-122"/>
                <a:cs typeface="Calibri" pitchFamily="34" charset="-120"/>
              </a:rPr>
              <a:t>vasectomy</a:t>
            </a:r>
            <a:r>
              <a:rPr lang="en-US" sz="1000" i="1" dirty="0">
                <a:solidFill>
                  <a:srgbClr val="6B7385"/>
                </a:solidFill>
                <a:latin typeface="Calibri" pitchFamily="34" charset="0"/>
                <a:ea typeface="Calibri" pitchFamily="34" charset="-122"/>
                <a:cs typeface="Calibri" pitchFamily="34" charset="-120"/>
              </a:rPr>
              <a:t> (sperm ducts cut); natural methods (avoid sex around ovulation).</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217920" y="1188720"/>
          <a:ext cx="5559552" cy="914400"/>
        </p:xfrm>
        <a:graphic>
          <a:graphicData uri="http://schemas.openxmlformats.org/drawingml/2006/table">
            <a:tbl>
              <a:tblPr/>
              <a:tblGrid>
                <a:gridCol w="1828800"/>
                <a:gridCol w="2606040"/>
                <a:gridCol w="1124712"/>
              </a:tblGrid>
              <a:tr h="45720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Method</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How it works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STI protection?</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r>
              <a:tr h="457200">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Condom (male or female)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barrier: stops sperm reaching the egg</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b="1" dirty="0">
                          <a:solidFill>
                            <a:srgbClr val="2E8B57"/>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457200">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Diaphragm / cap (+ spermicide)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barrier over the cervix</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Spermicide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chemical that kills sperm</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457200">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Copper IUD (coil)</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copper is toxic to sperm; stops an embryo implanting</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Sterilisation</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oviducts or sperm ducts cut: permanent</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457200">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Natural methods / abstinence</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no sex on fertile days around ovulation</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bl>
          </a:graphicData>
        </a:graphic>
      </p:graphicFrame>
      <p:sp>
        <p:nvSpPr>
          <p:cNvPr id="73" name="Shape 70"/>
          <p:cNvSpPr/>
          <p:nvPr/>
        </p:nvSpPr>
        <p:spPr>
          <a:xfrm>
            <a:off x="6217920" y="4526280"/>
            <a:ext cx="5559552" cy="1188720"/>
          </a:xfrm>
          <a:prstGeom prst="roundRect">
            <a:avLst>
              <a:gd name="adj" fmla="val 4615"/>
            </a:avLst>
          </a:prstGeom>
          <a:solidFill>
            <a:srgbClr val="F4FAF9"/>
          </a:solidFill>
          <a:ln w="9525">
            <a:solidFill>
              <a:srgbClr val="CFE0DE"/>
            </a:solidFill>
            <a:prstDash val="solid"/>
          </a:ln>
        </p:spPr>
      </p:sp>
      <p:sp>
        <p:nvSpPr>
          <p:cNvPr id="74" name="Text 71"/>
          <p:cNvSpPr/>
          <p:nvPr/>
        </p:nvSpPr>
        <p:spPr>
          <a:xfrm>
            <a:off x="6382512" y="4617720"/>
            <a:ext cx="5230368"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No hormones, so…</a:t>
            </a:r>
            <a:endParaRPr lang="en-US" sz="1300" dirty="0"/>
          </a:p>
        </p:txBody>
      </p:sp>
      <p:sp>
        <p:nvSpPr>
          <p:cNvPr id="75" name="Text 72"/>
          <p:cNvSpPr/>
          <p:nvPr/>
        </p:nvSpPr>
        <p:spPr>
          <a:xfrm>
            <a:off x="6382512" y="4946904"/>
            <a:ext cx="5230368" cy="69494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no hormonal side effects, and most can be stopped at once (not sterilisation).</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barrier methods must be used correctly </a:t>
            </a:r>
            <a:r>
              <a:rPr lang="en-US" sz="1050" b="1" dirty="0">
                <a:solidFill>
                  <a:srgbClr val="262B3A"/>
                </a:solidFill>
                <a:latin typeface="Calibri" pitchFamily="34" charset="0"/>
                <a:ea typeface="Calibri" pitchFamily="34" charset="-122"/>
                <a:cs typeface="Calibri" pitchFamily="34" charset="-120"/>
              </a:rPr>
              <a:t>every time</a:t>
            </a:r>
            <a:r>
              <a:rPr lang="en-US" sz="1050" dirty="0">
                <a:solidFill>
                  <a:srgbClr val="262B3A"/>
                </a:solidFill>
                <a:latin typeface="Calibri" pitchFamily="34" charset="0"/>
                <a:ea typeface="Calibri" pitchFamily="34" charset="-122"/>
                <a:cs typeface="Calibri" pitchFamily="34" charset="-120"/>
              </a:rPr>
              <a:t>; only </a:t>
            </a:r>
            <a:r>
              <a:rPr lang="en-US" sz="1050" b="1" dirty="0">
                <a:solidFill>
                  <a:srgbClr val="262B3A"/>
                </a:solidFill>
                <a:latin typeface="Calibri" pitchFamily="34" charset="0"/>
                <a:ea typeface="Calibri" pitchFamily="34" charset="-122"/>
                <a:cs typeface="Calibri" pitchFamily="34" charset="-120"/>
              </a:rPr>
              <a:t>condoms</a:t>
            </a:r>
            <a:r>
              <a:rPr lang="en-US" sz="1050" dirty="0">
                <a:solidFill>
                  <a:srgbClr val="262B3A"/>
                </a:solidFill>
                <a:latin typeface="Calibri" pitchFamily="34" charset="0"/>
                <a:ea typeface="Calibri" pitchFamily="34" charset="-122"/>
                <a:cs typeface="Calibri" pitchFamily="34" charset="-120"/>
              </a:rPr>
              <a:t> protect against </a:t>
            </a:r>
            <a:r>
              <a:rPr lang="en-US" sz="1050" b="1" dirty="0">
                <a:solidFill>
                  <a:srgbClr val="262B3A"/>
                </a:solidFill>
                <a:latin typeface="Calibri" pitchFamily="34" charset="0"/>
                <a:ea typeface="Calibri" pitchFamily="34" charset="-122"/>
                <a:cs typeface="Calibri" pitchFamily="34" charset="-120"/>
              </a:rPr>
              <a:t>STIs</a:t>
            </a:r>
            <a:r>
              <a:rPr lang="en-US" sz="1050" dirty="0">
                <a:solidFill>
                  <a:srgbClr val="262B3A"/>
                </a:solidFill>
                <a:latin typeface="Calibri" pitchFamily="34" charset="0"/>
                <a:ea typeface="Calibri" pitchFamily="34" charset="-122"/>
                <a:cs typeface="Calibri" pitchFamily="34" charset="-120"/>
              </a:rPr>
              <a:t>.</a:t>
            </a:r>
            <a:endParaRPr lang="en-US" sz="1050" dirty="0"/>
          </a:p>
        </p:txBody>
      </p:sp>
      <p:sp>
        <p:nvSpPr>
          <p:cNvPr id="76" name="Shape 73"/>
          <p:cNvSpPr/>
          <p:nvPr/>
        </p:nvSpPr>
        <p:spPr>
          <a:xfrm>
            <a:off x="411480" y="5833872"/>
            <a:ext cx="11368735" cy="530352"/>
          </a:xfrm>
          <a:prstGeom prst="rect">
            <a:avLst/>
          </a:prstGeom>
          <a:solidFill>
            <a:srgbClr val="FFF4E0"/>
          </a:solidFill>
          <a:ln w="6350">
            <a:solidFill>
              <a:srgbClr val="F1D9A8"/>
            </a:solidFill>
            <a:prstDash val="solid"/>
          </a:ln>
        </p:spPr>
      </p:sp>
      <p:sp>
        <p:nvSpPr>
          <p:cNvPr id="77" name="Shape 74"/>
          <p:cNvSpPr/>
          <p:nvPr/>
        </p:nvSpPr>
        <p:spPr>
          <a:xfrm>
            <a:off x="411480" y="5833872"/>
            <a:ext cx="82296" cy="530352"/>
          </a:xfrm>
          <a:prstGeom prst="rect">
            <a:avLst/>
          </a:prstGeom>
          <a:solidFill>
            <a:srgbClr val="E39A2F"/>
          </a:solidFill>
          <a:ln w="12700">
            <a:solidFill>
              <a:srgbClr val="E39A2F"/>
            </a:solidFill>
            <a:prstDash val="solid"/>
          </a:ln>
        </p:spPr>
      </p:sp>
      <p:sp>
        <p:nvSpPr>
          <p:cNvPr id="78" name="Text 7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Give </a:t>
            </a:r>
            <a:r>
              <a:rPr lang="en-US" sz="1150" b="1" dirty="0">
                <a:solidFill>
                  <a:srgbClr val="262B3A"/>
                </a:solidFill>
                <a:latin typeface="Calibri" pitchFamily="34" charset="0"/>
                <a:ea typeface="Calibri" pitchFamily="34" charset="-122"/>
                <a:cs typeface="Calibri" pitchFamily="34" charset="-120"/>
              </a:rPr>
              <a:t>one</a:t>
            </a:r>
            <a:r>
              <a:rPr lang="en-US" sz="1150" dirty="0">
                <a:solidFill>
                  <a:srgbClr val="262B3A"/>
                </a:solidFill>
                <a:latin typeface="Calibri" pitchFamily="34" charset="0"/>
                <a:ea typeface="Calibri" pitchFamily="34" charset="-122"/>
                <a:cs typeface="Calibri" pitchFamily="34" charset="-120"/>
              </a:rPr>
              <a:t> advantage and </a:t>
            </a:r>
            <a:r>
              <a:rPr lang="en-US" sz="1150" b="1" dirty="0">
                <a:solidFill>
                  <a:srgbClr val="262B3A"/>
                </a:solidFill>
                <a:latin typeface="Calibri" pitchFamily="34" charset="0"/>
                <a:ea typeface="Calibri" pitchFamily="34" charset="-122"/>
                <a:cs typeface="Calibri" pitchFamily="34" charset="-120"/>
              </a:rPr>
              <a:t>one</a:t>
            </a:r>
            <a:r>
              <a:rPr lang="en-US" sz="1150" dirty="0">
                <a:solidFill>
                  <a:srgbClr val="262B3A"/>
                </a:solidFill>
                <a:latin typeface="Calibri" pitchFamily="34" charset="0"/>
                <a:ea typeface="Calibri" pitchFamily="34" charset="-122"/>
                <a:cs typeface="Calibri" pitchFamily="34" charset="-120"/>
              </a:rPr>
              <a:t> disadvantage of using </a:t>
            </a:r>
            <a:r>
              <a:rPr lang="en-US" sz="1150" b="1" dirty="0">
                <a:solidFill>
                  <a:srgbClr val="262B3A"/>
                </a:solidFill>
                <a:latin typeface="Calibri" pitchFamily="34" charset="0"/>
                <a:ea typeface="Calibri" pitchFamily="34" charset="-122"/>
                <a:cs typeface="Calibri" pitchFamily="34" charset="-120"/>
              </a:rPr>
              <a:t>condoms</a:t>
            </a:r>
            <a:r>
              <a:rPr lang="en-US" sz="1150" dirty="0">
                <a:solidFill>
                  <a:srgbClr val="262B3A"/>
                </a:solidFill>
                <a:latin typeface="Calibri" pitchFamily="34" charset="0"/>
                <a:ea typeface="Calibri" pitchFamily="34" charset="-122"/>
                <a:cs typeface="Calibri" pitchFamily="34" charset="-120"/>
              </a:rPr>
              <a:t> rather than the </a:t>
            </a:r>
            <a:r>
              <a:rPr lang="en-US" sz="1150" b="1" dirty="0">
                <a:solidFill>
                  <a:srgbClr val="262B3A"/>
                </a:solidFill>
                <a:latin typeface="Calibri" pitchFamily="34" charset="0"/>
                <a:ea typeface="Calibri" pitchFamily="34" charset="-122"/>
                <a:cs typeface="Calibri" pitchFamily="34" charset="-120"/>
              </a:rPr>
              <a:t>pill</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Evaluating contraception with data</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B5.5.3 • how many women in 100 become pregnant in a year of typical use?</a:t>
            </a:r>
            <a:endParaRPr lang="en-US" sz="1100" dirty="0"/>
          </a:p>
        </p:txBody>
      </p:sp>
      <p:sp>
        <p:nvSpPr>
          <p:cNvPr id="6" name="Shape 4"/>
          <p:cNvSpPr/>
          <p:nvPr/>
        </p:nvSpPr>
        <p:spPr>
          <a:xfrm>
            <a:off x="10436047" y="292608"/>
            <a:ext cx="1344168"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0436047" y="292608"/>
            <a:ext cx="1344168"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DATA ANALYSIS</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B5.5 What role do hormones play in human reproduction?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B5.5.3  |  14</a:t>
            </a:r>
            <a:endParaRPr lang="en-US" sz="1000" dirty="0"/>
          </a:p>
        </p:txBody>
      </p:sp>
      <p:sp>
        <p:nvSpPr>
          <p:cNvPr id="10" name="Shape 8"/>
          <p:cNvSpPr/>
          <p:nvPr/>
        </p:nvSpPr>
        <p:spPr>
          <a:xfrm>
            <a:off x="411480" y="1188720"/>
            <a:ext cx="5852160" cy="4526280"/>
          </a:xfrm>
          <a:prstGeom prst="roundRect">
            <a:avLst>
              <a:gd name="adj" fmla="val 1616"/>
            </a:avLst>
          </a:prstGeom>
          <a:solidFill>
            <a:srgbClr val="EEF5F4"/>
          </a:solidFill>
          <a:ln w="9525">
            <a:solidFill>
              <a:srgbClr val="D2E3E1"/>
            </a:solidFill>
            <a:prstDash val="solid"/>
          </a:ln>
        </p:spPr>
      </p:sp>
      <p:sp>
        <p:nvSpPr>
          <p:cNvPr id="11" name="Text 9"/>
          <p:cNvSpPr/>
          <p:nvPr/>
        </p:nvSpPr>
        <p:spPr>
          <a:xfrm>
            <a:off x="548640" y="5404104"/>
            <a:ext cx="557784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typical use, first year (approximate CDC figures); drawn to scale</a:t>
            </a:r>
            <a:endParaRPr lang="en-US" sz="1000" dirty="0"/>
          </a:p>
        </p:txBody>
      </p:sp>
      <p:sp>
        <p:nvSpPr>
          <p:cNvPr id="12" name="Shape 10"/>
          <p:cNvSpPr/>
          <p:nvPr/>
        </p:nvSpPr>
        <p:spPr>
          <a:xfrm>
            <a:off x="2377440" y="1371600"/>
            <a:ext cx="3611880" cy="3063240"/>
          </a:xfrm>
          <a:prstGeom prst="rect">
            <a:avLst/>
          </a:prstGeom>
          <a:solidFill>
            <a:srgbClr val="FFFFFF"/>
          </a:solidFill>
          <a:ln/>
        </p:spPr>
      </p:sp>
      <p:sp>
        <p:nvSpPr>
          <p:cNvPr id="13" name="Shape 11"/>
          <p:cNvSpPr/>
          <p:nvPr/>
        </p:nvSpPr>
        <p:spPr>
          <a:xfrm>
            <a:off x="2377440" y="1371600"/>
            <a:ext cx="91" cy="3063240"/>
          </a:xfrm>
          <a:prstGeom prst="line">
            <a:avLst/>
          </a:prstGeom>
          <a:noFill/>
          <a:ln w="19050">
            <a:solidFill>
              <a:srgbClr val="133536"/>
            </a:solidFill>
            <a:prstDash val="solid"/>
          </a:ln>
        </p:spPr>
      </p:sp>
      <p:sp>
        <p:nvSpPr>
          <p:cNvPr id="14" name="Text 12"/>
          <p:cNvSpPr/>
          <p:nvPr/>
        </p:nvSpPr>
        <p:spPr>
          <a:xfrm>
            <a:off x="2103120" y="4480560"/>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15" name="Shape 13"/>
          <p:cNvSpPr/>
          <p:nvPr/>
        </p:nvSpPr>
        <p:spPr>
          <a:xfrm>
            <a:off x="3099816" y="1371600"/>
            <a:ext cx="91" cy="3063240"/>
          </a:xfrm>
          <a:prstGeom prst="line">
            <a:avLst/>
          </a:prstGeom>
          <a:noFill/>
          <a:ln w="6350">
            <a:solidFill>
              <a:srgbClr val="C5DCD9"/>
            </a:solidFill>
            <a:prstDash val="solid"/>
          </a:ln>
        </p:spPr>
      </p:sp>
      <p:sp>
        <p:nvSpPr>
          <p:cNvPr id="16" name="Text 14"/>
          <p:cNvSpPr/>
          <p:nvPr/>
        </p:nvSpPr>
        <p:spPr>
          <a:xfrm>
            <a:off x="2825496" y="4480560"/>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5</a:t>
            </a:r>
            <a:endParaRPr lang="en-US" sz="1000" dirty="0"/>
          </a:p>
        </p:txBody>
      </p:sp>
      <p:sp>
        <p:nvSpPr>
          <p:cNvPr id="17" name="Shape 15"/>
          <p:cNvSpPr/>
          <p:nvPr/>
        </p:nvSpPr>
        <p:spPr>
          <a:xfrm>
            <a:off x="3822192" y="1371600"/>
            <a:ext cx="91" cy="3063240"/>
          </a:xfrm>
          <a:prstGeom prst="line">
            <a:avLst/>
          </a:prstGeom>
          <a:noFill/>
          <a:ln w="6350">
            <a:solidFill>
              <a:srgbClr val="C5DCD9"/>
            </a:solidFill>
            <a:prstDash val="solid"/>
          </a:ln>
        </p:spPr>
      </p:sp>
      <p:sp>
        <p:nvSpPr>
          <p:cNvPr id="18" name="Text 16"/>
          <p:cNvSpPr/>
          <p:nvPr/>
        </p:nvSpPr>
        <p:spPr>
          <a:xfrm>
            <a:off x="3547872" y="4480560"/>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19" name="Shape 17"/>
          <p:cNvSpPr/>
          <p:nvPr/>
        </p:nvSpPr>
        <p:spPr>
          <a:xfrm>
            <a:off x="4544568" y="1371600"/>
            <a:ext cx="91" cy="3063240"/>
          </a:xfrm>
          <a:prstGeom prst="line">
            <a:avLst/>
          </a:prstGeom>
          <a:noFill/>
          <a:ln w="6350">
            <a:solidFill>
              <a:srgbClr val="C5DCD9"/>
            </a:solidFill>
            <a:prstDash val="solid"/>
          </a:ln>
        </p:spPr>
      </p:sp>
      <p:sp>
        <p:nvSpPr>
          <p:cNvPr id="20" name="Text 18"/>
          <p:cNvSpPr/>
          <p:nvPr/>
        </p:nvSpPr>
        <p:spPr>
          <a:xfrm>
            <a:off x="4270248" y="4480560"/>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15</a:t>
            </a:r>
            <a:endParaRPr lang="en-US" sz="1000" dirty="0"/>
          </a:p>
        </p:txBody>
      </p:sp>
      <p:sp>
        <p:nvSpPr>
          <p:cNvPr id="21" name="Shape 19"/>
          <p:cNvSpPr/>
          <p:nvPr/>
        </p:nvSpPr>
        <p:spPr>
          <a:xfrm>
            <a:off x="5266944" y="1371600"/>
            <a:ext cx="91" cy="3063240"/>
          </a:xfrm>
          <a:prstGeom prst="line">
            <a:avLst/>
          </a:prstGeom>
          <a:noFill/>
          <a:ln w="6350">
            <a:solidFill>
              <a:srgbClr val="C5DCD9"/>
            </a:solidFill>
            <a:prstDash val="solid"/>
          </a:ln>
        </p:spPr>
      </p:sp>
      <p:sp>
        <p:nvSpPr>
          <p:cNvPr id="22" name="Text 20"/>
          <p:cNvSpPr/>
          <p:nvPr/>
        </p:nvSpPr>
        <p:spPr>
          <a:xfrm>
            <a:off x="4992624" y="4480560"/>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23" name="Shape 21"/>
          <p:cNvSpPr/>
          <p:nvPr/>
        </p:nvSpPr>
        <p:spPr>
          <a:xfrm>
            <a:off x="5989320" y="1371600"/>
            <a:ext cx="91" cy="3063240"/>
          </a:xfrm>
          <a:prstGeom prst="line">
            <a:avLst/>
          </a:prstGeom>
          <a:noFill/>
          <a:ln w="6350">
            <a:solidFill>
              <a:srgbClr val="C5DCD9"/>
            </a:solidFill>
            <a:prstDash val="solid"/>
          </a:ln>
        </p:spPr>
      </p:sp>
      <p:sp>
        <p:nvSpPr>
          <p:cNvPr id="24" name="Text 22"/>
          <p:cNvSpPr/>
          <p:nvPr/>
        </p:nvSpPr>
        <p:spPr>
          <a:xfrm>
            <a:off x="5715000" y="4480560"/>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25</a:t>
            </a:r>
            <a:endParaRPr lang="en-US" sz="1000" dirty="0"/>
          </a:p>
        </p:txBody>
      </p:sp>
      <p:sp>
        <p:nvSpPr>
          <p:cNvPr id="25" name="Shape 23"/>
          <p:cNvSpPr/>
          <p:nvPr/>
        </p:nvSpPr>
        <p:spPr>
          <a:xfrm>
            <a:off x="2377440" y="4434840"/>
            <a:ext cx="3611880" cy="91"/>
          </a:xfrm>
          <a:prstGeom prst="line">
            <a:avLst/>
          </a:prstGeom>
          <a:noFill/>
          <a:ln w="19050">
            <a:solidFill>
              <a:srgbClr val="133536"/>
            </a:solidFill>
            <a:prstDash val="solid"/>
          </a:ln>
        </p:spPr>
      </p:sp>
      <p:sp>
        <p:nvSpPr>
          <p:cNvPr id="26" name="Text 24"/>
          <p:cNvSpPr/>
          <p:nvPr/>
        </p:nvSpPr>
        <p:spPr>
          <a:xfrm>
            <a:off x="2377440" y="4690872"/>
            <a:ext cx="36118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pregnancies per 100 women per year</a:t>
            </a:r>
            <a:endParaRPr lang="en-US" sz="1050" dirty="0"/>
          </a:p>
        </p:txBody>
      </p:sp>
      <p:sp>
        <p:nvSpPr>
          <p:cNvPr id="27" name="Shape 25"/>
          <p:cNvSpPr/>
          <p:nvPr/>
        </p:nvSpPr>
        <p:spPr>
          <a:xfrm>
            <a:off x="2377440" y="1450369"/>
            <a:ext cx="18288" cy="280068"/>
          </a:xfrm>
          <a:prstGeom prst="rect">
            <a:avLst/>
          </a:prstGeom>
          <a:solidFill>
            <a:srgbClr val="D4568F"/>
          </a:solidFill>
          <a:ln/>
        </p:spPr>
      </p:sp>
      <p:sp>
        <p:nvSpPr>
          <p:cNvPr id="28" name="Text 26"/>
          <p:cNvSpPr/>
          <p:nvPr/>
        </p:nvSpPr>
        <p:spPr>
          <a:xfrm>
            <a:off x="548640" y="1450369"/>
            <a:ext cx="1783080" cy="280068"/>
          </a:xfrm>
          <a:prstGeom prst="rect">
            <a:avLst/>
          </a:prstGeom>
          <a:noFill/>
          <a:ln/>
        </p:spPr>
        <p:txBody>
          <a:bodyPr wrap="square" lIns="0" tIns="0" rIns="0" bIns="0" rtlCol="0" anchor="ctr"/>
          <a:lstStyle/>
          <a:p>
            <a:pPr algn="r" indent="0" marL="0">
              <a:buNone/>
            </a:pPr>
            <a:r>
              <a:rPr lang="en-US" sz="1050" dirty="0">
                <a:solidFill>
                  <a:srgbClr val="262B3A"/>
                </a:solidFill>
                <a:latin typeface="Calibri" pitchFamily="34" charset="0"/>
                <a:ea typeface="Calibri" pitchFamily="34" charset="-122"/>
                <a:cs typeface="Calibri" pitchFamily="34" charset="-120"/>
              </a:rPr>
              <a:t>Implant</a:t>
            </a:r>
            <a:endParaRPr lang="en-US" sz="1050" dirty="0"/>
          </a:p>
        </p:txBody>
      </p:sp>
      <p:sp>
        <p:nvSpPr>
          <p:cNvPr id="29" name="Text 27"/>
          <p:cNvSpPr/>
          <p:nvPr/>
        </p:nvSpPr>
        <p:spPr>
          <a:xfrm>
            <a:off x="2437608" y="1450369"/>
            <a:ext cx="457200" cy="280068"/>
          </a:xfrm>
          <a:prstGeom prst="rect">
            <a:avLst/>
          </a:prstGeom>
          <a:noFill/>
          <a:ln/>
        </p:spPr>
        <p:txBody>
          <a:bodyPr wrap="square" lIns="0" tIns="0" rIns="0" bIns="0" rtlCol="0" anchor="ctr"/>
          <a:lstStyle/>
          <a:p>
            <a:pPr algn="l" indent="0" marL="0">
              <a:buNone/>
            </a:pPr>
            <a:r>
              <a:rPr lang="en-US" sz="1050" b="1" dirty="0">
                <a:solidFill>
                  <a:srgbClr val="D4568F"/>
                </a:solidFill>
                <a:latin typeface="Calibri" pitchFamily="34" charset="0"/>
                <a:ea typeface="Calibri" pitchFamily="34" charset="-122"/>
                <a:cs typeface="Calibri" pitchFamily="34" charset="-120"/>
              </a:rPr>
              <a:t>0.1</a:t>
            </a:r>
            <a:endParaRPr lang="en-US" sz="1050" dirty="0"/>
          </a:p>
        </p:txBody>
      </p:sp>
      <p:sp>
        <p:nvSpPr>
          <p:cNvPr id="30" name="Shape 28"/>
          <p:cNvSpPr/>
          <p:nvPr/>
        </p:nvSpPr>
        <p:spPr>
          <a:xfrm>
            <a:off x="2377440" y="1887975"/>
            <a:ext cx="115580" cy="280068"/>
          </a:xfrm>
          <a:prstGeom prst="rect">
            <a:avLst/>
          </a:prstGeom>
          <a:solidFill>
            <a:srgbClr val="2F6DB5"/>
          </a:solidFill>
          <a:ln/>
        </p:spPr>
      </p:sp>
      <p:sp>
        <p:nvSpPr>
          <p:cNvPr id="31" name="Text 29"/>
          <p:cNvSpPr/>
          <p:nvPr/>
        </p:nvSpPr>
        <p:spPr>
          <a:xfrm>
            <a:off x="548640" y="1887975"/>
            <a:ext cx="1783080" cy="280068"/>
          </a:xfrm>
          <a:prstGeom prst="rect">
            <a:avLst/>
          </a:prstGeom>
          <a:noFill/>
          <a:ln/>
        </p:spPr>
        <p:txBody>
          <a:bodyPr wrap="square" lIns="0" tIns="0" rIns="0" bIns="0" rtlCol="0" anchor="ctr"/>
          <a:lstStyle/>
          <a:p>
            <a:pPr algn="r" indent="0" marL="0">
              <a:buNone/>
            </a:pPr>
            <a:r>
              <a:rPr lang="en-US" sz="1050" dirty="0">
                <a:solidFill>
                  <a:srgbClr val="262B3A"/>
                </a:solidFill>
                <a:latin typeface="Calibri" pitchFamily="34" charset="0"/>
                <a:ea typeface="Calibri" pitchFamily="34" charset="-122"/>
                <a:cs typeface="Calibri" pitchFamily="34" charset="-120"/>
              </a:rPr>
              <a:t>Copper IUD (coil)</a:t>
            </a:r>
            <a:endParaRPr lang="en-US" sz="1050" dirty="0"/>
          </a:p>
        </p:txBody>
      </p:sp>
      <p:sp>
        <p:nvSpPr>
          <p:cNvPr id="32" name="Text 30"/>
          <p:cNvSpPr/>
          <p:nvPr/>
        </p:nvSpPr>
        <p:spPr>
          <a:xfrm>
            <a:off x="2538740" y="1887975"/>
            <a:ext cx="457200" cy="280068"/>
          </a:xfrm>
          <a:prstGeom prst="rect">
            <a:avLst/>
          </a:prstGeom>
          <a:noFill/>
          <a:ln/>
        </p:spPr>
        <p:txBody>
          <a:bodyPr wrap="square" lIns="0" tIns="0" rIns="0" bIns="0" rtlCol="0" anchor="ctr"/>
          <a:lstStyle/>
          <a:p>
            <a:pPr algn="l" indent="0" marL="0">
              <a:buNone/>
            </a:pPr>
            <a:r>
              <a:rPr lang="en-US" sz="1050" b="1" dirty="0">
                <a:solidFill>
                  <a:srgbClr val="2F6DB5"/>
                </a:solidFill>
                <a:latin typeface="Calibri" pitchFamily="34" charset="0"/>
                <a:ea typeface="Calibri" pitchFamily="34" charset="-122"/>
                <a:cs typeface="Calibri" pitchFamily="34" charset="-120"/>
              </a:rPr>
              <a:t>0.8</a:t>
            </a:r>
            <a:endParaRPr lang="en-US" sz="1050" dirty="0"/>
          </a:p>
        </p:txBody>
      </p:sp>
      <p:sp>
        <p:nvSpPr>
          <p:cNvPr id="33" name="Shape 31"/>
          <p:cNvSpPr/>
          <p:nvPr/>
        </p:nvSpPr>
        <p:spPr>
          <a:xfrm>
            <a:off x="2377440" y="2325580"/>
            <a:ext cx="577901" cy="280068"/>
          </a:xfrm>
          <a:prstGeom prst="rect">
            <a:avLst/>
          </a:prstGeom>
          <a:solidFill>
            <a:srgbClr val="D4568F"/>
          </a:solidFill>
          <a:ln/>
        </p:spPr>
      </p:sp>
      <p:sp>
        <p:nvSpPr>
          <p:cNvPr id="34" name="Text 32"/>
          <p:cNvSpPr/>
          <p:nvPr/>
        </p:nvSpPr>
        <p:spPr>
          <a:xfrm>
            <a:off x="548640" y="2325580"/>
            <a:ext cx="1783080" cy="280068"/>
          </a:xfrm>
          <a:prstGeom prst="rect">
            <a:avLst/>
          </a:prstGeom>
          <a:noFill/>
          <a:ln/>
        </p:spPr>
        <p:txBody>
          <a:bodyPr wrap="square" lIns="0" tIns="0" rIns="0" bIns="0" rtlCol="0" anchor="ctr"/>
          <a:lstStyle/>
          <a:p>
            <a:pPr algn="r" indent="0" marL="0">
              <a:buNone/>
            </a:pPr>
            <a:r>
              <a:rPr lang="en-US" sz="1050" dirty="0">
                <a:solidFill>
                  <a:srgbClr val="262B3A"/>
                </a:solidFill>
                <a:latin typeface="Calibri" pitchFamily="34" charset="0"/>
                <a:ea typeface="Calibri" pitchFamily="34" charset="-122"/>
                <a:cs typeface="Calibri" pitchFamily="34" charset="-120"/>
              </a:rPr>
              <a:t>Injection</a:t>
            </a:r>
            <a:endParaRPr lang="en-US" sz="1050" dirty="0"/>
          </a:p>
        </p:txBody>
      </p:sp>
      <p:sp>
        <p:nvSpPr>
          <p:cNvPr id="35" name="Text 33"/>
          <p:cNvSpPr/>
          <p:nvPr/>
        </p:nvSpPr>
        <p:spPr>
          <a:xfrm>
            <a:off x="3001061" y="2325580"/>
            <a:ext cx="457200" cy="280068"/>
          </a:xfrm>
          <a:prstGeom prst="rect">
            <a:avLst/>
          </a:prstGeom>
          <a:noFill/>
          <a:ln/>
        </p:spPr>
        <p:txBody>
          <a:bodyPr wrap="square" lIns="0" tIns="0" rIns="0" bIns="0" rtlCol="0" anchor="ctr"/>
          <a:lstStyle/>
          <a:p>
            <a:pPr algn="l" indent="0" marL="0">
              <a:buNone/>
            </a:pPr>
            <a:r>
              <a:rPr lang="en-US" sz="1050" b="1" dirty="0">
                <a:solidFill>
                  <a:srgbClr val="D4568F"/>
                </a:solidFill>
                <a:latin typeface="Calibri" pitchFamily="34" charset="0"/>
                <a:ea typeface="Calibri" pitchFamily="34" charset="-122"/>
                <a:cs typeface="Calibri" pitchFamily="34" charset="-120"/>
              </a:rPr>
              <a:t>4</a:t>
            </a:r>
            <a:endParaRPr lang="en-US" sz="1050" dirty="0"/>
          </a:p>
        </p:txBody>
      </p:sp>
      <p:sp>
        <p:nvSpPr>
          <p:cNvPr id="36" name="Shape 34"/>
          <p:cNvSpPr/>
          <p:nvPr/>
        </p:nvSpPr>
        <p:spPr>
          <a:xfrm>
            <a:off x="2377440" y="2763186"/>
            <a:ext cx="1011326" cy="280068"/>
          </a:xfrm>
          <a:prstGeom prst="rect">
            <a:avLst/>
          </a:prstGeom>
          <a:solidFill>
            <a:srgbClr val="D4568F"/>
          </a:solidFill>
          <a:ln/>
        </p:spPr>
      </p:sp>
      <p:sp>
        <p:nvSpPr>
          <p:cNvPr id="37" name="Text 35"/>
          <p:cNvSpPr/>
          <p:nvPr/>
        </p:nvSpPr>
        <p:spPr>
          <a:xfrm>
            <a:off x="548640" y="2763186"/>
            <a:ext cx="1783080" cy="280068"/>
          </a:xfrm>
          <a:prstGeom prst="rect">
            <a:avLst/>
          </a:prstGeom>
          <a:noFill/>
          <a:ln/>
        </p:spPr>
        <p:txBody>
          <a:bodyPr wrap="square" lIns="0" tIns="0" rIns="0" bIns="0" rtlCol="0" anchor="ctr"/>
          <a:lstStyle/>
          <a:p>
            <a:pPr algn="r" indent="0" marL="0">
              <a:buNone/>
            </a:pPr>
            <a:r>
              <a:rPr lang="en-US" sz="1050" dirty="0">
                <a:solidFill>
                  <a:srgbClr val="262B3A"/>
                </a:solidFill>
                <a:latin typeface="Calibri" pitchFamily="34" charset="0"/>
                <a:ea typeface="Calibri" pitchFamily="34" charset="-122"/>
                <a:cs typeface="Calibri" pitchFamily="34" charset="-120"/>
              </a:rPr>
              <a:t>Pill (combined)</a:t>
            </a:r>
            <a:endParaRPr lang="en-US" sz="1050" dirty="0"/>
          </a:p>
        </p:txBody>
      </p:sp>
      <p:sp>
        <p:nvSpPr>
          <p:cNvPr id="38" name="Text 36"/>
          <p:cNvSpPr/>
          <p:nvPr/>
        </p:nvSpPr>
        <p:spPr>
          <a:xfrm>
            <a:off x="3434486" y="2763186"/>
            <a:ext cx="457200" cy="280068"/>
          </a:xfrm>
          <a:prstGeom prst="rect">
            <a:avLst/>
          </a:prstGeom>
          <a:noFill/>
          <a:ln/>
        </p:spPr>
        <p:txBody>
          <a:bodyPr wrap="square" lIns="0" tIns="0" rIns="0" bIns="0" rtlCol="0" anchor="ctr"/>
          <a:lstStyle/>
          <a:p>
            <a:pPr algn="l" indent="0" marL="0">
              <a:buNone/>
            </a:pPr>
            <a:r>
              <a:rPr lang="en-US" sz="1050" b="1" dirty="0">
                <a:solidFill>
                  <a:srgbClr val="D4568F"/>
                </a:solidFill>
                <a:latin typeface="Calibri" pitchFamily="34" charset="0"/>
                <a:ea typeface="Calibri" pitchFamily="34" charset="-122"/>
                <a:cs typeface="Calibri" pitchFamily="34" charset="-120"/>
              </a:rPr>
              <a:t>7</a:t>
            </a:r>
            <a:endParaRPr lang="en-US" sz="1050" dirty="0"/>
          </a:p>
        </p:txBody>
      </p:sp>
      <p:sp>
        <p:nvSpPr>
          <p:cNvPr id="39" name="Shape 37"/>
          <p:cNvSpPr/>
          <p:nvPr/>
        </p:nvSpPr>
        <p:spPr>
          <a:xfrm>
            <a:off x="2377440" y="3200792"/>
            <a:ext cx="1878178" cy="280068"/>
          </a:xfrm>
          <a:prstGeom prst="rect">
            <a:avLst/>
          </a:prstGeom>
          <a:solidFill>
            <a:srgbClr val="2F6DB5"/>
          </a:solidFill>
          <a:ln/>
        </p:spPr>
      </p:sp>
      <p:sp>
        <p:nvSpPr>
          <p:cNvPr id="40" name="Text 38"/>
          <p:cNvSpPr/>
          <p:nvPr/>
        </p:nvSpPr>
        <p:spPr>
          <a:xfrm>
            <a:off x="548640" y="3200792"/>
            <a:ext cx="1783080" cy="280068"/>
          </a:xfrm>
          <a:prstGeom prst="rect">
            <a:avLst/>
          </a:prstGeom>
          <a:noFill/>
          <a:ln/>
        </p:spPr>
        <p:txBody>
          <a:bodyPr wrap="square" lIns="0" tIns="0" rIns="0" bIns="0" rtlCol="0" anchor="ctr"/>
          <a:lstStyle/>
          <a:p>
            <a:pPr algn="r" indent="0" marL="0">
              <a:buNone/>
            </a:pPr>
            <a:r>
              <a:rPr lang="en-US" sz="1050" dirty="0">
                <a:solidFill>
                  <a:srgbClr val="262B3A"/>
                </a:solidFill>
                <a:latin typeface="Calibri" pitchFamily="34" charset="0"/>
                <a:ea typeface="Calibri" pitchFamily="34" charset="-122"/>
                <a:cs typeface="Calibri" pitchFamily="34" charset="-120"/>
              </a:rPr>
              <a:t>Male condom</a:t>
            </a:r>
            <a:endParaRPr lang="en-US" sz="1050" dirty="0"/>
          </a:p>
        </p:txBody>
      </p:sp>
      <p:sp>
        <p:nvSpPr>
          <p:cNvPr id="41" name="Text 39"/>
          <p:cNvSpPr/>
          <p:nvPr/>
        </p:nvSpPr>
        <p:spPr>
          <a:xfrm>
            <a:off x="4301338" y="3200792"/>
            <a:ext cx="457200" cy="280068"/>
          </a:xfrm>
          <a:prstGeom prst="rect">
            <a:avLst/>
          </a:prstGeom>
          <a:noFill/>
          <a:ln/>
        </p:spPr>
        <p:txBody>
          <a:bodyPr wrap="square" lIns="0" tIns="0" rIns="0" bIns="0" rtlCol="0" anchor="ctr"/>
          <a:lstStyle/>
          <a:p>
            <a:pPr algn="l" indent="0" marL="0">
              <a:buNone/>
            </a:pPr>
            <a:r>
              <a:rPr lang="en-US" sz="1050" b="1" dirty="0">
                <a:solidFill>
                  <a:srgbClr val="2F6DB5"/>
                </a:solidFill>
                <a:latin typeface="Calibri" pitchFamily="34" charset="0"/>
                <a:ea typeface="Calibri" pitchFamily="34" charset="-122"/>
                <a:cs typeface="Calibri" pitchFamily="34" charset="-120"/>
              </a:rPr>
              <a:t>13</a:t>
            </a:r>
            <a:endParaRPr lang="en-US" sz="1050" dirty="0"/>
          </a:p>
        </p:txBody>
      </p:sp>
      <p:sp>
        <p:nvSpPr>
          <p:cNvPr id="42" name="Shape 40"/>
          <p:cNvSpPr/>
          <p:nvPr/>
        </p:nvSpPr>
        <p:spPr>
          <a:xfrm>
            <a:off x="2377440" y="3638398"/>
            <a:ext cx="2456078" cy="280068"/>
          </a:xfrm>
          <a:prstGeom prst="rect">
            <a:avLst/>
          </a:prstGeom>
          <a:solidFill>
            <a:srgbClr val="2F6DB5"/>
          </a:solidFill>
          <a:ln/>
        </p:spPr>
      </p:sp>
      <p:sp>
        <p:nvSpPr>
          <p:cNvPr id="43" name="Text 41"/>
          <p:cNvSpPr/>
          <p:nvPr/>
        </p:nvSpPr>
        <p:spPr>
          <a:xfrm>
            <a:off x="548640" y="3638398"/>
            <a:ext cx="1783080" cy="280068"/>
          </a:xfrm>
          <a:prstGeom prst="rect">
            <a:avLst/>
          </a:prstGeom>
          <a:noFill/>
          <a:ln/>
        </p:spPr>
        <p:txBody>
          <a:bodyPr wrap="square" lIns="0" tIns="0" rIns="0" bIns="0" rtlCol="0" anchor="ctr"/>
          <a:lstStyle/>
          <a:p>
            <a:pPr algn="r" indent="0" marL="0">
              <a:buNone/>
            </a:pPr>
            <a:r>
              <a:rPr lang="en-US" sz="1050" dirty="0">
                <a:solidFill>
                  <a:srgbClr val="262B3A"/>
                </a:solidFill>
                <a:latin typeface="Calibri" pitchFamily="34" charset="0"/>
                <a:ea typeface="Calibri" pitchFamily="34" charset="-122"/>
                <a:cs typeface="Calibri" pitchFamily="34" charset="-120"/>
              </a:rPr>
              <a:t>Diaphragm</a:t>
            </a:r>
            <a:endParaRPr lang="en-US" sz="1050" dirty="0"/>
          </a:p>
        </p:txBody>
      </p:sp>
      <p:sp>
        <p:nvSpPr>
          <p:cNvPr id="44" name="Text 42"/>
          <p:cNvSpPr/>
          <p:nvPr/>
        </p:nvSpPr>
        <p:spPr>
          <a:xfrm>
            <a:off x="4879238" y="3638398"/>
            <a:ext cx="457200" cy="280068"/>
          </a:xfrm>
          <a:prstGeom prst="rect">
            <a:avLst/>
          </a:prstGeom>
          <a:noFill/>
          <a:ln/>
        </p:spPr>
        <p:txBody>
          <a:bodyPr wrap="square" lIns="0" tIns="0" rIns="0" bIns="0" rtlCol="0" anchor="ctr"/>
          <a:lstStyle/>
          <a:p>
            <a:pPr algn="l" indent="0" marL="0">
              <a:buNone/>
            </a:pPr>
            <a:r>
              <a:rPr lang="en-US" sz="1050" b="1" dirty="0">
                <a:solidFill>
                  <a:srgbClr val="2F6DB5"/>
                </a:solidFill>
                <a:latin typeface="Calibri" pitchFamily="34" charset="0"/>
                <a:ea typeface="Calibri" pitchFamily="34" charset="-122"/>
                <a:cs typeface="Calibri" pitchFamily="34" charset="-120"/>
              </a:rPr>
              <a:t>17</a:t>
            </a:r>
            <a:endParaRPr lang="en-US" sz="1050" dirty="0"/>
          </a:p>
        </p:txBody>
      </p:sp>
      <p:sp>
        <p:nvSpPr>
          <p:cNvPr id="45" name="Shape 43"/>
          <p:cNvSpPr/>
          <p:nvPr/>
        </p:nvSpPr>
        <p:spPr>
          <a:xfrm>
            <a:off x="2377440" y="4076003"/>
            <a:ext cx="3033979" cy="280068"/>
          </a:xfrm>
          <a:prstGeom prst="rect">
            <a:avLst/>
          </a:prstGeom>
          <a:solidFill>
            <a:srgbClr val="2F6DB5"/>
          </a:solidFill>
          <a:ln/>
        </p:spPr>
      </p:sp>
      <p:sp>
        <p:nvSpPr>
          <p:cNvPr id="46" name="Text 44"/>
          <p:cNvSpPr/>
          <p:nvPr/>
        </p:nvSpPr>
        <p:spPr>
          <a:xfrm>
            <a:off x="548640" y="4076003"/>
            <a:ext cx="1783080" cy="280068"/>
          </a:xfrm>
          <a:prstGeom prst="rect">
            <a:avLst/>
          </a:prstGeom>
          <a:noFill/>
          <a:ln/>
        </p:spPr>
        <p:txBody>
          <a:bodyPr wrap="square" lIns="0" tIns="0" rIns="0" bIns="0" rtlCol="0" anchor="ctr"/>
          <a:lstStyle/>
          <a:p>
            <a:pPr algn="r" indent="0" marL="0">
              <a:buNone/>
            </a:pPr>
            <a:r>
              <a:rPr lang="en-US" sz="1050" dirty="0">
                <a:solidFill>
                  <a:srgbClr val="262B3A"/>
                </a:solidFill>
                <a:latin typeface="Calibri" pitchFamily="34" charset="0"/>
                <a:ea typeface="Calibri" pitchFamily="34" charset="-122"/>
                <a:cs typeface="Calibri" pitchFamily="34" charset="-120"/>
              </a:rPr>
              <a:t>Spermicide alone</a:t>
            </a:r>
            <a:endParaRPr lang="en-US" sz="1050" dirty="0"/>
          </a:p>
        </p:txBody>
      </p:sp>
      <p:sp>
        <p:nvSpPr>
          <p:cNvPr id="47" name="Text 45"/>
          <p:cNvSpPr/>
          <p:nvPr/>
        </p:nvSpPr>
        <p:spPr>
          <a:xfrm>
            <a:off x="5457139" y="4076003"/>
            <a:ext cx="457200" cy="280068"/>
          </a:xfrm>
          <a:prstGeom prst="rect">
            <a:avLst/>
          </a:prstGeom>
          <a:noFill/>
          <a:ln/>
        </p:spPr>
        <p:txBody>
          <a:bodyPr wrap="square" lIns="0" tIns="0" rIns="0" bIns="0" rtlCol="0" anchor="ctr"/>
          <a:lstStyle/>
          <a:p>
            <a:pPr algn="l" indent="0" marL="0">
              <a:buNone/>
            </a:pPr>
            <a:r>
              <a:rPr lang="en-US" sz="1050" b="1" dirty="0">
                <a:solidFill>
                  <a:srgbClr val="2F6DB5"/>
                </a:solidFill>
                <a:latin typeface="Calibri" pitchFamily="34" charset="0"/>
                <a:ea typeface="Calibri" pitchFamily="34" charset="-122"/>
                <a:cs typeface="Calibri" pitchFamily="34" charset="-120"/>
              </a:rPr>
              <a:t>21</a:t>
            </a:r>
            <a:endParaRPr lang="en-US" sz="1050" dirty="0"/>
          </a:p>
        </p:txBody>
      </p:sp>
      <p:sp>
        <p:nvSpPr>
          <p:cNvPr id="48" name="Shape 46"/>
          <p:cNvSpPr/>
          <p:nvPr/>
        </p:nvSpPr>
        <p:spPr>
          <a:xfrm>
            <a:off x="685800" y="5074920"/>
            <a:ext cx="201168" cy="164592"/>
          </a:xfrm>
          <a:prstGeom prst="rect">
            <a:avLst/>
          </a:prstGeom>
          <a:solidFill>
            <a:srgbClr val="D4568F"/>
          </a:solidFill>
          <a:ln/>
        </p:spPr>
      </p:sp>
      <p:sp>
        <p:nvSpPr>
          <p:cNvPr id="49" name="Text 47"/>
          <p:cNvSpPr/>
          <p:nvPr/>
        </p:nvSpPr>
        <p:spPr>
          <a:xfrm>
            <a:off x="932688" y="5029200"/>
            <a:ext cx="1005840" cy="256032"/>
          </a:xfrm>
          <a:prstGeom prst="rect">
            <a:avLst/>
          </a:prstGeom>
          <a:noFill/>
          <a:ln/>
        </p:spPr>
        <p:txBody>
          <a:bodyPr wrap="square" lIns="0" tIns="0" rIns="0" bIns="0" rtlCol="0" anchor="ctr"/>
          <a:lstStyle/>
          <a:p>
            <a:pPr algn="l" indent="0" marL="0">
              <a:buNone/>
            </a:pPr>
            <a:r>
              <a:rPr lang="en-US" sz="1050" b="1" dirty="0">
                <a:solidFill>
                  <a:srgbClr val="8E3466"/>
                </a:solidFill>
                <a:latin typeface="Calibri" pitchFamily="34" charset="0"/>
                <a:ea typeface="Calibri" pitchFamily="34" charset="-122"/>
                <a:cs typeface="Calibri" pitchFamily="34" charset="-120"/>
              </a:rPr>
              <a:t>hormonal</a:t>
            </a:r>
            <a:endParaRPr lang="en-US" sz="1050" dirty="0"/>
          </a:p>
        </p:txBody>
      </p:sp>
      <p:sp>
        <p:nvSpPr>
          <p:cNvPr id="50" name="Shape 48"/>
          <p:cNvSpPr/>
          <p:nvPr/>
        </p:nvSpPr>
        <p:spPr>
          <a:xfrm>
            <a:off x="1920240" y="5074920"/>
            <a:ext cx="201168" cy="164592"/>
          </a:xfrm>
          <a:prstGeom prst="rect">
            <a:avLst/>
          </a:prstGeom>
          <a:solidFill>
            <a:srgbClr val="2F6DB5"/>
          </a:solidFill>
          <a:ln/>
        </p:spPr>
      </p:sp>
      <p:sp>
        <p:nvSpPr>
          <p:cNvPr id="51" name="Text 49"/>
          <p:cNvSpPr/>
          <p:nvPr/>
        </p:nvSpPr>
        <p:spPr>
          <a:xfrm>
            <a:off x="2167128" y="5029200"/>
            <a:ext cx="1188720" cy="256032"/>
          </a:xfrm>
          <a:prstGeom prst="rect">
            <a:avLst/>
          </a:prstGeom>
          <a:noFill/>
          <a:ln/>
        </p:spPr>
        <p:txBody>
          <a:bodyPr wrap="square" lIns="0" tIns="0" rIns="0" bIns="0" rtlCol="0" anchor="ctr"/>
          <a:lstStyle/>
          <a:p>
            <a:pPr algn="l" indent="0" marL="0">
              <a:buNone/>
            </a:pPr>
            <a:r>
              <a:rPr lang="en-US" sz="1050" b="1" dirty="0">
                <a:solidFill>
                  <a:srgbClr val="1F4E8C"/>
                </a:solidFill>
                <a:latin typeface="Calibri" pitchFamily="34" charset="0"/>
                <a:ea typeface="Calibri" pitchFamily="34" charset="-122"/>
                <a:cs typeface="Calibri" pitchFamily="34" charset="-120"/>
              </a:rPr>
              <a:t>non-hormonal</a:t>
            </a:r>
            <a:endParaRPr lang="en-US" sz="1050" dirty="0"/>
          </a:p>
        </p:txBody>
      </p:sp>
      <p:sp>
        <p:nvSpPr>
          <p:cNvPr id="52" name="Text 50"/>
          <p:cNvSpPr/>
          <p:nvPr/>
        </p:nvSpPr>
        <p:spPr>
          <a:xfrm>
            <a:off x="3383280" y="4956048"/>
            <a:ext cx="2743200" cy="365760"/>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No method: about </a:t>
            </a:r>
            <a:r>
              <a:rPr lang="en-US" sz="1000" b="1" i="1" dirty="0">
                <a:solidFill>
                  <a:srgbClr val="6B7385"/>
                </a:solidFill>
                <a:latin typeface="Calibri" pitchFamily="34" charset="0"/>
                <a:ea typeface="Calibri" pitchFamily="34" charset="-122"/>
                <a:cs typeface="Calibri" pitchFamily="34" charset="-120"/>
              </a:rPr>
              <a:t>85</a:t>
            </a:r>
            <a:r>
              <a:rPr lang="en-US" sz="1000" i="1" dirty="0">
                <a:solidFill>
                  <a:srgbClr val="6B7385"/>
                </a:solidFill>
                <a:latin typeface="Calibri" pitchFamily="34" charset="0"/>
                <a:ea typeface="Calibri" pitchFamily="34" charset="-122"/>
                <a:cs typeface="Calibri" pitchFamily="34" charset="-120"/>
              </a:rPr>
              <a:t> in 100 (off the scale)</a:t>
            </a:r>
            <a:endParaRPr lang="en-US" sz="1000" dirty="0"/>
          </a:p>
        </p:txBody>
      </p:sp>
      <p:sp>
        <p:nvSpPr>
          <p:cNvPr id="53" name="Shape 51"/>
          <p:cNvSpPr/>
          <p:nvPr/>
        </p:nvSpPr>
        <p:spPr>
          <a:xfrm>
            <a:off x="6492240" y="1188720"/>
            <a:ext cx="5285232" cy="1645920"/>
          </a:xfrm>
          <a:prstGeom prst="roundRect">
            <a:avLst>
              <a:gd name="adj" fmla="val 3333"/>
            </a:avLst>
          </a:prstGeom>
          <a:solidFill>
            <a:srgbClr val="FFF4E0"/>
          </a:solidFill>
          <a:ln w="9525">
            <a:solidFill>
              <a:srgbClr val="F1D9A8"/>
            </a:solidFill>
            <a:prstDash val="solid"/>
          </a:ln>
        </p:spPr>
      </p:sp>
      <p:sp>
        <p:nvSpPr>
          <p:cNvPr id="54" name="Text 52"/>
          <p:cNvSpPr/>
          <p:nvPr/>
        </p:nvSpPr>
        <p:spPr>
          <a:xfrm>
            <a:off x="6656832" y="1261872"/>
            <a:ext cx="495604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use the data</a:t>
            </a:r>
            <a:endParaRPr lang="en-US" sz="1300" dirty="0"/>
          </a:p>
        </p:txBody>
      </p:sp>
      <p:sp>
        <p:nvSpPr>
          <p:cNvPr id="55" name="Text 53"/>
          <p:cNvSpPr/>
          <p:nvPr/>
        </p:nvSpPr>
        <p:spPr>
          <a:xfrm>
            <a:off x="6656832" y="1572768"/>
            <a:ext cx="4956048" cy="11887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1000 women use the pill and 1000 use condoms for a year. How many more pregnancies with condoms?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Pill   </a:t>
            </a:r>
            <a:r>
              <a:rPr lang="en-US" sz="1050" dirty="0">
                <a:solidFill>
                  <a:srgbClr val="262B3A"/>
                </a:solidFill>
                <a:latin typeface="Calibri" pitchFamily="34" charset="0"/>
                <a:ea typeface="Calibri" pitchFamily="34" charset="-122"/>
                <a:cs typeface="Calibri" pitchFamily="34" charset="-120"/>
              </a:rPr>
              <a:t>7 in 100 → 1000 × 7 ÷ 100 = 70</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Condom   </a:t>
            </a:r>
            <a:r>
              <a:rPr lang="en-US" sz="1050" dirty="0">
                <a:solidFill>
                  <a:srgbClr val="262B3A"/>
                </a:solidFill>
                <a:latin typeface="Calibri" pitchFamily="34" charset="0"/>
                <a:ea typeface="Calibri" pitchFamily="34" charset="-122"/>
                <a:cs typeface="Calibri" pitchFamily="34" charset="-120"/>
              </a:rPr>
              <a:t>13 in 100 → 1000 × 13 ÷ 100 = 130</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130 − 70 = 60 more pregnancies with condoms</a:t>
            </a:r>
            <a:endParaRPr lang="en-US" sz="1050" dirty="0"/>
          </a:p>
        </p:txBody>
      </p:sp>
      <p:sp>
        <p:nvSpPr>
          <p:cNvPr id="56" name="Shape 54"/>
          <p:cNvSpPr/>
          <p:nvPr/>
        </p:nvSpPr>
        <p:spPr>
          <a:xfrm>
            <a:off x="6492240" y="2944368"/>
            <a:ext cx="5285232" cy="2770632"/>
          </a:xfrm>
          <a:prstGeom prst="roundRect">
            <a:avLst>
              <a:gd name="adj" fmla="val 1980"/>
            </a:avLst>
          </a:prstGeom>
          <a:solidFill>
            <a:srgbClr val="F4FAF9"/>
          </a:solidFill>
          <a:ln w="9525">
            <a:solidFill>
              <a:srgbClr val="CFE0DE"/>
            </a:solidFill>
            <a:prstDash val="solid"/>
          </a:ln>
        </p:spPr>
      </p:sp>
      <p:sp>
        <p:nvSpPr>
          <p:cNvPr id="57" name="Text 55"/>
          <p:cNvSpPr/>
          <p:nvPr/>
        </p:nvSpPr>
        <p:spPr>
          <a:xfrm>
            <a:off x="6656832" y="3035808"/>
            <a:ext cx="4956048"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Evaluate: weigh up, then decide</a:t>
            </a:r>
            <a:endParaRPr lang="en-US" sz="1300" dirty="0"/>
          </a:p>
        </p:txBody>
      </p:sp>
      <p:sp>
        <p:nvSpPr>
          <p:cNvPr id="58" name="Text 56"/>
          <p:cNvSpPr/>
          <p:nvPr/>
        </p:nvSpPr>
        <p:spPr>
          <a:xfrm>
            <a:off x="6656832" y="3364992"/>
            <a:ext cx="4956048" cy="2276856"/>
          </a:xfrm>
          <a:prstGeom prst="rect">
            <a:avLst/>
          </a:prstGeom>
          <a:noFill/>
          <a:ln/>
        </p:spPr>
        <p:txBody>
          <a:bodyPr wrap="square" lIns="0" tIns="0" rIns="0" bIns="0" rtlCol="0" anchor="t"/>
          <a:lstStyle/>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Effectiveness</a:t>
            </a:r>
            <a:r>
              <a:rPr lang="en-US" sz="1050" dirty="0">
                <a:solidFill>
                  <a:srgbClr val="262B3A"/>
                </a:solidFill>
                <a:latin typeface="Calibri" pitchFamily="34" charset="0"/>
                <a:ea typeface="Calibri" pitchFamily="34" charset="-122"/>
                <a:cs typeface="Calibri" pitchFamily="34" charset="-120"/>
              </a:rPr>
              <a:t>: implants and IUDs work without remembering; pills and condoms fail more in typical use.</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STIs</a:t>
            </a:r>
            <a:r>
              <a:rPr lang="en-US" sz="1050" dirty="0">
                <a:solidFill>
                  <a:srgbClr val="262B3A"/>
                </a:solidFill>
                <a:latin typeface="Calibri" pitchFamily="34" charset="0"/>
                <a:ea typeface="Calibri" pitchFamily="34" charset="-122"/>
                <a:cs typeface="Calibri" pitchFamily="34" charset="-120"/>
              </a:rPr>
              <a:t>: only condoms protect.</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Side effects</a:t>
            </a:r>
            <a:r>
              <a:rPr lang="en-US" sz="1050" dirty="0">
                <a:solidFill>
                  <a:srgbClr val="262B3A"/>
                </a:solidFill>
                <a:latin typeface="Calibri" pitchFamily="34" charset="0"/>
                <a:ea typeface="Calibri" pitchFamily="34" charset="-122"/>
                <a:cs typeface="Calibri" pitchFamily="34" charset="-120"/>
              </a:rPr>
              <a:t>: hormonal methods can have them; barrier methods do not.</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Convenience and reversibility</a:t>
            </a:r>
            <a:r>
              <a:rPr lang="en-US" sz="1050" dirty="0">
                <a:solidFill>
                  <a:srgbClr val="262B3A"/>
                </a:solidFill>
                <a:latin typeface="Calibri" pitchFamily="34" charset="0"/>
                <a:ea typeface="Calibri" pitchFamily="34" charset="-122"/>
                <a:cs typeface="Calibri" pitchFamily="34" charset="-120"/>
              </a:rPr>
              <a:t>: implant lasts years; sterilisation is permanent.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A good evaluation ends with a </a:t>
            </a:r>
            <a:r>
              <a:rPr lang="en-US" sz="1050" b="1" dirty="0">
                <a:solidFill>
                  <a:srgbClr val="262B3A"/>
                </a:solidFill>
                <a:latin typeface="Calibri" pitchFamily="34" charset="0"/>
                <a:ea typeface="Calibri" pitchFamily="34" charset="-122"/>
                <a:cs typeface="Calibri" pitchFamily="34" charset="-120"/>
              </a:rPr>
              <a:t>justified conclusion</a:t>
            </a:r>
            <a:r>
              <a:rPr lang="en-US" sz="1050" dirty="0">
                <a:solidFill>
                  <a:srgbClr val="262B3A"/>
                </a:solidFill>
                <a:latin typeface="Calibri" pitchFamily="34" charset="0"/>
                <a:ea typeface="Calibri" pitchFamily="34" charset="-122"/>
                <a:cs typeface="Calibri" pitchFamily="34" charset="-120"/>
              </a:rPr>
              <a:t> for a given person.</a:t>
            </a:r>
            <a:endParaRPr lang="en-US" sz="1050" dirty="0"/>
          </a:p>
        </p:txBody>
      </p:sp>
      <p:sp>
        <p:nvSpPr>
          <p:cNvPr id="59" name="Shape 57"/>
          <p:cNvSpPr/>
          <p:nvPr/>
        </p:nvSpPr>
        <p:spPr>
          <a:xfrm>
            <a:off x="411480" y="5833872"/>
            <a:ext cx="11368735" cy="530352"/>
          </a:xfrm>
          <a:prstGeom prst="rect">
            <a:avLst/>
          </a:prstGeom>
          <a:solidFill>
            <a:srgbClr val="FFF4E0"/>
          </a:solidFill>
          <a:ln w="6350">
            <a:solidFill>
              <a:srgbClr val="F1D9A8"/>
            </a:solidFill>
            <a:prstDash val="solid"/>
          </a:ln>
        </p:spPr>
      </p:sp>
      <p:sp>
        <p:nvSpPr>
          <p:cNvPr id="60" name="Shape 58"/>
          <p:cNvSpPr/>
          <p:nvPr/>
        </p:nvSpPr>
        <p:spPr>
          <a:xfrm>
            <a:off x="411480" y="5833872"/>
            <a:ext cx="82296" cy="530352"/>
          </a:xfrm>
          <a:prstGeom prst="rect">
            <a:avLst/>
          </a:prstGeom>
          <a:solidFill>
            <a:srgbClr val="E39A2F"/>
          </a:solidFill>
          <a:ln w="12700">
            <a:solidFill>
              <a:srgbClr val="E39A2F"/>
            </a:solidFill>
            <a:prstDash val="solid"/>
          </a:ln>
        </p:spPr>
      </p:sp>
      <p:sp>
        <p:nvSpPr>
          <p:cNvPr id="61" name="Text 59"/>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b="1" dirty="0">
                <a:solidFill>
                  <a:srgbClr val="262B3A"/>
                </a:solidFill>
                <a:latin typeface="Calibri" pitchFamily="34" charset="0"/>
                <a:ea typeface="Calibri" pitchFamily="34" charset="-122"/>
                <a:cs typeface="Calibri" pitchFamily="34" charset="-120"/>
              </a:rPr>
              <a:t>200</a:t>
            </a:r>
            <a:r>
              <a:rPr lang="en-US" sz="1150" dirty="0">
                <a:solidFill>
                  <a:srgbClr val="262B3A"/>
                </a:solidFill>
                <a:latin typeface="Calibri" pitchFamily="34" charset="0"/>
                <a:ea typeface="Calibri" pitchFamily="34" charset="-122"/>
                <a:cs typeface="Calibri" pitchFamily="34" charset="-120"/>
              </a:rPr>
              <a:t> women use a </a:t>
            </a:r>
            <a:r>
              <a:rPr lang="en-US" sz="1150" b="1" dirty="0">
                <a:solidFill>
                  <a:srgbClr val="262B3A"/>
                </a:solidFill>
                <a:latin typeface="Calibri" pitchFamily="34" charset="0"/>
                <a:ea typeface="Calibri" pitchFamily="34" charset="-122"/>
                <a:cs typeface="Calibri" pitchFamily="34" charset="-120"/>
              </a:rPr>
              <a:t>diaphragm</a:t>
            </a:r>
            <a:r>
              <a:rPr lang="en-US" sz="1150" dirty="0">
                <a:solidFill>
                  <a:srgbClr val="262B3A"/>
                </a:solidFill>
                <a:latin typeface="Calibri" pitchFamily="34" charset="0"/>
                <a:ea typeface="Calibri" pitchFamily="34" charset="-122"/>
                <a:cs typeface="Calibri" pitchFamily="34" charset="-120"/>
              </a:rPr>
              <a:t> for a year. Use the chart to estimate how many become pregnant.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3</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B5.5.3 • contraception</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B5.5 What role do hormones play in human reproduction?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3  |  15</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how the </a:t>
            </a:r>
            <a:r>
              <a:rPr lang="en-US" sz="1250" b="1" dirty="0">
                <a:solidFill>
                  <a:srgbClr val="262B3A"/>
                </a:solidFill>
                <a:latin typeface="Calibri" pitchFamily="34" charset="0"/>
                <a:ea typeface="Calibri" pitchFamily="34" charset="-122"/>
                <a:cs typeface="Calibri" pitchFamily="34" charset="-120"/>
              </a:rPr>
              <a:t>combined pill</a:t>
            </a:r>
            <a:r>
              <a:rPr lang="en-US" sz="1250" dirty="0">
                <a:solidFill>
                  <a:srgbClr val="262B3A"/>
                </a:solidFill>
                <a:latin typeface="Calibri" pitchFamily="34" charset="0"/>
                <a:ea typeface="Calibri" pitchFamily="34" charset="-122"/>
                <a:cs typeface="Calibri" pitchFamily="34" charset="-120"/>
              </a:rPr>
              <a:t> prevents pregnancy.</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method of contraception that protects against </a:t>
            </a:r>
            <a:r>
              <a:rPr lang="en-US" sz="1250" b="1" dirty="0">
                <a:solidFill>
                  <a:srgbClr val="262B3A"/>
                </a:solidFill>
                <a:latin typeface="Calibri" pitchFamily="34" charset="0"/>
                <a:ea typeface="Calibri" pitchFamily="34" charset="-122"/>
                <a:cs typeface="Calibri" pitchFamily="34" charset="-120"/>
              </a:rPr>
              <a:t>STIs</a:t>
            </a:r>
            <a:r>
              <a:rPr lang="en-US" sz="1250" dirty="0">
                <a:solidFill>
                  <a:srgbClr val="262B3A"/>
                </a:solidFill>
                <a:latin typeface="Calibri" pitchFamily="34" charset="0"/>
                <a:ea typeface="Calibri" pitchFamily="34" charset="-122"/>
                <a:cs typeface="Calibri" pitchFamily="34" charset="-120"/>
              </a:rPr>
              <a:t>, and explain how it works.</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In typical use the pill fails for </a:t>
            </a:r>
            <a:r>
              <a:rPr lang="en-US" sz="1250" b="1" dirty="0">
                <a:solidFill>
                  <a:srgbClr val="262B3A"/>
                </a:solidFill>
                <a:latin typeface="Calibri" pitchFamily="34" charset="0"/>
                <a:ea typeface="Calibri" pitchFamily="34" charset="-122"/>
                <a:cs typeface="Calibri" pitchFamily="34" charset="-120"/>
              </a:rPr>
              <a:t>7 in 100</a:t>
            </a:r>
            <a:r>
              <a:rPr lang="en-US" sz="1250" dirty="0">
                <a:solidFill>
                  <a:srgbClr val="262B3A"/>
                </a:solidFill>
                <a:latin typeface="Calibri" pitchFamily="34" charset="0"/>
                <a:ea typeface="Calibri" pitchFamily="34" charset="-122"/>
                <a:cs typeface="Calibri" pitchFamily="34" charset="-120"/>
              </a:rPr>
              <a:t> women a year. How many of </a:t>
            </a:r>
            <a:r>
              <a:rPr lang="en-US" sz="1250" b="1" dirty="0">
                <a:solidFill>
                  <a:srgbClr val="262B3A"/>
                </a:solidFill>
                <a:latin typeface="Calibri" pitchFamily="34" charset="0"/>
                <a:ea typeface="Calibri" pitchFamily="34" charset="-122"/>
                <a:cs typeface="Calibri" pitchFamily="34" charset="-120"/>
              </a:rPr>
              <a:t>500</a:t>
            </a:r>
            <a:r>
              <a:rPr lang="en-US" sz="1250" dirty="0">
                <a:solidFill>
                  <a:srgbClr val="262B3A"/>
                </a:solidFill>
                <a:latin typeface="Calibri" pitchFamily="34" charset="0"/>
                <a:ea typeface="Calibri" pitchFamily="34" charset="-122"/>
                <a:cs typeface="Calibri" pitchFamily="34" charset="-120"/>
              </a:rPr>
              <a:t> women using the pill would be expected to become pregnant?</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Suggest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reasons why a woman might choose an </a:t>
            </a:r>
            <a:r>
              <a:rPr lang="en-US" sz="1250" b="1" dirty="0">
                <a:solidFill>
                  <a:srgbClr val="262B3A"/>
                </a:solidFill>
                <a:latin typeface="Calibri" pitchFamily="34" charset="0"/>
                <a:ea typeface="Calibri" pitchFamily="34" charset="-122"/>
                <a:cs typeface="Calibri" pitchFamily="34" charset="-120"/>
              </a:rPr>
              <a:t>implant</a:t>
            </a:r>
            <a:r>
              <a:rPr lang="en-US" sz="1250" dirty="0">
                <a:solidFill>
                  <a:srgbClr val="262B3A"/>
                </a:solidFill>
                <a:latin typeface="Calibri" pitchFamily="34" charset="0"/>
                <a:ea typeface="Calibri" pitchFamily="34" charset="-122"/>
                <a:cs typeface="Calibri" pitchFamily="34" charset="-120"/>
              </a:rPr>
              <a:t> rather than the pill.</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Using hormones to treat infertility</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B5.5.4 • FSH and LH as fertility drugs, and in IVF</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B5.5 What role do hormones play in human reproduction?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B5.5.4  |  16</a:t>
            </a:r>
            <a:endParaRPr lang="en-US" sz="1000" dirty="0"/>
          </a:p>
        </p:txBody>
      </p:sp>
      <p:sp>
        <p:nvSpPr>
          <p:cNvPr id="10" name="Shape 8"/>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the main steps of in vitro fertilisation (IVF)</a:t>
            </a:r>
            <a:endParaRPr lang="en-US" sz="1000" dirty="0"/>
          </a:p>
        </p:txBody>
      </p:sp>
      <p:sp>
        <p:nvSpPr>
          <p:cNvPr id="12" name="Shape 10"/>
          <p:cNvSpPr/>
          <p:nvPr/>
        </p:nvSpPr>
        <p:spPr>
          <a:xfrm>
            <a:off x="640080" y="1371600"/>
            <a:ext cx="1600200" cy="1783080"/>
          </a:xfrm>
          <a:prstGeom prst="roundRect">
            <a:avLst>
              <a:gd name="adj" fmla="val 3429"/>
            </a:avLst>
          </a:prstGeom>
          <a:solidFill>
            <a:srgbClr val="FFFFFF"/>
          </a:solidFill>
          <a:ln w="12700">
            <a:solidFill>
              <a:srgbClr val="CFE0DE"/>
            </a:solidFill>
            <a:prstDash val="solid"/>
          </a:ln>
        </p:spPr>
      </p:sp>
      <p:sp>
        <p:nvSpPr>
          <p:cNvPr id="13" name="Text 11"/>
          <p:cNvSpPr/>
          <p:nvPr/>
        </p:nvSpPr>
        <p:spPr>
          <a:xfrm>
            <a:off x="685800" y="1417320"/>
            <a:ext cx="1508760" cy="411480"/>
          </a:xfrm>
          <a:prstGeom prst="rect">
            <a:avLst/>
          </a:prstGeom>
          <a:noFill/>
          <a:ln/>
        </p:spPr>
        <p:txBody>
          <a:bodyPr wrap="square" lIns="0" tIns="0" rIns="0" bIns="0" rtlCol="0" anchor="t"/>
          <a:lstStyle/>
          <a:p>
            <a:pPr algn="ctr" indent="0" marL="0">
              <a:buNone/>
            </a:pPr>
            <a:r>
              <a:rPr lang="en-US" sz="1050" dirty="0">
                <a:solidFill>
                  <a:srgbClr val="262B3A"/>
                </a:solidFill>
                <a:latin typeface="Calibri" pitchFamily="34" charset="0"/>
                <a:ea typeface="Calibri" pitchFamily="34" charset="-122"/>
                <a:cs typeface="Calibri" pitchFamily="34" charset="-120"/>
              </a:rPr>
              <a:t>1  </a:t>
            </a:r>
            <a:r>
              <a:rPr lang="en-US" sz="1050" b="1" dirty="0">
                <a:solidFill>
                  <a:srgbClr val="262B3A"/>
                </a:solidFill>
                <a:latin typeface="Calibri" pitchFamily="34" charset="0"/>
                <a:ea typeface="Calibri" pitchFamily="34" charset="-122"/>
                <a:cs typeface="Calibri" pitchFamily="34" charset="-120"/>
              </a:rPr>
              <a:t>FSH and LH</a:t>
            </a:r>
            <a:r>
              <a:rPr lang="en-US" sz="1050" dirty="0">
                <a:solidFill>
                  <a:srgbClr val="262B3A"/>
                </a:solidFill>
                <a:latin typeface="Calibri" pitchFamily="34" charset="0"/>
                <a:ea typeface="Calibri" pitchFamily="34" charset="-122"/>
                <a:cs typeface="Calibri" pitchFamily="34" charset="-120"/>
              </a:rPr>
              <a:t> injections</a:t>
            </a:r>
            <a:endParaRPr lang="en-US" sz="1050" dirty="0"/>
          </a:p>
        </p:txBody>
      </p:sp>
      <p:sp>
        <p:nvSpPr>
          <p:cNvPr id="14" name="Text 12"/>
          <p:cNvSpPr/>
          <p:nvPr/>
        </p:nvSpPr>
        <p:spPr>
          <a:xfrm>
            <a:off x="685800" y="2825496"/>
            <a:ext cx="1508760" cy="274320"/>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several eggs mature</a:t>
            </a:r>
            <a:endParaRPr lang="en-US" sz="1000" dirty="0"/>
          </a:p>
        </p:txBody>
      </p:sp>
      <p:sp>
        <p:nvSpPr>
          <p:cNvPr id="15" name="Shape 13"/>
          <p:cNvSpPr/>
          <p:nvPr/>
        </p:nvSpPr>
        <p:spPr>
          <a:xfrm>
            <a:off x="1155802" y="2254910"/>
            <a:ext cx="528066" cy="153619"/>
          </a:xfrm>
          <a:prstGeom prst="rect">
            <a:avLst/>
          </a:prstGeom>
          <a:solidFill>
            <a:srgbClr val="DDE9F7"/>
          </a:solidFill>
          <a:ln w="12700">
            <a:solidFill>
              <a:srgbClr val="4A5262"/>
            </a:solidFill>
            <a:prstDash val="solid"/>
          </a:ln>
        </p:spPr>
      </p:sp>
      <p:sp>
        <p:nvSpPr>
          <p:cNvPr id="16" name="Shape 14"/>
          <p:cNvSpPr/>
          <p:nvPr/>
        </p:nvSpPr>
        <p:spPr>
          <a:xfrm>
            <a:off x="1175004" y="2274113"/>
            <a:ext cx="288036" cy="115214"/>
          </a:xfrm>
          <a:prstGeom prst="rect">
            <a:avLst/>
          </a:prstGeom>
          <a:solidFill>
            <a:srgbClr val="2F6DB5">
              <a:alpha val="70000"/>
            </a:srgbClr>
          </a:solidFill>
          <a:ln/>
        </p:spPr>
      </p:sp>
      <p:sp>
        <p:nvSpPr>
          <p:cNvPr id="17" name="Shape 15"/>
          <p:cNvSpPr/>
          <p:nvPr/>
        </p:nvSpPr>
        <p:spPr>
          <a:xfrm>
            <a:off x="982980" y="2331720"/>
            <a:ext cx="172822" cy="91"/>
          </a:xfrm>
          <a:prstGeom prst="line">
            <a:avLst/>
          </a:prstGeom>
          <a:noFill/>
          <a:ln w="31750">
            <a:solidFill>
              <a:srgbClr val="4A5262"/>
            </a:solidFill>
            <a:prstDash val="solid"/>
          </a:ln>
        </p:spPr>
      </p:sp>
      <p:sp>
        <p:nvSpPr>
          <p:cNvPr id="18" name="Shape 16"/>
          <p:cNvSpPr/>
          <p:nvPr/>
        </p:nvSpPr>
        <p:spPr>
          <a:xfrm>
            <a:off x="1683868" y="2331720"/>
            <a:ext cx="211226" cy="91"/>
          </a:xfrm>
          <a:prstGeom prst="line">
            <a:avLst/>
          </a:prstGeom>
          <a:noFill/>
          <a:ln w="25400">
            <a:solidFill>
              <a:srgbClr val="4A5262"/>
            </a:solidFill>
            <a:prstDash val="solid"/>
          </a:ln>
        </p:spPr>
      </p:sp>
      <p:sp>
        <p:nvSpPr>
          <p:cNvPr id="19" name="Shape 17"/>
          <p:cNvSpPr/>
          <p:nvPr/>
        </p:nvSpPr>
        <p:spPr>
          <a:xfrm>
            <a:off x="1895094" y="2235708"/>
            <a:ext cx="91" cy="192024"/>
          </a:xfrm>
          <a:prstGeom prst="line">
            <a:avLst/>
          </a:prstGeom>
          <a:noFill/>
          <a:ln w="31750">
            <a:solidFill>
              <a:srgbClr val="4A5262"/>
            </a:solidFill>
            <a:prstDash val="solid"/>
          </a:ln>
        </p:spPr>
      </p:sp>
      <p:sp>
        <p:nvSpPr>
          <p:cNvPr id="20" name="Shape 18"/>
          <p:cNvSpPr/>
          <p:nvPr/>
        </p:nvSpPr>
        <p:spPr>
          <a:xfrm>
            <a:off x="810158" y="2331720"/>
            <a:ext cx="172822" cy="91"/>
          </a:xfrm>
          <a:prstGeom prst="line">
            <a:avLst/>
          </a:prstGeom>
          <a:noFill/>
          <a:ln w="12700">
            <a:solidFill>
              <a:srgbClr val="8C96A8"/>
            </a:solidFill>
            <a:prstDash val="solid"/>
          </a:ln>
        </p:spPr>
      </p:sp>
      <p:sp>
        <p:nvSpPr>
          <p:cNvPr id="21" name="Text 19"/>
          <p:cNvSpPr/>
          <p:nvPr/>
        </p:nvSpPr>
        <p:spPr>
          <a:xfrm>
            <a:off x="891540" y="2468880"/>
            <a:ext cx="1097280" cy="256032"/>
          </a:xfrm>
          <a:prstGeom prst="rect">
            <a:avLst/>
          </a:prstGeom>
          <a:noFill/>
          <a:ln/>
        </p:spPr>
        <p:txBody>
          <a:bodyPr wrap="square" lIns="0" tIns="0" rIns="0" bIns="0" rtlCol="0" anchor="ctr"/>
          <a:lstStyle/>
          <a:p>
            <a:pPr algn="ctr" indent="0" marL="0">
              <a:buNone/>
            </a:pPr>
            <a:r>
              <a:rPr lang="en-US" sz="1000" b="1" dirty="0">
                <a:solidFill>
                  <a:srgbClr val="1F4E8C"/>
                </a:solidFill>
                <a:latin typeface="Calibri" pitchFamily="34" charset="0"/>
                <a:ea typeface="Calibri" pitchFamily="34" charset="-122"/>
                <a:cs typeface="Calibri" pitchFamily="34" charset="-120"/>
              </a:rPr>
              <a:t>FSH, LH</a:t>
            </a:r>
            <a:endParaRPr lang="en-US" sz="1000" dirty="0"/>
          </a:p>
        </p:txBody>
      </p:sp>
      <p:sp>
        <p:nvSpPr>
          <p:cNvPr id="22" name="Shape 20"/>
          <p:cNvSpPr/>
          <p:nvPr/>
        </p:nvSpPr>
        <p:spPr>
          <a:xfrm>
            <a:off x="2249424" y="2263140"/>
            <a:ext cx="164592" cy="91"/>
          </a:xfrm>
          <a:prstGeom prst="line">
            <a:avLst/>
          </a:prstGeom>
          <a:noFill/>
          <a:ln w="25400">
            <a:solidFill>
              <a:srgbClr val="0D7877"/>
            </a:solidFill>
            <a:prstDash val="solid"/>
            <a:tailEnd type="triangle"/>
          </a:ln>
        </p:spPr>
      </p:sp>
      <p:sp>
        <p:nvSpPr>
          <p:cNvPr id="23" name="Shape 21"/>
          <p:cNvSpPr/>
          <p:nvPr/>
        </p:nvSpPr>
        <p:spPr>
          <a:xfrm>
            <a:off x="2423160" y="1371600"/>
            <a:ext cx="1600200" cy="1783080"/>
          </a:xfrm>
          <a:prstGeom prst="roundRect">
            <a:avLst>
              <a:gd name="adj" fmla="val 3429"/>
            </a:avLst>
          </a:prstGeom>
          <a:solidFill>
            <a:srgbClr val="FFFFFF"/>
          </a:solidFill>
          <a:ln w="12700">
            <a:solidFill>
              <a:srgbClr val="CFE0DE"/>
            </a:solidFill>
            <a:prstDash val="solid"/>
          </a:ln>
        </p:spPr>
      </p:sp>
      <p:sp>
        <p:nvSpPr>
          <p:cNvPr id="24" name="Text 22"/>
          <p:cNvSpPr/>
          <p:nvPr/>
        </p:nvSpPr>
        <p:spPr>
          <a:xfrm>
            <a:off x="2468880" y="1417320"/>
            <a:ext cx="1508760" cy="411480"/>
          </a:xfrm>
          <a:prstGeom prst="rect">
            <a:avLst/>
          </a:prstGeom>
          <a:noFill/>
          <a:ln/>
        </p:spPr>
        <p:txBody>
          <a:bodyPr wrap="square" lIns="0" tIns="0" rIns="0" bIns="0" rtlCol="0" anchor="t"/>
          <a:lstStyle/>
          <a:p>
            <a:pPr algn="ctr" indent="0" marL="0">
              <a:buNone/>
            </a:pPr>
            <a:r>
              <a:rPr lang="en-US" sz="1050" dirty="0">
                <a:solidFill>
                  <a:srgbClr val="262B3A"/>
                </a:solidFill>
                <a:latin typeface="Calibri" pitchFamily="34" charset="0"/>
                <a:ea typeface="Calibri" pitchFamily="34" charset="-122"/>
                <a:cs typeface="Calibri" pitchFamily="34" charset="-120"/>
              </a:rPr>
              <a:t>2  Eggs mature</a:t>
            </a:r>
            <a:endParaRPr lang="en-US" sz="1050" dirty="0"/>
          </a:p>
        </p:txBody>
      </p:sp>
      <p:sp>
        <p:nvSpPr>
          <p:cNvPr id="25" name="Text 23"/>
          <p:cNvSpPr/>
          <p:nvPr/>
        </p:nvSpPr>
        <p:spPr>
          <a:xfrm>
            <a:off x="2468880" y="2825496"/>
            <a:ext cx="1508760" cy="274320"/>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in follicles in the ovaries</a:t>
            </a:r>
            <a:endParaRPr lang="en-US" sz="1000" dirty="0"/>
          </a:p>
        </p:txBody>
      </p:sp>
      <p:sp>
        <p:nvSpPr>
          <p:cNvPr id="26" name="Shape 24"/>
          <p:cNvSpPr/>
          <p:nvPr/>
        </p:nvSpPr>
        <p:spPr>
          <a:xfrm>
            <a:off x="2674620" y="2002536"/>
            <a:ext cx="1097280" cy="658368"/>
          </a:xfrm>
          <a:prstGeom prst="ellipse">
            <a:avLst/>
          </a:prstGeom>
          <a:solidFill>
            <a:srgbClr val="F3D3A6"/>
          </a:solidFill>
          <a:ln w="15875">
            <a:solidFill>
              <a:srgbClr val="9A6A2A"/>
            </a:solidFill>
            <a:prstDash val="solid"/>
          </a:ln>
        </p:spPr>
      </p:sp>
      <p:sp>
        <p:nvSpPr>
          <p:cNvPr id="27" name="Shape 25"/>
          <p:cNvSpPr/>
          <p:nvPr/>
        </p:nvSpPr>
        <p:spPr>
          <a:xfrm>
            <a:off x="2820339" y="2159228"/>
            <a:ext cx="147474" cy="147474"/>
          </a:xfrm>
          <a:prstGeom prst="ellipse">
            <a:avLst/>
          </a:prstGeom>
          <a:solidFill>
            <a:srgbClr val="FFF6E8"/>
          </a:solidFill>
          <a:ln w="6350">
            <a:solidFill>
              <a:srgbClr val="9A6A2A"/>
            </a:solidFill>
            <a:prstDash val="solid"/>
          </a:ln>
        </p:spPr>
      </p:sp>
      <p:sp>
        <p:nvSpPr>
          <p:cNvPr id="28" name="Shape 26"/>
          <p:cNvSpPr/>
          <p:nvPr/>
        </p:nvSpPr>
        <p:spPr>
          <a:xfrm>
            <a:off x="3214921" y="2413358"/>
            <a:ext cx="126407" cy="126407"/>
          </a:xfrm>
          <a:prstGeom prst="ellipse">
            <a:avLst/>
          </a:prstGeom>
          <a:solidFill>
            <a:srgbClr val="FFF6E8"/>
          </a:solidFill>
          <a:ln w="6350">
            <a:solidFill>
              <a:srgbClr val="9A6A2A"/>
            </a:solidFill>
            <a:prstDash val="solid"/>
          </a:ln>
        </p:spPr>
      </p:sp>
      <p:sp>
        <p:nvSpPr>
          <p:cNvPr id="29" name="Shape 27"/>
          <p:cNvSpPr/>
          <p:nvPr/>
        </p:nvSpPr>
        <p:spPr>
          <a:xfrm>
            <a:off x="3060863" y="2358055"/>
            <a:ext cx="105339" cy="105339"/>
          </a:xfrm>
          <a:prstGeom prst="ellipse">
            <a:avLst/>
          </a:prstGeom>
          <a:solidFill>
            <a:srgbClr val="FFF6E8"/>
          </a:solidFill>
          <a:ln w="6350">
            <a:solidFill>
              <a:srgbClr val="9A6A2A"/>
            </a:solidFill>
            <a:prstDash val="solid"/>
          </a:ln>
        </p:spPr>
      </p:sp>
      <p:sp>
        <p:nvSpPr>
          <p:cNvPr id="30" name="Shape 28"/>
          <p:cNvSpPr/>
          <p:nvPr/>
        </p:nvSpPr>
        <p:spPr>
          <a:xfrm>
            <a:off x="3332988" y="2147377"/>
            <a:ext cx="263347" cy="263347"/>
          </a:xfrm>
          <a:prstGeom prst="ellipse">
            <a:avLst/>
          </a:prstGeom>
          <a:solidFill>
            <a:srgbClr val="FFF6E8"/>
          </a:solidFill>
          <a:ln w="12700">
            <a:solidFill>
              <a:srgbClr val="9A6A2A"/>
            </a:solidFill>
            <a:prstDash val="solid"/>
          </a:ln>
        </p:spPr>
      </p:sp>
      <p:sp>
        <p:nvSpPr>
          <p:cNvPr id="31" name="Shape 29"/>
          <p:cNvSpPr/>
          <p:nvPr/>
        </p:nvSpPr>
        <p:spPr>
          <a:xfrm>
            <a:off x="3480024" y="2213214"/>
            <a:ext cx="79004" cy="79004"/>
          </a:xfrm>
          <a:prstGeom prst="ellipse">
            <a:avLst/>
          </a:prstGeom>
          <a:solidFill>
            <a:srgbClr val="F2B279"/>
          </a:solidFill>
          <a:ln w="9525">
            <a:solidFill>
              <a:srgbClr val="A4561C"/>
            </a:solidFill>
            <a:prstDash val="solid"/>
          </a:ln>
        </p:spPr>
      </p:sp>
      <p:sp>
        <p:nvSpPr>
          <p:cNvPr id="32" name="Shape 30"/>
          <p:cNvSpPr/>
          <p:nvPr/>
        </p:nvSpPr>
        <p:spPr>
          <a:xfrm>
            <a:off x="4032504" y="2263140"/>
            <a:ext cx="164592" cy="91"/>
          </a:xfrm>
          <a:prstGeom prst="line">
            <a:avLst/>
          </a:prstGeom>
          <a:noFill/>
          <a:ln w="25400">
            <a:solidFill>
              <a:srgbClr val="0D7877"/>
            </a:solidFill>
            <a:prstDash val="solid"/>
            <a:tailEnd type="triangle"/>
          </a:ln>
        </p:spPr>
      </p:sp>
      <p:sp>
        <p:nvSpPr>
          <p:cNvPr id="33" name="Shape 31"/>
          <p:cNvSpPr/>
          <p:nvPr/>
        </p:nvSpPr>
        <p:spPr>
          <a:xfrm>
            <a:off x="4206240" y="1371600"/>
            <a:ext cx="1600200" cy="1783080"/>
          </a:xfrm>
          <a:prstGeom prst="roundRect">
            <a:avLst>
              <a:gd name="adj" fmla="val 3429"/>
            </a:avLst>
          </a:prstGeom>
          <a:solidFill>
            <a:srgbClr val="FFFFFF"/>
          </a:solidFill>
          <a:ln w="12700">
            <a:solidFill>
              <a:srgbClr val="CFE0DE"/>
            </a:solidFill>
            <a:prstDash val="solid"/>
          </a:ln>
        </p:spPr>
      </p:sp>
      <p:sp>
        <p:nvSpPr>
          <p:cNvPr id="34" name="Text 32"/>
          <p:cNvSpPr/>
          <p:nvPr/>
        </p:nvSpPr>
        <p:spPr>
          <a:xfrm>
            <a:off x="4251960" y="1417320"/>
            <a:ext cx="1508760" cy="411480"/>
          </a:xfrm>
          <a:prstGeom prst="rect">
            <a:avLst/>
          </a:prstGeom>
          <a:noFill/>
          <a:ln/>
        </p:spPr>
        <p:txBody>
          <a:bodyPr wrap="square" lIns="0" tIns="0" rIns="0" bIns="0" rtlCol="0" anchor="t"/>
          <a:lstStyle/>
          <a:p>
            <a:pPr algn="ctr" indent="0" marL="0">
              <a:buNone/>
            </a:pPr>
            <a:r>
              <a:rPr lang="en-US" sz="1050" dirty="0">
                <a:solidFill>
                  <a:srgbClr val="262B3A"/>
                </a:solidFill>
                <a:latin typeface="Calibri" pitchFamily="34" charset="0"/>
                <a:ea typeface="Calibri" pitchFamily="34" charset="-122"/>
                <a:cs typeface="Calibri" pitchFamily="34" charset="-120"/>
              </a:rPr>
              <a:t>3  Eggs </a:t>
            </a:r>
            <a:r>
              <a:rPr lang="en-US" sz="1050" b="1" dirty="0">
                <a:solidFill>
                  <a:srgbClr val="262B3A"/>
                </a:solidFill>
                <a:latin typeface="Calibri" pitchFamily="34" charset="0"/>
                <a:ea typeface="Calibri" pitchFamily="34" charset="-122"/>
                <a:cs typeface="Calibri" pitchFamily="34" charset="-120"/>
              </a:rPr>
              <a:t>collected</a:t>
            </a:r>
            <a:endParaRPr lang="en-US" sz="1050" dirty="0"/>
          </a:p>
        </p:txBody>
      </p:sp>
      <p:sp>
        <p:nvSpPr>
          <p:cNvPr id="35" name="Text 33"/>
          <p:cNvSpPr/>
          <p:nvPr/>
        </p:nvSpPr>
        <p:spPr>
          <a:xfrm>
            <a:off x="4251960" y="2825496"/>
            <a:ext cx="1508760" cy="274320"/>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with a fine needle</a:t>
            </a:r>
            <a:endParaRPr lang="en-US" sz="1000" dirty="0"/>
          </a:p>
        </p:txBody>
      </p:sp>
      <p:sp>
        <p:nvSpPr>
          <p:cNvPr id="36" name="Shape 34"/>
          <p:cNvSpPr/>
          <p:nvPr/>
        </p:nvSpPr>
        <p:spPr>
          <a:xfrm>
            <a:off x="4411980" y="2125980"/>
            <a:ext cx="731520" cy="502920"/>
          </a:xfrm>
          <a:prstGeom prst="ellipse">
            <a:avLst/>
          </a:prstGeom>
          <a:solidFill>
            <a:srgbClr val="F3D3A6"/>
          </a:solidFill>
          <a:ln w="15875">
            <a:solidFill>
              <a:srgbClr val="9A6A2A"/>
            </a:solidFill>
            <a:prstDash val="solid"/>
          </a:ln>
        </p:spPr>
      </p:sp>
      <p:sp>
        <p:nvSpPr>
          <p:cNvPr id="37" name="Shape 35"/>
          <p:cNvSpPr/>
          <p:nvPr/>
        </p:nvSpPr>
        <p:spPr>
          <a:xfrm>
            <a:off x="4501957" y="2245675"/>
            <a:ext cx="112654" cy="112654"/>
          </a:xfrm>
          <a:prstGeom prst="ellipse">
            <a:avLst/>
          </a:prstGeom>
          <a:solidFill>
            <a:srgbClr val="FFF6E8"/>
          </a:solidFill>
          <a:ln w="6350">
            <a:solidFill>
              <a:srgbClr val="9A6A2A"/>
            </a:solidFill>
            <a:prstDash val="solid"/>
          </a:ln>
        </p:spPr>
      </p:sp>
      <p:sp>
        <p:nvSpPr>
          <p:cNvPr id="38" name="Shape 36"/>
          <p:cNvSpPr/>
          <p:nvPr/>
        </p:nvSpPr>
        <p:spPr>
          <a:xfrm>
            <a:off x="4766036" y="2439802"/>
            <a:ext cx="96561" cy="96561"/>
          </a:xfrm>
          <a:prstGeom prst="ellipse">
            <a:avLst/>
          </a:prstGeom>
          <a:solidFill>
            <a:srgbClr val="FFF6E8"/>
          </a:solidFill>
          <a:ln w="6350">
            <a:solidFill>
              <a:srgbClr val="9A6A2A"/>
            </a:solidFill>
            <a:prstDash val="solid"/>
          </a:ln>
        </p:spPr>
      </p:sp>
      <p:sp>
        <p:nvSpPr>
          <p:cNvPr id="39" name="Shape 37"/>
          <p:cNvSpPr/>
          <p:nvPr/>
        </p:nvSpPr>
        <p:spPr>
          <a:xfrm>
            <a:off x="4664354" y="2397557"/>
            <a:ext cx="80467" cy="80467"/>
          </a:xfrm>
          <a:prstGeom prst="ellipse">
            <a:avLst/>
          </a:prstGeom>
          <a:solidFill>
            <a:srgbClr val="FFF6E8"/>
          </a:solidFill>
          <a:ln w="6350">
            <a:solidFill>
              <a:srgbClr val="9A6A2A"/>
            </a:solidFill>
            <a:prstDash val="solid"/>
          </a:ln>
        </p:spPr>
      </p:sp>
      <p:sp>
        <p:nvSpPr>
          <p:cNvPr id="40" name="Shape 38"/>
          <p:cNvSpPr/>
          <p:nvPr/>
        </p:nvSpPr>
        <p:spPr>
          <a:xfrm>
            <a:off x="4838090" y="2236622"/>
            <a:ext cx="201168" cy="201168"/>
          </a:xfrm>
          <a:prstGeom prst="ellipse">
            <a:avLst/>
          </a:prstGeom>
          <a:solidFill>
            <a:srgbClr val="FFF6E8"/>
          </a:solidFill>
          <a:ln w="12700">
            <a:solidFill>
              <a:srgbClr val="9A6A2A"/>
            </a:solidFill>
            <a:prstDash val="solid"/>
          </a:ln>
        </p:spPr>
      </p:sp>
      <p:sp>
        <p:nvSpPr>
          <p:cNvPr id="41" name="Shape 39"/>
          <p:cNvSpPr/>
          <p:nvPr/>
        </p:nvSpPr>
        <p:spPr>
          <a:xfrm>
            <a:off x="4945075" y="2286914"/>
            <a:ext cx="60350" cy="60350"/>
          </a:xfrm>
          <a:prstGeom prst="ellipse">
            <a:avLst/>
          </a:prstGeom>
          <a:solidFill>
            <a:srgbClr val="F2B279"/>
          </a:solidFill>
          <a:ln w="9525">
            <a:solidFill>
              <a:srgbClr val="A4561C"/>
            </a:solidFill>
            <a:prstDash val="solid"/>
          </a:ln>
        </p:spPr>
      </p:sp>
      <p:sp>
        <p:nvSpPr>
          <p:cNvPr id="42" name="Shape 40"/>
          <p:cNvSpPr/>
          <p:nvPr/>
        </p:nvSpPr>
        <p:spPr>
          <a:xfrm flipV="1">
            <a:off x="5052060" y="1920240"/>
            <a:ext cx="640080" cy="365760"/>
          </a:xfrm>
          <a:prstGeom prst="line">
            <a:avLst/>
          </a:prstGeom>
          <a:noFill/>
          <a:ln w="25400">
            <a:solidFill>
              <a:srgbClr val="4A5262"/>
            </a:solidFill>
            <a:prstDash val="solid"/>
          </a:ln>
        </p:spPr>
      </p:sp>
      <p:sp>
        <p:nvSpPr>
          <p:cNvPr id="43" name="Shape 41"/>
          <p:cNvSpPr/>
          <p:nvPr/>
        </p:nvSpPr>
        <p:spPr>
          <a:xfrm>
            <a:off x="5426964" y="2523744"/>
            <a:ext cx="164592" cy="164592"/>
          </a:xfrm>
          <a:prstGeom prst="ellipse">
            <a:avLst/>
          </a:prstGeom>
          <a:solidFill>
            <a:srgbClr val="FBE6C4"/>
          </a:solidFill>
          <a:ln w="12700">
            <a:solidFill>
              <a:srgbClr val="A4561C"/>
            </a:solidFill>
            <a:prstDash val="solid"/>
          </a:ln>
        </p:spPr>
      </p:sp>
      <p:sp>
        <p:nvSpPr>
          <p:cNvPr id="44" name="Shape 42"/>
          <p:cNvSpPr/>
          <p:nvPr/>
        </p:nvSpPr>
        <p:spPr>
          <a:xfrm>
            <a:off x="5482925" y="2579705"/>
            <a:ext cx="52669" cy="52669"/>
          </a:xfrm>
          <a:prstGeom prst="ellipse">
            <a:avLst/>
          </a:prstGeom>
          <a:solidFill>
            <a:srgbClr val="C9B6E4"/>
          </a:solidFill>
          <a:ln w="6350">
            <a:solidFill>
              <a:srgbClr val="6A4C93"/>
            </a:solidFill>
            <a:prstDash val="solid"/>
          </a:ln>
        </p:spPr>
      </p:sp>
      <p:sp>
        <p:nvSpPr>
          <p:cNvPr id="45" name="Shape 43"/>
          <p:cNvSpPr/>
          <p:nvPr/>
        </p:nvSpPr>
        <p:spPr>
          <a:xfrm>
            <a:off x="5609844" y="2432304"/>
            <a:ext cx="164592" cy="164592"/>
          </a:xfrm>
          <a:prstGeom prst="ellipse">
            <a:avLst/>
          </a:prstGeom>
          <a:solidFill>
            <a:srgbClr val="FBE6C4"/>
          </a:solidFill>
          <a:ln w="12700">
            <a:solidFill>
              <a:srgbClr val="A4561C"/>
            </a:solidFill>
            <a:prstDash val="solid"/>
          </a:ln>
        </p:spPr>
      </p:sp>
      <p:sp>
        <p:nvSpPr>
          <p:cNvPr id="46" name="Shape 44"/>
          <p:cNvSpPr/>
          <p:nvPr/>
        </p:nvSpPr>
        <p:spPr>
          <a:xfrm>
            <a:off x="5665805" y="2488265"/>
            <a:ext cx="52669" cy="52669"/>
          </a:xfrm>
          <a:prstGeom prst="ellipse">
            <a:avLst/>
          </a:prstGeom>
          <a:solidFill>
            <a:srgbClr val="C9B6E4"/>
          </a:solidFill>
          <a:ln w="6350">
            <a:solidFill>
              <a:srgbClr val="6A4C93"/>
            </a:solidFill>
            <a:prstDash val="solid"/>
          </a:ln>
        </p:spPr>
      </p:sp>
      <p:sp>
        <p:nvSpPr>
          <p:cNvPr id="47" name="Shape 45"/>
          <p:cNvSpPr/>
          <p:nvPr/>
        </p:nvSpPr>
        <p:spPr>
          <a:xfrm>
            <a:off x="640080" y="3383280"/>
            <a:ext cx="1600200" cy="1783080"/>
          </a:xfrm>
          <a:prstGeom prst="roundRect">
            <a:avLst>
              <a:gd name="adj" fmla="val 3429"/>
            </a:avLst>
          </a:prstGeom>
          <a:solidFill>
            <a:srgbClr val="FFFFFF"/>
          </a:solidFill>
          <a:ln w="12700">
            <a:solidFill>
              <a:srgbClr val="CFE0DE"/>
            </a:solidFill>
            <a:prstDash val="solid"/>
          </a:ln>
        </p:spPr>
      </p:sp>
      <p:sp>
        <p:nvSpPr>
          <p:cNvPr id="48" name="Text 46"/>
          <p:cNvSpPr/>
          <p:nvPr/>
        </p:nvSpPr>
        <p:spPr>
          <a:xfrm>
            <a:off x="685800" y="3429000"/>
            <a:ext cx="1508760" cy="411480"/>
          </a:xfrm>
          <a:prstGeom prst="rect">
            <a:avLst/>
          </a:prstGeom>
          <a:noFill/>
          <a:ln/>
        </p:spPr>
        <p:txBody>
          <a:bodyPr wrap="square" lIns="0" tIns="0" rIns="0" bIns="0" rtlCol="0" anchor="t"/>
          <a:lstStyle/>
          <a:p>
            <a:pPr algn="ctr" indent="0" marL="0">
              <a:buNone/>
            </a:pPr>
            <a:r>
              <a:rPr lang="en-US" sz="1050" dirty="0">
                <a:solidFill>
                  <a:srgbClr val="262B3A"/>
                </a:solidFill>
                <a:latin typeface="Calibri" pitchFamily="34" charset="0"/>
                <a:ea typeface="Calibri" pitchFamily="34" charset="-122"/>
                <a:cs typeface="Calibri" pitchFamily="34" charset="-120"/>
              </a:rPr>
              <a:t>4  </a:t>
            </a:r>
            <a:r>
              <a:rPr lang="en-US" sz="1050" b="1" dirty="0">
                <a:solidFill>
                  <a:srgbClr val="262B3A"/>
                </a:solidFill>
                <a:latin typeface="Calibri" pitchFamily="34" charset="0"/>
                <a:ea typeface="Calibri" pitchFamily="34" charset="-122"/>
                <a:cs typeface="Calibri" pitchFamily="34" charset="-120"/>
              </a:rPr>
              <a:t>Fertilised</a:t>
            </a:r>
            <a:r>
              <a:rPr lang="en-US" sz="1050" dirty="0">
                <a:solidFill>
                  <a:srgbClr val="262B3A"/>
                </a:solidFill>
                <a:latin typeface="Calibri" pitchFamily="34" charset="0"/>
                <a:ea typeface="Calibri" pitchFamily="34" charset="-122"/>
                <a:cs typeface="Calibri" pitchFamily="34" charset="-120"/>
              </a:rPr>
              <a:t> in a dish</a:t>
            </a:r>
            <a:endParaRPr lang="en-US" sz="1050" dirty="0"/>
          </a:p>
        </p:txBody>
      </p:sp>
      <p:sp>
        <p:nvSpPr>
          <p:cNvPr id="49" name="Text 47"/>
          <p:cNvSpPr/>
          <p:nvPr/>
        </p:nvSpPr>
        <p:spPr>
          <a:xfrm>
            <a:off x="685800" y="4837176"/>
            <a:ext cx="1508760" cy="274320"/>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eggs mixed with sperm</a:t>
            </a:r>
            <a:endParaRPr lang="en-US" sz="1000" dirty="0"/>
          </a:p>
        </p:txBody>
      </p:sp>
      <p:sp>
        <p:nvSpPr>
          <p:cNvPr id="50" name="Shape 48"/>
          <p:cNvSpPr/>
          <p:nvPr/>
        </p:nvSpPr>
        <p:spPr>
          <a:xfrm>
            <a:off x="845820" y="4165092"/>
            <a:ext cx="1188720" cy="502920"/>
          </a:xfrm>
          <a:prstGeom prst="ellipse">
            <a:avLst/>
          </a:prstGeom>
          <a:solidFill>
            <a:srgbClr val="EEF5F4"/>
          </a:solidFill>
          <a:ln w="19050">
            <a:solidFill>
              <a:srgbClr val="6B7385"/>
            </a:solidFill>
            <a:prstDash val="solid"/>
          </a:ln>
        </p:spPr>
      </p:sp>
      <p:sp>
        <p:nvSpPr>
          <p:cNvPr id="51" name="Shape 49"/>
          <p:cNvSpPr/>
          <p:nvPr/>
        </p:nvSpPr>
        <p:spPr>
          <a:xfrm>
            <a:off x="1138428" y="4297680"/>
            <a:ext cx="237744" cy="237744"/>
          </a:xfrm>
          <a:prstGeom prst="ellipse">
            <a:avLst/>
          </a:prstGeom>
          <a:solidFill>
            <a:srgbClr val="FBE6C4"/>
          </a:solidFill>
          <a:ln w="12700">
            <a:solidFill>
              <a:srgbClr val="A4561C"/>
            </a:solidFill>
            <a:prstDash val="solid"/>
          </a:ln>
        </p:spPr>
      </p:sp>
      <p:sp>
        <p:nvSpPr>
          <p:cNvPr id="52" name="Shape 50"/>
          <p:cNvSpPr/>
          <p:nvPr/>
        </p:nvSpPr>
        <p:spPr>
          <a:xfrm>
            <a:off x="1219261" y="4378513"/>
            <a:ext cx="76078" cy="76078"/>
          </a:xfrm>
          <a:prstGeom prst="ellipse">
            <a:avLst/>
          </a:prstGeom>
          <a:solidFill>
            <a:srgbClr val="C9B6E4"/>
          </a:solidFill>
          <a:ln w="6350">
            <a:solidFill>
              <a:srgbClr val="6A4C93"/>
            </a:solidFill>
            <a:prstDash val="solid"/>
          </a:ln>
        </p:spPr>
      </p:sp>
      <p:sp>
        <p:nvSpPr>
          <p:cNvPr id="53" name="Shape 51"/>
          <p:cNvSpPr/>
          <p:nvPr/>
        </p:nvSpPr>
        <p:spPr>
          <a:xfrm>
            <a:off x="1623060" y="4361688"/>
            <a:ext cx="182880" cy="182880"/>
          </a:xfrm>
          <a:prstGeom prst="ellipse">
            <a:avLst/>
          </a:prstGeom>
          <a:solidFill>
            <a:srgbClr val="FBE6C4"/>
          </a:solidFill>
          <a:ln w="12700">
            <a:solidFill>
              <a:srgbClr val="A4561C"/>
            </a:solidFill>
            <a:prstDash val="solid"/>
          </a:ln>
        </p:spPr>
      </p:sp>
      <p:sp>
        <p:nvSpPr>
          <p:cNvPr id="54" name="Shape 52"/>
          <p:cNvSpPr/>
          <p:nvPr/>
        </p:nvSpPr>
        <p:spPr>
          <a:xfrm>
            <a:off x="1685239" y="4423867"/>
            <a:ext cx="58522" cy="58522"/>
          </a:xfrm>
          <a:prstGeom prst="ellipse">
            <a:avLst/>
          </a:prstGeom>
          <a:solidFill>
            <a:srgbClr val="C9B6E4"/>
          </a:solidFill>
          <a:ln w="6350">
            <a:solidFill>
              <a:srgbClr val="6A4C93"/>
            </a:solidFill>
            <a:prstDash val="solid"/>
          </a:ln>
        </p:spPr>
      </p:sp>
      <p:sp>
        <p:nvSpPr>
          <p:cNvPr id="55" name="Shape 53"/>
          <p:cNvSpPr/>
          <p:nvPr/>
        </p:nvSpPr>
        <p:spPr>
          <a:xfrm>
            <a:off x="964692" y="4302252"/>
            <a:ext cx="73152" cy="45720"/>
          </a:xfrm>
          <a:prstGeom prst="ellipse">
            <a:avLst/>
          </a:prstGeom>
          <a:solidFill>
            <a:srgbClr val="3B5B8C"/>
          </a:solidFill>
          <a:ln w="12700">
            <a:solidFill>
              <a:srgbClr val="3B5B8C"/>
            </a:solidFill>
            <a:prstDash val="solid"/>
          </a:ln>
        </p:spPr>
      </p:sp>
      <p:sp>
        <p:nvSpPr>
          <p:cNvPr id="56" name="Shape 54"/>
          <p:cNvSpPr/>
          <p:nvPr/>
        </p:nvSpPr>
        <p:spPr>
          <a:xfrm>
            <a:off x="1037844" y="4325112"/>
            <a:ext cx="82296" cy="22860"/>
          </a:xfrm>
          <a:prstGeom prst="line">
            <a:avLst/>
          </a:prstGeom>
          <a:noFill/>
          <a:ln w="9525">
            <a:solidFill>
              <a:srgbClr val="3B5B8C"/>
            </a:solidFill>
            <a:prstDash val="solid"/>
          </a:ln>
        </p:spPr>
      </p:sp>
      <p:sp>
        <p:nvSpPr>
          <p:cNvPr id="57" name="Shape 55"/>
          <p:cNvSpPr/>
          <p:nvPr/>
        </p:nvSpPr>
        <p:spPr>
          <a:xfrm flipV="1">
            <a:off x="1120140" y="4315968"/>
            <a:ext cx="82296" cy="32004"/>
          </a:xfrm>
          <a:prstGeom prst="line">
            <a:avLst/>
          </a:prstGeom>
          <a:noFill/>
          <a:ln w="9525">
            <a:solidFill>
              <a:srgbClr val="3B5B8C"/>
            </a:solidFill>
            <a:prstDash val="solid"/>
          </a:ln>
        </p:spPr>
      </p:sp>
      <p:sp>
        <p:nvSpPr>
          <p:cNvPr id="58" name="Shape 56"/>
          <p:cNvSpPr/>
          <p:nvPr/>
        </p:nvSpPr>
        <p:spPr>
          <a:xfrm>
            <a:off x="1449324" y="4503420"/>
            <a:ext cx="73152" cy="45720"/>
          </a:xfrm>
          <a:prstGeom prst="ellipse">
            <a:avLst/>
          </a:prstGeom>
          <a:solidFill>
            <a:srgbClr val="3B5B8C"/>
          </a:solidFill>
          <a:ln w="12700">
            <a:solidFill>
              <a:srgbClr val="3B5B8C"/>
            </a:solidFill>
            <a:prstDash val="solid"/>
          </a:ln>
        </p:spPr>
      </p:sp>
      <p:sp>
        <p:nvSpPr>
          <p:cNvPr id="59" name="Shape 57"/>
          <p:cNvSpPr/>
          <p:nvPr/>
        </p:nvSpPr>
        <p:spPr>
          <a:xfrm flipH="1">
            <a:off x="1367028" y="4526280"/>
            <a:ext cx="82296" cy="22860"/>
          </a:xfrm>
          <a:prstGeom prst="line">
            <a:avLst/>
          </a:prstGeom>
          <a:noFill/>
          <a:ln w="9525">
            <a:solidFill>
              <a:srgbClr val="3B5B8C"/>
            </a:solidFill>
            <a:prstDash val="solid"/>
          </a:ln>
        </p:spPr>
      </p:sp>
      <p:sp>
        <p:nvSpPr>
          <p:cNvPr id="60" name="Shape 58"/>
          <p:cNvSpPr/>
          <p:nvPr/>
        </p:nvSpPr>
        <p:spPr>
          <a:xfrm flipH="1" flipV="1">
            <a:off x="1284732" y="4517136"/>
            <a:ext cx="82296" cy="32004"/>
          </a:xfrm>
          <a:prstGeom prst="line">
            <a:avLst/>
          </a:prstGeom>
          <a:noFill/>
          <a:ln w="9525">
            <a:solidFill>
              <a:srgbClr val="3B5B8C"/>
            </a:solidFill>
            <a:prstDash val="solid"/>
          </a:ln>
        </p:spPr>
      </p:sp>
      <p:sp>
        <p:nvSpPr>
          <p:cNvPr id="61" name="Shape 59"/>
          <p:cNvSpPr/>
          <p:nvPr/>
        </p:nvSpPr>
        <p:spPr>
          <a:xfrm>
            <a:off x="1019556" y="4503420"/>
            <a:ext cx="73152" cy="45720"/>
          </a:xfrm>
          <a:prstGeom prst="ellipse">
            <a:avLst/>
          </a:prstGeom>
          <a:solidFill>
            <a:srgbClr val="3B5B8C"/>
          </a:solidFill>
          <a:ln w="12700">
            <a:solidFill>
              <a:srgbClr val="3B5B8C"/>
            </a:solidFill>
            <a:prstDash val="solid"/>
          </a:ln>
        </p:spPr>
      </p:sp>
      <p:sp>
        <p:nvSpPr>
          <p:cNvPr id="62" name="Shape 60"/>
          <p:cNvSpPr/>
          <p:nvPr/>
        </p:nvSpPr>
        <p:spPr>
          <a:xfrm>
            <a:off x="1092708" y="4526280"/>
            <a:ext cx="82296" cy="22860"/>
          </a:xfrm>
          <a:prstGeom prst="line">
            <a:avLst/>
          </a:prstGeom>
          <a:noFill/>
          <a:ln w="9525">
            <a:solidFill>
              <a:srgbClr val="3B5B8C"/>
            </a:solidFill>
            <a:prstDash val="solid"/>
          </a:ln>
        </p:spPr>
      </p:sp>
      <p:sp>
        <p:nvSpPr>
          <p:cNvPr id="63" name="Shape 61"/>
          <p:cNvSpPr/>
          <p:nvPr/>
        </p:nvSpPr>
        <p:spPr>
          <a:xfrm flipV="1">
            <a:off x="1175004" y="4517136"/>
            <a:ext cx="82296" cy="32004"/>
          </a:xfrm>
          <a:prstGeom prst="line">
            <a:avLst/>
          </a:prstGeom>
          <a:noFill/>
          <a:ln w="9525">
            <a:solidFill>
              <a:srgbClr val="3B5B8C"/>
            </a:solidFill>
            <a:prstDash val="solid"/>
          </a:ln>
        </p:spPr>
      </p:sp>
      <p:sp>
        <p:nvSpPr>
          <p:cNvPr id="64" name="Shape 62"/>
          <p:cNvSpPr/>
          <p:nvPr/>
        </p:nvSpPr>
        <p:spPr>
          <a:xfrm>
            <a:off x="2249424" y="4274820"/>
            <a:ext cx="164592" cy="91"/>
          </a:xfrm>
          <a:prstGeom prst="line">
            <a:avLst/>
          </a:prstGeom>
          <a:noFill/>
          <a:ln w="25400">
            <a:solidFill>
              <a:srgbClr val="0D7877"/>
            </a:solidFill>
            <a:prstDash val="solid"/>
            <a:tailEnd type="triangle"/>
          </a:ln>
        </p:spPr>
      </p:sp>
      <p:sp>
        <p:nvSpPr>
          <p:cNvPr id="65" name="Shape 63"/>
          <p:cNvSpPr/>
          <p:nvPr/>
        </p:nvSpPr>
        <p:spPr>
          <a:xfrm>
            <a:off x="2423160" y="3383280"/>
            <a:ext cx="1600200" cy="1783080"/>
          </a:xfrm>
          <a:prstGeom prst="roundRect">
            <a:avLst>
              <a:gd name="adj" fmla="val 3429"/>
            </a:avLst>
          </a:prstGeom>
          <a:solidFill>
            <a:srgbClr val="FFFFFF"/>
          </a:solidFill>
          <a:ln w="12700">
            <a:solidFill>
              <a:srgbClr val="CFE0DE"/>
            </a:solidFill>
            <a:prstDash val="solid"/>
          </a:ln>
        </p:spPr>
      </p:sp>
      <p:sp>
        <p:nvSpPr>
          <p:cNvPr id="66" name="Text 64"/>
          <p:cNvSpPr/>
          <p:nvPr/>
        </p:nvSpPr>
        <p:spPr>
          <a:xfrm>
            <a:off x="2468880" y="3429000"/>
            <a:ext cx="1508760" cy="411480"/>
          </a:xfrm>
          <a:prstGeom prst="rect">
            <a:avLst/>
          </a:prstGeom>
          <a:noFill/>
          <a:ln/>
        </p:spPr>
        <p:txBody>
          <a:bodyPr wrap="square" lIns="0" tIns="0" rIns="0" bIns="0" rtlCol="0" anchor="t"/>
          <a:lstStyle/>
          <a:p>
            <a:pPr algn="ctr" indent="0" marL="0">
              <a:buNone/>
            </a:pPr>
            <a:r>
              <a:rPr lang="en-US" sz="1050" dirty="0">
                <a:solidFill>
                  <a:srgbClr val="262B3A"/>
                </a:solidFill>
                <a:latin typeface="Calibri" pitchFamily="34" charset="0"/>
                <a:ea typeface="Calibri" pitchFamily="34" charset="-122"/>
                <a:cs typeface="Calibri" pitchFamily="34" charset="-120"/>
              </a:rPr>
              <a:t>5  </a:t>
            </a:r>
            <a:r>
              <a:rPr lang="en-US" sz="1050" b="1" dirty="0">
                <a:solidFill>
                  <a:srgbClr val="262B3A"/>
                </a:solidFill>
                <a:latin typeface="Calibri" pitchFamily="34" charset="0"/>
                <a:ea typeface="Calibri" pitchFamily="34" charset="-122"/>
                <a:cs typeface="Calibri" pitchFamily="34" charset="-120"/>
              </a:rPr>
              <a:t>Embryos</a:t>
            </a:r>
            <a:r>
              <a:rPr lang="en-US" sz="1050" dirty="0">
                <a:solidFill>
                  <a:srgbClr val="262B3A"/>
                </a:solidFill>
                <a:latin typeface="Calibri" pitchFamily="34" charset="0"/>
                <a:ea typeface="Calibri" pitchFamily="34" charset="-122"/>
                <a:cs typeface="Calibri" pitchFamily="34" charset="-120"/>
              </a:rPr>
              <a:t> grow</a:t>
            </a:r>
            <a:endParaRPr lang="en-US" sz="1050" dirty="0"/>
          </a:p>
        </p:txBody>
      </p:sp>
      <p:sp>
        <p:nvSpPr>
          <p:cNvPr id="67" name="Text 65"/>
          <p:cNvSpPr/>
          <p:nvPr/>
        </p:nvSpPr>
        <p:spPr>
          <a:xfrm>
            <a:off x="2468880" y="4837176"/>
            <a:ext cx="1508760" cy="274320"/>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for a few days</a:t>
            </a:r>
            <a:endParaRPr lang="en-US" sz="1000" dirty="0"/>
          </a:p>
        </p:txBody>
      </p:sp>
      <p:sp>
        <p:nvSpPr>
          <p:cNvPr id="68" name="Shape 66"/>
          <p:cNvSpPr/>
          <p:nvPr/>
        </p:nvSpPr>
        <p:spPr>
          <a:xfrm>
            <a:off x="2747772" y="4187952"/>
            <a:ext cx="402336" cy="402336"/>
          </a:xfrm>
          <a:prstGeom prst="ellipse">
            <a:avLst/>
          </a:prstGeom>
          <a:solidFill>
            <a:srgbClr val="FFF6E8"/>
          </a:solidFill>
          <a:ln w="12700">
            <a:solidFill>
              <a:srgbClr val="A4561C"/>
            </a:solidFill>
            <a:prstDash val="solid"/>
          </a:ln>
        </p:spPr>
      </p:sp>
      <p:sp>
        <p:nvSpPr>
          <p:cNvPr id="69" name="Shape 67"/>
          <p:cNvSpPr/>
          <p:nvPr/>
        </p:nvSpPr>
        <p:spPr>
          <a:xfrm>
            <a:off x="2809631" y="4249811"/>
            <a:ext cx="144841" cy="144841"/>
          </a:xfrm>
          <a:prstGeom prst="ellipse">
            <a:avLst/>
          </a:prstGeom>
          <a:solidFill>
            <a:srgbClr val="F7D7B5"/>
          </a:solidFill>
          <a:ln w="6350">
            <a:solidFill>
              <a:srgbClr val="A4561C"/>
            </a:solidFill>
            <a:prstDash val="solid"/>
          </a:ln>
        </p:spPr>
      </p:sp>
      <p:sp>
        <p:nvSpPr>
          <p:cNvPr id="70" name="Shape 68"/>
          <p:cNvSpPr/>
          <p:nvPr/>
        </p:nvSpPr>
        <p:spPr>
          <a:xfrm>
            <a:off x="2943408" y="4249811"/>
            <a:ext cx="144841" cy="144841"/>
          </a:xfrm>
          <a:prstGeom prst="ellipse">
            <a:avLst/>
          </a:prstGeom>
          <a:solidFill>
            <a:srgbClr val="F7D7B5"/>
          </a:solidFill>
          <a:ln w="6350">
            <a:solidFill>
              <a:srgbClr val="A4561C"/>
            </a:solidFill>
            <a:prstDash val="solid"/>
          </a:ln>
        </p:spPr>
      </p:sp>
      <p:sp>
        <p:nvSpPr>
          <p:cNvPr id="71" name="Shape 69"/>
          <p:cNvSpPr/>
          <p:nvPr/>
        </p:nvSpPr>
        <p:spPr>
          <a:xfrm>
            <a:off x="2809631" y="4383588"/>
            <a:ext cx="144841" cy="144841"/>
          </a:xfrm>
          <a:prstGeom prst="ellipse">
            <a:avLst/>
          </a:prstGeom>
          <a:solidFill>
            <a:srgbClr val="F7D7B5"/>
          </a:solidFill>
          <a:ln w="6350">
            <a:solidFill>
              <a:srgbClr val="A4561C"/>
            </a:solidFill>
            <a:prstDash val="solid"/>
          </a:ln>
        </p:spPr>
      </p:sp>
      <p:sp>
        <p:nvSpPr>
          <p:cNvPr id="72" name="Shape 70"/>
          <p:cNvSpPr/>
          <p:nvPr/>
        </p:nvSpPr>
        <p:spPr>
          <a:xfrm>
            <a:off x="2943408" y="4383588"/>
            <a:ext cx="144841" cy="144841"/>
          </a:xfrm>
          <a:prstGeom prst="ellipse">
            <a:avLst/>
          </a:prstGeom>
          <a:solidFill>
            <a:srgbClr val="F7D7B5"/>
          </a:solidFill>
          <a:ln w="6350">
            <a:solidFill>
              <a:srgbClr val="A4561C"/>
            </a:solidFill>
            <a:prstDash val="solid"/>
          </a:ln>
        </p:spPr>
      </p:sp>
      <p:sp>
        <p:nvSpPr>
          <p:cNvPr id="73" name="Shape 71"/>
          <p:cNvSpPr/>
          <p:nvPr/>
        </p:nvSpPr>
        <p:spPr>
          <a:xfrm>
            <a:off x="2876520" y="4221145"/>
            <a:ext cx="144841" cy="144841"/>
          </a:xfrm>
          <a:prstGeom prst="ellipse">
            <a:avLst/>
          </a:prstGeom>
          <a:solidFill>
            <a:srgbClr val="F7D7B5"/>
          </a:solidFill>
          <a:ln w="6350">
            <a:solidFill>
              <a:srgbClr val="A4561C"/>
            </a:solidFill>
            <a:prstDash val="solid"/>
          </a:ln>
        </p:spPr>
      </p:sp>
      <p:sp>
        <p:nvSpPr>
          <p:cNvPr id="74" name="Shape 72"/>
          <p:cNvSpPr/>
          <p:nvPr/>
        </p:nvSpPr>
        <p:spPr>
          <a:xfrm>
            <a:off x="2876520" y="4412254"/>
            <a:ext cx="144841" cy="144841"/>
          </a:xfrm>
          <a:prstGeom prst="ellipse">
            <a:avLst/>
          </a:prstGeom>
          <a:solidFill>
            <a:srgbClr val="F7D7B5"/>
          </a:solidFill>
          <a:ln w="6350">
            <a:solidFill>
              <a:srgbClr val="A4561C"/>
            </a:solidFill>
            <a:prstDash val="solid"/>
          </a:ln>
        </p:spPr>
      </p:sp>
      <p:sp>
        <p:nvSpPr>
          <p:cNvPr id="75" name="Shape 73"/>
          <p:cNvSpPr/>
          <p:nvPr/>
        </p:nvSpPr>
        <p:spPr>
          <a:xfrm>
            <a:off x="2780965" y="4316700"/>
            <a:ext cx="144841" cy="144841"/>
          </a:xfrm>
          <a:prstGeom prst="ellipse">
            <a:avLst/>
          </a:prstGeom>
          <a:solidFill>
            <a:srgbClr val="F7D7B5"/>
          </a:solidFill>
          <a:ln w="6350">
            <a:solidFill>
              <a:srgbClr val="A4561C"/>
            </a:solidFill>
            <a:prstDash val="solid"/>
          </a:ln>
        </p:spPr>
      </p:sp>
      <p:sp>
        <p:nvSpPr>
          <p:cNvPr id="76" name="Shape 74"/>
          <p:cNvSpPr/>
          <p:nvPr/>
        </p:nvSpPr>
        <p:spPr>
          <a:xfrm>
            <a:off x="2972074" y="4316700"/>
            <a:ext cx="144841" cy="144841"/>
          </a:xfrm>
          <a:prstGeom prst="ellipse">
            <a:avLst/>
          </a:prstGeom>
          <a:solidFill>
            <a:srgbClr val="F7D7B5"/>
          </a:solidFill>
          <a:ln w="6350">
            <a:solidFill>
              <a:srgbClr val="A4561C"/>
            </a:solidFill>
            <a:prstDash val="solid"/>
          </a:ln>
        </p:spPr>
      </p:sp>
      <p:sp>
        <p:nvSpPr>
          <p:cNvPr id="77" name="Shape 75"/>
          <p:cNvSpPr/>
          <p:nvPr/>
        </p:nvSpPr>
        <p:spPr>
          <a:xfrm>
            <a:off x="3296412" y="4187952"/>
            <a:ext cx="402336" cy="402336"/>
          </a:xfrm>
          <a:prstGeom prst="ellipse">
            <a:avLst/>
          </a:prstGeom>
          <a:solidFill>
            <a:srgbClr val="FFF6E8"/>
          </a:solidFill>
          <a:ln w="12700">
            <a:solidFill>
              <a:srgbClr val="A4561C"/>
            </a:solidFill>
            <a:prstDash val="solid"/>
          </a:ln>
        </p:spPr>
      </p:sp>
      <p:sp>
        <p:nvSpPr>
          <p:cNvPr id="78" name="Shape 76"/>
          <p:cNvSpPr/>
          <p:nvPr/>
        </p:nvSpPr>
        <p:spPr>
          <a:xfrm>
            <a:off x="3358271" y="4249811"/>
            <a:ext cx="144841" cy="144841"/>
          </a:xfrm>
          <a:prstGeom prst="ellipse">
            <a:avLst/>
          </a:prstGeom>
          <a:solidFill>
            <a:srgbClr val="F7D7B5"/>
          </a:solidFill>
          <a:ln w="6350">
            <a:solidFill>
              <a:srgbClr val="A4561C"/>
            </a:solidFill>
            <a:prstDash val="solid"/>
          </a:ln>
        </p:spPr>
      </p:sp>
      <p:sp>
        <p:nvSpPr>
          <p:cNvPr id="79" name="Shape 77"/>
          <p:cNvSpPr/>
          <p:nvPr/>
        </p:nvSpPr>
        <p:spPr>
          <a:xfrm>
            <a:off x="3492048" y="4249811"/>
            <a:ext cx="144841" cy="144841"/>
          </a:xfrm>
          <a:prstGeom prst="ellipse">
            <a:avLst/>
          </a:prstGeom>
          <a:solidFill>
            <a:srgbClr val="F7D7B5"/>
          </a:solidFill>
          <a:ln w="6350">
            <a:solidFill>
              <a:srgbClr val="A4561C"/>
            </a:solidFill>
            <a:prstDash val="solid"/>
          </a:ln>
        </p:spPr>
      </p:sp>
      <p:sp>
        <p:nvSpPr>
          <p:cNvPr id="80" name="Shape 78"/>
          <p:cNvSpPr/>
          <p:nvPr/>
        </p:nvSpPr>
        <p:spPr>
          <a:xfrm>
            <a:off x="3358271" y="4383588"/>
            <a:ext cx="144841" cy="144841"/>
          </a:xfrm>
          <a:prstGeom prst="ellipse">
            <a:avLst/>
          </a:prstGeom>
          <a:solidFill>
            <a:srgbClr val="F7D7B5"/>
          </a:solidFill>
          <a:ln w="6350">
            <a:solidFill>
              <a:srgbClr val="A4561C"/>
            </a:solidFill>
            <a:prstDash val="solid"/>
          </a:ln>
        </p:spPr>
      </p:sp>
      <p:sp>
        <p:nvSpPr>
          <p:cNvPr id="81" name="Shape 79"/>
          <p:cNvSpPr/>
          <p:nvPr/>
        </p:nvSpPr>
        <p:spPr>
          <a:xfrm>
            <a:off x="3492048" y="4383588"/>
            <a:ext cx="144841" cy="144841"/>
          </a:xfrm>
          <a:prstGeom prst="ellipse">
            <a:avLst/>
          </a:prstGeom>
          <a:solidFill>
            <a:srgbClr val="F7D7B5"/>
          </a:solidFill>
          <a:ln w="6350">
            <a:solidFill>
              <a:srgbClr val="A4561C"/>
            </a:solidFill>
            <a:prstDash val="solid"/>
          </a:ln>
        </p:spPr>
      </p:sp>
      <p:sp>
        <p:nvSpPr>
          <p:cNvPr id="82" name="Shape 80"/>
          <p:cNvSpPr/>
          <p:nvPr/>
        </p:nvSpPr>
        <p:spPr>
          <a:xfrm>
            <a:off x="3425160" y="4221145"/>
            <a:ext cx="144841" cy="144841"/>
          </a:xfrm>
          <a:prstGeom prst="ellipse">
            <a:avLst/>
          </a:prstGeom>
          <a:solidFill>
            <a:srgbClr val="F7D7B5"/>
          </a:solidFill>
          <a:ln w="6350">
            <a:solidFill>
              <a:srgbClr val="A4561C"/>
            </a:solidFill>
            <a:prstDash val="solid"/>
          </a:ln>
        </p:spPr>
      </p:sp>
      <p:sp>
        <p:nvSpPr>
          <p:cNvPr id="83" name="Shape 81"/>
          <p:cNvSpPr/>
          <p:nvPr/>
        </p:nvSpPr>
        <p:spPr>
          <a:xfrm>
            <a:off x="3425160" y="4412254"/>
            <a:ext cx="144841" cy="144841"/>
          </a:xfrm>
          <a:prstGeom prst="ellipse">
            <a:avLst/>
          </a:prstGeom>
          <a:solidFill>
            <a:srgbClr val="F7D7B5"/>
          </a:solidFill>
          <a:ln w="6350">
            <a:solidFill>
              <a:srgbClr val="A4561C"/>
            </a:solidFill>
            <a:prstDash val="solid"/>
          </a:ln>
        </p:spPr>
      </p:sp>
      <p:sp>
        <p:nvSpPr>
          <p:cNvPr id="84" name="Shape 82"/>
          <p:cNvSpPr/>
          <p:nvPr/>
        </p:nvSpPr>
        <p:spPr>
          <a:xfrm>
            <a:off x="3329605" y="4316700"/>
            <a:ext cx="144841" cy="144841"/>
          </a:xfrm>
          <a:prstGeom prst="ellipse">
            <a:avLst/>
          </a:prstGeom>
          <a:solidFill>
            <a:srgbClr val="F7D7B5"/>
          </a:solidFill>
          <a:ln w="6350">
            <a:solidFill>
              <a:srgbClr val="A4561C"/>
            </a:solidFill>
            <a:prstDash val="solid"/>
          </a:ln>
        </p:spPr>
      </p:sp>
      <p:sp>
        <p:nvSpPr>
          <p:cNvPr id="85" name="Shape 83"/>
          <p:cNvSpPr/>
          <p:nvPr/>
        </p:nvSpPr>
        <p:spPr>
          <a:xfrm>
            <a:off x="3520714" y="4316700"/>
            <a:ext cx="144841" cy="144841"/>
          </a:xfrm>
          <a:prstGeom prst="ellipse">
            <a:avLst/>
          </a:prstGeom>
          <a:solidFill>
            <a:srgbClr val="F7D7B5"/>
          </a:solidFill>
          <a:ln w="6350">
            <a:solidFill>
              <a:srgbClr val="A4561C"/>
            </a:solidFill>
            <a:prstDash val="solid"/>
          </a:ln>
        </p:spPr>
      </p:sp>
      <p:sp>
        <p:nvSpPr>
          <p:cNvPr id="86" name="Shape 84"/>
          <p:cNvSpPr/>
          <p:nvPr/>
        </p:nvSpPr>
        <p:spPr>
          <a:xfrm>
            <a:off x="4032504" y="4274820"/>
            <a:ext cx="164592" cy="91"/>
          </a:xfrm>
          <a:prstGeom prst="line">
            <a:avLst/>
          </a:prstGeom>
          <a:noFill/>
          <a:ln w="25400">
            <a:solidFill>
              <a:srgbClr val="0D7877"/>
            </a:solidFill>
            <a:prstDash val="solid"/>
            <a:tailEnd type="triangle"/>
          </a:ln>
        </p:spPr>
      </p:sp>
      <p:sp>
        <p:nvSpPr>
          <p:cNvPr id="87" name="Shape 85"/>
          <p:cNvSpPr/>
          <p:nvPr/>
        </p:nvSpPr>
        <p:spPr>
          <a:xfrm>
            <a:off x="4206240" y="3383280"/>
            <a:ext cx="1600200" cy="1783080"/>
          </a:xfrm>
          <a:prstGeom prst="roundRect">
            <a:avLst>
              <a:gd name="adj" fmla="val 3429"/>
            </a:avLst>
          </a:prstGeom>
          <a:solidFill>
            <a:srgbClr val="FFFFFF"/>
          </a:solidFill>
          <a:ln w="12700">
            <a:solidFill>
              <a:srgbClr val="CFE0DE"/>
            </a:solidFill>
            <a:prstDash val="solid"/>
          </a:ln>
        </p:spPr>
      </p:sp>
      <p:sp>
        <p:nvSpPr>
          <p:cNvPr id="88" name="Text 86"/>
          <p:cNvSpPr/>
          <p:nvPr/>
        </p:nvSpPr>
        <p:spPr>
          <a:xfrm>
            <a:off x="4251960" y="3429000"/>
            <a:ext cx="1508760" cy="411480"/>
          </a:xfrm>
          <a:prstGeom prst="rect">
            <a:avLst/>
          </a:prstGeom>
          <a:noFill/>
          <a:ln/>
        </p:spPr>
        <p:txBody>
          <a:bodyPr wrap="square" lIns="0" tIns="0" rIns="0" bIns="0" rtlCol="0" anchor="t"/>
          <a:lstStyle/>
          <a:p>
            <a:pPr algn="ctr" indent="0" marL="0">
              <a:buNone/>
            </a:pPr>
            <a:r>
              <a:rPr lang="en-US" sz="1050" dirty="0">
                <a:solidFill>
                  <a:srgbClr val="262B3A"/>
                </a:solidFill>
                <a:latin typeface="Calibri" pitchFamily="34" charset="0"/>
                <a:ea typeface="Calibri" pitchFamily="34" charset="-122"/>
                <a:cs typeface="Calibri" pitchFamily="34" charset="-120"/>
              </a:rPr>
              <a:t>6  </a:t>
            </a:r>
            <a:r>
              <a:rPr lang="en-US" sz="1050" b="1" dirty="0">
                <a:solidFill>
                  <a:srgbClr val="262B3A"/>
                </a:solidFill>
                <a:latin typeface="Calibri" pitchFamily="34" charset="0"/>
                <a:ea typeface="Calibri" pitchFamily="34" charset="-122"/>
                <a:cs typeface="Calibri" pitchFamily="34" charset="-120"/>
              </a:rPr>
              <a:t>Embryo</a:t>
            </a:r>
            <a:r>
              <a:rPr lang="en-US" sz="1050" dirty="0">
                <a:solidFill>
                  <a:srgbClr val="262B3A"/>
                </a:solidFill>
                <a:latin typeface="Calibri" pitchFamily="34" charset="0"/>
                <a:ea typeface="Calibri" pitchFamily="34" charset="-122"/>
                <a:cs typeface="Calibri" pitchFamily="34" charset="-120"/>
              </a:rPr>
              <a:t> placed in the uterus</a:t>
            </a:r>
            <a:endParaRPr lang="en-US" sz="1050" dirty="0"/>
          </a:p>
        </p:txBody>
      </p:sp>
      <p:sp>
        <p:nvSpPr>
          <p:cNvPr id="89" name="Text 87"/>
          <p:cNvSpPr/>
          <p:nvPr/>
        </p:nvSpPr>
        <p:spPr>
          <a:xfrm>
            <a:off x="4251960" y="4837176"/>
            <a:ext cx="1508760" cy="274320"/>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1 or 2 embryos</a:t>
            </a:r>
            <a:endParaRPr lang="en-US" sz="1000" dirty="0"/>
          </a:p>
        </p:txBody>
      </p:sp>
      <p:sp>
        <p:nvSpPr>
          <p:cNvPr id="90" name="Shape 88"/>
          <p:cNvSpPr/>
          <p:nvPr/>
        </p:nvSpPr>
        <p:spPr>
          <a:xfrm>
            <a:off x="4549140" y="3977640"/>
            <a:ext cx="914400" cy="822960"/>
          </a:xfrm>
          <a:custGeom>
            <a:avLst/>
            <a:gdLst/>
            <a:ahLst/>
            <a:cxnLst/>
            <a:rect l="l" t="t" r="r" b="b"/>
            <a:pathLst>
              <a:path w="914400" h="822960">
                <a:moveTo>
                  <a:pt x="0" y="228600"/>
                </a:moveTo>
                <a:lnTo>
                  <a:pt x="15579" y="169434"/>
                </a:lnTo>
                <a:lnTo>
                  <a:pt x="61253" y="114300"/>
                </a:lnTo>
                <a:lnTo>
                  <a:pt x="133911" y="66955"/>
                </a:lnTo>
                <a:lnTo>
                  <a:pt x="228600" y="30627"/>
                </a:lnTo>
                <a:lnTo>
                  <a:pt x="338868" y="7789"/>
                </a:lnTo>
                <a:lnTo>
                  <a:pt x="457200" y="0"/>
                </a:lnTo>
                <a:lnTo>
                  <a:pt x="575532" y="7789"/>
                </a:lnTo>
                <a:lnTo>
                  <a:pt x="685800" y="30627"/>
                </a:lnTo>
                <a:lnTo>
                  <a:pt x="780489" y="66955"/>
                </a:lnTo>
                <a:lnTo>
                  <a:pt x="853147" y="114300"/>
                </a:lnTo>
                <a:lnTo>
                  <a:pt x="898821" y="169434"/>
                </a:lnTo>
                <a:lnTo>
                  <a:pt x="914400" y="228600"/>
                </a:lnTo>
                <a:lnTo>
                  <a:pt x="612648" y="822960"/>
                </a:lnTo>
                <a:lnTo>
                  <a:pt x="301752" y="822960"/>
                </a:lnTo>
                <a:close/>
              </a:path>
            </a:pathLst>
          </a:custGeom>
          <a:solidFill>
            <a:srgbClr val="EFB4B8"/>
          </a:solidFill>
          <a:ln w="15875">
            <a:solidFill>
              <a:srgbClr val="A33E48"/>
            </a:solidFill>
            <a:prstDash val="solid"/>
          </a:ln>
        </p:spPr>
      </p:sp>
      <p:sp>
        <p:nvSpPr>
          <p:cNvPr id="91" name="Shape 89"/>
          <p:cNvSpPr/>
          <p:nvPr/>
        </p:nvSpPr>
        <p:spPr>
          <a:xfrm>
            <a:off x="4704588" y="4178808"/>
            <a:ext cx="603504" cy="484632"/>
          </a:xfrm>
          <a:custGeom>
            <a:avLst/>
            <a:gdLst/>
            <a:ahLst/>
            <a:cxnLst/>
            <a:rect l="l" t="t" r="r" b="b"/>
            <a:pathLst>
              <a:path w="603504" h="484632">
                <a:moveTo>
                  <a:pt x="0" y="0"/>
                </a:moveTo>
                <a:lnTo>
                  <a:pt x="603504" y="0"/>
                </a:lnTo>
                <a:lnTo>
                  <a:pt x="301752" y="484632"/>
                </a:lnTo>
                <a:close/>
              </a:path>
            </a:pathLst>
          </a:custGeom>
          <a:solidFill>
            <a:srgbClr val="C8414C"/>
          </a:solidFill>
          <a:ln/>
        </p:spPr>
      </p:sp>
      <p:sp>
        <p:nvSpPr>
          <p:cNvPr id="92" name="Shape 90"/>
          <p:cNvSpPr/>
          <p:nvPr/>
        </p:nvSpPr>
        <p:spPr>
          <a:xfrm>
            <a:off x="4805172" y="4206240"/>
            <a:ext cx="402336" cy="347472"/>
          </a:xfrm>
          <a:custGeom>
            <a:avLst/>
            <a:gdLst/>
            <a:ahLst/>
            <a:cxnLst/>
            <a:rect l="l" t="t" r="r" b="b"/>
            <a:pathLst>
              <a:path w="402336" h="347472">
                <a:moveTo>
                  <a:pt x="0" y="0"/>
                </a:moveTo>
                <a:lnTo>
                  <a:pt x="402336" y="0"/>
                </a:lnTo>
                <a:lnTo>
                  <a:pt x="201168" y="347472"/>
                </a:lnTo>
                <a:close/>
              </a:path>
            </a:pathLst>
          </a:custGeom>
          <a:solidFill>
            <a:srgbClr val="FBE3E5"/>
          </a:solidFill>
          <a:ln/>
        </p:spPr>
      </p:sp>
      <p:sp>
        <p:nvSpPr>
          <p:cNvPr id="93" name="Shape 91"/>
          <p:cNvSpPr/>
          <p:nvPr/>
        </p:nvSpPr>
        <p:spPr>
          <a:xfrm>
            <a:off x="4896612" y="4215384"/>
            <a:ext cx="109728" cy="109728"/>
          </a:xfrm>
          <a:prstGeom prst="ellipse">
            <a:avLst/>
          </a:prstGeom>
          <a:solidFill>
            <a:srgbClr val="F7D7B5"/>
          </a:solidFill>
          <a:ln w="9525">
            <a:solidFill>
              <a:srgbClr val="A4561C"/>
            </a:solidFill>
            <a:prstDash val="solid"/>
          </a:ln>
        </p:spPr>
      </p:sp>
      <p:sp>
        <p:nvSpPr>
          <p:cNvPr id="94" name="Shape 92"/>
          <p:cNvSpPr/>
          <p:nvPr/>
        </p:nvSpPr>
        <p:spPr>
          <a:xfrm>
            <a:off x="5006340" y="3154680"/>
            <a:ext cx="91" cy="109728"/>
          </a:xfrm>
          <a:prstGeom prst="line">
            <a:avLst/>
          </a:prstGeom>
          <a:noFill/>
          <a:ln w="25400">
            <a:solidFill>
              <a:srgbClr val="0D7877"/>
            </a:solidFill>
            <a:prstDash val="solid"/>
          </a:ln>
        </p:spPr>
      </p:sp>
      <p:sp>
        <p:nvSpPr>
          <p:cNvPr id="95" name="Shape 93"/>
          <p:cNvSpPr/>
          <p:nvPr/>
        </p:nvSpPr>
        <p:spPr>
          <a:xfrm flipH="1">
            <a:off x="1440180" y="3264408"/>
            <a:ext cx="3566160" cy="91"/>
          </a:xfrm>
          <a:prstGeom prst="line">
            <a:avLst/>
          </a:prstGeom>
          <a:noFill/>
          <a:ln w="25400">
            <a:solidFill>
              <a:srgbClr val="0D7877"/>
            </a:solidFill>
            <a:prstDash val="solid"/>
          </a:ln>
        </p:spPr>
      </p:sp>
      <p:sp>
        <p:nvSpPr>
          <p:cNvPr id="96" name="Shape 94"/>
          <p:cNvSpPr/>
          <p:nvPr/>
        </p:nvSpPr>
        <p:spPr>
          <a:xfrm>
            <a:off x="1440180" y="3264408"/>
            <a:ext cx="91" cy="118872"/>
          </a:xfrm>
          <a:prstGeom prst="line">
            <a:avLst/>
          </a:prstGeom>
          <a:noFill/>
          <a:ln w="25400">
            <a:solidFill>
              <a:srgbClr val="0D7877"/>
            </a:solidFill>
            <a:prstDash val="solid"/>
            <a:tailEnd type="triangle"/>
          </a:ln>
        </p:spPr>
      </p:sp>
      <p:sp>
        <p:nvSpPr>
          <p:cNvPr id="97" name="Shape 95"/>
          <p:cNvSpPr/>
          <p:nvPr/>
        </p:nvSpPr>
        <p:spPr>
          <a:xfrm>
            <a:off x="6217920" y="1188720"/>
            <a:ext cx="5562295" cy="2423160"/>
          </a:xfrm>
          <a:prstGeom prst="roundRect">
            <a:avLst>
              <a:gd name="adj" fmla="val 2264"/>
            </a:avLst>
          </a:prstGeom>
          <a:solidFill>
            <a:srgbClr val="F4FAF9"/>
          </a:solidFill>
          <a:ln w="9525">
            <a:solidFill>
              <a:srgbClr val="CFE0DE"/>
            </a:solidFill>
            <a:prstDash val="solid"/>
          </a:ln>
        </p:spPr>
      </p:sp>
      <p:sp>
        <p:nvSpPr>
          <p:cNvPr id="98" name="Text 96"/>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Two ways hormones help</a:t>
            </a:r>
            <a:endParaRPr lang="en-US" sz="1300" dirty="0"/>
          </a:p>
        </p:txBody>
      </p:sp>
      <p:sp>
        <p:nvSpPr>
          <p:cNvPr id="99" name="Text 97"/>
          <p:cNvSpPr/>
          <p:nvPr/>
        </p:nvSpPr>
        <p:spPr>
          <a:xfrm>
            <a:off x="6382512" y="1609344"/>
            <a:ext cx="5233111" cy="1929384"/>
          </a:xfrm>
          <a:prstGeom prst="rect">
            <a:avLst/>
          </a:prstGeom>
          <a:noFill/>
          <a:ln/>
        </p:spPr>
        <p:txBody>
          <a:bodyPr wrap="square" lIns="0" tIns="0" rIns="0" bIns="0" rtlCol="0" anchor="t"/>
          <a:lstStyle/>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Fertility drugs</a:t>
            </a:r>
            <a:r>
              <a:rPr lang="en-US" sz="1050" dirty="0">
                <a:solidFill>
                  <a:srgbClr val="262B3A"/>
                </a:solidFill>
                <a:latin typeface="Calibri" pitchFamily="34" charset="0"/>
                <a:ea typeface="Calibri" pitchFamily="34" charset="-122"/>
                <a:cs typeface="Calibri" pitchFamily="34" charset="-120"/>
              </a:rPr>
              <a:t>: some women do not make enough </a:t>
            </a:r>
            <a:r>
              <a:rPr lang="en-US" sz="1050" b="1" dirty="0">
                <a:solidFill>
                  <a:srgbClr val="262B3A"/>
                </a:solidFill>
                <a:latin typeface="Calibri" pitchFamily="34" charset="0"/>
                <a:ea typeface="Calibri" pitchFamily="34" charset="-122"/>
                <a:cs typeface="Calibri" pitchFamily="34" charset="-120"/>
              </a:rPr>
              <a:t>FSH</a:t>
            </a:r>
            <a:r>
              <a:rPr lang="en-US" sz="1050" dirty="0">
                <a:solidFill>
                  <a:srgbClr val="262B3A"/>
                </a:solidFill>
                <a:latin typeface="Calibri" pitchFamily="34" charset="0"/>
                <a:ea typeface="Calibri" pitchFamily="34" charset="-122"/>
                <a:cs typeface="Calibri" pitchFamily="34" charset="-120"/>
              </a:rPr>
              <a:t>, so no egg matures. Injections of </a:t>
            </a:r>
            <a:r>
              <a:rPr lang="en-US" sz="1050" b="1" dirty="0">
                <a:solidFill>
                  <a:srgbClr val="262B3A"/>
                </a:solidFill>
                <a:latin typeface="Calibri" pitchFamily="34" charset="0"/>
                <a:ea typeface="Calibri" pitchFamily="34" charset="-122"/>
                <a:cs typeface="Calibri" pitchFamily="34" charset="-120"/>
              </a:rPr>
              <a:t>FSH and LH</a:t>
            </a:r>
            <a:r>
              <a:rPr lang="en-US" sz="1050" dirty="0">
                <a:solidFill>
                  <a:srgbClr val="262B3A"/>
                </a:solidFill>
                <a:latin typeface="Calibri" pitchFamily="34" charset="0"/>
                <a:ea typeface="Calibri" pitchFamily="34" charset="-122"/>
                <a:cs typeface="Calibri" pitchFamily="34" charset="-120"/>
              </a:rPr>
              <a:t> make eggs </a:t>
            </a:r>
            <a:r>
              <a:rPr lang="en-US" sz="1050" b="1" dirty="0">
                <a:solidFill>
                  <a:srgbClr val="262B3A"/>
                </a:solidFill>
                <a:latin typeface="Calibri" pitchFamily="34" charset="0"/>
                <a:ea typeface="Calibri" pitchFamily="34" charset="-122"/>
                <a:cs typeface="Calibri" pitchFamily="34" charset="-120"/>
              </a:rPr>
              <a:t>mature</a:t>
            </a:r>
            <a:r>
              <a:rPr lang="en-US" sz="1050" dirty="0">
                <a:solidFill>
                  <a:srgbClr val="262B3A"/>
                </a:solidFill>
                <a:latin typeface="Calibri" pitchFamily="34" charset="0"/>
                <a:ea typeface="Calibri" pitchFamily="34" charset="-122"/>
                <a:cs typeface="Calibri" pitchFamily="34" charset="-120"/>
              </a:rPr>
              <a:t> and cause </a:t>
            </a:r>
            <a:r>
              <a:rPr lang="en-US" sz="1050" b="1" dirty="0">
                <a:solidFill>
                  <a:srgbClr val="262B3A"/>
                </a:solidFill>
                <a:latin typeface="Calibri" pitchFamily="34" charset="0"/>
                <a:ea typeface="Calibri" pitchFamily="34" charset="-122"/>
                <a:cs typeface="Calibri" pitchFamily="34" charset="-120"/>
              </a:rPr>
              <a:t>ovulation</a:t>
            </a:r>
            <a:r>
              <a:rPr lang="en-US" sz="1050" dirty="0">
                <a:solidFill>
                  <a:srgbClr val="262B3A"/>
                </a:solidFill>
                <a:latin typeface="Calibri" pitchFamily="34" charset="0"/>
                <a:ea typeface="Calibri" pitchFamily="34" charset="-122"/>
                <a:cs typeface="Calibri" pitchFamily="34" charset="-120"/>
              </a:rPr>
              <a:t>, so she can become pregnant naturally.</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IVF</a:t>
            </a:r>
            <a:r>
              <a:rPr lang="en-US" sz="1050" dirty="0">
                <a:solidFill>
                  <a:srgbClr val="262B3A"/>
                </a:solidFill>
                <a:latin typeface="Calibri" pitchFamily="34" charset="0"/>
                <a:ea typeface="Calibri" pitchFamily="34" charset="-122"/>
                <a:cs typeface="Calibri" pitchFamily="34" charset="-120"/>
              </a:rPr>
              <a:t> (in vitro fertilisation): used when, for example, the oviducts are blocked or sperm count is low.</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FSH and LH make </a:t>
            </a:r>
            <a:r>
              <a:rPr lang="en-US" sz="1050" b="1" dirty="0">
                <a:solidFill>
                  <a:srgbClr val="262B3A"/>
                </a:solidFill>
                <a:latin typeface="Calibri" pitchFamily="34" charset="0"/>
                <a:ea typeface="Calibri" pitchFamily="34" charset="-122"/>
                <a:cs typeface="Calibri" pitchFamily="34" charset="-120"/>
              </a:rPr>
              <a:t>several eggs</a:t>
            </a:r>
            <a:r>
              <a:rPr lang="en-US" sz="1050" dirty="0">
                <a:solidFill>
                  <a:srgbClr val="262B3A"/>
                </a:solidFill>
                <a:latin typeface="Calibri" pitchFamily="34" charset="0"/>
                <a:ea typeface="Calibri" pitchFamily="34" charset="-122"/>
                <a:cs typeface="Calibri" pitchFamily="34" charset="-120"/>
              </a:rPr>
              <a:t> mature. They are collected and </a:t>
            </a:r>
            <a:r>
              <a:rPr lang="en-US" sz="1050" b="1" dirty="0">
                <a:solidFill>
                  <a:srgbClr val="262B3A"/>
                </a:solidFill>
                <a:latin typeface="Calibri" pitchFamily="34" charset="0"/>
                <a:ea typeface="Calibri" pitchFamily="34" charset="-122"/>
                <a:cs typeface="Calibri" pitchFamily="34" charset="-120"/>
              </a:rPr>
              <a:t>fertilised by sperm in a dish</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The fertilised eggs divide (mitosis) to form </a:t>
            </a:r>
            <a:r>
              <a:rPr lang="en-US" sz="1050" b="1" dirty="0">
                <a:solidFill>
                  <a:srgbClr val="262B3A"/>
                </a:solidFill>
                <a:latin typeface="Calibri" pitchFamily="34" charset="0"/>
                <a:ea typeface="Calibri" pitchFamily="34" charset="-122"/>
                <a:cs typeface="Calibri" pitchFamily="34" charset="-120"/>
              </a:rPr>
              <a:t>embryos</a:t>
            </a:r>
            <a:r>
              <a:rPr lang="en-US" sz="1050" dirty="0">
                <a:solidFill>
                  <a:srgbClr val="262B3A"/>
                </a:solidFill>
                <a:latin typeface="Calibri" pitchFamily="34" charset="0"/>
                <a:ea typeface="Calibri" pitchFamily="34" charset="-122"/>
                <a:cs typeface="Calibri" pitchFamily="34" charset="-120"/>
              </a:rPr>
              <a:t>; one or two are put into the </a:t>
            </a:r>
            <a:r>
              <a:rPr lang="en-US" sz="1050" b="1" dirty="0">
                <a:solidFill>
                  <a:srgbClr val="262B3A"/>
                </a:solidFill>
                <a:latin typeface="Calibri" pitchFamily="34" charset="0"/>
                <a:ea typeface="Calibri" pitchFamily="34" charset="-122"/>
                <a:cs typeface="Calibri" pitchFamily="34" charset="-120"/>
              </a:rPr>
              <a:t>uterus</a:t>
            </a:r>
            <a:r>
              <a:rPr lang="en-US" sz="1050" dirty="0">
                <a:solidFill>
                  <a:srgbClr val="262B3A"/>
                </a:solidFill>
                <a:latin typeface="Calibri" pitchFamily="34" charset="0"/>
                <a:ea typeface="Calibri" pitchFamily="34" charset="-122"/>
                <a:cs typeface="Calibri" pitchFamily="34" charset="-120"/>
              </a:rPr>
              <a:t>.</a:t>
            </a:r>
            <a:endParaRPr lang="en-US" sz="1050" dirty="0"/>
          </a:p>
        </p:txBody>
      </p:sp>
      <p:sp>
        <p:nvSpPr>
          <p:cNvPr id="100" name="Shape 98"/>
          <p:cNvSpPr/>
          <p:nvPr/>
        </p:nvSpPr>
        <p:spPr>
          <a:xfrm>
            <a:off x="6217920" y="3749040"/>
            <a:ext cx="5562295" cy="1965960"/>
          </a:xfrm>
          <a:prstGeom prst="roundRect">
            <a:avLst>
              <a:gd name="adj" fmla="val 2791"/>
            </a:avLst>
          </a:prstGeom>
          <a:solidFill>
            <a:srgbClr val="FFF4E0"/>
          </a:solidFill>
          <a:ln w="9525">
            <a:solidFill>
              <a:srgbClr val="F1D9A8"/>
            </a:solidFill>
            <a:prstDash val="solid"/>
          </a:ln>
        </p:spPr>
      </p:sp>
      <p:sp>
        <p:nvSpPr>
          <p:cNvPr id="101" name="Text 99"/>
          <p:cNvSpPr/>
          <p:nvPr/>
        </p:nvSpPr>
        <p:spPr>
          <a:xfrm>
            <a:off x="6382512" y="38221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explain</a:t>
            </a:r>
            <a:endParaRPr lang="en-US" sz="1300" dirty="0"/>
          </a:p>
        </p:txBody>
      </p:sp>
      <p:sp>
        <p:nvSpPr>
          <p:cNvPr id="102" name="Text 100"/>
          <p:cNvSpPr/>
          <p:nvPr/>
        </p:nvSpPr>
        <p:spPr>
          <a:xfrm>
            <a:off x="6382512" y="4133088"/>
            <a:ext cx="5233111"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woman's oviducts are blocked. Explain why fertility drugs alone will not help, but IVF can.</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Problem   </a:t>
            </a:r>
            <a:r>
              <a:rPr lang="en-US" sz="1050" dirty="0">
                <a:solidFill>
                  <a:srgbClr val="262B3A"/>
                </a:solidFill>
                <a:latin typeface="Calibri" pitchFamily="34" charset="0"/>
                <a:ea typeface="Calibri" pitchFamily="34" charset="-122"/>
                <a:cs typeface="Calibri" pitchFamily="34" charset="-120"/>
              </a:rPr>
              <a:t>sperm cannot reach the egg in the blocked oviduct</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Drugs   </a:t>
            </a:r>
            <a:r>
              <a:rPr lang="en-US" sz="1050" dirty="0">
                <a:solidFill>
                  <a:srgbClr val="262B3A"/>
                </a:solidFill>
                <a:latin typeface="Calibri" pitchFamily="34" charset="0"/>
                <a:ea typeface="Calibri" pitchFamily="34" charset="-122"/>
                <a:cs typeface="Calibri" pitchFamily="34" charset="-120"/>
              </a:rPr>
              <a:t>FSH and LH release an egg, but it is still blocked</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IVF   </a:t>
            </a:r>
            <a:r>
              <a:rPr lang="en-US" sz="1050" dirty="0">
                <a:solidFill>
                  <a:srgbClr val="262B3A"/>
                </a:solidFill>
                <a:latin typeface="Calibri" pitchFamily="34" charset="0"/>
                <a:ea typeface="Calibri" pitchFamily="34" charset="-122"/>
                <a:cs typeface="Calibri" pitchFamily="34" charset="-120"/>
              </a:rPr>
              <a:t>eggs are collected from the ovary and fertilised in a dish</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the embryo goes straight into the uterus: no oviduct needed</a:t>
            </a:r>
            <a:endParaRPr lang="en-US" sz="1050" dirty="0"/>
          </a:p>
        </p:txBody>
      </p:sp>
      <p:sp>
        <p:nvSpPr>
          <p:cNvPr id="103" name="Shape 101"/>
          <p:cNvSpPr/>
          <p:nvPr/>
        </p:nvSpPr>
        <p:spPr>
          <a:xfrm>
            <a:off x="411480" y="5833872"/>
            <a:ext cx="11368735" cy="530352"/>
          </a:xfrm>
          <a:prstGeom prst="rect">
            <a:avLst/>
          </a:prstGeom>
          <a:solidFill>
            <a:srgbClr val="FFF4E0"/>
          </a:solidFill>
          <a:ln w="6350">
            <a:solidFill>
              <a:srgbClr val="F1D9A8"/>
            </a:solidFill>
            <a:prstDash val="solid"/>
          </a:ln>
        </p:spPr>
      </p:sp>
      <p:sp>
        <p:nvSpPr>
          <p:cNvPr id="104" name="Shape 102"/>
          <p:cNvSpPr/>
          <p:nvPr/>
        </p:nvSpPr>
        <p:spPr>
          <a:xfrm>
            <a:off x="411480" y="5833872"/>
            <a:ext cx="82296" cy="530352"/>
          </a:xfrm>
          <a:prstGeom prst="rect">
            <a:avLst/>
          </a:prstGeom>
          <a:solidFill>
            <a:srgbClr val="E39A2F"/>
          </a:solidFill>
          <a:ln w="12700">
            <a:solidFill>
              <a:srgbClr val="E39A2F"/>
            </a:solidFill>
            <a:prstDash val="solid"/>
          </a:ln>
        </p:spPr>
      </p:sp>
      <p:sp>
        <p:nvSpPr>
          <p:cNvPr id="105" name="Text 10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Explain why a woman having IVF is first given injections of </a:t>
            </a:r>
            <a:r>
              <a:rPr lang="en-US" sz="1150" b="1" dirty="0">
                <a:solidFill>
                  <a:srgbClr val="262B3A"/>
                </a:solidFill>
                <a:latin typeface="Calibri" pitchFamily="34" charset="0"/>
                <a:ea typeface="Calibri" pitchFamily="34" charset="-122"/>
                <a:cs typeface="Calibri" pitchFamily="34" charset="-120"/>
              </a:rPr>
              <a:t>FSH</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Evaluating IVF</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B5.5.4 • success rate falls with age; benefits, risks and issues</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B5.5 What role do hormones play in human reproduction?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B5.5.4  |  17</a:t>
            </a:r>
            <a:endParaRPr lang="en-US" sz="1000" dirty="0"/>
          </a:p>
        </p:txBody>
      </p:sp>
      <p:sp>
        <p:nvSpPr>
          <p:cNvPr id="10" name="Shape 8"/>
          <p:cNvSpPr/>
          <p:nvPr/>
        </p:nvSpPr>
        <p:spPr>
          <a:xfrm>
            <a:off x="411480" y="1188720"/>
            <a:ext cx="5852160" cy="4526280"/>
          </a:xfrm>
          <a:prstGeom prst="roundRect">
            <a:avLst>
              <a:gd name="adj" fmla="val 1616"/>
            </a:avLst>
          </a:prstGeom>
          <a:solidFill>
            <a:srgbClr val="EEF5F4"/>
          </a:solidFill>
          <a:ln w="9525">
            <a:solidFill>
              <a:srgbClr val="D2E3E1"/>
            </a:solidFill>
            <a:prstDash val="solid"/>
          </a:ln>
        </p:spPr>
      </p:sp>
      <p:sp>
        <p:nvSpPr>
          <p:cNvPr id="11" name="Text 9"/>
          <p:cNvSpPr/>
          <p:nvPr/>
        </p:nvSpPr>
        <p:spPr>
          <a:xfrm>
            <a:off x="548640" y="5404104"/>
            <a:ext cx="557784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approximate UK (HFEA) figures, own eggs; drawn to scale</a:t>
            </a:r>
            <a:endParaRPr lang="en-US" sz="1000" dirty="0"/>
          </a:p>
        </p:txBody>
      </p:sp>
      <p:sp>
        <p:nvSpPr>
          <p:cNvPr id="12" name="Shape 10"/>
          <p:cNvSpPr/>
          <p:nvPr/>
        </p:nvSpPr>
        <p:spPr>
          <a:xfrm>
            <a:off x="1325880" y="1463040"/>
            <a:ext cx="4572000" cy="3108960"/>
          </a:xfrm>
          <a:prstGeom prst="rect">
            <a:avLst/>
          </a:prstGeom>
          <a:solidFill>
            <a:srgbClr val="FFFFFF"/>
          </a:solidFill>
          <a:ln/>
        </p:spPr>
      </p:sp>
      <p:sp>
        <p:nvSpPr>
          <p:cNvPr id="13" name="Shape 11"/>
          <p:cNvSpPr/>
          <p:nvPr/>
        </p:nvSpPr>
        <p:spPr>
          <a:xfrm>
            <a:off x="1325880" y="4572000"/>
            <a:ext cx="4572000" cy="91"/>
          </a:xfrm>
          <a:prstGeom prst="line">
            <a:avLst/>
          </a:prstGeom>
          <a:noFill/>
          <a:ln w="19050">
            <a:solidFill>
              <a:srgbClr val="133536"/>
            </a:solidFill>
            <a:prstDash val="solid"/>
          </a:ln>
        </p:spPr>
      </p:sp>
      <p:sp>
        <p:nvSpPr>
          <p:cNvPr id="14" name="Text 12"/>
          <p:cNvSpPr/>
          <p:nvPr/>
        </p:nvSpPr>
        <p:spPr>
          <a:xfrm>
            <a:off x="886968" y="448056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15" name="Shape 13"/>
          <p:cNvSpPr/>
          <p:nvPr/>
        </p:nvSpPr>
        <p:spPr>
          <a:xfrm>
            <a:off x="1325880" y="4127863"/>
            <a:ext cx="4572000" cy="91"/>
          </a:xfrm>
          <a:prstGeom prst="line">
            <a:avLst/>
          </a:prstGeom>
          <a:noFill/>
          <a:ln w="6350">
            <a:solidFill>
              <a:srgbClr val="C5DCD9"/>
            </a:solidFill>
            <a:prstDash val="solid"/>
          </a:ln>
        </p:spPr>
      </p:sp>
      <p:sp>
        <p:nvSpPr>
          <p:cNvPr id="16" name="Text 14"/>
          <p:cNvSpPr/>
          <p:nvPr/>
        </p:nvSpPr>
        <p:spPr>
          <a:xfrm>
            <a:off x="886968" y="4036423"/>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a:t>
            </a:r>
            <a:endParaRPr lang="en-US" sz="1000" dirty="0"/>
          </a:p>
        </p:txBody>
      </p:sp>
      <p:sp>
        <p:nvSpPr>
          <p:cNvPr id="17" name="Shape 15"/>
          <p:cNvSpPr/>
          <p:nvPr/>
        </p:nvSpPr>
        <p:spPr>
          <a:xfrm>
            <a:off x="1325880" y="3683726"/>
            <a:ext cx="4572000" cy="91"/>
          </a:xfrm>
          <a:prstGeom prst="line">
            <a:avLst/>
          </a:prstGeom>
          <a:noFill/>
          <a:ln w="6350">
            <a:solidFill>
              <a:srgbClr val="C5DCD9"/>
            </a:solidFill>
            <a:prstDash val="solid"/>
          </a:ln>
        </p:spPr>
      </p:sp>
      <p:sp>
        <p:nvSpPr>
          <p:cNvPr id="18" name="Text 16"/>
          <p:cNvSpPr/>
          <p:nvPr/>
        </p:nvSpPr>
        <p:spPr>
          <a:xfrm>
            <a:off x="886968" y="359228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19" name="Shape 17"/>
          <p:cNvSpPr/>
          <p:nvPr/>
        </p:nvSpPr>
        <p:spPr>
          <a:xfrm>
            <a:off x="1325880" y="3239589"/>
            <a:ext cx="4572000" cy="91"/>
          </a:xfrm>
          <a:prstGeom prst="line">
            <a:avLst/>
          </a:prstGeom>
          <a:noFill/>
          <a:ln w="6350">
            <a:solidFill>
              <a:srgbClr val="C5DCD9"/>
            </a:solidFill>
            <a:prstDash val="solid"/>
          </a:ln>
        </p:spPr>
      </p:sp>
      <p:sp>
        <p:nvSpPr>
          <p:cNvPr id="20" name="Text 18"/>
          <p:cNvSpPr/>
          <p:nvPr/>
        </p:nvSpPr>
        <p:spPr>
          <a:xfrm>
            <a:off x="886968" y="3148149"/>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15</a:t>
            </a:r>
            <a:endParaRPr lang="en-US" sz="1000" dirty="0"/>
          </a:p>
        </p:txBody>
      </p:sp>
      <p:sp>
        <p:nvSpPr>
          <p:cNvPr id="21" name="Shape 19"/>
          <p:cNvSpPr/>
          <p:nvPr/>
        </p:nvSpPr>
        <p:spPr>
          <a:xfrm>
            <a:off x="1325880" y="2795451"/>
            <a:ext cx="4572000" cy="91"/>
          </a:xfrm>
          <a:prstGeom prst="line">
            <a:avLst/>
          </a:prstGeom>
          <a:noFill/>
          <a:ln w="6350">
            <a:solidFill>
              <a:srgbClr val="C5DCD9"/>
            </a:solidFill>
            <a:prstDash val="solid"/>
          </a:ln>
        </p:spPr>
      </p:sp>
      <p:sp>
        <p:nvSpPr>
          <p:cNvPr id="22" name="Text 20"/>
          <p:cNvSpPr/>
          <p:nvPr/>
        </p:nvSpPr>
        <p:spPr>
          <a:xfrm>
            <a:off x="886968" y="2704011"/>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23" name="Shape 21"/>
          <p:cNvSpPr/>
          <p:nvPr/>
        </p:nvSpPr>
        <p:spPr>
          <a:xfrm>
            <a:off x="1325880" y="2351314"/>
            <a:ext cx="4572000" cy="91"/>
          </a:xfrm>
          <a:prstGeom prst="line">
            <a:avLst/>
          </a:prstGeom>
          <a:noFill/>
          <a:ln w="6350">
            <a:solidFill>
              <a:srgbClr val="C5DCD9"/>
            </a:solidFill>
            <a:prstDash val="solid"/>
          </a:ln>
        </p:spPr>
      </p:sp>
      <p:sp>
        <p:nvSpPr>
          <p:cNvPr id="24" name="Text 22"/>
          <p:cNvSpPr/>
          <p:nvPr/>
        </p:nvSpPr>
        <p:spPr>
          <a:xfrm>
            <a:off x="886968" y="225987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25</a:t>
            </a:r>
            <a:endParaRPr lang="en-US" sz="1000" dirty="0"/>
          </a:p>
        </p:txBody>
      </p:sp>
      <p:sp>
        <p:nvSpPr>
          <p:cNvPr id="25" name="Shape 23"/>
          <p:cNvSpPr/>
          <p:nvPr/>
        </p:nvSpPr>
        <p:spPr>
          <a:xfrm>
            <a:off x="1325880" y="1907177"/>
            <a:ext cx="4572000" cy="91"/>
          </a:xfrm>
          <a:prstGeom prst="line">
            <a:avLst/>
          </a:prstGeom>
          <a:noFill/>
          <a:ln w="6350">
            <a:solidFill>
              <a:srgbClr val="C5DCD9"/>
            </a:solidFill>
            <a:prstDash val="solid"/>
          </a:ln>
        </p:spPr>
      </p:sp>
      <p:sp>
        <p:nvSpPr>
          <p:cNvPr id="26" name="Text 24"/>
          <p:cNvSpPr/>
          <p:nvPr/>
        </p:nvSpPr>
        <p:spPr>
          <a:xfrm>
            <a:off x="886968" y="1815737"/>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27" name="Shape 25"/>
          <p:cNvSpPr/>
          <p:nvPr/>
        </p:nvSpPr>
        <p:spPr>
          <a:xfrm>
            <a:off x="1325880" y="1463040"/>
            <a:ext cx="4572000" cy="91"/>
          </a:xfrm>
          <a:prstGeom prst="line">
            <a:avLst/>
          </a:prstGeom>
          <a:noFill/>
          <a:ln w="6350">
            <a:solidFill>
              <a:srgbClr val="C5DCD9"/>
            </a:solidFill>
            <a:prstDash val="solid"/>
          </a:ln>
        </p:spPr>
      </p:sp>
      <p:sp>
        <p:nvSpPr>
          <p:cNvPr id="28" name="Text 26"/>
          <p:cNvSpPr/>
          <p:nvPr/>
        </p:nvSpPr>
        <p:spPr>
          <a:xfrm>
            <a:off x="886968" y="13716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35</a:t>
            </a:r>
            <a:endParaRPr lang="en-US" sz="1000" dirty="0"/>
          </a:p>
        </p:txBody>
      </p:sp>
      <p:sp>
        <p:nvSpPr>
          <p:cNvPr id="29" name="Shape 27"/>
          <p:cNvSpPr/>
          <p:nvPr/>
        </p:nvSpPr>
        <p:spPr>
          <a:xfrm>
            <a:off x="1325880" y="1463040"/>
            <a:ext cx="91" cy="3108960"/>
          </a:xfrm>
          <a:prstGeom prst="line">
            <a:avLst/>
          </a:prstGeom>
          <a:noFill/>
          <a:ln w="19050">
            <a:solidFill>
              <a:srgbClr val="133536"/>
            </a:solidFill>
            <a:prstDash val="solid"/>
          </a:ln>
        </p:spPr>
      </p:sp>
      <p:sp>
        <p:nvSpPr>
          <p:cNvPr id="30" name="Text 28"/>
          <p:cNvSpPr/>
          <p:nvPr/>
        </p:nvSpPr>
        <p:spPr>
          <a:xfrm rot="16200000">
            <a:off x="-795528" y="2889504"/>
            <a:ext cx="310896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births per embryo transferred / %</a:t>
            </a:r>
            <a:endParaRPr lang="en-US" sz="1050" dirty="0"/>
          </a:p>
        </p:txBody>
      </p:sp>
      <p:sp>
        <p:nvSpPr>
          <p:cNvPr id="31" name="Shape 29"/>
          <p:cNvSpPr/>
          <p:nvPr/>
        </p:nvSpPr>
        <p:spPr>
          <a:xfrm>
            <a:off x="1463040" y="1729522"/>
            <a:ext cx="487680" cy="2842478"/>
          </a:xfrm>
          <a:prstGeom prst="rect">
            <a:avLst/>
          </a:prstGeom>
          <a:solidFill>
            <a:srgbClr val="2F6DB5"/>
          </a:solidFill>
          <a:ln/>
        </p:spPr>
      </p:sp>
      <p:sp>
        <p:nvSpPr>
          <p:cNvPr id="32" name="Text 30"/>
          <p:cNvSpPr/>
          <p:nvPr/>
        </p:nvSpPr>
        <p:spPr>
          <a:xfrm>
            <a:off x="1371600" y="1500922"/>
            <a:ext cx="670560" cy="201168"/>
          </a:xfrm>
          <a:prstGeom prst="rect">
            <a:avLst/>
          </a:prstGeom>
          <a:noFill/>
          <a:ln/>
        </p:spPr>
        <p:txBody>
          <a:bodyPr wrap="square" lIns="0" tIns="0" rIns="0" bIns="0" rtlCol="0" anchor="ctr"/>
          <a:lstStyle/>
          <a:p>
            <a:pPr algn="ctr" indent="0" marL="0">
              <a:buNone/>
            </a:pPr>
            <a:r>
              <a:rPr lang="en-US" sz="1050" b="1" dirty="0">
                <a:solidFill>
                  <a:srgbClr val="133536"/>
                </a:solidFill>
                <a:latin typeface="Calibri" pitchFamily="34" charset="0"/>
                <a:ea typeface="Calibri" pitchFamily="34" charset="-122"/>
                <a:cs typeface="Calibri" pitchFamily="34" charset="-120"/>
              </a:rPr>
              <a:t>32</a:t>
            </a:r>
            <a:endParaRPr lang="en-US" sz="1050" dirty="0"/>
          </a:p>
        </p:txBody>
      </p:sp>
      <p:sp>
        <p:nvSpPr>
          <p:cNvPr id="33" name="Text 31"/>
          <p:cNvSpPr/>
          <p:nvPr/>
        </p:nvSpPr>
        <p:spPr>
          <a:xfrm>
            <a:off x="1325880" y="4617720"/>
            <a:ext cx="762000"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under 35</a:t>
            </a:r>
            <a:endParaRPr lang="en-US" sz="1000" dirty="0"/>
          </a:p>
        </p:txBody>
      </p:sp>
      <p:sp>
        <p:nvSpPr>
          <p:cNvPr id="34" name="Shape 32"/>
          <p:cNvSpPr/>
          <p:nvPr/>
        </p:nvSpPr>
        <p:spPr>
          <a:xfrm>
            <a:off x="2225040" y="2351314"/>
            <a:ext cx="487680" cy="2220686"/>
          </a:xfrm>
          <a:prstGeom prst="rect">
            <a:avLst/>
          </a:prstGeom>
          <a:solidFill>
            <a:srgbClr val="2F6DB5"/>
          </a:solidFill>
          <a:ln/>
        </p:spPr>
      </p:sp>
      <p:sp>
        <p:nvSpPr>
          <p:cNvPr id="35" name="Text 33"/>
          <p:cNvSpPr/>
          <p:nvPr/>
        </p:nvSpPr>
        <p:spPr>
          <a:xfrm>
            <a:off x="2133600" y="2122714"/>
            <a:ext cx="670560" cy="201168"/>
          </a:xfrm>
          <a:prstGeom prst="rect">
            <a:avLst/>
          </a:prstGeom>
          <a:noFill/>
          <a:ln/>
        </p:spPr>
        <p:txBody>
          <a:bodyPr wrap="square" lIns="0" tIns="0" rIns="0" bIns="0" rtlCol="0" anchor="ctr"/>
          <a:lstStyle/>
          <a:p>
            <a:pPr algn="ctr" indent="0" marL="0">
              <a:buNone/>
            </a:pPr>
            <a:r>
              <a:rPr lang="en-US" sz="1050" b="1" dirty="0">
                <a:solidFill>
                  <a:srgbClr val="133536"/>
                </a:solidFill>
                <a:latin typeface="Calibri" pitchFamily="34" charset="0"/>
                <a:ea typeface="Calibri" pitchFamily="34" charset="-122"/>
                <a:cs typeface="Calibri" pitchFamily="34" charset="-120"/>
              </a:rPr>
              <a:t>25</a:t>
            </a:r>
            <a:endParaRPr lang="en-US" sz="1050" dirty="0"/>
          </a:p>
        </p:txBody>
      </p:sp>
      <p:sp>
        <p:nvSpPr>
          <p:cNvPr id="36" name="Text 34"/>
          <p:cNvSpPr/>
          <p:nvPr/>
        </p:nvSpPr>
        <p:spPr>
          <a:xfrm>
            <a:off x="2087880" y="4617720"/>
            <a:ext cx="762000"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35–37</a:t>
            </a:r>
            <a:endParaRPr lang="en-US" sz="1000" dirty="0"/>
          </a:p>
        </p:txBody>
      </p:sp>
      <p:sp>
        <p:nvSpPr>
          <p:cNvPr id="37" name="Shape 35"/>
          <p:cNvSpPr/>
          <p:nvPr/>
        </p:nvSpPr>
        <p:spPr>
          <a:xfrm>
            <a:off x="2987040" y="2884279"/>
            <a:ext cx="487680" cy="1687721"/>
          </a:xfrm>
          <a:prstGeom prst="rect">
            <a:avLst/>
          </a:prstGeom>
          <a:solidFill>
            <a:srgbClr val="2F6DB5"/>
          </a:solidFill>
          <a:ln/>
        </p:spPr>
      </p:sp>
      <p:sp>
        <p:nvSpPr>
          <p:cNvPr id="38" name="Text 36"/>
          <p:cNvSpPr/>
          <p:nvPr/>
        </p:nvSpPr>
        <p:spPr>
          <a:xfrm>
            <a:off x="2895600" y="2655679"/>
            <a:ext cx="670560" cy="201168"/>
          </a:xfrm>
          <a:prstGeom prst="rect">
            <a:avLst/>
          </a:prstGeom>
          <a:noFill/>
          <a:ln/>
        </p:spPr>
        <p:txBody>
          <a:bodyPr wrap="square" lIns="0" tIns="0" rIns="0" bIns="0" rtlCol="0" anchor="ctr"/>
          <a:lstStyle/>
          <a:p>
            <a:pPr algn="ctr" indent="0" marL="0">
              <a:buNone/>
            </a:pPr>
            <a:r>
              <a:rPr lang="en-US" sz="1050" b="1" dirty="0">
                <a:solidFill>
                  <a:srgbClr val="133536"/>
                </a:solidFill>
                <a:latin typeface="Calibri" pitchFamily="34" charset="0"/>
                <a:ea typeface="Calibri" pitchFamily="34" charset="-122"/>
                <a:cs typeface="Calibri" pitchFamily="34" charset="-120"/>
              </a:rPr>
              <a:t>19</a:t>
            </a:r>
            <a:endParaRPr lang="en-US" sz="1050" dirty="0"/>
          </a:p>
        </p:txBody>
      </p:sp>
      <p:sp>
        <p:nvSpPr>
          <p:cNvPr id="39" name="Text 37"/>
          <p:cNvSpPr/>
          <p:nvPr/>
        </p:nvSpPr>
        <p:spPr>
          <a:xfrm>
            <a:off x="2849880" y="4617720"/>
            <a:ext cx="762000"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38–39</a:t>
            </a:r>
            <a:endParaRPr lang="en-US" sz="1000" dirty="0"/>
          </a:p>
        </p:txBody>
      </p:sp>
      <p:sp>
        <p:nvSpPr>
          <p:cNvPr id="40" name="Shape 38"/>
          <p:cNvSpPr/>
          <p:nvPr/>
        </p:nvSpPr>
        <p:spPr>
          <a:xfrm>
            <a:off x="3749040" y="3594898"/>
            <a:ext cx="487680" cy="977102"/>
          </a:xfrm>
          <a:prstGeom prst="rect">
            <a:avLst/>
          </a:prstGeom>
          <a:solidFill>
            <a:srgbClr val="7B3FA0"/>
          </a:solidFill>
          <a:ln/>
        </p:spPr>
      </p:sp>
      <p:sp>
        <p:nvSpPr>
          <p:cNvPr id="41" name="Text 39"/>
          <p:cNvSpPr/>
          <p:nvPr/>
        </p:nvSpPr>
        <p:spPr>
          <a:xfrm>
            <a:off x="3657600" y="3366298"/>
            <a:ext cx="670560" cy="201168"/>
          </a:xfrm>
          <a:prstGeom prst="rect">
            <a:avLst/>
          </a:prstGeom>
          <a:noFill/>
          <a:ln/>
        </p:spPr>
        <p:txBody>
          <a:bodyPr wrap="square" lIns="0" tIns="0" rIns="0" bIns="0" rtlCol="0" anchor="ctr"/>
          <a:lstStyle/>
          <a:p>
            <a:pPr algn="ctr" indent="0" marL="0">
              <a:buNone/>
            </a:pPr>
            <a:r>
              <a:rPr lang="en-US" sz="1050" b="1" dirty="0">
                <a:solidFill>
                  <a:srgbClr val="133536"/>
                </a:solidFill>
                <a:latin typeface="Calibri" pitchFamily="34" charset="0"/>
                <a:ea typeface="Calibri" pitchFamily="34" charset="-122"/>
                <a:cs typeface="Calibri" pitchFamily="34" charset="-120"/>
              </a:rPr>
              <a:t>11</a:t>
            </a:r>
            <a:endParaRPr lang="en-US" sz="1050" dirty="0"/>
          </a:p>
        </p:txBody>
      </p:sp>
      <p:sp>
        <p:nvSpPr>
          <p:cNvPr id="42" name="Text 40"/>
          <p:cNvSpPr/>
          <p:nvPr/>
        </p:nvSpPr>
        <p:spPr>
          <a:xfrm>
            <a:off x="3611880" y="4617720"/>
            <a:ext cx="762000"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40–42</a:t>
            </a:r>
            <a:endParaRPr lang="en-US" sz="1000" dirty="0"/>
          </a:p>
        </p:txBody>
      </p:sp>
      <p:sp>
        <p:nvSpPr>
          <p:cNvPr id="43" name="Shape 41"/>
          <p:cNvSpPr/>
          <p:nvPr/>
        </p:nvSpPr>
        <p:spPr>
          <a:xfrm>
            <a:off x="4511040" y="4127863"/>
            <a:ext cx="487680" cy="444137"/>
          </a:xfrm>
          <a:prstGeom prst="rect">
            <a:avLst/>
          </a:prstGeom>
          <a:solidFill>
            <a:srgbClr val="2F6DB5"/>
          </a:solidFill>
          <a:ln/>
        </p:spPr>
      </p:sp>
      <p:sp>
        <p:nvSpPr>
          <p:cNvPr id="44" name="Text 42"/>
          <p:cNvSpPr/>
          <p:nvPr/>
        </p:nvSpPr>
        <p:spPr>
          <a:xfrm>
            <a:off x="4419600" y="3899263"/>
            <a:ext cx="670560" cy="201168"/>
          </a:xfrm>
          <a:prstGeom prst="rect">
            <a:avLst/>
          </a:prstGeom>
          <a:noFill/>
          <a:ln/>
        </p:spPr>
        <p:txBody>
          <a:bodyPr wrap="square" lIns="0" tIns="0" rIns="0" bIns="0" rtlCol="0" anchor="ctr"/>
          <a:lstStyle/>
          <a:p>
            <a:pPr algn="ctr" indent="0" marL="0">
              <a:buNone/>
            </a:pPr>
            <a:r>
              <a:rPr lang="en-US" sz="1050" b="1" dirty="0">
                <a:solidFill>
                  <a:srgbClr val="133536"/>
                </a:solidFill>
                <a:latin typeface="Calibri" pitchFamily="34" charset="0"/>
                <a:ea typeface="Calibri" pitchFamily="34" charset="-122"/>
                <a:cs typeface="Calibri" pitchFamily="34" charset="-120"/>
              </a:rPr>
              <a:t>5</a:t>
            </a:r>
            <a:endParaRPr lang="en-US" sz="1050" dirty="0"/>
          </a:p>
        </p:txBody>
      </p:sp>
      <p:sp>
        <p:nvSpPr>
          <p:cNvPr id="45" name="Text 43"/>
          <p:cNvSpPr/>
          <p:nvPr/>
        </p:nvSpPr>
        <p:spPr>
          <a:xfrm>
            <a:off x="4373880" y="4617720"/>
            <a:ext cx="762000"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43–44</a:t>
            </a:r>
            <a:endParaRPr lang="en-US" sz="1000" dirty="0"/>
          </a:p>
        </p:txBody>
      </p:sp>
      <p:sp>
        <p:nvSpPr>
          <p:cNvPr id="46" name="Shape 44"/>
          <p:cNvSpPr/>
          <p:nvPr/>
        </p:nvSpPr>
        <p:spPr>
          <a:xfrm>
            <a:off x="5273040" y="4216690"/>
            <a:ext cx="487680" cy="355310"/>
          </a:xfrm>
          <a:prstGeom prst="rect">
            <a:avLst/>
          </a:prstGeom>
          <a:solidFill>
            <a:srgbClr val="2F6DB5"/>
          </a:solidFill>
          <a:ln/>
        </p:spPr>
      </p:sp>
      <p:sp>
        <p:nvSpPr>
          <p:cNvPr id="47" name="Text 45"/>
          <p:cNvSpPr/>
          <p:nvPr/>
        </p:nvSpPr>
        <p:spPr>
          <a:xfrm>
            <a:off x="5181600" y="3988090"/>
            <a:ext cx="670560" cy="201168"/>
          </a:xfrm>
          <a:prstGeom prst="rect">
            <a:avLst/>
          </a:prstGeom>
          <a:noFill/>
          <a:ln/>
        </p:spPr>
        <p:txBody>
          <a:bodyPr wrap="square" lIns="0" tIns="0" rIns="0" bIns="0" rtlCol="0" anchor="ctr"/>
          <a:lstStyle/>
          <a:p>
            <a:pPr algn="ctr" indent="0" marL="0">
              <a:buNone/>
            </a:pPr>
            <a:r>
              <a:rPr lang="en-US" sz="1050" b="1" dirty="0">
                <a:solidFill>
                  <a:srgbClr val="133536"/>
                </a:solidFill>
                <a:latin typeface="Calibri" pitchFamily="34" charset="0"/>
                <a:ea typeface="Calibri" pitchFamily="34" charset="-122"/>
                <a:cs typeface="Calibri" pitchFamily="34" charset="-120"/>
              </a:rPr>
              <a:t>4</a:t>
            </a:r>
            <a:endParaRPr lang="en-US" sz="1050" dirty="0"/>
          </a:p>
        </p:txBody>
      </p:sp>
      <p:sp>
        <p:nvSpPr>
          <p:cNvPr id="48" name="Text 46"/>
          <p:cNvSpPr/>
          <p:nvPr/>
        </p:nvSpPr>
        <p:spPr>
          <a:xfrm>
            <a:off x="5135880" y="4617720"/>
            <a:ext cx="762000" cy="201168"/>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over 44</a:t>
            </a:r>
            <a:endParaRPr lang="en-US" sz="1000" dirty="0"/>
          </a:p>
        </p:txBody>
      </p:sp>
      <p:sp>
        <p:nvSpPr>
          <p:cNvPr id="49" name="Text 47"/>
          <p:cNvSpPr/>
          <p:nvPr/>
        </p:nvSpPr>
        <p:spPr>
          <a:xfrm>
            <a:off x="1325880" y="4846320"/>
            <a:ext cx="457200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age of woman / years</a:t>
            </a:r>
            <a:endParaRPr lang="en-US" sz="1050" dirty="0"/>
          </a:p>
        </p:txBody>
      </p:sp>
      <p:sp>
        <p:nvSpPr>
          <p:cNvPr id="50" name="Shape 48"/>
          <p:cNvSpPr/>
          <p:nvPr/>
        </p:nvSpPr>
        <p:spPr>
          <a:xfrm>
            <a:off x="6492240" y="1188720"/>
            <a:ext cx="5285232" cy="1965960"/>
          </a:xfrm>
          <a:prstGeom prst="roundRect">
            <a:avLst>
              <a:gd name="adj" fmla="val 2791"/>
            </a:avLst>
          </a:prstGeom>
          <a:solidFill>
            <a:srgbClr val="FFF4E0"/>
          </a:solidFill>
          <a:ln w="9525">
            <a:solidFill>
              <a:srgbClr val="F1D9A8"/>
            </a:solidFill>
            <a:prstDash val="solid"/>
          </a:ln>
        </p:spPr>
      </p:sp>
      <p:sp>
        <p:nvSpPr>
          <p:cNvPr id="51" name="Text 49"/>
          <p:cNvSpPr/>
          <p:nvPr/>
        </p:nvSpPr>
        <p:spPr>
          <a:xfrm>
            <a:off x="6656832" y="1261872"/>
            <a:ext cx="495604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use the chart</a:t>
            </a:r>
            <a:endParaRPr lang="en-US" sz="1300" dirty="0"/>
          </a:p>
        </p:txBody>
      </p:sp>
      <p:sp>
        <p:nvSpPr>
          <p:cNvPr id="52" name="Text 50"/>
          <p:cNvSpPr/>
          <p:nvPr/>
        </p:nvSpPr>
        <p:spPr>
          <a:xfrm>
            <a:off x="6656832" y="1572768"/>
            <a:ext cx="4956048" cy="15087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200 embryos are transferred to women aged 40–42. Estimate the number of births. Compare with under 35.</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Read   </a:t>
            </a:r>
            <a:r>
              <a:rPr lang="en-US" sz="1050" dirty="0">
                <a:solidFill>
                  <a:srgbClr val="262B3A"/>
                </a:solidFill>
                <a:latin typeface="Calibri" pitchFamily="34" charset="0"/>
                <a:ea typeface="Calibri" pitchFamily="34" charset="-122"/>
                <a:cs typeface="Calibri" pitchFamily="34" charset="-120"/>
              </a:rPr>
              <a:t>40–42: 11 per 100 embryos</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Calculate   </a:t>
            </a:r>
            <a:r>
              <a:rPr lang="en-US" sz="1050" dirty="0">
                <a:solidFill>
                  <a:srgbClr val="262B3A"/>
                </a:solidFill>
                <a:latin typeface="Calibri" pitchFamily="34" charset="0"/>
                <a:ea typeface="Calibri" pitchFamily="34" charset="-122"/>
                <a:cs typeface="Calibri" pitchFamily="34" charset="-120"/>
              </a:rPr>
              <a:t>200 × 11 ÷ 100 = 22 births (under 35: 64)</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under-35s are about 2.9 times as likely to succeed</a:t>
            </a:r>
            <a:endParaRPr lang="en-US" sz="10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92240" y="3291840"/>
          <a:ext cx="5285232" cy="914400"/>
        </p:xfrm>
        <a:graphic>
          <a:graphicData uri="http://schemas.openxmlformats.org/drawingml/2006/table">
            <a:tbl>
              <a:tblPr/>
              <a:tblGrid>
                <a:gridCol w="2468880"/>
                <a:gridCol w="2816352"/>
              </a:tblGrid>
              <a:tr h="29260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Benefits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Risks and issues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133536"/>
                    </a:solidFill>
                  </a:tcPr>
                </a:tc>
              </a:tr>
              <a:tr h="658368">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Infertile couples can have a child that is genetically theirs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Low success rate, especially for older women; may need several cycles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r h="658368">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Helps when oviducts are blocked or sperm count is low</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Several embryos: risk of twins or triplets (risks to mother and babies)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4FAF9"/>
                    </a:solidFill>
                  </a:tcPr>
                </a:tc>
              </a:tr>
              <a:tr h="658368">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Embryos can be screened for some genetic disorders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Expensive; stressful; side effects of the hormones; spare embryos raise ethical questions</a:t>
                      </a:r>
                      <a:endParaRPr lang="en-US" sz="1050" dirty="0">
                        <a:latin typeface="Calibri" charset="0"/>
                        <a:ea typeface="Calibri" charset="0"/>
                        <a:cs typeface="Calibri" charset="0"/>
                      </a:endParaRPr>
                    </a:p>
                  </a:txBody>
                  <a:tcPr marL="91440" marR="91440" marT="45720" marB="45720" anchor="ctr">
                    <a:lnL w="9525" cap="flat" cmpd="sng" algn="ctr">
                      <a:solidFill>
                        <a:srgbClr val="CFE0DE"/>
                      </a:solidFill>
                      <a:prstDash val="solid"/>
                      <a:round/>
                      <a:headEnd type="none" w="med" len="med"/>
                      <a:tailEnd type="none" w="med" len="med"/>
                    </a:lnL>
                    <a:lnR w="9525" cap="flat" cmpd="sng" algn="ctr">
                      <a:solidFill>
                        <a:srgbClr val="CFE0DE"/>
                      </a:solidFill>
                      <a:prstDash val="solid"/>
                      <a:round/>
                      <a:headEnd type="none" w="med" len="med"/>
                      <a:tailEnd type="none" w="med" len="med"/>
                    </a:lnR>
                    <a:lnT w="9525" cap="flat" cmpd="sng" algn="ctr">
                      <a:solidFill>
                        <a:srgbClr val="CFE0DE"/>
                      </a:solidFill>
                      <a:prstDash val="solid"/>
                      <a:round/>
                      <a:headEnd type="none" w="med" len="med"/>
                      <a:tailEnd type="none" w="med" len="med"/>
                    </a:lnT>
                    <a:lnB w="9525" cap="flat" cmpd="sng" algn="ctr">
                      <a:solidFill>
                        <a:srgbClr val="CFE0DE"/>
                      </a:solidFill>
                      <a:prstDash val="solid"/>
                      <a:round/>
                      <a:headEnd type="none" w="med" len="med"/>
                      <a:tailEnd type="none" w="med" len="med"/>
                    </a:lnB>
                    <a:solidFill>
                      <a:srgbClr val="FFFFFF"/>
                    </a:solidFill>
                  </a:tcPr>
                </a:tc>
              </a:tr>
            </a:tbl>
          </a:graphicData>
        </a:graphic>
      </p:graphicFrame>
      <p:sp>
        <p:nvSpPr>
          <p:cNvPr id="54" name="Shape 51"/>
          <p:cNvSpPr/>
          <p:nvPr/>
        </p:nvSpPr>
        <p:spPr>
          <a:xfrm>
            <a:off x="411480" y="5833872"/>
            <a:ext cx="11368735" cy="530352"/>
          </a:xfrm>
          <a:prstGeom prst="rect">
            <a:avLst/>
          </a:prstGeom>
          <a:solidFill>
            <a:srgbClr val="FFF4E0"/>
          </a:solidFill>
          <a:ln w="6350">
            <a:solidFill>
              <a:srgbClr val="F1D9A8"/>
            </a:solidFill>
            <a:prstDash val="solid"/>
          </a:ln>
        </p:spPr>
      </p:sp>
      <p:sp>
        <p:nvSpPr>
          <p:cNvPr id="55" name="Shape 52"/>
          <p:cNvSpPr/>
          <p:nvPr/>
        </p:nvSpPr>
        <p:spPr>
          <a:xfrm>
            <a:off x="411480" y="5833872"/>
            <a:ext cx="82296" cy="530352"/>
          </a:xfrm>
          <a:prstGeom prst="rect">
            <a:avLst/>
          </a:prstGeom>
          <a:solidFill>
            <a:srgbClr val="E39A2F"/>
          </a:solidFill>
          <a:ln w="12700">
            <a:solidFill>
              <a:srgbClr val="E39A2F"/>
            </a:solidFill>
            <a:prstDash val="solid"/>
          </a:ln>
        </p:spPr>
      </p:sp>
      <p:sp>
        <p:nvSpPr>
          <p:cNvPr id="56" name="Text 53"/>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b="1" dirty="0">
                <a:solidFill>
                  <a:srgbClr val="262B3A"/>
                </a:solidFill>
                <a:latin typeface="Calibri" pitchFamily="34" charset="0"/>
                <a:ea typeface="Calibri" pitchFamily="34" charset="-122"/>
                <a:cs typeface="Calibri" pitchFamily="34" charset="-120"/>
              </a:rPr>
              <a:t>150</a:t>
            </a:r>
            <a:r>
              <a:rPr lang="en-US" sz="1150" dirty="0">
                <a:solidFill>
                  <a:srgbClr val="262B3A"/>
                </a:solidFill>
                <a:latin typeface="Calibri" pitchFamily="34" charset="0"/>
                <a:ea typeface="Calibri" pitchFamily="34" charset="-122"/>
                <a:cs typeface="Calibri" pitchFamily="34" charset="-120"/>
              </a:rPr>
              <a:t> embryos are transferred to women aged </a:t>
            </a:r>
            <a:r>
              <a:rPr lang="en-US" sz="1150" b="1" dirty="0">
                <a:solidFill>
                  <a:srgbClr val="262B3A"/>
                </a:solidFill>
                <a:latin typeface="Calibri" pitchFamily="34" charset="0"/>
                <a:ea typeface="Calibri" pitchFamily="34" charset="-122"/>
                <a:cs typeface="Calibri" pitchFamily="34" charset="-120"/>
              </a:rPr>
              <a:t>38–39</a:t>
            </a:r>
            <a:r>
              <a:rPr lang="en-US" sz="1150" dirty="0">
                <a:solidFill>
                  <a:srgbClr val="262B3A"/>
                </a:solidFill>
                <a:latin typeface="Calibri" pitchFamily="34" charset="0"/>
                <a:ea typeface="Calibri" pitchFamily="34" charset="-122"/>
                <a:cs typeface="Calibri" pitchFamily="34" charset="-120"/>
              </a:rPr>
              <a:t>. Estimate the number of births. Suggest </a:t>
            </a:r>
            <a:r>
              <a:rPr lang="en-US" sz="1150" b="1" dirty="0">
                <a:solidFill>
                  <a:srgbClr val="262B3A"/>
                </a:solidFill>
                <a:latin typeface="Calibri" pitchFamily="34" charset="0"/>
                <a:ea typeface="Calibri" pitchFamily="34" charset="-122"/>
                <a:cs typeface="Calibri" pitchFamily="34" charset="-120"/>
              </a:rPr>
              <a:t>one</a:t>
            </a:r>
            <a:r>
              <a:rPr lang="en-US" sz="1150" dirty="0">
                <a:solidFill>
                  <a:srgbClr val="262B3A"/>
                </a:solidFill>
                <a:latin typeface="Calibri" pitchFamily="34" charset="0"/>
                <a:ea typeface="Calibri" pitchFamily="34" charset="-122"/>
                <a:cs typeface="Calibri" pitchFamily="34" charset="-120"/>
              </a:rPr>
              <a:t> reason why clinics often transfer only </a:t>
            </a:r>
            <a:r>
              <a:rPr lang="en-US" sz="1150" b="1" dirty="0">
                <a:solidFill>
                  <a:srgbClr val="262B3A"/>
                </a:solidFill>
                <a:latin typeface="Calibri" pitchFamily="34" charset="0"/>
                <a:ea typeface="Calibri" pitchFamily="34" charset="-122"/>
                <a:cs typeface="Calibri" pitchFamily="34" charset="-120"/>
              </a:rPr>
              <a:t>one</a:t>
            </a:r>
            <a:r>
              <a:rPr lang="en-US" sz="1150" dirty="0">
                <a:solidFill>
                  <a:srgbClr val="262B3A"/>
                </a:solidFill>
                <a:latin typeface="Calibri" pitchFamily="34" charset="0"/>
                <a:ea typeface="Calibri" pitchFamily="34" charset="-122"/>
                <a:cs typeface="Calibri" pitchFamily="34" charset="-120"/>
              </a:rPr>
              <a:t> embryo.</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4</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B5.5.4 • fertility drugs and IVF</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B5.5 What role do hormones play in human reproduction?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4  |  18</a:t>
            </a:r>
            <a:endParaRPr lang="en-US" sz="1000" dirty="0"/>
          </a:p>
        </p:txBody>
      </p:sp>
      <p:sp>
        <p:nvSpPr>
          <p:cNvPr id="10" name="Shape 8"/>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11" name="Shape 9"/>
          <p:cNvSpPr/>
          <p:nvPr/>
        </p:nvSpPr>
        <p:spPr>
          <a:xfrm>
            <a:off x="411480" y="1207008"/>
            <a:ext cx="2103120" cy="292608"/>
          </a:xfrm>
          <a:prstGeom prst="rect">
            <a:avLst/>
          </a:prstGeom>
          <a:solidFill>
            <a:srgbClr val="F5A742"/>
          </a:solidFill>
          <a:ln w="12700">
            <a:solidFill>
              <a:srgbClr val="F5A742"/>
            </a:solidFill>
            <a:prstDash val="solid"/>
          </a:ln>
        </p:spPr>
      </p:sp>
      <p:sp>
        <p:nvSpPr>
          <p:cNvPr id="12" name="Text 10"/>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3" name="Text 11"/>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hormones given to women as </a:t>
            </a:r>
            <a:r>
              <a:rPr lang="en-US" sz="1250" b="1" dirty="0">
                <a:solidFill>
                  <a:srgbClr val="262B3A"/>
                </a:solidFill>
                <a:latin typeface="Calibri" pitchFamily="34" charset="0"/>
                <a:ea typeface="Calibri" pitchFamily="34" charset="-122"/>
                <a:cs typeface="Calibri" pitchFamily="34" charset="-120"/>
              </a:rPr>
              <a:t>fertility drugs</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4" name="Text 12"/>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6" name="Shape 14"/>
          <p:cNvSpPr/>
          <p:nvPr/>
        </p:nvSpPr>
        <p:spPr>
          <a:xfrm>
            <a:off x="411480" y="2512314"/>
            <a:ext cx="2103120" cy="292608"/>
          </a:xfrm>
          <a:prstGeom prst="rect">
            <a:avLst/>
          </a:prstGeom>
          <a:solidFill>
            <a:srgbClr val="F5A742"/>
          </a:solidFill>
          <a:ln w="12700">
            <a:solidFill>
              <a:srgbClr val="F5A742"/>
            </a:solidFill>
            <a:prstDash val="solid"/>
          </a:ln>
        </p:spPr>
      </p:sp>
      <p:sp>
        <p:nvSpPr>
          <p:cNvPr id="17" name="Text 15"/>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8" name="Text 16"/>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the main stages of </a:t>
            </a:r>
            <a:r>
              <a:rPr lang="en-US" sz="1250" b="1" dirty="0">
                <a:solidFill>
                  <a:srgbClr val="262B3A"/>
                </a:solidFill>
                <a:latin typeface="Calibri" pitchFamily="34" charset="0"/>
                <a:ea typeface="Calibri" pitchFamily="34" charset="-122"/>
                <a:cs typeface="Calibri" pitchFamily="34" charset="-120"/>
              </a:rPr>
              <a:t>IVF</a:t>
            </a:r>
            <a:r>
              <a:rPr lang="en-US" sz="1250" dirty="0">
                <a:solidFill>
                  <a:srgbClr val="262B3A"/>
                </a:solidFill>
                <a:latin typeface="Calibri" pitchFamily="34" charset="0"/>
                <a:ea typeface="Calibri" pitchFamily="34" charset="-122"/>
                <a:cs typeface="Calibri" pitchFamily="34" charset="-120"/>
              </a:rPr>
              <a:t> after the eggs have matured.</a:t>
            </a:r>
            <a:endParaRPr lang="en-US" sz="1250" dirty="0"/>
          </a:p>
        </p:txBody>
      </p:sp>
      <p:sp>
        <p:nvSpPr>
          <p:cNvPr id="19" name="Text 17"/>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0" name="Shape 18"/>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21" name="Shape 19"/>
          <p:cNvSpPr/>
          <p:nvPr/>
        </p:nvSpPr>
        <p:spPr>
          <a:xfrm>
            <a:off x="411480" y="3817620"/>
            <a:ext cx="2103120" cy="292608"/>
          </a:xfrm>
          <a:prstGeom prst="rect">
            <a:avLst/>
          </a:prstGeom>
          <a:solidFill>
            <a:srgbClr val="F5A742"/>
          </a:solidFill>
          <a:ln w="12700">
            <a:solidFill>
              <a:srgbClr val="F5A742"/>
            </a:solidFill>
            <a:prstDash val="solid"/>
          </a:ln>
        </p:spPr>
      </p:sp>
      <p:sp>
        <p:nvSpPr>
          <p:cNvPr id="22" name="Text 20"/>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3" name="Text 21"/>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IVF succeeds for </a:t>
            </a:r>
            <a:r>
              <a:rPr lang="en-US" sz="1250" b="1" dirty="0">
                <a:solidFill>
                  <a:srgbClr val="262B3A"/>
                </a:solidFill>
                <a:latin typeface="Calibri" pitchFamily="34" charset="0"/>
                <a:ea typeface="Calibri" pitchFamily="34" charset="-122"/>
                <a:cs typeface="Calibri" pitchFamily="34" charset="-120"/>
              </a:rPr>
              <a:t>25</a:t>
            </a:r>
            <a:r>
              <a:rPr lang="en-US" sz="1250" dirty="0">
                <a:solidFill>
                  <a:srgbClr val="262B3A"/>
                </a:solidFill>
                <a:latin typeface="Calibri" pitchFamily="34" charset="0"/>
                <a:ea typeface="Calibri" pitchFamily="34" charset="-122"/>
                <a:cs typeface="Calibri" pitchFamily="34" charset="-120"/>
              </a:rPr>
              <a:t> in every 100 embryos transferred to women aged 35–37. How many births would be expected from </a:t>
            </a:r>
            <a:r>
              <a:rPr lang="en-US" sz="1250" b="1" dirty="0">
                <a:solidFill>
                  <a:srgbClr val="262B3A"/>
                </a:solidFill>
                <a:latin typeface="Calibri" pitchFamily="34" charset="0"/>
                <a:ea typeface="Calibri" pitchFamily="34" charset="-122"/>
                <a:cs typeface="Calibri" pitchFamily="34" charset="-120"/>
              </a:rPr>
              <a:t>200</a:t>
            </a:r>
            <a:r>
              <a:rPr lang="en-US" sz="1250" dirty="0">
                <a:solidFill>
                  <a:srgbClr val="262B3A"/>
                </a:solidFill>
                <a:latin typeface="Calibri" pitchFamily="34" charset="0"/>
                <a:ea typeface="Calibri" pitchFamily="34" charset="-122"/>
                <a:cs typeface="Calibri" pitchFamily="34" charset="-120"/>
              </a:rPr>
              <a:t> embryos?</a:t>
            </a:r>
            <a:endParaRPr lang="en-US" sz="1250" dirty="0"/>
          </a:p>
        </p:txBody>
      </p:sp>
      <p:sp>
        <p:nvSpPr>
          <p:cNvPr id="24" name="Text 22"/>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5" name="Shape 23"/>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6" name="Shape 24"/>
          <p:cNvSpPr/>
          <p:nvPr/>
        </p:nvSpPr>
        <p:spPr>
          <a:xfrm>
            <a:off x="411480" y="5122926"/>
            <a:ext cx="2103120" cy="292608"/>
          </a:xfrm>
          <a:prstGeom prst="rect">
            <a:avLst/>
          </a:prstGeom>
          <a:solidFill>
            <a:srgbClr val="F5A742"/>
          </a:solidFill>
          <a:ln w="12700">
            <a:solidFill>
              <a:srgbClr val="F5A742"/>
            </a:solidFill>
            <a:prstDash val="solid"/>
          </a:ln>
        </p:spPr>
      </p:sp>
      <p:sp>
        <p:nvSpPr>
          <p:cNvPr id="27" name="Text 25"/>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8" name="Text 26"/>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risk of IVF.</a:t>
            </a:r>
            <a:endParaRPr lang="en-US" sz="1250" dirty="0"/>
          </a:p>
        </p:txBody>
      </p:sp>
      <p:sp>
        <p:nvSpPr>
          <p:cNvPr id="29" name="Text 27"/>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Summary: key words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B5.5 What role do hormones play in human reproduction? • learn these definitions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B5.5 What role do hormones play in human reproduction?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Key words  |  19</a:t>
            </a:r>
            <a:endParaRPr lang="en-US" sz="1000" dirty="0"/>
          </a:p>
        </p:txBody>
      </p:sp>
      <p:sp>
        <p:nvSpPr>
          <p:cNvPr id="8" name="Shape 6"/>
          <p:cNvSpPr/>
          <p:nvPr/>
        </p:nvSpPr>
        <p:spPr>
          <a:xfrm>
            <a:off x="411480" y="1188720"/>
            <a:ext cx="2739314" cy="1143000"/>
          </a:xfrm>
          <a:prstGeom prst="rect">
            <a:avLst/>
          </a:prstGeom>
          <a:solidFill>
            <a:srgbClr val="F4FAF9"/>
          </a:solidFill>
          <a:ln w="9525">
            <a:solidFill>
              <a:srgbClr val="CFE0DE"/>
            </a:solidFill>
            <a:prstDash val="solid"/>
          </a:ln>
        </p:spPr>
      </p:sp>
      <p:sp>
        <p:nvSpPr>
          <p:cNvPr id="9" name="Shape 7"/>
          <p:cNvSpPr/>
          <p:nvPr/>
        </p:nvSpPr>
        <p:spPr>
          <a:xfrm>
            <a:off x="411480" y="1188720"/>
            <a:ext cx="73152" cy="1143000"/>
          </a:xfrm>
          <a:prstGeom prst="rect">
            <a:avLst/>
          </a:prstGeom>
          <a:solidFill>
            <a:srgbClr val="0D7877"/>
          </a:solidFill>
          <a:ln w="12700">
            <a:solidFill>
              <a:srgbClr val="0D7877"/>
            </a:solidFill>
            <a:prstDash val="solid"/>
          </a:ln>
        </p:spPr>
      </p:sp>
      <p:sp>
        <p:nvSpPr>
          <p:cNvPr id="10" name="Text 8"/>
          <p:cNvSpPr/>
          <p:nvPr/>
        </p:nvSpPr>
        <p:spPr>
          <a:xfrm>
            <a:off x="576072"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Testosterone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Main male sex hormone, made in the testes; sperm production and male characteristics.</a:t>
            </a:r>
            <a:endParaRPr lang="en-US" sz="1200" dirty="0"/>
          </a:p>
        </p:txBody>
      </p:sp>
      <p:sp>
        <p:nvSpPr>
          <p:cNvPr id="11" name="Shape 9"/>
          <p:cNvSpPr/>
          <p:nvPr/>
        </p:nvSpPr>
        <p:spPr>
          <a:xfrm>
            <a:off x="3287954" y="1188720"/>
            <a:ext cx="2739314" cy="1143000"/>
          </a:xfrm>
          <a:prstGeom prst="rect">
            <a:avLst/>
          </a:prstGeom>
          <a:solidFill>
            <a:srgbClr val="F4FAF9"/>
          </a:solidFill>
          <a:ln w="9525">
            <a:solidFill>
              <a:srgbClr val="CFE0DE"/>
            </a:solidFill>
            <a:prstDash val="solid"/>
          </a:ln>
        </p:spPr>
      </p:sp>
      <p:sp>
        <p:nvSpPr>
          <p:cNvPr id="12" name="Shape 10"/>
          <p:cNvSpPr/>
          <p:nvPr/>
        </p:nvSpPr>
        <p:spPr>
          <a:xfrm>
            <a:off x="3287954" y="1188720"/>
            <a:ext cx="73152" cy="1143000"/>
          </a:xfrm>
          <a:prstGeom prst="rect">
            <a:avLst/>
          </a:prstGeom>
          <a:solidFill>
            <a:srgbClr val="0D7877"/>
          </a:solidFill>
          <a:ln w="12700">
            <a:solidFill>
              <a:srgbClr val="0D7877"/>
            </a:solidFill>
            <a:prstDash val="solid"/>
          </a:ln>
        </p:spPr>
      </p:sp>
      <p:sp>
        <p:nvSpPr>
          <p:cNvPr id="13" name="Text 11"/>
          <p:cNvSpPr/>
          <p:nvPr/>
        </p:nvSpPr>
        <p:spPr>
          <a:xfrm>
            <a:off x="3452546"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Oestrogen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Main female sex hormone, made in the ovaries; builds the uterus lining.</a:t>
            </a:r>
            <a:endParaRPr lang="en-US" sz="1200" dirty="0"/>
          </a:p>
        </p:txBody>
      </p:sp>
      <p:sp>
        <p:nvSpPr>
          <p:cNvPr id="14" name="Shape 12"/>
          <p:cNvSpPr/>
          <p:nvPr/>
        </p:nvSpPr>
        <p:spPr>
          <a:xfrm>
            <a:off x="6164428" y="1188720"/>
            <a:ext cx="2739314" cy="1143000"/>
          </a:xfrm>
          <a:prstGeom prst="rect">
            <a:avLst/>
          </a:prstGeom>
          <a:solidFill>
            <a:srgbClr val="F4FAF9"/>
          </a:solidFill>
          <a:ln w="9525">
            <a:solidFill>
              <a:srgbClr val="CFE0DE"/>
            </a:solidFill>
            <a:prstDash val="solid"/>
          </a:ln>
        </p:spPr>
      </p:sp>
      <p:sp>
        <p:nvSpPr>
          <p:cNvPr id="15" name="Shape 13"/>
          <p:cNvSpPr/>
          <p:nvPr/>
        </p:nvSpPr>
        <p:spPr>
          <a:xfrm>
            <a:off x="6164428" y="1188720"/>
            <a:ext cx="73152" cy="1143000"/>
          </a:xfrm>
          <a:prstGeom prst="rect">
            <a:avLst/>
          </a:prstGeom>
          <a:solidFill>
            <a:srgbClr val="0D7877"/>
          </a:solidFill>
          <a:ln w="12700">
            <a:solidFill>
              <a:srgbClr val="0D7877"/>
            </a:solidFill>
            <a:prstDash val="solid"/>
          </a:ln>
        </p:spPr>
      </p:sp>
      <p:sp>
        <p:nvSpPr>
          <p:cNvPr id="16" name="Text 14"/>
          <p:cNvSpPr/>
          <p:nvPr/>
        </p:nvSpPr>
        <p:spPr>
          <a:xfrm>
            <a:off x="6329020"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Progesterone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Ovary hormone (from the empty follicle) that keeps the uterus lining thick.</a:t>
            </a:r>
            <a:endParaRPr lang="en-US" sz="1200" dirty="0"/>
          </a:p>
        </p:txBody>
      </p:sp>
      <p:sp>
        <p:nvSpPr>
          <p:cNvPr id="17" name="Shape 15"/>
          <p:cNvSpPr/>
          <p:nvPr/>
        </p:nvSpPr>
        <p:spPr>
          <a:xfrm>
            <a:off x="9040901" y="1188720"/>
            <a:ext cx="2739314" cy="1143000"/>
          </a:xfrm>
          <a:prstGeom prst="rect">
            <a:avLst/>
          </a:prstGeom>
          <a:solidFill>
            <a:srgbClr val="F4FAF9"/>
          </a:solidFill>
          <a:ln w="9525">
            <a:solidFill>
              <a:srgbClr val="CFE0DE"/>
            </a:solidFill>
            <a:prstDash val="solid"/>
          </a:ln>
        </p:spPr>
      </p:sp>
      <p:sp>
        <p:nvSpPr>
          <p:cNvPr id="18" name="Shape 16"/>
          <p:cNvSpPr/>
          <p:nvPr/>
        </p:nvSpPr>
        <p:spPr>
          <a:xfrm>
            <a:off x="9040901" y="1188720"/>
            <a:ext cx="73152" cy="1143000"/>
          </a:xfrm>
          <a:prstGeom prst="rect">
            <a:avLst/>
          </a:prstGeom>
          <a:solidFill>
            <a:srgbClr val="0D7877"/>
          </a:solidFill>
          <a:ln w="12700">
            <a:solidFill>
              <a:srgbClr val="0D7877"/>
            </a:solidFill>
            <a:prstDash val="solid"/>
          </a:ln>
        </p:spPr>
      </p:sp>
      <p:sp>
        <p:nvSpPr>
          <p:cNvPr id="19" name="Text 17"/>
          <p:cNvSpPr/>
          <p:nvPr/>
        </p:nvSpPr>
        <p:spPr>
          <a:xfrm>
            <a:off x="9205493"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FSH</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Follicle-stimulating hormone (pituitary): makes an egg mature; ovary makes oestrogen.</a:t>
            </a:r>
            <a:endParaRPr lang="en-US" sz="1200" dirty="0"/>
          </a:p>
        </p:txBody>
      </p:sp>
      <p:sp>
        <p:nvSpPr>
          <p:cNvPr id="20" name="Shape 18"/>
          <p:cNvSpPr/>
          <p:nvPr/>
        </p:nvSpPr>
        <p:spPr>
          <a:xfrm>
            <a:off x="411480" y="2441448"/>
            <a:ext cx="2739314" cy="1143000"/>
          </a:xfrm>
          <a:prstGeom prst="rect">
            <a:avLst/>
          </a:prstGeom>
          <a:solidFill>
            <a:srgbClr val="F4FAF9"/>
          </a:solidFill>
          <a:ln w="9525">
            <a:solidFill>
              <a:srgbClr val="CFE0DE"/>
            </a:solidFill>
            <a:prstDash val="solid"/>
          </a:ln>
        </p:spPr>
      </p:sp>
      <p:sp>
        <p:nvSpPr>
          <p:cNvPr id="21" name="Shape 19"/>
          <p:cNvSpPr/>
          <p:nvPr/>
        </p:nvSpPr>
        <p:spPr>
          <a:xfrm>
            <a:off x="411480" y="2441448"/>
            <a:ext cx="73152" cy="1143000"/>
          </a:xfrm>
          <a:prstGeom prst="rect">
            <a:avLst/>
          </a:prstGeom>
          <a:solidFill>
            <a:srgbClr val="0D7877"/>
          </a:solidFill>
          <a:ln w="12700">
            <a:solidFill>
              <a:srgbClr val="0D7877"/>
            </a:solidFill>
            <a:prstDash val="solid"/>
          </a:ln>
        </p:spPr>
      </p:sp>
      <p:sp>
        <p:nvSpPr>
          <p:cNvPr id="22" name="Text 20"/>
          <p:cNvSpPr/>
          <p:nvPr/>
        </p:nvSpPr>
        <p:spPr>
          <a:xfrm>
            <a:off x="576072"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LH</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Luteinising hormone (pituitary): causes ovulation.</a:t>
            </a:r>
            <a:endParaRPr lang="en-US" sz="1200" dirty="0"/>
          </a:p>
        </p:txBody>
      </p:sp>
      <p:sp>
        <p:nvSpPr>
          <p:cNvPr id="23" name="Shape 21"/>
          <p:cNvSpPr/>
          <p:nvPr/>
        </p:nvSpPr>
        <p:spPr>
          <a:xfrm>
            <a:off x="3287954" y="2441448"/>
            <a:ext cx="2739314" cy="1143000"/>
          </a:xfrm>
          <a:prstGeom prst="rect">
            <a:avLst/>
          </a:prstGeom>
          <a:solidFill>
            <a:srgbClr val="F4FAF9"/>
          </a:solidFill>
          <a:ln w="9525">
            <a:solidFill>
              <a:srgbClr val="CFE0DE"/>
            </a:solidFill>
            <a:prstDash val="solid"/>
          </a:ln>
        </p:spPr>
      </p:sp>
      <p:sp>
        <p:nvSpPr>
          <p:cNvPr id="24" name="Shape 22"/>
          <p:cNvSpPr/>
          <p:nvPr/>
        </p:nvSpPr>
        <p:spPr>
          <a:xfrm>
            <a:off x="3287954" y="2441448"/>
            <a:ext cx="73152" cy="1143000"/>
          </a:xfrm>
          <a:prstGeom prst="rect">
            <a:avLst/>
          </a:prstGeom>
          <a:solidFill>
            <a:srgbClr val="0D7877"/>
          </a:solidFill>
          <a:ln w="12700">
            <a:solidFill>
              <a:srgbClr val="0D7877"/>
            </a:solidFill>
            <a:prstDash val="solid"/>
          </a:ln>
        </p:spPr>
      </p:sp>
      <p:sp>
        <p:nvSpPr>
          <p:cNvPr id="25" name="Text 23"/>
          <p:cNvSpPr/>
          <p:nvPr/>
        </p:nvSpPr>
        <p:spPr>
          <a:xfrm>
            <a:off x="3452546"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Puberty</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When sex hormones cause the body to become sexually mature.</a:t>
            </a:r>
            <a:endParaRPr lang="en-US" sz="1200" dirty="0"/>
          </a:p>
        </p:txBody>
      </p:sp>
      <p:sp>
        <p:nvSpPr>
          <p:cNvPr id="26" name="Shape 24"/>
          <p:cNvSpPr/>
          <p:nvPr/>
        </p:nvSpPr>
        <p:spPr>
          <a:xfrm>
            <a:off x="6164428" y="2441448"/>
            <a:ext cx="2739314" cy="1143000"/>
          </a:xfrm>
          <a:prstGeom prst="rect">
            <a:avLst/>
          </a:prstGeom>
          <a:solidFill>
            <a:srgbClr val="F4FAF9"/>
          </a:solidFill>
          <a:ln w="9525">
            <a:solidFill>
              <a:srgbClr val="CFE0DE"/>
            </a:solidFill>
            <a:prstDash val="solid"/>
          </a:ln>
        </p:spPr>
      </p:sp>
      <p:sp>
        <p:nvSpPr>
          <p:cNvPr id="27" name="Shape 25"/>
          <p:cNvSpPr/>
          <p:nvPr/>
        </p:nvSpPr>
        <p:spPr>
          <a:xfrm>
            <a:off x="6164428" y="2441448"/>
            <a:ext cx="73152" cy="1143000"/>
          </a:xfrm>
          <a:prstGeom prst="rect">
            <a:avLst/>
          </a:prstGeom>
          <a:solidFill>
            <a:srgbClr val="0D7877"/>
          </a:solidFill>
          <a:ln w="12700">
            <a:solidFill>
              <a:srgbClr val="0D7877"/>
            </a:solidFill>
            <a:prstDash val="solid"/>
          </a:ln>
        </p:spPr>
      </p:sp>
      <p:sp>
        <p:nvSpPr>
          <p:cNvPr id="28" name="Text 26"/>
          <p:cNvSpPr/>
          <p:nvPr/>
        </p:nvSpPr>
        <p:spPr>
          <a:xfrm>
            <a:off x="6329020"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Secondary sexual characteristics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Changes at puberty, e.g. breasts, facial hair, deeper voice.</a:t>
            </a:r>
            <a:endParaRPr lang="en-US" sz="1200" dirty="0"/>
          </a:p>
        </p:txBody>
      </p:sp>
      <p:sp>
        <p:nvSpPr>
          <p:cNvPr id="29" name="Shape 27"/>
          <p:cNvSpPr/>
          <p:nvPr/>
        </p:nvSpPr>
        <p:spPr>
          <a:xfrm>
            <a:off x="9040901" y="2441448"/>
            <a:ext cx="2739314" cy="1143000"/>
          </a:xfrm>
          <a:prstGeom prst="rect">
            <a:avLst/>
          </a:prstGeom>
          <a:solidFill>
            <a:srgbClr val="F4FAF9"/>
          </a:solidFill>
          <a:ln w="9525">
            <a:solidFill>
              <a:srgbClr val="CFE0DE"/>
            </a:solidFill>
            <a:prstDash val="solid"/>
          </a:ln>
        </p:spPr>
      </p:sp>
      <p:sp>
        <p:nvSpPr>
          <p:cNvPr id="30" name="Shape 28"/>
          <p:cNvSpPr/>
          <p:nvPr/>
        </p:nvSpPr>
        <p:spPr>
          <a:xfrm>
            <a:off x="9040901" y="2441448"/>
            <a:ext cx="73152" cy="1143000"/>
          </a:xfrm>
          <a:prstGeom prst="rect">
            <a:avLst/>
          </a:prstGeom>
          <a:solidFill>
            <a:srgbClr val="0D7877"/>
          </a:solidFill>
          <a:ln w="12700">
            <a:solidFill>
              <a:srgbClr val="0D7877"/>
            </a:solidFill>
            <a:prstDash val="solid"/>
          </a:ln>
        </p:spPr>
      </p:sp>
      <p:sp>
        <p:nvSpPr>
          <p:cNvPr id="31" name="Text 29"/>
          <p:cNvSpPr/>
          <p:nvPr/>
        </p:nvSpPr>
        <p:spPr>
          <a:xfrm>
            <a:off x="9205493"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Menstrual cycle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About 28 days: egg matures and is released; uterus lining builds and breaks down.</a:t>
            </a:r>
            <a:endParaRPr lang="en-US" sz="1200" dirty="0"/>
          </a:p>
        </p:txBody>
      </p:sp>
      <p:sp>
        <p:nvSpPr>
          <p:cNvPr id="32" name="Shape 30"/>
          <p:cNvSpPr/>
          <p:nvPr/>
        </p:nvSpPr>
        <p:spPr>
          <a:xfrm>
            <a:off x="411480" y="3694176"/>
            <a:ext cx="2739314" cy="1143000"/>
          </a:xfrm>
          <a:prstGeom prst="rect">
            <a:avLst/>
          </a:prstGeom>
          <a:solidFill>
            <a:srgbClr val="F4FAF9"/>
          </a:solidFill>
          <a:ln w="9525">
            <a:solidFill>
              <a:srgbClr val="CFE0DE"/>
            </a:solidFill>
            <a:prstDash val="solid"/>
          </a:ln>
        </p:spPr>
      </p:sp>
      <p:sp>
        <p:nvSpPr>
          <p:cNvPr id="33" name="Shape 31"/>
          <p:cNvSpPr/>
          <p:nvPr/>
        </p:nvSpPr>
        <p:spPr>
          <a:xfrm>
            <a:off x="411480" y="3694176"/>
            <a:ext cx="73152" cy="1143000"/>
          </a:xfrm>
          <a:prstGeom prst="rect">
            <a:avLst/>
          </a:prstGeom>
          <a:solidFill>
            <a:srgbClr val="0D7877"/>
          </a:solidFill>
          <a:ln w="12700">
            <a:solidFill>
              <a:srgbClr val="0D7877"/>
            </a:solidFill>
            <a:prstDash val="solid"/>
          </a:ln>
        </p:spPr>
      </p:sp>
      <p:sp>
        <p:nvSpPr>
          <p:cNvPr id="34" name="Text 32"/>
          <p:cNvSpPr/>
          <p:nvPr/>
        </p:nvSpPr>
        <p:spPr>
          <a:xfrm>
            <a:off x="576072"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Menstruation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Breakdown and loss of the uterus lining (a period), days 0–5.</a:t>
            </a:r>
            <a:endParaRPr lang="en-US" sz="1200" dirty="0"/>
          </a:p>
        </p:txBody>
      </p:sp>
      <p:sp>
        <p:nvSpPr>
          <p:cNvPr id="35" name="Shape 33"/>
          <p:cNvSpPr/>
          <p:nvPr/>
        </p:nvSpPr>
        <p:spPr>
          <a:xfrm>
            <a:off x="3287954" y="3694176"/>
            <a:ext cx="2739314" cy="1143000"/>
          </a:xfrm>
          <a:prstGeom prst="rect">
            <a:avLst/>
          </a:prstGeom>
          <a:solidFill>
            <a:srgbClr val="F4FAF9"/>
          </a:solidFill>
          <a:ln w="9525">
            <a:solidFill>
              <a:srgbClr val="CFE0DE"/>
            </a:solidFill>
            <a:prstDash val="solid"/>
          </a:ln>
        </p:spPr>
      </p:sp>
      <p:sp>
        <p:nvSpPr>
          <p:cNvPr id="36" name="Shape 34"/>
          <p:cNvSpPr/>
          <p:nvPr/>
        </p:nvSpPr>
        <p:spPr>
          <a:xfrm>
            <a:off x="3287954" y="3694176"/>
            <a:ext cx="73152" cy="1143000"/>
          </a:xfrm>
          <a:prstGeom prst="rect">
            <a:avLst/>
          </a:prstGeom>
          <a:solidFill>
            <a:srgbClr val="0D7877"/>
          </a:solidFill>
          <a:ln w="12700">
            <a:solidFill>
              <a:srgbClr val="0D7877"/>
            </a:solidFill>
            <a:prstDash val="solid"/>
          </a:ln>
        </p:spPr>
      </p:sp>
      <p:sp>
        <p:nvSpPr>
          <p:cNvPr id="37" name="Text 35"/>
          <p:cNvSpPr/>
          <p:nvPr/>
        </p:nvSpPr>
        <p:spPr>
          <a:xfrm>
            <a:off x="3452546"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Ovulation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Release of an egg from the ovary, about day 14.</a:t>
            </a:r>
            <a:endParaRPr lang="en-US" sz="1200" dirty="0"/>
          </a:p>
        </p:txBody>
      </p:sp>
      <p:sp>
        <p:nvSpPr>
          <p:cNvPr id="38" name="Shape 36"/>
          <p:cNvSpPr/>
          <p:nvPr/>
        </p:nvSpPr>
        <p:spPr>
          <a:xfrm>
            <a:off x="6164428" y="3694176"/>
            <a:ext cx="2739314" cy="1143000"/>
          </a:xfrm>
          <a:prstGeom prst="rect">
            <a:avLst/>
          </a:prstGeom>
          <a:solidFill>
            <a:srgbClr val="F4FAF9"/>
          </a:solidFill>
          <a:ln w="9525">
            <a:solidFill>
              <a:srgbClr val="CFE0DE"/>
            </a:solidFill>
            <a:prstDash val="solid"/>
          </a:ln>
        </p:spPr>
      </p:sp>
      <p:sp>
        <p:nvSpPr>
          <p:cNvPr id="39" name="Shape 37"/>
          <p:cNvSpPr/>
          <p:nvPr/>
        </p:nvSpPr>
        <p:spPr>
          <a:xfrm>
            <a:off x="6164428" y="3694176"/>
            <a:ext cx="73152" cy="1143000"/>
          </a:xfrm>
          <a:prstGeom prst="rect">
            <a:avLst/>
          </a:prstGeom>
          <a:solidFill>
            <a:srgbClr val="0D7877"/>
          </a:solidFill>
          <a:ln w="12700">
            <a:solidFill>
              <a:srgbClr val="0D7877"/>
            </a:solidFill>
            <a:prstDash val="solid"/>
          </a:ln>
        </p:spPr>
      </p:sp>
      <p:sp>
        <p:nvSpPr>
          <p:cNvPr id="40" name="Text 38"/>
          <p:cNvSpPr/>
          <p:nvPr/>
        </p:nvSpPr>
        <p:spPr>
          <a:xfrm>
            <a:off x="6329020"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Follicle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Fluid-filled sac in the ovary in which an egg matures.</a:t>
            </a:r>
            <a:endParaRPr lang="en-US" sz="1200" dirty="0"/>
          </a:p>
        </p:txBody>
      </p:sp>
      <p:sp>
        <p:nvSpPr>
          <p:cNvPr id="41" name="Shape 39"/>
          <p:cNvSpPr/>
          <p:nvPr/>
        </p:nvSpPr>
        <p:spPr>
          <a:xfrm>
            <a:off x="9040901" y="3694176"/>
            <a:ext cx="2739314" cy="1143000"/>
          </a:xfrm>
          <a:prstGeom prst="rect">
            <a:avLst/>
          </a:prstGeom>
          <a:solidFill>
            <a:srgbClr val="F4FAF9"/>
          </a:solidFill>
          <a:ln w="9525">
            <a:solidFill>
              <a:srgbClr val="CFE0DE"/>
            </a:solidFill>
            <a:prstDash val="solid"/>
          </a:ln>
        </p:spPr>
      </p:sp>
      <p:sp>
        <p:nvSpPr>
          <p:cNvPr id="42" name="Shape 40"/>
          <p:cNvSpPr/>
          <p:nvPr/>
        </p:nvSpPr>
        <p:spPr>
          <a:xfrm>
            <a:off x="9040901" y="3694176"/>
            <a:ext cx="73152" cy="1143000"/>
          </a:xfrm>
          <a:prstGeom prst="rect">
            <a:avLst/>
          </a:prstGeom>
          <a:solidFill>
            <a:srgbClr val="0D7877"/>
          </a:solidFill>
          <a:ln w="12700">
            <a:solidFill>
              <a:srgbClr val="0D7877"/>
            </a:solidFill>
            <a:prstDash val="solid"/>
          </a:ln>
        </p:spPr>
      </p:sp>
      <p:sp>
        <p:nvSpPr>
          <p:cNvPr id="43" name="Text 41"/>
          <p:cNvSpPr/>
          <p:nvPr/>
        </p:nvSpPr>
        <p:spPr>
          <a:xfrm>
            <a:off x="9205493"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Contraception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Methods used to prevent pregnancy.</a:t>
            </a:r>
            <a:endParaRPr lang="en-US" sz="1200" dirty="0"/>
          </a:p>
        </p:txBody>
      </p:sp>
      <p:sp>
        <p:nvSpPr>
          <p:cNvPr id="44" name="Shape 42"/>
          <p:cNvSpPr/>
          <p:nvPr/>
        </p:nvSpPr>
        <p:spPr>
          <a:xfrm>
            <a:off x="411480" y="4946904"/>
            <a:ext cx="2739314" cy="1143000"/>
          </a:xfrm>
          <a:prstGeom prst="rect">
            <a:avLst/>
          </a:prstGeom>
          <a:solidFill>
            <a:srgbClr val="F4FAF9"/>
          </a:solidFill>
          <a:ln w="9525">
            <a:solidFill>
              <a:srgbClr val="CFE0DE"/>
            </a:solidFill>
            <a:prstDash val="solid"/>
          </a:ln>
        </p:spPr>
      </p:sp>
      <p:sp>
        <p:nvSpPr>
          <p:cNvPr id="45" name="Shape 43"/>
          <p:cNvSpPr/>
          <p:nvPr/>
        </p:nvSpPr>
        <p:spPr>
          <a:xfrm>
            <a:off x="411480" y="4946904"/>
            <a:ext cx="73152" cy="1143000"/>
          </a:xfrm>
          <a:prstGeom prst="rect">
            <a:avLst/>
          </a:prstGeom>
          <a:solidFill>
            <a:srgbClr val="0D7877"/>
          </a:solidFill>
          <a:ln w="12700">
            <a:solidFill>
              <a:srgbClr val="0D7877"/>
            </a:solidFill>
            <a:prstDash val="solid"/>
          </a:ln>
        </p:spPr>
      </p:sp>
      <p:sp>
        <p:nvSpPr>
          <p:cNvPr id="46" name="Text 44"/>
          <p:cNvSpPr/>
          <p:nvPr/>
        </p:nvSpPr>
        <p:spPr>
          <a:xfrm>
            <a:off x="576072"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Barrier method</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Contraception that stops sperm reaching the egg, e.g. condom, diaphragm.</a:t>
            </a:r>
            <a:endParaRPr lang="en-US" sz="1200" dirty="0"/>
          </a:p>
        </p:txBody>
      </p:sp>
      <p:sp>
        <p:nvSpPr>
          <p:cNvPr id="47" name="Shape 45"/>
          <p:cNvSpPr/>
          <p:nvPr/>
        </p:nvSpPr>
        <p:spPr>
          <a:xfrm>
            <a:off x="3287954" y="4946904"/>
            <a:ext cx="2739314" cy="1143000"/>
          </a:xfrm>
          <a:prstGeom prst="rect">
            <a:avLst/>
          </a:prstGeom>
          <a:solidFill>
            <a:srgbClr val="F4FAF9"/>
          </a:solidFill>
          <a:ln w="9525">
            <a:solidFill>
              <a:srgbClr val="CFE0DE"/>
            </a:solidFill>
            <a:prstDash val="solid"/>
          </a:ln>
        </p:spPr>
      </p:sp>
      <p:sp>
        <p:nvSpPr>
          <p:cNvPr id="48" name="Shape 46"/>
          <p:cNvSpPr/>
          <p:nvPr/>
        </p:nvSpPr>
        <p:spPr>
          <a:xfrm>
            <a:off x="3287954" y="4946904"/>
            <a:ext cx="73152" cy="1143000"/>
          </a:xfrm>
          <a:prstGeom prst="rect">
            <a:avLst/>
          </a:prstGeom>
          <a:solidFill>
            <a:srgbClr val="0D7877"/>
          </a:solidFill>
          <a:ln w="12700">
            <a:solidFill>
              <a:srgbClr val="0D7877"/>
            </a:solidFill>
            <a:prstDash val="solid"/>
          </a:ln>
        </p:spPr>
      </p:sp>
      <p:sp>
        <p:nvSpPr>
          <p:cNvPr id="49" name="Text 47"/>
          <p:cNvSpPr/>
          <p:nvPr/>
        </p:nvSpPr>
        <p:spPr>
          <a:xfrm>
            <a:off x="3452546"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STI</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Sexually transmitted infection; only condoms protect against them.</a:t>
            </a:r>
            <a:endParaRPr lang="en-US" sz="1200" dirty="0"/>
          </a:p>
        </p:txBody>
      </p:sp>
      <p:sp>
        <p:nvSpPr>
          <p:cNvPr id="50" name="Shape 48"/>
          <p:cNvSpPr/>
          <p:nvPr/>
        </p:nvSpPr>
        <p:spPr>
          <a:xfrm>
            <a:off x="6164428" y="4946904"/>
            <a:ext cx="2739314" cy="1143000"/>
          </a:xfrm>
          <a:prstGeom prst="rect">
            <a:avLst/>
          </a:prstGeom>
          <a:solidFill>
            <a:srgbClr val="F4FAF9"/>
          </a:solidFill>
          <a:ln w="9525">
            <a:solidFill>
              <a:srgbClr val="CFE0DE"/>
            </a:solidFill>
            <a:prstDash val="solid"/>
          </a:ln>
        </p:spPr>
      </p:sp>
      <p:sp>
        <p:nvSpPr>
          <p:cNvPr id="51" name="Shape 49"/>
          <p:cNvSpPr/>
          <p:nvPr/>
        </p:nvSpPr>
        <p:spPr>
          <a:xfrm>
            <a:off x="6164428" y="4946904"/>
            <a:ext cx="73152" cy="1143000"/>
          </a:xfrm>
          <a:prstGeom prst="rect">
            <a:avLst/>
          </a:prstGeom>
          <a:solidFill>
            <a:srgbClr val="0D7877"/>
          </a:solidFill>
          <a:ln w="12700">
            <a:solidFill>
              <a:srgbClr val="0D7877"/>
            </a:solidFill>
            <a:prstDash val="solid"/>
          </a:ln>
        </p:spPr>
      </p:sp>
      <p:sp>
        <p:nvSpPr>
          <p:cNvPr id="52" name="Text 50"/>
          <p:cNvSpPr/>
          <p:nvPr/>
        </p:nvSpPr>
        <p:spPr>
          <a:xfrm>
            <a:off x="6329020"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Infertility</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Being unable to become pregnant after trying for a long time (about a year).</a:t>
            </a:r>
            <a:endParaRPr lang="en-US" sz="1200" dirty="0"/>
          </a:p>
        </p:txBody>
      </p:sp>
      <p:sp>
        <p:nvSpPr>
          <p:cNvPr id="53" name="Shape 51"/>
          <p:cNvSpPr/>
          <p:nvPr/>
        </p:nvSpPr>
        <p:spPr>
          <a:xfrm>
            <a:off x="9040901" y="4946904"/>
            <a:ext cx="2739314" cy="1143000"/>
          </a:xfrm>
          <a:prstGeom prst="rect">
            <a:avLst/>
          </a:prstGeom>
          <a:solidFill>
            <a:srgbClr val="F4FAF9"/>
          </a:solidFill>
          <a:ln w="9525">
            <a:solidFill>
              <a:srgbClr val="CFE0DE"/>
            </a:solidFill>
            <a:prstDash val="solid"/>
          </a:ln>
        </p:spPr>
      </p:sp>
      <p:sp>
        <p:nvSpPr>
          <p:cNvPr id="54" name="Shape 52"/>
          <p:cNvSpPr/>
          <p:nvPr/>
        </p:nvSpPr>
        <p:spPr>
          <a:xfrm>
            <a:off x="9040901" y="4946904"/>
            <a:ext cx="73152" cy="1143000"/>
          </a:xfrm>
          <a:prstGeom prst="rect">
            <a:avLst/>
          </a:prstGeom>
          <a:solidFill>
            <a:srgbClr val="0D7877"/>
          </a:solidFill>
          <a:ln w="12700">
            <a:solidFill>
              <a:srgbClr val="0D7877"/>
            </a:solidFill>
            <a:prstDash val="solid"/>
          </a:ln>
        </p:spPr>
      </p:sp>
      <p:sp>
        <p:nvSpPr>
          <p:cNvPr id="55" name="Text 53"/>
          <p:cNvSpPr/>
          <p:nvPr/>
        </p:nvSpPr>
        <p:spPr>
          <a:xfrm>
            <a:off x="9205493"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IVF</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In vitro fertilisation: eggs fertilised by sperm outside the body; embryo put in the uterus.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Full exam question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B5.5.1–B5.5.4 • answer every part • 13 marks • (e) and (f) are Higher tier</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B5.5 What role do hormones play in human reproduction?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Full question  |  20</a:t>
            </a:r>
            <a:endParaRPr lang="en-US" sz="1000" dirty="0"/>
          </a:p>
        </p:txBody>
      </p:sp>
      <p:sp>
        <p:nvSpPr>
          <p:cNvPr id="8" name="Text 6"/>
          <p:cNvSpPr/>
          <p:nvPr/>
        </p:nvSpPr>
        <p:spPr>
          <a:xfrm>
            <a:off x="411480" y="1143000"/>
            <a:ext cx="11368735" cy="502920"/>
          </a:xfrm>
          <a:prstGeom prst="rect">
            <a:avLst/>
          </a:prstGeom>
          <a:noFill/>
          <a:ln/>
        </p:spPr>
        <p:txBody>
          <a:bodyPr wrap="square" lIns="0" tIns="0" rIns="0" bIns="0" rtlCol="0" anchor="ctr"/>
          <a:lstStyle/>
          <a:p>
            <a:pPr indent="0" marL="0">
              <a:buNone/>
            </a:pPr>
            <a:r>
              <a:rPr lang="en-US" sz="1200" i="1" dirty="0">
                <a:solidFill>
                  <a:srgbClr val="262B3A"/>
                </a:solidFill>
                <a:latin typeface="Calibri" pitchFamily="34" charset="0"/>
                <a:ea typeface="Calibri" pitchFamily="34" charset="-122"/>
                <a:cs typeface="Calibri" pitchFamily="34" charset="-120"/>
              </a:rPr>
              <a:t>Hormones control the menstrual cycle and can be used to control fertility.</a:t>
            </a:r>
            <a:endParaRPr lang="en-US" sz="1200" dirty="0"/>
          </a:p>
        </p:txBody>
      </p:sp>
      <p:sp>
        <p:nvSpPr>
          <p:cNvPr id="9" name="Shape 7"/>
          <p:cNvSpPr/>
          <p:nvPr/>
        </p:nvSpPr>
        <p:spPr>
          <a:xfrm>
            <a:off x="411480" y="1719072"/>
            <a:ext cx="5570068" cy="1441704"/>
          </a:xfrm>
          <a:prstGeom prst="roundRect">
            <a:avLst>
              <a:gd name="adj" fmla="val 3171"/>
            </a:avLst>
          </a:prstGeom>
          <a:solidFill>
            <a:srgbClr val="F4FAF9"/>
          </a:solidFill>
          <a:ln w="9525">
            <a:solidFill>
              <a:srgbClr val="CFE0DE"/>
            </a:solidFill>
            <a:prstDash val="solid"/>
          </a:ln>
        </p:spPr>
      </p:sp>
      <p:sp>
        <p:nvSpPr>
          <p:cNvPr id="10" name="Text 8"/>
          <p:cNvSpPr/>
          <p:nvPr/>
        </p:nvSpPr>
        <p:spPr>
          <a:xfrm>
            <a:off x="548640" y="1792224"/>
            <a:ext cx="5295748" cy="1075944"/>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(a)  </a:t>
            </a:r>
            <a:r>
              <a:rPr lang="en-US" sz="1200" dirty="0">
                <a:solidFill>
                  <a:srgbClr val="262B3A"/>
                </a:solidFill>
                <a:latin typeface="Calibri" pitchFamily="34" charset="0"/>
                <a:ea typeface="Calibri" pitchFamily="34" charset="-122"/>
                <a:cs typeface="Calibri" pitchFamily="34" charset="-120"/>
              </a:rPr>
              <a:t>Name the gland that makes:</a:t>
            </a:r>
            <a:endParaRPr lang="en-US" sz="1200" dirty="0"/>
          </a:p>
          <a:p>
            <a:pPr indent="0" marL="0">
              <a:buNone/>
            </a:pPr>
            <a:r>
              <a:rPr lang="en-US" sz="1200" dirty="0">
                <a:solidFill>
                  <a:srgbClr val="262B3A"/>
                </a:solidFill>
                <a:latin typeface="Calibri" pitchFamily="34" charset="0"/>
                <a:ea typeface="Calibri" pitchFamily="34" charset="-122"/>
                <a:cs typeface="Calibri" pitchFamily="34" charset="-120"/>
              </a:rPr>
              <a:t>(i) FSH  (ii) oestrogen</a:t>
            </a:r>
            <a:endParaRPr lang="en-US" sz="1200" dirty="0"/>
          </a:p>
        </p:txBody>
      </p:sp>
      <p:sp>
        <p:nvSpPr>
          <p:cNvPr id="11" name="Text 9"/>
          <p:cNvSpPr/>
          <p:nvPr/>
        </p:nvSpPr>
        <p:spPr>
          <a:xfrm>
            <a:off x="4518508" y="2849880"/>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2" name="Shape 10"/>
          <p:cNvSpPr/>
          <p:nvPr/>
        </p:nvSpPr>
        <p:spPr>
          <a:xfrm>
            <a:off x="411480" y="3270504"/>
            <a:ext cx="5570068" cy="1441704"/>
          </a:xfrm>
          <a:prstGeom prst="roundRect">
            <a:avLst>
              <a:gd name="adj" fmla="val 3171"/>
            </a:avLst>
          </a:prstGeom>
          <a:solidFill>
            <a:srgbClr val="FFFFFF"/>
          </a:solidFill>
          <a:ln w="9525">
            <a:solidFill>
              <a:srgbClr val="CFE0DE"/>
            </a:solidFill>
            <a:prstDash val="solid"/>
          </a:ln>
        </p:spPr>
      </p:sp>
      <p:sp>
        <p:nvSpPr>
          <p:cNvPr id="13" name="Text 11"/>
          <p:cNvSpPr/>
          <p:nvPr/>
        </p:nvSpPr>
        <p:spPr>
          <a:xfrm>
            <a:off x="548640" y="3343656"/>
            <a:ext cx="5295748" cy="1075944"/>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(b)  </a:t>
            </a:r>
            <a:r>
              <a:rPr lang="en-US" sz="1200" dirty="0">
                <a:solidFill>
                  <a:srgbClr val="262B3A"/>
                </a:solidFill>
                <a:latin typeface="Calibri" pitchFamily="34" charset="0"/>
                <a:ea typeface="Calibri" pitchFamily="34" charset="-122"/>
                <a:cs typeface="Calibri" pitchFamily="34" charset="-120"/>
              </a:rPr>
              <a:t>Describe the role of </a:t>
            </a:r>
            <a:r>
              <a:rPr lang="en-US" sz="1200" b="1" dirty="0">
                <a:solidFill>
                  <a:srgbClr val="262B3A"/>
                </a:solidFill>
                <a:latin typeface="Calibri" pitchFamily="34" charset="0"/>
                <a:ea typeface="Calibri" pitchFamily="34" charset="-122"/>
                <a:cs typeface="Calibri" pitchFamily="34" charset="-120"/>
              </a:rPr>
              <a:t>oestrogen</a:t>
            </a:r>
            <a:r>
              <a:rPr lang="en-US" sz="1200" dirty="0">
                <a:solidFill>
                  <a:srgbClr val="262B3A"/>
                </a:solidFill>
                <a:latin typeface="Calibri" pitchFamily="34" charset="0"/>
                <a:ea typeface="Calibri" pitchFamily="34" charset="-122"/>
                <a:cs typeface="Calibri" pitchFamily="34" charset="-120"/>
              </a:rPr>
              <a:t> and of </a:t>
            </a:r>
            <a:r>
              <a:rPr lang="en-US" sz="1200" b="1" dirty="0">
                <a:solidFill>
                  <a:srgbClr val="262B3A"/>
                </a:solidFill>
                <a:latin typeface="Calibri" pitchFamily="34" charset="0"/>
                <a:ea typeface="Calibri" pitchFamily="34" charset="-122"/>
                <a:cs typeface="Calibri" pitchFamily="34" charset="-120"/>
              </a:rPr>
              <a:t>LH</a:t>
            </a:r>
            <a:r>
              <a:rPr lang="en-US" sz="1200" dirty="0">
                <a:solidFill>
                  <a:srgbClr val="262B3A"/>
                </a:solidFill>
                <a:latin typeface="Calibri" pitchFamily="34" charset="0"/>
                <a:ea typeface="Calibri" pitchFamily="34" charset="-122"/>
                <a:cs typeface="Calibri" pitchFamily="34" charset="-120"/>
              </a:rPr>
              <a:t> in the menstrual cycle.</a:t>
            </a:r>
            <a:endParaRPr lang="en-US" sz="1200" dirty="0"/>
          </a:p>
        </p:txBody>
      </p:sp>
      <p:sp>
        <p:nvSpPr>
          <p:cNvPr id="14" name="Text 12"/>
          <p:cNvSpPr/>
          <p:nvPr/>
        </p:nvSpPr>
        <p:spPr>
          <a:xfrm>
            <a:off x="4518508" y="4401312"/>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4821936"/>
            <a:ext cx="5570068" cy="1441704"/>
          </a:xfrm>
          <a:prstGeom prst="roundRect">
            <a:avLst>
              <a:gd name="adj" fmla="val 3171"/>
            </a:avLst>
          </a:prstGeom>
          <a:solidFill>
            <a:srgbClr val="F4FAF9"/>
          </a:solidFill>
          <a:ln w="9525">
            <a:solidFill>
              <a:srgbClr val="CFE0DE"/>
            </a:solidFill>
            <a:prstDash val="solid"/>
          </a:ln>
        </p:spPr>
      </p:sp>
      <p:sp>
        <p:nvSpPr>
          <p:cNvPr id="16" name="Text 14"/>
          <p:cNvSpPr/>
          <p:nvPr/>
        </p:nvSpPr>
        <p:spPr>
          <a:xfrm>
            <a:off x="548640" y="4895088"/>
            <a:ext cx="5295748" cy="1075944"/>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(c)  </a:t>
            </a:r>
            <a:r>
              <a:rPr lang="en-US" sz="1200" dirty="0">
                <a:solidFill>
                  <a:srgbClr val="262B3A"/>
                </a:solidFill>
                <a:latin typeface="Calibri" pitchFamily="34" charset="0"/>
                <a:ea typeface="Calibri" pitchFamily="34" charset="-122"/>
                <a:cs typeface="Calibri" pitchFamily="34" charset="-120"/>
              </a:rPr>
              <a:t>A woman has a 28-day cycle. On which day does she usually </a:t>
            </a:r>
            <a:r>
              <a:rPr lang="en-US" sz="1200" b="1" dirty="0">
                <a:solidFill>
                  <a:srgbClr val="262B3A"/>
                </a:solidFill>
                <a:latin typeface="Calibri" pitchFamily="34" charset="0"/>
                <a:ea typeface="Calibri" pitchFamily="34" charset="-122"/>
                <a:cs typeface="Calibri" pitchFamily="34" charset="-120"/>
              </a:rPr>
              <a:t>ovulate</a:t>
            </a:r>
            <a:r>
              <a:rPr lang="en-US" sz="1200" dirty="0">
                <a:solidFill>
                  <a:srgbClr val="262B3A"/>
                </a:solidFill>
                <a:latin typeface="Calibri" pitchFamily="34" charset="0"/>
                <a:ea typeface="Calibri" pitchFamily="34" charset="-122"/>
                <a:cs typeface="Calibri" pitchFamily="34" charset="-120"/>
              </a:rPr>
              <a:t>, and what happens to the </a:t>
            </a:r>
            <a:r>
              <a:rPr lang="en-US" sz="1200" b="1" dirty="0">
                <a:solidFill>
                  <a:srgbClr val="262B3A"/>
                </a:solidFill>
                <a:latin typeface="Calibri" pitchFamily="34" charset="0"/>
                <a:ea typeface="Calibri" pitchFamily="34" charset="-122"/>
                <a:cs typeface="Calibri" pitchFamily="34" charset="-120"/>
              </a:rPr>
              <a:t>uterus lining</a:t>
            </a:r>
            <a:r>
              <a:rPr lang="en-US" sz="1200" dirty="0">
                <a:solidFill>
                  <a:srgbClr val="262B3A"/>
                </a:solidFill>
                <a:latin typeface="Calibri" pitchFamily="34" charset="0"/>
                <a:ea typeface="Calibri" pitchFamily="34" charset="-122"/>
                <a:cs typeface="Calibri" pitchFamily="34" charset="-120"/>
              </a:rPr>
              <a:t> during days 0–5?</a:t>
            </a:r>
            <a:endParaRPr lang="en-US" sz="1200" dirty="0"/>
          </a:p>
        </p:txBody>
      </p:sp>
      <p:sp>
        <p:nvSpPr>
          <p:cNvPr id="17" name="Text 15"/>
          <p:cNvSpPr/>
          <p:nvPr/>
        </p:nvSpPr>
        <p:spPr>
          <a:xfrm>
            <a:off x="4518508"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6210148" y="1719072"/>
            <a:ext cx="5570068" cy="1742956"/>
          </a:xfrm>
          <a:prstGeom prst="roundRect">
            <a:avLst>
              <a:gd name="adj" fmla="val 2623"/>
            </a:avLst>
          </a:prstGeom>
          <a:solidFill>
            <a:srgbClr val="F4FAF9"/>
          </a:solidFill>
          <a:ln w="9525">
            <a:solidFill>
              <a:srgbClr val="CFE0DE"/>
            </a:solidFill>
            <a:prstDash val="solid"/>
          </a:ln>
        </p:spPr>
      </p:sp>
      <p:sp>
        <p:nvSpPr>
          <p:cNvPr id="19" name="Text 17"/>
          <p:cNvSpPr/>
          <p:nvPr/>
        </p:nvSpPr>
        <p:spPr>
          <a:xfrm>
            <a:off x="6347308" y="1792224"/>
            <a:ext cx="5295748" cy="1377196"/>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(d)  </a:t>
            </a:r>
            <a:r>
              <a:rPr lang="en-US" sz="1200" dirty="0">
                <a:solidFill>
                  <a:srgbClr val="262B3A"/>
                </a:solidFill>
                <a:latin typeface="Calibri" pitchFamily="34" charset="0"/>
                <a:ea typeface="Calibri" pitchFamily="34" charset="-122"/>
                <a:cs typeface="Calibri" pitchFamily="34" charset="-120"/>
              </a:rPr>
              <a:t>400 women use the pill (7 in 100 fail a year) and 400 use condoms (13 in 100). Calculate how many </a:t>
            </a:r>
            <a:r>
              <a:rPr lang="en-US" sz="1200" b="1" dirty="0">
                <a:solidFill>
                  <a:srgbClr val="262B3A"/>
                </a:solidFill>
                <a:latin typeface="Calibri" pitchFamily="34" charset="0"/>
                <a:ea typeface="Calibri" pitchFamily="34" charset="-122"/>
                <a:cs typeface="Calibri" pitchFamily="34" charset="-120"/>
              </a:rPr>
              <a:t>more</a:t>
            </a:r>
            <a:r>
              <a:rPr lang="en-US" sz="1200" dirty="0">
                <a:solidFill>
                  <a:srgbClr val="262B3A"/>
                </a:solidFill>
                <a:latin typeface="Calibri" pitchFamily="34" charset="0"/>
                <a:ea typeface="Calibri" pitchFamily="34" charset="-122"/>
                <a:cs typeface="Calibri" pitchFamily="34" charset="-120"/>
              </a:rPr>
              <a:t> pregnancies occur with condoms. Give </a:t>
            </a:r>
            <a:r>
              <a:rPr lang="en-US" sz="1200" b="1" dirty="0">
                <a:solidFill>
                  <a:srgbClr val="262B3A"/>
                </a:solidFill>
                <a:latin typeface="Calibri" pitchFamily="34" charset="0"/>
                <a:ea typeface="Calibri" pitchFamily="34" charset="-122"/>
                <a:cs typeface="Calibri" pitchFamily="34" charset="-120"/>
              </a:rPr>
              <a:t>one</a:t>
            </a:r>
            <a:r>
              <a:rPr lang="en-US" sz="1200" dirty="0">
                <a:solidFill>
                  <a:srgbClr val="262B3A"/>
                </a:solidFill>
                <a:latin typeface="Calibri" pitchFamily="34" charset="0"/>
                <a:ea typeface="Calibri" pitchFamily="34" charset="-122"/>
                <a:cs typeface="Calibri" pitchFamily="34" charset="-120"/>
              </a:rPr>
              <a:t> reason a couple might still choose condoms.</a:t>
            </a:r>
            <a:endParaRPr lang="en-US" sz="1200" dirty="0"/>
          </a:p>
        </p:txBody>
      </p:sp>
      <p:sp>
        <p:nvSpPr>
          <p:cNvPr id="20" name="Text 18"/>
          <p:cNvSpPr/>
          <p:nvPr/>
        </p:nvSpPr>
        <p:spPr>
          <a:xfrm>
            <a:off x="10317175" y="3151132"/>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1" name="Shape 19"/>
          <p:cNvSpPr/>
          <p:nvPr/>
        </p:nvSpPr>
        <p:spPr>
          <a:xfrm>
            <a:off x="6210148" y="3571756"/>
            <a:ext cx="5570068" cy="1291078"/>
          </a:xfrm>
          <a:prstGeom prst="roundRect">
            <a:avLst>
              <a:gd name="adj" fmla="val 3541"/>
            </a:avLst>
          </a:prstGeom>
          <a:solidFill>
            <a:srgbClr val="FFFFFF"/>
          </a:solidFill>
          <a:ln w="9525">
            <a:solidFill>
              <a:srgbClr val="CFE0DE"/>
            </a:solidFill>
            <a:prstDash val="solid"/>
          </a:ln>
        </p:spPr>
      </p:sp>
      <p:sp>
        <p:nvSpPr>
          <p:cNvPr id="22" name="Text 20"/>
          <p:cNvSpPr/>
          <p:nvPr/>
        </p:nvSpPr>
        <p:spPr>
          <a:xfrm>
            <a:off x="6347308" y="3644908"/>
            <a:ext cx="4792828" cy="925318"/>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(e)  </a:t>
            </a:r>
            <a:r>
              <a:rPr lang="en-US" sz="1200" dirty="0">
                <a:solidFill>
                  <a:srgbClr val="262B3A"/>
                </a:solidFill>
                <a:latin typeface="Calibri" pitchFamily="34" charset="0"/>
                <a:ea typeface="Calibri" pitchFamily="34" charset="-122"/>
                <a:cs typeface="Calibri" pitchFamily="34" charset="-120"/>
              </a:rPr>
              <a:t>Explain how </a:t>
            </a:r>
            <a:r>
              <a:rPr lang="en-US" sz="1200" b="1" dirty="0">
                <a:solidFill>
                  <a:srgbClr val="262B3A"/>
                </a:solidFill>
                <a:latin typeface="Calibri" pitchFamily="34" charset="0"/>
                <a:ea typeface="Calibri" pitchFamily="34" charset="-122"/>
                <a:cs typeface="Calibri" pitchFamily="34" charset="-120"/>
              </a:rPr>
              <a:t>progesterone</a:t>
            </a:r>
            <a:r>
              <a:rPr lang="en-US" sz="1200" dirty="0">
                <a:solidFill>
                  <a:srgbClr val="262B3A"/>
                </a:solidFill>
                <a:latin typeface="Calibri" pitchFamily="34" charset="0"/>
                <a:ea typeface="Calibri" pitchFamily="34" charset="-122"/>
                <a:cs typeface="Calibri" pitchFamily="34" charset="-120"/>
              </a:rPr>
              <a:t> controls the release of other hormones in the second half of the cycle.</a:t>
            </a:r>
            <a:endParaRPr lang="en-US" sz="1200" dirty="0"/>
          </a:p>
        </p:txBody>
      </p:sp>
      <p:sp>
        <p:nvSpPr>
          <p:cNvPr id="23" name="Shape 21"/>
          <p:cNvSpPr/>
          <p:nvPr/>
        </p:nvSpPr>
        <p:spPr>
          <a:xfrm>
            <a:off x="11231575" y="3644908"/>
            <a:ext cx="411480" cy="274320"/>
          </a:xfrm>
          <a:prstGeom prst="roundRect">
            <a:avLst>
              <a:gd name="adj" fmla="val 50000"/>
            </a:avLst>
          </a:prstGeom>
          <a:solidFill>
            <a:srgbClr val="C8414C"/>
          </a:solidFill>
          <a:ln w="12700">
            <a:solidFill>
              <a:srgbClr val="C8414C"/>
            </a:solidFill>
            <a:prstDash val="solid"/>
          </a:ln>
        </p:spPr>
      </p:sp>
      <p:sp>
        <p:nvSpPr>
          <p:cNvPr id="24" name="Text 22"/>
          <p:cNvSpPr/>
          <p:nvPr/>
        </p:nvSpPr>
        <p:spPr>
          <a:xfrm>
            <a:off x="11231575" y="3644908"/>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5" name="Text 23"/>
          <p:cNvSpPr/>
          <p:nvPr/>
        </p:nvSpPr>
        <p:spPr>
          <a:xfrm>
            <a:off x="10317175" y="4551938"/>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6" name="Shape 24"/>
          <p:cNvSpPr/>
          <p:nvPr/>
        </p:nvSpPr>
        <p:spPr>
          <a:xfrm>
            <a:off x="6210148" y="4972562"/>
            <a:ext cx="5570068" cy="1291078"/>
          </a:xfrm>
          <a:prstGeom prst="roundRect">
            <a:avLst>
              <a:gd name="adj" fmla="val 3541"/>
            </a:avLst>
          </a:prstGeom>
          <a:solidFill>
            <a:srgbClr val="F4FAF9"/>
          </a:solidFill>
          <a:ln w="9525">
            <a:solidFill>
              <a:srgbClr val="CFE0DE"/>
            </a:solidFill>
            <a:prstDash val="solid"/>
          </a:ln>
        </p:spPr>
      </p:sp>
      <p:sp>
        <p:nvSpPr>
          <p:cNvPr id="27" name="Text 25"/>
          <p:cNvSpPr/>
          <p:nvPr/>
        </p:nvSpPr>
        <p:spPr>
          <a:xfrm>
            <a:off x="6347308" y="5045714"/>
            <a:ext cx="4792828" cy="925318"/>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(f)  </a:t>
            </a:r>
            <a:r>
              <a:rPr lang="en-US" sz="1200" dirty="0">
                <a:solidFill>
                  <a:srgbClr val="262B3A"/>
                </a:solidFill>
                <a:latin typeface="Calibri" pitchFamily="34" charset="0"/>
                <a:ea typeface="Calibri" pitchFamily="34" charset="-122"/>
                <a:cs typeface="Calibri" pitchFamily="34" charset="-120"/>
              </a:rPr>
              <a:t>Explain why women having </a:t>
            </a:r>
            <a:r>
              <a:rPr lang="en-US" sz="1200" b="1" dirty="0">
                <a:solidFill>
                  <a:srgbClr val="262B3A"/>
                </a:solidFill>
                <a:latin typeface="Calibri" pitchFamily="34" charset="0"/>
                <a:ea typeface="Calibri" pitchFamily="34" charset="-122"/>
                <a:cs typeface="Calibri" pitchFamily="34" charset="-120"/>
              </a:rPr>
              <a:t>IVF</a:t>
            </a:r>
            <a:r>
              <a:rPr lang="en-US" sz="1200" dirty="0">
                <a:solidFill>
                  <a:srgbClr val="262B3A"/>
                </a:solidFill>
                <a:latin typeface="Calibri" pitchFamily="34" charset="0"/>
                <a:ea typeface="Calibri" pitchFamily="34" charset="-122"/>
                <a:cs typeface="Calibri" pitchFamily="34" charset="-120"/>
              </a:rPr>
              <a:t> are given </a:t>
            </a:r>
            <a:r>
              <a:rPr lang="en-US" sz="1200" b="1" dirty="0">
                <a:solidFill>
                  <a:srgbClr val="262B3A"/>
                </a:solidFill>
                <a:latin typeface="Calibri" pitchFamily="34" charset="0"/>
                <a:ea typeface="Calibri" pitchFamily="34" charset="-122"/>
                <a:cs typeface="Calibri" pitchFamily="34" charset="-120"/>
              </a:rPr>
              <a:t>FSH</a:t>
            </a:r>
            <a:r>
              <a:rPr lang="en-US" sz="1200" dirty="0">
                <a:solidFill>
                  <a:srgbClr val="262B3A"/>
                </a:solidFill>
                <a:latin typeface="Calibri" pitchFamily="34" charset="0"/>
                <a:ea typeface="Calibri" pitchFamily="34" charset="-122"/>
                <a:cs typeface="Calibri" pitchFamily="34" charset="-120"/>
              </a:rPr>
              <a:t> injections.</a:t>
            </a:r>
            <a:endParaRPr lang="en-US" sz="1200" dirty="0"/>
          </a:p>
        </p:txBody>
      </p:sp>
      <p:sp>
        <p:nvSpPr>
          <p:cNvPr id="28" name="Shape 26"/>
          <p:cNvSpPr/>
          <p:nvPr/>
        </p:nvSpPr>
        <p:spPr>
          <a:xfrm>
            <a:off x="11231575" y="5045714"/>
            <a:ext cx="411480" cy="274320"/>
          </a:xfrm>
          <a:prstGeom prst="roundRect">
            <a:avLst>
              <a:gd name="adj" fmla="val 50000"/>
            </a:avLst>
          </a:prstGeom>
          <a:solidFill>
            <a:srgbClr val="C8414C"/>
          </a:solidFill>
          <a:ln w="12700">
            <a:solidFill>
              <a:srgbClr val="C8414C"/>
            </a:solidFill>
            <a:prstDash val="solid"/>
          </a:ln>
        </p:spPr>
      </p:sp>
      <p:sp>
        <p:nvSpPr>
          <p:cNvPr id="29" name="Text 27"/>
          <p:cNvSpPr/>
          <p:nvPr/>
        </p:nvSpPr>
        <p:spPr>
          <a:xfrm>
            <a:off x="11231575" y="5045714"/>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30" name="Text 28"/>
          <p:cNvSpPr/>
          <p:nvPr/>
        </p:nvSpPr>
        <p:spPr>
          <a:xfrm>
            <a:off x="10317175"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31" name="Text 29"/>
          <p:cNvSpPr/>
          <p:nvPr/>
        </p:nvSpPr>
        <p:spPr>
          <a:xfrm>
            <a:off x="9448495" y="6236208"/>
            <a:ext cx="2331720" cy="219456"/>
          </a:xfrm>
          <a:prstGeom prst="rect">
            <a:avLst/>
          </a:prstGeom>
          <a:noFill/>
          <a:ln/>
        </p:spPr>
        <p:txBody>
          <a:bodyPr wrap="square" lIns="0" tIns="0" rIns="0" bIns="0" rtlCol="0" anchor="ctr"/>
          <a:lstStyle/>
          <a:p>
            <a:pPr algn="r" indent="0" marL="0">
              <a:buNone/>
            </a:pPr>
            <a:r>
              <a:rPr lang="en-US" sz="1100" b="1" dirty="0">
                <a:solidFill>
                  <a:srgbClr val="B8730A"/>
                </a:solidFill>
                <a:latin typeface="Calibri" pitchFamily="34" charset="0"/>
                <a:ea typeface="Calibri" pitchFamily="34" charset="-122"/>
                <a:cs typeface="Calibri" pitchFamily="34" charset="-120"/>
              </a:rPr>
              <a:t>Total: 13 marks</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6867"/>
        </a:solidFill>
      </p:bgPr>
    </p:bg>
    <p:spTree>
      <p:nvGrpSpPr>
        <p:cNvPr id="1" name=""/>
        <p:cNvGrpSpPr/>
        <p:nvPr/>
      </p:nvGrpSpPr>
      <p:grpSpPr>
        <a:xfrm>
          <a:off x="0" y="0"/>
          <a:ext cx="0" cy="0"/>
          <a:chOff x="0" y="0"/>
          <a:chExt cx="0" cy="0"/>
        </a:xfrm>
      </p:grpSpPr>
      <p:sp>
        <p:nvSpPr>
          <p:cNvPr id="2" name="Shape 0"/>
          <p:cNvSpPr/>
          <p:nvPr/>
        </p:nvSpPr>
        <p:spPr>
          <a:xfrm>
            <a:off x="8503920" y="-1097280"/>
            <a:ext cx="5029200" cy="5029200"/>
          </a:xfrm>
          <a:prstGeom prst="ellipse">
            <a:avLst/>
          </a:prstGeom>
          <a:solidFill>
            <a:srgbClr val="0E7C7B"/>
          </a:solidFill>
          <a:ln w="12700">
            <a:solidFill>
              <a:srgbClr val="0E7C7B"/>
            </a:solidFill>
            <a:prstDash val="solid"/>
          </a:ln>
        </p:spPr>
      </p:sp>
      <p:sp>
        <p:nvSpPr>
          <p:cNvPr id="3" name="Shape 1"/>
          <p:cNvSpPr/>
          <p:nvPr/>
        </p:nvSpPr>
        <p:spPr>
          <a:xfrm>
            <a:off x="914400" y="2148840"/>
            <a:ext cx="1463040" cy="1463040"/>
          </a:xfrm>
          <a:prstGeom prst="ellipse">
            <a:avLst/>
          </a:prstGeom>
          <a:solidFill>
            <a:srgbClr val="FFFFFF"/>
          </a:solidFill>
          <a:ln w="12700">
            <a:solidFill>
              <a:srgbClr val="FFFFFF"/>
            </a:solidFill>
            <a:prstDash val="solid"/>
          </a:ln>
        </p:spPr>
      </p:sp>
      <p:sp>
        <p:nvSpPr>
          <p:cNvPr id="4" name="Shape 2"/>
          <p:cNvSpPr/>
          <p:nvPr/>
        </p:nvSpPr>
        <p:spPr>
          <a:xfrm rot="-2700000">
            <a:off x="1143000" y="2779776"/>
            <a:ext cx="914400" cy="201168"/>
          </a:xfrm>
          <a:prstGeom prst="rect">
            <a:avLst/>
          </a:prstGeom>
          <a:solidFill>
            <a:srgbClr val="0C6867"/>
          </a:solidFill>
          <a:ln w="12700">
            <a:solidFill>
              <a:srgbClr val="0C6867"/>
            </a:solidFill>
            <a:prstDash val="solid"/>
          </a:ln>
        </p:spPr>
      </p:sp>
      <p:sp>
        <p:nvSpPr>
          <p:cNvPr id="5" name="Shape 3"/>
          <p:cNvSpPr/>
          <p:nvPr/>
        </p:nvSpPr>
        <p:spPr>
          <a:xfrm rot="13500000">
            <a:off x="1161288" y="3044952"/>
            <a:ext cx="201168" cy="219456"/>
          </a:xfrm>
          <a:prstGeom prst="triangle">
            <a:avLst/>
          </a:prstGeom>
          <a:solidFill>
            <a:srgbClr val="F5A742"/>
          </a:solidFill>
          <a:ln w="12700">
            <a:solidFill>
              <a:srgbClr val="F5A742"/>
            </a:solidFill>
            <a:prstDash val="solid"/>
          </a:ln>
        </p:spPr>
      </p:sp>
      <p:sp>
        <p:nvSpPr>
          <p:cNvPr id="6" name="Shape 4"/>
          <p:cNvSpPr/>
          <p:nvPr/>
        </p:nvSpPr>
        <p:spPr>
          <a:xfrm rot="-2700000">
            <a:off x="1947672" y="2377440"/>
            <a:ext cx="182880" cy="201168"/>
          </a:xfrm>
          <a:prstGeom prst="rect">
            <a:avLst/>
          </a:prstGeom>
          <a:solidFill>
            <a:srgbClr val="C8414C"/>
          </a:solidFill>
          <a:ln w="12700">
            <a:solidFill>
              <a:srgbClr val="C8414C"/>
            </a:solidFill>
            <a:prstDash val="solid"/>
          </a:ln>
        </p:spPr>
      </p:sp>
      <p:sp>
        <p:nvSpPr>
          <p:cNvPr id="7" name="Text 5"/>
          <p:cNvSpPr/>
          <p:nvPr/>
        </p:nvSpPr>
        <p:spPr>
          <a:xfrm>
            <a:off x="2743200" y="2103120"/>
            <a:ext cx="6400800" cy="100584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Homework</a:t>
            </a:r>
            <a:endParaRPr lang="en-US" sz="5400" dirty="0"/>
          </a:p>
        </p:txBody>
      </p:sp>
      <p:sp>
        <p:nvSpPr>
          <p:cNvPr id="8" name="Text 6"/>
          <p:cNvSpPr/>
          <p:nvPr/>
        </p:nvSpPr>
        <p:spPr>
          <a:xfrm>
            <a:off x="2743200" y="3108960"/>
            <a:ext cx="7315200" cy="457200"/>
          </a:xfrm>
          <a:prstGeom prst="rect">
            <a:avLst/>
          </a:prstGeom>
          <a:noFill/>
          <a:ln/>
        </p:spPr>
        <p:txBody>
          <a:bodyPr wrap="square" lIns="0" tIns="0" rIns="0" bIns="0" rtlCol="0" anchor="ctr"/>
          <a:lstStyle/>
          <a:p>
            <a:pPr indent="0" marL="0">
              <a:buNone/>
            </a:pPr>
            <a:r>
              <a:rPr lang="en-US" sz="1800" i="1" dirty="0">
                <a:solidFill>
                  <a:srgbClr val="E1F2F0"/>
                </a:solidFill>
                <a:latin typeface="Calibri" pitchFamily="34" charset="0"/>
                <a:ea typeface="Calibri" pitchFamily="34" charset="-122"/>
                <a:cs typeface="Calibri" pitchFamily="34" charset="-120"/>
              </a:rPr>
              <a:t>B5.5 What role do hormones play in human reproduction? • 17 marks • about 30 minutes</a:t>
            </a:r>
            <a:endParaRPr lang="en-US" sz="1800" dirty="0"/>
          </a:p>
        </p:txBody>
      </p:sp>
      <p:sp>
        <p:nvSpPr>
          <p:cNvPr id="9" name="Text 7"/>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CFE7E5"/>
                </a:solidFill>
                <a:latin typeface="Calibri" pitchFamily="34" charset="0"/>
                <a:ea typeface="Calibri" pitchFamily="34" charset="-122"/>
                <a:cs typeface="Calibri" pitchFamily="34" charset="-120"/>
              </a:rPr>
              <a:t>OCR GCSE Twenty First Century Science — Combined Science B (J260) | B5.5 What role do hormones play in human reproduction? | Higher &amp; Foundation</a:t>
            </a:r>
            <a:endParaRPr lang="en-US" sz="1000" dirty="0"/>
          </a:p>
        </p:txBody>
      </p:sp>
      <p:sp>
        <p:nvSpPr>
          <p:cNvPr id="10" name="Text 8"/>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CFE7E5"/>
                </a:solidFill>
                <a:latin typeface="Calibri" pitchFamily="34" charset="0"/>
                <a:ea typeface="Calibri" pitchFamily="34" charset="-122"/>
                <a:cs typeface="Calibri" pitchFamily="34" charset="-120"/>
              </a:rPr>
              <a:t>Homework  |  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Homework</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Answer in full sentences • show all working • 17 marks</a:t>
            </a:r>
            <a:endParaRPr lang="en-US" sz="1100" dirty="0"/>
          </a:p>
        </p:txBody>
      </p:sp>
      <p:sp>
        <p:nvSpPr>
          <p:cNvPr id="6" name="Text 4"/>
          <p:cNvSpPr/>
          <p:nvPr/>
        </p:nvSpPr>
        <p:spPr>
          <a:xfrm>
            <a:off x="411480" y="6473952"/>
            <a:ext cx="932688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B5.5 What role do hormones play in human reproduction?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Homework  |  22</a:t>
            </a:r>
            <a:endParaRPr lang="en-US" sz="1000" dirty="0"/>
          </a:p>
        </p:txBody>
      </p:sp>
      <p:sp>
        <p:nvSpPr>
          <p:cNvPr id="8" name="Text 6"/>
          <p:cNvSpPr/>
          <p:nvPr/>
        </p:nvSpPr>
        <p:spPr>
          <a:xfrm>
            <a:off x="411480" y="1115568"/>
            <a:ext cx="11368735" cy="347472"/>
          </a:xfrm>
          <a:prstGeom prst="rect">
            <a:avLst/>
          </a:prstGeom>
          <a:noFill/>
          <a:ln/>
        </p:spPr>
        <p:txBody>
          <a:bodyPr wrap="square" lIns="0" tIns="0" rIns="0" bIns="0" rtlCol="0" anchor="ctr"/>
          <a:lstStyle/>
          <a:p>
            <a:pPr indent="0" marL="0">
              <a:buNone/>
            </a:pPr>
            <a:r>
              <a:rPr lang="en-US" sz="1150" i="1" dirty="0">
                <a:solidFill>
                  <a:srgbClr val="262B3A"/>
                </a:solidFill>
                <a:latin typeface="Calibri" pitchFamily="34" charset="0"/>
                <a:ea typeface="Calibri" pitchFamily="34" charset="-122"/>
                <a:cs typeface="Calibri" pitchFamily="34" charset="-120"/>
              </a:rPr>
              <a:t>Answer all questions. Q5 and Q6 are Higher tier. Q7 is a 6-mark extended answer: use the chart on slide 14.</a:t>
            </a:r>
            <a:endParaRPr lang="en-US" sz="1150" dirty="0"/>
          </a:p>
        </p:txBody>
      </p:sp>
      <p:sp>
        <p:nvSpPr>
          <p:cNvPr id="9" name="Shape 7"/>
          <p:cNvSpPr/>
          <p:nvPr/>
        </p:nvSpPr>
        <p:spPr>
          <a:xfrm>
            <a:off x="411480" y="1517904"/>
            <a:ext cx="5570068" cy="1120140"/>
          </a:xfrm>
          <a:prstGeom prst="roundRect">
            <a:avLst>
              <a:gd name="adj" fmla="val 4082"/>
            </a:avLst>
          </a:prstGeom>
          <a:solidFill>
            <a:srgbClr val="F4FAF9"/>
          </a:solidFill>
          <a:ln w="9525">
            <a:solidFill>
              <a:srgbClr val="CFE0DE"/>
            </a:solidFill>
            <a:prstDash val="solid"/>
          </a:ln>
        </p:spPr>
      </p:sp>
      <p:sp>
        <p:nvSpPr>
          <p:cNvPr id="10" name="Text 8"/>
          <p:cNvSpPr/>
          <p:nvPr/>
        </p:nvSpPr>
        <p:spPr>
          <a:xfrm>
            <a:off x="548640" y="1591056"/>
            <a:ext cx="5295748" cy="77266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1  </a:t>
            </a:r>
            <a:r>
              <a:rPr lang="en-US" sz="1150" dirty="0">
                <a:solidFill>
                  <a:srgbClr val="262B3A"/>
                </a:solidFill>
                <a:latin typeface="Calibri" pitchFamily="34" charset="0"/>
                <a:ea typeface="Calibri" pitchFamily="34" charset="-122"/>
                <a:cs typeface="Calibri" pitchFamily="34" charset="-120"/>
              </a:rPr>
              <a:t>What is </a:t>
            </a:r>
            <a:r>
              <a:rPr lang="en-US" sz="1150" b="1" dirty="0">
                <a:solidFill>
                  <a:srgbClr val="262B3A"/>
                </a:solidFill>
                <a:latin typeface="Calibri" pitchFamily="34" charset="0"/>
                <a:ea typeface="Calibri" pitchFamily="34" charset="-122"/>
                <a:cs typeface="Calibri" pitchFamily="34" charset="-120"/>
              </a:rPr>
              <a:t>ovulation</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11" name="Text 9"/>
          <p:cNvSpPr/>
          <p:nvPr/>
        </p:nvSpPr>
        <p:spPr>
          <a:xfrm>
            <a:off x="4518508" y="2345436"/>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2" name="Shape 10"/>
          <p:cNvSpPr/>
          <p:nvPr/>
        </p:nvSpPr>
        <p:spPr>
          <a:xfrm>
            <a:off x="411480" y="2747772"/>
            <a:ext cx="5570068" cy="1120140"/>
          </a:xfrm>
          <a:prstGeom prst="roundRect">
            <a:avLst>
              <a:gd name="adj" fmla="val 4082"/>
            </a:avLst>
          </a:prstGeom>
          <a:solidFill>
            <a:srgbClr val="F4FAF9"/>
          </a:solidFill>
          <a:ln w="9525">
            <a:solidFill>
              <a:srgbClr val="CFE0DE"/>
            </a:solidFill>
            <a:prstDash val="solid"/>
          </a:ln>
        </p:spPr>
      </p:sp>
      <p:sp>
        <p:nvSpPr>
          <p:cNvPr id="13" name="Text 11"/>
          <p:cNvSpPr/>
          <p:nvPr/>
        </p:nvSpPr>
        <p:spPr>
          <a:xfrm>
            <a:off x="548640" y="2820924"/>
            <a:ext cx="5295748" cy="77266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2  </a:t>
            </a:r>
            <a:r>
              <a:rPr lang="en-US" sz="1150" dirty="0">
                <a:solidFill>
                  <a:srgbClr val="262B3A"/>
                </a:solidFill>
                <a:latin typeface="Calibri" pitchFamily="34" charset="0"/>
                <a:ea typeface="Calibri" pitchFamily="34" charset="-122"/>
                <a:cs typeface="Calibri" pitchFamily="34" charset="-120"/>
              </a:rPr>
              <a:t>Name the hormone made by the </a:t>
            </a:r>
            <a:r>
              <a:rPr lang="en-US" sz="1150" b="1" dirty="0">
                <a:solidFill>
                  <a:srgbClr val="262B3A"/>
                </a:solidFill>
                <a:latin typeface="Calibri" pitchFamily="34" charset="0"/>
                <a:ea typeface="Calibri" pitchFamily="34" charset="-122"/>
                <a:cs typeface="Calibri" pitchFamily="34" charset="-120"/>
              </a:rPr>
              <a:t>testes</a:t>
            </a:r>
            <a:r>
              <a:rPr lang="en-US" sz="1150" dirty="0">
                <a:solidFill>
                  <a:srgbClr val="262B3A"/>
                </a:solidFill>
                <a:latin typeface="Calibri" pitchFamily="34" charset="0"/>
                <a:ea typeface="Calibri" pitchFamily="34" charset="-122"/>
                <a:cs typeface="Calibri" pitchFamily="34" charset="-120"/>
              </a:rPr>
              <a:t>, and give </a:t>
            </a:r>
            <a:r>
              <a:rPr lang="en-US" sz="1150" b="1" dirty="0">
                <a:solidFill>
                  <a:srgbClr val="262B3A"/>
                </a:solidFill>
                <a:latin typeface="Calibri" pitchFamily="34" charset="0"/>
                <a:ea typeface="Calibri" pitchFamily="34" charset="-122"/>
                <a:cs typeface="Calibri" pitchFamily="34" charset="-120"/>
              </a:rPr>
              <a:t>one</a:t>
            </a:r>
            <a:r>
              <a:rPr lang="en-US" sz="1150" dirty="0">
                <a:solidFill>
                  <a:srgbClr val="262B3A"/>
                </a:solidFill>
                <a:latin typeface="Calibri" pitchFamily="34" charset="0"/>
                <a:ea typeface="Calibri" pitchFamily="34" charset="-122"/>
                <a:cs typeface="Calibri" pitchFamily="34" charset="-120"/>
              </a:rPr>
              <a:t> change it causes at puberty.</a:t>
            </a:r>
            <a:endParaRPr lang="en-US" sz="1150" dirty="0"/>
          </a:p>
        </p:txBody>
      </p:sp>
      <p:sp>
        <p:nvSpPr>
          <p:cNvPr id="14" name="Text 12"/>
          <p:cNvSpPr/>
          <p:nvPr/>
        </p:nvSpPr>
        <p:spPr>
          <a:xfrm>
            <a:off x="4518508" y="3575304"/>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3977640"/>
            <a:ext cx="5570068" cy="1120140"/>
          </a:xfrm>
          <a:prstGeom prst="roundRect">
            <a:avLst>
              <a:gd name="adj" fmla="val 4082"/>
            </a:avLst>
          </a:prstGeom>
          <a:solidFill>
            <a:srgbClr val="F4FAF9"/>
          </a:solidFill>
          <a:ln w="9525">
            <a:solidFill>
              <a:srgbClr val="CFE0DE"/>
            </a:solidFill>
            <a:prstDash val="solid"/>
          </a:ln>
        </p:spPr>
      </p:sp>
      <p:sp>
        <p:nvSpPr>
          <p:cNvPr id="16" name="Text 14"/>
          <p:cNvSpPr/>
          <p:nvPr/>
        </p:nvSpPr>
        <p:spPr>
          <a:xfrm>
            <a:off x="548640" y="4050792"/>
            <a:ext cx="5295748" cy="77266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3  </a:t>
            </a:r>
            <a:r>
              <a:rPr lang="en-US" sz="1150" dirty="0">
                <a:solidFill>
                  <a:srgbClr val="262B3A"/>
                </a:solidFill>
                <a:latin typeface="Calibri" pitchFamily="34" charset="0"/>
                <a:ea typeface="Calibri" pitchFamily="34" charset="-122"/>
                <a:cs typeface="Calibri" pitchFamily="34" charset="-120"/>
              </a:rPr>
              <a:t>Describe the role of </a:t>
            </a:r>
            <a:r>
              <a:rPr lang="en-US" sz="1150" b="1" dirty="0">
                <a:solidFill>
                  <a:srgbClr val="262B3A"/>
                </a:solidFill>
                <a:latin typeface="Calibri" pitchFamily="34" charset="0"/>
                <a:ea typeface="Calibri" pitchFamily="34" charset="-122"/>
                <a:cs typeface="Calibri" pitchFamily="34" charset="-120"/>
              </a:rPr>
              <a:t>progesterone</a:t>
            </a:r>
            <a:r>
              <a:rPr lang="en-US" sz="1150" dirty="0">
                <a:solidFill>
                  <a:srgbClr val="262B3A"/>
                </a:solidFill>
                <a:latin typeface="Calibri" pitchFamily="34" charset="0"/>
                <a:ea typeface="Calibri" pitchFamily="34" charset="-122"/>
                <a:cs typeface="Calibri" pitchFamily="34" charset="-120"/>
              </a:rPr>
              <a:t> in the menstrual cycle, and what happens when its level falls.</a:t>
            </a:r>
            <a:endParaRPr lang="en-US" sz="1150" dirty="0"/>
          </a:p>
        </p:txBody>
      </p:sp>
      <p:sp>
        <p:nvSpPr>
          <p:cNvPr id="17" name="Text 15"/>
          <p:cNvSpPr/>
          <p:nvPr/>
        </p:nvSpPr>
        <p:spPr>
          <a:xfrm>
            <a:off x="4518508" y="4805172"/>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5207508"/>
            <a:ext cx="5570068" cy="1120140"/>
          </a:xfrm>
          <a:prstGeom prst="roundRect">
            <a:avLst>
              <a:gd name="adj" fmla="val 4082"/>
            </a:avLst>
          </a:prstGeom>
          <a:solidFill>
            <a:srgbClr val="F4FAF9"/>
          </a:solidFill>
          <a:ln w="9525">
            <a:solidFill>
              <a:srgbClr val="CFE0DE"/>
            </a:solidFill>
            <a:prstDash val="solid"/>
          </a:ln>
        </p:spPr>
      </p:sp>
      <p:sp>
        <p:nvSpPr>
          <p:cNvPr id="19" name="Text 17"/>
          <p:cNvSpPr/>
          <p:nvPr/>
        </p:nvSpPr>
        <p:spPr>
          <a:xfrm>
            <a:off x="548640" y="5280660"/>
            <a:ext cx="5295748" cy="77266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4  </a:t>
            </a:r>
            <a:r>
              <a:rPr lang="en-US" sz="1150" dirty="0">
                <a:solidFill>
                  <a:srgbClr val="262B3A"/>
                </a:solidFill>
                <a:latin typeface="Calibri" pitchFamily="34" charset="0"/>
                <a:ea typeface="Calibri" pitchFamily="34" charset="-122"/>
                <a:cs typeface="Calibri" pitchFamily="34" charset="-120"/>
              </a:rPr>
              <a:t>Typical use: injection 4 in 100 women a year become pregnant; condoms 13 in 100. For </a:t>
            </a:r>
            <a:r>
              <a:rPr lang="en-US" sz="1150" b="1" dirty="0">
                <a:solidFill>
                  <a:srgbClr val="262B3A"/>
                </a:solidFill>
                <a:latin typeface="Calibri" pitchFamily="34" charset="0"/>
                <a:ea typeface="Calibri" pitchFamily="34" charset="-122"/>
                <a:cs typeface="Calibri" pitchFamily="34" charset="-120"/>
              </a:rPr>
              <a:t>300</a:t>
            </a:r>
            <a:r>
              <a:rPr lang="en-US" sz="1150" dirty="0">
                <a:solidFill>
                  <a:srgbClr val="262B3A"/>
                </a:solidFill>
                <a:latin typeface="Calibri" pitchFamily="34" charset="0"/>
                <a:ea typeface="Calibri" pitchFamily="34" charset="-122"/>
                <a:cs typeface="Calibri" pitchFamily="34" charset="-120"/>
              </a:rPr>
              <a:t> women using each, how many </a:t>
            </a:r>
            <a:r>
              <a:rPr lang="en-US" sz="1150" b="1" dirty="0">
                <a:solidFill>
                  <a:srgbClr val="262B3A"/>
                </a:solidFill>
                <a:latin typeface="Calibri" pitchFamily="34" charset="0"/>
                <a:ea typeface="Calibri" pitchFamily="34" charset="-122"/>
                <a:cs typeface="Calibri" pitchFamily="34" charset="-120"/>
              </a:rPr>
              <a:t>more</a:t>
            </a:r>
            <a:r>
              <a:rPr lang="en-US" sz="1150" dirty="0">
                <a:solidFill>
                  <a:srgbClr val="262B3A"/>
                </a:solidFill>
                <a:latin typeface="Calibri" pitchFamily="34" charset="0"/>
                <a:ea typeface="Calibri" pitchFamily="34" charset="-122"/>
                <a:cs typeface="Calibri" pitchFamily="34" charset="-120"/>
              </a:rPr>
              <a:t> pregnancies with condoms?</a:t>
            </a:r>
            <a:endParaRPr lang="en-US" sz="1150" dirty="0"/>
          </a:p>
        </p:txBody>
      </p:sp>
      <p:sp>
        <p:nvSpPr>
          <p:cNvPr id="20" name="Text 18"/>
          <p:cNvSpPr/>
          <p:nvPr/>
        </p:nvSpPr>
        <p:spPr>
          <a:xfrm>
            <a:off x="4518508"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1" name="Shape 19"/>
          <p:cNvSpPr/>
          <p:nvPr/>
        </p:nvSpPr>
        <p:spPr>
          <a:xfrm>
            <a:off x="6210148" y="1517904"/>
            <a:ext cx="5570068" cy="976657"/>
          </a:xfrm>
          <a:prstGeom prst="roundRect">
            <a:avLst>
              <a:gd name="adj" fmla="val 4681"/>
            </a:avLst>
          </a:prstGeom>
          <a:solidFill>
            <a:srgbClr val="F4FAF9"/>
          </a:solidFill>
          <a:ln w="9525">
            <a:solidFill>
              <a:srgbClr val="CFE0DE"/>
            </a:solidFill>
            <a:prstDash val="solid"/>
          </a:ln>
        </p:spPr>
      </p:sp>
      <p:sp>
        <p:nvSpPr>
          <p:cNvPr id="22" name="Text 20"/>
          <p:cNvSpPr/>
          <p:nvPr/>
        </p:nvSpPr>
        <p:spPr>
          <a:xfrm>
            <a:off x="6347308" y="1591056"/>
            <a:ext cx="4792828" cy="629185"/>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5  </a:t>
            </a:r>
            <a:r>
              <a:rPr lang="en-US" sz="1150" dirty="0">
                <a:solidFill>
                  <a:srgbClr val="262B3A"/>
                </a:solidFill>
                <a:latin typeface="Calibri" pitchFamily="34" charset="0"/>
                <a:ea typeface="Calibri" pitchFamily="34" charset="-122"/>
                <a:cs typeface="Calibri" pitchFamily="34" charset="-120"/>
              </a:rPr>
              <a:t>Explain how high </a:t>
            </a:r>
            <a:r>
              <a:rPr lang="en-US" sz="1150" b="1" dirty="0">
                <a:solidFill>
                  <a:srgbClr val="262B3A"/>
                </a:solidFill>
                <a:latin typeface="Calibri" pitchFamily="34" charset="0"/>
                <a:ea typeface="Calibri" pitchFamily="34" charset="-122"/>
                <a:cs typeface="Calibri" pitchFamily="34" charset="-120"/>
              </a:rPr>
              <a:t>oestrogen</a:t>
            </a:r>
            <a:r>
              <a:rPr lang="en-US" sz="1150" dirty="0">
                <a:solidFill>
                  <a:srgbClr val="262B3A"/>
                </a:solidFill>
                <a:latin typeface="Calibri" pitchFamily="34" charset="0"/>
                <a:ea typeface="Calibri" pitchFamily="34" charset="-122"/>
                <a:cs typeface="Calibri" pitchFamily="34" charset="-120"/>
              </a:rPr>
              <a:t> levels lead to </a:t>
            </a:r>
            <a:r>
              <a:rPr lang="en-US" sz="1150" b="1" dirty="0">
                <a:solidFill>
                  <a:srgbClr val="262B3A"/>
                </a:solidFill>
                <a:latin typeface="Calibri" pitchFamily="34" charset="0"/>
                <a:ea typeface="Calibri" pitchFamily="34" charset="-122"/>
                <a:cs typeface="Calibri" pitchFamily="34" charset="-120"/>
              </a:rPr>
              <a:t>ovulation</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23" name="Shape 21"/>
          <p:cNvSpPr/>
          <p:nvPr/>
        </p:nvSpPr>
        <p:spPr>
          <a:xfrm>
            <a:off x="11231575" y="1591056"/>
            <a:ext cx="411480" cy="274320"/>
          </a:xfrm>
          <a:prstGeom prst="roundRect">
            <a:avLst>
              <a:gd name="adj" fmla="val 50000"/>
            </a:avLst>
          </a:prstGeom>
          <a:solidFill>
            <a:srgbClr val="C8414C"/>
          </a:solidFill>
          <a:ln w="12700">
            <a:solidFill>
              <a:srgbClr val="C8414C"/>
            </a:solidFill>
            <a:prstDash val="solid"/>
          </a:ln>
        </p:spPr>
      </p:sp>
      <p:sp>
        <p:nvSpPr>
          <p:cNvPr id="24" name="Text 22"/>
          <p:cNvSpPr/>
          <p:nvPr/>
        </p:nvSpPr>
        <p:spPr>
          <a:xfrm>
            <a:off x="11231575" y="1591056"/>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5" name="Text 23"/>
          <p:cNvSpPr/>
          <p:nvPr/>
        </p:nvSpPr>
        <p:spPr>
          <a:xfrm>
            <a:off x="10317175" y="2201953"/>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6" name="Shape 24"/>
          <p:cNvSpPr/>
          <p:nvPr/>
        </p:nvSpPr>
        <p:spPr>
          <a:xfrm>
            <a:off x="6210148" y="2604289"/>
            <a:ext cx="5570068" cy="1074323"/>
          </a:xfrm>
          <a:prstGeom prst="roundRect">
            <a:avLst>
              <a:gd name="adj" fmla="val 4256"/>
            </a:avLst>
          </a:prstGeom>
          <a:solidFill>
            <a:srgbClr val="F4FAF9"/>
          </a:solidFill>
          <a:ln w="9525">
            <a:solidFill>
              <a:srgbClr val="CFE0DE"/>
            </a:solidFill>
            <a:prstDash val="solid"/>
          </a:ln>
        </p:spPr>
      </p:sp>
      <p:sp>
        <p:nvSpPr>
          <p:cNvPr id="27" name="Text 25"/>
          <p:cNvSpPr/>
          <p:nvPr/>
        </p:nvSpPr>
        <p:spPr>
          <a:xfrm>
            <a:off x="6347308" y="2677441"/>
            <a:ext cx="4792828" cy="726851"/>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6  </a:t>
            </a:r>
            <a:r>
              <a:rPr lang="en-US" sz="1150" dirty="0">
                <a:solidFill>
                  <a:srgbClr val="262B3A"/>
                </a:solidFill>
                <a:latin typeface="Calibri" pitchFamily="34" charset="0"/>
                <a:ea typeface="Calibri" pitchFamily="34" charset="-122"/>
                <a:cs typeface="Calibri" pitchFamily="34" charset="-120"/>
              </a:rPr>
              <a:t>A woman does not ovulate because she makes too little FSH. Explain how </a:t>
            </a:r>
            <a:r>
              <a:rPr lang="en-US" sz="1150" b="1" dirty="0">
                <a:solidFill>
                  <a:srgbClr val="262B3A"/>
                </a:solidFill>
                <a:latin typeface="Calibri" pitchFamily="34" charset="0"/>
                <a:ea typeface="Calibri" pitchFamily="34" charset="-122"/>
                <a:cs typeface="Calibri" pitchFamily="34" charset="-120"/>
              </a:rPr>
              <a:t>fertility drugs</a:t>
            </a:r>
            <a:r>
              <a:rPr lang="en-US" sz="1150" dirty="0">
                <a:solidFill>
                  <a:srgbClr val="262B3A"/>
                </a:solidFill>
                <a:latin typeface="Calibri" pitchFamily="34" charset="0"/>
                <a:ea typeface="Calibri" pitchFamily="34" charset="-122"/>
                <a:cs typeface="Calibri" pitchFamily="34" charset="-120"/>
              </a:rPr>
              <a:t> could help.</a:t>
            </a:r>
            <a:endParaRPr lang="en-US" sz="1150" dirty="0"/>
          </a:p>
        </p:txBody>
      </p:sp>
      <p:sp>
        <p:nvSpPr>
          <p:cNvPr id="28" name="Shape 26"/>
          <p:cNvSpPr/>
          <p:nvPr/>
        </p:nvSpPr>
        <p:spPr>
          <a:xfrm>
            <a:off x="11231575" y="2677441"/>
            <a:ext cx="411480" cy="274320"/>
          </a:xfrm>
          <a:prstGeom prst="roundRect">
            <a:avLst>
              <a:gd name="adj" fmla="val 50000"/>
            </a:avLst>
          </a:prstGeom>
          <a:solidFill>
            <a:srgbClr val="C8414C"/>
          </a:solidFill>
          <a:ln w="12700">
            <a:solidFill>
              <a:srgbClr val="C8414C"/>
            </a:solidFill>
            <a:prstDash val="solid"/>
          </a:ln>
        </p:spPr>
      </p:sp>
      <p:sp>
        <p:nvSpPr>
          <p:cNvPr id="29" name="Text 27"/>
          <p:cNvSpPr/>
          <p:nvPr/>
        </p:nvSpPr>
        <p:spPr>
          <a:xfrm>
            <a:off x="11231575" y="2677441"/>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30" name="Text 28"/>
          <p:cNvSpPr/>
          <p:nvPr/>
        </p:nvSpPr>
        <p:spPr>
          <a:xfrm>
            <a:off x="10317175" y="3386004"/>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31" name="Shape 29"/>
          <p:cNvSpPr/>
          <p:nvPr/>
        </p:nvSpPr>
        <p:spPr>
          <a:xfrm>
            <a:off x="6210148" y="3788340"/>
            <a:ext cx="5570068" cy="2539308"/>
          </a:xfrm>
          <a:prstGeom prst="roundRect">
            <a:avLst>
              <a:gd name="adj" fmla="val 1800"/>
            </a:avLst>
          </a:prstGeom>
          <a:solidFill>
            <a:srgbClr val="FFF4E0"/>
          </a:solidFill>
          <a:ln w="9525">
            <a:solidFill>
              <a:srgbClr val="F1D9A8"/>
            </a:solidFill>
            <a:prstDash val="solid"/>
          </a:ln>
        </p:spPr>
      </p:sp>
      <p:sp>
        <p:nvSpPr>
          <p:cNvPr id="32" name="Text 30"/>
          <p:cNvSpPr/>
          <p:nvPr/>
        </p:nvSpPr>
        <p:spPr>
          <a:xfrm>
            <a:off x="6347308" y="3861492"/>
            <a:ext cx="5295748" cy="2191836"/>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7  </a:t>
            </a:r>
            <a:r>
              <a:rPr lang="en-US" sz="1150" b="1" dirty="0">
                <a:solidFill>
                  <a:srgbClr val="262B3A"/>
                </a:solidFill>
                <a:latin typeface="Calibri" pitchFamily="34" charset="0"/>
                <a:ea typeface="Calibri" pitchFamily="34" charset="-122"/>
                <a:cs typeface="Calibri" pitchFamily="34" charset="-120"/>
              </a:rPr>
              <a:t>Evaluate</a:t>
            </a:r>
            <a:r>
              <a:rPr lang="en-US" sz="1150" dirty="0">
                <a:solidFill>
                  <a:srgbClr val="262B3A"/>
                </a:solidFill>
                <a:latin typeface="Calibri" pitchFamily="34" charset="0"/>
                <a:ea typeface="Calibri" pitchFamily="34" charset="-122"/>
                <a:cs typeface="Calibri" pitchFamily="34" charset="-120"/>
              </a:rPr>
              <a:t> hormonal and non-hormonal methods of contraception. Explain how hormonal methods work and use data in your answer.</a:t>
            </a:r>
            <a:endParaRPr lang="en-US" sz="1150" dirty="0"/>
          </a:p>
        </p:txBody>
      </p:sp>
      <p:sp>
        <p:nvSpPr>
          <p:cNvPr id="33" name="Text 31"/>
          <p:cNvSpPr/>
          <p:nvPr/>
        </p:nvSpPr>
        <p:spPr>
          <a:xfrm>
            <a:off x="10317175"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[6 marks]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OCR J260 B5.5 What role do hormones play in human reproduction?</dc:title>
  <dc:subject>PptxGenJS Presentation</dc:subject>
  <dc:creator>GCSE Biology</dc:creator>
  <cp:lastModifiedBy>GCSE Biology</cp:lastModifiedBy>
  <cp:revision>1</cp:revision>
  <dcterms:created xsi:type="dcterms:W3CDTF">2026-10-30T14:39:15Z</dcterms:created>
  <dcterms:modified xsi:type="dcterms:W3CDTF">2026-10-30T14:39:15Z</dcterms:modified>
</cp:coreProperties>
</file>