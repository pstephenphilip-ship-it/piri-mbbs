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B5.6 What can happen when organs and control systems stop working? is Part 6 of 6 in J260 Chapter B5 The human body – staying alive, and the last B5 deck.
Scope check (see SPEC_B5_6.md): the B5.6 statements found are B5.6.1 explain how insulin controls blood sugar levels in the body; B5.6.2 explain how glucagon and insulin work together to control blood sugar levels (HT); B5.6.3 compare type 1 and type 2 diabetes and explain how they can be treated. Kidney failure, dialysis and organ transplants were NOT found in J260 B5.6 (the kidney is in J257 Biology B B5.4 only), so they are not taught.
Homeostasis (B5.4) and negative feedback (B5.3) are recapped, not re-taught. The wording comes from search extracts (ocr.org.uk and the specification mirrors could not be fetched): confidence medium–high.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found (tutordex J257 B5.6 listing, search extracts; the J260 specification copy on plutoniumscience quotes the same outcomes for J260 B5.6): B5.6.1 explain how insulin controls blood sugar levels in the body; B5.6.2 explain how glucagon and insulin work together to control blood sugar levels in the body; B5.6.3 compare type 1 and type 2 diabetes and explain how they can be treated.
HT: B5.6.2 (glucagon). Evidence: docbrown combined page "blood sugar level is controlled by insulin and (HT only) glucagon"; Oak National Academy runs "Insulin, glucagon and the control of blood sugar level" only in its OCR Combined Higher programme. If your copy of the specification shows B5.6.2 in normal type, teach slides 9–10 to everyone.
The glucose test with Benedict's and the glucose tolerance test are contexts, not statements. BMI is used as a risk-factor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B5 has six sub-topics (B5.1–B5.6); see SPEC_B5_1.md to SPEC_B5_5.md. This is the last B5 deck.
Overlap control: the endocrine system and the pancreas's position were taught in B5.3 (insulin appeared there on the gland map only). Negative feedback was taught with thyroxine in B5.3 and the idea of antagonistic effectors in B5.4 (homeostasis); both are recapped and applied here. Respiration (B4.1) is recalled as the reason cells need glucose. Lifestyle and non-communicable disease risk factors may also appear in Chapter B2 (keeping healthy): BMI is used here only as a type 2 risk factor.
Not taught: kidney failure, dialysis and transplants (not found in J260 B5.6; the kidney is J257 B5.4).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Glucose + oxygen → carbon dioxide + water (energy released). Respiration releases the energy cells need for all their processes, and it never stops, so glucose must be supplied all the time.
2. Plasma.
3. In the abdomen, behind the stomach. In the blood (plasma); they act on target cells that have the right receptors.
4. A change from the normal level causes a response that reverses the change. Thyroxine: high thyroxine → less TSH from the pituitary → less thyroxine.
5. Keeping a constant internal environment. Two effectors with opposite effects on the same condition (e.g. sweating and shivering).
6. Benedict's reagent, heated in a water bath: blue → green → yellow → orange → brick red; brick red = a lot. 6 × 4 = 24 min. (If your scheme taught food tests in a different chapter, treat Q6 as a pre-teach.)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Rises: a meal / eating carbohydrates / sugary drink (glucose absorbed from the gut). Falls: respiration in cells uses it / exercise. 5 × 8 = 40 mmol; 40 × 0.18 = 7.2 g.
Graph model (node): 5.0 + 2.5 exp(−((t − meal − 0.75)/0.7)²) for meals at 8, 13 and 19 h; max 7.49 mmol/L, min 5 mmol/L. UK units are mmol/L; some exam questions use mg per 100 cm³ (5 mmol/L ≈ 90 mg/100 cm³). 1 mmol glucose (C₆H₁₂O₆) = 180 mg.
B5.4 recap only: homeostasis and why conditions must be constant were taught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pancreas; glycogen. Insulin makes cells (especially liver and muscle cells) take up glucose from the blood; the liver and muscles convert it to glycogen and store it, so less glucose is left in the blood.
Diagram: front view; the liver is on the body's right (viewer's left), the stomach on the body's left, and the pancreas lies behind the stomach with its head in the curve of the duodenum (drawn as the brown ring). Insulin is made in the islets of Langerhans (stretch name; the pale spots on the large pancreas drawings).
Statement B5.6.1 "explain how insulin controls blood sugar levels in the body" (search extracts). 100 g liver glycogen is a typical textbook value (UNVERIFIED); 100 ÷ 4.5 = 22.2 (node). Muscles store more glycogen in total (about 400 g) but use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Too low: cells / brain do not get enough glucose for respiration / energy (1); too high: water leaves cells by osmosis / damages blood vessels / organs (1).
Q2 [2]: Pancreas (1); in the blood / plasma (1).
Q3 [2]: Insulin makes (liver / muscle) cells take up glucose from the blood (1); glucose converted to glycogen and stored (1).
Q4 [2]: 5 × 6 = 30 mmol (1); 30 × 0.18 = 5.4 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Receptor: cells in the pancreas that detect the glucose level. Hormone: insulin. Effectors: liver and muscle (and other body) cells. Negative because the response (a fall) reverses / opposes the change (a rise), and as the level returns to normal the insulin release is switched off.
Recap only: negative feedback was taught through thyroxine in B5.3, and control systems (receptor, coordination, effector) in B5.4. Node: 8.2 − 5.0 = 3.2; 3.2/90 = 0.03556.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Glucagon (the hormone) is released by the pancreas when blood glucose falls, e.g. after 6 hours without food; it makes the liver break glycogen down to glucose and release it.
HT: B5.6.2 "explain how glucagon and insulin work together to control blood sugar levels in the body" (search extract wording). HT status: docbrown combined B5 page "(HT only) glucagon"; Oak OCR Combined Higher only. Exam tip: spell glucagon and glycogen correctly; examiners do not credit "glucogen".
Muscle glycogen is used by the muscle itself; glucagon acts mainly on the liver. Alpha and beta cells of the islets are stretch names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30 min (node: minimum at 30 min; accept 25–45 min). Blood glucose is high, so no glucose needs to be released from the liver; the pancreas releases insulin (to lower glucose) and very little glucagon, because the two hormones have opposite effects.
Model (node, illustrative shapes, not real patient data): f(t,p) = (t/p)e^(1−t/p); glucose = 5 + 3f(t,30) − 0.7f(t,170); insulin = 1 + 8f(t,45); glucagon = 2.5 − 1.6f(t,45) + 1.6f(t,185). Glucose peak 7.73 mmol/L at 28 min; insulin peak 9 au at 45 min; glucose at 180 min 4.42.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The rise is detected and causes insulin release (1); the response (glucose uptake) reverses the change / brings the level back to normal, then insulin release falls (1).
Q2 [2]: 7.6 − 5.2 (1); = 2.4 mmol/L (1).
Q3 [2]: Glucagon released by the pancreas (1); liver converts glycogen to glucose and releases it into the blood (1).
Q4 [2]: They have opposite effects on blood glucose (1); insulin lowers it, glucagon raises it / they correct changes in either direction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Their pancreas cannot make enough insulin, so it must be replaced. Insulin is a protein: in a tablet it would be broken down by protease enzymes in the gut (digested) before it reached the blood, so it is injected into the fat under the skin.
B5.6.3 "compare type 1 and type 2 diabetes and explain how they can be treated" (search extract). Type 1 is an autoimmune condition; the exact trigger is not known (genes plus an environmental trigger). Pancreas transplants and islet cell transplants exist for a few patients (stretch only; not in the statements found).
The meter reading 9.8 mmol/L is above the normal range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1.70² = 2.89; 68 ÷ 2.89 = 23.5 (healthy range 18.5–24.9). Any two: lose weight / eat less sugar and fat / eat more fibre and fewer refined carbohydrates / exercise regularly.
B5.6.3 (search extract). Type 2 is the most common type (about 90% of UK cases). It is linked to lifestyle but is not only caused by it: genes, ethnicity and age also matter. Medicines are named generally (e.g. metformin is a stretch name only). Node: 95/1.75² = 31.020; 68/1.70² = 23.529. BMI and lifestyle risk factors may also appear in Chapter B2; used here only as a type 2 risk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Similarity: in both, blood glucose is too high / both can be helped by diet and exercise / both may use insulin. Differences: type 1 = no insulin made, type 2 = cells resistant; type 1 usually starts in childhood, type 2 usually in adults; type 1 always treated with insulin, type 2 first with diet and exercise; type 2 linked to obesity. 90 ÷ 8 ≈ 11 times.
UK figures: Diabetes UK reports about 4.4 million people diagnosed (2023), about 90% type 2 and about 8% type 1 (UNVERIFIED to the percent; rounded for teaching). Node: 4.4 × 0.9 = 3.96; 4.4 × 0.08 = 0.352; 90/8 = 11.25.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Pancreas produces little / no insulin (1); because the insulin-producing cells are destroyed (by the immune system) (1).
Q2 [2]: Any two (1 each): obesity / high BMI; lack of exercise; diet high in sugar / refined carbohydrate / fat; older age; family history / genes.
Q3 [2]: 500 × 0.9 / 500 × 90 ÷ 100 (1); = 450 (1).
Q4 [2]: Type 1: insulin injections (always / for life) (1); type 2: diet / exercise / weight loss first, then tablets (insulin only sometimes) (1). Both types needed for the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15.0 − 10.0 = 5.0 mmol/L. B makes too little insulin (type 1) OR B's cells do not respond to insulin (type 2), so glucose is not taken up into cells / stored as glycogen quickly.
The oral glucose tolerance test: fast overnight, drink 75 g glucose, measure blood glucose for 2 hours. WHO criteria (asserted in node): fasting ≥ 7.0 mmol/L or 2-hour ≥ 11.1 mmol/L = diabetes; 2-hour &lt; 7.8 = normal. Data are illustrative. Plotted points are joined with straight lines, as is usual for measured data. Node: rises 3.0 and 7.0; 62.5% and 87.5%; 2 h difference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So that only the glucose concentration affects the time (fair test; they are control variables). The 0 g tube shows the colour with no glucose: it stays blue, showing that any change in the other tubes is caused by glucose.
Suggested activity, not a PAG code (no PAG link to B5.6 was found). Context: before blood glucose meters, glucose in the urine was a sign of diabetes (glucose spills into the urine when blood glucose is very high). Use simulated urine (dilute glucose solution with a drop of yellow food colouring); never real body fluids. Benedict's test was met as a food test (B3 or KS3); the timed version gives quantitative data for a calibration graph. Node: 0.5 × 20 / 2 = 5 cm³; 20 − 5 = 15 cm³.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Z: it turned green fastest (45 s), so it has the most glucose (about 4 g per 100 cm³ or more; it is at / beyond the end of the curve). Glucose in urine shows blood glucose was very high. Z cannot be read accurately because 45 s is outside / at the edge of the range of the standards (extrapolation). X has no detectable glucose (normal).
Data illustrative; model t = 120 c^(−0.66) used to set the means (node checks each mean is within 3 s of the model). Y: (120/95)^(1/0.66) = 1.425 → about 1.4 g per 100 cm³ (read from the graph). Means 300, 190, 120, 75, 48 s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(9.0 − 4.5) ÷ 4.5 × 100 (1); = 100% (1).
Q2 [2]: Diabetes (1); glucose not brought back to normal / above 11.1 so insulin missing or cells not responding (1).
Q3 [2]: IV: glucose concentration (1); DV: time taken to turn green / colour change (1).
Q4 [2]: Standards have known concentrations (1); the unknown's time is read off the graph to give its concentration / interpolation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insulin makes cells keep taking up glucose but no new glucose arrives from food, so blood glucose falls too low (below 4 mmol/L, a hypo): shaky, confused, may faint. They should eat or drink something sugary (fast-acting glucose), then a carbohydrate snack.
The title idea of B5.6 ("what can happen when organs and control systems stop working") is shown with diabetes, which is the only example in the B5.6 statements found. Thresholds: hypo below 4 mmol/L (NHS "4 is the floor"); 11.1 mmol/L is the WHO 2-hour diagnostic value. Kidney failure / dialysis are not in J260 B5.6 and are not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Insulin plus exercise / respiration uses glucose, so blood glucose falls too low (1); brain cells do not get enough glucose (for respiration) (1).
Q2 [2]: Any two (1 each): thirst; passing a lot of urine; glucose in urine; tiredness; weight loss; blurred vision.
Q3 [2]: Type 1: the pancreas / gland does not make (enough) insulin (1); type 2: target cells / receptors do not respond to insulin (1).
Q4 [2]: Pancreas releases glucagon (1); liver converts glycogen to glucose and releases it into the blood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Spelling check: glucagon (hormone) vs glycogen (store). Negative feedback is a recap term from B5.3. Glucagon and "antagonistic" (as applied to insulin and glucagon) are 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Pancreas (1); insulin (1).
(b) [1]: 7.6 − 5.2 = 2.4 mmol/L (1).
(c) [3]: Insulin carried in the blood to target cells (1); liver / muscle cells take up glucose (1); converted to glycogen and stored (1).
(d) [2]: 102 ÷ 1.8² = 102 ÷ 3.24 (1); = 31.5 (1).
(e) [3]: Cause: type 1 pancreas makes no / little insulin, type 2 cells do not respond / resistant (1); treatment: type 1 insulin injections (1); type 2 diet / exercise / weight loss / tablets (1).
(f) [2]: Pancreas releases glucagon (1); liver converts glycogen to glucose, released into blood so level rises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Glycogen (1). Do not accept glucagon.
2 [2]: (6.2 + 5.8 + 6.6) ÷ 3 (1); = 6.2 mmol/L (1).
3 [2]: 1 ÷ 16 × 100 (1); = 6.25% (accept 6.3% or 6%) (1).
4 [2]: Insulin is a protein (1); it would be digested / broken down by enzymes in the gut (before reaching the blood) (1).
5 [2]: Glucose is used in respiration so the level falls (1); pancreas releases glucagon so the liver converts glycogen to glucose (and releases it) (1).
6 [2]: More people are obese / overweight / less active / eat more sugar (1); these are risk factors that make cells resistant to insulin (1). Accept: people living longer / ageing population (1).
7 [6]: OCR level-of-response mark scheme (6 marks). Read the whole answer, decide the level from the content descriptor, then the mark within the level from the quality of the line of reasoning. Use the indicative scientific points below.
Level 3 (5–6 marks): Compares BOTH the causes AND the treatments of type 1 and type 2, with comparative statements, AND explains how at least one treatment works. There is a well-developed line of reasoning which is clear and logically structured. The information presented is relevant and substantiated.
Level 2 (3–4 marks): Describes the cause and treatment of both types, OR compares one aspect in detail, with some explanation. There is a line of reasoning presented with some structure. The information presented is relevant and supported by some evidence.
Level 1 (1–2 marks): Simple statements about one or both types, e.g. "type 1 needs insulin" or "type 2 is caused by being overweight". There is an attempt at a logical structure with a line of reasoning. The information is in the most part relevant.
0 marks: no response or no response worthy of credit.
Indicative scientific points may include:
 • Both: blood glucose too high; symptoms: thirst, lots of urine, glucose in urine, tiredness; long-term damage to eyes, kidneys, nerves, blood vessels.
 • Type 1 cause: pancreas makes little / no insulin; insulin-producing cells destroyed by the immune system; usually starts in childhood; not caused by lifestyle.
 • Type 2 cause: body cells become resistant / do not respond to insulin; pancreas may make less insulin later; usually adults.
 • Type 2 risk factors: obesity / high BMI, lack of exercise, poor diet, age, genes / family history.
 • Type 1 treatment: insulin injections (pen / pump) for life; regular blood glucose tests; match diet and exercise to the dose; insulin injected because it is a protein that would be digested.
 • Type 2 treatment: diet low in sugar / refined carbohydrate, exercise, weight loss; then medicines (tablets); insulin in some cases.
 • Explanation of treatments: insulin replaces the missing hormone so cells take up glucose; diet reduces the glucose entering the blood; exercise uses glucose and improves the response to insulin; weight loss reduces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B5.6  Diabetes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What can happen when organs and control systems stop working?</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Blood glucose  •  Insulin  •  Glucagon (HT)  •  Glycogen  •  Type 1 diabetes  •  Type 2 diabetes</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B5.6.1–B5.6.3 • insulin, glucagon (HT), type 1 and type 2 diabetes and their treatment</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B5.6.2 glucagon marked HT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Blood glucose control • glucose tolerance data • testing for glucose • BMI and risk</a:t>
            </a:r>
            <a:endParaRPr lang="en-US" sz="1400" dirty="0"/>
          </a:p>
        </p:txBody>
      </p:sp>
      <p:sp>
        <p:nvSpPr>
          <p:cNvPr id="19" name="Shape 17"/>
          <p:cNvSpPr/>
          <p:nvPr/>
        </p:nvSpPr>
        <p:spPr>
          <a:xfrm>
            <a:off x="731520" y="5769864"/>
            <a:ext cx="540867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40867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6 of 6 in Chapter B5: The human body – staying alive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B5.6 What can happen when organs and control systems stop working?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B5.6.1–B5.6.3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B5.6.1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blood glucose</a:t>
            </a:r>
            <a:r>
              <a:rPr lang="en-US" sz="1200" dirty="0">
                <a:solidFill>
                  <a:srgbClr val="262B3A"/>
                </a:solidFill>
                <a:latin typeface="Calibri" pitchFamily="34" charset="0"/>
                <a:ea typeface="Calibri" pitchFamily="34" charset="-122"/>
                <a:cs typeface="Calibri" pitchFamily="34" charset="-120"/>
              </a:rPr>
              <a:t> must be kept within a </a:t>
            </a:r>
            <a:r>
              <a:rPr lang="en-US" sz="1200" b="1" dirty="0">
                <a:solidFill>
                  <a:srgbClr val="262B3A"/>
                </a:solidFill>
                <a:latin typeface="Calibri" pitchFamily="34" charset="0"/>
                <a:ea typeface="Calibri" pitchFamily="34" charset="-122"/>
                <a:cs typeface="Calibri" pitchFamily="34" charset="-120"/>
              </a:rPr>
              <a:t>narrow range</a:t>
            </a:r>
            <a:r>
              <a:rPr lang="en-US" sz="1200" dirty="0">
                <a:solidFill>
                  <a:srgbClr val="262B3A"/>
                </a:solidFill>
                <a:latin typeface="Calibri" pitchFamily="34" charset="0"/>
                <a:ea typeface="Calibri" pitchFamily="34" charset="-122"/>
                <a:cs typeface="Calibri" pitchFamily="34" charset="-120"/>
              </a:rPr>
              <a:t>, and where glucose comes from.</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B5.6.1   </a:t>
            </a:r>
            <a:r>
              <a:rPr lang="en-US" sz="1200" dirty="0">
                <a:solidFill>
                  <a:srgbClr val="262B3A"/>
                </a:solidFill>
                <a:latin typeface="Calibri" pitchFamily="34" charset="0"/>
                <a:ea typeface="Calibri" pitchFamily="34" charset="-122"/>
                <a:cs typeface="Calibri" pitchFamily="34" charset="-120"/>
              </a:rPr>
              <a:t>Explain how the </a:t>
            </a:r>
            <a:r>
              <a:rPr lang="en-US" sz="1200" b="1" dirty="0">
                <a:solidFill>
                  <a:srgbClr val="262B3A"/>
                </a:solidFill>
                <a:latin typeface="Calibri" pitchFamily="34" charset="0"/>
                <a:ea typeface="Calibri" pitchFamily="34" charset="-122"/>
                <a:cs typeface="Calibri" pitchFamily="34" charset="-120"/>
              </a:rPr>
              <a:t>pancreas</a:t>
            </a:r>
            <a:r>
              <a:rPr lang="en-US" sz="1200" dirty="0">
                <a:solidFill>
                  <a:srgbClr val="262B3A"/>
                </a:solidFill>
                <a:latin typeface="Calibri" pitchFamily="34" charset="0"/>
                <a:ea typeface="Calibri" pitchFamily="34" charset="-122"/>
                <a:cs typeface="Calibri" pitchFamily="34" charset="-120"/>
              </a:rPr>
              <a:t> releases </a:t>
            </a:r>
            <a:r>
              <a:rPr lang="en-US" sz="1200" b="1" dirty="0">
                <a:solidFill>
                  <a:srgbClr val="262B3A"/>
                </a:solidFill>
                <a:latin typeface="Calibri" pitchFamily="34" charset="0"/>
                <a:ea typeface="Calibri" pitchFamily="34" charset="-122"/>
                <a:cs typeface="Calibri" pitchFamily="34" charset="-120"/>
              </a:rPr>
              <a:t>insulin</a:t>
            </a:r>
            <a:r>
              <a:rPr lang="en-US" sz="1200" dirty="0">
                <a:solidFill>
                  <a:srgbClr val="262B3A"/>
                </a:solidFill>
                <a:latin typeface="Calibri" pitchFamily="34" charset="0"/>
                <a:ea typeface="Calibri" pitchFamily="34" charset="-122"/>
                <a:cs typeface="Calibri" pitchFamily="34" charset="-120"/>
              </a:rPr>
              <a:t> and how insulin makes the blood glucose level </a:t>
            </a:r>
            <a:r>
              <a:rPr lang="en-US" sz="1200" b="1" dirty="0">
                <a:solidFill>
                  <a:srgbClr val="262B3A"/>
                </a:solidFill>
                <a:latin typeface="Calibri" pitchFamily="34" charset="0"/>
                <a:ea typeface="Calibri" pitchFamily="34" charset="-122"/>
                <a:cs typeface="Calibri" pitchFamily="34" charset="-120"/>
              </a:rPr>
              <a:t>fall</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B5.6.1   </a:t>
            </a:r>
            <a:r>
              <a:rPr lang="en-US" sz="1200" dirty="0">
                <a:solidFill>
                  <a:srgbClr val="262B3A"/>
                </a:solidFill>
                <a:latin typeface="Calibri" pitchFamily="34" charset="0"/>
                <a:ea typeface="Calibri" pitchFamily="34" charset="-122"/>
                <a:cs typeface="Calibri" pitchFamily="34" charset="-120"/>
              </a:rPr>
              <a:t>Describe blood glucose control as </a:t>
            </a:r>
            <a:r>
              <a:rPr lang="en-US" sz="1200" b="1" dirty="0">
                <a:solidFill>
                  <a:srgbClr val="262B3A"/>
                </a:solidFill>
                <a:latin typeface="Calibri" pitchFamily="34" charset="0"/>
                <a:ea typeface="Calibri" pitchFamily="34" charset="-122"/>
                <a:cs typeface="Calibri" pitchFamily="34" charset="-120"/>
              </a:rPr>
              <a:t>negative feedback</a:t>
            </a:r>
            <a:r>
              <a:rPr lang="en-US" sz="1200" dirty="0">
                <a:solidFill>
                  <a:srgbClr val="262B3A"/>
                </a:solidFill>
                <a:latin typeface="Calibri" pitchFamily="34" charset="0"/>
                <a:ea typeface="Calibri" pitchFamily="34" charset="-122"/>
                <a:cs typeface="Calibri" pitchFamily="34" charset="-120"/>
              </a:rPr>
              <a:t>, and the role of </a:t>
            </a:r>
            <a:r>
              <a:rPr lang="en-US" sz="1200" b="1" dirty="0">
                <a:solidFill>
                  <a:srgbClr val="262B3A"/>
                </a:solidFill>
                <a:latin typeface="Calibri" pitchFamily="34" charset="0"/>
                <a:ea typeface="Calibri" pitchFamily="34" charset="-122"/>
                <a:cs typeface="Calibri" pitchFamily="34" charset="-120"/>
              </a:rPr>
              <a:t>glycogen</a:t>
            </a:r>
            <a:r>
              <a:rPr lang="en-US" sz="1200" dirty="0">
                <a:solidFill>
                  <a:srgbClr val="262B3A"/>
                </a:solidFill>
                <a:latin typeface="Calibri" pitchFamily="34" charset="0"/>
                <a:ea typeface="Calibri" pitchFamily="34" charset="-122"/>
                <a:cs typeface="Calibri" pitchFamily="34" charset="-120"/>
              </a:rPr>
              <a:t> in the liver and muscles.</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B5.6.2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glucagon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insulin</a:t>
            </a:r>
            <a:r>
              <a:rPr lang="en-US" sz="1200" dirty="0">
                <a:solidFill>
                  <a:srgbClr val="262B3A"/>
                </a:solidFill>
                <a:latin typeface="Calibri" pitchFamily="34" charset="0"/>
                <a:ea typeface="Calibri" pitchFamily="34" charset="-122"/>
                <a:cs typeface="Calibri" pitchFamily="34" charset="-120"/>
              </a:rPr>
              <a:t> work </a:t>
            </a:r>
            <a:r>
              <a:rPr lang="en-US" sz="1200" b="1" dirty="0">
                <a:solidFill>
                  <a:srgbClr val="262B3A"/>
                </a:solidFill>
                <a:latin typeface="Calibri" pitchFamily="34" charset="0"/>
                <a:ea typeface="Calibri" pitchFamily="34" charset="-122"/>
                <a:cs typeface="Calibri" pitchFamily="34" charset="-120"/>
              </a:rPr>
              <a:t>together</a:t>
            </a:r>
            <a:r>
              <a:rPr lang="en-US" sz="1200" dirty="0">
                <a:solidFill>
                  <a:srgbClr val="262B3A"/>
                </a:solidFill>
                <a:latin typeface="Calibri" pitchFamily="34" charset="0"/>
                <a:ea typeface="Calibri" pitchFamily="34" charset="-122"/>
                <a:cs typeface="Calibri" pitchFamily="34" charset="-120"/>
              </a:rPr>
              <a:t> to control blood glucose.</a:t>
            </a:r>
            <a:endParaRPr lang="en-US" sz="1100" dirty="0"/>
          </a:p>
        </p:txBody>
      </p:sp>
      <p:sp>
        <p:nvSpPr>
          <p:cNvPr id="20" name="Shape 18"/>
          <p:cNvSpPr/>
          <p:nvPr/>
        </p:nvSpPr>
        <p:spPr>
          <a:xfrm>
            <a:off x="5257800" y="4370832"/>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525780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Shape 20"/>
          <p:cNvSpPr/>
          <p:nvPr/>
        </p:nvSpPr>
        <p:spPr>
          <a:xfrm>
            <a:off x="6263640" y="1325880"/>
            <a:ext cx="457200" cy="457200"/>
          </a:xfrm>
          <a:prstGeom prst="ellipse">
            <a:avLst/>
          </a:prstGeom>
          <a:solidFill>
            <a:srgbClr val="0D7877"/>
          </a:solidFill>
          <a:ln w="12700">
            <a:solidFill>
              <a:srgbClr val="0D7877"/>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B5.6.3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cause</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symptoms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treatment</a:t>
            </a:r>
            <a:r>
              <a:rPr lang="en-US" sz="1200" dirty="0">
                <a:solidFill>
                  <a:srgbClr val="262B3A"/>
                </a:solidFill>
                <a:latin typeface="Calibri" pitchFamily="34" charset="0"/>
                <a:ea typeface="Calibri" pitchFamily="34" charset="-122"/>
                <a:cs typeface="Calibri" pitchFamily="34" charset="-120"/>
              </a:rPr>
              <a:t> of </a:t>
            </a:r>
            <a:r>
              <a:rPr lang="en-US" sz="1200" b="1" dirty="0">
                <a:solidFill>
                  <a:srgbClr val="262B3A"/>
                </a:solidFill>
                <a:latin typeface="Calibri" pitchFamily="34" charset="0"/>
                <a:ea typeface="Calibri" pitchFamily="34" charset="-122"/>
                <a:cs typeface="Calibri" pitchFamily="34" charset="-120"/>
              </a:rPr>
              <a:t>type 1</a:t>
            </a:r>
            <a:r>
              <a:rPr lang="en-US" sz="1200" dirty="0">
                <a:solidFill>
                  <a:srgbClr val="262B3A"/>
                </a:solidFill>
                <a:latin typeface="Calibri" pitchFamily="34" charset="0"/>
                <a:ea typeface="Calibri" pitchFamily="34" charset="-122"/>
                <a:cs typeface="Calibri" pitchFamily="34" charset="-120"/>
              </a:rPr>
              <a:t> diabetes.</a:t>
            </a:r>
            <a:endParaRPr lang="en-US" sz="1100" dirty="0"/>
          </a:p>
        </p:txBody>
      </p:sp>
      <p:sp>
        <p:nvSpPr>
          <p:cNvPr id="25" name="Shape 23"/>
          <p:cNvSpPr/>
          <p:nvPr/>
        </p:nvSpPr>
        <p:spPr>
          <a:xfrm>
            <a:off x="6263640" y="2194560"/>
            <a:ext cx="457200" cy="457200"/>
          </a:xfrm>
          <a:prstGeom prst="ellipse">
            <a:avLst/>
          </a:prstGeom>
          <a:solidFill>
            <a:srgbClr val="0D7877"/>
          </a:solidFill>
          <a:ln w="12700">
            <a:solidFill>
              <a:srgbClr val="0D7877"/>
            </a:solidFill>
            <a:prstDash val="solid"/>
          </a:ln>
        </p:spPr>
      </p:sp>
      <p:sp>
        <p:nvSpPr>
          <p:cNvPr id="26" name="Text 24"/>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B5.6.3   </a:t>
            </a:r>
            <a:r>
              <a:rPr lang="en-US" sz="1200" dirty="0">
                <a:solidFill>
                  <a:srgbClr val="262B3A"/>
                </a:solidFill>
                <a:latin typeface="Calibri" pitchFamily="34" charset="0"/>
                <a:ea typeface="Calibri" pitchFamily="34" charset="-122"/>
                <a:cs typeface="Calibri" pitchFamily="34" charset="-120"/>
              </a:rPr>
              <a:t>Describe the cause, risk factors and treatment of </a:t>
            </a:r>
            <a:r>
              <a:rPr lang="en-US" sz="1200" b="1" dirty="0">
                <a:solidFill>
                  <a:srgbClr val="262B3A"/>
                </a:solidFill>
                <a:latin typeface="Calibri" pitchFamily="34" charset="0"/>
                <a:ea typeface="Calibri" pitchFamily="34" charset="-122"/>
                <a:cs typeface="Calibri" pitchFamily="34" charset="-120"/>
              </a:rPr>
              <a:t>type 2</a:t>
            </a:r>
            <a:r>
              <a:rPr lang="en-US" sz="1200" dirty="0">
                <a:solidFill>
                  <a:srgbClr val="262B3A"/>
                </a:solidFill>
                <a:latin typeface="Calibri" pitchFamily="34" charset="0"/>
                <a:ea typeface="Calibri" pitchFamily="34" charset="-122"/>
                <a:cs typeface="Calibri" pitchFamily="34" charset="-120"/>
              </a:rPr>
              <a:t> diabetes; calculate </a:t>
            </a:r>
            <a:r>
              <a:rPr lang="en-US" sz="1200" b="1" dirty="0">
                <a:solidFill>
                  <a:srgbClr val="262B3A"/>
                </a:solidFill>
                <a:latin typeface="Calibri" pitchFamily="34" charset="0"/>
                <a:ea typeface="Calibri" pitchFamily="34" charset="-122"/>
                <a:cs typeface="Calibri" pitchFamily="34" charset="-120"/>
              </a:rPr>
              <a:t>BMI</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6263640" y="3063240"/>
            <a:ext cx="457200" cy="457200"/>
          </a:xfrm>
          <a:prstGeom prst="ellipse">
            <a:avLst/>
          </a:prstGeom>
          <a:solidFill>
            <a:srgbClr val="0D7877"/>
          </a:solidFill>
          <a:ln w="12700">
            <a:solidFill>
              <a:srgbClr val="0D7877"/>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B5.6.3   </a:t>
            </a:r>
            <a:r>
              <a:rPr lang="en-US" sz="1200" b="1" dirty="0">
                <a:solidFill>
                  <a:srgbClr val="262B3A"/>
                </a:solidFill>
                <a:latin typeface="Calibri" pitchFamily="34" charset="0"/>
                <a:ea typeface="Calibri" pitchFamily="34" charset="-122"/>
                <a:cs typeface="Calibri" pitchFamily="34" charset="-120"/>
              </a:rPr>
              <a:t>Compare</a:t>
            </a:r>
            <a:r>
              <a:rPr lang="en-US" sz="1200" dirty="0">
                <a:solidFill>
                  <a:srgbClr val="262B3A"/>
                </a:solidFill>
                <a:latin typeface="Calibri" pitchFamily="34" charset="0"/>
                <a:ea typeface="Calibri" pitchFamily="34" charset="-122"/>
                <a:cs typeface="Calibri" pitchFamily="34" charset="-120"/>
              </a:rPr>
              <a:t> type 1 and type 2 diabetes and interpret </a:t>
            </a:r>
            <a:r>
              <a:rPr lang="en-US" sz="1200" b="1" dirty="0">
                <a:solidFill>
                  <a:srgbClr val="262B3A"/>
                </a:solidFill>
                <a:latin typeface="Calibri" pitchFamily="34" charset="0"/>
                <a:ea typeface="Calibri" pitchFamily="34" charset="-122"/>
                <a:cs typeface="Calibri" pitchFamily="34" charset="-120"/>
              </a:rPr>
              <a:t>glucose tolerance test</a:t>
            </a:r>
            <a:r>
              <a:rPr lang="en-US" sz="1200" dirty="0">
                <a:solidFill>
                  <a:srgbClr val="262B3A"/>
                </a:solidFill>
                <a:latin typeface="Calibri" pitchFamily="34" charset="0"/>
                <a:ea typeface="Calibri" pitchFamily="34" charset="-122"/>
                <a:cs typeface="Calibri" pitchFamily="34" charset="-120"/>
              </a:rPr>
              <a:t> data.</a:t>
            </a:r>
            <a:endParaRPr lang="en-US" sz="1100" dirty="0"/>
          </a:p>
        </p:txBody>
      </p:sp>
      <p:sp>
        <p:nvSpPr>
          <p:cNvPr id="31" name="Shape 29"/>
          <p:cNvSpPr/>
          <p:nvPr/>
        </p:nvSpPr>
        <p:spPr>
          <a:xfrm>
            <a:off x="6263640" y="3931920"/>
            <a:ext cx="457200" cy="457200"/>
          </a:xfrm>
          <a:prstGeom prst="ellipse">
            <a:avLst/>
          </a:prstGeom>
          <a:solidFill>
            <a:srgbClr val="0D7877"/>
          </a:solidFill>
          <a:ln w="12700">
            <a:solidFill>
              <a:srgbClr val="0D7877"/>
            </a:solidFill>
            <a:prstDash val="solid"/>
          </a:ln>
        </p:spPr>
      </p:sp>
      <p:sp>
        <p:nvSpPr>
          <p:cNvPr id="32" name="Text 30"/>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3" name="Text 31"/>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Activity   </a:t>
            </a:r>
            <a:r>
              <a:rPr lang="en-US" sz="1200" dirty="0">
                <a:solidFill>
                  <a:srgbClr val="262B3A"/>
                </a:solidFill>
                <a:latin typeface="Calibri" pitchFamily="34" charset="0"/>
                <a:ea typeface="Calibri" pitchFamily="34" charset="-122"/>
                <a:cs typeface="Calibri" pitchFamily="34" charset="-120"/>
              </a:rPr>
              <a:t>Test samples for </a:t>
            </a:r>
            <a:r>
              <a:rPr lang="en-US" sz="1200" b="1" dirty="0">
                <a:solidFill>
                  <a:srgbClr val="262B3A"/>
                </a:solidFill>
                <a:latin typeface="Calibri" pitchFamily="34" charset="0"/>
                <a:ea typeface="Calibri" pitchFamily="34" charset="-122"/>
                <a:cs typeface="Calibri" pitchFamily="34" charset="-120"/>
              </a:rPr>
              <a:t>glucose</a:t>
            </a:r>
            <a:r>
              <a:rPr lang="en-US" sz="1200" dirty="0">
                <a:solidFill>
                  <a:srgbClr val="262B3A"/>
                </a:solidFill>
                <a:latin typeface="Calibri" pitchFamily="34" charset="0"/>
                <a:ea typeface="Calibri" pitchFamily="34" charset="-122"/>
                <a:cs typeface="Calibri" pitchFamily="34" charset="-120"/>
              </a:rPr>
              <a:t> with Benedict's reagent and use a </a:t>
            </a:r>
            <a:r>
              <a:rPr lang="en-US" sz="1200" b="1" dirty="0">
                <a:solidFill>
                  <a:srgbClr val="262B3A"/>
                </a:solidFill>
                <a:latin typeface="Calibri" pitchFamily="34" charset="0"/>
                <a:ea typeface="Calibri" pitchFamily="34" charset="-122"/>
                <a:cs typeface="Calibri" pitchFamily="34" charset="-120"/>
              </a:rPr>
              <a:t>calibration graph</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B5 The human body – staying alive • B5.6 is Part 6 of 6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B5.6</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When control fails</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B5.6.1   </a:t>
            </a:r>
            <a:r>
              <a:rPr lang="en-US" sz="1100" dirty="0">
                <a:solidFill>
                  <a:srgbClr val="262B3A"/>
                </a:solidFill>
                <a:latin typeface="Calibri" pitchFamily="34" charset="0"/>
                <a:ea typeface="Calibri" pitchFamily="34" charset="-122"/>
                <a:cs typeface="Calibri" pitchFamily="34" charset="-120"/>
              </a:rPr>
              <a:t>Why control blood glucose? Insulin and glycogen</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B5.6.1   </a:t>
            </a:r>
            <a:r>
              <a:rPr lang="en-US" sz="1100" dirty="0">
                <a:solidFill>
                  <a:srgbClr val="262B3A"/>
                </a:solidFill>
                <a:latin typeface="Calibri" pitchFamily="34" charset="0"/>
                <a:ea typeface="Calibri" pitchFamily="34" charset="-122"/>
                <a:cs typeface="Calibri" pitchFamily="34" charset="-120"/>
              </a:rPr>
              <a:t>Blood glucose and negative feedback</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B5.6.2   </a:t>
            </a:r>
            <a:r>
              <a:rPr lang="en-US" sz="1100" dirty="0">
                <a:solidFill>
                  <a:srgbClr val="262B3A"/>
                </a:solidFill>
                <a:latin typeface="Calibri" pitchFamily="34" charset="0"/>
                <a:ea typeface="Calibri" pitchFamily="34" charset="-122"/>
                <a:cs typeface="Calibri" pitchFamily="34" charset="-120"/>
              </a:rPr>
              <a:t>Glucagon and insulin work together</a:t>
            </a:r>
            <a:endParaRPr lang="en-US" sz="1100" dirty="0"/>
          </a:p>
        </p:txBody>
      </p:sp>
      <p:sp>
        <p:nvSpPr>
          <p:cNvPr id="24" name="Shape 22"/>
          <p:cNvSpPr/>
          <p:nvPr/>
        </p:nvSpPr>
        <p:spPr>
          <a:xfrm>
            <a:off x="5257800" y="3566160"/>
            <a:ext cx="10972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B5.6.3   </a:t>
            </a:r>
            <a:r>
              <a:rPr lang="en-US" sz="1100" dirty="0">
                <a:solidFill>
                  <a:srgbClr val="262B3A"/>
                </a:solidFill>
                <a:latin typeface="Calibri" pitchFamily="34" charset="0"/>
                <a:ea typeface="Calibri" pitchFamily="34" charset="-122"/>
                <a:cs typeface="Calibri" pitchFamily="34" charset="-120"/>
              </a:rPr>
              <a:t>Type 1 and type 2 diabetes: causes and treatments</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Data   </a:t>
            </a:r>
            <a:r>
              <a:rPr lang="en-US" sz="1100" dirty="0">
                <a:solidFill>
                  <a:srgbClr val="262B3A"/>
                </a:solidFill>
                <a:latin typeface="Calibri" pitchFamily="34" charset="0"/>
                <a:ea typeface="Calibri" pitchFamily="34" charset="-122"/>
                <a:cs typeface="Calibri" pitchFamily="34" charset="-120"/>
              </a:rPr>
              <a:t>Glucose tolerance test; BMI and risk</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Activity   </a:t>
            </a:r>
            <a:r>
              <a:rPr lang="en-US" sz="1100" dirty="0">
                <a:solidFill>
                  <a:srgbClr val="262B3A"/>
                </a:solidFill>
                <a:latin typeface="Calibri" pitchFamily="34" charset="0"/>
                <a:ea typeface="Calibri" pitchFamily="34" charset="-122"/>
                <a:cs typeface="Calibri" pitchFamily="34" charset="-120"/>
              </a:rPr>
              <a:t>Testing for glucose; calibration graph</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B4.1 respiration • B5.1 plasma • B5.3 pancreas, negative feedback • B5.4 homeostasis</a:t>
            </a:r>
            <a:endParaRPr lang="en-US" sz="1050" dirty="0"/>
          </a:p>
        </p:txBody>
      </p:sp>
      <p:sp>
        <p:nvSpPr>
          <p:cNvPr id="42" name="Shape 40"/>
          <p:cNvSpPr/>
          <p:nvPr/>
        </p:nvSpPr>
        <p:spPr>
          <a:xfrm>
            <a:off x="6720840" y="1234440"/>
            <a:ext cx="5056632" cy="2971800"/>
          </a:xfrm>
          <a:prstGeom prst="roundRect">
            <a:avLst>
              <a:gd name="adj" fmla="val 1846"/>
            </a:avLst>
          </a:prstGeom>
          <a:solidFill>
            <a:srgbClr val="0F3D3E"/>
          </a:solidFill>
          <a:ln/>
        </p:spPr>
      </p:sp>
      <p:sp>
        <p:nvSpPr>
          <p:cNvPr id="43" name="Text 41"/>
          <p:cNvSpPr/>
          <p:nvPr/>
        </p:nvSpPr>
        <p:spPr>
          <a:xfrm>
            <a:off x="6903720" y="1325880"/>
            <a:ext cx="4709160" cy="27889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B5 in J260</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B5.1 How do substances get into, out of and around our bodies?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B5.2 How does the nervous system help us respond to changes?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B5.3 How do hormones control responses in the human body?</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B5.4 Why do we need to maintain a constant internal environment?</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B5.5 What role do hormones play in human reproduction?</a:t>
            </a:r>
            <a:endParaRPr lang="en-US" sz="1500" dirty="0"/>
          </a:p>
          <a:p>
            <a:pPr marL="152400" indent="-152400">
              <a:spcAft>
                <a:spcPts val="200"/>
              </a:spcAft>
              <a:buSzPct val="100000"/>
              <a:buChar char="▪"/>
            </a:pPr>
            <a:r>
              <a:rPr lang="en-US" sz="1100" b="1" dirty="0">
                <a:solidFill>
                  <a:srgbClr val="E3F2F0"/>
                </a:solidFill>
                <a:latin typeface="Calibri" pitchFamily="34" charset="0"/>
                <a:ea typeface="Calibri" pitchFamily="34" charset="-122"/>
                <a:cs typeface="Calibri" pitchFamily="34" charset="-120"/>
              </a:rPr>
              <a:t>B5.6 What can happen when organs and control systems stop working?</a:t>
            </a:r>
            <a:r>
              <a:rPr lang="en-US" sz="1100" dirty="0">
                <a:solidFill>
                  <a:srgbClr val="E3F2F0"/>
                </a:solidFill>
                <a:latin typeface="Calibri" pitchFamily="34" charset="0"/>
                <a:ea typeface="Calibri" pitchFamily="34" charset="-122"/>
                <a:cs typeface="Calibri" pitchFamily="34" charset="-120"/>
              </a:rPr>
              <a:t> (this deck)</a:t>
            </a:r>
            <a:endParaRPr lang="en-US" sz="1500" dirty="0"/>
          </a:p>
        </p:txBody>
      </p:sp>
      <p:sp>
        <p:nvSpPr>
          <p:cNvPr id="44" name="Shape 42"/>
          <p:cNvSpPr/>
          <p:nvPr/>
        </p:nvSpPr>
        <p:spPr>
          <a:xfrm>
            <a:off x="6720840" y="4343400"/>
            <a:ext cx="5056632" cy="1920240"/>
          </a:xfrm>
          <a:prstGeom prst="roundRect">
            <a:avLst>
              <a:gd name="adj" fmla="val 2857"/>
            </a:avLst>
          </a:prstGeom>
          <a:solidFill>
            <a:srgbClr val="FFF4E0"/>
          </a:solidFill>
          <a:ln w="12700">
            <a:solidFill>
              <a:srgbClr val="F1D9A8"/>
            </a:solidFill>
            <a:prstDash val="solid"/>
          </a:ln>
        </p:spPr>
      </p:sp>
      <p:sp>
        <p:nvSpPr>
          <p:cNvPr id="45" name="Text 43"/>
          <p:cNvSpPr/>
          <p:nvPr/>
        </p:nvSpPr>
        <p:spPr>
          <a:xfrm>
            <a:off x="6903720" y="4434840"/>
            <a:ext cx="4709160" cy="17373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(glucagon)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Blood glucose is the example of a control system that can </a:t>
            </a:r>
            <a:r>
              <a:rPr lang="en-US" sz="1100" b="1" dirty="0">
                <a:solidFill>
                  <a:srgbClr val="262B3A"/>
                </a:solidFill>
                <a:latin typeface="Calibri" pitchFamily="34" charset="0"/>
                <a:ea typeface="Calibri" pitchFamily="34" charset="-122"/>
                <a:cs typeface="Calibri" pitchFamily="34" charset="-120"/>
              </a:rPr>
              <a:t>stop working</a:t>
            </a:r>
            <a:r>
              <a:rPr lang="en-US" sz="1100" dirty="0">
                <a:solidFill>
                  <a:srgbClr val="262B3A"/>
                </a:solidFill>
                <a:latin typeface="Calibri" pitchFamily="34" charset="0"/>
                <a:ea typeface="Calibri" pitchFamily="34" charset="-122"/>
                <a:cs typeface="Calibri" pitchFamily="34" charset="-120"/>
              </a:rPr>
              <a:t>: diabetes.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reading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BMI</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means</a:t>
            </a:r>
            <a:r>
              <a:rPr lang="en-US" sz="1100" dirty="0">
                <a:solidFill>
                  <a:srgbClr val="262B3A"/>
                </a:solidFill>
                <a:latin typeface="Calibri" pitchFamily="34" charset="0"/>
                <a:ea typeface="Calibri" pitchFamily="34" charset="-122"/>
                <a:cs typeface="Calibri" pitchFamily="34" charset="-120"/>
              </a:rPr>
              <a:t>, interpolation.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B3, B4.1, B5.1, B5.3 and B5.4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B4.1 • respiration</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word equation for </a:t>
            </a:r>
            <a:r>
              <a:rPr lang="en-US" sz="1250" b="1" dirty="0">
                <a:solidFill>
                  <a:srgbClr val="262B3A"/>
                </a:solidFill>
                <a:latin typeface="Calibri" pitchFamily="34" charset="0"/>
                <a:ea typeface="Calibri" pitchFamily="34" charset="-122"/>
                <a:cs typeface="Calibri" pitchFamily="34" charset="-120"/>
              </a:rPr>
              <a:t>aerobic respiration</a:t>
            </a:r>
            <a:r>
              <a:rPr lang="en-US" sz="1250" dirty="0">
                <a:solidFill>
                  <a:srgbClr val="262B3A"/>
                </a:solidFill>
                <a:latin typeface="Calibri" pitchFamily="34" charset="0"/>
                <a:ea typeface="Calibri" pitchFamily="34" charset="-122"/>
                <a:cs typeface="Calibri" pitchFamily="34" charset="-120"/>
              </a:rPr>
              <a:t>. Why do cells need a steady supply of </a:t>
            </a:r>
            <a:r>
              <a:rPr lang="en-US" sz="1250" b="1" dirty="0">
                <a:solidFill>
                  <a:srgbClr val="262B3A"/>
                </a:solidFill>
                <a:latin typeface="Calibri" pitchFamily="34" charset="0"/>
                <a:ea typeface="Calibri" pitchFamily="34" charset="-122"/>
                <a:cs typeface="Calibri" pitchFamily="34" charset="-120"/>
              </a:rPr>
              <a:t>glucose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blood</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part of the blood carries dissolved </a:t>
            </a:r>
            <a:r>
              <a:rPr lang="en-US" sz="1250" b="1" dirty="0">
                <a:solidFill>
                  <a:srgbClr val="262B3A"/>
                </a:solidFill>
                <a:latin typeface="Calibri" pitchFamily="34" charset="0"/>
                <a:ea typeface="Calibri" pitchFamily="34" charset="-122"/>
                <a:cs typeface="Calibri" pitchFamily="34" charset="-120"/>
              </a:rPr>
              <a:t>glucose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hormones</a:t>
            </a:r>
            <a:r>
              <a:rPr lang="en-US" sz="1250" dirty="0">
                <a:solidFill>
                  <a:srgbClr val="262B3A"/>
                </a:solidFill>
                <a:latin typeface="Calibri" pitchFamily="34" charset="0"/>
                <a:ea typeface="Calibri" pitchFamily="34" charset="-122"/>
                <a:cs typeface="Calibri" pitchFamily="34" charset="-120"/>
              </a:rPr>
              <a:t> around the body?</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B5.3 • hormones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Where is the </a:t>
            </a:r>
            <a:r>
              <a:rPr lang="en-US" sz="1250" b="1" dirty="0">
                <a:solidFill>
                  <a:srgbClr val="262B3A"/>
                </a:solidFill>
                <a:latin typeface="Calibri" pitchFamily="34" charset="0"/>
                <a:ea typeface="Calibri" pitchFamily="34" charset="-122"/>
                <a:cs typeface="Calibri" pitchFamily="34" charset="-120"/>
              </a:rPr>
              <a:t>pancreas</a:t>
            </a:r>
            <a:r>
              <a:rPr lang="en-US" sz="1250" dirty="0">
                <a:solidFill>
                  <a:srgbClr val="262B3A"/>
                </a:solidFill>
                <a:latin typeface="Calibri" pitchFamily="34" charset="0"/>
                <a:ea typeface="Calibri" pitchFamily="34" charset="-122"/>
                <a:cs typeface="Calibri" pitchFamily="34" charset="-120"/>
              </a:rPr>
              <a:t>? How do hormones travel from a gland to their </a:t>
            </a:r>
            <a:r>
              <a:rPr lang="en-US" sz="1250" b="1" dirty="0">
                <a:solidFill>
                  <a:srgbClr val="262B3A"/>
                </a:solidFill>
                <a:latin typeface="Calibri" pitchFamily="34" charset="0"/>
                <a:ea typeface="Calibri" pitchFamily="34" charset="-122"/>
                <a:cs typeface="Calibri" pitchFamily="34" charset="-120"/>
              </a:rPr>
              <a:t>target</a:t>
            </a:r>
            <a:r>
              <a:rPr lang="en-US" sz="1250" dirty="0">
                <a:solidFill>
                  <a:srgbClr val="262B3A"/>
                </a:solidFill>
                <a:latin typeface="Calibri" pitchFamily="34" charset="0"/>
                <a:ea typeface="Calibri" pitchFamily="34" charset="-122"/>
                <a:cs typeface="Calibri" pitchFamily="34" charset="-120"/>
              </a:rPr>
              <a:t> organ?</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B5.3 • feedback</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 Give the example you met in B5.3.</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B5.4 • homeostasis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homeostasis</a:t>
            </a:r>
            <a:r>
              <a:rPr lang="en-US" sz="1250" dirty="0">
                <a:solidFill>
                  <a:srgbClr val="262B3A"/>
                </a:solidFill>
                <a:latin typeface="Calibri" pitchFamily="34" charset="0"/>
                <a:ea typeface="Calibri" pitchFamily="34" charset="-122"/>
                <a:cs typeface="Calibri" pitchFamily="34" charset="-120"/>
              </a:rPr>
              <a:t>. What are </a:t>
            </a:r>
            <a:r>
              <a:rPr lang="en-US" sz="1250" b="1" dirty="0">
                <a:solidFill>
                  <a:srgbClr val="262B3A"/>
                </a:solidFill>
                <a:latin typeface="Calibri" pitchFamily="34" charset="0"/>
                <a:ea typeface="Calibri" pitchFamily="34" charset="-122"/>
                <a:cs typeface="Calibri" pitchFamily="34" charset="-120"/>
              </a:rPr>
              <a:t>antagonistic</a:t>
            </a:r>
            <a:r>
              <a:rPr lang="en-US" sz="1250" dirty="0">
                <a:solidFill>
                  <a:srgbClr val="262B3A"/>
                </a:solidFill>
                <a:latin typeface="Calibri" pitchFamily="34" charset="0"/>
                <a:ea typeface="Calibri" pitchFamily="34" charset="-122"/>
                <a:cs typeface="Calibri" pitchFamily="34" charset="-120"/>
              </a:rPr>
              <a:t> effectors?</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food tests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reagent tests for </a:t>
            </a:r>
            <a:r>
              <a:rPr lang="en-US" sz="1250" b="1" dirty="0">
                <a:solidFill>
                  <a:srgbClr val="262B3A"/>
                </a:solidFill>
                <a:latin typeface="Calibri" pitchFamily="34" charset="0"/>
                <a:ea typeface="Calibri" pitchFamily="34" charset="-122"/>
                <a:cs typeface="Calibri" pitchFamily="34" charset="-120"/>
              </a:rPr>
              <a:t>glucose</a:t>
            </a:r>
            <a:r>
              <a:rPr lang="en-US" sz="1250" dirty="0">
                <a:solidFill>
                  <a:srgbClr val="262B3A"/>
                </a:solidFill>
                <a:latin typeface="Calibri" pitchFamily="34" charset="0"/>
                <a:ea typeface="Calibri" pitchFamily="34" charset="-122"/>
                <a:cs typeface="Calibri" pitchFamily="34" charset="-120"/>
              </a:rPr>
              <a:t> (a reducing sugar)? What colour shows a lot of glucose? (A student does </a:t>
            </a:r>
            <a:r>
              <a:rPr lang="en-US" sz="1250" b="1" dirty="0">
                <a:solidFill>
                  <a:srgbClr val="262B3A"/>
                </a:solidFill>
                <a:latin typeface="Calibri" pitchFamily="34" charset="0"/>
                <a:ea typeface="Calibri" pitchFamily="34" charset="-122"/>
                <a:cs typeface="Calibri" pitchFamily="34" charset="-120"/>
              </a:rPr>
              <a:t>6</a:t>
            </a:r>
            <a:r>
              <a:rPr lang="en-US" sz="1250" dirty="0">
                <a:solidFill>
                  <a:srgbClr val="262B3A"/>
                </a:solidFill>
                <a:latin typeface="Calibri" pitchFamily="34" charset="0"/>
                <a:ea typeface="Calibri" pitchFamily="34" charset="-122"/>
                <a:cs typeface="Calibri" pitchFamily="34" charset="-120"/>
              </a:rPr>
              <a:t> tests of </a:t>
            </a:r>
            <a:r>
              <a:rPr lang="en-US" sz="1250" b="1" dirty="0">
                <a:solidFill>
                  <a:srgbClr val="262B3A"/>
                </a:solidFill>
                <a:latin typeface="Calibri" pitchFamily="34" charset="0"/>
                <a:ea typeface="Calibri" pitchFamily="34" charset="-122"/>
                <a:cs typeface="Calibri" pitchFamily="34" charset="-120"/>
              </a:rPr>
              <a:t>4</a:t>
            </a:r>
            <a:r>
              <a:rPr lang="en-US" sz="1250" dirty="0">
                <a:solidFill>
                  <a:srgbClr val="262B3A"/>
                </a:solidFill>
                <a:latin typeface="Calibri" pitchFamily="34" charset="0"/>
                <a:ea typeface="Calibri" pitchFamily="34" charset="-122"/>
                <a:cs typeface="Calibri" pitchFamily="34" charset="-120"/>
              </a:rPr>
              <a:t> min each: total time?)</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blood glucose must be controlled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 • glucose comes in at meals but cells use it all the time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blood glucose of a healthy person over one day, plotted to scale (model data)</a:t>
            </a:r>
            <a:endParaRPr lang="en-US" sz="1000" dirty="0"/>
          </a:p>
        </p:txBody>
      </p:sp>
      <p:sp>
        <p:nvSpPr>
          <p:cNvPr id="10" name="Shape 8"/>
          <p:cNvSpPr/>
          <p:nvPr/>
        </p:nvSpPr>
        <p:spPr>
          <a:xfrm>
            <a:off x="1280160" y="1508760"/>
            <a:ext cx="4434840" cy="2971800"/>
          </a:xfrm>
          <a:prstGeom prst="rect">
            <a:avLst/>
          </a:prstGeom>
          <a:solidFill>
            <a:srgbClr val="FFFFFF"/>
          </a:solidFill>
          <a:ln/>
        </p:spPr>
      </p:sp>
      <p:sp>
        <p:nvSpPr>
          <p:cNvPr id="11" name="Shape 9"/>
          <p:cNvSpPr/>
          <p:nvPr/>
        </p:nvSpPr>
        <p:spPr>
          <a:xfrm>
            <a:off x="1280160" y="1508760"/>
            <a:ext cx="91" cy="2971800"/>
          </a:xfrm>
          <a:prstGeom prst="line">
            <a:avLst/>
          </a:prstGeom>
          <a:noFill/>
          <a:ln w="6350">
            <a:solidFill>
              <a:srgbClr val="C5DCD9"/>
            </a:solidFill>
            <a:prstDash val="solid"/>
          </a:ln>
        </p:spPr>
      </p:sp>
      <p:sp>
        <p:nvSpPr>
          <p:cNvPr id="12" name="Shape 10"/>
          <p:cNvSpPr/>
          <p:nvPr/>
        </p:nvSpPr>
        <p:spPr>
          <a:xfrm>
            <a:off x="1649730" y="1508760"/>
            <a:ext cx="91" cy="2971800"/>
          </a:xfrm>
          <a:prstGeom prst="line">
            <a:avLst/>
          </a:prstGeom>
          <a:noFill/>
          <a:ln w="6350">
            <a:solidFill>
              <a:srgbClr val="E3EFED"/>
            </a:solidFill>
            <a:prstDash val="solid"/>
          </a:ln>
        </p:spPr>
      </p:sp>
      <p:sp>
        <p:nvSpPr>
          <p:cNvPr id="13" name="Shape 11"/>
          <p:cNvSpPr/>
          <p:nvPr/>
        </p:nvSpPr>
        <p:spPr>
          <a:xfrm>
            <a:off x="2019300" y="1508760"/>
            <a:ext cx="91" cy="2971800"/>
          </a:xfrm>
          <a:prstGeom prst="line">
            <a:avLst/>
          </a:prstGeom>
          <a:noFill/>
          <a:ln w="6350">
            <a:solidFill>
              <a:srgbClr val="C5DCD9"/>
            </a:solidFill>
            <a:prstDash val="solid"/>
          </a:ln>
        </p:spPr>
      </p:sp>
      <p:sp>
        <p:nvSpPr>
          <p:cNvPr id="14" name="Shape 12"/>
          <p:cNvSpPr/>
          <p:nvPr/>
        </p:nvSpPr>
        <p:spPr>
          <a:xfrm>
            <a:off x="2388870" y="1508760"/>
            <a:ext cx="91" cy="2971800"/>
          </a:xfrm>
          <a:prstGeom prst="line">
            <a:avLst/>
          </a:prstGeom>
          <a:noFill/>
          <a:ln w="6350">
            <a:solidFill>
              <a:srgbClr val="E3EFED"/>
            </a:solidFill>
            <a:prstDash val="solid"/>
          </a:ln>
        </p:spPr>
      </p:sp>
      <p:sp>
        <p:nvSpPr>
          <p:cNvPr id="15" name="Shape 13"/>
          <p:cNvSpPr/>
          <p:nvPr/>
        </p:nvSpPr>
        <p:spPr>
          <a:xfrm>
            <a:off x="2758440" y="1508760"/>
            <a:ext cx="91" cy="2971800"/>
          </a:xfrm>
          <a:prstGeom prst="line">
            <a:avLst/>
          </a:prstGeom>
          <a:noFill/>
          <a:ln w="6350">
            <a:solidFill>
              <a:srgbClr val="C5DCD9"/>
            </a:solidFill>
            <a:prstDash val="solid"/>
          </a:ln>
        </p:spPr>
      </p:sp>
      <p:sp>
        <p:nvSpPr>
          <p:cNvPr id="16" name="Shape 14"/>
          <p:cNvSpPr/>
          <p:nvPr/>
        </p:nvSpPr>
        <p:spPr>
          <a:xfrm>
            <a:off x="3128010" y="1508760"/>
            <a:ext cx="91" cy="2971800"/>
          </a:xfrm>
          <a:prstGeom prst="line">
            <a:avLst/>
          </a:prstGeom>
          <a:noFill/>
          <a:ln w="6350">
            <a:solidFill>
              <a:srgbClr val="E3EFED"/>
            </a:solidFill>
            <a:prstDash val="solid"/>
          </a:ln>
        </p:spPr>
      </p:sp>
      <p:sp>
        <p:nvSpPr>
          <p:cNvPr id="17" name="Shape 15"/>
          <p:cNvSpPr/>
          <p:nvPr/>
        </p:nvSpPr>
        <p:spPr>
          <a:xfrm>
            <a:off x="3497580" y="1508760"/>
            <a:ext cx="91" cy="2971800"/>
          </a:xfrm>
          <a:prstGeom prst="line">
            <a:avLst/>
          </a:prstGeom>
          <a:noFill/>
          <a:ln w="6350">
            <a:solidFill>
              <a:srgbClr val="C5DCD9"/>
            </a:solidFill>
            <a:prstDash val="solid"/>
          </a:ln>
        </p:spPr>
      </p:sp>
      <p:sp>
        <p:nvSpPr>
          <p:cNvPr id="18" name="Shape 16"/>
          <p:cNvSpPr/>
          <p:nvPr/>
        </p:nvSpPr>
        <p:spPr>
          <a:xfrm>
            <a:off x="3867150" y="1508760"/>
            <a:ext cx="91" cy="2971800"/>
          </a:xfrm>
          <a:prstGeom prst="line">
            <a:avLst/>
          </a:prstGeom>
          <a:noFill/>
          <a:ln w="6350">
            <a:solidFill>
              <a:srgbClr val="E3EFED"/>
            </a:solidFill>
            <a:prstDash val="solid"/>
          </a:ln>
        </p:spPr>
      </p:sp>
      <p:sp>
        <p:nvSpPr>
          <p:cNvPr id="19" name="Shape 17"/>
          <p:cNvSpPr/>
          <p:nvPr/>
        </p:nvSpPr>
        <p:spPr>
          <a:xfrm>
            <a:off x="4236720" y="1508760"/>
            <a:ext cx="91" cy="2971800"/>
          </a:xfrm>
          <a:prstGeom prst="line">
            <a:avLst/>
          </a:prstGeom>
          <a:noFill/>
          <a:ln w="6350">
            <a:solidFill>
              <a:srgbClr val="C5DCD9"/>
            </a:solidFill>
            <a:prstDash val="solid"/>
          </a:ln>
        </p:spPr>
      </p:sp>
      <p:sp>
        <p:nvSpPr>
          <p:cNvPr id="20" name="Shape 18"/>
          <p:cNvSpPr/>
          <p:nvPr/>
        </p:nvSpPr>
        <p:spPr>
          <a:xfrm>
            <a:off x="4606290" y="1508760"/>
            <a:ext cx="91" cy="2971800"/>
          </a:xfrm>
          <a:prstGeom prst="line">
            <a:avLst/>
          </a:prstGeom>
          <a:noFill/>
          <a:ln w="6350">
            <a:solidFill>
              <a:srgbClr val="E3EFED"/>
            </a:solidFill>
            <a:prstDash val="solid"/>
          </a:ln>
        </p:spPr>
      </p:sp>
      <p:sp>
        <p:nvSpPr>
          <p:cNvPr id="21" name="Shape 19"/>
          <p:cNvSpPr/>
          <p:nvPr/>
        </p:nvSpPr>
        <p:spPr>
          <a:xfrm>
            <a:off x="4975860" y="1508760"/>
            <a:ext cx="91" cy="2971800"/>
          </a:xfrm>
          <a:prstGeom prst="line">
            <a:avLst/>
          </a:prstGeom>
          <a:noFill/>
          <a:ln w="6350">
            <a:solidFill>
              <a:srgbClr val="C5DCD9"/>
            </a:solidFill>
            <a:prstDash val="solid"/>
          </a:ln>
        </p:spPr>
      </p:sp>
      <p:sp>
        <p:nvSpPr>
          <p:cNvPr id="22" name="Shape 20"/>
          <p:cNvSpPr/>
          <p:nvPr/>
        </p:nvSpPr>
        <p:spPr>
          <a:xfrm>
            <a:off x="5345430" y="1508760"/>
            <a:ext cx="91" cy="2971800"/>
          </a:xfrm>
          <a:prstGeom prst="line">
            <a:avLst/>
          </a:prstGeom>
          <a:noFill/>
          <a:ln w="6350">
            <a:solidFill>
              <a:srgbClr val="E3EFED"/>
            </a:solidFill>
            <a:prstDash val="solid"/>
          </a:ln>
        </p:spPr>
      </p:sp>
      <p:sp>
        <p:nvSpPr>
          <p:cNvPr id="23" name="Shape 21"/>
          <p:cNvSpPr/>
          <p:nvPr/>
        </p:nvSpPr>
        <p:spPr>
          <a:xfrm>
            <a:off x="5715000" y="1508760"/>
            <a:ext cx="91" cy="2971800"/>
          </a:xfrm>
          <a:prstGeom prst="line">
            <a:avLst/>
          </a:prstGeom>
          <a:noFill/>
          <a:ln w="6350">
            <a:solidFill>
              <a:srgbClr val="C5DCD9"/>
            </a:solidFill>
            <a:prstDash val="solid"/>
          </a:ln>
        </p:spPr>
      </p:sp>
      <p:sp>
        <p:nvSpPr>
          <p:cNvPr id="24" name="Shape 22"/>
          <p:cNvSpPr/>
          <p:nvPr/>
        </p:nvSpPr>
        <p:spPr>
          <a:xfrm>
            <a:off x="1280160" y="4480560"/>
            <a:ext cx="4434840" cy="91"/>
          </a:xfrm>
          <a:prstGeom prst="line">
            <a:avLst/>
          </a:prstGeom>
          <a:noFill/>
          <a:ln w="6350">
            <a:solidFill>
              <a:srgbClr val="C5DCD9"/>
            </a:solidFill>
            <a:prstDash val="solid"/>
          </a:ln>
        </p:spPr>
      </p:sp>
      <p:sp>
        <p:nvSpPr>
          <p:cNvPr id="25" name="Shape 23"/>
          <p:cNvSpPr/>
          <p:nvPr/>
        </p:nvSpPr>
        <p:spPr>
          <a:xfrm>
            <a:off x="1280160" y="4183380"/>
            <a:ext cx="4434840" cy="91"/>
          </a:xfrm>
          <a:prstGeom prst="line">
            <a:avLst/>
          </a:prstGeom>
          <a:noFill/>
          <a:ln w="6350">
            <a:solidFill>
              <a:srgbClr val="E3EFED"/>
            </a:solidFill>
            <a:prstDash val="solid"/>
          </a:ln>
        </p:spPr>
      </p:sp>
      <p:sp>
        <p:nvSpPr>
          <p:cNvPr id="26" name="Shape 24"/>
          <p:cNvSpPr/>
          <p:nvPr/>
        </p:nvSpPr>
        <p:spPr>
          <a:xfrm>
            <a:off x="1280160" y="3886200"/>
            <a:ext cx="4434840" cy="91"/>
          </a:xfrm>
          <a:prstGeom prst="line">
            <a:avLst/>
          </a:prstGeom>
          <a:noFill/>
          <a:ln w="6350">
            <a:solidFill>
              <a:srgbClr val="C5DCD9"/>
            </a:solidFill>
            <a:prstDash val="solid"/>
          </a:ln>
        </p:spPr>
      </p:sp>
      <p:sp>
        <p:nvSpPr>
          <p:cNvPr id="27" name="Shape 25"/>
          <p:cNvSpPr/>
          <p:nvPr/>
        </p:nvSpPr>
        <p:spPr>
          <a:xfrm>
            <a:off x="1280160" y="3589020"/>
            <a:ext cx="4434840" cy="91"/>
          </a:xfrm>
          <a:prstGeom prst="line">
            <a:avLst/>
          </a:prstGeom>
          <a:noFill/>
          <a:ln w="6350">
            <a:solidFill>
              <a:srgbClr val="E3EFED"/>
            </a:solidFill>
            <a:prstDash val="solid"/>
          </a:ln>
        </p:spPr>
      </p:sp>
      <p:sp>
        <p:nvSpPr>
          <p:cNvPr id="28" name="Shape 26"/>
          <p:cNvSpPr/>
          <p:nvPr/>
        </p:nvSpPr>
        <p:spPr>
          <a:xfrm>
            <a:off x="1280160" y="3291840"/>
            <a:ext cx="4434840" cy="91"/>
          </a:xfrm>
          <a:prstGeom prst="line">
            <a:avLst/>
          </a:prstGeom>
          <a:noFill/>
          <a:ln w="6350">
            <a:solidFill>
              <a:srgbClr val="C5DCD9"/>
            </a:solidFill>
            <a:prstDash val="solid"/>
          </a:ln>
        </p:spPr>
      </p:sp>
      <p:sp>
        <p:nvSpPr>
          <p:cNvPr id="29" name="Shape 27"/>
          <p:cNvSpPr/>
          <p:nvPr/>
        </p:nvSpPr>
        <p:spPr>
          <a:xfrm>
            <a:off x="1280160" y="2994660"/>
            <a:ext cx="4434840" cy="91"/>
          </a:xfrm>
          <a:prstGeom prst="line">
            <a:avLst/>
          </a:prstGeom>
          <a:noFill/>
          <a:ln w="6350">
            <a:solidFill>
              <a:srgbClr val="E3EFED"/>
            </a:solidFill>
            <a:prstDash val="solid"/>
          </a:ln>
        </p:spPr>
      </p:sp>
      <p:sp>
        <p:nvSpPr>
          <p:cNvPr id="30" name="Shape 28"/>
          <p:cNvSpPr/>
          <p:nvPr/>
        </p:nvSpPr>
        <p:spPr>
          <a:xfrm>
            <a:off x="1280160" y="2697480"/>
            <a:ext cx="4434840" cy="91"/>
          </a:xfrm>
          <a:prstGeom prst="line">
            <a:avLst/>
          </a:prstGeom>
          <a:noFill/>
          <a:ln w="6350">
            <a:solidFill>
              <a:srgbClr val="C5DCD9"/>
            </a:solidFill>
            <a:prstDash val="solid"/>
          </a:ln>
        </p:spPr>
      </p:sp>
      <p:sp>
        <p:nvSpPr>
          <p:cNvPr id="31" name="Shape 29"/>
          <p:cNvSpPr/>
          <p:nvPr/>
        </p:nvSpPr>
        <p:spPr>
          <a:xfrm>
            <a:off x="1280160" y="2400300"/>
            <a:ext cx="4434840" cy="91"/>
          </a:xfrm>
          <a:prstGeom prst="line">
            <a:avLst/>
          </a:prstGeom>
          <a:noFill/>
          <a:ln w="6350">
            <a:solidFill>
              <a:srgbClr val="E3EFED"/>
            </a:solidFill>
            <a:prstDash val="solid"/>
          </a:ln>
        </p:spPr>
      </p:sp>
      <p:sp>
        <p:nvSpPr>
          <p:cNvPr id="32" name="Shape 30"/>
          <p:cNvSpPr/>
          <p:nvPr/>
        </p:nvSpPr>
        <p:spPr>
          <a:xfrm>
            <a:off x="1280160" y="2103120"/>
            <a:ext cx="4434840" cy="91"/>
          </a:xfrm>
          <a:prstGeom prst="line">
            <a:avLst/>
          </a:prstGeom>
          <a:noFill/>
          <a:ln w="6350">
            <a:solidFill>
              <a:srgbClr val="C5DCD9"/>
            </a:solidFill>
            <a:prstDash val="solid"/>
          </a:ln>
        </p:spPr>
      </p:sp>
      <p:sp>
        <p:nvSpPr>
          <p:cNvPr id="33" name="Shape 31"/>
          <p:cNvSpPr/>
          <p:nvPr/>
        </p:nvSpPr>
        <p:spPr>
          <a:xfrm>
            <a:off x="1280160" y="1805940"/>
            <a:ext cx="4434840" cy="91"/>
          </a:xfrm>
          <a:prstGeom prst="line">
            <a:avLst/>
          </a:prstGeom>
          <a:noFill/>
          <a:ln w="6350">
            <a:solidFill>
              <a:srgbClr val="E3EFED"/>
            </a:solidFill>
            <a:prstDash val="solid"/>
          </a:ln>
        </p:spPr>
      </p:sp>
      <p:sp>
        <p:nvSpPr>
          <p:cNvPr id="34" name="Shape 32"/>
          <p:cNvSpPr/>
          <p:nvPr/>
        </p:nvSpPr>
        <p:spPr>
          <a:xfrm>
            <a:off x="1280160" y="1508760"/>
            <a:ext cx="4434840" cy="91"/>
          </a:xfrm>
          <a:prstGeom prst="line">
            <a:avLst/>
          </a:prstGeom>
          <a:noFill/>
          <a:ln w="6350">
            <a:solidFill>
              <a:srgbClr val="C5DCD9"/>
            </a:solidFill>
            <a:prstDash val="solid"/>
          </a:ln>
        </p:spPr>
      </p:sp>
      <p:sp>
        <p:nvSpPr>
          <p:cNvPr id="35" name="Shape 33"/>
          <p:cNvSpPr/>
          <p:nvPr/>
        </p:nvSpPr>
        <p:spPr>
          <a:xfrm>
            <a:off x="1280160" y="4480560"/>
            <a:ext cx="4434840" cy="91"/>
          </a:xfrm>
          <a:prstGeom prst="line">
            <a:avLst/>
          </a:prstGeom>
          <a:noFill/>
          <a:ln w="19050">
            <a:solidFill>
              <a:srgbClr val="133536"/>
            </a:solidFill>
            <a:prstDash val="solid"/>
          </a:ln>
        </p:spPr>
      </p:sp>
      <p:sp>
        <p:nvSpPr>
          <p:cNvPr id="36" name="Shape 34"/>
          <p:cNvSpPr/>
          <p:nvPr/>
        </p:nvSpPr>
        <p:spPr>
          <a:xfrm flipV="1">
            <a:off x="1280160" y="1508760"/>
            <a:ext cx="91" cy="2971800"/>
          </a:xfrm>
          <a:prstGeom prst="line">
            <a:avLst/>
          </a:prstGeom>
          <a:noFill/>
          <a:ln w="19050">
            <a:solidFill>
              <a:srgbClr val="133536"/>
            </a:solidFill>
            <a:prstDash val="solid"/>
          </a:ln>
        </p:spPr>
      </p:sp>
      <p:sp>
        <p:nvSpPr>
          <p:cNvPr id="37" name="Shape 35"/>
          <p:cNvSpPr/>
          <p:nvPr/>
        </p:nvSpPr>
        <p:spPr>
          <a:xfrm>
            <a:off x="1280160" y="4480560"/>
            <a:ext cx="91" cy="54864"/>
          </a:xfrm>
          <a:prstGeom prst="line">
            <a:avLst/>
          </a:prstGeom>
          <a:noFill/>
          <a:ln w="12700">
            <a:solidFill>
              <a:srgbClr val="133536"/>
            </a:solidFill>
            <a:prstDash val="solid"/>
          </a:ln>
        </p:spPr>
      </p:sp>
      <p:sp>
        <p:nvSpPr>
          <p:cNvPr id="38" name="Text 36"/>
          <p:cNvSpPr/>
          <p:nvPr/>
        </p:nvSpPr>
        <p:spPr>
          <a:xfrm>
            <a:off x="100584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9" name="Shape 37"/>
          <p:cNvSpPr/>
          <p:nvPr/>
        </p:nvSpPr>
        <p:spPr>
          <a:xfrm>
            <a:off x="2019300" y="4480560"/>
            <a:ext cx="91" cy="54864"/>
          </a:xfrm>
          <a:prstGeom prst="line">
            <a:avLst/>
          </a:prstGeom>
          <a:noFill/>
          <a:ln w="12700">
            <a:solidFill>
              <a:srgbClr val="133536"/>
            </a:solidFill>
            <a:prstDash val="solid"/>
          </a:ln>
        </p:spPr>
      </p:sp>
      <p:sp>
        <p:nvSpPr>
          <p:cNvPr id="40" name="Text 38"/>
          <p:cNvSpPr/>
          <p:nvPr/>
        </p:nvSpPr>
        <p:spPr>
          <a:xfrm>
            <a:off x="174498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41" name="Shape 39"/>
          <p:cNvSpPr/>
          <p:nvPr/>
        </p:nvSpPr>
        <p:spPr>
          <a:xfrm>
            <a:off x="2758440" y="4480560"/>
            <a:ext cx="91" cy="54864"/>
          </a:xfrm>
          <a:prstGeom prst="line">
            <a:avLst/>
          </a:prstGeom>
          <a:noFill/>
          <a:ln w="12700">
            <a:solidFill>
              <a:srgbClr val="133536"/>
            </a:solidFill>
            <a:prstDash val="solid"/>
          </a:ln>
        </p:spPr>
      </p:sp>
      <p:sp>
        <p:nvSpPr>
          <p:cNvPr id="42" name="Text 40"/>
          <p:cNvSpPr/>
          <p:nvPr/>
        </p:nvSpPr>
        <p:spPr>
          <a:xfrm>
            <a:off x="248412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43" name="Shape 41"/>
          <p:cNvSpPr/>
          <p:nvPr/>
        </p:nvSpPr>
        <p:spPr>
          <a:xfrm>
            <a:off x="3497580" y="4480560"/>
            <a:ext cx="91" cy="54864"/>
          </a:xfrm>
          <a:prstGeom prst="line">
            <a:avLst/>
          </a:prstGeom>
          <a:noFill/>
          <a:ln w="12700">
            <a:solidFill>
              <a:srgbClr val="133536"/>
            </a:solidFill>
            <a:prstDash val="solid"/>
          </a:ln>
        </p:spPr>
      </p:sp>
      <p:sp>
        <p:nvSpPr>
          <p:cNvPr id="44" name="Text 42"/>
          <p:cNvSpPr/>
          <p:nvPr/>
        </p:nvSpPr>
        <p:spPr>
          <a:xfrm>
            <a:off x="322326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45" name="Shape 43"/>
          <p:cNvSpPr/>
          <p:nvPr/>
        </p:nvSpPr>
        <p:spPr>
          <a:xfrm>
            <a:off x="4236720" y="4480560"/>
            <a:ext cx="91" cy="54864"/>
          </a:xfrm>
          <a:prstGeom prst="line">
            <a:avLst/>
          </a:prstGeom>
          <a:noFill/>
          <a:ln w="12700">
            <a:solidFill>
              <a:srgbClr val="133536"/>
            </a:solidFill>
            <a:prstDash val="solid"/>
          </a:ln>
        </p:spPr>
      </p:sp>
      <p:sp>
        <p:nvSpPr>
          <p:cNvPr id="46" name="Text 44"/>
          <p:cNvSpPr/>
          <p:nvPr/>
        </p:nvSpPr>
        <p:spPr>
          <a:xfrm>
            <a:off x="396240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47" name="Shape 45"/>
          <p:cNvSpPr/>
          <p:nvPr/>
        </p:nvSpPr>
        <p:spPr>
          <a:xfrm>
            <a:off x="4975860" y="4480560"/>
            <a:ext cx="91" cy="54864"/>
          </a:xfrm>
          <a:prstGeom prst="line">
            <a:avLst/>
          </a:prstGeom>
          <a:noFill/>
          <a:ln w="12700">
            <a:solidFill>
              <a:srgbClr val="133536"/>
            </a:solidFill>
            <a:prstDash val="solid"/>
          </a:ln>
        </p:spPr>
      </p:sp>
      <p:sp>
        <p:nvSpPr>
          <p:cNvPr id="48" name="Text 46"/>
          <p:cNvSpPr/>
          <p:nvPr/>
        </p:nvSpPr>
        <p:spPr>
          <a:xfrm>
            <a:off x="470154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9" name="Shape 47"/>
          <p:cNvSpPr/>
          <p:nvPr/>
        </p:nvSpPr>
        <p:spPr>
          <a:xfrm>
            <a:off x="5715000" y="4480560"/>
            <a:ext cx="91" cy="54864"/>
          </a:xfrm>
          <a:prstGeom prst="line">
            <a:avLst/>
          </a:prstGeom>
          <a:noFill/>
          <a:ln w="12700">
            <a:solidFill>
              <a:srgbClr val="133536"/>
            </a:solidFill>
            <a:prstDash val="solid"/>
          </a:ln>
        </p:spPr>
      </p:sp>
      <p:sp>
        <p:nvSpPr>
          <p:cNvPr id="50" name="Text 48"/>
          <p:cNvSpPr/>
          <p:nvPr/>
        </p:nvSpPr>
        <p:spPr>
          <a:xfrm>
            <a:off x="5440680" y="45354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51" name="Shape 49"/>
          <p:cNvSpPr/>
          <p:nvPr/>
        </p:nvSpPr>
        <p:spPr>
          <a:xfrm>
            <a:off x="1225296" y="4480560"/>
            <a:ext cx="54864" cy="91"/>
          </a:xfrm>
          <a:prstGeom prst="line">
            <a:avLst/>
          </a:prstGeom>
          <a:noFill/>
          <a:ln w="12700">
            <a:solidFill>
              <a:srgbClr val="133536"/>
            </a:solidFill>
            <a:prstDash val="solid"/>
          </a:ln>
        </p:spPr>
      </p:sp>
      <p:sp>
        <p:nvSpPr>
          <p:cNvPr id="52" name="Text 50"/>
          <p:cNvSpPr/>
          <p:nvPr/>
        </p:nvSpPr>
        <p:spPr>
          <a:xfrm>
            <a:off x="841248" y="43891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3" name="Shape 51"/>
          <p:cNvSpPr/>
          <p:nvPr/>
        </p:nvSpPr>
        <p:spPr>
          <a:xfrm>
            <a:off x="1225296" y="3886200"/>
            <a:ext cx="54864" cy="91"/>
          </a:xfrm>
          <a:prstGeom prst="line">
            <a:avLst/>
          </a:prstGeom>
          <a:noFill/>
          <a:ln w="12700">
            <a:solidFill>
              <a:srgbClr val="133536"/>
            </a:solidFill>
            <a:prstDash val="solid"/>
          </a:ln>
        </p:spPr>
      </p:sp>
      <p:sp>
        <p:nvSpPr>
          <p:cNvPr id="54" name="Text 52"/>
          <p:cNvSpPr/>
          <p:nvPr/>
        </p:nvSpPr>
        <p:spPr>
          <a:xfrm>
            <a:off x="84124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5" name="Shape 53"/>
          <p:cNvSpPr/>
          <p:nvPr/>
        </p:nvSpPr>
        <p:spPr>
          <a:xfrm>
            <a:off x="1225296" y="3291840"/>
            <a:ext cx="54864" cy="91"/>
          </a:xfrm>
          <a:prstGeom prst="line">
            <a:avLst/>
          </a:prstGeom>
          <a:noFill/>
          <a:ln w="12700">
            <a:solidFill>
              <a:srgbClr val="133536"/>
            </a:solidFill>
            <a:prstDash val="solid"/>
          </a:ln>
        </p:spPr>
      </p:sp>
      <p:sp>
        <p:nvSpPr>
          <p:cNvPr id="56" name="Text 54"/>
          <p:cNvSpPr/>
          <p:nvPr/>
        </p:nvSpPr>
        <p:spPr>
          <a:xfrm>
            <a:off x="841248" y="3200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7" name="Shape 55"/>
          <p:cNvSpPr/>
          <p:nvPr/>
        </p:nvSpPr>
        <p:spPr>
          <a:xfrm>
            <a:off x="1225296" y="2697480"/>
            <a:ext cx="54864" cy="91"/>
          </a:xfrm>
          <a:prstGeom prst="line">
            <a:avLst/>
          </a:prstGeom>
          <a:noFill/>
          <a:ln w="12700">
            <a:solidFill>
              <a:srgbClr val="133536"/>
            </a:solidFill>
            <a:prstDash val="solid"/>
          </a:ln>
        </p:spPr>
      </p:sp>
      <p:sp>
        <p:nvSpPr>
          <p:cNvPr id="58" name="Text 56"/>
          <p:cNvSpPr/>
          <p:nvPr/>
        </p:nvSpPr>
        <p:spPr>
          <a:xfrm>
            <a:off x="841248" y="26060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9" name="Shape 57"/>
          <p:cNvSpPr/>
          <p:nvPr/>
        </p:nvSpPr>
        <p:spPr>
          <a:xfrm>
            <a:off x="1225296" y="2103120"/>
            <a:ext cx="54864" cy="91"/>
          </a:xfrm>
          <a:prstGeom prst="line">
            <a:avLst/>
          </a:prstGeom>
          <a:noFill/>
          <a:ln w="12700">
            <a:solidFill>
              <a:srgbClr val="133536"/>
            </a:solidFill>
            <a:prstDash val="solid"/>
          </a:ln>
        </p:spPr>
      </p:sp>
      <p:sp>
        <p:nvSpPr>
          <p:cNvPr id="60" name="Text 58"/>
          <p:cNvSpPr/>
          <p:nvPr/>
        </p:nvSpPr>
        <p:spPr>
          <a:xfrm>
            <a:off x="841248" y="2011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1" name="Shape 59"/>
          <p:cNvSpPr/>
          <p:nvPr/>
        </p:nvSpPr>
        <p:spPr>
          <a:xfrm>
            <a:off x="1225296" y="1508760"/>
            <a:ext cx="54864" cy="91"/>
          </a:xfrm>
          <a:prstGeom prst="line">
            <a:avLst/>
          </a:prstGeom>
          <a:noFill/>
          <a:ln w="12700">
            <a:solidFill>
              <a:srgbClr val="133536"/>
            </a:solidFill>
            <a:prstDash val="solid"/>
          </a:ln>
        </p:spPr>
      </p:sp>
      <p:sp>
        <p:nvSpPr>
          <p:cNvPr id="62" name="Text 60"/>
          <p:cNvSpPr/>
          <p:nvPr/>
        </p:nvSpPr>
        <p:spPr>
          <a:xfrm>
            <a:off x="841248" y="1417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3" name="Text 61"/>
          <p:cNvSpPr/>
          <p:nvPr/>
        </p:nvSpPr>
        <p:spPr>
          <a:xfrm>
            <a:off x="1280160" y="472744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of day / hours</a:t>
            </a:r>
            <a:endParaRPr lang="en-US" sz="1050" dirty="0"/>
          </a:p>
        </p:txBody>
      </p:sp>
      <p:sp>
        <p:nvSpPr>
          <p:cNvPr id="64" name="Text 62"/>
          <p:cNvSpPr/>
          <p:nvPr/>
        </p:nvSpPr>
        <p:spPr>
          <a:xfrm rot="16200000">
            <a:off x="-772668" y="2866644"/>
            <a:ext cx="29718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Blood glucose / mmol/L</a:t>
            </a:r>
            <a:endParaRPr lang="en-US" sz="1050" dirty="0"/>
          </a:p>
        </p:txBody>
      </p:sp>
      <p:sp>
        <p:nvSpPr>
          <p:cNvPr id="65" name="Shape 63"/>
          <p:cNvSpPr/>
          <p:nvPr/>
        </p:nvSpPr>
        <p:spPr>
          <a:xfrm>
            <a:off x="1280160" y="2400300"/>
            <a:ext cx="4434840" cy="891540"/>
          </a:xfrm>
          <a:prstGeom prst="rect">
            <a:avLst/>
          </a:prstGeom>
          <a:solidFill>
            <a:srgbClr val="D8F0E2">
              <a:alpha val="60000"/>
            </a:srgbClr>
          </a:solidFill>
          <a:ln/>
        </p:spPr>
      </p:sp>
      <p:sp>
        <p:nvSpPr>
          <p:cNvPr id="66" name="Text 64"/>
          <p:cNvSpPr/>
          <p:nvPr/>
        </p:nvSpPr>
        <p:spPr>
          <a:xfrm>
            <a:off x="1325880" y="3044952"/>
            <a:ext cx="1828800" cy="219456"/>
          </a:xfrm>
          <a:prstGeom prst="rect">
            <a:avLst/>
          </a:prstGeom>
          <a:noFill/>
          <a:ln/>
        </p:spPr>
        <p:txBody>
          <a:bodyPr wrap="square" lIns="0" tIns="0" rIns="0" bIns="0" rtlCol="0" anchor="ctr"/>
          <a:lstStyle/>
          <a:p>
            <a:pPr algn="l" indent="0" marL="0">
              <a:buNone/>
            </a:pPr>
            <a:r>
              <a:rPr lang="en-US" sz="1000" b="1" dirty="0">
                <a:solidFill>
                  <a:srgbClr val="2E8B57"/>
                </a:solidFill>
                <a:latin typeface="Calibri" pitchFamily="34" charset="0"/>
                <a:ea typeface="Calibri" pitchFamily="34" charset="-122"/>
                <a:cs typeface="Calibri" pitchFamily="34" charset="-120"/>
              </a:rPr>
              <a:t>normal range 4–7</a:t>
            </a:r>
            <a:endParaRPr lang="en-US" sz="1000" dirty="0"/>
          </a:p>
        </p:txBody>
      </p:sp>
      <p:sp>
        <p:nvSpPr>
          <p:cNvPr id="67" name="Shape 65"/>
          <p:cNvSpPr/>
          <p:nvPr/>
        </p:nvSpPr>
        <p:spPr>
          <a:xfrm>
            <a:off x="1280160" y="2994660"/>
            <a:ext cx="18479" cy="91"/>
          </a:xfrm>
          <a:prstGeom prst="line">
            <a:avLst/>
          </a:prstGeom>
          <a:noFill/>
          <a:ln w="28575">
            <a:solidFill>
              <a:srgbClr val="C8414C"/>
            </a:solidFill>
            <a:prstDash val="solid"/>
          </a:ln>
        </p:spPr>
      </p:sp>
      <p:sp>
        <p:nvSpPr>
          <p:cNvPr id="68" name="Shape 66"/>
          <p:cNvSpPr/>
          <p:nvPr/>
        </p:nvSpPr>
        <p:spPr>
          <a:xfrm>
            <a:off x="1298639" y="2994660"/>
            <a:ext cx="18479" cy="91"/>
          </a:xfrm>
          <a:prstGeom prst="line">
            <a:avLst/>
          </a:prstGeom>
          <a:noFill/>
          <a:ln w="28575">
            <a:solidFill>
              <a:srgbClr val="C8414C"/>
            </a:solidFill>
            <a:prstDash val="solid"/>
          </a:ln>
        </p:spPr>
      </p:sp>
      <p:sp>
        <p:nvSpPr>
          <p:cNvPr id="69" name="Shape 67"/>
          <p:cNvSpPr/>
          <p:nvPr/>
        </p:nvSpPr>
        <p:spPr>
          <a:xfrm>
            <a:off x="1317117" y="2994660"/>
            <a:ext cx="18478" cy="91"/>
          </a:xfrm>
          <a:prstGeom prst="line">
            <a:avLst/>
          </a:prstGeom>
          <a:noFill/>
          <a:ln w="28575">
            <a:solidFill>
              <a:srgbClr val="C8414C"/>
            </a:solidFill>
            <a:prstDash val="solid"/>
          </a:ln>
        </p:spPr>
      </p:sp>
      <p:sp>
        <p:nvSpPr>
          <p:cNvPr id="70" name="Shape 68"/>
          <p:cNvSpPr/>
          <p:nvPr/>
        </p:nvSpPr>
        <p:spPr>
          <a:xfrm>
            <a:off x="1335595" y="2994660"/>
            <a:ext cx="18479" cy="91"/>
          </a:xfrm>
          <a:prstGeom prst="line">
            <a:avLst/>
          </a:prstGeom>
          <a:noFill/>
          <a:ln w="28575">
            <a:solidFill>
              <a:srgbClr val="C8414C"/>
            </a:solidFill>
            <a:prstDash val="solid"/>
          </a:ln>
        </p:spPr>
      </p:sp>
      <p:sp>
        <p:nvSpPr>
          <p:cNvPr id="71" name="Shape 69"/>
          <p:cNvSpPr/>
          <p:nvPr/>
        </p:nvSpPr>
        <p:spPr>
          <a:xfrm>
            <a:off x="1354074" y="2994660"/>
            <a:ext cx="18479" cy="91"/>
          </a:xfrm>
          <a:prstGeom prst="line">
            <a:avLst/>
          </a:prstGeom>
          <a:noFill/>
          <a:ln w="28575">
            <a:solidFill>
              <a:srgbClr val="C8414C"/>
            </a:solidFill>
            <a:prstDash val="solid"/>
          </a:ln>
        </p:spPr>
      </p:sp>
      <p:sp>
        <p:nvSpPr>
          <p:cNvPr id="72" name="Shape 70"/>
          <p:cNvSpPr/>
          <p:nvPr/>
        </p:nvSpPr>
        <p:spPr>
          <a:xfrm>
            <a:off x="1372553" y="2994660"/>
            <a:ext cx="18479" cy="91"/>
          </a:xfrm>
          <a:prstGeom prst="line">
            <a:avLst/>
          </a:prstGeom>
          <a:noFill/>
          <a:ln w="28575">
            <a:solidFill>
              <a:srgbClr val="C8414C"/>
            </a:solidFill>
            <a:prstDash val="solid"/>
          </a:ln>
        </p:spPr>
      </p:sp>
      <p:sp>
        <p:nvSpPr>
          <p:cNvPr id="73" name="Shape 71"/>
          <p:cNvSpPr/>
          <p:nvPr/>
        </p:nvSpPr>
        <p:spPr>
          <a:xfrm>
            <a:off x="1391031" y="2994660"/>
            <a:ext cx="18478" cy="91"/>
          </a:xfrm>
          <a:prstGeom prst="line">
            <a:avLst/>
          </a:prstGeom>
          <a:noFill/>
          <a:ln w="28575">
            <a:solidFill>
              <a:srgbClr val="C8414C"/>
            </a:solidFill>
            <a:prstDash val="solid"/>
          </a:ln>
        </p:spPr>
      </p:sp>
      <p:sp>
        <p:nvSpPr>
          <p:cNvPr id="74" name="Shape 72"/>
          <p:cNvSpPr/>
          <p:nvPr/>
        </p:nvSpPr>
        <p:spPr>
          <a:xfrm>
            <a:off x="1409509" y="2994660"/>
            <a:ext cx="18479" cy="91"/>
          </a:xfrm>
          <a:prstGeom prst="line">
            <a:avLst/>
          </a:prstGeom>
          <a:noFill/>
          <a:ln w="28575">
            <a:solidFill>
              <a:srgbClr val="C8414C"/>
            </a:solidFill>
            <a:prstDash val="solid"/>
          </a:ln>
        </p:spPr>
      </p:sp>
      <p:sp>
        <p:nvSpPr>
          <p:cNvPr id="75" name="Shape 73"/>
          <p:cNvSpPr/>
          <p:nvPr/>
        </p:nvSpPr>
        <p:spPr>
          <a:xfrm>
            <a:off x="1427988" y="2994660"/>
            <a:ext cx="18479" cy="91"/>
          </a:xfrm>
          <a:prstGeom prst="line">
            <a:avLst/>
          </a:prstGeom>
          <a:noFill/>
          <a:ln w="28575">
            <a:solidFill>
              <a:srgbClr val="C8414C"/>
            </a:solidFill>
            <a:prstDash val="solid"/>
          </a:ln>
        </p:spPr>
      </p:sp>
      <p:sp>
        <p:nvSpPr>
          <p:cNvPr id="76" name="Shape 74"/>
          <p:cNvSpPr/>
          <p:nvPr/>
        </p:nvSpPr>
        <p:spPr>
          <a:xfrm>
            <a:off x="1446467" y="2994660"/>
            <a:ext cx="18479" cy="91"/>
          </a:xfrm>
          <a:prstGeom prst="line">
            <a:avLst/>
          </a:prstGeom>
          <a:noFill/>
          <a:ln w="28575">
            <a:solidFill>
              <a:srgbClr val="C8414C"/>
            </a:solidFill>
            <a:prstDash val="solid"/>
          </a:ln>
        </p:spPr>
      </p:sp>
      <p:sp>
        <p:nvSpPr>
          <p:cNvPr id="77" name="Shape 75"/>
          <p:cNvSpPr/>
          <p:nvPr/>
        </p:nvSpPr>
        <p:spPr>
          <a:xfrm>
            <a:off x="1464945" y="2994660"/>
            <a:ext cx="18478" cy="91"/>
          </a:xfrm>
          <a:prstGeom prst="line">
            <a:avLst/>
          </a:prstGeom>
          <a:noFill/>
          <a:ln w="28575">
            <a:solidFill>
              <a:srgbClr val="C8414C"/>
            </a:solidFill>
            <a:prstDash val="solid"/>
          </a:ln>
        </p:spPr>
      </p:sp>
      <p:sp>
        <p:nvSpPr>
          <p:cNvPr id="78" name="Shape 76"/>
          <p:cNvSpPr/>
          <p:nvPr/>
        </p:nvSpPr>
        <p:spPr>
          <a:xfrm>
            <a:off x="1483423" y="2994660"/>
            <a:ext cx="18479" cy="91"/>
          </a:xfrm>
          <a:prstGeom prst="line">
            <a:avLst/>
          </a:prstGeom>
          <a:noFill/>
          <a:ln w="28575">
            <a:solidFill>
              <a:srgbClr val="C8414C"/>
            </a:solidFill>
            <a:prstDash val="solid"/>
          </a:ln>
        </p:spPr>
      </p:sp>
      <p:sp>
        <p:nvSpPr>
          <p:cNvPr id="79" name="Shape 77"/>
          <p:cNvSpPr/>
          <p:nvPr/>
        </p:nvSpPr>
        <p:spPr>
          <a:xfrm>
            <a:off x="1501902" y="2994660"/>
            <a:ext cx="18479" cy="91"/>
          </a:xfrm>
          <a:prstGeom prst="line">
            <a:avLst/>
          </a:prstGeom>
          <a:noFill/>
          <a:ln w="28575">
            <a:solidFill>
              <a:srgbClr val="C8414C"/>
            </a:solidFill>
            <a:prstDash val="solid"/>
          </a:ln>
        </p:spPr>
      </p:sp>
      <p:sp>
        <p:nvSpPr>
          <p:cNvPr id="80" name="Shape 78"/>
          <p:cNvSpPr/>
          <p:nvPr/>
        </p:nvSpPr>
        <p:spPr>
          <a:xfrm>
            <a:off x="1520381" y="2994660"/>
            <a:ext cx="18478" cy="91"/>
          </a:xfrm>
          <a:prstGeom prst="line">
            <a:avLst/>
          </a:prstGeom>
          <a:noFill/>
          <a:ln w="28575">
            <a:solidFill>
              <a:srgbClr val="C8414C"/>
            </a:solidFill>
            <a:prstDash val="solid"/>
          </a:ln>
        </p:spPr>
      </p:sp>
      <p:sp>
        <p:nvSpPr>
          <p:cNvPr id="81" name="Shape 79"/>
          <p:cNvSpPr/>
          <p:nvPr/>
        </p:nvSpPr>
        <p:spPr>
          <a:xfrm>
            <a:off x="1538859" y="2994660"/>
            <a:ext cx="18479" cy="91"/>
          </a:xfrm>
          <a:prstGeom prst="line">
            <a:avLst/>
          </a:prstGeom>
          <a:noFill/>
          <a:ln w="28575">
            <a:solidFill>
              <a:srgbClr val="C8414C"/>
            </a:solidFill>
            <a:prstDash val="solid"/>
          </a:ln>
        </p:spPr>
      </p:sp>
      <p:sp>
        <p:nvSpPr>
          <p:cNvPr id="82" name="Shape 80"/>
          <p:cNvSpPr/>
          <p:nvPr/>
        </p:nvSpPr>
        <p:spPr>
          <a:xfrm>
            <a:off x="1557338" y="2994660"/>
            <a:ext cx="18478" cy="91"/>
          </a:xfrm>
          <a:prstGeom prst="line">
            <a:avLst/>
          </a:prstGeom>
          <a:noFill/>
          <a:ln w="28575">
            <a:solidFill>
              <a:srgbClr val="C8414C"/>
            </a:solidFill>
            <a:prstDash val="solid"/>
          </a:ln>
        </p:spPr>
      </p:sp>
      <p:sp>
        <p:nvSpPr>
          <p:cNvPr id="83" name="Shape 81"/>
          <p:cNvSpPr/>
          <p:nvPr/>
        </p:nvSpPr>
        <p:spPr>
          <a:xfrm>
            <a:off x="1575816" y="2994660"/>
            <a:ext cx="18479" cy="91"/>
          </a:xfrm>
          <a:prstGeom prst="line">
            <a:avLst/>
          </a:prstGeom>
          <a:noFill/>
          <a:ln w="28575">
            <a:solidFill>
              <a:srgbClr val="C8414C"/>
            </a:solidFill>
            <a:prstDash val="solid"/>
          </a:ln>
        </p:spPr>
      </p:sp>
      <p:sp>
        <p:nvSpPr>
          <p:cNvPr id="84" name="Shape 82"/>
          <p:cNvSpPr/>
          <p:nvPr/>
        </p:nvSpPr>
        <p:spPr>
          <a:xfrm>
            <a:off x="1594295" y="2994660"/>
            <a:ext cx="18479" cy="91"/>
          </a:xfrm>
          <a:prstGeom prst="line">
            <a:avLst/>
          </a:prstGeom>
          <a:noFill/>
          <a:ln w="28575">
            <a:solidFill>
              <a:srgbClr val="C8414C"/>
            </a:solidFill>
            <a:prstDash val="solid"/>
          </a:ln>
        </p:spPr>
      </p:sp>
      <p:sp>
        <p:nvSpPr>
          <p:cNvPr id="85" name="Shape 83"/>
          <p:cNvSpPr/>
          <p:nvPr/>
        </p:nvSpPr>
        <p:spPr>
          <a:xfrm>
            <a:off x="1612773" y="2994660"/>
            <a:ext cx="18478" cy="91"/>
          </a:xfrm>
          <a:prstGeom prst="line">
            <a:avLst/>
          </a:prstGeom>
          <a:noFill/>
          <a:ln w="28575">
            <a:solidFill>
              <a:srgbClr val="C8414C"/>
            </a:solidFill>
            <a:prstDash val="solid"/>
          </a:ln>
        </p:spPr>
      </p:sp>
      <p:sp>
        <p:nvSpPr>
          <p:cNvPr id="86" name="Shape 84"/>
          <p:cNvSpPr/>
          <p:nvPr/>
        </p:nvSpPr>
        <p:spPr>
          <a:xfrm>
            <a:off x="1631251" y="2994660"/>
            <a:ext cx="18479" cy="91"/>
          </a:xfrm>
          <a:prstGeom prst="line">
            <a:avLst/>
          </a:prstGeom>
          <a:noFill/>
          <a:ln w="28575">
            <a:solidFill>
              <a:srgbClr val="C8414C"/>
            </a:solidFill>
            <a:prstDash val="solid"/>
          </a:ln>
        </p:spPr>
      </p:sp>
      <p:sp>
        <p:nvSpPr>
          <p:cNvPr id="87" name="Shape 85"/>
          <p:cNvSpPr/>
          <p:nvPr/>
        </p:nvSpPr>
        <p:spPr>
          <a:xfrm>
            <a:off x="1649730" y="2994660"/>
            <a:ext cx="18479" cy="91"/>
          </a:xfrm>
          <a:prstGeom prst="line">
            <a:avLst/>
          </a:prstGeom>
          <a:noFill/>
          <a:ln w="28575">
            <a:solidFill>
              <a:srgbClr val="C8414C"/>
            </a:solidFill>
            <a:prstDash val="solid"/>
          </a:ln>
        </p:spPr>
      </p:sp>
      <p:sp>
        <p:nvSpPr>
          <p:cNvPr id="88" name="Shape 86"/>
          <p:cNvSpPr/>
          <p:nvPr/>
        </p:nvSpPr>
        <p:spPr>
          <a:xfrm>
            <a:off x="1668208" y="2994660"/>
            <a:ext cx="18479" cy="91"/>
          </a:xfrm>
          <a:prstGeom prst="line">
            <a:avLst/>
          </a:prstGeom>
          <a:noFill/>
          <a:ln w="28575">
            <a:solidFill>
              <a:srgbClr val="C8414C"/>
            </a:solidFill>
            <a:prstDash val="solid"/>
          </a:ln>
        </p:spPr>
      </p:sp>
      <p:sp>
        <p:nvSpPr>
          <p:cNvPr id="89" name="Shape 87"/>
          <p:cNvSpPr/>
          <p:nvPr/>
        </p:nvSpPr>
        <p:spPr>
          <a:xfrm>
            <a:off x="1686687" y="2994660"/>
            <a:ext cx="18479" cy="91"/>
          </a:xfrm>
          <a:prstGeom prst="line">
            <a:avLst/>
          </a:prstGeom>
          <a:noFill/>
          <a:ln w="28575">
            <a:solidFill>
              <a:srgbClr val="C8414C"/>
            </a:solidFill>
            <a:prstDash val="solid"/>
          </a:ln>
        </p:spPr>
      </p:sp>
      <p:sp>
        <p:nvSpPr>
          <p:cNvPr id="90" name="Shape 88"/>
          <p:cNvSpPr/>
          <p:nvPr/>
        </p:nvSpPr>
        <p:spPr>
          <a:xfrm>
            <a:off x="1705166" y="2994660"/>
            <a:ext cx="18478" cy="91"/>
          </a:xfrm>
          <a:prstGeom prst="line">
            <a:avLst/>
          </a:prstGeom>
          <a:noFill/>
          <a:ln w="28575">
            <a:solidFill>
              <a:srgbClr val="C8414C"/>
            </a:solidFill>
            <a:prstDash val="solid"/>
          </a:ln>
        </p:spPr>
      </p:sp>
      <p:sp>
        <p:nvSpPr>
          <p:cNvPr id="91" name="Shape 89"/>
          <p:cNvSpPr/>
          <p:nvPr/>
        </p:nvSpPr>
        <p:spPr>
          <a:xfrm>
            <a:off x="1723644" y="2994660"/>
            <a:ext cx="18479" cy="91"/>
          </a:xfrm>
          <a:prstGeom prst="line">
            <a:avLst/>
          </a:prstGeom>
          <a:noFill/>
          <a:ln w="28575">
            <a:solidFill>
              <a:srgbClr val="C8414C"/>
            </a:solidFill>
            <a:prstDash val="solid"/>
          </a:ln>
        </p:spPr>
      </p:sp>
      <p:sp>
        <p:nvSpPr>
          <p:cNvPr id="92" name="Shape 90"/>
          <p:cNvSpPr/>
          <p:nvPr/>
        </p:nvSpPr>
        <p:spPr>
          <a:xfrm>
            <a:off x="1742123" y="2994660"/>
            <a:ext cx="18478" cy="91"/>
          </a:xfrm>
          <a:prstGeom prst="line">
            <a:avLst/>
          </a:prstGeom>
          <a:noFill/>
          <a:ln w="28575">
            <a:solidFill>
              <a:srgbClr val="C8414C"/>
            </a:solidFill>
            <a:prstDash val="solid"/>
          </a:ln>
        </p:spPr>
      </p:sp>
      <p:sp>
        <p:nvSpPr>
          <p:cNvPr id="93" name="Shape 91"/>
          <p:cNvSpPr/>
          <p:nvPr/>
        </p:nvSpPr>
        <p:spPr>
          <a:xfrm>
            <a:off x="1760601" y="2994660"/>
            <a:ext cx="18479" cy="91"/>
          </a:xfrm>
          <a:prstGeom prst="line">
            <a:avLst/>
          </a:prstGeom>
          <a:noFill/>
          <a:ln w="28575">
            <a:solidFill>
              <a:srgbClr val="C8414C"/>
            </a:solidFill>
            <a:prstDash val="solid"/>
          </a:ln>
        </p:spPr>
      </p:sp>
      <p:sp>
        <p:nvSpPr>
          <p:cNvPr id="94" name="Shape 92"/>
          <p:cNvSpPr/>
          <p:nvPr/>
        </p:nvSpPr>
        <p:spPr>
          <a:xfrm>
            <a:off x="1779080" y="2994660"/>
            <a:ext cx="18478" cy="91"/>
          </a:xfrm>
          <a:prstGeom prst="line">
            <a:avLst/>
          </a:prstGeom>
          <a:noFill/>
          <a:ln w="28575">
            <a:solidFill>
              <a:srgbClr val="C8414C"/>
            </a:solidFill>
            <a:prstDash val="solid"/>
          </a:ln>
        </p:spPr>
      </p:sp>
      <p:sp>
        <p:nvSpPr>
          <p:cNvPr id="95" name="Shape 93"/>
          <p:cNvSpPr/>
          <p:nvPr/>
        </p:nvSpPr>
        <p:spPr>
          <a:xfrm>
            <a:off x="1797558" y="2994660"/>
            <a:ext cx="18479" cy="91"/>
          </a:xfrm>
          <a:prstGeom prst="line">
            <a:avLst/>
          </a:prstGeom>
          <a:noFill/>
          <a:ln w="28575">
            <a:solidFill>
              <a:srgbClr val="C8414C"/>
            </a:solidFill>
            <a:prstDash val="solid"/>
          </a:ln>
        </p:spPr>
      </p:sp>
      <p:sp>
        <p:nvSpPr>
          <p:cNvPr id="96" name="Shape 94"/>
          <p:cNvSpPr/>
          <p:nvPr/>
        </p:nvSpPr>
        <p:spPr>
          <a:xfrm>
            <a:off x="1816036" y="2994660"/>
            <a:ext cx="18478" cy="91"/>
          </a:xfrm>
          <a:prstGeom prst="line">
            <a:avLst/>
          </a:prstGeom>
          <a:noFill/>
          <a:ln w="28575">
            <a:solidFill>
              <a:srgbClr val="C8414C"/>
            </a:solidFill>
            <a:prstDash val="solid"/>
          </a:ln>
        </p:spPr>
      </p:sp>
      <p:sp>
        <p:nvSpPr>
          <p:cNvPr id="97" name="Shape 95"/>
          <p:cNvSpPr/>
          <p:nvPr/>
        </p:nvSpPr>
        <p:spPr>
          <a:xfrm>
            <a:off x="1834515" y="2994660"/>
            <a:ext cx="18479" cy="91"/>
          </a:xfrm>
          <a:prstGeom prst="line">
            <a:avLst/>
          </a:prstGeom>
          <a:noFill/>
          <a:ln w="28575">
            <a:solidFill>
              <a:srgbClr val="C8414C"/>
            </a:solidFill>
            <a:prstDash val="solid"/>
          </a:ln>
        </p:spPr>
      </p:sp>
      <p:sp>
        <p:nvSpPr>
          <p:cNvPr id="98" name="Shape 96"/>
          <p:cNvSpPr/>
          <p:nvPr/>
        </p:nvSpPr>
        <p:spPr>
          <a:xfrm>
            <a:off x="1852994" y="2994660"/>
            <a:ext cx="18478" cy="91"/>
          </a:xfrm>
          <a:prstGeom prst="line">
            <a:avLst/>
          </a:prstGeom>
          <a:noFill/>
          <a:ln w="28575">
            <a:solidFill>
              <a:srgbClr val="C8414C"/>
            </a:solidFill>
            <a:prstDash val="solid"/>
          </a:ln>
        </p:spPr>
      </p:sp>
      <p:sp>
        <p:nvSpPr>
          <p:cNvPr id="99" name="Shape 97"/>
          <p:cNvSpPr/>
          <p:nvPr/>
        </p:nvSpPr>
        <p:spPr>
          <a:xfrm>
            <a:off x="1871472" y="2994660"/>
            <a:ext cx="18478" cy="91"/>
          </a:xfrm>
          <a:prstGeom prst="line">
            <a:avLst/>
          </a:prstGeom>
          <a:noFill/>
          <a:ln w="28575">
            <a:solidFill>
              <a:srgbClr val="C8414C"/>
            </a:solidFill>
            <a:prstDash val="solid"/>
          </a:ln>
        </p:spPr>
      </p:sp>
      <p:sp>
        <p:nvSpPr>
          <p:cNvPr id="100" name="Shape 98"/>
          <p:cNvSpPr/>
          <p:nvPr/>
        </p:nvSpPr>
        <p:spPr>
          <a:xfrm>
            <a:off x="1889950" y="2994660"/>
            <a:ext cx="18479" cy="91"/>
          </a:xfrm>
          <a:prstGeom prst="line">
            <a:avLst/>
          </a:prstGeom>
          <a:noFill/>
          <a:ln w="28575">
            <a:solidFill>
              <a:srgbClr val="C8414C"/>
            </a:solidFill>
            <a:prstDash val="solid"/>
          </a:ln>
        </p:spPr>
      </p:sp>
      <p:sp>
        <p:nvSpPr>
          <p:cNvPr id="101" name="Shape 99"/>
          <p:cNvSpPr/>
          <p:nvPr/>
        </p:nvSpPr>
        <p:spPr>
          <a:xfrm>
            <a:off x="1908429" y="2994660"/>
            <a:ext cx="18479" cy="91"/>
          </a:xfrm>
          <a:prstGeom prst="line">
            <a:avLst/>
          </a:prstGeom>
          <a:noFill/>
          <a:ln w="28575">
            <a:solidFill>
              <a:srgbClr val="C8414C"/>
            </a:solidFill>
            <a:prstDash val="solid"/>
          </a:ln>
        </p:spPr>
      </p:sp>
      <p:sp>
        <p:nvSpPr>
          <p:cNvPr id="102" name="Shape 100"/>
          <p:cNvSpPr/>
          <p:nvPr/>
        </p:nvSpPr>
        <p:spPr>
          <a:xfrm>
            <a:off x="1926908" y="2994660"/>
            <a:ext cx="18478" cy="91"/>
          </a:xfrm>
          <a:prstGeom prst="line">
            <a:avLst/>
          </a:prstGeom>
          <a:noFill/>
          <a:ln w="28575">
            <a:solidFill>
              <a:srgbClr val="C8414C"/>
            </a:solidFill>
            <a:prstDash val="solid"/>
          </a:ln>
        </p:spPr>
      </p:sp>
      <p:sp>
        <p:nvSpPr>
          <p:cNvPr id="103" name="Shape 101"/>
          <p:cNvSpPr/>
          <p:nvPr/>
        </p:nvSpPr>
        <p:spPr>
          <a:xfrm>
            <a:off x="1945386" y="2994660"/>
            <a:ext cx="18478" cy="91"/>
          </a:xfrm>
          <a:prstGeom prst="line">
            <a:avLst/>
          </a:prstGeom>
          <a:noFill/>
          <a:ln w="28575">
            <a:solidFill>
              <a:srgbClr val="C8414C"/>
            </a:solidFill>
            <a:prstDash val="solid"/>
          </a:ln>
        </p:spPr>
      </p:sp>
      <p:sp>
        <p:nvSpPr>
          <p:cNvPr id="104" name="Shape 102"/>
          <p:cNvSpPr/>
          <p:nvPr/>
        </p:nvSpPr>
        <p:spPr>
          <a:xfrm>
            <a:off x="1963864" y="2994660"/>
            <a:ext cx="18479" cy="91"/>
          </a:xfrm>
          <a:prstGeom prst="line">
            <a:avLst/>
          </a:prstGeom>
          <a:noFill/>
          <a:ln w="28575">
            <a:solidFill>
              <a:srgbClr val="C8414C"/>
            </a:solidFill>
            <a:prstDash val="solid"/>
          </a:ln>
        </p:spPr>
      </p:sp>
      <p:sp>
        <p:nvSpPr>
          <p:cNvPr id="105" name="Shape 103"/>
          <p:cNvSpPr/>
          <p:nvPr/>
        </p:nvSpPr>
        <p:spPr>
          <a:xfrm>
            <a:off x="1982343" y="2994660"/>
            <a:ext cx="18478" cy="91"/>
          </a:xfrm>
          <a:prstGeom prst="line">
            <a:avLst/>
          </a:prstGeom>
          <a:noFill/>
          <a:ln w="28575">
            <a:solidFill>
              <a:srgbClr val="C8414C"/>
            </a:solidFill>
            <a:prstDash val="solid"/>
          </a:ln>
        </p:spPr>
      </p:sp>
      <p:sp>
        <p:nvSpPr>
          <p:cNvPr id="106" name="Shape 104"/>
          <p:cNvSpPr/>
          <p:nvPr/>
        </p:nvSpPr>
        <p:spPr>
          <a:xfrm>
            <a:off x="2000822" y="2994660"/>
            <a:ext cx="18478" cy="91"/>
          </a:xfrm>
          <a:prstGeom prst="line">
            <a:avLst/>
          </a:prstGeom>
          <a:noFill/>
          <a:ln w="28575">
            <a:solidFill>
              <a:srgbClr val="C8414C"/>
            </a:solidFill>
            <a:prstDash val="solid"/>
          </a:ln>
        </p:spPr>
      </p:sp>
      <p:sp>
        <p:nvSpPr>
          <p:cNvPr id="107" name="Shape 105"/>
          <p:cNvSpPr/>
          <p:nvPr/>
        </p:nvSpPr>
        <p:spPr>
          <a:xfrm>
            <a:off x="2019300" y="2994660"/>
            <a:ext cx="18479" cy="91"/>
          </a:xfrm>
          <a:prstGeom prst="line">
            <a:avLst/>
          </a:prstGeom>
          <a:noFill/>
          <a:ln w="28575">
            <a:solidFill>
              <a:srgbClr val="C8414C"/>
            </a:solidFill>
            <a:prstDash val="solid"/>
          </a:ln>
        </p:spPr>
      </p:sp>
      <p:sp>
        <p:nvSpPr>
          <p:cNvPr id="108" name="Shape 106"/>
          <p:cNvSpPr/>
          <p:nvPr/>
        </p:nvSpPr>
        <p:spPr>
          <a:xfrm>
            <a:off x="2037779" y="2994660"/>
            <a:ext cx="18478" cy="91"/>
          </a:xfrm>
          <a:prstGeom prst="line">
            <a:avLst/>
          </a:prstGeom>
          <a:noFill/>
          <a:ln w="28575">
            <a:solidFill>
              <a:srgbClr val="C8414C"/>
            </a:solidFill>
            <a:prstDash val="solid"/>
          </a:ln>
        </p:spPr>
      </p:sp>
      <p:sp>
        <p:nvSpPr>
          <p:cNvPr id="109" name="Shape 107"/>
          <p:cNvSpPr/>
          <p:nvPr/>
        </p:nvSpPr>
        <p:spPr>
          <a:xfrm>
            <a:off x="2056257" y="2994660"/>
            <a:ext cx="18478" cy="91"/>
          </a:xfrm>
          <a:prstGeom prst="line">
            <a:avLst/>
          </a:prstGeom>
          <a:noFill/>
          <a:ln w="28575">
            <a:solidFill>
              <a:srgbClr val="C8414C"/>
            </a:solidFill>
            <a:prstDash val="solid"/>
          </a:ln>
        </p:spPr>
      </p:sp>
      <p:sp>
        <p:nvSpPr>
          <p:cNvPr id="110" name="Shape 108"/>
          <p:cNvSpPr/>
          <p:nvPr/>
        </p:nvSpPr>
        <p:spPr>
          <a:xfrm>
            <a:off x="2074735" y="2994660"/>
            <a:ext cx="18479" cy="91"/>
          </a:xfrm>
          <a:prstGeom prst="line">
            <a:avLst/>
          </a:prstGeom>
          <a:noFill/>
          <a:ln w="28575">
            <a:solidFill>
              <a:srgbClr val="C8414C"/>
            </a:solidFill>
            <a:prstDash val="solid"/>
          </a:ln>
        </p:spPr>
      </p:sp>
      <p:sp>
        <p:nvSpPr>
          <p:cNvPr id="111" name="Shape 109"/>
          <p:cNvSpPr/>
          <p:nvPr/>
        </p:nvSpPr>
        <p:spPr>
          <a:xfrm>
            <a:off x="2093214" y="2994660"/>
            <a:ext cx="18478" cy="91"/>
          </a:xfrm>
          <a:prstGeom prst="line">
            <a:avLst/>
          </a:prstGeom>
          <a:noFill/>
          <a:ln w="28575">
            <a:solidFill>
              <a:srgbClr val="C8414C"/>
            </a:solidFill>
            <a:prstDash val="solid"/>
          </a:ln>
        </p:spPr>
      </p:sp>
      <p:sp>
        <p:nvSpPr>
          <p:cNvPr id="112" name="Shape 110"/>
          <p:cNvSpPr/>
          <p:nvPr/>
        </p:nvSpPr>
        <p:spPr>
          <a:xfrm flipV="1">
            <a:off x="2111692" y="2994660"/>
            <a:ext cx="18478" cy="0"/>
          </a:xfrm>
          <a:prstGeom prst="line">
            <a:avLst/>
          </a:prstGeom>
          <a:noFill/>
          <a:ln w="28575">
            <a:solidFill>
              <a:srgbClr val="C8414C"/>
            </a:solidFill>
            <a:prstDash val="solid"/>
          </a:ln>
        </p:spPr>
      </p:sp>
      <p:sp>
        <p:nvSpPr>
          <p:cNvPr id="113" name="Shape 111"/>
          <p:cNvSpPr/>
          <p:nvPr/>
        </p:nvSpPr>
        <p:spPr>
          <a:xfrm flipV="1">
            <a:off x="2130171" y="2994660"/>
            <a:ext cx="18479" cy="0"/>
          </a:xfrm>
          <a:prstGeom prst="line">
            <a:avLst/>
          </a:prstGeom>
          <a:noFill/>
          <a:ln w="28575">
            <a:solidFill>
              <a:srgbClr val="C8414C"/>
            </a:solidFill>
            <a:prstDash val="solid"/>
          </a:ln>
        </p:spPr>
      </p:sp>
      <p:sp>
        <p:nvSpPr>
          <p:cNvPr id="114" name="Shape 112"/>
          <p:cNvSpPr/>
          <p:nvPr/>
        </p:nvSpPr>
        <p:spPr>
          <a:xfrm flipV="1">
            <a:off x="2148650" y="2994660"/>
            <a:ext cx="18478" cy="0"/>
          </a:xfrm>
          <a:prstGeom prst="line">
            <a:avLst/>
          </a:prstGeom>
          <a:noFill/>
          <a:ln w="28575">
            <a:solidFill>
              <a:srgbClr val="C8414C"/>
            </a:solidFill>
            <a:prstDash val="solid"/>
          </a:ln>
        </p:spPr>
      </p:sp>
      <p:sp>
        <p:nvSpPr>
          <p:cNvPr id="115" name="Shape 113"/>
          <p:cNvSpPr/>
          <p:nvPr/>
        </p:nvSpPr>
        <p:spPr>
          <a:xfrm flipV="1">
            <a:off x="2167128" y="2994660"/>
            <a:ext cx="18479" cy="0"/>
          </a:xfrm>
          <a:prstGeom prst="line">
            <a:avLst/>
          </a:prstGeom>
          <a:noFill/>
          <a:ln w="28575">
            <a:solidFill>
              <a:srgbClr val="C8414C"/>
            </a:solidFill>
            <a:prstDash val="solid"/>
          </a:ln>
        </p:spPr>
      </p:sp>
      <p:sp>
        <p:nvSpPr>
          <p:cNvPr id="116" name="Shape 114"/>
          <p:cNvSpPr/>
          <p:nvPr/>
        </p:nvSpPr>
        <p:spPr>
          <a:xfrm flipV="1">
            <a:off x="2185607" y="2994660"/>
            <a:ext cx="18478" cy="0"/>
          </a:xfrm>
          <a:prstGeom prst="line">
            <a:avLst/>
          </a:prstGeom>
          <a:noFill/>
          <a:ln w="28575">
            <a:solidFill>
              <a:srgbClr val="C8414C"/>
            </a:solidFill>
            <a:prstDash val="solid"/>
          </a:ln>
        </p:spPr>
      </p:sp>
      <p:sp>
        <p:nvSpPr>
          <p:cNvPr id="117" name="Shape 115"/>
          <p:cNvSpPr/>
          <p:nvPr/>
        </p:nvSpPr>
        <p:spPr>
          <a:xfrm flipV="1">
            <a:off x="2204085" y="2994660"/>
            <a:ext cx="18479" cy="0"/>
          </a:xfrm>
          <a:prstGeom prst="line">
            <a:avLst/>
          </a:prstGeom>
          <a:noFill/>
          <a:ln w="28575">
            <a:solidFill>
              <a:srgbClr val="C8414C"/>
            </a:solidFill>
            <a:prstDash val="solid"/>
          </a:ln>
        </p:spPr>
      </p:sp>
      <p:sp>
        <p:nvSpPr>
          <p:cNvPr id="118" name="Shape 116"/>
          <p:cNvSpPr/>
          <p:nvPr/>
        </p:nvSpPr>
        <p:spPr>
          <a:xfrm flipV="1">
            <a:off x="2222564" y="2994660"/>
            <a:ext cx="18478" cy="0"/>
          </a:xfrm>
          <a:prstGeom prst="line">
            <a:avLst/>
          </a:prstGeom>
          <a:noFill/>
          <a:ln w="28575">
            <a:solidFill>
              <a:srgbClr val="C8414C"/>
            </a:solidFill>
            <a:prstDash val="solid"/>
          </a:ln>
        </p:spPr>
      </p:sp>
      <p:sp>
        <p:nvSpPr>
          <p:cNvPr id="119" name="Shape 117"/>
          <p:cNvSpPr/>
          <p:nvPr/>
        </p:nvSpPr>
        <p:spPr>
          <a:xfrm flipV="1">
            <a:off x="2241042" y="2994660"/>
            <a:ext cx="18478" cy="0"/>
          </a:xfrm>
          <a:prstGeom prst="line">
            <a:avLst/>
          </a:prstGeom>
          <a:noFill/>
          <a:ln w="28575">
            <a:solidFill>
              <a:srgbClr val="C8414C"/>
            </a:solidFill>
            <a:prstDash val="solid"/>
          </a:ln>
        </p:spPr>
      </p:sp>
      <p:sp>
        <p:nvSpPr>
          <p:cNvPr id="120" name="Shape 118"/>
          <p:cNvSpPr/>
          <p:nvPr/>
        </p:nvSpPr>
        <p:spPr>
          <a:xfrm flipV="1">
            <a:off x="2259520" y="2994660"/>
            <a:ext cx="18479" cy="0"/>
          </a:xfrm>
          <a:prstGeom prst="line">
            <a:avLst/>
          </a:prstGeom>
          <a:noFill/>
          <a:ln w="28575">
            <a:solidFill>
              <a:srgbClr val="C8414C"/>
            </a:solidFill>
            <a:prstDash val="solid"/>
          </a:ln>
        </p:spPr>
      </p:sp>
      <p:sp>
        <p:nvSpPr>
          <p:cNvPr id="121" name="Shape 119"/>
          <p:cNvSpPr/>
          <p:nvPr/>
        </p:nvSpPr>
        <p:spPr>
          <a:xfrm flipV="1">
            <a:off x="2277999" y="2994660"/>
            <a:ext cx="18478" cy="0"/>
          </a:xfrm>
          <a:prstGeom prst="line">
            <a:avLst/>
          </a:prstGeom>
          <a:noFill/>
          <a:ln w="28575">
            <a:solidFill>
              <a:srgbClr val="C8414C"/>
            </a:solidFill>
            <a:prstDash val="solid"/>
          </a:ln>
        </p:spPr>
      </p:sp>
      <p:sp>
        <p:nvSpPr>
          <p:cNvPr id="122" name="Shape 120"/>
          <p:cNvSpPr/>
          <p:nvPr/>
        </p:nvSpPr>
        <p:spPr>
          <a:xfrm flipV="1">
            <a:off x="2296478" y="2994660"/>
            <a:ext cx="18478" cy="0"/>
          </a:xfrm>
          <a:prstGeom prst="line">
            <a:avLst/>
          </a:prstGeom>
          <a:noFill/>
          <a:ln w="28575">
            <a:solidFill>
              <a:srgbClr val="C8414C"/>
            </a:solidFill>
            <a:prstDash val="solid"/>
          </a:ln>
        </p:spPr>
      </p:sp>
      <p:sp>
        <p:nvSpPr>
          <p:cNvPr id="123" name="Shape 121"/>
          <p:cNvSpPr/>
          <p:nvPr/>
        </p:nvSpPr>
        <p:spPr>
          <a:xfrm flipV="1">
            <a:off x="2314956" y="2994660"/>
            <a:ext cx="18479" cy="0"/>
          </a:xfrm>
          <a:prstGeom prst="line">
            <a:avLst/>
          </a:prstGeom>
          <a:noFill/>
          <a:ln w="28575">
            <a:solidFill>
              <a:srgbClr val="C8414C"/>
            </a:solidFill>
            <a:prstDash val="solid"/>
          </a:ln>
        </p:spPr>
      </p:sp>
      <p:sp>
        <p:nvSpPr>
          <p:cNvPr id="124" name="Shape 122"/>
          <p:cNvSpPr/>
          <p:nvPr/>
        </p:nvSpPr>
        <p:spPr>
          <a:xfrm flipV="1">
            <a:off x="2333435" y="2994660"/>
            <a:ext cx="18479" cy="0"/>
          </a:xfrm>
          <a:prstGeom prst="line">
            <a:avLst/>
          </a:prstGeom>
          <a:noFill/>
          <a:ln w="28575">
            <a:solidFill>
              <a:srgbClr val="C8414C"/>
            </a:solidFill>
            <a:prstDash val="solid"/>
          </a:ln>
        </p:spPr>
      </p:sp>
      <p:sp>
        <p:nvSpPr>
          <p:cNvPr id="125" name="Shape 123"/>
          <p:cNvSpPr/>
          <p:nvPr/>
        </p:nvSpPr>
        <p:spPr>
          <a:xfrm flipV="1">
            <a:off x="2351913" y="2994660"/>
            <a:ext cx="18478" cy="0"/>
          </a:xfrm>
          <a:prstGeom prst="line">
            <a:avLst/>
          </a:prstGeom>
          <a:noFill/>
          <a:ln w="28575">
            <a:solidFill>
              <a:srgbClr val="C8414C"/>
            </a:solidFill>
            <a:prstDash val="solid"/>
          </a:ln>
        </p:spPr>
      </p:sp>
      <p:sp>
        <p:nvSpPr>
          <p:cNvPr id="126" name="Shape 124"/>
          <p:cNvSpPr/>
          <p:nvPr/>
        </p:nvSpPr>
        <p:spPr>
          <a:xfrm flipV="1">
            <a:off x="2370392" y="2994660"/>
            <a:ext cx="18478" cy="0"/>
          </a:xfrm>
          <a:prstGeom prst="line">
            <a:avLst/>
          </a:prstGeom>
          <a:noFill/>
          <a:ln w="28575">
            <a:solidFill>
              <a:srgbClr val="C8414C"/>
            </a:solidFill>
            <a:prstDash val="solid"/>
          </a:ln>
        </p:spPr>
      </p:sp>
      <p:sp>
        <p:nvSpPr>
          <p:cNvPr id="127" name="Shape 125"/>
          <p:cNvSpPr/>
          <p:nvPr/>
        </p:nvSpPr>
        <p:spPr>
          <a:xfrm flipV="1">
            <a:off x="2388870" y="2994660"/>
            <a:ext cx="18478" cy="0"/>
          </a:xfrm>
          <a:prstGeom prst="line">
            <a:avLst/>
          </a:prstGeom>
          <a:noFill/>
          <a:ln w="28575">
            <a:solidFill>
              <a:srgbClr val="C8414C"/>
            </a:solidFill>
            <a:prstDash val="solid"/>
          </a:ln>
        </p:spPr>
      </p:sp>
      <p:sp>
        <p:nvSpPr>
          <p:cNvPr id="128" name="Shape 126"/>
          <p:cNvSpPr/>
          <p:nvPr/>
        </p:nvSpPr>
        <p:spPr>
          <a:xfrm flipV="1">
            <a:off x="2407348" y="2994659"/>
            <a:ext cx="18479" cy="1"/>
          </a:xfrm>
          <a:prstGeom prst="line">
            <a:avLst/>
          </a:prstGeom>
          <a:noFill/>
          <a:ln w="28575">
            <a:solidFill>
              <a:srgbClr val="C8414C"/>
            </a:solidFill>
            <a:prstDash val="solid"/>
          </a:ln>
        </p:spPr>
      </p:sp>
      <p:sp>
        <p:nvSpPr>
          <p:cNvPr id="129" name="Shape 127"/>
          <p:cNvSpPr/>
          <p:nvPr/>
        </p:nvSpPr>
        <p:spPr>
          <a:xfrm flipV="1">
            <a:off x="2425827" y="2994656"/>
            <a:ext cx="18478" cy="2"/>
          </a:xfrm>
          <a:prstGeom prst="line">
            <a:avLst/>
          </a:prstGeom>
          <a:noFill/>
          <a:ln w="28575">
            <a:solidFill>
              <a:srgbClr val="C8414C"/>
            </a:solidFill>
            <a:prstDash val="solid"/>
          </a:ln>
        </p:spPr>
      </p:sp>
      <p:sp>
        <p:nvSpPr>
          <p:cNvPr id="130" name="Shape 128"/>
          <p:cNvSpPr/>
          <p:nvPr/>
        </p:nvSpPr>
        <p:spPr>
          <a:xfrm flipV="1">
            <a:off x="2444306" y="2994651"/>
            <a:ext cx="18479" cy="6"/>
          </a:xfrm>
          <a:prstGeom prst="line">
            <a:avLst/>
          </a:prstGeom>
          <a:noFill/>
          <a:ln w="28575">
            <a:solidFill>
              <a:srgbClr val="C8414C"/>
            </a:solidFill>
            <a:prstDash val="solid"/>
          </a:ln>
        </p:spPr>
      </p:sp>
      <p:sp>
        <p:nvSpPr>
          <p:cNvPr id="131" name="Shape 129"/>
          <p:cNvSpPr/>
          <p:nvPr/>
        </p:nvSpPr>
        <p:spPr>
          <a:xfrm flipV="1">
            <a:off x="2462784" y="2994636"/>
            <a:ext cx="18478" cy="15"/>
          </a:xfrm>
          <a:prstGeom prst="line">
            <a:avLst/>
          </a:prstGeom>
          <a:noFill/>
          <a:ln w="28575">
            <a:solidFill>
              <a:srgbClr val="C8414C"/>
            </a:solidFill>
            <a:prstDash val="solid"/>
          </a:ln>
        </p:spPr>
      </p:sp>
      <p:sp>
        <p:nvSpPr>
          <p:cNvPr id="132" name="Shape 130"/>
          <p:cNvSpPr/>
          <p:nvPr/>
        </p:nvSpPr>
        <p:spPr>
          <a:xfrm flipV="1">
            <a:off x="2481262" y="2994601"/>
            <a:ext cx="18479" cy="35"/>
          </a:xfrm>
          <a:prstGeom prst="line">
            <a:avLst/>
          </a:prstGeom>
          <a:noFill/>
          <a:ln w="28575">
            <a:solidFill>
              <a:srgbClr val="C8414C"/>
            </a:solidFill>
            <a:prstDash val="solid"/>
          </a:ln>
        </p:spPr>
      </p:sp>
      <p:sp>
        <p:nvSpPr>
          <p:cNvPr id="133" name="Shape 131"/>
          <p:cNvSpPr/>
          <p:nvPr/>
        </p:nvSpPr>
        <p:spPr>
          <a:xfrm flipV="1">
            <a:off x="2499741" y="2994520"/>
            <a:ext cx="18479" cy="81"/>
          </a:xfrm>
          <a:prstGeom prst="line">
            <a:avLst/>
          </a:prstGeom>
          <a:noFill/>
          <a:ln w="28575">
            <a:solidFill>
              <a:srgbClr val="C8414C"/>
            </a:solidFill>
            <a:prstDash val="solid"/>
          </a:ln>
        </p:spPr>
      </p:sp>
      <p:sp>
        <p:nvSpPr>
          <p:cNvPr id="134" name="Shape 132"/>
          <p:cNvSpPr/>
          <p:nvPr/>
        </p:nvSpPr>
        <p:spPr>
          <a:xfrm flipV="1">
            <a:off x="2518220" y="2994343"/>
            <a:ext cx="18478" cy="177"/>
          </a:xfrm>
          <a:prstGeom prst="line">
            <a:avLst/>
          </a:prstGeom>
          <a:noFill/>
          <a:ln w="28575">
            <a:solidFill>
              <a:srgbClr val="C8414C"/>
            </a:solidFill>
            <a:prstDash val="solid"/>
          </a:ln>
        </p:spPr>
      </p:sp>
      <p:sp>
        <p:nvSpPr>
          <p:cNvPr id="135" name="Shape 133"/>
          <p:cNvSpPr/>
          <p:nvPr/>
        </p:nvSpPr>
        <p:spPr>
          <a:xfrm flipV="1">
            <a:off x="2536698" y="2993972"/>
            <a:ext cx="18479" cy="371"/>
          </a:xfrm>
          <a:prstGeom prst="line">
            <a:avLst/>
          </a:prstGeom>
          <a:noFill/>
          <a:ln w="28575">
            <a:solidFill>
              <a:srgbClr val="C8414C"/>
            </a:solidFill>
            <a:prstDash val="solid"/>
          </a:ln>
        </p:spPr>
      </p:sp>
      <p:sp>
        <p:nvSpPr>
          <p:cNvPr id="136" name="Shape 134"/>
          <p:cNvSpPr/>
          <p:nvPr/>
        </p:nvSpPr>
        <p:spPr>
          <a:xfrm flipV="1">
            <a:off x="2555177" y="2993226"/>
            <a:ext cx="18478" cy="746"/>
          </a:xfrm>
          <a:prstGeom prst="line">
            <a:avLst/>
          </a:prstGeom>
          <a:noFill/>
          <a:ln w="28575">
            <a:solidFill>
              <a:srgbClr val="C8414C"/>
            </a:solidFill>
            <a:prstDash val="solid"/>
          </a:ln>
        </p:spPr>
      </p:sp>
      <p:sp>
        <p:nvSpPr>
          <p:cNvPr id="137" name="Shape 135"/>
          <p:cNvSpPr/>
          <p:nvPr/>
        </p:nvSpPr>
        <p:spPr>
          <a:xfrm flipV="1">
            <a:off x="2573655" y="2991789"/>
            <a:ext cx="18479" cy="1436"/>
          </a:xfrm>
          <a:prstGeom prst="line">
            <a:avLst/>
          </a:prstGeom>
          <a:noFill/>
          <a:ln w="28575">
            <a:solidFill>
              <a:srgbClr val="C8414C"/>
            </a:solidFill>
            <a:prstDash val="solid"/>
          </a:ln>
        </p:spPr>
      </p:sp>
      <p:sp>
        <p:nvSpPr>
          <p:cNvPr id="138" name="Shape 136"/>
          <p:cNvSpPr/>
          <p:nvPr/>
        </p:nvSpPr>
        <p:spPr>
          <a:xfrm flipV="1">
            <a:off x="2592134" y="2989144"/>
            <a:ext cx="18478" cy="2645"/>
          </a:xfrm>
          <a:prstGeom prst="line">
            <a:avLst/>
          </a:prstGeom>
          <a:noFill/>
          <a:ln w="28575">
            <a:solidFill>
              <a:srgbClr val="C8414C"/>
            </a:solidFill>
            <a:prstDash val="solid"/>
          </a:ln>
        </p:spPr>
      </p:sp>
      <p:sp>
        <p:nvSpPr>
          <p:cNvPr id="139" name="Shape 137"/>
          <p:cNvSpPr/>
          <p:nvPr/>
        </p:nvSpPr>
        <p:spPr>
          <a:xfrm flipV="1">
            <a:off x="2610612" y="2984486"/>
            <a:ext cx="18479" cy="4658"/>
          </a:xfrm>
          <a:prstGeom prst="line">
            <a:avLst/>
          </a:prstGeom>
          <a:noFill/>
          <a:ln w="28575">
            <a:solidFill>
              <a:srgbClr val="C8414C"/>
            </a:solidFill>
            <a:prstDash val="solid"/>
          </a:ln>
        </p:spPr>
      </p:sp>
      <p:sp>
        <p:nvSpPr>
          <p:cNvPr id="140" name="Shape 138"/>
          <p:cNvSpPr/>
          <p:nvPr/>
        </p:nvSpPr>
        <p:spPr>
          <a:xfrm flipV="1">
            <a:off x="2629091" y="2976644"/>
            <a:ext cx="18479" cy="7842"/>
          </a:xfrm>
          <a:prstGeom prst="line">
            <a:avLst/>
          </a:prstGeom>
          <a:noFill/>
          <a:ln w="28575">
            <a:solidFill>
              <a:srgbClr val="C8414C"/>
            </a:solidFill>
            <a:prstDash val="solid"/>
          </a:ln>
        </p:spPr>
      </p:sp>
      <p:sp>
        <p:nvSpPr>
          <p:cNvPr id="141" name="Shape 139"/>
          <p:cNvSpPr/>
          <p:nvPr/>
        </p:nvSpPr>
        <p:spPr>
          <a:xfrm flipV="1">
            <a:off x="2647569" y="2964034"/>
            <a:ext cx="18478" cy="12610"/>
          </a:xfrm>
          <a:prstGeom prst="line">
            <a:avLst/>
          </a:prstGeom>
          <a:noFill/>
          <a:ln w="28575">
            <a:solidFill>
              <a:srgbClr val="C8414C"/>
            </a:solidFill>
            <a:prstDash val="solid"/>
          </a:ln>
        </p:spPr>
      </p:sp>
      <p:sp>
        <p:nvSpPr>
          <p:cNvPr id="142" name="Shape 140"/>
          <p:cNvSpPr/>
          <p:nvPr/>
        </p:nvSpPr>
        <p:spPr>
          <a:xfrm flipV="1">
            <a:off x="2666048" y="2944679"/>
            <a:ext cx="18478" cy="19355"/>
          </a:xfrm>
          <a:prstGeom prst="line">
            <a:avLst/>
          </a:prstGeom>
          <a:noFill/>
          <a:ln w="28575">
            <a:solidFill>
              <a:srgbClr val="C8414C"/>
            </a:solidFill>
            <a:prstDash val="solid"/>
          </a:ln>
        </p:spPr>
      </p:sp>
      <p:sp>
        <p:nvSpPr>
          <p:cNvPr id="143" name="Shape 141"/>
          <p:cNvSpPr/>
          <p:nvPr/>
        </p:nvSpPr>
        <p:spPr>
          <a:xfrm flipV="1">
            <a:off x="2684526" y="2916354"/>
            <a:ext cx="18479" cy="28325"/>
          </a:xfrm>
          <a:prstGeom prst="line">
            <a:avLst/>
          </a:prstGeom>
          <a:noFill/>
          <a:ln w="28575">
            <a:solidFill>
              <a:srgbClr val="C8414C"/>
            </a:solidFill>
            <a:prstDash val="solid"/>
          </a:ln>
        </p:spPr>
      </p:sp>
      <p:sp>
        <p:nvSpPr>
          <p:cNvPr id="144" name="Shape 142"/>
          <p:cNvSpPr/>
          <p:nvPr/>
        </p:nvSpPr>
        <p:spPr>
          <a:xfrm flipV="1">
            <a:off x="2703005" y="2876883"/>
            <a:ext cx="18478" cy="39471"/>
          </a:xfrm>
          <a:prstGeom prst="line">
            <a:avLst/>
          </a:prstGeom>
          <a:noFill/>
          <a:ln w="28575">
            <a:solidFill>
              <a:srgbClr val="C8414C"/>
            </a:solidFill>
            <a:prstDash val="solid"/>
          </a:ln>
        </p:spPr>
      </p:sp>
      <p:sp>
        <p:nvSpPr>
          <p:cNvPr id="145" name="Shape 143"/>
          <p:cNvSpPr/>
          <p:nvPr/>
        </p:nvSpPr>
        <p:spPr>
          <a:xfrm flipV="1">
            <a:off x="2721483" y="2824602"/>
            <a:ext cx="18478" cy="52281"/>
          </a:xfrm>
          <a:prstGeom prst="line">
            <a:avLst/>
          </a:prstGeom>
          <a:noFill/>
          <a:ln w="28575">
            <a:solidFill>
              <a:srgbClr val="C8414C"/>
            </a:solidFill>
            <a:prstDash val="solid"/>
          </a:ln>
        </p:spPr>
      </p:sp>
      <p:sp>
        <p:nvSpPr>
          <p:cNvPr id="146" name="Shape 144"/>
          <p:cNvSpPr/>
          <p:nvPr/>
        </p:nvSpPr>
        <p:spPr>
          <a:xfrm flipV="1">
            <a:off x="2739961" y="2758934"/>
            <a:ext cx="18479" cy="65668"/>
          </a:xfrm>
          <a:prstGeom prst="line">
            <a:avLst/>
          </a:prstGeom>
          <a:noFill/>
          <a:ln w="28575">
            <a:solidFill>
              <a:srgbClr val="C8414C"/>
            </a:solidFill>
            <a:prstDash val="solid"/>
          </a:ln>
        </p:spPr>
      </p:sp>
      <p:sp>
        <p:nvSpPr>
          <p:cNvPr id="147" name="Shape 145"/>
          <p:cNvSpPr/>
          <p:nvPr/>
        </p:nvSpPr>
        <p:spPr>
          <a:xfrm flipV="1">
            <a:off x="2758440" y="2680977"/>
            <a:ext cx="18478" cy="77957"/>
          </a:xfrm>
          <a:prstGeom prst="line">
            <a:avLst/>
          </a:prstGeom>
          <a:noFill/>
          <a:ln w="28575">
            <a:solidFill>
              <a:srgbClr val="C8414C"/>
            </a:solidFill>
            <a:prstDash val="solid"/>
          </a:ln>
        </p:spPr>
      </p:sp>
      <p:sp>
        <p:nvSpPr>
          <p:cNvPr id="148" name="Shape 146"/>
          <p:cNvSpPr/>
          <p:nvPr/>
        </p:nvSpPr>
        <p:spPr>
          <a:xfrm flipV="1">
            <a:off x="2776918" y="2593932"/>
            <a:ext cx="18479" cy="87044"/>
          </a:xfrm>
          <a:prstGeom prst="line">
            <a:avLst/>
          </a:prstGeom>
          <a:noFill/>
          <a:ln w="28575">
            <a:solidFill>
              <a:srgbClr val="C8414C"/>
            </a:solidFill>
            <a:prstDash val="solid"/>
          </a:ln>
        </p:spPr>
      </p:sp>
      <p:sp>
        <p:nvSpPr>
          <p:cNvPr id="149" name="Shape 147"/>
          <p:cNvSpPr/>
          <p:nvPr/>
        </p:nvSpPr>
        <p:spPr>
          <a:xfrm flipV="1">
            <a:off x="2795397" y="2503208"/>
            <a:ext cx="18479" cy="90724"/>
          </a:xfrm>
          <a:prstGeom prst="line">
            <a:avLst/>
          </a:prstGeom>
          <a:noFill/>
          <a:ln w="28575">
            <a:solidFill>
              <a:srgbClr val="C8414C"/>
            </a:solidFill>
            <a:prstDash val="solid"/>
          </a:ln>
        </p:spPr>
      </p:sp>
      <p:sp>
        <p:nvSpPr>
          <p:cNvPr id="150" name="Shape 148"/>
          <p:cNvSpPr/>
          <p:nvPr/>
        </p:nvSpPr>
        <p:spPr>
          <a:xfrm flipV="1">
            <a:off x="2813876" y="2416050"/>
            <a:ext cx="18479" cy="87158"/>
          </a:xfrm>
          <a:prstGeom prst="line">
            <a:avLst/>
          </a:prstGeom>
          <a:noFill/>
          <a:ln w="28575">
            <a:solidFill>
              <a:srgbClr val="C8414C"/>
            </a:solidFill>
            <a:prstDash val="solid"/>
          </a:ln>
        </p:spPr>
      </p:sp>
      <p:sp>
        <p:nvSpPr>
          <p:cNvPr id="151" name="Shape 149"/>
          <p:cNvSpPr/>
          <p:nvPr/>
        </p:nvSpPr>
        <p:spPr>
          <a:xfrm flipV="1">
            <a:off x="2832354" y="2340679"/>
            <a:ext cx="18478" cy="75371"/>
          </a:xfrm>
          <a:prstGeom prst="line">
            <a:avLst/>
          </a:prstGeom>
          <a:noFill/>
          <a:ln w="28575">
            <a:solidFill>
              <a:srgbClr val="C8414C"/>
            </a:solidFill>
            <a:prstDash val="solid"/>
          </a:ln>
        </p:spPr>
      </p:sp>
      <p:sp>
        <p:nvSpPr>
          <p:cNvPr id="152" name="Shape 150"/>
          <p:cNvSpPr/>
          <p:nvPr/>
        </p:nvSpPr>
        <p:spPr>
          <a:xfrm flipV="1">
            <a:off x="2850833" y="2285054"/>
            <a:ext cx="18478" cy="55626"/>
          </a:xfrm>
          <a:prstGeom prst="line">
            <a:avLst/>
          </a:prstGeom>
          <a:noFill/>
          <a:ln w="28575">
            <a:solidFill>
              <a:srgbClr val="C8414C"/>
            </a:solidFill>
            <a:prstDash val="solid"/>
          </a:ln>
        </p:spPr>
      </p:sp>
      <p:sp>
        <p:nvSpPr>
          <p:cNvPr id="153" name="Shape 151"/>
          <p:cNvSpPr/>
          <p:nvPr/>
        </p:nvSpPr>
        <p:spPr>
          <a:xfrm flipV="1">
            <a:off x="2869311" y="2255491"/>
            <a:ext cx="18478" cy="29563"/>
          </a:xfrm>
          <a:prstGeom prst="line">
            <a:avLst/>
          </a:prstGeom>
          <a:noFill/>
          <a:ln w="28575">
            <a:solidFill>
              <a:srgbClr val="C8414C"/>
            </a:solidFill>
            <a:prstDash val="solid"/>
          </a:ln>
        </p:spPr>
      </p:sp>
      <p:sp>
        <p:nvSpPr>
          <p:cNvPr id="154" name="Shape 152"/>
          <p:cNvSpPr/>
          <p:nvPr/>
        </p:nvSpPr>
        <p:spPr>
          <a:xfrm>
            <a:off x="2887789" y="2255491"/>
            <a:ext cx="18479" cy="91"/>
          </a:xfrm>
          <a:prstGeom prst="line">
            <a:avLst/>
          </a:prstGeom>
          <a:noFill/>
          <a:ln w="28575">
            <a:solidFill>
              <a:srgbClr val="C8414C"/>
            </a:solidFill>
            <a:prstDash val="solid"/>
          </a:ln>
        </p:spPr>
      </p:sp>
      <p:sp>
        <p:nvSpPr>
          <p:cNvPr id="155" name="Shape 153"/>
          <p:cNvSpPr/>
          <p:nvPr/>
        </p:nvSpPr>
        <p:spPr>
          <a:xfrm>
            <a:off x="2906268" y="2255491"/>
            <a:ext cx="18478" cy="29563"/>
          </a:xfrm>
          <a:prstGeom prst="line">
            <a:avLst/>
          </a:prstGeom>
          <a:noFill/>
          <a:ln w="28575">
            <a:solidFill>
              <a:srgbClr val="C8414C"/>
            </a:solidFill>
            <a:prstDash val="solid"/>
          </a:ln>
        </p:spPr>
      </p:sp>
      <p:sp>
        <p:nvSpPr>
          <p:cNvPr id="156" name="Shape 154"/>
          <p:cNvSpPr/>
          <p:nvPr/>
        </p:nvSpPr>
        <p:spPr>
          <a:xfrm>
            <a:off x="2924746" y="2285054"/>
            <a:ext cx="18479" cy="55626"/>
          </a:xfrm>
          <a:prstGeom prst="line">
            <a:avLst/>
          </a:prstGeom>
          <a:noFill/>
          <a:ln w="28575">
            <a:solidFill>
              <a:srgbClr val="C8414C"/>
            </a:solidFill>
            <a:prstDash val="solid"/>
          </a:ln>
        </p:spPr>
      </p:sp>
      <p:sp>
        <p:nvSpPr>
          <p:cNvPr id="157" name="Shape 155"/>
          <p:cNvSpPr/>
          <p:nvPr/>
        </p:nvSpPr>
        <p:spPr>
          <a:xfrm>
            <a:off x="2943225" y="2340679"/>
            <a:ext cx="18478" cy="75371"/>
          </a:xfrm>
          <a:prstGeom prst="line">
            <a:avLst/>
          </a:prstGeom>
          <a:noFill/>
          <a:ln w="28575">
            <a:solidFill>
              <a:srgbClr val="C8414C"/>
            </a:solidFill>
            <a:prstDash val="solid"/>
          </a:ln>
        </p:spPr>
      </p:sp>
      <p:sp>
        <p:nvSpPr>
          <p:cNvPr id="158" name="Shape 156"/>
          <p:cNvSpPr/>
          <p:nvPr/>
        </p:nvSpPr>
        <p:spPr>
          <a:xfrm>
            <a:off x="2961703" y="2416050"/>
            <a:ext cx="18479" cy="87158"/>
          </a:xfrm>
          <a:prstGeom prst="line">
            <a:avLst/>
          </a:prstGeom>
          <a:noFill/>
          <a:ln w="28575">
            <a:solidFill>
              <a:srgbClr val="C8414C"/>
            </a:solidFill>
            <a:prstDash val="solid"/>
          </a:ln>
        </p:spPr>
      </p:sp>
      <p:sp>
        <p:nvSpPr>
          <p:cNvPr id="159" name="Shape 157"/>
          <p:cNvSpPr/>
          <p:nvPr/>
        </p:nvSpPr>
        <p:spPr>
          <a:xfrm>
            <a:off x="2980182" y="2503208"/>
            <a:ext cx="18479" cy="90724"/>
          </a:xfrm>
          <a:prstGeom prst="line">
            <a:avLst/>
          </a:prstGeom>
          <a:noFill/>
          <a:ln w="28575">
            <a:solidFill>
              <a:srgbClr val="C8414C"/>
            </a:solidFill>
            <a:prstDash val="solid"/>
          </a:ln>
        </p:spPr>
      </p:sp>
      <p:sp>
        <p:nvSpPr>
          <p:cNvPr id="160" name="Shape 158"/>
          <p:cNvSpPr/>
          <p:nvPr/>
        </p:nvSpPr>
        <p:spPr>
          <a:xfrm>
            <a:off x="2998661" y="2593932"/>
            <a:ext cx="18478" cy="87044"/>
          </a:xfrm>
          <a:prstGeom prst="line">
            <a:avLst/>
          </a:prstGeom>
          <a:noFill/>
          <a:ln w="28575">
            <a:solidFill>
              <a:srgbClr val="C8414C"/>
            </a:solidFill>
            <a:prstDash val="solid"/>
          </a:ln>
        </p:spPr>
      </p:sp>
      <p:sp>
        <p:nvSpPr>
          <p:cNvPr id="161" name="Shape 159"/>
          <p:cNvSpPr/>
          <p:nvPr/>
        </p:nvSpPr>
        <p:spPr>
          <a:xfrm>
            <a:off x="3017139" y="2680977"/>
            <a:ext cx="18478" cy="77957"/>
          </a:xfrm>
          <a:prstGeom prst="line">
            <a:avLst/>
          </a:prstGeom>
          <a:noFill/>
          <a:ln w="28575">
            <a:solidFill>
              <a:srgbClr val="C8414C"/>
            </a:solidFill>
            <a:prstDash val="solid"/>
          </a:ln>
        </p:spPr>
      </p:sp>
      <p:sp>
        <p:nvSpPr>
          <p:cNvPr id="162" name="Shape 160"/>
          <p:cNvSpPr/>
          <p:nvPr/>
        </p:nvSpPr>
        <p:spPr>
          <a:xfrm>
            <a:off x="3035617" y="2758934"/>
            <a:ext cx="18479" cy="65668"/>
          </a:xfrm>
          <a:prstGeom prst="line">
            <a:avLst/>
          </a:prstGeom>
          <a:noFill/>
          <a:ln w="28575">
            <a:solidFill>
              <a:srgbClr val="C8414C"/>
            </a:solidFill>
            <a:prstDash val="solid"/>
          </a:ln>
        </p:spPr>
      </p:sp>
      <p:sp>
        <p:nvSpPr>
          <p:cNvPr id="163" name="Shape 161"/>
          <p:cNvSpPr/>
          <p:nvPr/>
        </p:nvSpPr>
        <p:spPr>
          <a:xfrm>
            <a:off x="3054096" y="2824602"/>
            <a:ext cx="18478" cy="52281"/>
          </a:xfrm>
          <a:prstGeom prst="line">
            <a:avLst/>
          </a:prstGeom>
          <a:noFill/>
          <a:ln w="28575">
            <a:solidFill>
              <a:srgbClr val="C8414C"/>
            </a:solidFill>
            <a:prstDash val="solid"/>
          </a:ln>
        </p:spPr>
      </p:sp>
      <p:sp>
        <p:nvSpPr>
          <p:cNvPr id="164" name="Shape 162"/>
          <p:cNvSpPr/>
          <p:nvPr/>
        </p:nvSpPr>
        <p:spPr>
          <a:xfrm>
            <a:off x="3072574" y="2876883"/>
            <a:ext cx="18479" cy="39471"/>
          </a:xfrm>
          <a:prstGeom prst="line">
            <a:avLst/>
          </a:prstGeom>
          <a:noFill/>
          <a:ln w="28575">
            <a:solidFill>
              <a:srgbClr val="C8414C"/>
            </a:solidFill>
            <a:prstDash val="solid"/>
          </a:ln>
        </p:spPr>
      </p:sp>
      <p:sp>
        <p:nvSpPr>
          <p:cNvPr id="165" name="Shape 163"/>
          <p:cNvSpPr/>
          <p:nvPr/>
        </p:nvSpPr>
        <p:spPr>
          <a:xfrm>
            <a:off x="3091053" y="2916354"/>
            <a:ext cx="18478" cy="28325"/>
          </a:xfrm>
          <a:prstGeom prst="line">
            <a:avLst/>
          </a:prstGeom>
          <a:noFill/>
          <a:ln w="28575">
            <a:solidFill>
              <a:srgbClr val="C8414C"/>
            </a:solidFill>
            <a:prstDash val="solid"/>
          </a:ln>
        </p:spPr>
      </p:sp>
      <p:sp>
        <p:nvSpPr>
          <p:cNvPr id="166" name="Shape 164"/>
          <p:cNvSpPr/>
          <p:nvPr/>
        </p:nvSpPr>
        <p:spPr>
          <a:xfrm>
            <a:off x="3109532" y="2944679"/>
            <a:ext cx="18479" cy="19355"/>
          </a:xfrm>
          <a:prstGeom prst="line">
            <a:avLst/>
          </a:prstGeom>
          <a:noFill/>
          <a:ln w="28575">
            <a:solidFill>
              <a:srgbClr val="C8414C"/>
            </a:solidFill>
            <a:prstDash val="solid"/>
          </a:ln>
        </p:spPr>
      </p:sp>
      <p:sp>
        <p:nvSpPr>
          <p:cNvPr id="167" name="Shape 165"/>
          <p:cNvSpPr/>
          <p:nvPr/>
        </p:nvSpPr>
        <p:spPr>
          <a:xfrm>
            <a:off x="3128010" y="2964034"/>
            <a:ext cx="18478" cy="12610"/>
          </a:xfrm>
          <a:prstGeom prst="line">
            <a:avLst/>
          </a:prstGeom>
          <a:noFill/>
          <a:ln w="28575">
            <a:solidFill>
              <a:srgbClr val="C8414C"/>
            </a:solidFill>
            <a:prstDash val="solid"/>
          </a:ln>
        </p:spPr>
      </p:sp>
      <p:sp>
        <p:nvSpPr>
          <p:cNvPr id="168" name="Shape 166"/>
          <p:cNvSpPr/>
          <p:nvPr/>
        </p:nvSpPr>
        <p:spPr>
          <a:xfrm>
            <a:off x="3146489" y="2976644"/>
            <a:ext cx="18478" cy="7842"/>
          </a:xfrm>
          <a:prstGeom prst="line">
            <a:avLst/>
          </a:prstGeom>
          <a:noFill/>
          <a:ln w="28575">
            <a:solidFill>
              <a:srgbClr val="C8414C"/>
            </a:solidFill>
            <a:prstDash val="solid"/>
          </a:ln>
        </p:spPr>
      </p:sp>
      <p:sp>
        <p:nvSpPr>
          <p:cNvPr id="169" name="Shape 167"/>
          <p:cNvSpPr/>
          <p:nvPr/>
        </p:nvSpPr>
        <p:spPr>
          <a:xfrm>
            <a:off x="3164967" y="2984486"/>
            <a:ext cx="18479" cy="4658"/>
          </a:xfrm>
          <a:prstGeom prst="line">
            <a:avLst/>
          </a:prstGeom>
          <a:noFill/>
          <a:ln w="28575">
            <a:solidFill>
              <a:srgbClr val="C8414C"/>
            </a:solidFill>
            <a:prstDash val="solid"/>
          </a:ln>
        </p:spPr>
      </p:sp>
      <p:sp>
        <p:nvSpPr>
          <p:cNvPr id="170" name="Shape 168"/>
          <p:cNvSpPr/>
          <p:nvPr/>
        </p:nvSpPr>
        <p:spPr>
          <a:xfrm>
            <a:off x="3183446" y="2989144"/>
            <a:ext cx="18478" cy="2645"/>
          </a:xfrm>
          <a:prstGeom prst="line">
            <a:avLst/>
          </a:prstGeom>
          <a:noFill/>
          <a:ln w="28575">
            <a:solidFill>
              <a:srgbClr val="C8414C"/>
            </a:solidFill>
            <a:prstDash val="solid"/>
          </a:ln>
        </p:spPr>
      </p:sp>
      <p:sp>
        <p:nvSpPr>
          <p:cNvPr id="171" name="Shape 169"/>
          <p:cNvSpPr/>
          <p:nvPr/>
        </p:nvSpPr>
        <p:spPr>
          <a:xfrm>
            <a:off x="3201924" y="2991789"/>
            <a:ext cx="18478" cy="1436"/>
          </a:xfrm>
          <a:prstGeom prst="line">
            <a:avLst/>
          </a:prstGeom>
          <a:noFill/>
          <a:ln w="28575">
            <a:solidFill>
              <a:srgbClr val="C8414C"/>
            </a:solidFill>
            <a:prstDash val="solid"/>
          </a:ln>
        </p:spPr>
      </p:sp>
      <p:sp>
        <p:nvSpPr>
          <p:cNvPr id="172" name="Shape 170"/>
          <p:cNvSpPr/>
          <p:nvPr/>
        </p:nvSpPr>
        <p:spPr>
          <a:xfrm>
            <a:off x="3220402" y="2993226"/>
            <a:ext cx="18478" cy="746"/>
          </a:xfrm>
          <a:prstGeom prst="line">
            <a:avLst/>
          </a:prstGeom>
          <a:noFill/>
          <a:ln w="28575">
            <a:solidFill>
              <a:srgbClr val="C8414C"/>
            </a:solidFill>
            <a:prstDash val="solid"/>
          </a:ln>
        </p:spPr>
      </p:sp>
      <p:sp>
        <p:nvSpPr>
          <p:cNvPr id="173" name="Shape 171"/>
          <p:cNvSpPr/>
          <p:nvPr/>
        </p:nvSpPr>
        <p:spPr>
          <a:xfrm>
            <a:off x="3238881" y="2993972"/>
            <a:ext cx="18479" cy="371"/>
          </a:xfrm>
          <a:prstGeom prst="line">
            <a:avLst/>
          </a:prstGeom>
          <a:noFill/>
          <a:ln w="28575">
            <a:solidFill>
              <a:srgbClr val="C8414C"/>
            </a:solidFill>
            <a:prstDash val="solid"/>
          </a:ln>
        </p:spPr>
      </p:sp>
      <p:sp>
        <p:nvSpPr>
          <p:cNvPr id="174" name="Shape 172"/>
          <p:cNvSpPr/>
          <p:nvPr/>
        </p:nvSpPr>
        <p:spPr>
          <a:xfrm>
            <a:off x="3257360" y="2994343"/>
            <a:ext cx="18479" cy="177"/>
          </a:xfrm>
          <a:prstGeom prst="line">
            <a:avLst/>
          </a:prstGeom>
          <a:noFill/>
          <a:ln w="28575">
            <a:solidFill>
              <a:srgbClr val="C8414C"/>
            </a:solidFill>
            <a:prstDash val="solid"/>
          </a:ln>
        </p:spPr>
      </p:sp>
      <p:sp>
        <p:nvSpPr>
          <p:cNvPr id="175" name="Shape 173"/>
          <p:cNvSpPr/>
          <p:nvPr/>
        </p:nvSpPr>
        <p:spPr>
          <a:xfrm>
            <a:off x="3275838" y="2994520"/>
            <a:ext cx="18478" cy="81"/>
          </a:xfrm>
          <a:prstGeom prst="line">
            <a:avLst/>
          </a:prstGeom>
          <a:noFill/>
          <a:ln w="28575">
            <a:solidFill>
              <a:srgbClr val="C8414C"/>
            </a:solidFill>
            <a:prstDash val="solid"/>
          </a:ln>
        </p:spPr>
      </p:sp>
      <p:sp>
        <p:nvSpPr>
          <p:cNvPr id="176" name="Shape 174"/>
          <p:cNvSpPr/>
          <p:nvPr/>
        </p:nvSpPr>
        <p:spPr>
          <a:xfrm>
            <a:off x="3294317" y="2994601"/>
            <a:ext cx="18478" cy="35"/>
          </a:xfrm>
          <a:prstGeom prst="line">
            <a:avLst/>
          </a:prstGeom>
          <a:noFill/>
          <a:ln w="28575">
            <a:solidFill>
              <a:srgbClr val="C8414C"/>
            </a:solidFill>
            <a:prstDash val="solid"/>
          </a:ln>
        </p:spPr>
      </p:sp>
      <p:sp>
        <p:nvSpPr>
          <p:cNvPr id="177" name="Shape 175"/>
          <p:cNvSpPr/>
          <p:nvPr/>
        </p:nvSpPr>
        <p:spPr>
          <a:xfrm>
            <a:off x="3312795" y="2994636"/>
            <a:ext cx="18478" cy="14"/>
          </a:xfrm>
          <a:prstGeom prst="line">
            <a:avLst/>
          </a:prstGeom>
          <a:noFill/>
          <a:ln w="28575">
            <a:solidFill>
              <a:srgbClr val="C8414C"/>
            </a:solidFill>
            <a:prstDash val="solid"/>
          </a:ln>
        </p:spPr>
      </p:sp>
      <p:sp>
        <p:nvSpPr>
          <p:cNvPr id="178" name="Shape 176"/>
          <p:cNvSpPr/>
          <p:nvPr/>
        </p:nvSpPr>
        <p:spPr>
          <a:xfrm>
            <a:off x="3331273" y="2994650"/>
            <a:ext cx="18478" cy="5"/>
          </a:xfrm>
          <a:prstGeom prst="line">
            <a:avLst/>
          </a:prstGeom>
          <a:noFill/>
          <a:ln w="28575">
            <a:solidFill>
              <a:srgbClr val="C8414C"/>
            </a:solidFill>
            <a:prstDash val="solid"/>
          </a:ln>
        </p:spPr>
      </p:sp>
      <p:sp>
        <p:nvSpPr>
          <p:cNvPr id="179" name="Shape 177"/>
          <p:cNvSpPr/>
          <p:nvPr/>
        </p:nvSpPr>
        <p:spPr>
          <a:xfrm>
            <a:off x="3349752" y="2994655"/>
            <a:ext cx="18479" cy="91"/>
          </a:xfrm>
          <a:prstGeom prst="line">
            <a:avLst/>
          </a:prstGeom>
          <a:noFill/>
          <a:ln w="28575">
            <a:solidFill>
              <a:srgbClr val="C8414C"/>
            </a:solidFill>
            <a:prstDash val="solid"/>
          </a:ln>
        </p:spPr>
      </p:sp>
      <p:sp>
        <p:nvSpPr>
          <p:cNvPr id="180" name="Shape 178"/>
          <p:cNvSpPr/>
          <p:nvPr/>
        </p:nvSpPr>
        <p:spPr>
          <a:xfrm flipV="1">
            <a:off x="3368231" y="2994650"/>
            <a:ext cx="18478" cy="5"/>
          </a:xfrm>
          <a:prstGeom prst="line">
            <a:avLst/>
          </a:prstGeom>
          <a:noFill/>
          <a:ln w="28575">
            <a:solidFill>
              <a:srgbClr val="C8414C"/>
            </a:solidFill>
            <a:prstDash val="solid"/>
          </a:ln>
        </p:spPr>
      </p:sp>
      <p:sp>
        <p:nvSpPr>
          <p:cNvPr id="181" name="Shape 179"/>
          <p:cNvSpPr/>
          <p:nvPr/>
        </p:nvSpPr>
        <p:spPr>
          <a:xfrm flipV="1">
            <a:off x="3386709" y="2994636"/>
            <a:ext cx="18478" cy="14"/>
          </a:xfrm>
          <a:prstGeom prst="line">
            <a:avLst/>
          </a:prstGeom>
          <a:noFill/>
          <a:ln w="28575">
            <a:solidFill>
              <a:srgbClr val="C8414C"/>
            </a:solidFill>
            <a:prstDash val="solid"/>
          </a:ln>
        </p:spPr>
      </p:sp>
      <p:sp>
        <p:nvSpPr>
          <p:cNvPr id="182" name="Shape 180"/>
          <p:cNvSpPr/>
          <p:nvPr/>
        </p:nvSpPr>
        <p:spPr>
          <a:xfrm flipV="1">
            <a:off x="3405187" y="2994601"/>
            <a:ext cx="18479" cy="35"/>
          </a:xfrm>
          <a:prstGeom prst="line">
            <a:avLst/>
          </a:prstGeom>
          <a:noFill/>
          <a:ln w="28575">
            <a:solidFill>
              <a:srgbClr val="C8414C"/>
            </a:solidFill>
            <a:prstDash val="solid"/>
          </a:ln>
        </p:spPr>
      </p:sp>
      <p:sp>
        <p:nvSpPr>
          <p:cNvPr id="183" name="Shape 181"/>
          <p:cNvSpPr/>
          <p:nvPr/>
        </p:nvSpPr>
        <p:spPr>
          <a:xfrm flipV="1">
            <a:off x="3423666" y="2994520"/>
            <a:ext cx="18478" cy="81"/>
          </a:xfrm>
          <a:prstGeom prst="line">
            <a:avLst/>
          </a:prstGeom>
          <a:noFill/>
          <a:ln w="28575">
            <a:solidFill>
              <a:srgbClr val="C8414C"/>
            </a:solidFill>
            <a:prstDash val="solid"/>
          </a:ln>
        </p:spPr>
      </p:sp>
      <p:sp>
        <p:nvSpPr>
          <p:cNvPr id="184" name="Shape 182"/>
          <p:cNvSpPr/>
          <p:nvPr/>
        </p:nvSpPr>
        <p:spPr>
          <a:xfrm flipV="1">
            <a:off x="3442145" y="2994343"/>
            <a:ext cx="18479" cy="177"/>
          </a:xfrm>
          <a:prstGeom prst="line">
            <a:avLst/>
          </a:prstGeom>
          <a:noFill/>
          <a:ln w="28575">
            <a:solidFill>
              <a:srgbClr val="C8414C"/>
            </a:solidFill>
            <a:prstDash val="solid"/>
          </a:ln>
        </p:spPr>
      </p:sp>
      <p:sp>
        <p:nvSpPr>
          <p:cNvPr id="185" name="Shape 183"/>
          <p:cNvSpPr/>
          <p:nvPr/>
        </p:nvSpPr>
        <p:spPr>
          <a:xfrm flipV="1">
            <a:off x="3460623" y="2993972"/>
            <a:ext cx="18478" cy="371"/>
          </a:xfrm>
          <a:prstGeom prst="line">
            <a:avLst/>
          </a:prstGeom>
          <a:noFill/>
          <a:ln w="28575">
            <a:solidFill>
              <a:srgbClr val="C8414C"/>
            </a:solidFill>
            <a:prstDash val="solid"/>
          </a:ln>
        </p:spPr>
      </p:sp>
      <p:sp>
        <p:nvSpPr>
          <p:cNvPr id="186" name="Shape 184"/>
          <p:cNvSpPr/>
          <p:nvPr/>
        </p:nvSpPr>
        <p:spPr>
          <a:xfrm flipV="1">
            <a:off x="3479102" y="2993226"/>
            <a:ext cx="18478" cy="746"/>
          </a:xfrm>
          <a:prstGeom prst="line">
            <a:avLst/>
          </a:prstGeom>
          <a:noFill/>
          <a:ln w="28575">
            <a:solidFill>
              <a:srgbClr val="C8414C"/>
            </a:solidFill>
            <a:prstDash val="solid"/>
          </a:ln>
        </p:spPr>
      </p:sp>
      <p:sp>
        <p:nvSpPr>
          <p:cNvPr id="187" name="Shape 185"/>
          <p:cNvSpPr/>
          <p:nvPr/>
        </p:nvSpPr>
        <p:spPr>
          <a:xfrm flipV="1">
            <a:off x="3497580" y="2991789"/>
            <a:ext cx="18478" cy="1436"/>
          </a:xfrm>
          <a:prstGeom prst="line">
            <a:avLst/>
          </a:prstGeom>
          <a:noFill/>
          <a:ln w="28575">
            <a:solidFill>
              <a:srgbClr val="C8414C"/>
            </a:solidFill>
            <a:prstDash val="solid"/>
          </a:ln>
        </p:spPr>
      </p:sp>
      <p:sp>
        <p:nvSpPr>
          <p:cNvPr id="188" name="Shape 186"/>
          <p:cNvSpPr/>
          <p:nvPr/>
        </p:nvSpPr>
        <p:spPr>
          <a:xfrm flipV="1">
            <a:off x="3516058" y="2989144"/>
            <a:ext cx="18478" cy="2645"/>
          </a:xfrm>
          <a:prstGeom prst="line">
            <a:avLst/>
          </a:prstGeom>
          <a:noFill/>
          <a:ln w="28575">
            <a:solidFill>
              <a:srgbClr val="C8414C"/>
            </a:solidFill>
            <a:prstDash val="solid"/>
          </a:ln>
        </p:spPr>
      </p:sp>
      <p:sp>
        <p:nvSpPr>
          <p:cNvPr id="189" name="Shape 187"/>
          <p:cNvSpPr/>
          <p:nvPr/>
        </p:nvSpPr>
        <p:spPr>
          <a:xfrm flipV="1">
            <a:off x="3534537" y="2984486"/>
            <a:ext cx="18479" cy="4658"/>
          </a:xfrm>
          <a:prstGeom prst="line">
            <a:avLst/>
          </a:prstGeom>
          <a:noFill/>
          <a:ln w="28575">
            <a:solidFill>
              <a:srgbClr val="C8414C"/>
            </a:solidFill>
            <a:prstDash val="solid"/>
          </a:ln>
        </p:spPr>
      </p:sp>
      <p:sp>
        <p:nvSpPr>
          <p:cNvPr id="190" name="Shape 188"/>
          <p:cNvSpPr/>
          <p:nvPr/>
        </p:nvSpPr>
        <p:spPr>
          <a:xfrm flipV="1">
            <a:off x="3553016" y="2976644"/>
            <a:ext cx="18478" cy="7842"/>
          </a:xfrm>
          <a:prstGeom prst="line">
            <a:avLst/>
          </a:prstGeom>
          <a:noFill/>
          <a:ln w="28575">
            <a:solidFill>
              <a:srgbClr val="C8414C"/>
            </a:solidFill>
            <a:prstDash val="solid"/>
          </a:ln>
        </p:spPr>
      </p:sp>
      <p:sp>
        <p:nvSpPr>
          <p:cNvPr id="191" name="Shape 189"/>
          <p:cNvSpPr/>
          <p:nvPr/>
        </p:nvSpPr>
        <p:spPr>
          <a:xfrm flipV="1">
            <a:off x="3571494" y="2964034"/>
            <a:ext cx="18478" cy="12610"/>
          </a:xfrm>
          <a:prstGeom prst="line">
            <a:avLst/>
          </a:prstGeom>
          <a:noFill/>
          <a:ln w="28575">
            <a:solidFill>
              <a:srgbClr val="C8414C"/>
            </a:solidFill>
            <a:prstDash val="solid"/>
          </a:ln>
        </p:spPr>
      </p:sp>
      <p:sp>
        <p:nvSpPr>
          <p:cNvPr id="192" name="Shape 190"/>
          <p:cNvSpPr/>
          <p:nvPr/>
        </p:nvSpPr>
        <p:spPr>
          <a:xfrm flipV="1">
            <a:off x="3589973" y="2944679"/>
            <a:ext cx="18479" cy="19355"/>
          </a:xfrm>
          <a:prstGeom prst="line">
            <a:avLst/>
          </a:prstGeom>
          <a:noFill/>
          <a:ln w="28575">
            <a:solidFill>
              <a:srgbClr val="C8414C"/>
            </a:solidFill>
            <a:prstDash val="solid"/>
          </a:ln>
        </p:spPr>
      </p:sp>
      <p:sp>
        <p:nvSpPr>
          <p:cNvPr id="193" name="Shape 191"/>
          <p:cNvSpPr/>
          <p:nvPr/>
        </p:nvSpPr>
        <p:spPr>
          <a:xfrm flipV="1">
            <a:off x="3608451" y="2916354"/>
            <a:ext cx="18478" cy="28325"/>
          </a:xfrm>
          <a:prstGeom prst="line">
            <a:avLst/>
          </a:prstGeom>
          <a:noFill/>
          <a:ln w="28575">
            <a:solidFill>
              <a:srgbClr val="C8414C"/>
            </a:solidFill>
            <a:prstDash val="solid"/>
          </a:ln>
        </p:spPr>
      </p:sp>
      <p:sp>
        <p:nvSpPr>
          <p:cNvPr id="194" name="Shape 192"/>
          <p:cNvSpPr/>
          <p:nvPr/>
        </p:nvSpPr>
        <p:spPr>
          <a:xfrm flipV="1">
            <a:off x="3626930" y="2876883"/>
            <a:ext cx="18478" cy="39471"/>
          </a:xfrm>
          <a:prstGeom prst="line">
            <a:avLst/>
          </a:prstGeom>
          <a:noFill/>
          <a:ln w="28575">
            <a:solidFill>
              <a:srgbClr val="C8414C"/>
            </a:solidFill>
            <a:prstDash val="solid"/>
          </a:ln>
        </p:spPr>
      </p:sp>
      <p:sp>
        <p:nvSpPr>
          <p:cNvPr id="195" name="Shape 193"/>
          <p:cNvSpPr/>
          <p:nvPr/>
        </p:nvSpPr>
        <p:spPr>
          <a:xfrm flipV="1">
            <a:off x="3645408" y="2824602"/>
            <a:ext cx="18478" cy="52281"/>
          </a:xfrm>
          <a:prstGeom prst="line">
            <a:avLst/>
          </a:prstGeom>
          <a:noFill/>
          <a:ln w="28575">
            <a:solidFill>
              <a:srgbClr val="C8414C"/>
            </a:solidFill>
            <a:prstDash val="solid"/>
          </a:ln>
        </p:spPr>
      </p:sp>
      <p:sp>
        <p:nvSpPr>
          <p:cNvPr id="196" name="Shape 194"/>
          <p:cNvSpPr/>
          <p:nvPr/>
        </p:nvSpPr>
        <p:spPr>
          <a:xfrm flipV="1">
            <a:off x="3663886" y="2758934"/>
            <a:ext cx="18479" cy="65668"/>
          </a:xfrm>
          <a:prstGeom prst="line">
            <a:avLst/>
          </a:prstGeom>
          <a:noFill/>
          <a:ln w="28575">
            <a:solidFill>
              <a:srgbClr val="C8414C"/>
            </a:solidFill>
            <a:prstDash val="solid"/>
          </a:ln>
        </p:spPr>
      </p:sp>
      <p:sp>
        <p:nvSpPr>
          <p:cNvPr id="197" name="Shape 195"/>
          <p:cNvSpPr/>
          <p:nvPr/>
        </p:nvSpPr>
        <p:spPr>
          <a:xfrm flipV="1">
            <a:off x="3682365" y="2680977"/>
            <a:ext cx="18479" cy="77957"/>
          </a:xfrm>
          <a:prstGeom prst="line">
            <a:avLst/>
          </a:prstGeom>
          <a:noFill/>
          <a:ln w="28575">
            <a:solidFill>
              <a:srgbClr val="C8414C"/>
            </a:solidFill>
            <a:prstDash val="solid"/>
          </a:ln>
        </p:spPr>
      </p:sp>
      <p:sp>
        <p:nvSpPr>
          <p:cNvPr id="198" name="Shape 196"/>
          <p:cNvSpPr/>
          <p:nvPr/>
        </p:nvSpPr>
        <p:spPr>
          <a:xfrm flipV="1">
            <a:off x="3700843" y="2593932"/>
            <a:ext cx="18478" cy="87044"/>
          </a:xfrm>
          <a:prstGeom prst="line">
            <a:avLst/>
          </a:prstGeom>
          <a:noFill/>
          <a:ln w="28575">
            <a:solidFill>
              <a:srgbClr val="C8414C"/>
            </a:solidFill>
            <a:prstDash val="solid"/>
          </a:ln>
        </p:spPr>
      </p:sp>
      <p:sp>
        <p:nvSpPr>
          <p:cNvPr id="199" name="Shape 197"/>
          <p:cNvSpPr/>
          <p:nvPr/>
        </p:nvSpPr>
        <p:spPr>
          <a:xfrm flipV="1">
            <a:off x="3719322" y="2503208"/>
            <a:ext cx="18479" cy="90724"/>
          </a:xfrm>
          <a:prstGeom prst="line">
            <a:avLst/>
          </a:prstGeom>
          <a:noFill/>
          <a:ln w="28575">
            <a:solidFill>
              <a:srgbClr val="C8414C"/>
            </a:solidFill>
            <a:prstDash val="solid"/>
          </a:ln>
        </p:spPr>
      </p:sp>
      <p:sp>
        <p:nvSpPr>
          <p:cNvPr id="200" name="Shape 198"/>
          <p:cNvSpPr/>
          <p:nvPr/>
        </p:nvSpPr>
        <p:spPr>
          <a:xfrm flipV="1">
            <a:off x="3737801" y="2416050"/>
            <a:ext cx="18478" cy="87158"/>
          </a:xfrm>
          <a:prstGeom prst="line">
            <a:avLst/>
          </a:prstGeom>
          <a:noFill/>
          <a:ln w="28575">
            <a:solidFill>
              <a:srgbClr val="C8414C"/>
            </a:solidFill>
            <a:prstDash val="solid"/>
          </a:ln>
        </p:spPr>
      </p:sp>
      <p:sp>
        <p:nvSpPr>
          <p:cNvPr id="201" name="Shape 199"/>
          <p:cNvSpPr/>
          <p:nvPr/>
        </p:nvSpPr>
        <p:spPr>
          <a:xfrm flipV="1">
            <a:off x="3756279" y="2340679"/>
            <a:ext cx="18479" cy="75371"/>
          </a:xfrm>
          <a:prstGeom prst="line">
            <a:avLst/>
          </a:prstGeom>
          <a:noFill/>
          <a:ln w="28575">
            <a:solidFill>
              <a:srgbClr val="C8414C"/>
            </a:solidFill>
            <a:prstDash val="solid"/>
          </a:ln>
        </p:spPr>
      </p:sp>
      <p:sp>
        <p:nvSpPr>
          <p:cNvPr id="202" name="Shape 200"/>
          <p:cNvSpPr/>
          <p:nvPr/>
        </p:nvSpPr>
        <p:spPr>
          <a:xfrm flipV="1">
            <a:off x="3774758" y="2285054"/>
            <a:ext cx="18479" cy="55626"/>
          </a:xfrm>
          <a:prstGeom prst="line">
            <a:avLst/>
          </a:prstGeom>
          <a:noFill/>
          <a:ln w="28575">
            <a:solidFill>
              <a:srgbClr val="C8414C"/>
            </a:solidFill>
            <a:prstDash val="solid"/>
          </a:ln>
        </p:spPr>
      </p:sp>
      <p:sp>
        <p:nvSpPr>
          <p:cNvPr id="203" name="Shape 201"/>
          <p:cNvSpPr/>
          <p:nvPr/>
        </p:nvSpPr>
        <p:spPr>
          <a:xfrm flipV="1">
            <a:off x="3793236" y="2255491"/>
            <a:ext cx="18478" cy="29563"/>
          </a:xfrm>
          <a:prstGeom prst="line">
            <a:avLst/>
          </a:prstGeom>
          <a:noFill/>
          <a:ln w="28575">
            <a:solidFill>
              <a:srgbClr val="C8414C"/>
            </a:solidFill>
            <a:prstDash val="solid"/>
          </a:ln>
        </p:spPr>
      </p:sp>
      <p:sp>
        <p:nvSpPr>
          <p:cNvPr id="204" name="Shape 202"/>
          <p:cNvSpPr/>
          <p:nvPr/>
        </p:nvSpPr>
        <p:spPr>
          <a:xfrm>
            <a:off x="3811714" y="2255491"/>
            <a:ext cx="18479" cy="91"/>
          </a:xfrm>
          <a:prstGeom prst="line">
            <a:avLst/>
          </a:prstGeom>
          <a:noFill/>
          <a:ln w="28575">
            <a:solidFill>
              <a:srgbClr val="C8414C"/>
            </a:solidFill>
            <a:prstDash val="solid"/>
          </a:ln>
        </p:spPr>
      </p:sp>
      <p:sp>
        <p:nvSpPr>
          <p:cNvPr id="205" name="Shape 203"/>
          <p:cNvSpPr/>
          <p:nvPr/>
        </p:nvSpPr>
        <p:spPr>
          <a:xfrm>
            <a:off x="3830193" y="2255491"/>
            <a:ext cx="18478" cy="29563"/>
          </a:xfrm>
          <a:prstGeom prst="line">
            <a:avLst/>
          </a:prstGeom>
          <a:noFill/>
          <a:ln w="28575">
            <a:solidFill>
              <a:srgbClr val="C8414C"/>
            </a:solidFill>
            <a:prstDash val="solid"/>
          </a:ln>
        </p:spPr>
      </p:sp>
      <p:sp>
        <p:nvSpPr>
          <p:cNvPr id="206" name="Shape 204"/>
          <p:cNvSpPr/>
          <p:nvPr/>
        </p:nvSpPr>
        <p:spPr>
          <a:xfrm>
            <a:off x="3848672" y="2285054"/>
            <a:ext cx="18478" cy="55626"/>
          </a:xfrm>
          <a:prstGeom prst="line">
            <a:avLst/>
          </a:prstGeom>
          <a:noFill/>
          <a:ln w="28575">
            <a:solidFill>
              <a:srgbClr val="C8414C"/>
            </a:solidFill>
            <a:prstDash val="solid"/>
          </a:ln>
        </p:spPr>
      </p:sp>
      <p:sp>
        <p:nvSpPr>
          <p:cNvPr id="207" name="Shape 205"/>
          <p:cNvSpPr/>
          <p:nvPr/>
        </p:nvSpPr>
        <p:spPr>
          <a:xfrm>
            <a:off x="3867150" y="2340679"/>
            <a:ext cx="18479" cy="75371"/>
          </a:xfrm>
          <a:prstGeom prst="line">
            <a:avLst/>
          </a:prstGeom>
          <a:noFill/>
          <a:ln w="28575">
            <a:solidFill>
              <a:srgbClr val="C8414C"/>
            </a:solidFill>
            <a:prstDash val="solid"/>
          </a:ln>
        </p:spPr>
      </p:sp>
      <p:sp>
        <p:nvSpPr>
          <p:cNvPr id="208" name="Shape 206"/>
          <p:cNvSpPr/>
          <p:nvPr/>
        </p:nvSpPr>
        <p:spPr>
          <a:xfrm>
            <a:off x="3885628" y="2416050"/>
            <a:ext cx="18479" cy="87158"/>
          </a:xfrm>
          <a:prstGeom prst="line">
            <a:avLst/>
          </a:prstGeom>
          <a:noFill/>
          <a:ln w="28575">
            <a:solidFill>
              <a:srgbClr val="C8414C"/>
            </a:solidFill>
            <a:prstDash val="solid"/>
          </a:ln>
        </p:spPr>
      </p:sp>
      <p:sp>
        <p:nvSpPr>
          <p:cNvPr id="209" name="Shape 207"/>
          <p:cNvSpPr/>
          <p:nvPr/>
        </p:nvSpPr>
        <p:spPr>
          <a:xfrm>
            <a:off x="3904107" y="2503208"/>
            <a:ext cx="18478" cy="90724"/>
          </a:xfrm>
          <a:prstGeom prst="line">
            <a:avLst/>
          </a:prstGeom>
          <a:noFill/>
          <a:ln w="28575">
            <a:solidFill>
              <a:srgbClr val="C8414C"/>
            </a:solidFill>
            <a:prstDash val="solid"/>
          </a:ln>
        </p:spPr>
      </p:sp>
      <p:sp>
        <p:nvSpPr>
          <p:cNvPr id="210" name="Shape 208"/>
          <p:cNvSpPr/>
          <p:nvPr/>
        </p:nvSpPr>
        <p:spPr>
          <a:xfrm>
            <a:off x="3922585" y="2593932"/>
            <a:ext cx="18479" cy="87044"/>
          </a:xfrm>
          <a:prstGeom prst="line">
            <a:avLst/>
          </a:prstGeom>
          <a:noFill/>
          <a:ln w="28575">
            <a:solidFill>
              <a:srgbClr val="C8414C"/>
            </a:solidFill>
            <a:prstDash val="solid"/>
          </a:ln>
        </p:spPr>
      </p:sp>
      <p:sp>
        <p:nvSpPr>
          <p:cNvPr id="211" name="Shape 209"/>
          <p:cNvSpPr/>
          <p:nvPr/>
        </p:nvSpPr>
        <p:spPr>
          <a:xfrm>
            <a:off x="3941064" y="2680977"/>
            <a:ext cx="18479" cy="77957"/>
          </a:xfrm>
          <a:prstGeom prst="line">
            <a:avLst/>
          </a:prstGeom>
          <a:noFill/>
          <a:ln w="28575">
            <a:solidFill>
              <a:srgbClr val="C8414C"/>
            </a:solidFill>
            <a:prstDash val="solid"/>
          </a:ln>
        </p:spPr>
      </p:sp>
      <p:sp>
        <p:nvSpPr>
          <p:cNvPr id="212" name="Shape 210"/>
          <p:cNvSpPr/>
          <p:nvPr/>
        </p:nvSpPr>
        <p:spPr>
          <a:xfrm>
            <a:off x="3959543" y="2758934"/>
            <a:ext cx="18478" cy="65668"/>
          </a:xfrm>
          <a:prstGeom prst="line">
            <a:avLst/>
          </a:prstGeom>
          <a:noFill/>
          <a:ln w="28575">
            <a:solidFill>
              <a:srgbClr val="C8414C"/>
            </a:solidFill>
            <a:prstDash val="solid"/>
          </a:ln>
        </p:spPr>
      </p:sp>
      <p:sp>
        <p:nvSpPr>
          <p:cNvPr id="213" name="Shape 211"/>
          <p:cNvSpPr/>
          <p:nvPr/>
        </p:nvSpPr>
        <p:spPr>
          <a:xfrm>
            <a:off x="3978021" y="2824602"/>
            <a:ext cx="18479" cy="52281"/>
          </a:xfrm>
          <a:prstGeom prst="line">
            <a:avLst/>
          </a:prstGeom>
          <a:noFill/>
          <a:ln w="28575">
            <a:solidFill>
              <a:srgbClr val="C8414C"/>
            </a:solidFill>
            <a:prstDash val="solid"/>
          </a:ln>
        </p:spPr>
      </p:sp>
      <p:sp>
        <p:nvSpPr>
          <p:cNvPr id="214" name="Shape 212"/>
          <p:cNvSpPr/>
          <p:nvPr/>
        </p:nvSpPr>
        <p:spPr>
          <a:xfrm>
            <a:off x="3996499" y="2876883"/>
            <a:ext cx="18479" cy="39471"/>
          </a:xfrm>
          <a:prstGeom prst="line">
            <a:avLst/>
          </a:prstGeom>
          <a:noFill/>
          <a:ln w="28575">
            <a:solidFill>
              <a:srgbClr val="C8414C"/>
            </a:solidFill>
            <a:prstDash val="solid"/>
          </a:ln>
        </p:spPr>
      </p:sp>
      <p:sp>
        <p:nvSpPr>
          <p:cNvPr id="215" name="Shape 213"/>
          <p:cNvSpPr/>
          <p:nvPr/>
        </p:nvSpPr>
        <p:spPr>
          <a:xfrm>
            <a:off x="4014978" y="2916354"/>
            <a:ext cx="18478" cy="28325"/>
          </a:xfrm>
          <a:prstGeom prst="line">
            <a:avLst/>
          </a:prstGeom>
          <a:noFill/>
          <a:ln w="28575">
            <a:solidFill>
              <a:srgbClr val="C8414C"/>
            </a:solidFill>
            <a:prstDash val="solid"/>
          </a:ln>
        </p:spPr>
      </p:sp>
      <p:sp>
        <p:nvSpPr>
          <p:cNvPr id="216" name="Shape 214"/>
          <p:cNvSpPr/>
          <p:nvPr/>
        </p:nvSpPr>
        <p:spPr>
          <a:xfrm>
            <a:off x="4033456" y="2944679"/>
            <a:ext cx="18479" cy="19355"/>
          </a:xfrm>
          <a:prstGeom prst="line">
            <a:avLst/>
          </a:prstGeom>
          <a:noFill/>
          <a:ln w="28575">
            <a:solidFill>
              <a:srgbClr val="C8414C"/>
            </a:solidFill>
            <a:prstDash val="solid"/>
          </a:ln>
        </p:spPr>
      </p:sp>
      <p:sp>
        <p:nvSpPr>
          <p:cNvPr id="217" name="Shape 215"/>
          <p:cNvSpPr/>
          <p:nvPr/>
        </p:nvSpPr>
        <p:spPr>
          <a:xfrm>
            <a:off x="4051935" y="2964034"/>
            <a:ext cx="18478" cy="12610"/>
          </a:xfrm>
          <a:prstGeom prst="line">
            <a:avLst/>
          </a:prstGeom>
          <a:noFill/>
          <a:ln w="28575">
            <a:solidFill>
              <a:srgbClr val="C8414C"/>
            </a:solidFill>
            <a:prstDash val="solid"/>
          </a:ln>
        </p:spPr>
      </p:sp>
      <p:sp>
        <p:nvSpPr>
          <p:cNvPr id="218" name="Shape 216"/>
          <p:cNvSpPr/>
          <p:nvPr/>
        </p:nvSpPr>
        <p:spPr>
          <a:xfrm>
            <a:off x="4070413" y="2976644"/>
            <a:ext cx="18478" cy="7842"/>
          </a:xfrm>
          <a:prstGeom prst="line">
            <a:avLst/>
          </a:prstGeom>
          <a:noFill/>
          <a:ln w="28575">
            <a:solidFill>
              <a:srgbClr val="C8414C"/>
            </a:solidFill>
            <a:prstDash val="solid"/>
          </a:ln>
        </p:spPr>
      </p:sp>
      <p:sp>
        <p:nvSpPr>
          <p:cNvPr id="219" name="Shape 217"/>
          <p:cNvSpPr/>
          <p:nvPr/>
        </p:nvSpPr>
        <p:spPr>
          <a:xfrm>
            <a:off x="4088892" y="2984486"/>
            <a:ext cx="18479" cy="4658"/>
          </a:xfrm>
          <a:prstGeom prst="line">
            <a:avLst/>
          </a:prstGeom>
          <a:noFill/>
          <a:ln w="28575">
            <a:solidFill>
              <a:srgbClr val="C8414C"/>
            </a:solidFill>
            <a:prstDash val="solid"/>
          </a:ln>
        </p:spPr>
      </p:sp>
      <p:sp>
        <p:nvSpPr>
          <p:cNvPr id="220" name="Shape 218"/>
          <p:cNvSpPr/>
          <p:nvPr/>
        </p:nvSpPr>
        <p:spPr>
          <a:xfrm>
            <a:off x="4107371" y="2989144"/>
            <a:ext cx="18478" cy="2645"/>
          </a:xfrm>
          <a:prstGeom prst="line">
            <a:avLst/>
          </a:prstGeom>
          <a:noFill/>
          <a:ln w="28575">
            <a:solidFill>
              <a:srgbClr val="C8414C"/>
            </a:solidFill>
            <a:prstDash val="solid"/>
          </a:ln>
        </p:spPr>
      </p:sp>
      <p:sp>
        <p:nvSpPr>
          <p:cNvPr id="221" name="Shape 219"/>
          <p:cNvSpPr/>
          <p:nvPr/>
        </p:nvSpPr>
        <p:spPr>
          <a:xfrm>
            <a:off x="4125849" y="2991789"/>
            <a:ext cx="18479" cy="1436"/>
          </a:xfrm>
          <a:prstGeom prst="line">
            <a:avLst/>
          </a:prstGeom>
          <a:noFill/>
          <a:ln w="28575">
            <a:solidFill>
              <a:srgbClr val="C8414C"/>
            </a:solidFill>
            <a:prstDash val="solid"/>
          </a:ln>
        </p:spPr>
      </p:sp>
      <p:sp>
        <p:nvSpPr>
          <p:cNvPr id="222" name="Shape 220"/>
          <p:cNvSpPr/>
          <p:nvPr/>
        </p:nvSpPr>
        <p:spPr>
          <a:xfrm>
            <a:off x="4144328" y="2993226"/>
            <a:ext cx="18479" cy="746"/>
          </a:xfrm>
          <a:prstGeom prst="line">
            <a:avLst/>
          </a:prstGeom>
          <a:noFill/>
          <a:ln w="28575">
            <a:solidFill>
              <a:srgbClr val="C8414C"/>
            </a:solidFill>
            <a:prstDash val="solid"/>
          </a:ln>
        </p:spPr>
      </p:sp>
      <p:sp>
        <p:nvSpPr>
          <p:cNvPr id="223" name="Shape 221"/>
          <p:cNvSpPr/>
          <p:nvPr/>
        </p:nvSpPr>
        <p:spPr>
          <a:xfrm>
            <a:off x="4162806" y="2993972"/>
            <a:ext cx="18478" cy="371"/>
          </a:xfrm>
          <a:prstGeom prst="line">
            <a:avLst/>
          </a:prstGeom>
          <a:noFill/>
          <a:ln w="28575">
            <a:solidFill>
              <a:srgbClr val="C8414C"/>
            </a:solidFill>
            <a:prstDash val="solid"/>
          </a:ln>
        </p:spPr>
      </p:sp>
      <p:sp>
        <p:nvSpPr>
          <p:cNvPr id="224" name="Shape 222"/>
          <p:cNvSpPr/>
          <p:nvPr/>
        </p:nvSpPr>
        <p:spPr>
          <a:xfrm>
            <a:off x="4181284" y="2994343"/>
            <a:ext cx="18478" cy="177"/>
          </a:xfrm>
          <a:prstGeom prst="line">
            <a:avLst/>
          </a:prstGeom>
          <a:noFill/>
          <a:ln w="28575">
            <a:solidFill>
              <a:srgbClr val="C8414C"/>
            </a:solidFill>
            <a:prstDash val="solid"/>
          </a:ln>
        </p:spPr>
      </p:sp>
      <p:sp>
        <p:nvSpPr>
          <p:cNvPr id="225" name="Shape 223"/>
          <p:cNvSpPr/>
          <p:nvPr/>
        </p:nvSpPr>
        <p:spPr>
          <a:xfrm>
            <a:off x="4199763" y="2994520"/>
            <a:ext cx="18479" cy="81"/>
          </a:xfrm>
          <a:prstGeom prst="line">
            <a:avLst/>
          </a:prstGeom>
          <a:noFill/>
          <a:ln w="28575">
            <a:solidFill>
              <a:srgbClr val="C8414C"/>
            </a:solidFill>
            <a:prstDash val="solid"/>
          </a:ln>
        </p:spPr>
      </p:sp>
      <p:sp>
        <p:nvSpPr>
          <p:cNvPr id="226" name="Shape 224"/>
          <p:cNvSpPr/>
          <p:nvPr/>
        </p:nvSpPr>
        <p:spPr>
          <a:xfrm>
            <a:off x="4218242" y="2994601"/>
            <a:ext cx="18478" cy="35"/>
          </a:xfrm>
          <a:prstGeom prst="line">
            <a:avLst/>
          </a:prstGeom>
          <a:noFill/>
          <a:ln w="28575">
            <a:solidFill>
              <a:srgbClr val="C8414C"/>
            </a:solidFill>
            <a:prstDash val="solid"/>
          </a:ln>
        </p:spPr>
      </p:sp>
      <p:sp>
        <p:nvSpPr>
          <p:cNvPr id="227" name="Shape 225"/>
          <p:cNvSpPr/>
          <p:nvPr/>
        </p:nvSpPr>
        <p:spPr>
          <a:xfrm>
            <a:off x="4236720" y="2994636"/>
            <a:ext cx="18479" cy="15"/>
          </a:xfrm>
          <a:prstGeom prst="line">
            <a:avLst/>
          </a:prstGeom>
          <a:noFill/>
          <a:ln w="28575">
            <a:solidFill>
              <a:srgbClr val="C8414C"/>
            </a:solidFill>
            <a:prstDash val="solid"/>
          </a:ln>
        </p:spPr>
      </p:sp>
      <p:sp>
        <p:nvSpPr>
          <p:cNvPr id="228" name="Shape 226"/>
          <p:cNvSpPr/>
          <p:nvPr/>
        </p:nvSpPr>
        <p:spPr>
          <a:xfrm>
            <a:off x="4255199" y="2994651"/>
            <a:ext cx="18478" cy="6"/>
          </a:xfrm>
          <a:prstGeom prst="line">
            <a:avLst/>
          </a:prstGeom>
          <a:noFill/>
          <a:ln w="28575">
            <a:solidFill>
              <a:srgbClr val="C8414C"/>
            </a:solidFill>
            <a:prstDash val="solid"/>
          </a:ln>
        </p:spPr>
      </p:sp>
      <p:sp>
        <p:nvSpPr>
          <p:cNvPr id="229" name="Shape 227"/>
          <p:cNvSpPr/>
          <p:nvPr/>
        </p:nvSpPr>
        <p:spPr>
          <a:xfrm>
            <a:off x="4273677" y="2994656"/>
            <a:ext cx="18479" cy="2"/>
          </a:xfrm>
          <a:prstGeom prst="line">
            <a:avLst/>
          </a:prstGeom>
          <a:noFill/>
          <a:ln w="28575">
            <a:solidFill>
              <a:srgbClr val="C8414C"/>
            </a:solidFill>
            <a:prstDash val="solid"/>
          </a:ln>
        </p:spPr>
      </p:sp>
      <p:sp>
        <p:nvSpPr>
          <p:cNvPr id="230" name="Shape 228"/>
          <p:cNvSpPr/>
          <p:nvPr/>
        </p:nvSpPr>
        <p:spPr>
          <a:xfrm>
            <a:off x="4292155" y="2994659"/>
            <a:ext cx="18478" cy="1"/>
          </a:xfrm>
          <a:prstGeom prst="line">
            <a:avLst/>
          </a:prstGeom>
          <a:noFill/>
          <a:ln w="28575">
            <a:solidFill>
              <a:srgbClr val="C8414C"/>
            </a:solidFill>
            <a:prstDash val="solid"/>
          </a:ln>
        </p:spPr>
      </p:sp>
      <p:sp>
        <p:nvSpPr>
          <p:cNvPr id="231" name="Shape 229"/>
          <p:cNvSpPr/>
          <p:nvPr/>
        </p:nvSpPr>
        <p:spPr>
          <a:xfrm>
            <a:off x="4310634" y="2994660"/>
            <a:ext cx="18479" cy="0"/>
          </a:xfrm>
          <a:prstGeom prst="line">
            <a:avLst/>
          </a:prstGeom>
          <a:noFill/>
          <a:ln w="28575">
            <a:solidFill>
              <a:srgbClr val="C8414C"/>
            </a:solidFill>
            <a:prstDash val="solid"/>
          </a:ln>
        </p:spPr>
      </p:sp>
      <p:sp>
        <p:nvSpPr>
          <p:cNvPr id="232" name="Shape 230"/>
          <p:cNvSpPr/>
          <p:nvPr/>
        </p:nvSpPr>
        <p:spPr>
          <a:xfrm>
            <a:off x="4329113" y="2994660"/>
            <a:ext cx="18479" cy="0"/>
          </a:xfrm>
          <a:prstGeom prst="line">
            <a:avLst/>
          </a:prstGeom>
          <a:noFill/>
          <a:ln w="28575">
            <a:solidFill>
              <a:srgbClr val="C8414C"/>
            </a:solidFill>
            <a:prstDash val="solid"/>
          </a:ln>
        </p:spPr>
      </p:sp>
      <p:sp>
        <p:nvSpPr>
          <p:cNvPr id="233" name="Shape 231"/>
          <p:cNvSpPr/>
          <p:nvPr/>
        </p:nvSpPr>
        <p:spPr>
          <a:xfrm>
            <a:off x="4347591" y="2994660"/>
            <a:ext cx="18478" cy="0"/>
          </a:xfrm>
          <a:prstGeom prst="line">
            <a:avLst/>
          </a:prstGeom>
          <a:noFill/>
          <a:ln w="28575">
            <a:solidFill>
              <a:srgbClr val="C8414C"/>
            </a:solidFill>
            <a:prstDash val="solid"/>
          </a:ln>
        </p:spPr>
      </p:sp>
      <p:sp>
        <p:nvSpPr>
          <p:cNvPr id="234" name="Shape 232"/>
          <p:cNvSpPr/>
          <p:nvPr/>
        </p:nvSpPr>
        <p:spPr>
          <a:xfrm>
            <a:off x="4366070" y="2994660"/>
            <a:ext cx="18479" cy="91"/>
          </a:xfrm>
          <a:prstGeom prst="line">
            <a:avLst/>
          </a:prstGeom>
          <a:noFill/>
          <a:ln w="28575">
            <a:solidFill>
              <a:srgbClr val="C8414C"/>
            </a:solidFill>
            <a:prstDash val="solid"/>
          </a:ln>
        </p:spPr>
      </p:sp>
      <p:sp>
        <p:nvSpPr>
          <p:cNvPr id="235" name="Shape 233"/>
          <p:cNvSpPr/>
          <p:nvPr/>
        </p:nvSpPr>
        <p:spPr>
          <a:xfrm flipV="1">
            <a:off x="4384548" y="2994660"/>
            <a:ext cx="18478" cy="0"/>
          </a:xfrm>
          <a:prstGeom prst="line">
            <a:avLst/>
          </a:prstGeom>
          <a:noFill/>
          <a:ln w="28575">
            <a:solidFill>
              <a:srgbClr val="C8414C"/>
            </a:solidFill>
            <a:prstDash val="solid"/>
          </a:ln>
        </p:spPr>
      </p:sp>
      <p:sp>
        <p:nvSpPr>
          <p:cNvPr id="236" name="Shape 234"/>
          <p:cNvSpPr/>
          <p:nvPr/>
        </p:nvSpPr>
        <p:spPr>
          <a:xfrm flipV="1">
            <a:off x="4403026" y="2994660"/>
            <a:ext cx="18479" cy="0"/>
          </a:xfrm>
          <a:prstGeom prst="line">
            <a:avLst/>
          </a:prstGeom>
          <a:noFill/>
          <a:ln w="28575">
            <a:solidFill>
              <a:srgbClr val="C8414C"/>
            </a:solidFill>
            <a:prstDash val="solid"/>
          </a:ln>
        </p:spPr>
      </p:sp>
      <p:sp>
        <p:nvSpPr>
          <p:cNvPr id="237" name="Shape 235"/>
          <p:cNvSpPr/>
          <p:nvPr/>
        </p:nvSpPr>
        <p:spPr>
          <a:xfrm flipV="1">
            <a:off x="4421505" y="2994660"/>
            <a:ext cx="18478" cy="0"/>
          </a:xfrm>
          <a:prstGeom prst="line">
            <a:avLst/>
          </a:prstGeom>
          <a:noFill/>
          <a:ln w="28575">
            <a:solidFill>
              <a:srgbClr val="C8414C"/>
            </a:solidFill>
            <a:prstDash val="solid"/>
          </a:ln>
        </p:spPr>
      </p:sp>
      <p:sp>
        <p:nvSpPr>
          <p:cNvPr id="238" name="Shape 236"/>
          <p:cNvSpPr/>
          <p:nvPr/>
        </p:nvSpPr>
        <p:spPr>
          <a:xfrm flipV="1">
            <a:off x="4439984" y="2994659"/>
            <a:ext cx="18478" cy="1"/>
          </a:xfrm>
          <a:prstGeom prst="line">
            <a:avLst/>
          </a:prstGeom>
          <a:noFill/>
          <a:ln w="28575">
            <a:solidFill>
              <a:srgbClr val="C8414C"/>
            </a:solidFill>
            <a:prstDash val="solid"/>
          </a:ln>
        </p:spPr>
      </p:sp>
      <p:sp>
        <p:nvSpPr>
          <p:cNvPr id="239" name="Shape 237"/>
          <p:cNvSpPr/>
          <p:nvPr/>
        </p:nvSpPr>
        <p:spPr>
          <a:xfrm flipV="1">
            <a:off x="4458462" y="2994656"/>
            <a:ext cx="18479" cy="2"/>
          </a:xfrm>
          <a:prstGeom prst="line">
            <a:avLst/>
          </a:prstGeom>
          <a:noFill/>
          <a:ln w="28575">
            <a:solidFill>
              <a:srgbClr val="C8414C"/>
            </a:solidFill>
            <a:prstDash val="solid"/>
          </a:ln>
        </p:spPr>
      </p:sp>
      <p:sp>
        <p:nvSpPr>
          <p:cNvPr id="240" name="Shape 238"/>
          <p:cNvSpPr/>
          <p:nvPr/>
        </p:nvSpPr>
        <p:spPr>
          <a:xfrm flipV="1">
            <a:off x="4476941" y="2994651"/>
            <a:ext cx="18479" cy="6"/>
          </a:xfrm>
          <a:prstGeom prst="line">
            <a:avLst/>
          </a:prstGeom>
          <a:noFill/>
          <a:ln w="28575">
            <a:solidFill>
              <a:srgbClr val="C8414C"/>
            </a:solidFill>
            <a:prstDash val="solid"/>
          </a:ln>
        </p:spPr>
      </p:sp>
      <p:sp>
        <p:nvSpPr>
          <p:cNvPr id="241" name="Shape 239"/>
          <p:cNvSpPr/>
          <p:nvPr/>
        </p:nvSpPr>
        <p:spPr>
          <a:xfrm flipV="1">
            <a:off x="4495419" y="2994636"/>
            <a:ext cx="18478" cy="15"/>
          </a:xfrm>
          <a:prstGeom prst="line">
            <a:avLst/>
          </a:prstGeom>
          <a:noFill/>
          <a:ln w="28575">
            <a:solidFill>
              <a:srgbClr val="C8414C"/>
            </a:solidFill>
            <a:prstDash val="solid"/>
          </a:ln>
        </p:spPr>
      </p:sp>
      <p:sp>
        <p:nvSpPr>
          <p:cNvPr id="242" name="Shape 240"/>
          <p:cNvSpPr/>
          <p:nvPr/>
        </p:nvSpPr>
        <p:spPr>
          <a:xfrm flipV="1">
            <a:off x="4513897" y="2994601"/>
            <a:ext cx="18479" cy="35"/>
          </a:xfrm>
          <a:prstGeom prst="line">
            <a:avLst/>
          </a:prstGeom>
          <a:noFill/>
          <a:ln w="28575">
            <a:solidFill>
              <a:srgbClr val="C8414C"/>
            </a:solidFill>
            <a:prstDash val="solid"/>
          </a:ln>
        </p:spPr>
      </p:sp>
      <p:sp>
        <p:nvSpPr>
          <p:cNvPr id="243" name="Shape 241"/>
          <p:cNvSpPr/>
          <p:nvPr/>
        </p:nvSpPr>
        <p:spPr>
          <a:xfrm flipV="1">
            <a:off x="4532376" y="2994520"/>
            <a:ext cx="18478" cy="81"/>
          </a:xfrm>
          <a:prstGeom prst="line">
            <a:avLst/>
          </a:prstGeom>
          <a:noFill/>
          <a:ln w="28575">
            <a:solidFill>
              <a:srgbClr val="C8414C"/>
            </a:solidFill>
            <a:prstDash val="solid"/>
          </a:ln>
        </p:spPr>
      </p:sp>
      <p:sp>
        <p:nvSpPr>
          <p:cNvPr id="244" name="Shape 242"/>
          <p:cNvSpPr/>
          <p:nvPr/>
        </p:nvSpPr>
        <p:spPr>
          <a:xfrm flipV="1">
            <a:off x="4550855" y="2994343"/>
            <a:ext cx="18479" cy="177"/>
          </a:xfrm>
          <a:prstGeom prst="line">
            <a:avLst/>
          </a:prstGeom>
          <a:noFill/>
          <a:ln w="28575">
            <a:solidFill>
              <a:srgbClr val="C8414C"/>
            </a:solidFill>
            <a:prstDash val="solid"/>
          </a:ln>
        </p:spPr>
      </p:sp>
      <p:sp>
        <p:nvSpPr>
          <p:cNvPr id="245" name="Shape 243"/>
          <p:cNvSpPr/>
          <p:nvPr/>
        </p:nvSpPr>
        <p:spPr>
          <a:xfrm flipV="1">
            <a:off x="4569333" y="2993972"/>
            <a:ext cx="18478" cy="371"/>
          </a:xfrm>
          <a:prstGeom prst="line">
            <a:avLst/>
          </a:prstGeom>
          <a:noFill/>
          <a:ln w="28575">
            <a:solidFill>
              <a:srgbClr val="C8414C"/>
            </a:solidFill>
            <a:prstDash val="solid"/>
          </a:ln>
        </p:spPr>
      </p:sp>
      <p:sp>
        <p:nvSpPr>
          <p:cNvPr id="246" name="Shape 244"/>
          <p:cNvSpPr/>
          <p:nvPr/>
        </p:nvSpPr>
        <p:spPr>
          <a:xfrm flipV="1">
            <a:off x="4587811" y="2993226"/>
            <a:ext cx="18479" cy="746"/>
          </a:xfrm>
          <a:prstGeom prst="line">
            <a:avLst/>
          </a:prstGeom>
          <a:noFill/>
          <a:ln w="28575">
            <a:solidFill>
              <a:srgbClr val="C8414C"/>
            </a:solidFill>
            <a:prstDash val="solid"/>
          </a:ln>
        </p:spPr>
      </p:sp>
      <p:sp>
        <p:nvSpPr>
          <p:cNvPr id="247" name="Shape 245"/>
          <p:cNvSpPr/>
          <p:nvPr/>
        </p:nvSpPr>
        <p:spPr>
          <a:xfrm flipV="1">
            <a:off x="4606290" y="2991789"/>
            <a:ext cx="18479" cy="1436"/>
          </a:xfrm>
          <a:prstGeom prst="line">
            <a:avLst/>
          </a:prstGeom>
          <a:noFill/>
          <a:ln w="28575">
            <a:solidFill>
              <a:srgbClr val="C8414C"/>
            </a:solidFill>
            <a:prstDash val="solid"/>
          </a:ln>
        </p:spPr>
      </p:sp>
      <p:sp>
        <p:nvSpPr>
          <p:cNvPr id="248" name="Shape 246"/>
          <p:cNvSpPr/>
          <p:nvPr/>
        </p:nvSpPr>
        <p:spPr>
          <a:xfrm flipV="1">
            <a:off x="4624769" y="2989144"/>
            <a:ext cx="18478" cy="2645"/>
          </a:xfrm>
          <a:prstGeom prst="line">
            <a:avLst/>
          </a:prstGeom>
          <a:noFill/>
          <a:ln w="28575">
            <a:solidFill>
              <a:srgbClr val="C8414C"/>
            </a:solidFill>
            <a:prstDash val="solid"/>
          </a:ln>
        </p:spPr>
      </p:sp>
      <p:sp>
        <p:nvSpPr>
          <p:cNvPr id="249" name="Shape 247"/>
          <p:cNvSpPr/>
          <p:nvPr/>
        </p:nvSpPr>
        <p:spPr>
          <a:xfrm flipV="1">
            <a:off x="4643247" y="2984486"/>
            <a:ext cx="18479" cy="4658"/>
          </a:xfrm>
          <a:prstGeom prst="line">
            <a:avLst/>
          </a:prstGeom>
          <a:noFill/>
          <a:ln w="28575">
            <a:solidFill>
              <a:srgbClr val="C8414C"/>
            </a:solidFill>
            <a:prstDash val="solid"/>
          </a:ln>
        </p:spPr>
      </p:sp>
      <p:sp>
        <p:nvSpPr>
          <p:cNvPr id="250" name="Shape 248"/>
          <p:cNvSpPr/>
          <p:nvPr/>
        </p:nvSpPr>
        <p:spPr>
          <a:xfrm flipV="1">
            <a:off x="4661726" y="2976644"/>
            <a:ext cx="18478" cy="7842"/>
          </a:xfrm>
          <a:prstGeom prst="line">
            <a:avLst/>
          </a:prstGeom>
          <a:noFill/>
          <a:ln w="28575">
            <a:solidFill>
              <a:srgbClr val="C8414C"/>
            </a:solidFill>
            <a:prstDash val="solid"/>
          </a:ln>
        </p:spPr>
      </p:sp>
      <p:sp>
        <p:nvSpPr>
          <p:cNvPr id="251" name="Shape 249"/>
          <p:cNvSpPr/>
          <p:nvPr/>
        </p:nvSpPr>
        <p:spPr>
          <a:xfrm flipV="1">
            <a:off x="4680204" y="2964034"/>
            <a:ext cx="18479" cy="12610"/>
          </a:xfrm>
          <a:prstGeom prst="line">
            <a:avLst/>
          </a:prstGeom>
          <a:noFill/>
          <a:ln w="28575">
            <a:solidFill>
              <a:srgbClr val="C8414C"/>
            </a:solidFill>
            <a:prstDash val="solid"/>
          </a:ln>
        </p:spPr>
      </p:sp>
      <p:sp>
        <p:nvSpPr>
          <p:cNvPr id="252" name="Shape 250"/>
          <p:cNvSpPr/>
          <p:nvPr/>
        </p:nvSpPr>
        <p:spPr>
          <a:xfrm flipV="1">
            <a:off x="4698683" y="2944679"/>
            <a:ext cx="18478" cy="19355"/>
          </a:xfrm>
          <a:prstGeom prst="line">
            <a:avLst/>
          </a:prstGeom>
          <a:noFill/>
          <a:ln w="28575">
            <a:solidFill>
              <a:srgbClr val="C8414C"/>
            </a:solidFill>
            <a:prstDash val="solid"/>
          </a:ln>
        </p:spPr>
      </p:sp>
      <p:sp>
        <p:nvSpPr>
          <p:cNvPr id="253" name="Shape 251"/>
          <p:cNvSpPr/>
          <p:nvPr/>
        </p:nvSpPr>
        <p:spPr>
          <a:xfrm flipV="1">
            <a:off x="4717161" y="2916354"/>
            <a:ext cx="18479" cy="28325"/>
          </a:xfrm>
          <a:prstGeom prst="line">
            <a:avLst/>
          </a:prstGeom>
          <a:noFill/>
          <a:ln w="28575">
            <a:solidFill>
              <a:srgbClr val="C8414C"/>
            </a:solidFill>
            <a:prstDash val="solid"/>
          </a:ln>
        </p:spPr>
      </p:sp>
      <p:sp>
        <p:nvSpPr>
          <p:cNvPr id="254" name="Shape 252"/>
          <p:cNvSpPr/>
          <p:nvPr/>
        </p:nvSpPr>
        <p:spPr>
          <a:xfrm flipV="1">
            <a:off x="4735640" y="2876883"/>
            <a:ext cx="18479" cy="39471"/>
          </a:xfrm>
          <a:prstGeom prst="line">
            <a:avLst/>
          </a:prstGeom>
          <a:noFill/>
          <a:ln w="28575">
            <a:solidFill>
              <a:srgbClr val="C8414C"/>
            </a:solidFill>
            <a:prstDash val="solid"/>
          </a:ln>
        </p:spPr>
      </p:sp>
      <p:sp>
        <p:nvSpPr>
          <p:cNvPr id="255" name="Shape 253"/>
          <p:cNvSpPr/>
          <p:nvPr/>
        </p:nvSpPr>
        <p:spPr>
          <a:xfrm flipV="1">
            <a:off x="4754118" y="2824602"/>
            <a:ext cx="18478" cy="52281"/>
          </a:xfrm>
          <a:prstGeom prst="line">
            <a:avLst/>
          </a:prstGeom>
          <a:noFill/>
          <a:ln w="28575">
            <a:solidFill>
              <a:srgbClr val="C8414C"/>
            </a:solidFill>
            <a:prstDash val="solid"/>
          </a:ln>
        </p:spPr>
      </p:sp>
      <p:sp>
        <p:nvSpPr>
          <p:cNvPr id="256" name="Shape 254"/>
          <p:cNvSpPr/>
          <p:nvPr/>
        </p:nvSpPr>
        <p:spPr>
          <a:xfrm flipV="1">
            <a:off x="4772596" y="2758934"/>
            <a:ext cx="18478" cy="65668"/>
          </a:xfrm>
          <a:prstGeom prst="line">
            <a:avLst/>
          </a:prstGeom>
          <a:noFill/>
          <a:ln w="28575">
            <a:solidFill>
              <a:srgbClr val="C8414C"/>
            </a:solidFill>
            <a:prstDash val="solid"/>
          </a:ln>
        </p:spPr>
      </p:sp>
      <p:sp>
        <p:nvSpPr>
          <p:cNvPr id="257" name="Shape 255"/>
          <p:cNvSpPr/>
          <p:nvPr/>
        </p:nvSpPr>
        <p:spPr>
          <a:xfrm flipV="1">
            <a:off x="4791075" y="2680977"/>
            <a:ext cx="18479" cy="77957"/>
          </a:xfrm>
          <a:prstGeom prst="line">
            <a:avLst/>
          </a:prstGeom>
          <a:noFill/>
          <a:ln w="28575">
            <a:solidFill>
              <a:srgbClr val="C8414C"/>
            </a:solidFill>
            <a:prstDash val="solid"/>
          </a:ln>
        </p:spPr>
      </p:sp>
      <p:sp>
        <p:nvSpPr>
          <p:cNvPr id="258" name="Shape 256"/>
          <p:cNvSpPr/>
          <p:nvPr/>
        </p:nvSpPr>
        <p:spPr>
          <a:xfrm flipV="1">
            <a:off x="4809554" y="2593932"/>
            <a:ext cx="18478" cy="87044"/>
          </a:xfrm>
          <a:prstGeom prst="line">
            <a:avLst/>
          </a:prstGeom>
          <a:noFill/>
          <a:ln w="28575">
            <a:solidFill>
              <a:srgbClr val="C8414C"/>
            </a:solidFill>
            <a:prstDash val="solid"/>
          </a:ln>
        </p:spPr>
      </p:sp>
      <p:sp>
        <p:nvSpPr>
          <p:cNvPr id="259" name="Shape 257"/>
          <p:cNvSpPr/>
          <p:nvPr/>
        </p:nvSpPr>
        <p:spPr>
          <a:xfrm flipV="1">
            <a:off x="4828032" y="2503208"/>
            <a:ext cx="18479" cy="90724"/>
          </a:xfrm>
          <a:prstGeom prst="line">
            <a:avLst/>
          </a:prstGeom>
          <a:noFill/>
          <a:ln w="28575">
            <a:solidFill>
              <a:srgbClr val="C8414C"/>
            </a:solidFill>
            <a:prstDash val="solid"/>
          </a:ln>
        </p:spPr>
      </p:sp>
      <p:sp>
        <p:nvSpPr>
          <p:cNvPr id="260" name="Shape 258"/>
          <p:cNvSpPr/>
          <p:nvPr/>
        </p:nvSpPr>
        <p:spPr>
          <a:xfrm flipV="1">
            <a:off x="4846511" y="2416050"/>
            <a:ext cx="18478" cy="87158"/>
          </a:xfrm>
          <a:prstGeom prst="line">
            <a:avLst/>
          </a:prstGeom>
          <a:noFill/>
          <a:ln w="28575">
            <a:solidFill>
              <a:srgbClr val="C8414C"/>
            </a:solidFill>
            <a:prstDash val="solid"/>
          </a:ln>
        </p:spPr>
      </p:sp>
      <p:sp>
        <p:nvSpPr>
          <p:cNvPr id="261" name="Shape 259"/>
          <p:cNvSpPr/>
          <p:nvPr/>
        </p:nvSpPr>
        <p:spPr>
          <a:xfrm flipV="1">
            <a:off x="4864989" y="2340679"/>
            <a:ext cx="18479" cy="75371"/>
          </a:xfrm>
          <a:prstGeom prst="line">
            <a:avLst/>
          </a:prstGeom>
          <a:noFill/>
          <a:ln w="28575">
            <a:solidFill>
              <a:srgbClr val="C8414C"/>
            </a:solidFill>
            <a:prstDash val="solid"/>
          </a:ln>
        </p:spPr>
      </p:sp>
      <p:sp>
        <p:nvSpPr>
          <p:cNvPr id="262" name="Shape 260"/>
          <p:cNvSpPr/>
          <p:nvPr/>
        </p:nvSpPr>
        <p:spPr>
          <a:xfrm flipV="1">
            <a:off x="4883467" y="2285054"/>
            <a:ext cx="18479" cy="55626"/>
          </a:xfrm>
          <a:prstGeom prst="line">
            <a:avLst/>
          </a:prstGeom>
          <a:noFill/>
          <a:ln w="28575">
            <a:solidFill>
              <a:srgbClr val="C8414C"/>
            </a:solidFill>
            <a:prstDash val="solid"/>
          </a:ln>
        </p:spPr>
      </p:sp>
      <p:sp>
        <p:nvSpPr>
          <p:cNvPr id="263" name="Shape 261"/>
          <p:cNvSpPr/>
          <p:nvPr/>
        </p:nvSpPr>
        <p:spPr>
          <a:xfrm flipV="1">
            <a:off x="4901946" y="2255491"/>
            <a:ext cx="18478" cy="29563"/>
          </a:xfrm>
          <a:prstGeom prst="line">
            <a:avLst/>
          </a:prstGeom>
          <a:noFill/>
          <a:ln w="28575">
            <a:solidFill>
              <a:srgbClr val="C8414C"/>
            </a:solidFill>
            <a:prstDash val="solid"/>
          </a:ln>
        </p:spPr>
      </p:sp>
      <p:sp>
        <p:nvSpPr>
          <p:cNvPr id="264" name="Shape 262"/>
          <p:cNvSpPr/>
          <p:nvPr/>
        </p:nvSpPr>
        <p:spPr>
          <a:xfrm>
            <a:off x="4920425" y="2255491"/>
            <a:ext cx="18478" cy="91"/>
          </a:xfrm>
          <a:prstGeom prst="line">
            <a:avLst/>
          </a:prstGeom>
          <a:noFill/>
          <a:ln w="28575">
            <a:solidFill>
              <a:srgbClr val="C8414C"/>
            </a:solidFill>
            <a:prstDash val="solid"/>
          </a:ln>
        </p:spPr>
      </p:sp>
      <p:sp>
        <p:nvSpPr>
          <p:cNvPr id="265" name="Shape 263"/>
          <p:cNvSpPr/>
          <p:nvPr/>
        </p:nvSpPr>
        <p:spPr>
          <a:xfrm>
            <a:off x="4938903" y="2255491"/>
            <a:ext cx="18478" cy="29563"/>
          </a:xfrm>
          <a:prstGeom prst="line">
            <a:avLst/>
          </a:prstGeom>
          <a:noFill/>
          <a:ln w="28575">
            <a:solidFill>
              <a:srgbClr val="C8414C"/>
            </a:solidFill>
            <a:prstDash val="solid"/>
          </a:ln>
        </p:spPr>
      </p:sp>
      <p:sp>
        <p:nvSpPr>
          <p:cNvPr id="266" name="Shape 264"/>
          <p:cNvSpPr/>
          <p:nvPr/>
        </p:nvSpPr>
        <p:spPr>
          <a:xfrm>
            <a:off x="4957381" y="2285054"/>
            <a:ext cx="18479" cy="55626"/>
          </a:xfrm>
          <a:prstGeom prst="line">
            <a:avLst/>
          </a:prstGeom>
          <a:noFill/>
          <a:ln w="28575">
            <a:solidFill>
              <a:srgbClr val="C8414C"/>
            </a:solidFill>
            <a:prstDash val="solid"/>
          </a:ln>
        </p:spPr>
      </p:sp>
      <p:sp>
        <p:nvSpPr>
          <p:cNvPr id="267" name="Shape 265"/>
          <p:cNvSpPr/>
          <p:nvPr/>
        </p:nvSpPr>
        <p:spPr>
          <a:xfrm>
            <a:off x="4975860" y="2340679"/>
            <a:ext cx="18478" cy="75371"/>
          </a:xfrm>
          <a:prstGeom prst="line">
            <a:avLst/>
          </a:prstGeom>
          <a:noFill/>
          <a:ln w="28575">
            <a:solidFill>
              <a:srgbClr val="C8414C"/>
            </a:solidFill>
            <a:prstDash val="solid"/>
          </a:ln>
        </p:spPr>
      </p:sp>
      <p:sp>
        <p:nvSpPr>
          <p:cNvPr id="268" name="Shape 266"/>
          <p:cNvSpPr/>
          <p:nvPr/>
        </p:nvSpPr>
        <p:spPr>
          <a:xfrm>
            <a:off x="4994338" y="2416050"/>
            <a:ext cx="18479" cy="87158"/>
          </a:xfrm>
          <a:prstGeom prst="line">
            <a:avLst/>
          </a:prstGeom>
          <a:noFill/>
          <a:ln w="28575">
            <a:solidFill>
              <a:srgbClr val="C8414C"/>
            </a:solidFill>
            <a:prstDash val="solid"/>
          </a:ln>
        </p:spPr>
      </p:sp>
      <p:sp>
        <p:nvSpPr>
          <p:cNvPr id="269" name="Shape 267"/>
          <p:cNvSpPr/>
          <p:nvPr/>
        </p:nvSpPr>
        <p:spPr>
          <a:xfrm>
            <a:off x="5012817" y="2503208"/>
            <a:ext cx="18478" cy="90724"/>
          </a:xfrm>
          <a:prstGeom prst="line">
            <a:avLst/>
          </a:prstGeom>
          <a:noFill/>
          <a:ln w="28575">
            <a:solidFill>
              <a:srgbClr val="C8414C"/>
            </a:solidFill>
            <a:prstDash val="solid"/>
          </a:ln>
        </p:spPr>
      </p:sp>
      <p:sp>
        <p:nvSpPr>
          <p:cNvPr id="270" name="Shape 268"/>
          <p:cNvSpPr/>
          <p:nvPr/>
        </p:nvSpPr>
        <p:spPr>
          <a:xfrm>
            <a:off x="5031296" y="2593932"/>
            <a:ext cx="18478" cy="87044"/>
          </a:xfrm>
          <a:prstGeom prst="line">
            <a:avLst/>
          </a:prstGeom>
          <a:noFill/>
          <a:ln w="28575">
            <a:solidFill>
              <a:srgbClr val="C8414C"/>
            </a:solidFill>
            <a:prstDash val="solid"/>
          </a:ln>
        </p:spPr>
      </p:sp>
      <p:sp>
        <p:nvSpPr>
          <p:cNvPr id="271" name="Shape 269"/>
          <p:cNvSpPr/>
          <p:nvPr/>
        </p:nvSpPr>
        <p:spPr>
          <a:xfrm>
            <a:off x="5049774" y="2680977"/>
            <a:ext cx="18479" cy="77957"/>
          </a:xfrm>
          <a:prstGeom prst="line">
            <a:avLst/>
          </a:prstGeom>
          <a:noFill/>
          <a:ln w="28575">
            <a:solidFill>
              <a:srgbClr val="C8414C"/>
            </a:solidFill>
            <a:prstDash val="solid"/>
          </a:ln>
        </p:spPr>
      </p:sp>
      <p:sp>
        <p:nvSpPr>
          <p:cNvPr id="272" name="Shape 270"/>
          <p:cNvSpPr/>
          <p:nvPr/>
        </p:nvSpPr>
        <p:spPr>
          <a:xfrm>
            <a:off x="5068253" y="2758934"/>
            <a:ext cx="18478" cy="65668"/>
          </a:xfrm>
          <a:prstGeom prst="line">
            <a:avLst/>
          </a:prstGeom>
          <a:noFill/>
          <a:ln w="28575">
            <a:solidFill>
              <a:srgbClr val="C8414C"/>
            </a:solidFill>
            <a:prstDash val="solid"/>
          </a:ln>
        </p:spPr>
      </p:sp>
      <p:sp>
        <p:nvSpPr>
          <p:cNvPr id="273" name="Shape 271"/>
          <p:cNvSpPr/>
          <p:nvPr/>
        </p:nvSpPr>
        <p:spPr>
          <a:xfrm>
            <a:off x="5086731" y="2824602"/>
            <a:ext cx="18478" cy="52281"/>
          </a:xfrm>
          <a:prstGeom prst="line">
            <a:avLst/>
          </a:prstGeom>
          <a:noFill/>
          <a:ln w="28575">
            <a:solidFill>
              <a:srgbClr val="C8414C"/>
            </a:solidFill>
            <a:prstDash val="solid"/>
          </a:ln>
        </p:spPr>
      </p:sp>
      <p:sp>
        <p:nvSpPr>
          <p:cNvPr id="274" name="Shape 272"/>
          <p:cNvSpPr/>
          <p:nvPr/>
        </p:nvSpPr>
        <p:spPr>
          <a:xfrm>
            <a:off x="5105209" y="2876883"/>
            <a:ext cx="18479" cy="39471"/>
          </a:xfrm>
          <a:prstGeom prst="line">
            <a:avLst/>
          </a:prstGeom>
          <a:noFill/>
          <a:ln w="28575">
            <a:solidFill>
              <a:srgbClr val="C8414C"/>
            </a:solidFill>
            <a:prstDash val="solid"/>
          </a:ln>
        </p:spPr>
      </p:sp>
      <p:sp>
        <p:nvSpPr>
          <p:cNvPr id="275" name="Shape 273"/>
          <p:cNvSpPr/>
          <p:nvPr/>
        </p:nvSpPr>
        <p:spPr>
          <a:xfrm>
            <a:off x="5123688" y="2916354"/>
            <a:ext cx="18478" cy="28325"/>
          </a:xfrm>
          <a:prstGeom prst="line">
            <a:avLst/>
          </a:prstGeom>
          <a:noFill/>
          <a:ln w="28575">
            <a:solidFill>
              <a:srgbClr val="C8414C"/>
            </a:solidFill>
            <a:prstDash val="solid"/>
          </a:ln>
        </p:spPr>
      </p:sp>
      <p:sp>
        <p:nvSpPr>
          <p:cNvPr id="276" name="Shape 274"/>
          <p:cNvSpPr/>
          <p:nvPr/>
        </p:nvSpPr>
        <p:spPr>
          <a:xfrm>
            <a:off x="5142167" y="2944679"/>
            <a:ext cx="18478" cy="19355"/>
          </a:xfrm>
          <a:prstGeom prst="line">
            <a:avLst/>
          </a:prstGeom>
          <a:noFill/>
          <a:ln w="28575">
            <a:solidFill>
              <a:srgbClr val="C8414C"/>
            </a:solidFill>
            <a:prstDash val="solid"/>
          </a:ln>
        </p:spPr>
      </p:sp>
      <p:sp>
        <p:nvSpPr>
          <p:cNvPr id="277" name="Shape 275"/>
          <p:cNvSpPr/>
          <p:nvPr/>
        </p:nvSpPr>
        <p:spPr>
          <a:xfrm>
            <a:off x="5160645" y="2964034"/>
            <a:ext cx="18479" cy="12610"/>
          </a:xfrm>
          <a:prstGeom prst="line">
            <a:avLst/>
          </a:prstGeom>
          <a:noFill/>
          <a:ln w="28575">
            <a:solidFill>
              <a:srgbClr val="C8414C"/>
            </a:solidFill>
            <a:prstDash val="solid"/>
          </a:ln>
        </p:spPr>
      </p:sp>
      <p:sp>
        <p:nvSpPr>
          <p:cNvPr id="278" name="Shape 276"/>
          <p:cNvSpPr/>
          <p:nvPr/>
        </p:nvSpPr>
        <p:spPr>
          <a:xfrm>
            <a:off x="5179124" y="2976644"/>
            <a:ext cx="18478" cy="7842"/>
          </a:xfrm>
          <a:prstGeom prst="line">
            <a:avLst/>
          </a:prstGeom>
          <a:noFill/>
          <a:ln w="28575">
            <a:solidFill>
              <a:srgbClr val="C8414C"/>
            </a:solidFill>
            <a:prstDash val="solid"/>
          </a:ln>
        </p:spPr>
      </p:sp>
      <p:sp>
        <p:nvSpPr>
          <p:cNvPr id="279" name="Shape 277"/>
          <p:cNvSpPr/>
          <p:nvPr/>
        </p:nvSpPr>
        <p:spPr>
          <a:xfrm>
            <a:off x="5197602" y="2984486"/>
            <a:ext cx="18479" cy="4658"/>
          </a:xfrm>
          <a:prstGeom prst="line">
            <a:avLst/>
          </a:prstGeom>
          <a:noFill/>
          <a:ln w="28575">
            <a:solidFill>
              <a:srgbClr val="C8414C"/>
            </a:solidFill>
            <a:prstDash val="solid"/>
          </a:ln>
        </p:spPr>
      </p:sp>
      <p:sp>
        <p:nvSpPr>
          <p:cNvPr id="280" name="Shape 278"/>
          <p:cNvSpPr/>
          <p:nvPr/>
        </p:nvSpPr>
        <p:spPr>
          <a:xfrm>
            <a:off x="5216081" y="2989144"/>
            <a:ext cx="18478" cy="2645"/>
          </a:xfrm>
          <a:prstGeom prst="line">
            <a:avLst/>
          </a:prstGeom>
          <a:noFill/>
          <a:ln w="28575">
            <a:solidFill>
              <a:srgbClr val="C8414C"/>
            </a:solidFill>
            <a:prstDash val="solid"/>
          </a:ln>
        </p:spPr>
      </p:sp>
      <p:sp>
        <p:nvSpPr>
          <p:cNvPr id="281" name="Shape 279"/>
          <p:cNvSpPr/>
          <p:nvPr/>
        </p:nvSpPr>
        <p:spPr>
          <a:xfrm>
            <a:off x="5234559" y="2991789"/>
            <a:ext cx="18478" cy="1436"/>
          </a:xfrm>
          <a:prstGeom prst="line">
            <a:avLst/>
          </a:prstGeom>
          <a:noFill/>
          <a:ln w="28575">
            <a:solidFill>
              <a:srgbClr val="C8414C"/>
            </a:solidFill>
            <a:prstDash val="solid"/>
          </a:ln>
        </p:spPr>
      </p:sp>
      <p:sp>
        <p:nvSpPr>
          <p:cNvPr id="282" name="Shape 280"/>
          <p:cNvSpPr/>
          <p:nvPr/>
        </p:nvSpPr>
        <p:spPr>
          <a:xfrm>
            <a:off x="5253037" y="2993226"/>
            <a:ext cx="18479" cy="746"/>
          </a:xfrm>
          <a:prstGeom prst="line">
            <a:avLst/>
          </a:prstGeom>
          <a:noFill/>
          <a:ln w="28575">
            <a:solidFill>
              <a:srgbClr val="C8414C"/>
            </a:solidFill>
            <a:prstDash val="solid"/>
          </a:ln>
        </p:spPr>
      </p:sp>
      <p:sp>
        <p:nvSpPr>
          <p:cNvPr id="283" name="Shape 281"/>
          <p:cNvSpPr/>
          <p:nvPr/>
        </p:nvSpPr>
        <p:spPr>
          <a:xfrm>
            <a:off x="5271516" y="2993972"/>
            <a:ext cx="18478" cy="371"/>
          </a:xfrm>
          <a:prstGeom prst="line">
            <a:avLst/>
          </a:prstGeom>
          <a:noFill/>
          <a:ln w="28575">
            <a:solidFill>
              <a:srgbClr val="C8414C"/>
            </a:solidFill>
            <a:prstDash val="solid"/>
          </a:ln>
        </p:spPr>
      </p:sp>
      <p:sp>
        <p:nvSpPr>
          <p:cNvPr id="284" name="Shape 282"/>
          <p:cNvSpPr/>
          <p:nvPr/>
        </p:nvSpPr>
        <p:spPr>
          <a:xfrm>
            <a:off x="5289995" y="2994343"/>
            <a:ext cx="18478" cy="177"/>
          </a:xfrm>
          <a:prstGeom prst="line">
            <a:avLst/>
          </a:prstGeom>
          <a:noFill/>
          <a:ln w="28575">
            <a:solidFill>
              <a:srgbClr val="C8414C"/>
            </a:solidFill>
            <a:prstDash val="solid"/>
          </a:ln>
        </p:spPr>
      </p:sp>
      <p:sp>
        <p:nvSpPr>
          <p:cNvPr id="285" name="Shape 283"/>
          <p:cNvSpPr/>
          <p:nvPr/>
        </p:nvSpPr>
        <p:spPr>
          <a:xfrm>
            <a:off x="5308473" y="2994520"/>
            <a:ext cx="18478" cy="81"/>
          </a:xfrm>
          <a:prstGeom prst="line">
            <a:avLst/>
          </a:prstGeom>
          <a:noFill/>
          <a:ln w="28575">
            <a:solidFill>
              <a:srgbClr val="C8414C"/>
            </a:solidFill>
            <a:prstDash val="solid"/>
          </a:ln>
        </p:spPr>
      </p:sp>
      <p:sp>
        <p:nvSpPr>
          <p:cNvPr id="286" name="Shape 284"/>
          <p:cNvSpPr/>
          <p:nvPr/>
        </p:nvSpPr>
        <p:spPr>
          <a:xfrm>
            <a:off x="5326951" y="2994601"/>
            <a:ext cx="18479" cy="35"/>
          </a:xfrm>
          <a:prstGeom prst="line">
            <a:avLst/>
          </a:prstGeom>
          <a:noFill/>
          <a:ln w="28575">
            <a:solidFill>
              <a:srgbClr val="C8414C"/>
            </a:solidFill>
            <a:prstDash val="solid"/>
          </a:ln>
        </p:spPr>
      </p:sp>
      <p:sp>
        <p:nvSpPr>
          <p:cNvPr id="287" name="Shape 285"/>
          <p:cNvSpPr/>
          <p:nvPr/>
        </p:nvSpPr>
        <p:spPr>
          <a:xfrm>
            <a:off x="5345430" y="2994636"/>
            <a:ext cx="18478" cy="15"/>
          </a:xfrm>
          <a:prstGeom prst="line">
            <a:avLst/>
          </a:prstGeom>
          <a:noFill/>
          <a:ln w="28575">
            <a:solidFill>
              <a:srgbClr val="C8414C"/>
            </a:solidFill>
            <a:prstDash val="solid"/>
          </a:ln>
        </p:spPr>
      </p:sp>
      <p:sp>
        <p:nvSpPr>
          <p:cNvPr id="288" name="Shape 286"/>
          <p:cNvSpPr/>
          <p:nvPr/>
        </p:nvSpPr>
        <p:spPr>
          <a:xfrm>
            <a:off x="5363908" y="2994651"/>
            <a:ext cx="18478" cy="6"/>
          </a:xfrm>
          <a:prstGeom prst="line">
            <a:avLst/>
          </a:prstGeom>
          <a:noFill/>
          <a:ln w="28575">
            <a:solidFill>
              <a:srgbClr val="C8414C"/>
            </a:solidFill>
            <a:prstDash val="solid"/>
          </a:ln>
        </p:spPr>
      </p:sp>
      <p:sp>
        <p:nvSpPr>
          <p:cNvPr id="289" name="Shape 287"/>
          <p:cNvSpPr/>
          <p:nvPr/>
        </p:nvSpPr>
        <p:spPr>
          <a:xfrm>
            <a:off x="5382387" y="2994656"/>
            <a:ext cx="18479" cy="2"/>
          </a:xfrm>
          <a:prstGeom prst="line">
            <a:avLst/>
          </a:prstGeom>
          <a:noFill/>
          <a:ln w="28575">
            <a:solidFill>
              <a:srgbClr val="C8414C"/>
            </a:solidFill>
            <a:prstDash val="solid"/>
          </a:ln>
        </p:spPr>
      </p:sp>
      <p:sp>
        <p:nvSpPr>
          <p:cNvPr id="290" name="Shape 288"/>
          <p:cNvSpPr/>
          <p:nvPr/>
        </p:nvSpPr>
        <p:spPr>
          <a:xfrm>
            <a:off x="5400866" y="2994659"/>
            <a:ext cx="18478" cy="1"/>
          </a:xfrm>
          <a:prstGeom prst="line">
            <a:avLst/>
          </a:prstGeom>
          <a:noFill/>
          <a:ln w="28575">
            <a:solidFill>
              <a:srgbClr val="C8414C"/>
            </a:solidFill>
            <a:prstDash val="solid"/>
          </a:ln>
        </p:spPr>
      </p:sp>
      <p:sp>
        <p:nvSpPr>
          <p:cNvPr id="291" name="Shape 289"/>
          <p:cNvSpPr/>
          <p:nvPr/>
        </p:nvSpPr>
        <p:spPr>
          <a:xfrm>
            <a:off x="5419344" y="2994660"/>
            <a:ext cx="18479" cy="0"/>
          </a:xfrm>
          <a:prstGeom prst="line">
            <a:avLst/>
          </a:prstGeom>
          <a:noFill/>
          <a:ln w="28575">
            <a:solidFill>
              <a:srgbClr val="C8414C"/>
            </a:solidFill>
            <a:prstDash val="solid"/>
          </a:ln>
        </p:spPr>
      </p:sp>
      <p:sp>
        <p:nvSpPr>
          <p:cNvPr id="292" name="Shape 290"/>
          <p:cNvSpPr/>
          <p:nvPr/>
        </p:nvSpPr>
        <p:spPr>
          <a:xfrm>
            <a:off x="5437823" y="2994660"/>
            <a:ext cx="18478" cy="0"/>
          </a:xfrm>
          <a:prstGeom prst="line">
            <a:avLst/>
          </a:prstGeom>
          <a:noFill/>
          <a:ln w="28575">
            <a:solidFill>
              <a:srgbClr val="C8414C"/>
            </a:solidFill>
            <a:prstDash val="solid"/>
          </a:ln>
        </p:spPr>
      </p:sp>
      <p:sp>
        <p:nvSpPr>
          <p:cNvPr id="293" name="Shape 291"/>
          <p:cNvSpPr/>
          <p:nvPr/>
        </p:nvSpPr>
        <p:spPr>
          <a:xfrm>
            <a:off x="5456301" y="2994660"/>
            <a:ext cx="18478" cy="0"/>
          </a:xfrm>
          <a:prstGeom prst="line">
            <a:avLst/>
          </a:prstGeom>
          <a:noFill/>
          <a:ln w="28575">
            <a:solidFill>
              <a:srgbClr val="C8414C"/>
            </a:solidFill>
            <a:prstDash val="solid"/>
          </a:ln>
        </p:spPr>
      </p:sp>
      <p:sp>
        <p:nvSpPr>
          <p:cNvPr id="294" name="Shape 292"/>
          <p:cNvSpPr/>
          <p:nvPr/>
        </p:nvSpPr>
        <p:spPr>
          <a:xfrm>
            <a:off x="5474779" y="2994660"/>
            <a:ext cx="18479" cy="0"/>
          </a:xfrm>
          <a:prstGeom prst="line">
            <a:avLst/>
          </a:prstGeom>
          <a:noFill/>
          <a:ln w="28575">
            <a:solidFill>
              <a:srgbClr val="C8414C"/>
            </a:solidFill>
            <a:prstDash val="solid"/>
          </a:ln>
        </p:spPr>
      </p:sp>
      <p:sp>
        <p:nvSpPr>
          <p:cNvPr id="295" name="Shape 293"/>
          <p:cNvSpPr/>
          <p:nvPr/>
        </p:nvSpPr>
        <p:spPr>
          <a:xfrm>
            <a:off x="5493258" y="2994660"/>
            <a:ext cx="18478" cy="0"/>
          </a:xfrm>
          <a:prstGeom prst="line">
            <a:avLst/>
          </a:prstGeom>
          <a:noFill/>
          <a:ln w="28575">
            <a:solidFill>
              <a:srgbClr val="C8414C"/>
            </a:solidFill>
            <a:prstDash val="solid"/>
          </a:ln>
        </p:spPr>
      </p:sp>
      <p:sp>
        <p:nvSpPr>
          <p:cNvPr id="296" name="Shape 294"/>
          <p:cNvSpPr/>
          <p:nvPr/>
        </p:nvSpPr>
        <p:spPr>
          <a:xfrm>
            <a:off x="5511737" y="2994660"/>
            <a:ext cx="18478" cy="0"/>
          </a:xfrm>
          <a:prstGeom prst="line">
            <a:avLst/>
          </a:prstGeom>
          <a:noFill/>
          <a:ln w="28575">
            <a:solidFill>
              <a:srgbClr val="C8414C"/>
            </a:solidFill>
            <a:prstDash val="solid"/>
          </a:ln>
        </p:spPr>
      </p:sp>
      <p:sp>
        <p:nvSpPr>
          <p:cNvPr id="297" name="Shape 295"/>
          <p:cNvSpPr/>
          <p:nvPr/>
        </p:nvSpPr>
        <p:spPr>
          <a:xfrm>
            <a:off x="5530215" y="2994660"/>
            <a:ext cx="18479" cy="0"/>
          </a:xfrm>
          <a:prstGeom prst="line">
            <a:avLst/>
          </a:prstGeom>
          <a:noFill/>
          <a:ln w="28575">
            <a:solidFill>
              <a:srgbClr val="C8414C"/>
            </a:solidFill>
            <a:prstDash val="solid"/>
          </a:ln>
        </p:spPr>
      </p:sp>
      <p:sp>
        <p:nvSpPr>
          <p:cNvPr id="298" name="Shape 296"/>
          <p:cNvSpPr/>
          <p:nvPr/>
        </p:nvSpPr>
        <p:spPr>
          <a:xfrm>
            <a:off x="5548694" y="2994660"/>
            <a:ext cx="18478" cy="0"/>
          </a:xfrm>
          <a:prstGeom prst="line">
            <a:avLst/>
          </a:prstGeom>
          <a:noFill/>
          <a:ln w="28575">
            <a:solidFill>
              <a:srgbClr val="C8414C"/>
            </a:solidFill>
            <a:prstDash val="solid"/>
          </a:ln>
        </p:spPr>
      </p:sp>
      <p:sp>
        <p:nvSpPr>
          <p:cNvPr id="299" name="Shape 297"/>
          <p:cNvSpPr/>
          <p:nvPr/>
        </p:nvSpPr>
        <p:spPr>
          <a:xfrm>
            <a:off x="5567172" y="2994660"/>
            <a:ext cx="18478" cy="0"/>
          </a:xfrm>
          <a:prstGeom prst="line">
            <a:avLst/>
          </a:prstGeom>
          <a:noFill/>
          <a:ln w="28575">
            <a:solidFill>
              <a:srgbClr val="C8414C"/>
            </a:solidFill>
            <a:prstDash val="solid"/>
          </a:ln>
        </p:spPr>
      </p:sp>
      <p:sp>
        <p:nvSpPr>
          <p:cNvPr id="300" name="Shape 298"/>
          <p:cNvSpPr/>
          <p:nvPr/>
        </p:nvSpPr>
        <p:spPr>
          <a:xfrm>
            <a:off x="5585650" y="2994660"/>
            <a:ext cx="18479" cy="0"/>
          </a:xfrm>
          <a:prstGeom prst="line">
            <a:avLst/>
          </a:prstGeom>
          <a:noFill/>
          <a:ln w="28575">
            <a:solidFill>
              <a:srgbClr val="C8414C"/>
            </a:solidFill>
            <a:prstDash val="solid"/>
          </a:ln>
        </p:spPr>
      </p:sp>
      <p:sp>
        <p:nvSpPr>
          <p:cNvPr id="301" name="Shape 299"/>
          <p:cNvSpPr/>
          <p:nvPr/>
        </p:nvSpPr>
        <p:spPr>
          <a:xfrm>
            <a:off x="5604129" y="2994660"/>
            <a:ext cx="18478" cy="0"/>
          </a:xfrm>
          <a:prstGeom prst="line">
            <a:avLst/>
          </a:prstGeom>
          <a:noFill/>
          <a:ln w="28575">
            <a:solidFill>
              <a:srgbClr val="C8414C"/>
            </a:solidFill>
            <a:prstDash val="solid"/>
          </a:ln>
        </p:spPr>
      </p:sp>
      <p:sp>
        <p:nvSpPr>
          <p:cNvPr id="302" name="Shape 300"/>
          <p:cNvSpPr/>
          <p:nvPr/>
        </p:nvSpPr>
        <p:spPr>
          <a:xfrm>
            <a:off x="5622608" y="2994660"/>
            <a:ext cx="18479" cy="0"/>
          </a:xfrm>
          <a:prstGeom prst="line">
            <a:avLst/>
          </a:prstGeom>
          <a:noFill/>
          <a:ln w="28575">
            <a:solidFill>
              <a:srgbClr val="C8414C"/>
            </a:solidFill>
            <a:prstDash val="solid"/>
          </a:ln>
        </p:spPr>
      </p:sp>
      <p:sp>
        <p:nvSpPr>
          <p:cNvPr id="303" name="Shape 301"/>
          <p:cNvSpPr/>
          <p:nvPr/>
        </p:nvSpPr>
        <p:spPr>
          <a:xfrm>
            <a:off x="5641086" y="2994660"/>
            <a:ext cx="18478" cy="0"/>
          </a:xfrm>
          <a:prstGeom prst="line">
            <a:avLst/>
          </a:prstGeom>
          <a:noFill/>
          <a:ln w="28575">
            <a:solidFill>
              <a:srgbClr val="C8414C"/>
            </a:solidFill>
            <a:prstDash val="solid"/>
          </a:ln>
        </p:spPr>
      </p:sp>
      <p:sp>
        <p:nvSpPr>
          <p:cNvPr id="304" name="Shape 302"/>
          <p:cNvSpPr/>
          <p:nvPr/>
        </p:nvSpPr>
        <p:spPr>
          <a:xfrm>
            <a:off x="5659565" y="2994660"/>
            <a:ext cx="18478" cy="0"/>
          </a:xfrm>
          <a:prstGeom prst="line">
            <a:avLst/>
          </a:prstGeom>
          <a:noFill/>
          <a:ln w="28575">
            <a:solidFill>
              <a:srgbClr val="C8414C"/>
            </a:solidFill>
            <a:prstDash val="solid"/>
          </a:ln>
        </p:spPr>
      </p:sp>
      <p:sp>
        <p:nvSpPr>
          <p:cNvPr id="305" name="Shape 303"/>
          <p:cNvSpPr/>
          <p:nvPr/>
        </p:nvSpPr>
        <p:spPr>
          <a:xfrm>
            <a:off x="5678043" y="2994660"/>
            <a:ext cx="18478" cy="0"/>
          </a:xfrm>
          <a:prstGeom prst="line">
            <a:avLst/>
          </a:prstGeom>
          <a:noFill/>
          <a:ln w="28575">
            <a:solidFill>
              <a:srgbClr val="C8414C"/>
            </a:solidFill>
            <a:prstDash val="solid"/>
          </a:ln>
        </p:spPr>
      </p:sp>
      <p:sp>
        <p:nvSpPr>
          <p:cNvPr id="306" name="Shape 304"/>
          <p:cNvSpPr/>
          <p:nvPr/>
        </p:nvSpPr>
        <p:spPr>
          <a:xfrm>
            <a:off x="5696521" y="2994660"/>
            <a:ext cx="18479" cy="0"/>
          </a:xfrm>
          <a:prstGeom prst="line">
            <a:avLst/>
          </a:prstGeom>
          <a:noFill/>
          <a:ln w="28575">
            <a:solidFill>
              <a:srgbClr val="C8414C"/>
            </a:solidFill>
            <a:prstDash val="solid"/>
          </a:ln>
        </p:spPr>
      </p:sp>
      <p:sp>
        <p:nvSpPr>
          <p:cNvPr id="307" name="Shape 305"/>
          <p:cNvSpPr/>
          <p:nvPr/>
        </p:nvSpPr>
        <p:spPr>
          <a:xfrm>
            <a:off x="2758440" y="1627632"/>
            <a:ext cx="91" cy="416052"/>
          </a:xfrm>
          <a:prstGeom prst="line">
            <a:avLst/>
          </a:prstGeom>
          <a:noFill/>
          <a:ln w="19050">
            <a:solidFill>
              <a:srgbClr val="B8730A"/>
            </a:solidFill>
            <a:prstDash val="solid"/>
            <a:tailEnd type="triangle"/>
          </a:ln>
        </p:spPr>
      </p:sp>
      <p:sp>
        <p:nvSpPr>
          <p:cNvPr id="308" name="Text 306"/>
          <p:cNvSpPr/>
          <p:nvPr/>
        </p:nvSpPr>
        <p:spPr>
          <a:xfrm>
            <a:off x="2209800" y="1523619"/>
            <a:ext cx="109728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breakfast</a:t>
            </a:r>
            <a:endParaRPr lang="en-US" sz="1000" dirty="0"/>
          </a:p>
        </p:txBody>
      </p:sp>
      <p:sp>
        <p:nvSpPr>
          <p:cNvPr id="309" name="Shape 307"/>
          <p:cNvSpPr/>
          <p:nvPr/>
        </p:nvSpPr>
        <p:spPr>
          <a:xfrm>
            <a:off x="3682365" y="1627632"/>
            <a:ext cx="91" cy="416052"/>
          </a:xfrm>
          <a:prstGeom prst="line">
            <a:avLst/>
          </a:prstGeom>
          <a:noFill/>
          <a:ln w="19050">
            <a:solidFill>
              <a:srgbClr val="B8730A"/>
            </a:solidFill>
            <a:prstDash val="solid"/>
            <a:tailEnd type="triangle"/>
          </a:ln>
        </p:spPr>
      </p:sp>
      <p:sp>
        <p:nvSpPr>
          <p:cNvPr id="310" name="Text 308"/>
          <p:cNvSpPr/>
          <p:nvPr/>
        </p:nvSpPr>
        <p:spPr>
          <a:xfrm>
            <a:off x="3133725" y="1523619"/>
            <a:ext cx="109728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lunch</a:t>
            </a:r>
            <a:endParaRPr lang="en-US" sz="1000" dirty="0"/>
          </a:p>
        </p:txBody>
      </p:sp>
      <p:sp>
        <p:nvSpPr>
          <p:cNvPr id="311" name="Shape 309"/>
          <p:cNvSpPr/>
          <p:nvPr/>
        </p:nvSpPr>
        <p:spPr>
          <a:xfrm>
            <a:off x="4791075" y="1627632"/>
            <a:ext cx="91" cy="416052"/>
          </a:xfrm>
          <a:prstGeom prst="line">
            <a:avLst/>
          </a:prstGeom>
          <a:noFill/>
          <a:ln w="19050">
            <a:solidFill>
              <a:srgbClr val="B8730A"/>
            </a:solidFill>
            <a:prstDash val="solid"/>
            <a:tailEnd type="triangle"/>
          </a:ln>
        </p:spPr>
      </p:sp>
      <p:sp>
        <p:nvSpPr>
          <p:cNvPr id="312" name="Text 310"/>
          <p:cNvSpPr/>
          <p:nvPr/>
        </p:nvSpPr>
        <p:spPr>
          <a:xfrm>
            <a:off x="4242435" y="1523619"/>
            <a:ext cx="1097280" cy="201168"/>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dinner</a:t>
            </a:r>
            <a:endParaRPr lang="en-US" sz="1000" dirty="0"/>
          </a:p>
        </p:txBody>
      </p:sp>
      <p:sp>
        <p:nvSpPr>
          <p:cNvPr id="313" name="Text 311"/>
          <p:cNvSpPr/>
          <p:nvPr/>
        </p:nvSpPr>
        <p:spPr>
          <a:xfrm>
            <a:off x="1371600" y="3707892"/>
            <a:ext cx="4206240" cy="219456"/>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between meals, the liver releases stored glucose</a:t>
            </a:r>
            <a:endParaRPr lang="en-US" sz="1000" dirty="0"/>
          </a:p>
        </p:txBody>
      </p:sp>
      <p:sp>
        <p:nvSpPr>
          <p:cNvPr id="314" name="Shape 312"/>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315" name="Text 31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Glucose in, glucose out</a:t>
            </a:r>
            <a:endParaRPr lang="en-US" sz="1300" dirty="0"/>
          </a:p>
        </p:txBody>
      </p:sp>
      <p:sp>
        <p:nvSpPr>
          <p:cNvPr id="316" name="Text 314"/>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Glucose enters the blood from </a:t>
            </a:r>
            <a:r>
              <a:rPr lang="en-US" sz="1100" b="1" dirty="0">
                <a:solidFill>
                  <a:srgbClr val="262B3A"/>
                </a:solidFill>
                <a:latin typeface="Calibri" pitchFamily="34" charset="0"/>
                <a:ea typeface="Calibri" pitchFamily="34" charset="-122"/>
                <a:cs typeface="Calibri" pitchFamily="34" charset="-120"/>
              </a:rPr>
              <a:t>digested food</a:t>
            </a:r>
            <a:r>
              <a:rPr lang="en-US" sz="1100" dirty="0">
                <a:solidFill>
                  <a:srgbClr val="262B3A"/>
                </a:solidFill>
                <a:latin typeface="Calibri" pitchFamily="34" charset="0"/>
                <a:ea typeface="Calibri" pitchFamily="34" charset="-122"/>
                <a:cs typeface="Calibri" pitchFamily="34" charset="-120"/>
              </a:rPr>
              <a:t> (carbohydrates) after a meal.</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cell uses glucose for </a:t>
            </a:r>
            <a:r>
              <a:rPr lang="en-US" sz="1100" b="1" dirty="0">
                <a:solidFill>
                  <a:srgbClr val="262B3A"/>
                </a:solidFill>
                <a:latin typeface="Calibri" pitchFamily="34" charset="0"/>
                <a:ea typeface="Calibri" pitchFamily="34" charset="-122"/>
                <a:cs typeface="Calibri" pitchFamily="34" charset="-120"/>
              </a:rPr>
              <a:t>respiration</a:t>
            </a:r>
            <a:r>
              <a:rPr lang="en-US" sz="1100" dirty="0">
                <a:solidFill>
                  <a:srgbClr val="262B3A"/>
                </a:solidFill>
                <a:latin typeface="Calibri" pitchFamily="34" charset="0"/>
                <a:ea typeface="Calibri" pitchFamily="34" charset="-122"/>
                <a:cs typeface="Calibri" pitchFamily="34" charset="-120"/>
              </a:rPr>
              <a:t> (B4.1), all the time, even when you sleep.</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Too </a:t>
            </a:r>
            <a:r>
              <a:rPr lang="en-US" sz="1100" b="1" dirty="0">
                <a:solidFill>
                  <a:srgbClr val="262B3A"/>
                </a:solidFill>
                <a:latin typeface="Calibri" pitchFamily="34" charset="0"/>
                <a:ea typeface="Calibri" pitchFamily="34" charset="-122"/>
                <a:cs typeface="Calibri" pitchFamily="34" charset="-120"/>
              </a:rPr>
              <a:t>high</a:t>
            </a:r>
            <a:r>
              <a:rPr lang="en-US" sz="1100" dirty="0">
                <a:solidFill>
                  <a:srgbClr val="262B3A"/>
                </a:solidFill>
                <a:latin typeface="Calibri" pitchFamily="34" charset="0"/>
                <a:ea typeface="Calibri" pitchFamily="34" charset="-122"/>
                <a:cs typeface="Calibri" pitchFamily="34" charset="-120"/>
              </a:rPr>
              <a:t>: water leaves cells by osmosis and blood vessels are damaged. Too </a:t>
            </a:r>
            <a:r>
              <a:rPr lang="en-US" sz="1100" b="1" dirty="0">
                <a:solidFill>
                  <a:srgbClr val="262B3A"/>
                </a:solidFill>
                <a:latin typeface="Calibri" pitchFamily="34" charset="0"/>
                <a:ea typeface="Calibri" pitchFamily="34" charset="-122"/>
                <a:cs typeface="Calibri" pitchFamily="34" charset="-120"/>
              </a:rPr>
              <a:t>low</a:t>
            </a:r>
            <a:r>
              <a:rPr lang="en-US" sz="1100" dirty="0">
                <a:solidFill>
                  <a:srgbClr val="262B3A"/>
                </a:solidFill>
                <a:latin typeface="Calibri" pitchFamily="34" charset="0"/>
                <a:ea typeface="Calibri" pitchFamily="34" charset="-122"/>
                <a:cs typeface="Calibri" pitchFamily="34" charset="-120"/>
              </a:rPr>
              <a:t>: cells, especially </a:t>
            </a:r>
            <a:r>
              <a:rPr lang="en-US" sz="1100" b="1" dirty="0">
                <a:solidFill>
                  <a:srgbClr val="262B3A"/>
                </a:solidFill>
                <a:latin typeface="Calibri" pitchFamily="34" charset="0"/>
                <a:ea typeface="Calibri" pitchFamily="34" charset="-122"/>
                <a:cs typeface="Calibri" pitchFamily="34" charset="-120"/>
              </a:rPr>
              <a:t>brain</a:t>
            </a:r>
            <a:r>
              <a:rPr lang="en-US" sz="1100" dirty="0">
                <a:solidFill>
                  <a:srgbClr val="262B3A"/>
                </a:solidFill>
                <a:latin typeface="Calibri" pitchFamily="34" charset="0"/>
                <a:ea typeface="Calibri" pitchFamily="34" charset="-122"/>
                <a:cs typeface="Calibri" pitchFamily="34" charset="-120"/>
              </a:rPr>
              <a:t> cells, run short of energy.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blood glucose is kept between about </a:t>
            </a:r>
            <a:r>
              <a:rPr lang="en-US" sz="1100" b="1" dirty="0">
                <a:solidFill>
                  <a:srgbClr val="262B3A"/>
                </a:solidFill>
                <a:latin typeface="Calibri" pitchFamily="34" charset="0"/>
                <a:ea typeface="Calibri" pitchFamily="34" charset="-122"/>
                <a:cs typeface="Calibri" pitchFamily="34" charset="-120"/>
              </a:rPr>
              <a:t>4 and 7 mmol/L</a:t>
            </a:r>
            <a:r>
              <a:rPr lang="en-US" sz="1100" dirty="0">
                <a:solidFill>
                  <a:srgbClr val="262B3A"/>
                </a:solidFill>
                <a:latin typeface="Calibri" pitchFamily="34" charset="0"/>
                <a:ea typeface="Calibri" pitchFamily="34" charset="-122"/>
                <a:cs typeface="Calibri" pitchFamily="34" charset="-120"/>
              </a:rPr>
              <a:t>: an example of </a:t>
            </a:r>
            <a:r>
              <a:rPr lang="en-US" sz="1100" b="1" dirty="0">
                <a:solidFill>
                  <a:srgbClr val="262B3A"/>
                </a:solidFill>
                <a:latin typeface="Calibri" pitchFamily="34" charset="0"/>
                <a:ea typeface="Calibri" pitchFamily="34" charset="-122"/>
                <a:cs typeface="Calibri" pitchFamily="34" charset="-120"/>
              </a:rPr>
              <a:t>homeostasis</a:t>
            </a:r>
            <a:r>
              <a:rPr lang="en-US" sz="1100" dirty="0">
                <a:solidFill>
                  <a:srgbClr val="262B3A"/>
                </a:solidFill>
                <a:latin typeface="Calibri" pitchFamily="34" charset="0"/>
                <a:ea typeface="Calibri" pitchFamily="34" charset="-122"/>
                <a:cs typeface="Calibri" pitchFamily="34" charset="-120"/>
              </a:rPr>
              <a:t> (B5.4).</a:t>
            </a:r>
            <a:endParaRPr lang="en-US" sz="1100" dirty="0"/>
          </a:p>
        </p:txBody>
      </p:sp>
      <p:sp>
        <p:nvSpPr>
          <p:cNvPr id="317" name="Shape 315"/>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318" name="Text 316"/>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much glucose?</a:t>
            </a:r>
            <a:endParaRPr lang="en-US" sz="1300" dirty="0"/>
          </a:p>
        </p:txBody>
      </p:sp>
      <p:sp>
        <p:nvSpPr>
          <p:cNvPr id="319" name="Text 317"/>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Blood volume 5 L at 5 mmol/L. 1 mmol of glucose has a mass of 0.18 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Amount   </a:t>
            </a:r>
            <a:r>
              <a:rPr lang="en-US" sz="1050" dirty="0">
                <a:solidFill>
                  <a:srgbClr val="262B3A"/>
                </a:solidFill>
                <a:latin typeface="Calibri" pitchFamily="34" charset="0"/>
                <a:ea typeface="Calibri" pitchFamily="34" charset="-122"/>
                <a:cs typeface="Calibri" pitchFamily="34" charset="-120"/>
              </a:rPr>
              <a:t>5 × 5 = 25 mmol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Mass   </a:t>
            </a:r>
            <a:r>
              <a:rPr lang="en-US" sz="1050" dirty="0">
                <a:solidFill>
                  <a:srgbClr val="262B3A"/>
                </a:solidFill>
                <a:latin typeface="Calibri" pitchFamily="34" charset="0"/>
                <a:ea typeface="Calibri" pitchFamily="34" charset="-122"/>
                <a:cs typeface="Calibri" pitchFamily="34" charset="-120"/>
              </a:rPr>
              <a:t>25 × 0.18 g</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4.5 g: about one teaspoon of sugar</a:t>
            </a:r>
            <a:endParaRPr lang="en-US" sz="1050" dirty="0"/>
          </a:p>
        </p:txBody>
      </p:sp>
      <p:sp>
        <p:nvSpPr>
          <p:cNvPr id="320" name="Shape 318"/>
          <p:cNvSpPr/>
          <p:nvPr/>
        </p:nvSpPr>
        <p:spPr>
          <a:xfrm>
            <a:off x="411480" y="5833872"/>
            <a:ext cx="11368735" cy="530352"/>
          </a:xfrm>
          <a:prstGeom prst="rect">
            <a:avLst/>
          </a:prstGeom>
          <a:solidFill>
            <a:srgbClr val="FFF4E0"/>
          </a:solidFill>
          <a:ln w="6350">
            <a:solidFill>
              <a:srgbClr val="F1D9A8"/>
            </a:solidFill>
            <a:prstDash val="solid"/>
          </a:ln>
        </p:spPr>
      </p:sp>
      <p:sp>
        <p:nvSpPr>
          <p:cNvPr id="321" name="Shape 319"/>
          <p:cNvSpPr/>
          <p:nvPr/>
        </p:nvSpPr>
        <p:spPr>
          <a:xfrm>
            <a:off x="411480" y="5833872"/>
            <a:ext cx="82296" cy="530352"/>
          </a:xfrm>
          <a:prstGeom prst="rect">
            <a:avLst/>
          </a:prstGeom>
          <a:solidFill>
            <a:srgbClr val="E39A2F"/>
          </a:solidFill>
          <a:ln w="12700">
            <a:solidFill>
              <a:srgbClr val="E39A2F"/>
            </a:solidFill>
            <a:prstDash val="solid"/>
          </a:ln>
        </p:spPr>
      </p:sp>
      <p:sp>
        <p:nvSpPr>
          <p:cNvPr id="322" name="Text 32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blood glucose rises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it falls. Repeat the worked example for </a:t>
            </a:r>
            <a:r>
              <a:rPr lang="en-US" sz="1150" b="1" dirty="0">
                <a:solidFill>
                  <a:srgbClr val="262B3A"/>
                </a:solidFill>
                <a:latin typeface="Calibri" pitchFamily="34" charset="0"/>
                <a:ea typeface="Calibri" pitchFamily="34" charset="-122"/>
                <a:cs typeface="Calibri" pitchFamily="34" charset="-120"/>
              </a:rPr>
              <a:t>8 mmol/L</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Insulin lowers blood glucose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 • explain how insulin controls blood sugar levels in the body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where the organs are (front view) and what insulin does; not to scale</a:t>
            </a:r>
            <a:endParaRPr lang="en-US" sz="1000" dirty="0"/>
          </a:p>
        </p:txBody>
      </p:sp>
      <p:sp>
        <p:nvSpPr>
          <p:cNvPr id="10" name="Shape 8"/>
          <p:cNvSpPr/>
          <p:nvPr/>
        </p:nvSpPr>
        <p:spPr>
          <a:xfrm rot="420000">
            <a:off x="444398" y="2240280"/>
            <a:ext cx="243230" cy="1607058"/>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2147011" y="2240280"/>
            <a:ext cx="243230" cy="1607058"/>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861365" y="3630168"/>
            <a:ext cx="469087" cy="1693926"/>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1504188" y="3630168"/>
            <a:ext cx="469087" cy="1693926"/>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722376" y="2170786"/>
            <a:ext cx="1389888" cy="1737360"/>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1304392" y="1979676"/>
            <a:ext cx="225857" cy="260604"/>
          </a:xfrm>
          <a:prstGeom prst="rect">
            <a:avLst/>
          </a:prstGeom>
          <a:solidFill>
            <a:srgbClr val="F6DDC8"/>
          </a:solidFill>
          <a:ln w="31750">
            <a:solidFill>
              <a:srgbClr val="B98E6E"/>
            </a:solidFill>
            <a:prstDash val="solid"/>
          </a:ln>
        </p:spPr>
      </p:sp>
      <p:sp>
        <p:nvSpPr>
          <p:cNvPr id="16" name="Shape 14"/>
          <p:cNvSpPr/>
          <p:nvPr/>
        </p:nvSpPr>
        <p:spPr>
          <a:xfrm>
            <a:off x="1130656" y="1371600"/>
            <a:ext cx="573329" cy="694944"/>
          </a:xfrm>
          <a:prstGeom prst="ellipse">
            <a:avLst/>
          </a:prstGeom>
          <a:solidFill>
            <a:srgbClr val="F6DDC8"/>
          </a:solidFill>
          <a:ln w="31750">
            <a:solidFill>
              <a:srgbClr val="B98E6E"/>
            </a:solidFill>
            <a:prstDash val="solid"/>
          </a:ln>
        </p:spPr>
      </p:sp>
      <p:sp>
        <p:nvSpPr>
          <p:cNvPr id="17" name="Shape 15"/>
          <p:cNvSpPr/>
          <p:nvPr/>
        </p:nvSpPr>
        <p:spPr>
          <a:xfrm rot="420000">
            <a:off x="444398" y="2240280"/>
            <a:ext cx="243230" cy="1607058"/>
          </a:xfrm>
          <a:prstGeom prst="roundRect">
            <a:avLst>
              <a:gd name="adj" fmla="val 45000"/>
            </a:avLst>
          </a:prstGeom>
          <a:solidFill>
            <a:srgbClr val="F6DDC8"/>
          </a:solidFill>
          <a:ln/>
        </p:spPr>
      </p:sp>
      <p:sp>
        <p:nvSpPr>
          <p:cNvPr id="18" name="Shape 16"/>
          <p:cNvSpPr/>
          <p:nvPr/>
        </p:nvSpPr>
        <p:spPr>
          <a:xfrm rot="-420000">
            <a:off x="2147011" y="2240280"/>
            <a:ext cx="243230" cy="1607058"/>
          </a:xfrm>
          <a:prstGeom prst="roundRect">
            <a:avLst>
              <a:gd name="adj" fmla="val 45000"/>
            </a:avLst>
          </a:prstGeom>
          <a:solidFill>
            <a:srgbClr val="F6DDC8"/>
          </a:solidFill>
          <a:ln/>
        </p:spPr>
      </p:sp>
      <p:sp>
        <p:nvSpPr>
          <p:cNvPr id="19" name="Shape 17"/>
          <p:cNvSpPr/>
          <p:nvPr/>
        </p:nvSpPr>
        <p:spPr>
          <a:xfrm>
            <a:off x="861365" y="3630168"/>
            <a:ext cx="469087" cy="1693926"/>
          </a:xfrm>
          <a:prstGeom prst="roundRect">
            <a:avLst>
              <a:gd name="adj" fmla="val 45000"/>
            </a:avLst>
          </a:prstGeom>
          <a:solidFill>
            <a:srgbClr val="F6DDC8"/>
          </a:solidFill>
          <a:ln/>
        </p:spPr>
      </p:sp>
      <p:sp>
        <p:nvSpPr>
          <p:cNvPr id="20" name="Shape 18"/>
          <p:cNvSpPr/>
          <p:nvPr/>
        </p:nvSpPr>
        <p:spPr>
          <a:xfrm>
            <a:off x="1504188" y="3630168"/>
            <a:ext cx="469087" cy="1693926"/>
          </a:xfrm>
          <a:prstGeom prst="roundRect">
            <a:avLst>
              <a:gd name="adj" fmla="val 45000"/>
            </a:avLst>
          </a:prstGeom>
          <a:solidFill>
            <a:srgbClr val="F6DDC8"/>
          </a:solidFill>
          <a:ln/>
        </p:spPr>
      </p:sp>
      <p:sp>
        <p:nvSpPr>
          <p:cNvPr id="21" name="Shape 19"/>
          <p:cNvSpPr/>
          <p:nvPr/>
        </p:nvSpPr>
        <p:spPr>
          <a:xfrm>
            <a:off x="722376" y="2170786"/>
            <a:ext cx="1389888" cy="1737360"/>
          </a:xfrm>
          <a:prstGeom prst="roundRect">
            <a:avLst>
              <a:gd name="adj" fmla="val 45000"/>
            </a:avLst>
          </a:prstGeom>
          <a:solidFill>
            <a:srgbClr val="F6DDC8"/>
          </a:solidFill>
          <a:ln/>
        </p:spPr>
      </p:sp>
      <p:sp>
        <p:nvSpPr>
          <p:cNvPr id="22" name="Shape 20"/>
          <p:cNvSpPr/>
          <p:nvPr/>
        </p:nvSpPr>
        <p:spPr>
          <a:xfrm>
            <a:off x="1304392" y="1979676"/>
            <a:ext cx="225857" cy="260604"/>
          </a:xfrm>
          <a:prstGeom prst="rect">
            <a:avLst/>
          </a:prstGeom>
          <a:solidFill>
            <a:srgbClr val="F6DDC8"/>
          </a:solidFill>
          <a:ln/>
        </p:spPr>
      </p:sp>
      <p:sp>
        <p:nvSpPr>
          <p:cNvPr id="23" name="Shape 21"/>
          <p:cNvSpPr/>
          <p:nvPr/>
        </p:nvSpPr>
        <p:spPr>
          <a:xfrm>
            <a:off x="1130656" y="1371600"/>
            <a:ext cx="573329" cy="694944"/>
          </a:xfrm>
          <a:prstGeom prst="ellipse">
            <a:avLst/>
          </a:prstGeom>
          <a:solidFill>
            <a:srgbClr val="F6DDC8"/>
          </a:solidFill>
          <a:ln/>
        </p:spPr>
      </p:sp>
      <p:sp>
        <p:nvSpPr>
          <p:cNvPr id="24" name="Shape 22"/>
          <p:cNvSpPr/>
          <p:nvPr/>
        </p:nvSpPr>
        <p:spPr>
          <a:xfrm>
            <a:off x="1417320" y="3934206"/>
            <a:ext cx="91" cy="1346454"/>
          </a:xfrm>
          <a:prstGeom prst="line">
            <a:avLst/>
          </a:prstGeom>
          <a:noFill/>
          <a:ln w="15875">
            <a:solidFill>
              <a:srgbClr val="B98E6E"/>
            </a:solidFill>
            <a:prstDash val="solid"/>
          </a:ln>
        </p:spPr>
      </p:sp>
      <p:sp>
        <p:nvSpPr>
          <p:cNvPr id="25" name="Shape 23"/>
          <p:cNvSpPr/>
          <p:nvPr/>
        </p:nvSpPr>
        <p:spPr>
          <a:xfrm>
            <a:off x="774497" y="2492197"/>
            <a:ext cx="799186" cy="469087"/>
          </a:xfrm>
          <a:custGeom>
            <a:avLst/>
            <a:gdLst/>
            <a:ahLst/>
            <a:cxnLst/>
            <a:rect l="l" t="t" r="r" b="b"/>
            <a:pathLst>
              <a:path w="799186" h="469087">
                <a:moveTo>
                  <a:pt x="0" y="52121"/>
                </a:moveTo>
                <a:lnTo>
                  <a:pt x="747065" y="0"/>
                </a:lnTo>
                <a:lnTo>
                  <a:pt x="799186" y="121615"/>
                </a:lnTo>
                <a:lnTo>
                  <a:pt x="555955" y="382219"/>
                </a:lnTo>
                <a:lnTo>
                  <a:pt x="17374" y="469087"/>
                </a:lnTo>
                <a:close/>
              </a:path>
            </a:pathLst>
          </a:custGeom>
          <a:solidFill>
            <a:srgbClr val="A0522D"/>
          </a:solidFill>
          <a:ln w="12700">
            <a:solidFill>
              <a:srgbClr val="6B3318"/>
            </a:solidFill>
            <a:prstDash val="solid"/>
          </a:ln>
        </p:spPr>
      </p:sp>
      <p:sp>
        <p:nvSpPr>
          <p:cNvPr id="26" name="Shape 24"/>
          <p:cNvSpPr/>
          <p:nvPr/>
        </p:nvSpPr>
        <p:spPr>
          <a:xfrm rot="1200000">
            <a:off x="1564996" y="2561692"/>
            <a:ext cx="434340" cy="312725"/>
          </a:xfrm>
          <a:prstGeom prst="ellipse">
            <a:avLst/>
          </a:prstGeom>
          <a:solidFill>
            <a:srgbClr val="F2C9B8"/>
          </a:solidFill>
          <a:ln w="9525">
            <a:solidFill>
              <a:srgbClr val="B07A66"/>
            </a:solidFill>
            <a:prstDash val="solid"/>
          </a:ln>
        </p:spPr>
      </p:sp>
      <p:sp>
        <p:nvSpPr>
          <p:cNvPr id="27" name="Shape 25"/>
          <p:cNvSpPr/>
          <p:nvPr/>
        </p:nvSpPr>
        <p:spPr>
          <a:xfrm>
            <a:off x="1182776" y="2943911"/>
            <a:ext cx="260604" cy="277978"/>
          </a:xfrm>
          <a:prstGeom prst="ellipse">
            <a:avLst/>
          </a:prstGeom>
          <a:ln w="38100">
            <a:solidFill>
              <a:srgbClr val="C9A06A"/>
            </a:solidFill>
            <a:prstDash val="solid"/>
          </a:ln>
        </p:spPr>
      </p:sp>
      <p:sp>
        <p:nvSpPr>
          <p:cNvPr id="28" name="Shape 26"/>
          <p:cNvSpPr/>
          <p:nvPr/>
        </p:nvSpPr>
        <p:spPr>
          <a:xfrm rot="-600000">
            <a:off x="1252271" y="2991688"/>
            <a:ext cx="677570" cy="147676"/>
          </a:xfrm>
          <a:prstGeom prst="ellipse">
            <a:avLst/>
          </a:prstGeom>
          <a:solidFill>
            <a:srgbClr val="D4A017"/>
          </a:solidFill>
          <a:ln w="15875">
            <a:solidFill>
              <a:srgbClr val="8A6A0A"/>
            </a:solidFill>
            <a:prstDash val="solid"/>
          </a:ln>
        </p:spPr>
      </p:sp>
      <p:sp>
        <p:nvSpPr>
          <p:cNvPr id="29" name="Text 27"/>
          <p:cNvSpPr/>
          <p:nvPr/>
        </p:nvSpPr>
        <p:spPr>
          <a:xfrm>
            <a:off x="502920" y="1481328"/>
            <a:ext cx="548640" cy="237744"/>
          </a:xfrm>
          <a:prstGeom prst="rect">
            <a:avLst/>
          </a:prstGeom>
          <a:noFill/>
          <a:ln/>
        </p:spPr>
        <p:txBody>
          <a:bodyPr wrap="square" lIns="0" tIns="0" rIns="0" bIns="0" rtlCol="0" anchor="ctr"/>
          <a:lstStyle/>
          <a:p>
            <a:pPr algn="r" indent="0" marL="0">
              <a:buNone/>
            </a:pPr>
            <a:r>
              <a:rPr lang="en-US" sz="1050" b="1" dirty="0">
                <a:solidFill>
                  <a:srgbClr val="6B3318"/>
                </a:solidFill>
                <a:latin typeface="Calibri" pitchFamily="34" charset="0"/>
                <a:ea typeface="Calibri" pitchFamily="34" charset="-122"/>
                <a:cs typeface="Calibri" pitchFamily="34" charset="-120"/>
              </a:rPr>
              <a:t>Liver</a:t>
            </a:r>
            <a:endParaRPr lang="en-US" sz="1050" dirty="0"/>
          </a:p>
        </p:txBody>
      </p:sp>
      <p:sp>
        <p:nvSpPr>
          <p:cNvPr id="30" name="Shape 28"/>
          <p:cNvSpPr/>
          <p:nvPr/>
        </p:nvSpPr>
        <p:spPr>
          <a:xfrm flipH="1">
            <a:off x="932688" y="1600200"/>
            <a:ext cx="155448" cy="1117854"/>
          </a:xfrm>
          <a:prstGeom prst="line">
            <a:avLst/>
          </a:prstGeom>
          <a:noFill/>
          <a:ln w="12700">
            <a:solidFill>
              <a:srgbClr val="6B3318"/>
            </a:solidFill>
            <a:prstDash val="solid"/>
          </a:ln>
        </p:spPr>
      </p:sp>
      <p:sp>
        <p:nvSpPr>
          <p:cNvPr id="31" name="Shape 29"/>
          <p:cNvSpPr/>
          <p:nvPr/>
        </p:nvSpPr>
        <p:spPr>
          <a:xfrm>
            <a:off x="905256" y="2690622"/>
            <a:ext cx="54864" cy="54864"/>
          </a:xfrm>
          <a:prstGeom prst="ellipse">
            <a:avLst/>
          </a:prstGeom>
          <a:solidFill>
            <a:srgbClr val="6B3318"/>
          </a:solidFill>
          <a:ln w="9525">
            <a:solidFill>
              <a:srgbClr val="6B3318"/>
            </a:solidFill>
            <a:prstDash val="solid"/>
          </a:ln>
        </p:spPr>
      </p:sp>
      <p:sp>
        <p:nvSpPr>
          <p:cNvPr id="32" name="Text 30"/>
          <p:cNvSpPr/>
          <p:nvPr/>
        </p:nvSpPr>
        <p:spPr>
          <a:xfrm>
            <a:off x="2560320" y="2258568"/>
            <a:ext cx="777240" cy="237744"/>
          </a:xfrm>
          <a:prstGeom prst="rect">
            <a:avLst/>
          </a:prstGeom>
          <a:noFill/>
          <a:ln/>
        </p:spPr>
        <p:txBody>
          <a:bodyPr wrap="square" lIns="0" tIns="0" rIns="0" bIns="0" rtlCol="0" anchor="ctr"/>
          <a:lstStyle/>
          <a:p>
            <a:pPr algn="l" indent="0" marL="0">
              <a:buNone/>
            </a:pPr>
            <a:r>
              <a:rPr lang="en-US" sz="1000" b="1" dirty="0">
                <a:solidFill>
                  <a:srgbClr val="B07A66"/>
                </a:solidFill>
                <a:latin typeface="Calibri" pitchFamily="34" charset="0"/>
                <a:ea typeface="Calibri" pitchFamily="34" charset="-122"/>
                <a:cs typeface="Calibri" pitchFamily="34" charset="-120"/>
              </a:rPr>
              <a:t>Stomach</a:t>
            </a:r>
            <a:endParaRPr lang="en-US" sz="1000" dirty="0"/>
          </a:p>
        </p:txBody>
      </p:sp>
      <p:sp>
        <p:nvSpPr>
          <p:cNvPr id="33" name="Shape 31"/>
          <p:cNvSpPr/>
          <p:nvPr/>
        </p:nvSpPr>
        <p:spPr>
          <a:xfrm flipH="1">
            <a:off x="1925726" y="2377440"/>
            <a:ext cx="598018" cy="297180"/>
          </a:xfrm>
          <a:prstGeom prst="line">
            <a:avLst/>
          </a:prstGeom>
          <a:noFill/>
          <a:ln w="12700">
            <a:solidFill>
              <a:srgbClr val="B07A66"/>
            </a:solidFill>
            <a:prstDash val="solid"/>
          </a:ln>
        </p:spPr>
      </p:sp>
      <p:sp>
        <p:nvSpPr>
          <p:cNvPr id="34" name="Shape 32"/>
          <p:cNvSpPr/>
          <p:nvPr/>
        </p:nvSpPr>
        <p:spPr>
          <a:xfrm>
            <a:off x="1898294" y="2647188"/>
            <a:ext cx="54864" cy="54864"/>
          </a:xfrm>
          <a:prstGeom prst="ellipse">
            <a:avLst/>
          </a:prstGeom>
          <a:solidFill>
            <a:srgbClr val="B07A66"/>
          </a:solidFill>
          <a:ln w="9525">
            <a:solidFill>
              <a:srgbClr val="B07A66"/>
            </a:solidFill>
            <a:prstDash val="solid"/>
          </a:ln>
        </p:spPr>
      </p:sp>
      <p:sp>
        <p:nvSpPr>
          <p:cNvPr id="35" name="Text 33"/>
          <p:cNvSpPr/>
          <p:nvPr/>
        </p:nvSpPr>
        <p:spPr>
          <a:xfrm>
            <a:off x="2560320" y="2852928"/>
            <a:ext cx="868680" cy="237744"/>
          </a:xfrm>
          <a:prstGeom prst="rect">
            <a:avLst/>
          </a:prstGeom>
          <a:noFill/>
          <a:ln/>
        </p:spPr>
        <p:txBody>
          <a:bodyPr wrap="square" lIns="0" tIns="0" rIns="0" bIns="0" rtlCol="0" anchor="ctr"/>
          <a:lstStyle/>
          <a:p>
            <a:pPr algn="l" indent="0" marL="0">
              <a:buNone/>
            </a:pPr>
            <a:r>
              <a:rPr lang="en-US" sz="1050" b="1" dirty="0">
                <a:solidFill>
                  <a:srgbClr val="8A6A0A"/>
                </a:solidFill>
                <a:latin typeface="Calibri" pitchFamily="34" charset="0"/>
                <a:ea typeface="Calibri" pitchFamily="34" charset="-122"/>
                <a:cs typeface="Calibri" pitchFamily="34" charset="-120"/>
              </a:rPr>
              <a:t>Pancreas</a:t>
            </a:r>
            <a:endParaRPr lang="en-US" sz="1050" dirty="0"/>
          </a:p>
        </p:txBody>
      </p:sp>
      <p:sp>
        <p:nvSpPr>
          <p:cNvPr id="36" name="Shape 34"/>
          <p:cNvSpPr/>
          <p:nvPr/>
        </p:nvSpPr>
        <p:spPr>
          <a:xfrm flipH="1">
            <a:off x="1904238" y="2971800"/>
            <a:ext cx="619506" cy="76352"/>
          </a:xfrm>
          <a:prstGeom prst="line">
            <a:avLst/>
          </a:prstGeom>
          <a:noFill/>
          <a:ln w="12700">
            <a:solidFill>
              <a:srgbClr val="8A6A0A"/>
            </a:solidFill>
            <a:prstDash val="solid"/>
          </a:ln>
        </p:spPr>
      </p:sp>
      <p:sp>
        <p:nvSpPr>
          <p:cNvPr id="37" name="Shape 35"/>
          <p:cNvSpPr/>
          <p:nvPr/>
        </p:nvSpPr>
        <p:spPr>
          <a:xfrm>
            <a:off x="1876806" y="3020720"/>
            <a:ext cx="54864" cy="54864"/>
          </a:xfrm>
          <a:prstGeom prst="ellipse">
            <a:avLst/>
          </a:prstGeom>
          <a:solidFill>
            <a:srgbClr val="8A6A0A"/>
          </a:solidFill>
          <a:ln w="9525">
            <a:solidFill>
              <a:srgbClr val="8A6A0A"/>
            </a:solidFill>
            <a:prstDash val="solid"/>
          </a:ln>
        </p:spPr>
      </p:sp>
      <p:sp>
        <p:nvSpPr>
          <p:cNvPr id="38" name="Text 36"/>
          <p:cNvSpPr/>
          <p:nvPr/>
        </p:nvSpPr>
        <p:spPr>
          <a:xfrm>
            <a:off x="2560320" y="3246120"/>
            <a:ext cx="914400" cy="73152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liver on the body's </a:t>
            </a:r>
            <a:r>
              <a:rPr lang="en-US" sz="1000" b="1" i="1" dirty="0">
                <a:solidFill>
                  <a:srgbClr val="6B7385"/>
                </a:solidFill>
                <a:latin typeface="Calibri" pitchFamily="34" charset="0"/>
                <a:ea typeface="Calibri" pitchFamily="34" charset="-122"/>
                <a:cs typeface="Calibri" pitchFamily="34" charset="-120"/>
              </a:rPr>
              <a:t>right</a:t>
            </a:r>
            <a:r>
              <a:rPr lang="en-US" sz="1000" i="1" dirty="0">
                <a:solidFill>
                  <a:srgbClr val="6B7385"/>
                </a:solidFill>
                <a:latin typeface="Calibri" pitchFamily="34" charset="0"/>
                <a:ea typeface="Calibri" pitchFamily="34" charset="-122"/>
                <a:cs typeface="Calibri" pitchFamily="34" charset="-120"/>
              </a:rPr>
              <a:t> (your left)</a:t>
            </a:r>
            <a:endParaRPr lang="en-US" sz="1000" dirty="0"/>
          </a:p>
        </p:txBody>
      </p:sp>
      <p:sp>
        <p:nvSpPr>
          <p:cNvPr id="39" name="Shape 37"/>
          <p:cNvSpPr/>
          <p:nvPr/>
        </p:nvSpPr>
        <p:spPr>
          <a:xfrm>
            <a:off x="3520440" y="1325880"/>
            <a:ext cx="2331720" cy="502920"/>
          </a:xfrm>
          <a:prstGeom prst="roundRect">
            <a:avLst>
              <a:gd name="adj" fmla="val 10909"/>
            </a:avLst>
          </a:prstGeom>
          <a:solidFill>
            <a:srgbClr val="FBE3E4"/>
          </a:solidFill>
          <a:ln w="15875">
            <a:solidFill>
              <a:srgbClr val="C8414C"/>
            </a:solidFill>
            <a:prstDash val="solid"/>
          </a:ln>
        </p:spPr>
      </p:sp>
      <p:sp>
        <p:nvSpPr>
          <p:cNvPr id="40" name="Text 38"/>
          <p:cNvSpPr/>
          <p:nvPr/>
        </p:nvSpPr>
        <p:spPr>
          <a:xfrm>
            <a:off x="3575304" y="1325880"/>
            <a:ext cx="2221992" cy="5029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Blood glucose rises</a:t>
            </a:r>
            <a:r>
              <a:rPr lang="en-US" sz="1050" dirty="0">
                <a:solidFill>
                  <a:srgbClr val="262B3A"/>
                </a:solidFill>
                <a:latin typeface="Calibri" pitchFamily="34" charset="0"/>
                <a:ea typeface="Calibri" pitchFamily="34" charset="-122"/>
                <a:cs typeface="Calibri" pitchFamily="34" charset="-120"/>
              </a:rPr>
              <a:t> after a meal</a:t>
            </a:r>
            <a:endParaRPr lang="en-US" sz="1050" dirty="0"/>
          </a:p>
        </p:txBody>
      </p:sp>
      <p:sp>
        <p:nvSpPr>
          <p:cNvPr id="41" name="Shape 39"/>
          <p:cNvSpPr/>
          <p:nvPr/>
        </p:nvSpPr>
        <p:spPr>
          <a:xfrm>
            <a:off x="4686300" y="1828800"/>
            <a:ext cx="91" cy="182880"/>
          </a:xfrm>
          <a:prstGeom prst="line">
            <a:avLst/>
          </a:prstGeom>
          <a:noFill/>
          <a:ln w="22225">
            <a:solidFill>
              <a:srgbClr val="133536"/>
            </a:solidFill>
            <a:prstDash val="solid"/>
            <a:tailEnd type="triangle"/>
          </a:ln>
        </p:spPr>
      </p:sp>
      <p:sp>
        <p:nvSpPr>
          <p:cNvPr id="42" name="Shape 40"/>
          <p:cNvSpPr/>
          <p:nvPr/>
        </p:nvSpPr>
        <p:spPr>
          <a:xfrm>
            <a:off x="3520440" y="2011680"/>
            <a:ext cx="2331720" cy="566928"/>
          </a:xfrm>
          <a:prstGeom prst="roundRect">
            <a:avLst>
              <a:gd name="adj" fmla="val 9677"/>
            </a:avLst>
          </a:prstGeom>
          <a:solidFill>
            <a:srgbClr val="FBF0D0"/>
          </a:solidFill>
          <a:ln w="15875">
            <a:solidFill>
              <a:srgbClr val="8A6A0A"/>
            </a:solidFill>
            <a:prstDash val="solid"/>
          </a:ln>
        </p:spPr>
      </p:sp>
      <p:sp>
        <p:nvSpPr>
          <p:cNvPr id="43" name="Text 41"/>
          <p:cNvSpPr/>
          <p:nvPr/>
        </p:nvSpPr>
        <p:spPr>
          <a:xfrm>
            <a:off x="3575304" y="2011680"/>
            <a:ext cx="2221992" cy="56692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Pancreas</a:t>
            </a:r>
            <a:r>
              <a:rPr lang="en-US" sz="1050" dirty="0">
                <a:solidFill>
                  <a:srgbClr val="262B3A"/>
                </a:solidFill>
                <a:latin typeface="Calibri" pitchFamily="34" charset="0"/>
                <a:ea typeface="Calibri" pitchFamily="34" charset="-122"/>
                <a:cs typeface="Calibri" pitchFamily="34" charset="-120"/>
              </a:rPr>
              <a:t> detects it and releases </a:t>
            </a:r>
            <a:r>
              <a:rPr lang="en-US" sz="1050" b="1" dirty="0">
                <a:solidFill>
                  <a:srgbClr val="262B3A"/>
                </a:solidFill>
                <a:latin typeface="Calibri" pitchFamily="34" charset="0"/>
                <a:ea typeface="Calibri" pitchFamily="34" charset="-122"/>
                <a:cs typeface="Calibri" pitchFamily="34" charset="-120"/>
              </a:rPr>
              <a:t>insulin</a:t>
            </a:r>
            <a:r>
              <a:rPr lang="en-US" sz="1050" dirty="0">
                <a:solidFill>
                  <a:srgbClr val="262B3A"/>
                </a:solidFill>
                <a:latin typeface="Calibri" pitchFamily="34" charset="0"/>
                <a:ea typeface="Calibri" pitchFamily="34" charset="-122"/>
                <a:cs typeface="Calibri" pitchFamily="34" charset="-120"/>
              </a:rPr>
              <a:t> into the blood</a:t>
            </a:r>
            <a:endParaRPr lang="en-US" sz="1050" dirty="0"/>
          </a:p>
        </p:txBody>
      </p:sp>
      <p:sp>
        <p:nvSpPr>
          <p:cNvPr id="44" name="Shape 42"/>
          <p:cNvSpPr/>
          <p:nvPr/>
        </p:nvSpPr>
        <p:spPr>
          <a:xfrm>
            <a:off x="3630168" y="2651760"/>
            <a:ext cx="146304" cy="131674"/>
          </a:xfrm>
          <a:prstGeom prst="triangle">
            <a:avLst/>
          </a:prstGeom>
          <a:solidFill>
            <a:srgbClr val="E08A1E"/>
          </a:solidFill>
          <a:ln w="9525">
            <a:solidFill>
              <a:srgbClr val="9A5A0A"/>
            </a:solidFill>
            <a:prstDash val="solid"/>
          </a:ln>
        </p:spPr>
      </p:sp>
      <p:sp>
        <p:nvSpPr>
          <p:cNvPr id="45" name="Shape 43"/>
          <p:cNvSpPr/>
          <p:nvPr/>
        </p:nvSpPr>
        <p:spPr>
          <a:xfrm>
            <a:off x="3858768" y="2697480"/>
            <a:ext cx="146304" cy="131674"/>
          </a:xfrm>
          <a:prstGeom prst="triangle">
            <a:avLst/>
          </a:prstGeom>
          <a:solidFill>
            <a:srgbClr val="E08A1E"/>
          </a:solidFill>
          <a:ln w="9525">
            <a:solidFill>
              <a:srgbClr val="9A5A0A"/>
            </a:solidFill>
            <a:prstDash val="solid"/>
          </a:ln>
        </p:spPr>
      </p:sp>
      <p:sp>
        <p:nvSpPr>
          <p:cNvPr id="46" name="Shape 44"/>
          <p:cNvSpPr/>
          <p:nvPr/>
        </p:nvSpPr>
        <p:spPr>
          <a:xfrm>
            <a:off x="4087368" y="2651760"/>
            <a:ext cx="146304" cy="131674"/>
          </a:xfrm>
          <a:prstGeom prst="triangle">
            <a:avLst/>
          </a:prstGeom>
          <a:solidFill>
            <a:srgbClr val="E08A1E"/>
          </a:solidFill>
          <a:ln w="9525">
            <a:solidFill>
              <a:srgbClr val="9A5A0A"/>
            </a:solidFill>
            <a:prstDash val="solid"/>
          </a:ln>
        </p:spPr>
      </p:sp>
      <p:sp>
        <p:nvSpPr>
          <p:cNvPr id="47" name="Shape 45"/>
          <p:cNvSpPr/>
          <p:nvPr/>
        </p:nvSpPr>
        <p:spPr>
          <a:xfrm>
            <a:off x="4686300" y="2578608"/>
            <a:ext cx="91" cy="210312"/>
          </a:xfrm>
          <a:prstGeom prst="line">
            <a:avLst/>
          </a:prstGeom>
          <a:noFill/>
          <a:ln w="22225">
            <a:solidFill>
              <a:srgbClr val="133536"/>
            </a:solidFill>
            <a:prstDash val="solid"/>
            <a:tailEnd type="triangle"/>
          </a:ln>
        </p:spPr>
      </p:sp>
      <p:sp>
        <p:nvSpPr>
          <p:cNvPr id="48" name="Shape 46"/>
          <p:cNvSpPr/>
          <p:nvPr/>
        </p:nvSpPr>
        <p:spPr>
          <a:xfrm>
            <a:off x="3520440" y="2788920"/>
            <a:ext cx="2331720" cy="1417320"/>
          </a:xfrm>
          <a:prstGeom prst="roundRect">
            <a:avLst>
              <a:gd name="adj" fmla="val 3871"/>
            </a:avLst>
          </a:prstGeom>
          <a:solidFill>
            <a:srgbClr val="FFFFFF"/>
          </a:solidFill>
          <a:ln w="15875">
            <a:solidFill>
              <a:srgbClr val="6B3318"/>
            </a:solidFill>
            <a:prstDash val="solid"/>
          </a:ln>
        </p:spPr>
      </p:sp>
      <p:sp>
        <p:nvSpPr>
          <p:cNvPr id="49" name="Text 47"/>
          <p:cNvSpPr/>
          <p:nvPr/>
        </p:nvSpPr>
        <p:spPr>
          <a:xfrm>
            <a:off x="3593592" y="2816352"/>
            <a:ext cx="2185416" cy="438912"/>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Liver</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muscle</a:t>
            </a:r>
            <a:r>
              <a:rPr lang="en-US" sz="1050" dirty="0">
                <a:solidFill>
                  <a:srgbClr val="262B3A"/>
                </a:solidFill>
                <a:latin typeface="Calibri" pitchFamily="34" charset="0"/>
                <a:ea typeface="Calibri" pitchFamily="34" charset="-122"/>
                <a:cs typeface="Calibri" pitchFamily="34" charset="-120"/>
              </a:rPr>
              <a:t> cells take glucose </a:t>
            </a:r>
            <a:r>
              <a:rPr lang="en-US" sz="1050" b="1" dirty="0">
                <a:solidFill>
                  <a:srgbClr val="262B3A"/>
                </a:solidFill>
                <a:latin typeface="Calibri" pitchFamily="34" charset="0"/>
                <a:ea typeface="Calibri" pitchFamily="34" charset="-122"/>
                <a:cs typeface="Calibri" pitchFamily="34" charset="-120"/>
              </a:rPr>
              <a:t>in</a:t>
            </a:r>
            <a:r>
              <a:rPr lang="en-US" sz="1050" dirty="0">
                <a:solidFill>
                  <a:srgbClr val="262B3A"/>
                </a:solidFill>
                <a:latin typeface="Calibri" pitchFamily="34" charset="0"/>
                <a:ea typeface="Calibri" pitchFamily="34" charset="-122"/>
                <a:cs typeface="Calibri" pitchFamily="34" charset="-120"/>
              </a:rPr>
              <a:t> from the blood</a:t>
            </a:r>
            <a:endParaRPr lang="en-US" sz="1050" dirty="0"/>
          </a:p>
        </p:txBody>
      </p:sp>
      <p:sp>
        <p:nvSpPr>
          <p:cNvPr id="50" name="Shape 48"/>
          <p:cNvSpPr/>
          <p:nvPr/>
        </p:nvSpPr>
        <p:spPr>
          <a:xfrm>
            <a:off x="3657600" y="3291840"/>
            <a:ext cx="777240" cy="594360"/>
          </a:xfrm>
          <a:custGeom>
            <a:avLst/>
            <a:gdLst/>
            <a:ahLst/>
            <a:cxnLst/>
            <a:rect l="l" t="t" r="r" b="b"/>
            <a:pathLst>
              <a:path w="777240" h="594360">
                <a:moveTo>
                  <a:pt x="0" y="89154"/>
                </a:moveTo>
                <a:lnTo>
                  <a:pt x="427482" y="0"/>
                </a:lnTo>
                <a:lnTo>
                  <a:pt x="777240" y="59436"/>
                </a:lnTo>
                <a:lnTo>
                  <a:pt x="582930" y="356616"/>
                </a:lnTo>
                <a:lnTo>
                  <a:pt x="272034" y="594360"/>
                </a:lnTo>
                <a:lnTo>
                  <a:pt x="38862" y="475488"/>
                </a:lnTo>
                <a:close/>
              </a:path>
            </a:pathLst>
          </a:custGeom>
          <a:solidFill>
            <a:srgbClr val="A0522D"/>
          </a:solidFill>
          <a:ln w="15875">
            <a:solidFill>
              <a:srgbClr val="6B3318"/>
            </a:solidFill>
            <a:prstDash val="solid"/>
          </a:ln>
        </p:spPr>
      </p:sp>
      <p:sp>
        <p:nvSpPr>
          <p:cNvPr id="51" name="Shape 49"/>
          <p:cNvSpPr/>
          <p:nvPr/>
        </p:nvSpPr>
        <p:spPr>
          <a:xfrm>
            <a:off x="4567428" y="3470148"/>
            <a:ext cx="100584" cy="100584"/>
          </a:xfrm>
          <a:prstGeom prst="hexagon">
            <a:avLst/>
          </a:prstGeom>
          <a:solidFill>
            <a:srgbClr val="3B7DD8"/>
          </a:solidFill>
          <a:ln w="6350">
            <a:solidFill>
              <a:srgbClr val="1F4E8C"/>
            </a:solidFill>
            <a:prstDash val="solid"/>
          </a:ln>
        </p:spPr>
      </p:sp>
      <p:sp>
        <p:nvSpPr>
          <p:cNvPr id="52" name="Shape 50"/>
          <p:cNvSpPr/>
          <p:nvPr/>
        </p:nvSpPr>
        <p:spPr>
          <a:xfrm>
            <a:off x="4686300" y="3470148"/>
            <a:ext cx="100584" cy="100584"/>
          </a:xfrm>
          <a:prstGeom prst="hexagon">
            <a:avLst/>
          </a:prstGeom>
          <a:solidFill>
            <a:srgbClr val="3B7DD8"/>
          </a:solidFill>
          <a:ln w="6350">
            <a:solidFill>
              <a:srgbClr val="1F4E8C"/>
            </a:solidFill>
            <a:prstDash val="solid"/>
          </a:ln>
        </p:spPr>
      </p:sp>
      <p:sp>
        <p:nvSpPr>
          <p:cNvPr id="53" name="Shape 51"/>
          <p:cNvSpPr/>
          <p:nvPr/>
        </p:nvSpPr>
        <p:spPr>
          <a:xfrm>
            <a:off x="4805172" y="3470148"/>
            <a:ext cx="100584" cy="100584"/>
          </a:xfrm>
          <a:prstGeom prst="hexagon">
            <a:avLst/>
          </a:prstGeom>
          <a:solidFill>
            <a:srgbClr val="3B7DD8"/>
          </a:solidFill>
          <a:ln w="6350">
            <a:solidFill>
              <a:srgbClr val="1F4E8C"/>
            </a:solidFill>
            <a:prstDash val="solid"/>
          </a:ln>
        </p:spPr>
      </p:sp>
      <p:sp>
        <p:nvSpPr>
          <p:cNvPr id="54" name="Shape 52"/>
          <p:cNvSpPr/>
          <p:nvPr/>
        </p:nvSpPr>
        <p:spPr>
          <a:xfrm>
            <a:off x="4937760" y="3529584"/>
            <a:ext cx="182880" cy="91"/>
          </a:xfrm>
          <a:prstGeom prst="line">
            <a:avLst/>
          </a:prstGeom>
          <a:noFill/>
          <a:ln w="15875">
            <a:solidFill>
              <a:srgbClr val="133536"/>
            </a:solidFill>
            <a:prstDash val="solid"/>
            <a:tailEnd type="triangle"/>
          </a:ln>
        </p:spPr>
      </p:sp>
      <p:sp>
        <p:nvSpPr>
          <p:cNvPr id="55" name="Shape 53"/>
          <p:cNvSpPr/>
          <p:nvPr/>
        </p:nvSpPr>
        <p:spPr>
          <a:xfrm>
            <a:off x="5168646" y="3527298"/>
            <a:ext cx="77724" cy="77724"/>
          </a:xfrm>
          <a:prstGeom prst="hexagon">
            <a:avLst/>
          </a:prstGeom>
          <a:solidFill>
            <a:srgbClr val="3B7DD8"/>
          </a:solidFill>
          <a:ln w="6350">
            <a:solidFill>
              <a:srgbClr val="1F4E8C"/>
            </a:solidFill>
            <a:prstDash val="solid"/>
          </a:ln>
        </p:spPr>
      </p:sp>
      <p:sp>
        <p:nvSpPr>
          <p:cNvPr id="56" name="Shape 54"/>
          <p:cNvSpPr/>
          <p:nvPr/>
        </p:nvSpPr>
        <p:spPr>
          <a:xfrm>
            <a:off x="5261915" y="3527298"/>
            <a:ext cx="77724" cy="77724"/>
          </a:xfrm>
          <a:prstGeom prst="hexagon">
            <a:avLst/>
          </a:prstGeom>
          <a:solidFill>
            <a:srgbClr val="3B7DD8"/>
          </a:solidFill>
          <a:ln w="6350">
            <a:solidFill>
              <a:srgbClr val="1F4E8C"/>
            </a:solidFill>
            <a:prstDash val="solid"/>
          </a:ln>
        </p:spPr>
      </p:sp>
      <p:sp>
        <p:nvSpPr>
          <p:cNvPr id="57" name="Shape 55"/>
          <p:cNvSpPr/>
          <p:nvPr/>
        </p:nvSpPr>
        <p:spPr>
          <a:xfrm>
            <a:off x="5355184" y="3527298"/>
            <a:ext cx="77724" cy="77724"/>
          </a:xfrm>
          <a:prstGeom prst="hexagon">
            <a:avLst/>
          </a:prstGeom>
          <a:solidFill>
            <a:srgbClr val="3B7DD8"/>
          </a:solidFill>
          <a:ln w="6350">
            <a:solidFill>
              <a:srgbClr val="1F4E8C"/>
            </a:solidFill>
            <a:prstDash val="solid"/>
          </a:ln>
        </p:spPr>
      </p:sp>
      <p:sp>
        <p:nvSpPr>
          <p:cNvPr id="58" name="Shape 56"/>
          <p:cNvSpPr/>
          <p:nvPr/>
        </p:nvSpPr>
        <p:spPr>
          <a:xfrm>
            <a:off x="5448452" y="3527298"/>
            <a:ext cx="77724" cy="77724"/>
          </a:xfrm>
          <a:prstGeom prst="hexagon">
            <a:avLst/>
          </a:prstGeom>
          <a:solidFill>
            <a:srgbClr val="3B7DD8"/>
          </a:solidFill>
          <a:ln w="6350">
            <a:solidFill>
              <a:srgbClr val="1F4E8C"/>
            </a:solidFill>
            <a:prstDash val="solid"/>
          </a:ln>
        </p:spPr>
      </p:sp>
      <p:sp>
        <p:nvSpPr>
          <p:cNvPr id="59" name="Shape 57"/>
          <p:cNvSpPr/>
          <p:nvPr/>
        </p:nvSpPr>
        <p:spPr>
          <a:xfrm>
            <a:off x="5541721" y="3527298"/>
            <a:ext cx="77724" cy="77724"/>
          </a:xfrm>
          <a:prstGeom prst="hexagon">
            <a:avLst/>
          </a:prstGeom>
          <a:solidFill>
            <a:srgbClr val="3B7DD8"/>
          </a:solidFill>
          <a:ln w="6350">
            <a:solidFill>
              <a:srgbClr val="1F4E8C"/>
            </a:solidFill>
            <a:prstDash val="solid"/>
          </a:ln>
        </p:spPr>
      </p:sp>
      <p:sp>
        <p:nvSpPr>
          <p:cNvPr id="60" name="Shape 58"/>
          <p:cNvSpPr/>
          <p:nvPr/>
        </p:nvSpPr>
        <p:spPr>
          <a:xfrm>
            <a:off x="5634990" y="3527298"/>
            <a:ext cx="77724" cy="77724"/>
          </a:xfrm>
          <a:prstGeom prst="hexagon">
            <a:avLst/>
          </a:prstGeom>
          <a:solidFill>
            <a:srgbClr val="3B7DD8"/>
          </a:solidFill>
          <a:ln w="6350">
            <a:solidFill>
              <a:srgbClr val="1F4E8C"/>
            </a:solidFill>
            <a:prstDash val="solid"/>
          </a:ln>
        </p:spPr>
      </p:sp>
      <p:sp>
        <p:nvSpPr>
          <p:cNvPr id="61" name="Shape 59"/>
          <p:cNvSpPr/>
          <p:nvPr/>
        </p:nvSpPr>
        <p:spPr>
          <a:xfrm>
            <a:off x="5355184" y="3441802"/>
            <a:ext cx="77724" cy="77724"/>
          </a:xfrm>
          <a:prstGeom prst="hexagon">
            <a:avLst/>
          </a:prstGeom>
          <a:solidFill>
            <a:srgbClr val="3B7DD8"/>
          </a:solidFill>
          <a:ln w="6350">
            <a:solidFill>
              <a:srgbClr val="1F4E8C"/>
            </a:solidFill>
            <a:prstDash val="solid"/>
          </a:ln>
        </p:spPr>
      </p:sp>
      <p:sp>
        <p:nvSpPr>
          <p:cNvPr id="62" name="Shape 60"/>
          <p:cNvSpPr/>
          <p:nvPr/>
        </p:nvSpPr>
        <p:spPr>
          <a:xfrm>
            <a:off x="5440680" y="3395167"/>
            <a:ext cx="77724" cy="77724"/>
          </a:xfrm>
          <a:prstGeom prst="hexagon">
            <a:avLst/>
          </a:prstGeom>
          <a:solidFill>
            <a:srgbClr val="3B7DD8"/>
          </a:solidFill>
          <a:ln w="6350">
            <a:solidFill>
              <a:srgbClr val="1F4E8C"/>
            </a:solidFill>
            <a:prstDash val="solid"/>
          </a:ln>
        </p:spPr>
      </p:sp>
      <p:sp>
        <p:nvSpPr>
          <p:cNvPr id="63" name="Shape 61"/>
          <p:cNvSpPr/>
          <p:nvPr/>
        </p:nvSpPr>
        <p:spPr>
          <a:xfrm>
            <a:off x="5526176" y="3348533"/>
            <a:ext cx="77724" cy="77724"/>
          </a:xfrm>
          <a:prstGeom prst="hexagon">
            <a:avLst/>
          </a:prstGeom>
          <a:solidFill>
            <a:srgbClr val="3B7DD8"/>
          </a:solidFill>
          <a:ln w="6350">
            <a:solidFill>
              <a:srgbClr val="1F4E8C"/>
            </a:solidFill>
            <a:prstDash val="solid"/>
          </a:ln>
        </p:spPr>
      </p:sp>
      <p:sp>
        <p:nvSpPr>
          <p:cNvPr id="64" name="Shape 62"/>
          <p:cNvSpPr/>
          <p:nvPr/>
        </p:nvSpPr>
        <p:spPr>
          <a:xfrm>
            <a:off x="5261915" y="3612794"/>
            <a:ext cx="77724" cy="77724"/>
          </a:xfrm>
          <a:prstGeom prst="hexagon">
            <a:avLst/>
          </a:prstGeom>
          <a:solidFill>
            <a:srgbClr val="3B7DD8"/>
          </a:solidFill>
          <a:ln w="6350">
            <a:solidFill>
              <a:srgbClr val="1F4E8C"/>
            </a:solidFill>
            <a:prstDash val="solid"/>
          </a:ln>
        </p:spPr>
      </p:sp>
      <p:sp>
        <p:nvSpPr>
          <p:cNvPr id="65" name="Shape 63"/>
          <p:cNvSpPr/>
          <p:nvPr/>
        </p:nvSpPr>
        <p:spPr>
          <a:xfrm>
            <a:off x="5339639" y="3659429"/>
            <a:ext cx="77724" cy="77724"/>
          </a:xfrm>
          <a:prstGeom prst="hexagon">
            <a:avLst/>
          </a:prstGeom>
          <a:solidFill>
            <a:srgbClr val="3B7DD8"/>
          </a:solidFill>
          <a:ln w="6350">
            <a:solidFill>
              <a:srgbClr val="1F4E8C"/>
            </a:solidFill>
            <a:prstDash val="solid"/>
          </a:ln>
        </p:spPr>
      </p:sp>
      <p:sp>
        <p:nvSpPr>
          <p:cNvPr id="66" name="Shape 64"/>
          <p:cNvSpPr/>
          <p:nvPr/>
        </p:nvSpPr>
        <p:spPr>
          <a:xfrm>
            <a:off x="5417363" y="3706063"/>
            <a:ext cx="77724" cy="77724"/>
          </a:xfrm>
          <a:prstGeom prst="hexagon">
            <a:avLst/>
          </a:prstGeom>
          <a:solidFill>
            <a:srgbClr val="3B7DD8"/>
          </a:solidFill>
          <a:ln w="6350">
            <a:solidFill>
              <a:srgbClr val="1F4E8C"/>
            </a:solidFill>
            <a:prstDash val="solid"/>
          </a:ln>
        </p:spPr>
      </p:sp>
      <p:sp>
        <p:nvSpPr>
          <p:cNvPr id="67" name="Text 65"/>
          <p:cNvSpPr/>
          <p:nvPr/>
        </p:nvSpPr>
        <p:spPr>
          <a:xfrm>
            <a:off x="4526280" y="3858768"/>
            <a:ext cx="1280160" cy="274320"/>
          </a:xfrm>
          <a:prstGeom prst="rect">
            <a:avLst/>
          </a:prstGeom>
          <a:noFill/>
          <a:ln/>
        </p:spPr>
        <p:txBody>
          <a:bodyPr wrap="square" lIns="0" tIns="0" rIns="0" bIns="0" rtlCol="0" anchor="ctr"/>
          <a:lstStyle/>
          <a:p>
            <a:pPr algn="ctr" indent="0" marL="0">
              <a:buNone/>
            </a:pPr>
            <a:r>
              <a:rPr lang="en-US" sz="1000" dirty="0">
                <a:solidFill>
                  <a:srgbClr val="1F4E8C"/>
                </a:solidFill>
                <a:latin typeface="Calibri" pitchFamily="34" charset="0"/>
                <a:ea typeface="Calibri" pitchFamily="34" charset="-122"/>
                <a:cs typeface="Calibri" pitchFamily="34" charset="-120"/>
              </a:rPr>
              <a:t>glucose → </a:t>
            </a:r>
            <a:r>
              <a:rPr lang="en-US" sz="1000" b="1" dirty="0">
                <a:solidFill>
                  <a:srgbClr val="1F4E8C"/>
                </a:solidFill>
                <a:latin typeface="Calibri" pitchFamily="34" charset="0"/>
                <a:ea typeface="Calibri" pitchFamily="34" charset="-122"/>
                <a:cs typeface="Calibri" pitchFamily="34" charset="-120"/>
              </a:rPr>
              <a:t>glycogen</a:t>
            </a:r>
            <a:endParaRPr lang="en-US" sz="1000" dirty="0"/>
          </a:p>
        </p:txBody>
      </p:sp>
      <p:sp>
        <p:nvSpPr>
          <p:cNvPr id="68" name="Shape 66"/>
          <p:cNvSpPr/>
          <p:nvPr/>
        </p:nvSpPr>
        <p:spPr>
          <a:xfrm>
            <a:off x="4686300" y="4206240"/>
            <a:ext cx="91" cy="182880"/>
          </a:xfrm>
          <a:prstGeom prst="line">
            <a:avLst/>
          </a:prstGeom>
          <a:noFill/>
          <a:ln w="22225">
            <a:solidFill>
              <a:srgbClr val="133536"/>
            </a:solidFill>
            <a:prstDash val="solid"/>
            <a:tailEnd type="triangle"/>
          </a:ln>
        </p:spPr>
      </p:sp>
      <p:sp>
        <p:nvSpPr>
          <p:cNvPr id="69" name="Shape 67"/>
          <p:cNvSpPr/>
          <p:nvPr/>
        </p:nvSpPr>
        <p:spPr>
          <a:xfrm>
            <a:off x="3520440" y="4389120"/>
            <a:ext cx="2331720" cy="502920"/>
          </a:xfrm>
          <a:prstGeom prst="roundRect">
            <a:avLst>
              <a:gd name="adj" fmla="val 10909"/>
            </a:avLst>
          </a:prstGeom>
          <a:solidFill>
            <a:srgbClr val="E3F0FB"/>
          </a:solidFill>
          <a:ln w="15875">
            <a:solidFill>
              <a:srgbClr val="3B7DD8"/>
            </a:solidFill>
            <a:prstDash val="solid"/>
          </a:ln>
        </p:spPr>
      </p:sp>
      <p:sp>
        <p:nvSpPr>
          <p:cNvPr id="70" name="Text 68"/>
          <p:cNvSpPr/>
          <p:nvPr/>
        </p:nvSpPr>
        <p:spPr>
          <a:xfrm>
            <a:off x="3575304" y="4389120"/>
            <a:ext cx="2221992" cy="5029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Blood glucose falls</a:t>
            </a:r>
            <a:r>
              <a:rPr lang="en-US" sz="1050" dirty="0">
                <a:solidFill>
                  <a:srgbClr val="262B3A"/>
                </a:solidFill>
                <a:latin typeface="Calibri" pitchFamily="34" charset="0"/>
                <a:ea typeface="Calibri" pitchFamily="34" charset="-122"/>
                <a:cs typeface="Calibri" pitchFamily="34" charset="-120"/>
              </a:rPr>
              <a:t> back to normal</a:t>
            </a:r>
            <a:endParaRPr lang="en-US" sz="1050" dirty="0"/>
          </a:p>
        </p:txBody>
      </p:sp>
      <p:sp>
        <p:nvSpPr>
          <p:cNvPr id="71" name="Shape 69"/>
          <p:cNvSpPr/>
          <p:nvPr/>
        </p:nvSpPr>
        <p:spPr>
          <a:xfrm>
            <a:off x="6217920" y="1188720"/>
            <a:ext cx="5562295" cy="3154680"/>
          </a:xfrm>
          <a:prstGeom prst="roundRect">
            <a:avLst>
              <a:gd name="adj" fmla="val 1739"/>
            </a:avLst>
          </a:prstGeom>
          <a:solidFill>
            <a:srgbClr val="F4FAF9"/>
          </a:solidFill>
          <a:ln w="9525">
            <a:solidFill>
              <a:srgbClr val="CFE0DE"/>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insulin does</a:t>
            </a:r>
            <a:endParaRPr lang="en-US" sz="1300" dirty="0"/>
          </a:p>
        </p:txBody>
      </p:sp>
      <p:sp>
        <p:nvSpPr>
          <p:cNvPr id="73" name="Text 71"/>
          <p:cNvSpPr/>
          <p:nvPr/>
        </p:nvSpPr>
        <p:spPr>
          <a:xfrm>
            <a:off x="6382512" y="1609344"/>
            <a:ext cx="5233111" cy="2660904"/>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The </a:t>
            </a:r>
            <a:r>
              <a:rPr lang="en-US" sz="1250" b="1" dirty="0">
                <a:solidFill>
                  <a:srgbClr val="262B3A"/>
                </a:solidFill>
                <a:latin typeface="Calibri" pitchFamily="34" charset="0"/>
                <a:ea typeface="Calibri" pitchFamily="34" charset="-122"/>
                <a:cs typeface="Calibri" pitchFamily="34" charset="-120"/>
              </a:rPr>
              <a:t>pancreas</a:t>
            </a:r>
            <a:r>
              <a:rPr lang="en-US" sz="1250" dirty="0">
                <a:solidFill>
                  <a:srgbClr val="262B3A"/>
                </a:solidFill>
                <a:latin typeface="Calibri" pitchFamily="34" charset="0"/>
                <a:ea typeface="Calibri" pitchFamily="34" charset="-122"/>
                <a:cs typeface="Calibri" pitchFamily="34" charset="-120"/>
              </a:rPr>
              <a:t> monitors the blood glucose level.</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When it is </a:t>
            </a:r>
            <a:r>
              <a:rPr lang="en-US" sz="1250" b="1" dirty="0">
                <a:solidFill>
                  <a:srgbClr val="262B3A"/>
                </a:solidFill>
                <a:latin typeface="Calibri" pitchFamily="34" charset="0"/>
                <a:ea typeface="Calibri" pitchFamily="34" charset="-122"/>
                <a:cs typeface="Calibri" pitchFamily="34" charset="-120"/>
              </a:rPr>
              <a:t>too high</a:t>
            </a:r>
            <a:r>
              <a:rPr lang="en-US" sz="1250" dirty="0">
                <a:solidFill>
                  <a:srgbClr val="262B3A"/>
                </a:solidFill>
                <a:latin typeface="Calibri" pitchFamily="34" charset="0"/>
                <a:ea typeface="Calibri" pitchFamily="34" charset="-122"/>
                <a:cs typeface="Calibri" pitchFamily="34" charset="-120"/>
              </a:rPr>
              <a:t> the pancreas releases the hormone </a:t>
            </a:r>
            <a:r>
              <a:rPr lang="en-US" sz="1250" b="1" dirty="0">
                <a:solidFill>
                  <a:srgbClr val="262B3A"/>
                </a:solidFill>
                <a:latin typeface="Calibri" pitchFamily="34" charset="0"/>
                <a:ea typeface="Calibri" pitchFamily="34" charset="-122"/>
                <a:cs typeface="Calibri" pitchFamily="34" charset="-120"/>
              </a:rPr>
              <a:t>insulin</a:t>
            </a:r>
            <a:r>
              <a:rPr lang="en-US" sz="1250" dirty="0">
                <a:solidFill>
                  <a:srgbClr val="262B3A"/>
                </a:solidFill>
                <a:latin typeface="Calibri" pitchFamily="34" charset="0"/>
                <a:ea typeface="Calibri" pitchFamily="34" charset="-122"/>
                <a:cs typeface="Calibri" pitchFamily="34" charset="-120"/>
              </a:rPr>
              <a:t> into the blood.</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Insulin makes body cells, especially </a:t>
            </a:r>
            <a:r>
              <a:rPr lang="en-US" sz="1250" b="1" dirty="0">
                <a:solidFill>
                  <a:srgbClr val="262B3A"/>
                </a:solidFill>
                <a:latin typeface="Calibri" pitchFamily="34" charset="0"/>
                <a:ea typeface="Calibri" pitchFamily="34" charset="-122"/>
                <a:cs typeface="Calibri" pitchFamily="34" charset="-120"/>
              </a:rPr>
              <a:t>liver</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muscle</a:t>
            </a:r>
            <a:r>
              <a:rPr lang="en-US" sz="1250" dirty="0">
                <a:solidFill>
                  <a:srgbClr val="262B3A"/>
                </a:solidFill>
                <a:latin typeface="Calibri" pitchFamily="34" charset="0"/>
                <a:ea typeface="Calibri" pitchFamily="34" charset="-122"/>
                <a:cs typeface="Calibri" pitchFamily="34" charset="-120"/>
              </a:rPr>
              <a:t> cells, take up </a:t>
            </a:r>
            <a:r>
              <a:rPr lang="en-US" sz="1250" b="1" dirty="0">
                <a:solidFill>
                  <a:srgbClr val="262B3A"/>
                </a:solidFill>
                <a:latin typeface="Calibri" pitchFamily="34" charset="0"/>
                <a:ea typeface="Calibri" pitchFamily="34" charset="-122"/>
                <a:cs typeface="Calibri" pitchFamily="34" charset="-120"/>
              </a:rPr>
              <a:t>glucose</a:t>
            </a:r>
            <a:r>
              <a:rPr lang="en-US" sz="1250" dirty="0">
                <a:solidFill>
                  <a:srgbClr val="262B3A"/>
                </a:solidFill>
                <a:latin typeface="Calibri" pitchFamily="34" charset="0"/>
                <a:ea typeface="Calibri" pitchFamily="34" charset="-122"/>
                <a:cs typeface="Calibri" pitchFamily="34" charset="-120"/>
              </a:rPr>
              <a:t> from the blood.</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Liver and muscle cells convert glucose to </a:t>
            </a:r>
            <a:r>
              <a:rPr lang="en-US" sz="1250" b="1" dirty="0">
                <a:solidFill>
                  <a:srgbClr val="262B3A"/>
                </a:solidFill>
                <a:latin typeface="Calibri" pitchFamily="34" charset="0"/>
                <a:ea typeface="Calibri" pitchFamily="34" charset="-122"/>
                <a:cs typeface="Calibri" pitchFamily="34" charset="-120"/>
              </a:rPr>
              <a:t>glycogen</a:t>
            </a:r>
            <a:r>
              <a:rPr lang="en-US" sz="1250" dirty="0">
                <a:solidFill>
                  <a:srgbClr val="262B3A"/>
                </a:solidFill>
                <a:latin typeface="Calibri" pitchFamily="34" charset="0"/>
                <a:ea typeface="Calibri" pitchFamily="34" charset="-122"/>
                <a:cs typeface="Calibri" pitchFamily="34" charset="-120"/>
              </a:rPr>
              <a:t> (insoluble) and </a:t>
            </a:r>
            <a:r>
              <a:rPr lang="en-US" sz="1250" b="1" dirty="0">
                <a:solidFill>
                  <a:srgbClr val="262B3A"/>
                </a:solidFill>
                <a:latin typeface="Calibri" pitchFamily="34" charset="0"/>
                <a:ea typeface="Calibri" pitchFamily="34" charset="-122"/>
                <a:cs typeface="Calibri" pitchFamily="34" charset="-120"/>
              </a:rPr>
              <a:t>store</a:t>
            </a:r>
            <a:r>
              <a:rPr lang="en-US" sz="1250" dirty="0">
                <a:solidFill>
                  <a:srgbClr val="262B3A"/>
                </a:solidFill>
                <a:latin typeface="Calibri" pitchFamily="34" charset="0"/>
                <a:ea typeface="Calibri" pitchFamily="34" charset="-122"/>
                <a:cs typeface="Calibri" pitchFamily="34" charset="-120"/>
              </a:rPr>
              <a:t> it.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So the blood glucose level </a:t>
            </a:r>
            <a:r>
              <a:rPr lang="en-US" sz="1250" b="1" dirty="0">
                <a:solidFill>
                  <a:srgbClr val="262B3A"/>
                </a:solidFill>
                <a:latin typeface="Calibri" pitchFamily="34" charset="0"/>
                <a:ea typeface="Calibri" pitchFamily="34" charset="-122"/>
                <a:cs typeface="Calibri" pitchFamily="34" charset="-120"/>
              </a:rPr>
              <a:t>falls</a:t>
            </a:r>
            <a:r>
              <a:rPr lang="en-US" sz="1250" dirty="0">
                <a:solidFill>
                  <a:srgbClr val="262B3A"/>
                </a:solidFill>
                <a:latin typeface="Calibri" pitchFamily="34" charset="0"/>
                <a:ea typeface="Calibri" pitchFamily="34" charset="-122"/>
                <a:cs typeface="Calibri" pitchFamily="34" charset="-120"/>
              </a:rPr>
              <a:t> back to normal.</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Insulin acts only on </a:t>
            </a:r>
            <a:r>
              <a:rPr lang="en-US" sz="1250" b="1" dirty="0">
                <a:solidFill>
                  <a:srgbClr val="262B3A"/>
                </a:solidFill>
                <a:latin typeface="Calibri" pitchFamily="34" charset="0"/>
                <a:ea typeface="Calibri" pitchFamily="34" charset="-122"/>
                <a:cs typeface="Calibri" pitchFamily="34" charset="-120"/>
              </a:rPr>
              <a:t>target cells</a:t>
            </a:r>
            <a:r>
              <a:rPr lang="en-US" sz="1250" dirty="0">
                <a:solidFill>
                  <a:srgbClr val="262B3A"/>
                </a:solidFill>
                <a:latin typeface="Calibri" pitchFamily="34" charset="0"/>
                <a:ea typeface="Calibri" pitchFamily="34" charset="-122"/>
                <a:cs typeface="Calibri" pitchFamily="34" charset="-120"/>
              </a:rPr>
              <a:t> that have </a:t>
            </a:r>
            <a:r>
              <a:rPr lang="en-US" sz="1250" b="1" dirty="0">
                <a:solidFill>
                  <a:srgbClr val="262B3A"/>
                </a:solidFill>
                <a:latin typeface="Calibri" pitchFamily="34" charset="0"/>
                <a:ea typeface="Calibri" pitchFamily="34" charset="-122"/>
                <a:cs typeface="Calibri" pitchFamily="34" charset="-120"/>
              </a:rPr>
              <a:t>insulin receptors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74" name="Shape 72"/>
          <p:cNvSpPr/>
          <p:nvPr/>
        </p:nvSpPr>
        <p:spPr>
          <a:xfrm>
            <a:off x="6217920" y="4480560"/>
            <a:ext cx="5562295" cy="1234440"/>
          </a:xfrm>
          <a:prstGeom prst="roundRect">
            <a:avLst>
              <a:gd name="adj" fmla="val 4444"/>
            </a:avLst>
          </a:prstGeom>
          <a:solidFill>
            <a:srgbClr val="FFF4E0"/>
          </a:solidFill>
          <a:ln w="9525">
            <a:solidFill>
              <a:srgbClr val="F1D9A8"/>
            </a:solidFill>
            <a:prstDash val="solid"/>
          </a:ln>
        </p:spPr>
      </p:sp>
      <p:sp>
        <p:nvSpPr>
          <p:cNvPr id="75" name="Text 73"/>
          <p:cNvSpPr/>
          <p:nvPr/>
        </p:nvSpPr>
        <p:spPr>
          <a:xfrm>
            <a:off x="6382512" y="45537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big is the store?</a:t>
            </a:r>
            <a:endParaRPr lang="en-US" sz="1300" dirty="0"/>
          </a:p>
        </p:txBody>
      </p:sp>
      <p:sp>
        <p:nvSpPr>
          <p:cNvPr id="76" name="Text 74"/>
          <p:cNvSpPr/>
          <p:nvPr/>
        </p:nvSpPr>
        <p:spPr>
          <a:xfrm>
            <a:off x="6382512" y="4864608"/>
            <a:ext cx="5233111" cy="7772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liver stores about 100 g of glycogen. The blood holds about 4.5 g of glucose.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100 ÷ 4.5 = 22.2…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the liver store is about </a:t>
            </a:r>
            <a:r>
              <a:rPr lang="en-US" sz="1050" b="1" dirty="0">
                <a:solidFill>
                  <a:srgbClr val="C8414C"/>
                </a:solidFill>
                <a:latin typeface="Calibri" pitchFamily="34" charset="0"/>
                <a:ea typeface="Calibri" pitchFamily="34" charset="-122"/>
                <a:cs typeface="Calibri" pitchFamily="34" charset="-120"/>
              </a:rPr>
              <a:t>22 times</a:t>
            </a:r>
            <a:r>
              <a:rPr lang="en-US" sz="1050" b="1" dirty="0">
                <a:solidFill>
                  <a:srgbClr val="C8414C"/>
                </a:solidFill>
                <a:latin typeface="Calibri" pitchFamily="34" charset="0"/>
                <a:ea typeface="Calibri" pitchFamily="34" charset="-122"/>
                <a:cs typeface="Calibri" pitchFamily="34" charset="-120"/>
              </a:rPr>
              <a:t> the glucose in the blood</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gland</a:t>
            </a:r>
            <a:r>
              <a:rPr lang="en-US" sz="1150" dirty="0">
                <a:solidFill>
                  <a:srgbClr val="262B3A"/>
                </a:solidFill>
                <a:latin typeface="Calibri" pitchFamily="34" charset="0"/>
                <a:ea typeface="Calibri" pitchFamily="34" charset="-122"/>
                <a:cs typeface="Calibri" pitchFamily="34" charset="-120"/>
              </a:rPr>
              <a:t> that makes insulin, and the </a:t>
            </a:r>
            <a:r>
              <a:rPr lang="en-US" sz="1150" b="1" dirty="0">
                <a:solidFill>
                  <a:srgbClr val="262B3A"/>
                </a:solidFill>
                <a:latin typeface="Calibri" pitchFamily="34" charset="0"/>
                <a:ea typeface="Calibri" pitchFamily="34" charset="-122"/>
                <a:cs typeface="Calibri" pitchFamily="34" charset="-120"/>
              </a:rPr>
              <a:t>storage</a:t>
            </a:r>
            <a:r>
              <a:rPr lang="en-US" sz="1150" dirty="0">
                <a:solidFill>
                  <a:srgbClr val="262B3A"/>
                </a:solidFill>
                <a:latin typeface="Calibri" pitchFamily="34" charset="0"/>
                <a:ea typeface="Calibri" pitchFamily="34" charset="-122"/>
                <a:cs typeface="Calibri" pitchFamily="34" charset="-120"/>
              </a:rPr>
              <a:t> substance made in the liver. Why does blood glucose fall after insulin is released?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 • why control blood glucose; insulin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the body must keep the blood glucose level within a narrow range.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organ that releases </a:t>
            </a:r>
            <a:r>
              <a:rPr lang="en-US" sz="1250" b="1" dirty="0">
                <a:solidFill>
                  <a:srgbClr val="262B3A"/>
                </a:solidFill>
                <a:latin typeface="Calibri" pitchFamily="34" charset="0"/>
                <a:ea typeface="Calibri" pitchFamily="34" charset="-122"/>
                <a:cs typeface="Calibri" pitchFamily="34" charset="-120"/>
              </a:rPr>
              <a:t>insulin</a:t>
            </a:r>
            <a:r>
              <a:rPr lang="en-US" sz="1250" dirty="0">
                <a:solidFill>
                  <a:srgbClr val="262B3A"/>
                </a:solidFill>
                <a:latin typeface="Calibri" pitchFamily="34" charset="0"/>
                <a:ea typeface="Calibri" pitchFamily="34" charset="-122"/>
                <a:cs typeface="Calibri" pitchFamily="34" charset="-120"/>
              </a:rPr>
              <a:t>, and describe how insulin travels to its target cells.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insulin makes the blood glucose level </a:t>
            </a:r>
            <a:r>
              <a:rPr lang="en-US" sz="1250" b="1" dirty="0">
                <a:solidFill>
                  <a:srgbClr val="262B3A"/>
                </a:solidFill>
                <a:latin typeface="Calibri" pitchFamily="34" charset="0"/>
                <a:ea typeface="Calibri" pitchFamily="34" charset="-122"/>
                <a:cs typeface="Calibri" pitchFamily="34" charset="-120"/>
              </a:rPr>
              <a:t>fall</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person has </a:t>
            </a:r>
            <a:r>
              <a:rPr lang="en-US" sz="1250" b="1" dirty="0">
                <a:solidFill>
                  <a:srgbClr val="262B3A"/>
                </a:solidFill>
                <a:latin typeface="Calibri" pitchFamily="34" charset="0"/>
                <a:ea typeface="Calibri" pitchFamily="34" charset="-122"/>
                <a:cs typeface="Calibri" pitchFamily="34" charset="-120"/>
              </a:rPr>
              <a:t>5 L</a:t>
            </a:r>
            <a:r>
              <a:rPr lang="en-US" sz="1250" dirty="0">
                <a:solidFill>
                  <a:srgbClr val="262B3A"/>
                </a:solidFill>
                <a:latin typeface="Calibri" pitchFamily="34" charset="0"/>
                <a:ea typeface="Calibri" pitchFamily="34" charset="-122"/>
                <a:cs typeface="Calibri" pitchFamily="34" charset="-120"/>
              </a:rPr>
              <a:t> of blood at </a:t>
            </a:r>
            <a:r>
              <a:rPr lang="en-US" sz="1250" b="1" dirty="0">
                <a:solidFill>
                  <a:srgbClr val="262B3A"/>
                </a:solidFill>
                <a:latin typeface="Calibri" pitchFamily="34" charset="0"/>
                <a:ea typeface="Calibri" pitchFamily="34" charset="-122"/>
                <a:cs typeface="Calibri" pitchFamily="34" charset="-120"/>
              </a:rPr>
              <a:t>6 mmol/L</a:t>
            </a:r>
            <a:r>
              <a:rPr lang="en-US" sz="1250" dirty="0">
                <a:solidFill>
                  <a:srgbClr val="262B3A"/>
                </a:solidFill>
                <a:latin typeface="Calibri" pitchFamily="34" charset="0"/>
                <a:ea typeface="Calibri" pitchFamily="34" charset="-122"/>
                <a:cs typeface="Calibri" pitchFamily="34" charset="-120"/>
              </a:rPr>
              <a:t> glucose. 1 mmol = 0.18 g. Calculate the mass of glucose in their blood.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Blood glucose and negative feedback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 • recap of B5.3: a change switches on a response that reverses it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insulin feedback loop</a:t>
            </a:r>
            <a:endParaRPr lang="en-US" sz="1000" dirty="0"/>
          </a:p>
        </p:txBody>
      </p:sp>
      <p:sp>
        <p:nvSpPr>
          <p:cNvPr id="10" name="Shape 8"/>
          <p:cNvSpPr/>
          <p:nvPr/>
        </p:nvSpPr>
        <p:spPr>
          <a:xfrm>
            <a:off x="2286000" y="2834640"/>
            <a:ext cx="1828800" cy="914400"/>
          </a:xfrm>
          <a:prstGeom prst="ellipse">
            <a:avLst/>
          </a:prstGeom>
          <a:solidFill>
            <a:srgbClr val="D8F0E2"/>
          </a:solidFill>
          <a:ln w="19050">
            <a:solidFill>
              <a:srgbClr val="2E8B57"/>
            </a:solidFill>
            <a:prstDash val="solid"/>
          </a:ln>
        </p:spPr>
      </p:sp>
      <p:sp>
        <p:nvSpPr>
          <p:cNvPr id="11" name="Text 9"/>
          <p:cNvSpPr/>
          <p:nvPr/>
        </p:nvSpPr>
        <p:spPr>
          <a:xfrm>
            <a:off x="2286000" y="2834640"/>
            <a:ext cx="1828800" cy="914400"/>
          </a:xfrm>
          <a:prstGeom prst="rect">
            <a:avLst/>
          </a:prstGeom>
          <a:noFill/>
          <a:ln/>
        </p:spPr>
        <p:txBody>
          <a:bodyPr wrap="square" lIns="0" tIns="0" rIns="0" bIns="0" rtlCol="0" anchor="ctr"/>
          <a:lstStyle/>
          <a:p>
            <a:pPr algn="ctr" indent="0" marL="0">
              <a:buNone/>
            </a:pPr>
            <a:r>
              <a:rPr lang="en-US" sz="1100" b="1" dirty="0">
                <a:solidFill>
                  <a:srgbClr val="1E6B40"/>
                </a:solidFill>
                <a:latin typeface="Calibri" pitchFamily="34" charset="0"/>
                <a:ea typeface="Calibri" pitchFamily="34" charset="-122"/>
                <a:cs typeface="Calibri" pitchFamily="34" charset="-120"/>
              </a:rPr>
              <a:t>Normal</a:t>
            </a:r>
            <a:r>
              <a:rPr lang="en-US" sz="1100" dirty="0">
                <a:solidFill>
                  <a:srgbClr val="1E6B40"/>
                </a:solidFill>
                <a:latin typeface="Calibri" pitchFamily="34" charset="0"/>
                <a:ea typeface="Calibri" pitchFamily="34" charset="-122"/>
                <a:cs typeface="Calibri" pitchFamily="34" charset="-120"/>
              </a:rPr>
              <a:t> blood glucose</a:t>
            </a:r>
            <a:endParaRPr lang="en-US" sz="1100" dirty="0"/>
          </a:p>
          <a:p>
            <a:pPr algn="ctr" indent="0" marL="0">
              <a:buNone/>
            </a:pPr>
            <a:r>
              <a:rPr lang="en-US" sz="1100" dirty="0">
                <a:solidFill>
                  <a:srgbClr val="1E6B40"/>
                </a:solidFill>
                <a:latin typeface="Calibri" pitchFamily="34" charset="0"/>
                <a:ea typeface="Calibri" pitchFamily="34" charset="-122"/>
                <a:cs typeface="Calibri" pitchFamily="34" charset="-120"/>
              </a:rPr>
              <a:t>4–7 mmol/L</a:t>
            </a:r>
            <a:endParaRPr lang="en-US" sz="1100" dirty="0"/>
          </a:p>
        </p:txBody>
      </p:sp>
      <p:sp>
        <p:nvSpPr>
          <p:cNvPr id="12" name="Shape 10"/>
          <p:cNvSpPr/>
          <p:nvPr/>
        </p:nvSpPr>
        <p:spPr>
          <a:xfrm>
            <a:off x="685800" y="1371600"/>
            <a:ext cx="2103120" cy="685800"/>
          </a:xfrm>
          <a:prstGeom prst="roundRect">
            <a:avLst>
              <a:gd name="adj" fmla="val 8000"/>
            </a:avLst>
          </a:prstGeom>
          <a:solidFill>
            <a:srgbClr val="FBE3E4"/>
          </a:solidFill>
          <a:ln w="15875">
            <a:solidFill>
              <a:srgbClr val="C8414C"/>
            </a:solidFill>
            <a:prstDash val="solid"/>
          </a:ln>
        </p:spPr>
      </p:sp>
      <p:sp>
        <p:nvSpPr>
          <p:cNvPr id="13" name="Text 11"/>
          <p:cNvSpPr/>
          <p:nvPr/>
        </p:nvSpPr>
        <p:spPr>
          <a:xfrm>
            <a:off x="740664" y="1371600"/>
            <a:ext cx="199339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 Change</a:t>
            </a:r>
            <a:r>
              <a:rPr lang="en-US" sz="1050" dirty="0">
                <a:solidFill>
                  <a:srgbClr val="262B3A"/>
                </a:solidFill>
                <a:latin typeface="Calibri" pitchFamily="34" charset="0"/>
                <a:ea typeface="Calibri" pitchFamily="34" charset="-122"/>
                <a:cs typeface="Calibri" pitchFamily="34" charset="-120"/>
              </a:rPr>
              <a:t>: a meal makes blood glucose </a:t>
            </a:r>
            <a:r>
              <a:rPr lang="en-US" sz="1050" b="1" dirty="0">
                <a:solidFill>
                  <a:srgbClr val="262B3A"/>
                </a:solidFill>
                <a:latin typeface="Calibri" pitchFamily="34" charset="0"/>
                <a:ea typeface="Calibri" pitchFamily="34" charset="-122"/>
                <a:cs typeface="Calibri" pitchFamily="34" charset="-120"/>
              </a:rPr>
              <a:t>rise</a:t>
            </a:r>
            <a:endParaRPr lang="en-US" sz="1050" dirty="0"/>
          </a:p>
        </p:txBody>
      </p:sp>
      <p:sp>
        <p:nvSpPr>
          <p:cNvPr id="14" name="Shape 12"/>
          <p:cNvSpPr/>
          <p:nvPr/>
        </p:nvSpPr>
        <p:spPr>
          <a:xfrm>
            <a:off x="3611880" y="1371600"/>
            <a:ext cx="2194560" cy="685800"/>
          </a:xfrm>
          <a:prstGeom prst="roundRect">
            <a:avLst>
              <a:gd name="adj" fmla="val 8000"/>
            </a:avLst>
          </a:prstGeom>
          <a:solidFill>
            <a:srgbClr val="FBF0D0"/>
          </a:solidFill>
          <a:ln w="15875">
            <a:solidFill>
              <a:srgbClr val="8A6A0A"/>
            </a:solidFill>
            <a:prstDash val="solid"/>
          </a:ln>
        </p:spPr>
      </p:sp>
      <p:sp>
        <p:nvSpPr>
          <p:cNvPr id="15" name="Text 13"/>
          <p:cNvSpPr/>
          <p:nvPr/>
        </p:nvSpPr>
        <p:spPr>
          <a:xfrm>
            <a:off x="3666744" y="1371600"/>
            <a:ext cx="208483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2 Receptor and gland</a:t>
            </a:r>
            <a:r>
              <a:rPr lang="en-US" sz="1050" dirty="0">
                <a:solidFill>
                  <a:srgbClr val="262B3A"/>
                </a:solidFill>
                <a:latin typeface="Calibri" pitchFamily="34" charset="0"/>
                <a:ea typeface="Calibri" pitchFamily="34" charset="-122"/>
                <a:cs typeface="Calibri" pitchFamily="34" charset="-120"/>
              </a:rPr>
              <a:t>: pancreas detects it, releases </a:t>
            </a:r>
            <a:r>
              <a:rPr lang="en-US" sz="1050" b="1" dirty="0">
                <a:solidFill>
                  <a:srgbClr val="262B3A"/>
                </a:solidFill>
                <a:latin typeface="Calibri" pitchFamily="34" charset="0"/>
                <a:ea typeface="Calibri" pitchFamily="34" charset="-122"/>
                <a:cs typeface="Calibri" pitchFamily="34" charset="-120"/>
              </a:rPr>
              <a:t>insulin</a:t>
            </a:r>
            <a:endParaRPr lang="en-US" sz="1050" dirty="0"/>
          </a:p>
        </p:txBody>
      </p:sp>
      <p:sp>
        <p:nvSpPr>
          <p:cNvPr id="16" name="Shape 14"/>
          <p:cNvSpPr/>
          <p:nvPr/>
        </p:nvSpPr>
        <p:spPr>
          <a:xfrm>
            <a:off x="3611880" y="4526280"/>
            <a:ext cx="2194560" cy="685800"/>
          </a:xfrm>
          <a:prstGeom prst="roundRect">
            <a:avLst>
              <a:gd name="adj" fmla="val 8000"/>
            </a:avLst>
          </a:prstGeom>
          <a:solidFill>
            <a:srgbClr val="F3E3DA"/>
          </a:solidFill>
          <a:ln w="15875">
            <a:solidFill>
              <a:srgbClr val="6B3318"/>
            </a:solidFill>
            <a:prstDash val="solid"/>
          </a:ln>
        </p:spPr>
      </p:sp>
      <p:sp>
        <p:nvSpPr>
          <p:cNvPr id="17" name="Text 15"/>
          <p:cNvSpPr/>
          <p:nvPr/>
        </p:nvSpPr>
        <p:spPr>
          <a:xfrm>
            <a:off x="3666744" y="4526280"/>
            <a:ext cx="208483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3 Effectors</a:t>
            </a:r>
            <a:r>
              <a:rPr lang="en-US" sz="1050" dirty="0">
                <a:solidFill>
                  <a:srgbClr val="262B3A"/>
                </a:solidFill>
                <a:latin typeface="Calibri" pitchFamily="34" charset="0"/>
                <a:ea typeface="Calibri" pitchFamily="34" charset="-122"/>
                <a:cs typeface="Calibri" pitchFamily="34" charset="-120"/>
              </a:rPr>
              <a:t>: liver and muscle cells take up glucose</a:t>
            </a:r>
            <a:endParaRPr lang="en-US" sz="1050" dirty="0"/>
          </a:p>
        </p:txBody>
      </p:sp>
      <p:sp>
        <p:nvSpPr>
          <p:cNvPr id="18" name="Shape 16"/>
          <p:cNvSpPr/>
          <p:nvPr/>
        </p:nvSpPr>
        <p:spPr>
          <a:xfrm>
            <a:off x="685800" y="4526280"/>
            <a:ext cx="2103120" cy="685800"/>
          </a:xfrm>
          <a:prstGeom prst="roundRect">
            <a:avLst>
              <a:gd name="adj" fmla="val 8000"/>
            </a:avLst>
          </a:prstGeom>
          <a:solidFill>
            <a:srgbClr val="E3F0FB"/>
          </a:solidFill>
          <a:ln w="15875">
            <a:solidFill>
              <a:srgbClr val="3B7DD8"/>
            </a:solidFill>
            <a:prstDash val="solid"/>
          </a:ln>
        </p:spPr>
      </p:sp>
      <p:sp>
        <p:nvSpPr>
          <p:cNvPr id="19" name="Text 17"/>
          <p:cNvSpPr/>
          <p:nvPr/>
        </p:nvSpPr>
        <p:spPr>
          <a:xfrm>
            <a:off x="740664" y="4526280"/>
            <a:ext cx="199339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4 Response</a:t>
            </a:r>
            <a:r>
              <a:rPr lang="en-US" sz="1050" dirty="0">
                <a:solidFill>
                  <a:srgbClr val="262B3A"/>
                </a:solidFill>
                <a:latin typeface="Calibri" pitchFamily="34" charset="0"/>
                <a:ea typeface="Calibri" pitchFamily="34" charset="-122"/>
                <a:cs typeface="Calibri" pitchFamily="34" charset="-120"/>
              </a:rPr>
              <a:t>: blood glucose </a:t>
            </a:r>
            <a:r>
              <a:rPr lang="en-US" sz="1050" b="1" dirty="0">
                <a:solidFill>
                  <a:srgbClr val="262B3A"/>
                </a:solidFill>
                <a:latin typeface="Calibri" pitchFamily="34" charset="0"/>
                <a:ea typeface="Calibri" pitchFamily="34" charset="-122"/>
                <a:cs typeface="Calibri" pitchFamily="34" charset="-120"/>
              </a:rPr>
              <a:t>falls</a:t>
            </a:r>
            <a:r>
              <a:rPr lang="en-US" sz="1050" dirty="0">
                <a:solidFill>
                  <a:srgbClr val="262B3A"/>
                </a:solidFill>
                <a:latin typeface="Calibri" pitchFamily="34" charset="0"/>
                <a:ea typeface="Calibri" pitchFamily="34" charset="-122"/>
                <a:cs typeface="Calibri" pitchFamily="34" charset="-120"/>
              </a:rPr>
              <a:t> to normal</a:t>
            </a:r>
            <a:endParaRPr lang="en-US" sz="1050" dirty="0"/>
          </a:p>
        </p:txBody>
      </p:sp>
      <p:sp>
        <p:nvSpPr>
          <p:cNvPr id="20" name="Shape 18"/>
          <p:cNvSpPr/>
          <p:nvPr/>
        </p:nvSpPr>
        <p:spPr>
          <a:xfrm>
            <a:off x="2807208" y="1709928"/>
            <a:ext cx="786384" cy="91"/>
          </a:xfrm>
          <a:prstGeom prst="line">
            <a:avLst/>
          </a:prstGeom>
          <a:noFill/>
          <a:ln w="25400">
            <a:solidFill>
              <a:srgbClr val="133536"/>
            </a:solidFill>
            <a:prstDash val="solid"/>
            <a:tailEnd type="triangle"/>
          </a:ln>
        </p:spPr>
      </p:sp>
      <p:sp>
        <p:nvSpPr>
          <p:cNvPr id="21" name="Shape 19"/>
          <p:cNvSpPr/>
          <p:nvPr/>
        </p:nvSpPr>
        <p:spPr>
          <a:xfrm>
            <a:off x="4709160" y="2075688"/>
            <a:ext cx="91" cy="2432304"/>
          </a:xfrm>
          <a:prstGeom prst="line">
            <a:avLst/>
          </a:prstGeom>
          <a:noFill/>
          <a:ln w="25400">
            <a:solidFill>
              <a:srgbClr val="133536"/>
            </a:solidFill>
            <a:prstDash val="solid"/>
            <a:tailEnd type="triangle"/>
          </a:ln>
        </p:spPr>
      </p:sp>
      <p:sp>
        <p:nvSpPr>
          <p:cNvPr id="22" name="Shape 20"/>
          <p:cNvSpPr/>
          <p:nvPr/>
        </p:nvSpPr>
        <p:spPr>
          <a:xfrm flipH="1">
            <a:off x="2807208" y="4864608"/>
            <a:ext cx="786384" cy="91"/>
          </a:xfrm>
          <a:prstGeom prst="line">
            <a:avLst/>
          </a:prstGeom>
          <a:noFill/>
          <a:ln w="25400">
            <a:solidFill>
              <a:srgbClr val="133536"/>
            </a:solidFill>
            <a:prstDash val="solid"/>
            <a:tailEnd type="triangle"/>
          </a:ln>
        </p:spPr>
      </p:sp>
      <p:sp>
        <p:nvSpPr>
          <p:cNvPr id="23" name="Shape 21"/>
          <p:cNvSpPr/>
          <p:nvPr/>
        </p:nvSpPr>
        <p:spPr>
          <a:xfrm flipV="1">
            <a:off x="1737360" y="2075688"/>
            <a:ext cx="91" cy="2432304"/>
          </a:xfrm>
          <a:prstGeom prst="line">
            <a:avLst/>
          </a:prstGeom>
          <a:noFill/>
          <a:ln w="25400">
            <a:solidFill>
              <a:srgbClr val="C8414C"/>
            </a:solidFill>
            <a:prstDash val="dash"/>
            <a:tailEnd type="triangle"/>
          </a:ln>
        </p:spPr>
      </p:sp>
      <p:sp>
        <p:nvSpPr>
          <p:cNvPr id="24" name="Text 22"/>
          <p:cNvSpPr/>
          <p:nvPr/>
        </p:nvSpPr>
        <p:spPr>
          <a:xfrm>
            <a:off x="502920" y="2834640"/>
            <a:ext cx="1143000" cy="685800"/>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insulin release </a:t>
            </a:r>
            <a:r>
              <a:rPr lang="en-US" sz="1000" b="1" dirty="0">
                <a:solidFill>
                  <a:srgbClr val="C8414C"/>
                </a:solidFill>
                <a:latin typeface="Calibri" pitchFamily="34" charset="0"/>
                <a:ea typeface="Calibri" pitchFamily="34" charset="-122"/>
                <a:cs typeface="Calibri" pitchFamily="34" charset="-120"/>
              </a:rPr>
              <a:t>stops</a:t>
            </a:r>
            <a:r>
              <a:rPr lang="en-US" sz="1000" dirty="0">
                <a:solidFill>
                  <a:srgbClr val="C8414C"/>
                </a:solidFill>
                <a:latin typeface="Calibri" pitchFamily="34" charset="0"/>
                <a:ea typeface="Calibri" pitchFamily="34" charset="-122"/>
                <a:cs typeface="Calibri" pitchFamily="34" charset="-120"/>
              </a:rPr>
              <a:t>: feedback</a:t>
            </a:r>
            <a:endParaRPr lang="en-US" sz="1000" dirty="0"/>
          </a:p>
        </p:txBody>
      </p:sp>
      <p:sp>
        <p:nvSpPr>
          <p:cNvPr id="25" name="Shape 23"/>
          <p:cNvSpPr/>
          <p:nvPr/>
        </p:nvSpPr>
        <p:spPr>
          <a:xfrm>
            <a:off x="4855464" y="2752344"/>
            <a:ext cx="164592" cy="148133"/>
          </a:xfrm>
          <a:prstGeom prst="triangle">
            <a:avLst/>
          </a:prstGeom>
          <a:solidFill>
            <a:srgbClr val="E08A1E"/>
          </a:solidFill>
          <a:ln w="9525">
            <a:solidFill>
              <a:srgbClr val="9A5A0A"/>
            </a:solidFill>
            <a:prstDash val="solid"/>
          </a:ln>
        </p:spPr>
      </p:sp>
      <p:sp>
        <p:nvSpPr>
          <p:cNvPr id="26" name="Shape 24"/>
          <p:cNvSpPr/>
          <p:nvPr/>
        </p:nvSpPr>
        <p:spPr>
          <a:xfrm>
            <a:off x="5038344" y="2980944"/>
            <a:ext cx="164592" cy="148133"/>
          </a:xfrm>
          <a:prstGeom prst="triangle">
            <a:avLst/>
          </a:prstGeom>
          <a:solidFill>
            <a:srgbClr val="E08A1E"/>
          </a:solidFill>
          <a:ln w="9525">
            <a:solidFill>
              <a:srgbClr val="9A5A0A"/>
            </a:solidFill>
            <a:prstDash val="solid"/>
          </a:ln>
        </p:spPr>
      </p:sp>
      <p:sp>
        <p:nvSpPr>
          <p:cNvPr id="27" name="Shape 25"/>
          <p:cNvSpPr/>
          <p:nvPr/>
        </p:nvSpPr>
        <p:spPr>
          <a:xfrm>
            <a:off x="4855464" y="3209544"/>
            <a:ext cx="164592" cy="148133"/>
          </a:xfrm>
          <a:prstGeom prst="triangle">
            <a:avLst/>
          </a:prstGeom>
          <a:solidFill>
            <a:srgbClr val="E08A1E"/>
          </a:solidFill>
          <a:ln w="9525">
            <a:solidFill>
              <a:srgbClr val="9A5A0A"/>
            </a:solidFill>
            <a:prstDash val="solid"/>
          </a:ln>
        </p:spPr>
      </p:sp>
      <p:sp>
        <p:nvSpPr>
          <p:cNvPr id="28" name="Text 26"/>
          <p:cNvSpPr/>
          <p:nvPr/>
        </p:nvSpPr>
        <p:spPr>
          <a:xfrm>
            <a:off x="4800600" y="3474720"/>
            <a:ext cx="1097280" cy="365760"/>
          </a:xfrm>
          <a:prstGeom prst="rect">
            <a:avLst/>
          </a:prstGeom>
          <a:noFill/>
          <a:ln/>
        </p:spPr>
        <p:txBody>
          <a:bodyPr wrap="square" lIns="0" tIns="0" rIns="0" bIns="0" rtlCol="0" anchor="t"/>
          <a:lstStyle/>
          <a:p>
            <a:pPr algn="ctr" indent="0" marL="0">
              <a:buNone/>
            </a:pPr>
            <a:r>
              <a:rPr lang="en-US" sz="1000" b="1" dirty="0">
                <a:solidFill>
                  <a:srgbClr val="E08A1E"/>
                </a:solidFill>
                <a:latin typeface="Calibri" pitchFamily="34" charset="0"/>
                <a:ea typeface="Calibri" pitchFamily="34" charset="-122"/>
                <a:cs typeface="Calibri" pitchFamily="34" charset="-120"/>
              </a:rPr>
              <a:t>insulin in blood</a:t>
            </a:r>
            <a:endParaRPr lang="en-US" sz="1000" dirty="0"/>
          </a:p>
        </p:txBody>
      </p:sp>
      <p:sp>
        <p:nvSpPr>
          <p:cNvPr id="29" name="Shape 27"/>
          <p:cNvSpPr/>
          <p:nvPr/>
        </p:nvSpPr>
        <p:spPr>
          <a:xfrm>
            <a:off x="6217920" y="1188720"/>
            <a:ext cx="5559552" cy="2697480"/>
          </a:xfrm>
          <a:prstGeom prst="roundRect">
            <a:avLst>
              <a:gd name="adj" fmla="val 2034"/>
            </a:avLst>
          </a:prstGeom>
          <a:solidFill>
            <a:srgbClr val="F4FAF9"/>
          </a:solidFill>
          <a:ln w="9525">
            <a:solidFill>
              <a:srgbClr val="CFE0DE"/>
            </a:solidFill>
            <a:prstDash val="solid"/>
          </a:ln>
        </p:spPr>
      </p:sp>
      <p:sp>
        <p:nvSpPr>
          <p:cNvPr id="30" name="Text 28"/>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A control system (B5.4) using a hormone</a:t>
            </a:r>
            <a:endParaRPr lang="en-US" sz="1300" dirty="0"/>
          </a:p>
        </p:txBody>
      </p:sp>
      <p:sp>
        <p:nvSpPr>
          <p:cNvPr id="31" name="Text 29"/>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change</a:t>
            </a:r>
            <a:r>
              <a:rPr lang="en-US" sz="1100" dirty="0">
                <a:solidFill>
                  <a:srgbClr val="262B3A"/>
                </a:solidFill>
                <a:latin typeface="Calibri" pitchFamily="34" charset="0"/>
                <a:ea typeface="Calibri" pitchFamily="34" charset="-122"/>
                <a:cs typeface="Calibri" pitchFamily="34" charset="-120"/>
              </a:rPr>
              <a:t> (rise in glucose) is detected by cells in the </a:t>
            </a:r>
            <a:r>
              <a:rPr lang="en-US" sz="1100" b="1" dirty="0">
                <a:solidFill>
                  <a:srgbClr val="262B3A"/>
                </a:solidFill>
                <a:latin typeface="Calibri" pitchFamily="34" charset="0"/>
                <a:ea typeface="Calibri" pitchFamily="34" charset="-122"/>
                <a:cs typeface="Calibri" pitchFamily="34" charset="-120"/>
              </a:rPr>
              <a:t>pancreas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pancreas acts as the gland and releases </a:t>
            </a:r>
            <a:r>
              <a:rPr lang="en-US" sz="1100" b="1" dirty="0">
                <a:solidFill>
                  <a:srgbClr val="262B3A"/>
                </a:solidFill>
                <a:latin typeface="Calibri" pitchFamily="34" charset="0"/>
                <a:ea typeface="Calibri" pitchFamily="34" charset="-122"/>
                <a:cs typeface="Calibri" pitchFamily="34" charset="-120"/>
              </a:rPr>
              <a:t>insulin</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effectors</a:t>
            </a:r>
            <a:r>
              <a:rPr lang="en-US" sz="1100" dirty="0">
                <a:solidFill>
                  <a:srgbClr val="262B3A"/>
                </a:solidFill>
                <a:latin typeface="Calibri" pitchFamily="34" charset="0"/>
                <a:ea typeface="Calibri" pitchFamily="34" charset="-122"/>
                <a:cs typeface="Calibri" pitchFamily="34" charset="-120"/>
              </a:rPr>
              <a:t> are liver and muscle cells.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As glucose returns to normal, the pancreas </a:t>
            </a:r>
            <a:r>
              <a:rPr lang="en-US" sz="1100" b="1" dirty="0">
                <a:solidFill>
                  <a:srgbClr val="262B3A"/>
                </a:solidFill>
                <a:latin typeface="Calibri" pitchFamily="34" charset="0"/>
                <a:ea typeface="Calibri" pitchFamily="34" charset="-122"/>
                <a:cs typeface="Calibri" pitchFamily="34" charset="-120"/>
              </a:rPr>
              <a:t>releases less insulin</a:t>
            </a:r>
            <a:r>
              <a:rPr lang="en-US" sz="1100" dirty="0">
                <a:solidFill>
                  <a:srgbClr val="262B3A"/>
                </a:solidFill>
                <a:latin typeface="Calibri" pitchFamily="34" charset="0"/>
                <a:ea typeface="Calibri" pitchFamily="34" charset="-122"/>
                <a:cs typeface="Calibri" pitchFamily="34" charset="-120"/>
              </a:rPr>
              <a:t>. The response has cancelled the change: </a:t>
            </a:r>
            <a:r>
              <a:rPr lang="en-US" sz="1100" b="1" dirty="0">
                <a:solidFill>
                  <a:srgbClr val="262B3A"/>
                </a:solidFill>
                <a:latin typeface="Calibri" pitchFamily="34" charset="0"/>
                <a:ea typeface="Calibri" pitchFamily="34" charset="-122"/>
                <a:cs typeface="Calibri" pitchFamily="34" charset="-120"/>
              </a:rPr>
              <a:t>negative feedback</a:t>
            </a:r>
            <a:r>
              <a:rPr lang="en-US" sz="1100" dirty="0">
                <a:solidFill>
                  <a:srgbClr val="262B3A"/>
                </a:solidFill>
                <a:latin typeface="Calibri" pitchFamily="34" charset="0"/>
                <a:ea typeface="Calibri" pitchFamily="34" charset="-122"/>
                <a:cs typeface="Calibri" pitchFamily="34" charset="-120"/>
              </a:rPr>
              <a:t>, as with thyroxine in B5.3.</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Hormones act more </a:t>
            </a:r>
            <a:r>
              <a:rPr lang="en-US" sz="1100" b="1" dirty="0">
                <a:solidFill>
                  <a:srgbClr val="262B3A"/>
                </a:solidFill>
                <a:latin typeface="Calibri" pitchFamily="34" charset="0"/>
                <a:ea typeface="Calibri" pitchFamily="34" charset="-122"/>
                <a:cs typeface="Calibri" pitchFamily="34" charset="-120"/>
              </a:rPr>
              <a:t>slowly</a:t>
            </a:r>
            <a:r>
              <a:rPr lang="en-US" sz="1100" dirty="0">
                <a:solidFill>
                  <a:srgbClr val="262B3A"/>
                </a:solidFill>
                <a:latin typeface="Calibri" pitchFamily="34" charset="0"/>
                <a:ea typeface="Calibri" pitchFamily="34" charset="-122"/>
                <a:cs typeface="Calibri" pitchFamily="34" charset="-120"/>
              </a:rPr>
              <a:t> than nerves, so the level takes 1–2 hours to return.</a:t>
            </a:r>
            <a:endParaRPr lang="en-US" sz="1100" dirty="0"/>
          </a:p>
        </p:txBody>
      </p:sp>
      <p:sp>
        <p:nvSpPr>
          <p:cNvPr id="32" name="Shape 30"/>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33" name="Text 31"/>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rate of fall</a:t>
            </a:r>
            <a:endParaRPr lang="en-US" sz="1300" dirty="0"/>
          </a:p>
        </p:txBody>
      </p:sp>
      <p:sp>
        <p:nvSpPr>
          <p:cNvPr id="34" name="Text 32"/>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After a meal, blood glucose falls from 8.2 to 5.0 mmol/L in 90 minutes.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Fall   </a:t>
            </a:r>
            <a:r>
              <a:rPr lang="en-US" sz="1050" dirty="0">
                <a:solidFill>
                  <a:srgbClr val="262B3A"/>
                </a:solidFill>
                <a:latin typeface="Calibri" pitchFamily="34" charset="0"/>
                <a:ea typeface="Calibri" pitchFamily="34" charset="-122"/>
                <a:cs typeface="Calibri" pitchFamily="34" charset="-120"/>
              </a:rPr>
              <a:t>8.2 − 5.0 = 3.2 mmol/L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Rate   </a:t>
            </a:r>
            <a:r>
              <a:rPr lang="en-US" sz="1050" dirty="0">
                <a:solidFill>
                  <a:srgbClr val="262B3A"/>
                </a:solidFill>
                <a:latin typeface="Calibri" pitchFamily="34" charset="0"/>
                <a:ea typeface="Calibri" pitchFamily="34" charset="-122"/>
                <a:cs typeface="Calibri" pitchFamily="34" charset="-120"/>
              </a:rPr>
              <a:t>3.2 ÷ 90 = 0.0356 mmol/L per min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about </a:t>
            </a:r>
            <a:r>
              <a:rPr lang="en-US" sz="1050" b="1" dirty="0">
                <a:solidFill>
                  <a:srgbClr val="C8414C"/>
                </a:solidFill>
                <a:latin typeface="Calibri" pitchFamily="34" charset="0"/>
                <a:ea typeface="Calibri" pitchFamily="34" charset="-122"/>
                <a:cs typeface="Calibri" pitchFamily="34" charset="-120"/>
              </a:rPr>
              <a:t>0.036 mmol/L per minute</a:t>
            </a:r>
            <a:r>
              <a:rPr lang="en-US" sz="1050" b="1" dirty="0">
                <a:solidFill>
                  <a:srgbClr val="C8414C"/>
                </a:solidFill>
                <a:latin typeface="Calibri" pitchFamily="34" charset="0"/>
                <a:ea typeface="Calibri" pitchFamily="34" charset="-122"/>
                <a:cs typeface="Calibri" pitchFamily="34" charset="-120"/>
              </a:rPr>
              <a:t> (2 s.f.)</a:t>
            </a:r>
            <a:endParaRPr lang="en-US" sz="105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the loop, which part is the </a:t>
            </a:r>
            <a:r>
              <a:rPr lang="en-US" sz="1150" b="1" dirty="0">
                <a:solidFill>
                  <a:srgbClr val="262B3A"/>
                </a:solidFill>
                <a:latin typeface="Calibri" pitchFamily="34" charset="0"/>
                <a:ea typeface="Calibri" pitchFamily="34" charset="-122"/>
                <a:cs typeface="Calibri" pitchFamily="34" charset="-120"/>
              </a:rPr>
              <a:t>receptor</a:t>
            </a:r>
            <a:r>
              <a:rPr lang="en-US" sz="1150" dirty="0">
                <a:solidFill>
                  <a:srgbClr val="262B3A"/>
                </a:solidFill>
                <a:latin typeface="Calibri" pitchFamily="34" charset="0"/>
                <a:ea typeface="Calibri" pitchFamily="34" charset="-122"/>
                <a:cs typeface="Calibri" pitchFamily="34" charset="-120"/>
              </a:rPr>
              <a:t>, which is the </a:t>
            </a:r>
            <a:r>
              <a:rPr lang="en-US" sz="1150" b="1" dirty="0">
                <a:solidFill>
                  <a:srgbClr val="262B3A"/>
                </a:solidFill>
                <a:latin typeface="Calibri" pitchFamily="34" charset="0"/>
                <a:ea typeface="Calibri" pitchFamily="34" charset="-122"/>
                <a:cs typeface="Calibri" pitchFamily="34" charset="-120"/>
              </a:rPr>
              <a:t>hormone</a:t>
            </a:r>
            <a:r>
              <a:rPr lang="en-US" sz="1150" dirty="0">
                <a:solidFill>
                  <a:srgbClr val="262B3A"/>
                </a:solidFill>
                <a:latin typeface="Calibri" pitchFamily="34" charset="0"/>
                <a:ea typeface="Calibri" pitchFamily="34" charset="-122"/>
                <a:cs typeface="Calibri" pitchFamily="34" charset="-120"/>
              </a:rPr>
              <a:t>, and which are the </a:t>
            </a:r>
            <a:r>
              <a:rPr lang="en-US" sz="1150" b="1" dirty="0">
                <a:solidFill>
                  <a:srgbClr val="262B3A"/>
                </a:solidFill>
                <a:latin typeface="Calibri" pitchFamily="34" charset="0"/>
                <a:ea typeface="Calibri" pitchFamily="34" charset="-122"/>
                <a:cs typeface="Calibri" pitchFamily="34" charset="-120"/>
              </a:rPr>
              <a:t>effectors</a:t>
            </a:r>
            <a:r>
              <a:rPr lang="en-US" sz="1150" dirty="0">
                <a:solidFill>
                  <a:srgbClr val="262B3A"/>
                </a:solidFill>
                <a:latin typeface="Calibri" pitchFamily="34" charset="0"/>
                <a:ea typeface="Calibri" pitchFamily="34" charset="-122"/>
                <a:cs typeface="Calibri" pitchFamily="34" charset="-120"/>
              </a:rPr>
              <a:t>? Why is it called </a:t>
            </a:r>
            <a:r>
              <a:rPr lang="en-US" sz="1150" b="1" dirty="0">
                <a:solidFill>
                  <a:srgbClr val="262B3A"/>
                </a:solidFill>
                <a:latin typeface="Calibri" pitchFamily="34" charset="0"/>
                <a:ea typeface="Calibri" pitchFamily="34" charset="-122"/>
                <a:cs typeface="Calibri" pitchFamily="34" charset="-120"/>
              </a:rPr>
              <a:t>negative</a:t>
            </a:r>
            <a:r>
              <a:rPr lang="en-US" sz="1150" dirty="0">
                <a:solidFill>
                  <a:srgbClr val="262B3A"/>
                </a:solidFill>
                <a:latin typeface="Calibri" pitchFamily="34" charset="0"/>
                <a:ea typeface="Calibri" pitchFamily="34" charset="-122"/>
                <a:cs typeface="Calibri" pitchFamily="34" charset="-120"/>
              </a:rPr>
              <a:t> feedback?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Glucagon and insulin work together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B5.6.2 • explain how glucagon and insulin work together to control blood sugar levels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B5.6.2  |  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hormones from the pancreas with opposite effects on the liver</a:t>
            </a:r>
            <a:endParaRPr lang="en-US" sz="1000" dirty="0"/>
          </a:p>
        </p:txBody>
      </p:sp>
      <p:sp>
        <p:nvSpPr>
          <p:cNvPr id="12" name="Shape 10"/>
          <p:cNvSpPr/>
          <p:nvPr/>
        </p:nvSpPr>
        <p:spPr>
          <a:xfrm>
            <a:off x="640080" y="1371600"/>
            <a:ext cx="1828800" cy="548640"/>
          </a:xfrm>
          <a:prstGeom prst="roundRect">
            <a:avLst>
              <a:gd name="adj" fmla="val 10000"/>
            </a:avLst>
          </a:prstGeom>
          <a:solidFill>
            <a:srgbClr val="FBE3E4"/>
          </a:solidFill>
          <a:ln w="15875">
            <a:solidFill>
              <a:srgbClr val="C8414C"/>
            </a:solidFill>
            <a:prstDash val="solid"/>
          </a:ln>
        </p:spPr>
      </p:sp>
      <p:sp>
        <p:nvSpPr>
          <p:cNvPr id="13" name="Text 11"/>
          <p:cNvSpPr/>
          <p:nvPr/>
        </p:nvSpPr>
        <p:spPr>
          <a:xfrm>
            <a:off x="694944" y="1371600"/>
            <a:ext cx="1719072" cy="54864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Blood glucose </a:t>
            </a:r>
            <a:r>
              <a:rPr lang="en-US" sz="1100" b="1" dirty="0">
                <a:solidFill>
                  <a:srgbClr val="262B3A"/>
                </a:solidFill>
                <a:latin typeface="Calibri" pitchFamily="34" charset="0"/>
                <a:ea typeface="Calibri" pitchFamily="34" charset="-122"/>
                <a:cs typeface="Calibri" pitchFamily="34" charset="-120"/>
              </a:rPr>
              <a:t>too high</a:t>
            </a:r>
            <a:endParaRPr lang="en-US" sz="1100" dirty="0"/>
          </a:p>
        </p:txBody>
      </p:sp>
      <p:sp>
        <p:nvSpPr>
          <p:cNvPr id="14" name="Shape 12"/>
          <p:cNvSpPr/>
          <p:nvPr/>
        </p:nvSpPr>
        <p:spPr>
          <a:xfrm>
            <a:off x="640080" y="4434840"/>
            <a:ext cx="1828800" cy="548640"/>
          </a:xfrm>
          <a:prstGeom prst="roundRect">
            <a:avLst>
              <a:gd name="adj" fmla="val 10000"/>
            </a:avLst>
          </a:prstGeom>
          <a:solidFill>
            <a:srgbClr val="E3F0FB"/>
          </a:solidFill>
          <a:ln w="15875">
            <a:solidFill>
              <a:srgbClr val="3B7DD8"/>
            </a:solidFill>
            <a:prstDash val="solid"/>
          </a:ln>
        </p:spPr>
      </p:sp>
      <p:sp>
        <p:nvSpPr>
          <p:cNvPr id="15" name="Text 13"/>
          <p:cNvSpPr/>
          <p:nvPr/>
        </p:nvSpPr>
        <p:spPr>
          <a:xfrm>
            <a:off x="694944" y="4434840"/>
            <a:ext cx="1719072" cy="54864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Blood glucose </a:t>
            </a:r>
            <a:r>
              <a:rPr lang="en-US" sz="1100" b="1" dirty="0">
                <a:solidFill>
                  <a:srgbClr val="262B3A"/>
                </a:solidFill>
                <a:latin typeface="Calibri" pitchFamily="34" charset="0"/>
                <a:ea typeface="Calibri" pitchFamily="34" charset="-122"/>
                <a:cs typeface="Calibri" pitchFamily="34" charset="-120"/>
              </a:rPr>
              <a:t>too low</a:t>
            </a:r>
            <a:endParaRPr lang="en-US" sz="1100" dirty="0"/>
          </a:p>
        </p:txBody>
      </p:sp>
      <p:sp>
        <p:nvSpPr>
          <p:cNvPr id="16" name="Shape 14"/>
          <p:cNvSpPr/>
          <p:nvPr/>
        </p:nvSpPr>
        <p:spPr>
          <a:xfrm>
            <a:off x="640080" y="2907792"/>
            <a:ext cx="1828800" cy="548640"/>
          </a:xfrm>
          <a:prstGeom prst="roundRect">
            <a:avLst>
              <a:gd name="adj" fmla="val 10000"/>
            </a:avLst>
          </a:prstGeom>
          <a:solidFill>
            <a:srgbClr val="D8F0E2"/>
          </a:solidFill>
          <a:ln w="15875">
            <a:solidFill>
              <a:srgbClr val="2E8B57"/>
            </a:solidFill>
            <a:prstDash val="solid"/>
          </a:ln>
        </p:spPr>
      </p:sp>
      <p:sp>
        <p:nvSpPr>
          <p:cNvPr id="17" name="Text 15"/>
          <p:cNvSpPr/>
          <p:nvPr/>
        </p:nvSpPr>
        <p:spPr>
          <a:xfrm>
            <a:off x="694944" y="2907792"/>
            <a:ext cx="1719072" cy="54864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Normal</a:t>
            </a:r>
            <a:r>
              <a:rPr lang="en-US" sz="1100" dirty="0">
                <a:solidFill>
                  <a:srgbClr val="262B3A"/>
                </a:solidFill>
                <a:latin typeface="Calibri" pitchFamily="34" charset="0"/>
                <a:ea typeface="Calibri" pitchFamily="34" charset="-122"/>
                <a:cs typeface="Calibri" pitchFamily="34" charset="-120"/>
              </a:rPr>
              <a:t> 4–7 mmol/L</a:t>
            </a:r>
            <a:endParaRPr lang="en-US" sz="1100" dirty="0"/>
          </a:p>
        </p:txBody>
      </p:sp>
      <p:sp>
        <p:nvSpPr>
          <p:cNvPr id="18" name="Shape 16"/>
          <p:cNvSpPr/>
          <p:nvPr/>
        </p:nvSpPr>
        <p:spPr>
          <a:xfrm>
            <a:off x="1554480" y="1938528"/>
            <a:ext cx="91" cy="950976"/>
          </a:xfrm>
          <a:prstGeom prst="line">
            <a:avLst/>
          </a:prstGeom>
          <a:noFill/>
          <a:ln w="25400">
            <a:solidFill>
              <a:srgbClr val="C8414C"/>
            </a:solidFill>
            <a:prstDash val="dash"/>
            <a:tailEnd type="triangle"/>
          </a:ln>
        </p:spPr>
      </p:sp>
      <p:sp>
        <p:nvSpPr>
          <p:cNvPr id="19" name="Shape 17"/>
          <p:cNvSpPr/>
          <p:nvPr/>
        </p:nvSpPr>
        <p:spPr>
          <a:xfrm flipV="1">
            <a:off x="1554480" y="3474720"/>
            <a:ext cx="91" cy="941832"/>
          </a:xfrm>
          <a:prstGeom prst="line">
            <a:avLst/>
          </a:prstGeom>
          <a:noFill/>
          <a:ln w="25400">
            <a:solidFill>
              <a:srgbClr val="3B7DD8"/>
            </a:solidFill>
            <a:prstDash val="dash"/>
            <a:tailEnd type="triangle"/>
          </a:ln>
        </p:spPr>
      </p:sp>
      <p:sp>
        <p:nvSpPr>
          <p:cNvPr id="20" name="Text 18"/>
          <p:cNvSpPr/>
          <p:nvPr/>
        </p:nvSpPr>
        <p:spPr>
          <a:xfrm>
            <a:off x="1600200" y="2194560"/>
            <a:ext cx="914400" cy="22860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falls</a:t>
            </a:r>
            <a:endParaRPr lang="en-US" sz="1000" dirty="0"/>
          </a:p>
        </p:txBody>
      </p:sp>
      <p:sp>
        <p:nvSpPr>
          <p:cNvPr id="21" name="Text 19"/>
          <p:cNvSpPr/>
          <p:nvPr/>
        </p:nvSpPr>
        <p:spPr>
          <a:xfrm>
            <a:off x="1600200" y="3886200"/>
            <a:ext cx="914400" cy="228600"/>
          </a:xfrm>
          <a:prstGeom prst="rect">
            <a:avLst/>
          </a:prstGeom>
          <a:noFill/>
          <a:ln/>
        </p:spPr>
        <p:txBody>
          <a:bodyPr wrap="square" lIns="0" tIns="0" rIns="0" bIns="0" rtlCol="0" anchor="ctr"/>
          <a:lstStyle/>
          <a:p>
            <a:pPr algn="l" indent="0" marL="0">
              <a:buNone/>
            </a:pPr>
            <a:r>
              <a:rPr lang="en-US" sz="1000" b="1" dirty="0">
                <a:solidFill>
                  <a:srgbClr val="3B7DD8"/>
                </a:solidFill>
                <a:latin typeface="Calibri" pitchFamily="34" charset="0"/>
                <a:ea typeface="Calibri" pitchFamily="34" charset="-122"/>
                <a:cs typeface="Calibri" pitchFamily="34" charset="-120"/>
              </a:rPr>
              <a:t>rises</a:t>
            </a:r>
            <a:endParaRPr lang="en-US" sz="1000" dirty="0"/>
          </a:p>
        </p:txBody>
      </p:sp>
      <p:sp>
        <p:nvSpPr>
          <p:cNvPr id="22" name="Shape 20"/>
          <p:cNvSpPr/>
          <p:nvPr/>
        </p:nvSpPr>
        <p:spPr>
          <a:xfrm>
            <a:off x="2697480" y="2852928"/>
            <a:ext cx="1143000" cy="548640"/>
          </a:xfrm>
          <a:prstGeom prst="ellipse">
            <a:avLst/>
          </a:prstGeom>
          <a:solidFill>
            <a:srgbClr val="D4A017"/>
          </a:solidFill>
          <a:ln w="19050">
            <a:solidFill>
              <a:srgbClr val="8A6A0A"/>
            </a:solidFill>
            <a:prstDash val="solid"/>
          </a:ln>
        </p:spPr>
      </p:sp>
      <p:sp>
        <p:nvSpPr>
          <p:cNvPr id="23" name="Shape 21"/>
          <p:cNvSpPr/>
          <p:nvPr/>
        </p:nvSpPr>
        <p:spPr>
          <a:xfrm>
            <a:off x="2708910" y="2811780"/>
            <a:ext cx="365760" cy="685800"/>
          </a:xfrm>
          <a:prstGeom prst="ellipse">
            <a:avLst/>
          </a:prstGeom>
          <a:solidFill>
            <a:srgbClr val="D4A017"/>
          </a:solidFill>
          <a:ln w="19050">
            <a:solidFill>
              <a:srgbClr val="8A6A0A"/>
            </a:solidFill>
            <a:prstDash val="solid"/>
          </a:ln>
        </p:spPr>
      </p:sp>
      <p:sp>
        <p:nvSpPr>
          <p:cNvPr id="24" name="Shape 22"/>
          <p:cNvSpPr/>
          <p:nvPr/>
        </p:nvSpPr>
        <p:spPr>
          <a:xfrm>
            <a:off x="2974543" y="3006547"/>
            <a:ext cx="131674" cy="131674"/>
          </a:xfrm>
          <a:prstGeom prst="ellipse">
            <a:avLst/>
          </a:prstGeom>
          <a:solidFill>
            <a:srgbClr val="F5E6B0"/>
          </a:solidFill>
          <a:ln w="9525">
            <a:solidFill>
              <a:srgbClr val="8A6A0A"/>
            </a:solidFill>
            <a:prstDash val="solid"/>
          </a:ln>
        </p:spPr>
      </p:sp>
      <p:sp>
        <p:nvSpPr>
          <p:cNvPr id="25" name="Shape 23"/>
          <p:cNvSpPr/>
          <p:nvPr/>
        </p:nvSpPr>
        <p:spPr>
          <a:xfrm>
            <a:off x="3260293" y="3088843"/>
            <a:ext cx="131674" cy="131674"/>
          </a:xfrm>
          <a:prstGeom prst="ellipse">
            <a:avLst/>
          </a:prstGeom>
          <a:solidFill>
            <a:srgbClr val="F5E6B0"/>
          </a:solidFill>
          <a:ln w="9525">
            <a:solidFill>
              <a:srgbClr val="8A6A0A"/>
            </a:solidFill>
            <a:prstDash val="solid"/>
          </a:ln>
        </p:spPr>
      </p:sp>
      <p:sp>
        <p:nvSpPr>
          <p:cNvPr id="26" name="Shape 24"/>
          <p:cNvSpPr/>
          <p:nvPr/>
        </p:nvSpPr>
        <p:spPr>
          <a:xfrm>
            <a:off x="3488893" y="3017520"/>
            <a:ext cx="131674" cy="131674"/>
          </a:xfrm>
          <a:prstGeom prst="ellipse">
            <a:avLst/>
          </a:prstGeom>
          <a:solidFill>
            <a:srgbClr val="F5E6B0"/>
          </a:solidFill>
          <a:ln w="9525">
            <a:solidFill>
              <a:srgbClr val="8A6A0A"/>
            </a:solidFill>
            <a:prstDash val="solid"/>
          </a:ln>
        </p:spPr>
      </p:sp>
      <p:sp>
        <p:nvSpPr>
          <p:cNvPr id="27" name="Shape 25"/>
          <p:cNvSpPr/>
          <p:nvPr/>
        </p:nvSpPr>
        <p:spPr>
          <a:xfrm>
            <a:off x="2837383" y="3171139"/>
            <a:ext cx="131674" cy="131674"/>
          </a:xfrm>
          <a:prstGeom prst="ellipse">
            <a:avLst/>
          </a:prstGeom>
          <a:solidFill>
            <a:srgbClr val="F5E6B0"/>
          </a:solidFill>
          <a:ln w="9525">
            <a:solidFill>
              <a:srgbClr val="8A6A0A"/>
            </a:solidFill>
            <a:prstDash val="solid"/>
          </a:ln>
        </p:spPr>
      </p:sp>
      <p:sp>
        <p:nvSpPr>
          <p:cNvPr id="28" name="Text 26"/>
          <p:cNvSpPr/>
          <p:nvPr/>
        </p:nvSpPr>
        <p:spPr>
          <a:xfrm>
            <a:off x="2560320" y="3410712"/>
            <a:ext cx="1463040" cy="228600"/>
          </a:xfrm>
          <a:prstGeom prst="rect">
            <a:avLst/>
          </a:prstGeom>
          <a:noFill/>
          <a:ln/>
        </p:spPr>
        <p:txBody>
          <a:bodyPr wrap="square" lIns="0" tIns="0" rIns="0" bIns="0" rtlCol="0" anchor="ctr"/>
          <a:lstStyle/>
          <a:p>
            <a:pPr algn="ctr" indent="0" marL="0">
              <a:buNone/>
            </a:pPr>
            <a:r>
              <a:rPr lang="en-US" sz="1050" b="1" dirty="0">
                <a:solidFill>
                  <a:srgbClr val="8A6A0A"/>
                </a:solidFill>
                <a:latin typeface="Calibri" pitchFamily="34" charset="0"/>
                <a:ea typeface="Calibri" pitchFamily="34" charset="-122"/>
                <a:cs typeface="Calibri" pitchFamily="34" charset="-120"/>
              </a:rPr>
              <a:t>pancreas</a:t>
            </a:r>
            <a:endParaRPr lang="en-US" sz="1050" dirty="0"/>
          </a:p>
        </p:txBody>
      </p:sp>
      <p:sp>
        <p:nvSpPr>
          <p:cNvPr id="29" name="Shape 27"/>
          <p:cNvSpPr/>
          <p:nvPr/>
        </p:nvSpPr>
        <p:spPr>
          <a:xfrm>
            <a:off x="2487168" y="1645920"/>
            <a:ext cx="530352" cy="1170432"/>
          </a:xfrm>
          <a:prstGeom prst="line">
            <a:avLst/>
          </a:prstGeom>
          <a:noFill/>
          <a:ln w="15875">
            <a:solidFill>
              <a:srgbClr val="133536"/>
            </a:solidFill>
            <a:prstDash val="solid"/>
            <a:tailEnd type="triangle"/>
          </a:ln>
        </p:spPr>
      </p:sp>
      <p:sp>
        <p:nvSpPr>
          <p:cNvPr id="30" name="Shape 28"/>
          <p:cNvSpPr/>
          <p:nvPr/>
        </p:nvSpPr>
        <p:spPr>
          <a:xfrm flipV="1">
            <a:off x="2487168" y="3456432"/>
            <a:ext cx="530352" cy="1252728"/>
          </a:xfrm>
          <a:prstGeom prst="line">
            <a:avLst/>
          </a:prstGeom>
          <a:noFill/>
          <a:ln w="15875">
            <a:solidFill>
              <a:srgbClr val="133536"/>
            </a:solidFill>
            <a:prstDash val="solid"/>
            <a:tailEnd type="triangle"/>
          </a:ln>
        </p:spPr>
      </p:sp>
      <p:sp>
        <p:nvSpPr>
          <p:cNvPr id="31" name="Shape 29"/>
          <p:cNvSpPr/>
          <p:nvPr/>
        </p:nvSpPr>
        <p:spPr>
          <a:xfrm>
            <a:off x="3840480" y="2148840"/>
            <a:ext cx="182880" cy="164592"/>
          </a:xfrm>
          <a:prstGeom prst="triangle">
            <a:avLst/>
          </a:prstGeom>
          <a:solidFill>
            <a:srgbClr val="E08A1E"/>
          </a:solidFill>
          <a:ln w="9525">
            <a:solidFill>
              <a:srgbClr val="9A5A0A"/>
            </a:solidFill>
            <a:prstDash val="solid"/>
          </a:ln>
        </p:spPr>
      </p:sp>
      <p:sp>
        <p:nvSpPr>
          <p:cNvPr id="32" name="Shape 30"/>
          <p:cNvSpPr/>
          <p:nvPr/>
        </p:nvSpPr>
        <p:spPr>
          <a:xfrm flipV="1">
            <a:off x="3611880" y="2103120"/>
            <a:ext cx="822960" cy="685800"/>
          </a:xfrm>
          <a:prstGeom prst="line">
            <a:avLst/>
          </a:prstGeom>
          <a:noFill/>
          <a:ln w="28575">
            <a:solidFill>
              <a:srgbClr val="E08A1E"/>
            </a:solidFill>
            <a:prstDash val="solid"/>
            <a:tailEnd type="triangle"/>
          </a:ln>
        </p:spPr>
      </p:sp>
      <p:sp>
        <p:nvSpPr>
          <p:cNvPr id="33" name="Text 31"/>
          <p:cNvSpPr/>
          <p:nvPr/>
        </p:nvSpPr>
        <p:spPr>
          <a:xfrm>
            <a:off x="2743200" y="2103120"/>
            <a:ext cx="914400" cy="256032"/>
          </a:xfrm>
          <a:prstGeom prst="rect">
            <a:avLst/>
          </a:prstGeom>
          <a:noFill/>
          <a:ln/>
        </p:spPr>
        <p:txBody>
          <a:bodyPr wrap="square" lIns="0" tIns="0" rIns="0" bIns="0" rtlCol="0" anchor="ctr"/>
          <a:lstStyle/>
          <a:p>
            <a:pPr algn="r" indent="0" marL="0">
              <a:buNone/>
            </a:pPr>
            <a:r>
              <a:rPr lang="en-US" sz="1100" b="1" dirty="0">
                <a:solidFill>
                  <a:srgbClr val="E08A1E"/>
                </a:solidFill>
                <a:latin typeface="Calibri" pitchFamily="34" charset="0"/>
                <a:ea typeface="Calibri" pitchFamily="34" charset="-122"/>
                <a:cs typeface="Calibri" pitchFamily="34" charset="-120"/>
              </a:rPr>
              <a:t>insulin</a:t>
            </a:r>
            <a:endParaRPr lang="en-US" sz="1100" dirty="0"/>
          </a:p>
        </p:txBody>
      </p:sp>
      <p:sp>
        <p:nvSpPr>
          <p:cNvPr id="34" name="Shape 32"/>
          <p:cNvSpPr/>
          <p:nvPr/>
        </p:nvSpPr>
        <p:spPr>
          <a:xfrm>
            <a:off x="3840480" y="4114800"/>
            <a:ext cx="182880" cy="164592"/>
          </a:xfrm>
          <a:prstGeom prst="triangle">
            <a:avLst/>
          </a:prstGeom>
          <a:solidFill>
            <a:srgbClr val="8E44AD"/>
          </a:solidFill>
          <a:ln w="9525">
            <a:solidFill>
              <a:srgbClr val="5E2D73"/>
            </a:solidFill>
            <a:prstDash val="solid"/>
          </a:ln>
        </p:spPr>
      </p:sp>
      <p:sp>
        <p:nvSpPr>
          <p:cNvPr id="35" name="Shape 33"/>
          <p:cNvSpPr/>
          <p:nvPr/>
        </p:nvSpPr>
        <p:spPr>
          <a:xfrm>
            <a:off x="3611880" y="3474720"/>
            <a:ext cx="822960" cy="731520"/>
          </a:xfrm>
          <a:prstGeom prst="line">
            <a:avLst/>
          </a:prstGeom>
          <a:noFill/>
          <a:ln w="28575">
            <a:solidFill>
              <a:srgbClr val="8E44AD"/>
            </a:solidFill>
            <a:prstDash val="solid"/>
            <a:tailEnd type="triangle"/>
          </a:ln>
        </p:spPr>
      </p:sp>
      <p:sp>
        <p:nvSpPr>
          <p:cNvPr id="36" name="Text 34"/>
          <p:cNvSpPr/>
          <p:nvPr/>
        </p:nvSpPr>
        <p:spPr>
          <a:xfrm>
            <a:off x="2651760" y="4069080"/>
            <a:ext cx="1005840" cy="256032"/>
          </a:xfrm>
          <a:prstGeom prst="rect">
            <a:avLst/>
          </a:prstGeom>
          <a:noFill/>
          <a:ln/>
        </p:spPr>
        <p:txBody>
          <a:bodyPr wrap="square" lIns="0" tIns="0" rIns="0" bIns="0" rtlCol="0" anchor="ctr"/>
          <a:lstStyle/>
          <a:p>
            <a:pPr algn="r" indent="0" marL="0">
              <a:buNone/>
            </a:pPr>
            <a:r>
              <a:rPr lang="en-US" sz="1100" b="1" dirty="0">
                <a:solidFill>
                  <a:srgbClr val="8E44AD"/>
                </a:solidFill>
                <a:latin typeface="Calibri" pitchFamily="34" charset="0"/>
                <a:ea typeface="Calibri" pitchFamily="34" charset="-122"/>
                <a:cs typeface="Calibri" pitchFamily="34" charset="-120"/>
              </a:rPr>
              <a:t>glucagon</a:t>
            </a:r>
            <a:endParaRPr lang="en-US" sz="1100" dirty="0"/>
          </a:p>
        </p:txBody>
      </p:sp>
      <p:sp>
        <p:nvSpPr>
          <p:cNvPr id="37" name="Shape 35"/>
          <p:cNvSpPr/>
          <p:nvPr/>
        </p:nvSpPr>
        <p:spPr>
          <a:xfrm>
            <a:off x="4343400" y="2606040"/>
            <a:ext cx="1508760" cy="1188720"/>
          </a:xfrm>
          <a:custGeom>
            <a:avLst/>
            <a:gdLst/>
            <a:ahLst/>
            <a:cxnLst/>
            <a:rect l="l" t="t" r="r" b="b"/>
            <a:pathLst>
              <a:path w="1508760" h="1188720">
                <a:moveTo>
                  <a:pt x="0" y="178308"/>
                </a:moveTo>
                <a:lnTo>
                  <a:pt x="829818" y="0"/>
                </a:lnTo>
                <a:lnTo>
                  <a:pt x="1508760" y="118872"/>
                </a:lnTo>
                <a:lnTo>
                  <a:pt x="1131570" y="713232"/>
                </a:lnTo>
                <a:lnTo>
                  <a:pt x="528066" y="1188720"/>
                </a:lnTo>
                <a:lnTo>
                  <a:pt x="75438" y="950976"/>
                </a:lnTo>
                <a:close/>
              </a:path>
            </a:pathLst>
          </a:custGeom>
          <a:solidFill>
            <a:srgbClr val="A0522D"/>
          </a:solidFill>
          <a:ln w="15875">
            <a:solidFill>
              <a:srgbClr val="6B3318"/>
            </a:solidFill>
            <a:prstDash val="solid"/>
          </a:ln>
        </p:spPr>
      </p:sp>
      <p:sp>
        <p:nvSpPr>
          <p:cNvPr id="38" name="Text 36"/>
          <p:cNvSpPr/>
          <p:nvPr/>
        </p:nvSpPr>
        <p:spPr>
          <a:xfrm>
            <a:off x="4434840" y="288036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liver</a:t>
            </a:r>
            <a:endParaRPr lang="en-US" sz="1100" dirty="0"/>
          </a:p>
        </p:txBody>
      </p:sp>
      <p:sp>
        <p:nvSpPr>
          <p:cNvPr id="39" name="Shape 37"/>
          <p:cNvSpPr/>
          <p:nvPr/>
        </p:nvSpPr>
        <p:spPr>
          <a:xfrm>
            <a:off x="4606290" y="3257550"/>
            <a:ext cx="68580" cy="68580"/>
          </a:xfrm>
          <a:prstGeom prst="hexagon">
            <a:avLst/>
          </a:prstGeom>
          <a:solidFill>
            <a:srgbClr val="3B7DD8"/>
          </a:solidFill>
          <a:ln w="6350">
            <a:solidFill>
              <a:srgbClr val="1F4E8C"/>
            </a:solidFill>
            <a:prstDash val="solid"/>
          </a:ln>
        </p:spPr>
      </p:sp>
      <p:sp>
        <p:nvSpPr>
          <p:cNvPr id="40" name="Shape 38"/>
          <p:cNvSpPr/>
          <p:nvPr/>
        </p:nvSpPr>
        <p:spPr>
          <a:xfrm>
            <a:off x="4688586" y="3257550"/>
            <a:ext cx="68580" cy="68580"/>
          </a:xfrm>
          <a:prstGeom prst="hexagon">
            <a:avLst/>
          </a:prstGeom>
          <a:solidFill>
            <a:srgbClr val="3B7DD8"/>
          </a:solidFill>
          <a:ln w="6350">
            <a:solidFill>
              <a:srgbClr val="1F4E8C"/>
            </a:solidFill>
            <a:prstDash val="solid"/>
          </a:ln>
        </p:spPr>
      </p:sp>
      <p:sp>
        <p:nvSpPr>
          <p:cNvPr id="41" name="Shape 39"/>
          <p:cNvSpPr/>
          <p:nvPr/>
        </p:nvSpPr>
        <p:spPr>
          <a:xfrm>
            <a:off x="4770882" y="3257550"/>
            <a:ext cx="68580" cy="68580"/>
          </a:xfrm>
          <a:prstGeom prst="hexagon">
            <a:avLst/>
          </a:prstGeom>
          <a:solidFill>
            <a:srgbClr val="3B7DD8"/>
          </a:solidFill>
          <a:ln w="6350">
            <a:solidFill>
              <a:srgbClr val="1F4E8C"/>
            </a:solidFill>
            <a:prstDash val="solid"/>
          </a:ln>
        </p:spPr>
      </p:sp>
      <p:sp>
        <p:nvSpPr>
          <p:cNvPr id="42" name="Shape 40"/>
          <p:cNvSpPr/>
          <p:nvPr/>
        </p:nvSpPr>
        <p:spPr>
          <a:xfrm>
            <a:off x="4853178" y="3257550"/>
            <a:ext cx="68580" cy="68580"/>
          </a:xfrm>
          <a:prstGeom prst="hexagon">
            <a:avLst/>
          </a:prstGeom>
          <a:solidFill>
            <a:srgbClr val="3B7DD8"/>
          </a:solidFill>
          <a:ln w="6350">
            <a:solidFill>
              <a:srgbClr val="1F4E8C"/>
            </a:solidFill>
            <a:prstDash val="solid"/>
          </a:ln>
        </p:spPr>
      </p:sp>
      <p:sp>
        <p:nvSpPr>
          <p:cNvPr id="43" name="Shape 41"/>
          <p:cNvSpPr/>
          <p:nvPr/>
        </p:nvSpPr>
        <p:spPr>
          <a:xfrm>
            <a:off x="4935474" y="3257550"/>
            <a:ext cx="68580" cy="68580"/>
          </a:xfrm>
          <a:prstGeom prst="hexagon">
            <a:avLst/>
          </a:prstGeom>
          <a:solidFill>
            <a:srgbClr val="3B7DD8"/>
          </a:solidFill>
          <a:ln w="6350">
            <a:solidFill>
              <a:srgbClr val="1F4E8C"/>
            </a:solidFill>
            <a:prstDash val="solid"/>
          </a:ln>
        </p:spPr>
      </p:sp>
      <p:sp>
        <p:nvSpPr>
          <p:cNvPr id="44" name="Shape 42"/>
          <p:cNvSpPr/>
          <p:nvPr/>
        </p:nvSpPr>
        <p:spPr>
          <a:xfrm>
            <a:off x="5017770" y="3257550"/>
            <a:ext cx="68580" cy="68580"/>
          </a:xfrm>
          <a:prstGeom prst="hexagon">
            <a:avLst/>
          </a:prstGeom>
          <a:solidFill>
            <a:srgbClr val="3B7DD8"/>
          </a:solidFill>
          <a:ln w="6350">
            <a:solidFill>
              <a:srgbClr val="1F4E8C"/>
            </a:solidFill>
            <a:prstDash val="solid"/>
          </a:ln>
        </p:spPr>
      </p:sp>
      <p:sp>
        <p:nvSpPr>
          <p:cNvPr id="45" name="Shape 43"/>
          <p:cNvSpPr/>
          <p:nvPr/>
        </p:nvSpPr>
        <p:spPr>
          <a:xfrm>
            <a:off x="4770882" y="3182112"/>
            <a:ext cx="68580" cy="68580"/>
          </a:xfrm>
          <a:prstGeom prst="hexagon">
            <a:avLst/>
          </a:prstGeom>
          <a:solidFill>
            <a:srgbClr val="3B7DD8"/>
          </a:solidFill>
          <a:ln w="6350">
            <a:solidFill>
              <a:srgbClr val="1F4E8C"/>
            </a:solidFill>
            <a:prstDash val="solid"/>
          </a:ln>
        </p:spPr>
      </p:sp>
      <p:sp>
        <p:nvSpPr>
          <p:cNvPr id="46" name="Shape 44"/>
          <p:cNvSpPr/>
          <p:nvPr/>
        </p:nvSpPr>
        <p:spPr>
          <a:xfrm>
            <a:off x="4846320" y="3140964"/>
            <a:ext cx="68580" cy="68580"/>
          </a:xfrm>
          <a:prstGeom prst="hexagon">
            <a:avLst/>
          </a:prstGeom>
          <a:solidFill>
            <a:srgbClr val="3B7DD8"/>
          </a:solidFill>
          <a:ln w="6350">
            <a:solidFill>
              <a:srgbClr val="1F4E8C"/>
            </a:solidFill>
            <a:prstDash val="solid"/>
          </a:ln>
        </p:spPr>
      </p:sp>
      <p:sp>
        <p:nvSpPr>
          <p:cNvPr id="47" name="Shape 45"/>
          <p:cNvSpPr/>
          <p:nvPr/>
        </p:nvSpPr>
        <p:spPr>
          <a:xfrm>
            <a:off x="4921758" y="3099816"/>
            <a:ext cx="68580" cy="68580"/>
          </a:xfrm>
          <a:prstGeom prst="hexagon">
            <a:avLst/>
          </a:prstGeom>
          <a:solidFill>
            <a:srgbClr val="3B7DD8"/>
          </a:solidFill>
          <a:ln w="6350">
            <a:solidFill>
              <a:srgbClr val="1F4E8C"/>
            </a:solidFill>
            <a:prstDash val="solid"/>
          </a:ln>
        </p:spPr>
      </p:sp>
      <p:sp>
        <p:nvSpPr>
          <p:cNvPr id="48" name="Shape 46"/>
          <p:cNvSpPr/>
          <p:nvPr/>
        </p:nvSpPr>
        <p:spPr>
          <a:xfrm>
            <a:off x="4688586" y="3332988"/>
            <a:ext cx="68580" cy="68580"/>
          </a:xfrm>
          <a:prstGeom prst="hexagon">
            <a:avLst/>
          </a:prstGeom>
          <a:solidFill>
            <a:srgbClr val="3B7DD8"/>
          </a:solidFill>
          <a:ln w="6350">
            <a:solidFill>
              <a:srgbClr val="1F4E8C"/>
            </a:solidFill>
            <a:prstDash val="solid"/>
          </a:ln>
        </p:spPr>
      </p:sp>
      <p:sp>
        <p:nvSpPr>
          <p:cNvPr id="49" name="Shape 47"/>
          <p:cNvSpPr/>
          <p:nvPr/>
        </p:nvSpPr>
        <p:spPr>
          <a:xfrm>
            <a:off x="4757166" y="3374136"/>
            <a:ext cx="68580" cy="68580"/>
          </a:xfrm>
          <a:prstGeom prst="hexagon">
            <a:avLst/>
          </a:prstGeom>
          <a:solidFill>
            <a:srgbClr val="3B7DD8"/>
          </a:solidFill>
          <a:ln w="6350">
            <a:solidFill>
              <a:srgbClr val="1F4E8C"/>
            </a:solidFill>
            <a:prstDash val="solid"/>
          </a:ln>
        </p:spPr>
      </p:sp>
      <p:sp>
        <p:nvSpPr>
          <p:cNvPr id="50" name="Shape 48"/>
          <p:cNvSpPr/>
          <p:nvPr/>
        </p:nvSpPr>
        <p:spPr>
          <a:xfrm>
            <a:off x="4825746" y="3415284"/>
            <a:ext cx="68580" cy="68580"/>
          </a:xfrm>
          <a:prstGeom prst="hexagon">
            <a:avLst/>
          </a:prstGeom>
          <a:solidFill>
            <a:srgbClr val="3B7DD8"/>
          </a:solidFill>
          <a:ln w="6350">
            <a:solidFill>
              <a:srgbClr val="1F4E8C"/>
            </a:solidFill>
            <a:prstDash val="solid"/>
          </a:ln>
        </p:spPr>
      </p:sp>
      <p:sp>
        <p:nvSpPr>
          <p:cNvPr id="51" name="Shape 49"/>
          <p:cNvSpPr/>
          <p:nvPr/>
        </p:nvSpPr>
        <p:spPr>
          <a:xfrm>
            <a:off x="5120640" y="2103120"/>
            <a:ext cx="18288" cy="548640"/>
          </a:xfrm>
          <a:prstGeom prst="line">
            <a:avLst/>
          </a:prstGeom>
          <a:noFill/>
          <a:ln w="15875">
            <a:solidFill>
              <a:srgbClr val="6B3318"/>
            </a:solidFill>
            <a:prstDash val="dash"/>
          </a:ln>
        </p:spPr>
      </p:sp>
      <p:sp>
        <p:nvSpPr>
          <p:cNvPr id="52" name="Shape 50"/>
          <p:cNvSpPr/>
          <p:nvPr/>
        </p:nvSpPr>
        <p:spPr>
          <a:xfrm flipH="1" flipV="1">
            <a:off x="4901184" y="3767328"/>
            <a:ext cx="82296" cy="438912"/>
          </a:xfrm>
          <a:prstGeom prst="line">
            <a:avLst/>
          </a:prstGeom>
          <a:noFill/>
          <a:ln w="15875">
            <a:solidFill>
              <a:srgbClr val="6B3318"/>
            </a:solidFill>
            <a:prstDash val="dash"/>
          </a:ln>
        </p:spPr>
      </p:sp>
      <p:sp>
        <p:nvSpPr>
          <p:cNvPr id="53" name="Shape 51"/>
          <p:cNvSpPr/>
          <p:nvPr/>
        </p:nvSpPr>
        <p:spPr>
          <a:xfrm>
            <a:off x="4251960" y="1325880"/>
            <a:ext cx="1645920" cy="777240"/>
          </a:xfrm>
          <a:prstGeom prst="roundRect">
            <a:avLst>
              <a:gd name="adj" fmla="val 5882"/>
            </a:avLst>
          </a:prstGeom>
          <a:solidFill>
            <a:srgbClr val="FFFFFF"/>
          </a:solidFill>
          <a:ln w="12700">
            <a:solidFill>
              <a:srgbClr val="E08A1E"/>
            </a:solidFill>
            <a:prstDash val="solid"/>
          </a:ln>
        </p:spPr>
      </p:sp>
      <p:sp>
        <p:nvSpPr>
          <p:cNvPr id="54" name="Text 52"/>
          <p:cNvSpPr/>
          <p:nvPr/>
        </p:nvSpPr>
        <p:spPr>
          <a:xfrm>
            <a:off x="4297680" y="1344168"/>
            <a:ext cx="1554480" cy="7315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Liver</a:t>
            </a:r>
            <a:r>
              <a:rPr lang="en-US" sz="1000" dirty="0">
                <a:solidFill>
                  <a:srgbClr val="262B3A"/>
                </a:solidFill>
                <a:latin typeface="Calibri" pitchFamily="34" charset="0"/>
                <a:ea typeface="Calibri" pitchFamily="34" charset="-122"/>
                <a:cs typeface="Calibri" pitchFamily="34" charset="-120"/>
              </a:rPr>
              <a:t>: glucose → </a:t>
            </a:r>
            <a:r>
              <a:rPr lang="en-US" sz="1000" b="1" dirty="0">
                <a:solidFill>
                  <a:srgbClr val="262B3A"/>
                </a:solidFill>
                <a:latin typeface="Calibri" pitchFamily="34" charset="0"/>
                <a:ea typeface="Calibri" pitchFamily="34" charset="-122"/>
                <a:cs typeface="Calibri" pitchFamily="34" charset="-120"/>
              </a:rPr>
              <a:t>glycogen</a:t>
            </a:r>
            <a:r>
              <a:rPr lang="en-US" sz="1000" dirty="0">
                <a:solidFill>
                  <a:srgbClr val="262B3A"/>
                </a:solidFill>
                <a:latin typeface="Calibri" pitchFamily="34" charset="0"/>
                <a:ea typeface="Calibri" pitchFamily="34" charset="-122"/>
                <a:cs typeface="Calibri" pitchFamily="34" charset="-120"/>
              </a:rPr>
              <a:t> (stored)</a:t>
            </a:r>
            <a:endParaRPr lang="en-US" sz="1000" dirty="0"/>
          </a:p>
        </p:txBody>
      </p:sp>
      <p:sp>
        <p:nvSpPr>
          <p:cNvPr id="55" name="Shape 53"/>
          <p:cNvSpPr/>
          <p:nvPr/>
        </p:nvSpPr>
        <p:spPr>
          <a:xfrm>
            <a:off x="4251960" y="4206240"/>
            <a:ext cx="1645920" cy="777240"/>
          </a:xfrm>
          <a:prstGeom prst="roundRect">
            <a:avLst>
              <a:gd name="adj" fmla="val 5882"/>
            </a:avLst>
          </a:prstGeom>
          <a:solidFill>
            <a:srgbClr val="FFFFFF"/>
          </a:solidFill>
          <a:ln w="12700">
            <a:solidFill>
              <a:srgbClr val="8E44AD"/>
            </a:solidFill>
            <a:prstDash val="solid"/>
          </a:ln>
        </p:spPr>
      </p:sp>
      <p:sp>
        <p:nvSpPr>
          <p:cNvPr id="56" name="Text 54"/>
          <p:cNvSpPr/>
          <p:nvPr/>
        </p:nvSpPr>
        <p:spPr>
          <a:xfrm>
            <a:off x="4297680" y="4224528"/>
            <a:ext cx="1554480" cy="7315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Liver</a:t>
            </a:r>
            <a:r>
              <a:rPr lang="en-US" sz="1000" dirty="0">
                <a:solidFill>
                  <a:srgbClr val="262B3A"/>
                </a:solidFill>
                <a:latin typeface="Calibri" pitchFamily="34" charset="0"/>
                <a:ea typeface="Calibri" pitchFamily="34" charset="-122"/>
                <a:cs typeface="Calibri" pitchFamily="34" charset="-120"/>
              </a:rPr>
              <a:t>: </a:t>
            </a:r>
            <a:r>
              <a:rPr lang="en-US" sz="1000" b="1" dirty="0">
                <a:solidFill>
                  <a:srgbClr val="262B3A"/>
                </a:solidFill>
                <a:latin typeface="Calibri" pitchFamily="34" charset="0"/>
                <a:ea typeface="Calibri" pitchFamily="34" charset="-122"/>
                <a:cs typeface="Calibri" pitchFamily="34" charset="-120"/>
              </a:rPr>
              <a:t>glycogen</a:t>
            </a:r>
            <a:r>
              <a:rPr lang="en-US" sz="1000" dirty="0">
                <a:solidFill>
                  <a:srgbClr val="262B3A"/>
                </a:solidFill>
                <a:latin typeface="Calibri" pitchFamily="34" charset="0"/>
                <a:ea typeface="Calibri" pitchFamily="34" charset="-122"/>
                <a:cs typeface="Calibri" pitchFamily="34" charset="-120"/>
              </a:rPr>
              <a:t> → glucose (released into blood)</a:t>
            </a:r>
            <a:endParaRPr lang="en-US" sz="1000" dirty="0"/>
          </a:p>
        </p:txBody>
      </p:sp>
      <p:sp>
        <p:nvSpPr>
          <p:cNvPr id="57" name="Shape 55"/>
          <p:cNvSpPr/>
          <p:nvPr/>
        </p:nvSpPr>
        <p:spPr>
          <a:xfrm>
            <a:off x="6217920" y="1188720"/>
            <a:ext cx="5562295" cy="4526280"/>
          </a:xfrm>
          <a:prstGeom prst="roundRect">
            <a:avLst>
              <a:gd name="adj" fmla="val 1212"/>
            </a:avLst>
          </a:prstGeom>
          <a:solidFill>
            <a:srgbClr val="F4FAF9"/>
          </a:solidFill>
          <a:ln w="9525">
            <a:solidFill>
              <a:srgbClr val="CFE0DE"/>
            </a:solidFill>
            <a:prstDash val="solid"/>
          </a:ln>
        </p:spPr>
      </p:sp>
      <p:sp>
        <p:nvSpPr>
          <p:cNvPr id="58" name="Text 5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antagonistic hormones</a:t>
            </a:r>
            <a:endParaRPr lang="en-US" sz="1300" dirty="0"/>
          </a:p>
        </p:txBody>
      </p:sp>
      <p:sp>
        <p:nvSpPr>
          <p:cNvPr id="59" name="Text 57"/>
          <p:cNvSpPr/>
          <p:nvPr/>
        </p:nvSpPr>
        <p:spPr>
          <a:xfrm>
            <a:off x="6382512" y="1609344"/>
            <a:ext cx="5233111" cy="4032504"/>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Glucose </a:t>
            </a:r>
            <a:r>
              <a:rPr lang="en-US" sz="1250" b="1" dirty="0">
                <a:solidFill>
                  <a:srgbClr val="262B3A"/>
                </a:solidFill>
                <a:latin typeface="Calibri" pitchFamily="34" charset="0"/>
                <a:ea typeface="Calibri" pitchFamily="34" charset="-122"/>
                <a:cs typeface="Calibri" pitchFamily="34" charset="-120"/>
              </a:rPr>
              <a:t>too high</a:t>
            </a:r>
            <a:r>
              <a:rPr lang="en-US" sz="1250" dirty="0">
                <a:solidFill>
                  <a:srgbClr val="262B3A"/>
                </a:solidFill>
                <a:latin typeface="Calibri" pitchFamily="34" charset="0"/>
                <a:ea typeface="Calibri" pitchFamily="34" charset="-122"/>
                <a:cs typeface="Calibri" pitchFamily="34" charset="-120"/>
              </a:rPr>
              <a:t> → pancreas releases </a:t>
            </a:r>
            <a:r>
              <a:rPr lang="en-US" sz="1250" b="1" dirty="0">
                <a:solidFill>
                  <a:srgbClr val="262B3A"/>
                </a:solidFill>
                <a:latin typeface="Calibri" pitchFamily="34" charset="0"/>
                <a:ea typeface="Calibri" pitchFamily="34" charset="-122"/>
                <a:cs typeface="Calibri" pitchFamily="34" charset="-120"/>
              </a:rPr>
              <a:t>insulin</a:t>
            </a:r>
            <a:r>
              <a:rPr lang="en-US" sz="1250" dirty="0">
                <a:solidFill>
                  <a:srgbClr val="262B3A"/>
                </a:solidFill>
                <a:latin typeface="Calibri" pitchFamily="34" charset="0"/>
                <a:ea typeface="Calibri" pitchFamily="34" charset="-122"/>
                <a:cs typeface="Calibri" pitchFamily="34" charset="-120"/>
              </a:rPr>
              <a:t> → liver (and muscle) cells take up glucose and convert it to </a:t>
            </a:r>
            <a:r>
              <a:rPr lang="en-US" sz="1250" b="1" dirty="0">
                <a:solidFill>
                  <a:srgbClr val="262B3A"/>
                </a:solidFill>
                <a:latin typeface="Calibri" pitchFamily="34" charset="0"/>
                <a:ea typeface="Calibri" pitchFamily="34" charset="-122"/>
                <a:cs typeface="Calibri" pitchFamily="34" charset="-120"/>
              </a:rPr>
              <a:t>glycogen</a:t>
            </a:r>
            <a:r>
              <a:rPr lang="en-US" sz="1250" dirty="0">
                <a:solidFill>
                  <a:srgbClr val="262B3A"/>
                </a:solidFill>
                <a:latin typeface="Calibri" pitchFamily="34" charset="0"/>
                <a:ea typeface="Calibri" pitchFamily="34" charset="-122"/>
                <a:cs typeface="Calibri" pitchFamily="34" charset="-120"/>
              </a:rPr>
              <a:t> → level </a:t>
            </a:r>
            <a:r>
              <a:rPr lang="en-US" sz="1250" b="1" dirty="0">
                <a:solidFill>
                  <a:srgbClr val="262B3A"/>
                </a:solidFill>
                <a:latin typeface="Calibri" pitchFamily="34" charset="0"/>
                <a:ea typeface="Calibri" pitchFamily="34" charset="-122"/>
                <a:cs typeface="Calibri" pitchFamily="34" charset="-120"/>
              </a:rPr>
              <a:t>falls</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Glucose </a:t>
            </a:r>
            <a:r>
              <a:rPr lang="en-US" sz="1250" b="1" dirty="0">
                <a:solidFill>
                  <a:srgbClr val="262B3A"/>
                </a:solidFill>
                <a:latin typeface="Calibri" pitchFamily="34" charset="0"/>
                <a:ea typeface="Calibri" pitchFamily="34" charset="-122"/>
                <a:cs typeface="Calibri" pitchFamily="34" charset="-120"/>
              </a:rPr>
              <a:t>too low</a:t>
            </a:r>
            <a:r>
              <a:rPr lang="en-US" sz="1250" dirty="0">
                <a:solidFill>
                  <a:srgbClr val="262B3A"/>
                </a:solidFill>
                <a:latin typeface="Calibri" pitchFamily="34" charset="0"/>
                <a:ea typeface="Calibri" pitchFamily="34" charset="-122"/>
                <a:cs typeface="Calibri" pitchFamily="34" charset="-120"/>
              </a:rPr>
              <a:t> (e.g. between meals, exercise) → pancreas releases </a:t>
            </a:r>
            <a:r>
              <a:rPr lang="en-US" sz="1250" b="1" dirty="0">
                <a:solidFill>
                  <a:srgbClr val="262B3A"/>
                </a:solidFill>
                <a:latin typeface="Calibri" pitchFamily="34" charset="0"/>
                <a:ea typeface="Calibri" pitchFamily="34" charset="-122"/>
                <a:cs typeface="Calibri" pitchFamily="34" charset="-120"/>
              </a:rPr>
              <a:t>glucagon</a:t>
            </a:r>
            <a:r>
              <a:rPr lang="en-US" sz="1250" dirty="0">
                <a:solidFill>
                  <a:srgbClr val="262B3A"/>
                </a:solidFill>
                <a:latin typeface="Calibri" pitchFamily="34" charset="0"/>
                <a:ea typeface="Calibri" pitchFamily="34" charset="-122"/>
                <a:cs typeface="Calibri" pitchFamily="34" charset="-120"/>
              </a:rPr>
              <a:t> → liver converts </a:t>
            </a:r>
            <a:r>
              <a:rPr lang="en-US" sz="1250" b="1" dirty="0">
                <a:solidFill>
                  <a:srgbClr val="262B3A"/>
                </a:solidFill>
                <a:latin typeface="Calibri" pitchFamily="34" charset="0"/>
                <a:ea typeface="Calibri" pitchFamily="34" charset="-122"/>
                <a:cs typeface="Calibri" pitchFamily="34" charset="-120"/>
              </a:rPr>
              <a:t>glycogen back to glucose</a:t>
            </a:r>
            <a:r>
              <a:rPr lang="en-US" sz="1250" dirty="0">
                <a:solidFill>
                  <a:srgbClr val="262B3A"/>
                </a:solidFill>
                <a:latin typeface="Calibri" pitchFamily="34" charset="0"/>
                <a:ea typeface="Calibri" pitchFamily="34" charset="-122"/>
                <a:cs typeface="Calibri" pitchFamily="34" charset="-120"/>
              </a:rPr>
              <a:t> and releases it → level </a:t>
            </a:r>
            <a:r>
              <a:rPr lang="en-US" sz="1250" b="1" dirty="0">
                <a:solidFill>
                  <a:srgbClr val="262B3A"/>
                </a:solidFill>
                <a:latin typeface="Calibri" pitchFamily="34" charset="0"/>
                <a:ea typeface="Calibri" pitchFamily="34" charset="-122"/>
                <a:cs typeface="Calibri" pitchFamily="34" charset="-120"/>
              </a:rPr>
              <a:t>rises</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Insulin and glucagon have </a:t>
            </a:r>
            <a:r>
              <a:rPr lang="en-US" sz="1250" b="1" dirty="0">
                <a:solidFill>
                  <a:srgbClr val="262B3A"/>
                </a:solidFill>
                <a:latin typeface="Calibri" pitchFamily="34" charset="0"/>
                <a:ea typeface="Calibri" pitchFamily="34" charset="-122"/>
                <a:cs typeface="Calibri" pitchFamily="34" charset="-120"/>
              </a:rPr>
              <a:t>opposite</a:t>
            </a:r>
            <a:r>
              <a:rPr lang="en-US" sz="1250" dirty="0">
                <a:solidFill>
                  <a:srgbClr val="262B3A"/>
                </a:solidFill>
                <a:latin typeface="Calibri" pitchFamily="34" charset="0"/>
                <a:ea typeface="Calibri" pitchFamily="34" charset="-122"/>
                <a:cs typeface="Calibri" pitchFamily="34" charset="-120"/>
              </a:rPr>
              <a:t> effects: they are </a:t>
            </a:r>
            <a:r>
              <a:rPr lang="en-US" sz="1250" b="1" dirty="0">
                <a:solidFill>
                  <a:srgbClr val="262B3A"/>
                </a:solidFill>
                <a:latin typeface="Calibri" pitchFamily="34" charset="0"/>
                <a:ea typeface="Calibri" pitchFamily="34" charset="-122"/>
                <a:cs typeface="Calibri" pitchFamily="34" charset="-120"/>
              </a:rPr>
              <a:t>antagonistic</a:t>
            </a:r>
            <a:r>
              <a:rPr lang="en-US" sz="1250" dirty="0">
                <a:solidFill>
                  <a:srgbClr val="262B3A"/>
                </a:solidFill>
                <a:latin typeface="Calibri" pitchFamily="34" charset="0"/>
                <a:ea typeface="Calibri" pitchFamily="34" charset="-122"/>
                <a:cs typeface="Calibri" pitchFamily="34" charset="-120"/>
              </a:rPr>
              <a:t>, like the effectors in B5.4. Together they correct a change in </a:t>
            </a:r>
            <a:r>
              <a:rPr lang="en-US" sz="1250" b="1" dirty="0">
                <a:solidFill>
                  <a:srgbClr val="262B3A"/>
                </a:solidFill>
                <a:latin typeface="Calibri" pitchFamily="34" charset="0"/>
                <a:ea typeface="Calibri" pitchFamily="34" charset="-122"/>
                <a:cs typeface="Calibri" pitchFamily="34" charset="-120"/>
              </a:rPr>
              <a:t>either</a:t>
            </a:r>
            <a:r>
              <a:rPr lang="en-US" sz="1250" dirty="0">
                <a:solidFill>
                  <a:srgbClr val="262B3A"/>
                </a:solidFill>
                <a:latin typeface="Calibri" pitchFamily="34" charset="0"/>
                <a:ea typeface="Calibri" pitchFamily="34" charset="-122"/>
                <a:cs typeface="Calibri" pitchFamily="34" charset="-120"/>
              </a:rPr>
              <a:t> direction.</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Both are controlled by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Glucagon acts mainly on the </a:t>
            </a:r>
            <a:r>
              <a:rPr lang="en-US" sz="1250" b="1" dirty="0">
                <a:solidFill>
                  <a:srgbClr val="262B3A"/>
                </a:solidFill>
                <a:latin typeface="Calibri" pitchFamily="34" charset="0"/>
                <a:ea typeface="Calibri" pitchFamily="34" charset="-122"/>
                <a:cs typeface="Calibri" pitchFamily="34" charset="-120"/>
              </a:rPr>
              <a:t>liver</a:t>
            </a:r>
            <a:r>
              <a:rPr lang="en-US" sz="1250" dirty="0">
                <a:solidFill>
                  <a:srgbClr val="262B3A"/>
                </a:solidFill>
                <a:latin typeface="Calibri" pitchFamily="34" charset="0"/>
                <a:ea typeface="Calibri" pitchFamily="34" charset="-122"/>
                <a:cs typeface="Calibri" pitchFamily="34" charset="-120"/>
              </a:rPr>
              <a:t>; insulin acts on liver, muscle and other body cells.</a:t>
            </a:r>
            <a:endParaRPr lang="en-US" sz="1250" dirty="0"/>
          </a:p>
        </p:txBody>
      </p:sp>
      <p:sp>
        <p:nvSpPr>
          <p:cNvPr id="60" name="Shape 58"/>
          <p:cNvSpPr/>
          <p:nvPr/>
        </p:nvSpPr>
        <p:spPr>
          <a:xfrm>
            <a:off x="411480" y="5833872"/>
            <a:ext cx="11368735" cy="530352"/>
          </a:xfrm>
          <a:prstGeom prst="rect">
            <a:avLst/>
          </a:prstGeom>
          <a:solidFill>
            <a:srgbClr val="FFF4E0"/>
          </a:solidFill>
          <a:ln w="6350">
            <a:solidFill>
              <a:srgbClr val="F1D9A8"/>
            </a:solidFill>
            <a:prstDash val="solid"/>
          </a:ln>
        </p:spPr>
      </p:sp>
      <p:sp>
        <p:nvSpPr>
          <p:cNvPr id="61" name="Shape 59"/>
          <p:cNvSpPr/>
          <p:nvPr/>
        </p:nvSpPr>
        <p:spPr>
          <a:xfrm>
            <a:off x="411480" y="5833872"/>
            <a:ext cx="82296" cy="530352"/>
          </a:xfrm>
          <a:prstGeom prst="rect">
            <a:avLst/>
          </a:prstGeom>
          <a:solidFill>
            <a:srgbClr val="E39A2F"/>
          </a:solidFill>
          <a:ln w="12700">
            <a:solidFill>
              <a:srgbClr val="E39A2F"/>
            </a:solidFill>
            <a:prstDash val="solid"/>
          </a:ln>
        </p:spPr>
      </p:sp>
      <p:sp>
        <p:nvSpPr>
          <p:cNvPr id="62" name="Text 6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Do not mix them up: </a:t>
            </a:r>
            <a:r>
              <a:rPr lang="en-US" sz="1150" b="1" dirty="0">
                <a:solidFill>
                  <a:srgbClr val="262B3A"/>
                </a:solidFill>
                <a:latin typeface="Calibri" pitchFamily="34" charset="0"/>
                <a:ea typeface="Calibri" pitchFamily="34" charset="-122"/>
                <a:cs typeface="Calibri" pitchFamily="34" charset="-120"/>
              </a:rPr>
              <a:t>glucagon</a:t>
            </a:r>
            <a:r>
              <a:rPr lang="en-US" sz="1150" dirty="0">
                <a:solidFill>
                  <a:srgbClr val="262B3A"/>
                </a:solidFill>
                <a:latin typeface="Calibri" pitchFamily="34" charset="0"/>
                <a:ea typeface="Calibri" pitchFamily="34" charset="-122"/>
                <a:cs typeface="Calibri" pitchFamily="34" charset="-120"/>
              </a:rPr>
              <a:t> is a hormone; </a:t>
            </a:r>
            <a:r>
              <a:rPr lang="en-US" sz="1150" b="1" dirty="0">
                <a:solidFill>
                  <a:srgbClr val="262B3A"/>
                </a:solidFill>
                <a:latin typeface="Calibri" pitchFamily="34" charset="0"/>
                <a:ea typeface="Calibri" pitchFamily="34" charset="-122"/>
                <a:cs typeface="Calibri" pitchFamily="34" charset="-120"/>
              </a:rPr>
              <a:t>glycogen</a:t>
            </a:r>
            <a:r>
              <a:rPr lang="en-US" sz="1150" dirty="0">
                <a:solidFill>
                  <a:srgbClr val="262B3A"/>
                </a:solidFill>
                <a:latin typeface="Calibri" pitchFamily="34" charset="0"/>
                <a:ea typeface="Calibri" pitchFamily="34" charset="-122"/>
                <a:cs typeface="Calibri" pitchFamily="34" charset="-120"/>
              </a:rPr>
              <a:t> is a stored carbohydrate. Which one is released when you have not eaten for 6 hours?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Reading hormone graphs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B5.6.2 • blood glucose, insulin and glucagon after a meal</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B5.6.2  |  10</a:t>
            </a:r>
            <a:endParaRPr lang="en-US" sz="1000" dirty="0"/>
          </a:p>
        </p:txBody>
      </p:sp>
      <p:sp>
        <p:nvSpPr>
          <p:cNvPr id="10" name="Shape 8"/>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model curves plotted to scale; meal eaten at 0 min</a:t>
            </a:r>
            <a:endParaRPr lang="en-US" sz="1000" dirty="0"/>
          </a:p>
        </p:txBody>
      </p:sp>
      <p:sp>
        <p:nvSpPr>
          <p:cNvPr id="12" name="Shape 10"/>
          <p:cNvSpPr/>
          <p:nvPr/>
        </p:nvSpPr>
        <p:spPr>
          <a:xfrm>
            <a:off x="1325880" y="1371600"/>
            <a:ext cx="4846320" cy="1463040"/>
          </a:xfrm>
          <a:prstGeom prst="rect">
            <a:avLst/>
          </a:prstGeom>
          <a:solidFill>
            <a:srgbClr val="FFFFFF"/>
          </a:solidFill>
          <a:ln/>
        </p:spPr>
      </p:sp>
      <p:sp>
        <p:nvSpPr>
          <p:cNvPr id="13" name="Shape 11"/>
          <p:cNvSpPr/>
          <p:nvPr/>
        </p:nvSpPr>
        <p:spPr>
          <a:xfrm>
            <a:off x="1325880" y="1371600"/>
            <a:ext cx="91" cy="1463040"/>
          </a:xfrm>
          <a:prstGeom prst="line">
            <a:avLst/>
          </a:prstGeom>
          <a:noFill/>
          <a:ln w="6350">
            <a:solidFill>
              <a:srgbClr val="C5DCD9"/>
            </a:solidFill>
            <a:prstDash val="solid"/>
          </a:ln>
        </p:spPr>
      </p:sp>
      <p:sp>
        <p:nvSpPr>
          <p:cNvPr id="14" name="Shape 12"/>
          <p:cNvSpPr/>
          <p:nvPr/>
        </p:nvSpPr>
        <p:spPr>
          <a:xfrm>
            <a:off x="1931670" y="1371600"/>
            <a:ext cx="91" cy="1463040"/>
          </a:xfrm>
          <a:prstGeom prst="line">
            <a:avLst/>
          </a:prstGeom>
          <a:noFill/>
          <a:ln w="6350">
            <a:solidFill>
              <a:srgbClr val="C5DCD9"/>
            </a:solidFill>
            <a:prstDash val="solid"/>
          </a:ln>
        </p:spPr>
      </p:sp>
      <p:sp>
        <p:nvSpPr>
          <p:cNvPr id="15" name="Shape 13"/>
          <p:cNvSpPr/>
          <p:nvPr/>
        </p:nvSpPr>
        <p:spPr>
          <a:xfrm>
            <a:off x="2537460" y="1371600"/>
            <a:ext cx="91" cy="1463040"/>
          </a:xfrm>
          <a:prstGeom prst="line">
            <a:avLst/>
          </a:prstGeom>
          <a:noFill/>
          <a:ln w="6350">
            <a:solidFill>
              <a:srgbClr val="C5DCD9"/>
            </a:solidFill>
            <a:prstDash val="solid"/>
          </a:ln>
        </p:spPr>
      </p:sp>
      <p:sp>
        <p:nvSpPr>
          <p:cNvPr id="16" name="Shape 14"/>
          <p:cNvSpPr/>
          <p:nvPr/>
        </p:nvSpPr>
        <p:spPr>
          <a:xfrm>
            <a:off x="3143250" y="1371600"/>
            <a:ext cx="91" cy="1463040"/>
          </a:xfrm>
          <a:prstGeom prst="line">
            <a:avLst/>
          </a:prstGeom>
          <a:noFill/>
          <a:ln w="6350">
            <a:solidFill>
              <a:srgbClr val="C5DCD9"/>
            </a:solidFill>
            <a:prstDash val="solid"/>
          </a:ln>
        </p:spPr>
      </p:sp>
      <p:sp>
        <p:nvSpPr>
          <p:cNvPr id="17" name="Shape 15"/>
          <p:cNvSpPr/>
          <p:nvPr/>
        </p:nvSpPr>
        <p:spPr>
          <a:xfrm>
            <a:off x="3749040" y="1371600"/>
            <a:ext cx="91" cy="1463040"/>
          </a:xfrm>
          <a:prstGeom prst="line">
            <a:avLst/>
          </a:prstGeom>
          <a:noFill/>
          <a:ln w="6350">
            <a:solidFill>
              <a:srgbClr val="C5DCD9"/>
            </a:solidFill>
            <a:prstDash val="solid"/>
          </a:ln>
        </p:spPr>
      </p:sp>
      <p:sp>
        <p:nvSpPr>
          <p:cNvPr id="18" name="Shape 16"/>
          <p:cNvSpPr/>
          <p:nvPr/>
        </p:nvSpPr>
        <p:spPr>
          <a:xfrm>
            <a:off x="4354830" y="1371600"/>
            <a:ext cx="91" cy="1463040"/>
          </a:xfrm>
          <a:prstGeom prst="line">
            <a:avLst/>
          </a:prstGeom>
          <a:noFill/>
          <a:ln w="6350">
            <a:solidFill>
              <a:srgbClr val="C5DCD9"/>
            </a:solidFill>
            <a:prstDash val="solid"/>
          </a:ln>
        </p:spPr>
      </p:sp>
      <p:sp>
        <p:nvSpPr>
          <p:cNvPr id="19" name="Shape 17"/>
          <p:cNvSpPr/>
          <p:nvPr/>
        </p:nvSpPr>
        <p:spPr>
          <a:xfrm>
            <a:off x="4960620" y="1371600"/>
            <a:ext cx="91" cy="1463040"/>
          </a:xfrm>
          <a:prstGeom prst="line">
            <a:avLst/>
          </a:prstGeom>
          <a:noFill/>
          <a:ln w="6350">
            <a:solidFill>
              <a:srgbClr val="C5DCD9"/>
            </a:solidFill>
            <a:prstDash val="solid"/>
          </a:ln>
        </p:spPr>
      </p:sp>
      <p:sp>
        <p:nvSpPr>
          <p:cNvPr id="20" name="Shape 18"/>
          <p:cNvSpPr/>
          <p:nvPr/>
        </p:nvSpPr>
        <p:spPr>
          <a:xfrm>
            <a:off x="5566410" y="1371600"/>
            <a:ext cx="91" cy="1463040"/>
          </a:xfrm>
          <a:prstGeom prst="line">
            <a:avLst/>
          </a:prstGeom>
          <a:noFill/>
          <a:ln w="6350">
            <a:solidFill>
              <a:srgbClr val="C5DCD9"/>
            </a:solidFill>
            <a:prstDash val="solid"/>
          </a:ln>
        </p:spPr>
      </p:sp>
      <p:sp>
        <p:nvSpPr>
          <p:cNvPr id="21" name="Shape 19"/>
          <p:cNvSpPr/>
          <p:nvPr/>
        </p:nvSpPr>
        <p:spPr>
          <a:xfrm>
            <a:off x="6172200" y="1371600"/>
            <a:ext cx="91" cy="1463040"/>
          </a:xfrm>
          <a:prstGeom prst="line">
            <a:avLst/>
          </a:prstGeom>
          <a:noFill/>
          <a:ln w="6350">
            <a:solidFill>
              <a:srgbClr val="C5DCD9"/>
            </a:solidFill>
            <a:prstDash val="solid"/>
          </a:ln>
        </p:spPr>
      </p:sp>
      <p:sp>
        <p:nvSpPr>
          <p:cNvPr id="22" name="Shape 20"/>
          <p:cNvSpPr/>
          <p:nvPr/>
        </p:nvSpPr>
        <p:spPr>
          <a:xfrm>
            <a:off x="1325880" y="2834640"/>
            <a:ext cx="4846320" cy="91"/>
          </a:xfrm>
          <a:prstGeom prst="line">
            <a:avLst/>
          </a:prstGeom>
          <a:noFill/>
          <a:ln w="6350">
            <a:solidFill>
              <a:srgbClr val="C5DCD9"/>
            </a:solidFill>
            <a:prstDash val="solid"/>
          </a:ln>
        </p:spPr>
      </p:sp>
      <p:sp>
        <p:nvSpPr>
          <p:cNvPr id="23" name="Shape 21"/>
          <p:cNvSpPr/>
          <p:nvPr/>
        </p:nvSpPr>
        <p:spPr>
          <a:xfrm>
            <a:off x="1325880" y="2346960"/>
            <a:ext cx="4846320" cy="91"/>
          </a:xfrm>
          <a:prstGeom prst="line">
            <a:avLst/>
          </a:prstGeom>
          <a:noFill/>
          <a:ln w="6350">
            <a:solidFill>
              <a:srgbClr val="C5DCD9"/>
            </a:solidFill>
            <a:prstDash val="solid"/>
          </a:ln>
        </p:spPr>
      </p:sp>
      <p:sp>
        <p:nvSpPr>
          <p:cNvPr id="24" name="Shape 22"/>
          <p:cNvSpPr/>
          <p:nvPr/>
        </p:nvSpPr>
        <p:spPr>
          <a:xfrm>
            <a:off x="1325880" y="1859280"/>
            <a:ext cx="4846320" cy="91"/>
          </a:xfrm>
          <a:prstGeom prst="line">
            <a:avLst/>
          </a:prstGeom>
          <a:noFill/>
          <a:ln w="6350">
            <a:solidFill>
              <a:srgbClr val="C5DCD9"/>
            </a:solidFill>
            <a:prstDash val="solid"/>
          </a:ln>
        </p:spPr>
      </p:sp>
      <p:sp>
        <p:nvSpPr>
          <p:cNvPr id="25" name="Shape 23"/>
          <p:cNvSpPr/>
          <p:nvPr/>
        </p:nvSpPr>
        <p:spPr>
          <a:xfrm>
            <a:off x="1325880" y="1371600"/>
            <a:ext cx="4846320" cy="91"/>
          </a:xfrm>
          <a:prstGeom prst="line">
            <a:avLst/>
          </a:prstGeom>
          <a:noFill/>
          <a:ln w="6350">
            <a:solidFill>
              <a:srgbClr val="C5DCD9"/>
            </a:solidFill>
            <a:prstDash val="solid"/>
          </a:ln>
        </p:spPr>
      </p:sp>
      <p:sp>
        <p:nvSpPr>
          <p:cNvPr id="26" name="Shape 24"/>
          <p:cNvSpPr/>
          <p:nvPr/>
        </p:nvSpPr>
        <p:spPr>
          <a:xfrm>
            <a:off x="1325880" y="2834640"/>
            <a:ext cx="4846320" cy="91"/>
          </a:xfrm>
          <a:prstGeom prst="line">
            <a:avLst/>
          </a:prstGeom>
          <a:noFill/>
          <a:ln w="19050">
            <a:solidFill>
              <a:srgbClr val="133536"/>
            </a:solidFill>
            <a:prstDash val="solid"/>
          </a:ln>
        </p:spPr>
      </p:sp>
      <p:sp>
        <p:nvSpPr>
          <p:cNvPr id="27" name="Shape 25"/>
          <p:cNvSpPr/>
          <p:nvPr/>
        </p:nvSpPr>
        <p:spPr>
          <a:xfrm flipV="1">
            <a:off x="1325880" y="1371600"/>
            <a:ext cx="91" cy="1463040"/>
          </a:xfrm>
          <a:prstGeom prst="line">
            <a:avLst/>
          </a:prstGeom>
          <a:noFill/>
          <a:ln w="19050">
            <a:solidFill>
              <a:srgbClr val="133536"/>
            </a:solidFill>
            <a:prstDash val="solid"/>
          </a:ln>
        </p:spPr>
      </p:sp>
      <p:sp>
        <p:nvSpPr>
          <p:cNvPr id="28" name="Shape 26"/>
          <p:cNvSpPr/>
          <p:nvPr/>
        </p:nvSpPr>
        <p:spPr>
          <a:xfrm>
            <a:off x="1325880" y="2834640"/>
            <a:ext cx="91" cy="54864"/>
          </a:xfrm>
          <a:prstGeom prst="line">
            <a:avLst/>
          </a:prstGeom>
          <a:noFill/>
          <a:ln w="12700">
            <a:solidFill>
              <a:srgbClr val="133536"/>
            </a:solidFill>
            <a:prstDash val="solid"/>
          </a:ln>
        </p:spPr>
      </p:sp>
      <p:sp>
        <p:nvSpPr>
          <p:cNvPr id="29" name="Text 27"/>
          <p:cNvSpPr/>
          <p:nvPr/>
        </p:nvSpPr>
        <p:spPr>
          <a:xfrm>
            <a:off x="105156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0" name="Shape 28"/>
          <p:cNvSpPr/>
          <p:nvPr/>
        </p:nvSpPr>
        <p:spPr>
          <a:xfrm>
            <a:off x="1931670" y="2834640"/>
            <a:ext cx="91" cy="54864"/>
          </a:xfrm>
          <a:prstGeom prst="line">
            <a:avLst/>
          </a:prstGeom>
          <a:noFill/>
          <a:ln w="12700">
            <a:solidFill>
              <a:srgbClr val="133536"/>
            </a:solidFill>
            <a:prstDash val="solid"/>
          </a:ln>
        </p:spPr>
      </p:sp>
      <p:sp>
        <p:nvSpPr>
          <p:cNvPr id="31" name="Text 29"/>
          <p:cNvSpPr/>
          <p:nvPr/>
        </p:nvSpPr>
        <p:spPr>
          <a:xfrm>
            <a:off x="165735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32" name="Shape 30"/>
          <p:cNvSpPr/>
          <p:nvPr/>
        </p:nvSpPr>
        <p:spPr>
          <a:xfrm>
            <a:off x="2537460" y="2834640"/>
            <a:ext cx="91" cy="54864"/>
          </a:xfrm>
          <a:prstGeom prst="line">
            <a:avLst/>
          </a:prstGeom>
          <a:noFill/>
          <a:ln w="12700">
            <a:solidFill>
              <a:srgbClr val="133536"/>
            </a:solidFill>
            <a:prstDash val="solid"/>
          </a:ln>
        </p:spPr>
      </p:sp>
      <p:sp>
        <p:nvSpPr>
          <p:cNvPr id="33" name="Text 31"/>
          <p:cNvSpPr/>
          <p:nvPr/>
        </p:nvSpPr>
        <p:spPr>
          <a:xfrm>
            <a:off x="226314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34" name="Shape 32"/>
          <p:cNvSpPr/>
          <p:nvPr/>
        </p:nvSpPr>
        <p:spPr>
          <a:xfrm>
            <a:off x="3143250" y="2834640"/>
            <a:ext cx="91" cy="54864"/>
          </a:xfrm>
          <a:prstGeom prst="line">
            <a:avLst/>
          </a:prstGeom>
          <a:noFill/>
          <a:ln w="12700">
            <a:solidFill>
              <a:srgbClr val="133536"/>
            </a:solidFill>
            <a:prstDash val="solid"/>
          </a:ln>
        </p:spPr>
      </p:sp>
      <p:sp>
        <p:nvSpPr>
          <p:cNvPr id="35" name="Text 33"/>
          <p:cNvSpPr/>
          <p:nvPr/>
        </p:nvSpPr>
        <p:spPr>
          <a:xfrm>
            <a:off x="286893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36" name="Shape 34"/>
          <p:cNvSpPr/>
          <p:nvPr/>
        </p:nvSpPr>
        <p:spPr>
          <a:xfrm>
            <a:off x="3749040" y="2834640"/>
            <a:ext cx="91" cy="54864"/>
          </a:xfrm>
          <a:prstGeom prst="line">
            <a:avLst/>
          </a:prstGeom>
          <a:noFill/>
          <a:ln w="12700">
            <a:solidFill>
              <a:srgbClr val="133536"/>
            </a:solidFill>
            <a:prstDash val="solid"/>
          </a:ln>
        </p:spPr>
      </p:sp>
      <p:sp>
        <p:nvSpPr>
          <p:cNvPr id="37" name="Text 35"/>
          <p:cNvSpPr/>
          <p:nvPr/>
        </p:nvSpPr>
        <p:spPr>
          <a:xfrm>
            <a:off x="347472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38" name="Shape 36"/>
          <p:cNvSpPr/>
          <p:nvPr/>
        </p:nvSpPr>
        <p:spPr>
          <a:xfrm>
            <a:off x="4354830" y="2834640"/>
            <a:ext cx="91" cy="54864"/>
          </a:xfrm>
          <a:prstGeom prst="line">
            <a:avLst/>
          </a:prstGeom>
          <a:noFill/>
          <a:ln w="12700">
            <a:solidFill>
              <a:srgbClr val="133536"/>
            </a:solidFill>
            <a:prstDash val="solid"/>
          </a:ln>
        </p:spPr>
      </p:sp>
      <p:sp>
        <p:nvSpPr>
          <p:cNvPr id="39" name="Text 37"/>
          <p:cNvSpPr/>
          <p:nvPr/>
        </p:nvSpPr>
        <p:spPr>
          <a:xfrm>
            <a:off x="408051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40" name="Shape 38"/>
          <p:cNvSpPr/>
          <p:nvPr/>
        </p:nvSpPr>
        <p:spPr>
          <a:xfrm>
            <a:off x="4960620" y="2834640"/>
            <a:ext cx="91" cy="54864"/>
          </a:xfrm>
          <a:prstGeom prst="line">
            <a:avLst/>
          </a:prstGeom>
          <a:noFill/>
          <a:ln w="12700">
            <a:solidFill>
              <a:srgbClr val="133536"/>
            </a:solidFill>
            <a:prstDash val="solid"/>
          </a:ln>
        </p:spPr>
      </p:sp>
      <p:sp>
        <p:nvSpPr>
          <p:cNvPr id="41" name="Text 39"/>
          <p:cNvSpPr/>
          <p:nvPr/>
        </p:nvSpPr>
        <p:spPr>
          <a:xfrm>
            <a:off x="468630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42" name="Shape 40"/>
          <p:cNvSpPr/>
          <p:nvPr/>
        </p:nvSpPr>
        <p:spPr>
          <a:xfrm>
            <a:off x="5566410" y="2834640"/>
            <a:ext cx="91" cy="54864"/>
          </a:xfrm>
          <a:prstGeom prst="line">
            <a:avLst/>
          </a:prstGeom>
          <a:noFill/>
          <a:ln w="12700">
            <a:solidFill>
              <a:srgbClr val="133536"/>
            </a:solidFill>
            <a:prstDash val="solid"/>
          </a:ln>
        </p:spPr>
      </p:sp>
      <p:sp>
        <p:nvSpPr>
          <p:cNvPr id="43" name="Text 41"/>
          <p:cNvSpPr/>
          <p:nvPr/>
        </p:nvSpPr>
        <p:spPr>
          <a:xfrm>
            <a:off x="529209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210</a:t>
            </a:r>
            <a:endParaRPr lang="en-US" sz="1000" dirty="0"/>
          </a:p>
        </p:txBody>
      </p:sp>
      <p:sp>
        <p:nvSpPr>
          <p:cNvPr id="44" name="Shape 42"/>
          <p:cNvSpPr/>
          <p:nvPr/>
        </p:nvSpPr>
        <p:spPr>
          <a:xfrm>
            <a:off x="6172200" y="2834640"/>
            <a:ext cx="91" cy="54864"/>
          </a:xfrm>
          <a:prstGeom prst="line">
            <a:avLst/>
          </a:prstGeom>
          <a:noFill/>
          <a:ln w="12700">
            <a:solidFill>
              <a:srgbClr val="133536"/>
            </a:solidFill>
            <a:prstDash val="solid"/>
          </a:ln>
        </p:spPr>
      </p:sp>
      <p:sp>
        <p:nvSpPr>
          <p:cNvPr id="45" name="Text 43"/>
          <p:cNvSpPr/>
          <p:nvPr/>
        </p:nvSpPr>
        <p:spPr>
          <a:xfrm>
            <a:off x="5897880" y="2889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240</a:t>
            </a:r>
            <a:endParaRPr lang="en-US" sz="1000" dirty="0"/>
          </a:p>
        </p:txBody>
      </p:sp>
      <p:sp>
        <p:nvSpPr>
          <p:cNvPr id="46" name="Shape 44"/>
          <p:cNvSpPr/>
          <p:nvPr/>
        </p:nvSpPr>
        <p:spPr>
          <a:xfrm>
            <a:off x="1271016" y="2834640"/>
            <a:ext cx="54864" cy="91"/>
          </a:xfrm>
          <a:prstGeom prst="line">
            <a:avLst/>
          </a:prstGeom>
          <a:noFill/>
          <a:ln w="12700">
            <a:solidFill>
              <a:srgbClr val="133536"/>
            </a:solidFill>
            <a:prstDash val="solid"/>
          </a:ln>
        </p:spPr>
      </p:sp>
      <p:sp>
        <p:nvSpPr>
          <p:cNvPr id="47" name="Text 45"/>
          <p:cNvSpPr/>
          <p:nvPr/>
        </p:nvSpPr>
        <p:spPr>
          <a:xfrm>
            <a:off x="886968" y="2743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48" name="Shape 46"/>
          <p:cNvSpPr/>
          <p:nvPr/>
        </p:nvSpPr>
        <p:spPr>
          <a:xfrm>
            <a:off x="1271016" y="2346960"/>
            <a:ext cx="54864" cy="91"/>
          </a:xfrm>
          <a:prstGeom prst="line">
            <a:avLst/>
          </a:prstGeom>
          <a:noFill/>
          <a:ln w="12700">
            <a:solidFill>
              <a:srgbClr val="133536"/>
            </a:solidFill>
            <a:prstDash val="solid"/>
          </a:ln>
        </p:spPr>
      </p:sp>
      <p:sp>
        <p:nvSpPr>
          <p:cNvPr id="49" name="Text 47"/>
          <p:cNvSpPr/>
          <p:nvPr/>
        </p:nvSpPr>
        <p:spPr>
          <a:xfrm>
            <a:off x="886968" y="22555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0" name="Shape 48"/>
          <p:cNvSpPr/>
          <p:nvPr/>
        </p:nvSpPr>
        <p:spPr>
          <a:xfrm>
            <a:off x="1271016" y="1859280"/>
            <a:ext cx="54864" cy="91"/>
          </a:xfrm>
          <a:prstGeom prst="line">
            <a:avLst/>
          </a:prstGeom>
          <a:noFill/>
          <a:ln w="12700">
            <a:solidFill>
              <a:srgbClr val="133536"/>
            </a:solidFill>
            <a:prstDash val="solid"/>
          </a:ln>
        </p:spPr>
      </p:sp>
      <p:sp>
        <p:nvSpPr>
          <p:cNvPr id="51" name="Text 49"/>
          <p:cNvSpPr/>
          <p:nvPr/>
        </p:nvSpPr>
        <p:spPr>
          <a:xfrm>
            <a:off x="886968" y="1767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52" name="Shape 50"/>
          <p:cNvSpPr/>
          <p:nvPr/>
        </p:nvSpPr>
        <p:spPr>
          <a:xfrm>
            <a:off x="1271016" y="1371600"/>
            <a:ext cx="54864" cy="91"/>
          </a:xfrm>
          <a:prstGeom prst="line">
            <a:avLst/>
          </a:prstGeom>
          <a:noFill/>
          <a:ln w="12700">
            <a:solidFill>
              <a:srgbClr val="133536"/>
            </a:solidFill>
            <a:prstDash val="solid"/>
          </a:ln>
        </p:spPr>
      </p:sp>
      <p:sp>
        <p:nvSpPr>
          <p:cNvPr id="53" name="Text 51"/>
          <p:cNvSpPr/>
          <p:nvPr/>
        </p:nvSpPr>
        <p:spPr>
          <a:xfrm>
            <a:off x="88696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a:t>
            </a:r>
            <a:endParaRPr lang="en-US" sz="1000" dirty="0"/>
          </a:p>
        </p:txBody>
      </p:sp>
      <p:sp>
        <p:nvSpPr>
          <p:cNvPr id="54" name="Text 52"/>
          <p:cNvSpPr/>
          <p:nvPr/>
        </p:nvSpPr>
        <p:spPr>
          <a:xfrm rot="16200000">
            <a:off x="27432" y="1975104"/>
            <a:ext cx="1463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Glucose / mmol/L</a:t>
            </a:r>
            <a:endParaRPr lang="en-US" sz="1050" dirty="0"/>
          </a:p>
        </p:txBody>
      </p:sp>
      <p:sp>
        <p:nvSpPr>
          <p:cNvPr id="55" name="Shape 53"/>
          <p:cNvSpPr/>
          <p:nvPr/>
        </p:nvSpPr>
        <p:spPr>
          <a:xfrm>
            <a:off x="1325880" y="3246120"/>
            <a:ext cx="4846320" cy="1691640"/>
          </a:xfrm>
          <a:prstGeom prst="rect">
            <a:avLst/>
          </a:prstGeom>
          <a:solidFill>
            <a:srgbClr val="FFFFFF"/>
          </a:solidFill>
          <a:ln/>
        </p:spPr>
      </p:sp>
      <p:sp>
        <p:nvSpPr>
          <p:cNvPr id="56" name="Shape 54"/>
          <p:cNvSpPr/>
          <p:nvPr/>
        </p:nvSpPr>
        <p:spPr>
          <a:xfrm>
            <a:off x="1325880" y="3246120"/>
            <a:ext cx="91" cy="1691640"/>
          </a:xfrm>
          <a:prstGeom prst="line">
            <a:avLst/>
          </a:prstGeom>
          <a:noFill/>
          <a:ln w="6350">
            <a:solidFill>
              <a:srgbClr val="C5DCD9"/>
            </a:solidFill>
            <a:prstDash val="solid"/>
          </a:ln>
        </p:spPr>
      </p:sp>
      <p:sp>
        <p:nvSpPr>
          <p:cNvPr id="57" name="Shape 55"/>
          <p:cNvSpPr/>
          <p:nvPr/>
        </p:nvSpPr>
        <p:spPr>
          <a:xfrm>
            <a:off x="1931670" y="3246120"/>
            <a:ext cx="91" cy="1691640"/>
          </a:xfrm>
          <a:prstGeom prst="line">
            <a:avLst/>
          </a:prstGeom>
          <a:noFill/>
          <a:ln w="6350">
            <a:solidFill>
              <a:srgbClr val="C5DCD9"/>
            </a:solidFill>
            <a:prstDash val="solid"/>
          </a:ln>
        </p:spPr>
      </p:sp>
      <p:sp>
        <p:nvSpPr>
          <p:cNvPr id="58" name="Shape 56"/>
          <p:cNvSpPr/>
          <p:nvPr/>
        </p:nvSpPr>
        <p:spPr>
          <a:xfrm>
            <a:off x="2537460" y="3246120"/>
            <a:ext cx="91" cy="1691640"/>
          </a:xfrm>
          <a:prstGeom prst="line">
            <a:avLst/>
          </a:prstGeom>
          <a:noFill/>
          <a:ln w="6350">
            <a:solidFill>
              <a:srgbClr val="C5DCD9"/>
            </a:solidFill>
            <a:prstDash val="solid"/>
          </a:ln>
        </p:spPr>
      </p:sp>
      <p:sp>
        <p:nvSpPr>
          <p:cNvPr id="59" name="Shape 57"/>
          <p:cNvSpPr/>
          <p:nvPr/>
        </p:nvSpPr>
        <p:spPr>
          <a:xfrm>
            <a:off x="3143250" y="3246120"/>
            <a:ext cx="91" cy="1691640"/>
          </a:xfrm>
          <a:prstGeom prst="line">
            <a:avLst/>
          </a:prstGeom>
          <a:noFill/>
          <a:ln w="6350">
            <a:solidFill>
              <a:srgbClr val="C5DCD9"/>
            </a:solidFill>
            <a:prstDash val="solid"/>
          </a:ln>
        </p:spPr>
      </p:sp>
      <p:sp>
        <p:nvSpPr>
          <p:cNvPr id="60" name="Shape 58"/>
          <p:cNvSpPr/>
          <p:nvPr/>
        </p:nvSpPr>
        <p:spPr>
          <a:xfrm>
            <a:off x="3749040" y="3246120"/>
            <a:ext cx="91" cy="1691640"/>
          </a:xfrm>
          <a:prstGeom prst="line">
            <a:avLst/>
          </a:prstGeom>
          <a:noFill/>
          <a:ln w="6350">
            <a:solidFill>
              <a:srgbClr val="C5DCD9"/>
            </a:solidFill>
            <a:prstDash val="solid"/>
          </a:ln>
        </p:spPr>
      </p:sp>
      <p:sp>
        <p:nvSpPr>
          <p:cNvPr id="61" name="Shape 59"/>
          <p:cNvSpPr/>
          <p:nvPr/>
        </p:nvSpPr>
        <p:spPr>
          <a:xfrm>
            <a:off x="4354830" y="3246120"/>
            <a:ext cx="91" cy="1691640"/>
          </a:xfrm>
          <a:prstGeom prst="line">
            <a:avLst/>
          </a:prstGeom>
          <a:noFill/>
          <a:ln w="6350">
            <a:solidFill>
              <a:srgbClr val="C5DCD9"/>
            </a:solidFill>
            <a:prstDash val="solid"/>
          </a:ln>
        </p:spPr>
      </p:sp>
      <p:sp>
        <p:nvSpPr>
          <p:cNvPr id="62" name="Shape 60"/>
          <p:cNvSpPr/>
          <p:nvPr/>
        </p:nvSpPr>
        <p:spPr>
          <a:xfrm>
            <a:off x="4960620" y="3246120"/>
            <a:ext cx="91" cy="1691640"/>
          </a:xfrm>
          <a:prstGeom prst="line">
            <a:avLst/>
          </a:prstGeom>
          <a:noFill/>
          <a:ln w="6350">
            <a:solidFill>
              <a:srgbClr val="C5DCD9"/>
            </a:solidFill>
            <a:prstDash val="solid"/>
          </a:ln>
        </p:spPr>
      </p:sp>
      <p:sp>
        <p:nvSpPr>
          <p:cNvPr id="63" name="Shape 61"/>
          <p:cNvSpPr/>
          <p:nvPr/>
        </p:nvSpPr>
        <p:spPr>
          <a:xfrm>
            <a:off x="5566410" y="3246120"/>
            <a:ext cx="91" cy="1691640"/>
          </a:xfrm>
          <a:prstGeom prst="line">
            <a:avLst/>
          </a:prstGeom>
          <a:noFill/>
          <a:ln w="6350">
            <a:solidFill>
              <a:srgbClr val="C5DCD9"/>
            </a:solidFill>
            <a:prstDash val="solid"/>
          </a:ln>
        </p:spPr>
      </p:sp>
      <p:sp>
        <p:nvSpPr>
          <p:cNvPr id="64" name="Shape 62"/>
          <p:cNvSpPr/>
          <p:nvPr/>
        </p:nvSpPr>
        <p:spPr>
          <a:xfrm>
            <a:off x="6172200" y="3246120"/>
            <a:ext cx="91" cy="1691640"/>
          </a:xfrm>
          <a:prstGeom prst="line">
            <a:avLst/>
          </a:prstGeom>
          <a:noFill/>
          <a:ln w="6350">
            <a:solidFill>
              <a:srgbClr val="C5DCD9"/>
            </a:solidFill>
            <a:prstDash val="solid"/>
          </a:ln>
        </p:spPr>
      </p:sp>
      <p:sp>
        <p:nvSpPr>
          <p:cNvPr id="65" name="Shape 63"/>
          <p:cNvSpPr/>
          <p:nvPr/>
        </p:nvSpPr>
        <p:spPr>
          <a:xfrm>
            <a:off x="1325880" y="4937760"/>
            <a:ext cx="4846320" cy="91"/>
          </a:xfrm>
          <a:prstGeom prst="line">
            <a:avLst/>
          </a:prstGeom>
          <a:noFill/>
          <a:ln w="6350">
            <a:solidFill>
              <a:srgbClr val="C5DCD9"/>
            </a:solidFill>
            <a:prstDash val="solid"/>
          </a:ln>
        </p:spPr>
      </p:sp>
      <p:sp>
        <p:nvSpPr>
          <p:cNvPr id="66" name="Shape 64"/>
          <p:cNvSpPr/>
          <p:nvPr/>
        </p:nvSpPr>
        <p:spPr>
          <a:xfrm>
            <a:off x="1325880" y="4599432"/>
            <a:ext cx="4846320" cy="91"/>
          </a:xfrm>
          <a:prstGeom prst="line">
            <a:avLst/>
          </a:prstGeom>
          <a:noFill/>
          <a:ln w="6350">
            <a:solidFill>
              <a:srgbClr val="C5DCD9"/>
            </a:solidFill>
            <a:prstDash val="solid"/>
          </a:ln>
        </p:spPr>
      </p:sp>
      <p:sp>
        <p:nvSpPr>
          <p:cNvPr id="67" name="Shape 65"/>
          <p:cNvSpPr/>
          <p:nvPr/>
        </p:nvSpPr>
        <p:spPr>
          <a:xfrm>
            <a:off x="1325880" y="4261104"/>
            <a:ext cx="4846320" cy="91"/>
          </a:xfrm>
          <a:prstGeom prst="line">
            <a:avLst/>
          </a:prstGeom>
          <a:noFill/>
          <a:ln w="6350">
            <a:solidFill>
              <a:srgbClr val="C5DCD9"/>
            </a:solidFill>
            <a:prstDash val="solid"/>
          </a:ln>
        </p:spPr>
      </p:sp>
      <p:sp>
        <p:nvSpPr>
          <p:cNvPr id="68" name="Shape 66"/>
          <p:cNvSpPr/>
          <p:nvPr/>
        </p:nvSpPr>
        <p:spPr>
          <a:xfrm>
            <a:off x="1325880" y="3922776"/>
            <a:ext cx="4846320" cy="91"/>
          </a:xfrm>
          <a:prstGeom prst="line">
            <a:avLst/>
          </a:prstGeom>
          <a:noFill/>
          <a:ln w="6350">
            <a:solidFill>
              <a:srgbClr val="C5DCD9"/>
            </a:solidFill>
            <a:prstDash val="solid"/>
          </a:ln>
        </p:spPr>
      </p:sp>
      <p:sp>
        <p:nvSpPr>
          <p:cNvPr id="69" name="Shape 67"/>
          <p:cNvSpPr/>
          <p:nvPr/>
        </p:nvSpPr>
        <p:spPr>
          <a:xfrm>
            <a:off x="1325880" y="3584448"/>
            <a:ext cx="4846320" cy="91"/>
          </a:xfrm>
          <a:prstGeom prst="line">
            <a:avLst/>
          </a:prstGeom>
          <a:noFill/>
          <a:ln w="6350">
            <a:solidFill>
              <a:srgbClr val="C5DCD9"/>
            </a:solidFill>
            <a:prstDash val="solid"/>
          </a:ln>
        </p:spPr>
      </p:sp>
      <p:sp>
        <p:nvSpPr>
          <p:cNvPr id="70" name="Shape 68"/>
          <p:cNvSpPr/>
          <p:nvPr/>
        </p:nvSpPr>
        <p:spPr>
          <a:xfrm>
            <a:off x="1325880" y="3246120"/>
            <a:ext cx="4846320" cy="91"/>
          </a:xfrm>
          <a:prstGeom prst="line">
            <a:avLst/>
          </a:prstGeom>
          <a:noFill/>
          <a:ln w="6350">
            <a:solidFill>
              <a:srgbClr val="C5DCD9"/>
            </a:solidFill>
            <a:prstDash val="solid"/>
          </a:ln>
        </p:spPr>
      </p:sp>
      <p:sp>
        <p:nvSpPr>
          <p:cNvPr id="71" name="Shape 69"/>
          <p:cNvSpPr/>
          <p:nvPr/>
        </p:nvSpPr>
        <p:spPr>
          <a:xfrm>
            <a:off x="1325880" y="4937760"/>
            <a:ext cx="4846320" cy="91"/>
          </a:xfrm>
          <a:prstGeom prst="line">
            <a:avLst/>
          </a:prstGeom>
          <a:noFill/>
          <a:ln w="19050">
            <a:solidFill>
              <a:srgbClr val="133536"/>
            </a:solidFill>
            <a:prstDash val="solid"/>
          </a:ln>
        </p:spPr>
      </p:sp>
      <p:sp>
        <p:nvSpPr>
          <p:cNvPr id="72" name="Shape 70"/>
          <p:cNvSpPr/>
          <p:nvPr/>
        </p:nvSpPr>
        <p:spPr>
          <a:xfrm flipV="1">
            <a:off x="1325880" y="3246120"/>
            <a:ext cx="91" cy="1691640"/>
          </a:xfrm>
          <a:prstGeom prst="line">
            <a:avLst/>
          </a:prstGeom>
          <a:noFill/>
          <a:ln w="19050">
            <a:solidFill>
              <a:srgbClr val="133536"/>
            </a:solidFill>
            <a:prstDash val="solid"/>
          </a:ln>
        </p:spPr>
      </p:sp>
      <p:sp>
        <p:nvSpPr>
          <p:cNvPr id="73" name="Shape 71"/>
          <p:cNvSpPr/>
          <p:nvPr/>
        </p:nvSpPr>
        <p:spPr>
          <a:xfrm>
            <a:off x="1325880" y="4937760"/>
            <a:ext cx="91" cy="54864"/>
          </a:xfrm>
          <a:prstGeom prst="line">
            <a:avLst/>
          </a:prstGeom>
          <a:noFill/>
          <a:ln w="12700">
            <a:solidFill>
              <a:srgbClr val="133536"/>
            </a:solidFill>
            <a:prstDash val="solid"/>
          </a:ln>
        </p:spPr>
      </p:sp>
      <p:sp>
        <p:nvSpPr>
          <p:cNvPr id="74" name="Text 72"/>
          <p:cNvSpPr/>
          <p:nvPr/>
        </p:nvSpPr>
        <p:spPr>
          <a:xfrm>
            <a:off x="105156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5" name="Shape 73"/>
          <p:cNvSpPr/>
          <p:nvPr/>
        </p:nvSpPr>
        <p:spPr>
          <a:xfrm>
            <a:off x="1931670" y="4937760"/>
            <a:ext cx="91" cy="54864"/>
          </a:xfrm>
          <a:prstGeom prst="line">
            <a:avLst/>
          </a:prstGeom>
          <a:noFill/>
          <a:ln w="12700">
            <a:solidFill>
              <a:srgbClr val="133536"/>
            </a:solidFill>
            <a:prstDash val="solid"/>
          </a:ln>
        </p:spPr>
      </p:sp>
      <p:sp>
        <p:nvSpPr>
          <p:cNvPr id="76" name="Text 74"/>
          <p:cNvSpPr/>
          <p:nvPr/>
        </p:nvSpPr>
        <p:spPr>
          <a:xfrm>
            <a:off x="165735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77" name="Shape 75"/>
          <p:cNvSpPr/>
          <p:nvPr/>
        </p:nvSpPr>
        <p:spPr>
          <a:xfrm>
            <a:off x="2537460" y="4937760"/>
            <a:ext cx="91" cy="54864"/>
          </a:xfrm>
          <a:prstGeom prst="line">
            <a:avLst/>
          </a:prstGeom>
          <a:noFill/>
          <a:ln w="12700">
            <a:solidFill>
              <a:srgbClr val="133536"/>
            </a:solidFill>
            <a:prstDash val="solid"/>
          </a:ln>
        </p:spPr>
      </p:sp>
      <p:sp>
        <p:nvSpPr>
          <p:cNvPr id="78" name="Text 76"/>
          <p:cNvSpPr/>
          <p:nvPr/>
        </p:nvSpPr>
        <p:spPr>
          <a:xfrm>
            <a:off x="226314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9" name="Shape 77"/>
          <p:cNvSpPr/>
          <p:nvPr/>
        </p:nvSpPr>
        <p:spPr>
          <a:xfrm>
            <a:off x="3143250" y="4937760"/>
            <a:ext cx="91" cy="54864"/>
          </a:xfrm>
          <a:prstGeom prst="line">
            <a:avLst/>
          </a:prstGeom>
          <a:noFill/>
          <a:ln w="12700">
            <a:solidFill>
              <a:srgbClr val="133536"/>
            </a:solidFill>
            <a:prstDash val="solid"/>
          </a:ln>
        </p:spPr>
      </p:sp>
      <p:sp>
        <p:nvSpPr>
          <p:cNvPr id="80" name="Text 78"/>
          <p:cNvSpPr/>
          <p:nvPr/>
        </p:nvSpPr>
        <p:spPr>
          <a:xfrm>
            <a:off x="286893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81" name="Shape 79"/>
          <p:cNvSpPr/>
          <p:nvPr/>
        </p:nvSpPr>
        <p:spPr>
          <a:xfrm>
            <a:off x="3749040" y="4937760"/>
            <a:ext cx="91" cy="54864"/>
          </a:xfrm>
          <a:prstGeom prst="line">
            <a:avLst/>
          </a:prstGeom>
          <a:noFill/>
          <a:ln w="12700">
            <a:solidFill>
              <a:srgbClr val="133536"/>
            </a:solidFill>
            <a:prstDash val="solid"/>
          </a:ln>
        </p:spPr>
      </p:sp>
      <p:sp>
        <p:nvSpPr>
          <p:cNvPr id="82" name="Text 80"/>
          <p:cNvSpPr/>
          <p:nvPr/>
        </p:nvSpPr>
        <p:spPr>
          <a:xfrm>
            <a:off x="347472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83" name="Shape 81"/>
          <p:cNvSpPr/>
          <p:nvPr/>
        </p:nvSpPr>
        <p:spPr>
          <a:xfrm>
            <a:off x="4354830" y="4937760"/>
            <a:ext cx="91" cy="54864"/>
          </a:xfrm>
          <a:prstGeom prst="line">
            <a:avLst/>
          </a:prstGeom>
          <a:noFill/>
          <a:ln w="12700">
            <a:solidFill>
              <a:srgbClr val="133536"/>
            </a:solidFill>
            <a:prstDash val="solid"/>
          </a:ln>
        </p:spPr>
      </p:sp>
      <p:sp>
        <p:nvSpPr>
          <p:cNvPr id="84" name="Text 82"/>
          <p:cNvSpPr/>
          <p:nvPr/>
        </p:nvSpPr>
        <p:spPr>
          <a:xfrm>
            <a:off x="408051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85" name="Shape 83"/>
          <p:cNvSpPr/>
          <p:nvPr/>
        </p:nvSpPr>
        <p:spPr>
          <a:xfrm>
            <a:off x="4960620" y="4937760"/>
            <a:ext cx="91" cy="54864"/>
          </a:xfrm>
          <a:prstGeom prst="line">
            <a:avLst/>
          </a:prstGeom>
          <a:noFill/>
          <a:ln w="12700">
            <a:solidFill>
              <a:srgbClr val="133536"/>
            </a:solidFill>
            <a:prstDash val="solid"/>
          </a:ln>
        </p:spPr>
      </p:sp>
      <p:sp>
        <p:nvSpPr>
          <p:cNvPr id="86" name="Text 84"/>
          <p:cNvSpPr/>
          <p:nvPr/>
        </p:nvSpPr>
        <p:spPr>
          <a:xfrm>
            <a:off x="468630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87" name="Shape 85"/>
          <p:cNvSpPr/>
          <p:nvPr/>
        </p:nvSpPr>
        <p:spPr>
          <a:xfrm>
            <a:off x="5566410" y="4937760"/>
            <a:ext cx="91" cy="54864"/>
          </a:xfrm>
          <a:prstGeom prst="line">
            <a:avLst/>
          </a:prstGeom>
          <a:noFill/>
          <a:ln w="12700">
            <a:solidFill>
              <a:srgbClr val="133536"/>
            </a:solidFill>
            <a:prstDash val="solid"/>
          </a:ln>
        </p:spPr>
      </p:sp>
      <p:sp>
        <p:nvSpPr>
          <p:cNvPr id="88" name="Text 86"/>
          <p:cNvSpPr/>
          <p:nvPr/>
        </p:nvSpPr>
        <p:spPr>
          <a:xfrm>
            <a:off x="529209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210</a:t>
            </a:r>
            <a:endParaRPr lang="en-US" sz="1000" dirty="0"/>
          </a:p>
        </p:txBody>
      </p:sp>
      <p:sp>
        <p:nvSpPr>
          <p:cNvPr id="89" name="Shape 87"/>
          <p:cNvSpPr/>
          <p:nvPr/>
        </p:nvSpPr>
        <p:spPr>
          <a:xfrm>
            <a:off x="6172200" y="4937760"/>
            <a:ext cx="91" cy="54864"/>
          </a:xfrm>
          <a:prstGeom prst="line">
            <a:avLst/>
          </a:prstGeom>
          <a:noFill/>
          <a:ln w="12700">
            <a:solidFill>
              <a:srgbClr val="133536"/>
            </a:solidFill>
            <a:prstDash val="solid"/>
          </a:ln>
        </p:spPr>
      </p:sp>
      <p:sp>
        <p:nvSpPr>
          <p:cNvPr id="90" name="Text 88"/>
          <p:cNvSpPr/>
          <p:nvPr/>
        </p:nvSpPr>
        <p:spPr>
          <a:xfrm>
            <a:off x="5897880" y="49926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240</a:t>
            </a:r>
            <a:endParaRPr lang="en-US" sz="1000" dirty="0"/>
          </a:p>
        </p:txBody>
      </p:sp>
      <p:sp>
        <p:nvSpPr>
          <p:cNvPr id="91" name="Shape 89"/>
          <p:cNvSpPr/>
          <p:nvPr/>
        </p:nvSpPr>
        <p:spPr>
          <a:xfrm>
            <a:off x="1271016" y="4937760"/>
            <a:ext cx="54864" cy="91"/>
          </a:xfrm>
          <a:prstGeom prst="line">
            <a:avLst/>
          </a:prstGeom>
          <a:noFill/>
          <a:ln w="12700">
            <a:solidFill>
              <a:srgbClr val="133536"/>
            </a:solidFill>
            <a:prstDash val="solid"/>
          </a:ln>
        </p:spPr>
      </p:sp>
      <p:sp>
        <p:nvSpPr>
          <p:cNvPr id="92" name="Text 90"/>
          <p:cNvSpPr/>
          <p:nvPr/>
        </p:nvSpPr>
        <p:spPr>
          <a:xfrm>
            <a:off x="886968" y="4846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93" name="Shape 91"/>
          <p:cNvSpPr/>
          <p:nvPr/>
        </p:nvSpPr>
        <p:spPr>
          <a:xfrm>
            <a:off x="1271016" y="4599432"/>
            <a:ext cx="54864" cy="91"/>
          </a:xfrm>
          <a:prstGeom prst="line">
            <a:avLst/>
          </a:prstGeom>
          <a:noFill/>
          <a:ln w="12700">
            <a:solidFill>
              <a:srgbClr val="133536"/>
            </a:solidFill>
            <a:prstDash val="solid"/>
          </a:ln>
        </p:spPr>
      </p:sp>
      <p:sp>
        <p:nvSpPr>
          <p:cNvPr id="94" name="Text 92"/>
          <p:cNvSpPr/>
          <p:nvPr/>
        </p:nvSpPr>
        <p:spPr>
          <a:xfrm>
            <a:off x="886968" y="45079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95" name="Shape 93"/>
          <p:cNvSpPr/>
          <p:nvPr/>
        </p:nvSpPr>
        <p:spPr>
          <a:xfrm>
            <a:off x="1271016" y="4261104"/>
            <a:ext cx="54864" cy="91"/>
          </a:xfrm>
          <a:prstGeom prst="line">
            <a:avLst/>
          </a:prstGeom>
          <a:noFill/>
          <a:ln w="12700">
            <a:solidFill>
              <a:srgbClr val="133536"/>
            </a:solidFill>
            <a:prstDash val="solid"/>
          </a:ln>
        </p:spPr>
      </p:sp>
      <p:sp>
        <p:nvSpPr>
          <p:cNvPr id="96" name="Text 94"/>
          <p:cNvSpPr/>
          <p:nvPr/>
        </p:nvSpPr>
        <p:spPr>
          <a:xfrm>
            <a:off x="886968" y="41696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97" name="Shape 95"/>
          <p:cNvSpPr/>
          <p:nvPr/>
        </p:nvSpPr>
        <p:spPr>
          <a:xfrm>
            <a:off x="1271016" y="3922776"/>
            <a:ext cx="54864" cy="91"/>
          </a:xfrm>
          <a:prstGeom prst="line">
            <a:avLst/>
          </a:prstGeom>
          <a:noFill/>
          <a:ln w="12700">
            <a:solidFill>
              <a:srgbClr val="133536"/>
            </a:solidFill>
            <a:prstDash val="solid"/>
          </a:ln>
        </p:spPr>
      </p:sp>
      <p:sp>
        <p:nvSpPr>
          <p:cNvPr id="98" name="Text 96"/>
          <p:cNvSpPr/>
          <p:nvPr/>
        </p:nvSpPr>
        <p:spPr>
          <a:xfrm>
            <a:off x="886968" y="38313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99" name="Shape 97"/>
          <p:cNvSpPr/>
          <p:nvPr/>
        </p:nvSpPr>
        <p:spPr>
          <a:xfrm>
            <a:off x="1271016" y="3584448"/>
            <a:ext cx="54864" cy="91"/>
          </a:xfrm>
          <a:prstGeom prst="line">
            <a:avLst/>
          </a:prstGeom>
          <a:noFill/>
          <a:ln w="12700">
            <a:solidFill>
              <a:srgbClr val="133536"/>
            </a:solidFill>
            <a:prstDash val="solid"/>
          </a:ln>
        </p:spPr>
      </p:sp>
      <p:sp>
        <p:nvSpPr>
          <p:cNvPr id="100" name="Text 98"/>
          <p:cNvSpPr/>
          <p:nvPr/>
        </p:nvSpPr>
        <p:spPr>
          <a:xfrm>
            <a:off x="886968" y="349300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01" name="Shape 99"/>
          <p:cNvSpPr/>
          <p:nvPr/>
        </p:nvSpPr>
        <p:spPr>
          <a:xfrm>
            <a:off x="1271016" y="3246120"/>
            <a:ext cx="54864" cy="91"/>
          </a:xfrm>
          <a:prstGeom prst="line">
            <a:avLst/>
          </a:prstGeom>
          <a:noFill/>
          <a:ln w="12700">
            <a:solidFill>
              <a:srgbClr val="133536"/>
            </a:solidFill>
            <a:prstDash val="solid"/>
          </a:ln>
        </p:spPr>
      </p:sp>
      <p:sp>
        <p:nvSpPr>
          <p:cNvPr id="102" name="Text 100"/>
          <p:cNvSpPr/>
          <p:nvPr/>
        </p:nvSpPr>
        <p:spPr>
          <a:xfrm>
            <a:off x="886968" y="3154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03" name="Text 101"/>
          <p:cNvSpPr/>
          <p:nvPr/>
        </p:nvSpPr>
        <p:spPr>
          <a:xfrm>
            <a:off x="1325880" y="518464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after meal / min</a:t>
            </a:r>
            <a:endParaRPr lang="en-US" sz="1050" dirty="0"/>
          </a:p>
        </p:txBody>
      </p:sp>
      <p:sp>
        <p:nvSpPr>
          <p:cNvPr id="104" name="Text 102"/>
          <p:cNvSpPr/>
          <p:nvPr/>
        </p:nvSpPr>
        <p:spPr>
          <a:xfrm rot="16200000">
            <a:off x="-86868" y="3963924"/>
            <a:ext cx="16916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Hormone / arbitrary units</a:t>
            </a:r>
            <a:endParaRPr lang="en-US" sz="1050" dirty="0"/>
          </a:p>
        </p:txBody>
      </p:sp>
      <p:sp>
        <p:nvSpPr>
          <p:cNvPr id="105" name="Shape 103"/>
          <p:cNvSpPr/>
          <p:nvPr/>
        </p:nvSpPr>
        <p:spPr>
          <a:xfrm flipV="1">
            <a:off x="1325880" y="2228339"/>
            <a:ext cx="40386" cy="118621"/>
          </a:xfrm>
          <a:prstGeom prst="line">
            <a:avLst/>
          </a:prstGeom>
          <a:noFill/>
          <a:ln w="28575">
            <a:solidFill>
              <a:srgbClr val="C8414C"/>
            </a:solidFill>
            <a:prstDash val="solid"/>
          </a:ln>
        </p:spPr>
      </p:sp>
      <p:sp>
        <p:nvSpPr>
          <p:cNvPr id="106" name="Shape 104"/>
          <p:cNvSpPr/>
          <p:nvPr/>
        </p:nvSpPr>
        <p:spPr>
          <a:xfrm flipV="1">
            <a:off x="1366266" y="2125588"/>
            <a:ext cx="40386" cy="102751"/>
          </a:xfrm>
          <a:prstGeom prst="line">
            <a:avLst/>
          </a:prstGeom>
          <a:noFill/>
          <a:ln w="28575">
            <a:solidFill>
              <a:srgbClr val="C8414C"/>
            </a:solidFill>
            <a:prstDash val="solid"/>
          </a:ln>
        </p:spPr>
      </p:sp>
      <p:sp>
        <p:nvSpPr>
          <p:cNvPr id="107" name="Shape 105"/>
          <p:cNvSpPr/>
          <p:nvPr/>
        </p:nvSpPr>
        <p:spPr>
          <a:xfrm flipV="1">
            <a:off x="1406652" y="2037162"/>
            <a:ext cx="40386" cy="88426"/>
          </a:xfrm>
          <a:prstGeom prst="line">
            <a:avLst/>
          </a:prstGeom>
          <a:noFill/>
          <a:ln w="28575">
            <a:solidFill>
              <a:srgbClr val="C8414C"/>
            </a:solidFill>
            <a:prstDash val="solid"/>
          </a:ln>
        </p:spPr>
      </p:sp>
      <p:sp>
        <p:nvSpPr>
          <p:cNvPr id="108" name="Shape 106"/>
          <p:cNvSpPr/>
          <p:nvPr/>
        </p:nvSpPr>
        <p:spPr>
          <a:xfrm flipV="1">
            <a:off x="1447038" y="1961649"/>
            <a:ext cx="40386" cy="75513"/>
          </a:xfrm>
          <a:prstGeom prst="line">
            <a:avLst/>
          </a:prstGeom>
          <a:noFill/>
          <a:ln w="28575">
            <a:solidFill>
              <a:srgbClr val="C8414C"/>
            </a:solidFill>
            <a:prstDash val="solid"/>
          </a:ln>
        </p:spPr>
      </p:sp>
      <p:sp>
        <p:nvSpPr>
          <p:cNvPr id="109" name="Shape 107"/>
          <p:cNvSpPr/>
          <p:nvPr/>
        </p:nvSpPr>
        <p:spPr>
          <a:xfrm flipV="1">
            <a:off x="1487424" y="1897758"/>
            <a:ext cx="40386" cy="63891"/>
          </a:xfrm>
          <a:prstGeom prst="line">
            <a:avLst/>
          </a:prstGeom>
          <a:noFill/>
          <a:ln w="28575">
            <a:solidFill>
              <a:srgbClr val="C8414C"/>
            </a:solidFill>
            <a:prstDash val="solid"/>
          </a:ln>
        </p:spPr>
      </p:sp>
      <p:sp>
        <p:nvSpPr>
          <p:cNvPr id="110" name="Shape 108"/>
          <p:cNvSpPr/>
          <p:nvPr/>
        </p:nvSpPr>
        <p:spPr>
          <a:xfrm flipV="1">
            <a:off x="1527810" y="1844313"/>
            <a:ext cx="40386" cy="53446"/>
          </a:xfrm>
          <a:prstGeom prst="line">
            <a:avLst/>
          </a:prstGeom>
          <a:noFill/>
          <a:ln w="28575">
            <a:solidFill>
              <a:srgbClr val="C8414C"/>
            </a:solidFill>
            <a:prstDash val="solid"/>
          </a:ln>
        </p:spPr>
      </p:sp>
      <p:sp>
        <p:nvSpPr>
          <p:cNvPr id="111" name="Shape 109"/>
          <p:cNvSpPr/>
          <p:nvPr/>
        </p:nvSpPr>
        <p:spPr>
          <a:xfrm flipV="1">
            <a:off x="1568196" y="1800238"/>
            <a:ext cx="40386" cy="44075"/>
          </a:xfrm>
          <a:prstGeom prst="line">
            <a:avLst/>
          </a:prstGeom>
          <a:noFill/>
          <a:ln w="28575">
            <a:solidFill>
              <a:srgbClr val="C8414C"/>
            </a:solidFill>
            <a:prstDash val="solid"/>
          </a:ln>
        </p:spPr>
      </p:sp>
      <p:sp>
        <p:nvSpPr>
          <p:cNvPr id="112" name="Shape 110"/>
          <p:cNvSpPr/>
          <p:nvPr/>
        </p:nvSpPr>
        <p:spPr>
          <a:xfrm flipV="1">
            <a:off x="1608582" y="1764555"/>
            <a:ext cx="40386" cy="35683"/>
          </a:xfrm>
          <a:prstGeom prst="line">
            <a:avLst/>
          </a:prstGeom>
          <a:noFill/>
          <a:ln w="28575">
            <a:solidFill>
              <a:srgbClr val="C8414C"/>
            </a:solidFill>
            <a:prstDash val="solid"/>
          </a:ln>
        </p:spPr>
      </p:sp>
      <p:sp>
        <p:nvSpPr>
          <p:cNvPr id="113" name="Shape 111"/>
          <p:cNvSpPr/>
          <p:nvPr/>
        </p:nvSpPr>
        <p:spPr>
          <a:xfrm flipV="1">
            <a:off x="1648968" y="1736372"/>
            <a:ext cx="40386" cy="28184"/>
          </a:xfrm>
          <a:prstGeom prst="line">
            <a:avLst/>
          </a:prstGeom>
          <a:noFill/>
          <a:ln w="28575">
            <a:solidFill>
              <a:srgbClr val="C8414C"/>
            </a:solidFill>
            <a:prstDash val="solid"/>
          </a:ln>
        </p:spPr>
      </p:sp>
      <p:sp>
        <p:nvSpPr>
          <p:cNvPr id="114" name="Shape 112"/>
          <p:cNvSpPr/>
          <p:nvPr/>
        </p:nvSpPr>
        <p:spPr>
          <a:xfrm flipV="1">
            <a:off x="1689354" y="1714875"/>
            <a:ext cx="40386" cy="21497"/>
          </a:xfrm>
          <a:prstGeom prst="line">
            <a:avLst/>
          </a:prstGeom>
          <a:noFill/>
          <a:ln w="28575">
            <a:solidFill>
              <a:srgbClr val="C8414C"/>
            </a:solidFill>
            <a:prstDash val="solid"/>
          </a:ln>
        </p:spPr>
      </p:sp>
      <p:sp>
        <p:nvSpPr>
          <p:cNvPr id="115" name="Shape 113"/>
          <p:cNvSpPr/>
          <p:nvPr/>
        </p:nvSpPr>
        <p:spPr>
          <a:xfrm flipV="1">
            <a:off x="1729740" y="1699326"/>
            <a:ext cx="40386" cy="15549"/>
          </a:xfrm>
          <a:prstGeom prst="line">
            <a:avLst/>
          </a:prstGeom>
          <a:noFill/>
          <a:ln w="28575">
            <a:solidFill>
              <a:srgbClr val="C8414C"/>
            </a:solidFill>
            <a:prstDash val="solid"/>
          </a:ln>
        </p:spPr>
      </p:sp>
      <p:sp>
        <p:nvSpPr>
          <p:cNvPr id="116" name="Shape 114"/>
          <p:cNvSpPr/>
          <p:nvPr/>
        </p:nvSpPr>
        <p:spPr>
          <a:xfrm flipV="1">
            <a:off x="1770126" y="1689054"/>
            <a:ext cx="40386" cy="10272"/>
          </a:xfrm>
          <a:prstGeom prst="line">
            <a:avLst/>
          </a:prstGeom>
          <a:noFill/>
          <a:ln w="28575">
            <a:solidFill>
              <a:srgbClr val="C8414C"/>
            </a:solidFill>
            <a:prstDash val="solid"/>
          </a:ln>
        </p:spPr>
      </p:sp>
      <p:sp>
        <p:nvSpPr>
          <p:cNvPr id="117" name="Shape 115"/>
          <p:cNvSpPr/>
          <p:nvPr/>
        </p:nvSpPr>
        <p:spPr>
          <a:xfrm flipV="1">
            <a:off x="1810512" y="1683448"/>
            <a:ext cx="40386" cy="5606"/>
          </a:xfrm>
          <a:prstGeom prst="line">
            <a:avLst/>
          </a:prstGeom>
          <a:noFill/>
          <a:ln w="28575">
            <a:solidFill>
              <a:srgbClr val="C8414C"/>
            </a:solidFill>
            <a:prstDash val="solid"/>
          </a:ln>
        </p:spPr>
      </p:sp>
      <p:sp>
        <p:nvSpPr>
          <p:cNvPr id="118" name="Shape 116"/>
          <p:cNvSpPr/>
          <p:nvPr/>
        </p:nvSpPr>
        <p:spPr>
          <a:xfrm flipV="1">
            <a:off x="1850898" y="1681955"/>
            <a:ext cx="40386" cy="1493"/>
          </a:xfrm>
          <a:prstGeom prst="line">
            <a:avLst/>
          </a:prstGeom>
          <a:noFill/>
          <a:ln w="28575">
            <a:solidFill>
              <a:srgbClr val="C8414C"/>
            </a:solidFill>
            <a:prstDash val="solid"/>
          </a:ln>
        </p:spPr>
      </p:sp>
      <p:sp>
        <p:nvSpPr>
          <p:cNvPr id="119" name="Shape 117"/>
          <p:cNvSpPr/>
          <p:nvPr/>
        </p:nvSpPr>
        <p:spPr>
          <a:xfrm>
            <a:off x="1891284" y="1681955"/>
            <a:ext cx="40386" cy="2118"/>
          </a:xfrm>
          <a:prstGeom prst="line">
            <a:avLst/>
          </a:prstGeom>
          <a:noFill/>
          <a:ln w="28575">
            <a:solidFill>
              <a:srgbClr val="C8414C"/>
            </a:solidFill>
            <a:prstDash val="solid"/>
          </a:ln>
        </p:spPr>
      </p:sp>
      <p:sp>
        <p:nvSpPr>
          <p:cNvPr id="120" name="Shape 118"/>
          <p:cNvSpPr/>
          <p:nvPr/>
        </p:nvSpPr>
        <p:spPr>
          <a:xfrm>
            <a:off x="1931670" y="1684072"/>
            <a:ext cx="40386" cy="5274"/>
          </a:xfrm>
          <a:prstGeom prst="line">
            <a:avLst/>
          </a:prstGeom>
          <a:noFill/>
          <a:ln w="28575">
            <a:solidFill>
              <a:srgbClr val="C8414C"/>
            </a:solidFill>
            <a:prstDash val="solid"/>
          </a:ln>
        </p:spPr>
      </p:sp>
      <p:sp>
        <p:nvSpPr>
          <p:cNvPr id="121" name="Shape 119"/>
          <p:cNvSpPr/>
          <p:nvPr/>
        </p:nvSpPr>
        <p:spPr>
          <a:xfrm>
            <a:off x="1972056" y="1689347"/>
            <a:ext cx="40386" cy="8020"/>
          </a:xfrm>
          <a:prstGeom prst="line">
            <a:avLst/>
          </a:prstGeom>
          <a:noFill/>
          <a:ln w="28575">
            <a:solidFill>
              <a:srgbClr val="C8414C"/>
            </a:solidFill>
            <a:prstDash val="solid"/>
          </a:ln>
        </p:spPr>
      </p:sp>
      <p:sp>
        <p:nvSpPr>
          <p:cNvPr id="122" name="Shape 120"/>
          <p:cNvSpPr/>
          <p:nvPr/>
        </p:nvSpPr>
        <p:spPr>
          <a:xfrm>
            <a:off x="2012442" y="1697367"/>
            <a:ext cx="40386" cy="10394"/>
          </a:xfrm>
          <a:prstGeom prst="line">
            <a:avLst/>
          </a:prstGeom>
          <a:noFill/>
          <a:ln w="28575">
            <a:solidFill>
              <a:srgbClr val="C8414C"/>
            </a:solidFill>
            <a:prstDash val="solid"/>
          </a:ln>
        </p:spPr>
      </p:sp>
      <p:sp>
        <p:nvSpPr>
          <p:cNvPr id="123" name="Shape 121"/>
          <p:cNvSpPr/>
          <p:nvPr/>
        </p:nvSpPr>
        <p:spPr>
          <a:xfrm>
            <a:off x="2052828" y="1707761"/>
            <a:ext cx="40386" cy="12434"/>
          </a:xfrm>
          <a:prstGeom prst="line">
            <a:avLst/>
          </a:prstGeom>
          <a:noFill/>
          <a:ln w="28575">
            <a:solidFill>
              <a:srgbClr val="C8414C"/>
            </a:solidFill>
            <a:prstDash val="solid"/>
          </a:ln>
        </p:spPr>
      </p:sp>
      <p:sp>
        <p:nvSpPr>
          <p:cNvPr id="124" name="Shape 122"/>
          <p:cNvSpPr/>
          <p:nvPr/>
        </p:nvSpPr>
        <p:spPr>
          <a:xfrm>
            <a:off x="2093214" y="1720195"/>
            <a:ext cx="40386" cy="14171"/>
          </a:xfrm>
          <a:prstGeom prst="line">
            <a:avLst/>
          </a:prstGeom>
          <a:noFill/>
          <a:ln w="28575">
            <a:solidFill>
              <a:srgbClr val="C8414C"/>
            </a:solidFill>
            <a:prstDash val="solid"/>
          </a:ln>
        </p:spPr>
      </p:sp>
      <p:sp>
        <p:nvSpPr>
          <p:cNvPr id="125" name="Shape 123"/>
          <p:cNvSpPr/>
          <p:nvPr/>
        </p:nvSpPr>
        <p:spPr>
          <a:xfrm>
            <a:off x="2133600" y="1734366"/>
            <a:ext cx="40386" cy="15637"/>
          </a:xfrm>
          <a:prstGeom prst="line">
            <a:avLst/>
          </a:prstGeom>
          <a:noFill/>
          <a:ln w="28575">
            <a:solidFill>
              <a:srgbClr val="C8414C"/>
            </a:solidFill>
            <a:prstDash val="solid"/>
          </a:ln>
        </p:spPr>
      </p:sp>
      <p:sp>
        <p:nvSpPr>
          <p:cNvPr id="126" name="Shape 124"/>
          <p:cNvSpPr/>
          <p:nvPr/>
        </p:nvSpPr>
        <p:spPr>
          <a:xfrm>
            <a:off x="2173986" y="1750003"/>
            <a:ext cx="40386" cy="16859"/>
          </a:xfrm>
          <a:prstGeom prst="line">
            <a:avLst/>
          </a:prstGeom>
          <a:noFill/>
          <a:ln w="28575">
            <a:solidFill>
              <a:srgbClr val="C8414C"/>
            </a:solidFill>
            <a:prstDash val="solid"/>
          </a:ln>
        </p:spPr>
      </p:sp>
      <p:sp>
        <p:nvSpPr>
          <p:cNvPr id="127" name="Shape 125"/>
          <p:cNvSpPr/>
          <p:nvPr/>
        </p:nvSpPr>
        <p:spPr>
          <a:xfrm>
            <a:off x="2214372" y="1766862"/>
            <a:ext cx="40386" cy="17862"/>
          </a:xfrm>
          <a:prstGeom prst="line">
            <a:avLst/>
          </a:prstGeom>
          <a:noFill/>
          <a:ln w="28575">
            <a:solidFill>
              <a:srgbClr val="C8414C"/>
            </a:solidFill>
            <a:prstDash val="solid"/>
          </a:ln>
        </p:spPr>
      </p:sp>
      <p:sp>
        <p:nvSpPr>
          <p:cNvPr id="128" name="Shape 126"/>
          <p:cNvSpPr/>
          <p:nvPr/>
        </p:nvSpPr>
        <p:spPr>
          <a:xfrm>
            <a:off x="2254758" y="1784724"/>
            <a:ext cx="40386" cy="18669"/>
          </a:xfrm>
          <a:prstGeom prst="line">
            <a:avLst/>
          </a:prstGeom>
          <a:noFill/>
          <a:ln w="28575">
            <a:solidFill>
              <a:srgbClr val="C8414C"/>
            </a:solidFill>
            <a:prstDash val="solid"/>
          </a:ln>
        </p:spPr>
      </p:sp>
      <p:sp>
        <p:nvSpPr>
          <p:cNvPr id="129" name="Shape 127"/>
          <p:cNvSpPr/>
          <p:nvPr/>
        </p:nvSpPr>
        <p:spPr>
          <a:xfrm>
            <a:off x="2295144" y="1803392"/>
            <a:ext cx="40386" cy="19301"/>
          </a:xfrm>
          <a:prstGeom prst="line">
            <a:avLst/>
          </a:prstGeom>
          <a:noFill/>
          <a:ln w="28575">
            <a:solidFill>
              <a:srgbClr val="C8414C"/>
            </a:solidFill>
            <a:prstDash val="solid"/>
          </a:ln>
        </p:spPr>
      </p:sp>
      <p:sp>
        <p:nvSpPr>
          <p:cNvPr id="130" name="Shape 128"/>
          <p:cNvSpPr/>
          <p:nvPr/>
        </p:nvSpPr>
        <p:spPr>
          <a:xfrm>
            <a:off x="2335530" y="1822693"/>
            <a:ext cx="40386" cy="19777"/>
          </a:xfrm>
          <a:prstGeom prst="line">
            <a:avLst/>
          </a:prstGeom>
          <a:noFill/>
          <a:ln w="28575">
            <a:solidFill>
              <a:srgbClr val="C8414C"/>
            </a:solidFill>
            <a:prstDash val="solid"/>
          </a:ln>
        </p:spPr>
      </p:sp>
      <p:sp>
        <p:nvSpPr>
          <p:cNvPr id="131" name="Shape 129"/>
          <p:cNvSpPr/>
          <p:nvPr/>
        </p:nvSpPr>
        <p:spPr>
          <a:xfrm>
            <a:off x="2375916" y="1842471"/>
            <a:ext cx="40386" cy="20115"/>
          </a:xfrm>
          <a:prstGeom prst="line">
            <a:avLst/>
          </a:prstGeom>
          <a:noFill/>
          <a:ln w="28575">
            <a:solidFill>
              <a:srgbClr val="C8414C"/>
            </a:solidFill>
            <a:prstDash val="solid"/>
          </a:ln>
        </p:spPr>
      </p:sp>
      <p:sp>
        <p:nvSpPr>
          <p:cNvPr id="132" name="Shape 130"/>
          <p:cNvSpPr/>
          <p:nvPr/>
        </p:nvSpPr>
        <p:spPr>
          <a:xfrm>
            <a:off x="2416302" y="1862585"/>
            <a:ext cx="40386" cy="20329"/>
          </a:xfrm>
          <a:prstGeom prst="line">
            <a:avLst/>
          </a:prstGeom>
          <a:noFill/>
          <a:ln w="28575">
            <a:solidFill>
              <a:srgbClr val="C8414C"/>
            </a:solidFill>
            <a:prstDash val="solid"/>
          </a:ln>
        </p:spPr>
      </p:sp>
      <p:sp>
        <p:nvSpPr>
          <p:cNvPr id="133" name="Shape 131"/>
          <p:cNvSpPr/>
          <p:nvPr/>
        </p:nvSpPr>
        <p:spPr>
          <a:xfrm>
            <a:off x="2456688" y="1882915"/>
            <a:ext cx="40386" cy="20436"/>
          </a:xfrm>
          <a:prstGeom prst="line">
            <a:avLst/>
          </a:prstGeom>
          <a:noFill/>
          <a:ln w="28575">
            <a:solidFill>
              <a:srgbClr val="C8414C"/>
            </a:solidFill>
            <a:prstDash val="solid"/>
          </a:ln>
        </p:spPr>
      </p:sp>
      <p:sp>
        <p:nvSpPr>
          <p:cNvPr id="134" name="Shape 132"/>
          <p:cNvSpPr/>
          <p:nvPr/>
        </p:nvSpPr>
        <p:spPr>
          <a:xfrm>
            <a:off x="2497074" y="1903350"/>
            <a:ext cx="40386" cy="20446"/>
          </a:xfrm>
          <a:prstGeom prst="line">
            <a:avLst/>
          </a:prstGeom>
          <a:noFill/>
          <a:ln w="28575">
            <a:solidFill>
              <a:srgbClr val="C8414C"/>
            </a:solidFill>
            <a:prstDash val="solid"/>
          </a:ln>
        </p:spPr>
      </p:sp>
      <p:sp>
        <p:nvSpPr>
          <p:cNvPr id="135" name="Shape 133"/>
          <p:cNvSpPr/>
          <p:nvPr/>
        </p:nvSpPr>
        <p:spPr>
          <a:xfrm>
            <a:off x="2537460" y="1923796"/>
            <a:ext cx="40386" cy="20373"/>
          </a:xfrm>
          <a:prstGeom prst="line">
            <a:avLst/>
          </a:prstGeom>
          <a:noFill/>
          <a:ln w="28575">
            <a:solidFill>
              <a:srgbClr val="C8414C"/>
            </a:solidFill>
            <a:prstDash val="solid"/>
          </a:ln>
        </p:spPr>
      </p:sp>
      <p:sp>
        <p:nvSpPr>
          <p:cNvPr id="136" name="Shape 134"/>
          <p:cNvSpPr/>
          <p:nvPr/>
        </p:nvSpPr>
        <p:spPr>
          <a:xfrm>
            <a:off x="2577846" y="1944169"/>
            <a:ext cx="40386" cy="20226"/>
          </a:xfrm>
          <a:prstGeom prst="line">
            <a:avLst/>
          </a:prstGeom>
          <a:noFill/>
          <a:ln w="28575">
            <a:solidFill>
              <a:srgbClr val="C8414C"/>
            </a:solidFill>
            <a:prstDash val="solid"/>
          </a:ln>
        </p:spPr>
      </p:sp>
      <p:sp>
        <p:nvSpPr>
          <p:cNvPr id="137" name="Shape 135"/>
          <p:cNvSpPr/>
          <p:nvPr/>
        </p:nvSpPr>
        <p:spPr>
          <a:xfrm>
            <a:off x="2618232" y="1964395"/>
            <a:ext cx="40386" cy="20016"/>
          </a:xfrm>
          <a:prstGeom prst="line">
            <a:avLst/>
          </a:prstGeom>
          <a:noFill/>
          <a:ln w="28575">
            <a:solidFill>
              <a:srgbClr val="C8414C"/>
            </a:solidFill>
            <a:prstDash val="solid"/>
          </a:ln>
        </p:spPr>
      </p:sp>
      <p:sp>
        <p:nvSpPr>
          <p:cNvPr id="138" name="Shape 136"/>
          <p:cNvSpPr/>
          <p:nvPr/>
        </p:nvSpPr>
        <p:spPr>
          <a:xfrm>
            <a:off x="2658618" y="1984410"/>
            <a:ext cx="40386" cy="19750"/>
          </a:xfrm>
          <a:prstGeom prst="line">
            <a:avLst/>
          </a:prstGeom>
          <a:noFill/>
          <a:ln w="28575">
            <a:solidFill>
              <a:srgbClr val="C8414C"/>
            </a:solidFill>
            <a:prstDash val="solid"/>
          </a:ln>
        </p:spPr>
      </p:sp>
      <p:sp>
        <p:nvSpPr>
          <p:cNvPr id="139" name="Shape 137"/>
          <p:cNvSpPr/>
          <p:nvPr/>
        </p:nvSpPr>
        <p:spPr>
          <a:xfrm>
            <a:off x="2699004" y="2004160"/>
            <a:ext cx="40386" cy="19438"/>
          </a:xfrm>
          <a:prstGeom prst="line">
            <a:avLst/>
          </a:prstGeom>
          <a:noFill/>
          <a:ln w="28575">
            <a:solidFill>
              <a:srgbClr val="C8414C"/>
            </a:solidFill>
            <a:prstDash val="solid"/>
          </a:ln>
        </p:spPr>
      </p:sp>
      <p:sp>
        <p:nvSpPr>
          <p:cNvPr id="140" name="Shape 138"/>
          <p:cNvSpPr/>
          <p:nvPr/>
        </p:nvSpPr>
        <p:spPr>
          <a:xfrm>
            <a:off x="2739390" y="2023598"/>
            <a:ext cx="40386" cy="19085"/>
          </a:xfrm>
          <a:prstGeom prst="line">
            <a:avLst/>
          </a:prstGeom>
          <a:noFill/>
          <a:ln w="28575">
            <a:solidFill>
              <a:srgbClr val="C8414C"/>
            </a:solidFill>
            <a:prstDash val="solid"/>
          </a:ln>
        </p:spPr>
      </p:sp>
      <p:sp>
        <p:nvSpPr>
          <p:cNvPr id="141" name="Shape 139"/>
          <p:cNvSpPr/>
          <p:nvPr/>
        </p:nvSpPr>
        <p:spPr>
          <a:xfrm>
            <a:off x="2779776" y="2042683"/>
            <a:ext cx="40386" cy="18698"/>
          </a:xfrm>
          <a:prstGeom prst="line">
            <a:avLst/>
          </a:prstGeom>
          <a:noFill/>
          <a:ln w="28575">
            <a:solidFill>
              <a:srgbClr val="C8414C"/>
            </a:solidFill>
            <a:prstDash val="solid"/>
          </a:ln>
        </p:spPr>
      </p:sp>
      <p:sp>
        <p:nvSpPr>
          <p:cNvPr id="142" name="Shape 140"/>
          <p:cNvSpPr/>
          <p:nvPr/>
        </p:nvSpPr>
        <p:spPr>
          <a:xfrm>
            <a:off x="2820162" y="2061381"/>
            <a:ext cx="40386" cy="18284"/>
          </a:xfrm>
          <a:prstGeom prst="line">
            <a:avLst/>
          </a:prstGeom>
          <a:noFill/>
          <a:ln w="28575">
            <a:solidFill>
              <a:srgbClr val="C8414C"/>
            </a:solidFill>
            <a:prstDash val="solid"/>
          </a:ln>
        </p:spPr>
      </p:sp>
      <p:sp>
        <p:nvSpPr>
          <p:cNvPr id="143" name="Shape 141"/>
          <p:cNvSpPr/>
          <p:nvPr/>
        </p:nvSpPr>
        <p:spPr>
          <a:xfrm>
            <a:off x="2860548" y="2079665"/>
            <a:ext cx="40386" cy="17846"/>
          </a:xfrm>
          <a:prstGeom prst="line">
            <a:avLst/>
          </a:prstGeom>
          <a:noFill/>
          <a:ln w="28575">
            <a:solidFill>
              <a:srgbClr val="C8414C"/>
            </a:solidFill>
            <a:prstDash val="solid"/>
          </a:ln>
        </p:spPr>
      </p:sp>
      <p:sp>
        <p:nvSpPr>
          <p:cNvPr id="144" name="Shape 142"/>
          <p:cNvSpPr/>
          <p:nvPr/>
        </p:nvSpPr>
        <p:spPr>
          <a:xfrm>
            <a:off x="2900934" y="2097511"/>
            <a:ext cx="40386" cy="17390"/>
          </a:xfrm>
          <a:prstGeom prst="line">
            <a:avLst/>
          </a:prstGeom>
          <a:noFill/>
          <a:ln w="28575">
            <a:solidFill>
              <a:srgbClr val="C8414C"/>
            </a:solidFill>
            <a:prstDash val="solid"/>
          </a:ln>
        </p:spPr>
      </p:sp>
      <p:sp>
        <p:nvSpPr>
          <p:cNvPr id="145" name="Shape 143"/>
          <p:cNvSpPr/>
          <p:nvPr/>
        </p:nvSpPr>
        <p:spPr>
          <a:xfrm>
            <a:off x="2941320" y="2114901"/>
            <a:ext cx="40386" cy="16920"/>
          </a:xfrm>
          <a:prstGeom prst="line">
            <a:avLst/>
          </a:prstGeom>
          <a:noFill/>
          <a:ln w="28575">
            <a:solidFill>
              <a:srgbClr val="C8414C"/>
            </a:solidFill>
            <a:prstDash val="solid"/>
          </a:ln>
        </p:spPr>
      </p:sp>
      <p:sp>
        <p:nvSpPr>
          <p:cNvPr id="146" name="Shape 144"/>
          <p:cNvSpPr/>
          <p:nvPr/>
        </p:nvSpPr>
        <p:spPr>
          <a:xfrm>
            <a:off x="2981706" y="2131821"/>
            <a:ext cx="40386" cy="16438"/>
          </a:xfrm>
          <a:prstGeom prst="line">
            <a:avLst/>
          </a:prstGeom>
          <a:noFill/>
          <a:ln w="28575">
            <a:solidFill>
              <a:srgbClr val="C8414C"/>
            </a:solidFill>
            <a:prstDash val="solid"/>
          </a:ln>
        </p:spPr>
      </p:sp>
      <p:sp>
        <p:nvSpPr>
          <p:cNvPr id="147" name="Shape 145"/>
          <p:cNvSpPr/>
          <p:nvPr/>
        </p:nvSpPr>
        <p:spPr>
          <a:xfrm>
            <a:off x="3022092" y="2148259"/>
            <a:ext cx="40386" cy="15950"/>
          </a:xfrm>
          <a:prstGeom prst="line">
            <a:avLst/>
          </a:prstGeom>
          <a:noFill/>
          <a:ln w="28575">
            <a:solidFill>
              <a:srgbClr val="C8414C"/>
            </a:solidFill>
            <a:prstDash val="solid"/>
          </a:ln>
        </p:spPr>
      </p:sp>
      <p:sp>
        <p:nvSpPr>
          <p:cNvPr id="148" name="Shape 146"/>
          <p:cNvSpPr/>
          <p:nvPr/>
        </p:nvSpPr>
        <p:spPr>
          <a:xfrm>
            <a:off x="3062478" y="2164209"/>
            <a:ext cx="40386" cy="15456"/>
          </a:xfrm>
          <a:prstGeom prst="line">
            <a:avLst/>
          </a:prstGeom>
          <a:noFill/>
          <a:ln w="28575">
            <a:solidFill>
              <a:srgbClr val="C8414C"/>
            </a:solidFill>
            <a:prstDash val="solid"/>
          </a:ln>
        </p:spPr>
      </p:sp>
      <p:sp>
        <p:nvSpPr>
          <p:cNvPr id="149" name="Shape 147"/>
          <p:cNvSpPr/>
          <p:nvPr/>
        </p:nvSpPr>
        <p:spPr>
          <a:xfrm>
            <a:off x="3102864" y="2179665"/>
            <a:ext cx="40386" cy="14961"/>
          </a:xfrm>
          <a:prstGeom prst="line">
            <a:avLst/>
          </a:prstGeom>
          <a:noFill/>
          <a:ln w="28575">
            <a:solidFill>
              <a:srgbClr val="C8414C"/>
            </a:solidFill>
            <a:prstDash val="solid"/>
          </a:ln>
        </p:spPr>
      </p:sp>
      <p:sp>
        <p:nvSpPr>
          <p:cNvPr id="150" name="Shape 148"/>
          <p:cNvSpPr/>
          <p:nvPr/>
        </p:nvSpPr>
        <p:spPr>
          <a:xfrm>
            <a:off x="3143250" y="2194626"/>
            <a:ext cx="40386" cy="14465"/>
          </a:xfrm>
          <a:prstGeom prst="line">
            <a:avLst/>
          </a:prstGeom>
          <a:noFill/>
          <a:ln w="28575">
            <a:solidFill>
              <a:srgbClr val="C8414C"/>
            </a:solidFill>
            <a:prstDash val="solid"/>
          </a:ln>
        </p:spPr>
      </p:sp>
      <p:sp>
        <p:nvSpPr>
          <p:cNvPr id="151" name="Shape 149"/>
          <p:cNvSpPr/>
          <p:nvPr/>
        </p:nvSpPr>
        <p:spPr>
          <a:xfrm>
            <a:off x="3183636" y="2209091"/>
            <a:ext cx="40386" cy="13972"/>
          </a:xfrm>
          <a:prstGeom prst="line">
            <a:avLst/>
          </a:prstGeom>
          <a:noFill/>
          <a:ln w="28575">
            <a:solidFill>
              <a:srgbClr val="C8414C"/>
            </a:solidFill>
            <a:prstDash val="solid"/>
          </a:ln>
        </p:spPr>
      </p:sp>
      <p:sp>
        <p:nvSpPr>
          <p:cNvPr id="152" name="Shape 150"/>
          <p:cNvSpPr/>
          <p:nvPr/>
        </p:nvSpPr>
        <p:spPr>
          <a:xfrm>
            <a:off x="3224022" y="2223063"/>
            <a:ext cx="40386" cy="13482"/>
          </a:xfrm>
          <a:prstGeom prst="line">
            <a:avLst/>
          </a:prstGeom>
          <a:noFill/>
          <a:ln w="28575">
            <a:solidFill>
              <a:srgbClr val="C8414C"/>
            </a:solidFill>
            <a:prstDash val="solid"/>
          </a:ln>
        </p:spPr>
      </p:sp>
      <p:sp>
        <p:nvSpPr>
          <p:cNvPr id="153" name="Shape 151"/>
          <p:cNvSpPr/>
          <p:nvPr/>
        </p:nvSpPr>
        <p:spPr>
          <a:xfrm>
            <a:off x="3264408" y="2236545"/>
            <a:ext cx="40386" cy="12998"/>
          </a:xfrm>
          <a:prstGeom prst="line">
            <a:avLst/>
          </a:prstGeom>
          <a:noFill/>
          <a:ln w="28575">
            <a:solidFill>
              <a:srgbClr val="C8414C"/>
            </a:solidFill>
            <a:prstDash val="solid"/>
          </a:ln>
        </p:spPr>
      </p:sp>
      <p:sp>
        <p:nvSpPr>
          <p:cNvPr id="154" name="Shape 152"/>
          <p:cNvSpPr/>
          <p:nvPr/>
        </p:nvSpPr>
        <p:spPr>
          <a:xfrm>
            <a:off x="3304794" y="2249543"/>
            <a:ext cx="40386" cy="12519"/>
          </a:xfrm>
          <a:prstGeom prst="line">
            <a:avLst/>
          </a:prstGeom>
          <a:noFill/>
          <a:ln w="28575">
            <a:solidFill>
              <a:srgbClr val="C8414C"/>
            </a:solidFill>
            <a:prstDash val="solid"/>
          </a:ln>
        </p:spPr>
      </p:sp>
      <p:sp>
        <p:nvSpPr>
          <p:cNvPr id="155" name="Shape 153"/>
          <p:cNvSpPr/>
          <p:nvPr/>
        </p:nvSpPr>
        <p:spPr>
          <a:xfrm>
            <a:off x="3345180" y="2262062"/>
            <a:ext cx="40386" cy="12049"/>
          </a:xfrm>
          <a:prstGeom prst="line">
            <a:avLst/>
          </a:prstGeom>
          <a:noFill/>
          <a:ln w="28575">
            <a:solidFill>
              <a:srgbClr val="C8414C"/>
            </a:solidFill>
            <a:prstDash val="solid"/>
          </a:ln>
        </p:spPr>
      </p:sp>
      <p:sp>
        <p:nvSpPr>
          <p:cNvPr id="156" name="Shape 154"/>
          <p:cNvSpPr/>
          <p:nvPr/>
        </p:nvSpPr>
        <p:spPr>
          <a:xfrm>
            <a:off x="3385566" y="2274111"/>
            <a:ext cx="40386" cy="11587"/>
          </a:xfrm>
          <a:prstGeom prst="line">
            <a:avLst/>
          </a:prstGeom>
          <a:noFill/>
          <a:ln w="28575">
            <a:solidFill>
              <a:srgbClr val="C8414C"/>
            </a:solidFill>
            <a:prstDash val="solid"/>
          </a:ln>
        </p:spPr>
      </p:sp>
      <p:sp>
        <p:nvSpPr>
          <p:cNvPr id="157" name="Shape 155"/>
          <p:cNvSpPr/>
          <p:nvPr/>
        </p:nvSpPr>
        <p:spPr>
          <a:xfrm>
            <a:off x="3425952" y="2285698"/>
            <a:ext cx="40386" cy="11134"/>
          </a:xfrm>
          <a:prstGeom prst="line">
            <a:avLst/>
          </a:prstGeom>
          <a:noFill/>
          <a:ln w="28575">
            <a:solidFill>
              <a:srgbClr val="C8414C"/>
            </a:solidFill>
            <a:prstDash val="solid"/>
          </a:ln>
        </p:spPr>
      </p:sp>
      <p:sp>
        <p:nvSpPr>
          <p:cNvPr id="158" name="Shape 156"/>
          <p:cNvSpPr/>
          <p:nvPr/>
        </p:nvSpPr>
        <p:spPr>
          <a:xfrm>
            <a:off x="3466338" y="2296831"/>
            <a:ext cx="40386" cy="10690"/>
          </a:xfrm>
          <a:prstGeom prst="line">
            <a:avLst/>
          </a:prstGeom>
          <a:noFill/>
          <a:ln w="28575">
            <a:solidFill>
              <a:srgbClr val="C8414C"/>
            </a:solidFill>
            <a:prstDash val="solid"/>
          </a:ln>
        </p:spPr>
      </p:sp>
      <p:sp>
        <p:nvSpPr>
          <p:cNvPr id="159" name="Shape 157"/>
          <p:cNvSpPr/>
          <p:nvPr/>
        </p:nvSpPr>
        <p:spPr>
          <a:xfrm>
            <a:off x="3506724" y="2307522"/>
            <a:ext cx="40386" cy="10258"/>
          </a:xfrm>
          <a:prstGeom prst="line">
            <a:avLst/>
          </a:prstGeom>
          <a:noFill/>
          <a:ln w="28575">
            <a:solidFill>
              <a:srgbClr val="C8414C"/>
            </a:solidFill>
            <a:prstDash val="solid"/>
          </a:ln>
        </p:spPr>
      </p:sp>
      <p:sp>
        <p:nvSpPr>
          <p:cNvPr id="160" name="Shape 158"/>
          <p:cNvSpPr/>
          <p:nvPr/>
        </p:nvSpPr>
        <p:spPr>
          <a:xfrm>
            <a:off x="3547110" y="2317780"/>
            <a:ext cx="40386" cy="9836"/>
          </a:xfrm>
          <a:prstGeom prst="line">
            <a:avLst/>
          </a:prstGeom>
          <a:noFill/>
          <a:ln w="28575">
            <a:solidFill>
              <a:srgbClr val="C8414C"/>
            </a:solidFill>
            <a:prstDash val="solid"/>
          </a:ln>
        </p:spPr>
      </p:sp>
      <p:sp>
        <p:nvSpPr>
          <p:cNvPr id="161" name="Shape 159"/>
          <p:cNvSpPr/>
          <p:nvPr/>
        </p:nvSpPr>
        <p:spPr>
          <a:xfrm>
            <a:off x="3587496" y="2327615"/>
            <a:ext cx="40386" cy="9425"/>
          </a:xfrm>
          <a:prstGeom prst="line">
            <a:avLst/>
          </a:prstGeom>
          <a:noFill/>
          <a:ln w="28575">
            <a:solidFill>
              <a:srgbClr val="C8414C"/>
            </a:solidFill>
            <a:prstDash val="solid"/>
          </a:ln>
        </p:spPr>
      </p:sp>
      <p:sp>
        <p:nvSpPr>
          <p:cNvPr id="162" name="Shape 160"/>
          <p:cNvSpPr/>
          <p:nvPr/>
        </p:nvSpPr>
        <p:spPr>
          <a:xfrm>
            <a:off x="3627882" y="2337040"/>
            <a:ext cx="40386" cy="9025"/>
          </a:xfrm>
          <a:prstGeom prst="line">
            <a:avLst/>
          </a:prstGeom>
          <a:noFill/>
          <a:ln w="28575">
            <a:solidFill>
              <a:srgbClr val="C8414C"/>
            </a:solidFill>
            <a:prstDash val="solid"/>
          </a:ln>
        </p:spPr>
      </p:sp>
      <p:sp>
        <p:nvSpPr>
          <p:cNvPr id="163" name="Shape 161"/>
          <p:cNvSpPr/>
          <p:nvPr/>
        </p:nvSpPr>
        <p:spPr>
          <a:xfrm>
            <a:off x="3668268" y="2346065"/>
            <a:ext cx="40386" cy="8637"/>
          </a:xfrm>
          <a:prstGeom prst="line">
            <a:avLst/>
          </a:prstGeom>
          <a:noFill/>
          <a:ln w="28575">
            <a:solidFill>
              <a:srgbClr val="C8414C"/>
            </a:solidFill>
            <a:prstDash val="solid"/>
          </a:ln>
        </p:spPr>
      </p:sp>
      <p:sp>
        <p:nvSpPr>
          <p:cNvPr id="164" name="Shape 162"/>
          <p:cNvSpPr/>
          <p:nvPr/>
        </p:nvSpPr>
        <p:spPr>
          <a:xfrm>
            <a:off x="3708654" y="2354703"/>
            <a:ext cx="40386" cy="8261"/>
          </a:xfrm>
          <a:prstGeom prst="line">
            <a:avLst/>
          </a:prstGeom>
          <a:noFill/>
          <a:ln w="28575">
            <a:solidFill>
              <a:srgbClr val="C8414C"/>
            </a:solidFill>
            <a:prstDash val="solid"/>
          </a:ln>
        </p:spPr>
      </p:sp>
      <p:sp>
        <p:nvSpPr>
          <p:cNvPr id="165" name="Shape 163"/>
          <p:cNvSpPr/>
          <p:nvPr/>
        </p:nvSpPr>
        <p:spPr>
          <a:xfrm>
            <a:off x="3749040" y="2362964"/>
            <a:ext cx="40386" cy="7896"/>
          </a:xfrm>
          <a:prstGeom prst="line">
            <a:avLst/>
          </a:prstGeom>
          <a:noFill/>
          <a:ln w="28575">
            <a:solidFill>
              <a:srgbClr val="C8414C"/>
            </a:solidFill>
            <a:prstDash val="solid"/>
          </a:ln>
        </p:spPr>
      </p:sp>
      <p:sp>
        <p:nvSpPr>
          <p:cNvPr id="166" name="Shape 164"/>
          <p:cNvSpPr/>
          <p:nvPr/>
        </p:nvSpPr>
        <p:spPr>
          <a:xfrm>
            <a:off x="3789426" y="2370860"/>
            <a:ext cx="40386" cy="7543"/>
          </a:xfrm>
          <a:prstGeom prst="line">
            <a:avLst/>
          </a:prstGeom>
          <a:noFill/>
          <a:ln w="28575">
            <a:solidFill>
              <a:srgbClr val="C8414C"/>
            </a:solidFill>
            <a:prstDash val="solid"/>
          </a:ln>
        </p:spPr>
      </p:sp>
      <p:sp>
        <p:nvSpPr>
          <p:cNvPr id="167" name="Shape 165"/>
          <p:cNvSpPr/>
          <p:nvPr/>
        </p:nvSpPr>
        <p:spPr>
          <a:xfrm>
            <a:off x="3829812" y="2378403"/>
            <a:ext cx="40386" cy="7201"/>
          </a:xfrm>
          <a:prstGeom prst="line">
            <a:avLst/>
          </a:prstGeom>
          <a:noFill/>
          <a:ln w="28575">
            <a:solidFill>
              <a:srgbClr val="C8414C"/>
            </a:solidFill>
            <a:prstDash val="solid"/>
          </a:ln>
        </p:spPr>
      </p:sp>
      <p:sp>
        <p:nvSpPr>
          <p:cNvPr id="168" name="Shape 166"/>
          <p:cNvSpPr/>
          <p:nvPr/>
        </p:nvSpPr>
        <p:spPr>
          <a:xfrm>
            <a:off x="3870198" y="2385604"/>
            <a:ext cx="40386" cy="6871"/>
          </a:xfrm>
          <a:prstGeom prst="line">
            <a:avLst/>
          </a:prstGeom>
          <a:noFill/>
          <a:ln w="28575">
            <a:solidFill>
              <a:srgbClr val="C8414C"/>
            </a:solidFill>
            <a:prstDash val="solid"/>
          </a:ln>
        </p:spPr>
      </p:sp>
      <p:sp>
        <p:nvSpPr>
          <p:cNvPr id="169" name="Shape 167"/>
          <p:cNvSpPr/>
          <p:nvPr/>
        </p:nvSpPr>
        <p:spPr>
          <a:xfrm>
            <a:off x="3910584" y="2392476"/>
            <a:ext cx="40386" cy="6553"/>
          </a:xfrm>
          <a:prstGeom prst="line">
            <a:avLst/>
          </a:prstGeom>
          <a:noFill/>
          <a:ln w="28575">
            <a:solidFill>
              <a:srgbClr val="C8414C"/>
            </a:solidFill>
            <a:prstDash val="solid"/>
          </a:ln>
        </p:spPr>
      </p:sp>
      <p:sp>
        <p:nvSpPr>
          <p:cNvPr id="170" name="Shape 168"/>
          <p:cNvSpPr/>
          <p:nvPr/>
        </p:nvSpPr>
        <p:spPr>
          <a:xfrm>
            <a:off x="3950970" y="2399028"/>
            <a:ext cx="40386" cy="6245"/>
          </a:xfrm>
          <a:prstGeom prst="line">
            <a:avLst/>
          </a:prstGeom>
          <a:noFill/>
          <a:ln w="28575">
            <a:solidFill>
              <a:srgbClr val="C8414C"/>
            </a:solidFill>
            <a:prstDash val="solid"/>
          </a:ln>
        </p:spPr>
      </p:sp>
      <p:sp>
        <p:nvSpPr>
          <p:cNvPr id="171" name="Shape 169"/>
          <p:cNvSpPr/>
          <p:nvPr/>
        </p:nvSpPr>
        <p:spPr>
          <a:xfrm>
            <a:off x="3991356" y="2405274"/>
            <a:ext cx="40386" cy="5948"/>
          </a:xfrm>
          <a:prstGeom prst="line">
            <a:avLst/>
          </a:prstGeom>
          <a:noFill/>
          <a:ln w="28575">
            <a:solidFill>
              <a:srgbClr val="C8414C"/>
            </a:solidFill>
            <a:prstDash val="solid"/>
          </a:ln>
        </p:spPr>
      </p:sp>
      <p:sp>
        <p:nvSpPr>
          <p:cNvPr id="172" name="Shape 170"/>
          <p:cNvSpPr/>
          <p:nvPr/>
        </p:nvSpPr>
        <p:spPr>
          <a:xfrm>
            <a:off x="4031742" y="2411222"/>
            <a:ext cx="40386" cy="5663"/>
          </a:xfrm>
          <a:prstGeom prst="line">
            <a:avLst/>
          </a:prstGeom>
          <a:noFill/>
          <a:ln w="28575">
            <a:solidFill>
              <a:srgbClr val="C8414C"/>
            </a:solidFill>
            <a:prstDash val="solid"/>
          </a:ln>
        </p:spPr>
      </p:sp>
      <p:sp>
        <p:nvSpPr>
          <p:cNvPr id="173" name="Shape 171"/>
          <p:cNvSpPr/>
          <p:nvPr/>
        </p:nvSpPr>
        <p:spPr>
          <a:xfrm>
            <a:off x="4072128" y="2416885"/>
            <a:ext cx="40386" cy="5388"/>
          </a:xfrm>
          <a:prstGeom prst="line">
            <a:avLst/>
          </a:prstGeom>
          <a:noFill/>
          <a:ln w="28575">
            <a:solidFill>
              <a:srgbClr val="C8414C"/>
            </a:solidFill>
            <a:prstDash val="solid"/>
          </a:ln>
        </p:spPr>
      </p:sp>
      <p:sp>
        <p:nvSpPr>
          <p:cNvPr id="174" name="Shape 172"/>
          <p:cNvSpPr/>
          <p:nvPr/>
        </p:nvSpPr>
        <p:spPr>
          <a:xfrm>
            <a:off x="4112514" y="2422272"/>
            <a:ext cx="40386" cy="5123"/>
          </a:xfrm>
          <a:prstGeom prst="line">
            <a:avLst/>
          </a:prstGeom>
          <a:noFill/>
          <a:ln w="28575">
            <a:solidFill>
              <a:srgbClr val="C8414C"/>
            </a:solidFill>
            <a:prstDash val="solid"/>
          </a:ln>
        </p:spPr>
      </p:sp>
      <p:sp>
        <p:nvSpPr>
          <p:cNvPr id="175" name="Shape 173"/>
          <p:cNvSpPr/>
          <p:nvPr/>
        </p:nvSpPr>
        <p:spPr>
          <a:xfrm>
            <a:off x="4152900" y="2427395"/>
            <a:ext cx="40386" cy="4868"/>
          </a:xfrm>
          <a:prstGeom prst="line">
            <a:avLst/>
          </a:prstGeom>
          <a:noFill/>
          <a:ln w="28575">
            <a:solidFill>
              <a:srgbClr val="C8414C"/>
            </a:solidFill>
            <a:prstDash val="solid"/>
          </a:ln>
        </p:spPr>
      </p:sp>
      <p:sp>
        <p:nvSpPr>
          <p:cNvPr id="176" name="Shape 174"/>
          <p:cNvSpPr/>
          <p:nvPr/>
        </p:nvSpPr>
        <p:spPr>
          <a:xfrm>
            <a:off x="4193286" y="2432263"/>
            <a:ext cx="40386" cy="4623"/>
          </a:xfrm>
          <a:prstGeom prst="line">
            <a:avLst/>
          </a:prstGeom>
          <a:noFill/>
          <a:ln w="28575">
            <a:solidFill>
              <a:srgbClr val="C8414C"/>
            </a:solidFill>
            <a:prstDash val="solid"/>
          </a:ln>
        </p:spPr>
      </p:sp>
      <p:sp>
        <p:nvSpPr>
          <p:cNvPr id="177" name="Shape 175"/>
          <p:cNvSpPr/>
          <p:nvPr/>
        </p:nvSpPr>
        <p:spPr>
          <a:xfrm>
            <a:off x="4233672" y="2436886"/>
            <a:ext cx="40386" cy="4387"/>
          </a:xfrm>
          <a:prstGeom prst="line">
            <a:avLst/>
          </a:prstGeom>
          <a:noFill/>
          <a:ln w="28575">
            <a:solidFill>
              <a:srgbClr val="C8414C"/>
            </a:solidFill>
            <a:prstDash val="solid"/>
          </a:ln>
        </p:spPr>
      </p:sp>
      <p:sp>
        <p:nvSpPr>
          <p:cNvPr id="178" name="Shape 176"/>
          <p:cNvSpPr/>
          <p:nvPr/>
        </p:nvSpPr>
        <p:spPr>
          <a:xfrm>
            <a:off x="4274058" y="2441273"/>
            <a:ext cx="40386" cy="4161"/>
          </a:xfrm>
          <a:prstGeom prst="line">
            <a:avLst/>
          </a:prstGeom>
          <a:noFill/>
          <a:ln w="28575">
            <a:solidFill>
              <a:srgbClr val="C8414C"/>
            </a:solidFill>
            <a:prstDash val="solid"/>
          </a:ln>
        </p:spPr>
      </p:sp>
      <p:sp>
        <p:nvSpPr>
          <p:cNvPr id="179" name="Shape 177"/>
          <p:cNvSpPr/>
          <p:nvPr/>
        </p:nvSpPr>
        <p:spPr>
          <a:xfrm>
            <a:off x="4314444" y="2445434"/>
            <a:ext cx="40386" cy="3944"/>
          </a:xfrm>
          <a:prstGeom prst="line">
            <a:avLst/>
          </a:prstGeom>
          <a:noFill/>
          <a:ln w="28575">
            <a:solidFill>
              <a:srgbClr val="C8414C"/>
            </a:solidFill>
            <a:prstDash val="solid"/>
          </a:ln>
        </p:spPr>
      </p:sp>
      <p:sp>
        <p:nvSpPr>
          <p:cNvPr id="180" name="Shape 178"/>
          <p:cNvSpPr/>
          <p:nvPr/>
        </p:nvSpPr>
        <p:spPr>
          <a:xfrm>
            <a:off x="4354830" y="2449379"/>
            <a:ext cx="40386" cy="3736"/>
          </a:xfrm>
          <a:prstGeom prst="line">
            <a:avLst/>
          </a:prstGeom>
          <a:noFill/>
          <a:ln w="28575">
            <a:solidFill>
              <a:srgbClr val="C8414C"/>
            </a:solidFill>
            <a:prstDash val="solid"/>
          </a:ln>
        </p:spPr>
      </p:sp>
      <p:sp>
        <p:nvSpPr>
          <p:cNvPr id="181" name="Shape 179"/>
          <p:cNvSpPr/>
          <p:nvPr/>
        </p:nvSpPr>
        <p:spPr>
          <a:xfrm>
            <a:off x="4395216" y="2453114"/>
            <a:ext cx="40386" cy="3536"/>
          </a:xfrm>
          <a:prstGeom prst="line">
            <a:avLst/>
          </a:prstGeom>
          <a:noFill/>
          <a:ln w="28575">
            <a:solidFill>
              <a:srgbClr val="C8414C"/>
            </a:solidFill>
            <a:prstDash val="solid"/>
          </a:ln>
        </p:spPr>
      </p:sp>
      <p:sp>
        <p:nvSpPr>
          <p:cNvPr id="182" name="Shape 180"/>
          <p:cNvSpPr/>
          <p:nvPr/>
        </p:nvSpPr>
        <p:spPr>
          <a:xfrm>
            <a:off x="4435602" y="2456650"/>
            <a:ext cx="40386" cy="3344"/>
          </a:xfrm>
          <a:prstGeom prst="line">
            <a:avLst/>
          </a:prstGeom>
          <a:noFill/>
          <a:ln w="28575">
            <a:solidFill>
              <a:srgbClr val="C8414C"/>
            </a:solidFill>
            <a:prstDash val="solid"/>
          </a:ln>
        </p:spPr>
      </p:sp>
      <p:sp>
        <p:nvSpPr>
          <p:cNvPr id="183" name="Shape 181"/>
          <p:cNvSpPr/>
          <p:nvPr/>
        </p:nvSpPr>
        <p:spPr>
          <a:xfrm>
            <a:off x="4475988" y="2459995"/>
            <a:ext cx="40386" cy="3160"/>
          </a:xfrm>
          <a:prstGeom prst="line">
            <a:avLst/>
          </a:prstGeom>
          <a:noFill/>
          <a:ln w="28575">
            <a:solidFill>
              <a:srgbClr val="C8414C"/>
            </a:solidFill>
            <a:prstDash val="solid"/>
          </a:ln>
        </p:spPr>
      </p:sp>
      <p:sp>
        <p:nvSpPr>
          <p:cNvPr id="184" name="Shape 182"/>
          <p:cNvSpPr/>
          <p:nvPr/>
        </p:nvSpPr>
        <p:spPr>
          <a:xfrm>
            <a:off x="4516374" y="2463155"/>
            <a:ext cx="40386" cy="2984"/>
          </a:xfrm>
          <a:prstGeom prst="line">
            <a:avLst/>
          </a:prstGeom>
          <a:noFill/>
          <a:ln w="28575">
            <a:solidFill>
              <a:srgbClr val="C8414C"/>
            </a:solidFill>
            <a:prstDash val="solid"/>
          </a:ln>
        </p:spPr>
      </p:sp>
      <p:sp>
        <p:nvSpPr>
          <p:cNvPr id="185" name="Shape 183"/>
          <p:cNvSpPr/>
          <p:nvPr/>
        </p:nvSpPr>
        <p:spPr>
          <a:xfrm>
            <a:off x="4556760" y="2466139"/>
            <a:ext cx="40386" cy="2816"/>
          </a:xfrm>
          <a:prstGeom prst="line">
            <a:avLst/>
          </a:prstGeom>
          <a:noFill/>
          <a:ln w="28575">
            <a:solidFill>
              <a:srgbClr val="C8414C"/>
            </a:solidFill>
            <a:prstDash val="solid"/>
          </a:ln>
        </p:spPr>
      </p:sp>
      <p:sp>
        <p:nvSpPr>
          <p:cNvPr id="186" name="Shape 184"/>
          <p:cNvSpPr/>
          <p:nvPr/>
        </p:nvSpPr>
        <p:spPr>
          <a:xfrm>
            <a:off x="4597146" y="2468955"/>
            <a:ext cx="40386" cy="2654"/>
          </a:xfrm>
          <a:prstGeom prst="line">
            <a:avLst/>
          </a:prstGeom>
          <a:noFill/>
          <a:ln w="28575">
            <a:solidFill>
              <a:srgbClr val="C8414C"/>
            </a:solidFill>
            <a:prstDash val="solid"/>
          </a:ln>
        </p:spPr>
      </p:sp>
      <p:sp>
        <p:nvSpPr>
          <p:cNvPr id="187" name="Shape 185"/>
          <p:cNvSpPr/>
          <p:nvPr/>
        </p:nvSpPr>
        <p:spPr>
          <a:xfrm>
            <a:off x="4637532" y="2471609"/>
            <a:ext cx="40386" cy="2499"/>
          </a:xfrm>
          <a:prstGeom prst="line">
            <a:avLst/>
          </a:prstGeom>
          <a:noFill/>
          <a:ln w="28575">
            <a:solidFill>
              <a:srgbClr val="C8414C"/>
            </a:solidFill>
            <a:prstDash val="solid"/>
          </a:ln>
        </p:spPr>
      </p:sp>
      <p:sp>
        <p:nvSpPr>
          <p:cNvPr id="188" name="Shape 186"/>
          <p:cNvSpPr/>
          <p:nvPr/>
        </p:nvSpPr>
        <p:spPr>
          <a:xfrm>
            <a:off x="4677918" y="2474108"/>
            <a:ext cx="40386" cy="2351"/>
          </a:xfrm>
          <a:prstGeom prst="line">
            <a:avLst/>
          </a:prstGeom>
          <a:noFill/>
          <a:ln w="28575">
            <a:solidFill>
              <a:srgbClr val="C8414C"/>
            </a:solidFill>
            <a:prstDash val="solid"/>
          </a:ln>
        </p:spPr>
      </p:sp>
      <p:sp>
        <p:nvSpPr>
          <p:cNvPr id="189" name="Shape 187"/>
          <p:cNvSpPr/>
          <p:nvPr/>
        </p:nvSpPr>
        <p:spPr>
          <a:xfrm>
            <a:off x="4718304" y="2476459"/>
            <a:ext cx="40386" cy="2209"/>
          </a:xfrm>
          <a:prstGeom prst="line">
            <a:avLst/>
          </a:prstGeom>
          <a:noFill/>
          <a:ln w="28575">
            <a:solidFill>
              <a:srgbClr val="C8414C"/>
            </a:solidFill>
            <a:prstDash val="solid"/>
          </a:ln>
        </p:spPr>
      </p:sp>
      <p:sp>
        <p:nvSpPr>
          <p:cNvPr id="190" name="Shape 188"/>
          <p:cNvSpPr/>
          <p:nvPr/>
        </p:nvSpPr>
        <p:spPr>
          <a:xfrm>
            <a:off x="4758690" y="2478668"/>
            <a:ext cx="40386" cy="2073"/>
          </a:xfrm>
          <a:prstGeom prst="line">
            <a:avLst/>
          </a:prstGeom>
          <a:noFill/>
          <a:ln w="28575">
            <a:solidFill>
              <a:srgbClr val="C8414C"/>
            </a:solidFill>
            <a:prstDash val="solid"/>
          </a:ln>
        </p:spPr>
      </p:sp>
      <p:sp>
        <p:nvSpPr>
          <p:cNvPr id="191" name="Shape 189"/>
          <p:cNvSpPr/>
          <p:nvPr/>
        </p:nvSpPr>
        <p:spPr>
          <a:xfrm>
            <a:off x="4799076" y="2480741"/>
            <a:ext cx="40386" cy="1943"/>
          </a:xfrm>
          <a:prstGeom prst="line">
            <a:avLst/>
          </a:prstGeom>
          <a:noFill/>
          <a:ln w="28575">
            <a:solidFill>
              <a:srgbClr val="C8414C"/>
            </a:solidFill>
            <a:prstDash val="solid"/>
          </a:ln>
        </p:spPr>
      </p:sp>
      <p:sp>
        <p:nvSpPr>
          <p:cNvPr id="192" name="Shape 190"/>
          <p:cNvSpPr/>
          <p:nvPr/>
        </p:nvSpPr>
        <p:spPr>
          <a:xfrm>
            <a:off x="4839462" y="2482684"/>
            <a:ext cx="40386" cy="1819"/>
          </a:xfrm>
          <a:prstGeom prst="line">
            <a:avLst/>
          </a:prstGeom>
          <a:noFill/>
          <a:ln w="28575">
            <a:solidFill>
              <a:srgbClr val="C8414C"/>
            </a:solidFill>
            <a:prstDash val="solid"/>
          </a:ln>
        </p:spPr>
      </p:sp>
      <p:sp>
        <p:nvSpPr>
          <p:cNvPr id="193" name="Shape 191"/>
          <p:cNvSpPr/>
          <p:nvPr/>
        </p:nvSpPr>
        <p:spPr>
          <a:xfrm>
            <a:off x="4879848" y="2484503"/>
            <a:ext cx="40386" cy="1700"/>
          </a:xfrm>
          <a:prstGeom prst="line">
            <a:avLst/>
          </a:prstGeom>
          <a:noFill/>
          <a:ln w="28575">
            <a:solidFill>
              <a:srgbClr val="C8414C"/>
            </a:solidFill>
            <a:prstDash val="solid"/>
          </a:ln>
        </p:spPr>
      </p:sp>
      <p:sp>
        <p:nvSpPr>
          <p:cNvPr id="194" name="Shape 192"/>
          <p:cNvSpPr/>
          <p:nvPr/>
        </p:nvSpPr>
        <p:spPr>
          <a:xfrm>
            <a:off x="4920234" y="2486204"/>
            <a:ext cx="40386" cy="1587"/>
          </a:xfrm>
          <a:prstGeom prst="line">
            <a:avLst/>
          </a:prstGeom>
          <a:noFill/>
          <a:ln w="28575">
            <a:solidFill>
              <a:srgbClr val="C8414C"/>
            </a:solidFill>
            <a:prstDash val="solid"/>
          </a:ln>
        </p:spPr>
      </p:sp>
      <p:sp>
        <p:nvSpPr>
          <p:cNvPr id="195" name="Shape 193"/>
          <p:cNvSpPr/>
          <p:nvPr/>
        </p:nvSpPr>
        <p:spPr>
          <a:xfrm>
            <a:off x="4960620" y="2487790"/>
            <a:ext cx="40386" cy="1478"/>
          </a:xfrm>
          <a:prstGeom prst="line">
            <a:avLst/>
          </a:prstGeom>
          <a:noFill/>
          <a:ln w="28575">
            <a:solidFill>
              <a:srgbClr val="C8414C"/>
            </a:solidFill>
            <a:prstDash val="solid"/>
          </a:ln>
        </p:spPr>
      </p:sp>
      <p:sp>
        <p:nvSpPr>
          <p:cNvPr id="196" name="Shape 194"/>
          <p:cNvSpPr/>
          <p:nvPr/>
        </p:nvSpPr>
        <p:spPr>
          <a:xfrm>
            <a:off x="5001006" y="2489268"/>
            <a:ext cx="40386" cy="1374"/>
          </a:xfrm>
          <a:prstGeom prst="line">
            <a:avLst/>
          </a:prstGeom>
          <a:noFill/>
          <a:ln w="28575">
            <a:solidFill>
              <a:srgbClr val="C8414C"/>
            </a:solidFill>
            <a:prstDash val="solid"/>
          </a:ln>
        </p:spPr>
      </p:sp>
      <p:sp>
        <p:nvSpPr>
          <p:cNvPr id="197" name="Shape 195"/>
          <p:cNvSpPr/>
          <p:nvPr/>
        </p:nvSpPr>
        <p:spPr>
          <a:xfrm>
            <a:off x="5041392" y="2490643"/>
            <a:ext cx="40386" cy="1275"/>
          </a:xfrm>
          <a:prstGeom prst="line">
            <a:avLst/>
          </a:prstGeom>
          <a:noFill/>
          <a:ln w="28575">
            <a:solidFill>
              <a:srgbClr val="C8414C"/>
            </a:solidFill>
            <a:prstDash val="solid"/>
          </a:ln>
        </p:spPr>
      </p:sp>
      <p:sp>
        <p:nvSpPr>
          <p:cNvPr id="198" name="Shape 196"/>
          <p:cNvSpPr/>
          <p:nvPr/>
        </p:nvSpPr>
        <p:spPr>
          <a:xfrm>
            <a:off x="5081778" y="2491918"/>
            <a:ext cx="40386" cy="1180"/>
          </a:xfrm>
          <a:prstGeom prst="line">
            <a:avLst/>
          </a:prstGeom>
          <a:noFill/>
          <a:ln w="28575">
            <a:solidFill>
              <a:srgbClr val="C8414C"/>
            </a:solidFill>
            <a:prstDash val="solid"/>
          </a:ln>
        </p:spPr>
      </p:sp>
      <p:sp>
        <p:nvSpPr>
          <p:cNvPr id="199" name="Shape 197"/>
          <p:cNvSpPr/>
          <p:nvPr/>
        </p:nvSpPr>
        <p:spPr>
          <a:xfrm>
            <a:off x="5122164" y="2493098"/>
            <a:ext cx="40386" cy="1090"/>
          </a:xfrm>
          <a:prstGeom prst="line">
            <a:avLst/>
          </a:prstGeom>
          <a:noFill/>
          <a:ln w="28575">
            <a:solidFill>
              <a:srgbClr val="C8414C"/>
            </a:solidFill>
            <a:prstDash val="solid"/>
          </a:ln>
        </p:spPr>
      </p:sp>
      <p:sp>
        <p:nvSpPr>
          <p:cNvPr id="200" name="Shape 198"/>
          <p:cNvSpPr/>
          <p:nvPr/>
        </p:nvSpPr>
        <p:spPr>
          <a:xfrm>
            <a:off x="5162550" y="2494188"/>
            <a:ext cx="40386" cy="1003"/>
          </a:xfrm>
          <a:prstGeom prst="line">
            <a:avLst/>
          </a:prstGeom>
          <a:noFill/>
          <a:ln w="28575">
            <a:solidFill>
              <a:srgbClr val="C8414C"/>
            </a:solidFill>
            <a:prstDash val="solid"/>
          </a:ln>
        </p:spPr>
      </p:sp>
      <p:sp>
        <p:nvSpPr>
          <p:cNvPr id="201" name="Shape 199"/>
          <p:cNvSpPr/>
          <p:nvPr/>
        </p:nvSpPr>
        <p:spPr>
          <a:xfrm>
            <a:off x="5202936" y="2495191"/>
            <a:ext cx="40386" cy="920"/>
          </a:xfrm>
          <a:prstGeom prst="line">
            <a:avLst/>
          </a:prstGeom>
          <a:noFill/>
          <a:ln w="28575">
            <a:solidFill>
              <a:srgbClr val="C8414C"/>
            </a:solidFill>
            <a:prstDash val="solid"/>
          </a:ln>
        </p:spPr>
      </p:sp>
      <p:sp>
        <p:nvSpPr>
          <p:cNvPr id="202" name="Shape 200"/>
          <p:cNvSpPr/>
          <p:nvPr/>
        </p:nvSpPr>
        <p:spPr>
          <a:xfrm>
            <a:off x="5243322" y="2496111"/>
            <a:ext cx="40386" cy="841"/>
          </a:xfrm>
          <a:prstGeom prst="line">
            <a:avLst/>
          </a:prstGeom>
          <a:noFill/>
          <a:ln w="28575">
            <a:solidFill>
              <a:srgbClr val="C8414C"/>
            </a:solidFill>
            <a:prstDash val="solid"/>
          </a:ln>
        </p:spPr>
      </p:sp>
      <p:sp>
        <p:nvSpPr>
          <p:cNvPr id="203" name="Shape 201"/>
          <p:cNvSpPr/>
          <p:nvPr/>
        </p:nvSpPr>
        <p:spPr>
          <a:xfrm>
            <a:off x="5283708" y="2496953"/>
            <a:ext cx="40386" cy="766"/>
          </a:xfrm>
          <a:prstGeom prst="line">
            <a:avLst/>
          </a:prstGeom>
          <a:noFill/>
          <a:ln w="28575">
            <a:solidFill>
              <a:srgbClr val="C8414C"/>
            </a:solidFill>
            <a:prstDash val="solid"/>
          </a:ln>
        </p:spPr>
      </p:sp>
      <p:sp>
        <p:nvSpPr>
          <p:cNvPr id="204" name="Shape 202"/>
          <p:cNvSpPr/>
          <p:nvPr/>
        </p:nvSpPr>
        <p:spPr>
          <a:xfrm>
            <a:off x="5324094" y="2497719"/>
            <a:ext cx="40386" cy="694"/>
          </a:xfrm>
          <a:prstGeom prst="line">
            <a:avLst/>
          </a:prstGeom>
          <a:noFill/>
          <a:ln w="28575">
            <a:solidFill>
              <a:srgbClr val="C8414C"/>
            </a:solidFill>
            <a:prstDash val="solid"/>
          </a:ln>
        </p:spPr>
      </p:sp>
      <p:sp>
        <p:nvSpPr>
          <p:cNvPr id="205" name="Shape 203"/>
          <p:cNvSpPr/>
          <p:nvPr/>
        </p:nvSpPr>
        <p:spPr>
          <a:xfrm>
            <a:off x="5364480" y="2498412"/>
            <a:ext cx="40386" cy="625"/>
          </a:xfrm>
          <a:prstGeom prst="line">
            <a:avLst/>
          </a:prstGeom>
          <a:noFill/>
          <a:ln w="28575">
            <a:solidFill>
              <a:srgbClr val="C8414C"/>
            </a:solidFill>
            <a:prstDash val="solid"/>
          </a:ln>
        </p:spPr>
      </p:sp>
      <p:sp>
        <p:nvSpPr>
          <p:cNvPr id="206" name="Shape 204"/>
          <p:cNvSpPr/>
          <p:nvPr/>
        </p:nvSpPr>
        <p:spPr>
          <a:xfrm>
            <a:off x="5404866" y="2499038"/>
            <a:ext cx="40386" cy="559"/>
          </a:xfrm>
          <a:prstGeom prst="line">
            <a:avLst/>
          </a:prstGeom>
          <a:noFill/>
          <a:ln w="28575">
            <a:solidFill>
              <a:srgbClr val="C8414C"/>
            </a:solidFill>
            <a:prstDash val="solid"/>
          </a:ln>
        </p:spPr>
      </p:sp>
      <p:sp>
        <p:nvSpPr>
          <p:cNvPr id="207" name="Shape 205"/>
          <p:cNvSpPr/>
          <p:nvPr/>
        </p:nvSpPr>
        <p:spPr>
          <a:xfrm>
            <a:off x="5445252" y="2499597"/>
            <a:ext cx="40386" cy="497"/>
          </a:xfrm>
          <a:prstGeom prst="line">
            <a:avLst/>
          </a:prstGeom>
          <a:noFill/>
          <a:ln w="28575">
            <a:solidFill>
              <a:srgbClr val="C8414C"/>
            </a:solidFill>
            <a:prstDash val="solid"/>
          </a:ln>
        </p:spPr>
      </p:sp>
      <p:sp>
        <p:nvSpPr>
          <p:cNvPr id="208" name="Shape 206"/>
          <p:cNvSpPr/>
          <p:nvPr/>
        </p:nvSpPr>
        <p:spPr>
          <a:xfrm>
            <a:off x="5485638" y="2500094"/>
            <a:ext cx="40386" cy="437"/>
          </a:xfrm>
          <a:prstGeom prst="line">
            <a:avLst/>
          </a:prstGeom>
          <a:noFill/>
          <a:ln w="28575">
            <a:solidFill>
              <a:srgbClr val="C8414C"/>
            </a:solidFill>
            <a:prstDash val="solid"/>
          </a:ln>
        </p:spPr>
      </p:sp>
      <p:sp>
        <p:nvSpPr>
          <p:cNvPr id="209" name="Shape 207"/>
          <p:cNvSpPr/>
          <p:nvPr/>
        </p:nvSpPr>
        <p:spPr>
          <a:xfrm>
            <a:off x="5526024" y="2500530"/>
            <a:ext cx="40386" cy="380"/>
          </a:xfrm>
          <a:prstGeom prst="line">
            <a:avLst/>
          </a:prstGeom>
          <a:noFill/>
          <a:ln w="28575">
            <a:solidFill>
              <a:srgbClr val="C8414C"/>
            </a:solidFill>
            <a:prstDash val="solid"/>
          </a:ln>
        </p:spPr>
      </p:sp>
      <p:sp>
        <p:nvSpPr>
          <p:cNvPr id="210" name="Shape 208"/>
          <p:cNvSpPr/>
          <p:nvPr/>
        </p:nvSpPr>
        <p:spPr>
          <a:xfrm>
            <a:off x="5566410" y="2500910"/>
            <a:ext cx="40386" cy="325"/>
          </a:xfrm>
          <a:prstGeom prst="line">
            <a:avLst/>
          </a:prstGeom>
          <a:noFill/>
          <a:ln w="28575">
            <a:solidFill>
              <a:srgbClr val="C8414C"/>
            </a:solidFill>
            <a:prstDash val="solid"/>
          </a:ln>
        </p:spPr>
      </p:sp>
      <p:sp>
        <p:nvSpPr>
          <p:cNvPr id="211" name="Shape 209"/>
          <p:cNvSpPr/>
          <p:nvPr/>
        </p:nvSpPr>
        <p:spPr>
          <a:xfrm>
            <a:off x="5606796" y="2501235"/>
            <a:ext cx="40386" cy="273"/>
          </a:xfrm>
          <a:prstGeom prst="line">
            <a:avLst/>
          </a:prstGeom>
          <a:noFill/>
          <a:ln w="28575">
            <a:solidFill>
              <a:srgbClr val="C8414C"/>
            </a:solidFill>
            <a:prstDash val="solid"/>
          </a:ln>
        </p:spPr>
      </p:sp>
      <p:sp>
        <p:nvSpPr>
          <p:cNvPr id="212" name="Shape 210"/>
          <p:cNvSpPr/>
          <p:nvPr/>
        </p:nvSpPr>
        <p:spPr>
          <a:xfrm>
            <a:off x="5647182" y="2501508"/>
            <a:ext cx="40386" cy="223"/>
          </a:xfrm>
          <a:prstGeom prst="line">
            <a:avLst/>
          </a:prstGeom>
          <a:noFill/>
          <a:ln w="28575">
            <a:solidFill>
              <a:srgbClr val="C8414C"/>
            </a:solidFill>
            <a:prstDash val="solid"/>
          </a:ln>
        </p:spPr>
      </p:sp>
      <p:sp>
        <p:nvSpPr>
          <p:cNvPr id="213" name="Shape 211"/>
          <p:cNvSpPr/>
          <p:nvPr/>
        </p:nvSpPr>
        <p:spPr>
          <a:xfrm>
            <a:off x="5687568" y="2501731"/>
            <a:ext cx="40386" cy="176"/>
          </a:xfrm>
          <a:prstGeom prst="line">
            <a:avLst/>
          </a:prstGeom>
          <a:noFill/>
          <a:ln w="28575">
            <a:solidFill>
              <a:srgbClr val="C8414C"/>
            </a:solidFill>
            <a:prstDash val="solid"/>
          </a:ln>
        </p:spPr>
      </p:sp>
      <p:sp>
        <p:nvSpPr>
          <p:cNvPr id="214" name="Shape 212"/>
          <p:cNvSpPr/>
          <p:nvPr/>
        </p:nvSpPr>
        <p:spPr>
          <a:xfrm>
            <a:off x="5727954" y="2501907"/>
            <a:ext cx="40386" cy="130"/>
          </a:xfrm>
          <a:prstGeom prst="line">
            <a:avLst/>
          </a:prstGeom>
          <a:noFill/>
          <a:ln w="28575">
            <a:solidFill>
              <a:srgbClr val="C8414C"/>
            </a:solidFill>
            <a:prstDash val="solid"/>
          </a:ln>
        </p:spPr>
      </p:sp>
      <p:sp>
        <p:nvSpPr>
          <p:cNvPr id="215" name="Shape 213"/>
          <p:cNvSpPr/>
          <p:nvPr/>
        </p:nvSpPr>
        <p:spPr>
          <a:xfrm>
            <a:off x="5768340" y="2502037"/>
            <a:ext cx="40386" cy="87"/>
          </a:xfrm>
          <a:prstGeom prst="line">
            <a:avLst/>
          </a:prstGeom>
          <a:noFill/>
          <a:ln w="28575">
            <a:solidFill>
              <a:srgbClr val="C8414C"/>
            </a:solidFill>
            <a:prstDash val="solid"/>
          </a:ln>
        </p:spPr>
      </p:sp>
      <p:sp>
        <p:nvSpPr>
          <p:cNvPr id="216" name="Shape 214"/>
          <p:cNvSpPr/>
          <p:nvPr/>
        </p:nvSpPr>
        <p:spPr>
          <a:xfrm>
            <a:off x="5808726" y="2502124"/>
            <a:ext cx="40386" cy="46"/>
          </a:xfrm>
          <a:prstGeom prst="line">
            <a:avLst/>
          </a:prstGeom>
          <a:noFill/>
          <a:ln w="28575">
            <a:solidFill>
              <a:srgbClr val="C8414C"/>
            </a:solidFill>
            <a:prstDash val="solid"/>
          </a:ln>
        </p:spPr>
      </p:sp>
      <p:sp>
        <p:nvSpPr>
          <p:cNvPr id="217" name="Shape 215"/>
          <p:cNvSpPr/>
          <p:nvPr/>
        </p:nvSpPr>
        <p:spPr>
          <a:xfrm>
            <a:off x="5849112" y="2502170"/>
            <a:ext cx="40386" cy="7"/>
          </a:xfrm>
          <a:prstGeom prst="line">
            <a:avLst/>
          </a:prstGeom>
          <a:noFill/>
          <a:ln w="28575">
            <a:solidFill>
              <a:srgbClr val="C8414C"/>
            </a:solidFill>
            <a:prstDash val="solid"/>
          </a:ln>
        </p:spPr>
      </p:sp>
      <p:sp>
        <p:nvSpPr>
          <p:cNvPr id="218" name="Shape 216"/>
          <p:cNvSpPr/>
          <p:nvPr/>
        </p:nvSpPr>
        <p:spPr>
          <a:xfrm flipV="1">
            <a:off x="5889498" y="2502146"/>
            <a:ext cx="40386" cy="31"/>
          </a:xfrm>
          <a:prstGeom prst="line">
            <a:avLst/>
          </a:prstGeom>
          <a:noFill/>
          <a:ln w="28575">
            <a:solidFill>
              <a:srgbClr val="C8414C"/>
            </a:solidFill>
            <a:prstDash val="solid"/>
          </a:ln>
        </p:spPr>
      </p:sp>
      <p:sp>
        <p:nvSpPr>
          <p:cNvPr id="219" name="Shape 217"/>
          <p:cNvSpPr/>
          <p:nvPr/>
        </p:nvSpPr>
        <p:spPr>
          <a:xfrm flipV="1">
            <a:off x="5929884" y="2502079"/>
            <a:ext cx="40386" cy="67"/>
          </a:xfrm>
          <a:prstGeom prst="line">
            <a:avLst/>
          </a:prstGeom>
          <a:noFill/>
          <a:ln w="28575">
            <a:solidFill>
              <a:srgbClr val="C8414C"/>
            </a:solidFill>
            <a:prstDash val="solid"/>
          </a:ln>
        </p:spPr>
      </p:sp>
      <p:sp>
        <p:nvSpPr>
          <p:cNvPr id="220" name="Shape 218"/>
          <p:cNvSpPr/>
          <p:nvPr/>
        </p:nvSpPr>
        <p:spPr>
          <a:xfrm flipV="1">
            <a:off x="5970270" y="2501978"/>
            <a:ext cx="40386" cy="101"/>
          </a:xfrm>
          <a:prstGeom prst="line">
            <a:avLst/>
          </a:prstGeom>
          <a:noFill/>
          <a:ln w="28575">
            <a:solidFill>
              <a:srgbClr val="C8414C"/>
            </a:solidFill>
            <a:prstDash val="solid"/>
          </a:ln>
        </p:spPr>
      </p:sp>
      <p:sp>
        <p:nvSpPr>
          <p:cNvPr id="221" name="Shape 219"/>
          <p:cNvSpPr/>
          <p:nvPr/>
        </p:nvSpPr>
        <p:spPr>
          <a:xfrm flipV="1">
            <a:off x="6010656" y="2501844"/>
            <a:ext cx="40386" cy="134"/>
          </a:xfrm>
          <a:prstGeom prst="line">
            <a:avLst/>
          </a:prstGeom>
          <a:noFill/>
          <a:ln w="28575">
            <a:solidFill>
              <a:srgbClr val="C8414C"/>
            </a:solidFill>
            <a:prstDash val="solid"/>
          </a:ln>
        </p:spPr>
      </p:sp>
      <p:sp>
        <p:nvSpPr>
          <p:cNvPr id="222" name="Shape 220"/>
          <p:cNvSpPr/>
          <p:nvPr/>
        </p:nvSpPr>
        <p:spPr>
          <a:xfrm flipV="1">
            <a:off x="6051042" y="2501679"/>
            <a:ext cx="40386" cy="165"/>
          </a:xfrm>
          <a:prstGeom prst="line">
            <a:avLst/>
          </a:prstGeom>
          <a:noFill/>
          <a:ln w="28575">
            <a:solidFill>
              <a:srgbClr val="C8414C"/>
            </a:solidFill>
            <a:prstDash val="solid"/>
          </a:ln>
        </p:spPr>
      </p:sp>
      <p:sp>
        <p:nvSpPr>
          <p:cNvPr id="223" name="Shape 221"/>
          <p:cNvSpPr/>
          <p:nvPr/>
        </p:nvSpPr>
        <p:spPr>
          <a:xfrm flipV="1">
            <a:off x="6091428" y="2501485"/>
            <a:ext cx="40386" cy="194"/>
          </a:xfrm>
          <a:prstGeom prst="line">
            <a:avLst/>
          </a:prstGeom>
          <a:noFill/>
          <a:ln w="28575">
            <a:solidFill>
              <a:srgbClr val="C8414C"/>
            </a:solidFill>
            <a:prstDash val="solid"/>
          </a:ln>
        </p:spPr>
      </p:sp>
      <p:sp>
        <p:nvSpPr>
          <p:cNvPr id="224" name="Shape 222"/>
          <p:cNvSpPr/>
          <p:nvPr/>
        </p:nvSpPr>
        <p:spPr>
          <a:xfrm flipV="1">
            <a:off x="6131814" y="2501262"/>
            <a:ext cx="40386" cy="223"/>
          </a:xfrm>
          <a:prstGeom prst="line">
            <a:avLst/>
          </a:prstGeom>
          <a:noFill/>
          <a:ln w="28575">
            <a:solidFill>
              <a:srgbClr val="C8414C"/>
            </a:solidFill>
            <a:prstDash val="solid"/>
          </a:ln>
        </p:spPr>
      </p:sp>
      <p:sp>
        <p:nvSpPr>
          <p:cNvPr id="225" name="Shape 223"/>
          <p:cNvSpPr/>
          <p:nvPr/>
        </p:nvSpPr>
        <p:spPr>
          <a:xfrm flipV="1">
            <a:off x="1325880" y="4612206"/>
            <a:ext cx="40386" cy="156390"/>
          </a:xfrm>
          <a:prstGeom prst="line">
            <a:avLst/>
          </a:prstGeom>
          <a:noFill/>
          <a:ln w="28575">
            <a:solidFill>
              <a:srgbClr val="E08A1E"/>
            </a:solidFill>
            <a:prstDash val="solid"/>
          </a:ln>
        </p:spPr>
      </p:sp>
      <p:sp>
        <p:nvSpPr>
          <p:cNvPr id="226" name="Shape 224"/>
          <p:cNvSpPr/>
          <p:nvPr/>
        </p:nvSpPr>
        <p:spPr>
          <a:xfrm flipV="1">
            <a:off x="1366266" y="4469414"/>
            <a:ext cx="40386" cy="142793"/>
          </a:xfrm>
          <a:prstGeom prst="line">
            <a:avLst/>
          </a:prstGeom>
          <a:noFill/>
          <a:ln w="28575">
            <a:solidFill>
              <a:srgbClr val="E08A1E"/>
            </a:solidFill>
            <a:prstDash val="solid"/>
          </a:ln>
        </p:spPr>
      </p:sp>
      <p:sp>
        <p:nvSpPr>
          <p:cNvPr id="227" name="Shape 225"/>
          <p:cNvSpPr/>
          <p:nvPr/>
        </p:nvSpPr>
        <p:spPr>
          <a:xfrm flipV="1">
            <a:off x="1406652" y="4339331"/>
            <a:ext cx="40386" cy="130082"/>
          </a:xfrm>
          <a:prstGeom prst="line">
            <a:avLst/>
          </a:prstGeom>
          <a:noFill/>
          <a:ln w="28575">
            <a:solidFill>
              <a:srgbClr val="E08A1E"/>
            </a:solidFill>
            <a:prstDash val="solid"/>
          </a:ln>
        </p:spPr>
      </p:sp>
      <p:sp>
        <p:nvSpPr>
          <p:cNvPr id="228" name="Shape 226"/>
          <p:cNvSpPr/>
          <p:nvPr/>
        </p:nvSpPr>
        <p:spPr>
          <a:xfrm flipV="1">
            <a:off x="1447038" y="4221124"/>
            <a:ext cx="40386" cy="118207"/>
          </a:xfrm>
          <a:prstGeom prst="line">
            <a:avLst/>
          </a:prstGeom>
          <a:noFill/>
          <a:ln w="28575">
            <a:solidFill>
              <a:srgbClr val="E08A1E"/>
            </a:solidFill>
            <a:prstDash val="solid"/>
          </a:ln>
        </p:spPr>
      </p:sp>
      <p:sp>
        <p:nvSpPr>
          <p:cNvPr id="229" name="Shape 227"/>
          <p:cNvSpPr/>
          <p:nvPr/>
        </p:nvSpPr>
        <p:spPr>
          <a:xfrm flipV="1">
            <a:off x="1487424" y="4114005"/>
            <a:ext cx="40386" cy="107119"/>
          </a:xfrm>
          <a:prstGeom prst="line">
            <a:avLst/>
          </a:prstGeom>
          <a:noFill/>
          <a:ln w="28575">
            <a:solidFill>
              <a:srgbClr val="E08A1E"/>
            </a:solidFill>
            <a:prstDash val="solid"/>
          </a:ln>
        </p:spPr>
      </p:sp>
      <p:sp>
        <p:nvSpPr>
          <p:cNvPr id="230" name="Shape 228"/>
          <p:cNvSpPr/>
          <p:nvPr/>
        </p:nvSpPr>
        <p:spPr>
          <a:xfrm flipV="1">
            <a:off x="1527810" y="4017234"/>
            <a:ext cx="40386" cy="96771"/>
          </a:xfrm>
          <a:prstGeom prst="line">
            <a:avLst/>
          </a:prstGeom>
          <a:noFill/>
          <a:ln w="28575">
            <a:solidFill>
              <a:srgbClr val="E08A1E"/>
            </a:solidFill>
            <a:prstDash val="solid"/>
          </a:ln>
        </p:spPr>
      </p:sp>
      <p:sp>
        <p:nvSpPr>
          <p:cNvPr id="231" name="Shape 229"/>
          <p:cNvSpPr/>
          <p:nvPr/>
        </p:nvSpPr>
        <p:spPr>
          <a:xfrm flipV="1">
            <a:off x="1568196" y="3930113"/>
            <a:ext cx="40386" cy="87121"/>
          </a:xfrm>
          <a:prstGeom prst="line">
            <a:avLst/>
          </a:prstGeom>
          <a:noFill/>
          <a:ln w="28575">
            <a:solidFill>
              <a:srgbClr val="E08A1E"/>
            </a:solidFill>
            <a:prstDash val="solid"/>
          </a:ln>
        </p:spPr>
      </p:sp>
      <p:sp>
        <p:nvSpPr>
          <p:cNvPr id="232" name="Shape 230"/>
          <p:cNvSpPr/>
          <p:nvPr/>
        </p:nvSpPr>
        <p:spPr>
          <a:xfrm flipV="1">
            <a:off x="1608582" y="3851987"/>
            <a:ext cx="40386" cy="78126"/>
          </a:xfrm>
          <a:prstGeom prst="line">
            <a:avLst/>
          </a:prstGeom>
          <a:noFill/>
          <a:ln w="28575">
            <a:solidFill>
              <a:srgbClr val="E08A1E"/>
            </a:solidFill>
            <a:prstDash val="solid"/>
          </a:ln>
        </p:spPr>
      </p:sp>
      <p:sp>
        <p:nvSpPr>
          <p:cNvPr id="233" name="Shape 231"/>
          <p:cNvSpPr/>
          <p:nvPr/>
        </p:nvSpPr>
        <p:spPr>
          <a:xfrm flipV="1">
            <a:off x="1648968" y="3782238"/>
            <a:ext cx="40386" cy="69749"/>
          </a:xfrm>
          <a:prstGeom prst="line">
            <a:avLst/>
          </a:prstGeom>
          <a:noFill/>
          <a:ln w="28575">
            <a:solidFill>
              <a:srgbClr val="E08A1E"/>
            </a:solidFill>
            <a:prstDash val="solid"/>
          </a:ln>
        </p:spPr>
      </p:sp>
      <p:sp>
        <p:nvSpPr>
          <p:cNvPr id="234" name="Shape 232"/>
          <p:cNvSpPr/>
          <p:nvPr/>
        </p:nvSpPr>
        <p:spPr>
          <a:xfrm flipV="1">
            <a:off x="1689354" y="3720285"/>
            <a:ext cx="40386" cy="61953"/>
          </a:xfrm>
          <a:prstGeom prst="line">
            <a:avLst/>
          </a:prstGeom>
          <a:noFill/>
          <a:ln w="28575">
            <a:solidFill>
              <a:srgbClr val="E08A1E"/>
            </a:solidFill>
            <a:prstDash val="solid"/>
          </a:ln>
        </p:spPr>
      </p:sp>
      <p:sp>
        <p:nvSpPr>
          <p:cNvPr id="235" name="Shape 233"/>
          <p:cNvSpPr/>
          <p:nvPr/>
        </p:nvSpPr>
        <p:spPr>
          <a:xfrm flipV="1">
            <a:off x="1729740" y="3665582"/>
            <a:ext cx="40386" cy="54703"/>
          </a:xfrm>
          <a:prstGeom prst="line">
            <a:avLst/>
          </a:prstGeom>
          <a:noFill/>
          <a:ln w="28575">
            <a:solidFill>
              <a:srgbClr val="E08A1E"/>
            </a:solidFill>
            <a:prstDash val="solid"/>
          </a:ln>
        </p:spPr>
      </p:sp>
      <p:sp>
        <p:nvSpPr>
          <p:cNvPr id="236" name="Shape 234"/>
          <p:cNvSpPr/>
          <p:nvPr/>
        </p:nvSpPr>
        <p:spPr>
          <a:xfrm flipV="1">
            <a:off x="1770126" y="3617617"/>
            <a:ext cx="40386" cy="47966"/>
          </a:xfrm>
          <a:prstGeom prst="line">
            <a:avLst/>
          </a:prstGeom>
          <a:noFill/>
          <a:ln w="28575">
            <a:solidFill>
              <a:srgbClr val="E08A1E"/>
            </a:solidFill>
            <a:prstDash val="solid"/>
          </a:ln>
        </p:spPr>
      </p:sp>
      <p:sp>
        <p:nvSpPr>
          <p:cNvPr id="237" name="Shape 235"/>
          <p:cNvSpPr/>
          <p:nvPr/>
        </p:nvSpPr>
        <p:spPr>
          <a:xfrm flipV="1">
            <a:off x="1810512" y="3575906"/>
            <a:ext cx="40386" cy="41711"/>
          </a:xfrm>
          <a:prstGeom prst="line">
            <a:avLst/>
          </a:prstGeom>
          <a:noFill/>
          <a:ln w="28575">
            <a:solidFill>
              <a:srgbClr val="E08A1E"/>
            </a:solidFill>
            <a:prstDash val="solid"/>
          </a:ln>
        </p:spPr>
      </p:sp>
      <p:sp>
        <p:nvSpPr>
          <p:cNvPr id="238" name="Shape 236"/>
          <p:cNvSpPr/>
          <p:nvPr/>
        </p:nvSpPr>
        <p:spPr>
          <a:xfrm flipV="1">
            <a:off x="1850898" y="3539997"/>
            <a:ext cx="40386" cy="35909"/>
          </a:xfrm>
          <a:prstGeom prst="line">
            <a:avLst/>
          </a:prstGeom>
          <a:noFill/>
          <a:ln w="28575">
            <a:solidFill>
              <a:srgbClr val="E08A1E"/>
            </a:solidFill>
            <a:prstDash val="solid"/>
          </a:ln>
        </p:spPr>
      </p:sp>
      <p:sp>
        <p:nvSpPr>
          <p:cNvPr id="239" name="Shape 237"/>
          <p:cNvSpPr/>
          <p:nvPr/>
        </p:nvSpPr>
        <p:spPr>
          <a:xfrm flipV="1">
            <a:off x="1891284" y="3509463"/>
            <a:ext cx="40386" cy="30533"/>
          </a:xfrm>
          <a:prstGeom prst="line">
            <a:avLst/>
          </a:prstGeom>
          <a:noFill/>
          <a:ln w="28575">
            <a:solidFill>
              <a:srgbClr val="E08A1E"/>
            </a:solidFill>
            <a:prstDash val="solid"/>
          </a:ln>
        </p:spPr>
      </p:sp>
      <p:sp>
        <p:nvSpPr>
          <p:cNvPr id="240" name="Shape 238"/>
          <p:cNvSpPr/>
          <p:nvPr/>
        </p:nvSpPr>
        <p:spPr>
          <a:xfrm flipV="1">
            <a:off x="1931670" y="3483906"/>
            <a:ext cx="40386" cy="25557"/>
          </a:xfrm>
          <a:prstGeom prst="line">
            <a:avLst/>
          </a:prstGeom>
          <a:noFill/>
          <a:ln w="28575">
            <a:solidFill>
              <a:srgbClr val="E08A1E"/>
            </a:solidFill>
            <a:prstDash val="solid"/>
          </a:ln>
        </p:spPr>
      </p:sp>
      <p:sp>
        <p:nvSpPr>
          <p:cNvPr id="241" name="Shape 239"/>
          <p:cNvSpPr/>
          <p:nvPr/>
        </p:nvSpPr>
        <p:spPr>
          <a:xfrm flipV="1">
            <a:off x="1972056" y="3462951"/>
            <a:ext cx="40386" cy="20956"/>
          </a:xfrm>
          <a:prstGeom prst="line">
            <a:avLst/>
          </a:prstGeom>
          <a:noFill/>
          <a:ln w="28575">
            <a:solidFill>
              <a:srgbClr val="E08A1E"/>
            </a:solidFill>
            <a:prstDash val="solid"/>
          </a:ln>
        </p:spPr>
      </p:sp>
      <p:sp>
        <p:nvSpPr>
          <p:cNvPr id="242" name="Shape 240"/>
          <p:cNvSpPr/>
          <p:nvPr/>
        </p:nvSpPr>
        <p:spPr>
          <a:xfrm flipV="1">
            <a:off x="2012442" y="3446245"/>
            <a:ext cx="40386" cy="16706"/>
          </a:xfrm>
          <a:prstGeom prst="line">
            <a:avLst/>
          </a:prstGeom>
          <a:noFill/>
          <a:ln w="28575">
            <a:solidFill>
              <a:srgbClr val="E08A1E"/>
            </a:solidFill>
            <a:prstDash val="solid"/>
          </a:ln>
        </p:spPr>
      </p:sp>
      <p:sp>
        <p:nvSpPr>
          <p:cNvPr id="243" name="Shape 241"/>
          <p:cNvSpPr/>
          <p:nvPr/>
        </p:nvSpPr>
        <p:spPr>
          <a:xfrm flipV="1">
            <a:off x="2052828" y="3433459"/>
            <a:ext cx="40386" cy="12786"/>
          </a:xfrm>
          <a:prstGeom prst="line">
            <a:avLst/>
          </a:prstGeom>
          <a:noFill/>
          <a:ln w="28575">
            <a:solidFill>
              <a:srgbClr val="E08A1E"/>
            </a:solidFill>
            <a:prstDash val="solid"/>
          </a:ln>
        </p:spPr>
      </p:sp>
      <p:sp>
        <p:nvSpPr>
          <p:cNvPr id="244" name="Shape 242"/>
          <p:cNvSpPr/>
          <p:nvPr/>
        </p:nvSpPr>
        <p:spPr>
          <a:xfrm flipV="1">
            <a:off x="2093214" y="3424283"/>
            <a:ext cx="40386" cy="9176"/>
          </a:xfrm>
          <a:prstGeom prst="line">
            <a:avLst/>
          </a:prstGeom>
          <a:noFill/>
          <a:ln w="28575">
            <a:solidFill>
              <a:srgbClr val="E08A1E"/>
            </a:solidFill>
            <a:prstDash val="solid"/>
          </a:ln>
        </p:spPr>
      </p:sp>
      <p:sp>
        <p:nvSpPr>
          <p:cNvPr id="245" name="Shape 243"/>
          <p:cNvSpPr/>
          <p:nvPr/>
        </p:nvSpPr>
        <p:spPr>
          <a:xfrm flipV="1">
            <a:off x="2133600" y="3418428"/>
            <a:ext cx="40386" cy="5855"/>
          </a:xfrm>
          <a:prstGeom prst="line">
            <a:avLst/>
          </a:prstGeom>
          <a:noFill/>
          <a:ln w="28575">
            <a:solidFill>
              <a:srgbClr val="E08A1E"/>
            </a:solidFill>
            <a:prstDash val="solid"/>
          </a:ln>
        </p:spPr>
      </p:sp>
      <p:sp>
        <p:nvSpPr>
          <p:cNvPr id="246" name="Shape 244"/>
          <p:cNvSpPr/>
          <p:nvPr/>
        </p:nvSpPr>
        <p:spPr>
          <a:xfrm flipV="1">
            <a:off x="2173986" y="3415623"/>
            <a:ext cx="40386" cy="2805"/>
          </a:xfrm>
          <a:prstGeom prst="line">
            <a:avLst/>
          </a:prstGeom>
          <a:noFill/>
          <a:ln w="28575">
            <a:solidFill>
              <a:srgbClr val="E08A1E"/>
            </a:solidFill>
            <a:prstDash val="solid"/>
          </a:ln>
        </p:spPr>
      </p:sp>
      <p:sp>
        <p:nvSpPr>
          <p:cNvPr id="247" name="Shape 245"/>
          <p:cNvSpPr/>
          <p:nvPr/>
        </p:nvSpPr>
        <p:spPr>
          <a:xfrm flipV="1">
            <a:off x="2214372" y="3415613"/>
            <a:ext cx="40386" cy="10"/>
          </a:xfrm>
          <a:prstGeom prst="line">
            <a:avLst/>
          </a:prstGeom>
          <a:noFill/>
          <a:ln w="28575">
            <a:solidFill>
              <a:srgbClr val="E08A1E"/>
            </a:solidFill>
            <a:prstDash val="solid"/>
          </a:ln>
        </p:spPr>
      </p:sp>
      <p:sp>
        <p:nvSpPr>
          <p:cNvPr id="248" name="Shape 246"/>
          <p:cNvSpPr/>
          <p:nvPr/>
        </p:nvSpPr>
        <p:spPr>
          <a:xfrm>
            <a:off x="2254758" y="3415613"/>
            <a:ext cx="40386" cy="2548"/>
          </a:xfrm>
          <a:prstGeom prst="line">
            <a:avLst/>
          </a:prstGeom>
          <a:noFill/>
          <a:ln w="28575">
            <a:solidFill>
              <a:srgbClr val="E08A1E"/>
            </a:solidFill>
            <a:prstDash val="solid"/>
          </a:ln>
        </p:spPr>
      </p:sp>
      <p:sp>
        <p:nvSpPr>
          <p:cNvPr id="249" name="Shape 247"/>
          <p:cNvSpPr/>
          <p:nvPr/>
        </p:nvSpPr>
        <p:spPr>
          <a:xfrm>
            <a:off x="2295144" y="3418161"/>
            <a:ext cx="40386" cy="4883"/>
          </a:xfrm>
          <a:prstGeom prst="line">
            <a:avLst/>
          </a:prstGeom>
          <a:noFill/>
          <a:ln w="28575">
            <a:solidFill>
              <a:srgbClr val="E08A1E"/>
            </a:solidFill>
            <a:prstDash val="solid"/>
          </a:ln>
        </p:spPr>
      </p:sp>
      <p:sp>
        <p:nvSpPr>
          <p:cNvPr id="250" name="Shape 248"/>
          <p:cNvSpPr/>
          <p:nvPr/>
        </p:nvSpPr>
        <p:spPr>
          <a:xfrm>
            <a:off x="2335530" y="3423044"/>
            <a:ext cx="40386" cy="7010"/>
          </a:xfrm>
          <a:prstGeom prst="line">
            <a:avLst/>
          </a:prstGeom>
          <a:noFill/>
          <a:ln w="28575">
            <a:solidFill>
              <a:srgbClr val="E08A1E"/>
            </a:solidFill>
            <a:prstDash val="solid"/>
          </a:ln>
        </p:spPr>
      </p:sp>
      <p:sp>
        <p:nvSpPr>
          <p:cNvPr id="251" name="Shape 249"/>
          <p:cNvSpPr/>
          <p:nvPr/>
        </p:nvSpPr>
        <p:spPr>
          <a:xfrm>
            <a:off x="2375916" y="3430054"/>
            <a:ext cx="40386" cy="8944"/>
          </a:xfrm>
          <a:prstGeom prst="line">
            <a:avLst/>
          </a:prstGeom>
          <a:noFill/>
          <a:ln w="28575">
            <a:solidFill>
              <a:srgbClr val="E08A1E"/>
            </a:solidFill>
            <a:prstDash val="solid"/>
          </a:ln>
        </p:spPr>
      </p:sp>
      <p:sp>
        <p:nvSpPr>
          <p:cNvPr id="252" name="Shape 250"/>
          <p:cNvSpPr/>
          <p:nvPr/>
        </p:nvSpPr>
        <p:spPr>
          <a:xfrm>
            <a:off x="2416302" y="3438998"/>
            <a:ext cx="40386" cy="10696"/>
          </a:xfrm>
          <a:prstGeom prst="line">
            <a:avLst/>
          </a:prstGeom>
          <a:noFill/>
          <a:ln w="28575">
            <a:solidFill>
              <a:srgbClr val="E08A1E"/>
            </a:solidFill>
            <a:prstDash val="solid"/>
          </a:ln>
        </p:spPr>
      </p:sp>
      <p:sp>
        <p:nvSpPr>
          <p:cNvPr id="253" name="Shape 251"/>
          <p:cNvSpPr/>
          <p:nvPr/>
        </p:nvSpPr>
        <p:spPr>
          <a:xfrm>
            <a:off x="2456688" y="3449694"/>
            <a:ext cx="40386" cy="12278"/>
          </a:xfrm>
          <a:prstGeom prst="line">
            <a:avLst/>
          </a:prstGeom>
          <a:noFill/>
          <a:ln w="28575">
            <a:solidFill>
              <a:srgbClr val="E08A1E"/>
            </a:solidFill>
            <a:prstDash val="solid"/>
          </a:ln>
        </p:spPr>
      </p:sp>
      <p:sp>
        <p:nvSpPr>
          <p:cNvPr id="254" name="Shape 252"/>
          <p:cNvSpPr/>
          <p:nvPr/>
        </p:nvSpPr>
        <p:spPr>
          <a:xfrm>
            <a:off x="2497074" y="3461972"/>
            <a:ext cx="40386" cy="13703"/>
          </a:xfrm>
          <a:prstGeom prst="line">
            <a:avLst/>
          </a:prstGeom>
          <a:noFill/>
          <a:ln w="28575">
            <a:solidFill>
              <a:srgbClr val="E08A1E"/>
            </a:solidFill>
            <a:prstDash val="solid"/>
          </a:ln>
        </p:spPr>
      </p:sp>
      <p:sp>
        <p:nvSpPr>
          <p:cNvPr id="255" name="Shape 253"/>
          <p:cNvSpPr/>
          <p:nvPr/>
        </p:nvSpPr>
        <p:spPr>
          <a:xfrm>
            <a:off x="2537460" y="3475675"/>
            <a:ext cx="40386" cy="14981"/>
          </a:xfrm>
          <a:prstGeom prst="line">
            <a:avLst/>
          </a:prstGeom>
          <a:noFill/>
          <a:ln w="28575">
            <a:solidFill>
              <a:srgbClr val="E08A1E"/>
            </a:solidFill>
            <a:prstDash val="solid"/>
          </a:ln>
        </p:spPr>
      </p:sp>
      <p:sp>
        <p:nvSpPr>
          <p:cNvPr id="256" name="Shape 254"/>
          <p:cNvSpPr/>
          <p:nvPr/>
        </p:nvSpPr>
        <p:spPr>
          <a:xfrm>
            <a:off x="2577846" y="3490656"/>
            <a:ext cx="40386" cy="16122"/>
          </a:xfrm>
          <a:prstGeom prst="line">
            <a:avLst/>
          </a:prstGeom>
          <a:noFill/>
          <a:ln w="28575">
            <a:solidFill>
              <a:srgbClr val="E08A1E"/>
            </a:solidFill>
            <a:prstDash val="solid"/>
          </a:ln>
        </p:spPr>
      </p:sp>
      <p:sp>
        <p:nvSpPr>
          <p:cNvPr id="257" name="Shape 255"/>
          <p:cNvSpPr/>
          <p:nvPr/>
        </p:nvSpPr>
        <p:spPr>
          <a:xfrm>
            <a:off x="2618232" y="3506778"/>
            <a:ext cx="40386" cy="17135"/>
          </a:xfrm>
          <a:prstGeom prst="line">
            <a:avLst/>
          </a:prstGeom>
          <a:noFill/>
          <a:ln w="28575">
            <a:solidFill>
              <a:srgbClr val="E08A1E"/>
            </a:solidFill>
            <a:prstDash val="solid"/>
          </a:ln>
        </p:spPr>
      </p:sp>
      <p:sp>
        <p:nvSpPr>
          <p:cNvPr id="258" name="Shape 256"/>
          <p:cNvSpPr/>
          <p:nvPr/>
        </p:nvSpPr>
        <p:spPr>
          <a:xfrm>
            <a:off x="2658618" y="3523913"/>
            <a:ext cx="40386" cy="18030"/>
          </a:xfrm>
          <a:prstGeom prst="line">
            <a:avLst/>
          </a:prstGeom>
          <a:noFill/>
          <a:ln w="28575">
            <a:solidFill>
              <a:srgbClr val="E08A1E"/>
            </a:solidFill>
            <a:prstDash val="solid"/>
          </a:ln>
        </p:spPr>
      </p:sp>
      <p:sp>
        <p:nvSpPr>
          <p:cNvPr id="259" name="Shape 257"/>
          <p:cNvSpPr/>
          <p:nvPr/>
        </p:nvSpPr>
        <p:spPr>
          <a:xfrm>
            <a:off x="2699004" y="3541943"/>
            <a:ext cx="40386" cy="18814"/>
          </a:xfrm>
          <a:prstGeom prst="line">
            <a:avLst/>
          </a:prstGeom>
          <a:noFill/>
          <a:ln w="28575">
            <a:solidFill>
              <a:srgbClr val="E08A1E"/>
            </a:solidFill>
            <a:prstDash val="solid"/>
          </a:ln>
        </p:spPr>
      </p:sp>
      <p:sp>
        <p:nvSpPr>
          <p:cNvPr id="260" name="Shape 258"/>
          <p:cNvSpPr/>
          <p:nvPr/>
        </p:nvSpPr>
        <p:spPr>
          <a:xfrm>
            <a:off x="2739390" y="3560758"/>
            <a:ext cx="40386" cy="19497"/>
          </a:xfrm>
          <a:prstGeom prst="line">
            <a:avLst/>
          </a:prstGeom>
          <a:noFill/>
          <a:ln w="28575">
            <a:solidFill>
              <a:srgbClr val="E08A1E"/>
            </a:solidFill>
            <a:prstDash val="solid"/>
          </a:ln>
        </p:spPr>
      </p:sp>
      <p:sp>
        <p:nvSpPr>
          <p:cNvPr id="261" name="Shape 259"/>
          <p:cNvSpPr/>
          <p:nvPr/>
        </p:nvSpPr>
        <p:spPr>
          <a:xfrm>
            <a:off x="2779776" y="3580255"/>
            <a:ext cx="40386" cy="20084"/>
          </a:xfrm>
          <a:prstGeom prst="line">
            <a:avLst/>
          </a:prstGeom>
          <a:noFill/>
          <a:ln w="28575">
            <a:solidFill>
              <a:srgbClr val="E08A1E"/>
            </a:solidFill>
            <a:prstDash val="solid"/>
          </a:ln>
        </p:spPr>
      </p:sp>
      <p:sp>
        <p:nvSpPr>
          <p:cNvPr id="262" name="Shape 260"/>
          <p:cNvSpPr/>
          <p:nvPr/>
        </p:nvSpPr>
        <p:spPr>
          <a:xfrm>
            <a:off x="2820162" y="3600339"/>
            <a:ext cx="40386" cy="20584"/>
          </a:xfrm>
          <a:prstGeom prst="line">
            <a:avLst/>
          </a:prstGeom>
          <a:noFill/>
          <a:ln w="28575">
            <a:solidFill>
              <a:srgbClr val="E08A1E"/>
            </a:solidFill>
            <a:prstDash val="solid"/>
          </a:ln>
        </p:spPr>
      </p:sp>
      <p:sp>
        <p:nvSpPr>
          <p:cNvPr id="263" name="Shape 261"/>
          <p:cNvSpPr/>
          <p:nvPr/>
        </p:nvSpPr>
        <p:spPr>
          <a:xfrm>
            <a:off x="2860548" y="3620922"/>
            <a:ext cx="40386" cy="21002"/>
          </a:xfrm>
          <a:prstGeom prst="line">
            <a:avLst/>
          </a:prstGeom>
          <a:noFill/>
          <a:ln w="28575">
            <a:solidFill>
              <a:srgbClr val="E08A1E"/>
            </a:solidFill>
            <a:prstDash val="solid"/>
          </a:ln>
        </p:spPr>
      </p:sp>
      <p:sp>
        <p:nvSpPr>
          <p:cNvPr id="264" name="Shape 262"/>
          <p:cNvSpPr/>
          <p:nvPr/>
        </p:nvSpPr>
        <p:spPr>
          <a:xfrm>
            <a:off x="2900934" y="3641924"/>
            <a:ext cx="40386" cy="21345"/>
          </a:xfrm>
          <a:prstGeom prst="line">
            <a:avLst/>
          </a:prstGeom>
          <a:noFill/>
          <a:ln w="28575">
            <a:solidFill>
              <a:srgbClr val="E08A1E"/>
            </a:solidFill>
            <a:prstDash val="solid"/>
          </a:ln>
        </p:spPr>
      </p:sp>
      <p:sp>
        <p:nvSpPr>
          <p:cNvPr id="265" name="Shape 263"/>
          <p:cNvSpPr/>
          <p:nvPr/>
        </p:nvSpPr>
        <p:spPr>
          <a:xfrm>
            <a:off x="2941320" y="3663269"/>
            <a:ext cx="40386" cy="21618"/>
          </a:xfrm>
          <a:prstGeom prst="line">
            <a:avLst/>
          </a:prstGeom>
          <a:noFill/>
          <a:ln w="28575">
            <a:solidFill>
              <a:srgbClr val="E08A1E"/>
            </a:solidFill>
            <a:prstDash val="solid"/>
          </a:ln>
        </p:spPr>
      </p:sp>
      <p:sp>
        <p:nvSpPr>
          <p:cNvPr id="266" name="Shape 264"/>
          <p:cNvSpPr/>
          <p:nvPr/>
        </p:nvSpPr>
        <p:spPr>
          <a:xfrm>
            <a:off x="2981706" y="3684887"/>
            <a:ext cx="40386" cy="21827"/>
          </a:xfrm>
          <a:prstGeom prst="line">
            <a:avLst/>
          </a:prstGeom>
          <a:noFill/>
          <a:ln w="28575">
            <a:solidFill>
              <a:srgbClr val="E08A1E"/>
            </a:solidFill>
            <a:prstDash val="solid"/>
          </a:ln>
        </p:spPr>
      </p:sp>
      <p:sp>
        <p:nvSpPr>
          <p:cNvPr id="267" name="Shape 265"/>
          <p:cNvSpPr/>
          <p:nvPr/>
        </p:nvSpPr>
        <p:spPr>
          <a:xfrm>
            <a:off x="3022092" y="3706714"/>
            <a:ext cx="40386" cy="21978"/>
          </a:xfrm>
          <a:prstGeom prst="line">
            <a:avLst/>
          </a:prstGeom>
          <a:noFill/>
          <a:ln w="28575">
            <a:solidFill>
              <a:srgbClr val="E08A1E"/>
            </a:solidFill>
            <a:prstDash val="solid"/>
          </a:ln>
        </p:spPr>
      </p:sp>
      <p:sp>
        <p:nvSpPr>
          <p:cNvPr id="268" name="Shape 266"/>
          <p:cNvSpPr/>
          <p:nvPr/>
        </p:nvSpPr>
        <p:spPr>
          <a:xfrm>
            <a:off x="3062478" y="3728692"/>
            <a:ext cx="40386" cy="22073"/>
          </a:xfrm>
          <a:prstGeom prst="line">
            <a:avLst/>
          </a:prstGeom>
          <a:noFill/>
          <a:ln w="28575">
            <a:solidFill>
              <a:srgbClr val="E08A1E"/>
            </a:solidFill>
            <a:prstDash val="solid"/>
          </a:ln>
        </p:spPr>
      </p:sp>
      <p:sp>
        <p:nvSpPr>
          <p:cNvPr id="269" name="Shape 267"/>
          <p:cNvSpPr/>
          <p:nvPr/>
        </p:nvSpPr>
        <p:spPr>
          <a:xfrm>
            <a:off x="3102864" y="3750765"/>
            <a:ext cx="40386" cy="22119"/>
          </a:xfrm>
          <a:prstGeom prst="line">
            <a:avLst/>
          </a:prstGeom>
          <a:noFill/>
          <a:ln w="28575">
            <a:solidFill>
              <a:srgbClr val="E08A1E"/>
            </a:solidFill>
            <a:prstDash val="solid"/>
          </a:ln>
        </p:spPr>
      </p:sp>
      <p:sp>
        <p:nvSpPr>
          <p:cNvPr id="270" name="Shape 268"/>
          <p:cNvSpPr/>
          <p:nvPr/>
        </p:nvSpPr>
        <p:spPr>
          <a:xfrm>
            <a:off x="3143250" y="3772885"/>
            <a:ext cx="40386" cy="22120"/>
          </a:xfrm>
          <a:prstGeom prst="line">
            <a:avLst/>
          </a:prstGeom>
          <a:noFill/>
          <a:ln w="28575">
            <a:solidFill>
              <a:srgbClr val="E08A1E"/>
            </a:solidFill>
            <a:prstDash val="solid"/>
          </a:ln>
        </p:spPr>
      </p:sp>
      <p:sp>
        <p:nvSpPr>
          <p:cNvPr id="271" name="Shape 269"/>
          <p:cNvSpPr/>
          <p:nvPr/>
        </p:nvSpPr>
        <p:spPr>
          <a:xfrm>
            <a:off x="3183636" y="3795004"/>
            <a:ext cx="40386" cy="22078"/>
          </a:xfrm>
          <a:prstGeom prst="line">
            <a:avLst/>
          </a:prstGeom>
          <a:noFill/>
          <a:ln w="28575">
            <a:solidFill>
              <a:srgbClr val="E08A1E"/>
            </a:solidFill>
            <a:prstDash val="solid"/>
          </a:ln>
        </p:spPr>
      </p:sp>
      <p:sp>
        <p:nvSpPr>
          <p:cNvPr id="272" name="Shape 270"/>
          <p:cNvSpPr/>
          <p:nvPr/>
        </p:nvSpPr>
        <p:spPr>
          <a:xfrm>
            <a:off x="3224022" y="3817083"/>
            <a:ext cx="40386" cy="21999"/>
          </a:xfrm>
          <a:prstGeom prst="line">
            <a:avLst/>
          </a:prstGeom>
          <a:noFill/>
          <a:ln w="28575">
            <a:solidFill>
              <a:srgbClr val="E08A1E"/>
            </a:solidFill>
            <a:prstDash val="solid"/>
          </a:ln>
        </p:spPr>
      </p:sp>
      <p:sp>
        <p:nvSpPr>
          <p:cNvPr id="273" name="Shape 271"/>
          <p:cNvSpPr/>
          <p:nvPr/>
        </p:nvSpPr>
        <p:spPr>
          <a:xfrm>
            <a:off x="3264408" y="3839081"/>
            <a:ext cx="40386" cy="21884"/>
          </a:xfrm>
          <a:prstGeom prst="line">
            <a:avLst/>
          </a:prstGeom>
          <a:noFill/>
          <a:ln w="28575">
            <a:solidFill>
              <a:srgbClr val="E08A1E"/>
            </a:solidFill>
            <a:prstDash val="solid"/>
          </a:ln>
        </p:spPr>
      </p:sp>
      <p:sp>
        <p:nvSpPr>
          <p:cNvPr id="274" name="Shape 272"/>
          <p:cNvSpPr/>
          <p:nvPr/>
        </p:nvSpPr>
        <p:spPr>
          <a:xfrm>
            <a:off x="3304794" y="3860965"/>
            <a:ext cx="40386" cy="21738"/>
          </a:xfrm>
          <a:prstGeom prst="line">
            <a:avLst/>
          </a:prstGeom>
          <a:noFill/>
          <a:ln w="28575">
            <a:solidFill>
              <a:srgbClr val="E08A1E"/>
            </a:solidFill>
            <a:prstDash val="solid"/>
          </a:ln>
        </p:spPr>
      </p:sp>
      <p:sp>
        <p:nvSpPr>
          <p:cNvPr id="275" name="Shape 273"/>
          <p:cNvSpPr/>
          <p:nvPr/>
        </p:nvSpPr>
        <p:spPr>
          <a:xfrm>
            <a:off x="3345180" y="3882703"/>
            <a:ext cx="40386" cy="21563"/>
          </a:xfrm>
          <a:prstGeom prst="line">
            <a:avLst/>
          </a:prstGeom>
          <a:noFill/>
          <a:ln w="28575">
            <a:solidFill>
              <a:srgbClr val="E08A1E"/>
            </a:solidFill>
            <a:prstDash val="solid"/>
          </a:ln>
        </p:spPr>
      </p:sp>
      <p:sp>
        <p:nvSpPr>
          <p:cNvPr id="276" name="Shape 274"/>
          <p:cNvSpPr/>
          <p:nvPr/>
        </p:nvSpPr>
        <p:spPr>
          <a:xfrm>
            <a:off x="3385566" y="3904267"/>
            <a:ext cx="40386" cy="21363"/>
          </a:xfrm>
          <a:prstGeom prst="line">
            <a:avLst/>
          </a:prstGeom>
          <a:noFill/>
          <a:ln w="28575">
            <a:solidFill>
              <a:srgbClr val="E08A1E"/>
            </a:solidFill>
            <a:prstDash val="solid"/>
          </a:ln>
        </p:spPr>
      </p:sp>
      <p:sp>
        <p:nvSpPr>
          <p:cNvPr id="277" name="Shape 275"/>
          <p:cNvSpPr/>
          <p:nvPr/>
        </p:nvSpPr>
        <p:spPr>
          <a:xfrm>
            <a:off x="3425952" y="3925629"/>
            <a:ext cx="40386" cy="21139"/>
          </a:xfrm>
          <a:prstGeom prst="line">
            <a:avLst/>
          </a:prstGeom>
          <a:noFill/>
          <a:ln w="28575">
            <a:solidFill>
              <a:srgbClr val="E08A1E"/>
            </a:solidFill>
            <a:prstDash val="solid"/>
          </a:ln>
        </p:spPr>
      </p:sp>
      <p:sp>
        <p:nvSpPr>
          <p:cNvPr id="278" name="Shape 276"/>
          <p:cNvSpPr/>
          <p:nvPr/>
        </p:nvSpPr>
        <p:spPr>
          <a:xfrm>
            <a:off x="3466338" y="3946768"/>
            <a:ext cx="40386" cy="20894"/>
          </a:xfrm>
          <a:prstGeom prst="line">
            <a:avLst/>
          </a:prstGeom>
          <a:noFill/>
          <a:ln w="28575">
            <a:solidFill>
              <a:srgbClr val="E08A1E"/>
            </a:solidFill>
            <a:prstDash val="solid"/>
          </a:ln>
        </p:spPr>
      </p:sp>
      <p:sp>
        <p:nvSpPr>
          <p:cNvPr id="279" name="Shape 277"/>
          <p:cNvSpPr/>
          <p:nvPr/>
        </p:nvSpPr>
        <p:spPr>
          <a:xfrm>
            <a:off x="3506724" y="3967662"/>
            <a:ext cx="40386" cy="20630"/>
          </a:xfrm>
          <a:prstGeom prst="line">
            <a:avLst/>
          </a:prstGeom>
          <a:noFill/>
          <a:ln w="28575">
            <a:solidFill>
              <a:srgbClr val="E08A1E"/>
            </a:solidFill>
            <a:prstDash val="solid"/>
          </a:ln>
        </p:spPr>
      </p:sp>
      <p:sp>
        <p:nvSpPr>
          <p:cNvPr id="280" name="Shape 278"/>
          <p:cNvSpPr/>
          <p:nvPr/>
        </p:nvSpPr>
        <p:spPr>
          <a:xfrm>
            <a:off x="3547110" y="3988292"/>
            <a:ext cx="40386" cy="20350"/>
          </a:xfrm>
          <a:prstGeom prst="line">
            <a:avLst/>
          </a:prstGeom>
          <a:noFill/>
          <a:ln w="28575">
            <a:solidFill>
              <a:srgbClr val="E08A1E"/>
            </a:solidFill>
            <a:prstDash val="solid"/>
          </a:ln>
        </p:spPr>
      </p:sp>
      <p:sp>
        <p:nvSpPr>
          <p:cNvPr id="281" name="Shape 279"/>
          <p:cNvSpPr/>
          <p:nvPr/>
        </p:nvSpPr>
        <p:spPr>
          <a:xfrm>
            <a:off x="3587496" y="4008642"/>
            <a:ext cx="40386" cy="20055"/>
          </a:xfrm>
          <a:prstGeom prst="line">
            <a:avLst/>
          </a:prstGeom>
          <a:noFill/>
          <a:ln w="28575">
            <a:solidFill>
              <a:srgbClr val="E08A1E"/>
            </a:solidFill>
            <a:prstDash val="solid"/>
          </a:ln>
        </p:spPr>
      </p:sp>
      <p:sp>
        <p:nvSpPr>
          <p:cNvPr id="282" name="Shape 280"/>
          <p:cNvSpPr/>
          <p:nvPr/>
        </p:nvSpPr>
        <p:spPr>
          <a:xfrm>
            <a:off x="3627882" y="4028698"/>
            <a:ext cx="40386" cy="19748"/>
          </a:xfrm>
          <a:prstGeom prst="line">
            <a:avLst/>
          </a:prstGeom>
          <a:noFill/>
          <a:ln w="28575">
            <a:solidFill>
              <a:srgbClr val="E08A1E"/>
            </a:solidFill>
            <a:prstDash val="solid"/>
          </a:ln>
        </p:spPr>
      </p:sp>
      <p:sp>
        <p:nvSpPr>
          <p:cNvPr id="283" name="Shape 281"/>
          <p:cNvSpPr/>
          <p:nvPr/>
        </p:nvSpPr>
        <p:spPr>
          <a:xfrm>
            <a:off x="3668268" y="4048446"/>
            <a:ext cx="40386" cy="19429"/>
          </a:xfrm>
          <a:prstGeom prst="line">
            <a:avLst/>
          </a:prstGeom>
          <a:noFill/>
          <a:ln w="28575">
            <a:solidFill>
              <a:srgbClr val="E08A1E"/>
            </a:solidFill>
            <a:prstDash val="solid"/>
          </a:ln>
        </p:spPr>
      </p:sp>
      <p:sp>
        <p:nvSpPr>
          <p:cNvPr id="284" name="Shape 282"/>
          <p:cNvSpPr/>
          <p:nvPr/>
        </p:nvSpPr>
        <p:spPr>
          <a:xfrm>
            <a:off x="3708654" y="4067875"/>
            <a:ext cx="40386" cy="19101"/>
          </a:xfrm>
          <a:prstGeom prst="line">
            <a:avLst/>
          </a:prstGeom>
          <a:noFill/>
          <a:ln w="28575">
            <a:solidFill>
              <a:srgbClr val="E08A1E"/>
            </a:solidFill>
            <a:prstDash val="solid"/>
          </a:ln>
        </p:spPr>
      </p:sp>
      <p:sp>
        <p:nvSpPr>
          <p:cNvPr id="285" name="Shape 283"/>
          <p:cNvSpPr/>
          <p:nvPr/>
        </p:nvSpPr>
        <p:spPr>
          <a:xfrm>
            <a:off x="3749040" y="4086976"/>
            <a:ext cx="40386" cy="18764"/>
          </a:xfrm>
          <a:prstGeom prst="line">
            <a:avLst/>
          </a:prstGeom>
          <a:noFill/>
          <a:ln w="28575">
            <a:solidFill>
              <a:srgbClr val="E08A1E"/>
            </a:solidFill>
            <a:prstDash val="solid"/>
          </a:ln>
        </p:spPr>
      </p:sp>
      <p:sp>
        <p:nvSpPr>
          <p:cNvPr id="286" name="Shape 284"/>
          <p:cNvSpPr/>
          <p:nvPr/>
        </p:nvSpPr>
        <p:spPr>
          <a:xfrm>
            <a:off x="3789426" y="4105740"/>
            <a:ext cx="40386" cy="18421"/>
          </a:xfrm>
          <a:prstGeom prst="line">
            <a:avLst/>
          </a:prstGeom>
          <a:noFill/>
          <a:ln w="28575">
            <a:solidFill>
              <a:srgbClr val="E08A1E"/>
            </a:solidFill>
            <a:prstDash val="solid"/>
          </a:ln>
        </p:spPr>
      </p:sp>
      <p:sp>
        <p:nvSpPr>
          <p:cNvPr id="287" name="Shape 285"/>
          <p:cNvSpPr/>
          <p:nvPr/>
        </p:nvSpPr>
        <p:spPr>
          <a:xfrm>
            <a:off x="3829812" y="4124161"/>
            <a:ext cx="40386" cy="18072"/>
          </a:xfrm>
          <a:prstGeom prst="line">
            <a:avLst/>
          </a:prstGeom>
          <a:noFill/>
          <a:ln w="28575">
            <a:solidFill>
              <a:srgbClr val="E08A1E"/>
            </a:solidFill>
            <a:prstDash val="solid"/>
          </a:ln>
        </p:spPr>
      </p:sp>
      <p:sp>
        <p:nvSpPr>
          <p:cNvPr id="288" name="Shape 286"/>
          <p:cNvSpPr/>
          <p:nvPr/>
        </p:nvSpPr>
        <p:spPr>
          <a:xfrm>
            <a:off x="3870198" y="4142233"/>
            <a:ext cx="40386" cy="17719"/>
          </a:xfrm>
          <a:prstGeom prst="line">
            <a:avLst/>
          </a:prstGeom>
          <a:noFill/>
          <a:ln w="28575">
            <a:solidFill>
              <a:srgbClr val="E08A1E"/>
            </a:solidFill>
            <a:prstDash val="solid"/>
          </a:ln>
        </p:spPr>
      </p:sp>
      <p:sp>
        <p:nvSpPr>
          <p:cNvPr id="289" name="Shape 287"/>
          <p:cNvSpPr/>
          <p:nvPr/>
        </p:nvSpPr>
        <p:spPr>
          <a:xfrm>
            <a:off x="3910584" y="4159952"/>
            <a:ext cx="40386" cy="17362"/>
          </a:xfrm>
          <a:prstGeom prst="line">
            <a:avLst/>
          </a:prstGeom>
          <a:noFill/>
          <a:ln w="28575">
            <a:solidFill>
              <a:srgbClr val="E08A1E"/>
            </a:solidFill>
            <a:prstDash val="solid"/>
          </a:ln>
        </p:spPr>
      </p:sp>
      <p:sp>
        <p:nvSpPr>
          <p:cNvPr id="290" name="Shape 288"/>
          <p:cNvSpPr/>
          <p:nvPr/>
        </p:nvSpPr>
        <p:spPr>
          <a:xfrm>
            <a:off x="3950970" y="4177314"/>
            <a:ext cx="40386" cy="17003"/>
          </a:xfrm>
          <a:prstGeom prst="line">
            <a:avLst/>
          </a:prstGeom>
          <a:noFill/>
          <a:ln w="28575">
            <a:solidFill>
              <a:srgbClr val="E08A1E"/>
            </a:solidFill>
            <a:prstDash val="solid"/>
          </a:ln>
        </p:spPr>
      </p:sp>
      <p:sp>
        <p:nvSpPr>
          <p:cNvPr id="291" name="Shape 289"/>
          <p:cNvSpPr/>
          <p:nvPr/>
        </p:nvSpPr>
        <p:spPr>
          <a:xfrm>
            <a:off x="3991356" y="4194316"/>
            <a:ext cx="40386" cy="16642"/>
          </a:xfrm>
          <a:prstGeom prst="line">
            <a:avLst/>
          </a:prstGeom>
          <a:noFill/>
          <a:ln w="28575">
            <a:solidFill>
              <a:srgbClr val="E08A1E"/>
            </a:solidFill>
            <a:prstDash val="solid"/>
          </a:ln>
        </p:spPr>
      </p:sp>
      <p:sp>
        <p:nvSpPr>
          <p:cNvPr id="292" name="Shape 290"/>
          <p:cNvSpPr/>
          <p:nvPr/>
        </p:nvSpPr>
        <p:spPr>
          <a:xfrm>
            <a:off x="4031742" y="4210958"/>
            <a:ext cx="40386" cy="16280"/>
          </a:xfrm>
          <a:prstGeom prst="line">
            <a:avLst/>
          </a:prstGeom>
          <a:noFill/>
          <a:ln w="28575">
            <a:solidFill>
              <a:srgbClr val="E08A1E"/>
            </a:solidFill>
            <a:prstDash val="solid"/>
          </a:ln>
        </p:spPr>
      </p:sp>
      <p:sp>
        <p:nvSpPr>
          <p:cNvPr id="293" name="Shape 291"/>
          <p:cNvSpPr/>
          <p:nvPr/>
        </p:nvSpPr>
        <p:spPr>
          <a:xfrm>
            <a:off x="4072128" y="4227238"/>
            <a:ext cx="40386" cy="15918"/>
          </a:xfrm>
          <a:prstGeom prst="line">
            <a:avLst/>
          </a:prstGeom>
          <a:noFill/>
          <a:ln w="28575">
            <a:solidFill>
              <a:srgbClr val="E08A1E"/>
            </a:solidFill>
            <a:prstDash val="solid"/>
          </a:ln>
        </p:spPr>
      </p:sp>
      <p:sp>
        <p:nvSpPr>
          <p:cNvPr id="294" name="Shape 292"/>
          <p:cNvSpPr/>
          <p:nvPr/>
        </p:nvSpPr>
        <p:spPr>
          <a:xfrm>
            <a:off x="4112514" y="4243157"/>
            <a:ext cx="40386" cy="15557"/>
          </a:xfrm>
          <a:prstGeom prst="line">
            <a:avLst/>
          </a:prstGeom>
          <a:noFill/>
          <a:ln w="28575">
            <a:solidFill>
              <a:srgbClr val="E08A1E"/>
            </a:solidFill>
            <a:prstDash val="solid"/>
          </a:ln>
        </p:spPr>
      </p:sp>
      <p:sp>
        <p:nvSpPr>
          <p:cNvPr id="295" name="Shape 293"/>
          <p:cNvSpPr/>
          <p:nvPr/>
        </p:nvSpPr>
        <p:spPr>
          <a:xfrm>
            <a:off x="4152900" y="4258714"/>
            <a:ext cx="40386" cy="15198"/>
          </a:xfrm>
          <a:prstGeom prst="line">
            <a:avLst/>
          </a:prstGeom>
          <a:noFill/>
          <a:ln w="28575">
            <a:solidFill>
              <a:srgbClr val="E08A1E"/>
            </a:solidFill>
            <a:prstDash val="solid"/>
          </a:ln>
        </p:spPr>
      </p:sp>
      <p:sp>
        <p:nvSpPr>
          <p:cNvPr id="296" name="Shape 294"/>
          <p:cNvSpPr/>
          <p:nvPr/>
        </p:nvSpPr>
        <p:spPr>
          <a:xfrm>
            <a:off x="4193286" y="4273912"/>
            <a:ext cx="40386" cy="14840"/>
          </a:xfrm>
          <a:prstGeom prst="line">
            <a:avLst/>
          </a:prstGeom>
          <a:noFill/>
          <a:ln w="28575">
            <a:solidFill>
              <a:srgbClr val="E08A1E"/>
            </a:solidFill>
            <a:prstDash val="solid"/>
          </a:ln>
        </p:spPr>
      </p:sp>
      <p:sp>
        <p:nvSpPr>
          <p:cNvPr id="297" name="Shape 295"/>
          <p:cNvSpPr/>
          <p:nvPr/>
        </p:nvSpPr>
        <p:spPr>
          <a:xfrm>
            <a:off x="4233672" y="4288752"/>
            <a:ext cx="40386" cy="14485"/>
          </a:xfrm>
          <a:prstGeom prst="line">
            <a:avLst/>
          </a:prstGeom>
          <a:noFill/>
          <a:ln w="28575">
            <a:solidFill>
              <a:srgbClr val="E08A1E"/>
            </a:solidFill>
            <a:prstDash val="solid"/>
          </a:ln>
        </p:spPr>
      </p:sp>
      <p:sp>
        <p:nvSpPr>
          <p:cNvPr id="298" name="Shape 296"/>
          <p:cNvSpPr/>
          <p:nvPr/>
        </p:nvSpPr>
        <p:spPr>
          <a:xfrm>
            <a:off x="4274058" y="4303237"/>
            <a:ext cx="40386" cy="14132"/>
          </a:xfrm>
          <a:prstGeom prst="line">
            <a:avLst/>
          </a:prstGeom>
          <a:noFill/>
          <a:ln w="28575">
            <a:solidFill>
              <a:srgbClr val="E08A1E"/>
            </a:solidFill>
            <a:prstDash val="solid"/>
          </a:ln>
        </p:spPr>
      </p:sp>
      <p:sp>
        <p:nvSpPr>
          <p:cNvPr id="299" name="Shape 297"/>
          <p:cNvSpPr/>
          <p:nvPr/>
        </p:nvSpPr>
        <p:spPr>
          <a:xfrm>
            <a:off x="4314444" y="4317369"/>
            <a:ext cx="40386" cy="13783"/>
          </a:xfrm>
          <a:prstGeom prst="line">
            <a:avLst/>
          </a:prstGeom>
          <a:noFill/>
          <a:ln w="28575">
            <a:solidFill>
              <a:srgbClr val="E08A1E"/>
            </a:solidFill>
            <a:prstDash val="solid"/>
          </a:ln>
        </p:spPr>
      </p:sp>
      <p:sp>
        <p:nvSpPr>
          <p:cNvPr id="300" name="Shape 298"/>
          <p:cNvSpPr/>
          <p:nvPr/>
        </p:nvSpPr>
        <p:spPr>
          <a:xfrm>
            <a:off x="4354830" y="4331152"/>
            <a:ext cx="40386" cy="13437"/>
          </a:xfrm>
          <a:prstGeom prst="line">
            <a:avLst/>
          </a:prstGeom>
          <a:noFill/>
          <a:ln w="28575">
            <a:solidFill>
              <a:srgbClr val="E08A1E"/>
            </a:solidFill>
            <a:prstDash val="solid"/>
          </a:ln>
        </p:spPr>
      </p:sp>
      <p:sp>
        <p:nvSpPr>
          <p:cNvPr id="301" name="Shape 299"/>
          <p:cNvSpPr/>
          <p:nvPr/>
        </p:nvSpPr>
        <p:spPr>
          <a:xfrm>
            <a:off x="4395216" y="4344589"/>
            <a:ext cx="40386" cy="13096"/>
          </a:xfrm>
          <a:prstGeom prst="line">
            <a:avLst/>
          </a:prstGeom>
          <a:noFill/>
          <a:ln w="28575">
            <a:solidFill>
              <a:srgbClr val="E08A1E"/>
            </a:solidFill>
            <a:prstDash val="solid"/>
          </a:ln>
        </p:spPr>
      </p:sp>
      <p:sp>
        <p:nvSpPr>
          <p:cNvPr id="302" name="Shape 300"/>
          <p:cNvSpPr/>
          <p:nvPr/>
        </p:nvSpPr>
        <p:spPr>
          <a:xfrm>
            <a:off x="4435602" y="4357684"/>
            <a:ext cx="40386" cy="12758"/>
          </a:xfrm>
          <a:prstGeom prst="line">
            <a:avLst/>
          </a:prstGeom>
          <a:noFill/>
          <a:ln w="28575">
            <a:solidFill>
              <a:srgbClr val="E08A1E"/>
            </a:solidFill>
            <a:prstDash val="solid"/>
          </a:ln>
        </p:spPr>
      </p:sp>
      <p:sp>
        <p:nvSpPr>
          <p:cNvPr id="303" name="Shape 301"/>
          <p:cNvSpPr/>
          <p:nvPr/>
        </p:nvSpPr>
        <p:spPr>
          <a:xfrm>
            <a:off x="4475988" y="4370443"/>
            <a:ext cx="40386" cy="12426"/>
          </a:xfrm>
          <a:prstGeom prst="line">
            <a:avLst/>
          </a:prstGeom>
          <a:noFill/>
          <a:ln w="28575">
            <a:solidFill>
              <a:srgbClr val="E08A1E"/>
            </a:solidFill>
            <a:prstDash val="solid"/>
          </a:ln>
        </p:spPr>
      </p:sp>
      <p:sp>
        <p:nvSpPr>
          <p:cNvPr id="304" name="Shape 302"/>
          <p:cNvSpPr/>
          <p:nvPr/>
        </p:nvSpPr>
        <p:spPr>
          <a:xfrm>
            <a:off x="4516374" y="4382868"/>
            <a:ext cx="40386" cy="12098"/>
          </a:xfrm>
          <a:prstGeom prst="line">
            <a:avLst/>
          </a:prstGeom>
          <a:noFill/>
          <a:ln w="28575">
            <a:solidFill>
              <a:srgbClr val="E08A1E"/>
            </a:solidFill>
            <a:prstDash val="solid"/>
          </a:ln>
        </p:spPr>
      </p:sp>
      <p:sp>
        <p:nvSpPr>
          <p:cNvPr id="305" name="Shape 303"/>
          <p:cNvSpPr/>
          <p:nvPr/>
        </p:nvSpPr>
        <p:spPr>
          <a:xfrm>
            <a:off x="4556760" y="4394966"/>
            <a:ext cx="40386" cy="11775"/>
          </a:xfrm>
          <a:prstGeom prst="line">
            <a:avLst/>
          </a:prstGeom>
          <a:noFill/>
          <a:ln w="28575">
            <a:solidFill>
              <a:srgbClr val="E08A1E"/>
            </a:solidFill>
            <a:prstDash val="solid"/>
          </a:ln>
        </p:spPr>
      </p:sp>
      <p:sp>
        <p:nvSpPr>
          <p:cNvPr id="306" name="Shape 304"/>
          <p:cNvSpPr/>
          <p:nvPr/>
        </p:nvSpPr>
        <p:spPr>
          <a:xfrm>
            <a:off x="4597146" y="4406741"/>
            <a:ext cx="40386" cy="11457"/>
          </a:xfrm>
          <a:prstGeom prst="line">
            <a:avLst/>
          </a:prstGeom>
          <a:noFill/>
          <a:ln w="28575">
            <a:solidFill>
              <a:srgbClr val="E08A1E"/>
            </a:solidFill>
            <a:prstDash val="solid"/>
          </a:ln>
        </p:spPr>
      </p:sp>
      <p:sp>
        <p:nvSpPr>
          <p:cNvPr id="307" name="Shape 305"/>
          <p:cNvSpPr/>
          <p:nvPr/>
        </p:nvSpPr>
        <p:spPr>
          <a:xfrm>
            <a:off x="4637532" y="4418198"/>
            <a:ext cx="40386" cy="11145"/>
          </a:xfrm>
          <a:prstGeom prst="line">
            <a:avLst/>
          </a:prstGeom>
          <a:noFill/>
          <a:ln w="28575">
            <a:solidFill>
              <a:srgbClr val="E08A1E"/>
            </a:solidFill>
            <a:prstDash val="solid"/>
          </a:ln>
        </p:spPr>
      </p:sp>
      <p:sp>
        <p:nvSpPr>
          <p:cNvPr id="308" name="Shape 306"/>
          <p:cNvSpPr/>
          <p:nvPr/>
        </p:nvSpPr>
        <p:spPr>
          <a:xfrm>
            <a:off x="4677918" y="4429343"/>
            <a:ext cx="40386" cy="10838"/>
          </a:xfrm>
          <a:prstGeom prst="line">
            <a:avLst/>
          </a:prstGeom>
          <a:noFill/>
          <a:ln w="28575">
            <a:solidFill>
              <a:srgbClr val="E08A1E"/>
            </a:solidFill>
            <a:prstDash val="solid"/>
          </a:ln>
        </p:spPr>
      </p:sp>
      <p:sp>
        <p:nvSpPr>
          <p:cNvPr id="309" name="Shape 307"/>
          <p:cNvSpPr/>
          <p:nvPr/>
        </p:nvSpPr>
        <p:spPr>
          <a:xfrm>
            <a:off x="4718304" y="4440181"/>
            <a:ext cx="40386" cy="10537"/>
          </a:xfrm>
          <a:prstGeom prst="line">
            <a:avLst/>
          </a:prstGeom>
          <a:noFill/>
          <a:ln w="28575">
            <a:solidFill>
              <a:srgbClr val="E08A1E"/>
            </a:solidFill>
            <a:prstDash val="solid"/>
          </a:ln>
        </p:spPr>
      </p:sp>
      <p:sp>
        <p:nvSpPr>
          <p:cNvPr id="310" name="Shape 308"/>
          <p:cNvSpPr/>
          <p:nvPr/>
        </p:nvSpPr>
        <p:spPr>
          <a:xfrm>
            <a:off x="4758690" y="4450718"/>
            <a:ext cx="40386" cy="10241"/>
          </a:xfrm>
          <a:prstGeom prst="line">
            <a:avLst/>
          </a:prstGeom>
          <a:noFill/>
          <a:ln w="28575">
            <a:solidFill>
              <a:srgbClr val="E08A1E"/>
            </a:solidFill>
            <a:prstDash val="solid"/>
          </a:ln>
        </p:spPr>
      </p:sp>
      <p:sp>
        <p:nvSpPr>
          <p:cNvPr id="311" name="Shape 309"/>
          <p:cNvSpPr/>
          <p:nvPr/>
        </p:nvSpPr>
        <p:spPr>
          <a:xfrm>
            <a:off x="4799076" y="4460959"/>
            <a:ext cx="40386" cy="9952"/>
          </a:xfrm>
          <a:prstGeom prst="line">
            <a:avLst/>
          </a:prstGeom>
          <a:noFill/>
          <a:ln w="28575">
            <a:solidFill>
              <a:srgbClr val="E08A1E"/>
            </a:solidFill>
            <a:prstDash val="solid"/>
          </a:ln>
        </p:spPr>
      </p:sp>
      <p:sp>
        <p:nvSpPr>
          <p:cNvPr id="312" name="Shape 310"/>
          <p:cNvSpPr/>
          <p:nvPr/>
        </p:nvSpPr>
        <p:spPr>
          <a:xfrm>
            <a:off x="4839462" y="4470911"/>
            <a:ext cx="40386" cy="9668"/>
          </a:xfrm>
          <a:prstGeom prst="line">
            <a:avLst/>
          </a:prstGeom>
          <a:noFill/>
          <a:ln w="28575">
            <a:solidFill>
              <a:srgbClr val="E08A1E"/>
            </a:solidFill>
            <a:prstDash val="solid"/>
          </a:ln>
        </p:spPr>
      </p:sp>
      <p:sp>
        <p:nvSpPr>
          <p:cNvPr id="313" name="Shape 311"/>
          <p:cNvSpPr/>
          <p:nvPr/>
        </p:nvSpPr>
        <p:spPr>
          <a:xfrm>
            <a:off x="4879848" y="4480579"/>
            <a:ext cx="40386" cy="9390"/>
          </a:xfrm>
          <a:prstGeom prst="line">
            <a:avLst/>
          </a:prstGeom>
          <a:noFill/>
          <a:ln w="28575">
            <a:solidFill>
              <a:srgbClr val="E08A1E"/>
            </a:solidFill>
            <a:prstDash val="solid"/>
          </a:ln>
        </p:spPr>
      </p:sp>
      <p:sp>
        <p:nvSpPr>
          <p:cNvPr id="314" name="Shape 312"/>
          <p:cNvSpPr/>
          <p:nvPr/>
        </p:nvSpPr>
        <p:spPr>
          <a:xfrm>
            <a:off x="4920234" y="4489969"/>
            <a:ext cx="40386" cy="9118"/>
          </a:xfrm>
          <a:prstGeom prst="line">
            <a:avLst/>
          </a:prstGeom>
          <a:noFill/>
          <a:ln w="28575">
            <a:solidFill>
              <a:srgbClr val="E08A1E"/>
            </a:solidFill>
            <a:prstDash val="solid"/>
          </a:ln>
        </p:spPr>
      </p:sp>
      <p:sp>
        <p:nvSpPr>
          <p:cNvPr id="315" name="Shape 313"/>
          <p:cNvSpPr/>
          <p:nvPr/>
        </p:nvSpPr>
        <p:spPr>
          <a:xfrm>
            <a:off x="4960620" y="4499086"/>
            <a:ext cx="40386" cy="8852"/>
          </a:xfrm>
          <a:prstGeom prst="line">
            <a:avLst/>
          </a:prstGeom>
          <a:noFill/>
          <a:ln w="28575">
            <a:solidFill>
              <a:srgbClr val="E08A1E"/>
            </a:solidFill>
            <a:prstDash val="solid"/>
          </a:ln>
        </p:spPr>
      </p:sp>
      <p:sp>
        <p:nvSpPr>
          <p:cNvPr id="316" name="Shape 314"/>
          <p:cNvSpPr/>
          <p:nvPr/>
        </p:nvSpPr>
        <p:spPr>
          <a:xfrm>
            <a:off x="5001006" y="4507938"/>
            <a:ext cx="40386" cy="8591"/>
          </a:xfrm>
          <a:prstGeom prst="line">
            <a:avLst/>
          </a:prstGeom>
          <a:noFill/>
          <a:ln w="28575">
            <a:solidFill>
              <a:srgbClr val="E08A1E"/>
            </a:solidFill>
            <a:prstDash val="solid"/>
          </a:ln>
        </p:spPr>
      </p:sp>
      <p:sp>
        <p:nvSpPr>
          <p:cNvPr id="317" name="Shape 315"/>
          <p:cNvSpPr/>
          <p:nvPr/>
        </p:nvSpPr>
        <p:spPr>
          <a:xfrm>
            <a:off x="5041392" y="4516529"/>
            <a:ext cx="40386" cy="8337"/>
          </a:xfrm>
          <a:prstGeom prst="line">
            <a:avLst/>
          </a:prstGeom>
          <a:noFill/>
          <a:ln w="28575">
            <a:solidFill>
              <a:srgbClr val="E08A1E"/>
            </a:solidFill>
            <a:prstDash val="solid"/>
          </a:ln>
        </p:spPr>
      </p:sp>
      <p:sp>
        <p:nvSpPr>
          <p:cNvPr id="318" name="Shape 316"/>
          <p:cNvSpPr/>
          <p:nvPr/>
        </p:nvSpPr>
        <p:spPr>
          <a:xfrm>
            <a:off x="5081778" y="4524866"/>
            <a:ext cx="40386" cy="8088"/>
          </a:xfrm>
          <a:prstGeom prst="line">
            <a:avLst/>
          </a:prstGeom>
          <a:noFill/>
          <a:ln w="28575">
            <a:solidFill>
              <a:srgbClr val="E08A1E"/>
            </a:solidFill>
            <a:prstDash val="solid"/>
          </a:ln>
        </p:spPr>
      </p:sp>
      <p:sp>
        <p:nvSpPr>
          <p:cNvPr id="319" name="Shape 317"/>
          <p:cNvSpPr/>
          <p:nvPr/>
        </p:nvSpPr>
        <p:spPr>
          <a:xfrm>
            <a:off x="5122164" y="4532954"/>
            <a:ext cx="40386" cy="7846"/>
          </a:xfrm>
          <a:prstGeom prst="line">
            <a:avLst/>
          </a:prstGeom>
          <a:noFill/>
          <a:ln w="28575">
            <a:solidFill>
              <a:srgbClr val="E08A1E"/>
            </a:solidFill>
            <a:prstDash val="solid"/>
          </a:ln>
        </p:spPr>
      </p:sp>
      <p:sp>
        <p:nvSpPr>
          <p:cNvPr id="320" name="Shape 318"/>
          <p:cNvSpPr/>
          <p:nvPr/>
        </p:nvSpPr>
        <p:spPr>
          <a:xfrm>
            <a:off x="5162550" y="4540800"/>
            <a:ext cx="40386" cy="7609"/>
          </a:xfrm>
          <a:prstGeom prst="line">
            <a:avLst/>
          </a:prstGeom>
          <a:noFill/>
          <a:ln w="28575">
            <a:solidFill>
              <a:srgbClr val="E08A1E"/>
            </a:solidFill>
            <a:prstDash val="solid"/>
          </a:ln>
        </p:spPr>
      </p:sp>
      <p:sp>
        <p:nvSpPr>
          <p:cNvPr id="321" name="Shape 319"/>
          <p:cNvSpPr/>
          <p:nvPr/>
        </p:nvSpPr>
        <p:spPr>
          <a:xfrm>
            <a:off x="5202936" y="4548409"/>
            <a:ext cx="40386" cy="7378"/>
          </a:xfrm>
          <a:prstGeom prst="line">
            <a:avLst/>
          </a:prstGeom>
          <a:noFill/>
          <a:ln w="28575">
            <a:solidFill>
              <a:srgbClr val="E08A1E"/>
            </a:solidFill>
            <a:prstDash val="solid"/>
          </a:ln>
        </p:spPr>
      </p:sp>
      <p:sp>
        <p:nvSpPr>
          <p:cNvPr id="322" name="Shape 320"/>
          <p:cNvSpPr/>
          <p:nvPr/>
        </p:nvSpPr>
        <p:spPr>
          <a:xfrm>
            <a:off x="5243322" y="4555787"/>
            <a:ext cx="40386" cy="7153"/>
          </a:xfrm>
          <a:prstGeom prst="line">
            <a:avLst/>
          </a:prstGeom>
          <a:noFill/>
          <a:ln w="28575">
            <a:solidFill>
              <a:srgbClr val="E08A1E"/>
            </a:solidFill>
            <a:prstDash val="solid"/>
          </a:ln>
        </p:spPr>
      </p:sp>
      <p:sp>
        <p:nvSpPr>
          <p:cNvPr id="323" name="Shape 321"/>
          <p:cNvSpPr/>
          <p:nvPr/>
        </p:nvSpPr>
        <p:spPr>
          <a:xfrm>
            <a:off x="5283708" y="4562940"/>
            <a:ext cx="40386" cy="6933"/>
          </a:xfrm>
          <a:prstGeom prst="line">
            <a:avLst/>
          </a:prstGeom>
          <a:noFill/>
          <a:ln w="28575">
            <a:solidFill>
              <a:srgbClr val="E08A1E"/>
            </a:solidFill>
            <a:prstDash val="solid"/>
          </a:ln>
        </p:spPr>
      </p:sp>
      <p:sp>
        <p:nvSpPr>
          <p:cNvPr id="324" name="Shape 322"/>
          <p:cNvSpPr/>
          <p:nvPr/>
        </p:nvSpPr>
        <p:spPr>
          <a:xfrm>
            <a:off x="5324094" y="4569872"/>
            <a:ext cx="40386" cy="6719"/>
          </a:xfrm>
          <a:prstGeom prst="line">
            <a:avLst/>
          </a:prstGeom>
          <a:noFill/>
          <a:ln w="28575">
            <a:solidFill>
              <a:srgbClr val="E08A1E"/>
            </a:solidFill>
            <a:prstDash val="solid"/>
          </a:ln>
        </p:spPr>
      </p:sp>
      <p:sp>
        <p:nvSpPr>
          <p:cNvPr id="325" name="Shape 323"/>
          <p:cNvSpPr/>
          <p:nvPr/>
        </p:nvSpPr>
        <p:spPr>
          <a:xfrm>
            <a:off x="5364480" y="4576591"/>
            <a:ext cx="40386" cy="6510"/>
          </a:xfrm>
          <a:prstGeom prst="line">
            <a:avLst/>
          </a:prstGeom>
          <a:noFill/>
          <a:ln w="28575">
            <a:solidFill>
              <a:srgbClr val="E08A1E"/>
            </a:solidFill>
            <a:prstDash val="solid"/>
          </a:ln>
        </p:spPr>
      </p:sp>
      <p:sp>
        <p:nvSpPr>
          <p:cNvPr id="326" name="Shape 324"/>
          <p:cNvSpPr/>
          <p:nvPr/>
        </p:nvSpPr>
        <p:spPr>
          <a:xfrm>
            <a:off x="5404866" y="4583101"/>
            <a:ext cx="40386" cy="6307"/>
          </a:xfrm>
          <a:prstGeom prst="line">
            <a:avLst/>
          </a:prstGeom>
          <a:noFill/>
          <a:ln w="28575">
            <a:solidFill>
              <a:srgbClr val="E08A1E"/>
            </a:solidFill>
            <a:prstDash val="solid"/>
          </a:ln>
        </p:spPr>
      </p:sp>
      <p:sp>
        <p:nvSpPr>
          <p:cNvPr id="327" name="Shape 325"/>
          <p:cNvSpPr/>
          <p:nvPr/>
        </p:nvSpPr>
        <p:spPr>
          <a:xfrm>
            <a:off x="5445252" y="4589408"/>
            <a:ext cx="40386" cy="6109"/>
          </a:xfrm>
          <a:prstGeom prst="line">
            <a:avLst/>
          </a:prstGeom>
          <a:noFill/>
          <a:ln w="28575">
            <a:solidFill>
              <a:srgbClr val="E08A1E"/>
            </a:solidFill>
            <a:prstDash val="solid"/>
          </a:ln>
        </p:spPr>
      </p:sp>
      <p:sp>
        <p:nvSpPr>
          <p:cNvPr id="328" name="Shape 326"/>
          <p:cNvSpPr/>
          <p:nvPr/>
        </p:nvSpPr>
        <p:spPr>
          <a:xfrm>
            <a:off x="5485638" y="4595517"/>
            <a:ext cx="40386" cy="5917"/>
          </a:xfrm>
          <a:prstGeom prst="line">
            <a:avLst/>
          </a:prstGeom>
          <a:noFill/>
          <a:ln w="28575">
            <a:solidFill>
              <a:srgbClr val="E08A1E"/>
            </a:solidFill>
            <a:prstDash val="solid"/>
          </a:ln>
        </p:spPr>
      </p:sp>
      <p:sp>
        <p:nvSpPr>
          <p:cNvPr id="329" name="Shape 327"/>
          <p:cNvSpPr/>
          <p:nvPr/>
        </p:nvSpPr>
        <p:spPr>
          <a:xfrm>
            <a:off x="5526024" y="4601434"/>
            <a:ext cx="40386" cy="5729"/>
          </a:xfrm>
          <a:prstGeom prst="line">
            <a:avLst/>
          </a:prstGeom>
          <a:noFill/>
          <a:ln w="28575">
            <a:solidFill>
              <a:srgbClr val="E08A1E"/>
            </a:solidFill>
            <a:prstDash val="solid"/>
          </a:ln>
        </p:spPr>
      </p:sp>
      <p:sp>
        <p:nvSpPr>
          <p:cNvPr id="330" name="Shape 328"/>
          <p:cNvSpPr/>
          <p:nvPr/>
        </p:nvSpPr>
        <p:spPr>
          <a:xfrm>
            <a:off x="5566410" y="4607163"/>
            <a:ext cx="40386" cy="5547"/>
          </a:xfrm>
          <a:prstGeom prst="line">
            <a:avLst/>
          </a:prstGeom>
          <a:noFill/>
          <a:ln w="28575">
            <a:solidFill>
              <a:srgbClr val="E08A1E"/>
            </a:solidFill>
            <a:prstDash val="solid"/>
          </a:ln>
        </p:spPr>
      </p:sp>
      <p:sp>
        <p:nvSpPr>
          <p:cNvPr id="331" name="Shape 329"/>
          <p:cNvSpPr/>
          <p:nvPr/>
        </p:nvSpPr>
        <p:spPr>
          <a:xfrm>
            <a:off x="5606796" y="4612710"/>
            <a:ext cx="40386" cy="5370"/>
          </a:xfrm>
          <a:prstGeom prst="line">
            <a:avLst/>
          </a:prstGeom>
          <a:noFill/>
          <a:ln w="28575">
            <a:solidFill>
              <a:srgbClr val="E08A1E"/>
            </a:solidFill>
            <a:prstDash val="solid"/>
          </a:ln>
        </p:spPr>
      </p:sp>
      <p:sp>
        <p:nvSpPr>
          <p:cNvPr id="332" name="Shape 330"/>
          <p:cNvSpPr/>
          <p:nvPr/>
        </p:nvSpPr>
        <p:spPr>
          <a:xfrm>
            <a:off x="5647182" y="4618080"/>
            <a:ext cx="40386" cy="5198"/>
          </a:xfrm>
          <a:prstGeom prst="line">
            <a:avLst/>
          </a:prstGeom>
          <a:noFill/>
          <a:ln w="28575">
            <a:solidFill>
              <a:srgbClr val="E08A1E"/>
            </a:solidFill>
            <a:prstDash val="solid"/>
          </a:ln>
        </p:spPr>
      </p:sp>
      <p:sp>
        <p:nvSpPr>
          <p:cNvPr id="333" name="Shape 331"/>
          <p:cNvSpPr/>
          <p:nvPr/>
        </p:nvSpPr>
        <p:spPr>
          <a:xfrm>
            <a:off x="5687568" y="4623278"/>
            <a:ext cx="40386" cy="5030"/>
          </a:xfrm>
          <a:prstGeom prst="line">
            <a:avLst/>
          </a:prstGeom>
          <a:noFill/>
          <a:ln w="28575">
            <a:solidFill>
              <a:srgbClr val="E08A1E"/>
            </a:solidFill>
            <a:prstDash val="solid"/>
          </a:ln>
        </p:spPr>
      </p:sp>
      <p:sp>
        <p:nvSpPr>
          <p:cNvPr id="334" name="Shape 332"/>
          <p:cNvSpPr/>
          <p:nvPr/>
        </p:nvSpPr>
        <p:spPr>
          <a:xfrm>
            <a:off x="5727954" y="4628308"/>
            <a:ext cx="40386" cy="4867"/>
          </a:xfrm>
          <a:prstGeom prst="line">
            <a:avLst/>
          </a:prstGeom>
          <a:noFill/>
          <a:ln w="28575">
            <a:solidFill>
              <a:srgbClr val="E08A1E"/>
            </a:solidFill>
            <a:prstDash val="solid"/>
          </a:ln>
        </p:spPr>
      </p:sp>
      <p:sp>
        <p:nvSpPr>
          <p:cNvPr id="335" name="Shape 333"/>
          <p:cNvSpPr/>
          <p:nvPr/>
        </p:nvSpPr>
        <p:spPr>
          <a:xfrm>
            <a:off x="5768340" y="4633175"/>
            <a:ext cx="40386" cy="4709"/>
          </a:xfrm>
          <a:prstGeom prst="line">
            <a:avLst/>
          </a:prstGeom>
          <a:noFill/>
          <a:ln w="28575">
            <a:solidFill>
              <a:srgbClr val="E08A1E"/>
            </a:solidFill>
            <a:prstDash val="solid"/>
          </a:ln>
        </p:spPr>
      </p:sp>
      <p:sp>
        <p:nvSpPr>
          <p:cNvPr id="336" name="Shape 334"/>
          <p:cNvSpPr/>
          <p:nvPr/>
        </p:nvSpPr>
        <p:spPr>
          <a:xfrm>
            <a:off x="5808726" y="4637885"/>
            <a:ext cx="40386" cy="4556"/>
          </a:xfrm>
          <a:prstGeom prst="line">
            <a:avLst/>
          </a:prstGeom>
          <a:noFill/>
          <a:ln w="28575">
            <a:solidFill>
              <a:srgbClr val="E08A1E"/>
            </a:solidFill>
            <a:prstDash val="solid"/>
          </a:ln>
        </p:spPr>
      </p:sp>
      <p:sp>
        <p:nvSpPr>
          <p:cNvPr id="337" name="Shape 335"/>
          <p:cNvSpPr/>
          <p:nvPr/>
        </p:nvSpPr>
        <p:spPr>
          <a:xfrm>
            <a:off x="5849112" y="4642440"/>
            <a:ext cx="40386" cy="4407"/>
          </a:xfrm>
          <a:prstGeom prst="line">
            <a:avLst/>
          </a:prstGeom>
          <a:noFill/>
          <a:ln w="28575">
            <a:solidFill>
              <a:srgbClr val="E08A1E"/>
            </a:solidFill>
            <a:prstDash val="solid"/>
          </a:ln>
        </p:spPr>
      </p:sp>
      <p:sp>
        <p:nvSpPr>
          <p:cNvPr id="338" name="Shape 336"/>
          <p:cNvSpPr/>
          <p:nvPr/>
        </p:nvSpPr>
        <p:spPr>
          <a:xfrm>
            <a:off x="5889498" y="4646847"/>
            <a:ext cx="40386" cy="4262"/>
          </a:xfrm>
          <a:prstGeom prst="line">
            <a:avLst/>
          </a:prstGeom>
          <a:noFill/>
          <a:ln w="28575">
            <a:solidFill>
              <a:srgbClr val="E08A1E"/>
            </a:solidFill>
            <a:prstDash val="solid"/>
          </a:ln>
        </p:spPr>
      </p:sp>
      <p:sp>
        <p:nvSpPr>
          <p:cNvPr id="339" name="Shape 337"/>
          <p:cNvSpPr/>
          <p:nvPr/>
        </p:nvSpPr>
        <p:spPr>
          <a:xfrm>
            <a:off x="5929884" y="4651109"/>
            <a:ext cx="40386" cy="4122"/>
          </a:xfrm>
          <a:prstGeom prst="line">
            <a:avLst/>
          </a:prstGeom>
          <a:noFill/>
          <a:ln w="28575">
            <a:solidFill>
              <a:srgbClr val="E08A1E"/>
            </a:solidFill>
            <a:prstDash val="solid"/>
          </a:ln>
        </p:spPr>
      </p:sp>
      <p:sp>
        <p:nvSpPr>
          <p:cNvPr id="340" name="Shape 338"/>
          <p:cNvSpPr/>
          <p:nvPr/>
        </p:nvSpPr>
        <p:spPr>
          <a:xfrm>
            <a:off x="5970270" y="4655231"/>
            <a:ext cx="40386" cy="3985"/>
          </a:xfrm>
          <a:prstGeom prst="line">
            <a:avLst/>
          </a:prstGeom>
          <a:noFill/>
          <a:ln w="28575">
            <a:solidFill>
              <a:srgbClr val="E08A1E"/>
            </a:solidFill>
            <a:prstDash val="solid"/>
          </a:ln>
        </p:spPr>
      </p:sp>
      <p:sp>
        <p:nvSpPr>
          <p:cNvPr id="341" name="Shape 339"/>
          <p:cNvSpPr/>
          <p:nvPr/>
        </p:nvSpPr>
        <p:spPr>
          <a:xfrm>
            <a:off x="6010656" y="4659216"/>
            <a:ext cx="40386" cy="3853"/>
          </a:xfrm>
          <a:prstGeom prst="line">
            <a:avLst/>
          </a:prstGeom>
          <a:noFill/>
          <a:ln w="28575">
            <a:solidFill>
              <a:srgbClr val="E08A1E"/>
            </a:solidFill>
            <a:prstDash val="solid"/>
          </a:ln>
        </p:spPr>
      </p:sp>
      <p:sp>
        <p:nvSpPr>
          <p:cNvPr id="342" name="Shape 340"/>
          <p:cNvSpPr/>
          <p:nvPr/>
        </p:nvSpPr>
        <p:spPr>
          <a:xfrm>
            <a:off x="6051042" y="4663069"/>
            <a:ext cx="40386" cy="3725"/>
          </a:xfrm>
          <a:prstGeom prst="line">
            <a:avLst/>
          </a:prstGeom>
          <a:noFill/>
          <a:ln w="28575">
            <a:solidFill>
              <a:srgbClr val="E08A1E"/>
            </a:solidFill>
            <a:prstDash val="solid"/>
          </a:ln>
        </p:spPr>
      </p:sp>
      <p:sp>
        <p:nvSpPr>
          <p:cNvPr id="343" name="Shape 341"/>
          <p:cNvSpPr/>
          <p:nvPr/>
        </p:nvSpPr>
        <p:spPr>
          <a:xfrm>
            <a:off x="6091428" y="4666793"/>
            <a:ext cx="40386" cy="3600"/>
          </a:xfrm>
          <a:prstGeom prst="line">
            <a:avLst/>
          </a:prstGeom>
          <a:noFill/>
          <a:ln w="28575">
            <a:solidFill>
              <a:srgbClr val="E08A1E"/>
            </a:solidFill>
            <a:prstDash val="solid"/>
          </a:ln>
        </p:spPr>
      </p:sp>
      <p:sp>
        <p:nvSpPr>
          <p:cNvPr id="344" name="Shape 342"/>
          <p:cNvSpPr/>
          <p:nvPr/>
        </p:nvSpPr>
        <p:spPr>
          <a:xfrm>
            <a:off x="6131814" y="4670394"/>
            <a:ext cx="40386" cy="3480"/>
          </a:xfrm>
          <a:prstGeom prst="line">
            <a:avLst/>
          </a:prstGeom>
          <a:noFill/>
          <a:ln w="28575">
            <a:solidFill>
              <a:srgbClr val="E08A1E"/>
            </a:solidFill>
            <a:prstDash val="solid"/>
          </a:ln>
        </p:spPr>
      </p:sp>
      <p:sp>
        <p:nvSpPr>
          <p:cNvPr id="345" name="Shape 343"/>
          <p:cNvSpPr/>
          <p:nvPr/>
        </p:nvSpPr>
        <p:spPr>
          <a:xfrm>
            <a:off x="1325880" y="4514850"/>
            <a:ext cx="40386" cy="23410"/>
          </a:xfrm>
          <a:prstGeom prst="line">
            <a:avLst/>
          </a:prstGeom>
          <a:noFill/>
          <a:ln w="28575">
            <a:solidFill>
              <a:srgbClr val="8E44AD"/>
            </a:solidFill>
            <a:prstDash val="solid"/>
          </a:ln>
        </p:spPr>
      </p:sp>
      <p:sp>
        <p:nvSpPr>
          <p:cNvPr id="346" name="Shape 344"/>
          <p:cNvSpPr/>
          <p:nvPr/>
        </p:nvSpPr>
        <p:spPr>
          <a:xfrm>
            <a:off x="1366266" y="4538260"/>
            <a:ext cx="40386" cy="20859"/>
          </a:xfrm>
          <a:prstGeom prst="line">
            <a:avLst/>
          </a:prstGeom>
          <a:noFill/>
          <a:ln w="28575">
            <a:solidFill>
              <a:srgbClr val="8E44AD"/>
            </a:solidFill>
            <a:prstDash val="solid"/>
          </a:ln>
        </p:spPr>
      </p:sp>
      <p:sp>
        <p:nvSpPr>
          <p:cNvPr id="347" name="Shape 345"/>
          <p:cNvSpPr/>
          <p:nvPr/>
        </p:nvSpPr>
        <p:spPr>
          <a:xfrm>
            <a:off x="1406652" y="4559119"/>
            <a:ext cx="40386" cy="18484"/>
          </a:xfrm>
          <a:prstGeom prst="line">
            <a:avLst/>
          </a:prstGeom>
          <a:noFill/>
          <a:ln w="28575">
            <a:solidFill>
              <a:srgbClr val="8E44AD"/>
            </a:solidFill>
            <a:prstDash val="solid"/>
          </a:ln>
        </p:spPr>
      </p:sp>
      <p:sp>
        <p:nvSpPr>
          <p:cNvPr id="348" name="Shape 346"/>
          <p:cNvSpPr/>
          <p:nvPr/>
        </p:nvSpPr>
        <p:spPr>
          <a:xfrm>
            <a:off x="1447038" y="4577603"/>
            <a:ext cx="40386" cy="16273"/>
          </a:xfrm>
          <a:prstGeom prst="line">
            <a:avLst/>
          </a:prstGeom>
          <a:noFill/>
          <a:ln w="28575">
            <a:solidFill>
              <a:srgbClr val="8E44AD"/>
            </a:solidFill>
            <a:prstDash val="solid"/>
          </a:ln>
        </p:spPr>
      </p:sp>
      <p:sp>
        <p:nvSpPr>
          <p:cNvPr id="349" name="Shape 347"/>
          <p:cNvSpPr/>
          <p:nvPr/>
        </p:nvSpPr>
        <p:spPr>
          <a:xfrm>
            <a:off x="1487424" y="4593875"/>
            <a:ext cx="40386" cy="14216"/>
          </a:xfrm>
          <a:prstGeom prst="line">
            <a:avLst/>
          </a:prstGeom>
          <a:noFill/>
          <a:ln w="28575">
            <a:solidFill>
              <a:srgbClr val="8E44AD"/>
            </a:solidFill>
            <a:prstDash val="solid"/>
          </a:ln>
        </p:spPr>
      </p:sp>
      <p:sp>
        <p:nvSpPr>
          <p:cNvPr id="350" name="Shape 348"/>
          <p:cNvSpPr/>
          <p:nvPr/>
        </p:nvSpPr>
        <p:spPr>
          <a:xfrm>
            <a:off x="1527810" y="4608091"/>
            <a:ext cx="40386" cy="12305"/>
          </a:xfrm>
          <a:prstGeom prst="line">
            <a:avLst/>
          </a:prstGeom>
          <a:noFill/>
          <a:ln w="28575">
            <a:solidFill>
              <a:srgbClr val="8E44AD"/>
            </a:solidFill>
            <a:prstDash val="solid"/>
          </a:ln>
        </p:spPr>
      </p:sp>
      <p:sp>
        <p:nvSpPr>
          <p:cNvPr id="351" name="Shape 349"/>
          <p:cNvSpPr/>
          <p:nvPr/>
        </p:nvSpPr>
        <p:spPr>
          <a:xfrm>
            <a:off x="1568196" y="4620396"/>
            <a:ext cx="40386" cy="10531"/>
          </a:xfrm>
          <a:prstGeom prst="line">
            <a:avLst/>
          </a:prstGeom>
          <a:noFill/>
          <a:ln w="28575">
            <a:solidFill>
              <a:srgbClr val="8E44AD"/>
            </a:solidFill>
            <a:prstDash val="solid"/>
          </a:ln>
        </p:spPr>
      </p:sp>
      <p:sp>
        <p:nvSpPr>
          <p:cNvPr id="352" name="Shape 350"/>
          <p:cNvSpPr/>
          <p:nvPr/>
        </p:nvSpPr>
        <p:spPr>
          <a:xfrm>
            <a:off x="1608582" y="4630927"/>
            <a:ext cx="40386" cy="8885"/>
          </a:xfrm>
          <a:prstGeom prst="line">
            <a:avLst/>
          </a:prstGeom>
          <a:noFill/>
          <a:ln w="28575">
            <a:solidFill>
              <a:srgbClr val="8E44AD"/>
            </a:solidFill>
            <a:prstDash val="solid"/>
          </a:ln>
        </p:spPr>
      </p:sp>
      <p:sp>
        <p:nvSpPr>
          <p:cNvPr id="353" name="Shape 351"/>
          <p:cNvSpPr/>
          <p:nvPr/>
        </p:nvSpPr>
        <p:spPr>
          <a:xfrm>
            <a:off x="1648968" y="4639812"/>
            <a:ext cx="40386" cy="7361"/>
          </a:xfrm>
          <a:prstGeom prst="line">
            <a:avLst/>
          </a:prstGeom>
          <a:noFill/>
          <a:ln w="28575">
            <a:solidFill>
              <a:srgbClr val="8E44AD"/>
            </a:solidFill>
            <a:prstDash val="solid"/>
          </a:ln>
        </p:spPr>
      </p:sp>
      <p:sp>
        <p:nvSpPr>
          <p:cNvPr id="354" name="Shape 352"/>
          <p:cNvSpPr/>
          <p:nvPr/>
        </p:nvSpPr>
        <p:spPr>
          <a:xfrm>
            <a:off x="1689354" y="4647173"/>
            <a:ext cx="40386" cy="5950"/>
          </a:xfrm>
          <a:prstGeom prst="line">
            <a:avLst/>
          </a:prstGeom>
          <a:noFill/>
          <a:ln w="28575">
            <a:solidFill>
              <a:srgbClr val="8E44AD"/>
            </a:solidFill>
            <a:prstDash val="solid"/>
          </a:ln>
        </p:spPr>
      </p:sp>
      <p:sp>
        <p:nvSpPr>
          <p:cNvPr id="355" name="Shape 353"/>
          <p:cNvSpPr/>
          <p:nvPr/>
        </p:nvSpPr>
        <p:spPr>
          <a:xfrm>
            <a:off x="1729740" y="4653123"/>
            <a:ext cx="40386" cy="4646"/>
          </a:xfrm>
          <a:prstGeom prst="line">
            <a:avLst/>
          </a:prstGeom>
          <a:noFill/>
          <a:ln w="28575">
            <a:solidFill>
              <a:srgbClr val="8E44AD"/>
            </a:solidFill>
            <a:prstDash val="solid"/>
          </a:ln>
        </p:spPr>
      </p:sp>
      <p:sp>
        <p:nvSpPr>
          <p:cNvPr id="356" name="Shape 354"/>
          <p:cNvSpPr/>
          <p:nvPr/>
        </p:nvSpPr>
        <p:spPr>
          <a:xfrm>
            <a:off x="1770126" y="4657769"/>
            <a:ext cx="40386" cy="3442"/>
          </a:xfrm>
          <a:prstGeom prst="line">
            <a:avLst/>
          </a:prstGeom>
          <a:noFill/>
          <a:ln w="28575">
            <a:solidFill>
              <a:srgbClr val="8E44AD"/>
            </a:solidFill>
            <a:prstDash val="solid"/>
          </a:ln>
        </p:spPr>
      </p:sp>
      <p:sp>
        <p:nvSpPr>
          <p:cNvPr id="357" name="Shape 355"/>
          <p:cNvSpPr/>
          <p:nvPr/>
        </p:nvSpPr>
        <p:spPr>
          <a:xfrm>
            <a:off x="1810512" y="4661212"/>
            <a:ext cx="40386" cy="2333"/>
          </a:xfrm>
          <a:prstGeom prst="line">
            <a:avLst/>
          </a:prstGeom>
          <a:noFill/>
          <a:ln w="28575">
            <a:solidFill>
              <a:srgbClr val="8E44AD"/>
            </a:solidFill>
            <a:prstDash val="solid"/>
          </a:ln>
        </p:spPr>
      </p:sp>
      <p:sp>
        <p:nvSpPr>
          <p:cNvPr id="358" name="Shape 356"/>
          <p:cNvSpPr/>
          <p:nvPr/>
        </p:nvSpPr>
        <p:spPr>
          <a:xfrm>
            <a:off x="1850898" y="4663544"/>
            <a:ext cx="40386" cy="1311"/>
          </a:xfrm>
          <a:prstGeom prst="line">
            <a:avLst/>
          </a:prstGeom>
          <a:noFill/>
          <a:ln w="28575">
            <a:solidFill>
              <a:srgbClr val="8E44AD"/>
            </a:solidFill>
            <a:prstDash val="solid"/>
          </a:ln>
        </p:spPr>
      </p:sp>
      <p:sp>
        <p:nvSpPr>
          <p:cNvPr id="359" name="Shape 357"/>
          <p:cNvSpPr/>
          <p:nvPr/>
        </p:nvSpPr>
        <p:spPr>
          <a:xfrm>
            <a:off x="1891284" y="4664855"/>
            <a:ext cx="40386" cy="373"/>
          </a:xfrm>
          <a:prstGeom prst="line">
            <a:avLst/>
          </a:prstGeom>
          <a:noFill/>
          <a:ln w="28575">
            <a:solidFill>
              <a:srgbClr val="8E44AD"/>
            </a:solidFill>
            <a:prstDash val="solid"/>
          </a:ln>
        </p:spPr>
      </p:sp>
      <p:sp>
        <p:nvSpPr>
          <p:cNvPr id="360" name="Shape 358"/>
          <p:cNvSpPr/>
          <p:nvPr/>
        </p:nvSpPr>
        <p:spPr>
          <a:xfrm flipV="1">
            <a:off x="1931670" y="4664740"/>
            <a:ext cx="40386" cy="488"/>
          </a:xfrm>
          <a:prstGeom prst="line">
            <a:avLst/>
          </a:prstGeom>
          <a:noFill/>
          <a:ln w="28575">
            <a:solidFill>
              <a:srgbClr val="8E44AD"/>
            </a:solidFill>
            <a:prstDash val="solid"/>
          </a:ln>
        </p:spPr>
      </p:sp>
      <p:sp>
        <p:nvSpPr>
          <p:cNvPr id="361" name="Shape 359"/>
          <p:cNvSpPr/>
          <p:nvPr/>
        </p:nvSpPr>
        <p:spPr>
          <a:xfrm flipV="1">
            <a:off x="1972056" y="4663463"/>
            <a:ext cx="40386" cy="1276"/>
          </a:xfrm>
          <a:prstGeom prst="line">
            <a:avLst/>
          </a:prstGeom>
          <a:noFill/>
          <a:ln w="28575">
            <a:solidFill>
              <a:srgbClr val="8E44AD"/>
            </a:solidFill>
            <a:prstDash val="solid"/>
          </a:ln>
        </p:spPr>
      </p:sp>
      <p:sp>
        <p:nvSpPr>
          <p:cNvPr id="362" name="Shape 360"/>
          <p:cNvSpPr/>
          <p:nvPr/>
        </p:nvSpPr>
        <p:spPr>
          <a:xfrm flipV="1">
            <a:off x="2012442" y="4661467"/>
            <a:ext cx="40386" cy="1996"/>
          </a:xfrm>
          <a:prstGeom prst="line">
            <a:avLst/>
          </a:prstGeom>
          <a:noFill/>
          <a:ln w="28575">
            <a:solidFill>
              <a:srgbClr val="8E44AD"/>
            </a:solidFill>
            <a:prstDash val="solid"/>
          </a:ln>
        </p:spPr>
      </p:sp>
      <p:sp>
        <p:nvSpPr>
          <p:cNvPr id="363" name="Shape 361"/>
          <p:cNvSpPr/>
          <p:nvPr/>
        </p:nvSpPr>
        <p:spPr>
          <a:xfrm flipV="1">
            <a:off x="2052828" y="4658814"/>
            <a:ext cx="40386" cy="2653"/>
          </a:xfrm>
          <a:prstGeom prst="line">
            <a:avLst/>
          </a:prstGeom>
          <a:noFill/>
          <a:ln w="28575">
            <a:solidFill>
              <a:srgbClr val="8E44AD"/>
            </a:solidFill>
            <a:prstDash val="solid"/>
          </a:ln>
        </p:spPr>
      </p:sp>
      <p:sp>
        <p:nvSpPr>
          <p:cNvPr id="364" name="Shape 362"/>
          <p:cNvSpPr/>
          <p:nvPr/>
        </p:nvSpPr>
        <p:spPr>
          <a:xfrm flipV="1">
            <a:off x="2093214" y="4655565"/>
            <a:ext cx="40386" cy="3249"/>
          </a:xfrm>
          <a:prstGeom prst="line">
            <a:avLst/>
          </a:prstGeom>
          <a:noFill/>
          <a:ln w="28575">
            <a:solidFill>
              <a:srgbClr val="8E44AD"/>
            </a:solidFill>
            <a:prstDash val="solid"/>
          </a:ln>
        </p:spPr>
      </p:sp>
      <p:sp>
        <p:nvSpPr>
          <p:cNvPr id="365" name="Shape 363"/>
          <p:cNvSpPr/>
          <p:nvPr/>
        </p:nvSpPr>
        <p:spPr>
          <a:xfrm flipV="1">
            <a:off x="2133600" y="4651776"/>
            <a:ext cx="40386" cy="3790"/>
          </a:xfrm>
          <a:prstGeom prst="line">
            <a:avLst/>
          </a:prstGeom>
          <a:noFill/>
          <a:ln w="28575">
            <a:solidFill>
              <a:srgbClr val="8E44AD"/>
            </a:solidFill>
            <a:prstDash val="solid"/>
          </a:ln>
        </p:spPr>
      </p:sp>
      <p:sp>
        <p:nvSpPr>
          <p:cNvPr id="366" name="Shape 364"/>
          <p:cNvSpPr/>
          <p:nvPr/>
        </p:nvSpPr>
        <p:spPr>
          <a:xfrm flipV="1">
            <a:off x="2173986" y="4647498"/>
            <a:ext cx="40386" cy="4278"/>
          </a:xfrm>
          <a:prstGeom prst="line">
            <a:avLst/>
          </a:prstGeom>
          <a:noFill/>
          <a:ln w="28575">
            <a:solidFill>
              <a:srgbClr val="8E44AD"/>
            </a:solidFill>
            <a:prstDash val="solid"/>
          </a:ln>
        </p:spPr>
      </p:sp>
      <p:sp>
        <p:nvSpPr>
          <p:cNvPr id="367" name="Shape 365"/>
          <p:cNvSpPr/>
          <p:nvPr/>
        </p:nvSpPr>
        <p:spPr>
          <a:xfrm flipV="1">
            <a:off x="2214372" y="4642780"/>
            <a:ext cx="40386" cy="4718"/>
          </a:xfrm>
          <a:prstGeom prst="line">
            <a:avLst/>
          </a:prstGeom>
          <a:noFill/>
          <a:ln w="28575">
            <a:solidFill>
              <a:srgbClr val="8E44AD"/>
            </a:solidFill>
            <a:prstDash val="solid"/>
          </a:ln>
        </p:spPr>
      </p:sp>
      <p:sp>
        <p:nvSpPr>
          <p:cNvPr id="368" name="Shape 366"/>
          <p:cNvSpPr/>
          <p:nvPr/>
        </p:nvSpPr>
        <p:spPr>
          <a:xfrm flipV="1">
            <a:off x="2254758" y="4637668"/>
            <a:ext cx="40386" cy="5112"/>
          </a:xfrm>
          <a:prstGeom prst="line">
            <a:avLst/>
          </a:prstGeom>
          <a:noFill/>
          <a:ln w="28575">
            <a:solidFill>
              <a:srgbClr val="8E44AD"/>
            </a:solidFill>
            <a:prstDash val="solid"/>
          </a:ln>
        </p:spPr>
      </p:sp>
      <p:sp>
        <p:nvSpPr>
          <p:cNvPr id="369" name="Shape 367"/>
          <p:cNvSpPr/>
          <p:nvPr/>
        </p:nvSpPr>
        <p:spPr>
          <a:xfrm flipV="1">
            <a:off x="2295144" y="4632205"/>
            <a:ext cx="40386" cy="5463"/>
          </a:xfrm>
          <a:prstGeom prst="line">
            <a:avLst/>
          </a:prstGeom>
          <a:noFill/>
          <a:ln w="28575">
            <a:solidFill>
              <a:srgbClr val="8E44AD"/>
            </a:solidFill>
            <a:prstDash val="solid"/>
          </a:ln>
        </p:spPr>
      </p:sp>
      <p:sp>
        <p:nvSpPr>
          <p:cNvPr id="370" name="Shape 368"/>
          <p:cNvSpPr/>
          <p:nvPr/>
        </p:nvSpPr>
        <p:spPr>
          <a:xfrm flipV="1">
            <a:off x="2335530" y="4626430"/>
            <a:ext cx="40386" cy="5775"/>
          </a:xfrm>
          <a:prstGeom prst="line">
            <a:avLst/>
          </a:prstGeom>
          <a:noFill/>
          <a:ln w="28575">
            <a:solidFill>
              <a:srgbClr val="8E44AD"/>
            </a:solidFill>
            <a:prstDash val="solid"/>
          </a:ln>
        </p:spPr>
      </p:sp>
      <p:sp>
        <p:nvSpPr>
          <p:cNvPr id="371" name="Shape 369"/>
          <p:cNvSpPr/>
          <p:nvPr/>
        </p:nvSpPr>
        <p:spPr>
          <a:xfrm flipV="1">
            <a:off x="2375916" y="4620380"/>
            <a:ext cx="40386" cy="6050"/>
          </a:xfrm>
          <a:prstGeom prst="line">
            <a:avLst/>
          </a:prstGeom>
          <a:noFill/>
          <a:ln w="28575">
            <a:solidFill>
              <a:srgbClr val="8E44AD"/>
            </a:solidFill>
            <a:prstDash val="solid"/>
          </a:ln>
        </p:spPr>
      </p:sp>
      <p:sp>
        <p:nvSpPr>
          <p:cNvPr id="372" name="Shape 370"/>
          <p:cNvSpPr/>
          <p:nvPr/>
        </p:nvSpPr>
        <p:spPr>
          <a:xfrm flipV="1">
            <a:off x="2416302" y="4614088"/>
            <a:ext cx="40386" cy="6291"/>
          </a:xfrm>
          <a:prstGeom prst="line">
            <a:avLst/>
          </a:prstGeom>
          <a:noFill/>
          <a:ln w="28575">
            <a:solidFill>
              <a:srgbClr val="8E44AD"/>
            </a:solidFill>
            <a:prstDash val="solid"/>
          </a:ln>
        </p:spPr>
      </p:sp>
      <p:sp>
        <p:nvSpPr>
          <p:cNvPr id="373" name="Shape 371"/>
          <p:cNvSpPr/>
          <p:nvPr/>
        </p:nvSpPr>
        <p:spPr>
          <a:xfrm flipV="1">
            <a:off x="2456688" y="4607589"/>
            <a:ext cx="40386" cy="6500"/>
          </a:xfrm>
          <a:prstGeom prst="line">
            <a:avLst/>
          </a:prstGeom>
          <a:noFill/>
          <a:ln w="28575">
            <a:solidFill>
              <a:srgbClr val="8E44AD"/>
            </a:solidFill>
            <a:prstDash val="solid"/>
          </a:ln>
        </p:spPr>
      </p:sp>
      <p:sp>
        <p:nvSpPr>
          <p:cNvPr id="374" name="Shape 372"/>
          <p:cNvSpPr/>
          <p:nvPr/>
        </p:nvSpPr>
        <p:spPr>
          <a:xfrm flipV="1">
            <a:off x="2497074" y="4600910"/>
            <a:ext cx="40386" cy="6679"/>
          </a:xfrm>
          <a:prstGeom prst="line">
            <a:avLst/>
          </a:prstGeom>
          <a:noFill/>
          <a:ln w="28575">
            <a:solidFill>
              <a:srgbClr val="8E44AD"/>
            </a:solidFill>
            <a:prstDash val="solid"/>
          </a:ln>
        </p:spPr>
      </p:sp>
      <p:sp>
        <p:nvSpPr>
          <p:cNvPr id="375" name="Shape 373"/>
          <p:cNvSpPr/>
          <p:nvPr/>
        </p:nvSpPr>
        <p:spPr>
          <a:xfrm flipV="1">
            <a:off x="2537460" y="4594080"/>
            <a:ext cx="40386" cy="6830"/>
          </a:xfrm>
          <a:prstGeom prst="line">
            <a:avLst/>
          </a:prstGeom>
          <a:noFill/>
          <a:ln w="28575">
            <a:solidFill>
              <a:srgbClr val="8E44AD"/>
            </a:solidFill>
            <a:prstDash val="solid"/>
          </a:ln>
        </p:spPr>
      </p:sp>
      <p:sp>
        <p:nvSpPr>
          <p:cNvPr id="376" name="Shape 374"/>
          <p:cNvSpPr/>
          <p:nvPr/>
        </p:nvSpPr>
        <p:spPr>
          <a:xfrm flipV="1">
            <a:off x="2577846" y="4587124"/>
            <a:ext cx="40386" cy="6956"/>
          </a:xfrm>
          <a:prstGeom prst="line">
            <a:avLst/>
          </a:prstGeom>
          <a:noFill/>
          <a:ln w="28575">
            <a:solidFill>
              <a:srgbClr val="8E44AD"/>
            </a:solidFill>
            <a:prstDash val="solid"/>
          </a:ln>
        </p:spPr>
      </p:sp>
      <p:sp>
        <p:nvSpPr>
          <p:cNvPr id="377" name="Shape 375"/>
          <p:cNvSpPr/>
          <p:nvPr/>
        </p:nvSpPr>
        <p:spPr>
          <a:xfrm flipV="1">
            <a:off x="2618232" y="4580066"/>
            <a:ext cx="40386" cy="7058"/>
          </a:xfrm>
          <a:prstGeom prst="line">
            <a:avLst/>
          </a:prstGeom>
          <a:noFill/>
          <a:ln w="28575">
            <a:solidFill>
              <a:srgbClr val="8E44AD"/>
            </a:solidFill>
            <a:prstDash val="solid"/>
          </a:ln>
        </p:spPr>
      </p:sp>
      <p:sp>
        <p:nvSpPr>
          <p:cNvPr id="378" name="Shape 376"/>
          <p:cNvSpPr/>
          <p:nvPr/>
        </p:nvSpPr>
        <p:spPr>
          <a:xfrm flipV="1">
            <a:off x="2658618" y="4572928"/>
            <a:ext cx="40386" cy="7138"/>
          </a:xfrm>
          <a:prstGeom prst="line">
            <a:avLst/>
          </a:prstGeom>
          <a:noFill/>
          <a:ln w="28575">
            <a:solidFill>
              <a:srgbClr val="8E44AD"/>
            </a:solidFill>
            <a:prstDash val="solid"/>
          </a:ln>
        </p:spPr>
      </p:sp>
      <p:sp>
        <p:nvSpPr>
          <p:cNvPr id="379" name="Shape 377"/>
          <p:cNvSpPr/>
          <p:nvPr/>
        </p:nvSpPr>
        <p:spPr>
          <a:xfrm flipV="1">
            <a:off x="2699004" y="4565731"/>
            <a:ext cx="40386" cy="7198"/>
          </a:xfrm>
          <a:prstGeom prst="line">
            <a:avLst/>
          </a:prstGeom>
          <a:noFill/>
          <a:ln w="28575">
            <a:solidFill>
              <a:srgbClr val="8E44AD"/>
            </a:solidFill>
            <a:prstDash val="solid"/>
          </a:ln>
        </p:spPr>
      </p:sp>
      <p:sp>
        <p:nvSpPr>
          <p:cNvPr id="380" name="Shape 378"/>
          <p:cNvSpPr/>
          <p:nvPr/>
        </p:nvSpPr>
        <p:spPr>
          <a:xfrm flipV="1">
            <a:off x="2739390" y="4558492"/>
            <a:ext cx="40386" cy="7239"/>
          </a:xfrm>
          <a:prstGeom prst="line">
            <a:avLst/>
          </a:prstGeom>
          <a:noFill/>
          <a:ln w="28575">
            <a:solidFill>
              <a:srgbClr val="8E44AD"/>
            </a:solidFill>
            <a:prstDash val="solid"/>
          </a:ln>
        </p:spPr>
      </p:sp>
      <p:sp>
        <p:nvSpPr>
          <p:cNvPr id="381" name="Shape 379"/>
          <p:cNvSpPr/>
          <p:nvPr/>
        </p:nvSpPr>
        <p:spPr>
          <a:xfrm flipV="1">
            <a:off x="2779776" y="4551230"/>
            <a:ext cx="40386" cy="7262"/>
          </a:xfrm>
          <a:prstGeom prst="line">
            <a:avLst/>
          </a:prstGeom>
          <a:noFill/>
          <a:ln w="28575">
            <a:solidFill>
              <a:srgbClr val="8E44AD"/>
            </a:solidFill>
            <a:prstDash val="solid"/>
          </a:ln>
        </p:spPr>
      </p:sp>
      <p:sp>
        <p:nvSpPr>
          <p:cNvPr id="382" name="Shape 380"/>
          <p:cNvSpPr/>
          <p:nvPr/>
        </p:nvSpPr>
        <p:spPr>
          <a:xfrm flipV="1">
            <a:off x="2820162" y="4543960"/>
            <a:ext cx="40386" cy="7270"/>
          </a:xfrm>
          <a:prstGeom prst="line">
            <a:avLst/>
          </a:prstGeom>
          <a:noFill/>
          <a:ln w="28575">
            <a:solidFill>
              <a:srgbClr val="8E44AD"/>
            </a:solidFill>
            <a:prstDash val="solid"/>
          </a:ln>
        </p:spPr>
      </p:sp>
      <p:sp>
        <p:nvSpPr>
          <p:cNvPr id="383" name="Shape 381"/>
          <p:cNvSpPr/>
          <p:nvPr/>
        </p:nvSpPr>
        <p:spPr>
          <a:xfrm flipV="1">
            <a:off x="2860548" y="4536697"/>
            <a:ext cx="40386" cy="7263"/>
          </a:xfrm>
          <a:prstGeom prst="line">
            <a:avLst/>
          </a:prstGeom>
          <a:noFill/>
          <a:ln w="28575">
            <a:solidFill>
              <a:srgbClr val="8E44AD"/>
            </a:solidFill>
            <a:prstDash val="solid"/>
          </a:ln>
        </p:spPr>
      </p:sp>
      <p:sp>
        <p:nvSpPr>
          <p:cNvPr id="384" name="Shape 382"/>
          <p:cNvSpPr/>
          <p:nvPr/>
        </p:nvSpPr>
        <p:spPr>
          <a:xfrm flipV="1">
            <a:off x="2900934" y="4529455"/>
            <a:ext cx="40386" cy="7242"/>
          </a:xfrm>
          <a:prstGeom prst="line">
            <a:avLst/>
          </a:prstGeom>
          <a:noFill/>
          <a:ln w="28575">
            <a:solidFill>
              <a:srgbClr val="8E44AD"/>
            </a:solidFill>
            <a:prstDash val="solid"/>
          </a:ln>
        </p:spPr>
      </p:sp>
      <p:sp>
        <p:nvSpPr>
          <p:cNvPr id="385" name="Shape 383"/>
          <p:cNvSpPr/>
          <p:nvPr/>
        </p:nvSpPr>
        <p:spPr>
          <a:xfrm flipV="1">
            <a:off x="2941320" y="4522245"/>
            <a:ext cx="40386" cy="7210"/>
          </a:xfrm>
          <a:prstGeom prst="line">
            <a:avLst/>
          </a:prstGeom>
          <a:noFill/>
          <a:ln w="28575">
            <a:solidFill>
              <a:srgbClr val="8E44AD"/>
            </a:solidFill>
            <a:prstDash val="solid"/>
          </a:ln>
        </p:spPr>
      </p:sp>
      <p:sp>
        <p:nvSpPr>
          <p:cNvPr id="386" name="Shape 384"/>
          <p:cNvSpPr/>
          <p:nvPr/>
        </p:nvSpPr>
        <p:spPr>
          <a:xfrm flipV="1">
            <a:off x="2981706" y="4515079"/>
            <a:ext cx="40386" cy="7166"/>
          </a:xfrm>
          <a:prstGeom prst="line">
            <a:avLst/>
          </a:prstGeom>
          <a:noFill/>
          <a:ln w="28575">
            <a:solidFill>
              <a:srgbClr val="8E44AD"/>
            </a:solidFill>
            <a:prstDash val="solid"/>
          </a:ln>
        </p:spPr>
      </p:sp>
      <p:sp>
        <p:nvSpPr>
          <p:cNvPr id="387" name="Shape 385"/>
          <p:cNvSpPr/>
          <p:nvPr/>
        </p:nvSpPr>
        <p:spPr>
          <a:xfrm flipV="1">
            <a:off x="3022092" y="4507968"/>
            <a:ext cx="40386" cy="7111"/>
          </a:xfrm>
          <a:prstGeom prst="line">
            <a:avLst/>
          </a:prstGeom>
          <a:noFill/>
          <a:ln w="28575">
            <a:solidFill>
              <a:srgbClr val="8E44AD"/>
            </a:solidFill>
            <a:prstDash val="solid"/>
          </a:ln>
        </p:spPr>
      </p:sp>
      <p:sp>
        <p:nvSpPr>
          <p:cNvPr id="388" name="Shape 386"/>
          <p:cNvSpPr/>
          <p:nvPr/>
        </p:nvSpPr>
        <p:spPr>
          <a:xfrm flipV="1">
            <a:off x="3062478" y="4500921"/>
            <a:ext cx="40386" cy="7047"/>
          </a:xfrm>
          <a:prstGeom prst="line">
            <a:avLst/>
          </a:prstGeom>
          <a:noFill/>
          <a:ln w="28575">
            <a:solidFill>
              <a:srgbClr val="8E44AD"/>
            </a:solidFill>
            <a:prstDash val="solid"/>
          </a:ln>
        </p:spPr>
      </p:sp>
      <p:sp>
        <p:nvSpPr>
          <p:cNvPr id="389" name="Shape 387"/>
          <p:cNvSpPr/>
          <p:nvPr/>
        </p:nvSpPr>
        <p:spPr>
          <a:xfrm flipV="1">
            <a:off x="3102864" y="4493946"/>
            <a:ext cx="40386" cy="6975"/>
          </a:xfrm>
          <a:prstGeom prst="line">
            <a:avLst/>
          </a:prstGeom>
          <a:noFill/>
          <a:ln w="28575">
            <a:solidFill>
              <a:srgbClr val="8E44AD"/>
            </a:solidFill>
            <a:prstDash val="solid"/>
          </a:ln>
        </p:spPr>
      </p:sp>
      <p:sp>
        <p:nvSpPr>
          <p:cNvPr id="390" name="Shape 388"/>
          <p:cNvSpPr/>
          <p:nvPr/>
        </p:nvSpPr>
        <p:spPr>
          <a:xfrm flipV="1">
            <a:off x="3143250" y="4487050"/>
            <a:ext cx="40386" cy="6895"/>
          </a:xfrm>
          <a:prstGeom prst="line">
            <a:avLst/>
          </a:prstGeom>
          <a:noFill/>
          <a:ln w="28575">
            <a:solidFill>
              <a:srgbClr val="8E44AD"/>
            </a:solidFill>
            <a:prstDash val="solid"/>
          </a:ln>
        </p:spPr>
      </p:sp>
      <p:sp>
        <p:nvSpPr>
          <p:cNvPr id="391" name="Shape 389"/>
          <p:cNvSpPr/>
          <p:nvPr/>
        </p:nvSpPr>
        <p:spPr>
          <a:xfrm flipV="1">
            <a:off x="3183636" y="4480242"/>
            <a:ext cx="40386" cy="6808"/>
          </a:xfrm>
          <a:prstGeom prst="line">
            <a:avLst/>
          </a:prstGeom>
          <a:noFill/>
          <a:ln w="28575">
            <a:solidFill>
              <a:srgbClr val="8E44AD"/>
            </a:solidFill>
            <a:prstDash val="solid"/>
          </a:ln>
        </p:spPr>
      </p:sp>
      <p:sp>
        <p:nvSpPr>
          <p:cNvPr id="392" name="Shape 390"/>
          <p:cNvSpPr/>
          <p:nvPr/>
        </p:nvSpPr>
        <p:spPr>
          <a:xfrm flipV="1">
            <a:off x="3224022" y="4473527"/>
            <a:ext cx="40386" cy="6715"/>
          </a:xfrm>
          <a:prstGeom prst="line">
            <a:avLst/>
          </a:prstGeom>
          <a:noFill/>
          <a:ln w="28575">
            <a:solidFill>
              <a:srgbClr val="8E44AD"/>
            </a:solidFill>
            <a:prstDash val="solid"/>
          </a:ln>
        </p:spPr>
      </p:sp>
      <p:sp>
        <p:nvSpPr>
          <p:cNvPr id="393" name="Shape 391"/>
          <p:cNvSpPr/>
          <p:nvPr/>
        </p:nvSpPr>
        <p:spPr>
          <a:xfrm flipV="1">
            <a:off x="3264408" y="4466910"/>
            <a:ext cx="40386" cy="6617"/>
          </a:xfrm>
          <a:prstGeom prst="line">
            <a:avLst/>
          </a:prstGeom>
          <a:noFill/>
          <a:ln w="28575">
            <a:solidFill>
              <a:srgbClr val="8E44AD"/>
            </a:solidFill>
            <a:prstDash val="solid"/>
          </a:ln>
        </p:spPr>
      </p:sp>
      <p:sp>
        <p:nvSpPr>
          <p:cNvPr id="394" name="Shape 392"/>
          <p:cNvSpPr/>
          <p:nvPr/>
        </p:nvSpPr>
        <p:spPr>
          <a:xfrm flipV="1">
            <a:off x="3304794" y="4460397"/>
            <a:ext cx="40386" cy="6513"/>
          </a:xfrm>
          <a:prstGeom prst="line">
            <a:avLst/>
          </a:prstGeom>
          <a:noFill/>
          <a:ln w="28575">
            <a:solidFill>
              <a:srgbClr val="8E44AD"/>
            </a:solidFill>
            <a:prstDash val="solid"/>
          </a:ln>
        </p:spPr>
      </p:sp>
      <p:sp>
        <p:nvSpPr>
          <p:cNvPr id="395" name="Shape 393"/>
          <p:cNvSpPr/>
          <p:nvPr/>
        </p:nvSpPr>
        <p:spPr>
          <a:xfrm flipV="1">
            <a:off x="3345180" y="4453993"/>
            <a:ext cx="40386" cy="6405"/>
          </a:xfrm>
          <a:prstGeom prst="line">
            <a:avLst/>
          </a:prstGeom>
          <a:noFill/>
          <a:ln w="28575">
            <a:solidFill>
              <a:srgbClr val="8E44AD"/>
            </a:solidFill>
            <a:prstDash val="solid"/>
          </a:ln>
        </p:spPr>
      </p:sp>
      <p:sp>
        <p:nvSpPr>
          <p:cNvPr id="396" name="Shape 394"/>
          <p:cNvSpPr/>
          <p:nvPr/>
        </p:nvSpPr>
        <p:spPr>
          <a:xfrm flipV="1">
            <a:off x="3385566" y="4447700"/>
            <a:ext cx="40386" cy="6293"/>
          </a:xfrm>
          <a:prstGeom prst="line">
            <a:avLst/>
          </a:prstGeom>
          <a:noFill/>
          <a:ln w="28575">
            <a:solidFill>
              <a:srgbClr val="8E44AD"/>
            </a:solidFill>
            <a:prstDash val="solid"/>
          </a:ln>
        </p:spPr>
      </p:sp>
      <p:sp>
        <p:nvSpPr>
          <p:cNvPr id="397" name="Shape 395"/>
          <p:cNvSpPr/>
          <p:nvPr/>
        </p:nvSpPr>
        <p:spPr>
          <a:xfrm flipV="1">
            <a:off x="3425952" y="4441522"/>
            <a:ext cx="40386" cy="6178"/>
          </a:xfrm>
          <a:prstGeom prst="line">
            <a:avLst/>
          </a:prstGeom>
          <a:noFill/>
          <a:ln w="28575">
            <a:solidFill>
              <a:srgbClr val="8E44AD"/>
            </a:solidFill>
            <a:prstDash val="solid"/>
          </a:ln>
        </p:spPr>
      </p:sp>
      <p:sp>
        <p:nvSpPr>
          <p:cNvPr id="398" name="Shape 396"/>
          <p:cNvSpPr/>
          <p:nvPr/>
        </p:nvSpPr>
        <p:spPr>
          <a:xfrm flipV="1">
            <a:off x="3466338" y="4435462"/>
            <a:ext cx="40386" cy="6059"/>
          </a:xfrm>
          <a:prstGeom prst="line">
            <a:avLst/>
          </a:prstGeom>
          <a:noFill/>
          <a:ln w="28575">
            <a:solidFill>
              <a:srgbClr val="8E44AD"/>
            </a:solidFill>
            <a:prstDash val="solid"/>
          </a:ln>
        </p:spPr>
      </p:sp>
      <p:sp>
        <p:nvSpPr>
          <p:cNvPr id="399" name="Shape 397"/>
          <p:cNvSpPr/>
          <p:nvPr/>
        </p:nvSpPr>
        <p:spPr>
          <a:xfrm flipV="1">
            <a:off x="3506724" y="4429524"/>
            <a:ext cx="40386" cy="5939"/>
          </a:xfrm>
          <a:prstGeom prst="line">
            <a:avLst/>
          </a:prstGeom>
          <a:noFill/>
          <a:ln w="28575">
            <a:solidFill>
              <a:srgbClr val="8E44AD"/>
            </a:solidFill>
            <a:prstDash val="solid"/>
          </a:ln>
        </p:spPr>
      </p:sp>
      <p:sp>
        <p:nvSpPr>
          <p:cNvPr id="400" name="Shape 398"/>
          <p:cNvSpPr/>
          <p:nvPr/>
        </p:nvSpPr>
        <p:spPr>
          <a:xfrm flipV="1">
            <a:off x="3547110" y="4423707"/>
            <a:ext cx="40386" cy="5816"/>
          </a:xfrm>
          <a:prstGeom prst="line">
            <a:avLst/>
          </a:prstGeom>
          <a:noFill/>
          <a:ln w="28575">
            <a:solidFill>
              <a:srgbClr val="8E44AD"/>
            </a:solidFill>
            <a:prstDash val="solid"/>
          </a:ln>
        </p:spPr>
      </p:sp>
      <p:sp>
        <p:nvSpPr>
          <p:cNvPr id="401" name="Shape 399"/>
          <p:cNvSpPr/>
          <p:nvPr/>
        </p:nvSpPr>
        <p:spPr>
          <a:xfrm flipV="1">
            <a:off x="3587496" y="4418016"/>
            <a:ext cx="40386" cy="5692"/>
          </a:xfrm>
          <a:prstGeom prst="line">
            <a:avLst/>
          </a:prstGeom>
          <a:noFill/>
          <a:ln w="28575">
            <a:solidFill>
              <a:srgbClr val="8E44AD"/>
            </a:solidFill>
            <a:prstDash val="solid"/>
          </a:ln>
        </p:spPr>
      </p:sp>
      <p:sp>
        <p:nvSpPr>
          <p:cNvPr id="402" name="Shape 400"/>
          <p:cNvSpPr/>
          <p:nvPr/>
        </p:nvSpPr>
        <p:spPr>
          <a:xfrm flipV="1">
            <a:off x="3627882" y="4412450"/>
            <a:ext cx="40386" cy="5566"/>
          </a:xfrm>
          <a:prstGeom prst="line">
            <a:avLst/>
          </a:prstGeom>
          <a:noFill/>
          <a:ln w="28575">
            <a:solidFill>
              <a:srgbClr val="8E44AD"/>
            </a:solidFill>
            <a:prstDash val="solid"/>
          </a:ln>
        </p:spPr>
      </p:sp>
      <p:sp>
        <p:nvSpPr>
          <p:cNvPr id="403" name="Shape 401"/>
          <p:cNvSpPr/>
          <p:nvPr/>
        </p:nvSpPr>
        <p:spPr>
          <a:xfrm flipV="1">
            <a:off x="3668268" y="4407010"/>
            <a:ext cx="40386" cy="5439"/>
          </a:xfrm>
          <a:prstGeom prst="line">
            <a:avLst/>
          </a:prstGeom>
          <a:noFill/>
          <a:ln w="28575">
            <a:solidFill>
              <a:srgbClr val="8E44AD"/>
            </a:solidFill>
            <a:prstDash val="solid"/>
          </a:ln>
        </p:spPr>
      </p:sp>
      <p:sp>
        <p:nvSpPr>
          <p:cNvPr id="404" name="Shape 402"/>
          <p:cNvSpPr/>
          <p:nvPr/>
        </p:nvSpPr>
        <p:spPr>
          <a:xfrm flipV="1">
            <a:off x="3708654" y="4401699"/>
            <a:ext cx="40386" cy="5312"/>
          </a:xfrm>
          <a:prstGeom prst="line">
            <a:avLst/>
          </a:prstGeom>
          <a:noFill/>
          <a:ln w="28575">
            <a:solidFill>
              <a:srgbClr val="8E44AD"/>
            </a:solidFill>
            <a:prstDash val="solid"/>
          </a:ln>
        </p:spPr>
      </p:sp>
      <p:sp>
        <p:nvSpPr>
          <p:cNvPr id="405" name="Shape 403"/>
          <p:cNvSpPr/>
          <p:nvPr/>
        </p:nvSpPr>
        <p:spPr>
          <a:xfrm flipV="1">
            <a:off x="3749040" y="4396515"/>
            <a:ext cx="40386" cy="5184"/>
          </a:xfrm>
          <a:prstGeom prst="line">
            <a:avLst/>
          </a:prstGeom>
          <a:noFill/>
          <a:ln w="28575">
            <a:solidFill>
              <a:srgbClr val="8E44AD"/>
            </a:solidFill>
            <a:prstDash val="solid"/>
          </a:ln>
        </p:spPr>
      </p:sp>
      <p:sp>
        <p:nvSpPr>
          <p:cNvPr id="406" name="Shape 404"/>
          <p:cNvSpPr/>
          <p:nvPr/>
        </p:nvSpPr>
        <p:spPr>
          <a:xfrm flipV="1">
            <a:off x="3789426" y="4391460"/>
            <a:ext cx="40386" cy="5055"/>
          </a:xfrm>
          <a:prstGeom prst="line">
            <a:avLst/>
          </a:prstGeom>
          <a:noFill/>
          <a:ln w="28575">
            <a:solidFill>
              <a:srgbClr val="8E44AD"/>
            </a:solidFill>
            <a:prstDash val="solid"/>
          </a:ln>
        </p:spPr>
      </p:sp>
      <p:sp>
        <p:nvSpPr>
          <p:cNvPr id="407" name="Shape 405"/>
          <p:cNvSpPr/>
          <p:nvPr/>
        </p:nvSpPr>
        <p:spPr>
          <a:xfrm flipV="1">
            <a:off x="3829812" y="4386533"/>
            <a:ext cx="40386" cy="4927"/>
          </a:xfrm>
          <a:prstGeom prst="line">
            <a:avLst/>
          </a:prstGeom>
          <a:noFill/>
          <a:ln w="28575">
            <a:solidFill>
              <a:srgbClr val="8E44AD"/>
            </a:solidFill>
            <a:prstDash val="solid"/>
          </a:ln>
        </p:spPr>
      </p:sp>
      <p:sp>
        <p:nvSpPr>
          <p:cNvPr id="408" name="Shape 406"/>
          <p:cNvSpPr/>
          <p:nvPr/>
        </p:nvSpPr>
        <p:spPr>
          <a:xfrm flipV="1">
            <a:off x="3870198" y="4381734"/>
            <a:ext cx="40386" cy="4799"/>
          </a:xfrm>
          <a:prstGeom prst="line">
            <a:avLst/>
          </a:prstGeom>
          <a:noFill/>
          <a:ln w="28575">
            <a:solidFill>
              <a:srgbClr val="8E44AD"/>
            </a:solidFill>
            <a:prstDash val="solid"/>
          </a:ln>
        </p:spPr>
      </p:sp>
      <p:sp>
        <p:nvSpPr>
          <p:cNvPr id="409" name="Shape 407"/>
          <p:cNvSpPr/>
          <p:nvPr/>
        </p:nvSpPr>
        <p:spPr>
          <a:xfrm flipV="1">
            <a:off x="3910584" y="4377063"/>
            <a:ext cx="40386" cy="4671"/>
          </a:xfrm>
          <a:prstGeom prst="line">
            <a:avLst/>
          </a:prstGeom>
          <a:noFill/>
          <a:ln w="28575">
            <a:solidFill>
              <a:srgbClr val="8E44AD"/>
            </a:solidFill>
            <a:prstDash val="solid"/>
          </a:ln>
        </p:spPr>
      </p:sp>
      <p:sp>
        <p:nvSpPr>
          <p:cNvPr id="410" name="Shape 408"/>
          <p:cNvSpPr/>
          <p:nvPr/>
        </p:nvSpPr>
        <p:spPr>
          <a:xfrm flipV="1">
            <a:off x="3950970" y="4372519"/>
            <a:ext cx="40386" cy="4544"/>
          </a:xfrm>
          <a:prstGeom prst="line">
            <a:avLst/>
          </a:prstGeom>
          <a:noFill/>
          <a:ln w="28575">
            <a:solidFill>
              <a:srgbClr val="8E44AD"/>
            </a:solidFill>
            <a:prstDash val="solid"/>
          </a:ln>
        </p:spPr>
      </p:sp>
      <p:sp>
        <p:nvSpPr>
          <p:cNvPr id="411" name="Shape 409"/>
          <p:cNvSpPr/>
          <p:nvPr/>
        </p:nvSpPr>
        <p:spPr>
          <a:xfrm flipV="1">
            <a:off x="3991356" y="4368101"/>
            <a:ext cx="40386" cy="4418"/>
          </a:xfrm>
          <a:prstGeom prst="line">
            <a:avLst/>
          </a:prstGeom>
          <a:noFill/>
          <a:ln w="28575">
            <a:solidFill>
              <a:srgbClr val="8E44AD"/>
            </a:solidFill>
            <a:prstDash val="solid"/>
          </a:ln>
        </p:spPr>
      </p:sp>
      <p:sp>
        <p:nvSpPr>
          <p:cNvPr id="412" name="Shape 410"/>
          <p:cNvSpPr/>
          <p:nvPr/>
        </p:nvSpPr>
        <p:spPr>
          <a:xfrm flipV="1">
            <a:off x="4031742" y="4363808"/>
            <a:ext cx="40386" cy="4292"/>
          </a:xfrm>
          <a:prstGeom prst="line">
            <a:avLst/>
          </a:prstGeom>
          <a:noFill/>
          <a:ln w="28575">
            <a:solidFill>
              <a:srgbClr val="8E44AD"/>
            </a:solidFill>
            <a:prstDash val="solid"/>
          </a:ln>
        </p:spPr>
      </p:sp>
      <p:sp>
        <p:nvSpPr>
          <p:cNvPr id="413" name="Shape 411"/>
          <p:cNvSpPr/>
          <p:nvPr/>
        </p:nvSpPr>
        <p:spPr>
          <a:xfrm flipV="1">
            <a:off x="4072128" y="4359641"/>
            <a:ext cx="40386" cy="4168"/>
          </a:xfrm>
          <a:prstGeom prst="line">
            <a:avLst/>
          </a:prstGeom>
          <a:noFill/>
          <a:ln w="28575">
            <a:solidFill>
              <a:srgbClr val="8E44AD"/>
            </a:solidFill>
            <a:prstDash val="solid"/>
          </a:ln>
        </p:spPr>
      </p:sp>
      <p:sp>
        <p:nvSpPr>
          <p:cNvPr id="414" name="Shape 412"/>
          <p:cNvSpPr/>
          <p:nvPr/>
        </p:nvSpPr>
        <p:spPr>
          <a:xfrm flipV="1">
            <a:off x="4112514" y="4355596"/>
            <a:ext cx="40386" cy="4044"/>
          </a:xfrm>
          <a:prstGeom prst="line">
            <a:avLst/>
          </a:prstGeom>
          <a:noFill/>
          <a:ln w="28575">
            <a:solidFill>
              <a:srgbClr val="8E44AD"/>
            </a:solidFill>
            <a:prstDash val="solid"/>
          </a:ln>
        </p:spPr>
      </p:sp>
      <p:sp>
        <p:nvSpPr>
          <p:cNvPr id="415" name="Shape 413"/>
          <p:cNvSpPr/>
          <p:nvPr/>
        </p:nvSpPr>
        <p:spPr>
          <a:xfrm flipV="1">
            <a:off x="4152900" y="4351674"/>
            <a:ext cx="40386" cy="3922"/>
          </a:xfrm>
          <a:prstGeom prst="line">
            <a:avLst/>
          </a:prstGeom>
          <a:noFill/>
          <a:ln w="28575">
            <a:solidFill>
              <a:srgbClr val="8E44AD"/>
            </a:solidFill>
            <a:prstDash val="solid"/>
          </a:ln>
        </p:spPr>
      </p:sp>
      <p:sp>
        <p:nvSpPr>
          <p:cNvPr id="416" name="Shape 414"/>
          <p:cNvSpPr/>
          <p:nvPr/>
        </p:nvSpPr>
        <p:spPr>
          <a:xfrm flipV="1">
            <a:off x="4193286" y="4347872"/>
            <a:ext cx="40386" cy="3802"/>
          </a:xfrm>
          <a:prstGeom prst="line">
            <a:avLst/>
          </a:prstGeom>
          <a:noFill/>
          <a:ln w="28575">
            <a:solidFill>
              <a:srgbClr val="8E44AD"/>
            </a:solidFill>
            <a:prstDash val="solid"/>
          </a:ln>
        </p:spPr>
      </p:sp>
      <p:sp>
        <p:nvSpPr>
          <p:cNvPr id="417" name="Shape 415"/>
          <p:cNvSpPr/>
          <p:nvPr/>
        </p:nvSpPr>
        <p:spPr>
          <a:xfrm flipV="1">
            <a:off x="4233672" y="4344190"/>
            <a:ext cx="40386" cy="3682"/>
          </a:xfrm>
          <a:prstGeom prst="line">
            <a:avLst/>
          </a:prstGeom>
          <a:noFill/>
          <a:ln w="28575">
            <a:solidFill>
              <a:srgbClr val="8E44AD"/>
            </a:solidFill>
            <a:prstDash val="solid"/>
          </a:ln>
        </p:spPr>
      </p:sp>
      <p:sp>
        <p:nvSpPr>
          <p:cNvPr id="418" name="Shape 416"/>
          <p:cNvSpPr/>
          <p:nvPr/>
        </p:nvSpPr>
        <p:spPr>
          <a:xfrm flipV="1">
            <a:off x="4274058" y="4340625"/>
            <a:ext cx="40386" cy="3565"/>
          </a:xfrm>
          <a:prstGeom prst="line">
            <a:avLst/>
          </a:prstGeom>
          <a:noFill/>
          <a:ln w="28575">
            <a:solidFill>
              <a:srgbClr val="8E44AD"/>
            </a:solidFill>
            <a:prstDash val="solid"/>
          </a:ln>
        </p:spPr>
      </p:sp>
      <p:sp>
        <p:nvSpPr>
          <p:cNvPr id="419" name="Shape 417"/>
          <p:cNvSpPr/>
          <p:nvPr/>
        </p:nvSpPr>
        <p:spPr>
          <a:xfrm flipV="1">
            <a:off x="4314444" y="4337177"/>
            <a:ext cx="40386" cy="3448"/>
          </a:xfrm>
          <a:prstGeom prst="line">
            <a:avLst/>
          </a:prstGeom>
          <a:noFill/>
          <a:ln w="28575">
            <a:solidFill>
              <a:srgbClr val="8E44AD"/>
            </a:solidFill>
            <a:prstDash val="solid"/>
          </a:ln>
        </p:spPr>
      </p:sp>
      <p:sp>
        <p:nvSpPr>
          <p:cNvPr id="420" name="Shape 418"/>
          <p:cNvSpPr/>
          <p:nvPr/>
        </p:nvSpPr>
        <p:spPr>
          <a:xfrm flipV="1">
            <a:off x="4354830" y="4333843"/>
            <a:ext cx="40386" cy="3334"/>
          </a:xfrm>
          <a:prstGeom prst="line">
            <a:avLst/>
          </a:prstGeom>
          <a:noFill/>
          <a:ln w="28575">
            <a:solidFill>
              <a:srgbClr val="8E44AD"/>
            </a:solidFill>
            <a:prstDash val="solid"/>
          </a:ln>
        </p:spPr>
      </p:sp>
      <p:sp>
        <p:nvSpPr>
          <p:cNvPr id="421" name="Shape 419"/>
          <p:cNvSpPr/>
          <p:nvPr/>
        </p:nvSpPr>
        <p:spPr>
          <a:xfrm flipV="1">
            <a:off x="4395216" y="4330622"/>
            <a:ext cx="40386" cy="3221"/>
          </a:xfrm>
          <a:prstGeom prst="line">
            <a:avLst/>
          </a:prstGeom>
          <a:noFill/>
          <a:ln w="28575">
            <a:solidFill>
              <a:srgbClr val="8E44AD"/>
            </a:solidFill>
            <a:prstDash val="solid"/>
          </a:ln>
        </p:spPr>
      </p:sp>
      <p:sp>
        <p:nvSpPr>
          <p:cNvPr id="422" name="Shape 420"/>
          <p:cNvSpPr/>
          <p:nvPr/>
        </p:nvSpPr>
        <p:spPr>
          <a:xfrm flipV="1">
            <a:off x="4435602" y="4327513"/>
            <a:ext cx="40386" cy="3110"/>
          </a:xfrm>
          <a:prstGeom prst="line">
            <a:avLst/>
          </a:prstGeom>
          <a:noFill/>
          <a:ln w="28575">
            <a:solidFill>
              <a:srgbClr val="8E44AD"/>
            </a:solidFill>
            <a:prstDash val="solid"/>
          </a:ln>
        </p:spPr>
      </p:sp>
      <p:sp>
        <p:nvSpPr>
          <p:cNvPr id="423" name="Shape 421"/>
          <p:cNvSpPr/>
          <p:nvPr/>
        </p:nvSpPr>
        <p:spPr>
          <a:xfrm flipV="1">
            <a:off x="4475988" y="4324512"/>
            <a:ext cx="40386" cy="3000"/>
          </a:xfrm>
          <a:prstGeom prst="line">
            <a:avLst/>
          </a:prstGeom>
          <a:noFill/>
          <a:ln w="28575">
            <a:solidFill>
              <a:srgbClr val="8E44AD"/>
            </a:solidFill>
            <a:prstDash val="solid"/>
          </a:ln>
        </p:spPr>
      </p:sp>
      <p:sp>
        <p:nvSpPr>
          <p:cNvPr id="424" name="Shape 422"/>
          <p:cNvSpPr/>
          <p:nvPr/>
        </p:nvSpPr>
        <p:spPr>
          <a:xfrm flipV="1">
            <a:off x="4516374" y="4321619"/>
            <a:ext cx="40386" cy="2893"/>
          </a:xfrm>
          <a:prstGeom prst="line">
            <a:avLst/>
          </a:prstGeom>
          <a:noFill/>
          <a:ln w="28575">
            <a:solidFill>
              <a:srgbClr val="8E44AD"/>
            </a:solidFill>
            <a:prstDash val="solid"/>
          </a:ln>
        </p:spPr>
      </p:sp>
      <p:sp>
        <p:nvSpPr>
          <p:cNvPr id="425" name="Shape 423"/>
          <p:cNvSpPr/>
          <p:nvPr/>
        </p:nvSpPr>
        <p:spPr>
          <a:xfrm flipV="1">
            <a:off x="4556760" y="4318832"/>
            <a:ext cx="40386" cy="2787"/>
          </a:xfrm>
          <a:prstGeom prst="line">
            <a:avLst/>
          </a:prstGeom>
          <a:noFill/>
          <a:ln w="28575">
            <a:solidFill>
              <a:srgbClr val="8E44AD"/>
            </a:solidFill>
            <a:prstDash val="solid"/>
          </a:ln>
        </p:spPr>
      </p:sp>
      <p:sp>
        <p:nvSpPr>
          <p:cNvPr id="426" name="Shape 424"/>
          <p:cNvSpPr/>
          <p:nvPr/>
        </p:nvSpPr>
        <p:spPr>
          <a:xfrm flipV="1">
            <a:off x="4597146" y="4316149"/>
            <a:ext cx="40386" cy="2683"/>
          </a:xfrm>
          <a:prstGeom prst="line">
            <a:avLst/>
          </a:prstGeom>
          <a:noFill/>
          <a:ln w="28575">
            <a:solidFill>
              <a:srgbClr val="8E44AD"/>
            </a:solidFill>
            <a:prstDash val="solid"/>
          </a:ln>
        </p:spPr>
      </p:sp>
      <p:sp>
        <p:nvSpPr>
          <p:cNvPr id="427" name="Shape 425"/>
          <p:cNvSpPr/>
          <p:nvPr/>
        </p:nvSpPr>
        <p:spPr>
          <a:xfrm flipV="1">
            <a:off x="4637532" y="4313567"/>
            <a:ext cx="40386" cy="2581"/>
          </a:xfrm>
          <a:prstGeom prst="line">
            <a:avLst/>
          </a:prstGeom>
          <a:noFill/>
          <a:ln w="28575">
            <a:solidFill>
              <a:srgbClr val="8E44AD"/>
            </a:solidFill>
            <a:prstDash val="solid"/>
          </a:ln>
        </p:spPr>
      </p:sp>
      <p:sp>
        <p:nvSpPr>
          <p:cNvPr id="428" name="Shape 426"/>
          <p:cNvSpPr/>
          <p:nvPr/>
        </p:nvSpPr>
        <p:spPr>
          <a:xfrm flipV="1">
            <a:off x="4677918" y="4311086"/>
            <a:ext cx="40386" cy="2481"/>
          </a:xfrm>
          <a:prstGeom prst="line">
            <a:avLst/>
          </a:prstGeom>
          <a:noFill/>
          <a:ln w="28575">
            <a:solidFill>
              <a:srgbClr val="8E44AD"/>
            </a:solidFill>
            <a:prstDash val="solid"/>
          </a:ln>
        </p:spPr>
      </p:sp>
      <p:sp>
        <p:nvSpPr>
          <p:cNvPr id="429" name="Shape 427"/>
          <p:cNvSpPr/>
          <p:nvPr/>
        </p:nvSpPr>
        <p:spPr>
          <a:xfrm flipV="1">
            <a:off x="4718304" y="4308703"/>
            <a:ext cx="40386" cy="2383"/>
          </a:xfrm>
          <a:prstGeom prst="line">
            <a:avLst/>
          </a:prstGeom>
          <a:noFill/>
          <a:ln w="28575">
            <a:solidFill>
              <a:srgbClr val="8E44AD"/>
            </a:solidFill>
            <a:prstDash val="solid"/>
          </a:ln>
        </p:spPr>
      </p:sp>
      <p:sp>
        <p:nvSpPr>
          <p:cNvPr id="430" name="Shape 428"/>
          <p:cNvSpPr/>
          <p:nvPr/>
        </p:nvSpPr>
        <p:spPr>
          <a:xfrm flipV="1">
            <a:off x="4758690" y="4306415"/>
            <a:ext cx="40386" cy="2287"/>
          </a:xfrm>
          <a:prstGeom prst="line">
            <a:avLst/>
          </a:prstGeom>
          <a:noFill/>
          <a:ln w="28575">
            <a:solidFill>
              <a:srgbClr val="8E44AD"/>
            </a:solidFill>
            <a:prstDash val="solid"/>
          </a:ln>
        </p:spPr>
      </p:sp>
      <p:sp>
        <p:nvSpPr>
          <p:cNvPr id="431" name="Shape 429"/>
          <p:cNvSpPr/>
          <p:nvPr/>
        </p:nvSpPr>
        <p:spPr>
          <a:xfrm flipV="1">
            <a:off x="4799076" y="4304222"/>
            <a:ext cx="40386" cy="2193"/>
          </a:xfrm>
          <a:prstGeom prst="line">
            <a:avLst/>
          </a:prstGeom>
          <a:noFill/>
          <a:ln w="28575">
            <a:solidFill>
              <a:srgbClr val="8E44AD"/>
            </a:solidFill>
            <a:prstDash val="solid"/>
          </a:ln>
        </p:spPr>
      </p:sp>
      <p:sp>
        <p:nvSpPr>
          <p:cNvPr id="432" name="Shape 430"/>
          <p:cNvSpPr/>
          <p:nvPr/>
        </p:nvSpPr>
        <p:spPr>
          <a:xfrm flipV="1">
            <a:off x="4839462" y="4302122"/>
            <a:ext cx="40386" cy="2101"/>
          </a:xfrm>
          <a:prstGeom prst="line">
            <a:avLst/>
          </a:prstGeom>
          <a:noFill/>
          <a:ln w="28575">
            <a:solidFill>
              <a:srgbClr val="8E44AD"/>
            </a:solidFill>
            <a:prstDash val="solid"/>
          </a:ln>
        </p:spPr>
      </p:sp>
      <p:sp>
        <p:nvSpPr>
          <p:cNvPr id="433" name="Shape 431"/>
          <p:cNvSpPr/>
          <p:nvPr/>
        </p:nvSpPr>
        <p:spPr>
          <a:xfrm flipV="1">
            <a:off x="4879848" y="4300112"/>
            <a:ext cx="40386" cy="2010"/>
          </a:xfrm>
          <a:prstGeom prst="line">
            <a:avLst/>
          </a:prstGeom>
          <a:noFill/>
          <a:ln w="28575">
            <a:solidFill>
              <a:srgbClr val="8E44AD"/>
            </a:solidFill>
            <a:prstDash val="solid"/>
          </a:ln>
        </p:spPr>
      </p:sp>
      <p:sp>
        <p:nvSpPr>
          <p:cNvPr id="434" name="Shape 432"/>
          <p:cNvSpPr/>
          <p:nvPr/>
        </p:nvSpPr>
        <p:spPr>
          <a:xfrm flipV="1">
            <a:off x="4920234" y="4298190"/>
            <a:ext cx="40386" cy="1922"/>
          </a:xfrm>
          <a:prstGeom prst="line">
            <a:avLst/>
          </a:prstGeom>
          <a:noFill/>
          <a:ln w="28575">
            <a:solidFill>
              <a:srgbClr val="8E44AD"/>
            </a:solidFill>
            <a:prstDash val="solid"/>
          </a:ln>
        </p:spPr>
      </p:sp>
      <p:sp>
        <p:nvSpPr>
          <p:cNvPr id="435" name="Shape 433"/>
          <p:cNvSpPr/>
          <p:nvPr/>
        </p:nvSpPr>
        <p:spPr>
          <a:xfrm flipV="1">
            <a:off x="4960620" y="4296355"/>
            <a:ext cx="40386" cy="1835"/>
          </a:xfrm>
          <a:prstGeom prst="line">
            <a:avLst/>
          </a:prstGeom>
          <a:noFill/>
          <a:ln w="28575">
            <a:solidFill>
              <a:srgbClr val="8E44AD"/>
            </a:solidFill>
            <a:prstDash val="solid"/>
          </a:ln>
        </p:spPr>
      </p:sp>
      <p:sp>
        <p:nvSpPr>
          <p:cNvPr id="436" name="Shape 434"/>
          <p:cNvSpPr/>
          <p:nvPr/>
        </p:nvSpPr>
        <p:spPr>
          <a:xfrm flipV="1">
            <a:off x="5001006" y="4294605"/>
            <a:ext cx="40386" cy="1750"/>
          </a:xfrm>
          <a:prstGeom prst="line">
            <a:avLst/>
          </a:prstGeom>
          <a:noFill/>
          <a:ln w="28575">
            <a:solidFill>
              <a:srgbClr val="8E44AD"/>
            </a:solidFill>
            <a:prstDash val="solid"/>
          </a:ln>
        </p:spPr>
      </p:sp>
      <p:sp>
        <p:nvSpPr>
          <p:cNvPr id="437" name="Shape 435"/>
          <p:cNvSpPr/>
          <p:nvPr/>
        </p:nvSpPr>
        <p:spPr>
          <a:xfrm flipV="1">
            <a:off x="5041392" y="4292938"/>
            <a:ext cx="40386" cy="1667"/>
          </a:xfrm>
          <a:prstGeom prst="line">
            <a:avLst/>
          </a:prstGeom>
          <a:noFill/>
          <a:ln w="28575">
            <a:solidFill>
              <a:srgbClr val="8E44AD"/>
            </a:solidFill>
            <a:prstDash val="solid"/>
          </a:ln>
        </p:spPr>
      </p:sp>
      <p:sp>
        <p:nvSpPr>
          <p:cNvPr id="438" name="Shape 436"/>
          <p:cNvSpPr/>
          <p:nvPr/>
        </p:nvSpPr>
        <p:spPr>
          <a:xfrm flipV="1">
            <a:off x="5081778" y="4291351"/>
            <a:ext cx="40386" cy="1586"/>
          </a:xfrm>
          <a:prstGeom prst="line">
            <a:avLst/>
          </a:prstGeom>
          <a:noFill/>
          <a:ln w="28575">
            <a:solidFill>
              <a:srgbClr val="8E44AD"/>
            </a:solidFill>
            <a:prstDash val="solid"/>
          </a:ln>
        </p:spPr>
      </p:sp>
      <p:sp>
        <p:nvSpPr>
          <p:cNvPr id="439" name="Shape 437"/>
          <p:cNvSpPr/>
          <p:nvPr/>
        </p:nvSpPr>
        <p:spPr>
          <a:xfrm flipV="1">
            <a:off x="5122164" y="4289844"/>
            <a:ext cx="40386" cy="1507"/>
          </a:xfrm>
          <a:prstGeom prst="line">
            <a:avLst/>
          </a:prstGeom>
          <a:noFill/>
          <a:ln w="28575">
            <a:solidFill>
              <a:srgbClr val="8E44AD"/>
            </a:solidFill>
            <a:prstDash val="solid"/>
          </a:ln>
        </p:spPr>
      </p:sp>
      <p:sp>
        <p:nvSpPr>
          <p:cNvPr id="440" name="Shape 438"/>
          <p:cNvSpPr/>
          <p:nvPr/>
        </p:nvSpPr>
        <p:spPr>
          <a:xfrm flipV="1">
            <a:off x="5162550" y="4288414"/>
            <a:ext cx="40386" cy="1430"/>
          </a:xfrm>
          <a:prstGeom prst="line">
            <a:avLst/>
          </a:prstGeom>
          <a:noFill/>
          <a:ln w="28575">
            <a:solidFill>
              <a:srgbClr val="8E44AD"/>
            </a:solidFill>
            <a:prstDash val="solid"/>
          </a:ln>
        </p:spPr>
      </p:sp>
      <p:sp>
        <p:nvSpPr>
          <p:cNvPr id="441" name="Shape 439"/>
          <p:cNvSpPr/>
          <p:nvPr/>
        </p:nvSpPr>
        <p:spPr>
          <a:xfrm flipV="1">
            <a:off x="5202936" y="4287059"/>
            <a:ext cx="40386" cy="1354"/>
          </a:xfrm>
          <a:prstGeom prst="line">
            <a:avLst/>
          </a:prstGeom>
          <a:noFill/>
          <a:ln w="28575">
            <a:solidFill>
              <a:srgbClr val="8E44AD"/>
            </a:solidFill>
            <a:prstDash val="solid"/>
          </a:ln>
        </p:spPr>
      </p:sp>
      <p:sp>
        <p:nvSpPr>
          <p:cNvPr id="442" name="Shape 440"/>
          <p:cNvSpPr/>
          <p:nvPr/>
        </p:nvSpPr>
        <p:spPr>
          <a:xfrm flipV="1">
            <a:off x="5243322" y="4285779"/>
            <a:ext cx="40386" cy="1281"/>
          </a:xfrm>
          <a:prstGeom prst="line">
            <a:avLst/>
          </a:prstGeom>
          <a:noFill/>
          <a:ln w="28575">
            <a:solidFill>
              <a:srgbClr val="8E44AD"/>
            </a:solidFill>
            <a:prstDash val="solid"/>
          </a:ln>
        </p:spPr>
      </p:sp>
      <p:sp>
        <p:nvSpPr>
          <p:cNvPr id="443" name="Shape 441"/>
          <p:cNvSpPr/>
          <p:nvPr/>
        </p:nvSpPr>
        <p:spPr>
          <a:xfrm flipV="1">
            <a:off x="5283708" y="4284570"/>
            <a:ext cx="40386" cy="1209"/>
          </a:xfrm>
          <a:prstGeom prst="line">
            <a:avLst/>
          </a:prstGeom>
          <a:noFill/>
          <a:ln w="28575">
            <a:solidFill>
              <a:srgbClr val="8E44AD"/>
            </a:solidFill>
            <a:prstDash val="solid"/>
          </a:ln>
        </p:spPr>
      </p:sp>
      <p:sp>
        <p:nvSpPr>
          <p:cNvPr id="444" name="Shape 442"/>
          <p:cNvSpPr/>
          <p:nvPr/>
        </p:nvSpPr>
        <p:spPr>
          <a:xfrm flipV="1">
            <a:off x="5324094" y="4283432"/>
            <a:ext cx="40386" cy="1138"/>
          </a:xfrm>
          <a:prstGeom prst="line">
            <a:avLst/>
          </a:prstGeom>
          <a:noFill/>
          <a:ln w="28575">
            <a:solidFill>
              <a:srgbClr val="8E44AD"/>
            </a:solidFill>
            <a:prstDash val="solid"/>
          </a:ln>
        </p:spPr>
      </p:sp>
      <p:sp>
        <p:nvSpPr>
          <p:cNvPr id="445" name="Shape 443"/>
          <p:cNvSpPr/>
          <p:nvPr/>
        </p:nvSpPr>
        <p:spPr>
          <a:xfrm flipV="1">
            <a:off x="5364480" y="4282362"/>
            <a:ext cx="40386" cy="1070"/>
          </a:xfrm>
          <a:prstGeom prst="line">
            <a:avLst/>
          </a:prstGeom>
          <a:noFill/>
          <a:ln w="28575">
            <a:solidFill>
              <a:srgbClr val="8E44AD"/>
            </a:solidFill>
            <a:prstDash val="solid"/>
          </a:ln>
        </p:spPr>
      </p:sp>
      <p:sp>
        <p:nvSpPr>
          <p:cNvPr id="446" name="Shape 444"/>
          <p:cNvSpPr/>
          <p:nvPr/>
        </p:nvSpPr>
        <p:spPr>
          <a:xfrm flipV="1">
            <a:off x="5404866" y="4281359"/>
            <a:ext cx="40386" cy="1003"/>
          </a:xfrm>
          <a:prstGeom prst="line">
            <a:avLst/>
          </a:prstGeom>
          <a:noFill/>
          <a:ln w="28575">
            <a:solidFill>
              <a:srgbClr val="8E44AD"/>
            </a:solidFill>
            <a:prstDash val="solid"/>
          </a:ln>
        </p:spPr>
      </p:sp>
      <p:sp>
        <p:nvSpPr>
          <p:cNvPr id="447" name="Shape 445"/>
          <p:cNvSpPr/>
          <p:nvPr/>
        </p:nvSpPr>
        <p:spPr>
          <a:xfrm flipV="1">
            <a:off x="5445252" y="4280421"/>
            <a:ext cx="40386" cy="938"/>
          </a:xfrm>
          <a:prstGeom prst="line">
            <a:avLst/>
          </a:prstGeom>
          <a:noFill/>
          <a:ln w="28575">
            <a:solidFill>
              <a:srgbClr val="8E44AD"/>
            </a:solidFill>
            <a:prstDash val="solid"/>
          </a:ln>
        </p:spPr>
      </p:sp>
      <p:sp>
        <p:nvSpPr>
          <p:cNvPr id="448" name="Shape 446"/>
          <p:cNvSpPr/>
          <p:nvPr/>
        </p:nvSpPr>
        <p:spPr>
          <a:xfrm flipV="1">
            <a:off x="5485638" y="4279546"/>
            <a:ext cx="40386" cy="874"/>
          </a:xfrm>
          <a:prstGeom prst="line">
            <a:avLst/>
          </a:prstGeom>
          <a:noFill/>
          <a:ln w="28575">
            <a:solidFill>
              <a:srgbClr val="8E44AD"/>
            </a:solidFill>
            <a:prstDash val="solid"/>
          </a:ln>
        </p:spPr>
      </p:sp>
      <p:sp>
        <p:nvSpPr>
          <p:cNvPr id="449" name="Shape 447"/>
          <p:cNvSpPr/>
          <p:nvPr/>
        </p:nvSpPr>
        <p:spPr>
          <a:xfrm flipV="1">
            <a:off x="5526024" y="4278734"/>
            <a:ext cx="40386" cy="812"/>
          </a:xfrm>
          <a:prstGeom prst="line">
            <a:avLst/>
          </a:prstGeom>
          <a:noFill/>
          <a:ln w="28575">
            <a:solidFill>
              <a:srgbClr val="8E44AD"/>
            </a:solidFill>
            <a:prstDash val="solid"/>
          </a:ln>
        </p:spPr>
      </p:sp>
      <p:sp>
        <p:nvSpPr>
          <p:cNvPr id="450" name="Shape 448"/>
          <p:cNvSpPr/>
          <p:nvPr/>
        </p:nvSpPr>
        <p:spPr>
          <a:xfrm flipV="1">
            <a:off x="5566410" y="4277982"/>
            <a:ext cx="40386" cy="752"/>
          </a:xfrm>
          <a:prstGeom prst="line">
            <a:avLst/>
          </a:prstGeom>
          <a:noFill/>
          <a:ln w="28575">
            <a:solidFill>
              <a:srgbClr val="8E44AD"/>
            </a:solidFill>
            <a:prstDash val="solid"/>
          </a:ln>
        </p:spPr>
      </p:sp>
      <p:sp>
        <p:nvSpPr>
          <p:cNvPr id="451" name="Shape 449"/>
          <p:cNvSpPr/>
          <p:nvPr/>
        </p:nvSpPr>
        <p:spPr>
          <a:xfrm flipV="1">
            <a:off x="5606796" y="4277288"/>
            <a:ext cx="40386" cy="693"/>
          </a:xfrm>
          <a:prstGeom prst="line">
            <a:avLst/>
          </a:prstGeom>
          <a:noFill/>
          <a:ln w="28575">
            <a:solidFill>
              <a:srgbClr val="8E44AD"/>
            </a:solidFill>
            <a:prstDash val="solid"/>
          </a:ln>
        </p:spPr>
      </p:sp>
      <p:sp>
        <p:nvSpPr>
          <p:cNvPr id="452" name="Shape 450"/>
          <p:cNvSpPr/>
          <p:nvPr/>
        </p:nvSpPr>
        <p:spPr>
          <a:xfrm flipV="1">
            <a:off x="5647182" y="4276652"/>
            <a:ext cx="40386" cy="636"/>
          </a:xfrm>
          <a:prstGeom prst="line">
            <a:avLst/>
          </a:prstGeom>
          <a:noFill/>
          <a:ln w="28575">
            <a:solidFill>
              <a:srgbClr val="8E44AD"/>
            </a:solidFill>
            <a:prstDash val="solid"/>
          </a:ln>
        </p:spPr>
      </p:sp>
      <p:sp>
        <p:nvSpPr>
          <p:cNvPr id="453" name="Shape 451"/>
          <p:cNvSpPr/>
          <p:nvPr/>
        </p:nvSpPr>
        <p:spPr>
          <a:xfrm flipV="1">
            <a:off x="5687568" y="4276072"/>
            <a:ext cx="40386" cy="580"/>
          </a:xfrm>
          <a:prstGeom prst="line">
            <a:avLst/>
          </a:prstGeom>
          <a:noFill/>
          <a:ln w="28575">
            <a:solidFill>
              <a:srgbClr val="8E44AD"/>
            </a:solidFill>
            <a:prstDash val="solid"/>
          </a:ln>
        </p:spPr>
      </p:sp>
      <p:sp>
        <p:nvSpPr>
          <p:cNvPr id="454" name="Shape 452"/>
          <p:cNvSpPr/>
          <p:nvPr/>
        </p:nvSpPr>
        <p:spPr>
          <a:xfrm flipV="1">
            <a:off x="5727954" y="4275546"/>
            <a:ext cx="40386" cy="526"/>
          </a:xfrm>
          <a:prstGeom prst="line">
            <a:avLst/>
          </a:prstGeom>
          <a:noFill/>
          <a:ln w="28575">
            <a:solidFill>
              <a:srgbClr val="8E44AD"/>
            </a:solidFill>
            <a:prstDash val="solid"/>
          </a:ln>
        </p:spPr>
      </p:sp>
      <p:sp>
        <p:nvSpPr>
          <p:cNvPr id="455" name="Shape 453"/>
          <p:cNvSpPr/>
          <p:nvPr/>
        </p:nvSpPr>
        <p:spPr>
          <a:xfrm flipV="1">
            <a:off x="5768340" y="4275073"/>
            <a:ext cx="40386" cy="473"/>
          </a:xfrm>
          <a:prstGeom prst="line">
            <a:avLst/>
          </a:prstGeom>
          <a:noFill/>
          <a:ln w="28575">
            <a:solidFill>
              <a:srgbClr val="8E44AD"/>
            </a:solidFill>
            <a:prstDash val="solid"/>
          </a:ln>
        </p:spPr>
      </p:sp>
      <p:sp>
        <p:nvSpPr>
          <p:cNvPr id="456" name="Shape 454"/>
          <p:cNvSpPr/>
          <p:nvPr/>
        </p:nvSpPr>
        <p:spPr>
          <a:xfrm flipV="1">
            <a:off x="5808726" y="4274651"/>
            <a:ext cx="40386" cy="422"/>
          </a:xfrm>
          <a:prstGeom prst="line">
            <a:avLst/>
          </a:prstGeom>
          <a:noFill/>
          <a:ln w="28575">
            <a:solidFill>
              <a:srgbClr val="8E44AD"/>
            </a:solidFill>
            <a:prstDash val="solid"/>
          </a:ln>
        </p:spPr>
      </p:sp>
      <p:sp>
        <p:nvSpPr>
          <p:cNvPr id="457" name="Shape 455"/>
          <p:cNvSpPr/>
          <p:nvPr/>
        </p:nvSpPr>
        <p:spPr>
          <a:xfrm flipV="1">
            <a:off x="5849112" y="4274279"/>
            <a:ext cx="40386" cy="372"/>
          </a:xfrm>
          <a:prstGeom prst="line">
            <a:avLst/>
          </a:prstGeom>
          <a:noFill/>
          <a:ln w="28575">
            <a:solidFill>
              <a:srgbClr val="8E44AD"/>
            </a:solidFill>
            <a:prstDash val="solid"/>
          </a:ln>
        </p:spPr>
      </p:sp>
      <p:sp>
        <p:nvSpPr>
          <p:cNvPr id="458" name="Shape 456"/>
          <p:cNvSpPr/>
          <p:nvPr/>
        </p:nvSpPr>
        <p:spPr>
          <a:xfrm flipV="1">
            <a:off x="5889498" y="4273956"/>
            <a:ext cx="40386" cy="323"/>
          </a:xfrm>
          <a:prstGeom prst="line">
            <a:avLst/>
          </a:prstGeom>
          <a:noFill/>
          <a:ln w="28575">
            <a:solidFill>
              <a:srgbClr val="8E44AD"/>
            </a:solidFill>
            <a:prstDash val="solid"/>
          </a:ln>
        </p:spPr>
      </p:sp>
      <p:sp>
        <p:nvSpPr>
          <p:cNvPr id="459" name="Shape 457"/>
          <p:cNvSpPr/>
          <p:nvPr/>
        </p:nvSpPr>
        <p:spPr>
          <a:xfrm flipV="1">
            <a:off x="5929884" y="4273681"/>
            <a:ext cx="40386" cy="276"/>
          </a:xfrm>
          <a:prstGeom prst="line">
            <a:avLst/>
          </a:prstGeom>
          <a:noFill/>
          <a:ln w="28575">
            <a:solidFill>
              <a:srgbClr val="8E44AD"/>
            </a:solidFill>
            <a:prstDash val="solid"/>
          </a:ln>
        </p:spPr>
      </p:sp>
      <p:sp>
        <p:nvSpPr>
          <p:cNvPr id="460" name="Shape 458"/>
          <p:cNvSpPr/>
          <p:nvPr/>
        </p:nvSpPr>
        <p:spPr>
          <a:xfrm flipV="1">
            <a:off x="5970270" y="4273451"/>
            <a:ext cx="40386" cy="230"/>
          </a:xfrm>
          <a:prstGeom prst="line">
            <a:avLst/>
          </a:prstGeom>
          <a:noFill/>
          <a:ln w="28575">
            <a:solidFill>
              <a:srgbClr val="8E44AD"/>
            </a:solidFill>
            <a:prstDash val="solid"/>
          </a:ln>
        </p:spPr>
      </p:sp>
      <p:sp>
        <p:nvSpPr>
          <p:cNvPr id="461" name="Shape 459"/>
          <p:cNvSpPr/>
          <p:nvPr/>
        </p:nvSpPr>
        <p:spPr>
          <a:xfrm flipV="1">
            <a:off x="6010656" y="4273266"/>
            <a:ext cx="40386" cy="185"/>
          </a:xfrm>
          <a:prstGeom prst="line">
            <a:avLst/>
          </a:prstGeom>
          <a:noFill/>
          <a:ln w="28575">
            <a:solidFill>
              <a:srgbClr val="8E44AD"/>
            </a:solidFill>
            <a:prstDash val="solid"/>
          </a:ln>
        </p:spPr>
      </p:sp>
      <p:sp>
        <p:nvSpPr>
          <p:cNvPr id="462" name="Shape 460"/>
          <p:cNvSpPr/>
          <p:nvPr/>
        </p:nvSpPr>
        <p:spPr>
          <a:xfrm flipV="1">
            <a:off x="6051042" y="4273125"/>
            <a:ext cx="40386" cy="141"/>
          </a:xfrm>
          <a:prstGeom prst="line">
            <a:avLst/>
          </a:prstGeom>
          <a:noFill/>
          <a:ln w="28575">
            <a:solidFill>
              <a:srgbClr val="8E44AD"/>
            </a:solidFill>
            <a:prstDash val="solid"/>
          </a:ln>
        </p:spPr>
      </p:sp>
      <p:sp>
        <p:nvSpPr>
          <p:cNvPr id="463" name="Shape 461"/>
          <p:cNvSpPr/>
          <p:nvPr/>
        </p:nvSpPr>
        <p:spPr>
          <a:xfrm flipV="1">
            <a:off x="6091428" y="4273025"/>
            <a:ext cx="40386" cy="99"/>
          </a:xfrm>
          <a:prstGeom prst="line">
            <a:avLst/>
          </a:prstGeom>
          <a:noFill/>
          <a:ln w="28575">
            <a:solidFill>
              <a:srgbClr val="8E44AD"/>
            </a:solidFill>
            <a:prstDash val="solid"/>
          </a:ln>
        </p:spPr>
      </p:sp>
      <p:sp>
        <p:nvSpPr>
          <p:cNvPr id="464" name="Shape 462"/>
          <p:cNvSpPr/>
          <p:nvPr/>
        </p:nvSpPr>
        <p:spPr>
          <a:xfrm flipV="1">
            <a:off x="6131814" y="4272967"/>
            <a:ext cx="40386" cy="58"/>
          </a:xfrm>
          <a:prstGeom prst="line">
            <a:avLst/>
          </a:prstGeom>
          <a:noFill/>
          <a:ln w="28575">
            <a:solidFill>
              <a:srgbClr val="8E44AD"/>
            </a:solidFill>
            <a:prstDash val="solid"/>
          </a:ln>
        </p:spPr>
      </p:sp>
      <p:sp>
        <p:nvSpPr>
          <p:cNvPr id="465" name="Shape 463"/>
          <p:cNvSpPr/>
          <p:nvPr/>
        </p:nvSpPr>
        <p:spPr>
          <a:xfrm>
            <a:off x="2234565" y="3246120"/>
            <a:ext cx="91" cy="1691640"/>
          </a:xfrm>
          <a:prstGeom prst="line">
            <a:avLst/>
          </a:prstGeom>
          <a:noFill/>
          <a:ln w="12700">
            <a:solidFill>
              <a:srgbClr val="6B7385"/>
            </a:solidFill>
            <a:prstDash val="dash"/>
          </a:ln>
        </p:spPr>
      </p:sp>
      <p:sp>
        <p:nvSpPr>
          <p:cNvPr id="466" name="Text 464"/>
          <p:cNvSpPr/>
          <p:nvPr/>
        </p:nvSpPr>
        <p:spPr>
          <a:xfrm>
            <a:off x="2840355" y="1469136"/>
            <a:ext cx="146304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blood glucose</a:t>
            </a:r>
            <a:endParaRPr lang="en-US" sz="1000" dirty="0"/>
          </a:p>
        </p:txBody>
      </p:sp>
      <p:sp>
        <p:nvSpPr>
          <p:cNvPr id="467" name="Text 465"/>
          <p:cNvSpPr/>
          <p:nvPr/>
        </p:nvSpPr>
        <p:spPr>
          <a:xfrm>
            <a:off x="3244215" y="3516782"/>
            <a:ext cx="914400" cy="201168"/>
          </a:xfrm>
          <a:prstGeom prst="rect">
            <a:avLst/>
          </a:prstGeom>
          <a:noFill/>
          <a:ln/>
        </p:spPr>
        <p:txBody>
          <a:bodyPr wrap="square" lIns="0" tIns="0" rIns="0" bIns="0" rtlCol="0" anchor="ctr"/>
          <a:lstStyle/>
          <a:p>
            <a:pPr algn="l" indent="0" marL="0">
              <a:buNone/>
            </a:pPr>
            <a:r>
              <a:rPr lang="en-US" sz="1000" b="1" dirty="0">
                <a:solidFill>
                  <a:srgbClr val="E08A1E"/>
                </a:solidFill>
                <a:latin typeface="Calibri" pitchFamily="34" charset="0"/>
                <a:ea typeface="Calibri" pitchFamily="34" charset="-122"/>
                <a:cs typeface="Calibri" pitchFamily="34" charset="-120"/>
              </a:rPr>
              <a:t>insulin</a:t>
            </a:r>
            <a:endParaRPr lang="en-US" sz="1000" dirty="0"/>
          </a:p>
        </p:txBody>
      </p:sp>
      <p:sp>
        <p:nvSpPr>
          <p:cNvPr id="468" name="Text 466"/>
          <p:cNvSpPr/>
          <p:nvPr/>
        </p:nvSpPr>
        <p:spPr>
          <a:xfrm>
            <a:off x="5061585" y="4075024"/>
            <a:ext cx="914400" cy="201168"/>
          </a:xfrm>
          <a:prstGeom prst="rect">
            <a:avLst/>
          </a:prstGeom>
          <a:noFill/>
          <a:ln/>
        </p:spPr>
        <p:txBody>
          <a:bodyPr wrap="square" lIns="0" tIns="0" rIns="0" bIns="0" rtlCol="0" anchor="ctr"/>
          <a:lstStyle/>
          <a:p>
            <a:pPr algn="l" indent="0" marL="0">
              <a:buNone/>
            </a:pPr>
            <a:r>
              <a:rPr lang="en-US" sz="1000" b="1" dirty="0">
                <a:solidFill>
                  <a:srgbClr val="8E44AD"/>
                </a:solidFill>
                <a:latin typeface="Calibri" pitchFamily="34" charset="0"/>
                <a:ea typeface="Calibri" pitchFamily="34" charset="-122"/>
                <a:cs typeface="Calibri" pitchFamily="34" charset="-120"/>
              </a:rPr>
              <a:t>glucagon</a:t>
            </a:r>
            <a:endParaRPr lang="en-US" sz="1000" dirty="0"/>
          </a:p>
        </p:txBody>
      </p:sp>
      <p:sp>
        <p:nvSpPr>
          <p:cNvPr id="469" name="Shape 467"/>
          <p:cNvSpPr/>
          <p:nvPr/>
        </p:nvSpPr>
        <p:spPr>
          <a:xfrm>
            <a:off x="6675120" y="1188720"/>
            <a:ext cx="5102352" cy="2331720"/>
          </a:xfrm>
          <a:prstGeom prst="roundRect">
            <a:avLst>
              <a:gd name="adj" fmla="val 2353"/>
            </a:avLst>
          </a:prstGeom>
          <a:solidFill>
            <a:srgbClr val="F4FAF9"/>
          </a:solidFill>
          <a:ln w="9525">
            <a:solidFill>
              <a:srgbClr val="CFE0DE"/>
            </a:solidFill>
            <a:prstDash val="solid"/>
          </a:ln>
        </p:spPr>
      </p:sp>
      <p:sp>
        <p:nvSpPr>
          <p:cNvPr id="470" name="Text 468"/>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the graphs show</a:t>
            </a:r>
            <a:endParaRPr lang="en-US" sz="1300" dirty="0"/>
          </a:p>
        </p:txBody>
      </p:sp>
      <p:sp>
        <p:nvSpPr>
          <p:cNvPr id="471" name="Text 469"/>
          <p:cNvSpPr/>
          <p:nvPr/>
        </p:nvSpPr>
        <p:spPr>
          <a:xfrm>
            <a:off x="6839712" y="1609344"/>
            <a:ext cx="4773168" cy="183794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Glucose peaks about </a:t>
            </a:r>
            <a:r>
              <a:rPr lang="en-US" sz="1200" b="1" dirty="0">
                <a:solidFill>
                  <a:srgbClr val="262B3A"/>
                </a:solidFill>
                <a:latin typeface="Calibri" pitchFamily="34" charset="0"/>
                <a:ea typeface="Calibri" pitchFamily="34" charset="-122"/>
                <a:cs typeface="Calibri" pitchFamily="34" charset="-120"/>
              </a:rPr>
              <a:t>28 min</a:t>
            </a:r>
            <a:r>
              <a:rPr lang="en-US" sz="1200" dirty="0">
                <a:solidFill>
                  <a:srgbClr val="262B3A"/>
                </a:solidFill>
                <a:latin typeface="Calibri" pitchFamily="34" charset="0"/>
                <a:ea typeface="Calibri" pitchFamily="34" charset="-122"/>
                <a:cs typeface="Calibri" pitchFamily="34" charset="-120"/>
              </a:rPr>
              <a:t> after the meal; insulin peaks </a:t>
            </a:r>
            <a:r>
              <a:rPr lang="en-US" sz="1200" b="1" dirty="0">
                <a:solidFill>
                  <a:srgbClr val="262B3A"/>
                </a:solidFill>
                <a:latin typeface="Calibri" pitchFamily="34" charset="0"/>
                <a:ea typeface="Calibri" pitchFamily="34" charset="-122"/>
                <a:cs typeface="Calibri" pitchFamily="34" charset="-120"/>
              </a:rPr>
              <a:t>later</a:t>
            </a:r>
            <a:r>
              <a:rPr lang="en-US" sz="1200" dirty="0">
                <a:solidFill>
                  <a:srgbClr val="262B3A"/>
                </a:solidFill>
                <a:latin typeface="Calibri" pitchFamily="34" charset="0"/>
                <a:ea typeface="Calibri" pitchFamily="34" charset="-122"/>
                <a:cs typeface="Calibri" pitchFamily="34" charset="-120"/>
              </a:rPr>
              <a:t>, at </a:t>
            </a:r>
            <a:r>
              <a:rPr lang="en-US" sz="1200" b="1" dirty="0">
                <a:solidFill>
                  <a:srgbClr val="262B3A"/>
                </a:solidFill>
                <a:latin typeface="Calibri" pitchFamily="34" charset="0"/>
                <a:ea typeface="Calibri" pitchFamily="34" charset="-122"/>
                <a:cs typeface="Calibri" pitchFamily="34" charset="-120"/>
              </a:rPr>
              <a:t>45 min</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While insulin is high, glucagon is </a:t>
            </a:r>
            <a:r>
              <a:rPr lang="en-US" sz="1200" b="1" dirty="0">
                <a:solidFill>
                  <a:srgbClr val="262B3A"/>
                </a:solidFill>
                <a:latin typeface="Calibri" pitchFamily="34" charset="0"/>
                <a:ea typeface="Calibri" pitchFamily="34" charset="-122"/>
                <a:cs typeface="Calibri" pitchFamily="34" charset="-120"/>
              </a:rPr>
              <a:t>low</a:t>
            </a:r>
            <a:r>
              <a:rPr lang="en-US" sz="1200" dirty="0">
                <a:solidFill>
                  <a:srgbClr val="262B3A"/>
                </a:solidFill>
                <a:latin typeface="Calibri" pitchFamily="34" charset="0"/>
                <a:ea typeface="Calibri" pitchFamily="34" charset="-122"/>
                <a:cs typeface="Calibri" pitchFamily="34" charset="-120"/>
              </a:rPr>
              <a:t>: the liver stores glucose as glycogen.</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By about 180 min glucose dips a little below 5 (to 4.4); glucagon </a:t>
            </a:r>
            <a:r>
              <a:rPr lang="en-US" sz="1200" b="1" dirty="0">
                <a:solidFill>
                  <a:srgbClr val="262B3A"/>
                </a:solidFill>
                <a:latin typeface="Calibri" pitchFamily="34" charset="0"/>
                <a:ea typeface="Calibri" pitchFamily="34" charset="-122"/>
                <a:cs typeface="Calibri" pitchFamily="34" charset="-120"/>
              </a:rPr>
              <a:t>rises</a:t>
            </a:r>
            <a:r>
              <a:rPr lang="en-US" sz="1200" dirty="0">
                <a:solidFill>
                  <a:srgbClr val="262B3A"/>
                </a:solidFill>
                <a:latin typeface="Calibri" pitchFamily="34" charset="0"/>
                <a:ea typeface="Calibri" pitchFamily="34" charset="-122"/>
                <a:cs typeface="Calibri" pitchFamily="34" charset="-120"/>
              </a:rPr>
              <a:t> and the liver releases glucose.</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The two hormone curves are roughly </a:t>
            </a:r>
            <a:r>
              <a:rPr lang="en-US" sz="1200" b="1" dirty="0">
                <a:solidFill>
                  <a:srgbClr val="262B3A"/>
                </a:solidFill>
                <a:latin typeface="Calibri" pitchFamily="34" charset="0"/>
                <a:ea typeface="Calibri" pitchFamily="34" charset="-122"/>
                <a:cs typeface="Calibri" pitchFamily="34" charset="-120"/>
              </a:rPr>
              <a:t>mirror images</a:t>
            </a:r>
            <a:r>
              <a:rPr lang="en-US" sz="1200" dirty="0">
                <a:solidFill>
                  <a:srgbClr val="262B3A"/>
                </a:solidFill>
                <a:latin typeface="Calibri" pitchFamily="34" charset="0"/>
                <a:ea typeface="Calibri" pitchFamily="34" charset="-122"/>
                <a:cs typeface="Calibri" pitchFamily="34" charset="-120"/>
              </a:rPr>
              <a:t>: as one rises, the other falls.</a:t>
            </a:r>
            <a:endParaRPr lang="en-US" sz="1200" dirty="0"/>
          </a:p>
        </p:txBody>
      </p:sp>
      <p:sp>
        <p:nvSpPr>
          <p:cNvPr id="472" name="Shape 470"/>
          <p:cNvSpPr/>
          <p:nvPr/>
        </p:nvSpPr>
        <p:spPr>
          <a:xfrm>
            <a:off x="6675120" y="3657600"/>
            <a:ext cx="5102352" cy="2057400"/>
          </a:xfrm>
          <a:prstGeom prst="roundRect">
            <a:avLst>
              <a:gd name="adj" fmla="val 2667"/>
            </a:avLst>
          </a:prstGeom>
          <a:solidFill>
            <a:srgbClr val="FFF4E0"/>
          </a:solidFill>
          <a:ln w="9525">
            <a:solidFill>
              <a:srgbClr val="F1D9A8"/>
            </a:solidFill>
            <a:prstDash val="solid"/>
          </a:ln>
        </p:spPr>
      </p:sp>
      <p:sp>
        <p:nvSpPr>
          <p:cNvPr id="473" name="Text 471"/>
          <p:cNvSpPr/>
          <p:nvPr/>
        </p:nvSpPr>
        <p:spPr>
          <a:xfrm>
            <a:off x="6839712" y="373075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 the delay</a:t>
            </a:r>
            <a:endParaRPr lang="en-US" sz="1300" dirty="0"/>
          </a:p>
        </p:txBody>
      </p:sp>
      <p:sp>
        <p:nvSpPr>
          <p:cNvPr id="474" name="Text 472"/>
          <p:cNvSpPr/>
          <p:nvPr/>
        </p:nvSpPr>
        <p:spPr>
          <a:xfrm>
            <a:off x="6839712" y="4041648"/>
            <a:ext cx="4773168" cy="16002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Why does insulin peak after glucose?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Detect   </a:t>
            </a:r>
            <a:r>
              <a:rPr lang="en-US" sz="1050" dirty="0">
                <a:solidFill>
                  <a:srgbClr val="262B3A"/>
                </a:solidFill>
                <a:latin typeface="Calibri" pitchFamily="34" charset="0"/>
                <a:ea typeface="Calibri" pitchFamily="34" charset="-122"/>
                <a:cs typeface="Calibri" pitchFamily="34" charset="-120"/>
              </a:rPr>
              <a:t>the pancreas responds only once the glucose level has risen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Travel   </a:t>
            </a:r>
            <a:r>
              <a:rPr lang="en-US" sz="1050" dirty="0">
                <a:solidFill>
                  <a:srgbClr val="262B3A"/>
                </a:solidFill>
                <a:latin typeface="Calibri" pitchFamily="34" charset="0"/>
                <a:ea typeface="Calibri" pitchFamily="34" charset="-122"/>
                <a:cs typeface="Calibri" pitchFamily="34" charset="-120"/>
              </a:rPr>
              <a:t>insulin is carried in the blood; cells then take up glucose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so insulin rises </a:t>
            </a:r>
            <a:r>
              <a:rPr lang="en-US" sz="1050" b="1" dirty="0">
                <a:solidFill>
                  <a:srgbClr val="C8414C"/>
                </a:solidFill>
                <a:latin typeface="Calibri" pitchFamily="34" charset="0"/>
                <a:ea typeface="Calibri" pitchFamily="34" charset="-122"/>
                <a:cs typeface="Calibri" pitchFamily="34" charset="-120"/>
              </a:rPr>
              <a:t>after</a:t>
            </a:r>
            <a:r>
              <a:rPr lang="en-US" sz="1050" b="1" dirty="0">
                <a:solidFill>
                  <a:srgbClr val="C8414C"/>
                </a:solidFill>
                <a:latin typeface="Calibri" pitchFamily="34" charset="0"/>
                <a:ea typeface="Calibri" pitchFamily="34" charset="-122"/>
                <a:cs typeface="Calibri" pitchFamily="34" charset="-120"/>
              </a:rPr>
              <a:t> glucose and stays high until glucose falls (peak ×9 the resting level)</a:t>
            </a:r>
            <a:endParaRPr lang="en-US" sz="1050" dirty="0"/>
          </a:p>
        </p:txBody>
      </p:sp>
      <p:sp>
        <p:nvSpPr>
          <p:cNvPr id="475" name="Shape 473"/>
          <p:cNvSpPr/>
          <p:nvPr/>
        </p:nvSpPr>
        <p:spPr>
          <a:xfrm>
            <a:off x="411480" y="5833872"/>
            <a:ext cx="11368735" cy="530352"/>
          </a:xfrm>
          <a:prstGeom prst="rect">
            <a:avLst/>
          </a:prstGeom>
          <a:solidFill>
            <a:srgbClr val="FFF4E0"/>
          </a:solidFill>
          <a:ln w="6350">
            <a:solidFill>
              <a:srgbClr val="F1D9A8"/>
            </a:solidFill>
            <a:prstDash val="solid"/>
          </a:ln>
        </p:spPr>
      </p:sp>
      <p:sp>
        <p:nvSpPr>
          <p:cNvPr id="476" name="Shape 474"/>
          <p:cNvSpPr/>
          <p:nvPr/>
        </p:nvSpPr>
        <p:spPr>
          <a:xfrm>
            <a:off x="411480" y="5833872"/>
            <a:ext cx="82296" cy="530352"/>
          </a:xfrm>
          <a:prstGeom prst="rect">
            <a:avLst/>
          </a:prstGeom>
          <a:solidFill>
            <a:srgbClr val="E39A2F"/>
          </a:solidFill>
          <a:ln w="12700">
            <a:solidFill>
              <a:srgbClr val="E39A2F"/>
            </a:solidFill>
            <a:prstDash val="solid"/>
          </a:ln>
        </p:spPr>
      </p:sp>
      <p:sp>
        <p:nvSpPr>
          <p:cNvPr id="477" name="Text 4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From the graphs: at what time is glucagon </a:t>
            </a:r>
            <a:r>
              <a:rPr lang="en-US" sz="1150" b="1" dirty="0">
                <a:solidFill>
                  <a:srgbClr val="262B3A"/>
                </a:solidFill>
                <a:latin typeface="Calibri" pitchFamily="34" charset="0"/>
                <a:ea typeface="Calibri" pitchFamily="34" charset="-122"/>
                <a:cs typeface="Calibri" pitchFamily="34" charset="-120"/>
              </a:rPr>
              <a:t>lowest</a:t>
            </a:r>
            <a:r>
              <a:rPr lang="en-US" sz="1150" dirty="0">
                <a:solidFill>
                  <a:srgbClr val="262B3A"/>
                </a:solidFill>
                <a:latin typeface="Calibri" pitchFamily="34" charset="0"/>
                <a:ea typeface="Calibri" pitchFamily="34" charset="-122"/>
                <a:cs typeface="Calibri" pitchFamily="34" charset="-120"/>
              </a:rPr>
              <a:t>? Explain why glucagon is low while insulin is high.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 B5.6.2 • feedback; glucagon and insulin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Blood glucose rises after a meal and then returns to normal. Explain why this is an example of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After a meal, glucose falls from </a:t>
            </a:r>
            <a:r>
              <a:rPr lang="en-US" sz="1250" b="1" dirty="0">
                <a:solidFill>
                  <a:srgbClr val="262B3A"/>
                </a:solidFill>
                <a:latin typeface="Calibri" pitchFamily="34" charset="0"/>
                <a:ea typeface="Calibri" pitchFamily="34" charset="-122"/>
                <a:cs typeface="Calibri" pitchFamily="34" charset="-120"/>
              </a:rPr>
              <a:t>7.6</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5.2 mmol/L</a:t>
            </a:r>
            <a:r>
              <a:rPr lang="en-US" sz="1250" dirty="0">
                <a:solidFill>
                  <a:srgbClr val="262B3A"/>
                </a:solidFill>
                <a:latin typeface="Calibri" pitchFamily="34" charset="0"/>
                <a:ea typeface="Calibri" pitchFamily="34" charset="-122"/>
                <a:cs typeface="Calibri" pitchFamily="34" charset="-120"/>
              </a:rPr>
              <a:t> in 80 minutes. Calculate the fall.</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a:t>
            </a:r>
            <a:r>
              <a:rPr lang="en-US" sz="1250" b="1" dirty="0">
                <a:solidFill>
                  <a:srgbClr val="262B3A"/>
                </a:solidFill>
                <a:latin typeface="Calibri" pitchFamily="34" charset="0"/>
                <a:ea typeface="Calibri" pitchFamily="34" charset="-122"/>
                <a:cs typeface="Calibri" pitchFamily="34" charset="-120"/>
              </a:rPr>
              <a:t>glucagon</a:t>
            </a:r>
            <a:r>
              <a:rPr lang="en-US" sz="1250" dirty="0">
                <a:solidFill>
                  <a:srgbClr val="262B3A"/>
                </a:solidFill>
                <a:latin typeface="Calibri" pitchFamily="34" charset="0"/>
                <a:ea typeface="Calibri" pitchFamily="34" charset="-122"/>
                <a:cs typeface="Calibri" pitchFamily="34" charset="-120"/>
              </a:rPr>
              <a:t> does when blood glucose is too low.</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Shape 26"/>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insulin and glucagon are described as </a:t>
            </a:r>
            <a:r>
              <a:rPr lang="en-US" sz="1250" b="1" dirty="0">
                <a:solidFill>
                  <a:srgbClr val="262B3A"/>
                </a:solidFill>
                <a:latin typeface="Calibri" pitchFamily="34" charset="0"/>
                <a:ea typeface="Calibri" pitchFamily="34" charset="-122"/>
                <a:cs typeface="Calibri" pitchFamily="34" charset="-120"/>
              </a:rPr>
              <a:t>antagonistic</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1" name="Text 29"/>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Type 1 diabetes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the pancreas makes little or no insulin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B5.6.3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cause (left) and the treatment (right); not to scale</a:t>
            </a:r>
            <a:endParaRPr lang="en-US" sz="1000" dirty="0"/>
          </a:p>
        </p:txBody>
      </p:sp>
      <p:sp>
        <p:nvSpPr>
          <p:cNvPr id="10" name="Text 8"/>
          <p:cNvSpPr/>
          <p:nvPr/>
        </p:nvSpPr>
        <p:spPr>
          <a:xfrm>
            <a:off x="594360" y="1298448"/>
            <a:ext cx="2651760" cy="274320"/>
          </a:xfrm>
          <a:prstGeom prst="rect">
            <a:avLst/>
          </a:prstGeom>
          <a:noFill/>
          <a:ln/>
        </p:spPr>
        <p:txBody>
          <a:bodyPr wrap="square" lIns="0" tIns="0" rIns="0" bIns="0" rtlCol="0" anchor="ctr"/>
          <a:lstStyle/>
          <a:p>
            <a:pPr algn="l" indent="0" marL="0">
              <a:buNone/>
            </a:pPr>
            <a:r>
              <a:rPr lang="en-US" sz="1100" b="1" dirty="0">
                <a:solidFill>
                  <a:srgbClr val="133536"/>
                </a:solidFill>
                <a:latin typeface="Calibri" pitchFamily="34" charset="0"/>
                <a:ea typeface="Calibri" pitchFamily="34" charset="-122"/>
                <a:cs typeface="Calibri" pitchFamily="34" charset="-120"/>
              </a:rPr>
              <a:t>Cause: insulin-making cells destroyed</a:t>
            </a:r>
            <a:endParaRPr lang="en-US" sz="1100" dirty="0"/>
          </a:p>
        </p:txBody>
      </p:sp>
      <p:sp>
        <p:nvSpPr>
          <p:cNvPr id="11" name="Shape 9"/>
          <p:cNvSpPr/>
          <p:nvPr/>
        </p:nvSpPr>
        <p:spPr>
          <a:xfrm>
            <a:off x="685800" y="1783080"/>
            <a:ext cx="2286000" cy="1920240"/>
          </a:xfrm>
          <a:prstGeom prst="ellipse">
            <a:avLst/>
          </a:prstGeom>
          <a:solidFill>
            <a:srgbClr val="F5E6B0"/>
          </a:solidFill>
          <a:ln w="19050">
            <a:solidFill>
              <a:srgbClr val="8A6A0A"/>
            </a:solidFill>
            <a:prstDash val="solid"/>
          </a:ln>
        </p:spPr>
      </p:sp>
      <p:sp>
        <p:nvSpPr>
          <p:cNvPr id="12" name="Text 10"/>
          <p:cNvSpPr/>
          <p:nvPr/>
        </p:nvSpPr>
        <p:spPr>
          <a:xfrm>
            <a:off x="685800" y="3749040"/>
            <a:ext cx="2286000" cy="219456"/>
          </a:xfrm>
          <a:prstGeom prst="rect">
            <a:avLst/>
          </a:prstGeom>
          <a:noFill/>
          <a:ln/>
        </p:spPr>
        <p:txBody>
          <a:bodyPr wrap="square" lIns="0" tIns="0" rIns="0" bIns="0" rtlCol="0" anchor="ctr"/>
          <a:lstStyle/>
          <a:p>
            <a:pPr algn="ctr" indent="0" marL="0">
              <a:buNone/>
            </a:pPr>
            <a:r>
              <a:rPr lang="en-US" sz="1000" i="1" dirty="0">
                <a:solidFill>
                  <a:srgbClr val="8A6A0A"/>
                </a:solidFill>
                <a:latin typeface="Calibri" pitchFamily="34" charset="0"/>
                <a:ea typeface="Calibri" pitchFamily="34" charset="-122"/>
                <a:cs typeface="Calibri" pitchFamily="34" charset="-120"/>
              </a:rPr>
              <a:t>islet in the pancreas</a:t>
            </a:r>
            <a:endParaRPr lang="en-US" sz="1000" dirty="0"/>
          </a:p>
        </p:txBody>
      </p:sp>
      <p:sp>
        <p:nvSpPr>
          <p:cNvPr id="13" name="Shape 11"/>
          <p:cNvSpPr/>
          <p:nvPr/>
        </p:nvSpPr>
        <p:spPr>
          <a:xfrm>
            <a:off x="1078992" y="1993392"/>
            <a:ext cx="402336" cy="402336"/>
          </a:xfrm>
          <a:prstGeom prst="ellipse">
            <a:avLst/>
          </a:prstGeom>
          <a:solidFill>
            <a:srgbClr val="F3D3A0"/>
          </a:solidFill>
          <a:ln w="12700">
            <a:solidFill>
              <a:srgbClr val="8A6A0A"/>
            </a:solidFill>
            <a:prstDash val="solid"/>
          </a:ln>
        </p:spPr>
      </p:sp>
      <p:sp>
        <p:nvSpPr>
          <p:cNvPr id="14" name="Shape 12"/>
          <p:cNvSpPr/>
          <p:nvPr/>
        </p:nvSpPr>
        <p:spPr>
          <a:xfrm>
            <a:off x="1216152" y="2130552"/>
            <a:ext cx="128016" cy="128016"/>
          </a:xfrm>
          <a:prstGeom prst="ellipse">
            <a:avLst/>
          </a:prstGeom>
          <a:solidFill>
            <a:srgbClr val="8A6A0A"/>
          </a:solidFill>
          <a:ln w="9525">
            <a:solidFill>
              <a:srgbClr val="8A6A0A"/>
            </a:solidFill>
            <a:prstDash val="solid"/>
          </a:ln>
        </p:spPr>
      </p:sp>
      <p:sp>
        <p:nvSpPr>
          <p:cNvPr id="15" name="Shape 13"/>
          <p:cNvSpPr/>
          <p:nvPr/>
        </p:nvSpPr>
        <p:spPr>
          <a:xfrm>
            <a:off x="1627632" y="1901952"/>
            <a:ext cx="402336" cy="402336"/>
          </a:xfrm>
          <a:prstGeom prst="ellipse">
            <a:avLst/>
          </a:prstGeom>
          <a:solidFill>
            <a:srgbClr val="E6E6E6"/>
          </a:solidFill>
          <a:ln w="12700">
            <a:solidFill>
              <a:srgbClr val="9AA3B0"/>
            </a:solidFill>
            <a:prstDash val="solid"/>
          </a:ln>
        </p:spPr>
      </p:sp>
      <p:sp>
        <p:nvSpPr>
          <p:cNvPr id="16" name="Shape 14"/>
          <p:cNvSpPr/>
          <p:nvPr/>
        </p:nvSpPr>
        <p:spPr>
          <a:xfrm>
            <a:off x="1709928" y="1984248"/>
            <a:ext cx="237744" cy="237744"/>
          </a:xfrm>
          <a:prstGeom prst="line">
            <a:avLst/>
          </a:prstGeom>
          <a:noFill/>
          <a:ln w="25400">
            <a:solidFill>
              <a:srgbClr val="C8414C"/>
            </a:solidFill>
            <a:prstDash val="solid"/>
          </a:ln>
        </p:spPr>
      </p:sp>
      <p:sp>
        <p:nvSpPr>
          <p:cNvPr id="17" name="Shape 15"/>
          <p:cNvSpPr/>
          <p:nvPr/>
        </p:nvSpPr>
        <p:spPr>
          <a:xfrm flipV="1">
            <a:off x="1709928" y="1984248"/>
            <a:ext cx="237744" cy="237744"/>
          </a:xfrm>
          <a:prstGeom prst="line">
            <a:avLst/>
          </a:prstGeom>
          <a:noFill/>
          <a:ln w="25400">
            <a:solidFill>
              <a:srgbClr val="C8414C"/>
            </a:solidFill>
            <a:prstDash val="solid"/>
          </a:ln>
        </p:spPr>
      </p:sp>
      <p:sp>
        <p:nvSpPr>
          <p:cNvPr id="18" name="Shape 16"/>
          <p:cNvSpPr/>
          <p:nvPr/>
        </p:nvSpPr>
        <p:spPr>
          <a:xfrm>
            <a:off x="2176272" y="2039112"/>
            <a:ext cx="402336" cy="402336"/>
          </a:xfrm>
          <a:prstGeom prst="ellipse">
            <a:avLst/>
          </a:prstGeom>
          <a:solidFill>
            <a:srgbClr val="F3D3A0"/>
          </a:solidFill>
          <a:ln w="12700">
            <a:solidFill>
              <a:srgbClr val="8A6A0A"/>
            </a:solidFill>
            <a:prstDash val="solid"/>
          </a:ln>
        </p:spPr>
      </p:sp>
      <p:sp>
        <p:nvSpPr>
          <p:cNvPr id="19" name="Shape 17"/>
          <p:cNvSpPr/>
          <p:nvPr/>
        </p:nvSpPr>
        <p:spPr>
          <a:xfrm>
            <a:off x="2313432" y="2176272"/>
            <a:ext cx="128016" cy="128016"/>
          </a:xfrm>
          <a:prstGeom prst="ellipse">
            <a:avLst/>
          </a:prstGeom>
          <a:solidFill>
            <a:srgbClr val="8A6A0A"/>
          </a:solidFill>
          <a:ln w="9525">
            <a:solidFill>
              <a:srgbClr val="8A6A0A"/>
            </a:solidFill>
            <a:prstDash val="solid"/>
          </a:ln>
        </p:spPr>
      </p:sp>
      <p:sp>
        <p:nvSpPr>
          <p:cNvPr id="20" name="Shape 18"/>
          <p:cNvSpPr/>
          <p:nvPr/>
        </p:nvSpPr>
        <p:spPr>
          <a:xfrm>
            <a:off x="941832" y="2542032"/>
            <a:ext cx="402336" cy="402336"/>
          </a:xfrm>
          <a:prstGeom prst="ellipse">
            <a:avLst/>
          </a:prstGeom>
          <a:solidFill>
            <a:srgbClr val="E6E6E6"/>
          </a:solidFill>
          <a:ln w="12700">
            <a:solidFill>
              <a:srgbClr val="9AA3B0"/>
            </a:solidFill>
            <a:prstDash val="solid"/>
          </a:ln>
        </p:spPr>
      </p:sp>
      <p:sp>
        <p:nvSpPr>
          <p:cNvPr id="21" name="Shape 19"/>
          <p:cNvSpPr/>
          <p:nvPr/>
        </p:nvSpPr>
        <p:spPr>
          <a:xfrm>
            <a:off x="1024128" y="2624328"/>
            <a:ext cx="237744" cy="237744"/>
          </a:xfrm>
          <a:prstGeom prst="line">
            <a:avLst/>
          </a:prstGeom>
          <a:noFill/>
          <a:ln w="25400">
            <a:solidFill>
              <a:srgbClr val="C8414C"/>
            </a:solidFill>
            <a:prstDash val="solid"/>
          </a:ln>
        </p:spPr>
      </p:sp>
      <p:sp>
        <p:nvSpPr>
          <p:cNvPr id="22" name="Shape 20"/>
          <p:cNvSpPr/>
          <p:nvPr/>
        </p:nvSpPr>
        <p:spPr>
          <a:xfrm flipV="1">
            <a:off x="1024128" y="2624328"/>
            <a:ext cx="237744" cy="237744"/>
          </a:xfrm>
          <a:prstGeom prst="line">
            <a:avLst/>
          </a:prstGeom>
          <a:noFill/>
          <a:ln w="25400">
            <a:solidFill>
              <a:srgbClr val="C8414C"/>
            </a:solidFill>
            <a:prstDash val="solid"/>
          </a:ln>
        </p:spPr>
      </p:sp>
      <p:sp>
        <p:nvSpPr>
          <p:cNvPr id="23" name="Shape 21"/>
          <p:cNvSpPr/>
          <p:nvPr/>
        </p:nvSpPr>
        <p:spPr>
          <a:xfrm>
            <a:off x="1490472" y="2542032"/>
            <a:ext cx="402336" cy="402336"/>
          </a:xfrm>
          <a:prstGeom prst="ellipse">
            <a:avLst/>
          </a:prstGeom>
          <a:solidFill>
            <a:srgbClr val="E6E6E6"/>
          </a:solidFill>
          <a:ln w="12700">
            <a:solidFill>
              <a:srgbClr val="9AA3B0"/>
            </a:solidFill>
            <a:prstDash val="solid"/>
          </a:ln>
        </p:spPr>
      </p:sp>
      <p:sp>
        <p:nvSpPr>
          <p:cNvPr id="24" name="Shape 22"/>
          <p:cNvSpPr/>
          <p:nvPr/>
        </p:nvSpPr>
        <p:spPr>
          <a:xfrm>
            <a:off x="1572768" y="2624328"/>
            <a:ext cx="237744" cy="237744"/>
          </a:xfrm>
          <a:prstGeom prst="line">
            <a:avLst/>
          </a:prstGeom>
          <a:noFill/>
          <a:ln w="25400">
            <a:solidFill>
              <a:srgbClr val="C8414C"/>
            </a:solidFill>
            <a:prstDash val="solid"/>
          </a:ln>
        </p:spPr>
      </p:sp>
      <p:sp>
        <p:nvSpPr>
          <p:cNvPr id="25" name="Shape 23"/>
          <p:cNvSpPr/>
          <p:nvPr/>
        </p:nvSpPr>
        <p:spPr>
          <a:xfrm flipV="1">
            <a:off x="1572768" y="2624328"/>
            <a:ext cx="237744" cy="237744"/>
          </a:xfrm>
          <a:prstGeom prst="line">
            <a:avLst/>
          </a:prstGeom>
          <a:noFill/>
          <a:ln w="25400">
            <a:solidFill>
              <a:srgbClr val="C8414C"/>
            </a:solidFill>
            <a:prstDash val="solid"/>
          </a:ln>
        </p:spPr>
      </p:sp>
      <p:sp>
        <p:nvSpPr>
          <p:cNvPr id="26" name="Shape 24"/>
          <p:cNvSpPr/>
          <p:nvPr/>
        </p:nvSpPr>
        <p:spPr>
          <a:xfrm>
            <a:off x="2039112" y="2587752"/>
            <a:ext cx="402336" cy="402336"/>
          </a:xfrm>
          <a:prstGeom prst="ellipse">
            <a:avLst/>
          </a:prstGeom>
          <a:solidFill>
            <a:srgbClr val="F3D3A0"/>
          </a:solidFill>
          <a:ln w="12700">
            <a:solidFill>
              <a:srgbClr val="8A6A0A"/>
            </a:solidFill>
            <a:prstDash val="solid"/>
          </a:ln>
        </p:spPr>
      </p:sp>
      <p:sp>
        <p:nvSpPr>
          <p:cNvPr id="27" name="Shape 25"/>
          <p:cNvSpPr/>
          <p:nvPr/>
        </p:nvSpPr>
        <p:spPr>
          <a:xfrm>
            <a:off x="2176272" y="2724912"/>
            <a:ext cx="128016" cy="128016"/>
          </a:xfrm>
          <a:prstGeom prst="ellipse">
            <a:avLst/>
          </a:prstGeom>
          <a:solidFill>
            <a:srgbClr val="8A6A0A"/>
          </a:solidFill>
          <a:ln w="9525">
            <a:solidFill>
              <a:srgbClr val="8A6A0A"/>
            </a:solidFill>
            <a:prstDash val="solid"/>
          </a:ln>
        </p:spPr>
      </p:sp>
      <p:sp>
        <p:nvSpPr>
          <p:cNvPr id="28" name="Shape 26"/>
          <p:cNvSpPr/>
          <p:nvPr/>
        </p:nvSpPr>
        <p:spPr>
          <a:xfrm>
            <a:off x="2496312" y="2633472"/>
            <a:ext cx="402336" cy="402336"/>
          </a:xfrm>
          <a:prstGeom prst="ellipse">
            <a:avLst/>
          </a:prstGeom>
          <a:solidFill>
            <a:srgbClr val="E6E6E6"/>
          </a:solidFill>
          <a:ln w="12700">
            <a:solidFill>
              <a:srgbClr val="9AA3B0"/>
            </a:solidFill>
            <a:prstDash val="solid"/>
          </a:ln>
        </p:spPr>
      </p:sp>
      <p:sp>
        <p:nvSpPr>
          <p:cNvPr id="29" name="Shape 27"/>
          <p:cNvSpPr/>
          <p:nvPr/>
        </p:nvSpPr>
        <p:spPr>
          <a:xfrm>
            <a:off x="2578608" y="2715768"/>
            <a:ext cx="237744" cy="237744"/>
          </a:xfrm>
          <a:prstGeom prst="line">
            <a:avLst/>
          </a:prstGeom>
          <a:noFill/>
          <a:ln w="25400">
            <a:solidFill>
              <a:srgbClr val="C8414C"/>
            </a:solidFill>
            <a:prstDash val="solid"/>
          </a:ln>
        </p:spPr>
      </p:sp>
      <p:sp>
        <p:nvSpPr>
          <p:cNvPr id="30" name="Shape 28"/>
          <p:cNvSpPr/>
          <p:nvPr/>
        </p:nvSpPr>
        <p:spPr>
          <a:xfrm flipV="1">
            <a:off x="2578608" y="2715768"/>
            <a:ext cx="237744" cy="237744"/>
          </a:xfrm>
          <a:prstGeom prst="line">
            <a:avLst/>
          </a:prstGeom>
          <a:noFill/>
          <a:ln w="25400">
            <a:solidFill>
              <a:srgbClr val="C8414C"/>
            </a:solidFill>
            <a:prstDash val="solid"/>
          </a:ln>
        </p:spPr>
      </p:sp>
      <p:sp>
        <p:nvSpPr>
          <p:cNvPr id="31" name="Shape 29"/>
          <p:cNvSpPr/>
          <p:nvPr/>
        </p:nvSpPr>
        <p:spPr>
          <a:xfrm>
            <a:off x="1216152" y="3090672"/>
            <a:ext cx="402336" cy="402336"/>
          </a:xfrm>
          <a:prstGeom prst="ellipse">
            <a:avLst/>
          </a:prstGeom>
          <a:solidFill>
            <a:srgbClr val="F3D3A0"/>
          </a:solidFill>
          <a:ln w="12700">
            <a:solidFill>
              <a:srgbClr val="8A6A0A"/>
            </a:solidFill>
            <a:prstDash val="solid"/>
          </a:ln>
        </p:spPr>
      </p:sp>
      <p:sp>
        <p:nvSpPr>
          <p:cNvPr id="32" name="Shape 30"/>
          <p:cNvSpPr/>
          <p:nvPr/>
        </p:nvSpPr>
        <p:spPr>
          <a:xfrm>
            <a:off x="1353312" y="3227832"/>
            <a:ext cx="128016" cy="128016"/>
          </a:xfrm>
          <a:prstGeom prst="ellipse">
            <a:avLst/>
          </a:prstGeom>
          <a:solidFill>
            <a:srgbClr val="8A6A0A"/>
          </a:solidFill>
          <a:ln w="9525">
            <a:solidFill>
              <a:srgbClr val="8A6A0A"/>
            </a:solidFill>
            <a:prstDash val="solid"/>
          </a:ln>
        </p:spPr>
      </p:sp>
      <p:sp>
        <p:nvSpPr>
          <p:cNvPr id="33" name="Shape 31"/>
          <p:cNvSpPr/>
          <p:nvPr/>
        </p:nvSpPr>
        <p:spPr>
          <a:xfrm>
            <a:off x="1810512" y="3090672"/>
            <a:ext cx="402336" cy="402336"/>
          </a:xfrm>
          <a:prstGeom prst="ellipse">
            <a:avLst/>
          </a:prstGeom>
          <a:solidFill>
            <a:srgbClr val="E6E6E6"/>
          </a:solidFill>
          <a:ln w="12700">
            <a:solidFill>
              <a:srgbClr val="9AA3B0"/>
            </a:solidFill>
            <a:prstDash val="solid"/>
          </a:ln>
        </p:spPr>
      </p:sp>
      <p:sp>
        <p:nvSpPr>
          <p:cNvPr id="34" name="Shape 32"/>
          <p:cNvSpPr/>
          <p:nvPr/>
        </p:nvSpPr>
        <p:spPr>
          <a:xfrm>
            <a:off x="1892808" y="3172968"/>
            <a:ext cx="237744" cy="237744"/>
          </a:xfrm>
          <a:prstGeom prst="line">
            <a:avLst/>
          </a:prstGeom>
          <a:noFill/>
          <a:ln w="25400">
            <a:solidFill>
              <a:srgbClr val="C8414C"/>
            </a:solidFill>
            <a:prstDash val="solid"/>
          </a:ln>
        </p:spPr>
      </p:sp>
      <p:sp>
        <p:nvSpPr>
          <p:cNvPr id="35" name="Shape 33"/>
          <p:cNvSpPr/>
          <p:nvPr/>
        </p:nvSpPr>
        <p:spPr>
          <a:xfrm flipV="1">
            <a:off x="1892808" y="3172968"/>
            <a:ext cx="237744" cy="237744"/>
          </a:xfrm>
          <a:prstGeom prst="line">
            <a:avLst/>
          </a:prstGeom>
          <a:noFill/>
          <a:ln w="25400">
            <a:solidFill>
              <a:srgbClr val="C8414C"/>
            </a:solidFill>
            <a:prstDash val="solid"/>
          </a:ln>
        </p:spPr>
      </p:sp>
      <p:sp>
        <p:nvSpPr>
          <p:cNvPr id="36" name="Shape 34"/>
          <p:cNvSpPr/>
          <p:nvPr/>
        </p:nvSpPr>
        <p:spPr>
          <a:xfrm>
            <a:off x="2313432" y="3090672"/>
            <a:ext cx="402336" cy="402336"/>
          </a:xfrm>
          <a:prstGeom prst="ellipse">
            <a:avLst/>
          </a:prstGeom>
          <a:solidFill>
            <a:srgbClr val="E6E6E6"/>
          </a:solidFill>
          <a:ln w="12700">
            <a:solidFill>
              <a:srgbClr val="9AA3B0"/>
            </a:solidFill>
            <a:prstDash val="solid"/>
          </a:ln>
        </p:spPr>
      </p:sp>
      <p:sp>
        <p:nvSpPr>
          <p:cNvPr id="37" name="Shape 35"/>
          <p:cNvSpPr/>
          <p:nvPr/>
        </p:nvSpPr>
        <p:spPr>
          <a:xfrm>
            <a:off x="2395728" y="3172968"/>
            <a:ext cx="237744" cy="237744"/>
          </a:xfrm>
          <a:prstGeom prst="line">
            <a:avLst/>
          </a:prstGeom>
          <a:noFill/>
          <a:ln w="25400">
            <a:solidFill>
              <a:srgbClr val="C8414C"/>
            </a:solidFill>
            <a:prstDash val="solid"/>
          </a:ln>
        </p:spPr>
      </p:sp>
      <p:sp>
        <p:nvSpPr>
          <p:cNvPr id="38" name="Shape 36"/>
          <p:cNvSpPr/>
          <p:nvPr/>
        </p:nvSpPr>
        <p:spPr>
          <a:xfrm flipV="1">
            <a:off x="2395728" y="3172968"/>
            <a:ext cx="237744" cy="237744"/>
          </a:xfrm>
          <a:prstGeom prst="line">
            <a:avLst/>
          </a:prstGeom>
          <a:noFill/>
          <a:ln w="25400">
            <a:solidFill>
              <a:srgbClr val="C8414C"/>
            </a:solidFill>
            <a:prstDash val="solid"/>
          </a:ln>
        </p:spPr>
      </p:sp>
      <p:sp>
        <p:nvSpPr>
          <p:cNvPr id="39" name="Shape 37"/>
          <p:cNvSpPr/>
          <p:nvPr/>
        </p:nvSpPr>
        <p:spPr>
          <a:xfrm>
            <a:off x="713232" y="1901952"/>
            <a:ext cx="310896" cy="310896"/>
          </a:xfrm>
          <a:prstGeom prst="ellipse">
            <a:avLst/>
          </a:prstGeom>
          <a:solidFill>
            <a:srgbClr val="E8E2F4"/>
          </a:solidFill>
          <a:ln w="15875">
            <a:solidFill>
              <a:srgbClr val="6A4C93"/>
            </a:solidFill>
            <a:prstDash val="solid"/>
          </a:ln>
        </p:spPr>
      </p:sp>
      <p:sp>
        <p:nvSpPr>
          <p:cNvPr id="40" name="Shape 38"/>
          <p:cNvSpPr/>
          <p:nvPr/>
        </p:nvSpPr>
        <p:spPr>
          <a:xfrm>
            <a:off x="822960" y="1984248"/>
            <a:ext cx="146304" cy="146304"/>
          </a:xfrm>
          <a:prstGeom prst="ellipse">
            <a:avLst/>
          </a:prstGeom>
          <a:solidFill>
            <a:srgbClr val="B9A6D8"/>
          </a:solidFill>
          <a:ln w="9525">
            <a:solidFill>
              <a:srgbClr val="6A4C93"/>
            </a:solidFill>
            <a:prstDash val="solid"/>
          </a:ln>
        </p:spPr>
      </p:sp>
      <p:sp>
        <p:nvSpPr>
          <p:cNvPr id="41" name="Shape 39"/>
          <p:cNvSpPr/>
          <p:nvPr/>
        </p:nvSpPr>
        <p:spPr>
          <a:xfrm>
            <a:off x="2724912" y="2176272"/>
            <a:ext cx="310896" cy="310896"/>
          </a:xfrm>
          <a:prstGeom prst="ellipse">
            <a:avLst/>
          </a:prstGeom>
          <a:solidFill>
            <a:srgbClr val="E8E2F4"/>
          </a:solidFill>
          <a:ln w="15875">
            <a:solidFill>
              <a:srgbClr val="6A4C93"/>
            </a:solidFill>
            <a:prstDash val="solid"/>
          </a:ln>
        </p:spPr>
      </p:sp>
      <p:sp>
        <p:nvSpPr>
          <p:cNvPr id="42" name="Shape 40"/>
          <p:cNvSpPr/>
          <p:nvPr/>
        </p:nvSpPr>
        <p:spPr>
          <a:xfrm>
            <a:off x="2834640" y="2258568"/>
            <a:ext cx="146304" cy="146304"/>
          </a:xfrm>
          <a:prstGeom prst="ellipse">
            <a:avLst/>
          </a:prstGeom>
          <a:solidFill>
            <a:srgbClr val="B9A6D8"/>
          </a:solidFill>
          <a:ln w="9525">
            <a:solidFill>
              <a:srgbClr val="6A4C93"/>
            </a:solidFill>
            <a:prstDash val="solid"/>
          </a:ln>
        </p:spPr>
      </p:sp>
      <p:sp>
        <p:nvSpPr>
          <p:cNvPr id="43" name="Shape 41"/>
          <p:cNvSpPr/>
          <p:nvPr/>
        </p:nvSpPr>
        <p:spPr>
          <a:xfrm>
            <a:off x="1993392" y="3502152"/>
            <a:ext cx="310896" cy="310896"/>
          </a:xfrm>
          <a:prstGeom prst="ellipse">
            <a:avLst/>
          </a:prstGeom>
          <a:solidFill>
            <a:srgbClr val="E8E2F4"/>
          </a:solidFill>
          <a:ln w="15875">
            <a:solidFill>
              <a:srgbClr val="6A4C93"/>
            </a:solidFill>
            <a:prstDash val="solid"/>
          </a:ln>
        </p:spPr>
      </p:sp>
      <p:sp>
        <p:nvSpPr>
          <p:cNvPr id="44" name="Shape 42"/>
          <p:cNvSpPr/>
          <p:nvPr/>
        </p:nvSpPr>
        <p:spPr>
          <a:xfrm>
            <a:off x="2103120" y="3584448"/>
            <a:ext cx="146304" cy="146304"/>
          </a:xfrm>
          <a:prstGeom prst="ellipse">
            <a:avLst/>
          </a:prstGeom>
          <a:solidFill>
            <a:srgbClr val="B9A6D8"/>
          </a:solidFill>
          <a:ln w="9525">
            <a:solidFill>
              <a:srgbClr val="6A4C93"/>
            </a:solidFill>
            <a:prstDash val="solid"/>
          </a:ln>
        </p:spPr>
      </p:sp>
      <p:sp>
        <p:nvSpPr>
          <p:cNvPr id="45" name="Text 43"/>
          <p:cNvSpPr/>
          <p:nvPr/>
        </p:nvSpPr>
        <p:spPr>
          <a:xfrm>
            <a:off x="548640" y="4069080"/>
            <a:ext cx="2743200" cy="548640"/>
          </a:xfrm>
          <a:prstGeom prst="rect">
            <a:avLst/>
          </a:prstGeom>
          <a:noFill/>
          <a:ln/>
        </p:spPr>
        <p:txBody>
          <a:bodyPr wrap="square" lIns="0" tIns="0" rIns="0" bIns="0" rtlCol="0" anchor="t"/>
          <a:lstStyle/>
          <a:p>
            <a:pPr algn="l" indent="0" marL="0">
              <a:buNone/>
            </a:pPr>
            <a:r>
              <a:rPr lang="en-US" sz="1000" b="1" dirty="0">
                <a:solidFill>
                  <a:srgbClr val="6A4C93"/>
                </a:solidFill>
                <a:latin typeface="Calibri" pitchFamily="34" charset="0"/>
                <a:ea typeface="Calibri" pitchFamily="34" charset="-122"/>
                <a:cs typeface="Calibri" pitchFamily="34" charset="-120"/>
              </a:rPr>
              <a:t>white blood cells</a:t>
            </a:r>
            <a:r>
              <a:rPr lang="en-US" sz="1000" dirty="0">
                <a:solidFill>
                  <a:srgbClr val="6A4C93"/>
                </a:solidFill>
                <a:latin typeface="Calibri" pitchFamily="34" charset="0"/>
                <a:ea typeface="Calibri" pitchFamily="34" charset="-122"/>
                <a:cs typeface="Calibri" pitchFamily="34" charset="-120"/>
              </a:rPr>
              <a:t> (immune system) attack the cells that make insulin</a:t>
            </a:r>
            <a:endParaRPr lang="en-US" sz="1000" dirty="0"/>
          </a:p>
        </p:txBody>
      </p:sp>
      <p:sp>
        <p:nvSpPr>
          <p:cNvPr id="46" name="Shape 44"/>
          <p:cNvSpPr/>
          <p:nvPr/>
        </p:nvSpPr>
        <p:spPr>
          <a:xfrm>
            <a:off x="3337560" y="1371600"/>
            <a:ext cx="91" cy="3931920"/>
          </a:xfrm>
          <a:prstGeom prst="line">
            <a:avLst/>
          </a:prstGeom>
          <a:noFill/>
          <a:ln w="12700">
            <a:solidFill>
              <a:srgbClr val="CFE0DE"/>
            </a:solidFill>
            <a:prstDash val="dash"/>
          </a:ln>
        </p:spPr>
      </p:sp>
      <p:sp>
        <p:nvSpPr>
          <p:cNvPr id="47" name="Text 45"/>
          <p:cNvSpPr/>
          <p:nvPr/>
        </p:nvSpPr>
        <p:spPr>
          <a:xfrm>
            <a:off x="3474720" y="1298448"/>
            <a:ext cx="2377440" cy="274320"/>
          </a:xfrm>
          <a:prstGeom prst="rect">
            <a:avLst/>
          </a:prstGeom>
          <a:noFill/>
          <a:ln/>
        </p:spPr>
        <p:txBody>
          <a:bodyPr wrap="square" lIns="0" tIns="0" rIns="0" bIns="0" rtlCol="0" anchor="ctr"/>
          <a:lstStyle/>
          <a:p>
            <a:pPr algn="l" indent="0" marL="0">
              <a:buNone/>
            </a:pPr>
            <a:r>
              <a:rPr lang="en-US" sz="1100" b="1" dirty="0">
                <a:solidFill>
                  <a:srgbClr val="133536"/>
                </a:solidFill>
                <a:latin typeface="Calibri" pitchFamily="34" charset="0"/>
                <a:ea typeface="Calibri" pitchFamily="34" charset="-122"/>
                <a:cs typeface="Calibri" pitchFamily="34" charset="-120"/>
              </a:rPr>
              <a:t>Treatment</a:t>
            </a:r>
            <a:endParaRPr lang="en-US" sz="1100" dirty="0"/>
          </a:p>
        </p:txBody>
      </p:sp>
      <p:sp>
        <p:nvSpPr>
          <p:cNvPr id="48" name="Shape 46"/>
          <p:cNvSpPr/>
          <p:nvPr/>
        </p:nvSpPr>
        <p:spPr>
          <a:xfrm>
            <a:off x="3611880" y="1737360"/>
            <a:ext cx="685800" cy="960120"/>
          </a:xfrm>
          <a:prstGeom prst="roundRect">
            <a:avLst>
              <a:gd name="adj" fmla="val 10667"/>
            </a:avLst>
          </a:prstGeom>
          <a:solidFill>
            <a:srgbClr val="E6EBF2"/>
          </a:solidFill>
          <a:ln w="15875">
            <a:solidFill>
              <a:srgbClr val="5A6275"/>
            </a:solidFill>
            <a:prstDash val="solid"/>
          </a:ln>
        </p:spPr>
      </p:sp>
      <p:sp>
        <p:nvSpPr>
          <p:cNvPr id="49" name="Shape 47"/>
          <p:cNvSpPr/>
          <p:nvPr/>
        </p:nvSpPr>
        <p:spPr>
          <a:xfrm>
            <a:off x="3703320" y="1847088"/>
            <a:ext cx="502920" cy="347472"/>
          </a:xfrm>
          <a:prstGeom prst="rect">
            <a:avLst/>
          </a:prstGeom>
          <a:solidFill>
            <a:srgbClr val="D8F0E2"/>
          </a:solidFill>
          <a:ln w="9525">
            <a:solidFill>
              <a:srgbClr val="5A6275"/>
            </a:solidFill>
            <a:prstDash val="solid"/>
          </a:ln>
        </p:spPr>
      </p:sp>
      <p:sp>
        <p:nvSpPr>
          <p:cNvPr id="50" name="Text 48"/>
          <p:cNvSpPr/>
          <p:nvPr/>
        </p:nvSpPr>
        <p:spPr>
          <a:xfrm>
            <a:off x="3703320" y="1847088"/>
            <a:ext cx="502920" cy="347472"/>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9.8</a:t>
            </a:r>
            <a:endParaRPr lang="en-US" sz="1200" dirty="0"/>
          </a:p>
        </p:txBody>
      </p:sp>
      <p:sp>
        <p:nvSpPr>
          <p:cNvPr id="51" name="Shape 49"/>
          <p:cNvSpPr/>
          <p:nvPr/>
        </p:nvSpPr>
        <p:spPr>
          <a:xfrm>
            <a:off x="3886200" y="2697480"/>
            <a:ext cx="137160" cy="228600"/>
          </a:xfrm>
          <a:prstGeom prst="rect">
            <a:avLst/>
          </a:prstGeom>
          <a:solidFill>
            <a:srgbClr val="FFFFFF"/>
          </a:solidFill>
          <a:ln w="9525">
            <a:solidFill>
              <a:srgbClr val="5A6275"/>
            </a:solidFill>
            <a:prstDash val="solid"/>
          </a:ln>
        </p:spPr>
      </p:sp>
      <p:sp>
        <p:nvSpPr>
          <p:cNvPr id="52" name="Shape 50"/>
          <p:cNvSpPr/>
          <p:nvPr/>
        </p:nvSpPr>
        <p:spPr>
          <a:xfrm>
            <a:off x="3899916" y="2980944"/>
            <a:ext cx="109728" cy="109728"/>
          </a:xfrm>
          <a:prstGeom prst="ellipse">
            <a:avLst/>
          </a:prstGeom>
          <a:solidFill>
            <a:srgbClr val="C8414C"/>
          </a:solidFill>
          <a:ln w="9525">
            <a:solidFill>
              <a:srgbClr val="C8414C"/>
            </a:solidFill>
            <a:prstDash val="solid"/>
          </a:ln>
        </p:spPr>
      </p:sp>
      <p:sp>
        <p:nvSpPr>
          <p:cNvPr id="53" name="Text 51"/>
          <p:cNvSpPr/>
          <p:nvPr/>
        </p:nvSpPr>
        <p:spPr>
          <a:xfrm>
            <a:off x="4389120" y="1783080"/>
            <a:ext cx="1463040" cy="54864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test</a:t>
            </a:r>
            <a:r>
              <a:rPr lang="en-US" sz="1000" dirty="0">
                <a:solidFill>
                  <a:srgbClr val="262B3A"/>
                </a:solidFill>
                <a:latin typeface="Calibri" pitchFamily="34" charset="0"/>
                <a:ea typeface="Calibri" pitchFamily="34" charset="-122"/>
                <a:cs typeface="Calibri" pitchFamily="34" charset="-120"/>
              </a:rPr>
              <a:t> blood glucose (finger prick)</a:t>
            </a:r>
            <a:endParaRPr lang="en-US" sz="1000" dirty="0"/>
          </a:p>
        </p:txBody>
      </p:sp>
      <p:sp>
        <p:nvSpPr>
          <p:cNvPr id="54" name="Shape 52"/>
          <p:cNvSpPr/>
          <p:nvPr/>
        </p:nvSpPr>
        <p:spPr>
          <a:xfrm>
            <a:off x="3749040" y="3429000"/>
            <a:ext cx="1024128" cy="201168"/>
          </a:xfrm>
          <a:prstGeom prst="roundRect">
            <a:avLst>
              <a:gd name="adj" fmla="val 36364"/>
            </a:avLst>
          </a:prstGeom>
          <a:solidFill>
            <a:srgbClr val="5B9BD5"/>
          </a:solidFill>
          <a:ln w="12700">
            <a:solidFill>
              <a:srgbClr val="2F5F8F"/>
            </a:solidFill>
            <a:prstDash val="solid"/>
          </a:ln>
        </p:spPr>
      </p:sp>
      <p:sp>
        <p:nvSpPr>
          <p:cNvPr id="55" name="Shape 53"/>
          <p:cNvSpPr/>
          <p:nvPr/>
        </p:nvSpPr>
        <p:spPr>
          <a:xfrm>
            <a:off x="4773168" y="3456432"/>
            <a:ext cx="219456" cy="146304"/>
          </a:xfrm>
          <a:prstGeom prst="rect">
            <a:avLst/>
          </a:prstGeom>
          <a:solidFill>
            <a:srgbClr val="E6EBF2"/>
          </a:solidFill>
          <a:ln w="12700">
            <a:solidFill>
              <a:srgbClr val="6B7385"/>
            </a:solidFill>
            <a:prstDash val="solid"/>
          </a:ln>
        </p:spPr>
      </p:sp>
      <p:sp>
        <p:nvSpPr>
          <p:cNvPr id="56" name="Shape 54"/>
          <p:cNvSpPr/>
          <p:nvPr/>
        </p:nvSpPr>
        <p:spPr>
          <a:xfrm>
            <a:off x="4992624" y="3529584"/>
            <a:ext cx="219456" cy="91"/>
          </a:xfrm>
          <a:prstGeom prst="line">
            <a:avLst/>
          </a:prstGeom>
          <a:noFill/>
          <a:ln w="12700">
            <a:solidFill>
              <a:srgbClr val="6B7385"/>
            </a:solidFill>
            <a:prstDash val="solid"/>
          </a:ln>
        </p:spPr>
      </p:sp>
      <p:sp>
        <p:nvSpPr>
          <p:cNvPr id="57" name="Shape 55"/>
          <p:cNvSpPr/>
          <p:nvPr/>
        </p:nvSpPr>
        <p:spPr>
          <a:xfrm>
            <a:off x="3639312" y="3447288"/>
            <a:ext cx="109728" cy="164592"/>
          </a:xfrm>
          <a:prstGeom prst="rect">
            <a:avLst/>
          </a:prstGeom>
          <a:solidFill>
            <a:srgbClr val="2F5F8F"/>
          </a:solidFill>
          <a:ln w="12700">
            <a:solidFill>
              <a:srgbClr val="2F5F8F"/>
            </a:solidFill>
            <a:prstDash val="solid"/>
          </a:ln>
        </p:spPr>
      </p:sp>
      <p:sp>
        <p:nvSpPr>
          <p:cNvPr id="58" name="Shape 56"/>
          <p:cNvSpPr/>
          <p:nvPr/>
        </p:nvSpPr>
        <p:spPr>
          <a:xfrm>
            <a:off x="4261104" y="3474720"/>
            <a:ext cx="182880" cy="109728"/>
          </a:xfrm>
          <a:prstGeom prst="rect">
            <a:avLst/>
          </a:prstGeom>
          <a:solidFill>
            <a:srgbClr val="FFFFFF"/>
          </a:solidFill>
          <a:ln/>
        </p:spPr>
      </p:sp>
      <p:sp>
        <p:nvSpPr>
          <p:cNvPr id="59" name="Text 57"/>
          <p:cNvSpPr/>
          <p:nvPr/>
        </p:nvSpPr>
        <p:spPr>
          <a:xfrm>
            <a:off x="3520440" y="3703320"/>
            <a:ext cx="2377440" cy="45720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inject insulin</a:t>
            </a:r>
            <a:r>
              <a:rPr lang="en-US" sz="1000" dirty="0">
                <a:solidFill>
                  <a:srgbClr val="262B3A"/>
                </a:solidFill>
                <a:latin typeface="Calibri" pitchFamily="34" charset="0"/>
                <a:ea typeface="Calibri" pitchFamily="34" charset="-122"/>
                <a:cs typeface="Calibri" pitchFamily="34" charset="-120"/>
              </a:rPr>
              <a:t> (pen or pump) several times a day</a:t>
            </a:r>
            <a:endParaRPr lang="en-US" sz="1000" dirty="0"/>
          </a:p>
        </p:txBody>
      </p:sp>
      <p:sp>
        <p:nvSpPr>
          <p:cNvPr id="60" name="Text 58"/>
          <p:cNvSpPr/>
          <p:nvPr/>
        </p:nvSpPr>
        <p:spPr>
          <a:xfrm>
            <a:off x="3520440" y="4206240"/>
            <a:ext cx="237744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match food (carbohydrate) and exercise to the insulin dose</a:t>
            </a:r>
            <a:endParaRPr lang="en-US" sz="1000" dirty="0"/>
          </a:p>
        </p:txBody>
      </p:sp>
      <p:sp>
        <p:nvSpPr>
          <p:cNvPr id="61" name="Shape 59"/>
          <p:cNvSpPr/>
          <p:nvPr/>
        </p:nvSpPr>
        <p:spPr>
          <a:xfrm>
            <a:off x="6217920" y="1188720"/>
            <a:ext cx="5562295" cy="4526280"/>
          </a:xfrm>
          <a:prstGeom prst="roundRect">
            <a:avLst>
              <a:gd name="adj" fmla="val 1212"/>
            </a:avLst>
          </a:prstGeom>
          <a:solidFill>
            <a:srgbClr val="F4FAF9"/>
          </a:solidFill>
          <a:ln w="9525">
            <a:solidFill>
              <a:srgbClr val="CFE0DE"/>
            </a:solidFill>
            <a:prstDash val="solid"/>
          </a:ln>
        </p:spPr>
      </p:sp>
      <p:sp>
        <p:nvSpPr>
          <p:cNvPr id="62" name="Text 6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Type 1: no insulin</a:t>
            </a:r>
            <a:endParaRPr lang="en-US" sz="1300" dirty="0"/>
          </a:p>
        </p:txBody>
      </p:sp>
      <p:sp>
        <p:nvSpPr>
          <p:cNvPr id="63" name="Text 61"/>
          <p:cNvSpPr/>
          <p:nvPr/>
        </p:nvSpPr>
        <p:spPr>
          <a:xfrm>
            <a:off x="6382512" y="1609344"/>
            <a:ext cx="5233111" cy="403250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Cause</a:t>
            </a:r>
            <a:r>
              <a:rPr lang="en-US" sz="1150" dirty="0">
                <a:solidFill>
                  <a:srgbClr val="262B3A"/>
                </a:solidFill>
                <a:latin typeface="Calibri" pitchFamily="34" charset="0"/>
                <a:ea typeface="Calibri" pitchFamily="34" charset="-122"/>
                <a:cs typeface="Calibri" pitchFamily="34" charset="-120"/>
              </a:rPr>
              <a:t>: the pancreas makes </a:t>
            </a:r>
            <a:r>
              <a:rPr lang="en-US" sz="1150" b="1" dirty="0">
                <a:solidFill>
                  <a:srgbClr val="262B3A"/>
                </a:solidFill>
                <a:latin typeface="Calibri" pitchFamily="34" charset="0"/>
                <a:ea typeface="Calibri" pitchFamily="34" charset="-122"/>
                <a:cs typeface="Calibri" pitchFamily="34" charset="-120"/>
              </a:rPr>
              <a:t>little or no insulin</a:t>
            </a:r>
            <a:r>
              <a:rPr lang="en-US" sz="1150" dirty="0">
                <a:solidFill>
                  <a:srgbClr val="262B3A"/>
                </a:solidFill>
                <a:latin typeface="Calibri" pitchFamily="34" charset="0"/>
                <a:ea typeface="Calibri" pitchFamily="34" charset="-122"/>
                <a:cs typeface="Calibri" pitchFamily="34" charset="-120"/>
              </a:rPr>
              <a:t>. The immune system destroys the insulin-making cells. It usually starts in </a:t>
            </a:r>
            <a:r>
              <a:rPr lang="en-US" sz="1150" b="1" dirty="0">
                <a:solidFill>
                  <a:srgbClr val="262B3A"/>
                </a:solidFill>
                <a:latin typeface="Calibri" pitchFamily="34" charset="0"/>
                <a:ea typeface="Calibri" pitchFamily="34" charset="-122"/>
                <a:cs typeface="Calibri" pitchFamily="34" charset="-120"/>
              </a:rPr>
              <a:t>childhood</a:t>
            </a:r>
            <a:r>
              <a:rPr lang="en-US" sz="1150" dirty="0">
                <a:solidFill>
                  <a:srgbClr val="262B3A"/>
                </a:solidFill>
                <a:latin typeface="Calibri" pitchFamily="34" charset="0"/>
                <a:ea typeface="Calibri" pitchFamily="34" charset="-122"/>
                <a:cs typeface="Calibri" pitchFamily="34" charset="-120"/>
              </a:rPr>
              <a:t> or the teenage years; genes play a part. It is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caused by lifestyle.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Symptoms</a:t>
            </a:r>
            <a:r>
              <a:rPr lang="en-US" sz="1150" dirty="0">
                <a:solidFill>
                  <a:srgbClr val="262B3A"/>
                </a:solidFill>
                <a:latin typeface="Calibri" pitchFamily="34" charset="0"/>
                <a:ea typeface="Calibri" pitchFamily="34" charset="-122"/>
                <a:cs typeface="Calibri" pitchFamily="34" charset="-120"/>
              </a:rPr>
              <a:t>: blood glucose stays </a:t>
            </a:r>
            <a:r>
              <a:rPr lang="en-US" sz="1150" b="1" dirty="0">
                <a:solidFill>
                  <a:srgbClr val="262B3A"/>
                </a:solidFill>
                <a:latin typeface="Calibri" pitchFamily="34" charset="0"/>
                <a:ea typeface="Calibri" pitchFamily="34" charset="-122"/>
                <a:cs typeface="Calibri" pitchFamily="34" charset="-120"/>
              </a:rPr>
              <a:t>high</a:t>
            </a:r>
            <a:r>
              <a:rPr lang="en-US" sz="1150" dirty="0">
                <a:solidFill>
                  <a:srgbClr val="262B3A"/>
                </a:solidFill>
                <a:latin typeface="Calibri" pitchFamily="34" charset="0"/>
                <a:ea typeface="Calibri" pitchFamily="34" charset="-122"/>
                <a:cs typeface="Calibri" pitchFamily="34" charset="-120"/>
              </a:rPr>
              <a:t>; thirst, passing a lot of urine, </a:t>
            </a:r>
            <a:r>
              <a:rPr lang="en-US" sz="1150" b="1" dirty="0">
                <a:solidFill>
                  <a:srgbClr val="262B3A"/>
                </a:solidFill>
                <a:latin typeface="Calibri" pitchFamily="34" charset="0"/>
                <a:ea typeface="Calibri" pitchFamily="34" charset="-122"/>
                <a:cs typeface="Calibri" pitchFamily="34" charset="-120"/>
              </a:rPr>
              <a:t>glucose in the urine</a:t>
            </a:r>
            <a:r>
              <a:rPr lang="en-US" sz="1150" dirty="0">
                <a:solidFill>
                  <a:srgbClr val="262B3A"/>
                </a:solidFill>
                <a:latin typeface="Calibri" pitchFamily="34" charset="0"/>
                <a:ea typeface="Calibri" pitchFamily="34" charset="-122"/>
                <a:cs typeface="Calibri" pitchFamily="34" charset="-120"/>
              </a:rPr>
              <a:t>, tiredness, weight loss.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Treatment</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insulin injections</a:t>
            </a:r>
            <a:r>
              <a:rPr lang="en-US" sz="1150" dirty="0">
                <a:solidFill>
                  <a:srgbClr val="262B3A"/>
                </a:solidFill>
                <a:latin typeface="Calibri" pitchFamily="34" charset="0"/>
                <a:ea typeface="Calibri" pitchFamily="34" charset="-122"/>
                <a:cs typeface="Calibri" pitchFamily="34" charset="-120"/>
              </a:rPr>
              <a:t> for life, regular blood glucose </a:t>
            </a:r>
            <a:r>
              <a:rPr lang="en-US" sz="1150" b="1" dirty="0">
                <a:solidFill>
                  <a:srgbClr val="262B3A"/>
                </a:solidFill>
                <a:latin typeface="Calibri" pitchFamily="34" charset="0"/>
                <a:ea typeface="Calibri" pitchFamily="34" charset="-122"/>
                <a:cs typeface="Calibri" pitchFamily="34" charset="-120"/>
              </a:rPr>
              <a:t>tests</a:t>
            </a:r>
            <a:r>
              <a:rPr lang="en-US" sz="1150" dirty="0">
                <a:solidFill>
                  <a:srgbClr val="262B3A"/>
                </a:solidFill>
                <a:latin typeface="Calibri" pitchFamily="34" charset="0"/>
                <a:ea typeface="Calibri" pitchFamily="34" charset="-122"/>
                <a:cs typeface="Calibri" pitchFamily="34" charset="-120"/>
              </a:rPr>
              <a:t>, and a controlled diet and exercise.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Insulin cannot be swallowed as a tablet: it is a </a:t>
            </a:r>
            <a:r>
              <a:rPr lang="en-US" sz="1150" b="1" dirty="0">
                <a:solidFill>
                  <a:srgbClr val="262B3A"/>
                </a:solidFill>
                <a:latin typeface="Calibri" pitchFamily="34" charset="0"/>
                <a:ea typeface="Calibri" pitchFamily="34" charset="-122"/>
                <a:cs typeface="Calibri" pitchFamily="34" charset="-120"/>
              </a:rPr>
              <a:t>protein</a:t>
            </a:r>
            <a:r>
              <a:rPr lang="en-US" sz="1150" dirty="0">
                <a:solidFill>
                  <a:srgbClr val="262B3A"/>
                </a:solidFill>
                <a:latin typeface="Calibri" pitchFamily="34" charset="0"/>
                <a:ea typeface="Calibri" pitchFamily="34" charset="-122"/>
                <a:cs typeface="Calibri" pitchFamily="34" charset="-120"/>
              </a:rPr>
              <a:t>, so it would be </a:t>
            </a:r>
            <a:r>
              <a:rPr lang="en-US" sz="1150" b="1" dirty="0">
                <a:solidFill>
                  <a:srgbClr val="262B3A"/>
                </a:solidFill>
                <a:latin typeface="Calibri" pitchFamily="34" charset="0"/>
                <a:ea typeface="Calibri" pitchFamily="34" charset="-122"/>
                <a:cs typeface="Calibri" pitchFamily="34" charset="-120"/>
              </a:rPr>
              <a:t>digested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person with type 1 diabetes must </a:t>
            </a:r>
            <a:r>
              <a:rPr lang="en-US" sz="1150" b="1" dirty="0">
                <a:solidFill>
                  <a:srgbClr val="262B3A"/>
                </a:solidFill>
                <a:latin typeface="Calibri" pitchFamily="34" charset="0"/>
                <a:ea typeface="Calibri" pitchFamily="34" charset="-122"/>
                <a:cs typeface="Calibri" pitchFamily="34" charset="-120"/>
              </a:rPr>
              <a:t>inject</a:t>
            </a:r>
            <a:r>
              <a:rPr lang="en-US" sz="1150" dirty="0">
                <a:solidFill>
                  <a:srgbClr val="262B3A"/>
                </a:solidFill>
                <a:latin typeface="Calibri" pitchFamily="34" charset="0"/>
                <a:ea typeface="Calibri" pitchFamily="34" charset="-122"/>
                <a:cs typeface="Calibri" pitchFamily="34" charset="-120"/>
              </a:rPr>
              <a:t> insulin rather than take it as a tablet.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Type 2 diabetes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body cells no longer respond properly to insulin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B5.6.3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insulin binding to receptors on a body cell; not to scale</a:t>
            </a:r>
            <a:endParaRPr lang="en-US" sz="1000" dirty="0"/>
          </a:p>
        </p:txBody>
      </p:sp>
      <p:sp>
        <p:nvSpPr>
          <p:cNvPr id="10" name="Text 8"/>
          <p:cNvSpPr/>
          <p:nvPr/>
        </p:nvSpPr>
        <p:spPr>
          <a:xfrm>
            <a:off x="594360" y="1298448"/>
            <a:ext cx="251460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Normal: cell responds</a:t>
            </a:r>
            <a:endParaRPr lang="en-US" sz="1100" dirty="0"/>
          </a:p>
        </p:txBody>
      </p:sp>
      <p:sp>
        <p:nvSpPr>
          <p:cNvPr id="11" name="Shape 9"/>
          <p:cNvSpPr/>
          <p:nvPr/>
        </p:nvSpPr>
        <p:spPr>
          <a:xfrm>
            <a:off x="594360" y="1691640"/>
            <a:ext cx="2514600" cy="1188720"/>
          </a:xfrm>
          <a:prstGeom prst="roundRect">
            <a:avLst>
              <a:gd name="adj" fmla="val 4615"/>
            </a:avLst>
          </a:prstGeom>
          <a:solidFill>
            <a:srgbClr val="E3F0FB"/>
          </a:solidFill>
          <a:ln/>
        </p:spPr>
      </p:sp>
      <p:sp>
        <p:nvSpPr>
          <p:cNvPr id="12" name="Text 10"/>
          <p:cNvSpPr/>
          <p:nvPr/>
        </p:nvSpPr>
        <p:spPr>
          <a:xfrm>
            <a:off x="640080" y="1709928"/>
            <a:ext cx="914400" cy="201168"/>
          </a:xfrm>
          <a:prstGeom prst="rect">
            <a:avLst/>
          </a:prstGeom>
          <a:noFill/>
          <a:ln/>
        </p:spPr>
        <p:txBody>
          <a:bodyPr wrap="square" lIns="0" tIns="0" rIns="0" bIns="0" rtlCol="0" anchor="ctr"/>
          <a:lstStyle/>
          <a:p>
            <a:pPr algn="l" indent="0" marL="0">
              <a:buNone/>
            </a:pPr>
            <a:r>
              <a:rPr lang="en-US" sz="1000" i="1" dirty="0">
                <a:solidFill>
                  <a:srgbClr val="1F4E8C"/>
                </a:solidFill>
                <a:latin typeface="Calibri" pitchFamily="34" charset="0"/>
                <a:ea typeface="Calibri" pitchFamily="34" charset="-122"/>
                <a:cs typeface="Calibri" pitchFamily="34" charset="-120"/>
              </a:rPr>
              <a:t>blood</a:t>
            </a:r>
            <a:endParaRPr lang="en-US" sz="1000" dirty="0"/>
          </a:p>
        </p:txBody>
      </p:sp>
      <p:sp>
        <p:nvSpPr>
          <p:cNvPr id="13" name="Shape 11"/>
          <p:cNvSpPr/>
          <p:nvPr/>
        </p:nvSpPr>
        <p:spPr>
          <a:xfrm>
            <a:off x="594360" y="2880360"/>
            <a:ext cx="2514600" cy="1600200"/>
          </a:xfrm>
          <a:prstGeom prst="rect">
            <a:avLst/>
          </a:prstGeom>
          <a:solidFill>
            <a:srgbClr val="FBF3DF"/>
          </a:solidFill>
          <a:ln w="19050">
            <a:solidFill>
              <a:srgbClr val="8A6D3B"/>
            </a:solidFill>
            <a:prstDash val="solid"/>
          </a:ln>
        </p:spPr>
      </p:sp>
      <p:sp>
        <p:nvSpPr>
          <p:cNvPr id="14" name="Text 12"/>
          <p:cNvSpPr/>
          <p:nvPr/>
        </p:nvSpPr>
        <p:spPr>
          <a:xfrm>
            <a:off x="640080" y="4206240"/>
            <a:ext cx="1097280" cy="219456"/>
          </a:xfrm>
          <a:prstGeom prst="rect">
            <a:avLst/>
          </a:prstGeom>
          <a:noFill/>
          <a:ln/>
        </p:spPr>
        <p:txBody>
          <a:bodyPr wrap="square" lIns="0" tIns="0" rIns="0" bIns="0" rtlCol="0" anchor="ctr"/>
          <a:lstStyle/>
          <a:p>
            <a:pPr algn="l" indent="0" marL="0">
              <a:buNone/>
            </a:pPr>
            <a:r>
              <a:rPr lang="en-US" sz="1000" i="1" dirty="0">
                <a:solidFill>
                  <a:srgbClr val="8A6D3B"/>
                </a:solidFill>
                <a:latin typeface="Calibri" pitchFamily="34" charset="0"/>
                <a:ea typeface="Calibri" pitchFamily="34" charset="-122"/>
                <a:cs typeface="Calibri" pitchFamily="34" charset="-120"/>
              </a:rPr>
              <a:t>body cell</a:t>
            </a:r>
            <a:endParaRPr lang="en-US" sz="1000" dirty="0"/>
          </a:p>
        </p:txBody>
      </p:sp>
      <p:sp>
        <p:nvSpPr>
          <p:cNvPr id="15" name="Shape 13"/>
          <p:cNvSpPr/>
          <p:nvPr/>
        </p:nvSpPr>
        <p:spPr>
          <a:xfrm>
            <a:off x="960120" y="2743200"/>
            <a:ext cx="274320" cy="146304"/>
          </a:xfrm>
          <a:prstGeom prst="rect">
            <a:avLst/>
          </a:prstGeom>
          <a:solidFill>
            <a:srgbClr val="2E8B57"/>
          </a:solidFill>
          <a:ln w="9525">
            <a:solidFill>
              <a:srgbClr val="1E6B40"/>
            </a:solidFill>
            <a:prstDash val="solid"/>
          </a:ln>
        </p:spPr>
      </p:sp>
      <p:sp>
        <p:nvSpPr>
          <p:cNvPr id="16" name="Shape 14"/>
          <p:cNvSpPr/>
          <p:nvPr/>
        </p:nvSpPr>
        <p:spPr>
          <a:xfrm>
            <a:off x="1024128" y="27422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17" name="Shape 15"/>
          <p:cNvSpPr/>
          <p:nvPr/>
        </p:nvSpPr>
        <p:spPr>
          <a:xfrm rot="10800000">
            <a:off x="1024128" y="2734056"/>
            <a:ext cx="146304" cy="128016"/>
          </a:xfrm>
          <a:prstGeom prst="triangle">
            <a:avLst/>
          </a:prstGeom>
          <a:solidFill>
            <a:srgbClr val="E08A1E"/>
          </a:solidFill>
          <a:ln w="9525">
            <a:solidFill>
              <a:srgbClr val="9A5A0A"/>
            </a:solidFill>
            <a:prstDash val="solid"/>
          </a:ln>
        </p:spPr>
      </p:sp>
      <p:sp>
        <p:nvSpPr>
          <p:cNvPr id="18" name="Shape 16"/>
          <p:cNvSpPr/>
          <p:nvPr/>
        </p:nvSpPr>
        <p:spPr>
          <a:xfrm>
            <a:off x="1737360" y="2743200"/>
            <a:ext cx="274320" cy="146304"/>
          </a:xfrm>
          <a:prstGeom prst="rect">
            <a:avLst/>
          </a:prstGeom>
          <a:solidFill>
            <a:srgbClr val="2E8B57"/>
          </a:solidFill>
          <a:ln w="9525">
            <a:solidFill>
              <a:srgbClr val="1E6B40"/>
            </a:solidFill>
            <a:prstDash val="solid"/>
          </a:ln>
        </p:spPr>
      </p:sp>
      <p:sp>
        <p:nvSpPr>
          <p:cNvPr id="19" name="Shape 17"/>
          <p:cNvSpPr/>
          <p:nvPr/>
        </p:nvSpPr>
        <p:spPr>
          <a:xfrm>
            <a:off x="1801368" y="27422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20" name="Shape 18"/>
          <p:cNvSpPr/>
          <p:nvPr/>
        </p:nvSpPr>
        <p:spPr>
          <a:xfrm rot="10800000">
            <a:off x="1801368" y="2734056"/>
            <a:ext cx="146304" cy="128016"/>
          </a:xfrm>
          <a:prstGeom prst="triangle">
            <a:avLst/>
          </a:prstGeom>
          <a:solidFill>
            <a:srgbClr val="E08A1E"/>
          </a:solidFill>
          <a:ln w="9525">
            <a:solidFill>
              <a:srgbClr val="9A5A0A"/>
            </a:solidFill>
            <a:prstDash val="solid"/>
          </a:ln>
        </p:spPr>
      </p:sp>
      <p:sp>
        <p:nvSpPr>
          <p:cNvPr id="21" name="Shape 19"/>
          <p:cNvSpPr/>
          <p:nvPr/>
        </p:nvSpPr>
        <p:spPr>
          <a:xfrm>
            <a:off x="2514600" y="2743200"/>
            <a:ext cx="274320" cy="146304"/>
          </a:xfrm>
          <a:prstGeom prst="rect">
            <a:avLst/>
          </a:prstGeom>
          <a:solidFill>
            <a:srgbClr val="2E8B57"/>
          </a:solidFill>
          <a:ln w="9525">
            <a:solidFill>
              <a:srgbClr val="1E6B40"/>
            </a:solidFill>
            <a:prstDash val="solid"/>
          </a:ln>
        </p:spPr>
      </p:sp>
      <p:sp>
        <p:nvSpPr>
          <p:cNvPr id="22" name="Shape 20"/>
          <p:cNvSpPr/>
          <p:nvPr/>
        </p:nvSpPr>
        <p:spPr>
          <a:xfrm>
            <a:off x="2578608" y="27422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23" name="Shape 21"/>
          <p:cNvSpPr/>
          <p:nvPr/>
        </p:nvSpPr>
        <p:spPr>
          <a:xfrm rot="10800000">
            <a:off x="2578608" y="2734056"/>
            <a:ext cx="146304" cy="128016"/>
          </a:xfrm>
          <a:prstGeom prst="triangle">
            <a:avLst/>
          </a:prstGeom>
          <a:solidFill>
            <a:srgbClr val="E08A1E"/>
          </a:solidFill>
          <a:ln w="9525">
            <a:solidFill>
              <a:srgbClr val="9A5A0A"/>
            </a:solidFill>
            <a:prstDash val="solid"/>
          </a:ln>
        </p:spPr>
      </p:sp>
      <p:sp>
        <p:nvSpPr>
          <p:cNvPr id="24" name="Shape 22"/>
          <p:cNvSpPr/>
          <p:nvPr/>
        </p:nvSpPr>
        <p:spPr>
          <a:xfrm>
            <a:off x="1417320" y="2194560"/>
            <a:ext cx="91" cy="1051560"/>
          </a:xfrm>
          <a:prstGeom prst="line">
            <a:avLst/>
          </a:prstGeom>
          <a:noFill/>
          <a:ln w="22225">
            <a:solidFill>
              <a:srgbClr val="1F4E8C"/>
            </a:solidFill>
            <a:prstDash val="solid"/>
            <a:tailEnd type="triangle"/>
          </a:ln>
        </p:spPr>
      </p:sp>
      <p:sp>
        <p:nvSpPr>
          <p:cNvPr id="25" name="Shape 23"/>
          <p:cNvSpPr/>
          <p:nvPr/>
        </p:nvSpPr>
        <p:spPr>
          <a:xfrm>
            <a:off x="2240280" y="2194560"/>
            <a:ext cx="91" cy="1051560"/>
          </a:xfrm>
          <a:prstGeom prst="line">
            <a:avLst/>
          </a:prstGeom>
          <a:noFill/>
          <a:ln w="22225">
            <a:solidFill>
              <a:srgbClr val="1F4E8C"/>
            </a:solidFill>
            <a:prstDash val="solid"/>
            <a:tailEnd type="triangle"/>
          </a:ln>
        </p:spPr>
      </p:sp>
      <p:sp>
        <p:nvSpPr>
          <p:cNvPr id="26" name="Shape 24"/>
          <p:cNvSpPr/>
          <p:nvPr/>
        </p:nvSpPr>
        <p:spPr>
          <a:xfrm>
            <a:off x="909828" y="3150108"/>
            <a:ext cx="100584" cy="100584"/>
          </a:xfrm>
          <a:prstGeom prst="hexagon">
            <a:avLst/>
          </a:prstGeom>
          <a:solidFill>
            <a:srgbClr val="3B7DD8"/>
          </a:solidFill>
          <a:ln w="6350">
            <a:solidFill>
              <a:srgbClr val="1F4E8C"/>
            </a:solidFill>
            <a:prstDash val="solid"/>
          </a:ln>
        </p:spPr>
      </p:sp>
      <p:sp>
        <p:nvSpPr>
          <p:cNvPr id="27" name="Shape 25"/>
          <p:cNvSpPr/>
          <p:nvPr/>
        </p:nvSpPr>
        <p:spPr>
          <a:xfrm>
            <a:off x="1549908" y="3561588"/>
            <a:ext cx="100584" cy="100584"/>
          </a:xfrm>
          <a:prstGeom prst="hexagon">
            <a:avLst/>
          </a:prstGeom>
          <a:solidFill>
            <a:srgbClr val="3B7DD8"/>
          </a:solidFill>
          <a:ln w="6350">
            <a:solidFill>
              <a:srgbClr val="1F4E8C"/>
            </a:solidFill>
            <a:prstDash val="solid"/>
          </a:ln>
        </p:spPr>
      </p:sp>
      <p:sp>
        <p:nvSpPr>
          <p:cNvPr id="28" name="Shape 26"/>
          <p:cNvSpPr/>
          <p:nvPr/>
        </p:nvSpPr>
        <p:spPr>
          <a:xfrm>
            <a:off x="2007108" y="3241548"/>
            <a:ext cx="100584" cy="100584"/>
          </a:xfrm>
          <a:prstGeom prst="hexagon">
            <a:avLst/>
          </a:prstGeom>
          <a:solidFill>
            <a:srgbClr val="3B7DD8"/>
          </a:solidFill>
          <a:ln w="6350">
            <a:solidFill>
              <a:srgbClr val="1F4E8C"/>
            </a:solidFill>
            <a:prstDash val="solid"/>
          </a:ln>
        </p:spPr>
      </p:sp>
      <p:sp>
        <p:nvSpPr>
          <p:cNvPr id="29" name="Shape 27"/>
          <p:cNvSpPr/>
          <p:nvPr/>
        </p:nvSpPr>
        <p:spPr>
          <a:xfrm>
            <a:off x="2464308" y="3698748"/>
            <a:ext cx="100584" cy="100584"/>
          </a:xfrm>
          <a:prstGeom prst="hexagon">
            <a:avLst/>
          </a:prstGeom>
          <a:solidFill>
            <a:srgbClr val="3B7DD8"/>
          </a:solidFill>
          <a:ln w="6350">
            <a:solidFill>
              <a:srgbClr val="1F4E8C"/>
            </a:solidFill>
            <a:prstDash val="solid"/>
          </a:ln>
        </p:spPr>
      </p:sp>
      <p:sp>
        <p:nvSpPr>
          <p:cNvPr id="30" name="Shape 28"/>
          <p:cNvSpPr/>
          <p:nvPr/>
        </p:nvSpPr>
        <p:spPr>
          <a:xfrm>
            <a:off x="2784348" y="3241548"/>
            <a:ext cx="100584" cy="100584"/>
          </a:xfrm>
          <a:prstGeom prst="hexagon">
            <a:avLst/>
          </a:prstGeom>
          <a:solidFill>
            <a:srgbClr val="3B7DD8"/>
          </a:solidFill>
          <a:ln w="6350">
            <a:solidFill>
              <a:srgbClr val="1F4E8C"/>
            </a:solidFill>
            <a:prstDash val="solid"/>
          </a:ln>
        </p:spPr>
      </p:sp>
      <p:sp>
        <p:nvSpPr>
          <p:cNvPr id="31" name="Shape 29"/>
          <p:cNvSpPr/>
          <p:nvPr/>
        </p:nvSpPr>
        <p:spPr>
          <a:xfrm>
            <a:off x="1184148" y="3881628"/>
            <a:ext cx="100584" cy="100584"/>
          </a:xfrm>
          <a:prstGeom prst="hexagon">
            <a:avLst/>
          </a:prstGeom>
          <a:solidFill>
            <a:srgbClr val="3B7DD8"/>
          </a:solidFill>
          <a:ln w="6350">
            <a:solidFill>
              <a:srgbClr val="1F4E8C"/>
            </a:solidFill>
            <a:prstDash val="solid"/>
          </a:ln>
        </p:spPr>
      </p:sp>
      <p:sp>
        <p:nvSpPr>
          <p:cNvPr id="32" name="Shape 30"/>
          <p:cNvSpPr/>
          <p:nvPr/>
        </p:nvSpPr>
        <p:spPr>
          <a:xfrm>
            <a:off x="1001268" y="1915668"/>
            <a:ext cx="100584" cy="100584"/>
          </a:xfrm>
          <a:prstGeom prst="hexagon">
            <a:avLst/>
          </a:prstGeom>
          <a:solidFill>
            <a:srgbClr val="3B7DD8"/>
          </a:solidFill>
          <a:ln w="6350">
            <a:solidFill>
              <a:srgbClr val="1F4E8C"/>
            </a:solidFill>
            <a:prstDash val="solid"/>
          </a:ln>
        </p:spPr>
      </p:sp>
      <p:sp>
        <p:nvSpPr>
          <p:cNvPr id="33" name="Shape 31"/>
          <p:cNvSpPr/>
          <p:nvPr/>
        </p:nvSpPr>
        <p:spPr>
          <a:xfrm>
            <a:off x="2647188" y="2052828"/>
            <a:ext cx="100584" cy="100584"/>
          </a:xfrm>
          <a:prstGeom prst="hexagon">
            <a:avLst/>
          </a:prstGeom>
          <a:solidFill>
            <a:srgbClr val="3B7DD8"/>
          </a:solidFill>
          <a:ln w="6350">
            <a:solidFill>
              <a:srgbClr val="1F4E8C"/>
            </a:solidFill>
            <a:prstDash val="solid"/>
          </a:ln>
        </p:spPr>
      </p:sp>
      <p:sp>
        <p:nvSpPr>
          <p:cNvPr id="34" name="Text 32"/>
          <p:cNvSpPr/>
          <p:nvPr/>
        </p:nvSpPr>
        <p:spPr>
          <a:xfrm>
            <a:off x="3291840" y="1298448"/>
            <a:ext cx="251460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Type 2: insulin resistance</a:t>
            </a:r>
            <a:endParaRPr lang="en-US" sz="1100" dirty="0"/>
          </a:p>
        </p:txBody>
      </p:sp>
      <p:sp>
        <p:nvSpPr>
          <p:cNvPr id="35" name="Shape 33"/>
          <p:cNvSpPr/>
          <p:nvPr/>
        </p:nvSpPr>
        <p:spPr>
          <a:xfrm>
            <a:off x="3291840" y="1691640"/>
            <a:ext cx="2514600" cy="1188720"/>
          </a:xfrm>
          <a:prstGeom prst="roundRect">
            <a:avLst>
              <a:gd name="adj" fmla="val 4615"/>
            </a:avLst>
          </a:prstGeom>
          <a:solidFill>
            <a:srgbClr val="E3F0FB"/>
          </a:solidFill>
          <a:ln/>
        </p:spPr>
      </p:sp>
      <p:sp>
        <p:nvSpPr>
          <p:cNvPr id="36" name="Text 34"/>
          <p:cNvSpPr/>
          <p:nvPr/>
        </p:nvSpPr>
        <p:spPr>
          <a:xfrm>
            <a:off x="3337560" y="1709928"/>
            <a:ext cx="914400" cy="201168"/>
          </a:xfrm>
          <a:prstGeom prst="rect">
            <a:avLst/>
          </a:prstGeom>
          <a:noFill/>
          <a:ln/>
        </p:spPr>
        <p:txBody>
          <a:bodyPr wrap="square" lIns="0" tIns="0" rIns="0" bIns="0" rtlCol="0" anchor="ctr"/>
          <a:lstStyle/>
          <a:p>
            <a:pPr algn="l" indent="0" marL="0">
              <a:buNone/>
            </a:pPr>
            <a:r>
              <a:rPr lang="en-US" sz="1000" i="1" dirty="0">
                <a:solidFill>
                  <a:srgbClr val="1F4E8C"/>
                </a:solidFill>
                <a:latin typeface="Calibri" pitchFamily="34" charset="0"/>
                <a:ea typeface="Calibri" pitchFamily="34" charset="-122"/>
                <a:cs typeface="Calibri" pitchFamily="34" charset="-120"/>
              </a:rPr>
              <a:t>blood</a:t>
            </a:r>
            <a:endParaRPr lang="en-US" sz="1000" dirty="0"/>
          </a:p>
        </p:txBody>
      </p:sp>
      <p:sp>
        <p:nvSpPr>
          <p:cNvPr id="37" name="Shape 35"/>
          <p:cNvSpPr/>
          <p:nvPr/>
        </p:nvSpPr>
        <p:spPr>
          <a:xfrm>
            <a:off x="3291840" y="2880360"/>
            <a:ext cx="2514600" cy="1600200"/>
          </a:xfrm>
          <a:prstGeom prst="rect">
            <a:avLst/>
          </a:prstGeom>
          <a:solidFill>
            <a:srgbClr val="FBF3DF"/>
          </a:solidFill>
          <a:ln w="19050">
            <a:solidFill>
              <a:srgbClr val="8A6D3B"/>
            </a:solidFill>
            <a:prstDash val="solid"/>
          </a:ln>
        </p:spPr>
      </p:sp>
      <p:sp>
        <p:nvSpPr>
          <p:cNvPr id="38" name="Text 36"/>
          <p:cNvSpPr/>
          <p:nvPr/>
        </p:nvSpPr>
        <p:spPr>
          <a:xfrm>
            <a:off x="3337560" y="4206240"/>
            <a:ext cx="1097280" cy="219456"/>
          </a:xfrm>
          <a:prstGeom prst="rect">
            <a:avLst/>
          </a:prstGeom>
          <a:noFill/>
          <a:ln/>
        </p:spPr>
        <p:txBody>
          <a:bodyPr wrap="square" lIns="0" tIns="0" rIns="0" bIns="0" rtlCol="0" anchor="ctr"/>
          <a:lstStyle/>
          <a:p>
            <a:pPr algn="l" indent="0" marL="0">
              <a:buNone/>
            </a:pPr>
            <a:r>
              <a:rPr lang="en-US" sz="1000" i="1" dirty="0">
                <a:solidFill>
                  <a:srgbClr val="8A6D3B"/>
                </a:solidFill>
                <a:latin typeface="Calibri" pitchFamily="34" charset="0"/>
                <a:ea typeface="Calibri" pitchFamily="34" charset="-122"/>
                <a:cs typeface="Calibri" pitchFamily="34" charset="-120"/>
              </a:rPr>
              <a:t>body cell</a:t>
            </a:r>
            <a:endParaRPr lang="en-US" sz="1000" dirty="0"/>
          </a:p>
        </p:txBody>
      </p:sp>
      <p:sp>
        <p:nvSpPr>
          <p:cNvPr id="39" name="Shape 37"/>
          <p:cNvSpPr/>
          <p:nvPr/>
        </p:nvSpPr>
        <p:spPr>
          <a:xfrm>
            <a:off x="3657600" y="2743200"/>
            <a:ext cx="274320" cy="146304"/>
          </a:xfrm>
          <a:prstGeom prst="rect">
            <a:avLst/>
          </a:prstGeom>
          <a:solidFill>
            <a:srgbClr val="2E8B57"/>
          </a:solidFill>
          <a:ln w="9525">
            <a:solidFill>
              <a:srgbClr val="1E6B40"/>
            </a:solidFill>
            <a:prstDash val="solid"/>
          </a:ln>
        </p:spPr>
      </p:sp>
      <p:sp>
        <p:nvSpPr>
          <p:cNvPr id="40" name="Shape 38"/>
          <p:cNvSpPr/>
          <p:nvPr/>
        </p:nvSpPr>
        <p:spPr>
          <a:xfrm>
            <a:off x="3721608" y="27422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41" name="Shape 39"/>
          <p:cNvSpPr/>
          <p:nvPr/>
        </p:nvSpPr>
        <p:spPr>
          <a:xfrm rot="10800000">
            <a:off x="3721608" y="2734056"/>
            <a:ext cx="146304" cy="128016"/>
          </a:xfrm>
          <a:prstGeom prst="triangle">
            <a:avLst/>
          </a:prstGeom>
          <a:solidFill>
            <a:srgbClr val="E08A1E"/>
          </a:solidFill>
          <a:ln w="9525">
            <a:solidFill>
              <a:srgbClr val="9A5A0A"/>
            </a:solidFill>
            <a:prstDash val="solid"/>
          </a:ln>
        </p:spPr>
      </p:sp>
      <p:sp>
        <p:nvSpPr>
          <p:cNvPr id="42" name="Shape 40"/>
          <p:cNvSpPr/>
          <p:nvPr/>
        </p:nvSpPr>
        <p:spPr>
          <a:xfrm>
            <a:off x="4434840" y="2743200"/>
            <a:ext cx="274320" cy="146304"/>
          </a:xfrm>
          <a:prstGeom prst="rect">
            <a:avLst/>
          </a:prstGeom>
          <a:solidFill>
            <a:srgbClr val="2E8B57"/>
          </a:solidFill>
          <a:ln w="9525">
            <a:solidFill>
              <a:srgbClr val="1E6B40"/>
            </a:solidFill>
            <a:prstDash val="solid"/>
          </a:ln>
        </p:spPr>
      </p:sp>
      <p:sp>
        <p:nvSpPr>
          <p:cNvPr id="43" name="Shape 41"/>
          <p:cNvSpPr/>
          <p:nvPr/>
        </p:nvSpPr>
        <p:spPr>
          <a:xfrm>
            <a:off x="4498848" y="27422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44" name="Shape 42"/>
          <p:cNvSpPr/>
          <p:nvPr/>
        </p:nvSpPr>
        <p:spPr>
          <a:xfrm rot="10800000">
            <a:off x="4498848" y="2734056"/>
            <a:ext cx="146304" cy="128016"/>
          </a:xfrm>
          <a:prstGeom prst="triangle">
            <a:avLst/>
          </a:prstGeom>
          <a:solidFill>
            <a:srgbClr val="E08A1E"/>
          </a:solidFill>
          <a:ln w="9525">
            <a:solidFill>
              <a:srgbClr val="9A5A0A"/>
            </a:solidFill>
            <a:prstDash val="solid"/>
          </a:ln>
        </p:spPr>
      </p:sp>
      <p:sp>
        <p:nvSpPr>
          <p:cNvPr id="45" name="Shape 43"/>
          <p:cNvSpPr/>
          <p:nvPr/>
        </p:nvSpPr>
        <p:spPr>
          <a:xfrm>
            <a:off x="5212080" y="2743200"/>
            <a:ext cx="274320" cy="146304"/>
          </a:xfrm>
          <a:prstGeom prst="rect">
            <a:avLst/>
          </a:prstGeom>
          <a:solidFill>
            <a:srgbClr val="2E8B57"/>
          </a:solidFill>
          <a:ln w="9525">
            <a:solidFill>
              <a:srgbClr val="1E6B40"/>
            </a:solidFill>
            <a:prstDash val="solid"/>
          </a:ln>
        </p:spPr>
      </p:sp>
      <p:sp>
        <p:nvSpPr>
          <p:cNvPr id="46" name="Shape 44"/>
          <p:cNvSpPr/>
          <p:nvPr/>
        </p:nvSpPr>
        <p:spPr>
          <a:xfrm>
            <a:off x="5276088" y="27422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47" name="Shape 45"/>
          <p:cNvSpPr/>
          <p:nvPr/>
        </p:nvSpPr>
        <p:spPr>
          <a:xfrm rot="10800000">
            <a:off x="5276088" y="2734056"/>
            <a:ext cx="146304" cy="128016"/>
          </a:xfrm>
          <a:prstGeom prst="triangle">
            <a:avLst/>
          </a:prstGeom>
          <a:solidFill>
            <a:srgbClr val="E08A1E"/>
          </a:solidFill>
          <a:ln w="9525">
            <a:solidFill>
              <a:srgbClr val="9A5A0A"/>
            </a:solidFill>
            <a:prstDash val="solid"/>
          </a:ln>
        </p:spPr>
      </p:sp>
      <p:sp>
        <p:nvSpPr>
          <p:cNvPr id="48" name="Shape 46"/>
          <p:cNvSpPr/>
          <p:nvPr/>
        </p:nvSpPr>
        <p:spPr>
          <a:xfrm>
            <a:off x="3515868" y="1915668"/>
            <a:ext cx="100584" cy="100584"/>
          </a:xfrm>
          <a:prstGeom prst="hexagon">
            <a:avLst/>
          </a:prstGeom>
          <a:solidFill>
            <a:srgbClr val="3B7DD8"/>
          </a:solidFill>
          <a:ln w="6350">
            <a:solidFill>
              <a:srgbClr val="1F4E8C"/>
            </a:solidFill>
            <a:prstDash val="solid"/>
          </a:ln>
        </p:spPr>
      </p:sp>
      <p:sp>
        <p:nvSpPr>
          <p:cNvPr id="49" name="Shape 47"/>
          <p:cNvSpPr/>
          <p:nvPr/>
        </p:nvSpPr>
        <p:spPr>
          <a:xfrm>
            <a:off x="3881628" y="2327148"/>
            <a:ext cx="100584" cy="100584"/>
          </a:xfrm>
          <a:prstGeom prst="hexagon">
            <a:avLst/>
          </a:prstGeom>
          <a:solidFill>
            <a:srgbClr val="3B7DD8"/>
          </a:solidFill>
          <a:ln w="6350">
            <a:solidFill>
              <a:srgbClr val="1F4E8C"/>
            </a:solidFill>
            <a:prstDash val="solid"/>
          </a:ln>
        </p:spPr>
      </p:sp>
      <p:sp>
        <p:nvSpPr>
          <p:cNvPr id="50" name="Shape 48"/>
          <p:cNvSpPr/>
          <p:nvPr/>
        </p:nvSpPr>
        <p:spPr>
          <a:xfrm>
            <a:off x="4155948" y="1961388"/>
            <a:ext cx="100584" cy="100584"/>
          </a:xfrm>
          <a:prstGeom prst="hexagon">
            <a:avLst/>
          </a:prstGeom>
          <a:solidFill>
            <a:srgbClr val="3B7DD8"/>
          </a:solidFill>
          <a:ln w="6350">
            <a:solidFill>
              <a:srgbClr val="1F4E8C"/>
            </a:solidFill>
            <a:prstDash val="solid"/>
          </a:ln>
        </p:spPr>
      </p:sp>
      <p:sp>
        <p:nvSpPr>
          <p:cNvPr id="51" name="Shape 49"/>
          <p:cNvSpPr/>
          <p:nvPr/>
        </p:nvSpPr>
        <p:spPr>
          <a:xfrm>
            <a:off x="4384548" y="2281428"/>
            <a:ext cx="100584" cy="100584"/>
          </a:xfrm>
          <a:prstGeom prst="hexagon">
            <a:avLst/>
          </a:prstGeom>
          <a:solidFill>
            <a:srgbClr val="3B7DD8"/>
          </a:solidFill>
          <a:ln w="6350">
            <a:solidFill>
              <a:srgbClr val="1F4E8C"/>
            </a:solidFill>
            <a:prstDash val="solid"/>
          </a:ln>
        </p:spPr>
      </p:sp>
      <p:sp>
        <p:nvSpPr>
          <p:cNvPr id="52" name="Shape 50"/>
          <p:cNvSpPr/>
          <p:nvPr/>
        </p:nvSpPr>
        <p:spPr>
          <a:xfrm>
            <a:off x="4704588" y="1961388"/>
            <a:ext cx="100584" cy="100584"/>
          </a:xfrm>
          <a:prstGeom prst="hexagon">
            <a:avLst/>
          </a:prstGeom>
          <a:solidFill>
            <a:srgbClr val="3B7DD8"/>
          </a:solidFill>
          <a:ln w="6350">
            <a:solidFill>
              <a:srgbClr val="1F4E8C"/>
            </a:solidFill>
            <a:prstDash val="solid"/>
          </a:ln>
        </p:spPr>
      </p:sp>
      <p:sp>
        <p:nvSpPr>
          <p:cNvPr id="53" name="Shape 51"/>
          <p:cNvSpPr/>
          <p:nvPr/>
        </p:nvSpPr>
        <p:spPr>
          <a:xfrm>
            <a:off x="4978908" y="2327148"/>
            <a:ext cx="100584" cy="100584"/>
          </a:xfrm>
          <a:prstGeom prst="hexagon">
            <a:avLst/>
          </a:prstGeom>
          <a:solidFill>
            <a:srgbClr val="3B7DD8"/>
          </a:solidFill>
          <a:ln w="6350">
            <a:solidFill>
              <a:srgbClr val="1F4E8C"/>
            </a:solidFill>
            <a:prstDash val="solid"/>
          </a:ln>
        </p:spPr>
      </p:sp>
      <p:sp>
        <p:nvSpPr>
          <p:cNvPr id="54" name="Shape 52"/>
          <p:cNvSpPr/>
          <p:nvPr/>
        </p:nvSpPr>
        <p:spPr>
          <a:xfrm>
            <a:off x="5253228" y="1915668"/>
            <a:ext cx="100584" cy="100584"/>
          </a:xfrm>
          <a:prstGeom prst="hexagon">
            <a:avLst/>
          </a:prstGeom>
          <a:solidFill>
            <a:srgbClr val="3B7DD8"/>
          </a:solidFill>
          <a:ln w="6350">
            <a:solidFill>
              <a:srgbClr val="1F4E8C"/>
            </a:solidFill>
            <a:prstDash val="solid"/>
          </a:ln>
        </p:spPr>
      </p:sp>
      <p:sp>
        <p:nvSpPr>
          <p:cNvPr id="55" name="Shape 53"/>
          <p:cNvSpPr/>
          <p:nvPr/>
        </p:nvSpPr>
        <p:spPr>
          <a:xfrm>
            <a:off x="5573268" y="2235708"/>
            <a:ext cx="100584" cy="100584"/>
          </a:xfrm>
          <a:prstGeom prst="hexagon">
            <a:avLst/>
          </a:prstGeom>
          <a:solidFill>
            <a:srgbClr val="3B7DD8"/>
          </a:solidFill>
          <a:ln w="6350">
            <a:solidFill>
              <a:srgbClr val="1F4E8C"/>
            </a:solidFill>
            <a:prstDash val="solid"/>
          </a:ln>
        </p:spPr>
      </p:sp>
      <p:sp>
        <p:nvSpPr>
          <p:cNvPr id="56" name="Shape 54"/>
          <p:cNvSpPr/>
          <p:nvPr/>
        </p:nvSpPr>
        <p:spPr>
          <a:xfrm>
            <a:off x="3744468" y="2098548"/>
            <a:ext cx="100584" cy="100584"/>
          </a:xfrm>
          <a:prstGeom prst="hexagon">
            <a:avLst/>
          </a:prstGeom>
          <a:solidFill>
            <a:srgbClr val="3B7DD8"/>
          </a:solidFill>
          <a:ln w="6350">
            <a:solidFill>
              <a:srgbClr val="1F4E8C"/>
            </a:solidFill>
            <a:prstDash val="solid"/>
          </a:ln>
        </p:spPr>
      </p:sp>
      <p:sp>
        <p:nvSpPr>
          <p:cNvPr id="57" name="Shape 55"/>
          <p:cNvSpPr/>
          <p:nvPr/>
        </p:nvSpPr>
        <p:spPr>
          <a:xfrm>
            <a:off x="5070348" y="2098548"/>
            <a:ext cx="100584" cy="100584"/>
          </a:xfrm>
          <a:prstGeom prst="hexagon">
            <a:avLst/>
          </a:prstGeom>
          <a:solidFill>
            <a:srgbClr val="3B7DD8"/>
          </a:solidFill>
          <a:ln w="6350">
            <a:solidFill>
              <a:srgbClr val="1F4E8C"/>
            </a:solidFill>
            <a:prstDash val="solid"/>
          </a:ln>
        </p:spPr>
      </p:sp>
      <p:sp>
        <p:nvSpPr>
          <p:cNvPr id="58" name="Shape 56"/>
          <p:cNvSpPr/>
          <p:nvPr/>
        </p:nvSpPr>
        <p:spPr>
          <a:xfrm>
            <a:off x="3973068" y="3424428"/>
            <a:ext cx="100584" cy="100584"/>
          </a:xfrm>
          <a:prstGeom prst="hexagon">
            <a:avLst/>
          </a:prstGeom>
          <a:solidFill>
            <a:srgbClr val="3B7DD8"/>
          </a:solidFill>
          <a:ln w="6350">
            <a:solidFill>
              <a:srgbClr val="1F4E8C"/>
            </a:solidFill>
            <a:prstDash val="solid"/>
          </a:ln>
        </p:spPr>
      </p:sp>
      <p:sp>
        <p:nvSpPr>
          <p:cNvPr id="59" name="Shape 57"/>
          <p:cNvSpPr/>
          <p:nvPr/>
        </p:nvSpPr>
        <p:spPr>
          <a:xfrm>
            <a:off x="5070348" y="3790188"/>
            <a:ext cx="100584" cy="100584"/>
          </a:xfrm>
          <a:prstGeom prst="hexagon">
            <a:avLst/>
          </a:prstGeom>
          <a:solidFill>
            <a:srgbClr val="3B7DD8"/>
          </a:solidFill>
          <a:ln w="6350">
            <a:solidFill>
              <a:srgbClr val="1F4E8C"/>
            </a:solidFill>
            <a:prstDash val="solid"/>
          </a:ln>
        </p:spPr>
      </p:sp>
      <p:sp>
        <p:nvSpPr>
          <p:cNvPr id="60" name="Text 58"/>
          <p:cNvSpPr/>
          <p:nvPr/>
        </p:nvSpPr>
        <p:spPr>
          <a:xfrm>
            <a:off x="3383280" y="3520440"/>
            <a:ext cx="2331720" cy="457200"/>
          </a:xfrm>
          <a:prstGeom prst="rect">
            <a:avLst/>
          </a:prstGeom>
          <a:noFill/>
          <a:ln/>
        </p:spPr>
        <p:txBody>
          <a:bodyPr wrap="square" lIns="0" tIns="0" rIns="0" bIns="0" rtlCol="0" anchor="t"/>
          <a:lstStyle/>
          <a:p>
            <a:pPr algn="ctr" indent="0" marL="0">
              <a:buNone/>
            </a:pPr>
            <a:r>
              <a:rPr lang="en-US" sz="1000" b="1" dirty="0">
                <a:solidFill>
                  <a:srgbClr val="C8414C"/>
                </a:solidFill>
                <a:latin typeface="Calibri" pitchFamily="34" charset="0"/>
                <a:ea typeface="Calibri" pitchFamily="34" charset="-122"/>
                <a:cs typeface="Calibri" pitchFamily="34" charset="-120"/>
              </a:rPr>
              <a:t>insulin binds, but the cell does not respond: little glucose enters</a:t>
            </a:r>
            <a:endParaRPr lang="en-US" sz="1000" dirty="0"/>
          </a:p>
        </p:txBody>
      </p:sp>
      <p:sp>
        <p:nvSpPr>
          <p:cNvPr id="61" name="Shape 59"/>
          <p:cNvSpPr/>
          <p:nvPr/>
        </p:nvSpPr>
        <p:spPr>
          <a:xfrm>
            <a:off x="594360" y="4572000"/>
            <a:ext cx="5212080" cy="685800"/>
          </a:xfrm>
          <a:prstGeom prst="roundRect">
            <a:avLst>
              <a:gd name="adj" fmla="val 8000"/>
            </a:avLst>
          </a:prstGeom>
          <a:solidFill>
            <a:srgbClr val="FFFFFF"/>
          </a:solidFill>
          <a:ln w="15875">
            <a:solidFill>
              <a:srgbClr val="B8730A"/>
            </a:solidFill>
            <a:prstDash val="solid"/>
          </a:ln>
        </p:spPr>
      </p:sp>
      <p:sp>
        <p:nvSpPr>
          <p:cNvPr id="62" name="Shape 60"/>
          <p:cNvSpPr/>
          <p:nvPr/>
        </p:nvSpPr>
        <p:spPr>
          <a:xfrm>
            <a:off x="749808" y="4681728"/>
            <a:ext cx="146304" cy="131674"/>
          </a:xfrm>
          <a:prstGeom prst="triangle">
            <a:avLst/>
          </a:prstGeom>
          <a:solidFill>
            <a:srgbClr val="E08A1E"/>
          </a:solidFill>
          <a:ln w="9525">
            <a:solidFill>
              <a:srgbClr val="9A5A0A"/>
            </a:solidFill>
            <a:prstDash val="solid"/>
          </a:ln>
        </p:spPr>
      </p:sp>
      <p:sp>
        <p:nvSpPr>
          <p:cNvPr id="63" name="Text 61"/>
          <p:cNvSpPr/>
          <p:nvPr/>
        </p:nvSpPr>
        <p:spPr>
          <a:xfrm>
            <a:off x="960120" y="4645152"/>
            <a:ext cx="91440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insulin</a:t>
            </a:r>
            <a:endParaRPr lang="en-US" sz="1000" dirty="0"/>
          </a:p>
        </p:txBody>
      </p:sp>
      <p:sp>
        <p:nvSpPr>
          <p:cNvPr id="64" name="Shape 62"/>
          <p:cNvSpPr/>
          <p:nvPr/>
        </p:nvSpPr>
        <p:spPr>
          <a:xfrm>
            <a:off x="768096" y="4992624"/>
            <a:ext cx="109728" cy="109728"/>
          </a:xfrm>
          <a:prstGeom prst="hexagon">
            <a:avLst/>
          </a:prstGeom>
          <a:solidFill>
            <a:srgbClr val="3B7DD8"/>
          </a:solidFill>
          <a:ln w="6350">
            <a:solidFill>
              <a:srgbClr val="1F4E8C"/>
            </a:solidFill>
            <a:prstDash val="solid"/>
          </a:ln>
        </p:spPr>
      </p:sp>
      <p:sp>
        <p:nvSpPr>
          <p:cNvPr id="65" name="Text 63"/>
          <p:cNvSpPr/>
          <p:nvPr/>
        </p:nvSpPr>
        <p:spPr>
          <a:xfrm>
            <a:off x="960120" y="4937760"/>
            <a:ext cx="91440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glucose</a:t>
            </a:r>
            <a:endParaRPr lang="en-US" sz="1000" dirty="0"/>
          </a:p>
        </p:txBody>
      </p:sp>
      <p:sp>
        <p:nvSpPr>
          <p:cNvPr id="66" name="Shape 64"/>
          <p:cNvSpPr/>
          <p:nvPr/>
        </p:nvSpPr>
        <p:spPr>
          <a:xfrm>
            <a:off x="1920240" y="4800600"/>
            <a:ext cx="274320" cy="146304"/>
          </a:xfrm>
          <a:prstGeom prst="rect">
            <a:avLst/>
          </a:prstGeom>
          <a:solidFill>
            <a:srgbClr val="2E8B57"/>
          </a:solidFill>
          <a:ln w="9525">
            <a:solidFill>
              <a:srgbClr val="1E6B40"/>
            </a:solidFill>
            <a:prstDash val="solid"/>
          </a:ln>
        </p:spPr>
      </p:sp>
      <p:sp>
        <p:nvSpPr>
          <p:cNvPr id="67" name="Shape 65"/>
          <p:cNvSpPr/>
          <p:nvPr/>
        </p:nvSpPr>
        <p:spPr>
          <a:xfrm>
            <a:off x="1984248" y="4799686"/>
            <a:ext cx="146304" cy="119786"/>
          </a:xfrm>
          <a:custGeom>
            <a:avLst/>
            <a:gdLst/>
            <a:ahLst/>
            <a:cxnLst/>
            <a:rect l="l" t="t" r="r" b="b"/>
            <a:pathLst>
              <a:path w="146304" h="119786">
                <a:moveTo>
                  <a:pt x="0" y="0"/>
                </a:moveTo>
                <a:lnTo>
                  <a:pt x="146304" y="0"/>
                </a:lnTo>
                <a:lnTo>
                  <a:pt x="73152" y="119786"/>
                </a:lnTo>
                <a:close/>
              </a:path>
            </a:pathLst>
          </a:custGeom>
          <a:solidFill>
            <a:srgbClr val="FFFFFF"/>
          </a:solidFill>
          <a:ln w="6350">
            <a:solidFill>
              <a:srgbClr val="1E6B40"/>
            </a:solidFill>
            <a:prstDash val="solid"/>
          </a:ln>
        </p:spPr>
      </p:sp>
      <p:sp>
        <p:nvSpPr>
          <p:cNvPr id="68" name="Text 66"/>
          <p:cNvSpPr/>
          <p:nvPr/>
        </p:nvSpPr>
        <p:spPr>
          <a:xfrm>
            <a:off x="2286000" y="4754880"/>
            <a:ext cx="1188720"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insulin receptor</a:t>
            </a:r>
            <a:endParaRPr lang="en-US" sz="1000" dirty="0"/>
          </a:p>
        </p:txBody>
      </p:sp>
      <p:sp>
        <p:nvSpPr>
          <p:cNvPr id="69" name="Text 67"/>
          <p:cNvSpPr/>
          <p:nvPr/>
        </p:nvSpPr>
        <p:spPr>
          <a:xfrm>
            <a:off x="3611880" y="4617720"/>
            <a:ext cx="2148840" cy="594360"/>
          </a:xfrm>
          <a:prstGeom prst="rect">
            <a:avLst/>
          </a:prstGeom>
          <a:noFill/>
          <a:ln/>
        </p:spPr>
        <p:txBody>
          <a:bodyPr wrap="square" lIns="0" tIns="0" rIns="0" bIns="0" rtlCol="0" anchor="ctr"/>
          <a:lstStyle/>
          <a:p>
            <a:pPr algn="l" indent="0" marL="0">
              <a:buNone/>
            </a:pPr>
            <a:r>
              <a:rPr lang="en-US" sz="1000" i="1" dirty="0">
                <a:solidFill>
                  <a:srgbClr val="B8730A"/>
                </a:solidFill>
                <a:latin typeface="Calibri" pitchFamily="34" charset="0"/>
                <a:ea typeface="Calibri" pitchFamily="34" charset="-122"/>
                <a:cs typeface="Calibri" pitchFamily="34" charset="-120"/>
              </a:rPr>
              <a:t>In type 2 the pancreas often still makes insulin</a:t>
            </a:r>
            <a:endParaRPr lang="en-US" sz="1000" dirty="0"/>
          </a:p>
        </p:txBody>
      </p:sp>
      <p:sp>
        <p:nvSpPr>
          <p:cNvPr id="70" name="Shape 68"/>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71" name="Text 6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Type 2: cells stop responding</a:t>
            </a:r>
            <a:endParaRPr lang="en-US" sz="1300" dirty="0"/>
          </a:p>
        </p:txBody>
      </p:sp>
      <p:sp>
        <p:nvSpPr>
          <p:cNvPr id="72" name="Text 70"/>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Cause</a:t>
            </a:r>
            <a:r>
              <a:rPr lang="en-US" sz="1100" dirty="0">
                <a:solidFill>
                  <a:srgbClr val="262B3A"/>
                </a:solidFill>
                <a:latin typeface="Calibri" pitchFamily="34" charset="0"/>
                <a:ea typeface="Calibri" pitchFamily="34" charset="-122"/>
                <a:cs typeface="Calibri" pitchFamily="34" charset="-120"/>
              </a:rPr>
              <a:t>: body cells become </a:t>
            </a:r>
            <a:r>
              <a:rPr lang="en-US" sz="1100" b="1" dirty="0">
                <a:solidFill>
                  <a:srgbClr val="262B3A"/>
                </a:solidFill>
                <a:latin typeface="Calibri" pitchFamily="34" charset="0"/>
                <a:ea typeface="Calibri" pitchFamily="34" charset="-122"/>
                <a:cs typeface="Calibri" pitchFamily="34" charset="-120"/>
              </a:rPr>
              <a:t>resistant</a:t>
            </a:r>
            <a:r>
              <a:rPr lang="en-US" sz="1100" dirty="0">
                <a:solidFill>
                  <a:srgbClr val="262B3A"/>
                </a:solidFill>
                <a:latin typeface="Calibri" pitchFamily="34" charset="0"/>
                <a:ea typeface="Calibri" pitchFamily="34" charset="-122"/>
                <a:cs typeface="Calibri" pitchFamily="34" charset="-120"/>
              </a:rPr>
              <a:t> to insulin (they no longer respond to it), and the pancreas may make </a:t>
            </a:r>
            <a:r>
              <a:rPr lang="en-US" sz="1100" b="1" dirty="0">
                <a:solidFill>
                  <a:srgbClr val="262B3A"/>
                </a:solidFill>
                <a:latin typeface="Calibri" pitchFamily="34" charset="0"/>
                <a:ea typeface="Calibri" pitchFamily="34" charset="-122"/>
                <a:cs typeface="Calibri" pitchFamily="34" charset="-120"/>
              </a:rPr>
              <a:t>less</a:t>
            </a:r>
            <a:r>
              <a:rPr lang="en-US" sz="1100" dirty="0">
                <a:solidFill>
                  <a:srgbClr val="262B3A"/>
                </a:solidFill>
                <a:latin typeface="Calibri" pitchFamily="34" charset="0"/>
                <a:ea typeface="Calibri" pitchFamily="34" charset="-122"/>
                <a:cs typeface="Calibri" pitchFamily="34" charset="-120"/>
              </a:rPr>
              <a:t> insulin over time. Blood glucose stays </a:t>
            </a:r>
            <a:r>
              <a:rPr lang="en-US" sz="1100" b="1" dirty="0">
                <a:solidFill>
                  <a:srgbClr val="262B3A"/>
                </a:solidFill>
                <a:latin typeface="Calibri" pitchFamily="34" charset="0"/>
                <a:ea typeface="Calibri" pitchFamily="34" charset="-122"/>
                <a:cs typeface="Calibri" pitchFamily="34" charset="-120"/>
              </a:rPr>
              <a:t>high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Risk factors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obesity</a:t>
            </a:r>
            <a:r>
              <a:rPr lang="en-US" sz="1100" dirty="0">
                <a:solidFill>
                  <a:srgbClr val="262B3A"/>
                </a:solidFill>
                <a:latin typeface="Calibri" pitchFamily="34" charset="0"/>
                <a:ea typeface="Calibri" pitchFamily="34" charset="-122"/>
                <a:cs typeface="Calibri" pitchFamily="34" charset="-120"/>
              </a:rPr>
              <a:t> (especially fat around the waist), </a:t>
            </a:r>
            <a:r>
              <a:rPr lang="en-US" sz="1100" b="1" dirty="0">
                <a:solidFill>
                  <a:srgbClr val="262B3A"/>
                </a:solidFill>
                <a:latin typeface="Calibri" pitchFamily="34" charset="0"/>
                <a:ea typeface="Calibri" pitchFamily="34" charset="-122"/>
                <a:cs typeface="Calibri" pitchFamily="34" charset="-120"/>
              </a:rPr>
              <a:t>lack of exercise</a:t>
            </a:r>
            <a:r>
              <a:rPr lang="en-US" sz="1100" dirty="0">
                <a:solidFill>
                  <a:srgbClr val="262B3A"/>
                </a:solidFill>
                <a:latin typeface="Calibri" pitchFamily="34" charset="0"/>
                <a:ea typeface="Calibri" pitchFamily="34" charset="-122"/>
                <a:cs typeface="Calibri" pitchFamily="34" charset="-120"/>
              </a:rPr>
              <a:t>, poor diet, </a:t>
            </a:r>
            <a:r>
              <a:rPr lang="en-US" sz="1100" b="1" dirty="0">
                <a:solidFill>
                  <a:srgbClr val="262B3A"/>
                </a:solidFill>
                <a:latin typeface="Calibri" pitchFamily="34" charset="0"/>
                <a:ea typeface="Calibri" pitchFamily="34" charset="-122"/>
                <a:cs typeface="Calibri" pitchFamily="34" charset="-120"/>
              </a:rPr>
              <a:t>older age</a:t>
            </a:r>
            <a:r>
              <a:rPr lang="en-US" sz="1100" dirty="0">
                <a:solidFill>
                  <a:srgbClr val="262B3A"/>
                </a:solidFill>
                <a:latin typeface="Calibri" pitchFamily="34" charset="0"/>
                <a:ea typeface="Calibri" pitchFamily="34" charset="-122"/>
                <a:cs typeface="Calibri" pitchFamily="34" charset="-120"/>
              </a:rPr>
              <a:t>, family history (genes).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Treatment</a:t>
            </a:r>
            <a:r>
              <a:rPr lang="en-US" sz="1100" dirty="0">
                <a:solidFill>
                  <a:srgbClr val="262B3A"/>
                </a:solidFill>
                <a:latin typeface="Calibri" pitchFamily="34" charset="0"/>
                <a:ea typeface="Calibri" pitchFamily="34" charset="-122"/>
                <a:cs typeface="Calibri" pitchFamily="34" charset="-120"/>
              </a:rPr>
              <a:t>: first a </a:t>
            </a:r>
            <a:r>
              <a:rPr lang="en-US" sz="1100" b="1" dirty="0">
                <a:solidFill>
                  <a:srgbClr val="262B3A"/>
                </a:solidFill>
                <a:latin typeface="Calibri" pitchFamily="34" charset="0"/>
                <a:ea typeface="Calibri" pitchFamily="34" charset="-122"/>
                <a:cs typeface="Calibri" pitchFamily="34" charset="-120"/>
              </a:rPr>
              <a:t>diet</a:t>
            </a:r>
            <a:r>
              <a:rPr lang="en-US" sz="1100" dirty="0">
                <a:solidFill>
                  <a:srgbClr val="262B3A"/>
                </a:solidFill>
                <a:latin typeface="Calibri" pitchFamily="34" charset="0"/>
                <a:ea typeface="Calibri" pitchFamily="34" charset="-122"/>
                <a:cs typeface="Calibri" pitchFamily="34" charset="-120"/>
              </a:rPr>
              <a:t> low in sugar and refined carbohydrate, </a:t>
            </a:r>
            <a:r>
              <a:rPr lang="en-US" sz="1100" b="1" dirty="0">
                <a:solidFill>
                  <a:srgbClr val="262B3A"/>
                </a:solidFill>
                <a:latin typeface="Calibri" pitchFamily="34" charset="0"/>
                <a:ea typeface="Calibri" pitchFamily="34" charset="-122"/>
                <a:cs typeface="Calibri" pitchFamily="34" charset="-120"/>
              </a:rPr>
              <a:t>regular exercise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weight loss</a:t>
            </a:r>
            <a:r>
              <a:rPr lang="en-US" sz="1100" dirty="0">
                <a:solidFill>
                  <a:srgbClr val="262B3A"/>
                </a:solidFill>
                <a:latin typeface="Calibri" pitchFamily="34" charset="0"/>
                <a:ea typeface="Calibri" pitchFamily="34" charset="-122"/>
                <a:cs typeface="Calibri" pitchFamily="34" charset="-120"/>
              </a:rPr>
              <a:t>; then </a:t>
            </a:r>
            <a:r>
              <a:rPr lang="en-US" sz="1100" b="1" dirty="0">
                <a:solidFill>
                  <a:srgbClr val="262B3A"/>
                </a:solidFill>
                <a:latin typeface="Calibri" pitchFamily="34" charset="0"/>
                <a:ea typeface="Calibri" pitchFamily="34" charset="-122"/>
                <a:cs typeface="Calibri" pitchFamily="34" charset="-120"/>
              </a:rPr>
              <a:t>medicines</a:t>
            </a:r>
            <a:r>
              <a:rPr lang="en-US" sz="1100" dirty="0">
                <a:solidFill>
                  <a:srgbClr val="262B3A"/>
                </a:solidFill>
                <a:latin typeface="Calibri" pitchFamily="34" charset="0"/>
                <a:ea typeface="Calibri" pitchFamily="34" charset="-122"/>
                <a:cs typeface="Calibri" pitchFamily="34" charset="-120"/>
              </a:rPr>
              <a:t> (tablets) that lower glucose; insulin injections in some cases.</a:t>
            </a:r>
            <a:endParaRPr lang="en-US" sz="1100" dirty="0"/>
          </a:p>
        </p:txBody>
      </p:sp>
      <p:sp>
        <p:nvSpPr>
          <p:cNvPr id="73" name="Shape 71"/>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74" name="Text 72"/>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BMI, a risk factor</a:t>
            </a:r>
            <a:endParaRPr lang="en-US" sz="1300" dirty="0"/>
          </a:p>
        </p:txBody>
      </p:sp>
      <p:sp>
        <p:nvSpPr>
          <p:cNvPr id="75" name="Text 73"/>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BMI = mass in kg ÷ (height in m)². An adult is 95 kg and 1.75 m tall. BMI 30 or more = obese.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Square   </a:t>
            </a:r>
            <a:r>
              <a:rPr lang="en-US" sz="1050" dirty="0">
                <a:solidFill>
                  <a:srgbClr val="262B3A"/>
                </a:solidFill>
                <a:latin typeface="Calibri" pitchFamily="34" charset="0"/>
                <a:ea typeface="Calibri" pitchFamily="34" charset="-122"/>
                <a:cs typeface="Calibri" pitchFamily="34" charset="-120"/>
              </a:rPr>
              <a:t>1.75² = 3.0625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95 ÷ 3.0625 = 31.02…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BMI = 31.0: obese, higher risk of type 2</a:t>
            </a:r>
            <a:endParaRPr lang="en-US" sz="1050" dirty="0"/>
          </a:p>
        </p:txBody>
      </p:sp>
      <p:sp>
        <p:nvSpPr>
          <p:cNvPr id="76" name="Shape 74"/>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5"/>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BMI of a </a:t>
            </a:r>
            <a:r>
              <a:rPr lang="en-US" sz="1150" b="1" dirty="0">
                <a:solidFill>
                  <a:srgbClr val="262B3A"/>
                </a:solidFill>
                <a:latin typeface="Calibri" pitchFamily="34" charset="0"/>
                <a:ea typeface="Calibri" pitchFamily="34" charset="-122"/>
                <a:cs typeface="Calibri" pitchFamily="34" charset="-120"/>
              </a:rPr>
              <a:t>68 kg</a:t>
            </a:r>
            <a:r>
              <a:rPr lang="en-US" sz="1150" dirty="0">
                <a:solidFill>
                  <a:srgbClr val="262B3A"/>
                </a:solidFill>
                <a:latin typeface="Calibri" pitchFamily="34" charset="0"/>
                <a:ea typeface="Calibri" pitchFamily="34" charset="-122"/>
                <a:cs typeface="Calibri" pitchFamily="34" charset="-120"/>
              </a:rPr>
              <a:t> adult who is </a:t>
            </a:r>
            <a:r>
              <a:rPr lang="en-US" sz="1150" b="1" dirty="0">
                <a:solidFill>
                  <a:srgbClr val="262B3A"/>
                </a:solidFill>
                <a:latin typeface="Calibri" pitchFamily="34" charset="0"/>
                <a:ea typeface="Calibri" pitchFamily="34" charset="-122"/>
                <a:cs typeface="Calibri" pitchFamily="34" charset="-120"/>
              </a:rPr>
              <a:t>1.70 m</a:t>
            </a:r>
            <a:r>
              <a:rPr lang="en-US" sz="1150" dirty="0">
                <a:solidFill>
                  <a:srgbClr val="262B3A"/>
                </a:solidFill>
                <a:latin typeface="Calibri" pitchFamily="34" charset="0"/>
                <a:ea typeface="Calibri" pitchFamily="34" charset="-122"/>
                <a:cs typeface="Calibri" pitchFamily="34" charset="-120"/>
              </a:rPr>
              <a:t> tall (3 s.f.). 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changes that lower the risk of type 2 diabetes.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Comparing type 1 and type 2 diabetes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compare type 1 and type 2 diabetes and explain how they can be treated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B5.6.3  |  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6949440" cy="914400"/>
        </p:xfrm>
        <a:graphic>
          <a:graphicData uri="http://schemas.openxmlformats.org/drawingml/2006/table">
            <a:tbl>
              <a:tblPr/>
              <a:tblGrid>
                <a:gridCol w="1188720"/>
                <a:gridCol w="2880360"/>
                <a:gridCol w="2880360"/>
              </a:tblGrid>
              <a:tr h="292608">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 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 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65836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Cause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Pancreas makes little or </a:t>
                      </a:r>
                      <a:r>
                        <a:rPr lang="en-US" sz="1050" b="1" dirty="0">
                          <a:solidFill>
                            <a:srgbClr val="262B3A"/>
                          </a:solidFill>
                          <a:latin typeface="Calibri" pitchFamily="34" charset="0"/>
                          <a:ea typeface="Calibri" pitchFamily="34" charset="-122"/>
                          <a:cs typeface="Calibri" pitchFamily="34" charset="-120"/>
                        </a:rPr>
                        <a:t>no insulin</a:t>
                      </a:r>
                      <a:r>
                        <a:rPr lang="en-US" sz="1050" dirty="0">
                          <a:solidFill>
                            <a:srgbClr val="262B3A"/>
                          </a:solidFill>
                          <a:latin typeface="Calibri" pitchFamily="34" charset="0"/>
                          <a:ea typeface="Calibri" pitchFamily="34" charset="-122"/>
                          <a:cs typeface="Calibri" pitchFamily="34" charset="-120"/>
                        </a:rPr>
                        <a:t> (cells destroyed by the immune system)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Body cells </a:t>
                      </a:r>
                      <a:r>
                        <a:rPr lang="en-US" sz="1050" b="1" dirty="0">
                          <a:solidFill>
                            <a:srgbClr val="262B3A"/>
                          </a:solidFill>
                          <a:latin typeface="Calibri" pitchFamily="34" charset="0"/>
                          <a:ea typeface="Calibri" pitchFamily="34" charset="-122"/>
                          <a:cs typeface="Calibri" pitchFamily="34" charset="-120"/>
                        </a:rPr>
                        <a:t>stop responding</a:t>
                      </a:r>
                      <a:r>
                        <a:rPr lang="en-US" sz="1050" dirty="0">
                          <a:solidFill>
                            <a:srgbClr val="262B3A"/>
                          </a:solidFill>
                          <a:latin typeface="Calibri" pitchFamily="34" charset="0"/>
                          <a:ea typeface="Calibri" pitchFamily="34" charset="-122"/>
                          <a:cs typeface="Calibri" pitchFamily="34" charset="-120"/>
                        </a:rPr>
                        <a:t> to insulin (resistance); less insulin later</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Usual onset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Childhood or teenage years; sudden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Usually adults over 40 (now younger); slow</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Main risk</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Genes and an unknown trigger; </a:t>
                      </a:r>
                      <a:r>
                        <a:rPr lang="en-US" sz="1050" b="1" dirty="0">
                          <a:solidFill>
                            <a:srgbClr val="262B3A"/>
                          </a:solidFill>
                          <a:latin typeface="Calibri" pitchFamily="34" charset="0"/>
                          <a:ea typeface="Calibri" pitchFamily="34" charset="-122"/>
                          <a:cs typeface="Calibri" pitchFamily="34" charset="-120"/>
                        </a:rPr>
                        <a:t>not</a:t>
                      </a:r>
                      <a:r>
                        <a:rPr lang="en-US" sz="1050" dirty="0">
                          <a:solidFill>
                            <a:srgbClr val="262B3A"/>
                          </a:solidFill>
                          <a:latin typeface="Calibri" pitchFamily="34" charset="0"/>
                          <a:ea typeface="Calibri" pitchFamily="34" charset="-122"/>
                          <a:cs typeface="Calibri" pitchFamily="34" charset="-120"/>
                        </a:rPr>
                        <a:t> lifestyle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Obesity</a:t>
                      </a:r>
                      <a:r>
                        <a:rPr lang="en-US" sz="1050" dirty="0">
                          <a:solidFill>
                            <a:srgbClr val="262B3A"/>
                          </a:solidFill>
                          <a:latin typeface="Calibri" pitchFamily="34" charset="0"/>
                          <a:ea typeface="Calibri" pitchFamily="34" charset="-122"/>
                          <a:cs typeface="Calibri" pitchFamily="34" charset="-120"/>
                        </a:rPr>
                        <a:t>, inactivity, poor diet, age, genes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65836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Treatment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Insulin injections</a:t>
                      </a:r>
                      <a:r>
                        <a:rPr lang="en-US" sz="1050" dirty="0">
                          <a:solidFill>
                            <a:srgbClr val="262B3A"/>
                          </a:solidFill>
                          <a:latin typeface="Calibri" pitchFamily="34" charset="0"/>
                          <a:ea typeface="Calibri" pitchFamily="34" charset="-122"/>
                          <a:cs typeface="Calibri" pitchFamily="34" charset="-120"/>
                        </a:rPr>
                        <a:t> for life; test glucose; plan food and exercise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Diet</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exercise</a:t>
                      </a:r>
                      <a:r>
                        <a:rPr lang="en-US" sz="1050" dirty="0">
                          <a:solidFill>
                            <a:srgbClr val="262B3A"/>
                          </a:solidFill>
                          <a:latin typeface="Calibri" pitchFamily="34" charset="0"/>
                          <a:ea typeface="Calibri" pitchFamily="34" charset="-122"/>
                          <a:cs typeface="Calibri" pitchFamily="34" charset="-120"/>
                        </a:rPr>
                        <a:t>, weight loss; then tablets; sometimes insulin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658368">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Same in both</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gridSpan="2">
                  <a:txBody>
                    <a:bodyPr/>
                    <a:lstStyle/>
                    <a:p>
                      <a:pPr indent="0" marL="0">
                        <a:buNone/>
                      </a:pPr>
                      <a:r>
                        <a:rPr lang="en-US" sz="1050" dirty="0">
                          <a:solidFill>
                            <a:srgbClr val="262B3A"/>
                          </a:solidFill>
                          <a:latin typeface="Calibri" pitchFamily="34" charset="0"/>
                          <a:ea typeface="Calibri" pitchFamily="34" charset="-122"/>
                          <a:cs typeface="Calibri" pitchFamily="34" charset="-120"/>
                        </a:rPr>
                        <a:t>Blood glucose too </a:t>
                      </a:r>
                      <a:r>
                        <a:rPr lang="en-US" sz="1050" b="1" dirty="0">
                          <a:solidFill>
                            <a:srgbClr val="262B3A"/>
                          </a:solidFill>
                          <a:latin typeface="Calibri" pitchFamily="34" charset="0"/>
                          <a:ea typeface="Calibri" pitchFamily="34" charset="-122"/>
                          <a:cs typeface="Calibri" pitchFamily="34" charset="-120"/>
                        </a:rPr>
                        <a:t>high</a:t>
                      </a:r>
                      <a:r>
                        <a:rPr lang="en-US" sz="1050" dirty="0">
                          <a:solidFill>
                            <a:srgbClr val="262B3A"/>
                          </a:solidFill>
                          <a:latin typeface="Calibri" pitchFamily="34" charset="0"/>
                          <a:ea typeface="Calibri" pitchFamily="34" charset="-122"/>
                          <a:cs typeface="Calibri" pitchFamily="34" charset="-120"/>
                        </a:rPr>
                        <a:t>; thirst, lots of urine, tiredness; long-term damage to eyes, kidneys, nerves, heart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hMerge="1">
                  <a:tcPr/>
                </a:tc>
              </a:tr>
            </a:tbl>
          </a:graphicData>
        </a:graphic>
      </p:graphicFrame>
      <p:sp>
        <p:nvSpPr>
          <p:cNvPr id="9" name="Shape 6"/>
          <p:cNvSpPr/>
          <p:nvPr/>
        </p:nvSpPr>
        <p:spPr>
          <a:xfrm>
            <a:off x="7589520" y="1188720"/>
            <a:ext cx="4187952" cy="3429000"/>
          </a:xfrm>
          <a:prstGeom prst="roundRect">
            <a:avLst>
              <a:gd name="adj" fmla="val 2133"/>
            </a:avLst>
          </a:prstGeom>
          <a:solidFill>
            <a:srgbClr val="EEF5F4"/>
          </a:solidFill>
          <a:ln w="9525">
            <a:solidFill>
              <a:srgbClr val="D2E3E1"/>
            </a:solidFill>
            <a:prstDash val="solid"/>
          </a:ln>
        </p:spPr>
      </p:sp>
      <p:sp>
        <p:nvSpPr>
          <p:cNvPr id="10" name="Text 7"/>
          <p:cNvSpPr/>
          <p:nvPr/>
        </p:nvSpPr>
        <p:spPr>
          <a:xfrm>
            <a:off x="7726680" y="4306824"/>
            <a:ext cx="3913632"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UK diagnosed cases, approximate %</a:t>
            </a:r>
            <a:endParaRPr lang="en-US" sz="1000" dirty="0"/>
          </a:p>
        </p:txBody>
      </p:sp>
      <p:sp>
        <p:nvSpPr>
          <p:cNvPr id="11" name="Shape 8"/>
          <p:cNvSpPr/>
          <p:nvPr/>
        </p:nvSpPr>
        <p:spPr>
          <a:xfrm>
            <a:off x="8458200" y="1417320"/>
            <a:ext cx="3108960" cy="2331720"/>
          </a:xfrm>
          <a:prstGeom prst="rect">
            <a:avLst/>
          </a:prstGeom>
          <a:solidFill>
            <a:srgbClr val="FFFFFF"/>
          </a:solidFill>
          <a:ln/>
        </p:spPr>
      </p:sp>
      <p:sp>
        <p:nvSpPr>
          <p:cNvPr id="12" name="Shape 9"/>
          <p:cNvSpPr/>
          <p:nvPr/>
        </p:nvSpPr>
        <p:spPr>
          <a:xfrm>
            <a:off x="8458200" y="3749040"/>
            <a:ext cx="3108960" cy="91"/>
          </a:xfrm>
          <a:prstGeom prst="line">
            <a:avLst/>
          </a:prstGeom>
          <a:noFill/>
          <a:ln w="6350">
            <a:solidFill>
              <a:srgbClr val="C5DCD9"/>
            </a:solidFill>
            <a:prstDash val="solid"/>
          </a:ln>
        </p:spPr>
      </p:sp>
      <p:sp>
        <p:nvSpPr>
          <p:cNvPr id="13" name="Shape 10"/>
          <p:cNvSpPr/>
          <p:nvPr/>
        </p:nvSpPr>
        <p:spPr>
          <a:xfrm>
            <a:off x="8458200" y="3515868"/>
            <a:ext cx="3108960" cy="91"/>
          </a:xfrm>
          <a:prstGeom prst="line">
            <a:avLst/>
          </a:prstGeom>
          <a:noFill/>
          <a:ln w="6350">
            <a:solidFill>
              <a:srgbClr val="E3EFED"/>
            </a:solidFill>
            <a:prstDash val="solid"/>
          </a:ln>
        </p:spPr>
      </p:sp>
      <p:sp>
        <p:nvSpPr>
          <p:cNvPr id="14" name="Shape 11"/>
          <p:cNvSpPr/>
          <p:nvPr/>
        </p:nvSpPr>
        <p:spPr>
          <a:xfrm>
            <a:off x="8458200" y="3282696"/>
            <a:ext cx="3108960" cy="91"/>
          </a:xfrm>
          <a:prstGeom prst="line">
            <a:avLst/>
          </a:prstGeom>
          <a:noFill/>
          <a:ln w="6350">
            <a:solidFill>
              <a:srgbClr val="C5DCD9"/>
            </a:solidFill>
            <a:prstDash val="solid"/>
          </a:ln>
        </p:spPr>
      </p:sp>
      <p:sp>
        <p:nvSpPr>
          <p:cNvPr id="15" name="Shape 12"/>
          <p:cNvSpPr/>
          <p:nvPr/>
        </p:nvSpPr>
        <p:spPr>
          <a:xfrm>
            <a:off x="8458200" y="3049524"/>
            <a:ext cx="3108960" cy="91"/>
          </a:xfrm>
          <a:prstGeom prst="line">
            <a:avLst/>
          </a:prstGeom>
          <a:noFill/>
          <a:ln w="6350">
            <a:solidFill>
              <a:srgbClr val="E3EFED"/>
            </a:solidFill>
            <a:prstDash val="solid"/>
          </a:ln>
        </p:spPr>
      </p:sp>
      <p:sp>
        <p:nvSpPr>
          <p:cNvPr id="16" name="Shape 13"/>
          <p:cNvSpPr/>
          <p:nvPr/>
        </p:nvSpPr>
        <p:spPr>
          <a:xfrm>
            <a:off x="8458200" y="2816352"/>
            <a:ext cx="3108960" cy="91"/>
          </a:xfrm>
          <a:prstGeom prst="line">
            <a:avLst/>
          </a:prstGeom>
          <a:noFill/>
          <a:ln w="6350">
            <a:solidFill>
              <a:srgbClr val="C5DCD9"/>
            </a:solidFill>
            <a:prstDash val="solid"/>
          </a:ln>
        </p:spPr>
      </p:sp>
      <p:sp>
        <p:nvSpPr>
          <p:cNvPr id="17" name="Shape 14"/>
          <p:cNvSpPr/>
          <p:nvPr/>
        </p:nvSpPr>
        <p:spPr>
          <a:xfrm>
            <a:off x="8458200" y="2583180"/>
            <a:ext cx="3108960" cy="91"/>
          </a:xfrm>
          <a:prstGeom prst="line">
            <a:avLst/>
          </a:prstGeom>
          <a:noFill/>
          <a:ln w="6350">
            <a:solidFill>
              <a:srgbClr val="E3EFED"/>
            </a:solidFill>
            <a:prstDash val="solid"/>
          </a:ln>
        </p:spPr>
      </p:sp>
      <p:sp>
        <p:nvSpPr>
          <p:cNvPr id="18" name="Shape 15"/>
          <p:cNvSpPr/>
          <p:nvPr/>
        </p:nvSpPr>
        <p:spPr>
          <a:xfrm>
            <a:off x="8458200" y="2350008"/>
            <a:ext cx="3108960" cy="91"/>
          </a:xfrm>
          <a:prstGeom prst="line">
            <a:avLst/>
          </a:prstGeom>
          <a:noFill/>
          <a:ln w="6350">
            <a:solidFill>
              <a:srgbClr val="C5DCD9"/>
            </a:solidFill>
            <a:prstDash val="solid"/>
          </a:ln>
        </p:spPr>
      </p:sp>
      <p:sp>
        <p:nvSpPr>
          <p:cNvPr id="19" name="Shape 16"/>
          <p:cNvSpPr/>
          <p:nvPr/>
        </p:nvSpPr>
        <p:spPr>
          <a:xfrm>
            <a:off x="8458200" y="2116836"/>
            <a:ext cx="3108960" cy="91"/>
          </a:xfrm>
          <a:prstGeom prst="line">
            <a:avLst/>
          </a:prstGeom>
          <a:noFill/>
          <a:ln w="6350">
            <a:solidFill>
              <a:srgbClr val="E3EFED"/>
            </a:solidFill>
            <a:prstDash val="solid"/>
          </a:ln>
        </p:spPr>
      </p:sp>
      <p:sp>
        <p:nvSpPr>
          <p:cNvPr id="20" name="Shape 17"/>
          <p:cNvSpPr/>
          <p:nvPr/>
        </p:nvSpPr>
        <p:spPr>
          <a:xfrm>
            <a:off x="8458200" y="1883664"/>
            <a:ext cx="3108960" cy="91"/>
          </a:xfrm>
          <a:prstGeom prst="line">
            <a:avLst/>
          </a:prstGeom>
          <a:noFill/>
          <a:ln w="6350">
            <a:solidFill>
              <a:srgbClr val="C5DCD9"/>
            </a:solidFill>
            <a:prstDash val="solid"/>
          </a:ln>
        </p:spPr>
      </p:sp>
      <p:sp>
        <p:nvSpPr>
          <p:cNvPr id="21" name="Shape 18"/>
          <p:cNvSpPr/>
          <p:nvPr/>
        </p:nvSpPr>
        <p:spPr>
          <a:xfrm>
            <a:off x="8458200" y="1650492"/>
            <a:ext cx="3108960" cy="91"/>
          </a:xfrm>
          <a:prstGeom prst="line">
            <a:avLst/>
          </a:prstGeom>
          <a:noFill/>
          <a:ln w="6350">
            <a:solidFill>
              <a:srgbClr val="E3EFED"/>
            </a:solidFill>
            <a:prstDash val="solid"/>
          </a:ln>
        </p:spPr>
      </p:sp>
      <p:sp>
        <p:nvSpPr>
          <p:cNvPr id="22" name="Shape 19"/>
          <p:cNvSpPr/>
          <p:nvPr/>
        </p:nvSpPr>
        <p:spPr>
          <a:xfrm>
            <a:off x="8458200" y="1417320"/>
            <a:ext cx="3108960" cy="91"/>
          </a:xfrm>
          <a:prstGeom prst="line">
            <a:avLst/>
          </a:prstGeom>
          <a:noFill/>
          <a:ln w="6350">
            <a:solidFill>
              <a:srgbClr val="C5DCD9"/>
            </a:solidFill>
            <a:prstDash val="solid"/>
          </a:ln>
        </p:spPr>
      </p:sp>
      <p:sp>
        <p:nvSpPr>
          <p:cNvPr id="23" name="Shape 20"/>
          <p:cNvSpPr/>
          <p:nvPr/>
        </p:nvSpPr>
        <p:spPr>
          <a:xfrm>
            <a:off x="8458200" y="3749040"/>
            <a:ext cx="3108960" cy="91"/>
          </a:xfrm>
          <a:prstGeom prst="line">
            <a:avLst/>
          </a:prstGeom>
          <a:noFill/>
          <a:ln w="19050">
            <a:solidFill>
              <a:srgbClr val="133536"/>
            </a:solidFill>
            <a:prstDash val="solid"/>
          </a:ln>
        </p:spPr>
      </p:sp>
      <p:sp>
        <p:nvSpPr>
          <p:cNvPr id="24" name="Shape 21"/>
          <p:cNvSpPr/>
          <p:nvPr/>
        </p:nvSpPr>
        <p:spPr>
          <a:xfrm>
            <a:off x="8458200" y="1417320"/>
            <a:ext cx="91" cy="2331720"/>
          </a:xfrm>
          <a:prstGeom prst="line">
            <a:avLst/>
          </a:prstGeom>
          <a:noFill/>
          <a:ln w="19050">
            <a:solidFill>
              <a:srgbClr val="133536"/>
            </a:solidFill>
            <a:prstDash val="solid"/>
          </a:ln>
        </p:spPr>
      </p:sp>
      <p:sp>
        <p:nvSpPr>
          <p:cNvPr id="25" name="Text 22"/>
          <p:cNvSpPr/>
          <p:nvPr/>
        </p:nvSpPr>
        <p:spPr>
          <a:xfrm>
            <a:off x="8019288" y="3657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6" name="Text 23"/>
          <p:cNvSpPr/>
          <p:nvPr/>
        </p:nvSpPr>
        <p:spPr>
          <a:xfrm>
            <a:off x="8019288" y="319125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7" name="Text 24"/>
          <p:cNvSpPr/>
          <p:nvPr/>
        </p:nvSpPr>
        <p:spPr>
          <a:xfrm>
            <a:off x="8019288" y="272491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28" name="Text 25"/>
          <p:cNvSpPr/>
          <p:nvPr/>
        </p:nvSpPr>
        <p:spPr>
          <a:xfrm>
            <a:off x="8019288" y="225856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29" name="Text 26"/>
          <p:cNvSpPr/>
          <p:nvPr/>
        </p:nvSpPr>
        <p:spPr>
          <a:xfrm>
            <a:off x="8019288" y="179222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30" name="Text 27"/>
          <p:cNvSpPr/>
          <p:nvPr/>
        </p:nvSpPr>
        <p:spPr>
          <a:xfrm>
            <a:off x="80192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31" name="Text 28"/>
          <p:cNvSpPr/>
          <p:nvPr/>
        </p:nvSpPr>
        <p:spPr>
          <a:xfrm rot="16200000">
            <a:off x="6725412" y="2455164"/>
            <a:ext cx="2331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 of cases</a:t>
            </a:r>
            <a:endParaRPr lang="en-US" sz="1050" dirty="0"/>
          </a:p>
        </p:txBody>
      </p:sp>
      <p:sp>
        <p:nvSpPr>
          <p:cNvPr id="32" name="Shape 29"/>
          <p:cNvSpPr/>
          <p:nvPr/>
        </p:nvSpPr>
        <p:spPr>
          <a:xfrm>
            <a:off x="8665464" y="1650492"/>
            <a:ext cx="621792" cy="2098548"/>
          </a:xfrm>
          <a:prstGeom prst="rect">
            <a:avLst/>
          </a:prstGeom>
          <a:solidFill>
            <a:srgbClr val="C8414C"/>
          </a:solidFill>
          <a:ln/>
        </p:spPr>
      </p:sp>
      <p:sp>
        <p:nvSpPr>
          <p:cNvPr id="33" name="Text 30"/>
          <p:cNvSpPr/>
          <p:nvPr/>
        </p:nvSpPr>
        <p:spPr>
          <a:xfrm>
            <a:off x="8574024" y="1431036"/>
            <a:ext cx="804672"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90%</a:t>
            </a:r>
            <a:endParaRPr lang="en-US" sz="1000" dirty="0"/>
          </a:p>
        </p:txBody>
      </p:sp>
      <p:sp>
        <p:nvSpPr>
          <p:cNvPr id="34" name="Text 31"/>
          <p:cNvSpPr/>
          <p:nvPr/>
        </p:nvSpPr>
        <p:spPr>
          <a:xfrm>
            <a:off x="8528304" y="3794760"/>
            <a:ext cx="896112"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Type 2</a:t>
            </a:r>
            <a:endParaRPr lang="en-US" sz="1000" dirty="0"/>
          </a:p>
        </p:txBody>
      </p:sp>
      <p:sp>
        <p:nvSpPr>
          <p:cNvPr id="35" name="Shape 32"/>
          <p:cNvSpPr/>
          <p:nvPr/>
        </p:nvSpPr>
        <p:spPr>
          <a:xfrm>
            <a:off x="9701784" y="3562502"/>
            <a:ext cx="621792" cy="186538"/>
          </a:xfrm>
          <a:prstGeom prst="rect">
            <a:avLst/>
          </a:prstGeom>
          <a:solidFill>
            <a:srgbClr val="3B7DD8"/>
          </a:solidFill>
          <a:ln/>
        </p:spPr>
      </p:sp>
      <p:sp>
        <p:nvSpPr>
          <p:cNvPr id="36" name="Text 33"/>
          <p:cNvSpPr/>
          <p:nvPr/>
        </p:nvSpPr>
        <p:spPr>
          <a:xfrm>
            <a:off x="9610344" y="3343046"/>
            <a:ext cx="804672"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8%</a:t>
            </a:r>
            <a:endParaRPr lang="en-US" sz="1000" dirty="0"/>
          </a:p>
        </p:txBody>
      </p:sp>
      <p:sp>
        <p:nvSpPr>
          <p:cNvPr id="37" name="Text 34"/>
          <p:cNvSpPr/>
          <p:nvPr/>
        </p:nvSpPr>
        <p:spPr>
          <a:xfrm>
            <a:off x="9564624" y="3794760"/>
            <a:ext cx="896112"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Type 1</a:t>
            </a:r>
            <a:endParaRPr lang="en-US" sz="1000" dirty="0"/>
          </a:p>
        </p:txBody>
      </p:sp>
      <p:sp>
        <p:nvSpPr>
          <p:cNvPr id="38" name="Shape 35"/>
          <p:cNvSpPr/>
          <p:nvPr/>
        </p:nvSpPr>
        <p:spPr>
          <a:xfrm>
            <a:off x="10738104" y="3702406"/>
            <a:ext cx="621792" cy="46634"/>
          </a:xfrm>
          <a:prstGeom prst="rect">
            <a:avLst/>
          </a:prstGeom>
          <a:solidFill>
            <a:srgbClr val="9AA3B0"/>
          </a:solidFill>
          <a:ln/>
        </p:spPr>
      </p:sp>
      <p:sp>
        <p:nvSpPr>
          <p:cNvPr id="39" name="Text 36"/>
          <p:cNvSpPr/>
          <p:nvPr/>
        </p:nvSpPr>
        <p:spPr>
          <a:xfrm>
            <a:off x="10646664" y="3482950"/>
            <a:ext cx="804672"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a:t>
            </a:r>
            <a:endParaRPr lang="en-US" sz="1000" dirty="0"/>
          </a:p>
        </p:txBody>
      </p:sp>
      <p:sp>
        <p:nvSpPr>
          <p:cNvPr id="40" name="Text 37"/>
          <p:cNvSpPr/>
          <p:nvPr/>
        </p:nvSpPr>
        <p:spPr>
          <a:xfrm>
            <a:off x="10600944" y="3794760"/>
            <a:ext cx="896112"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Other types</a:t>
            </a:r>
            <a:endParaRPr lang="en-US" sz="1000" dirty="0"/>
          </a:p>
        </p:txBody>
      </p:sp>
      <p:sp>
        <p:nvSpPr>
          <p:cNvPr id="41" name="Shape 38"/>
          <p:cNvSpPr/>
          <p:nvPr/>
        </p:nvSpPr>
        <p:spPr>
          <a:xfrm>
            <a:off x="7589520" y="4727448"/>
            <a:ext cx="4187952" cy="987552"/>
          </a:xfrm>
          <a:prstGeom prst="roundRect">
            <a:avLst>
              <a:gd name="adj" fmla="val 5556"/>
            </a:avLst>
          </a:prstGeom>
          <a:solidFill>
            <a:srgbClr val="FFF4E0"/>
          </a:solidFill>
          <a:ln w="9525">
            <a:solidFill>
              <a:srgbClr val="F1D9A8"/>
            </a:solidFill>
            <a:prstDash val="solid"/>
          </a:ln>
        </p:spPr>
      </p:sp>
      <p:sp>
        <p:nvSpPr>
          <p:cNvPr id="42" name="Text 39"/>
          <p:cNvSpPr/>
          <p:nvPr/>
        </p:nvSpPr>
        <p:spPr>
          <a:xfrm>
            <a:off x="7754112" y="4800600"/>
            <a:ext cx="38587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3" name="Text 40"/>
          <p:cNvSpPr/>
          <p:nvPr/>
        </p:nvSpPr>
        <p:spPr>
          <a:xfrm>
            <a:off x="7754112" y="5111496"/>
            <a:ext cx="3858768" cy="530352"/>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Type 2   </a:t>
            </a:r>
            <a:r>
              <a:rPr lang="en-US" sz="1050" b="1" dirty="0">
                <a:solidFill>
                  <a:srgbClr val="C8414C"/>
                </a:solidFill>
                <a:latin typeface="Calibri" pitchFamily="34" charset="0"/>
                <a:ea typeface="Calibri" pitchFamily="34" charset="-122"/>
                <a:cs typeface="Calibri" pitchFamily="34" charset="-120"/>
              </a:rPr>
              <a:t>90% of 4.4 million = 3.96 million people</a:t>
            </a:r>
            <a:endParaRPr lang="en-US" sz="1050" dirty="0"/>
          </a:p>
        </p:txBody>
      </p:sp>
      <p:sp>
        <p:nvSpPr>
          <p:cNvPr id="44" name="Text 41"/>
          <p:cNvSpPr/>
          <p:nvPr/>
        </p:nvSpPr>
        <p:spPr>
          <a:xfrm>
            <a:off x="411480" y="4480560"/>
            <a:ext cx="6949440" cy="411480"/>
          </a:xfrm>
          <a:prstGeom prst="rect">
            <a:avLst/>
          </a:prstGeom>
          <a:noFill/>
          <a:ln/>
        </p:spPr>
        <p:txBody>
          <a:bodyPr wrap="square" lIns="0" tIns="0" rIns="0" bIns="0" rtlCol="0" anchor="t"/>
          <a:lstStyle/>
          <a:p>
            <a:pPr algn="l" indent="0" marL="0">
              <a:buNone/>
            </a:pPr>
            <a:r>
              <a:rPr lang="en-US" sz="1050" i="1" dirty="0">
                <a:solidFill>
                  <a:srgbClr val="6B7385"/>
                </a:solidFill>
                <a:latin typeface="Calibri" pitchFamily="34" charset="0"/>
                <a:ea typeface="Calibri" pitchFamily="34" charset="-122"/>
                <a:cs typeface="Calibri" pitchFamily="34" charset="-120"/>
              </a:rPr>
              <a:t>Both types: untreated high glucose → glucose in urine; long-term damage to blood vessels (eyes, kidneys, feet, heart).</a:t>
            </a:r>
            <a:endParaRPr lang="en-US" sz="1050" dirty="0"/>
          </a:p>
        </p:txBody>
      </p:sp>
      <p:sp>
        <p:nvSpPr>
          <p:cNvPr id="45" name="Shape 42"/>
          <p:cNvSpPr/>
          <p:nvPr/>
        </p:nvSpPr>
        <p:spPr>
          <a:xfrm>
            <a:off x="411480" y="4937760"/>
            <a:ext cx="6949440" cy="777240"/>
          </a:xfrm>
          <a:prstGeom prst="roundRect">
            <a:avLst>
              <a:gd name="adj" fmla="val 7059"/>
            </a:avLst>
          </a:prstGeom>
          <a:solidFill>
            <a:srgbClr val="F4FAF9"/>
          </a:solidFill>
          <a:ln w="9525">
            <a:solidFill>
              <a:srgbClr val="CFE0DE"/>
            </a:solidFill>
            <a:prstDash val="solid"/>
          </a:ln>
        </p:spPr>
      </p:sp>
      <p:sp>
        <p:nvSpPr>
          <p:cNvPr id="46" name="Text 43"/>
          <p:cNvSpPr/>
          <p:nvPr/>
        </p:nvSpPr>
        <p:spPr>
          <a:xfrm>
            <a:off x="576072" y="5029200"/>
            <a:ext cx="6620256" cy="612648"/>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Exam tip: "compare" means give a </a:t>
            </a:r>
            <a:r>
              <a:rPr lang="en-US" sz="1050" b="1" dirty="0">
                <a:solidFill>
                  <a:srgbClr val="262B3A"/>
                </a:solidFill>
                <a:latin typeface="Calibri" pitchFamily="34" charset="0"/>
                <a:ea typeface="Calibri" pitchFamily="34" charset="-122"/>
                <a:cs typeface="Calibri" pitchFamily="34" charset="-120"/>
              </a:rPr>
              <a:t>similarity</a:t>
            </a:r>
            <a:r>
              <a:rPr lang="en-US" sz="1050" dirty="0">
                <a:solidFill>
                  <a:srgbClr val="262B3A"/>
                </a:solidFill>
                <a:latin typeface="Calibri" pitchFamily="34" charset="0"/>
                <a:ea typeface="Calibri" pitchFamily="34" charset="-122"/>
                <a:cs typeface="Calibri" pitchFamily="34" charset="-120"/>
              </a:rPr>
              <a:t> and a </a:t>
            </a:r>
            <a:r>
              <a:rPr lang="en-US" sz="1050" b="1" dirty="0">
                <a:solidFill>
                  <a:srgbClr val="262B3A"/>
                </a:solidFill>
                <a:latin typeface="Calibri" pitchFamily="34" charset="0"/>
                <a:ea typeface="Calibri" pitchFamily="34" charset="-122"/>
                <a:cs typeface="Calibri" pitchFamily="34" charset="-120"/>
              </a:rPr>
              <a:t>difference</a:t>
            </a:r>
            <a:r>
              <a:rPr lang="en-US" sz="1050" dirty="0">
                <a:solidFill>
                  <a:srgbClr val="262B3A"/>
                </a:solidFill>
                <a:latin typeface="Calibri" pitchFamily="34" charset="0"/>
                <a:ea typeface="Calibri" pitchFamily="34" charset="-122"/>
                <a:cs typeface="Calibri" pitchFamily="34" charset="-120"/>
              </a:rPr>
              <a:t>, with both types in each point, e.g. "type 1 is treated with insulin, </a:t>
            </a:r>
            <a:r>
              <a:rPr lang="en-US" sz="1050" b="1" dirty="0">
                <a:solidFill>
                  <a:srgbClr val="262B3A"/>
                </a:solidFill>
                <a:latin typeface="Calibri" pitchFamily="34" charset="0"/>
                <a:ea typeface="Calibri" pitchFamily="34" charset="-122"/>
                <a:cs typeface="Calibri" pitchFamily="34" charset="-120"/>
              </a:rPr>
              <a:t>whereas</a:t>
            </a:r>
            <a:r>
              <a:rPr lang="en-US" sz="1050" dirty="0">
                <a:solidFill>
                  <a:srgbClr val="262B3A"/>
                </a:solidFill>
                <a:latin typeface="Calibri" pitchFamily="34" charset="0"/>
                <a:ea typeface="Calibri" pitchFamily="34" charset="-122"/>
                <a:cs typeface="Calibri" pitchFamily="34" charset="-120"/>
              </a:rPr>
              <a:t> type 2 is first treated with diet and exercise".</a:t>
            </a:r>
            <a:endParaRPr lang="en-US" sz="1050" dirty="0"/>
          </a:p>
        </p:txBody>
      </p:sp>
      <p:sp>
        <p:nvSpPr>
          <p:cNvPr id="47" name="Shape 44"/>
          <p:cNvSpPr/>
          <p:nvPr/>
        </p:nvSpPr>
        <p:spPr>
          <a:xfrm>
            <a:off x="411480" y="5833872"/>
            <a:ext cx="11368735" cy="530352"/>
          </a:xfrm>
          <a:prstGeom prst="rect">
            <a:avLst/>
          </a:prstGeom>
          <a:solidFill>
            <a:srgbClr val="FFF4E0"/>
          </a:solidFill>
          <a:ln w="6350">
            <a:solidFill>
              <a:srgbClr val="F1D9A8"/>
            </a:solidFill>
            <a:prstDash val="solid"/>
          </a:ln>
        </p:spPr>
      </p:sp>
      <p:sp>
        <p:nvSpPr>
          <p:cNvPr id="48" name="Shape 45"/>
          <p:cNvSpPr/>
          <p:nvPr/>
        </p:nvSpPr>
        <p:spPr>
          <a:xfrm>
            <a:off x="411480" y="5833872"/>
            <a:ext cx="82296" cy="530352"/>
          </a:xfrm>
          <a:prstGeom prst="rect">
            <a:avLst/>
          </a:prstGeom>
          <a:solidFill>
            <a:srgbClr val="E39A2F"/>
          </a:solidFill>
          <a:ln w="12700">
            <a:solidFill>
              <a:srgbClr val="E39A2F"/>
            </a:solidFill>
            <a:prstDash val="solid"/>
          </a:ln>
        </p:spPr>
      </p:sp>
      <p:sp>
        <p:nvSpPr>
          <p:cNvPr id="49" name="Text 4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 similarity</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two differences</a:t>
            </a:r>
            <a:r>
              <a:rPr lang="en-US" sz="1150" dirty="0">
                <a:solidFill>
                  <a:srgbClr val="262B3A"/>
                </a:solidFill>
                <a:latin typeface="Calibri" pitchFamily="34" charset="0"/>
                <a:ea typeface="Calibri" pitchFamily="34" charset="-122"/>
                <a:cs typeface="Calibri" pitchFamily="34" charset="-120"/>
              </a:rPr>
              <a:t> between type 1 and type 2 diabetes. About how many times more common is type 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type 1 and type 2 diabetes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a:t>
            </a:r>
            <a:r>
              <a:rPr lang="en-US" sz="1250" b="1" dirty="0">
                <a:solidFill>
                  <a:srgbClr val="262B3A"/>
                </a:solidFill>
                <a:latin typeface="Calibri" pitchFamily="34" charset="0"/>
                <a:ea typeface="Calibri" pitchFamily="34" charset="-122"/>
                <a:cs typeface="Calibri" pitchFamily="34" charset="-120"/>
              </a:rPr>
              <a:t>cause</a:t>
            </a:r>
            <a:r>
              <a:rPr lang="en-US" sz="1250" dirty="0">
                <a:solidFill>
                  <a:srgbClr val="262B3A"/>
                </a:solidFill>
                <a:latin typeface="Calibri" pitchFamily="34" charset="0"/>
                <a:ea typeface="Calibri" pitchFamily="34" charset="-122"/>
                <a:cs typeface="Calibri" pitchFamily="34" charset="-120"/>
              </a:rPr>
              <a:t> of type 1 diabetes.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risk factors for type 2 diabetes.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clinic has </a:t>
            </a:r>
            <a:r>
              <a:rPr lang="en-US" sz="1250" b="1" dirty="0">
                <a:solidFill>
                  <a:srgbClr val="262B3A"/>
                </a:solidFill>
                <a:latin typeface="Calibri" pitchFamily="34" charset="0"/>
                <a:ea typeface="Calibri" pitchFamily="34" charset="-122"/>
                <a:cs typeface="Calibri" pitchFamily="34" charset="-120"/>
              </a:rPr>
              <a:t>500</a:t>
            </a:r>
            <a:r>
              <a:rPr lang="en-US" sz="1250" dirty="0">
                <a:solidFill>
                  <a:srgbClr val="262B3A"/>
                </a:solidFill>
                <a:latin typeface="Calibri" pitchFamily="34" charset="0"/>
                <a:ea typeface="Calibri" pitchFamily="34" charset="-122"/>
                <a:cs typeface="Calibri" pitchFamily="34" charset="-120"/>
              </a:rPr>
              <a:t> patients with diabetes. About </a:t>
            </a:r>
            <a:r>
              <a:rPr lang="en-US" sz="1250" b="1" dirty="0">
                <a:solidFill>
                  <a:srgbClr val="262B3A"/>
                </a:solidFill>
                <a:latin typeface="Calibri" pitchFamily="34" charset="0"/>
                <a:ea typeface="Calibri" pitchFamily="34" charset="-122"/>
                <a:cs typeface="Calibri" pitchFamily="34" charset="-120"/>
              </a:rPr>
              <a:t>90%</a:t>
            </a:r>
            <a:r>
              <a:rPr lang="en-US" sz="1250" dirty="0">
                <a:solidFill>
                  <a:srgbClr val="262B3A"/>
                </a:solidFill>
                <a:latin typeface="Calibri" pitchFamily="34" charset="0"/>
                <a:ea typeface="Calibri" pitchFamily="34" charset="-122"/>
                <a:cs typeface="Calibri" pitchFamily="34" charset="-120"/>
              </a:rPr>
              <a:t> have type 2. How many is this?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Compare</a:t>
            </a:r>
            <a:r>
              <a:rPr lang="en-US" sz="1250" dirty="0">
                <a:solidFill>
                  <a:srgbClr val="262B3A"/>
                </a:solidFill>
                <a:latin typeface="Calibri" pitchFamily="34" charset="0"/>
                <a:ea typeface="Calibri" pitchFamily="34" charset="-122"/>
                <a:cs typeface="Calibri" pitchFamily="34" charset="-120"/>
              </a:rPr>
              <a:t> the treatment of type 1 and type 2 diabetes.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Data: the glucose tolerance test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interpreting data about diabetes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B5.6.3  |  16</a:t>
            </a:r>
            <a:endParaRPr lang="en-US" sz="1000" dirty="0"/>
          </a:p>
        </p:txBody>
      </p:sp>
      <p:sp>
        <p:nvSpPr>
          <p:cNvPr id="8" name="Shape 6"/>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plotted to scale from the table; 75 g glucose drink at 0 min after fasting</a:t>
            </a:r>
            <a:endParaRPr lang="en-US" sz="1000" dirty="0"/>
          </a:p>
        </p:txBody>
      </p:sp>
      <p:sp>
        <p:nvSpPr>
          <p:cNvPr id="10" name="Shape 8"/>
          <p:cNvSpPr/>
          <p:nvPr/>
        </p:nvSpPr>
        <p:spPr>
          <a:xfrm>
            <a:off x="1371600" y="1417320"/>
            <a:ext cx="4754880" cy="3291840"/>
          </a:xfrm>
          <a:prstGeom prst="rect">
            <a:avLst/>
          </a:prstGeom>
          <a:solidFill>
            <a:srgbClr val="FFFFFF"/>
          </a:solidFill>
          <a:ln/>
        </p:spPr>
      </p:sp>
      <p:sp>
        <p:nvSpPr>
          <p:cNvPr id="11" name="Shape 9"/>
          <p:cNvSpPr/>
          <p:nvPr/>
        </p:nvSpPr>
        <p:spPr>
          <a:xfrm>
            <a:off x="1371600" y="1417320"/>
            <a:ext cx="91" cy="3291840"/>
          </a:xfrm>
          <a:prstGeom prst="line">
            <a:avLst/>
          </a:prstGeom>
          <a:noFill/>
          <a:ln w="6350">
            <a:solidFill>
              <a:srgbClr val="C5DCD9"/>
            </a:solidFill>
            <a:prstDash val="solid"/>
          </a:ln>
        </p:spPr>
      </p:sp>
      <p:sp>
        <p:nvSpPr>
          <p:cNvPr id="12" name="Shape 10"/>
          <p:cNvSpPr/>
          <p:nvPr/>
        </p:nvSpPr>
        <p:spPr>
          <a:xfrm>
            <a:off x="1767840" y="1417320"/>
            <a:ext cx="91" cy="3291840"/>
          </a:xfrm>
          <a:prstGeom prst="line">
            <a:avLst/>
          </a:prstGeom>
          <a:noFill/>
          <a:ln w="6350">
            <a:solidFill>
              <a:srgbClr val="E3EFED"/>
            </a:solidFill>
            <a:prstDash val="solid"/>
          </a:ln>
        </p:spPr>
      </p:sp>
      <p:sp>
        <p:nvSpPr>
          <p:cNvPr id="13" name="Shape 11"/>
          <p:cNvSpPr/>
          <p:nvPr/>
        </p:nvSpPr>
        <p:spPr>
          <a:xfrm>
            <a:off x="2164080" y="1417320"/>
            <a:ext cx="91" cy="3291840"/>
          </a:xfrm>
          <a:prstGeom prst="line">
            <a:avLst/>
          </a:prstGeom>
          <a:noFill/>
          <a:ln w="6350">
            <a:solidFill>
              <a:srgbClr val="C5DCD9"/>
            </a:solidFill>
            <a:prstDash val="solid"/>
          </a:ln>
        </p:spPr>
      </p:sp>
      <p:sp>
        <p:nvSpPr>
          <p:cNvPr id="14" name="Shape 12"/>
          <p:cNvSpPr/>
          <p:nvPr/>
        </p:nvSpPr>
        <p:spPr>
          <a:xfrm>
            <a:off x="2560320" y="1417320"/>
            <a:ext cx="91" cy="3291840"/>
          </a:xfrm>
          <a:prstGeom prst="line">
            <a:avLst/>
          </a:prstGeom>
          <a:noFill/>
          <a:ln w="6350">
            <a:solidFill>
              <a:srgbClr val="E3EFED"/>
            </a:solidFill>
            <a:prstDash val="solid"/>
          </a:ln>
        </p:spPr>
      </p:sp>
      <p:sp>
        <p:nvSpPr>
          <p:cNvPr id="15" name="Shape 13"/>
          <p:cNvSpPr/>
          <p:nvPr/>
        </p:nvSpPr>
        <p:spPr>
          <a:xfrm>
            <a:off x="2956560" y="1417320"/>
            <a:ext cx="91" cy="3291840"/>
          </a:xfrm>
          <a:prstGeom prst="line">
            <a:avLst/>
          </a:prstGeom>
          <a:noFill/>
          <a:ln w="6350">
            <a:solidFill>
              <a:srgbClr val="C5DCD9"/>
            </a:solidFill>
            <a:prstDash val="solid"/>
          </a:ln>
        </p:spPr>
      </p:sp>
      <p:sp>
        <p:nvSpPr>
          <p:cNvPr id="16" name="Shape 14"/>
          <p:cNvSpPr/>
          <p:nvPr/>
        </p:nvSpPr>
        <p:spPr>
          <a:xfrm>
            <a:off x="3352800" y="1417320"/>
            <a:ext cx="91" cy="3291840"/>
          </a:xfrm>
          <a:prstGeom prst="line">
            <a:avLst/>
          </a:prstGeom>
          <a:noFill/>
          <a:ln w="6350">
            <a:solidFill>
              <a:srgbClr val="E3EFED"/>
            </a:solidFill>
            <a:prstDash val="solid"/>
          </a:ln>
        </p:spPr>
      </p:sp>
      <p:sp>
        <p:nvSpPr>
          <p:cNvPr id="17" name="Shape 15"/>
          <p:cNvSpPr/>
          <p:nvPr/>
        </p:nvSpPr>
        <p:spPr>
          <a:xfrm>
            <a:off x="3749040" y="1417320"/>
            <a:ext cx="91" cy="3291840"/>
          </a:xfrm>
          <a:prstGeom prst="line">
            <a:avLst/>
          </a:prstGeom>
          <a:noFill/>
          <a:ln w="6350">
            <a:solidFill>
              <a:srgbClr val="C5DCD9"/>
            </a:solidFill>
            <a:prstDash val="solid"/>
          </a:ln>
        </p:spPr>
      </p:sp>
      <p:sp>
        <p:nvSpPr>
          <p:cNvPr id="18" name="Shape 16"/>
          <p:cNvSpPr/>
          <p:nvPr/>
        </p:nvSpPr>
        <p:spPr>
          <a:xfrm>
            <a:off x="4145280" y="1417320"/>
            <a:ext cx="91" cy="3291840"/>
          </a:xfrm>
          <a:prstGeom prst="line">
            <a:avLst/>
          </a:prstGeom>
          <a:noFill/>
          <a:ln w="6350">
            <a:solidFill>
              <a:srgbClr val="E3EFED"/>
            </a:solidFill>
            <a:prstDash val="solid"/>
          </a:ln>
        </p:spPr>
      </p:sp>
      <p:sp>
        <p:nvSpPr>
          <p:cNvPr id="19" name="Shape 17"/>
          <p:cNvSpPr/>
          <p:nvPr/>
        </p:nvSpPr>
        <p:spPr>
          <a:xfrm>
            <a:off x="4541520" y="1417320"/>
            <a:ext cx="91" cy="3291840"/>
          </a:xfrm>
          <a:prstGeom prst="line">
            <a:avLst/>
          </a:prstGeom>
          <a:noFill/>
          <a:ln w="6350">
            <a:solidFill>
              <a:srgbClr val="C5DCD9"/>
            </a:solidFill>
            <a:prstDash val="solid"/>
          </a:ln>
        </p:spPr>
      </p:sp>
      <p:sp>
        <p:nvSpPr>
          <p:cNvPr id="20" name="Shape 18"/>
          <p:cNvSpPr/>
          <p:nvPr/>
        </p:nvSpPr>
        <p:spPr>
          <a:xfrm>
            <a:off x="4937760" y="1417320"/>
            <a:ext cx="91" cy="3291840"/>
          </a:xfrm>
          <a:prstGeom prst="line">
            <a:avLst/>
          </a:prstGeom>
          <a:noFill/>
          <a:ln w="6350">
            <a:solidFill>
              <a:srgbClr val="E3EFED"/>
            </a:solidFill>
            <a:prstDash val="solid"/>
          </a:ln>
        </p:spPr>
      </p:sp>
      <p:sp>
        <p:nvSpPr>
          <p:cNvPr id="21" name="Shape 19"/>
          <p:cNvSpPr/>
          <p:nvPr/>
        </p:nvSpPr>
        <p:spPr>
          <a:xfrm>
            <a:off x="5334000" y="1417320"/>
            <a:ext cx="91" cy="3291840"/>
          </a:xfrm>
          <a:prstGeom prst="line">
            <a:avLst/>
          </a:prstGeom>
          <a:noFill/>
          <a:ln w="6350">
            <a:solidFill>
              <a:srgbClr val="C5DCD9"/>
            </a:solidFill>
            <a:prstDash val="solid"/>
          </a:ln>
        </p:spPr>
      </p:sp>
      <p:sp>
        <p:nvSpPr>
          <p:cNvPr id="22" name="Shape 20"/>
          <p:cNvSpPr/>
          <p:nvPr/>
        </p:nvSpPr>
        <p:spPr>
          <a:xfrm>
            <a:off x="5730240" y="1417320"/>
            <a:ext cx="91" cy="3291840"/>
          </a:xfrm>
          <a:prstGeom prst="line">
            <a:avLst/>
          </a:prstGeom>
          <a:noFill/>
          <a:ln w="6350">
            <a:solidFill>
              <a:srgbClr val="E3EFED"/>
            </a:solidFill>
            <a:prstDash val="solid"/>
          </a:ln>
        </p:spPr>
      </p:sp>
      <p:sp>
        <p:nvSpPr>
          <p:cNvPr id="23" name="Shape 21"/>
          <p:cNvSpPr/>
          <p:nvPr/>
        </p:nvSpPr>
        <p:spPr>
          <a:xfrm>
            <a:off x="6126480" y="1417320"/>
            <a:ext cx="91" cy="3291840"/>
          </a:xfrm>
          <a:prstGeom prst="line">
            <a:avLst/>
          </a:prstGeom>
          <a:noFill/>
          <a:ln w="6350">
            <a:solidFill>
              <a:srgbClr val="C5DCD9"/>
            </a:solidFill>
            <a:prstDash val="solid"/>
          </a:ln>
        </p:spPr>
      </p:sp>
      <p:sp>
        <p:nvSpPr>
          <p:cNvPr id="24" name="Shape 22"/>
          <p:cNvSpPr/>
          <p:nvPr/>
        </p:nvSpPr>
        <p:spPr>
          <a:xfrm>
            <a:off x="1371600" y="4709160"/>
            <a:ext cx="4754880" cy="91"/>
          </a:xfrm>
          <a:prstGeom prst="line">
            <a:avLst/>
          </a:prstGeom>
          <a:noFill/>
          <a:ln w="6350">
            <a:solidFill>
              <a:srgbClr val="C5DCD9"/>
            </a:solidFill>
            <a:prstDash val="solid"/>
          </a:ln>
        </p:spPr>
      </p:sp>
      <p:sp>
        <p:nvSpPr>
          <p:cNvPr id="25" name="Shape 23"/>
          <p:cNvSpPr/>
          <p:nvPr/>
        </p:nvSpPr>
        <p:spPr>
          <a:xfrm>
            <a:off x="1371600" y="4503420"/>
            <a:ext cx="4754880" cy="91"/>
          </a:xfrm>
          <a:prstGeom prst="line">
            <a:avLst/>
          </a:prstGeom>
          <a:noFill/>
          <a:ln w="6350">
            <a:solidFill>
              <a:srgbClr val="E3EFED"/>
            </a:solidFill>
            <a:prstDash val="solid"/>
          </a:ln>
        </p:spPr>
      </p:sp>
      <p:sp>
        <p:nvSpPr>
          <p:cNvPr id="26" name="Shape 24"/>
          <p:cNvSpPr/>
          <p:nvPr/>
        </p:nvSpPr>
        <p:spPr>
          <a:xfrm>
            <a:off x="1371600" y="4297680"/>
            <a:ext cx="4754880" cy="91"/>
          </a:xfrm>
          <a:prstGeom prst="line">
            <a:avLst/>
          </a:prstGeom>
          <a:noFill/>
          <a:ln w="6350">
            <a:solidFill>
              <a:srgbClr val="C5DCD9"/>
            </a:solidFill>
            <a:prstDash val="solid"/>
          </a:ln>
        </p:spPr>
      </p:sp>
      <p:sp>
        <p:nvSpPr>
          <p:cNvPr id="27" name="Shape 25"/>
          <p:cNvSpPr/>
          <p:nvPr/>
        </p:nvSpPr>
        <p:spPr>
          <a:xfrm>
            <a:off x="1371600" y="4091940"/>
            <a:ext cx="4754880" cy="91"/>
          </a:xfrm>
          <a:prstGeom prst="line">
            <a:avLst/>
          </a:prstGeom>
          <a:noFill/>
          <a:ln w="6350">
            <a:solidFill>
              <a:srgbClr val="E3EFED"/>
            </a:solidFill>
            <a:prstDash val="solid"/>
          </a:ln>
        </p:spPr>
      </p:sp>
      <p:sp>
        <p:nvSpPr>
          <p:cNvPr id="28" name="Shape 26"/>
          <p:cNvSpPr/>
          <p:nvPr/>
        </p:nvSpPr>
        <p:spPr>
          <a:xfrm>
            <a:off x="1371600" y="3886200"/>
            <a:ext cx="4754880" cy="91"/>
          </a:xfrm>
          <a:prstGeom prst="line">
            <a:avLst/>
          </a:prstGeom>
          <a:noFill/>
          <a:ln w="6350">
            <a:solidFill>
              <a:srgbClr val="C5DCD9"/>
            </a:solidFill>
            <a:prstDash val="solid"/>
          </a:ln>
        </p:spPr>
      </p:sp>
      <p:sp>
        <p:nvSpPr>
          <p:cNvPr id="29" name="Shape 27"/>
          <p:cNvSpPr/>
          <p:nvPr/>
        </p:nvSpPr>
        <p:spPr>
          <a:xfrm>
            <a:off x="1371600" y="3680460"/>
            <a:ext cx="4754880" cy="91"/>
          </a:xfrm>
          <a:prstGeom prst="line">
            <a:avLst/>
          </a:prstGeom>
          <a:noFill/>
          <a:ln w="6350">
            <a:solidFill>
              <a:srgbClr val="E3EFED"/>
            </a:solidFill>
            <a:prstDash val="solid"/>
          </a:ln>
        </p:spPr>
      </p:sp>
      <p:sp>
        <p:nvSpPr>
          <p:cNvPr id="30" name="Shape 28"/>
          <p:cNvSpPr/>
          <p:nvPr/>
        </p:nvSpPr>
        <p:spPr>
          <a:xfrm>
            <a:off x="1371600" y="3474720"/>
            <a:ext cx="4754880" cy="91"/>
          </a:xfrm>
          <a:prstGeom prst="line">
            <a:avLst/>
          </a:prstGeom>
          <a:noFill/>
          <a:ln w="6350">
            <a:solidFill>
              <a:srgbClr val="C5DCD9"/>
            </a:solidFill>
            <a:prstDash val="solid"/>
          </a:ln>
        </p:spPr>
      </p:sp>
      <p:sp>
        <p:nvSpPr>
          <p:cNvPr id="31" name="Shape 29"/>
          <p:cNvSpPr/>
          <p:nvPr/>
        </p:nvSpPr>
        <p:spPr>
          <a:xfrm>
            <a:off x="1371600" y="3268980"/>
            <a:ext cx="4754880" cy="91"/>
          </a:xfrm>
          <a:prstGeom prst="line">
            <a:avLst/>
          </a:prstGeom>
          <a:noFill/>
          <a:ln w="6350">
            <a:solidFill>
              <a:srgbClr val="E3EFED"/>
            </a:solidFill>
            <a:prstDash val="solid"/>
          </a:ln>
        </p:spPr>
      </p:sp>
      <p:sp>
        <p:nvSpPr>
          <p:cNvPr id="32" name="Shape 30"/>
          <p:cNvSpPr/>
          <p:nvPr/>
        </p:nvSpPr>
        <p:spPr>
          <a:xfrm>
            <a:off x="1371600" y="3063240"/>
            <a:ext cx="4754880" cy="91"/>
          </a:xfrm>
          <a:prstGeom prst="line">
            <a:avLst/>
          </a:prstGeom>
          <a:noFill/>
          <a:ln w="6350">
            <a:solidFill>
              <a:srgbClr val="C5DCD9"/>
            </a:solidFill>
            <a:prstDash val="solid"/>
          </a:ln>
        </p:spPr>
      </p:sp>
      <p:sp>
        <p:nvSpPr>
          <p:cNvPr id="33" name="Shape 31"/>
          <p:cNvSpPr/>
          <p:nvPr/>
        </p:nvSpPr>
        <p:spPr>
          <a:xfrm>
            <a:off x="1371600" y="2857500"/>
            <a:ext cx="4754880" cy="91"/>
          </a:xfrm>
          <a:prstGeom prst="line">
            <a:avLst/>
          </a:prstGeom>
          <a:noFill/>
          <a:ln w="6350">
            <a:solidFill>
              <a:srgbClr val="E3EFED"/>
            </a:solidFill>
            <a:prstDash val="solid"/>
          </a:ln>
        </p:spPr>
      </p:sp>
      <p:sp>
        <p:nvSpPr>
          <p:cNvPr id="34" name="Shape 32"/>
          <p:cNvSpPr/>
          <p:nvPr/>
        </p:nvSpPr>
        <p:spPr>
          <a:xfrm>
            <a:off x="1371600" y="2651760"/>
            <a:ext cx="4754880" cy="91"/>
          </a:xfrm>
          <a:prstGeom prst="line">
            <a:avLst/>
          </a:prstGeom>
          <a:noFill/>
          <a:ln w="6350">
            <a:solidFill>
              <a:srgbClr val="C5DCD9"/>
            </a:solidFill>
            <a:prstDash val="solid"/>
          </a:ln>
        </p:spPr>
      </p:sp>
      <p:sp>
        <p:nvSpPr>
          <p:cNvPr id="35" name="Shape 33"/>
          <p:cNvSpPr/>
          <p:nvPr/>
        </p:nvSpPr>
        <p:spPr>
          <a:xfrm>
            <a:off x="1371600" y="2446020"/>
            <a:ext cx="4754880" cy="91"/>
          </a:xfrm>
          <a:prstGeom prst="line">
            <a:avLst/>
          </a:prstGeom>
          <a:noFill/>
          <a:ln w="6350">
            <a:solidFill>
              <a:srgbClr val="E3EFED"/>
            </a:solidFill>
            <a:prstDash val="solid"/>
          </a:ln>
        </p:spPr>
      </p:sp>
      <p:sp>
        <p:nvSpPr>
          <p:cNvPr id="36" name="Shape 34"/>
          <p:cNvSpPr/>
          <p:nvPr/>
        </p:nvSpPr>
        <p:spPr>
          <a:xfrm>
            <a:off x="1371600" y="2240280"/>
            <a:ext cx="4754880" cy="91"/>
          </a:xfrm>
          <a:prstGeom prst="line">
            <a:avLst/>
          </a:prstGeom>
          <a:noFill/>
          <a:ln w="6350">
            <a:solidFill>
              <a:srgbClr val="C5DCD9"/>
            </a:solidFill>
            <a:prstDash val="solid"/>
          </a:ln>
        </p:spPr>
      </p:sp>
      <p:sp>
        <p:nvSpPr>
          <p:cNvPr id="37" name="Shape 35"/>
          <p:cNvSpPr/>
          <p:nvPr/>
        </p:nvSpPr>
        <p:spPr>
          <a:xfrm>
            <a:off x="1371600" y="2034540"/>
            <a:ext cx="4754880" cy="91"/>
          </a:xfrm>
          <a:prstGeom prst="line">
            <a:avLst/>
          </a:prstGeom>
          <a:noFill/>
          <a:ln w="6350">
            <a:solidFill>
              <a:srgbClr val="E3EFED"/>
            </a:solidFill>
            <a:prstDash val="solid"/>
          </a:ln>
        </p:spPr>
      </p:sp>
      <p:sp>
        <p:nvSpPr>
          <p:cNvPr id="38" name="Shape 36"/>
          <p:cNvSpPr/>
          <p:nvPr/>
        </p:nvSpPr>
        <p:spPr>
          <a:xfrm>
            <a:off x="1371600" y="1828800"/>
            <a:ext cx="4754880" cy="91"/>
          </a:xfrm>
          <a:prstGeom prst="line">
            <a:avLst/>
          </a:prstGeom>
          <a:noFill/>
          <a:ln w="6350">
            <a:solidFill>
              <a:srgbClr val="C5DCD9"/>
            </a:solidFill>
            <a:prstDash val="solid"/>
          </a:ln>
        </p:spPr>
      </p:sp>
      <p:sp>
        <p:nvSpPr>
          <p:cNvPr id="39" name="Shape 37"/>
          <p:cNvSpPr/>
          <p:nvPr/>
        </p:nvSpPr>
        <p:spPr>
          <a:xfrm>
            <a:off x="1371600" y="1623060"/>
            <a:ext cx="4754880" cy="91"/>
          </a:xfrm>
          <a:prstGeom prst="line">
            <a:avLst/>
          </a:prstGeom>
          <a:noFill/>
          <a:ln w="6350">
            <a:solidFill>
              <a:srgbClr val="E3EFED"/>
            </a:solidFill>
            <a:prstDash val="solid"/>
          </a:ln>
        </p:spPr>
      </p:sp>
      <p:sp>
        <p:nvSpPr>
          <p:cNvPr id="40" name="Shape 38"/>
          <p:cNvSpPr/>
          <p:nvPr/>
        </p:nvSpPr>
        <p:spPr>
          <a:xfrm>
            <a:off x="1371600" y="1417320"/>
            <a:ext cx="4754880" cy="91"/>
          </a:xfrm>
          <a:prstGeom prst="line">
            <a:avLst/>
          </a:prstGeom>
          <a:noFill/>
          <a:ln w="6350">
            <a:solidFill>
              <a:srgbClr val="C5DCD9"/>
            </a:solidFill>
            <a:prstDash val="solid"/>
          </a:ln>
        </p:spPr>
      </p:sp>
      <p:sp>
        <p:nvSpPr>
          <p:cNvPr id="41" name="Shape 39"/>
          <p:cNvSpPr/>
          <p:nvPr/>
        </p:nvSpPr>
        <p:spPr>
          <a:xfrm>
            <a:off x="1371600" y="4709160"/>
            <a:ext cx="4754880" cy="91"/>
          </a:xfrm>
          <a:prstGeom prst="line">
            <a:avLst/>
          </a:prstGeom>
          <a:noFill/>
          <a:ln w="19050">
            <a:solidFill>
              <a:srgbClr val="133536"/>
            </a:solidFill>
            <a:prstDash val="solid"/>
          </a:ln>
        </p:spPr>
      </p:sp>
      <p:sp>
        <p:nvSpPr>
          <p:cNvPr id="42" name="Shape 40"/>
          <p:cNvSpPr/>
          <p:nvPr/>
        </p:nvSpPr>
        <p:spPr>
          <a:xfrm flipV="1">
            <a:off x="1371600" y="1417320"/>
            <a:ext cx="91" cy="3291840"/>
          </a:xfrm>
          <a:prstGeom prst="line">
            <a:avLst/>
          </a:prstGeom>
          <a:noFill/>
          <a:ln w="19050">
            <a:solidFill>
              <a:srgbClr val="133536"/>
            </a:solidFill>
            <a:prstDash val="solid"/>
          </a:ln>
        </p:spPr>
      </p:sp>
      <p:sp>
        <p:nvSpPr>
          <p:cNvPr id="43" name="Shape 41"/>
          <p:cNvSpPr/>
          <p:nvPr/>
        </p:nvSpPr>
        <p:spPr>
          <a:xfrm>
            <a:off x="1371600" y="4709160"/>
            <a:ext cx="91" cy="54864"/>
          </a:xfrm>
          <a:prstGeom prst="line">
            <a:avLst/>
          </a:prstGeom>
          <a:noFill/>
          <a:ln w="12700">
            <a:solidFill>
              <a:srgbClr val="133536"/>
            </a:solidFill>
            <a:prstDash val="solid"/>
          </a:ln>
        </p:spPr>
      </p:sp>
      <p:sp>
        <p:nvSpPr>
          <p:cNvPr id="44" name="Text 42"/>
          <p:cNvSpPr/>
          <p:nvPr/>
        </p:nvSpPr>
        <p:spPr>
          <a:xfrm>
            <a:off x="10972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5" name="Shape 43"/>
          <p:cNvSpPr/>
          <p:nvPr/>
        </p:nvSpPr>
        <p:spPr>
          <a:xfrm>
            <a:off x="2164080" y="4709160"/>
            <a:ext cx="91" cy="54864"/>
          </a:xfrm>
          <a:prstGeom prst="line">
            <a:avLst/>
          </a:prstGeom>
          <a:noFill/>
          <a:ln w="12700">
            <a:solidFill>
              <a:srgbClr val="133536"/>
            </a:solidFill>
            <a:prstDash val="solid"/>
          </a:ln>
        </p:spPr>
      </p:sp>
      <p:sp>
        <p:nvSpPr>
          <p:cNvPr id="46" name="Text 44"/>
          <p:cNvSpPr/>
          <p:nvPr/>
        </p:nvSpPr>
        <p:spPr>
          <a:xfrm>
            <a:off x="18897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7" name="Shape 45"/>
          <p:cNvSpPr/>
          <p:nvPr/>
        </p:nvSpPr>
        <p:spPr>
          <a:xfrm>
            <a:off x="2956560" y="4709160"/>
            <a:ext cx="91" cy="54864"/>
          </a:xfrm>
          <a:prstGeom prst="line">
            <a:avLst/>
          </a:prstGeom>
          <a:noFill/>
          <a:ln w="12700">
            <a:solidFill>
              <a:srgbClr val="133536"/>
            </a:solidFill>
            <a:prstDash val="solid"/>
          </a:ln>
        </p:spPr>
      </p:sp>
      <p:sp>
        <p:nvSpPr>
          <p:cNvPr id="48" name="Text 46"/>
          <p:cNvSpPr/>
          <p:nvPr/>
        </p:nvSpPr>
        <p:spPr>
          <a:xfrm>
            <a:off x="26822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9" name="Shape 47"/>
          <p:cNvSpPr/>
          <p:nvPr/>
        </p:nvSpPr>
        <p:spPr>
          <a:xfrm>
            <a:off x="3749040" y="4709160"/>
            <a:ext cx="91" cy="54864"/>
          </a:xfrm>
          <a:prstGeom prst="line">
            <a:avLst/>
          </a:prstGeom>
          <a:noFill/>
          <a:ln w="12700">
            <a:solidFill>
              <a:srgbClr val="133536"/>
            </a:solidFill>
            <a:prstDash val="solid"/>
          </a:ln>
        </p:spPr>
      </p:sp>
      <p:sp>
        <p:nvSpPr>
          <p:cNvPr id="50" name="Text 48"/>
          <p:cNvSpPr/>
          <p:nvPr/>
        </p:nvSpPr>
        <p:spPr>
          <a:xfrm>
            <a:off x="34747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51" name="Shape 49"/>
          <p:cNvSpPr/>
          <p:nvPr/>
        </p:nvSpPr>
        <p:spPr>
          <a:xfrm>
            <a:off x="4541520" y="4709160"/>
            <a:ext cx="91" cy="54864"/>
          </a:xfrm>
          <a:prstGeom prst="line">
            <a:avLst/>
          </a:prstGeom>
          <a:noFill/>
          <a:ln w="12700">
            <a:solidFill>
              <a:srgbClr val="133536"/>
            </a:solidFill>
            <a:prstDash val="solid"/>
          </a:ln>
        </p:spPr>
      </p:sp>
      <p:sp>
        <p:nvSpPr>
          <p:cNvPr id="52" name="Text 50"/>
          <p:cNvSpPr/>
          <p:nvPr/>
        </p:nvSpPr>
        <p:spPr>
          <a:xfrm>
            <a:off x="42672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53" name="Shape 51"/>
          <p:cNvSpPr/>
          <p:nvPr/>
        </p:nvSpPr>
        <p:spPr>
          <a:xfrm>
            <a:off x="5334000" y="4709160"/>
            <a:ext cx="91" cy="54864"/>
          </a:xfrm>
          <a:prstGeom prst="line">
            <a:avLst/>
          </a:prstGeom>
          <a:noFill/>
          <a:ln w="12700">
            <a:solidFill>
              <a:srgbClr val="133536"/>
            </a:solidFill>
            <a:prstDash val="solid"/>
          </a:ln>
        </p:spPr>
      </p:sp>
      <p:sp>
        <p:nvSpPr>
          <p:cNvPr id="54" name="Text 52"/>
          <p:cNvSpPr/>
          <p:nvPr/>
        </p:nvSpPr>
        <p:spPr>
          <a:xfrm>
            <a:off x="50596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5" name="Shape 53"/>
          <p:cNvSpPr/>
          <p:nvPr/>
        </p:nvSpPr>
        <p:spPr>
          <a:xfrm>
            <a:off x="6126480" y="4709160"/>
            <a:ext cx="91" cy="54864"/>
          </a:xfrm>
          <a:prstGeom prst="line">
            <a:avLst/>
          </a:prstGeom>
          <a:noFill/>
          <a:ln w="12700">
            <a:solidFill>
              <a:srgbClr val="133536"/>
            </a:solidFill>
            <a:prstDash val="solid"/>
          </a:ln>
        </p:spPr>
      </p:sp>
      <p:sp>
        <p:nvSpPr>
          <p:cNvPr id="56" name="Text 54"/>
          <p:cNvSpPr/>
          <p:nvPr/>
        </p:nvSpPr>
        <p:spPr>
          <a:xfrm>
            <a:off x="5852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57" name="Shape 55"/>
          <p:cNvSpPr/>
          <p:nvPr/>
        </p:nvSpPr>
        <p:spPr>
          <a:xfrm>
            <a:off x="1316736" y="4709160"/>
            <a:ext cx="54864" cy="91"/>
          </a:xfrm>
          <a:prstGeom prst="line">
            <a:avLst/>
          </a:prstGeom>
          <a:noFill/>
          <a:ln w="12700">
            <a:solidFill>
              <a:srgbClr val="133536"/>
            </a:solidFill>
            <a:prstDash val="solid"/>
          </a:ln>
        </p:spPr>
      </p:sp>
      <p:sp>
        <p:nvSpPr>
          <p:cNvPr id="58" name="Text 56"/>
          <p:cNvSpPr/>
          <p:nvPr/>
        </p:nvSpPr>
        <p:spPr>
          <a:xfrm>
            <a:off x="93268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9" name="Shape 57"/>
          <p:cNvSpPr/>
          <p:nvPr/>
        </p:nvSpPr>
        <p:spPr>
          <a:xfrm>
            <a:off x="1316736" y="4297680"/>
            <a:ext cx="54864" cy="91"/>
          </a:xfrm>
          <a:prstGeom prst="line">
            <a:avLst/>
          </a:prstGeom>
          <a:noFill/>
          <a:ln w="12700">
            <a:solidFill>
              <a:srgbClr val="133536"/>
            </a:solidFill>
            <a:prstDash val="solid"/>
          </a:ln>
        </p:spPr>
      </p:sp>
      <p:sp>
        <p:nvSpPr>
          <p:cNvPr id="60" name="Text 58"/>
          <p:cNvSpPr/>
          <p:nvPr/>
        </p:nvSpPr>
        <p:spPr>
          <a:xfrm>
            <a:off x="932688" y="4206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61" name="Shape 59"/>
          <p:cNvSpPr/>
          <p:nvPr/>
        </p:nvSpPr>
        <p:spPr>
          <a:xfrm>
            <a:off x="1316736" y="3886200"/>
            <a:ext cx="54864" cy="91"/>
          </a:xfrm>
          <a:prstGeom prst="line">
            <a:avLst/>
          </a:prstGeom>
          <a:noFill/>
          <a:ln w="12700">
            <a:solidFill>
              <a:srgbClr val="133536"/>
            </a:solidFill>
            <a:prstDash val="solid"/>
          </a:ln>
        </p:spPr>
      </p:sp>
      <p:sp>
        <p:nvSpPr>
          <p:cNvPr id="62" name="Text 60"/>
          <p:cNvSpPr/>
          <p:nvPr/>
        </p:nvSpPr>
        <p:spPr>
          <a:xfrm>
            <a:off x="932688" y="3794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63" name="Shape 61"/>
          <p:cNvSpPr/>
          <p:nvPr/>
        </p:nvSpPr>
        <p:spPr>
          <a:xfrm>
            <a:off x="1316736" y="3474720"/>
            <a:ext cx="54864" cy="91"/>
          </a:xfrm>
          <a:prstGeom prst="line">
            <a:avLst/>
          </a:prstGeom>
          <a:noFill/>
          <a:ln w="12700">
            <a:solidFill>
              <a:srgbClr val="133536"/>
            </a:solidFill>
            <a:prstDash val="solid"/>
          </a:ln>
        </p:spPr>
      </p:sp>
      <p:sp>
        <p:nvSpPr>
          <p:cNvPr id="64" name="Text 62"/>
          <p:cNvSpPr/>
          <p:nvPr/>
        </p:nvSpPr>
        <p:spPr>
          <a:xfrm>
            <a:off x="932688" y="3383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65" name="Shape 63"/>
          <p:cNvSpPr/>
          <p:nvPr/>
        </p:nvSpPr>
        <p:spPr>
          <a:xfrm>
            <a:off x="1316736" y="3063240"/>
            <a:ext cx="54864" cy="91"/>
          </a:xfrm>
          <a:prstGeom prst="line">
            <a:avLst/>
          </a:prstGeom>
          <a:noFill/>
          <a:ln w="12700">
            <a:solidFill>
              <a:srgbClr val="133536"/>
            </a:solidFill>
            <a:prstDash val="solid"/>
          </a:ln>
        </p:spPr>
      </p:sp>
      <p:sp>
        <p:nvSpPr>
          <p:cNvPr id="66" name="Text 64"/>
          <p:cNvSpPr/>
          <p:nvPr/>
        </p:nvSpPr>
        <p:spPr>
          <a:xfrm>
            <a:off x="932688" y="2971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67" name="Shape 65"/>
          <p:cNvSpPr/>
          <p:nvPr/>
        </p:nvSpPr>
        <p:spPr>
          <a:xfrm>
            <a:off x="1316736" y="2651760"/>
            <a:ext cx="54864" cy="91"/>
          </a:xfrm>
          <a:prstGeom prst="line">
            <a:avLst/>
          </a:prstGeom>
          <a:noFill/>
          <a:ln w="12700">
            <a:solidFill>
              <a:srgbClr val="133536"/>
            </a:solidFill>
            <a:prstDash val="solid"/>
          </a:ln>
        </p:spPr>
      </p:sp>
      <p:sp>
        <p:nvSpPr>
          <p:cNvPr id="68" name="Text 66"/>
          <p:cNvSpPr/>
          <p:nvPr/>
        </p:nvSpPr>
        <p:spPr>
          <a:xfrm>
            <a:off x="932688" y="2560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9" name="Shape 67"/>
          <p:cNvSpPr/>
          <p:nvPr/>
        </p:nvSpPr>
        <p:spPr>
          <a:xfrm>
            <a:off x="1316736" y="2240280"/>
            <a:ext cx="54864" cy="91"/>
          </a:xfrm>
          <a:prstGeom prst="line">
            <a:avLst/>
          </a:prstGeom>
          <a:noFill/>
          <a:ln w="12700">
            <a:solidFill>
              <a:srgbClr val="133536"/>
            </a:solidFill>
            <a:prstDash val="solid"/>
          </a:ln>
        </p:spPr>
      </p:sp>
      <p:sp>
        <p:nvSpPr>
          <p:cNvPr id="70" name="Text 68"/>
          <p:cNvSpPr/>
          <p:nvPr/>
        </p:nvSpPr>
        <p:spPr>
          <a:xfrm>
            <a:off x="93268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71" name="Shape 69"/>
          <p:cNvSpPr/>
          <p:nvPr/>
        </p:nvSpPr>
        <p:spPr>
          <a:xfrm>
            <a:off x="1316736" y="1828800"/>
            <a:ext cx="54864" cy="91"/>
          </a:xfrm>
          <a:prstGeom prst="line">
            <a:avLst/>
          </a:prstGeom>
          <a:noFill/>
          <a:ln w="12700">
            <a:solidFill>
              <a:srgbClr val="133536"/>
            </a:solidFill>
            <a:prstDash val="solid"/>
          </a:ln>
        </p:spPr>
      </p:sp>
      <p:sp>
        <p:nvSpPr>
          <p:cNvPr id="72" name="Text 70"/>
          <p:cNvSpPr/>
          <p:nvPr/>
        </p:nvSpPr>
        <p:spPr>
          <a:xfrm>
            <a:off x="932688" y="1737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73" name="Shape 71"/>
          <p:cNvSpPr/>
          <p:nvPr/>
        </p:nvSpPr>
        <p:spPr>
          <a:xfrm>
            <a:off x="1316736" y="1417320"/>
            <a:ext cx="54864" cy="91"/>
          </a:xfrm>
          <a:prstGeom prst="line">
            <a:avLst/>
          </a:prstGeom>
          <a:noFill/>
          <a:ln w="12700">
            <a:solidFill>
              <a:srgbClr val="133536"/>
            </a:solidFill>
            <a:prstDash val="solid"/>
          </a:ln>
        </p:spPr>
      </p:sp>
      <p:sp>
        <p:nvSpPr>
          <p:cNvPr id="74" name="Text 72"/>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75" name="Text 73"/>
          <p:cNvSpPr/>
          <p:nvPr/>
        </p:nvSpPr>
        <p:spPr>
          <a:xfrm>
            <a:off x="1371600" y="4956048"/>
            <a:ext cx="4754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after glucose drink / min</a:t>
            </a:r>
            <a:endParaRPr lang="en-US" sz="1050" dirty="0"/>
          </a:p>
        </p:txBody>
      </p:sp>
      <p:sp>
        <p:nvSpPr>
          <p:cNvPr id="76" name="Text 74"/>
          <p:cNvSpPr/>
          <p:nvPr/>
        </p:nvSpPr>
        <p:spPr>
          <a:xfrm rot="16200000">
            <a:off x="-84124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Blood glucose / mmol/L</a:t>
            </a:r>
            <a:endParaRPr lang="en-US" sz="1050" dirty="0"/>
          </a:p>
        </p:txBody>
      </p:sp>
      <p:sp>
        <p:nvSpPr>
          <p:cNvPr id="77" name="Shape 75"/>
          <p:cNvSpPr/>
          <p:nvPr/>
        </p:nvSpPr>
        <p:spPr>
          <a:xfrm>
            <a:off x="1371600" y="2425446"/>
            <a:ext cx="4754880" cy="91"/>
          </a:xfrm>
          <a:prstGeom prst="line">
            <a:avLst/>
          </a:prstGeom>
          <a:noFill/>
          <a:ln w="15875">
            <a:solidFill>
              <a:srgbClr val="B8730A"/>
            </a:solidFill>
            <a:prstDash val="dash"/>
          </a:ln>
        </p:spPr>
      </p:sp>
      <p:sp>
        <p:nvSpPr>
          <p:cNvPr id="78" name="Text 76"/>
          <p:cNvSpPr/>
          <p:nvPr/>
        </p:nvSpPr>
        <p:spPr>
          <a:xfrm>
            <a:off x="3696208" y="2452878"/>
            <a:ext cx="1600200" cy="201168"/>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11.1: diabetes if above at 2 h</a:t>
            </a:r>
            <a:endParaRPr lang="en-US" sz="1000" dirty="0"/>
          </a:p>
        </p:txBody>
      </p:sp>
      <p:sp>
        <p:nvSpPr>
          <p:cNvPr id="79" name="Shape 77"/>
          <p:cNvSpPr/>
          <p:nvPr/>
        </p:nvSpPr>
        <p:spPr>
          <a:xfrm flipV="1">
            <a:off x="1371600" y="3104388"/>
            <a:ext cx="792480" cy="617220"/>
          </a:xfrm>
          <a:prstGeom prst="line">
            <a:avLst/>
          </a:prstGeom>
          <a:noFill/>
          <a:ln w="28575">
            <a:solidFill>
              <a:srgbClr val="3B7DD8"/>
            </a:solidFill>
            <a:prstDash val="solid"/>
          </a:ln>
        </p:spPr>
      </p:sp>
      <p:sp>
        <p:nvSpPr>
          <p:cNvPr id="80" name="Shape 78"/>
          <p:cNvSpPr/>
          <p:nvPr/>
        </p:nvSpPr>
        <p:spPr>
          <a:xfrm>
            <a:off x="2164080" y="3104388"/>
            <a:ext cx="792480" cy="164592"/>
          </a:xfrm>
          <a:prstGeom prst="line">
            <a:avLst/>
          </a:prstGeom>
          <a:noFill/>
          <a:ln w="28575">
            <a:solidFill>
              <a:srgbClr val="3B7DD8"/>
            </a:solidFill>
            <a:prstDash val="solid"/>
          </a:ln>
        </p:spPr>
      </p:sp>
      <p:sp>
        <p:nvSpPr>
          <p:cNvPr id="81" name="Shape 79"/>
          <p:cNvSpPr/>
          <p:nvPr/>
        </p:nvSpPr>
        <p:spPr>
          <a:xfrm>
            <a:off x="2956560" y="3268980"/>
            <a:ext cx="792480" cy="246888"/>
          </a:xfrm>
          <a:prstGeom prst="line">
            <a:avLst/>
          </a:prstGeom>
          <a:noFill/>
          <a:ln w="28575">
            <a:solidFill>
              <a:srgbClr val="3B7DD8"/>
            </a:solidFill>
            <a:prstDash val="solid"/>
          </a:ln>
        </p:spPr>
      </p:sp>
      <p:sp>
        <p:nvSpPr>
          <p:cNvPr id="82" name="Shape 80"/>
          <p:cNvSpPr/>
          <p:nvPr/>
        </p:nvSpPr>
        <p:spPr>
          <a:xfrm>
            <a:off x="3749040" y="3515868"/>
            <a:ext cx="792480" cy="164592"/>
          </a:xfrm>
          <a:prstGeom prst="line">
            <a:avLst/>
          </a:prstGeom>
          <a:noFill/>
          <a:ln w="28575">
            <a:solidFill>
              <a:srgbClr val="3B7DD8"/>
            </a:solidFill>
            <a:prstDash val="solid"/>
          </a:ln>
        </p:spPr>
      </p:sp>
      <p:sp>
        <p:nvSpPr>
          <p:cNvPr id="83" name="Shape 81"/>
          <p:cNvSpPr/>
          <p:nvPr/>
        </p:nvSpPr>
        <p:spPr>
          <a:xfrm>
            <a:off x="4541520" y="3680460"/>
            <a:ext cx="792480" cy="82296"/>
          </a:xfrm>
          <a:prstGeom prst="line">
            <a:avLst/>
          </a:prstGeom>
          <a:noFill/>
          <a:ln w="28575">
            <a:solidFill>
              <a:srgbClr val="3B7DD8"/>
            </a:solidFill>
            <a:prstDash val="solid"/>
          </a:ln>
        </p:spPr>
      </p:sp>
      <p:sp>
        <p:nvSpPr>
          <p:cNvPr id="84" name="Shape 82"/>
          <p:cNvSpPr/>
          <p:nvPr/>
        </p:nvSpPr>
        <p:spPr>
          <a:xfrm flipV="1">
            <a:off x="5334000" y="3742182"/>
            <a:ext cx="792480" cy="20574"/>
          </a:xfrm>
          <a:prstGeom prst="line">
            <a:avLst/>
          </a:prstGeom>
          <a:noFill/>
          <a:ln w="28575">
            <a:solidFill>
              <a:srgbClr val="3B7DD8"/>
            </a:solidFill>
            <a:prstDash val="solid"/>
          </a:ln>
        </p:spPr>
      </p:sp>
      <p:sp>
        <p:nvSpPr>
          <p:cNvPr id="85" name="Shape 83"/>
          <p:cNvSpPr/>
          <p:nvPr/>
        </p:nvSpPr>
        <p:spPr>
          <a:xfrm>
            <a:off x="1325880" y="3675888"/>
            <a:ext cx="91440" cy="91440"/>
          </a:xfrm>
          <a:prstGeom prst="line">
            <a:avLst/>
          </a:prstGeom>
          <a:noFill/>
          <a:ln w="15875">
            <a:solidFill>
              <a:srgbClr val="1F4E8C"/>
            </a:solidFill>
            <a:prstDash val="solid"/>
          </a:ln>
        </p:spPr>
      </p:sp>
      <p:sp>
        <p:nvSpPr>
          <p:cNvPr id="86" name="Shape 84"/>
          <p:cNvSpPr/>
          <p:nvPr/>
        </p:nvSpPr>
        <p:spPr>
          <a:xfrm flipV="1">
            <a:off x="1325880" y="3675888"/>
            <a:ext cx="91440" cy="91440"/>
          </a:xfrm>
          <a:prstGeom prst="line">
            <a:avLst/>
          </a:prstGeom>
          <a:noFill/>
          <a:ln w="15875">
            <a:solidFill>
              <a:srgbClr val="1F4E8C"/>
            </a:solidFill>
            <a:prstDash val="solid"/>
          </a:ln>
        </p:spPr>
      </p:sp>
      <p:sp>
        <p:nvSpPr>
          <p:cNvPr id="87" name="Shape 85"/>
          <p:cNvSpPr/>
          <p:nvPr/>
        </p:nvSpPr>
        <p:spPr>
          <a:xfrm>
            <a:off x="2118360" y="3058668"/>
            <a:ext cx="91440" cy="91440"/>
          </a:xfrm>
          <a:prstGeom prst="line">
            <a:avLst/>
          </a:prstGeom>
          <a:noFill/>
          <a:ln w="15875">
            <a:solidFill>
              <a:srgbClr val="1F4E8C"/>
            </a:solidFill>
            <a:prstDash val="solid"/>
          </a:ln>
        </p:spPr>
      </p:sp>
      <p:sp>
        <p:nvSpPr>
          <p:cNvPr id="88" name="Shape 86"/>
          <p:cNvSpPr/>
          <p:nvPr/>
        </p:nvSpPr>
        <p:spPr>
          <a:xfrm flipV="1">
            <a:off x="2118360" y="3058668"/>
            <a:ext cx="91440" cy="91440"/>
          </a:xfrm>
          <a:prstGeom prst="line">
            <a:avLst/>
          </a:prstGeom>
          <a:noFill/>
          <a:ln w="15875">
            <a:solidFill>
              <a:srgbClr val="1F4E8C"/>
            </a:solidFill>
            <a:prstDash val="solid"/>
          </a:ln>
        </p:spPr>
      </p:sp>
      <p:sp>
        <p:nvSpPr>
          <p:cNvPr id="89" name="Shape 87"/>
          <p:cNvSpPr/>
          <p:nvPr/>
        </p:nvSpPr>
        <p:spPr>
          <a:xfrm>
            <a:off x="2910840" y="3223260"/>
            <a:ext cx="91440" cy="91440"/>
          </a:xfrm>
          <a:prstGeom prst="line">
            <a:avLst/>
          </a:prstGeom>
          <a:noFill/>
          <a:ln w="15875">
            <a:solidFill>
              <a:srgbClr val="1F4E8C"/>
            </a:solidFill>
            <a:prstDash val="solid"/>
          </a:ln>
        </p:spPr>
      </p:sp>
      <p:sp>
        <p:nvSpPr>
          <p:cNvPr id="90" name="Shape 88"/>
          <p:cNvSpPr/>
          <p:nvPr/>
        </p:nvSpPr>
        <p:spPr>
          <a:xfrm flipV="1">
            <a:off x="2910840" y="3223260"/>
            <a:ext cx="91440" cy="91440"/>
          </a:xfrm>
          <a:prstGeom prst="line">
            <a:avLst/>
          </a:prstGeom>
          <a:noFill/>
          <a:ln w="15875">
            <a:solidFill>
              <a:srgbClr val="1F4E8C"/>
            </a:solidFill>
            <a:prstDash val="solid"/>
          </a:ln>
        </p:spPr>
      </p:sp>
      <p:sp>
        <p:nvSpPr>
          <p:cNvPr id="91" name="Shape 89"/>
          <p:cNvSpPr/>
          <p:nvPr/>
        </p:nvSpPr>
        <p:spPr>
          <a:xfrm>
            <a:off x="3703320" y="3470148"/>
            <a:ext cx="91440" cy="91440"/>
          </a:xfrm>
          <a:prstGeom prst="line">
            <a:avLst/>
          </a:prstGeom>
          <a:noFill/>
          <a:ln w="15875">
            <a:solidFill>
              <a:srgbClr val="1F4E8C"/>
            </a:solidFill>
            <a:prstDash val="solid"/>
          </a:ln>
        </p:spPr>
      </p:sp>
      <p:sp>
        <p:nvSpPr>
          <p:cNvPr id="92" name="Shape 90"/>
          <p:cNvSpPr/>
          <p:nvPr/>
        </p:nvSpPr>
        <p:spPr>
          <a:xfrm flipV="1">
            <a:off x="3703320" y="3470148"/>
            <a:ext cx="91440" cy="91440"/>
          </a:xfrm>
          <a:prstGeom prst="line">
            <a:avLst/>
          </a:prstGeom>
          <a:noFill/>
          <a:ln w="15875">
            <a:solidFill>
              <a:srgbClr val="1F4E8C"/>
            </a:solidFill>
            <a:prstDash val="solid"/>
          </a:ln>
        </p:spPr>
      </p:sp>
      <p:sp>
        <p:nvSpPr>
          <p:cNvPr id="93" name="Shape 91"/>
          <p:cNvSpPr/>
          <p:nvPr/>
        </p:nvSpPr>
        <p:spPr>
          <a:xfrm>
            <a:off x="4495800" y="3634740"/>
            <a:ext cx="91440" cy="91440"/>
          </a:xfrm>
          <a:prstGeom prst="line">
            <a:avLst/>
          </a:prstGeom>
          <a:noFill/>
          <a:ln w="15875">
            <a:solidFill>
              <a:srgbClr val="1F4E8C"/>
            </a:solidFill>
            <a:prstDash val="solid"/>
          </a:ln>
        </p:spPr>
      </p:sp>
      <p:sp>
        <p:nvSpPr>
          <p:cNvPr id="94" name="Shape 92"/>
          <p:cNvSpPr/>
          <p:nvPr/>
        </p:nvSpPr>
        <p:spPr>
          <a:xfrm flipV="1">
            <a:off x="4495800" y="3634740"/>
            <a:ext cx="91440" cy="91440"/>
          </a:xfrm>
          <a:prstGeom prst="line">
            <a:avLst/>
          </a:prstGeom>
          <a:noFill/>
          <a:ln w="15875">
            <a:solidFill>
              <a:srgbClr val="1F4E8C"/>
            </a:solidFill>
            <a:prstDash val="solid"/>
          </a:ln>
        </p:spPr>
      </p:sp>
      <p:sp>
        <p:nvSpPr>
          <p:cNvPr id="95" name="Shape 93"/>
          <p:cNvSpPr/>
          <p:nvPr/>
        </p:nvSpPr>
        <p:spPr>
          <a:xfrm>
            <a:off x="5288280" y="3717036"/>
            <a:ext cx="91440" cy="91440"/>
          </a:xfrm>
          <a:prstGeom prst="line">
            <a:avLst/>
          </a:prstGeom>
          <a:noFill/>
          <a:ln w="15875">
            <a:solidFill>
              <a:srgbClr val="1F4E8C"/>
            </a:solidFill>
            <a:prstDash val="solid"/>
          </a:ln>
        </p:spPr>
      </p:sp>
      <p:sp>
        <p:nvSpPr>
          <p:cNvPr id="96" name="Shape 94"/>
          <p:cNvSpPr/>
          <p:nvPr/>
        </p:nvSpPr>
        <p:spPr>
          <a:xfrm flipV="1">
            <a:off x="5288280" y="3717036"/>
            <a:ext cx="91440" cy="91440"/>
          </a:xfrm>
          <a:prstGeom prst="line">
            <a:avLst/>
          </a:prstGeom>
          <a:noFill/>
          <a:ln w="15875">
            <a:solidFill>
              <a:srgbClr val="1F4E8C"/>
            </a:solidFill>
            <a:prstDash val="solid"/>
          </a:ln>
        </p:spPr>
      </p:sp>
      <p:sp>
        <p:nvSpPr>
          <p:cNvPr id="97" name="Shape 95"/>
          <p:cNvSpPr/>
          <p:nvPr/>
        </p:nvSpPr>
        <p:spPr>
          <a:xfrm>
            <a:off x="6080760" y="3696462"/>
            <a:ext cx="91440" cy="91440"/>
          </a:xfrm>
          <a:prstGeom prst="line">
            <a:avLst/>
          </a:prstGeom>
          <a:noFill/>
          <a:ln w="15875">
            <a:solidFill>
              <a:srgbClr val="1F4E8C"/>
            </a:solidFill>
            <a:prstDash val="solid"/>
          </a:ln>
        </p:spPr>
      </p:sp>
      <p:sp>
        <p:nvSpPr>
          <p:cNvPr id="98" name="Shape 96"/>
          <p:cNvSpPr/>
          <p:nvPr/>
        </p:nvSpPr>
        <p:spPr>
          <a:xfrm flipV="1">
            <a:off x="6080760" y="3696462"/>
            <a:ext cx="91440" cy="91440"/>
          </a:xfrm>
          <a:prstGeom prst="line">
            <a:avLst/>
          </a:prstGeom>
          <a:noFill/>
          <a:ln w="15875">
            <a:solidFill>
              <a:srgbClr val="1F4E8C"/>
            </a:solidFill>
            <a:prstDash val="solid"/>
          </a:ln>
        </p:spPr>
      </p:sp>
      <p:sp>
        <p:nvSpPr>
          <p:cNvPr id="99" name="Shape 97"/>
          <p:cNvSpPr/>
          <p:nvPr/>
        </p:nvSpPr>
        <p:spPr>
          <a:xfrm flipV="1">
            <a:off x="1371600" y="2137410"/>
            <a:ext cx="792480" cy="925830"/>
          </a:xfrm>
          <a:prstGeom prst="line">
            <a:avLst/>
          </a:prstGeom>
          <a:noFill/>
          <a:ln w="28575">
            <a:solidFill>
              <a:srgbClr val="C8414C"/>
            </a:solidFill>
            <a:prstDash val="solid"/>
          </a:ln>
        </p:spPr>
      </p:sp>
      <p:sp>
        <p:nvSpPr>
          <p:cNvPr id="100" name="Shape 98"/>
          <p:cNvSpPr/>
          <p:nvPr/>
        </p:nvSpPr>
        <p:spPr>
          <a:xfrm flipV="1">
            <a:off x="2164080" y="1623060"/>
            <a:ext cx="792480" cy="514350"/>
          </a:xfrm>
          <a:prstGeom prst="line">
            <a:avLst/>
          </a:prstGeom>
          <a:noFill/>
          <a:ln w="28575">
            <a:solidFill>
              <a:srgbClr val="C8414C"/>
            </a:solidFill>
            <a:prstDash val="solid"/>
          </a:ln>
        </p:spPr>
      </p:sp>
      <p:sp>
        <p:nvSpPr>
          <p:cNvPr id="101" name="Shape 99"/>
          <p:cNvSpPr/>
          <p:nvPr/>
        </p:nvSpPr>
        <p:spPr>
          <a:xfrm>
            <a:off x="2956560" y="1623060"/>
            <a:ext cx="792480" cy="102870"/>
          </a:xfrm>
          <a:prstGeom prst="line">
            <a:avLst/>
          </a:prstGeom>
          <a:noFill/>
          <a:ln w="28575">
            <a:solidFill>
              <a:srgbClr val="C8414C"/>
            </a:solidFill>
            <a:prstDash val="solid"/>
          </a:ln>
        </p:spPr>
      </p:sp>
      <p:sp>
        <p:nvSpPr>
          <p:cNvPr id="102" name="Shape 100"/>
          <p:cNvSpPr/>
          <p:nvPr/>
        </p:nvSpPr>
        <p:spPr>
          <a:xfrm>
            <a:off x="3749040" y="1725930"/>
            <a:ext cx="792480" cy="308610"/>
          </a:xfrm>
          <a:prstGeom prst="line">
            <a:avLst/>
          </a:prstGeom>
          <a:noFill/>
          <a:ln w="28575">
            <a:solidFill>
              <a:srgbClr val="C8414C"/>
            </a:solidFill>
            <a:prstDash val="solid"/>
          </a:ln>
        </p:spPr>
      </p:sp>
      <p:sp>
        <p:nvSpPr>
          <p:cNvPr id="103" name="Shape 101"/>
          <p:cNvSpPr/>
          <p:nvPr/>
        </p:nvSpPr>
        <p:spPr>
          <a:xfrm>
            <a:off x="4541520" y="2034540"/>
            <a:ext cx="792480" cy="308610"/>
          </a:xfrm>
          <a:prstGeom prst="line">
            <a:avLst/>
          </a:prstGeom>
          <a:noFill/>
          <a:ln w="28575">
            <a:solidFill>
              <a:srgbClr val="C8414C"/>
            </a:solidFill>
            <a:prstDash val="solid"/>
          </a:ln>
        </p:spPr>
      </p:sp>
      <p:sp>
        <p:nvSpPr>
          <p:cNvPr id="104" name="Shape 102"/>
          <p:cNvSpPr/>
          <p:nvPr/>
        </p:nvSpPr>
        <p:spPr>
          <a:xfrm>
            <a:off x="5334000" y="2343150"/>
            <a:ext cx="792480" cy="308610"/>
          </a:xfrm>
          <a:prstGeom prst="line">
            <a:avLst/>
          </a:prstGeom>
          <a:noFill/>
          <a:ln w="28575">
            <a:solidFill>
              <a:srgbClr val="C8414C"/>
            </a:solidFill>
            <a:prstDash val="solid"/>
          </a:ln>
        </p:spPr>
      </p:sp>
      <p:sp>
        <p:nvSpPr>
          <p:cNvPr id="105" name="Shape 103"/>
          <p:cNvSpPr/>
          <p:nvPr/>
        </p:nvSpPr>
        <p:spPr>
          <a:xfrm>
            <a:off x="1325880" y="3017520"/>
            <a:ext cx="91440" cy="91440"/>
          </a:xfrm>
          <a:prstGeom prst="line">
            <a:avLst/>
          </a:prstGeom>
          <a:noFill/>
          <a:ln w="15875">
            <a:solidFill>
              <a:srgbClr val="8E2A33"/>
            </a:solidFill>
            <a:prstDash val="solid"/>
          </a:ln>
        </p:spPr>
      </p:sp>
      <p:sp>
        <p:nvSpPr>
          <p:cNvPr id="106" name="Shape 104"/>
          <p:cNvSpPr/>
          <p:nvPr/>
        </p:nvSpPr>
        <p:spPr>
          <a:xfrm flipV="1">
            <a:off x="1325880" y="3017520"/>
            <a:ext cx="91440" cy="91440"/>
          </a:xfrm>
          <a:prstGeom prst="line">
            <a:avLst/>
          </a:prstGeom>
          <a:noFill/>
          <a:ln w="15875">
            <a:solidFill>
              <a:srgbClr val="8E2A33"/>
            </a:solidFill>
            <a:prstDash val="solid"/>
          </a:ln>
        </p:spPr>
      </p:sp>
      <p:sp>
        <p:nvSpPr>
          <p:cNvPr id="107" name="Shape 105"/>
          <p:cNvSpPr/>
          <p:nvPr/>
        </p:nvSpPr>
        <p:spPr>
          <a:xfrm>
            <a:off x="2118360" y="2091690"/>
            <a:ext cx="91440" cy="91440"/>
          </a:xfrm>
          <a:prstGeom prst="line">
            <a:avLst/>
          </a:prstGeom>
          <a:noFill/>
          <a:ln w="15875">
            <a:solidFill>
              <a:srgbClr val="8E2A33"/>
            </a:solidFill>
            <a:prstDash val="solid"/>
          </a:ln>
        </p:spPr>
      </p:sp>
      <p:sp>
        <p:nvSpPr>
          <p:cNvPr id="108" name="Shape 106"/>
          <p:cNvSpPr/>
          <p:nvPr/>
        </p:nvSpPr>
        <p:spPr>
          <a:xfrm flipV="1">
            <a:off x="2118360" y="2091690"/>
            <a:ext cx="91440" cy="91440"/>
          </a:xfrm>
          <a:prstGeom prst="line">
            <a:avLst/>
          </a:prstGeom>
          <a:noFill/>
          <a:ln w="15875">
            <a:solidFill>
              <a:srgbClr val="8E2A33"/>
            </a:solidFill>
            <a:prstDash val="solid"/>
          </a:ln>
        </p:spPr>
      </p:sp>
      <p:sp>
        <p:nvSpPr>
          <p:cNvPr id="109" name="Shape 107"/>
          <p:cNvSpPr/>
          <p:nvPr/>
        </p:nvSpPr>
        <p:spPr>
          <a:xfrm>
            <a:off x="2910840" y="1577340"/>
            <a:ext cx="91440" cy="91440"/>
          </a:xfrm>
          <a:prstGeom prst="line">
            <a:avLst/>
          </a:prstGeom>
          <a:noFill/>
          <a:ln w="15875">
            <a:solidFill>
              <a:srgbClr val="8E2A33"/>
            </a:solidFill>
            <a:prstDash val="solid"/>
          </a:ln>
        </p:spPr>
      </p:sp>
      <p:sp>
        <p:nvSpPr>
          <p:cNvPr id="110" name="Shape 108"/>
          <p:cNvSpPr/>
          <p:nvPr/>
        </p:nvSpPr>
        <p:spPr>
          <a:xfrm flipV="1">
            <a:off x="2910840" y="1577340"/>
            <a:ext cx="91440" cy="91440"/>
          </a:xfrm>
          <a:prstGeom prst="line">
            <a:avLst/>
          </a:prstGeom>
          <a:noFill/>
          <a:ln w="15875">
            <a:solidFill>
              <a:srgbClr val="8E2A33"/>
            </a:solidFill>
            <a:prstDash val="solid"/>
          </a:ln>
        </p:spPr>
      </p:sp>
      <p:sp>
        <p:nvSpPr>
          <p:cNvPr id="111" name="Shape 109"/>
          <p:cNvSpPr/>
          <p:nvPr/>
        </p:nvSpPr>
        <p:spPr>
          <a:xfrm>
            <a:off x="3703320" y="1680210"/>
            <a:ext cx="91440" cy="91440"/>
          </a:xfrm>
          <a:prstGeom prst="line">
            <a:avLst/>
          </a:prstGeom>
          <a:noFill/>
          <a:ln w="15875">
            <a:solidFill>
              <a:srgbClr val="8E2A33"/>
            </a:solidFill>
            <a:prstDash val="solid"/>
          </a:ln>
        </p:spPr>
      </p:sp>
      <p:sp>
        <p:nvSpPr>
          <p:cNvPr id="112" name="Shape 110"/>
          <p:cNvSpPr/>
          <p:nvPr/>
        </p:nvSpPr>
        <p:spPr>
          <a:xfrm flipV="1">
            <a:off x="3703320" y="1680210"/>
            <a:ext cx="91440" cy="91440"/>
          </a:xfrm>
          <a:prstGeom prst="line">
            <a:avLst/>
          </a:prstGeom>
          <a:noFill/>
          <a:ln w="15875">
            <a:solidFill>
              <a:srgbClr val="8E2A33"/>
            </a:solidFill>
            <a:prstDash val="solid"/>
          </a:ln>
        </p:spPr>
      </p:sp>
      <p:sp>
        <p:nvSpPr>
          <p:cNvPr id="113" name="Shape 111"/>
          <p:cNvSpPr/>
          <p:nvPr/>
        </p:nvSpPr>
        <p:spPr>
          <a:xfrm>
            <a:off x="4495800" y="1988820"/>
            <a:ext cx="91440" cy="91440"/>
          </a:xfrm>
          <a:prstGeom prst="line">
            <a:avLst/>
          </a:prstGeom>
          <a:noFill/>
          <a:ln w="15875">
            <a:solidFill>
              <a:srgbClr val="8E2A33"/>
            </a:solidFill>
            <a:prstDash val="solid"/>
          </a:ln>
        </p:spPr>
      </p:sp>
      <p:sp>
        <p:nvSpPr>
          <p:cNvPr id="114" name="Shape 112"/>
          <p:cNvSpPr/>
          <p:nvPr/>
        </p:nvSpPr>
        <p:spPr>
          <a:xfrm flipV="1">
            <a:off x="4495800" y="1988820"/>
            <a:ext cx="91440" cy="91440"/>
          </a:xfrm>
          <a:prstGeom prst="line">
            <a:avLst/>
          </a:prstGeom>
          <a:noFill/>
          <a:ln w="15875">
            <a:solidFill>
              <a:srgbClr val="8E2A33"/>
            </a:solidFill>
            <a:prstDash val="solid"/>
          </a:ln>
        </p:spPr>
      </p:sp>
      <p:sp>
        <p:nvSpPr>
          <p:cNvPr id="115" name="Shape 113"/>
          <p:cNvSpPr/>
          <p:nvPr/>
        </p:nvSpPr>
        <p:spPr>
          <a:xfrm>
            <a:off x="5288280" y="2297430"/>
            <a:ext cx="91440" cy="91440"/>
          </a:xfrm>
          <a:prstGeom prst="line">
            <a:avLst/>
          </a:prstGeom>
          <a:noFill/>
          <a:ln w="15875">
            <a:solidFill>
              <a:srgbClr val="8E2A33"/>
            </a:solidFill>
            <a:prstDash val="solid"/>
          </a:ln>
        </p:spPr>
      </p:sp>
      <p:sp>
        <p:nvSpPr>
          <p:cNvPr id="116" name="Shape 114"/>
          <p:cNvSpPr/>
          <p:nvPr/>
        </p:nvSpPr>
        <p:spPr>
          <a:xfrm flipV="1">
            <a:off x="5288280" y="2297430"/>
            <a:ext cx="91440" cy="91440"/>
          </a:xfrm>
          <a:prstGeom prst="line">
            <a:avLst/>
          </a:prstGeom>
          <a:noFill/>
          <a:ln w="15875">
            <a:solidFill>
              <a:srgbClr val="8E2A33"/>
            </a:solidFill>
            <a:prstDash val="solid"/>
          </a:ln>
        </p:spPr>
      </p:sp>
      <p:sp>
        <p:nvSpPr>
          <p:cNvPr id="117" name="Shape 115"/>
          <p:cNvSpPr/>
          <p:nvPr/>
        </p:nvSpPr>
        <p:spPr>
          <a:xfrm>
            <a:off x="6080760" y="2606040"/>
            <a:ext cx="91440" cy="91440"/>
          </a:xfrm>
          <a:prstGeom prst="line">
            <a:avLst/>
          </a:prstGeom>
          <a:noFill/>
          <a:ln w="15875">
            <a:solidFill>
              <a:srgbClr val="8E2A33"/>
            </a:solidFill>
            <a:prstDash val="solid"/>
          </a:ln>
        </p:spPr>
      </p:sp>
      <p:sp>
        <p:nvSpPr>
          <p:cNvPr id="118" name="Shape 116"/>
          <p:cNvSpPr/>
          <p:nvPr/>
        </p:nvSpPr>
        <p:spPr>
          <a:xfrm flipV="1">
            <a:off x="6080760" y="2606040"/>
            <a:ext cx="91440" cy="91440"/>
          </a:xfrm>
          <a:prstGeom prst="line">
            <a:avLst/>
          </a:prstGeom>
          <a:noFill/>
          <a:ln w="15875">
            <a:solidFill>
              <a:srgbClr val="8E2A33"/>
            </a:solidFill>
            <a:prstDash val="solid"/>
          </a:ln>
        </p:spPr>
      </p:sp>
      <p:sp>
        <p:nvSpPr>
          <p:cNvPr id="119" name="Text 117"/>
          <p:cNvSpPr/>
          <p:nvPr/>
        </p:nvSpPr>
        <p:spPr>
          <a:xfrm>
            <a:off x="3115056" y="1417320"/>
            <a:ext cx="1463040" cy="219456"/>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person B</a:t>
            </a:r>
            <a:endParaRPr lang="en-US" sz="1050" dirty="0"/>
          </a:p>
        </p:txBody>
      </p:sp>
      <p:sp>
        <p:nvSpPr>
          <p:cNvPr id="120" name="Text 118"/>
          <p:cNvSpPr/>
          <p:nvPr/>
        </p:nvSpPr>
        <p:spPr>
          <a:xfrm>
            <a:off x="3801872" y="3639312"/>
            <a:ext cx="1463040" cy="219456"/>
          </a:xfrm>
          <a:prstGeom prst="rect">
            <a:avLst/>
          </a:prstGeom>
          <a:noFill/>
          <a:ln/>
        </p:spPr>
        <p:txBody>
          <a:bodyPr wrap="square" lIns="0" tIns="0" rIns="0" bIns="0" rtlCol="0" anchor="ctr"/>
          <a:lstStyle/>
          <a:p>
            <a:pPr algn="l" indent="0" marL="0">
              <a:buNone/>
            </a:pPr>
            <a:r>
              <a:rPr lang="en-US" sz="1050" b="1" dirty="0">
                <a:solidFill>
                  <a:srgbClr val="3B7DD8"/>
                </a:solidFill>
                <a:latin typeface="Calibri" pitchFamily="34" charset="0"/>
                <a:ea typeface="Calibri" pitchFamily="34" charset="-122"/>
                <a:cs typeface="Calibri" pitchFamily="34" charset="-120"/>
              </a:rPr>
              <a:t>person A</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102352" cy="914400"/>
        </p:xfrm>
        <a:graphic>
          <a:graphicData uri="http://schemas.openxmlformats.org/drawingml/2006/table">
            <a:tbl>
              <a:tblPr/>
              <a:tblGrid>
                <a:gridCol w="1069848"/>
                <a:gridCol w="576072"/>
                <a:gridCol w="576072"/>
                <a:gridCol w="576072"/>
                <a:gridCol w="576072"/>
                <a:gridCol w="576072"/>
                <a:gridCol w="576072"/>
                <a:gridCol w="576072"/>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Time / min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l" indent="0" marL="0">
                        <a:buNone/>
                      </a:pPr>
                      <a:r>
                        <a:rPr lang="en-US" sz="1050" b="1" dirty="0">
                          <a:solidFill>
                            <a:srgbClr val="3B7DD8"/>
                          </a:solidFill>
                          <a:latin typeface="Calibri" pitchFamily="34" charset="0"/>
                          <a:ea typeface="Calibri" pitchFamily="34" charset="-122"/>
                          <a:cs typeface="Calibri" pitchFamily="34" charset="-120"/>
                        </a:rPr>
                        <a:t>A / mmol/L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l" indent="0" marL="0">
                        <a:buNone/>
                      </a:pPr>
                      <a:r>
                        <a:rPr lang="en-US" sz="1050" b="1" dirty="0">
                          <a:solidFill>
                            <a:srgbClr val="C8414C"/>
                          </a:solidFill>
                          <a:latin typeface="Calibri" pitchFamily="34" charset="0"/>
                          <a:ea typeface="Calibri" pitchFamily="34" charset="-122"/>
                          <a:cs typeface="Calibri" pitchFamily="34" charset="-120"/>
                        </a:rPr>
                        <a:t>B / mmol/L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14.5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13.0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122" name="Shape 119"/>
          <p:cNvSpPr/>
          <p:nvPr/>
        </p:nvSpPr>
        <p:spPr>
          <a:xfrm>
            <a:off x="6675120" y="2148840"/>
            <a:ext cx="5102352" cy="1600200"/>
          </a:xfrm>
          <a:prstGeom prst="roundRect">
            <a:avLst>
              <a:gd name="adj" fmla="val 3429"/>
            </a:avLst>
          </a:prstGeom>
          <a:solidFill>
            <a:srgbClr val="F4FAF9"/>
          </a:solidFill>
          <a:ln w="9525">
            <a:solidFill>
              <a:srgbClr val="CFE0DE"/>
            </a:solidFill>
            <a:prstDash val="solid"/>
          </a:ln>
        </p:spPr>
      </p:sp>
      <p:sp>
        <p:nvSpPr>
          <p:cNvPr id="123" name="Text 120"/>
          <p:cNvSpPr/>
          <p:nvPr/>
        </p:nvSpPr>
        <p:spPr>
          <a:xfrm>
            <a:off x="6839712" y="224028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to read it</a:t>
            </a:r>
            <a:endParaRPr lang="en-US" sz="1300" dirty="0"/>
          </a:p>
        </p:txBody>
      </p:sp>
      <p:sp>
        <p:nvSpPr>
          <p:cNvPr id="124" name="Text 121"/>
          <p:cNvSpPr/>
          <p:nvPr/>
        </p:nvSpPr>
        <p:spPr>
          <a:xfrm>
            <a:off x="6839712" y="2569464"/>
            <a:ext cx="4773168" cy="11064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Fasting level: A </a:t>
            </a:r>
            <a:r>
              <a:rPr lang="en-US" sz="1100" b="1" dirty="0">
                <a:solidFill>
                  <a:srgbClr val="262B3A"/>
                </a:solidFill>
                <a:latin typeface="Calibri" pitchFamily="34" charset="0"/>
                <a:ea typeface="Calibri" pitchFamily="34" charset="-122"/>
                <a:cs typeface="Calibri" pitchFamily="34" charset="-120"/>
              </a:rPr>
              <a:t>4.8</a:t>
            </a:r>
            <a:r>
              <a:rPr lang="en-US" sz="1100" dirty="0">
                <a:solidFill>
                  <a:srgbClr val="262B3A"/>
                </a:solidFill>
                <a:latin typeface="Calibri" pitchFamily="34" charset="0"/>
                <a:ea typeface="Calibri" pitchFamily="34" charset="-122"/>
                <a:cs typeface="Calibri" pitchFamily="34" charset="-120"/>
              </a:rPr>
              <a:t> (normal); B </a:t>
            </a:r>
            <a:r>
              <a:rPr lang="en-US" sz="1100" b="1" dirty="0">
                <a:solidFill>
                  <a:srgbClr val="262B3A"/>
                </a:solidFill>
                <a:latin typeface="Calibri" pitchFamily="34" charset="0"/>
                <a:ea typeface="Calibri" pitchFamily="34" charset="-122"/>
                <a:cs typeface="Calibri" pitchFamily="34" charset="-120"/>
              </a:rPr>
              <a:t>8.0</a:t>
            </a:r>
            <a:r>
              <a:rPr lang="en-US" sz="1100" dirty="0">
                <a:solidFill>
                  <a:srgbClr val="262B3A"/>
                </a:solidFill>
                <a:latin typeface="Calibri" pitchFamily="34" charset="0"/>
                <a:ea typeface="Calibri" pitchFamily="34" charset="-122"/>
                <a:cs typeface="Calibri" pitchFamily="34" charset="-120"/>
              </a:rPr>
              <a:t> (high).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rises a little and is back to normal by </a:t>
            </a:r>
            <a:r>
              <a:rPr lang="en-US" sz="1100" b="1" dirty="0">
                <a:solidFill>
                  <a:srgbClr val="262B3A"/>
                </a:solidFill>
                <a:latin typeface="Calibri" pitchFamily="34" charset="0"/>
                <a:ea typeface="Calibri" pitchFamily="34" charset="-122"/>
                <a:cs typeface="Calibri" pitchFamily="34" charset="-120"/>
              </a:rPr>
              <a:t>120 min</a:t>
            </a:r>
            <a:r>
              <a:rPr lang="en-US" sz="1100" dirty="0">
                <a:solidFill>
                  <a:srgbClr val="262B3A"/>
                </a:solidFill>
                <a:latin typeface="Calibri" pitchFamily="34" charset="0"/>
                <a:ea typeface="Calibri" pitchFamily="34" charset="-122"/>
                <a:cs typeface="Calibri" pitchFamily="34" charset="-120"/>
              </a:rPr>
              <a:t>: insulin works.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 rises much higher and is still </a:t>
            </a:r>
            <a:r>
              <a:rPr lang="en-US" sz="1100" b="1" dirty="0">
                <a:solidFill>
                  <a:srgbClr val="262B3A"/>
                </a:solidFill>
                <a:latin typeface="Calibri" pitchFamily="34" charset="0"/>
                <a:ea typeface="Calibri" pitchFamily="34" charset="-122"/>
                <a:cs typeface="Calibri" pitchFamily="34" charset="-120"/>
              </a:rPr>
              <a:t>13.0</a:t>
            </a:r>
            <a:r>
              <a:rPr lang="en-US" sz="1100" dirty="0">
                <a:solidFill>
                  <a:srgbClr val="262B3A"/>
                </a:solidFill>
                <a:latin typeface="Calibri" pitchFamily="34" charset="0"/>
                <a:ea typeface="Calibri" pitchFamily="34" charset="-122"/>
                <a:cs typeface="Calibri" pitchFamily="34" charset="-120"/>
              </a:rPr>
              <a:t> at 120 min (over 11.1): </a:t>
            </a:r>
            <a:r>
              <a:rPr lang="en-US" sz="1100" b="1" dirty="0">
                <a:solidFill>
                  <a:srgbClr val="262B3A"/>
                </a:solidFill>
                <a:latin typeface="Calibri" pitchFamily="34" charset="0"/>
                <a:ea typeface="Calibri" pitchFamily="34" charset="-122"/>
                <a:cs typeface="Calibri" pitchFamily="34" charset="-120"/>
              </a:rPr>
              <a:t>diabetes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fasting level of </a:t>
            </a:r>
            <a:r>
              <a:rPr lang="en-US" sz="1100" b="1" dirty="0">
                <a:solidFill>
                  <a:srgbClr val="262B3A"/>
                </a:solidFill>
                <a:latin typeface="Calibri" pitchFamily="34" charset="0"/>
                <a:ea typeface="Calibri" pitchFamily="34" charset="-122"/>
                <a:cs typeface="Calibri" pitchFamily="34" charset="-120"/>
              </a:rPr>
              <a:t>7.0</a:t>
            </a:r>
            <a:r>
              <a:rPr lang="en-US" sz="1100" dirty="0">
                <a:solidFill>
                  <a:srgbClr val="262B3A"/>
                </a:solidFill>
                <a:latin typeface="Calibri" pitchFamily="34" charset="0"/>
                <a:ea typeface="Calibri" pitchFamily="34" charset="-122"/>
                <a:cs typeface="Calibri" pitchFamily="34" charset="-120"/>
              </a:rPr>
              <a:t> or more also suggests diabetes.</a:t>
            </a:r>
            <a:endParaRPr lang="en-US" sz="1100" dirty="0"/>
          </a:p>
        </p:txBody>
      </p:sp>
      <p:sp>
        <p:nvSpPr>
          <p:cNvPr id="125" name="Shape 122"/>
          <p:cNvSpPr/>
          <p:nvPr/>
        </p:nvSpPr>
        <p:spPr>
          <a:xfrm>
            <a:off x="6675120" y="3858768"/>
            <a:ext cx="5102352" cy="1856232"/>
          </a:xfrm>
          <a:prstGeom prst="roundRect">
            <a:avLst>
              <a:gd name="adj" fmla="val 2956"/>
            </a:avLst>
          </a:prstGeom>
          <a:solidFill>
            <a:srgbClr val="FFF4E0"/>
          </a:solidFill>
          <a:ln w="9525">
            <a:solidFill>
              <a:srgbClr val="F1D9A8"/>
            </a:solidFill>
            <a:prstDash val="solid"/>
          </a:ln>
        </p:spPr>
      </p:sp>
      <p:sp>
        <p:nvSpPr>
          <p:cNvPr id="126" name="Text 123"/>
          <p:cNvSpPr/>
          <p:nvPr/>
        </p:nvSpPr>
        <p:spPr>
          <a:xfrm>
            <a:off x="6839712" y="3931920"/>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percentage rise for B</a:t>
            </a:r>
            <a:endParaRPr lang="en-US" sz="1300" dirty="0"/>
          </a:p>
        </p:txBody>
      </p:sp>
      <p:sp>
        <p:nvSpPr>
          <p:cNvPr id="127" name="Text 124"/>
          <p:cNvSpPr/>
          <p:nvPr/>
        </p:nvSpPr>
        <p:spPr>
          <a:xfrm>
            <a:off x="6839712" y="4242816"/>
            <a:ext cx="4773168" cy="1399032"/>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Rise   </a:t>
            </a:r>
            <a:r>
              <a:rPr lang="en-US" sz="1050" dirty="0">
                <a:solidFill>
                  <a:srgbClr val="262B3A"/>
                </a:solidFill>
                <a:latin typeface="Calibri" pitchFamily="34" charset="0"/>
                <a:ea typeface="Calibri" pitchFamily="34" charset="-122"/>
                <a:cs typeface="Calibri" pitchFamily="34" charset="-120"/>
              </a:rPr>
              <a:t>peak − start = 15.0 − 8.0 = 7.0 mmol/L</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7.0 ÷ 8.0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87.5%</a:t>
            </a:r>
            <a:r>
              <a:rPr lang="en-US" sz="1050" b="1" dirty="0">
                <a:solidFill>
                  <a:srgbClr val="C8414C"/>
                </a:solidFill>
                <a:latin typeface="Calibri" pitchFamily="34" charset="0"/>
                <a:ea typeface="Calibri" pitchFamily="34" charset="-122"/>
                <a:cs typeface="Calibri" pitchFamily="34" charset="-120"/>
              </a:rPr>
              <a:t> rise (A: 3.0 ÷ 4.8 × 100 = 62.5%)</a:t>
            </a:r>
            <a:endParaRPr lang="en-US" sz="1050" dirty="0"/>
          </a:p>
        </p:txBody>
      </p:sp>
      <p:sp>
        <p:nvSpPr>
          <p:cNvPr id="128" name="Shape 125"/>
          <p:cNvSpPr/>
          <p:nvPr/>
        </p:nvSpPr>
        <p:spPr>
          <a:xfrm>
            <a:off x="411480" y="5833872"/>
            <a:ext cx="11368735" cy="530352"/>
          </a:xfrm>
          <a:prstGeom prst="rect">
            <a:avLst/>
          </a:prstGeom>
          <a:solidFill>
            <a:srgbClr val="FFF4E0"/>
          </a:solidFill>
          <a:ln w="6350">
            <a:solidFill>
              <a:srgbClr val="F1D9A8"/>
            </a:solidFill>
            <a:prstDash val="solid"/>
          </a:ln>
        </p:spPr>
      </p:sp>
      <p:sp>
        <p:nvSpPr>
          <p:cNvPr id="129" name="Shape 126"/>
          <p:cNvSpPr/>
          <p:nvPr/>
        </p:nvSpPr>
        <p:spPr>
          <a:xfrm>
            <a:off x="411480" y="5833872"/>
            <a:ext cx="82296" cy="530352"/>
          </a:xfrm>
          <a:prstGeom prst="rect">
            <a:avLst/>
          </a:prstGeom>
          <a:solidFill>
            <a:srgbClr val="E39A2F"/>
          </a:solidFill>
          <a:ln w="12700">
            <a:solidFill>
              <a:srgbClr val="E39A2F"/>
            </a:solidFill>
            <a:prstDash val="solid"/>
          </a:ln>
        </p:spPr>
      </p:sp>
      <p:sp>
        <p:nvSpPr>
          <p:cNvPr id="130" name="Text 12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By how much did B's glucose fall from 60 to 180 min? Suggest </a:t>
            </a:r>
            <a:r>
              <a:rPr lang="en-US" sz="1150" b="1" dirty="0">
                <a:solidFill>
                  <a:srgbClr val="262B3A"/>
                </a:solidFill>
                <a:latin typeface="Calibri" pitchFamily="34" charset="0"/>
                <a:ea typeface="Calibri" pitchFamily="34" charset="-122"/>
                <a:cs typeface="Calibri" pitchFamily="34" charset="-120"/>
              </a:rPr>
              <a:t>why</a:t>
            </a:r>
            <a:r>
              <a:rPr lang="en-US" sz="1150" dirty="0">
                <a:solidFill>
                  <a:srgbClr val="262B3A"/>
                </a:solidFill>
                <a:latin typeface="Calibri" pitchFamily="34" charset="0"/>
                <a:ea typeface="Calibri" pitchFamily="34" charset="-122"/>
                <a:cs typeface="Calibri" pitchFamily="34" charset="-120"/>
              </a:rPr>
              <a:t> B's glucose stays high (two possible reasons).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Testing for glucose: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why doctors used to test urine for glucose (simulated samples)</a:t>
            </a:r>
            <a:endParaRPr lang="en-US" sz="1100" dirty="0"/>
          </a:p>
        </p:txBody>
      </p:sp>
      <p:sp>
        <p:nvSpPr>
          <p:cNvPr id="6" name="Shape 4"/>
          <p:cNvSpPr/>
          <p:nvPr/>
        </p:nvSpPr>
        <p:spPr>
          <a:xfrm>
            <a:off x="10024567" y="292608"/>
            <a:ext cx="175564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02456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Activity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water bath at 80 °C, test tubes, Benedict's reagent, stop clock</a:t>
            </a:r>
            <a:endParaRPr lang="en-US" sz="1000" dirty="0"/>
          </a:p>
        </p:txBody>
      </p:sp>
      <p:sp>
        <p:nvSpPr>
          <p:cNvPr id="12" name="Shape 10"/>
          <p:cNvSpPr/>
          <p:nvPr/>
        </p:nvSpPr>
        <p:spPr>
          <a:xfrm>
            <a:off x="731520" y="2651760"/>
            <a:ext cx="3108960" cy="1828800"/>
          </a:xfrm>
          <a:prstGeom prst="roundRect">
            <a:avLst>
              <a:gd name="adj" fmla="val 3000"/>
            </a:avLst>
          </a:prstGeom>
          <a:solidFill>
            <a:srgbClr val="E6EBF2"/>
          </a:solidFill>
          <a:ln w="19050">
            <a:solidFill>
              <a:srgbClr val="5A6275"/>
            </a:solidFill>
            <a:prstDash val="solid"/>
          </a:ln>
        </p:spPr>
      </p:sp>
      <p:sp>
        <p:nvSpPr>
          <p:cNvPr id="13" name="Shape 11"/>
          <p:cNvSpPr/>
          <p:nvPr/>
        </p:nvSpPr>
        <p:spPr>
          <a:xfrm>
            <a:off x="868680" y="3063240"/>
            <a:ext cx="2834640" cy="1280160"/>
          </a:xfrm>
          <a:prstGeom prst="rect">
            <a:avLst/>
          </a:prstGeom>
          <a:solidFill>
            <a:srgbClr val="BFD9F2"/>
          </a:solidFill>
          <a:ln/>
        </p:spPr>
      </p:sp>
      <p:sp>
        <p:nvSpPr>
          <p:cNvPr id="14" name="Shape 12"/>
          <p:cNvSpPr/>
          <p:nvPr/>
        </p:nvSpPr>
        <p:spPr>
          <a:xfrm>
            <a:off x="868680" y="3063240"/>
            <a:ext cx="2834640" cy="91"/>
          </a:xfrm>
          <a:prstGeom prst="line">
            <a:avLst/>
          </a:prstGeom>
          <a:noFill/>
          <a:ln w="15875">
            <a:solidFill>
              <a:srgbClr val="5B9BD5"/>
            </a:solidFill>
            <a:prstDash val="solid"/>
          </a:ln>
        </p:spPr>
      </p:sp>
      <p:sp>
        <p:nvSpPr>
          <p:cNvPr id="15" name="Text 13"/>
          <p:cNvSpPr/>
          <p:nvPr/>
        </p:nvSpPr>
        <p:spPr>
          <a:xfrm>
            <a:off x="868680" y="4498848"/>
            <a:ext cx="283464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water bath at </a:t>
            </a:r>
            <a:r>
              <a:rPr lang="en-US" sz="1050" b="1" dirty="0">
                <a:solidFill>
                  <a:srgbClr val="262B3A"/>
                </a:solidFill>
                <a:latin typeface="Calibri" pitchFamily="34" charset="0"/>
                <a:ea typeface="Calibri" pitchFamily="34" charset="-122"/>
                <a:cs typeface="Calibri" pitchFamily="34" charset="-120"/>
              </a:rPr>
              <a:t>80 °C</a:t>
            </a:r>
            <a:endParaRPr lang="en-US" sz="1050" dirty="0"/>
          </a:p>
        </p:txBody>
      </p:sp>
      <p:sp>
        <p:nvSpPr>
          <p:cNvPr id="16" name="Shape 14"/>
          <p:cNvSpPr/>
          <p:nvPr/>
        </p:nvSpPr>
        <p:spPr>
          <a:xfrm>
            <a:off x="3200400" y="2743200"/>
            <a:ext cx="548640" cy="256032"/>
          </a:xfrm>
          <a:prstGeom prst="roundRect">
            <a:avLst>
              <a:gd name="adj" fmla="val 14286"/>
            </a:avLst>
          </a:prstGeom>
          <a:solidFill>
            <a:srgbClr val="263040"/>
          </a:solidFill>
          <a:ln/>
        </p:spPr>
      </p:sp>
      <p:sp>
        <p:nvSpPr>
          <p:cNvPr id="17" name="Text 15"/>
          <p:cNvSpPr/>
          <p:nvPr/>
        </p:nvSpPr>
        <p:spPr>
          <a:xfrm>
            <a:off x="3200400" y="2743200"/>
            <a:ext cx="548640" cy="256032"/>
          </a:xfrm>
          <a:prstGeom prst="rect">
            <a:avLst/>
          </a:prstGeom>
          <a:noFill/>
          <a:ln/>
        </p:spPr>
        <p:txBody>
          <a:bodyPr wrap="square" lIns="0" tIns="0" rIns="0" bIns="0" rtlCol="0" anchor="ctr"/>
          <a:lstStyle/>
          <a:p>
            <a:pPr algn="ctr" indent="0" marL="0">
              <a:buNone/>
            </a:pPr>
            <a:r>
              <a:rPr lang="en-US" sz="1000" b="1" dirty="0">
                <a:solidFill>
                  <a:srgbClr val="7FE08A"/>
                </a:solidFill>
                <a:latin typeface="Calibri" pitchFamily="34" charset="0"/>
                <a:ea typeface="Calibri" pitchFamily="34" charset="-122"/>
                <a:cs typeface="Calibri" pitchFamily="34" charset="-120"/>
              </a:rPr>
              <a:t>80 °C</a:t>
            </a:r>
            <a:endParaRPr lang="en-US" sz="1000" dirty="0"/>
          </a:p>
        </p:txBody>
      </p:sp>
      <p:sp>
        <p:nvSpPr>
          <p:cNvPr id="18" name="Shape 16"/>
          <p:cNvSpPr/>
          <p:nvPr/>
        </p:nvSpPr>
        <p:spPr>
          <a:xfrm>
            <a:off x="1005840" y="3209544"/>
            <a:ext cx="274320" cy="813816"/>
          </a:xfrm>
          <a:prstGeom prst="rect">
            <a:avLst/>
          </a:prstGeom>
          <a:solidFill>
            <a:srgbClr val="3B6FD8"/>
          </a:solidFill>
          <a:ln/>
        </p:spPr>
      </p:sp>
      <p:sp>
        <p:nvSpPr>
          <p:cNvPr id="19" name="Shape 17"/>
          <p:cNvSpPr/>
          <p:nvPr/>
        </p:nvSpPr>
        <p:spPr>
          <a:xfrm>
            <a:off x="1010412" y="3826764"/>
            <a:ext cx="265176" cy="265176"/>
          </a:xfrm>
          <a:prstGeom prst="ellipse">
            <a:avLst/>
          </a:prstGeom>
          <a:solidFill>
            <a:srgbClr val="3B6FD8"/>
          </a:solidFill>
          <a:ln w="9525">
            <a:solidFill>
              <a:srgbClr val="3B6FD8"/>
            </a:solidFill>
            <a:prstDash val="solid"/>
          </a:ln>
        </p:spPr>
      </p:sp>
      <p:sp>
        <p:nvSpPr>
          <p:cNvPr id="20" name="Shape 18"/>
          <p:cNvSpPr/>
          <p:nvPr/>
        </p:nvSpPr>
        <p:spPr>
          <a:xfrm>
            <a:off x="1005840" y="1920240"/>
            <a:ext cx="91" cy="2039112"/>
          </a:xfrm>
          <a:prstGeom prst="line">
            <a:avLst/>
          </a:prstGeom>
          <a:noFill/>
          <a:ln w="19050">
            <a:solidFill>
              <a:srgbClr val="6B7385"/>
            </a:solidFill>
            <a:prstDash val="solid"/>
          </a:ln>
        </p:spPr>
      </p:sp>
      <p:sp>
        <p:nvSpPr>
          <p:cNvPr id="21" name="Shape 19"/>
          <p:cNvSpPr/>
          <p:nvPr/>
        </p:nvSpPr>
        <p:spPr>
          <a:xfrm>
            <a:off x="1280160" y="1920240"/>
            <a:ext cx="91" cy="2039112"/>
          </a:xfrm>
          <a:prstGeom prst="line">
            <a:avLst/>
          </a:prstGeom>
          <a:noFill/>
          <a:ln w="19050">
            <a:solidFill>
              <a:srgbClr val="6B7385"/>
            </a:solidFill>
            <a:prstDash val="solid"/>
          </a:ln>
        </p:spPr>
      </p:sp>
      <p:sp>
        <p:nvSpPr>
          <p:cNvPr id="22" name="Shape 20"/>
          <p:cNvSpPr/>
          <p:nvPr/>
        </p:nvSpPr>
        <p:spPr>
          <a:xfrm>
            <a:off x="1005840" y="3822192"/>
            <a:ext cx="274320" cy="274320"/>
          </a:xfrm>
          <a:prstGeom prst="arc">
            <a:avLst>
              <a:gd name="adj1" fmla="val 0"/>
              <a:gd name="adj2" fmla="val 10800000"/>
            </a:avLst>
          </a:prstGeom>
          <a:ln w="19050">
            <a:solidFill>
              <a:srgbClr val="6B7385"/>
            </a:solidFill>
            <a:prstDash val="solid"/>
          </a:ln>
        </p:spPr>
      </p:sp>
      <p:sp>
        <p:nvSpPr>
          <p:cNvPr id="23" name="Shape 21"/>
          <p:cNvSpPr/>
          <p:nvPr/>
        </p:nvSpPr>
        <p:spPr>
          <a:xfrm>
            <a:off x="1463040" y="3209544"/>
            <a:ext cx="274320" cy="813816"/>
          </a:xfrm>
          <a:prstGeom prst="rect">
            <a:avLst/>
          </a:prstGeom>
          <a:solidFill>
            <a:srgbClr val="5DA34A"/>
          </a:solidFill>
          <a:ln/>
        </p:spPr>
      </p:sp>
      <p:sp>
        <p:nvSpPr>
          <p:cNvPr id="24" name="Shape 22"/>
          <p:cNvSpPr/>
          <p:nvPr/>
        </p:nvSpPr>
        <p:spPr>
          <a:xfrm>
            <a:off x="1467612" y="3826764"/>
            <a:ext cx="265176" cy="265176"/>
          </a:xfrm>
          <a:prstGeom prst="ellipse">
            <a:avLst/>
          </a:prstGeom>
          <a:solidFill>
            <a:srgbClr val="5DA34A"/>
          </a:solidFill>
          <a:ln w="9525">
            <a:solidFill>
              <a:srgbClr val="5DA34A"/>
            </a:solidFill>
            <a:prstDash val="solid"/>
          </a:ln>
        </p:spPr>
      </p:sp>
      <p:sp>
        <p:nvSpPr>
          <p:cNvPr id="25" name="Shape 23"/>
          <p:cNvSpPr/>
          <p:nvPr/>
        </p:nvSpPr>
        <p:spPr>
          <a:xfrm>
            <a:off x="1463040" y="1920240"/>
            <a:ext cx="91" cy="2039112"/>
          </a:xfrm>
          <a:prstGeom prst="line">
            <a:avLst/>
          </a:prstGeom>
          <a:noFill/>
          <a:ln w="19050">
            <a:solidFill>
              <a:srgbClr val="6B7385"/>
            </a:solidFill>
            <a:prstDash val="solid"/>
          </a:ln>
        </p:spPr>
      </p:sp>
      <p:sp>
        <p:nvSpPr>
          <p:cNvPr id="26" name="Shape 24"/>
          <p:cNvSpPr/>
          <p:nvPr/>
        </p:nvSpPr>
        <p:spPr>
          <a:xfrm>
            <a:off x="1737360" y="1920240"/>
            <a:ext cx="91" cy="2039112"/>
          </a:xfrm>
          <a:prstGeom prst="line">
            <a:avLst/>
          </a:prstGeom>
          <a:noFill/>
          <a:ln w="19050">
            <a:solidFill>
              <a:srgbClr val="6B7385"/>
            </a:solidFill>
            <a:prstDash val="solid"/>
          </a:ln>
        </p:spPr>
      </p:sp>
      <p:sp>
        <p:nvSpPr>
          <p:cNvPr id="27" name="Shape 25"/>
          <p:cNvSpPr/>
          <p:nvPr/>
        </p:nvSpPr>
        <p:spPr>
          <a:xfrm>
            <a:off x="1463040" y="3822192"/>
            <a:ext cx="274320" cy="274320"/>
          </a:xfrm>
          <a:prstGeom prst="arc">
            <a:avLst>
              <a:gd name="adj1" fmla="val 0"/>
              <a:gd name="adj2" fmla="val 10800000"/>
            </a:avLst>
          </a:prstGeom>
          <a:ln w="19050">
            <a:solidFill>
              <a:srgbClr val="6B7385"/>
            </a:solidFill>
            <a:prstDash val="solid"/>
          </a:ln>
        </p:spPr>
      </p:sp>
      <p:sp>
        <p:nvSpPr>
          <p:cNvPr id="28" name="Shape 26"/>
          <p:cNvSpPr/>
          <p:nvPr/>
        </p:nvSpPr>
        <p:spPr>
          <a:xfrm>
            <a:off x="1920240" y="3209544"/>
            <a:ext cx="274320" cy="813816"/>
          </a:xfrm>
          <a:prstGeom prst="rect">
            <a:avLst/>
          </a:prstGeom>
          <a:solidFill>
            <a:srgbClr val="C9B21E"/>
          </a:solidFill>
          <a:ln/>
        </p:spPr>
      </p:sp>
      <p:sp>
        <p:nvSpPr>
          <p:cNvPr id="29" name="Shape 27"/>
          <p:cNvSpPr/>
          <p:nvPr/>
        </p:nvSpPr>
        <p:spPr>
          <a:xfrm>
            <a:off x="1924812" y="3826764"/>
            <a:ext cx="265176" cy="265176"/>
          </a:xfrm>
          <a:prstGeom prst="ellipse">
            <a:avLst/>
          </a:prstGeom>
          <a:solidFill>
            <a:srgbClr val="C9B21E"/>
          </a:solidFill>
          <a:ln w="9525">
            <a:solidFill>
              <a:srgbClr val="C9B21E"/>
            </a:solidFill>
            <a:prstDash val="solid"/>
          </a:ln>
        </p:spPr>
      </p:sp>
      <p:sp>
        <p:nvSpPr>
          <p:cNvPr id="30" name="Shape 28"/>
          <p:cNvSpPr/>
          <p:nvPr/>
        </p:nvSpPr>
        <p:spPr>
          <a:xfrm>
            <a:off x="1920240" y="1920240"/>
            <a:ext cx="91" cy="2039112"/>
          </a:xfrm>
          <a:prstGeom prst="line">
            <a:avLst/>
          </a:prstGeom>
          <a:noFill/>
          <a:ln w="19050">
            <a:solidFill>
              <a:srgbClr val="6B7385"/>
            </a:solidFill>
            <a:prstDash val="solid"/>
          </a:ln>
        </p:spPr>
      </p:sp>
      <p:sp>
        <p:nvSpPr>
          <p:cNvPr id="31" name="Shape 29"/>
          <p:cNvSpPr/>
          <p:nvPr/>
        </p:nvSpPr>
        <p:spPr>
          <a:xfrm>
            <a:off x="2194560" y="1920240"/>
            <a:ext cx="91" cy="2039112"/>
          </a:xfrm>
          <a:prstGeom prst="line">
            <a:avLst/>
          </a:prstGeom>
          <a:noFill/>
          <a:ln w="19050">
            <a:solidFill>
              <a:srgbClr val="6B7385"/>
            </a:solidFill>
            <a:prstDash val="solid"/>
          </a:ln>
        </p:spPr>
      </p:sp>
      <p:sp>
        <p:nvSpPr>
          <p:cNvPr id="32" name="Shape 30"/>
          <p:cNvSpPr/>
          <p:nvPr/>
        </p:nvSpPr>
        <p:spPr>
          <a:xfrm>
            <a:off x="1920240" y="3822192"/>
            <a:ext cx="274320" cy="274320"/>
          </a:xfrm>
          <a:prstGeom prst="arc">
            <a:avLst>
              <a:gd name="adj1" fmla="val 0"/>
              <a:gd name="adj2" fmla="val 10800000"/>
            </a:avLst>
          </a:prstGeom>
          <a:ln w="19050">
            <a:solidFill>
              <a:srgbClr val="6B7385"/>
            </a:solidFill>
            <a:prstDash val="solid"/>
          </a:ln>
        </p:spPr>
      </p:sp>
      <p:sp>
        <p:nvSpPr>
          <p:cNvPr id="33" name="Shape 31"/>
          <p:cNvSpPr/>
          <p:nvPr/>
        </p:nvSpPr>
        <p:spPr>
          <a:xfrm>
            <a:off x="2377440" y="3209544"/>
            <a:ext cx="274320" cy="813816"/>
          </a:xfrm>
          <a:prstGeom prst="rect">
            <a:avLst/>
          </a:prstGeom>
          <a:solidFill>
            <a:srgbClr val="E07A1E"/>
          </a:solidFill>
          <a:ln/>
        </p:spPr>
      </p:sp>
      <p:sp>
        <p:nvSpPr>
          <p:cNvPr id="34" name="Shape 32"/>
          <p:cNvSpPr/>
          <p:nvPr/>
        </p:nvSpPr>
        <p:spPr>
          <a:xfrm>
            <a:off x="2382012" y="3826764"/>
            <a:ext cx="265176" cy="265176"/>
          </a:xfrm>
          <a:prstGeom prst="ellipse">
            <a:avLst/>
          </a:prstGeom>
          <a:solidFill>
            <a:srgbClr val="E07A1E"/>
          </a:solidFill>
          <a:ln w="9525">
            <a:solidFill>
              <a:srgbClr val="E07A1E"/>
            </a:solidFill>
            <a:prstDash val="solid"/>
          </a:ln>
        </p:spPr>
      </p:sp>
      <p:sp>
        <p:nvSpPr>
          <p:cNvPr id="35" name="Shape 33"/>
          <p:cNvSpPr/>
          <p:nvPr/>
        </p:nvSpPr>
        <p:spPr>
          <a:xfrm>
            <a:off x="2377440" y="1920240"/>
            <a:ext cx="91" cy="2039112"/>
          </a:xfrm>
          <a:prstGeom prst="line">
            <a:avLst/>
          </a:prstGeom>
          <a:noFill/>
          <a:ln w="19050">
            <a:solidFill>
              <a:srgbClr val="6B7385"/>
            </a:solidFill>
            <a:prstDash val="solid"/>
          </a:ln>
        </p:spPr>
      </p:sp>
      <p:sp>
        <p:nvSpPr>
          <p:cNvPr id="36" name="Shape 34"/>
          <p:cNvSpPr/>
          <p:nvPr/>
        </p:nvSpPr>
        <p:spPr>
          <a:xfrm>
            <a:off x="2651760" y="1920240"/>
            <a:ext cx="91" cy="2039112"/>
          </a:xfrm>
          <a:prstGeom prst="line">
            <a:avLst/>
          </a:prstGeom>
          <a:noFill/>
          <a:ln w="19050">
            <a:solidFill>
              <a:srgbClr val="6B7385"/>
            </a:solidFill>
            <a:prstDash val="solid"/>
          </a:ln>
        </p:spPr>
      </p:sp>
      <p:sp>
        <p:nvSpPr>
          <p:cNvPr id="37" name="Shape 35"/>
          <p:cNvSpPr/>
          <p:nvPr/>
        </p:nvSpPr>
        <p:spPr>
          <a:xfrm>
            <a:off x="2377440" y="3822192"/>
            <a:ext cx="274320" cy="274320"/>
          </a:xfrm>
          <a:prstGeom prst="arc">
            <a:avLst>
              <a:gd name="adj1" fmla="val 0"/>
              <a:gd name="adj2" fmla="val 10800000"/>
            </a:avLst>
          </a:prstGeom>
          <a:ln w="19050">
            <a:solidFill>
              <a:srgbClr val="6B7385"/>
            </a:solidFill>
            <a:prstDash val="solid"/>
          </a:ln>
        </p:spPr>
      </p:sp>
      <p:sp>
        <p:nvSpPr>
          <p:cNvPr id="38" name="Shape 36"/>
          <p:cNvSpPr/>
          <p:nvPr/>
        </p:nvSpPr>
        <p:spPr>
          <a:xfrm>
            <a:off x="2834640" y="3209544"/>
            <a:ext cx="274320" cy="813816"/>
          </a:xfrm>
          <a:prstGeom prst="rect">
            <a:avLst/>
          </a:prstGeom>
          <a:solidFill>
            <a:srgbClr val="B5361E"/>
          </a:solidFill>
          <a:ln/>
        </p:spPr>
      </p:sp>
      <p:sp>
        <p:nvSpPr>
          <p:cNvPr id="39" name="Shape 37"/>
          <p:cNvSpPr/>
          <p:nvPr/>
        </p:nvSpPr>
        <p:spPr>
          <a:xfrm>
            <a:off x="2839212" y="3826764"/>
            <a:ext cx="265176" cy="265176"/>
          </a:xfrm>
          <a:prstGeom prst="ellipse">
            <a:avLst/>
          </a:prstGeom>
          <a:solidFill>
            <a:srgbClr val="B5361E"/>
          </a:solidFill>
          <a:ln w="9525">
            <a:solidFill>
              <a:srgbClr val="B5361E"/>
            </a:solidFill>
            <a:prstDash val="solid"/>
          </a:ln>
        </p:spPr>
      </p:sp>
      <p:sp>
        <p:nvSpPr>
          <p:cNvPr id="40" name="Shape 38"/>
          <p:cNvSpPr/>
          <p:nvPr/>
        </p:nvSpPr>
        <p:spPr>
          <a:xfrm>
            <a:off x="2834640" y="1920240"/>
            <a:ext cx="91" cy="2039112"/>
          </a:xfrm>
          <a:prstGeom prst="line">
            <a:avLst/>
          </a:prstGeom>
          <a:noFill/>
          <a:ln w="19050">
            <a:solidFill>
              <a:srgbClr val="6B7385"/>
            </a:solidFill>
            <a:prstDash val="solid"/>
          </a:ln>
        </p:spPr>
      </p:sp>
      <p:sp>
        <p:nvSpPr>
          <p:cNvPr id="41" name="Shape 39"/>
          <p:cNvSpPr/>
          <p:nvPr/>
        </p:nvSpPr>
        <p:spPr>
          <a:xfrm>
            <a:off x="3108960" y="1920240"/>
            <a:ext cx="91" cy="2039112"/>
          </a:xfrm>
          <a:prstGeom prst="line">
            <a:avLst/>
          </a:prstGeom>
          <a:noFill/>
          <a:ln w="19050">
            <a:solidFill>
              <a:srgbClr val="6B7385"/>
            </a:solidFill>
            <a:prstDash val="solid"/>
          </a:ln>
        </p:spPr>
      </p:sp>
      <p:sp>
        <p:nvSpPr>
          <p:cNvPr id="42" name="Shape 40"/>
          <p:cNvSpPr/>
          <p:nvPr/>
        </p:nvSpPr>
        <p:spPr>
          <a:xfrm>
            <a:off x="2834640" y="3822192"/>
            <a:ext cx="274320" cy="274320"/>
          </a:xfrm>
          <a:prstGeom prst="arc">
            <a:avLst>
              <a:gd name="adj1" fmla="val 0"/>
              <a:gd name="adj2" fmla="val 10800000"/>
            </a:avLst>
          </a:prstGeom>
          <a:ln w="19050">
            <a:solidFill>
              <a:srgbClr val="6B7385"/>
            </a:solidFill>
            <a:prstDash val="solid"/>
          </a:ln>
        </p:spPr>
      </p:sp>
      <p:sp>
        <p:nvSpPr>
          <p:cNvPr id="43" name="Text 41"/>
          <p:cNvSpPr/>
          <p:nvPr/>
        </p:nvSpPr>
        <p:spPr>
          <a:xfrm>
            <a:off x="914400" y="1600200"/>
            <a:ext cx="45720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0</a:t>
            </a:r>
            <a:endParaRPr lang="en-US" sz="1000" dirty="0"/>
          </a:p>
        </p:txBody>
      </p:sp>
      <p:sp>
        <p:nvSpPr>
          <p:cNvPr id="44" name="Text 42"/>
          <p:cNvSpPr/>
          <p:nvPr/>
        </p:nvSpPr>
        <p:spPr>
          <a:xfrm>
            <a:off x="1371600" y="1600200"/>
            <a:ext cx="45720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0.5</a:t>
            </a:r>
            <a:endParaRPr lang="en-US" sz="1000" dirty="0"/>
          </a:p>
        </p:txBody>
      </p:sp>
      <p:sp>
        <p:nvSpPr>
          <p:cNvPr id="45" name="Text 43"/>
          <p:cNvSpPr/>
          <p:nvPr/>
        </p:nvSpPr>
        <p:spPr>
          <a:xfrm>
            <a:off x="1828800" y="1600200"/>
            <a:ext cx="45720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a:t>
            </a:r>
            <a:endParaRPr lang="en-US" sz="1000" dirty="0"/>
          </a:p>
        </p:txBody>
      </p:sp>
      <p:sp>
        <p:nvSpPr>
          <p:cNvPr id="46" name="Text 44"/>
          <p:cNvSpPr/>
          <p:nvPr/>
        </p:nvSpPr>
        <p:spPr>
          <a:xfrm>
            <a:off x="2286000" y="1600200"/>
            <a:ext cx="45720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a:t>
            </a:r>
            <a:endParaRPr lang="en-US" sz="1000" dirty="0"/>
          </a:p>
        </p:txBody>
      </p:sp>
      <p:sp>
        <p:nvSpPr>
          <p:cNvPr id="47" name="Text 45"/>
          <p:cNvSpPr/>
          <p:nvPr/>
        </p:nvSpPr>
        <p:spPr>
          <a:xfrm>
            <a:off x="2743200" y="1600200"/>
            <a:ext cx="457200" cy="219456"/>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4</a:t>
            </a:r>
            <a:endParaRPr lang="en-US" sz="1000" dirty="0"/>
          </a:p>
        </p:txBody>
      </p:sp>
      <p:sp>
        <p:nvSpPr>
          <p:cNvPr id="48" name="Text 46"/>
          <p:cNvSpPr/>
          <p:nvPr/>
        </p:nvSpPr>
        <p:spPr>
          <a:xfrm>
            <a:off x="640080" y="1298448"/>
            <a:ext cx="3291840" cy="237744"/>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glucose standards / g per 100 cm³</a:t>
            </a:r>
            <a:endParaRPr lang="en-US" sz="1000" dirty="0"/>
          </a:p>
        </p:txBody>
      </p:sp>
      <p:sp>
        <p:nvSpPr>
          <p:cNvPr id="49" name="Text 47"/>
          <p:cNvSpPr/>
          <p:nvPr/>
        </p:nvSpPr>
        <p:spPr>
          <a:xfrm>
            <a:off x="4069080" y="1298448"/>
            <a:ext cx="17373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Colour sequence</a:t>
            </a:r>
            <a:endParaRPr lang="en-US" sz="1050" dirty="0"/>
          </a:p>
        </p:txBody>
      </p:sp>
      <p:sp>
        <p:nvSpPr>
          <p:cNvPr id="50" name="Shape 48"/>
          <p:cNvSpPr/>
          <p:nvPr/>
        </p:nvSpPr>
        <p:spPr>
          <a:xfrm>
            <a:off x="4160520" y="1645920"/>
            <a:ext cx="320040" cy="292608"/>
          </a:xfrm>
          <a:prstGeom prst="roundRect">
            <a:avLst>
              <a:gd name="adj" fmla="val 12500"/>
            </a:avLst>
          </a:prstGeom>
          <a:solidFill>
            <a:srgbClr val="3B6FD8"/>
          </a:solidFill>
          <a:ln/>
        </p:spPr>
      </p:sp>
      <p:sp>
        <p:nvSpPr>
          <p:cNvPr id="51" name="Text 49"/>
          <p:cNvSpPr/>
          <p:nvPr/>
        </p:nvSpPr>
        <p:spPr>
          <a:xfrm>
            <a:off x="4553712" y="1645920"/>
            <a:ext cx="1188720" cy="29260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blue</a:t>
            </a:r>
            <a:endParaRPr lang="en-US" sz="1000" dirty="0"/>
          </a:p>
        </p:txBody>
      </p:sp>
      <p:sp>
        <p:nvSpPr>
          <p:cNvPr id="52" name="Shape 50"/>
          <p:cNvSpPr/>
          <p:nvPr/>
        </p:nvSpPr>
        <p:spPr>
          <a:xfrm>
            <a:off x="4160520" y="2029968"/>
            <a:ext cx="320040" cy="292608"/>
          </a:xfrm>
          <a:prstGeom prst="roundRect">
            <a:avLst>
              <a:gd name="adj" fmla="val 12500"/>
            </a:avLst>
          </a:prstGeom>
          <a:solidFill>
            <a:srgbClr val="5DA34A"/>
          </a:solidFill>
          <a:ln/>
        </p:spPr>
      </p:sp>
      <p:sp>
        <p:nvSpPr>
          <p:cNvPr id="53" name="Text 51"/>
          <p:cNvSpPr/>
          <p:nvPr/>
        </p:nvSpPr>
        <p:spPr>
          <a:xfrm>
            <a:off x="4553712" y="2029968"/>
            <a:ext cx="1188720" cy="29260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green</a:t>
            </a:r>
            <a:endParaRPr lang="en-US" sz="1000" dirty="0"/>
          </a:p>
        </p:txBody>
      </p:sp>
      <p:sp>
        <p:nvSpPr>
          <p:cNvPr id="54" name="Shape 52"/>
          <p:cNvSpPr/>
          <p:nvPr/>
        </p:nvSpPr>
        <p:spPr>
          <a:xfrm>
            <a:off x="4160520" y="2414016"/>
            <a:ext cx="320040" cy="292608"/>
          </a:xfrm>
          <a:prstGeom prst="roundRect">
            <a:avLst>
              <a:gd name="adj" fmla="val 12500"/>
            </a:avLst>
          </a:prstGeom>
          <a:solidFill>
            <a:srgbClr val="C9B21E"/>
          </a:solidFill>
          <a:ln/>
        </p:spPr>
      </p:sp>
      <p:sp>
        <p:nvSpPr>
          <p:cNvPr id="55" name="Text 53"/>
          <p:cNvSpPr/>
          <p:nvPr/>
        </p:nvSpPr>
        <p:spPr>
          <a:xfrm>
            <a:off x="4553712" y="2414016"/>
            <a:ext cx="1188720" cy="29260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yellow</a:t>
            </a:r>
            <a:endParaRPr lang="en-US" sz="1000" dirty="0"/>
          </a:p>
        </p:txBody>
      </p:sp>
      <p:sp>
        <p:nvSpPr>
          <p:cNvPr id="56" name="Shape 54"/>
          <p:cNvSpPr/>
          <p:nvPr/>
        </p:nvSpPr>
        <p:spPr>
          <a:xfrm>
            <a:off x="4160520" y="2798064"/>
            <a:ext cx="320040" cy="292608"/>
          </a:xfrm>
          <a:prstGeom prst="roundRect">
            <a:avLst>
              <a:gd name="adj" fmla="val 12500"/>
            </a:avLst>
          </a:prstGeom>
          <a:solidFill>
            <a:srgbClr val="E07A1E"/>
          </a:solidFill>
          <a:ln/>
        </p:spPr>
      </p:sp>
      <p:sp>
        <p:nvSpPr>
          <p:cNvPr id="57" name="Text 55"/>
          <p:cNvSpPr/>
          <p:nvPr/>
        </p:nvSpPr>
        <p:spPr>
          <a:xfrm>
            <a:off x="4553712" y="2798064"/>
            <a:ext cx="1188720" cy="29260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orange</a:t>
            </a:r>
            <a:endParaRPr lang="en-US" sz="1000" dirty="0"/>
          </a:p>
        </p:txBody>
      </p:sp>
      <p:sp>
        <p:nvSpPr>
          <p:cNvPr id="58" name="Shape 56"/>
          <p:cNvSpPr/>
          <p:nvPr/>
        </p:nvSpPr>
        <p:spPr>
          <a:xfrm>
            <a:off x="4160520" y="3182112"/>
            <a:ext cx="320040" cy="292608"/>
          </a:xfrm>
          <a:prstGeom prst="roundRect">
            <a:avLst>
              <a:gd name="adj" fmla="val 12500"/>
            </a:avLst>
          </a:prstGeom>
          <a:solidFill>
            <a:srgbClr val="B5361E"/>
          </a:solidFill>
          <a:ln/>
        </p:spPr>
      </p:sp>
      <p:sp>
        <p:nvSpPr>
          <p:cNvPr id="59" name="Text 57"/>
          <p:cNvSpPr/>
          <p:nvPr/>
        </p:nvSpPr>
        <p:spPr>
          <a:xfrm>
            <a:off x="4553712" y="3182112"/>
            <a:ext cx="1188720" cy="292608"/>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brick red</a:t>
            </a:r>
            <a:endParaRPr lang="en-US" sz="1000" dirty="0"/>
          </a:p>
        </p:txBody>
      </p:sp>
      <p:sp>
        <p:nvSpPr>
          <p:cNvPr id="60" name="Text 58"/>
          <p:cNvSpPr/>
          <p:nvPr/>
        </p:nvSpPr>
        <p:spPr>
          <a:xfrm>
            <a:off x="4069080" y="3611880"/>
            <a:ext cx="1737360" cy="237744"/>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more glucose →</a:t>
            </a:r>
            <a:endParaRPr lang="en-US" sz="1000" dirty="0"/>
          </a:p>
        </p:txBody>
      </p:sp>
      <p:sp>
        <p:nvSpPr>
          <p:cNvPr id="61" name="Shape 59"/>
          <p:cNvSpPr/>
          <p:nvPr/>
        </p:nvSpPr>
        <p:spPr>
          <a:xfrm>
            <a:off x="4572000" y="3931920"/>
            <a:ext cx="640080" cy="640080"/>
          </a:xfrm>
          <a:prstGeom prst="ellipse">
            <a:avLst/>
          </a:prstGeom>
          <a:solidFill>
            <a:srgbClr val="FFFFFF"/>
          </a:solidFill>
          <a:ln w="19050">
            <a:solidFill>
              <a:srgbClr val="133536"/>
            </a:solidFill>
            <a:prstDash val="solid"/>
          </a:ln>
        </p:spPr>
      </p:sp>
      <p:sp>
        <p:nvSpPr>
          <p:cNvPr id="62" name="Shape 60"/>
          <p:cNvSpPr/>
          <p:nvPr/>
        </p:nvSpPr>
        <p:spPr>
          <a:xfrm flipV="1">
            <a:off x="4892040" y="4023360"/>
            <a:ext cx="91" cy="228600"/>
          </a:xfrm>
          <a:prstGeom prst="line">
            <a:avLst/>
          </a:prstGeom>
          <a:noFill/>
          <a:ln w="19050">
            <a:solidFill>
              <a:srgbClr val="133536"/>
            </a:solidFill>
            <a:prstDash val="solid"/>
          </a:ln>
        </p:spPr>
      </p:sp>
      <p:sp>
        <p:nvSpPr>
          <p:cNvPr id="63" name="Shape 61"/>
          <p:cNvSpPr/>
          <p:nvPr/>
        </p:nvSpPr>
        <p:spPr>
          <a:xfrm>
            <a:off x="4892040" y="4251960"/>
            <a:ext cx="155448" cy="64008"/>
          </a:xfrm>
          <a:prstGeom prst="line">
            <a:avLst/>
          </a:prstGeom>
          <a:noFill/>
          <a:ln w="19050">
            <a:solidFill>
              <a:srgbClr val="133536"/>
            </a:solidFill>
            <a:prstDash val="solid"/>
          </a:ln>
        </p:spPr>
      </p:sp>
      <p:sp>
        <p:nvSpPr>
          <p:cNvPr id="64" name="Shape 62"/>
          <p:cNvSpPr/>
          <p:nvPr/>
        </p:nvSpPr>
        <p:spPr>
          <a:xfrm>
            <a:off x="4837176" y="3858768"/>
            <a:ext cx="109728" cy="73152"/>
          </a:xfrm>
          <a:prstGeom prst="rect">
            <a:avLst/>
          </a:prstGeom>
          <a:solidFill>
            <a:srgbClr val="133536"/>
          </a:solidFill>
          <a:ln/>
        </p:spPr>
      </p:sp>
      <p:sp>
        <p:nvSpPr>
          <p:cNvPr id="65" name="Text 63"/>
          <p:cNvSpPr/>
          <p:nvPr/>
        </p:nvSpPr>
        <p:spPr>
          <a:xfrm>
            <a:off x="4343400" y="4617720"/>
            <a:ext cx="1097280" cy="219456"/>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stop clock</a:t>
            </a:r>
            <a:endParaRPr lang="en-US" sz="1000" dirty="0"/>
          </a:p>
        </p:txBody>
      </p:sp>
      <p:sp>
        <p:nvSpPr>
          <p:cNvPr id="66" name="Text 64"/>
          <p:cNvSpPr/>
          <p:nvPr/>
        </p:nvSpPr>
        <p:spPr>
          <a:xfrm>
            <a:off x="640080" y="4846320"/>
            <a:ext cx="51206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the tubes show the colours after 5 min (left to right: 0 to 4 g per 100 cm³)</a:t>
            </a:r>
            <a:endParaRPr lang="en-US" sz="1000" dirty="0"/>
          </a:p>
        </p:txBody>
      </p:sp>
      <p:sp>
        <p:nvSpPr>
          <p:cNvPr id="67" name="Shape 65"/>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68" name="Text 6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69" name="Text 67"/>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Make glucose </a:t>
            </a:r>
            <a:r>
              <a:rPr lang="en-US" sz="1050" b="1" dirty="0">
                <a:solidFill>
                  <a:srgbClr val="262B3A"/>
                </a:solidFill>
                <a:latin typeface="Calibri" pitchFamily="34" charset="0"/>
                <a:ea typeface="Calibri" pitchFamily="34" charset="-122"/>
                <a:cs typeface="Calibri" pitchFamily="34" charset="-120"/>
              </a:rPr>
              <a:t>standards</a:t>
            </a:r>
            <a:r>
              <a:rPr lang="en-US" sz="1050" dirty="0">
                <a:solidFill>
                  <a:srgbClr val="262B3A"/>
                </a:solidFill>
                <a:latin typeface="Calibri" pitchFamily="34" charset="0"/>
                <a:ea typeface="Calibri" pitchFamily="34" charset="-122"/>
                <a:cs typeface="Calibri" pitchFamily="34" charset="-120"/>
              </a:rPr>
              <a:t> (0.25, 0.5, 1, 2, 4 g per 100 cm³) by diluting a stock solution.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Put </a:t>
            </a:r>
            <a:r>
              <a:rPr lang="en-US" sz="1050" b="1" dirty="0">
                <a:solidFill>
                  <a:srgbClr val="262B3A"/>
                </a:solidFill>
                <a:latin typeface="Calibri" pitchFamily="34" charset="0"/>
                <a:ea typeface="Calibri" pitchFamily="34" charset="-122"/>
                <a:cs typeface="Calibri" pitchFamily="34" charset="-120"/>
              </a:rPr>
              <a:t>2 cm³</a:t>
            </a:r>
            <a:r>
              <a:rPr lang="en-US" sz="1050" dirty="0">
                <a:solidFill>
                  <a:srgbClr val="262B3A"/>
                </a:solidFill>
                <a:latin typeface="Calibri" pitchFamily="34" charset="0"/>
                <a:ea typeface="Calibri" pitchFamily="34" charset="-122"/>
                <a:cs typeface="Calibri" pitchFamily="34" charset="-120"/>
              </a:rPr>
              <a:t> of each into a test tube with </a:t>
            </a:r>
            <a:r>
              <a:rPr lang="en-US" sz="1050" b="1" dirty="0">
                <a:solidFill>
                  <a:srgbClr val="262B3A"/>
                </a:solidFill>
                <a:latin typeface="Calibri" pitchFamily="34" charset="0"/>
                <a:ea typeface="Calibri" pitchFamily="34" charset="-122"/>
                <a:cs typeface="Calibri" pitchFamily="34" charset="-120"/>
              </a:rPr>
              <a:t>2 cm³</a:t>
            </a:r>
            <a:r>
              <a:rPr lang="en-US" sz="1050" dirty="0">
                <a:solidFill>
                  <a:srgbClr val="262B3A"/>
                </a:solidFill>
                <a:latin typeface="Calibri" pitchFamily="34" charset="0"/>
                <a:ea typeface="Calibri" pitchFamily="34" charset="-122"/>
                <a:cs typeface="Calibri" pitchFamily="34" charset="-120"/>
              </a:rPr>
              <a:t> of </a:t>
            </a:r>
            <a:r>
              <a:rPr lang="en-US" sz="1050" b="1" dirty="0">
                <a:solidFill>
                  <a:srgbClr val="262B3A"/>
                </a:solidFill>
                <a:latin typeface="Calibri" pitchFamily="34" charset="0"/>
                <a:ea typeface="Calibri" pitchFamily="34" charset="-122"/>
                <a:cs typeface="Calibri" pitchFamily="34" charset="-120"/>
              </a:rPr>
              <a:t>Benedict's</a:t>
            </a:r>
            <a:r>
              <a:rPr lang="en-US" sz="1050" dirty="0">
                <a:solidFill>
                  <a:srgbClr val="262B3A"/>
                </a:solidFill>
                <a:latin typeface="Calibri" pitchFamily="34" charset="0"/>
                <a:ea typeface="Calibri" pitchFamily="34" charset="-122"/>
                <a:cs typeface="Calibri" pitchFamily="34" charset="-120"/>
              </a:rPr>
              <a:t> reagent.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Place in the water bath at </a:t>
            </a:r>
            <a:r>
              <a:rPr lang="en-US" sz="1050" b="1" dirty="0">
                <a:solidFill>
                  <a:srgbClr val="262B3A"/>
                </a:solidFill>
                <a:latin typeface="Calibri" pitchFamily="34" charset="0"/>
                <a:ea typeface="Calibri" pitchFamily="34" charset="-122"/>
                <a:cs typeface="Calibri" pitchFamily="34" charset="-120"/>
              </a:rPr>
              <a:t>80 °C</a:t>
            </a:r>
            <a:r>
              <a:rPr lang="en-US" sz="1050" dirty="0">
                <a:solidFill>
                  <a:srgbClr val="262B3A"/>
                </a:solidFill>
                <a:latin typeface="Calibri" pitchFamily="34" charset="0"/>
                <a:ea typeface="Calibri" pitchFamily="34" charset="-122"/>
                <a:cs typeface="Calibri" pitchFamily="34" charset="-120"/>
              </a:rPr>
              <a:t> and start the clock. Record the time for the first </a:t>
            </a:r>
            <a:r>
              <a:rPr lang="en-US" sz="1050" b="1" dirty="0">
                <a:solidFill>
                  <a:srgbClr val="262B3A"/>
                </a:solidFill>
                <a:latin typeface="Calibri" pitchFamily="34" charset="0"/>
                <a:ea typeface="Calibri" pitchFamily="34" charset="-122"/>
                <a:cs typeface="Calibri" pitchFamily="34" charset="-120"/>
              </a:rPr>
              <a:t>green</a:t>
            </a:r>
            <a:r>
              <a:rPr lang="en-US" sz="1050" dirty="0">
                <a:solidFill>
                  <a:srgbClr val="262B3A"/>
                </a:solidFill>
                <a:latin typeface="Calibri" pitchFamily="34" charset="0"/>
                <a:ea typeface="Calibri" pitchFamily="34" charset="-122"/>
                <a:cs typeface="Calibri" pitchFamily="34" charset="-120"/>
              </a:rPr>
              <a:t> colour.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Repeat </a:t>
            </a:r>
            <a:r>
              <a:rPr lang="en-US" sz="1050" b="1" dirty="0">
                <a:solidFill>
                  <a:srgbClr val="262B3A"/>
                </a:solidFill>
                <a:latin typeface="Calibri" pitchFamily="34" charset="0"/>
                <a:ea typeface="Calibri" pitchFamily="34" charset="-122"/>
                <a:cs typeface="Calibri" pitchFamily="34" charset="-120"/>
              </a:rPr>
              <a:t>3 times</a:t>
            </a:r>
            <a:r>
              <a:rPr lang="en-US" sz="1050" dirty="0">
                <a:solidFill>
                  <a:srgbClr val="262B3A"/>
                </a:solidFill>
                <a:latin typeface="Calibri" pitchFamily="34" charset="0"/>
                <a:ea typeface="Calibri" pitchFamily="34" charset="-122"/>
                <a:cs typeface="Calibri" pitchFamily="34" charset="-120"/>
              </a:rPr>
              <a:t> for each standard, then test the unknown samples </a:t>
            </a:r>
            <a:r>
              <a:rPr lang="en-US" sz="1050" b="1" dirty="0">
                <a:solidFill>
                  <a:srgbClr val="262B3A"/>
                </a:solidFill>
                <a:latin typeface="Calibri" pitchFamily="34" charset="0"/>
                <a:ea typeface="Calibri" pitchFamily="34" charset="-122"/>
                <a:cs typeface="Calibri" pitchFamily="34" charset="-120"/>
              </a:rPr>
              <a:t>X</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Y</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Z</a:t>
            </a:r>
            <a:r>
              <a:rPr lang="en-US" sz="1050" dirty="0">
                <a:solidFill>
                  <a:srgbClr val="262B3A"/>
                </a:solidFill>
                <a:latin typeface="Calibri" pitchFamily="34" charset="0"/>
                <a:ea typeface="Calibri" pitchFamily="34" charset="-122"/>
                <a:cs typeface="Calibri" pitchFamily="34" charset="-120"/>
              </a:rPr>
              <a:t> in the same way.</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a:t>
            </a:r>
            <a:r>
              <a:rPr lang="en-US" sz="1050" dirty="0">
                <a:solidFill>
                  <a:srgbClr val="262B3A"/>
                </a:solidFill>
                <a:latin typeface="Calibri" pitchFamily="34" charset="0"/>
                <a:ea typeface="Calibri" pitchFamily="34" charset="-122"/>
                <a:cs typeface="Calibri" pitchFamily="34" charset="-120"/>
              </a:rPr>
              <a:t>: glucose concentration. </a:t>
            </a:r>
            <a:r>
              <a:rPr lang="en-US" sz="1050" b="1" dirty="0">
                <a:solidFill>
                  <a:srgbClr val="262B3A"/>
                </a:solidFill>
                <a:latin typeface="Calibri" pitchFamily="34" charset="0"/>
                <a:ea typeface="Calibri" pitchFamily="34" charset="-122"/>
                <a:cs typeface="Calibri" pitchFamily="34" charset="-120"/>
              </a:rPr>
              <a:t>DV</a:t>
            </a:r>
            <a:r>
              <a:rPr lang="en-US" sz="1050" dirty="0">
                <a:solidFill>
                  <a:srgbClr val="262B3A"/>
                </a:solidFill>
                <a:latin typeface="Calibri" pitchFamily="34" charset="0"/>
                <a:ea typeface="Calibri" pitchFamily="34" charset="-122"/>
                <a:cs typeface="Calibri" pitchFamily="34" charset="-120"/>
              </a:rPr>
              <a:t>: time to turn green.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volumes, temperature, end-point colour.</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Benedict's is an irritant; hot water: use a test-tube holder.</a:t>
            </a:r>
            <a:endParaRPr lang="en-US" sz="1050" dirty="0"/>
          </a:p>
        </p:txBody>
      </p:sp>
      <p:sp>
        <p:nvSpPr>
          <p:cNvPr id="70" name="Shape 68"/>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71" name="Text 69"/>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making a standard</a:t>
            </a:r>
            <a:endParaRPr lang="en-US" sz="1300" dirty="0"/>
          </a:p>
        </p:txBody>
      </p:sp>
      <p:sp>
        <p:nvSpPr>
          <p:cNvPr id="72" name="Text 70"/>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Make 20 cm³ of 0.5 g/100 cm³ glucose from a 2 g/100 cm³ stock.</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Fraction   </a:t>
            </a:r>
            <a:r>
              <a:rPr lang="en-US" sz="1050" dirty="0">
                <a:solidFill>
                  <a:srgbClr val="262B3A"/>
                </a:solidFill>
                <a:latin typeface="Calibri" pitchFamily="34" charset="0"/>
                <a:ea typeface="Calibri" pitchFamily="34" charset="-122"/>
                <a:cs typeface="Calibri" pitchFamily="34" charset="-120"/>
              </a:rPr>
              <a:t>0.5 ÷ 2 = ¼ of the volume is stock</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Volumes   </a:t>
            </a:r>
            <a:r>
              <a:rPr lang="en-US" sz="1050" dirty="0">
                <a:solidFill>
                  <a:srgbClr val="262B3A"/>
                </a:solidFill>
                <a:latin typeface="Calibri" pitchFamily="34" charset="0"/>
                <a:ea typeface="Calibri" pitchFamily="34" charset="-122"/>
                <a:cs typeface="Calibri" pitchFamily="34" charset="-120"/>
              </a:rPr>
              <a:t>¼ × 20 = 5 cm³ stock + 15 cm³ water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5 cm³</a:t>
            </a:r>
            <a:r>
              <a:rPr lang="en-US" sz="1050" b="1" dirty="0">
                <a:solidFill>
                  <a:srgbClr val="C8414C"/>
                </a:solidFill>
                <a:latin typeface="Calibri" pitchFamily="34" charset="0"/>
                <a:ea typeface="Calibri" pitchFamily="34" charset="-122"/>
                <a:cs typeface="Calibri" pitchFamily="34" charset="-120"/>
              </a:rPr>
              <a:t> stock and </a:t>
            </a:r>
            <a:r>
              <a:rPr lang="en-US" sz="1050" b="1" dirty="0">
                <a:solidFill>
                  <a:srgbClr val="C8414C"/>
                </a:solidFill>
                <a:latin typeface="Calibri" pitchFamily="34" charset="0"/>
                <a:ea typeface="Calibri" pitchFamily="34" charset="-122"/>
                <a:cs typeface="Calibri" pitchFamily="34" charset="-120"/>
              </a:rPr>
              <a:t>15 cm³</a:t>
            </a:r>
            <a:r>
              <a:rPr lang="en-US" sz="1050" b="1" dirty="0">
                <a:solidFill>
                  <a:srgbClr val="C8414C"/>
                </a:solidFill>
                <a:latin typeface="Calibri" pitchFamily="34" charset="0"/>
                <a:ea typeface="Calibri" pitchFamily="34" charset="-122"/>
                <a:cs typeface="Calibri" pitchFamily="34" charset="-120"/>
              </a:rPr>
              <a:t> distilled water</a:t>
            </a:r>
            <a:endParaRPr lang="en-US" sz="1050" dirty="0"/>
          </a:p>
        </p:txBody>
      </p:sp>
      <p:sp>
        <p:nvSpPr>
          <p:cNvPr id="73" name="Shape 71"/>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2"/>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every tube use the </a:t>
            </a:r>
            <a:r>
              <a:rPr lang="en-US" sz="1150" b="1" dirty="0">
                <a:solidFill>
                  <a:srgbClr val="262B3A"/>
                </a:solidFill>
                <a:latin typeface="Calibri" pitchFamily="34" charset="0"/>
                <a:ea typeface="Calibri" pitchFamily="34" charset="-122"/>
                <a:cs typeface="Calibri" pitchFamily="34" charset="-120"/>
              </a:rPr>
              <a:t>same volume</a:t>
            </a:r>
            <a:r>
              <a:rPr lang="en-US" sz="1150" dirty="0">
                <a:solidFill>
                  <a:srgbClr val="262B3A"/>
                </a:solidFill>
                <a:latin typeface="Calibri" pitchFamily="34" charset="0"/>
                <a:ea typeface="Calibri" pitchFamily="34" charset="-122"/>
                <a:cs typeface="Calibri" pitchFamily="34" charset="-120"/>
              </a:rPr>
              <a:t> of Benedict's and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water bath temperature? What is the </a:t>
            </a: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 tube (0 g) for?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Testing for glucose: results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use a calibration graph to find an unknown concentration</a:t>
            </a:r>
            <a:endParaRPr lang="en-US" sz="1100" dirty="0"/>
          </a:p>
        </p:txBody>
      </p:sp>
      <p:sp>
        <p:nvSpPr>
          <p:cNvPr id="6" name="Shape 4"/>
          <p:cNvSpPr/>
          <p:nvPr/>
        </p:nvSpPr>
        <p:spPr>
          <a:xfrm>
            <a:off x="10024567" y="292608"/>
            <a:ext cx="175564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02456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Activity  |  18</a:t>
            </a:r>
            <a:endParaRPr lang="en-US" sz="1000" dirty="0"/>
          </a:p>
        </p:txBody>
      </p:sp>
      <p:sp>
        <p:nvSpPr>
          <p:cNvPr id="10" name="Shape 8"/>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calibration curve plotted to scale from the mean times</a:t>
            </a:r>
            <a:endParaRPr lang="en-US" sz="1000" dirty="0"/>
          </a:p>
        </p:txBody>
      </p:sp>
      <p:sp>
        <p:nvSpPr>
          <p:cNvPr id="12" name="Shape 10"/>
          <p:cNvSpPr/>
          <p:nvPr/>
        </p:nvSpPr>
        <p:spPr>
          <a:xfrm>
            <a:off x="1371600" y="1417320"/>
            <a:ext cx="4754880" cy="3291840"/>
          </a:xfrm>
          <a:prstGeom prst="rect">
            <a:avLst/>
          </a:prstGeom>
          <a:solidFill>
            <a:srgbClr val="FFFFFF"/>
          </a:solidFill>
          <a:ln/>
        </p:spPr>
      </p:sp>
      <p:sp>
        <p:nvSpPr>
          <p:cNvPr id="13" name="Shape 11"/>
          <p:cNvSpPr/>
          <p:nvPr/>
        </p:nvSpPr>
        <p:spPr>
          <a:xfrm>
            <a:off x="1371600" y="1417320"/>
            <a:ext cx="91" cy="3291840"/>
          </a:xfrm>
          <a:prstGeom prst="line">
            <a:avLst/>
          </a:prstGeom>
          <a:noFill/>
          <a:ln w="6350">
            <a:solidFill>
              <a:srgbClr val="C5DCD9"/>
            </a:solidFill>
            <a:prstDash val="solid"/>
          </a:ln>
        </p:spPr>
      </p:sp>
      <p:sp>
        <p:nvSpPr>
          <p:cNvPr id="14" name="Shape 12"/>
          <p:cNvSpPr/>
          <p:nvPr/>
        </p:nvSpPr>
        <p:spPr>
          <a:xfrm>
            <a:off x="1899920" y="1417320"/>
            <a:ext cx="91" cy="3291840"/>
          </a:xfrm>
          <a:prstGeom prst="line">
            <a:avLst/>
          </a:prstGeom>
          <a:noFill/>
          <a:ln w="6350">
            <a:solidFill>
              <a:srgbClr val="C5DCD9"/>
            </a:solidFill>
            <a:prstDash val="solid"/>
          </a:ln>
        </p:spPr>
      </p:sp>
      <p:sp>
        <p:nvSpPr>
          <p:cNvPr id="15" name="Shape 13"/>
          <p:cNvSpPr/>
          <p:nvPr/>
        </p:nvSpPr>
        <p:spPr>
          <a:xfrm>
            <a:off x="2428240" y="1417320"/>
            <a:ext cx="91" cy="3291840"/>
          </a:xfrm>
          <a:prstGeom prst="line">
            <a:avLst/>
          </a:prstGeom>
          <a:noFill/>
          <a:ln w="6350">
            <a:solidFill>
              <a:srgbClr val="C5DCD9"/>
            </a:solidFill>
            <a:prstDash val="solid"/>
          </a:ln>
        </p:spPr>
      </p:sp>
      <p:sp>
        <p:nvSpPr>
          <p:cNvPr id="16" name="Shape 14"/>
          <p:cNvSpPr/>
          <p:nvPr/>
        </p:nvSpPr>
        <p:spPr>
          <a:xfrm>
            <a:off x="2956560" y="1417320"/>
            <a:ext cx="91" cy="3291840"/>
          </a:xfrm>
          <a:prstGeom prst="line">
            <a:avLst/>
          </a:prstGeom>
          <a:noFill/>
          <a:ln w="6350">
            <a:solidFill>
              <a:srgbClr val="C5DCD9"/>
            </a:solidFill>
            <a:prstDash val="solid"/>
          </a:ln>
        </p:spPr>
      </p:sp>
      <p:sp>
        <p:nvSpPr>
          <p:cNvPr id="17" name="Shape 15"/>
          <p:cNvSpPr/>
          <p:nvPr/>
        </p:nvSpPr>
        <p:spPr>
          <a:xfrm>
            <a:off x="3484880" y="1417320"/>
            <a:ext cx="91" cy="3291840"/>
          </a:xfrm>
          <a:prstGeom prst="line">
            <a:avLst/>
          </a:prstGeom>
          <a:noFill/>
          <a:ln w="6350">
            <a:solidFill>
              <a:srgbClr val="C5DCD9"/>
            </a:solidFill>
            <a:prstDash val="solid"/>
          </a:ln>
        </p:spPr>
      </p:sp>
      <p:sp>
        <p:nvSpPr>
          <p:cNvPr id="18" name="Shape 16"/>
          <p:cNvSpPr/>
          <p:nvPr/>
        </p:nvSpPr>
        <p:spPr>
          <a:xfrm>
            <a:off x="4013200" y="1417320"/>
            <a:ext cx="91" cy="3291840"/>
          </a:xfrm>
          <a:prstGeom prst="line">
            <a:avLst/>
          </a:prstGeom>
          <a:noFill/>
          <a:ln w="6350">
            <a:solidFill>
              <a:srgbClr val="C5DCD9"/>
            </a:solidFill>
            <a:prstDash val="solid"/>
          </a:ln>
        </p:spPr>
      </p:sp>
      <p:sp>
        <p:nvSpPr>
          <p:cNvPr id="19" name="Shape 17"/>
          <p:cNvSpPr/>
          <p:nvPr/>
        </p:nvSpPr>
        <p:spPr>
          <a:xfrm>
            <a:off x="4541520" y="1417320"/>
            <a:ext cx="91" cy="3291840"/>
          </a:xfrm>
          <a:prstGeom prst="line">
            <a:avLst/>
          </a:prstGeom>
          <a:noFill/>
          <a:ln w="6350">
            <a:solidFill>
              <a:srgbClr val="C5DCD9"/>
            </a:solidFill>
            <a:prstDash val="solid"/>
          </a:ln>
        </p:spPr>
      </p:sp>
      <p:sp>
        <p:nvSpPr>
          <p:cNvPr id="20" name="Shape 18"/>
          <p:cNvSpPr/>
          <p:nvPr/>
        </p:nvSpPr>
        <p:spPr>
          <a:xfrm>
            <a:off x="5069840" y="1417320"/>
            <a:ext cx="91" cy="3291840"/>
          </a:xfrm>
          <a:prstGeom prst="line">
            <a:avLst/>
          </a:prstGeom>
          <a:noFill/>
          <a:ln w="6350">
            <a:solidFill>
              <a:srgbClr val="C5DCD9"/>
            </a:solidFill>
            <a:prstDash val="solid"/>
          </a:ln>
        </p:spPr>
      </p:sp>
      <p:sp>
        <p:nvSpPr>
          <p:cNvPr id="21" name="Shape 19"/>
          <p:cNvSpPr/>
          <p:nvPr/>
        </p:nvSpPr>
        <p:spPr>
          <a:xfrm>
            <a:off x="5598160" y="1417320"/>
            <a:ext cx="91" cy="3291840"/>
          </a:xfrm>
          <a:prstGeom prst="line">
            <a:avLst/>
          </a:prstGeom>
          <a:noFill/>
          <a:ln w="6350">
            <a:solidFill>
              <a:srgbClr val="C5DCD9"/>
            </a:solidFill>
            <a:prstDash val="solid"/>
          </a:ln>
        </p:spPr>
      </p:sp>
      <p:sp>
        <p:nvSpPr>
          <p:cNvPr id="22" name="Shape 20"/>
          <p:cNvSpPr/>
          <p:nvPr/>
        </p:nvSpPr>
        <p:spPr>
          <a:xfrm>
            <a:off x="6126480" y="1417320"/>
            <a:ext cx="91" cy="3291840"/>
          </a:xfrm>
          <a:prstGeom prst="line">
            <a:avLst/>
          </a:prstGeom>
          <a:noFill/>
          <a:ln w="6350">
            <a:solidFill>
              <a:srgbClr val="C5DCD9"/>
            </a:solidFill>
            <a:prstDash val="solid"/>
          </a:ln>
        </p:spPr>
      </p:sp>
      <p:sp>
        <p:nvSpPr>
          <p:cNvPr id="23" name="Shape 21"/>
          <p:cNvSpPr/>
          <p:nvPr/>
        </p:nvSpPr>
        <p:spPr>
          <a:xfrm>
            <a:off x="1371600" y="4709160"/>
            <a:ext cx="4754880" cy="91"/>
          </a:xfrm>
          <a:prstGeom prst="line">
            <a:avLst/>
          </a:prstGeom>
          <a:noFill/>
          <a:ln w="6350">
            <a:solidFill>
              <a:srgbClr val="C5DCD9"/>
            </a:solidFill>
            <a:prstDash val="solid"/>
          </a:ln>
        </p:spPr>
      </p:sp>
      <p:sp>
        <p:nvSpPr>
          <p:cNvPr id="24" name="Shape 22"/>
          <p:cNvSpPr/>
          <p:nvPr/>
        </p:nvSpPr>
        <p:spPr>
          <a:xfrm>
            <a:off x="1371600" y="4238897"/>
            <a:ext cx="4754880" cy="91"/>
          </a:xfrm>
          <a:prstGeom prst="line">
            <a:avLst/>
          </a:prstGeom>
          <a:noFill/>
          <a:ln w="6350">
            <a:solidFill>
              <a:srgbClr val="C5DCD9"/>
            </a:solidFill>
            <a:prstDash val="solid"/>
          </a:ln>
        </p:spPr>
      </p:sp>
      <p:sp>
        <p:nvSpPr>
          <p:cNvPr id="25" name="Shape 23"/>
          <p:cNvSpPr/>
          <p:nvPr/>
        </p:nvSpPr>
        <p:spPr>
          <a:xfrm>
            <a:off x="1371600" y="3768634"/>
            <a:ext cx="4754880" cy="91"/>
          </a:xfrm>
          <a:prstGeom prst="line">
            <a:avLst/>
          </a:prstGeom>
          <a:noFill/>
          <a:ln w="6350">
            <a:solidFill>
              <a:srgbClr val="C5DCD9"/>
            </a:solidFill>
            <a:prstDash val="solid"/>
          </a:ln>
        </p:spPr>
      </p:sp>
      <p:sp>
        <p:nvSpPr>
          <p:cNvPr id="26" name="Shape 24"/>
          <p:cNvSpPr/>
          <p:nvPr/>
        </p:nvSpPr>
        <p:spPr>
          <a:xfrm>
            <a:off x="1371600" y="3298371"/>
            <a:ext cx="4754880" cy="91"/>
          </a:xfrm>
          <a:prstGeom prst="line">
            <a:avLst/>
          </a:prstGeom>
          <a:noFill/>
          <a:ln w="6350">
            <a:solidFill>
              <a:srgbClr val="C5DCD9"/>
            </a:solidFill>
            <a:prstDash val="solid"/>
          </a:ln>
        </p:spPr>
      </p:sp>
      <p:sp>
        <p:nvSpPr>
          <p:cNvPr id="27" name="Shape 25"/>
          <p:cNvSpPr/>
          <p:nvPr/>
        </p:nvSpPr>
        <p:spPr>
          <a:xfrm>
            <a:off x="1371600" y="2828109"/>
            <a:ext cx="4754880" cy="91"/>
          </a:xfrm>
          <a:prstGeom prst="line">
            <a:avLst/>
          </a:prstGeom>
          <a:noFill/>
          <a:ln w="6350">
            <a:solidFill>
              <a:srgbClr val="C5DCD9"/>
            </a:solidFill>
            <a:prstDash val="solid"/>
          </a:ln>
        </p:spPr>
      </p:sp>
      <p:sp>
        <p:nvSpPr>
          <p:cNvPr id="28" name="Shape 26"/>
          <p:cNvSpPr/>
          <p:nvPr/>
        </p:nvSpPr>
        <p:spPr>
          <a:xfrm>
            <a:off x="1371600" y="2357846"/>
            <a:ext cx="4754880" cy="91"/>
          </a:xfrm>
          <a:prstGeom prst="line">
            <a:avLst/>
          </a:prstGeom>
          <a:noFill/>
          <a:ln w="6350">
            <a:solidFill>
              <a:srgbClr val="C5DCD9"/>
            </a:solidFill>
            <a:prstDash val="solid"/>
          </a:ln>
        </p:spPr>
      </p:sp>
      <p:sp>
        <p:nvSpPr>
          <p:cNvPr id="29" name="Shape 27"/>
          <p:cNvSpPr/>
          <p:nvPr/>
        </p:nvSpPr>
        <p:spPr>
          <a:xfrm>
            <a:off x="1371600" y="1887583"/>
            <a:ext cx="4754880" cy="91"/>
          </a:xfrm>
          <a:prstGeom prst="line">
            <a:avLst/>
          </a:prstGeom>
          <a:noFill/>
          <a:ln w="6350">
            <a:solidFill>
              <a:srgbClr val="C5DCD9"/>
            </a:solidFill>
            <a:prstDash val="solid"/>
          </a:ln>
        </p:spPr>
      </p:sp>
      <p:sp>
        <p:nvSpPr>
          <p:cNvPr id="30" name="Shape 28"/>
          <p:cNvSpPr/>
          <p:nvPr/>
        </p:nvSpPr>
        <p:spPr>
          <a:xfrm>
            <a:off x="1371600" y="1417320"/>
            <a:ext cx="4754880" cy="91"/>
          </a:xfrm>
          <a:prstGeom prst="line">
            <a:avLst/>
          </a:prstGeom>
          <a:noFill/>
          <a:ln w="6350">
            <a:solidFill>
              <a:srgbClr val="C5DCD9"/>
            </a:solidFill>
            <a:prstDash val="solid"/>
          </a:ln>
        </p:spPr>
      </p:sp>
      <p:sp>
        <p:nvSpPr>
          <p:cNvPr id="31" name="Shape 29"/>
          <p:cNvSpPr/>
          <p:nvPr/>
        </p:nvSpPr>
        <p:spPr>
          <a:xfrm>
            <a:off x="1371600" y="4709160"/>
            <a:ext cx="4754880" cy="91"/>
          </a:xfrm>
          <a:prstGeom prst="line">
            <a:avLst/>
          </a:prstGeom>
          <a:noFill/>
          <a:ln w="19050">
            <a:solidFill>
              <a:srgbClr val="133536"/>
            </a:solidFill>
            <a:prstDash val="solid"/>
          </a:ln>
        </p:spPr>
      </p:sp>
      <p:sp>
        <p:nvSpPr>
          <p:cNvPr id="32" name="Shape 30"/>
          <p:cNvSpPr/>
          <p:nvPr/>
        </p:nvSpPr>
        <p:spPr>
          <a:xfrm flipV="1">
            <a:off x="1371600" y="1417320"/>
            <a:ext cx="91" cy="3291840"/>
          </a:xfrm>
          <a:prstGeom prst="line">
            <a:avLst/>
          </a:prstGeom>
          <a:noFill/>
          <a:ln w="19050">
            <a:solidFill>
              <a:srgbClr val="133536"/>
            </a:solidFill>
            <a:prstDash val="solid"/>
          </a:ln>
        </p:spPr>
      </p:sp>
      <p:sp>
        <p:nvSpPr>
          <p:cNvPr id="33" name="Shape 31"/>
          <p:cNvSpPr/>
          <p:nvPr/>
        </p:nvSpPr>
        <p:spPr>
          <a:xfrm>
            <a:off x="1371600" y="4709160"/>
            <a:ext cx="91" cy="54864"/>
          </a:xfrm>
          <a:prstGeom prst="line">
            <a:avLst/>
          </a:prstGeom>
          <a:noFill/>
          <a:ln w="12700">
            <a:solidFill>
              <a:srgbClr val="133536"/>
            </a:solidFill>
            <a:prstDash val="solid"/>
          </a:ln>
        </p:spPr>
      </p:sp>
      <p:sp>
        <p:nvSpPr>
          <p:cNvPr id="34" name="Text 32"/>
          <p:cNvSpPr/>
          <p:nvPr/>
        </p:nvSpPr>
        <p:spPr>
          <a:xfrm>
            <a:off x="10972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5" name="Shape 33"/>
          <p:cNvSpPr/>
          <p:nvPr/>
        </p:nvSpPr>
        <p:spPr>
          <a:xfrm>
            <a:off x="1899920" y="4709160"/>
            <a:ext cx="91" cy="54864"/>
          </a:xfrm>
          <a:prstGeom prst="line">
            <a:avLst/>
          </a:prstGeom>
          <a:noFill/>
          <a:ln w="12700">
            <a:solidFill>
              <a:srgbClr val="133536"/>
            </a:solidFill>
            <a:prstDash val="solid"/>
          </a:ln>
        </p:spPr>
      </p:sp>
      <p:sp>
        <p:nvSpPr>
          <p:cNvPr id="36" name="Text 34"/>
          <p:cNvSpPr/>
          <p:nvPr/>
        </p:nvSpPr>
        <p:spPr>
          <a:xfrm>
            <a:off x="16256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37" name="Shape 35"/>
          <p:cNvSpPr/>
          <p:nvPr/>
        </p:nvSpPr>
        <p:spPr>
          <a:xfrm>
            <a:off x="2428240" y="4709160"/>
            <a:ext cx="91" cy="54864"/>
          </a:xfrm>
          <a:prstGeom prst="line">
            <a:avLst/>
          </a:prstGeom>
          <a:noFill/>
          <a:ln w="12700">
            <a:solidFill>
              <a:srgbClr val="133536"/>
            </a:solidFill>
            <a:prstDash val="solid"/>
          </a:ln>
        </p:spPr>
      </p:sp>
      <p:sp>
        <p:nvSpPr>
          <p:cNvPr id="38" name="Text 36"/>
          <p:cNvSpPr/>
          <p:nvPr/>
        </p:nvSpPr>
        <p:spPr>
          <a:xfrm>
            <a:off x="21539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39" name="Shape 37"/>
          <p:cNvSpPr/>
          <p:nvPr/>
        </p:nvSpPr>
        <p:spPr>
          <a:xfrm>
            <a:off x="2956560" y="4709160"/>
            <a:ext cx="91" cy="54864"/>
          </a:xfrm>
          <a:prstGeom prst="line">
            <a:avLst/>
          </a:prstGeom>
          <a:noFill/>
          <a:ln w="12700">
            <a:solidFill>
              <a:srgbClr val="133536"/>
            </a:solidFill>
            <a:prstDash val="solid"/>
          </a:ln>
        </p:spPr>
      </p:sp>
      <p:sp>
        <p:nvSpPr>
          <p:cNvPr id="40" name="Text 38"/>
          <p:cNvSpPr/>
          <p:nvPr/>
        </p:nvSpPr>
        <p:spPr>
          <a:xfrm>
            <a:off x="26822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41" name="Shape 39"/>
          <p:cNvSpPr/>
          <p:nvPr/>
        </p:nvSpPr>
        <p:spPr>
          <a:xfrm>
            <a:off x="3484880" y="4709160"/>
            <a:ext cx="91" cy="54864"/>
          </a:xfrm>
          <a:prstGeom prst="line">
            <a:avLst/>
          </a:prstGeom>
          <a:noFill/>
          <a:ln w="12700">
            <a:solidFill>
              <a:srgbClr val="133536"/>
            </a:solidFill>
            <a:prstDash val="solid"/>
          </a:ln>
        </p:spPr>
      </p:sp>
      <p:sp>
        <p:nvSpPr>
          <p:cNvPr id="42" name="Text 40"/>
          <p:cNvSpPr/>
          <p:nvPr/>
        </p:nvSpPr>
        <p:spPr>
          <a:xfrm>
            <a:off x="32105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3" name="Shape 41"/>
          <p:cNvSpPr/>
          <p:nvPr/>
        </p:nvSpPr>
        <p:spPr>
          <a:xfrm>
            <a:off x="4013200" y="4709160"/>
            <a:ext cx="91" cy="54864"/>
          </a:xfrm>
          <a:prstGeom prst="line">
            <a:avLst/>
          </a:prstGeom>
          <a:noFill/>
          <a:ln w="12700">
            <a:solidFill>
              <a:srgbClr val="133536"/>
            </a:solidFill>
            <a:prstDash val="solid"/>
          </a:ln>
        </p:spPr>
      </p:sp>
      <p:sp>
        <p:nvSpPr>
          <p:cNvPr id="44" name="Text 42"/>
          <p:cNvSpPr/>
          <p:nvPr/>
        </p:nvSpPr>
        <p:spPr>
          <a:xfrm>
            <a:off x="373888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5" name="Shape 43"/>
          <p:cNvSpPr/>
          <p:nvPr/>
        </p:nvSpPr>
        <p:spPr>
          <a:xfrm>
            <a:off x="4541520" y="4709160"/>
            <a:ext cx="91" cy="54864"/>
          </a:xfrm>
          <a:prstGeom prst="line">
            <a:avLst/>
          </a:prstGeom>
          <a:noFill/>
          <a:ln w="12700">
            <a:solidFill>
              <a:srgbClr val="133536"/>
            </a:solidFill>
            <a:prstDash val="solid"/>
          </a:ln>
        </p:spPr>
      </p:sp>
      <p:sp>
        <p:nvSpPr>
          <p:cNvPr id="46" name="Text 44"/>
          <p:cNvSpPr/>
          <p:nvPr/>
        </p:nvSpPr>
        <p:spPr>
          <a:xfrm>
            <a:off x="426720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47" name="Shape 45"/>
          <p:cNvSpPr/>
          <p:nvPr/>
        </p:nvSpPr>
        <p:spPr>
          <a:xfrm>
            <a:off x="5069840" y="4709160"/>
            <a:ext cx="91" cy="54864"/>
          </a:xfrm>
          <a:prstGeom prst="line">
            <a:avLst/>
          </a:prstGeom>
          <a:noFill/>
          <a:ln w="12700">
            <a:solidFill>
              <a:srgbClr val="133536"/>
            </a:solidFill>
            <a:prstDash val="solid"/>
          </a:ln>
        </p:spPr>
      </p:sp>
      <p:sp>
        <p:nvSpPr>
          <p:cNvPr id="48" name="Text 46"/>
          <p:cNvSpPr/>
          <p:nvPr/>
        </p:nvSpPr>
        <p:spPr>
          <a:xfrm>
            <a:off x="479552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49" name="Shape 47"/>
          <p:cNvSpPr/>
          <p:nvPr/>
        </p:nvSpPr>
        <p:spPr>
          <a:xfrm>
            <a:off x="5598160" y="4709160"/>
            <a:ext cx="91" cy="54864"/>
          </a:xfrm>
          <a:prstGeom prst="line">
            <a:avLst/>
          </a:prstGeom>
          <a:noFill/>
          <a:ln w="12700">
            <a:solidFill>
              <a:srgbClr val="133536"/>
            </a:solidFill>
            <a:prstDash val="solid"/>
          </a:ln>
        </p:spPr>
      </p:sp>
      <p:sp>
        <p:nvSpPr>
          <p:cNvPr id="50" name="Text 48"/>
          <p:cNvSpPr/>
          <p:nvPr/>
        </p:nvSpPr>
        <p:spPr>
          <a:xfrm>
            <a:off x="532384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1" name="Shape 49"/>
          <p:cNvSpPr/>
          <p:nvPr/>
        </p:nvSpPr>
        <p:spPr>
          <a:xfrm>
            <a:off x="6126480" y="4709160"/>
            <a:ext cx="91" cy="54864"/>
          </a:xfrm>
          <a:prstGeom prst="line">
            <a:avLst/>
          </a:prstGeom>
          <a:noFill/>
          <a:ln w="12700">
            <a:solidFill>
              <a:srgbClr val="133536"/>
            </a:solidFill>
            <a:prstDash val="solid"/>
          </a:ln>
        </p:spPr>
      </p:sp>
      <p:sp>
        <p:nvSpPr>
          <p:cNvPr id="52" name="Text 50"/>
          <p:cNvSpPr/>
          <p:nvPr/>
        </p:nvSpPr>
        <p:spPr>
          <a:xfrm>
            <a:off x="5852160" y="47640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4.5</a:t>
            </a:r>
            <a:endParaRPr lang="en-US" sz="1000" dirty="0"/>
          </a:p>
        </p:txBody>
      </p:sp>
      <p:sp>
        <p:nvSpPr>
          <p:cNvPr id="53" name="Shape 51"/>
          <p:cNvSpPr/>
          <p:nvPr/>
        </p:nvSpPr>
        <p:spPr>
          <a:xfrm>
            <a:off x="1316736" y="4709160"/>
            <a:ext cx="54864" cy="91"/>
          </a:xfrm>
          <a:prstGeom prst="line">
            <a:avLst/>
          </a:prstGeom>
          <a:noFill/>
          <a:ln w="12700">
            <a:solidFill>
              <a:srgbClr val="133536"/>
            </a:solidFill>
            <a:prstDash val="solid"/>
          </a:ln>
        </p:spPr>
      </p:sp>
      <p:sp>
        <p:nvSpPr>
          <p:cNvPr id="54" name="Text 52"/>
          <p:cNvSpPr/>
          <p:nvPr/>
        </p:nvSpPr>
        <p:spPr>
          <a:xfrm>
            <a:off x="93268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5" name="Shape 53"/>
          <p:cNvSpPr/>
          <p:nvPr/>
        </p:nvSpPr>
        <p:spPr>
          <a:xfrm>
            <a:off x="1316736" y="4238897"/>
            <a:ext cx="54864" cy="91"/>
          </a:xfrm>
          <a:prstGeom prst="line">
            <a:avLst/>
          </a:prstGeom>
          <a:noFill/>
          <a:ln w="12700">
            <a:solidFill>
              <a:srgbClr val="133536"/>
            </a:solidFill>
            <a:prstDash val="solid"/>
          </a:ln>
        </p:spPr>
      </p:sp>
      <p:sp>
        <p:nvSpPr>
          <p:cNvPr id="56" name="Text 54"/>
          <p:cNvSpPr/>
          <p:nvPr/>
        </p:nvSpPr>
        <p:spPr>
          <a:xfrm>
            <a:off x="932688" y="41474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57" name="Shape 55"/>
          <p:cNvSpPr/>
          <p:nvPr/>
        </p:nvSpPr>
        <p:spPr>
          <a:xfrm>
            <a:off x="1316736" y="3768634"/>
            <a:ext cx="54864" cy="91"/>
          </a:xfrm>
          <a:prstGeom prst="line">
            <a:avLst/>
          </a:prstGeom>
          <a:noFill/>
          <a:ln w="12700">
            <a:solidFill>
              <a:srgbClr val="133536"/>
            </a:solidFill>
            <a:prstDash val="solid"/>
          </a:ln>
        </p:spPr>
      </p:sp>
      <p:sp>
        <p:nvSpPr>
          <p:cNvPr id="58" name="Text 56"/>
          <p:cNvSpPr/>
          <p:nvPr/>
        </p:nvSpPr>
        <p:spPr>
          <a:xfrm>
            <a:off x="932688" y="367719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9" name="Shape 57"/>
          <p:cNvSpPr/>
          <p:nvPr/>
        </p:nvSpPr>
        <p:spPr>
          <a:xfrm>
            <a:off x="1316736" y="3298371"/>
            <a:ext cx="54864" cy="91"/>
          </a:xfrm>
          <a:prstGeom prst="line">
            <a:avLst/>
          </a:prstGeom>
          <a:noFill/>
          <a:ln w="12700">
            <a:solidFill>
              <a:srgbClr val="133536"/>
            </a:solidFill>
            <a:prstDash val="solid"/>
          </a:ln>
        </p:spPr>
      </p:sp>
      <p:sp>
        <p:nvSpPr>
          <p:cNvPr id="60" name="Text 58"/>
          <p:cNvSpPr/>
          <p:nvPr/>
        </p:nvSpPr>
        <p:spPr>
          <a:xfrm>
            <a:off x="932688" y="320693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61" name="Shape 59"/>
          <p:cNvSpPr/>
          <p:nvPr/>
        </p:nvSpPr>
        <p:spPr>
          <a:xfrm>
            <a:off x="1316736" y="2828109"/>
            <a:ext cx="54864" cy="91"/>
          </a:xfrm>
          <a:prstGeom prst="line">
            <a:avLst/>
          </a:prstGeom>
          <a:noFill/>
          <a:ln w="12700">
            <a:solidFill>
              <a:srgbClr val="133536"/>
            </a:solidFill>
            <a:prstDash val="solid"/>
          </a:ln>
        </p:spPr>
      </p:sp>
      <p:sp>
        <p:nvSpPr>
          <p:cNvPr id="62" name="Text 60"/>
          <p:cNvSpPr/>
          <p:nvPr/>
        </p:nvSpPr>
        <p:spPr>
          <a:xfrm>
            <a:off x="932688" y="27366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63" name="Shape 61"/>
          <p:cNvSpPr/>
          <p:nvPr/>
        </p:nvSpPr>
        <p:spPr>
          <a:xfrm>
            <a:off x="1316736" y="2357846"/>
            <a:ext cx="54864" cy="91"/>
          </a:xfrm>
          <a:prstGeom prst="line">
            <a:avLst/>
          </a:prstGeom>
          <a:noFill/>
          <a:ln w="12700">
            <a:solidFill>
              <a:srgbClr val="133536"/>
            </a:solidFill>
            <a:prstDash val="solid"/>
          </a:ln>
        </p:spPr>
      </p:sp>
      <p:sp>
        <p:nvSpPr>
          <p:cNvPr id="64" name="Text 62"/>
          <p:cNvSpPr/>
          <p:nvPr/>
        </p:nvSpPr>
        <p:spPr>
          <a:xfrm>
            <a:off x="932688" y="226640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p>
        </p:txBody>
      </p:sp>
      <p:sp>
        <p:nvSpPr>
          <p:cNvPr id="65" name="Shape 63"/>
          <p:cNvSpPr/>
          <p:nvPr/>
        </p:nvSpPr>
        <p:spPr>
          <a:xfrm>
            <a:off x="1316736" y="1887583"/>
            <a:ext cx="54864" cy="91"/>
          </a:xfrm>
          <a:prstGeom prst="line">
            <a:avLst/>
          </a:prstGeom>
          <a:noFill/>
          <a:ln w="12700">
            <a:solidFill>
              <a:srgbClr val="133536"/>
            </a:solidFill>
            <a:prstDash val="solid"/>
          </a:ln>
        </p:spPr>
      </p:sp>
      <p:sp>
        <p:nvSpPr>
          <p:cNvPr id="66" name="Text 64"/>
          <p:cNvSpPr/>
          <p:nvPr/>
        </p:nvSpPr>
        <p:spPr>
          <a:xfrm>
            <a:off x="932688" y="179614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67" name="Shape 65"/>
          <p:cNvSpPr/>
          <p:nvPr/>
        </p:nvSpPr>
        <p:spPr>
          <a:xfrm>
            <a:off x="1316736" y="1417320"/>
            <a:ext cx="54864" cy="91"/>
          </a:xfrm>
          <a:prstGeom prst="line">
            <a:avLst/>
          </a:prstGeom>
          <a:noFill/>
          <a:ln w="12700">
            <a:solidFill>
              <a:srgbClr val="133536"/>
            </a:solidFill>
            <a:prstDash val="solid"/>
          </a:ln>
        </p:spPr>
      </p:sp>
      <p:sp>
        <p:nvSpPr>
          <p:cNvPr id="68" name="Text 66"/>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350</a:t>
            </a:r>
            <a:endParaRPr lang="en-US" sz="1000" dirty="0"/>
          </a:p>
        </p:txBody>
      </p:sp>
      <p:sp>
        <p:nvSpPr>
          <p:cNvPr id="69" name="Text 67"/>
          <p:cNvSpPr/>
          <p:nvPr/>
        </p:nvSpPr>
        <p:spPr>
          <a:xfrm>
            <a:off x="1371600" y="4956048"/>
            <a:ext cx="4754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Glucose concentration / g per 100 cm³</a:t>
            </a:r>
            <a:endParaRPr lang="en-US" sz="1050" dirty="0"/>
          </a:p>
        </p:txBody>
      </p:sp>
      <p:sp>
        <p:nvSpPr>
          <p:cNvPr id="70" name="Text 68"/>
          <p:cNvSpPr/>
          <p:nvPr/>
        </p:nvSpPr>
        <p:spPr>
          <a:xfrm rot="16200000">
            <a:off x="-841248" y="2935224"/>
            <a:ext cx="3291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to turn green / s</a:t>
            </a:r>
            <a:endParaRPr lang="en-US" sz="1050" dirty="0"/>
          </a:p>
        </p:txBody>
      </p:sp>
      <p:sp>
        <p:nvSpPr>
          <p:cNvPr id="71" name="Shape 69"/>
          <p:cNvSpPr/>
          <p:nvPr/>
        </p:nvSpPr>
        <p:spPr>
          <a:xfrm>
            <a:off x="1604061" y="1643296"/>
            <a:ext cx="56530" cy="410280"/>
          </a:xfrm>
          <a:prstGeom prst="line">
            <a:avLst/>
          </a:prstGeom>
          <a:noFill/>
          <a:ln w="25400">
            <a:solidFill>
              <a:srgbClr val="0D7877"/>
            </a:solidFill>
            <a:prstDash val="solid"/>
          </a:ln>
        </p:spPr>
      </p:sp>
      <p:sp>
        <p:nvSpPr>
          <p:cNvPr id="72" name="Shape 70"/>
          <p:cNvSpPr/>
          <p:nvPr/>
        </p:nvSpPr>
        <p:spPr>
          <a:xfrm>
            <a:off x="1660591" y="2053576"/>
            <a:ext cx="56530" cy="295376"/>
          </a:xfrm>
          <a:prstGeom prst="line">
            <a:avLst/>
          </a:prstGeom>
          <a:noFill/>
          <a:ln w="25400">
            <a:solidFill>
              <a:srgbClr val="0D7877"/>
            </a:solidFill>
            <a:prstDash val="solid"/>
          </a:ln>
        </p:spPr>
      </p:sp>
      <p:sp>
        <p:nvSpPr>
          <p:cNvPr id="73" name="Shape 71"/>
          <p:cNvSpPr/>
          <p:nvPr/>
        </p:nvSpPr>
        <p:spPr>
          <a:xfrm>
            <a:off x="1717121" y="2348951"/>
            <a:ext cx="56530" cy="224619"/>
          </a:xfrm>
          <a:prstGeom prst="line">
            <a:avLst/>
          </a:prstGeom>
          <a:noFill/>
          <a:ln w="25400">
            <a:solidFill>
              <a:srgbClr val="0D7877"/>
            </a:solidFill>
            <a:prstDash val="solid"/>
          </a:ln>
        </p:spPr>
      </p:sp>
      <p:sp>
        <p:nvSpPr>
          <p:cNvPr id="74" name="Shape 72"/>
          <p:cNvSpPr/>
          <p:nvPr/>
        </p:nvSpPr>
        <p:spPr>
          <a:xfrm>
            <a:off x="1773652" y="2573570"/>
            <a:ext cx="56530" cy="177608"/>
          </a:xfrm>
          <a:prstGeom prst="line">
            <a:avLst/>
          </a:prstGeom>
          <a:noFill/>
          <a:ln w="25400">
            <a:solidFill>
              <a:srgbClr val="0D7877"/>
            </a:solidFill>
            <a:prstDash val="solid"/>
          </a:ln>
        </p:spPr>
      </p:sp>
      <p:sp>
        <p:nvSpPr>
          <p:cNvPr id="75" name="Shape 73"/>
          <p:cNvSpPr/>
          <p:nvPr/>
        </p:nvSpPr>
        <p:spPr>
          <a:xfrm>
            <a:off x="1830182" y="2751178"/>
            <a:ext cx="56530" cy="144603"/>
          </a:xfrm>
          <a:prstGeom prst="line">
            <a:avLst/>
          </a:prstGeom>
          <a:noFill/>
          <a:ln w="25400">
            <a:solidFill>
              <a:srgbClr val="0D7877"/>
            </a:solidFill>
            <a:prstDash val="solid"/>
          </a:ln>
        </p:spPr>
      </p:sp>
      <p:sp>
        <p:nvSpPr>
          <p:cNvPr id="76" name="Shape 74"/>
          <p:cNvSpPr/>
          <p:nvPr/>
        </p:nvSpPr>
        <p:spPr>
          <a:xfrm>
            <a:off x="1886712" y="2895781"/>
            <a:ext cx="56530" cy="120439"/>
          </a:xfrm>
          <a:prstGeom prst="line">
            <a:avLst/>
          </a:prstGeom>
          <a:noFill/>
          <a:ln w="25400">
            <a:solidFill>
              <a:srgbClr val="0D7877"/>
            </a:solidFill>
            <a:prstDash val="solid"/>
          </a:ln>
        </p:spPr>
      </p:sp>
      <p:sp>
        <p:nvSpPr>
          <p:cNvPr id="77" name="Shape 75"/>
          <p:cNvSpPr/>
          <p:nvPr/>
        </p:nvSpPr>
        <p:spPr>
          <a:xfrm>
            <a:off x="1943242" y="3016219"/>
            <a:ext cx="56530" cy="102155"/>
          </a:xfrm>
          <a:prstGeom prst="line">
            <a:avLst/>
          </a:prstGeom>
          <a:noFill/>
          <a:ln w="25400">
            <a:solidFill>
              <a:srgbClr val="0D7877"/>
            </a:solidFill>
            <a:prstDash val="solid"/>
          </a:ln>
        </p:spPr>
      </p:sp>
      <p:sp>
        <p:nvSpPr>
          <p:cNvPr id="78" name="Shape 76"/>
          <p:cNvSpPr/>
          <p:nvPr/>
        </p:nvSpPr>
        <p:spPr>
          <a:xfrm>
            <a:off x="1999772" y="3118374"/>
            <a:ext cx="56530" cy="87947"/>
          </a:xfrm>
          <a:prstGeom prst="line">
            <a:avLst/>
          </a:prstGeom>
          <a:noFill/>
          <a:ln w="25400">
            <a:solidFill>
              <a:srgbClr val="0D7877"/>
            </a:solidFill>
            <a:prstDash val="solid"/>
          </a:ln>
        </p:spPr>
      </p:sp>
      <p:sp>
        <p:nvSpPr>
          <p:cNvPr id="79" name="Shape 77"/>
          <p:cNvSpPr/>
          <p:nvPr/>
        </p:nvSpPr>
        <p:spPr>
          <a:xfrm>
            <a:off x="2056303" y="3206321"/>
            <a:ext cx="56530" cy="76661"/>
          </a:xfrm>
          <a:prstGeom prst="line">
            <a:avLst/>
          </a:prstGeom>
          <a:noFill/>
          <a:ln w="25400">
            <a:solidFill>
              <a:srgbClr val="0D7877"/>
            </a:solidFill>
            <a:prstDash val="solid"/>
          </a:ln>
        </p:spPr>
      </p:sp>
      <p:sp>
        <p:nvSpPr>
          <p:cNvPr id="80" name="Shape 78"/>
          <p:cNvSpPr/>
          <p:nvPr/>
        </p:nvSpPr>
        <p:spPr>
          <a:xfrm>
            <a:off x="2112833" y="3282982"/>
            <a:ext cx="56530" cy="67530"/>
          </a:xfrm>
          <a:prstGeom prst="line">
            <a:avLst/>
          </a:prstGeom>
          <a:noFill/>
          <a:ln w="25400">
            <a:solidFill>
              <a:srgbClr val="0D7877"/>
            </a:solidFill>
            <a:prstDash val="solid"/>
          </a:ln>
        </p:spPr>
      </p:sp>
      <p:sp>
        <p:nvSpPr>
          <p:cNvPr id="81" name="Shape 79"/>
          <p:cNvSpPr/>
          <p:nvPr/>
        </p:nvSpPr>
        <p:spPr>
          <a:xfrm>
            <a:off x="2169363" y="3350512"/>
            <a:ext cx="56530" cy="60025"/>
          </a:xfrm>
          <a:prstGeom prst="line">
            <a:avLst/>
          </a:prstGeom>
          <a:noFill/>
          <a:ln w="25400">
            <a:solidFill>
              <a:srgbClr val="0D7877"/>
            </a:solidFill>
            <a:prstDash val="solid"/>
          </a:ln>
        </p:spPr>
      </p:sp>
      <p:sp>
        <p:nvSpPr>
          <p:cNvPr id="82" name="Shape 80"/>
          <p:cNvSpPr/>
          <p:nvPr/>
        </p:nvSpPr>
        <p:spPr>
          <a:xfrm>
            <a:off x="2225893" y="3410537"/>
            <a:ext cx="56530" cy="53773"/>
          </a:xfrm>
          <a:prstGeom prst="line">
            <a:avLst/>
          </a:prstGeom>
          <a:noFill/>
          <a:ln w="25400">
            <a:solidFill>
              <a:srgbClr val="0D7877"/>
            </a:solidFill>
            <a:prstDash val="solid"/>
          </a:ln>
        </p:spPr>
      </p:sp>
      <p:sp>
        <p:nvSpPr>
          <p:cNvPr id="83" name="Shape 81"/>
          <p:cNvSpPr/>
          <p:nvPr/>
        </p:nvSpPr>
        <p:spPr>
          <a:xfrm>
            <a:off x="2282424" y="3464310"/>
            <a:ext cx="56530" cy="48503"/>
          </a:xfrm>
          <a:prstGeom prst="line">
            <a:avLst/>
          </a:prstGeom>
          <a:noFill/>
          <a:ln w="25400">
            <a:solidFill>
              <a:srgbClr val="0D7877"/>
            </a:solidFill>
            <a:prstDash val="solid"/>
          </a:ln>
        </p:spPr>
      </p:sp>
      <p:sp>
        <p:nvSpPr>
          <p:cNvPr id="84" name="Shape 82"/>
          <p:cNvSpPr/>
          <p:nvPr/>
        </p:nvSpPr>
        <p:spPr>
          <a:xfrm>
            <a:off x="2338954" y="3512812"/>
            <a:ext cx="56530" cy="44014"/>
          </a:xfrm>
          <a:prstGeom prst="line">
            <a:avLst/>
          </a:prstGeom>
          <a:noFill/>
          <a:ln w="25400">
            <a:solidFill>
              <a:srgbClr val="0D7877"/>
            </a:solidFill>
            <a:prstDash val="solid"/>
          </a:ln>
        </p:spPr>
      </p:sp>
      <p:sp>
        <p:nvSpPr>
          <p:cNvPr id="85" name="Shape 83"/>
          <p:cNvSpPr/>
          <p:nvPr/>
        </p:nvSpPr>
        <p:spPr>
          <a:xfrm>
            <a:off x="2395484" y="3556826"/>
            <a:ext cx="56530" cy="40156"/>
          </a:xfrm>
          <a:prstGeom prst="line">
            <a:avLst/>
          </a:prstGeom>
          <a:noFill/>
          <a:ln w="25400">
            <a:solidFill>
              <a:srgbClr val="0D7877"/>
            </a:solidFill>
            <a:prstDash val="solid"/>
          </a:ln>
        </p:spPr>
      </p:sp>
      <p:sp>
        <p:nvSpPr>
          <p:cNvPr id="86" name="Shape 84"/>
          <p:cNvSpPr/>
          <p:nvPr/>
        </p:nvSpPr>
        <p:spPr>
          <a:xfrm>
            <a:off x="2452014" y="3596982"/>
            <a:ext cx="56530" cy="36813"/>
          </a:xfrm>
          <a:prstGeom prst="line">
            <a:avLst/>
          </a:prstGeom>
          <a:noFill/>
          <a:ln w="25400">
            <a:solidFill>
              <a:srgbClr val="0D7877"/>
            </a:solidFill>
            <a:prstDash val="solid"/>
          </a:ln>
        </p:spPr>
      </p:sp>
      <p:sp>
        <p:nvSpPr>
          <p:cNvPr id="87" name="Shape 85"/>
          <p:cNvSpPr/>
          <p:nvPr/>
        </p:nvSpPr>
        <p:spPr>
          <a:xfrm>
            <a:off x="2508545" y="3633795"/>
            <a:ext cx="56530" cy="33894"/>
          </a:xfrm>
          <a:prstGeom prst="line">
            <a:avLst/>
          </a:prstGeom>
          <a:noFill/>
          <a:ln w="25400">
            <a:solidFill>
              <a:srgbClr val="0D7877"/>
            </a:solidFill>
            <a:prstDash val="solid"/>
          </a:ln>
        </p:spPr>
      </p:sp>
      <p:sp>
        <p:nvSpPr>
          <p:cNvPr id="88" name="Shape 86"/>
          <p:cNvSpPr/>
          <p:nvPr/>
        </p:nvSpPr>
        <p:spPr>
          <a:xfrm>
            <a:off x="2565075" y="3667689"/>
            <a:ext cx="56530" cy="31330"/>
          </a:xfrm>
          <a:prstGeom prst="line">
            <a:avLst/>
          </a:prstGeom>
          <a:noFill/>
          <a:ln w="25400">
            <a:solidFill>
              <a:srgbClr val="0D7877"/>
            </a:solidFill>
            <a:prstDash val="solid"/>
          </a:ln>
        </p:spPr>
      </p:sp>
      <p:sp>
        <p:nvSpPr>
          <p:cNvPr id="89" name="Shape 87"/>
          <p:cNvSpPr/>
          <p:nvPr/>
        </p:nvSpPr>
        <p:spPr>
          <a:xfrm>
            <a:off x="2621605" y="3699019"/>
            <a:ext cx="56530" cy="29062"/>
          </a:xfrm>
          <a:prstGeom prst="line">
            <a:avLst/>
          </a:prstGeom>
          <a:noFill/>
          <a:ln w="25400">
            <a:solidFill>
              <a:srgbClr val="0D7877"/>
            </a:solidFill>
            <a:prstDash val="solid"/>
          </a:ln>
        </p:spPr>
      </p:sp>
      <p:sp>
        <p:nvSpPr>
          <p:cNvPr id="90" name="Shape 88"/>
          <p:cNvSpPr/>
          <p:nvPr/>
        </p:nvSpPr>
        <p:spPr>
          <a:xfrm>
            <a:off x="2678135" y="3728081"/>
            <a:ext cx="56530" cy="27047"/>
          </a:xfrm>
          <a:prstGeom prst="line">
            <a:avLst/>
          </a:prstGeom>
          <a:noFill/>
          <a:ln w="25400">
            <a:solidFill>
              <a:srgbClr val="0D7877"/>
            </a:solidFill>
            <a:prstDash val="solid"/>
          </a:ln>
        </p:spPr>
      </p:sp>
      <p:sp>
        <p:nvSpPr>
          <p:cNvPr id="91" name="Shape 89"/>
          <p:cNvSpPr/>
          <p:nvPr/>
        </p:nvSpPr>
        <p:spPr>
          <a:xfrm>
            <a:off x="2734666" y="3755129"/>
            <a:ext cx="56530" cy="25247"/>
          </a:xfrm>
          <a:prstGeom prst="line">
            <a:avLst/>
          </a:prstGeom>
          <a:noFill/>
          <a:ln w="25400">
            <a:solidFill>
              <a:srgbClr val="0D7877"/>
            </a:solidFill>
            <a:prstDash val="solid"/>
          </a:ln>
        </p:spPr>
      </p:sp>
      <p:sp>
        <p:nvSpPr>
          <p:cNvPr id="92" name="Shape 90"/>
          <p:cNvSpPr/>
          <p:nvPr/>
        </p:nvSpPr>
        <p:spPr>
          <a:xfrm>
            <a:off x="2791196" y="3780375"/>
            <a:ext cx="56530" cy="23631"/>
          </a:xfrm>
          <a:prstGeom prst="line">
            <a:avLst/>
          </a:prstGeom>
          <a:noFill/>
          <a:ln w="25400">
            <a:solidFill>
              <a:srgbClr val="0D7877"/>
            </a:solidFill>
            <a:prstDash val="solid"/>
          </a:ln>
        </p:spPr>
      </p:sp>
      <p:sp>
        <p:nvSpPr>
          <p:cNvPr id="93" name="Shape 91"/>
          <p:cNvSpPr/>
          <p:nvPr/>
        </p:nvSpPr>
        <p:spPr>
          <a:xfrm>
            <a:off x="2847726" y="3804006"/>
            <a:ext cx="56530" cy="22175"/>
          </a:xfrm>
          <a:prstGeom prst="line">
            <a:avLst/>
          </a:prstGeom>
          <a:noFill/>
          <a:ln w="25400">
            <a:solidFill>
              <a:srgbClr val="0D7877"/>
            </a:solidFill>
            <a:prstDash val="solid"/>
          </a:ln>
        </p:spPr>
      </p:sp>
      <p:sp>
        <p:nvSpPr>
          <p:cNvPr id="94" name="Shape 92"/>
          <p:cNvSpPr/>
          <p:nvPr/>
        </p:nvSpPr>
        <p:spPr>
          <a:xfrm>
            <a:off x="2904256" y="3826181"/>
            <a:ext cx="56530" cy="20857"/>
          </a:xfrm>
          <a:prstGeom prst="line">
            <a:avLst/>
          </a:prstGeom>
          <a:noFill/>
          <a:ln w="25400">
            <a:solidFill>
              <a:srgbClr val="0D7877"/>
            </a:solidFill>
            <a:prstDash val="solid"/>
          </a:ln>
        </p:spPr>
      </p:sp>
      <p:sp>
        <p:nvSpPr>
          <p:cNvPr id="95" name="Shape 93"/>
          <p:cNvSpPr/>
          <p:nvPr/>
        </p:nvSpPr>
        <p:spPr>
          <a:xfrm>
            <a:off x="2960787" y="3847039"/>
            <a:ext cx="56530" cy="19661"/>
          </a:xfrm>
          <a:prstGeom prst="line">
            <a:avLst/>
          </a:prstGeom>
          <a:noFill/>
          <a:ln w="25400">
            <a:solidFill>
              <a:srgbClr val="0D7877"/>
            </a:solidFill>
            <a:prstDash val="solid"/>
          </a:ln>
        </p:spPr>
      </p:sp>
      <p:sp>
        <p:nvSpPr>
          <p:cNvPr id="96" name="Shape 94"/>
          <p:cNvSpPr/>
          <p:nvPr/>
        </p:nvSpPr>
        <p:spPr>
          <a:xfrm>
            <a:off x="3017317" y="3866700"/>
            <a:ext cx="56530" cy="18571"/>
          </a:xfrm>
          <a:prstGeom prst="line">
            <a:avLst/>
          </a:prstGeom>
          <a:noFill/>
          <a:ln w="25400">
            <a:solidFill>
              <a:srgbClr val="0D7877"/>
            </a:solidFill>
            <a:prstDash val="solid"/>
          </a:ln>
        </p:spPr>
      </p:sp>
      <p:sp>
        <p:nvSpPr>
          <p:cNvPr id="97" name="Shape 95"/>
          <p:cNvSpPr/>
          <p:nvPr/>
        </p:nvSpPr>
        <p:spPr>
          <a:xfrm>
            <a:off x="3073847" y="3885271"/>
            <a:ext cx="56530" cy="17575"/>
          </a:xfrm>
          <a:prstGeom prst="line">
            <a:avLst/>
          </a:prstGeom>
          <a:noFill/>
          <a:ln w="25400">
            <a:solidFill>
              <a:srgbClr val="0D7877"/>
            </a:solidFill>
            <a:prstDash val="solid"/>
          </a:ln>
        </p:spPr>
      </p:sp>
      <p:sp>
        <p:nvSpPr>
          <p:cNvPr id="98" name="Shape 96"/>
          <p:cNvSpPr/>
          <p:nvPr/>
        </p:nvSpPr>
        <p:spPr>
          <a:xfrm>
            <a:off x="3130377" y="3902845"/>
            <a:ext cx="56530" cy="16661"/>
          </a:xfrm>
          <a:prstGeom prst="line">
            <a:avLst/>
          </a:prstGeom>
          <a:noFill/>
          <a:ln w="25400">
            <a:solidFill>
              <a:srgbClr val="0D7877"/>
            </a:solidFill>
            <a:prstDash val="solid"/>
          </a:ln>
        </p:spPr>
      </p:sp>
      <p:sp>
        <p:nvSpPr>
          <p:cNvPr id="99" name="Shape 97"/>
          <p:cNvSpPr/>
          <p:nvPr/>
        </p:nvSpPr>
        <p:spPr>
          <a:xfrm>
            <a:off x="3186908" y="3919506"/>
            <a:ext cx="56530" cy="15821"/>
          </a:xfrm>
          <a:prstGeom prst="line">
            <a:avLst/>
          </a:prstGeom>
          <a:noFill/>
          <a:ln w="25400">
            <a:solidFill>
              <a:srgbClr val="0D7877"/>
            </a:solidFill>
            <a:prstDash val="solid"/>
          </a:ln>
        </p:spPr>
      </p:sp>
      <p:sp>
        <p:nvSpPr>
          <p:cNvPr id="100" name="Shape 98"/>
          <p:cNvSpPr/>
          <p:nvPr/>
        </p:nvSpPr>
        <p:spPr>
          <a:xfrm>
            <a:off x="3243438" y="3935328"/>
            <a:ext cx="56530" cy="15048"/>
          </a:xfrm>
          <a:prstGeom prst="line">
            <a:avLst/>
          </a:prstGeom>
          <a:noFill/>
          <a:ln w="25400">
            <a:solidFill>
              <a:srgbClr val="0D7877"/>
            </a:solidFill>
            <a:prstDash val="solid"/>
          </a:ln>
        </p:spPr>
      </p:sp>
      <p:sp>
        <p:nvSpPr>
          <p:cNvPr id="101" name="Shape 99"/>
          <p:cNvSpPr/>
          <p:nvPr/>
        </p:nvSpPr>
        <p:spPr>
          <a:xfrm>
            <a:off x="3299968" y="3950376"/>
            <a:ext cx="56530" cy="14333"/>
          </a:xfrm>
          <a:prstGeom prst="line">
            <a:avLst/>
          </a:prstGeom>
          <a:noFill/>
          <a:ln w="25400">
            <a:solidFill>
              <a:srgbClr val="0D7877"/>
            </a:solidFill>
            <a:prstDash val="solid"/>
          </a:ln>
        </p:spPr>
      </p:sp>
      <p:sp>
        <p:nvSpPr>
          <p:cNvPr id="102" name="Shape 100"/>
          <p:cNvSpPr/>
          <p:nvPr/>
        </p:nvSpPr>
        <p:spPr>
          <a:xfrm>
            <a:off x="3356498" y="3964708"/>
            <a:ext cx="56530" cy="13671"/>
          </a:xfrm>
          <a:prstGeom prst="line">
            <a:avLst/>
          </a:prstGeom>
          <a:noFill/>
          <a:ln w="25400">
            <a:solidFill>
              <a:srgbClr val="0D7877"/>
            </a:solidFill>
            <a:prstDash val="solid"/>
          </a:ln>
        </p:spPr>
      </p:sp>
      <p:sp>
        <p:nvSpPr>
          <p:cNvPr id="103" name="Shape 101"/>
          <p:cNvSpPr/>
          <p:nvPr/>
        </p:nvSpPr>
        <p:spPr>
          <a:xfrm>
            <a:off x="3413028" y="3978379"/>
            <a:ext cx="56530" cy="13056"/>
          </a:xfrm>
          <a:prstGeom prst="line">
            <a:avLst/>
          </a:prstGeom>
          <a:noFill/>
          <a:ln w="25400">
            <a:solidFill>
              <a:srgbClr val="0D7877"/>
            </a:solidFill>
            <a:prstDash val="solid"/>
          </a:ln>
        </p:spPr>
      </p:sp>
      <p:sp>
        <p:nvSpPr>
          <p:cNvPr id="104" name="Shape 102"/>
          <p:cNvSpPr/>
          <p:nvPr/>
        </p:nvSpPr>
        <p:spPr>
          <a:xfrm>
            <a:off x="3469559" y="3991435"/>
            <a:ext cx="56530" cy="12485"/>
          </a:xfrm>
          <a:prstGeom prst="line">
            <a:avLst/>
          </a:prstGeom>
          <a:noFill/>
          <a:ln w="25400">
            <a:solidFill>
              <a:srgbClr val="0D7877"/>
            </a:solidFill>
            <a:prstDash val="solid"/>
          </a:ln>
        </p:spPr>
      </p:sp>
      <p:sp>
        <p:nvSpPr>
          <p:cNvPr id="105" name="Shape 103"/>
          <p:cNvSpPr/>
          <p:nvPr/>
        </p:nvSpPr>
        <p:spPr>
          <a:xfrm>
            <a:off x="3526089" y="4003921"/>
            <a:ext cx="56530" cy="11953"/>
          </a:xfrm>
          <a:prstGeom prst="line">
            <a:avLst/>
          </a:prstGeom>
          <a:noFill/>
          <a:ln w="25400">
            <a:solidFill>
              <a:srgbClr val="0D7877"/>
            </a:solidFill>
            <a:prstDash val="solid"/>
          </a:ln>
        </p:spPr>
      </p:sp>
      <p:sp>
        <p:nvSpPr>
          <p:cNvPr id="106" name="Shape 104"/>
          <p:cNvSpPr/>
          <p:nvPr/>
        </p:nvSpPr>
        <p:spPr>
          <a:xfrm>
            <a:off x="3582619" y="4015874"/>
            <a:ext cx="56530" cy="11456"/>
          </a:xfrm>
          <a:prstGeom prst="line">
            <a:avLst/>
          </a:prstGeom>
          <a:noFill/>
          <a:ln w="25400">
            <a:solidFill>
              <a:srgbClr val="0D7877"/>
            </a:solidFill>
            <a:prstDash val="solid"/>
          </a:ln>
        </p:spPr>
      </p:sp>
      <p:sp>
        <p:nvSpPr>
          <p:cNvPr id="107" name="Shape 105"/>
          <p:cNvSpPr/>
          <p:nvPr/>
        </p:nvSpPr>
        <p:spPr>
          <a:xfrm>
            <a:off x="3639149" y="4027330"/>
            <a:ext cx="56530" cy="10992"/>
          </a:xfrm>
          <a:prstGeom prst="line">
            <a:avLst/>
          </a:prstGeom>
          <a:noFill/>
          <a:ln w="25400">
            <a:solidFill>
              <a:srgbClr val="0D7877"/>
            </a:solidFill>
            <a:prstDash val="solid"/>
          </a:ln>
        </p:spPr>
      </p:sp>
      <p:sp>
        <p:nvSpPr>
          <p:cNvPr id="108" name="Shape 106"/>
          <p:cNvSpPr/>
          <p:nvPr/>
        </p:nvSpPr>
        <p:spPr>
          <a:xfrm>
            <a:off x="3695680" y="4038321"/>
            <a:ext cx="56530" cy="10557"/>
          </a:xfrm>
          <a:prstGeom prst="line">
            <a:avLst/>
          </a:prstGeom>
          <a:noFill/>
          <a:ln w="25400">
            <a:solidFill>
              <a:srgbClr val="0D7877"/>
            </a:solidFill>
            <a:prstDash val="solid"/>
          </a:ln>
        </p:spPr>
      </p:sp>
      <p:sp>
        <p:nvSpPr>
          <p:cNvPr id="109" name="Shape 107"/>
          <p:cNvSpPr/>
          <p:nvPr/>
        </p:nvSpPr>
        <p:spPr>
          <a:xfrm>
            <a:off x="3752210" y="4048878"/>
            <a:ext cx="56530" cy="10148"/>
          </a:xfrm>
          <a:prstGeom prst="line">
            <a:avLst/>
          </a:prstGeom>
          <a:noFill/>
          <a:ln w="25400">
            <a:solidFill>
              <a:srgbClr val="0D7877"/>
            </a:solidFill>
            <a:prstDash val="solid"/>
          </a:ln>
        </p:spPr>
      </p:sp>
      <p:sp>
        <p:nvSpPr>
          <p:cNvPr id="110" name="Shape 108"/>
          <p:cNvSpPr/>
          <p:nvPr/>
        </p:nvSpPr>
        <p:spPr>
          <a:xfrm>
            <a:off x="3808740" y="4059026"/>
            <a:ext cx="56530" cy="9765"/>
          </a:xfrm>
          <a:prstGeom prst="line">
            <a:avLst/>
          </a:prstGeom>
          <a:noFill/>
          <a:ln w="25400">
            <a:solidFill>
              <a:srgbClr val="0D7877"/>
            </a:solidFill>
            <a:prstDash val="solid"/>
          </a:ln>
        </p:spPr>
      </p:sp>
      <p:sp>
        <p:nvSpPr>
          <p:cNvPr id="111" name="Shape 109"/>
          <p:cNvSpPr/>
          <p:nvPr/>
        </p:nvSpPr>
        <p:spPr>
          <a:xfrm>
            <a:off x="3865270" y="4068791"/>
            <a:ext cx="56530" cy="9404"/>
          </a:xfrm>
          <a:prstGeom prst="line">
            <a:avLst/>
          </a:prstGeom>
          <a:noFill/>
          <a:ln w="25400">
            <a:solidFill>
              <a:srgbClr val="0D7877"/>
            </a:solidFill>
            <a:prstDash val="solid"/>
          </a:ln>
        </p:spPr>
      </p:sp>
      <p:sp>
        <p:nvSpPr>
          <p:cNvPr id="112" name="Shape 110"/>
          <p:cNvSpPr/>
          <p:nvPr/>
        </p:nvSpPr>
        <p:spPr>
          <a:xfrm>
            <a:off x="3921801" y="4078196"/>
            <a:ext cx="56530" cy="9065"/>
          </a:xfrm>
          <a:prstGeom prst="line">
            <a:avLst/>
          </a:prstGeom>
          <a:noFill/>
          <a:ln w="25400">
            <a:solidFill>
              <a:srgbClr val="0D7877"/>
            </a:solidFill>
            <a:prstDash val="solid"/>
          </a:ln>
        </p:spPr>
      </p:sp>
      <p:sp>
        <p:nvSpPr>
          <p:cNvPr id="113" name="Shape 111"/>
          <p:cNvSpPr/>
          <p:nvPr/>
        </p:nvSpPr>
        <p:spPr>
          <a:xfrm>
            <a:off x="3978331" y="4087260"/>
            <a:ext cx="56530" cy="8744"/>
          </a:xfrm>
          <a:prstGeom prst="line">
            <a:avLst/>
          </a:prstGeom>
          <a:noFill/>
          <a:ln w="25400">
            <a:solidFill>
              <a:srgbClr val="0D7877"/>
            </a:solidFill>
            <a:prstDash val="solid"/>
          </a:ln>
        </p:spPr>
      </p:sp>
      <p:sp>
        <p:nvSpPr>
          <p:cNvPr id="114" name="Shape 112"/>
          <p:cNvSpPr/>
          <p:nvPr/>
        </p:nvSpPr>
        <p:spPr>
          <a:xfrm>
            <a:off x="4034861" y="4096004"/>
            <a:ext cx="56530" cy="8441"/>
          </a:xfrm>
          <a:prstGeom prst="line">
            <a:avLst/>
          </a:prstGeom>
          <a:noFill/>
          <a:ln w="25400">
            <a:solidFill>
              <a:srgbClr val="0D7877"/>
            </a:solidFill>
            <a:prstDash val="solid"/>
          </a:ln>
        </p:spPr>
      </p:sp>
      <p:sp>
        <p:nvSpPr>
          <p:cNvPr id="115" name="Shape 113"/>
          <p:cNvSpPr/>
          <p:nvPr/>
        </p:nvSpPr>
        <p:spPr>
          <a:xfrm>
            <a:off x="4091391" y="4104446"/>
            <a:ext cx="56530" cy="8155"/>
          </a:xfrm>
          <a:prstGeom prst="line">
            <a:avLst/>
          </a:prstGeom>
          <a:noFill/>
          <a:ln w="25400">
            <a:solidFill>
              <a:srgbClr val="0D7877"/>
            </a:solidFill>
            <a:prstDash val="solid"/>
          </a:ln>
        </p:spPr>
      </p:sp>
      <p:sp>
        <p:nvSpPr>
          <p:cNvPr id="116" name="Shape 114"/>
          <p:cNvSpPr/>
          <p:nvPr/>
        </p:nvSpPr>
        <p:spPr>
          <a:xfrm>
            <a:off x="4147922" y="4112601"/>
            <a:ext cx="56530" cy="7884"/>
          </a:xfrm>
          <a:prstGeom prst="line">
            <a:avLst/>
          </a:prstGeom>
          <a:noFill/>
          <a:ln w="25400">
            <a:solidFill>
              <a:srgbClr val="0D7877"/>
            </a:solidFill>
            <a:prstDash val="solid"/>
          </a:ln>
        </p:spPr>
      </p:sp>
      <p:sp>
        <p:nvSpPr>
          <p:cNvPr id="117" name="Shape 115"/>
          <p:cNvSpPr/>
          <p:nvPr/>
        </p:nvSpPr>
        <p:spPr>
          <a:xfrm>
            <a:off x="4204452" y="4120484"/>
            <a:ext cx="56530" cy="7627"/>
          </a:xfrm>
          <a:prstGeom prst="line">
            <a:avLst/>
          </a:prstGeom>
          <a:noFill/>
          <a:ln w="25400">
            <a:solidFill>
              <a:srgbClr val="0D7877"/>
            </a:solidFill>
            <a:prstDash val="solid"/>
          </a:ln>
        </p:spPr>
      </p:sp>
      <p:sp>
        <p:nvSpPr>
          <p:cNvPr id="118" name="Shape 116"/>
          <p:cNvSpPr/>
          <p:nvPr/>
        </p:nvSpPr>
        <p:spPr>
          <a:xfrm>
            <a:off x="4260982" y="4128111"/>
            <a:ext cx="56530" cy="7383"/>
          </a:xfrm>
          <a:prstGeom prst="line">
            <a:avLst/>
          </a:prstGeom>
          <a:noFill/>
          <a:ln w="25400">
            <a:solidFill>
              <a:srgbClr val="0D7877"/>
            </a:solidFill>
            <a:prstDash val="solid"/>
          </a:ln>
        </p:spPr>
      </p:sp>
      <p:sp>
        <p:nvSpPr>
          <p:cNvPr id="119" name="Shape 117"/>
          <p:cNvSpPr/>
          <p:nvPr/>
        </p:nvSpPr>
        <p:spPr>
          <a:xfrm>
            <a:off x="4317512" y="4135495"/>
            <a:ext cx="56530" cy="7152"/>
          </a:xfrm>
          <a:prstGeom prst="line">
            <a:avLst/>
          </a:prstGeom>
          <a:noFill/>
          <a:ln w="25400">
            <a:solidFill>
              <a:srgbClr val="0D7877"/>
            </a:solidFill>
            <a:prstDash val="solid"/>
          </a:ln>
        </p:spPr>
      </p:sp>
      <p:sp>
        <p:nvSpPr>
          <p:cNvPr id="120" name="Shape 118"/>
          <p:cNvSpPr/>
          <p:nvPr/>
        </p:nvSpPr>
        <p:spPr>
          <a:xfrm>
            <a:off x="4374043" y="4142646"/>
            <a:ext cx="56530" cy="6932"/>
          </a:xfrm>
          <a:prstGeom prst="line">
            <a:avLst/>
          </a:prstGeom>
          <a:noFill/>
          <a:ln w="25400">
            <a:solidFill>
              <a:srgbClr val="0D7877"/>
            </a:solidFill>
            <a:prstDash val="solid"/>
          </a:ln>
        </p:spPr>
      </p:sp>
      <p:sp>
        <p:nvSpPr>
          <p:cNvPr id="121" name="Shape 119"/>
          <p:cNvSpPr/>
          <p:nvPr/>
        </p:nvSpPr>
        <p:spPr>
          <a:xfrm>
            <a:off x="4430573" y="4149578"/>
            <a:ext cx="56530" cy="6722"/>
          </a:xfrm>
          <a:prstGeom prst="line">
            <a:avLst/>
          </a:prstGeom>
          <a:noFill/>
          <a:ln w="25400">
            <a:solidFill>
              <a:srgbClr val="0D7877"/>
            </a:solidFill>
            <a:prstDash val="solid"/>
          </a:ln>
        </p:spPr>
      </p:sp>
      <p:sp>
        <p:nvSpPr>
          <p:cNvPr id="122" name="Shape 120"/>
          <p:cNvSpPr/>
          <p:nvPr/>
        </p:nvSpPr>
        <p:spPr>
          <a:xfrm>
            <a:off x="4487103" y="4156300"/>
            <a:ext cx="56530" cy="6523"/>
          </a:xfrm>
          <a:prstGeom prst="line">
            <a:avLst/>
          </a:prstGeom>
          <a:noFill/>
          <a:ln w="25400">
            <a:solidFill>
              <a:srgbClr val="0D7877"/>
            </a:solidFill>
            <a:prstDash val="solid"/>
          </a:ln>
        </p:spPr>
      </p:sp>
      <p:sp>
        <p:nvSpPr>
          <p:cNvPr id="123" name="Shape 121"/>
          <p:cNvSpPr/>
          <p:nvPr/>
        </p:nvSpPr>
        <p:spPr>
          <a:xfrm>
            <a:off x="4543633" y="4162823"/>
            <a:ext cx="56530" cy="6333"/>
          </a:xfrm>
          <a:prstGeom prst="line">
            <a:avLst/>
          </a:prstGeom>
          <a:noFill/>
          <a:ln w="25400">
            <a:solidFill>
              <a:srgbClr val="0D7877"/>
            </a:solidFill>
            <a:prstDash val="solid"/>
          </a:ln>
        </p:spPr>
      </p:sp>
      <p:sp>
        <p:nvSpPr>
          <p:cNvPr id="124" name="Shape 122"/>
          <p:cNvSpPr/>
          <p:nvPr/>
        </p:nvSpPr>
        <p:spPr>
          <a:xfrm>
            <a:off x="4600164" y="4169155"/>
            <a:ext cx="56530" cy="6151"/>
          </a:xfrm>
          <a:prstGeom prst="line">
            <a:avLst/>
          </a:prstGeom>
          <a:noFill/>
          <a:ln w="25400">
            <a:solidFill>
              <a:srgbClr val="0D7877"/>
            </a:solidFill>
            <a:prstDash val="solid"/>
          </a:ln>
        </p:spPr>
      </p:sp>
      <p:sp>
        <p:nvSpPr>
          <p:cNvPr id="125" name="Shape 123"/>
          <p:cNvSpPr/>
          <p:nvPr/>
        </p:nvSpPr>
        <p:spPr>
          <a:xfrm>
            <a:off x="4656694" y="4175306"/>
            <a:ext cx="56530" cy="5978"/>
          </a:xfrm>
          <a:prstGeom prst="line">
            <a:avLst/>
          </a:prstGeom>
          <a:noFill/>
          <a:ln w="25400">
            <a:solidFill>
              <a:srgbClr val="0D7877"/>
            </a:solidFill>
            <a:prstDash val="solid"/>
          </a:ln>
        </p:spPr>
      </p:sp>
      <p:sp>
        <p:nvSpPr>
          <p:cNvPr id="126" name="Shape 124"/>
          <p:cNvSpPr/>
          <p:nvPr/>
        </p:nvSpPr>
        <p:spPr>
          <a:xfrm>
            <a:off x="4713224" y="4181284"/>
            <a:ext cx="56530" cy="5812"/>
          </a:xfrm>
          <a:prstGeom prst="line">
            <a:avLst/>
          </a:prstGeom>
          <a:noFill/>
          <a:ln w="25400">
            <a:solidFill>
              <a:srgbClr val="0D7877"/>
            </a:solidFill>
            <a:prstDash val="solid"/>
          </a:ln>
        </p:spPr>
      </p:sp>
      <p:sp>
        <p:nvSpPr>
          <p:cNvPr id="127" name="Shape 125"/>
          <p:cNvSpPr/>
          <p:nvPr/>
        </p:nvSpPr>
        <p:spPr>
          <a:xfrm>
            <a:off x="4769754" y="4187096"/>
            <a:ext cx="56530" cy="5654"/>
          </a:xfrm>
          <a:prstGeom prst="line">
            <a:avLst/>
          </a:prstGeom>
          <a:noFill/>
          <a:ln w="25400">
            <a:solidFill>
              <a:srgbClr val="0D7877"/>
            </a:solidFill>
            <a:prstDash val="solid"/>
          </a:ln>
        </p:spPr>
      </p:sp>
      <p:sp>
        <p:nvSpPr>
          <p:cNvPr id="128" name="Shape 126"/>
          <p:cNvSpPr/>
          <p:nvPr/>
        </p:nvSpPr>
        <p:spPr>
          <a:xfrm>
            <a:off x="4826284" y="4192750"/>
            <a:ext cx="56530" cy="5502"/>
          </a:xfrm>
          <a:prstGeom prst="line">
            <a:avLst/>
          </a:prstGeom>
          <a:noFill/>
          <a:ln w="25400">
            <a:solidFill>
              <a:srgbClr val="0D7877"/>
            </a:solidFill>
            <a:prstDash val="solid"/>
          </a:ln>
        </p:spPr>
      </p:sp>
      <p:sp>
        <p:nvSpPr>
          <p:cNvPr id="129" name="Shape 127"/>
          <p:cNvSpPr/>
          <p:nvPr/>
        </p:nvSpPr>
        <p:spPr>
          <a:xfrm>
            <a:off x="4882815" y="4198253"/>
            <a:ext cx="56530" cy="5357"/>
          </a:xfrm>
          <a:prstGeom prst="line">
            <a:avLst/>
          </a:prstGeom>
          <a:noFill/>
          <a:ln w="25400">
            <a:solidFill>
              <a:srgbClr val="0D7877"/>
            </a:solidFill>
            <a:prstDash val="solid"/>
          </a:ln>
        </p:spPr>
      </p:sp>
      <p:sp>
        <p:nvSpPr>
          <p:cNvPr id="130" name="Shape 128"/>
          <p:cNvSpPr/>
          <p:nvPr/>
        </p:nvSpPr>
        <p:spPr>
          <a:xfrm>
            <a:off x="4939345" y="4203610"/>
            <a:ext cx="56530" cy="5218"/>
          </a:xfrm>
          <a:prstGeom prst="line">
            <a:avLst/>
          </a:prstGeom>
          <a:noFill/>
          <a:ln w="25400">
            <a:solidFill>
              <a:srgbClr val="0D7877"/>
            </a:solidFill>
            <a:prstDash val="solid"/>
          </a:ln>
        </p:spPr>
      </p:sp>
      <p:sp>
        <p:nvSpPr>
          <p:cNvPr id="131" name="Shape 129"/>
          <p:cNvSpPr/>
          <p:nvPr/>
        </p:nvSpPr>
        <p:spPr>
          <a:xfrm>
            <a:off x="4995875" y="4208829"/>
            <a:ext cx="56530" cy="5085"/>
          </a:xfrm>
          <a:prstGeom prst="line">
            <a:avLst/>
          </a:prstGeom>
          <a:noFill/>
          <a:ln w="25400">
            <a:solidFill>
              <a:srgbClr val="0D7877"/>
            </a:solidFill>
            <a:prstDash val="solid"/>
          </a:ln>
        </p:spPr>
      </p:sp>
      <p:sp>
        <p:nvSpPr>
          <p:cNvPr id="132" name="Shape 130"/>
          <p:cNvSpPr/>
          <p:nvPr/>
        </p:nvSpPr>
        <p:spPr>
          <a:xfrm>
            <a:off x="5052405" y="4213913"/>
            <a:ext cx="56530" cy="4957"/>
          </a:xfrm>
          <a:prstGeom prst="line">
            <a:avLst/>
          </a:prstGeom>
          <a:noFill/>
          <a:ln w="25400">
            <a:solidFill>
              <a:srgbClr val="0D7877"/>
            </a:solidFill>
            <a:prstDash val="solid"/>
          </a:ln>
        </p:spPr>
      </p:sp>
      <p:sp>
        <p:nvSpPr>
          <p:cNvPr id="133" name="Shape 131"/>
          <p:cNvSpPr/>
          <p:nvPr/>
        </p:nvSpPr>
        <p:spPr>
          <a:xfrm>
            <a:off x="5108936" y="4218870"/>
            <a:ext cx="56530" cy="4834"/>
          </a:xfrm>
          <a:prstGeom prst="line">
            <a:avLst/>
          </a:prstGeom>
          <a:noFill/>
          <a:ln w="25400">
            <a:solidFill>
              <a:srgbClr val="0D7877"/>
            </a:solidFill>
            <a:prstDash val="solid"/>
          </a:ln>
        </p:spPr>
      </p:sp>
      <p:sp>
        <p:nvSpPr>
          <p:cNvPr id="134" name="Shape 132"/>
          <p:cNvSpPr/>
          <p:nvPr/>
        </p:nvSpPr>
        <p:spPr>
          <a:xfrm>
            <a:off x="5165466" y="4223704"/>
            <a:ext cx="56530" cy="4716"/>
          </a:xfrm>
          <a:prstGeom prst="line">
            <a:avLst/>
          </a:prstGeom>
          <a:noFill/>
          <a:ln w="25400">
            <a:solidFill>
              <a:srgbClr val="0D7877"/>
            </a:solidFill>
            <a:prstDash val="solid"/>
          </a:ln>
        </p:spPr>
      </p:sp>
      <p:sp>
        <p:nvSpPr>
          <p:cNvPr id="135" name="Shape 133"/>
          <p:cNvSpPr/>
          <p:nvPr/>
        </p:nvSpPr>
        <p:spPr>
          <a:xfrm>
            <a:off x="5221996" y="4228420"/>
            <a:ext cx="56530" cy="4602"/>
          </a:xfrm>
          <a:prstGeom prst="line">
            <a:avLst/>
          </a:prstGeom>
          <a:noFill/>
          <a:ln w="25400">
            <a:solidFill>
              <a:srgbClr val="0D7877"/>
            </a:solidFill>
            <a:prstDash val="solid"/>
          </a:ln>
        </p:spPr>
      </p:sp>
      <p:sp>
        <p:nvSpPr>
          <p:cNvPr id="136" name="Shape 134"/>
          <p:cNvSpPr/>
          <p:nvPr/>
        </p:nvSpPr>
        <p:spPr>
          <a:xfrm>
            <a:off x="5278526" y="4233022"/>
            <a:ext cx="56530" cy="4493"/>
          </a:xfrm>
          <a:prstGeom prst="line">
            <a:avLst/>
          </a:prstGeom>
          <a:noFill/>
          <a:ln w="25400">
            <a:solidFill>
              <a:srgbClr val="0D7877"/>
            </a:solidFill>
            <a:prstDash val="solid"/>
          </a:ln>
        </p:spPr>
      </p:sp>
      <p:sp>
        <p:nvSpPr>
          <p:cNvPr id="137" name="Shape 135"/>
          <p:cNvSpPr/>
          <p:nvPr/>
        </p:nvSpPr>
        <p:spPr>
          <a:xfrm>
            <a:off x="5335057" y="4237515"/>
            <a:ext cx="56530" cy="4388"/>
          </a:xfrm>
          <a:prstGeom prst="line">
            <a:avLst/>
          </a:prstGeom>
          <a:noFill/>
          <a:ln w="25400">
            <a:solidFill>
              <a:srgbClr val="0D7877"/>
            </a:solidFill>
            <a:prstDash val="solid"/>
          </a:ln>
        </p:spPr>
      </p:sp>
      <p:sp>
        <p:nvSpPr>
          <p:cNvPr id="138" name="Shape 136"/>
          <p:cNvSpPr/>
          <p:nvPr/>
        </p:nvSpPr>
        <p:spPr>
          <a:xfrm>
            <a:off x="5391587" y="4241903"/>
            <a:ext cx="56530" cy="4287"/>
          </a:xfrm>
          <a:prstGeom prst="line">
            <a:avLst/>
          </a:prstGeom>
          <a:noFill/>
          <a:ln w="25400">
            <a:solidFill>
              <a:srgbClr val="0D7877"/>
            </a:solidFill>
            <a:prstDash val="solid"/>
          </a:ln>
        </p:spPr>
      </p:sp>
      <p:sp>
        <p:nvSpPr>
          <p:cNvPr id="139" name="Shape 137"/>
          <p:cNvSpPr/>
          <p:nvPr/>
        </p:nvSpPr>
        <p:spPr>
          <a:xfrm>
            <a:off x="5448117" y="4246190"/>
            <a:ext cx="56530" cy="4189"/>
          </a:xfrm>
          <a:prstGeom prst="line">
            <a:avLst/>
          </a:prstGeom>
          <a:noFill/>
          <a:ln w="25400">
            <a:solidFill>
              <a:srgbClr val="0D7877"/>
            </a:solidFill>
            <a:prstDash val="solid"/>
          </a:ln>
        </p:spPr>
      </p:sp>
      <p:sp>
        <p:nvSpPr>
          <p:cNvPr id="140" name="Shape 138"/>
          <p:cNvSpPr/>
          <p:nvPr/>
        </p:nvSpPr>
        <p:spPr>
          <a:xfrm>
            <a:off x="5504647" y="4250379"/>
            <a:ext cx="56530" cy="4095"/>
          </a:xfrm>
          <a:prstGeom prst="line">
            <a:avLst/>
          </a:prstGeom>
          <a:noFill/>
          <a:ln w="25400">
            <a:solidFill>
              <a:srgbClr val="0D7877"/>
            </a:solidFill>
            <a:prstDash val="solid"/>
          </a:ln>
        </p:spPr>
      </p:sp>
      <p:sp>
        <p:nvSpPr>
          <p:cNvPr id="141" name="Shape 139"/>
          <p:cNvSpPr/>
          <p:nvPr/>
        </p:nvSpPr>
        <p:spPr>
          <a:xfrm>
            <a:off x="5561178" y="4254474"/>
            <a:ext cx="56530" cy="4004"/>
          </a:xfrm>
          <a:prstGeom prst="line">
            <a:avLst/>
          </a:prstGeom>
          <a:noFill/>
          <a:ln w="25400">
            <a:solidFill>
              <a:srgbClr val="0D7877"/>
            </a:solidFill>
            <a:prstDash val="solid"/>
          </a:ln>
        </p:spPr>
      </p:sp>
      <p:sp>
        <p:nvSpPr>
          <p:cNvPr id="142" name="Shape 140"/>
          <p:cNvSpPr/>
          <p:nvPr/>
        </p:nvSpPr>
        <p:spPr>
          <a:xfrm>
            <a:off x="5617708" y="4258479"/>
            <a:ext cx="56530" cy="3917"/>
          </a:xfrm>
          <a:prstGeom prst="line">
            <a:avLst/>
          </a:prstGeom>
          <a:noFill/>
          <a:ln w="25400">
            <a:solidFill>
              <a:srgbClr val="0D7877"/>
            </a:solidFill>
            <a:prstDash val="solid"/>
          </a:ln>
        </p:spPr>
      </p:sp>
      <p:sp>
        <p:nvSpPr>
          <p:cNvPr id="143" name="Shape 141"/>
          <p:cNvSpPr/>
          <p:nvPr/>
        </p:nvSpPr>
        <p:spPr>
          <a:xfrm>
            <a:off x="5674238" y="4262395"/>
            <a:ext cx="56530" cy="3832"/>
          </a:xfrm>
          <a:prstGeom prst="line">
            <a:avLst/>
          </a:prstGeom>
          <a:noFill/>
          <a:ln w="25400">
            <a:solidFill>
              <a:srgbClr val="0D7877"/>
            </a:solidFill>
            <a:prstDash val="solid"/>
          </a:ln>
        </p:spPr>
      </p:sp>
      <p:sp>
        <p:nvSpPr>
          <p:cNvPr id="144" name="Shape 142"/>
          <p:cNvSpPr/>
          <p:nvPr/>
        </p:nvSpPr>
        <p:spPr>
          <a:xfrm>
            <a:off x="5730768" y="4266228"/>
            <a:ext cx="56530" cy="3751"/>
          </a:xfrm>
          <a:prstGeom prst="line">
            <a:avLst/>
          </a:prstGeom>
          <a:noFill/>
          <a:ln w="25400">
            <a:solidFill>
              <a:srgbClr val="0D7877"/>
            </a:solidFill>
            <a:prstDash val="solid"/>
          </a:ln>
        </p:spPr>
      </p:sp>
      <p:sp>
        <p:nvSpPr>
          <p:cNvPr id="145" name="Shape 143"/>
          <p:cNvSpPr/>
          <p:nvPr/>
        </p:nvSpPr>
        <p:spPr>
          <a:xfrm>
            <a:off x="5787299" y="4269978"/>
            <a:ext cx="56530" cy="3672"/>
          </a:xfrm>
          <a:prstGeom prst="line">
            <a:avLst/>
          </a:prstGeom>
          <a:noFill/>
          <a:ln w="25400">
            <a:solidFill>
              <a:srgbClr val="0D7877"/>
            </a:solidFill>
            <a:prstDash val="solid"/>
          </a:ln>
        </p:spPr>
      </p:sp>
      <p:sp>
        <p:nvSpPr>
          <p:cNvPr id="146" name="Shape 144"/>
          <p:cNvSpPr/>
          <p:nvPr/>
        </p:nvSpPr>
        <p:spPr>
          <a:xfrm>
            <a:off x="5843829" y="4273650"/>
            <a:ext cx="56530" cy="3596"/>
          </a:xfrm>
          <a:prstGeom prst="line">
            <a:avLst/>
          </a:prstGeom>
          <a:noFill/>
          <a:ln w="25400">
            <a:solidFill>
              <a:srgbClr val="0D7877"/>
            </a:solidFill>
            <a:prstDash val="solid"/>
          </a:ln>
        </p:spPr>
      </p:sp>
      <p:sp>
        <p:nvSpPr>
          <p:cNvPr id="147" name="Shape 145"/>
          <p:cNvSpPr/>
          <p:nvPr/>
        </p:nvSpPr>
        <p:spPr>
          <a:xfrm>
            <a:off x="5900359" y="4277246"/>
            <a:ext cx="56530" cy="3522"/>
          </a:xfrm>
          <a:prstGeom prst="line">
            <a:avLst/>
          </a:prstGeom>
          <a:noFill/>
          <a:ln w="25400">
            <a:solidFill>
              <a:srgbClr val="0D7877"/>
            </a:solidFill>
            <a:prstDash val="solid"/>
          </a:ln>
        </p:spPr>
      </p:sp>
      <p:sp>
        <p:nvSpPr>
          <p:cNvPr id="148" name="Shape 146"/>
          <p:cNvSpPr/>
          <p:nvPr/>
        </p:nvSpPr>
        <p:spPr>
          <a:xfrm>
            <a:off x="5956889" y="4280768"/>
            <a:ext cx="56530" cy="3450"/>
          </a:xfrm>
          <a:prstGeom prst="line">
            <a:avLst/>
          </a:prstGeom>
          <a:noFill/>
          <a:ln w="25400">
            <a:solidFill>
              <a:srgbClr val="0D7877"/>
            </a:solidFill>
            <a:prstDash val="solid"/>
          </a:ln>
        </p:spPr>
      </p:sp>
      <p:sp>
        <p:nvSpPr>
          <p:cNvPr id="149" name="Shape 147"/>
          <p:cNvSpPr/>
          <p:nvPr/>
        </p:nvSpPr>
        <p:spPr>
          <a:xfrm>
            <a:off x="6013420" y="4284218"/>
            <a:ext cx="56530" cy="3381"/>
          </a:xfrm>
          <a:prstGeom prst="line">
            <a:avLst/>
          </a:prstGeom>
          <a:noFill/>
          <a:ln w="25400">
            <a:solidFill>
              <a:srgbClr val="0D7877"/>
            </a:solidFill>
            <a:prstDash val="solid"/>
          </a:ln>
        </p:spPr>
      </p:sp>
      <p:sp>
        <p:nvSpPr>
          <p:cNvPr id="150" name="Shape 148"/>
          <p:cNvSpPr/>
          <p:nvPr/>
        </p:nvSpPr>
        <p:spPr>
          <a:xfrm>
            <a:off x="6069950" y="4287600"/>
            <a:ext cx="56530" cy="3315"/>
          </a:xfrm>
          <a:prstGeom prst="line">
            <a:avLst/>
          </a:prstGeom>
          <a:noFill/>
          <a:ln w="25400">
            <a:solidFill>
              <a:srgbClr val="0D7877"/>
            </a:solidFill>
            <a:prstDash val="solid"/>
          </a:ln>
        </p:spPr>
      </p:sp>
      <p:sp>
        <p:nvSpPr>
          <p:cNvPr id="151" name="Shape 149"/>
          <p:cNvSpPr/>
          <p:nvPr/>
        </p:nvSpPr>
        <p:spPr>
          <a:xfrm>
            <a:off x="1590040" y="1841863"/>
            <a:ext cx="91440" cy="91440"/>
          </a:xfrm>
          <a:prstGeom prst="line">
            <a:avLst/>
          </a:prstGeom>
          <a:noFill/>
          <a:ln w="15875">
            <a:solidFill>
              <a:srgbClr val="133536"/>
            </a:solidFill>
            <a:prstDash val="solid"/>
          </a:ln>
        </p:spPr>
      </p:sp>
      <p:sp>
        <p:nvSpPr>
          <p:cNvPr id="152" name="Shape 150"/>
          <p:cNvSpPr/>
          <p:nvPr/>
        </p:nvSpPr>
        <p:spPr>
          <a:xfrm flipV="1">
            <a:off x="1590040" y="1841863"/>
            <a:ext cx="91440" cy="91440"/>
          </a:xfrm>
          <a:prstGeom prst="line">
            <a:avLst/>
          </a:prstGeom>
          <a:noFill/>
          <a:ln w="15875">
            <a:solidFill>
              <a:srgbClr val="133536"/>
            </a:solidFill>
            <a:prstDash val="solid"/>
          </a:ln>
        </p:spPr>
      </p:sp>
      <p:sp>
        <p:nvSpPr>
          <p:cNvPr id="153" name="Shape 151"/>
          <p:cNvSpPr/>
          <p:nvPr/>
        </p:nvSpPr>
        <p:spPr>
          <a:xfrm>
            <a:off x="1854200" y="2876441"/>
            <a:ext cx="91440" cy="91440"/>
          </a:xfrm>
          <a:prstGeom prst="line">
            <a:avLst/>
          </a:prstGeom>
          <a:noFill/>
          <a:ln w="15875">
            <a:solidFill>
              <a:srgbClr val="133536"/>
            </a:solidFill>
            <a:prstDash val="solid"/>
          </a:ln>
        </p:spPr>
      </p:sp>
      <p:sp>
        <p:nvSpPr>
          <p:cNvPr id="154" name="Shape 152"/>
          <p:cNvSpPr/>
          <p:nvPr/>
        </p:nvSpPr>
        <p:spPr>
          <a:xfrm flipV="1">
            <a:off x="1854200" y="2876441"/>
            <a:ext cx="91440" cy="91440"/>
          </a:xfrm>
          <a:prstGeom prst="line">
            <a:avLst/>
          </a:prstGeom>
          <a:noFill/>
          <a:ln w="15875">
            <a:solidFill>
              <a:srgbClr val="133536"/>
            </a:solidFill>
            <a:prstDash val="solid"/>
          </a:ln>
        </p:spPr>
      </p:sp>
      <p:sp>
        <p:nvSpPr>
          <p:cNvPr id="155" name="Shape 153"/>
          <p:cNvSpPr/>
          <p:nvPr/>
        </p:nvSpPr>
        <p:spPr>
          <a:xfrm>
            <a:off x="2382520" y="3534809"/>
            <a:ext cx="91440" cy="91440"/>
          </a:xfrm>
          <a:prstGeom prst="line">
            <a:avLst/>
          </a:prstGeom>
          <a:noFill/>
          <a:ln w="15875">
            <a:solidFill>
              <a:srgbClr val="133536"/>
            </a:solidFill>
            <a:prstDash val="solid"/>
          </a:ln>
        </p:spPr>
      </p:sp>
      <p:sp>
        <p:nvSpPr>
          <p:cNvPr id="156" name="Shape 154"/>
          <p:cNvSpPr/>
          <p:nvPr/>
        </p:nvSpPr>
        <p:spPr>
          <a:xfrm flipV="1">
            <a:off x="2382520" y="3534809"/>
            <a:ext cx="91440" cy="91440"/>
          </a:xfrm>
          <a:prstGeom prst="line">
            <a:avLst/>
          </a:prstGeom>
          <a:noFill/>
          <a:ln w="15875">
            <a:solidFill>
              <a:srgbClr val="133536"/>
            </a:solidFill>
            <a:prstDash val="solid"/>
          </a:ln>
        </p:spPr>
      </p:sp>
      <p:sp>
        <p:nvSpPr>
          <p:cNvPr id="157" name="Shape 155"/>
          <p:cNvSpPr/>
          <p:nvPr/>
        </p:nvSpPr>
        <p:spPr>
          <a:xfrm>
            <a:off x="3439160" y="3958046"/>
            <a:ext cx="91440" cy="91440"/>
          </a:xfrm>
          <a:prstGeom prst="line">
            <a:avLst/>
          </a:prstGeom>
          <a:noFill/>
          <a:ln w="15875">
            <a:solidFill>
              <a:srgbClr val="133536"/>
            </a:solidFill>
            <a:prstDash val="solid"/>
          </a:ln>
        </p:spPr>
      </p:sp>
      <p:sp>
        <p:nvSpPr>
          <p:cNvPr id="158" name="Shape 156"/>
          <p:cNvSpPr/>
          <p:nvPr/>
        </p:nvSpPr>
        <p:spPr>
          <a:xfrm flipV="1">
            <a:off x="3439160" y="3958046"/>
            <a:ext cx="91440" cy="91440"/>
          </a:xfrm>
          <a:prstGeom prst="line">
            <a:avLst/>
          </a:prstGeom>
          <a:noFill/>
          <a:ln w="15875">
            <a:solidFill>
              <a:srgbClr val="133536"/>
            </a:solidFill>
            <a:prstDash val="solid"/>
          </a:ln>
        </p:spPr>
      </p:sp>
      <p:sp>
        <p:nvSpPr>
          <p:cNvPr id="159" name="Shape 157"/>
          <p:cNvSpPr/>
          <p:nvPr/>
        </p:nvSpPr>
        <p:spPr>
          <a:xfrm>
            <a:off x="5552440" y="4211988"/>
            <a:ext cx="91440" cy="91440"/>
          </a:xfrm>
          <a:prstGeom prst="line">
            <a:avLst/>
          </a:prstGeom>
          <a:noFill/>
          <a:ln w="15875">
            <a:solidFill>
              <a:srgbClr val="133536"/>
            </a:solidFill>
            <a:prstDash val="solid"/>
          </a:ln>
        </p:spPr>
      </p:sp>
      <p:sp>
        <p:nvSpPr>
          <p:cNvPr id="160" name="Shape 158"/>
          <p:cNvSpPr/>
          <p:nvPr/>
        </p:nvSpPr>
        <p:spPr>
          <a:xfrm flipV="1">
            <a:off x="5552440" y="4211988"/>
            <a:ext cx="91440" cy="91440"/>
          </a:xfrm>
          <a:prstGeom prst="line">
            <a:avLst/>
          </a:prstGeom>
          <a:noFill/>
          <a:ln w="15875">
            <a:solidFill>
              <a:srgbClr val="133536"/>
            </a:solidFill>
            <a:prstDash val="solid"/>
          </a:ln>
        </p:spPr>
      </p:sp>
      <p:sp>
        <p:nvSpPr>
          <p:cNvPr id="161" name="Shape 159"/>
          <p:cNvSpPr/>
          <p:nvPr/>
        </p:nvSpPr>
        <p:spPr>
          <a:xfrm>
            <a:off x="1371600" y="3815661"/>
            <a:ext cx="1505396" cy="91"/>
          </a:xfrm>
          <a:prstGeom prst="line">
            <a:avLst/>
          </a:prstGeom>
          <a:noFill/>
          <a:ln w="19050">
            <a:solidFill>
              <a:srgbClr val="C8414C"/>
            </a:solidFill>
            <a:prstDash val="dash"/>
          </a:ln>
        </p:spPr>
      </p:sp>
      <p:sp>
        <p:nvSpPr>
          <p:cNvPr id="162" name="Shape 160"/>
          <p:cNvSpPr/>
          <p:nvPr/>
        </p:nvSpPr>
        <p:spPr>
          <a:xfrm>
            <a:off x="2876996" y="3815661"/>
            <a:ext cx="91" cy="893499"/>
          </a:xfrm>
          <a:prstGeom prst="line">
            <a:avLst/>
          </a:prstGeom>
          <a:noFill/>
          <a:ln w="19050">
            <a:solidFill>
              <a:srgbClr val="C8414C"/>
            </a:solidFill>
            <a:prstDash val="dash"/>
            <a:tailEnd type="triangle"/>
          </a:ln>
        </p:spPr>
      </p:sp>
      <p:sp>
        <p:nvSpPr>
          <p:cNvPr id="163" name="Text 161"/>
          <p:cNvSpPr/>
          <p:nvPr/>
        </p:nvSpPr>
        <p:spPr>
          <a:xfrm>
            <a:off x="2922716" y="3541341"/>
            <a:ext cx="2103120" cy="237744"/>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Y: 95 s → about 1.4 g</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102352" cy="914400"/>
        </p:xfrm>
        <a:graphic>
          <a:graphicData uri="http://schemas.openxmlformats.org/drawingml/2006/table">
            <a:tbl>
              <a:tblPr/>
              <a:tblGrid>
                <a:gridCol w="1627632"/>
                <a:gridCol w="868680"/>
                <a:gridCol w="868680"/>
                <a:gridCol w="868680"/>
                <a:gridCol w="868680"/>
              </a:tblGrid>
              <a:tr h="26517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Glucose / g per 100 cm³</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Time 1 / 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Time 2 / 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Time 3 / 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Mean / 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65176">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0.25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296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305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299</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300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65176">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186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194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65176">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65176">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65176">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bl>
          </a:graphicData>
        </a:graphic>
      </p:graphicFrame>
      <p:sp>
        <p:nvSpPr>
          <p:cNvPr id="165" name="Text 162"/>
          <p:cNvSpPr/>
          <p:nvPr/>
        </p:nvSpPr>
        <p:spPr>
          <a:xfrm>
            <a:off x="6675120" y="2816352"/>
            <a:ext cx="5102352"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Unknowns: X stayed </a:t>
            </a:r>
            <a:r>
              <a:rPr lang="en-US" sz="1050" b="1" dirty="0">
                <a:solidFill>
                  <a:srgbClr val="262B3A"/>
                </a:solidFill>
                <a:latin typeface="Calibri" pitchFamily="34" charset="0"/>
                <a:ea typeface="Calibri" pitchFamily="34" charset="-122"/>
                <a:cs typeface="Calibri" pitchFamily="34" charset="-120"/>
              </a:rPr>
              <a:t>blue</a:t>
            </a:r>
            <a:r>
              <a:rPr lang="en-US" sz="1050" dirty="0">
                <a:solidFill>
                  <a:srgbClr val="262B3A"/>
                </a:solidFill>
                <a:latin typeface="Calibri" pitchFamily="34" charset="0"/>
                <a:ea typeface="Calibri" pitchFamily="34" charset="-122"/>
                <a:cs typeface="Calibri" pitchFamily="34" charset="-120"/>
              </a:rPr>
              <a:t> after 5 min; Y took </a:t>
            </a:r>
            <a:r>
              <a:rPr lang="en-US" sz="1050" b="1" dirty="0">
                <a:solidFill>
                  <a:srgbClr val="262B3A"/>
                </a:solidFill>
                <a:latin typeface="Calibri" pitchFamily="34" charset="0"/>
                <a:ea typeface="Calibri" pitchFamily="34" charset="-122"/>
                <a:cs typeface="Calibri" pitchFamily="34" charset="-120"/>
              </a:rPr>
              <a:t>95 s</a:t>
            </a:r>
            <a:r>
              <a:rPr lang="en-US" sz="1050" dirty="0">
                <a:solidFill>
                  <a:srgbClr val="262B3A"/>
                </a:solidFill>
                <a:latin typeface="Calibri" pitchFamily="34" charset="0"/>
                <a:ea typeface="Calibri" pitchFamily="34" charset="-122"/>
                <a:cs typeface="Calibri" pitchFamily="34" charset="-120"/>
              </a:rPr>
              <a:t>; Z took </a:t>
            </a:r>
            <a:r>
              <a:rPr lang="en-US" sz="1050" b="1" dirty="0">
                <a:solidFill>
                  <a:srgbClr val="262B3A"/>
                </a:solidFill>
                <a:latin typeface="Calibri" pitchFamily="34" charset="0"/>
                <a:ea typeface="Calibri" pitchFamily="34" charset="-122"/>
                <a:cs typeface="Calibri" pitchFamily="34" charset="-120"/>
              </a:rPr>
              <a:t>45 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166" name="Shape 163"/>
          <p:cNvSpPr/>
          <p:nvPr/>
        </p:nvSpPr>
        <p:spPr>
          <a:xfrm>
            <a:off x="6675120" y="3154680"/>
            <a:ext cx="5102352" cy="1325880"/>
          </a:xfrm>
          <a:prstGeom prst="roundRect">
            <a:avLst>
              <a:gd name="adj" fmla="val 4138"/>
            </a:avLst>
          </a:prstGeom>
          <a:solidFill>
            <a:srgbClr val="FFF4E0"/>
          </a:solidFill>
          <a:ln w="9525">
            <a:solidFill>
              <a:srgbClr val="F1D9A8"/>
            </a:solidFill>
            <a:prstDash val="solid"/>
          </a:ln>
        </p:spPr>
      </p:sp>
      <p:sp>
        <p:nvSpPr>
          <p:cNvPr id="167" name="Text 164"/>
          <p:cNvSpPr/>
          <p:nvPr/>
        </p:nvSpPr>
        <p:spPr>
          <a:xfrm>
            <a:off x="6839712" y="322783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mean for 0.25 g</a:t>
            </a:r>
            <a:endParaRPr lang="en-US" sz="1300" dirty="0"/>
          </a:p>
        </p:txBody>
      </p:sp>
      <p:sp>
        <p:nvSpPr>
          <p:cNvPr id="168" name="Text 165"/>
          <p:cNvSpPr/>
          <p:nvPr/>
        </p:nvSpPr>
        <p:spPr>
          <a:xfrm>
            <a:off x="6839712" y="3538728"/>
            <a:ext cx="4773168" cy="868680"/>
          </a:xfrm>
          <a:prstGeom prst="rect">
            <a:avLst/>
          </a:prstGeom>
          <a:noFill/>
          <a:ln/>
        </p:spPr>
        <p:txBody>
          <a:bodyPr wrap="square" lIns="0" tIns="0" rIns="0" bIns="0" rtlCol="0" anchor="t"/>
          <a:lstStyle/>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Add   </a:t>
            </a:r>
            <a:r>
              <a:rPr lang="en-US" sz="1050" dirty="0">
                <a:solidFill>
                  <a:srgbClr val="262B3A"/>
                </a:solidFill>
                <a:latin typeface="Calibri" pitchFamily="34" charset="0"/>
                <a:ea typeface="Calibri" pitchFamily="34" charset="-122"/>
                <a:cs typeface="Calibri" pitchFamily="34" charset="-120"/>
              </a:rPr>
              <a:t>296 + 305 + 299 = 900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900 ÷ 3 = </a:t>
            </a:r>
            <a:r>
              <a:rPr lang="en-US" sz="1050" b="1" dirty="0">
                <a:solidFill>
                  <a:srgbClr val="C8414C"/>
                </a:solidFill>
                <a:latin typeface="Calibri" pitchFamily="34" charset="0"/>
                <a:ea typeface="Calibri" pitchFamily="34" charset="-122"/>
                <a:cs typeface="Calibri" pitchFamily="34" charset="-120"/>
              </a:rPr>
              <a:t>300 s</a:t>
            </a:r>
            <a:r>
              <a:rPr lang="en-US" sz="1050" b="1" dirty="0">
                <a:solidFill>
                  <a:srgbClr val="C8414C"/>
                </a:solidFill>
                <a:latin typeface="Calibri" pitchFamily="34" charset="0"/>
                <a:ea typeface="Calibri" pitchFamily="34" charset="-122"/>
                <a:cs typeface="Calibri" pitchFamily="34" charset="-120"/>
              </a:rPr>
              <a:t> (range 305 − 296 = 9 s)</a:t>
            </a:r>
            <a:endParaRPr lang="en-US" sz="1050" dirty="0"/>
          </a:p>
        </p:txBody>
      </p:sp>
      <p:sp>
        <p:nvSpPr>
          <p:cNvPr id="169" name="Shape 166"/>
          <p:cNvSpPr/>
          <p:nvPr/>
        </p:nvSpPr>
        <p:spPr>
          <a:xfrm>
            <a:off x="6675120" y="4572000"/>
            <a:ext cx="5102352" cy="1143000"/>
          </a:xfrm>
          <a:prstGeom prst="roundRect">
            <a:avLst>
              <a:gd name="adj" fmla="val 4800"/>
            </a:avLst>
          </a:prstGeom>
          <a:solidFill>
            <a:srgbClr val="F4FAF9"/>
          </a:solidFill>
          <a:ln w="9525">
            <a:solidFill>
              <a:srgbClr val="CFE0DE"/>
            </a:solidFill>
            <a:prstDash val="solid"/>
          </a:ln>
        </p:spPr>
      </p:sp>
      <p:sp>
        <p:nvSpPr>
          <p:cNvPr id="170" name="Text 167"/>
          <p:cNvSpPr/>
          <p:nvPr/>
        </p:nvSpPr>
        <p:spPr>
          <a:xfrm>
            <a:off x="6839712" y="466344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Sources of error and improvements</a:t>
            </a:r>
            <a:endParaRPr lang="en-US" sz="1300" dirty="0"/>
          </a:p>
        </p:txBody>
      </p:sp>
      <p:sp>
        <p:nvSpPr>
          <p:cNvPr id="171" name="Text 168"/>
          <p:cNvSpPr/>
          <p:nvPr/>
        </p:nvSpPr>
        <p:spPr>
          <a:xfrm>
            <a:off x="6839712" y="4992624"/>
            <a:ext cx="4773168" cy="6492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Judging "first green" by eye is </a:t>
            </a:r>
            <a:r>
              <a:rPr lang="en-US" sz="1050" b="1" dirty="0">
                <a:solidFill>
                  <a:srgbClr val="262B3A"/>
                </a:solidFill>
                <a:latin typeface="Calibri" pitchFamily="34" charset="0"/>
                <a:ea typeface="Calibri" pitchFamily="34" charset="-122"/>
                <a:cs typeface="Calibri" pitchFamily="34" charset="-120"/>
              </a:rPr>
              <a:t>subjective</a:t>
            </a:r>
            <a:r>
              <a:rPr lang="en-US" sz="1050" dirty="0">
                <a:solidFill>
                  <a:srgbClr val="262B3A"/>
                </a:solidFill>
                <a:latin typeface="Calibri" pitchFamily="34" charset="0"/>
                <a:ea typeface="Calibri" pitchFamily="34" charset="-122"/>
                <a:cs typeface="Calibri" pitchFamily="34" charset="-120"/>
              </a:rPr>
              <a:t> → use a colour card, or a </a:t>
            </a:r>
            <a:r>
              <a:rPr lang="en-US" sz="1050" b="1" dirty="0">
                <a:solidFill>
                  <a:srgbClr val="262B3A"/>
                </a:solidFill>
                <a:latin typeface="Calibri" pitchFamily="34" charset="0"/>
                <a:ea typeface="Calibri" pitchFamily="34" charset="-122"/>
                <a:cs typeface="Calibri" pitchFamily="34" charset="-120"/>
              </a:rPr>
              <a:t>colorimeter</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Tubes heat at different rates → pre-warm tubes; same tube size.</a:t>
            </a:r>
            <a:endParaRPr lang="en-US" sz="1050" dirty="0"/>
          </a:p>
        </p:txBody>
      </p:sp>
      <p:sp>
        <p:nvSpPr>
          <p:cNvPr id="172" name="Shape 169"/>
          <p:cNvSpPr/>
          <p:nvPr/>
        </p:nvSpPr>
        <p:spPr>
          <a:xfrm>
            <a:off x="411480" y="5833872"/>
            <a:ext cx="11368735" cy="530352"/>
          </a:xfrm>
          <a:prstGeom prst="rect">
            <a:avLst/>
          </a:prstGeom>
          <a:solidFill>
            <a:srgbClr val="FFF4E0"/>
          </a:solidFill>
          <a:ln w="6350">
            <a:solidFill>
              <a:srgbClr val="F1D9A8"/>
            </a:solidFill>
            <a:prstDash val="solid"/>
          </a:ln>
        </p:spPr>
      </p:sp>
      <p:sp>
        <p:nvSpPr>
          <p:cNvPr id="173" name="Shape 170"/>
          <p:cNvSpPr/>
          <p:nvPr/>
        </p:nvSpPr>
        <p:spPr>
          <a:xfrm>
            <a:off x="411480" y="5833872"/>
            <a:ext cx="82296" cy="530352"/>
          </a:xfrm>
          <a:prstGeom prst="rect">
            <a:avLst/>
          </a:prstGeom>
          <a:solidFill>
            <a:srgbClr val="E39A2F"/>
          </a:solidFill>
          <a:ln w="12700">
            <a:solidFill>
              <a:srgbClr val="E39A2F"/>
            </a:solidFill>
            <a:prstDash val="solid"/>
          </a:ln>
        </p:spPr>
      </p:sp>
      <p:sp>
        <p:nvSpPr>
          <p:cNvPr id="174" name="Text 17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unknown sample is most likely from a person with </a:t>
            </a:r>
            <a:r>
              <a:rPr lang="en-US" sz="1150" b="1" dirty="0">
                <a:solidFill>
                  <a:srgbClr val="262B3A"/>
                </a:solidFill>
                <a:latin typeface="Calibri" pitchFamily="34" charset="0"/>
                <a:ea typeface="Calibri" pitchFamily="34" charset="-122"/>
                <a:cs typeface="Calibri" pitchFamily="34" charset="-120"/>
              </a:rPr>
              <a:t>untreated diabetes</a:t>
            </a:r>
            <a:r>
              <a:rPr lang="en-US" sz="1150" dirty="0">
                <a:solidFill>
                  <a:srgbClr val="262B3A"/>
                </a:solidFill>
                <a:latin typeface="Calibri" pitchFamily="34" charset="0"/>
                <a:ea typeface="Calibri" pitchFamily="34" charset="-122"/>
                <a:cs typeface="Calibri" pitchFamily="34" charset="-120"/>
              </a:rPr>
              <a:t>? Explain using the graph. Why could Z not be read accurately?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diabetes data and the glucose activity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19</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a glucose tolerance test, person C's glucose rose from </a:t>
            </a:r>
            <a:r>
              <a:rPr lang="en-US" sz="1250" b="1" dirty="0">
                <a:solidFill>
                  <a:srgbClr val="262B3A"/>
                </a:solidFill>
                <a:latin typeface="Calibri" pitchFamily="34" charset="0"/>
                <a:ea typeface="Calibri" pitchFamily="34" charset="-122"/>
                <a:cs typeface="Calibri" pitchFamily="34" charset="-120"/>
              </a:rPr>
              <a:t>4.5</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9.0 mmol/L</a:t>
            </a:r>
            <a:r>
              <a:rPr lang="en-US" sz="1250" dirty="0">
                <a:solidFill>
                  <a:srgbClr val="262B3A"/>
                </a:solidFill>
                <a:latin typeface="Calibri" pitchFamily="34" charset="0"/>
                <a:ea typeface="Calibri" pitchFamily="34" charset="-122"/>
                <a:cs typeface="Calibri" pitchFamily="34" charset="-120"/>
              </a:rPr>
              <a:t>. Calculate the percentage increase.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Person D's glucose was </a:t>
            </a:r>
            <a:r>
              <a:rPr lang="en-US" sz="1250" b="1" dirty="0">
                <a:solidFill>
                  <a:srgbClr val="262B3A"/>
                </a:solidFill>
                <a:latin typeface="Calibri" pitchFamily="34" charset="0"/>
                <a:ea typeface="Calibri" pitchFamily="34" charset="-122"/>
                <a:cs typeface="Calibri" pitchFamily="34" charset="-120"/>
              </a:rPr>
              <a:t>12.4 mmol/L</a:t>
            </a:r>
            <a:r>
              <a:rPr lang="en-US" sz="1250" dirty="0">
                <a:solidFill>
                  <a:srgbClr val="262B3A"/>
                </a:solidFill>
                <a:latin typeface="Calibri" pitchFamily="34" charset="0"/>
                <a:ea typeface="Calibri" pitchFamily="34" charset="-122"/>
                <a:cs typeface="Calibri" pitchFamily="34" charset="-120"/>
              </a:rPr>
              <a:t> two hours after the glucose drink. What does this suggest? Explain.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Benedict's activity, name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a:t>
            </a:r>
            <a:r>
              <a:rPr lang="en-US" sz="1250" b="1" dirty="0">
                <a:solidFill>
                  <a:srgbClr val="262B3A"/>
                </a:solidFill>
                <a:latin typeface="Calibri" pitchFamily="34" charset="0"/>
                <a:ea typeface="Calibri" pitchFamily="34" charset="-122"/>
                <a:cs typeface="Calibri" pitchFamily="34" charset="-120"/>
              </a:rPr>
              <a:t>calibration graph</a:t>
            </a:r>
            <a:r>
              <a:rPr lang="en-US" sz="1250" dirty="0">
                <a:solidFill>
                  <a:srgbClr val="262B3A"/>
                </a:solidFill>
                <a:latin typeface="Calibri" pitchFamily="34" charset="0"/>
                <a:ea typeface="Calibri" pitchFamily="34" charset="-122"/>
                <a:cs typeface="Calibri" pitchFamily="34" charset="-120"/>
              </a:rPr>
              <a:t> made from standards is needed to find the glucose concentration of an unknown sample.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When the control system stops working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B5.6.3 • putting it together: too high and too low</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B5.6.3  |  20</a:t>
            </a:r>
            <a:endParaRPr lang="en-US" sz="1000" dirty="0"/>
          </a:p>
        </p:txBody>
      </p:sp>
      <p:sp>
        <p:nvSpPr>
          <p:cNvPr id="8" name="Shape 6"/>
          <p:cNvSpPr/>
          <p:nvPr/>
        </p:nvSpPr>
        <p:spPr>
          <a:xfrm>
            <a:off x="411480" y="1188720"/>
            <a:ext cx="11365992" cy="2057400"/>
          </a:xfrm>
          <a:prstGeom prst="roundRect">
            <a:avLst>
              <a:gd name="adj" fmla="val 3556"/>
            </a:avLst>
          </a:prstGeom>
          <a:solidFill>
            <a:srgbClr val="EEF5F4"/>
          </a:solidFill>
          <a:ln w="9525">
            <a:solidFill>
              <a:srgbClr val="D2E3E1"/>
            </a:solidFill>
            <a:prstDash val="solid"/>
          </a:ln>
        </p:spPr>
      </p:sp>
      <p:sp>
        <p:nvSpPr>
          <p:cNvPr id="9" name="Text 7"/>
          <p:cNvSpPr/>
          <p:nvPr/>
        </p:nvSpPr>
        <p:spPr>
          <a:xfrm>
            <a:off x="548640" y="2935224"/>
            <a:ext cx="11091672"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blood glucose scale drawn to scale, 0–20 mmol/L</a:t>
            </a:r>
            <a:endParaRPr lang="en-US" sz="1000" dirty="0"/>
          </a:p>
        </p:txBody>
      </p:sp>
      <p:sp>
        <p:nvSpPr>
          <p:cNvPr id="10" name="Shape 8"/>
          <p:cNvSpPr/>
          <p:nvPr/>
        </p:nvSpPr>
        <p:spPr>
          <a:xfrm>
            <a:off x="914400" y="1828800"/>
            <a:ext cx="2066544" cy="502920"/>
          </a:xfrm>
          <a:prstGeom prst="rect">
            <a:avLst/>
          </a:prstGeom>
          <a:solidFill>
            <a:srgbClr val="7FB3E8"/>
          </a:solidFill>
          <a:ln/>
        </p:spPr>
      </p:sp>
      <p:sp>
        <p:nvSpPr>
          <p:cNvPr id="11" name="Text 9"/>
          <p:cNvSpPr/>
          <p:nvPr/>
        </p:nvSpPr>
        <p:spPr>
          <a:xfrm>
            <a:off x="914400" y="1828800"/>
            <a:ext cx="2066544" cy="5029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too low (hypoglycaemia): below 4</a:t>
            </a:r>
            <a:endParaRPr lang="en-US" sz="1050" dirty="0"/>
          </a:p>
        </p:txBody>
      </p:sp>
      <p:sp>
        <p:nvSpPr>
          <p:cNvPr id="12" name="Shape 10"/>
          <p:cNvSpPr/>
          <p:nvPr/>
        </p:nvSpPr>
        <p:spPr>
          <a:xfrm>
            <a:off x="2980944" y="1828800"/>
            <a:ext cx="1549908" cy="502920"/>
          </a:xfrm>
          <a:prstGeom prst="rect">
            <a:avLst/>
          </a:prstGeom>
          <a:solidFill>
            <a:srgbClr val="8FD19E"/>
          </a:solidFill>
          <a:ln/>
        </p:spPr>
      </p:sp>
      <p:sp>
        <p:nvSpPr>
          <p:cNvPr id="13" name="Text 11"/>
          <p:cNvSpPr/>
          <p:nvPr/>
        </p:nvSpPr>
        <p:spPr>
          <a:xfrm>
            <a:off x="2980944" y="1828800"/>
            <a:ext cx="1549908" cy="5029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normal 4–7</a:t>
            </a:r>
            <a:endParaRPr lang="en-US" sz="1050" dirty="0"/>
          </a:p>
        </p:txBody>
      </p:sp>
      <p:sp>
        <p:nvSpPr>
          <p:cNvPr id="14" name="Shape 12"/>
          <p:cNvSpPr/>
          <p:nvPr/>
        </p:nvSpPr>
        <p:spPr>
          <a:xfrm>
            <a:off x="4530852" y="1828800"/>
            <a:ext cx="2118208" cy="502920"/>
          </a:xfrm>
          <a:prstGeom prst="rect">
            <a:avLst/>
          </a:prstGeom>
          <a:solidFill>
            <a:srgbClr val="F5D58A"/>
          </a:solidFill>
          <a:ln/>
        </p:spPr>
      </p:sp>
      <p:sp>
        <p:nvSpPr>
          <p:cNvPr id="15" name="Text 13"/>
          <p:cNvSpPr/>
          <p:nvPr/>
        </p:nvSpPr>
        <p:spPr>
          <a:xfrm>
            <a:off x="4530852" y="1828800"/>
            <a:ext cx="2118208" cy="5029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raised</a:t>
            </a:r>
            <a:endParaRPr lang="en-US" sz="1050" dirty="0"/>
          </a:p>
        </p:txBody>
      </p:sp>
      <p:sp>
        <p:nvSpPr>
          <p:cNvPr id="16" name="Shape 14"/>
          <p:cNvSpPr/>
          <p:nvPr/>
        </p:nvSpPr>
        <p:spPr>
          <a:xfrm>
            <a:off x="6649060" y="1828800"/>
            <a:ext cx="4598060" cy="502920"/>
          </a:xfrm>
          <a:prstGeom prst="rect">
            <a:avLst/>
          </a:prstGeom>
          <a:solidFill>
            <a:srgbClr val="EE8A8F"/>
          </a:solidFill>
          <a:ln/>
        </p:spPr>
      </p:sp>
      <p:sp>
        <p:nvSpPr>
          <p:cNvPr id="17" name="Text 15"/>
          <p:cNvSpPr/>
          <p:nvPr/>
        </p:nvSpPr>
        <p:spPr>
          <a:xfrm>
            <a:off x="6649060" y="1828800"/>
            <a:ext cx="4598060" cy="5029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too high (hyperglycaemia)</a:t>
            </a:r>
            <a:endParaRPr lang="en-US" sz="1050" dirty="0"/>
          </a:p>
        </p:txBody>
      </p:sp>
      <p:sp>
        <p:nvSpPr>
          <p:cNvPr id="18" name="Shape 16"/>
          <p:cNvSpPr/>
          <p:nvPr/>
        </p:nvSpPr>
        <p:spPr>
          <a:xfrm>
            <a:off x="914400" y="2331720"/>
            <a:ext cx="10332720" cy="91"/>
          </a:xfrm>
          <a:prstGeom prst="line">
            <a:avLst/>
          </a:prstGeom>
          <a:noFill/>
          <a:ln w="19050">
            <a:solidFill>
              <a:srgbClr val="133536"/>
            </a:solidFill>
            <a:prstDash val="solid"/>
          </a:ln>
        </p:spPr>
      </p:sp>
      <p:sp>
        <p:nvSpPr>
          <p:cNvPr id="19" name="Shape 17"/>
          <p:cNvSpPr/>
          <p:nvPr/>
        </p:nvSpPr>
        <p:spPr>
          <a:xfrm>
            <a:off x="914400" y="2331720"/>
            <a:ext cx="91" cy="91440"/>
          </a:xfrm>
          <a:prstGeom prst="line">
            <a:avLst/>
          </a:prstGeom>
          <a:noFill/>
          <a:ln w="12700">
            <a:solidFill>
              <a:srgbClr val="133536"/>
            </a:solidFill>
            <a:prstDash val="solid"/>
          </a:ln>
        </p:spPr>
      </p:sp>
      <p:sp>
        <p:nvSpPr>
          <p:cNvPr id="20" name="Text 18"/>
          <p:cNvSpPr/>
          <p:nvPr/>
        </p:nvSpPr>
        <p:spPr>
          <a:xfrm>
            <a:off x="640080"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1" name="Shape 19"/>
          <p:cNvSpPr/>
          <p:nvPr/>
        </p:nvSpPr>
        <p:spPr>
          <a:xfrm>
            <a:off x="1947672" y="2331720"/>
            <a:ext cx="91" cy="91440"/>
          </a:xfrm>
          <a:prstGeom prst="line">
            <a:avLst/>
          </a:prstGeom>
          <a:noFill/>
          <a:ln w="12700">
            <a:solidFill>
              <a:srgbClr val="133536"/>
            </a:solidFill>
            <a:prstDash val="solid"/>
          </a:ln>
        </p:spPr>
      </p:sp>
      <p:sp>
        <p:nvSpPr>
          <p:cNvPr id="22" name="Text 20"/>
          <p:cNvSpPr/>
          <p:nvPr/>
        </p:nvSpPr>
        <p:spPr>
          <a:xfrm>
            <a:off x="1673352"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23" name="Shape 21"/>
          <p:cNvSpPr/>
          <p:nvPr/>
        </p:nvSpPr>
        <p:spPr>
          <a:xfrm>
            <a:off x="2980944" y="2331720"/>
            <a:ext cx="91" cy="91440"/>
          </a:xfrm>
          <a:prstGeom prst="line">
            <a:avLst/>
          </a:prstGeom>
          <a:noFill/>
          <a:ln w="12700">
            <a:solidFill>
              <a:srgbClr val="133536"/>
            </a:solidFill>
            <a:prstDash val="solid"/>
          </a:ln>
        </p:spPr>
      </p:sp>
      <p:sp>
        <p:nvSpPr>
          <p:cNvPr id="24" name="Text 22"/>
          <p:cNvSpPr/>
          <p:nvPr/>
        </p:nvSpPr>
        <p:spPr>
          <a:xfrm>
            <a:off x="2706624"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25" name="Shape 23"/>
          <p:cNvSpPr/>
          <p:nvPr/>
        </p:nvSpPr>
        <p:spPr>
          <a:xfrm>
            <a:off x="4014216" y="2331720"/>
            <a:ext cx="91" cy="91440"/>
          </a:xfrm>
          <a:prstGeom prst="line">
            <a:avLst/>
          </a:prstGeom>
          <a:noFill/>
          <a:ln w="12700">
            <a:solidFill>
              <a:srgbClr val="133536"/>
            </a:solidFill>
            <a:prstDash val="solid"/>
          </a:ln>
        </p:spPr>
      </p:sp>
      <p:sp>
        <p:nvSpPr>
          <p:cNvPr id="26" name="Text 24"/>
          <p:cNvSpPr/>
          <p:nvPr/>
        </p:nvSpPr>
        <p:spPr>
          <a:xfrm>
            <a:off x="3739896"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27" name="Shape 25"/>
          <p:cNvSpPr/>
          <p:nvPr/>
        </p:nvSpPr>
        <p:spPr>
          <a:xfrm>
            <a:off x="5047488" y="2331720"/>
            <a:ext cx="91" cy="91440"/>
          </a:xfrm>
          <a:prstGeom prst="line">
            <a:avLst/>
          </a:prstGeom>
          <a:noFill/>
          <a:ln w="12700">
            <a:solidFill>
              <a:srgbClr val="133536"/>
            </a:solidFill>
            <a:prstDash val="solid"/>
          </a:ln>
        </p:spPr>
      </p:sp>
      <p:sp>
        <p:nvSpPr>
          <p:cNvPr id="28" name="Text 26"/>
          <p:cNvSpPr/>
          <p:nvPr/>
        </p:nvSpPr>
        <p:spPr>
          <a:xfrm>
            <a:off x="4773168"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29" name="Shape 27"/>
          <p:cNvSpPr/>
          <p:nvPr/>
        </p:nvSpPr>
        <p:spPr>
          <a:xfrm>
            <a:off x="6080760" y="2331720"/>
            <a:ext cx="91" cy="91440"/>
          </a:xfrm>
          <a:prstGeom prst="line">
            <a:avLst/>
          </a:prstGeom>
          <a:noFill/>
          <a:ln w="12700">
            <a:solidFill>
              <a:srgbClr val="133536"/>
            </a:solidFill>
            <a:prstDash val="solid"/>
          </a:ln>
        </p:spPr>
      </p:sp>
      <p:sp>
        <p:nvSpPr>
          <p:cNvPr id="30" name="Text 28"/>
          <p:cNvSpPr/>
          <p:nvPr/>
        </p:nvSpPr>
        <p:spPr>
          <a:xfrm>
            <a:off x="5806440"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1" name="Shape 29"/>
          <p:cNvSpPr/>
          <p:nvPr/>
        </p:nvSpPr>
        <p:spPr>
          <a:xfrm>
            <a:off x="7114032" y="2331720"/>
            <a:ext cx="91" cy="91440"/>
          </a:xfrm>
          <a:prstGeom prst="line">
            <a:avLst/>
          </a:prstGeom>
          <a:noFill/>
          <a:ln w="12700">
            <a:solidFill>
              <a:srgbClr val="133536"/>
            </a:solidFill>
            <a:prstDash val="solid"/>
          </a:ln>
        </p:spPr>
      </p:sp>
      <p:sp>
        <p:nvSpPr>
          <p:cNvPr id="32" name="Text 30"/>
          <p:cNvSpPr/>
          <p:nvPr/>
        </p:nvSpPr>
        <p:spPr>
          <a:xfrm>
            <a:off x="6839712"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33" name="Shape 31"/>
          <p:cNvSpPr/>
          <p:nvPr/>
        </p:nvSpPr>
        <p:spPr>
          <a:xfrm>
            <a:off x="8147304" y="2331720"/>
            <a:ext cx="91" cy="91440"/>
          </a:xfrm>
          <a:prstGeom prst="line">
            <a:avLst/>
          </a:prstGeom>
          <a:noFill/>
          <a:ln w="12700">
            <a:solidFill>
              <a:srgbClr val="133536"/>
            </a:solidFill>
            <a:prstDash val="solid"/>
          </a:ln>
        </p:spPr>
      </p:sp>
      <p:sp>
        <p:nvSpPr>
          <p:cNvPr id="34" name="Text 32"/>
          <p:cNvSpPr/>
          <p:nvPr/>
        </p:nvSpPr>
        <p:spPr>
          <a:xfrm>
            <a:off x="7872984"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35" name="Shape 33"/>
          <p:cNvSpPr/>
          <p:nvPr/>
        </p:nvSpPr>
        <p:spPr>
          <a:xfrm>
            <a:off x="9180576" y="2331720"/>
            <a:ext cx="91" cy="91440"/>
          </a:xfrm>
          <a:prstGeom prst="line">
            <a:avLst/>
          </a:prstGeom>
          <a:noFill/>
          <a:ln w="12700">
            <a:solidFill>
              <a:srgbClr val="133536"/>
            </a:solidFill>
            <a:prstDash val="solid"/>
          </a:ln>
        </p:spPr>
      </p:sp>
      <p:sp>
        <p:nvSpPr>
          <p:cNvPr id="36" name="Text 34"/>
          <p:cNvSpPr/>
          <p:nvPr/>
        </p:nvSpPr>
        <p:spPr>
          <a:xfrm>
            <a:off x="8906256"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37" name="Shape 35"/>
          <p:cNvSpPr/>
          <p:nvPr/>
        </p:nvSpPr>
        <p:spPr>
          <a:xfrm>
            <a:off x="10213848" y="2331720"/>
            <a:ext cx="91" cy="91440"/>
          </a:xfrm>
          <a:prstGeom prst="line">
            <a:avLst/>
          </a:prstGeom>
          <a:noFill/>
          <a:ln w="12700">
            <a:solidFill>
              <a:srgbClr val="133536"/>
            </a:solidFill>
            <a:prstDash val="solid"/>
          </a:ln>
        </p:spPr>
      </p:sp>
      <p:sp>
        <p:nvSpPr>
          <p:cNvPr id="38" name="Text 36"/>
          <p:cNvSpPr/>
          <p:nvPr/>
        </p:nvSpPr>
        <p:spPr>
          <a:xfrm>
            <a:off x="9939528"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39" name="Shape 37"/>
          <p:cNvSpPr/>
          <p:nvPr/>
        </p:nvSpPr>
        <p:spPr>
          <a:xfrm>
            <a:off x="11247120" y="2331720"/>
            <a:ext cx="91" cy="91440"/>
          </a:xfrm>
          <a:prstGeom prst="line">
            <a:avLst/>
          </a:prstGeom>
          <a:noFill/>
          <a:ln w="12700">
            <a:solidFill>
              <a:srgbClr val="133536"/>
            </a:solidFill>
            <a:prstDash val="solid"/>
          </a:ln>
        </p:spPr>
      </p:sp>
      <p:sp>
        <p:nvSpPr>
          <p:cNvPr id="40" name="Text 38"/>
          <p:cNvSpPr/>
          <p:nvPr/>
        </p:nvSpPr>
        <p:spPr>
          <a:xfrm>
            <a:off x="10972800" y="2432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1" name="Text 39"/>
          <p:cNvSpPr/>
          <p:nvPr/>
        </p:nvSpPr>
        <p:spPr>
          <a:xfrm>
            <a:off x="914400" y="2633472"/>
            <a:ext cx="1033272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Blood glucose / mmol/L</a:t>
            </a:r>
            <a:endParaRPr lang="en-US" sz="1050" dirty="0"/>
          </a:p>
        </p:txBody>
      </p:sp>
      <p:sp>
        <p:nvSpPr>
          <p:cNvPr id="42" name="Text 40"/>
          <p:cNvSpPr/>
          <p:nvPr/>
        </p:nvSpPr>
        <p:spPr>
          <a:xfrm>
            <a:off x="594360" y="1325880"/>
            <a:ext cx="10972800" cy="27432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Too much insulin, a missed meal or hard exercise ← → no insulin, insulin resistance, sugary food</a:t>
            </a:r>
            <a:endParaRPr lang="en-US" sz="1050" dirty="0"/>
          </a:p>
        </p:txBody>
      </p:sp>
      <p:sp>
        <p:nvSpPr>
          <p:cNvPr id="43" name="Shape 41"/>
          <p:cNvSpPr/>
          <p:nvPr/>
        </p:nvSpPr>
        <p:spPr>
          <a:xfrm>
            <a:off x="411480" y="3383280"/>
            <a:ext cx="3703320" cy="2331720"/>
          </a:xfrm>
          <a:prstGeom prst="roundRect">
            <a:avLst>
              <a:gd name="adj" fmla="val 2353"/>
            </a:avLst>
          </a:prstGeom>
          <a:solidFill>
            <a:srgbClr val="E3F0FB"/>
          </a:solidFill>
          <a:ln w="9525">
            <a:solidFill>
              <a:srgbClr val="CFE0DE"/>
            </a:solidFill>
            <a:prstDash val="solid"/>
          </a:ln>
        </p:spPr>
      </p:sp>
      <p:sp>
        <p:nvSpPr>
          <p:cNvPr id="44" name="Text 42"/>
          <p:cNvSpPr/>
          <p:nvPr/>
        </p:nvSpPr>
        <p:spPr>
          <a:xfrm>
            <a:off x="576072" y="347472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Too low (hypo)</a:t>
            </a:r>
            <a:endParaRPr lang="en-US" sz="1300" dirty="0"/>
          </a:p>
        </p:txBody>
      </p:sp>
      <p:sp>
        <p:nvSpPr>
          <p:cNvPr id="45" name="Text 43"/>
          <p:cNvSpPr/>
          <p:nvPr/>
        </p:nvSpPr>
        <p:spPr>
          <a:xfrm>
            <a:off x="576072" y="3803904"/>
            <a:ext cx="3374136" cy="183794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Cause: </a:t>
            </a:r>
            <a:r>
              <a:rPr lang="en-US" sz="1200" b="1" dirty="0">
                <a:solidFill>
                  <a:srgbClr val="262B3A"/>
                </a:solidFill>
                <a:latin typeface="Calibri" pitchFamily="34" charset="0"/>
                <a:ea typeface="Calibri" pitchFamily="34" charset="-122"/>
                <a:cs typeface="Calibri" pitchFamily="34" charset="-120"/>
              </a:rPr>
              <a:t>too much insulin</a:t>
            </a:r>
            <a:r>
              <a:rPr lang="en-US" sz="1200" dirty="0">
                <a:solidFill>
                  <a:srgbClr val="262B3A"/>
                </a:solidFill>
                <a:latin typeface="Calibri" pitchFamily="34" charset="0"/>
                <a:ea typeface="Calibri" pitchFamily="34" charset="-122"/>
                <a:cs typeface="Calibri" pitchFamily="34" charset="-120"/>
              </a:rPr>
              <a:t>, a missed meal or exercise.</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Shaky, sweaty, confused, can faint: </a:t>
            </a:r>
            <a:r>
              <a:rPr lang="en-US" sz="1200" b="1" dirty="0">
                <a:solidFill>
                  <a:srgbClr val="262B3A"/>
                </a:solidFill>
                <a:latin typeface="Calibri" pitchFamily="34" charset="0"/>
                <a:ea typeface="Calibri" pitchFamily="34" charset="-122"/>
                <a:cs typeface="Calibri" pitchFamily="34" charset="-120"/>
              </a:rPr>
              <a:t>brain</a:t>
            </a:r>
            <a:r>
              <a:rPr lang="en-US" sz="1200" dirty="0">
                <a:solidFill>
                  <a:srgbClr val="262B3A"/>
                </a:solidFill>
                <a:latin typeface="Calibri" pitchFamily="34" charset="0"/>
                <a:ea typeface="Calibri" pitchFamily="34" charset="-122"/>
                <a:cs typeface="Calibri" pitchFamily="34" charset="-120"/>
              </a:rPr>
              <a:t> cells lack glucose.</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Treat fast: </a:t>
            </a:r>
            <a:r>
              <a:rPr lang="en-US" sz="1200" b="1" dirty="0">
                <a:solidFill>
                  <a:srgbClr val="262B3A"/>
                </a:solidFill>
                <a:latin typeface="Calibri" pitchFamily="34" charset="0"/>
                <a:ea typeface="Calibri" pitchFamily="34" charset="-122"/>
                <a:cs typeface="Calibri" pitchFamily="34" charset="-120"/>
              </a:rPr>
              <a:t>sugary</a:t>
            </a:r>
            <a:r>
              <a:rPr lang="en-US" sz="1200" dirty="0">
                <a:solidFill>
                  <a:srgbClr val="262B3A"/>
                </a:solidFill>
                <a:latin typeface="Calibri" pitchFamily="34" charset="0"/>
                <a:ea typeface="Calibri" pitchFamily="34" charset="-122"/>
                <a:cs typeface="Calibri" pitchFamily="34" charset="-120"/>
              </a:rPr>
              <a:t> drink or glucose tablets.</a:t>
            </a:r>
            <a:endParaRPr lang="en-US" sz="1200" dirty="0"/>
          </a:p>
        </p:txBody>
      </p:sp>
      <p:sp>
        <p:nvSpPr>
          <p:cNvPr id="46" name="Shape 44"/>
          <p:cNvSpPr/>
          <p:nvPr/>
        </p:nvSpPr>
        <p:spPr>
          <a:xfrm>
            <a:off x="4242816" y="3383280"/>
            <a:ext cx="3703320" cy="2331720"/>
          </a:xfrm>
          <a:prstGeom prst="roundRect">
            <a:avLst>
              <a:gd name="adj" fmla="val 2353"/>
            </a:avLst>
          </a:prstGeom>
          <a:solidFill>
            <a:srgbClr val="FBE3E4"/>
          </a:solidFill>
          <a:ln w="9525">
            <a:solidFill>
              <a:srgbClr val="CFE0DE"/>
            </a:solidFill>
            <a:prstDash val="solid"/>
          </a:ln>
        </p:spPr>
      </p:sp>
      <p:sp>
        <p:nvSpPr>
          <p:cNvPr id="47" name="Text 45"/>
          <p:cNvSpPr/>
          <p:nvPr/>
        </p:nvSpPr>
        <p:spPr>
          <a:xfrm>
            <a:off x="4407408" y="347472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Too high (diabetes)</a:t>
            </a:r>
            <a:endParaRPr lang="en-US" sz="1300" dirty="0"/>
          </a:p>
        </p:txBody>
      </p:sp>
      <p:sp>
        <p:nvSpPr>
          <p:cNvPr id="48" name="Text 46"/>
          <p:cNvSpPr/>
          <p:nvPr/>
        </p:nvSpPr>
        <p:spPr>
          <a:xfrm>
            <a:off x="4407408" y="3803904"/>
            <a:ext cx="3374136" cy="183794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Cause: </a:t>
            </a:r>
            <a:r>
              <a:rPr lang="en-US" sz="1200" b="1" dirty="0">
                <a:solidFill>
                  <a:srgbClr val="262B3A"/>
                </a:solidFill>
                <a:latin typeface="Calibri" pitchFamily="34" charset="0"/>
                <a:ea typeface="Calibri" pitchFamily="34" charset="-122"/>
                <a:cs typeface="Calibri" pitchFamily="34" charset="-120"/>
              </a:rPr>
              <a:t>no insulin</a:t>
            </a:r>
            <a:r>
              <a:rPr lang="en-US" sz="1200" dirty="0">
                <a:solidFill>
                  <a:srgbClr val="262B3A"/>
                </a:solidFill>
                <a:latin typeface="Calibri" pitchFamily="34" charset="0"/>
                <a:ea typeface="Calibri" pitchFamily="34" charset="-122"/>
                <a:cs typeface="Calibri" pitchFamily="34" charset="-120"/>
              </a:rPr>
              <a:t> (type 1) or cells </a:t>
            </a:r>
            <a:r>
              <a:rPr lang="en-US" sz="1200" b="1" dirty="0">
                <a:solidFill>
                  <a:srgbClr val="262B3A"/>
                </a:solidFill>
                <a:latin typeface="Calibri" pitchFamily="34" charset="0"/>
                <a:ea typeface="Calibri" pitchFamily="34" charset="-122"/>
                <a:cs typeface="Calibri" pitchFamily="34" charset="-120"/>
              </a:rPr>
              <a:t>not responding</a:t>
            </a:r>
            <a:r>
              <a:rPr lang="en-US" sz="1200" dirty="0">
                <a:solidFill>
                  <a:srgbClr val="262B3A"/>
                </a:solidFill>
                <a:latin typeface="Calibri" pitchFamily="34" charset="0"/>
                <a:ea typeface="Calibri" pitchFamily="34" charset="-122"/>
                <a:cs typeface="Calibri" pitchFamily="34" charset="-120"/>
              </a:rPr>
              <a:t> (type 2).</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Thirst, lots of urine, </a:t>
            </a:r>
            <a:r>
              <a:rPr lang="en-US" sz="1200" b="1" dirty="0">
                <a:solidFill>
                  <a:srgbClr val="262B3A"/>
                </a:solidFill>
                <a:latin typeface="Calibri" pitchFamily="34" charset="0"/>
                <a:ea typeface="Calibri" pitchFamily="34" charset="-122"/>
                <a:cs typeface="Calibri" pitchFamily="34" charset="-120"/>
              </a:rPr>
              <a:t>glucose in urine</a:t>
            </a:r>
            <a:r>
              <a:rPr lang="en-US" sz="1200" dirty="0">
                <a:solidFill>
                  <a:srgbClr val="262B3A"/>
                </a:solidFill>
                <a:latin typeface="Calibri" pitchFamily="34" charset="0"/>
                <a:ea typeface="Calibri" pitchFamily="34" charset="-122"/>
                <a:cs typeface="Calibri" pitchFamily="34" charset="-120"/>
              </a:rPr>
              <a:t>, tiredness.</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Long term: damage to </a:t>
            </a:r>
            <a:r>
              <a:rPr lang="en-US" sz="1200" b="1" dirty="0">
                <a:solidFill>
                  <a:srgbClr val="262B3A"/>
                </a:solidFill>
                <a:latin typeface="Calibri" pitchFamily="34" charset="0"/>
                <a:ea typeface="Calibri" pitchFamily="34" charset="-122"/>
                <a:cs typeface="Calibri" pitchFamily="34" charset="-120"/>
              </a:rPr>
              <a:t>blood vessels</a:t>
            </a:r>
            <a:r>
              <a:rPr lang="en-US" sz="1200" dirty="0">
                <a:solidFill>
                  <a:srgbClr val="262B3A"/>
                </a:solidFill>
                <a:latin typeface="Calibri" pitchFamily="34" charset="0"/>
                <a:ea typeface="Calibri" pitchFamily="34" charset="-122"/>
                <a:cs typeface="Calibri" pitchFamily="34" charset="-120"/>
              </a:rPr>
              <a:t>, eyes, kidneys, nerves, heart.</a:t>
            </a:r>
            <a:endParaRPr lang="en-US" sz="1200" dirty="0"/>
          </a:p>
        </p:txBody>
      </p:sp>
      <p:sp>
        <p:nvSpPr>
          <p:cNvPr id="49" name="Shape 47"/>
          <p:cNvSpPr/>
          <p:nvPr/>
        </p:nvSpPr>
        <p:spPr>
          <a:xfrm>
            <a:off x="8074152" y="3383280"/>
            <a:ext cx="3703320" cy="2331720"/>
          </a:xfrm>
          <a:prstGeom prst="roundRect">
            <a:avLst>
              <a:gd name="adj" fmla="val 2353"/>
            </a:avLst>
          </a:prstGeom>
          <a:solidFill>
            <a:srgbClr val="F4FAF9"/>
          </a:solidFill>
          <a:ln w="9525">
            <a:solidFill>
              <a:srgbClr val="CFE0DE"/>
            </a:solidFill>
            <a:prstDash val="solid"/>
          </a:ln>
        </p:spPr>
      </p:sp>
      <p:sp>
        <p:nvSpPr>
          <p:cNvPr id="50" name="Text 48"/>
          <p:cNvSpPr/>
          <p:nvPr/>
        </p:nvSpPr>
        <p:spPr>
          <a:xfrm>
            <a:off x="8238744" y="347472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this matters</a:t>
            </a:r>
            <a:endParaRPr lang="en-US" sz="1300" dirty="0"/>
          </a:p>
        </p:txBody>
      </p:sp>
      <p:sp>
        <p:nvSpPr>
          <p:cNvPr id="51" name="Text 49"/>
          <p:cNvSpPr/>
          <p:nvPr/>
        </p:nvSpPr>
        <p:spPr>
          <a:xfrm>
            <a:off x="8238744" y="3803904"/>
            <a:ext cx="3374136" cy="18379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control system works only if </a:t>
            </a:r>
            <a:r>
              <a:rPr lang="en-US" sz="1150" b="1" dirty="0">
                <a:solidFill>
                  <a:srgbClr val="262B3A"/>
                </a:solidFill>
                <a:latin typeface="Calibri" pitchFamily="34" charset="0"/>
                <a:ea typeface="Calibri" pitchFamily="34" charset="-122"/>
                <a:cs typeface="Calibri" pitchFamily="34" charset="-120"/>
              </a:rPr>
              <a:t>every part</a:t>
            </a:r>
            <a:r>
              <a:rPr lang="en-US" sz="1150" dirty="0">
                <a:solidFill>
                  <a:srgbClr val="262B3A"/>
                </a:solidFill>
                <a:latin typeface="Calibri" pitchFamily="34" charset="0"/>
                <a:ea typeface="Calibri" pitchFamily="34" charset="-122"/>
                <a:cs typeface="Calibri" pitchFamily="34" charset="-120"/>
              </a:rPr>
              <a:t> works: gland, hormone, </a:t>
            </a:r>
            <a:r>
              <a:rPr lang="en-US" sz="1150" b="1" dirty="0">
                <a:solidFill>
                  <a:srgbClr val="262B3A"/>
                </a:solidFill>
                <a:latin typeface="Calibri" pitchFamily="34" charset="0"/>
                <a:ea typeface="Calibri" pitchFamily="34" charset="-122"/>
                <a:cs typeface="Calibri" pitchFamily="34" charset="-120"/>
              </a:rPr>
              <a:t>receptors</a:t>
            </a:r>
            <a:r>
              <a:rPr lang="en-US" sz="1150" dirty="0">
                <a:solidFill>
                  <a:srgbClr val="262B3A"/>
                </a:solidFill>
                <a:latin typeface="Calibri" pitchFamily="34" charset="0"/>
                <a:ea typeface="Calibri" pitchFamily="34" charset="-122"/>
                <a:cs typeface="Calibri" pitchFamily="34" charset="-120"/>
              </a:rPr>
              <a:t> on the target cells.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Type 1: the </a:t>
            </a:r>
            <a:r>
              <a:rPr lang="en-US" sz="1150" b="1" dirty="0">
                <a:solidFill>
                  <a:srgbClr val="262B3A"/>
                </a:solidFill>
                <a:latin typeface="Calibri" pitchFamily="34" charset="0"/>
                <a:ea typeface="Calibri" pitchFamily="34" charset="-122"/>
                <a:cs typeface="Calibri" pitchFamily="34" charset="-120"/>
              </a:rPr>
              <a:t>gland</a:t>
            </a:r>
            <a:r>
              <a:rPr lang="en-US" sz="1150" dirty="0">
                <a:solidFill>
                  <a:srgbClr val="262B3A"/>
                </a:solidFill>
                <a:latin typeface="Calibri" pitchFamily="34" charset="0"/>
                <a:ea typeface="Calibri" pitchFamily="34" charset="-122"/>
                <a:cs typeface="Calibri" pitchFamily="34" charset="-120"/>
              </a:rPr>
              <a:t> fails. Type 2: the </a:t>
            </a:r>
            <a:r>
              <a:rPr lang="en-US" sz="1150" b="1" dirty="0">
                <a:solidFill>
                  <a:srgbClr val="262B3A"/>
                </a:solidFill>
                <a:latin typeface="Calibri" pitchFamily="34" charset="0"/>
                <a:ea typeface="Calibri" pitchFamily="34" charset="-122"/>
                <a:cs typeface="Calibri" pitchFamily="34" charset="-120"/>
              </a:rPr>
              <a:t>target cells</a:t>
            </a:r>
            <a:r>
              <a:rPr lang="en-US" sz="1150" dirty="0">
                <a:solidFill>
                  <a:srgbClr val="262B3A"/>
                </a:solidFill>
                <a:latin typeface="Calibri" pitchFamily="34" charset="0"/>
                <a:ea typeface="Calibri" pitchFamily="34" charset="-122"/>
                <a:cs typeface="Calibri" pitchFamily="34" charset="-120"/>
              </a:rPr>
              <a:t> fail.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Treatments </a:t>
            </a:r>
            <a:r>
              <a:rPr lang="en-US" sz="1150" b="1" dirty="0">
                <a:solidFill>
                  <a:srgbClr val="262B3A"/>
                </a:solidFill>
                <a:latin typeface="Calibri" pitchFamily="34" charset="0"/>
                <a:ea typeface="Calibri" pitchFamily="34" charset="-122"/>
                <a:cs typeface="Calibri" pitchFamily="34" charset="-120"/>
              </a:rPr>
              <a:t>replace</a:t>
            </a:r>
            <a:r>
              <a:rPr lang="en-US" sz="1150" dirty="0">
                <a:solidFill>
                  <a:srgbClr val="262B3A"/>
                </a:solidFill>
                <a:latin typeface="Calibri" pitchFamily="34" charset="0"/>
                <a:ea typeface="Calibri" pitchFamily="34" charset="-122"/>
                <a:cs typeface="Calibri" pitchFamily="34" charset="-120"/>
              </a:rPr>
              <a:t> the missing part (insulin) or </a:t>
            </a:r>
            <a:r>
              <a:rPr lang="en-US" sz="1150" b="1" dirty="0">
                <a:solidFill>
                  <a:srgbClr val="262B3A"/>
                </a:solidFill>
                <a:latin typeface="Calibri" pitchFamily="34" charset="0"/>
                <a:ea typeface="Calibri" pitchFamily="34" charset="-122"/>
                <a:cs typeface="Calibri" pitchFamily="34" charset="-120"/>
              </a:rPr>
              <a:t>reduce the load</a:t>
            </a:r>
            <a:r>
              <a:rPr lang="en-US" sz="1150" dirty="0">
                <a:solidFill>
                  <a:srgbClr val="262B3A"/>
                </a:solidFill>
                <a:latin typeface="Calibri" pitchFamily="34" charset="0"/>
                <a:ea typeface="Calibri" pitchFamily="34" charset="-122"/>
                <a:cs typeface="Calibri" pitchFamily="34" charset="-120"/>
              </a:rPr>
              <a:t> (diet, exercise).</a:t>
            </a:r>
            <a:endParaRPr lang="en-US" sz="11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person with type 1 diabetes injects insulin but then misses lunch. Explain what may happen to their blood glucose, and what they should do.</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B5.6.1–B5.6.3 • putting it together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person with type 1 diabetes may become </a:t>
            </a:r>
            <a:r>
              <a:rPr lang="en-US" sz="1250" b="1" dirty="0">
                <a:solidFill>
                  <a:srgbClr val="262B3A"/>
                </a:solidFill>
                <a:latin typeface="Calibri" pitchFamily="34" charset="0"/>
                <a:ea typeface="Calibri" pitchFamily="34" charset="-122"/>
                <a:cs typeface="Calibri" pitchFamily="34" charset="-120"/>
              </a:rPr>
              <a:t>shaky and confused</a:t>
            </a:r>
            <a:r>
              <a:rPr lang="en-US" sz="1250" dirty="0">
                <a:solidFill>
                  <a:srgbClr val="262B3A"/>
                </a:solidFill>
                <a:latin typeface="Calibri" pitchFamily="34" charset="0"/>
                <a:ea typeface="Calibri" pitchFamily="34" charset="-122"/>
                <a:cs typeface="Calibri" pitchFamily="34" charset="-120"/>
              </a:rPr>
              <a:t> if they inject insulin and then exercise hard without eating.</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symptoms of high blood glucose.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type 2 diabetes is different from type 1 in terms of </a:t>
            </a:r>
            <a:r>
              <a:rPr lang="en-US" sz="1250" b="1" dirty="0">
                <a:solidFill>
                  <a:srgbClr val="262B3A"/>
                </a:solidFill>
                <a:latin typeface="Calibri" pitchFamily="34" charset="0"/>
                <a:ea typeface="Calibri" pitchFamily="34" charset="-122"/>
                <a:cs typeface="Calibri" pitchFamily="34" charset="-120"/>
              </a:rPr>
              <a:t>where</a:t>
            </a:r>
            <a:r>
              <a:rPr lang="en-US" sz="1250" dirty="0">
                <a:solidFill>
                  <a:srgbClr val="262B3A"/>
                </a:solidFill>
                <a:latin typeface="Calibri" pitchFamily="34" charset="0"/>
                <a:ea typeface="Calibri" pitchFamily="34" charset="-122"/>
                <a:cs typeface="Calibri" pitchFamily="34" charset="-120"/>
              </a:rPr>
              <a:t> the control system fails.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After a long time without food, explain how the liver keeps blood glucose up.</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B5.6 What can happen when organs and control systems stop working?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Blood glucose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Concentration of glucose in the blood; normally about 4–7 mmol/L.</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Pancreas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Gland behind the stomach that releases insulin (and glucagon).</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Insulin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Hormone that makes cells take up glucose, lowering blood glucose.</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Glucagon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Hormone that makes the liver turn glycogen into glucose, raising blood glucose.</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Glycogen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Insoluble storage carbohydrate made from glucose in liver and muscle cells.</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Liver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 that stores glycogen and releases glucose into the blood.</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Target cells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Cells with receptors for a hormone, e.g. liver and muscle cells for insulin.</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Negative feedback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causes a response that reverses it (recap of B5.3).</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Antagonistic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Insulin and glucagon have opposite effects on blood glucose.</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Type 1 diabetes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pancreas makes little or no insulin; treated with insulin injections.</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Type 2 diabetes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Body cells stop responding to insulin; treated with diet, exercise, tablets.</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Insulin resistance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Cells no longer respond properly to insulin (type 2).</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Risk factor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Something that increases the chance of a disease, e.g. obesity for type 2.</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BMI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Body mass index = mass (kg) ÷ height² (m²); 30 or more = obese.</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Glucose tolerance test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Blood glucose measured for 2 h after a glucose drink.</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Hypoglycaemia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Blood glucose too low (below about 4 mmol/L); treated with sugar.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B5.6.1–B5.6.3 • answer every part • 13 marks • (f) is HT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doctor carries out a </a:t>
            </a:r>
            <a:r>
              <a:rPr lang="en-US" sz="1200" b="1" i="1" dirty="0">
                <a:solidFill>
                  <a:srgbClr val="262B3A"/>
                </a:solidFill>
                <a:latin typeface="Calibri" pitchFamily="34" charset="0"/>
                <a:ea typeface="Calibri" pitchFamily="34" charset="-122"/>
                <a:cs typeface="Calibri" pitchFamily="34" charset="-120"/>
              </a:rPr>
              <a:t>glucose tolerance test</a:t>
            </a:r>
            <a:r>
              <a:rPr lang="en-US" sz="1200" i="1" dirty="0">
                <a:solidFill>
                  <a:srgbClr val="262B3A"/>
                </a:solidFill>
                <a:latin typeface="Calibri" pitchFamily="34" charset="0"/>
                <a:ea typeface="Calibri" pitchFamily="34" charset="-122"/>
                <a:cs typeface="Calibri" pitchFamily="34" charset="-120"/>
              </a:rPr>
              <a:t> on a patient. The patient's blood glucose rises from </a:t>
            </a:r>
            <a:r>
              <a:rPr lang="en-US" sz="1200" b="1" i="1" dirty="0">
                <a:solidFill>
                  <a:srgbClr val="262B3A"/>
                </a:solidFill>
                <a:latin typeface="Calibri" pitchFamily="34" charset="0"/>
                <a:ea typeface="Calibri" pitchFamily="34" charset="-122"/>
                <a:cs typeface="Calibri" pitchFamily="34" charset="-120"/>
              </a:rPr>
              <a:t>5.2</a:t>
            </a:r>
            <a:r>
              <a:rPr lang="en-US" sz="1200" i="1" dirty="0">
                <a:solidFill>
                  <a:srgbClr val="262B3A"/>
                </a:solidFill>
                <a:latin typeface="Calibri" pitchFamily="34" charset="0"/>
                <a:ea typeface="Calibri" pitchFamily="34" charset="-122"/>
                <a:cs typeface="Calibri" pitchFamily="34" charset="-120"/>
              </a:rPr>
              <a:t> to </a:t>
            </a:r>
            <a:r>
              <a:rPr lang="en-US" sz="1200" b="1" i="1" dirty="0">
                <a:solidFill>
                  <a:srgbClr val="262B3A"/>
                </a:solidFill>
                <a:latin typeface="Calibri" pitchFamily="34" charset="0"/>
                <a:ea typeface="Calibri" pitchFamily="34" charset="-122"/>
                <a:cs typeface="Calibri" pitchFamily="34" charset="-120"/>
              </a:rPr>
              <a:t>7.6 mmol/L</a:t>
            </a:r>
            <a:r>
              <a:rPr lang="en-US" sz="1200" i="1" dirty="0">
                <a:solidFill>
                  <a:srgbClr val="262B3A"/>
                </a:solidFill>
                <a:latin typeface="Calibri" pitchFamily="34" charset="0"/>
                <a:ea typeface="Calibri" pitchFamily="34" charset="-122"/>
                <a:cs typeface="Calibri" pitchFamily="34" charset="-120"/>
              </a:rPr>
              <a:t> in 30 minutes, then falls back to normal.</a:t>
            </a:r>
            <a:endParaRPr lang="en-US" sz="1200" dirty="0"/>
          </a:p>
        </p:txBody>
      </p:sp>
      <p:sp>
        <p:nvSpPr>
          <p:cNvPr id="9" name="Shape 7"/>
          <p:cNvSpPr/>
          <p:nvPr/>
        </p:nvSpPr>
        <p:spPr>
          <a:xfrm>
            <a:off x="411480" y="1719072"/>
            <a:ext cx="5570068" cy="1351597"/>
          </a:xfrm>
          <a:prstGeom prst="roundRect">
            <a:avLst>
              <a:gd name="adj" fmla="val 3383"/>
            </a:avLst>
          </a:prstGeom>
          <a:solidFill>
            <a:srgbClr val="F4FAF9"/>
          </a:solidFill>
          <a:ln w="9525">
            <a:solidFill>
              <a:srgbClr val="CFE0DE"/>
            </a:solidFill>
            <a:prstDash val="solid"/>
          </a:ln>
        </p:spPr>
      </p:sp>
      <p:sp>
        <p:nvSpPr>
          <p:cNvPr id="10" name="Text 8"/>
          <p:cNvSpPr/>
          <p:nvPr/>
        </p:nvSpPr>
        <p:spPr>
          <a:xfrm>
            <a:off x="548640" y="1792224"/>
            <a:ext cx="5295748" cy="9858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a:t>
            </a:r>
            <a:r>
              <a:rPr lang="en-US" sz="1200" b="1" dirty="0">
                <a:solidFill>
                  <a:srgbClr val="262B3A"/>
                </a:solidFill>
                <a:latin typeface="Calibri" pitchFamily="34" charset="0"/>
                <a:ea typeface="Calibri" pitchFamily="34" charset="-122"/>
                <a:cs typeface="Calibri" pitchFamily="34" charset="-120"/>
              </a:rPr>
              <a:t>gland</a:t>
            </a:r>
            <a:r>
              <a:rPr lang="en-US" sz="1200" dirty="0">
                <a:solidFill>
                  <a:srgbClr val="262B3A"/>
                </a:solidFill>
                <a:latin typeface="Calibri" pitchFamily="34" charset="0"/>
                <a:ea typeface="Calibri" pitchFamily="34" charset="-122"/>
                <a:cs typeface="Calibri" pitchFamily="34" charset="-120"/>
              </a:rPr>
              <a:t> that detects the rise and the </a:t>
            </a:r>
            <a:r>
              <a:rPr lang="en-US" sz="1200" b="1" dirty="0">
                <a:solidFill>
                  <a:srgbClr val="262B3A"/>
                </a:solidFill>
                <a:latin typeface="Calibri" pitchFamily="34" charset="0"/>
                <a:ea typeface="Calibri" pitchFamily="34" charset="-122"/>
                <a:cs typeface="Calibri" pitchFamily="34" charset="-120"/>
              </a:rPr>
              <a:t>hormone</a:t>
            </a:r>
            <a:r>
              <a:rPr lang="en-US" sz="1200" dirty="0">
                <a:solidFill>
                  <a:srgbClr val="262B3A"/>
                </a:solidFill>
                <a:latin typeface="Calibri" pitchFamily="34" charset="0"/>
                <a:ea typeface="Calibri" pitchFamily="34" charset="-122"/>
                <a:cs typeface="Calibri" pitchFamily="34" charset="-120"/>
              </a:rPr>
              <a:t> it releases.</a:t>
            </a:r>
            <a:endParaRPr lang="en-US" sz="1200" dirty="0"/>
          </a:p>
        </p:txBody>
      </p:sp>
      <p:sp>
        <p:nvSpPr>
          <p:cNvPr id="11" name="Text 9"/>
          <p:cNvSpPr/>
          <p:nvPr/>
        </p:nvSpPr>
        <p:spPr>
          <a:xfrm>
            <a:off x="4518508" y="2759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80397"/>
            <a:ext cx="5570068" cy="1351597"/>
          </a:xfrm>
          <a:prstGeom prst="roundRect">
            <a:avLst>
              <a:gd name="adj" fmla="val 3383"/>
            </a:avLst>
          </a:prstGeom>
          <a:solidFill>
            <a:srgbClr val="FFFFFF"/>
          </a:solidFill>
          <a:ln w="9525">
            <a:solidFill>
              <a:srgbClr val="CFE0DE"/>
            </a:solidFill>
            <a:prstDash val="solid"/>
          </a:ln>
        </p:spPr>
      </p:sp>
      <p:sp>
        <p:nvSpPr>
          <p:cNvPr id="13" name="Text 11"/>
          <p:cNvSpPr/>
          <p:nvPr/>
        </p:nvSpPr>
        <p:spPr>
          <a:xfrm>
            <a:off x="548640" y="3253549"/>
            <a:ext cx="5295748" cy="9858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rise in blood glucose.</a:t>
            </a:r>
            <a:endParaRPr lang="en-US" sz="1200" dirty="0"/>
          </a:p>
        </p:txBody>
      </p:sp>
      <p:sp>
        <p:nvSpPr>
          <p:cNvPr id="14" name="Text 12"/>
          <p:cNvSpPr/>
          <p:nvPr/>
        </p:nvSpPr>
        <p:spPr>
          <a:xfrm>
            <a:off x="4518508" y="42210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641723"/>
            <a:ext cx="5570068" cy="1621917"/>
          </a:xfrm>
          <a:prstGeom prst="roundRect">
            <a:avLst>
              <a:gd name="adj" fmla="val 2819"/>
            </a:avLst>
          </a:prstGeom>
          <a:solidFill>
            <a:srgbClr val="F4FAF9"/>
          </a:solidFill>
          <a:ln w="9525">
            <a:solidFill>
              <a:srgbClr val="CFE0DE"/>
            </a:solidFill>
            <a:prstDash val="solid"/>
          </a:ln>
        </p:spPr>
      </p:sp>
      <p:sp>
        <p:nvSpPr>
          <p:cNvPr id="16" name="Text 14"/>
          <p:cNvSpPr/>
          <p:nvPr/>
        </p:nvSpPr>
        <p:spPr>
          <a:xfrm>
            <a:off x="548640" y="4714875"/>
            <a:ext cx="5295748" cy="125615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Explain how the hormone in (a) returns blood glucose to normal.</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719072"/>
            <a:ext cx="5570068" cy="1351597"/>
          </a:xfrm>
          <a:prstGeom prst="roundRect">
            <a:avLst>
              <a:gd name="adj" fmla="val 3383"/>
            </a:avLst>
          </a:prstGeom>
          <a:solidFill>
            <a:srgbClr val="F4FAF9"/>
          </a:solidFill>
          <a:ln w="9525">
            <a:solidFill>
              <a:srgbClr val="CFE0DE"/>
            </a:solidFill>
            <a:prstDash val="solid"/>
          </a:ln>
        </p:spPr>
      </p:sp>
      <p:sp>
        <p:nvSpPr>
          <p:cNvPr id="19" name="Text 17"/>
          <p:cNvSpPr/>
          <p:nvPr/>
        </p:nvSpPr>
        <p:spPr>
          <a:xfrm>
            <a:off x="6347308" y="1792224"/>
            <a:ext cx="5295748" cy="9858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A second patient, </a:t>
            </a:r>
            <a:r>
              <a:rPr lang="en-US" sz="1200" b="1" dirty="0">
                <a:solidFill>
                  <a:srgbClr val="262B3A"/>
                </a:solidFill>
                <a:latin typeface="Calibri" pitchFamily="34" charset="0"/>
                <a:ea typeface="Calibri" pitchFamily="34" charset="-122"/>
                <a:cs typeface="Calibri" pitchFamily="34" charset="-120"/>
              </a:rPr>
              <a:t>102 kg</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1.80 m</a:t>
            </a:r>
            <a:r>
              <a:rPr lang="en-US" sz="1200" dirty="0">
                <a:solidFill>
                  <a:srgbClr val="262B3A"/>
                </a:solidFill>
                <a:latin typeface="Calibri" pitchFamily="34" charset="0"/>
                <a:ea typeface="Calibri" pitchFamily="34" charset="-122"/>
                <a:cs typeface="Calibri" pitchFamily="34" charset="-120"/>
              </a:rPr>
              <a:t> tall, has type 2 diabetes. Calculate their BMI (3 s.f.).</a:t>
            </a:r>
            <a:endParaRPr lang="en-US" sz="1200" dirty="0"/>
          </a:p>
        </p:txBody>
      </p:sp>
      <p:sp>
        <p:nvSpPr>
          <p:cNvPr id="20" name="Text 18"/>
          <p:cNvSpPr/>
          <p:nvPr/>
        </p:nvSpPr>
        <p:spPr>
          <a:xfrm>
            <a:off x="10317175" y="2759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80397"/>
            <a:ext cx="5570068" cy="1621917"/>
          </a:xfrm>
          <a:prstGeom prst="roundRect">
            <a:avLst>
              <a:gd name="adj" fmla="val 2819"/>
            </a:avLst>
          </a:prstGeom>
          <a:solidFill>
            <a:srgbClr val="FFFFFF"/>
          </a:solidFill>
          <a:ln w="9525">
            <a:solidFill>
              <a:srgbClr val="CFE0DE"/>
            </a:solidFill>
            <a:prstDash val="solid"/>
          </a:ln>
        </p:spPr>
      </p:sp>
      <p:sp>
        <p:nvSpPr>
          <p:cNvPr id="22" name="Text 20"/>
          <p:cNvSpPr/>
          <p:nvPr/>
        </p:nvSpPr>
        <p:spPr>
          <a:xfrm>
            <a:off x="6347308" y="3253549"/>
            <a:ext cx="5295748" cy="125615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b="1" dirty="0">
                <a:solidFill>
                  <a:srgbClr val="262B3A"/>
                </a:solidFill>
                <a:latin typeface="Calibri" pitchFamily="34" charset="0"/>
                <a:ea typeface="Calibri" pitchFamily="34" charset="-122"/>
                <a:cs typeface="Calibri" pitchFamily="34" charset="-120"/>
              </a:rPr>
              <a:t>Compare</a:t>
            </a:r>
            <a:r>
              <a:rPr lang="en-US" sz="1200" dirty="0">
                <a:solidFill>
                  <a:srgbClr val="262B3A"/>
                </a:solidFill>
                <a:latin typeface="Calibri" pitchFamily="34" charset="0"/>
                <a:ea typeface="Calibri" pitchFamily="34" charset="-122"/>
                <a:cs typeface="Calibri" pitchFamily="34" charset="-120"/>
              </a:rPr>
              <a:t> the cause and the treatment of type 1 and type 2 diabetes.</a:t>
            </a:r>
            <a:endParaRPr lang="en-US" sz="1200" dirty="0"/>
          </a:p>
        </p:txBody>
      </p:sp>
      <p:sp>
        <p:nvSpPr>
          <p:cNvPr id="23" name="Text 21"/>
          <p:cNvSpPr/>
          <p:nvPr/>
        </p:nvSpPr>
        <p:spPr>
          <a:xfrm>
            <a:off x="10317175" y="449141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912042"/>
            <a:ext cx="5570068" cy="1351597"/>
          </a:xfrm>
          <a:prstGeom prst="roundRect">
            <a:avLst>
              <a:gd name="adj" fmla="val 3383"/>
            </a:avLst>
          </a:prstGeom>
          <a:solidFill>
            <a:srgbClr val="F4FAF9"/>
          </a:solidFill>
          <a:ln w="9525">
            <a:solidFill>
              <a:srgbClr val="CFE0DE"/>
            </a:solidFill>
            <a:prstDash val="solid"/>
          </a:ln>
        </p:spPr>
      </p:sp>
      <p:sp>
        <p:nvSpPr>
          <p:cNvPr id="25" name="Text 23"/>
          <p:cNvSpPr/>
          <p:nvPr/>
        </p:nvSpPr>
        <p:spPr>
          <a:xfrm>
            <a:off x="6347308" y="4985194"/>
            <a:ext cx="4792828" cy="985837"/>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the role of </a:t>
            </a:r>
            <a:r>
              <a:rPr lang="en-US" sz="1200" b="1" dirty="0">
                <a:solidFill>
                  <a:srgbClr val="262B3A"/>
                </a:solidFill>
                <a:latin typeface="Calibri" pitchFamily="34" charset="0"/>
                <a:ea typeface="Calibri" pitchFamily="34" charset="-122"/>
                <a:cs typeface="Calibri" pitchFamily="34" charset="-120"/>
              </a:rPr>
              <a:t>glucagon</a:t>
            </a:r>
            <a:r>
              <a:rPr lang="en-US" sz="1200" dirty="0">
                <a:solidFill>
                  <a:srgbClr val="262B3A"/>
                </a:solidFill>
                <a:latin typeface="Calibri" pitchFamily="34" charset="0"/>
                <a:ea typeface="Calibri" pitchFamily="34" charset="-122"/>
                <a:cs typeface="Calibri" pitchFamily="34" charset="-120"/>
              </a:rPr>
              <a:t> if the patient's blood glucose falls too low.</a:t>
            </a:r>
            <a:endParaRPr lang="en-US" sz="1200" dirty="0"/>
          </a:p>
        </p:txBody>
      </p:sp>
      <p:sp>
        <p:nvSpPr>
          <p:cNvPr id="26" name="Shape 24"/>
          <p:cNvSpPr/>
          <p:nvPr/>
        </p:nvSpPr>
        <p:spPr>
          <a:xfrm>
            <a:off x="11231575" y="4985194"/>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11231575" y="498519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B5.6 Diabetes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B5.6 What can happen when organs and control systems stop working?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Q5 is Higher tier.</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storage carbohydrate</a:t>
            </a:r>
            <a:r>
              <a:rPr lang="en-US" sz="1150" dirty="0">
                <a:solidFill>
                  <a:srgbClr val="262B3A"/>
                </a:solidFill>
                <a:latin typeface="Calibri" pitchFamily="34" charset="0"/>
                <a:ea typeface="Calibri" pitchFamily="34" charset="-122"/>
                <a:cs typeface="Calibri" pitchFamily="34" charset="-120"/>
              </a:rPr>
              <a:t> that glucose is converted to in the liver.</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patient's fasting blood glucose was measured on three days: </a:t>
            </a:r>
            <a:r>
              <a:rPr lang="en-US" sz="1150" b="1" dirty="0">
                <a:solidFill>
                  <a:srgbClr val="262B3A"/>
                </a:solidFill>
                <a:latin typeface="Calibri" pitchFamily="34" charset="0"/>
                <a:ea typeface="Calibri" pitchFamily="34" charset="-122"/>
                <a:cs typeface="Calibri" pitchFamily="34" charset="-120"/>
              </a:rPr>
              <a:t>6.2</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5.8</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6.6 mmol/L</a:t>
            </a:r>
            <a:r>
              <a:rPr lang="en-US" sz="1150" dirty="0">
                <a:solidFill>
                  <a:srgbClr val="262B3A"/>
                </a:solidFill>
                <a:latin typeface="Calibri" pitchFamily="34" charset="0"/>
                <a:ea typeface="Calibri" pitchFamily="34" charset="-122"/>
                <a:cs typeface="Calibri" pitchFamily="34" charset="-120"/>
              </a:rPr>
              <a:t>. Calculate the mean.</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About </a:t>
            </a:r>
            <a:r>
              <a:rPr lang="en-US" sz="1150" b="1" dirty="0">
                <a:solidFill>
                  <a:srgbClr val="262B3A"/>
                </a:solidFill>
                <a:latin typeface="Calibri" pitchFamily="34" charset="0"/>
                <a:ea typeface="Calibri" pitchFamily="34" charset="-122"/>
                <a:cs typeface="Calibri" pitchFamily="34" charset="-120"/>
              </a:rPr>
              <a:t>1 in 16</a:t>
            </a:r>
            <a:r>
              <a:rPr lang="en-US" sz="1150" dirty="0">
                <a:solidFill>
                  <a:srgbClr val="262B3A"/>
                </a:solidFill>
                <a:latin typeface="Calibri" pitchFamily="34" charset="0"/>
                <a:ea typeface="Calibri" pitchFamily="34" charset="-122"/>
                <a:cs typeface="Calibri" pitchFamily="34" charset="-120"/>
              </a:rPr>
              <a:t> people in the UK has diabetes. Write this as a percentage.</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why insulin is given by </a:t>
            </a:r>
            <a:r>
              <a:rPr lang="en-US" sz="1150" b="1" dirty="0">
                <a:solidFill>
                  <a:srgbClr val="262B3A"/>
                </a:solidFill>
                <a:latin typeface="Calibri" pitchFamily="34" charset="0"/>
                <a:ea typeface="Calibri" pitchFamily="34" charset="-122"/>
                <a:cs typeface="Calibri" pitchFamily="34" charset="-120"/>
              </a:rPr>
              <a:t>injection</a:t>
            </a:r>
            <a:r>
              <a:rPr lang="en-US" sz="1150" dirty="0">
                <a:solidFill>
                  <a:srgbClr val="262B3A"/>
                </a:solidFill>
                <a:latin typeface="Calibri" pitchFamily="34" charset="0"/>
                <a:ea typeface="Calibri" pitchFamily="34" charset="-122"/>
                <a:cs typeface="Calibri" pitchFamily="34" charset="-120"/>
              </a:rPr>
              <a:t> and not as a tablet.</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77312"/>
          </a:xfrm>
          <a:prstGeom prst="roundRect">
            <a:avLst>
              <a:gd name="adj" fmla="val 4244"/>
            </a:avLst>
          </a:prstGeom>
          <a:solidFill>
            <a:srgbClr val="F4FAF9"/>
          </a:solidFill>
          <a:ln w="9525">
            <a:solidFill>
              <a:srgbClr val="CFE0DE"/>
            </a:solidFill>
            <a:prstDash val="solid"/>
          </a:ln>
        </p:spPr>
      </p:sp>
      <p:sp>
        <p:nvSpPr>
          <p:cNvPr id="22" name="Text 20"/>
          <p:cNvSpPr/>
          <p:nvPr/>
        </p:nvSpPr>
        <p:spPr>
          <a:xfrm>
            <a:off x="6347308" y="1591056"/>
            <a:ext cx="4792828" cy="729840"/>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what happens to blood glucose between meals, and how the body stops it falling too low.</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30260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704944"/>
            <a:ext cx="5570068" cy="1077312"/>
          </a:xfrm>
          <a:prstGeom prst="roundRect">
            <a:avLst>
              <a:gd name="adj" fmla="val 4244"/>
            </a:avLst>
          </a:prstGeom>
          <a:solidFill>
            <a:srgbClr val="F4FAF9"/>
          </a:solidFill>
          <a:ln w="9525">
            <a:solidFill>
              <a:srgbClr val="CFE0DE"/>
            </a:solidFill>
            <a:prstDash val="solid"/>
          </a:ln>
        </p:spPr>
      </p:sp>
      <p:sp>
        <p:nvSpPr>
          <p:cNvPr id="27" name="Text 25"/>
          <p:cNvSpPr/>
          <p:nvPr/>
        </p:nvSpPr>
        <p:spPr>
          <a:xfrm>
            <a:off x="6347308" y="2778096"/>
            <a:ext cx="5295748" cy="729840"/>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Suggest why the number of people with </a:t>
            </a:r>
            <a:r>
              <a:rPr lang="en-US" sz="1150" b="1" dirty="0">
                <a:solidFill>
                  <a:srgbClr val="262B3A"/>
                </a:solidFill>
                <a:latin typeface="Calibri" pitchFamily="34" charset="0"/>
                <a:ea typeface="Calibri" pitchFamily="34" charset="-122"/>
                <a:cs typeface="Calibri" pitchFamily="34" charset="-120"/>
              </a:rPr>
              <a:t>type 2</a:t>
            </a:r>
            <a:r>
              <a:rPr lang="en-US" sz="1150" dirty="0">
                <a:solidFill>
                  <a:srgbClr val="262B3A"/>
                </a:solidFill>
                <a:latin typeface="Calibri" pitchFamily="34" charset="0"/>
                <a:ea typeface="Calibri" pitchFamily="34" charset="-122"/>
                <a:cs typeface="Calibri" pitchFamily="34" charset="-120"/>
              </a:rPr>
              <a:t> diabetes has increased in the UK.</a:t>
            </a:r>
            <a:endParaRPr lang="en-US" sz="1150" dirty="0"/>
          </a:p>
        </p:txBody>
      </p:sp>
      <p:sp>
        <p:nvSpPr>
          <p:cNvPr id="28" name="Text 26"/>
          <p:cNvSpPr/>
          <p:nvPr/>
        </p:nvSpPr>
        <p:spPr>
          <a:xfrm>
            <a:off x="10317175" y="348964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9" name="Shape 27"/>
          <p:cNvSpPr/>
          <p:nvPr/>
        </p:nvSpPr>
        <p:spPr>
          <a:xfrm>
            <a:off x="6210148" y="3891985"/>
            <a:ext cx="5570068" cy="2435663"/>
          </a:xfrm>
          <a:prstGeom prst="roundRect">
            <a:avLst>
              <a:gd name="adj" fmla="val 1877"/>
            </a:avLst>
          </a:prstGeom>
          <a:solidFill>
            <a:srgbClr val="FFF4E0"/>
          </a:solidFill>
          <a:ln w="9525">
            <a:solidFill>
              <a:srgbClr val="F1D9A8"/>
            </a:solidFill>
            <a:prstDash val="solid"/>
          </a:ln>
        </p:spPr>
      </p:sp>
      <p:sp>
        <p:nvSpPr>
          <p:cNvPr id="30" name="Text 28"/>
          <p:cNvSpPr/>
          <p:nvPr/>
        </p:nvSpPr>
        <p:spPr>
          <a:xfrm>
            <a:off x="6347308" y="3965137"/>
            <a:ext cx="5295748" cy="208819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b="1" dirty="0">
                <a:solidFill>
                  <a:srgbClr val="262B3A"/>
                </a:solidFill>
                <a:latin typeface="Calibri" pitchFamily="34" charset="0"/>
                <a:ea typeface="Calibri" pitchFamily="34" charset="-122"/>
                <a:cs typeface="Calibri" pitchFamily="34" charset="-120"/>
              </a:rPr>
              <a:t>Compare</a:t>
            </a:r>
            <a:r>
              <a:rPr lang="en-US" sz="1150" dirty="0">
                <a:solidFill>
                  <a:srgbClr val="262B3A"/>
                </a:solidFill>
                <a:latin typeface="Calibri" pitchFamily="34" charset="0"/>
                <a:ea typeface="Calibri" pitchFamily="34" charset="-122"/>
                <a:cs typeface="Calibri" pitchFamily="34" charset="-120"/>
              </a:rPr>
              <a:t> type 1 and type 2 diabetes. In your answer, describe the causes of each type and explain how each can be treated.</a:t>
            </a:r>
            <a:endParaRPr lang="en-US" sz="1150" dirty="0"/>
          </a:p>
        </p:txBody>
      </p:sp>
      <p:sp>
        <p:nvSpPr>
          <p:cNvPr id="31" name="Text 29"/>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B5.6 What can happen when organs and control systems stop working?</dc:title>
  <dc:subject>PptxGenJS Presentation</dc:subject>
  <dc:creator>GCSE Biology</dc:creator>
  <cp:lastModifiedBy>GCSE Biology</cp:lastModifiedBy>
  <cp:revision>1</cp:revision>
  <dcterms:created xsi:type="dcterms:W3CDTF">2026-10-30T14:48:59Z</dcterms:created>
  <dcterms:modified xsi:type="dcterms:W3CDTF">2026-10-30T14:48:59Z</dcterms:modified>
</cp:coreProperties>
</file>