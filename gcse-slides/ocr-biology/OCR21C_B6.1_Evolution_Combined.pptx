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B6.1 How was the theory of evolution developed? is Part 1 of 3 in J260 Chapter B6 Life on Earth – past, present and future (B6.1 evolution, B6.2 classification, B6.3 biodiversity). The separate-science Biology B (J257) has a fourth sub-topic on sexual and asexual reproduction, which is NOT in J260.
Scope (see SPEC_B6_1.md): B6.1.1–B6.1.8. Genes, alleles and genotype/phenotype (Chapter B1) are recapped only. Antibiotic resistance was taught in Chapter B2: here it is recapped and used as evidence for evolution only.
The wording comes from search extracts of the OCR J257 transition guide and specification mirrors (ocr.org.uk and the mirrors could not be fetched directly). Confidence: medium–high for the statements, medium for exact numbering.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(search extracts of the OCR J257 Biology B transition guide "natural selection", which shares B6.1 with J260; see SPEC_B6_1.md):
B6.1.1 state that there is usually extensive genetic variation within a population of a species.
B6.1.2 recall that genetic variants arise from mutations, and that most have no effect on the phenotype, some influence phenotype and a very few determine phenotype.
B6.1.3 explain how evolution occurs through natural selection of variants that give rise to phenotypes better suited to their environment.
B6.1.4 explain the importance of competition in a community, with regard to natural selection.
B6.1.5 describe evolution as a change in the inherited characteristics of a population over time, through a process of natural selection, which may result in the formation of new species.
B6.1.6 describe how fossils provide evidence for evolution.
B6.1.7 describe modern examples of evidence for evolution including antibiotic resistance in bacteria.
B6.1.8 describe the work of Darwin and Wallace in the development of the theory of evolution by natural selection and explain the impact of these ideas on biology.
No statement in B6.1 was found in bold (HT). Lamarck is an Ideas about Science context (how explanations are developed and accepted), not a named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B6 has three sub-topics (B6.1 evolution, B6.2 classification, B6.3 biodiversity), per the OCR J260 specification-at-a-glance and the docbrown Combined Science B page (B6.2 = classification), from search extracts. Biology B (J257) adds "How do sexual and asexual reproduction affect evolution?" as its B6.2, so its classification and biodiversity sub-topics are numbered B6.3 and B6.4.
Overlap control: genes, alleles, genotype and phenotype (Chapter B1) are recapped only; antibiotic resistance (Chapter B2) is recapped and used as evidence for evolution only; competition (B3) is recalled. Classification (B6.2) and extinction and biodiversity (B6.3) are left to the later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Gene: a section of DNA that codes for a protein / a characteristic. Allele: a different version of the same gene.
2. Genotype: the alleles an organism has. Phenotype: its observable characteristics (from the genotype and the environment).
3. Genes only: e.g. blood group, eye colour (accept natural hair colour). Genes and environment: height, mass, skin colour, intelligence (any reasonable).
4. Bacteria (not viruses). Some bacteria are not killed; infections become hard to treat.
5. Animals: food, water, space / territory, mates. Plants: light, water, mineral ions, space.
6. Remains or traces of organisms from long ago preserved in rock. Oldest at the bottom (if the layers have not been disturbed).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12 + 3 = 15 of 100 = 15%. Environmental changes do not change the alleles in the gametes, so they are not inherited (e.g. a scar, a dyed hair colour, muscles from training).
Node: midpoints × frequencies = 16 850; ÷ 100 = 168.5. Data illustrative (class of 100). Modal class 160–169 cm (36%).
B6.1.1 wording: "state that there is usually extensive genetic variation within a population of a species". Genetic vs environmental variation is recap of Chapter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change in the base sequence of DNA (a gene). Most do not change the protein (or its function), e.g. the new triplet codes for the same amino acid, or the change is in DNA that does not code for a protein; many alleles are recessive. 1200 ÷ 3 = 400 amino acids.
B6.1.2 wording: "recall that genetic variants arise from mutations, and that most have no effect on the phenotype, some influence phenotype and a very few determine phenotype". The triplet code is a stretch hint (protein synthesis detail is in B1 / not required). Node: 1/1200 × 100 = 0.0833.
The card labels under the boxes are illustrative examples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Genes / alleles inherited / genetic (1); environment / conditions, e.g. diet (1).
Q2 [2]: A change in the DNA (base sequence) / gene (1); produces a new allele / variant that can be inherited (if in a gamete) (1).
Q3 [2]: Some influence / partly change the phenotype (1); a very few determine the phenotype (on their own) (1).
Q4 [2]: 9 ÷ 30 × 100 (1); = 30%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4 ÷ 5000 × 100 = 0.08%. Any two: food, space / territory, oxygen, (later) mates. Not light.
B6.1.4 wording: "explain the importance of competition in a community, with regard to natural selection". Competition within and between species was met in B3 (recall only). 2000 eggs is a typical frog spawn figure (order of magnitude); node: 2/2000 × 100 = 0.1; 4/5000 × 100 = 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 Variation: pale and dark moths still present. (2) Change: clean air, lichen grows back, bark becomes pale. (3) Selection: dark moths now easily seen and eaten; pale moths camouflaged, so survive. (4) Pale moths breed, passing on the pale allele. (5) Over many generations the pale allele and pale moths become more common again.
B6.1.3 wording: "explain how evolution occurs through natural selection of variants that give rise to phenotypes better suited to their environment". Exam tip: the moths do NOT change colour because they need to, and individuals do not change: the population changes over generations because of which individuals survive to breed. The dark (carbonaria) form is due to a single dominant allele (stretch). Antibiotic resistance is the second example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100 − 95 = 5% pale; 5% of 200 = 10 moths.
Data: shaped on the classic accounts (first dark moth recorded near Manchester in 1848; about 95–98% dark by the 1890s; steep fall after the Clean Air Acts, to under 10% by about 2000). Exact values are illustrative and UNVERIFIED to the percent. Node: 95 − 2 = 93; 1895 − 1848 = 47; 90 − 10 = 80.
B6.1.5 wording: "describe evolution as a change in the inherited characteristics of a population over time, through a process of natural selection, which may result in the formation of new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Resources are limited / more offspring than can survive (1); only the individuals best suited / best at competing survive and reproduce (1).
Q2 [2]: Pale moths camouflaged on pale / lichen bark (1); so fewer eaten by birds, survive and breed / pass on pale allele (1).
Q3 [2]: Individual moths cannot change colour / do not change because they need to (1); dark moths already existed (mutation) and were selected / survived and bred, so the proportion changed over generations (1).
Q4 [2]: Fell (1); from about 90% to about 10% / by about 80 percentage points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group of organisms that can interbreed to produce fertile offspring. The groups cannot interbreed, so alleles are not shared; they face different conditions, so different variants are selected (and different mutations arise); over many generations they become so different that they can no longer interbreed to produce fertile offspring.
B6.1.5 wording ends "...which may result in the formation of new species". The isolation mechanism (geographical isolation → speciation) is not spelled out in the J260 statements found, so it is marked GRADE 7–9 STRETCH. Classification of species is B6.2 (not taught here). Extinction is not in the B6.1 statements found (it belongs with biodiversity, B6.3).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Any two: soft-bodied organisms decay before they can fossilise; most organisms never fossilise (conditions rarely right); fossils destroyed by geological activity / erosion; many not yet found. 1.2 m = 120 cm × 1000 = 120 000 years.
B6.1.6 wording: "describe how fossils provide evidence for evolution". The deposition rate is illustrative (real rates vary hugely). Strata drawing is a teaching model; the order shown (simple sea life → trilobites → fish → reptiles → mammals) follows the broad fossil record. Node: 350 × 1000 = 350 000; 120 × 1000 = 120 000.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 shows a population changing its inherited characteristics by natural selection, observed directly in a short time (the proportion of resistant bacteria increases because of a selection pressure). 180 ÷ 20 = 9 generations; 2⁹ = 512.
B6.1.7 wording: "describe modern examples of evidence for evolution including antibiotic resistance in bacteria". OVERLAP: antibiotics, MRSA and how to reduce resistance (finish the course, do not overuse) were taught in Chapter B2: recap only here. Ideal conditions assumed in the maths (no deaths, unlimited food). Node: 240/20 = 12; 2^12 = 4096; 2^9 = 512. Other modern evidence (stretch): warfarin-resistant rats, pesticide-resistant insects, DNA comparisons (DNA and classification are B6.2).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A change in the inherited characteristics of a population (1); over time / many generations, by natural selection (1).
Q2 [2]: Fossils in different rock layers can be dated / older in deeper layers (1); show organisms changing over time / simpler organisms in older rocks (1).
Q3 [2]: 100 ÷ 20 = 5 generations (1); 2⁵ = 32 (1).
Q4 [2]: A mutation makes some bacteria resistant (1); antibiotic kills non-resistant bacteria so resistant ones survive and reproduce / pass on resistance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Forceps = birds (predators); squares = moths (prey, two variants); background = tree bark (environment). Simplified: no mutation, no genes / alleles (offspring copy the parent exactly), one generation is instant, predator always searches the same way, no other causes of death, constant population size.
Suggested activity (no PAG code linked to B6.1 was found). Node: gen 0 survivors 15 and 5; doubled 30 and 10; 30/40 × 100 = 75%. Make the squares with a hole punch or cut 1 cm squares of black and cream paper. A pale background reverses the result: good for a class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percentage of dark squares rises each generation (50 → 75 → 90 → 95%), rising more slowly as it approaches 100%. Dark squares are camouflaged on the dark background, so fewer are picked (eaten); more dark survive and "breed", so the dark variant becomes more common. On a pale background the pale squares would become more common instead.
Data: illustrative class means, checked in node (each round removes 20; survivors doubled; totals 40). % dark: 50, 75, 90, 95. Generation 0: 15 of 20 pale eaten =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30 ÷ 40 × 100 (1); = 75% (1).
Q2 [2]: IV: generation (number) / background colour (1); DV: percentage / number of dark (or pale) squares (1).
Q3 [2]: Any two (1 each): no genes / alleles / inheritance; no mutations; fewer generations / faster; only one predator; no other causes of death; offspring identical to parent; population fixed at 40.
Q4 [2]: Reduces the effect of random error / one unusual result / one predator's habits (1); gives a more reliable / repeatable mean / trend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Two scientists reaching the same explanation from different evidence (different places and species) makes the explanation more convincing / supports it. 1859 − 1809 = 50 years.
B6.1.8 wording: "describe the work of Darwin and Wallace in the development of the theory of evolution by natural selection and explain the impact of these ideas on biology". Dates: Lamarck Philosophie zoologique 1809; Beagle voyage 1831–1836 (Galápagos visit 1835); Wallace in the Malay Archipelago 1854–1862; Wallace's Ternate essay 1858, joint Darwin–Wallace papers read at the Linnean Society on 1 July 1858; On the Origin of Species, November 1859. Node: 1859 − 1836 = 23; 1859 − 1809 = 50. Selective breeding appears only as Darwin's model (it is taught elsewhere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muscles were gained during the bodybuilder's life (acquired by use); their children are not born with large muscles because the change is not in the DNA / gametes. Lamarck predicted acquired characteristics would be inherited; the evidence does not support this, so his explanation was rejected.
Ideas about Science: scientific explanations are developed from data, tested by predictions, discussed by the scientific community, and accepted when they explain more and survive testing; they can be modified when new evidence arrives (e.g. genetics added to Darwin, the "modern synthesis"). B6.1.8 includes "explain the impact of these ideas on biology". Lamarck is the comparison for how theories develop; the exact phrase "Lamarck" was not found in the J260 statements (medium confidence that it is assessed by name). Epigenetics is beyond GCSE.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Finches / tortoises / animals differed between the Galápagos islands (1); each suited / adapted to the food or conditions on its island / fossils similar to living species (1).
Q2 [2]: Came up with the same idea / natural selection independently (1); sent his essay to Darwin; ideas presented jointly in 1858 / prompted Darwin to publish (1).
Q3 [2]: Lamarck: changes acquired during life (by use) are passed on (1); Darwin: individuals already vary (inherited variation); the best suited survive and breed (1).
Q4 [2]: Any two (1 each): conflicted with religious belief / creation; not enough evidence at the time; no explanation of how characteristics were inherited (genes unknown); people found it hard to accept humans share ancestors with 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Exam tip: write "better suited" or "better adapted" and "survive AND reproduce, passing on their alleles"; never "they evolved because they needed to". Phenotype is a recap term from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A mutation (1); a change in the DNA / gene produced a new allele / variant (1).
(b) [2]: 18 ÷ 60 × 100 (1); = 30% (1).
(c) [4]: Variation: some lizards already dark (1); dark lizards camouflaged on black rock, so fewer eaten by birds / pale ones seen and eaten (1); dark lizards survive and reproduce (1); pass on the dark allele, so over generations the proportion of dark lizards increases (to 85%) (1).
(d) [2]: Resources (food / space / mates) are limited, so not all survive (1); those best suited / best at competing survive to reproduce (1).
(e) [2]: Fossils in older / deeper rock layers can be dated (1); comparing them with living lizards shows how features changed over time (1).
(f) [1]: Alfred Russel Wallace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A change in the inherited characteristics of a population over time (by natural selection) (1).
2 [2]: 360 ÷ 30 = 12 generations (1); 2¹² = 4096 (1).
3 [2]: Any two (1 each): soft-bodied organisms decay / do not fossilise; conditions for fossils are rare; fossils destroyed by geological activity / erosion; many not yet found.
4 [2]: Changes gained during life are not passed on / not in the genes / gametes (1); evidence (e.g. experiments, cut tails, muscles) shows acquired features are not inherited (1).
5 [2]: Most mutations do not change the protein / its function (1); e.g. same amino acid coded / in non-coding DNA / recessive allele masked (1). Accept: most have no effect, some influence, very few determine the phenotype (1 max).
6 [2]: (12 + 15 + 9) ÷ 3 (1); = 12 (1).
7 [6]: OCR level-of-response mark scheme (6 marks). Read the whole answer, decide the level from the content descriptor, then the mark within the level from the quality of the line of reasoning. Use the indicative scientific points below.
Level 3 (5–6 marks): Explains BOTH the rise AND the fall in dark moths using all the steps of natural selection (variation, selection by predators, survival and reproduction, inheritance of alleles over generations). There is a well-developed line of reasoning which is clear and logically structured. The information presented is relevant and substantiated.
Level 2 (3–4 marks): Explains either the rise or the fall using most steps of natural selection, OR describes both changes with some explanation. There is a line of reasoning presented with some structure. The information presented is relevant and supported by some evidence.
Level 1 (1–2 marks): Simple statements, e.g. "dark moths were camouflaged on the dark trees" or "birds ate the pale moths". There is an attempt at a logical structure with a line of reasoning. The information is in the most part relevant.
0 marks: no response or no response worthy of credit.
Indicative scientific points may include:
 • Variation: the moth population contained pale and dark moths; wing colour is inherited (alleles); the dark allele arose by mutation.
 • Before industry: pale lichen bark; pale moths camouflaged, dark moths easily seen and eaten by birds; pale moths survived and bred; dark rare.
 • Industrial pollution: soot killed lichen / blackened bark; dark moths now camouflaged; pale moths seen and eaten.
 • Dark moths survived, reproduced and passed on the dark allele; over many generations the proportion of dark moths rose (to about 95%).
 • Clean Air Act / less pollution: bark paler again; selection reversed; pale moths survive and breed; dark moths fall.
 • Competition / predation is the selection pressure; individuals do not change colour; the population changes over generations: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B6.1  Evolution</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How was the theory of evolution developed?</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Variation  •  Mutation  •  Competition  •  Natural selection  •  Fossils  •  Darwin &amp; Wallace</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B6.1.1–B6.1.8 • variation, mutation, competition, natural selection, evidence, Darwin and Wallace</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HT-only statements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Peppered moths • fossils • antibiotic resistance • camouflage model activity • Lamarck vs Darwin</a:t>
            </a:r>
            <a:endParaRPr lang="en-US" sz="1400" dirty="0"/>
          </a:p>
        </p:txBody>
      </p:sp>
      <p:sp>
        <p:nvSpPr>
          <p:cNvPr id="19" name="Shape 17"/>
          <p:cNvSpPr/>
          <p:nvPr/>
        </p:nvSpPr>
        <p:spPr>
          <a:xfrm>
            <a:off x="731520" y="5769864"/>
            <a:ext cx="627735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627735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3 in Chapter B6: Life on Earth – past, present and future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B6.1 How was the theory of evolution developed?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B6.1.1–B6.1.8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B6.1.1   </a:t>
            </a:r>
            <a:r>
              <a:rPr lang="en-US" sz="1200" dirty="0">
                <a:solidFill>
                  <a:srgbClr val="262B3A"/>
                </a:solidFill>
                <a:latin typeface="Calibri" pitchFamily="34" charset="0"/>
                <a:ea typeface="Calibri" pitchFamily="34" charset="-122"/>
                <a:cs typeface="Calibri" pitchFamily="34" charset="-120"/>
              </a:rPr>
              <a:t>State that there is usually </a:t>
            </a:r>
            <a:r>
              <a:rPr lang="en-US" sz="1200" b="1" dirty="0">
                <a:solidFill>
                  <a:srgbClr val="262B3A"/>
                </a:solidFill>
                <a:latin typeface="Calibri" pitchFamily="34" charset="0"/>
                <a:ea typeface="Calibri" pitchFamily="34" charset="-122"/>
                <a:cs typeface="Calibri" pitchFamily="34" charset="-120"/>
              </a:rPr>
              <a:t>extensive genetic variation</a:t>
            </a:r>
            <a:r>
              <a:rPr lang="en-US" sz="1200" dirty="0">
                <a:solidFill>
                  <a:srgbClr val="262B3A"/>
                </a:solidFill>
                <a:latin typeface="Calibri" pitchFamily="34" charset="0"/>
                <a:ea typeface="Calibri" pitchFamily="34" charset="-122"/>
                <a:cs typeface="Calibri" pitchFamily="34" charset="-120"/>
              </a:rPr>
              <a:t> within a population of a species.</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B6.1.2   </a:t>
            </a:r>
            <a:r>
              <a:rPr lang="en-US" sz="1200" dirty="0">
                <a:solidFill>
                  <a:srgbClr val="262B3A"/>
                </a:solidFill>
                <a:latin typeface="Calibri" pitchFamily="34" charset="0"/>
                <a:ea typeface="Calibri" pitchFamily="34" charset="-122"/>
                <a:cs typeface="Calibri" pitchFamily="34" charset="-120"/>
              </a:rPr>
              <a:t>Recall that genetic variants arise from </a:t>
            </a:r>
            <a:r>
              <a:rPr lang="en-US" sz="1200" b="1" dirty="0">
                <a:solidFill>
                  <a:srgbClr val="262B3A"/>
                </a:solidFill>
                <a:latin typeface="Calibri" pitchFamily="34" charset="0"/>
                <a:ea typeface="Calibri" pitchFamily="34" charset="-122"/>
                <a:cs typeface="Calibri" pitchFamily="34" charset="-120"/>
              </a:rPr>
              <a:t>mutations</a:t>
            </a:r>
            <a:r>
              <a:rPr lang="en-US" sz="1200" dirty="0">
                <a:solidFill>
                  <a:srgbClr val="262B3A"/>
                </a:solidFill>
                <a:latin typeface="Calibri" pitchFamily="34" charset="0"/>
                <a:ea typeface="Calibri" pitchFamily="34" charset="-122"/>
                <a:cs typeface="Calibri" pitchFamily="34" charset="-120"/>
              </a:rPr>
              <a:t>; most have </a:t>
            </a:r>
            <a:r>
              <a:rPr lang="en-US" sz="1200" b="1" dirty="0">
                <a:solidFill>
                  <a:srgbClr val="262B3A"/>
                </a:solidFill>
                <a:latin typeface="Calibri" pitchFamily="34" charset="0"/>
                <a:ea typeface="Calibri" pitchFamily="34" charset="-122"/>
                <a:cs typeface="Calibri" pitchFamily="34" charset="-120"/>
              </a:rPr>
              <a:t>no effect</a:t>
            </a:r>
            <a:r>
              <a:rPr lang="en-US" sz="1200" dirty="0">
                <a:solidFill>
                  <a:srgbClr val="262B3A"/>
                </a:solidFill>
                <a:latin typeface="Calibri" pitchFamily="34" charset="0"/>
                <a:ea typeface="Calibri" pitchFamily="34" charset="-122"/>
                <a:cs typeface="Calibri" pitchFamily="34" charset="-120"/>
              </a:rPr>
              <a:t> on the phenotype, some </a:t>
            </a:r>
            <a:r>
              <a:rPr lang="en-US" sz="1200" b="1" dirty="0">
                <a:solidFill>
                  <a:srgbClr val="262B3A"/>
                </a:solidFill>
                <a:latin typeface="Calibri" pitchFamily="34" charset="0"/>
                <a:ea typeface="Calibri" pitchFamily="34" charset="-122"/>
                <a:cs typeface="Calibri" pitchFamily="34" charset="-120"/>
              </a:rPr>
              <a:t>influence</a:t>
            </a:r>
            <a:r>
              <a:rPr lang="en-US" sz="1200" dirty="0">
                <a:solidFill>
                  <a:srgbClr val="262B3A"/>
                </a:solidFill>
                <a:latin typeface="Calibri" pitchFamily="34" charset="0"/>
                <a:ea typeface="Calibri" pitchFamily="34" charset="-122"/>
                <a:cs typeface="Calibri" pitchFamily="34" charset="-120"/>
              </a:rPr>
              <a:t> it, a very few </a:t>
            </a:r>
            <a:r>
              <a:rPr lang="en-US" sz="1200" b="1" dirty="0">
                <a:solidFill>
                  <a:srgbClr val="262B3A"/>
                </a:solidFill>
                <a:latin typeface="Calibri" pitchFamily="34" charset="0"/>
                <a:ea typeface="Calibri" pitchFamily="34" charset="-122"/>
                <a:cs typeface="Calibri" pitchFamily="34" charset="-120"/>
              </a:rPr>
              <a:t>determine</a:t>
            </a:r>
            <a:r>
              <a:rPr lang="en-US" sz="1200" dirty="0">
                <a:solidFill>
                  <a:srgbClr val="262B3A"/>
                </a:solidFill>
                <a:latin typeface="Calibri" pitchFamily="34" charset="0"/>
                <a:ea typeface="Calibri" pitchFamily="34" charset="-122"/>
                <a:cs typeface="Calibri" pitchFamily="34" charset="-120"/>
              </a:rPr>
              <a:t> it.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B6.1.4   </a:t>
            </a:r>
            <a:r>
              <a:rPr lang="en-US" sz="1200" dirty="0">
                <a:solidFill>
                  <a:srgbClr val="262B3A"/>
                </a:solidFill>
                <a:latin typeface="Calibri" pitchFamily="34" charset="0"/>
                <a:ea typeface="Calibri" pitchFamily="34" charset="-122"/>
                <a:cs typeface="Calibri" pitchFamily="34" charset="-120"/>
              </a:rPr>
              <a:t>Explain the importance of </a:t>
            </a:r>
            <a:r>
              <a:rPr lang="en-US" sz="1200" b="1" dirty="0">
                <a:solidFill>
                  <a:srgbClr val="262B3A"/>
                </a:solidFill>
                <a:latin typeface="Calibri" pitchFamily="34" charset="0"/>
                <a:ea typeface="Calibri" pitchFamily="34" charset="-122"/>
                <a:cs typeface="Calibri" pitchFamily="34" charset="-120"/>
              </a:rPr>
              <a:t>competition</a:t>
            </a:r>
            <a:r>
              <a:rPr lang="en-US" sz="1200" dirty="0">
                <a:solidFill>
                  <a:srgbClr val="262B3A"/>
                </a:solidFill>
                <a:latin typeface="Calibri" pitchFamily="34" charset="0"/>
                <a:ea typeface="Calibri" pitchFamily="34" charset="-122"/>
                <a:cs typeface="Calibri" pitchFamily="34" charset="-120"/>
              </a:rPr>
              <a:t> in a community for natural selection.</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B6.1.3   </a:t>
            </a:r>
            <a:r>
              <a:rPr lang="en-US" sz="1200" dirty="0">
                <a:solidFill>
                  <a:srgbClr val="262B3A"/>
                </a:solidFill>
                <a:latin typeface="Calibri" pitchFamily="34" charset="0"/>
                <a:ea typeface="Calibri" pitchFamily="34" charset="-122"/>
                <a:cs typeface="Calibri" pitchFamily="34" charset="-120"/>
              </a:rPr>
              <a:t>Explain how evolution happens by </a:t>
            </a:r>
            <a:r>
              <a:rPr lang="en-US" sz="1200" b="1" dirty="0">
                <a:solidFill>
                  <a:srgbClr val="262B3A"/>
                </a:solidFill>
                <a:latin typeface="Calibri" pitchFamily="34" charset="0"/>
                <a:ea typeface="Calibri" pitchFamily="34" charset="-122"/>
                <a:cs typeface="Calibri" pitchFamily="34" charset="-120"/>
              </a:rPr>
              <a:t>natural selection</a:t>
            </a:r>
            <a:r>
              <a:rPr lang="en-US" sz="1200" dirty="0">
                <a:solidFill>
                  <a:srgbClr val="262B3A"/>
                </a:solidFill>
                <a:latin typeface="Calibri" pitchFamily="34" charset="0"/>
                <a:ea typeface="Calibri" pitchFamily="34" charset="-122"/>
                <a:cs typeface="Calibri" pitchFamily="34" charset="-120"/>
              </a:rPr>
              <a:t> of variants better suited to their environment.</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B6.1.5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evolution</a:t>
            </a:r>
            <a:r>
              <a:rPr lang="en-US" sz="1200" dirty="0">
                <a:solidFill>
                  <a:srgbClr val="262B3A"/>
                </a:solidFill>
                <a:latin typeface="Calibri" pitchFamily="34" charset="0"/>
                <a:ea typeface="Calibri" pitchFamily="34" charset="-122"/>
                <a:cs typeface="Calibri" pitchFamily="34" charset="-120"/>
              </a:rPr>
              <a:t> as a change in the inherited characteristics of a population, which may form </a:t>
            </a:r>
            <a:r>
              <a:rPr lang="en-US" sz="1200" b="1" dirty="0">
                <a:solidFill>
                  <a:srgbClr val="262B3A"/>
                </a:solidFill>
                <a:latin typeface="Calibri" pitchFamily="34" charset="0"/>
                <a:ea typeface="Calibri" pitchFamily="34" charset="-122"/>
                <a:cs typeface="Calibri" pitchFamily="34" charset="-120"/>
              </a:rPr>
              <a:t>new species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B6.1.6   </a:t>
            </a:r>
            <a:r>
              <a:rPr lang="en-US" sz="1200" dirty="0">
                <a:solidFill>
                  <a:srgbClr val="262B3A"/>
                </a:solidFill>
                <a:latin typeface="Calibri" pitchFamily="34" charset="0"/>
                <a:ea typeface="Calibri" pitchFamily="34" charset="-122"/>
                <a:cs typeface="Calibri" pitchFamily="34" charset="-120"/>
              </a:rPr>
              <a:t>Describe how </a:t>
            </a:r>
            <a:r>
              <a:rPr lang="en-US" sz="1200" b="1" dirty="0">
                <a:solidFill>
                  <a:srgbClr val="262B3A"/>
                </a:solidFill>
                <a:latin typeface="Calibri" pitchFamily="34" charset="0"/>
                <a:ea typeface="Calibri" pitchFamily="34" charset="-122"/>
                <a:cs typeface="Calibri" pitchFamily="34" charset="-120"/>
              </a:rPr>
              <a:t>fossils</a:t>
            </a:r>
            <a:r>
              <a:rPr lang="en-US" sz="1200" dirty="0">
                <a:solidFill>
                  <a:srgbClr val="262B3A"/>
                </a:solidFill>
                <a:latin typeface="Calibri" pitchFamily="34" charset="0"/>
                <a:ea typeface="Calibri" pitchFamily="34" charset="-122"/>
                <a:cs typeface="Calibri" pitchFamily="34" charset="-120"/>
              </a:rPr>
              <a:t> provide evidence for evolution.</a:t>
            </a:r>
            <a:endParaRPr lang="en-US" sz="1100" dirty="0"/>
          </a:p>
        </p:txBody>
      </p:sp>
      <p:sp>
        <p:nvSpPr>
          <p:cNvPr id="26" name="Shape 24"/>
          <p:cNvSpPr/>
          <p:nvPr/>
        </p:nvSpPr>
        <p:spPr>
          <a:xfrm>
            <a:off x="6263640" y="306324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B6.1.7   </a:t>
            </a:r>
            <a:r>
              <a:rPr lang="en-US" sz="1200" dirty="0">
                <a:solidFill>
                  <a:srgbClr val="262B3A"/>
                </a:solidFill>
                <a:latin typeface="Calibri" pitchFamily="34" charset="0"/>
                <a:ea typeface="Calibri" pitchFamily="34" charset="-122"/>
                <a:cs typeface="Calibri" pitchFamily="34" charset="-120"/>
              </a:rPr>
              <a:t>Describe modern evidence for evolution, including </a:t>
            </a:r>
            <a:r>
              <a:rPr lang="en-US" sz="1200" b="1" dirty="0">
                <a:solidFill>
                  <a:srgbClr val="262B3A"/>
                </a:solidFill>
                <a:latin typeface="Calibri" pitchFamily="34" charset="0"/>
                <a:ea typeface="Calibri" pitchFamily="34" charset="-122"/>
                <a:cs typeface="Calibri" pitchFamily="34" charset="-120"/>
              </a:rPr>
              <a:t>antibiotic resistance</a:t>
            </a:r>
            <a:r>
              <a:rPr lang="en-US" sz="1200" dirty="0">
                <a:solidFill>
                  <a:srgbClr val="262B3A"/>
                </a:solidFill>
                <a:latin typeface="Calibri" pitchFamily="34" charset="0"/>
                <a:ea typeface="Calibri" pitchFamily="34" charset="-122"/>
                <a:cs typeface="Calibri" pitchFamily="34" charset="-120"/>
              </a:rPr>
              <a:t> in bacteria.</a:t>
            </a:r>
            <a:endParaRPr lang="en-US" sz="1100" dirty="0"/>
          </a:p>
        </p:txBody>
      </p:sp>
      <p:sp>
        <p:nvSpPr>
          <p:cNvPr id="29" name="Shape 27"/>
          <p:cNvSpPr/>
          <p:nvPr/>
        </p:nvSpPr>
        <p:spPr>
          <a:xfrm>
            <a:off x="6263640" y="3931920"/>
            <a:ext cx="457200" cy="457200"/>
          </a:xfrm>
          <a:prstGeom prst="ellipse">
            <a:avLst/>
          </a:prstGeom>
          <a:solidFill>
            <a:srgbClr val="0D7877"/>
          </a:solidFill>
          <a:ln w="12700">
            <a:solidFill>
              <a:srgbClr val="0D7877"/>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B6.1.8   </a:t>
            </a:r>
            <a:r>
              <a:rPr lang="en-US" sz="1200" dirty="0">
                <a:solidFill>
                  <a:srgbClr val="262B3A"/>
                </a:solidFill>
                <a:latin typeface="Calibri" pitchFamily="34" charset="0"/>
                <a:ea typeface="Calibri" pitchFamily="34" charset="-122"/>
                <a:cs typeface="Calibri" pitchFamily="34" charset="-120"/>
              </a:rPr>
              <a:t>Describe the work of </a:t>
            </a:r>
            <a:r>
              <a:rPr lang="en-US" sz="1200" b="1" dirty="0">
                <a:solidFill>
                  <a:srgbClr val="262B3A"/>
                </a:solidFill>
                <a:latin typeface="Calibri" pitchFamily="34" charset="0"/>
                <a:ea typeface="Calibri" pitchFamily="34" charset="-122"/>
                <a:cs typeface="Calibri" pitchFamily="34" charset="-120"/>
              </a:rPr>
              <a:t>Darwin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Wallace</a:t>
            </a:r>
            <a:r>
              <a:rPr lang="en-US" sz="1200" dirty="0">
                <a:solidFill>
                  <a:srgbClr val="262B3A"/>
                </a:solidFill>
                <a:latin typeface="Calibri" pitchFamily="34" charset="0"/>
                <a:ea typeface="Calibri" pitchFamily="34" charset="-122"/>
                <a:cs typeface="Calibri" pitchFamily="34" charset="-120"/>
              </a:rPr>
              <a:t>, and how a scientific theory develops (</a:t>
            </a:r>
            <a:r>
              <a:rPr lang="en-US" sz="1200" b="1" dirty="0">
                <a:solidFill>
                  <a:srgbClr val="262B3A"/>
                </a:solidFill>
                <a:latin typeface="Calibri" pitchFamily="34" charset="0"/>
                <a:ea typeface="Calibri" pitchFamily="34" charset="-122"/>
                <a:cs typeface="Calibri" pitchFamily="34" charset="-120"/>
              </a:rPr>
              <a:t>Lamarck</a:t>
            </a:r>
            <a:r>
              <a:rPr lang="en-US" sz="1200" dirty="0">
                <a:solidFill>
                  <a:srgbClr val="262B3A"/>
                </a:solidFill>
                <a:latin typeface="Calibri" pitchFamily="34" charset="0"/>
                <a:ea typeface="Calibri" pitchFamily="34" charset="-122"/>
                <a:cs typeface="Calibri" pitchFamily="34" charset="-120"/>
              </a:rPr>
              <a:t> vs Darwin).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B6 Life on Earth – past, present and future • B6.1 is Part 1 of 3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B6.1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Evolution</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B6.1.1–2   </a:t>
            </a:r>
            <a:r>
              <a:rPr lang="en-US" sz="1100" dirty="0">
                <a:solidFill>
                  <a:srgbClr val="262B3A"/>
                </a:solidFill>
                <a:latin typeface="Calibri" pitchFamily="34" charset="0"/>
                <a:ea typeface="Calibri" pitchFamily="34" charset="-122"/>
                <a:cs typeface="Calibri" pitchFamily="34" charset="-120"/>
              </a:rPr>
              <a:t>Variation and mutation</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B6.1.3–4   </a:t>
            </a:r>
            <a:r>
              <a:rPr lang="en-US" sz="1100" dirty="0">
                <a:solidFill>
                  <a:srgbClr val="262B3A"/>
                </a:solidFill>
                <a:latin typeface="Calibri" pitchFamily="34" charset="0"/>
                <a:ea typeface="Calibri" pitchFamily="34" charset="-122"/>
                <a:cs typeface="Calibri" pitchFamily="34" charset="-120"/>
              </a:rPr>
              <a:t>Competition and natural selection: peppered moths</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B6.1.5   </a:t>
            </a:r>
            <a:r>
              <a:rPr lang="en-US" sz="1100" dirty="0">
                <a:solidFill>
                  <a:srgbClr val="262B3A"/>
                </a:solidFill>
                <a:latin typeface="Calibri" pitchFamily="34" charset="0"/>
                <a:ea typeface="Calibri" pitchFamily="34" charset="-122"/>
                <a:cs typeface="Calibri" pitchFamily="34" charset="-120"/>
              </a:rPr>
              <a:t>Evolution and new species</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B6.1.6–7   </a:t>
            </a:r>
            <a:r>
              <a:rPr lang="en-US" sz="1100" dirty="0">
                <a:solidFill>
                  <a:srgbClr val="262B3A"/>
                </a:solidFill>
                <a:latin typeface="Calibri" pitchFamily="34" charset="0"/>
                <a:ea typeface="Calibri" pitchFamily="34" charset="-122"/>
                <a:cs typeface="Calibri" pitchFamily="34" charset="-120"/>
              </a:rPr>
              <a:t>Evidence: fossils and antibiotic resistance</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Activity   </a:t>
            </a:r>
            <a:r>
              <a:rPr lang="en-US" sz="1100" dirty="0">
                <a:solidFill>
                  <a:srgbClr val="262B3A"/>
                </a:solidFill>
                <a:latin typeface="Calibri" pitchFamily="34" charset="0"/>
                <a:ea typeface="Calibri" pitchFamily="34" charset="-122"/>
                <a:cs typeface="Calibri" pitchFamily="34" charset="-120"/>
              </a:rPr>
              <a:t>Modelling natural selection (camouflage)</a:t>
            </a:r>
            <a:endParaRPr lang="en-US" sz="1100" dirty="0"/>
          </a:p>
        </p:txBody>
      </p:sp>
      <p:sp>
        <p:nvSpPr>
          <p:cNvPr id="34" name="Shape 32"/>
          <p:cNvSpPr/>
          <p:nvPr/>
        </p:nvSpPr>
        <p:spPr>
          <a:xfrm>
            <a:off x="5257800" y="4882896"/>
            <a:ext cx="1097280" cy="274320"/>
          </a:xfrm>
          <a:prstGeom prst="roundRect">
            <a:avLst>
              <a:gd name="adj" fmla="val 50000"/>
            </a:avLst>
          </a:prstGeom>
          <a:solidFill>
            <a:srgbClr val="B8730A"/>
          </a:solidFill>
          <a:ln w="12700">
            <a:solidFill>
              <a:srgbClr val="B8730A"/>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B6.1.8   </a:t>
            </a:r>
            <a:r>
              <a:rPr lang="en-US" sz="1100" dirty="0">
                <a:solidFill>
                  <a:srgbClr val="262B3A"/>
                </a:solidFill>
                <a:latin typeface="Calibri" pitchFamily="34" charset="0"/>
                <a:ea typeface="Calibri" pitchFamily="34" charset="-122"/>
                <a:cs typeface="Calibri" pitchFamily="34" charset="-120"/>
              </a:rPr>
              <a:t>Darwin, Wallace and Lamarck: how theories develop</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B1 genes, alleles, genotype and phenotype • B2 antibiotics • B3 competition in ecosystems</a:t>
            </a:r>
            <a:endParaRPr lang="en-US" sz="1050" dirty="0"/>
          </a:p>
        </p:txBody>
      </p:sp>
      <p:sp>
        <p:nvSpPr>
          <p:cNvPr id="42" name="Shape 40"/>
          <p:cNvSpPr/>
          <p:nvPr/>
        </p:nvSpPr>
        <p:spPr>
          <a:xfrm>
            <a:off x="6720840" y="1234440"/>
            <a:ext cx="5056632" cy="2743200"/>
          </a:xfrm>
          <a:prstGeom prst="roundRect">
            <a:avLst>
              <a:gd name="adj" fmla="val 2000"/>
            </a:avLst>
          </a:prstGeom>
          <a:solidFill>
            <a:srgbClr val="0F3D3E"/>
          </a:solidFill>
          <a:ln/>
        </p:spPr>
      </p:sp>
      <p:sp>
        <p:nvSpPr>
          <p:cNvPr id="43" name="Text 41"/>
          <p:cNvSpPr/>
          <p:nvPr/>
        </p:nvSpPr>
        <p:spPr>
          <a:xfrm>
            <a:off x="6903720" y="1325880"/>
            <a:ext cx="4709160" cy="25603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B6 in J260</a:t>
            </a:r>
            <a:endParaRPr lang="en-US" sz="1500" dirty="0"/>
          </a:p>
          <a:p>
            <a:pPr marL="152400" indent="-152400">
              <a:spcAft>
                <a:spcPts val="400"/>
              </a:spcAft>
              <a:buSzPct val="100000"/>
              <a:buChar char="▪"/>
            </a:pPr>
            <a:r>
              <a:rPr lang="en-US" sz="1150" b="1" dirty="0">
                <a:solidFill>
                  <a:srgbClr val="E3F2F0"/>
                </a:solidFill>
                <a:latin typeface="Calibri" pitchFamily="34" charset="0"/>
                <a:ea typeface="Calibri" pitchFamily="34" charset="-122"/>
                <a:cs typeface="Calibri" pitchFamily="34" charset="-120"/>
              </a:rPr>
              <a:t>B6.1 How was the theory of evolution developed?</a:t>
            </a:r>
            <a:r>
              <a:rPr lang="en-US" sz="115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400"/>
              </a:spcAft>
              <a:buSzPct val="100000"/>
              <a:buChar char="▪"/>
            </a:pPr>
            <a:r>
              <a:rPr lang="en-US" sz="1150" dirty="0">
                <a:solidFill>
                  <a:srgbClr val="E3F2F0"/>
                </a:solidFill>
                <a:latin typeface="Calibri" pitchFamily="34" charset="0"/>
                <a:ea typeface="Calibri" pitchFamily="34" charset="-122"/>
                <a:cs typeface="Calibri" pitchFamily="34" charset="-120"/>
              </a:rPr>
              <a:t>B6.2 How does our understanding of biology help us classify the diversity of organisms on Earth?</a:t>
            </a:r>
            <a:endParaRPr lang="en-US" sz="1500" dirty="0"/>
          </a:p>
          <a:p>
            <a:pPr marL="152400" indent="-152400">
              <a:spcAft>
                <a:spcPts val="400"/>
              </a:spcAft>
              <a:buSzPct val="100000"/>
              <a:buChar char="▪"/>
            </a:pPr>
            <a:r>
              <a:rPr lang="en-US" sz="1150" dirty="0">
                <a:solidFill>
                  <a:srgbClr val="E3F2F0"/>
                </a:solidFill>
                <a:latin typeface="Calibri" pitchFamily="34" charset="0"/>
                <a:ea typeface="Calibri" pitchFamily="34" charset="-122"/>
                <a:cs typeface="Calibri" pitchFamily="34" charset="-120"/>
              </a:rPr>
              <a:t>B6.3 How is biodiversity threatened and how can we protect it?</a:t>
            </a:r>
            <a:endParaRPr lang="en-US" sz="1500" dirty="0"/>
          </a:p>
        </p:txBody>
      </p:sp>
      <p:sp>
        <p:nvSpPr>
          <p:cNvPr id="44" name="Shape 42"/>
          <p:cNvSpPr/>
          <p:nvPr/>
        </p:nvSpPr>
        <p:spPr>
          <a:xfrm>
            <a:off x="6720840" y="4114800"/>
            <a:ext cx="5056632" cy="2148840"/>
          </a:xfrm>
          <a:prstGeom prst="roundRect">
            <a:avLst>
              <a:gd name="adj" fmla="val 2553"/>
            </a:avLst>
          </a:prstGeom>
          <a:solidFill>
            <a:srgbClr val="FFF4E0"/>
          </a:solidFill>
          <a:ln w="12700">
            <a:solidFill>
              <a:srgbClr val="F1D9A8"/>
            </a:solidFill>
            <a:prstDash val="solid"/>
          </a:ln>
        </p:spPr>
      </p:sp>
      <p:sp>
        <p:nvSpPr>
          <p:cNvPr id="45" name="Text 43"/>
          <p:cNvSpPr/>
          <p:nvPr/>
        </p:nvSpPr>
        <p:spPr>
          <a:xfrm>
            <a:off x="6903720" y="4206240"/>
            <a:ext cx="4709160" cy="19659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 B6.1 statement is Higher-only: every slide is for </a:t>
            </a:r>
            <a:r>
              <a:rPr lang="en-US" sz="1100" b="1" dirty="0">
                <a:solidFill>
                  <a:srgbClr val="262B3A"/>
                </a:solidFill>
                <a:latin typeface="Calibri" pitchFamily="34" charset="0"/>
                <a:ea typeface="Calibri" pitchFamily="34" charset="-122"/>
                <a:cs typeface="Calibri" pitchFamily="34" charset="-120"/>
              </a:rPr>
              <a:t>both tiers</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red </a:t>
            </a:r>
            <a:r>
              <a:rPr lang="en-US" sz="1100" b="1" dirty="0">
                <a:solidFill>
                  <a:srgbClr val="262B3A"/>
                </a:solidFill>
                <a:latin typeface="Calibri" pitchFamily="34" charset="0"/>
                <a:ea typeface="Calibri" pitchFamily="34" charset="-122"/>
                <a:cs typeface="Calibri" pitchFamily="34" charset="-120"/>
              </a:rPr>
              <a:t>GRADE 7–9 STRETCH</a:t>
            </a:r>
            <a:r>
              <a:rPr lang="en-US" sz="1100" dirty="0">
                <a:solidFill>
                  <a:srgbClr val="262B3A"/>
                </a:solidFill>
                <a:latin typeface="Calibri" pitchFamily="34" charset="0"/>
                <a:ea typeface="Calibri" pitchFamily="34" charset="-122"/>
                <a:cs typeface="Calibri" pitchFamily="34" charset="-120"/>
              </a:rPr>
              <a:t> pill marks extra depth (how isolation leads to new species).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histograms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means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powers of 2</a:t>
            </a:r>
            <a:r>
              <a:rPr lang="en-US" sz="1100" dirty="0">
                <a:solidFill>
                  <a:srgbClr val="262B3A"/>
                </a:solidFill>
                <a:latin typeface="Calibri" pitchFamily="34" charset="0"/>
                <a:ea typeface="Calibri" pitchFamily="34" charset="-122"/>
                <a:cs typeface="Calibri" pitchFamily="34" charset="-120"/>
              </a:rPr>
              <a:t>, reading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B1, B2, B3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 • genes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gene</a:t>
            </a:r>
            <a:r>
              <a:rPr lang="en-US" sz="1250" dirty="0">
                <a:solidFill>
                  <a:srgbClr val="262B3A"/>
                </a:solidFill>
                <a:latin typeface="Calibri" pitchFamily="34" charset="0"/>
                <a:ea typeface="Calibri" pitchFamily="34" charset="-122"/>
                <a:cs typeface="Calibri" pitchFamily="34" charset="-120"/>
              </a:rPr>
              <a:t>? What is an </a:t>
            </a:r>
            <a:r>
              <a:rPr lang="en-US" sz="1250" b="1" dirty="0">
                <a:solidFill>
                  <a:srgbClr val="262B3A"/>
                </a:solidFill>
                <a:latin typeface="Calibri" pitchFamily="34" charset="0"/>
                <a:ea typeface="Calibri" pitchFamily="34" charset="-122"/>
                <a:cs typeface="Calibri" pitchFamily="34" charset="-120"/>
              </a:rPr>
              <a:t>allele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 • genotype and phenotype</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the difference between </a:t>
            </a:r>
            <a:r>
              <a:rPr lang="en-US" sz="1250" b="1" dirty="0">
                <a:solidFill>
                  <a:srgbClr val="262B3A"/>
                </a:solidFill>
                <a:latin typeface="Calibri" pitchFamily="34" charset="0"/>
                <a:ea typeface="Calibri" pitchFamily="34" charset="-122"/>
                <a:cs typeface="Calibri" pitchFamily="34" charset="-120"/>
              </a:rPr>
              <a:t>genotype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phenotype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 • variation</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one characteristic caused by </a:t>
            </a:r>
            <a:r>
              <a:rPr lang="en-US" sz="1250" b="1" dirty="0">
                <a:solidFill>
                  <a:srgbClr val="262B3A"/>
                </a:solidFill>
                <a:latin typeface="Calibri" pitchFamily="34" charset="0"/>
                <a:ea typeface="Calibri" pitchFamily="34" charset="-122"/>
                <a:cs typeface="Calibri" pitchFamily="34" charset="-120"/>
              </a:rPr>
              <a:t>genes only</a:t>
            </a:r>
            <a:r>
              <a:rPr lang="en-US" sz="1250" dirty="0">
                <a:solidFill>
                  <a:srgbClr val="262B3A"/>
                </a:solidFill>
                <a:latin typeface="Calibri" pitchFamily="34" charset="0"/>
                <a:ea typeface="Calibri" pitchFamily="34" charset="-122"/>
                <a:cs typeface="Calibri" pitchFamily="34" charset="-120"/>
              </a:rPr>
              <a:t> and one affected by the </a:t>
            </a:r>
            <a:r>
              <a:rPr lang="en-US" sz="1250" b="1" dirty="0">
                <a:solidFill>
                  <a:srgbClr val="262B3A"/>
                </a:solidFill>
                <a:latin typeface="Calibri" pitchFamily="34" charset="0"/>
                <a:ea typeface="Calibri" pitchFamily="34" charset="-122"/>
                <a:cs typeface="Calibri" pitchFamily="34" charset="-120"/>
              </a:rPr>
              <a:t>environment</a:t>
            </a:r>
            <a:r>
              <a:rPr lang="en-US" sz="1250" dirty="0">
                <a:solidFill>
                  <a:srgbClr val="262B3A"/>
                </a:solidFill>
                <a:latin typeface="Calibri" pitchFamily="34" charset="0"/>
                <a:ea typeface="Calibri" pitchFamily="34" charset="-122"/>
                <a:cs typeface="Calibri" pitchFamily="34" charset="-120"/>
              </a:rPr>
              <a:t> as well.</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B2 • antibiotics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 </a:t>
            </a:r>
            <a:r>
              <a:rPr lang="en-US" sz="1250" b="1" dirty="0">
                <a:solidFill>
                  <a:srgbClr val="262B3A"/>
                </a:solidFill>
                <a:latin typeface="Calibri" pitchFamily="34" charset="0"/>
                <a:ea typeface="Calibri" pitchFamily="34" charset="-122"/>
                <a:cs typeface="Calibri" pitchFamily="34" charset="-120"/>
              </a:rPr>
              <a:t>antibiotics</a:t>
            </a:r>
            <a:r>
              <a:rPr lang="en-US" sz="1250" dirty="0">
                <a:solidFill>
                  <a:srgbClr val="262B3A"/>
                </a:solidFill>
                <a:latin typeface="Calibri" pitchFamily="34" charset="0"/>
                <a:ea typeface="Calibri" pitchFamily="34" charset="-122"/>
                <a:cs typeface="Calibri" pitchFamily="34" charset="-120"/>
              </a:rPr>
              <a:t> kill? Why are doctors worried about </a:t>
            </a:r>
            <a:r>
              <a:rPr lang="en-US" sz="1250" b="1" dirty="0">
                <a:solidFill>
                  <a:srgbClr val="262B3A"/>
                </a:solidFill>
                <a:latin typeface="Calibri" pitchFamily="34" charset="0"/>
                <a:ea typeface="Calibri" pitchFamily="34" charset="-122"/>
                <a:cs typeface="Calibri" pitchFamily="34" charset="-120"/>
              </a:rPr>
              <a:t>antibiotic resistance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B3 • ecosystems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things that animals compete for and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that plants compete for.</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fossils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fossil</a:t>
            </a:r>
            <a:r>
              <a:rPr lang="en-US" sz="1250" dirty="0">
                <a:solidFill>
                  <a:srgbClr val="262B3A"/>
                </a:solidFill>
                <a:latin typeface="Calibri" pitchFamily="34" charset="0"/>
                <a:ea typeface="Calibri" pitchFamily="34" charset="-122"/>
                <a:cs typeface="Calibri" pitchFamily="34" charset="-120"/>
              </a:rPr>
              <a:t>? In a cliff of rock layers, are the </a:t>
            </a:r>
            <a:r>
              <a:rPr lang="en-US" sz="1250" b="1" dirty="0">
                <a:solidFill>
                  <a:srgbClr val="262B3A"/>
                </a:solidFill>
                <a:latin typeface="Calibri" pitchFamily="34" charset="0"/>
                <a:ea typeface="Calibri" pitchFamily="34" charset="-122"/>
                <a:cs typeface="Calibri" pitchFamily="34" charset="-120"/>
              </a:rPr>
              <a:t>oldest</a:t>
            </a:r>
            <a:r>
              <a:rPr lang="en-US" sz="1250" dirty="0">
                <a:solidFill>
                  <a:srgbClr val="262B3A"/>
                </a:solidFill>
                <a:latin typeface="Calibri" pitchFamily="34" charset="0"/>
                <a:ea typeface="Calibri" pitchFamily="34" charset="-122"/>
                <a:cs typeface="Calibri" pitchFamily="34" charset="-120"/>
              </a:rPr>
              <a:t> layers at the top or the bottom?</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Variation in a population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B6.1.1 • there is usually extensive genetic variation within a population of a species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heights of 100 Year 10 students, histogram to scale (illustrative data)</a:t>
            </a:r>
            <a:endParaRPr lang="en-US" sz="1000" dirty="0"/>
          </a:p>
        </p:txBody>
      </p:sp>
      <p:sp>
        <p:nvSpPr>
          <p:cNvPr id="10" name="Shape 8"/>
          <p:cNvSpPr/>
          <p:nvPr/>
        </p:nvSpPr>
        <p:spPr>
          <a:xfrm>
            <a:off x="1280160" y="1463040"/>
            <a:ext cx="4434840" cy="3108960"/>
          </a:xfrm>
          <a:prstGeom prst="rect">
            <a:avLst/>
          </a:prstGeom>
          <a:solidFill>
            <a:srgbClr val="FFFFFF"/>
          </a:solidFill>
          <a:ln/>
        </p:spPr>
      </p:sp>
      <p:sp>
        <p:nvSpPr>
          <p:cNvPr id="11" name="Shape 9"/>
          <p:cNvSpPr/>
          <p:nvPr/>
        </p:nvSpPr>
        <p:spPr>
          <a:xfrm>
            <a:off x="1280160" y="1463040"/>
            <a:ext cx="91" cy="3108960"/>
          </a:xfrm>
          <a:prstGeom prst="line">
            <a:avLst/>
          </a:prstGeom>
          <a:noFill/>
          <a:ln w="6350">
            <a:solidFill>
              <a:srgbClr val="C5DCD9"/>
            </a:solidFill>
            <a:prstDash val="solid"/>
          </a:ln>
        </p:spPr>
      </p:sp>
      <p:sp>
        <p:nvSpPr>
          <p:cNvPr id="12" name="Shape 10"/>
          <p:cNvSpPr/>
          <p:nvPr/>
        </p:nvSpPr>
        <p:spPr>
          <a:xfrm>
            <a:off x="1649730" y="1463040"/>
            <a:ext cx="91" cy="3108960"/>
          </a:xfrm>
          <a:prstGeom prst="line">
            <a:avLst/>
          </a:prstGeom>
          <a:noFill/>
          <a:ln w="6350">
            <a:solidFill>
              <a:srgbClr val="E3EFED"/>
            </a:solidFill>
            <a:prstDash val="solid"/>
          </a:ln>
        </p:spPr>
      </p:sp>
      <p:sp>
        <p:nvSpPr>
          <p:cNvPr id="13" name="Shape 11"/>
          <p:cNvSpPr/>
          <p:nvPr/>
        </p:nvSpPr>
        <p:spPr>
          <a:xfrm>
            <a:off x="2019300" y="1463040"/>
            <a:ext cx="91" cy="3108960"/>
          </a:xfrm>
          <a:prstGeom prst="line">
            <a:avLst/>
          </a:prstGeom>
          <a:noFill/>
          <a:ln w="6350">
            <a:solidFill>
              <a:srgbClr val="C5DCD9"/>
            </a:solidFill>
            <a:prstDash val="solid"/>
          </a:ln>
        </p:spPr>
      </p:sp>
      <p:sp>
        <p:nvSpPr>
          <p:cNvPr id="14" name="Shape 12"/>
          <p:cNvSpPr/>
          <p:nvPr/>
        </p:nvSpPr>
        <p:spPr>
          <a:xfrm>
            <a:off x="2388870" y="1463040"/>
            <a:ext cx="91" cy="3108960"/>
          </a:xfrm>
          <a:prstGeom prst="line">
            <a:avLst/>
          </a:prstGeom>
          <a:noFill/>
          <a:ln w="6350">
            <a:solidFill>
              <a:srgbClr val="E3EFED"/>
            </a:solidFill>
            <a:prstDash val="solid"/>
          </a:ln>
        </p:spPr>
      </p:sp>
      <p:sp>
        <p:nvSpPr>
          <p:cNvPr id="15" name="Shape 13"/>
          <p:cNvSpPr/>
          <p:nvPr/>
        </p:nvSpPr>
        <p:spPr>
          <a:xfrm>
            <a:off x="2758440" y="1463040"/>
            <a:ext cx="91" cy="3108960"/>
          </a:xfrm>
          <a:prstGeom prst="line">
            <a:avLst/>
          </a:prstGeom>
          <a:noFill/>
          <a:ln w="6350">
            <a:solidFill>
              <a:srgbClr val="C5DCD9"/>
            </a:solidFill>
            <a:prstDash val="solid"/>
          </a:ln>
        </p:spPr>
      </p:sp>
      <p:sp>
        <p:nvSpPr>
          <p:cNvPr id="16" name="Shape 14"/>
          <p:cNvSpPr/>
          <p:nvPr/>
        </p:nvSpPr>
        <p:spPr>
          <a:xfrm>
            <a:off x="3128010" y="1463040"/>
            <a:ext cx="91" cy="3108960"/>
          </a:xfrm>
          <a:prstGeom prst="line">
            <a:avLst/>
          </a:prstGeom>
          <a:noFill/>
          <a:ln w="6350">
            <a:solidFill>
              <a:srgbClr val="E3EFED"/>
            </a:solidFill>
            <a:prstDash val="solid"/>
          </a:ln>
        </p:spPr>
      </p:sp>
      <p:sp>
        <p:nvSpPr>
          <p:cNvPr id="17" name="Shape 15"/>
          <p:cNvSpPr/>
          <p:nvPr/>
        </p:nvSpPr>
        <p:spPr>
          <a:xfrm>
            <a:off x="3497580" y="1463040"/>
            <a:ext cx="91" cy="3108960"/>
          </a:xfrm>
          <a:prstGeom prst="line">
            <a:avLst/>
          </a:prstGeom>
          <a:noFill/>
          <a:ln w="6350">
            <a:solidFill>
              <a:srgbClr val="C5DCD9"/>
            </a:solidFill>
            <a:prstDash val="solid"/>
          </a:ln>
        </p:spPr>
      </p:sp>
      <p:sp>
        <p:nvSpPr>
          <p:cNvPr id="18" name="Shape 16"/>
          <p:cNvSpPr/>
          <p:nvPr/>
        </p:nvSpPr>
        <p:spPr>
          <a:xfrm>
            <a:off x="3867150" y="1463040"/>
            <a:ext cx="91" cy="3108960"/>
          </a:xfrm>
          <a:prstGeom prst="line">
            <a:avLst/>
          </a:prstGeom>
          <a:noFill/>
          <a:ln w="6350">
            <a:solidFill>
              <a:srgbClr val="E3EFED"/>
            </a:solidFill>
            <a:prstDash val="solid"/>
          </a:ln>
        </p:spPr>
      </p:sp>
      <p:sp>
        <p:nvSpPr>
          <p:cNvPr id="19" name="Shape 17"/>
          <p:cNvSpPr/>
          <p:nvPr/>
        </p:nvSpPr>
        <p:spPr>
          <a:xfrm>
            <a:off x="4236720" y="1463040"/>
            <a:ext cx="91" cy="3108960"/>
          </a:xfrm>
          <a:prstGeom prst="line">
            <a:avLst/>
          </a:prstGeom>
          <a:noFill/>
          <a:ln w="6350">
            <a:solidFill>
              <a:srgbClr val="C5DCD9"/>
            </a:solidFill>
            <a:prstDash val="solid"/>
          </a:ln>
        </p:spPr>
      </p:sp>
      <p:sp>
        <p:nvSpPr>
          <p:cNvPr id="20" name="Shape 18"/>
          <p:cNvSpPr/>
          <p:nvPr/>
        </p:nvSpPr>
        <p:spPr>
          <a:xfrm>
            <a:off x="4606290" y="1463040"/>
            <a:ext cx="91" cy="3108960"/>
          </a:xfrm>
          <a:prstGeom prst="line">
            <a:avLst/>
          </a:prstGeom>
          <a:noFill/>
          <a:ln w="6350">
            <a:solidFill>
              <a:srgbClr val="E3EFED"/>
            </a:solidFill>
            <a:prstDash val="solid"/>
          </a:ln>
        </p:spPr>
      </p:sp>
      <p:sp>
        <p:nvSpPr>
          <p:cNvPr id="21" name="Shape 19"/>
          <p:cNvSpPr/>
          <p:nvPr/>
        </p:nvSpPr>
        <p:spPr>
          <a:xfrm>
            <a:off x="4975860" y="1463040"/>
            <a:ext cx="91" cy="3108960"/>
          </a:xfrm>
          <a:prstGeom prst="line">
            <a:avLst/>
          </a:prstGeom>
          <a:noFill/>
          <a:ln w="6350">
            <a:solidFill>
              <a:srgbClr val="C5DCD9"/>
            </a:solidFill>
            <a:prstDash val="solid"/>
          </a:ln>
        </p:spPr>
      </p:sp>
      <p:sp>
        <p:nvSpPr>
          <p:cNvPr id="22" name="Shape 20"/>
          <p:cNvSpPr/>
          <p:nvPr/>
        </p:nvSpPr>
        <p:spPr>
          <a:xfrm>
            <a:off x="5345430" y="1463040"/>
            <a:ext cx="91" cy="3108960"/>
          </a:xfrm>
          <a:prstGeom prst="line">
            <a:avLst/>
          </a:prstGeom>
          <a:noFill/>
          <a:ln w="6350">
            <a:solidFill>
              <a:srgbClr val="E3EFED"/>
            </a:solidFill>
            <a:prstDash val="solid"/>
          </a:ln>
        </p:spPr>
      </p:sp>
      <p:sp>
        <p:nvSpPr>
          <p:cNvPr id="23" name="Shape 21"/>
          <p:cNvSpPr/>
          <p:nvPr/>
        </p:nvSpPr>
        <p:spPr>
          <a:xfrm>
            <a:off x="5715000" y="1463040"/>
            <a:ext cx="91" cy="3108960"/>
          </a:xfrm>
          <a:prstGeom prst="line">
            <a:avLst/>
          </a:prstGeom>
          <a:noFill/>
          <a:ln w="6350">
            <a:solidFill>
              <a:srgbClr val="C5DCD9"/>
            </a:solidFill>
            <a:prstDash val="solid"/>
          </a:ln>
        </p:spPr>
      </p:sp>
      <p:sp>
        <p:nvSpPr>
          <p:cNvPr id="24" name="Shape 22"/>
          <p:cNvSpPr/>
          <p:nvPr/>
        </p:nvSpPr>
        <p:spPr>
          <a:xfrm>
            <a:off x="1280160" y="4572000"/>
            <a:ext cx="4434840" cy="91"/>
          </a:xfrm>
          <a:prstGeom prst="line">
            <a:avLst/>
          </a:prstGeom>
          <a:noFill/>
          <a:ln w="6350">
            <a:solidFill>
              <a:srgbClr val="C5DCD9"/>
            </a:solidFill>
            <a:prstDash val="solid"/>
          </a:ln>
        </p:spPr>
      </p:sp>
      <p:sp>
        <p:nvSpPr>
          <p:cNvPr id="25" name="Shape 23"/>
          <p:cNvSpPr/>
          <p:nvPr/>
        </p:nvSpPr>
        <p:spPr>
          <a:xfrm>
            <a:off x="1280160" y="4183380"/>
            <a:ext cx="4434840" cy="91"/>
          </a:xfrm>
          <a:prstGeom prst="line">
            <a:avLst/>
          </a:prstGeom>
          <a:noFill/>
          <a:ln w="6350">
            <a:solidFill>
              <a:srgbClr val="E3EFED"/>
            </a:solidFill>
            <a:prstDash val="solid"/>
          </a:ln>
        </p:spPr>
      </p:sp>
      <p:sp>
        <p:nvSpPr>
          <p:cNvPr id="26" name="Shape 24"/>
          <p:cNvSpPr/>
          <p:nvPr/>
        </p:nvSpPr>
        <p:spPr>
          <a:xfrm>
            <a:off x="1280160" y="3794760"/>
            <a:ext cx="4434840" cy="91"/>
          </a:xfrm>
          <a:prstGeom prst="line">
            <a:avLst/>
          </a:prstGeom>
          <a:noFill/>
          <a:ln w="6350">
            <a:solidFill>
              <a:srgbClr val="C5DCD9"/>
            </a:solidFill>
            <a:prstDash val="solid"/>
          </a:ln>
        </p:spPr>
      </p:sp>
      <p:sp>
        <p:nvSpPr>
          <p:cNvPr id="27" name="Shape 25"/>
          <p:cNvSpPr/>
          <p:nvPr/>
        </p:nvSpPr>
        <p:spPr>
          <a:xfrm>
            <a:off x="1280160" y="3406140"/>
            <a:ext cx="4434840" cy="91"/>
          </a:xfrm>
          <a:prstGeom prst="line">
            <a:avLst/>
          </a:prstGeom>
          <a:noFill/>
          <a:ln w="6350">
            <a:solidFill>
              <a:srgbClr val="E3EFED"/>
            </a:solidFill>
            <a:prstDash val="solid"/>
          </a:ln>
        </p:spPr>
      </p:sp>
      <p:sp>
        <p:nvSpPr>
          <p:cNvPr id="28" name="Shape 26"/>
          <p:cNvSpPr/>
          <p:nvPr/>
        </p:nvSpPr>
        <p:spPr>
          <a:xfrm>
            <a:off x="1280160" y="3017520"/>
            <a:ext cx="4434840" cy="91"/>
          </a:xfrm>
          <a:prstGeom prst="line">
            <a:avLst/>
          </a:prstGeom>
          <a:noFill/>
          <a:ln w="6350">
            <a:solidFill>
              <a:srgbClr val="C5DCD9"/>
            </a:solidFill>
            <a:prstDash val="solid"/>
          </a:ln>
        </p:spPr>
      </p:sp>
      <p:sp>
        <p:nvSpPr>
          <p:cNvPr id="29" name="Shape 27"/>
          <p:cNvSpPr/>
          <p:nvPr/>
        </p:nvSpPr>
        <p:spPr>
          <a:xfrm>
            <a:off x="1280160" y="2628900"/>
            <a:ext cx="4434840" cy="91"/>
          </a:xfrm>
          <a:prstGeom prst="line">
            <a:avLst/>
          </a:prstGeom>
          <a:noFill/>
          <a:ln w="6350">
            <a:solidFill>
              <a:srgbClr val="E3EFED"/>
            </a:solidFill>
            <a:prstDash val="solid"/>
          </a:ln>
        </p:spPr>
      </p:sp>
      <p:sp>
        <p:nvSpPr>
          <p:cNvPr id="30" name="Shape 28"/>
          <p:cNvSpPr/>
          <p:nvPr/>
        </p:nvSpPr>
        <p:spPr>
          <a:xfrm>
            <a:off x="1280160" y="2240280"/>
            <a:ext cx="4434840" cy="91"/>
          </a:xfrm>
          <a:prstGeom prst="line">
            <a:avLst/>
          </a:prstGeom>
          <a:noFill/>
          <a:ln w="6350">
            <a:solidFill>
              <a:srgbClr val="C5DCD9"/>
            </a:solidFill>
            <a:prstDash val="solid"/>
          </a:ln>
        </p:spPr>
      </p:sp>
      <p:sp>
        <p:nvSpPr>
          <p:cNvPr id="31" name="Shape 29"/>
          <p:cNvSpPr/>
          <p:nvPr/>
        </p:nvSpPr>
        <p:spPr>
          <a:xfrm>
            <a:off x="1280160" y="1851660"/>
            <a:ext cx="4434840" cy="91"/>
          </a:xfrm>
          <a:prstGeom prst="line">
            <a:avLst/>
          </a:prstGeom>
          <a:noFill/>
          <a:ln w="6350">
            <a:solidFill>
              <a:srgbClr val="E3EFED"/>
            </a:solidFill>
            <a:prstDash val="solid"/>
          </a:ln>
        </p:spPr>
      </p:sp>
      <p:sp>
        <p:nvSpPr>
          <p:cNvPr id="32" name="Shape 30"/>
          <p:cNvSpPr/>
          <p:nvPr/>
        </p:nvSpPr>
        <p:spPr>
          <a:xfrm>
            <a:off x="1280160" y="1463040"/>
            <a:ext cx="4434840" cy="91"/>
          </a:xfrm>
          <a:prstGeom prst="line">
            <a:avLst/>
          </a:prstGeom>
          <a:noFill/>
          <a:ln w="6350">
            <a:solidFill>
              <a:srgbClr val="C5DCD9"/>
            </a:solidFill>
            <a:prstDash val="solid"/>
          </a:ln>
        </p:spPr>
      </p:sp>
      <p:sp>
        <p:nvSpPr>
          <p:cNvPr id="33" name="Shape 31"/>
          <p:cNvSpPr/>
          <p:nvPr/>
        </p:nvSpPr>
        <p:spPr>
          <a:xfrm>
            <a:off x="1280160" y="4572000"/>
            <a:ext cx="4434840" cy="91"/>
          </a:xfrm>
          <a:prstGeom prst="line">
            <a:avLst/>
          </a:prstGeom>
          <a:noFill/>
          <a:ln w="19050">
            <a:solidFill>
              <a:srgbClr val="133536"/>
            </a:solidFill>
            <a:prstDash val="solid"/>
          </a:ln>
        </p:spPr>
      </p:sp>
      <p:sp>
        <p:nvSpPr>
          <p:cNvPr id="34" name="Shape 32"/>
          <p:cNvSpPr/>
          <p:nvPr/>
        </p:nvSpPr>
        <p:spPr>
          <a:xfrm flipV="1">
            <a:off x="1280160" y="1463040"/>
            <a:ext cx="91" cy="3108960"/>
          </a:xfrm>
          <a:prstGeom prst="line">
            <a:avLst/>
          </a:prstGeom>
          <a:noFill/>
          <a:ln w="19050">
            <a:solidFill>
              <a:srgbClr val="133536"/>
            </a:solidFill>
            <a:prstDash val="solid"/>
          </a:ln>
        </p:spPr>
      </p:sp>
      <p:sp>
        <p:nvSpPr>
          <p:cNvPr id="35" name="Shape 33"/>
          <p:cNvSpPr/>
          <p:nvPr/>
        </p:nvSpPr>
        <p:spPr>
          <a:xfrm>
            <a:off x="1280160" y="4572000"/>
            <a:ext cx="91" cy="54864"/>
          </a:xfrm>
          <a:prstGeom prst="line">
            <a:avLst/>
          </a:prstGeom>
          <a:noFill/>
          <a:ln w="12700">
            <a:solidFill>
              <a:srgbClr val="133536"/>
            </a:solidFill>
            <a:prstDash val="solid"/>
          </a:ln>
        </p:spPr>
      </p:sp>
      <p:sp>
        <p:nvSpPr>
          <p:cNvPr id="36" name="Text 34"/>
          <p:cNvSpPr/>
          <p:nvPr/>
        </p:nvSpPr>
        <p:spPr>
          <a:xfrm>
            <a:off x="100584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140</a:t>
            </a:r>
            <a:endParaRPr lang="en-US" sz="1000" dirty="0"/>
          </a:p>
        </p:txBody>
      </p:sp>
      <p:sp>
        <p:nvSpPr>
          <p:cNvPr id="37" name="Shape 35"/>
          <p:cNvSpPr/>
          <p:nvPr/>
        </p:nvSpPr>
        <p:spPr>
          <a:xfrm>
            <a:off x="2019300" y="4572000"/>
            <a:ext cx="91" cy="54864"/>
          </a:xfrm>
          <a:prstGeom prst="line">
            <a:avLst/>
          </a:prstGeom>
          <a:noFill/>
          <a:ln w="12700">
            <a:solidFill>
              <a:srgbClr val="133536"/>
            </a:solidFill>
            <a:prstDash val="solid"/>
          </a:ln>
        </p:spPr>
      </p:sp>
      <p:sp>
        <p:nvSpPr>
          <p:cNvPr id="38" name="Text 36"/>
          <p:cNvSpPr/>
          <p:nvPr/>
        </p:nvSpPr>
        <p:spPr>
          <a:xfrm>
            <a:off x="174498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39" name="Shape 37"/>
          <p:cNvSpPr/>
          <p:nvPr/>
        </p:nvSpPr>
        <p:spPr>
          <a:xfrm>
            <a:off x="2758440" y="4572000"/>
            <a:ext cx="91" cy="54864"/>
          </a:xfrm>
          <a:prstGeom prst="line">
            <a:avLst/>
          </a:prstGeom>
          <a:noFill/>
          <a:ln w="12700">
            <a:solidFill>
              <a:srgbClr val="133536"/>
            </a:solidFill>
            <a:prstDash val="solid"/>
          </a:ln>
        </p:spPr>
      </p:sp>
      <p:sp>
        <p:nvSpPr>
          <p:cNvPr id="40" name="Text 38"/>
          <p:cNvSpPr/>
          <p:nvPr/>
        </p:nvSpPr>
        <p:spPr>
          <a:xfrm>
            <a:off x="248412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160</a:t>
            </a:r>
            <a:endParaRPr lang="en-US" sz="1000" dirty="0"/>
          </a:p>
        </p:txBody>
      </p:sp>
      <p:sp>
        <p:nvSpPr>
          <p:cNvPr id="41" name="Shape 39"/>
          <p:cNvSpPr/>
          <p:nvPr/>
        </p:nvSpPr>
        <p:spPr>
          <a:xfrm>
            <a:off x="3497580" y="4572000"/>
            <a:ext cx="91" cy="54864"/>
          </a:xfrm>
          <a:prstGeom prst="line">
            <a:avLst/>
          </a:prstGeom>
          <a:noFill/>
          <a:ln w="12700">
            <a:solidFill>
              <a:srgbClr val="133536"/>
            </a:solidFill>
            <a:prstDash val="solid"/>
          </a:ln>
        </p:spPr>
      </p:sp>
      <p:sp>
        <p:nvSpPr>
          <p:cNvPr id="42" name="Text 40"/>
          <p:cNvSpPr/>
          <p:nvPr/>
        </p:nvSpPr>
        <p:spPr>
          <a:xfrm>
            <a:off x="322326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170</a:t>
            </a:r>
            <a:endParaRPr lang="en-US" sz="1000" dirty="0"/>
          </a:p>
        </p:txBody>
      </p:sp>
      <p:sp>
        <p:nvSpPr>
          <p:cNvPr id="43" name="Shape 41"/>
          <p:cNvSpPr/>
          <p:nvPr/>
        </p:nvSpPr>
        <p:spPr>
          <a:xfrm>
            <a:off x="4236720" y="4572000"/>
            <a:ext cx="91" cy="54864"/>
          </a:xfrm>
          <a:prstGeom prst="line">
            <a:avLst/>
          </a:prstGeom>
          <a:noFill/>
          <a:ln w="12700">
            <a:solidFill>
              <a:srgbClr val="133536"/>
            </a:solidFill>
            <a:prstDash val="solid"/>
          </a:ln>
        </p:spPr>
      </p:sp>
      <p:sp>
        <p:nvSpPr>
          <p:cNvPr id="44" name="Text 42"/>
          <p:cNvSpPr/>
          <p:nvPr/>
        </p:nvSpPr>
        <p:spPr>
          <a:xfrm>
            <a:off x="396240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45" name="Shape 43"/>
          <p:cNvSpPr/>
          <p:nvPr/>
        </p:nvSpPr>
        <p:spPr>
          <a:xfrm>
            <a:off x="4975860" y="4572000"/>
            <a:ext cx="91" cy="54864"/>
          </a:xfrm>
          <a:prstGeom prst="line">
            <a:avLst/>
          </a:prstGeom>
          <a:noFill/>
          <a:ln w="12700">
            <a:solidFill>
              <a:srgbClr val="133536"/>
            </a:solidFill>
            <a:prstDash val="solid"/>
          </a:ln>
        </p:spPr>
      </p:sp>
      <p:sp>
        <p:nvSpPr>
          <p:cNvPr id="46" name="Text 44"/>
          <p:cNvSpPr/>
          <p:nvPr/>
        </p:nvSpPr>
        <p:spPr>
          <a:xfrm>
            <a:off x="470154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190</a:t>
            </a:r>
            <a:endParaRPr lang="en-US" sz="1000" dirty="0"/>
          </a:p>
        </p:txBody>
      </p:sp>
      <p:sp>
        <p:nvSpPr>
          <p:cNvPr id="47" name="Shape 45"/>
          <p:cNvSpPr/>
          <p:nvPr/>
        </p:nvSpPr>
        <p:spPr>
          <a:xfrm>
            <a:off x="5715000" y="4572000"/>
            <a:ext cx="91" cy="54864"/>
          </a:xfrm>
          <a:prstGeom prst="line">
            <a:avLst/>
          </a:prstGeom>
          <a:noFill/>
          <a:ln w="12700">
            <a:solidFill>
              <a:srgbClr val="133536"/>
            </a:solidFill>
            <a:prstDash val="solid"/>
          </a:ln>
        </p:spPr>
      </p:sp>
      <p:sp>
        <p:nvSpPr>
          <p:cNvPr id="48" name="Text 46"/>
          <p:cNvSpPr/>
          <p:nvPr/>
        </p:nvSpPr>
        <p:spPr>
          <a:xfrm>
            <a:off x="544068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49" name="Shape 47"/>
          <p:cNvSpPr/>
          <p:nvPr/>
        </p:nvSpPr>
        <p:spPr>
          <a:xfrm>
            <a:off x="1225296" y="4572000"/>
            <a:ext cx="54864" cy="91"/>
          </a:xfrm>
          <a:prstGeom prst="line">
            <a:avLst/>
          </a:prstGeom>
          <a:noFill/>
          <a:ln w="12700">
            <a:solidFill>
              <a:srgbClr val="133536"/>
            </a:solidFill>
            <a:prstDash val="solid"/>
          </a:ln>
        </p:spPr>
      </p:sp>
      <p:sp>
        <p:nvSpPr>
          <p:cNvPr id="50" name="Text 48"/>
          <p:cNvSpPr/>
          <p:nvPr/>
        </p:nvSpPr>
        <p:spPr>
          <a:xfrm>
            <a:off x="841248" y="4480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225296" y="3794760"/>
            <a:ext cx="54864" cy="91"/>
          </a:xfrm>
          <a:prstGeom prst="line">
            <a:avLst/>
          </a:prstGeom>
          <a:noFill/>
          <a:ln w="12700">
            <a:solidFill>
              <a:srgbClr val="133536"/>
            </a:solidFill>
            <a:prstDash val="solid"/>
          </a:ln>
        </p:spPr>
      </p:sp>
      <p:sp>
        <p:nvSpPr>
          <p:cNvPr id="52" name="Text 50"/>
          <p:cNvSpPr/>
          <p:nvPr/>
        </p:nvSpPr>
        <p:spPr>
          <a:xfrm>
            <a:off x="841248" y="37033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3" name="Shape 51"/>
          <p:cNvSpPr/>
          <p:nvPr/>
        </p:nvSpPr>
        <p:spPr>
          <a:xfrm>
            <a:off x="1225296" y="3017520"/>
            <a:ext cx="54864" cy="91"/>
          </a:xfrm>
          <a:prstGeom prst="line">
            <a:avLst/>
          </a:prstGeom>
          <a:noFill/>
          <a:ln w="12700">
            <a:solidFill>
              <a:srgbClr val="133536"/>
            </a:solidFill>
            <a:prstDash val="solid"/>
          </a:ln>
        </p:spPr>
      </p:sp>
      <p:sp>
        <p:nvSpPr>
          <p:cNvPr id="54" name="Text 52"/>
          <p:cNvSpPr/>
          <p:nvPr/>
        </p:nvSpPr>
        <p:spPr>
          <a:xfrm>
            <a:off x="841248" y="29260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5" name="Shape 53"/>
          <p:cNvSpPr/>
          <p:nvPr/>
        </p:nvSpPr>
        <p:spPr>
          <a:xfrm>
            <a:off x="1225296" y="2240280"/>
            <a:ext cx="54864" cy="91"/>
          </a:xfrm>
          <a:prstGeom prst="line">
            <a:avLst/>
          </a:prstGeom>
          <a:noFill/>
          <a:ln w="12700">
            <a:solidFill>
              <a:srgbClr val="133536"/>
            </a:solidFill>
            <a:prstDash val="solid"/>
          </a:ln>
        </p:spPr>
      </p:sp>
      <p:sp>
        <p:nvSpPr>
          <p:cNvPr id="56" name="Text 54"/>
          <p:cNvSpPr/>
          <p:nvPr/>
        </p:nvSpPr>
        <p:spPr>
          <a:xfrm>
            <a:off x="841248" y="2148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57" name="Shape 55"/>
          <p:cNvSpPr/>
          <p:nvPr/>
        </p:nvSpPr>
        <p:spPr>
          <a:xfrm>
            <a:off x="1225296" y="1463040"/>
            <a:ext cx="54864" cy="91"/>
          </a:xfrm>
          <a:prstGeom prst="line">
            <a:avLst/>
          </a:prstGeom>
          <a:noFill/>
          <a:ln w="12700">
            <a:solidFill>
              <a:srgbClr val="133536"/>
            </a:solidFill>
            <a:prstDash val="solid"/>
          </a:ln>
        </p:spPr>
      </p:sp>
      <p:sp>
        <p:nvSpPr>
          <p:cNvPr id="58" name="Text 56"/>
          <p:cNvSpPr/>
          <p:nvPr/>
        </p:nvSpPr>
        <p:spPr>
          <a:xfrm>
            <a:off x="84124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9" name="Text 57"/>
          <p:cNvSpPr/>
          <p:nvPr/>
        </p:nvSpPr>
        <p:spPr>
          <a:xfrm>
            <a:off x="1280160" y="481888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Height / cm</a:t>
            </a:r>
            <a:endParaRPr lang="en-US" sz="1050" dirty="0"/>
          </a:p>
        </p:txBody>
      </p:sp>
      <p:sp>
        <p:nvSpPr>
          <p:cNvPr id="60" name="Text 58"/>
          <p:cNvSpPr/>
          <p:nvPr/>
        </p:nvSpPr>
        <p:spPr>
          <a:xfrm rot="16200000">
            <a:off x="-841248" y="288950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Number of students</a:t>
            </a:r>
            <a:endParaRPr lang="en-US" sz="1050" dirty="0"/>
          </a:p>
        </p:txBody>
      </p:sp>
      <p:sp>
        <p:nvSpPr>
          <p:cNvPr id="61" name="Shape 59"/>
          <p:cNvSpPr/>
          <p:nvPr/>
        </p:nvSpPr>
        <p:spPr>
          <a:xfrm>
            <a:off x="1280160" y="4261104"/>
            <a:ext cx="739140" cy="310896"/>
          </a:xfrm>
          <a:prstGeom prst="rect">
            <a:avLst/>
          </a:prstGeom>
          <a:solidFill>
            <a:srgbClr val="5FB3AE"/>
          </a:solidFill>
          <a:ln w="9525">
            <a:solidFill>
              <a:srgbClr val="0B4F4E"/>
            </a:solidFill>
            <a:prstDash val="solid"/>
          </a:ln>
        </p:spPr>
      </p:sp>
      <p:sp>
        <p:nvSpPr>
          <p:cNvPr id="62" name="Text 60"/>
          <p:cNvSpPr/>
          <p:nvPr/>
        </p:nvSpPr>
        <p:spPr>
          <a:xfrm>
            <a:off x="1280160" y="4041648"/>
            <a:ext cx="7391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4</a:t>
            </a:r>
            <a:endParaRPr lang="en-US" sz="1000" dirty="0"/>
          </a:p>
        </p:txBody>
      </p:sp>
      <p:sp>
        <p:nvSpPr>
          <p:cNvPr id="63" name="Shape 61"/>
          <p:cNvSpPr/>
          <p:nvPr/>
        </p:nvSpPr>
        <p:spPr>
          <a:xfrm>
            <a:off x="2019300" y="3406140"/>
            <a:ext cx="739140" cy="1165860"/>
          </a:xfrm>
          <a:prstGeom prst="rect">
            <a:avLst/>
          </a:prstGeom>
          <a:solidFill>
            <a:srgbClr val="5FB3AE"/>
          </a:solidFill>
          <a:ln w="9525">
            <a:solidFill>
              <a:srgbClr val="0B4F4E"/>
            </a:solidFill>
            <a:prstDash val="solid"/>
          </a:ln>
        </p:spPr>
      </p:sp>
      <p:sp>
        <p:nvSpPr>
          <p:cNvPr id="64" name="Text 62"/>
          <p:cNvSpPr/>
          <p:nvPr/>
        </p:nvSpPr>
        <p:spPr>
          <a:xfrm>
            <a:off x="2019300" y="3186684"/>
            <a:ext cx="7391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15</a:t>
            </a:r>
            <a:endParaRPr lang="en-US" sz="1000" dirty="0"/>
          </a:p>
        </p:txBody>
      </p:sp>
      <p:sp>
        <p:nvSpPr>
          <p:cNvPr id="65" name="Shape 63"/>
          <p:cNvSpPr/>
          <p:nvPr/>
        </p:nvSpPr>
        <p:spPr>
          <a:xfrm>
            <a:off x="2758440" y="1773936"/>
            <a:ext cx="739140" cy="2798064"/>
          </a:xfrm>
          <a:prstGeom prst="rect">
            <a:avLst/>
          </a:prstGeom>
          <a:solidFill>
            <a:srgbClr val="0D7877"/>
          </a:solidFill>
          <a:ln w="9525">
            <a:solidFill>
              <a:srgbClr val="0B4F4E"/>
            </a:solidFill>
            <a:prstDash val="solid"/>
          </a:ln>
        </p:spPr>
      </p:sp>
      <p:sp>
        <p:nvSpPr>
          <p:cNvPr id="66" name="Text 64"/>
          <p:cNvSpPr/>
          <p:nvPr/>
        </p:nvSpPr>
        <p:spPr>
          <a:xfrm>
            <a:off x="2758440" y="1554480"/>
            <a:ext cx="7391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36</a:t>
            </a:r>
            <a:endParaRPr lang="en-US" sz="1000" dirty="0"/>
          </a:p>
        </p:txBody>
      </p:sp>
      <p:sp>
        <p:nvSpPr>
          <p:cNvPr id="67" name="Shape 65"/>
          <p:cNvSpPr/>
          <p:nvPr/>
        </p:nvSpPr>
        <p:spPr>
          <a:xfrm>
            <a:off x="3497580" y="2240280"/>
            <a:ext cx="739140" cy="2331720"/>
          </a:xfrm>
          <a:prstGeom prst="rect">
            <a:avLst/>
          </a:prstGeom>
          <a:solidFill>
            <a:srgbClr val="5FB3AE"/>
          </a:solidFill>
          <a:ln w="9525">
            <a:solidFill>
              <a:srgbClr val="0B4F4E"/>
            </a:solidFill>
            <a:prstDash val="solid"/>
          </a:ln>
        </p:spPr>
      </p:sp>
      <p:sp>
        <p:nvSpPr>
          <p:cNvPr id="68" name="Text 66"/>
          <p:cNvSpPr/>
          <p:nvPr/>
        </p:nvSpPr>
        <p:spPr>
          <a:xfrm>
            <a:off x="3497580" y="2020824"/>
            <a:ext cx="7391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30</a:t>
            </a:r>
            <a:endParaRPr lang="en-US" sz="1000" dirty="0"/>
          </a:p>
        </p:txBody>
      </p:sp>
      <p:sp>
        <p:nvSpPr>
          <p:cNvPr id="69" name="Shape 67"/>
          <p:cNvSpPr/>
          <p:nvPr/>
        </p:nvSpPr>
        <p:spPr>
          <a:xfrm>
            <a:off x="4236720" y="3639312"/>
            <a:ext cx="739140" cy="932688"/>
          </a:xfrm>
          <a:prstGeom prst="rect">
            <a:avLst/>
          </a:prstGeom>
          <a:solidFill>
            <a:srgbClr val="5FB3AE"/>
          </a:solidFill>
          <a:ln w="9525">
            <a:solidFill>
              <a:srgbClr val="0B4F4E"/>
            </a:solidFill>
            <a:prstDash val="solid"/>
          </a:ln>
        </p:spPr>
      </p:sp>
      <p:sp>
        <p:nvSpPr>
          <p:cNvPr id="70" name="Text 68"/>
          <p:cNvSpPr/>
          <p:nvPr/>
        </p:nvSpPr>
        <p:spPr>
          <a:xfrm>
            <a:off x="4236720" y="3419856"/>
            <a:ext cx="7391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12</a:t>
            </a:r>
            <a:endParaRPr lang="en-US" sz="1000" dirty="0"/>
          </a:p>
        </p:txBody>
      </p:sp>
      <p:sp>
        <p:nvSpPr>
          <p:cNvPr id="71" name="Shape 69"/>
          <p:cNvSpPr/>
          <p:nvPr/>
        </p:nvSpPr>
        <p:spPr>
          <a:xfrm>
            <a:off x="4975860" y="4338828"/>
            <a:ext cx="739140" cy="233172"/>
          </a:xfrm>
          <a:prstGeom prst="rect">
            <a:avLst/>
          </a:prstGeom>
          <a:solidFill>
            <a:srgbClr val="5FB3AE"/>
          </a:solidFill>
          <a:ln w="9525">
            <a:solidFill>
              <a:srgbClr val="0B4F4E"/>
            </a:solidFill>
            <a:prstDash val="solid"/>
          </a:ln>
        </p:spPr>
      </p:sp>
      <p:sp>
        <p:nvSpPr>
          <p:cNvPr id="72" name="Text 70"/>
          <p:cNvSpPr/>
          <p:nvPr/>
        </p:nvSpPr>
        <p:spPr>
          <a:xfrm>
            <a:off x="4975860" y="4119372"/>
            <a:ext cx="7391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a:t>
            </a:r>
            <a:endParaRPr lang="en-US" sz="1000" dirty="0"/>
          </a:p>
        </p:txBody>
      </p:sp>
      <p:sp>
        <p:nvSpPr>
          <p:cNvPr id="73" name="Text 71"/>
          <p:cNvSpPr/>
          <p:nvPr/>
        </p:nvSpPr>
        <p:spPr>
          <a:xfrm>
            <a:off x="4310634" y="1696212"/>
            <a:ext cx="1188720" cy="54864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continuous variation: a </a:t>
            </a:r>
            <a:r>
              <a:rPr lang="en-US" sz="1000" b="1" i="1" dirty="0">
                <a:solidFill>
                  <a:srgbClr val="6B7385"/>
                </a:solidFill>
                <a:latin typeface="Calibri" pitchFamily="34" charset="0"/>
                <a:ea typeface="Calibri" pitchFamily="34" charset="-122"/>
                <a:cs typeface="Calibri" pitchFamily="34" charset="-120"/>
              </a:rPr>
              <a:t>range</a:t>
            </a:r>
            <a:r>
              <a:rPr lang="en-US" sz="1000" i="1" dirty="0">
                <a:solidFill>
                  <a:srgbClr val="6B7385"/>
                </a:solidFill>
                <a:latin typeface="Calibri" pitchFamily="34" charset="0"/>
                <a:ea typeface="Calibri" pitchFamily="34" charset="-122"/>
                <a:cs typeface="Calibri" pitchFamily="34" charset="-120"/>
              </a:rPr>
              <a:t> of values</a:t>
            </a:r>
            <a:endParaRPr lang="en-US" sz="1000" dirty="0"/>
          </a:p>
        </p:txBody>
      </p:sp>
      <p:sp>
        <p:nvSpPr>
          <p:cNvPr id="74" name="Shape 72"/>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75" name="Text 7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Every population varies</a:t>
            </a:r>
            <a:endParaRPr lang="en-US" sz="1300" dirty="0"/>
          </a:p>
        </p:txBody>
      </p:sp>
      <p:sp>
        <p:nvSpPr>
          <p:cNvPr id="76" name="Text 74"/>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Individuals of the </a:t>
            </a:r>
            <a:r>
              <a:rPr lang="en-US" sz="1100" b="1" dirty="0">
                <a:solidFill>
                  <a:srgbClr val="262B3A"/>
                </a:solidFill>
                <a:latin typeface="Calibri" pitchFamily="34" charset="0"/>
                <a:ea typeface="Calibri" pitchFamily="34" charset="-122"/>
                <a:cs typeface="Calibri" pitchFamily="34" charset="-120"/>
              </a:rPr>
              <a:t>same species</a:t>
            </a:r>
            <a:r>
              <a:rPr lang="en-US" sz="1100" dirty="0">
                <a:solidFill>
                  <a:srgbClr val="262B3A"/>
                </a:solidFill>
                <a:latin typeface="Calibri" pitchFamily="34" charset="0"/>
                <a:ea typeface="Calibri" pitchFamily="34" charset="-122"/>
                <a:cs typeface="Calibri" pitchFamily="34" charset="-120"/>
              </a:rPr>
              <a:t> are not identical: there is </a:t>
            </a:r>
            <a:r>
              <a:rPr lang="en-US" sz="1100" b="1" dirty="0">
                <a:solidFill>
                  <a:srgbClr val="262B3A"/>
                </a:solidFill>
                <a:latin typeface="Calibri" pitchFamily="34" charset="0"/>
                <a:ea typeface="Calibri" pitchFamily="34" charset="-122"/>
                <a:cs typeface="Calibri" pitchFamily="34" charset="-120"/>
              </a:rPr>
              <a:t>variation</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Genetic variation</a:t>
            </a:r>
            <a:r>
              <a:rPr lang="en-US" sz="1100" dirty="0">
                <a:solidFill>
                  <a:srgbClr val="262B3A"/>
                </a:solidFill>
                <a:latin typeface="Calibri" pitchFamily="34" charset="0"/>
                <a:ea typeface="Calibri" pitchFamily="34" charset="-122"/>
                <a:cs typeface="Calibri" pitchFamily="34" charset="-120"/>
              </a:rPr>
              <a:t>: different </a:t>
            </a:r>
            <a:r>
              <a:rPr lang="en-US" sz="1100" b="1" dirty="0">
                <a:solidFill>
                  <a:srgbClr val="262B3A"/>
                </a:solidFill>
                <a:latin typeface="Calibri" pitchFamily="34" charset="0"/>
                <a:ea typeface="Calibri" pitchFamily="34" charset="-122"/>
                <a:cs typeface="Calibri" pitchFamily="34" charset="-120"/>
              </a:rPr>
              <a:t>alleles</a:t>
            </a:r>
            <a:r>
              <a:rPr lang="en-US" sz="1100" dirty="0">
                <a:solidFill>
                  <a:srgbClr val="262B3A"/>
                </a:solidFill>
                <a:latin typeface="Calibri" pitchFamily="34" charset="0"/>
                <a:ea typeface="Calibri" pitchFamily="34" charset="-122"/>
                <a:cs typeface="Calibri" pitchFamily="34" charset="-120"/>
              </a:rPr>
              <a:t> of genes (from B1). There is usually </a:t>
            </a:r>
            <a:r>
              <a:rPr lang="en-US" sz="1100" b="1" dirty="0">
                <a:solidFill>
                  <a:srgbClr val="262B3A"/>
                </a:solidFill>
                <a:latin typeface="Calibri" pitchFamily="34" charset="0"/>
                <a:ea typeface="Calibri" pitchFamily="34" charset="-122"/>
                <a:cs typeface="Calibri" pitchFamily="34" charset="-120"/>
              </a:rPr>
              <a:t>a lot</a:t>
            </a:r>
            <a:r>
              <a:rPr lang="en-US" sz="1100" dirty="0">
                <a:solidFill>
                  <a:srgbClr val="262B3A"/>
                </a:solidFill>
                <a:latin typeface="Calibri" pitchFamily="34" charset="0"/>
                <a:ea typeface="Calibri" pitchFamily="34" charset="-122"/>
                <a:cs typeface="Calibri" pitchFamily="34" charset="-120"/>
              </a:rPr>
              <a:t> of it in a population.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Environmental variation</a:t>
            </a:r>
            <a:r>
              <a:rPr lang="en-US" sz="1100" dirty="0">
                <a:solidFill>
                  <a:srgbClr val="262B3A"/>
                </a:solidFill>
                <a:latin typeface="Calibri" pitchFamily="34" charset="0"/>
                <a:ea typeface="Calibri" pitchFamily="34" charset="-122"/>
                <a:cs typeface="Calibri" pitchFamily="34" charset="-120"/>
              </a:rPr>
              <a:t>: caused by conditions, e.g. diet. Most features, like height, depend on </a:t>
            </a:r>
            <a:r>
              <a:rPr lang="en-US" sz="1100" b="1" dirty="0">
                <a:solidFill>
                  <a:srgbClr val="262B3A"/>
                </a:solidFill>
                <a:latin typeface="Calibri" pitchFamily="34" charset="0"/>
                <a:ea typeface="Calibri" pitchFamily="34" charset="-122"/>
                <a:cs typeface="Calibri" pitchFamily="34" charset="-120"/>
              </a:rPr>
              <a:t>both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Only </a:t>
            </a:r>
            <a:r>
              <a:rPr lang="en-US" sz="1100" b="1" dirty="0">
                <a:solidFill>
                  <a:srgbClr val="262B3A"/>
                </a:solidFill>
                <a:latin typeface="Calibri" pitchFamily="34" charset="0"/>
                <a:ea typeface="Calibri" pitchFamily="34" charset="-122"/>
                <a:cs typeface="Calibri" pitchFamily="34" charset="-120"/>
              </a:rPr>
              <a:t>genetic</a:t>
            </a:r>
            <a:r>
              <a:rPr lang="en-US" sz="1100" dirty="0">
                <a:solidFill>
                  <a:srgbClr val="262B3A"/>
                </a:solidFill>
                <a:latin typeface="Calibri" pitchFamily="34" charset="0"/>
                <a:ea typeface="Calibri" pitchFamily="34" charset="-122"/>
                <a:cs typeface="Calibri" pitchFamily="34" charset="-120"/>
              </a:rPr>
              <a:t> variation is </a:t>
            </a:r>
            <a:r>
              <a:rPr lang="en-US" sz="1100" b="1" dirty="0">
                <a:solidFill>
                  <a:srgbClr val="262B3A"/>
                </a:solidFill>
                <a:latin typeface="Calibri" pitchFamily="34" charset="0"/>
                <a:ea typeface="Calibri" pitchFamily="34" charset="-122"/>
                <a:cs typeface="Calibri" pitchFamily="34" charset="-120"/>
              </a:rPr>
              <a:t>inherited</a:t>
            </a:r>
            <a:r>
              <a:rPr lang="en-US" sz="1100" dirty="0">
                <a:solidFill>
                  <a:srgbClr val="262B3A"/>
                </a:solidFill>
                <a:latin typeface="Calibri" pitchFamily="34" charset="0"/>
                <a:ea typeface="Calibri" pitchFamily="34" charset="-122"/>
                <a:cs typeface="Calibri" pitchFamily="34" charset="-120"/>
              </a:rPr>
              <a:t>, so only it matters for evolution.</a:t>
            </a:r>
            <a:endParaRPr lang="en-US" sz="1100" dirty="0"/>
          </a:p>
        </p:txBody>
      </p:sp>
      <p:sp>
        <p:nvSpPr>
          <p:cNvPr id="77" name="Shape 75"/>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78" name="Text 76"/>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estimate the mean height</a:t>
            </a:r>
            <a:endParaRPr lang="en-US" sz="1300" dirty="0"/>
          </a:p>
        </p:txBody>
      </p:sp>
      <p:sp>
        <p:nvSpPr>
          <p:cNvPr id="79" name="Text 77"/>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midpoint of each class (e.g. 144.5 cm for 140–149).</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Multiply   </a:t>
            </a:r>
            <a:r>
              <a:rPr lang="en-US" sz="1050" dirty="0">
                <a:solidFill>
                  <a:srgbClr val="262B3A"/>
                </a:solidFill>
                <a:latin typeface="Calibri" pitchFamily="34" charset="0"/>
                <a:ea typeface="Calibri" pitchFamily="34" charset="-122"/>
                <a:cs typeface="Calibri" pitchFamily="34" charset="-120"/>
              </a:rPr>
              <a:t>144.5×4 + 154.5×15 + 164.5×36 + … = 16 850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Divide   </a:t>
            </a:r>
            <a:r>
              <a:rPr lang="en-US" sz="1050" dirty="0">
                <a:solidFill>
                  <a:srgbClr val="262B3A"/>
                </a:solidFill>
                <a:latin typeface="Calibri" pitchFamily="34" charset="0"/>
                <a:ea typeface="Calibri" pitchFamily="34" charset="-122"/>
                <a:cs typeface="Calibri" pitchFamily="34" charset="-120"/>
              </a:rPr>
              <a:t>16 850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mean ≈ </a:t>
            </a:r>
            <a:r>
              <a:rPr lang="en-US" sz="1050" b="1" dirty="0">
                <a:solidFill>
                  <a:srgbClr val="C8414C"/>
                </a:solidFill>
                <a:latin typeface="Calibri" pitchFamily="34" charset="0"/>
                <a:ea typeface="Calibri" pitchFamily="34" charset="-122"/>
                <a:cs typeface="Calibri" pitchFamily="34" charset="-120"/>
              </a:rPr>
              <a:t>168.5 cm</a:t>
            </a:r>
            <a:endParaRPr lang="en-US" sz="1050" dirty="0"/>
          </a:p>
        </p:txBody>
      </p:sp>
      <p:sp>
        <p:nvSpPr>
          <p:cNvPr id="80" name="Shape 78"/>
          <p:cNvSpPr/>
          <p:nvPr/>
        </p:nvSpPr>
        <p:spPr>
          <a:xfrm>
            <a:off x="411480" y="5833872"/>
            <a:ext cx="11368735" cy="530352"/>
          </a:xfrm>
          <a:prstGeom prst="rect">
            <a:avLst/>
          </a:prstGeom>
          <a:solidFill>
            <a:srgbClr val="FFF4E0"/>
          </a:solidFill>
          <a:ln w="6350">
            <a:solidFill>
              <a:srgbClr val="F1D9A8"/>
            </a:solidFill>
            <a:prstDash val="solid"/>
          </a:ln>
        </p:spPr>
      </p:sp>
      <p:sp>
        <p:nvSpPr>
          <p:cNvPr id="81" name="Shape 79"/>
          <p:cNvSpPr/>
          <p:nvPr/>
        </p:nvSpPr>
        <p:spPr>
          <a:xfrm>
            <a:off x="411480" y="5833872"/>
            <a:ext cx="82296" cy="530352"/>
          </a:xfrm>
          <a:prstGeom prst="rect">
            <a:avLst/>
          </a:prstGeom>
          <a:solidFill>
            <a:srgbClr val="E39A2F"/>
          </a:solidFill>
          <a:ln w="12700">
            <a:solidFill>
              <a:srgbClr val="E39A2F"/>
            </a:solidFill>
            <a:prstDash val="solid"/>
          </a:ln>
        </p:spPr>
      </p:sp>
      <p:sp>
        <p:nvSpPr>
          <p:cNvPr id="82" name="Text 8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What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 of the students are 180 cm or taller? Why can a feature caused only by the </a:t>
            </a:r>
            <a:r>
              <a:rPr lang="en-US" sz="1150" b="1" dirty="0">
                <a:solidFill>
                  <a:srgbClr val="262B3A"/>
                </a:solidFill>
                <a:latin typeface="Calibri" pitchFamily="34" charset="0"/>
                <a:ea typeface="Calibri" pitchFamily="34" charset="-122"/>
                <a:cs typeface="Calibri" pitchFamily="34" charset="-120"/>
              </a:rPr>
              <a:t>environment</a:t>
            </a:r>
            <a:r>
              <a:rPr lang="en-US" sz="1150" dirty="0">
                <a:solidFill>
                  <a:srgbClr val="262B3A"/>
                </a:solidFill>
                <a:latin typeface="Calibri" pitchFamily="34" charset="0"/>
                <a:ea typeface="Calibri" pitchFamily="34" charset="-122"/>
                <a:cs typeface="Calibri" pitchFamily="34" charset="-120"/>
              </a:rPr>
              <a:t> not be passed on to offspring?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Mutations make new variants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B6.1.2 • genetic variants arise from mutations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B6.1.2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mutation changes one base in a gene; not to scale</a:t>
            </a:r>
            <a:endParaRPr lang="en-US" sz="1000" dirty="0"/>
          </a:p>
        </p:txBody>
      </p:sp>
      <p:sp>
        <p:nvSpPr>
          <p:cNvPr id="10" name="Text 8"/>
          <p:cNvSpPr/>
          <p:nvPr/>
        </p:nvSpPr>
        <p:spPr>
          <a:xfrm>
            <a:off x="640080" y="1389888"/>
            <a:ext cx="50292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Original DNA base sequence (part of a gene)</a:t>
            </a:r>
            <a:endParaRPr lang="en-US" sz="1050" dirty="0"/>
          </a:p>
        </p:txBody>
      </p:sp>
      <p:sp>
        <p:nvSpPr>
          <p:cNvPr id="11" name="Shape 9"/>
          <p:cNvSpPr/>
          <p:nvPr/>
        </p:nvSpPr>
        <p:spPr>
          <a:xfrm>
            <a:off x="685800" y="2130552"/>
            <a:ext cx="5029200" cy="91"/>
          </a:xfrm>
          <a:prstGeom prst="line">
            <a:avLst/>
          </a:prstGeom>
          <a:noFill/>
          <a:ln w="38100">
            <a:solidFill>
              <a:srgbClr val="6B7385"/>
            </a:solidFill>
            <a:prstDash val="solid"/>
          </a:ln>
        </p:spPr>
      </p:sp>
      <p:sp>
        <p:nvSpPr>
          <p:cNvPr id="12" name="Shape 10"/>
          <p:cNvSpPr/>
          <p:nvPr/>
        </p:nvSpPr>
        <p:spPr>
          <a:xfrm>
            <a:off x="731520" y="1691640"/>
            <a:ext cx="457200" cy="411480"/>
          </a:xfrm>
          <a:prstGeom prst="roundRect">
            <a:avLst>
              <a:gd name="adj" fmla="val 11111"/>
            </a:avLst>
          </a:prstGeom>
          <a:solidFill>
            <a:srgbClr val="E07A5F"/>
          </a:solidFill>
          <a:ln w="9525">
            <a:solidFill>
              <a:srgbClr val="5A6275"/>
            </a:solidFill>
            <a:prstDash val="solid"/>
          </a:ln>
        </p:spPr>
      </p:sp>
      <p:sp>
        <p:nvSpPr>
          <p:cNvPr id="13" name="Text 11"/>
          <p:cNvSpPr/>
          <p:nvPr/>
        </p:nvSpPr>
        <p:spPr>
          <a:xfrm>
            <a:off x="73152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A</a:t>
            </a:r>
            <a:endParaRPr lang="en-US" sz="1400" dirty="0"/>
          </a:p>
        </p:txBody>
      </p:sp>
      <p:sp>
        <p:nvSpPr>
          <p:cNvPr id="14" name="Shape 12"/>
          <p:cNvSpPr/>
          <p:nvPr/>
        </p:nvSpPr>
        <p:spPr>
          <a:xfrm>
            <a:off x="1280160" y="1691640"/>
            <a:ext cx="457200" cy="411480"/>
          </a:xfrm>
          <a:prstGeom prst="roundRect">
            <a:avLst>
              <a:gd name="adj" fmla="val 11111"/>
            </a:avLst>
          </a:prstGeom>
          <a:solidFill>
            <a:srgbClr val="F2CC8F"/>
          </a:solidFill>
          <a:ln w="9525">
            <a:solidFill>
              <a:srgbClr val="5A6275"/>
            </a:solidFill>
            <a:prstDash val="solid"/>
          </a:ln>
        </p:spPr>
      </p:sp>
      <p:sp>
        <p:nvSpPr>
          <p:cNvPr id="15" name="Text 13"/>
          <p:cNvSpPr/>
          <p:nvPr/>
        </p:nvSpPr>
        <p:spPr>
          <a:xfrm>
            <a:off x="128016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T</a:t>
            </a:r>
            <a:endParaRPr lang="en-US" sz="1400" dirty="0"/>
          </a:p>
        </p:txBody>
      </p:sp>
      <p:sp>
        <p:nvSpPr>
          <p:cNvPr id="16" name="Shape 14"/>
          <p:cNvSpPr/>
          <p:nvPr/>
        </p:nvSpPr>
        <p:spPr>
          <a:xfrm>
            <a:off x="1828800" y="1691640"/>
            <a:ext cx="457200" cy="411480"/>
          </a:xfrm>
          <a:prstGeom prst="roundRect">
            <a:avLst>
              <a:gd name="adj" fmla="val 11111"/>
            </a:avLst>
          </a:prstGeom>
          <a:solidFill>
            <a:srgbClr val="81B29A"/>
          </a:solidFill>
          <a:ln w="9525">
            <a:solidFill>
              <a:srgbClr val="5A6275"/>
            </a:solidFill>
            <a:prstDash val="solid"/>
          </a:ln>
        </p:spPr>
      </p:sp>
      <p:sp>
        <p:nvSpPr>
          <p:cNvPr id="17" name="Text 15"/>
          <p:cNvSpPr/>
          <p:nvPr/>
        </p:nvSpPr>
        <p:spPr>
          <a:xfrm>
            <a:off x="182880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G</a:t>
            </a:r>
            <a:endParaRPr lang="en-US" sz="1400" dirty="0"/>
          </a:p>
        </p:txBody>
      </p:sp>
      <p:sp>
        <p:nvSpPr>
          <p:cNvPr id="18" name="Shape 16"/>
          <p:cNvSpPr/>
          <p:nvPr/>
        </p:nvSpPr>
        <p:spPr>
          <a:xfrm>
            <a:off x="2377440" y="1691640"/>
            <a:ext cx="457200" cy="411480"/>
          </a:xfrm>
          <a:prstGeom prst="roundRect">
            <a:avLst>
              <a:gd name="adj" fmla="val 11111"/>
            </a:avLst>
          </a:prstGeom>
          <a:solidFill>
            <a:srgbClr val="81B29A"/>
          </a:solidFill>
          <a:ln w="9525">
            <a:solidFill>
              <a:srgbClr val="5A6275"/>
            </a:solidFill>
            <a:prstDash val="solid"/>
          </a:ln>
        </p:spPr>
      </p:sp>
      <p:sp>
        <p:nvSpPr>
          <p:cNvPr id="19" name="Text 17"/>
          <p:cNvSpPr/>
          <p:nvPr/>
        </p:nvSpPr>
        <p:spPr>
          <a:xfrm>
            <a:off x="237744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G</a:t>
            </a:r>
            <a:endParaRPr lang="en-US" sz="1400" dirty="0"/>
          </a:p>
        </p:txBody>
      </p:sp>
      <p:sp>
        <p:nvSpPr>
          <p:cNvPr id="20" name="Shape 18"/>
          <p:cNvSpPr/>
          <p:nvPr/>
        </p:nvSpPr>
        <p:spPr>
          <a:xfrm>
            <a:off x="2926080" y="1691640"/>
            <a:ext cx="457200" cy="411480"/>
          </a:xfrm>
          <a:prstGeom prst="roundRect">
            <a:avLst>
              <a:gd name="adj" fmla="val 11111"/>
            </a:avLst>
          </a:prstGeom>
          <a:solidFill>
            <a:srgbClr val="E07A5F"/>
          </a:solidFill>
          <a:ln w="9525">
            <a:solidFill>
              <a:srgbClr val="5A6275"/>
            </a:solidFill>
            <a:prstDash val="solid"/>
          </a:ln>
        </p:spPr>
      </p:sp>
      <p:sp>
        <p:nvSpPr>
          <p:cNvPr id="21" name="Text 19"/>
          <p:cNvSpPr/>
          <p:nvPr/>
        </p:nvSpPr>
        <p:spPr>
          <a:xfrm>
            <a:off x="292608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A</a:t>
            </a:r>
            <a:endParaRPr lang="en-US" sz="1400" dirty="0"/>
          </a:p>
        </p:txBody>
      </p:sp>
      <p:sp>
        <p:nvSpPr>
          <p:cNvPr id="22" name="Shape 20"/>
          <p:cNvSpPr/>
          <p:nvPr/>
        </p:nvSpPr>
        <p:spPr>
          <a:xfrm>
            <a:off x="3474720" y="1691640"/>
            <a:ext cx="457200" cy="411480"/>
          </a:xfrm>
          <a:prstGeom prst="roundRect">
            <a:avLst>
              <a:gd name="adj" fmla="val 11111"/>
            </a:avLst>
          </a:prstGeom>
          <a:solidFill>
            <a:srgbClr val="7FA7D9"/>
          </a:solidFill>
          <a:ln w="9525">
            <a:solidFill>
              <a:srgbClr val="5A6275"/>
            </a:solidFill>
            <a:prstDash val="solid"/>
          </a:ln>
        </p:spPr>
      </p:sp>
      <p:sp>
        <p:nvSpPr>
          <p:cNvPr id="23" name="Text 21"/>
          <p:cNvSpPr/>
          <p:nvPr/>
        </p:nvSpPr>
        <p:spPr>
          <a:xfrm>
            <a:off x="347472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C</a:t>
            </a:r>
            <a:endParaRPr lang="en-US" sz="1400" dirty="0"/>
          </a:p>
        </p:txBody>
      </p:sp>
      <p:sp>
        <p:nvSpPr>
          <p:cNvPr id="24" name="Shape 22"/>
          <p:cNvSpPr/>
          <p:nvPr/>
        </p:nvSpPr>
        <p:spPr>
          <a:xfrm>
            <a:off x="4023360" y="1691640"/>
            <a:ext cx="457200" cy="411480"/>
          </a:xfrm>
          <a:prstGeom prst="roundRect">
            <a:avLst>
              <a:gd name="adj" fmla="val 11111"/>
            </a:avLst>
          </a:prstGeom>
          <a:solidFill>
            <a:srgbClr val="F2CC8F"/>
          </a:solidFill>
          <a:ln w="9525">
            <a:solidFill>
              <a:srgbClr val="5A6275"/>
            </a:solidFill>
            <a:prstDash val="solid"/>
          </a:ln>
        </p:spPr>
      </p:sp>
      <p:sp>
        <p:nvSpPr>
          <p:cNvPr id="25" name="Text 23"/>
          <p:cNvSpPr/>
          <p:nvPr/>
        </p:nvSpPr>
        <p:spPr>
          <a:xfrm>
            <a:off x="402336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T</a:t>
            </a:r>
            <a:endParaRPr lang="en-US" sz="1400" dirty="0"/>
          </a:p>
        </p:txBody>
      </p:sp>
      <p:sp>
        <p:nvSpPr>
          <p:cNvPr id="26" name="Shape 24"/>
          <p:cNvSpPr/>
          <p:nvPr/>
        </p:nvSpPr>
        <p:spPr>
          <a:xfrm>
            <a:off x="4572000" y="1691640"/>
            <a:ext cx="457200" cy="411480"/>
          </a:xfrm>
          <a:prstGeom prst="roundRect">
            <a:avLst>
              <a:gd name="adj" fmla="val 11111"/>
            </a:avLst>
          </a:prstGeom>
          <a:solidFill>
            <a:srgbClr val="F2CC8F"/>
          </a:solidFill>
          <a:ln w="9525">
            <a:solidFill>
              <a:srgbClr val="5A6275"/>
            </a:solidFill>
            <a:prstDash val="solid"/>
          </a:ln>
        </p:spPr>
      </p:sp>
      <p:sp>
        <p:nvSpPr>
          <p:cNvPr id="27" name="Text 25"/>
          <p:cNvSpPr/>
          <p:nvPr/>
        </p:nvSpPr>
        <p:spPr>
          <a:xfrm>
            <a:off x="457200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T</a:t>
            </a:r>
            <a:endParaRPr lang="en-US" sz="1400" dirty="0"/>
          </a:p>
        </p:txBody>
      </p:sp>
      <p:sp>
        <p:nvSpPr>
          <p:cNvPr id="28" name="Shape 26"/>
          <p:cNvSpPr/>
          <p:nvPr/>
        </p:nvSpPr>
        <p:spPr>
          <a:xfrm>
            <a:off x="5120640" y="1691640"/>
            <a:ext cx="457200" cy="411480"/>
          </a:xfrm>
          <a:prstGeom prst="roundRect">
            <a:avLst>
              <a:gd name="adj" fmla="val 11111"/>
            </a:avLst>
          </a:prstGeom>
          <a:solidFill>
            <a:srgbClr val="7FA7D9"/>
          </a:solidFill>
          <a:ln w="9525">
            <a:solidFill>
              <a:srgbClr val="5A6275"/>
            </a:solidFill>
            <a:prstDash val="solid"/>
          </a:ln>
        </p:spPr>
      </p:sp>
      <p:sp>
        <p:nvSpPr>
          <p:cNvPr id="29" name="Text 27"/>
          <p:cNvSpPr/>
          <p:nvPr/>
        </p:nvSpPr>
        <p:spPr>
          <a:xfrm>
            <a:off x="5120640" y="169164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C</a:t>
            </a:r>
            <a:endParaRPr lang="en-US" sz="1400" dirty="0"/>
          </a:p>
        </p:txBody>
      </p:sp>
      <p:sp>
        <p:nvSpPr>
          <p:cNvPr id="30" name="Text 28"/>
          <p:cNvSpPr/>
          <p:nvPr/>
        </p:nvSpPr>
        <p:spPr>
          <a:xfrm>
            <a:off x="640080" y="2487168"/>
            <a:ext cx="502920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After a mutation: one base changed (A → C)</a:t>
            </a:r>
            <a:endParaRPr lang="en-US" sz="1050" dirty="0"/>
          </a:p>
        </p:txBody>
      </p:sp>
      <p:sp>
        <p:nvSpPr>
          <p:cNvPr id="31" name="Shape 29"/>
          <p:cNvSpPr/>
          <p:nvPr/>
        </p:nvSpPr>
        <p:spPr>
          <a:xfrm>
            <a:off x="685800" y="3227832"/>
            <a:ext cx="5029200" cy="91"/>
          </a:xfrm>
          <a:prstGeom prst="line">
            <a:avLst/>
          </a:prstGeom>
          <a:noFill/>
          <a:ln w="38100">
            <a:solidFill>
              <a:srgbClr val="6B7385"/>
            </a:solidFill>
            <a:prstDash val="solid"/>
          </a:ln>
        </p:spPr>
      </p:sp>
      <p:sp>
        <p:nvSpPr>
          <p:cNvPr id="32" name="Shape 30"/>
          <p:cNvSpPr/>
          <p:nvPr/>
        </p:nvSpPr>
        <p:spPr>
          <a:xfrm>
            <a:off x="731520" y="2788920"/>
            <a:ext cx="457200" cy="411480"/>
          </a:xfrm>
          <a:prstGeom prst="roundRect">
            <a:avLst>
              <a:gd name="adj" fmla="val 11111"/>
            </a:avLst>
          </a:prstGeom>
          <a:solidFill>
            <a:srgbClr val="E07A5F"/>
          </a:solidFill>
          <a:ln w="9525">
            <a:solidFill>
              <a:srgbClr val="5A6275"/>
            </a:solidFill>
            <a:prstDash val="solid"/>
          </a:ln>
        </p:spPr>
      </p:sp>
      <p:sp>
        <p:nvSpPr>
          <p:cNvPr id="33" name="Text 31"/>
          <p:cNvSpPr/>
          <p:nvPr/>
        </p:nvSpPr>
        <p:spPr>
          <a:xfrm>
            <a:off x="73152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A</a:t>
            </a:r>
            <a:endParaRPr lang="en-US" sz="1400" dirty="0"/>
          </a:p>
        </p:txBody>
      </p:sp>
      <p:sp>
        <p:nvSpPr>
          <p:cNvPr id="34" name="Shape 32"/>
          <p:cNvSpPr/>
          <p:nvPr/>
        </p:nvSpPr>
        <p:spPr>
          <a:xfrm>
            <a:off x="1280160" y="2788920"/>
            <a:ext cx="457200" cy="411480"/>
          </a:xfrm>
          <a:prstGeom prst="roundRect">
            <a:avLst>
              <a:gd name="adj" fmla="val 11111"/>
            </a:avLst>
          </a:prstGeom>
          <a:solidFill>
            <a:srgbClr val="F2CC8F"/>
          </a:solidFill>
          <a:ln w="9525">
            <a:solidFill>
              <a:srgbClr val="5A6275"/>
            </a:solidFill>
            <a:prstDash val="solid"/>
          </a:ln>
        </p:spPr>
      </p:sp>
      <p:sp>
        <p:nvSpPr>
          <p:cNvPr id="35" name="Text 33"/>
          <p:cNvSpPr/>
          <p:nvPr/>
        </p:nvSpPr>
        <p:spPr>
          <a:xfrm>
            <a:off x="128016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T</a:t>
            </a:r>
            <a:endParaRPr lang="en-US" sz="1400" dirty="0"/>
          </a:p>
        </p:txBody>
      </p:sp>
      <p:sp>
        <p:nvSpPr>
          <p:cNvPr id="36" name="Shape 34"/>
          <p:cNvSpPr/>
          <p:nvPr/>
        </p:nvSpPr>
        <p:spPr>
          <a:xfrm>
            <a:off x="1828800" y="2788920"/>
            <a:ext cx="457200" cy="411480"/>
          </a:xfrm>
          <a:prstGeom prst="roundRect">
            <a:avLst>
              <a:gd name="adj" fmla="val 11111"/>
            </a:avLst>
          </a:prstGeom>
          <a:solidFill>
            <a:srgbClr val="81B29A"/>
          </a:solidFill>
          <a:ln w="9525">
            <a:solidFill>
              <a:srgbClr val="5A6275"/>
            </a:solidFill>
            <a:prstDash val="solid"/>
          </a:ln>
        </p:spPr>
      </p:sp>
      <p:sp>
        <p:nvSpPr>
          <p:cNvPr id="37" name="Text 35"/>
          <p:cNvSpPr/>
          <p:nvPr/>
        </p:nvSpPr>
        <p:spPr>
          <a:xfrm>
            <a:off x="182880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G</a:t>
            </a:r>
            <a:endParaRPr lang="en-US" sz="1400" dirty="0"/>
          </a:p>
        </p:txBody>
      </p:sp>
      <p:sp>
        <p:nvSpPr>
          <p:cNvPr id="38" name="Shape 36"/>
          <p:cNvSpPr/>
          <p:nvPr/>
        </p:nvSpPr>
        <p:spPr>
          <a:xfrm>
            <a:off x="2377440" y="2788920"/>
            <a:ext cx="457200" cy="411480"/>
          </a:xfrm>
          <a:prstGeom prst="roundRect">
            <a:avLst>
              <a:gd name="adj" fmla="val 11111"/>
            </a:avLst>
          </a:prstGeom>
          <a:solidFill>
            <a:srgbClr val="81B29A"/>
          </a:solidFill>
          <a:ln w="9525">
            <a:solidFill>
              <a:srgbClr val="5A6275"/>
            </a:solidFill>
            <a:prstDash val="solid"/>
          </a:ln>
        </p:spPr>
      </p:sp>
      <p:sp>
        <p:nvSpPr>
          <p:cNvPr id="39" name="Text 37"/>
          <p:cNvSpPr/>
          <p:nvPr/>
        </p:nvSpPr>
        <p:spPr>
          <a:xfrm>
            <a:off x="237744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G</a:t>
            </a:r>
            <a:endParaRPr lang="en-US" sz="1400" dirty="0"/>
          </a:p>
        </p:txBody>
      </p:sp>
      <p:sp>
        <p:nvSpPr>
          <p:cNvPr id="40" name="Shape 38"/>
          <p:cNvSpPr/>
          <p:nvPr/>
        </p:nvSpPr>
        <p:spPr>
          <a:xfrm>
            <a:off x="2926080" y="2788920"/>
            <a:ext cx="457200" cy="411480"/>
          </a:xfrm>
          <a:prstGeom prst="roundRect">
            <a:avLst>
              <a:gd name="adj" fmla="val 11111"/>
            </a:avLst>
          </a:prstGeom>
          <a:solidFill>
            <a:srgbClr val="7FA7D9"/>
          </a:solidFill>
          <a:ln w="38100">
            <a:solidFill>
              <a:srgbClr val="C8414C"/>
            </a:solidFill>
            <a:prstDash val="solid"/>
          </a:ln>
        </p:spPr>
      </p:sp>
      <p:sp>
        <p:nvSpPr>
          <p:cNvPr id="41" name="Text 39"/>
          <p:cNvSpPr/>
          <p:nvPr/>
        </p:nvSpPr>
        <p:spPr>
          <a:xfrm>
            <a:off x="292608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C</a:t>
            </a:r>
            <a:endParaRPr lang="en-US" sz="1400" dirty="0"/>
          </a:p>
        </p:txBody>
      </p:sp>
      <p:sp>
        <p:nvSpPr>
          <p:cNvPr id="42" name="Shape 40"/>
          <p:cNvSpPr/>
          <p:nvPr/>
        </p:nvSpPr>
        <p:spPr>
          <a:xfrm>
            <a:off x="3474720" y="2788920"/>
            <a:ext cx="457200" cy="411480"/>
          </a:xfrm>
          <a:prstGeom prst="roundRect">
            <a:avLst>
              <a:gd name="adj" fmla="val 11111"/>
            </a:avLst>
          </a:prstGeom>
          <a:solidFill>
            <a:srgbClr val="7FA7D9"/>
          </a:solidFill>
          <a:ln w="9525">
            <a:solidFill>
              <a:srgbClr val="5A6275"/>
            </a:solidFill>
            <a:prstDash val="solid"/>
          </a:ln>
        </p:spPr>
      </p:sp>
      <p:sp>
        <p:nvSpPr>
          <p:cNvPr id="43" name="Text 41"/>
          <p:cNvSpPr/>
          <p:nvPr/>
        </p:nvSpPr>
        <p:spPr>
          <a:xfrm>
            <a:off x="347472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C</a:t>
            </a:r>
            <a:endParaRPr lang="en-US" sz="1400" dirty="0"/>
          </a:p>
        </p:txBody>
      </p:sp>
      <p:sp>
        <p:nvSpPr>
          <p:cNvPr id="44" name="Shape 42"/>
          <p:cNvSpPr/>
          <p:nvPr/>
        </p:nvSpPr>
        <p:spPr>
          <a:xfrm>
            <a:off x="4023360" y="2788920"/>
            <a:ext cx="457200" cy="411480"/>
          </a:xfrm>
          <a:prstGeom prst="roundRect">
            <a:avLst>
              <a:gd name="adj" fmla="val 11111"/>
            </a:avLst>
          </a:prstGeom>
          <a:solidFill>
            <a:srgbClr val="F2CC8F"/>
          </a:solidFill>
          <a:ln w="9525">
            <a:solidFill>
              <a:srgbClr val="5A6275"/>
            </a:solidFill>
            <a:prstDash val="solid"/>
          </a:ln>
        </p:spPr>
      </p:sp>
      <p:sp>
        <p:nvSpPr>
          <p:cNvPr id="45" name="Text 43"/>
          <p:cNvSpPr/>
          <p:nvPr/>
        </p:nvSpPr>
        <p:spPr>
          <a:xfrm>
            <a:off x="402336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T</a:t>
            </a:r>
            <a:endParaRPr lang="en-US" sz="1400" dirty="0"/>
          </a:p>
        </p:txBody>
      </p:sp>
      <p:sp>
        <p:nvSpPr>
          <p:cNvPr id="46" name="Shape 44"/>
          <p:cNvSpPr/>
          <p:nvPr/>
        </p:nvSpPr>
        <p:spPr>
          <a:xfrm>
            <a:off x="4572000" y="2788920"/>
            <a:ext cx="457200" cy="411480"/>
          </a:xfrm>
          <a:prstGeom prst="roundRect">
            <a:avLst>
              <a:gd name="adj" fmla="val 11111"/>
            </a:avLst>
          </a:prstGeom>
          <a:solidFill>
            <a:srgbClr val="F2CC8F"/>
          </a:solidFill>
          <a:ln w="9525">
            <a:solidFill>
              <a:srgbClr val="5A6275"/>
            </a:solidFill>
            <a:prstDash val="solid"/>
          </a:ln>
        </p:spPr>
      </p:sp>
      <p:sp>
        <p:nvSpPr>
          <p:cNvPr id="47" name="Text 45"/>
          <p:cNvSpPr/>
          <p:nvPr/>
        </p:nvSpPr>
        <p:spPr>
          <a:xfrm>
            <a:off x="457200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T</a:t>
            </a:r>
            <a:endParaRPr lang="en-US" sz="1400" dirty="0"/>
          </a:p>
        </p:txBody>
      </p:sp>
      <p:sp>
        <p:nvSpPr>
          <p:cNvPr id="48" name="Shape 46"/>
          <p:cNvSpPr/>
          <p:nvPr/>
        </p:nvSpPr>
        <p:spPr>
          <a:xfrm>
            <a:off x="5120640" y="2788920"/>
            <a:ext cx="457200" cy="411480"/>
          </a:xfrm>
          <a:prstGeom prst="roundRect">
            <a:avLst>
              <a:gd name="adj" fmla="val 11111"/>
            </a:avLst>
          </a:prstGeom>
          <a:solidFill>
            <a:srgbClr val="7FA7D9"/>
          </a:solidFill>
          <a:ln w="9525">
            <a:solidFill>
              <a:srgbClr val="5A6275"/>
            </a:solidFill>
            <a:prstDash val="solid"/>
          </a:ln>
        </p:spPr>
      </p:sp>
      <p:sp>
        <p:nvSpPr>
          <p:cNvPr id="49" name="Text 47"/>
          <p:cNvSpPr/>
          <p:nvPr/>
        </p:nvSpPr>
        <p:spPr>
          <a:xfrm>
            <a:off x="5120640" y="2788920"/>
            <a:ext cx="457200" cy="41148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C</a:t>
            </a:r>
            <a:endParaRPr lang="en-US" sz="1400" dirty="0"/>
          </a:p>
        </p:txBody>
      </p:sp>
      <p:sp>
        <p:nvSpPr>
          <p:cNvPr id="50" name="Shape 48"/>
          <p:cNvSpPr/>
          <p:nvPr/>
        </p:nvSpPr>
        <p:spPr>
          <a:xfrm>
            <a:off x="3200400" y="2212848"/>
            <a:ext cx="91" cy="256032"/>
          </a:xfrm>
          <a:prstGeom prst="line">
            <a:avLst/>
          </a:prstGeom>
          <a:noFill/>
          <a:ln w="25400">
            <a:solidFill>
              <a:srgbClr val="C8414C"/>
            </a:solidFill>
            <a:prstDash val="solid"/>
            <a:tailEnd type="triangle"/>
          </a:ln>
        </p:spPr>
      </p:sp>
      <p:sp>
        <p:nvSpPr>
          <p:cNvPr id="51" name="Text 49"/>
          <p:cNvSpPr/>
          <p:nvPr/>
        </p:nvSpPr>
        <p:spPr>
          <a:xfrm>
            <a:off x="3291840" y="2194560"/>
            <a:ext cx="2377440" cy="27432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mutation = a change in the DNA</a:t>
            </a:r>
            <a:endParaRPr lang="en-US" sz="1000" dirty="0"/>
          </a:p>
        </p:txBody>
      </p:sp>
      <p:sp>
        <p:nvSpPr>
          <p:cNvPr id="52" name="Text 50"/>
          <p:cNvSpPr/>
          <p:nvPr/>
        </p:nvSpPr>
        <p:spPr>
          <a:xfrm>
            <a:off x="640080" y="3429000"/>
            <a:ext cx="5120640" cy="274320"/>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The new allele may change the </a:t>
            </a:r>
            <a:r>
              <a:rPr lang="en-US" sz="1050" b="1" dirty="0">
                <a:solidFill>
                  <a:srgbClr val="262B3A"/>
                </a:solidFill>
                <a:latin typeface="Calibri" pitchFamily="34" charset="0"/>
                <a:ea typeface="Calibri" pitchFamily="34" charset="-122"/>
                <a:cs typeface="Calibri" pitchFamily="34" charset="-120"/>
              </a:rPr>
              <a:t>protein</a:t>
            </a:r>
            <a:r>
              <a:rPr lang="en-US" sz="1050" dirty="0">
                <a:solidFill>
                  <a:srgbClr val="262B3A"/>
                </a:solidFill>
                <a:latin typeface="Calibri" pitchFamily="34" charset="0"/>
                <a:ea typeface="Calibri" pitchFamily="34" charset="-122"/>
                <a:cs typeface="Calibri" pitchFamily="34" charset="-120"/>
              </a:rPr>
              <a:t> made, and so the </a:t>
            </a:r>
            <a:r>
              <a:rPr lang="en-US" sz="1050" b="1" dirty="0">
                <a:solidFill>
                  <a:srgbClr val="262B3A"/>
                </a:solidFill>
                <a:latin typeface="Calibri" pitchFamily="34" charset="0"/>
                <a:ea typeface="Calibri" pitchFamily="34" charset="-122"/>
                <a:cs typeface="Calibri" pitchFamily="34" charset="-120"/>
              </a:rPr>
              <a:t>phenotype</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53" name="Shape 51"/>
          <p:cNvSpPr/>
          <p:nvPr/>
        </p:nvSpPr>
        <p:spPr>
          <a:xfrm>
            <a:off x="685800" y="3794760"/>
            <a:ext cx="1600200" cy="1417320"/>
          </a:xfrm>
          <a:prstGeom prst="roundRect">
            <a:avLst>
              <a:gd name="adj" fmla="val 3871"/>
            </a:avLst>
          </a:prstGeom>
          <a:solidFill>
            <a:srgbClr val="8FD19E"/>
          </a:solidFill>
          <a:ln w="9525">
            <a:solidFill>
              <a:srgbClr val="5A6275"/>
            </a:solidFill>
            <a:prstDash val="solid"/>
          </a:ln>
        </p:spPr>
      </p:sp>
      <p:sp>
        <p:nvSpPr>
          <p:cNvPr id="54" name="Text 52"/>
          <p:cNvSpPr/>
          <p:nvPr/>
        </p:nvSpPr>
        <p:spPr>
          <a:xfrm>
            <a:off x="731520" y="3840480"/>
            <a:ext cx="1508760" cy="36576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Most</a:t>
            </a:r>
            <a:endParaRPr lang="en-US" sz="1400" dirty="0"/>
          </a:p>
        </p:txBody>
      </p:sp>
      <p:sp>
        <p:nvSpPr>
          <p:cNvPr id="55" name="Text 53"/>
          <p:cNvSpPr/>
          <p:nvPr/>
        </p:nvSpPr>
        <p:spPr>
          <a:xfrm>
            <a:off x="731520" y="4206240"/>
            <a:ext cx="1508760" cy="685800"/>
          </a:xfrm>
          <a:prstGeom prst="rect">
            <a:avLst/>
          </a:prstGeom>
          <a:noFill/>
          <a:ln/>
        </p:spPr>
        <p:txBody>
          <a:bodyPr wrap="square" lIns="0" tIns="0" rIns="0" bIns="0" rtlCol="0" anchor="t"/>
          <a:lstStyle/>
          <a:p>
            <a:pPr algn="ctr" indent="0" marL="0">
              <a:buNone/>
            </a:pPr>
            <a:r>
              <a:rPr lang="en-US" sz="1100" dirty="0">
                <a:solidFill>
                  <a:srgbClr val="262B3A"/>
                </a:solidFill>
                <a:latin typeface="Calibri" pitchFamily="34" charset="0"/>
                <a:ea typeface="Calibri" pitchFamily="34" charset="-122"/>
                <a:cs typeface="Calibri" pitchFamily="34" charset="-120"/>
              </a:rPr>
              <a:t>no effect on the phenotype</a:t>
            </a:r>
            <a:endParaRPr lang="en-US" sz="1100" dirty="0"/>
          </a:p>
        </p:txBody>
      </p:sp>
      <p:sp>
        <p:nvSpPr>
          <p:cNvPr id="56" name="Shape 54"/>
          <p:cNvSpPr/>
          <p:nvPr/>
        </p:nvSpPr>
        <p:spPr>
          <a:xfrm>
            <a:off x="2404872" y="3794760"/>
            <a:ext cx="1600200" cy="1417320"/>
          </a:xfrm>
          <a:prstGeom prst="roundRect">
            <a:avLst>
              <a:gd name="adj" fmla="val 3871"/>
            </a:avLst>
          </a:prstGeom>
          <a:solidFill>
            <a:srgbClr val="F5D58A"/>
          </a:solidFill>
          <a:ln w="9525">
            <a:solidFill>
              <a:srgbClr val="5A6275"/>
            </a:solidFill>
            <a:prstDash val="solid"/>
          </a:ln>
        </p:spPr>
      </p:sp>
      <p:sp>
        <p:nvSpPr>
          <p:cNvPr id="57" name="Text 55"/>
          <p:cNvSpPr/>
          <p:nvPr/>
        </p:nvSpPr>
        <p:spPr>
          <a:xfrm>
            <a:off x="2450592" y="3840480"/>
            <a:ext cx="1508760" cy="36576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Some</a:t>
            </a:r>
            <a:endParaRPr lang="en-US" sz="1400" dirty="0"/>
          </a:p>
        </p:txBody>
      </p:sp>
      <p:sp>
        <p:nvSpPr>
          <p:cNvPr id="58" name="Text 56"/>
          <p:cNvSpPr/>
          <p:nvPr/>
        </p:nvSpPr>
        <p:spPr>
          <a:xfrm>
            <a:off x="2450592" y="4206240"/>
            <a:ext cx="1508760" cy="685800"/>
          </a:xfrm>
          <a:prstGeom prst="rect">
            <a:avLst/>
          </a:prstGeom>
          <a:noFill/>
          <a:ln/>
        </p:spPr>
        <p:txBody>
          <a:bodyPr wrap="square" lIns="0" tIns="0" rIns="0" bIns="0" rtlCol="0" anchor="t"/>
          <a:lstStyle/>
          <a:p>
            <a:pPr algn="ctr" indent="0" marL="0">
              <a:buNone/>
            </a:pPr>
            <a:r>
              <a:rPr lang="en-US" sz="1100" dirty="0">
                <a:solidFill>
                  <a:srgbClr val="262B3A"/>
                </a:solidFill>
                <a:latin typeface="Calibri" pitchFamily="34" charset="0"/>
                <a:ea typeface="Calibri" pitchFamily="34" charset="-122"/>
                <a:cs typeface="Calibri" pitchFamily="34" charset="-120"/>
              </a:rPr>
              <a:t>influence the phenotype</a:t>
            </a:r>
            <a:endParaRPr lang="en-US" sz="1100" dirty="0"/>
          </a:p>
        </p:txBody>
      </p:sp>
      <p:sp>
        <p:nvSpPr>
          <p:cNvPr id="59" name="Shape 57"/>
          <p:cNvSpPr/>
          <p:nvPr/>
        </p:nvSpPr>
        <p:spPr>
          <a:xfrm>
            <a:off x="4123944" y="3794760"/>
            <a:ext cx="1600200" cy="1417320"/>
          </a:xfrm>
          <a:prstGeom prst="roundRect">
            <a:avLst>
              <a:gd name="adj" fmla="val 3871"/>
            </a:avLst>
          </a:prstGeom>
          <a:solidFill>
            <a:srgbClr val="EE8A8F"/>
          </a:solidFill>
          <a:ln w="9525">
            <a:solidFill>
              <a:srgbClr val="5A6275"/>
            </a:solidFill>
            <a:prstDash val="solid"/>
          </a:ln>
        </p:spPr>
      </p:sp>
      <p:sp>
        <p:nvSpPr>
          <p:cNvPr id="60" name="Text 58"/>
          <p:cNvSpPr/>
          <p:nvPr/>
        </p:nvSpPr>
        <p:spPr>
          <a:xfrm>
            <a:off x="4169664" y="3840480"/>
            <a:ext cx="1508760" cy="365760"/>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Very few</a:t>
            </a:r>
            <a:endParaRPr lang="en-US" sz="1400" dirty="0"/>
          </a:p>
        </p:txBody>
      </p:sp>
      <p:sp>
        <p:nvSpPr>
          <p:cNvPr id="61" name="Text 59"/>
          <p:cNvSpPr/>
          <p:nvPr/>
        </p:nvSpPr>
        <p:spPr>
          <a:xfrm>
            <a:off x="4169664" y="4206240"/>
            <a:ext cx="1508760" cy="685800"/>
          </a:xfrm>
          <a:prstGeom prst="rect">
            <a:avLst/>
          </a:prstGeom>
          <a:noFill/>
          <a:ln/>
        </p:spPr>
        <p:txBody>
          <a:bodyPr wrap="square" lIns="0" tIns="0" rIns="0" bIns="0" rtlCol="0" anchor="t"/>
          <a:lstStyle/>
          <a:p>
            <a:pPr algn="ctr" indent="0" marL="0">
              <a:buNone/>
            </a:pPr>
            <a:r>
              <a:rPr lang="en-US" sz="1100" dirty="0">
                <a:solidFill>
                  <a:srgbClr val="262B3A"/>
                </a:solidFill>
                <a:latin typeface="Calibri" pitchFamily="34" charset="0"/>
                <a:ea typeface="Calibri" pitchFamily="34" charset="-122"/>
                <a:cs typeface="Calibri" pitchFamily="34" charset="-120"/>
              </a:rPr>
              <a:t>determine the phenotype</a:t>
            </a:r>
            <a:endParaRPr lang="en-US" sz="1100" dirty="0"/>
          </a:p>
        </p:txBody>
      </p:sp>
      <p:sp>
        <p:nvSpPr>
          <p:cNvPr id="62" name="Shape 60"/>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63" name="Text 6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Where new alleles come from</a:t>
            </a:r>
            <a:endParaRPr lang="en-US" sz="1300" dirty="0"/>
          </a:p>
        </p:txBody>
      </p:sp>
      <p:sp>
        <p:nvSpPr>
          <p:cNvPr id="64" name="Text 62"/>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mutation</a:t>
            </a:r>
            <a:r>
              <a:rPr lang="en-US" sz="1100" dirty="0">
                <a:solidFill>
                  <a:srgbClr val="262B3A"/>
                </a:solidFill>
                <a:latin typeface="Calibri" pitchFamily="34" charset="0"/>
                <a:ea typeface="Calibri" pitchFamily="34" charset="-122"/>
                <a:cs typeface="Calibri" pitchFamily="34" charset="-120"/>
              </a:rPr>
              <a:t> is a change in the </a:t>
            </a:r>
            <a:r>
              <a:rPr lang="en-US" sz="1100" b="1" dirty="0">
                <a:solidFill>
                  <a:srgbClr val="262B3A"/>
                </a:solidFill>
                <a:latin typeface="Calibri" pitchFamily="34" charset="0"/>
                <a:ea typeface="Calibri" pitchFamily="34" charset="-122"/>
                <a:cs typeface="Calibri" pitchFamily="34" charset="-120"/>
              </a:rPr>
              <a:t>DNA</a:t>
            </a:r>
            <a:r>
              <a:rPr lang="en-US" sz="1100" dirty="0">
                <a:solidFill>
                  <a:srgbClr val="262B3A"/>
                </a:solidFill>
                <a:latin typeface="Calibri" pitchFamily="34" charset="0"/>
                <a:ea typeface="Calibri" pitchFamily="34" charset="-122"/>
                <a:cs typeface="Calibri" pitchFamily="34" charset="-120"/>
              </a:rPr>
              <a:t> base sequence. It creates a new </a:t>
            </a:r>
            <a:r>
              <a:rPr lang="en-US" sz="1100" b="1" dirty="0">
                <a:solidFill>
                  <a:srgbClr val="262B3A"/>
                </a:solidFill>
                <a:latin typeface="Calibri" pitchFamily="34" charset="0"/>
                <a:ea typeface="Calibri" pitchFamily="34" charset="-122"/>
                <a:cs typeface="Calibri" pitchFamily="34" charset="-120"/>
              </a:rPr>
              <a:t>variant</a:t>
            </a:r>
            <a:r>
              <a:rPr lang="en-US" sz="1100" dirty="0">
                <a:solidFill>
                  <a:srgbClr val="262B3A"/>
                </a:solidFill>
                <a:latin typeface="Calibri" pitchFamily="34" charset="0"/>
                <a:ea typeface="Calibri" pitchFamily="34" charset="-122"/>
                <a:cs typeface="Calibri" pitchFamily="34" charset="-120"/>
              </a:rPr>
              <a:t> (allele) of a gene.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Mutations happen </a:t>
            </a:r>
            <a:r>
              <a:rPr lang="en-US" sz="1100" b="1" dirty="0">
                <a:solidFill>
                  <a:srgbClr val="262B3A"/>
                </a:solidFill>
                <a:latin typeface="Calibri" pitchFamily="34" charset="0"/>
                <a:ea typeface="Calibri" pitchFamily="34" charset="-122"/>
                <a:cs typeface="Calibri" pitchFamily="34" charset="-120"/>
              </a:rPr>
              <a:t>randomly</a:t>
            </a:r>
            <a:r>
              <a:rPr lang="en-US" sz="1100" dirty="0">
                <a:solidFill>
                  <a:srgbClr val="262B3A"/>
                </a:solidFill>
                <a:latin typeface="Calibri" pitchFamily="34" charset="0"/>
                <a:ea typeface="Calibri" pitchFamily="34" charset="-122"/>
                <a:cs typeface="Calibri" pitchFamily="34" charset="-120"/>
              </a:rPr>
              <a:t>, e.g. when DNA is copied. Radiation and some chemicals make them more likely.</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Most</a:t>
            </a:r>
            <a:r>
              <a:rPr lang="en-US" sz="1100" dirty="0">
                <a:solidFill>
                  <a:srgbClr val="262B3A"/>
                </a:solidFill>
                <a:latin typeface="Calibri" pitchFamily="34" charset="0"/>
                <a:ea typeface="Calibri" pitchFamily="34" charset="-122"/>
                <a:cs typeface="Calibri" pitchFamily="34" charset="-120"/>
              </a:rPr>
              <a:t> mutations have </a:t>
            </a:r>
            <a:r>
              <a:rPr lang="en-US" sz="1100" b="1" dirty="0">
                <a:solidFill>
                  <a:srgbClr val="262B3A"/>
                </a:solidFill>
                <a:latin typeface="Calibri" pitchFamily="34" charset="0"/>
                <a:ea typeface="Calibri" pitchFamily="34" charset="-122"/>
                <a:cs typeface="Calibri" pitchFamily="34" charset="-120"/>
              </a:rPr>
              <a:t>no effect</a:t>
            </a:r>
            <a:r>
              <a:rPr lang="en-US" sz="1100" dirty="0">
                <a:solidFill>
                  <a:srgbClr val="262B3A"/>
                </a:solidFill>
                <a:latin typeface="Calibri" pitchFamily="34" charset="0"/>
                <a:ea typeface="Calibri" pitchFamily="34" charset="-122"/>
                <a:cs typeface="Calibri" pitchFamily="34" charset="-120"/>
              </a:rPr>
              <a:t> on the phenotype. </a:t>
            </a:r>
            <a:r>
              <a:rPr lang="en-US" sz="1100" b="1" dirty="0">
                <a:solidFill>
                  <a:srgbClr val="262B3A"/>
                </a:solidFill>
                <a:latin typeface="Calibri" pitchFamily="34" charset="0"/>
                <a:ea typeface="Calibri" pitchFamily="34" charset="-122"/>
                <a:cs typeface="Calibri" pitchFamily="34" charset="-120"/>
              </a:rPr>
              <a:t>Some influence</a:t>
            </a:r>
            <a:r>
              <a:rPr lang="en-US" sz="1100" dirty="0">
                <a:solidFill>
                  <a:srgbClr val="262B3A"/>
                </a:solidFill>
                <a:latin typeface="Calibri" pitchFamily="34" charset="0"/>
                <a:ea typeface="Calibri" pitchFamily="34" charset="-122"/>
                <a:cs typeface="Calibri" pitchFamily="34" charset="-120"/>
              </a:rPr>
              <a:t> it. A </a:t>
            </a:r>
            <a:r>
              <a:rPr lang="en-US" sz="1100" b="1" dirty="0">
                <a:solidFill>
                  <a:srgbClr val="262B3A"/>
                </a:solidFill>
                <a:latin typeface="Calibri" pitchFamily="34" charset="0"/>
                <a:ea typeface="Calibri" pitchFamily="34" charset="-122"/>
                <a:cs typeface="Calibri" pitchFamily="34" charset="-120"/>
              </a:rPr>
              <a:t>very few</a:t>
            </a:r>
            <a:r>
              <a:rPr lang="en-US" sz="1100" dirty="0">
                <a:solidFill>
                  <a:srgbClr val="262B3A"/>
                </a:solidFill>
                <a:latin typeface="Calibri" pitchFamily="34" charset="0"/>
                <a:ea typeface="Calibri" pitchFamily="34" charset="-122"/>
                <a:cs typeface="Calibri" pitchFamily="34" charset="-120"/>
              </a:rPr>
              <a:t> decide it on their own.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mutation in a </a:t>
            </a:r>
            <a:r>
              <a:rPr lang="en-US" sz="1100" b="1" dirty="0">
                <a:solidFill>
                  <a:srgbClr val="262B3A"/>
                </a:solidFill>
                <a:latin typeface="Calibri" pitchFamily="34" charset="0"/>
                <a:ea typeface="Calibri" pitchFamily="34" charset="-122"/>
                <a:cs typeface="Calibri" pitchFamily="34" charset="-120"/>
              </a:rPr>
              <a:t>gamete</a:t>
            </a:r>
            <a:r>
              <a:rPr lang="en-US" sz="1100" dirty="0">
                <a:solidFill>
                  <a:srgbClr val="262B3A"/>
                </a:solidFill>
                <a:latin typeface="Calibri" pitchFamily="34" charset="0"/>
                <a:ea typeface="Calibri" pitchFamily="34" charset="-122"/>
                <a:cs typeface="Calibri" pitchFamily="34" charset="-120"/>
              </a:rPr>
              <a:t> (sex cell) can be </a:t>
            </a:r>
            <a:r>
              <a:rPr lang="en-US" sz="1100" b="1" dirty="0">
                <a:solidFill>
                  <a:srgbClr val="262B3A"/>
                </a:solidFill>
                <a:latin typeface="Calibri" pitchFamily="34" charset="0"/>
                <a:ea typeface="Calibri" pitchFamily="34" charset="-122"/>
                <a:cs typeface="Calibri" pitchFamily="34" charset="-120"/>
              </a:rPr>
              <a:t>inherited</a:t>
            </a:r>
            <a:r>
              <a:rPr lang="en-US" sz="1100" dirty="0">
                <a:solidFill>
                  <a:srgbClr val="262B3A"/>
                </a:solidFill>
                <a:latin typeface="Calibri" pitchFamily="34" charset="0"/>
                <a:ea typeface="Calibri" pitchFamily="34" charset="-122"/>
                <a:cs typeface="Calibri" pitchFamily="34" charset="-120"/>
              </a:rPr>
              <a:t>: it adds to the genetic variation of the population.</a:t>
            </a:r>
            <a:endParaRPr lang="en-US" sz="1100" dirty="0"/>
          </a:p>
        </p:txBody>
      </p:sp>
      <p:sp>
        <p:nvSpPr>
          <p:cNvPr id="65" name="Shape 63"/>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66" name="Text 64"/>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big a change?</a:t>
            </a:r>
            <a:endParaRPr lang="en-US" sz="1300" dirty="0"/>
          </a:p>
        </p:txBody>
      </p:sp>
      <p:sp>
        <p:nvSpPr>
          <p:cNvPr id="67" name="Text 65"/>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gene is 1200 bases long. One base is changed.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Fraction   </a:t>
            </a:r>
            <a:r>
              <a:rPr lang="en-US" sz="1050" dirty="0">
                <a:solidFill>
                  <a:srgbClr val="262B3A"/>
                </a:solidFill>
                <a:latin typeface="Calibri" pitchFamily="34" charset="0"/>
                <a:ea typeface="Calibri" pitchFamily="34" charset="-122"/>
                <a:cs typeface="Calibri" pitchFamily="34" charset="-120"/>
              </a:rPr>
              <a:t>1 ÷ 1200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1 ÷ 1200 × 100 = 0.0833…</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only </a:t>
            </a:r>
            <a:r>
              <a:rPr lang="en-US" sz="1050" b="1" dirty="0">
                <a:solidFill>
                  <a:srgbClr val="C8414C"/>
                </a:solidFill>
                <a:latin typeface="Calibri" pitchFamily="34" charset="0"/>
                <a:ea typeface="Calibri" pitchFamily="34" charset="-122"/>
                <a:cs typeface="Calibri" pitchFamily="34" charset="-120"/>
              </a:rPr>
              <a:t>0.083%</a:t>
            </a:r>
            <a:r>
              <a:rPr lang="en-US" sz="1050" b="1" dirty="0">
                <a:solidFill>
                  <a:srgbClr val="C8414C"/>
                </a:solidFill>
                <a:latin typeface="Calibri" pitchFamily="34" charset="0"/>
                <a:ea typeface="Calibri" pitchFamily="34" charset="-122"/>
                <a:cs typeface="Calibri" pitchFamily="34" charset="-120"/>
              </a:rPr>
              <a:t> of the gene (2 s.f.), but it can still change the protein</a:t>
            </a:r>
            <a:endParaRPr lang="en-US" sz="1050" dirty="0"/>
          </a:p>
        </p:txBody>
      </p:sp>
      <p:sp>
        <p:nvSpPr>
          <p:cNvPr id="68"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69"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0"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What is a </a:t>
            </a:r>
            <a:r>
              <a:rPr lang="en-US" sz="1150" b="1" dirty="0">
                <a:solidFill>
                  <a:srgbClr val="262B3A"/>
                </a:solidFill>
                <a:latin typeface="Calibri" pitchFamily="34" charset="0"/>
                <a:ea typeface="Calibri" pitchFamily="34" charset="-122"/>
                <a:cs typeface="Calibri" pitchFamily="34" charset="-120"/>
              </a:rPr>
              <a:t>mutation</a:t>
            </a:r>
            <a:r>
              <a:rPr lang="en-US" sz="1150" dirty="0">
                <a:solidFill>
                  <a:srgbClr val="262B3A"/>
                </a:solidFill>
                <a:latin typeface="Calibri" pitchFamily="34" charset="0"/>
                <a:ea typeface="Calibri" pitchFamily="34" charset="-122"/>
                <a:cs typeface="Calibri" pitchFamily="34" charset="-120"/>
              </a:rPr>
              <a:t>? Why do </a:t>
            </a:r>
            <a:r>
              <a:rPr lang="en-US" sz="1150" b="1" dirty="0">
                <a:solidFill>
                  <a:srgbClr val="262B3A"/>
                </a:solidFill>
                <a:latin typeface="Calibri" pitchFamily="34" charset="0"/>
                <a:ea typeface="Calibri" pitchFamily="34" charset="-122"/>
                <a:cs typeface="Calibri" pitchFamily="34" charset="-120"/>
              </a:rPr>
              <a:t>most</a:t>
            </a:r>
            <a:r>
              <a:rPr lang="en-US" sz="1150" dirty="0">
                <a:solidFill>
                  <a:srgbClr val="262B3A"/>
                </a:solidFill>
                <a:latin typeface="Calibri" pitchFamily="34" charset="0"/>
                <a:ea typeface="Calibri" pitchFamily="34" charset="-122"/>
                <a:cs typeface="Calibri" pitchFamily="34" charset="-120"/>
              </a:rPr>
              <a:t> mutations have no effect on the phenotype? (Every 3 bases code for one amino acid: how many in 1200 bases?)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B6.1.1, B6.1.2 • variation and mutation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causes of variation between individuals of the same species.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mutation</a:t>
            </a:r>
            <a:r>
              <a:rPr lang="en-US" sz="1250" dirty="0">
                <a:solidFill>
                  <a:srgbClr val="262B3A"/>
                </a:solidFill>
                <a:latin typeface="Calibri" pitchFamily="34" charset="0"/>
                <a:ea typeface="Calibri" pitchFamily="34" charset="-122"/>
                <a:cs typeface="Calibri" pitchFamily="34" charset="-120"/>
              </a:rPr>
              <a:t>, and how can it add to the variation in a population?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Most mutations have </a:t>
            </a:r>
            <a:r>
              <a:rPr lang="en-US" sz="1250" b="1" dirty="0">
                <a:solidFill>
                  <a:srgbClr val="262B3A"/>
                </a:solidFill>
                <a:latin typeface="Calibri" pitchFamily="34" charset="0"/>
                <a:ea typeface="Calibri" pitchFamily="34" charset="-122"/>
                <a:cs typeface="Calibri" pitchFamily="34" charset="-120"/>
              </a:rPr>
              <a:t>no effect</a:t>
            </a:r>
            <a:r>
              <a:rPr lang="en-US" sz="1250" dirty="0">
                <a:solidFill>
                  <a:srgbClr val="262B3A"/>
                </a:solidFill>
                <a:latin typeface="Calibri" pitchFamily="34" charset="0"/>
                <a:ea typeface="Calibri" pitchFamily="34" charset="-122"/>
                <a:cs typeface="Calibri" pitchFamily="34" charset="-120"/>
              </a:rPr>
              <a:t> on the phenotype. Describe the effects of the others.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a class of </a:t>
            </a:r>
            <a:r>
              <a:rPr lang="en-US" sz="1250" b="1" dirty="0">
                <a:solidFill>
                  <a:srgbClr val="262B3A"/>
                </a:solidFill>
                <a:latin typeface="Calibri" pitchFamily="34" charset="0"/>
                <a:ea typeface="Calibri" pitchFamily="34" charset="-122"/>
                <a:cs typeface="Calibri" pitchFamily="34" charset="-120"/>
              </a:rPr>
              <a:t>30</a:t>
            </a:r>
            <a:r>
              <a:rPr lang="en-US" sz="1250" dirty="0">
                <a:solidFill>
                  <a:srgbClr val="262B3A"/>
                </a:solidFill>
                <a:latin typeface="Calibri" pitchFamily="34" charset="0"/>
                <a:ea typeface="Calibri" pitchFamily="34" charset="-122"/>
                <a:cs typeface="Calibri" pitchFamily="34" charset="-120"/>
              </a:rPr>
              <a:t> students, </a:t>
            </a:r>
            <a:r>
              <a:rPr lang="en-US" sz="1250" b="1" dirty="0">
                <a:solidFill>
                  <a:srgbClr val="262B3A"/>
                </a:solidFill>
                <a:latin typeface="Calibri" pitchFamily="34" charset="0"/>
                <a:ea typeface="Calibri" pitchFamily="34" charset="-122"/>
                <a:cs typeface="Calibri" pitchFamily="34" charset="-120"/>
              </a:rPr>
              <a:t>9</a:t>
            </a:r>
            <a:r>
              <a:rPr lang="en-US" sz="1250" dirty="0">
                <a:solidFill>
                  <a:srgbClr val="262B3A"/>
                </a:solidFill>
                <a:latin typeface="Calibri" pitchFamily="34" charset="0"/>
                <a:ea typeface="Calibri" pitchFamily="34" charset="-122"/>
                <a:cs typeface="Calibri" pitchFamily="34" charset="-120"/>
              </a:rPr>
              <a:t> can roll their tongue. Calculate the percentage.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Competition: not everyone survives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B6.1.4 • the importance of competition in a community, with regard to natural selection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B6.1.4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many more offspring are produced than survive; not to scale</a:t>
            </a:r>
            <a:endParaRPr lang="en-US" sz="1000" dirty="0"/>
          </a:p>
        </p:txBody>
      </p:sp>
      <p:sp>
        <p:nvSpPr>
          <p:cNvPr id="10" name="Text 8"/>
          <p:cNvSpPr/>
          <p:nvPr/>
        </p:nvSpPr>
        <p:spPr>
          <a:xfrm>
            <a:off x="640080" y="1298448"/>
            <a:ext cx="5120640" cy="27432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 pair of frogs lays about </a:t>
            </a:r>
            <a:r>
              <a:rPr lang="en-US" sz="1100" b="1" dirty="0">
                <a:solidFill>
                  <a:srgbClr val="262B3A"/>
                </a:solidFill>
                <a:latin typeface="Calibri" pitchFamily="34" charset="0"/>
                <a:ea typeface="Calibri" pitchFamily="34" charset="-122"/>
                <a:cs typeface="Calibri" pitchFamily="34" charset="-120"/>
              </a:rPr>
              <a:t>2000</a:t>
            </a:r>
            <a:r>
              <a:rPr lang="en-US" sz="1100" b="1" dirty="0">
                <a:solidFill>
                  <a:srgbClr val="262B3A"/>
                </a:solidFill>
                <a:latin typeface="Calibri" pitchFamily="34" charset="0"/>
                <a:ea typeface="Calibri" pitchFamily="34" charset="-122"/>
                <a:cs typeface="Calibri" pitchFamily="34" charset="-120"/>
              </a:rPr>
              <a:t> eggs</a:t>
            </a:r>
            <a:endParaRPr lang="en-US" sz="1100" dirty="0"/>
          </a:p>
        </p:txBody>
      </p:sp>
      <p:sp>
        <p:nvSpPr>
          <p:cNvPr id="11" name="Shape 9"/>
          <p:cNvSpPr/>
          <p:nvPr/>
        </p:nvSpPr>
        <p:spPr>
          <a:xfrm>
            <a:off x="804672" y="1673352"/>
            <a:ext cx="128016" cy="128016"/>
          </a:xfrm>
          <a:prstGeom prst="ellipse">
            <a:avLst/>
          </a:prstGeom>
          <a:solidFill>
            <a:srgbClr val="3E4A3A"/>
          </a:solidFill>
          <a:ln w="6350">
            <a:solidFill>
              <a:srgbClr val="1E261C"/>
            </a:solidFill>
            <a:prstDash val="solid"/>
          </a:ln>
        </p:spPr>
      </p:sp>
      <p:sp>
        <p:nvSpPr>
          <p:cNvPr id="12" name="Shape 10"/>
          <p:cNvSpPr/>
          <p:nvPr/>
        </p:nvSpPr>
        <p:spPr>
          <a:xfrm>
            <a:off x="1078992" y="1673352"/>
            <a:ext cx="128016" cy="128016"/>
          </a:xfrm>
          <a:prstGeom prst="ellipse">
            <a:avLst/>
          </a:prstGeom>
          <a:solidFill>
            <a:srgbClr val="3E4A3A"/>
          </a:solidFill>
          <a:ln w="6350">
            <a:solidFill>
              <a:srgbClr val="1E261C"/>
            </a:solidFill>
            <a:prstDash val="solid"/>
          </a:ln>
        </p:spPr>
      </p:sp>
      <p:sp>
        <p:nvSpPr>
          <p:cNvPr id="13" name="Shape 11"/>
          <p:cNvSpPr/>
          <p:nvPr/>
        </p:nvSpPr>
        <p:spPr>
          <a:xfrm>
            <a:off x="1353312" y="1673352"/>
            <a:ext cx="128016" cy="128016"/>
          </a:xfrm>
          <a:prstGeom prst="ellipse">
            <a:avLst/>
          </a:prstGeom>
          <a:solidFill>
            <a:srgbClr val="3E4A3A"/>
          </a:solidFill>
          <a:ln w="6350">
            <a:solidFill>
              <a:srgbClr val="1E261C"/>
            </a:solidFill>
            <a:prstDash val="solid"/>
          </a:ln>
        </p:spPr>
      </p:sp>
      <p:sp>
        <p:nvSpPr>
          <p:cNvPr id="14" name="Shape 12"/>
          <p:cNvSpPr/>
          <p:nvPr/>
        </p:nvSpPr>
        <p:spPr>
          <a:xfrm>
            <a:off x="1627632" y="1673352"/>
            <a:ext cx="128016" cy="128016"/>
          </a:xfrm>
          <a:prstGeom prst="ellipse">
            <a:avLst/>
          </a:prstGeom>
          <a:solidFill>
            <a:srgbClr val="3E4A3A"/>
          </a:solidFill>
          <a:ln w="6350">
            <a:solidFill>
              <a:srgbClr val="1E261C"/>
            </a:solidFill>
            <a:prstDash val="solid"/>
          </a:ln>
        </p:spPr>
      </p:sp>
      <p:sp>
        <p:nvSpPr>
          <p:cNvPr id="15" name="Shape 13"/>
          <p:cNvSpPr/>
          <p:nvPr/>
        </p:nvSpPr>
        <p:spPr>
          <a:xfrm>
            <a:off x="1901952" y="1673352"/>
            <a:ext cx="128016" cy="128016"/>
          </a:xfrm>
          <a:prstGeom prst="ellipse">
            <a:avLst/>
          </a:prstGeom>
          <a:solidFill>
            <a:srgbClr val="3E4A3A"/>
          </a:solidFill>
          <a:ln w="6350">
            <a:solidFill>
              <a:srgbClr val="1E261C"/>
            </a:solidFill>
            <a:prstDash val="solid"/>
          </a:ln>
        </p:spPr>
      </p:sp>
      <p:sp>
        <p:nvSpPr>
          <p:cNvPr id="16" name="Shape 14"/>
          <p:cNvSpPr/>
          <p:nvPr/>
        </p:nvSpPr>
        <p:spPr>
          <a:xfrm>
            <a:off x="2176272" y="1673352"/>
            <a:ext cx="128016" cy="128016"/>
          </a:xfrm>
          <a:prstGeom prst="ellipse">
            <a:avLst/>
          </a:prstGeom>
          <a:solidFill>
            <a:srgbClr val="3E4A3A"/>
          </a:solidFill>
          <a:ln w="6350">
            <a:solidFill>
              <a:srgbClr val="1E261C"/>
            </a:solidFill>
            <a:prstDash val="solid"/>
          </a:ln>
        </p:spPr>
      </p:sp>
      <p:sp>
        <p:nvSpPr>
          <p:cNvPr id="17" name="Shape 15"/>
          <p:cNvSpPr/>
          <p:nvPr/>
        </p:nvSpPr>
        <p:spPr>
          <a:xfrm>
            <a:off x="2450592" y="1673352"/>
            <a:ext cx="128016" cy="128016"/>
          </a:xfrm>
          <a:prstGeom prst="ellipse">
            <a:avLst/>
          </a:prstGeom>
          <a:solidFill>
            <a:srgbClr val="3E4A3A"/>
          </a:solidFill>
          <a:ln w="6350">
            <a:solidFill>
              <a:srgbClr val="1E261C"/>
            </a:solidFill>
            <a:prstDash val="solid"/>
          </a:ln>
        </p:spPr>
      </p:sp>
      <p:sp>
        <p:nvSpPr>
          <p:cNvPr id="18" name="Shape 16"/>
          <p:cNvSpPr/>
          <p:nvPr/>
        </p:nvSpPr>
        <p:spPr>
          <a:xfrm>
            <a:off x="2724912" y="1673352"/>
            <a:ext cx="128016" cy="128016"/>
          </a:xfrm>
          <a:prstGeom prst="ellipse">
            <a:avLst/>
          </a:prstGeom>
          <a:solidFill>
            <a:srgbClr val="3E4A3A"/>
          </a:solidFill>
          <a:ln w="6350">
            <a:solidFill>
              <a:srgbClr val="1E261C"/>
            </a:solidFill>
            <a:prstDash val="solid"/>
          </a:ln>
        </p:spPr>
      </p:sp>
      <p:sp>
        <p:nvSpPr>
          <p:cNvPr id="19" name="Shape 17"/>
          <p:cNvSpPr/>
          <p:nvPr/>
        </p:nvSpPr>
        <p:spPr>
          <a:xfrm>
            <a:off x="2999232" y="1673352"/>
            <a:ext cx="128016" cy="128016"/>
          </a:xfrm>
          <a:prstGeom prst="ellipse">
            <a:avLst/>
          </a:prstGeom>
          <a:solidFill>
            <a:srgbClr val="3E4A3A"/>
          </a:solidFill>
          <a:ln w="6350">
            <a:solidFill>
              <a:srgbClr val="1E261C"/>
            </a:solidFill>
            <a:prstDash val="solid"/>
          </a:ln>
        </p:spPr>
      </p:sp>
      <p:sp>
        <p:nvSpPr>
          <p:cNvPr id="20" name="Shape 18"/>
          <p:cNvSpPr/>
          <p:nvPr/>
        </p:nvSpPr>
        <p:spPr>
          <a:xfrm>
            <a:off x="3273552" y="1673352"/>
            <a:ext cx="128016" cy="128016"/>
          </a:xfrm>
          <a:prstGeom prst="ellipse">
            <a:avLst/>
          </a:prstGeom>
          <a:solidFill>
            <a:srgbClr val="3E4A3A"/>
          </a:solidFill>
          <a:ln w="6350">
            <a:solidFill>
              <a:srgbClr val="1E261C"/>
            </a:solidFill>
            <a:prstDash val="solid"/>
          </a:ln>
        </p:spPr>
      </p:sp>
      <p:sp>
        <p:nvSpPr>
          <p:cNvPr id="21" name="Shape 19"/>
          <p:cNvSpPr/>
          <p:nvPr/>
        </p:nvSpPr>
        <p:spPr>
          <a:xfrm>
            <a:off x="3547872" y="1673352"/>
            <a:ext cx="128016" cy="128016"/>
          </a:xfrm>
          <a:prstGeom prst="ellipse">
            <a:avLst/>
          </a:prstGeom>
          <a:solidFill>
            <a:srgbClr val="3E4A3A"/>
          </a:solidFill>
          <a:ln w="6350">
            <a:solidFill>
              <a:srgbClr val="1E261C"/>
            </a:solidFill>
            <a:prstDash val="solid"/>
          </a:ln>
        </p:spPr>
      </p:sp>
      <p:sp>
        <p:nvSpPr>
          <p:cNvPr id="22" name="Shape 20"/>
          <p:cNvSpPr/>
          <p:nvPr/>
        </p:nvSpPr>
        <p:spPr>
          <a:xfrm>
            <a:off x="3822192" y="1673352"/>
            <a:ext cx="128016" cy="128016"/>
          </a:xfrm>
          <a:prstGeom prst="ellipse">
            <a:avLst/>
          </a:prstGeom>
          <a:solidFill>
            <a:srgbClr val="3E4A3A"/>
          </a:solidFill>
          <a:ln w="6350">
            <a:solidFill>
              <a:srgbClr val="1E261C"/>
            </a:solidFill>
            <a:prstDash val="solid"/>
          </a:ln>
        </p:spPr>
      </p:sp>
      <p:sp>
        <p:nvSpPr>
          <p:cNvPr id="23" name="Shape 21"/>
          <p:cNvSpPr/>
          <p:nvPr/>
        </p:nvSpPr>
        <p:spPr>
          <a:xfrm>
            <a:off x="4096512" y="1673352"/>
            <a:ext cx="128016" cy="128016"/>
          </a:xfrm>
          <a:prstGeom prst="ellipse">
            <a:avLst/>
          </a:prstGeom>
          <a:solidFill>
            <a:srgbClr val="3E4A3A"/>
          </a:solidFill>
          <a:ln w="6350">
            <a:solidFill>
              <a:srgbClr val="1E261C"/>
            </a:solidFill>
            <a:prstDash val="solid"/>
          </a:ln>
        </p:spPr>
      </p:sp>
      <p:sp>
        <p:nvSpPr>
          <p:cNvPr id="24" name="Shape 22"/>
          <p:cNvSpPr/>
          <p:nvPr/>
        </p:nvSpPr>
        <p:spPr>
          <a:xfrm>
            <a:off x="4370832" y="1673352"/>
            <a:ext cx="128016" cy="128016"/>
          </a:xfrm>
          <a:prstGeom prst="ellipse">
            <a:avLst/>
          </a:prstGeom>
          <a:solidFill>
            <a:srgbClr val="3E4A3A"/>
          </a:solidFill>
          <a:ln w="6350">
            <a:solidFill>
              <a:srgbClr val="1E261C"/>
            </a:solidFill>
            <a:prstDash val="solid"/>
          </a:ln>
        </p:spPr>
      </p:sp>
      <p:sp>
        <p:nvSpPr>
          <p:cNvPr id="25" name="Shape 23"/>
          <p:cNvSpPr/>
          <p:nvPr/>
        </p:nvSpPr>
        <p:spPr>
          <a:xfrm>
            <a:off x="4645152" y="1673352"/>
            <a:ext cx="128016" cy="128016"/>
          </a:xfrm>
          <a:prstGeom prst="ellipse">
            <a:avLst/>
          </a:prstGeom>
          <a:solidFill>
            <a:srgbClr val="3E4A3A"/>
          </a:solidFill>
          <a:ln w="6350">
            <a:solidFill>
              <a:srgbClr val="1E261C"/>
            </a:solidFill>
            <a:prstDash val="solid"/>
          </a:ln>
        </p:spPr>
      </p:sp>
      <p:sp>
        <p:nvSpPr>
          <p:cNvPr id="26" name="Shape 24"/>
          <p:cNvSpPr/>
          <p:nvPr/>
        </p:nvSpPr>
        <p:spPr>
          <a:xfrm>
            <a:off x="4919472" y="1673352"/>
            <a:ext cx="128016" cy="128016"/>
          </a:xfrm>
          <a:prstGeom prst="ellipse">
            <a:avLst/>
          </a:prstGeom>
          <a:solidFill>
            <a:srgbClr val="3E4A3A"/>
          </a:solidFill>
          <a:ln w="6350">
            <a:solidFill>
              <a:srgbClr val="1E261C"/>
            </a:solidFill>
            <a:prstDash val="solid"/>
          </a:ln>
        </p:spPr>
      </p:sp>
      <p:sp>
        <p:nvSpPr>
          <p:cNvPr id="27" name="Shape 25"/>
          <p:cNvSpPr/>
          <p:nvPr/>
        </p:nvSpPr>
        <p:spPr>
          <a:xfrm>
            <a:off x="5193792" y="1673352"/>
            <a:ext cx="128016" cy="128016"/>
          </a:xfrm>
          <a:prstGeom prst="ellipse">
            <a:avLst/>
          </a:prstGeom>
          <a:solidFill>
            <a:srgbClr val="3E4A3A"/>
          </a:solidFill>
          <a:ln w="6350">
            <a:solidFill>
              <a:srgbClr val="1E261C"/>
            </a:solidFill>
            <a:prstDash val="solid"/>
          </a:ln>
        </p:spPr>
      </p:sp>
      <p:sp>
        <p:nvSpPr>
          <p:cNvPr id="28" name="Shape 26"/>
          <p:cNvSpPr/>
          <p:nvPr/>
        </p:nvSpPr>
        <p:spPr>
          <a:xfrm>
            <a:off x="5468112" y="1673352"/>
            <a:ext cx="128016" cy="128016"/>
          </a:xfrm>
          <a:prstGeom prst="ellipse">
            <a:avLst/>
          </a:prstGeom>
          <a:solidFill>
            <a:srgbClr val="3E4A3A"/>
          </a:solidFill>
          <a:ln w="6350">
            <a:solidFill>
              <a:srgbClr val="1E261C"/>
            </a:solidFill>
            <a:prstDash val="solid"/>
          </a:ln>
        </p:spPr>
      </p:sp>
      <p:sp>
        <p:nvSpPr>
          <p:cNvPr id="29" name="Shape 27"/>
          <p:cNvSpPr/>
          <p:nvPr/>
        </p:nvSpPr>
        <p:spPr>
          <a:xfrm>
            <a:off x="941832" y="1874520"/>
            <a:ext cx="128016" cy="128016"/>
          </a:xfrm>
          <a:prstGeom prst="ellipse">
            <a:avLst/>
          </a:prstGeom>
          <a:solidFill>
            <a:srgbClr val="3E4A3A"/>
          </a:solidFill>
          <a:ln w="6350">
            <a:solidFill>
              <a:srgbClr val="1E261C"/>
            </a:solidFill>
            <a:prstDash val="solid"/>
          </a:ln>
        </p:spPr>
      </p:sp>
      <p:sp>
        <p:nvSpPr>
          <p:cNvPr id="30" name="Shape 28"/>
          <p:cNvSpPr/>
          <p:nvPr/>
        </p:nvSpPr>
        <p:spPr>
          <a:xfrm>
            <a:off x="1216152" y="1874520"/>
            <a:ext cx="128016" cy="128016"/>
          </a:xfrm>
          <a:prstGeom prst="ellipse">
            <a:avLst/>
          </a:prstGeom>
          <a:solidFill>
            <a:srgbClr val="3E4A3A"/>
          </a:solidFill>
          <a:ln w="6350">
            <a:solidFill>
              <a:srgbClr val="1E261C"/>
            </a:solidFill>
            <a:prstDash val="solid"/>
          </a:ln>
        </p:spPr>
      </p:sp>
      <p:sp>
        <p:nvSpPr>
          <p:cNvPr id="31" name="Shape 29"/>
          <p:cNvSpPr/>
          <p:nvPr/>
        </p:nvSpPr>
        <p:spPr>
          <a:xfrm>
            <a:off x="1490472" y="1874520"/>
            <a:ext cx="128016" cy="128016"/>
          </a:xfrm>
          <a:prstGeom prst="ellipse">
            <a:avLst/>
          </a:prstGeom>
          <a:solidFill>
            <a:srgbClr val="3E4A3A"/>
          </a:solidFill>
          <a:ln w="6350">
            <a:solidFill>
              <a:srgbClr val="1E261C"/>
            </a:solidFill>
            <a:prstDash val="solid"/>
          </a:ln>
        </p:spPr>
      </p:sp>
      <p:sp>
        <p:nvSpPr>
          <p:cNvPr id="32" name="Shape 30"/>
          <p:cNvSpPr/>
          <p:nvPr/>
        </p:nvSpPr>
        <p:spPr>
          <a:xfrm>
            <a:off x="1764792" y="1874520"/>
            <a:ext cx="128016" cy="128016"/>
          </a:xfrm>
          <a:prstGeom prst="ellipse">
            <a:avLst/>
          </a:prstGeom>
          <a:solidFill>
            <a:srgbClr val="3E4A3A"/>
          </a:solidFill>
          <a:ln w="6350">
            <a:solidFill>
              <a:srgbClr val="1E261C"/>
            </a:solidFill>
            <a:prstDash val="solid"/>
          </a:ln>
        </p:spPr>
      </p:sp>
      <p:sp>
        <p:nvSpPr>
          <p:cNvPr id="33" name="Shape 31"/>
          <p:cNvSpPr/>
          <p:nvPr/>
        </p:nvSpPr>
        <p:spPr>
          <a:xfrm>
            <a:off x="2039112" y="1874520"/>
            <a:ext cx="128016" cy="128016"/>
          </a:xfrm>
          <a:prstGeom prst="ellipse">
            <a:avLst/>
          </a:prstGeom>
          <a:solidFill>
            <a:srgbClr val="3E4A3A"/>
          </a:solidFill>
          <a:ln w="6350">
            <a:solidFill>
              <a:srgbClr val="1E261C"/>
            </a:solidFill>
            <a:prstDash val="solid"/>
          </a:ln>
        </p:spPr>
      </p:sp>
      <p:sp>
        <p:nvSpPr>
          <p:cNvPr id="34" name="Shape 32"/>
          <p:cNvSpPr/>
          <p:nvPr/>
        </p:nvSpPr>
        <p:spPr>
          <a:xfrm>
            <a:off x="2313432" y="1874520"/>
            <a:ext cx="128016" cy="128016"/>
          </a:xfrm>
          <a:prstGeom prst="ellipse">
            <a:avLst/>
          </a:prstGeom>
          <a:solidFill>
            <a:srgbClr val="3E4A3A"/>
          </a:solidFill>
          <a:ln w="6350">
            <a:solidFill>
              <a:srgbClr val="1E261C"/>
            </a:solidFill>
            <a:prstDash val="solid"/>
          </a:ln>
        </p:spPr>
      </p:sp>
      <p:sp>
        <p:nvSpPr>
          <p:cNvPr id="35" name="Shape 33"/>
          <p:cNvSpPr/>
          <p:nvPr/>
        </p:nvSpPr>
        <p:spPr>
          <a:xfrm>
            <a:off x="2587752" y="1874520"/>
            <a:ext cx="128016" cy="128016"/>
          </a:xfrm>
          <a:prstGeom prst="ellipse">
            <a:avLst/>
          </a:prstGeom>
          <a:solidFill>
            <a:srgbClr val="3E4A3A"/>
          </a:solidFill>
          <a:ln w="6350">
            <a:solidFill>
              <a:srgbClr val="1E261C"/>
            </a:solidFill>
            <a:prstDash val="solid"/>
          </a:ln>
        </p:spPr>
      </p:sp>
      <p:sp>
        <p:nvSpPr>
          <p:cNvPr id="36" name="Shape 34"/>
          <p:cNvSpPr/>
          <p:nvPr/>
        </p:nvSpPr>
        <p:spPr>
          <a:xfrm>
            <a:off x="2862072" y="1874520"/>
            <a:ext cx="128016" cy="128016"/>
          </a:xfrm>
          <a:prstGeom prst="ellipse">
            <a:avLst/>
          </a:prstGeom>
          <a:solidFill>
            <a:srgbClr val="3E4A3A"/>
          </a:solidFill>
          <a:ln w="6350">
            <a:solidFill>
              <a:srgbClr val="1E261C"/>
            </a:solidFill>
            <a:prstDash val="solid"/>
          </a:ln>
        </p:spPr>
      </p:sp>
      <p:sp>
        <p:nvSpPr>
          <p:cNvPr id="37" name="Shape 35"/>
          <p:cNvSpPr/>
          <p:nvPr/>
        </p:nvSpPr>
        <p:spPr>
          <a:xfrm>
            <a:off x="3136392" y="1874520"/>
            <a:ext cx="128016" cy="128016"/>
          </a:xfrm>
          <a:prstGeom prst="ellipse">
            <a:avLst/>
          </a:prstGeom>
          <a:solidFill>
            <a:srgbClr val="3E4A3A"/>
          </a:solidFill>
          <a:ln w="6350">
            <a:solidFill>
              <a:srgbClr val="1E261C"/>
            </a:solidFill>
            <a:prstDash val="solid"/>
          </a:ln>
        </p:spPr>
      </p:sp>
      <p:sp>
        <p:nvSpPr>
          <p:cNvPr id="38" name="Shape 36"/>
          <p:cNvSpPr/>
          <p:nvPr/>
        </p:nvSpPr>
        <p:spPr>
          <a:xfrm>
            <a:off x="3410712" y="1874520"/>
            <a:ext cx="128016" cy="128016"/>
          </a:xfrm>
          <a:prstGeom prst="ellipse">
            <a:avLst/>
          </a:prstGeom>
          <a:solidFill>
            <a:srgbClr val="3E4A3A"/>
          </a:solidFill>
          <a:ln w="6350">
            <a:solidFill>
              <a:srgbClr val="1E261C"/>
            </a:solidFill>
            <a:prstDash val="solid"/>
          </a:ln>
        </p:spPr>
      </p:sp>
      <p:sp>
        <p:nvSpPr>
          <p:cNvPr id="39" name="Shape 37"/>
          <p:cNvSpPr/>
          <p:nvPr/>
        </p:nvSpPr>
        <p:spPr>
          <a:xfrm>
            <a:off x="3685032" y="1874520"/>
            <a:ext cx="128016" cy="128016"/>
          </a:xfrm>
          <a:prstGeom prst="ellipse">
            <a:avLst/>
          </a:prstGeom>
          <a:solidFill>
            <a:srgbClr val="3E4A3A"/>
          </a:solidFill>
          <a:ln w="6350">
            <a:solidFill>
              <a:srgbClr val="1E261C"/>
            </a:solidFill>
            <a:prstDash val="solid"/>
          </a:ln>
        </p:spPr>
      </p:sp>
      <p:sp>
        <p:nvSpPr>
          <p:cNvPr id="40" name="Shape 38"/>
          <p:cNvSpPr/>
          <p:nvPr/>
        </p:nvSpPr>
        <p:spPr>
          <a:xfrm>
            <a:off x="3959352" y="1874520"/>
            <a:ext cx="128016" cy="128016"/>
          </a:xfrm>
          <a:prstGeom prst="ellipse">
            <a:avLst/>
          </a:prstGeom>
          <a:solidFill>
            <a:srgbClr val="3E4A3A"/>
          </a:solidFill>
          <a:ln w="6350">
            <a:solidFill>
              <a:srgbClr val="1E261C"/>
            </a:solidFill>
            <a:prstDash val="solid"/>
          </a:ln>
        </p:spPr>
      </p:sp>
      <p:sp>
        <p:nvSpPr>
          <p:cNvPr id="41" name="Shape 39"/>
          <p:cNvSpPr/>
          <p:nvPr/>
        </p:nvSpPr>
        <p:spPr>
          <a:xfrm>
            <a:off x="4233672" y="1874520"/>
            <a:ext cx="128016" cy="128016"/>
          </a:xfrm>
          <a:prstGeom prst="ellipse">
            <a:avLst/>
          </a:prstGeom>
          <a:solidFill>
            <a:srgbClr val="3E4A3A"/>
          </a:solidFill>
          <a:ln w="6350">
            <a:solidFill>
              <a:srgbClr val="1E261C"/>
            </a:solidFill>
            <a:prstDash val="solid"/>
          </a:ln>
        </p:spPr>
      </p:sp>
      <p:sp>
        <p:nvSpPr>
          <p:cNvPr id="42" name="Shape 40"/>
          <p:cNvSpPr/>
          <p:nvPr/>
        </p:nvSpPr>
        <p:spPr>
          <a:xfrm>
            <a:off x="4507992" y="1874520"/>
            <a:ext cx="128016" cy="128016"/>
          </a:xfrm>
          <a:prstGeom prst="ellipse">
            <a:avLst/>
          </a:prstGeom>
          <a:solidFill>
            <a:srgbClr val="3E4A3A"/>
          </a:solidFill>
          <a:ln w="6350">
            <a:solidFill>
              <a:srgbClr val="1E261C"/>
            </a:solidFill>
            <a:prstDash val="solid"/>
          </a:ln>
        </p:spPr>
      </p:sp>
      <p:sp>
        <p:nvSpPr>
          <p:cNvPr id="43" name="Shape 41"/>
          <p:cNvSpPr/>
          <p:nvPr/>
        </p:nvSpPr>
        <p:spPr>
          <a:xfrm>
            <a:off x="4782312" y="1874520"/>
            <a:ext cx="128016" cy="128016"/>
          </a:xfrm>
          <a:prstGeom prst="ellipse">
            <a:avLst/>
          </a:prstGeom>
          <a:solidFill>
            <a:srgbClr val="3E4A3A"/>
          </a:solidFill>
          <a:ln w="6350">
            <a:solidFill>
              <a:srgbClr val="1E261C"/>
            </a:solidFill>
            <a:prstDash val="solid"/>
          </a:ln>
        </p:spPr>
      </p:sp>
      <p:sp>
        <p:nvSpPr>
          <p:cNvPr id="44" name="Shape 42"/>
          <p:cNvSpPr/>
          <p:nvPr/>
        </p:nvSpPr>
        <p:spPr>
          <a:xfrm>
            <a:off x="5056632" y="1874520"/>
            <a:ext cx="128016" cy="128016"/>
          </a:xfrm>
          <a:prstGeom prst="ellipse">
            <a:avLst/>
          </a:prstGeom>
          <a:solidFill>
            <a:srgbClr val="3E4A3A"/>
          </a:solidFill>
          <a:ln w="6350">
            <a:solidFill>
              <a:srgbClr val="1E261C"/>
            </a:solidFill>
            <a:prstDash val="solid"/>
          </a:ln>
        </p:spPr>
      </p:sp>
      <p:sp>
        <p:nvSpPr>
          <p:cNvPr id="45" name="Shape 43"/>
          <p:cNvSpPr/>
          <p:nvPr/>
        </p:nvSpPr>
        <p:spPr>
          <a:xfrm>
            <a:off x="5330952" y="1874520"/>
            <a:ext cx="128016" cy="128016"/>
          </a:xfrm>
          <a:prstGeom prst="ellipse">
            <a:avLst/>
          </a:prstGeom>
          <a:solidFill>
            <a:srgbClr val="3E4A3A"/>
          </a:solidFill>
          <a:ln w="6350">
            <a:solidFill>
              <a:srgbClr val="1E261C"/>
            </a:solidFill>
            <a:prstDash val="solid"/>
          </a:ln>
        </p:spPr>
      </p:sp>
      <p:sp>
        <p:nvSpPr>
          <p:cNvPr id="46" name="Shape 44"/>
          <p:cNvSpPr/>
          <p:nvPr/>
        </p:nvSpPr>
        <p:spPr>
          <a:xfrm>
            <a:off x="5605272" y="1874520"/>
            <a:ext cx="128016" cy="128016"/>
          </a:xfrm>
          <a:prstGeom prst="ellipse">
            <a:avLst/>
          </a:prstGeom>
          <a:solidFill>
            <a:srgbClr val="3E4A3A"/>
          </a:solidFill>
          <a:ln w="6350">
            <a:solidFill>
              <a:srgbClr val="1E261C"/>
            </a:solidFill>
            <a:prstDash val="solid"/>
          </a:ln>
        </p:spPr>
      </p:sp>
      <p:sp>
        <p:nvSpPr>
          <p:cNvPr id="47" name="Shape 45"/>
          <p:cNvSpPr/>
          <p:nvPr/>
        </p:nvSpPr>
        <p:spPr>
          <a:xfrm>
            <a:off x="804672" y="2075688"/>
            <a:ext cx="128016" cy="128016"/>
          </a:xfrm>
          <a:prstGeom prst="ellipse">
            <a:avLst/>
          </a:prstGeom>
          <a:solidFill>
            <a:srgbClr val="3E4A3A"/>
          </a:solidFill>
          <a:ln w="6350">
            <a:solidFill>
              <a:srgbClr val="1E261C"/>
            </a:solidFill>
            <a:prstDash val="solid"/>
          </a:ln>
        </p:spPr>
      </p:sp>
      <p:sp>
        <p:nvSpPr>
          <p:cNvPr id="48" name="Shape 46"/>
          <p:cNvSpPr/>
          <p:nvPr/>
        </p:nvSpPr>
        <p:spPr>
          <a:xfrm>
            <a:off x="1078992" y="2075688"/>
            <a:ext cx="128016" cy="128016"/>
          </a:xfrm>
          <a:prstGeom prst="ellipse">
            <a:avLst/>
          </a:prstGeom>
          <a:solidFill>
            <a:srgbClr val="3E4A3A"/>
          </a:solidFill>
          <a:ln w="6350">
            <a:solidFill>
              <a:srgbClr val="1E261C"/>
            </a:solidFill>
            <a:prstDash val="solid"/>
          </a:ln>
        </p:spPr>
      </p:sp>
      <p:sp>
        <p:nvSpPr>
          <p:cNvPr id="49" name="Shape 47"/>
          <p:cNvSpPr/>
          <p:nvPr/>
        </p:nvSpPr>
        <p:spPr>
          <a:xfrm>
            <a:off x="1353312" y="2075688"/>
            <a:ext cx="128016" cy="128016"/>
          </a:xfrm>
          <a:prstGeom prst="ellipse">
            <a:avLst/>
          </a:prstGeom>
          <a:solidFill>
            <a:srgbClr val="3E4A3A"/>
          </a:solidFill>
          <a:ln w="6350">
            <a:solidFill>
              <a:srgbClr val="1E261C"/>
            </a:solidFill>
            <a:prstDash val="solid"/>
          </a:ln>
        </p:spPr>
      </p:sp>
      <p:sp>
        <p:nvSpPr>
          <p:cNvPr id="50" name="Shape 48"/>
          <p:cNvSpPr/>
          <p:nvPr/>
        </p:nvSpPr>
        <p:spPr>
          <a:xfrm>
            <a:off x="1627632" y="2075688"/>
            <a:ext cx="128016" cy="128016"/>
          </a:xfrm>
          <a:prstGeom prst="ellipse">
            <a:avLst/>
          </a:prstGeom>
          <a:solidFill>
            <a:srgbClr val="3E4A3A"/>
          </a:solidFill>
          <a:ln w="6350">
            <a:solidFill>
              <a:srgbClr val="1E261C"/>
            </a:solidFill>
            <a:prstDash val="solid"/>
          </a:ln>
        </p:spPr>
      </p:sp>
      <p:sp>
        <p:nvSpPr>
          <p:cNvPr id="51" name="Shape 49"/>
          <p:cNvSpPr/>
          <p:nvPr/>
        </p:nvSpPr>
        <p:spPr>
          <a:xfrm>
            <a:off x="1901952" y="2075688"/>
            <a:ext cx="128016" cy="128016"/>
          </a:xfrm>
          <a:prstGeom prst="ellipse">
            <a:avLst/>
          </a:prstGeom>
          <a:solidFill>
            <a:srgbClr val="3E4A3A"/>
          </a:solidFill>
          <a:ln w="6350">
            <a:solidFill>
              <a:srgbClr val="1E261C"/>
            </a:solidFill>
            <a:prstDash val="solid"/>
          </a:ln>
        </p:spPr>
      </p:sp>
      <p:sp>
        <p:nvSpPr>
          <p:cNvPr id="52" name="Shape 50"/>
          <p:cNvSpPr/>
          <p:nvPr/>
        </p:nvSpPr>
        <p:spPr>
          <a:xfrm>
            <a:off x="2176272" y="2075688"/>
            <a:ext cx="128016" cy="128016"/>
          </a:xfrm>
          <a:prstGeom prst="ellipse">
            <a:avLst/>
          </a:prstGeom>
          <a:solidFill>
            <a:srgbClr val="3E4A3A"/>
          </a:solidFill>
          <a:ln w="6350">
            <a:solidFill>
              <a:srgbClr val="1E261C"/>
            </a:solidFill>
            <a:prstDash val="solid"/>
          </a:ln>
        </p:spPr>
      </p:sp>
      <p:sp>
        <p:nvSpPr>
          <p:cNvPr id="53" name="Shape 51"/>
          <p:cNvSpPr/>
          <p:nvPr/>
        </p:nvSpPr>
        <p:spPr>
          <a:xfrm>
            <a:off x="2450592" y="2075688"/>
            <a:ext cx="128016" cy="128016"/>
          </a:xfrm>
          <a:prstGeom prst="ellipse">
            <a:avLst/>
          </a:prstGeom>
          <a:solidFill>
            <a:srgbClr val="3E4A3A"/>
          </a:solidFill>
          <a:ln w="6350">
            <a:solidFill>
              <a:srgbClr val="1E261C"/>
            </a:solidFill>
            <a:prstDash val="solid"/>
          </a:ln>
        </p:spPr>
      </p:sp>
      <p:sp>
        <p:nvSpPr>
          <p:cNvPr id="54" name="Shape 52"/>
          <p:cNvSpPr/>
          <p:nvPr/>
        </p:nvSpPr>
        <p:spPr>
          <a:xfrm>
            <a:off x="2724912" y="2075688"/>
            <a:ext cx="128016" cy="128016"/>
          </a:xfrm>
          <a:prstGeom prst="ellipse">
            <a:avLst/>
          </a:prstGeom>
          <a:solidFill>
            <a:srgbClr val="3E4A3A"/>
          </a:solidFill>
          <a:ln w="6350">
            <a:solidFill>
              <a:srgbClr val="1E261C"/>
            </a:solidFill>
            <a:prstDash val="solid"/>
          </a:ln>
        </p:spPr>
      </p:sp>
      <p:sp>
        <p:nvSpPr>
          <p:cNvPr id="55" name="Shape 53"/>
          <p:cNvSpPr/>
          <p:nvPr/>
        </p:nvSpPr>
        <p:spPr>
          <a:xfrm>
            <a:off x="2999232" y="2075688"/>
            <a:ext cx="128016" cy="128016"/>
          </a:xfrm>
          <a:prstGeom prst="ellipse">
            <a:avLst/>
          </a:prstGeom>
          <a:solidFill>
            <a:srgbClr val="3E4A3A"/>
          </a:solidFill>
          <a:ln w="6350">
            <a:solidFill>
              <a:srgbClr val="1E261C"/>
            </a:solidFill>
            <a:prstDash val="solid"/>
          </a:ln>
        </p:spPr>
      </p:sp>
      <p:sp>
        <p:nvSpPr>
          <p:cNvPr id="56" name="Shape 54"/>
          <p:cNvSpPr/>
          <p:nvPr/>
        </p:nvSpPr>
        <p:spPr>
          <a:xfrm>
            <a:off x="3273552" y="2075688"/>
            <a:ext cx="128016" cy="128016"/>
          </a:xfrm>
          <a:prstGeom prst="ellipse">
            <a:avLst/>
          </a:prstGeom>
          <a:solidFill>
            <a:srgbClr val="3E4A3A"/>
          </a:solidFill>
          <a:ln w="6350">
            <a:solidFill>
              <a:srgbClr val="1E261C"/>
            </a:solidFill>
            <a:prstDash val="solid"/>
          </a:ln>
        </p:spPr>
      </p:sp>
      <p:sp>
        <p:nvSpPr>
          <p:cNvPr id="57" name="Shape 55"/>
          <p:cNvSpPr/>
          <p:nvPr/>
        </p:nvSpPr>
        <p:spPr>
          <a:xfrm>
            <a:off x="3547872" y="2075688"/>
            <a:ext cx="128016" cy="128016"/>
          </a:xfrm>
          <a:prstGeom prst="ellipse">
            <a:avLst/>
          </a:prstGeom>
          <a:solidFill>
            <a:srgbClr val="3E4A3A"/>
          </a:solidFill>
          <a:ln w="6350">
            <a:solidFill>
              <a:srgbClr val="1E261C"/>
            </a:solidFill>
            <a:prstDash val="solid"/>
          </a:ln>
        </p:spPr>
      </p:sp>
      <p:sp>
        <p:nvSpPr>
          <p:cNvPr id="58" name="Shape 56"/>
          <p:cNvSpPr/>
          <p:nvPr/>
        </p:nvSpPr>
        <p:spPr>
          <a:xfrm>
            <a:off x="3822192" y="2075688"/>
            <a:ext cx="128016" cy="128016"/>
          </a:xfrm>
          <a:prstGeom prst="ellipse">
            <a:avLst/>
          </a:prstGeom>
          <a:solidFill>
            <a:srgbClr val="3E4A3A"/>
          </a:solidFill>
          <a:ln w="6350">
            <a:solidFill>
              <a:srgbClr val="1E261C"/>
            </a:solidFill>
            <a:prstDash val="solid"/>
          </a:ln>
        </p:spPr>
      </p:sp>
      <p:sp>
        <p:nvSpPr>
          <p:cNvPr id="59" name="Shape 57"/>
          <p:cNvSpPr/>
          <p:nvPr/>
        </p:nvSpPr>
        <p:spPr>
          <a:xfrm>
            <a:off x="4096512" y="2075688"/>
            <a:ext cx="128016" cy="128016"/>
          </a:xfrm>
          <a:prstGeom prst="ellipse">
            <a:avLst/>
          </a:prstGeom>
          <a:solidFill>
            <a:srgbClr val="3E4A3A"/>
          </a:solidFill>
          <a:ln w="6350">
            <a:solidFill>
              <a:srgbClr val="1E261C"/>
            </a:solidFill>
            <a:prstDash val="solid"/>
          </a:ln>
        </p:spPr>
      </p:sp>
      <p:sp>
        <p:nvSpPr>
          <p:cNvPr id="60" name="Shape 58"/>
          <p:cNvSpPr/>
          <p:nvPr/>
        </p:nvSpPr>
        <p:spPr>
          <a:xfrm>
            <a:off x="4370832" y="2075688"/>
            <a:ext cx="128016" cy="128016"/>
          </a:xfrm>
          <a:prstGeom prst="ellipse">
            <a:avLst/>
          </a:prstGeom>
          <a:solidFill>
            <a:srgbClr val="3E4A3A"/>
          </a:solidFill>
          <a:ln w="6350">
            <a:solidFill>
              <a:srgbClr val="1E261C"/>
            </a:solidFill>
            <a:prstDash val="solid"/>
          </a:ln>
        </p:spPr>
      </p:sp>
      <p:sp>
        <p:nvSpPr>
          <p:cNvPr id="61" name="Shape 59"/>
          <p:cNvSpPr/>
          <p:nvPr/>
        </p:nvSpPr>
        <p:spPr>
          <a:xfrm>
            <a:off x="4645152" y="2075688"/>
            <a:ext cx="128016" cy="128016"/>
          </a:xfrm>
          <a:prstGeom prst="ellipse">
            <a:avLst/>
          </a:prstGeom>
          <a:solidFill>
            <a:srgbClr val="3E4A3A"/>
          </a:solidFill>
          <a:ln w="6350">
            <a:solidFill>
              <a:srgbClr val="1E261C"/>
            </a:solidFill>
            <a:prstDash val="solid"/>
          </a:ln>
        </p:spPr>
      </p:sp>
      <p:sp>
        <p:nvSpPr>
          <p:cNvPr id="62" name="Shape 60"/>
          <p:cNvSpPr/>
          <p:nvPr/>
        </p:nvSpPr>
        <p:spPr>
          <a:xfrm>
            <a:off x="4919472" y="2075688"/>
            <a:ext cx="128016" cy="128016"/>
          </a:xfrm>
          <a:prstGeom prst="ellipse">
            <a:avLst/>
          </a:prstGeom>
          <a:solidFill>
            <a:srgbClr val="3E4A3A"/>
          </a:solidFill>
          <a:ln w="6350">
            <a:solidFill>
              <a:srgbClr val="1E261C"/>
            </a:solidFill>
            <a:prstDash val="solid"/>
          </a:ln>
        </p:spPr>
      </p:sp>
      <p:sp>
        <p:nvSpPr>
          <p:cNvPr id="63" name="Shape 61"/>
          <p:cNvSpPr/>
          <p:nvPr/>
        </p:nvSpPr>
        <p:spPr>
          <a:xfrm>
            <a:off x="5193792" y="2075688"/>
            <a:ext cx="128016" cy="128016"/>
          </a:xfrm>
          <a:prstGeom prst="ellipse">
            <a:avLst/>
          </a:prstGeom>
          <a:solidFill>
            <a:srgbClr val="3E4A3A"/>
          </a:solidFill>
          <a:ln w="6350">
            <a:solidFill>
              <a:srgbClr val="1E261C"/>
            </a:solidFill>
            <a:prstDash val="solid"/>
          </a:ln>
        </p:spPr>
      </p:sp>
      <p:sp>
        <p:nvSpPr>
          <p:cNvPr id="64" name="Shape 62"/>
          <p:cNvSpPr/>
          <p:nvPr/>
        </p:nvSpPr>
        <p:spPr>
          <a:xfrm>
            <a:off x="5468112" y="2075688"/>
            <a:ext cx="128016" cy="128016"/>
          </a:xfrm>
          <a:prstGeom prst="ellipse">
            <a:avLst/>
          </a:prstGeom>
          <a:solidFill>
            <a:srgbClr val="3E4A3A"/>
          </a:solidFill>
          <a:ln w="6350">
            <a:solidFill>
              <a:srgbClr val="1E261C"/>
            </a:solidFill>
            <a:prstDash val="solid"/>
          </a:ln>
        </p:spPr>
      </p:sp>
      <p:sp>
        <p:nvSpPr>
          <p:cNvPr id="65" name="Shape 63"/>
          <p:cNvSpPr/>
          <p:nvPr/>
        </p:nvSpPr>
        <p:spPr>
          <a:xfrm>
            <a:off x="731520" y="2377440"/>
            <a:ext cx="4937760" cy="1965960"/>
          </a:xfrm>
          <a:custGeom>
            <a:avLst/>
            <a:gdLst/>
            <a:ahLst/>
            <a:cxnLst/>
            <a:rect l="l" t="t" r="r" b="b"/>
            <a:pathLst>
              <a:path w="4937760" h="1965960">
                <a:moveTo>
                  <a:pt x="0" y="0"/>
                </a:moveTo>
                <a:lnTo>
                  <a:pt x="4937760" y="0"/>
                </a:lnTo>
                <a:lnTo>
                  <a:pt x="2880360" y="1965960"/>
                </a:lnTo>
                <a:lnTo>
                  <a:pt x="1965960" y="1965960"/>
                </a:lnTo>
                <a:close/>
              </a:path>
            </a:pathLst>
          </a:custGeom>
          <a:solidFill>
            <a:srgbClr val="F3E3DA"/>
          </a:solidFill>
          <a:ln w="15875">
            <a:solidFill>
              <a:srgbClr val="B07A66"/>
            </a:solidFill>
            <a:prstDash val="solid"/>
          </a:ln>
        </p:spPr>
      </p:sp>
      <p:sp>
        <p:nvSpPr>
          <p:cNvPr id="66" name="Text 64"/>
          <p:cNvSpPr/>
          <p:nvPr/>
        </p:nvSpPr>
        <p:spPr>
          <a:xfrm>
            <a:off x="1463040" y="2514600"/>
            <a:ext cx="1600200" cy="365760"/>
          </a:xfrm>
          <a:prstGeom prst="rect">
            <a:avLst/>
          </a:prstGeom>
          <a:noFill/>
          <a:ln/>
        </p:spPr>
        <p:txBody>
          <a:bodyPr wrap="square" lIns="0" tIns="0" rIns="0" bIns="0" rtlCol="0" anchor="ctr"/>
          <a:lstStyle/>
          <a:p>
            <a:pPr algn="ctr" indent="0" marL="0">
              <a:buNone/>
            </a:pPr>
            <a:r>
              <a:rPr lang="en-US" sz="1050" dirty="0">
                <a:solidFill>
                  <a:srgbClr val="6B3318"/>
                </a:solidFill>
                <a:latin typeface="Calibri" pitchFamily="34" charset="0"/>
                <a:ea typeface="Calibri" pitchFamily="34" charset="-122"/>
                <a:cs typeface="Calibri" pitchFamily="34" charset="-120"/>
              </a:rPr>
              <a:t>eaten by </a:t>
            </a:r>
            <a:r>
              <a:rPr lang="en-US" sz="1050" b="1" dirty="0">
                <a:solidFill>
                  <a:srgbClr val="6B3318"/>
                </a:solidFill>
                <a:latin typeface="Calibri" pitchFamily="34" charset="0"/>
                <a:ea typeface="Calibri" pitchFamily="34" charset="-122"/>
                <a:cs typeface="Calibri" pitchFamily="34" charset="-120"/>
              </a:rPr>
              <a:t>predators</a:t>
            </a:r>
            <a:endParaRPr lang="en-US" sz="1050" dirty="0"/>
          </a:p>
        </p:txBody>
      </p:sp>
      <p:sp>
        <p:nvSpPr>
          <p:cNvPr id="67" name="Text 65"/>
          <p:cNvSpPr/>
          <p:nvPr/>
        </p:nvSpPr>
        <p:spPr>
          <a:xfrm>
            <a:off x="3063240" y="2514600"/>
            <a:ext cx="1600200" cy="365760"/>
          </a:xfrm>
          <a:prstGeom prst="rect">
            <a:avLst/>
          </a:prstGeom>
          <a:noFill/>
          <a:ln/>
        </p:spPr>
        <p:txBody>
          <a:bodyPr wrap="square" lIns="0" tIns="0" rIns="0" bIns="0" rtlCol="0" anchor="ctr"/>
          <a:lstStyle/>
          <a:p>
            <a:pPr algn="ctr" indent="0" marL="0">
              <a:buNone/>
            </a:pPr>
            <a:r>
              <a:rPr lang="en-US" sz="1050" dirty="0">
                <a:solidFill>
                  <a:srgbClr val="6B3318"/>
                </a:solidFill>
                <a:latin typeface="Calibri" pitchFamily="34" charset="0"/>
                <a:ea typeface="Calibri" pitchFamily="34" charset="-122"/>
                <a:cs typeface="Calibri" pitchFamily="34" charset="-120"/>
              </a:rPr>
              <a:t>killed by </a:t>
            </a:r>
            <a:r>
              <a:rPr lang="en-US" sz="1050" b="1" dirty="0">
                <a:solidFill>
                  <a:srgbClr val="6B3318"/>
                </a:solidFill>
                <a:latin typeface="Calibri" pitchFamily="34" charset="0"/>
                <a:ea typeface="Calibri" pitchFamily="34" charset="-122"/>
                <a:cs typeface="Calibri" pitchFamily="34" charset="-120"/>
              </a:rPr>
              <a:t>disease</a:t>
            </a:r>
            <a:endParaRPr lang="en-US" sz="1050" dirty="0"/>
          </a:p>
        </p:txBody>
      </p:sp>
      <p:sp>
        <p:nvSpPr>
          <p:cNvPr id="68" name="Text 66"/>
          <p:cNvSpPr/>
          <p:nvPr/>
        </p:nvSpPr>
        <p:spPr>
          <a:xfrm>
            <a:off x="1463040" y="2926080"/>
            <a:ext cx="1600200" cy="365760"/>
          </a:xfrm>
          <a:prstGeom prst="rect">
            <a:avLst/>
          </a:prstGeom>
          <a:noFill/>
          <a:ln/>
        </p:spPr>
        <p:txBody>
          <a:bodyPr wrap="square" lIns="0" tIns="0" rIns="0" bIns="0" rtlCol="0" anchor="ctr"/>
          <a:lstStyle/>
          <a:p>
            <a:pPr algn="ctr" indent="0" marL="0">
              <a:buNone/>
            </a:pPr>
            <a:r>
              <a:rPr lang="en-US" sz="1050" dirty="0">
                <a:solidFill>
                  <a:srgbClr val="6B3318"/>
                </a:solidFill>
                <a:latin typeface="Calibri" pitchFamily="34" charset="0"/>
                <a:ea typeface="Calibri" pitchFamily="34" charset="-122"/>
                <a:cs typeface="Calibri" pitchFamily="34" charset="-120"/>
              </a:rPr>
              <a:t>not enough </a:t>
            </a:r>
            <a:r>
              <a:rPr lang="en-US" sz="1050" b="1" dirty="0">
                <a:solidFill>
                  <a:srgbClr val="6B3318"/>
                </a:solidFill>
                <a:latin typeface="Calibri" pitchFamily="34" charset="0"/>
                <a:ea typeface="Calibri" pitchFamily="34" charset="-122"/>
                <a:cs typeface="Calibri" pitchFamily="34" charset="-120"/>
              </a:rPr>
              <a:t>food</a:t>
            </a:r>
            <a:endParaRPr lang="en-US" sz="1050" dirty="0"/>
          </a:p>
        </p:txBody>
      </p:sp>
      <p:sp>
        <p:nvSpPr>
          <p:cNvPr id="69" name="Text 67"/>
          <p:cNvSpPr/>
          <p:nvPr/>
        </p:nvSpPr>
        <p:spPr>
          <a:xfrm>
            <a:off x="3063240" y="2926080"/>
            <a:ext cx="1600200" cy="365760"/>
          </a:xfrm>
          <a:prstGeom prst="rect">
            <a:avLst/>
          </a:prstGeom>
          <a:noFill/>
          <a:ln/>
        </p:spPr>
        <p:txBody>
          <a:bodyPr wrap="square" lIns="0" tIns="0" rIns="0" bIns="0" rtlCol="0" anchor="ctr"/>
          <a:lstStyle/>
          <a:p>
            <a:pPr algn="ctr" indent="0" marL="0">
              <a:buNone/>
            </a:pPr>
            <a:r>
              <a:rPr lang="en-US" sz="1050" dirty="0">
                <a:solidFill>
                  <a:srgbClr val="6B3318"/>
                </a:solidFill>
                <a:latin typeface="Calibri" pitchFamily="34" charset="0"/>
                <a:ea typeface="Calibri" pitchFamily="34" charset="-122"/>
                <a:cs typeface="Calibri" pitchFamily="34" charset="-120"/>
              </a:rPr>
              <a:t>no </a:t>
            </a:r>
            <a:r>
              <a:rPr lang="en-US" sz="1050" b="1" dirty="0">
                <a:solidFill>
                  <a:srgbClr val="6B3318"/>
                </a:solidFill>
                <a:latin typeface="Calibri" pitchFamily="34" charset="0"/>
                <a:ea typeface="Calibri" pitchFamily="34" charset="-122"/>
                <a:cs typeface="Calibri" pitchFamily="34" charset="-120"/>
              </a:rPr>
              <a:t>space</a:t>
            </a:r>
            <a:r>
              <a:rPr lang="en-US" sz="1050" dirty="0">
                <a:solidFill>
                  <a:srgbClr val="6B3318"/>
                </a:solidFill>
                <a:latin typeface="Calibri" pitchFamily="34" charset="0"/>
                <a:ea typeface="Calibri" pitchFamily="34" charset="-122"/>
                <a:cs typeface="Calibri" pitchFamily="34" charset="-120"/>
              </a:rPr>
              <a:t> / mates</a:t>
            </a:r>
            <a:endParaRPr lang="en-US" sz="1050" dirty="0"/>
          </a:p>
        </p:txBody>
      </p:sp>
      <p:sp>
        <p:nvSpPr>
          <p:cNvPr id="70" name="Text 68"/>
          <p:cNvSpPr/>
          <p:nvPr/>
        </p:nvSpPr>
        <p:spPr>
          <a:xfrm>
            <a:off x="2194560" y="3429000"/>
            <a:ext cx="1920240" cy="411480"/>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competition</a:t>
            </a:r>
            <a:r>
              <a:rPr lang="en-US" sz="1050" b="1" dirty="0">
                <a:solidFill>
                  <a:srgbClr val="C8414C"/>
                </a:solidFill>
                <a:latin typeface="Calibri" pitchFamily="34" charset="0"/>
                <a:ea typeface="Calibri" pitchFamily="34" charset="-122"/>
                <a:cs typeface="Calibri" pitchFamily="34" charset="-120"/>
              </a:rPr>
              <a:t> for limited resources</a:t>
            </a:r>
            <a:endParaRPr lang="en-US" sz="1050" dirty="0"/>
          </a:p>
        </p:txBody>
      </p:sp>
      <p:sp>
        <p:nvSpPr>
          <p:cNvPr id="71" name="Shape 69"/>
          <p:cNvSpPr/>
          <p:nvPr/>
        </p:nvSpPr>
        <p:spPr>
          <a:xfrm>
            <a:off x="2688336" y="4526280"/>
            <a:ext cx="384048" cy="274320"/>
          </a:xfrm>
          <a:prstGeom prst="ellipse">
            <a:avLst/>
          </a:prstGeom>
          <a:solidFill>
            <a:srgbClr val="6FAE5C"/>
          </a:solidFill>
          <a:ln w="12700">
            <a:solidFill>
              <a:srgbClr val="3E7F2E"/>
            </a:solidFill>
            <a:prstDash val="solid"/>
          </a:ln>
        </p:spPr>
      </p:sp>
      <p:sp>
        <p:nvSpPr>
          <p:cNvPr id="72" name="Shape 70"/>
          <p:cNvSpPr/>
          <p:nvPr/>
        </p:nvSpPr>
        <p:spPr>
          <a:xfrm>
            <a:off x="2761488" y="4517136"/>
            <a:ext cx="73152" cy="73152"/>
          </a:xfrm>
          <a:prstGeom prst="ellipse">
            <a:avLst/>
          </a:prstGeom>
          <a:solidFill>
            <a:srgbClr val="FFFFFF"/>
          </a:solidFill>
          <a:ln w="9525">
            <a:solidFill>
              <a:srgbClr val="1E261C"/>
            </a:solidFill>
            <a:prstDash val="solid"/>
          </a:ln>
        </p:spPr>
      </p:sp>
      <p:sp>
        <p:nvSpPr>
          <p:cNvPr id="73" name="Shape 71"/>
          <p:cNvSpPr/>
          <p:nvPr/>
        </p:nvSpPr>
        <p:spPr>
          <a:xfrm>
            <a:off x="2926080" y="4517136"/>
            <a:ext cx="73152" cy="73152"/>
          </a:xfrm>
          <a:prstGeom prst="ellipse">
            <a:avLst/>
          </a:prstGeom>
          <a:solidFill>
            <a:srgbClr val="FFFFFF"/>
          </a:solidFill>
          <a:ln w="9525">
            <a:solidFill>
              <a:srgbClr val="1E261C"/>
            </a:solidFill>
            <a:prstDash val="solid"/>
          </a:ln>
        </p:spPr>
      </p:sp>
      <p:sp>
        <p:nvSpPr>
          <p:cNvPr id="74" name="Shape 72"/>
          <p:cNvSpPr/>
          <p:nvPr/>
        </p:nvSpPr>
        <p:spPr>
          <a:xfrm>
            <a:off x="3236976" y="4526280"/>
            <a:ext cx="384048" cy="274320"/>
          </a:xfrm>
          <a:prstGeom prst="ellipse">
            <a:avLst/>
          </a:prstGeom>
          <a:solidFill>
            <a:srgbClr val="6FAE5C"/>
          </a:solidFill>
          <a:ln w="12700">
            <a:solidFill>
              <a:srgbClr val="3E7F2E"/>
            </a:solidFill>
            <a:prstDash val="solid"/>
          </a:ln>
        </p:spPr>
      </p:sp>
      <p:sp>
        <p:nvSpPr>
          <p:cNvPr id="75" name="Shape 73"/>
          <p:cNvSpPr/>
          <p:nvPr/>
        </p:nvSpPr>
        <p:spPr>
          <a:xfrm>
            <a:off x="3310128" y="4517136"/>
            <a:ext cx="73152" cy="73152"/>
          </a:xfrm>
          <a:prstGeom prst="ellipse">
            <a:avLst/>
          </a:prstGeom>
          <a:solidFill>
            <a:srgbClr val="FFFFFF"/>
          </a:solidFill>
          <a:ln w="9525">
            <a:solidFill>
              <a:srgbClr val="1E261C"/>
            </a:solidFill>
            <a:prstDash val="solid"/>
          </a:ln>
        </p:spPr>
      </p:sp>
      <p:sp>
        <p:nvSpPr>
          <p:cNvPr id="76" name="Shape 74"/>
          <p:cNvSpPr/>
          <p:nvPr/>
        </p:nvSpPr>
        <p:spPr>
          <a:xfrm>
            <a:off x="3474720" y="4517136"/>
            <a:ext cx="73152" cy="73152"/>
          </a:xfrm>
          <a:prstGeom prst="ellipse">
            <a:avLst/>
          </a:prstGeom>
          <a:solidFill>
            <a:srgbClr val="FFFFFF"/>
          </a:solidFill>
          <a:ln w="9525">
            <a:solidFill>
              <a:srgbClr val="1E261C"/>
            </a:solidFill>
            <a:prstDash val="solid"/>
          </a:ln>
        </p:spPr>
      </p:sp>
      <p:sp>
        <p:nvSpPr>
          <p:cNvPr id="77" name="Text 75"/>
          <p:cNvSpPr/>
          <p:nvPr/>
        </p:nvSpPr>
        <p:spPr>
          <a:xfrm>
            <a:off x="3794760" y="4526280"/>
            <a:ext cx="2011680" cy="292608"/>
          </a:xfrm>
          <a:prstGeom prst="rect">
            <a:avLst/>
          </a:prstGeom>
          <a:noFill/>
          <a:ln/>
        </p:spPr>
        <p:txBody>
          <a:bodyPr wrap="square" lIns="0" tIns="0" rIns="0" bIns="0" rtlCol="0" anchor="ctr"/>
          <a:lstStyle/>
          <a:p>
            <a:pPr algn="l" indent="0" marL="0">
              <a:buNone/>
            </a:pPr>
            <a:r>
              <a:rPr lang="en-US" sz="1100" b="1" dirty="0">
                <a:solidFill>
                  <a:srgbClr val="1E6B40"/>
                </a:solidFill>
                <a:latin typeface="Calibri" pitchFamily="34" charset="0"/>
                <a:ea typeface="Calibri" pitchFamily="34" charset="-122"/>
                <a:cs typeface="Calibri" pitchFamily="34" charset="-120"/>
              </a:rPr>
              <a:t>about </a:t>
            </a:r>
            <a:r>
              <a:rPr lang="en-US" sz="1100" b="1" dirty="0">
                <a:solidFill>
                  <a:srgbClr val="1E6B40"/>
                </a:solidFill>
                <a:latin typeface="Calibri" pitchFamily="34" charset="0"/>
                <a:ea typeface="Calibri" pitchFamily="34" charset="-122"/>
                <a:cs typeface="Calibri" pitchFamily="34" charset="-120"/>
              </a:rPr>
              <a:t>2</a:t>
            </a:r>
            <a:r>
              <a:rPr lang="en-US" sz="1100" b="1" dirty="0">
                <a:solidFill>
                  <a:srgbClr val="1E6B40"/>
                </a:solidFill>
                <a:latin typeface="Calibri" pitchFamily="34" charset="0"/>
                <a:ea typeface="Calibri" pitchFamily="34" charset="-122"/>
                <a:cs typeface="Calibri" pitchFamily="34" charset="-120"/>
              </a:rPr>
              <a:t> survive to breed</a:t>
            </a:r>
            <a:endParaRPr lang="en-US" sz="1100" dirty="0"/>
          </a:p>
        </p:txBody>
      </p:sp>
      <p:sp>
        <p:nvSpPr>
          <p:cNvPr id="78" name="Text 76"/>
          <p:cNvSpPr/>
          <p:nvPr/>
        </p:nvSpPr>
        <p:spPr>
          <a:xfrm>
            <a:off x="640080" y="4937760"/>
            <a:ext cx="512064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the survivors are more likely to be those best suited to the conditions</a:t>
            </a:r>
            <a:endParaRPr lang="en-US" sz="1000" dirty="0"/>
          </a:p>
        </p:txBody>
      </p:sp>
      <p:sp>
        <p:nvSpPr>
          <p:cNvPr id="79" name="Shape 77"/>
          <p:cNvSpPr/>
          <p:nvPr/>
        </p:nvSpPr>
        <p:spPr>
          <a:xfrm>
            <a:off x="6217920" y="1188720"/>
            <a:ext cx="5562295" cy="3017520"/>
          </a:xfrm>
          <a:prstGeom prst="roundRect">
            <a:avLst>
              <a:gd name="adj" fmla="val 1818"/>
            </a:avLst>
          </a:prstGeom>
          <a:solidFill>
            <a:srgbClr val="F4FAF9"/>
          </a:solidFill>
          <a:ln w="9525">
            <a:solidFill>
              <a:srgbClr val="CFE0DE"/>
            </a:solidFill>
            <a:prstDash val="solid"/>
          </a:ln>
        </p:spPr>
      </p:sp>
      <p:sp>
        <p:nvSpPr>
          <p:cNvPr id="80" name="Text 7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competition matters</a:t>
            </a:r>
            <a:endParaRPr lang="en-US" sz="1300" dirty="0"/>
          </a:p>
        </p:txBody>
      </p:sp>
      <p:sp>
        <p:nvSpPr>
          <p:cNvPr id="81" name="Text 79"/>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Organisms produce </a:t>
            </a:r>
            <a:r>
              <a:rPr lang="en-US" sz="1100" b="1" dirty="0">
                <a:solidFill>
                  <a:srgbClr val="262B3A"/>
                </a:solidFill>
                <a:latin typeface="Calibri" pitchFamily="34" charset="0"/>
                <a:ea typeface="Calibri" pitchFamily="34" charset="-122"/>
                <a:cs typeface="Calibri" pitchFamily="34" charset="-120"/>
              </a:rPr>
              <a:t>more offspring</a:t>
            </a:r>
            <a:r>
              <a:rPr lang="en-US" sz="1100" dirty="0">
                <a:solidFill>
                  <a:srgbClr val="262B3A"/>
                </a:solidFill>
                <a:latin typeface="Calibri" pitchFamily="34" charset="0"/>
                <a:ea typeface="Calibri" pitchFamily="34" charset="-122"/>
                <a:cs typeface="Calibri" pitchFamily="34" charset="-120"/>
              </a:rPr>
              <a:t> than the environment can support.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Resources are </a:t>
            </a:r>
            <a:r>
              <a:rPr lang="en-US" sz="1100" b="1" dirty="0">
                <a:solidFill>
                  <a:srgbClr val="262B3A"/>
                </a:solidFill>
                <a:latin typeface="Calibri" pitchFamily="34" charset="0"/>
                <a:ea typeface="Calibri" pitchFamily="34" charset="-122"/>
                <a:cs typeface="Calibri" pitchFamily="34" charset="-120"/>
              </a:rPr>
              <a:t>limited</a:t>
            </a:r>
            <a:r>
              <a:rPr lang="en-US" sz="1100" dirty="0">
                <a:solidFill>
                  <a:srgbClr val="262B3A"/>
                </a:solidFill>
                <a:latin typeface="Calibri" pitchFamily="34" charset="0"/>
                <a:ea typeface="Calibri" pitchFamily="34" charset="-122"/>
                <a:cs typeface="Calibri" pitchFamily="34" charset="-120"/>
              </a:rPr>
              <a:t>. Animals compete for </a:t>
            </a:r>
            <a:r>
              <a:rPr lang="en-US" sz="1100" b="1" dirty="0">
                <a:solidFill>
                  <a:srgbClr val="262B3A"/>
                </a:solidFill>
                <a:latin typeface="Calibri" pitchFamily="34" charset="0"/>
                <a:ea typeface="Calibri" pitchFamily="34" charset="-122"/>
                <a:cs typeface="Calibri" pitchFamily="34" charset="-120"/>
              </a:rPr>
              <a:t>food</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space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mates</a:t>
            </a:r>
            <a:r>
              <a:rPr lang="en-US" sz="1100" dirty="0">
                <a:solidFill>
                  <a:srgbClr val="262B3A"/>
                </a:solidFill>
                <a:latin typeface="Calibri" pitchFamily="34" charset="0"/>
                <a:ea typeface="Calibri" pitchFamily="34" charset="-122"/>
                <a:cs typeface="Calibri" pitchFamily="34" charset="-120"/>
              </a:rPr>
              <a:t>; plants for </a:t>
            </a:r>
            <a:r>
              <a:rPr lang="en-US" sz="1100" b="1" dirty="0">
                <a:solidFill>
                  <a:srgbClr val="262B3A"/>
                </a:solidFill>
                <a:latin typeface="Calibri" pitchFamily="34" charset="0"/>
                <a:ea typeface="Calibri" pitchFamily="34" charset="-122"/>
                <a:cs typeface="Calibri" pitchFamily="34" charset="-120"/>
              </a:rPr>
              <a:t>light</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mineral ions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space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Individuals in a population </a:t>
            </a:r>
            <a:r>
              <a:rPr lang="en-US" sz="1100" b="1" dirty="0">
                <a:solidFill>
                  <a:srgbClr val="262B3A"/>
                </a:solidFill>
                <a:latin typeface="Calibri" pitchFamily="34" charset="0"/>
                <a:ea typeface="Calibri" pitchFamily="34" charset="-122"/>
                <a:cs typeface="Calibri" pitchFamily="34" charset="-120"/>
              </a:rPr>
              <a:t>vary</a:t>
            </a:r>
            <a:r>
              <a:rPr lang="en-US" sz="1100" dirty="0">
                <a:solidFill>
                  <a:srgbClr val="262B3A"/>
                </a:solidFill>
                <a:latin typeface="Calibri" pitchFamily="34" charset="0"/>
                <a:ea typeface="Calibri" pitchFamily="34" charset="-122"/>
                <a:cs typeface="Calibri" pitchFamily="34" charset="-120"/>
              </a:rPr>
              <a:t>. Those with features that help them </a:t>
            </a:r>
            <a:r>
              <a:rPr lang="en-US" sz="1100" b="1" dirty="0">
                <a:solidFill>
                  <a:srgbClr val="262B3A"/>
                </a:solidFill>
                <a:latin typeface="Calibri" pitchFamily="34" charset="0"/>
                <a:ea typeface="Calibri" pitchFamily="34" charset="-122"/>
                <a:cs typeface="Calibri" pitchFamily="34" charset="-120"/>
              </a:rPr>
              <a:t>compete</a:t>
            </a:r>
            <a:r>
              <a:rPr lang="en-US" sz="1100" dirty="0">
                <a:solidFill>
                  <a:srgbClr val="262B3A"/>
                </a:solidFill>
                <a:latin typeface="Calibri" pitchFamily="34" charset="0"/>
                <a:ea typeface="Calibri" pitchFamily="34" charset="-122"/>
                <a:cs typeface="Calibri" pitchFamily="34" charset="-120"/>
              </a:rPr>
              <a:t> are more likely to </a:t>
            </a:r>
            <a:r>
              <a:rPr lang="en-US" sz="1100" b="1" dirty="0">
                <a:solidFill>
                  <a:srgbClr val="262B3A"/>
                </a:solidFill>
                <a:latin typeface="Calibri" pitchFamily="34" charset="0"/>
                <a:ea typeface="Calibri" pitchFamily="34" charset="-122"/>
                <a:cs typeface="Calibri" pitchFamily="34" charset="-120"/>
              </a:rPr>
              <a:t>survive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reproduce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Without competition (and predators, disease) there would be </a:t>
            </a:r>
            <a:r>
              <a:rPr lang="en-US" sz="1100" b="1" dirty="0">
                <a:solidFill>
                  <a:srgbClr val="262B3A"/>
                </a:solidFill>
                <a:latin typeface="Calibri" pitchFamily="34" charset="0"/>
                <a:ea typeface="Calibri" pitchFamily="34" charset="-122"/>
                <a:cs typeface="Calibri" pitchFamily="34" charset="-120"/>
              </a:rPr>
              <a:t>no selection</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82" name="Shape 80"/>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83" name="Text 81"/>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survival rate</a:t>
            </a:r>
            <a:endParaRPr lang="en-US" sz="1300" dirty="0"/>
          </a:p>
        </p:txBody>
      </p:sp>
      <p:sp>
        <p:nvSpPr>
          <p:cNvPr id="84" name="Text 82"/>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2000 eggs; on average 2 frogs survive to breed.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Fraction   </a:t>
            </a:r>
            <a:r>
              <a:rPr lang="en-US" sz="1050" dirty="0">
                <a:solidFill>
                  <a:srgbClr val="262B3A"/>
                </a:solidFill>
                <a:latin typeface="Calibri" pitchFamily="34" charset="0"/>
                <a:ea typeface="Calibri" pitchFamily="34" charset="-122"/>
                <a:cs typeface="Calibri" pitchFamily="34" charset="-120"/>
              </a:rPr>
              <a:t>2 ÷ 2000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Percentage   </a:t>
            </a:r>
            <a:r>
              <a:rPr lang="en-US" sz="1050" dirty="0">
                <a:solidFill>
                  <a:srgbClr val="262B3A"/>
                </a:solidFill>
                <a:latin typeface="Calibri" pitchFamily="34" charset="0"/>
                <a:ea typeface="Calibri" pitchFamily="34" charset="-122"/>
                <a:cs typeface="Calibri" pitchFamily="34" charset="-120"/>
              </a:rPr>
              <a:t>2 ÷ 2000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0.1%</a:t>
            </a:r>
            <a:r>
              <a:rPr lang="en-US" sz="1050" b="1" dirty="0">
                <a:solidFill>
                  <a:srgbClr val="C8414C"/>
                </a:solidFill>
                <a:latin typeface="Calibri" pitchFamily="34" charset="0"/>
                <a:ea typeface="Calibri" pitchFamily="34" charset="-122"/>
                <a:cs typeface="Calibri" pitchFamily="34" charset="-120"/>
              </a:rPr>
              <a:t> survive; 1998 do not</a:t>
            </a:r>
            <a:endParaRPr lang="en-US" sz="1050" dirty="0"/>
          </a:p>
        </p:txBody>
      </p:sp>
      <p:sp>
        <p:nvSpPr>
          <p:cNvPr id="85" name="Shape 83"/>
          <p:cNvSpPr/>
          <p:nvPr/>
        </p:nvSpPr>
        <p:spPr>
          <a:xfrm>
            <a:off x="411480" y="5833872"/>
            <a:ext cx="11368735" cy="530352"/>
          </a:xfrm>
          <a:prstGeom prst="rect">
            <a:avLst/>
          </a:prstGeom>
          <a:solidFill>
            <a:srgbClr val="FFF4E0"/>
          </a:solidFill>
          <a:ln w="6350">
            <a:solidFill>
              <a:srgbClr val="F1D9A8"/>
            </a:solidFill>
            <a:prstDash val="solid"/>
          </a:ln>
        </p:spPr>
      </p:sp>
      <p:sp>
        <p:nvSpPr>
          <p:cNvPr id="86" name="Shape 84"/>
          <p:cNvSpPr/>
          <p:nvPr/>
        </p:nvSpPr>
        <p:spPr>
          <a:xfrm>
            <a:off x="411480" y="5833872"/>
            <a:ext cx="82296" cy="530352"/>
          </a:xfrm>
          <a:prstGeom prst="rect">
            <a:avLst/>
          </a:prstGeom>
          <a:solidFill>
            <a:srgbClr val="E39A2F"/>
          </a:solidFill>
          <a:ln w="12700">
            <a:solidFill>
              <a:srgbClr val="E39A2F"/>
            </a:solidFill>
            <a:prstDash val="solid"/>
          </a:ln>
        </p:spPr>
      </p:sp>
      <p:sp>
        <p:nvSpPr>
          <p:cNvPr id="87" name="Text 8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fish lays </a:t>
            </a:r>
            <a:r>
              <a:rPr lang="en-US" sz="1150" b="1" dirty="0">
                <a:solidFill>
                  <a:srgbClr val="262B3A"/>
                </a:solidFill>
                <a:latin typeface="Calibri" pitchFamily="34" charset="0"/>
                <a:ea typeface="Calibri" pitchFamily="34" charset="-122"/>
                <a:cs typeface="Calibri" pitchFamily="34" charset="-120"/>
              </a:rPr>
              <a:t>5000</a:t>
            </a:r>
            <a:r>
              <a:rPr lang="en-US" sz="1150" dirty="0">
                <a:solidFill>
                  <a:srgbClr val="262B3A"/>
                </a:solidFill>
                <a:latin typeface="Calibri" pitchFamily="34" charset="0"/>
                <a:ea typeface="Calibri" pitchFamily="34" charset="-122"/>
                <a:cs typeface="Calibri" pitchFamily="34" charset="-120"/>
              </a:rPr>
              <a:t> eggs and </a:t>
            </a:r>
            <a:r>
              <a:rPr lang="en-US" sz="1150" b="1" dirty="0">
                <a:solidFill>
                  <a:srgbClr val="262B3A"/>
                </a:solidFill>
                <a:latin typeface="Calibri" pitchFamily="34" charset="0"/>
                <a:ea typeface="Calibri" pitchFamily="34" charset="-122"/>
                <a:cs typeface="Calibri" pitchFamily="34" charset="-120"/>
              </a:rPr>
              <a:t>4</a:t>
            </a:r>
            <a:r>
              <a:rPr lang="en-US" sz="1150" dirty="0">
                <a:solidFill>
                  <a:srgbClr val="262B3A"/>
                </a:solidFill>
                <a:latin typeface="Calibri" pitchFamily="34" charset="0"/>
                <a:ea typeface="Calibri" pitchFamily="34" charset="-122"/>
                <a:cs typeface="Calibri" pitchFamily="34" charset="-120"/>
              </a:rPr>
              <a:t> survive to breed. Calculate the percentage that survive. 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resources the young fish compete for.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Natural selection step by step</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B6.1.3 • evolution occurs through natural selection of variants better suited to their environment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B6.1.3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peppered moths resting on tree bark; not to scale</a:t>
            </a:r>
            <a:endParaRPr lang="en-US" sz="1000" dirty="0"/>
          </a:p>
        </p:txBody>
      </p:sp>
      <p:sp>
        <p:nvSpPr>
          <p:cNvPr id="10" name="Shape 8"/>
          <p:cNvSpPr/>
          <p:nvPr/>
        </p:nvSpPr>
        <p:spPr>
          <a:xfrm>
            <a:off x="685800" y="1600200"/>
            <a:ext cx="2331720" cy="2286000"/>
          </a:xfrm>
          <a:prstGeom prst="rect">
            <a:avLst/>
          </a:prstGeom>
          <a:solidFill>
            <a:srgbClr val="C9C3AE"/>
          </a:solidFill>
          <a:ln w="12700">
            <a:solidFill>
              <a:srgbClr val="8C8270"/>
            </a:solidFill>
            <a:prstDash val="solid"/>
          </a:ln>
        </p:spPr>
      </p:sp>
      <p:sp>
        <p:nvSpPr>
          <p:cNvPr id="11" name="Shape 9"/>
          <p:cNvSpPr/>
          <p:nvPr/>
        </p:nvSpPr>
        <p:spPr>
          <a:xfrm>
            <a:off x="1018903" y="1636776"/>
            <a:ext cx="45720" cy="2212848"/>
          </a:xfrm>
          <a:prstGeom prst="line">
            <a:avLst/>
          </a:prstGeom>
          <a:noFill/>
          <a:ln w="15875">
            <a:solidFill>
              <a:srgbClr val="A79F86"/>
            </a:solidFill>
            <a:prstDash val="solid"/>
          </a:ln>
        </p:spPr>
      </p:sp>
      <p:sp>
        <p:nvSpPr>
          <p:cNvPr id="12" name="Shape 10"/>
          <p:cNvSpPr/>
          <p:nvPr/>
        </p:nvSpPr>
        <p:spPr>
          <a:xfrm flipH="1">
            <a:off x="1306286" y="1636776"/>
            <a:ext cx="45720" cy="2212848"/>
          </a:xfrm>
          <a:prstGeom prst="line">
            <a:avLst/>
          </a:prstGeom>
          <a:noFill/>
          <a:ln w="15875">
            <a:solidFill>
              <a:srgbClr val="A79F86"/>
            </a:solidFill>
            <a:prstDash val="solid"/>
          </a:ln>
        </p:spPr>
      </p:sp>
      <p:sp>
        <p:nvSpPr>
          <p:cNvPr id="13" name="Shape 11"/>
          <p:cNvSpPr/>
          <p:nvPr/>
        </p:nvSpPr>
        <p:spPr>
          <a:xfrm>
            <a:off x="1685109" y="1636776"/>
            <a:ext cx="45720" cy="2212848"/>
          </a:xfrm>
          <a:prstGeom prst="line">
            <a:avLst/>
          </a:prstGeom>
          <a:noFill/>
          <a:ln w="15875">
            <a:solidFill>
              <a:srgbClr val="A79F86"/>
            </a:solidFill>
            <a:prstDash val="solid"/>
          </a:ln>
        </p:spPr>
      </p:sp>
      <p:sp>
        <p:nvSpPr>
          <p:cNvPr id="14" name="Shape 12"/>
          <p:cNvSpPr/>
          <p:nvPr/>
        </p:nvSpPr>
        <p:spPr>
          <a:xfrm flipH="1">
            <a:off x="1972491" y="1636776"/>
            <a:ext cx="45720" cy="2212848"/>
          </a:xfrm>
          <a:prstGeom prst="line">
            <a:avLst/>
          </a:prstGeom>
          <a:noFill/>
          <a:ln w="15875">
            <a:solidFill>
              <a:srgbClr val="A79F86"/>
            </a:solidFill>
            <a:prstDash val="solid"/>
          </a:ln>
        </p:spPr>
      </p:sp>
      <p:sp>
        <p:nvSpPr>
          <p:cNvPr id="15" name="Shape 13"/>
          <p:cNvSpPr/>
          <p:nvPr/>
        </p:nvSpPr>
        <p:spPr>
          <a:xfrm>
            <a:off x="2351314" y="1636776"/>
            <a:ext cx="45720" cy="2212848"/>
          </a:xfrm>
          <a:prstGeom prst="line">
            <a:avLst/>
          </a:prstGeom>
          <a:noFill/>
          <a:ln w="15875">
            <a:solidFill>
              <a:srgbClr val="A79F86"/>
            </a:solidFill>
            <a:prstDash val="solid"/>
          </a:ln>
        </p:spPr>
      </p:sp>
      <p:sp>
        <p:nvSpPr>
          <p:cNvPr id="16" name="Shape 14"/>
          <p:cNvSpPr/>
          <p:nvPr/>
        </p:nvSpPr>
        <p:spPr>
          <a:xfrm flipH="1">
            <a:off x="2638697" y="1636776"/>
            <a:ext cx="45720" cy="2212848"/>
          </a:xfrm>
          <a:prstGeom prst="line">
            <a:avLst/>
          </a:prstGeom>
          <a:noFill/>
          <a:ln w="15875">
            <a:solidFill>
              <a:srgbClr val="A79F86"/>
            </a:solidFill>
            <a:prstDash val="solid"/>
          </a:ln>
        </p:spPr>
      </p:sp>
      <p:sp>
        <p:nvSpPr>
          <p:cNvPr id="17" name="Shape 15"/>
          <p:cNvSpPr/>
          <p:nvPr/>
        </p:nvSpPr>
        <p:spPr>
          <a:xfrm>
            <a:off x="1005840" y="1954987"/>
            <a:ext cx="292608" cy="204826"/>
          </a:xfrm>
          <a:prstGeom prst="ellipse">
            <a:avLst/>
          </a:prstGeom>
          <a:solidFill>
            <a:srgbClr val="D9D6C2"/>
          </a:solidFill>
          <a:ln w="6350">
            <a:solidFill>
              <a:srgbClr val="B9B59E"/>
            </a:solidFill>
            <a:prstDash val="solid"/>
          </a:ln>
        </p:spPr>
      </p:sp>
      <p:sp>
        <p:nvSpPr>
          <p:cNvPr id="18" name="Shape 16"/>
          <p:cNvSpPr/>
          <p:nvPr/>
        </p:nvSpPr>
        <p:spPr>
          <a:xfrm>
            <a:off x="2073402" y="2310689"/>
            <a:ext cx="256032" cy="179222"/>
          </a:xfrm>
          <a:prstGeom prst="ellipse">
            <a:avLst/>
          </a:prstGeom>
          <a:solidFill>
            <a:srgbClr val="D9D6C2"/>
          </a:solidFill>
          <a:ln w="6350">
            <a:solidFill>
              <a:srgbClr val="B9B59E"/>
            </a:solidFill>
            <a:prstDash val="solid"/>
          </a:ln>
        </p:spPr>
      </p:sp>
      <p:sp>
        <p:nvSpPr>
          <p:cNvPr id="19" name="Shape 17"/>
          <p:cNvSpPr/>
          <p:nvPr/>
        </p:nvSpPr>
        <p:spPr>
          <a:xfrm>
            <a:off x="1364742" y="3104388"/>
            <a:ext cx="274320" cy="192024"/>
          </a:xfrm>
          <a:prstGeom prst="ellipse">
            <a:avLst/>
          </a:prstGeom>
          <a:solidFill>
            <a:srgbClr val="D9D6C2"/>
          </a:solidFill>
          <a:ln w="6350">
            <a:solidFill>
              <a:srgbClr val="B9B59E"/>
            </a:solidFill>
            <a:prstDash val="solid"/>
          </a:ln>
        </p:spPr>
      </p:sp>
      <p:sp>
        <p:nvSpPr>
          <p:cNvPr id="20" name="Shape 18"/>
          <p:cNvSpPr/>
          <p:nvPr/>
        </p:nvSpPr>
        <p:spPr>
          <a:xfrm>
            <a:off x="2441448" y="3352190"/>
            <a:ext cx="219456" cy="153619"/>
          </a:xfrm>
          <a:prstGeom prst="ellipse">
            <a:avLst/>
          </a:prstGeom>
          <a:solidFill>
            <a:srgbClr val="D9D6C2"/>
          </a:solidFill>
          <a:ln w="6350">
            <a:solidFill>
              <a:srgbClr val="B9B59E"/>
            </a:solidFill>
            <a:prstDash val="solid"/>
          </a:ln>
        </p:spPr>
      </p:sp>
      <p:sp>
        <p:nvSpPr>
          <p:cNvPr id="21" name="Shape 19"/>
          <p:cNvSpPr/>
          <p:nvPr/>
        </p:nvSpPr>
        <p:spPr>
          <a:xfrm>
            <a:off x="3383280" y="1600200"/>
            <a:ext cx="2331720" cy="2286000"/>
          </a:xfrm>
          <a:prstGeom prst="rect">
            <a:avLst/>
          </a:prstGeom>
          <a:solidFill>
            <a:srgbClr val="3A3532"/>
          </a:solidFill>
          <a:ln w="12700">
            <a:solidFill>
              <a:srgbClr val="1E1B19"/>
            </a:solidFill>
            <a:prstDash val="solid"/>
          </a:ln>
        </p:spPr>
      </p:sp>
      <p:sp>
        <p:nvSpPr>
          <p:cNvPr id="22" name="Shape 20"/>
          <p:cNvSpPr/>
          <p:nvPr/>
        </p:nvSpPr>
        <p:spPr>
          <a:xfrm>
            <a:off x="3716383" y="1636776"/>
            <a:ext cx="45720" cy="2212848"/>
          </a:xfrm>
          <a:prstGeom prst="line">
            <a:avLst/>
          </a:prstGeom>
          <a:noFill/>
          <a:ln w="15875">
            <a:solidFill>
              <a:srgbClr val="24201E"/>
            </a:solidFill>
            <a:prstDash val="solid"/>
          </a:ln>
        </p:spPr>
      </p:sp>
      <p:sp>
        <p:nvSpPr>
          <p:cNvPr id="23" name="Shape 21"/>
          <p:cNvSpPr/>
          <p:nvPr/>
        </p:nvSpPr>
        <p:spPr>
          <a:xfrm flipH="1">
            <a:off x="4003766" y="1636776"/>
            <a:ext cx="45720" cy="2212848"/>
          </a:xfrm>
          <a:prstGeom prst="line">
            <a:avLst/>
          </a:prstGeom>
          <a:noFill/>
          <a:ln w="15875">
            <a:solidFill>
              <a:srgbClr val="24201E"/>
            </a:solidFill>
            <a:prstDash val="solid"/>
          </a:ln>
        </p:spPr>
      </p:sp>
      <p:sp>
        <p:nvSpPr>
          <p:cNvPr id="24" name="Shape 22"/>
          <p:cNvSpPr/>
          <p:nvPr/>
        </p:nvSpPr>
        <p:spPr>
          <a:xfrm>
            <a:off x="4382589" y="1636776"/>
            <a:ext cx="45720" cy="2212848"/>
          </a:xfrm>
          <a:prstGeom prst="line">
            <a:avLst/>
          </a:prstGeom>
          <a:noFill/>
          <a:ln w="15875">
            <a:solidFill>
              <a:srgbClr val="24201E"/>
            </a:solidFill>
            <a:prstDash val="solid"/>
          </a:ln>
        </p:spPr>
      </p:sp>
      <p:sp>
        <p:nvSpPr>
          <p:cNvPr id="25" name="Shape 23"/>
          <p:cNvSpPr/>
          <p:nvPr/>
        </p:nvSpPr>
        <p:spPr>
          <a:xfrm flipH="1">
            <a:off x="4669971" y="1636776"/>
            <a:ext cx="45720" cy="2212848"/>
          </a:xfrm>
          <a:prstGeom prst="line">
            <a:avLst/>
          </a:prstGeom>
          <a:noFill/>
          <a:ln w="15875">
            <a:solidFill>
              <a:srgbClr val="24201E"/>
            </a:solidFill>
            <a:prstDash val="solid"/>
          </a:ln>
        </p:spPr>
      </p:sp>
      <p:sp>
        <p:nvSpPr>
          <p:cNvPr id="26" name="Shape 24"/>
          <p:cNvSpPr/>
          <p:nvPr/>
        </p:nvSpPr>
        <p:spPr>
          <a:xfrm>
            <a:off x="5048794" y="1636776"/>
            <a:ext cx="45720" cy="2212848"/>
          </a:xfrm>
          <a:prstGeom prst="line">
            <a:avLst/>
          </a:prstGeom>
          <a:noFill/>
          <a:ln w="15875">
            <a:solidFill>
              <a:srgbClr val="24201E"/>
            </a:solidFill>
            <a:prstDash val="solid"/>
          </a:ln>
        </p:spPr>
      </p:sp>
      <p:sp>
        <p:nvSpPr>
          <p:cNvPr id="27" name="Shape 25"/>
          <p:cNvSpPr/>
          <p:nvPr/>
        </p:nvSpPr>
        <p:spPr>
          <a:xfrm flipH="1">
            <a:off x="5336177" y="1636776"/>
            <a:ext cx="45720" cy="2212848"/>
          </a:xfrm>
          <a:prstGeom prst="line">
            <a:avLst/>
          </a:prstGeom>
          <a:noFill/>
          <a:ln w="15875">
            <a:solidFill>
              <a:srgbClr val="24201E"/>
            </a:solidFill>
            <a:prstDash val="solid"/>
          </a:ln>
        </p:spPr>
      </p:sp>
      <p:sp>
        <p:nvSpPr>
          <p:cNvPr id="28" name="Text 26"/>
          <p:cNvSpPr/>
          <p:nvPr/>
        </p:nvSpPr>
        <p:spPr>
          <a:xfrm>
            <a:off x="685800" y="1298448"/>
            <a:ext cx="2331720"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Clean air: pale, lichen bark</a:t>
            </a:r>
            <a:endParaRPr lang="en-US" sz="1050" dirty="0"/>
          </a:p>
        </p:txBody>
      </p:sp>
      <p:sp>
        <p:nvSpPr>
          <p:cNvPr id="29" name="Text 27"/>
          <p:cNvSpPr/>
          <p:nvPr/>
        </p:nvSpPr>
        <p:spPr>
          <a:xfrm>
            <a:off x="3383280" y="1298448"/>
            <a:ext cx="2331720"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Polluted: soot-covered bark</a:t>
            </a:r>
            <a:endParaRPr lang="en-US" sz="1050" dirty="0"/>
          </a:p>
        </p:txBody>
      </p:sp>
      <p:sp>
        <p:nvSpPr>
          <p:cNvPr id="30" name="Shape 28"/>
          <p:cNvSpPr/>
          <p:nvPr/>
        </p:nvSpPr>
        <p:spPr>
          <a:xfrm>
            <a:off x="982980" y="2075688"/>
            <a:ext cx="342900" cy="370332"/>
          </a:xfrm>
          <a:custGeom>
            <a:avLst/>
            <a:gdLst/>
            <a:ahLst/>
            <a:cxnLst/>
            <a:rect l="l" t="t" r="r" b="b"/>
            <a:pathLst>
              <a:path w="342900" h="370332">
                <a:moveTo>
                  <a:pt x="342900" y="109728"/>
                </a:moveTo>
                <a:lnTo>
                  <a:pt x="0" y="0"/>
                </a:lnTo>
                <a:lnTo>
                  <a:pt x="41148" y="246888"/>
                </a:lnTo>
                <a:lnTo>
                  <a:pt x="205740" y="370332"/>
                </a:lnTo>
                <a:lnTo>
                  <a:pt x="342900" y="260604"/>
                </a:lnTo>
                <a:close/>
              </a:path>
            </a:pathLst>
          </a:custGeom>
          <a:solidFill>
            <a:srgbClr val="E9E3CF"/>
          </a:solidFill>
          <a:ln w="9525">
            <a:solidFill>
              <a:srgbClr val="8C8270"/>
            </a:solidFill>
            <a:prstDash val="solid"/>
          </a:ln>
        </p:spPr>
      </p:sp>
      <p:sp>
        <p:nvSpPr>
          <p:cNvPr id="31" name="Shape 29"/>
          <p:cNvSpPr/>
          <p:nvPr/>
        </p:nvSpPr>
        <p:spPr>
          <a:xfrm>
            <a:off x="1325880" y="2075688"/>
            <a:ext cx="342900" cy="370332"/>
          </a:xfrm>
          <a:custGeom>
            <a:avLst/>
            <a:gdLst/>
            <a:ahLst/>
            <a:cxnLst/>
            <a:rect l="l" t="t" r="r" b="b"/>
            <a:pathLst>
              <a:path w="342900" h="370332">
                <a:moveTo>
                  <a:pt x="0" y="109728"/>
                </a:moveTo>
                <a:lnTo>
                  <a:pt x="342900" y="0"/>
                </a:lnTo>
                <a:lnTo>
                  <a:pt x="301752" y="246888"/>
                </a:lnTo>
                <a:lnTo>
                  <a:pt x="137160" y="370332"/>
                </a:lnTo>
                <a:lnTo>
                  <a:pt x="0" y="260604"/>
                </a:lnTo>
                <a:close/>
              </a:path>
            </a:pathLst>
          </a:custGeom>
          <a:solidFill>
            <a:srgbClr val="E9E3CF"/>
          </a:solidFill>
          <a:ln w="9525">
            <a:solidFill>
              <a:srgbClr val="8C8270"/>
            </a:solidFill>
            <a:prstDash val="solid"/>
          </a:ln>
        </p:spPr>
      </p:sp>
      <p:sp>
        <p:nvSpPr>
          <p:cNvPr id="32" name="Shape 30"/>
          <p:cNvSpPr/>
          <p:nvPr/>
        </p:nvSpPr>
        <p:spPr>
          <a:xfrm>
            <a:off x="1295019" y="2116836"/>
            <a:ext cx="61722" cy="288036"/>
          </a:xfrm>
          <a:prstGeom prst="ellipse">
            <a:avLst/>
          </a:prstGeom>
          <a:solidFill>
            <a:srgbClr val="4A3F35"/>
          </a:solidFill>
          <a:ln w="6350">
            <a:solidFill>
              <a:srgbClr val="2A221C"/>
            </a:solidFill>
            <a:prstDash val="solid"/>
          </a:ln>
        </p:spPr>
      </p:sp>
      <p:sp>
        <p:nvSpPr>
          <p:cNvPr id="33" name="Shape 31"/>
          <p:cNvSpPr/>
          <p:nvPr/>
        </p:nvSpPr>
        <p:spPr>
          <a:xfrm flipH="1" flipV="1">
            <a:off x="1243584" y="2020824"/>
            <a:ext cx="68580" cy="109728"/>
          </a:xfrm>
          <a:prstGeom prst="line">
            <a:avLst/>
          </a:prstGeom>
          <a:noFill/>
          <a:ln w="9525">
            <a:solidFill>
              <a:srgbClr val="2A221C"/>
            </a:solidFill>
            <a:prstDash val="solid"/>
          </a:ln>
        </p:spPr>
      </p:sp>
      <p:sp>
        <p:nvSpPr>
          <p:cNvPr id="34" name="Shape 32"/>
          <p:cNvSpPr/>
          <p:nvPr/>
        </p:nvSpPr>
        <p:spPr>
          <a:xfrm flipV="1">
            <a:off x="1339596" y="2020824"/>
            <a:ext cx="68580" cy="109728"/>
          </a:xfrm>
          <a:prstGeom prst="line">
            <a:avLst/>
          </a:prstGeom>
          <a:noFill/>
          <a:ln w="9525">
            <a:solidFill>
              <a:srgbClr val="2A221C"/>
            </a:solidFill>
            <a:prstDash val="solid"/>
          </a:ln>
        </p:spPr>
      </p:sp>
      <p:sp>
        <p:nvSpPr>
          <p:cNvPr id="35" name="Shape 33"/>
          <p:cNvSpPr/>
          <p:nvPr/>
        </p:nvSpPr>
        <p:spPr>
          <a:xfrm>
            <a:off x="1120140" y="2192274"/>
            <a:ext cx="27432" cy="27432"/>
          </a:xfrm>
          <a:prstGeom prst="ellipse">
            <a:avLst/>
          </a:prstGeom>
          <a:solidFill>
            <a:srgbClr val="5A5248"/>
          </a:solidFill>
          <a:ln w="9525">
            <a:solidFill>
              <a:srgbClr val="5A5248"/>
            </a:solidFill>
            <a:prstDash val="solid"/>
          </a:ln>
        </p:spPr>
      </p:sp>
      <p:sp>
        <p:nvSpPr>
          <p:cNvPr id="36" name="Shape 34"/>
          <p:cNvSpPr/>
          <p:nvPr/>
        </p:nvSpPr>
        <p:spPr>
          <a:xfrm>
            <a:off x="1504188" y="2192274"/>
            <a:ext cx="27432" cy="27432"/>
          </a:xfrm>
          <a:prstGeom prst="ellipse">
            <a:avLst/>
          </a:prstGeom>
          <a:solidFill>
            <a:srgbClr val="5A5248"/>
          </a:solidFill>
          <a:ln w="9525">
            <a:solidFill>
              <a:srgbClr val="5A5248"/>
            </a:solidFill>
            <a:prstDash val="solid"/>
          </a:ln>
        </p:spPr>
      </p:sp>
      <p:sp>
        <p:nvSpPr>
          <p:cNvPr id="37" name="Shape 35"/>
          <p:cNvSpPr/>
          <p:nvPr/>
        </p:nvSpPr>
        <p:spPr>
          <a:xfrm>
            <a:off x="1175004" y="2295144"/>
            <a:ext cx="27432" cy="27432"/>
          </a:xfrm>
          <a:prstGeom prst="ellipse">
            <a:avLst/>
          </a:prstGeom>
          <a:solidFill>
            <a:srgbClr val="5A5248"/>
          </a:solidFill>
          <a:ln w="9525">
            <a:solidFill>
              <a:srgbClr val="5A5248"/>
            </a:solidFill>
            <a:prstDash val="solid"/>
          </a:ln>
        </p:spPr>
      </p:sp>
      <p:sp>
        <p:nvSpPr>
          <p:cNvPr id="38" name="Shape 36"/>
          <p:cNvSpPr/>
          <p:nvPr/>
        </p:nvSpPr>
        <p:spPr>
          <a:xfrm>
            <a:off x="1449324" y="2295144"/>
            <a:ext cx="27432" cy="27432"/>
          </a:xfrm>
          <a:prstGeom prst="ellipse">
            <a:avLst/>
          </a:prstGeom>
          <a:solidFill>
            <a:srgbClr val="5A5248"/>
          </a:solidFill>
          <a:ln w="9525">
            <a:solidFill>
              <a:srgbClr val="5A5248"/>
            </a:solidFill>
            <a:prstDash val="solid"/>
          </a:ln>
        </p:spPr>
      </p:sp>
      <p:sp>
        <p:nvSpPr>
          <p:cNvPr id="39" name="Shape 37"/>
          <p:cNvSpPr/>
          <p:nvPr/>
        </p:nvSpPr>
        <p:spPr>
          <a:xfrm>
            <a:off x="1065276" y="2130552"/>
            <a:ext cx="27432" cy="27432"/>
          </a:xfrm>
          <a:prstGeom prst="ellipse">
            <a:avLst/>
          </a:prstGeom>
          <a:solidFill>
            <a:srgbClr val="5A5248"/>
          </a:solidFill>
          <a:ln w="9525">
            <a:solidFill>
              <a:srgbClr val="5A5248"/>
            </a:solidFill>
            <a:prstDash val="solid"/>
          </a:ln>
        </p:spPr>
      </p:sp>
      <p:sp>
        <p:nvSpPr>
          <p:cNvPr id="40" name="Shape 38"/>
          <p:cNvSpPr/>
          <p:nvPr/>
        </p:nvSpPr>
        <p:spPr>
          <a:xfrm>
            <a:off x="1559052" y="2130552"/>
            <a:ext cx="27432" cy="27432"/>
          </a:xfrm>
          <a:prstGeom prst="ellipse">
            <a:avLst/>
          </a:prstGeom>
          <a:solidFill>
            <a:srgbClr val="5A5248"/>
          </a:solidFill>
          <a:ln w="9525">
            <a:solidFill>
              <a:srgbClr val="5A5248"/>
            </a:solidFill>
            <a:prstDash val="solid"/>
          </a:ln>
        </p:spPr>
      </p:sp>
      <p:sp>
        <p:nvSpPr>
          <p:cNvPr id="41" name="Shape 39"/>
          <p:cNvSpPr/>
          <p:nvPr/>
        </p:nvSpPr>
        <p:spPr>
          <a:xfrm>
            <a:off x="1988820" y="3035808"/>
            <a:ext cx="342900" cy="370332"/>
          </a:xfrm>
          <a:custGeom>
            <a:avLst/>
            <a:gdLst/>
            <a:ahLst/>
            <a:cxnLst/>
            <a:rect l="l" t="t" r="r" b="b"/>
            <a:pathLst>
              <a:path w="342900" h="370332">
                <a:moveTo>
                  <a:pt x="342900" y="109728"/>
                </a:moveTo>
                <a:lnTo>
                  <a:pt x="0" y="0"/>
                </a:lnTo>
                <a:lnTo>
                  <a:pt x="41148" y="246888"/>
                </a:lnTo>
                <a:lnTo>
                  <a:pt x="205740" y="370332"/>
                </a:lnTo>
                <a:lnTo>
                  <a:pt x="342900" y="260604"/>
                </a:lnTo>
                <a:close/>
              </a:path>
            </a:pathLst>
          </a:custGeom>
          <a:solidFill>
            <a:srgbClr val="2B2622"/>
          </a:solidFill>
          <a:ln w="9525">
            <a:solidFill>
              <a:srgbClr val="000000"/>
            </a:solidFill>
            <a:prstDash val="solid"/>
          </a:ln>
        </p:spPr>
      </p:sp>
      <p:sp>
        <p:nvSpPr>
          <p:cNvPr id="42" name="Shape 40"/>
          <p:cNvSpPr/>
          <p:nvPr/>
        </p:nvSpPr>
        <p:spPr>
          <a:xfrm>
            <a:off x="2331720" y="3035808"/>
            <a:ext cx="342900" cy="370332"/>
          </a:xfrm>
          <a:custGeom>
            <a:avLst/>
            <a:gdLst/>
            <a:ahLst/>
            <a:cxnLst/>
            <a:rect l="l" t="t" r="r" b="b"/>
            <a:pathLst>
              <a:path w="342900" h="370332">
                <a:moveTo>
                  <a:pt x="0" y="109728"/>
                </a:moveTo>
                <a:lnTo>
                  <a:pt x="342900" y="0"/>
                </a:lnTo>
                <a:lnTo>
                  <a:pt x="301752" y="246888"/>
                </a:lnTo>
                <a:lnTo>
                  <a:pt x="137160" y="370332"/>
                </a:lnTo>
                <a:lnTo>
                  <a:pt x="0" y="260604"/>
                </a:lnTo>
                <a:close/>
              </a:path>
            </a:pathLst>
          </a:custGeom>
          <a:solidFill>
            <a:srgbClr val="2B2622"/>
          </a:solidFill>
          <a:ln w="9525">
            <a:solidFill>
              <a:srgbClr val="000000"/>
            </a:solidFill>
            <a:prstDash val="solid"/>
          </a:ln>
        </p:spPr>
      </p:sp>
      <p:sp>
        <p:nvSpPr>
          <p:cNvPr id="43" name="Shape 41"/>
          <p:cNvSpPr/>
          <p:nvPr/>
        </p:nvSpPr>
        <p:spPr>
          <a:xfrm>
            <a:off x="2300859" y="3076956"/>
            <a:ext cx="61722" cy="288036"/>
          </a:xfrm>
          <a:prstGeom prst="ellipse">
            <a:avLst/>
          </a:prstGeom>
          <a:solidFill>
            <a:srgbClr val="4A3F35"/>
          </a:solidFill>
          <a:ln w="6350">
            <a:solidFill>
              <a:srgbClr val="2A221C"/>
            </a:solidFill>
            <a:prstDash val="solid"/>
          </a:ln>
        </p:spPr>
      </p:sp>
      <p:sp>
        <p:nvSpPr>
          <p:cNvPr id="44" name="Shape 42"/>
          <p:cNvSpPr/>
          <p:nvPr/>
        </p:nvSpPr>
        <p:spPr>
          <a:xfrm flipH="1" flipV="1">
            <a:off x="2249424" y="2980944"/>
            <a:ext cx="68580" cy="109728"/>
          </a:xfrm>
          <a:prstGeom prst="line">
            <a:avLst/>
          </a:prstGeom>
          <a:noFill/>
          <a:ln w="9525">
            <a:solidFill>
              <a:srgbClr val="2A221C"/>
            </a:solidFill>
            <a:prstDash val="solid"/>
          </a:ln>
        </p:spPr>
      </p:sp>
      <p:sp>
        <p:nvSpPr>
          <p:cNvPr id="45" name="Shape 43"/>
          <p:cNvSpPr/>
          <p:nvPr/>
        </p:nvSpPr>
        <p:spPr>
          <a:xfrm flipV="1">
            <a:off x="2345436" y="2980944"/>
            <a:ext cx="68580" cy="109728"/>
          </a:xfrm>
          <a:prstGeom prst="line">
            <a:avLst/>
          </a:prstGeom>
          <a:noFill/>
          <a:ln w="9525">
            <a:solidFill>
              <a:srgbClr val="2A221C"/>
            </a:solidFill>
            <a:prstDash val="solid"/>
          </a:ln>
        </p:spPr>
      </p:sp>
      <p:sp>
        <p:nvSpPr>
          <p:cNvPr id="46" name="Shape 44"/>
          <p:cNvSpPr/>
          <p:nvPr/>
        </p:nvSpPr>
        <p:spPr>
          <a:xfrm>
            <a:off x="3634740" y="2167128"/>
            <a:ext cx="342900" cy="370332"/>
          </a:xfrm>
          <a:custGeom>
            <a:avLst/>
            <a:gdLst/>
            <a:ahLst/>
            <a:cxnLst/>
            <a:rect l="l" t="t" r="r" b="b"/>
            <a:pathLst>
              <a:path w="342900" h="370332">
                <a:moveTo>
                  <a:pt x="342900" y="109728"/>
                </a:moveTo>
                <a:lnTo>
                  <a:pt x="0" y="0"/>
                </a:lnTo>
                <a:lnTo>
                  <a:pt x="41148" y="246888"/>
                </a:lnTo>
                <a:lnTo>
                  <a:pt x="205740" y="370332"/>
                </a:lnTo>
                <a:lnTo>
                  <a:pt x="342900" y="260604"/>
                </a:lnTo>
                <a:close/>
              </a:path>
            </a:pathLst>
          </a:custGeom>
          <a:solidFill>
            <a:srgbClr val="2B2622"/>
          </a:solidFill>
          <a:ln w="9525">
            <a:solidFill>
              <a:srgbClr val="000000"/>
            </a:solidFill>
            <a:prstDash val="solid"/>
          </a:ln>
        </p:spPr>
      </p:sp>
      <p:sp>
        <p:nvSpPr>
          <p:cNvPr id="47" name="Shape 45"/>
          <p:cNvSpPr/>
          <p:nvPr/>
        </p:nvSpPr>
        <p:spPr>
          <a:xfrm>
            <a:off x="3977640" y="2167128"/>
            <a:ext cx="342900" cy="370332"/>
          </a:xfrm>
          <a:custGeom>
            <a:avLst/>
            <a:gdLst/>
            <a:ahLst/>
            <a:cxnLst/>
            <a:rect l="l" t="t" r="r" b="b"/>
            <a:pathLst>
              <a:path w="342900" h="370332">
                <a:moveTo>
                  <a:pt x="0" y="109728"/>
                </a:moveTo>
                <a:lnTo>
                  <a:pt x="342900" y="0"/>
                </a:lnTo>
                <a:lnTo>
                  <a:pt x="301752" y="246888"/>
                </a:lnTo>
                <a:lnTo>
                  <a:pt x="137160" y="370332"/>
                </a:lnTo>
                <a:lnTo>
                  <a:pt x="0" y="260604"/>
                </a:lnTo>
                <a:close/>
              </a:path>
            </a:pathLst>
          </a:custGeom>
          <a:solidFill>
            <a:srgbClr val="2B2622"/>
          </a:solidFill>
          <a:ln w="9525">
            <a:solidFill>
              <a:srgbClr val="000000"/>
            </a:solidFill>
            <a:prstDash val="solid"/>
          </a:ln>
        </p:spPr>
      </p:sp>
      <p:sp>
        <p:nvSpPr>
          <p:cNvPr id="48" name="Shape 46"/>
          <p:cNvSpPr/>
          <p:nvPr/>
        </p:nvSpPr>
        <p:spPr>
          <a:xfrm>
            <a:off x="3946779" y="2208276"/>
            <a:ext cx="61722" cy="288036"/>
          </a:xfrm>
          <a:prstGeom prst="ellipse">
            <a:avLst/>
          </a:prstGeom>
          <a:solidFill>
            <a:srgbClr val="4A3F35"/>
          </a:solidFill>
          <a:ln w="6350">
            <a:solidFill>
              <a:srgbClr val="2A221C"/>
            </a:solidFill>
            <a:prstDash val="solid"/>
          </a:ln>
        </p:spPr>
      </p:sp>
      <p:sp>
        <p:nvSpPr>
          <p:cNvPr id="49" name="Shape 47"/>
          <p:cNvSpPr/>
          <p:nvPr/>
        </p:nvSpPr>
        <p:spPr>
          <a:xfrm flipH="1" flipV="1">
            <a:off x="3895344" y="2112264"/>
            <a:ext cx="68580" cy="109728"/>
          </a:xfrm>
          <a:prstGeom prst="line">
            <a:avLst/>
          </a:prstGeom>
          <a:noFill/>
          <a:ln w="9525">
            <a:solidFill>
              <a:srgbClr val="2A221C"/>
            </a:solidFill>
            <a:prstDash val="solid"/>
          </a:ln>
        </p:spPr>
      </p:sp>
      <p:sp>
        <p:nvSpPr>
          <p:cNvPr id="50" name="Shape 48"/>
          <p:cNvSpPr/>
          <p:nvPr/>
        </p:nvSpPr>
        <p:spPr>
          <a:xfrm flipV="1">
            <a:off x="3991356" y="2112264"/>
            <a:ext cx="68580" cy="109728"/>
          </a:xfrm>
          <a:prstGeom prst="line">
            <a:avLst/>
          </a:prstGeom>
          <a:noFill/>
          <a:ln w="9525">
            <a:solidFill>
              <a:srgbClr val="2A221C"/>
            </a:solidFill>
            <a:prstDash val="solid"/>
          </a:ln>
        </p:spPr>
      </p:sp>
      <p:sp>
        <p:nvSpPr>
          <p:cNvPr id="51" name="Shape 49"/>
          <p:cNvSpPr/>
          <p:nvPr/>
        </p:nvSpPr>
        <p:spPr>
          <a:xfrm>
            <a:off x="4686300" y="2990088"/>
            <a:ext cx="342900" cy="370332"/>
          </a:xfrm>
          <a:custGeom>
            <a:avLst/>
            <a:gdLst/>
            <a:ahLst/>
            <a:cxnLst/>
            <a:rect l="l" t="t" r="r" b="b"/>
            <a:pathLst>
              <a:path w="342900" h="370332">
                <a:moveTo>
                  <a:pt x="342900" y="109728"/>
                </a:moveTo>
                <a:lnTo>
                  <a:pt x="0" y="0"/>
                </a:lnTo>
                <a:lnTo>
                  <a:pt x="41148" y="246888"/>
                </a:lnTo>
                <a:lnTo>
                  <a:pt x="205740" y="370332"/>
                </a:lnTo>
                <a:lnTo>
                  <a:pt x="342900" y="260604"/>
                </a:lnTo>
                <a:close/>
              </a:path>
            </a:pathLst>
          </a:custGeom>
          <a:solidFill>
            <a:srgbClr val="E9E3CF"/>
          </a:solidFill>
          <a:ln w="9525">
            <a:solidFill>
              <a:srgbClr val="8C8270"/>
            </a:solidFill>
            <a:prstDash val="solid"/>
          </a:ln>
        </p:spPr>
      </p:sp>
      <p:sp>
        <p:nvSpPr>
          <p:cNvPr id="52" name="Shape 50"/>
          <p:cNvSpPr/>
          <p:nvPr/>
        </p:nvSpPr>
        <p:spPr>
          <a:xfrm>
            <a:off x="5029200" y="2990088"/>
            <a:ext cx="342900" cy="370332"/>
          </a:xfrm>
          <a:custGeom>
            <a:avLst/>
            <a:gdLst/>
            <a:ahLst/>
            <a:cxnLst/>
            <a:rect l="l" t="t" r="r" b="b"/>
            <a:pathLst>
              <a:path w="342900" h="370332">
                <a:moveTo>
                  <a:pt x="0" y="109728"/>
                </a:moveTo>
                <a:lnTo>
                  <a:pt x="342900" y="0"/>
                </a:lnTo>
                <a:lnTo>
                  <a:pt x="301752" y="246888"/>
                </a:lnTo>
                <a:lnTo>
                  <a:pt x="137160" y="370332"/>
                </a:lnTo>
                <a:lnTo>
                  <a:pt x="0" y="260604"/>
                </a:lnTo>
                <a:close/>
              </a:path>
            </a:pathLst>
          </a:custGeom>
          <a:solidFill>
            <a:srgbClr val="E9E3CF"/>
          </a:solidFill>
          <a:ln w="9525">
            <a:solidFill>
              <a:srgbClr val="8C8270"/>
            </a:solidFill>
            <a:prstDash val="solid"/>
          </a:ln>
        </p:spPr>
      </p:sp>
      <p:sp>
        <p:nvSpPr>
          <p:cNvPr id="53" name="Shape 51"/>
          <p:cNvSpPr/>
          <p:nvPr/>
        </p:nvSpPr>
        <p:spPr>
          <a:xfrm>
            <a:off x="4998339" y="3031236"/>
            <a:ext cx="61722" cy="288036"/>
          </a:xfrm>
          <a:prstGeom prst="ellipse">
            <a:avLst/>
          </a:prstGeom>
          <a:solidFill>
            <a:srgbClr val="4A3F35"/>
          </a:solidFill>
          <a:ln w="6350">
            <a:solidFill>
              <a:srgbClr val="2A221C"/>
            </a:solidFill>
            <a:prstDash val="solid"/>
          </a:ln>
        </p:spPr>
      </p:sp>
      <p:sp>
        <p:nvSpPr>
          <p:cNvPr id="54" name="Shape 52"/>
          <p:cNvSpPr/>
          <p:nvPr/>
        </p:nvSpPr>
        <p:spPr>
          <a:xfrm flipH="1" flipV="1">
            <a:off x="4946904" y="2935224"/>
            <a:ext cx="68580" cy="109728"/>
          </a:xfrm>
          <a:prstGeom prst="line">
            <a:avLst/>
          </a:prstGeom>
          <a:noFill/>
          <a:ln w="9525">
            <a:solidFill>
              <a:srgbClr val="2A221C"/>
            </a:solidFill>
            <a:prstDash val="solid"/>
          </a:ln>
        </p:spPr>
      </p:sp>
      <p:sp>
        <p:nvSpPr>
          <p:cNvPr id="55" name="Shape 53"/>
          <p:cNvSpPr/>
          <p:nvPr/>
        </p:nvSpPr>
        <p:spPr>
          <a:xfrm flipV="1">
            <a:off x="5042916" y="2935224"/>
            <a:ext cx="68580" cy="109728"/>
          </a:xfrm>
          <a:prstGeom prst="line">
            <a:avLst/>
          </a:prstGeom>
          <a:noFill/>
          <a:ln w="9525">
            <a:solidFill>
              <a:srgbClr val="2A221C"/>
            </a:solidFill>
            <a:prstDash val="solid"/>
          </a:ln>
        </p:spPr>
      </p:sp>
      <p:sp>
        <p:nvSpPr>
          <p:cNvPr id="56" name="Shape 54"/>
          <p:cNvSpPr/>
          <p:nvPr/>
        </p:nvSpPr>
        <p:spPr>
          <a:xfrm>
            <a:off x="4823460" y="3106674"/>
            <a:ext cx="27432" cy="27432"/>
          </a:xfrm>
          <a:prstGeom prst="ellipse">
            <a:avLst/>
          </a:prstGeom>
          <a:solidFill>
            <a:srgbClr val="5A5248"/>
          </a:solidFill>
          <a:ln w="9525">
            <a:solidFill>
              <a:srgbClr val="5A5248"/>
            </a:solidFill>
            <a:prstDash val="solid"/>
          </a:ln>
        </p:spPr>
      </p:sp>
      <p:sp>
        <p:nvSpPr>
          <p:cNvPr id="57" name="Shape 55"/>
          <p:cNvSpPr/>
          <p:nvPr/>
        </p:nvSpPr>
        <p:spPr>
          <a:xfrm>
            <a:off x="5207508" y="3106674"/>
            <a:ext cx="27432" cy="27432"/>
          </a:xfrm>
          <a:prstGeom prst="ellipse">
            <a:avLst/>
          </a:prstGeom>
          <a:solidFill>
            <a:srgbClr val="5A5248"/>
          </a:solidFill>
          <a:ln w="9525">
            <a:solidFill>
              <a:srgbClr val="5A5248"/>
            </a:solidFill>
            <a:prstDash val="solid"/>
          </a:ln>
        </p:spPr>
      </p:sp>
      <p:sp>
        <p:nvSpPr>
          <p:cNvPr id="58" name="Shape 56"/>
          <p:cNvSpPr/>
          <p:nvPr/>
        </p:nvSpPr>
        <p:spPr>
          <a:xfrm>
            <a:off x="4878324" y="3209544"/>
            <a:ext cx="27432" cy="27432"/>
          </a:xfrm>
          <a:prstGeom prst="ellipse">
            <a:avLst/>
          </a:prstGeom>
          <a:solidFill>
            <a:srgbClr val="5A5248"/>
          </a:solidFill>
          <a:ln w="9525">
            <a:solidFill>
              <a:srgbClr val="5A5248"/>
            </a:solidFill>
            <a:prstDash val="solid"/>
          </a:ln>
        </p:spPr>
      </p:sp>
      <p:sp>
        <p:nvSpPr>
          <p:cNvPr id="59" name="Shape 57"/>
          <p:cNvSpPr/>
          <p:nvPr/>
        </p:nvSpPr>
        <p:spPr>
          <a:xfrm>
            <a:off x="5152644" y="3209544"/>
            <a:ext cx="27432" cy="27432"/>
          </a:xfrm>
          <a:prstGeom prst="ellipse">
            <a:avLst/>
          </a:prstGeom>
          <a:solidFill>
            <a:srgbClr val="5A5248"/>
          </a:solidFill>
          <a:ln w="9525">
            <a:solidFill>
              <a:srgbClr val="5A5248"/>
            </a:solidFill>
            <a:prstDash val="solid"/>
          </a:ln>
        </p:spPr>
      </p:sp>
      <p:sp>
        <p:nvSpPr>
          <p:cNvPr id="60" name="Shape 58"/>
          <p:cNvSpPr/>
          <p:nvPr/>
        </p:nvSpPr>
        <p:spPr>
          <a:xfrm>
            <a:off x="4768596" y="3044952"/>
            <a:ext cx="27432" cy="27432"/>
          </a:xfrm>
          <a:prstGeom prst="ellipse">
            <a:avLst/>
          </a:prstGeom>
          <a:solidFill>
            <a:srgbClr val="5A5248"/>
          </a:solidFill>
          <a:ln w="9525">
            <a:solidFill>
              <a:srgbClr val="5A5248"/>
            </a:solidFill>
            <a:prstDash val="solid"/>
          </a:ln>
        </p:spPr>
      </p:sp>
      <p:sp>
        <p:nvSpPr>
          <p:cNvPr id="61" name="Shape 59"/>
          <p:cNvSpPr/>
          <p:nvPr/>
        </p:nvSpPr>
        <p:spPr>
          <a:xfrm>
            <a:off x="5262372" y="3044952"/>
            <a:ext cx="27432" cy="27432"/>
          </a:xfrm>
          <a:prstGeom prst="ellipse">
            <a:avLst/>
          </a:prstGeom>
          <a:solidFill>
            <a:srgbClr val="5A5248"/>
          </a:solidFill>
          <a:ln w="9525">
            <a:solidFill>
              <a:srgbClr val="5A5248"/>
            </a:solidFill>
            <a:prstDash val="solid"/>
          </a:ln>
        </p:spPr>
      </p:sp>
      <p:sp>
        <p:nvSpPr>
          <p:cNvPr id="62" name="Shape 60"/>
          <p:cNvSpPr/>
          <p:nvPr/>
        </p:nvSpPr>
        <p:spPr>
          <a:xfrm>
            <a:off x="1929384" y="2825496"/>
            <a:ext cx="804672" cy="804672"/>
          </a:xfrm>
          <a:prstGeom prst="ellipse">
            <a:avLst/>
          </a:prstGeom>
          <a:ln w="31750">
            <a:solidFill>
              <a:srgbClr val="C8414C"/>
            </a:solidFill>
            <a:prstDash val="solid"/>
          </a:ln>
        </p:spPr>
      </p:sp>
      <p:sp>
        <p:nvSpPr>
          <p:cNvPr id="63" name="Shape 61"/>
          <p:cNvSpPr/>
          <p:nvPr/>
        </p:nvSpPr>
        <p:spPr>
          <a:xfrm>
            <a:off x="4626864" y="2779776"/>
            <a:ext cx="804672" cy="804672"/>
          </a:xfrm>
          <a:prstGeom prst="ellipse">
            <a:avLst/>
          </a:prstGeom>
          <a:ln w="31750">
            <a:solidFill>
              <a:srgbClr val="C8414C"/>
            </a:solidFill>
            <a:prstDash val="solid"/>
          </a:ln>
        </p:spPr>
      </p:sp>
      <p:sp>
        <p:nvSpPr>
          <p:cNvPr id="64" name="Text 62"/>
          <p:cNvSpPr/>
          <p:nvPr/>
        </p:nvSpPr>
        <p:spPr>
          <a:xfrm>
            <a:off x="685800" y="3931920"/>
            <a:ext cx="2331720" cy="50292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pale moth </a:t>
            </a:r>
            <a:r>
              <a:rPr lang="en-US" sz="1000" b="1" dirty="0">
                <a:solidFill>
                  <a:srgbClr val="262B3A"/>
                </a:solidFill>
                <a:latin typeface="Calibri" pitchFamily="34" charset="0"/>
                <a:ea typeface="Calibri" pitchFamily="34" charset="-122"/>
                <a:cs typeface="Calibri" pitchFamily="34" charset="-120"/>
              </a:rPr>
              <a:t>camouflaged</a:t>
            </a:r>
            <a:r>
              <a:rPr lang="en-US" sz="1000" dirty="0">
                <a:solidFill>
                  <a:srgbClr val="262B3A"/>
                </a:solidFill>
                <a:latin typeface="Calibri" pitchFamily="34" charset="0"/>
                <a:ea typeface="Calibri" pitchFamily="34" charset="-122"/>
                <a:cs typeface="Calibri" pitchFamily="34" charset="-120"/>
              </a:rPr>
              <a:t>; dark moth easily </a:t>
            </a:r>
            <a:r>
              <a:rPr lang="en-US" sz="1000" b="1" dirty="0">
                <a:solidFill>
                  <a:srgbClr val="262B3A"/>
                </a:solidFill>
                <a:latin typeface="Calibri" pitchFamily="34" charset="0"/>
                <a:ea typeface="Calibri" pitchFamily="34" charset="-122"/>
                <a:cs typeface="Calibri" pitchFamily="34" charset="-120"/>
              </a:rPr>
              <a:t>seen</a:t>
            </a:r>
            <a:r>
              <a:rPr lang="en-US" sz="1000" dirty="0">
                <a:solidFill>
                  <a:srgbClr val="262B3A"/>
                </a:solidFill>
                <a:latin typeface="Calibri" pitchFamily="34" charset="0"/>
                <a:ea typeface="Calibri" pitchFamily="34" charset="-122"/>
                <a:cs typeface="Calibri" pitchFamily="34" charset="-120"/>
              </a:rPr>
              <a:t> and eaten by birds</a:t>
            </a:r>
            <a:endParaRPr lang="en-US" sz="1000" dirty="0"/>
          </a:p>
        </p:txBody>
      </p:sp>
      <p:sp>
        <p:nvSpPr>
          <p:cNvPr id="65" name="Text 63"/>
          <p:cNvSpPr/>
          <p:nvPr/>
        </p:nvSpPr>
        <p:spPr>
          <a:xfrm>
            <a:off x="3383280" y="3931920"/>
            <a:ext cx="2331720" cy="50292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dark moth </a:t>
            </a:r>
            <a:r>
              <a:rPr lang="en-US" sz="1000" b="1" dirty="0">
                <a:solidFill>
                  <a:srgbClr val="262B3A"/>
                </a:solidFill>
                <a:latin typeface="Calibri" pitchFamily="34" charset="0"/>
                <a:ea typeface="Calibri" pitchFamily="34" charset="-122"/>
                <a:cs typeface="Calibri" pitchFamily="34" charset="-120"/>
              </a:rPr>
              <a:t>camouflaged</a:t>
            </a:r>
            <a:r>
              <a:rPr lang="en-US" sz="1000" dirty="0">
                <a:solidFill>
                  <a:srgbClr val="262B3A"/>
                </a:solidFill>
                <a:latin typeface="Calibri" pitchFamily="34" charset="0"/>
                <a:ea typeface="Calibri" pitchFamily="34" charset="-122"/>
                <a:cs typeface="Calibri" pitchFamily="34" charset="-120"/>
              </a:rPr>
              <a:t>; pale moth easily </a:t>
            </a:r>
            <a:r>
              <a:rPr lang="en-US" sz="1000" b="1" dirty="0">
                <a:solidFill>
                  <a:srgbClr val="262B3A"/>
                </a:solidFill>
                <a:latin typeface="Calibri" pitchFamily="34" charset="0"/>
                <a:ea typeface="Calibri" pitchFamily="34" charset="-122"/>
                <a:cs typeface="Calibri" pitchFamily="34" charset="-120"/>
              </a:rPr>
              <a:t>seen</a:t>
            </a:r>
            <a:r>
              <a:rPr lang="en-US" sz="1000" dirty="0">
                <a:solidFill>
                  <a:srgbClr val="262B3A"/>
                </a:solidFill>
                <a:latin typeface="Calibri" pitchFamily="34" charset="0"/>
                <a:ea typeface="Calibri" pitchFamily="34" charset="-122"/>
                <a:cs typeface="Calibri" pitchFamily="34" charset="-120"/>
              </a:rPr>
              <a:t> and eaten by birds</a:t>
            </a:r>
            <a:endParaRPr lang="en-US" sz="1000" dirty="0"/>
          </a:p>
        </p:txBody>
      </p:sp>
      <p:sp>
        <p:nvSpPr>
          <p:cNvPr id="66" name="Shape 64"/>
          <p:cNvSpPr/>
          <p:nvPr/>
        </p:nvSpPr>
        <p:spPr>
          <a:xfrm>
            <a:off x="758952" y="4553712"/>
            <a:ext cx="219456" cy="219456"/>
          </a:xfrm>
          <a:prstGeom prst="ellipse">
            <a:avLst/>
          </a:prstGeom>
          <a:ln w="25400">
            <a:solidFill>
              <a:srgbClr val="C8414C"/>
            </a:solidFill>
            <a:prstDash val="solid"/>
          </a:ln>
        </p:spPr>
      </p:sp>
      <p:sp>
        <p:nvSpPr>
          <p:cNvPr id="67" name="Text 65"/>
          <p:cNvSpPr/>
          <p:nvPr/>
        </p:nvSpPr>
        <p:spPr>
          <a:xfrm>
            <a:off x="1024128" y="4553712"/>
            <a:ext cx="2103120" cy="22860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 seen by predators (birds)</a:t>
            </a:r>
            <a:endParaRPr lang="en-US" sz="1000" dirty="0"/>
          </a:p>
        </p:txBody>
      </p:sp>
      <p:sp>
        <p:nvSpPr>
          <p:cNvPr id="68" name="Shape 66"/>
          <p:cNvSpPr/>
          <p:nvPr/>
        </p:nvSpPr>
        <p:spPr>
          <a:xfrm>
            <a:off x="3337560" y="4575658"/>
            <a:ext cx="182880" cy="197510"/>
          </a:xfrm>
          <a:custGeom>
            <a:avLst/>
            <a:gdLst/>
            <a:ahLst/>
            <a:cxnLst/>
            <a:rect l="l" t="t" r="r" b="b"/>
            <a:pathLst>
              <a:path w="182880" h="197510">
                <a:moveTo>
                  <a:pt x="182880" y="58522"/>
                </a:moveTo>
                <a:lnTo>
                  <a:pt x="0" y="0"/>
                </a:lnTo>
                <a:lnTo>
                  <a:pt x="21946" y="131674"/>
                </a:lnTo>
                <a:lnTo>
                  <a:pt x="109728" y="197510"/>
                </a:lnTo>
                <a:lnTo>
                  <a:pt x="182880" y="138989"/>
                </a:lnTo>
                <a:close/>
              </a:path>
            </a:pathLst>
          </a:custGeom>
          <a:solidFill>
            <a:srgbClr val="E9E3CF"/>
          </a:solidFill>
          <a:ln w="9525">
            <a:solidFill>
              <a:srgbClr val="8C8270"/>
            </a:solidFill>
            <a:prstDash val="solid"/>
          </a:ln>
        </p:spPr>
      </p:sp>
      <p:sp>
        <p:nvSpPr>
          <p:cNvPr id="69" name="Shape 67"/>
          <p:cNvSpPr/>
          <p:nvPr/>
        </p:nvSpPr>
        <p:spPr>
          <a:xfrm>
            <a:off x="3520440" y="4575658"/>
            <a:ext cx="182880" cy="197510"/>
          </a:xfrm>
          <a:custGeom>
            <a:avLst/>
            <a:gdLst/>
            <a:ahLst/>
            <a:cxnLst/>
            <a:rect l="l" t="t" r="r" b="b"/>
            <a:pathLst>
              <a:path w="182880" h="197510">
                <a:moveTo>
                  <a:pt x="0" y="58522"/>
                </a:moveTo>
                <a:lnTo>
                  <a:pt x="182880" y="0"/>
                </a:lnTo>
                <a:lnTo>
                  <a:pt x="160934" y="131674"/>
                </a:lnTo>
                <a:lnTo>
                  <a:pt x="73152" y="197510"/>
                </a:lnTo>
                <a:lnTo>
                  <a:pt x="0" y="138989"/>
                </a:lnTo>
                <a:close/>
              </a:path>
            </a:pathLst>
          </a:custGeom>
          <a:solidFill>
            <a:srgbClr val="E9E3CF"/>
          </a:solidFill>
          <a:ln w="9525">
            <a:solidFill>
              <a:srgbClr val="8C8270"/>
            </a:solidFill>
            <a:prstDash val="solid"/>
          </a:ln>
        </p:spPr>
      </p:sp>
      <p:sp>
        <p:nvSpPr>
          <p:cNvPr id="70" name="Shape 68"/>
          <p:cNvSpPr/>
          <p:nvPr/>
        </p:nvSpPr>
        <p:spPr>
          <a:xfrm>
            <a:off x="3503981" y="4597603"/>
            <a:ext cx="32918" cy="153619"/>
          </a:xfrm>
          <a:prstGeom prst="ellipse">
            <a:avLst/>
          </a:prstGeom>
          <a:solidFill>
            <a:srgbClr val="4A3F35"/>
          </a:solidFill>
          <a:ln w="6350">
            <a:solidFill>
              <a:srgbClr val="2A221C"/>
            </a:solidFill>
            <a:prstDash val="solid"/>
          </a:ln>
        </p:spPr>
      </p:sp>
      <p:sp>
        <p:nvSpPr>
          <p:cNvPr id="71" name="Shape 69"/>
          <p:cNvSpPr/>
          <p:nvPr/>
        </p:nvSpPr>
        <p:spPr>
          <a:xfrm flipH="1" flipV="1">
            <a:off x="3476549" y="4546397"/>
            <a:ext cx="36576" cy="58522"/>
          </a:xfrm>
          <a:prstGeom prst="line">
            <a:avLst/>
          </a:prstGeom>
          <a:noFill/>
          <a:ln w="9525">
            <a:solidFill>
              <a:srgbClr val="2A221C"/>
            </a:solidFill>
            <a:prstDash val="solid"/>
          </a:ln>
        </p:spPr>
      </p:sp>
      <p:sp>
        <p:nvSpPr>
          <p:cNvPr id="72" name="Shape 70"/>
          <p:cNvSpPr/>
          <p:nvPr/>
        </p:nvSpPr>
        <p:spPr>
          <a:xfrm flipV="1">
            <a:off x="3527755" y="4546397"/>
            <a:ext cx="36576" cy="58522"/>
          </a:xfrm>
          <a:prstGeom prst="line">
            <a:avLst/>
          </a:prstGeom>
          <a:noFill/>
          <a:ln w="9525">
            <a:solidFill>
              <a:srgbClr val="2A221C"/>
            </a:solidFill>
            <a:prstDash val="solid"/>
          </a:ln>
        </p:spPr>
      </p:sp>
      <p:sp>
        <p:nvSpPr>
          <p:cNvPr id="73" name="Shape 71"/>
          <p:cNvSpPr/>
          <p:nvPr/>
        </p:nvSpPr>
        <p:spPr>
          <a:xfrm>
            <a:off x="3410712" y="4637837"/>
            <a:ext cx="14630" cy="14630"/>
          </a:xfrm>
          <a:prstGeom prst="ellipse">
            <a:avLst/>
          </a:prstGeom>
          <a:solidFill>
            <a:srgbClr val="5A5248"/>
          </a:solidFill>
          <a:ln w="9525">
            <a:solidFill>
              <a:srgbClr val="5A5248"/>
            </a:solidFill>
            <a:prstDash val="solid"/>
          </a:ln>
        </p:spPr>
      </p:sp>
      <p:sp>
        <p:nvSpPr>
          <p:cNvPr id="74" name="Shape 72"/>
          <p:cNvSpPr/>
          <p:nvPr/>
        </p:nvSpPr>
        <p:spPr>
          <a:xfrm>
            <a:off x="3615538" y="4637837"/>
            <a:ext cx="14630" cy="14630"/>
          </a:xfrm>
          <a:prstGeom prst="ellipse">
            <a:avLst/>
          </a:prstGeom>
          <a:solidFill>
            <a:srgbClr val="5A5248"/>
          </a:solidFill>
          <a:ln w="9525">
            <a:solidFill>
              <a:srgbClr val="5A5248"/>
            </a:solidFill>
            <a:prstDash val="solid"/>
          </a:ln>
        </p:spPr>
      </p:sp>
      <p:sp>
        <p:nvSpPr>
          <p:cNvPr id="75" name="Shape 73"/>
          <p:cNvSpPr/>
          <p:nvPr/>
        </p:nvSpPr>
        <p:spPr>
          <a:xfrm>
            <a:off x="3439973" y="4692701"/>
            <a:ext cx="14630" cy="14630"/>
          </a:xfrm>
          <a:prstGeom prst="ellipse">
            <a:avLst/>
          </a:prstGeom>
          <a:solidFill>
            <a:srgbClr val="5A5248"/>
          </a:solidFill>
          <a:ln w="9525">
            <a:solidFill>
              <a:srgbClr val="5A5248"/>
            </a:solidFill>
            <a:prstDash val="solid"/>
          </a:ln>
        </p:spPr>
      </p:sp>
      <p:sp>
        <p:nvSpPr>
          <p:cNvPr id="76" name="Shape 74"/>
          <p:cNvSpPr/>
          <p:nvPr/>
        </p:nvSpPr>
        <p:spPr>
          <a:xfrm>
            <a:off x="3586277" y="4692701"/>
            <a:ext cx="14630" cy="14630"/>
          </a:xfrm>
          <a:prstGeom prst="ellipse">
            <a:avLst/>
          </a:prstGeom>
          <a:solidFill>
            <a:srgbClr val="5A5248"/>
          </a:solidFill>
          <a:ln w="9525">
            <a:solidFill>
              <a:srgbClr val="5A5248"/>
            </a:solidFill>
            <a:prstDash val="solid"/>
          </a:ln>
        </p:spPr>
      </p:sp>
      <p:sp>
        <p:nvSpPr>
          <p:cNvPr id="77" name="Shape 75"/>
          <p:cNvSpPr/>
          <p:nvPr/>
        </p:nvSpPr>
        <p:spPr>
          <a:xfrm>
            <a:off x="3381451" y="4604918"/>
            <a:ext cx="14630" cy="14630"/>
          </a:xfrm>
          <a:prstGeom prst="ellipse">
            <a:avLst/>
          </a:prstGeom>
          <a:solidFill>
            <a:srgbClr val="5A5248"/>
          </a:solidFill>
          <a:ln w="9525">
            <a:solidFill>
              <a:srgbClr val="5A5248"/>
            </a:solidFill>
            <a:prstDash val="solid"/>
          </a:ln>
        </p:spPr>
      </p:sp>
      <p:sp>
        <p:nvSpPr>
          <p:cNvPr id="78" name="Shape 76"/>
          <p:cNvSpPr/>
          <p:nvPr/>
        </p:nvSpPr>
        <p:spPr>
          <a:xfrm>
            <a:off x="3644798" y="4604918"/>
            <a:ext cx="14630" cy="14630"/>
          </a:xfrm>
          <a:prstGeom prst="ellipse">
            <a:avLst/>
          </a:prstGeom>
          <a:solidFill>
            <a:srgbClr val="5A5248"/>
          </a:solidFill>
          <a:ln w="9525">
            <a:solidFill>
              <a:srgbClr val="5A5248"/>
            </a:solidFill>
            <a:prstDash val="solid"/>
          </a:ln>
        </p:spPr>
      </p:sp>
      <p:sp>
        <p:nvSpPr>
          <p:cNvPr id="79" name="Text 77"/>
          <p:cNvSpPr/>
          <p:nvPr/>
        </p:nvSpPr>
        <p:spPr>
          <a:xfrm>
            <a:off x="3749040" y="4553712"/>
            <a:ext cx="731520" cy="22860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pale</a:t>
            </a:r>
            <a:endParaRPr lang="en-US" sz="1000" dirty="0"/>
          </a:p>
        </p:txBody>
      </p:sp>
      <p:sp>
        <p:nvSpPr>
          <p:cNvPr id="80" name="Shape 78"/>
          <p:cNvSpPr/>
          <p:nvPr/>
        </p:nvSpPr>
        <p:spPr>
          <a:xfrm>
            <a:off x="4251960" y="4575658"/>
            <a:ext cx="182880" cy="197510"/>
          </a:xfrm>
          <a:custGeom>
            <a:avLst/>
            <a:gdLst/>
            <a:ahLst/>
            <a:cxnLst/>
            <a:rect l="l" t="t" r="r" b="b"/>
            <a:pathLst>
              <a:path w="182880" h="197510">
                <a:moveTo>
                  <a:pt x="182880" y="58522"/>
                </a:moveTo>
                <a:lnTo>
                  <a:pt x="0" y="0"/>
                </a:lnTo>
                <a:lnTo>
                  <a:pt x="21946" y="131674"/>
                </a:lnTo>
                <a:lnTo>
                  <a:pt x="109728" y="197510"/>
                </a:lnTo>
                <a:lnTo>
                  <a:pt x="182880" y="138989"/>
                </a:lnTo>
                <a:close/>
              </a:path>
            </a:pathLst>
          </a:custGeom>
          <a:solidFill>
            <a:srgbClr val="2B2622"/>
          </a:solidFill>
          <a:ln w="9525">
            <a:solidFill>
              <a:srgbClr val="000000"/>
            </a:solidFill>
            <a:prstDash val="solid"/>
          </a:ln>
        </p:spPr>
      </p:sp>
      <p:sp>
        <p:nvSpPr>
          <p:cNvPr id="81" name="Shape 79"/>
          <p:cNvSpPr/>
          <p:nvPr/>
        </p:nvSpPr>
        <p:spPr>
          <a:xfrm>
            <a:off x="4434840" y="4575658"/>
            <a:ext cx="182880" cy="197510"/>
          </a:xfrm>
          <a:custGeom>
            <a:avLst/>
            <a:gdLst/>
            <a:ahLst/>
            <a:cxnLst/>
            <a:rect l="l" t="t" r="r" b="b"/>
            <a:pathLst>
              <a:path w="182880" h="197510">
                <a:moveTo>
                  <a:pt x="0" y="58522"/>
                </a:moveTo>
                <a:lnTo>
                  <a:pt x="182880" y="0"/>
                </a:lnTo>
                <a:lnTo>
                  <a:pt x="160934" y="131674"/>
                </a:lnTo>
                <a:lnTo>
                  <a:pt x="73152" y="197510"/>
                </a:lnTo>
                <a:lnTo>
                  <a:pt x="0" y="138989"/>
                </a:lnTo>
                <a:close/>
              </a:path>
            </a:pathLst>
          </a:custGeom>
          <a:solidFill>
            <a:srgbClr val="2B2622"/>
          </a:solidFill>
          <a:ln w="9525">
            <a:solidFill>
              <a:srgbClr val="000000"/>
            </a:solidFill>
            <a:prstDash val="solid"/>
          </a:ln>
        </p:spPr>
      </p:sp>
      <p:sp>
        <p:nvSpPr>
          <p:cNvPr id="82" name="Shape 80"/>
          <p:cNvSpPr/>
          <p:nvPr/>
        </p:nvSpPr>
        <p:spPr>
          <a:xfrm>
            <a:off x="4418381" y="4597603"/>
            <a:ext cx="32918" cy="153619"/>
          </a:xfrm>
          <a:prstGeom prst="ellipse">
            <a:avLst/>
          </a:prstGeom>
          <a:solidFill>
            <a:srgbClr val="4A3F35"/>
          </a:solidFill>
          <a:ln w="6350">
            <a:solidFill>
              <a:srgbClr val="2A221C"/>
            </a:solidFill>
            <a:prstDash val="solid"/>
          </a:ln>
        </p:spPr>
      </p:sp>
      <p:sp>
        <p:nvSpPr>
          <p:cNvPr id="83" name="Shape 81"/>
          <p:cNvSpPr/>
          <p:nvPr/>
        </p:nvSpPr>
        <p:spPr>
          <a:xfrm flipH="1" flipV="1">
            <a:off x="4390949" y="4546397"/>
            <a:ext cx="36576" cy="58522"/>
          </a:xfrm>
          <a:prstGeom prst="line">
            <a:avLst/>
          </a:prstGeom>
          <a:noFill/>
          <a:ln w="9525">
            <a:solidFill>
              <a:srgbClr val="2A221C"/>
            </a:solidFill>
            <a:prstDash val="solid"/>
          </a:ln>
        </p:spPr>
      </p:sp>
      <p:sp>
        <p:nvSpPr>
          <p:cNvPr id="84" name="Shape 82"/>
          <p:cNvSpPr/>
          <p:nvPr/>
        </p:nvSpPr>
        <p:spPr>
          <a:xfrm flipV="1">
            <a:off x="4442155" y="4546397"/>
            <a:ext cx="36576" cy="58522"/>
          </a:xfrm>
          <a:prstGeom prst="line">
            <a:avLst/>
          </a:prstGeom>
          <a:noFill/>
          <a:ln w="9525">
            <a:solidFill>
              <a:srgbClr val="2A221C"/>
            </a:solidFill>
            <a:prstDash val="solid"/>
          </a:ln>
        </p:spPr>
      </p:sp>
      <p:sp>
        <p:nvSpPr>
          <p:cNvPr id="85" name="Text 83"/>
          <p:cNvSpPr/>
          <p:nvPr/>
        </p:nvSpPr>
        <p:spPr>
          <a:xfrm>
            <a:off x="4663440" y="4553712"/>
            <a:ext cx="822960" cy="22860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dark</a:t>
            </a:r>
            <a:endParaRPr lang="en-US" sz="1000" dirty="0"/>
          </a:p>
        </p:txBody>
      </p:sp>
      <p:sp>
        <p:nvSpPr>
          <p:cNvPr id="86" name="Text 84"/>
          <p:cNvSpPr/>
          <p:nvPr/>
        </p:nvSpPr>
        <p:spPr>
          <a:xfrm>
            <a:off x="640080" y="4937760"/>
            <a:ext cx="5120640" cy="36576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Wing colour is controlled by a gene; the </a:t>
            </a:r>
            <a:r>
              <a:rPr lang="en-US" sz="1050" b="1" dirty="0">
                <a:solidFill>
                  <a:srgbClr val="262B3A"/>
                </a:solidFill>
                <a:latin typeface="Calibri" pitchFamily="34" charset="0"/>
                <a:ea typeface="Calibri" pitchFamily="34" charset="-122"/>
                <a:cs typeface="Calibri" pitchFamily="34" charset="-120"/>
              </a:rPr>
              <a:t>dark allele</a:t>
            </a:r>
            <a:r>
              <a:rPr lang="en-US" sz="1050" dirty="0">
                <a:solidFill>
                  <a:srgbClr val="262B3A"/>
                </a:solidFill>
                <a:latin typeface="Calibri" pitchFamily="34" charset="0"/>
                <a:ea typeface="Calibri" pitchFamily="34" charset="-122"/>
                <a:cs typeface="Calibri" pitchFamily="34" charset="-120"/>
              </a:rPr>
              <a:t> arose by </a:t>
            </a:r>
            <a:r>
              <a:rPr lang="en-US" sz="1050" b="1" dirty="0">
                <a:solidFill>
                  <a:srgbClr val="262B3A"/>
                </a:solidFill>
                <a:latin typeface="Calibri" pitchFamily="34" charset="0"/>
                <a:ea typeface="Calibri" pitchFamily="34" charset="-122"/>
                <a:cs typeface="Calibri" pitchFamily="34" charset="-120"/>
              </a:rPr>
              <a:t>mutation</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87" name="Shape 85"/>
          <p:cNvSpPr/>
          <p:nvPr/>
        </p:nvSpPr>
        <p:spPr>
          <a:xfrm>
            <a:off x="6217920" y="1188720"/>
            <a:ext cx="5559552" cy="813816"/>
          </a:xfrm>
          <a:prstGeom prst="roundRect">
            <a:avLst>
              <a:gd name="adj" fmla="val 5618"/>
            </a:avLst>
          </a:prstGeom>
          <a:solidFill>
            <a:srgbClr val="F4FAF9"/>
          </a:solidFill>
          <a:ln w="12700">
            <a:solidFill>
              <a:srgbClr val="CFE0DE"/>
            </a:solidFill>
            <a:prstDash val="solid"/>
          </a:ln>
        </p:spPr>
      </p:sp>
      <p:sp>
        <p:nvSpPr>
          <p:cNvPr id="88" name="Shape 86"/>
          <p:cNvSpPr/>
          <p:nvPr/>
        </p:nvSpPr>
        <p:spPr>
          <a:xfrm>
            <a:off x="6217920" y="1188720"/>
            <a:ext cx="1325880" cy="813816"/>
          </a:xfrm>
          <a:prstGeom prst="roundRect">
            <a:avLst>
              <a:gd name="adj" fmla="val 5618"/>
            </a:avLst>
          </a:prstGeom>
          <a:solidFill>
            <a:srgbClr val="0D7877"/>
          </a:solidFill>
          <a:ln/>
        </p:spPr>
      </p:sp>
      <p:sp>
        <p:nvSpPr>
          <p:cNvPr id="89" name="Text 87"/>
          <p:cNvSpPr/>
          <p:nvPr/>
        </p:nvSpPr>
        <p:spPr>
          <a:xfrm>
            <a:off x="6263640" y="1188720"/>
            <a:ext cx="1234440" cy="81381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Variation</a:t>
            </a:r>
            <a:endParaRPr lang="en-US" sz="1200" dirty="0"/>
          </a:p>
        </p:txBody>
      </p:sp>
      <p:sp>
        <p:nvSpPr>
          <p:cNvPr id="90" name="Text 88"/>
          <p:cNvSpPr/>
          <p:nvPr/>
        </p:nvSpPr>
        <p:spPr>
          <a:xfrm>
            <a:off x="7680960" y="1188720"/>
            <a:ext cx="4005072" cy="813816"/>
          </a:xfrm>
          <a:prstGeom prst="rect">
            <a:avLst/>
          </a:prstGeom>
          <a:noFill/>
          <a:ln/>
        </p:spPr>
        <p:txBody>
          <a:bodyPr wrap="square" lIns="0" tIns="0" rIns="0" bIns="0" rtlCol="0" anchor="ctr"/>
          <a:lstStyle/>
          <a:p>
            <a:pPr indent="0" marL="0">
              <a:buNone/>
            </a:pPr>
            <a:r>
              <a:rPr lang="en-US" sz="1150" dirty="0">
                <a:solidFill>
                  <a:srgbClr val="262B3A"/>
                </a:solidFill>
                <a:latin typeface="Calibri" pitchFamily="34" charset="0"/>
                <a:ea typeface="Calibri" pitchFamily="34" charset="-122"/>
                <a:cs typeface="Calibri" pitchFamily="34" charset="-120"/>
              </a:rPr>
              <a:t>Moths vary in wing colour (pale or dark) because of different </a:t>
            </a:r>
            <a:r>
              <a:rPr lang="en-US" sz="1150" b="1" dirty="0">
                <a:solidFill>
                  <a:srgbClr val="262B3A"/>
                </a:solidFill>
                <a:latin typeface="Calibri" pitchFamily="34" charset="0"/>
                <a:ea typeface="Calibri" pitchFamily="34" charset="-122"/>
                <a:cs typeface="Calibri" pitchFamily="34" charset="-120"/>
              </a:rPr>
              <a:t>alleles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91" name="Shape 89"/>
          <p:cNvSpPr/>
          <p:nvPr/>
        </p:nvSpPr>
        <p:spPr>
          <a:xfrm>
            <a:off x="6217920" y="2093976"/>
            <a:ext cx="5559552" cy="813816"/>
          </a:xfrm>
          <a:prstGeom prst="roundRect">
            <a:avLst>
              <a:gd name="adj" fmla="val 5618"/>
            </a:avLst>
          </a:prstGeom>
          <a:solidFill>
            <a:srgbClr val="FFFFFF"/>
          </a:solidFill>
          <a:ln w="12700">
            <a:solidFill>
              <a:srgbClr val="CFE0DE"/>
            </a:solidFill>
            <a:prstDash val="solid"/>
          </a:ln>
        </p:spPr>
      </p:sp>
      <p:sp>
        <p:nvSpPr>
          <p:cNvPr id="92" name="Shape 90"/>
          <p:cNvSpPr/>
          <p:nvPr/>
        </p:nvSpPr>
        <p:spPr>
          <a:xfrm>
            <a:off x="6217920" y="2093976"/>
            <a:ext cx="1325880" cy="813816"/>
          </a:xfrm>
          <a:prstGeom prst="roundRect">
            <a:avLst>
              <a:gd name="adj" fmla="val 5618"/>
            </a:avLst>
          </a:prstGeom>
          <a:solidFill>
            <a:srgbClr val="0D7877"/>
          </a:solidFill>
          <a:ln/>
        </p:spPr>
      </p:sp>
      <p:sp>
        <p:nvSpPr>
          <p:cNvPr id="93" name="Text 91"/>
          <p:cNvSpPr/>
          <p:nvPr/>
        </p:nvSpPr>
        <p:spPr>
          <a:xfrm>
            <a:off x="6263640" y="2093976"/>
            <a:ext cx="1234440" cy="81381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Change</a:t>
            </a:r>
            <a:endParaRPr lang="en-US" sz="1200" dirty="0"/>
          </a:p>
        </p:txBody>
      </p:sp>
      <p:sp>
        <p:nvSpPr>
          <p:cNvPr id="94" name="Text 92"/>
          <p:cNvSpPr/>
          <p:nvPr/>
        </p:nvSpPr>
        <p:spPr>
          <a:xfrm>
            <a:off x="7680960" y="2093976"/>
            <a:ext cx="4005072" cy="813816"/>
          </a:xfrm>
          <a:prstGeom prst="rect">
            <a:avLst/>
          </a:prstGeom>
          <a:noFill/>
          <a:ln/>
        </p:spPr>
        <p:txBody>
          <a:bodyPr wrap="square" lIns="0" tIns="0" rIns="0" bIns="0" rtlCol="0" anchor="ctr"/>
          <a:lstStyle/>
          <a:p>
            <a:pPr indent="0" marL="0">
              <a:buNone/>
            </a:pPr>
            <a:r>
              <a:rPr lang="en-US" sz="1150" dirty="0">
                <a:solidFill>
                  <a:srgbClr val="262B3A"/>
                </a:solidFill>
                <a:latin typeface="Calibri" pitchFamily="34" charset="0"/>
                <a:ea typeface="Calibri" pitchFamily="34" charset="-122"/>
                <a:cs typeface="Calibri" pitchFamily="34" charset="-120"/>
              </a:rPr>
              <a:t>Soot from factories blackens the bark (1800s).</a:t>
            </a:r>
            <a:endParaRPr lang="en-US" sz="1150" dirty="0"/>
          </a:p>
        </p:txBody>
      </p:sp>
      <p:sp>
        <p:nvSpPr>
          <p:cNvPr id="95" name="Shape 93"/>
          <p:cNvSpPr/>
          <p:nvPr/>
        </p:nvSpPr>
        <p:spPr>
          <a:xfrm>
            <a:off x="6217920" y="2999232"/>
            <a:ext cx="5559552" cy="813816"/>
          </a:xfrm>
          <a:prstGeom prst="roundRect">
            <a:avLst>
              <a:gd name="adj" fmla="val 5618"/>
            </a:avLst>
          </a:prstGeom>
          <a:solidFill>
            <a:srgbClr val="F4FAF9"/>
          </a:solidFill>
          <a:ln w="12700">
            <a:solidFill>
              <a:srgbClr val="CFE0DE"/>
            </a:solidFill>
            <a:prstDash val="solid"/>
          </a:ln>
        </p:spPr>
      </p:sp>
      <p:sp>
        <p:nvSpPr>
          <p:cNvPr id="96" name="Shape 94"/>
          <p:cNvSpPr/>
          <p:nvPr/>
        </p:nvSpPr>
        <p:spPr>
          <a:xfrm>
            <a:off x="6217920" y="2999232"/>
            <a:ext cx="1325880" cy="813816"/>
          </a:xfrm>
          <a:prstGeom prst="roundRect">
            <a:avLst>
              <a:gd name="adj" fmla="val 5618"/>
            </a:avLst>
          </a:prstGeom>
          <a:solidFill>
            <a:srgbClr val="0D7877"/>
          </a:solidFill>
          <a:ln/>
        </p:spPr>
      </p:sp>
      <p:sp>
        <p:nvSpPr>
          <p:cNvPr id="97" name="Text 95"/>
          <p:cNvSpPr/>
          <p:nvPr/>
        </p:nvSpPr>
        <p:spPr>
          <a:xfrm>
            <a:off x="6263640" y="2999232"/>
            <a:ext cx="1234440" cy="81381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Selection</a:t>
            </a:r>
            <a:endParaRPr lang="en-US" sz="1200" dirty="0"/>
          </a:p>
        </p:txBody>
      </p:sp>
      <p:sp>
        <p:nvSpPr>
          <p:cNvPr id="98" name="Text 96"/>
          <p:cNvSpPr/>
          <p:nvPr/>
        </p:nvSpPr>
        <p:spPr>
          <a:xfrm>
            <a:off x="7680960" y="2999232"/>
            <a:ext cx="4005072" cy="813816"/>
          </a:xfrm>
          <a:prstGeom prst="rect">
            <a:avLst/>
          </a:prstGeom>
          <a:noFill/>
          <a:ln/>
        </p:spPr>
        <p:txBody>
          <a:bodyPr wrap="square" lIns="0" tIns="0" rIns="0" bIns="0" rtlCol="0" anchor="ctr"/>
          <a:lstStyle/>
          <a:p>
            <a:pPr indent="0" marL="0">
              <a:buNone/>
            </a:pPr>
            <a:r>
              <a:rPr lang="en-US" sz="1150" dirty="0">
                <a:solidFill>
                  <a:srgbClr val="262B3A"/>
                </a:solidFill>
                <a:latin typeface="Calibri" pitchFamily="34" charset="0"/>
                <a:ea typeface="Calibri" pitchFamily="34" charset="-122"/>
                <a:cs typeface="Calibri" pitchFamily="34" charset="-120"/>
              </a:rPr>
              <a:t>Birds see and eat more </a:t>
            </a:r>
            <a:r>
              <a:rPr lang="en-US" sz="1150" b="1" dirty="0">
                <a:solidFill>
                  <a:srgbClr val="262B3A"/>
                </a:solidFill>
                <a:latin typeface="Calibri" pitchFamily="34" charset="0"/>
                <a:ea typeface="Calibri" pitchFamily="34" charset="-122"/>
                <a:cs typeface="Calibri" pitchFamily="34" charset="-120"/>
              </a:rPr>
              <a:t>pale</a:t>
            </a:r>
            <a:r>
              <a:rPr lang="en-US" sz="1150" dirty="0">
                <a:solidFill>
                  <a:srgbClr val="262B3A"/>
                </a:solidFill>
                <a:latin typeface="Calibri" pitchFamily="34" charset="0"/>
                <a:ea typeface="Calibri" pitchFamily="34" charset="-122"/>
                <a:cs typeface="Calibri" pitchFamily="34" charset="-120"/>
              </a:rPr>
              <a:t> moths. Dark moths are </a:t>
            </a:r>
            <a:r>
              <a:rPr lang="en-US" sz="1150" b="1" dirty="0">
                <a:solidFill>
                  <a:srgbClr val="262B3A"/>
                </a:solidFill>
                <a:latin typeface="Calibri" pitchFamily="34" charset="0"/>
                <a:ea typeface="Calibri" pitchFamily="34" charset="-122"/>
                <a:cs typeface="Calibri" pitchFamily="34" charset="-120"/>
              </a:rPr>
              <a:t>better suited</a:t>
            </a:r>
            <a:r>
              <a:rPr lang="en-US" sz="1150" dirty="0">
                <a:solidFill>
                  <a:srgbClr val="262B3A"/>
                </a:solidFill>
                <a:latin typeface="Calibri" pitchFamily="34" charset="0"/>
                <a:ea typeface="Calibri" pitchFamily="34" charset="-122"/>
                <a:cs typeface="Calibri" pitchFamily="34" charset="-120"/>
              </a:rPr>
              <a:t>: they survive.</a:t>
            </a:r>
            <a:endParaRPr lang="en-US" sz="1150" dirty="0"/>
          </a:p>
        </p:txBody>
      </p:sp>
      <p:sp>
        <p:nvSpPr>
          <p:cNvPr id="99" name="Shape 97"/>
          <p:cNvSpPr/>
          <p:nvPr/>
        </p:nvSpPr>
        <p:spPr>
          <a:xfrm>
            <a:off x="6217920" y="3904488"/>
            <a:ext cx="5559552" cy="813816"/>
          </a:xfrm>
          <a:prstGeom prst="roundRect">
            <a:avLst>
              <a:gd name="adj" fmla="val 5618"/>
            </a:avLst>
          </a:prstGeom>
          <a:solidFill>
            <a:srgbClr val="FFFFFF"/>
          </a:solidFill>
          <a:ln w="12700">
            <a:solidFill>
              <a:srgbClr val="CFE0DE"/>
            </a:solidFill>
            <a:prstDash val="solid"/>
          </a:ln>
        </p:spPr>
      </p:sp>
      <p:sp>
        <p:nvSpPr>
          <p:cNvPr id="100" name="Shape 98"/>
          <p:cNvSpPr/>
          <p:nvPr/>
        </p:nvSpPr>
        <p:spPr>
          <a:xfrm>
            <a:off x="6217920" y="3904488"/>
            <a:ext cx="1325880" cy="813816"/>
          </a:xfrm>
          <a:prstGeom prst="roundRect">
            <a:avLst>
              <a:gd name="adj" fmla="val 5618"/>
            </a:avLst>
          </a:prstGeom>
          <a:solidFill>
            <a:srgbClr val="0D7877"/>
          </a:solidFill>
          <a:ln/>
        </p:spPr>
      </p:sp>
      <p:sp>
        <p:nvSpPr>
          <p:cNvPr id="101" name="Text 99"/>
          <p:cNvSpPr/>
          <p:nvPr/>
        </p:nvSpPr>
        <p:spPr>
          <a:xfrm>
            <a:off x="6263640" y="3904488"/>
            <a:ext cx="1234440" cy="81381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Reproduce</a:t>
            </a:r>
            <a:endParaRPr lang="en-US" sz="1200" dirty="0"/>
          </a:p>
        </p:txBody>
      </p:sp>
      <p:sp>
        <p:nvSpPr>
          <p:cNvPr id="102" name="Text 100"/>
          <p:cNvSpPr/>
          <p:nvPr/>
        </p:nvSpPr>
        <p:spPr>
          <a:xfrm>
            <a:off x="7680960" y="3904488"/>
            <a:ext cx="4005072" cy="813816"/>
          </a:xfrm>
          <a:prstGeom prst="rect">
            <a:avLst/>
          </a:prstGeom>
          <a:noFill/>
          <a:ln/>
        </p:spPr>
        <p:txBody>
          <a:bodyPr wrap="square" lIns="0" tIns="0" rIns="0" bIns="0" rtlCol="0" anchor="ctr"/>
          <a:lstStyle/>
          <a:p>
            <a:pPr indent="0" marL="0">
              <a:buNone/>
            </a:pPr>
            <a:r>
              <a:rPr lang="en-US" sz="1150" dirty="0">
                <a:solidFill>
                  <a:srgbClr val="262B3A"/>
                </a:solidFill>
                <a:latin typeface="Calibri" pitchFamily="34" charset="0"/>
                <a:ea typeface="Calibri" pitchFamily="34" charset="-122"/>
                <a:cs typeface="Calibri" pitchFamily="34" charset="-120"/>
              </a:rPr>
              <a:t>Dark moths </a:t>
            </a:r>
            <a:r>
              <a:rPr lang="en-US" sz="1150" b="1" dirty="0">
                <a:solidFill>
                  <a:srgbClr val="262B3A"/>
                </a:solidFill>
                <a:latin typeface="Calibri" pitchFamily="34" charset="0"/>
                <a:ea typeface="Calibri" pitchFamily="34" charset="-122"/>
                <a:cs typeface="Calibri" pitchFamily="34" charset="-120"/>
              </a:rPr>
              <a:t>survive and breed</a:t>
            </a:r>
            <a:r>
              <a:rPr lang="en-US" sz="1150" dirty="0">
                <a:solidFill>
                  <a:srgbClr val="262B3A"/>
                </a:solidFill>
                <a:latin typeface="Calibri" pitchFamily="34" charset="0"/>
                <a:ea typeface="Calibri" pitchFamily="34" charset="-122"/>
                <a:cs typeface="Calibri" pitchFamily="34" charset="-120"/>
              </a:rPr>
              <a:t>, passing on the </a:t>
            </a:r>
            <a:r>
              <a:rPr lang="en-US" sz="1150" b="1" dirty="0">
                <a:solidFill>
                  <a:srgbClr val="262B3A"/>
                </a:solidFill>
                <a:latin typeface="Calibri" pitchFamily="34" charset="0"/>
                <a:ea typeface="Calibri" pitchFamily="34" charset="-122"/>
                <a:cs typeface="Calibri" pitchFamily="34" charset="-120"/>
              </a:rPr>
              <a:t>dark allele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03" name="Shape 101"/>
          <p:cNvSpPr/>
          <p:nvPr/>
        </p:nvSpPr>
        <p:spPr>
          <a:xfrm>
            <a:off x="6217920" y="4809744"/>
            <a:ext cx="5559552" cy="813816"/>
          </a:xfrm>
          <a:prstGeom prst="roundRect">
            <a:avLst>
              <a:gd name="adj" fmla="val 5618"/>
            </a:avLst>
          </a:prstGeom>
          <a:solidFill>
            <a:srgbClr val="F4FAF9"/>
          </a:solidFill>
          <a:ln w="12700">
            <a:solidFill>
              <a:srgbClr val="CFE0DE"/>
            </a:solidFill>
            <a:prstDash val="solid"/>
          </a:ln>
        </p:spPr>
      </p:sp>
      <p:sp>
        <p:nvSpPr>
          <p:cNvPr id="104" name="Shape 102"/>
          <p:cNvSpPr/>
          <p:nvPr/>
        </p:nvSpPr>
        <p:spPr>
          <a:xfrm>
            <a:off x="6217920" y="4809744"/>
            <a:ext cx="1325880" cy="813816"/>
          </a:xfrm>
          <a:prstGeom prst="roundRect">
            <a:avLst>
              <a:gd name="adj" fmla="val 5618"/>
            </a:avLst>
          </a:prstGeom>
          <a:solidFill>
            <a:srgbClr val="0D7877"/>
          </a:solidFill>
          <a:ln/>
        </p:spPr>
      </p:sp>
      <p:sp>
        <p:nvSpPr>
          <p:cNvPr id="105" name="Text 103"/>
          <p:cNvSpPr/>
          <p:nvPr/>
        </p:nvSpPr>
        <p:spPr>
          <a:xfrm>
            <a:off x="6263640" y="4809744"/>
            <a:ext cx="1234440" cy="81381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Evolution</a:t>
            </a:r>
            <a:endParaRPr lang="en-US" sz="1200" dirty="0"/>
          </a:p>
        </p:txBody>
      </p:sp>
      <p:sp>
        <p:nvSpPr>
          <p:cNvPr id="106" name="Text 104"/>
          <p:cNvSpPr/>
          <p:nvPr/>
        </p:nvSpPr>
        <p:spPr>
          <a:xfrm>
            <a:off x="7680960" y="4809744"/>
            <a:ext cx="4005072" cy="813816"/>
          </a:xfrm>
          <a:prstGeom prst="rect">
            <a:avLst/>
          </a:prstGeom>
          <a:noFill/>
          <a:ln/>
        </p:spPr>
        <p:txBody>
          <a:bodyPr wrap="square" lIns="0" tIns="0" rIns="0" bIns="0" rtlCol="0" anchor="ctr"/>
          <a:lstStyle/>
          <a:p>
            <a:pPr indent="0" marL="0">
              <a:buNone/>
            </a:pPr>
            <a:r>
              <a:rPr lang="en-US" sz="1150" dirty="0">
                <a:solidFill>
                  <a:srgbClr val="262B3A"/>
                </a:solidFill>
                <a:latin typeface="Calibri" pitchFamily="34" charset="0"/>
                <a:ea typeface="Calibri" pitchFamily="34" charset="-122"/>
                <a:cs typeface="Calibri" pitchFamily="34" charset="-120"/>
              </a:rPr>
              <a:t>Over many </a:t>
            </a:r>
            <a:r>
              <a:rPr lang="en-US" sz="1150" b="1" dirty="0">
                <a:solidFill>
                  <a:srgbClr val="262B3A"/>
                </a:solidFill>
                <a:latin typeface="Calibri" pitchFamily="34" charset="0"/>
                <a:ea typeface="Calibri" pitchFamily="34" charset="-122"/>
                <a:cs typeface="Calibri" pitchFamily="34" charset="-120"/>
              </a:rPr>
              <a:t>generations</a:t>
            </a:r>
            <a:r>
              <a:rPr lang="en-US" sz="1150" dirty="0">
                <a:solidFill>
                  <a:srgbClr val="262B3A"/>
                </a:solidFill>
                <a:latin typeface="Calibri" pitchFamily="34" charset="0"/>
                <a:ea typeface="Calibri" pitchFamily="34" charset="-122"/>
                <a:cs typeface="Calibri" pitchFamily="34" charset="-120"/>
              </a:rPr>
              <a:t> the dark allele and dark moths become </a:t>
            </a:r>
            <a:r>
              <a:rPr lang="en-US" sz="1150" b="1" dirty="0">
                <a:solidFill>
                  <a:srgbClr val="262B3A"/>
                </a:solidFill>
                <a:latin typeface="Calibri" pitchFamily="34" charset="0"/>
                <a:ea typeface="Calibri" pitchFamily="34" charset="-122"/>
                <a:cs typeface="Calibri" pitchFamily="34" charset="-120"/>
              </a:rPr>
              <a:t>more common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07" name="Shape 105"/>
          <p:cNvSpPr/>
          <p:nvPr/>
        </p:nvSpPr>
        <p:spPr>
          <a:xfrm>
            <a:off x="411480" y="5833872"/>
            <a:ext cx="11368735" cy="530352"/>
          </a:xfrm>
          <a:prstGeom prst="rect">
            <a:avLst/>
          </a:prstGeom>
          <a:solidFill>
            <a:srgbClr val="FFF4E0"/>
          </a:solidFill>
          <a:ln w="6350">
            <a:solidFill>
              <a:srgbClr val="F1D9A8"/>
            </a:solidFill>
            <a:prstDash val="solid"/>
          </a:ln>
        </p:spPr>
      </p:sp>
      <p:sp>
        <p:nvSpPr>
          <p:cNvPr id="108" name="Shape 106"/>
          <p:cNvSpPr/>
          <p:nvPr/>
        </p:nvSpPr>
        <p:spPr>
          <a:xfrm>
            <a:off x="411480" y="5833872"/>
            <a:ext cx="82296" cy="530352"/>
          </a:xfrm>
          <a:prstGeom prst="rect">
            <a:avLst/>
          </a:prstGeom>
          <a:solidFill>
            <a:srgbClr val="E39A2F"/>
          </a:solidFill>
          <a:ln w="12700">
            <a:solidFill>
              <a:srgbClr val="E39A2F"/>
            </a:solidFill>
            <a:prstDash val="solid"/>
          </a:ln>
        </p:spPr>
      </p:sp>
      <p:sp>
        <p:nvSpPr>
          <p:cNvPr id="109" name="Text 10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five steps to explain why </a:t>
            </a:r>
            <a:r>
              <a:rPr lang="en-US" sz="1150" b="1" dirty="0">
                <a:solidFill>
                  <a:srgbClr val="262B3A"/>
                </a:solidFill>
                <a:latin typeface="Calibri" pitchFamily="34" charset="0"/>
                <a:ea typeface="Calibri" pitchFamily="34" charset="-122"/>
                <a:cs typeface="Calibri" pitchFamily="34" charset="-120"/>
              </a:rPr>
              <a:t>pale</a:t>
            </a:r>
            <a:r>
              <a:rPr lang="en-US" sz="1150" dirty="0">
                <a:solidFill>
                  <a:srgbClr val="262B3A"/>
                </a:solidFill>
                <a:latin typeface="Calibri" pitchFamily="34" charset="0"/>
                <a:ea typeface="Calibri" pitchFamily="34" charset="-122"/>
                <a:cs typeface="Calibri" pitchFamily="34" charset="-120"/>
              </a:rPr>
              <a:t> moths became common again after the air was cleaned up in the 1950s–60s.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Data: peppered moths near Manchester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B6.1.3, B6.1.5 • evolution is a change in the inherited characteristics of a population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B6.1.3  |  10</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plotted to scale; values illustrative, based on historical accounts</a:t>
            </a:r>
            <a:endParaRPr lang="en-US" sz="1000" dirty="0"/>
          </a:p>
        </p:txBody>
      </p:sp>
      <p:sp>
        <p:nvSpPr>
          <p:cNvPr id="10" name="Shape 8"/>
          <p:cNvSpPr/>
          <p:nvPr/>
        </p:nvSpPr>
        <p:spPr>
          <a:xfrm>
            <a:off x="1325880" y="1463040"/>
            <a:ext cx="4434840" cy="3108960"/>
          </a:xfrm>
          <a:prstGeom prst="rect">
            <a:avLst/>
          </a:prstGeom>
          <a:solidFill>
            <a:srgbClr val="FFFFFF"/>
          </a:solidFill>
          <a:ln/>
        </p:spPr>
      </p:sp>
      <p:sp>
        <p:nvSpPr>
          <p:cNvPr id="11" name="Shape 9"/>
          <p:cNvSpPr/>
          <p:nvPr/>
        </p:nvSpPr>
        <p:spPr>
          <a:xfrm>
            <a:off x="1325880" y="1463040"/>
            <a:ext cx="91" cy="3108960"/>
          </a:xfrm>
          <a:prstGeom prst="line">
            <a:avLst/>
          </a:prstGeom>
          <a:noFill/>
          <a:ln w="6350">
            <a:solidFill>
              <a:srgbClr val="C5DCD9"/>
            </a:solidFill>
            <a:prstDash val="solid"/>
          </a:ln>
        </p:spPr>
      </p:sp>
      <p:sp>
        <p:nvSpPr>
          <p:cNvPr id="12" name="Shape 10"/>
          <p:cNvSpPr/>
          <p:nvPr/>
        </p:nvSpPr>
        <p:spPr>
          <a:xfrm>
            <a:off x="1572260" y="1463040"/>
            <a:ext cx="91" cy="3108960"/>
          </a:xfrm>
          <a:prstGeom prst="line">
            <a:avLst/>
          </a:prstGeom>
          <a:noFill/>
          <a:ln w="6350">
            <a:solidFill>
              <a:srgbClr val="E3EFED"/>
            </a:solidFill>
            <a:prstDash val="solid"/>
          </a:ln>
        </p:spPr>
      </p:sp>
      <p:sp>
        <p:nvSpPr>
          <p:cNvPr id="13" name="Shape 11"/>
          <p:cNvSpPr/>
          <p:nvPr/>
        </p:nvSpPr>
        <p:spPr>
          <a:xfrm>
            <a:off x="1818640" y="1463040"/>
            <a:ext cx="91" cy="3108960"/>
          </a:xfrm>
          <a:prstGeom prst="line">
            <a:avLst/>
          </a:prstGeom>
          <a:noFill/>
          <a:ln w="6350">
            <a:solidFill>
              <a:srgbClr val="C5DCD9"/>
            </a:solidFill>
            <a:prstDash val="solid"/>
          </a:ln>
        </p:spPr>
      </p:sp>
      <p:sp>
        <p:nvSpPr>
          <p:cNvPr id="14" name="Shape 12"/>
          <p:cNvSpPr/>
          <p:nvPr/>
        </p:nvSpPr>
        <p:spPr>
          <a:xfrm>
            <a:off x="2065020" y="1463040"/>
            <a:ext cx="91" cy="3108960"/>
          </a:xfrm>
          <a:prstGeom prst="line">
            <a:avLst/>
          </a:prstGeom>
          <a:noFill/>
          <a:ln w="6350">
            <a:solidFill>
              <a:srgbClr val="E3EFED"/>
            </a:solidFill>
            <a:prstDash val="solid"/>
          </a:ln>
        </p:spPr>
      </p:sp>
      <p:sp>
        <p:nvSpPr>
          <p:cNvPr id="15" name="Shape 13"/>
          <p:cNvSpPr/>
          <p:nvPr/>
        </p:nvSpPr>
        <p:spPr>
          <a:xfrm>
            <a:off x="2311400" y="1463040"/>
            <a:ext cx="91" cy="3108960"/>
          </a:xfrm>
          <a:prstGeom prst="line">
            <a:avLst/>
          </a:prstGeom>
          <a:noFill/>
          <a:ln w="6350">
            <a:solidFill>
              <a:srgbClr val="C5DCD9"/>
            </a:solidFill>
            <a:prstDash val="solid"/>
          </a:ln>
        </p:spPr>
      </p:sp>
      <p:sp>
        <p:nvSpPr>
          <p:cNvPr id="16" name="Shape 14"/>
          <p:cNvSpPr/>
          <p:nvPr/>
        </p:nvSpPr>
        <p:spPr>
          <a:xfrm>
            <a:off x="2557780" y="1463040"/>
            <a:ext cx="91" cy="3108960"/>
          </a:xfrm>
          <a:prstGeom prst="line">
            <a:avLst/>
          </a:prstGeom>
          <a:noFill/>
          <a:ln w="6350">
            <a:solidFill>
              <a:srgbClr val="E3EFED"/>
            </a:solidFill>
            <a:prstDash val="solid"/>
          </a:ln>
        </p:spPr>
      </p:sp>
      <p:sp>
        <p:nvSpPr>
          <p:cNvPr id="17" name="Shape 15"/>
          <p:cNvSpPr/>
          <p:nvPr/>
        </p:nvSpPr>
        <p:spPr>
          <a:xfrm>
            <a:off x="2804160" y="1463040"/>
            <a:ext cx="91" cy="3108960"/>
          </a:xfrm>
          <a:prstGeom prst="line">
            <a:avLst/>
          </a:prstGeom>
          <a:noFill/>
          <a:ln w="6350">
            <a:solidFill>
              <a:srgbClr val="C5DCD9"/>
            </a:solidFill>
            <a:prstDash val="solid"/>
          </a:ln>
        </p:spPr>
      </p:sp>
      <p:sp>
        <p:nvSpPr>
          <p:cNvPr id="18" name="Shape 16"/>
          <p:cNvSpPr/>
          <p:nvPr/>
        </p:nvSpPr>
        <p:spPr>
          <a:xfrm>
            <a:off x="3050540" y="1463040"/>
            <a:ext cx="91" cy="3108960"/>
          </a:xfrm>
          <a:prstGeom prst="line">
            <a:avLst/>
          </a:prstGeom>
          <a:noFill/>
          <a:ln w="6350">
            <a:solidFill>
              <a:srgbClr val="E3EFED"/>
            </a:solidFill>
            <a:prstDash val="solid"/>
          </a:ln>
        </p:spPr>
      </p:sp>
      <p:sp>
        <p:nvSpPr>
          <p:cNvPr id="19" name="Shape 17"/>
          <p:cNvSpPr/>
          <p:nvPr/>
        </p:nvSpPr>
        <p:spPr>
          <a:xfrm>
            <a:off x="3296920" y="1463040"/>
            <a:ext cx="91" cy="3108960"/>
          </a:xfrm>
          <a:prstGeom prst="line">
            <a:avLst/>
          </a:prstGeom>
          <a:noFill/>
          <a:ln w="6350">
            <a:solidFill>
              <a:srgbClr val="C5DCD9"/>
            </a:solidFill>
            <a:prstDash val="solid"/>
          </a:ln>
        </p:spPr>
      </p:sp>
      <p:sp>
        <p:nvSpPr>
          <p:cNvPr id="20" name="Shape 18"/>
          <p:cNvSpPr/>
          <p:nvPr/>
        </p:nvSpPr>
        <p:spPr>
          <a:xfrm>
            <a:off x="3543300" y="1463040"/>
            <a:ext cx="91" cy="3108960"/>
          </a:xfrm>
          <a:prstGeom prst="line">
            <a:avLst/>
          </a:prstGeom>
          <a:noFill/>
          <a:ln w="6350">
            <a:solidFill>
              <a:srgbClr val="E3EFED"/>
            </a:solidFill>
            <a:prstDash val="solid"/>
          </a:ln>
        </p:spPr>
      </p:sp>
      <p:sp>
        <p:nvSpPr>
          <p:cNvPr id="21" name="Shape 19"/>
          <p:cNvSpPr/>
          <p:nvPr/>
        </p:nvSpPr>
        <p:spPr>
          <a:xfrm>
            <a:off x="3789680" y="1463040"/>
            <a:ext cx="91" cy="3108960"/>
          </a:xfrm>
          <a:prstGeom prst="line">
            <a:avLst/>
          </a:prstGeom>
          <a:noFill/>
          <a:ln w="6350">
            <a:solidFill>
              <a:srgbClr val="C5DCD9"/>
            </a:solidFill>
            <a:prstDash val="solid"/>
          </a:ln>
        </p:spPr>
      </p:sp>
      <p:sp>
        <p:nvSpPr>
          <p:cNvPr id="22" name="Shape 20"/>
          <p:cNvSpPr/>
          <p:nvPr/>
        </p:nvSpPr>
        <p:spPr>
          <a:xfrm>
            <a:off x="4036060" y="1463040"/>
            <a:ext cx="91" cy="3108960"/>
          </a:xfrm>
          <a:prstGeom prst="line">
            <a:avLst/>
          </a:prstGeom>
          <a:noFill/>
          <a:ln w="6350">
            <a:solidFill>
              <a:srgbClr val="E3EFED"/>
            </a:solidFill>
            <a:prstDash val="solid"/>
          </a:ln>
        </p:spPr>
      </p:sp>
      <p:sp>
        <p:nvSpPr>
          <p:cNvPr id="23" name="Shape 21"/>
          <p:cNvSpPr/>
          <p:nvPr/>
        </p:nvSpPr>
        <p:spPr>
          <a:xfrm>
            <a:off x="4282440" y="1463040"/>
            <a:ext cx="91" cy="3108960"/>
          </a:xfrm>
          <a:prstGeom prst="line">
            <a:avLst/>
          </a:prstGeom>
          <a:noFill/>
          <a:ln w="6350">
            <a:solidFill>
              <a:srgbClr val="C5DCD9"/>
            </a:solidFill>
            <a:prstDash val="solid"/>
          </a:ln>
        </p:spPr>
      </p:sp>
      <p:sp>
        <p:nvSpPr>
          <p:cNvPr id="24" name="Shape 22"/>
          <p:cNvSpPr/>
          <p:nvPr/>
        </p:nvSpPr>
        <p:spPr>
          <a:xfrm>
            <a:off x="4528820" y="1463040"/>
            <a:ext cx="91" cy="3108960"/>
          </a:xfrm>
          <a:prstGeom prst="line">
            <a:avLst/>
          </a:prstGeom>
          <a:noFill/>
          <a:ln w="6350">
            <a:solidFill>
              <a:srgbClr val="E3EFED"/>
            </a:solidFill>
            <a:prstDash val="solid"/>
          </a:ln>
        </p:spPr>
      </p:sp>
      <p:sp>
        <p:nvSpPr>
          <p:cNvPr id="25" name="Shape 23"/>
          <p:cNvSpPr/>
          <p:nvPr/>
        </p:nvSpPr>
        <p:spPr>
          <a:xfrm>
            <a:off x="4775200" y="1463040"/>
            <a:ext cx="91" cy="3108960"/>
          </a:xfrm>
          <a:prstGeom prst="line">
            <a:avLst/>
          </a:prstGeom>
          <a:noFill/>
          <a:ln w="6350">
            <a:solidFill>
              <a:srgbClr val="C5DCD9"/>
            </a:solidFill>
            <a:prstDash val="solid"/>
          </a:ln>
        </p:spPr>
      </p:sp>
      <p:sp>
        <p:nvSpPr>
          <p:cNvPr id="26" name="Shape 24"/>
          <p:cNvSpPr/>
          <p:nvPr/>
        </p:nvSpPr>
        <p:spPr>
          <a:xfrm>
            <a:off x="5021580" y="1463040"/>
            <a:ext cx="91" cy="3108960"/>
          </a:xfrm>
          <a:prstGeom prst="line">
            <a:avLst/>
          </a:prstGeom>
          <a:noFill/>
          <a:ln w="6350">
            <a:solidFill>
              <a:srgbClr val="E3EFED"/>
            </a:solidFill>
            <a:prstDash val="solid"/>
          </a:ln>
        </p:spPr>
      </p:sp>
      <p:sp>
        <p:nvSpPr>
          <p:cNvPr id="27" name="Shape 25"/>
          <p:cNvSpPr/>
          <p:nvPr/>
        </p:nvSpPr>
        <p:spPr>
          <a:xfrm>
            <a:off x="5267960" y="1463040"/>
            <a:ext cx="91" cy="3108960"/>
          </a:xfrm>
          <a:prstGeom prst="line">
            <a:avLst/>
          </a:prstGeom>
          <a:noFill/>
          <a:ln w="6350">
            <a:solidFill>
              <a:srgbClr val="C5DCD9"/>
            </a:solidFill>
            <a:prstDash val="solid"/>
          </a:ln>
        </p:spPr>
      </p:sp>
      <p:sp>
        <p:nvSpPr>
          <p:cNvPr id="28" name="Shape 26"/>
          <p:cNvSpPr/>
          <p:nvPr/>
        </p:nvSpPr>
        <p:spPr>
          <a:xfrm>
            <a:off x="5514340" y="1463040"/>
            <a:ext cx="91" cy="3108960"/>
          </a:xfrm>
          <a:prstGeom prst="line">
            <a:avLst/>
          </a:prstGeom>
          <a:noFill/>
          <a:ln w="6350">
            <a:solidFill>
              <a:srgbClr val="E3EFED"/>
            </a:solidFill>
            <a:prstDash val="solid"/>
          </a:ln>
        </p:spPr>
      </p:sp>
      <p:sp>
        <p:nvSpPr>
          <p:cNvPr id="29" name="Shape 27"/>
          <p:cNvSpPr/>
          <p:nvPr/>
        </p:nvSpPr>
        <p:spPr>
          <a:xfrm>
            <a:off x="5760720" y="1463040"/>
            <a:ext cx="91" cy="3108960"/>
          </a:xfrm>
          <a:prstGeom prst="line">
            <a:avLst/>
          </a:prstGeom>
          <a:noFill/>
          <a:ln w="6350">
            <a:solidFill>
              <a:srgbClr val="C5DCD9"/>
            </a:solidFill>
            <a:prstDash val="solid"/>
          </a:ln>
        </p:spPr>
      </p:sp>
      <p:sp>
        <p:nvSpPr>
          <p:cNvPr id="30" name="Shape 28"/>
          <p:cNvSpPr/>
          <p:nvPr/>
        </p:nvSpPr>
        <p:spPr>
          <a:xfrm>
            <a:off x="1325880" y="4572000"/>
            <a:ext cx="4434840" cy="91"/>
          </a:xfrm>
          <a:prstGeom prst="line">
            <a:avLst/>
          </a:prstGeom>
          <a:noFill/>
          <a:ln w="6350">
            <a:solidFill>
              <a:srgbClr val="C5DCD9"/>
            </a:solidFill>
            <a:prstDash val="solid"/>
          </a:ln>
        </p:spPr>
      </p:sp>
      <p:sp>
        <p:nvSpPr>
          <p:cNvPr id="31" name="Shape 29"/>
          <p:cNvSpPr/>
          <p:nvPr/>
        </p:nvSpPr>
        <p:spPr>
          <a:xfrm>
            <a:off x="1325880" y="4261104"/>
            <a:ext cx="4434840" cy="91"/>
          </a:xfrm>
          <a:prstGeom prst="line">
            <a:avLst/>
          </a:prstGeom>
          <a:noFill/>
          <a:ln w="6350">
            <a:solidFill>
              <a:srgbClr val="E3EFED"/>
            </a:solidFill>
            <a:prstDash val="solid"/>
          </a:ln>
        </p:spPr>
      </p:sp>
      <p:sp>
        <p:nvSpPr>
          <p:cNvPr id="32" name="Shape 30"/>
          <p:cNvSpPr/>
          <p:nvPr/>
        </p:nvSpPr>
        <p:spPr>
          <a:xfrm>
            <a:off x="1325880" y="3950208"/>
            <a:ext cx="4434840" cy="91"/>
          </a:xfrm>
          <a:prstGeom prst="line">
            <a:avLst/>
          </a:prstGeom>
          <a:noFill/>
          <a:ln w="6350">
            <a:solidFill>
              <a:srgbClr val="C5DCD9"/>
            </a:solidFill>
            <a:prstDash val="solid"/>
          </a:ln>
        </p:spPr>
      </p:sp>
      <p:sp>
        <p:nvSpPr>
          <p:cNvPr id="33" name="Shape 31"/>
          <p:cNvSpPr/>
          <p:nvPr/>
        </p:nvSpPr>
        <p:spPr>
          <a:xfrm>
            <a:off x="1325880" y="3639312"/>
            <a:ext cx="4434840" cy="91"/>
          </a:xfrm>
          <a:prstGeom prst="line">
            <a:avLst/>
          </a:prstGeom>
          <a:noFill/>
          <a:ln w="6350">
            <a:solidFill>
              <a:srgbClr val="E3EFED"/>
            </a:solidFill>
            <a:prstDash val="solid"/>
          </a:ln>
        </p:spPr>
      </p:sp>
      <p:sp>
        <p:nvSpPr>
          <p:cNvPr id="34" name="Shape 32"/>
          <p:cNvSpPr/>
          <p:nvPr/>
        </p:nvSpPr>
        <p:spPr>
          <a:xfrm>
            <a:off x="1325880" y="3328416"/>
            <a:ext cx="4434840" cy="91"/>
          </a:xfrm>
          <a:prstGeom prst="line">
            <a:avLst/>
          </a:prstGeom>
          <a:noFill/>
          <a:ln w="6350">
            <a:solidFill>
              <a:srgbClr val="C5DCD9"/>
            </a:solidFill>
            <a:prstDash val="solid"/>
          </a:ln>
        </p:spPr>
      </p:sp>
      <p:sp>
        <p:nvSpPr>
          <p:cNvPr id="35" name="Shape 33"/>
          <p:cNvSpPr/>
          <p:nvPr/>
        </p:nvSpPr>
        <p:spPr>
          <a:xfrm>
            <a:off x="1325880" y="3017520"/>
            <a:ext cx="4434840" cy="91"/>
          </a:xfrm>
          <a:prstGeom prst="line">
            <a:avLst/>
          </a:prstGeom>
          <a:noFill/>
          <a:ln w="6350">
            <a:solidFill>
              <a:srgbClr val="E3EFED"/>
            </a:solidFill>
            <a:prstDash val="solid"/>
          </a:ln>
        </p:spPr>
      </p:sp>
      <p:sp>
        <p:nvSpPr>
          <p:cNvPr id="36" name="Shape 34"/>
          <p:cNvSpPr/>
          <p:nvPr/>
        </p:nvSpPr>
        <p:spPr>
          <a:xfrm>
            <a:off x="1325880" y="2706624"/>
            <a:ext cx="4434840" cy="91"/>
          </a:xfrm>
          <a:prstGeom prst="line">
            <a:avLst/>
          </a:prstGeom>
          <a:noFill/>
          <a:ln w="6350">
            <a:solidFill>
              <a:srgbClr val="C5DCD9"/>
            </a:solidFill>
            <a:prstDash val="solid"/>
          </a:ln>
        </p:spPr>
      </p:sp>
      <p:sp>
        <p:nvSpPr>
          <p:cNvPr id="37" name="Shape 35"/>
          <p:cNvSpPr/>
          <p:nvPr/>
        </p:nvSpPr>
        <p:spPr>
          <a:xfrm>
            <a:off x="1325880" y="2395728"/>
            <a:ext cx="4434840" cy="91"/>
          </a:xfrm>
          <a:prstGeom prst="line">
            <a:avLst/>
          </a:prstGeom>
          <a:noFill/>
          <a:ln w="6350">
            <a:solidFill>
              <a:srgbClr val="E3EFED"/>
            </a:solidFill>
            <a:prstDash val="solid"/>
          </a:ln>
        </p:spPr>
      </p:sp>
      <p:sp>
        <p:nvSpPr>
          <p:cNvPr id="38" name="Shape 36"/>
          <p:cNvSpPr/>
          <p:nvPr/>
        </p:nvSpPr>
        <p:spPr>
          <a:xfrm>
            <a:off x="1325880" y="2084832"/>
            <a:ext cx="4434840" cy="91"/>
          </a:xfrm>
          <a:prstGeom prst="line">
            <a:avLst/>
          </a:prstGeom>
          <a:noFill/>
          <a:ln w="6350">
            <a:solidFill>
              <a:srgbClr val="C5DCD9"/>
            </a:solidFill>
            <a:prstDash val="solid"/>
          </a:ln>
        </p:spPr>
      </p:sp>
      <p:sp>
        <p:nvSpPr>
          <p:cNvPr id="39" name="Shape 37"/>
          <p:cNvSpPr/>
          <p:nvPr/>
        </p:nvSpPr>
        <p:spPr>
          <a:xfrm>
            <a:off x="1325880" y="1773936"/>
            <a:ext cx="4434840" cy="91"/>
          </a:xfrm>
          <a:prstGeom prst="line">
            <a:avLst/>
          </a:prstGeom>
          <a:noFill/>
          <a:ln w="6350">
            <a:solidFill>
              <a:srgbClr val="E3EFED"/>
            </a:solidFill>
            <a:prstDash val="solid"/>
          </a:ln>
        </p:spPr>
      </p:sp>
      <p:sp>
        <p:nvSpPr>
          <p:cNvPr id="40" name="Shape 38"/>
          <p:cNvSpPr/>
          <p:nvPr/>
        </p:nvSpPr>
        <p:spPr>
          <a:xfrm>
            <a:off x="1325880" y="1463040"/>
            <a:ext cx="4434840" cy="91"/>
          </a:xfrm>
          <a:prstGeom prst="line">
            <a:avLst/>
          </a:prstGeom>
          <a:noFill/>
          <a:ln w="6350">
            <a:solidFill>
              <a:srgbClr val="C5DCD9"/>
            </a:solidFill>
            <a:prstDash val="solid"/>
          </a:ln>
        </p:spPr>
      </p:sp>
      <p:sp>
        <p:nvSpPr>
          <p:cNvPr id="41" name="Shape 39"/>
          <p:cNvSpPr/>
          <p:nvPr/>
        </p:nvSpPr>
        <p:spPr>
          <a:xfrm>
            <a:off x="1325880" y="4572000"/>
            <a:ext cx="4434840" cy="91"/>
          </a:xfrm>
          <a:prstGeom prst="line">
            <a:avLst/>
          </a:prstGeom>
          <a:noFill/>
          <a:ln w="19050">
            <a:solidFill>
              <a:srgbClr val="133536"/>
            </a:solidFill>
            <a:prstDash val="solid"/>
          </a:ln>
        </p:spPr>
      </p:sp>
      <p:sp>
        <p:nvSpPr>
          <p:cNvPr id="42" name="Shape 40"/>
          <p:cNvSpPr/>
          <p:nvPr/>
        </p:nvSpPr>
        <p:spPr>
          <a:xfrm flipV="1">
            <a:off x="1325880" y="1463040"/>
            <a:ext cx="91" cy="3108960"/>
          </a:xfrm>
          <a:prstGeom prst="line">
            <a:avLst/>
          </a:prstGeom>
          <a:noFill/>
          <a:ln w="19050">
            <a:solidFill>
              <a:srgbClr val="133536"/>
            </a:solidFill>
            <a:prstDash val="solid"/>
          </a:ln>
        </p:spPr>
      </p:sp>
      <p:sp>
        <p:nvSpPr>
          <p:cNvPr id="43" name="Shape 41"/>
          <p:cNvSpPr/>
          <p:nvPr/>
        </p:nvSpPr>
        <p:spPr>
          <a:xfrm>
            <a:off x="1325880" y="4572000"/>
            <a:ext cx="91" cy="54864"/>
          </a:xfrm>
          <a:prstGeom prst="line">
            <a:avLst/>
          </a:prstGeom>
          <a:noFill/>
          <a:ln w="12700">
            <a:solidFill>
              <a:srgbClr val="133536"/>
            </a:solidFill>
            <a:prstDash val="solid"/>
          </a:ln>
        </p:spPr>
      </p:sp>
      <p:sp>
        <p:nvSpPr>
          <p:cNvPr id="44" name="Text 42"/>
          <p:cNvSpPr/>
          <p:nvPr/>
        </p:nvSpPr>
        <p:spPr>
          <a:xfrm>
            <a:off x="105156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1840</a:t>
            </a:r>
            <a:endParaRPr lang="en-US" sz="1000" dirty="0"/>
          </a:p>
        </p:txBody>
      </p:sp>
      <p:sp>
        <p:nvSpPr>
          <p:cNvPr id="45" name="Shape 43"/>
          <p:cNvSpPr/>
          <p:nvPr/>
        </p:nvSpPr>
        <p:spPr>
          <a:xfrm>
            <a:off x="1818640" y="4572000"/>
            <a:ext cx="91" cy="54864"/>
          </a:xfrm>
          <a:prstGeom prst="line">
            <a:avLst/>
          </a:prstGeom>
          <a:noFill/>
          <a:ln w="12700">
            <a:solidFill>
              <a:srgbClr val="133536"/>
            </a:solidFill>
            <a:prstDash val="solid"/>
          </a:ln>
        </p:spPr>
      </p:sp>
      <p:sp>
        <p:nvSpPr>
          <p:cNvPr id="46" name="Text 44"/>
          <p:cNvSpPr/>
          <p:nvPr/>
        </p:nvSpPr>
        <p:spPr>
          <a:xfrm>
            <a:off x="154432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1860</a:t>
            </a:r>
            <a:endParaRPr lang="en-US" sz="1000" dirty="0"/>
          </a:p>
        </p:txBody>
      </p:sp>
      <p:sp>
        <p:nvSpPr>
          <p:cNvPr id="47" name="Shape 45"/>
          <p:cNvSpPr/>
          <p:nvPr/>
        </p:nvSpPr>
        <p:spPr>
          <a:xfrm>
            <a:off x="2311400" y="4572000"/>
            <a:ext cx="91" cy="54864"/>
          </a:xfrm>
          <a:prstGeom prst="line">
            <a:avLst/>
          </a:prstGeom>
          <a:noFill/>
          <a:ln w="12700">
            <a:solidFill>
              <a:srgbClr val="133536"/>
            </a:solidFill>
            <a:prstDash val="solid"/>
          </a:ln>
        </p:spPr>
      </p:sp>
      <p:sp>
        <p:nvSpPr>
          <p:cNvPr id="48" name="Text 46"/>
          <p:cNvSpPr/>
          <p:nvPr/>
        </p:nvSpPr>
        <p:spPr>
          <a:xfrm>
            <a:off x="203708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1880</a:t>
            </a:r>
            <a:endParaRPr lang="en-US" sz="1000" dirty="0"/>
          </a:p>
        </p:txBody>
      </p:sp>
      <p:sp>
        <p:nvSpPr>
          <p:cNvPr id="49" name="Shape 47"/>
          <p:cNvSpPr/>
          <p:nvPr/>
        </p:nvSpPr>
        <p:spPr>
          <a:xfrm>
            <a:off x="2804160" y="4572000"/>
            <a:ext cx="91" cy="54864"/>
          </a:xfrm>
          <a:prstGeom prst="line">
            <a:avLst/>
          </a:prstGeom>
          <a:noFill/>
          <a:ln w="12700">
            <a:solidFill>
              <a:srgbClr val="133536"/>
            </a:solidFill>
            <a:prstDash val="solid"/>
          </a:ln>
        </p:spPr>
      </p:sp>
      <p:sp>
        <p:nvSpPr>
          <p:cNvPr id="50" name="Text 48"/>
          <p:cNvSpPr/>
          <p:nvPr/>
        </p:nvSpPr>
        <p:spPr>
          <a:xfrm>
            <a:off x="252984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1900</a:t>
            </a:r>
            <a:endParaRPr lang="en-US" sz="1000" dirty="0"/>
          </a:p>
        </p:txBody>
      </p:sp>
      <p:sp>
        <p:nvSpPr>
          <p:cNvPr id="51" name="Shape 49"/>
          <p:cNvSpPr/>
          <p:nvPr/>
        </p:nvSpPr>
        <p:spPr>
          <a:xfrm>
            <a:off x="3296920" y="4572000"/>
            <a:ext cx="91" cy="54864"/>
          </a:xfrm>
          <a:prstGeom prst="line">
            <a:avLst/>
          </a:prstGeom>
          <a:noFill/>
          <a:ln w="12700">
            <a:solidFill>
              <a:srgbClr val="133536"/>
            </a:solidFill>
            <a:prstDash val="solid"/>
          </a:ln>
        </p:spPr>
      </p:sp>
      <p:sp>
        <p:nvSpPr>
          <p:cNvPr id="52" name="Text 50"/>
          <p:cNvSpPr/>
          <p:nvPr/>
        </p:nvSpPr>
        <p:spPr>
          <a:xfrm>
            <a:off x="302260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1920</a:t>
            </a:r>
            <a:endParaRPr lang="en-US" sz="1000" dirty="0"/>
          </a:p>
        </p:txBody>
      </p:sp>
      <p:sp>
        <p:nvSpPr>
          <p:cNvPr id="53" name="Shape 51"/>
          <p:cNvSpPr/>
          <p:nvPr/>
        </p:nvSpPr>
        <p:spPr>
          <a:xfrm>
            <a:off x="3789680" y="4572000"/>
            <a:ext cx="91" cy="54864"/>
          </a:xfrm>
          <a:prstGeom prst="line">
            <a:avLst/>
          </a:prstGeom>
          <a:noFill/>
          <a:ln w="12700">
            <a:solidFill>
              <a:srgbClr val="133536"/>
            </a:solidFill>
            <a:prstDash val="solid"/>
          </a:ln>
        </p:spPr>
      </p:sp>
      <p:sp>
        <p:nvSpPr>
          <p:cNvPr id="54" name="Text 52"/>
          <p:cNvSpPr/>
          <p:nvPr/>
        </p:nvSpPr>
        <p:spPr>
          <a:xfrm>
            <a:off x="351536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1940</a:t>
            </a:r>
            <a:endParaRPr lang="en-US" sz="1000" dirty="0"/>
          </a:p>
        </p:txBody>
      </p:sp>
      <p:sp>
        <p:nvSpPr>
          <p:cNvPr id="55" name="Shape 53"/>
          <p:cNvSpPr/>
          <p:nvPr/>
        </p:nvSpPr>
        <p:spPr>
          <a:xfrm>
            <a:off x="4282440" y="4572000"/>
            <a:ext cx="91" cy="54864"/>
          </a:xfrm>
          <a:prstGeom prst="line">
            <a:avLst/>
          </a:prstGeom>
          <a:noFill/>
          <a:ln w="12700">
            <a:solidFill>
              <a:srgbClr val="133536"/>
            </a:solidFill>
            <a:prstDash val="solid"/>
          </a:ln>
        </p:spPr>
      </p:sp>
      <p:sp>
        <p:nvSpPr>
          <p:cNvPr id="56" name="Text 54"/>
          <p:cNvSpPr/>
          <p:nvPr/>
        </p:nvSpPr>
        <p:spPr>
          <a:xfrm>
            <a:off x="400812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1960</a:t>
            </a:r>
            <a:endParaRPr lang="en-US" sz="1000" dirty="0"/>
          </a:p>
        </p:txBody>
      </p:sp>
      <p:sp>
        <p:nvSpPr>
          <p:cNvPr id="57" name="Shape 55"/>
          <p:cNvSpPr/>
          <p:nvPr/>
        </p:nvSpPr>
        <p:spPr>
          <a:xfrm>
            <a:off x="4775200" y="4572000"/>
            <a:ext cx="91" cy="54864"/>
          </a:xfrm>
          <a:prstGeom prst="line">
            <a:avLst/>
          </a:prstGeom>
          <a:noFill/>
          <a:ln w="12700">
            <a:solidFill>
              <a:srgbClr val="133536"/>
            </a:solidFill>
            <a:prstDash val="solid"/>
          </a:ln>
        </p:spPr>
      </p:sp>
      <p:sp>
        <p:nvSpPr>
          <p:cNvPr id="58" name="Text 56"/>
          <p:cNvSpPr/>
          <p:nvPr/>
        </p:nvSpPr>
        <p:spPr>
          <a:xfrm>
            <a:off x="450088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1980</a:t>
            </a:r>
            <a:endParaRPr lang="en-US" sz="1000" dirty="0"/>
          </a:p>
        </p:txBody>
      </p:sp>
      <p:sp>
        <p:nvSpPr>
          <p:cNvPr id="59" name="Shape 57"/>
          <p:cNvSpPr/>
          <p:nvPr/>
        </p:nvSpPr>
        <p:spPr>
          <a:xfrm>
            <a:off x="5267960" y="4572000"/>
            <a:ext cx="91" cy="54864"/>
          </a:xfrm>
          <a:prstGeom prst="line">
            <a:avLst/>
          </a:prstGeom>
          <a:noFill/>
          <a:ln w="12700">
            <a:solidFill>
              <a:srgbClr val="133536"/>
            </a:solidFill>
            <a:prstDash val="solid"/>
          </a:ln>
        </p:spPr>
      </p:sp>
      <p:sp>
        <p:nvSpPr>
          <p:cNvPr id="60" name="Text 58"/>
          <p:cNvSpPr/>
          <p:nvPr/>
        </p:nvSpPr>
        <p:spPr>
          <a:xfrm>
            <a:off x="499364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2000</a:t>
            </a:r>
            <a:endParaRPr lang="en-US" sz="1000" dirty="0"/>
          </a:p>
        </p:txBody>
      </p:sp>
      <p:sp>
        <p:nvSpPr>
          <p:cNvPr id="61" name="Shape 59"/>
          <p:cNvSpPr/>
          <p:nvPr/>
        </p:nvSpPr>
        <p:spPr>
          <a:xfrm>
            <a:off x="5760720" y="4572000"/>
            <a:ext cx="91" cy="54864"/>
          </a:xfrm>
          <a:prstGeom prst="line">
            <a:avLst/>
          </a:prstGeom>
          <a:noFill/>
          <a:ln w="12700">
            <a:solidFill>
              <a:srgbClr val="133536"/>
            </a:solidFill>
            <a:prstDash val="solid"/>
          </a:ln>
        </p:spPr>
      </p:sp>
      <p:sp>
        <p:nvSpPr>
          <p:cNvPr id="62" name="Text 60"/>
          <p:cNvSpPr/>
          <p:nvPr/>
        </p:nvSpPr>
        <p:spPr>
          <a:xfrm>
            <a:off x="5486400" y="46268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2020</a:t>
            </a:r>
            <a:endParaRPr lang="en-US" sz="1000" dirty="0"/>
          </a:p>
        </p:txBody>
      </p:sp>
      <p:sp>
        <p:nvSpPr>
          <p:cNvPr id="63" name="Shape 61"/>
          <p:cNvSpPr/>
          <p:nvPr/>
        </p:nvSpPr>
        <p:spPr>
          <a:xfrm>
            <a:off x="1271016" y="4572000"/>
            <a:ext cx="54864" cy="91"/>
          </a:xfrm>
          <a:prstGeom prst="line">
            <a:avLst/>
          </a:prstGeom>
          <a:noFill/>
          <a:ln w="12700">
            <a:solidFill>
              <a:srgbClr val="133536"/>
            </a:solidFill>
            <a:prstDash val="solid"/>
          </a:ln>
        </p:spPr>
      </p:sp>
      <p:sp>
        <p:nvSpPr>
          <p:cNvPr id="64" name="Text 62"/>
          <p:cNvSpPr/>
          <p:nvPr/>
        </p:nvSpPr>
        <p:spPr>
          <a:xfrm>
            <a:off x="886968" y="4480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5" name="Shape 63"/>
          <p:cNvSpPr/>
          <p:nvPr/>
        </p:nvSpPr>
        <p:spPr>
          <a:xfrm>
            <a:off x="1271016" y="3950208"/>
            <a:ext cx="54864" cy="91"/>
          </a:xfrm>
          <a:prstGeom prst="line">
            <a:avLst/>
          </a:prstGeom>
          <a:noFill/>
          <a:ln w="12700">
            <a:solidFill>
              <a:srgbClr val="133536"/>
            </a:solidFill>
            <a:prstDash val="solid"/>
          </a:ln>
        </p:spPr>
      </p:sp>
      <p:sp>
        <p:nvSpPr>
          <p:cNvPr id="66" name="Text 64"/>
          <p:cNvSpPr/>
          <p:nvPr/>
        </p:nvSpPr>
        <p:spPr>
          <a:xfrm>
            <a:off x="886968" y="385876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7" name="Shape 65"/>
          <p:cNvSpPr/>
          <p:nvPr/>
        </p:nvSpPr>
        <p:spPr>
          <a:xfrm>
            <a:off x="1271016" y="3328416"/>
            <a:ext cx="54864" cy="91"/>
          </a:xfrm>
          <a:prstGeom prst="line">
            <a:avLst/>
          </a:prstGeom>
          <a:noFill/>
          <a:ln w="12700">
            <a:solidFill>
              <a:srgbClr val="133536"/>
            </a:solidFill>
            <a:prstDash val="solid"/>
          </a:ln>
        </p:spPr>
      </p:sp>
      <p:sp>
        <p:nvSpPr>
          <p:cNvPr id="68" name="Text 66"/>
          <p:cNvSpPr/>
          <p:nvPr/>
        </p:nvSpPr>
        <p:spPr>
          <a:xfrm>
            <a:off x="886968" y="323697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9" name="Shape 67"/>
          <p:cNvSpPr/>
          <p:nvPr/>
        </p:nvSpPr>
        <p:spPr>
          <a:xfrm>
            <a:off x="1271016" y="2706624"/>
            <a:ext cx="54864" cy="91"/>
          </a:xfrm>
          <a:prstGeom prst="line">
            <a:avLst/>
          </a:prstGeom>
          <a:noFill/>
          <a:ln w="12700">
            <a:solidFill>
              <a:srgbClr val="133536"/>
            </a:solidFill>
            <a:prstDash val="solid"/>
          </a:ln>
        </p:spPr>
      </p:sp>
      <p:sp>
        <p:nvSpPr>
          <p:cNvPr id="70" name="Text 68"/>
          <p:cNvSpPr/>
          <p:nvPr/>
        </p:nvSpPr>
        <p:spPr>
          <a:xfrm>
            <a:off x="886968" y="26151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1" name="Shape 69"/>
          <p:cNvSpPr/>
          <p:nvPr/>
        </p:nvSpPr>
        <p:spPr>
          <a:xfrm>
            <a:off x="1271016" y="2084832"/>
            <a:ext cx="54864" cy="91"/>
          </a:xfrm>
          <a:prstGeom prst="line">
            <a:avLst/>
          </a:prstGeom>
          <a:noFill/>
          <a:ln w="12700">
            <a:solidFill>
              <a:srgbClr val="133536"/>
            </a:solidFill>
            <a:prstDash val="solid"/>
          </a:ln>
        </p:spPr>
      </p:sp>
      <p:sp>
        <p:nvSpPr>
          <p:cNvPr id="72" name="Text 70"/>
          <p:cNvSpPr/>
          <p:nvPr/>
        </p:nvSpPr>
        <p:spPr>
          <a:xfrm>
            <a:off x="886968" y="19933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3" name="Shape 71"/>
          <p:cNvSpPr/>
          <p:nvPr/>
        </p:nvSpPr>
        <p:spPr>
          <a:xfrm>
            <a:off x="1271016" y="1463040"/>
            <a:ext cx="54864" cy="91"/>
          </a:xfrm>
          <a:prstGeom prst="line">
            <a:avLst/>
          </a:prstGeom>
          <a:noFill/>
          <a:ln w="12700">
            <a:solidFill>
              <a:srgbClr val="133536"/>
            </a:solidFill>
            <a:prstDash val="solid"/>
          </a:ln>
        </p:spPr>
      </p:sp>
      <p:sp>
        <p:nvSpPr>
          <p:cNvPr id="74" name="Text 72"/>
          <p:cNvSpPr/>
          <p:nvPr/>
        </p:nvSpPr>
        <p:spPr>
          <a:xfrm>
            <a:off x="88696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75" name="Text 73"/>
          <p:cNvSpPr/>
          <p:nvPr/>
        </p:nvSpPr>
        <p:spPr>
          <a:xfrm>
            <a:off x="1325880" y="481888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Year</a:t>
            </a:r>
            <a:endParaRPr lang="en-US" sz="1050" dirty="0"/>
          </a:p>
        </p:txBody>
      </p:sp>
      <p:sp>
        <p:nvSpPr>
          <p:cNvPr id="76" name="Text 74"/>
          <p:cNvSpPr/>
          <p:nvPr/>
        </p:nvSpPr>
        <p:spPr>
          <a:xfrm rot="16200000">
            <a:off x="-795528" y="288950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 of moths that are dark</a:t>
            </a:r>
            <a:endParaRPr lang="en-US" sz="1050" dirty="0"/>
          </a:p>
        </p:txBody>
      </p:sp>
      <p:sp>
        <p:nvSpPr>
          <p:cNvPr id="77" name="Shape 75"/>
          <p:cNvSpPr/>
          <p:nvPr/>
        </p:nvSpPr>
        <p:spPr>
          <a:xfrm flipV="1">
            <a:off x="1522984" y="3328416"/>
            <a:ext cx="542036" cy="1181405"/>
          </a:xfrm>
          <a:prstGeom prst="line">
            <a:avLst/>
          </a:prstGeom>
          <a:noFill/>
          <a:ln w="28575">
            <a:solidFill>
              <a:srgbClr val="2B2622"/>
            </a:solidFill>
            <a:prstDash val="solid"/>
          </a:ln>
        </p:spPr>
      </p:sp>
      <p:sp>
        <p:nvSpPr>
          <p:cNvPr id="78" name="Shape 76"/>
          <p:cNvSpPr/>
          <p:nvPr/>
        </p:nvSpPr>
        <p:spPr>
          <a:xfrm flipV="1">
            <a:off x="2065020" y="1618488"/>
            <a:ext cx="615950" cy="1709928"/>
          </a:xfrm>
          <a:prstGeom prst="line">
            <a:avLst/>
          </a:prstGeom>
          <a:noFill/>
          <a:ln w="28575">
            <a:solidFill>
              <a:srgbClr val="2B2622"/>
            </a:solidFill>
            <a:prstDash val="solid"/>
          </a:ln>
        </p:spPr>
      </p:sp>
      <p:sp>
        <p:nvSpPr>
          <p:cNvPr id="79" name="Shape 77"/>
          <p:cNvSpPr/>
          <p:nvPr/>
        </p:nvSpPr>
        <p:spPr>
          <a:xfrm>
            <a:off x="2680970" y="1618488"/>
            <a:ext cx="615950" cy="91"/>
          </a:xfrm>
          <a:prstGeom prst="line">
            <a:avLst/>
          </a:prstGeom>
          <a:noFill/>
          <a:ln w="28575">
            <a:solidFill>
              <a:srgbClr val="2B2622"/>
            </a:solidFill>
            <a:prstDash val="solid"/>
          </a:ln>
        </p:spPr>
      </p:sp>
      <p:sp>
        <p:nvSpPr>
          <p:cNvPr id="80" name="Shape 78"/>
          <p:cNvSpPr/>
          <p:nvPr/>
        </p:nvSpPr>
        <p:spPr>
          <a:xfrm>
            <a:off x="3296920" y="1618488"/>
            <a:ext cx="739140" cy="155448"/>
          </a:xfrm>
          <a:prstGeom prst="line">
            <a:avLst/>
          </a:prstGeom>
          <a:noFill/>
          <a:ln w="28575">
            <a:solidFill>
              <a:srgbClr val="2B2622"/>
            </a:solidFill>
            <a:prstDash val="solid"/>
          </a:ln>
        </p:spPr>
      </p:sp>
      <p:sp>
        <p:nvSpPr>
          <p:cNvPr id="81" name="Shape 79"/>
          <p:cNvSpPr/>
          <p:nvPr/>
        </p:nvSpPr>
        <p:spPr>
          <a:xfrm>
            <a:off x="4036060" y="1773936"/>
            <a:ext cx="492760" cy="466344"/>
          </a:xfrm>
          <a:prstGeom prst="line">
            <a:avLst/>
          </a:prstGeom>
          <a:noFill/>
          <a:ln w="28575">
            <a:solidFill>
              <a:srgbClr val="2B2622"/>
            </a:solidFill>
            <a:prstDash val="solid"/>
          </a:ln>
        </p:spPr>
      </p:sp>
      <p:sp>
        <p:nvSpPr>
          <p:cNvPr id="82" name="Shape 80"/>
          <p:cNvSpPr/>
          <p:nvPr/>
        </p:nvSpPr>
        <p:spPr>
          <a:xfrm>
            <a:off x="4528820" y="2240280"/>
            <a:ext cx="369570" cy="1088136"/>
          </a:xfrm>
          <a:prstGeom prst="line">
            <a:avLst/>
          </a:prstGeom>
          <a:noFill/>
          <a:ln w="28575">
            <a:solidFill>
              <a:srgbClr val="2B2622"/>
            </a:solidFill>
            <a:prstDash val="solid"/>
          </a:ln>
        </p:spPr>
      </p:sp>
      <p:sp>
        <p:nvSpPr>
          <p:cNvPr id="83" name="Shape 81"/>
          <p:cNvSpPr/>
          <p:nvPr/>
        </p:nvSpPr>
        <p:spPr>
          <a:xfrm>
            <a:off x="4898390" y="3328416"/>
            <a:ext cx="369570" cy="932688"/>
          </a:xfrm>
          <a:prstGeom prst="line">
            <a:avLst/>
          </a:prstGeom>
          <a:noFill/>
          <a:ln w="28575">
            <a:solidFill>
              <a:srgbClr val="2B2622"/>
            </a:solidFill>
            <a:prstDash val="solid"/>
          </a:ln>
        </p:spPr>
      </p:sp>
      <p:sp>
        <p:nvSpPr>
          <p:cNvPr id="84" name="Shape 82"/>
          <p:cNvSpPr/>
          <p:nvPr/>
        </p:nvSpPr>
        <p:spPr>
          <a:xfrm>
            <a:off x="1477264" y="4464101"/>
            <a:ext cx="91440" cy="91440"/>
          </a:xfrm>
          <a:prstGeom prst="line">
            <a:avLst/>
          </a:prstGeom>
          <a:noFill/>
          <a:ln w="15875">
            <a:solidFill>
              <a:srgbClr val="C8414C"/>
            </a:solidFill>
            <a:prstDash val="solid"/>
          </a:ln>
        </p:spPr>
      </p:sp>
      <p:sp>
        <p:nvSpPr>
          <p:cNvPr id="85" name="Shape 83"/>
          <p:cNvSpPr/>
          <p:nvPr/>
        </p:nvSpPr>
        <p:spPr>
          <a:xfrm flipV="1">
            <a:off x="1477264" y="4464101"/>
            <a:ext cx="91440" cy="91440"/>
          </a:xfrm>
          <a:prstGeom prst="line">
            <a:avLst/>
          </a:prstGeom>
          <a:noFill/>
          <a:ln w="15875">
            <a:solidFill>
              <a:srgbClr val="C8414C"/>
            </a:solidFill>
            <a:prstDash val="solid"/>
          </a:ln>
        </p:spPr>
      </p:sp>
      <p:sp>
        <p:nvSpPr>
          <p:cNvPr id="86" name="Shape 84"/>
          <p:cNvSpPr/>
          <p:nvPr/>
        </p:nvSpPr>
        <p:spPr>
          <a:xfrm>
            <a:off x="2019300" y="3282696"/>
            <a:ext cx="91440" cy="91440"/>
          </a:xfrm>
          <a:prstGeom prst="line">
            <a:avLst/>
          </a:prstGeom>
          <a:noFill/>
          <a:ln w="15875">
            <a:solidFill>
              <a:srgbClr val="C8414C"/>
            </a:solidFill>
            <a:prstDash val="solid"/>
          </a:ln>
        </p:spPr>
      </p:sp>
      <p:sp>
        <p:nvSpPr>
          <p:cNvPr id="87" name="Shape 85"/>
          <p:cNvSpPr/>
          <p:nvPr/>
        </p:nvSpPr>
        <p:spPr>
          <a:xfrm flipV="1">
            <a:off x="2019300" y="3282696"/>
            <a:ext cx="91440" cy="91440"/>
          </a:xfrm>
          <a:prstGeom prst="line">
            <a:avLst/>
          </a:prstGeom>
          <a:noFill/>
          <a:ln w="15875">
            <a:solidFill>
              <a:srgbClr val="C8414C"/>
            </a:solidFill>
            <a:prstDash val="solid"/>
          </a:ln>
        </p:spPr>
      </p:sp>
      <p:sp>
        <p:nvSpPr>
          <p:cNvPr id="88" name="Shape 86"/>
          <p:cNvSpPr/>
          <p:nvPr/>
        </p:nvSpPr>
        <p:spPr>
          <a:xfrm>
            <a:off x="2635250" y="1572768"/>
            <a:ext cx="91440" cy="91440"/>
          </a:xfrm>
          <a:prstGeom prst="line">
            <a:avLst/>
          </a:prstGeom>
          <a:noFill/>
          <a:ln w="15875">
            <a:solidFill>
              <a:srgbClr val="C8414C"/>
            </a:solidFill>
            <a:prstDash val="solid"/>
          </a:ln>
        </p:spPr>
      </p:sp>
      <p:sp>
        <p:nvSpPr>
          <p:cNvPr id="89" name="Shape 87"/>
          <p:cNvSpPr/>
          <p:nvPr/>
        </p:nvSpPr>
        <p:spPr>
          <a:xfrm flipV="1">
            <a:off x="2635250" y="1572768"/>
            <a:ext cx="91440" cy="91440"/>
          </a:xfrm>
          <a:prstGeom prst="line">
            <a:avLst/>
          </a:prstGeom>
          <a:noFill/>
          <a:ln w="15875">
            <a:solidFill>
              <a:srgbClr val="C8414C"/>
            </a:solidFill>
            <a:prstDash val="solid"/>
          </a:ln>
        </p:spPr>
      </p:sp>
      <p:sp>
        <p:nvSpPr>
          <p:cNvPr id="90" name="Shape 88"/>
          <p:cNvSpPr/>
          <p:nvPr/>
        </p:nvSpPr>
        <p:spPr>
          <a:xfrm>
            <a:off x="3251200" y="1572768"/>
            <a:ext cx="91440" cy="91440"/>
          </a:xfrm>
          <a:prstGeom prst="line">
            <a:avLst/>
          </a:prstGeom>
          <a:noFill/>
          <a:ln w="15875">
            <a:solidFill>
              <a:srgbClr val="C8414C"/>
            </a:solidFill>
            <a:prstDash val="solid"/>
          </a:ln>
        </p:spPr>
      </p:sp>
      <p:sp>
        <p:nvSpPr>
          <p:cNvPr id="91" name="Shape 89"/>
          <p:cNvSpPr/>
          <p:nvPr/>
        </p:nvSpPr>
        <p:spPr>
          <a:xfrm flipV="1">
            <a:off x="3251200" y="1572768"/>
            <a:ext cx="91440" cy="91440"/>
          </a:xfrm>
          <a:prstGeom prst="line">
            <a:avLst/>
          </a:prstGeom>
          <a:noFill/>
          <a:ln w="15875">
            <a:solidFill>
              <a:srgbClr val="C8414C"/>
            </a:solidFill>
            <a:prstDash val="solid"/>
          </a:ln>
        </p:spPr>
      </p:sp>
      <p:sp>
        <p:nvSpPr>
          <p:cNvPr id="92" name="Shape 90"/>
          <p:cNvSpPr/>
          <p:nvPr/>
        </p:nvSpPr>
        <p:spPr>
          <a:xfrm>
            <a:off x="3990340" y="1728216"/>
            <a:ext cx="91440" cy="91440"/>
          </a:xfrm>
          <a:prstGeom prst="line">
            <a:avLst/>
          </a:prstGeom>
          <a:noFill/>
          <a:ln w="15875">
            <a:solidFill>
              <a:srgbClr val="C8414C"/>
            </a:solidFill>
            <a:prstDash val="solid"/>
          </a:ln>
        </p:spPr>
      </p:sp>
      <p:sp>
        <p:nvSpPr>
          <p:cNvPr id="93" name="Shape 91"/>
          <p:cNvSpPr/>
          <p:nvPr/>
        </p:nvSpPr>
        <p:spPr>
          <a:xfrm flipV="1">
            <a:off x="3990340" y="1728216"/>
            <a:ext cx="91440" cy="91440"/>
          </a:xfrm>
          <a:prstGeom prst="line">
            <a:avLst/>
          </a:prstGeom>
          <a:noFill/>
          <a:ln w="15875">
            <a:solidFill>
              <a:srgbClr val="C8414C"/>
            </a:solidFill>
            <a:prstDash val="solid"/>
          </a:ln>
        </p:spPr>
      </p:sp>
      <p:sp>
        <p:nvSpPr>
          <p:cNvPr id="94" name="Shape 92"/>
          <p:cNvSpPr/>
          <p:nvPr/>
        </p:nvSpPr>
        <p:spPr>
          <a:xfrm>
            <a:off x="4483100" y="2194560"/>
            <a:ext cx="91440" cy="91440"/>
          </a:xfrm>
          <a:prstGeom prst="line">
            <a:avLst/>
          </a:prstGeom>
          <a:noFill/>
          <a:ln w="15875">
            <a:solidFill>
              <a:srgbClr val="C8414C"/>
            </a:solidFill>
            <a:prstDash val="solid"/>
          </a:ln>
        </p:spPr>
      </p:sp>
      <p:sp>
        <p:nvSpPr>
          <p:cNvPr id="95" name="Shape 93"/>
          <p:cNvSpPr/>
          <p:nvPr/>
        </p:nvSpPr>
        <p:spPr>
          <a:xfrm flipV="1">
            <a:off x="4483100" y="2194560"/>
            <a:ext cx="91440" cy="91440"/>
          </a:xfrm>
          <a:prstGeom prst="line">
            <a:avLst/>
          </a:prstGeom>
          <a:noFill/>
          <a:ln w="15875">
            <a:solidFill>
              <a:srgbClr val="C8414C"/>
            </a:solidFill>
            <a:prstDash val="solid"/>
          </a:ln>
        </p:spPr>
      </p:sp>
      <p:sp>
        <p:nvSpPr>
          <p:cNvPr id="96" name="Shape 94"/>
          <p:cNvSpPr/>
          <p:nvPr/>
        </p:nvSpPr>
        <p:spPr>
          <a:xfrm>
            <a:off x="4852670" y="3282696"/>
            <a:ext cx="91440" cy="91440"/>
          </a:xfrm>
          <a:prstGeom prst="line">
            <a:avLst/>
          </a:prstGeom>
          <a:noFill/>
          <a:ln w="15875">
            <a:solidFill>
              <a:srgbClr val="C8414C"/>
            </a:solidFill>
            <a:prstDash val="solid"/>
          </a:ln>
        </p:spPr>
      </p:sp>
      <p:sp>
        <p:nvSpPr>
          <p:cNvPr id="97" name="Shape 95"/>
          <p:cNvSpPr/>
          <p:nvPr/>
        </p:nvSpPr>
        <p:spPr>
          <a:xfrm flipV="1">
            <a:off x="4852670" y="3282696"/>
            <a:ext cx="91440" cy="91440"/>
          </a:xfrm>
          <a:prstGeom prst="line">
            <a:avLst/>
          </a:prstGeom>
          <a:noFill/>
          <a:ln w="15875">
            <a:solidFill>
              <a:srgbClr val="C8414C"/>
            </a:solidFill>
            <a:prstDash val="solid"/>
          </a:ln>
        </p:spPr>
      </p:sp>
      <p:sp>
        <p:nvSpPr>
          <p:cNvPr id="98" name="Shape 96"/>
          <p:cNvSpPr/>
          <p:nvPr/>
        </p:nvSpPr>
        <p:spPr>
          <a:xfrm>
            <a:off x="5222240" y="4215384"/>
            <a:ext cx="91440" cy="91440"/>
          </a:xfrm>
          <a:prstGeom prst="line">
            <a:avLst/>
          </a:prstGeom>
          <a:noFill/>
          <a:ln w="15875">
            <a:solidFill>
              <a:srgbClr val="C8414C"/>
            </a:solidFill>
            <a:prstDash val="solid"/>
          </a:ln>
        </p:spPr>
      </p:sp>
      <p:sp>
        <p:nvSpPr>
          <p:cNvPr id="99" name="Shape 97"/>
          <p:cNvSpPr/>
          <p:nvPr/>
        </p:nvSpPr>
        <p:spPr>
          <a:xfrm flipV="1">
            <a:off x="5222240" y="4215384"/>
            <a:ext cx="91440" cy="91440"/>
          </a:xfrm>
          <a:prstGeom prst="line">
            <a:avLst/>
          </a:prstGeom>
          <a:noFill/>
          <a:ln w="15875">
            <a:solidFill>
              <a:srgbClr val="C8414C"/>
            </a:solidFill>
            <a:prstDash val="solid"/>
          </a:ln>
        </p:spPr>
      </p:sp>
      <p:sp>
        <p:nvSpPr>
          <p:cNvPr id="100" name="Shape 98"/>
          <p:cNvSpPr/>
          <p:nvPr/>
        </p:nvSpPr>
        <p:spPr>
          <a:xfrm>
            <a:off x="4183888" y="1463040"/>
            <a:ext cx="91" cy="3108960"/>
          </a:xfrm>
          <a:prstGeom prst="line">
            <a:avLst/>
          </a:prstGeom>
          <a:noFill/>
          <a:ln w="19050">
            <a:solidFill>
              <a:srgbClr val="2E8B57"/>
            </a:solidFill>
            <a:prstDash val="dash"/>
          </a:ln>
        </p:spPr>
      </p:sp>
      <p:sp>
        <p:nvSpPr>
          <p:cNvPr id="101" name="Text 99"/>
          <p:cNvSpPr/>
          <p:nvPr/>
        </p:nvSpPr>
        <p:spPr>
          <a:xfrm>
            <a:off x="2858008" y="3888029"/>
            <a:ext cx="1280160" cy="219456"/>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1956 Clean Air Act</a:t>
            </a:r>
            <a:endParaRPr lang="en-US" sz="1000" dirty="0"/>
          </a:p>
        </p:txBody>
      </p:sp>
      <p:sp>
        <p:nvSpPr>
          <p:cNvPr id="102" name="Text 100"/>
          <p:cNvSpPr/>
          <p:nvPr/>
        </p:nvSpPr>
        <p:spPr>
          <a:xfrm>
            <a:off x="2262124" y="3017520"/>
            <a:ext cx="1280160" cy="219456"/>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soot from industry</a:t>
            </a:r>
            <a:endParaRPr lang="en-US" sz="1000" dirty="0"/>
          </a:p>
        </p:txBody>
      </p:sp>
      <p:sp>
        <p:nvSpPr>
          <p:cNvPr id="103" name="Shape 101"/>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104" name="Text 10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Reading the graph</a:t>
            </a:r>
            <a:endParaRPr lang="en-US" sz="1300" dirty="0"/>
          </a:p>
        </p:txBody>
      </p:sp>
      <p:sp>
        <p:nvSpPr>
          <p:cNvPr id="105" name="Text 103"/>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1848 only about </a:t>
            </a:r>
            <a:r>
              <a:rPr lang="en-US" sz="1100" b="1" dirty="0">
                <a:solidFill>
                  <a:srgbClr val="262B3A"/>
                </a:solidFill>
                <a:latin typeface="Calibri" pitchFamily="34" charset="0"/>
                <a:ea typeface="Calibri" pitchFamily="34" charset="-122"/>
                <a:cs typeface="Calibri" pitchFamily="34" charset="-120"/>
              </a:rPr>
              <a:t>2%</a:t>
            </a:r>
            <a:r>
              <a:rPr lang="en-US" sz="1100" dirty="0">
                <a:solidFill>
                  <a:srgbClr val="262B3A"/>
                </a:solidFill>
                <a:latin typeface="Calibri" pitchFamily="34" charset="0"/>
                <a:ea typeface="Calibri" pitchFamily="34" charset="-122"/>
                <a:cs typeface="Calibri" pitchFamily="34" charset="-120"/>
              </a:rPr>
              <a:t> of moths were dark. By 1895 it was about </a:t>
            </a:r>
            <a:r>
              <a:rPr lang="en-US" sz="1100" b="1" dirty="0">
                <a:solidFill>
                  <a:srgbClr val="262B3A"/>
                </a:solidFill>
                <a:latin typeface="Calibri" pitchFamily="34" charset="0"/>
                <a:ea typeface="Calibri" pitchFamily="34" charset="-122"/>
                <a:cs typeface="Calibri" pitchFamily="34" charset="-120"/>
              </a:rPr>
              <a:t>95%</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population</a:t>
            </a:r>
            <a:r>
              <a:rPr lang="en-US" sz="1100" dirty="0">
                <a:solidFill>
                  <a:srgbClr val="262B3A"/>
                </a:solidFill>
                <a:latin typeface="Calibri" pitchFamily="34" charset="0"/>
                <a:ea typeface="Calibri" pitchFamily="34" charset="-122"/>
                <a:cs typeface="Calibri" pitchFamily="34" charset="-120"/>
              </a:rPr>
              <a:t> changed, not individual moths: the </a:t>
            </a:r>
            <a:r>
              <a:rPr lang="en-US" sz="1100" b="1" dirty="0">
                <a:solidFill>
                  <a:srgbClr val="262B3A"/>
                </a:solidFill>
                <a:latin typeface="Calibri" pitchFamily="34" charset="0"/>
                <a:ea typeface="Calibri" pitchFamily="34" charset="-122"/>
                <a:cs typeface="Calibri" pitchFamily="34" charset="-120"/>
              </a:rPr>
              <a:t>dark allele</a:t>
            </a:r>
            <a:r>
              <a:rPr lang="en-US" sz="1100" dirty="0">
                <a:solidFill>
                  <a:srgbClr val="262B3A"/>
                </a:solidFill>
                <a:latin typeface="Calibri" pitchFamily="34" charset="0"/>
                <a:ea typeface="Calibri" pitchFamily="34" charset="-122"/>
                <a:cs typeface="Calibri" pitchFamily="34" charset="-120"/>
              </a:rPr>
              <a:t> became more common.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After the </a:t>
            </a:r>
            <a:r>
              <a:rPr lang="en-US" sz="1100" b="1" dirty="0">
                <a:solidFill>
                  <a:srgbClr val="262B3A"/>
                </a:solidFill>
                <a:latin typeface="Calibri" pitchFamily="34" charset="0"/>
                <a:ea typeface="Calibri" pitchFamily="34" charset="-122"/>
                <a:cs typeface="Calibri" pitchFamily="34" charset="-120"/>
              </a:rPr>
              <a:t>Clean Air Act</a:t>
            </a:r>
            <a:r>
              <a:rPr lang="en-US" sz="1100" dirty="0">
                <a:solidFill>
                  <a:srgbClr val="262B3A"/>
                </a:solidFill>
                <a:latin typeface="Calibri" pitchFamily="34" charset="0"/>
                <a:ea typeface="Calibri" pitchFamily="34" charset="-122"/>
                <a:cs typeface="Calibri" pitchFamily="34" charset="-120"/>
              </a:rPr>
              <a:t>, bark became paler again and dark moths </a:t>
            </a:r>
            <a:r>
              <a:rPr lang="en-US" sz="1100" b="1" dirty="0">
                <a:solidFill>
                  <a:srgbClr val="262B3A"/>
                </a:solidFill>
                <a:latin typeface="Calibri" pitchFamily="34" charset="0"/>
                <a:ea typeface="Calibri" pitchFamily="34" charset="-122"/>
                <a:cs typeface="Calibri" pitchFamily="34" charset="-120"/>
              </a:rPr>
              <a:t>fell</a:t>
            </a:r>
            <a:r>
              <a:rPr lang="en-US" sz="1100" dirty="0">
                <a:solidFill>
                  <a:srgbClr val="262B3A"/>
                </a:solidFill>
                <a:latin typeface="Calibri" pitchFamily="34" charset="0"/>
                <a:ea typeface="Calibri" pitchFamily="34" charset="-122"/>
                <a:cs typeface="Calibri" pitchFamily="34" charset="-120"/>
              </a:rPr>
              <a:t> to about 10% by 2000.</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This is </a:t>
            </a:r>
            <a:r>
              <a:rPr lang="en-US" sz="1100" b="1" dirty="0">
                <a:solidFill>
                  <a:srgbClr val="262B3A"/>
                </a:solidFill>
                <a:latin typeface="Calibri" pitchFamily="34" charset="0"/>
                <a:ea typeface="Calibri" pitchFamily="34" charset="-122"/>
                <a:cs typeface="Calibri" pitchFamily="34" charset="-120"/>
              </a:rPr>
              <a:t>evolution</a:t>
            </a:r>
            <a:r>
              <a:rPr lang="en-US" sz="1100" dirty="0">
                <a:solidFill>
                  <a:srgbClr val="262B3A"/>
                </a:solidFill>
                <a:latin typeface="Calibri" pitchFamily="34" charset="0"/>
                <a:ea typeface="Calibri" pitchFamily="34" charset="-122"/>
                <a:cs typeface="Calibri" pitchFamily="34" charset="-120"/>
              </a:rPr>
              <a:t>: a change in the inherited characteristics of a population over time, by natural selection.</a:t>
            </a:r>
            <a:endParaRPr lang="en-US" sz="1100" dirty="0"/>
          </a:p>
        </p:txBody>
      </p:sp>
      <p:sp>
        <p:nvSpPr>
          <p:cNvPr id="106" name="Shape 104"/>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107" name="Text 105"/>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describe the change</a:t>
            </a:r>
            <a:endParaRPr lang="en-US" sz="1300" dirty="0"/>
          </a:p>
        </p:txBody>
      </p:sp>
      <p:sp>
        <p:nvSpPr>
          <p:cNvPr id="108" name="Text 106"/>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By how much did the percentage of dark moths change from 1848 to 1895?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Subtract   </a:t>
            </a:r>
            <a:r>
              <a:rPr lang="en-US" sz="1050" dirty="0">
                <a:solidFill>
                  <a:srgbClr val="262B3A"/>
                </a:solidFill>
                <a:latin typeface="Calibri" pitchFamily="34" charset="0"/>
                <a:ea typeface="Calibri" pitchFamily="34" charset="-122"/>
                <a:cs typeface="Calibri" pitchFamily="34" charset="-120"/>
              </a:rPr>
              <a:t>95 − 2 = 93</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Time   </a:t>
            </a:r>
            <a:r>
              <a:rPr lang="en-US" sz="1050" dirty="0">
                <a:solidFill>
                  <a:srgbClr val="262B3A"/>
                </a:solidFill>
                <a:latin typeface="Calibri" pitchFamily="34" charset="0"/>
                <a:ea typeface="Calibri" pitchFamily="34" charset="-122"/>
                <a:cs typeface="Calibri" pitchFamily="34" charset="-120"/>
              </a:rPr>
              <a:t>1895 − 1848 = 47 years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a rise of </a:t>
            </a:r>
            <a:r>
              <a:rPr lang="en-US" sz="1050" b="1" dirty="0">
                <a:solidFill>
                  <a:srgbClr val="C8414C"/>
                </a:solidFill>
                <a:latin typeface="Calibri" pitchFamily="34" charset="0"/>
                <a:ea typeface="Calibri" pitchFamily="34" charset="-122"/>
                <a:cs typeface="Calibri" pitchFamily="34" charset="-120"/>
              </a:rPr>
              <a:t>93 percentage points</a:t>
            </a:r>
            <a:r>
              <a:rPr lang="en-US" sz="1050" b="1" dirty="0">
                <a:solidFill>
                  <a:srgbClr val="C8414C"/>
                </a:solidFill>
                <a:latin typeface="Calibri" pitchFamily="34" charset="0"/>
                <a:ea typeface="Calibri" pitchFamily="34" charset="-122"/>
                <a:cs typeface="Calibri" pitchFamily="34" charset="-120"/>
              </a:rPr>
              <a:t> in about 50 years</a:t>
            </a:r>
            <a:endParaRPr lang="en-US" sz="1050" dirty="0"/>
          </a:p>
        </p:txBody>
      </p:sp>
      <p:sp>
        <p:nvSpPr>
          <p:cNvPr id="109" name="Shape 107"/>
          <p:cNvSpPr/>
          <p:nvPr/>
        </p:nvSpPr>
        <p:spPr>
          <a:xfrm>
            <a:off x="411480" y="5833872"/>
            <a:ext cx="11368735" cy="530352"/>
          </a:xfrm>
          <a:prstGeom prst="rect">
            <a:avLst/>
          </a:prstGeom>
          <a:solidFill>
            <a:srgbClr val="FFF4E0"/>
          </a:solidFill>
          <a:ln w="6350">
            <a:solidFill>
              <a:srgbClr val="F1D9A8"/>
            </a:solidFill>
            <a:prstDash val="solid"/>
          </a:ln>
        </p:spPr>
      </p:sp>
      <p:sp>
        <p:nvSpPr>
          <p:cNvPr id="110" name="Shape 108"/>
          <p:cNvSpPr/>
          <p:nvPr/>
        </p:nvSpPr>
        <p:spPr>
          <a:xfrm>
            <a:off x="411480" y="5833872"/>
            <a:ext cx="82296" cy="530352"/>
          </a:xfrm>
          <a:prstGeom prst="rect">
            <a:avLst/>
          </a:prstGeom>
          <a:solidFill>
            <a:srgbClr val="E39A2F"/>
          </a:solidFill>
          <a:ln w="12700">
            <a:solidFill>
              <a:srgbClr val="E39A2F"/>
            </a:solidFill>
            <a:prstDash val="solid"/>
          </a:ln>
        </p:spPr>
      </p:sp>
      <p:sp>
        <p:nvSpPr>
          <p:cNvPr id="111" name="Text 10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1895, what </a:t>
            </a:r>
            <a:r>
              <a:rPr lang="en-US" sz="1150" b="1" dirty="0">
                <a:solidFill>
                  <a:srgbClr val="262B3A"/>
                </a:solidFill>
                <a:latin typeface="Calibri" pitchFamily="34" charset="0"/>
                <a:ea typeface="Calibri" pitchFamily="34" charset="-122"/>
                <a:cs typeface="Calibri" pitchFamily="34" charset="-120"/>
              </a:rPr>
              <a:t>percentage</a:t>
            </a:r>
            <a:r>
              <a:rPr lang="en-US" sz="1150" dirty="0">
                <a:solidFill>
                  <a:srgbClr val="262B3A"/>
                </a:solidFill>
                <a:latin typeface="Calibri" pitchFamily="34" charset="0"/>
                <a:ea typeface="Calibri" pitchFamily="34" charset="-122"/>
                <a:cs typeface="Calibri" pitchFamily="34" charset="-120"/>
              </a:rPr>
              <a:t> of moths were pale? In a sample of </a:t>
            </a:r>
            <a:r>
              <a:rPr lang="en-US" sz="1150" b="1" dirty="0">
                <a:solidFill>
                  <a:srgbClr val="262B3A"/>
                </a:solidFill>
                <a:latin typeface="Calibri" pitchFamily="34" charset="0"/>
                <a:ea typeface="Calibri" pitchFamily="34" charset="-122"/>
                <a:cs typeface="Calibri" pitchFamily="34" charset="-120"/>
              </a:rPr>
              <a:t>200</a:t>
            </a:r>
            <a:r>
              <a:rPr lang="en-US" sz="1150" dirty="0">
                <a:solidFill>
                  <a:srgbClr val="262B3A"/>
                </a:solidFill>
                <a:latin typeface="Calibri" pitchFamily="34" charset="0"/>
                <a:ea typeface="Calibri" pitchFamily="34" charset="-122"/>
                <a:cs typeface="Calibri" pitchFamily="34" charset="-120"/>
              </a:rPr>
              <a:t> moths caught in 1895, how many would you expect to be pale?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B6.1.3, B6.1.4 • competition and natural selection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competition</a:t>
            </a:r>
            <a:r>
              <a:rPr lang="en-US" sz="1250" dirty="0">
                <a:solidFill>
                  <a:srgbClr val="262B3A"/>
                </a:solidFill>
                <a:latin typeface="Calibri" pitchFamily="34" charset="0"/>
                <a:ea typeface="Calibri" pitchFamily="34" charset="-122"/>
                <a:cs typeface="Calibri" pitchFamily="34" charset="-120"/>
              </a:rPr>
              <a:t> is important for natural selection.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Before industry, most peppered moths were pale. Explain why.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writes: "The moths turned dark so that they would not be eaten." Explain what is wrong with this.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graph on the previous slide: describe how the percentage of dark moths changed between 1950 and 2000.</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Evolution and new species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B6.1.5 • natural selection may result in the formation of new species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B6.1.5  |  12</a:t>
            </a:r>
            <a:endParaRPr lang="en-US" sz="1000" dirty="0"/>
          </a:p>
        </p:txBody>
      </p:sp>
      <p:sp>
        <p:nvSpPr>
          <p:cNvPr id="8" name="Shape 6"/>
          <p:cNvSpPr/>
          <p:nvPr/>
        </p:nvSpPr>
        <p:spPr>
          <a:xfrm>
            <a:off x="411480" y="1188720"/>
            <a:ext cx="658368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630936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how one species can become two; not to scale</a:t>
            </a:r>
            <a:endParaRPr lang="en-US" sz="1000" dirty="0"/>
          </a:p>
        </p:txBody>
      </p:sp>
      <p:sp>
        <p:nvSpPr>
          <p:cNvPr id="10" name="Text 8"/>
          <p:cNvSpPr/>
          <p:nvPr/>
        </p:nvSpPr>
        <p:spPr>
          <a:xfrm>
            <a:off x="594360" y="1298448"/>
            <a:ext cx="1920240" cy="27432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1</a:t>
            </a:r>
            <a:r>
              <a:rPr lang="en-US" sz="1100" dirty="0">
                <a:solidFill>
                  <a:srgbClr val="262B3A"/>
                </a:solidFill>
                <a:latin typeface="Calibri" pitchFamily="34" charset="0"/>
                <a:ea typeface="Calibri" pitchFamily="34" charset="-122"/>
                <a:cs typeface="Calibri" pitchFamily="34" charset="-120"/>
              </a:rPr>
              <a:t> One population</a:t>
            </a:r>
            <a:endParaRPr lang="en-US" sz="1100" dirty="0"/>
          </a:p>
        </p:txBody>
      </p:sp>
      <p:sp>
        <p:nvSpPr>
          <p:cNvPr id="11" name="Shape 9"/>
          <p:cNvSpPr/>
          <p:nvPr/>
        </p:nvSpPr>
        <p:spPr>
          <a:xfrm>
            <a:off x="640080" y="1645920"/>
            <a:ext cx="1828800" cy="1463040"/>
          </a:xfrm>
          <a:prstGeom prst="roundRect">
            <a:avLst>
              <a:gd name="adj" fmla="val 5000"/>
            </a:avLst>
          </a:prstGeom>
          <a:solidFill>
            <a:srgbClr val="E4F1D8"/>
          </a:solidFill>
          <a:ln w="12700">
            <a:solidFill>
              <a:srgbClr val="5E9E4A"/>
            </a:solidFill>
            <a:prstDash val="solid"/>
          </a:ln>
        </p:spPr>
      </p:sp>
      <p:sp>
        <p:nvSpPr>
          <p:cNvPr id="12" name="Shape 10"/>
          <p:cNvSpPr/>
          <p:nvPr/>
        </p:nvSpPr>
        <p:spPr>
          <a:xfrm>
            <a:off x="813392" y="1933031"/>
            <a:ext cx="137160" cy="137160"/>
          </a:xfrm>
          <a:prstGeom prst="ellipse">
            <a:avLst/>
          </a:prstGeom>
          <a:solidFill>
            <a:srgbClr val="E07A5F"/>
          </a:solidFill>
          <a:ln w="6350">
            <a:solidFill>
              <a:srgbClr val="3A3532"/>
            </a:solidFill>
            <a:prstDash val="solid"/>
          </a:ln>
        </p:spPr>
      </p:sp>
      <p:sp>
        <p:nvSpPr>
          <p:cNvPr id="13" name="Shape 11"/>
          <p:cNvSpPr/>
          <p:nvPr/>
        </p:nvSpPr>
        <p:spPr>
          <a:xfrm>
            <a:off x="1385410" y="2608249"/>
            <a:ext cx="137160" cy="137160"/>
          </a:xfrm>
          <a:prstGeom prst="ellipse">
            <a:avLst/>
          </a:prstGeom>
          <a:solidFill>
            <a:srgbClr val="7FA7D9"/>
          </a:solidFill>
          <a:ln w="6350">
            <a:solidFill>
              <a:srgbClr val="3A3532"/>
            </a:solidFill>
            <a:prstDash val="solid"/>
          </a:ln>
        </p:spPr>
      </p:sp>
      <p:sp>
        <p:nvSpPr>
          <p:cNvPr id="14" name="Shape 12"/>
          <p:cNvSpPr/>
          <p:nvPr/>
        </p:nvSpPr>
        <p:spPr>
          <a:xfrm>
            <a:off x="1957429" y="2149611"/>
            <a:ext cx="137160" cy="137160"/>
          </a:xfrm>
          <a:prstGeom prst="ellipse">
            <a:avLst/>
          </a:prstGeom>
          <a:solidFill>
            <a:srgbClr val="F2CC8F"/>
          </a:solidFill>
          <a:ln w="6350">
            <a:solidFill>
              <a:srgbClr val="3A3532"/>
            </a:solidFill>
            <a:prstDash val="solid"/>
          </a:ln>
        </p:spPr>
      </p:sp>
      <p:sp>
        <p:nvSpPr>
          <p:cNvPr id="15" name="Shape 13"/>
          <p:cNvSpPr/>
          <p:nvPr/>
        </p:nvSpPr>
        <p:spPr>
          <a:xfrm>
            <a:off x="1029831" y="2824828"/>
            <a:ext cx="137160" cy="137160"/>
          </a:xfrm>
          <a:prstGeom prst="ellipse">
            <a:avLst/>
          </a:prstGeom>
          <a:solidFill>
            <a:srgbClr val="81B29A"/>
          </a:solidFill>
          <a:ln w="6350">
            <a:solidFill>
              <a:srgbClr val="3A3532"/>
            </a:solidFill>
            <a:prstDash val="solid"/>
          </a:ln>
        </p:spPr>
      </p:sp>
      <p:sp>
        <p:nvSpPr>
          <p:cNvPr id="16" name="Shape 14"/>
          <p:cNvSpPr/>
          <p:nvPr/>
        </p:nvSpPr>
        <p:spPr>
          <a:xfrm>
            <a:off x="1601850" y="2366190"/>
            <a:ext cx="137160" cy="137160"/>
          </a:xfrm>
          <a:prstGeom prst="ellipse">
            <a:avLst/>
          </a:prstGeom>
          <a:solidFill>
            <a:srgbClr val="E07A5F"/>
          </a:solidFill>
          <a:ln w="6350">
            <a:solidFill>
              <a:srgbClr val="3A3532"/>
            </a:solidFill>
            <a:prstDash val="solid"/>
          </a:ln>
        </p:spPr>
      </p:sp>
      <p:sp>
        <p:nvSpPr>
          <p:cNvPr id="17" name="Shape 15"/>
          <p:cNvSpPr/>
          <p:nvPr/>
        </p:nvSpPr>
        <p:spPr>
          <a:xfrm>
            <a:off x="2173868" y="1907551"/>
            <a:ext cx="137160" cy="137160"/>
          </a:xfrm>
          <a:prstGeom prst="ellipse">
            <a:avLst/>
          </a:prstGeom>
          <a:solidFill>
            <a:srgbClr val="7FA7D9"/>
          </a:solidFill>
          <a:ln w="6350">
            <a:solidFill>
              <a:srgbClr val="3A3532"/>
            </a:solidFill>
            <a:prstDash val="solid"/>
          </a:ln>
        </p:spPr>
      </p:sp>
      <p:sp>
        <p:nvSpPr>
          <p:cNvPr id="18" name="Shape 16"/>
          <p:cNvSpPr/>
          <p:nvPr/>
        </p:nvSpPr>
        <p:spPr>
          <a:xfrm>
            <a:off x="1246271" y="2582769"/>
            <a:ext cx="137160" cy="137160"/>
          </a:xfrm>
          <a:prstGeom prst="ellipse">
            <a:avLst/>
          </a:prstGeom>
          <a:solidFill>
            <a:srgbClr val="F2CC8F"/>
          </a:solidFill>
          <a:ln w="6350">
            <a:solidFill>
              <a:srgbClr val="3A3532"/>
            </a:solidFill>
            <a:prstDash val="solid"/>
          </a:ln>
        </p:spPr>
      </p:sp>
      <p:sp>
        <p:nvSpPr>
          <p:cNvPr id="19" name="Shape 17"/>
          <p:cNvSpPr/>
          <p:nvPr/>
        </p:nvSpPr>
        <p:spPr>
          <a:xfrm>
            <a:off x="1818289" y="2124131"/>
            <a:ext cx="137160" cy="137160"/>
          </a:xfrm>
          <a:prstGeom prst="ellipse">
            <a:avLst/>
          </a:prstGeom>
          <a:solidFill>
            <a:srgbClr val="81B29A"/>
          </a:solidFill>
          <a:ln w="6350">
            <a:solidFill>
              <a:srgbClr val="3A3532"/>
            </a:solidFill>
            <a:prstDash val="solid"/>
          </a:ln>
        </p:spPr>
      </p:sp>
      <p:sp>
        <p:nvSpPr>
          <p:cNvPr id="20" name="Shape 18"/>
          <p:cNvSpPr/>
          <p:nvPr/>
        </p:nvSpPr>
        <p:spPr>
          <a:xfrm>
            <a:off x="890692" y="2799348"/>
            <a:ext cx="137160" cy="137160"/>
          </a:xfrm>
          <a:prstGeom prst="ellipse">
            <a:avLst/>
          </a:prstGeom>
          <a:solidFill>
            <a:srgbClr val="E07A5F"/>
          </a:solidFill>
          <a:ln w="6350">
            <a:solidFill>
              <a:srgbClr val="3A3532"/>
            </a:solidFill>
            <a:prstDash val="solid"/>
          </a:ln>
        </p:spPr>
      </p:sp>
      <p:sp>
        <p:nvSpPr>
          <p:cNvPr id="21" name="Shape 19"/>
          <p:cNvSpPr/>
          <p:nvPr/>
        </p:nvSpPr>
        <p:spPr>
          <a:xfrm>
            <a:off x="1462710" y="2340710"/>
            <a:ext cx="137160" cy="137160"/>
          </a:xfrm>
          <a:prstGeom prst="ellipse">
            <a:avLst/>
          </a:prstGeom>
          <a:solidFill>
            <a:srgbClr val="7FA7D9"/>
          </a:solidFill>
          <a:ln w="6350">
            <a:solidFill>
              <a:srgbClr val="3A3532"/>
            </a:solidFill>
            <a:prstDash val="solid"/>
          </a:ln>
        </p:spPr>
      </p:sp>
      <p:sp>
        <p:nvSpPr>
          <p:cNvPr id="22" name="Shape 20"/>
          <p:cNvSpPr/>
          <p:nvPr/>
        </p:nvSpPr>
        <p:spPr>
          <a:xfrm>
            <a:off x="2034729" y="1882072"/>
            <a:ext cx="137160" cy="137160"/>
          </a:xfrm>
          <a:prstGeom prst="ellipse">
            <a:avLst/>
          </a:prstGeom>
          <a:solidFill>
            <a:srgbClr val="F2CC8F"/>
          </a:solidFill>
          <a:ln w="6350">
            <a:solidFill>
              <a:srgbClr val="3A3532"/>
            </a:solidFill>
            <a:prstDash val="solid"/>
          </a:ln>
        </p:spPr>
      </p:sp>
      <p:sp>
        <p:nvSpPr>
          <p:cNvPr id="23" name="Shape 21"/>
          <p:cNvSpPr/>
          <p:nvPr/>
        </p:nvSpPr>
        <p:spPr>
          <a:xfrm>
            <a:off x="1107131" y="2557289"/>
            <a:ext cx="137160" cy="137160"/>
          </a:xfrm>
          <a:prstGeom prst="ellipse">
            <a:avLst/>
          </a:prstGeom>
          <a:solidFill>
            <a:srgbClr val="81B29A"/>
          </a:solidFill>
          <a:ln w="6350">
            <a:solidFill>
              <a:srgbClr val="3A3532"/>
            </a:solidFill>
            <a:prstDash val="solid"/>
          </a:ln>
        </p:spPr>
      </p:sp>
      <p:sp>
        <p:nvSpPr>
          <p:cNvPr id="24" name="Shape 22"/>
          <p:cNvSpPr/>
          <p:nvPr/>
        </p:nvSpPr>
        <p:spPr>
          <a:xfrm>
            <a:off x="1679149" y="2098651"/>
            <a:ext cx="137160" cy="137160"/>
          </a:xfrm>
          <a:prstGeom prst="ellipse">
            <a:avLst/>
          </a:prstGeom>
          <a:solidFill>
            <a:srgbClr val="E07A5F"/>
          </a:solidFill>
          <a:ln w="6350">
            <a:solidFill>
              <a:srgbClr val="3A3532"/>
            </a:solidFill>
            <a:prstDash val="solid"/>
          </a:ln>
        </p:spPr>
      </p:sp>
      <p:sp>
        <p:nvSpPr>
          <p:cNvPr id="25" name="Shape 23"/>
          <p:cNvSpPr/>
          <p:nvPr/>
        </p:nvSpPr>
        <p:spPr>
          <a:xfrm>
            <a:off x="751552" y="2773868"/>
            <a:ext cx="137160" cy="137160"/>
          </a:xfrm>
          <a:prstGeom prst="ellipse">
            <a:avLst/>
          </a:prstGeom>
          <a:solidFill>
            <a:srgbClr val="7FA7D9"/>
          </a:solidFill>
          <a:ln w="6350">
            <a:solidFill>
              <a:srgbClr val="3A3532"/>
            </a:solidFill>
            <a:prstDash val="solid"/>
          </a:ln>
        </p:spPr>
      </p:sp>
      <p:sp>
        <p:nvSpPr>
          <p:cNvPr id="26" name="Shape 24"/>
          <p:cNvSpPr/>
          <p:nvPr/>
        </p:nvSpPr>
        <p:spPr>
          <a:xfrm>
            <a:off x="1323570" y="2315230"/>
            <a:ext cx="137160" cy="137160"/>
          </a:xfrm>
          <a:prstGeom prst="ellipse">
            <a:avLst/>
          </a:prstGeom>
          <a:solidFill>
            <a:srgbClr val="F2CC8F"/>
          </a:solidFill>
          <a:ln w="6350">
            <a:solidFill>
              <a:srgbClr val="3A3532"/>
            </a:solidFill>
            <a:prstDash val="solid"/>
          </a:ln>
        </p:spPr>
      </p:sp>
      <p:sp>
        <p:nvSpPr>
          <p:cNvPr id="27" name="Shape 25"/>
          <p:cNvSpPr/>
          <p:nvPr/>
        </p:nvSpPr>
        <p:spPr>
          <a:xfrm>
            <a:off x="1895589" y="1856592"/>
            <a:ext cx="137160" cy="137160"/>
          </a:xfrm>
          <a:prstGeom prst="ellipse">
            <a:avLst/>
          </a:prstGeom>
          <a:solidFill>
            <a:srgbClr val="81B29A"/>
          </a:solidFill>
          <a:ln w="6350">
            <a:solidFill>
              <a:srgbClr val="3A3532"/>
            </a:solidFill>
            <a:prstDash val="solid"/>
          </a:ln>
        </p:spPr>
      </p:sp>
      <p:sp>
        <p:nvSpPr>
          <p:cNvPr id="28" name="Shape 26"/>
          <p:cNvSpPr/>
          <p:nvPr/>
        </p:nvSpPr>
        <p:spPr>
          <a:xfrm>
            <a:off x="967991" y="2531809"/>
            <a:ext cx="137160" cy="137160"/>
          </a:xfrm>
          <a:prstGeom prst="ellipse">
            <a:avLst/>
          </a:prstGeom>
          <a:solidFill>
            <a:srgbClr val="E07A5F"/>
          </a:solidFill>
          <a:ln w="6350">
            <a:solidFill>
              <a:srgbClr val="3A3532"/>
            </a:solidFill>
            <a:prstDash val="solid"/>
          </a:ln>
        </p:spPr>
      </p:sp>
      <p:sp>
        <p:nvSpPr>
          <p:cNvPr id="29" name="Shape 27"/>
          <p:cNvSpPr/>
          <p:nvPr/>
        </p:nvSpPr>
        <p:spPr>
          <a:xfrm>
            <a:off x="1540010" y="2073171"/>
            <a:ext cx="137160" cy="137160"/>
          </a:xfrm>
          <a:prstGeom prst="ellipse">
            <a:avLst/>
          </a:prstGeom>
          <a:solidFill>
            <a:srgbClr val="7FA7D9"/>
          </a:solidFill>
          <a:ln w="6350">
            <a:solidFill>
              <a:srgbClr val="3A3532"/>
            </a:solidFill>
            <a:prstDash val="solid"/>
          </a:ln>
        </p:spPr>
      </p:sp>
      <p:sp>
        <p:nvSpPr>
          <p:cNvPr id="30" name="Text 28"/>
          <p:cNvSpPr/>
          <p:nvPr/>
        </p:nvSpPr>
        <p:spPr>
          <a:xfrm>
            <a:off x="594360" y="3154680"/>
            <a:ext cx="1920240" cy="45720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lots of variation; all can </a:t>
            </a:r>
            <a:r>
              <a:rPr lang="en-US" sz="1000" b="1" dirty="0">
                <a:solidFill>
                  <a:srgbClr val="262B3A"/>
                </a:solidFill>
                <a:latin typeface="Calibri" pitchFamily="34" charset="0"/>
                <a:ea typeface="Calibri" pitchFamily="34" charset="-122"/>
                <a:cs typeface="Calibri" pitchFamily="34" charset="-120"/>
              </a:rPr>
              <a:t>interbreed</a:t>
            </a:r>
            <a:endParaRPr lang="en-US" sz="1000" dirty="0"/>
          </a:p>
        </p:txBody>
      </p:sp>
      <p:sp>
        <p:nvSpPr>
          <p:cNvPr id="31" name="Shape 29"/>
          <p:cNvSpPr/>
          <p:nvPr/>
        </p:nvSpPr>
        <p:spPr>
          <a:xfrm>
            <a:off x="2560320" y="2377440"/>
            <a:ext cx="228600" cy="91"/>
          </a:xfrm>
          <a:prstGeom prst="line">
            <a:avLst/>
          </a:prstGeom>
          <a:noFill/>
          <a:ln w="25400">
            <a:solidFill>
              <a:srgbClr val="133536"/>
            </a:solidFill>
            <a:prstDash val="solid"/>
            <a:tailEnd type="triangle"/>
          </a:ln>
        </p:spPr>
      </p:sp>
      <p:sp>
        <p:nvSpPr>
          <p:cNvPr id="32" name="Text 30"/>
          <p:cNvSpPr/>
          <p:nvPr/>
        </p:nvSpPr>
        <p:spPr>
          <a:xfrm>
            <a:off x="2788920" y="1298448"/>
            <a:ext cx="2011680" cy="27432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2</a:t>
            </a:r>
            <a:r>
              <a:rPr lang="en-US" sz="1100" dirty="0">
                <a:solidFill>
                  <a:srgbClr val="262B3A"/>
                </a:solidFill>
                <a:latin typeface="Calibri" pitchFamily="34" charset="0"/>
                <a:ea typeface="Calibri" pitchFamily="34" charset="-122"/>
                <a:cs typeface="Calibri" pitchFamily="34" charset="-120"/>
              </a:rPr>
              <a:t> Split by a barrier</a:t>
            </a:r>
            <a:endParaRPr lang="en-US" sz="1100" dirty="0"/>
          </a:p>
        </p:txBody>
      </p:sp>
      <p:sp>
        <p:nvSpPr>
          <p:cNvPr id="33" name="Shape 31"/>
          <p:cNvSpPr/>
          <p:nvPr/>
        </p:nvSpPr>
        <p:spPr>
          <a:xfrm>
            <a:off x="2834640" y="1645920"/>
            <a:ext cx="777240" cy="1463040"/>
          </a:xfrm>
          <a:prstGeom prst="roundRect">
            <a:avLst>
              <a:gd name="adj" fmla="val 9412"/>
            </a:avLst>
          </a:prstGeom>
          <a:solidFill>
            <a:srgbClr val="E4F1D8"/>
          </a:solidFill>
          <a:ln w="12700">
            <a:solidFill>
              <a:srgbClr val="5E9E4A"/>
            </a:solidFill>
            <a:prstDash val="solid"/>
          </a:ln>
        </p:spPr>
      </p:sp>
      <p:sp>
        <p:nvSpPr>
          <p:cNvPr id="34" name="Shape 32"/>
          <p:cNvSpPr/>
          <p:nvPr/>
        </p:nvSpPr>
        <p:spPr>
          <a:xfrm>
            <a:off x="2939890" y="1818372"/>
            <a:ext cx="137160" cy="137160"/>
          </a:xfrm>
          <a:prstGeom prst="ellipse">
            <a:avLst/>
          </a:prstGeom>
          <a:solidFill>
            <a:srgbClr val="E07A5F"/>
          </a:solidFill>
          <a:ln w="6350">
            <a:solidFill>
              <a:srgbClr val="3A3532"/>
            </a:solidFill>
            <a:prstDash val="solid"/>
          </a:ln>
        </p:spPr>
      </p:sp>
      <p:sp>
        <p:nvSpPr>
          <p:cNvPr id="35" name="Shape 33"/>
          <p:cNvSpPr/>
          <p:nvPr/>
        </p:nvSpPr>
        <p:spPr>
          <a:xfrm>
            <a:off x="3110798" y="2493589"/>
            <a:ext cx="137160" cy="137160"/>
          </a:xfrm>
          <a:prstGeom prst="ellipse">
            <a:avLst/>
          </a:prstGeom>
          <a:solidFill>
            <a:srgbClr val="7FA7D9"/>
          </a:solidFill>
          <a:ln w="6350">
            <a:solidFill>
              <a:srgbClr val="3A3532"/>
            </a:solidFill>
            <a:prstDash val="solid"/>
          </a:ln>
        </p:spPr>
      </p:sp>
      <p:sp>
        <p:nvSpPr>
          <p:cNvPr id="36" name="Shape 34"/>
          <p:cNvSpPr/>
          <p:nvPr/>
        </p:nvSpPr>
        <p:spPr>
          <a:xfrm>
            <a:off x="3281706" y="2034951"/>
            <a:ext cx="137160" cy="137160"/>
          </a:xfrm>
          <a:prstGeom prst="ellipse">
            <a:avLst/>
          </a:prstGeom>
          <a:solidFill>
            <a:srgbClr val="F2CC8F"/>
          </a:solidFill>
          <a:ln w="6350">
            <a:solidFill>
              <a:srgbClr val="3A3532"/>
            </a:solidFill>
            <a:prstDash val="solid"/>
          </a:ln>
        </p:spPr>
      </p:sp>
      <p:sp>
        <p:nvSpPr>
          <p:cNvPr id="37" name="Shape 35"/>
          <p:cNvSpPr/>
          <p:nvPr/>
        </p:nvSpPr>
        <p:spPr>
          <a:xfrm>
            <a:off x="3004558" y="2710169"/>
            <a:ext cx="137160" cy="137160"/>
          </a:xfrm>
          <a:prstGeom prst="ellipse">
            <a:avLst/>
          </a:prstGeom>
          <a:solidFill>
            <a:srgbClr val="81B29A"/>
          </a:solidFill>
          <a:ln w="6350">
            <a:solidFill>
              <a:srgbClr val="3A3532"/>
            </a:solidFill>
            <a:prstDash val="solid"/>
          </a:ln>
        </p:spPr>
      </p:sp>
      <p:sp>
        <p:nvSpPr>
          <p:cNvPr id="38" name="Shape 36"/>
          <p:cNvSpPr/>
          <p:nvPr/>
        </p:nvSpPr>
        <p:spPr>
          <a:xfrm>
            <a:off x="3175466" y="2251530"/>
            <a:ext cx="137160" cy="137160"/>
          </a:xfrm>
          <a:prstGeom prst="ellipse">
            <a:avLst/>
          </a:prstGeom>
          <a:solidFill>
            <a:srgbClr val="E07A5F"/>
          </a:solidFill>
          <a:ln w="6350">
            <a:solidFill>
              <a:srgbClr val="3A3532"/>
            </a:solidFill>
            <a:prstDash val="solid"/>
          </a:ln>
        </p:spPr>
      </p:sp>
      <p:sp>
        <p:nvSpPr>
          <p:cNvPr id="39" name="Shape 37"/>
          <p:cNvSpPr/>
          <p:nvPr/>
        </p:nvSpPr>
        <p:spPr>
          <a:xfrm>
            <a:off x="3346374" y="1792892"/>
            <a:ext cx="137160" cy="137160"/>
          </a:xfrm>
          <a:prstGeom prst="ellipse">
            <a:avLst/>
          </a:prstGeom>
          <a:solidFill>
            <a:srgbClr val="7FA7D9"/>
          </a:solidFill>
          <a:ln w="6350">
            <a:solidFill>
              <a:srgbClr val="3A3532"/>
            </a:solidFill>
            <a:prstDash val="solid"/>
          </a:ln>
        </p:spPr>
      </p:sp>
      <p:sp>
        <p:nvSpPr>
          <p:cNvPr id="40" name="Shape 38"/>
          <p:cNvSpPr/>
          <p:nvPr/>
        </p:nvSpPr>
        <p:spPr>
          <a:xfrm>
            <a:off x="3069226" y="2468109"/>
            <a:ext cx="137160" cy="137160"/>
          </a:xfrm>
          <a:prstGeom prst="ellipse">
            <a:avLst/>
          </a:prstGeom>
          <a:solidFill>
            <a:srgbClr val="F2CC8F"/>
          </a:solidFill>
          <a:ln w="6350">
            <a:solidFill>
              <a:srgbClr val="3A3532"/>
            </a:solidFill>
            <a:prstDash val="solid"/>
          </a:ln>
        </p:spPr>
      </p:sp>
      <p:sp>
        <p:nvSpPr>
          <p:cNvPr id="41" name="Shape 39"/>
          <p:cNvSpPr/>
          <p:nvPr/>
        </p:nvSpPr>
        <p:spPr>
          <a:xfrm>
            <a:off x="3630168" y="1645920"/>
            <a:ext cx="237744" cy="1463040"/>
          </a:xfrm>
          <a:prstGeom prst="rect">
            <a:avLst/>
          </a:prstGeom>
          <a:solidFill>
            <a:srgbClr val="BFD9F2"/>
          </a:solidFill>
          <a:ln w="9525">
            <a:solidFill>
              <a:srgbClr val="5B9BD5"/>
            </a:solidFill>
            <a:prstDash val="solid"/>
          </a:ln>
        </p:spPr>
      </p:sp>
      <p:sp>
        <p:nvSpPr>
          <p:cNvPr id="42" name="Shape 40"/>
          <p:cNvSpPr/>
          <p:nvPr/>
        </p:nvSpPr>
        <p:spPr>
          <a:xfrm>
            <a:off x="3886200" y="1645920"/>
            <a:ext cx="777240" cy="1463040"/>
          </a:xfrm>
          <a:prstGeom prst="roundRect">
            <a:avLst>
              <a:gd name="adj" fmla="val 9412"/>
            </a:avLst>
          </a:prstGeom>
          <a:solidFill>
            <a:srgbClr val="E4F1D8"/>
          </a:solidFill>
          <a:ln w="12700">
            <a:solidFill>
              <a:srgbClr val="5E9E4A"/>
            </a:solidFill>
            <a:prstDash val="solid"/>
          </a:ln>
        </p:spPr>
      </p:sp>
      <p:sp>
        <p:nvSpPr>
          <p:cNvPr id="43" name="Shape 41"/>
          <p:cNvSpPr/>
          <p:nvPr/>
        </p:nvSpPr>
        <p:spPr>
          <a:xfrm>
            <a:off x="4033022" y="2162351"/>
            <a:ext cx="137160" cy="137160"/>
          </a:xfrm>
          <a:prstGeom prst="ellipse">
            <a:avLst/>
          </a:prstGeom>
          <a:solidFill>
            <a:srgbClr val="E07A5F"/>
          </a:solidFill>
          <a:ln w="6350">
            <a:solidFill>
              <a:srgbClr val="3A3532"/>
            </a:solidFill>
            <a:prstDash val="solid"/>
          </a:ln>
        </p:spPr>
      </p:sp>
      <p:sp>
        <p:nvSpPr>
          <p:cNvPr id="44" name="Shape 42"/>
          <p:cNvSpPr/>
          <p:nvPr/>
        </p:nvSpPr>
        <p:spPr>
          <a:xfrm>
            <a:off x="4203930" y="2837568"/>
            <a:ext cx="137160" cy="137160"/>
          </a:xfrm>
          <a:prstGeom prst="ellipse">
            <a:avLst/>
          </a:prstGeom>
          <a:solidFill>
            <a:srgbClr val="7FA7D9"/>
          </a:solidFill>
          <a:ln w="6350">
            <a:solidFill>
              <a:srgbClr val="3A3532"/>
            </a:solidFill>
            <a:prstDash val="solid"/>
          </a:ln>
        </p:spPr>
      </p:sp>
      <p:sp>
        <p:nvSpPr>
          <p:cNvPr id="45" name="Shape 43"/>
          <p:cNvSpPr/>
          <p:nvPr/>
        </p:nvSpPr>
        <p:spPr>
          <a:xfrm>
            <a:off x="4374838" y="2378930"/>
            <a:ext cx="137160" cy="137160"/>
          </a:xfrm>
          <a:prstGeom prst="ellipse">
            <a:avLst/>
          </a:prstGeom>
          <a:solidFill>
            <a:srgbClr val="F2CC8F"/>
          </a:solidFill>
          <a:ln w="6350">
            <a:solidFill>
              <a:srgbClr val="3A3532"/>
            </a:solidFill>
            <a:prstDash val="solid"/>
          </a:ln>
        </p:spPr>
      </p:sp>
      <p:sp>
        <p:nvSpPr>
          <p:cNvPr id="46" name="Shape 44"/>
          <p:cNvSpPr/>
          <p:nvPr/>
        </p:nvSpPr>
        <p:spPr>
          <a:xfrm>
            <a:off x="4097690" y="1920291"/>
            <a:ext cx="137160" cy="137160"/>
          </a:xfrm>
          <a:prstGeom prst="ellipse">
            <a:avLst/>
          </a:prstGeom>
          <a:solidFill>
            <a:srgbClr val="81B29A"/>
          </a:solidFill>
          <a:ln w="6350">
            <a:solidFill>
              <a:srgbClr val="3A3532"/>
            </a:solidFill>
            <a:prstDash val="solid"/>
          </a:ln>
        </p:spPr>
      </p:sp>
      <p:sp>
        <p:nvSpPr>
          <p:cNvPr id="47" name="Shape 45"/>
          <p:cNvSpPr/>
          <p:nvPr/>
        </p:nvSpPr>
        <p:spPr>
          <a:xfrm>
            <a:off x="4268598" y="2595509"/>
            <a:ext cx="137160" cy="137160"/>
          </a:xfrm>
          <a:prstGeom prst="ellipse">
            <a:avLst/>
          </a:prstGeom>
          <a:solidFill>
            <a:srgbClr val="E07A5F"/>
          </a:solidFill>
          <a:ln w="6350">
            <a:solidFill>
              <a:srgbClr val="3A3532"/>
            </a:solidFill>
            <a:prstDash val="solid"/>
          </a:ln>
        </p:spPr>
      </p:sp>
      <p:sp>
        <p:nvSpPr>
          <p:cNvPr id="48" name="Shape 46"/>
          <p:cNvSpPr/>
          <p:nvPr/>
        </p:nvSpPr>
        <p:spPr>
          <a:xfrm>
            <a:off x="3991450" y="2136871"/>
            <a:ext cx="137160" cy="137160"/>
          </a:xfrm>
          <a:prstGeom prst="ellipse">
            <a:avLst/>
          </a:prstGeom>
          <a:solidFill>
            <a:srgbClr val="7FA7D9"/>
          </a:solidFill>
          <a:ln w="6350">
            <a:solidFill>
              <a:srgbClr val="3A3532"/>
            </a:solidFill>
            <a:prstDash val="solid"/>
          </a:ln>
        </p:spPr>
      </p:sp>
      <p:sp>
        <p:nvSpPr>
          <p:cNvPr id="49" name="Shape 47"/>
          <p:cNvSpPr/>
          <p:nvPr/>
        </p:nvSpPr>
        <p:spPr>
          <a:xfrm>
            <a:off x="4162358" y="2812088"/>
            <a:ext cx="137160" cy="137160"/>
          </a:xfrm>
          <a:prstGeom prst="ellipse">
            <a:avLst/>
          </a:prstGeom>
          <a:solidFill>
            <a:srgbClr val="F2CC8F"/>
          </a:solidFill>
          <a:ln w="6350">
            <a:solidFill>
              <a:srgbClr val="3A3532"/>
            </a:solidFill>
            <a:prstDash val="solid"/>
          </a:ln>
        </p:spPr>
      </p:sp>
      <p:sp>
        <p:nvSpPr>
          <p:cNvPr id="50" name="Text 48"/>
          <p:cNvSpPr/>
          <p:nvPr/>
        </p:nvSpPr>
        <p:spPr>
          <a:xfrm>
            <a:off x="2788920" y="3154680"/>
            <a:ext cx="1920240" cy="45720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e.g. a </a:t>
            </a:r>
            <a:r>
              <a:rPr lang="en-US" sz="1000" b="1" dirty="0">
                <a:solidFill>
                  <a:srgbClr val="262B3A"/>
                </a:solidFill>
                <a:latin typeface="Calibri" pitchFamily="34" charset="0"/>
                <a:ea typeface="Calibri" pitchFamily="34" charset="-122"/>
                <a:cs typeface="Calibri" pitchFamily="34" charset="-120"/>
              </a:rPr>
              <a:t>river</a:t>
            </a:r>
            <a:r>
              <a:rPr lang="en-US" sz="1000" dirty="0">
                <a:solidFill>
                  <a:srgbClr val="262B3A"/>
                </a:solidFill>
                <a:latin typeface="Calibri" pitchFamily="34" charset="0"/>
                <a:ea typeface="Calibri" pitchFamily="34" charset="-122"/>
                <a:cs typeface="Calibri" pitchFamily="34" charset="-120"/>
              </a:rPr>
              <a:t>, mountains or sea</a:t>
            </a:r>
            <a:endParaRPr lang="en-US" sz="1000" dirty="0"/>
          </a:p>
        </p:txBody>
      </p:sp>
      <p:sp>
        <p:nvSpPr>
          <p:cNvPr id="51" name="Shape 49"/>
          <p:cNvSpPr/>
          <p:nvPr/>
        </p:nvSpPr>
        <p:spPr>
          <a:xfrm>
            <a:off x="4754880" y="2377440"/>
            <a:ext cx="228600" cy="91"/>
          </a:xfrm>
          <a:prstGeom prst="line">
            <a:avLst/>
          </a:prstGeom>
          <a:noFill/>
          <a:ln w="25400">
            <a:solidFill>
              <a:srgbClr val="133536"/>
            </a:solidFill>
            <a:prstDash val="solid"/>
            <a:tailEnd type="triangle"/>
          </a:ln>
        </p:spPr>
      </p:sp>
      <p:sp>
        <p:nvSpPr>
          <p:cNvPr id="52" name="Text 50"/>
          <p:cNvSpPr/>
          <p:nvPr/>
        </p:nvSpPr>
        <p:spPr>
          <a:xfrm>
            <a:off x="4937760" y="1298448"/>
            <a:ext cx="2011680" cy="27432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3</a:t>
            </a:r>
            <a:r>
              <a:rPr lang="en-US" sz="1100" dirty="0">
                <a:solidFill>
                  <a:srgbClr val="262B3A"/>
                </a:solidFill>
                <a:latin typeface="Calibri" pitchFamily="34" charset="0"/>
                <a:ea typeface="Calibri" pitchFamily="34" charset="-122"/>
                <a:cs typeface="Calibri" pitchFamily="34" charset="-120"/>
              </a:rPr>
              <a:t> Different conditions</a:t>
            </a:r>
            <a:endParaRPr lang="en-US" sz="1100" dirty="0"/>
          </a:p>
        </p:txBody>
      </p:sp>
      <p:sp>
        <p:nvSpPr>
          <p:cNvPr id="53" name="Shape 51"/>
          <p:cNvSpPr/>
          <p:nvPr/>
        </p:nvSpPr>
        <p:spPr>
          <a:xfrm>
            <a:off x="5029200" y="1645920"/>
            <a:ext cx="868680" cy="685800"/>
          </a:xfrm>
          <a:prstGeom prst="roundRect">
            <a:avLst>
              <a:gd name="adj" fmla="val 8000"/>
            </a:avLst>
          </a:prstGeom>
          <a:solidFill>
            <a:srgbClr val="FBE3C8"/>
          </a:solidFill>
          <a:ln w="9525">
            <a:solidFill>
              <a:srgbClr val="B8730A"/>
            </a:solidFill>
            <a:prstDash val="solid"/>
          </a:ln>
        </p:spPr>
      </p:sp>
      <p:sp>
        <p:nvSpPr>
          <p:cNvPr id="54" name="Text 52"/>
          <p:cNvSpPr/>
          <p:nvPr/>
        </p:nvSpPr>
        <p:spPr>
          <a:xfrm>
            <a:off x="5029200" y="1645920"/>
            <a:ext cx="868680" cy="685800"/>
          </a:xfrm>
          <a:prstGeom prst="rect">
            <a:avLst/>
          </a:prstGeom>
          <a:noFill/>
          <a:ln/>
        </p:spPr>
        <p:txBody>
          <a:bodyPr wrap="square" lIns="0" tIns="0" rIns="0" bIns="0" rtlCol="0" anchor="ctr"/>
          <a:lstStyle/>
          <a:p>
            <a:pPr algn="ctr" indent="0" marL="0">
              <a:buNone/>
            </a:pPr>
            <a:r>
              <a:rPr lang="en-US" sz="1000" b="1" dirty="0">
                <a:solidFill>
                  <a:srgbClr val="8A4E06"/>
                </a:solidFill>
                <a:latin typeface="Calibri" pitchFamily="34" charset="0"/>
                <a:ea typeface="Calibri" pitchFamily="34" charset="-122"/>
                <a:cs typeface="Calibri" pitchFamily="34" charset="-120"/>
              </a:rPr>
              <a:t>dry, hot</a:t>
            </a:r>
            <a:endParaRPr lang="en-US" sz="1000" dirty="0"/>
          </a:p>
        </p:txBody>
      </p:sp>
      <p:sp>
        <p:nvSpPr>
          <p:cNvPr id="55" name="Shape 53"/>
          <p:cNvSpPr/>
          <p:nvPr/>
        </p:nvSpPr>
        <p:spPr>
          <a:xfrm>
            <a:off x="5943600" y="1645920"/>
            <a:ext cx="868680" cy="685800"/>
          </a:xfrm>
          <a:prstGeom prst="roundRect">
            <a:avLst>
              <a:gd name="adj" fmla="val 8000"/>
            </a:avLst>
          </a:prstGeom>
          <a:solidFill>
            <a:srgbClr val="D6E8F7"/>
          </a:solidFill>
          <a:ln w="9525">
            <a:solidFill>
              <a:srgbClr val="5B9BD5"/>
            </a:solidFill>
            <a:prstDash val="solid"/>
          </a:ln>
        </p:spPr>
      </p:sp>
      <p:sp>
        <p:nvSpPr>
          <p:cNvPr id="56" name="Text 54"/>
          <p:cNvSpPr/>
          <p:nvPr/>
        </p:nvSpPr>
        <p:spPr>
          <a:xfrm>
            <a:off x="5943600" y="1645920"/>
            <a:ext cx="868680" cy="685800"/>
          </a:xfrm>
          <a:prstGeom prst="rect">
            <a:avLst/>
          </a:prstGeom>
          <a:noFill/>
          <a:ln/>
        </p:spPr>
        <p:txBody>
          <a:bodyPr wrap="square" lIns="0" tIns="0" rIns="0" bIns="0" rtlCol="0" anchor="ctr"/>
          <a:lstStyle/>
          <a:p>
            <a:pPr algn="ctr" indent="0" marL="0">
              <a:buNone/>
            </a:pPr>
            <a:r>
              <a:rPr lang="en-US" sz="1000" b="1" dirty="0">
                <a:solidFill>
                  <a:srgbClr val="2F5F8F"/>
                </a:solidFill>
                <a:latin typeface="Calibri" pitchFamily="34" charset="0"/>
                <a:ea typeface="Calibri" pitchFamily="34" charset="-122"/>
                <a:cs typeface="Calibri" pitchFamily="34" charset="-120"/>
              </a:rPr>
              <a:t>wet, cold</a:t>
            </a:r>
            <a:endParaRPr lang="en-US" sz="1000" dirty="0"/>
          </a:p>
        </p:txBody>
      </p:sp>
      <p:sp>
        <p:nvSpPr>
          <p:cNvPr id="57" name="Text 55"/>
          <p:cNvSpPr/>
          <p:nvPr/>
        </p:nvSpPr>
        <p:spPr>
          <a:xfrm>
            <a:off x="4983480" y="2395728"/>
            <a:ext cx="1874520" cy="73152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different </a:t>
            </a:r>
            <a:r>
              <a:rPr lang="en-US" sz="1000" b="1" dirty="0">
                <a:solidFill>
                  <a:srgbClr val="262B3A"/>
                </a:solidFill>
                <a:latin typeface="Calibri" pitchFamily="34" charset="0"/>
                <a:ea typeface="Calibri" pitchFamily="34" charset="-122"/>
                <a:cs typeface="Calibri" pitchFamily="34" charset="-120"/>
              </a:rPr>
              <a:t>mutations</a:t>
            </a:r>
            <a:r>
              <a:rPr lang="en-US" sz="1000" dirty="0">
                <a:solidFill>
                  <a:srgbClr val="262B3A"/>
                </a:solidFill>
                <a:latin typeface="Calibri" pitchFamily="34" charset="0"/>
                <a:ea typeface="Calibri" pitchFamily="34" charset="-122"/>
                <a:cs typeface="Calibri" pitchFamily="34" charset="-120"/>
              </a:rPr>
              <a:t> and </a:t>
            </a:r>
            <a:r>
              <a:rPr lang="en-US" sz="1000" b="1" dirty="0">
                <a:solidFill>
                  <a:srgbClr val="262B3A"/>
                </a:solidFill>
                <a:latin typeface="Calibri" pitchFamily="34" charset="0"/>
                <a:ea typeface="Calibri" pitchFamily="34" charset="-122"/>
                <a:cs typeface="Calibri" pitchFamily="34" charset="-120"/>
              </a:rPr>
              <a:t>natural selection</a:t>
            </a:r>
            <a:r>
              <a:rPr lang="en-US" sz="1000" dirty="0">
                <a:solidFill>
                  <a:srgbClr val="262B3A"/>
                </a:solidFill>
                <a:latin typeface="Calibri" pitchFamily="34" charset="0"/>
                <a:ea typeface="Calibri" pitchFamily="34" charset="-122"/>
                <a:cs typeface="Calibri" pitchFamily="34" charset="-120"/>
              </a:rPr>
              <a:t> on each side</a:t>
            </a:r>
            <a:endParaRPr lang="en-US" sz="1000" dirty="0"/>
          </a:p>
        </p:txBody>
      </p:sp>
      <p:sp>
        <p:nvSpPr>
          <p:cNvPr id="58" name="Shape 56"/>
          <p:cNvSpPr/>
          <p:nvPr/>
        </p:nvSpPr>
        <p:spPr>
          <a:xfrm>
            <a:off x="3703320" y="3611880"/>
            <a:ext cx="91" cy="228600"/>
          </a:xfrm>
          <a:prstGeom prst="line">
            <a:avLst/>
          </a:prstGeom>
          <a:noFill/>
          <a:ln w="25400">
            <a:solidFill>
              <a:srgbClr val="133536"/>
            </a:solidFill>
            <a:prstDash val="solid"/>
            <a:tailEnd type="triangle"/>
          </a:ln>
        </p:spPr>
      </p:sp>
      <p:sp>
        <p:nvSpPr>
          <p:cNvPr id="59" name="Text 57"/>
          <p:cNvSpPr/>
          <p:nvPr/>
        </p:nvSpPr>
        <p:spPr>
          <a:xfrm>
            <a:off x="594360" y="3611880"/>
            <a:ext cx="3017520" cy="274320"/>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4</a:t>
            </a:r>
            <a:r>
              <a:rPr lang="en-US" sz="1100" dirty="0">
                <a:solidFill>
                  <a:srgbClr val="262B3A"/>
                </a:solidFill>
                <a:latin typeface="Calibri" pitchFamily="34" charset="0"/>
                <a:ea typeface="Calibri" pitchFamily="34" charset="-122"/>
                <a:cs typeface="Calibri" pitchFamily="34" charset="-120"/>
              </a:rPr>
              <a:t> After many generations</a:t>
            </a:r>
            <a:endParaRPr lang="en-US" sz="1100" dirty="0"/>
          </a:p>
        </p:txBody>
      </p:sp>
      <p:sp>
        <p:nvSpPr>
          <p:cNvPr id="60" name="Shape 58"/>
          <p:cNvSpPr/>
          <p:nvPr/>
        </p:nvSpPr>
        <p:spPr>
          <a:xfrm>
            <a:off x="640080" y="3931920"/>
            <a:ext cx="2377440" cy="1051560"/>
          </a:xfrm>
          <a:prstGeom prst="roundRect">
            <a:avLst>
              <a:gd name="adj" fmla="val 6957"/>
            </a:avLst>
          </a:prstGeom>
          <a:solidFill>
            <a:srgbClr val="E4F1D8"/>
          </a:solidFill>
          <a:ln w="12700">
            <a:solidFill>
              <a:srgbClr val="5E9E4A"/>
            </a:solidFill>
            <a:prstDash val="solid"/>
          </a:ln>
        </p:spPr>
      </p:sp>
      <p:sp>
        <p:nvSpPr>
          <p:cNvPr id="61" name="Shape 59"/>
          <p:cNvSpPr/>
          <p:nvPr/>
        </p:nvSpPr>
        <p:spPr>
          <a:xfrm>
            <a:off x="799440" y="4100981"/>
            <a:ext cx="137160" cy="137160"/>
          </a:xfrm>
          <a:prstGeom prst="ellipse">
            <a:avLst/>
          </a:prstGeom>
          <a:solidFill>
            <a:srgbClr val="E07A5F"/>
          </a:solidFill>
          <a:ln w="6350">
            <a:solidFill>
              <a:srgbClr val="3A3532"/>
            </a:solidFill>
            <a:prstDash val="solid"/>
          </a:ln>
        </p:spPr>
      </p:sp>
      <p:sp>
        <p:nvSpPr>
          <p:cNvPr id="62" name="Shape 60"/>
          <p:cNvSpPr/>
          <p:nvPr/>
        </p:nvSpPr>
        <p:spPr>
          <a:xfrm>
            <a:off x="1580734" y="4531160"/>
            <a:ext cx="137160" cy="137160"/>
          </a:xfrm>
          <a:prstGeom prst="ellipse">
            <a:avLst/>
          </a:prstGeom>
          <a:solidFill>
            <a:srgbClr val="F2CC8F"/>
          </a:solidFill>
          <a:ln w="6350">
            <a:solidFill>
              <a:srgbClr val="3A3532"/>
            </a:solidFill>
            <a:prstDash val="solid"/>
          </a:ln>
        </p:spPr>
      </p:sp>
      <p:sp>
        <p:nvSpPr>
          <p:cNvPr id="63" name="Shape 61"/>
          <p:cNvSpPr/>
          <p:nvPr/>
        </p:nvSpPr>
        <p:spPr>
          <a:xfrm>
            <a:off x="2362027" y="4238963"/>
            <a:ext cx="137160" cy="137160"/>
          </a:xfrm>
          <a:prstGeom prst="ellipse">
            <a:avLst/>
          </a:prstGeom>
          <a:solidFill>
            <a:srgbClr val="E07A5F"/>
          </a:solidFill>
          <a:ln w="6350">
            <a:solidFill>
              <a:srgbClr val="3A3532"/>
            </a:solidFill>
            <a:prstDash val="solid"/>
          </a:ln>
        </p:spPr>
      </p:sp>
      <p:sp>
        <p:nvSpPr>
          <p:cNvPr id="64" name="Shape 62"/>
          <p:cNvSpPr/>
          <p:nvPr/>
        </p:nvSpPr>
        <p:spPr>
          <a:xfrm>
            <a:off x="1095065" y="4669142"/>
            <a:ext cx="137160" cy="137160"/>
          </a:xfrm>
          <a:prstGeom prst="ellipse">
            <a:avLst/>
          </a:prstGeom>
          <a:solidFill>
            <a:srgbClr val="F2CC8F"/>
          </a:solidFill>
          <a:ln w="6350">
            <a:solidFill>
              <a:srgbClr val="3A3532"/>
            </a:solidFill>
            <a:prstDash val="solid"/>
          </a:ln>
        </p:spPr>
      </p:sp>
      <p:sp>
        <p:nvSpPr>
          <p:cNvPr id="65" name="Shape 63"/>
          <p:cNvSpPr/>
          <p:nvPr/>
        </p:nvSpPr>
        <p:spPr>
          <a:xfrm>
            <a:off x="1876358" y="4376945"/>
            <a:ext cx="137160" cy="137160"/>
          </a:xfrm>
          <a:prstGeom prst="ellipse">
            <a:avLst/>
          </a:prstGeom>
          <a:solidFill>
            <a:srgbClr val="E07A5F"/>
          </a:solidFill>
          <a:ln w="6350">
            <a:solidFill>
              <a:srgbClr val="3A3532"/>
            </a:solidFill>
            <a:prstDash val="solid"/>
          </a:ln>
        </p:spPr>
      </p:sp>
      <p:sp>
        <p:nvSpPr>
          <p:cNvPr id="66" name="Shape 64"/>
          <p:cNvSpPr/>
          <p:nvPr/>
        </p:nvSpPr>
        <p:spPr>
          <a:xfrm>
            <a:off x="2657652" y="4084748"/>
            <a:ext cx="137160" cy="137160"/>
          </a:xfrm>
          <a:prstGeom prst="ellipse">
            <a:avLst/>
          </a:prstGeom>
          <a:solidFill>
            <a:srgbClr val="F2CC8F"/>
          </a:solidFill>
          <a:ln w="6350">
            <a:solidFill>
              <a:srgbClr val="3A3532"/>
            </a:solidFill>
            <a:prstDash val="solid"/>
          </a:ln>
        </p:spPr>
      </p:sp>
      <p:sp>
        <p:nvSpPr>
          <p:cNvPr id="67" name="Shape 65"/>
          <p:cNvSpPr/>
          <p:nvPr/>
        </p:nvSpPr>
        <p:spPr>
          <a:xfrm>
            <a:off x="1390689" y="4514927"/>
            <a:ext cx="137160" cy="137160"/>
          </a:xfrm>
          <a:prstGeom prst="ellipse">
            <a:avLst/>
          </a:prstGeom>
          <a:solidFill>
            <a:srgbClr val="E07A5F"/>
          </a:solidFill>
          <a:ln w="6350">
            <a:solidFill>
              <a:srgbClr val="3A3532"/>
            </a:solidFill>
            <a:prstDash val="solid"/>
          </a:ln>
        </p:spPr>
      </p:sp>
      <p:sp>
        <p:nvSpPr>
          <p:cNvPr id="68" name="Shape 66"/>
          <p:cNvSpPr/>
          <p:nvPr/>
        </p:nvSpPr>
        <p:spPr>
          <a:xfrm>
            <a:off x="2171983" y="4222730"/>
            <a:ext cx="137160" cy="137160"/>
          </a:xfrm>
          <a:prstGeom prst="ellipse">
            <a:avLst/>
          </a:prstGeom>
          <a:solidFill>
            <a:srgbClr val="F2CC8F"/>
          </a:solidFill>
          <a:ln w="6350">
            <a:solidFill>
              <a:srgbClr val="3A3532"/>
            </a:solidFill>
            <a:prstDash val="solid"/>
          </a:ln>
        </p:spPr>
      </p:sp>
      <p:sp>
        <p:nvSpPr>
          <p:cNvPr id="69" name="Shape 67"/>
          <p:cNvSpPr/>
          <p:nvPr/>
        </p:nvSpPr>
        <p:spPr>
          <a:xfrm>
            <a:off x="905020" y="4652909"/>
            <a:ext cx="137160" cy="137160"/>
          </a:xfrm>
          <a:prstGeom prst="ellipse">
            <a:avLst/>
          </a:prstGeom>
          <a:solidFill>
            <a:srgbClr val="E07A5F"/>
          </a:solidFill>
          <a:ln w="6350">
            <a:solidFill>
              <a:srgbClr val="3A3532"/>
            </a:solidFill>
            <a:prstDash val="solid"/>
          </a:ln>
        </p:spPr>
      </p:sp>
      <p:sp>
        <p:nvSpPr>
          <p:cNvPr id="70" name="Shape 68"/>
          <p:cNvSpPr/>
          <p:nvPr/>
        </p:nvSpPr>
        <p:spPr>
          <a:xfrm>
            <a:off x="1686314" y="4360712"/>
            <a:ext cx="137160" cy="137160"/>
          </a:xfrm>
          <a:prstGeom prst="ellipse">
            <a:avLst/>
          </a:prstGeom>
          <a:solidFill>
            <a:srgbClr val="F2CC8F"/>
          </a:solidFill>
          <a:ln w="6350">
            <a:solidFill>
              <a:srgbClr val="3A3532"/>
            </a:solidFill>
            <a:prstDash val="solid"/>
          </a:ln>
        </p:spPr>
      </p:sp>
      <p:sp>
        <p:nvSpPr>
          <p:cNvPr id="71" name="Shape 69"/>
          <p:cNvSpPr/>
          <p:nvPr/>
        </p:nvSpPr>
        <p:spPr>
          <a:xfrm>
            <a:off x="3108960" y="3931920"/>
            <a:ext cx="237744" cy="1051560"/>
          </a:xfrm>
          <a:prstGeom prst="rect">
            <a:avLst/>
          </a:prstGeom>
          <a:solidFill>
            <a:srgbClr val="BFD9F2"/>
          </a:solidFill>
          <a:ln w="9525">
            <a:solidFill>
              <a:srgbClr val="5B9BD5"/>
            </a:solidFill>
            <a:prstDash val="solid"/>
          </a:ln>
        </p:spPr>
      </p:sp>
      <p:sp>
        <p:nvSpPr>
          <p:cNvPr id="72" name="Shape 70"/>
          <p:cNvSpPr/>
          <p:nvPr/>
        </p:nvSpPr>
        <p:spPr>
          <a:xfrm>
            <a:off x="3429000" y="3931920"/>
            <a:ext cx="2377440" cy="1051560"/>
          </a:xfrm>
          <a:prstGeom prst="roundRect">
            <a:avLst>
              <a:gd name="adj" fmla="val 6957"/>
            </a:avLst>
          </a:prstGeom>
          <a:solidFill>
            <a:srgbClr val="E4F1D8"/>
          </a:solidFill>
          <a:ln w="12700">
            <a:solidFill>
              <a:srgbClr val="5E9E4A"/>
            </a:solidFill>
            <a:prstDash val="solid"/>
          </a:ln>
        </p:spPr>
      </p:sp>
      <p:sp>
        <p:nvSpPr>
          <p:cNvPr id="73" name="Shape 71"/>
          <p:cNvSpPr/>
          <p:nvPr/>
        </p:nvSpPr>
        <p:spPr>
          <a:xfrm>
            <a:off x="3672824" y="4198380"/>
            <a:ext cx="137160" cy="137160"/>
          </a:xfrm>
          <a:prstGeom prst="ellipse">
            <a:avLst/>
          </a:prstGeom>
          <a:solidFill>
            <a:srgbClr val="7FA7D9"/>
          </a:solidFill>
          <a:ln w="6350">
            <a:solidFill>
              <a:srgbClr val="3A3532"/>
            </a:solidFill>
            <a:prstDash val="solid"/>
          </a:ln>
        </p:spPr>
      </p:sp>
      <p:sp>
        <p:nvSpPr>
          <p:cNvPr id="74" name="Shape 72"/>
          <p:cNvSpPr/>
          <p:nvPr/>
        </p:nvSpPr>
        <p:spPr>
          <a:xfrm>
            <a:off x="4454118" y="4628559"/>
            <a:ext cx="137160" cy="137160"/>
          </a:xfrm>
          <a:prstGeom prst="ellipse">
            <a:avLst/>
          </a:prstGeom>
          <a:solidFill>
            <a:srgbClr val="81B29A"/>
          </a:solidFill>
          <a:ln w="6350">
            <a:solidFill>
              <a:srgbClr val="3A3532"/>
            </a:solidFill>
            <a:prstDash val="solid"/>
          </a:ln>
        </p:spPr>
      </p:sp>
      <p:sp>
        <p:nvSpPr>
          <p:cNvPr id="75" name="Shape 73"/>
          <p:cNvSpPr/>
          <p:nvPr/>
        </p:nvSpPr>
        <p:spPr>
          <a:xfrm>
            <a:off x="5235411" y="4336362"/>
            <a:ext cx="137160" cy="137160"/>
          </a:xfrm>
          <a:prstGeom prst="ellipse">
            <a:avLst/>
          </a:prstGeom>
          <a:solidFill>
            <a:srgbClr val="7FA7D9"/>
          </a:solidFill>
          <a:ln w="6350">
            <a:solidFill>
              <a:srgbClr val="3A3532"/>
            </a:solidFill>
            <a:prstDash val="solid"/>
          </a:ln>
        </p:spPr>
      </p:sp>
      <p:sp>
        <p:nvSpPr>
          <p:cNvPr id="76" name="Shape 74"/>
          <p:cNvSpPr/>
          <p:nvPr/>
        </p:nvSpPr>
        <p:spPr>
          <a:xfrm>
            <a:off x="3968449" y="4044165"/>
            <a:ext cx="137160" cy="137160"/>
          </a:xfrm>
          <a:prstGeom prst="ellipse">
            <a:avLst/>
          </a:prstGeom>
          <a:solidFill>
            <a:srgbClr val="81B29A"/>
          </a:solidFill>
          <a:ln w="6350">
            <a:solidFill>
              <a:srgbClr val="3A3532"/>
            </a:solidFill>
            <a:prstDash val="solid"/>
          </a:ln>
        </p:spPr>
      </p:sp>
      <p:sp>
        <p:nvSpPr>
          <p:cNvPr id="77" name="Shape 75"/>
          <p:cNvSpPr/>
          <p:nvPr/>
        </p:nvSpPr>
        <p:spPr>
          <a:xfrm>
            <a:off x="4749742" y="4474344"/>
            <a:ext cx="137160" cy="137160"/>
          </a:xfrm>
          <a:prstGeom prst="ellipse">
            <a:avLst/>
          </a:prstGeom>
          <a:solidFill>
            <a:srgbClr val="7FA7D9"/>
          </a:solidFill>
          <a:ln w="6350">
            <a:solidFill>
              <a:srgbClr val="3A3532"/>
            </a:solidFill>
            <a:prstDash val="solid"/>
          </a:ln>
        </p:spPr>
      </p:sp>
      <p:sp>
        <p:nvSpPr>
          <p:cNvPr id="78" name="Shape 76"/>
          <p:cNvSpPr/>
          <p:nvPr/>
        </p:nvSpPr>
        <p:spPr>
          <a:xfrm>
            <a:off x="5531036" y="4182147"/>
            <a:ext cx="137160" cy="137160"/>
          </a:xfrm>
          <a:prstGeom prst="ellipse">
            <a:avLst/>
          </a:prstGeom>
          <a:solidFill>
            <a:srgbClr val="81B29A"/>
          </a:solidFill>
          <a:ln w="6350">
            <a:solidFill>
              <a:srgbClr val="3A3532"/>
            </a:solidFill>
            <a:prstDash val="solid"/>
          </a:ln>
        </p:spPr>
      </p:sp>
      <p:sp>
        <p:nvSpPr>
          <p:cNvPr id="79" name="Shape 77"/>
          <p:cNvSpPr/>
          <p:nvPr/>
        </p:nvSpPr>
        <p:spPr>
          <a:xfrm>
            <a:off x="4264073" y="4612326"/>
            <a:ext cx="137160" cy="137160"/>
          </a:xfrm>
          <a:prstGeom prst="ellipse">
            <a:avLst/>
          </a:prstGeom>
          <a:solidFill>
            <a:srgbClr val="7FA7D9"/>
          </a:solidFill>
          <a:ln w="6350">
            <a:solidFill>
              <a:srgbClr val="3A3532"/>
            </a:solidFill>
            <a:prstDash val="solid"/>
          </a:ln>
        </p:spPr>
      </p:sp>
      <p:sp>
        <p:nvSpPr>
          <p:cNvPr id="80" name="Shape 78"/>
          <p:cNvSpPr/>
          <p:nvPr/>
        </p:nvSpPr>
        <p:spPr>
          <a:xfrm>
            <a:off x="5045367" y="4320129"/>
            <a:ext cx="137160" cy="137160"/>
          </a:xfrm>
          <a:prstGeom prst="ellipse">
            <a:avLst/>
          </a:prstGeom>
          <a:solidFill>
            <a:srgbClr val="81B29A"/>
          </a:solidFill>
          <a:ln w="6350">
            <a:solidFill>
              <a:srgbClr val="3A3532"/>
            </a:solidFill>
            <a:prstDash val="solid"/>
          </a:ln>
        </p:spPr>
      </p:sp>
      <p:sp>
        <p:nvSpPr>
          <p:cNvPr id="81" name="Shape 79"/>
          <p:cNvSpPr/>
          <p:nvPr/>
        </p:nvSpPr>
        <p:spPr>
          <a:xfrm>
            <a:off x="3778404" y="4027932"/>
            <a:ext cx="137160" cy="137160"/>
          </a:xfrm>
          <a:prstGeom prst="ellipse">
            <a:avLst/>
          </a:prstGeom>
          <a:solidFill>
            <a:srgbClr val="7FA7D9"/>
          </a:solidFill>
          <a:ln w="6350">
            <a:solidFill>
              <a:srgbClr val="3A3532"/>
            </a:solidFill>
            <a:prstDash val="solid"/>
          </a:ln>
        </p:spPr>
      </p:sp>
      <p:sp>
        <p:nvSpPr>
          <p:cNvPr id="82" name="Shape 80"/>
          <p:cNvSpPr/>
          <p:nvPr/>
        </p:nvSpPr>
        <p:spPr>
          <a:xfrm>
            <a:off x="4559698" y="4458111"/>
            <a:ext cx="137160" cy="137160"/>
          </a:xfrm>
          <a:prstGeom prst="ellipse">
            <a:avLst/>
          </a:prstGeom>
          <a:solidFill>
            <a:srgbClr val="81B29A"/>
          </a:solidFill>
          <a:ln w="6350">
            <a:solidFill>
              <a:srgbClr val="3A3532"/>
            </a:solidFill>
            <a:prstDash val="solid"/>
          </a:ln>
        </p:spPr>
      </p:sp>
      <p:sp>
        <p:nvSpPr>
          <p:cNvPr id="83" name="Text 81"/>
          <p:cNvSpPr/>
          <p:nvPr/>
        </p:nvSpPr>
        <p:spPr>
          <a:xfrm>
            <a:off x="640080" y="5029200"/>
            <a:ext cx="6217920" cy="27432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So different they </a:t>
            </a:r>
            <a:r>
              <a:rPr lang="en-US" sz="1050" b="1" dirty="0">
                <a:solidFill>
                  <a:srgbClr val="C8414C"/>
                </a:solidFill>
                <a:latin typeface="Calibri" pitchFamily="34" charset="0"/>
                <a:ea typeface="Calibri" pitchFamily="34" charset="-122"/>
                <a:cs typeface="Calibri" pitchFamily="34" charset="-120"/>
              </a:rPr>
              <a:t>cannot interbreed</a:t>
            </a:r>
            <a:r>
              <a:rPr lang="en-US" sz="1050" b="1" dirty="0">
                <a:solidFill>
                  <a:srgbClr val="C8414C"/>
                </a:solidFill>
                <a:latin typeface="Calibri" pitchFamily="34" charset="0"/>
                <a:ea typeface="Calibri" pitchFamily="34" charset="-122"/>
                <a:cs typeface="Calibri" pitchFamily="34" charset="-120"/>
              </a:rPr>
              <a:t> to produce </a:t>
            </a:r>
            <a:r>
              <a:rPr lang="en-US" sz="1050" b="1" dirty="0">
                <a:solidFill>
                  <a:srgbClr val="C8414C"/>
                </a:solidFill>
                <a:latin typeface="Calibri" pitchFamily="34" charset="0"/>
                <a:ea typeface="Calibri" pitchFamily="34" charset="-122"/>
                <a:cs typeface="Calibri" pitchFamily="34" charset="-120"/>
              </a:rPr>
              <a:t>fertile</a:t>
            </a:r>
            <a:r>
              <a:rPr lang="en-US" sz="1050" b="1" dirty="0">
                <a:solidFill>
                  <a:srgbClr val="C8414C"/>
                </a:solidFill>
                <a:latin typeface="Calibri" pitchFamily="34" charset="0"/>
                <a:ea typeface="Calibri" pitchFamily="34" charset="-122"/>
                <a:cs typeface="Calibri" pitchFamily="34" charset="-120"/>
              </a:rPr>
              <a:t> offspring: </a:t>
            </a:r>
            <a:r>
              <a:rPr lang="en-US" sz="1050" b="1" dirty="0">
                <a:solidFill>
                  <a:srgbClr val="C8414C"/>
                </a:solidFill>
                <a:latin typeface="Calibri" pitchFamily="34" charset="0"/>
                <a:ea typeface="Calibri" pitchFamily="34" charset="-122"/>
                <a:cs typeface="Calibri" pitchFamily="34" charset="-120"/>
              </a:rPr>
              <a:t>two species</a:t>
            </a:r>
            <a:endParaRPr lang="en-US" sz="1050" dirty="0"/>
          </a:p>
        </p:txBody>
      </p:sp>
      <p:sp>
        <p:nvSpPr>
          <p:cNvPr id="84" name="Shape 82"/>
          <p:cNvSpPr/>
          <p:nvPr/>
        </p:nvSpPr>
        <p:spPr>
          <a:xfrm>
            <a:off x="5897880" y="3977640"/>
            <a:ext cx="1051560" cy="274320"/>
          </a:xfrm>
          <a:prstGeom prst="roundRect">
            <a:avLst>
              <a:gd name="adj" fmla="val 50000"/>
            </a:avLst>
          </a:prstGeom>
          <a:solidFill>
            <a:srgbClr val="C8414C"/>
          </a:solidFill>
          <a:ln w="12700">
            <a:solidFill>
              <a:srgbClr val="C8414C"/>
            </a:solidFill>
            <a:prstDash val="solid"/>
          </a:ln>
        </p:spPr>
      </p:sp>
      <p:sp>
        <p:nvSpPr>
          <p:cNvPr id="85" name="Text 83"/>
          <p:cNvSpPr/>
          <p:nvPr/>
        </p:nvSpPr>
        <p:spPr>
          <a:xfrm>
            <a:off x="5897880" y="3977640"/>
            <a:ext cx="10515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6" name="Text 84"/>
          <p:cNvSpPr/>
          <p:nvPr/>
        </p:nvSpPr>
        <p:spPr>
          <a:xfrm>
            <a:off x="5897880" y="4297680"/>
            <a:ext cx="1051560" cy="45720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isolation as the cause</a:t>
            </a:r>
            <a:endParaRPr lang="en-US" sz="1000" dirty="0"/>
          </a:p>
        </p:txBody>
      </p:sp>
      <p:sp>
        <p:nvSpPr>
          <p:cNvPr id="87" name="Shape 85"/>
          <p:cNvSpPr/>
          <p:nvPr/>
        </p:nvSpPr>
        <p:spPr>
          <a:xfrm>
            <a:off x="7223760" y="1188720"/>
            <a:ext cx="4553712" cy="2788920"/>
          </a:xfrm>
          <a:prstGeom prst="roundRect">
            <a:avLst>
              <a:gd name="adj" fmla="val 1967"/>
            </a:avLst>
          </a:prstGeom>
          <a:solidFill>
            <a:srgbClr val="F4FAF9"/>
          </a:solidFill>
          <a:ln w="9525">
            <a:solidFill>
              <a:srgbClr val="CFE0DE"/>
            </a:solidFill>
            <a:prstDash val="solid"/>
          </a:ln>
        </p:spPr>
      </p:sp>
      <p:sp>
        <p:nvSpPr>
          <p:cNvPr id="88" name="Text 86"/>
          <p:cNvSpPr/>
          <p:nvPr/>
        </p:nvSpPr>
        <p:spPr>
          <a:xfrm>
            <a:off x="7388352" y="1280160"/>
            <a:ext cx="422452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Evolution can make new species</a:t>
            </a:r>
            <a:endParaRPr lang="en-US" sz="1300" dirty="0"/>
          </a:p>
        </p:txBody>
      </p:sp>
      <p:sp>
        <p:nvSpPr>
          <p:cNvPr id="89" name="Text 87"/>
          <p:cNvSpPr/>
          <p:nvPr/>
        </p:nvSpPr>
        <p:spPr>
          <a:xfrm>
            <a:off x="7388352" y="1609344"/>
            <a:ext cx="4224528" cy="22951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Evolution</a:t>
            </a:r>
            <a:r>
              <a:rPr lang="en-US" sz="1150" dirty="0">
                <a:solidFill>
                  <a:srgbClr val="262B3A"/>
                </a:solidFill>
                <a:latin typeface="Calibri" pitchFamily="34" charset="0"/>
                <a:ea typeface="Calibri" pitchFamily="34" charset="-122"/>
                <a:cs typeface="Calibri" pitchFamily="34" charset="-120"/>
              </a:rPr>
              <a:t>: a change in the </a:t>
            </a:r>
            <a:r>
              <a:rPr lang="en-US" sz="1150" b="1" dirty="0">
                <a:solidFill>
                  <a:srgbClr val="262B3A"/>
                </a:solidFill>
                <a:latin typeface="Calibri" pitchFamily="34" charset="0"/>
                <a:ea typeface="Calibri" pitchFamily="34" charset="-122"/>
                <a:cs typeface="Calibri" pitchFamily="34" charset="-120"/>
              </a:rPr>
              <a:t>inherited characteristics</a:t>
            </a:r>
            <a:r>
              <a:rPr lang="en-US" sz="1150" dirty="0">
                <a:solidFill>
                  <a:srgbClr val="262B3A"/>
                </a:solidFill>
                <a:latin typeface="Calibri" pitchFamily="34" charset="0"/>
                <a:ea typeface="Calibri" pitchFamily="34" charset="-122"/>
                <a:cs typeface="Calibri" pitchFamily="34" charset="-120"/>
              </a:rPr>
              <a:t> of a </a:t>
            </a:r>
            <a:r>
              <a:rPr lang="en-US" sz="1150" b="1" dirty="0">
                <a:solidFill>
                  <a:srgbClr val="262B3A"/>
                </a:solidFill>
                <a:latin typeface="Calibri" pitchFamily="34" charset="0"/>
                <a:ea typeface="Calibri" pitchFamily="34" charset="-122"/>
                <a:cs typeface="Calibri" pitchFamily="34" charset="-120"/>
              </a:rPr>
              <a:t>population</a:t>
            </a:r>
            <a:r>
              <a:rPr lang="en-US" sz="1150" dirty="0">
                <a:solidFill>
                  <a:srgbClr val="262B3A"/>
                </a:solidFill>
                <a:latin typeface="Calibri" pitchFamily="34" charset="0"/>
                <a:ea typeface="Calibri" pitchFamily="34" charset="-122"/>
                <a:cs typeface="Calibri" pitchFamily="34" charset="-120"/>
              </a:rPr>
              <a:t> over time, through </a:t>
            </a:r>
            <a:r>
              <a:rPr lang="en-US" sz="1150" b="1" dirty="0">
                <a:solidFill>
                  <a:srgbClr val="262B3A"/>
                </a:solidFill>
                <a:latin typeface="Calibri" pitchFamily="34" charset="0"/>
                <a:ea typeface="Calibri" pitchFamily="34" charset="-122"/>
                <a:cs typeface="Calibri" pitchFamily="34" charset="-120"/>
              </a:rPr>
              <a:t>natural selection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two groups of a species evolve </a:t>
            </a:r>
            <a:r>
              <a:rPr lang="en-US" sz="1150" b="1" dirty="0">
                <a:solidFill>
                  <a:srgbClr val="262B3A"/>
                </a:solidFill>
                <a:latin typeface="Calibri" pitchFamily="34" charset="0"/>
                <a:ea typeface="Calibri" pitchFamily="34" charset="-122"/>
                <a:cs typeface="Calibri" pitchFamily="34" charset="-120"/>
              </a:rPr>
              <a:t>differently</a:t>
            </a:r>
            <a:r>
              <a:rPr lang="en-US" sz="1150" dirty="0">
                <a:solidFill>
                  <a:srgbClr val="262B3A"/>
                </a:solidFill>
                <a:latin typeface="Calibri" pitchFamily="34" charset="0"/>
                <a:ea typeface="Calibri" pitchFamily="34" charset="-122"/>
                <a:cs typeface="Calibri" pitchFamily="34" charset="-120"/>
              </a:rPr>
              <a:t> for long enough, they may form </a:t>
            </a:r>
            <a:r>
              <a:rPr lang="en-US" sz="1150" b="1" dirty="0">
                <a:solidFill>
                  <a:srgbClr val="262B3A"/>
                </a:solidFill>
                <a:latin typeface="Calibri" pitchFamily="34" charset="0"/>
                <a:ea typeface="Calibri" pitchFamily="34" charset="-122"/>
                <a:cs typeface="Calibri" pitchFamily="34" charset="-120"/>
              </a:rPr>
              <a:t>new species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species</a:t>
            </a:r>
            <a:r>
              <a:rPr lang="en-US" sz="1150" dirty="0">
                <a:solidFill>
                  <a:srgbClr val="262B3A"/>
                </a:solidFill>
                <a:latin typeface="Calibri" pitchFamily="34" charset="0"/>
                <a:ea typeface="Calibri" pitchFamily="34" charset="-122"/>
                <a:cs typeface="Calibri" pitchFamily="34" charset="-120"/>
              </a:rPr>
              <a:t> is a group whose members can </a:t>
            </a:r>
            <a:r>
              <a:rPr lang="en-US" sz="1150" b="1" dirty="0">
                <a:solidFill>
                  <a:srgbClr val="262B3A"/>
                </a:solidFill>
                <a:latin typeface="Calibri" pitchFamily="34" charset="0"/>
                <a:ea typeface="Calibri" pitchFamily="34" charset="-122"/>
                <a:cs typeface="Calibri" pitchFamily="34" charset="-120"/>
              </a:rPr>
              <a:t>interbreed</a:t>
            </a:r>
            <a:r>
              <a:rPr lang="en-US" sz="1150" dirty="0">
                <a:solidFill>
                  <a:srgbClr val="262B3A"/>
                </a:solidFill>
                <a:latin typeface="Calibri" pitchFamily="34" charset="0"/>
                <a:ea typeface="Calibri" pitchFamily="34" charset="-122"/>
                <a:cs typeface="Calibri" pitchFamily="34" charset="-120"/>
              </a:rPr>
              <a:t> to produce </a:t>
            </a:r>
            <a:r>
              <a:rPr lang="en-US" sz="1150" b="1" dirty="0">
                <a:solidFill>
                  <a:srgbClr val="262B3A"/>
                </a:solidFill>
                <a:latin typeface="Calibri" pitchFamily="34" charset="0"/>
                <a:ea typeface="Calibri" pitchFamily="34" charset="-122"/>
                <a:cs typeface="Calibri" pitchFamily="34" charset="-120"/>
              </a:rPr>
              <a:t>fertile</a:t>
            </a:r>
            <a:r>
              <a:rPr lang="en-US" sz="1150" dirty="0">
                <a:solidFill>
                  <a:srgbClr val="262B3A"/>
                </a:solidFill>
                <a:latin typeface="Calibri" pitchFamily="34" charset="0"/>
                <a:ea typeface="Calibri" pitchFamily="34" charset="-122"/>
                <a:cs typeface="Calibri" pitchFamily="34" charset="-120"/>
              </a:rPr>
              <a:t> offspring.</a:t>
            </a:r>
            <a:endParaRPr lang="en-US" sz="1150" dirty="0"/>
          </a:p>
        </p:txBody>
      </p:sp>
      <p:sp>
        <p:nvSpPr>
          <p:cNvPr id="90" name="Shape 88"/>
          <p:cNvSpPr/>
          <p:nvPr/>
        </p:nvSpPr>
        <p:spPr>
          <a:xfrm>
            <a:off x="7223760" y="4114800"/>
            <a:ext cx="4553712" cy="1600200"/>
          </a:xfrm>
          <a:prstGeom prst="roundRect">
            <a:avLst>
              <a:gd name="adj" fmla="val 3429"/>
            </a:avLst>
          </a:prstGeom>
          <a:solidFill>
            <a:srgbClr val="FBEDEE"/>
          </a:solidFill>
          <a:ln w="9525">
            <a:solidFill>
              <a:srgbClr val="E9B7BB"/>
            </a:solidFill>
            <a:prstDash val="solid"/>
          </a:ln>
        </p:spPr>
      </p:sp>
      <p:sp>
        <p:nvSpPr>
          <p:cNvPr id="91" name="Text 89"/>
          <p:cNvSpPr/>
          <p:nvPr/>
        </p:nvSpPr>
        <p:spPr>
          <a:xfrm>
            <a:off x="7388352" y="4206240"/>
            <a:ext cx="422452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Stretch: why isolation matters</a:t>
            </a:r>
            <a:endParaRPr lang="en-US" sz="1300" dirty="0"/>
          </a:p>
        </p:txBody>
      </p:sp>
      <p:sp>
        <p:nvSpPr>
          <p:cNvPr id="92" name="Text 90"/>
          <p:cNvSpPr/>
          <p:nvPr/>
        </p:nvSpPr>
        <p:spPr>
          <a:xfrm>
            <a:off x="7388352" y="4535424"/>
            <a:ext cx="4224528" cy="11064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barrier stops </a:t>
            </a:r>
            <a:r>
              <a:rPr lang="en-US" sz="1100" b="1" dirty="0">
                <a:solidFill>
                  <a:srgbClr val="262B3A"/>
                </a:solidFill>
                <a:latin typeface="Calibri" pitchFamily="34" charset="0"/>
                <a:ea typeface="Calibri" pitchFamily="34" charset="-122"/>
                <a:cs typeface="Calibri" pitchFamily="34" charset="-120"/>
              </a:rPr>
              <a:t>alleles</a:t>
            </a:r>
            <a:r>
              <a:rPr lang="en-US" sz="1100" dirty="0">
                <a:solidFill>
                  <a:srgbClr val="262B3A"/>
                </a:solidFill>
                <a:latin typeface="Calibri" pitchFamily="34" charset="0"/>
                <a:ea typeface="Calibri" pitchFamily="34" charset="-122"/>
                <a:cs typeface="Calibri" pitchFamily="34" charset="-120"/>
              </a:rPr>
              <a:t> being shared between the groups, so their differences </a:t>
            </a:r>
            <a:r>
              <a:rPr lang="en-US" sz="1100" b="1" dirty="0">
                <a:solidFill>
                  <a:srgbClr val="262B3A"/>
                </a:solidFill>
                <a:latin typeface="Calibri" pitchFamily="34" charset="0"/>
                <a:ea typeface="Calibri" pitchFamily="34" charset="-122"/>
                <a:cs typeface="Calibri" pitchFamily="34" charset="-120"/>
              </a:rPr>
              <a:t>build up</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Darwin's </a:t>
            </a:r>
            <a:r>
              <a:rPr lang="en-US" sz="1100" b="1" dirty="0">
                <a:solidFill>
                  <a:srgbClr val="262B3A"/>
                </a:solidFill>
                <a:latin typeface="Calibri" pitchFamily="34" charset="0"/>
                <a:ea typeface="Calibri" pitchFamily="34" charset="-122"/>
                <a:cs typeface="Calibri" pitchFamily="34" charset="-120"/>
              </a:rPr>
              <a:t>Galápagos</a:t>
            </a:r>
            <a:r>
              <a:rPr lang="en-US" sz="1100" dirty="0">
                <a:solidFill>
                  <a:srgbClr val="262B3A"/>
                </a:solidFill>
                <a:latin typeface="Calibri" pitchFamily="34" charset="0"/>
                <a:ea typeface="Calibri" pitchFamily="34" charset="-122"/>
                <a:cs typeface="Calibri" pitchFamily="34" charset="-120"/>
              </a:rPr>
              <a:t> finches: one mainland species → many island species.</a:t>
            </a:r>
            <a:endParaRPr lang="en-US" sz="1100" dirty="0"/>
          </a:p>
        </p:txBody>
      </p:sp>
      <p:sp>
        <p:nvSpPr>
          <p:cNvPr id="93" name="Shape 91"/>
          <p:cNvSpPr/>
          <p:nvPr/>
        </p:nvSpPr>
        <p:spPr>
          <a:xfrm>
            <a:off x="411480" y="5833872"/>
            <a:ext cx="11368735" cy="530352"/>
          </a:xfrm>
          <a:prstGeom prst="rect">
            <a:avLst/>
          </a:prstGeom>
          <a:solidFill>
            <a:srgbClr val="FFF4E0"/>
          </a:solidFill>
          <a:ln w="6350">
            <a:solidFill>
              <a:srgbClr val="F1D9A8"/>
            </a:solidFill>
            <a:prstDash val="solid"/>
          </a:ln>
        </p:spPr>
      </p:sp>
      <p:sp>
        <p:nvSpPr>
          <p:cNvPr id="94" name="Shape 92"/>
          <p:cNvSpPr/>
          <p:nvPr/>
        </p:nvSpPr>
        <p:spPr>
          <a:xfrm>
            <a:off x="411480" y="5833872"/>
            <a:ext cx="82296" cy="530352"/>
          </a:xfrm>
          <a:prstGeom prst="rect">
            <a:avLst/>
          </a:prstGeom>
          <a:solidFill>
            <a:srgbClr val="E39A2F"/>
          </a:solidFill>
          <a:ln w="12700">
            <a:solidFill>
              <a:srgbClr val="E39A2F"/>
            </a:solidFill>
            <a:prstDash val="solid"/>
          </a:ln>
        </p:spPr>
      </p:sp>
      <p:sp>
        <p:nvSpPr>
          <p:cNvPr id="95" name="Text 9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Define a </a:t>
            </a:r>
            <a:r>
              <a:rPr lang="en-US" sz="1150" b="1" dirty="0">
                <a:solidFill>
                  <a:srgbClr val="262B3A"/>
                </a:solidFill>
                <a:latin typeface="Calibri" pitchFamily="34" charset="0"/>
                <a:ea typeface="Calibri" pitchFamily="34" charset="-122"/>
                <a:cs typeface="Calibri" pitchFamily="34" charset="-120"/>
              </a:rPr>
              <a:t>species</a:t>
            </a:r>
            <a:r>
              <a:rPr lang="en-US" sz="1150" dirty="0">
                <a:solidFill>
                  <a:srgbClr val="262B3A"/>
                </a:solidFill>
                <a:latin typeface="Calibri" pitchFamily="34" charset="0"/>
                <a:ea typeface="Calibri" pitchFamily="34" charset="-122"/>
                <a:cs typeface="Calibri" pitchFamily="34" charset="-120"/>
              </a:rPr>
              <a:t>. Explain why two groups separated by a mountain range may become </a:t>
            </a:r>
            <a:r>
              <a:rPr lang="en-US" sz="1150" b="1" dirty="0">
                <a:solidFill>
                  <a:srgbClr val="262B3A"/>
                </a:solidFill>
                <a:latin typeface="Calibri" pitchFamily="34" charset="0"/>
                <a:ea typeface="Calibri" pitchFamily="34" charset="-122"/>
                <a:cs typeface="Calibri" pitchFamily="34" charset="-120"/>
              </a:rPr>
              <a:t>different</a:t>
            </a:r>
            <a:r>
              <a:rPr lang="en-US" sz="1150" dirty="0">
                <a:solidFill>
                  <a:srgbClr val="262B3A"/>
                </a:solidFill>
                <a:latin typeface="Calibri" pitchFamily="34" charset="0"/>
                <a:ea typeface="Calibri" pitchFamily="34" charset="-122"/>
                <a:cs typeface="Calibri" pitchFamily="34" charset="-120"/>
              </a:rPr>
              <a:t> species over time.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Evidence: fossils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B6.1.6 • describe how fossils provide evidence for evolution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B6.1.6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rock layers (strata) seen in a cliff; not to scale</a:t>
            </a:r>
            <a:endParaRPr lang="en-US" sz="1000" dirty="0"/>
          </a:p>
        </p:txBody>
      </p:sp>
      <p:sp>
        <p:nvSpPr>
          <p:cNvPr id="10" name="Shape 8"/>
          <p:cNvSpPr/>
          <p:nvPr/>
        </p:nvSpPr>
        <p:spPr>
          <a:xfrm>
            <a:off x="1463040" y="1371600"/>
            <a:ext cx="2926080" cy="749808"/>
          </a:xfrm>
          <a:custGeom>
            <a:avLst/>
            <a:gdLst/>
            <a:ahLst/>
            <a:cxnLst/>
            <a:rect l="l" t="t" r="r" b="b"/>
            <a:pathLst>
              <a:path w="2926080" h="749808">
                <a:moveTo>
                  <a:pt x="0" y="0"/>
                </a:moveTo>
                <a:lnTo>
                  <a:pt x="2926080" y="45720"/>
                </a:lnTo>
                <a:lnTo>
                  <a:pt x="2926080" y="749808"/>
                </a:lnTo>
                <a:lnTo>
                  <a:pt x="0" y="749808"/>
                </a:lnTo>
                <a:close/>
              </a:path>
            </a:pathLst>
          </a:custGeom>
          <a:solidFill>
            <a:srgbClr val="E9DCB8"/>
          </a:solidFill>
          <a:ln w="9525">
            <a:solidFill>
              <a:srgbClr val="7A5E3E"/>
            </a:solidFill>
            <a:prstDash val="solid"/>
          </a:ln>
        </p:spPr>
      </p:sp>
      <p:sp>
        <p:nvSpPr>
          <p:cNvPr id="11" name="Text 9"/>
          <p:cNvSpPr/>
          <p:nvPr/>
        </p:nvSpPr>
        <p:spPr>
          <a:xfrm>
            <a:off x="4480560" y="1554480"/>
            <a:ext cx="1463040" cy="3657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mammals</a:t>
            </a:r>
            <a:endParaRPr lang="en-US" sz="1050" dirty="0"/>
          </a:p>
        </p:txBody>
      </p:sp>
      <p:sp>
        <p:nvSpPr>
          <p:cNvPr id="12" name="Shape 10"/>
          <p:cNvSpPr/>
          <p:nvPr/>
        </p:nvSpPr>
        <p:spPr>
          <a:xfrm>
            <a:off x="1463040" y="2121408"/>
            <a:ext cx="2926080" cy="749808"/>
          </a:xfrm>
          <a:custGeom>
            <a:avLst/>
            <a:gdLst/>
            <a:ahLst/>
            <a:cxnLst/>
            <a:rect l="l" t="t" r="r" b="b"/>
            <a:pathLst>
              <a:path w="2926080" h="749808">
                <a:moveTo>
                  <a:pt x="0" y="45720"/>
                </a:moveTo>
                <a:lnTo>
                  <a:pt x="2926080" y="0"/>
                </a:lnTo>
                <a:lnTo>
                  <a:pt x="2926080" y="749808"/>
                </a:lnTo>
                <a:lnTo>
                  <a:pt x="0" y="749808"/>
                </a:lnTo>
                <a:close/>
              </a:path>
            </a:pathLst>
          </a:custGeom>
          <a:solidFill>
            <a:srgbClr val="D9C08E"/>
          </a:solidFill>
          <a:ln w="9525">
            <a:solidFill>
              <a:srgbClr val="7A5E3E"/>
            </a:solidFill>
            <a:prstDash val="solid"/>
          </a:ln>
        </p:spPr>
      </p:sp>
      <p:sp>
        <p:nvSpPr>
          <p:cNvPr id="13" name="Text 11"/>
          <p:cNvSpPr/>
          <p:nvPr/>
        </p:nvSpPr>
        <p:spPr>
          <a:xfrm>
            <a:off x="4480560" y="2304288"/>
            <a:ext cx="1463040" cy="3657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reptiles</a:t>
            </a:r>
            <a:endParaRPr lang="en-US" sz="1050" dirty="0"/>
          </a:p>
        </p:txBody>
      </p:sp>
      <p:sp>
        <p:nvSpPr>
          <p:cNvPr id="14" name="Shape 12"/>
          <p:cNvSpPr/>
          <p:nvPr/>
        </p:nvSpPr>
        <p:spPr>
          <a:xfrm>
            <a:off x="1463040" y="2871216"/>
            <a:ext cx="2926080" cy="749808"/>
          </a:xfrm>
          <a:custGeom>
            <a:avLst/>
            <a:gdLst/>
            <a:ahLst/>
            <a:cxnLst/>
            <a:rect l="l" t="t" r="r" b="b"/>
            <a:pathLst>
              <a:path w="2926080" h="749808">
                <a:moveTo>
                  <a:pt x="0" y="0"/>
                </a:moveTo>
                <a:lnTo>
                  <a:pt x="2926080" y="45720"/>
                </a:lnTo>
                <a:lnTo>
                  <a:pt x="2926080" y="749808"/>
                </a:lnTo>
                <a:lnTo>
                  <a:pt x="0" y="749808"/>
                </a:lnTo>
                <a:close/>
              </a:path>
            </a:pathLst>
          </a:custGeom>
          <a:solidFill>
            <a:srgbClr val="C7A777"/>
          </a:solidFill>
          <a:ln w="9525">
            <a:solidFill>
              <a:srgbClr val="7A5E3E"/>
            </a:solidFill>
            <a:prstDash val="solid"/>
          </a:ln>
        </p:spPr>
      </p:sp>
      <p:sp>
        <p:nvSpPr>
          <p:cNvPr id="15" name="Text 13"/>
          <p:cNvSpPr/>
          <p:nvPr/>
        </p:nvSpPr>
        <p:spPr>
          <a:xfrm>
            <a:off x="4480560" y="3054096"/>
            <a:ext cx="1463040" cy="3657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fish</a:t>
            </a:r>
            <a:endParaRPr lang="en-US" sz="1050" dirty="0"/>
          </a:p>
        </p:txBody>
      </p:sp>
      <p:sp>
        <p:nvSpPr>
          <p:cNvPr id="16" name="Shape 14"/>
          <p:cNvSpPr/>
          <p:nvPr/>
        </p:nvSpPr>
        <p:spPr>
          <a:xfrm>
            <a:off x="1463040" y="3621024"/>
            <a:ext cx="2926080" cy="749808"/>
          </a:xfrm>
          <a:custGeom>
            <a:avLst/>
            <a:gdLst/>
            <a:ahLst/>
            <a:cxnLst/>
            <a:rect l="l" t="t" r="r" b="b"/>
            <a:pathLst>
              <a:path w="2926080" h="749808">
                <a:moveTo>
                  <a:pt x="0" y="45720"/>
                </a:moveTo>
                <a:lnTo>
                  <a:pt x="2926080" y="0"/>
                </a:lnTo>
                <a:lnTo>
                  <a:pt x="2926080" y="749808"/>
                </a:lnTo>
                <a:lnTo>
                  <a:pt x="0" y="749808"/>
                </a:lnTo>
                <a:close/>
              </a:path>
            </a:pathLst>
          </a:custGeom>
          <a:solidFill>
            <a:srgbClr val="B38F65"/>
          </a:solidFill>
          <a:ln w="9525">
            <a:solidFill>
              <a:srgbClr val="7A5E3E"/>
            </a:solidFill>
            <a:prstDash val="solid"/>
          </a:ln>
        </p:spPr>
      </p:sp>
      <p:sp>
        <p:nvSpPr>
          <p:cNvPr id="17" name="Text 15"/>
          <p:cNvSpPr/>
          <p:nvPr/>
        </p:nvSpPr>
        <p:spPr>
          <a:xfrm>
            <a:off x="4480560" y="3803904"/>
            <a:ext cx="1463040" cy="3657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trilobites, shells</a:t>
            </a:r>
            <a:endParaRPr lang="en-US" sz="1050" dirty="0"/>
          </a:p>
        </p:txBody>
      </p:sp>
      <p:sp>
        <p:nvSpPr>
          <p:cNvPr id="18" name="Shape 16"/>
          <p:cNvSpPr/>
          <p:nvPr/>
        </p:nvSpPr>
        <p:spPr>
          <a:xfrm>
            <a:off x="1463040" y="4370832"/>
            <a:ext cx="2926080" cy="749808"/>
          </a:xfrm>
          <a:custGeom>
            <a:avLst/>
            <a:gdLst/>
            <a:ahLst/>
            <a:cxnLst/>
            <a:rect l="l" t="t" r="r" b="b"/>
            <a:pathLst>
              <a:path w="2926080" h="749808">
                <a:moveTo>
                  <a:pt x="0" y="0"/>
                </a:moveTo>
                <a:lnTo>
                  <a:pt x="2926080" y="45720"/>
                </a:lnTo>
                <a:lnTo>
                  <a:pt x="2926080" y="749808"/>
                </a:lnTo>
                <a:lnTo>
                  <a:pt x="0" y="749808"/>
                </a:lnTo>
                <a:close/>
              </a:path>
            </a:pathLst>
          </a:custGeom>
          <a:solidFill>
            <a:srgbClr val="9E7B57"/>
          </a:solidFill>
          <a:ln w="9525">
            <a:solidFill>
              <a:srgbClr val="7A5E3E"/>
            </a:solidFill>
            <a:prstDash val="solid"/>
          </a:ln>
        </p:spPr>
      </p:sp>
      <p:sp>
        <p:nvSpPr>
          <p:cNvPr id="19" name="Text 17"/>
          <p:cNvSpPr/>
          <p:nvPr/>
        </p:nvSpPr>
        <p:spPr>
          <a:xfrm>
            <a:off x="4480560" y="4553712"/>
            <a:ext cx="1463040" cy="365760"/>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simple sea life</a:t>
            </a:r>
            <a:endParaRPr lang="en-US" sz="1050" dirty="0"/>
          </a:p>
        </p:txBody>
      </p:sp>
      <p:sp>
        <p:nvSpPr>
          <p:cNvPr id="20" name="Shape 18"/>
          <p:cNvSpPr/>
          <p:nvPr/>
        </p:nvSpPr>
        <p:spPr>
          <a:xfrm>
            <a:off x="1828800" y="4700016"/>
            <a:ext cx="182880" cy="91440"/>
          </a:xfrm>
          <a:prstGeom prst="ellipse">
            <a:avLst/>
          </a:prstGeom>
          <a:solidFill>
            <a:srgbClr val="F2E8D2"/>
          </a:solidFill>
          <a:ln w="9525">
            <a:solidFill>
              <a:srgbClr val="5A4632"/>
            </a:solidFill>
            <a:prstDash val="solid"/>
          </a:ln>
        </p:spPr>
      </p:sp>
      <p:sp>
        <p:nvSpPr>
          <p:cNvPr id="21" name="Shape 19"/>
          <p:cNvSpPr/>
          <p:nvPr/>
        </p:nvSpPr>
        <p:spPr>
          <a:xfrm>
            <a:off x="2560320" y="4700016"/>
            <a:ext cx="182880" cy="91440"/>
          </a:xfrm>
          <a:prstGeom prst="ellipse">
            <a:avLst/>
          </a:prstGeom>
          <a:solidFill>
            <a:srgbClr val="F2E8D2"/>
          </a:solidFill>
          <a:ln w="9525">
            <a:solidFill>
              <a:srgbClr val="5A4632"/>
            </a:solidFill>
            <a:prstDash val="solid"/>
          </a:ln>
        </p:spPr>
      </p:sp>
      <p:sp>
        <p:nvSpPr>
          <p:cNvPr id="22" name="Shape 20"/>
          <p:cNvSpPr/>
          <p:nvPr/>
        </p:nvSpPr>
        <p:spPr>
          <a:xfrm>
            <a:off x="3383280" y="4700016"/>
            <a:ext cx="182880" cy="91440"/>
          </a:xfrm>
          <a:prstGeom prst="ellipse">
            <a:avLst/>
          </a:prstGeom>
          <a:solidFill>
            <a:srgbClr val="F2E8D2"/>
          </a:solidFill>
          <a:ln w="9525">
            <a:solidFill>
              <a:srgbClr val="5A4632"/>
            </a:solidFill>
            <a:prstDash val="solid"/>
          </a:ln>
        </p:spPr>
      </p:sp>
      <p:sp>
        <p:nvSpPr>
          <p:cNvPr id="23" name="Shape 21"/>
          <p:cNvSpPr/>
          <p:nvPr/>
        </p:nvSpPr>
        <p:spPr>
          <a:xfrm>
            <a:off x="3931920" y="4700016"/>
            <a:ext cx="182880" cy="91440"/>
          </a:xfrm>
          <a:prstGeom prst="ellipse">
            <a:avLst/>
          </a:prstGeom>
          <a:solidFill>
            <a:srgbClr val="F2E8D2"/>
          </a:solidFill>
          <a:ln w="9525">
            <a:solidFill>
              <a:srgbClr val="5A4632"/>
            </a:solidFill>
            <a:prstDash val="solid"/>
          </a:ln>
        </p:spPr>
      </p:sp>
      <p:sp>
        <p:nvSpPr>
          <p:cNvPr id="24" name="Shape 22"/>
          <p:cNvSpPr/>
          <p:nvPr/>
        </p:nvSpPr>
        <p:spPr>
          <a:xfrm>
            <a:off x="2093976" y="3867912"/>
            <a:ext cx="384048" cy="256032"/>
          </a:xfrm>
          <a:prstGeom prst="ellipse">
            <a:avLst/>
          </a:prstGeom>
          <a:solidFill>
            <a:srgbClr val="E8DCC2"/>
          </a:solidFill>
          <a:ln w="12700">
            <a:solidFill>
              <a:srgbClr val="5A4632"/>
            </a:solidFill>
            <a:prstDash val="solid"/>
          </a:ln>
        </p:spPr>
      </p:sp>
      <p:sp>
        <p:nvSpPr>
          <p:cNvPr id="25" name="Shape 23"/>
          <p:cNvSpPr/>
          <p:nvPr/>
        </p:nvSpPr>
        <p:spPr>
          <a:xfrm>
            <a:off x="2121408" y="3922776"/>
            <a:ext cx="329184" cy="91"/>
          </a:xfrm>
          <a:prstGeom prst="line">
            <a:avLst/>
          </a:prstGeom>
          <a:noFill/>
          <a:ln w="9525">
            <a:solidFill>
              <a:srgbClr val="5A4632"/>
            </a:solidFill>
            <a:prstDash val="solid"/>
          </a:ln>
        </p:spPr>
      </p:sp>
      <p:sp>
        <p:nvSpPr>
          <p:cNvPr id="26" name="Shape 24"/>
          <p:cNvSpPr/>
          <p:nvPr/>
        </p:nvSpPr>
        <p:spPr>
          <a:xfrm>
            <a:off x="2121408" y="3995928"/>
            <a:ext cx="329184" cy="91"/>
          </a:xfrm>
          <a:prstGeom prst="line">
            <a:avLst/>
          </a:prstGeom>
          <a:noFill/>
          <a:ln w="9525">
            <a:solidFill>
              <a:srgbClr val="5A4632"/>
            </a:solidFill>
            <a:prstDash val="solid"/>
          </a:ln>
        </p:spPr>
      </p:sp>
      <p:sp>
        <p:nvSpPr>
          <p:cNvPr id="27" name="Shape 25"/>
          <p:cNvSpPr/>
          <p:nvPr/>
        </p:nvSpPr>
        <p:spPr>
          <a:xfrm>
            <a:off x="2121408" y="4069080"/>
            <a:ext cx="329184" cy="91"/>
          </a:xfrm>
          <a:prstGeom prst="line">
            <a:avLst/>
          </a:prstGeom>
          <a:noFill/>
          <a:ln w="9525">
            <a:solidFill>
              <a:srgbClr val="5A4632"/>
            </a:solidFill>
            <a:prstDash val="solid"/>
          </a:ln>
        </p:spPr>
      </p:sp>
      <p:sp>
        <p:nvSpPr>
          <p:cNvPr id="28" name="Shape 26"/>
          <p:cNvSpPr/>
          <p:nvPr/>
        </p:nvSpPr>
        <p:spPr>
          <a:xfrm>
            <a:off x="3291840" y="3813048"/>
            <a:ext cx="411480" cy="411480"/>
          </a:xfrm>
          <a:prstGeom prst="pie">
            <a:avLst>
              <a:gd name="adj1" fmla="val 12000000"/>
              <a:gd name="adj2" fmla="val 20400000"/>
            </a:avLst>
          </a:prstGeom>
          <a:solidFill>
            <a:srgbClr val="E8DCC2"/>
          </a:solidFill>
          <a:ln w="12700">
            <a:solidFill>
              <a:srgbClr val="5A4632"/>
            </a:solidFill>
            <a:prstDash val="solid"/>
          </a:ln>
        </p:spPr>
      </p:sp>
      <p:sp>
        <p:nvSpPr>
          <p:cNvPr id="29" name="Shape 27"/>
          <p:cNvSpPr/>
          <p:nvPr/>
        </p:nvSpPr>
        <p:spPr>
          <a:xfrm>
            <a:off x="2560320" y="3145536"/>
            <a:ext cx="548640" cy="201168"/>
          </a:xfrm>
          <a:prstGeom prst="ellipse">
            <a:avLst/>
          </a:prstGeom>
          <a:solidFill>
            <a:srgbClr val="E8DCC2"/>
          </a:solidFill>
          <a:ln w="12700">
            <a:solidFill>
              <a:srgbClr val="5A4632"/>
            </a:solidFill>
            <a:prstDash val="solid"/>
          </a:ln>
        </p:spPr>
      </p:sp>
      <p:sp>
        <p:nvSpPr>
          <p:cNvPr id="30" name="Shape 28"/>
          <p:cNvSpPr/>
          <p:nvPr/>
        </p:nvSpPr>
        <p:spPr>
          <a:xfrm>
            <a:off x="3108960" y="3136392"/>
            <a:ext cx="182880" cy="219456"/>
          </a:xfrm>
          <a:custGeom>
            <a:avLst/>
            <a:gdLst/>
            <a:ahLst/>
            <a:cxnLst/>
            <a:rect l="l" t="t" r="r" b="b"/>
            <a:pathLst>
              <a:path w="182880" h="219456">
                <a:moveTo>
                  <a:pt x="0" y="109728"/>
                </a:moveTo>
                <a:lnTo>
                  <a:pt x="182880" y="0"/>
                </a:lnTo>
                <a:lnTo>
                  <a:pt x="182880" y="219456"/>
                </a:lnTo>
                <a:close/>
              </a:path>
            </a:pathLst>
          </a:custGeom>
          <a:solidFill>
            <a:srgbClr val="E8DCC2"/>
          </a:solidFill>
          <a:ln w="12700">
            <a:solidFill>
              <a:srgbClr val="5A4632"/>
            </a:solidFill>
            <a:prstDash val="solid"/>
          </a:ln>
        </p:spPr>
      </p:sp>
      <p:sp>
        <p:nvSpPr>
          <p:cNvPr id="31" name="Shape 29"/>
          <p:cNvSpPr/>
          <p:nvPr/>
        </p:nvSpPr>
        <p:spPr>
          <a:xfrm>
            <a:off x="2011680" y="2496312"/>
            <a:ext cx="1645920" cy="91"/>
          </a:xfrm>
          <a:prstGeom prst="line">
            <a:avLst/>
          </a:prstGeom>
          <a:noFill/>
          <a:ln w="25400">
            <a:solidFill>
              <a:srgbClr val="5A4632"/>
            </a:solidFill>
            <a:prstDash val="solid"/>
          </a:ln>
        </p:spPr>
      </p:sp>
      <p:sp>
        <p:nvSpPr>
          <p:cNvPr id="32" name="Shape 30"/>
          <p:cNvSpPr/>
          <p:nvPr/>
        </p:nvSpPr>
        <p:spPr>
          <a:xfrm>
            <a:off x="2377440" y="2368296"/>
            <a:ext cx="91" cy="256032"/>
          </a:xfrm>
          <a:prstGeom prst="line">
            <a:avLst/>
          </a:prstGeom>
          <a:noFill/>
          <a:ln w="12700">
            <a:solidFill>
              <a:srgbClr val="5A4632"/>
            </a:solidFill>
            <a:prstDash val="solid"/>
          </a:ln>
        </p:spPr>
      </p:sp>
      <p:sp>
        <p:nvSpPr>
          <p:cNvPr id="33" name="Shape 31"/>
          <p:cNvSpPr/>
          <p:nvPr/>
        </p:nvSpPr>
        <p:spPr>
          <a:xfrm>
            <a:off x="2542032" y="2368296"/>
            <a:ext cx="91" cy="256032"/>
          </a:xfrm>
          <a:prstGeom prst="line">
            <a:avLst/>
          </a:prstGeom>
          <a:noFill/>
          <a:ln w="12700">
            <a:solidFill>
              <a:srgbClr val="5A4632"/>
            </a:solidFill>
            <a:prstDash val="solid"/>
          </a:ln>
        </p:spPr>
      </p:sp>
      <p:sp>
        <p:nvSpPr>
          <p:cNvPr id="34" name="Shape 32"/>
          <p:cNvSpPr/>
          <p:nvPr/>
        </p:nvSpPr>
        <p:spPr>
          <a:xfrm>
            <a:off x="2706624" y="2368296"/>
            <a:ext cx="91" cy="256032"/>
          </a:xfrm>
          <a:prstGeom prst="line">
            <a:avLst/>
          </a:prstGeom>
          <a:noFill/>
          <a:ln w="12700">
            <a:solidFill>
              <a:srgbClr val="5A4632"/>
            </a:solidFill>
            <a:prstDash val="solid"/>
          </a:ln>
        </p:spPr>
      </p:sp>
      <p:sp>
        <p:nvSpPr>
          <p:cNvPr id="35" name="Shape 33"/>
          <p:cNvSpPr/>
          <p:nvPr/>
        </p:nvSpPr>
        <p:spPr>
          <a:xfrm>
            <a:off x="2871216" y="2368296"/>
            <a:ext cx="91" cy="256032"/>
          </a:xfrm>
          <a:prstGeom prst="line">
            <a:avLst/>
          </a:prstGeom>
          <a:noFill/>
          <a:ln w="12700">
            <a:solidFill>
              <a:srgbClr val="5A4632"/>
            </a:solidFill>
            <a:prstDash val="solid"/>
          </a:ln>
        </p:spPr>
      </p:sp>
      <p:sp>
        <p:nvSpPr>
          <p:cNvPr id="36" name="Shape 34"/>
          <p:cNvSpPr/>
          <p:nvPr/>
        </p:nvSpPr>
        <p:spPr>
          <a:xfrm>
            <a:off x="3035808" y="2368296"/>
            <a:ext cx="91" cy="256032"/>
          </a:xfrm>
          <a:prstGeom prst="line">
            <a:avLst/>
          </a:prstGeom>
          <a:noFill/>
          <a:ln w="12700">
            <a:solidFill>
              <a:srgbClr val="5A4632"/>
            </a:solidFill>
            <a:prstDash val="solid"/>
          </a:ln>
        </p:spPr>
      </p:sp>
      <p:sp>
        <p:nvSpPr>
          <p:cNvPr id="37" name="Shape 35"/>
          <p:cNvSpPr/>
          <p:nvPr/>
        </p:nvSpPr>
        <p:spPr>
          <a:xfrm>
            <a:off x="3200400" y="2368296"/>
            <a:ext cx="91" cy="256032"/>
          </a:xfrm>
          <a:prstGeom prst="line">
            <a:avLst/>
          </a:prstGeom>
          <a:noFill/>
          <a:ln w="12700">
            <a:solidFill>
              <a:srgbClr val="5A4632"/>
            </a:solidFill>
            <a:prstDash val="solid"/>
          </a:ln>
        </p:spPr>
      </p:sp>
      <p:sp>
        <p:nvSpPr>
          <p:cNvPr id="38" name="Shape 36"/>
          <p:cNvSpPr/>
          <p:nvPr/>
        </p:nvSpPr>
        <p:spPr>
          <a:xfrm>
            <a:off x="3364992" y="2368296"/>
            <a:ext cx="91" cy="256032"/>
          </a:xfrm>
          <a:prstGeom prst="line">
            <a:avLst/>
          </a:prstGeom>
          <a:noFill/>
          <a:ln w="12700">
            <a:solidFill>
              <a:srgbClr val="5A4632"/>
            </a:solidFill>
            <a:prstDash val="solid"/>
          </a:ln>
        </p:spPr>
      </p:sp>
      <p:sp>
        <p:nvSpPr>
          <p:cNvPr id="39" name="Shape 37"/>
          <p:cNvSpPr/>
          <p:nvPr/>
        </p:nvSpPr>
        <p:spPr>
          <a:xfrm>
            <a:off x="1805940" y="2423160"/>
            <a:ext cx="228600" cy="146304"/>
          </a:xfrm>
          <a:prstGeom prst="ellipse">
            <a:avLst/>
          </a:prstGeom>
          <a:solidFill>
            <a:srgbClr val="E8DCC2"/>
          </a:solidFill>
          <a:ln w="12700">
            <a:solidFill>
              <a:srgbClr val="5A4632"/>
            </a:solidFill>
            <a:prstDash val="solid"/>
          </a:ln>
        </p:spPr>
      </p:sp>
      <p:sp>
        <p:nvSpPr>
          <p:cNvPr id="40" name="Shape 38"/>
          <p:cNvSpPr/>
          <p:nvPr/>
        </p:nvSpPr>
        <p:spPr>
          <a:xfrm>
            <a:off x="2674620" y="1600200"/>
            <a:ext cx="502920" cy="292608"/>
          </a:xfrm>
          <a:prstGeom prst="ellipse">
            <a:avLst/>
          </a:prstGeom>
          <a:solidFill>
            <a:srgbClr val="F5EEDC"/>
          </a:solidFill>
          <a:ln w="12700">
            <a:solidFill>
              <a:srgbClr val="5A4632"/>
            </a:solidFill>
            <a:prstDash val="solid"/>
          </a:ln>
        </p:spPr>
      </p:sp>
      <p:sp>
        <p:nvSpPr>
          <p:cNvPr id="41" name="Shape 39"/>
          <p:cNvSpPr/>
          <p:nvPr/>
        </p:nvSpPr>
        <p:spPr>
          <a:xfrm>
            <a:off x="2788920" y="1673352"/>
            <a:ext cx="91440" cy="91440"/>
          </a:xfrm>
          <a:prstGeom prst="ellipse">
            <a:avLst/>
          </a:prstGeom>
          <a:solidFill>
            <a:srgbClr val="5A4632"/>
          </a:solidFill>
          <a:ln w="9525">
            <a:solidFill>
              <a:srgbClr val="5A4632"/>
            </a:solidFill>
            <a:prstDash val="solid"/>
          </a:ln>
        </p:spPr>
      </p:sp>
      <p:sp>
        <p:nvSpPr>
          <p:cNvPr id="42" name="Shape 40"/>
          <p:cNvSpPr/>
          <p:nvPr/>
        </p:nvSpPr>
        <p:spPr>
          <a:xfrm>
            <a:off x="3154680" y="1700784"/>
            <a:ext cx="320040" cy="155448"/>
          </a:xfrm>
          <a:custGeom>
            <a:avLst/>
            <a:gdLst/>
            <a:ahLst/>
            <a:cxnLst/>
            <a:rect l="l" t="t" r="r" b="b"/>
            <a:pathLst>
              <a:path w="320040" h="155448">
                <a:moveTo>
                  <a:pt x="0" y="0"/>
                </a:moveTo>
                <a:lnTo>
                  <a:pt x="320040" y="64008"/>
                </a:lnTo>
                <a:lnTo>
                  <a:pt x="0" y="155448"/>
                </a:lnTo>
                <a:close/>
              </a:path>
            </a:pathLst>
          </a:custGeom>
          <a:solidFill>
            <a:srgbClr val="F5EEDC"/>
          </a:solidFill>
          <a:ln w="12700">
            <a:solidFill>
              <a:srgbClr val="5A4632"/>
            </a:solidFill>
            <a:prstDash val="solid"/>
          </a:ln>
        </p:spPr>
      </p:sp>
      <p:sp>
        <p:nvSpPr>
          <p:cNvPr id="43" name="Shape 41"/>
          <p:cNvSpPr/>
          <p:nvPr/>
        </p:nvSpPr>
        <p:spPr>
          <a:xfrm flipV="1">
            <a:off x="1234440" y="1417320"/>
            <a:ext cx="91" cy="3657600"/>
          </a:xfrm>
          <a:prstGeom prst="line">
            <a:avLst/>
          </a:prstGeom>
          <a:noFill/>
          <a:ln w="28575">
            <a:solidFill>
              <a:srgbClr val="133536"/>
            </a:solidFill>
            <a:prstDash val="solid"/>
            <a:tailEnd type="triangle"/>
          </a:ln>
        </p:spPr>
      </p:sp>
      <p:sp>
        <p:nvSpPr>
          <p:cNvPr id="44" name="Text 42"/>
          <p:cNvSpPr/>
          <p:nvPr/>
        </p:nvSpPr>
        <p:spPr>
          <a:xfrm>
            <a:off x="457200" y="3021178"/>
            <a:ext cx="731520" cy="9144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younger ↑</a:t>
            </a:r>
            <a:endParaRPr lang="en-US" sz="1000" dirty="0"/>
          </a:p>
          <a:p>
            <a:pPr algn="ctr" indent="0" marL="0">
              <a:buNone/>
            </a:pPr>
            <a:endParaRPr lang="en-US" sz="1000" dirty="0"/>
          </a:p>
          <a:p>
            <a:pPr algn="ctr" indent="0" marL="0">
              <a:buNone/>
            </a:pPr>
            <a:r>
              <a:rPr lang="en-US" sz="1000" b="1" dirty="0">
                <a:solidFill>
                  <a:srgbClr val="262B3A"/>
                </a:solidFill>
                <a:latin typeface="Calibri" pitchFamily="34" charset="0"/>
                <a:ea typeface="Calibri" pitchFamily="34" charset="-122"/>
                <a:cs typeface="Calibri" pitchFamily="34" charset="-120"/>
              </a:rPr>
              <a:t>older ↓</a:t>
            </a:r>
            <a:endParaRPr lang="en-US" sz="1000" dirty="0"/>
          </a:p>
        </p:txBody>
      </p:sp>
      <p:sp>
        <p:nvSpPr>
          <p:cNvPr id="45" name="Text 43"/>
          <p:cNvSpPr/>
          <p:nvPr/>
        </p:nvSpPr>
        <p:spPr>
          <a:xfrm>
            <a:off x="548640" y="5148072"/>
            <a:ext cx="530352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deeper layers formed </a:t>
            </a:r>
            <a:r>
              <a:rPr lang="en-US" sz="1050" b="1" dirty="0">
                <a:solidFill>
                  <a:srgbClr val="262B3A"/>
                </a:solidFill>
                <a:latin typeface="Calibri" pitchFamily="34" charset="0"/>
                <a:ea typeface="Calibri" pitchFamily="34" charset="-122"/>
                <a:cs typeface="Calibri" pitchFamily="34" charset="-120"/>
              </a:rPr>
              <a:t>earlier</a:t>
            </a:r>
            <a:r>
              <a:rPr lang="en-US" sz="1050" dirty="0">
                <a:solidFill>
                  <a:srgbClr val="262B3A"/>
                </a:solidFill>
                <a:latin typeface="Calibri" pitchFamily="34" charset="0"/>
                <a:ea typeface="Calibri" pitchFamily="34" charset="-122"/>
                <a:cs typeface="Calibri" pitchFamily="34" charset="-120"/>
              </a:rPr>
              <a:t>, so their fossils are </a:t>
            </a:r>
            <a:r>
              <a:rPr lang="en-US" sz="1050" b="1" dirty="0">
                <a:solidFill>
                  <a:srgbClr val="262B3A"/>
                </a:solidFill>
                <a:latin typeface="Calibri" pitchFamily="34" charset="0"/>
                <a:ea typeface="Calibri" pitchFamily="34" charset="-122"/>
                <a:cs typeface="Calibri" pitchFamily="34" charset="-120"/>
              </a:rPr>
              <a:t>older</a:t>
            </a:r>
            <a:endParaRPr lang="en-US" sz="1050" dirty="0"/>
          </a:p>
        </p:txBody>
      </p:sp>
      <p:sp>
        <p:nvSpPr>
          <p:cNvPr id="46" name="Shape 44"/>
          <p:cNvSpPr/>
          <p:nvPr/>
        </p:nvSpPr>
        <p:spPr>
          <a:xfrm>
            <a:off x="6217920" y="1188720"/>
            <a:ext cx="5562295" cy="3246120"/>
          </a:xfrm>
          <a:prstGeom prst="roundRect">
            <a:avLst>
              <a:gd name="adj" fmla="val 1690"/>
            </a:avLst>
          </a:prstGeom>
          <a:solidFill>
            <a:srgbClr val="F4FAF9"/>
          </a:solidFill>
          <a:ln w="9525">
            <a:solidFill>
              <a:srgbClr val="CFE0DE"/>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fossils show</a:t>
            </a:r>
            <a:endParaRPr lang="en-US" sz="1300" dirty="0"/>
          </a:p>
        </p:txBody>
      </p:sp>
      <p:sp>
        <p:nvSpPr>
          <p:cNvPr id="48" name="Text 46"/>
          <p:cNvSpPr/>
          <p:nvPr/>
        </p:nvSpPr>
        <p:spPr>
          <a:xfrm>
            <a:off x="6382512" y="1609344"/>
            <a:ext cx="5233111" cy="27523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a:t>
            </a:r>
            <a:r>
              <a:rPr lang="en-US" sz="1050" b="1" dirty="0">
                <a:solidFill>
                  <a:srgbClr val="262B3A"/>
                </a:solidFill>
                <a:latin typeface="Calibri" pitchFamily="34" charset="0"/>
                <a:ea typeface="Calibri" pitchFamily="34" charset="-122"/>
                <a:cs typeface="Calibri" pitchFamily="34" charset="-120"/>
              </a:rPr>
              <a:t>fossil</a:t>
            </a:r>
            <a:r>
              <a:rPr lang="en-US" sz="1050" dirty="0">
                <a:solidFill>
                  <a:srgbClr val="262B3A"/>
                </a:solidFill>
                <a:latin typeface="Calibri" pitchFamily="34" charset="0"/>
                <a:ea typeface="Calibri" pitchFamily="34" charset="-122"/>
                <a:cs typeface="Calibri" pitchFamily="34" charset="-120"/>
              </a:rPr>
              <a:t> is the remains or traces of an organism from long ago, preserved in </a:t>
            </a:r>
            <a:r>
              <a:rPr lang="en-US" sz="1050" b="1" dirty="0">
                <a:solidFill>
                  <a:srgbClr val="262B3A"/>
                </a:solidFill>
                <a:latin typeface="Calibri" pitchFamily="34" charset="0"/>
                <a:ea typeface="Calibri" pitchFamily="34" charset="-122"/>
                <a:cs typeface="Calibri" pitchFamily="34" charset="-120"/>
              </a:rPr>
              <a:t>rock</a:t>
            </a:r>
            <a:r>
              <a:rPr lang="en-US" sz="1050" dirty="0">
                <a:solidFill>
                  <a:srgbClr val="262B3A"/>
                </a:solidFill>
                <a:latin typeface="Calibri" pitchFamily="34" charset="0"/>
                <a:ea typeface="Calibri" pitchFamily="34" charset="-122"/>
                <a:cs typeface="Calibri" pitchFamily="34" charset="-120"/>
              </a:rPr>
              <a:t> (e.g. hard parts replaced by minerals, footprints, organisms in amber or ice).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Rock layers can be </a:t>
            </a:r>
            <a:r>
              <a:rPr lang="en-US" sz="1050" b="1" dirty="0">
                <a:solidFill>
                  <a:srgbClr val="262B3A"/>
                </a:solidFill>
                <a:latin typeface="Calibri" pitchFamily="34" charset="0"/>
                <a:ea typeface="Calibri" pitchFamily="34" charset="-122"/>
                <a:cs typeface="Calibri" pitchFamily="34" charset="-120"/>
              </a:rPr>
              <a:t>dated</a:t>
            </a:r>
            <a:r>
              <a:rPr lang="en-US" sz="1050" dirty="0">
                <a:solidFill>
                  <a:srgbClr val="262B3A"/>
                </a:solidFill>
                <a:latin typeface="Calibri" pitchFamily="34" charset="0"/>
                <a:ea typeface="Calibri" pitchFamily="34" charset="-122"/>
                <a:cs typeface="Calibri" pitchFamily="34" charset="-120"/>
              </a:rPr>
              <a:t>: deeper layers are usually </a:t>
            </a:r>
            <a:r>
              <a:rPr lang="en-US" sz="1050" b="1" dirty="0">
                <a:solidFill>
                  <a:srgbClr val="262B3A"/>
                </a:solidFill>
                <a:latin typeface="Calibri" pitchFamily="34" charset="0"/>
                <a:ea typeface="Calibri" pitchFamily="34" charset="-122"/>
                <a:cs typeface="Calibri" pitchFamily="34" charset="-120"/>
              </a:rPr>
              <a:t>older</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Older rocks hold </a:t>
            </a:r>
            <a:r>
              <a:rPr lang="en-US" sz="1050" b="1" dirty="0">
                <a:solidFill>
                  <a:srgbClr val="262B3A"/>
                </a:solidFill>
                <a:latin typeface="Calibri" pitchFamily="34" charset="0"/>
                <a:ea typeface="Calibri" pitchFamily="34" charset="-122"/>
                <a:cs typeface="Calibri" pitchFamily="34" charset="-120"/>
              </a:rPr>
              <a:t>simpler</a:t>
            </a:r>
            <a:r>
              <a:rPr lang="en-US" sz="1050" dirty="0">
                <a:solidFill>
                  <a:srgbClr val="262B3A"/>
                </a:solidFill>
                <a:latin typeface="Calibri" pitchFamily="34" charset="0"/>
                <a:ea typeface="Calibri" pitchFamily="34" charset="-122"/>
                <a:cs typeface="Calibri" pitchFamily="34" charset="-120"/>
              </a:rPr>
              <a:t> organisms; newer rocks hold more </a:t>
            </a:r>
            <a:r>
              <a:rPr lang="en-US" sz="1050" b="1" dirty="0">
                <a:solidFill>
                  <a:srgbClr val="262B3A"/>
                </a:solidFill>
                <a:latin typeface="Calibri" pitchFamily="34" charset="0"/>
                <a:ea typeface="Calibri" pitchFamily="34" charset="-122"/>
                <a:cs typeface="Calibri" pitchFamily="34" charset="-120"/>
              </a:rPr>
              <a:t>complex</a:t>
            </a:r>
            <a:r>
              <a:rPr lang="en-US" sz="1050" dirty="0">
                <a:solidFill>
                  <a:srgbClr val="262B3A"/>
                </a:solidFill>
                <a:latin typeface="Calibri" pitchFamily="34" charset="0"/>
                <a:ea typeface="Calibri" pitchFamily="34" charset="-122"/>
                <a:cs typeface="Calibri" pitchFamily="34" charset="-120"/>
              </a:rPr>
              <a:t> ones, and some species appear that were not there before.</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This shows that organisms have </a:t>
            </a:r>
            <a:r>
              <a:rPr lang="en-US" sz="1050" b="1" dirty="0">
                <a:solidFill>
                  <a:srgbClr val="262B3A"/>
                </a:solidFill>
                <a:latin typeface="Calibri" pitchFamily="34" charset="0"/>
                <a:ea typeface="Calibri" pitchFamily="34" charset="-122"/>
                <a:cs typeface="Calibri" pitchFamily="34" charset="-120"/>
              </a:rPr>
              <a:t>changed over time</a:t>
            </a:r>
            <a:r>
              <a:rPr lang="en-US" sz="1050" dirty="0">
                <a:solidFill>
                  <a:srgbClr val="262B3A"/>
                </a:solidFill>
                <a:latin typeface="Calibri" pitchFamily="34" charset="0"/>
                <a:ea typeface="Calibri" pitchFamily="34" charset="-122"/>
                <a:cs typeface="Calibri" pitchFamily="34" charset="-120"/>
              </a:rPr>
              <a:t>: evidence for evolution.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record has </a:t>
            </a:r>
            <a:r>
              <a:rPr lang="en-US" sz="1050" b="1" dirty="0">
                <a:solidFill>
                  <a:srgbClr val="262B3A"/>
                </a:solidFill>
                <a:latin typeface="Calibri" pitchFamily="34" charset="0"/>
                <a:ea typeface="Calibri" pitchFamily="34" charset="-122"/>
                <a:cs typeface="Calibri" pitchFamily="34" charset="-120"/>
              </a:rPr>
              <a:t>gaps</a:t>
            </a:r>
            <a:r>
              <a:rPr lang="en-US" sz="1050" dirty="0">
                <a:solidFill>
                  <a:srgbClr val="262B3A"/>
                </a:solidFill>
                <a:latin typeface="Calibri" pitchFamily="34" charset="0"/>
                <a:ea typeface="Calibri" pitchFamily="34" charset="-122"/>
                <a:cs typeface="Calibri" pitchFamily="34" charset="-120"/>
              </a:rPr>
              <a:t>: soft bodies decay, many fossils were destroyed by rock movement, or not yet found.</a:t>
            </a:r>
            <a:endParaRPr lang="en-US" sz="1050" dirty="0"/>
          </a:p>
        </p:txBody>
      </p:sp>
      <p:sp>
        <p:nvSpPr>
          <p:cNvPr id="49" name="Shape 47"/>
          <p:cNvSpPr/>
          <p:nvPr/>
        </p:nvSpPr>
        <p:spPr>
          <a:xfrm>
            <a:off x="6217920" y="4572000"/>
            <a:ext cx="5562295" cy="1143000"/>
          </a:xfrm>
          <a:prstGeom prst="roundRect">
            <a:avLst>
              <a:gd name="adj" fmla="val 4800"/>
            </a:avLst>
          </a:prstGeom>
          <a:solidFill>
            <a:srgbClr val="FFF4E0"/>
          </a:solidFill>
          <a:ln w="9525">
            <a:solidFill>
              <a:srgbClr val="F1D9A8"/>
            </a:solidFill>
            <a:prstDash val="solid"/>
          </a:ln>
        </p:spPr>
      </p:sp>
      <p:sp>
        <p:nvSpPr>
          <p:cNvPr id="50" name="Text 48"/>
          <p:cNvSpPr/>
          <p:nvPr/>
        </p:nvSpPr>
        <p:spPr>
          <a:xfrm>
            <a:off x="6382512" y="46451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old?</a:t>
            </a:r>
            <a:endParaRPr lang="en-US" sz="1300" dirty="0"/>
          </a:p>
        </p:txBody>
      </p:sp>
      <p:sp>
        <p:nvSpPr>
          <p:cNvPr id="51" name="Text 49"/>
          <p:cNvSpPr/>
          <p:nvPr/>
        </p:nvSpPr>
        <p:spPr>
          <a:xfrm>
            <a:off x="6382512" y="4956048"/>
            <a:ext cx="5233111" cy="6858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layer of mud built up at about 1 cm every 1000 years. A fossil is 350 cm deep.</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Multiply   </a:t>
            </a:r>
            <a:r>
              <a:rPr lang="en-US" sz="1050" dirty="0">
                <a:solidFill>
                  <a:srgbClr val="262B3A"/>
                </a:solidFill>
                <a:latin typeface="Calibri" pitchFamily="34" charset="0"/>
                <a:ea typeface="Calibri" pitchFamily="34" charset="-122"/>
                <a:cs typeface="Calibri" pitchFamily="34" charset="-120"/>
              </a:rPr>
              <a:t>350 cm × 1000 years per cm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about </a:t>
            </a:r>
            <a:r>
              <a:rPr lang="en-US" sz="1050" b="1" dirty="0">
                <a:solidFill>
                  <a:srgbClr val="C8414C"/>
                </a:solidFill>
                <a:latin typeface="Calibri" pitchFamily="34" charset="0"/>
                <a:ea typeface="Calibri" pitchFamily="34" charset="-122"/>
                <a:cs typeface="Calibri" pitchFamily="34" charset="-120"/>
              </a:rPr>
              <a:t>350 000 years</a:t>
            </a:r>
            <a:r>
              <a:rPr lang="en-US" sz="1050" b="1" dirty="0">
                <a:solidFill>
                  <a:srgbClr val="C8414C"/>
                </a:solidFill>
                <a:latin typeface="Calibri" pitchFamily="34" charset="0"/>
                <a:ea typeface="Calibri" pitchFamily="34" charset="-122"/>
                <a:cs typeface="Calibri" pitchFamily="34" charset="-120"/>
              </a:rPr>
              <a:t> old</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the fossil record is </a:t>
            </a:r>
            <a:r>
              <a:rPr lang="en-US" sz="1150" b="1" dirty="0">
                <a:solidFill>
                  <a:srgbClr val="262B3A"/>
                </a:solidFill>
                <a:latin typeface="Calibri" pitchFamily="34" charset="0"/>
                <a:ea typeface="Calibri" pitchFamily="34" charset="-122"/>
                <a:cs typeface="Calibri" pitchFamily="34" charset="-120"/>
              </a:rPr>
              <a:t>incomplete</a:t>
            </a:r>
            <a:r>
              <a:rPr lang="en-US" sz="1150" dirty="0">
                <a:solidFill>
                  <a:srgbClr val="262B3A"/>
                </a:solidFill>
                <a:latin typeface="Calibri" pitchFamily="34" charset="0"/>
                <a:ea typeface="Calibri" pitchFamily="34" charset="-122"/>
                <a:cs typeface="Calibri" pitchFamily="34" charset="-120"/>
              </a:rPr>
              <a:t>. Using the same rate, how old is a fossil </a:t>
            </a:r>
            <a:r>
              <a:rPr lang="en-US" sz="1150" b="1" dirty="0">
                <a:solidFill>
                  <a:srgbClr val="262B3A"/>
                </a:solidFill>
                <a:latin typeface="Calibri" pitchFamily="34" charset="0"/>
                <a:ea typeface="Calibri" pitchFamily="34" charset="-122"/>
                <a:cs typeface="Calibri" pitchFamily="34" charset="-120"/>
              </a:rPr>
              <a:t>1.2 m</a:t>
            </a:r>
            <a:r>
              <a:rPr lang="en-US" sz="1150" dirty="0">
                <a:solidFill>
                  <a:srgbClr val="262B3A"/>
                </a:solidFill>
                <a:latin typeface="Calibri" pitchFamily="34" charset="0"/>
                <a:ea typeface="Calibri" pitchFamily="34" charset="-122"/>
                <a:cs typeface="Calibri" pitchFamily="34" charset="-120"/>
              </a:rPr>
              <a:t> deep?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Evidence: antibiotic resistance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B6.1.7 • modern evidence for evolution (recap of Chapter B2)</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B6.1.7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population of bacteria in a patient; not to scale</a:t>
            </a:r>
            <a:endParaRPr lang="en-US" sz="1000" dirty="0"/>
          </a:p>
        </p:txBody>
      </p:sp>
      <p:sp>
        <p:nvSpPr>
          <p:cNvPr id="10" name="Shape 8"/>
          <p:cNvSpPr/>
          <p:nvPr/>
        </p:nvSpPr>
        <p:spPr>
          <a:xfrm>
            <a:off x="850392" y="1627632"/>
            <a:ext cx="1499616" cy="1499616"/>
          </a:xfrm>
          <a:prstGeom prst="ellipse">
            <a:avLst/>
          </a:prstGeom>
          <a:solidFill>
            <a:srgbClr val="F7F3E8"/>
          </a:solidFill>
          <a:ln w="15875">
            <a:solidFill>
              <a:srgbClr val="8C8270"/>
            </a:solidFill>
            <a:prstDash val="solid"/>
          </a:ln>
        </p:spPr>
      </p:sp>
      <p:sp>
        <p:nvSpPr>
          <p:cNvPr id="11" name="Shape 9"/>
          <p:cNvSpPr/>
          <p:nvPr/>
        </p:nvSpPr>
        <p:spPr>
          <a:xfrm>
            <a:off x="3776472" y="1627632"/>
            <a:ext cx="1499616" cy="1499616"/>
          </a:xfrm>
          <a:prstGeom prst="ellipse">
            <a:avLst/>
          </a:prstGeom>
          <a:solidFill>
            <a:srgbClr val="F7F3E8"/>
          </a:solidFill>
          <a:ln w="15875">
            <a:solidFill>
              <a:srgbClr val="8C8270"/>
            </a:solidFill>
            <a:prstDash val="solid"/>
          </a:ln>
        </p:spPr>
      </p:sp>
      <p:sp>
        <p:nvSpPr>
          <p:cNvPr id="12" name="Shape 10"/>
          <p:cNvSpPr/>
          <p:nvPr/>
        </p:nvSpPr>
        <p:spPr>
          <a:xfrm>
            <a:off x="3776472" y="3502152"/>
            <a:ext cx="1499616" cy="1499616"/>
          </a:xfrm>
          <a:prstGeom prst="ellipse">
            <a:avLst/>
          </a:prstGeom>
          <a:solidFill>
            <a:srgbClr val="F7F3E8"/>
          </a:solidFill>
          <a:ln w="15875">
            <a:solidFill>
              <a:srgbClr val="8C8270"/>
            </a:solidFill>
            <a:prstDash val="solid"/>
          </a:ln>
        </p:spPr>
      </p:sp>
      <p:sp>
        <p:nvSpPr>
          <p:cNvPr id="13" name="Shape 11"/>
          <p:cNvSpPr/>
          <p:nvPr/>
        </p:nvSpPr>
        <p:spPr>
          <a:xfrm>
            <a:off x="850392" y="3502152"/>
            <a:ext cx="1499616" cy="1499616"/>
          </a:xfrm>
          <a:prstGeom prst="ellipse">
            <a:avLst/>
          </a:prstGeom>
          <a:solidFill>
            <a:srgbClr val="F7F3E8"/>
          </a:solidFill>
          <a:ln w="15875">
            <a:solidFill>
              <a:srgbClr val="8C8270"/>
            </a:solidFill>
            <a:prstDash val="solid"/>
          </a:ln>
        </p:spPr>
      </p:sp>
      <p:sp>
        <p:nvSpPr>
          <p:cNvPr id="14" name="Shape 12"/>
          <p:cNvSpPr/>
          <p:nvPr/>
        </p:nvSpPr>
        <p:spPr>
          <a:xfrm rot="1200000">
            <a:off x="1051560" y="1997964"/>
            <a:ext cx="274320" cy="118872"/>
          </a:xfrm>
          <a:prstGeom prst="roundRect">
            <a:avLst>
              <a:gd name="adj" fmla="val 50000"/>
            </a:avLst>
          </a:prstGeom>
          <a:solidFill>
            <a:srgbClr val="5B9BD5"/>
          </a:solidFill>
          <a:ln w="9525">
            <a:solidFill>
              <a:srgbClr val="2F5F8F"/>
            </a:solidFill>
            <a:prstDash val="solid"/>
          </a:ln>
        </p:spPr>
      </p:sp>
      <p:sp>
        <p:nvSpPr>
          <p:cNvPr id="15" name="Shape 13"/>
          <p:cNvSpPr/>
          <p:nvPr/>
        </p:nvSpPr>
        <p:spPr>
          <a:xfrm rot="-1800000">
            <a:off x="1554480" y="1860804"/>
            <a:ext cx="274320" cy="118872"/>
          </a:xfrm>
          <a:prstGeom prst="roundRect">
            <a:avLst>
              <a:gd name="adj" fmla="val 50000"/>
            </a:avLst>
          </a:prstGeom>
          <a:solidFill>
            <a:srgbClr val="5B9BD5"/>
          </a:solidFill>
          <a:ln w="9525">
            <a:solidFill>
              <a:srgbClr val="2F5F8F"/>
            </a:solidFill>
            <a:prstDash val="solid"/>
          </a:ln>
        </p:spPr>
      </p:sp>
      <p:sp>
        <p:nvSpPr>
          <p:cNvPr id="16" name="Shape 14"/>
          <p:cNvSpPr/>
          <p:nvPr/>
        </p:nvSpPr>
        <p:spPr>
          <a:xfrm rot="3600000">
            <a:off x="1874520" y="2180844"/>
            <a:ext cx="274320" cy="118872"/>
          </a:xfrm>
          <a:prstGeom prst="roundRect">
            <a:avLst>
              <a:gd name="adj" fmla="val 50000"/>
            </a:avLst>
          </a:prstGeom>
          <a:solidFill>
            <a:srgbClr val="5B9BD5"/>
          </a:solidFill>
          <a:ln w="9525">
            <a:solidFill>
              <a:srgbClr val="2F5F8F"/>
            </a:solidFill>
            <a:prstDash val="solid"/>
          </a:ln>
        </p:spPr>
      </p:sp>
      <p:sp>
        <p:nvSpPr>
          <p:cNvPr id="17" name="Shape 15"/>
          <p:cNvSpPr/>
          <p:nvPr/>
        </p:nvSpPr>
        <p:spPr>
          <a:xfrm rot="-600000">
            <a:off x="1280160" y="2363724"/>
            <a:ext cx="274320" cy="118872"/>
          </a:xfrm>
          <a:prstGeom prst="roundRect">
            <a:avLst>
              <a:gd name="adj" fmla="val 50000"/>
            </a:avLst>
          </a:prstGeom>
          <a:solidFill>
            <a:srgbClr val="C8414C"/>
          </a:solidFill>
          <a:ln w="9525">
            <a:solidFill>
              <a:srgbClr val="7E1F27"/>
            </a:solidFill>
            <a:prstDash val="solid"/>
          </a:ln>
        </p:spPr>
      </p:sp>
      <p:sp>
        <p:nvSpPr>
          <p:cNvPr id="18" name="Shape 16"/>
          <p:cNvSpPr/>
          <p:nvPr/>
        </p:nvSpPr>
        <p:spPr>
          <a:xfrm rot="1800000">
            <a:off x="1737360" y="2638044"/>
            <a:ext cx="274320" cy="118872"/>
          </a:xfrm>
          <a:prstGeom prst="roundRect">
            <a:avLst>
              <a:gd name="adj" fmla="val 50000"/>
            </a:avLst>
          </a:prstGeom>
          <a:solidFill>
            <a:srgbClr val="5B9BD5"/>
          </a:solidFill>
          <a:ln w="9525">
            <a:solidFill>
              <a:srgbClr val="2F5F8F"/>
            </a:solidFill>
            <a:prstDash val="solid"/>
          </a:ln>
        </p:spPr>
      </p:sp>
      <p:sp>
        <p:nvSpPr>
          <p:cNvPr id="19" name="Shape 17"/>
          <p:cNvSpPr/>
          <p:nvPr/>
        </p:nvSpPr>
        <p:spPr>
          <a:xfrm rot="4200000">
            <a:off x="1005840" y="2638044"/>
            <a:ext cx="274320" cy="118872"/>
          </a:xfrm>
          <a:prstGeom prst="roundRect">
            <a:avLst>
              <a:gd name="adj" fmla="val 50000"/>
            </a:avLst>
          </a:prstGeom>
          <a:solidFill>
            <a:srgbClr val="5B9BD5"/>
          </a:solidFill>
          <a:ln w="9525">
            <a:solidFill>
              <a:srgbClr val="2F5F8F"/>
            </a:solidFill>
            <a:prstDash val="solid"/>
          </a:ln>
        </p:spPr>
      </p:sp>
      <p:sp>
        <p:nvSpPr>
          <p:cNvPr id="20" name="Shape 18"/>
          <p:cNvSpPr/>
          <p:nvPr/>
        </p:nvSpPr>
        <p:spPr>
          <a:xfrm>
            <a:off x="1508760" y="2866644"/>
            <a:ext cx="274320" cy="118872"/>
          </a:xfrm>
          <a:prstGeom prst="roundRect">
            <a:avLst>
              <a:gd name="adj" fmla="val 50000"/>
            </a:avLst>
          </a:prstGeom>
          <a:solidFill>
            <a:srgbClr val="5B9BD5"/>
          </a:solidFill>
          <a:ln w="9525">
            <a:solidFill>
              <a:srgbClr val="2F5F8F"/>
            </a:solidFill>
            <a:prstDash val="solid"/>
          </a:ln>
        </p:spPr>
      </p:sp>
      <p:sp>
        <p:nvSpPr>
          <p:cNvPr id="21" name="Shape 19"/>
          <p:cNvSpPr/>
          <p:nvPr/>
        </p:nvSpPr>
        <p:spPr>
          <a:xfrm rot="2700000">
            <a:off x="1371600" y="2135124"/>
            <a:ext cx="274320" cy="118872"/>
          </a:xfrm>
          <a:prstGeom prst="roundRect">
            <a:avLst>
              <a:gd name="adj" fmla="val 50000"/>
            </a:avLst>
          </a:prstGeom>
          <a:solidFill>
            <a:srgbClr val="5B9BD5"/>
          </a:solidFill>
          <a:ln w="9525">
            <a:solidFill>
              <a:srgbClr val="2F5F8F"/>
            </a:solidFill>
            <a:prstDash val="solid"/>
          </a:ln>
        </p:spPr>
      </p:sp>
      <p:sp>
        <p:nvSpPr>
          <p:cNvPr id="22" name="Shape 20"/>
          <p:cNvSpPr/>
          <p:nvPr/>
        </p:nvSpPr>
        <p:spPr>
          <a:xfrm rot="1200000">
            <a:off x="3977640" y="1997964"/>
            <a:ext cx="274320" cy="118872"/>
          </a:xfrm>
          <a:prstGeom prst="roundRect">
            <a:avLst>
              <a:gd name="adj" fmla="val 50000"/>
            </a:avLst>
          </a:prstGeom>
          <a:solidFill>
            <a:srgbClr val="DDE3EA"/>
          </a:solidFill>
          <a:ln w="9525">
            <a:solidFill>
              <a:srgbClr val="9AA3B0"/>
            </a:solidFill>
            <a:prstDash val="dash"/>
          </a:ln>
        </p:spPr>
      </p:sp>
      <p:sp>
        <p:nvSpPr>
          <p:cNvPr id="23" name="Shape 21"/>
          <p:cNvSpPr/>
          <p:nvPr/>
        </p:nvSpPr>
        <p:spPr>
          <a:xfrm>
            <a:off x="4041648" y="1984248"/>
            <a:ext cx="146304" cy="146304"/>
          </a:xfrm>
          <a:prstGeom prst="line">
            <a:avLst/>
          </a:prstGeom>
          <a:noFill/>
          <a:ln w="12700">
            <a:solidFill>
              <a:srgbClr val="6B7385"/>
            </a:solidFill>
            <a:prstDash val="solid"/>
          </a:ln>
        </p:spPr>
      </p:sp>
      <p:sp>
        <p:nvSpPr>
          <p:cNvPr id="24" name="Shape 22"/>
          <p:cNvSpPr/>
          <p:nvPr/>
        </p:nvSpPr>
        <p:spPr>
          <a:xfrm flipV="1">
            <a:off x="4041648" y="1984248"/>
            <a:ext cx="146304" cy="146304"/>
          </a:xfrm>
          <a:prstGeom prst="line">
            <a:avLst/>
          </a:prstGeom>
          <a:noFill/>
          <a:ln w="12700">
            <a:solidFill>
              <a:srgbClr val="6B7385"/>
            </a:solidFill>
            <a:prstDash val="solid"/>
          </a:ln>
        </p:spPr>
      </p:sp>
      <p:sp>
        <p:nvSpPr>
          <p:cNvPr id="25" name="Shape 23"/>
          <p:cNvSpPr/>
          <p:nvPr/>
        </p:nvSpPr>
        <p:spPr>
          <a:xfrm rot="-1800000">
            <a:off x="4480560" y="1860804"/>
            <a:ext cx="274320" cy="118872"/>
          </a:xfrm>
          <a:prstGeom prst="roundRect">
            <a:avLst>
              <a:gd name="adj" fmla="val 50000"/>
            </a:avLst>
          </a:prstGeom>
          <a:solidFill>
            <a:srgbClr val="DDE3EA"/>
          </a:solidFill>
          <a:ln w="9525">
            <a:solidFill>
              <a:srgbClr val="9AA3B0"/>
            </a:solidFill>
            <a:prstDash val="dash"/>
          </a:ln>
        </p:spPr>
      </p:sp>
      <p:sp>
        <p:nvSpPr>
          <p:cNvPr id="26" name="Shape 24"/>
          <p:cNvSpPr/>
          <p:nvPr/>
        </p:nvSpPr>
        <p:spPr>
          <a:xfrm>
            <a:off x="4544568" y="1847088"/>
            <a:ext cx="146304" cy="146304"/>
          </a:xfrm>
          <a:prstGeom prst="line">
            <a:avLst/>
          </a:prstGeom>
          <a:noFill/>
          <a:ln w="12700">
            <a:solidFill>
              <a:srgbClr val="6B7385"/>
            </a:solidFill>
            <a:prstDash val="solid"/>
          </a:ln>
        </p:spPr>
      </p:sp>
      <p:sp>
        <p:nvSpPr>
          <p:cNvPr id="27" name="Shape 25"/>
          <p:cNvSpPr/>
          <p:nvPr/>
        </p:nvSpPr>
        <p:spPr>
          <a:xfrm flipV="1">
            <a:off x="4544568" y="1847088"/>
            <a:ext cx="146304" cy="146304"/>
          </a:xfrm>
          <a:prstGeom prst="line">
            <a:avLst/>
          </a:prstGeom>
          <a:noFill/>
          <a:ln w="12700">
            <a:solidFill>
              <a:srgbClr val="6B7385"/>
            </a:solidFill>
            <a:prstDash val="solid"/>
          </a:ln>
        </p:spPr>
      </p:sp>
      <p:sp>
        <p:nvSpPr>
          <p:cNvPr id="28" name="Shape 26"/>
          <p:cNvSpPr/>
          <p:nvPr/>
        </p:nvSpPr>
        <p:spPr>
          <a:xfrm rot="3600000">
            <a:off x="4800600" y="2180844"/>
            <a:ext cx="274320" cy="118872"/>
          </a:xfrm>
          <a:prstGeom prst="roundRect">
            <a:avLst>
              <a:gd name="adj" fmla="val 50000"/>
            </a:avLst>
          </a:prstGeom>
          <a:solidFill>
            <a:srgbClr val="DDE3EA"/>
          </a:solidFill>
          <a:ln w="9525">
            <a:solidFill>
              <a:srgbClr val="9AA3B0"/>
            </a:solidFill>
            <a:prstDash val="dash"/>
          </a:ln>
        </p:spPr>
      </p:sp>
      <p:sp>
        <p:nvSpPr>
          <p:cNvPr id="29" name="Shape 27"/>
          <p:cNvSpPr/>
          <p:nvPr/>
        </p:nvSpPr>
        <p:spPr>
          <a:xfrm>
            <a:off x="4864608" y="2167128"/>
            <a:ext cx="146304" cy="146304"/>
          </a:xfrm>
          <a:prstGeom prst="line">
            <a:avLst/>
          </a:prstGeom>
          <a:noFill/>
          <a:ln w="12700">
            <a:solidFill>
              <a:srgbClr val="6B7385"/>
            </a:solidFill>
            <a:prstDash val="solid"/>
          </a:ln>
        </p:spPr>
      </p:sp>
      <p:sp>
        <p:nvSpPr>
          <p:cNvPr id="30" name="Shape 28"/>
          <p:cNvSpPr/>
          <p:nvPr/>
        </p:nvSpPr>
        <p:spPr>
          <a:xfrm flipV="1">
            <a:off x="4864608" y="2167128"/>
            <a:ext cx="146304" cy="146304"/>
          </a:xfrm>
          <a:prstGeom prst="line">
            <a:avLst/>
          </a:prstGeom>
          <a:noFill/>
          <a:ln w="12700">
            <a:solidFill>
              <a:srgbClr val="6B7385"/>
            </a:solidFill>
            <a:prstDash val="solid"/>
          </a:ln>
        </p:spPr>
      </p:sp>
      <p:sp>
        <p:nvSpPr>
          <p:cNvPr id="31" name="Shape 29"/>
          <p:cNvSpPr/>
          <p:nvPr/>
        </p:nvSpPr>
        <p:spPr>
          <a:xfrm rot="-600000">
            <a:off x="4206240" y="2363724"/>
            <a:ext cx="274320" cy="118872"/>
          </a:xfrm>
          <a:prstGeom prst="roundRect">
            <a:avLst>
              <a:gd name="adj" fmla="val 50000"/>
            </a:avLst>
          </a:prstGeom>
          <a:solidFill>
            <a:srgbClr val="C8414C"/>
          </a:solidFill>
          <a:ln w="9525">
            <a:solidFill>
              <a:srgbClr val="7E1F27"/>
            </a:solidFill>
            <a:prstDash val="solid"/>
          </a:ln>
        </p:spPr>
      </p:sp>
      <p:sp>
        <p:nvSpPr>
          <p:cNvPr id="32" name="Shape 30"/>
          <p:cNvSpPr/>
          <p:nvPr/>
        </p:nvSpPr>
        <p:spPr>
          <a:xfrm rot="1800000">
            <a:off x="4663440" y="2638044"/>
            <a:ext cx="274320" cy="118872"/>
          </a:xfrm>
          <a:prstGeom prst="roundRect">
            <a:avLst>
              <a:gd name="adj" fmla="val 50000"/>
            </a:avLst>
          </a:prstGeom>
          <a:solidFill>
            <a:srgbClr val="DDE3EA"/>
          </a:solidFill>
          <a:ln w="9525">
            <a:solidFill>
              <a:srgbClr val="9AA3B0"/>
            </a:solidFill>
            <a:prstDash val="dash"/>
          </a:ln>
        </p:spPr>
      </p:sp>
      <p:sp>
        <p:nvSpPr>
          <p:cNvPr id="33" name="Shape 31"/>
          <p:cNvSpPr/>
          <p:nvPr/>
        </p:nvSpPr>
        <p:spPr>
          <a:xfrm>
            <a:off x="4727448" y="2624328"/>
            <a:ext cx="146304" cy="146304"/>
          </a:xfrm>
          <a:prstGeom prst="line">
            <a:avLst/>
          </a:prstGeom>
          <a:noFill/>
          <a:ln w="12700">
            <a:solidFill>
              <a:srgbClr val="6B7385"/>
            </a:solidFill>
            <a:prstDash val="solid"/>
          </a:ln>
        </p:spPr>
      </p:sp>
      <p:sp>
        <p:nvSpPr>
          <p:cNvPr id="34" name="Shape 32"/>
          <p:cNvSpPr/>
          <p:nvPr/>
        </p:nvSpPr>
        <p:spPr>
          <a:xfrm flipV="1">
            <a:off x="4727448" y="2624328"/>
            <a:ext cx="146304" cy="146304"/>
          </a:xfrm>
          <a:prstGeom prst="line">
            <a:avLst/>
          </a:prstGeom>
          <a:noFill/>
          <a:ln w="12700">
            <a:solidFill>
              <a:srgbClr val="6B7385"/>
            </a:solidFill>
            <a:prstDash val="solid"/>
          </a:ln>
        </p:spPr>
      </p:sp>
      <p:sp>
        <p:nvSpPr>
          <p:cNvPr id="35" name="Shape 33"/>
          <p:cNvSpPr/>
          <p:nvPr/>
        </p:nvSpPr>
        <p:spPr>
          <a:xfrm rot="4200000">
            <a:off x="3931920" y="2638044"/>
            <a:ext cx="274320" cy="118872"/>
          </a:xfrm>
          <a:prstGeom prst="roundRect">
            <a:avLst>
              <a:gd name="adj" fmla="val 50000"/>
            </a:avLst>
          </a:prstGeom>
          <a:solidFill>
            <a:srgbClr val="DDE3EA"/>
          </a:solidFill>
          <a:ln w="9525">
            <a:solidFill>
              <a:srgbClr val="9AA3B0"/>
            </a:solidFill>
            <a:prstDash val="dash"/>
          </a:ln>
        </p:spPr>
      </p:sp>
      <p:sp>
        <p:nvSpPr>
          <p:cNvPr id="36" name="Shape 34"/>
          <p:cNvSpPr/>
          <p:nvPr/>
        </p:nvSpPr>
        <p:spPr>
          <a:xfrm>
            <a:off x="3995928" y="2624328"/>
            <a:ext cx="146304" cy="146304"/>
          </a:xfrm>
          <a:prstGeom prst="line">
            <a:avLst/>
          </a:prstGeom>
          <a:noFill/>
          <a:ln w="12700">
            <a:solidFill>
              <a:srgbClr val="6B7385"/>
            </a:solidFill>
            <a:prstDash val="solid"/>
          </a:ln>
        </p:spPr>
      </p:sp>
      <p:sp>
        <p:nvSpPr>
          <p:cNvPr id="37" name="Shape 35"/>
          <p:cNvSpPr/>
          <p:nvPr/>
        </p:nvSpPr>
        <p:spPr>
          <a:xfrm flipV="1">
            <a:off x="3995928" y="2624328"/>
            <a:ext cx="146304" cy="146304"/>
          </a:xfrm>
          <a:prstGeom prst="line">
            <a:avLst/>
          </a:prstGeom>
          <a:noFill/>
          <a:ln w="12700">
            <a:solidFill>
              <a:srgbClr val="6B7385"/>
            </a:solidFill>
            <a:prstDash val="solid"/>
          </a:ln>
        </p:spPr>
      </p:sp>
      <p:sp>
        <p:nvSpPr>
          <p:cNvPr id="38" name="Shape 36"/>
          <p:cNvSpPr/>
          <p:nvPr/>
        </p:nvSpPr>
        <p:spPr>
          <a:xfrm>
            <a:off x="4434840" y="2866644"/>
            <a:ext cx="274320" cy="118872"/>
          </a:xfrm>
          <a:prstGeom prst="roundRect">
            <a:avLst>
              <a:gd name="adj" fmla="val 50000"/>
            </a:avLst>
          </a:prstGeom>
          <a:solidFill>
            <a:srgbClr val="DDE3EA"/>
          </a:solidFill>
          <a:ln w="9525">
            <a:solidFill>
              <a:srgbClr val="9AA3B0"/>
            </a:solidFill>
            <a:prstDash val="dash"/>
          </a:ln>
        </p:spPr>
      </p:sp>
      <p:sp>
        <p:nvSpPr>
          <p:cNvPr id="39" name="Shape 37"/>
          <p:cNvSpPr/>
          <p:nvPr/>
        </p:nvSpPr>
        <p:spPr>
          <a:xfrm>
            <a:off x="4498848" y="2852928"/>
            <a:ext cx="146304" cy="146304"/>
          </a:xfrm>
          <a:prstGeom prst="line">
            <a:avLst/>
          </a:prstGeom>
          <a:noFill/>
          <a:ln w="12700">
            <a:solidFill>
              <a:srgbClr val="6B7385"/>
            </a:solidFill>
            <a:prstDash val="solid"/>
          </a:ln>
        </p:spPr>
      </p:sp>
      <p:sp>
        <p:nvSpPr>
          <p:cNvPr id="40" name="Shape 38"/>
          <p:cNvSpPr/>
          <p:nvPr/>
        </p:nvSpPr>
        <p:spPr>
          <a:xfrm flipV="1">
            <a:off x="4498848" y="2852928"/>
            <a:ext cx="146304" cy="146304"/>
          </a:xfrm>
          <a:prstGeom prst="line">
            <a:avLst/>
          </a:prstGeom>
          <a:noFill/>
          <a:ln w="12700">
            <a:solidFill>
              <a:srgbClr val="6B7385"/>
            </a:solidFill>
            <a:prstDash val="solid"/>
          </a:ln>
        </p:spPr>
      </p:sp>
      <p:sp>
        <p:nvSpPr>
          <p:cNvPr id="41" name="Shape 39"/>
          <p:cNvSpPr/>
          <p:nvPr/>
        </p:nvSpPr>
        <p:spPr>
          <a:xfrm rot="2700000">
            <a:off x="4297680" y="2135124"/>
            <a:ext cx="274320" cy="118872"/>
          </a:xfrm>
          <a:prstGeom prst="roundRect">
            <a:avLst>
              <a:gd name="adj" fmla="val 50000"/>
            </a:avLst>
          </a:prstGeom>
          <a:solidFill>
            <a:srgbClr val="DDE3EA"/>
          </a:solidFill>
          <a:ln w="9525">
            <a:solidFill>
              <a:srgbClr val="9AA3B0"/>
            </a:solidFill>
            <a:prstDash val="dash"/>
          </a:ln>
        </p:spPr>
      </p:sp>
      <p:sp>
        <p:nvSpPr>
          <p:cNvPr id="42" name="Shape 40"/>
          <p:cNvSpPr/>
          <p:nvPr/>
        </p:nvSpPr>
        <p:spPr>
          <a:xfrm>
            <a:off x="4361688" y="2121408"/>
            <a:ext cx="146304" cy="146304"/>
          </a:xfrm>
          <a:prstGeom prst="line">
            <a:avLst/>
          </a:prstGeom>
          <a:noFill/>
          <a:ln w="12700">
            <a:solidFill>
              <a:srgbClr val="6B7385"/>
            </a:solidFill>
            <a:prstDash val="solid"/>
          </a:ln>
        </p:spPr>
      </p:sp>
      <p:sp>
        <p:nvSpPr>
          <p:cNvPr id="43" name="Shape 41"/>
          <p:cNvSpPr/>
          <p:nvPr/>
        </p:nvSpPr>
        <p:spPr>
          <a:xfrm flipV="1">
            <a:off x="4361688" y="2121408"/>
            <a:ext cx="146304" cy="146304"/>
          </a:xfrm>
          <a:prstGeom prst="line">
            <a:avLst/>
          </a:prstGeom>
          <a:noFill/>
          <a:ln w="12700">
            <a:solidFill>
              <a:srgbClr val="6B7385"/>
            </a:solidFill>
            <a:prstDash val="solid"/>
          </a:ln>
        </p:spPr>
      </p:sp>
      <p:sp>
        <p:nvSpPr>
          <p:cNvPr id="44" name="Shape 42"/>
          <p:cNvSpPr/>
          <p:nvPr/>
        </p:nvSpPr>
        <p:spPr>
          <a:xfrm rot="-600000">
            <a:off x="4206240" y="4238244"/>
            <a:ext cx="274320" cy="118872"/>
          </a:xfrm>
          <a:prstGeom prst="roundRect">
            <a:avLst>
              <a:gd name="adj" fmla="val 50000"/>
            </a:avLst>
          </a:prstGeom>
          <a:solidFill>
            <a:srgbClr val="C8414C"/>
          </a:solidFill>
          <a:ln w="9525">
            <a:solidFill>
              <a:srgbClr val="7E1F27"/>
            </a:solidFill>
            <a:prstDash val="solid"/>
          </a:ln>
        </p:spPr>
      </p:sp>
      <p:sp>
        <p:nvSpPr>
          <p:cNvPr id="45" name="Shape 43"/>
          <p:cNvSpPr/>
          <p:nvPr/>
        </p:nvSpPr>
        <p:spPr>
          <a:xfrm rot="1200000">
            <a:off x="4526280" y="4238244"/>
            <a:ext cx="274320" cy="118872"/>
          </a:xfrm>
          <a:prstGeom prst="roundRect">
            <a:avLst>
              <a:gd name="adj" fmla="val 50000"/>
            </a:avLst>
          </a:prstGeom>
          <a:solidFill>
            <a:srgbClr val="C8414C"/>
          </a:solidFill>
          <a:ln w="9525">
            <a:solidFill>
              <a:srgbClr val="7E1F27"/>
            </a:solidFill>
            <a:prstDash val="solid"/>
          </a:ln>
        </p:spPr>
      </p:sp>
      <p:sp>
        <p:nvSpPr>
          <p:cNvPr id="46" name="Shape 44"/>
          <p:cNvSpPr/>
          <p:nvPr/>
        </p:nvSpPr>
        <p:spPr>
          <a:xfrm rot="3600000">
            <a:off x="4343400" y="3918204"/>
            <a:ext cx="274320" cy="118872"/>
          </a:xfrm>
          <a:prstGeom prst="roundRect">
            <a:avLst>
              <a:gd name="adj" fmla="val 50000"/>
            </a:avLst>
          </a:prstGeom>
          <a:solidFill>
            <a:srgbClr val="C8414C"/>
          </a:solidFill>
          <a:ln w="9525">
            <a:solidFill>
              <a:srgbClr val="7E1F27"/>
            </a:solidFill>
            <a:prstDash val="solid"/>
          </a:ln>
        </p:spPr>
      </p:sp>
      <p:sp>
        <p:nvSpPr>
          <p:cNvPr id="47" name="Shape 45"/>
          <p:cNvSpPr/>
          <p:nvPr/>
        </p:nvSpPr>
        <p:spPr>
          <a:xfrm rot="-2400000">
            <a:off x="4434840" y="4539996"/>
            <a:ext cx="274320" cy="118872"/>
          </a:xfrm>
          <a:prstGeom prst="roundRect">
            <a:avLst>
              <a:gd name="adj" fmla="val 50000"/>
            </a:avLst>
          </a:prstGeom>
          <a:solidFill>
            <a:srgbClr val="C8414C"/>
          </a:solidFill>
          <a:ln w="9525">
            <a:solidFill>
              <a:srgbClr val="7E1F27"/>
            </a:solidFill>
            <a:prstDash val="solid"/>
          </a:ln>
        </p:spPr>
      </p:sp>
      <p:sp>
        <p:nvSpPr>
          <p:cNvPr id="48" name="Shape 46"/>
          <p:cNvSpPr/>
          <p:nvPr/>
        </p:nvSpPr>
        <p:spPr>
          <a:xfrm rot="1200000">
            <a:off x="1051560" y="3872484"/>
            <a:ext cx="274320" cy="118872"/>
          </a:xfrm>
          <a:prstGeom prst="roundRect">
            <a:avLst>
              <a:gd name="adj" fmla="val 50000"/>
            </a:avLst>
          </a:prstGeom>
          <a:solidFill>
            <a:srgbClr val="C8414C"/>
          </a:solidFill>
          <a:ln w="9525">
            <a:solidFill>
              <a:srgbClr val="7E1F27"/>
            </a:solidFill>
            <a:prstDash val="solid"/>
          </a:ln>
        </p:spPr>
      </p:sp>
      <p:sp>
        <p:nvSpPr>
          <p:cNvPr id="49" name="Shape 47"/>
          <p:cNvSpPr/>
          <p:nvPr/>
        </p:nvSpPr>
        <p:spPr>
          <a:xfrm rot="-1800000">
            <a:off x="1554480" y="3735324"/>
            <a:ext cx="274320" cy="118872"/>
          </a:xfrm>
          <a:prstGeom prst="roundRect">
            <a:avLst>
              <a:gd name="adj" fmla="val 50000"/>
            </a:avLst>
          </a:prstGeom>
          <a:solidFill>
            <a:srgbClr val="C8414C"/>
          </a:solidFill>
          <a:ln w="9525">
            <a:solidFill>
              <a:srgbClr val="7E1F27"/>
            </a:solidFill>
            <a:prstDash val="solid"/>
          </a:ln>
        </p:spPr>
      </p:sp>
      <p:sp>
        <p:nvSpPr>
          <p:cNvPr id="50" name="Shape 48"/>
          <p:cNvSpPr/>
          <p:nvPr/>
        </p:nvSpPr>
        <p:spPr>
          <a:xfrm rot="3600000">
            <a:off x="1874520" y="4055364"/>
            <a:ext cx="274320" cy="118872"/>
          </a:xfrm>
          <a:prstGeom prst="roundRect">
            <a:avLst>
              <a:gd name="adj" fmla="val 50000"/>
            </a:avLst>
          </a:prstGeom>
          <a:solidFill>
            <a:srgbClr val="C8414C"/>
          </a:solidFill>
          <a:ln w="9525">
            <a:solidFill>
              <a:srgbClr val="7E1F27"/>
            </a:solidFill>
            <a:prstDash val="solid"/>
          </a:ln>
        </p:spPr>
      </p:sp>
      <p:sp>
        <p:nvSpPr>
          <p:cNvPr id="51" name="Shape 49"/>
          <p:cNvSpPr/>
          <p:nvPr/>
        </p:nvSpPr>
        <p:spPr>
          <a:xfrm rot="-600000">
            <a:off x="1280160" y="4238244"/>
            <a:ext cx="274320" cy="118872"/>
          </a:xfrm>
          <a:prstGeom prst="roundRect">
            <a:avLst>
              <a:gd name="adj" fmla="val 50000"/>
            </a:avLst>
          </a:prstGeom>
          <a:solidFill>
            <a:srgbClr val="C8414C"/>
          </a:solidFill>
          <a:ln w="9525">
            <a:solidFill>
              <a:srgbClr val="7E1F27"/>
            </a:solidFill>
            <a:prstDash val="solid"/>
          </a:ln>
        </p:spPr>
      </p:sp>
      <p:sp>
        <p:nvSpPr>
          <p:cNvPr id="52" name="Shape 50"/>
          <p:cNvSpPr/>
          <p:nvPr/>
        </p:nvSpPr>
        <p:spPr>
          <a:xfrm rot="1800000">
            <a:off x="1737360" y="4512564"/>
            <a:ext cx="274320" cy="118872"/>
          </a:xfrm>
          <a:prstGeom prst="roundRect">
            <a:avLst>
              <a:gd name="adj" fmla="val 50000"/>
            </a:avLst>
          </a:prstGeom>
          <a:solidFill>
            <a:srgbClr val="C8414C"/>
          </a:solidFill>
          <a:ln w="9525">
            <a:solidFill>
              <a:srgbClr val="7E1F27"/>
            </a:solidFill>
            <a:prstDash val="solid"/>
          </a:ln>
        </p:spPr>
      </p:sp>
      <p:sp>
        <p:nvSpPr>
          <p:cNvPr id="53" name="Shape 51"/>
          <p:cNvSpPr/>
          <p:nvPr/>
        </p:nvSpPr>
        <p:spPr>
          <a:xfrm rot="4200000">
            <a:off x="1005840" y="4512564"/>
            <a:ext cx="274320" cy="118872"/>
          </a:xfrm>
          <a:prstGeom prst="roundRect">
            <a:avLst>
              <a:gd name="adj" fmla="val 50000"/>
            </a:avLst>
          </a:prstGeom>
          <a:solidFill>
            <a:srgbClr val="C8414C"/>
          </a:solidFill>
          <a:ln w="9525">
            <a:solidFill>
              <a:srgbClr val="7E1F27"/>
            </a:solidFill>
            <a:prstDash val="solid"/>
          </a:ln>
        </p:spPr>
      </p:sp>
      <p:sp>
        <p:nvSpPr>
          <p:cNvPr id="54" name="Shape 52"/>
          <p:cNvSpPr/>
          <p:nvPr/>
        </p:nvSpPr>
        <p:spPr>
          <a:xfrm>
            <a:off x="1508760" y="4741164"/>
            <a:ext cx="274320" cy="118872"/>
          </a:xfrm>
          <a:prstGeom prst="roundRect">
            <a:avLst>
              <a:gd name="adj" fmla="val 50000"/>
            </a:avLst>
          </a:prstGeom>
          <a:solidFill>
            <a:srgbClr val="C8414C"/>
          </a:solidFill>
          <a:ln w="9525">
            <a:solidFill>
              <a:srgbClr val="7E1F27"/>
            </a:solidFill>
            <a:prstDash val="solid"/>
          </a:ln>
        </p:spPr>
      </p:sp>
      <p:sp>
        <p:nvSpPr>
          <p:cNvPr id="55" name="Shape 53"/>
          <p:cNvSpPr/>
          <p:nvPr/>
        </p:nvSpPr>
        <p:spPr>
          <a:xfrm rot="2700000">
            <a:off x="1371600" y="4009644"/>
            <a:ext cx="274320" cy="118872"/>
          </a:xfrm>
          <a:prstGeom prst="roundRect">
            <a:avLst>
              <a:gd name="adj" fmla="val 50000"/>
            </a:avLst>
          </a:prstGeom>
          <a:solidFill>
            <a:srgbClr val="C8414C"/>
          </a:solidFill>
          <a:ln w="9525">
            <a:solidFill>
              <a:srgbClr val="7E1F27"/>
            </a:solidFill>
            <a:prstDash val="solid"/>
          </a:ln>
        </p:spPr>
      </p:sp>
      <p:sp>
        <p:nvSpPr>
          <p:cNvPr id="56" name="Shape 54"/>
          <p:cNvSpPr/>
          <p:nvPr/>
        </p:nvSpPr>
        <p:spPr>
          <a:xfrm>
            <a:off x="2468880" y="2377440"/>
            <a:ext cx="1188720" cy="91"/>
          </a:xfrm>
          <a:prstGeom prst="line">
            <a:avLst/>
          </a:prstGeom>
          <a:noFill/>
          <a:ln w="25400">
            <a:solidFill>
              <a:srgbClr val="133536"/>
            </a:solidFill>
            <a:prstDash val="solid"/>
            <a:tailEnd type="triangle"/>
          </a:ln>
        </p:spPr>
      </p:sp>
      <p:sp>
        <p:nvSpPr>
          <p:cNvPr id="57" name="Shape 55"/>
          <p:cNvSpPr/>
          <p:nvPr/>
        </p:nvSpPr>
        <p:spPr>
          <a:xfrm>
            <a:off x="4526280" y="3182112"/>
            <a:ext cx="91" cy="274320"/>
          </a:xfrm>
          <a:prstGeom prst="line">
            <a:avLst/>
          </a:prstGeom>
          <a:noFill/>
          <a:ln w="25400">
            <a:solidFill>
              <a:srgbClr val="133536"/>
            </a:solidFill>
            <a:prstDash val="solid"/>
            <a:tailEnd type="triangle"/>
          </a:ln>
        </p:spPr>
      </p:sp>
      <p:sp>
        <p:nvSpPr>
          <p:cNvPr id="58" name="Shape 56"/>
          <p:cNvSpPr/>
          <p:nvPr/>
        </p:nvSpPr>
        <p:spPr>
          <a:xfrm flipH="1">
            <a:off x="2468880" y="4251960"/>
            <a:ext cx="1188720" cy="91"/>
          </a:xfrm>
          <a:prstGeom prst="line">
            <a:avLst/>
          </a:prstGeom>
          <a:noFill/>
          <a:ln w="25400">
            <a:solidFill>
              <a:srgbClr val="133536"/>
            </a:solidFill>
            <a:prstDash val="solid"/>
            <a:tailEnd type="triangle"/>
          </a:ln>
        </p:spPr>
      </p:sp>
      <p:sp>
        <p:nvSpPr>
          <p:cNvPr id="59" name="Text 57"/>
          <p:cNvSpPr/>
          <p:nvPr/>
        </p:nvSpPr>
        <p:spPr>
          <a:xfrm>
            <a:off x="548640" y="1261872"/>
            <a:ext cx="2377440" cy="41148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1</a:t>
            </a:r>
            <a:r>
              <a:rPr lang="en-US" sz="1000" dirty="0">
                <a:solidFill>
                  <a:srgbClr val="262B3A"/>
                </a:solidFill>
                <a:latin typeface="Calibri" pitchFamily="34" charset="0"/>
                <a:ea typeface="Calibri" pitchFamily="34" charset="-122"/>
                <a:cs typeface="Calibri" pitchFamily="34" charset="-120"/>
              </a:rPr>
              <a:t> a </a:t>
            </a:r>
            <a:r>
              <a:rPr lang="en-US" sz="1000" b="1" dirty="0">
                <a:solidFill>
                  <a:srgbClr val="262B3A"/>
                </a:solidFill>
                <a:latin typeface="Calibri" pitchFamily="34" charset="0"/>
                <a:ea typeface="Calibri" pitchFamily="34" charset="-122"/>
                <a:cs typeface="Calibri" pitchFamily="34" charset="-120"/>
              </a:rPr>
              <a:t>mutation</a:t>
            </a:r>
            <a:r>
              <a:rPr lang="en-US" sz="1000" dirty="0">
                <a:solidFill>
                  <a:srgbClr val="262B3A"/>
                </a:solidFill>
                <a:latin typeface="Calibri" pitchFamily="34" charset="0"/>
                <a:ea typeface="Calibri" pitchFamily="34" charset="-122"/>
                <a:cs typeface="Calibri" pitchFamily="34" charset="-120"/>
              </a:rPr>
              <a:t> makes one bacterium resistant</a:t>
            </a:r>
            <a:endParaRPr lang="en-US" sz="1000" dirty="0"/>
          </a:p>
        </p:txBody>
      </p:sp>
      <p:sp>
        <p:nvSpPr>
          <p:cNvPr id="60" name="Text 58"/>
          <p:cNvSpPr/>
          <p:nvPr/>
        </p:nvSpPr>
        <p:spPr>
          <a:xfrm>
            <a:off x="3337560" y="1261872"/>
            <a:ext cx="2560320" cy="41148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2</a:t>
            </a:r>
            <a:r>
              <a:rPr lang="en-US" sz="1000" dirty="0">
                <a:solidFill>
                  <a:srgbClr val="262B3A"/>
                </a:solidFill>
                <a:latin typeface="Calibri" pitchFamily="34" charset="0"/>
                <a:ea typeface="Calibri" pitchFamily="34" charset="-122"/>
                <a:cs typeface="Calibri" pitchFamily="34" charset="-120"/>
              </a:rPr>
              <a:t> antibiotic kills the </a:t>
            </a:r>
            <a:r>
              <a:rPr lang="en-US" sz="1000" b="1" dirty="0">
                <a:solidFill>
                  <a:srgbClr val="262B3A"/>
                </a:solidFill>
                <a:latin typeface="Calibri" pitchFamily="34" charset="0"/>
                <a:ea typeface="Calibri" pitchFamily="34" charset="-122"/>
                <a:cs typeface="Calibri" pitchFamily="34" charset="-120"/>
              </a:rPr>
              <a:t>non-resistant</a:t>
            </a:r>
            <a:r>
              <a:rPr lang="en-US" sz="1000" dirty="0">
                <a:solidFill>
                  <a:srgbClr val="262B3A"/>
                </a:solidFill>
                <a:latin typeface="Calibri" pitchFamily="34" charset="0"/>
                <a:ea typeface="Calibri" pitchFamily="34" charset="-122"/>
                <a:cs typeface="Calibri" pitchFamily="34" charset="-120"/>
              </a:rPr>
              <a:t> bacteria</a:t>
            </a:r>
            <a:endParaRPr lang="en-US" sz="1000" dirty="0"/>
          </a:p>
        </p:txBody>
      </p:sp>
      <p:sp>
        <p:nvSpPr>
          <p:cNvPr id="61" name="Text 59"/>
          <p:cNvSpPr/>
          <p:nvPr/>
        </p:nvSpPr>
        <p:spPr>
          <a:xfrm>
            <a:off x="2606040" y="2450592"/>
            <a:ext cx="914400" cy="228600"/>
          </a:xfrm>
          <a:prstGeom prst="rect">
            <a:avLst/>
          </a:prstGeom>
          <a:noFill/>
          <a:ln/>
        </p:spPr>
        <p:txBody>
          <a:bodyPr wrap="square" lIns="0" tIns="0" rIns="0" bIns="0" rtlCol="0" anchor="ctr"/>
          <a:lstStyle/>
          <a:p>
            <a:pPr algn="ctr" indent="0" marL="0">
              <a:buNone/>
            </a:pPr>
            <a:r>
              <a:rPr lang="en-US" sz="1000" b="1" dirty="0">
                <a:solidFill>
                  <a:srgbClr val="B8730A"/>
                </a:solidFill>
                <a:latin typeface="Calibri" pitchFamily="34" charset="0"/>
                <a:ea typeface="Calibri" pitchFamily="34" charset="-122"/>
                <a:cs typeface="Calibri" pitchFamily="34" charset="-120"/>
              </a:rPr>
              <a:t>antibiotic</a:t>
            </a:r>
            <a:endParaRPr lang="en-US" sz="1000" dirty="0"/>
          </a:p>
        </p:txBody>
      </p:sp>
      <p:sp>
        <p:nvSpPr>
          <p:cNvPr id="62" name="Text 60"/>
          <p:cNvSpPr/>
          <p:nvPr/>
        </p:nvSpPr>
        <p:spPr>
          <a:xfrm>
            <a:off x="5074920" y="5029200"/>
            <a:ext cx="914400" cy="36576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3</a:t>
            </a:r>
            <a:r>
              <a:rPr lang="en-US" sz="1000" dirty="0">
                <a:solidFill>
                  <a:srgbClr val="262B3A"/>
                </a:solidFill>
                <a:latin typeface="Calibri" pitchFamily="34" charset="0"/>
                <a:ea typeface="Calibri" pitchFamily="34" charset="-122"/>
                <a:cs typeface="Calibri" pitchFamily="34" charset="-120"/>
              </a:rPr>
              <a:t> it survives and </a:t>
            </a:r>
            <a:r>
              <a:rPr lang="en-US" sz="1000" b="1" dirty="0">
                <a:solidFill>
                  <a:srgbClr val="262B3A"/>
                </a:solidFill>
                <a:latin typeface="Calibri" pitchFamily="34" charset="0"/>
                <a:ea typeface="Calibri" pitchFamily="34" charset="-122"/>
                <a:cs typeface="Calibri" pitchFamily="34" charset="-120"/>
              </a:rPr>
              <a:t>divides</a:t>
            </a:r>
            <a:endParaRPr lang="en-US" sz="1000" dirty="0"/>
          </a:p>
        </p:txBody>
      </p:sp>
      <p:sp>
        <p:nvSpPr>
          <p:cNvPr id="63" name="Text 61"/>
          <p:cNvSpPr/>
          <p:nvPr/>
        </p:nvSpPr>
        <p:spPr>
          <a:xfrm>
            <a:off x="548640" y="5047488"/>
            <a:ext cx="3017520" cy="36576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4</a:t>
            </a:r>
            <a:r>
              <a:rPr lang="en-US" sz="1000" dirty="0">
                <a:solidFill>
                  <a:srgbClr val="262B3A"/>
                </a:solidFill>
                <a:latin typeface="Calibri" pitchFamily="34" charset="0"/>
                <a:ea typeface="Calibri" pitchFamily="34" charset="-122"/>
                <a:cs typeface="Calibri" pitchFamily="34" charset="-120"/>
              </a:rPr>
              <a:t> the population is now </a:t>
            </a:r>
            <a:r>
              <a:rPr lang="en-US" sz="1000" b="1" dirty="0">
                <a:solidFill>
                  <a:srgbClr val="262B3A"/>
                </a:solidFill>
                <a:latin typeface="Calibri" pitchFamily="34" charset="0"/>
                <a:ea typeface="Calibri" pitchFamily="34" charset="-122"/>
                <a:cs typeface="Calibri" pitchFamily="34" charset="-120"/>
              </a:rPr>
              <a:t>resistant</a:t>
            </a:r>
            <a:endParaRPr lang="en-US" sz="1000" dirty="0"/>
          </a:p>
        </p:txBody>
      </p:sp>
      <p:sp>
        <p:nvSpPr>
          <p:cNvPr id="64" name="Shape 62"/>
          <p:cNvSpPr/>
          <p:nvPr/>
        </p:nvSpPr>
        <p:spPr>
          <a:xfrm>
            <a:off x="2514600" y="3095244"/>
            <a:ext cx="274320" cy="118872"/>
          </a:xfrm>
          <a:prstGeom prst="roundRect">
            <a:avLst>
              <a:gd name="adj" fmla="val 50000"/>
            </a:avLst>
          </a:prstGeom>
          <a:solidFill>
            <a:srgbClr val="5B9BD5"/>
          </a:solidFill>
          <a:ln w="9525">
            <a:solidFill>
              <a:srgbClr val="2F5F8F"/>
            </a:solidFill>
            <a:prstDash val="solid"/>
          </a:ln>
        </p:spPr>
      </p:sp>
      <p:sp>
        <p:nvSpPr>
          <p:cNvPr id="65" name="Text 63"/>
          <p:cNvSpPr/>
          <p:nvPr/>
        </p:nvSpPr>
        <p:spPr>
          <a:xfrm>
            <a:off x="2834640" y="3035808"/>
            <a:ext cx="1280160" cy="22860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not resistant</a:t>
            </a:r>
            <a:endParaRPr lang="en-US" sz="1000" dirty="0"/>
          </a:p>
        </p:txBody>
      </p:sp>
      <p:sp>
        <p:nvSpPr>
          <p:cNvPr id="66" name="Shape 64"/>
          <p:cNvSpPr/>
          <p:nvPr/>
        </p:nvSpPr>
        <p:spPr>
          <a:xfrm>
            <a:off x="2514600" y="3415284"/>
            <a:ext cx="274320" cy="118872"/>
          </a:xfrm>
          <a:prstGeom prst="roundRect">
            <a:avLst>
              <a:gd name="adj" fmla="val 50000"/>
            </a:avLst>
          </a:prstGeom>
          <a:solidFill>
            <a:srgbClr val="C8414C"/>
          </a:solidFill>
          <a:ln w="9525">
            <a:solidFill>
              <a:srgbClr val="7E1F27"/>
            </a:solidFill>
            <a:prstDash val="solid"/>
          </a:ln>
        </p:spPr>
      </p:sp>
      <p:sp>
        <p:nvSpPr>
          <p:cNvPr id="67" name="Text 65"/>
          <p:cNvSpPr/>
          <p:nvPr/>
        </p:nvSpPr>
        <p:spPr>
          <a:xfrm>
            <a:off x="2834640" y="3355848"/>
            <a:ext cx="1280160" cy="228600"/>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resistant</a:t>
            </a:r>
            <a:endParaRPr lang="en-US" sz="1000" dirty="0"/>
          </a:p>
        </p:txBody>
      </p:sp>
      <p:sp>
        <p:nvSpPr>
          <p:cNvPr id="68" name="Shape 66"/>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69" name="Text 6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Evolution we can watch</a:t>
            </a:r>
            <a:endParaRPr lang="en-US" sz="1300" dirty="0"/>
          </a:p>
        </p:txBody>
      </p:sp>
      <p:sp>
        <p:nvSpPr>
          <p:cNvPr id="70" name="Text 68"/>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Recap B2</a:t>
            </a:r>
            <a:r>
              <a:rPr lang="en-US" sz="1100" dirty="0">
                <a:solidFill>
                  <a:srgbClr val="262B3A"/>
                </a:solidFill>
                <a:latin typeface="Calibri" pitchFamily="34" charset="0"/>
                <a:ea typeface="Calibri" pitchFamily="34" charset="-122"/>
                <a:cs typeface="Calibri" pitchFamily="34" charset="-120"/>
              </a:rPr>
              <a:t>: antibiotics kill </a:t>
            </a:r>
            <a:r>
              <a:rPr lang="en-US" sz="1100" b="1" dirty="0">
                <a:solidFill>
                  <a:srgbClr val="262B3A"/>
                </a:solidFill>
                <a:latin typeface="Calibri" pitchFamily="34" charset="0"/>
                <a:ea typeface="Calibri" pitchFamily="34" charset="-122"/>
                <a:cs typeface="Calibri" pitchFamily="34" charset="-120"/>
              </a:rPr>
              <a:t>bacteria</a:t>
            </a:r>
            <a:r>
              <a:rPr lang="en-US" sz="1100" dirty="0">
                <a:solidFill>
                  <a:srgbClr val="262B3A"/>
                </a:solidFill>
                <a:latin typeface="Calibri" pitchFamily="34" charset="0"/>
                <a:ea typeface="Calibri" pitchFamily="34" charset="-122"/>
                <a:cs typeface="Calibri" pitchFamily="34" charset="-120"/>
              </a:rPr>
              <a:t>; some bacteria are now </a:t>
            </a:r>
            <a:r>
              <a:rPr lang="en-US" sz="1100" b="1" dirty="0">
                <a:solidFill>
                  <a:srgbClr val="262B3A"/>
                </a:solidFill>
                <a:latin typeface="Calibri" pitchFamily="34" charset="0"/>
                <a:ea typeface="Calibri" pitchFamily="34" charset="-122"/>
                <a:cs typeface="Calibri" pitchFamily="34" charset="-120"/>
              </a:rPr>
              <a:t>resistant</a:t>
            </a:r>
            <a:r>
              <a:rPr lang="en-US" sz="1100" dirty="0">
                <a:solidFill>
                  <a:srgbClr val="262B3A"/>
                </a:solidFill>
                <a:latin typeface="Calibri" pitchFamily="34" charset="0"/>
                <a:ea typeface="Calibri" pitchFamily="34" charset="-122"/>
                <a:cs typeface="Calibri" pitchFamily="34" charset="-120"/>
              </a:rPr>
              <a:t>, e.g. </a:t>
            </a:r>
            <a:r>
              <a:rPr lang="en-US" sz="1100" b="1" dirty="0">
                <a:solidFill>
                  <a:srgbClr val="262B3A"/>
                </a:solidFill>
                <a:latin typeface="Calibri" pitchFamily="34" charset="0"/>
                <a:ea typeface="Calibri" pitchFamily="34" charset="-122"/>
                <a:cs typeface="Calibri" pitchFamily="34" charset="-120"/>
              </a:rPr>
              <a:t>MRSA</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This is </a:t>
            </a:r>
            <a:r>
              <a:rPr lang="en-US" sz="1100" b="1" dirty="0">
                <a:solidFill>
                  <a:srgbClr val="262B3A"/>
                </a:solidFill>
                <a:latin typeface="Calibri" pitchFamily="34" charset="0"/>
                <a:ea typeface="Calibri" pitchFamily="34" charset="-122"/>
                <a:cs typeface="Calibri" pitchFamily="34" charset="-120"/>
              </a:rPr>
              <a:t>natural selection</a:t>
            </a:r>
            <a:r>
              <a:rPr lang="en-US" sz="1100" dirty="0">
                <a:solidFill>
                  <a:srgbClr val="262B3A"/>
                </a:solidFill>
                <a:latin typeface="Calibri" pitchFamily="34" charset="0"/>
                <a:ea typeface="Calibri" pitchFamily="34" charset="-122"/>
                <a:cs typeface="Calibri" pitchFamily="34" charset="-120"/>
              </a:rPr>
              <a:t>: variation (a </a:t>
            </a:r>
            <a:r>
              <a:rPr lang="en-US" sz="1100" b="1" dirty="0">
                <a:solidFill>
                  <a:srgbClr val="262B3A"/>
                </a:solidFill>
                <a:latin typeface="Calibri" pitchFamily="34" charset="0"/>
                <a:ea typeface="Calibri" pitchFamily="34" charset="-122"/>
                <a:cs typeface="Calibri" pitchFamily="34" charset="-120"/>
              </a:rPr>
              <a:t>mutation</a:t>
            </a:r>
            <a:r>
              <a:rPr lang="en-US" sz="1100" dirty="0">
                <a:solidFill>
                  <a:srgbClr val="262B3A"/>
                </a:solidFill>
                <a:latin typeface="Calibri" pitchFamily="34" charset="0"/>
                <a:ea typeface="Calibri" pitchFamily="34" charset="-122"/>
                <a:cs typeface="Calibri" pitchFamily="34" charset="-120"/>
              </a:rPr>
              <a:t>), selection (the antibiotic), survivors </a:t>
            </a:r>
            <a:r>
              <a:rPr lang="en-US" sz="1100" b="1" dirty="0">
                <a:solidFill>
                  <a:srgbClr val="262B3A"/>
                </a:solidFill>
                <a:latin typeface="Calibri" pitchFamily="34" charset="0"/>
                <a:ea typeface="Calibri" pitchFamily="34" charset="-122"/>
                <a:cs typeface="Calibri" pitchFamily="34" charset="-120"/>
              </a:rPr>
              <a:t>reproduce</a:t>
            </a:r>
            <a:r>
              <a:rPr lang="en-US" sz="1100" dirty="0">
                <a:solidFill>
                  <a:srgbClr val="262B3A"/>
                </a:solidFill>
                <a:latin typeface="Calibri" pitchFamily="34" charset="0"/>
                <a:ea typeface="Calibri" pitchFamily="34" charset="-122"/>
                <a:cs typeface="Calibri" pitchFamily="34" charset="-120"/>
              </a:rPr>
              <a:t> and pass on the resistance allele.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Bacteria reproduce very </a:t>
            </a:r>
            <a:r>
              <a:rPr lang="en-US" sz="1100" b="1" dirty="0">
                <a:solidFill>
                  <a:srgbClr val="262B3A"/>
                </a:solidFill>
                <a:latin typeface="Calibri" pitchFamily="34" charset="0"/>
                <a:ea typeface="Calibri" pitchFamily="34" charset="-122"/>
                <a:cs typeface="Calibri" pitchFamily="34" charset="-120"/>
              </a:rPr>
              <a:t>fast</a:t>
            </a:r>
            <a:r>
              <a:rPr lang="en-US" sz="1100" dirty="0">
                <a:solidFill>
                  <a:srgbClr val="262B3A"/>
                </a:solidFill>
                <a:latin typeface="Calibri" pitchFamily="34" charset="0"/>
                <a:ea typeface="Calibri" pitchFamily="34" charset="-122"/>
                <a:cs typeface="Calibri" pitchFamily="34" charset="-120"/>
              </a:rPr>
              <a:t>, so we can see evolution happen in </a:t>
            </a:r>
            <a:r>
              <a:rPr lang="en-US" sz="1100" b="1" dirty="0">
                <a:solidFill>
                  <a:srgbClr val="262B3A"/>
                </a:solidFill>
                <a:latin typeface="Calibri" pitchFamily="34" charset="0"/>
                <a:ea typeface="Calibri" pitchFamily="34" charset="-122"/>
                <a:cs typeface="Calibri" pitchFamily="34" charset="-120"/>
              </a:rPr>
              <a:t>years</a:t>
            </a:r>
            <a:r>
              <a:rPr lang="en-US" sz="1100" dirty="0">
                <a:solidFill>
                  <a:srgbClr val="262B3A"/>
                </a:solidFill>
                <a:latin typeface="Calibri" pitchFamily="34" charset="0"/>
                <a:ea typeface="Calibri" pitchFamily="34" charset="-122"/>
                <a:cs typeface="Calibri" pitchFamily="34" charset="-120"/>
              </a:rPr>
              <a:t>, not millions of years.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 it is </a:t>
            </a:r>
            <a:r>
              <a:rPr lang="en-US" sz="1100" b="1" dirty="0">
                <a:solidFill>
                  <a:srgbClr val="262B3A"/>
                </a:solidFill>
                <a:latin typeface="Calibri" pitchFamily="34" charset="0"/>
                <a:ea typeface="Calibri" pitchFamily="34" charset="-122"/>
                <a:cs typeface="Calibri" pitchFamily="34" charset="-120"/>
              </a:rPr>
              <a:t>modern evidence</a:t>
            </a:r>
            <a:r>
              <a:rPr lang="en-US" sz="1100" dirty="0">
                <a:solidFill>
                  <a:srgbClr val="262B3A"/>
                </a:solidFill>
                <a:latin typeface="Calibri" pitchFamily="34" charset="0"/>
                <a:ea typeface="Calibri" pitchFamily="34" charset="-122"/>
                <a:cs typeface="Calibri" pitchFamily="34" charset="-120"/>
              </a:rPr>
              <a:t> for evolution that supports the fossil record.</a:t>
            </a:r>
            <a:endParaRPr lang="en-US" sz="1100" dirty="0"/>
          </a:p>
        </p:txBody>
      </p:sp>
      <p:sp>
        <p:nvSpPr>
          <p:cNvPr id="71" name="Shape 69"/>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72" name="Text 70"/>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fast?</a:t>
            </a:r>
            <a:endParaRPr lang="en-US" sz="1300" dirty="0"/>
          </a:p>
        </p:txBody>
      </p:sp>
      <p:sp>
        <p:nvSpPr>
          <p:cNvPr id="73" name="Text 71"/>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resistant bacterium divides every 20 minutes. How many after 4 hours?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Generations   </a:t>
            </a:r>
            <a:r>
              <a:rPr lang="en-US" sz="1050" dirty="0">
                <a:solidFill>
                  <a:srgbClr val="262B3A"/>
                </a:solidFill>
                <a:latin typeface="Calibri" pitchFamily="34" charset="0"/>
                <a:ea typeface="Calibri" pitchFamily="34" charset="-122"/>
                <a:cs typeface="Calibri" pitchFamily="34" charset="-120"/>
              </a:rPr>
              <a:t>240 min ÷ 20 min = 12</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Powers of 2   </a:t>
            </a:r>
            <a:r>
              <a:rPr lang="en-US" sz="1050" dirty="0">
                <a:solidFill>
                  <a:srgbClr val="262B3A"/>
                </a:solidFill>
                <a:latin typeface="Calibri" pitchFamily="34" charset="0"/>
                <a:ea typeface="Calibri" pitchFamily="34" charset="-122"/>
                <a:cs typeface="Calibri" pitchFamily="34" charset="-120"/>
              </a:rPr>
              <a:t>2¹² = 4096</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4096</a:t>
            </a:r>
            <a:r>
              <a:rPr lang="en-US" sz="1050" b="1" dirty="0">
                <a:solidFill>
                  <a:srgbClr val="C8414C"/>
                </a:solidFill>
                <a:latin typeface="Calibri" pitchFamily="34" charset="0"/>
                <a:ea typeface="Calibri" pitchFamily="34" charset="-122"/>
                <a:cs typeface="Calibri" pitchFamily="34" charset="-120"/>
              </a:rPr>
              <a:t> resistant bacteria from one</a:t>
            </a:r>
            <a:endParaRPr lang="en-US" sz="1050" dirty="0"/>
          </a:p>
        </p:txBody>
      </p:sp>
      <p:sp>
        <p:nvSpPr>
          <p:cNvPr id="74" name="Shape 72"/>
          <p:cNvSpPr/>
          <p:nvPr/>
        </p:nvSpPr>
        <p:spPr>
          <a:xfrm>
            <a:off x="411480" y="5833872"/>
            <a:ext cx="11368735" cy="530352"/>
          </a:xfrm>
          <a:prstGeom prst="rect">
            <a:avLst/>
          </a:prstGeom>
          <a:solidFill>
            <a:srgbClr val="FFF4E0"/>
          </a:solidFill>
          <a:ln w="6350">
            <a:solidFill>
              <a:srgbClr val="F1D9A8"/>
            </a:solidFill>
            <a:prstDash val="solid"/>
          </a:ln>
        </p:spPr>
      </p:sp>
      <p:sp>
        <p:nvSpPr>
          <p:cNvPr id="75" name="Shape 73"/>
          <p:cNvSpPr/>
          <p:nvPr/>
        </p:nvSpPr>
        <p:spPr>
          <a:xfrm>
            <a:off x="411480" y="5833872"/>
            <a:ext cx="82296" cy="530352"/>
          </a:xfrm>
          <a:prstGeom prst="rect">
            <a:avLst/>
          </a:prstGeom>
          <a:solidFill>
            <a:srgbClr val="E39A2F"/>
          </a:solidFill>
          <a:ln w="12700">
            <a:solidFill>
              <a:srgbClr val="E39A2F"/>
            </a:solidFill>
            <a:prstDash val="solid"/>
          </a:ln>
        </p:spPr>
      </p:sp>
      <p:sp>
        <p:nvSpPr>
          <p:cNvPr id="76" name="Text 7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antibiotic resistance count as </a:t>
            </a:r>
            <a:r>
              <a:rPr lang="en-US" sz="1150" b="1" dirty="0">
                <a:solidFill>
                  <a:srgbClr val="262B3A"/>
                </a:solidFill>
                <a:latin typeface="Calibri" pitchFamily="34" charset="0"/>
                <a:ea typeface="Calibri" pitchFamily="34" charset="-122"/>
                <a:cs typeface="Calibri" pitchFamily="34" charset="-120"/>
              </a:rPr>
              <a:t>evidence</a:t>
            </a:r>
            <a:r>
              <a:rPr lang="en-US" sz="1150" dirty="0">
                <a:solidFill>
                  <a:srgbClr val="262B3A"/>
                </a:solidFill>
                <a:latin typeface="Calibri" pitchFamily="34" charset="0"/>
                <a:ea typeface="Calibri" pitchFamily="34" charset="-122"/>
                <a:cs typeface="Calibri" pitchFamily="34" charset="-120"/>
              </a:rPr>
              <a:t> for evolution? How many bacteria would one resistant bacterium produce in </a:t>
            </a:r>
            <a:r>
              <a:rPr lang="en-US" sz="1150" b="1" dirty="0">
                <a:solidFill>
                  <a:srgbClr val="262B3A"/>
                </a:solidFill>
                <a:latin typeface="Calibri" pitchFamily="34" charset="0"/>
                <a:ea typeface="Calibri" pitchFamily="34" charset="-122"/>
                <a:cs typeface="Calibri" pitchFamily="34" charset="-120"/>
              </a:rPr>
              <a:t>3 hours</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B6.1.5–B6.1.7 • new species and evidence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evolution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t>
            </a:r>
            <a:r>
              <a:rPr lang="en-US" sz="1250" b="1" dirty="0">
                <a:solidFill>
                  <a:srgbClr val="262B3A"/>
                </a:solidFill>
                <a:latin typeface="Calibri" pitchFamily="34" charset="0"/>
                <a:ea typeface="Calibri" pitchFamily="34" charset="-122"/>
                <a:cs typeface="Calibri" pitchFamily="34" charset="-120"/>
              </a:rPr>
              <a:t>fossils</a:t>
            </a:r>
            <a:r>
              <a:rPr lang="en-US" sz="1250" dirty="0">
                <a:solidFill>
                  <a:srgbClr val="262B3A"/>
                </a:solidFill>
                <a:latin typeface="Calibri" pitchFamily="34" charset="0"/>
                <a:ea typeface="Calibri" pitchFamily="34" charset="-122"/>
                <a:cs typeface="Calibri" pitchFamily="34" charset="-120"/>
              </a:rPr>
              <a:t> provide evidence for evolution.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resistant bacterium divides every 20 minutes. How many are there after </a:t>
            </a:r>
            <a:r>
              <a:rPr lang="en-US" sz="1250" b="1" dirty="0">
                <a:solidFill>
                  <a:srgbClr val="262B3A"/>
                </a:solidFill>
                <a:latin typeface="Calibri" pitchFamily="34" charset="0"/>
                <a:ea typeface="Calibri" pitchFamily="34" charset="-122"/>
                <a:cs typeface="Calibri" pitchFamily="34" charset="-120"/>
              </a:rPr>
              <a:t>100 minutes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 population of bacteria becomes </a:t>
            </a:r>
            <a:r>
              <a:rPr lang="en-US" sz="1250" b="1" dirty="0">
                <a:solidFill>
                  <a:srgbClr val="262B3A"/>
                </a:solidFill>
                <a:latin typeface="Calibri" pitchFamily="34" charset="0"/>
                <a:ea typeface="Calibri" pitchFamily="34" charset="-122"/>
                <a:cs typeface="Calibri" pitchFamily="34" charset="-120"/>
              </a:rPr>
              <a:t>resistant</a:t>
            </a:r>
            <a:r>
              <a:rPr lang="en-US" sz="1250" dirty="0">
                <a:solidFill>
                  <a:srgbClr val="262B3A"/>
                </a:solidFill>
                <a:latin typeface="Calibri" pitchFamily="34" charset="0"/>
                <a:ea typeface="Calibri" pitchFamily="34" charset="-122"/>
                <a:cs typeface="Calibri" pitchFamily="34" charset="-120"/>
              </a:rPr>
              <a:t> to an antibiotic.</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Modelling natural selection: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B6.1.3 • a camouflage model of predators and prey</a:t>
            </a:r>
            <a:endParaRPr lang="en-US" sz="1100" dirty="0"/>
          </a:p>
        </p:txBody>
      </p:sp>
      <p:sp>
        <p:nvSpPr>
          <p:cNvPr id="6" name="Shape 4"/>
          <p:cNvSpPr/>
          <p:nvPr/>
        </p:nvSpPr>
        <p:spPr>
          <a:xfrm>
            <a:off x="10024567" y="292608"/>
            <a:ext cx="175564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02456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Activity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patterned background, paper "moths", forceps, stop clock, tally chart</a:t>
            </a:r>
            <a:endParaRPr lang="en-US" sz="1000" dirty="0"/>
          </a:p>
        </p:txBody>
      </p:sp>
      <p:sp>
        <p:nvSpPr>
          <p:cNvPr id="12" name="Shape 10"/>
          <p:cNvSpPr/>
          <p:nvPr/>
        </p:nvSpPr>
        <p:spPr>
          <a:xfrm>
            <a:off x="685800" y="1371600"/>
            <a:ext cx="3017520" cy="2468880"/>
          </a:xfrm>
          <a:prstGeom prst="rect">
            <a:avLst/>
          </a:prstGeom>
          <a:solidFill>
            <a:srgbClr val="3A3532"/>
          </a:solidFill>
          <a:ln w="12700">
            <a:solidFill>
              <a:srgbClr val="1E1B19"/>
            </a:solidFill>
            <a:prstDash val="solid"/>
          </a:ln>
        </p:spPr>
      </p:sp>
      <p:sp>
        <p:nvSpPr>
          <p:cNvPr id="13" name="Shape 11"/>
          <p:cNvSpPr/>
          <p:nvPr/>
        </p:nvSpPr>
        <p:spPr>
          <a:xfrm>
            <a:off x="1116874" y="1408176"/>
            <a:ext cx="45720" cy="2395728"/>
          </a:xfrm>
          <a:prstGeom prst="line">
            <a:avLst/>
          </a:prstGeom>
          <a:noFill/>
          <a:ln w="15875">
            <a:solidFill>
              <a:srgbClr val="24201E"/>
            </a:solidFill>
            <a:prstDash val="solid"/>
          </a:ln>
        </p:spPr>
      </p:sp>
      <p:sp>
        <p:nvSpPr>
          <p:cNvPr id="14" name="Shape 12"/>
          <p:cNvSpPr/>
          <p:nvPr/>
        </p:nvSpPr>
        <p:spPr>
          <a:xfrm flipH="1">
            <a:off x="1502229" y="1408176"/>
            <a:ext cx="45720" cy="2395728"/>
          </a:xfrm>
          <a:prstGeom prst="line">
            <a:avLst/>
          </a:prstGeom>
          <a:noFill/>
          <a:ln w="15875">
            <a:solidFill>
              <a:srgbClr val="24201E"/>
            </a:solidFill>
            <a:prstDash val="solid"/>
          </a:ln>
        </p:spPr>
      </p:sp>
      <p:sp>
        <p:nvSpPr>
          <p:cNvPr id="15" name="Shape 13"/>
          <p:cNvSpPr/>
          <p:nvPr/>
        </p:nvSpPr>
        <p:spPr>
          <a:xfrm>
            <a:off x="1979023" y="1408176"/>
            <a:ext cx="45720" cy="2395728"/>
          </a:xfrm>
          <a:prstGeom prst="line">
            <a:avLst/>
          </a:prstGeom>
          <a:noFill/>
          <a:ln w="15875">
            <a:solidFill>
              <a:srgbClr val="24201E"/>
            </a:solidFill>
            <a:prstDash val="solid"/>
          </a:ln>
        </p:spPr>
      </p:sp>
      <p:sp>
        <p:nvSpPr>
          <p:cNvPr id="16" name="Shape 14"/>
          <p:cNvSpPr/>
          <p:nvPr/>
        </p:nvSpPr>
        <p:spPr>
          <a:xfrm flipH="1">
            <a:off x="2364377" y="1408176"/>
            <a:ext cx="45720" cy="2395728"/>
          </a:xfrm>
          <a:prstGeom prst="line">
            <a:avLst/>
          </a:prstGeom>
          <a:noFill/>
          <a:ln w="15875">
            <a:solidFill>
              <a:srgbClr val="24201E"/>
            </a:solidFill>
            <a:prstDash val="solid"/>
          </a:ln>
        </p:spPr>
      </p:sp>
      <p:sp>
        <p:nvSpPr>
          <p:cNvPr id="17" name="Shape 15"/>
          <p:cNvSpPr/>
          <p:nvPr/>
        </p:nvSpPr>
        <p:spPr>
          <a:xfrm>
            <a:off x="2841171" y="1408176"/>
            <a:ext cx="45720" cy="2395728"/>
          </a:xfrm>
          <a:prstGeom prst="line">
            <a:avLst/>
          </a:prstGeom>
          <a:noFill/>
          <a:ln w="15875">
            <a:solidFill>
              <a:srgbClr val="24201E"/>
            </a:solidFill>
            <a:prstDash val="solid"/>
          </a:ln>
        </p:spPr>
      </p:sp>
      <p:sp>
        <p:nvSpPr>
          <p:cNvPr id="18" name="Shape 16"/>
          <p:cNvSpPr/>
          <p:nvPr/>
        </p:nvSpPr>
        <p:spPr>
          <a:xfrm flipH="1">
            <a:off x="3226526" y="1408176"/>
            <a:ext cx="45720" cy="2395728"/>
          </a:xfrm>
          <a:prstGeom prst="line">
            <a:avLst/>
          </a:prstGeom>
          <a:noFill/>
          <a:ln w="15875">
            <a:solidFill>
              <a:srgbClr val="24201E"/>
            </a:solidFill>
            <a:prstDash val="solid"/>
          </a:ln>
        </p:spPr>
      </p:sp>
      <p:sp>
        <p:nvSpPr>
          <p:cNvPr id="19" name="Shape 17"/>
          <p:cNvSpPr/>
          <p:nvPr/>
        </p:nvSpPr>
        <p:spPr>
          <a:xfrm>
            <a:off x="868680" y="1554480"/>
            <a:ext cx="146304" cy="109728"/>
          </a:xfrm>
          <a:prstGeom prst="rect">
            <a:avLst/>
          </a:prstGeom>
          <a:solidFill>
            <a:srgbClr val="E9E3CF"/>
          </a:solidFill>
          <a:ln w="6350">
            <a:solidFill>
              <a:srgbClr val="8C8270"/>
            </a:solidFill>
            <a:prstDash val="solid"/>
          </a:ln>
        </p:spPr>
      </p:sp>
      <p:sp>
        <p:nvSpPr>
          <p:cNvPr id="20" name="Shape 18"/>
          <p:cNvSpPr/>
          <p:nvPr/>
        </p:nvSpPr>
        <p:spPr>
          <a:xfrm>
            <a:off x="1371600" y="1920240"/>
            <a:ext cx="146304" cy="109728"/>
          </a:xfrm>
          <a:prstGeom prst="rect">
            <a:avLst/>
          </a:prstGeom>
          <a:solidFill>
            <a:srgbClr val="1F1C1A"/>
          </a:solidFill>
          <a:ln w="6350">
            <a:solidFill>
              <a:srgbClr val="000000"/>
            </a:solidFill>
            <a:prstDash val="solid"/>
          </a:ln>
        </p:spPr>
      </p:sp>
      <p:sp>
        <p:nvSpPr>
          <p:cNvPr id="21" name="Shape 19"/>
          <p:cNvSpPr/>
          <p:nvPr/>
        </p:nvSpPr>
        <p:spPr>
          <a:xfrm>
            <a:off x="2011680" y="1508760"/>
            <a:ext cx="146304" cy="109728"/>
          </a:xfrm>
          <a:prstGeom prst="rect">
            <a:avLst/>
          </a:prstGeom>
          <a:solidFill>
            <a:srgbClr val="E9E3CF"/>
          </a:solidFill>
          <a:ln w="6350">
            <a:solidFill>
              <a:srgbClr val="8C8270"/>
            </a:solidFill>
            <a:prstDash val="solid"/>
          </a:ln>
        </p:spPr>
      </p:sp>
      <p:sp>
        <p:nvSpPr>
          <p:cNvPr id="22" name="Shape 20"/>
          <p:cNvSpPr/>
          <p:nvPr/>
        </p:nvSpPr>
        <p:spPr>
          <a:xfrm>
            <a:off x="2606040" y="1828800"/>
            <a:ext cx="146304" cy="109728"/>
          </a:xfrm>
          <a:prstGeom prst="rect">
            <a:avLst/>
          </a:prstGeom>
          <a:solidFill>
            <a:srgbClr val="1F1C1A"/>
          </a:solidFill>
          <a:ln w="6350">
            <a:solidFill>
              <a:srgbClr val="000000"/>
            </a:solidFill>
            <a:prstDash val="solid"/>
          </a:ln>
        </p:spPr>
      </p:sp>
      <p:sp>
        <p:nvSpPr>
          <p:cNvPr id="23" name="Shape 21"/>
          <p:cNvSpPr/>
          <p:nvPr/>
        </p:nvSpPr>
        <p:spPr>
          <a:xfrm>
            <a:off x="3291840" y="1600200"/>
            <a:ext cx="146304" cy="109728"/>
          </a:xfrm>
          <a:prstGeom prst="rect">
            <a:avLst/>
          </a:prstGeom>
          <a:solidFill>
            <a:srgbClr val="E9E3CF"/>
          </a:solidFill>
          <a:ln w="6350">
            <a:solidFill>
              <a:srgbClr val="8C8270"/>
            </a:solidFill>
            <a:prstDash val="solid"/>
          </a:ln>
        </p:spPr>
      </p:sp>
      <p:sp>
        <p:nvSpPr>
          <p:cNvPr id="24" name="Shape 22"/>
          <p:cNvSpPr/>
          <p:nvPr/>
        </p:nvSpPr>
        <p:spPr>
          <a:xfrm>
            <a:off x="1005840" y="2377440"/>
            <a:ext cx="146304" cy="109728"/>
          </a:xfrm>
          <a:prstGeom prst="rect">
            <a:avLst/>
          </a:prstGeom>
          <a:solidFill>
            <a:srgbClr val="1F1C1A"/>
          </a:solidFill>
          <a:ln w="6350">
            <a:solidFill>
              <a:srgbClr val="000000"/>
            </a:solidFill>
            <a:prstDash val="solid"/>
          </a:ln>
        </p:spPr>
      </p:sp>
      <p:sp>
        <p:nvSpPr>
          <p:cNvPr id="25" name="Shape 23"/>
          <p:cNvSpPr/>
          <p:nvPr/>
        </p:nvSpPr>
        <p:spPr>
          <a:xfrm>
            <a:off x="1691640" y="2651760"/>
            <a:ext cx="146304" cy="109728"/>
          </a:xfrm>
          <a:prstGeom prst="rect">
            <a:avLst/>
          </a:prstGeom>
          <a:solidFill>
            <a:srgbClr val="E9E3CF"/>
          </a:solidFill>
          <a:ln w="6350">
            <a:solidFill>
              <a:srgbClr val="8C8270"/>
            </a:solidFill>
            <a:prstDash val="solid"/>
          </a:ln>
        </p:spPr>
      </p:sp>
      <p:sp>
        <p:nvSpPr>
          <p:cNvPr id="26" name="Shape 24"/>
          <p:cNvSpPr/>
          <p:nvPr/>
        </p:nvSpPr>
        <p:spPr>
          <a:xfrm>
            <a:off x="2331720" y="2331720"/>
            <a:ext cx="146304" cy="109728"/>
          </a:xfrm>
          <a:prstGeom prst="rect">
            <a:avLst/>
          </a:prstGeom>
          <a:solidFill>
            <a:srgbClr val="1F1C1A"/>
          </a:solidFill>
          <a:ln w="6350">
            <a:solidFill>
              <a:srgbClr val="000000"/>
            </a:solidFill>
            <a:prstDash val="solid"/>
          </a:ln>
        </p:spPr>
      </p:sp>
      <p:sp>
        <p:nvSpPr>
          <p:cNvPr id="27" name="Shape 25"/>
          <p:cNvSpPr/>
          <p:nvPr/>
        </p:nvSpPr>
        <p:spPr>
          <a:xfrm>
            <a:off x="3017520" y="2514600"/>
            <a:ext cx="146304" cy="109728"/>
          </a:xfrm>
          <a:prstGeom prst="rect">
            <a:avLst/>
          </a:prstGeom>
          <a:solidFill>
            <a:srgbClr val="E9E3CF"/>
          </a:solidFill>
          <a:ln w="6350">
            <a:solidFill>
              <a:srgbClr val="8C8270"/>
            </a:solidFill>
            <a:prstDash val="solid"/>
          </a:ln>
        </p:spPr>
      </p:sp>
      <p:sp>
        <p:nvSpPr>
          <p:cNvPr id="28" name="Shape 26"/>
          <p:cNvSpPr/>
          <p:nvPr/>
        </p:nvSpPr>
        <p:spPr>
          <a:xfrm>
            <a:off x="3429000" y="3017520"/>
            <a:ext cx="146304" cy="109728"/>
          </a:xfrm>
          <a:prstGeom prst="rect">
            <a:avLst/>
          </a:prstGeom>
          <a:solidFill>
            <a:srgbClr val="1F1C1A"/>
          </a:solidFill>
          <a:ln w="6350">
            <a:solidFill>
              <a:srgbClr val="000000"/>
            </a:solidFill>
            <a:prstDash val="solid"/>
          </a:ln>
        </p:spPr>
      </p:sp>
      <p:sp>
        <p:nvSpPr>
          <p:cNvPr id="29" name="Shape 27"/>
          <p:cNvSpPr/>
          <p:nvPr/>
        </p:nvSpPr>
        <p:spPr>
          <a:xfrm>
            <a:off x="914400" y="3200400"/>
            <a:ext cx="146304" cy="109728"/>
          </a:xfrm>
          <a:prstGeom prst="rect">
            <a:avLst/>
          </a:prstGeom>
          <a:solidFill>
            <a:srgbClr val="E9E3CF"/>
          </a:solidFill>
          <a:ln w="6350">
            <a:solidFill>
              <a:srgbClr val="8C8270"/>
            </a:solidFill>
            <a:prstDash val="solid"/>
          </a:ln>
        </p:spPr>
      </p:sp>
      <p:sp>
        <p:nvSpPr>
          <p:cNvPr id="30" name="Shape 28"/>
          <p:cNvSpPr/>
          <p:nvPr/>
        </p:nvSpPr>
        <p:spPr>
          <a:xfrm>
            <a:off x="1554480" y="3429000"/>
            <a:ext cx="146304" cy="109728"/>
          </a:xfrm>
          <a:prstGeom prst="rect">
            <a:avLst/>
          </a:prstGeom>
          <a:solidFill>
            <a:srgbClr val="1F1C1A"/>
          </a:solidFill>
          <a:ln w="6350">
            <a:solidFill>
              <a:srgbClr val="000000"/>
            </a:solidFill>
            <a:prstDash val="solid"/>
          </a:ln>
        </p:spPr>
      </p:sp>
      <p:sp>
        <p:nvSpPr>
          <p:cNvPr id="31" name="Shape 29"/>
          <p:cNvSpPr/>
          <p:nvPr/>
        </p:nvSpPr>
        <p:spPr>
          <a:xfrm>
            <a:off x="2194560" y="3154680"/>
            <a:ext cx="146304" cy="109728"/>
          </a:xfrm>
          <a:prstGeom prst="rect">
            <a:avLst/>
          </a:prstGeom>
          <a:solidFill>
            <a:srgbClr val="E9E3CF"/>
          </a:solidFill>
          <a:ln w="6350">
            <a:solidFill>
              <a:srgbClr val="8C8270"/>
            </a:solidFill>
            <a:prstDash val="solid"/>
          </a:ln>
        </p:spPr>
      </p:sp>
      <p:sp>
        <p:nvSpPr>
          <p:cNvPr id="32" name="Shape 30"/>
          <p:cNvSpPr/>
          <p:nvPr/>
        </p:nvSpPr>
        <p:spPr>
          <a:xfrm>
            <a:off x="2743200" y="3520440"/>
            <a:ext cx="146304" cy="109728"/>
          </a:xfrm>
          <a:prstGeom prst="rect">
            <a:avLst/>
          </a:prstGeom>
          <a:solidFill>
            <a:srgbClr val="1F1C1A"/>
          </a:solidFill>
          <a:ln w="6350">
            <a:solidFill>
              <a:srgbClr val="000000"/>
            </a:solidFill>
            <a:prstDash val="solid"/>
          </a:ln>
        </p:spPr>
      </p:sp>
      <p:sp>
        <p:nvSpPr>
          <p:cNvPr id="33" name="Shape 31"/>
          <p:cNvSpPr/>
          <p:nvPr/>
        </p:nvSpPr>
        <p:spPr>
          <a:xfrm>
            <a:off x="1874520" y="2057400"/>
            <a:ext cx="146304" cy="109728"/>
          </a:xfrm>
          <a:prstGeom prst="rect">
            <a:avLst/>
          </a:prstGeom>
          <a:solidFill>
            <a:srgbClr val="E9E3CF"/>
          </a:solidFill>
          <a:ln w="6350">
            <a:solidFill>
              <a:srgbClr val="8C8270"/>
            </a:solidFill>
            <a:prstDash val="solid"/>
          </a:ln>
        </p:spPr>
      </p:sp>
      <p:sp>
        <p:nvSpPr>
          <p:cNvPr id="34" name="Shape 32"/>
          <p:cNvSpPr/>
          <p:nvPr/>
        </p:nvSpPr>
        <p:spPr>
          <a:xfrm>
            <a:off x="2926080" y="3017520"/>
            <a:ext cx="146304" cy="109728"/>
          </a:xfrm>
          <a:prstGeom prst="rect">
            <a:avLst/>
          </a:prstGeom>
          <a:solidFill>
            <a:srgbClr val="1F1C1A"/>
          </a:solidFill>
          <a:ln w="6350">
            <a:solidFill>
              <a:srgbClr val="000000"/>
            </a:solidFill>
            <a:prstDash val="solid"/>
          </a:ln>
        </p:spPr>
      </p:sp>
      <p:sp>
        <p:nvSpPr>
          <p:cNvPr id="35" name="Text 33"/>
          <p:cNvSpPr/>
          <p:nvPr/>
        </p:nvSpPr>
        <p:spPr>
          <a:xfrm>
            <a:off x="685800" y="3886200"/>
            <a:ext cx="3017520" cy="45720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dark background ("sooty bark") with 20 dark and 20 pale paper squares</a:t>
            </a:r>
            <a:endParaRPr lang="en-US" sz="1000" dirty="0"/>
          </a:p>
        </p:txBody>
      </p:sp>
      <p:sp>
        <p:nvSpPr>
          <p:cNvPr id="36" name="Shape 34"/>
          <p:cNvSpPr/>
          <p:nvPr/>
        </p:nvSpPr>
        <p:spPr>
          <a:xfrm>
            <a:off x="4160520" y="1554480"/>
            <a:ext cx="594360" cy="1371600"/>
          </a:xfrm>
          <a:prstGeom prst="line">
            <a:avLst/>
          </a:prstGeom>
          <a:noFill/>
          <a:ln w="38100">
            <a:solidFill>
              <a:srgbClr val="6B7385"/>
            </a:solidFill>
            <a:prstDash val="solid"/>
          </a:ln>
        </p:spPr>
      </p:sp>
      <p:sp>
        <p:nvSpPr>
          <p:cNvPr id="37" name="Shape 35"/>
          <p:cNvSpPr/>
          <p:nvPr/>
        </p:nvSpPr>
        <p:spPr>
          <a:xfrm>
            <a:off x="4343400" y="1508760"/>
            <a:ext cx="448056" cy="1417320"/>
          </a:xfrm>
          <a:prstGeom prst="line">
            <a:avLst/>
          </a:prstGeom>
          <a:noFill/>
          <a:ln w="38100">
            <a:solidFill>
              <a:srgbClr val="6B7385"/>
            </a:solidFill>
            <a:prstDash val="solid"/>
          </a:ln>
        </p:spPr>
      </p:sp>
      <p:sp>
        <p:nvSpPr>
          <p:cNvPr id="38" name="Text 36"/>
          <p:cNvSpPr/>
          <p:nvPr/>
        </p:nvSpPr>
        <p:spPr>
          <a:xfrm>
            <a:off x="3931920" y="3017520"/>
            <a:ext cx="128016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forceps ("beak")</a:t>
            </a:r>
            <a:endParaRPr lang="en-US" sz="1000" dirty="0"/>
          </a:p>
        </p:txBody>
      </p:sp>
      <p:sp>
        <p:nvSpPr>
          <p:cNvPr id="39" name="Shape 37"/>
          <p:cNvSpPr/>
          <p:nvPr/>
        </p:nvSpPr>
        <p:spPr>
          <a:xfrm>
            <a:off x="5120640" y="1691640"/>
            <a:ext cx="640080" cy="640080"/>
          </a:xfrm>
          <a:prstGeom prst="ellipse">
            <a:avLst/>
          </a:prstGeom>
          <a:solidFill>
            <a:srgbClr val="FFFFFF"/>
          </a:solidFill>
          <a:ln w="19050">
            <a:solidFill>
              <a:srgbClr val="133536"/>
            </a:solidFill>
            <a:prstDash val="solid"/>
          </a:ln>
        </p:spPr>
      </p:sp>
      <p:sp>
        <p:nvSpPr>
          <p:cNvPr id="40" name="Shape 38"/>
          <p:cNvSpPr/>
          <p:nvPr/>
        </p:nvSpPr>
        <p:spPr>
          <a:xfrm flipV="1">
            <a:off x="5440680" y="1783080"/>
            <a:ext cx="91" cy="228600"/>
          </a:xfrm>
          <a:prstGeom prst="line">
            <a:avLst/>
          </a:prstGeom>
          <a:noFill/>
          <a:ln w="19050">
            <a:solidFill>
              <a:srgbClr val="133536"/>
            </a:solidFill>
            <a:prstDash val="solid"/>
          </a:ln>
        </p:spPr>
      </p:sp>
      <p:sp>
        <p:nvSpPr>
          <p:cNvPr id="41" name="Shape 39"/>
          <p:cNvSpPr/>
          <p:nvPr/>
        </p:nvSpPr>
        <p:spPr>
          <a:xfrm>
            <a:off x="5440680" y="2011680"/>
            <a:ext cx="155448" cy="64008"/>
          </a:xfrm>
          <a:prstGeom prst="line">
            <a:avLst/>
          </a:prstGeom>
          <a:noFill/>
          <a:ln w="19050">
            <a:solidFill>
              <a:srgbClr val="133536"/>
            </a:solidFill>
            <a:prstDash val="solid"/>
          </a:ln>
        </p:spPr>
      </p:sp>
      <p:sp>
        <p:nvSpPr>
          <p:cNvPr id="42" name="Shape 40"/>
          <p:cNvSpPr/>
          <p:nvPr/>
        </p:nvSpPr>
        <p:spPr>
          <a:xfrm>
            <a:off x="5385816" y="1618488"/>
            <a:ext cx="109728" cy="73152"/>
          </a:xfrm>
          <a:prstGeom prst="rect">
            <a:avLst/>
          </a:prstGeom>
          <a:solidFill>
            <a:srgbClr val="133536"/>
          </a:solidFill>
          <a:ln/>
        </p:spPr>
      </p:sp>
      <p:sp>
        <p:nvSpPr>
          <p:cNvPr id="43" name="Text 41"/>
          <p:cNvSpPr/>
          <p:nvPr/>
        </p:nvSpPr>
        <p:spPr>
          <a:xfrm>
            <a:off x="4937760" y="2377440"/>
            <a:ext cx="100584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 s per turn</a:t>
            </a:r>
            <a:endParaRPr lang="en-US" sz="1000" dirty="0"/>
          </a:p>
        </p:txBody>
      </p:sp>
      <p:sp>
        <p:nvSpPr>
          <p:cNvPr id="44" name="Shape 42"/>
          <p:cNvSpPr/>
          <p:nvPr/>
        </p:nvSpPr>
        <p:spPr>
          <a:xfrm>
            <a:off x="3977640" y="3429000"/>
            <a:ext cx="1828800" cy="1325880"/>
          </a:xfrm>
          <a:prstGeom prst="rect">
            <a:avLst/>
          </a:prstGeom>
          <a:solidFill>
            <a:srgbClr val="FFFFFF"/>
          </a:solidFill>
          <a:ln w="9525">
            <a:solidFill>
              <a:srgbClr val="5A6275"/>
            </a:solidFill>
            <a:prstDash val="solid"/>
          </a:ln>
        </p:spPr>
      </p:sp>
      <p:sp>
        <p:nvSpPr>
          <p:cNvPr id="45" name="Shape 43"/>
          <p:cNvSpPr/>
          <p:nvPr/>
        </p:nvSpPr>
        <p:spPr>
          <a:xfrm>
            <a:off x="3977640" y="3749040"/>
            <a:ext cx="1828800" cy="91"/>
          </a:xfrm>
          <a:prstGeom prst="line">
            <a:avLst/>
          </a:prstGeom>
          <a:noFill/>
          <a:ln w="9525">
            <a:solidFill>
              <a:srgbClr val="5A6275"/>
            </a:solidFill>
            <a:prstDash val="solid"/>
          </a:ln>
        </p:spPr>
      </p:sp>
      <p:sp>
        <p:nvSpPr>
          <p:cNvPr id="46" name="Shape 44"/>
          <p:cNvSpPr/>
          <p:nvPr/>
        </p:nvSpPr>
        <p:spPr>
          <a:xfrm>
            <a:off x="4892040" y="3429000"/>
            <a:ext cx="91" cy="1325880"/>
          </a:xfrm>
          <a:prstGeom prst="line">
            <a:avLst/>
          </a:prstGeom>
          <a:noFill/>
          <a:ln w="9525">
            <a:solidFill>
              <a:srgbClr val="5A6275"/>
            </a:solidFill>
            <a:prstDash val="solid"/>
          </a:ln>
        </p:spPr>
      </p:sp>
      <p:sp>
        <p:nvSpPr>
          <p:cNvPr id="47" name="Text 45"/>
          <p:cNvSpPr/>
          <p:nvPr/>
        </p:nvSpPr>
        <p:spPr>
          <a:xfrm>
            <a:off x="3977640" y="3429000"/>
            <a:ext cx="91440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Dark eaten</a:t>
            </a:r>
            <a:endParaRPr lang="en-US" sz="1000" dirty="0"/>
          </a:p>
        </p:txBody>
      </p:sp>
      <p:sp>
        <p:nvSpPr>
          <p:cNvPr id="48" name="Text 46"/>
          <p:cNvSpPr/>
          <p:nvPr/>
        </p:nvSpPr>
        <p:spPr>
          <a:xfrm>
            <a:off x="4892040" y="3429000"/>
            <a:ext cx="914400" cy="32004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Pale eaten</a:t>
            </a:r>
            <a:endParaRPr lang="en-US" sz="1000" dirty="0"/>
          </a:p>
        </p:txBody>
      </p:sp>
      <p:sp>
        <p:nvSpPr>
          <p:cNvPr id="49" name="Text 47"/>
          <p:cNvSpPr/>
          <p:nvPr/>
        </p:nvSpPr>
        <p:spPr>
          <a:xfrm>
            <a:off x="3977640" y="3794760"/>
            <a:ext cx="914400" cy="365760"/>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 | | | |</a:t>
            </a:r>
            <a:endParaRPr lang="en-US" sz="1200" dirty="0"/>
          </a:p>
        </p:txBody>
      </p:sp>
      <p:sp>
        <p:nvSpPr>
          <p:cNvPr id="50" name="Text 48"/>
          <p:cNvSpPr/>
          <p:nvPr/>
        </p:nvSpPr>
        <p:spPr>
          <a:xfrm>
            <a:off x="4892040" y="3794760"/>
            <a:ext cx="914400" cy="365760"/>
          </a:xfrm>
          <a:prstGeom prst="rect">
            <a:avLst/>
          </a:prstGeom>
          <a:noFill/>
          <a:ln/>
        </p:spPr>
        <p:txBody>
          <a:bodyPr wrap="square" lIns="0" tIns="0" rIns="0" bIns="0" rtlCol="0" anchor="ctr"/>
          <a:lstStyle/>
          <a:p>
            <a:pPr algn="ctr" indent="0" marL="0">
              <a:buNone/>
            </a:pPr>
            <a:r>
              <a:rPr lang="en-US" sz="1200" b="1" dirty="0">
                <a:solidFill>
                  <a:srgbClr val="262B3A"/>
                </a:solidFill>
                <a:latin typeface="Calibri" pitchFamily="34" charset="0"/>
                <a:ea typeface="Calibri" pitchFamily="34" charset="-122"/>
                <a:cs typeface="Calibri" pitchFamily="34" charset="-120"/>
              </a:rPr>
              <a:t>15</a:t>
            </a:r>
            <a:endParaRPr lang="en-US" sz="1200" dirty="0"/>
          </a:p>
        </p:txBody>
      </p:sp>
      <p:sp>
        <p:nvSpPr>
          <p:cNvPr id="51" name="Text 49"/>
          <p:cNvSpPr/>
          <p:nvPr/>
        </p:nvSpPr>
        <p:spPr>
          <a:xfrm>
            <a:off x="640080" y="4434840"/>
            <a:ext cx="3200400" cy="45720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Model: squares = moths; forceps = birds; background = bark</a:t>
            </a:r>
            <a:endParaRPr lang="en-US" sz="1000" dirty="0"/>
          </a:p>
        </p:txBody>
      </p:sp>
      <p:sp>
        <p:nvSpPr>
          <p:cNvPr id="52" name="Shape 50"/>
          <p:cNvSpPr/>
          <p:nvPr/>
        </p:nvSpPr>
        <p:spPr>
          <a:xfrm>
            <a:off x="6217920" y="1188720"/>
            <a:ext cx="5562295" cy="2926080"/>
          </a:xfrm>
          <a:prstGeom prst="roundRect">
            <a:avLst>
              <a:gd name="adj" fmla="val 1875"/>
            </a:avLst>
          </a:prstGeom>
          <a:solidFill>
            <a:srgbClr val="F4FAF9"/>
          </a:solidFill>
          <a:ln w="9525">
            <a:solidFill>
              <a:srgbClr val="CFE0DE"/>
            </a:solidFill>
            <a:prstDash val="solid"/>
          </a:ln>
        </p:spPr>
      </p:sp>
      <p:sp>
        <p:nvSpPr>
          <p:cNvPr id="53" name="Text 5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Method</a:t>
            </a:r>
            <a:endParaRPr lang="en-US" sz="1300" dirty="0"/>
          </a:p>
        </p:txBody>
      </p:sp>
      <p:sp>
        <p:nvSpPr>
          <p:cNvPr id="54" name="Text 52"/>
          <p:cNvSpPr/>
          <p:nvPr/>
        </p:nvSpPr>
        <p:spPr>
          <a:xfrm>
            <a:off x="6382512" y="1609344"/>
            <a:ext cx="5233111" cy="243230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Scatter </a:t>
            </a:r>
            <a:r>
              <a:rPr lang="en-US" sz="1050" b="1" dirty="0">
                <a:solidFill>
                  <a:srgbClr val="262B3A"/>
                </a:solidFill>
                <a:latin typeface="Calibri" pitchFamily="34" charset="0"/>
                <a:ea typeface="Calibri" pitchFamily="34" charset="-122"/>
                <a:cs typeface="Calibri" pitchFamily="34" charset="-120"/>
              </a:rPr>
              <a:t>20 dark</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20 pale</a:t>
            </a:r>
            <a:r>
              <a:rPr lang="en-US" sz="1050" dirty="0">
                <a:solidFill>
                  <a:srgbClr val="262B3A"/>
                </a:solidFill>
                <a:latin typeface="Calibri" pitchFamily="34" charset="0"/>
                <a:ea typeface="Calibri" pitchFamily="34" charset="-122"/>
                <a:cs typeface="Calibri" pitchFamily="34" charset="-120"/>
              </a:rPr>
              <a:t> squares on the dark background.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"bird" uses forceps to pick up squares, one at a time, until </a:t>
            </a:r>
            <a:r>
              <a:rPr lang="en-US" sz="1050" b="1" dirty="0">
                <a:solidFill>
                  <a:srgbClr val="262B3A"/>
                </a:solidFill>
                <a:latin typeface="Calibri" pitchFamily="34" charset="0"/>
                <a:ea typeface="Calibri" pitchFamily="34" charset="-122"/>
                <a:cs typeface="Calibri" pitchFamily="34" charset="-120"/>
              </a:rPr>
              <a:t>20</a:t>
            </a:r>
            <a:r>
              <a:rPr lang="en-US" sz="1050" dirty="0">
                <a:solidFill>
                  <a:srgbClr val="262B3A"/>
                </a:solidFill>
                <a:latin typeface="Calibri" pitchFamily="34" charset="0"/>
                <a:ea typeface="Calibri" pitchFamily="34" charset="-122"/>
                <a:cs typeface="Calibri" pitchFamily="34" charset="-120"/>
              </a:rPr>
              <a:t> are removed. Record the colours.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Each </a:t>
            </a:r>
            <a:r>
              <a:rPr lang="en-US" sz="1050" b="1" dirty="0">
                <a:solidFill>
                  <a:srgbClr val="262B3A"/>
                </a:solidFill>
                <a:latin typeface="Calibri" pitchFamily="34" charset="0"/>
                <a:ea typeface="Calibri" pitchFamily="34" charset="-122"/>
                <a:cs typeface="Calibri" pitchFamily="34" charset="-120"/>
              </a:rPr>
              <a:t>survivor</a:t>
            </a:r>
            <a:r>
              <a:rPr lang="en-US" sz="1050" dirty="0">
                <a:solidFill>
                  <a:srgbClr val="262B3A"/>
                </a:solidFill>
                <a:latin typeface="Calibri" pitchFamily="34" charset="0"/>
                <a:ea typeface="Calibri" pitchFamily="34" charset="-122"/>
                <a:cs typeface="Calibri" pitchFamily="34" charset="-120"/>
              </a:rPr>
              <a:t> "breeds": add one more square of the same colour (double the survivors) to give </a:t>
            </a:r>
            <a:r>
              <a:rPr lang="en-US" sz="1050" b="1" dirty="0">
                <a:solidFill>
                  <a:srgbClr val="262B3A"/>
                </a:solidFill>
                <a:latin typeface="Calibri" pitchFamily="34" charset="0"/>
                <a:ea typeface="Calibri" pitchFamily="34" charset="-122"/>
                <a:cs typeface="Calibri" pitchFamily="34" charset="-120"/>
              </a:rPr>
              <a:t>40</a:t>
            </a:r>
            <a:r>
              <a:rPr lang="en-US" sz="1050" dirty="0">
                <a:solidFill>
                  <a:srgbClr val="262B3A"/>
                </a:solidFill>
                <a:latin typeface="Calibri" pitchFamily="34" charset="0"/>
                <a:ea typeface="Calibri" pitchFamily="34" charset="-122"/>
                <a:cs typeface="Calibri" pitchFamily="34" charset="-120"/>
              </a:rPr>
              <a:t> again.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Repeat for </a:t>
            </a:r>
            <a:r>
              <a:rPr lang="en-US" sz="1050" b="1" dirty="0">
                <a:solidFill>
                  <a:srgbClr val="262B3A"/>
                </a:solidFill>
                <a:latin typeface="Calibri" pitchFamily="34" charset="0"/>
                <a:ea typeface="Calibri" pitchFamily="34" charset="-122"/>
                <a:cs typeface="Calibri" pitchFamily="34" charset="-120"/>
              </a:rPr>
              <a:t>3 generations</a:t>
            </a:r>
            <a:r>
              <a:rPr lang="en-US" sz="1050" dirty="0">
                <a:solidFill>
                  <a:srgbClr val="262B3A"/>
                </a:solidFill>
                <a:latin typeface="Calibri" pitchFamily="34" charset="0"/>
                <a:ea typeface="Calibri" pitchFamily="34" charset="-122"/>
                <a:cs typeface="Calibri" pitchFamily="34" charset="-120"/>
              </a:rPr>
              <a:t>. Calculate the </a:t>
            </a:r>
            <a:r>
              <a:rPr lang="en-US" sz="1050" b="1" dirty="0">
                <a:solidFill>
                  <a:srgbClr val="262B3A"/>
                </a:solidFill>
                <a:latin typeface="Calibri" pitchFamily="34" charset="0"/>
                <a:ea typeface="Calibri" pitchFamily="34" charset="-122"/>
                <a:cs typeface="Calibri" pitchFamily="34" charset="-120"/>
              </a:rPr>
              <a:t>% dark</a:t>
            </a:r>
            <a:r>
              <a:rPr lang="en-US" sz="1050" dirty="0">
                <a:solidFill>
                  <a:srgbClr val="262B3A"/>
                </a:solidFill>
                <a:latin typeface="Calibri" pitchFamily="34" charset="0"/>
                <a:ea typeface="Calibri" pitchFamily="34" charset="-122"/>
                <a:cs typeface="Calibri" pitchFamily="34" charset="-120"/>
              </a:rPr>
              <a:t> each generation. Pool class results.</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a:t>
            </a:r>
            <a:r>
              <a:rPr lang="en-US" sz="1050" dirty="0">
                <a:solidFill>
                  <a:srgbClr val="262B3A"/>
                </a:solidFill>
                <a:latin typeface="Calibri" pitchFamily="34" charset="0"/>
                <a:ea typeface="Calibri" pitchFamily="34" charset="-122"/>
                <a:cs typeface="Calibri" pitchFamily="34" charset="-120"/>
              </a:rPr>
              <a:t>: generation. </a:t>
            </a:r>
            <a:r>
              <a:rPr lang="en-US" sz="1050" b="1" dirty="0">
                <a:solidFill>
                  <a:srgbClr val="262B3A"/>
                </a:solidFill>
                <a:latin typeface="Calibri" pitchFamily="34" charset="0"/>
                <a:ea typeface="Calibri" pitchFamily="34" charset="-122"/>
                <a:cs typeface="Calibri" pitchFamily="34" charset="-120"/>
              </a:rPr>
              <a:t>DV</a:t>
            </a:r>
            <a:r>
              <a:rPr lang="en-US" sz="1050" dirty="0">
                <a:solidFill>
                  <a:srgbClr val="262B3A"/>
                </a:solidFill>
                <a:latin typeface="Calibri" pitchFamily="34" charset="0"/>
                <a:ea typeface="Calibri" pitchFamily="34" charset="-122"/>
                <a:cs typeface="Calibri" pitchFamily="34" charset="-120"/>
              </a:rPr>
              <a:t>: % dark moths.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same background, square size, number removed, same "bird" method.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forceps can pinch; do not wave them near eyes. Pick up dropped squares to avoid slips.</a:t>
            </a:r>
            <a:endParaRPr lang="en-US" sz="1050" dirty="0"/>
          </a:p>
        </p:txBody>
      </p:sp>
      <p:sp>
        <p:nvSpPr>
          <p:cNvPr id="55" name="Shape 53"/>
          <p:cNvSpPr/>
          <p:nvPr/>
        </p:nvSpPr>
        <p:spPr>
          <a:xfrm>
            <a:off x="6217920" y="4251960"/>
            <a:ext cx="5562295" cy="1463040"/>
          </a:xfrm>
          <a:prstGeom prst="roundRect">
            <a:avLst>
              <a:gd name="adj" fmla="val 3750"/>
            </a:avLst>
          </a:prstGeom>
          <a:solidFill>
            <a:srgbClr val="FFF4E0"/>
          </a:solidFill>
          <a:ln w="9525">
            <a:solidFill>
              <a:srgbClr val="F1D9A8"/>
            </a:solidFill>
            <a:prstDash val="solid"/>
          </a:ln>
        </p:spPr>
      </p:sp>
      <p:sp>
        <p:nvSpPr>
          <p:cNvPr id="56" name="Text 54"/>
          <p:cNvSpPr/>
          <p:nvPr/>
        </p:nvSpPr>
        <p:spPr>
          <a:xfrm>
            <a:off x="6382512" y="43251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first generation</a:t>
            </a:r>
            <a:endParaRPr lang="en-US" sz="1300" dirty="0"/>
          </a:p>
        </p:txBody>
      </p:sp>
      <p:sp>
        <p:nvSpPr>
          <p:cNvPr id="57" name="Text 55"/>
          <p:cNvSpPr/>
          <p:nvPr/>
        </p:nvSpPr>
        <p:spPr>
          <a:xfrm>
            <a:off x="6382512" y="4636008"/>
            <a:ext cx="5233111"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bird removed 5 dark and 15 pale squares.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Survivors   </a:t>
            </a:r>
            <a:r>
              <a:rPr lang="en-US" sz="1050" dirty="0">
                <a:solidFill>
                  <a:srgbClr val="262B3A"/>
                </a:solidFill>
                <a:latin typeface="Calibri" pitchFamily="34" charset="0"/>
                <a:ea typeface="Calibri" pitchFamily="34" charset="-122"/>
                <a:cs typeface="Calibri" pitchFamily="34" charset="-120"/>
              </a:rPr>
              <a:t>dark 20 − 5 = 15; pale 20 − 15 = 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Breed (×2)   </a:t>
            </a:r>
            <a:r>
              <a:rPr lang="en-US" sz="1050" dirty="0">
                <a:solidFill>
                  <a:srgbClr val="262B3A"/>
                </a:solidFill>
                <a:latin typeface="Calibri" pitchFamily="34" charset="0"/>
                <a:ea typeface="Calibri" pitchFamily="34" charset="-122"/>
                <a:cs typeface="Calibri" pitchFamily="34" charset="-120"/>
              </a:rPr>
              <a:t>dark 30; pale 10; total 40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 dark = 30 ÷ 40 × 100 = </a:t>
            </a:r>
            <a:r>
              <a:rPr lang="en-US" sz="1050" b="1" dirty="0">
                <a:solidFill>
                  <a:srgbClr val="C8414C"/>
                </a:solidFill>
                <a:latin typeface="Calibri" pitchFamily="34" charset="0"/>
                <a:ea typeface="Calibri" pitchFamily="34" charset="-122"/>
                <a:cs typeface="Calibri" pitchFamily="34" charset="-120"/>
              </a:rPr>
              <a:t>75%</a:t>
            </a:r>
            <a:endParaRPr lang="en-US" sz="1050" dirty="0"/>
          </a:p>
        </p:txBody>
      </p:sp>
      <p:sp>
        <p:nvSpPr>
          <p:cNvPr id="58" name="Shape 56"/>
          <p:cNvSpPr/>
          <p:nvPr/>
        </p:nvSpPr>
        <p:spPr>
          <a:xfrm>
            <a:off x="411480" y="5833872"/>
            <a:ext cx="11368735" cy="530352"/>
          </a:xfrm>
          <a:prstGeom prst="rect">
            <a:avLst/>
          </a:prstGeom>
          <a:solidFill>
            <a:srgbClr val="FFF4E0"/>
          </a:solidFill>
          <a:ln w="6350">
            <a:solidFill>
              <a:srgbClr val="F1D9A8"/>
            </a:solidFill>
            <a:prstDash val="solid"/>
          </a:ln>
        </p:spPr>
      </p:sp>
      <p:sp>
        <p:nvSpPr>
          <p:cNvPr id="59" name="Shape 57"/>
          <p:cNvSpPr/>
          <p:nvPr/>
        </p:nvSpPr>
        <p:spPr>
          <a:xfrm>
            <a:off x="411480" y="5833872"/>
            <a:ext cx="82296" cy="530352"/>
          </a:xfrm>
          <a:prstGeom prst="rect">
            <a:avLst/>
          </a:prstGeom>
          <a:solidFill>
            <a:srgbClr val="E39A2F"/>
          </a:solidFill>
          <a:ln w="12700">
            <a:solidFill>
              <a:srgbClr val="E39A2F"/>
            </a:solidFill>
            <a:prstDash val="solid"/>
          </a:ln>
        </p:spPr>
      </p:sp>
      <p:sp>
        <p:nvSpPr>
          <p:cNvPr id="60" name="Text 5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this model, what do the </a:t>
            </a:r>
            <a:r>
              <a:rPr lang="en-US" sz="1150" b="1" dirty="0">
                <a:solidFill>
                  <a:srgbClr val="262B3A"/>
                </a:solidFill>
                <a:latin typeface="Calibri" pitchFamily="34" charset="0"/>
                <a:ea typeface="Calibri" pitchFamily="34" charset="-122"/>
                <a:cs typeface="Calibri" pitchFamily="34" charset="-120"/>
              </a:rPr>
              <a:t>forceps</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squares</a:t>
            </a:r>
            <a:r>
              <a:rPr lang="en-US" sz="1150" dirty="0">
                <a:solidFill>
                  <a:srgbClr val="262B3A"/>
                </a:solidFill>
                <a:latin typeface="Calibri" pitchFamily="34" charset="0"/>
                <a:ea typeface="Calibri" pitchFamily="34" charset="-122"/>
                <a:cs typeface="Calibri" pitchFamily="34" charset="-120"/>
              </a:rPr>
              <a:t> and the </a:t>
            </a:r>
            <a:r>
              <a:rPr lang="en-US" sz="1150" b="1" dirty="0">
                <a:solidFill>
                  <a:srgbClr val="262B3A"/>
                </a:solidFill>
                <a:latin typeface="Calibri" pitchFamily="34" charset="0"/>
                <a:ea typeface="Calibri" pitchFamily="34" charset="-122"/>
                <a:cs typeface="Calibri" pitchFamily="34" charset="-120"/>
              </a:rPr>
              <a:t>background</a:t>
            </a:r>
            <a:r>
              <a:rPr lang="en-US" sz="1150" dirty="0">
                <a:solidFill>
                  <a:srgbClr val="262B3A"/>
                </a:solidFill>
                <a:latin typeface="Calibri" pitchFamily="34" charset="0"/>
                <a:ea typeface="Calibri" pitchFamily="34" charset="-122"/>
                <a:cs typeface="Calibri" pitchFamily="34" charset="-120"/>
              </a:rPr>
              <a:t> represent? What has been </a:t>
            </a:r>
            <a:r>
              <a:rPr lang="en-US" sz="1150" b="1" dirty="0">
                <a:solidFill>
                  <a:srgbClr val="262B3A"/>
                </a:solidFill>
                <a:latin typeface="Calibri" pitchFamily="34" charset="0"/>
                <a:ea typeface="Calibri" pitchFamily="34" charset="-122"/>
                <a:cs typeface="Calibri" pitchFamily="34" charset="-120"/>
              </a:rPr>
              <a:t>removed</a:t>
            </a:r>
            <a:r>
              <a:rPr lang="en-US" sz="1150" dirty="0">
                <a:solidFill>
                  <a:srgbClr val="262B3A"/>
                </a:solidFill>
                <a:latin typeface="Calibri" pitchFamily="34" charset="0"/>
                <a:ea typeface="Calibri" pitchFamily="34" charset="-122"/>
                <a:cs typeface="Calibri" pitchFamily="34" charset="-120"/>
              </a:rPr>
              <a:t> from real life to make the model simpler?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Modelling natural selection: results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B6.1.3 • the dark variant becomes more common each generation</a:t>
            </a:r>
            <a:endParaRPr lang="en-US" sz="1100" dirty="0"/>
          </a:p>
        </p:txBody>
      </p:sp>
      <p:sp>
        <p:nvSpPr>
          <p:cNvPr id="6" name="Shape 4"/>
          <p:cNvSpPr/>
          <p:nvPr/>
        </p:nvSpPr>
        <p:spPr>
          <a:xfrm>
            <a:off x="10024567" y="292608"/>
            <a:ext cx="175564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024567" y="292608"/>
            <a:ext cx="175564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ACTIVITY</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Activity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percentage of dark squares at the start of each generation, plotted to scale</a:t>
            </a:r>
            <a:endParaRPr lang="en-US" sz="1000" dirty="0"/>
          </a:p>
        </p:txBody>
      </p:sp>
      <p:sp>
        <p:nvSpPr>
          <p:cNvPr id="12" name="Shape 10"/>
          <p:cNvSpPr/>
          <p:nvPr/>
        </p:nvSpPr>
        <p:spPr>
          <a:xfrm>
            <a:off x="1371600" y="1463040"/>
            <a:ext cx="4297680" cy="3200400"/>
          </a:xfrm>
          <a:prstGeom prst="rect">
            <a:avLst/>
          </a:prstGeom>
          <a:solidFill>
            <a:srgbClr val="FFFFFF"/>
          </a:solidFill>
          <a:ln/>
        </p:spPr>
      </p:sp>
      <p:sp>
        <p:nvSpPr>
          <p:cNvPr id="13" name="Shape 11"/>
          <p:cNvSpPr/>
          <p:nvPr/>
        </p:nvSpPr>
        <p:spPr>
          <a:xfrm>
            <a:off x="1371600" y="1463040"/>
            <a:ext cx="91" cy="3200400"/>
          </a:xfrm>
          <a:prstGeom prst="line">
            <a:avLst/>
          </a:prstGeom>
          <a:noFill/>
          <a:ln w="6350">
            <a:solidFill>
              <a:srgbClr val="C5DCD9"/>
            </a:solidFill>
            <a:prstDash val="solid"/>
          </a:ln>
        </p:spPr>
      </p:sp>
      <p:sp>
        <p:nvSpPr>
          <p:cNvPr id="14" name="Shape 12"/>
          <p:cNvSpPr/>
          <p:nvPr/>
        </p:nvSpPr>
        <p:spPr>
          <a:xfrm>
            <a:off x="2087880" y="1463040"/>
            <a:ext cx="91" cy="3200400"/>
          </a:xfrm>
          <a:prstGeom prst="line">
            <a:avLst/>
          </a:prstGeom>
          <a:noFill/>
          <a:ln w="6350">
            <a:solidFill>
              <a:srgbClr val="E3EFED"/>
            </a:solidFill>
            <a:prstDash val="solid"/>
          </a:ln>
        </p:spPr>
      </p:sp>
      <p:sp>
        <p:nvSpPr>
          <p:cNvPr id="15" name="Shape 13"/>
          <p:cNvSpPr/>
          <p:nvPr/>
        </p:nvSpPr>
        <p:spPr>
          <a:xfrm>
            <a:off x="2804160" y="1463040"/>
            <a:ext cx="91" cy="3200400"/>
          </a:xfrm>
          <a:prstGeom prst="line">
            <a:avLst/>
          </a:prstGeom>
          <a:noFill/>
          <a:ln w="6350">
            <a:solidFill>
              <a:srgbClr val="C5DCD9"/>
            </a:solidFill>
            <a:prstDash val="solid"/>
          </a:ln>
        </p:spPr>
      </p:sp>
      <p:sp>
        <p:nvSpPr>
          <p:cNvPr id="16" name="Shape 14"/>
          <p:cNvSpPr/>
          <p:nvPr/>
        </p:nvSpPr>
        <p:spPr>
          <a:xfrm>
            <a:off x="3520440" y="1463040"/>
            <a:ext cx="91" cy="3200400"/>
          </a:xfrm>
          <a:prstGeom prst="line">
            <a:avLst/>
          </a:prstGeom>
          <a:noFill/>
          <a:ln w="6350">
            <a:solidFill>
              <a:srgbClr val="E3EFED"/>
            </a:solidFill>
            <a:prstDash val="solid"/>
          </a:ln>
        </p:spPr>
      </p:sp>
      <p:sp>
        <p:nvSpPr>
          <p:cNvPr id="17" name="Shape 15"/>
          <p:cNvSpPr/>
          <p:nvPr/>
        </p:nvSpPr>
        <p:spPr>
          <a:xfrm>
            <a:off x="4236720" y="1463040"/>
            <a:ext cx="91" cy="3200400"/>
          </a:xfrm>
          <a:prstGeom prst="line">
            <a:avLst/>
          </a:prstGeom>
          <a:noFill/>
          <a:ln w="6350">
            <a:solidFill>
              <a:srgbClr val="C5DCD9"/>
            </a:solidFill>
            <a:prstDash val="solid"/>
          </a:ln>
        </p:spPr>
      </p:sp>
      <p:sp>
        <p:nvSpPr>
          <p:cNvPr id="18" name="Shape 16"/>
          <p:cNvSpPr/>
          <p:nvPr/>
        </p:nvSpPr>
        <p:spPr>
          <a:xfrm>
            <a:off x="4953000" y="1463040"/>
            <a:ext cx="91" cy="3200400"/>
          </a:xfrm>
          <a:prstGeom prst="line">
            <a:avLst/>
          </a:prstGeom>
          <a:noFill/>
          <a:ln w="6350">
            <a:solidFill>
              <a:srgbClr val="E3EFED"/>
            </a:solidFill>
            <a:prstDash val="solid"/>
          </a:ln>
        </p:spPr>
      </p:sp>
      <p:sp>
        <p:nvSpPr>
          <p:cNvPr id="19" name="Shape 17"/>
          <p:cNvSpPr/>
          <p:nvPr/>
        </p:nvSpPr>
        <p:spPr>
          <a:xfrm>
            <a:off x="5669280" y="1463040"/>
            <a:ext cx="91" cy="3200400"/>
          </a:xfrm>
          <a:prstGeom prst="line">
            <a:avLst/>
          </a:prstGeom>
          <a:noFill/>
          <a:ln w="6350">
            <a:solidFill>
              <a:srgbClr val="C5DCD9"/>
            </a:solidFill>
            <a:prstDash val="solid"/>
          </a:ln>
        </p:spPr>
      </p:sp>
      <p:sp>
        <p:nvSpPr>
          <p:cNvPr id="20" name="Shape 18"/>
          <p:cNvSpPr/>
          <p:nvPr/>
        </p:nvSpPr>
        <p:spPr>
          <a:xfrm>
            <a:off x="1371600" y="4663440"/>
            <a:ext cx="4297680" cy="91"/>
          </a:xfrm>
          <a:prstGeom prst="line">
            <a:avLst/>
          </a:prstGeom>
          <a:noFill/>
          <a:ln w="6350">
            <a:solidFill>
              <a:srgbClr val="C5DCD9"/>
            </a:solidFill>
            <a:prstDash val="solid"/>
          </a:ln>
        </p:spPr>
      </p:sp>
      <p:sp>
        <p:nvSpPr>
          <p:cNvPr id="21" name="Shape 19"/>
          <p:cNvSpPr/>
          <p:nvPr/>
        </p:nvSpPr>
        <p:spPr>
          <a:xfrm>
            <a:off x="1371600" y="4343400"/>
            <a:ext cx="4297680" cy="91"/>
          </a:xfrm>
          <a:prstGeom prst="line">
            <a:avLst/>
          </a:prstGeom>
          <a:noFill/>
          <a:ln w="6350">
            <a:solidFill>
              <a:srgbClr val="E3EFED"/>
            </a:solidFill>
            <a:prstDash val="solid"/>
          </a:ln>
        </p:spPr>
      </p:sp>
      <p:sp>
        <p:nvSpPr>
          <p:cNvPr id="22" name="Shape 20"/>
          <p:cNvSpPr/>
          <p:nvPr/>
        </p:nvSpPr>
        <p:spPr>
          <a:xfrm>
            <a:off x="1371600" y="4023360"/>
            <a:ext cx="4297680" cy="91"/>
          </a:xfrm>
          <a:prstGeom prst="line">
            <a:avLst/>
          </a:prstGeom>
          <a:noFill/>
          <a:ln w="6350">
            <a:solidFill>
              <a:srgbClr val="C5DCD9"/>
            </a:solidFill>
            <a:prstDash val="solid"/>
          </a:ln>
        </p:spPr>
      </p:sp>
      <p:sp>
        <p:nvSpPr>
          <p:cNvPr id="23" name="Shape 21"/>
          <p:cNvSpPr/>
          <p:nvPr/>
        </p:nvSpPr>
        <p:spPr>
          <a:xfrm>
            <a:off x="1371600" y="3703320"/>
            <a:ext cx="4297680" cy="91"/>
          </a:xfrm>
          <a:prstGeom prst="line">
            <a:avLst/>
          </a:prstGeom>
          <a:noFill/>
          <a:ln w="6350">
            <a:solidFill>
              <a:srgbClr val="E3EFED"/>
            </a:solidFill>
            <a:prstDash val="solid"/>
          </a:ln>
        </p:spPr>
      </p:sp>
      <p:sp>
        <p:nvSpPr>
          <p:cNvPr id="24" name="Shape 22"/>
          <p:cNvSpPr/>
          <p:nvPr/>
        </p:nvSpPr>
        <p:spPr>
          <a:xfrm>
            <a:off x="1371600" y="3383280"/>
            <a:ext cx="4297680" cy="91"/>
          </a:xfrm>
          <a:prstGeom prst="line">
            <a:avLst/>
          </a:prstGeom>
          <a:noFill/>
          <a:ln w="6350">
            <a:solidFill>
              <a:srgbClr val="C5DCD9"/>
            </a:solidFill>
            <a:prstDash val="solid"/>
          </a:ln>
        </p:spPr>
      </p:sp>
      <p:sp>
        <p:nvSpPr>
          <p:cNvPr id="25" name="Shape 23"/>
          <p:cNvSpPr/>
          <p:nvPr/>
        </p:nvSpPr>
        <p:spPr>
          <a:xfrm>
            <a:off x="1371600" y="3063240"/>
            <a:ext cx="4297680" cy="91"/>
          </a:xfrm>
          <a:prstGeom prst="line">
            <a:avLst/>
          </a:prstGeom>
          <a:noFill/>
          <a:ln w="6350">
            <a:solidFill>
              <a:srgbClr val="E3EFED"/>
            </a:solidFill>
            <a:prstDash val="solid"/>
          </a:ln>
        </p:spPr>
      </p:sp>
      <p:sp>
        <p:nvSpPr>
          <p:cNvPr id="26" name="Shape 24"/>
          <p:cNvSpPr/>
          <p:nvPr/>
        </p:nvSpPr>
        <p:spPr>
          <a:xfrm>
            <a:off x="1371600" y="2743200"/>
            <a:ext cx="4297680" cy="91"/>
          </a:xfrm>
          <a:prstGeom prst="line">
            <a:avLst/>
          </a:prstGeom>
          <a:noFill/>
          <a:ln w="6350">
            <a:solidFill>
              <a:srgbClr val="C5DCD9"/>
            </a:solidFill>
            <a:prstDash val="solid"/>
          </a:ln>
        </p:spPr>
      </p:sp>
      <p:sp>
        <p:nvSpPr>
          <p:cNvPr id="27" name="Shape 25"/>
          <p:cNvSpPr/>
          <p:nvPr/>
        </p:nvSpPr>
        <p:spPr>
          <a:xfrm>
            <a:off x="1371600" y="2423160"/>
            <a:ext cx="4297680" cy="91"/>
          </a:xfrm>
          <a:prstGeom prst="line">
            <a:avLst/>
          </a:prstGeom>
          <a:noFill/>
          <a:ln w="6350">
            <a:solidFill>
              <a:srgbClr val="E3EFED"/>
            </a:solidFill>
            <a:prstDash val="solid"/>
          </a:ln>
        </p:spPr>
      </p:sp>
      <p:sp>
        <p:nvSpPr>
          <p:cNvPr id="28" name="Shape 26"/>
          <p:cNvSpPr/>
          <p:nvPr/>
        </p:nvSpPr>
        <p:spPr>
          <a:xfrm>
            <a:off x="1371600" y="2103120"/>
            <a:ext cx="4297680" cy="91"/>
          </a:xfrm>
          <a:prstGeom prst="line">
            <a:avLst/>
          </a:prstGeom>
          <a:noFill/>
          <a:ln w="6350">
            <a:solidFill>
              <a:srgbClr val="C5DCD9"/>
            </a:solidFill>
            <a:prstDash val="solid"/>
          </a:ln>
        </p:spPr>
      </p:sp>
      <p:sp>
        <p:nvSpPr>
          <p:cNvPr id="29" name="Shape 27"/>
          <p:cNvSpPr/>
          <p:nvPr/>
        </p:nvSpPr>
        <p:spPr>
          <a:xfrm>
            <a:off x="1371600" y="1783080"/>
            <a:ext cx="4297680" cy="91"/>
          </a:xfrm>
          <a:prstGeom prst="line">
            <a:avLst/>
          </a:prstGeom>
          <a:noFill/>
          <a:ln w="6350">
            <a:solidFill>
              <a:srgbClr val="E3EFED"/>
            </a:solidFill>
            <a:prstDash val="solid"/>
          </a:ln>
        </p:spPr>
      </p:sp>
      <p:sp>
        <p:nvSpPr>
          <p:cNvPr id="30" name="Shape 28"/>
          <p:cNvSpPr/>
          <p:nvPr/>
        </p:nvSpPr>
        <p:spPr>
          <a:xfrm>
            <a:off x="1371600" y="1463040"/>
            <a:ext cx="4297680" cy="91"/>
          </a:xfrm>
          <a:prstGeom prst="line">
            <a:avLst/>
          </a:prstGeom>
          <a:noFill/>
          <a:ln w="6350">
            <a:solidFill>
              <a:srgbClr val="C5DCD9"/>
            </a:solidFill>
            <a:prstDash val="solid"/>
          </a:ln>
        </p:spPr>
      </p:sp>
      <p:sp>
        <p:nvSpPr>
          <p:cNvPr id="31" name="Shape 29"/>
          <p:cNvSpPr/>
          <p:nvPr/>
        </p:nvSpPr>
        <p:spPr>
          <a:xfrm>
            <a:off x="1371600" y="4663440"/>
            <a:ext cx="4297680" cy="91"/>
          </a:xfrm>
          <a:prstGeom prst="line">
            <a:avLst/>
          </a:prstGeom>
          <a:noFill/>
          <a:ln w="19050">
            <a:solidFill>
              <a:srgbClr val="133536"/>
            </a:solidFill>
            <a:prstDash val="solid"/>
          </a:ln>
        </p:spPr>
      </p:sp>
      <p:sp>
        <p:nvSpPr>
          <p:cNvPr id="32" name="Shape 30"/>
          <p:cNvSpPr/>
          <p:nvPr/>
        </p:nvSpPr>
        <p:spPr>
          <a:xfrm flipV="1">
            <a:off x="1371600" y="1463040"/>
            <a:ext cx="91" cy="3200400"/>
          </a:xfrm>
          <a:prstGeom prst="line">
            <a:avLst/>
          </a:prstGeom>
          <a:noFill/>
          <a:ln w="19050">
            <a:solidFill>
              <a:srgbClr val="133536"/>
            </a:solidFill>
            <a:prstDash val="solid"/>
          </a:ln>
        </p:spPr>
      </p:sp>
      <p:sp>
        <p:nvSpPr>
          <p:cNvPr id="33" name="Shape 31"/>
          <p:cNvSpPr/>
          <p:nvPr/>
        </p:nvSpPr>
        <p:spPr>
          <a:xfrm>
            <a:off x="1371600" y="4663440"/>
            <a:ext cx="91" cy="54864"/>
          </a:xfrm>
          <a:prstGeom prst="line">
            <a:avLst/>
          </a:prstGeom>
          <a:noFill/>
          <a:ln w="12700">
            <a:solidFill>
              <a:srgbClr val="133536"/>
            </a:solidFill>
            <a:prstDash val="solid"/>
          </a:ln>
        </p:spPr>
      </p:sp>
      <p:sp>
        <p:nvSpPr>
          <p:cNvPr id="34" name="Text 32"/>
          <p:cNvSpPr/>
          <p:nvPr/>
        </p:nvSpPr>
        <p:spPr>
          <a:xfrm>
            <a:off x="10972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5" name="Shape 33"/>
          <p:cNvSpPr/>
          <p:nvPr/>
        </p:nvSpPr>
        <p:spPr>
          <a:xfrm>
            <a:off x="2804160" y="4663440"/>
            <a:ext cx="91" cy="54864"/>
          </a:xfrm>
          <a:prstGeom prst="line">
            <a:avLst/>
          </a:prstGeom>
          <a:noFill/>
          <a:ln w="12700">
            <a:solidFill>
              <a:srgbClr val="133536"/>
            </a:solidFill>
            <a:prstDash val="solid"/>
          </a:ln>
        </p:spPr>
      </p:sp>
      <p:sp>
        <p:nvSpPr>
          <p:cNvPr id="36" name="Text 34"/>
          <p:cNvSpPr/>
          <p:nvPr/>
        </p:nvSpPr>
        <p:spPr>
          <a:xfrm>
            <a:off x="252984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37" name="Shape 35"/>
          <p:cNvSpPr/>
          <p:nvPr/>
        </p:nvSpPr>
        <p:spPr>
          <a:xfrm>
            <a:off x="4236720" y="4663440"/>
            <a:ext cx="91" cy="54864"/>
          </a:xfrm>
          <a:prstGeom prst="line">
            <a:avLst/>
          </a:prstGeom>
          <a:noFill/>
          <a:ln w="12700">
            <a:solidFill>
              <a:srgbClr val="133536"/>
            </a:solidFill>
            <a:prstDash val="solid"/>
          </a:ln>
        </p:spPr>
      </p:sp>
      <p:sp>
        <p:nvSpPr>
          <p:cNvPr id="38" name="Text 36"/>
          <p:cNvSpPr/>
          <p:nvPr/>
        </p:nvSpPr>
        <p:spPr>
          <a:xfrm>
            <a:off x="396240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39" name="Shape 37"/>
          <p:cNvSpPr/>
          <p:nvPr/>
        </p:nvSpPr>
        <p:spPr>
          <a:xfrm>
            <a:off x="5669280" y="4663440"/>
            <a:ext cx="91" cy="54864"/>
          </a:xfrm>
          <a:prstGeom prst="line">
            <a:avLst/>
          </a:prstGeom>
          <a:noFill/>
          <a:ln w="12700">
            <a:solidFill>
              <a:srgbClr val="133536"/>
            </a:solidFill>
            <a:prstDash val="solid"/>
          </a:ln>
        </p:spPr>
      </p:sp>
      <p:sp>
        <p:nvSpPr>
          <p:cNvPr id="40" name="Text 38"/>
          <p:cNvSpPr/>
          <p:nvPr/>
        </p:nvSpPr>
        <p:spPr>
          <a:xfrm>
            <a:off x="539496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41" name="Shape 39"/>
          <p:cNvSpPr/>
          <p:nvPr/>
        </p:nvSpPr>
        <p:spPr>
          <a:xfrm>
            <a:off x="1316736" y="4663440"/>
            <a:ext cx="54864" cy="91"/>
          </a:xfrm>
          <a:prstGeom prst="line">
            <a:avLst/>
          </a:prstGeom>
          <a:noFill/>
          <a:ln w="12700">
            <a:solidFill>
              <a:srgbClr val="133536"/>
            </a:solidFill>
            <a:prstDash val="solid"/>
          </a:ln>
        </p:spPr>
      </p:sp>
      <p:sp>
        <p:nvSpPr>
          <p:cNvPr id="42" name="Text 40"/>
          <p:cNvSpPr/>
          <p:nvPr/>
        </p:nvSpPr>
        <p:spPr>
          <a:xfrm>
            <a:off x="93268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1316736" y="4023360"/>
            <a:ext cx="54864" cy="91"/>
          </a:xfrm>
          <a:prstGeom prst="line">
            <a:avLst/>
          </a:prstGeom>
          <a:noFill/>
          <a:ln w="12700">
            <a:solidFill>
              <a:srgbClr val="133536"/>
            </a:solidFill>
            <a:prstDash val="solid"/>
          </a:ln>
        </p:spPr>
      </p:sp>
      <p:sp>
        <p:nvSpPr>
          <p:cNvPr id="44" name="Text 42"/>
          <p:cNvSpPr/>
          <p:nvPr/>
        </p:nvSpPr>
        <p:spPr>
          <a:xfrm>
            <a:off x="932688" y="3931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5" name="Shape 43"/>
          <p:cNvSpPr/>
          <p:nvPr/>
        </p:nvSpPr>
        <p:spPr>
          <a:xfrm>
            <a:off x="1316736" y="3383280"/>
            <a:ext cx="54864" cy="91"/>
          </a:xfrm>
          <a:prstGeom prst="line">
            <a:avLst/>
          </a:prstGeom>
          <a:noFill/>
          <a:ln w="12700">
            <a:solidFill>
              <a:srgbClr val="133536"/>
            </a:solidFill>
            <a:prstDash val="solid"/>
          </a:ln>
        </p:spPr>
      </p:sp>
      <p:sp>
        <p:nvSpPr>
          <p:cNvPr id="46" name="Text 44"/>
          <p:cNvSpPr/>
          <p:nvPr/>
        </p:nvSpPr>
        <p:spPr>
          <a:xfrm>
            <a:off x="932688" y="32918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7" name="Shape 45"/>
          <p:cNvSpPr/>
          <p:nvPr/>
        </p:nvSpPr>
        <p:spPr>
          <a:xfrm>
            <a:off x="1316736" y="2743200"/>
            <a:ext cx="54864" cy="91"/>
          </a:xfrm>
          <a:prstGeom prst="line">
            <a:avLst/>
          </a:prstGeom>
          <a:noFill/>
          <a:ln w="12700">
            <a:solidFill>
              <a:srgbClr val="133536"/>
            </a:solidFill>
            <a:prstDash val="solid"/>
          </a:ln>
        </p:spPr>
      </p:sp>
      <p:sp>
        <p:nvSpPr>
          <p:cNvPr id="48" name="Text 46"/>
          <p:cNvSpPr/>
          <p:nvPr/>
        </p:nvSpPr>
        <p:spPr>
          <a:xfrm>
            <a:off x="932688" y="26517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9" name="Shape 47"/>
          <p:cNvSpPr/>
          <p:nvPr/>
        </p:nvSpPr>
        <p:spPr>
          <a:xfrm>
            <a:off x="1316736" y="2103120"/>
            <a:ext cx="54864" cy="91"/>
          </a:xfrm>
          <a:prstGeom prst="line">
            <a:avLst/>
          </a:prstGeom>
          <a:noFill/>
          <a:ln w="12700">
            <a:solidFill>
              <a:srgbClr val="133536"/>
            </a:solidFill>
            <a:prstDash val="solid"/>
          </a:ln>
        </p:spPr>
      </p:sp>
      <p:sp>
        <p:nvSpPr>
          <p:cNvPr id="50" name="Text 48"/>
          <p:cNvSpPr/>
          <p:nvPr/>
        </p:nvSpPr>
        <p:spPr>
          <a:xfrm>
            <a:off x="932688" y="2011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51" name="Shape 49"/>
          <p:cNvSpPr/>
          <p:nvPr/>
        </p:nvSpPr>
        <p:spPr>
          <a:xfrm>
            <a:off x="1316736" y="1463040"/>
            <a:ext cx="54864" cy="91"/>
          </a:xfrm>
          <a:prstGeom prst="line">
            <a:avLst/>
          </a:prstGeom>
          <a:noFill/>
          <a:ln w="12700">
            <a:solidFill>
              <a:srgbClr val="133536"/>
            </a:solidFill>
            <a:prstDash val="solid"/>
          </a:ln>
        </p:spPr>
      </p:sp>
      <p:sp>
        <p:nvSpPr>
          <p:cNvPr id="52" name="Text 50"/>
          <p:cNvSpPr/>
          <p:nvPr/>
        </p:nvSpPr>
        <p:spPr>
          <a:xfrm>
            <a:off x="93268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53" name="Text 51"/>
          <p:cNvSpPr/>
          <p:nvPr/>
        </p:nvSpPr>
        <p:spPr>
          <a:xfrm>
            <a:off x="1371600" y="4910328"/>
            <a:ext cx="4297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Generation</a:t>
            </a:r>
            <a:endParaRPr lang="en-US" sz="1050" dirty="0"/>
          </a:p>
        </p:txBody>
      </p:sp>
      <p:sp>
        <p:nvSpPr>
          <p:cNvPr id="54" name="Text 52"/>
          <p:cNvSpPr/>
          <p:nvPr/>
        </p:nvSpPr>
        <p:spPr>
          <a:xfrm rot="16200000">
            <a:off x="-795528" y="2935224"/>
            <a:ext cx="3200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 dark squares</a:t>
            </a:r>
            <a:endParaRPr lang="en-US" sz="1050" dirty="0"/>
          </a:p>
        </p:txBody>
      </p:sp>
      <p:sp>
        <p:nvSpPr>
          <p:cNvPr id="55" name="Shape 53"/>
          <p:cNvSpPr/>
          <p:nvPr/>
        </p:nvSpPr>
        <p:spPr>
          <a:xfrm flipV="1">
            <a:off x="1371600" y="2263140"/>
            <a:ext cx="1432560" cy="800100"/>
          </a:xfrm>
          <a:prstGeom prst="line">
            <a:avLst/>
          </a:prstGeom>
          <a:noFill/>
          <a:ln w="28575">
            <a:solidFill>
              <a:srgbClr val="2B2622"/>
            </a:solidFill>
            <a:prstDash val="solid"/>
          </a:ln>
        </p:spPr>
      </p:sp>
      <p:sp>
        <p:nvSpPr>
          <p:cNvPr id="56" name="Shape 54"/>
          <p:cNvSpPr/>
          <p:nvPr/>
        </p:nvSpPr>
        <p:spPr>
          <a:xfrm flipV="1">
            <a:off x="2804160" y="1783080"/>
            <a:ext cx="1432560" cy="480060"/>
          </a:xfrm>
          <a:prstGeom prst="line">
            <a:avLst/>
          </a:prstGeom>
          <a:noFill/>
          <a:ln w="28575">
            <a:solidFill>
              <a:srgbClr val="2B2622"/>
            </a:solidFill>
            <a:prstDash val="solid"/>
          </a:ln>
        </p:spPr>
      </p:sp>
      <p:sp>
        <p:nvSpPr>
          <p:cNvPr id="57" name="Shape 55"/>
          <p:cNvSpPr/>
          <p:nvPr/>
        </p:nvSpPr>
        <p:spPr>
          <a:xfrm flipV="1">
            <a:off x="4236720" y="1623060"/>
            <a:ext cx="1432560" cy="160020"/>
          </a:xfrm>
          <a:prstGeom prst="line">
            <a:avLst/>
          </a:prstGeom>
          <a:noFill/>
          <a:ln w="28575">
            <a:solidFill>
              <a:srgbClr val="2B2622"/>
            </a:solidFill>
            <a:prstDash val="solid"/>
          </a:ln>
        </p:spPr>
      </p:sp>
      <p:sp>
        <p:nvSpPr>
          <p:cNvPr id="58" name="Shape 56"/>
          <p:cNvSpPr/>
          <p:nvPr/>
        </p:nvSpPr>
        <p:spPr>
          <a:xfrm>
            <a:off x="1325880" y="3017520"/>
            <a:ext cx="91440" cy="91440"/>
          </a:xfrm>
          <a:prstGeom prst="line">
            <a:avLst/>
          </a:prstGeom>
          <a:noFill/>
          <a:ln w="15875">
            <a:solidFill>
              <a:srgbClr val="C8414C"/>
            </a:solidFill>
            <a:prstDash val="solid"/>
          </a:ln>
        </p:spPr>
      </p:sp>
      <p:sp>
        <p:nvSpPr>
          <p:cNvPr id="59" name="Shape 57"/>
          <p:cNvSpPr/>
          <p:nvPr/>
        </p:nvSpPr>
        <p:spPr>
          <a:xfrm flipV="1">
            <a:off x="1325880" y="3017520"/>
            <a:ext cx="91440" cy="91440"/>
          </a:xfrm>
          <a:prstGeom prst="line">
            <a:avLst/>
          </a:prstGeom>
          <a:noFill/>
          <a:ln w="15875">
            <a:solidFill>
              <a:srgbClr val="C8414C"/>
            </a:solidFill>
            <a:prstDash val="solid"/>
          </a:ln>
        </p:spPr>
      </p:sp>
      <p:sp>
        <p:nvSpPr>
          <p:cNvPr id="60" name="Shape 58"/>
          <p:cNvSpPr/>
          <p:nvPr/>
        </p:nvSpPr>
        <p:spPr>
          <a:xfrm>
            <a:off x="2758440" y="2217420"/>
            <a:ext cx="91440" cy="91440"/>
          </a:xfrm>
          <a:prstGeom prst="line">
            <a:avLst/>
          </a:prstGeom>
          <a:noFill/>
          <a:ln w="15875">
            <a:solidFill>
              <a:srgbClr val="C8414C"/>
            </a:solidFill>
            <a:prstDash val="solid"/>
          </a:ln>
        </p:spPr>
      </p:sp>
      <p:sp>
        <p:nvSpPr>
          <p:cNvPr id="61" name="Shape 59"/>
          <p:cNvSpPr/>
          <p:nvPr/>
        </p:nvSpPr>
        <p:spPr>
          <a:xfrm flipV="1">
            <a:off x="2758440" y="2217420"/>
            <a:ext cx="91440" cy="91440"/>
          </a:xfrm>
          <a:prstGeom prst="line">
            <a:avLst/>
          </a:prstGeom>
          <a:noFill/>
          <a:ln w="15875">
            <a:solidFill>
              <a:srgbClr val="C8414C"/>
            </a:solidFill>
            <a:prstDash val="solid"/>
          </a:ln>
        </p:spPr>
      </p:sp>
      <p:sp>
        <p:nvSpPr>
          <p:cNvPr id="62" name="Shape 60"/>
          <p:cNvSpPr/>
          <p:nvPr/>
        </p:nvSpPr>
        <p:spPr>
          <a:xfrm>
            <a:off x="4191000" y="1737360"/>
            <a:ext cx="91440" cy="91440"/>
          </a:xfrm>
          <a:prstGeom prst="line">
            <a:avLst/>
          </a:prstGeom>
          <a:noFill/>
          <a:ln w="15875">
            <a:solidFill>
              <a:srgbClr val="C8414C"/>
            </a:solidFill>
            <a:prstDash val="solid"/>
          </a:ln>
        </p:spPr>
      </p:sp>
      <p:sp>
        <p:nvSpPr>
          <p:cNvPr id="63" name="Shape 61"/>
          <p:cNvSpPr/>
          <p:nvPr/>
        </p:nvSpPr>
        <p:spPr>
          <a:xfrm flipV="1">
            <a:off x="4191000" y="1737360"/>
            <a:ext cx="91440" cy="91440"/>
          </a:xfrm>
          <a:prstGeom prst="line">
            <a:avLst/>
          </a:prstGeom>
          <a:noFill/>
          <a:ln w="15875">
            <a:solidFill>
              <a:srgbClr val="C8414C"/>
            </a:solidFill>
            <a:prstDash val="solid"/>
          </a:ln>
        </p:spPr>
      </p:sp>
      <p:sp>
        <p:nvSpPr>
          <p:cNvPr id="64" name="Shape 62"/>
          <p:cNvSpPr/>
          <p:nvPr/>
        </p:nvSpPr>
        <p:spPr>
          <a:xfrm>
            <a:off x="5623560" y="1577340"/>
            <a:ext cx="91440" cy="91440"/>
          </a:xfrm>
          <a:prstGeom prst="line">
            <a:avLst/>
          </a:prstGeom>
          <a:noFill/>
          <a:ln w="15875">
            <a:solidFill>
              <a:srgbClr val="C8414C"/>
            </a:solidFill>
            <a:prstDash val="solid"/>
          </a:ln>
        </p:spPr>
      </p:sp>
      <p:sp>
        <p:nvSpPr>
          <p:cNvPr id="65" name="Shape 63"/>
          <p:cNvSpPr/>
          <p:nvPr/>
        </p:nvSpPr>
        <p:spPr>
          <a:xfrm flipV="1">
            <a:off x="5623560" y="1577340"/>
            <a:ext cx="91440" cy="91440"/>
          </a:xfrm>
          <a:prstGeom prst="line">
            <a:avLst/>
          </a:prstGeom>
          <a:noFill/>
          <a:ln w="15875">
            <a:solidFill>
              <a:srgbClr val="C8414C"/>
            </a:solidFill>
            <a:prstDash val="solid"/>
          </a:ln>
        </p:spPr>
      </p:sp>
      <p:sp>
        <p:nvSpPr>
          <p:cNvPr id="66" name="Text 64"/>
          <p:cNvSpPr/>
          <p:nvPr/>
        </p:nvSpPr>
        <p:spPr>
          <a:xfrm>
            <a:off x="1463040" y="3081528"/>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50%</a:t>
            </a:r>
            <a:endParaRPr lang="en-US" sz="1000" dirty="0"/>
          </a:p>
        </p:txBody>
      </p:sp>
      <p:sp>
        <p:nvSpPr>
          <p:cNvPr id="67" name="Text 65"/>
          <p:cNvSpPr/>
          <p:nvPr/>
        </p:nvSpPr>
        <p:spPr>
          <a:xfrm>
            <a:off x="2895600" y="2281428"/>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75%</a:t>
            </a:r>
            <a:endParaRPr lang="en-US" sz="1000" dirty="0"/>
          </a:p>
        </p:txBody>
      </p:sp>
      <p:sp>
        <p:nvSpPr>
          <p:cNvPr id="68" name="Text 66"/>
          <p:cNvSpPr/>
          <p:nvPr/>
        </p:nvSpPr>
        <p:spPr>
          <a:xfrm>
            <a:off x="4328160" y="1801368"/>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90%</a:t>
            </a:r>
            <a:endParaRPr lang="en-US" sz="1000" dirty="0"/>
          </a:p>
        </p:txBody>
      </p:sp>
      <p:sp>
        <p:nvSpPr>
          <p:cNvPr id="69" name="Text 67"/>
          <p:cNvSpPr/>
          <p:nvPr/>
        </p:nvSpPr>
        <p:spPr>
          <a:xfrm>
            <a:off x="5074920" y="1732788"/>
            <a:ext cx="5486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95%</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548640"/>
                <a:gridCol w="1051560"/>
                <a:gridCol w="1051560"/>
                <a:gridCol w="960120"/>
                <a:gridCol w="960120"/>
                <a:gridCol w="987552"/>
              </a:tblGrid>
              <a:tr h="27432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Gen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Dark at start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Pale at start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Dark eaten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Pale eaten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 dark</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27432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27432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274320">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38</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95</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71" name="Shape 68"/>
          <p:cNvSpPr/>
          <p:nvPr/>
        </p:nvSpPr>
        <p:spPr>
          <a:xfrm>
            <a:off x="6217920" y="2697480"/>
            <a:ext cx="5559552" cy="1325880"/>
          </a:xfrm>
          <a:prstGeom prst="roundRect">
            <a:avLst>
              <a:gd name="adj" fmla="val 4138"/>
            </a:avLst>
          </a:prstGeom>
          <a:solidFill>
            <a:srgbClr val="FFF4E0"/>
          </a:solidFill>
          <a:ln w="9525">
            <a:solidFill>
              <a:srgbClr val="F1D9A8"/>
            </a:solidFill>
            <a:prstDash val="solid"/>
          </a:ln>
        </p:spPr>
      </p:sp>
      <p:sp>
        <p:nvSpPr>
          <p:cNvPr id="72" name="Text 69"/>
          <p:cNvSpPr/>
          <p:nvPr/>
        </p:nvSpPr>
        <p:spPr>
          <a:xfrm>
            <a:off x="6382512" y="277063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generation 2</a:t>
            </a:r>
            <a:endParaRPr lang="en-US" sz="1300" dirty="0"/>
          </a:p>
        </p:txBody>
      </p:sp>
      <p:sp>
        <p:nvSpPr>
          <p:cNvPr id="73" name="Text 70"/>
          <p:cNvSpPr/>
          <p:nvPr/>
        </p:nvSpPr>
        <p:spPr>
          <a:xfrm>
            <a:off x="6382512" y="3081528"/>
            <a:ext cx="5230368"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Start: 36 dark, 4 pale (40 squares).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36 ÷ 40 = 0.9</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 100 = </a:t>
            </a:r>
            <a:r>
              <a:rPr lang="en-US" sz="1050" b="1" dirty="0">
                <a:solidFill>
                  <a:srgbClr val="C8414C"/>
                </a:solidFill>
                <a:latin typeface="Calibri" pitchFamily="34" charset="0"/>
                <a:ea typeface="Calibri" pitchFamily="34" charset="-122"/>
                <a:cs typeface="Calibri" pitchFamily="34" charset="-120"/>
              </a:rPr>
              <a:t>90%</a:t>
            </a:r>
            <a:r>
              <a:rPr lang="en-US" sz="1050" b="1" dirty="0">
                <a:solidFill>
                  <a:srgbClr val="C8414C"/>
                </a:solidFill>
                <a:latin typeface="Calibri" pitchFamily="34" charset="0"/>
                <a:ea typeface="Calibri" pitchFamily="34" charset="-122"/>
                <a:cs typeface="Calibri" pitchFamily="34" charset="-120"/>
              </a:rPr>
              <a:t> dark</a:t>
            </a:r>
            <a:endParaRPr lang="en-US" sz="1050" dirty="0"/>
          </a:p>
        </p:txBody>
      </p:sp>
      <p:sp>
        <p:nvSpPr>
          <p:cNvPr id="74" name="Shape 71"/>
          <p:cNvSpPr/>
          <p:nvPr/>
        </p:nvSpPr>
        <p:spPr>
          <a:xfrm>
            <a:off x="6217920" y="4114800"/>
            <a:ext cx="5559552" cy="1600200"/>
          </a:xfrm>
          <a:prstGeom prst="roundRect">
            <a:avLst>
              <a:gd name="adj" fmla="val 3429"/>
            </a:avLst>
          </a:prstGeom>
          <a:solidFill>
            <a:srgbClr val="F4FAF9"/>
          </a:solidFill>
          <a:ln w="9525">
            <a:solidFill>
              <a:srgbClr val="CFE0DE"/>
            </a:solidFill>
            <a:prstDash val="solid"/>
          </a:ln>
        </p:spPr>
      </p:sp>
      <p:sp>
        <p:nvSpPr>
          <p:cNvPr id="75" name="Text 72"/>
          <p:cNvSpPr/>
          <p:nvPr/>
        </p:nvSpPr>
        <p:spPr>
          <a:xfrm>
            <a:off x="6382512" y="420624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Errors and limits of the model</a:t>
            </a:r>
            <a:endParaRPr lang="en-US" sz="1300" dirty="0"/>
          </a:p>
        </p:txBody>
      </p:sp>
      <p:sp>
        <p:nvSpPr>
          <p:cNvPr id="76" name="Text 73"/>
          <p:cNvSpPr/>
          <p:nvPr/>
        </p:nvSpPr>
        <p:spPr>
          <a:xfrm>
            <a:off x="6382512" y="4535424"/>
            <a:ext cx="5230368" cy="11064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"bird" learns where to look: </a:t>
            </a:r>
            <a:r>
              <a:rPr lang="en-US" sz="1050" b="1" dirty="0">
                <a:solidFill>
                  <a:srgbClr val="262B3A"/>
                </a:solidFill>
                <a:latin typeface="Calibri" pitchFamily="34" charset="0"/>
                <a:ea typeface="Calibri" pitchFamily="34" charset="-122"/>
                <a:cs typeface="Calibri" pitchFamily="34" charset="-120"/>
              </a:rPr>
              <a:t>random error</a:t>
            </a:r>
            <a:r>
              <a:rPr lang="en-US" sz="1050" dirty="0">
                <a:solidFill>
                  <a:srgbClr val="262B3A"/>
                </a:solidFill>
                <a:latin typeface="Calibri" pitchFamily="34" charset="0"/>
                <a:ea typeface="Calibri" pitchFamily="34" charset="-122"/>
                <a:cs typeface="Calibri" pitchFamily="34" charset="-120"/>
              </a:rPr>
              <a:t>; take turns and pool class results.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Squares may be picked by </a:t>
            </a:r>
            <a:r>
              <a:rPr lang="en-US" sz="1050" b="1" dirty="0">
                <a:solidFill>
                  <a:srgbClr val="262B3A"/>
                </a:solidFill>
                <a:latin typeface="Calibri" pitchFamily="34" charset="0"/>
                <a:ea typeface="Calibri" pitchFamily="34" charset="-122"/>
                <a:cs typeface="Calibri" pitchFamily="34" charset="-120"/>
              </a:rPr>
              <a:t>touch</a:t>
            </a:r>
            <a:r>
              <a:rPr lang="en-US" sz="1050" dirty="0">
                <a:solidFill>
                  <a:srgbClr val="262B3A"/>
                </a:solidFill>
                <a:latin typeface="Calibri" pitchFamily="34" charset="0"/>
                <a:ea typeface="Calibri" pitchFamily="34" charset="-122"/>
                <a:cs typeface="Calibri" pitchFamily="34" charset="-120"/>
              </a:rPr>
              <a:t> not sight: pick with eyes on the sheet, timed.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No </a:t>
            </a:r>
            <a:r>
              <a:rPr lang="en-US" sz="1050" b="1" dirty="0">
                <a:solidFill>
                  <a:srgbClr val="262B3A"/>
                </a:solidFill>
                <a:latin typeface="Calibri" pitchFamily="34" charset="0"/>
                <a:ea typeface="Calibri" pitchFamily="34" charset="-122"/>
                <a:cs typeface="Calibri" pitchFamily="34" charset="-120"/>
              </a:rPr>
              <a:t>genes</a:t>
            </a:r>
            <a:r>
              <a:rPr lang="en-US" sz="1050" dirty="0">
                <a:solidFill>
                  <a:srgbClr val="262B3A"/>
                </a:solidFill>
                <a:latin typeface="Calibri" pitchFamily="34" charset="0"/>
                <a:ea typeface="Calibri" pitchFamily="34" charset="-122"/>
                <a:cs typeface="Calibri" pitchFamily="34" charset="-120"/>
              </a:rPr>
              <a:t> or </a:t>
            </a:r>
            <a:r>
              <a:rPr lang="en-US" sz="1050" b="1" dirty="0">
                <a:solidFill>
                  <a:srgbClr val="262B3A"/>
                </a:solidFill>
                <a:latin typeface="Calibri" pitchFamily="34" charset="0"/>
                <a:ea typeface="Calibri" pitchFamily="34" charset="-122"/>
                <a:cs typeface="Calibri" pitchFamily="34" charset="-120"/>
              </a:rPr>
              <a:t>mutations</a:t>
            </a:r>
            <a:r>
              <a:rPr lang="en-US" sz="1050" dirty="0">
                <a:solidFill>
                  <a:srgbClr val="262B3A"/>
                </a:solidFill>
                <a:latin typeface="Calibri" pitchFamily="34" charset="0"/>
                <a:ea typeface="Calibri" pitchFamily="34" charset="-122"/>
                <a:cs typeface="Calibri" pitchFamily="34" charset="-120"/>
              </a:rPr>
              <a:t>; real selection takes many more generations.</a:t>
            </a:r>
            <a:endParaRPr lang="en-US" sz="1050" dirty="0"/>
          </a:p>
        </p:txBody>
      </p:sp>
      <p:sp>
        <p:nvSpPr>
          <p:cNvPr id="77" name="Shape 74"/>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5"/>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Describe the </a:t>
            </a:r>
            <a:r>
              <a:rPr lang="en-US" sz="1150" b="1" dirty="0">
                <a:solidFill>
                  <a:srgbClr val="262B3A"/>
                </a:solidFill>
                <a:latin typeface="Calibri" pitchFamily="34" charset="0"/>
                <a:ea typeface="Calibri" pitchFamily="34" charset="-122"/>
                <a:cs typeface="Calibri" pitchFamily="34" charset="-120"/>
              </a:rPr>
              <a:t>trend</a:t>
            </a:r>
            <a:r>
              <a:rPr lang="en-US" sz="1150" dirty="0">
                <a:solidFill>
                  <a:srgbClr val="262B3A"/>
                </a:solidFill>
                <a:latin typeface="Calibri" pitchFamily="34" charset="0"/>
                <a:ea typeface="Calibri" pitchFamily="34" charset="-122"/>
                <a:cs typeface="Calibri" pitchFamily="34" charset="-120"/>
              </a:rPr>
              <a:t> in the graph and explain it using natural selection. Predict the result on a </a:t>
            </a:r>
            <a:r>
              <a:rPr lang="en-US" sz="1150" b="1" dirty="0">
                <a:solidFill>
                  <a:srgbClr val="262B3A"/>
                </a:solidFill>
                <a:latin typeface="Calibri" pitchFamily="34" charset="0"/>
                <a:ea typeface="Calibri" pitchFamily="34" charset="-122"/>
                <a:cs typeface="Calibri" pitchFamily="34" charset="-120"/>
              </a:rPr>
              <a:t>pale</a:t>
            </a:r>
            <a:r>
              <a:rPr lang="en-US" sz="1150" dirty="0">
                <a:solidFill>
                  <a:srgbClr val="262B3A"/>
                </a:solidFill>
                <a:latin typeface="Calibri" pitchFamily="34" charset="0"/>
                <a:ea typeface="Calibri" pitchFamily="34" charset="-122"/>
                <a:cs typeface="Calibri" pitchFamily="34" charset="-120"/>
              </a:rPr>
              <a:t> background.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B6.1.3 • the camouflage model</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the model, a generation started with </a:t>
            </a:r>
            <a:r>
              <a:rPr lang="en-US" sz="1250" b="1" dirty="0">
                <a:solidFill>
                  <a:srgbClr val="262B3A"/>
                </a:solidFill>
                <a:latin typeface="Calibri" pitchFamily="34" charset="0"/>
                <a:ea typeface="Calibri" pitchFamily="34" charset="-122"/>
                <a:cs typeface="Calibri" pitchFamily="34" charset="-120"/>
              </a:rPr>
              <a:t>30</a:t>
            </a:r>
            <a:r>
              <a:rPr lang="en-US" sz="1250" dirty="0">
                <a:solidFill>
                  <a:srgbClr val="262B3A"/>
                </a:solidFill>
                <a:latin typeface="Calibri" pitchFamily="34" charset="0"/>
                <a:ea typeface="Calibri" pitchFamily="34" charset="-122"/>
                <a:cs typeface="Calibri" pitchFamily="34" charset="-120"/>
              </a:rPr>
              <a:t> dark and </a:t>
            </a:r>
            <a:r>
              <a:rPr lang="en-US" sz="1250" b="1" dirty="0">
                <a:solidFill>
                  <a:srgbClr val="262B3A"/>
                </a:solidFill>
                <a:latin typeface="Calibri" pitchFamily="34" charset="0"/>
                <a:ea typeface="Calibri" pitchFamily="34" charset="-122"/>
                <a:cs typeface="Calibri" pitchFamily="34" charset="-120"/>
              </a:rPr>
              <a:t>10</a:t>
            </a:r>
            <a:r>
              <a:rPr lang="en-US" sz="1250" dirty="0">
                <a:solidFill>
                  <a:srgbClr val="262B3A"/>
                </a:solidFill>
                <a:latin typeface="Calibri" pitchFamily="34" charset="0"/>
                <a:ea typeface="Calibri" pitchFamily="34" charset="-122"/>
                <a:cs typeface="Calibri" pitchFamily="34" charset="-120"/>
              </a:rPr>
              <a:t> pale squares. Calculate the percentage of dark squares.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independent</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dependent</a:t>
            </a:r>
            <a:r>
              <a:rPr lang="en-US" sz="1250" dirty="0">
                <a:solidFill>
                  <a:srgbClr val="262B3A"/>
                </a:solidFill>
                <a:latin typeface="Calibri" pitchFamily="34" charset="0"/>
                <a:ea typeface="Calibri" pitchFamily="34" charset="-122"/>
                <a:cs typeface="Calibri" pitchFamily="34" charset="-120"/>
              </a:rPr>
              <a:t> variables in the camouflage model.</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ways in which the model is </a:t>
            </a:r>
            <a:r>
              <a:rPr lang="en-US" sz="1250" b="1" dirty="0">
                <a:solidFill>
                  <a:srgbClr val="262B3A"/>
                </a:solidFill>
                <a:latin typeface="Calibri" pitchFamily="34" charset="0"/>
                <a:ea typeface="Calibri" pitchFamily="34" charset="-122"/>
                <a:cs typeface="Calibri" pitchFamily="34" charset="-120"/>
              </a:rPr>
              <a:t>different</a:t>
            </a:r>
            <a:r>
              <a:rPr lang="en-US" sz="1250" dirty="0">
                <a:solidFill>
                  <a:srgbClr val="262B3A"/>
                </a:solidFill>
                <a:latin typeface="Calibri" pitchFamily="34" charset="0"/>
                <a:ea typeface="Calibri" pitchFamily="34" charset="-122"/>
                <a:cs typeface="Calibri" pitchFamily="34" charset="-120"/>
              </a:rPr>
              <a:t> from natural selection in real moths.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class results were </a:t>
            </a:r>
            <a:r>
              <a:rPr lang="en-US" sz="1250" b="1" dirty="0">
                <a:solidFill>
                  <a:srgbClr val="262B3A"/>
                </a:solidFill>
                <a:latin typeface="Calibri" pitchFamily="34" charset="0"/>
                <a:ea typeface="Calibri" pitchFamily="34" charset="-122"/>
                <a:cs typeface="Calibri" pitchFamily="34" charset="-120"/>
              </a:rPr>
              <a:t>pooled</a:t>
            </a:r>
            <a:r>
              <a:rPr lang="en-US" sz="1250" dirty="0">
                <a:solidFill>
                  <a:srgbClr val="262B3A"/>
                </a:solidFill>
                <a:latin typeface="Calibri" pitchFamily="34" charset="0"/>
                <a:ea typeface="Calibri" pitchFamily="34" charset="-122"/>
                <a:cs typeface="Calibri" pitchFamily="34" charset="-120"/>
              </a:rPr>
              <a:t> (combined).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Darwin and Wallace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B6.1.8 • the work of Darwin and Wallace in developing the theory of evolution by natural selection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B6.1.8  |  19</a:t>
            </a:r>
            <a:endParaRPr lang="en-US" sz="1000" dirty="0"/>
          </a:p>
        </p:txBody>
      </p:sp>
      <p:sp>
        <p:nvSpPr>
          <p:cNvPr id="8" name="Shape 6"/>
          <p:cNvSpPr/>
          <p:nvPr/>
        </p:nvSpPr>
        <p:spPr>
          <a:xfrm>
            <a:off x="411480" y="1188720"/>
            <a:ext cx="11365992" cy="1965960"/>
          </a:xfrm>
          <a:prstGeom prst="roundRect">
            <a:avLst>
              <a:gd name="adj" fmla="val 3721"/>
            </a:avLst>
          </a:prstGeom>
          <a:solidFill>
            <a:srgbClr val="EEF5F4"/>
          </a:solidFill>
          <a:ln w="9525">
            <a:solidFill>
              <a:srgbClr val="D2E3E1"/>
            </a:solidFill>
            <a:prstDash val="solid"/>
          </a:ln>
        </p:spPr>
      </p:sp>
      <p:sp>
        <p:nvSpPr>
          <p:cNvPr id="9" name="Text 7"/>
          <p:cNvSpPr/>
          <p:nvPr/>
        </p:nvSpPr>
        <p:spPr>
          <a:xfrm>
            <a:off x="548640" y="2843784"/>
            <a:ext cx="11091672"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timeline drawn to scale, 1800–1870</a:t>
            </a:r>
            <a:endParaRPr lang="en-US" sz="1000" dirty="0"/>
          </a:p>
        </p:txBody>
      </p:sp>
      <p:sp>
        <p:nvSpPr>
          <p:cNvPr id="10" name="Shape 8"/>
          <p:cNvSpPr/>
          <p:nvPr/>
        </p:nvSpPr>
        <p:spPr>
          <a:xfrm>
            <a:off x="868680" y="2103120"/>
            <a:ext cx="10424160" cy="91"/>
          </a:xfrm>
          <a:prstGeom prst="line">
            <a:avLst/>
          </a:prstGeom>
          <a:noFill/>
          <a:ln w="31750">
            <a:solidFill>
              <a:srgbClr val="133536"/>
            </a:solidFill>
            <a:prstDash val="solid"/>
          </a:ln>
        </p:spPr>
      </p:sp>
      <p:sp>
        <p:nvSpPr>
          <p:cNvPr id="11" name="Shape 9"/>
          <p:cNvSpPr/>
          <p:nvPr/>
        </p:nvSpPr>
        <p:spPr>
          <a:xfrm>
            <a:off x="868680" y="2039112"/>
            <a:ext cx="91" cy="128016"/>
          </a:xfrm>
          <a:prstGeom prst="line">
            <a:avLst/>
          </a:prstGeom>
          <a:noFill/>
          <a:ln w="15875">
            <a:solidFill>
              <a:srgbClr val="133536"/>
            </a:solidFill>
            <a:prstDash val="solid"/>
          </a:ln>
        </p:spPr>
      </p:sp>
      <p:sp>
        <p:nvSpPr>
          <p:cNvPr id="12" name="Text 10"/>
          <p:cNvSpPr/>
          <p:nvPr/>
        </p:nvSpPr>
        <p:spPr>
          <a:xfrm>
            <a:off x="594360"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1800</a:t>
            </a:r>
            <a:endParaRPr lang="en-US" sz="1000" dirty="0"/>
          </a:p>
        </p:txBody>
      </p:sp>
      <p:sp>
        <p:nvSpPr>
          <p:cNvPr id="13" name="Shape 11"/>
          <p:cNvSpPr/>
          <p:nvPr/>
        </p:nvSpPr>
        <p:spPr>
          <a:xfrm>
            <a:off x="2357846" y="2039112"/>
            <a:ext cx="91" cy="128016"/>
          </a:xfrm>
          <a:prstGeom prst="line">
            <a:avLst/>
          </a:prstGeom>
          <a:noFill/>
          <a:ln w="15875">
            <a:solidFill>
              <a:srgbClr val="133536"/>
            </a:solidFill>
            <a:prstDash val="solid"/>
          </a:ln>
        </p:spPr>
      </p:sp>
      <p:sp>
        <p:nvSpPr>
          <p:cNvPr id="14" name="Text 12"/>
          <p:cNvSpPr/>
          <p:nvPr/>
        </p:nvSpPr>
        <p:spPr>
          <a:xfrm>
            <a:off x="2083526"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1810</a:t>
            </a:r>
            <a:endParaRPr lang="en-US" sz="1000" dirty="0"/>
          </a:p>
        </p:txBody>
      </p:sp>
      <p:sp>
        <p:nvSpPr>
          <p:cNvPr id="15" name="Shape 13"/>
          <p:cNvSpPr/>
          <p:nvPr/>
        </p:nvSpPr>
        <p:spPr>
          <a:xfrm>
            <a:off x="3847011" y="2039112"/>
            <a:ext cx="91" cy="128016"/>
          </a:xfrm>
          <a:prstGeom prst="line">
            <a:avLst/>
          </a:prstGeom>
          <a:noFill/>
          <a:ln w="15875">
            <a:solidFill>
              <a:srgbClr val="133536"/>
            </a:solidFill>
            <a:prstDash val="solid"/>
          </a:ln>
        </p:spPr>
      </p:sp>
      <p:sp>
        <p:nvSpPr>
          <p:cNvPr id="16" name="Text 14"/>
          <p:cNvSpPr/>
          <p:nvPr/>
        </p:nvSpPr>
        <p:spPr>
          <a:xfrm>
            <a:off x="3572691"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1820</a:t>
            </a:r>
            <a:endParaRPr lang="en-US" sz="1000" dirty="0"/>
          </a:p>
        </p:txBody>
      </p:sp>
      <p:sp>
        <p:nvSpPr>
          <p:cNvPr id="17" name="Shape 15"/>
          <p:cNvSpPr/>
          <p:nvPr/>
        </p:nvSpPr>
        <p:spPr>
          <a:xfrm>
            <a:off x="5336177" y="2039112"/>
            <a:ext cx="91" cy="128016"/>
          </a:xfrm>
          <a:prstGeom prst="line">
            <a:avLst/>
          </a:prstGeom>
          <a:noFill/>
          <a:ln w="15875">
            <a:solidFill>
              <a:srgbClr val="133536"/>
            </a:solidFill>
            <a:prstDash val="solid"/>
          </a:ln>
        </p:spPr>
      </p:sp>
      <p:sp>
        <p:nvSpPr>
          <p:cNvPr id="18" name="Text 16"/>
          <p:cNvSpPr/>
          <p:nvPr/>
        </p:nvSpPr>
        <p:spPr>
          <a:xfrm>
            <a:off x="5061857"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1830</a:t>
            </a:r>
            <a:endParaRPr lang="en-US" sz="1000" dirty="0"/>
          </a:p>
        </p:txBody>
      </p:sp>
      <p:sp>
        <p:nvSpPr>
          <p:cNvPr id="19" name="Shape 17"/>
          <p:cNvSpPr/>
          <p:nvPr/>
        </p:nvSpPr>
        <p:spPr>
          <a:xfrm>
            <a:off x="6825343" y="2039112"/>
            <a:ext cx="91" cy="128016"/>
          </a:xfrm>
          <a:prstGeom prst="line">
            <a:avLst/>
          </a:prstGeom>
          <a:noFill/>
          <a:ln w="15875">
            <a:solidFill>
              <a:srgbClr val="133536"/>
            </a:solidFill>
            <a:prstDash val="solid"/>
          </a:ln>
        </p:spPr>
      </p:sp>
      <p:sp>
        <p:nvSpPr>
          <p:cNvPr id="20" name="Text 18"/>
          <p:cNvSpPr/>
          <p:nvPr/>
        </p:nvSpPr>
        <p:spPr>
          <a:xfrm>
            <a:off x="6551023"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1840</a:t>
            </a:r>
            <a:endParaRPr lang="en-US" sz="1000" dirty="0"/>
          </a:p>
        </p:txBody>
      </p:sp>
      <p:sp>
        <p:nvSpPr>
          <p:cNvPr id="21" name="Shape 19"/>
          <p:cNvSpPr/>
          <p:nvPr/>
        </p:nvSpPr>
        <p:spPr>
          <a:xfrm>
            <a:off x="8314509" y="2039112"/>
            <a:ext cx="91" cy="128016"/>
          </a:xfrm>
          <a:prstGeom prst="line">
            <a:avLst/>
          </a:prstGeom>
          <a:noFill/>
          <a:ln w="15875">
            <a:solidFill>
              <a:srgbClr val="133536"/>
            </a:solidFill>
            <a:prstDash val="solid"/>
          </a:ln>
        </p:spPr>
      </p:sp>
      <p:sp>
        <p:nvSpPr>
          <p:cNvPr id="22" name="Text 20"/>
          <p:cNvSpPr/>
          <p:nvPr/>
        </p:nvSpPr>
        <p:spPr>
          <a:xfrm>
            <a:off x="8040189"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1850</a:t>
            </a:r>
            <a:endParaRPr lang="en-US" sz="1000" dirty="0"/>
          </a:p>
        </p:txBody>
      </p:sp>
      <p:sp>
        <p:nvSpPr>
          <p:cNvPr id="23" name="Shape 21"/>
          <p:cNvSpPr/>
          <p:nvPr/>
        </p:nvSpPr>
        <p:spPr>
          <a:xfrm>
            <a:off x="9803674" y="2039112"/>
            <a:ext cx="91" cy="128016"/>
          </a:xfrm>
          <a:prstGeom prst="line">
            <a:avLst/>
          </a:prstGeom>
          <a:noFill/>
          <a:ln w="15875">
            <a:solidFill>
              <a:srgbClr val="133536"/>
            </a:solidFill>
            <a:prstDash val="solid"/>
          </a:ln>
        </p:spPr>
      </p:sp>
      <p:sp>
        <p:nvSpPr>
          <p:cNvPr id="24" name="Text 22"/>
          <p:cNvSpPr/>
          <p:nvPr/>
        </p:nvSpPr>
        <p:spPr>
          <a:xfrm>
            <a:off x="9529354"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1860</a:t>
            </a:r>
            <a:endParaRPr lang="en-US" sz="1000" dirty="0"/>
          </a:p>
        </p:txBody>
      </p:sp>
      <p:sp>
        <p:nvSpPr>
          <p:cNvPr id="25" name="Shape 23"/>
          <p:cNvSpPr/>
          <p:nvPr/>
        </p:nvSpPr>
        <p:spPr>
          <a:xfrm>
            <a:off x="11292840" y="2039112"/>
            <a:ext cx="91" cy="128016"/>
          </a:xfrm>
          <a:prstGeom prst="line">
            <a:avLst/>
          </a:prstGeom>
          <a:noFill/>
          <a:ln w="15875">
            <a:solidFill>
              <a:srgbClr val="133536"/>
            </a:solidFill>
            <a:prstDash val="solid"/>
          </a:ln>
        </p:spPr>
      </p:sp>
      <p:sp>
        <p:nvSpPr>
          <p:cNvPr id="26" name="Text 24"/>
          <p:cNvSpPr/>
          <p:nvPr/>
        </p:nvSpPr>
        <p:spPr>
          <a:xfrm>
            <a:off x="11018520" y="2194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1870</a:t>
            </a:r>
            <a:endParaRPr lang="en-US" sz="1000" dirty="0"/>
          </a:p>
        </p:txBody>
      </p:sp>
      <p:sp>
        <p:nvSpPr>
          <p:cNvPr id="27" name="Shape 25"/>
          <p:cNvSpPr/>
          <p:nvPr/>
        </p:nvSpPr>
        <p:spPr>
          <a:xfrm>
            <a:off x="2135777" y="2029968"/>
            <a:ext cx="146304" cy="146304"/>
          </a:xfrm>
          <a:prstGeom prst="ellipse">
            <a:avLst/>
          </a:prstGeom>
          <a:solidFill>
            <a:srgbClr val="6B7385"/>
          </a:solidFill>
          <a:ln w="9525">
            <a:solidFill>
              <a:srgbClr val="6B7385"/>
            </a:solidFill>
            <a:prstDash val="solid"/>
          </a:ln>
        </p:spPr>
      </p:sp>
      <p:sp>
        <p:nvSpPr>
          <p:cNvPr id="28" name="Shape 26"/>
          <p:cNvSpPr/>
          <p:nvPr/>
        </p:nvSpPr>
        <p:spPr>
          <a:xfrm>
            <a:off x="2208929" y="1719072"/>
            <a:ext cx="91" cy="310896"/>
          </a:xfrm>
          <a:prstGeom prst="line">
            <a:avLst/>
          </a:prstGeom>
          <a:noFill/>
          <a:ln w="12700">
            <a:solidFill>
              <a:srgbClr val="6B7385"/>
            </a:solidFill>
            <a:prstDash val="solid"/>
          </a:ln>
        </p:spPr>
      </p:sp>
      <p:sp>
        <p:nvSpPr>
          <p:cNvPr id="29" name="Text 27"/>
          <p:cNvSpPr/>
          <p:nvPr/>
        </p:nvSpPr>
        <p:spPr>
          <a:xfrm>
            <a:off x="1203089" y="1353312"/>
            <a:ext cx="2011680" cy="36576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1809</a:t>
            </a:r>
            <a:r>
              <a:rPr lang="en-US" sz="1000" dirty="0">
                <a:solidFill>
                  <a:srgbClr val="262B3A"/>
                </a:solidFill>
                <a:latin typeface="Calibri" pitchFamily="34" charset="0"/>
                <a:ea typeface="Calibri" pitchFamily="34" charset="-122"/>
                <a:cs typeface="Calibri" pitchFamily="34" charset="-120"/>
              </a:rPr>
              <a:t> Lamarck's theory published</a:t>
            </a:r>
            <a:endParaRPr lang="en-US" sz="1000" dirty="0"/>
          </a:p>
        </p:txBody>
      </p:sp>
      <p:sp>
        <p:nvSpPr>
          <p:cNvPr id="30" name="Shape 28"/>
          <p:cNvSpPr/>
          <p:nvPr/>
        </p:nvSpPr>
        <p:spPr>
          <a:xfrm>
            <a:off x="5411942" y="2029968"/>
            <a:ext cx="146304" cy="146304"/>
          </a:xfrm>
          <a:prstGeom prst="ellipse">
            <a:avLst/>
          </a:prstGeom>
          <a:solidFill>
            <a:srgbClr val="0D7877"/>
          </a:solidFill>
          <a:ln w="9525">
            <a:solidFill>
              <a:srgbClr val="0D7877"/>
            </a:solidFill>
            <a:prstDash val="solid"/>
          </a:ln>
        </p:spPr>
      </p:sp>
      <p:sp>
        <p:nvSpPr>
          <p:cNvPr id="31" name="Shape 29"/>
          <p:cNvSpPr/>
          <p:nvPr/>
        </p:nvSpPr>
        <p:spPr>
          <a:xfrm flipV="1">
            <a:off x="5485094" y="2176272"/>
            <a:ext cx="91" cy="219456"/>
          </a:xfrm>
          <a:prstGeom prst="line">
            <a:avLst/>
          </a:prstGeom>
          <a:noFill/>
          <a:ln w="12700">
            <a:solidFill>
              <a:srgbClr val="0D7877"/>
            </a:solidFill>
            <a:prstDash val="solid"/>
          </a:ln>
        </p:spPr>
      </p:sp>
      <p:sp>
        <p:nvSpPr>
          <p:cNvPr id="32" name="Text 30"/>
          <p:cNvSpPr/>
          <p:nvPr/>
        </p:nvSpPr>
        <p:spPr>
          <a:xfrm>
            <a:off x="4479254" y="2414016"/>
            <a:ext cx="2011680" cy="365760"/>
          </a:xfrm>
          <a:prstGeom prst="rect">
            <a:avLst/>
          </a:prstGeom>
          <a:noFill/>
          <a:ln/>
        </p:spPr>
        <p:txBody>
          <a:bodyPr wrap="square" lIns="0" tIns="0" rIns="0" bIns="0" rtlCol="0" anchor="t"/>
          <a:lstStyle/>
          <a:p>
            <a:pPr algn="ctr" indent="0" marL="0">
              <a:buNone/>
            </a:pPr>
            <a:r>
              <a:rPr lang="en-US" sz="1000" b="1" dirty="0">
                <a:solidFill>
                  <a:srgbClr val="0D7877"/>
                </a:solidFill>
                <a:latin typeface="Calibri" pitchFamily="34" charset="0"/>
                <a:ea typeface="Calibri" pitchFamily="34" charset="-122"/>
                <a:cs typeface="Calibri" pitchFamily="34" charset="-120"/>
              </a:rPr>
              <a:t>1831</a:t>
            </a:r>
            <a:r>
              <a:rPr lang="en-US" sz="1000" dirty="0">
                <a:solidFill>
                  <a:srgbClr val="0D7877"/>
                </a:solidFill>
                <a:latin typeface="Calibri" pitchFamily="34" charset="0"/>
                <a:ea typeface="Calibri" pitchFamily="34" charset="-122"/>
                <a:cs typeface="Calibri" pitchFamily="34" charset="-120"/>
              </a:rPr>
              <a:t> Beagle voyage begins (to 1836)</a:t>
            </a:r>
            <a:endParaRPr lang="en-US" sz="1000" dirty="0"/>
          </a:p>
        </p:txBody>
      </p:sp>
      <p:sp>
        <p:nvSpPr>
          <p:cNvPr id="33" name="Shape 31"/>
          <p:cNvSpPr/>
          <p:nvPr/>
        </p:nvSpPr>
        <p:spPr>
          <a:xfrm>
            <a:off x="6007608" y="2029968"/>
            <a:ext cx="146304" cy="146304"/>
          </a:xfrm>
          <a:prstGeom prst="ellipse">
            <a:avLst/>
          </a:prstGeom>
          <a:solidFill>
            <a:srgbClr val="0D7877"/>
          </a:solidFill>
          <a:ln w="9525">
            <a:solidFill>
              <a:srgbClr val="0D7877"/>
            </a:solidFill>
            <a:prstDash val="solid"/>
          </a:ln>
        </p:spPr>
      </p:sp>
      <p:sp>
        <p:nvSpPr>
          <p:cNvPr id="34" name="Shape 32"/>
          <p:cNvSpPr/>
          <p:nvPr/>
        </p:nvSpPr>
        <p:spPr>
          <a:xfrm>
            <a:off x="6080760" y="1719072"/>
            <a:ext cx="91" cy="310896"/>
          </a:xfrm>
          <a:prstGeom prst="line">
            <a:avLst/>
          </a:prstGeom>
          <a:noFill/>
          <a:ln w="12700">
            <a:solidFill>
              <a:srgbClr val="0D7877"/>
            </a:solidFill>
            <a:prstDash val="solid"/>
          </a:ln>
        </p:spPr>
      </p:sp>
      <p:sp>
        <p:nvSpPr>
          <p:cNvPr id="35" name="Text 33"/>
          <p:cNvSpPr/>
          <p:nvPr/>
        </p:nvSpPr>
        <p:spPr>
          <a:xfrm>
            <a:off x="5074920" y="1353312"/>
            <a:ext cx="2011680" cy="365760"/>
          </a:xfrm>
          <a:prstGeom prst="rect">
            <a:avLst/>
          </a:prstGeom>
          <a:noFill/>
          <a:ln/>
        </p:spPr>
        <p:txBody>
          <a:bodyPr wrap="square" lIns="0" tIns="0" rIns="0" bIns="0" rtlCol="0" anchor="b"/>
          <a:lstStyle/>
          <a:p>
            <a:pPr algn="ctr" indent="0" marL="0">
              <a:buNone/>
            </a:pPr>
            <a:r>
              <a:rPr lang="en-US" sz="1000" b="1" dirty="0">
                <a:solidFill>
                  <a:srgbClr val="0D7877"/>
                </a:solidFill>
                <a:latin typeface="Calibri" pitchFamily="34" charset="0"/>
                <a:ea typeface="Calibri" pitchFamily="34" charset="-122"/>
                <a:cs typeface="Calibri" pitchFamily="34" charset="-120"/>
              </a:rPr>
              <a:t>1835</a:t>
            </a:r>
            <a:r>
              <a:rPr lang="en-US" sz="1000" dirty="0">
                <a:solidFill>
                  <a:srgbClr val="0D7877"/>
                </a:solidFill>
                <a:latin typeface="Calibri" pitchFamily="34" charset="0"/>
                <a:ea typeface="Calibri" pitchFamily="34" charset="-122"/>
                <a:cs typeface="Calibri" pitchFamily="34" charset="-120"/>
              </a:rPr>
              <a:t> Galápagos finches and tortoises</a:t>
            </a:r>
            <a:endParaRPr lang="en-US" sz="1000" dirty="0"/>
          </a:p>
        </p:txBody>
      </p:sp>
      <p:sp>
        <p:nvSpPr>
          <p:cNvPr id="36" name="Shape 34"/>
          <p:cNvSpPr/>
          <p:nvPr/>
        </p:nvSpPr>
        <p:spPr>
          <a:xfrm>
            <a:off x="8837023" y="2029968"/>
            <a:ext cx="146304" cy="146304"/>
          </a:xfrm>
          <a:prstGeom prst="ellipse">
            <a:avLst/>
          </a:prstGeom>
          <a:solidFill>
            <a:srgbClr val="B8730A"/>
          </a:solidFill>
          <a:ln w="9525">
            <a:solidFill>
              <a:srgbClr val="B8730A"/>
            </a:solidFill>
            <a:prstDash val="solid"/>
          </a:ln>
        </p:spPr>
      </p:sp>
      <p:sp>
        <p:nvSpPr>
          <p:cNvPr id="37" name="Shape 35"/>
          <p:cNvSpPr/>
          <p:nvPr/>
        </p:nvSpPr>
        <p:spPr>
          <a:xfrm flipV="1">
            <a:off x="8910175" y="2176272"/>
            <a:ext cx="91" cy="219456"/>
          </a:xfrm>
          <a:prstGeom prst="line">
            <a:avLst/>
          </a:prstGeom>
          <a:noFill/>
          <a:ln w="12700">
            <a:solidFill>
              <a:srgbClr val="B8730A"/>
            </a:solidFill>
            <a:prstDash val="solid"/>
          </a:ln>
        </p:spPr>
      </p:sp>
      <p:sp>
        <p:nvSpPr>
          <p:cNvPr id="38" name="Text 36"/>
          <p:cNvSpPr/>
          <p:nvPr/>
        </p:nvSpPr>
        <p:spPr>
          <a:xfrm>
            <a:off x="6944215" y="2414016"/>
            <a:ext cx="2011680" cy="365760"/>
          </a:xfrm>
          <a:prstGeom prst="rect">
            <a:avLst/>
          </a:prstGeom>
          <a:noFill/>
          <a:ln/>
        </p:spPr>
        <p:txBody>
          <a:bodyPr wrap="square" lIns="0" tIns="0" rIns="0" bIns="0" rtlCol="0" anchor="t"/>
          <a:lstStyle/>
          <a:p>
            <a:pPr algn="r" indent="0" marL="0">
              <a:buNone/>
            </a:pPr>
            <a:r>
              <a:rPr lang="en-US" sz="1000" b="1" dirty="0">
                <a:solidFill>
                  <a:srgbClr val="B8730A"/>
                </a:solidFill>
                <a:latin typeface="Calibri" pitchFamily="34" charset="0"/>
                <a:ea typeface="Calibri" pitchFamily="34" charset="-122"/>
                <a:cs typeface="Calibri" pitchFamily="34" charset="-120"/>
              </a:rPr>
              <a:t>1854</a:t>
            </a:r>
            <a:r>
              <a:rPr lang="en-US" sz="1000" dirty="0">
                <a:solidFill>
                  <a:srgbClr val="B8730A"/>
                </a:solidFill>
                <a:latin typeface="Calibri" pitchFamily="34" charset="0"/>
                <a:ea typeface="Calibri" pitchFamily="34" charset="-122"/>
                <a:cs typeface="Calibri" pitchFamily="34" charset="-120"/>
              </a:rPr>
              <a:t> Wallace in the Malay Archipelago</a:t>
            </a:r>
            <a:endParaRPr lang="en-US" sz="1000" dirty="0"/>
          </a:p>
        </p:txBody>
      </p:sp>
      <p:sp>
        <p:nvSpPr>
          <p:cNvPr id="39" name="Shape 37"/>
          <p:cNvSpPr/>
          <p:nvPr/>
        </p:nvSpPr>
        <p:spPr>
          <a:xfrm>
            <a:off x="9432689" y="2029968"/>
            <a:ext cx="146304" cy="146304"/>
          </a:xfrm>
          <a:prstGeom prst="ellipse">
            <a:avLst/>
          </a:prstGeom>
          <a:solidFill>
            <a:srgbClr val="B8730A"/>
          </a:solidFill>
          <a:ln w="9525">
            <a:solidFill>
              <a:srgbClr val="B8730A"/>
            </a:solidFill>
            <a:prstDash val="solid"/>
          </a:ln>
        </p:spPr>
      </p:sp>
      <p:sp>
        <p:nvSpPr>
          <p:cNvPr id="40" name="Shape 38"/>
          <p:cNvSpPr/>
          <p:nvPr/>
        </p:nvSpPr>
        <p:spPr>
          <a:xfrm>
            <a:off x="9505841" y="1719072"/>
            <a:ext cx="91" cy="310896"/>
          </a:xfrm>
          <a:prstGeom prst="line">
            <a:avLst/>
          </a:prstGeom>
          <a:noFill/>
          <a:ln w="12700">
            <a:solidFill>
              <a:srgbClr val="B8730A"/>
            </a:solidFill>
            <a:prstDash val="solid"/>
          </a:ln>
        </p:spPr>
      </p:sp>
      <p:sp>
        <p:nvSpPr>
          <p:cNvPr id="41" name="Text 39"/>
          <p:cNvSpPr/>
          <p:nvPr/>
        </p:nvSpPr>
        <p:spPr>
          <a:xfrm>
            <a:off x="8500001" y="1353312"/>
            <a:ext cx="2011680" cy="365760"/>
          </a:xfrm>
          <a:prstGeom prst="rect">
            <a:avLst/>
          </a:prstGeom>
          <a:noFill/>
          <a:ln/>
        </p:spPr>
        <p:txBody>
          <a:bodyPr wrap="square" lIns="0" tIns="0" rIns="0" bIns="0" rtlCol="0" anchor="b"/>
          <a:lstStyle/>
          <a:p>
            <a:pPr algn="ctr" indent="0" marL="0">
              <a:buNone/>
            </a:pPr>
            <a:r>
              <a:rPr lang="en-US" sz="1000" b="1" dirty="0">
                <a:solidFill>
                  <a:srgbClr val="B8730A"/>
                </a:solidFill>
                <a:latin typeface="Calibri" pitchFamily="34" charset="0"/>
                <a:ea typeface="Calibri" pitchFamily="34" charset="-122"/>
                <a:cs typeface="Calibri" pitchFamily="34" charset="-120"/>
              </a:rPr>
              <a:t>1858</a:t>
            </a:r>
            <a:r>
              <a:rPr lang="en-US" sz="1000" dirty="0">
                <a:solidFill>
                  <a:srgbClr val="B8730A"/>
                </a:solidFill>
                <a:latin typeface="Calibri" pitchFamily="34" charset="0"/>
                <a:ea typeface="Calibri" pitchFamily="34" charset="-122"/>
                <a:cs typeface="Calibri" pitchFamily="34" charset="-120"/>
              </a:rPr>
              <a:t> Wallace's letter; joint paper read</a:t>
            </a:r>
            <a:endParaRPr lang="en-US" sz="1000" dirty="0"/>
          </a:p>
        </p:txBody>
      </p:sp>
      <p:sp>
        <p:nvSpPr>
          <p:cNvPr id="42" name="Shape 40"/>
          <p:cNvSpPr/>
          <p:nvPr/>
        </p:nvSpPr>
        <p:spPr>
          <a:xfrm>
            <a:off x="9581606" y="2029968"/>
            <a:ext cx="146304" cy="146304"/>
          </a:xfrm>
          <a:prstGeom prst="ellipse">
            <a:avLst/>
          </a:prstGeom>
          <a:solidFill>
            <a:srgbClr val="C8414C"/>
          </a:solidFill>
          <a:ln w="9525">
            <a:solidFill>
              <a:srgbClr val="C8414C"/>
            </a:solidFill>
            <a:prstDash val="solid"/>
          </a:ln>
        </p:spPr>
      </p:sp>
      <p:sp>
        <p:nvSpPr>
          <p:cNvPr id="43" name="Shape 41"/>
          <p:cNvSpPr/>
          <p:nvPr/>
        </p:nvSpPr>
        <p:spPr>
          <a:xfrm flipV="1">
            <a:off x="9654758" y="2176272"/>
            <a:ext cx="91" cy="219456"/>
          </a:xfrm>
          <a:prstGeom prst="line">
            <a:avLst/>
          </a:prstGeom>
          <a:noFill/>
          <a:ln w="12700">
            <a:solidFill>
              <a:srgbClr val="C8414C"/>
            </a:solidFill>
            <a:prstDash val="solid"/>
          </a:ln>
        </p:spPr>
      </p:sp>
      <p:sp>
        <p:nvSpPr>
          <p:cNvPr id="44" name="Text 42"/>
          <p:cNvSpPr/>
          <p:nvPr/>
        </p:nvSpPr>
        <p:spPr>
          <a:xfrm>
            <a:off x="9609038" y="2414016"/>
            <a:ext cx="2011680" cy="365760"/>
          </a:xfrm>
          <a:prstGeom prst="rect">
            <a:avLst/>
          </a:prstGeom>
          <a:noFill/>
          <a:ln/>
        </p:spPr>
        <p:txBody>
          <a:bodyPr wrap="square" lIns="0" tIns="0" rIns="0" bIns="0" rtlCol="0" anchor="t"/>
          <a:lstStyle/>
          <a:p>
            <a:pPr algn="l" indent="0" marL="0">
              <a:buNone/>
            </a:pPr>
            <a:r>
              <a:rPr lang="en-US" sz="1000" b="1" dirty="0">
                <a:solidFill>
                  <a:srgbClr val="C8414C"/>
                </a:solidFill>
                <a:latin typeface="Calibri" pitchFamily="34" charset="0"/>
                <a:ea typeface="Calibri" pitchFamily="34" charset="-122"/>
                <a:cs typeface="Calibri" pitchFamily="34" charset="-120"/>
              </a:rPr>
              <a:t>1859</a:t>
            </a:r>
            <a:r>
              <a:rPr lang="en-US" sz="1000" dirty="0">
                <a:solidFill>
                  <a:srgbClr val="C8414C"/>
                </a:solidFill>
                <a:latin typeface="Calibri" pitchFamily="34" charset="0"/>
                <a:ea typeface="Calibri" pitchFamily="34" charset="-122"/>
                <a:cs typeface="Calibri" pitchFamily="34" charset="-120"/>
              </a:rPr>
              <a:t> On the Origin of Species</a:t>
            </a:r>
            <a:endParaRPr lang="en-US" sz="1000" dirty="0"/>
          </a:p>
        </p:txBody>
      </p:sp>
      <p:sp>
        <p:nvSpPr>
          <p:cNvPr id="45" name="Shape 43"/>
          <p:cNvSpPr/>
          <p:nvPr/>
        </p:nvSpPr>
        <p:spPr>
          <a:xfrm>
            <a:off x="411480" y="3291840"/>
            <a:ext cx="3703320" cy="2423160"/>
          </a:xfrm>
          <a:prstGeom prst="roundRect">
            <a:avLst>
              <a:gd name="adj" fmla="val 2264"/>
            </a:avLst>
          </a:prstGeom>
          <a:solidFill>
            <a:srgbClr val="F4FAF9"/>
          </a:solidFill>
          <a:ln w="9525">
            <a:solidFill>
              <a:srgbClr val="CFE0DE"/>
            </a:solidFill>
            <a:prstDash val="solid"/>
          </a:ln>
        </p:spPr>
      </p:sp>
      <p:sp>
        <p:nvSpPr>
          <p:cNvPr id="46" name="Text 44"/>
          <p:cNvSpPr/>
          <p:nvPr/>
        </p:nvSpPr>
        <p:spPr>
          <a:xfrm>
            <a:off x="576072" y="338328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Charles Darwin</a:t>
            </a:r>
            <a:endParaRPr lang="en-US" sz="1300" dirty="0"/>
          </a:p>
        </p:txBody>
      </p:sp>
      <p:sp>
        <p:nvSpPr>
          <p:cNvPr id="47" name="Text 45"/>
          <p:cNvSpPr/>
          <p:nvPr/>
        </p:nvSpPr>
        <p:spPr>
          <a:xfrm>
            <a:off x="576072" y="3712464"/>
            <a:ext cx="3374136" cy="192938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Voyage on the </a:t>
            </a:r>
            <a:r>
              <a:rPr lang="en-US" sz="1050" b="1" dirty="0">
                <a:solidFill>
                  <a:srgbClr val="262B3A"/>
                </a:solidFill>
                <a:latin typeface="Calibri" pitchFamily="34" charset="0"/>
                <a:ea typeface="Calibri" pitchFamily="34" charset="-122"/>
                <a:cs typeface="Calibri" pitchFamily="34" charset="-120"/>
              </a:rPr>
              <a:t>Beagle</a:t>
            </a:r>
            <a:r>
              <a:rPr lang="en-US" sz="1050" dirty="0">
                <a:solidFill>
                  <a:srgbClr val="262B3A"/>
                </a:solidFill>
                <a:latin typeface="Calibri" pitchFamily="34" charset="0"/>
                <a:ea typeface="Calibri" pitchFamily="34" charset="-122"/>
                <a:cs typeface="Calibri" pitchFamily="34" charset="-120"/>
              </a:rPr>
              <a:t>: collected fossils, plants and animals; noticed </a:t>
            </a:r>
            <a:r>
              <a:rPr lang="en-US" sz="1050" b="1" dirty="0">
                <a:solidFill>
                  <a:srgbClr val="262B3A"/>
                </a:solidFill>
                <a:latin typeface="Calibri" pitchFamily="34" charset="0"/>
                <a:ea typeface="Calibri" pitchFamily="34" charset="-122"/>
                <a:cs typeface="Calibri" pitchFamily="34" charset="-120"/>
              </a:rPr>
              <a:t>finches</a:t>
            </a:r>
            <a:r>
              <a:rPr lang="en-US" sz="1050" dirty="0">
                <a:solidFill>
                  <a:srgbClr val="262B3A"/>
                </a:solidFill>
                <a:latin typeface="Calibri" pitchFamily="34" charset="0"/>
                <a:ea typeface="Calibri" pitchFamily="34" charset="-122"/>
                <a:cs typeface="Calibri" pitchFamily="34" charset="-120"/>
              </a:rPr>
              <a:t> on the Galápagos differed from island to island.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Used </a:t>
            </a:r>
            <a:r>
              <a:rPr lang="en-US" sz="1050" b="1" dirty="0">
                <a:solidFill>
                  <a:srgbClr val="262B3A"/>
                </a:solidFill>
                <a:latin typeface="Calibri" pitchFamily="34" charset="0"/>
                <a:ea typeface="Calibri" pitchFamily="34" charset="-122"/>
                <a:cs typeface="Calibri" pitchFamily="34" charset="-120"/>
              </a:rPr>
              <a:t>selective breeding</a:t>
            </a:r>
            <a:r>
              <a:rPr lang="en-US" sz="1050" dirty="0">
                <a:solidFill>
                  <a:srgbClr val="262B3A"/>
                </a:solidFill>
                <a:latin typeface="Calibri" pitchFamily="34" charset="0"/>
                <a:ea typeface="Calibri" pitchFamily="34" charset="-122"/>
                <a:cs typeface="Calibri" pitchFamily="34" charset="-120"/>
              </a:rPr>
              <a:t> (pigeons) as a model for selection.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Spent ~20 years gathering </a:t>
            </a:r>
            <a:r>
              <a:rPr lang="en-US" sz="1050" b="1" dirty="0">
                <a:solidFill>
                  <a:srgbClr val="262B3A"/>
                </a:solidFill>
                <a:latin typeface="Calibri" pitchFamily="34" charset="0"/>
                <a:ea typeface="Calibri" pitchFamily="34" charset="-122"/>
                <a:cs typeface="Calibri" pitchFamily="34" charset="-120"/>
              </a:rPr>
              <a:t>evidence</a:t>
            </a:r>
            <a:r>
              <a:rPr lang="en-US" sz="1050" dirty="0">
                <a:solidFill>
                  <a:srgbClr val="262B3A"/>
                </a:solidFill>
                <a:latin typeface="Calibri" pitchFamily="34" charset="0"/>
                <a:ea typeface="Calibri" pitchFamily="34" charset="-122"/>
                <a:cs typeface="Calibri" pitchFamily="34" charset="-120"/>
              </a:rPr>
              <a:t> before publishing.</a:t>
            </a:r>
            <a:endParaRPr lang="en-US" sz="1050" dirty="0"/>
          </a:p>
        </p:txBody>
      </p:sp>
      <p:sp>
        <p:nvSpPr>
          <p:cNvPr id="48" name="Shape 46"/>
          <p:cNvSpPr/>
          <p:nvPr/>
        </p:nvSpPr>
        <p:spPr>
          <a:xfrm>
            <a:off x="4242816" y="3291840"/>
            <a:ext cx="3703320" cy="2423160"/>
          </a:xfrm>
          <a:prstGeom prst="roundRect">
            <a:avLst>
              <a:gd name="adj" fmla="val 2264"/>
            </a:avLst>
          </a:prstGeom>
          <a:solidFill>
            <a:srgbClr val="F4FAF9"/>
          </a:solidFill>
          <a:ln w="9525">
            <a:solidFill>
              <a:srgbClr val="CFE0DE"/>
            </a:solidFill>
            <a:prstDash val="solid"/>
          </a:ln>
        </p:spPr>
      </p:sp>
      <p:sp>
        <p:nvSpPr>
          <p:cNvPr id="49" name="Text 47"/>
          <p:cNvSpPr/>
          <p:nvPr/>
        </p:nvSpPr>
        <p:spPr>
          <a:xfrm>
            <a:off x="4407408" y="338328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Alfred Russel Wallace</a:t>
            </a:r>
            <a:endParaRPr lang="en-US" sz="1300" dirty="0"/>
          </a:p>
        </p:txBody>
      </p:sp>
      <p:sp>
        <p:nvSpPr>
          <p:cNvPr id="50" name="Text 48"/>
          <p:cNvSpPr/>
          <p:nvPr/>
        </p:nvSpPr>
        <p:spPr>
          <a:xfrm>
            <a:off x="4407408" y="3712464"/>
            <a:ext cx="3374136" cy="192938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Collected thousands of species in South America and SE Asia.</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Independently</a:t>
            </a:r>
            <a:r>
              <a:rPr lang="en-US" sz="1050" dirty="0">
                <a:solidFill>
                  <a:srgbClr val="262B3A"/>
                </a:solidFill>
                <a:latin typeface="Calibri" pitchFamily="34" charset="0"/>
                <a:ea typeface="Calibri" pitchFamily="34" charset="-122"/>
                <a:cs typeface="Calibri" pitchFamily="34" charset="-120"/>
              </a:rPr>
              <a:t> reached the same idea of natural selection; sent Darwin his essay in </a:t>
            </a:r>
            <a:r>
              <a:rPr lang="en-US" sz="1050" b="1" dirty="0">
                <a:solidFill>
                  <a:srgbClr val="262B3A"/>
                </a:solidFill>
                <a:latin typeface="Calibri" pitchFamily="34" charset="0"/>
                <a:ea typeface="Calibri" pitchFamily="34" charset="-122"/>
                <a:cs typeface="Calibri" pitchFamily="34" charset="-120"/>
              </a:rPr>
              <a:t>1858</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Their ideas were </a:t>
            </a:r>
            <a:r>
              <a:rPr lang="en-US" sz="1050" b="1" dirty="0">
                <a:solidFill>
                  <a:srgbClr val="262B3A"/>
                </a:solidFill>
                <a:latin typeface="Calibri" pitchFamily="34" charset="0"/>
                <a:ea typeface="Calibri" pitchFamily="34" charset="-122"/>
                <a:cs typeface="Calibri" pitchFamily="34" charset="-120"/>
              </a:rPr>
              <a:t>presented together</a:t>
            </a:r>
            <a:r>
              <a:rPr lang="en-US" sz="1050" dirty="0">
                <a:solidFill>
                  <a:srgbClr val="262B3A"/>
                </a:solidFill>
                <a:latin typeface="Calibri" pitchFamily="34" charset="0"/>
                <a:ea typeface="Calibri" pitchFamily="34" charset="-122"/>
                <a:cs typeface="Calibri" pitchFamily="34" charset="-120"/>
              </a:rPr>
              <a:t> in 1858; Darwin published the next year.</a:t>
            </a:r>
            <a:endParaRPr lang="en-US" sz="1050" dirty="0"/>
          </a:p>
        </p:txBody>
      </p:sp>
      <p:sp>
        <p:nvSpPr>
          <p:cNvPr id="51" name="Shape 49"/>
          <p:cNvSpPr/>
          <p:nvPr/>
        </p:nvSpPr>
        <p:spPr>
          <a:xfrm>
            <a:off x="8074152" y="3291840"/>
            <a:ext cx="3703320" cy="2423160"/>
          </a:xfrm>
          <a:prstGeom prst="roundRect">
            <a:avLst>
              <a:gd name="adj" fmla="val 2264"/>
            </a:avLst>
          </a:prstGeom>
          <a:solidFill>
            <a:srgbClr val="FFF4E0"/>
          </a:solidFill>
          <a:ln w="9525">
            <a:solidFill>
              <a:srgbClr val="F1D9A8"/>
            </a:solidFill>
            <a:prstDash val="solid"/>
          </a:ln>
        </p:spPr>
      </p:sp>
      <p:sp>
        <p:nvSpPr>
          <p:cNvPr id="52" name="Text 50"/>
          <p:cNvSpPr/>
          <p:nvPr/>
        </p:nvSpPr>
        <p:spPr>
          <a:xfrm>
            <a:off x="8238744" y="3364992"/>
            <a:ext cx="3374136"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the timeline</a:t>
            </a:r>
            <a:endParaRPr lang="en-US" sz="1300" dirty="0"/>
          </a:p>
        </p:txBody>
      </p:sp>
      <p:sp>
        <p:nvSpPr>
          <p:cNvPr id="53" name="Text 51"/>
          <p:cNvSpPr/>
          <p:nvPr/>
        </p:nvSpPr>
        <p:spPr>
          <a:xfrm>
            <a:off x="8238744" y="3675888"/>
            <a:ext cx="3374136" cy="19659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How long after returning from the voyage did Darwin publish?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Subtract   </a:t>
            </a:r>
            <a:r>
              <a:rPr lang="en-US" sz="1050" dirty="0">
                <a:solidFill>
                  <a:srgbClr val="262B3A"/>
                </a:solidFill>
                <a:latin typeface="Calibri" pitchFamily="34" charset="0"/>
                <a:ea typeface="Calibri" pitchFamily="34" charset="-122"/>
                <a:cs typeface="Calibri" pitchFamily="34" charset="-120"/>
              </a:rPr>
              <a:t>1859 − 1836</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23 years</a:t>
            </a:r>
            <a:r>
              <a:rPr lang="en-US" sz="1050" b="1" dirty="0">
                <a:solidFill>
                  <a:srgbClr val="C8414C"/>
                </a:solidFill>
                <a:latin typeface="Calibri" pitchFamily="34" charset="0"/>
                <a:ea typeface="Calibri" pitchFamily="34" charset="-122"/>
                <a:cs typeface="Calibri" pitchFamily="34" charset="-120"/>
              </a:rPr>
              <a:t>: he kept collecting evidence</a:t>
            </a:r>
            <a:endParaRPr lang="en-US" sz="105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was it important that Wallace reached the </a:t>
            </a:r>
            <a:r>
              <a:rPr lang="en-US" sz="1150" b="1" dirty="0">
                <a:solidFill>
                  <a:srgbClr val="262B3A"/>
                </a:solidFill>
                <a:latin typeface="Calibri" pitchFamily="34" charset="0"/>
                <a:ea typeface="Calibri" pitchFamily="34" charset="-122"/>
                <a:cs typeface="Calibri" pitchFamily="34" charset="-120"/>
              </a:rPr>
              <a:t>same</a:t>
            </a:r>
            <a:r>
              <a:rPr lang="en-US" sz="1150" dirty="0">
                <a:solidFill>
                  <a:srgbClr val="262B3A"/>
                </a:solidFill>
                <a:latin typeface="Calibri" pitchFamily="34" charset="0"/>
                <a:ea typeface="Calibri" pitchFamily="34" charset="-122"/>
                <a:cs typeface="Calibri" pitchFamily="34" charset="-120"/>
              </a:rPr>
              <a:t> idea </a:t>
            </a:r>
            <a:r>
              <a:rPr lang="en-US" sz="1150" b="1" dirty="0">
                <a:solidFill>
                  <a:srgbClr val="262B3A"/>
                </a:solidFill>
                <a:latin typeface="Calibri" pitchFamily="34" charset="0"/>
                <a:ea typeface="Calibri" pitchFamily="34" charset="-122"/>
                <a:cs typeface="Calibri" pitchFamily="34" charset="-120"/>
              </a:rPr>
              <a:t>independently</a:t>
            </a:r>
            <a:r>
              <a:rPr lang="en-US" sz="1150" dirty="0">
                <a:solidFill>
                  <a:srgbClr val="262B3A"/>
                </a:solidFill>
                <a:latin typeface="Calibri" pitchFamily="34" charset="0"/>
                <a:ea typeface="Calibri" pitchFamily="34" charset="-122"/>
                <a:cs typeface="Calibri" pitchFamily="34" charset="-120"/>
              </a:rPr>
              <a:t>? How many years were there between Lamarck's theory and the Origin?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How theories develop: Lamarck vs Darwin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B6.1.8 • Ideas about Science: how explanations are tested and accepted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B6.1.8  |  20</a:t>
            </a:r>
            <a:endParaRPr lang="en-US" sz="1000" dirty="0"/>
          </a:p>
        </p:txBody>
      </p:sp>
      <p:sp>
        <p:nvSpPr>
          <p:cNvPr id="8" name="Shape 6"/>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explanations of why giraffes have long necks; not to scale</a:t>
            </a:r>
            <a:endParaRPr lang="en-US" sz="1000" dirty="0"/>
          </a:p>
        </p:txBody>
      </p:sp>
      <p:sp>
        <p:nvSpPr>
          <p:cNvPr id="10" name="Text 8"/>
          <p:cNvSpPr/>
          <p:nvPr/>
        </p:nvSpPr>
        <p:spPr>
          <a:xfrm>
            <a:off x="594360" y="1261872"/>
            <a:ext cx="5669280" cy="274320"/>
          </a:xfrm>
          <a:prstGeom prst="rect">
            <a:avLst/>
          </a:prstGeom>
          <a:noFill/>
          <a:ln/>
        </p:spPr>
        <p:txBody>
          <a:bodyPr wrap="square" lIns="0" tIns="0" rIns="0" bIns="0" rtlCol="0" anchor="ctr"/>
          <a:lstStyle/>
          <a:p>
            <a:pPr algn="l" indent="0" marL="0">
              <a:buNone/>
            </a:pPr>
            <a:r>
              <a:rPr lang="en-US" sz="1100" b="1" dirty="0">
                <a:solidFill>
                  <a:srgbClr val="5A6275"/>
                </a:solidFill>
                <a:latin typeface="Calibri" pitchFamily="34" charset="0"/>
                <a:ea typeface="Calibri" pitchFamily="34" charset="-122"/>
                <a:cs typeface="Calibri" pitchFamily="34" charset="-120"/>
              </a:rPr>
              <a:t>Lamarck (1809)</a:t>
            </a:r>
            <a:r>
              <a:rPr lang="en-US" sz="1100" dirty="0">
                <a:solidFill>
                  <a:srgbClr val="5A6275"/>
                </a:solidFill>
                <a:latin typeface="Calibri" pitchFamily="34" charset="0"/>
                <a:ea typeface="Calibri" pitchFamily="34" charset="-122"/>
                <a:cs typeface="Calibri" pitchFamily="34" charset="-120"/>
              </a:rPr>
              <a:t>: changes during life are passed on</a:t>
            </a:r>
            <a:endParaRPr lang="en-US" sz="1100" dirty="0"/>
          </a:p>
        </p:txBody>
      </p:sp>
      <p:sp>
        <p:nvSpPr>
          <p:cNvPr id="11" name="Shape 9"/>
          <p:cNvSpPr/>
          <p:nvPr/>
        </p:nvSpPr>
        <p:spPr>
          <a:xfrm>
            <a:off x="786384" y="1737360"/>
            <a:ext cx="73152" cy="1417320"/>
          </a:xfrm>
          <a:prstGeom prst="rect">
            <a:avLst/>
          </a:prstGeom>
          <a:solidFill>
            <a:srgbClr val="8A6A3A"/>
          </a:solidFill>
          <a:ln w="6350">
            <a:solidFill>
              <a:srgbClr val="6B4F2A"/>
            </a:solidFill>
            <a:prstDash val="solid"/>
          </a:ln>
        </p:spPr>
      </p:sp>
      <p:sp>
        <p:nvSpPr>
          <p:cNvPr id="12" name="Shape 10"/>
          <p:cNvSpPr/>
          <p:nvPr/>
        </p:nvSpPr>
        <p:spPr>
          <a:xfrm>
            <a:off x="548640" y="1591056"/>
            <a:ext cx="548640" cy="292608"/>
          </a:xfrm>
          <a:prstGeom prst="ellipse">
            <a:avLst/>
          </a:prstGeom>
          <a:solidFill>
            <a:srgbClr val="6FAE5C"/>
          </a:solidFill>
          <a:ln w="9525">
            <a:solidFill>
              <a:srgbClr val="3E7F2E"/>
            </a:solidFill>
            <a:prstDash val="solid"/>
          </a:ln>
        </p:spPr>
      </p:sp>
      <p:sp>
        <p:nvSpPr>
          <p:cNvPr id="13" name="Shape 11"/>
          <p:cNvSpPr/>
          <p:nvPr/>
        </p:nvSpPr>
        <p:spPr>
          <a:xfrm>
            <a:off x="1418463" y="2852928"/>
            <a:ext cx="34290" cy="301752"/>
          </a:xfrm>
          <a:prstGeom prst="rect">
            <a:avLst/>
          </a:prstGeom>
          <a:solidFill>
            <a:srgbClr val="E3B35A"/>
          </a:solidFill>
          <a:ln w="9525">
            <a:solidFill>
              <a:srgbClr val="9A6B1F"/>
            </a:solidFill>
            <a:prstDash val="solid"/>
          </a:ln>
        </p:spPr>
      </p:sp>
      <p:sp>
        <p:nvSpPr>
          <p:cNvPr id="14" name="Shape 12"/>
          <p:cNvSpPr/>
          <p:nvPr/>
        </p:nvSpPr>
        <p:spPr>
          <a:xfrm>
            <a:off x="1487043" y="2852928"/>
            <a:ext cx="34290" cy="301752"/>
          </a:xfrm>
          <a:prstGeom prst="rect">
            <a:avLst/>
          </a:prstGeom>
          <a:solidFill>
            <a:srgbClr val="E3B35A"/>
          </a:solidFill>
          <a:ln w="9525">
            <a:solidFill>
              <a:srgbClr val="9A6B1F"/>
            </a:solidFill>
            <a:prstDash val="solid"/>
          </a:ln>
        </p:spPr>
      </p:sp>
      <p:sp>
        <p:nvSpPr>
          <p:cNvPr id="15" name="Shape 13"/>
          <p:cNvSpPr/>
          <p:nvPr/>
        </p:nvSpPr>
        <p:spPr>
          <a:xfrm>
            <a:off x="1665351" y="2852928"/>
            <a:ext cx="34290" cy="301752"/>
          </a:xfrm>
          <a:prstGeom prst="rect">
            <a:avLst/>
          </a:prstGeom>
          <a:solidFill>
            <a:srgbClr val="E3B35A"/>
          </a:solidFill>
          <a:ln w="9525">
            <a:solidFill>
              <a:srgbClr val="9A6B1F"/>
            </a:solidFill>
            <a:prstDash val="solid"/>
          </a:ln>
        </p:spPr>
      </p:sp>
      <p:sp>
        <p:nvSpPr>
          <p:cNvPr id="16" name="Shape 14"/>
          <p:cNvSpPr/>
          <p:nvPr/>
        </p:nvSpPr>
        <p:spPr>
          <a:xfrm>
            <a:off x="1733931" y="2852928"/>
            <a:ext cx="34290" cy="301752"/>
          </a:xfrm>
          <a:prstGeom prst="rect">
            <a:avLst/>
          </a:prstGeom>
          <a:solidFill>
            <a:srgbClr val="E3B35A"/>
          </a:solidFill>
          <a:ln w="9525">
            <a:solidFill>
              <a:srgbClr val="9A6B1F"/>
            </a:solidFill>
            <a:prstDash val="solid"/>
          </a:ln>
        </p:spPr>
      </p:sp>
      <p:sp>
        <p:nvSpPr>
          <p:cNvPr id="17" name="Shape 15"/>
          <p:cNvSpPr/>
          <p:nvPr/>
        </p:nvSpPr>
        <p:spPr>
          <a:xfrm>
            <a:off x="1709928" y="2212848"/>
            <a:ext cx="75438" cy="502920"/>
          </a:xfrm>
          <a:prstGeom prst="rect">
            <a:avLst/>
          </a:prstGeom>
          <a:solidFill>
            <a:srgbClr val="E3B35A"/>
          </a:solidFill>
          <a:ln w="9525">
            <a:solidFill>
              <a:srgbClr val="9A6B1F"/>
            </a:solidFill>
            <a:prstDash val="solid"/>
          </a:ln>
        </p:spPr>
      </p:sp>
      <p:sp>
        <p:nvSpPr>
          <p:cNvPr id="18" name="Shape 16"/>
          <p:cNvSpPr/>
          <p:nvPr/>
        </p:nvSpPr>
        <p:spPr>
          <a:xfrm>
            <a:off x="1394460" y="2674620"/>
            <a:ext cx="411480" cy="192024"/>
          </a:xfrm>
          <a:prstGeom prst="roundRect">
            <a:avLst>
              <a:gd name="adj" fmla="val 35714"/>
            </a:avLst>
          </a:prstGeom>
          <a:solidFill>
            <a:srgbClr val="E3B35A"/>
          </a:solidFill>
          <a:ln w="9525">
            <a:solidFill>
              <a:srgbClr val="9A6B1F"/>
            </a:solidFill>
            <a:prstDash val="solid"/>
          </a:ln>
        </p:spPr>
      </p:sp>
      <p:sp>
        <p:nvSpPr>
          <p:cNvPr id="19" name="Shape 17"/>
          <p:cNvSpPr/>
          <p:nvPr/>
        </p:nvSpPr>
        <p:spPr>
          <a:xfrm>
            <a:off x="1716786" y="2171700"/>
            <a:ext cx="178308" cy="82296"/>
          </a:xfrm>
          <a:prstGeom prst="ellipse">
            <a:avLst/>
          </a:prstGeom>
          <a:solidFill>
            <a:srgbClr val="E3B35A"/>
          </a:solidFill>
          <a:ln w="9525">
            <a:solidFill>
              <a:srgbClr val="9A6B1F"/>
            </a:solidFill>
            <a:prstDash val="solid"/>
          </a:ln>
        </p:spPr>
      </p:sp>
      <p:sp>
        <p:nvSpPr>
          <p:cNvPr id="20" name="Shape 18"/>
          <p:cNvSpPr/>
          <p:nvPr/>
        </p:nvSpPr>
        <p:spPr>
          <a:xfrm flipH="1" flipV="1">
            <a:off x="1730502" y="2123694"/>
            <a:ext cx="6858" cy="61722"/>
          </a:xfrm>
          <a:prstGeom prst="line">
            <a:avLst/>
          </a:prstGeom>
          <a:noFill/>
          <a:ln w="15875">
            <a:solidFill>
              <a:srgbClr val="9A6B1F"/>
            </a:solidFill>
            <a:prstDash val="solid"/>
          </a:ln>
        </p:spPr>
      </p:sp>
      <p:sp>
        <p:nvSpPr>
          <p:cNvPr id="21" name="Shape 19"/>
          <p:cNvSpPr/>
          <p:nvPr/>
        </p:nvSpPr>
        <p:spPr>
          <a:xfrm>
            <a:off x="1497330" y="2708910"/>
            <a:ext cx="41148" cy="41148"/>
          </a:xfrm>
          <a:prstGeom prst="ellipse">
            <a:avLst/>
          </a:prstGeom>
          <a:solidFill>
            <a:srgbClr val="B5832F"/>
          </a:solidFill>
          <a:ln w="9525">
            <a:solidFill>
              <a:srgbClr val="B5832F"/>
            </a:solidFill>
            <a:prstDash val="solid"/>
          </a:ln>
        </p:spPr>
      </p:sp>
      <p:sp>
        <p:nvSpPr>
          <p:cNvPr id="22" name="Shape 20"/>
          <p:cNvSpPr/>
          <p:nvPr/>
        </p:nvSpPr>
        <p:spPr>
          <a:xfrm>
            <a:off x="1620774" y="2736342"/>
            <a:ext cx="41148" cy="41148"/>
          </a:xfrm>
          <a:prstGeom prst="ellipse">
            <a:avLst/>
          </a:prstGeom>
          <a:solidFill>
            <a:srgbClr val="B5832F"/>
          </a:solidFill>
          <a:ln w="9525">
            <a:solidFill>
              <a:srgbClr val="B5832F"/>
            </a:solidFill>
            <a:prstDash val="solid"/>
          </a:ln>
        </p:spPr>
      </p:sp>
      <p:sp>
        <p:nvSpPr>
          <p:cNvPr id="23" name="Shape 21"/>
          <p:cNvSpPr/>
          <p:nvPr/>
        </p:nvSpPr>
        <p:spPr>
          <a:xfrm>
            <a:off x="1703070" y="2695194"/>
            <a:ext cx="41148" cy="41148"/>
          </a:xfrm>
          <a:prstGeom prst="ellipse">
            <a:avLst/>
          </a:prstGeom>
          <a:solidFill>
            <a:srgbClr val="B5832F"/>
          </a:solidFill>
          <a:ln w="9525">
            <a:solidFill>
              <a:srgbClr val="B5832F"/>
            </a:solidFill>
            <a:prstDash val="solid"/>
          </a:ln>
        </p:spPr>
      </p:sp>
      <p:sp>
        <p:nvSpPr>
          <p:cNvPr id="24" name="Shape 22"/>
          <p:cNvSpPr/>
          <p:nvPr/>
        </p:nvSpPr>
        <p:spPr>
          <a:xfrm flipH="1">
            <a:off x="1312164" y="2715768"/>
            <a:ext cx="82296" cy="96012"/>
          </a:xfrm>
          <a:prstGeom prst="line">
            <a:avLst/>
          </a:prstGeom>
          <a:noFill/>
          <a:ln w="12700">
            <a:solidFill>
              <a:srgbClr val="9A6B1F"/>
            </a:solidFill>
            <a:prstDash val="solid"/>
          </a:ln>
        </p:spPr>
      </p:sp>
      <p:sp>
        <p:nvSpPr>
          <p:cNvPr id="25" name="Shape 23"/>
          <p:cNvSpPr/>
          <p:nvPr/>
        </p:nvSpPr>
        <p:spPr>
          <a:xfrm>
            <a:off x="2148840" y="2651760"/>
            <a:ext cx="365760" cy="91"/>
          </a:xfrm>
          <a:prstGeom prst="line">
            <a:avLst/>
          </a:prstGeom>
          <a:noFill/>
          <a:ln w="19050">
            <a:solidFill>
              <a:srgbClr val="133536"/>
            </a:solidFill>
            <a:prstDash val="solid"/>
            <a:tailEnd type="triangle"/>
          </a:ln>
        </p:spPr>
      </p:sp>
      <p:sp>
        <p:nvSpPr>
          <p:cNvPr id="26" name="Shape 24"/>
          <p:cNvSpPr/>
          <p:nvPr/>
        </p:nvSpPr>
        <p:spPr>
          <a:xfrm>
            <a:off x="2752344" y="1737360"/>
            <a:ext cx="73152" cy="1417320"/>
          </a:xfrm>
          <a:prstGeom prst="rect">
            <a:avLst/>
          </a:prstGeom>
          <a:solidFill>
            <a:srgbClr val="8A6A3A"/>
          </a:solidFill>
          <a:ln w="6350">
            <a:solidFill>
              <a:srgbClr val="6B4F2A"/>
            </a:solidFill>
            <a:prstDash val="solid"/>
          </a:ln>
        </p:spPr>
      </p:sp>
      <p:sp>
        <p:nvSpPr>
          <p:cNvPr id="27" name="Shape 25"/>
          <p:cNvSpPr/>
          <p:nvPr/>
        </p:nvSpPr>
        <p:spPr>
          <a:xfrm>
            <a:off x="2514600" y="1591056"/>
            <a:ext cx="548640" cy="292608"/>
          </a:xfrm>
          <a:prstGeom prst="ellipse">
            <a:avLst/>
          </a:prstGeom>
          <a:solidFill>
            <a:srgbClr val="6FAE5C"/>
          </a:solidFill>
          <a:ln w="9525">
            <a:solidFill>
              <a:srgbClr val="3E7F2E"/>
            </a:solidFill>
            <a:prstDash val="solid"/>
          </a:ln>
        </p:spPr>
      </p:sp>
      <p:sp>
        <p:nvSpPr>
          <p:cNvPr id="28" name="Shape 26"/>
          <p:cNvSpPr/>
          <p:nvPr/>
        </p:nvSpPr>
        <p:spPr>
          <a:xfrm>
            <a:off x="3338703" y="2852928"/>
            <a:ext cx="34290" cy="301752"/>
          </a:xfrm>
          <a:prstGeom prst="rect">
            <a:avLst/>
          </a:prstGeom>
          <a:solidFill>
            <a:srgbClr val="E3B35A"/>
          </a:solidFill>
          <a:ln w="9525">
            <a:solidFill>
              <a:srgbClr val="9A6B1F"/>
            </a:solidFill>
            <a:prstDash val="solid"/>
          </a:ln>
        </p:spPr>
      </p:sp>
      <p:sp>
        <p:nvSpPr>
          <p:cNvPr id="29" name="Shape 27"/>
          <p:cNvSpPr/>
          <p:nvPr/>
        </p:nvSpPr>
        <p:spPr>
          <a:xfrm>
            <a:off x="3407283" y="2852928"/>
            <a:ext cx="34290" cy="301752"/>
          </a:xfrm>
          <a:prstGeom prst="rect">
            <a:avLst/>
          </a:prstGeom>
          <a:solidFill>
            <a:srgbClr val="E3B35A"/>
          </a:solidFill>
          <a:ln w="9525">
            <a:solidFill>
              <a:srgbClr val="9A6B1F"/>
            </a:solidFill>
            <a:prstDash val="solid"/>
          </a:ln>
        </p:spPr>
      </p:sp>
      <p:sp>
        <p:nvSpPr>
          <p:cNvPr id="30" name="Shape 28"/>
          <p:cNvSpPr/>
          <p:nvPr/>
        </p:nvSpPr>
        <p:spPr>
          <a:xfrm>
            <a:off x="3585591" y="2852928"/>
            <a:ext cx="34290" cy="301752"/>
          </a:xfrm>
          <a:prstGeom prst="rect">
            <a:avLst/>
          </a:prstGeom>
          <a:solidFill>
            <a:srgbClr val="E3B35A"/>
          </a:solidFill>
          <a:ln w="9525">
            <a:solidFill>
              <a:srgbClr val="9A6B1F"/>
            </a:solidFill>
            <a:prstDash val="solid"/>
          </a:ln>
        </p:spPr>
      </p:sp>
      <p:sp>
        <p:nvSpPr>
          <p:cNvPr id="31" name="Shape 29"/>
          <p:cNvSpPr/>
          <p:nvPr/>
        </p:nvSpPr>
        <p:spPr>
          <a:xfrm>
            <a:off x="3654171" y="2852928"/>
            <a:ext cx="34290" cy="301752"/>
          </a:xfrm>
          <a:prstGeom prst="rect">
            <a:avLst/>
          </a:prstGeom>
          <a:solidFill>
            <a:srgbClr val="E3B35A"/>
          </a:solidFill>
          <a:ln w="9525">
            <a:solidFill>
              <a:srgbClr val="9A6B1F"/>
            </a:solidFill>
            <a:prstDash val="solid"/>
          </a:ln>
        </p:spPr>
      </p:sp>
      <p:sp>
        <p:nvSpPr>
          <p:cNvPr id="32" name="Shape 30"/>
          <p:cNvSpPr/>
          <p:nvPr/>
        </p:nvSpPr>
        <p:spPr>
          <a:xfrm>
            <a:off x="3630168" y="1847088"/>
            <a:ext cx="75438" cy="868680"/>
          </a:xfrm>
          <a:prstGeom prst="rect">
            <a:avLst/>
          </a:prstGeom>
          <a:solidFill>
            <a:srgbClr val="E3B35A"/>
          </a:solidFill>
          <a:ln w="9525">
            <a:solidFill>
              <a:srgbClr val="9A6B1F"/>
            </a:solidFill>
            <a:prstDash val="solid"/>
          </a:ln>
        </p:spPr>
      </p:sp>
      <p:sp>
        <p:nvSpPr>
          <p:cNvPr id="33" name="Shape 31"/>
          <p:cNvSpPr/>
          <p:nvPr/>
        </p:nvSpPr>
        <p:spPr>
          <a:xfrm>
            <a:off x="3314700" y="2674620"/>
            <a:ext cx="411480" cy="192024"/>
          </a:xfrm>
          <a:prstGeom prst="roundRect">
            <a:avLst>
              <a:gd name="adj" fmla="val 35714"/>
            </a:avLst>
          </a:prstGeom>
          <a:solidFill>
            <a:srgbClr val="E3B35A"/>
          </a:solidFill>
          <a:ln w="9525">
            <a:solidFill>
              <a:srgbClr val="9A6B1F"/>
            </a:solidFill>
            <a:prstDash val="solid"/>
          </a:ln>
        </p:spPr>
      </p:sp>
      <p:sp>
        <p:nvSpPr>
          <p:cNvPr id="34" name="Shape 32"/>
          <p:cNvSpPr/>
          <p:nvPr/>
        </p:nvSpPr>
        <p:spPr>
          <a:xfrm>
            <a:off x="3637026" y="1805940"/>
            <a:ext cx="178308" cy="82296"/>
          </a:xfrm>
          <a:prstGeom prst="ellipse">
            <a:avLst/>
          </a:prstGeom>
          <a:solidFill>
            <a:srgbClr val="E3B35A"/>
          </a:solidFill>
          <a:ln w="9525">
            <a:solidFill>
              <a:srgbClr val="9A6B1F"/>
            </a:solidFill>
            <a:prstDash val="solid"/>
          </a:ln>
        </p:spPr>
      </p:sp>
      <p:sp>
        <p:nvSpPr>
          <p:cNvPr id="35" name="Shape 33"/>
          <p:cNvSpPr/>
          <p:nvPr/>
        </p:nvSpPr>
        <p:spPr>
          <a:xfrm flipH="1" flipV="1">
            <a:off x="3650742" y="1757934"/>
            <a:ext cx="6858" cy="61722"/>
          </a:xfrm>
          <a:prstGeom prst="line">
            <a:avLst/>
          </a:prstGeom>
          <a:noFill/>
          <a:ln w="15875">
            <a:solidFill>
              <a:srgbClr val="9A6B1F"/>
            </a:solidFill>
            <a:prstDash val="solid"/>
          </a:ln>
        </p:spPr>
      </p:sp>
      <p:sp>
        <p:nvSpPr>
          <p:cNvPr id="36" name="Shape 34"/>
          <p:cNvSpPr/>
          <p:nvPr/>
        </p:nvSpPr>
        <p:spPr>
          <a:xfrm>
            <a:off x="3417570" y="2708910"/>
            <a:ext cx="41148" cy="41148"/>
          </a:xfrm>
          <a:prstGeom prst="ellipse">
            <a:avLst/>
          </a:prstGeom>
          <a:solidFill>
            <a:srgbClr val="B5832F"/>
          </a:solidFill>
          <a:ln w="9525">
            <a:solidFill>
              <a:srgbClr val="B5832F"/>
            </a:solidFill>
            <a:prstDash val="solid"/>
          </a:ln>
        </p:spPr>
      </p:sp>
      <p:sp>
        <p:nvSpPr>
          <p:cNvPr id="37" name="Shape 35"/>
          <p:cNvSpPr/>
          <p:nvPr/>
        </p:nvSpPr>
        <p:spPr>
          <a:xfrm>
            <a:off x="3541014" y="2736342"/>
            <a:ext cx="41148" cy="41148"/>
          </a:xfrm>
          <a:prstGeom prst="ellipse">
            <a:avLst/>
          </a:prstGeom>
          <a:solidFill>
            <a:srgbClr val="B5832F"/>
          </a:solidFill>
          <a:ln w="9525">
            <a:solidFill>
              <a:srgbClr val="B5832F"/>
            </a:solidFill>
            <a:prstDash val="solid"/>
          </a:ln>
        </p:spPr>
      </p:sp>
      <p:sp>
        <p:nvSpPr>
          <p:cNvPr id="38" name="Shape 36"/>
          <p:cNvSpPr/>
          <p:nvPr/>
        </p:nvSpPr>
        <p:spPr>
          <a:xfrm>
            <a:off x="3623310" y="2695194"/>
            <a:ext cx="41148" cy="41148"/>
          </a:xfrm>
          <a:prstGeom prst="ellipse">
            <a:avLst/>
          </a:prstGeom>
          <a:solidFill>
            <a:srgbClr val="B5832F"/>
          </a:solidFill>
          <a:ln w="9525">
            <a:solidFill>
              <a:srgbClr val="B5832F"/>
            </a:solidFill>
            <a:prstDash val="solid"/>
          </a:ln>
        </p:spPr>
      </p:sp>
      <p:sp>
        <p:nvSpPr>
          <p:cNvPr id="39" name="Shape 37"/>
          <p:cNvSpPr/>
          <p:nvPr/>
        </p:nvSpPr>
        <p:spPr>
          <a:xfrm flipH="1">
            <a:off x="3232404" y="2715768"/>
            <a:ext cx="82296" cy="96012"/>
          </a:xfrm>
          <a:prstGeom prst="line">
            <a:avLst/>
          </a:prstGeom>
          <a:noFill/>
          <a:ln w="12700">
            <a:solidFill>
              <a:srgbClr val="9A6B1F"/>
            </a:solidFill>
            <a:prstDash val="solid"/>
          </a:ln>
        </p:spPr>
      </p:sp>
      <p:sp>
        <p:nvSpPr>
          <p:cNvPr id="40" name="Shape 38"/>
          <p:cNvSpPr/>
          <p:nvPr/>
        </p:nvSpPr>
        <p:spPr>
          <a:xfrm>
            <a:off x="4069080" y="2651760"/>
            <a:ext cx="365760" cy="91"/>
          </a:xfrm>
          <a:prstGeom prst="line">
            <a:avLst/>
          </a:prstGeom>
          <a:noFill/>
          <a:ln w="19050">
            <a:solidFill>
              <a:srgbClr val="133536"/>
            </a:solidFill>
            <a:prstDash val="solid"/>
            <a:tailEnd type="triangle"/>
          </a:ln>
        </p:spPr>
      </p:sp>
      <p:sp>
        <p:nvSpPr>
          <p:cNvPr id="41" name="Shape 39"/>
          <p:cNvSpPr/>
          <p:nvPr/>
        </p:nvSpPr>
        <p:spPr>
          <a:xfrm>
            <a:off x="5076063" y="2852928"/>
            <a:ext cx="34290" cy="301752"/>
          </a:xfrm>
          <a:prstGeom prst="rect">
            <a:avLst/>
          </a:prstGeom>
          <a:solidFill>
            <a:srgbClr val="E3B35A"/>
          </a:solidFill>
          <a:ln w="9525">
            <a:solidFill>
              <a:srgbClr val="9A6B1F"/>
            </a:solidFill>
            <a:prstDash val="solid"/>
          </a:ln>
        </p:spPr>
      </p:sp>
      <p:sp>
        <p:nvSpPr>
          <p:cNvPr id="42" name="Shape 40"/>
          <p:cNvSpPr/>
          <p:nvPr/>
        </p:nvSpPr>
        <p:spPr>
          <a:xfrm>
            <a:off x="5144643" y="2852928"/>
            <a:ext cx="34290" cy="301752"/>
          </a:xfrm>
          <a:prstGeom prst="rect">
            <a:avLst/>
          </a:prstGeom>
          <a:solidFill>
            <a:srgbClr val="E3B35A"/>
          </a:solidFill>
          <a:ln w="9525">
            <a:solidFill>
              <a:srgbClr val="9A6B1F"/>
            </a:solidFill>
            <a:prstDash val="solid"/>
          </a:ln>
        </p:spPr>
      </p:sp>
      <p:sp>
        <p:nvSpPr>
          <p:cNvPr id="43" name="Shape 41"/>
          <p:cNvSpPr/>
          <p:nvPr/>
        </p:nvSpPr>
        <p:spPr>
          <a:xfrm>
            <a:off x="5322951" y="2852928"/>
            <a:ext cx="34290" cy="301752"/>
          </a:xfrm>
          <a:prstGeom prst="rect">
            <a:avLst/>
          </a:prstGeom>
          <a:solidFill>
            <a:srgbClr val="E3B35A"/>
          </a:solidFill>
          <a:ln w="9525">
            <a:solidFill>
              <a:srgbClr val="9A6B1F"/>
            </a:solidFill>
            <a:prstDash val="solid"/>
          </a:ln>
        </p:spPr>
      </p:sp>
      <p:sp>
        <p:nvSpPr>
          <p:cNvPr id="44" name="Shape 42"/>
          <p:cNvSpPr/>
          <p:nvPr/>
        </p:nvSpPr>
        <p:spPr>
          <a:xfrm>
            <a:off x="5391531" y="2852928"/>
            <a:ext cx="34290" cy="301752"/>
          </a:xfrm>
          <a:prstGeom prst="rect">
            <a:avLst/>
          </a:prstGeom>
          <a:solidFill>
            <a:srgbClr val="E3B35A"/>
          </a:solidFill>
          <a:ln w="9525">
            <a:solidFill>
              <a:srgbClr val="9A6B1F"/>
            </a:solidFill>
            <a:prstDash val="solid"/>
          </a:ln>
        </p:spPr>
      </p:sp>
      <p:sp>
        <p:nvSpPr>
          <p:cNvPr id="45" name="Shape 43"/>
          <p:cNvSpPr/>
          <p:nvPr/>
        </p:nvSpPr>
        <p:spPr>
          <a:xfrm>
            <a:off x="5367528" y="1847088"/>
            <a:ext cx="75438" cy="868680"/>
          </a:xfrm>
          <a:prstGeom prst="rect">
            <a:avLst/>
          </a:prstGeom>
          <a:solidFill>
            <a:srgbClr val="E3B35A"/>
          </a:solidFill>
          <a:ln w="9525">
            <a:solidFill>
              <a:srgbClr val="9A6B1F"/>
            </a:solidFill>
            <a:prstDash val="solid"/>
          </a:ln>
        </p:spPr>
      </p:sp>
      <p:sp>
        <p:nvSpPr>
          <p:cNvPr id="46" name="Shape 44"/>
          <p:cNvSpPr/>
          <p:nvPr/>
        </p:nvSpPr>
        <p:spPr>
          <a:xfrm>
            <a:off x="5052060" y="2674620"/>
            <a:ext cx="411480" cy="192024"/>
          </a:xfrm>
          <a:prstGeom prst="roundRect">
            <a:avLst>
              <a:gd name="adj" fmla="val 35714"/>
            </a:avLst>
          </a:prstGeom>
          <a:solidFill>
            <a:srgbClr val="E3B35A"/>
          </a:solidFill>
          <a:ln w="9525">
            <a:solidFill>
              <a:srgbClr val="9A6B1F"/>
            </a:solidFill>
            <a:prstDash val="solid"/>
          </a:ln>
        </p:spPr>
      </p:sp>
      <p:sp>
        <p:nvSpPr>
          <p:cNvPr id="47" name="Shape 45"/>
          <p:cNvSpPr/>
          <p:nvPr/>
        </p:nvSpPr>
        <p:spPr>
          <a:xfrm>
            <a:off x="5374386" y="1805940"/>
            <a:ext cx="178308" cy="82296"/>
          </a:xfrm>
          <a:prstGeom prst="ellipse">
            <a:avLst/>
          </a:prstGeom>
          <a:solidFill>
            <a:srgbClr val="E3B35A"/>
          </a:solidFill>
          <a:ln w="9525">
            <a:solidFill>
              <a:srgbClr val="9A6B1F"/>
            </a:solidFill>
            <a:prstDash val="solid"/>
          </a:ln>
        </p:spPr>
      </p:sp>
      <p:sp>
        <p:nvSpPr>
          <p:cNvPr id="48" name="Shape 46"/>
          <p:cNvSpPr/>
          <p:nvPr/>
        </p:nvSpPr>
        <p:spPr>
          <a:xfrm flipH="1" flipV="1">
            <a:off x="5388102" y="1757934"/>
            <a:ext cx="6858" cy="61722"/>
          </a:xfrm>
          <a:prstGeom prst="line">
            <a:avLst/>
          </a:prstGeom>
          <a:noFill/>
          <a:ln w="15875">
            <a:solidFill>
              <a:srgbClr val="9A6B1F"/>
            </a:solidFill>
            <a:prstDash val="solid"/>
          </a:ln>
        </p:spPr>
      </p:sp>
      <p:sp>
        <p:nvSpPr>
          <p:cNvPr id="49" name="Shape 47"/>
          <p:cNvSpPr/>
          <p:nvPr/>
        </p:nvSpPr>
        <p:spPr>
          <a:xfrm>
            <a:off x="5154930" y="2708910"/>
            <a:ext cx="41148" cy="41148"/>
          </a:xfrm>
          <a:prstGeom prst="ellipse">
            <a:avLst/>
          </a:prstGeom>
          <a:solidFill>
            <a:srgbClr val="B5832F"/>
          </a:solidFill>
          <a:ln w="9525">
            <a:solidFill>
              <a:srgbClr val="B5832F"/>
            </a:solidFill>
            <a:prstDash val="solid"/>
          </a:ln>
        </p:spPr>
      </p:sp>
      <p:sp>
        <p:nvSpPr>
          <p:cNvPr id="50" name="Shape 48"/>
          <p:cNvSpPr/>
          <p:nvPr/>
        </p:nvSpPr>
        <p:spPr>
          <a:xfrm>
            <a:off x="5278374" y="2736342"/>
            <a:ext cx="41148" cy="41148"/>
          </a:xfrm>
          <a:prstGeom prst="ellipse">
            <a:avLst/>
          </a:prstGeom>
          <a:solidFill>
            <a:srgbClr val="B5832F"/>
          </a:solidFill>
          <a:ln w="9525">
            <a:solidFill>
              <a:srgbClr val="B5832F"/>
            </a:solidFill>
            <a:prstDash val="solid"/>
          </a:ln>
        </p:spPr>
      </p:sp>
      <p:sp>
        <p:nvSpPr>
          <p:cNvPr id="51" name="Shape 49"/>
          <p:cNvSpPr/>
          <p:nvPr/>
        </p:nvSpPr>
        <p:spPr>
          <a:xfrm>
            <a:off x="5360670" y="2695194"/>
            <a:ext cx="41148" cy="41148"/>
          </a:xfrm>
          <a:prstGeom prst="ellipse">
            <a:avLst/>
          </a:prstGeom>
          <a:solidFill>
            <a:srgbClr val="B5832F"/>
          </a:solidFill>
          <a:ln w="9525">
            <a:solidFill>
              <a:srgbClr val="B5832F"/>
            </a:solidFill>
            <a:prstDash val="solid"/>
          </a:ln>
        </p:spPr>
      </p:sp>
      <p:sp>
        <p:nvSpPr>
          <p:cNvPr id="52" name="Shape 50"/>
          <p:cNvSpPr/>
          <p:nvPr/>
        </p:nvSpPr>
        <p:spPr>
          <a:xfrm flipH="1">
            <a:off x="4969764" y="2715768"/>
            <a:ext cx="82296" cy="96012"/>
          </a:xfrm>
          <a:prstGeom prst="line">
            <a:avLst/>
          </a:prstGeom>
          <a:noFill/>
          <a:ln w="12700">
            <a:solidFill>
              <a:srgbClr val="9A6B1F"/>
            </a:solidFill>
            <a:prstDash val="solid"/>
          </a:ln>
        </p:spPr>
      </p:sp>
      <p:sp>
        <p:nvSpPr>
          <p:cNvPr id="53" name="Text 51"/>
          <p:cNvSpPr/>
          <p:nvPr/>
        </p:nvSpPr>
        <p:spPr>
          <a:xfrm>
            <a:off x="1051560" y="3172968"/>
            <a:ext cx="11887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stretches to reach leaves</a:t>
            </a:r>
            <a:endParaRPr lang="en-US" sz="1000" dirty="0"/>
          </a:p>
        </p:txBody>
      </p:sp>
      <p:sp>
        <p:nvSpPr>
          <p:cNvPr id="54" name="Text 52"/>
          <p:cNvSpPr/>
          <p:nvPr/>
        </p:nvSpPr>
        <p:spPr>
          <a:xfrm>
            <a:off x="2926080" y="3172968"/>
            <a:ext cx="1188720" cy="36576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neck gets longer in its life</a:t>
            </a:r>
            <a:endParaRPr lang="en-US" sz="1000" dirty="0"/>
          </a:p>
        </p:txBody>
      </p:sp>
      <p:sp>
        <p:nvSpPr>
          <p:cNvPr id="55" name="Text 53"/>
          <p:cNvSpPr/>
          <p:nvPr/>
        </p:nvSpPr>
        <p:spPr>
          <a:xfrm>
            <a:off x="4663440" y="3172968"/>
            <a:ext cx="1280160" cy="365760"/>
          </a:xfrm>
          <a:prstGeom prst="rect">
            <a:avLst/>
          </a:prstGeom>
          <a:noFill/>
          <a:ln/>
        </p:spPr>
        <p:txBody>
          <a:bodyPr wrap="square" lIns="0" tIns="0" rIns="0" bIns="0" rtlCol="0" anchor="t"/>
          <a:lstStyle/>
          <a:p>
            <a:pPr algn="ctr" indent="0" marL="0">
              <a:buNone/>
            </a:pPr>
            <a:r>
              <a:rPr lang="en-US" sz="1000" b="1" dirty="0">
                <a:solidFill>
                  <a:srgbClr val="C8414C"/>
                </a:solidFill>
                <a:latin typeface="Calibri" pitchFamily="34" charset="0"/>
                <a:ea typeface="Calibri" pitchFamily="34" charset="-122"/>
                <a:cs typeface="Calibri" pitchFamily="34" charset="-120"/>
              </a:rPr>
              <a:t>offspring born with long neck ✗</a:t>
            </a:r>
            <a:endParaRPr lang="en-US" sz="1000" dirty="0"/>
          </a:p>
        </p:txBody>
      </p:sp>
      <p:sp>
        <p:nvSpPr>
          <p:cNvPr id="56" name="Shape 54"/>
          <p:cNvSpPr/>
          <p:nvPr/>
        </p:nvSpPr>
        <p:spPr>
          <a:xfrm>
            <a:off x="594360" y="3611880"/>
            <a:ext cx="5669280" cy="91"/>
          </a:xfrm>
          <a:prstGeom prst="line">
            <a:avLst/>
          </a:prstGeom>
          <a:noFill/>
          <a:ln w="12700">
            <a:solidFill>
              <a:srgbClr val="CFE0DE"/>
            </a:solidFill>
            <a:prstDash val="dash"/>
          </a:ln>
        </p:spPr>
      </p:sp>
      <p:sp>
        <p:nvSpPr>
          <p:cNvPr id="57" name="Text 55"/>
          <p:cNvSpPr/>
          <p:nvPr/>
        </p:nvSpPr>
        <p:spPr>
          <a:xfrm>
            <a:off x="594360" y="3639312"/>
            <a:ext cx="5669280" cy="274320"/>
          </a:xfrm>
          <a:prstGeom prst="rect">
            <a:avLst/>
          </a:prstGeom>
          <a:noFill/>
          <a:ln/>
        </p:spPr>
        <p:txBody>
          <a:bodyPr wrap="square" lIns="0" tIns="0" rIns="0" bIns="0" rtlCol="0" anchor="ctr"/>
          <a:lstStyle/>
          <a:p>
            <a:pPr algn="l" indent="0" marL="0">
              <a:buNone/>
            </a:pPr>
            <a:r>
              <a:rPr lang="en-US" sz="1100" b="1" dirty="0">
                <a:solidFill>
                  <a:srgbClr val="0D7877"/>
                </a:solidFill>
                <a:latin typeface="Calibri" pitchFamily="34" charset="0"/>
                <a:ea typeface="Calibri" pitchFamily="34" charset="-122"/>
                <a:cs typeface="Calibri" pitchFamily="34" charset="-120"/>
              </a:rPr>
              <a:t>Darwin (1859)</a:t>
            </a:r>
            <a:r>
              <a:rPr lang="en-US" sz="1100" dirty="0">
                <a:solidFill>
                  <a:srgbClr val="0D7877"/>
                </a:solidFill>
                <a:latin typeface="Calibri" pitchFamily="34" charset="0"/>
                <a:ea typeface="Calibri" pitchFamily="34" charset="-122"/>
                <a:cs typeface="Calibri" pitchFamily="34" charset="-120"/>
              </a:rPr>
              <a:t>: natural selection of inherited variation</a:t>
            </a:r>
            <a:endParaRPr lang="en-US" sz="1100" dirty="0"/>
          </a:p>
        </p:txBody>
      </p:sp>
      <p:sp>
        <p:nvSpPr>
          <p:cNvPr id="58" name="Shape 56"/>
          <p:cNvSpPr/>
          <p:nvPr/>
        </p:nvSpPr>
        <p:spPr>
          <a:xfrm>
            <a:off x="723290" y="4833518"/>
            <a:ext cx="27432" cy="241402"/>
          </a:xfrm>
          <a:prstGeom prst="rect">
            <a:avLst/>
          </a:prstGeom>
          <a:solidFill>
            <a:srgbClr val="E3B35A"/>
          </a:solidFill>
          <a:ln w="9525">
            <a:solidFill>
              <a:srgbClr val="9A6B1F"/>
            </a:solidFill>
            <a:prstDash val="solid"/>
          </a:ln>
        </p:spPr>
      </p:sp>
      <p:sp>
        <p:nvSpPr>
          <p:cNvPr id="59" name="Shape 57"/>
          <p:cNvSpPr/>
          <p:nvPr/>
        </p:nvSpPr>
        <p:spPr>
          <a:xfrm>
            <a:off x="778154" y="4833518"/>
            <a:ext cx="27432" cy="241402"/>
          </a:xfrm>
          <a:prstGeom prst="rect">
            <a:avLst/>
          </a:prstGeom>
          <a:solidFill>
            <a:srgbClr val="E3B35A"/>
          </a:solidFill>
          <a:ln w="9525">
            <a:solidFill>
              <a:srgbClr val="9A6B1F"/>
            </a:solidFill>
            <a:prstDash val="solid"/>
          </a:ln>
        </p:spPr>
      </p:sp>
      <p:sp>
        <p:nvSpPr>
          <p:cNvPr id="60" name="Shape 58"/>
          <p:cNvSpPr/>
          <p:nvPr/>
        </p:nvSpPr>
        <p:spPr>
          <a:xfrm>
            <a:off x="920801" y="4833518"/>
            <a:ext cx="27432" cy="241402"/>
          </a:xfrm>
          <a:prstGeom prst="rect">
            <a:avLst/>
          </a:prstGeom>
          <a:solidFill>
            <a:srgbClr val="E3B35A"/>
          </a:solidFill>
          <a:ln w="9525">
            <a:solidFill>
              <a:srgbClr val="9A6B1F"/>
            </a:solidFill>
            <a:prstDash val="solid"/>
          </a:ln>
        </p:spPr>
      </p:sp>
      <p:sp>
        <p:nvSpPr>
          <p:cNvPr id="61" name="Shape 59"/>
          <p:cNvSpPr/>
          <p:nvPr/>
        </p:nvSpPr>
        <p:spPr>
          <a:xfrm>
            <a:off x="975665" y="4833518"/>
            <a:ext cx="27432" cy="241402"/>
          </a:xfrm>
          <a:prstGeom prst="rect">
            <a:avLst/>
          </a:prstGeom>
          <a:solidFill>
            <a:srgbClr val="E3B35A"/>
          </a:solidFill>
          <a:ln w="9525">
            <a:solidFill>
              <a:srgbClr val="9A6B1F"/>
            </a:solidFill>
            <a:prstDash val="solid"/>
          </a:ln>
        </p:spPr>
      </p:sp>
      <p:sp>
        <p:nvSpPr>
          <p:cNvPr id="62" name="Shape 60"/>
          <p:cNvSpPr/>
          <p:nvPr/>
        </p:nvSpPr>
        <p:spPr>
          <a:xfrm>
            <a:off x="956462" y="4403750"/>
            <a:ext cx="60350" cy="320040"/>
          </a:xfrm>
          <a:prstGeom prst="rect">
            <a:avLst/>
          </a:prstGeom>
          <a:solidFill>
            <a:srgbClr val="E3B35A"/>
          </a:solidFill>
          <a:ln w="9525">
            <a:solidFill>
              <a:srgbClr val="9A6B1F"/>
            </a:solidFill>
            <a:prstDash val="solid"/>
          </a:ln>
        </p:spPr>
      </p:sp>
      <p:sp>
        <p:nvSpPr>
          <p:cNvPr id="63" name="Shape 61"/>
          <p:cNvSpPr/>
          <p:nvPr/>
        </p:nvSpPr>
        <p:spPr>
          <a:xfrm>
            <a:off x="704088" y="4690872"/>
            <a:ext cx="329184" cy="153619"/>
          </a:xfrm>
          <a:prstGeom prst="roundRect">
            <a:avLst>
              <a:gd name="adj" fmla="val 35714"/>
            </a:avLst>
          </a:prstGeom>
          <a:solidFill>
            <a:srgbClr val="E3B35A"/>
          </a:solidFill>
          <a:ln w="9525">
            <a:solidFill>
              <a:srgbClr val="9A6B1F"/>
            </a:solidFill>
            <a:prstDash val="solid"/>
          </a:ln>
        </p:spPr>
      </p:sp>
      <p:sp>
        <p:nvSpPr>
          <p:cNvPr id="64" name="Shape 62"/>
          <p:cNvSpPr/>
          <p:nvPr/>
        </p:nvSpPr>
        <p:spPr>
          <a:xfrm>
            <a:off x="961949" y="4370832"/>
            <a:ext cx="142646" cy="65837"/>
          </a:xfrm>
          <a:prstGeom prst="ellipse">
            <a:avLst/>
          </a:prstGeom>
          <a:solidFill>
            <a:srgbClr val="E3B35A"/>
          </a:solidFill>
          <a:ln w="9525">
            <a:solidFill>
              <a:srgbClr val="9A6B1F"/>
            </a:solidFill>
            <a:prstDash val="solid"/>
          </a:ln>
        </p:spPr>
      </p:sp>
      <p:sp>
        <p:nvSpPr>
          <p:cNvPr id="65" name="Shape 63"/>
          <p:cNvSpPr/>
          <p:nvPr/>
        </p:nvSpPr>
        <p:spPr>
          <a:xfrm flipH="1" flipV="1">
            <a:off x="972922" y="4332427"/>
            <a:ext cx="5486" cy="49378"/>
          </a:xfrm>
          <a:prstGeom prst="line">
            <a:avLst/>
          </a:prstGeom>
          <a:noFill/>
          <a:ln w="15875">
            <a:solidFill>
              <a:srgbClr val="9A6B1F"/>
            </a:solidFill>
            <a:prstDash val="solid"/>
          </a:ln>
        </p:spPr>
      </p:sp>
      <p:sp>
        <p:nvSpPr>
          <p:cNvPr id="66" name="Shape 64"/>
          <p:cNvSpPr/>
          <p:nvPr/>
        </p:nvSpPr>
        <p:spPr>
          <a:xfrm>
            <a:off x="786384" y="4718304"/>
            <a:ext cx="32918" cy="32918"/>
          </a:xfrm>
          <a:prstGeom prst="ellipse">
            <a:avLst/>
          </a:prstGeom>
          <a:solidFill>
            <a:srgbClr val="B5832F"/>
          </a:solidFill>
          <a:ln w="9525">
            <a:solidFill>
              <a:srgbClr val="B5832F"/>
            </a:solidFill>
            <a:prstDash val="solid"/>
          </a:ln>
        </p:spPr>
      </p:sp>
      <p:sp>
        <p:nvSpPr>
          <p:cNvPr id="67" name="Shape 65"/>
          <p:cNvSpPr/>
          <p:nvPr/>
        </p:nvSpPr>
        <p:spPr>
          <a:xfrm>
            <a:off x="885139" y="4740250"/>
            <a:ext cx="32918" cy="32918"/>
          </a:xfrm>
          <a:prstGeom prst="ellipse">
            <a:avLst/>
          </a:prstGeom>
          <a:solidFill>
            <a:srgbClr val="B5832F"/>
          </a:solidFill>
          <a:ln w="9525">
            <a:solidFill>
              <a:srgbClr val="B5832F"/>
            </a:solidFill>
            <a:prstDash val="solid"/>
          </a:ln>
        </p:spPr>
      </p:sp>
      <p:sp>
        <p:nvSpPr>
          <p:cNvPr id="68" name="Shape 66"/>
          <p:cNvSpPr/>
          <p:nvPr/>
        </p:nvSpPr>
        <p:spPr>
          <a:xfrm>
            <a:off x="950976" y="4707331"/>
            <a:ext cx="32918" cy="32918"/>
          </a:xfrm>
          <a:prstGeom prst="ellipse">
            <a:avLst/>
          </a:prstGeom>
          <a:solidFill>
            <a:srgbClr val="B5832F"/>
          </a:solidFill>
          <a:ln w="9525">
            <a:solidFill>
              <a:srgbClr val="B5832F"/>
            </a:solidFill>
            <a:prstDash val="solid"/>
          </a:ln>
        </p:spPr>
      </p:sp>
      <p:sp>
        <p:nvSpPr>
          <p:cNvPr id="69" name="Shape 67"/>
          <p:cNvSpPr/>
          <p:nvPr/>
        </p:nvSpPr>
        <p:spPr>
          <a:xfrm flipH="1">
            <a:off x="638251" y="4723790"/>
            <a:ext cx="65837" cy="76810"/>
          </a:xfrm>
          <a:prstGeom prst="line">
            <a:avLst/>
          </a:prstGeom>
          <a:noFill/>
          <a:ln w="12700">
            <a:solidFill>
              <a:srgbClr val="9A6B1F"/>
            </a:solidFill>
            <a:prstDash val="solid"/>
          </a:ln>
        </p:spPr>
      </p:sp>
      <p:sp>
        <p:nvSpPr>
          <p:cNvPr id="70" name="Shape 68"/>
          <p:cNvSpPr/>
          <p:nvPr/>
        </p:nvSpPr>
        <p:spPr>
          <a:xfrm>
            <a:off x="1226210" y="4833518"/>
            <a:ext cx="27432" cy="241402"/>
          </a:xfrm>
          <a:prstGeom prst="rect">
            <a:avLst/>
          </a:prstGeom>
          <a:solidFill>
            <a:srgbClr val="E3B35A"/>
          </a:solidFill>
          <a:ln w="9525">
            <a:solidFill>
              <a:srgbClr val="9A6B1F"/>
            </a:solidFill>
            <a:prstDash val="solid"/>
          </a:ln>
        </p:spPr>
      </p:sp>
      <p:sp>
        <p:nvSpPr>
          <p:cNvPr id="71" name="Shape 69"/>
          <p:cNvSpPr/>
          <p:nvPr/>
        </p:nvSpPr>
        <p:spPr>
          <a:xfrm>
            <a:off x="1281074" y="4833518"/>
            <a:ext cx="27432" cy="241402"/>
          </a:xfrm>
          <a:prstGeom prst="rect">
            <a:avLst/>
          </a:prstGeom>
          <a:solidFill>
            <a:srgbClr val="E3B35A"/>
          </a:solidFill>
          <a:ln w="9525">
            <a:solidFill>
              <a:srgbClr val="9A6B1F"/>
            </a:solidFill>
            <a:prstDash val="solid"/>
          </a:ln>
        </p:spPr>
      </p:sp>
      <p:sp>
        <p:nvSpPr>
          <p:cNvPr id="72" name="Shape 70"/>
          <p:cNvSpPr/>
          <p:nvPr/>
        </p:nvSpPr>
        <p:spPr>
          <a:xfrm>
            <a:off x="1423721" y="4833518"/>
            <a:ext cx="27432" cy="241402"/>
          </a:xfrm>
          <a:prstGeom prst="rect">
            <a:avLst/>
          </a:prstGeom>
          <a:solidFill>
            <a:srgbClr val="E3B35A"/>
          </a:solidFill>
          <a:ln w="9525">
            <a:solidFill>
              <a:srgbClr val="9A6B1F"/>
            </a:solidFill>
            <a:prstDash val="solid"/>
          </a:ln>
        </p:spPr>
      </p:sp>
      <p:sp>
        <p:nvSpPr>
          <p:cNvPr id="73" name="Shape 71"/>
          <p:cNvSpPr/>
          <p:nvPr/>
        </p:nvSpPr>
        <p:spPr>
          <a:xfrm>
            <a:off x="1478585" y="4833518"/>
            <a:ext cx="27432" cy="241402"/>
          </a:xfrm>
          <a:prstGeom prst="rect">
            <a:avLst/>
          </a:prstGeom>
          <a:solidFill>
            <a:srgbClr val="E3B35A"/>
          </a:solidFill>
          <a:ln w="9525">
            <a:solidFill>
              <a:srgbClr val="9A6B1F"/>
            </a:solidFill>
            <a:prstDash val="solid"/>
          </a:ln>
        </p:spPr>
      </p:sp>
      <p:sp>
        <p:nvSpPr>
          <p:cNvPr id="74" name="Shape 72"/>
          <p:cNvSpPr/>
          <p:nvPr/>
        </p:nvSpPr>
        <p:spPr>
          <a:xfrm>
            <a:off x="1459382" y="4175150"/>
            <a:ext cx="60350" cy="548640"/>
          </a:xfrm>
          <a:prstGeom prst="rect">
            <a:avLst/>
          </a:prstGeom>
          <a:solidFill>
            <a:srgbClr val="E3B35A"/>
          </a:solidFill>
          <a:ln w="9525">
            <a:solidFill>
              <a:srgbClr val="9A6B1F"/>
            </a:solidFill>
            <a:prstDash val="solid"/>
          </a:ln>
        </p:spPr>
      </p:sp>
      <p:sp>
        <p:nvSpPr>
          <p:cNvPr id="75" name="Shape 73"/>
          <p:cNvSpPr/>
          <p:nvPr/>
        </p:nvSpPr>
        <p:spPr>
          <a:xfrm>
            <a:off x="1207008" y="4690872"/>
            <a:ext cx="329184" cy="153619"/>
          </a:xfrm>
          <a:prstGeom prst="roundRect">
            <a:avLst>
              <a:gd name="adj" fmla="val 35714"/>
            </a:avLst>
          </a:prstGeom>
          <a:solidFill>
            <a:srgbClr val="E3B35A"/>
          </a:solidFill>
          <a:ln w="9525">
            <a:solidFill>
              <a:srgbClr val="9A6B1F"/>
            </a:solidFill>
            <a:prstDash val="solid"/>
          </a:ln>
        </p:spPr>
      </p:sp>
      <p:sp>
        <p:nvSpPr>
          <p:cNvPr id="76" name="Shape 74"/>
          <p:cNvSpPr/>
          <p:nvPr/>
        </p:nvSpPr>
        <p:spPr>
          <a:xfrm>
            <a:off x="1464869" y="4142232"/>
            <a:ext cx="142646" cy="65837"/>
          </a:xfrm>
          <a:prstGeom prst="ellipse">
            <a:avLst/>
          </a:prstGeom>
          <a:solidFill>
            <a:srgbClr val="E3B35A"/>
          </a:solidFill>
          <a:ln w="9525">
            <a:solidFill>
              <a:srgbClr val="9A6B1F"/>
            </a:solidFill>
            <a:prstDash val="solid"/>
          </a:ln>
        </p:spPr>
      </p:sp>
      <p:sp>
        <p:nvSpPr>
          <p:cNvPr id="77" name="Shape 75"/>
          <p:cNvSpPr/>
          <p:nvPr/>
        </p:nvSpPr>
        <p:spPr>
          <a:xfrm flipH="1" flipV="1">
            <a:off x="1475842" y="4103827"/>
            <a:ext cx="5486" cy="49378"/>
          </a:xfrm>
          <a:prstGeom prst="line">
            <a:avLst/>
          </a:prstGeom>
          <a:noFill/>
          <a:ln w="15875">
            <a:solidFill>
              <a:srgbClr val="9A6B1F"/>
            </a:solidFill>
            <a:prstDash val="solid"/>
          </a:ln>
        </p:spPr>
      </p:sp>
      <p:sp>
        <p:nvSpPr>
          <p:cNvPr id="78" name="Shape 76"/>
          <p:cNvSpPr/>
          <p:nvPr/>
        </p:nvSpPr>
        <p:spPr>
          <a:xfrm>
            <a:off x="1289304" y="4718304"/>
            <a:ext cx="32918" cy="32918"/>
          </a:xfrm>
          <a:prstGeom prst="ellipse">
            <a:avLst/>
          </a:prstGeom>
          <a:solidFill>
            <a:srgbClr val="B5832F"/>
          </a:solidFill>
          <a:ln w="9525">
            <a:solidFill>
              <a:srgbClr val="B5832F"/>
            </a:solidFill>
            <a:prstDash val="solid"/>
          </a:ln>
        </p:spPr>
      </p:sp>
      <p:sp>
        <p:nvSpPr>
          <p:cNvPr id="79" name="Shape 77"/>
          <p:cNvSpPr/>
          <p:nvPr/>
        </p:nvSpPr>
        <p:spPr>
          <a:xfrm>
            <a:off x="1388059" y="4740250"/>
            <a:ext cx="32918" cy="32918"/>
          </a:xfrm>
          <a:prstGeom prst="ellipse">
            <a:avLst/>
          </a:prstGeom>
          <a:solidFill>
            <a:srgbClr val="B5832F"/>
          </a:solidFill>
          <a:ln w="9525">
            <a:solidFill>
              <a:srgbClr val="B5832F"/>
            </a:solidFill>
            <a:prstDash val="solid"/>
          </a:ln>
        </p:spPr>
      </p:sp>
      <p:sp>
        <p:nvSpPr>
          <p:cNvPr id="80" name="Shape 78"/>
          <p:cNvSpPr/>
          <p:nvPr/>
        </p:nvSpPr>
        <p:spPr>
          <a:xfrm>
            <a:off x="1453896" y="4707331"/>
            <a:ext cx="32918" cy="32918"/>
          </a:xfrm>
          <a:prstGeom prst="ellipse">
            <a:avLst/>
          </a:prstGeom>
          <a:solidFill>
            <a:srgbClr val="B5832F"/>
          </a:solidFill>
          <a:ln w="9525">
            <a:solidFill>
              <a:srgbClr val="B5832F"/>
            </a:solidFill>
            <a:prstDash val="solid"/>
          </a:ln>
        </p:spPr>
      </p:sp>
      <p:sp>
        <p:nvSpPr>
          <p:cNvPr id="81" name="Shape 79"/>
          <p:cNvSpPr/>
          <p:nvPr/>
        </p:nvSpPr>
        <p:spPr>
          <a:xfrm flipH="1">
            <a:off x="1141171" y="4723790"/>
            <a:ext cx="65837" cy="76810"/>
          </a:xfrm>
          <a:prstGeom prst="line">
            <a:avLst/>
          </a:prstGeom>
          <a:noFill/>
          <a:ln w="12700">
            <a:solidFill>
              <a:srgbClr val="9A6B1F"/>
            </a:solidFill>
            <a:prstDash val="solid"/>
          </a:ln>
        </p:spPr>
      </p:sp>
      <p:sp>
        <p:nvSpPr>
          <p:cNvPr id="82" name="Shape 80"/>
          <p:cNvSpPr/>
          <p:nvPr/>
        </p:nvSpPr>
        <p:spPr>
          <a:xfrm>
            <a:off x="1729130" y="4833518"/>
            <a:ext cx="27432" cy="241402"/>
          </a:xfrm>
          <a:prstGeom prst="rect">
            <a:avLst/>
          </a:prstGeom>
          <a:solidFill>
            <a:srgbClr val="E3B35A"/>
          </a:solidFill>
          <a:ln w="9525">
            <a:solidFill>
              <a:srgbClr val="9A6B1F"/>
            </a:solidFill>
            <a:prstDash val="solid"/>
          </a:ln>
        </p:spPr>
      </p:sp>
      <p:sp>
        <p:nvSpPr>
          <p:cNvPr id="83" name="Shape 81"/>
          <p:cNvSpPr/>
          <p:nvPr/>
        </p:nvSpPr>
        <p:spPr>
          <a:xfrm>
            <a:off x="1783994" y="4833518"/>
            <a:ext cx="27432" cy="241402"/>
          </a:xfrm>
          <a:prstGeom prst="rect">
            <a:avLst/>
          </a:prstGeom>
          <a:solidFill>
            <a:srgbClr val="E3B35A"/>
          </a:solidFill>
          <a:ln w="9525">
            <a:solidFill>
              <a:srgbClr val="9A6B1F"/>
            </a:solidFill>
            <a:prstDash val="solid"/>
          </a:ln>
        </p:spPr>
      </p:sp>
      <p:sp>
        <p:nvSpPr>
          <p:cNvPr id="84" name="Shape 82"/>
          <p:cNvSpPr/>
          <p:nvPr/>
        </p:nvSpPr>
        <p:spPr>
          <a:xfrm>
            <a:off x="1926641" y="4833518"/>
            <a:ext cx="27432" cy="241402"/>
          </a:xfrm>
          <a:prstGeom prst="rect">
            <a:avLst/>
          </a:prstGeom>
          <a:solidFill>
            <a:srgbClr val="E3B35A"/>
          </a:solidFill>
          <a:ln w="9525">
            <a:solidFill>
              <a:srgbClr val="9A6B1F"/>
            </a:solidFill>
            <a:prstDash val="solid"/>
          </a:ln>
        </p:spPr>
      </p:sp>
      <p:sp>
        <p:nvSpPr>
          <p:cNvPr id="85" name="Shape 83"/>
          <p:cNvSpPr/>
          <p:nvPr/>
        </p:nvSpPr>
        <p:spPr>
          <a:xfrm>
            <a:off x="1981505" y="4833518"/>
            <a:ext cx="27432" cy="241402"/>
          </a:xfrm>
          <a:prstGeom prst="rect">
            <a:avLst/>
          </a:prstGeom>
          <a:solidFill>
            <a:srgbClr val="E3B35A"/>
          </a:solidFill>
          <a:ln w="9525">
            <a:solidFill>
              <a:srgbClr val="9A6B1F"/>
            </a:solidFill>
            <a:prstDash val="solid"/>
          </a:ln>
        </p:spPr>
      </p:sp>
      <p:sp>
        <p:nvSpPr>
          <p:cNvPr id="86" name="Shape 84"/>
          <p:cNvSpPr/>
          <p:nvPr/>
        </p:nvSpPr>
        <p:spPr>
          <a:xfrm>
            <a:off x="1962302" y="4312310"/>
            <a:ext cx="60350" cy="411480"/>
          </a:xfrm>
          <a:prstGeom prst="rect">
            <a:avLst/>
          </a:prstGeom>
          <a:solidFill>
            <a:srgbClr val="E3B35A"/>
          </a:solidFill>
          <a:ln w="9525">
            <a:solidFill>
              <a:srgbClr val="9A6B1F"/>
            </a:solidFill>
            <a:prstDash val="solid"/>
          </a:ln>
        </p:spPr>
      </p:sp>
      <p:sp>
        <p:nvSpPr>
          <p:cNvPr id="87" name="Shape 85"/>
          <p:cNvSpPr/>
          <p:nvPr/>
        </p:nvSpPr>
        <p:spPr>
          <a:xfrm>
            <a:off x="1709928" y="4690872"/>
            <a:ext cx="329184" cy="153619"/>
          </a:xfrm>
          <a:prstGeom prst="roundRect">
            <a:avLst>
              <a:gd name="adj" fmla="val 35714"/>
            </a:avLst>
          </a:prstGeom>
          <a:solidFill>
            <a:srgbClr val="E3B35A"/>
          </a:solidFill>
          <a:ln w="9525">
            <a:solidFill>
              <a:srgbClr val="9A6B1F"/>
            </a:solidFill>
            <a:prstDash val="solid"/>
          </a:ln>
        </p:spPr>
      </p:sp>
      <p:sp>
        <p:nvSpPr>
          <p:cNvPr id="88" name="Shape 86"/>
          <p:cNvSpPr/>
          <p:nvPr/>
        </p:nvSpPr>
        <p:spPr>
          <a:xfrm>
            <a:off x="1967789" y="4279392"/>
            <a:ext cx="142646" cy="65837"/>
          </a:xfrm>
          <a:prstGeom prst="ellipse">
            <a:avLst/>
          </a:prstGeom>
          <a:solidFill>
            <a:srgbClr val="E3B35A"/>
          </a:solidFill>
          <a:ln w="9525">
            <a:solidFill>
              <a:srgbClr val="9A6B1F"/>
            </a:solidFill>
            <a:prstDash val="solid"/>
          </a:ln>
        </p:spPr>
      </p:sp>
      <p:sp>
        <p:nvSpPr>
          <p:cNvPr id="89" name="Shape 87"/>
          <p:cNvSpPr/>
          <p:nvPr/>
        </p:nvSpPr>
        <p:spPr>
          <a:xfrm flipH="1" flipV="1">
            <a:off x="1978762" y="4240987"/>
            <a:ext cx="5486" cy="49378"/>
          </a:xfrm>
          <a:prstGeom prst="line">
            <a:avLst/>
          </a:prstGeom>
          <a:noFill/>
          <a:ln w="15875">
            <a:solidFill>
              <a:srgbClr val="9A6B1F"/>
            </a:solidFill>
            <a:prstDash val="solid"/>
          </a:ln>
        </p:spPr>
      </p:sp>
      <p:sp>
        <p:nvSpPr>
          <p:cNvPr id="90" name="Shape 88"/>
          <p:cNvSpPr/>
          <p:nvPr/>
        </p:nvSpPr>
        <p:spPr>
          <a:xfrm>
            <a:off x="1792224" y="4718304"/>
            <a:ext cx="32918" cy="32918"/>
          </a:xfrm>
          <a:prstGeom prst="ellipse">
            <a:avLst/>
          </a:prstGeom>
          <a:solidFill>
            <a:srgbClr val="B5832F"/>
          </a:solidFill>
          <a:ln w="9525">
            <a:solidFill>
              <a:srgbClr val="B5832F"/>
            </a:solidFill>
            <a:prstDash val="solid"/>
          </a:ln>
        </p:spPr>
      </p:sp>
      <p:sp>
        <p:nvSpPr>
          <p:cNvPr id="91" name="Shape 89"/>
          <p:cNvSpPr/>
          <p:nvPr/>
        </p:nvSpPr>
        <p:spPr>
          <a:xfrm>
            <a:off x="1890979" y="4740250"/>
            <a:ext cx="32918" cy="32918"/>
          </a:xfrm>
          <a:prstGeom prst="ellipse">
            <a:avLst/>
          </a:prstGeom>
          <a:solidFill>
            <a:srgbClr val="B5832F"/>
          </a:solidFill>
          <a:ln w="9525">
            <a:solidFill>
              <a:srgbClr val="B5832F"/>
            </a:solidFill>
            <a:prstDash val="solid"/>
          </a:ln>
        </p:spPr>
      </p:sp>
      <p:sp>
        <p:nvSpPr>
          <p:cNvPr id="92" name="Shape 90"/>
          <p:cNvSpPr/>
          <p:nvPr/>
        </p:nvSpPr>
        <p:spPr>
          <a:xfrm>
            <a:off x="1956816" y="4707331"/>
            <a:ext cx="32918" cy="32918"/>
          </a:xfrm>
          <a:prstGeom prst="ellipse">
            <a:avLst/>
          </a:prstGeom>
          <a:solidFill>
            <a:srgbClr val="B5832F"/>
          </a:solidFill>
          <a:ln w="9525">
            <a:solidFill>
              <a:srgbClr val="B5832F"/>
            </a:solidFill>
            <a:prstDash val="solid"/>
          </a:ln>
        </p:spPr>
      </p:sp>
      <p:sp>
        <p:nvSpPr>
          <p:cNvPr id="93" name="Shape 91"/>
          <p:cNvSpPr/>
          <p:nvPr/>
        </p:nvSpPr>
        <p:spPr>
          <a:xfrm flipH="1">
            <a:off x="1644091" y="4723790"/>
            <a:ext cx="65837" cy="76810"/>
          </a:xfrm>
          <a:prstGeom prst="line">
            <a:avLst/>
          </a:prstGeom>
          <a:noFill/>
          <a:ln w="12700">
            <a:solidFill>
              <a:srgbClr val="9A6B1F"/>
            </a:solidFill>
            <a:prstDash val="solid"/>
          </a:ln>
        </p:spPr>
      </p:sp>
      <p:sp>
        <p:nvSpPr>
          <p:cNvPr id="94" name="Shape 92"/>
          <p:cNvSpPr/>
          <p:nvPr/>
        </p:nvSpPr>
        <p:spPr>
          <a:xfrm>
            <a:off x="2240280" y="4663440"/>
            <a:ext cx="320040" cy="91"/>
          </a:xfrm>
          <a:prstGeom prst="line">
            <a:avLst/>
          </a:prstGeom>
          <a:noFill/>
          <a:ln w="19050">
            <a:solidFill>
              <a:srgbClr val="133536"/>
            </a:solidFill>
            <a:prstDash val="solid"/>
            <a:tailEnd type="triangle"/>
          </a:ln>
        </p:spPr>
      </p:sp>
      <p:sp>
        <p:nvSpPr>
          <p:cNvPr id="95" name="Shape 93"/>
          <p:cNvSpPr/>
          <p:nvPr/>
        </p:nvSpPr>
        <p:spPr>
          <a:xfrm>
            <a:off x="2752344" y="4114800"/>
            <a:ext cx="73152" cy="960120"/>
          </a:xfrm>
          <a:prstGeom prst="rect">
            <a:avLst/>
          </a:prstGeom>
          <a:solidFill>
            <a:srgbClr val="8A6A3A"/>
          </a:solidFill>
          <a:ln w="6350">
            <a:solidFill>
              <a:srgbClr val="6B4F2A"/>
            </a:solidFill>
            <a:prstDash val="solid"/>
          </a:ln>
        </p:spPr>
      </p:sp>
      <p:sp>
        <p:nvSpPr>
          <p:cNvPr id="96" name="Shape 94"/>
          <p:cNvSpPr/>
          <p:nvPr/>
        </p:nvSpPr>
        <p:spPr>
          <a:xfrm>
            <a:off x="2514600" y="3968496"/>
            <a:ext cx="548640" cy="292608"/>
          </a:xfrm>
          <a:prstGeom prst="ellipse">
            <a:avLst/>
          </a:prstGeom>
          <a:solidFill>
            <a:srgbClr val="6FAE5C"/>
          </a:solidFill>
          <a:ln w="9525">
            <a:solidFill>
              <a:srgbClr val="3E7F2E"/>
            </a:solidFill>
            <a:prstDash val="solid"/>
          </a:ln>
        </p:spPr>
      </p:sp>
      <p:sp>
        <p:nvSpPr>
          <p:cNvPr id="97" name="Shape 95"/>
          <p:cNvSpPr/>
          <p:nvPr/>
        </p:nvSpPr>
        <p:spPr>
          <a:xfrm>
            <a:off x="3100730" y="4833518"/>
            <a:ext cx="27432" cy="241402"/>
          </a:xfrm>
          <a:prstGeom prst="rect">
            <a:avLst/>
          </a:prstGeom>
          <a:solidFill>
            <a:srgbClr val="E3B35A"/>
          </a:solidFill>
          <a:ln w="9525">
            <a:solidFill>
              <a:srgbClr val="9A6B1F"/>
            </a:solidFill>
            <a:prstDash val="solid"/>
          </a:ln>
        </p:spPr>
      </p:sp>
      <p:sp>
        <p:nvSpPr>
          <p:cNvPr id="98" name="Shape 96"/>
          <p:cNvSpPr/>
          <p:nvPr/>
        </p:nvSpPr>
        <p:spPr>
          <a:xfrm>
            <a:off x="3155594" y="4833518"/>
            <a:ext cx="27432" cy="241402"/>
          </a:xfrm>
          <a:prstGeom prst="rect">
            <a:avLst/>
          </a:prstGeom>
          <a:solidFill>
            <a:srgbClr val="E3B35A"/>
          </a:solidFill>
          <a:ln w="9525">
            <a:solidFill>
              <a:srgbClr val="9A6B1F"/>
            </a:solidFill>
            <a:prstDash val="solid"/>
          </a:ln>
        </p:spPr>
      </p:sp>
      <p:sp>
        <p:nvSpPr>
          <p:cNvPr id="99" name="Shape 97"/>
          <p:cNvSpPr/>
          <p:nvPr/>
        </p:nvSpPr>
        <p:spPr>
          <a:xfrm>
            <a:off x="3298241" y="4833518"/>
            <a:ext cx="27432" cy="241402"/>
          </a:xfrm>
          <a:prstGeom prst="rect">
            <a:avLst/>
          </a:prstGeom>
          <a:solidFill>
            <a:srgbClr val="E3B35A"/>
          </a:solidFill>
          <a:ln w="9525">
            <a:solidFill>
              <a:srgbClr val="9A6B1F"/>
            </a:solidFill>
            <a:prstDash val="solid"/>
          </a:ln>
        </p:spPr>
      </p:sp>
      <p:sp>
        <p:nvSpPr>
          <p:cNvPr id="100" name="Shape 98"/>
          <p:cNvSpPr/>
          <p:nvPr/>
        </p:nvSpPr>
        <p:spPr>
          <a:xfrm>
            <a:off x="3353105" y="4833518"/>
            <a:ext cx="27432" cy="241402"/>
          </a:xfrm>
          <a:prstGeom prst="rect">
            <a:avLst/>
          </a:prstGeom>
          <a:solidFill>
            <a:srgbClr val="E3B35A"/>
          </a:solidFill>
          <a:ln w="9525">
            <a:solidFill>
              <a:srgbClr val="9A6B1F"/>
            </a:solidFill>
            <a:prstDash val="solid"/>
          </a:ln>
        </p:spPr>
      </p:sp>
      <p:sp>
        <p:nvSpPr>
          <p:cNvPr id="101" name="Shape 99"/>
          <p:cNvSpPr/>
          <p:nvPr/>
        </p:nvSpPr>
        <p:spPr>
          <a:xfrm>
            <a:off x="3333902" y="4175150"/>
            <a:ext cx="60350" cy="548640"/>
          </a:xfrm>
          <a:prstGeom prst="rect">
            <a:avLst/>
          </a:prstGeom>
          <a:solidFill>
            <a:srgbClr val="E3B35A"/>
          </a:solidFill>
          <a:ln w="9525">
            <a:solidFill>
              <a:srgbClr val="9A6B1F"/>
            </a:solidFill>
            <a:prstDash val="solid"/>
          </a:ln>
        </p:spPr>
      </p:sp>
      <p:sp>
        <p:nvSpPr>
          <p:cNvPr id="102" name="Shape 100"/>
          <p:cNvSpPr/>
          <p:nvPr/>
        </p:nvSpPr>
        <p:spPr>
          <a:xfrm>
            <a:off x="3081528" y="4690872"/>
            <a:ext cx="329184" cy="153619"/>
          </a:xfrm>
          <a:prstGeom prst="roundRect">
            <a:avLst>
              <a:gd name="adj" fmla="val 35714"/>
            </a:avLst>
          </a:prstGeom>
          <a:solidFill>
            <a:srgbClr val="E3B35A"/>
          </a:solidFill>
          <a:ln w="9525">
            <a:solidFill>
              <a:srgbClr val="9A6B1F"/>
            </a:solidFill>
            <a:prstDash val="solid"/>
          </a:ln>
        </p:spPr>
      </p:sp>
      <p:sp>
        <p:nvSpPr>
          <p:cNvPr id="103" name="Shape 101"/>
          <p:cNvSpPr/>
          <p:nvPr/>
        </p:nvSpPr>
        <p:spPr>
          <a:xfrm>
            <a:off x="3339389" y="4142232"/>
            <a:ext cx="142646" cy="65837"/>
          </a:xfrm>
          <a:prstGeom prst="ellipse">
            <a:avLst/>
          </a:prstGeom>
          <a:solidFill>
            <a:srgbClr val="E3B35A"/>
          </a:solidFill>
          <a:ln w="9525">
            <a:solidFill>
              <a:srgbClr val="9A6B1F"/>
            </a:solidFill>
            <a:prstDash val="solid"/>
          </a:ln>
        </p:spPr>
      </p:sp>
      <p:sp>
        <p:nvSpPr>
          <p:cNvPr id="104" name="Shape 102"/>
          <p:cNvSpPr/>
          <p:nvPr/>
        </p:nvSpPr>
        <p:spPr>
          <a:xfrm flipH="1" flipV="1">
            <a:off x="3350362" y="4103827"/>
            <a:ext cx="5486" cy="49378"/>
          </a:xfrm>
          <a:prstGeom prst="line">
            <a:avLst/>
          </a:prstGeom>
          <a:noFill/>
          <a:ln w="15875">
            <a:solidFill>
              <a:srgbClr val="9A6B1F"/>
            </a:solidFill>
            <a:prstDash val="solid"/>
          </a:ln>
        </p:spPr>
      </p:sp>
      <p:sp>
        <p:nvSpPr>
          <p:cNvPr id="105" name="Shape 103"/>
          <p:cNvSpPr/>
          <p:nvPr/>
        </p:nvSpPr>
        <p:spPr>
          <a:xfrm>
            <a:off x="3163824" y="4718304"/>
            <a:ext cx="32918" cy="32918"/>
          </a:xfrm>
          <a:prstGeom prst="ellipse">
            <a:avLst/>
          </a:prstGeom>
          <a:solidFill>
            <a:srgbClr val="B5832F"/>
          </a:solidFill>
          <a:ln w="9525">
            <a:solidFill>
              <a:srgbClr val="B5832F"/>
            </a:solidFill>
            <a:prstDash val="solid"/>
          </a:ln>
        </p:spPr>
      </p:sp>
      <p:sp>
        <p:nvSpPr>
          <p:cNvPr id="106" name="Shape 104"/>
          <p:cNvSpPr/>
          <p:nvPr/>
        </p:nvSpPr>
        <p:spPr>
          <a:xfrm>
            <a:off x="3262579" y="4740250"/>
            <a:ext cx="32918" cy="32918"/>
          </a:xfrm>
          <a:prstGeom prst="ellipse">
            <a:avLst/>
          </a:prstGeom>
          <a:solidFill>
            <a:srgbClr val="B5832F"/>
          </a:solidFill>
          <a:ln w="9525">
            <a:solidFill>
              <a:srgbClr val="B5832F"/>
            </a:solidFill>
            <a:prstDash val="solid"/>
          </a:ln>
        </p:spPr>
      </p:sp>
      <p:sp>
        <p:nvSpPr>
          <p:cNvPr id="107" name="Shape 105"/>
          <p:cNvSpPr/>
          <p:nvPr/>
        </p:nvSpPr>
        <p:spPr>
          <a:xfrm>
            <a:off x="3328416" y="4707331"/>
            <a:ext cx="32918" cy="32918"/>
          </a:xfrm>
          <a:prstGeom prst="ellipse">
            <a:avLst/>
          </a:prstGeom>
          <a:solidFill>
            <a:srgbClr val="B5832F"/>
          </a:solidFill>
          <a:ln w="9525">
            <a:solidFill>
              <a:srgbClr val="B5832F"/>
            </a:solidFill>
            <a:prstDash val="solid"/>
          </a:ln>
        </p:spPr>
      </p:sp>
      <p:sp>
        <p:nvSpPr>
          <p:cNvPr id="108" name="Shape 106"/>
          <p:cNvSpPr/>
          <p:nvPr/>
        </p:nvSpPr>
        <p:spPr>
          <a:xfrm flipH="1">
            <a:off x="3015691" y="4723790"/>
            <a:ext cx="65837" cy="76810"/>
          </a:xfrm>
          <a:prstGeom prst="line">
            <a:avLst/>
          </a:prstGeom>
          <a:noFill/>
          <a:ln w="12700">
            <a:solidFill>
              <a:srgbClr val="9A6B1F"/>
            </a:solidFill>
            <a:prstDash val="solid"/>
          </a:ln>
        </p:spPr>
      </p:sp>
      <p:sp>
        <p:nvSpPr>
          <p:cNvPr id="109" name="Shape 107"/>
          <p:cNvSpPr/>
          <p:nvPr/>
        </p:nvSpPr>
        <p:spPr>
          <a:xfrm>
            <a:off x="2697480" y="4892040"/>
            <a:ext cx="182880" cy="182880"/>
          </a:xfrm>
          <a:prstGeom prst="line">
            <a:avLst/>
          </a:prstGeom>
          <a:noFill/>
          <a:ln w="25400">
            <a:solidFill>
              <a:srgbClr val="C8414C"/>
            </a:solidFill>
            <a:prstDash val="solid"/>
          </a:ln>
        </p:spPr>
      </p:sp>
      <p:sp>
        <p:nvSpPr>
          <p:cNvPr id="110" name="Shape 108"/>
          <p:cNvSpPr/>
          <p:nvPr/>
        </p:nvSpPr>
        <p:spPr>
          <a:xfrm flipV="1">
            <a:off x="2697480" y="4892040"/>
            <a:ext cx="182880" cy="182880"/>
          </a:xfrm>
          <a:prstGeom prst="line">
            <a:avLst/>
          </a:prstGeom>
          <a:noFill/>
          <a:ln w="25400">
            <a:solidFill>
              <a:srgbClr val="C8414C"/>
            </a:solidFill>
            <a:prstDash val="solid"/>
          </a:ln>
        </p:spPr>
      </p:sp>
      <p:sp>
        <p:nvSpPr>
          <p:cNvPr id="111" name="Shape 109"/>
          <p:cNvSpPr/>
          <p:nvPr/>
        </p:nvSpPr>
        <p:spPr>
          <a:xfrm>
            <a:off x="3703320" y="4663440"/>
            <a:ext cx="320040" cy="91"/>
          </a:xfrm>
          <a:prstGeom prst="line">
            <a:avLst/>
          </a:prstGeom>
          <a:noFill/>
          <a:ln w="19050">
            <a:solidFill>
              <a:srgbClr val="133536"/>
            </a:solidFill>
            <a:prstDash val="solid"/>
            <a:tailEnd type="triangle"/>
          </a:ln>
        </p:spPr>
      </p:sp>
      <p:sp>
        <p:nvSpPr>
          <p:cNvPr id="112" name="Shape 110"/>
          <p:cNvSpPr/>
          <p:nvPr/>
        </p:nvSpPr>
        <p:spPr>
          <a:xfrm>
            <a:off x="4289450" y="4833518"/>
            <a:ext cx="27432" cy="241402"/>
          </a:xfrm>
          <a:prstGeom prst="rect">
            <a:avLst/>
          </a:prstGeom>
          <a:solidFill>
            <a:srgbClr val="E3B35A"/>
          </a:solidFill>
          <a:ln w="9525">
            <a:solidFill>
              <a:srgbClr val="9A6B1F"/>
            </a:solidFill>
            <a:prstDash val="solid"/>
          </a:ln>
        </p:spPr>
      </p:sp>
      <p:sp>
        <p:nvSpPr>
          <p:cNvPr id="113" name="Shape 111"/>
          <p:cNvSpPr/>
          <p:nvPr/>
        </p:nvSpPr>
        <p:spPr>
          <a:xfrm>
            <a:off x="4344314" y="4833518"/>
            <a:ext cx="27432" cy="241402"/>
          </a:xfrm>
          <a:prstGeom prst="rect">
            <a:avLst/>
          </a:prstGeom>
          <a:solidFill>
            <a:srgbClr val="E3B35A"/>
          </a:solidFill>
          <a:ln w="9525">
            <a:solidFill>
              <a:srgbClr val="9A6B1F"/>
            </a:solidFill>
            <a:prstDash val="solid"/>
          </a:ln>
        </p:spPr>
      </p:sp>
      <p:sp>
        <p:nvSpPr>
          <p:cNvPr id="114" name="Shape 112"/>
          <p:cNvSpPr/>
          <p:nvPr/>
        </p:nvSpPr>
        <p:spPr>
          <a:xfrm>
            <a:off x="4486961" y="4833518"/>
            <a:ext cx="27432" cy="241402"/>
          </a:xfrm>
          <a:prstGeom prst="rect">
            <a:avLst/>
          </a:prstGeom>
          <a:solidFill>
            <a:srgbClr val="E3B35A"/>
          </a:solidFill>
          <a:ln w="9525">
            <a:solidFill>
              <a:srgbClr val="9A6B1F"/>
            </a:solidFill>
            <a:prstDash val="solid"/>
          </a:ln>
        </p:spPr>
      </p:sp>
      <p:sp>
        <p:nvSpPr>
          <p:cNvPr id="115" name="Shape 113"/>
          <p:cNvSpPr/>
          <p:nvPr/>
        </p:nvSpPr>
        <p:spPr>
          <a:xfrm>
            <a:off x="4541825" y="4833518"/>
            <a:ext cx="27432" cy="241402"/>
          </a:xfrm>
          <a:prstGeom prst="rect">
            <a:avLst/>
          </a:prstGeom>
          <a:solidFill>
            <a:srgbClr val="E3B35A"/>
          </a:solidFill>
          <a:ln w="9525">
            <a:solidFill>
              <a:srgbClr val="9A6B1F"/>
            </a:solidFill>
            <a:prstDash val="solid"/>
          </a:ln>
        </p:spPr>
      </p:sp>
      <p:sp>
        <p:nvSpPr>
          <p:cNvPr id="116" name="Shape 114"/>
          <p:cNvSpPr/>
          <p:nvPr/>
        </p:nvSpPr>
        <p:spPr>
          <a:xfrm>
            <a:off x="4522622" y="4175150"/>
            <a:ext cx="60350" cy="548640"/>
          </a:xfrm>
          <a:prstGeom prst="rect">
            <a:avLst/>
          </a:prstGeom>
          <a:solidFill>
            <a:srgbClr val="E3B35A"/>
          </a:solidFill>
          <a:ln w="9525">
            <a:solidFill>
              <a:srgbClr val="9A6B1F"/>
            </a:solidFill>
            <a:prstDash val="solid"/>
          </a:ln>
        </p:spPr>
      </p:sp>
      <p:sp>
        <p:nvSpPr>
          <p:cNvPr id="117" name="Shape 115"/>
          <p:cNvSpPr/>
          <p:nvPr/>
        </p:nvSpPr>
        <p:spPr>
          <a:xfrm>
            <a:off x="4270248" y="4690872"/>
            <a:ext cx="329184" cy="153619"/>
          </a:xfrm>
          <a:prstGeom prst="roundRect">
            <a:avLst>
              <a:gd name="adj" fmla="val 35714"/>
            </a:avLst>
          </a:prstGeom>
          <a:solidFill>
            <a:srgbClr val="E3B35A"/>
          </a:solidFill>
          <a:ln w="9525">
            <a:solidFill>
              <a:srgbClr val="9A6B1F"/>
            </a:solidFill>
            <a:prstDash val="solid"/>
          </a:ln>
        </p:spPr>
      </p:sp>
      <p:sp>
        <p:nvSpPr>
          <p:cNvPr id="118" name="Shape 116"/>
          <p:cNvSpPr/>
          <p:nvPr/>
        </p:nvSpPr>
        <p:spPr>
          <a:xfrm>
            <a:off x="4528109" y="4142232"/>
            <a:ext cx="142646" cy="65837"/>
          </a:xfrm>
          <a:prstGeom prst="ellipse">
            <a:avLst/>
          </a:prstGeom>
          <a:solidFill>
            <a:srgbClr val="E3B35A"/>
          </a:solidFill>
          <a:ln w="9525">
            <a:solidFill>
              <a:srgbClr val="9A6B1F"/>
            </a:solidFill>
            <a:prstDash val="solid"/>
          </a:ln>
        </p:spPr>
      </p:sp>
      <p:sp>
        <p:nvSpPr>
          <p:cNvPr id="119" name="Shape 117"/>
          <p:cNvSpPr/>
          <p:nvPr/>
        </p:nvSpPr>
        <p:spPr>
          <a:xfrm flipH="1" flipV="1">
            <a:off x="4539082" y="4103827"/>
            <a:ext cx="5486" cy="49378"/>
          </a:xfrm>
          <a:prstGeom prst="line">
            <a:avLst/>
          </a:prstGeom>
          <a:noFill/>
          <a:ln w="15875">
            <a:solidFill>
              <a:srgbClr val="9A6B1F"/>
            </a:solidFill>
            <a:prstDash val="solid"/>
          </a:ln>
        </p:spPr>
      </p:sp>
      <p:sp>
        <p:nvSpPr>
          <p:cNvPr id="120" name="Shape 118"/>
          <p:cNvSpPr/>
          <p:nvPr/>
        </p:nvSpPr>
        <p:spPr>
          <a:xfrm>
            <a:off x="4352544" y="4718304"/>
            <a:ext cx="32918" cy="32918"/>
          </a:xfrm>
          <a:prstGeom prst="ellipse">
            <a:avLst/>
          </a:prstGeom>
          <a:solidFill>
            <a:srgbClr val="B5832F"/>
          </a:solidFill>
          <a:ln w="9525">
            <a:solidFill>
              <a:srgbClr val="B5832F"/>
            </a:solidFill>
            <a:prstDash val="solid"/>
          </a:ln>
        </p:spPr>
      </p:sp>
      <p:sp>
        <p:nvSpPr>
          <p:cNvPr id="121" name="Shape 119"/>
          <p:cNvSpPr/>
          <p:nvPr/>
        </p:nvSpPr>
        <p:spPr>
          <a:xfrm>
            <a:off x="4451299" y="4740250"/>
            <a:ext cx="32918" cy="32918"/>
          </a:xfrm>
          <a:prstGeom prst="ellipse">
            <a:avLst/>
          </a:prstGeom>
          <a:solidFill>
            <a:srgbClr val="B5832F"/>
          </a:solidFill>
          <a:ln w="9525">
            <a:solidFill>
              <a:srgbClr val="B5832F"/>
            </a:solidFill>
            <a:prstDash val="solid"/>
          </a:ln>
        </p:spPr>
      </p:sp>
      <p:sp>
        <p:nvSpPr>
          <p:cNvPr id="122" name="Shape 120"/>
          <p:cNvSpPr/>
          <p:nvPr/>
        </p:nvSpPr>
        <p:spPr>
          <a:xfrm>
            <a:off x="4517136" y="4707331"/>
            <a:ext cx="32918" cy="32918"/>
          </a:xfrm>
          <a:prstGeom prst="ellipse">
            <a:avLst/>
          </a:prstGeom>
          <a:solidFill>
            <a:srgbClr val="B5832F"/>
          </a:solidFill>
          <a:ln w="9525">
            <a:solidFill>
              <a:srgbClr val="B5832F"/>
            </a:solidFill>
            <a:prstDash val="solid"/>
          </a:ln>
        </p:spPr>
      </p:sp>
      <p:sp>
        <p:nvSpPr>
          <p:cNvPr id="123" name="Shape 121"/>
          <p:cNvSpPr/>
          <p:nvPr/>
        </p:nvSpPr>
        <p:spPr>
          <a:xfrm flipH="1">
            <a:off x="4204411" y="4723790"/>
            <a:ext cx="65837" cy="76810"/>
          </a:xfrm>
          <a:prstGeom prst="line">
            <a:avLst/>
          </a:prstGeom>
          <a:noFill/>
          <a:ln w="12700">
            <a:solidFill>
              <a:srgbClr val="9A6B1F"/>
            </a:solidFill>
            <a:prstDash val="solid"/>
          </a:ln>
        </p:spPr>
      </p:sp>
      <p:sp>
        <p:nvSpPr>
          <p:cNvPr id="124" name="Shape 122"/>
          <p:cNvSpPr/>
          <p:nvPr/>
        </p:nvSpPr>
        <p:spPr>
          <a:xfrm>
            <a:off x="4838090" y="4833518"/>
            <a:ext cx="27432" cy="241402"/>
          </a:xfrm>
          <a:prstGeom prst="rect">
            <a:avLst/>
          </a:prstGeom>
          <a:solidFill>
            <a:srgbClr val="E3B35A"/>
          </a:solidFill>
          <a:ln w="9525">
            <a:solidFill>
              <a:srgbClr val="9A6B1F"/>
            </a:solidFill>
            <a:prstDash val="solid"/>
          </a:ln>
        </p:spPr>
      </p:sp>
      <p:sp>
        <p:nvSpPr>
          <p:cNvPr id="125" name="Shape 123"/>
          <p:cNvSpPr/>
          <p:nvPr/>
        </p:nvSpPr>
        <p:spPr>
          <a:xfrm>
            <a:off x="4892954" y="4833518"/>
            <a:ext cx="27432" cy="241402"/>
          </a:xfrm>
          <a:prstGeom prst="rect">
            <a:avLst/>
          </a:prstGeom>
          <a:solidFill>
            <a:srgbClr val="E3B35A"/>
          </a:solidFill>
          <a:ln w="9525">
            <a:solidFill>
              <a:srgbClr val="9A6B1F"/>
            </a:solidFill>
            <a:prstDash val="solid"/>
          </a:ln>
        </p:spPr>
      </p:sp>
      <p:sp>
        <p:nvSpPr>
          <p:cNvPr id="126" name="Shape 124"/>
          <p:cNvSpPr/>
          <p:nvPr/>
        </p:nvSpPr>
        <p:spPr>
          <a:xfrm>
            <a:off x="5035601" y="4833518"/>
            <a:ext cx="27432" cy="241402"/>
          </a:xfrm>
          <a:prstGeom prst="rect">
            <a:avLst/>
          </a:prstGeom>
          <a:solidFill>
            <a:srgbClr val="E3B35A"/>
          </a:solidFill>
          <a:ln w="9525">
            <a:solidFill>
              <a:srgbClr val="9A6B1F"/>
            </a:solidFill>
            <a:prstDash val="solid"/>
          </a:ln>
        </p:spPr>
      </p:sp>
      <p:sp>
        <p:nvSpPr>
          <p:cNvPr id="127" name="Shape 125"/>
          <p:cNvSpPr/>
          <p:nvPr/>
        </p:nvSpPr>
        <p:spPr>
          <a:xfrm>
            <a:off x="5090465" y="4833518"/>
            <a:ext cx="27432" cy="241402"/>
          </a:xfrm>
          <a:prstGeom prst="rect">
            <a:avLst/>
          </a:prstGeom>
          <a:solidFill>
            <a:srgbClr val="E3B35A"/>
          </a:solidFill>
          <a:ln w="9525">
            <a:solidFill>
              <a:srgbClr val="9A6B1F"/>
            </a:solidFill>
            <a:prstDash val="solid"/>
          </a:ln>
        </p:spPr>
      </p:sp>
      <p:sp>
        <p:nvSpPr>
          <p:cNvPr id="128" name="Shape 126"/>
          <p:cNvSpPr/>
          <p:nvPr/>
        </p:nvSpPr>
        <p:spPr>
          <a:xfrm>
            <a:off x="5071262" y="4175150"/>
            <a:ext cx="60350" cy="548640"/>
          </a:xfrm>
          <a:prstGeom prst="rect">
            <a:avLst/>
          </a:prstGeom>
          <a:solidFill>
            <a:srgbClr val="E3B35A"/>
          </a:solidFill>
          <a:ln w="9525">
            <a:solidFill>
              <a:srgbClr val="9A6B1F"/>
            </a:solidFill>
            <a:prstDash val="solid"/>
          </a:ln>
        </p:spPr>
      </p:sp>
      <p:sp>
        <p:nvSpPr>
          <p:cNvPr id="129" name="Shape 127"/>
          <p:cNvSpPr/>
          <p:nvPr/>
        </p:nvSpPr>
        <p:spPr>
          <a:xfrm>
            <a:off x="4818888" y="4690872"/>
            <a:ext cx="329184" cy="153619"/>
          </a:xfrm>
          <a:prstGeom prst="roundRect">
            <a:avLst>
              <a:gd name="adj" fmla="val 35714"/>
            </a:avLst>
          </a:prstGeom>
          <a:solidFill>
            <a:srgbClr val="E3B35A"/>
          </a:solidFill>
          <a:ln w="9525">
            <a:solidFill>
              <a:srgbClr val="9A6B1F"/>
            </a:solidFill>
            <a:prstDash val="solid"/>
          </a:ln>
        </p:spPr>
      </p:sp>
      <p:sp>
        <p:nvSpPr>
          <p:cNvPr id="130" name="Shape 128"/>
          <p:cNvSpPr/>
          <p:nvPr/>
        </p:nvSpPr>
        <p:spPr>
          <a:xfrm>
            <a:off x="5076749" y="4142232"/>
            <a:ext cx="142646" cy="65837"/>
          </a:xfrm>
          <a:prstGeom prst="ellipse">
            <a:avLst/>
          </a:prstGeom>
          <a:solidFill>
            <a:srgbClr val="E3B35A"/>
          </a:solidFill>
          <a:ln w="9525">
            <a:solidFill>
              <a:srgbClr val="9A6B1F"/>
            </a:solidFill>
            <a:prstDash val="solid"/>
          </a:ln>
        </p:spPr>
      </p:sp>
      <p:sp>
        <p:nvSpPr>
          <p:cNvPr id="131" name="Shape 129"/>
          <p:cNvSpPr/>
          <p:nvPr/>
        </p:nvSpPr>
        <p:spPr>
          <a:xfrm flipH="1" flipV="1">
            <a:off x="5087722" y="4103827"/>
            <a:ext cx="5486" cy="49378"/>
          </a:xfrm>
          <a:prstGeom prst="line">
            <a:avLst/>
          </a:prstGeom>
          <a:noFill/>
          <a:ln w="15875">
            <a:solidFill>
              <a:srgbClr val="9A6B1F"/>
            </a:solidFill>
            <a:prstDash val="solid"/>
          </a:ln>
        </p:spPr>
      </p:sp>
      <p:sp>
        <p:nvSpPr>
          <p:cNvPr id="132" name="Shape 130"/>
          <p:cNvSpPr/>
          <p:nvPr/>
        </p:nvSpPr>
        <p:spPr>
          <a:xfrm>
            <a:off x="4901184" y="4718304"/>
            <a:ext cx="32918" cy="32918"/>
          </a:xfrm>
          <a:prstGeom prst="ellipse">
            <a:avLst/>
          </a:prstGeom>
          <a:solidFill>
            <a:srgbClr val="B5832F"/>
          </a:solidFill>
          <a:ln w="9525">
            <a:solidFill>
              <a:srgbClr val="B5832F"/>
            </a:solidFill>
            <a:prstDash val="solid"/>
          </a:ln>
        </p:spPr>
      </p:sp>
      <p:sp>
        <p:nvSpPr>
          <p:cNvPr id="133" name="Shape 131"/>
          <p:cNvSpPr/>
          <p:nvPr/>
        </p:nvSpPr>
        <p:spPr>
          <a:xfrm>
            <a:off x="4999939" y="4740250"/>
            <a:ext cx="32918" cy="32918"/>
          </a:xfrm>
          <a:prstGeom prst="ellipse">
            <a:avLst/>
          </a:prstGeom>
          <a:solidFill>
            <a:srgbClr val="B5832F"/>
          </a:solidFill>
          <a:ln w="9525">
            <a:solidFill>
              <a:srgbClr val="B5832F"/>
            </a:solidFill>
            <a:prstDash val="solid"/>
          </a:ln>
        </p:spPr>
      </p:sp>
      <p:sp>
        <p:nvSpPr>
          <p:cNvPr id="134" name="Shape 132"/>
          <p:cNvSpPr/>
          <p:nvPr/>
        </p:nvSpPr>
        <p:spPr>
          <a:xfrm>
            <a:off x="5065776" y="4707331"/>
            <a:ext cx="32918" cy="32918"/>
          </a:xfrm>
          <a:prstGeom prst="ellipse">
            <a:avLst/>
          </a:prstGeom>
          <a:solidFill>
            <a:srgbClr val="B5832F"/>
          </a:solidFill>
          <a:ln w="9525">
            <a:solidFill>
              <a:srgbClr val="B5832F"/>
            </a:solidFill>
            <a:prstDash val="solid"/>
          </a:ln>
        </p:spPr>
      </p:sp>
      <p:sp>
        <p:nvSpPr>
          <p:cNvPr id="135" name="Shape 133"/>
          <p:cNvSpPr/>
          <p:nvPr/>
        </p:nvSpPr>
        <p:spPr>
          <a:xfrm flipH="1">
            <a:off x="4753051" y="4723790"/>
            <a:ext cx="65837" cy="76810"/>
          </a:xfrm>
          <a:prstGeom prst="line">
            <a:avLst/>
          </a:prstGeom>
          <a:noFill/>
          <a:ln w="12700">
            <a:solidFill>
              <a:srgbClr val="9A6B1F"/>
            </a:solidFill>
            <a:prstDash val="solid"/>
          </a:ln>
        </p:spPr>
      </p:sp>
      <p:sp>
        <p:nvSpPr>
          <p:cNvPr id="136" name="Shape 134"/>
          <p:cNvSpPr/>
          <p:nvPr/>
        </p:nvSpPr>
        <p:spPr>
          <a:xfrm>
            <a:off x="5386730" y="4833518"/>
            <a:ext cx="27432" cy="241402"/>
          </a:xfrm>
          <a:prstGeom prst="rect">
            <a:avLst/>
          </a:prstGeom>
          <a:solidFill>
            <a:srgbClr val="E3B35A"/>
          </a:solidFill>
          <a:ln w="9525">
            <a:solidFill>
              <a:srgbClr val="9A6B1F"/>
            </a:solidFill>
            <a:prstDash val="solid"/>
          </a:ln>
        </p:spPr>
      </p:sp>
      <p:sp>
        <p:nvSpPr>
          <p:cNvPr id="137" name="Shape 135"/>
          <p:cNvSpPr/>
          <p:nvPr/>
        </p:nvSpPr>
        <p:spPr>
          <a:xfrm>
            <a:off x="5441594" y="4833518"/>
            <a:ext cx="27432" cy="241402"/>
          </a:xfrm>
          <a:prstGeom prst="rect">
            <a:avLst/>
          </a:prstGeom>
          <a:solidFill>
            <a:srgbClr val="E3B35A"/>
          </a:solidFill>
          <a:ln w="9525">
            <a:solidFill>
              <a:srgbClr val="9A6B1F"/>
            </a:solidFill>
            <a:prstDash val="solid"/>
          </a:ln>
        </p:spPr>
      </p:sp>
      <p:sp>
        <p:nvSpPr>
          <p:cNvPr id="138" name="Shape 136"/>
          <p:cNvSpPr/>
          <p:nvPr/>
        </p:nvSpPr>
        <p:spPr>
          <a:xfrm>
            <a:off x="5584241" y="4833518"/>
            <a:ext cx="27432" cy="241402"/>
          </a:xfrm>
          <a:prstGeom prst="rect">
            <a:avLst/>
          </a:prstGeom>
          <a:solidFill>
            <a:srgbClr val="E3B35A"/>
          </a:solidFill>
          <a:ln w="9525">
            <a:solidFill>
              <a:srgbClr val="9A6B1F"/>
            </a:solidFill>
            <a:prstDash val="solid"/>
          </a:ln>
        </p:spPr>
      </p:sp>
      <p:sp>
        <p:nvSpPr>
          <p:cNvPr id="139" name="Shape 137"/>
          <p:cNvSpPr/>
          <p:nvPr/>
        </p:nvSpPr>
        <p:spPr>
          <a:xfrm>
            <a:off x="5639105" y="4833518"/>
            <a:ext cx="27432" cy="241402"/>
          </a:xfrm>
          <a:prstGeom prst="rect">
            <a:avLst/>
          </a:prstGeom>
          <a:solidFill>
            <a:srgbClr val="E3B35A"/>
          </a:solidFill>
          <a:ln w="9525">
            <a:solidFill>
              <a:srgbClr val="9A6B1F"/>
            </a:solidFill>
            <a:prstDash val="solid"/>
          </a:ln>
        </p:spPr>
      </p:sp>
      <p:sp>
        <p:nvSpPr>
          <p:cNvPr id="140" name="Shape 138"/>
          <p:cNvSpPr/>
          <p:nvPr/>
        </p:nvSpPr>
        <p:spPr>
          <a:xfrm>
            <a:off x="5619902" y="4220870"/>
            <a:ext cx="60350" cy="502920"/>
          </a:xfrm>
          <a:prstGeom prst="rect">
            <a:avLst/>
          </a:prstGeom>
          <a:solidFill>
            <a:srgbClr val="E3B35A"/>
          </a:solidFill>
          <a:ln w="9525">
            <a:solidFill>
              <a:srgbClr val="9A6B1F"/>
            </a:solidFill>
            <a:prstDash val="solid"/>
          </a:ln>
        </p:spPr>
      </p:sp>
      <p:sp>
        <p:nvSpPr>
          <p:cNvPr id="141" name="Shape 139"/>
          <p:cNvSpPr/>
          <p:nvPr/>
        </p:nvSpPr>
        <p:spPr>
          <a:xfrm>
            <a:off x="5367528" y="4690872"/>
            <a:ext cx="329184" cy="153619"/>
          </a:xfrm>
          <a:prstGeom prst="roundRect">
            <a:avLst>
              <a:gd name="adj" fmla="val 35714"/>
            </a:avLst>
          </a:prstGeom>
          <a:solidFill>
            <a:srgbClr val="E3B35A"/>
          </a:solidFill>
          <a:ln w="9525">
            <a:solidFill>
              <a:srgbClr val="9A6B1F"/>
            </a:solidFill>
            <a:prstDash val="solid"/>
          </a:ln>
        </p:spPr>
      </p:sp>
      <p:sp>
        <p:nvSpPr>
          <p:cNvPr id="142" name="Shape 140"/>
          <p:cNvSpPr/>
          <p:nvPr/>
        </p:nvSpPr>
        <p:spPr>
          <a:xfrm>
            <a:off x="5625389" y="4187952"/>
            <a:ext cx="142646" cy="65837"/>
          </a:xfrm>
          <a:prstGeom prst="ellipse">
            <a:avLst/>
          </a:prstGeom>
          <a:solidFill>
            <a:srgbClr val="E3B35A"/>
          </a:solidFill>
          <a:ln w="9525">
            <a:solidFill>
              <a:srgbClr val="9A6B1F"/>
            </a:solidFill>
            <a:prstDash val="solid"/>
          </a:ln>
        </p:spPr>
      </p:sp>
      <p:sp>
        <p:nvSpPr>
          <p:cNvPr id="143" name="Shape 141"/>
          <p:cNvSpPr/>
          <p:nvPr/>
        </p:nvSpPr>
        <p:spPr>
          <a:xfrm flipH="1" flipV="1">
            <a:off x="5636362" y="4149547"/>
            <a:ext cx="5486" cy="49378"/>
          </a:xfrm>
          <a:prstGeom prst="line">
            <a:avLst/>
          </a:prstGeom>
          <a:noFill/>
          <a:ln w="15875">
            <a:solidFill>
              <a:srgbClr val="9A6B1F"/>
            </a:solidFill>
            <a:prstDash val="solid"/>
          </a:ln>
        </p:spPr>
      </p:sp>
      <p:sp>
        <p:nvSpPr>
          <p:cNvPr id="144" name="Shape 142"/>
          <p:cNvSpPr/>
          <p:nvPr/>
        </p:nvSpPr>
        <p:spPr>
          <a:xfrm>
            <a:off x="5449824" y="4718304"/>
            <a:ext cx="32918" cy="32918"/>
          </a:xfrm>
          <a:prstGeom prst="ellipse">
            <a:avLst/>
          </a:prstGeom>
          <a:solidFill>
            <a:srgbClr val="B5832F"/>
          </a:solidFill>
          <a:ln w="9525">
            <a:solidFill>
              <a:srgbClr val="B5832F"/>
            </a:solidFill>
            <a:prstDash val="solid"/>
          </a:ln>
        </p:spPr>
      </p:sp>
      <p:sp>
        <p:nvSpPr>
          <p:cNvPr id="145" name="Shape 143"/>
          <p:cNvSpPr/>
          <p:nvPr/>
        </p:nvSpPr>
        <p:spPr>
          <a:xfrm>
            <a:off x="5548579" y="4740250"/>
            <a:ext cx="32918" cy="32918"/>
          </a:xfrm>
          <a:prstGeom prst="ellipse">
            <a:avLst/>
          </a:prstGeom>
          <a:solidFill>
            <a:srgbClr val="B5832F"/>
          </a:solidFill>
          <a:ln w="9525">
            <a:solidFill>
              <a:srgbClr val="B5832F"/>
            </a:solidFill>
            <a:prstDash val="solid"/>
          </a:ln>
        </p:spPr>
      </p:sp>
      <p:sp>
        <p:nvSpPr>
          <p:cNvPr id="146" name="Shape 144"/>
          <p:cNvSpPr/>
          <p:nvPr/>
        </p:nvSpPr>
        <p:spPr>
          <a:xfrm>
            <a:off x="5614416" y="4707331"/>
            <a:ext cx="32918" cy="32918"/>
          </a:xfrm>
          <a:prstGeom prst="ellipse">
            <a:avLst/>
          </a:prstGeom>
          <a:solidFill>
            <a:srgbClr val="B5832F"/>
          </a:solidFill>
          <a:ln w="9525">
            <a:solidFill>
              <a:srgbClr val="B5832F"/>
            </a:solidFill>
            <a:prstDash val="solid"/>
          </a:ln>
        </p:spPr>
      </p:sp>
      <p:sp>
        <p:nvSpPr>
          <p:cNvPr id="147" name="Shape 145"/>
          <p:cNvSpPr/>
          <p:nvPr/>
        </p:nvSpPr>
        <p:spPr>
          <a:xfrm flipH="1">
            <a:off x="5301691" y="4723790"/>
            <a:ext cx="65837" cy="76810"/>
          </a:xfrm>
          <a:prstGeom prst="line">
            <a:avLst/>
          </a:prstGeom>
          <a:noFill/>
          <a:ln w="12700">
            <a:solidFill>
              <a:srgbClr val="9A6B1F"/>
            </a:solidFill>
            <a:prstDash val="solid"/>
          </a:ln>
        </p:spPr>
      </p:sp>
      <p:sp>
        <p:nvSpPr>
          <p:cNvPr id="148" name="Text 146"/>
          <p:cNvSpPr/>
          <p:nvPr/>
        </p:nvSpPr>
        <p:spPr>
          <a:xfrm>
            <a:off x="548640" y="5084064"/>
            <a:ext cx="173736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necks </a:t>
            </a:r>
            <a:r>
              <a:rPr lang="en-US" sz="1000" b="1" dirty="0">
                <a:solidFill>
                  <a:srgbClr val="262B3A"/>
                </a:solidFill>
                <a:latin typeface="Calibri" pitchFamily="34" charset="0"/>
                <a:ea typeface="Calibri" pitchFamily="34" charset="-122"/>
                <a:cs typeface="Calibri" pitchFamily="34" charset="-120"/>
              </a:rPr>
              <a:t>vary</a:t>
            </a:r>
            <a:endParaRPr lang="en-US" sz="1000" dirty="0"/>
          </a:p>
        </p:txBody>
      </p:sp>
      <p:sp>
        <p:nvSpPr>
          <p:cNvPr id="149" name="Text 147"/>
          <p:cNvSpPr/>
          <p:nvPr/>
        </p:nvSpPr>
        <p:spPr>
          <a:xfrm>
            <a:off x="2423160" y="5084064"/>
            <a:ext cx="1463040" cy="2286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short necks starve</a:t>
            </a:r>
            <a:endParaRPr lang="en-US" sz="1000" dirty="0"/>
          </a:p>
        </p:txBody>
      </p:sp>
      <p:sp>
        <p:nvSpPr>
          <p:cNvPr id="150" name="Text 148"/>
          <p:cNvSpPr/>
          <p:nvPr/>
        </p:nvSpPr>
        <p:spPr>
          <a:xfrm>
            <a:off x="4023360" y="5084064"/>
            <a:ext cx="2011680" cy="228600"/>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long necks breed: </a:t>
            </a:r>
            <a:r>
              <a:rPr lang="en-US" sz="1000" b="1" dirty="0">
                <a:solidFill>
                  <a:srgbClr val="2E8B57"/>
                </a:solidFill>
                <a:latin typeface="Calibri" pitchFamily="34" charset="0"/>
                <a:ea typeface="Calibri" pitchFamily="34" charset="-122"/>
                <a:cs typeface="Calibri" pitchFamily="34" charset="-120"/>
              </a:rPr>
              <a:t>inherited</a:t>
            </a:r>
            <a:r>
              <a:rPr lang="en-US" sz="1000" b="1" dirty="0">
                <a:solidFill>
                  <a:srgbClr val="2E8B57"/>
                </a:solidFill>
                <a:latin typeface="Calibri" pitchFamily="34" charset="0"/>
                <a:ea typeface="Calibri" pitchFamily="34" charset="-122"/>
                <a:cs typeface="Calibri" pitchFamily="34" charset="-120"/>
              </a:rPr>
              <a:t> ✓</a:t>
            </a:r>
            <a:endParaRPr lang="en-US" sz="1000" dirty="0"/>
          </a:p>
        </p:txBody>
      </p:sp>
      <p:sp>
        <p:nvSpPr>
          <p:cNvPr id="151" name="Shape 149"/>
          <p:cNvSpPr/>
          <p:nvPr/>
        </p:nvSpPr>
        <p:spPr>
          <a:xfrm>
            <a:off x="6675120" y="1188720"/>
            <a:ext cx="5102352" cy="2331720"/>
          </a:xfrm>
          <a:prstGeom prst="roundRect">
            <a:avLst>
              <a:gd name="adj" fmla="val 2353"/>
            </a:avLst>
          </a:prstGeom>
          <a:solidFill>
            <a:srgbClr val="F4FAF9"/>
          </a:solidFill>
          <a:ln w="9525">
            <a:solidFill>
              <a:srgbClr val="CFE0DE"/>
            </a:solidFill>
            <a:prstDash val="solid"/>
          </a:ln>
        </p:spPr>
      </p:sp>
      <p:sp>
        <p:nvSpPr>
          <p:cNvPr id="152" name="Text 150"/>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Darwin's explanation won</a:t>
            </a:r>
            <a:endParaRPr lang="en-US" sz="1300" dirty="0"/>
          </a:p>
        </p:txBody>
      </p:sp>
      <p:sp>
        <p:nvSpPr>
          <p:cNvPr id="153" name="Text 151"/>
          <p:cNvSpPr/>
          <p:nvPr/>
        </p:nvSpPr>
        <p:spPr>
          <a:xfrm>
            <a:off x="6839712" y="1609344"/>
            <a:ext cx="4773168" cy="18379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Lamarck's idea was </a:t>
            </a:r>
            <a:r>
              <a:rPr lang="en-US" sz="1050" b="1" dirty="0">
                <a:solidFill>
                  <a:srgbClr val="262B3A"/>
                </a:solidFill>
                <a:latin typeface="Calibri" pitchFamily="34" charset="0"/>
                <a:ea typeface="Calibri" pitchFamily="34" charset="-122"/>
                <a:cs typeface="Calibri" pitchFamily="34" charset="-120"/>
              </a:rPr>
              <a:t>tested</a:t>
            </a:r>
            <a:r>
              <a:rPr lang="en-US" sz="1050" dirty="0">
                <a:solidFill>
                  <a:srgbClr val="262B3A"/>
                </a:solidFill>
                <a:latin typeface="Calibri" pitchFamily="34" charset="0"/>
                <a:ea typeface="Calibri" pitchFamily="34" charset="-122"/>
                <a:cs typeface="Calibri" pitchFamily="34" charset="-120"/>
              </a:rPr>
              <a:t>: features gained in life (e.g. cut tails, big muscles) are </a:t>
            </a:r>
            <a:r>
              <a:rPr lang="en-US" sz="1050" b="1" dirty="0">
                <a:solidFill>
                  <a:srgbClr val="262B3A"/>
                </a:solidFill>
                <a:latin typeface="Calibri" pitchFamily="34" charset="0"/>
                <a:ea typeface="Calibri" pitchFamily="34" charset="-122"/>
                <a:cs typeface="Calibri" pitchFamily="34" charset="-120"/>
              </a:rPr>
              <a:t>not</a:t>
            </a:r>
            <a:r>
              <a:rPr lang="en-US" sz="1050" dirty="0">
                <a:solidFill>
                  <a:srgbClr val="262B3A"/>
                </a:solidFill>
                <a:latin typeface="Calibri" pitchFamily="34" charset="0"/>
                <a:ea typeface="Calibri" pitchFamily="34" charset="-122"/>
                <a:cs typeface="Calibri" pitchFamily="34" charset="-120"/>
              </a:rPr>
              <a:t> inherited. It was </a:t>
            </a:r>
            <a:r>
              <a:rPr lang="en-US" sz="1050" b="1" dirty="0">
                <a:solidFill>
                  <a:srgbClr val="262B3A"/>
                </a:solidFill>
                <a:latin typeface="Calibri" pitchFamily="34" charset="0"/>
                <a:ea typeface="Calibri" pitchFamily="34" charset="-122"/>
                <a:cs typeface="Calibri" pitchFamily="34" charset="-120"/>
              </a:rPr>
              <a:t>rejected</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Darwin's explained </a:t>
            </a:r>
            <a:r>
              <a:rPr lang="en-US" sz="1050" b="1" dirty="0">
                <a:solidFill>
                  <a:srgbClr val="262B3A"/>
                </a:solidFill>
                <a:latin typeface="Calibri" pitchFamily="34" charset="0"/>
                <a:ea typeface="Calibri" pitchFamily="34" charset="-122"/>
                <a:cs typeface="Calibri" pitchFamily="34" charset="-120"/>
              </a:rPr>
              <a:t>more</a:t>
            </a:r>
            <a:r>
              <a:rPr lang="en-US" sz="1050" dirty="0">
                <a:solidFill>
                  <a:srgbClr val="262B3A"/>
                </a:solidFill>
                <a:latin typeface="Calibri" pitchFamily="34" charset="0"/>
                <a:ea typeface="Calibri" pitchFamily="34" charset="-122"/>
                <a:cs typeface="Calibri" pitchFamily="34" charset="-120"/>
              </a:rPr>
              <a:t> observations (fossils, finches, breeding) and made </a:t>
            </a:r>
            <a:r>
              <a:rPr lang="en-US" sz="1050" b="1" dirty="0">
                <a:solidFill>
                  <a:srgbClr val="262B3A"/>
                </a:solidFill>
                <a:latin typeface="Calibri" pitchFamily="34" charset="0"/>
                <a:ea typeface="Calibri" pitchFamily="34" charset="-122"/>
                <a:cs typeface="Calibri" pitchFamily="34" charset="-120"/>
              </a:rPr>
              <a:t>predictions</a:t>
            </a:r>
            <a:r>
              <a:rPr lang="en-US" sz="1050" dirty="0">
                <a:solidFill>
                  <a:srgbClr val="262B3A"/>
                </a:solidFill>
                <a:latin typeface="Calibri" pitchFamily="34" charset="0"/>
                <a:ea typeface="Calibri" pitchFamily="34" charset="-122"/>
                <a:cs typeface="Calibri" pitchFamily="34" charset="-120"/>
              </a:rPr>
              <a:t> that were later confirmed.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Later </a:t>
            </a:r>
            <a:r>
              <a:rPr lang="en-US" sz="1050" b="1" dirty="0">
                <a:solidFill>
                  <a:srgbClr val="262B3A"/>
                </a:solidFill>
                <a:latin typeface="Calibri" pitchFamily="34" charset="0"/>
                <a:ea typeface="Calibri" pitchFamily="34" charset="-122"/>
                <a:cs typeface="Calibri" pitchFamily="34" charset="-120"/>
              </a:rPr>
              <a:t>genetics</a:t>
            </a:r>
            <a:r>
              <a:rPr lang="en-US" sz="1050" dirty="0">
                <a:solidFill>
                  <a:srgbClr val="262B3A"/>
                </a:solidFill>
                <a:latin typeface="Calibri" pitchFamily="34" charset="0"/>
                <a:ea typeface="Calibri" pitchFamily="34" charset="-122"/>
                <a:cs typeface="Calibri" pitchFamily="34" charset="-120"/>
              </a:rPr>
              <a:t> (Mendel, genes, DNA, mutations) explained </a:t>
            </a:r>
            <a:r>
              <a:rPr lang="en-US" sz="1050" b="1" dirty="0">
                <a:solidFill>
                  <a:srgbClr val="262B3A"/>
                </a:solidFill>
                <a:latin typeface="Calibri" pitchFamily="34" charset="0"/>
                <a:ea typeface="Calibri" pitchFamily="34" charset="-122"/>
                <a:cs typeface="Calibri" pitchFamily="34" charset="-120"/>
              </a:rPr>
              <a:t>how</a:t>
            </a:r>
            <a:r>
              <a:rPr lang="en-US" sz="1050" dirty="0">
                <a:solidFill>
                  <a:srgbClr val="262B3A"/>
                </a:solidFill>
                <a:latin typeface="Calibri" pitchFamily="34" charset="0"/>
                <a:ea typeface="Calibri" pitchFamily="34" charset="-122"/>
                <a:cs typeface="Calibri" pitchFamily="34" charset="-120"/>
              </a:rPr>
              <a:t> variation is inherited.</a:t>
            </a:r>
            <a:endParaRPr lang="en-US" sz="1050" dirty="0"/>
          </a:p>
        </p:txBody>
      </p:sp>
      <p:sp>
        <p:nvSpPr>
          <p:cNvPr id="154" name="Shape 152"/>
          <p:cNvSpPr/>
          <p:nvPr/>
        </p:nvSpPr>
        <p:spPr>
          <a:xfrm>
            <a:off x="6675120" y="3657600"/>
            <a:ext cx="5102352" cy="2057400"/>
          </a:xfrm>
          <a:prstGeom prst="roundRect">
            <a:avLst>
              <a:gd name="adj" fmla="val 2667"/>
            </a:avLst>
          </a:prstGeom>
          <a:solidFill>
            <a:srgbClr val="FFF4E0"/>
          </a:solidFill>
          <a:ln w="9525">
            <a:solidFill>
              <a:srgbClr val="F1D9A8"/>
            </a:solidFill>
            <a:prstDash val="solid"/>
          </a:ln>
        </p:spPr>
      </p:sp>
      <p:sp>
        <p:nvSpPr>
          <p:cNvPr id="155" name="Text 153"/>
          <p:cNvSpPr/>
          <p:nvPr/>
        </p:nvSpPr>
        <p:spPr>
          <a:xfrm>
            <a:off x="6839712" y="374904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Slow acceptance and impact on biology</a:t>
            </a:r>
            <a:endParaRPr lang="en-US" sz="1300" dirty="0"/>
          </a:p>
        </p:txBody>
      </p:sp>
      <p:sp>
        <p:nvSpPr>
          <p:cNvPr id="156" name="Text 154"/>
          <p:cNvSpPr/>
          <p:nvPr/>
        </p:nvSpPr>
        <p:spPr>
          <a:xfrm>
            <a:off x="6839712" y="4078224"/>
            <a:ext cx="4773168" cy="15636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At first many objected: it conflicted with </a:t>
            </a:r>
            <a:r>
              <a:rPr lang="en-US" sz="1050" b="1" dirty="0">
                <a:solidFill>
                  <a:srgbClr val="262B3A"/>
                </a:solidFill>
                <a:latin typeface="Calibri" pitchFamily="34" charset="0"/>
                <a:ea typeface="Calibri" pitchFamily="34" charset="-122"/>
                <a:cs typeface="Calibri" pitchFamily="34" charset="-120"/>
              </a:rPr>
              <a:t>religious</a:t>
            </a:r>
            <a:r>
              <a:rPr lang="en-US" sz="1050" dirty="0">
                <a:solidFill>
                  <a:srgbClr val="262B3A"/>
                </a:solidFill>
                <a:latin typeface="Calibri" pitchFamily="34" charset="0"/>
                <a:ea typeface="Calibri" pitchFamily="34" charset="-122"/>
                <a:cs typeface="Calibri" pitchFamily="34" charset="-120"/>
              </a:rPr>
              <a:t> beliefs; there was little evidence of </a:t>
            </a:r>
            <a:r>
              <a:rPr lang="en-US" sz="1050" b="1" dirty="0">
                <a:solidFill>
                  <a:srgbClr val="262B3A"/>
                </a:solidFill>
                <a:latin typeface="Calibri" pitchFamily="34" charset="0"/>
                <a:ea typeface="Calibri" pitchFamily="34" charset="-122"/>
                <a:cs typeface="Calibri" pitchFamily="34" charset="-120"/>
              </a:rPr>
              <a:t>how</a:t>
            </a:r>
            <a:r>
              <a:rPr lang="en-US" sz="1050" dirty="0">
                <a:solidFill>
                  <a:srgbClr val="262B3A"/>
                </a:solidFill>
                <a:latin typeface="Calibri" pitchFamily="34" charset="0"/>
                <a:ea typeface="Calibri" pitchFamily="34" charset="-122"/>
                <a:cs typeface="Calibri" pitchFamily="34" charset="-120"/>
              </a:rPr>
              <a:t> features were inherited.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Impact</a:t>
            </a:r>
            <a:r>
              <a:rPr lang="en-US" sz="1050" dirty="0">
                <a:solidFill>
                  <a:srgbClr val="262B3A"/>
                </a:solidFill>
                <a:latin typeface="Calibri" pitchFamily="34" charset="0"/>
                <a:ea typeface="Calibri" pitchFamily="34" charset="-122"/>
                <a:cs typeface="Calibri" pitchFamily="34" charset="-120"/>
              </a:rPr>
              <a:t>: all living things share </a:t>
            </a:r>
            <a:r>
              <a:rPr lang="en-US" sz="1050" b="1" dirty="0">
                <a:solidFill>
                  <a:srgbClr val="262B3A"/>
                </a:solidFill>
                <a:latin typeface="Calibri" pitchFamily="34" charset="0"/>
                <a:ea typeface="Calibri" pitchFamily="34" charset="-122"/>
                <a:cs typeface="Calibri" pitchFamily="34" charset="-120"/>
              </a:rPr>
              <a:t>common ancestors</a:t>
            </a:r>
            <a:r>
              <a:rPr lang="en-US" sz="1050" dirty="0">
                <a:solidFill>
                  <a:srgbClr val="262B3A"/>
                </a:solidFill>
                <a:latin typeface="Calibri" pitchFamily="34" charset="0"/>
                <a:ea typeface="Calibri" pitchFamily="34" charset="-122"/>
                <a:cs typeface="Calibri" pitchFamily="34" charset="-120"/>
              </a:rPr>
              <a:t>; it is the basis of modern biology, from classification to fighting </a:t>
            </a:r>
            <a:r>
              <a:rPr lang="en-US" sz="1050" b="1" dirty="0">
                <a:solidFill>
                  <a:srgbClr val="262B3A"/>
                </a:solidFill>
                <a:latin typeface="Calibri" pitchFamily="34" charset="0"/>
                <a:ea typeface="Calibri" pitchFamily="34" charset="-122"/>
                <a:cs typeface="Calibri" pitchFamily="34" charset="-120"/>
              </a:rPr>
              <a:t>antibiotic resistance</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157" name="Shape 155"/>
          <p:cNvSpPr/>
          <p:nvPr/>
        </p:nvSpPr>
        <p:spPr>
          <a:xfrm>
            <a:off x="411480" y="5833872"/>
            <a:ext cx="11368735" cy="530352"/>
          </a:xfrm>
          <a:prstGeom prst="rect">
            <a:avLst/>
          </a:prstGeom>
          <a:solidFill>
            <a:srgbClr val="FFF4E0"/>
          </a:solidFill>
          <a:ln w="6350">
            <a:solidFill>
              <a:srgbClr val="F1D9A8"/>
            </a:solidFill>
            <a:prstDash val="solid"/>
          </a:ln>
        </p:spPr>
      </p:sp>
      <p:sp>
        <p:nvSpPr>
          <p:cNvPr id="158" name="Shape 156"/>
          <p:cNvSpPr/>
          <p:nvPr/>
        </p:nvSpPr>
        <p:spPr>
          <a:xfrm>
            <a:off x="411480" y="5833872"/>
            <a:ext cx="82296" cy="530352"/>
          </a:xfrm>
          <a:prstGeom prst="rect">
            <a:avLst/>
          </a:prstGeom>
          <a:solidFill>
            <a:srgbClr val="E39A2F"/>
          </a:solidFill>
          <a:ln w="12700">
            <a:solidFill>
              <a:srgbClr val="E39A2F"/>
            </a:solidFill>
            <a:prstDash val="solid"/>
          </a:ln>
        </p:spPr>
      </p:sp>
      <p:sp>
        <p:nvSpPr>
          <p:cNvPr id="159" name="Text 15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bodybuilder has large muscles. Use this to explain why scientists rejected </a:t>
            </a:r>
            <a:r>
              <a:rPr lang="en-US" sz="1150" b="1" dirty="0">
                <a:solidFill>
                  <a:srgbClr val="262B3A"/>
                </a:solidFill>
                <a:latin typeface="Calibri" pitchFamily="34" charset="0"/>
                <a:ea typeface="Calibri" pitchFamily="34" charset="-122"/>
                <a:cs typeface="Calibri" pitchFamily="34" charset="-120"/>
              </a:rPr>
              <a:t>Lamarck's</a:t>
            </a:r>
            <a:r>
              <a:rPr lang="en-US" sz="1150" dirty="0">
                <a:solidFill>
                  <a:srgbClr val="262B3A"/>
                </a:solidFill>
                <a:latin typeface="Calibri" pitchFamily="34" charset="0"/>
                <a:ea typeface="Calibri" pitchFamily="34" charset="-122"/>
                <a:cs typeface="Calibri" pitchFamily="34" charset="-120"/>
              </a:rPr>
              <a:t> theory.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B6.1.8 • Darwin, Wallace and Lamarck</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observation Darwin made on his voyage that helped him develop his theory.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part </a:t>
            </a:r>
            <a:r>
              <a:rPr lang="en-US" sz="1250" b="1" dirty="0">
                <a:solidFill>
                  <a:srgbClr val="262B3A"/>
                </a:solidFill>
                <a:latin typeface="Calibri" pitchFamily="34" charset="0"/>
                <a:ea typeface="Calibri" pitchFamily="34" charset="-122"/>
                <a:cs typeface="Calibri" pitchFamily="34" charset="-120"/>
              </a:rPr>
              <a:t>Wallace</a:t>
            </a:r>
            <a:r>
              <a:rPr lang="en-US" sz="1250" dirty="0">
                <a:solidFill>
                  <a:srgbClr val="262B3A"/>
                </a:solidFill>
                <a:latin typeface="Calibri" pitchFamily="34" charset="0"/>
                <a:ea typeface="Calibri" pitchFamily="34" charset="-122"/>
                <a:cs typeface="Calibri" pitchFamily="34" charset="-120"/>
              </a:rPr>
              <a:t> played in the theory of evolution by natural selection.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a:t>
            </a:r>
            <a:r>
              <a:rPr lang="en-US" sz="1250" b="1" dirty="0">
                <a:solidFill>
                  <a:srgbClr val="262B3A"/>
                </a:solidFill>
                <a:latin typeface="Calibri" pitchFamily="34" charset="0"/>
                <a:ea typeface="Calibri" pitchFamily="34" charset="-122"/>
                <a:cs typeface="Calibri" pitchFamily="34" charset="-120"/>
              </a:rPr>
              <a:t>Lamarck's</a:t>
            </a:r>
            <a:r>
              <a:rPr lang="en-US" sz="1250" dirty="0">
                <a:solidFill>
                  <a:srgbClr val="262B3A"/>
                </a:solidFill>
                <a:latin typeface="Calibri" pitchFamily="34" charset="0"/>
                <a:ea typeface="Calibri" pitchFamily="34" charset="-122"/>
                <a:cs typeface="Calibri" pitchFamily="34" charset="-120"/>
              </a:rPr>
              <a:t> explanation differs from Darwin's.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Darwin's theory was not accepted by everyone at first.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B6.1 How was the theory of evolution developed?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Variation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Differences between individuals of the same species.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Genetic variation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Variation caused by different alleles; can be inherited.</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Mutation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in the DNA base sequence; makes a new variant.</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Variant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different version (allele) of a gene in a population.</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Phenotype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observable characteristics of an organism (recap of B1).</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Competition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Organisms trying to get the same limited resources.</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Natural selection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Better-suited variants survive, breed and pass on their alleles.</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Evolution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Change in the inherited characteristics of a population over time.</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Species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Organisms that can interbreed to produce fertile offspring.</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Camouflage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Colouring that makes an organism hard for predators to see.</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Fossil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Remains or traces of an organism from long ago, preserved in rock.</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Fossil record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All the fossils found; shows change over time but has gaps.</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Antibiotic resistance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Bacteria not killed by an antibiotic; evidence for evolution.</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Darwin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Published On the Origin of Species (1859): evolution by natural selection.</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Wallace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Reached the idea of natural selection independently (1858).</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Lamarck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Wrongly proposed that changes gained in life are inherited.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B6.1.1–B6.1.8 • answer every part • 13 marks • both tiers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species of lizard lives on an island. Some lizards are </a:t>
            </a:r>
            <a:r>
              <a:rPr lang="en-US" sz="1200" b="1" i="1" dirty="0">
                <a:solidFill>
                  <a:srgbClr val="262B3A"/>
                </a:solidFill>
                <a:latin typeface="Calibri" pitchFamily="34" charset="0"/>
                <a:ea typeface="Calibri" pitchFamily="34" charset="-122"/>
                <a:cs typeface="Calibri" pitchFamily="34" charset="-120"/>
              </a:rPr>
              <a:t>pale</a:t>
            </a:r>
            <a:r>
              <a:rPr lang="en-US" sz="1200" i="1" dirty="0">
                <a:solidFill>
                  <a:srgbClr val="262B3A"/>
                </a:solidFill>
                <a:latin typeface="Calibri" pitchFamily="34" charset="0"/>
                <a:ea typeface="Calibri" pitchFamily="34" charset="-122"/>
                <a:cs typeface="Calibri" pitchFamily="34" charset="-120"/>
              </a:rPr>
              <a:t> and some are </a:t>
            </a:r>
            <a:r>
              <a:rPr lang="en-US" sz="1200" b="1" i="1" dirty="0">
                <a:solidFill>
                  <a:srgbClr val="262B3A"/>
                </a:solidFill>
                <a:latin typeface="Calibri" pitchFamily="34" charset="0"/>
                <a:ea typeface="Calibri" pitchFamily="34" charset="-122"/>
                <a:cs typeface="Calibri" pitchFamily="34" charset="-120"/>
              </a:rPr>
              <a:t>dark</a:t>
            </a:r>
            <a:r>
              <a:rPr lang="en-US" sz="1200" i="1" dirty="0">
                <a:solidFill>
                  <a:srgbClr val="262B3A"/>
                </a:solidFill>
                <a:latin typeface="Calibri" pitchFamily="34" charset="0"/>
                <a:ea typeface="Calibri" pitchFamily="34" charset="-122"/>
                <a:cs typeface="Calibri" pitchFamily="34" charset="-120"/>
              </a:rPr>
              <a:t>. A volcano erupts and covers much of the island in </a:t>
            </a:r>
            <a:r>
              <a:rPr lang="en-US" sz="1200" b="1" i="1" dirty="0">
                <a:solidFill>
                  <a:srgbClr val="262B3A"/>
                </a:solidFill>
                <a:latin typeface="Calibri" pitchFamily="34" charset="0"/>
                <a:ea typeface="Calibri" pitchFamily="34" charset="-122"/>
                <a:cs typeface="Calibri" pitchFamily="34" charset="-120"/>
              </a:rPr>
              <a:t>black lava rock</a:t>
            </a:r>
            <a:r>
              <a:rPr lang="en-US" sz="1200" i="1" dirty="0">
                <a:solidFill>
                  <a:srgbClr val="262B3A"/>
                </a:solidFill>
                <a:latin typeface="Calibri" pitchFamily="34" charset="0"/>
                <a:ea typeface="Calibri" pitchFamily="34" charset="-122"/>
                <a:cs typeface="Calibri" pitchFamily="34" charset="-120"/>
              </a:rPr>
              <a:t>. Birds eat the lizards.</a:t>
            </a:r>
            <a:endParaRPr lang="en-US" sz="1200" dirty="0"/>
          </a:p>
        </p:txBody>
      </p:sp>
      <p:sp>
        <p:nvSpPr>
          <p:cNvPr id="9" name="Shape 7"/>
          <p:cNvSpPr/>
          <p:nvPr/>
        </p:nvSpPr>
        <p:spPr>
          <a:xfrm>
            <a:off x="411480" y="1719072"/>
            <a:ext cx="5570068" cy="1235746"/>
          </a:xfrm>
          <a:prstGeom prst="roundRect">
            <a:avLst>
              <a:gd name="adj" fmla="val 3700"/>
            </a:avLst>
          </a:prstGeom>
          <a:solidFill>
            <a:srgbClr val="F4FAF9"/>
          </a:solidFill>
          <a:ln w="9525">
            <a:solidFill>
              <a:srgbClr val="CFE0DE"/>
            </a:solidFill>
            <a:prstDash val="solid"/>
          </a:ln>
        </p:spPr>
      </p:sp>
      <p:sp>
        <p:nvSpPr>
          <p:cNvPr id="10" name="Text 8"/>
          <p:cNvSpPr/>
          <p:nvPr/>
        </p:nvSpPr>
        <p:spPr>
          <a:xfrm>
            <a:off x="548640" y="1792224"/>
            <a:ext cx="5295748" cy="86998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Lizard colour is controlled by genes. Explain how the </a:t>
            </a:r>
            <a:r>
              <a:rPr lang="en-US" sz="1200" b="1" dirty="0">
                <a:solidFill>
                  <a:srgbClr val="262B3A"/>
                </a:solidFill>
                <a:latin typeface="Calibri" pitchFamily="34" charset="0"/>
                <a:ea typeface="Calibri" pitchFamily="34" charset="-122"/>
                <a:cs typeface="Calibri" pitchFamily="34" charset="-120"/>
              </a:rPr>
              <a:t>dark</a:t>
            </a:r>
            <a:r>
              <a:rPr lang="en-US" sz="1200" dirty="0">
                <a:solidFill>
                  <a:srgbClr val="262B3A"/>
                </a:solidFill>
                <a:latin typeface="Calibri" pitchFamily="34" charset="0"/>
                <a:ea typeface="Calibri" pitchFamily="34" charset="-122"/>
                <a:cs typeface="Calibri" pitchFamily="34" charset="-120"/>
              </a:rPr>
              <a:t> variant first arose.</a:t>
            </a:r>
            <a:endParaRPr lang="en-US" sz="1200" dirty="0"/>
          </a:p>
        </p:txBody>
      </p:sp>
      <p:sp>
        <p:nvSpPr>
          <p:cNvPr id="11" name="Text 9"/>
          <p:cNvSpPr/>
          <p:nvPr/>
        </p:nvSpPr>
        <p:spPr>
          <a:xfrm>
            <a:off x="4518508" y="264392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064546"/>
            <a:ext cx="5570068" cy="1235746"/>
          </a:xfrm>
          <a:prstGeom prst="roundRect">
            <a:avLst>
              <a:gd name="adj" fmla="val 3700"/>
            </a:avLst>
          </a:prstGeom>
          <a:solidFill>
            <a:srgbClr val="FFFFFF"/>
          </a:solidFill>
          <a:ln w="9525">
            <a:solidFill>
              <a:srgbClr val="CFE0DE"/>
            </a:solidFill>
            <a:prstDash val="solid"/>
          </a:ln>
        </p:spPr>
      </p:sp>
      <p:sp>
        <p:nvSpPr>
          <p:cNvPr id="13" name="Text 11"/>
          <p:cNvSpPr/>
          <p:nvPr/>
        </p:nvSpPr>
        <p:spPr>
          <a:xfrm>
            <a:off x="548640" y="3137698"/>
            <a:ext cx="5295748" cy="86998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Before the eruption, </a:t>
            </a:r>
            <a:r>
              <a:rPr lang="en-US" sz="1200" b="1" dirty="0">
                <a:solidFill>
                  <a:srgbClr val="262B3A"/>
                </a:solidFill>
                <a:latin typeface="Calibri" pitchFamily="34" charset="0"/>
                <a:ea typeface="Calibri" pitchFamily="34" charset="-122"/>
                <a:cs typeface="Calibri" pitchFamily="34" charset="-120"/>
              </a:rPr>
              <a:t>18</a:t>
            </a:r>
            <a:r>
              <a:rPr lang="en-US" sz="1200" dirty="0">
                <a:solidFill>
                  <a:srgbClr val="262B3A"/>
                </a:solidFill>
                <a:latin typeface="Calibri" pitchFamily="34" charset="0"/>
                <a:ea typeface="Calibri" pitchFamily="34" charset="-122"/>
                <a:cs typeface="Calibri" pitchFamily="34" charset="-120"/>
              </a:rPr>
              <a:t> of a sample of </a:t>
            </a:r>
            <a:r>
              <a:rPr lang="en-US" sz="1200" b="1" dirty="0">
                <a:solidFill>
                  <a:srgbClr val="262B3A"/>
                </a:solidFill>
                <a:latin typeface="Calibri" pitchFamily="34" charset="0"/>
                <a:ea typeface="Calibri" pitchFamily="34" charset="-122"/>
                <a:cs typeface="Calibri" pitchFamily="34" charset="-120"/>
              </a:rPr>
              <a:t>60</a:t>
            </a:r>
            <a:r>
              <a:rPr lang="en-US" sz="1200" dirty="0">
                <a:solidFill>
                  <a:srgbClr val="262B3A"/>
                </a:solidFill>
                <a:latin typeface="Calibri" pitchFamily="34" charset="0"/>
                <a:ea typeface="Calibri" pitchFamily="34" charset="-122"/>
                <a:cs typeface="Calibri" pitchFamily="34" charset="-120"/>
              </a:rPr>
              <a:t> lizards were dark. Calculate the percentage that were dark.</a:t>
            </a:r>
            <a:endParaRPr lang="en-US" sz="1200" dirty="0"/>
          </a:p>
        </p:txBody>
      </p:sp>
      <p:sp>
        <p:nvSpPr>
          <p:cNvPr id="14" name="Text 12"/>
          <p:cNvSpPr/>
          <p:nvPr/>
        </p:nvSpPr>
        <p:spPr>
          <a:xfrm>
            <a:off x="4518508" y="3989397"/>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410021"/>
            <a:ext cx="5570068" cy="1853619"/>
          </a:xfrm>
          <a:prstGeom prst="roundRect">
            <a:avLst>
              <a:gd name="adj" fmla="val 2467"/>
            </a:avLst>
          </a:prstGeom>
          <a:solidFill>
            <a:srgbClr val="F4FAF9"/>
          </a:solidFill>
          <a:ln w="9525">
            <a:solidFill>
              <a:srgbClr val="CFE0DE"/>
            </a:solidFill>
            <a:prstDash val="solid"/>
          </a:ln>
        </p:spPr>
      </p:sp>
      <p:sp>
        <p:nvSpPr>
          <p:cNvPr id="16" name="Text 14"/>
          <p:cNvSpPr/>
          <p:nvPr/>
        </p:nvSpPr>
        <p:spPr>
          <a:xfrm>
            <a:off x="548640" y="4483173"/>
            <a:ext cx="5295748" cy="1487859"/>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Twenty years later, </a:t>
            </a:r>
            <a:r>
              <a:rPr lang="en-US" sz="1200" b="1" dirty="0">
                <a:solidFill>
                  <a:srgbClr val="262B3A"/>
                </a:solidFill>
                <a:latin typeface="Calibri" pitchFamily="34" charset="0"/>
                <a:ea typeface="Calibri" pitchFamily="34" charset="-122"/>
                <a:cs typeface="Calibri" pitchFamily="34" charset="-120"/>
              </a:rPr>
              <a:t>51</a:t>
            </a:r>
            <a:r>
              <a:rPr lang="en-US" sz="1200" dirty="0">
                <a:solidFill>
                  <a:srgbClr val="262B3A"/>
                </a:solidFill>
                <a:latin typeface="Calibri" pitchFamily="34" charset="0"/>
                <a:ea typeface="Calibri" pitchFamily="34" charset="-122"/>
                <a:cs typeface="Calibri" pitchFamily="34" charset="-120"/>
              </a:rPr>
              <a:t> of </a:t>
            </a:r>
            <a:r>
              <a:rPr lang="en-US" sz="1200" b="1" dirty="0">
                <a:solidFill>
                  <a:srgbClr val="262B3A"/>
                </a:solidFill>
                <a:latin typeface="Calibri" pitchFamily="34" charset="0"/>
                <a:ea typeface="Calibri" pitchFamily="34" charset="-122"/>
                <a:cs typeface="Calibri" pitchFamily="34" charset="-120"/>
              </a:rPr>
              <a:t>60</a:t>
            </a:r>
            <a:r>
              <a:rPr lang="en-US" sz="1200" dirty="0">
                <a:solidFill>
                  <a:srgbClr val="262B3A"/>
                </a:solidFill>
                <a:latin typeface="Calibri" pitchFamily="34" charset="0"/>
                <a:ea typeface="Calibri" pitchFamily="34" charset="-122"/>
                <a:cs typeface="Calibri" pitchFamily="34" charset="-120"/>
              </a:rPr>
              <a:t> lizards were dark. Explain this change using the idea of </a:t>
            </a:r>
            <a:r>
              <a:rPr lang="en-US" sz="1200" b="1" dirty="0">
                <a:solidFill>
                  <a:srgbClr val="262B3A"/>
                </a:solidFill>
                <a:latin typeface="Calibri" pitchFamily="34" charset="0"/>
                <a:ea typeface="Calibri" pitchFamily="34" charset="-122"/>
                <a:cs typeface="Calibri" pitchFamily="34" charset="-120"/>
              </a:rPr>
              <a:t>natural selection</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18" name="Shape 16"/>
          <p:cNvSpPr/>
          <p:nvPr/>
        </p:nvSpPr>
        <p:spPr>
          <a:xfrm>
            <a:off x="6210148" y="1719072"/>
            <a:ext cx="5570068" cy="1441704"/>
          </a:xfrm>
          <a:prstGeom prst="roundRect">
            <a:avLst>
              <a:gd name="adj" fmla="val 3171"/>
            </a:avLst>
          </a:prstGeom>
          <a:solidFill>
            <a:srgbClr val="F4FAF9"/>
          </a:solidFill>
          <a:ln w="9525">
            <a:solidFill>
              <a:srgbClr val="CFE0DE"/>
            </a:solidFill>
            <a:prstDash val="solid"/>
          </a:ln>
        </p:spPr>
      </p:sp>
      <p:sp>
        <p:nvSpPr>
          <p:cNvPr id="19" name="Text 17"/>
          <p:cNvSpPr/>
          <p:nvPr/>
        </p:nvSpPr>
        <p:spPr>
          <a:xfrm>
            <a:off x="6347308" y="1792224"/>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competition</a:t>
            </a:r>
            <a:r>
              <a:rPr lang="en-US" sz="1200" dirty="0">
                <a:solidFill>
                  <a:srgbClr val="262B3A"/>
                </a:solidFill>
                <a:latin typeface="Calibri" pitchFamily="34" charset="0"/>
                <a:ea typeface="Calibri" pitchFamily="34" charset="-122"/>
                <a:cs typeface="Calibri" pitchFamily="34" charset="-120"/>
              </a:rPr>
              <a:t> between the lizards matters for natural selection.</a:t>
            </a:r>
            <a:endParaRPr lang="en-US" sz="1200" dirty="0"/>
          </a:p>
        </p:txBody>
      </p:sp>
      <p:sp>
        <p:nvSpPr>
          <p:cNvPr id="20" name="Text 18"/>
          <p:cNvSpPr/>
          <p:nvPr/>
        </p:nvSpPr>
        <p:spPr>
          <a:xfrm>
            <a:off x="10317175"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270504"/>
            <a:ext cx="5570068" cy="1441704"/>
          </a:xfrm>
          <a:prstGeom prst="roundRect">
            <a:avLst>
              <a:gd name="adj" fmla="val 3171"/>
            </a:avLst>
          </a:prstGeom>
          <a:solidFill>
            <a:srgbClr val="FFFFFF"/>
          </a:solidFill>
          <a:ln w="9525">
            <a:solidFill>
              <a:srgbClr val="CFE0DE"/>
            </a:solidFill>
            <a:prstDash val="solid"/>
          </a:ln>
        </p:spPr>
      </p:sp>
      <p:sp>
        <p:nvSpPr>
          <p:cNvPr id="22" name="Text 20"/>
          <p:cNvSpPr/>
          <p:nvPr/>
        </p:nvSpPr>
        <p:spPr>
          <a:xfrm>
            <a:off x="6347308" y="3343656"/>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Describe how </a:t>
            </a:r>
            <a:r>
              <a:rPr lang="en-US" sz="1200" b="1" dirty="0">
                <a:solidFill>
                  <a:srgbClr val="262B3A"/>
                </a:solidFill>
                <a:latin typeface="Calibri" pitchFamily="34" charset="0"/>
                <a:ea typeface="Calibri" pitchFamily="34" charset="-122"/>
                <a:cs typeface="Calibri" pitchFamily="34" charset="-120"/>
              </a:rPr>
              <a:t>fossils</a:t>
            </a:r>
            <a:r>
              <a:rPr lang="en-US" sz="1200" dirty="0">
                <a:solidFill>
                  <a:srgbClr val="262B3A"/>
                </a:solidFill>
                <a:latin typeface="Calibri" pitchFamily="34" charset="0"/>
                <a:ea typeface="Calibri" pitchFamily="34" charset="-122"/>
                <a:cs typeface="Calibri" pitchFamily="34" charset="-120"/>
              </a:rPr>
              <a:t> could show that the lizards' ancestors were different.</a:t>
            </a:r>
            <a:endParaRPr lang="en-US" sz="1200" dirty="0"/>
          </a:p>
        </p:txBody>
      </p:sp>
      <p:sp>
        <p:nvSpPr>
          <p:cNvPr id="23" name="Text 21"/>
          <p:cNvSpPr/>
          <p:nvPr/>
        </p:nvSpPr>
        <p:spPr>
          <a:xfrm>
            <a:off x="10317175"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821936"/>
            <a:ext cx="5570068" cy="1441704"/>
          </a:xfrm>
          <a:prstGeom prst="roundRect">
            <a:avLst>
              <a:gd name="adj" fmla="val 3171"/>
            </a:avLst>
          </a:prstGeom>
          <a:solidFill>
            <a:srgbClr val="F4FAF9"/>
          </a:solidFill>
          <a:ln w="9525">
            <a:solidFill>
              <a:srgbClr val="CFE0DE"/>
            </a:solidFill>
            <a:prstDash val="solid"/>
          </a:ln>
        </p:spPr>
      </p:sp>
      <p:sp>
        <p:nvSpPr>
          <p:cNvPr id="25" name="Text 23"/>
          <p:cNvSpPr/>
          <p:nvPr/>
        </p:nvSpPr>
        <p:spPr>
          <a:xfrm>
            <a:off x="6347308" y="4895088"/>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Name the scientist who, </a:t>
            </a:r>
            <a:r>
              <a:rPr lang="en-US" sz="1200" b="1" dirty="0">
                <a:solidFill>
                  <a:srgbClr val="262B3A"/>
                </a:solidFill>
                <a:latin typeface="Calibri" pitchFamily="34" charset="0"/>
                <a:ea typeface="Calibri" pitchFamily="34" charset="-122"/>
                <a:cs typeface="Calibri" pitchFamily="34" charset="-120"/>
              </a:rPr>
              <a:t>with Darwin</a:t>
            </a:r>
            <a:r>
              <a:rPr lang="en-US" sz="1200" dirty="0">
                <a:solidFill>
                  <a:srgbClr val="262B3A"/>
                </a:solidFill>
                <a:latin typeface="Calibri" pitchFamily="34" charset="0"/>
                <a:ea typeface="Calibri" pitchFamily="34" charset="-122"/>
                <a:cs typeface="Calibri" pitchFamily="34" charset="-120"/>
              </a:rPr>
              <a:t>, first proposed the theory of evolution by natural selection.</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B6.1 Evolution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B6.1 How was the theory of evolution developed?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All questions are for both tiers.</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what is meant by </a:t>
            </a:r>
            <a:r>
              <a:rPr lang="en-US" sz="1150" b="1" dirty="0">
                <a:solidFill>
                  <a:srgbClr val="262B3A"/>
                </a:solidFill>
                <a:latin typeface="Calibri" pitchFamily="34" charset="0"/>
                <a:ea typeface="Calibri" pitchFamily="34" charset="-122"/>
                <a:cs typeface="Calibri" pitchFamily="34" charset="-120"/>
              </a:rPr>
              <a:t>evolution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bacterium divides every </a:t>
            </a:r>
            <a:r>
              <a:rPr lang="en-US" sz="1150" b="1" dirty="0">
                <a:solidFill>
                  <a:srgbClr val="262B3A"/>
                </a:solidFill>
                <a:latin typeface="Calibri" pitchFamily="34" charset="0"/>
                <a:ea typeface="Calibri" pitchFamily="34" charset="-122"/>
                <a:cs typeface="Calibri" pitchFamily="34" charset="-120"/>
              </a:rPr>
              <a:t>30 minutes</a:t>
            </a:r>
            <a:r>
              <a:rPr lang="en-US" sz="1150" dirty="0">
                <a:solidFill>
                  <a:srgbClr val="262B3A"/>
                </a:solidFill>
                <a:latin typeface="Calibri" pitchFamily="34" charset="0"/>
                <a:ea typeface="Calibri" pitchFamily="34" charset="-122"/>
                <a:cs typeface="Calibri" pitchFamily="34" charset="-120"/>
              </a:rPr>
              <a:t>. How many bacteria will one bacterium produce in </a:t>
            </a:r>
            <a:r>
              <a:rPr lang="en-US" sz="1150" b="1" dirty="0">
                <a:solidFill>
                  <a:srgbClr val="262B3A"/>
                </a:solidFill>
                <a:latin typeface="Calibri" pitchFamily="34" charset="0"/>
                <a:ea typeface="Calibri" pitchFamily="34" charset="-122"/>
                <a:cs typeface="Calibri" pitchFamily="34" charset="-120"/>
              </a:rPr>
              <a:t>6 hours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there are </a:t>
            </a:r>
            <a:r>
              <a:rPr lang="en-US" sz="1150" b="1" dirty="0">
                <a:solidFill>
                  <a:srgbClr val="262B3A"/>
                </a:solidFill>
                <a:latin typeface="Calibri" pitchFamily="34" charset="0"/>
                <a:ea typeface="Calibri" pitchFamily="34" charset="-122"/>
                <a:cs typeface="Calibri" pitchFamily="34" charset="-120"/>
              </a:rPr>
              <a:t>gaps</a:t>
            </a:r>
            <a:r>
              <a:rPr lang="en-US" sz="1150" dirty="0">
                <a:solidFill>
                  <a:srgbClr val="262B3A"/>
                </a:solidFill>
                <a:latin typeface="Calibri" pitchFamily="34" charset="0"/>
                <a:ea typeface="Calibri" pitchFamily="34" charset="-122"/>
                <a:cs typeface="Calibri" pitchFamily="34" charset="-120"/>
              </a:rPr>
              <a:t> in the fossil record.</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giraffe stretches its neck all its life. Lamarck said its offspring would have longer necks. Explain why this idea was </a:t>
            </a:r>
            <a:r>
              <a:rPr lang="en-US" sz="1150" b="1" dirty="0">
                <a:solidFill>
                  <a:srgbClr val="262B3A"/>
                </a:solidFill>
                <a:latin typeface="Calibri" pitchFamily="34" charset="0"/>
                <a:ea typeface="Calibri" pitchFamily="34" charset="-122"/>
                <a:cs typeface="Calibri" pitchFamily="34" charset="-120"/>
              </a:rPr>
              <a:t>rejected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97678"/>
          </a:xfrm>
          <a:prstGeom prst="roundRect">
            <a:avLst>
              <a:gd name="adj" fmla="val 4165"/>
            </a:avLst>
          </a:prstGeom>
          <a:solidFill>
            <a:srgbClr val="F4FAF9"/>
          </a:solidFill>
          <a:ln w="9525">
            <a:solidFill>
              <a:srgbClr val="CFE0DE"/>
            </a:solidFill>
            <a:prstDash val="solid"/>
          </a:ln>
        </p:spPr>
      </p:sp>
      <p:sp>
        <p:nvSpPr>
          <p:cNvPr id="22" name="Text 20"/>
          <p:cNvSpPr/>
          <p:nvPr/>
        </p:nvSpPr>
        <p:spPr>
          <a:xfrm>
            <a:off x="6347308" y="1591056"/>
            <a:ext cx="5295748" cy="750206"/>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why most </a:t>
            </a:r>
            <a:r>
              <a:rPr lang="en-US" sz="1150" b="1" dirty="0">
                <a:solidFill>
                  <a:srgbClr val="262B3A"/>
                </a:solidFill>
                <a:latin typeface="Calibri" pitchFamily="34" charset="0"/>
                <a:ea typeface="Calibri" pitchFamily="34" charset="-122"/>
                <a:cs typeface="Calibri" pitchFamily="34" charset="-120"/>
              </a:rPr>
              <a:t>mutations</a:t>
            </a:r>
            <a:r>
              <a:rPr lang="en-US" sz="1150" dirty="0">
                <a:solidFill>
                  <a:srgbClr val="262B3A"/>
                </a:solidFill>
                <a:latin typeface="Calibri" pitchFamily="34" charset="0"/>
                <a:ea typeface="Calibri" pitchFamily="34" charset="-122"/>
                <a:cs typeface="Calibri" pitchFamily="34" charset="-120"/>
              </a:rPr>
              <a:t> do not change an organism's phenotype.</a:t>
            </a:r>
            <a:endParaRPr lang="en-US" sz="1150" dirty="0"/>
          </a:p>
        </p:txBody>
      </p:sp>
      <p:sp>
        <p:nvSpPr>
          <p:cNvPr id="23" name="Text 21"/>
          <p:cNvSpPr/>
          <p:nvPr/>
        </p:nvSpPr>
        <p:spPr>
          <a:xfrm>
            <a:off x="10317175" y="232297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725310"/>
            <a:ext cx="5570068" cy="898100"/>
          </a:xfrm>
          <a:prstGeom prst="roundRect">
            <a:avLst>
              <a:gd name="adj" fmla="val 5091"/>
            </a:avLst>
          </a:prstGeom>
          <a:solidFill>
            <a:srgbClr val="F4FAF9"/>
          </a:solidFill>
          <a:ln w="9525">
            <a:solidFill>
              <a:srgbClr val="CFE0DE"/>
            </a:solidFill>
            <a:prstDash val="solid"/>
          </a:ln>
        </p:spPr>
      </p:sp>
      <p:sp>
        <p:nvSpPr>
          <p:cNvPr id="25" name="Text 23"/>
          <p:cNvSpPr/>
          <p:nvPr/>
        </p:nvSpPr>
        <p:spPr>
          <a:xfrm>
            <a:off x="6347308" y="2798462"/>
            <a:ext cx="5295748" cy="55062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Three groups modelled natural selection and found </a:t>
            </a:r>
            <a:r>
              <a:rPr lang="en-US" sz="1150" b="1" dirty="0">
                <a:solidFill>
                  <a:srgbClr val="262B3A"/>
                </a:solidFill>
                <a:latin typeface="Calibri" pitchFamily="34" charset="0"/>
                <a:ea typeface="Calibri" pitchFamily="34" charset="-122"/>
                <a:cs typeface="Calibri" pitchFamily="34" charset="-120"/>
              </a:rPr>
              <a:t>12</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15</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9</a:t>
            </a:r>
            <a:r>
              <a:rPr lang="en-US" sz="1150" dirty="0">
                <a:solidFill>
                  <a:srgbClr val="262B3A"/>
                </a:solidFill>
                <a:latin typeface="Calibri" pitchFamily="34" charset="0"/>
                <a:ea typeface="Calibri" pitchFamily="34" charset="-122"/>
                <a:cs typeface="Calibri" pitchFamily="34" charset="-120"/>
              </a:rPr>
              <a:t> dark squares eaten. Calculate the mean.</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In the 1800s dark peppered moths became common near Manchester. After the 1950s pale moths became common again. Use </a:t>
            </a:r>
            <a:r>
              <a:rPr lang="en-US" sz="1150" b="1" dirty="0">
                <a:solidFill>
                  <a:srgbClr val="262B3A"/>
                </a:solidFill>
                <a:latin typeface="Calibri" pitchFamily="34" charset="0"/>
                <a:ea typeface="Calibri" pitchFamily="34" charset="-122"/>
                <a:cs typeface="Calibri" pitchFamily="34" charset="-120"/>
              </a:rPr>
              <a:t>natural selection</a:t>
            </a:r>
            <a:r>
              <a:rPr lang="en-US" sz="1150" dirty="0">
                <a:solidFill>
                  <a:srgbClr val="262B3A"/>
                </a:solidFill>
                <a:latin typeface="Calibri" pitchFamily="34" charset="0"/>
                <a:ea typeface="Calibri" pitchFamily="34" charset="-122"/>
                <a:cs typeface="Calibri" pitchFamily="34" charset="-120"/>
              </a:rPr>
              <a:t> to explain </a:t>
            </a: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changes.</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B6.1 How was the theory of evolution developed?</dc:title>
  <dc:subject>PptxGenJS Presentation</dc:subject>
  <dc:creator>GCSE Biology</dc:creator>
  <cp:lastModifiedBy>GCSE Biology</cp:lastModifiedBy>
  <cp:revision>1</cp:revision>
  <dcterms:created xsi:type="dcterms:W3CDTF">2026-10-30T18:53:37Z</dcterms:created>
  <dcterms:modified xsi:type="dcterms:W3CDTF">2026-10-30T18:53:37Z</dcterms:modified>
</cp:coreProperties>
</file>